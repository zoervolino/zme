
<file path=[Content_Types].xml><?xml version="1.0" encoding="utf-8"?>
<Types xmlns="http://schemas.openxmlformats.org/package/2006/content-types">
  <Default Extension="7525B8A0" ContentType="image/png"/>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6"/>
  </p:notesMasterIdLst>
  <p:sldIdLst>
    <p:sldId id="2147483640" r:id="rId5"/>
    <p:sldId id="265" r:id="rId6"/>
    <p:sldId id="259" r:id="rId7"/>
    <p:sldId id="257" r:id="rId8"/>
    <p:sldId id="372" r:id="rId9"/>
    <p:sldId id="275" r:id="rId10"/>
    <p:sldId id="269" r:id="rId11"/>
    <p:sldId id="292" r:id="rId12"/>
    <p:sldId id="293" r:id="rId13"/>
    <p:sldId id="261" r:id="rId14"/>
    <p:sldId id="270" r:id="rId15"/>
    <p:sldId id="271" r:id="rId16"/>
    <p:sldId id="272" r:id="rId17"/>
    <p:sldId id="2147483639" r:id="rId18"/>
    <p:sldId id="294" r:id="rId19"/>
    <p:sldId id="296" r:id="rId20"/>
    <p:sldId id="260" r:id="rId21"/>
    <p:sldId id="262" r:id="rId22"/>
    <p:sldId id="258" r:id="rId23"/>
    <p:sldId id="263" r:id="rId24"/>
    <p:sldId id="266" r:id="rId25"/>
    <p:sldId id="2147483647" r:id="rId26"/>
    <p:sldId id="300" r:id="rId27"/>
    <p:sldId id="267" r:id="rId28"/>
    <p:sldId id="298" r:id="rId29"/>
    <p:sldId id="302" r:id="rId30"/>
    <p:sldId id="299" r:id="rId31"/>
    <p:sldId id="284" r:id="rId32"/>
    <p:sldId id="297" r:id="rId33"/>
    <p:sldId id="301" r:id="rId34"/>
    <p:sldId id="282" r:id="rId35"/>
    <p:sldId id="283" r:id="rId36"/>
    <p:sldId id="276" r:id="rId37"/>
    <p:sldId id="281" r:id="rId38"/>
    <p:sldId id="303" r:id="rId39"/>
    <p:sldId id="375" r:id="rId40"/>
    <p:sldId id="264" r:id="rId41"/>
    <p:sldId id="273" r:id="rId42"/>
    <p:sldId id="274" r:id="rId43"/>
    <p:sldId id="278" r:id="rId44"/>
    <p:sldId id="2147483644" r:id="rId45"/>
    <p:sldId id="256" r:id="rId46"/>
    <p:sldId id="280" r:id="rId47"/>
    <p:sldId id="286" r:id="rId48"/>
    <p:sldId id="287" r:id="rId49"/>
    <p:sldId id="289" r:id="rId50"/>
    <p:sldId id="279" r:id="rId51"/>
    <p:sldId id="304" r:id="rId52"/>
    <p:sldId id="305" r:id="rId53"/>
    <p:sldId id="378" r:id="rId54"/>
    <p:sldId id="306" r:id="rId55"/>
    <p:sldId id="288" r:id="rId56"/>
    <p:sldId id="290" r:id="rId57"/>
    <p:sldId id="307" r:id="rId58"/>
    <p:sldId id="308" r:id="rId59"/>
    <p:sldId id="309" r:id="rId60"/>
    <p:sldId id="285" r:id="rId61"/>
    <p:sldId id="295" r:id="rId62"/>
    <p:sldId id="291" r:id="rId63"/>
    <p:sldId id="310" r:id="rId64"/>
    <p:sldId id="27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C4595C21-3252-3ADF-1678-431F272F947A}" name="Sean Waters" initials="SW" userId="S::sean.waters@roundtablelearning.com::964490a6-5cdb-455f-a3d3-7793a9eb0e4d" providerId="AD"/>
  <p188:author id="{3C4652A7-5F23-49C1-F93C-113724533860}" name="Austin Riggs" initials="AR" userId="S::austin@ceoworks.com::f642aa58-dc2e-41a2-81a2-1e9ec2800e07" providerId="AD"/>
  <p188:author id="{7D34B4A8-B4B7-82EE-236A-7EF34514F863}" name="Guest User" initials="GU" userId="S::urn:spo:tenantanon#9b48749b-1b9b-4ffc-86a3-4ceb745754ee::" providerId="AD"/>
  <p188:author id="{3C8951BC-D0C5-E0A4-97CB-8D7410E77C26}" name="Monica Klaas-Kütt" initials="MK" userId="S::monica@ceoworks.com::de0a9825-bcd0-409c-b590-1b4899aa6998"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7A"/>
    <a:srgbClr val="BA0B2F"/>
    <a:srgbClr val="919291"/>
    <a:srgbClr val="DAD4FD"/>
    <a:srgbClr val="3B3B3B"/>
    <a:srgbClr val="917FFF"/>
    <a:srgbClr val="6756D3"/>
    <a:srgbClr val="765FFF"/>
    <a:srgbClr val="00B6C2"/>
    <a:srgbClr val="145E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87" autoAdjust="0"/>
    <p:restoredTop sz="86442" autoAdjust="0"/>
  </p:normalViewPr>
  <p:slideViewPr>
    <p:cSldViewPr snapToGrid="0">
      <p:cViewPr varScale="1">
        <p:scale>
          <a:sx n="85" d="100"/>
          <a:sy n="85" d="100"/>
        </p:scale>
        <p:origin x="1976" y="480"/>
      </p:cViewPr>
      <p:guideLst/>
    </p:cSldViewPr>
  </p:slideViewPr>
  <p:outlineViewPr>
    <p:cViewPr>
      <p:scale>
        <a:sx n="33" d="100"/>
        <a:sy n="33" d="100"/>
      </p:scale>
      <p:origin x="0" y="-2884"/>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F383-FE4E-9E16-C17963B16767}"/>
              </c:ext>
            </c:extLst>
          </c:dPt>
          <c:dPt>
            <c:idx val="1"/>
            <c:invertIfNegative val="0"/>
            <c:bubble3D val="0"/>
            <c:spPr>
              <a:solidFill>
                <a:srgbClr val="FFB547"/>
              </a:solidFill>
              <a:ln>
                <a:noFill/>
              </a:ln>
              <a:effectLst/>
            </c:spPr>
            <c:extLst>
              <c:ext xmlns:c16="http://schemas.microsoft.com/office/drawing/2014/chart" uri="{C3380CC4-5D6E-409C-BE32-E72D297353CC}">
                <c16:uniqueId val="{00000003-F383-FE4E-9E16-C17963B16767}"/>
              </c:ext>
            </c:extLst>
          </c:dPt>
          <c:dPt>
            <c:idx val="2"/>
            <c:invertIfNegative val="0"/>
            <c:bubble3D val="0"/>
            <c:spPr>
              <a:solidFill>
                <a:srgbClr val="D84532"/>
              </a:solidFill>
              <a:ln>
                <a:noFill/>
              </a:ln>
              <a:effectLst/>
            </c:spPr>
            <c:extLst>
              <c:ext xmlns:c16="http://schemas.microsoft.com/office/drawing/2014/chart" uri="{C3380CC4-5D6E-409C-BE32-E72D297353CC}">
                <c16:uniqueId val="{00000005-F383-FE4E-9E16-C17963B16767}"/>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F383-FE4E-9E16-C17963B16767}"/>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35</c:v>
                </c:pt>
                <c:pt idx="1">
                  <c:v>45</c:v>
                </c:pt>
                <c:pt idx="2">
                  <c:v>55</c:v>
                </c:pt>
              </c:numCache>
            </c:numRef>
          </c:val>
          <c:extLst>
            <c:ext xmlns:c16="http://schemas.microsoft.com/office/drawing/2014/chart" uri="{C3380CC4-5D6E-409C-BE32-E72D297353CC}">
              <c16:uniqueId val="{00000007-F383-FE4E-9E16-C17963B16767}"/>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6D39-334E-BAC1-B53E11117CFD}"/>
              </c:ext>
            </c:extLst>
          </c:dPt>
          <c:dPt>
            <c:idx val="1"/>
            <c:invertIfNegative val="0"/>
            <c:bubble3D val="0"/>
            <c:spPr>
              <a:solidFill>
                <a:srgbClr val="D84532"/>
              </a:solidFill>
              <a:ln>
                <a:noFill/>
              </a:ln>
              <a:effectLst/>
            </c:spPr>
            <c:extLst>
              <c:ext xmlns:c16="http://schemas.microsoft.com/office/drawing/2014/chart" uri="{C3380CC4-5D6E-409C-BE32-E72D297353CC}">
                <c16:uniqueId val="{00000003-6D39-334E-BAC1-B53E11117CFD}"/>
              </c:ext>
            </c:extLst>
          </c:dPt>
          <c:dPt>
            <c:idx val="2"/>
            <c:invertIfNegative val="0"/>
            <c:bubble3D val="0"/>
            <c:spPr>
              <a:solidFill>
                <a:srgbClr val="FFB547"/>
              </a:solidFill>
              <a:ln>
                <a:noFill/>
              </a:ln>
              <a:effectLst/>
            </c:spPr>
            <c:extLst>
              <c:ext xmlns:c16="http://schemas.microsoft.com/office/drawing/2014/chart" uri="{C3380CC4-5D6E-409C-BE32-E72D297353CC}">
                <c16:uniqueId val="{00000005-6D39-334E-BAC1-B53E11117CFD}"/>
              </c:ext>
            </c:extLst>
          </c:dPt>
          <c:dPt>
            <c:idx val="3"/>
            <c:invertIfNegative val="0"/>
            <c:bubble3D val="0"/>
            <c:spPr>
              <a:solidFill>
                <a:srgbClr val="D84532"/>
              </a:solidFill>
              <a:ln>
                <a:noFill/>
              </a:ln>
              <a:effectLst/>
            </c:spPr>
            <c:extLst>
              <c:ext xmlns:c16="http://schemas.microsoft.com/office/drawing/2014/chart" uri="{C3380CC4-5D6E-409C-BE32-E72D297353CC}">
                <c16:uniqueId val="{00000007-6D39-334E-BAC1-B53E11117CFD}"/>
              </c:ext>
            </c:extLst>
          </c:dPt>
          <c:cat>
            <c:strRef>
              <c:f>Sheet1!$A$2:$A$5</c:f>
              <c:strCache>
                <c:ptCount val="4"/>
                <c:pt idx="0">
                  <c:v>Competitive Intentsity</c:v>
                </c:pt>
                <c:pt idx="1">
                  <c:v>New work</c:v>
                </c:pt>
                <c:pt idx="2">
                  <c:v>Complexity</c:v>
                </c:pt>
                <c:pt idx="3">
                  <c:v>Alignment</c:v>
                </c:pt>
              </c:strCache>
            </c:strRef>
          </c:cat>
          <c:val>
            <c:numRef>
              <c:f>Sheet1!$B$2:$B$5</c:f>
              <c:numCache>
                <c:formatCode>General</c:formatCode>
                <c:ptCount val="4"/>
                <c:pt idx="0">
                  <c:v>55</c:v>
                </c:pt>
                <c:pt idx="1">
                  <c:v>30</c:v>
                </c:pt>
                <c:pt idx="2">
                  <c:v>55</c:v>
                </c:pt>
                <c:pt idx="3">
                  <c:v>40</c:v>
                </c:pt>
              </c:numCache>
            </c:numRef>
          </c:val>
          <c:extLst>
            <c:ext xmlns:c16="http://schemas.microsoft.com/office/drawing/2014/chart" uri="{C3380CC4-5D6E-409C-BE32-E72D297353CC}">
              <c16:uniqueId val="{00000008-6D39-334E-BAC1-B53E11117CFD}"/>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Competitive Intentsity</c:v>
                </c:pt>
                <c:pt idx="1">
                  <c:v>New work</c:v>
                </c:pt>
                <c:pt idx="2">
                  <c:v>Complexity</c:v>
                </c:pt>
                <c:pt idx="3">
                  <c:v>Alignment</c:v>
                </c:pt>
              </c:strCache>
            </c:strRef>
          </c:cat>
          <c:val>
            <c:numRef>
              <c:f>Sheet1!$C$2:$C$5</c:f>
              <c:numCache>
                <c:formatCode>General</c:formatCode>
                <c:ptCount val="4"/>
                <c:pt idx="0">
                  <c:v>45</c:v>
                </c:pt>
                <c:pt idx="1">
                  <c:v>70</c:v>
                </c:pt>
                <c:pt idx="2">
                  <c:v>45</c:v>
                </c:pt>
                <c:pt idx="3">
                  <c:v>60</c:v>
                </c:pt>
              </c:numCache>
            </c:numRef>
          </c:val>
          <c:extLst>
            <c:ext xmlns:c16="http://schemas.microsoft.com/office/drawing/2014/chart" uri="{C3380CC4-5D6E-409C-BE32-E72D297353CC}">
              <c16:uniqueId val="{00000009-6D39-334E-BAC1-B53E11117CFD}"/>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6904-3C4D-A719-4760518B9E45}"/>
              </c:ext>
            </c:extLst>
          </c:dPt>
          <c:dPt>
            <c:idx val="1"/>
            <c:invertIfNegative val="0"/>
            <c:bubble3D val="0"/>
            <c:spPr>
              <a:solidFill>
                <a:srgbClr val="FFB547"/>
              </a:solidFill>
              <a:ln>
                <a:noFill/>
              </a:ln>
              <a:effectLst/>
            </c:spPr>
            <c:extLst>
              <c:ext xmlns:c16="http://schemas.microsoft.com/office/drawing/2014/chart" uri="{C3380CC4-5D6E-409C-BE32-E72D297353CC}">
                <c16:uniqueId val="{00000003-6904-3C4D-A719-4760518B9E45}"/>
              </c:ext>
            </c:extLst>
          </c:dPt>
          <c:dPt>
            <c:idx val="2"/>
            <c:invertIfNegative val="0"/>
            <c:bubble3D val="0"/>
            <c:spPr>
              <a:solidFill>
                <a:srgbClr val="D84532"/>
              </a:solidFill>
              <a:ln>
                <a:noFill/>
              </a:ln>
              <a:effectLst/>
            </c:spPr>
            <c:extLst>
              <c:ext xmlns:c16="http://schemas.microsoft.com/office/drawing/2014/chart" uri="{C3380CC4-5D6E-409C-BE32-E72D297353CC}">
                <c16:uniqueId val="{00000005-6904-3C4D-A719-4760518B9E45}"/>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6904-3C4D-A719-4760518B9E45}"/>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30</c:v>
                </c:pt>
                <c:pt idx="1">
                  <c:v>45</c:v>
                </c:pt>
                <c:pt idx="2">
                  <c:v>55</c:v>
                </c:pt>
              </c:numCache>
            </c:numRef>
          </c:val>
          <c:extLst>
            <c:ext xmlns:c16="http://schemas.microsoft.com/office/drawing/2014/chart" uri="{C3380CC4-5D6E-409C-BE32-E72D297353CC}">
              <c16:uniqueId val="{00000007-6904-3C4D-A719-4760518B9E45}"/>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EE43-F140-AB33-1060B4CF0632}"/>
              </c:ext>
            </c:extLst>
          </c:dPt>
          <c:dPt>
            <c:idx val="1"/>
            <c:invertIfNegative val="0"/>
            <c:bubble3D val="0"/>
            <c:spPr>
              <a:solidFill>
                <a:srgbClr val="D84532"/>
              </a:solidFill>
              <a:ln>
                <a:noFill/>
              </a:ln>
              <a:effectLst/>
            </c:spPr>
            <c:extLst>
              <c:ext xmlns:c16="http://schemas.microsoft.com/office/drawing/2014/chart" uri="{C3380CC4-5D6E-409C-BE32-E72D297353CC}">
                <c16:uniqueId val="{00000003-EE43-F140-AB33-1060B4CF0632}"/>
              </c:ext>
            </c:extLst>
          </c:dPt>
          <c:dPt>
            <c:idx val="2"/>
            <c:invertIfNegative val="0"/>
            <c:bubble3D val="0"/>
            <c:spPr>
              <a:solidFill>
                <a:srgbClr val="D84532"/>
              </a:solidFill>
              <a:ln>
                <a:noFill/>
              </a:ln>
              <a:effectLst/>
            </c:spPr>
            <c:extLst>
              <c:ext xmlns:c16="http://schemas.microsoft.com/office/drawing/2014/chart" uri="{C3380CC4-5D6E-409C-BE32-E72D297353CC}">
                <c16:uniqueId val="{00000005-EE43-F140-AB33-1060B4CF0632}"/>
              </c:ext>
            </c:extLst>
          </c:dPt>
          <c:dPt>
            <c:idx val="3"/>
            <c:invertIfNegative val="0"/>
            <c:bubble3D val="0"/>
            <c:spPr>
              <a:solidFill>
                <a:srgbClr val="FFB547"/>
              </a:solidFill>
              <a:ln>
                <a:noFill/>
              </a:ln>
              <a:effectLst/>
            </c:spPr>
            <c:extLst>
              <c:ext xmlns:c16="http://schemas.microsoft.com/office/drawing/2014/chart" uri="{C3380CC4-5D6E-409C-BE32-E72D297353CC}">
                <c16:uniqueId val="{00000007-EE43-F140-AB33-1060B4CF0632}"/>
              </c:ext>
            </c:extLst>
          </c:dPt>
          <c:cat>
            <c:strRef>
              <c:f>Sheet1!$A$2:$A$5</c:f>
              <c:strCache>
                <c:ptCount val="4"/>
                <c:pt idx="0">
                  <c:v>Incentives</c:v>
                </c:pt>
                <c:pt idx="1">
                  <c:v>Resistance</c:v>
                </c:pt>
                <c:pt idx="2">
                  <c:v>Capacity</c:v>
                </c:pt>
                <c:pt idx="3">
                  <c:v>Authority</c:v>
                </c:pt>
              </c:strCache>
            </c:strRef>
          </c:cat>
          <c:val>
            <c:numRef>
              <c:f>Sheet1!$B$2:$B$5</c:f>
              <c:numCache>
                <c:formatCode>General</c:formatCode>
                <c:ptCount val="4"/>
                <c:pt idx="0">
                  <c:v>80</c:v>
                </c:pt>
                <c:pt idx="1">
                  <c:v>30</c:v>
                </c:pt>
                <c:pt idx="2">
                  <c:v>40</c:v>
                </c:pt>
                <c:pt idx="3">
                  <c:v>68</c:v>
                </c:pt>
              </c:numCache>
            </c:numRef>
          </c:val>
          <c:extLst>
            <c:ext xmlns:c16="http://schemas.microsoft.com/office/drawing/2014/chart" uri="{C3380CC4-5D6E-409C-BE32-E72D297353CC}">
              <c16:uniqueId val="{00000008-EE43-F140-AB33-1060B4CF0632}"/>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Incentives</c:v>
                </c:pt>
                <c:pt idx="1">
                  <c:v>Resistance</c:v>
                </c:pt>
                <c:pt idx="2">
                  <c:v>Capacity</c:v>
                </c:pt>
                <c:pt idx="3">
                  <c:v>Authority</c:v>
                </c:pt>
              </c:strCache>
            </c:strRef>
          </c:cat>
          <c:val>
            <c:numRef>
              <c:f>Sheet1!$C$2:$C$5</c:f>
              <c:numCache>
                <c:formatCode>General</c:formatCode>
                <c:ptCount val="4"/>
                <c:pt idx="0">
                  <c:v>20</c:v>
                </c:pt>
                <c:pt idx="1">
                  <c:v>70</c:v>
                </c:pt>
                <c:pt idx="2">
                  <c:v>60</c:v>
                </c:pt>
                <c:pt idx="3">
                  <c:v>32</c:v>
                </c:pt>
              </c:numCache>
            </c:numRef>
          </c:val>
          <c:extLst>
            <c:ext xmlns:c16="http://schemas.microsoft.com/office/drawing/2014/chart" uri="{C3380CC4-5D6E-409C-BE32-E72D297353CC}">
              <c16:uniqueId val="{00000009-EE43-F140-AB33-1060B4CF0632}"/>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E0B5-444F-9A1D-EA685960EC81}"/>
              </c:ext>
            </c:extLst>
          </c:dPt>
          <c:dPt>
            <c:idx val="1"/>
            <c:invertIfNegative val="0"/>
            <c:bubble3D val="0"/>
            <c:spPr>
              <a:solidFill>
                <a:srgbClr val="FFB547"/>
              </a:solidFill>
              <a:ln>
                <a:noFill/>
              </a:ln>
              <a:effectLst/>
            </c:spPr>
            <c:extLst>
              <c:ext xmlns:c16="http://schemas.microsoft.com/office/drawing/2014/chart" uri="{C3380CC4-5D6E-409C-BE32-E72D297353CC}">
                <c16:uniqueId val="{00000003-E0B5-444F-9A1D-EA685960EC81}"/>
              </c:ext>
            </c:extLst>
          </c:dPt>
          <c:dPt>
            <c:idx val="2"/>
            <c:invertIfNegative val="0"/>
            <c:bubble3D val="0"/>
            <c:spPr>
              <a:solidFill>
                <a:srgbClr val="D84532"/>
              </a:solidFill>
              <a:ln>
                <a:noFill/>
              </a:ln>
              <a:effectLst/>
            </c:spPr>
            <c:extLst>
              <c:ext xmlns:c16="http://schemas.microsoft.com/office/drawing/2014/chart" uri="{C3380CC4-5D6E-409C-BE32-E72D297353CC}">
                <c16:uniqueId val="{00000005-E0B5-444F-9A1D-EA685960EC81}"/>
              </c:ext>
            </c:extLst>
          </c:dPt>
          <c:dPt>
            <c:idx val="3"/>
            <c:invertIfNegative val="0"/>
            <c:bubble3D val="0"/>
            <c:spPr>
              <a:solidFill>
                <a:srgbClr val="FFB547"/>
              </a:solidFill>
              <a:ln>
                <a:noFill/>
              </a:ln>
              <a:effectLst/>
            </c:spPr>
            <c:extLst>
              <c:ext xmlns:c16="http://schemas.microsoft.com/office/drawing/2014/chart" uri="{C3380CC4-5D6E-409C-BE32-E72D297353CC}">
                <c16:uniqueId val="{00000007-E0B5-444F-9A1D-EA685960EC81}"/>
              </c:ext>
            </c:extLst>
          </c:dPt>
          <c:cat>
            <c:strRef>
              <c:f>Sheet1!$A$2:$A$5</c:f>
              <c:strCache>
                <c:ptCount val="4"/>
                <c:pt idx="0">
                  <c:v>Track Record</c:v>
                </c:pt>
                <c:pt idx="1">
                  <c:v>Two-way fit</c:v>
                </c:pt>
                <c:pt idx="2">
                  <c:v>SP Match</c:v>
                </c:pt>
                <c:pt idx="3">
                  <c:v>JTBD Match</c:v>
                </c:pt>
              </c:strCache>
            </c:strRef>
          </c:cat>
          <c:val>
            <c:numRef>
              <c:f>Sheet1!$B$2:$B$5</c:f>
              <c:numCache>
                <c:formatCode>General</c:formatCode>
                <c:ptCount val="4"/>
                <c:pt idx="0">
                  <c:v>85</c:v>
                </c:pt>
                <c:pt idx="1">
                  <c:v>65</c:v>
                </c:pt>
                <c:pt idx="2">
                  <c:v>45</c:v>
                </c:pt>
                <c:pt idx="3">
                  <c:v>65</c:v>
                </c:pt>
              </c:numCache>
            </c:numRef>
          </c:val>
          <c:extLst>
            <c:ext xmlns:c16="http://schemas.microsoft.com/office/drawing/2014/chart" uri="{C3380CC4-5D6E-409C-BE32-E72D297353CC}">
              <c16:uniqueId val="{00000008-E0B5-444F-9A1D-EA685960EC81}"/>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Track Record</c:v>
                </c:pt>
                <c:pt idx="1">
                  <c:v>Two-way fit</c:v>
                </c:pt>
                <c:pt idx="2">
                  <c:v>SP Match</c:v>
                </c:pt>
                <c:pt idx="3">
                  <c:v>JTBD Match</c:v>
                </c:pt>
              </c:strCache>
            </c:strRef>
          </c:cat>
          <c:val>
            <c:numRef>
              <c:f>Sheet1!$C$2:$C$5</c:f>
              <c:numCache>
                <c:formatCode>General</c:formatCode>
                <c:ptCount val="4"/>
                <c:pt idx="0">
                  <c:v>15</c:v>
                </c:pt>
                <c:pt idx="1">
                  <c:v>35</c:v>
                </c:pt>
                <c:pt idx="2">
                  <c:v>55</c:v>
                </c:pt>
                <c:pt idx="3">
                  <c:v>35</c:v>
                </c:pt>
              </c:numCache>
            </c:numRef>
          </c:val>
          <c:extLst>
            <c:ext xmlns:c16="http://schemas.microsoft.com/office/drawing/2014/chart" uri="{C3380CC4-5D6E-409C-BE32-E72D297353CC}">
              <c16:uniqueId val="{00000009-E0B5-444F-9A1D-EA685960EC81}"/>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0593FF-8C25-4BC8-8FC7-72C5FA19D76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LID4096"/>
        </a:p>
      </dgm:t>
    </dgm:pt>
    <dgm:pt modelId="{12D2420A-E201-49C4-9BEC-DB0FB53722C4}">
      <dgm:prSet phldrT="[Text]" custT="1"/>
      <dgm:spPr>
        <a:solidFill>
          <a:schemeClr val="accent1"/>
        </a:solidFill>
      </dgm:spPr>
      <dgm:t>
        <a:bodyPr/>
        <a:lstStyle/>
        <a:p>
          <a:r>
            <a:rPr lang="en-GB" sz="500" dirty="0"/>
            <a:t>Head of Manufacturing</a:t>
          </a:r>
          <a:endParaRPr lang="LID4096" sz="500"/>
        </a:p>
      </dgm:t>
    </dgm:pt>
    <dgm:pt modelId="{08FCC963-9F36-4255-A9FB-D5BB357A3059}" type="parTrans" cxnId="{5D829939-7B74-41F9-8105-5742828198B3}">
      <dgm:prSet/>
      <dgm:spPr/>
      <dgm:t>
        <a:bodyPr/>
        <a:lstStyle/>
        <a:p>
          <a:endParaRPr lang="LID4096" sz="1800"/>
        </a:p>
      </dgm:t>
    </dgm:pt>
    <dgm:pt modelId="{B8A3DD8F-1292-4200-AC05-960438BEE9A2}" type="sibTrans" cxnId="{5D829939-7B74-41F9-8105-5742828198B3}">
      <dgm:prSet/>
      <dgm:spPr/>
      <dgm:t>
        <a:bodyPr/>
        <a:lstStyle/>
        <a:p>
          <a:endParaRPr lang="LID4096" sz="1800"/>
        </a:p>
      </dgm:t>
    </dgm:pt>
    <dgm:pt modelId="{8A053B1A-B478-45B7-AF49-325252536B33}">
      <dgm:prSet phldrT="[Text]" custT="1"/>
      <dgm:spPr>
        <a:solidFill>
          <a:schemeClr val="accent1"/>
        </a:solidFill>
      </dgm:spPr>
      <dgm:t>
        <a:bodyPr/>
        <a:lstStyle/>
        <a:p>
          <a:r>
            <a:rPr lang="en-GB" sz="500" dirty="0"/>
            <a:t>Head of Demand Planning</a:t>
          </a:r>
          <a:endParaRPr lang="LID4096" sz="500"/>
        </a:p>
      </dgm:t>
    </dgm:pt>
    <dgm:pt modelId="{62B1F873-48FA-4844-BF8E-0657EEA9AEBE}" type="parTrans" cxnId="{DF56B8F8-9F40-4296-99E6-6A47EED23CED}">
      <dgm:prSet/>
      <dgm:spPr/>
      <dgm:t>
        <a:bodyPr/>
        <a:lstStyle/>
        <a:p>
          <a:endParaRPr lang="LID4096" sz="1800"/>
        </a:p>
      </dgm:t>
    </dgm:pt>
    <dgm:pt modelId="{A24E4DDC-0E41-4F72-BC09-1C796FB5EA30}" type="sibTrans" cxnId="{DF56B8F8-9F40-4296-99E6-6A47EED23CED}">
      <dgm:prSet/>
      <dgm:spPr/>
      <dgm:t>
        <a:bodyPr/>
        <a:lstStyle/>
        <a:p>
          <a:endParaRPr lang="LID4096" sz="1800"/>
        </a:p>
      </dgm:t>
    </dgm:pt>
    <dgm:pt modelId="{03B4A52C-0EE9-444D-9AEC-1989F32E2E86}">
      <dgm:prSet phldrT="[Text]" custT="1"/>
      <dgm:spPr>
        <a:solidFill>
          <a:schemeClr val="accent1"/>
        </a:solidFill>
      </dgm:spPr>
      <dgm:t>
        <a:bodyPr/>
        <a:lstStyle/>
        <a:p>
          <a:r>
            <a:rPr lang="en-GB" sz="500" dirty="0"/>
            <a:t>Head of Procurement</a:t>
          </a:r>
          <a:endParaRPr lang="LID4096" sz="500"/>
        </a:p>
      </dgm:t>
    </dgm:pt>
    <dgm:pt modelId="{9CCB2D4A-E14C-4283-BC58-B1C93AD68420}" type="parTrans" cxnId="{E35BF187-0D79-4FC1-800D-E449B8197247}">
      <dgm:prSet/>
      <dgm:spPr/>
      <dgm:t>
        <a:bodyPr/>
        <a:lstStyle/>
        <a:p>
          <a:endParaRPr lang="LID4096" sz="1800"/>
        </a:p>
      </dgm:t>
    </dgm:pt>
    <dgm:pt modelId="{AFA3A865-61B4-4A24-9354-C18403AC3BB8}" type="sibTrans" cxnId="{E35BF187-0D79-4FC1-800D-E449B8197247}">
      <dgm:prSet/>
      <dgm:spPr/>
      <dgm:t>
        <a:bodyPr/>
        <a:lstStyle/>
        <a:p>
          <a:endParaRPr lang="LID4096" sz="1800"/>
        </a:p>
      </dgm:t>
    </dgm:pt>
    <dgm:pt modelId="{DCC212F8-FA2E-4A88-8572-7E0208FB4C9C}">
      <dgm:prSet phldrT="[Text]" custT="1"/>
      <dgm:spPr>
        <a:solidFill>
          <a:schemeClr val="accent1"/>
        </a:solidFill>
      </dgm:spPr>
      <dgm:t>
        <a:bodyPr/>
        <a:lstStyle/>
        <a:p>
          <a:r>
            <a:rPr lang="en-GB" sz="500"/>
            <a:t>Head of Production Operations </a:t>
          </a:r>
          <a:endParaRPr lang="LID4096" sz="500"/>
        </a:p>
      </dgm:t>
    </dgm:pt>
    <dgm:pt modelId="{584E0C42-5B14-4BE6-A736-44C6FDB7CAFF}" type="parTrans" cxnId="{D167C14A-DEAB-435F-B3EF-E0E3E1A41D87}">
      <dgm:prSet/>
      <dgm:spPr/>
      <dgm:t>
        <a:bodyPr/>
        <a:lstStyle/>
        <a:p>
          <a:endParaRPr lang="LID4096" sz="1800"/>
        </a:p>
      </dgm:t>
    </dgm:pt>
    <dgm:pt modelId="{F9E90A49-58CF-448C-BC79-C8AC4FEA146E}" type="sibTrans" cxnId="{D167C14A-DEAB-435F-B3EF-E0E3E1A41D87}">
      <dgm:prSet/>
      <dgm:spPr/>
      <dgm:t>
        <a:bodyPr/>
        <a:lstStyle/>
        <a:p>
          <a:endParaRPr lang="LID4096" sz="1800"/>
        </a:p>
      </dgm:t>
    </dgm:pt>
    <dgm:pt modelId="{A1C9C448-2C10-470B-808F-4263C4D4CC5D}">
      <dgm:prSet phldrT="[Text]" custT="1"/>
      <dgm:spPr>
        <a:solidFill>
          <a:schemeClr val="accent1"/>
        </a:solidFill>
      </dgm:spPr>
      <dgm:t>
        <a:bodyPr/>
        <a:lstStyle/>
        <a:p>
          <a:r>
            <a:rPr lang="en-GB" sz="500"/>
            <a:t>Head of Quality</a:t>
          </a:r>
          <a:endParaRPr lang="LID4096" sz="500"/>
        </a:p>
      </dgm:t>
    </dgm:pt>
    <dgm:pt modelId="{07AEA271-7A37-474D-B461-B04EF6C90489}" type="parTrans" cxnId="{A4AC1AB8-1D59-5E4A-9780-BF5854490301}">
      <dgm:prSet/>
      <dgm:spPr/>
      <dgm:t>
        <a:bodyPr/>
        <a:lstStyle/>
        <a:p>
          <a:endParaRPr lang="LID4096" sz="1800"/>
        </a:p>
      </dgm:t>
    </dgm:pt>
    <dgm:pt modelId="{B9073ED0-5A06-47C9-AA06-96A6FA93D717}" type="sibTrans" cxnId="{A4AC1AB8-1D59-5E4A-9780-BF5854490301}">
      <dgm:prSet/>
      <dgm:spPr/>
      <dgm:t>
        <a:bodyPr/>
        <a:lstStyle/>
        <a:p>
          <a:endParaRPr lang="LID4096" sz="1800"/>
        </a:p>
      </dgm:t>
    </dgm:pt>
    <dgm:pt modelId="{737510F9-A46C-4EF2-9CCC-91875EBF71DC}">
      <dgm:prSet phldrT="[Text]" custT="1"/>
      <dgm:spPr>
        <a:solidFill>
          <a:schemeClr val="accent1"/>
        </a:solidFill>
      </dgm:spPr>
      <dgm:t>
        <a:bodyPr/>
        <a:lstStyle/>
        <a:p>
          <a:r>
            <a:rPr lang="en-GB" sz="500"/>
            <a:t>Head of Technology Enablement</a:t>
          </a:r>
          <a:endParaRPr lang="LID4096" sz="500"/>
        </a:p>
      </dgm:t>
    </dgm:pt>
    <dgm:pt modelId="{748E29F2-D293-44E0-BE24-3D4AAF02EE77}" type="parTrans" cxnId="{C35997F9-248E-6349-810D-C80FC53F67C3}">
      <dgm:prSet/>
      <dgm:spPr/>
      <dgm:t>
        <a:bodyPr/>
        <a:lstStyle/>
        <a:p>
          <a:endParaRPr lang="LID4096" sz="1800"/>
        </a:p>
      </dgm:t>
    </dgm:pt>
    <dgm:pt modelId="{9FF8B8B9-87BF-4F8C-9740-558372099CF3}" type="sibTrans" cxnId="{C35997F9-248E-6349-810D-C80FC53F67C3}">
      <dgm:prSet/>
      <dgm:spPr/>
      <dgm:t>
        <a:bodyPr/>
        <a:lstStyle/>
        <a:p>
          <a:endParaRPr lang="LID4096" sz="1800"/>
        </a:p>
      </dgm:t>
    </dgm:pt>
    <dgm:pt modelId="{89E307EC-F613-4FF8-B0FD-9EA4C7FC9D48}" type="pres">
      <dgm:prSet presAssocID="{160593FF-8C25-4BC8-8FC7-72C5FA19D76E}" presName="hierChild1" presStyleCnt="0">
        <dgm:presLayoutVars>
          <dgm:orgChart val="1"/>
          <dgm:chPref val="1"/>
          <dgm:dir/>
          <dgm:animOne val="branch"/>
          <dgm:animLvl val="lvl"/>
          <dgm:resizeHandles/>
        </dgm:presLayoutVars>
      </dgm:prSet>
      <dgm:spPr/>
    </dgm:pt>
    <dgm:pt modelId="{28766229-A8B1-4BB3-AC18-5550C16E774A}" type="pres">
      <dgm:prSet presAssocID="{12D2420A-E201-49C4-9BEC-DB0FB53722C4}" presName="hierRoot1" presStyleCnt="0">
        <dgm:presLayoutVars>
          <dgm:hierBranch val="init"/>
        </dgm:presLayoutVars>
      </dgm:prSet>
      <dgm:spPr/>
    </dgm:pt>
    <dgm:pt modelId="{ED8AC8F4-1BA3-40B4-A454-010A3E69F40C}" type="pres">
      <dgm:prSet presAssocID="{12D2420A-E201-49C4-9BEC-DB0FB53722C4}" presName="rootComposite1" presStyleCnt="0"/>
      <dgm:spPr/>
    </dgm:pt>
    <dgm:pt modelId="{CF9E68C2-925E-4A47-ABA7-3C5BFF02E793}" type="pres">
      <dgm:prSet presAssocID="{12D2420A-E201-49C4-9BEC-DB0FB53722C4}" presName="rootText1" presStyleLbl="node0" presStyleIdx="0" presStyleCnt="1">
        <dgm:presLayoutVars>
          <dgm:chPref val="3"/>
        </dgm:presLayoutVars>
      </dgm:prSet>
      <dgm:spPr/>
    </dgm:pt>
    <dgm:pt modelId="{82357693-5C7B-43A1-A452-2CB5E2CA96A9}" type="pres">
      <dgm:prSet presAssocID="{12D2420A-E201-49C4-9BEC-DB0FB53722C4}" presName="rootConnector1" presStyleLbl="node1" presStyleIdx="0" presStyleCnt="0"/>
      <dgm:spPr/>
    </dgm:pt>
    <dgm:pt modelId="{779AC8F8-E892-46EB-B053-9B320E81A9CE}" type="pres">
      <dgm:prSet presAssocID="{12D2420A-E201-49C4-9BEC-DB0FB53722C4}" presName="hierChild2" presStyleCnt="0"/>
      <dgm:spPr/>
    </dgm:pt>
    <dgm:pt modelId="{73860EC0-FEBE-4BCB-AB60-31B7205BA855}" type="pres">
      <dgm:prSet presAssocID="{62B1F873-48FA-4844-BF8E-0657EEA9AEBE}" presName="Name37" presStyleLbl="parChTrans1D2" presStyleIdx="0" presStyleCnt="5"/>
      <dgm:spPr/>
    </dgm:pt>
    <dgm:pt modelId="{9115776C-2CA1-4C67-8688-0D47C10EBA1B}" type="pres">
      <dgm:prSet presAssocID="{8A053B1A-B478-45B7-AF49-325252536B33}" presName="hierRoot2" presStyleCnt="0">
        <dgm:presLayoutVars>
          <dgm:hierBranch val="init"/>
        </dgm:presLayoutVars>
      </dgm:prSet>
      <dgm:spPr/>
    </dgm:pt>
    <dgm:pt modelId="{7F9B8CE3-E3C7-4BCD-8AA2-59E5C1B7DC6C}" type="pres">
      <dgm:prSet presAssocID="{8A053B1A-B478-45B7-AF49-325252536B33}" presName="rootComposite" presStyleCnt="0"/>
      <dgm:spPr/>
    </dgm:pt>
    <dgm:pt modelId="{8A90FA96-B6CF-4325-866A-855040AFA558}" type="pres">
      <dgm:prSet presAssocID="{8A053B1A-B478-45B7-AF49-325252536B33}" presName="rootText" presStyleLbl="node2" presStyleIdx="0" presStyleCnt="5">
        <dgm:presLayoutVars>
          <dgm:chPref val="3"/>
        </dgm:presLayoutVars>
      </dgm:prSet>
      <dgm:spPr/>
    </dgm:pt>
    <dgm:pt modelId="{6085342E-0EE9-48A7-A8CB-FBAAC3C58ABE}" type="pres">
      <dgm:prSet presAssocID="{8A053B1A-B478-45B7-AF49-325252536B33}" presName="rootConnector" presStyleLbl="node2" presStyleIdx="0" presStyleCnt="5"/>
      <dgm:spPr/>
    </dgm:pt>
    <dgm:pt modelId="{89AC1F9A-B74A-4FB3-8B8F-1B6AECFAF7FA}" type="pres">
      <dgm:prSet presAssocID="{8A053B1A-B478-45B7-AF49-325252536B33}" presName="hierChild4" presStyleCnt="0"/>
      <dgm:spPr/>
    </dgm:pt>
    <dgm:pt modelId="{93220142-F106-46CA-AD1E-4F803FD14C6D}" type="pres">
      <dgm:prSet presAssocID="{8A053B1A-B478-45B7-AF49-325252536B33}" presName="hierChild5" presStyleCnt="0"/>
      <dgm:spPr/>
    </dgm:pt>
    <dgm:pt modelId="{FAD2C668-67B5-4E7D-9C3F-9F9BF2728972}" type="pres">
      <dgm:prSet presAssocID="{9CCB2D4A-E14C-4283-BC58-B1C93AD68420}" presName="Name37" presStyleLbl="parChTrans1D2" presStyleIdx="1" presStyleCnt="5"/>
      <dgm:spPr/>
    </dgm:pt>
    <dgm:pt modelId="{4FD19FBD-4F23-4102-A79B-C9A5E257CED6}" type="pres">
      <dgm:prSet presAssocID="{03B4A52C-0EE9-444D-9AEC-1989F32E2E86}" presName="hierRoot2" presStyleCnt="0">
        <dgm:presLayoutVars>
          <dgm:hierBranch val="init"/>
        </dgm:presLayoutVars>
      </dgm:prSet>
      <dgm:spPr/>
    </dgm:pt>
    <dgm:pt modelId="{61E9F242-14FB-4F60-A948-2614B517C947}" type="pres">
      <dgm:prSet presAssocID="{03B4A52C-0EE9-444D-9AEC-1989F32E2E86}" presName="rootComposite" presStyleCnt="0"/>
      <dgm:spPr/>
    </dgm:pt>
    <dgm:pt modelId="{F96F9F63-4657-47AD-9210-2AAB24975997}" type="pres">
      <dgm:prSet presAssocID="{03B4A52C-0EE9-444D-9AEC-1989F32E2E86}" presName="rootText" presStyleLbl="node2" presStyleIdx="1" presStyleCnt="5">
        <dgm:presLayoutVars>
          <dgm:chPref val="3"/>
        </dgm:presLayoutVars>
      </dgm:prSet>
      <dgm:spPr/>
    </dgm:pt>
    <dgm:pt modelId="{4991BE67-7BD9-43AC-A988-7CDF1AF0BDBA}" type="pres">
      <dgm:prSet presAssocID="{03B4A52C-0EE9-444D-9AEC-1989F32E2E86}" presName="rootConnector" presStyleLbl="node2" presStyleIdx="1" presStyleCnt="5"/>
      <dgm:spPr/>
    </dgm:pt>
    <dgm:pt modelId="{7C773118-5F3C-44DD-BE20-874F4ABD72D9}" type="pres">
      <dgm:prSet presAssocID="{03B4A52C-0EE9-444D-9AEC-1989F32E2E86}" presName="hierChild4" presStyleCnt="0"/>
      <dgm:spPr/>
    </dgm:pt>
    <dgm:pt modelId="{FE0F2D34-CF1F-43E2-BFA8-74C265BD7E2C}" type="pres">
      <dgm:prSet presAssocID="{03B4A52C-0EE9-444D-9AEC-1989F32E2E86}" presName="hierChild5" presStyleCnt="0"/>
      <dgm:spPr/>
    </dgm:pt>
    <dgm:pt modelId="{C9F4AFFF-924F-4743-8F19-C85EDC6866FB}" type="pres">
      <dgm:prSet presAssocID="{584E0C42-5B14-4BE6-A736-44C6FDB7CAFF}" presName="Name37" presStyleLbl="parChTrans1D2" presStyleIdx="2" presStyleCnt="5"/>
      <dgm:spPr/>
    </dgm:pt>
    <dgm:pt modelId="{205DEB63-5102-481A-BB3B-6857700E629F}" type="pres">
      <dgm:prSet presAssocID="{DCC212F8-FA2E-4A88-8572-7E0208FB4C9C}" presName="hierRoot2" presStyleCnt="0">
        <dgm:presLayoutVars>
          <dgm:hierBranch val="init"/>
        </dgm:presLayoutVars>
      </dgm:prSet>
      <dgm:spPr/>
    </dgm:pt>
    <dgm:pt modelId="{3E65BDDF-D1AA-47DC-8656-FB5BE59FE84A}" type="pres">
      <dgm:prSet presAssocID="{DCC212F8-FA2E-4A88-8572-7E0208FB4C9C}" presName="rootComposite" presStyleCnt="0"/>
      <dgm:spPr/>
    </dgm:pt>
    <dgm:pt modelId="{34DA13B2-F128-45EF-A140-F9887057C2FD}" type="pres">
      <dgm:prSet presAssocID="{DCC212F8-FA2E-4A88-8572-7E0208FB4C9C}" presName="rootText" presStyleLbl="node2" presStyleIdx="2" presStyleCnt="5">
        <dgm:presLayoutVars>
          <dgm:chPref val="3"/>
        </dgm:presLayoutVars>
      </dgm:prSet>
      <dgm:spPr/>
    </dgm:pt>
    <dgm:pt modelId="{892F9E56-0CF4-4CB7-80C4-F012B1C37076}" type="pres">
      <dgm:prSet presAssocID="{DCC212F8-FA2E-4A88-8572-7E0208FB4C9C}" presName="rootConnector" presStyleLbl="node2" presStyleIdx="2" presStyleCnt="5"/>
      <dgm:spPr/>
    </dgm:pt>
    <dgm:pt modelId="{DE25F11F-2F7A-4759-BA31-311146852F27}" type="pres">
      <dgm:prSet presAssocID="{DCC212F8-FA2E-4A88-8572-7E0208FB4C9C}" presName="hierChild4" presStyleCnt="0"/>
      <dgm:spPr/>
    </dgm:pt>
    <dgm:pt modelId="{C0CB8552-C8E2-4888-8F59-5EAF7AF5EB62}" type="pres">
      <dgm:prSet presAssocID="{DCC212F8-FA2E-4A88-8572-7E0208FB4C9C}" presName="hierChild5" presStyleCnt="0"/>
      <dgm:spPr/>
    </dgm:pt>
    <dgm:pt modelId="{68707B28-E22D-44CD-9C7F-2EEEBC2289A3}" type="pres">
      <dgm:prSet presAssocID="{07AEA271-7A37-474D-B461-B04EF6C90489}" presName="Name37" presStyleLbl="parChTrans1D2" presStyleIdx="3" presStyleCnt="5"/>
      <dgm:spPr/>
    </dgm:pt>
    <dgm:pt modelId="{2623089A-3725-4F44-9583-76BC2DB2733A}" type="pres">
      <dgm:prSet presAssocID="{A1C9C448-2C10-470B-808F-4263C4D4CC5D}" presName="hierRoot2" presStyleCnt="0">
        <dgm:presLayoutVars>
          <dgm:hierBranch val="init"/>
        </dgm:presLayoutVars>
      </dgm:prSet>
      <dgm:spPr/>
    </dgm:pt>
    <dgm:pt modelId="{7195AD86-7957-4689-91A6-3D631AE0A31A}" type="pres">
      <dgm:prSet presAssocID="{A1C9C448-2C10-470B-808F-4263C4D4CC5D}" presName="rootComposite" presStyleCnt="0"/>
      <dgm:spPr/>
    </dgm:pt>
    <dgm:pt modelId="{31336E96-F359-4141-80FF-B39CC972F40C}" type="pres">
      <dgm:prSet presAssocID="{A1C9C448-2C10-470B-808F-4263C4D4CC5D}" presName="rootText" presStyleLbl="node2" presStyleIdx="3" presStyleCnt="5">
        <dgm:presLayoutVars>
          <dgm:chPref val="3"/>
        </dgm:presLayoutVars>
      </dgm:prSet>
      <dgm:spPr/>
    </dgm:pt>
    <dgm:pt modelId="{FA194049-A1E7-4CC3-81EC-A007022592D5}" type="pres">
      <dgm:prSet presAssocID="{A1C9C448-2C10-470B-808F-4263C4D4CC5D}" presName="rootConnector" presStyleLbl="node2" presStyleIdx="3" presStyleCnt="5"/>
      <dgm:spPr/>
    </dgm:pt>
    <dgm:pt modelId="{B5CC0267-EDDD-4011-9DE4-873111A7C154}" type="pres">
      <dgm:prSet presAssocID="{A1C9C448-2C10-470B-808F-4263C4D4CC5D}" presName="hierChild4" presStyleCnt="0"/>
      <dgm:spPr/>
    </dgm:pt>
    <dgm:pt modelId="{890E6B9B-D67B-4040-A8C2-C236915910CC}" type="pres">
      <dgm:prSet presAssocID="{A1C9C448-2C10-470B-808F-4263C4D4CC5D}" presName="hierChild5" presStyleCnt="0"/>
      <dgm:spPr/>
    </dgm:pt>
    <dgm:pt modelId="{A25C71AA-0B8A-4A1F-8460-921A3633D644}" type="pres">
      <dgm:prSet presAssocID="{748E29F2-D293-44E0-BE24-3D4AAF02EE77}" presName="Name37" presStyleLbl="parChTrans1D2" presStyleIdx="4" presStyleCnt="5"/>
      <dgm:spPr/>
    </dgm:pt>
    <dgm:pt modelId="{3488C85A-EEC4-4175-9AAC-92FAD0E250C7}" type="pres">
      <dgm:prSet presAssocID="{737510F9-A46C-4EF2-9CCC-91875EBF71DC}" presName="hierRoot2" presStyleCnt="0">
        <dgm:presLayoutVars>
          <dgm:hierBranch val="init"/>
        </dgm:presLayoutVars>
      </dgm:prSet>
      <dgm:spPr/>
    </dgm:pt>
    <dgm:pt modelId="{30638FAB-3590-4913-BB2F-A25BEB8BEA3E}" type="pres">
      <dgm:prSet presAssocID="{737510F9-A46C-4EF2-9CCC-91875EBF71DC}" presName="rootComposite" presStyleCnt="0"/>
      <dgm:spPr/>
    </dgm:pt>
    <dgm:pt modelId="{12DF307C-4C39-4D4C-8DEB-E4EC8EC08E51}" type="pres">
      <dgm:prSet presAssocID="{737510F9-A46C-4EF2-9CCC-91875EBF71DC}" presName="rootText" presStyleLbl="node2" presStyleIdx="4" presStyleCnt="5" custLinFactNeighborX="1722">
        <dgm:presLayoutVars>
          <dgm:chPref val="3"/>
        </dgm:presLayoutVars>
      </dgm:prSet>
      <dgm:spPr/>
    </dgm:pt>
    <dgm:pt modelId="{76F325B3-AECE-4AF7-8F6C-2FEEF3C0047B}" type="pres">
      <dgm:prSet presAssocID="{737510F9-A46C-4EF2-9CCC-91875EBF71DC}" presName="rootConnector" presStyleLbl="node2" presStyleIdx="4" presStyleCnt="5"/>
      <dgm:spPr/>
    </dgm:pt>
    <dgm:pt modelId="{71897A6B-07C0-48CB-879C-50DD94112032}" type="pres">
      <dgm:prSet presAssocID="{737510F9-A46C-4EF2-9CCC-91875EBF71DC}" presName="hierChild4" presStyleCnt="0"/>
      <dgm:spPr/>
    </dgm:pt>
    <dgm:pt modelId="{9C0EA11C-6B99-4C9F-B24C-643BBEB137AB}" type="pres">
      <dgm:prSet presAssocID="{737510F9-A46C-4EF2-9CCC-91875EBF71DC}" presName="hierChild5" presStyleCnt="0"/>
      <dgm:spPr/>
    </dgm:pt>
    <dgm:pt modelId="{373A87C3-A05E-495D-BF1C-B8FB3C51C7E1}" type="pres">
      <dgm:prSet presAssocID="{12D2420A-E201-49C4-9BEC-DB0FB53722C4}" presName="hierChild3" presStyleCnt="0"/>
      <dgm:spPr/>
    </dgm:pt>
  </dgm:ptLst>
  <dgm:cxnLst>
    <dgm:cxn modelId="{252C9300-337F-4CDD-8646-1F23E1940061}" type="presOf" srcId="{584E0C42-5B14-4BE6-A736-44C6FDB7CAFF}" destId="{C9F4AFFF-924F-4743-8F19-C85EDC6866FB}" srcOrd="0" destOrd="0" presId="urn:microsoft.com/office/officeart/2005/8/layout/orgChart1"/>
    <dgm:cxn modelId="{D8065404-B587-A64A-8B65-BB9E0E57A433}" type="presOf" srcId="{748E29F2-D293-44E0-BE24-3D4AAF02EE77}" destId="{A25C71AA-0B8A-4A1F-8460-921A3633D644}" srcOrd="0" destOrd="0" presId="urn:microsoft.com/office/officeart/2005/8/layout/orgChart1"/>
    <dgm:cxn modelId="{750E8E04-2A04-4A2B-BC91-5769030EFDBF}" type="presOf" srcId="{8A053B1A-B478-45B7-AF49-325252536B33}" destId="{8A90FA96-B6CF-4325-866A-855040AFA558}" srcOrd="0" destOrd="0" presId="urn:microsoft.com/office/officeart/2005/8/layout/orgChart1"/>
    <dgm:cxn modelId="{18BDF91D-3EAA-4516-B09B-5414574866D7}" type="presOf" srcId="{DCC212F8-FA2E-4A88-8572-7E0208FB4C9C}" destId="{892F9E56-0CF4-4CB7-80C4-F012B1C37076}" srcOrd="1" destOrd="0" presId="urn:microsoft.com/office/officeart/2005/8/layout/orgChart1"/>
    <dgm:cxn modelId="{A58A5F23-BAE2-40F6-9CA9-1A0A17F31E25}" type="presOf" srcId="{160593FF-8C25-4BC8-8FC7-72C5FA19D76E}" destId="{89E307EC-F613-4FF8-B0FD-9EA4C7FC9D48}" srcOrd="0" destOrd="0" presId="urn:microsoft.com/office/officeart/2005/8/layout/orgChart1"/>
    <dgm:cxn modelId="{5FDA8C31-02BD-4E58-8960-16148D492470}" type="presOf" srcId="{62B1F873-48FA-4844-BF8E-0657EEA9AEBE}" destId="{73860EC0-FEBE-4BCB-AB60-31B7205BA855}" srcOrd="0" destOrd="0" presId="urn:microsoft.com/office/officeart/2005/8/layout/orgChart1"/>
    <dgm:cxn modelId="{5D829939-7B74-41F9-8105-5742828198B3}" srcId="{160593FF-8C25-4BC8-8FC7-72C5FA19D76E}" destId="{12D2420A-E201-49C4-9BEC-DB0FB53722C4}" srcOrd="0" destOrd="0" parTransId="{08FCC963-9F36-4255-A9FB-D5BB357A3059}" sibTransId="{B8A3DD8F-1292-4200-AC05-960438BEE9A2}"/>
    <dgm:cxn modelId="{5319B148-5060-9241-89E0-8D0058001C09}" type="presOf" srcId="{737510F9-A46C-4EF2-9CCC-91875EBF71DC}" destId="{12DF307C-4C39-4D4C-8DEB-E4EC8EC08E51}" srcOrd="0" destOrd="0" presId="urn:microsoft.com/office/officeart/2005/8/layout/orgChart1"/>
    <dgm:cxn modelId="{D167C14A-DEAB-435F-B3EF-E0E3E1A41D87}" srcId="{12D2420A-E201-49C4-9BEC-DB0FB53722C4}" destId="{DCC212F8-FA2E-4A88-8572-7E0208FB4C9C}" srcOrd="2" destOrd="0" parTransId="{584E0C42-5B14-4BE6-A736-44C6FDB7CAFF}" sibTransId="{F9E90A49-58CF-448C-BC79-C8AC4FEA146E}"/>
    <dgm:cxn modelId="{39939258-FA85-4D7C-8697-FB216D65F337}" type="presOf" srcId="{9CCB2D4A-E14C-4283-BC58-B1C93AD68420}" destId="{FAD2C668-67B5-4E7D-9C3F-9F9BF2728972}" srcOrd="0" destOrd="0" presId="urn:microsoft.com/office/officeart/2005/8/layout/orgChart1"/>
    <dgm:cxn modelId="{C8DD515E-72C1-6948-AA21-1F98738A71E9}" type="presOf" srcId="{A1C9C448-2C10-470B-808F-4263C4D4CC5D}" destId="{FA194049-A1E7-4CC3-81EC-A007022592D5}" srcOrd="1" destOrd="0" presId="urn:microsoft.com/office/officeart/2005/8/layout/orgChart1"/>
    <dgm:cxn modelId="{D7704568-D6F9-40B3-8B6A-D605A41F4115}" type="presOf" srcId="{DCC212F8-FA2E-4A88-8572-7E0208FB4C9C}" destId="{34DA13B2-F128-45EF-A140-F9887057C2FD}" srcOrd="0" destOrd="0" presId="urn:microsoft.com/office/officeart/2005/8/layout/orgChart1"/>
    <dgm:cxn modelId="{E35BF187-0D79-4FC1-800D-E449B8197247}" srcId="{12D2420A-E201-49C4-9BEC-DB0FB53722C4}" destId="{03B4A52C-0EE9-444D-9AEC-1989F32E2E86}" srcOrd="1" destOrd="0" parTransId="{9CCB2D4A-E14C-4283-BC58-B1C93AD68420}" sibTransId="{AFA3A865-61B4-4A24-9354-C18403AC3BB8}"/>
    <dgm:cxn modelId="{45F0E491-7B15-5B40-9356-4CEF42948FB2}" type="presOf" srcId="{737510F9-A46C-4EF2-9CCC-91875EBF71DC}" destId="{76F325B3-AECE-4AF7-8F6C-2FEEF3C0047B}" srcOrd="1" destOrd="0" presId="urn:microsoft.com/office/officeart/2005/8/layout/orgChart1"/>
    <dgm:cxn modelId="{1D08439D-93AC-4CF6-85E6-1B0F245D5131}" type="presOf" srcId="{03B4A52C-0EE9-444D-9AEC-1989F32E2E86}" destId="{F96F9F63-4657-47AD-9210-2AAB24975997}" srcOrd="0" destOrd="0" presId="urn:microsoft.com/office/officeart/2005/8/layout/orgChart1"/>
    <dgm:cxn modelId="{D42D03A1-5CFE-D84F-AE9B-7FB230BA6CAA}" type="presOf" srcId="{A1C9C448-2C10-470B-808F-4263C4D4CC5D}" destId="{31336E96-F359-4141-80FF-B39CC972F40C}" srcOrd="0" destOrd="0" presId="urn:microsoft.com/office/officeart/2005/8/layout/orgChart1"/>
    <dgm:cxn modelId="{2713FFAB-25A5-4AB2-8537-025873B1BD7A}" type="presOf" srcId="{12D2420A-E201-49C4-9BEC-DB0FB53722C4}" destId="{82357693-5C7B-43A1-A452-2CB5E2CA96A9}" srcOrd="1" destOrd="0" presId="urn:microsoft.com/office/officeart/2005/8/layout/orgChart1"/>
    <dgm:cxn modelId="{A4AC1AB8-1D59-5E4A-9780-BF5854490301}" srcId="{12D2420A-E201-49C4-9BEC-DB0FB53722C4}" destId="{A1C9C448-2C10-470B-808F-4263C4D4CC5D}" srcOrd="3" destOrd="0" parTransId="{07AEA271-7A37-474D-B461-B04EF6C90489}" sibTransId="{B9073ED0-5A06-47C9-AA06-96A6FA93D717}"/>
    <dgm:cxn modelId="{0CE795DA-4C40-4FE4-B0B0-7FB15273A4F8}" type="presOf" srcId="{12D2420A-E201-49C4-9BEC-DB0FB53722C4}" destId="{CF9E68C2-925E-4A47-ABA7-3C5BFF02E793}" srcOrd="0" destOrd="0" presId="urn:microsoft.com/office/officeart/2005/8/layout/orgChart1"/>
    <dgm:cxn modelId="{267907DE-87B8-42B5-8237-757F0ACBC0AB}" type="presOf" srcId="{03B4A52C-0EE9-444D-9AEC-1989F32E2E86}" destId="{4991BE67-7BD9-43AC-A988-7CDF1AF0BDBA}" srcOrd="1" destOrd="0" presId="urn:microsoft.com/office/officeart/2005/8/layout/orgChart1"/>
    <dgm:cxn modelId="{386BB6EC-2E7C-1B49-AEF6-8D6A90E696DB}" type="presOf" srcId="{07AEA271-7A37-474D-B461-B04EF6C90489}" destId="{68707B28-E22D-44CD-9C7F-2EEEBC2289A3}" srcOrd="0" destOrd="0" presId="urn:microsoft.com/office/officeart/2005/8/layout/orgChart1"/>
    <dgm:cxn modelId="{DF56B8F8-9F40-4296-99E6-6A47EED23CED}" srcId="{12D2420A-E201-49C4-9BEC-DB0FB53722C4}" destId="{8A053B1A-B478-45B7-AF49-325252536B33}" srcOrd="0" destOrd="0" parTransId="{62B1F873-48FA-4844-BF8E-0657EEA9AEBE}" sibTransId="{A24E4DDC-0E41-4F72-BC09-1C796FB5EA30}"/>
    <dgm:cxn modelId="{C35997F9-248E-6349-810D-C80FC53F67C3}" srcId="{12D2420A-E201-49C4-9BEC-DB0FB53722C4}" destId="{737510F9-A46C-4EF2-9CCC-91875EBF71DC}" srcOrd="4" destOrd="0" parTransId="{748E29F2-D293-44E0-BE24-3D4AAF02EE77}" sibTransId="{9FF8B8B9-87BF-4F8C-9740-558372099CF3}"/>
    <dgm:cxn modelId="{147BCCF9-F908-482A-A3CD-68B384AEF57F}" type="presOf" srcId="{8A053B1A-B478-45B7-AF49-325252536B33}" destId="{6085342E-0EE9-48A7-A8CB-FBAAC3C58ABE}" srcOrd="1" destOrd="0" presId="urn:microsoft.com/office/officeart/2005/8/layout/orgChart1"/>
    <dgm:cxn modelId="{7F2B42A9-6AA4-4C07-A6B0-106E46217272}" type="presParOf" srcId="{89E307EC-F613-4FF8-B0FD-9EA4C7FC9D48}" destId="{28766229-A8B1-4BB3-AC18-5550C16E774A}" srcOrd="0" destOrd="0" presId="urn:microsoft.com/office/officeart/2005/8/layout/orgChart1"/>
    <dgm:cxn modelId="{9526DFE2-F318-4137-9D67-51BCD984F9DD}" type="presParOf" srcId="{28766229-A8B1-4BB3-AC18-5550C16E774A}" destId="{ED8AC8F4-1BA3-40B4-A454-010A3E69F40C}" srcOrd="0" destOrd="0" presId="urn:microsoft.com/office/officeart/2005/8/layout/orgChart1"/>
    <dgm:cxn modelId="{86795DE8-1CB9-4510-B1A9-6A1A1E3759F8}" type="presParOf" srcId="{ED8AC8F4-1BA3-40B4-A454-010A3E69F40C}" destId="{CF9E68C2-925E-4A47-ABA7-3C5BFF02E793}" srcOrd="0" destOrd="0" presId="urn:microsoft.com/office/officeart/2005/8/layout/orgChart1"/>
    <dgm:cxn modelId="{887F5267-7BC6-4D75-BC46-4245F37E46ED}" type="presParOf" srcId="{ED8AC8F4-1BA3-40B4-A454-010A3E69F40C}" destId="{82357693-5C7B-43A1-A452-2CB5E2CA96A9}" srcOrd="1" destOrd="0" presId="urn:microsoft.com/office/officeart/2005/8/layout/orgChart1"/>
    <dgm:cxn modelId="{D2572379-8378-407E-9B03-574653EE0A97}" type="presParOf" srcId="{28766229-A8B1-4BB3-AC18-5550C16E774A}" destId="{779AC8F8-E892-46EB-B053-9B320E81A9CE}" srcOrd="1" destOrd="0" presId="urn:microsoft.com/office/officeart/2005/8/layout/orgChart1"/>
    <dgm:cxn modelId="{093C297F-8671-45C8-A5CB-02AFDA84AB59}" type="presParOf" srcId="{779AC8F8-E892-46EB-B053-9B320E81A9CE}" destId="{73860EC0-FEBE-4BCB-AB60-31B7205BA855}" srcOrd="0" destOrd="0" presId="urn:microsoft.com/office/officeart/2005/8/layout/orgChart1"/>
    <dgm:cxn modelId="{EA591B14-7699-4A23-B46C-1A70073D35C2}" type="presParOf" srcId="{779AC8F8-E892-46EB-B053-9B320E81A9CE}" destId="{9115776C-2CA1-4C67-8688-0D47C10EBA1B}" srcOrd="1" destOrd="0" presId="urn:microsoft.com/office/officeart/2005/8/layout/orgChart1"/>
    <dgm:cxn modelId="{1FD5F221-9CE3-4564-B110-5B83A69F1D0E}" type="presParOf" srcId="{9115776C-2CA1-4C67-8688-0D47C10EBA1B}" destId="{7F9B8CE3-E3C7-4BCD-8AA2-59E5C1B7DC6C}" srcOrd="0" destOrd="0" presId="urn:microsoft.com/office/officeart/2005/8/layout/orgChart1"/>
    <dgm:cxn modelId="{149CCF3B-5928-468E-9300-63184D1D1D73}" type="presParOf" srcId="{7F9B8CE3-E3C7-4BCD-8AA2-59E5C1B7DC6C}" destId="{8A90FA96-B6CF-4325-866A-855040AFA558}" srcOrd="0" destOrd="0" presId="urn:microsoft.com/office/officeart/2005/8/layout/orgChart1"/>
    <dgm:cxn modelId="{FCFED21A-2981-4CCD-9D98-50EBE986C9B9}" type="presParOf" srcId="{7F9B8CE3-E3C7-4BCD-8AA2-59E5C1B7DC6C}" destId="{6085342E-0EE9-48A7-A8CB-FBAAC3C58ABE}" srcOrd="1" destOrd="0" presId="urn:microsoft.com/office/officeart/2005/8/layout/orgChart1"/>
    <dgm:cxn modelId="{AC460A8D-D224-4D04-A42C-F2D034D9157F}" type="presParOf" srcId="{9115776C-2CA1-4C67-8688-0D47C10EBA1B}" destId="{89AC1F9A-B74A-4FB3-8B8F-1B6AECFAF7FA}" srcOrd="1" destOrd="0" presId="urn:microsoft.com/office/officeart/2005/8/layout/orgChart1"/>
    <dgm:cxn modelId="{C774918C-8590-4F91-8358-2A1D296BAB40}" type="presParOf" srcId="{9115776C-2CA1-4C67-8688-0D47C10EBA1B}" destId="{93220142-F106-46CA-AD1E-4F803FD14C6D}" srcOrd="2" destOrd="0" presId="urn:microsoft.com/office/officeart/2005/8/layout/orgChart1"/>
    <dgm:cxn modelId="{DA97911B-3AA5-4F57-97CE-8BA0C33CE66F}" type="presParOf" srcId="{779AC8F8-E892-46EB-B053-9B320E81A9CE}" destId="{FAD2C668-67B5-4E7D-9C3F-9F9BF2728972}" srcOrd="2" destOrd="0" presId="urn:microsoft.com/office/officeart/2005/8/layout/orgChart1"/>
    <dgm:cxn modelId="{D826C981-ED73-4450-8741-0C04228B27FF}" type="presParOf" srcId="{779AC8F8-E892-46EB-B053-9B320E81A9CE}" destId="{4FD19FBD-4F23-4102-A79B-C9A5E257CED6}" srcOrd="3" destOrd="0" presId="urn:microsoft.com/office/officeart/2005/8/layout/orgChart1"/>
    <dgm:cxn modelId="{590B1389-C23C-4312-A0DA-A4763E2A4E38}" type="presParOf" srcId="{4FD19FBD-4F23-4102-A79B-C9A5E257CED6}" destId="{61E9F242-14FB-4F60-A948-2614B517C947}" srcOrd="0" destOrd="0" presId="urn:microsoft.com/office/officeart/2005/8/layout/orgChart1"/>
    <dgm:cxn modelId="{B4E32F1A-8BA7-4EE2-A4F0-5BBA522AF4E3}" type="presParOf" srcId="{61E9F242-14FB-4F60-A948-2614B517C947}" destId="{F96F9F63-4657-47AD-9210-2AAB24975997}" srcOrd="0" destOrd="0" presId="urn:microsoft.com/office/officeart/2005/8/layout/orgChart1"/>
    <dgm:cxn modelId="{8BB9A02A-58D5-430B-A56E-E77BCDFA3E9B}" type="presParOf" srcId="{61E9F242-14FB-4F60-A948-2614B517C947}" destId="{4991BE67-7BD9-43AC-A988-7CDF1AF0BDBA}" srcOrd="1" destOrd="0" presId="urn:microsoft.com/office/officeart/2005/8/layout/orgChart1"/>
    <dgm:cxn modelId="{B32D085A-05B0-4B3D-A731-B6452C9DEA3A}" type="presParOf" srcId="{4FD19FBD-4F23-4102-A79B-C9A5E257CED6}" destId="{7C773118-5F3C-44DD-BE20-874F4ABD72D9}" srcOrd="1" destOrd="0" presId="urn:microsoft.com/office/officeart/2005/8/layout/orgChart1"/>
    <dgm:cxn modelId="{F9CD8535-B295-4430-9AEB-403D2A968485}" type="presParOf" srcId="{4FD19FBD-4F23-4102-A79B-C9A5E257CED6}" destId="{FE0F2D34-CF1F-43E2-BFA8-74C265BD7E2C}" srcOrd="2" destOrd="0" presId="urn:microsoft.com/office/officeart/2005/8/layout/orgChart1"/>
    <dgm:cxn modelId="{5A325858-3D2E-4CF0-A8AF-DF79CE7C5084}" type="presParOf" srcId="{779AC8F8-E892-46EB-B053-9B320E81A9CE}" destId="{C9F4AFFF-924F-4743-8F19-C85EDC6866FB}" srcOrd="4" destOrd="0" presId="urn:microsoft.com/office/officeart/2005/8/layout/orgChart1"/>
    <dgm:cxn modelId="{1D794561-8931-4E7B-8ECC-6387EAF1B7DC}" type="presParOf" srcId="{779AC8F8-E892-46EB-B053-9B320E81A9CE}" destId="{205DEB63-5102-481A-BB3B-6857700E629F}" srcOrd="5" destOrd="0" presId="urn:microsoft.com/office/officeart/2005/8/layout/orgChart1"/>
    <dgm:cxn modelId="{9CAA3D42-DE5D-4A2F-9D52-9D5F016FBD77}" type="presParOf" srcId="{205DEB63-5102-481A-BB3B-6857700E629F}" destId="{3E65BDDF-D1AA-47DC-8656-FB5BE59FE84A}" srcOrd="0" destOrd="0" presId="urn:microsoft.com/office/officeart/2005/8/layout/orgChart1"/>
    <dgm:cxn modelId="{CF8ACC26-ED51-497D-B68A-588FE1C7A9B5}" type="presParOf" srcId="{3E65BDDF-D1AA-47DC-8656-FB5BE59FE84A}" destId="{34DA13B2-F128-45EF-A140-F9887057C2FD}" srcOrd="0" destOrd="0" presId="urn:microsoft.com/office/officeart/2005/8/layout/orgChart1"/>
    <dgm:cxn modelId="{83BC5805-D5AA-4CD5-A229-3F815CFDDEF0}" type="presParOf" srcId="{3E65BDDF-D1AA-47DC-8656-FB5BE59FE84A}" destId="{892F9E56-0CF4-4CB7-80C4-F012B1C37076}" srcOrd="1" destOrd="0" presId="urn:microsoft.com/office/officeart/2005/8/layout/orgChart1"/>
    <dgm:cxn modelId="{081B3EF3-0272-4DB3-8254-D3A1D6337E9E}" type="presParOf" srcId="{205DEB63-5102-481A-BB3B-6857700E629F}" destId="{DE25F11F-2F7A-4759-BA31-311146852F27}" srcOrd="1" destOrd="0" presId="urn:microsoft.com/office/officeart/2005/8/layout/orgChart1"/>
    <dgm:cxn modelId="{21D48589-8A5F-4401-AB4C-2EBB2D275B24}" type="presParOf" srcId="{205DEB63-5102-481A-BB3B-6857700E629F}" destId="{C0CB8552-C8E2-4888-8F59-5EAF7AF5EB62}" srcOrd="2" destOrd="0" presId="urn:microsoft.com/office/officeart/2005/8/layout/orgChart1"/>
    <dgm:cxn modelId="{811021CC-53F0-C744-89DA-542E10EB6C9C}" type="presParOf" srcId="{779AC8F8-E892-46EB-B053-9B320E81A9CE}" destId="{68707B28-E22D-44CD-9C7F-2EEEBC2289A3}" srcOrd="6" destOrd="0" presId="urn:microsoft.com/office/officeart/2005/8/layout/orgChart1"/>
    <dgm:cxn modelId="{E38E354A-D88D-9548-9BA2-EB27CDC844F8}" type="presParOf" srcId="{779AC8F8-E892-46EB-B053-9B320E81A9CE}" destId="{2623089A-3725-4F44-9583-76BC2DB2733A}" srcOrd="7" destOrd="0" presId="urn:microsoft.com/office/officeart/2005/8/layout/orgChart1"/>
    <dgm:cxn modelId="{4AE1D176-016B-1840-9149-89C861FF696F}" type="presParOf" srcId="{2623089A-3725-4F44-9583-76BC2DB2733A}" destId="{7195AD86-7957-4689-91A6-3D631AE0A31A}" srcOrd="0" destOrd="0" presId="urn:microsoft.com/office/officeart/2005/8/layout/orgChart1"/>
    <dgm:cxn modelId="{94BA9240-2E67-7A44-AC61-84894454F26C}" type="presParOf" srcId="{7195AD86-7957-4689-91A6-3D631AE0A31A}" destId="{31336E96-F359-4141-80FF-B39CC972F40C}" srcOrd="0" destOrd="0" presId="urn:microsoft.com/office/officeart/2005/8/layout/orgChart1"/>
    <dgm:cxn modelId="{B7DCCD99-EA38-AC46-B49E-A0122067186B}" type="presParOf" srcId="{7195AD86-7957-4689-91A6-3D631AE0A31A}" destId="{FA194049-A1E7-4CC3-81EC-A007022592D5}" srcOrd="1" destOrd="0" presId="urn:microsoft.com/office/officeart/2005/8/layout/orgChart1"/>
    <dgm:cxn modelId="{46119636-4255-7F47-80C2-61A7842DC67C}" type="presParOf" srcId="{2623089A-3725-4F44-9583-76BC2DB2733A}" destId="{B5CC0267-EDDD-4011-9DE4-873111A7C154}" srcOrd="1" destOrd="0" presId="urn:microsoft.com/office/officeart/2005/8/layout/orgChart1"/>
    <dgm:cxn modelId="{8DF82BCA-A726-EF42-9A7D-EC1AE1F7F048}" type="presParOf" srcId="{2623089A-3725-4F44-9583-76BC2DB2733A}" destId="{890E6B9B-D67B-4040-A8C2-C236915910CC}" srcOrd="2" destOrd="0" presId="urn:microsoft.com/office/officeart/2005/8/layout/orgChart1"/>
    <dgm:cxn modelId="{EFA09977-6FA6-B641-B327-2A629303C978}" type="presParOf" srcId="{779AC8F8-E892-46EB-B053-9B320E81A9CE}" destId="{A25C71AA-0B8A-4A1F-8460-921A3633D644}" srcOrd="8" destOrd="0" presId="urn:microsoft.com/office/officeart/2005/8/layout/orgChart1"/>
    <dgm:cxn modelId="{CD082C45-16E2-FE4A-85EA-DDD93AB5D28B}" type="presParOf" srcId="{779AC8F8-E892-46EB-B053-9B320E81A9CE}" destId="{3488C85A-EEC4-4175-9AAC-92FAD0E250C7}" srcOrd="9" destOrd="0" presId="urn:microsoft.com/office/officeart/2005/8/layout/orgChart1"/>
    <dgm:cxn modelId="{AF351E62-A3E2-1A45-AB1E-52B94CE81212}" type="presParOf" srcId="{3488C85A-EEC4-4175-9AAC-92FAD0E250C7}" destId="{30638FAB-3590-4913-BB2F-A25BEB8BEA3E}" srcOrd="0" destOrd="0" presId="urn:microsoft.com/office/officeart/2005/8/layout/orgChart1"/>
    <dgm:cxn modelId="{1F57C1CF-6B26-7749-96B0-4514978FB644}" type="presParOf" srcId="{30638FAB-3590-4913-BB2F-A25BEB8BEA3E}" destId="{12DF307C-4C39-4D4C-8DEB-E4EC8EC08E51}" srcOrd="0" destOrd="0" presId="urn:microsoft.com/office/officeart/2005/8/layout/orgChart1"/>
    <dgm:cxn modelId="{3D7A2B79-FC1B-4847-87C5-95F792858A62}" type="presParOf" srcId="{30638FAB-3590-4913-BB2F-A25BEB8BEA3E}" destId="{76F325B3-AECE-4AF7-8F6C-2FEEF3C0047B}" srcOrd="1" destOrd="0" presId="urn:microsoft.com/office/officeart/2005/8/layout/orgChart1"/>
    <dgm:cxn modelId="{A1AFFD15-43C5-EB4C-89E7-C3355CC5C132}" type="presParOf" srcId="{3488C85A-EEC4-4175-9AAC-92FAD0E250C7}" destId="{71897A6B-07C0-48CB-879C-50DD94112032}" srcOrd="1" destOrd="0" presId="urn:microsoft.com/office/officeart/2005/8/layout/orgChart1"/>
    <dgm:cxn modelId="{82F65E6F-7413-214E-BC27-32CC58FD0008}" type="presParOf" srcId="{3488C85A-EEC4-4175-9AAC-92FAD0E250C7}" destId="{9C0EA11C-6B99-4C9F-B24C-643BBEB137AB}" srcOrd="2" destOrd="0" presId="urn:microsoft.com/office/officeart/2005/8/layout/orgChart1"/>
    <dgm:cxn modelId="{13F3BD1B-0C3B-4690-9D93-9F7CD73F806A}" type="presParOf" srcId="{28766229-A8B1-4BB3-AC18-5550C16E774A}" destId="{373A87C3-A05E-495D-BF1C-B8FB3C51C7E1}"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5C71AA-0B8A-4A1F-8460-921A3633D644}">
      <dsp:nvSpPr>
        <dsp:cNvPr id="0" name=""/>
        <dsp:cNvSpPr/>
      </dsp:nvSpPr>
      <dsp:spPr>
        <a:xfrm>
          <a:off x="1371600" y="904523"/>
          <a:ext cx="1136777" cy="98625"/>
        </a:xfrm>
        <a:custGeom>
          <a:avLst/>
          <a:gdLst/>
          <a:ahLst/>
          <a:cxnLst/>
          <a:rect l="0" t="0" r="0" b="0"/>
          <a:pathLst>
            <a:path>
              <a:moveTo>
                <a:pt x="0" y="0"/>
              </a:moveTo>
              <a:lnTo>
                <a:pt x="0" y="49312"/>
              </a:lnTo>
              <a:lnTo>
                <a:pt x="1136777" y="49312"/>
              </a:lnTo>
              <a:lnTo>
                <a:pt x="1136777" y="9862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707B28-E22D-44CD-9C7F-2EEEBC2289A3}">
      <dsp:nvSpPr>
        <dsp:cNvPr id="0" name=""/>
        <dsp:cNvSpPr/>
      </dsp:nvSpPr>
      <dsp:spPr>
        <a:xfrm>
          <a:off x="1371600" y="904523"/>
          <a:ext cx="568271" cy="98625"/>
        </a:xfrm>
        <a:custGeom>
          <a:avLst/>
          <a:gdLst/>
          <a:ahLst/>
          <a:cxnLst/>
          <a:rect l="0" t="0" r="0" b="0"/>
          <a:pathLst>
            <a:path>
              <a:moveTo>
                <a:pt x="0" y="0"/>
              </a:moveTo>
              <a:lnTo>
                <a:pt x="0" y="49312"/>
              </a:lnTo>
              <a:lnTo>
                <a:pt x="568271" y="49312"/>
              </a:lnTo>
              <a:lnTo>
                <a:pt x="568271" y="9862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F4AFFF-924F-4743-8F19-C85EDC6866FB}">
      <dsp:nvSpPr>
        <dsp:cNvPr id="0" name=""/>
        <dsp:cNvSpPr/>
      </dsp:nvSpPr>
      <dsp:spPr>
        <a:xfrm>
          <a:off x="1325880" y="904523"/>
          <a:ext cx="91440" cy="98625"/>
        </a:xfrm>
        <a:custGeom>
          <a:avLst/>
          <a:gdLst/>
          <a:ahLst/>
          <a:cxnLst/>
          <a:rect l="0" t="0" r="0" b="0"/>
          <a:pathLst>
            <a:path>
              <a:moveTo>
                <a:pt x="45720" y="0"/>
              </a:moveTo>
              <a:lnTo>
                <a:pt x="45720" y="9862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D2C668-67B5-4E7D-9C3F-9F9BF2728972}">
      <dsp:nvSpPr>
        <dsp:cNvPr id="0" name=""/>
        <dsp:cNvSpPr/>
      </dsp:nvSpPr>
      <dsp:spPr>
        <a:xfrm>
          <a:off x="803328" y="904523"/>
          <a:ext cx="568271" cy="98625"/>
        </a:xfrm>
        <a:custGeom>
          <a:avLst/>
          <a:gdLst/>
          <a:ahLst/>
          <a:cxnLst/>
          <a:rect l="0" t="0" r="0" b="0"/>
          <a:pathLst>
            <a:path>
              <a:moveTo>
                <a:pt x="568271" y="0"/>
              </a:moveTo>
              <a:lnTo>
                <a:pt x="568271" y="49312"/>
              </a:lnTo>
              <a:lnTo>
                <a:pt x="0" y="49312"/>
              </a:lnTo>
              <a:lnTo>
                <a:pt x="0" y="9862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860EC0-FEBE-4BCB-AB60-31B7205BA855}">
      <dsp:nvSpPr>
        <dsp:cNvPr id="0" name=""/>
        <dsp:cNvSpPr/>
      </dsp:nvSpPr>
      <dsp:spPr>
        <a:xfrm>
          <a:off x="235057" y="904523"/>
          <a:ext cx="1136542" cy="98625"/>
        </a:xfrm>
        <a:custGeom>
          <a:avLst/>
          <a:gdLst/>
          <a:ahLst/>
          <a:cxnLst/>
          <a:rect l="0" t="0" r="0" b="0"/>
          <a:pathLst>
            <a:path>
              <a:moveTo>
                <a:pt x="1136542" y="0"/>
              </a:moveTo>
              <a:lnTo>
                <a:pt x="1136542" y="49312"/>
              </a:lnTo>
              <a:lnTo>
                <a:pt x="0" y="49312"/>
              </a:lnTo>
              <a:lnTo>
                <a:pt x="0" y="9862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E68C2-925E-4A47-ABA7-3C5BFF02E793}">
      <dsp:nvSpPr>
        <dsp:cNvPr id="0" name=""/>
        <dsp:cNvSpPr/>
      </dsp:nvSpPr>
      <dsp:spPr>
        <a:xfrm>
          <a:off x="1136777" y="669700"/>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dirty="0"/>
            <a:t>Head of Manufacturing</a:t>
          </a:r>
          <a:endParaRPr lang="LID4096" sz="500" kern="1200"/>
        </a:p>
      </dsp:txBody>
      <dsp:txXfrm>
        <a:off x="1136777" y="669700"/>
        <a:ext cx="469645" cy="234822"/>
      </dsp:txXfrm>
    </dsp:sp>
    <dsp:sp modelId="{8A90FA96-B6CF-4325-866A-855040AFA558}">
      <dsp:nvSpPr>
        <dsp:cNvPr id="0" name=""/>
        <dsp:cNvSpPr/>
      </dsp:nvSpPr>
      <dsp:spPr>
        <a:xfrm>
          <a:off x="234" y="1003148"/>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dirty="0"/>
            <a:t>Head of Demand Planning</a:t>
          </a:r>
          <a:endParaRPr lang="LID4096" sz="500" kern="1200"/>
        </a:p>
      </dsp:txBody>
      <dsp:txXfrm>
        <a:off x="234" y="1003148"/>
        <a:ext cx="469645" cy="234822"/>
      </dsp:txXfrm>
    </dsp:sp>
    <dsp:sp modelId="{F96F9F63-4657-47AD-9210-2AAB24975997}">
      <dsp:nvSpPr>
        <dsp:cNvPr id="0" name=""/>
        <dsp:cNvSpPr/>
      </dsp:nvSpPr>
      <dsp:spPr>
        <a:xfrm>
          <a:off x="568505" y="1003148"/>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dirty="0"/>
            <a:t>Head of Procurement</a:t>
          </a:r>
          <a:endParaRPr lang="LID4096" sz="500" kern="1200"/>
        </a:p>
      </dsp:txBody>
      <dsp:txXfrm>
        <a:off x="568505" y="1003148"/>
        <a:ext cx="469645" cy="234822"/>
      </dsp:txXfrm>
    </dsp:sp>
    <dsp:sp modelId="{34DA13B2-F128-45EF-A140-F9887057C2FD}">
      <dsp:nvSpPr>
        <dsp:cNvPr id="0" name=""/>
        <dsp:cNvSpPr/>
      </dsp:nvSpPr>
      <dsp:spPr>
        <a:xfrm>
          <a:off x="1136777" y="1003148"/>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a:t>Head of Production Operations </a:t>
          </a:r>
          <a:endParaRPr lang="LID4096" sz="500" kern="1200"/>
        </a:p>
      </dsp:txBody>
      <dsp:txXfrm>
        <a:off x="1136777" y="1003148"/>
        <a:ext cx="469645" cy="234822"/>
      </dsp:txXfrm>
    </dsp:sp>
    <dsp:sp modelId="{31336E96-F359-4141-80FF-B39CC972F40C}">
      <dsp:nvSpPr>
        <dsp:cNvPr id="0" name=""/>
        <dsp:cNvSpPr/>
      </dsp:nvSpPr>
      <dsp:spPr>
        <a:xfrm>
          <a:off x="1705048" y="1003148"/>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a:t>Head of Quality</a:t>
          </a:r>
          <a:endParaRPr lang="LID4096" sz="500" kern="1200"/>
        </a:p>
      </dsp:txBody>
      <dsp:txXfrm>
        <a:off x="1705048" y="1003148"/>
        <a:ext cx="469645" cy="234822"/>
      </dsp:txXfrm>
    </dsp:sp>
    <dsp:sp modelId="{12DF307C-4C39-4D4C-8DEB-E4EC8EC08E51}">
      <dsp:nvSpPr>
        <dsp:cNvPr id="0" name=""/>
        <dsp:cNvSpPr/>
      </dsp:nvSpPr>
      <dsp:spPr>
        <a:xfrm>
          <a:off x="2273554" y="1003148"/>
          <a:ext cx="469645" cy="234822"/>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GB" sz="500" kern="1200"/>
            <a:t>Head of Technology Enablement</a:t>
          </a:r>
          <a:endParaRPr lang="LID4096" sz="500" kern="1200"/>
        </a:p>
      </dsp:txBody>
      <dsp:txXfrm>
        <a:off x="2273554" y="1003148"/>
        <a:ext cx="469645" cy="23482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11</a:t>
            </a:fld>
            <a:endParaRPr lang="en-US"/>
          </a:p>
        </p:txBody>
      </p:sp>
    </p:spTree>
    <p:extLst>
      <p:ext uri="{BB962C8B-B14F-4D97-AF65-F5344CB8AC3E}">
        <p14:creationId xmlns:p14="http://schemas.microsoft.com/office/powerpoint/2010/main" val="1449442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37</a:t>
            </a:fld>
            <a:endParaRPr lang="en-US"/>
          </a:p>
        </p:txBody>
      </p:sp>
    </p:spTree>
    <p:extLst>
      <p:ext uri="{BB962C8B-B14F-4D97-AF65-F5344CB8AC3E}">
        <p14:creationId xmlns:p14="http://schemas.microsoft.com/office/powerpoint/2010/main" val="27709773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black and white logo&#10;&#10;AI-generated content may be incorrect.">
            <a:extLst>
              <a:ext uri="{FF2B5EF4-FFF2-40B4-BE49-F238E27FC236}">
                <a16:creationId xmlns:a16="http://schemas.microsoft.com/office/drawing/2014/main" id="{37BA394B-6FC7-BA29-9C9F-C3C5996A08DF}"/>
              </a:ext>
            </a:extLst>
          </p:cNvPr>
          <p:cNvPicPr>
            <a:picLocks noChangeAspect="1"/>
          </p:cNvPicPr>
          <p:nvPr/>
        </p:nvPicPr>
        <p:blipFill>
          <a:blip r:embed="rId3"/>
          <a:stretch>
            <a:fillRect/>
          </a:stretch>
        </p:blipFill>
        <p:spPr>
          <a:xfrm>
            <a:off x="432000" y="6126480"/>
            <a:ext cx="2194560" cy="445223"/>
          </a:xfrm>
          <a:prstGeom prst="rect">
            <a:avLst/>
          </a:prstGeom>
        </p:spPr>
      </p:pic>
      <p:sp>
        <p:nvSpPr>
          <p:cNvPr id="2" name="Title 1">
            <a:extLst>
              <a:ext uri="{FF2B5EF4-FFF2-40B4-BE49-F238E27FC236}">
                <a16:creationId xmlns:a16="http://schemas.microsoft.com/office/drawing/2014/main" id="{73CE3C99-2183-B3DE-3AAA-1A32D4AE1C58}"/>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4" name="Text Placeholder 6">
            <a:extLst>
              <a:ext uri="{FF2B5EF4-FFF2-40B4-BE49-F238E27FC236}">
                <a16:creationId xmlns:a16="http://schemas.microsoft.com/office/drawing/2014/main" id="{4E3D04D9-FFC9-D3AA-13F8-C5614D78CB7B}"/>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3" name="Picture 2" descr="A black and white logo&#10;&#10;AI-generated content may be incorrect.">
            <a:extLst>
              <a:ext uri="{FF2B5EF4-FFF2-40B4-BE49-F238E27FC236}">
                <a16:creationId xmlns:a16="http://schemas.microsoft.com/office/drawing/2014/main" id="{1AED1153-695A-6B98-C47D-7ABC0B711F0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8" name="Text Placeholder 6">
            <a:extLst>
              <a:ext uri="{FF2B5EF4-FFF2-40B4-BE49-F238E27FC236}">
                <a16:creationId xmlns:a16="http://schemas.microsoft.com/office/drawing/2014/main" id="{21A7B4B7-2101-FCE7-D719-3D909068D257}"/>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370010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Dark">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4652" t="14597" r="4536" b="15507"/>
          <a:stretch>
            <a:fillRect/>
          </a:stretch>
        </p:blipFill>
        <p:spPr>
          <a:xfrm>
            <a:off x="435748" y="6113928"/>
            <a:ext cx="2159000" cy="454027"/>
          </a:xfrm>
          <a:prstGeom prst="rect">
            <a:avLst/>
          </a:prstGeom>
        </p:spPr>
      </p:pic>
      <p:pic>
        <p:nvPicPr>
          <p:cNvPr id="11" name="Picture 10"/>
          <p:cNvPicPr>
            <a:picLocks noChangeAspect="1"/>
          </p:cNvPicPr>
          <p:nvPr/>
        </p:nvPicPr>
        <p:blipFill>
          <a:blip r:embed="rId3"/>
          <a:srcRect/>
          <a:stretch/>
        </p:blipFill>
        <p:spPr>
          <a:xfrm>
            <a:off x="9165100" y="6191590"/>
            <a:ext cx="2437894" cy="364855"/>
          </a:xfrm>
          <a:prstGeom prst="rect">
            <a:avLst/>
          </a:prstGeom>
        </p:spPr>
      </p:pic>
      <p:sp>
        <p:nvSpPr>
          <p:cNvPr id="12" name="Title 1"/>
          <p:cNvSpPr>
            <a:spLocks noGrp="1"/>
          </p:cNvSpPr>
          <p:nvPr>
            <p:ph type="title"/>
          </p:nvPr>
        </p:nvSpPr>
        <p:spPr>
          <a:xfrm>
            <a:off x="432000" y="432000"/>
            <a:ext cx="11338560" cy="968175"/>
          </a:xfrm>
          <a:prstGeom prst="rect">
            <a:avLst/>
          </a:prstGeom>
        </p:spPr>
        <p:txBody>
          <a:bodyPr/>
          <a:lstStyle>
            <a:lvl1pPr>
              <a:defRPr sz="6000" b="1">
                <a:solidFill>
                  <a:schemeClr val="bg1"/>
                </a:solidFill>
                <a:latin typeface="Segoe UI" pitchFamily="34" charset="0"/>
              </a:defRPr>
            </a:lvl1pPr>
          </a:lstStyle>
          <a:p>
            <a:r>
              <a:rPr lang="en-US"/>
              <a:t>Click to edit Master title style</a:t>
            </a:r>
            <a:endParaRPr/>
          </a:p>
        </p:txBody>
      </p:sp>
      <p:sp>
        <p:nvSpPr>
          <p:cNvPr id="2" name="Text Placeholder 6">
            <a:extLst>
              <a:ext uri="{FF2B5EF4-FFF2-40B4-BE49-F238E27FC236}">
                <a16:creationId xmlns:a16="http://schemas.microsoft.com/office/drawing/2014/main" id="{03ECDC62-748E-F1B0-07F3-0B62BB658E25}"/>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E0B4E0F1-7D88-9142-CE87-C8B858F36A56}"/>
              </a:ext>
            </a:extLst>
          </p:cNvPr>
          <p:cNvPicPr>
            <a:picLocks noChangeAspect="1"/>
          </p:cNvPicPr>
          <p:nvPr userDrawn="1"/>
        </p:nvPicPr>
        <p:blipFill rotWithShape="1">
          <a:blip r:embed="rId2"/>
          <a:srcRect l="4652" t="14597" r="4536" b="15507"/>
          <a:stretch>
            <a:fillRect/>
          </a:stretch>
        </p:blipFill>
        <p:spPr>
          <a:xfrm>
            <a:off x="435748" y="6113928"/>
            <a:ext cx="2159000" cy="454027"/>
          </a:xfrm>
          <a:prstGeom prst="rect">
            <a:avLst/>
          </a:prstGeom>
        </p:spPr>
      </p:pic>
      <p:pic>
        <p:nvPicPr>
          <p:cNvPr id="4" name="Picture 3">
            <a:extLst>
              <a:ext uri="{FF2B5EF4-FFF2-40B4-BE49-F238E27FC236}">
                <a16:creationId xmlns:a16="http://schemas.microsoft.com/office/drawing/2014/main" id="{55F3E59F-8EB2-1215-8D63-04505CE260F7}"/>
              </a:ext>
            </a:extLst>
          </p:cNvPr>
          <p:cNvPicPr>
            <a:picLocks noChangeAspect="1"/>
          </p:cNvPicPr>
          <p:nvPr userDrawn="1"/>
        </p:nvPicPr>
        <p:blipFill>
          <a:blip r:embed="rId3"/>
          <a:srcRect/>
          <a:stretch/>
        </p:blipFill>
        <p:spPr>
          <a:xfrm>
            <a:off x="9165100" y="6191590"/>
            <a:ext cx="2437894" cy="364855"/>
          </a:xfrm>
          <a:prstGeom prst="rect">
            <a:avLst/>
          </a:prstGeom>
        </p:spPr>
      </p:pic>
      <p:sp>
        <p:nvSpPr>
          <p:cNvPr id="5" name="Text Placeholder 6">
            <a:extLst>
              <a:ext uri="{FF2B5EF4-FFF2-40B4-BE49-F238E27FC236}">
                <a16:creationId xmlns:a16="http://schemas.microsoft.com/office/drawing/2014/main" id="{9826690B-C7DF-D391-1831-1C87D9DCD54E}"/>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bg1"/>
                </a:solidFill>
                <a:latin typeface="+mj-lt"/>
              </a:defRPr>
            </a:lvl1pPr>
          </a:lstStyle>
          <a:p>
            <a:pPr lvl="0"/>
            <a:r>
              <a:rPr lang="en-US"/>
              <a:t>Date</a:t>
            </a:r>
          </a:p>
        </p:txBody>
      </p:sp>
    </p:spTree>
    <p:extLst>
      <p:ext uri="{BB962C8B-B14F-4D97-AF65-F5344CB8AC3E}">
        <p14:creationId xmlns:p14="http://schemas.microsoft.com/office/powerpoint/2010/main" val="243717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Photo">
    <p:bg>
      <p:bgPr>
        <a:blipFill>
          <a:blip r:embed="rId2"/>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2B6FC9E-8B11-5EE3-6E11-7061DFCA524F}"/>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6" name="Text Placeholder 6">
            <a:extLst>
              <a:ext uri="{FF2B5EF4-FFF2-40B4-BE49-F238E27FC236}">
                <a16:creationId xmlns:a16="http://schemas.microsoft.com/office/drawing/2014/main" id="{CAC7920E-1162-2D3C-5D4A-368EDE93E7DA}"/>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7" name="Picture 6" descr="A black and white logo&#10;&#10;AI-generated content may be incorrect.">
            <a:extLst>
              <a:ext uri="{FF2B5EF4-FFF2-40B4-BE49-F238E27FC236}">
                <a16:creationId xmlns:a16="http://schemas.microsoft.com/office/drawing/2014/main" id="{CAEBF6F5-2984-E005-E78A-9FBAEF51708C}"/>
              </a:ext>
            </a:extLst>
          </p:cNvPr>
          <p:cNvPicPr>
            <a:picLocks noChangeAspect="1"/>
          </p:cNvPicPr>
          <p:nvPr/>
        </p:nvPicPr>
        <p:blipFill>
          <a:blip r:embed="rId3"/>
          <a:stretch>
            <a:fillRect/>
          </a:stretch>
        </p:blipFill>
        <p:spPr>
          <a:xfrm>
            <a:off x="432000" y="6126480"/>
            <a:ext cx="2194560" cy="445223"/>
          </a:xfrm>
          <a:prstGeom prst="rect">
            <a:avLst/>
          </a:prstGeom>
        </p:spPr>
      </p:pic>
      <p:pic>
        <p:nvPicPr>
          <p:cNvPr id="2" name="Picture 1" descr="A black and white logo&#10;&#10;AI-generated content may be incorrect.">
            <a:extLst>
              <a:ext uri="{FF2B5EF4-FFF2-40B4-BE49-F238E27FC236}">
                <a16:creationId xmlns:a16="http://schemas.microsoft.com/office/drawing/2014/main" id="{D883554E-186B-D3A7-5712-0CB495E5273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3" name="Text Placeholder 6">
            <a:extLst>
              <a:ext uri="{FF2B5EF4-FFF2-40B4-BE49-F238E27FC236}">
                <a16:creationId xmlns:a16="http://schemas.microsoft.com/office/drawing/2014/main" id="{0DDEF805-4139-818A-775A-9FE45C246704}"/>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87479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Ligh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EA15675-8D93-AAAB-1CE7-1CC9B1E120FC}"/>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sp>
        <p:nvSpPr>
          <p:cNvPr id="3" name="Content Placeholder 2">
            <a:extLst>
              <a:ext uri="{FF2B5EF4-FFF2-40B4-BE49-F238E27FC236}">
                <a16:creationId xmlns:a16="http://schemas.microsoft.com/office/drawing/2014/main" id="{748FA9E0-DC8A-A493-5950-929C39A48C8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2"/>
              </a:buBlip>
              <a:defRPr sz="2000">
                <a:solidFill>
                  <a:schemeClr val="bg2">
                    <a:lumMod val="25000"/>
                  </a:schemeClr>
                </a:solidFill>
                <a:latin typeface="+mn-lt"/>
              </a:defRPr>
            </a:lvl1pPr>
            <a:lvl2pPr marL="742950" indent="-285750" algn="l">
              <a:lnSpc>
                <a:spcPts val="2020"/>
              </a:lnSpc>
              <a:buSzPct val="100000"/>
              <a:buFontTx/>
              <a:buBlip>
                <a:blip r:embed="rId2"/>
              </a:buBlip>
              <a:defRPr sz="1800">
                <a:solidFill>
                  <a:schemeClr val="bg2">
                    <a:lumMod val="25000"/>
                  </a:schemeClr>
                </a:solidFill>
                <a:latin typeface="+mn-lt"/>
              </a:defRPr>
            </a:lvl2pPr>
            <a:lvl3pPr marL="1200150" indent="-285750" algn="l">
              <a:lnSpc>
                <a:spcPts val="2020"/>
              </a:lnSpc>
              <a:buSzPct val="100000"/>
              <a:buFontTx/>
              <a:buBlip>
                <a:blip r:embed="rId2"/>
              </a:buBlip>
              <a:defRPr sz="1600">
                <a:solidFill>
                  <a:schemeClr val="bg2">
                    <a:lumMod val="25000"/>
                  </a:schemeClr>
                </a:solidFill>
                <a:latin typeface="+mn-lt"/>
              </a:defRPr>
            </a:lvl3pPr>
            <a:lvl4pPr marL="1657350" indent="-285750" algn="l">
              <a:lnSpc>
                <a:spcPts val="2020"/>
              </a:lnSpc>
              <a:buSzPct val="100000"/>
              <a:buFontTx/>
              <a:buBlip>
                <a:blip r:embed="rId2"/>
              </a:buBlip>
              <a:defRPr sz="1600">
                <a:solidFill>
                  <a:schemeClr val="bg2">
                    <a:lumMod val="25000"/>
                  </a:schemeClr>
                </a:solidFill>
                <a:latin typeface="+mn-lt"/>
              </a:defRPr>
            </a:lvl4pPr>
            <a:lvl5pPr marL="2114550" indent="-285750" algn="l">
              <a:lnSpc>
                <a:spcPts val="2020"/>
              </a:lnSpc>
              <a:buSzPct val="100000"/>
              <a:buFontTx/>
              <a:buBlip>
                <a:blip r:embed="rId2"/>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3"/>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4"/>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grpSp>
        <p:nvGrpSpPr>
          <p:cNvPr id="6" name="Group 5">
            <a:extLst>
              <a:ext uri="{FF2B5EF4-FFF2-40B4-BE49-F238E27FC236}">
                <a16:creationId xmlns:a16="http://schemas.microsoft.com/office/drawing/2014/main" id="{BAAAE700-338E-3D3C-13CC-2B72D122613F}"/>
              </a:ext>
            </a:extLst>
          </p:cNvPr>
          <p:cNvGrpSpPr/>
          <p:nvPr userDrawn="1"/>
        </p:nvGrpSpPr>
        <p:grpSpPr>
          <a:xfrm>
            <a:off x="335847" y="6525414"/>
            <a:ext cx="11424153" cy="274320"/>
            <a:chOff x="335847" y="6525414"/>
            <a:chExt cx="11424153" cy="274320"/>
          </a:xfrm>
        </p:grpSpPr>
        <p:pic>
          <p:nvPicPr>
            <p:cNvPr id="7" name="Picture 6" descr="A black screen with a purple border&#10;&#10;AI-generated content may be incorrect.">
              <a:extLst>
                <a:ext uri="{FF2B5EF4-FFF2-40B4-BE49-F238E27FC236}">
                  <a16:creationId xmlns:a16="http://schemas.microsoft.com/office/drawing/2014/main" id="{8BC29EFF-AD40-7A30-0252-1003A1EED3B8}"/>
                </a:ext>
              </a:extLst>
            </p:cNvPr>
            <p:cNvPicPr>
              <a:picLocks noChangeAspect="1"/>
            </p:cNvPicPr>
            <p:nvPr userDrawn="1"/>
          </p:nvPicPr>
          <p:blipFill>
            <a:blip r:embed="rId3"/>
            <a:stretch>
              <a:fillRect/>
            </a:stretch>
          </p:blipFill>
          <p:spPr>
            <a:xfrm>
              <a:off x="9868291" y="6525414"/>
              <a:ext cx="1891709" cy="274320"/>
            </a:xfrm>
            <a:prstGeom prst="rect">
              <a:avLst/>
            </a:prstGeom>
          </p:spPr>
        </p:pic>
        <p:pic>
          <p:nvPicPr>
            <p:cNvPr id="8" name="Picture 7" descr="A black and grey logo&#10;&#10;AI-generated content may be incorrect.">
              <a:extLst>
                <a:ext uri="{FF2B5EF4-FFF2-40B4-BE49-F238E27FC236}">
                  <a16:creationId xmlns:a16="http://schemas.microsoft.com/office/drawing/2014/main" id="{D319C388-6E14-ACE1-7D72-E7A13C6201FE}"/>
                </a:ext>
              </a:extLst>
            </p:cNvPr>
            <p:cNvPicPr>
              <a:picLocks noChangeAspect="1"/>
            </p:cNvPicPr>
            <p:nvPr userDrawn="1"/>
          </p:nvPicPr>
          <p:blipFill>
            <a:blip r:embed="rId4"/>
            <a:stretch>
              <a:fillRect/>
            </a:stretch>
          </p:blipFill>
          <p:spPr>
            <a:xfrm>
              <a:off x="335847" y="6525414"/>
              <a:ext cx="1344658" cy="274320"/>
            </a:xfrm>
            <a:prstGeom prst="rect">
              <a:avLst/>
            </a:prstGeom>
          </p:spPr>
        </p:pic>
        <p:sp>
          <p:nvSpPr>
            <p:cNvPr id="9" name="TextBox 8">
              <a:extLst>
                <a:ext uri="{FF2B5EF4-FFF2-40B4-BE49-F238E27FC236}">
                  <a16:creationId xmlns:a16="http://schemas.microsoft.com/office/drawing/2014/main" id="{D6871F42-716A-CFFF-5061-88738F8A0C2D}"/>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568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5EB6032B-B87F-A83D-7D7F-2F852CE634E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33F6BA9A-4A6E-2750-5A58-9D290E2DEEFE}"/>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FD1C2F86-B0B8-0A3E-5886-1D0825E8D49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9" name="TextBox 8">
            <a:extLst>
              <a:ext uri="{FF2B5EF4-FFF2-40B4-BE49-F238E27FC236}">
                <a16:creationId xmlns:a16="http://schemas.microsoft.com/office/drawing/2014/main" id="{7CC01EAF-6797-3F0F-E633-9F8C9325ED55}"/>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10" name="Content Placeholder 2">
            <a:extLst>
              <a:ext uri="{FF2B5EF4-FFF2-40B4-BE49-F238E27FC236}">
                <a16:creationId xmlns:a16="http://schemas.microsoft.com/office/drawing/2014/main" id="{A9F1471E-FB91-8DDF-5F1A-69B538D594D6}"/>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769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Light_Su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20000" y="228600"/>
            <a:ext cx="11338560" cy="425592"/>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2" name="Group 1">
            <a:extLst>
              <a:ext uri="{FF2B5EF4-FFF2-40B4-BE49-F238E27FC236}">
                <a16:creationId xmlns:a16="http://schemas.microsoft.com/office/drawing/2014/main" id="{194E9799-634E-7736-76B4-6220A70329AF}"/>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684A767D-3F86-D687-87F0-42E5F8F82CBC}"/>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E49A6899-080A-CB11-E001-0849EFA039BC}"/>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BD83557B-4935-7DE8-D7B5-DD3A59F0D9D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14" name="Text Placeholder 6">
            <a:extLst>
              <a:ext uri="{FF2B5EF4-FFF2-40B4-BE49-F238E27FC236}">
                <a16:creationId xmlns:a16="http://schemas.microsoft.com/office/drawing/2014/main" id="{2DB32DC9-CD14-7184-963C-A86EEEA32669}"/>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tx1"/>
                </a:solidFill>
                <a:latin typeface="+mj-lt"/>
              </a:defRPr>
            </a:lvl1pPr>
          </a:lstStyle>
          <a:p>
            <a:pPr lvl="0"/>
            <a:r>
              <a:rPr lang="en-US"/>
              <a:t>Click to edit Master text styles</a:t>
            </a:r>
          </a:p>
        </p:txBody>
      </p:sp>
      <p:sp>
        <p:nvSpPr>
          <p:cNvPr id="501" name="Slide Number Placeholder 501"/>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7DA59B58-B945-4B36-BC6B-9C26C933A008}" type="slidenum">
              <a:rPr lang="en-US" smtClean="0"/>
              <a:t>‹#›</a:t>
            </a:fld>
            <a:endParaRPr lang="en-US"/>
          </a:p>
        </p:txBody>
      </p:sp>
      <p:grpSp>
        <p:nvGrpSpPr>
          <p:cNvPr id="4" name="Group 3">
            <a:extLst>
              <a:ext uri="{FF2B5EF4-FFF2-40B4-BE49-F238E27FC236}">
                <a16:creationId xmlns:a16="http://schemas.microsoft.com/office/drawing/2014/main" id="{D13ABF44-7159-0310-8642-D658032AE35C}"/>
              </a:ext>
            </a:extLst>
          </p:cNvPr>
          <p:cNvGrpSpPr/>
          <p:nvPr userDrawn="1"/>
        </p:nvGrpSpPr>
        <p:grpSpPr>
          <a:xfrm>
            <a:off x="335847" y="6525414"/>
            <a:ext cx="11424153" cy="274320"/>
            <a:chOff x="335847" y="6525414"/>
            <a:chExt cx="11424153" cy="274320"/>
          </a:xfrm>
        </p:grpSpPr>
        <p:pic>
          <p:nvPicPr>
            <p:cNvPr id="6" name="Picture 5" descr="A black screen with a purple border&#10;&#10;AI-generated content may be incorrect.">
              <a:extLst>
                <a:ext uri="{FF2B5EF4-FFF2-40B4-BE49-F238E27FC236}">
                  <a16:creationId xmlns:a16="http://schemas.microsoft.com/office/drawing/2014/main" id="{DA256E40-4839-A002-DAE4-E92AC3621E44}"/>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D9790FCA-7576-E215-2F6F-5D710A40D684}"/>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8" name="TextBox 7">
              <a:extLst>
                <a:ext uri="{FF2B5EF4-FFF2-40B4-BE49-F238E27FC236}">
                  <a16:creationId xmlns:a16="http://schemas.microsoft.com/office/drawing/2014/main" id="{2B89C57F-9FD2-3D9E-C745-F36B0B48A6C5}"/>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3" name="Content Placeholder 2">
            <a:extLst>
              <a:ext uri="{FF2B5EF4-FFF2-40B4-BE49-F238E27FC236}">
                <a16:creationId xmlns:a16="http://schemas.microsoft.com/office/drawing/2014/main" id="{DBD2E08C-7819-8536-BD90-D963237DC2FA}"/>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2">
                    <a:lumMod val="25000"/>
                  </a:schemeClr>
                </a:solidFill>
                <a:latin typeface="+mn-lt"/>
              </a:defRPr>
            </a:lvl1pPr>
            <a:lvl2pPr marL="742950" indent="-285750" algn="l">
              <a:lnSpc>
                <a:spcPts val="2020"/>
              </a:lnSpc>
              <a:buSzPct val="100000"/>
              <a:buFontTx/>
              <a:buBlip>
                <a:blip r:embed="rId4"/>
              </a:buBlip>
              <a:defRPr sz="1800">
                <a:solidFill>
                  <a:schemeClr val="bg2">
                    <a:lumMod val="25000"/>
                  </a:schemeClr>
                </a:solidFill>
                <a:latin typeface="+mn-lt"/>
              </a:defRPr>
            </a:lvl2pPr>
            <a:lvl3pPr marL="1200150" indent="-285750" algn="l">
              <a:lnSpc>
                <a:spcPts val="2020"/>
              </a:lnSpc>
              <a:buSzPct val="100000"/>
              <a:buFontTx/>
              <a:buBlip>
                <a:blip r:embed="rId4"/>
              </a:buBlip>
              <a:defRPr sz="1600">
                <a:solidFill>
                  <a:schemeClr val="bg2">
                    <a:lumMod val="25000"/>
                  </a:schemeClr>
                </a:solidFill>
                <a:latin typeface="+mn-lt"/>
              </a:defRPr>
            </a:lvl3pPr>
            <a:lvl4pPr marL="1657350" indent="-285750" algn="l">
              <a:lnSpc>
                <a:spcPts val="2020"/>
              </a:lnSpc>
              <a:buSzPct val="100000"/>
              <a:buFontTx/>
              <a:buBlip>
                <a:blip r:embed="rId4"/>
              </a:buBlip>
              <a:defRPr sz="1600">
                <a:solidFill>
                  <a:schemeClr val="bg2">
                    <a:lumMod val="25000"/>
                  </a:schemeClr>
                </a:solidFill>
                <a:latin typeface="+mn-lt"/>
              </a:defRPr>
            </a:lvl4pPr>
            <a:lvl5pPr marL="2114550" indent="-285750" algn="l">
              <a:lnSpc>
                <a:spcPts val="2020"/>
              </a:lnSpc>
              <a:buSzPct val="100000"/>
              <a:buFontTx/>
              <a:buBlip>
                <a:blip r:embed="rId4"/>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355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Dark_Sub">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D88E1E-075F-16F9-E92B-5A17AA502768}"/>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E24CC322-E05B-5FA0-F1FB-CE44C7DC4AA2}"/>
              </a:ext>
            </a:extLst>
          </p:cNvPr>
          <p:cNvPicPr>
            <a:picLocks noChangeAspect="1"/>
          </p:cNvPicPr>
          <p:nvPr/>
        </p:nvPicPr>
        <p:blipFill>
          <a:blip r:embed="rId3"/>
          <a:srcRect/>
          <a:stretch/>
        </p:blipFill>
        <p:spPr>
          <a:xfrm>
            <a:off x="338835" y="6515152"/>
            <a:ext cx="1338681" cy="273100"/>
          </a:xfrm>
          <a:prstGeom prst="rect">
            <a:avLst/>
          </a:prstGeom>
        </p:spPr>
      </p:pic>
      <p:sp>
        <p:nvSpPr>
          <p:cNvPr id="4" name="TextBox 3">
            <a:extLst>
              <a:ext uri="{FF2B5EF4-FFF2-40B4-BE49-F238E27FC236}">
                <a16:creationId xmlns:a16="http://schemas.microsoft.com/office/drawing/2014/main" id="{A1FDE916-4E68-47BE-7CCA-CE1BDDE69408}"/>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4" name="Slide Number Placeholder 504"/>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907D951D-1967-483E-BB83-DA2FAF8BD3C5}" type="slidenum">
              <a:rPr lang="en-US" smtClean="0"/>
              <a:t>‹#›</a:t>
            </a:fld>
            <a:endParaRPr lang="en-US"/>
          </a:p>
        </p:txBody>
      </p:sp>
      <p:sp>
        <p:nvSpPr>
          <p:cNvPr id="7" name="Title 1">
            <a:extLst>
              <a:ext uri="{FF2B5EF4-FFF2-40B4-BE49-F238E27FC236}">
                <a16:creationId xmlns:a16="http://schemas.microsoft.com/office/drawing/2014/main" id="{3E7E6407-B729-531A-E63B-931D38FA1997}"/>
              </a:ext>
            </a:extLst>
          </p:cNvPr>
          <p:cNvSpPr>
            <a:spLocks noGrp="1"/>
          </p:cNvSpPr>
          <p:nvPr>
            <p:ph type="title"/>
          </p:nvPr>
        </p:nvSpPr>
        <p:spPr>
          <a:xfrm>
            <a:off x="420000" y="228600"/>
            <a:ext cx="11338560" cy="425592"/>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Text Placeholder 6">
            <a:extLst>
              <a:ext uri="{FF2B5EF4-FFF2-40B4-BE49-F238E27FC236}">
                <a16:creationId xmlns:a16="http://schemas.microsoft.com/office/drawing/2014/main" id="{84657EC2-CEDF-D7F5-6742-63F0C8E338CA}"/>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bg1"/>
                </a:solidFill>
                <a:latin typeface="+mj-lt"/>
              </a:defRPr>
            </a:lvl1pPr>
          </a:lstStyle>
          <a:p>
            <a:pPr lvl="0"/>
            <a:r>
              <a:rPr lang="en-US"/>
              <a:t>Click to edit Master text styles</a:t>
            </a:r>
          </a:p>
        </p:txBody>
      </p:sp>
      <p:pic>
        <p:nvPicPr>
          <p:cNvPr id="5" name="Picture 4">
            <a:extLst>
              <a:ext uri="{FF2B5EF4-FFF2-40B4-BE49-F238E27FC236}">
                <a16:creationId xmlns:a16="http://schemas.microsoft.com/office/drawing/2014/main" id="{C9B9B128-F973-EEF6-EF03-D91D80373494}"/>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9" name="Picture 8">
            <a:extLst>
              <a:ext uri="{FF2B5EF4-FFF2-40B4-BE49-F238E27FC236}">
                <a16:creationId xmlns:a16="http://schemas.microsoft.com/office/drawing/2014/main" id="{B76599BF-0C95-F285-041D-E211D0EBCB3E}"/>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10" name="TextBox 9">
            <a:extLst>
              <a:ext uri="{FF2B5EF4-FFF2-40B4-BE49-F238E27FC236}">
                <a16:creationId xmlns:a16="http://schemas.microsoft.com/office/drawing/2014/main" id="{79996EC1-CD86-C9E1-9600-D7F536EFF6C9}"/>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6" name="Content Placeholder 2">
            <a:extLst>
              <a:ext uri="{FF2B5EF4-FFF2-40B4-BE49-F238E27FC236}">
                <a16:creationId xmlns:a16="http://schemas.microsoft.com/office/drawing/2014/main" id="{9797606E-5522-2270-7E8E-8B301BF4754B}"/>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59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Only_Ligh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sp>
        <p:nvSpPr>
          <p:cNvPr id="2" name="Title 1">
            <a:extLst>
              <a:ext uri="{FF2B5EF4-FFF2-40B4-BE49-F238E27FC236}">
                <a16:creationId xmlns:a16="http://schemas.microsoft.com/office/drawing/2014/main" id="{24239D7E-847E-7ECB-B5B3-78921924BC62}"/>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3" name="Group 2">
            <a:extLst>
              <a:ext uri="{FF2B5EF4-FFF2-40B4-BE49-F238E27FC236}">
                <a16:creationId xmlns:a16="http://schemas.microsoft.com/office/drawing/2014/main" id="{EB225BBB-4B98-5FF7-84C1-7A330B9237C5}"/>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11399B78-A26E-C5D3-5977-F72D21DCEFAD}"/>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6" name="Picture 5" descr="A black and grey logo&#10;&#10;AI-generated content may be incorrect.">
              <a:extLst>
                <a:ext uri="{FF2B5EF4-FFF2-40B4-BE49-F238E27FC236}">
                  <a16:creationId xmlns:a16="http://schemas.microsoft.com/office/drawing/2014/main" id="{FD13B7C0-9011-B8D4-9EEE-6C853DFAFB6C}"/>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7" name="TextBox 6">
              <a:extLst>
                <a:ext uri="{FF2B5EF4-FFF2-40B4-BE49-F238E27FC236}">
                  <a16:creationId xmlns:a16="http://schemas.microsoft.com/office/drawing/2014/main" id="{78EAC99F-5662-C339-9764-481B7B922392}"/>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56209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A6F95571-82E2-85D7-3B9C-56BA8B5AD54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7F7BC436-961B-D816-84DF-1F889D57215D}"/>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000C47-8281-C02D-16F9-EA7DC2C581A4}"/>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D1F91332-0918-0B47-73BF-CF5E1F4FE808}"/>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909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_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77A6FE-7F15-37F5-2BCD-425A1BEB9F62}"/>
              </a:ext>
            </a:extLst>
          </p:cNvPr>
          <p:cNvGrpSpPr/>
          <p:nvPr/>
        </p:nvGrpSpPr>
        <p:grpSpPr>
          <a:xfrm>
            <a:off x="335847" y="6525414"/>
            <a:ext cx="11424153" cy="274320"/>
            <a:chOff x="335847" y="652541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2" name="Slide Number Placeholder 502"/>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63862CC-204F-4E50-8BF7-6EEE79EB8F36}" type="slidenum">
              <a:rPr lang="en-US" smtClean="0"/>
              <a:t>‹#›</a:t>
            </a:fld>
            <a:endParaRPr lang="en-US"/>
          </a:p>
        </p:txBody>
      </p:sp>
      <p:grpSp>
        <p:nvGrpSpPr>
          <p:cNvPr id="3" name="Group 2">
            <a:extLst>
              <a:ext uri="{FF2B5EF4-FFF2-40B4-BE49-F238E27FC236}">
                <a16:creationId xmlns:a16="http://schemas.microsoft.com/office/drawing/2014/main" id="{7F016BD5-A56B-5BA3-F690-D9AFCC34CA02}"/>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F57B6DD7-1C29-5CD5-E825-1A6752941061}"/>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EB161965-9496-DC09-2773-B4928F83CC1B}"/>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6" name="TextBox 5">
              <a:extLst>
                <a:ext uri="{FF2B5EF4-FFF2-40B4-BE49-F238E27FC236}">
                  <a16:creationId xmlns:a16="http://schemas.microsoft.com/office/drawing/2014/main" id="{CC0ABE36-5BB2-574A-E750-F948BA8DAE9A}"/>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90266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1AD69-9691-1E32-5B19-EADB15933819}"/>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1F889208-DB86-485A-C5EF-41C729FD141B}"/>
              </a:ext>
            </a:extLst>
          </p:cNvPr>
          <p:cNvPicPr>
            <a:picLocks noChangeAspect="1"/>
          </p:cNvPicPr>
          <p:nvPr/>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00960D57-6649-C85B-C203-A5A47F87752B}"/>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5" name="Slide Number Placeholder 505"/>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5B5F607B-51C9-463C-B8AC-22C4474A29A3}" type="slidenum">
              <a:rPr lang="en-US" smtClean="0"/>
              <a:t>‹#›</a:t>
            </a:fld>
            <a:endParaRPr lang="en-US"/>
          </a:p>
        </p:txBody>
      </p:sp>
      <p:pic>
        <p:nvPicPr>
          <p:cNvPr id="4" name="Picture 3">
            <a:extLst>
              <a:ext uri="{FF2B5EF4-FFF2-40B4-BE49-F238E27FC236}">
                <a16:creationId xmlns:a16="http://schemas.microsoft.com/office/drawing/2014/main" id="{44367700-E7B8-00A1-CA00-780B430A3123}"/>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FFD0E7-4FF1-D7DE-B8CF-6D3ADD3BC27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6A1BC7B2-6B3B-DB21-E219-33C1F3A48CF1}"/>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2399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09B0A9-4F98-C3F4-4E57-41FF83F30D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6" name="Picture 5">
            <a:extLst>
              <a:ext uri="{FF2B5EF4-FFF2-40B4-BE49-F238E27FC236}">
                <a16:creationId xmlns:a16="http://schemas.microsoft.com/office/drawing/2014/main" id="{CB4CFA25-03B5-0177-8AC1-33D467FC70EA}"/>
              </a:ext>
            </a:extLst>
          </p:cNvPr>
          <p:cNvPicPr>
            <a:picLocks noChangeAspect="1"/>
          </p:cNvPicPr>
          <p:nvPr/>
        </p:nvPicPr>
        <p:blipFill>
          <a:blip r:embed="rId3"/>
          <a:srcRect/>
          <a:stretch/>
        </p:blipFill>
        <p:spPr>
          <a:xfrm>
            <a:off x="9210430" y="6209865"/>
            <a:ext cx="2347233" cy="364855"/>
          </a:xfrm>
          <a:prstGeom prst="rect">
            <a:avLst/>
          </a:prstGeom>
        </p:spPr>
      </p:pic>
      <p:sp>
        <p:nvSpPr>
          <p:cNvPr id="8" name="Title 1">
            <a:extLst>
              <a:ext uri="{FF2B5EF4-FFF2-40B4-BE49-F238E27FC236}">
                <a16:creationId xmlns:a16="http://schemas.microsoft.com/office/drawing/2014/main" id="{D15AE0B4-EBC9-F172-55AF-5CEADF6BB87F}"/>
              </a:ext>
            </a:extLst>
          </p:cNvPr>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9" name="Text Placeholder 6">
            <a:extLst>
              <a:ext uri="{FF2B5EF4-FFF2-40B4-BE49-F238E27FC236}">
                <a16:creationId xmlns:a16="http://schemas.microsoft.com/office/drawing/2014/main" id="{5E6E9556-28FF-C72E-9775-EC041E8A5024}"/>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sp>
        <p:nvSpPr>
          <p:cNvPr id="2" name="Rectangle 1">
            <a:extLst>
              <a:ext uri="{FF2B5EF4-FFF2-40B4-BE49-F238E27FC236}">
                <a16:creationId xmlns:a16="http://schemas.microsoft.com/office/drawing/2014/main" id="{D1083F48-B9B5-250C-EC88-908B62BD3AFC}"/>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2AC4D28D-5628-0FAB-BB37-9B5095BB19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5" name="Picture 4">
            <a:extLst>
              <a:ext uri="{FF2B5EF4-FFF2-40B4-BE49-F238E27FC236}">
                <a16:creationId xmlns:a16="http://schemas.microsoft.com/office/drawing/2014/main" id="{B8EC43E4-6A73-99D5-F9A3-E7D3D97EBF1A}"/>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7" name="Rectangle 6">
            <a:extLst>
              <a:ext uri="{FF2B5EF4-FFF2-40B4-BE49-F238E27FC236}">
                <a16:creationId xmlns:a16="http://schemas.microsoft.com/office/drawing/2014/main" id="{D1A58DCA-200A-6AF9-E5F0-31C116120388}"/>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4504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_Crys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1"/>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2" name="Text Placeholder 6">
            <a:extLst>
              <a:ext uri="{FF2B5EF4-FFF2-40B4-BE49-F238E27FC236}">
                <a16:creationId xmlns:a16="http://schemas.microsoft.com/office/drawing/2014/main" id="{14915D0C-CB06-62F7-E67D-7F5B928F57E1}"/>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4B798847-E310-8470-FC39-FCD772C71B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5" name="Rectangle 4">
            <a:extLst>
              <a:ext uri="{FF2B5EF4-FFF2-40B4-BE49-F238E27FC236}">
                <a16:creationId xmlns:a16="http://schemas.microsoft.com/office/drawing/2014/main" id="{954F02A1-F26A-CCE0-8A13-B5F534431235}"/>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CF92799-6CFD-FC58-A1FC-8FAACB71FBF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6" name="Rectangle 5">
            <a:extLst>
              <a:ext uri="{FF2B5EF4-FFF2-40B4-BE49-F238E27FC236}">
                <a16:creationId xmlns:a16="http://schemas.microsoft.com/office/drawing/2014/main" id="{C71AF492-0819-EC08-ED38-56959E5585DD}"/>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320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ing_Dark">
    <p:bg>
      <p:bgPr>
        <a:solidFill>
          <a:srgbClr val="281A42"/>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FCAD75B8-1961-0901-7197-778645E6878F}"/>
              </a:ext>
            </a:extLst>
          </p:cNvPr>
          <p:cNvPicPr>
            <a:picLocks noChangeAspect="1"/>
          </p:cNvPicPr>
          <p:nvPr/>
        </p:nvPicPr>
        <p:blipFill>
          <a:blip r:embed="rId3"/>
          <a:srcRect/>
          <a:stretch/>
        </p:blipFill>
        <p:spPr>
          <a:xfrm>
            <a:off x="9210430" y="6209865"/>
            <a:ext cx="2347233" cy="364855"/>
          </a:xfrm>
          <a:prstGeom prst="rect">
            <a:avLst/>
          </a:prstGeom>
        </p:spPr>
      </p:pic>
      <p:pic>
        <p:nvPicPr>
          <p:cNvPr id="3" name="Picture 2">
            <a:extLst>
              <a:ext uri="{FF2B5EF4-FFF2-40B4-BE49-F238E27FC236}">
                <a16:creationId xmlns:a16="http://schemas.microsoft.com/office/drawing/2014/main" id="{EE0B02FF-8604-586E-FCEA-F2630787735E}"/>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pic>
        <p:nvPicPr>
          <p:cNvPr id="4" name="Picture 3">
            <a:extLst>
              <a:ext uri="{FF2B5EF4-FFF2-40B4-BE49-F238E27FC236}">
                <a16:creationId xmlns:a16="http://schemas.microsoft.com/office/drawing/2014/main" id="{929837DF-36CB-F9C7-2AF7-86255EDA03D9}"/>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5" name="TextBox 4">
            <a:extLst>
              <a:ext uri="{FF2B5EF4-FFF2-40B4-BE49-F238E27FC236}">
                <a16:creationId xmlns:a16="http://schemas.microsoft.com/office/drawing/2014/main" id="{0E200A60-B051-BEDC-E25C-CAC8A419D6D2}"/>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545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ing_PivotPurple">
    <p:bg>
      <p:bgPr>
        <a:solidFill>
          <a:srgbClr val="755FFF"/>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41DCE326-F1D6-8FF0-0CFD-1F01F428AF76}"/>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sp>
        <p:nvSpPr>
          <p:cNvPr id="3" name="TextBox 2">
            <a:extLst>
              <a:ext uri="{FF2B5EF4-FFF2-40B4-BE49-F238E27FC236}">
                <a16:creationId xmlns:a16="http://schemas.microsoft.com/office/drawing/2014/main" id="{CD30B84A-CD15-A69D-7C0D-0A25B01CE3A9}"/>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70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17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7525B8A0"/></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jp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hyperlink" Target="https://erhardtgraeff.com/2025/03/25/a-call-for-civic-minded-technologists/" TargetMode="External"/><Relationship Id="rId4" Type="http://schemas.openxmlformats.org/officeDocument/2006/relationships/image" Target="../media/image3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4.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45.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6.png"/><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2.png"/><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45.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59.png"/><Relationship Id="rId5" Type="http://schemas.openxmlformats.org/officeDocument/2006/relationships/image" Target="../media/image54.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8.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png"/><Relationship Id="rId1" Type="http://schemas.openxmlformats.org/officeDocument/2006/relationships/slideLayout" Target="../slideLayouts/slideLayout6.xml"/><Relationship Id="rId6" Type="http://schemas.openxmlformats.org/officeDocument/2006/relationships/image" Target="../media/image73.png"/><Relationship Id="rId11" Type="http://schemas.openxmlformats.org/officeDocument/2006/relationships/image" Target="../media/image77.emf"/><Relationship Id="rId5" Type="http://schemas.openxmlformats.org/officeDocument/2006/relationships/image" Target="../media/image72.png"/><Relationship Id="rId10" Type="http://schemas.microsoft.com/office/2007/relationships/hdphoto" Target="../media/hdphoto2.wdp"/><Relationship Id="rId4" Type="http://schemas.openxmlformats.org/officeDocument/2006/relationships/image" Target="../media/image71.png"/><Relationship Id="rId9" Type="http://schemas.openxmlformats.org/officeDocument/2006/relationships/image" Target="../media/image76.png"/></Relationships>
</file>

<file path=ppt/slides/_rels/slide4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9.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45.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s>
</file>

<file path=ppt/slides/_rels/slide4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6.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hyperlink" Target="http://www.linkedin.com/in/monica-klaas-kuett" TargetMode="External"/><Relationship Id="rId7" Type="http://schemas.openxmlformats.org/officeDocument/2006/relationships/image" Target="../media/image91.jpeg"/><Relationship Id="rId2" Type="http://schemas.openxmlformats.org/officeDocument/2006/relationships/hyperlink" Target="mailto:monica@ceoworks.com" TargetMode="External"/><Relationship Id="rId1" Type="http://schemas.openxmlformats.org/officeDocument/2006/relationships/slideLayout" Target="../slideLayouts/slideLayout10.xml"/><Relationship Id="rId6" Type="http://schemas.openxmlformats.org/officeDocument/2006/relationships/image" Target="../media/image90.jpeg"/><Relationship Id="rId5" Type="http://schemas.openxmlformats.org/officeDocument/2006/relationships/hyperlink" Target="https://www.linkedin.com/in/prateek-sinha-talent-od-change/" TargetMode="External"/><Relationship Id="rId4" Type="http://schemas.openxmlformats.org/officeDocument/2006/relationships/hyperlink" Target="mailto:Prateek@ceowork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title"/>
          </p:nvPr>
        </p:nvSpPr>
        <p:spPr>
          <a:noFill/>
        </p:spPr>
        <p:txBody>
          <a:bodyPr/>
          <a:lstStyle/>
          <a:p>
            <a:r>
              <a:rPr lang="en-US" dirty="0"/>
              <a:t>Talent to Value</a:t>
            </a:r>
          </a:p>
        </p:txBody>
      </p:sp>
      <p:sp>
        <p:nvSpPr>
          <p:cNvPr id="3" name="Text Placeholder 2">
            <a:extLst>
              <a:ext uri="{FF2B5EF4-FFF2-40B4-BE49-F238E27FC236}">
                <a16:creationId xmlns:a16="http://schemas.microsoft.com/office/drawing/2014/main" id="{29BDFE8E-CE98-256F-AD72-6DE463608188}"/>
              </a:ext>
            </a:extLst>
          </p:cNvPr>
          <p:cNvSpPr>
            <a:spLocks noGrp="1"/>
          </p:cNvSpPr>
          <p:nvPr>
            <p:ph type="body" idx="12"/>
          </p:nvPr>
        </p:nvSpPr>
        <p:spPr>
          <a:noFill/>
        </p:spPr>
        <p:txBody>
          <a:bodyPr lIns="91440" tIns="45720" rIns="91440" bIns="45720" anchor="t"/>
          <a:lstStyle/>
          <a:p>
            <a:r>
              <a:rPr lang="en-US" dirty="0"/>
              <a:t>HR that powers strategic pivots</a:t>
            </a:r>
          </a:p>
        </p:txBody>
      </p:sp>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181AB2-AE11-671A-A6DB-652680FB7882}"/>
              </a:ext>
            </a:extLst>
          </p:cNvPr>
          <p:cNvSpPr>
            <a:spLocks noGrp="1"/>
          </p:cNvSpPr>
          <p:nvPr>
            <p:ph type="sldNum" sz="quarter" idx="4"/>
          </p:nvPr>
        </p:nvSpPr>
        <p:spPr/>
        <p:txBody>
          <a:bodyPr/>
          <a:lstStyle/>
          <a:p>
            <a:pPr algn="ctr"/>
            <a:fld id="{1875A764-3B06-454E-8ABA-2F6ED0EB58E9}" type="slidenum">
              <a:rPr lang="en-US" smtClean="0"/>
              <a:t>2</a:t>
            </a:fld>
            <a:endParaRPr lang="en-US"/>
          </a:p>
        </p:txBody>
      </p:sp>
      <p:sp>
        <p:nvSpPr>
          <p:cNvPr id="33" name="Title 32">
            <a:extLst>
              <a:ext uri="{FF2B5EF4-FFF2-40B4-BE49-F238E27FC236}">
                <a16:creationId xmlns:a16="http://schemas.microsoft.com/office/drawing/2014/main" id="{8CE1DF88-3B35-4B3B-D62E-17F3FDC4D612}"/>
              </a:ext>
            </a:extLst>
          </p:cNvPr>
          <p:cNvSpPr>
            <a:spLocks noGrp="1"/>
          </p:cNvSpPr>
          <p:nvPr>
            <p:ph type="title"/>
          </p:nvPr>
        </p:nvSpPr>
        <p:spPr/>
        <p:txBody>
          <a:bodyPr/>
          <a:lstStyle/>
          <a:p>
            <a:r>
              <a:rPr lang="en-GB" spc="-25" dirty="0">
                <a:solidFill>
                  <a:schemeClr val="accent1"/>
                </a:solidFill>
              </a:rPr>
              <a:t>Talent to Value </a:t>
            </a:r>
            <a:r>
              <a:rPr lang="en-GB" spc="-25" dirty="0"/>
              <a:t>Unlocks Answers to Critical Business Questions</a:t>
            </a:r>
            <a:endParaRPr lang="en-US" dirty="0"/>
          </a:p>
        </p:txBody>
      </p:sp>
      <p:grpSp>
        <p:nvGrpSpPr>
          <p:cNvPr id="5" name="Group 4">
            <a:extLst>
              <a:ext uri="{FF2B5EF4-FFF2-40B4-BE49-F238E27FC236}">
                <a16:creationId xmlns:a16="http://schemas.microsoft.com/office/drawing/2014/main" id="{8EC9D374-A845-BBF8-F81D-F3A9D3434753}"/>
              </a:ext>
            </a:extLst>
          </p:cNvPr>
          <p:cNvGrpSpPr/>
          <p:nvPr/>
        </p:nvGrpSpPr>
        <p:grpSpPr>
          <a:xfrm>
            <a:off x="1196801" y="1593996"/>
            <a:ext cx="5041636" cy="4348940"/>
            <a:chOff x="589954" y="1498595"/>
            <a:chExt cx="3781227" cy="2850679"/>
          </a:xfrm>
        </p:grpSpPr>
        <p:sp>
          <p:nvSpPr>
            <p:cNvPr id="6" name="TextBox 5">
              <a:extLst>
                <a:ext uri="{FF2B5EF4-FFF2-40B4-BE49-F238E27FC236}">
                  <a16:creationId xmlns:a16="http://schemas.microsoft.com/office/drawing/2014/main" id="{5FB8A2C1-07B3-D741-DDAD-1EE65051EB45}"/>
                </a:ext>
              </a:extLst>
            </p:cNvPr>
            <p:cNvSpPr txBox="1"/>
            <p:nvPr/>
          </p:nvSpPr>
          <p:spPr>
            <a:xfrm>
              <a:off x="1200358" y="1509979"/>
              <a:ext cx="3165242" cy="342965"/>
            </a:xfrm>
            <a:prstGeom prst="rect">
              <a:avLst/>
            </a:prstGeom>
            <a:noFill/>
          </p:spPr>
          <p:txBody>
            <a:bodyPr wrap="square" lIns="91440" tIns="45720" rIns="91440" bIns="45720" rtlCol="0" anchor="ctr">
              <a:spAutoFit/>
            </a:bodyPr>
            <a:lstStyle/>
            <a:p>
              <a:pPr defTabSz="914377">
                <a:defRPr/>
              </a:pPr>
              <a:r>
                <a:rPr lang="en-US" sz="1400" spc="-10" dirty="0">
                  <a:solidFill>
                    <a:srgbClr val="585858"/>
                  </a:solidFill>
                  <a:latin typeface="Arial" pitchFamily="34" charset="0"/>
                  <a:ea typeface="Lato" panose="020F0502020204030203" pitchFamily="34" charset="0"/>
                  <a:cs typeface="Lato" panose="020F0502020204030203" pitchFamily="34" charset="0"/>
                </a:rPr>
                <a:t>Are we aligned on the value pools and big bets which will drive our strategy?</a:t>
              </a:r>
            </a:p>
          </p:txBody>
        </p:sp>
        <p:sp>
          <p:nvSpPr>
            <p:cNvPr id="7" name="TextBox 6">
              <a:extLst>
                <a:ext uri="{FF2B5EF4-FFF2-40B4-BE49-F238E27FC236}">
                  <a16:creationId xmlns:a16="http://schemas.microsoft.com/office/drawing/2014/main" id="{B29A0F56-E591-E3B3-A592-539777EEFC48}"/>
                </a:ext>
              </a:extLst>
            </p:cNvPr>
            <p:cNvSpPr txBox="1"/>
            <p:nvPr/>
          </p:nvSpPr>
          <p:spPr>
            <a:xfrm>
              <a:off x="589954" y="1498595"/>
              <a:ext cx="451085" cy="342965"/>
            </a:xfrm>
            <a:prstGeom prst="rect">
              <a:avLst/>
            </a:prstGeom>
            <a:noFill/>
          </p:spPr>
          <p:txBody>
            <a:bodyPr wrap="none" lIns="91440" tIns="45720" rIns="91440" bIns="45720" rtlCol="0" anchor="ctr">
              <a:spAutoFit/>
            </a:bodyPr>
            <a:lstStyle/>
            <a:p>
              <a:pPr defTabSz="914377">
                <a:defRPr/>
              </a:pPr>
              <a:r>
                <a:rPr lang="en-IN" sz="2800" b="1" spc="-10" dirty="0">
                  <a:solidFill>
                    <a:schemeClr val="accent1"/>
                  </a:solidFill>
                  <a:latin typeface="Segoe UI" pitchFamily="34" charset="0"/>
                  <a:ea typeface="Lato" panose="020F0502020204030203" pitchFamily="34" charset="0"/>
                  <a:cs typeface="Lato" panose="020F0502020204030203" pitchFamily="34" charset="0"/>
                </a:rPr>
                <a:t>01</a:t>
              </a:r>
            </a:p>
          </p:txBody>
        </p:sp>
        <p:cxnSp>
          <p:nvCxnSpPr>
            <p:cNvPr id="8" name="Straight Connector 7">
              <a:extLst>
                <a:ext uri="{FF2B5EF4-FFF2-40B4-BE49-F238E27FC236}">
                  <a16:creationId xmlns:a16="http://schemas.microsoft.com/office/drawing/2014/main" id="{67D476E5-F756-7D5C-A8A0-94038F6B9BC0}"/>
                </a:ext>
              </a:extLst>
            </p:cNvPr>
            <p:cNvCxnSpPr>
              <a:cxnSpLocks/>
            </p:cNvCxnSpPr>
            <p:nvPr/>
          </p:nvCxnSpPr>
          <p:spPr>
            <a:xfrm>
              <a:off x="657271" y="1962575"/>
              <a:ext cx="3670403"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88B9AF8-56FD-6152-7C4D-1D9776F44590}"/>
                </a:ext>
              </a:extLst>
            </p:cNvPr>
            <p:cNvSpPr txBox="1"/>
            <p:nvPr/>
          </p:nvSpPr>
          <p:spPr>
            <a:xfrm>
              <a:off x="1200358" y="2102296"/>
              <a:ext cx="3165242" cy="342965"/>
            </a:xfrm>
            <a:prstGeom prst="rect">
              <a:avLst/>
            </a:prstGeom>
            <a:noFill/>
          </p:spPr>
          <p:txBody>
            <a:bodyPr wrap="square" lIns="91440" tIns="45720" rIns="91440" bIns="45720" rtlCol="0" anchor="ctr">
              <a:spAutoFit/>
            </a:bodyPr>
            <a:lstStyle/>
            <a:p>
              <a:pPr defTabSz="914377">
                <a:defRPr/>
              </a:pPr>
              <a:r>
                <a:rPr lang="en-US" sz="1400" spc="-10" dirty="0">
                  <a:solidFill>
                    <a:srgbClr val="585858"/>
                  </a:solidFill>
                  <a:latin typeface="Arial" pitchFamily="34" charset="0"/>
                  <a:ea typeface="Lato" panose="020F0502020204030203" pitchFamily="34" charset="0"/>
                  <a:cs typeface="Lato" panose="020F0502020204030203" pitchFamily="34" charset="0"/>
                </a:rPr>
                <a:t>Do we know the 20 to 30 critical roles that will deliver 80% of the value?</a:t>
              </a:r>
            </a:p>
          </p:txBody>
        </p:sp>
        <p:sp>
          <p:nvSpPr>
            <p:cNvPr id="10" name="TextBox 9">
              <a:extLst>
                <a:ext uri="{FF2B5EF4-FFF2-40B4-BE49-F238E27FC236}">
                  <a16:creationId xmlns:a16="http://schemas.microsoft.com/office/drawing/2014/main" id="{B94D141A-B6E6-C02B-7480-F0E46CD951CF}"/>
                </a:ext>
              </a:extLst>
            </p:cNvPr>
            <p:cNvSpPr txBox="1"/>
            <p:nvPr/>
          </p:nvSpPr>
          <p:spPr>
            <a:xfrm>
              <a:off x="589954" y="2074654"/>
              <a:ext cx="451085" cy="342965"/>
            </a:xfrm>
            <a:prstGeom prst="rect">
              <a:avLst/>
            </a:prstGeom>
            <a:noFill/>
          </p:spPr>
          <p:txBody>
            <a:bodyPr wrap="none" lIns="91440" tIns="45720" rIns="91440" bIns="45720" rtlCol="0">
              <a:spAutoFit/>
            </a:bodyPr>
            <a:lstStyle/>
            <a:p>
              <a:pPr defTabSz="914377">
                <a:defRPr/>
              </a:pPr>
              <a:r>
                <a:rPr lang="en-IN" sz="2800" b="1" spc="-10">
                  <a:solidFill>
                    <a:schemeClr val="accent1"/>
                  </a:solidFill>
                  <a:latin typeface="Segoe UI" pitchFamily="34" charset="0"/>
                  <a:ea typeface="Lato" panose="020F0502020204030203" pitchFamily="34" charset="0"/>
                  <a:cs typeface="Lato" panose="020F0502020204030203" pitchFamily="34" charset="0"/>
                </a:rPr>
                <a:t>02</a:t>
              </a:r>
            </a:p>
          </p:txBody>
        </p:sp>
        <p:cxnSp>
          <p:nvCxnSpPr>
            <p:cNvPr id="11" name="Straight Connector 10">
              <a:extLst>
                <a:ext uri="{FF2B5EF4-FFF2-40B4-BE49-F238E27FC236}">
                  <a16:creationId xmlns:a16="http://schemas.microsoft.com/office/drawing/2014/main" id="{63B0AF63-02EE-0542-3FEB-6B99DE50144B}"/>
                </a:ext>
              </a:extLst>
            </p:cNvPr>
            <p:cNvCxnSpPr>
              <a:cxnSpLocks/>
            </p:cNvCxnSpPr>
            <p:nvPr/>
          </p:nvCxnSpPr>
          <p:spPr>
            <a:xfrm>
              <a:off x="657271" y="2588639"/>
              <a:ext cx="3670403"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91FA0B0-5F3F-CD90-F17D-5BB13622EF28}"/>
                </a:ext>
              </a:extLst>
            </p:cNvPr>
            <p:cNvSpPr txBox="1"/>
            <p:nvPr/>
          </p:nvSpPr>
          <p:spPr>
            <a:xfrm>
              <a:off x="1205939" y="3387686"/>
              <a:ext cx="3165242" cy="342965"/>
            </a:xfrm>
            <a:prstGeom prst="rect">
              <a:avLst/>
            </a:prstGeom>
            <a:noFill/>
          </p:spPr>
          <p:txBody>
            <a:bodyPr wrap="square" lIns="91440" tIns="45720" rIns="91440" bIns="45720" rtlCol="0" anchor="ctr">
              <a:spAutoFit/>
            </a:bodyPr>
            <a:lstStyle/>
            <a:p>
              <a:pPr defTabSz="914377">
                <a:defRPr/>
              </a:pPr>
              <a:r>
                <a:rPr lang="en-US" sz="1400" spc="-10" dirty="0">
                  <a:solidFill>
                    <a:srgbClr val="585858"/>
                  </a:solidFill>
                  <a:latin typeface="Arial" pitchFamily="34" charset="0"/>
                  <a:ea typeface="Lato" panose="020F0502020204030203" pitchFamily="34" charset="0"/>
                  <a:cs typeface="Lato" panose="020F0502020204030203" pitchFamily="34" charset="0"/>
                </a:rPr>
                <a:t>What are the one or two new capabilities needed to deliver the strategy?</a:t>
              </a:r>
            </a:p>
          </p:txBody>
        </p:sp>
        <p:sp>
          <p:nvSpPr>
            <p:cNvPr id="13" name="TextBox 12">
              <a:extLst>
                <a:ext uri="{FF2B5EF4-FFF2-40B4-BE49-F238E27FC236}">
                  <a16:creationId xmlns:a16="http://schemas.microsoft.com/office/drawing/2014/main" id="{FBFDF698-7F7D-83E5-4951-8EC1D96AD5DA}"/>
                </a:ext>
              </a:extLst>
            </p:cNvPr>
            <p:cNvSpPr txBox="1"/>
            <p:nvPr/>
          </p:nvSpPr>
          <p:spPr>
            <a:xfrm>
              <a:off x="589954" y="2744155"/>
              <a:ext cx="451085" cy="342965"/>
            </a:xfrm>
            <a:prstGeom prst="rect">
              <a:avLst/>
            </a:prstGeom>
            <a:noFill/>
          </p:spPr>
          <p:txBody>
            <a:bodyPr wrap="none" lIns="91440" tIns="45720" rIns="91440" bIns="45720" rtlCol="0">
              <a:spAutoFit/>
            </a:bodyPr>
            <a:lstStyle/>
            <a:p>
              <a:pPr defTabSz="914377">
                <a:defRPr/>
              </a:pPr>
              <a:r>
                <a:rPr lang="en-IN" sz="2800" b="1" spc="-10">
                  <a:solidFill>
                    <a:schemeClr val="accent1"/>
                  </a:solidFill>
                  <a:latin typeface="Segoe UI" pitchFamily="34" charset="0"/>
                  <a:ea typeface="Lato" panose="020F0502020204030203" pitchFamily="34" charset="0"/>
                  <a:cs typeface="Lato" panose="020F0502020204030203" pitchFamily="34" charset="0"/>
                </a:rPr>
                <a:t>03</a:t>
              </a:r>
            </a:p>
          </p:txBody>
        </p:sp>
        <p:cxnSp>
          <p:nvCxnSpPr>
            <p:cNvPr id="14" name="Straight Connector 13">
              <a:extLst>
                <a:ext uri="{FF2B5EF4-FFF2-40B4-BE49-F238E27FC236}">
                  <a16:creationId xmlns:a16="http://schemas.microsoft.com/office/drawing/2014/main" id="{1A6243CE-3749-DFC5-C362-060C8CE6C66C}"/>
                </a:ext>
              </a:extLst>
            </p:cNvPr>
            <p:cNvCxnSpPr>
              <a:cxnSpLocks/>
            </p:cNvCxnSpPr>
            <p:nvPr/>
          </p:nvCxnSpPr>
          <p:spPr>
            <a:xfrm>
              <a:off x="657271" y="3232575"/>
              <a:ext cx="3670403"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F120408-8097-D9EA-D389-2FAE421317F3}"/>
                </a:ext>
              </a:extLst>
            </p:cNvPr>
            <p:cNvSpPr txBox="1"/>
            <p:nvPr/>
          </p:nvSpPr>
          <p:spPr>
            <a:xfrm>
              <a:off x="1200358" y="2814766"/>
              <a:ext cx="3165242" cy="201744"/>
            </a:xfrm>
            <a:prstGeom prst="rect">
              <a:avLst/>
            </a:prstGeom>
            <a:noFill/>
          </p:spPr>
          <p:txBody>
            <a:bodyPr wrap="square" lIns="91440" tIns="45720" rIns="91440" bIns="45720" rtlCol="0" anchor="ctr">
              <a:spAutoFit/>
            </a:bodyPr>
            <a:lstStyle/>
            <a:p>
              <a:pPr defTabSz="914377">
                <a:defRPr/>
              </a:pPr>
              <a:r>
                <a:rPr lang="en-US" sz="1400" spc="-10" dirty="0">
                  <a:solidFill>
                    <a:srgbClr val="585858"/>
                  </a:solidFill>
                  <a:latin typeface="Arial" pitchFamily="34" charset="0"/>
                  <a:ea typeface="Lato" panose="020F0502020204030203" pitchFamily="34" charset="0"/>
                  <a:cs typeface="Lato" panose="020F0502020204030203" pitchFamily="34" charset="0"/>
                </a:rPr>
                <a:t>Is the organization designed for success?</a:t>
              </a:r>
            </a:p>
          </p:txBody>
        </p:sp>
        <p:sp>
          <p:nvSpPr>
            <p:cNvPr id="16" name="TextBox 15">
              <a:extLst>
                <a:ext uri="{FF2B5EF4-FFF2-40B4-BE49-F238E27FC236}">
                  <a16:creationId xmlns:a16="http://schemas.microsoft.com/office/drawing/2014/main" id="{30FB4D66-C29D-FA7C-5698-4ED65A73EB3A}"/>
                </a:ext>
              </a:extLst>
            </p:cNvPr>
            <p:cNvSpPr txBox="1"/>
            <p:nvPr/>
          </p:nvSpPr>
          <p:spPr>
            <a:xfrm>
              <a:off x="589954" y="3346768"/>
              <a:ext cx="451085" cy="342965"/>
            </a:xfrm>
            <a:prstGeom prst="rect">
              <a:avLst/>
            </a:prstGeom>
            <a:noFill/>
          </p:spPr>
          <p:txBody>
            <a:bodyPr wrap="none" lIns="91440" tIns="45720" rIns="91440" bIns="45720" rtlCol="0">
              <a:spAutoFit/>
            </a:bodyPr>
            <a:lstStyle/>
            <a:p>
              <a:pPr defTabSz="914377">
                <a:defRPr/>
              </a:pPr>
              <a:r>
                <a:rPr lang="en-IN" sz="2800" b="1" spc="-10">
                  <a:solidFill>
                    <a:schemeClr val="accent1"/>
                  </a:solidFill>
                  <a:latin typeface="Segoe UI" pitchFamily="34" charset="0"/>
                  <a:ea typeface="Lato" panose="020F0502020204030203" pitchFamily="34" charset="0"/>
                  <a:cs typeface="Lato" panose="020F0502020204030203" pitchFamily="34" charset="0"/>
                </a:rPr>
                <a:t>04</a:t>
              </a:r>
            </a:p>
          </p:txBody>
        </p:sp>
        <p:cxnSp>
          <p:nvCxnSpPr>
            <p:cNvPr id="17" name="Straight Connector 16">
              <a:extLst>
                <a:ext uri="{FF2B5EF4-FFF2-40B4-BE49-F238E27FC236}">
                  <a16:creationId xmlns:a16="http://schemas.microsoft.com/office/drawing/2014/main" id="{B9B60D61-15C2-8240-33E7-80DB6C7CA229}"/>
                </a:ext>
              </a:extLst>
            </p:cNvPr>
            <p:cNvCxnSpPr>
              <a:cxnSpLocks/>
            </p:cNvCxnSpPr>
            <p:nvPr/>
          </p:nvCxnSpPr>
          <p:spPr>
            <a:xfrm>
              <a:off x="657271" y="3835189"/>
              <a:ext cx="3670403"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42CE02-5D85-DE28-DDD8-72CC776D7892}"/>
                </a:ext>
              </a:extLst>
            </p:cNvPr>
            <p:cNvSpPr txBox="1"/>
            <p:nvPr/>
          </p:nvSpPr>
          <p:spPr>
            <a:xfrm>
              <a:off x="589954" y="3970043"/>
              <a:ext cx="451085" cy="342965"/>
            </a:xfrm>
            <a:prstGeom prst="rect">
              <a:avLst/>
            </a:prstGeom>
            <a:noFill/>
          </p:spPr>
          <p:txBody>
            <a:bodyPr wrap="none" lIns="91440" tIns="45720" rIns="91440" bIns="45720" rtlCol="0">
              <a:spAutoFit/>
            </a:bodyPr>
            <a:lstStyle/>
            <a:p>
              <a:pPr defTabSz="914377">
                <a:defRPr/>
              </a:pPr>
              <a:r>
                <a:rPr lang="en-IN" sz="2800" b="1" spc="-10">
                  <a:solidFill>
                    <a:schemeClr val="accent1"/>
                  </a:solidFill>
                  <a:latin typeface="Segoe UI" pitchFamily="34" charset="0"/>
                  <a:ea typeface="Lato" panose="020F0502020204030203" pitchFamily="34" charset="0"/>
                  <a:cs typeface="Lato" panose="020F0502020204030203" pitchFamily="34" charset="0"/>
                </a:rPr>
                <a:t>05</a:t>
              </a:r>
            </a:p>
          </p:txBody>
        </p:sp>
        <p:sp>
          <p:nvSpPr>
            <p:cNvPr id="19" name="TextBox 18">
              <a:extLst>
                <a:ext uri="{FF2B5EF4-FFF2-40B4-BE49-F238E27FC236}">
                  <a16:creationId xmlns:a16="http://schemas.microsoft.com/office/drawing/2014/main" id="{9907D48D-B8C9-FE96-D5BA-E26900BC4EB7}"/>
                </a:ext>
              </a:extLst>
            </p:cNvPr>
            <p:cNvSpPr txBox="1"/>
            <p:nvPr/>
          </p:nvSpPr>
          <p:spPr>
            <a:xfrm>
              <a:off x="1138928" y="4006309"/>
              <a:ext cx="3165242" cy="342965"/>
            </a:xfrm>
            <a:prstGeom prst="rect">
              <a:avLst/>
            </a:prstGeom>
            <a:noFill/>
          </p:spPr>
          <p:txBody>
            <a:bodyPr wrap="square" lIns="91440" tIns="45720" rIns="91440" bIns="45720" rtlCol="0" anchor="ctr">
              <a:spAutoFit/>
            </a:bodyPr>
            <a:lstStyle/>
            <a:p>
              <a:pPr defTabSz="914377">
                <a:defRPr/>
              </a:pPr>
              <a:r>
                <a:rPr lang="en-US" sz="1400" spc="-10" dirty="0">
                  <a:solidFill>
                    <a:srgbClr val="585858"/>
                  </a:solidFill>
                  <a:latin typeface="Arial" pitchFamily="34" charset="0"/>
                  <a:ea typeface="Lato" panose="020F0502020204030203" pitchFamily="34" charset="0"/>
                  <a:cs typeface="Lato" panose="020F0502020204030203" pitchFamily="34" charset="0"/>
                </a:rPr>
                <a:t>Have we built a simple plan to enable success at critical roles?</a:t>
              </a:r>
            </a:p>
          </p:txBody>
        </p:sp>
      </p:grpSp>
      <p:sp>
        <p:nvSpPr>
          <p:cNvPr id="20" name="Rectangle 19">
            <a:extLst>
              <a:ext uri="{FF2B5EF4-FFF2-40B4-BE49-F238E27FC236}">
                <a16:creationId xmlns:a16="http://schemas.microsoft.com/office/drawing/2014/main" id="{59FDAAD2-629C-8821-A7EE-97395AFAAF2C}"/>
              </a:ext>
            </a:extLst>
          </p:cNvPr>
          <p:cNvSpPr/>
          <p:nvPr/>
        </p:nvSpPr>
        <p:spPr>
          <a:xfrm>
            <a:off x="6827069" y="4077873"/>
            <a:ext cx="4275208" cy="1857523"/>
          </a:xfrm>
          <a:prstGeom prst="rect">
            <a:avLst/>
          </a:prstGeom>
          <a:noFill/>
          <a:ln w="12700">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z="1600" kern="0" spc="-10">
              <a:solidFill>
                <a:srgbClr val="FFFFFF"/>
              </a:solidFill>
              <a:latin typeface="Arial" pitchFamily="34" charset="0"/>
            </a:endParaRPr>
          </a:p>
        </p:txBody>
      </p:sp>
      <p:sp>
        <p:nvSpPr>
          <p:cNvPr id="21" name="TextBox 20">
            <a:extLst>
              <a:ext uri="{FF2B5EF4-FFF2-40B4-BE49-F238E27FC236}">
                <a16:creationId xmlns:a16="http://schemas.microsoft.com/office/drawing/2014/main" id="{CB43136B-5F07-C35E-630A-E63F659754F2}"/>
              </a:ext>
            </a:extLst>
          </p:cNvPr>
          <p:cNvSpPr txBox="1"/>
          <p:nvPr/>
        </p:nvSpPr>
        <p:spPr>
          <a:xfrm>
            <a:off x="8185400" y="5779215"/>
            <a:ext cx="1558547" cy="307777"/>
          </a:xfrm>
          <a:prstGeom prst="rect">
            <a:avLst/>
          </a:prstGeom>
          <a:solidFill>
            <a:srgbClr val="F2F2F2"/>
          </a:solidFill>
          <a:ln w="12700">
            <a:noFill/>
          </a:ln>
        </p:spPr>
        <p:txBody>
          <a:bodyPr wrap="square" lIns="91440" tIns="45720" rIns="91440" bIns="45720" rtlCol="0">
            <a:spAutoFit/>
          </a:bodyPr>
          <a:lstStyle/>
          <a:p>
            <a:pPr algn="ctr" defTabSz="914377"/>
            <a:r>
              <a:rPr lang="en-US" sz="1400" kern="0" spc="-10">
                <a:solidFill>
                  <a:srgbClr val="1D1D1D"/>
                </a:solidFill>
                <a:latin typeface="Arial" pitchFamily="34" charset="0"/>
                <a:ea typeface="Lato" panose="020F0502020204030203" pitchFamily="34" charset="0"/>
                <a:cs typeface="Lato" panose="020F0502020204030203" pitchFamily="34" charset="0"/>
              </a:rPr>
              <a:t>Mobilizing Value</a:t>
            </a:r>
          </a:p>
        </p:txBody>
      </p:sp>
      <p:sp>
        <p:nvSpPr>
          <p:cNvPr id="22" name="Rectangle 21">
            <a:extLst>
              <a:ext uri="{FF2B5EF4-FFF2-40B4-BE49-F238E27FC236}">
                <a16:creationId xmlns:a16="http://schemas.microsoft.com/office/drawing/2014/main" id="{105D6453-1337-43CC-12F3-C01757E10151}"/>
              </a:ext>
            </a:extLst>
          </p:cNvPr>
          <p:cNvSpPr/>
          <p:nvPr/>
        </p:nvSpPr>
        <p:spPr>
          <a:xfrm>
            <a:off x="6827069" y="1593996"/>
            <a:ext cx="4275208" cy="1857523"/>
          </a:xfrm>
          <a:prstGeom prst="rect">
            <a:avLst/>
          </a:prstGeom>
          <a:noFill/>
          <a:ln w="12700">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z="1600" kern="0" spc="-10">
              <a:solidFill>
                <a:srgbClr val="FFFFFF"/>
              </a:solidFill>
              <a:latin typeface="Arial" pitchFamily="34" charset="0"/>
            </a:endParaRPr>
          </a:p>
        </p:txBody>
      </p:sp>
      <p:sp>
        <p:nvSpPr>
          <p:cNvPr id="23" name="TextBox 22">
            <a:extLst>
              <a:ext uri="{FF2B5EF4-FFF2-40B4-BE49-F238E27FC236}">
                <a16:creationId xmlns:a16="http://schemas.microsoft.com/office/drawing/2014/main" id="{0AF2CA9A-241E-2E00-49ED-BFB76D748165}"/>
              </a:ext>
            </a:extLst>
          </p:cNvPr>
          <p:cNvSpPr txBox="1"/>
          <p:nvPr/>
        </p:nvSpPr>
        <p:spPr>
          <a:xfrm>
            <a:off x="7987508" y="3296709"/>
            <a:ext cx="1954331" cy="307777"/>
          </a:xfrm>
          <a:prstGeom prst="rect">
            <a:avLst/>
          </a:prstGeom>
          <a:solidFill>
            <a:srgbClr val="F2F2F2"/>
          </a:solidFill>
          <a:ln w="12700">
            <a:noFill/>
          </a:ln>
        </p:spPr>
        <p:txBody>
          <a:bodyPr wrap="square" lIns="91440" tIns="45720" rIns="91440" bIns="45720" rtlCol="0">
            <a:spAutoFit/>
          </a:bodyPr>
          <a:lstStyle/>
          <a:p>
            <a:pPr algn="ctr" defTabSz="914377"/>
            <a:r>
              <a:rPr lang="en-US" sz="1400" kern="0" spc="-10" dirty="0">
                <a:solidFill>
                  <a:srgbClr val="1D1D1D"/>
                </a:solidFill>
                <a:latin typeface="Arial" pitchFamily="34" charset="0"/>
                <a:ea typeface="Lato" panose="020F0502020204030203" pitchFamily="34" charset="0"/>
                <a:cs typeface="Lato" panose="020F0502020204030203" pitchFamily="34" charset="0"/>
              </a:rPr>
              <a:t>Talent to Value Plan</a:t>
            </a:r>
          </a:p>
        </p:txBody>
      </p:sp>
      <p:sp>
        <p:nvSpPr>
          <p:cNvPr id="24" name="TextBox 23">
            <a:extLst>
              <a:ext uri="{FF2B5EF4-FFF2-40B4-BE49-F238E27FC236}">
                <a16:creationId xmlns:a16="http://schemas.microsoft.com/office/drawing/2014/main" id="{489D8A9B-91C4-CDDB-4653-F7C2DE05A0F8}"/>
              </a:ext>
            </a:extLst>
          </p:cNvPr>
          <p:cNvSpPr txBox="1"/>
          <p:nvPr/>
        </p:nvSpPr>
        <p:spPr>
          <a:xfrm>
            <a:off x="8963936" y="5231183"/>
            <a:ext cx="1954331" cy="553998"/>
          </a:xfrm>
          <a:prstGeom prst="rect">
            <a:avLst/>
          </a:prstGeom>
          <a:noFill/>
        </p:spPr>
        <p:txBody>
          <a:bodyPr wrap="square" lIns="121920" tIns="60960" rIns="121920" bIns="60960" anchor="t">
            <a:spAutoFit/>
          </a:bodyPr>
          <a:lstStyle/>
          <a:p>
            <a:pPr algn="ctr" defTabSz="914377"/>
            <a:r>
              <a:rPr lang="en-US" sz="1400" kern="0" spc="-10">
                <a:solidFill>
                  <a:sysClr val="windowText" lastClr="000000"/>
                </a:solidFill>
                <a:latin typeface="Arial" pitchFamily="34" charset="0"/>
                <a:ea typeface="Lato"/>
                <a:cs typeface="Lato"/>
              </a:rPr>
              <a:t>Enabling Success </a:t>
            </a:r>
            <a:endParaRPr lang="en-US" sz="2400" spc="-10">
              <a:solidFill>
                <a:sysClr val="windowText" lastClr="000000"/>
              </a:solidFill>
              <a:latin typeface="Arial" pitchFamily="34" charset="0"/>
              <a:ea typeface="Lato"/>
              <a:cs typeface="Lato"/>
            </a:endParaRPr>
          </a:p>
          <a:p>
            <a:pPr algn="ctr" defTabSz="914377"/>
            <a:r>
              <a:rPr lang="en-US" sz="1400" kern="0" spc="-10">
                <a:solidFill>
                  <a:sysClr val="windowText" lastClr="000000"/>
                </a:solidFill>
                <a:latin typeface="Arial" pitchFamily="34" charset="0"/>
                <a:ea typeface="Lato"/>
                <a:cs typeface="Lato"/>
              </a:rPr>
              <a:t>@ Enterprise</a:t>
            </a:r>
            <a:endParaRPr lang="en-US" sz="2400" spc="-10">
              <a:solidFill>
                <a:sysClr val="windowText" lastClr="000000"/>
              </a:solidFill>
              <a:latin typeface="Arial" pitchFamily="34" charset="0"/>
              <a:ea typeface="Lato"/>
              <a:cs typeface="Lato"/>
            </a:endParaRPr>
          </a:p>
        </p:txBody>
      </p:sp>
      <p:sp>
        <p:nvSpPr>
          <p:cNvPr id="25" name="TextBox 24">
            <a:extLst>
              <a:ext uri="{FF2B5EF4-FFF2-40B4-BE49-F238E27FC236}">
                <a16:creationId xmlns:a16="http://schemas.microsoft.com/office/drawing/2014/main" id="{4C789CF3-A8FE-C134-EF76-DD251E546D20}"/>
              </a:ext>
            </a:extLst>
          </p:cNvPr>
          <p:cNvSpPr txBox="1"/>
          <p:nvPr/>
        </p:nvSpPr>
        <p:spPr>
          <a:xfrm>
            <a:off x="7052795" y="5161458"/>
            <a:ext cx="1621976" cy="523220"/>
          </a:xfrm>
          <a:prstGeom prst="rect">
            <a:avLst/>
          </a:prstGeom>
          <a:noFill/>
        </p:spPr>
        <p:txBody>
          <a:bodyPr wrap="square" lIns="91440" tIns="45720" rIns="91440" bIns="45720">
            <a:spAutoFit/>
          </a:bodyPr>
          <a:lstStyle/>
          <a:p>
            <a:pPr algn="ctr" defTabSz="914377"/>
            <a:r>
              <a:rPr lang="en-US" sz="1400" kern="0" spc="-10">
                <a:solidFill>
                  <a:sysClr val="windowText" lastClr="000000"/>
                </a:solidFill>
                <a:latin typeface="Arial" pitchFamily="34" charset="0"/>
                <a:ea typeface="Lato" panose="020F0502020204030203" pitchFamily="34" charset="0"/>
                <a:cs typeface="Lato" panose="020F0502020204030203" pitchFamily="34" charset="0"/>
              </a:rPr>
              <a:t>Enabling Success @ Roles</a:t>
            </a:r>
          </a:p>
        </p:txBody>
      </p:sp>
      <p:sp>
        <p:nvSpPr>
          <p:cNvPr id="26" name="TextBox 25">
            <a:extLst>
              <a:ext uri="{FF2B5EF4-FFF2-40B4-BE49-F238E27FC236}">
                <a16:creationId xmlns:a16="http://schemas.microsoft.com/office/drawing/2014/main" id="{AD331C58-2F29-8CEF-AEB9-0B8AF7D2825E}"/>
              </a:ext>
            </a:extLst>
          </p:cNvPr>
          <p:cNvSpPr txBox="1"/>
          <p:nvPr/>
        </p:nvSpPr>
        <p:spPr>
          <a:xfrm>
            <a:off x="8974869" y="2756236"/>
            <a:ext cx="1954331" cy="523220"/>
          </a:xfrm>
          <a:prstGeom prst="rect">
            <a:avLst/>
          </a:prstGeom>
          <a:noFill/>
        </p:spPr>
        <p:txBody>
          <a:bodyPr wrap="square" lIns="91440" tIns="45720" rIns="91440" bIns="45720">
            <a:spAutoFit/>
          </a:bodyPr>
          <a:lstStyle/>
          <a:p>
            <a:pPr algn="ctr" defTabSz="914377"/>
            <a:r>
              <a:rPr lang="en-US" sz="1400" kern="0" spc="-10" dirty="0">
                <a:solidFill>
                  <a:sysClr val="windowText" lastClr="000000"/>
                </a:solidFill>
                <a:latin typeface="Arial" pitchFamily="34" charset="0"/>
                <a:ea typeface="Lato" panose="020F0502020204030203" pitchFamily="34" charset="0"/>
                <a:cs typeface="Lato" panose="020F0502020204030203" pitchFamily="34" charset="0"/>
              </a:rPr>
              <a:t>Talent to Value Forecast</a:t>
            </a:r>
          </a:p>
        </p:txBody>
      </p:sp>
      <p:sp>
        <p:nvSpPr>
          <p:cNvPr id="27" name="TextBox 26">
            <a:extLst>
              <a:ext uri="{FF2B5EF4-FFF2-40B4-BE49-F238E27FC236}">
                <a16:creationId xmlns:a16="http://schemas.microsoft.com/office/drawing/2014/main" id="{F4D1B9CA-0FE6-FFEC-51A3-DDC7AE0DEF00}"/>
              </a:ext>
            </a:extLst>
          </p:cNvPr>
          <p:cNvSpPr txBox="1"/>
          <p:nvPr/>
        </p:nvSpPr>
        <p:spPr>
          <a:xfrm>
            <a:off x="7081391" y="2793934"/>
            <a:ext cx="1784175" cy="307777"/>
          </a:xfrm>
          <a:prstGeom prst="rect">
            <a:avLst/>
          </a:prstGeom>
          <a:noFill/>
        </p:spPr>
        <p:txBody>
          <a:bodyPr wrap="square" lIns="91440" tIns="45720" rIns="91440" bIns="45720" anchor="t">
            <a:spAutoFit/>
          </a:bodyPr>
          <a:lstStyle/>
          <a:p>
            <a:pPr algn="ctr" defTabSz="914377"/>
            <a:r>
              <a:rPr lang="en-US" sz="1400" kern="0" spc="-10">
                <a:solidFill>
                  <a:srgbClr val="1D1D1D"/>
                </a:solidFill>
                <a:latin typeface="Arial" pitchFamily="34" charset="0"/>
                <a:ea typeface="Lato"/>
                <a:cs typeface="Lato"/>
              </a:rPr>
              <a:t>/List</a:t>
            </a:r>
          </a:p>
        </p:txBody>
      </p:sp>
      <p:pic>
        <p:nvPicPr>
          <p:cNvPr id="28" name="Picture 27">
            <a:extLst>
              <a:ext uri="{FF2B5EF4-FFF2-40B4-BE49-F238E27FC236}">
                <a16:creationId xmlns:a16="http://schemas.microsoft.com/office/drawing/2014/main" id="{966DC10E-FF67-80CC-30FB-DE73627E40B3}"/>
              </a:ext>
            </a:extLst>
          </p:cNvPr>
          <p:cNvPicPr>
            <a:picLocks noChangeAspect="1"/>
          </p:cNvPicPr>
          <p:nvPr/>
        </p:nvPicPr>
        <p:blipFill>
          <a:blip r:embed="rId2" cstate="hqprint">
            <a:duotone>
              <a:srgbClr val="765FFF"/>
              <a:srgbClr val="FFFFFF"/>
            </a:duotone>
          </a:blip>
          <a:stretch>
            <a:fillRect/>
          </a:stretch>
        </p:blipFill>
        <p:spPr>
          <a:xfrm>
            <a:off x="7637371" y="1890749"/>
            <a:ext cx="672212" cy="749036"/>
          </a:xfrm>
          <a:prstGeom prst="rect">
            <a:avLst/>
          </a:prstGeom>
        </p:spPr>
      </p:pic>
      <p:pic>
        <p:nvPicPr>
          <p:cNvPr id="29" name="Picture 28" descr="Precision sequencing">
            <a:extLst>
              <a:ext uri="{FF2B5EF4-FFF2-40B4-BE49-F238E27FC236}">
                <a16:creationId xmlns:a16="http://schemas.microsoft.com/office/drawing/2014/main" id="{BBB64399-A930-D3CF-2850-E8AD2E96B1E9}"/>
              </a:ext>
            </a:extLst>
          </p:cNvPr>
          <p:cNvPicPr>
            <a:picLocks noChangeAspect="1"/>
          </p:cNvPicPr>
          <p:nvPr/>
        </p:nvPicPr>
        <p:blipFill>
          <a:blip r:embed="rId3" cstate="hqprint">
            <a:duotone>
              <a:srgbClr val="765FFF"/>
              <a:srgbClr val="FFFFFF"/>
            </a:duotone>
          </a:blip>
          <a:stretch>
            <a:fillRect/>
          </a:stretch>
        </p:blipFill>
        <p:spPr>
          <a:xfrm>
            <a:off x="9489976" y="4288089"/>
            <a:ext cx="960000" cy="960000"/>
          </a:xfrm>
          <a:prstGeom prst="rect">
            <a:avLst/>
          </a:prstGeom>
        </p:spPr>
      </p:pic>
      <p:pic>
        <p:nvPicPr>
          <p:cNvPr id="30" name="Picture 29">
            <a:extLst>
              <a:ext uri="{FF2B5EF4-FFF2-40B4-BE49-F238E27FC236}">
                <a16:creationId xmlns:a16="http://schemas.microsoft.com/office/drawing/2014/main" id="{18C55B7F-CC91-58B5-DA54-4AE333355083}"/>
              </a:ext>
            </a:extLst>
          </p:cNvPr>
          <p:cNvPicPr>
            <a:picLocks noChangeAspect="1"/>
          </p:cNvPicPr>
          <p:nvPr/>
        </p:nvPicPr>
        <p:blipFill>
          <a:blip r:embed="rId4">
            <a:duotone>
              <a:srgbClr val="765FFF"/>
              <a:srgbClr val="FFFFFF"/>
            </a:duotone>
          </a:blip>
          <a:srcRect/>
          <a:stretch>
            <a:fillRect/>
          </a:stretch>
        </p:blipFill>
        <p:spPr bwMode="auto">
          <a:xfrm>
            <a:off x="9605733" y="1874248"/>
            <a:ext cx="672212" cy="715581"/>
          </a:xfrm>
          <a:prstGeom prst="rect">
            <a:avLst/>
          </a:prstGeom>
          <a:noFill/>
          <a:ln>
            <a:noFill/>
          </a:ln>
        </p:spPr>
      </p:pic>
      <p:pic>
        <p:nvPicPr>
          <p:cNvPr id="31" name="Graphic 13" descr="Business Growth outline">
            <a:extLst>
              <a:ext uri="{FF2B5EF4-FFF2-40B4-BE49-F238E27FC236}">
                <a16:creationId xmlns:a16="http://schemas.microsoft.com/office/drawing/2014/main" id="{11B9CEE9-C90A-1B74-48B7-6FB2FE767E0B}"/>
              </a:ext>
            </a:extLst>
          </p:cNvPr>
          <p:cNvPicPr>
            <a:picLocks noChangeAspect="1"/>
          </p:cNvPicPr>
          <p:nvPr/>
        </p:nvPicPr>
        <p:blipFill>
          <a:blip r:embed="rId5">
            <a:duotone>
              <a:srgbClr val="765FFF"/>
              <a:srgbClr val="FFFFFF"/>
            </a:duotone>
          </a:blip>
          <a:stretch>
            <a:fillRect/>
          </a:stretch>
        </p:blipFill>
        <p:spPr>
          <a:xfrm>
            <a:off x="7519230" y="4413532"/>
            <a:ext cx="748218" cy="748218"/>
          </a:xfrm>
          <a:prstGeom prst="rect">
            <a:avLst/>
          </a:prstGeom>
        </p:spPr>
      </p:pic>
      <p:sp>
        <p:nvSpPr>
          <p:cNvPr id="32" name="TextBox 31">
            <a:extLst>
              <a:ext uri="{FF2B5EF4-FFF2-40B4-BE49-F238E27FC236}">
                <a16:creationId xmlns:a16="http://schemas.microsoft.com/office/drawing/2014/main" id="{400D6626-7DAE-B72D-15EC-82B1DC8C1D0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293931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80B118-8EC7-EDDC-0039-FE1BA00E6BC5}"/>
              </a:ext>
            </a:extLst>
          </p:cNvPr>
          <p:cNvSpPr>
            <a:spLocks noGrp="1"/>
          </p:cNvSpPr>
          <p:nvPr>
            <p:ph type="sldNum" sz="quarter" idx="4"/>
          </p:nvPr>
        </p:nvSpPr>
        <p:spPr/>
        <p:txBody>
          <a:bodyPr/>
          <a:lstStyle/>
          <a:p>
            <a:pPr algn="ctr"/>
            <a:fld id="{1875A764-3B06-454E-8ABA-2F6ED0EB58E9}" type="slidenum">
              <a:rPr lang="en-US" smtClean="0"/>
              <a:t>3</a:t>
            </a:fld>
            <a:endParaRPr lang="en-US"/>
          </a:p>
        </p:txBody>
      </p:sp>
      <p:sp>
        <p:nvSpPr>
          <p:cNvPr id="5" name="Title 4">
            <a:extLst>
              <a:ext uri="{FF2B5EF4-FFF2-40B4-BE49-F238E27FC236}">
                <a16:creationId xmlns:a16="http://schemas.microsoft.com/office/drawing/2014/main" id="{89C0A99C-7BFA-E505-C0BE-E2863457F735}"/>
              </a:ext>
            </a:extLst>
          </p:cNvPr>
          <p:cNvSpPr>
            <a:spLocks noGrp="1"/>
          </p:cNvSpPr>
          <p:nvPr>
            <p:ph type="title"/>
          </p:nvPr>
        </p:nvSpPr>
        <p:spPr/>
        <p:txBody>
          <a:bodyPr/>
          <a:lstStyle/>
          <a:p>
            <a:r>
              <a:rPr lang="en-GB" spc="-25" dirty="0">
                <a:solidFill>
                  <a:schemeClr val="accent1"/>
                </a:solidFill>
              </a:rPr>
              <a:t>Talent to Value</a:t>
            </a:r>
            <a:endParaRPr lang="en-US" dirty="0">
              <a:solidFill>
                <a:schemeClr val="accent1"/>
              </a:solidFill>
            </a:endParaRPr>
          </a:p>
        </p:txBody>
      </p:sp>
      <p:sp>
        <p:nvSpPr>
          <p:cNvPr id="6" name="Oval 5">
            <a:extLst>
              <a:ext uri="{FF2B5EF4-FFF2-40B4-BE49-F238E27FC236}">
                <a16:creationId xmlns:a16="http://schemas.microsoft.com/office/drawing/2014/main" id="{347C6AA6-38AF-24EB-757D-487CC5003FCA}"/>
              </a:ext>
            </a:extLst>
          </p:cNvPr>
          <p:cNvSpPr/>
          <p:nvPr/>
        </p:nvSpPr>
        <p:spPr>
          <a:xfrm>
            <a:off x="2098719" y="4655366"/>
            <a:ext cx="1620000" cy="1620000"/>
          </a:xfrm>
          <a:prstGeom prst="ellipse">
            <a:avLst/>
          </a:prstGeom>
          <a:solidFill>
            <a:srgbClr val="E9E4FF"/>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err="1">
              <a:solidFill>
                <a:srgbClr val="281A42"/>
              </a:solidFill>
              <a:cs typeface="Arial" panose="020B0604020202020204" pitchFamily="34" charset="0"/>
            </a:endParaRPr>
          </a:p>
        </p:txBody>
      </p:sp>
      <p:sp>
        <p:nvSpPr>
          <p:cNvPr id="7" name="Oval 6">
            <a:extLst>
              <a:ext uri="{FF2B5EF4-FFF2-40B4-BE49-F238E27FC236}">
                <a16:creationId xmlns:a16="http://schemas.microsoft.com/office/drawing/2014/main" id="{C5C792F3-6A5A-264A-51AA-5D5495B85169}"/>
              </a:ext>
            </a:extLst>
          </p:cNvPr>
          <p:cNvSpPr/>
          <p:nvPr/>
        </p:nvSpPr>
        <p:spPr>
          <a:xfrm>
            <a:off x="2098719" y="2830247"/>
            <a:ext cx="1620000" cy="1620000"/>
          </a:xfrm>
          <a:prstGeom prst="ellipse">
            <a:avLst/>
          </a:prstGeom>
          <a:solidFill>
            <a:srgbClr val="E9E4FF"/>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err="1">
              <a:solidFill>
                <a:srgbClr val="281A42"/>
              </a:solidFill>
              <a:cs typeface="Arial" panose="020B0604020202020204" pitchFamily="34" charset="0"/>
            </a:endParaRPr>
          </a:p>
        </p:txBody>
      </p:sp>
      <p:sp>
        <p:nvSpPr>
          <p:cNvPr id="8" name="Oval 7">
            <a:extLst>
              <a:ext uri="{FF2B5EF4-FFF2-40B4-BE49-F238E27FC236}">
                <a16:creationId xmlns:a16="http://schemas.microsoft.com/office/drawing/2014/main" id="{1371CE47-B174-548E-3472-8F990B8FA441}"/>
              </a:ext>
            </a:extLst>
          </p:cNvPr>
          <p:cNvSpPr/>
          <p:nvPr/>
        </p:nvSpPr>
        <p:spPr>
          <a:xfrm>
            <a:off x="2098719" y="1005128"/>
            <a:ext cx="1620000" cy="1620000"/>
          </a:xfrm>
          <a:prstGeom prst="ellipse">
            <a:avLst/>
          </a:prstGeom>
          <a:solidFill>
            <a:srgbClr val="E9E4FF"/>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9" name="TextBox 14">
            <a:extLst>
              <a:ext uri="{FF2B5EF4-FFF2-40B4-BE49-F238E27FC236}">
                <a16:creationId xmlns:a16="http://schemas.microsoft.com/office/drawing/2014/main" id="{C210AE8D-0317-02B6-8D48-CBA351960523}"/>
              </a:ext>
            </a:extLst>
          </p:cNvPr>
          <p:cNvSpPr txBox="1">
            <a:spLocks/>
          </p:cNvSpPr>
          <p:nvPr/>
        </p:nvSpPr>
        <p:spPr>
          <a:xfrm>
            <a:off x="3860763" y="1133403"/>
            <a:ext cx="7658137" cy="1363450"/>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buFont typeface="Arial" panose="020B0706020202030204" pitchFamily="34" charset="0"/>
              <a:buNone/>
            </a:pPr>
            <a:r>
              <a:rPr lang="en-US" sz="1600" b="1" spc="-10">
                <a:solidFill>
                  <a:schemeClr val="tx1"/>
                </a:solidFill>
                <a:latin typeface="Segoe UI" pitchFamily="34" charset="0"/>
                <a:cs typeface="Helvetica" panose="020B0604020202020204" pitchFamily="34" charset="0"/>
              </a:rPr>
              <a:t>Where is the money and what is the right work to deliver the money?</a:t>
            </a:r>
          </a:p>
          <a:p>
            <a:pPr marL="171450" indent="-171450" defTabSz="514337">
              <a:buFont typeface="Arial" panose="020B0706020202030204" pitchFamily="34" charset="0"/>
              <a:buBlip>
                <a:blip r:embed="rId2"/>
              </a:buBlip>
              <a:defRPr/>
            </a:pPr>
            <a:r>
              <a:rPr lang="en-US" sz="1600" spc="-10">
                <a:solidFill>
                  <a:schemeClr val="tx1"/>
                </a:solidFill>
                <a:latin typeface="Arial" pitchFamily="34" charset="0"/>
                <a:ea typeface="Lato"/>
                <a:cs typeface="Arial" panose="020B0604020202020204" pitchFamily="34" charset="0"/>
              </a:rPr>
              <a:t>3-5 Critical bets that will “bend the curve”</a:t>
            </a:r>
          </a:p>
          <a:p>
            <a:pPr marL="171450" indent="-171450" defTabSz="514337">
              <a:buFont typeface="Arial" panose="020B0706020202030204" pitchFamily="34" charset="0"/>
              <a:buBlip>
                <a:blip r:embed="rId2"/>
              </a:buBlip>
              <a:defRPr/>
            </a:pPr>
            <a:r>
              <a:rPr lang="en-US" sz="1600" spc="-10">
                <a:solidFill>
                  <a:schemeClr val="tx1"/>
                </a:solidFill>
                <a:latin typeface="Arial" pitchFamily="34" charset="0"/>
                <a:ea typeface="Lato" panose="020F0502020204030203" pitchFamily="34" charset="0"/>
                <a:cs typeface="Arial" panose="020B0604020202020204" pitchFamily="34" charset="0"/>
              </a:rPr>
              <a:t>Jobs to be Done that will deliver the value</a:t>
            </a:r>
          </a:p>
          <a:p>
            <a:pPr marL="171450" indent="-171450" defTabSz="514337">
              <a:buFont typeface="Arial" panose="020B0706020202030204" pitchFamily="34" charset="0"/>
              <a:buBlip>
                <a:blip r:embed="rId2"/>
              </a:buBlip>
              <a:defRPr/>
            </a:pPr>
            <a:r>
              <a:rPr lang="en-US" sz="1600" spc="-10">
                <a:solidFill>
                  <a:schemeClr val="tx1"/>
                </a:solidFill>
                <a:latin typeface="Arial" pitchFamily="34" charset="0"/>
                <a:ea typeface="Lato" panose="020F0502020204030203" pitchFamily="34" charset="0"/>
                <a:cs typeface="Arial" panose="020B0604020202020204" pitchFamily="34" charset="0"/>
              </a:rPr>
              <a:t>25-50 roles that deliver ~80% of the value</a:t>
            </a:r>
            <a:endParaRPr lang="en-US" sz="1600" spc="-10" dirty="0">
              <a:solidFill>
                <a:schemeClr val="tx1"/>
              </a:solidFill>
              <a:latin typeface="Arial" pitchFamily="34" charset="0"/>
              <a:cs typeface="Helvetica" panose="020B0604020202020204" pitchFamily="34" charset="0"/>
            </a:endParaRPr>
          </a:p>
        </p:txBody>
      </p:sp>
      <p:sp>
        <p:nvSpPr>
          <p:cNvPr id="10" name="TextBox 9">
            <a:extLst>
              <a:ext uri="{FF2B5EF4-FFF2-40B4-BE49-F238E27FC236}">
                <a16:creationId xmlns:a16="http://schemas.microsoft.com/office/drawing/2014/main" id="{FCF22B7D-A2A0-C993-D7B0-463F19469132}"/>
              </a:ext>
            </a:extLst>
          </p:cNvPr>
          <p:cNvSpPr txBox="1"/>
          <p:nvPr/>
        </p:nvSpPr>
        <p:spPr>
          <a:xfrm>
            <a:off x="3860763" y="3125337"/>
            <a:ext cx="6300285" cy="1038233"/>
          </a:xfrm>
          <a:prstGeom prst="rect">
            <a:avLst/>
          </a:prstGeom>
          <a:noFill/>
        </p:spPr>
        <p:txBody>
          <a:bodyPr wrap="square" lIns="91440" tIns="45720" rIns="91440" bIns="45720" rtlCol="0">
            <a:spAutoFit/>
          </a:bodyPr>
          <a:lstStyle/>
          <a:p>
            <a:r>
              <a:rPr lang="en-US" sz="1600" b="1" spc="-10" dirty="0">
                <a:latin typeface="Segoe UI" pitchFamily="34" charset="0"/>
                <a:cs typeface="Helvetica" panose="020B0604020202020204" pitchFamily="34" charset="0"/>
              </a:rPr>
              <a:t>Are we talented enough?</a:t>
            </a:r>
          </a:p>
          <a:p>
            <a:pPr marL="171450" indent="-171450" defTabSz="514337">
              <a:lnSpc>
                <a:spcPct val="90000"/>
              </a:lnSpc>
              <a:spcBef>
                <a:spcPts val="1000"/>
              </a:spcBef>
              <a:buBlip>
                <a:blip r:embed="rId2"/>
              </a:buBlip>
              <a:defRPr/>
            </a:pPr>
            <a:r>
              <a:rPr lang="en-GB" sz="1600" spc="-10" dirty="0">
                <a:latin typeface="Arial" pitchFamily="34" charset="0"/>
                <a:ea typeface="Lato" panose="020F0502020204030203" pitchFamily="34" charset="0"/>
                <a:cs typeface="Lato" panose="020F0502020204030203" pitchFamily="34" charset="0"/>
              </a:rPr>
              <a:t>List of critical </a:t>
            </a:r>
            <a:r>
              <a:rPr lang="en-GB" sz="1600" spc="-10" dirty="0">
                <a:latin typeface="Arial" pitchFamily="34" charset="0"/>
                <a:ea typeface="Lato"/>
                <a:cs typeface="Arial" panose="020B0604020202020204" pitchFamily="34" charset="0"/>
              </a:rPr>
              <a:t>roles with patterns of work/role/talent risks</a:t>
            </a:r>
          </a:p>
          <a:p>
            <a:pPr marL="171450" indent="-171450" defTabSz="514337">
              <a:lnSpc>
                <a:spcPct val="90000"/>
              </a:lnSpc>
              <a:spcBef>
                <a:spcPts val="1000"/>
              </a:spcBef>
              <a:buBlip>
                <a:blip r:embed="rId2"/>
              </a:buBlip>
              <a:defRPr/>
            </a:pPr>
            <a:r>
              <a:rPr lang="en-GB" sz="1600" spc="-10" dirty="0">
                <a:latin typeface="Arial" pitchFamily="34" charset="0"/>
                <a:ea typeface="Lato"/>
                <a:cs typeface="Arial" panose="020B0604020202020204" pitchFamily="34" charset="0"/>
              </a:rPr>
              <a:t>Detailed overview </a:t>
            </a:r>
            <a:r>
              <a:rPr lang="en-GB" sz="1600" spc="-10" dirty="0">
                <a:latin typeface="Arial" pitchFamily="34" charset="0"/>
                <a:ea typeface="Lato" panose="020F0502020204030203" pitchFamily="34" charset="0"/>
                <a:cs typeface="Lato" panose="020F0502020204030203" pitchFamily="34" charset="0"/>
              </a:rPr>
              <a:t>of org risk patterns</a:t>
            </a:r>
            <a:r>
              <a:rPr lang="en-US" sz="1600" spc="-10" dirty="0">
                <a:latin typeface="Arial" pitchFamily="34" charset="0"/>
                <a:cs typeface="Helvetica" panose="020B0604020202020204" pitchFamily="34" charset="0"/>
              </a:rPr>
              <a:t> </a:t>
            </a:r>
          </a:p>
        </p:txBody>
      </p:sp>
      <p:sp>
        <p:nvSpPr>
          <p:cNvPr id="11" name="TextBox 10">
            <a:extLst>
              <a:ext uri="{FF2B5EF4-FFF2-40B4-BE49-F238E27FC236}">
                <a16:creationId xmlns:a16="http://schemas.microsoft.com/office/drawing/2014/main" id="{661F7C69-7CCC-8A86-B148-226FB98B8013}"/>
              </a:ext>
            </a:extLst>
          </p:cNvPr>
          <p:cNvSpPr txBox="1"/>
          <p:nvPr/>
        </p:nvSpPr>
        <p:spPr>
          <a:xfrm>
            <a:off x="3860763" y="4835805"/>
            <a:ext cx="6723097" cy="1259832"/>
          </a:xfrm>
          <a:prstGeom prst="rect">
            <a:avLst/>
          </a:prstGeom>
          <a:noFill/>
        </p:spPr>
        <p:txBody>
          <a:bodyPr wrap="square" lIns="91440" tIns="45720" rIns="91440" bIns="45720" rtlCol="0">
            <a:spAutoFit/>
          </a:bodyPr>
          <a:lstStyle/>
          <a:p>
            <a:pPr defTabSz="514337">
              <a:defRPr/>
            </a:pPr>
            <a:r>
              <a:rPr lang="en-GB" sz="1600" b="1" spc="-10" dirty="0">
                <a:latin typeface="Segoe UI" pitchFamily="34" charset="0"/>
                <a:ea typeface="Lato" panose="020F0502020204030203" pitchFamily="34" charset="0"/>
                <a:cs typeface="Lato" panose="020F0502020204030203" pitchFamily="34" charset="0"/>
              </a:rPr>
              <a:t>What’s the shortest path to value?</a:t>
            </a:r>
          </a:p>
          <a:p>
            <a:pPr marL="171450" indent="-171450" defTabSz="514337">
              <a:lnSpc>
                <a:spcPct val="90000"/>
              </a:lnSpc>
              <a:spcBef>
                <a:spcPts val="1000"/>
              </a:spcBef>
              <a:buBlip>
                <a:blip r:embed="rId2"/>
              </a:buBlip>
              <a:defRPr/>
            </a:pPr>
            <a:r>
              <a:rPr lang="en-GB" sz="1600" spc="-10" dirty="0">
                <a:latin typeface="Arial" pitchFamily="34" charset="0"/>
                <a:ea typeface="Lato" panose="020F0502020204030203" pitchFamily="34" charset="0"/>
                <a:cs typeface="Lato" panose="020F0502020204030203" pitchFamily="34" charset="0"/>
              </a:rPr>
              <a:t>Future state org </a:t>
            </a:r>
            <a:r>
              <a:rPr lang="en-GB" sz="1600" spc="-10" dirty="0">
                <a:latin typeface="Arial" pitchFamily="34" charset="0"/>
                <a:ea typeface="Lato"/>
                <a:cs typeface="Arial" panose="020B0604020202020204" pitchFamily="34" charset="0"/>
              </a:rPr>
              <a:t>design, op model &amp; leadership team defined</a:t>
            </a:r>
          </a:p>
          <a:p>
            <a:pPr marL="171450" indent="-171450" defTabSz="514337">
              <a:lnSpc>
                <a:spcPct val="90000"/>
              </a:lnSpc>
              <a:spcBef>
                <a:spcPts val="1000"/>
              </a:spcBef>
              <a:buBlip>
                <a:blip r:embed="rId2"/>
              </a:buBlip>
              <a:defRPr/>
            </a:pPr>
            <a:r>
              <a:rPr lang="en-GB" sz="1600" spc="-10" dirty="0">
                <a:latin typeface="Arial" pitchFamily="34" charset="0"/>
                <a:ea typeface="Lato"/>
                <a:cs typeface="Arial" panose="020B0604020202020204" pitchFamily="34" charset="0"/>
              </a:rPr>
              <a:t>Sequenced mobilization plan identifying value enabling / risk mitigating interventions at organizational </a:t>
            </a:r>
            <a:r>
              <a:rPr lang="en-GB" sz="1600" spc="-10" dirty="0">
                <a:latin typeface="Arial" pitchFamily="34" charset="0"/>
                <a:ea typeface="Lato" panose="020F0502020204030203" pitchFamily="34" charset="0"/>
                <a:cs typeface="Lato" panose="020F0502020204030203" pitchFamily="34" charset="0"/>
              </a:rPr>
              <a:t>and / or role level</a:t>
            </a:r>
          </a:p>
        </p:txBody>
      </p:sp>
      <p:sp>
        <p:nvSpPr>
          <p:cNvPr id="12" name="TextBox 11">
            <a:extLst>
              <a:ext uri="{FF2B5EF4-FFF2-40B4-BE49-F238E27FC236}">
                <a16:creationId xmlns:a16="http://schemas.microsoft.com/office/drawing/2014/main" id="{34BB15FD-B179-0509-89DC-21A200DFF728}"/>
              </a:ext>
            </a:extLst>
          </p:cNvPr>
          <p:cNvSpPr txBox="1"/>
          <p:nvPr/>
        </p:nvSpPr>
        <p:spPr>
          <a:xfrm>
            <a:off x="2098719" y="1504725"/>
            <a:ext cx="1978988" cy="553998"/>
          </a:xfrm>
          <a:prstGeom prst="rect">
            <a:avLst/>
          </a:prstGeom>
          <a:noFill/>
        </p:spPr>
        <p:txBody>
          <a:bodyPr wrap="square" lIns="91440" tIns="45720" rIns="91440" bIns="45720">
            <a:spAutoFit/>
          </a:bodyPr>
          <a:lstStyle/>
          <a:p>
            <a:r>
              <a:rPr lang="en-GB" sz="1500" spc="-10" dirty="0">
                <a:latin typeface="Arial" pitchFamily="34" charset="0"/>
              </a:rPr>
              <a:t>Align the </a:t>
            </a:r>
          </a:p>
          <a:p>
            <a:r>
              <a:rPr lang="en-GB" sz="1500" spc="-10" dirty="0">
                <a:latin typeface="Arial" pitchFamily="34" charset="0"/>
              </a:rPr>
              <a:t>VALUE AGENDA</a:t>
            </a:r>
          </a:p>
        </p:txBody>
      </p:sp>
      <p:sp>
        <p:nvSpPr>
          <p:cNvPr id="13" name="TextBox 12">
            <a:extLst>
              <a:ext uri="{FF2B5EF4-FFF2-40B4-BE49-F238E27FC236}">
                <a16:creationId xmlns:a16="http://schemas.microsoft.com/office/drawing/2014/main" id="{6A2C939B-F263-1809-C70D-9F1EEFDD223A}"/>
              </a:ext>
            </a:extLst>
          </p:cNvPr>
          <p:cNvSpPr txBox="1"/>
          <p:nvPr/>
        </p:nvSpPr>
        <p:spPr>
          <a:xfrm>
            <a:off x="2030951" y="3361475"/>
            <a:ext cx="1855214" cy="553998"/>
          </a:xfrm>
          <a:prstGeom prst="rect">
            <a:avLst/>
          </a:prstGeom>
          <a:noFill/>
        </p:spPr>
        <p:txBody>
          <a:bodyPr wrap="square" lIns="91440" tIns="45720" rIns="91440" bIns="45720">
            <a:spAutoFit/>
          </a:bodyPr>
          <a:lstStyle/>
          <a:p>
            <a:r>
              <a:rPr lang="en-GB" sz="1500" spc="-10" dirty="0">
                <a:latin typeface="Arial" pitchFamily="34" charset="0"/>
              </a:rPr>
              <a:t>Connect</a:t>
            </a:r>
          </a:p>
          <a:p>
            <a:r>
              <a:rPr lang="en-GB" sz="1500" spc="-10" dirty="0">
                <a:latin typeface="Arial" pitchFamily="34" charset="0"/>
              </a:rPr>
              <a:t>TALENT to VALUE</a:t>
            </a:r>
          </a:p>
        </p:txBody>
      </p:sp>
      <p:sp>
        <p:nvSpPr>
          <p:cNvPr id="14" name="TextBox 13">
            <a:extLst>
              <a:ext uri="{FF2B5EF4-FFF2-40B4-BE49-F238E27FC236}">
                <a16:creationId xmlns:a16="http://schemas.microsoft.com/office/drawing/2014/main" id="{2EE40D2D-B465-5636-B3BF-9D895380F204}"/>
              </a:ext>
            </a:extLst>
          </p:cNvPr>
          <p:cNvSpPr txBox="1"/>
          <p:nvPr/>
        </p:nvSpPr>
        <p:spPr>
          <a:xfrm>
            <a:off x="2104464" y="5072951"/>
            <a:ext cx="1781701" cy="784830"/>
          </a:xfrm>
          <a:prstGeom prst="rect">
            <a:avLst/>
          </a:prstGeom>
          <a:noFill/>
        </p:spPr>
        <p:txBody>
          <a:bodyPr wrap="square" lIns="91440" tIns="45720" rIns="91440" bIns="45720">
            <a:spAutoFit/>
          </a:bodyPr>
          <a:lstStyle/>
          <a:p>
            <a:r>
              <a:rPr lang="en-GB" sz="1500" spc="-10" dirty="0">
                <a:latin typeface="Arial" pitchFamily="34" charset="0"/>
                <a:cs typeface="Arial" panose="020B0604020202020204" pitchFamily="34" charset="0"/>
              </a:rPr>
              <a:t>Organization &amp; Value</a:t>
            </a:r>
          </a:p>
          <a:p>
            <a:r>
              <a:rPr lang="en-GB" sz="1500" spc="-10" dirty="0">
                <a:latin typeface="Arial" pitchFamily="34" charset="0"/>
                <a:cs typeface="Arial" panose="020B0604020202020204" pitchFamily="34" charset="0"/>
              </a:rPr>
              <a:t>MOBILIZATION</a:t>
            </a:r>
            <a:endParaRPr lang="en-GB" sz="1500" spc="-10" dirty="0">
              <a:latin typeface="Arial" pitchFamily="34" charset="0"/>
            </a:endParaRPr>
          </a:p>
        </p:txBody>
      </p:sp>
      <p:pic>
        <p:nvPicPr>
          <p:cNvPr id="15" name="Picture 14" descr="Choose">
            <a:extLst>
              <a:ext uri="{FF2B5EF4-FFF2-40B4-BE49-F238E27FC236}">
                <a16:creationId xmlns:a16="http://schemas.microsoft.com/office/drawing/2014/main" id="{30B7E3FC-5E64-E3D7-468D-916A177797BF}"/>
              </a:ext>
            </a:extLst>
          </p:cNvPr>
          <p:cNvPicPr>
            <a:picLocks noChangeAspect="1"/>
          </p:cNvPicPr>
          <p:nvPr/>
        </p:nvPicPr>
        <p:blipFill>
          <a:blip r:embed="rId3">
            <a:duotone>
              <a:srgbClr val="765FFF"/>
              <a:srgbClr val="FFFFFF"/>
            </a:duotone>
          </a:blip>
          <a:stretch>
            <a:fillRect/>
          </a:stretch>
        </p:blipFill>
        <p:spPr>
          <a:xfrm>
            <a:off x="2572363" y="2855969"/>
            <a:ext cx="672712" cy="672712"/>
          </a:xfrm>
          <a:prstGeom prst="rect">
            <a:avLst/>
          </a:prstGeom>
        </p:spPr>
      </p:pic>
      <p:pic>
        <p:nvPicPr>
          <p:cNvPr id="16" name="Picture 15" descr="Talent to Value">
            <a:extLst>
              <a:ext uri="{FF2B5EF4-FFF2-40B4-BE49-F238E27FC236}">
                <a16:creationId xmlns:a16="http://schemas.microsoft.com/office/drawing/2014/main" id="{2F3C7030-D436-21D6-8FEB-ACE6A0392C25}"/>
              </a:ext>
            </a:extLst>
          </p:cNvPr>
          <p:cNvPicPr>
            <a:picLocks noChangeAspect="1"/>
          </p:cNvPicPr>
          <p:nvPr/>
        </p:nvPicPr>
        <p:blipFill>
          <a:blip r:embed="rId4">
            <a:duotone>
              <a:srgbClr val="765FFF"/>
              <a:srgbClr val="FFFFFF"/>
            </a:duotone>
          </a:blip>
          <a:stretch>
            <a:fillRect/>
          </a:stretch>
        </p:blipFill>
        <p:spPr>
          <a:xfrm>
            <a:off x="2656723" y="4670456"/>
            <a:ext cx="503992" cy="503992"/>
          </a:xfrm>
          <a:prstGeom prst="rect">
            <a:avLst/>
          </a:prstGeom>
        </p:spPr>
      </p:pic>
      <p:pic>
        <p:nvPicPr>
          <p:cNvPr id="17" name="Picture 16" descr="Bend the Curve">
            <a:extLst>
              <a:ext uri="{FF2B5EF4-FFF2-40B4-BE49-F238E27FC236}">
                <a16:creationId xmlns:a16="http://schemas.microsoft.com/office/drawing/2014/main" id="{A0AAAB91-6B4B-C296-997D-DEC22B20866B}"/>
              </a:ext>
            </a:extLst>
          </p:cNvPr>
          <p:cNvPicPr>
            <a:picLocks noChangeAspect="1"/>
          </p:cNvPicPr>
          <p:nvPr/>
        </p:nvPicPr>
        <p:blipFill>
          <a:blip r:embed="rId5">
            <a:duotone>
              <a:srgbClr val="765FFF"/>
              <a:srgbClr val="FFFFFF"/>
            </a:duotone>
          </a:blip>
          <a:stretch>
            <a:fillRect/>
          </a:stretch>
        </p:blipFill>
        <p:spPr>
          <a:xfrm>
            <a:off x="2661156" y="1018043"/>
            <a:ext cx="511320" cy="511320"/>
          </a:xfrm>
          <a:prstGeom prst="rect">
            <a:avLst/>
          </a:prstGeom>
        </p:spPr>
      </p:pic>
      <p:sp>
        <p:nvSpPr>
          <p:cNvPr id="18" name="TextBox 17">
            <a:extLst>
              <a:ext uri="{FF2B5EF4-FFF2-40B4-BE49-F238E27FC236}">
                <a16:creationId xmlns:a16="http://schemas.microsoft.com/office/drawing/2014/main" id="{55CB16E5-74A9-1939-EF96-8CEC9F0F608A}"/>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80403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34009-02DE-D4CC-FBE2-C79AE189D0A3}"/>
              </a:ext>
            </a:extLst>
          </p:cNvPr>
          <p:cNvSpPr>
            <a:spLocks noGrp="1"/>
          </p:cNvSpPr>
          <p:nvPr>
            <p:ph type="sldNum" sz="quarter" idx="4"/>
          </p:nvPr>
        </p:nvSpPr>
        <p:spPr/>
        <p:txBody>
          <a:bodyPr/>
          <a:lstStyle/>
          <a:p>
            <a:pPr algn="ctr"/>
            <a:fld id="{1875A764-3B06-454E-8ABA-2F6ED0EB58E9}" type="slidenum">
              <a:rPr lang="en-US" smtClean="0"/>
              <a:t>4</a:t>
            </a:fld>
            <a:endParaRPr lang="en-US" dirty="0"/>
          </a:p>
        </p:txBody>
      </p:sp>
      <p:sp>
        <p:nvSpPr>
          <p:cNvPr id="3" name="Title 2">
            <a:extLst>
              <a:ext uri="{FF2B5EF4-FFF2-40B4-BE49-F238E27FC236}">
                <a16:creationId xmlns:a16="http://schemas.microsoft.com/office/drawing/2014/main" id="{B948D0E1-EBC4-AC3B-83BA-D30D685C1580}"/>
              </a:ext>
            </a:extLst>
          </p:cNvPr>
          <p:cNvSpPr>
            <a:spLocks noGrp="1"/>
          </p:cNvSpPr>
          <p:nvPr>
            <p:ph type="title"/>
          </p:nvPr>
        </p:nvSpPr>
        <p:spPr/>
        <p:txBody>
          <a:bodyPr/>
          <a:lstStyle/>
          <a:p>
            <a:r>
              <a:rPr lang="en-GB" spc="-25" dirty="0">
                <a:solidFill>
                  <a:srgbClr val="765FFF"/>
                </a:solidFill>
                <a:ea typeface="Calibri" panose="020F0502020204030204" pitchFamily="34" charset="0"/>
              </a:rPr>
              <a:t>Talent to Value </a:t>
            </a:r>
            <a:r>
              <a:rPr lang="en-GB" spc="-25" dirty="0">
                <a:ea typeface="Calibri" panose="020F0502020204030204" pitchFamily="34" charset="0"/>
              </a:rPr>
              <a:t>in Core HR Practices</a:t>
            </a:r>
            <a:endParaRPr lang="en-US" dirty="0"/>
          </a:p>
        </p:txBody>
      </p:sp>
      <p:sp>
        <p:nvSpPr>
          <p:cNvPr id="4" name="Oval 3">
            <a:hlinkClick r:id="" action="ppaction://noaction"/>
            <a:extLst>
              <a:ext uri="{FF2B5EF4-FFF2-40B4-BE49-F238E27FC236}">
                <a16:creationId xmlns:a16="http://schemas.microsoft.com/office/drawing/2014/main" id="{58E21062-3256-9C2B-9DFB-1CA7FD659FC8}"/>
              </a:ext>
            </a:extLst>
          </p:cNvPr>
          <p:cNvSpPr/>
          <p:nvPr/>
        </p:nvSpPr>
        <p:spPr>
          <a:xfrm>
            <a:off x="9398045" y="3008219"/>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cxnSp>
        <p:nvCxnSpPr>
          <p:cNvPr id="5" name="Straight Connector 4">
            <a:extLst>
              <a:ext uri="{FF2B5EF4-FFF2-40B4-BE49-F238E27FC236}">
                <a16:creationId xmlns:a16="http://schemas.microsoft.com/office/drawing/2014/main" id="{4275D587-05F4-4A58-BE9E-975E1EDC60EA}"/>
              </a:ext>
            </a:extLst>
          </p:cNvPr>
          <p:cNvCxnSpPr/>
          <p:nvPr/>
        </p:nvCxnSpPr>
        <p:spPr>
          <a:xfrm>
            <a:off x="3841861" y="1497335"/>
            <a:ext cx="0" cy="450296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8190311B-DDFC-F06A-61F9-59BC464D2C72}"/>
              </a:ext>
            </a:extLst>
          </p:cNvPr>
          <p:cNvSpPr/>
          <p:nvPr/>
        </p:nvSpPr>
        <p:spPr>
          <a:xfrm>
            <a:off x="6972616" y="1194275"/>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sp>
        <p:nvSpPr>
          <p:cNvPr id="7" name="TextBox 6">
            <a:hlinkClick r:id="" action="ppaction://noaction"/>
            <a:extLst>
              <a:ext uri="{FF2B5EF4-FFF2-40B4-BE49-F238E27FC236}">
                <a16:creationId xmlns:a16="http://schemas.microsoft.com/office/drawing/2014/main" id="{665DBAF9-29F1-550C-C215-2763C844D294}"/>
              </a:ext>
            </a:extLst>
          </p:cNvPr>
          <p:cNvSpPr txBox="1"/>
          <p:nvPr/>
        </p:nvSpPr>
        <p:spPr>
          <a:xfrm>
            <a:off x="6599236" y="2263302"/>
            <a:ext cx="1844039" cy="318100"/>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Succession Planning</a:t>
            </a:r>
          </a:p>
        </p:txBody>
      </p:sp>
      <p:pic>
        <p:nvPicPr>
          <p:cNvPr id="8" name="Picture 7" descr="Connect roles and talent">
            <a:hlinkClick r:id="" action="ppaction://noaction"/>
            <a:extLst>
              <a:ext uri="{FF2B5EF4-FFF2-40B4-BE49-F238E27FC236}">
                <a16:creationId xmlns:a16="http://schemas.microsoft.com/office/drawing/2014/main" id="{67867D22-1E30-DB31-EE91-F98713D70153}"/>
              </a:ext>
            </a:extLst>
          </p:cNvPr>
          <p:cNvPicPr>
            <a:picLocks noChangeAspect="1"/>
          </p:cNvPicPr>
          <p:nvPr/>
        </p:nvPicPr>
        <p:blipFill>
          <a:blip r:embed="rId2">
            <a:duotone>
              <a:srgbClr val="765FFF"/>
              <a:srgbClr val="FFFFFF"/>
            </a:duotone>
          </a:blip>
          <a:stretch>
            <a:fillRect/>
          </a:stretch>
        </p:blipFill>
        <p:spPr>
          <a:xfrm>
            <a:off x="6890070" y="1074936"/>
            <a:ext cx="1343999" cy="1343999"/>
          </a:xfrm>
          <a:prstGeom prst="rect">
            <a:avLst/>
          </a:prstGeom>
        </p:spPr>
      </p:pic>
      <p:sp>
        <p:nvSpPr>
          <p:cNvPr id="9" name="Oval 8">
            <a:hlinkClick r:id="" action="ppaction://noaction"/>
            <a:extLst>
              <a:ext uri="{FF2B5EF4-FFF2-40B4-BE49-F238E27FC236}">
                <a16:creationId xmlns:a16="http://schemas.microsoft.com/office/drawing/2014/main" id="{5B4AD91D-E27F-13EE-E400-6F41F6E6C98C}"/>
              </a:ext>
            </a:extLst>
          </p:cNvPr>
          <p:cNvSpPr/>
          <p:nvPr/>
        </p:nvSpPr>
        <p:spPr>
          <a:xfrm>
            <a:off x="7002774" y="3074971"/>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sp>
        <p:nvSpPr>
          <p:cNvPr id="10" name="TextBox 9">
            <a:extLst>
              <a:ext uri="{FF2B5EF4-FFF2-40B4-BE49-F238E27FC236}">
                <a16:creationId xmlns:a16="http://schemas.microsoft.com/office/drawing/2014/main" id="{7DA528BD-B0E6-9024-BFD2-F4DAA2AA647F}"/>
              </a:ext>
            </a:extLst>
          </p:cNvPr>
          <p:cNvSpPr txBox="1"/>
          <p:nvPr/>
        </p:nvSpPr>
        <p:spPr>
          <a:xfrm>
            <a:off x="9130479" y="4163046"/>
            <a:ext cx="1676399" cy="54386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M&amp;A Due Diligence</a:t>
            </a:r>
          </a:p>
        </p:txBody>
      </p:sp>
      <p:sp>
        <p:nvSpPr>
          <p:cNvPr id="11" name="Oval 10">
            <a:hlinkClick r:id="" action="ppaction://noaction"/>
            <a:extLst>
              <a:ext uri="{FF2B5EF4-FFF2-40B4-BE49-F238E27FC236}">
                <a16:creationId xmlns:a16="http://schemas.microsoft.com/office/drawing/2014/main" id="{1D195E1D-F48E-258C-7720-8AB296D63809}"/>
              </a:ext>
            </a:extLst>
          </p:cNvPr>
          <p:cNvSpPr/>
          <p:nvPr/>
        </p:nvSpPr>
        <p:spPr>
          <a:xfrm>
            <a:off x="4546278" y="3140228"/>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sp>
        <p:nvSpPr>
          <p:cNvPr id="12" name="TextBox 11">
            <a:extLst>
              <a:ext uri="{FF2B5EF4-FFF2-40B4-BE49-F238E27FC236}">
                <a16:creationId xmlns:a16="http://schemas.microsoft.com/office/drawing/2014/main" id="{3A3C4B9D-1301-8315-D398-14756F79DCA4}"/>
              </a:ext>
            </a:extLst>
          </p:cNvPr>
          <p:cNvSpPr txBox="1"/>
          <p:nvPr/>
        </p:nvSpPr>
        <p:spPr>
          <a:xfrm>
            <a:off x="4069408" y="4245684"/>
            <a:ext cx="2037016" cy="318100"/>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Assessment</a:t>
            </a:r>
            <a:endPar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Lato" panose="020F0502020204030203" pitchFamily="34" charset="0"/>
            </a:endParaRPr>
          </a:p>
        </p:txBody>
      </p:sp>
      <p:pic>
        <p:nvPicPr>
          <p:cNvPr id="13" name="Picture 12">
            <a:hlinkClick r:id="" action="ppaction://noaction"/>
            <a:extLst>
              <a:ext uri="{FF2B5EF4-FFF2-40B4-BE49-F238E27FC236}">
                <a16:creationId xmlns:a16="http://schemas.microsoft.com/office/drawing/2014/main" id="{3118FD06-50CB-8523-0410-62DEA9FDF3E3}"/>
              </a:ext>
            </a:extLst>
          </p:cNvPr>
          <p:cNvPicPr>
            <a:picLocks noChangeAspect="1"/>
          </p:cNvPicPr>
          <p:nvPr/>
        </p:nvPicPr>
        <p:blipFill>
          <a:blip r:embed="rId3">
            <a:duotone>
              <a:srgbClr val="765FFF"/>
              <a:srgbClr val="FFFFFF"/>
            </a:duotone>
          </a:blip>
          <a:stretch>
            <a:fillRect/>
          </a:stretch>
        </p:blipFill>
        <p:spPr>
          <a:xfrm>
            <a:off x="4660246" y="3260033"/>
            <a:ext cx="869337" cy="865846"/>
          </a:xfrm>
          <a:prstGeom prst="rect">
            <a:avLst/>
          </a:prstGeom>
        </p:spPr>
      </p:pic>
      <p:sp>
        <p:nvSpPr>
          <p:cNvPr id="14" name="Oval 13">
            <a:hlinkClick r:id="" action="ppaction://noaction"/>
            <a:extLst>
              <a:ext uri="{FF2B5EF4-FFF2-40B4-BE49-F238E27FC236}">
                <a16:creationId xmlns:a16="http://schemas.microsoft.com/office/drawing/2014/main" id="{873B6439-894B-3C95-141B-836DD7FAE4B1}"/>
              </a:ext>
            </a:extLst>
          </p:cNvPr>
          <p:cNvSpPr/>
          <p:nvPr/>
        </p:nvSpPr>
        <p:spPr>
          <a:xfrm>
            <a:off x="9367201" y="1159409"/>
            <a:ext cx="1097280" cy="1097279"/>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sp>
        <p:nvSpPr>
          <p:cNvPr id="15" name="TextBox 14">
            <a:extLst>
              <a:ext uri="{FF2B5EF4-FFF2-40B4-BE49-F238E27FC236}">
                <a16:creationId xmlns:a16="http://schemas.microsoft.com/office/drawing/2014/main" id="{82A9E215-2BF9-E0B9-E04D-816765F71908}"/>
              </a:ext>
            </a:extLst>
          </p:cNvPr>
          <p:cNvSpPr txBox="1"/>
          <p:nvPr/>
        </p:nvSpPr>
        <p:spPr>
          <a:xfrm>
            <a:off x="9077642" y="2262876"/>
            <a:ext cx="1676399" cy="54386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67"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Top Team Mobilization</a:t>
            </a:r>
          </a:p>
        </p:txBody>
      </p:sp>
      <p:pic>
        <p:nvPicPr>
          <p:cNvPr id="16" name="Picture 15" descr="Mobilize">
            <a:hlinkClick r:id="" action="ppaction://noaction"/>
            <a:extLst>
              <a:ext uri="{FF2B5EF4-FFF2-40B4-BE49-F238E27FC236}">
                <a16:creationId xmlns:a16="http://schemas.microsoft.com/office/drawing/2014/main" id="{A1E4FFE3-DF2A-46DC-A474-BFB93C1A1113}"/>
              </a:ext>
            </a:extLst>
          </p:cNvPr>
          <p:cNvPicPr>
            <a:picLocks noChangeAspect="1"/>
          </p:cNvPicPr>
          <p:nvPr/>
        </p:nvPicPr>
        <p:blipFill>
          <a:blip r:embed="rId4">
            <a:duotone>
              <a:srgbClr val="765FFF"/>
              <a:srgbClr val="FFFFFF"/>
            </a:duotone>
          </a:blip>
          <a:stretch>
            <a:fillRect/>
          </a:stretch>
        </p:blipFill>
        <p:spPr>
          <a:xfrm>
            <a:off x="9435841" y="1197261"/>
            <a:ext cx="960000" cy="959999"/>
          </a:xfrm>
          <a:prstGeom prst="rect">
            <a:avLst/>
          </a:prstGeom>
        </p:spPr>
      </p:pic>
      <p:pic>
        <p:nvPicPr>
          <p:cNvPr id="17" name="Picture 16">
            <a:extLst>
              <a:ext uri="{FF2B5EF4-FFF2-40B4-BE49-F238E27FC236}">
                <a16:creationId xmlns:a16="http://schemas.microsoft.com/office/drawing/2014/main" id="{38337A03-AC41-05C8-A995-FC4E4D3298E0}"/>
              </a:ext>
            </a:extLst>
          </p:cNvPr>
          <p:cNvPicPr>
            <a:picLocks noChangeAspect="1"/>
          </p:cNvPicPr>
          <p:nvPr/>
        </p:nvPicPr>
        <p:blipFill>
          <a:blip r:embed="rId5">
            <a:duotone>
              <a:srgbClr val="765FFF"/>
              <a:srgbClr val="FFFFFF"/>
            </a:duotone>
          </a:blip>
          <a:srcRect l="101" r="101"/>
          <a:stretch/>
        </p:blipFill>
        <p:spPr>
          <a:xfrm>
            <a:off x="1443634" y="2429230"/>
            <a:ext cx="1161600" cy="1056000"/>
          </a:xfrm>
          <a:prstGeom prst="rect">
            <a:avLst/>
          </a:prstGeom>
        </p:spPr>
      </p:pic>
      <p:sp>
        <p:nvSpPr>
          <p:cNvPr id="18" name="TextBox 17">
            <a:extLst>
              <a:ext uri="{FF2B5EF4-FFF2-40B4-BE49-F238E27FC236}">
                <a16:creationId xmlns:a16="http://schemas.microsoft.com/office/drawing/2014/main" id="{00C379A3-C36B-511C-4326-FD7FCA52DBFF}"/>
              </a:ext>
            </a:extLst>
          </p:cNvPr>
          <p:cNvSpPr txBox="1"/>
          <p:nvPr/>
        </p:nvSpPr>
        <p:spPr>
          <a:xfrm>
            <a:off x="695798" y="3697042"/>
            <a:ext cx="2918517" cy="646331"/>
          </a:xfrm>
          <a:prstGeom prst="rect">
            <a:avLst/>
          </a:prstGeom>
          <a:noFill/>
        </p:spPr>
        <p:txBody>
          <a:bodyPr wrap="square" lIns="91440" tIns="45720" rIns="91440" bIns="45720"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“Talent to Value significantly progresses…. </a:t>
            </a:r>
          </a:p>
        </p:txBody>
      </p:sp>
      <p:sp>
        <p:nvSpPr>
          <p:cNvPr id="19" name="TextBox 18">
            <a:extLst>
              <a:ext uri="{FF2B5EF4-FFF2-40B4-BE49-F238E27FC236}">
                <a16:creationId xmlns:a16="http://schemas.microsoft.com/office/drawing/2014/main" id="{C7460205-79FA-488E-7BBB-271A69C6CDD0}"/>
              </a:ext>
            </a:extLst>
          </p:cNvPr>
          <p:cNvSpPr txBox="1"/>
          <p:nvPr/>
        </p:nvSpPr>
        <p:spPr>
          <a:xfrm>
            <a:off x="6859138" y="4125879"/>
            <a:ext cx="1514088" cy="543867"/>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a:solidFill>
                  <a:srgbClr val="1D1D1D"/>
                </a:solidFill>
                <a:latin typeface="Arial" pitchFamily="34" charset="0"/>
                <a:ea typeface="Lato Light" panose="020F0502020204030203" pitchFamily="34" charset="0"/>
                <a:cs typeface="Lato Light" panose="020F0502020204030203" pitchFamily="34" charset="0"/>
              </a:rPr>
              <a:t>Organization Cost-Out</a:t>
            </a:r>
          </a:p>
        </p:txBody>
      </p:sp>
      <p:sp>
        <p:nvSpPr>
          <p:cNvPr id="20" name="Oval 19">
            <a:hlinkClick r:id="" action="ppaction://noaction"/>
            <a:extLst>
              <a:ext uri="{FF2B5EF4-FFF2-40B4-BE49-F238E27FC236}">
                <a16:creationId xmlns:a16="http://schemas.microsoft.com/office/drawing/2014/main" id="{DFF1D572-CC5C-6582-90BB-BBE851D5803C}"/>
              </a:ext>
            </a:extLst>
          </p:cNvPr>
          <p:cNvSpPr/>
          <p:nvPr/>
        </p:nvSpPr>
        <p:spPr>
          <a:xfrm>
            <a:off x="4495485" y="1254333"/>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sp>
        <p:nvSpPr>
          <p:cNvPr id="21" name="TextBox 20">
            <a:extLst>
              <a:ext uri="{FF2B5EF4-FFF2-40B4-BE49-F238E27FC236}">
                <a16:creationId xmlns:a16="http://schemas.microsoft.com/office/drawing/2014/main" id="{346B4240-7F52-6F40-02EF-8E0AABA03C8F}"/>
              </a:ext>
            </a:extLst>
          </p:cNvPr>
          <p:cNvSpPr txBox="1"/>
          <p:nvPr/>
        </p:nvSpPr>
        <p:spPr>
          <a:xfrm>
            <a:off x="4391198" y="2318085"/>
            <a:ext cx="1514088" cy="318100"/>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CEO Success</a:t>
            </a:r>
          </a:p>
        </p:txBody>
      </p:sp>
      <p:pic>
        <p:nvPicPr>
          <p:cNvPr id="22" name="Graphic 39" descr="Male profile with solid fill">
            <a:extLst>
              <a:ext uri="{FF2B5EF4-FFF2-40B4-BE49-F238E27FC236}">
                <a16:creationId xmlns:a16="http://schemas.microsoft.com/office/drawing/2014/main" id="{661D8242-3802-1951-60C9-5849A6F77D42}"/>
              </a:ext>
            </a:extLst>
          </p:cNvPr>
          <p:cNvPicPr>
            <a:picLocks noChangeAspect="1"/>
          </p:cNvPicPr>
          <p:nvPr/>
        </p:nvPicPr>
        <p:blipFill>
          <a:blip r:embed="rId6">
            <a:duotone>
              <a:srgbClr val="765FFF"/>
              <a:srgbClr val="FFFFFF"/>
            </a:duotone>
          </a:blip>
          <a:stretch>
            <a:fillRect/>
          </a:stretch>
        </p:blipFill>
        <p:spPr>
          <a:xfrm>
            <a:off x="4746333" y="1479241"/>
            <a:ext cx="608275" cy="608275"/>
          </a:xfrm>
          <a:prstGeom prst="rect">
            <a:avLst/>
          </a:prstGeom>
        </p:spPr>
      </p:pic>
      <p:pic>
        <p:nvPicPr>
          <p:cNvPr id="23" name="Picture 22">
            <a:hlinkClick r:id="" action="ppaction://noaction"/>
            <a:extLst>
              <a:ext uri="{FF2B5EF4-FFF2-40B4-BE49-F238E27FC236}">
                <a16:creationId xmlns:a16="http://schemas.microsoft.com/office/drawing/2014/main" id="{119A38BA-16B7-B12B-006C-5A7919E0675A}"/>
              </a:ext>
            </a:extLst>
          </p:cNvPr>
          <p:cNvPicPr>
            <a:picLocks noChangeAspect="1"/>
          </p:cNvPicPr>
          <p:nvPr/>
        </p:nvPicPr>
        <p:blipFill>
          <a:blip r:embed="rId7">
            <a:duotone>
              <a:srgbClr val="765FFF"/>
              <a:srgbClr val="FFFFFF"/>
            </a:duotone>
          </a:blip>
          <a:stretch>
            <a:fillRect/>
          </a:stretch>
        </p:blipFill>
        <p:spPr>
          <a:xfrm rot="635590">
            <a:off x="9631344" y="3209547"/>
            <a:ext cx="630679" cy="630679"/>
          </a:xfrm>
          <a:prstGeom prst="rect">
            <a:avLst/>
          </a:prstGeom>
        </p:spPr>
      </p:pic>
      <p:pic>
        <p:nvPicPr>
          <p:cNvPr id="24" name="Graphic 42" descr="Search Inventory outline">
            <a:extLst>
              <a:ext uri="{FF2B5EF4-FFF2-40B4-BE49-F238E27FC236}">
                <a16:creationId xmlns:a16="http://schemas.microsoft.com/office/drawing/2014/main" id="{B84DDECE-5BE4-F59E-7680-DA56595314CC}"/>
              </a:ext>
            </a:extLst>
          </p:cNvPr>
          <p:cNvPicPr>
            <a:picLocks noChangeAspect="1"/>
          </p:cNvPicPr>
          <p:nvPr/>
        </p:nvPicPr>
        <p:blipFill>
          <a:blip r:embed="rId8">
            <a:duotone>
              <a:srgbClr val="765FFF"/>
              <a:srgbClr val="FFFFFF"/>
            </a:duotone>
          </a:blip>
          <a:stretch>
            <a:fillRect/>
          </a:stretch>
        </p:blipFill>
        <p:spPr>
          <a:xfrm>
            <a:off x="7194482" y="3265009"/>
            <a:ext cx="707402" cy="707402"/>
          </a:xfrm>
          <a:prstGeom prst="rect">
            <a:avLst/>
          </a:prstGeom>
        </p:spPr>
      </p:pic>
      <p:sp>
        <p:nvSpPr>
          <p:cNvPr id="25" name="TextBox 24">
            <a:extLst>
              <a:ext uri="{FF2B5EF4-FFF2-40B4-BE49-F238E27FC236}">
                <a16:creationId xmlns:a16="http://schemas.microsoft.com/office/drawing/2014/main" id="{D99BAC47-1A7E-CBFE-BD09-6C6B1C68D99B}"/>
              </a:ext>
            </a:extLst>
          </p:cNvPr>
          <p:cNvSpPr txBox="1"/>
          <p:nvPr/>
        </p:nvSpPr>
        <p:spPr>
          <a:xfrm>
            <a:off x="5680927" y="5958995"/>
            <a:ext cx="1513555" cy="543867"/>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Capability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Beyond Training</a:t>
            </a:r>
          </a:p>
        </p:txBody>
      </p:sp>
      <p:grpSp>
        <p:nvGrpSpPr>
          <p:cNvPr id="26" name="Group 25">
            <a:extLst>
              <a:ext uri="{FF2B5EF4-FFF2-40B4-BE49-F238E27FC236}">
                <a16:creationId xmlns:a16="http://schemas.microsoft.com/office/drawing/2014/main" id="{04BC91A2-2F91-C59D-21F0-D49062D39E7E}"/>
              </a:ext>
            </a:extLst>
          </p:cNvPr>
          <p:cNvGrpSpPr/>
          <p:nvPr/>
        </p:nvGrpSpPr>
        <p:grpSpPr>
          <a:xfrm>
            <a:off x="5889065" y="4835306"/>
            <a:ext cx="1097280" cy="1097280"/>
            <a:chOff x="5889065" y="4692584"/>
            <a:chExt cx="1097280" cy="1097280"/>
          </a:xfrm>
          <a:solidFill>
            <a:schemeClr val="bg2"/>
          </a:solidFill>
        </p:grpSpPr>
        <p:sp>
          <p:nvSpPr>
            <p:cNvPr id="27" name="Oval 26">
              <a:hlinkClick r:id="" action="ppaction://noaction"/>
              <a:extLst>
                <a:ext uri="{FF2B5EF4-FFF2-40B4-BE49-F238E27FC236}">
                  <a16:creationId xmlns:a16="http://schemas.microsoft.com/office/drawing/2014/main" id="{8C0CA07F-9390-EDB3-64EB-77A65E677E70}"/>
                </a:ext>
              </a:extLst>
            </p:cNvPr>
            <p:cNvSpPr/>
            <p:nvPr/>
          </p:nvSpPr>
          <p:spPr>
            <a:xfrm>
              <a:off x="5889065" y="4692584"/>
              <a:ext cx="1097280" cy="10972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pic>
          <p:nvPicPr>
            <p:cNvPr id="28" name="Picture 27" descr="Talent to Value">
              <a:hlinkClick r:id="" action="ppaction://noaction"/>
              <a:extLst>
                <a:ext uri="{FF2B5EF4-FFF2-40B4-BE49-F238E27FC236}">
                  <a16:creationId xmlns:a16="http://schemas.microsoft.com/office/drawing/2014/main" id="{4CD5DA62-CB9E-C3C0-1A9E-CA7F77D45203}"/>
                </a:ext>
              </a:extLst>
            </p:cNvPr>
            <p:cNvPicPr>
              <a:picLocks noChangeAspect="1"/>
            </p:cNvPicPr>
            <p:nvPr/>
          </p:nvPicPr>
          <p:blipFill>
            <a:blip r:embed="rId9">
              <a:duotone>
                <a:srgbClr val="765FFF"/>
                <a:srgbClr val="FFFFFF"/>
              </a:duotone>
            </a:blip>
            <a:stretch>
              <a:fillRect/>
            </a:stretch>
          </p:blipFill>
          <p:spPr>
            <a:xfrm>
              <a:off x="6096000" y="4878176"/>
              <a:ext cx="726095" cy="726095"/>
            </a:xfrm>
            <a:prstGeom prst="rect">
              <a:avLst/>
            </a:prstGeom>
            <a:grpFill/>
          </p:spPr>
        </p:pic>
      </p:grpSp>
      <p:sp>
        <p:nvSpPr>
          <p:cNvPr id="29" name="TextBox 28">
            <a:extLst>
              <a:ext uri="{FF2B5EF4-FFF2-40B4-BE49-F238E27FC236}">
                <a16:creationId xmlns:a16="http://schemas.microsoft.com/office/drawing/2014/main" id="{A594352D-61AF-DCA8-BA8C-662B7E1E7A43}"/>
              </a:ext>
            </a:extLst>
          </p:cNvPr>
          <p:cNvSpPr txBox="1"/>
          <p:nvPr/>
        </p:nvSpPr>
        <p:spPr>
          <a:xfrm>
            <a:off x="8549668" y="6083127"/>
            <a:ext cx="803426" cy="318100"/>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67" spc="-10" dirty="0">
                <a:solidFill>
                  <a:srgbClr val="1D1D1D"/>
                </a:solidFill>
                <a:latin typeface="Arial" pitchFamily="34" charset="0"/>
                <a:ea typeface="Lato Light" panose="020F0502020204030203" pitchFamily="34" charset="0"/>
                <a:cs typeface="Lato Light" panose="020F0502020204030203" pitchFamily="34" charset="0"/>
              </a:rPr>
              <a:t>AI tools</a:t>
            </a:r>
          </a:p>
        </p:txBody>
      </p:sp>
      <p:sp>
        <p:nvSpPr>
          <p:cNvPr id="30" name="Oval 29">
            <a:hlinkClick r:id="" action="ppaction://noaction"/>
            <a:extLst>
              <a:ext uri="{FF2B5EF4-FFF2-40B4-BE49-F238E27FC236}">
                <a16:creationId xmlns:a16="http://schemas.microsoft.com/office/drawing/2014/main" id="{0F829CFA-C769-3486-369D-AEB613348BCC}"/>
              </a:ext>
            </a:extLst>
          </p:cNvPr>
          <p:cNvSpPr/>
          <p:nvPr/>
        </p:nvSpPr>
        <p:spPr>
          <a:xfrm>
            <a:off x="8402741" y="4816716"/>
            <a:ext cx="1097280" cy="109728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pic>
        <p:nvPicPr>
          <p:cNvPr id="31" name="Picture 23" descr="Identify critical roles">
            <a:extLst>
              <a:ext uri="{FF2B5EF4-FFF2-40B4-BE49-F238E27FC236}">
                <a16:creationId xmlns:a16="http://schemas.microsoft.com/office/drawing/2014/main" id="{32F27786-CB5B-EDF5-A8A5-8EC3B6512CCB}"/>
              </a:ext>
            </a:extLst>
          </p:cNvPr>
          <p:cNvPicPr>
            <a:picLocks noChangeAspect="1" noChangeArrowheads="1"/>
          </p:cNvPicPr>
          <p:nvPr/>
        </p:nvPicPr>
        <p:blipFill>
          <a:blip r:embed="rId10">
            <a:duotone>
              <a:srgbClr val="765FFF"/>
              <a:srgbClr val="FFFFFF"/>
            </a:duotone>
          </a:blip>
          <a:srcRect/>
          <a:stretch>
            <a:fillRect/>
          </a:stretch>
        </p:blipFill>
        <p:spPr bwMode="auto">
          <a:xfrm>
            <a:off x="8363068" y="4768366"/>
            <a:ext cx="1176625" cy="1134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31579216-D77D-43FF-74FC-BDAC36A31FD2}"/>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26063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27356-BF48-D346-C4BD-B2F64296A95E}"/>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2A0C249-43E2-511C-1342-B52ABEE4DB7A}"/>
              </a:ext>
            </a:extLst>
          </p:cNvPr>
          <p:cNvSpPr txBox="1">
            <a:spLocks noGrp="1"/>
          </p:cNvSpPr>
          <p:nvPr>
            <p:ph type="title"/>
          </p:nvPr>
        </p:nvSpPr>
        <p:spPr>
          <a:noFill/>
        </p:spPr>
        <p:txBody>
          <a:bodyPr/>
          <a:lstStyle/>
          <a:p>
            <a:pPr>
              <a:buNone/>
            </a:pPr>
            <a:r>
              <a:rPr lang="en-US"/>
              <a:t>Succession for Value</a:t>
            </a:r>
          </a:p>
        </p:txBody>
      </p:sp>
    </p:spTree>
    <p:extLst>
      <p:ext uri="{BB962C8B-B14F-4D97-AF65-F5344CB8AC3E}">
        <p14:creationId xmlns:p14="http://schemas.microsoft.com/office/powerpoint/2010/main" val="1351004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C9C102-D862-C838-186F-52AF1B262205}"/>
              </a:ext>
            </a:extLst>
          </p:cNvPr>
          <p:cNvSpPr>
            <a:spLocks noGrp="1"/>
          </p:cNvSpPr>
          <p:nvPr>
            <p:ph type="sldNum" sz="quarter" idx="4"/>
          </p:nvPr>
        </p:nvSpPr>
        <p:spPr/>
        <p:txBody>
          <a:bodyPr/>
          <a:lstStyle/>
          <a:p>
            <a:pPr algn="ctr"/>
            <a:fld id="{1875A764-3B06-454E-8ABA-2F6ED0EB58E9}" type="slidenum">
              <a:rPr lang="en-US" smtClean="0"/>
              <a:t>6</a:t>
            </a:fld>
            <a:endParaRPr lang="en-US"/>
          </a:p>
        </p:txBody>
      </p:sp>
      <p:sp>
        <p:nvSpPr>
          <p:cNvPr id="2" name="Title 1">
            <a:extLst>
              <a:ext uri="{FF2B5EF4-FFF2-40B4-BE49-F238E27FC236}">
                <a16:creationId xmlns:a16="http://schemas.microsoft.com/office/drawing/2014/main" id="{1663EEA5-9124-6C1D-8EF6-7C4B22B6975C}"/>
              </a:ext>
            </a:extLst>
          </p:cNvPr>
          <p:cNvSpPr>
            <a:spLocks noGrp="1"/>
          </p:cNvSpPr>
          <p:nvPr>
            <p:ph type="title"/>
          </p:nvPr>
        </p:nvSpPr>
        <p:spPr/>
        <p:txBody>
          <a:bodyPr/>
          <a:lstStyle/>
          <a:p>
            <a:r>
              <a:rPr lang="en-US" spc="-25" dirty="0">
                <a:solidFill>
                  <a:srgbClr val="765FFF"/>
                </a:solidFill>
                <a:ea typeface="Helvetica Neue" panose="02000503000000020004" pitchFamily="2" charset="0"/>
                <a:cs typeface="Helvetica Neue" panose="02000503000000020004" pitchFamily="2" charset="0"/>
              </a:rPr>
              <a:t>Succession</a:t>
            </a:r>
            <a:r>
              <a:rPr lang="en-US" spc="-25" dirty="0">
                <a:ea typeface="Helvetica Neue" panose="02000503000000020004" pitchFamily="2" charset="0"/>
                <a:cs typeface="Helvetica Neue" panose="02000503000000020004" pitchFamily="2" charset="0"/>
              </a:rPr>
              <a:t> for Value™</a:t>
            </a:r>
            <a:endParaRPr lang="en-US" dirty="0"/>
          </a:p>
        </p:txBody>
      </p:sp>
      <p:grpSp>
        <p:nvGrpSpPr>
          <p:cNvPr id="5" name="Group 4">
            <a:extLst>
              <a:ext uri="{FF2B5EF4-FFF2-40B4-BE49-F238E27FC236}">
                <a16:creationId xmlns:a16="http://schemas.microsoft.com/office/drawing/2014/main" id="{331D7A47-D42D-ADD4-8968-388EB08E4A07}"/>
              </a:ext>
            </a:extLst>
          </p:cNvPr>
          <p:cNvGrpSpPr/>
          <p:nvPr/>
        </p:nvGrpSpPr>
        <p:grpSpPr>
          <a:xfrm>
            <a:off x="1295935" y="1530777"/>
            <a:ext cx="2236467" cy="4566215"/>
            <a:chOff x="1250531" y="1217945"/>
            <a:chExt cx="2236467" cy="4566215"/>
          </a:xfrm>
        </p:grpSpPr>
        <p:sp>
          <p:nvSpPr>
            <p:cNvPr id="6" name="TextBox 5">
              <a:extLst>
                <a:ext uri="{FF2B5EF4-FFF2-40B4-BE49-F238E27FC236}">
                  <a16:creationId xmlns:a16="http://schemas.microsoft.com/office/drawing/2014/main" id="{0E3AD1C8-29DB-5B7B-273C-504262F545FA}"/>
                </a:ext>
              </a:extLst>
            </p:cNvPr>
            <p:cNvSpPr txBox="1"/>
            <p:nvPr/>
          </p:nvSpPr>
          <p:spPr>
            <a:xfrm>
              <a:off x="1250531" y="4560028"/>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Role 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7" name="TextBox 6">
              <a:extLst>
                <a:ext uri="{FF2B5EF4-FFF2-40B4-BE49-F238E27FC236}">
                  <a16:creationId xmlns:a16="http://schemas.microsoft.com/office/drawing/2014/main" id="{E1CCE33F-F2A9-895C-509D-D48188C0115A}"/>
                </a:ext>
              </a:extLst>
            </p:cNvPr>
            <p:cNvSpPr txBox="1"/>
            <p:nvPr/>
          </p:nvSpPr>
          <p:spPr>
            <a:xfrm>
              <a:off x="1281661" y="1217945"/>
              <a:ext cx="2189619" cy="688342"/>
            </a:xfrm>
            <a:prstGeom prst="rect">
              <a:avLst/>
            </a:prstGeom>
            <a:noFill/>
          </p:spPr>
          <p:txBody>
            <a:bodyPr wrap="square" lIns="91440" tIns="45720" rIns="91440" bIns="45720" anchor="t">
              <a:noAutofit/>
            </a:bodyPr>
            <a:lstStyle/>
            <a:p>
              <a:pPr algn="ctr" defTabSz="914377">
                <a:lnSpc>
                  <a:spcPct val="120000"/>
                </a:lnSpc>
                <a:defRPr b="1" spc="-25">
                  <a:latin typeface="Segoe UI" pitchFamily="34" charset="0"/>
                </a:defRPr>
              </a:pPr>
              <a:r>
                <a:rPr lang="en-US" sz="1600" b="1" spc="-25" dirty="0">
                  <a:solidFill>
                    <a:srgbClr val="1D1D1D"/>
                  </a:solidFill>
                  <a:latin typeface="Segoe UI" pitchFamily="34" charset="0"/>
                  <a:ea typeface="Helvetica Neue" panose="02000503000000020004" pitchFamily="2" charset="0"/>
                  <a:cs typeface="Helvetica Neue" panose="02000503000000020004" pitchFamily="2" charset="0"/>
                </a:rPr>
                <a:t>/</a:t>
              </a:r>
              <a:r>
                <a:rPr lang="en-US" sz="1600" b="1" spc="-25" dirty="0">
                  <a:solidFill>
                    <a:schemeClr val="accent1"/>
                  </a:solidFill>
                  <a:latin typeface="Segoe UI" pitchFamily="34" charset="0"/>
                  <a:ea typeface="Helvetica Neue" panose="02000503000000020004" pitchFamily="2" charset="0"/>
                  <a:cs typeface="Helvetica Neue" panose="02000503000000020004" pitchFamily="2" charset="0"/>
                </a:rPr>
                <a:t>DEFINE</a:t>
              </a:r>
              <a:r>
                <a:rPr lang="en-US" sz="1600" b="1" spc="-25" dirty="0">
                  <a:solidFill>
                    <a:srgbClr val="1D1D1D"/>
                  </a:solidFill>
                  <a:latin typeface="Segoe UI" pitchFamily="34" charset="0"/>
                  <a:ea typeface="Helvetica Neue" panose="02000503000000020004" pitchFamily="2" charset="0"/>
                  <a:cs typeface="Helvetica Neue" panose="02000503000000020004" pitchFamily="2" charset="0"/>
                </a:rPr>
                <a:t> </a:t>
              </a:r>
              <a:r>
                <a:rPr kumimoji="0" lang="en-US" sz="14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succession criteria for the future</a:t>
              </a:r>
            </a:p>
          </p:txBody>
        </p:sp>
        <p:grpSp>
          <p:nvGrpSpPr>
            <p:cNvPr id="8" name="Group 7">
              <a:extLst>
                <a:ext uri="{FF2B5EF4-FFF2-40B4-BE49-F238E27FC236}">
                  <a16:creationId xmlns:a16="http://schemas.microsoft.com/office/drawing/2014/main" id="{8E9DA7AE-1396-39BA-B0D0-3CE26197D431}"/>
                </a:ext>
              </a:extLst>
            </p:cNvPr>
            <p:cNvGrpSpPr/>
            <p:nvPr/>
          </p:nvGrpSpPr>
          <p:grpSpPr>
            <a:xfrm>
              <a:off x="1575884" y="2666411"/>
              <a:ext cx="1591098" cy="1591098"/>
              <a:chOff x="3506617" y="2730959"/>
              <a:chExt cx="1591098" cy="1591098"/>
            </a:xfrm>
          </p:grpSpPr>
          <p:sp>
            <p:nvSpPr>
              <p:cNvPr id="9" name="Rectangle: Rounded Corners 39">
                <a:extLst>
                  <a:ext uri="{FF2B5EF4-FFF2-40B4-BE49-F238E27FC236}">
                    <a16:creationId xmlns:a16="http://schemas.microsoft.com/office/drawing/2014/main" id="{FF39671C-8BC0-EA2A-4B69-A9E5F8C7DFAF}"/>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F633D73D-3199-1CE3-EE66-7A13B70D3494}"/>
                  </a:ext>
                </a:extLst>
              </p:cNvPr>
              <p:cNvSpPr/>
              <p:nvPr/>
            </p:nvSpPr>
            <p:spPr>
              <a:xfrm>
                <a:off x="3567979" y="2792321"/>
                <a:ext cx="1463040" cy="1463040"/>
              </a:xfrm>
              <a:prstGeom prst="roundRect">
                <a:avLst/>
              </a:prstGeom>
              <a:solidFill>
                <a:srgbClr val="F2F2F2"/>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3A5ADD1E-D407-8EDA-B56E-CBA0091333F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grpSp>
        <p:nvGrpSpPr>
          <p:cNvPr id="12" name="Group 11">
            <a:extLst>
              <a:ext uri="{FF2B5EF4-FFF2-40B4-BE49-F238E27FC236}">
                <a16:creationId xmlns:a16="http://schemas.microsoft.com/office/drawing/2014/main" id="{84C3C8C8-1103-C700-96CE-8565678829BA}"/>
              </a:ext>
            </a:extLst>
          </p:cNvPr>
          <p:cNvGrpSpPr/>
          <p:nvPr/>
        </p:nvGrpSpPr>
        <p:grpSpPr>
          <a:xfrm>
            <a:off x="8545175" y="1543164"/>
            <a:ext cx="2236467" cy="4553827"/>
            <a:chOff x="8701221" y="1230332"/>
            <a:chExt cx="2236467" cy="4553827"/>
          </a:xfrm>
        </p:grpSpPr>
        <p:sp>
          <p:nvSpPr>
            <p:cNvPr id="13" name="TextBox 12">
              <a:extLst>
                <a:ext uri="{FF2B5EF4-FFF2-40B4-BE49-F238E27FC236}">
                  <a16:creationId xmlns:a16="http://schemas.microsoft.com/office/drawing/2014/main" id="{FE2949EC-B641-24E5-71A8-787D50BA59EE}"/>
                </a:ext>
              </a:extLst>
            </p:cNvPr>
            <p:cNvSpPr txBox="1"/>
            <p:nvPr/>
          </p:nvSpPr>
          <p:spPr>
            <a:xfrm>
              <a:off x="8701221" y="4560026"/>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Mobilization Plan</a:t>
              </a:r>
              <a:br>
                <a:rPr lang="en-US" sz="1400" spc="-10">
                  <a:highlight>
                    <a:srgbClr val="FFB547"/>
                  </a:highlight>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14" name="TextBox 13">
              <a:extLst>
                <a:ext uri="{FF2B5EF4-FFF2-40B4-BE49-F238E27FC236}">
                  <a16:creationId xmlns:a16="http://schemas.microsoft.com/office/drawing/2014/main" id="{9F21299F-8D8A-8CE7-6232-96DE288E3058}"/>
                </a:ext>
              </a:extLst>
            </p:cNvPr>
            <p:cNvSpPr txBox="1"/>
            <p:nvPr/>
          </p:nvSpPr>
          <p:spPr>
            <a:xfrm>
              <a:off x="8728423" y="1230332"/>
              <a:ext cx="2189619" cy="688342"/>
            </a:xfrm>
            <a:prstGeom prst="rect">
              <a:avLst/>
            </a:prstGeom>
            <a:noFill/>
          </p:spPr>
          <p:txBody>
            <a:bodyPr wrap="square" lIns="91440" tIns="45720" rIns="91440" bIns="45720" anchor="t">
              <a:noAutofit/>
            </a:bodyPr>
            <a:lstStyle/>
            <a:p>
              <a:pPr algn="ctr" defTabSz="914377">
                <a:lnSpc>
                  <a:spcPct val="120000"/>
                </a:lnSpc>
                <a:defRPr b="1" spc="-25">
                  <a:latin typeface="Segoe UI" pitchFamily="34" charset="0"/>
                </a:defRPr>
              </a:pPr>
              <a:r>
                <a:rPr kumimoji="0" lang="en-US" sz="16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a:t>
              </a:r>
              <a:r>
                <a:rPr kumimoji="0" lang="en-US" sz="1600" b="1" i="0" u="none" strike="noStrike" kern="1200" cap="none" spc="-25"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MOBILIZE</a:t>
              </a:r>
              <a:r>
                <a:rPr kumimoji="0" lang="en-US" sz="14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 succession readiness</a:t>
              </a:r>
            </a:p>
          </p:txBody>
        </p:sp>
        <p:grpSp>
          <p:nvGrpSpPr>
            <p:cNvPr id="15" name="Group 14">
              <a:extLst>
                <a:ext uri="{FF2B5EF4-FFF2-40B4-BE49-F238E27FC236}">
                  <a16:creationId xmlns:a16="http://schemas.microsoft.com/office/drawing/2014/main" id="{800B5193-0740-6514-3CBA-95CD2E63E7AD}"/>
                </a:ext>
              </a:extLst>
            </p:cNvPr>
            <p:cNvGrpSpPr/>
            <p:nvPr/>
          </p:nvGrpSpPr>
          <p:grpSpPr>
            <a:xfrm>
              <a:off x="9030355" y="2696428"/>
              <a:ext cx="1591098" cy="1591098"/>
              <a:chOff x="9350370" y="2760976"/>
              <a:chExt cx="1591098" cy="1591098"/>
            </a:xfrm>
          </p:grpSpPr>
          <p:sp>
            <p:nvSpPr>
              <p:cNvPr id="17" name="Rectangle: Rounded Corners 39">
                <a:extLst>
                  <a:ext uri="{FF2B5EF4-FFF2-40B4-BE49-F238E27FC236}">
                    <a16:creationId xmlns:a16="http://schemas.microsoft.com/office/drawing/2014/main" id="{DE6A008F-4A77-536A-BAA5-EF665CD74B4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3FB9CFA3-BB78-BBB5-57D7-592FE1DB6FB5}"/>
                  </a:ext>
                </a:extLst>
              </p:cNvPr>
              <p:cNvSpPr/>
              <p:nvPr/>
            </p:nvSpPr>
            <p:spPr>
              <a:xfrm>
                <a:off x="9411732" y="2818808"/>
                <a:ext cx="1463040" cy="1463040"/>
              </a:xfrm>
              <a:prstGeom prst="roundRect">
                <a:avLst/>
              </a:prstGeom>
              <a:solidFill>
                <a:srgbClr val="F2F2F2"/>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6" name="Picture 51" descr="Map with pin with solid fill">
              <a:extLst>
                <a:ext uri="{FF2B5EF4-FFF2-40B4-BE49-F238E27FC236}">
                  <a16:creationId xmlns:a16="http://schemas.microsoft.com/office/drawing/2014/main" id="{59F04FE1-7EAC-03FE-A6D6-97DAB30F2338}"/>
                </a:ext>
              </a:extLst>
            </p:cNvPr>
            <p:cNvPicPr>
              <a:picLocks noChangeAspect="1"/>
            </p:cNvPicPr>
            <p:nvPr/>
          </p:nvPicPr>
          <p:blipFill>
            <a:blip r:embed="rId3">
              <a:duotone>
                <a:srgbClr val="765FFF"/>
                <a:srgbClr val="FFFFFF"/>
              </a:duotone>
            </a:blip>
            <a:srcRect/>
            <a:stretch/>
          </p:blipFill>
          <p:spPr>
            <a:xfrm>
              <a:off x="9343233" y="2972651"/>
              <a:ext cx="960000" cy="960000"/>
            </a:xfrm>
            <a:prstGeom prst="rect">
              <a:avLst/>
            </a:prstGeom>
            <a:effectLst>
              <a:outerShdw blurRad="50800" dist="38100" dir="2700000" algn="tl" rotWithShape="0">
                <a:prstClr val="black">
                  <a:alpha val="40000"/>
                </a:prstClr>
              </a:outerShdw>
            </a:effectLst>
          </p:spPr>
        </p:pic>
      </p:grpSp>
      <p:grpSp>
        <p:nvGrpSpPr>
          <p:cNvPr id="19" name="Group 18">
            <a:extLst>
              <a:ext uri="{FF2B5EF4-FFF2-40B4-BE49-F238E27FC236}">
                <a16:creationId xmlns:a16="http://schemas.microsoft.com/office/drawing/2014/main" id="{90653D21-7C91-B4E6-6FDB-8A8840267E5F}"/>
              </a:ext>
            </a:extLst>
          </p:cNvPr>
          <p:cNvGrpSpPr/>
          <p:nvPr/>
        </p:nvGrpSpPr>
        <p:grpSpPr>
          <a:xfrm>
            <a:off x="4851197" y="1549435"/>
            <a:ext cx="2497872" cy="4547557"/>
            <a:chOff x="6075713" y="1236603"/>
            <a:chExt cx="2497872" cy="4547557"/>
          </a:xfrm>
        </p:grpSpPr>
        <p:sp>
          <p:nvSpPr>
            <p:cNvPr id="20" name="TextBox 19">
              <a:extLst>
                <a:ext uri="{FF2B5EF4-FFF2-40B4-BE49-F238E27FC236}">
                  <a16:creationId xmlns:a16="http://schemas.microsoft.com/office/drawing/2014/main" id="{39B328B2-1540-86ED-037A-1631A755443E}"/>
                </a:ext>
              </a:extLst>
            </p:cNvPr>
            <p:cNvSpPr txBox="1"/>
            <p:nvPr/>
          </p:nvSpPr>
          <p:spPr>
            <a:xfrm>
              <a:off x="6075713" y="4560027"/>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1" name="TextBox 20">
              <a:extLst>
                <a:ext uri="{FF2B5EF4-FFF2-40B4-BE49-F238E27FC236}">
                  <a16:creationId xmlns:a16="http://schemas.microsoft.com/office/drawing/2014/main" id="{D1AD32D4-3807-04C9-8626-8A3EFFFF5AE7}"/>
                </a:ext>
              </a:extLst>
            </p:cNvPr>
            <p:cNvSpPr txBox="1"/>
            <p:nvPr/>
          </p:nvSpPr>
          <p:spPr>
            <a:xfrm>
              <a:off x="6234602" y="1236603"/>
              <a:ext cx="2189619" cy="647889"/>
            </a:xfrm>
            <a:prstGeom prst="rect">
              <a:avLst/>
            </a:prstGeom>
            <a:noFill/>
          </p:spPr>
          <p:txBody>
            <a:bodyPr wrap="square" lIns="91440" tIns="45720" rIns="91440" bIns="45720" anchor="t">
              <a:noAutofit/>
            </a:bodyPr>
            <a:lstStyle/>
            <a:p>
              <a:pPr algn="ctr" defTabSz="914377">
                <a:lnSpc>
                  <a:spcPct val="120000"/>
                </a:lnSpc>
                <a:defRPr b="1" spc="-25">
                  <a:latin typeface="Segoe UI" pitchFamily="34" charset="0"/>
                </a:defRPr>
              </a:pPr>
              <a:r>
                <a:rPr kumimoji="0" lang="en-US" sz="16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a:t>
              </a:r>
              <a:r>
                <a:rPr kumimoji="0" lang="en-US" sz="1600" b="1" i="0" u="none" strike="noStrike" kern="1200" cap="none" spc="-25"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ASSESS</a:t>
              </a:r>
              <a:r>
                <a:rPr kumimoji="0" lang="en-US" sz="14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 succession readiness</a:t>
              </a:r>
            </a:p>
          </p:txBody>
        </p:sp>
        <p:grpSp>
          <p:nvGrpSpPr>
            <p:cNvPr id="22" name="Group 21">
              <a:extLst>
                <a:ext uri="{FF2B5EF4-FFF2-40B4-BE49-F238E27FC236}">
                  <a16:creationId xmlns:a16="http://schemas.microsoft.com/office/drawing/2014/main" id="{BE4C4431-DFAC-C628-5725-612F9C5741A2}"/>
                </a:ext>
              </a:extLst>
            </p:cNvPr>
            <p:cNvGrpSpPr/>
            <p:nvPr/>
          </p:nvGrpSpPr>
          <p:grpSpPr>
            <a:xfrm>
              <a:off x="6527636" y="2696428"/>
              <a:ext cx="1591098" cy="1591098"/>
              <a:chOff x="6428492" y="2760976"/>
              <a:chExt cx="1591098" cy="1591098"/>
            </a:xfrm>
          </p:grpSpPr>
          <p:sp>
            <p:nvSpPr>
              <p:cNvPr id="24" name="Rectangle: Rounded Corners 39">
                <a:extLst>
                  <a:ext uri="{FF2B5EF4-FFF2-40B4-BE49-F238E27FC236}">
                    <a16:creationId xmlns:a16="http://schemas.microsoft.com/office/drawing/2014/main" id="{A74E7D6A-81D8-168B-F05A-9BE6AD924A9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C21F508A-E6B4-BBF6-D609-32AFB3A7ED6C}"/>
                  </a:ext>
                </a:extLst>
              </p:cNvPr>
              <p:cNvSpPr/>
              <p:nvPr/>
            </p:nvSpPr>
            <p:spPr>
              <a:xfrm>
                <a:off x="6489854" y="2818808"/>
                <a:ext cx="1463040" cy="1463040"/>
              </a:xfrm>
              <a:prstGeom prst="roundRect">
                <a:avLst/>
              </a:prstGeom>
              <a:solidFill>
                <a:srgbClr val="F2F2F2"/>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42" descr="Target Audience with solid fill">
              <a:extLst>
                <a:ext uri="{FF2B5EF4-FFF2-40B4-BE49-F238E27FC236}">
                  <a16:creationId xmlns:a16="http://schemas.microsoft.com/office/drawing/2014/main" id="{D82CE9DD-5B71-8D29-B38F-39D12DD6F049}"/>
                </a:ext>
              </a:extLst>
            </p:cNvPr>
            <p:cNvPicPr>
              <a:picLocks noChangeAspect="1"/>
            </p:cNvPicPr>
            <p:nvPr/>
          </p:nvPicPr>
          <p:blipFill>
            <a:blip r:embed="rId4">
              <a:duotone>
                <a:srgbClr val="765FFF"/>
                <a:srgbClr val="FFFFFF"/>
              </a:duotone>
            </a:blip>
            <a:srcRect/>
            <a:stretch/>
          </p:blipFill>
          <p:spPr>
            <a:xfrm>
              <a:off x="6874934" y="3042868"/>
              <a:ext cx="914400" cy="914400"/>
            </a:xfrm>
            <a:prstGeom prst="rect">
              <a:avLst/>
            </a:prstGeom>
            <a:effectLst>
              <a:outerShdw blurRad="50800" dist="38100" dir="2700000" algn="tl" rotWithShape="0">
                <a:prstClr val="black">
                  <a:alpha val="40000"/>
                </a:prstClr>
              </a:outerShdw>
            </a:effectLst>
          </p:spPr>
        </p:pic>
      </p:grpSp>
      <p:sp>
        <p:nvSpPr>
          <p:cNvPr id="26" name="TextBox 25">
            <a:extLst>
              <a:ext uri="{FF2B5EF4-FFF2-40B4-BE49-F238E27FC236}">
                <a16:creationId xmlns:a16="http://schemas.microsoft.com/office/drawing/2014/main" id="{5D9C8B07-A945-350A-CACB-F94665CF82F6}"/>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TextBox 26">
            <a:extLst>
              <a:ext uri="{FF2B5EF4-FFF2-40B4-BE49-F238E27FC236}">
                <a16:creationId xmlns:a16="http://schemas.microsoft.com/office/drawing/2014/main" id="{7C2E777A-DAC5-925F-5A63-C6A5C0A3D9C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How many moves away?</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TextBox 27">
            <a:extLst>
              <a:ext uri="{FF2B5EF4-FFF2-40B4-BE49-F238E27FC236}">
                <a16:creationId xmlns:a16="http://schemas.microsoft.com/office/drawing/2014/main" id="{5389C4DE-3D47-183C-4A98-143B245CE296}"/>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TextBox 28">
            <a:extLst>
              <a:ext uri="{FF2B5EF4-FFF2-40B4-BE49-F238E27FC236}">
                <a16:creationId xmlns:a16="http://schemas.microsoft.com/office/drawing/2014/main" id="{FA34BBBF-872A-5807-4DA8-22BB4A18082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41788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C143BE2B-D83A-4933-CFCF-820B71921A92}"/>
              </a:ext>
            </a:extLst>
          </p:cNvPr>
          <p:cNvSpPr>
            <a:spLocks noGrp="1"/>
          </p:cNvSpPr>
          <p:nvPr>
            <p:ph type="title"/>
          </p:nvPr>
        </p:nvSpPr>
        <p:spPr/>
        <p:txBody>
          <a:bodyPr/>
          <a:lstStyle/>
          <a:p>
            <a:r>
              <a:rPr lang="en-US" spc="-25" dirty="0">
                <a:ea typeface="Helvetica Neue Medium" panose="02000503000000020004" pitchFamily="2" charset="0"/>
                <a:cs typeface="Helvetica Neue Light" panose="020B0604020202020204" charset="0"/>
                <a:sym typeface="Helvetica Neue Light"/>
              </a:rPr>
              <a:t>Future Jobs to Be Done &amp; Risks</a:t>
            </a:r>
            <a:endParaRPr lang="en-US" dirty="0"/>
          </a:p>
        </p:txBody>
      </p:sp>
      <p:sp>
        <p:nvSpPr>
          <p:cNvPr id="21" name="Text Placeholder 20">
            <a:extLst>
              <a:ext uri="{FF2B5EF4-FFF2-40B4-BE49-F238E27FC236}">
                <a16:creationId xmlns:a16="http://schemas.microsoft.com/office/drawing/2014/main" id="{3290FEFD-10EB-5045-778A-CAE26C538A1E}"/>
              </a:ext>
            </a:extLst>
          </p:cNvPr>
          <p:cNvSpPr>
            <a:spLocks noGrp="1"/>
          </p:cNvSpPr>
          <p:nvPr>
            <p:ph type="body" sz="quarter" idx="12"/>
          </p:nvPr>
        </p:nvSpPr>
        <p:spPr/>
        <p:txBody>
          <a:bodyPr/>
          <a:lstStyle/>
          <a:p>
            <a:r>
              <a:rPr lang="en-US" spc="-10" dirty="0">
                <a:ea typeface="Helvetica Neue Medium" panose="02000503000000020004" pitchFamily="2" charset="0"/>
                <a:cs typeface="Helvetica Neue Light" panose="020B0604020202020204" charset="0"/>
                <a:sym typeface="Helvetica Neue Light"/>
              </a:rPr>
              <a:t>Chief Digital Officer</a:t>
            </a:r>
            <a:endParaRPr lang="en-US" spc="-10" dirty="0"/>
          </a:p>
          <a:p>
            <a:endParaRPr lang="en-US" dirty="0"/>
          </a:p>
        </p:txBody>
      </p:sp>
      <p:sp>
        <p:nvSpPr>
          <p:cNvPr id="4" name="Slide Number Placeholder 3">
            <a:extLst>
              <a:ext uri="{FF2B5EF4-FFF2-40B4-BE49-F238E27FC236}">
                <a16:creationId xmlns:a16="http://schemas.microsoft.com/office/drawing/2014/main" id="{7BB87254-4BCB-CFBC-2F8B-D05AE538DF66}"/>
              </a:ext>
            </a:extLst>
          </p:cNvPr>
          <p:cNvSpPr>
            <a:spLocks noGrp="1"/>
          </p:cNvSpPr>
          <p:nvPr>
            <p:ph type="sldNum" sz="quarter" idx="4"/>
          </p:nvPr>
        </p:nvSpPr>
        <p:spPr/>
        <p:txBody>
          <a:bodyPr/>
          <a:lstStyle/>
          <a:p>
            <a:pPr algn="ctr"/>
            <a:fld id="{1875A764-3B06-454E-8ABA-2F6ED0EB58E9}" type="slidenum">
              <a:rPr lang="en-US" smtClean="0"/>
              <a:t>7</a:t>
            </a:fld>
            <a:endParaRPr lang="en-US"/>
          </a:p>
        </p:txBody>
      </p:sp>
      <p:pic>
        <p:nvPicPr>
          <p:cNvPr id="5" name="Picture 4">
            <a:extLst>
              <a:ext uri="{FF2B5EF4-FFF2-40B4-BE49-F238E27FC236}">
                <a16:creationId xmlns:a16="http://schemas.microsoft.com/office/drawing/2014/main" id="{277FF2F7-DB2D-CCBA-8082-7F73D3855A6E}"/>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771525" y="1665990"/>
            <a:ext cx="7905423" cy="3251382"/>
          </a:xfrm>
          <a:prstGeom prst="rect">
            <a:avLst/>
          </a:prstGeom>
        </p:spPr>
      </p:pic>
      <p:graphicFrame>
        <p:nvGraphicFramePr>
          <p:cNvPr id="6" name="Table 5">
            <a:extLst>
              <a:ext uri="{FF2B5EF4-FFF2-40B4-BE49-F238E27FC236}">
                <a16:creationId xmlns:a16="http://schemas.microsoft.com/office/drawing/2014/main" id="{0184FD66-3046-216D-D88E-5066A8ABE732}"/>
              </a:ext>
            </a:extLst>
          </p:cNvPr>
          <p:cNvGraphicFramePr>
            <a:graphicFrameLocks noGrp="1"/>
          </p:cNvGraphicFramePr>
          <p:nvPr>
            <p:extLst>
              <p:ext uri="{D42A27DB-BD31-4B8C-83A1-F6EECF244321}">
                <p14:modId xmlns:p14="http://schemas.microsoft.com/office/powerpoint/2010/main" val="1516780577"/>
              </p:ext>
            </p:extLst>
          </p:nvPr>
        </p:nvGraphicFramePr>
        <p:xfrm>
          <a:off x="8792842" y="1665990"/>
          <a:ext cx="2430585" cy="3304764"/>
        </p:xfrm>
        <a:graphic>
          <a:graphicData uri="http://schemas.openxmlformats.org/drawingml/2006/table">
            <a:tbl>
              <a:tblPr firstRow="1" bandRow="1">
                <a:tableStyleId>{69012ECD-51FC-41F1-AA8D-1B2483CD663E}</a:tableStyleId>
              </a:tblPr>
              <a:tblGrid>
                <a:gridCol w="617858">
                  <a:extLst>
                    <a:ext uri="{9D8B030D-6E8A-4147-A177-3AD203B41FA5}">
                      <a16:colId xmlns:a16="http://schemas.microsoft.com/office/drawing/2014/main" val="4239815243"/>
                    </a:ext>
                  </a:extLst>
                </a:gridCol>
                <a:gridCol w="1812727">
                  <a:extLst>
                    <a:ext uri="{9D8B030D-6E8A-4147-A177-3AD203B41FA5}">
                      <a16:colId xmlns:a16="http://schemas.microsoft.com/office/drawing/2014/main" val="1810648732"/>
                    </a:ext>
                  </a:extLst>
                </a:gridCol>
              </a:tblGrid>
              <a:tr h="327702">
                <a:tc gridSpan="2">
                  <a:txBody>
                    <a:bodyPr/>
                    <a:lstStyle/>
                    <a:p>
                      <a:r>
                        <a:rPr lang="en-GB" sz="1200" b="1" dirty="0">
                          <a:solidFill>
                            <a:srgbClr val="FFFFFF"/>
                          </a:solidFill>
                        </a:rPr>
                        <a:t>Superpowers</a:t>
                      </a:r>
                      <a:endParaRPr lang="en-GB" sz="1200" b="1" dirty="0">
                        <a:solidFill>
                          <a:srgbClr val="FFFFFF"/>
                        </a:solidFill>
                        <a:latin typeface="Arial" pitchFamily="34" charset="0"/>
                      </a:endParaRPr>
                    </a:p>
                  </a:txBody>
                  <a:tcPr anchor="ctr">
                    <a:lnL w="6350" cap="flat" cmpd="sng" algn="ctr">
                      <a:solidFill>
                        <a:srgbClr val="917FFF"/>
                      </a:solidFill>
                      <a:prstDash val="solid"/>
                      <a:round/>
                      <a:headEnd type="none" w="med" len="med"/>
                      <a:tailEnd type="none" w="med" len="med"/>
                    </a:lnL>
                    <a:lnR w="6350" cap="flat" cmpd="sng" algn="ctr">
                      <a:solidFill>
                        <a:srgbClr val="917FFF"/>
                      </a:solidFill>
                      <a:prstDash val="solid"/>
                      <a:round/>
                      <a:headEnd type="none" w="med" len="med"/>
                      <a:tailEnd type="none" w="med" len="med"/>
                    </a:lnR>
                    <a:lnT w="6350" cap="flat" cmpd="sng" algn="ctr">
                      <a:solidFill>
                        <a:srgbClr val="917FFF"/>
                      </a:solidFill>
                      <a:prstDash val="solid"/>
                      <a:round/>
                      <a:headEnd type="none" w="med" len="med"/>
                      <a:tailEnd type="none" w="med" len="med"/>
                    </a:lnT>
                    <a:lnB w="6350" cap="flat" cmpd="sng" algn="ctr">
                      <a:solidFill>
                        <a:srgbClr val="917FFF"/>
                      </a:solidFill>
                      <a:prstDash val="solid"/>
                      <a:round/>
                      <a:headEnd type="none" w="med" len="med"/>
                      <a:tailEnd type="none" w="med" len="med"/>
                    </a:lnB>
                    <a:solidFill>
                      <a:srgbClr val="6756D3"/>
                    </a:solidFill>
                  </a:tcPr>
                </a:tc>
                <a:tc hMerge="1">
                  <a:txBody>
                    <a:bodyPr/>
                    <a:lstStyle/>
                    <a:p>
                      <a:endParaRPr lang="en-GB" sz="1200"/>
                    </a:p>
                  </a:txBody>
                  <a:tcPr>
                    <a:solidFill>
                      <a:srgbClr val="281A42"/>
                    </a:solidFill>
                  </a:tcPr>
                </a:tc>
                <a:extLst>
                  <a:ext uri="{0D108BD9-81ED-4DB2-BD59-A6C34878D82A}">
                    <a16:rowId xmlns:a16="http://schemas.microsoft.com/office/drawing/2014/main" val="1223749548"/>
                  </a:ext>
                </a:extLst>
              </a:tr>
              <a:tr h="1320800">
                <a:tc>
                  <a:txBody>
                    <a:bodyPr/>
                    <a:lstStyle/>
                    <a:p>
                      <a:r>
                        <a:rPr lang="en-GB" sz="1300" b="1" dirty="0">
                          <a:solidFill>
                            <a:schemeClr val="accent1"/>
                          </a:solidFill>
                        </a:rPr>
                        <a:t>SP 1</a:t>
                      </a:r>
                    </a:p>
                  </a:txBody>
                  <a:tcPr anchor="ctr">
                    <a:lnL w="6350" cap="flat" cmpd="sng" algn="ctr">
                      <a:solidFill>
                        <a:srgbClr val="917FFF"/>
                      </a:solidFill>
                      <a:prstDash val="solid"/>
                      <a:round/>
                      <a:headEnd type="none" w="med" len="med"/>
                      <a:tailEnd type="none" w="med" len="med"/>
                    </a:lnL>
                    <a:lnR w="6350" cap="flat" cmpd="sng" algn="ctr">
                      <a:solidFill>
                        <a:srgbClr val="917FFF"/>
                      </a:solidFill>
                      <a:prstDash val="solid"/>
                      <a:round/>
                      <a:headEnd type="none" w="med" len="med"/>
                      <a:tailEnd type="none" w="med" len="med"/>
                    </a:lnR>
                    <a:lnT w="6350" cap="flat" cmpd="sng" algn="ctr">
                      <a:solidFill>
                        <a:srgbClr val="917FFF"/>
                      </a:solidFill>
                      <a:prstDash val="solid"/>
                      <a:round/>
                      <a:headEnd type="none" w="med" len="med"/>
                      <a:tailEnd type="none" w="med" len="med"/>
                    </a:lnT>
                    <a:lnB w="6350" cap="flat" cmpd="sng" algn="ctr">
                      <a:solidFill>
                        <a:srgbClr val="917FFF"/>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chemeClr val="accent1"/>
                          </a:solidFill>
                          <a:effectLst/>
                          <a:uLnTx/>
                          <a:uFillTx/>
                        </a:rPr>
                        <a:t>Outstanding partner to business leaders who is seen as an ally enabling commercial objectives</a:t>
                      </a:r>
                    </a:p>
                    <a:p>
                      <a:endParaRPr lang="en-GB" sz="1100" dirty="0">
                        <a:solidFill>
                          <a:schemeClr val="accent1"/>
                        </a:solidFill>
                      </a:endParaRPr>
                    </a:p>
                  </a:txBody>
                  <a:tcPr anchor="ctr">
                    <a:lnL w="6350" cap="flat" cmpd="sng" algn="ctr">
                      <a:solidFill>
                        <a:srgbClr val="917FFF"/>
                      </a:solidFill>
                      <a:prstDash val="solid"/>
                      <a:round/>
                      <a:headEnd type="none" w="med" len="med"/>
                      <a:tailEnd type="none" w="med" len="med"/>
                    </a:lnL>
                    <a:lnR w="6350" cap="flat" cmpd="sng" algn="ctr">
                      <a:solidFill>
                        <a:srgbClr val="917FFF"/>
                      </a:solidFill>
                      <a:prstDash val="solid"/>
                      <a:round/>
                      <a:headEnd type="none" w="med" len="med"/>
                      <a:tailEnd type="none" w="med" len="med"/>
                    </a:lnR>
                    <a:lnT w="6350" cap="flat" cmpd="sng" algn="ctr">
                      <a:solidFill>
                        <a:srgbClr val="917FFF"/>
                      </a:solidFill>
                      <a:prstDash val="solid"/>
                      <a:round/>
                      <a:headEnd type="none" w="med" len="med"/>
                      <a:tailEnd type="none" w="med" len="med"/>
                    </a:lnT>
                    <a:lnB w="6350" cap="flat" cmpd="sng" algn="ctr">
                      <a:solidFill>
                        <a:srgbClr val="917FFF"/>
                      </a:solidFill>
                      <a:prstDash val="solid"/>
                      <a:round/>
                      <a:headEnd type="none" w="med" len="med"/>
                      <a:tailEnd type="none" w="med" len="med"/>
                    </a:lnB>
                  </a:tcPr>
                </a:tc>
                <a:extLst>
                  <a:ext uri="{0D108BD9-81ED-4DB2-BD59-A6C34878D82A}">
                    <a16:rowId xmlns:a16="http://schemas.microsoft.com/office/drawing/2014/main" val="2482336939"/>
                  </a:ext>
                </a:extLst>
              </a:tr>
              <a:tr h="1656262">
                <a:tc>
                  <a:txBody>
                    <a:bodyPr/>
                    <a:lstStyle/>
                    <a:p>
                      <a:r>
                        <a:rPr lang="en-GB" sz="1300" b="1" dirty="0">
                          <a:solidFill>
                            <a:schemeClr val="accent1"/>
                          </a:solidFill>
                        </a:rPr>
                        <a:t>SP 2</a:t>
                      </a:r>
                    </a:p>
                  </a:txBody>
                  <a:tcPr anchor="ctr">
                    <a:lnL w="6350" cap="flat" cmpd="sng" algn="ctr">
                      <a:solidFill>
                        <a:srgbClr val="917FFF"/>
                      </a:solidFill>
                      <a:prstDash val="solid"/>
                      <a:round/>
                      <a:headEnd type="none" w="med" len="med"/>
                      <a:tailEnd type="none" w="med" len="med"/>
                    </a:lnL>
                    <a:lnR w="6350" cap="flat" cmpd="sng" algn="ctr">
                      <a:solidFill>
                        <a:srgbClr val="917FFF"/>
                      </a:solidFill>
                      <a:prstDash val="solid"/>
                      <a:round/>
                      <a:headEnd type="none" w="med" len="med"/>
                      <a:tailEnd type="none" w="med" len="med"/>
                    </a:lnR>
                    <a:lnT w="6350" cap="flat" cmpd="sng" algn="ctr">
                      <a:solidFill>
                        <a:srgbClr val="917FFF"/>
                      </a:solidFill>
                      <a:prstDash val="solid"/>
                      <a:round/>
                      <a:headEnd type="none" w="med" len="med"/>
                      <a:tailEnd type="none" w="med" len="med"/>
                    </a:lnT>
                    <a:lnB w="6350" cap="flat" cmpd="sng" algn="ctr">
                      <a:solidFill>
                        <a:srgbClr val="917FFF"/>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chemeClr val="accent1"/>
                          </a:solidFill>
                          <a:effectLst/>
                          <a:uLnTx/>
                          <a:uFillTx/>
                        </a:rPr>
                        <a:t>Dual passions around improving the existing  infrastructure foundation while shaping future products and services.</a:t>
                      </a:r>
                    </a:p>
                    <a:p>
                      <a:endParaRPr lang="en-GB" sz="1100" dirty="0">
                        <a:solidFill>
                          <a:schemeClr val="accent1"/>
                        </a:solidFill>
                      </a:endParaRPr>
                    </a:p>
                  </a:txBody>
                  <a:tcPr anchor="ctr">
                    <a:lnL w="6350" cap="flat" cmpd="sng" algn="ctr">
                      <a:solidFill>
                        <a:srgbClr val="917FFF"/>
                      </a:solidFill>
                      <a:prstDash val="solid"/>
                      <a:round/>
                      <a:headEnd type="none" w="med" len="med"/>
                      <a:tailEnd type="none" w="med" len="med"/>
                    </a:lnL>
                    <a:lnR w="6350" cap="flat" cmpd="sng" algn="ctr">
                      <a:solidFill>
                        <a:srgbClr val="917FFF"/>
                      </a:solidFill>
                      <a:prstDash val="solid"/>
                      <a:round/>
                      <a:headEnd type="none" w="med" len="med"/>
                      <a:tailEnd type="none" w="med" len="med"/>
                    </a:lnR>
                    <a:lnT w="6350" cap="flat" cmpd="sng" algn="ctr">
                      <a:solidFill>
                        <a:srgbClr val="917FFF"/>
                      </a:solidFill>
                      <a:prstDash val="solid"/>
                      <a:round/>
                      <a:headEnd type="none" w="med" len="med"/>
                      <a:tailEnd type="none" w="med" len="med"/>
                    </a:lnT>
                    <a:lnB w="6350" cap="flat" cmpd="sng" algn="ctr">
                      <a:solidFill>
                        <a:srgbClr val="917FFF"/>
                      </a:solidFill>
                      <a:prstDash val="solid"/>
                      <a:round/>
                      <a:headEnd type="none" w="med" len="med"/>
                      <a:tailEnd type="none" w="med" len="med"/>
                    </a:lnB>
                  </a:tcPr>
                </a:tc>
                <a:extLst>
                  <a:ext uri="{0D108BD9-81ED-4DB2-BD59-A6C34878D82A}">
                    <a16:rowId xmlns:a16="http://schemas.microsoft.com/office/drawing/2014/main" val="4134158318"/>
                  </a:ext>
                </a:extLst>
              </a:tr>
            </a:tbl>
          </a:graphicData>
        </a:graphic>
      </p:graphicFrame>
      <p:sp>
        <p:nvSpPr>
          <p:cNvPr id="7" name="TextBox 6">
            <a:extLst>
              <a:ext uri="{FF2B5EF4-FFF2-40B4-BE49-F238E27FC236}">
                <a16:creationId xmlns:a16="http://schemas.microsoft.com/office/drawing/2014/main" id="{919AECEF-6780-E85B-67E4-E1416305A1DA}"/>
              </a:ext>
            </a:extLst>
          </p:cNvPr>
          <p:cNvSpPr txBox="1"/>
          <p:nvPr/>
        </p:nvSpPr>
        <p:spPr>
          <a:xfrm>
            <a:off x="4712567" y="5400183"/>
            <a:ext cx="2796626" cy="830997"/>
          </a:xfrm>
          <a:prstGeom prst="rect">
            <a:avLst/>
          </a:prstGeom>
          <a:noFill/>
        </p:spPr>
        <p:txBody>
          <a:bodyPr wrap="square" lIns="91440" tIns="45720" rIns="91440" b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200" b="1" i="0" u="none" strike="noStrike" kern="1200" cap="none" spc="-10" normalizeH="0" baseline="0" noProof="0">
                <a:ln>
                  <a:noFill/>
                </a:ln>
                <a:solidFill>
                  <a:srgbClr val="F2F2F2">
                    <a:lumMod val="10000"/>
                  </a:srgbClr>
                </a:solidFill>
                <a:effectLst/>
                <a:uLnTx/>
                <a:uFillTx/>
                <a:latin typeface="Segoe UI" pitchFamily="34" charset="0"/>
                <a:ea typeface="Lato" panose="020F0502020204030203" pitchFamily="34" charset="0"/>
                <a:cs typeface="Helvetica Neue" panose="020B0604020202020204" charset="0"/>
              </a:rPr>
              <a:t>Significant Work Challenge on</a:t>
            </a:r>
            <a:r>
              <a:rPr kumimoji="0" lang="en-US" sz="1200" b="0" i="0" u="none" strike="noStrike" kern="1200" cap="none" spc="-10" normalizeH="0" baseline="0" noProof="0">
                <a:ln>
                  <a:noFill/>
                </a:ln>
                <a:solidFill>
                  <a:srgbClr val="F2F2F2">
                    <a:lumMod val="10000"/>
                  </a:srgbClr>
                </a:solidFill>
                <a:effectLst/>
                <a:uLnTx/>
                <a:uFillTx/>
                <a:latin typeface="Arial" pitchFamily="34" charset="0"/>
                <a:ea typeface="Lato" panose="020F0502020204030203" pitchFamily="34" charset="0"/>
                <a:cs typeface="Helvetica Neue" panose="020B0604020202020204" charset="0"/>
              </a:rPr>
              <a:t>:</a:t>
            </a:r>
          </a:p>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200" b="0" i="0" u="none" strike="noStrike" kern="1200" cap="none" spc="-10" normalizeH="0" baseline="0" noProof="0">
                <a:ln>
                  <a:noFill/>
                </a:ln>
                <a:solidFill>
                  <a:srgbClr val="F2F2F2">
                    <a:lumMod val="10000"/>
                  </a:srgbClr>
                </a:solidFill>
                <a:effectLst/>
                <a:uLnTx/>
                <a:uFillTx/>
                <a:latin typeface="Arial" pitchFamily="34" charset="0"/>
                <a:ea typeface="Lato" panose="020F0502020204030203" pitchFamily="34" charset="0"/>
                <a:cs typeface="Helvetica Neue" panose="020B0604020202020204" charset="0"/>
              </a:rPr>
              <a:t>Upgrading infrastructure foundation &amp; cybersecurity / </a:t>
            </a:r>
          </a:p>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200" b="0" i="0" u="none" strike="noStrike" kern="1200" cap="none" spc="-10" normalizeH="0" baseline="0" noProof="0">
                <a:ln>
                  <a:noFill/>
                </a:ln>
                <a:solidFill>
                  <a:srgbClr val="F2F2F2">
                    <a:lumMod val="10000"/>
                  </a:srgbClr>
                </a:solidFill>
                <a:effectLst/>
                <a:uLnTx/>
                <a:uFillTx/>
                <a:latin typeface="Arial" pitchFamily="34" charset="0"/>
                <a:ea typeface="Lato" panose="020F0502020204030203" pitchFamily="34" charset="0"/>
                <a:cs typeface="Helvetica Neue" panose="020B0604020202020204" charset="0"/>
              </a:rPr>
              <a:t>Driving data-led digital transformation </a:t>
            </a:r>
          </a:p>
        </p:txBody>
      </p:sp>
      <p:grpSp>
        <p:nvGrpSpPr>
          <p:cNvPr id="8" name="Group 7">
            <a:extLst>
              <a:ext uri="{FF2B5EF4-FFF2-40B4-BE49-F238E27FC236}">
                <a16:creationId xmlns:a16="http://schemas.microsoft.com/office/drawing/2014/main" id="{46F7C893-EA3E-C539-B4B0-D84326DEA7E0}"/>
              </a:ext>
            </a:extLst>
          </p:cNvPr>
          <p:cNvGrpSpPr/>
          <p:nvPr/>
        </p:nvGrpSpPr>
        <p:grpSpPr>
          <a:xfrm>
            <a:off x="851877" y="5400183"/>
            <a:ext cx="720000" cy="720000"/>
            <a:chOff x="750668" y="1073957"/>
            <a:chExt cx="720000" cy="720000"/>
          </a:xfrm>
          <a:solidFill>
            <a:srgbClr val="765FFF"/>
          </a:solidFill>
        </p:grpSpPr>
        <p:sp>
          <p:nvSpPr>
            <p:cNvPr id="9" name="Oval 8">
              <a:extLst>
                <a:ext uri="{FF2B5EF4-FFF2-40B4-BE49-F238E27FC236}">
                  <a16:creationId xmlns:a16="http://schemas.microsoft.com/office/drawing/2014/main" id="{ACD1F53D-9D02-4DA6-6897-019F5118C9D8}"/>
                </a:ext>
              </a:extLst>
            </p:cNvPr>
            <p:cNvSpPr/>
            <p:nvPr/>
          </p:nvSpPr>
          <p:spPr>
            <a:xfrm>
              <a:off x="750668" y="1073957"/>
              <a:ext cx="720000" cy="720000"/>
            </a:xfrm>
            <a:prstGeom prst="ellipse">
              <a:avLst/>
            </a:prstGeom>
            <a:grpFill/>
            <a:ln w="9525">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a:ln>
                  <a:noFill/>
                </a:ln>
                <a:solidFill>
                  <a:srgbClr val="FFFFFF"/>
                </a:solidFill>
                <a:effectLst/>
                <a:uLnTx/>
                <a:uFillTx/>
                <a:latin typeface="Segoe UI" pitchFamily="34" charset="0"/>
                <a:ea typeface="+mn-ea"/>
                <a:cs typeface="+mn-cs"/>
              </a:endParaRPr>
            </a:p>
          </p:txBody>
        </p:sp>
        <p:pic>
          <p:nvPicPr>
            <p:cNvPr id="10" name="Picture 9">
              <a:extLst>
                <a:ext uri="{FF2B5EF4-FFF2-40B4-BE49-F238E27FC236}">
                  <a16:creationId xmlns:a16="http://schemas.microsoft.com/office/drawing/2014/main" id="{B99EE3D2-98F0-7F81-9459-307460BDCFCD}"/>
                </a:ext>
              </a:extLst>
            </p:cNvPr>
            <p:cNvPicPr>
              <a:picLocks noChangeAspect="1"/>
            </p:cNvPicPr>
            <p:nvPr/>
          </p:nvPicPr>
          <p:blipFill>
            <a:blip r:embed="rId4">
              <a:duotone>
                <a:srgbClr val="765FFF"/>
                <a:srgbClr val="FFFFFF"/>
              </a:duotone>
            </a:blip>
            <a:stretch>
              <a:fillRect/>
            </a:stretch>
          </p:blipFill>
          <p:spPr>
            <a:xfrm>
              <a:off x="840349" y="1182571"/>
              <a:ext cx="536140" cy="536140"/>
            </a:xfrm>
            <a:prstGeom prst="rect">
              <a:avLst/>
            </a:prstGeom>
            <a:noFill/>
            <a:ln>
              <a:noFill/>
            </a:ln>
          </p:spPr>
        </p:pic>
      </p:grpSp>
      <p:grpSp>
        <p:nvGrpSpPr>
          <p:cNvPr id="11" name="Group 10">
            <a:extLst>
              <a:ext uri="{FF2B5EF4-FFF2-40B4-BE49-F238E27FC236}">
                <a16:creationId xmlns:a16="http://schemas.microsoft.com/office/drawing/2014/main" id="{2740D568-23EF-F718-E7FC-0A187813250A}"/>
              </a:ext>
            </a:extLst>
          </p:cNvPr>
          <p:cNvGrpSpPr/>
          <p:nvPr/>
        </p:nvGrpSpPr>
        <p:grpSpPr>
          <a:xfrm>
            <a:off x="3976414" y="5412331"/>
            <a:ext cx="720000" cy="720000"/>
            <a:chOff x="786758" y="2286522"/>
            <a:chExt cx="720000" cy="720000"/>
          </a:xfrm>
          <a:solidFill>
            <a:srgbClr val="765FFF"/>
          </a:solidFill>
        </p:grpSpPr>
        <p:sp>
          <p:nvSpPr>
            <p:cNvPr id="12" name="Oval 11">
              <a:extLst>
                <a:ext uri="{FF2B5EF4-FFF2-40B4-BE49-F238E27FC236}">
                  <a16:creationId xmlns:a16="http://schemas.microsoft.com/office/drawing/2014/main" id="{42F91BDE-ADAE-AC23-48F5-5D9C4128D606}"/>
                </a:ext>
              </a:extLst>
            </p:cNvPr>
            <p:cNvSpPr/>
            <p:nvPr/>
          </p:nvSpPr>
          <p:spPr>
            <a:xfrm>
              <a:off x="786758" y="2286522"/>
              <a:ext cx="720000" cy="720000"/>
            </a:xfrm>
            <a:prstGeom prst="ellipse">
              <a:avLst/>
            </a:prstGeom>
            <a:grpFill/>
            <a:ln w="9525">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pic>
          <p:nvPicPr>
            <p:cNvPr id="13" name="Graphic 20" descr="Playbook outline">
              <a:extLst>
                <a:ext uri="{FF2B5EF4-FFF2-40B4-BE49-F238E27FC236}">
                  <a16:creationId xmlns:a16="http://schemas.microsoft.com/office/drawing/2014/main" id="{B66C3C14-C758-5F26-4C46-54BDCBC7AB38}"/>
                </a:ext>
              </a:extLst>
            </p:cNvPr>
            <p:cNvPicPr>
              <a:picLocks noChangeAspect="1"/>
            </p:cNvPicPr>
            <p:nvPr/>
          </p:nvPicPr>
          <p:blipFill>
            <a:blip r:embed="rId5">
              <a:duotone>
                <a:srgbClr val="765FFF"/>
                <a:srgbClr val="FFFFFF"/>
              </a:duotone>
            </a:blip>
            <a:stretch>
              <a:fillRect/>
            </a:stretch>
          </p:blipFill>
          <p:spPr>
            <a:xfrm>
              <a:off x="885264" y="2376951"/>
              <a:ext cx="539141" cy="539141"/>
            </a:xfrm>
            <a:prstGeom prst="rect">
              <a:avLst/>
            </a:prstGeom>
          </p:spPr>
        </p:pic>
      </p:grpSp>
      <p:grpSp>
        <p:nvGrpSpPr>
          <p:cNvPr id="14" name="Group 13">
            <a:extLst>
              <a:ext uri="{FF2B5EF4-FFF2-40B4-BE49-F238E27FC236}">
                <a16:creationId xmlns:a16="http://schemas.microsoft.com/office/drawing/2014/main" id="{6DC93F95-ADCB-9CAC-841D-190B24484461}"/>
              </a:ext>
            </a:extLst>
          </p:cNvPr>
          <p:cNvGrpSpPr/>
          <p:nvPr/>
        </p:nvGrpSpPr>
        <p:grpSpPr>
          <a:xfrm>
            <a:off x="7824498" y="5400183"/>
            <a:ext cx="720000" cy="720000"/>
            <a:chOff x="7864303" y="5535379"/>
            <a:chExt cx="720000" cy="720000"/>
          </a:xfrm>
        </p:grpSpPr>
        <p:sp>
          <p:nvSpPr>
            <p:cNvPr id="15" name="Oval 14">
              <a:extLst>
                <a:ext uri="{FF2B5EF4-FFF2-40B4-BE49-F238E27FC236}">
                  <a16:creationId xmlns:a16="http://schemas.microsoft.com/office/drawing/2014/main" id="{0061F48C-5CBA-FF5D-9F80-F99DA134EFEC}"/>
                </a:ext>
              </a:extLst>
            </p:cNvPr>
            <p:cNvSpPr/>
            <p:nvPr/>
          </p:nvSpPr>
          <p:spPr>
            <a:xfrm>
              <a:off x="7864303" y="5535379"/>
              <a:ext cx="720000" cy="720000"/>
            </a:xfrm>
            <a:prstGeom prst="ellipse">
              <a:avLst/>
            </a:prstGeom>
            <a:solidFill>
              <a:srgbClr val="765FFF"/>
            </a:solidFill>
            <a:ln w="9525">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a:ln>
                  <a:noFill/>
                </a:ln>
                <a:solidFill>
                  <a:srgbClr val="FFFFFF"/>
                </a:solidFill>
                <a:effectLst/>
                <a:uLnTx/>
                <a:uFillTx/>
                <a:latin typeface="Arial" pitchFamily="34" charset="0"/>
                <a:ea typeface="+mn-ea"/>
                <a:cs typeface="+mn-cs"/>
              </a:endParaRPr>
            </a:p>
          </p:txBody>
        </p:sp>
        <p:cxnSp>
          <p:nvCxnSpPr>
            <p:cNvPr id="16" name="Straight Arrow Connector 15">
              <a:extLst>
                <a:ext uri="{FF2B5EF4-FFF2-40B4-BE49-F238E27FC236}">
                  <a16:creationId xmlns:a16="http://schemas.microsoft.com/office/drawing/2014/main" id="{BCC8A12E-0453-2C70-7FBF-2E9DDBD970B7}"/>
                </a:ext>
              </a:extLst>
            </p:cNvPr>
            <p:cNvCxnSpPr>
              <a:cxnSpLocks/>
            </p:cNvCxnSpPr>
            <p:nvPr/>
          </p:nvCxnSpPr>
          <p:spPr>
            <a:xfrm>
              <a:off x="8112078" y="5775595"/>
              <a:ext cx="263685" cy="259121"/>
            </a:xfrm>
            <a:prstGeom prst="straightConnector1">
              <a:avLst/>
            </a:prstGeom>
            <a:ln w="28575">
              <a:solidFill>
                <a:srgbClr val="F2F2F2"/>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D4DAFFDB-6972-18CD-891D-5ADF7A57C3A7}"/>
              </a:ext>
            </a:extLst>
          </p:cNvPr>
          <p:cNvSpPr txBox="1"/>
          <p:nvPr/>
        </p:nvSpPr>
        <p:spPr>
          <a:xfrm>
            <a:off x="1567380" y="5433726"/>
            <a:ext cx="2093730" cy="646331"/>
          </a:xfrm>
          <a:prstGeom prst="rect">
            <a:avLst/>
          </a:prstGeom>
          <a:noFill/>
        </p:spPr>
        <p:txBody>
          <a:bodyPr wrap="square" lIns="91440" tIns="45720" rIns="91440" b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a:ln>
                  <a:noFill/>
                </a:ln>
                <a:solidFill>
                  <a:srgbClr val="F2F2F2">
                    <a:lumMod val="10000"/>
                  </a:srgbClr>
                </a:solidFill>
                <a:effectLst/>
                <a:uLnTx/>
                <a:uFillTx/>
                <a:latin typeface="Segoe UI" pitchFamily="34" charset="0"/>
                <a:cs typeface="Helvetica Neue" panose="020B0604020202020204" charset="0"/>
              </a:rPr>
              <a:t>Operating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F2F2F2">
                    <a:lumMod val="10000"/>
                  </a:srgbClr>
                </a:solidFill>
                <a:effectLst/>
                <a:uLnTx/>
                <a:uFillTx/>
                <a:latin typeface="Arial" pitchFamily="34" charset="0"/>
                <a:cs typeface="Helvetica Neue" panose="020B0604020202020204" charset="0"/>
              </a:rPr>
              <a:t>Technology &amp; resource decisions are in BUs</a:t>
            </a:r>
          </a:p>
        </p:txBody>
      </p:sp>
      <p:sp>
        <p:nvSpPr>
          <p:cNvPr id="18" name="TextBox 17">
            <a:extLst>
              <a:ext uri="{FF2B5EF4-FFF2-40B4-BE49-F238E27FC236}">
                <a16:creationId xmlns:a16="http://schemas.microsoft.com/office/drawing/2014/main" id="{1D50EE91-89CF-1F83-AEE2-F98A5EAB2F94}"/>
              </a:ext>
            </a:extLst>
          </p:cNvPr>
          <p:cNvSpPr txBox="1"/>
          <p:nvPr/>
        </p:nvSpPr>
        <p:spPr>
          <a:xfrm>
            <a:off x="8548046" y="5478064"/>
            <a:ext cx="2702396" cy="6463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200" b="1" i="0" u="none" strike="noStrike" kern="1200" cap="none" spc="-10" normalizeH="0" baseline="0" noProof="0" dirty="0">
                <a:ln>
                  <a:noFill/>
                </a:ln>
                <a:solidFill>
                  <a:srgbClr val="F2F2F2">
                    <a:lumMod val="10000"/>
                  </a:srgbClr>
                </a:solidFill>
                <a:effectLst/>
                <a:uLnTx/>
                <a:uFillTx/>
                <a:latin typeface="Segoe UI" pitchFamily="34" charset="0"/>
                <a:ea typeface="Lato" panose="020F0502020204030203" pitchFamily="34" charset="0"/>
                <a:cs typeface="Helvetica Neue" panose="020B0604020202020204" charset="0"/>
              </a:rPr>
              <a:t>Change Readiness:</a:t>
            </a:r>
          </a:p>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200" b="0" i="0" u="none" strike="noStrike" kern="1200" cap="none" spc="-10" normalizeH="0" baseline="0" noProof="0" dirty="0">
                <a:ln>
                  <a:noFill/>
                </a:ln>
                <a:solidFill>
                  <a:srgbClr val="F2F2F2">
                    <a:lumMod val="10000"/>
                  </a:srgbClr>
                </a:solidFill>
                <a:effectLst/>
                <a:uLnTx/>
                <a:uFillTx/>
                <a:latin typeface="Arial" pitchFamily="34" charset="0"/>
                <a:ea typeface="Lato" panose="020F0502020204030203" pitchFamily="34" charset="0"/>
                <a:cs typeface="Helvetica Neue" panose="020B0604020202020204" charset="0"/>
              </a:rPr>
              <a:t>Legacy IT organization and business leader readiness to transform</a:t>
            </a:r>
          </a:p>
        </p:txBody>
      </p:sp>
      <p:sp>
        <p:nvSpPr>
          <p:cNvPr id="22" name="TextBox 21">
            <a:extLst>
              <a:ext uri="{FF2B5EF4-FFF2-40B4-BE49-F238E27FC236}">
                <a16:creationId xmlns:a16="http://schemas.microsoft.com/office/drawing/2014/main" id="{89B3B061-FC17-D889-DC67-96D6F481F7F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707089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21BD49-3855-762C-45C1-B7E6461F8CA2}"/>
              </a:ext>
            </a:extLst>
          </p:cNvPr>
          <p:cNvSpPr>
            <a:spLocks noGrp="1"/>
          </p:cNvSpPr>
          <p:nvPr>
            <p:ph type="sldNum" sz="quarter" idx="4"/>
          </p:nvPr>
        </p:nvSpPr>
        <p:spPr/>
        <p:txBody>
          <a:bodyPr/>
          <a:lstStyle/>
          <a:p>
            <a:pPr algn="ctr"/>
            <a:fld id="{1875A764-3B06-454E-8ABA-2F6ED0EB58E9}" type="slidenum">
              <a:rPr lang="en-US" smtClean="0"/>
              <a:t>8</a:t>
            </a:fld>
            <a:endParaRPr lang="en-US"/>
          </a:p>
        </p:txBody>
      </p:sp>
      <p:sp>
        <p:nvSpPr>
          <p:cNvPr id="5" name="Title 4">
            <a:extLst>
              <a:ext uri="{FF2B5EF4-FFF2-40B4-BE49-F238E27FC236}">
                <a16:creationId xmlns:a16="http://schemas.microsoft.com/office/drawing/2014/main" id="{92AD522B-29A6-927C-9B08-9DC82CA47F59}"/>
              </a:ext>
            </a:extLst>
          </p:cNvPr>
          <p:cNvSpPr>
            <a:spLocks noGrp="1"/>
          </p:cNvSpPr>
          <p:nvPr>
            <p:ph type="title"/>
          </p:nvPr>
        </p:nvSpPr>
        <p:spPr/>
        <p:txBody>
          <a:bodyPr/>
          <a:lstStyle/>
          <a:p>
            <a:r>
              <a:rPr lang="en-US" spc="-25" dirty="0">
                <a:ea typeface="Helvetica Neue Medium" panose="02000503000000020004" pitchFamily="2" charset="0"/>
                <a:cs typeface="Helvetica Neue Light" panose="020B0604020202020204" charset="0"/>
              </a:rPr>
              <a:t>Future Jobs to Be Done Readiness</a:t>
            </a:r>
            <a:endParaRPr lang="en-US" dirty="0"/>
          </a:p>
        </p:txBody>
      </p:sp>
      <p:graphicFrame>
        <p:nvGraphicFramePr>
          <p:cNvPr id="6" name="Google Shape;302;p6">
            <a:extLst>
              <a:ext uri="{FF2B5EF4-FFF2-40B4-BE49-F238E27FC236}">
                <a16:creationId xmlns:a16="http://schemas.microsoft.com/office/drawing/2014/main" id="{06217C6E-DBA4-DA63-6A8E-E3A06D07939E}"/>
              </a:ext>
            </a:extLst>
          </p:cNvPr>
          <p:cNvGraphicFramePr/>
          <p:nvPr>
            <p:extLst>
              <p:ext uri="{D42A27DB-BD31-4B8C-83A1-F6EECF244321}">
                <p14:modId xmlns:p14="http://schemas.microsoft.com/office/powerpoint/2010/main" val="325723012"/>
              </p:ext>
            </p:extLst>
          </p:nvPr>
        </p:nvGraphicFramePr>
        <p:xfrm>
          <a:off x="823069" y="1275472"/>
          <a:ext cx="10655869" cy="4763023"/>
        </p:xfrm>
        <a:graphic>
          <a:graphicData uri="http://schemas.openxmlformats.org/drawingml/2006/table">
            <a:tbl>
              <a:tblPr firstRow="1" bandRow="1">
                <a:tableStyleId>{69012ECD-51FC-41F1-AA8D-1B2483CD663E}</a:tableStyleId>
              </a:tblPr>
              <a:tblGrid>
                <a:gridCol w="396131">
                  <a:extLst>
                    <a:ext uri="{9D8B030D-6E8A-4147-A177-3AD203B41FA5}">
                      <a16:colId xmlns:a16="http://schemas.microsoft.com/office/drawing/2014/main" val="3171278797"/>
                    </a:ext>
                  </a:extLst>
                </a:gridCol>
                <a:gridCol w="420414">
                  <a:extLst>
                    <a:ext uri="{9D8B030D-6E8A-4147-A177-3AD203B41FA5}">
                      <a16:colId xmlns:a16="http://schemas.microsoft.com/office/drawing/2014/main" val="866748631"/>
                    </a:ext>
                  </a:extLst>
                </a:gridCol>
                <a:gridCol w="3090041">
                  <a:extLst>
                    <a:ext uri="{9D8B030D-6E8A-4147-A177-3AD203B41FA5}">
                      <a16:colId xmlns:a16="http://schemas.microsoft.com/office/drawing/2014/main" val="20002"/>
                    </a:ext>
                  </a:extLst>
                </a:gridCol>
                <a:gridCol w="6749283">
                  <a:extLst>
                    <a:ext uri="{9D8B030D-6E8A-4147-A177-3AD203B41FA5}">
                      <a16:colId xmlns:a16="http://schemas.microsoft.com/office/drawing/2014/main" val="4202888217"/>
                    </a:ext>
                  </a:extLst>
                </a:gridCol>
              </a:tblGrid>
              <a:tr h="33840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lang="en-US" sz="1200" b="1" dirty="0">
                          <a:solidFill>
                            <a:srgbClr val="FFFFFF"/>
                          </a:solidFill>
                        </a:rPr>
                        <a:t>Job to Be Done</a:t>
                      </a:r>
                      <a:endParaRPr lang="en-US" sz="1600" b="1" dirty="0">
                        <a:solidFill>
                          <a:srgbClr val="00C27A"/>
                        </a:solidFill>
                        <a:latin typeface="Arial" pitchFamily="34" charset="0"/>
                        <a:ea typeface="Helvetica Neue" panose="02000503000000020004" pitchFamily="2" charset="0"/>
                        <a:cs typeface="Helvetica Neue" panose="020B0604020202020204" charset="0"/>
                      </a:endParaRPr>
                    </a:p>
                  </a:txBody>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endParaRPr lang="en-US" sz="1400" b="1">
                        <a:solidFill>
                          <a:srgbClr val="1D1D1D"/>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rgbClr val="1D1D1D"/>
                      </a:solidFill>
                      <a:prstDash val="solid"/>
                      <a:round/>
                      <a:headEnd type="none" w="med" len="med"/>
                      <a:tailEnd type="none" w="med" len="med"/>
                    </a:lnT>
                    <a:lnB w="9525" cap="flat" cmpd="sng" algn="ctr">
                      <a:solidFill>
                        <a:srgbClr val="1D1D1D"/>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rgbClr val="1D1D1D"/>
                      </a:solidFill>
                      <a:prstDash val="solid"/>
                      <a:round/>
                      <a:headEnd type="none" w="med" len="med"/>
                      <a:tailEnd type="none" w="med" len="med"/>
                    </a:lnT>
                    <a:lnB w="9525" cap="flat" cmpd="sng" algn="ctr">
                      <a:solidFill>
                        <a:srgbClr val="1D1D1D"/>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b="1">
                          <a:solidFill>
                            <a:srgbClr val="FFFFFF"/>
                          </a:solidFill>
                          <a:latin typeface="Arial" pitchFamily="34" charset="0"/>
                        </a:defRPr>
                      </a:pPr>
                      <a:r>
                        <a:rPr kumimoji="0" lang="en-US" sz="1200" b="1" u="none" strike="noStrike" kern="1200" cap="none" spc="0" normalizeH="0" baseline="0" noProof="0">
                          <a:ln>
                            <a:noFill/>
                          </a:ln>
                          <a:solidFill>
                            <a:srgbClr val="FFFFFF"/>
                          </a:solidFill>
                          <a:effectLst/>
                          <a:uLnTx/>
                          <a:uFillTx/>
                        </a:rPr>
                        <a:t>Evidence</a:t>
                      </a:r>
                      <a:endParaRPr kumimoji="0" lang="en-US" sz="1600" b="1" i="0" u="none" strike="noStrike" kern="1200" cap="none" spc="0" normalizeH="0" baseline="0" noProof="0">
                        <a:ln>
                          <a:noFill/>
                        </a:ln>
                        <a:solidFill>
                          <a:srgbClr val="00C27A"/>
                        </a:solidFill>
                        <a:effectLst/>
                        <a:uLnTx/>
                        <a:uFillTx/>
                        <a:latin typeface="Arial" pitchFamily="34" charset="0"/>
                        <a:ea typeface="Helvetica Neue" panose="02000503000000020004" pitchFamily="2" charset="0"/>
                        <a:cs typeface="Helvetica Neue" panose="020B0604020202020204" charset="0"/>
                      </a:endParaRPr>
                    </a:p>
                  </a:txBody>
                  <a:tcPr/>
                </a:tc>
                <a:extLst>
                  <a:ext uri="{0D108BD9-81ED-4DB2-BD59-A6C34878D82A}">
                    <a16:rowId xmlns:a16="http://schemas.microsoft.com/office/drawing/2014/main" val="4215982398"/>
                  </a:ext>
                </a:extLst>
              </a:tr>
              <a:tr h="1108270">
                <a:tc>
                  <a:txBody>
                    <a:bodyPr/>
                    <a:lstStyle/>
                    <a:p>
                      <a:pPr algn="ctr"/>
                      <a:r>
                        <a:rPr lang="en-US" sz="1000" b="1" dirty="0">
                          <a:solidFill>
                            <a:schemeClr val="tx2"/>
                          </a:solidFill>
                        </a:rPr>
                        <a:t>1</a:t>
                      </a:r>
                      <a:endParaRPr lang="en-US" sz="1000" b="1" dirty="0">
                        <a:solidFill>
                          <a:schemeClr val="tx2"/>
                        </a:solidFill>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p>
                      <a:pPr algn="ctr"/>
                      <a:r>
                        <a:rPr lang="en-US" sz="1000" dirty="0"/>
                        <a:t>30%</a:t>
                      </a:r>
                    </a:p>
                    <a:p>
                      <a:pPr algn="ctr"/>
                      <a:endParaRPr lang="en-US" sz="1000" dirty="0">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dirty="0"/>
                        <a:t>Infrastructure fit for purpose</a:t>
                      </a:r>
                    </a:p>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dirty="0">
                        <a:latin typeface="Arial" pitchFamily="34" charset="0"/>
                        <a:ea typeface="Helvetica Neue" panose="02000503000000020004" pitchFamily="2" charset="0"/>
                        <a:cs typeface="Helvetica Neue" panose="020B0604020202020204" charset="0"/>
                      </a:endParaRPr>
                    </a:p>
                  </a:txBody>
                  <a:tcPr anchor="ctr"/>
                </a:tc>
                <a:tc>
                  <a:txBody>
                    <a:bodyPr/>
                    <a:lstStyle/>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At MetLife, worked with legacy (50+ year old) and leading-edge technologies and completed large scale application rationalization (3700 applications)</a:t>
                      </a:r>
                    </a:p>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At Target, led cleaning up of IT breach of 2013, a trial by fire including testifying while organization </a:t>
                      </a:r>
                      <a:r>
                        <a:rPr kumimoji="0" lang="en-US" sz="1200" b="0" u="none" strike="noStrike" kern="1200" cap="none" spc="0" normalizeH="0" baseline="0" noProof="0" dirty="0">
                          <a:ln>
                            <a:noFill/>
                          </a:ln>
                          <a:solidFill>
                            <a:schemeClr val="tx1"/>
                          </a:solidFill>
                          <a:effectLst/>
                          <a:uLnTx/>
                          <a:uFillTx/>
                        </a:rPr>
                        <a:t>was getting sued by &gt;20 Attorney Generals</a:t>
                      </a:r>
                      <a:endPar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B0604020202020204" charset="0"/>
                      </a:endParaRPr>
                    </a:p>
                  </a:txBody>
                  <a:tcPr anchor="ctr"/>
                </a:tc>
                <a:extLst>
                  <a:ext uri="{0D108BD9-81ED-4DB2-BD59-A6C34878D82A}">
                    <a16:rowId xmlns:a16="http://schemas.microsoft.com/office/drawing/2014/main" val="10001"/>
                  </a:ext>
                </a:extLst>
              </a:tr>
              <a:tr h="1285932">
                <a:tc>
                  <a:txBody>
                    <a:bodyPr/>
                    <a:lstStyle/>
                    <a:p>
                      <a:pPr algn="ctr"/>
                      <a:r>
                        <a:rPr lang="en-US" sz="1000" b="1" dirty="0">
                          <a:solidFill>
                            <a:schemeClr val="tx2"/>
                          </a:solidFill>
                        </a:rPr>
                        <a:t>2</a:t>
                      </a:r>
                      <a:endParaRPr lang="en-US" sz="1000" b="1" dirty="0">
                        <a:solidFill>
                          <a:schemeClr val="tx2"/>
                        </a:solidFill>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p>
                      <a:pPr algn="ctr"/>
                      <a:r>
                        <a:rPr lang="en-US" sz="1000"/>
                        <a:t>35%</a:t>
                      </a:r>
                    </a:p>
                    <a:p>
                      <a:pPr algn="ctr"/>
                      <a:endParaRPr lang="en-US" sz="1000">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t>“Standard” Digital Transformation</a:t>
                      </a:r>
                    </a:p>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latin typeface="Arial" pitchFamily="34" charset="0"/>
                        <a:ea typeface="Helvetica Neue" panose="02000503000000020004" pitchFamily="2" charset="0"/>
                        <a:cs typeface="Helvetica Neue" panose="020B0604020202020204" charset="0"/>
                      </a:endParaRPr>
                    </a:p>
                  </a:txBody>
                  <a:tcPr anchor="ctr"/>
                </a:tc>
                <a:tc>
                  <a:txBody>
                    <a:bodyPr/>
                    <a:lstStyle/>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iPhone Rollout in 2008 – brought together disparate groups over 9 months to land the launch – subsequently dealt with fallout and operational strains from demand exceeding capacity</a:t>
                      </a:r>
                    </a:p>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At MetLife B2C business was siloed and international: claims processing cost of $1.6B.  Had to counter view that claims within country is unique, built alignment by identifying the small unique elements creating a $350M efficiency gain</a:t>
                      </a:r>
                    </a:p>
                  </a:txBody>
                  <a:tcPr anchor="ctr"/>
                </a:tc>
                <a:extLst>
                  <a:ext uri="{0D108BD9-81ED-4DB2-BD59-A6C34878D82A}">
                    <a16:rowId xmlns:a16="http://schemas.microsoft.com/office/drawing/2014/main" val="4062063259"/>
                  </a:ext>
                </a:extLst>
              </a:tr>
              <a:tr h="930608">
                <a:tc>
                  <a:txBody>
                    <a:bodyPr/>
                    <a:lstStyle/>
                    <a:p>
                      <a:pPr algn="ctr"/>
                      <a:r>
                        <a:rPr lang="en-US" sz="1000" b="1" dirty="0">
                          <a:solidFill>
                            <a:schemeClr val="tx2"/>
                          </a:solidFill>
                        </a:rPr>
                        <a:t>3</a:t>
                      </a:r>
                      <a:endParaRPr lang="en-US" sz="1000" b="1" dirty="0">
                        <a:solidFill>
                          <a:schemeClr val="tx2"/>
                        </a:solidFill>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p>
                      <a:pPr algn="ctr"/>
                      <a:r>
                        <a:rPr lang="en-US" sz="1000"/>
                        <a:t>15%</a:t>
                      </a:r>
                    </a:p>
                    <a:p>
                      <a:pPr algn="ctr"/>
                      <a:endParaRPr lang="en-US" sz="1000">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t>New Products and Service</a:t>
                      </a:r>
                    </a:p>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latin typeface="Arial" pitchFamily="34" charset="0"/>
                        <a:ea typeface="Helvetica Neue" panose="02000503000000020004" pitchFamily="2" charset="0"/>
                        <a:cs typeface="Helvetica Neue" panose="020B0604020202020204" charset="0"/>
                      </a:endParaRPr>
                    </a:p>
                  </a:txBody>
                  <a:tcPr anchor="ctr"/>
                </a:tc>
                <a:tc>
                  <a:txBody>
                    <a:bodyPr/>
                    <a:lstStyle/>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At Target, recommended strategic investment in startup (versus allocating developers) for Pet Insurance product</a:t>
                      </a:r>
                      <a:endParaRPr lang="en-US" sz="1200" b="0" kern="1200" spc="-10" dirty="0">
                        <a:solidFill>
                          <a:schemeClr val="tx1"/>
                        </a:solidFill>
                        <a:latin typeface="Arial" pitchFamily="34" charset="0"/>
                        <a:ea typeface="Lato" panose="020F0502020204030203" pitchFamily="34" charset="0"/>
                        <a:cs typeface="Arial" panose="020B0604020202020204" pitchFamily="34" charset="0"/>
                      </a:endParaRPr>
                    </a:p>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Has commercial mindset – ran $2.5B P&amp;L eCommerce retail business</a:t>
                      </a:r>
                    </a:p>
                  </a:txBody>
                  <a:tcPr anchor="ctr"/>
                </a:tc>
                <a:extLst>
                  <a:ext uri="{0D108BD9-81ED-4DB2-BD59-A6C34878D82A}">
                    <a16:rowId xmlns:a16="http://schemas.microsoft.com/office/drawing/2014/main" val="10002"/>
                  </a:ext>
                </a:extLst>
              </a:tr>
              <a:tr h="1099810">
                <a:tc>
                  <a:txBody>
                    <a:bodyPr/>
                    <a:lstStyle/>
                    <a:p>
                      <a:pPr algn="ctr"/>
                      <a:r>
                        <a:rPr lang="en-US" sz="1000" b="1" dirty="0">
                          <a:solidFill>
                            <a:schemeClr val="tx2"/>
                          </a:solidFill>
                        </a:rPr>
                        <a:t>4</a:t>
                      </a:r>
                      <a:endParaRPr lang="en-US" sz="1000" b="1" dirty="0">
                        <a:solidFill>
                          <a:schemeClr val="tx2"/>
                        </a:solidFill>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p>
                      <a:pPr algn="ctr"/>
                      <a:r>
                        <a:rPr lang="en-US" sz="1000"/>
                        <a:t>20%</a:t>
                      </a:r>
                    </a:p>
                    <a:p>
                      <a:pPr algn="ctr"/>
                      <a:endParaRPr lang="en-US" sz="1000">
                        <a:latin typeface="Arial" pitchFamily="34" charset="0"/>
                        <a:ea typeface="Helvetica Neue" panose="02000503000000020004" pitchFamily="2" charset="0"/>
                        <a:cs typeface="Helvetica Neue" panose="020B0604020202020204" charset="0"/>
                      </a:endParaRPr>
                    </a:p>
                  </a:txBody>
                  <a:tcPr marL="25977" marR="25977" marT="14288" marB="14288" anchor="ct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a:t>Implementation of SAP4/Hana</a:t>
                      </a:r>
                    </a:p>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latin typeface="Arial" pitchFamily="34" charset="0"/>
                        <a:ea typeface="Helvetica Neue" panose="02000503000000020004" pitchFamily="2" charset="0"/>
                        <a:cs typeface="Helvetica Neue" panose="020B0604020202020204" charset="0"/>
                      </a:endParaRPr>
                    </a:p>
                  </a:txBody>
                  <a:tcPr anchor="ctr"/>
                </a:tc>
                <a:tc>
                  <a:txBody>
                    <a:bodyPr/>
                    <a:lstStyle/>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Led three SAP implementations, including implementing Target Canada</a:t>
                      </a:r>
                    </a:p>
                    <a:p>
                      <a:pPr marL="171450" marR="0" lvl="0" indent="-171450" algn="l" defTabSz="514337" rtl="0" eaLnBrk="1" fontAlgn="auto" latinLnBrk="0" hangingPunct="1">
                        <a:lnSpc>
                          <a:spcPct val="90000"/>
                        </a:lnSpc>
                        <a:spcBef>
                          <a:spcPts val="1000"/>
                        </a:spcBef>
                        <a:spcAft>
                          <a:spcPts val="300"/>
                        </a:spcAft>
                        <a:buClrTx/>
                        <a:buSzTx/>
                        <a:buFont typeface="Arial" panose="020B0706020202030204" pitchFamily="34" charset="0"/>
                        <a:buBlip>
                          <a:blip r:embed="rId2"/>
                        </a:buBlip>
                        <a:tabLst/>
                        <a:defRPr/>
                      </a:pPr>
                      <a:r>
                        <a:rPr lang="en-US" sz="1200" b="0" kern="1200" spc="-10" noProof="0" dirty="0">
                          <a:solidFill>
                            <a:schemeClr val="tx1"/>
                          </a:solidFill>
                          <a:latin typeface="Arial" pitchFamily="34" charset="0"/>
                          <a:ea typeface="Lato" panose="020F0502020204030203" pitchFamily="34" charset="0"/>
                          <a:cs typeface="Arial" panose="020B0604020202020204" pitchFamily="34" charset="0"/>
                        </a:rPr>
                        <a:t>Has significant experience and expertise in managing complex projects across multiple industries including retail, insurance, and telecom</a:t>
                      </a:r>
                    </a:p>
                  </a:txBody>
                  <a:tcPr anchor="ctr"/>
                </a:tc>
                <a:extLst>
                  <a:ext uri="{0D108BD9-81ED-4DB2-BD59-A6C34878D82A}">
                    <a16:rowId xmlns:a16="http://schemas.microsoft.com/office/drawing/2014/main" val="10003"/>
                  </a:ext>
                </a:extLst>
              </a:tr>
            </a:tbl>
          </a:graphicData>
        </a:graphic>
      </p:graphicFrame>
      <p:grpSp>
        <p:nvGrpSpPr>
          <p:cNvPr id="7" name="Group 6">
            <a:extLst>
              <a:ext uri="{FF2B5EF4-FFF2-40B4-BE49-F238E27FC236}">
                <a16:creationId xmlns:a16="http://schemas.microsoft.com/office/drawing/2014/main" id="{0CB7953E-2A5B-A23C-63A3-F9321963019E}"/>
              </a:ext>
            </a:extLst>
          </p:cNvPr>
          <p:cNvGrpSpPr/>
          <p:nvPr/>
        </p:nvGrpSpPr>
        <p:grpSpPr>
          <a:xfrm>
            <a:off x="1284726" y="2252450"/>
            <a:ext cx="3028370" cy="182879"/>
            <a:chOff x="576280" y="2667295"/>
            <a:chExt cx="1295384" cy="121908"/>
          </a:xfrm>
        </p:grpSpPr>
        <p:sp>
          <p:nvSpPr>
            <p:cNvPr id="8" name="Google Shape;425;p8">
              <a:extLst>
                <a:ext uri="{FF2B5EF4-FFF2-40B4-BE49-F238E27FC236}">
                  <a16:creationId xmlns:a16="http://schemas.microsoft.com/office/drawing/2014/main" id="{05A18653-C719-C6F9-6C8E-E0FA54E9B27E}"/>
                </a:ext>
              </a:extLst>
            </p:cNvPr>
            <p:cNvSpPr/>
            <p:nvPr/>
          </p:nvSpPr>
          <p:spPr>
            <a:xfrm>
              <a:off x="576280" y="2713297"/>
              <a:ext cx="1295384" cy="45719"/>
            </a:xfrm>
            <a:prstGeom prst="rect">
              <a:avLst/>
            </a:prstGeom>
            <a:gradFill>
              <a:gsLst>
                <a:gs pos="0">
                  <a:srgbClr val="BA0B2F"/>
                </a:gs>
                <a:gs pos="52000">
                  <a:srgbClr val="FFB547"/>
                </a:gs>
                <a:gs pos="100000">
                  <a:srgbClr val="00C27A"/>
                </a:gs>
              </a:gsLst>
              <a:lin ang="0" scaled="0"/>
            </a:gradFill>
            <a:ln>
              <a:noFill/>
            </a:ln>
          </p:spPr>
          <p:txBody>
            <a:bodyPr spcFirstLastPara="1" wrap="square" lIns="45713" tIns="22850" rIns="45713" bIns="2285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3600"/>
                <a:buFont typeface="Arial"/>
                <a:buNone/>
                <a:tabLst/>
                <a:defRPr>
                  <a:solidFill>
                    <a:srgbClr val="FFFFFF"/>
                  </a:solidFill>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9" name="Oval 8">
              <a:extLst>
                <a:ext uri="{FF2B5EF4-FFF2-40B4-BE49-F238E27FC236}">
                  <a16:creationId xmlns:a16="http://schemas.microsoft.com/office/drawing/2014/main" id="{83455CC8-5E9F-AA83-DF8E-1F2E975FABE0}"/>
                </a:ext>
              </a:extLst>
            </p:cNvPr>
            <p:cNvSpPr/>
            <p:nvPr/>
          </p:nvSpPr>
          <p:spPr>
            <a:xfrm>
              <a:off x="1745441" y="2667295"/>
              <a:ext cx="78227" cy="121908"/>
            </a:xfrm>
            <a:prstGeom prst="ellipse">
              <a:avLst/>
            </a:prstGeom>
            <a:solidFill>
              <a:srgbClr val="00C27A"/>
            </a:solidFill>
          </p:spPr>
          <p:txBody>
            <a:bodyPr vert="horz" lIns="54864" tIns="54864" rIns="45720" bIns="36576" rtlCol="0" anchor="ctr" anchorCtr="0">
              <a:noAutofit/>
            </a:bodyPr>
            <a:lstStyle/>
            <a:p>
              <a:pPr marL="0" marR="0" lvl="0" indent="0" algn="l"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solidFill>
                    <a:srgbClr val="FFFFFF"/>
                  </a:solidFill>
                </a:defRPr>
              </a:pPr>
              <a:endParaRPr kumimoji="0" lang="en-US" sz="1400" b="0" i="0" u="none" strike="noStrike" kern="1200" cap="none" spc="-10" normalizeH="0" baseline="0" noProof="0" err="1">
                <a:ln>
                  <a:noFill/>
                </a:ln>
                <a:solidFill>
                  <a:srgbClr val="FFFFFF"/>
                </a:solidFill>
                <a:effectLst/>
                <a:uLnTx/>
                <a:uFillTx/>
                <a:latin typeface="Arial" pitchFamily="34" charset="0"/>
                <a:ea typeface="+mn-ea"/>
                <a:cs typeface="Arial" panose="020B0604020202020204" pitchFamily="34" charset="0"/>
              </a:endParaRPr>
            </a:p>
          </p:txBody>
        </p:sp>
      </p:grpSp>
      <p:grpSp>
        <p:nvGrpSpPr>
          <p:cNvPr id="10" name="Group 9">
            <a:extLst>
              <a:ext uri="{FF2B5EF4-FFF2-40B4-BE49-F238E27FC236}">
                <a16:creationId xmlns:a16="http://schemas.microsoft.com/office/drawing/2014/main" id="{B3E6CB83-3288-469E-362B-6EDE271CF5DE}"/>
              </a:ext>
            </a:extLst>
          </p:cNvPr>
          <p:cNvGrpSpPr/>
          <p:nvPr/>
        </p:nvGrpSpPr>
        <p:grpSpPr>
          <a:xfrm>
            <a:off x="1284726" y="3467044"/>
            <a:ext cx="3028370" cy="182879"/>
            <a:chOff x="576280" y="2667295"/>
            <a:chExt cx="1295384" cy="121908"/>
          </a:xfrm>
          <a:gradFill>
            <a:gsLst>
              <a:gs pos="0">
                <a:srgbClr val="BA0B2F"/>
              </a:gs>
              <a:gs pos="52000">
                <a:srgbClr val="FFB547"/>
              </a:gs>
              <a:gs pos="100000">
                <a:srgbClr val="00C27A"/>
              </a:gs>
            </a:gsLst>
          </a:gradFill>
        </p:grpSpPr>
        <p:sp>
          <p:nvSpPr>
            <p:cNvPr id="11" name="Google Shape;425;p8">
              <a:extLst>
                <a:ext uri="{FF2B5EF4-FFF2-40B4-BE49-F238E27FC236}">
                  <a16:creationId xmlns:a16="http://schemas.microsoft.com/office/drawing/2014/main" id="{9C62F2CD-7682-D742-E23B-72F8624FC838}"/>
                </a:ext>
              </a:extLst>
            </p:cNvPr>
            <p:cNvSpPr/>
            <p:nvPr/>
          </p:nvSpPr>
          <p:spPr>
            <a:xfrm>
              <a:off x="576280" y="2713297"/>
              <a:ext cx="1295384" cy="45719"/>
            </a:xfrm>
            <a:prstGeom prst="rect">
              <a:avLst/>
            </a:prstGeom>
            <a:grpFill/>
            <a:ln>
              <a:noFill/>
            </a:ln>
          </p:spPr>
          <p:txBody>
            <a:bodyPr spcFirstLastPara="1" wrap="square" lIns="45713" tIns="22850" rIns="45713" bIns="2285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3600"/>
                <a:buFont typeface="Arial"/>
                <a:buNone/>
                <a:tabLst/>
                <a:defRPr>
                  <a:solidFill>
                    <a:srgbClr val="FFFFFF"/>
                  </a:solidFill>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12" name="Oval 11">
              <a:extLst>
                <a:ext uri="{FF2B5EF4-FFF2-40B4-BE49-F238E27FC236}">
                  <a16:creationId xmlns:a16="http://schemas.microsoft.com/office/drawing/2014/main" id="{E1E38B23-5DCF-BBC1-7121-FF9EDC61BDE5}"/>
                </a:ext>
              </a:extLst>
            </p:cNvPr>
            <p:cNvSpPr/>
            <p:nvPr/>
          </p:nvSpPr>
          <p:spPr>
            <a:xfrm>
              <a:off x="1745441" y="2667295"/>
              <a:ext cx="78227" cy="121908"/>
            </a:xfrm>
            <a:prstGeom prst="ellipse">
              <a:avLst/>
            </a:prstGeom>
            <a:grpFill/>
          </p:spPr>
          <p:txBody>
            <a:bodyPr vert="horz" lIns="54864" tIns="54864" rIns="45720" bIns="36576" rtlCol="0" anchor="ctr" anchorCtr="0">
              <a:noAutofit/>
            </a:bodyPr>
            <a:lstStyle/>
            <a:p>
              <a:pPr marL="0" marR="0" lvl="0" indent="0" algn="l"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solidFill>
                    <a:srgbClr val="FFFFFF"/>
                  </a:solidFill>
                </a:defRPr>
              </a:pPr>
              <a:endParaRPr kumimoji="0" lang="en-US" sz="1400" b="0" i="0" u="none" strike="noStrike" kern="1200" cap="none" spc="-10" normalizeH="0" baseline="0" noProof="0" err="1">
                <a:ln>
                  <a:noFill/>
                </a:ln>
                <a:solidFill>
                  <a:srgbClr val="FFFFFF"/>
                </a:solidFill>
                <a:effectLst/>
                <a:uLnTx/>
                <a:uFillTx/>
                <a:latin typeface="Arial" pitchFamily="34" charset="0"/>
                <a:ea typeface="+mn-ea"/>
                <a:cs typeface="Arial" panose="020B0604020202020204" pitchFamily="34" charset="0"/>
              </a:endParaRPr>
            </a:p>
          </p:txBody>
        </p:sp>
      </p:grpSp>
      <p:grpSp>
        <p:nvGrpSpPr>
          <p:cNvPr id="13" name="Group 12">
            <a:extLst>
              <a:ext uri="{FF2B5EF4-FFF2-40B4-BE49-F238E27FC236}">
                <a16:creationId xmlns:a16="http://schemas.microsoft.com/office/drawing/2014/main" id="{2BB2D3B7-CE29-D529-6847-C9891E5B41F1}"/>
              </a:ext>
            </a:extLst>
          </p:cNvPr>
          <p:cNvGrpSpPr/>
          <p:nvPr/>
        </p:nvGrpSpPr>
        <p:grpSpPr>
          <a:xfrm>
            <a:off x="1284726" y="4575546"/>
            <a:ext cx="3028370" cy="182879"/>
            <a:chOff x="576280" y="2673644"/>
            <a:chExt cx="1295384" cy="121908"/>
          </a:xfrm>
          <a:gradFill>
            <a:gsLst>
              <a:gs pos="0">
                <a:srgbClr val="BA0B2F"/>
              </a:gs>
              <a:gs pos="52000">
                <a:srgbClr val="FFB547"/>
              </a:gs>
              <a:gs pos="100000">
                <a:srgbClr val="00C27A"/>
              </a:gs>
            </a:gsLst>
          </a:gradFill>
        </p:grpSpPr>
        <p:sp>
          <p:nvSpPr>
            <p:cNvPr id="14" name="Google Shape;425;p8">
              <a:extLst>
                <a:ext uri="{FF2B5EF4-FFF2-40B4-BE49-F238E27FC236}">
                  <a16:creationId xmlns:a16="http://schemas.microsoft.com/office/drawing/2014/main" id="{5A7EEE8F-0060-C23F-3600-77783171FD21}"/>
                </a:ext>
              </a:extLst>
            </p:cNvPr>
            <p:cNvSpPr/>
            <p:nvPr/>
          </p:nvSpPr>
          <p:spPr>
            <a:xfrm>
              <a:off x="576280" y="2713297"/>
              <a:ext cx="1295384" cy="45719"/>
            </a:xfrm>
            <a:prstGeom prst="rect">
              <a:avLst/>
            </a:prstGeom>
            <a:grpFill/>
            <a:ln>
              <a:noFill/>
            </a:ln>
          </p:spPr>
          <p:txBody>
            <a:bodyPr spcFirstLastPara="1" wrap="square" lIns="45713" tIns="22850" rIns="45713" bIns="2285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3600"/>
                <a:buFont typeface="Arial"/>
                <a:buNone/>
                <a:tabLst/>
                <a:defRPr>
                  <a:solidFill>
                    <a:srgbClr val="FFFFFF"/>
                  </a:solidFill>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15" name="Oval 14">
              <a:extLst>
                <a:ext uri="{FF2B5EF4-FFF2-40B4-BE49-F238E27FC236}">
                  <a16:creationId xmlns:a16="http://schemas.microsoft.com/office/drawing/2014/main" id="{AA07B65D-D340-41F2-059C-5D282EC7B5F7}"/>
                </a:ext>
              </a:extLst>
            </p:cNvPr>
            <p:cNvSpPr/>
            <p:nvPr/>
          </p:nvSpPr>
          <p:spPr>
            <a:xfrm>
              <a:off x="885755" y="2673644"/>
              <a:ext cx="78227" cy="121908"/>
            </a:xfrm>
            <a:prstGeom prst="ellipse">
              <a:avLst/>
            </a:prstGeom>
            <a:grpFill/>
          </p:spPr>
          <p:txBody>
            <a:bodyPr vert="horz" lIns="54864" tIns="54864" rIns="45720" bIns="36576" rtlCol="0" anchor="ctr" anchorCtr="0">
              <a:noAutofit/>
            </a:bodyPr>
            <a:lstStyle/>
            <a:p>
              <a:pPr marL="0" marR="0" lvl="0" indent="0" algn="l"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err="1">
                <a:ln>
                  <a:noFill/>
                </a:ln>
                <a:solidFill>
                  <a:srgbClr val="3B3B3B"/>
                </a:solidFill>
                <a:effectLst/>
                <a:uLnTx/>
                <a:uFillTx/>
                <a:latin typeface="Arial" pitchFamily="34" charset="0"/>
                <a:ea typeface="+mn-ea"/>
                <a:cs typeface="Arial" panose="020B0604020202020204" pitchFamily="34" charset="0"/>
              </a:endParaRPr>
            </a:p>
          </p:txBody>
        </p:sp>
      </p:grpSp>
      <p:grpSp>
        <p:nvGrpSpPr>
          <p:cNvPr id="16" name="Group 15">
            <a:extLst>
              <a:ext uri="{FF2B5EF4-FFF2-40B4-BE49-F238E27FC236}">
                <a16:creationId xmlns:a16="http://schemas.microsoft.com/office/drawing/2014/main" id="{5925D331-F390-A11B-B7FA-6B28F7575C00}"/>
              </a:ext>
            </a:extLst>
          </p:cNvPr>
          <p:cNvGrpSpPr/>
          <p:nvPr/>
        </p:nvGrpSpPr>
        <p:grpSpPr>
          <a:xfrm>
            <a:off x="1284726" y="5597383"/>
            <a:ext cx="3028370" cy="182879"/>
            <a:chOff x="576280" y="2667295"/>
            <a:chExt cx="1295384" cy="121908"/>
          </a:xfrm>
          <a:gradFill>
            <a:gsLst>
              <a:gs pos="0">
                <a:srgbClr val="BA0B2F"/>
              </a:gs>
              <a:gs pos="52000">
                <a:srgbClr val="FFB547"/>
              </a:gs>
              <a:gs pos="100000">
                <a:srgbClr val="00C27A"/>
              </a:gs>
            </a:gsLst>
          </a:gradFill>
        </p:grpSpPr>
        <p:sp>
          <p:nvSpPr>
            <p:cNvPr id="17" name="Google Shape;425;p8">
              <a:extLst>
                <a:ext uri="{FF2B5EF4-FFF2-40B4-BE49-F238E27FC236}">
                  <a16:creationId xmlns:a16="http://schemas.microsoft.com/office/drawing/2014/main" id="{FA721604-D185-9A27-A08B-8D386D1533BD}"/>
                </a:ext>
              </a:extLst>
            </p:cNvPr>
            <p:cNvSpPr/>
            <p:nvPr/>
          </p:nvSpPr>
          <p:spPr>
            <a:xfrm>
              <a:off x="576280" y="2713297"/>
              <a:ext cx="1295384" cy="45719"/>
            </a:xfrm>
            <a:prstGeom prst="rect">
              <a:avLst/>
            </a:prstGeom>
            <a:grpFill/>
            <a:ln>
              <a:noFill/>
            </a:ln>
          </p:spPr>
          <p:txBody>
            <a:bodyPr spcFirstLastPara="1" wrap="square" lIns="45713" tIns="22850" rIns="45713" bIns="2285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3600"/>
                <a:buFont typeface="Arial"/>
                <a:buNone/>
                <a:tabLst/>
                <a:defRPr>
                  <a:solidFill>
                    <a:srgbClr val="FFFFFF"/>
                  </a:solidFill>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18" name="Oval 17">
              <a:extLst>
                <a:ext uri="{FF2B5EF4-FFF2-40B4-BE49-F238E27FC236}">
                  <a16:creationId xmlns:a16="http://schemas.microsoft.com/office/drawing/2014/main" id="{E5A51529-A33C-202F-28E9-DA31C4AD4306}"/>
                </a:ext>
              </a:extLst>
            </p:cNvPr>
            <p:cNvSpPr/>
            <p:nvPr/>
          </p:nvSpPr>
          <p:spPr>
            <a:xfrm>
              <a:off x="1443942" y="2667295"/>
              <a:ext cx="78227" cy="121908"/>
            </a:xfrm>
            <a:prstGeom prst="ellipse">
              <a:avLst/>
            </a:prstGeom>
            <a:grpFill/>
          </p:spPr>
          <p:txBody>
            <a:bodyPr vert="horz" lIns="54864" tIns="54864" rIns="45720" bIns="36576" rtlCol="0" anchor="ctr" anchorCtr="0">
              <a:noAutofit/>
            </a:bodyPr>
            <a:lstStyle/>
            <a:p>
              <a:pPr marL="0" marR="0" lvl="0" indent="0" algn="l"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mn-ea"/>
                <a:cs typeface="Arial" panose="020B0604020202020204" pitchFamily="34" charset="0"/>
              </a:endParaRPr>
            </a:p>
          </p:txBody>
        </p:sp>
      </p:grpSp>
      <p:cxnSp>
        <p:nvCxnSpPr>
          <p:cNvPr id="19" name="Straight Arrow Connector 18">
            <a:extLst>
              <a:ext uri="{FF2B5EF4-FFF2-40B4-BE49-F238E27FC236}">
                <a16:creationId xmlns:a16="http://schemas.microsoft.com/office/drawing/2014/main" id="{1ECB0E70-2A35-325D-92A8-A21401385AD2}"/>
              </a:ext>
            </a:extLst>
          </p:cNvPr>
          <p:cNvCxnSpPr>
            <a:cxnSpLocks/>
          </p:cNvCxnSpPr>
          <p:nvPr/>
        </p:nvCxnSpPr>
        <p:spPr>
          <a:xfrm>
            <a:off x="1575277" y="6372247"/>
            <a:ext cx="2351301" cy="0"/>
          </a:xfrm>
          <a:prstGeom prst="straightConnector1">
            <a:avLst/>
          </a:prstGeom>
          <a:ln>
            <a:solidFill>
              <a:srgbClr val="281A42"/>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A1AD35-993E-0323-6A77-CC04F26F02D9}"/>
              </a:ext>
            </a:extLst>
          </p:cNvPr>
          <p:cNvSpPr txBox="1"/>
          <p:nvPr/>
        </p:nvSpPr>
        <p:spPr>
          <a:xfrm>
            <a:off x="2305811" y="6153071"/>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dirty="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dirty="0">
              <a:ln>
                <a:noFill/>
              </a:ln>
              <a:effectLst/>
              <a:uLnTx/>
              <a:uFillTx/>
              <a:latin typeface="Arial" pitchFamily="34" charset="0"/>
              <a:ea typeface="+mn-ea"/>
              <a:cs typeface="+mn-cs"/>
            </a:endParaRPr>
          </a:p>
        </p:txBody>
      </p:sp>
      <p:sp>
        <p:nvSpPr>
          <p:cNvPr id="21" name="TextBox 20">
            <a:extLst>
              <a:ext uri="{FF2B5EF4-FFF2-40B4-BE49-F238E27FC236}">
                <a16:creationId xmlns:a16="http://schemas.microsoft.com/office/drawing/2014/main" id="{E2E357BC-B1E1-8F41-E83D-11157F5F2178}"/>
              </a:ext>
            </a:extLst>
          </p:cNvPr>
          <p:cNvSpPr txBox="1"/>
          <p:nvPr/>
        </p:nvSpPr>
        <p:spPr>
          <a:xfrm>
            <a:off x="1364506" y="6243708"/>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dirty="0">
                <a:ln>
                  <a:noFill/>
                </a:ln>
                <a:solidFill>
                  <a:srgbClr val="BA0B2F"/>
                </a:solidFill>
                <a:effectLst/>
                <a:uLnTx/>
                <a:uFillTx/>
                <a:latin typeface="Arial" pitchFamily="34" charset="0"/>
                <a:ea typeface="+mn-ea"/>
                <a:cs typeface="+mn-cs"/>
                <a:sym typeface="Wingdings" panose="05000000000000000000" pitchFamily="2" charset="2"/>
              </a:rPr>
              <a:t></a:t>
            </a:r>
            <a:endParaRPr kumimoji="0" lang="en-US" sz="900" b="0" i="0" u="none" strike="noStrike" kern="1200" cap="none" spc="-10" normalizeH="0" baseline="0" noProof="0" dirty="0">
              <a:ln>
                <a:noFill/>
              </a:ln>
              <a:solidFill>
                <a:srgbClr val="BA0B2F"/>
              </a:solidFill>
              <a:effectLst/>
              <a:uLnTx/>
              <a:uFillTx/>
              <a:latin typeface="Arial"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67C299C6-95E6-CAC9-4D76-6AE3C27616B0}"/>
              </a:ext>
            </a:extLst>
          </p:cNvPr>
          <p:cNvSpPr txBox="1"/>
          <p:nvPr/>
        </p:nvSpPr>
        <p:spPr>
          <a:xfrm>
            <a:off x="3987640" y="6243708"/>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C27A"/>
                </a:solidFill>
                <a:effectLst/>
                <a:uLnTx/>
                <a:uFillTx/>
                <a:latin typeface="Arial" pitchFamily="34" charset="0"/>
                <a:ea typeface="+mn-ea"/>
                <a:cs typeface="+mn-cs"/>
                <a:sym typeface="Wingdings" panose="05000000000000000000" pitchFamily="2" charset="2"/>
              </a:rPr>
              <a:t></a:t>
            </a:r>
            <a:endParaRPr kumimoji="0" lang="en-US" sz="900" b="0" i="0" u="none" strike="noStrike" kern="1200" cap="none" spc="-10" normalizeH="0" baseline="0" noProof="0">
              <a:ln>
                <a:noFill/>
              </a:ln>
              <a:solidFill>
                <a:srgbClr val="00C27A"/>
              </a:solidFill>
              <a:effectLst/>
              <a:uLnTx/>
              <a:uFillTx/>
              <a:latin typeface="Arial" pitchFamily="34" charset="0"/>
              <a:ea typeface="Lato" panose="020F0502020204030203" pitchFamily="34" charset="0"/>
              <a:cs typeface="Lato" panose="020F0502020204030203" pitchFamily="34" charset="0"/>
            </a:endParaRPr>
          </a:p>
        </p:txBody>
      </p:sp>
      <p:sp>
        <p:nvSpPr>
          <p:cNvPr id="23" name="TextBox 22">
            <a:extLst>
              <a:ext uri="{FF2B5EF4-FFF2-40B4-BE49-F238E27FC236}">
                <a16:creationId xmlns:a16="http://schemas.microsoft.com/office/drawing/2014/main" id="{0365BAD0-9E53-A559-5737-FEA3ABA3BA82}"/>
              </a:ext>
            </a:extLst>
          </p:cNvPr>
          <p:cNvSpPr txBox="1"/>
          <p:nvPr/>
        </p:nvSpPr>
        <p:spPr>
          <a:xfrm>
            <a:off x="2676072" y="6243708"/>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B547"/>
                </a:solidFill>
                <a:effectLst/>
                <a:uLnTx/>
                <a:uFillTx/>
                <a:latin typeface="Arial" pitchFamily="34" charset="0"/>
                <a:ea typeface="+mn-ea"/>
                <a:cs typeface="+mn-cs"/>
                <a:sym typeface="Wingdings" panose="05000000000000000000" pitchFamily="2" charset="2"/>
              </a:rPr>
              <a:t></a:t>
            </a:r>
            <a:endParaRPr kumimoji="0" lang="en-US" sz="900" b="0" i="0" u="none" strike="noStrike" kern="1200" cap="none" spc="-10" normalizeH="0" baseline="0" noProof="0">
              <a:ln>
                <a:noFill/>
              </a:ln>
              <a:solidFill>
                <a:srgbClr val="FFB547"/>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686DD5F3-0CFE-9A84-6AD2-480C58412B43}"/>
              </a:ext>
            </a:extLst>
          </p:cNvPr>
          <p:cNvSpPr txBox="1"/>
          <p:nvPr/>
        </p:nvSpPr>
        <p:spPr>
          <a:xfrm>
            <a:off x="2011384" y="6243708"/>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5" name="TextBox 24">
            <a:extLst>
              <a:ext uri="{FF2B5EF4-FFF2-40B4-BE49-F238E27FC236}">
                <a16:creationId xmlns:a16="http://schemas.microsoft.com/office/drawing/2014/main" id="{25B1AD0C-D54F-2A0C-F595-B8AADD4EDAB7}"/>
              </a:ext>
            </a:extLst>
          </p:cNvPr>
          <p:cNvSpPr txBox="1"/>
          <p:nvPr/>
        </p:nvSpPr>
        <p:spPr>
          <a:xfrm>
            <a:off x="3322950" y="6243708"/>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 name="TextBox 25">
            <a:extLst>
              <a:ext uri="{FF2B5EF4-FFF2-40B4-BE49-F238E27FC236}">
                <a16:creationId xmlns:a16="http://schemas.microsoft.com/office/drawing/2014/main" id="{46D8C85E-BFAB-4649-FCC8-48E8137BD5EA}"/>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164046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2ACCA8-C6A7-5221-3C2E-6591BF7A67EC}"/>
              </a:ext>
            </a:extLst>
          </p:cNvPr>
          <p:cNvSpPr>
            <a:spLocks noGrp="1"/>
          </p:cNvSpPr>
          <p:nvPr>
            <p:ph type="sldNum" sz="quarter" idx="4"/>
          </p:nvPr>
        </p:nvSpPr>
        <p:spPr/>
        <p:txBody>
          <a:bodyPr/>
          <a:lstStyle/>
          <a:p>
            <a:pPr algn="ctr"/>
            <a:fld id="{1875A764-3B06-454E-8ABA-2F6ED0EB58E9}" type="slidenum">
              <a:rPr lang="en-US" smtClean="0"/>
              <a:t>9</a:t>
            </a:fld>
            <a:endParaRPr lang="en-US"/>
          </a:p>
        </p:txBody>
      </p:sp>
      <p:sp>
        <p:nvSpPr>
          <p:cNvPr id="3" name="Title 2">
            <a:extLst>
              <a:ext uri="{FF2B5EF4-FFF2-40B4-BE49-F238E27FC236}">
                <a16:creationId xmlns:a16="http://schemas.microsoft.com/office/drawing/2014/main" id="{49FFCD88-B384-03D8-1DAC-ED1931CF9E29}"/>
              </a:ext>
            </a:extLst>
          </p:cNvPr>
          <p:cNvSpPr>
            <a:spLocks noGrp="1"/>
          </p:cNvSpPr>
          <p:nvPr>
            <p:ph type="title"/>
          </p:nvPr>
        </p:nvSpPr>
        <p:spPr/>
        <p:txBody>
          <a:bodyPr/>
          <a:lstStyle/>
          <a:p>
            <a:r>
              <a:rPr lang="en-US" spc="-25" dirty="0">
                <a:ea typeface="Helvetica Neue Medium" panose="02000503000000020004" pitchFamily="2" charset="0"/>
                <a:cs typeface="Helvetica Neue Light" panose="020B0604020202020204" charset="0"/>
              </a:rPr>
              <a:t>Hogan</a:t>
            </a:r>
            <a:endParaRPr lang="en-US" dirty="0"/>
          </a:p>
        </p:txBody>
      </p:sp>
      <p:grpSp>
        <p:nvGrpSpPr>
          <p:cNvPr id="4" name="Group 3">
            <a:extLst>
              <a:ext uri="{FF2B5EF4-FFF2-40B4-BE49-F238E27FC236}">
                <a16:creationId xmlns:a16="http://schemas.microsoft.com/office/drawing/2014/main" id="{1656D8E1-99AE-9A5B-958A-7000D3A5AAF7}"/>
              </a:ext>
            </a:extLst>
          </p:cNvPr>
          <p:cNvGrpSpPr/>
          <p:nvPr/>
        </p:nvGrpSpPr>
        <p:grpSpPr>
          <a:xfrm>
            <a:off x="533365" y="1527031"/>
            <a:ext cx="6192678" cy="400833"/>
            <a:chOff x="6172200" y="442620"/>
            <a:chExt cx="5405378" cy="400833"/>
          </a:xfrm>
        </p:grpSpPr>
        <p:cxnSp>
          <p:nvCxnSpPr>
            <p:cNvPr id="5" name="Straight Connector 4">
              <a:extLst>
                <a:ext uri="{FF2B5EF4-FFF2-40B4-BE49-F238E27FC236}">
                  <a16:creationId xmlns:a16="http://schemas.microsoft.com/office/drawing/2014/main" id="{69DA1C9F-2A08-074B-3288-DC91AF90CA46}"/>
                </a:ext>
              </a:extLst>
            </p:cNvPr>
            <p:cNvCxnSpPr>
              <a:cxnSpLocks/>
            </p:cNvCxnSpPr>
            <p:nvPr/>
          </p:nvCxnSpPr>
          <p:spPr>
            <a:xfrm>
              <a:off x="6172200" y="643035"/>
              <a:ext cx="5405378"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4094C0E-C665-1A97-779B-49177FD49943}"/>
                </a:ext>
              </a:extLst>
            </p:cNvPr>
            <p:cNvSpPr txBox="1"/>
            <p:nvPr/>
          </p:nvSpPr>
          <p:spPr>
            <a:xfrm>
              <a:off x="7755729" y="442620"/>
              <a:ext cx="2260208" cy="400833"/>
            </a:xfrm>
            <a:prstGeom prst="rect">
              <a:avLst/>
            </a:prstGeom>
            <a:solidFill>
              <a:schemeClr val="bg1"/>
            </a:solidFill>
            <a:ln>
              <a:noFill/>
            </a:ln>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Hogan Assessment Summary</a:t>
              </a:r>
              <a:endParaRPr kumimoji="0" lang="en-US" sz="1400" b="1" i="0" u="none" strike="noStrike" kern="1200" cap="none" spc="-25" normalizeH="0" baseline="3000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15A7044D-5409-6336-CCB6-204185ACD480}"/>
              </a:ext>
            </a:extLst>
          </p:cNvPr>
          <p:cNvGrpSpPr/>
          <p:nvPr/>
        </p:nvGrpSpPr>
        <p:grpSpPr>
          <a:xfrm>
            <a:off x="533365" y="995016"/>
            <a:ext cx="6226053" cy="655403"/>
            <a:chOff x="529855" y="131505"/>
            <a:chExt cx="6226053" cy="655403"/>
          </a:xfrm>
        </p:grpSpPr>
        <p:sp>
          <p:nvSpPr>
            <p:cNvPr id="8" name="TextBox 7">
              <a:extLst>
                <a:ext uri="{FF2B5EF4-FFF2-40B4-BE49-F238E27FC236}">
                  <a16:creationId xmlns:a16="http://schemas.microsoft.com/office/drawing/2014/main" id="{1112B1D0-C682-1633-2DFD-36C8211406EE}"/>
                </a:ext>
              </a:extLst>
            </p:cNvPr>
            <p:cNvSpPr txBox="1"/>
            <p:nvPr/>
          </p:nvSpPr>
          <p:spPr>
            <a:xfrm>
              <a:off x="529855" y="131505"/>
              <a:ext cx="680414" cy="25391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50" b="1" i="0" u="none" strike="noStrike" kern="1200" cap="none" spc="-25" normalizeH="0" baseline="0" noProof="0">
                  <a:ln>
                    <a:noFill/>
                  </a:ln>
                  <a:solidFill>
                    <a:srgbClr val="1D1D1D">
                      <a:lumMod val="50000"/>
                      <a:lumOff val="50000"/>
                    </a:srgbClr>
                  </a:solidFill>
                  <a:effectLst/>
                  <a:uLnTx/>
                  <a:uFillTx/>
                  <a:latin typeface="Segoe UI" pitchFamily="34" charset="0"/>
                  <a:ea typeface="Helvetica Neue" panose="02000503000000020004" pitchFamily="2" charset="0"/>
                  <a:cs typeface="Helvetica Neue" panose="02000503000000020004" pitchFamily="2" charset="0"/>
                </a:rPr>
                <a:t>Role</a:t>
              </a:r>
            </a:p>
          </p:txBody>
        </p:sp>
        <p:sp>
          <p:nvSpPr>
            <p:cNvPr id="9" name="TextBox 8">
              <a:extLst>
                <a:ext uri="{FF2B5EF4-FFF2-40B4-BE49-F238E27FC236}">
                  <a16:creationId xmlns:a16="http://schemas.microsoft.com/office/drawing/2014/main" id="{43A527D8-2D52-E2C7-B023-780768C50DA1}"/>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prstClr val="black"/>
                  </a:solidFill>
                  <a:effectLst/>
                  <a:uLnTx/>
                  <a:uFillTx/>
                  <a:latin typeface="Segoe UI" pitchFamily="34" charset="0"/>
                  <a:ea typeface="Helvetica Neue" panose="02000503000000020004" pitchFamily="2" charset="0"/>
                  <a:cs typeface="Helvetica Neue" panose="02000503000000020004" pitchFamily="2" charset="0"/>
                </a:rPr>
                <a:t>Candidate, CDIO</a:t>
              </a:r>
            </a:p>
          </p:txBody>
        </p:sp>
        <p:sp>
          <p:nvSpPr>
            <p:cNvPr id="10" name="TextBox 9">
              <a:extLst>
                <a:ext uri="{FF2B5EF4-FFF2-40B4-BE49-F238E27FC236}">
                  <a16:creationId xmlns:a16="http://schemas.microsoft.com/office/drawing/2014/main" id="{5749ECE7-CDC7-6CB7-8A66-F79CE4DE50FF}"/>
                </a:ext>
              </a:extLst>
            </p:cNvPr>
            <p:cNvSpPr txBox="1"/>
            <p:nvPr/>
          </p:nvSpPr>
          <p:spPr>
            <a:xfrm>
              <a:off x="5962084" y="131505"/>
              <a:ext cx="748798" cy="253916"/>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50" b="1" i="0" u="none" strike="noStrike" kern="1200" cap="none" spc="-25" normalizeH="0" baseline="0" noProof="0">
                  <a:ln>
                    <a:noFill/>
                  </a:ln>
                  <a:solidFill>
                    <a:srgbClr val="1D1D1D">
                      <a:lumMod val="50000"/>
                      <a:lumOff val="50000"/>
                    </a:srgbClr>
                  </a:solidFill>
                  <a:effectLst/>
                  <a:uLnTx/>
                  <a:uFillTx/>
                  <a:latin typeface="Segoe UI" pitchFamily="34" charset="0"/>
                  <a:ea typeface="Helvetica Neue" panose="02000503000000020004" pitchFamily="2" charset="0"/>
                  <a:cs typeface="Helvetica Neue" panose="02000503000000020004" pitchFamily="2" charset="0"/>
                </a:rPr>
                <a:t>Talent</a:t>
              </a:r>
            </a:p>
          </p:txBody>
        </p:sp>
        <p:sp>
          <p:nvSpPr>
            <p:cNvPr id="11" name="TextBox 10">
              <a:extLst>
                <a:ext uri="{FF2B5EF4-FFF2-40B4-BE49-F238E27FC236}">
                  <a16:creationId xmlns:a16="http://schemas.microsoft.com/office/drawing/2014/main" id="{54F82739-7F38-CC77-9526-61430D6D0E8E}"/>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a:ln>
                    <a:noFill/>
                  </a:ln>
                  <a:solidFill>
                    <a:prstClr val="black"/>
                  </a:solidFill>
                  <a:effectLst/>
                  <a:uLnTx/>
                  <a:uFillTx/>
                  <a:latin typeface="Segoe UI" pitchFamily="34" charset="0"/>
                  <a:ea typeface="Helvetica Neue" panose="02000503000000020004" pitchFamily="2" charset="0"/>
                  <a:cs typeface="Helvetica Neue" panose="02000503000000020004" pitchFamily="2" charset="0"/>
                </a:rPr>
                <a:t>Dave Jones</a:t>
              </a:r>
            </a:p>
          </p:txBody>
        </p:sp>
      </p:grpSp>
      <p:sp>
        <p:nvSpPr>
          <p:cNvPr id="12" name="TextBox 11">
            <a:extLst>
              <a:ext uri="{FF2B5EF4-FFF2-40B4-BE49-F238E27FC236}">
                <a16:creationId xmlns:a16="http://schemas.microsoft.com/office/drawing/2014/main" id="{68073258-0036-FFD8-2422-0BCD648FC7E7}"/>
              </a:ext>
            </a:extLst>
          </p:cNvPr>
          <p:cNvSpPr txBox="1"/>
          <p:nvPr/>
        </p:nvSpPr>
        <p:spPr>
          <a:xfrm>
            <a:off x="8199966" y="215246"/>
            <a:ext cx="2887133" cy="307777"/>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a:ln>
                  <a:noFill/>
                </a:ln>
                <a:solidFill>
                  <a:prstClr val="black">
                    <a:lumMod val="75000"/>
                    <a:lumOff val="25000"/>
                  </a:prstClr>
                </a:solidFill>
                <a:effectLst/>
                <a:uLnTx/>
                <a:uFillTx/>
                <a:latin typeface="Segoe UI" pitchFamily="34" charset="0"/>
                <a:ea typeface="Lato Light" panose="020F0502020204030203" pitchFamily="34" charset="0"/>
                <a:cs typeface="Lato Light" panose="020F0502020204030203" pitchFamily="34" charset="0"/>
              </a:rPr>
              <a:t>Flash Report</a:t>
            </a:r>
          </a:p>
        </p:txBody>
      </p:sp>
      <p:pic>
        <p:nvPicPr>
          <p:cNvPr id="13" name="Picture 12" descr="A close-up of a graph&#10;&#10;Description automatically generated">
            <a:extLst>
              <a:ext uri="{FF2B5EF4-FFF2-40B4-BE49-F238E27FC236}">
                <a16:creationId xmlns:a16="http://schemas.microsoft.com/office/drawing/2014/main" id="{14296E65-3C9C-8BCB-AC13-D3887B2A3B9C}"/>
              </a:ext>
            </a:extLst>
          </p:cNvPr>
          <p:cNvPicPr>
            <a:picLocks noChangeAspect="1"/>
          </p:cNvPicPr>
          <p:nvPr/>
        </p:nvPicPr>
        <p:blipFill>
          <a:blip r:embed="rId2"/>
          <a:srcRect l="6289" t="8201" r="6024" b="7013"/>
          <a:stretch/>
        </p:blipFill>
        <p:spPr>
          <a:xfrm>
            <a:off x="7032675" y="476385"/>
            <a:ext cx="4759288" cy="5695783"/>
          </a:xfrm>
          <a:prstGeom prst="rect">
            <a:avLst/>
          </a:prstGeom>
        </p:spPr>
      </p:pic>
      <p:sp>
        <p:nvSpPr>
          <p:cNvPr id="14" name="TextBox 13">
            <a:extLst>
              <a:ext uri="{FF2B5EF4-FFF2-40B4-BE49-F238E27FC236}">
                <a16:creationId xmlns:a16="http://schemas.microsoft.com/office/drawing/2014/main" id="{9A20F3B4-5DCD-E459-10AC-14755A3F6CD3}"/>
              </a:ext>
            </a:extLst>
          </p:cNvPr>
          <p:cNvSpPr txBox="1"/>
          <p:nvPr/>
        </p:nvSpPr>
        <p:spPr>
          <a:xfrm>
            <a:off x="7351402" y="810350"/>
            <a:ext cx="1520583" cy="184666"/>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600" b="1" i="0" u="none" strike="noStrike" kern="1200" cap="none" spc="-25" normalizeH="0" baseline="0" noProof="0">
                <a:ln>
                  <a:noFill/>
                </a:ln>
                <a:solidFill>
                  <a:prstClr val="black"/>
                </a:solidFill>
                <a:effectLst/>
                <a:uLnTx/>
                <a:uFillTx/>
                <a:latin typeface="Segoe UI" pitchFamily="34" charset="0"/>
                <a:ea typeface="Lato Light" panose="020F0502020204030203" pitchFamily="34" charset="0"/>
                <a:cs typeface="Lato Light" panose="020F0502020204030203" pitchFamily="34" charset="0"/>
              </a:rPr>
              <a:t>How You Are Seen by Others Day-to-day</a:t>
            </a:r>
          </a:p>
        </p:txBody>
      </p:sp>
      <p:sp>
        <p:nvSpPr>
          <p:cNvPr id="15" name="TextBox 14">
            <a:extLst>
              <a:ext uri="{FF2B5EF4-FFF2-40B4-BE49-F238E27FC236}">
                <a16:creationId xmlns:a16="http://schemas.microsoft.com/office/drawing/2014/main" id="{8078CF18-DE0B-A56F-5ECF-DD59CF01C949}"/>
              </a:ext>
            </a:extLst>
          </p:cNvPr>
          <p:cNvSpPr txBox="1"/>
          <p:nvPr/>
        </p:nvSpPr>
        <p:spPr>
          <a:xfrm>
            <a:off x="7303393" y="2173579"/>
            <a:ext cx="1391173" cy="184666"/>
          </a:xfrm>
          <a:prstGeom prst="rect">
            <a:avLst/>
          </a:prstGeom>
          <a:noFill/>
        </p:spPr>
        <p:txBody>
          <a:bodyPr wrap="square" lIns="91440" tIns="45720" rIns="91440" bIns="45720" rtlCol="0">
            <a:spAutoFit/>
          </a:bodyPr>
          <a:lstStyle>
            <a:defPPr>
              <a:defRPr lang="en-US"/>
            </a:defPPr>
            <a:lvl1pPr>
              <a:defRPr sz="600" spc="-10">
                <a:solidFill>
                  <a:srgbClr val="1D1D1D"/>
                </a:solidFill>
                <a:latin typeface="Arial"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10" normalizeH="0" baseline="0" noProof="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rPr>
              <a:t>Potential blind spots and risk factors</a:t>
            </a:r>
          </a:p>
        </p:txBody>
      </p:sp>
      <p:sp>
        <p:nvSpPr>
          <p:cNvPr id="16" name="TextBox 15">
            <a:extLst>
              <a:ext uri="{FF2B5EF4-FFF2-40B4-BE49-F238E27FC236}">
                <a16:creationId xmlns:a16="http://schemas.microsoft.com/office/drawing/2014/main" id="{2165EF45-CADD-B961-0A70-F772B3764B08}"/>
              </a:ext>
            </a:extLst>
          </p:cNvPr>
          <p:cNvSpPr txBox="1"/>
          <p:nvPr/>
        </p:nvSpPr>
        <p:spPr>
          <a:xfrm>
            <a:off x="7303393" y="4284375"/>
            <a:ext cx="1391173" cy="184666"/>
          </a:xfrm>
          <a:prstGeom prst="rect">
            <a:avLst/>
          </a:prstGeom>
          <a:noFill/>
        </p:spPr>
        <p:txBody>
          <a:bodyPr wrap="square" lIns="91440" tIns="45720" rIns="91440" bIns="45720" rtlCol="0">
            <a:spAutoFit/>
          </a:bodyPr>
          <a:lstStyle>
            <a:defPPr>
              <a:defRPr lang="en-US"/>
            </a:defPPr>
            <a:lvl1pPr>
              <a:defRPr sz="600" spc="-10">
                <a:solidFill>
                  <a:srgbClr val="1D1D1D"/>
                </a:solidFill>
                <a:latin typeface="Arial"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10" normalizeH="0" baseline="0" noProof="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rPr>
              <a:t>Your values, interests and drivers </a:t>
            </a:r>
          </a:p>
        </p:txBody>
      </p:sp>
      <p:sp>
        <p:nvSpPr>
          <p:cNvPr id="17" name="TextBox 16">
            <a:extLst>
              <a:ext uri="{FF2B5EF4-FFF2-40B4-BE49-F238E27FC236}">
                <a16:creationId xmlns:a16="http://schemas.microsoft.com/office/drawing/2014/main" id="{E4F8758D-90CF-C1A7-D6FE-4C67AA55CF0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8" name="TextBox 20">
            <a:extLst>
              <a:ext uri="{FF2B5EF4-FFF2-40B4-BE49-F238E27FC236}">
                <a16:creationId xmlns:a16="http://schemas.microsoft.com/office/drawing/2014/main" id="{82EF8D51-1D3B-26A3-8665-0C0194CDB9F2}"/>
              </a:ext>
            </a:extLst>
          </p:cNvPr>
          <p:cNvSpPr txBox="1">
            <a:spLocks/>
          </p:cNvSpPr>
          <p:nvPr/>
        </p:nvSpPr>
        <p:spPr>
          <a:xfrm>
            <a:off x="437615" y="1982660"/>
            <a:ext cx="6388103" cy="4499990"/>
          </a:xfrm>
          <a:prstGeom prst="rect">
            <a:avLst/>
          </a:prstGeom>
          <a:noFill/>
        </p:spPr>
        <p:txBody>
          <a:bodyPr wrap="square" lIns="91440" tIns="45720" rIns="91440" bIns="4572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defRPr/>
            </a:pPr>
            <a:r>
              <a:rPr lang="en-US" sz="1100" spc="-10">
                <a:solidFill>
                  <a:prstClr val="black"/>
                </a:solidFill>
                <a:latin typeface="Segoe UI" pitchFamily="34" charset="0"/>
                <a:ea typeface="Helvetica Neue" panose="02000503000000020004" pitchFamily="2" charset="0"/>
                <a:cs typeface="Helvetica Neue" panose="02000503000000020004" pitchFamily="2" charset="0"/>
              </a:rPr>
              <a:t>Insights that are of particular relevance to the role and business context are highlighted below </a:t>
            </a:r>
          </a:p>
          <a:p>
            <a:pPr marL="0" indent="0">
              <a:lnSpc>
                <a:spcPct val="100000"/>
              </a:lnSpc>
              <a:spcBef>
                <a:spcPts val="0"/>
              </a:spcBef>
              <a:buFontTx/>
              <a:buNone/>
              <a:defRPr/>
            </a:pPr>
            <a:endParaRPr lang="en-US" sz="1100" b="1" spc="-10">
              <a:solidFill>
                <a:srgbClr val="765FFF"/>
              </a:solidFill>
              <a:latin typeface="Segoe UI" pitchFamily="34" charset="0"/>
              <a:ea typeface="Helvetica Neue" panose="02000503000000020004" pitchFamily="2" charset="0"/>
              <a:cs typeface="Helvetica Neue" panose="02000503000000020004" pitchFamily="2" charset="0"/>
            </a:endParaRPr>
          </a:p>
          <a:p>
            <a:pPr marL="0" indent="0">
              <a:lnSpc>
                <a:spcPct val="100000"/>
              </a:lnSpc>
              <a:spcBef>
                <a:spcPts val="0"/>
              </a:spcBef>
              <a:buFontTx/>
              <a:buNone/>
              <a:defRPr/>
            </a:pPr>
            <a:r>
              <a:rPr lang="en-US" sz="1100" b="1" spc="-10">
                <a:solidFill>
                  <a:srgbClr val="765FFF"/>
                </a:solidFill>
                <a:latin typeface="Segoe UI" pitchFamily="34" charset="0"/>
                <a:ea typeface="Helvetica Neue" panose="02000503000000020004" pitchFamily="2" charset="0"/>
                <a:cs typeface="Helvetica Neue" panose="02000503000000020004" pitchFamily="2" charset="0"/>
              </a:rPr>
              <a:t>Role · Talent Match</a:t>
            </a:r>
            <a:br>
              <a:rPr lang="en-US" sz="1100" b="1" spc="-10">
                <a:solidFill>
                  <a:prstClr val="black"/>
                </a:solidFill>
                <a:latin typeface="Segoe UI" pitchFamily="34" charset="0"/>
                <a:ea typeface="Helvetica Neue" panose="02000503000000020004" pitchFamily="2" charset="0"/>
                <a:cs typeface="Helvetica Neue" panose="02000503000000020004" pitchFamily="2" charset="0"/>
              </a:rPr>
            </a:br>
            <a:endParaRPr lang="en-US" sz="1100" b="1" spc="-10">
              <a:solidFill>
                <a:srgbClr val="3B3B3B"/>
              </a:solidFill>
              <a:latin typeface="Segoe UI" pitchFamily="34" charset="0"/>
              <a:ea typeface="Helvetica Neue" panose="02000503000000020004" pitchFamily="2" charset="0"/>
              <a:cs typeface="Helvetica Neue" panose="02000503000000020004" pitchFamily="2" charset="0"/>
            </a:endParaRPr>
          </a:p>
          <a:p>
            <a:pPr marL="171450" indent="-171450" algn="just">
              <a:lnSpc>
                <a:spcPct val="100000"/>
              </a:lnSpc>
              <a:spcBef>
                <a:spcPts val="0"/>
              </a:spcBef>
              <a:buFont typeface="Arial" panose="020B0706020202030204" pitchFamily="34" charset="0"/>
              <a:buBlip>
                <a:blip r:embed="rId3"/>
              </a:buBlip>
              <a:defRPr/>
            </a:pPr>
            <a:r>
              <a:rPr lang="en-US" sz="1100" spc="-10">
                <a:solidFill>
                  <a:srgbClr val="3B3B3B"/>
                </a:solidFill>
                <a:latin typeface="Arial" pitchFamily="34" charset="0"/>
                <a:ea typeface="Helvetica Neue" panose="02000503000000020004" pitchFamily="2" charset="0"/>
                <a:cs typeface="Helvetica Neue" panose="02000503000000020004" pitchFamily="2" charset="0"/>
              </a:rPr>
              <a:t>Dave brings a remarkable aptitude for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big-picture strategic thinking </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(High Inquisitive, High Learning Approach, Imaginative), while still being able to work in structured ways,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paying attention to process and details </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(High Prudence).  This bodes well for many of the JTBDs,  especially to take the “art of the possible” and work with that to execute practical and differentiating opportunities for innovation. Therefore,  he  should be able to deliver a strong, well through through risk and resilience framework, and get as involved as needed to ensure implementation. </a:t>
            </a:r>
          </a:p>
          <a:p>
            <a:pPr marL="171450" indent="-171450" algn="just">
              <a:lnSpc>
                <a:spcPct val="100000"/>
              </a:lnSpc>
              <a:spcBef>
                <a:spcPts val="0"/>
              </a:spcBef>
              <a:buFont typeface="Arial" panose="020B0706020202030204" pitchFamily="34" charset="0"/>
              <a:buBlip>
                <a:blip r:embed="rId3"/>
              </a:buBlip>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171450" indent="-171450" algn="just">
              <a:lnSpc>
                <a:spcPct val="100000"/>
              </a:lnSpc>
              <a:spcBef>
                <a:spcPts val="0"/>
              </a:spcBef>
              <a:buFont typeface="Arial" panose="020B0706020202030204" pitchFamily="34" charset="0"/>
              <a:buBlip>
                <a:blip r:embed="rId3"/>
              </a:buBlip>
              <a:defRPr/>
            </a:pPr>
            <a:r>
              <a:rPr lang="en-US" sz="1100" spc="-10">
                <a:solidFill>
                  <a:srgbClr val="3B3B3B"/>
                </a:solidFill>
                <a:latin typeface="Arial" pitchFamily="34" charset="0"/>
                <a:ea typeface="Helvetica Neue" panose="02000503000000020004" pitchFamily="2" charset="0"/>
                <a:cs typeface="Helvetica Neue" panose="02000503000000020004" pitchFamily="2" charset="0"/>
              </a:rPr>
              <a:t>His leadership style is likely to be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a calm and composed one </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(High Adjustment, Low Excitable)  - should be seen by peers and direct reports as a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steadying force, unruffled in crises.</a:t>
            </a:r>
          </a:p>
          <a:p>
            <a:pPr marL="171450" indent="-171450" algn="just">
              <a:lnSpc>
                <a:spcPct val="100000"/>
              </a:lnSpc>
              <a:spcBef>
                <a:spcPts val="0"/>
              </a:spcBef>
              <a:buFont typeface="Arial" panose="020B0706020202030204" pitchFamily="34" charset="0"/>
              <a:buBlip>
                <a:blip r:embed="rId3"/>
              </a:buBlip>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171450" indent="-171450" algn="just">
              <a:lnSpc>
                <a:spcPct val="100000"/>
              </a:lnSpc>
              <a:spcBef>
                <a:spcPts val="0"/>
              </a:spcBef>
              <a:buFont typeface="Arial" panose="020B0706020202030204" pitchFamily="34" charset="0"/>
              <a:buBlip>
                <a:blip r:embed="rId3"/>
              </a:buBlip>
              <a:defRPr/>
            </a:pPr>
            <a:r>
              <a:rPr lang="en-US" sz="1100" spc="-10">
                <a:solidFill>
                  <a:srgbClr val="3B3B3B"/>
                </a:solidFill>
                <a:latin typeface="Arial" pitchFamily="34" charset="0"/>
                <a:ea typeface="Helvetica Neue" panose="02000503000000020004" pitchFamily="2" charset="0"/>
                <a:cs typeface="Helvetica Neue" panose="02000503000000020004" pitchFamily="2" charset="0"/>
              </a:rPr>
              <a:t>Dave has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strong people spikes </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(High Sociability, High Interpersonal Sensitivity, High Altruism and High Affiliation).  He is going to be a very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strong team builder and collaborato</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r.  He likely has a record of succeeding through building teams and having strong followership.   Notably, he has a </a:t>
            </a:r>
            <a:r>
              <a:rPr lang="en-US" sz="1100" b="1" spc="-10">
                <a:solidFill>
                  <a:srgbClr val="3B3B3B"/>
                </a:solidFill>
                <a:latin typeface="Segoe UI" pitchFamily="34" charset="0"/>
                <a:ea typeface="Helvetica Neue" panose="02000503000000020004" pitchFamily="2" charset="0"/>
                <a:cs typeface="Helvetica Neue" panose="02000503000000020004" pitchFamily="2" charset="0"/>
              </a:rPr>
              <a:t>low ego </a:t>
            </a:r>
            <a:r>
              <a:rPr lang="en-US" sz="1100" spc="-10">
                <a:solidFill>
                  <a:srgbClr val="3B3B3B"/>
                </a:solidFill>
                <a:latin typeface="Arial" pitchFamily="34" charset="0"/>
                <a:ea typeface="Helvetica Neue" panose="02000503000000020004" pitchFamily="2" charset="0"/>
                <a:cs typeface="Helvetica Neue" panose="02000503000000020004" pitchFamily="2" charset="0"/>
              </a:rPr>
              <a:t>and is less likely to be seeking the limelight. </a:t>
            </a:r>
          </a:p>
          <a:p>
            <a:pPr marL="0" indent="0">
              <a:lnSpc>
                <a:spcPct val="100000"/>
              </a:lnSpc>
              <a:spcBef>
                <a:spcPts val="0"/>
              </a:spcBef>
              <a:buFontTx/>
              <a:buNone/>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0" indent="0">
              <a:lnSpc>
                <a:spcPct val="100000"/>
              </a:lnSpc>
              <a:spcBef>
                <a:spcPts val="0"/>
              </a:spcBef>
              <a:buFontTx/>
              <a:buNone/>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0" indent="0">
              <a:lnSpc>
                <a:spcPct val="100000"/>
              </a:lnSpc>
              <a:spcBef>
                <a:spcPts val="0"/>
              </a:spcBef>
              <a:buFontTx/>
              <a:buNone/>
              <a:defRPr/>
            </a:pPr>
            <a:r>
              <a:rPr lang="en-US" sz="1100" b="1" spc="-10">
                <a:solidFill>
                  <a:srgbClr val="765FFF"/>
                </a:solidFill>
                <a:latin typeface="Segoe UI" pitchFamily="34" charset="0"/>
                <a:ea typeface="Helvetica Neue" panose="02000503000000020004" pitchFamily="2" charset="0"/>
                <a:cs typeface="Helvetica Neue" panose="02000503000000020004" pitchFamily="2" charset="0"/>
              </a:rPr>
              <a:t>Potential Derailers </a:t>
            </a:r>
            <a:br>
              <a:rPr lang="en-US" sz="1100" b="1" spc="-10">
                <a:solidFill>
                  <a:prstClr val="black"/>
                </a:solidFill>
                <a:latin typeface="Segoe UI" pitchFamily="34" charset="0"/>
                <a:ea typeface="Helvetica Neue" panose="02000503000000020004" pitchFamily="2" charset="0"/>
                <a:cs typeface="Helvetica Neue" panose="02000503000000020004" pitchFamily="2" charset="0"/>
              </a:rPr>
            </a:br>
            <a:endParaRPr lang="en-US" sz="1100" b="1" spc="-10">
              <a:solidFill>
                <a:srgbClr val="765FFF"/>
              </a:solidFill>
              <a:latin typeface="Segoe UI" pitchFamily="34" charset="0"/>
              <a:ea typeface="Helvetica Neue" panose="02000503000000020004" pitchFamily="2" charset="0"/>
              <a:cs typeface="Helvetica Neue" panose="02000503000000020004" pitchFamily="2" charset="0"/>
            </a:endParaRPr>
          </a:p>
          <a:p>
            <a:pPr marL="171450" indent="-171450" algn="just">
              <a:lnSpc>
                <a:spcPct val="100000"/>
              </a:lnSpc>
              <a:spcBef>
                <a:spcPts val="0"/>
              </a:spcBef>
              <a:buFont typeface="Arial" panose="020B0706020202030204" pitchFamily="34" charset="0"/>
              <a:buBlip>
                <a:blip r:embed="rId3"/>
              </a:buBlip>
              <a:defRPr/>
            </a:pPr>
            <a:r>
              <a:rPr lang="en-US" sz="1100" spc="-10">
                <a:solidFill>
                  <a:srgbClr val="3B3B3B"/>
                </a:solidFill>
                <a:latin typeface="Arial" pitchFamily="34" charset="0"/>
                <a:ea typeface="Helvetica Neue" panose="02000503000000020004" pitchFamily="2" charset="0"/>
                <a:cs typeface="Helvetica Neue" panose="02000503000000020004" pitchFamily="2" charset="0"/>
              </a:rPr>
              <a:t>Is he seen as appropriately “leader-like” at first instance?   May be under-estimated initially. </a:t>
            </a:r>
          </a:p>
          <a:p>
            <a:pPr marL="171450" indent="-171450" algn="just">
              <a:lnSpc>
                <a:spcPct val="100000"/>
              </a:lnSpc>
              <a:spcBef>
                <a:spcPts val="0"/>
              </a:spcBef>
              <a:buFont typeface="Arial" panose="020B0706020202030204" pitchFamily="34" charset="0"/>
              <a:buBlip>
                <a:blip r:embed="rId3"/>
              </a:buBlip>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171450" indent="-171450" algn="just">
              <a:lnSpc>
                <a:spcPct val="100000"/>
              </a:lnSpc>
              <a:spcBef>
                <a:spcPts val="0"/>
              </a:spcBef>
              <a:buFont typeface="Arial" panose="020B0706020202030204" pitchFamily="34" charset="0"/>
              <a:buBlip>
                <a:blip r:embed="rId3"/>
              </a:buBlip>
              <a:defRPr/>
            </a:pPr>
            <a:endParaRPr lang="en-US" sz="1100" spc="-10">
              <a:solidFill>
                <a:srgbClr val="3B3B3B"/>
              </a:solidFill>
              <a:latin typeface="Arial" pitchFamily="34" charset="0"/>
              <a:ea typeface="Helvetica Neue" panose="02000503000000020004" pitchFamily="2" charset="0"/>
              <a:cs typeface="Helvetica Neue" panose="02000503000000020004" pitchFamily="2" charset="0"/>
            </a:endParaRPr>
          </a:p>
          <a:p>
            <a:pPr marL="171450" indent="-171450">
              <a:lnSpc>
                <a:spcPct val="100000"/>
              </a:lnSpc>
              <a:spcBef>
                <a:spcPts val="0"/>
              </a:spcBef>
              <a:buFont typeface="Arial" panose="020B0706020202030204" pitchFamily="34" charset="0"/>
              <a:buBlip>
                <a:blip r:embed="rId3"/>
              </a:buBlip>
              <a:defRPr/>
            </a:pPr>
            <a:endParaRPr lang="en-US" sz="1100" spc="-10" dirty="0">
              <a:solidFill>
                <a:srgbClr val="3B3B3B"/>
              </a:solidFill>
              <a:latin typeface="Arial" pitchFamily="34" charset="0"/>
              <a:ea typeface="Helvetica Neue" panose="02000503000000020004" pitchFamily="2" charset="0"/>
              <a:cs typeface="Helvetica Neue" panose="02000503000000020004" pitchFamily="2" charset="0"/>
            </a:endParaRPr>
          </a:p>
        </p:txBody>
      </p:sp>
      <p:sp>
        <p:nvSpPr>
          <p:cNvPr id="19" name="TextBox 18">
            <a:extLst>
              <a:ext uri="{FF2B5EF4-FFF2-40B4-BE49-F238E27FC236}">
                <a16:creationId xmlns:a16="http://schemas.microsoft.com/office/drawing/2014/main" id="{925597D0-E012-D519-74DB-5E6E1514B9D4}"/>
              </a:ext>
            </a:extLst>
          </p:cNvPr>
          <p:cNvSpPr txBox="1"/>
          <p:nvPr/>
        </p:nvSpPr>
        <p:spPr>
          <a:xfrm>
            <a:off x="437615" y="6015350"/>
            <a:ext cx="4633919" cy="313636"/>
          </a:xfrm>
          <a:prstGeom prst="rect">
            <a:avLst/>
          </a:prstGeom>
          <a:noFill/>
        </p:spPr>
        <p:txBody>
          <a:bodyPr wrap="square" lIns="91440" tIns="45720" rIns="91440" bIns="4572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10" normalizeH="0" baseline="0" noProof="0" dirty="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rPr>
              <a:t>* Hogan insights should be read in conjunction with the detailed Hogan Report </a:t>
            </a:r>
          </a:p>
        </p:txBody>
      </p:sp>
    </p:spTree>
    <p:extLst>
      <p:ext uri="{BB962C8B-B14F-4D97-AF65-F5344CB8AC3E}">
        <p14:creationId xmlns:p14="http://schemas.microsoft.com/office/powerpoint/2010/main" val="220773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E56350-7E82-9A1D-2D2D-F8087C12A986}"/>
              </a:ext>
            </a:extLst>
          </p:cNvPr>
          <p:cNvSpPr>
            <a:spLocks noGrp="1"/>
          </p:cNvSpPr>
          <p:nvPr>
            <p:ph type="title"/>
          </p:nvPr>
        </p:nvSpPr>
        <p:spPr/>
        <p:txBody>
          <a:bodyPr/>
          <a:lstStyle/>
          <a:p>
            <a:r>
              <a:rPr lang="en-US" dirty="0"/>
              <a:t>Talent Match Summary</a:t>
            </a:r>
            <a:br>
              <a:rPr lang="en-US" dirty="0"/>
            </a:br>
            <a:endParaRPr lang="en-US" dirty="0"/>
          </a:p>
        </p:txBody>
      </p:sp>
      <p:sp>
        <p:nvSpPr>
          <p:cNvPr id="7" name="Text Placeholder 6">
            <a:extLst>
              <a:ext uri="{FF2B5EF4-FFF2-40B4-BE49-F238E27FC236}">
                <a16:creationId xmlns:a16="http://schemas.microsoft.com/office/drawing/2014/main" id="{675B59E7-CF05-315E-B5B2-42152E813834}"/>
              </a:ext>
            </a:extLst>
          </p:cNvPr>
          <p:cNvSpPr>
            <a:spLocks noGrp="1"/>
          </p:cNvSpPr>
          <p:nvPr>
            <p:ph type="body" sz="quarter" idx="12"/>
          </p:nvPr>
        </p:nvSpPr>
        <p:spPr/>
        <p:txBody>
          <a:bodyPr/>
          <a:lstStyle/>
          <a:p>
            <a:r>
              <a:rPr lang="en-US" dirty="0"/>
              <a:t>Dave Jones (CDIO Candidate)</a:t>
            </a:r>
          </a:p>
          <a:p>
            <a:endParaRPr lang="en-US" dirty="0"/>
          </a:p>
        </p:txBody>
      </p:sp>
      <p:sp>
        <p:nvSpPr>
          <p:cNvPr id="4" name="Slide Number Placeholder 3">
            <a:extLst>
              <a:ext uri="{FF2B5EF4-FFF2-40B4-BE49-F238E27FC236}">
                <a16:creationId xmlns:a16="http://schemas.microsoft.com/office/drawing/2014/main" id="{317D6D3B-2CC1-AED9-C870-55938E9168F3}"/>
              </a:ext>
            </a:extLst>
          </p:cNvPr>
          <p:cNvSpPr>
            <a:spLocks noGrp="1"/>
          </p:cNvSpPr>
          <p:nvPr>
            <p:ph type="sldNum" sz="quarter" idx="4"/>
          </p:nvPr>
        </p:nvSpPr>
        <p:spPr/>
        <p:txBody>
          <a:bodyPr/>
          <a:lstStyle/>
          <a:p>
            <a:pPr algn="ctr"/>
            <a:fld id="{1875A764-3B06-454E-8ABA-2F6ED0EB58E9}" type="slidenum">
              <a:rPr lang="en-US" smtClean="0"/>
              <a:t>10</a:t>
            </a:fld>
            <a:endParaRPr lang="en-US"/>
          </a:p>
        </p:txBody>
      </p:sp>
      <p:sp>
        <p:nvSpPr>
          <p:cNvPr id="8" name="Google Shape;103;p3">
            <a:extLst>
              <a:ext uri="{FF2B5EF4-FFF2-40B4-BE49-F238E27FC236}">
                <a16:creationId xmlns:a16="http://schemas.microsoft.com/office/drawing/2014/main" id="{1629F1AC-481A-C945-8ED0-FFDB2B3B15EF}"/>
              </a:ext>
            </a:extLst>
          </p:cNvPr>
          <p:cNvSpPr/>
          <p:nvPr/>
        </p:nvSpPr>
        <p:spPr>
          <a:xfrm>
            <a:off x="563253" y="1165347"/>
            <a:ext cx="3261114" cy="5196587"/>
          </a:xfrm>
          <a:prstGeom prst="roundRect">
            <a:avLst>
              <a:gd name="adj" fmla="val 4596"/>
            </a:avLst>
          </a:prstGeom>
          <a:no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B0604020202020204" charset="0"/>
              <a:sym typeface="Lato"/>
            </a:endParaRPr>
          </a:p>
        </p:txBody>
      </p:sp>
      <p:sp>
        <p:nvSpPr>
          <p:cNvPr id="9" name="Google Shape;61;p3">
            <a:extLst>
              <a:ext uri="{FF2B5EF4-FFF2-40B4-BE49-F238E27FC236}">
                <a16:creationId xmlns:a16="http://schemas.microsoft.com/office/drawing/2014/main" id="{2640312F-03F8-6BE6-F44A-018FC0078C32}"/>
              </a:ext>
            </a:extLst>
          </p:cNvPr>
          <p:cNvSpPr txBox="1"/>
          <p:nvPr/>
        </p:nvSpPr>
        <p:spPr>
          <a:xfrm>
            <a:off x="689393" y="1220432"/>
            <a:ext cx="2270896" cy="230812"/>
          </a:xfrm>
          <a:prstGeom prst="rect">
            <a:avLst/>
          </a:prstGeom>
          <a:noFill/>
          <a:ln>
            <a:noFill/>
          </a:ln>
        </p:spPr>
        <p:txBody>
          <a:bodyPr spcFirstLastPara="1" wrap="square" lIns="22850" tIns="22850" rIns="22850" bIns="22850" anchor="b" anchorCtr="0">
            <a:spAutoFit/>
          </a:bodyPr>
          <a:lstStyle/>
          <a:p>
            <a:pPr marL="0" marR="0" lvl="0" indent="0" defTabSz="45720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Jobs to Be Done</a:t>
            </a:r>
            <a:endParaRPr kumimoji="0" lang="en-US" sz="700" b="1" i="0" u="none" strike="noStrike" kern="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sp>
        <p:nvSpPr>
          <p:cNvPr id="10" name="Google Shape;61;p3">
            <a:extLst>
              <a:ext uri="{FF2B5EF4-FFF2-40B4-BE49-F238E27FC236}">
                <a16:creationId xmlns:a16="http://schemas.microsoft.com/office/drawing/2014/main" id="{16F8403A-925A-F5AF-2CB1-EC11895E9F92}"/>
              </a:ext>
            </a:extLst>
          </p:cNvPr>
          <p:cNvSpPr txBox="1"/>
          <p:nvPr/>
        </p:nvSpPr>
        <p:spPr>
          <a:xfrm>
            <a:off x="726541" y="3922710"/>
            <a:ext cx="1760069" cy="230812"/>
          </a:xfrm>
          <a:prstGeom prst="rect">
            <a:avLst/>
          </a:prstGeom>
          <a:noFill/>
          <a:ln>
            <a:noFill/>
          </a:ln>
        </p:spPr>
        <p:txBody>
          <a:bodyPr spcFirstLastPara="1" wrap="square" lIns="22850" tIns="22850" rIns="22850" bIns="22850" anchor="b" anchorCtr="0">
            <a:spAutoFit/>
          </a:bodyPr>
          <a:lstStyle/>
          <a:p>
            <a:pPr marL="0" marR="0" lvl="0" indent="0" defTabSz="45720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Superpowers</a:t>
            </a:r>
            <a:endParaRPr kumimoji="0" lang="en-US" sz="1200" b="1" i="0" u="none" strike="noStrike" kern="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graphicFrame>
        <p:nvGraphicFramePr>
          <p:cNvPr id="11" name="Table 10">
            <a:extLst>
              <a:ext uri="{FF2B5EF4-FFF2-40B4-BE49-F238E27FC236}">
                <a16:creationId xmlns:a16="http://schemas.microsoft.com/office/drawing/2014/main" id="{A210EF64-9586-7793-DE99-E3FE9038D01A}"/>
              </a:ext>
            </a:extLst>
          </p:cNvPr>
          <p:cNvGraphicFramePr>
            <a:graphicFrameLocks noGrp="1"/>
          </p:cNvGraphicFramePr>
          <p:nvPr>
            <p:extLst>
              <p:ext uri="{D42A27DB-BD31-4B8C-83A1-F6EECF244321}">
                <p14:modId xmlns:p14="http://schemas.microsoft.com/office/powerpoint/2010/main" val="42973765"/>
              </p:ext>
            </p:extLst>
          </p:nvPr>
        </p:nvGraphicFramePr>
        <p:xfrm>
          <a:off x="759343" y="4227534"/>
          <a:ext cx="2841156" cy="1443912"/>
        </p:xfrm>
        <a:graphic>
          <a:graphicData uri="http://schemas.openxmlformats.org/drawingml/2006/table">
            <a:tbl>
              <a:tblPr firstRow="1" bandRow="1">
                <a:tableStyleId>{2D5ABB26-0587-4C30-8999-92F81FD0307C}</a:tableStyleId>
              </a:tblPr>
              <a:tblGrid>
                <a:gridCol w="240782">
                  <a:extLst>
                    <a:ext uri="{9D8B030D-6E8A-4147-A177-3AD203B41FA5}">
                      <a16:colId xmlns:a16="http://schemas.microsoft.com/office/drawing/2014/main" val="149923257"/>
                    </a:ext>
                  </a:extLst>
                </a:gridCol>
                <a:gridCol w="2163364">
                  <a:extLst>
                    <a:ext uri="{9D8B030D-6E8A-4147-A177-3AD203B41FA5}">
                      <a16:colId xmlns:a16="http://schemas.microsoft.com/office/drawing/2014/main" val="3218880438"/>
                    </a:ext>
                  </a:extLst>
                </a:gridCol>
                <a:gridCol w="437010">
                  <a:extLst>
                    <a:ext uri="{9D8B030D-6E8A-4147-A177-3AD203B41FA5}">
                      <a16:colId xmlns:a16="http://schemas.microsoft.com/office/drawing/2014/main" val="720608733"/>
                    </a:ext>
                  </a:extLst>
                </a:gridCol>
              </a:tblGrid>
              <a:tr h="702244">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0" u="none" strike="noStrike" cap="none">
                          <a:solidFill>
                            <a:schemeClr val="tx1"/>
                          </a:solidFill>
                          <a:sym typeface="Lato"/>
                        </a:rPr>
                        <a:t>1</a:t>
                      </a:r>
                      <a:endParaRPr lang="en-US" sz="1000" b="0">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l" defTabSz="914400" rtl="0" eaLnBrk="1" fontAlgn="auto" latinLnBrk="0" hangingPunct="1">
                        <a:lnSpc>
                          <a:spcPct val="100000"/>
                        </a:lnSpc>
                        <a:spcBef>
                          <a:spcPts val="0"/>
                        </a:spcBef>
                        <a:spcAft>
                          <a:spcPts val="300"/>
                        </a:spcAft>
                        <a:buClr>
                          <a:srgbClr val="1D1D1D"/>
                        </a:buClr>
                        <a:buSzPct val="100000"/>
                        <a:buFontTx/>
                        <a:buNone/>
                        <a:tabLst/>
                        <a:defRPr sz="1200" b="1">
                          <a:solidFill>
                            <a:srgbClr val="FFFFFF"/>
                          </a:solidFill>
                          <a:latin typeface="Arial" pitchFamily="34" charset="0"/>
                        </a:defRPr>
                      </a:pPr>
                      <a:r>
                        <a:rPr kumimoji="0" lang="en-US" sz="1000" b="0" u="none" strike="noStrike" kern="1200" cap="none" spc="0" normalizeH="0" baseline="0" noProof="0" dirty="0">
                          <a:ln>
                            <a:noFill/>
                          </a:ln>
                          <a:solidFill>
                            <a:schemeClr val="tx1"/>
                          </a:solidFill>
                          <a:effectLst/>
                          <a:uLnTx/>
                          <a:uFillTx/>
                          <a:sym typeface="Lato Light"/>
                        </a:rPr>
                        <a:t>Outstanding partner to business leaders who is seen as an ally enabling commercial objectives</a:t>
                      </a:r>
                      <a:endParaRPr kumimoji="0" lang="en-US" sz="1000" b="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sym typeface="Lato Light"/>
                      </a:endParaRPr>
                    </a:p>
                  </a:txBody>
                  <a:tcPr marL="25977" marR="25977" marT="14288" marB="14288" anchor="ctr">
                    <a:lnB w="12700" cap="flat" cmpd="sng" algn="ctr">
                      <a:solidFill>
                        <a:srgbClr val="D0D2D0"/>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3"/>
                          </a:solidFill>
                          <a:effectLst/>
                          <a:uLnTx/>
                          <a:uFillTx/>
                          <a:latin typeface="+mn-lt"/>
                          <a:ea typeface="+mn-ea"/>
                          <a:cs typeface="+mn-cs"/>
                          <a:sym typeface="Wingdings" panose="05000000000000000000" pitchFamily="2" charset="2"/>
                        </a:rPr>
                        <a:t></a:t>
                      </a:r>
                      <a:endParaRPr kumimoji="0" lang="en-GB" sz="2600" b="0" i="0" u="none" strike="noStrike" kern="1200" cap="none" spc="0" normalizeH="0" baseline="0" noProof="0" dirty="0">
                        <a:ln>
                          <a:noFill/>
                        </a:ln>
                        <a:solidFill>
                          <a:schemeClr val="accent3"/>
                        </a:solidFill>
                        <a:effectLst/>
                        <a:uLnTx/>
                        <a:uFillTx/>
                        <a:latin typeface="+mn-lt"/>
                        <a:ea typeface="+mn-ea"/>
                        <a:cs typeface="+mn-cs"/>
                      </a:endParaRPr>
                    </a:p>
                  </a:txBody>
                  <a:tcPr anchor="ctr">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13599034"/>
                  </a:ext>
                </a:extLst>
              </a:tr>
              <a:tr h="741668">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0">
                          <a:solidFill>
                            <a:schemeClr val="tx1"/>
                          </a:solidFill>
                        </a:rPr>
                        <a:t>2</a:t>
                      </a:r>
                      <a:endParaRPr lang="en-US" sz="1000" b="0">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914400" rtl="0" eaLnBrk="1" fontAlgn="auto" latinLnBrk="0" hangingPunct="1">
                        <a:lnSpc>
                          <a:spcPct val="100000"/>
                        </a:lnSpc>
                        <a:spcBef>
                          <a:spcPts val="0"/>
                        </a:spcBef>
                        <a:spcAft>
                          <a:spcPts val="300"/>
                        </a:spcAft>
                        <a:buClr>
                          <a:srgbClr val="1D1D1D"/>
                        </a:buClr>
                        <a:buSzPct val="100000"/>
                        <a:buFontTx/>
                        <a:buNone/>
                        <a:tabLst/>
                        <a:defRPr/>
                      </a:pPr>
                      <a:r>
                        <a:rPr kumimoji="0" lang="en-US" sz="1000" b="0" u="none" strike="noStrike" kern="1200" cap="none" spc="0" normalizeH="0" baseline="0" noProof="0">
                          <a:ln>
                            <a:noFill/>
                          </a:ln>
                          <a:solidFill>
                            <a:schemeClr val="tx1"/>
                          </a:solidFill>
                          <a:effectLst/>
                          <a:uLnTx/>
                          <a:uFillTx/>
                          <a:sym typeface="Lato Light"/>
                        </a:rPr>
                        <a:t>Dual passions around improving the existing ‘plumbing’ while shaping future products</a:t>
                      </a: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sym typeface="Lato Light"/>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3"/>
                          </a:solidFill>
                          <a:effectLst/>
                          <a:uLnTx/>
                          <a:uFillTx/>
                          <a:latin typeface="+mn-lt"/>
                          <a:ea typeface="+mn-ea"/>
                          <a:cs typeface="+mn-cs"/>
                          <a:sym typeface="Wingdings" panose="05000000000000000000" pitchFamily="2" charset="2"/>
                        </a:rPr>
                        <a:t></a:t>
                      </a:r>
                      <a:endParaRPr lang="en-US" sz="1100" b="0" dirty="0">
                        <a:solidFill>
                          <a:schemeClr val="accent3"/>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58033297"/>
                  </a:ext>
                </a:extLst>
              </a:tr>
            </a:tbl>
          </a:graphicData>
        </a:graphic>
      </p:graphicFrame>
      <p:sp>
        <p:nvSpPr>
          <p:cNvPr id="12" name="Google Shape;128;p4">
            <a:extLst>
              <a:ext uri="{FF2B5EF4-FFF2-40B4-BE49-F238E27FC236}">
                <a16:creationId xmlns:a16="http://schemas.microsoft.com/office/drawing/2014/main" id="{C941E894-1840-46D5-5EDC-19C7A529C462}"/>
              </a:ext>
            </a:extLst>
          </p:cNvPr>
          <p:cNvSpPr/>
          <p:nvPr/>
        </p:nvSpPr>
        <p:spPr>
          <a:xfrm>
            <a:off x="3992308" y="1165347"/>
            <a:ext cx="7767119" cy="5196587"/>
          </a:xfrm>
          <a:prstGeom prst="roundRect">
            <a:avLst>
              <a:gd name="adj" fmla="val 2676"/>
            </a:avLst>
          </a:prstGeom>
          <a:solidFill>
            <a:schemeClr val="bg1"/>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eaLnBrk="1" fontAlgn="auto" latinLnBrk="0" hangingPunct="1">
              <a:lnSpc>
                <a:spcPct val="100000"/>
              </a:lnSpc>
              <a:spcBef>
                <a:spcPts val="0"/>
              </a:spcBef>
              <a:spcAft>
                <a:spcPts val="0"/>
              </a:spcAft>
              <a:buClr>
                <a:srgbClr val="FFFFFF"/>
              </a:buClr>
              <a:buSzPts val="4800"/>
              <a:buFont typeface="Arial"/>
              <a:buNone/>
              <a:tabLst/>
              <a:defRPr b="1" spc="-25">
                <a:latin typeface="Segoe UI" pitchFamily="34" charset="0"/>
              </a:defRPr>
            </a:pPr>
            <a:endParaRPr kumimoji="0"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B0604020202020204" charset="0"/>
              <a:sym typeface="Lato"/>
            </a:endParaRPr>
          </a:p>
        </p:txBody>
      </p:sp>
      <p:graphicFrame>
        <p:nvGraphicFramePr>
          <p:cNvPr id="13" name="Google Shape;302;p6">
            <a:extLst>
              <a:ext uri="{FF2B5EF4-FFF2-40B4-BE49-F238E27FC236}">
                <a16:creationId xmlns:a16="http://schemas.microsoft.com/office/drawing/2014/main" id="{294C36D7-50A1-F259-D54A-5CC235B7F56B}"/>
              </a:ext>
            </a:extLst>
          </p:cNvPr>
          <p:cNvGraphicFramePr/>
          <p:nvPr>
            <p:extLst>
              <p:ext uri="{D42A27DB-BD31-4B8C-83A1-F6EECF244321}">
                <p14:modId xmlns:p14="http://schemas.microsoft.com/office/powerpoint/2010/main" val="4213853218"/>
              </p:ext>
            </p:extLst>
          </p:nvPr>
        </p:nvGraphicFramePr>
        <p:xfrm>
          <a:off x="759343" y="1570188"/>
          <a:ext cx="2841156" cy="2170216"/>
        </p:xfrm>
        <a:graphic>
          <a:graphicData uri="http://schemas.openxmlformats.org/drawingml/2006/table">
            <a:tbl>
              <a:tblPr firstRow="1" bandRow="1">
                <a:tableStyleId>{2D5ABB26-0587-4C30-8999-92F81FD0307C}</a:tableStyleId>
              </a:tblPr>
              <a:tblGrid>
                <a:gridCol w="219746">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1803400">
                  <a:extLst>
                    <a:ext uri="{9D8B030D-6E8A-4147-A177-3AD203B41FA5}">
                      <a16:colId xmlns:a16="http://schemas.microsoft.com/office/drawing/2014/main" val="20002"/>
                    </a:ext>
                  </a:extLst>
                </a:gridCol>
                <a:gridCol w="437010">
                  <a:extLst>
                    <a:ext uri="{9D8B030D-6E8A-4147-A177-3AD203B41FA5}">
                      <a16:colId xmlns:a16="http://schemas.microsoft.com/office/drawing/2014/main" val="2124507968"/>
                    </a:ext>
                  </a:extLst>
                </a:gridCol>
              </a:tblGrid>
              <a:tr h="542554">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1</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30%</a:t>
                      </a:r>
                      <a:endParaRPr lang="en-US" sz="1000" b="1" dirty="0">
                        <a:solidFill>
                          <a:schemeClr val="accent1"/>
                        </a:solidFill>
                        <a:latin typeface="Arial" panose="020B0604020202020204" pitchFamily="34" charset="0"/>
                        <a:ea typeface="+mn-ea"/>
                        <a:cs typeface="Arial" panose="020B0604020202020204" pitchFamily="34" charset="0"/>
                      </a:endParaRPr>
                    </a:p>
                  </a:txBody>
                  <a:tcPr marL="25977" marR="25977" marT="14288" marB="14288"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lang="en-US" sz="1000" b="0" dirty="0">
                          <a:solidFill>
                            <a:schemeClr val="tx1"/>
                          </a:solidFill>
                          <a:latin typeface="Arial" panose="020B0604020202020204" pitchFamily="34" charset="0"/>
                          <a:cs typeface="Arial" panose="020B0604020202020204" pitchFamily="34" charset="0"/>
                        </a:rPr>
                        <a:t>Infrastructure fit for purpose</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B w="12700" cap="flat" cmpd="sng" algn="ctr">
                      <a:solidFill>
                        <a:srgbClr val="D0D2D0"/>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3"/>
                          </a:solidFill>
                          <a:effectLst/>
                          <a:uLnTx/>
                          <a:uFillTx/>
                          <a:latin typeface="+mn-lt"/>
                          <a:ea typeface="+mn-ea"/>
                          <a:cs typeface="+mn-cs"/>
                          <a:sym typeface="Wingdings" panose="05000000000000000000" pitchFamily="2" charset="2"/>
                        </a:rPr>
                        <a:t></a:t>
                      </a:r>
                      <a:endParaRPr kumimoji="0" lang="en-GB" sz="2600" b="0" i="0" u="none" strike="noStrike" kern="1200" cap="none" spc="0" normalizeH="0" baseline="0" noProof="0" dirty="0">
                        <a:ln>
                          <a:noFill/>
                        </a:ln>
                        <a:solidFill>
                          <a:schemeClr val="accent3"/>
                        </a:solidFill>
                        <a:effectLst/>
                        <a:uLnTx/>
                        <a:uFillTx/>
                        <a:latin typeface="+mn-lt"/>
                        <a:ea typeface="+mn-ea"/>
                        <a:cs typeface="+mn-cs"/>
                      </a:endParaRPr>
                    </a:p>
                  </a:txBody>
                  <a:tcPr anchor="ctr">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10001"/>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a:solidFill>
                            <a:schemeClr val="tx1"/>
                          </a:solidFill>
                          <a:latin typeface="Arial" panose="020B0604020202020204" pitchFamily="34" charset="0"/>
                          <a:cs typeface="Arial" panose="020B0604020202020204" pitchFamily="34" charset="0"/>
                        </a:rPr>
                        <a:t>2</a:t>
                      </a:r>
                    </a:p>
                  </a:txBody>
                  <a:tcPr marL="23400" marR="23400" marT="72000" marB="7200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35%</a:t>
                      </a:r>
                      <a:endParaRPr lang="en-US" sz="1000" b="1" dirty="0">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“Standard” Digital Transformation</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3"/>
                          </a:solidFill>
                          <a:effectLst/>
                          <a:uLnTx/>
                          <a:uFillTx/>
                          <a:latin typeface="+mn-lt"/>
                          <a:ea typeface="+mn-ea"/>
                          <a:cs typeface="+mn-cs"/>
                          <a:sym typeface="Wingdings" panose="05000000000000000000" pitchFamily="2" charset="2"/>
                        </a:rPr>
                        <a:t></a:t>
                      </a:r>
                      <a:endParaRPr lang="en-US" sz="1100" b="0" dirty="0">
                        <a:solidFill>
                          <a:schemeClr val="accent3"/>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62063259"/>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3</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a:solidFill>
                            <a:schemeClr val="accent1"/>
                          </a:solidFill>
                          <a:latin typeface="Arial" panose="020B0604020202020204" pitchFamily="34" charset="0"/>
                          <a:cs typeface="Arial" panose="020B0604020202020204" pitchFamily="34" charset="0"/>
                        </a:rPr>
                        <a:t>15%</a:t>
                      </a:r>
                      <a:endParaRPr lang="en-US" sz="1000" b="1">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New Products and Service</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5"/>
                          </a:solidFill>
                          <a:effectLst/>
                          <a:uLnTx/>
                          <a:uFillTx/>
                          <a:latin typeface="+mn-lt"/>
                          <a:ea typeface="+mn-ea"/>
                          <a:cs typeface="+mn-cs"/>
                          <a:sym typeface="Wingdings" panose="05000000000000000000" pitchFamily="2" charset="2"/>
                        </a:rPr>
                        <a:t></a:t>
                      </a:r>
                      <a:endParaRPr lang="en-US" sz="1100" b="0" dirty="0">
                        <a:solidFill>
                          <a:schemeClr val="accent5"/>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10002"/>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4</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T w="12700" cap="flat" cmpd="sng" algn="ctr">
                      <a:solidFill>
                        <a:srgbClr val="D0D2D0"/>
                      </a:solidFill>
                      <a:prstDash val="solid"/>
                      <a:round/>
                      <a:headEnd type="none" w="med" len="med"/>
                      <a:tailEnd type="none" w="med" len="med"/>
                    </a:lnT>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20%</a:t>
                      </a:r>
                      <a:endParaRPr lang="en-US" sz="1000" b="1" dirty="0">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Implementation of SAP4Hana</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schemeClr val="accent5"/>
                          </a:solidFill>
                          <a:effectLst/>
                          <a:uLnTx/>
                          <a:uFillTx/>
                          <a:latin typeface="+mn-lt"/>
                          <a:ea typeface="+mn-ea"/>
                          <a:cs typeface="+mn-cs"/>
                          <a:sym typeface="Wingdings" panose="05000000000000000000" pitchFamily="2" charset="2"/>
                        </a:rPr>
                        <a:t></a:t>
                      </a:r>
                      <a:endParaRPr lang="en-US" sz="1100" b="0" dirty="0">
                        <a:solidFill>
                          <a:schemeClr val="accent5"/>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grpSp>
        <p:nvGrpSpPr>
          <p:cNvPr id="14" name="Group 13">
            <a:extLst>
              <a:ext uri="{FF2B5EF4-FFF2-40B4-BE49-F238E27FC236}">
                <a16:creationId xmlns:a16="http://schemas.microsoft.com/office/drawing/2014/main" id="{FFBE18D9-9579-3E13-333A-F511B7BD93FE}"/>
              </a:ext>
            </a:extLst>
          </p:cNvPr>
          <p:cNvGrpSpPr/>
          <p:nvPr/>
        </p:nvGrpSpPr>
        <p:grpSpPr>
          <a:xfrm>
            <a:off x="4296736" y="5071579"/>
            <a:ext cx="7199685" cy="1193955"/>
            <a:chOff x="7829817" y="3837706"/>
            <a:chExt cx="3685542" cy="2685441"/>
          </a:xfrm>
        </p:grpSpPr>
        <p:sp>
          <p:nvSpPr>
            <p:cNvPr id="15" name="Rectangle: Rounded Corners 10">
              <a:extLst>
                <a:ext uri="{FF2B5EF4-FFF2-40B4-BE49-F238E27FC236}">
                  <a16:creationId xmlns:a16="http://schemas.microsoft.com/office/drawing/2014/main" id="{89EC6B42-4752-6883-0ED7-F451495ABB2A}"/>
                </a:ext>
              </a:extLst>
            </p:cNvPr>
            <p:cNvSpPr/>
            <p:nvPr/>
          </p:nvSpPr>
          <p:spPr>
            <a:xfrm>
              <a:off x="7829817" y="3837706"/>
              <a:ext cx="3685542" cy="2685441"/>
            </a:xfrm>
            <a:prstGeom prst="roundRect">
              <a:avLst>
                <a:gd name="adj" fmla="val 2619"/>
              </a:avLst>
            </a:prstGeom>
            <a:solidFill>
              <a:schemeClr val="bg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4800"/>
                <a:buFontTx/>
                <a:buNone/>
                <a:tabLst/>
                <a:defRPr/>
              </a:pPr>
              <a:endParaRPr kumimoji="0" lang="en-US" sz="24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E30A0D93-71AF-2847-9C4A-79FE6F48F437}"/>
                </a:ext>
              </a:extLst>
            </p:cNvPr>
            <p:cNvSpPr txBox="1"/>
            <p:nvPr/>
          </p:nvSpPr>
          <p:spPr>
            <a:xfrm>
              <a:off x="8377826" y="4200875"/>
              <a:ext cx="3018809" cy="2111365"/>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300"/>
                </a:spcAft>
                <a:buClrTx/>
                <a:buSzTx/>
                <a:buBlip>
                  <a:blip r:embed="rId2"/>
                </a:buBlip>
                <a:tabLst/>
                <a:defRPr>
                  <a:solidFill>
                    <a:srgbClr val="1D1D1D"/>
                  </a:solidFill>
                </a:defRPr>
              </a:pP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Dave would be an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excellent fit </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for the CDIO role and in particular the priorities over next 2-3 years</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solidFill>
                    <a:srgbClr val="1D1D1D"/>
                  </a:solidFill>
                </a:defRPr>
              </a:pP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Repeatedly demonstrated ability to bring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efficiency through large-scale digital transformation in different industries</a:t>
              </a:r>
              <a:endPar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solidFill>
                    <a:srgbClr val="1D1D1D"/>
                  </a:solidFill>
                </a:defRPr>
              </a:pP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He </a:t>
              </a:r>
              <a:r>
                <a:rPr kumimoji="0" lang="en-US" sz="1000" b="0" i="0" u="none" strike="noStrike" kern="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would bring </a:t>
              </a:r>
              <a:r>
                <a:rPr kumimoji="0" lang="en-US" sz="1000" b="1" i="0" u="none" strike="noStrike" kern="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stylistic diversity, and synergy to the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leadership team</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at "Company" A: a data driven, heavily analytical approach but with a constructive and collaborative spirit </a:t>
              </a:r>
              <a:endPar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C6216601-707A-1E12-98F7-DC86290AEB49}"/>
                </a:ext>
              </a:extLst>
            </p:cNvPr>
            <p:cNvSpPr txBox="1"/>
            <p:nvPr/>
          </p:nvSpPr>
          <p:spPr>
            <a:xfrm>
              <a:off x="7892381" y="3916570"/>
              <a:ext cx="3504254" cy="98124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Overall Match</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endPar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4347874E-B360-186E-BE91-29907A9941AE}"/>
              </a:ext>
            </a:extLst>
          </p:cNvPr>
          <p:cNvGrpSpPr/>
          <p:nvPr/>
        </p:nvGrpSpPr>
        <p:grpSpPr>
          <a:xfrm>
            <a:off x="4133668" y="1220432"/>
            <a:ext cx="2377440" cy="3246509"/>
            <a:chOff x="4133668" y="1091205"/>
            <a:chExt cx="2377440" cy="3246509"/>
          </a:xfrm>
        </p:grpSpPr>
        <p:sp>
          <p:nvSpPr>
            <p:cNvPr id="19" name="Google Shape;143;p4">
              <a:extLst>
                <a:ext uri="{FF2B5EF4-FFF2-40B4-BE49-F238E27FC236}">
                  <a16:creationId xmlns:a16="http://schemas.microsoft.com/office/drawing/2014/main" id="{9CEE3565-E213-2D90-DC95-2BFB8CA6CD14}"/>
                </a:ext>
              </a:extLst>
            </p:cNvPr>
            <p:cNvSpPr txBox="1"/>
            <p:nvPr/>
          </p:nvSpPr>
          <p:spPr>
            <a:xfrm>
              <a:off x="4286932" y="1091205"/>
              <a:ext cx="2070913" cy="230812"/>
            </a:xfrm>
            <a:prstGeom prst="rect">
              <a:avLst/>
            </a:prstGeom>
            <a:noFill/>
            <a:ln>
              <a:noFill/>
            </a:ln>
          </p:spPr>
          <p:txBody>
            <a:bodyPr spcFirstLastPara="1" wrap="square" lIns="22850" tIns="22850" rIns="22850" bIns="22850" anchor="b" anchorCtr="0">
              <a:spAutoFit/>
            </a:bodyPr>
            <a:lstStyle/>
            <a:p>
              <a:pPr marL="0" marR="0" lvl="0" indent="0" algn="ctr" defTabSz="457200" eaLnBrk="1" fontAlgn="auto" latinLnBrk="0" hangingPunct="1">
                <a:lnSpc>
                  <a:spcPct val="100000"/>
                </a:lnSpc>
                <a:spcBef>
                  <a:spcPts val="0"/>
                </a:spcBef>
                <a:spcAft>
                  <a:spcPts val="0"/>
                </a:spcAft>
                <a:buClr>
                  <a:srgbClr val="765FFF"/>
                </a:buClr>
                <a:buSzPts val="3600"/>
                <a:buFont typeface="Arial"/>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Role Readiness</a:t>
              </a:r>
              <a:endParaRPr kumimoji="0" lang="en-US" sz="1200" b="1" i="0" u="none" strike="noStrike" kern="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20" name="TextBox 19">
              <a:extLst>
                <a:ext uri="{FF2B5EF4-FFF2-40B4-BE49-F238E27FC236}">
                  <a16:creationId xmlns:a16="http://schemas.microsoft.com/office/drawing/2014/main" id="{33BC48A8-A6C8-C363-7D59-1A25DF851ACE}"/>
                </a:ext>
              </a:extLst>
            </p:cNvPr>
            <p:cNvSpPr txBox="1"/>
            <p:nvPr/>
          </p:nvSpPr>
          <p:spPr>
            <a:xfrm>
              <a:off x="4133668" y="1398448"/>
              <a:ext cx="2377440" cy="2939266"/>
            </a:xfrm>
            <a:prstGeom prst="rect">
              <a:avLst/>
            </a:prstGeom>
            <a:noFill/>
          </p:spPr>
          <p:txBody>
            <a:bodyPr wrap="square" lIns="91440" tIns="45720" rIns="91440" bIns="45720" rtlCol="0">
              <a:spAutoFit/>
            </a:bodyPr>
            <a:lstStyle/>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Extremely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deep and compelling experience simplifying, upgrading, modernizing  technology </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and running structured efficiency plays to impact cost reduction, rationalize systems and digitally transform</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Proven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commercial ability and P&amp;L leadership</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enables understanding and insights for business leaders’ requirements</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Very high learning agility</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complex project management skills and a </a:t>
              </a:r>
              <a:r>
                <a:rPr kumimoji="0" lang="en-US" sz="1000" b="1"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willingness to engage at depth</a:t>
              </a:r>
              <a:r>
                <a:rPr kumimoji="0" lang="en-US" sz="1000" b="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suggesting an ability to deliver even where he does not have direct experience (digital product design, major SAP upgrade)</a:t>
              </a:r>
            </a:p>
          </p:txBody>
        </p:sp>
        <p:cxnSp>
          <p:nvCxnSpPr>
            <p:cNvPr id="21" name="Straight Connector 20">
              <a:extLst>
                <a:ext uri="{FF2B5EF4-FFF2-40B4-BE49-F238E27FC236}">
                  <a16:creationId xmlns:a16="http://schemas.microsoft.com/office/drawing/2014/main" id="{57F33589-79B4-C913-1693-4B5E21A61270}"/>
                </a:ext>
              </a:extLst>
            </p:cNvPr>
            <p:cNvCxnSpPr>
              <a:cxnSpLocks/>
            </p:cNvCxnSpPr>
            <p:nvPr/>
          </p:nvCxnSpPr>
          <p:spPr>
            <a:xfrm>
              <a:off x="4241734" y="1357078"/>
              <a:ext cx="2161309"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F073AE66-4EFB-4104-EE44-2C758E97926D}"/>
              </a:ext>
            </a:extLst>
          </p:cNvPr>
          <p:cNvCxnSpPr>
            <a:cxnSpLocks/>
          </p:cNvCxnSpPr>
          <p:nvPr/>
        </p:nvCxnSpPr>
        <p:spPr>
          <a:xfrm>
            <a:off x="689393" y="1486305"/>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4C30CAF0-EABF-1488-2E91-D31A5295648A}"/>
              </a:ext>
            </a:extLst>
          </p:cNvPr>
          <p:cNvGrpSpPr/>
          <p:nvPr/>
        </p:nvGrpSpPr>
        <p:grpSpPr>
          <a:xfrm>
            <a:off x="6594443" y="1220432"/>
            <a:ext cx="2460774" cy="3785118"/>
            <a:chOff x="6626751" y="1023025"/>
            <a:chExt cx="2460774" cy="3785118"/>
          </a:xfrm>
        </p:grpSpPr>
        <p:sp>
          <p:nvSpPr>
            <p:cNvPr id="24" name="Google Shape;143;p4">
              <a:extLst>
                <a:ext uri="{FF2B5EF4-FFF2-40B4-BE49-F238E27FC236}">
                  <a16:creationId xmlns:a16="http://schemas.microsoft.com/office/drawing/2014/main" id="{B77AEFD1-38D0-3735-AC7B-E92AE12E92C3}"/>
                </a:ext>
              </a:extLst>
            </p:cNvPr>
            <p:cNvSpPr txBox="1"/>
            <p:nvPr/>
          </p:nvSpPr>
          <p:spPr>
            <a:xfrm>
              <a:off x="6780015" y="1023025"/>
              <a:ext cx="2070913" cy="230812"/>
            </a:xfrm>
            <a:prstGeom prst="rect">
              <a:avLst/>
            </a:prstGeom>
            <a:noFill/>
            <a:ln>
              <a:noFill/>
            </a:ln>
          </p:spPr>
          <p:txBody>
            <a:bodyPr spcFirstLastPara="1" wrap="square" lIns="22850" tIns="22850" rIns="22850" bIns="22850" anchor="b" anchorCtr="0">
              <a:spAutoFit/>
            </a:bodyPr>
            <a:lstStyle/>
            <a:p>
              <a:pPr marL="0" marR="0" lvl="0" indent="0" algn="ctr" defTabSz="457200" eaLnBrk="1" fontAlgn="auto" latinLnBrk="0" hangingPunct="1">
                <a:lnSpc>
                  <a:spcPct val="100000"/>
                </a:lnSpc>
                <a:spcBef>
                  <a:spcPts val="0"/>
                </a:spcBef>
                <a:spcAft>
                  <a:spcPts val="0"/>
                </a:spcAft>
                <a:buClr>
                  <a:srgbClr val="765FFF"/>
                </a:buClr>
                <a:buSzPts val="3600"/>
                <a:buFont typeface="Arial"/>
                <a:buNone/>
                <a:tabLst/>
                <a:defRPr b="1" spc="-25">
                  <a:latin typeface="Segoe UI" pitchFamily="34" charset="0"/>
                </a:defRPr>
              </a:pPr>
              <a:r>
                <a:rPr kumimoji="0" lang="en-US" sz="1200" b="1" i="0" u="none" strike="noStrike" kern="0" cap="none" spc="-25"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Motivation &amp; Two-way Fit</a:t>
              </a:r>
              <a:endParaRPr kumimoji="0" lang="en-US" sz="12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25" name="TextBox 24">
              <a:extLst>
                <a:ext uri="{FF2B5EF4-FFF2-40B4-BE49-F238E27FC236}">
                  <a16:creationId xmlns:a16="http://schemas.microsoft.com/office/drawing/2014/main" id="{F8D0B5F3-75E0-FED8-ED88-B6F2DA6E1644}"/>
                </a:ext>
              </a:extLst>
            </p:cNvPr>
            <p:cNvSpPr txBox="1"/>
            <p:nvPr/>
          </p:nvSpPr>
          <p:spPr>
            <a:xfrm>
              <a:off x="6626751" y="1330268"/>
              <a:ext cx="2460774" cy="3477875"/>
            </a:xfrm>
            <a:prstGeom prst="rect">
              <a:avLst/>
            </a:prstGeom>
            <a:noFill/>
          </p:spPr>
          <p:txBody>
            <a:bodyPr wrap="square" lIns="91440" tIns="45720" rIns="91440" bIns="45720" rtlCol="0">
              <a:spAutoFit/>
            </a:bodyPr>
            <a:lstStyle/>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Motivated to do both the ‘plumbing’ and ‘product’ aspects</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of the job and is e</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rPr>
                <a:t>nergized by complex problem-solving and an approach driven through depth of understanding</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endParaRP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Attracted by opportunity to play at the top table</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reporting to the CEO (a position he is unlikely to attain in current role)</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Will bring a steady hand: </a:t>
              </a: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experience in crisis situations</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brings quiet confidence</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Comes from humble beginnings and remains humble.  He is </a:t>
              </a: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transparent with mistakes with above average ability to learn from them</a:t>
              </a:r>
            </a:p>
            <a:p>
              <a:pPr marL="171450" marR="0" lvl="0" indent="-171450" algn="l" defTabSz="914400" rtl="0" eaLnBrk="1" fontAlgn="auto" latinLnBrk="0" hangingPunct="1">
                <a:lnSpc>
                  <a:spcPct val="100000"/>
                </a:lnSpc>
                <a:spcBef>
                  <a:spcPts val="0"/>
                </a:spcBef>
                <a:spcAft>
                  <a:spcPts val="300"/>
                </a:spcAft>
                <a:buClrTx/>
                <a:buSzTx/>
                <a:buBlip>
                  <a:blip r:embed="rId2"/>
                </a:buBlip>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Strong listener and </a:t>
              </a: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candid communicator</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Lato"/>
                </a:rPr>
                <a:t> – promotes “painful productive conversation” as opposed to “artificial harmony”</a:t>
              </a:r>
            </a:p>
          </p:txBody>
        </p:sp>
        <p:cxnSp>
          <p:nvCxnSpPr>
            <p:cNvPr id="26" name="Straight Connector 25">
              <a:extLst>
                <a:ext uri="{FF2B5EF4-FFF2-40B4-BE49-F238E27FC236}">
                  <a16:creationId xmlns:a16="http://schemas.microsoft.com/office/drawing/2014/main" id="{F4955CF2-58DD-C8F8-4C3F-D468DB0F0BDA}"/>
                </a:ext>
              </a:extLst>
            </p:cNvPr>
            <p:cNvCxnSpPr>
              <a:cxnSpLocks/>
            </p:cNvCxnSpPr>
            <p:nvPr/>
          </p:nvCxnSpPr>
          <p:spPr>
            <a:xfrm>
              <a:off x="6734817" y="1288898"/>
              <a:ext cx="2161309"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741EFDE2-4A76-2300-A722-07461597C7EC}"/>
              </a:ext>
            </a:extLst>
          </p:cNvPr>
          <p:cNvGrpSpPr/>
          <p:nvPr/>
        </p:nvGrpSpPr>
        <p:grpSpPr>
          <a:xfrm>
            <a:off x="9055217" y="1220432"/>
            <a:ext cx="2377440" cy="3400397"/>
            <a:chOff x="9092600" y="1023025"/>
            <a:chExt cx="2377440" cy="3400397"/>
          </a:xfrm>
        </p:grpSpPr>
        <p:sp>
          <p:nvSpPr>
            <p:cNvPr id="28" name="Google Shape;143;p4">
              <a:extLst>
                <a:ext uri="{FF2B5EF4-FFF2-40B4-BE49-F238E27FC236}">
                  <a16:creationId xmlns:a16="http://schemas.microsoft.com/office/drawing/2014/main" id="{CB62537A-440C-235D-A318-C0D89DF1B84F}"/>
                </a:ext>
              </a:extLst>
            </p:cNvPr>
            <p:cNvSpPr txBox="1"/>
            <p:nvPr/>
          </p:nvSpPr>
          <p:spPr>
            <a:xfrm>
              <a:off x="9155468" y="1023025"/>
              <a:ext cx="2161309" cy="230812"/>
            </a:xfrm>
            <a:prstGeom prst="rect">
              <a:avLst/>
            </a:prstGeom>
            <a:noFill/>
            <a:ln>
              <a:noFill/>
            </a:ln>
          </p:spPr>
          <p:txBody>
            <a:bodyPr spcFirstLastPara="1" wrap="square" lIns="22850" tIns="22850" rIns="22850" bIns="22850" anchor="b" anchorCtr="0">
              <a:spAutoFit/>
            </a:bodyPr>
            <a:lstStyle/>
            <a:p>
              <a:pPr marL="0" marR="0" lvl="0" indent="0" algn="ctr" defTabSz="457200" eaLnBrk="1" fontAlgn="auto" latinLnBrk="0" hangingPunct="1">
                <a:lnSpc>
                  <a:spcPct val="100000"/>
                </a:lnSpc>
                <a:spcBef>
                  <a:spcPts val="0"/>
                </a:spcBef>
                <a:spcAft>
                  <a:spcPts val="0"/>
                </a:spcAft>
                <a:buClr>
                  <a:srgbClr val="765FFF"/>
                </a:buClr>
                <a:buSzPts val="3600"/>
                <a:buFont typeface="Arial"/>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Considerations &amp; Mitigations</a:t>
              </a:r>
              <a:endParaRPr kumimoji="0" lang="en-US" sz="1200" b="1" i="0" u="none" strike="noStrike" kern="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29" name="TextBox 28">
              <a:extLst>
                <a:ext uri="{FF2B5EF4-FFF2-40B4-BE49-F238E27FC236}">
                  <a16:creationId xmlns:a16="http://schemas.microsoft.com/office/drawing/2014/main" id="{B23B0B94-FB5A-3796-F8A5-761FC849C90C}"/>
                </a:ext>
              </a:extLst>
            </p:cNvPr>
            <p:cNvSpPr txBox="1"/>
            <p:nvPr/>
          </p:nvSpPr>
          <p:spPr>
            <a:xfrm>
              <a:off x="9092600" y="1330268"/>
              <a:ext cx="2377440" cy="3093154"/>
            </a:xfrm>
            <a:prstGeom prst="rect">
              <a:avLst/>
            </a:prstGeom>
            <a:noFill/>
          </p:spPr>
          <p:txBody>
            <a:bodyPr wrap="square" lIns="91440" tIns="45720" rIns="91440" bIns="45720" anchor="t">
              <a:spAutoFit/>
            </a:bodyPr>
            <a:lstStyle/>
            <a:p>
              <a:pPr marL="171450" lvl="0" indent="-171450">
                <a:spcAft>
                  <a:spcPts val="600"/>
                </a:spcAft>
                <a:buBlip>
                  <a:blip r:embed="rId2"/>
                </a:buBlip>
                <a:defRPr/>
              </a:pPr>
              <a:r>
                <a:rPr lang="en-US" sz="1000" b="1"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Lower classical executive presence</a:t>
              </a: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 could be an issue if storytelling is a priority – he relies on credibility, expertise and work ethic</a:t>
              </a:r>
            </a:p>
            <a:p>
              <a:pPr marL="171450" lvl="0" indent="-171450">
                <a:spcAft>
                  <a:spcPts val="600"/>
                </a:spcAft>
                <a:buBlip>
                  <a:blip r:embed="rId2"/>
                </a:buBlip>
                <a:defRPr/>
              </a:pP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Does </a:t>
              </a:r>
              <a:r>
                <a:rPr lang="en-US" sz="1000" b="1"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not appear to have significant digital product development</a:t>
              </a: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 - maybe because of it - he is keen to work on it</a:t>
              </a:r>
              <a:endPar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endParaRPr>
            </a:p>
            <a:p>
              <a:pPr marL="171450" lvl="0" indent="-171450">
                <a:spcAft>
                  <a:spcPts val="600"/>
                </a:spcAft>
                <a:buBlip>
                  <a:blip r:embed="rId2"/>
                </a:buBlip>
                <a:defRPr/>
              </a:pPr>
              <a:r>
                <a:rPr lang="en-US" sz="1000" b="1"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Lacks the experience of a major infrastructural overhaul at the scale and complexity </a:t>
              </a: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required, however his related skills should enable ability to deliver</a:t>
              </a:r>
              <a:endPar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endParaRPr>
            </a:p>
            <a:p>
              <a:pPr marL="171450" lvl="0" indent="-171450">
                <a:spcAft>
                  <a:spcPts val="600"/>
                </a:spcAft>
                <a:buBlip>
                  <a:blip r:embed="rId2"/>
                </a:buBlip>
                <a:defRPr/>
              </a:pP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Reasons for </a:t>
              </a:r>
              <a:r>
                <a:rPr lang="en-US" sz="1000" b="1"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desire to change</a:t>
              </a:r>
              <a:r>
                <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sym typeface="Lato"/>
                </a:rPr>
                <a:t> roles uncertain, though "Company" A role would offer opportunity to join the top table</a:t>
              </a:r>
              <a:endParaRPr lang="en-US" sz="1000" dirty="0">
                <a:solidFill>
                  <a:srgbClr val="000000"/>
                </a:solidFill>
                <a:latin typeface="Arial" panose="020B0604020202020204" pitchFamily="34" charset="0"/>
                <a:ea typeface="Helvetica Neue" panose="02000503000000020004" pitchFamily="2" charset="0"/>
                <a:cs typeface="Arial" panose="020B0604020202020204" pitchFamily="34" charset="0"/>
              </a:endParaRPr>
            </a:p>
          </p:txBody>
        </p:sp>
        <p:cxnSp>
          <p:nvCxnSpPr>
            <p:cNvPr id="30" name="Straight Connector 29">
              <a:extLst>
                <a:ext uri="{FF2B5EF4-FFF2-40B4-BE49-F238E27FC236}">
                  <a16:creationId xmlns:a16="http://schemas.microsoft.com/office/drawing/2014/main" id="{0141D119-16DB-2544-F506-5D8A1C0F8C06}"/>
                </a:ext>
              </a:extLst>
            </p:cNvPr>
            <p:cNvCxnSpPr>
              <a:cxnSpLocks/>
            </p:cNvCxnSpPr>
            <p:nvPr/>
          </p:nvCxnSpPr>
          <p:spPr>
            <a:xfrm>
              <a:off x="9200666" y="1288898"/>
              <a:ext cx="216130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1" name="Google Shape;61;p3">
            <a:extLst>
              <a:ext uri="{FF2B5EF4-FFF2-40B4-BE49-F238E27FC236}">
                <a16:creationId xmlns:a16="http://schemas.microsoft.com/office/drawing/2014/main" id="{E8768B0F-3809-3CDE-DAE5-C4E3DF84A67B}"/>
              </a:ext>
            </a:extLst>
          </p:cNvPr>
          <p:cNvSpPr txBox="1"/>
          <p:nvPr/>
        </p:nvSpPr>
        <p:spPr>
          <a:xfrm>
            <a:off x="3059961" y="1318445"/>
            <a:ext cx="645033" cy="167860"/>
          </a:xfrm>
          <a:prstGeom prst="rect">
            <a:avLst/>
          </a:prstGeom>
          <a:noFill/>
          <a:ln>
            <a:noFill/>
          </a:ln>
        </p:spPr>
        <p:txBody>
          <a:bodyPr spcFirstLastPara="1" wrap="square" lIns="22850" tIns="22850" rIns="22850" bIns="22850" anchor="b" anchorCtr="0">
            <a:spAutoFit/>
          </a:bodyPr>
          <a:lstStyle/>
          <a:p>
            <a:pPr marL="0" marR="0" lvl="0" indent="0" algn="ctr" defTabSz="45720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8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rPr>
              <a:t>Readiness</a:t>
            </a:r>
          </a:p>
        </p:txBody>
      </p:sp>
      <p:cxnSp>
        <p:nvCxnSpPr>
          <p:cNvPr id="32" name="Straight Connector 31">
            <a:extLst>
              <a:ext uri="{FF2B5EF4-FFF2-40B4-BE49-F238E27FC236}">
                <a16:creationId xmlns:a16="http://schemas.microsoft.com/office/drawing/2014/main" id="{48892D62-374E-1374-9E6A-107DAEC5BCC1}"/>
              </a:ext>
            </a:extLst>
          </p:cNvPr>
          <p:cNvCxnSpPr>
            <a:cxnSpLocks/>
          </p:cNvCxnSpPr>
          <p:nvPr/>
        </p:nvCxnSpPr>
        <p:spPr>
          <a:xfrm>
            <a:off x="689393" y="4169790"/>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Google Shape;61;p3">
            <a:extLst>
              <a:ext uri="{FF2B5EF4-FFF2-40B4-BE49-F238E27FC236}">
                <a16:creationId xmlns:a16="http://schemas.microsoft.com/office/drawing/2014/main" id="{463CEDE8-02C1-928C-9FB9-A1CD9EBF2B9F}"/>
              </a:ext>
            </a:extLst>
          </p:cNvPr>
          <p:cNvSpPr txBox="1"/>
          <p:nvPr/>
        </p:nvSpPr>
        <p:spPr>
          <a:xfrm>
            <a:off x="3059961" y="3992404"/>
            <a:ext cx="645033" cy="167860"/>
          </a:xfrm>
          <a:prstGeom prst="rect">
            <a:avLst/>
          </a:prstGeom>
          <a:noFill/>
          <a:ln>
            <a:noFill/>
          </a:ln>
        </p:spPr>
        <p:txBody>
          <a:bodyPr spcFirstLastPara="1" wrap="square" lIns="22850" tIns="22850" rIns="22850" bIns="22850" anchor="b" anchorCtr="0">
            <a:spAutoFit/>
          </a:bodyPr>
          <a:lstStyle/>
          <a:p>
            <a:pPr marL="0" marR="0" lvl="0" indent="0" algn="ctr" defTabSz="457200" eaLnBrk="1" fontAlgn="auto" latinLnBrk="0" hangingPunct="1">
              <a:lnSpc>
                <a:spcPct val="100000"/>
              </a:lnSpc>
              <a:spcBef>
                <a:spcPts val="0"/>
              </a:spcBef>
              <a:spcAft>
                <a:spcPts val="0"/>
              </a:spcAft>
              <a:buClr>
                <a:srgbClr val="765FFF"/>
              </a:buClr>
              <a:buSzPts val="2400"/>
              <a:buFontTx/>
              <a:buNone/>
              <a:tabLst/>
              <a:defRPr/>
            </a:pPr>
            <a:r>
              <a:rPr kumimoji="0" lang="en-US" sz="8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rPr>
              <a:t>Readiness</a:t>
            </a:r>
          </a:p>
        </p:txBody>
      </p:sp>
      <p:sp>
        <p:nvSpPr>
          <p:cNvPr id="34" name="TextBox 33">
            <a:extLst>
              <a:ext uri="{FF2B5EF4-FFF2-40B4-BE49-F238E27FC236}">
                <a16:creationId xmlns:a16="http://schemas.microsoft.com/office/drawing/2014/main" id="{7AF76DE5-1E25-2F6A-1064-675E7574D435}"/>
              </a:ext>
            </a:extLst>
          </p:cNvPr>
          <p:cNvSpPr txBox="1"/>
          <p:nvPr/>
        </p:nvSpPr>
        <p:spPr>
          <a:xfrm>
            <a:off x="4398243" y="5373451"/>
            <a:ext cx="1073837" cy="646331"/>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3600" b="0" i="0" u="none" strike="noStrike" kern="1200" cap="none" spc="-10" normalizeH="0" baseline="0" noProof="0">
                <a:ln>
                  <a:noFill/>
                </a:ln>
                <a:solidFill>
                  <a:srgbClr val="00C27A"/>
                </a:solidFill>
                <a:effectLst/>
                <a:uLnTx/>
                <a:uFillTx/>
                <a:latin typeface="Arial" pitchFamily="34" charset="0"/>
                <a:ea typeface="Helvetica Neue" panose="02000503000000020004" pitchFamily="2" charset="0"/>
                <a:cs typeface="Helvetica Neue" panose="02000503000000020004" pitchFamily="2" charset="0"/>
                <a:sym typeface="Wingdings" panose="05000000000000000000" pitchFamily="2" charset="2"/>
              </a:rPr>
              <a:t></a:t>
            </a:r>
          </a:p>
        </p:txBody>
      </p:sp>
      <p:grpSp>
        <p:nvGrpSpPr>
          <p:cNvPr id="35" name="Group 34">
            <a:extLst>
              <a:ext uri="{FF2B5EF4-FFF2-40B4-BE49-F238E27FC236}">
                <a16:creationId xmlns:a16="http://schemas.microsoft.com/office/drawing/2014/main" id="{3F0839AE-1EE5-52A3-ABCA-009416734392}"/>
              </a:ext>
            </a:extLst>
          </p:cNvPr>
          <p:cNvGrpSpPr/>
          <p:nvPr/>
        </p:nvGrpSpPr>
        <p:grpSpPr>
          <a:xfrm>
            <a:off x="1076991" y="5999016"/>
            <a:ext cx="2137546" cy="266519"/>
            <a:chOff x="1174740" y="5999016"/>
            <a:chExt cx="1942047" cy="266519"/>
          </a:xfrm>
        </p:grpSpPr>
        <p:cxnSp>
          <p:nvCxnSpPr>
            <p:cNvPr id="36" name="Straight Arrow Connector 35">
              <a:extLst>
                <a:ext uri="{FF2B5EF4-FFF2-40B4-BE49-F238E27FC236}">
                  <a16:creationId xmlns:a16="http://schemas.microsoft.com/office/drawing/2014/main" id="{69C4219A-366C-E65A-07A8-CEC081189A34}"/>
                </a:ext>
              </a:extLst>
            </p:cNvPr>
            <p:cNvCxnSpPr>
              <a:cxnSpLocks/>
            </p:cNvCxnSpPr>
            <p:nvPr/>
          </p:nvCxnSpPr>
          <p:spPr>
            <a:xfrm>
              <a:off x="1174740" y="5999016"/>
              <a:ext cx="1942047"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1DA53EA-A661-A97E-77AC-D7EEFF3723BB}"/>
                </a:ext>
              </a:extLst>
            </p:cNvPr>
            <p:cNvCxnSpPr>
              <a:cxnSpLocks/>
            </p:cNvCxnSpPr>
            <p:nvPr/>
          </p:nvCxnSpPr>
          <p:spPr>
            <a:xfrm>
              <a:off x="1174740" y="6265535"/>
              <a:ext cx="1942047"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08C3844B-7A12-09B0-4B14-5345091E973A}"/>
              </a:ext>
            </a:extLst>
          </p:cNvPr>
          <p:cNvSpPr txBox="1"/>
          <p:nvPr/>
        </p:nvSpPr>
        <p:spPr>
          <a:xfrm>
            <a:off x="1779781" y="5945155"/>
            <a:ext cx="753652" cy="107722"/>
          </a:xfrm>
          <a:prstGeom prst="rect">
            <a:avLst/>
          </a:prstGeom>
          <a:solidFill>
            <a:schemeClr val="bg1"/>
          </a:solidFill>
        </p:spPr>
        <p:txBody>
          <a:bodyPr wrap="square" t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Risk to Value</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9" name="Straight Connector 38">
            <a:extLst>
              <a:ext uri="{FF2B5EF4-FFF2-40B4-BE49-F238E27FC236}">
                <a16:creationId xmlns:a16="http://schemas.microsoft.com/office/drawing/2014/main" id="{6E744354-5B99-9B4C-D522-6CA4A1A31634}"/>
              </a:ext>
            </a:extLst>
          </p:cNvPr>
          <p:cNvCxnSpPr>
            <a:cxnSpLocks/>
          </p:cNvCxnSpPr>
          <p:nvPr/>
        </p:nvCxnSpPr>
        <p:spPr>
          <a:xfrm>
            <a:off x="570090" y="5850541"/>
            <a:ext cx="3253331"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6EC2D5D-C5DF-0B8D-11ED-11E63DA27DBB}"/>
              </a:ext>
            </a:extLst>
          </p:cNvPr>
          <p:cNvSpPr txBox="1"/>
          <p:nvPr/>
        </p:nvSpPr>
        <p:spPr>
          <a:xfrm>
            <a:off x="759343"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dirty="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6330C5CD-54F7-D3E4-5BF2-E65D5CE7C9F0}"/>
              </a:ext>
            </a:extLst>
          </p:cNvPr>
          <p:cNvSpPr txBox="1"/>
          <p:nvPr/>
        </p:nvSpPr>
        <p:spPr>
          <a:xfrm>
            <a:off x="3382477"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0152D731-F0DE-3407-2E4D-0D890337CA8D}"/>
              </a:ext>
            </a:extLst>
          </p:cNvPr>
          <p:cNvSpPr txBox="1"/>
          <p:nvPr/>
        </p:nvSpPr>
        <p:spPr>
          <a:xfrm>
            <a:off x="1415126"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B8FA8EBD-7BBD-6D44-1285-4E1F7BC806CB}"/>
              </a:ext>
            </a:extLst>
          </p:cNvPr>
          <p:cNvSpPr txBox="1"/>
          <p:nvPr/>
        </p:nvSpPr>
        <p:spPr>
          <a:xfrm>
            <a:off x="2726692"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BAAFECBC-731C-2D5D-67E8-DAAA4F554D09}"/>
              </a:ext>
            </a:extLst>
          </p:cNvPr>
          <p:cNvSpPr txBox="1"/>
          <p:nvPr/>
        </p:nvSpPr>
        <p:spPr>
          <a:xfrm>
            <a:off x="2070909"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167C917E-76B8-E7BA-4CD4-9CB2BD11CA8F}"/>
              </a:ext>
            </a:extLst>
          </p:cNvPr>
          <p:cNvSpPr txBox="1"/>
          <p:nvPr/>
        </p:nvSpPr>
        <p:spPr>
          <a:xfrm>
            <a:off x="1626452" y="6200481"/>
            <a:ext cx="1106937" cy="107722"/>
          </a:xfrm>
          <a:prstGeom prst="rect">
            <a:avLst/>
          </a:prstGeom>
          <a:solidFill>
            <a:schemeClr val="bg1"/>
          </a:solidFill>
        </p:spPr>
        <p:txBody>
          <a:bodyPr wrap="square" t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dirty="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Strength of Evidence</a:t>
            </a:r>
            <a:endParaRPr kumimoji="0" lang="en-US" sz="700" b="0" i="1" u="none" strike="noStrike" kern="0" cap="none" spc="0" normalizeH="0" baseline="0" noProof="0" dirty="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E481AFA1-9C47-559D-FB2C-85F9E13AE66D}"/>
              </a:ext>
            </a:extLst>
          </p:cNvPr>
          <p:cNvSpPr txBox="1"/>
          <p:nvPr/>
        </p:nvSpPr>
        <p:spPr>
          <a:xfrm>
            <a:off x="3157841" y="6178148"/>
            <a:ext cx="485511" cy="200055"/>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Strong</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7" name="TextBox 46">
            <a:extLst>
              <a:ext uri="{FF2B5EF4-FFF2-40B4-BE49-F238E27FC236}">
                <a16:creationId xmlns:a16="http://schemas.microsoft.com/office/drawing/2014/main" id="{01CD0A37-B5C7-E095-5FE2-98EB9783A2AC}"/>
              </a:ext>
            </a:extLst>
          </p:cNvPr>
          <p:cNvSpPr txBox="1"/>
          <p:nvPr/>
        </p:nvSpPr>
        <p:spPr>
          <a:xfrm>
            <a:off x="695579" y="6178148"/>
            <a:ext cx="485511" cy="20005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None</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ACF079A9-40F5-3B15-269A-0E5109277F9F}"/>
              </a:ext>
            </a:extLst>
          </p:cNvPr>
          <p:cNvSpPr txBox="1"/>
          <p:nvPr/>
        </p:nvSpPr>
        <p:spPr>
          <a:xfrm>
            <a:off x="3116787" y="5898989"/>
            <a:ext cx="526566" cy="200055"/>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Low</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20B2E01E-9307-E130-F14D-37C4951E1EC3}"/>
              </a:ext>
            </a:extLst>
          </p:cNvPr>
          <p:cNvSpPr txBox="1"/>
          <p:nvPr/>
        </p:nvSpPr>
        <p:spPr>
          <a:xfrm>
            <a:off x="695579" y="5898989"/>
            <a:ext cx="621805" cy="20005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High </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0C02259B-103D-D740-7A02-65B98BFE286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493886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2ECE2-E1A1-7149-D2F9-28E88BCE80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4C3600-B7E1-E62B-6E17-F32D1697A13C}"/>
              </a:ext>
            </a:extLst>
          </p:cNvPr>
          <p:cNvSpPr>
            <a:spLocks noGrp="1"/>
          </p:cNvSpPr>
          <p:nvPr>
            <p:ph type="title"/>
          </p:nvPr>
        </p:nvSpPr>
        <p:spPr/>
        <p:txBody>
          <a:bodyPr/>
          <a:lstStyle/>
          <a:p>
            <a:r>
              <a:rPr lang="en-GB" spc="-25" dirty="0"/>
              <a:t>Candidate Assessment Comparison</a:t>
            </a:r>
            <a:endParaRPr lang="en-US" dirty="0"/>
          </a:p>
        </p:txBody>
      </p:sp>
      <p:sp>
        <p:nvSpPr>
          <p:cNvPr id="7" name="Text Placeholder 6">
            <a:extLst>
              <a:ext uri="{FF2B5EF4-FFF2-40B4-BE49-F238E27FC236}">
                <a16:creationId xmlns:a16="http://schemas.microsoft.com/office/drawing/2014/main" id="{E2179B8C-88EF-EB2F-D1D8-15A99F206BC4}"/>
              </a:ext>
            </a:extLst>
          </p:cNvPr>
          <p:cNvSpPr>
            <a:spLocks noGrp="1"/>
          </p:cNvSpPr>
          <p:nvPr>
            <p:ph type="body" sz="quarter" idx="12"/>
          </p:nvPr>
        </p:nvSpPr>
        <p:spPr/>
        <p:txBody>
          <a:bodyPr/>
          <a:lstStyle/>
          <a:p>
            <a:r>
              <a:rPr lang="en-US" dirty="0"/>
              <a:t>Dave Jones (CDIO Candidate)</a:t>
            </a:r>
          </a:p>
          <a:p>
            <a:endParaRPr lang="en-US" dirty="0"/>
          </a:p>
        </p:txBody>
      </p:sp>
      <p:sp>
        <p:nvSpPr>
          <p:cNvPr id="4" name="Slide Number Placeholder 3">
            <a:extLst>
              <a:ext uri="{FF2B5EF4-FFF2-40B4-BE49-F238E27FC236}">
                <a16:creationId xmlns:a16="http://schemas.microsoft.com/office/drawing/2014/main" id="{AC5798B7-DAEB-FCAC-B2C4-E34A41AC4B3B}"/>
              </a:ext>
            </a:extLst>
          </p:cNvPr>
          <p:cNvSpPr>
            <a:spLocks noGrp="1"/>
          </p:cNvSpPr>
          <p:nvPr>
            <p:ph type="sldNum" sz="quarter" idx="4"/>
          </p:nvPr>
        </p:nvSpPr>
        <p:spPr/>
        <p:txBody>
          <a:bodyPr/>
          <a:lstStyle/>
          <a:p>
            <a:pPr algn="ctr"/>
            <a:fld id="{1875A764-3B06-454E-8ABA-2F6ED0EB58E9}" type="slidenum">
              <a:rPr lang="en-US" smtClean="0"/>
              <a:t>11</a:t>
            </a:fld>
            <a:endParaRPr lang="en-US"/>
          </a:p>
        </p:txBody>
      </p:sp>
      <p:sp>
        <p:nvSpPr>
          <p:cNvPr id="8" name="Google Shape;103;p3">
            <a:extLst>
              <a:ext uri="{FF2B5EF4-FFF2-40B4-BE49-F238E27FC236}">
                <a16:creationId xmlns:a16="http://schemas.microsoft.com/office/drawing/2014/main" id="{3635E6D9-D871-98EF-9EA9-E8299B78AC18}"/>
              </a:ext>
            </a:extLst>
          </p:cNvPr>
          <p:cNvSpPr/>
          <p:nvPr/>
        </p:nvSpPr>
        <p:spPr>
          <a:xfrm>
            <a:off x="563253" y="1165347"/>
            <a:ext cx="3261114" cy="5196587"/>
          </a:xfrm>
          <a:prstGeom prst="roundRect">
            <a:avLst>
              <a:gd name="adj" fmla="val 4596"/>
            </a:avLst>
          </a:prstGeom>
          <a:no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B0604020202020204" charset="0"/>
              <a:sym typeface="Lato"/>
            </a:endParaRPr>
          </a:p>
        </p:txBody>
      </p:sp>
      <p:sp>
        <p:nvSpPr>
          <p:cNvPr id="9" name="Google Shape;61;p3">
            <a:extLst>
              <a:ext uri="{FF2B5EF4-FFF2-40B4-BE49-F238E27FC236}">
                <a16:creationId xmlns:a16="http://schemas.microsoft.com/office/drawing/2014/main" id="{CBF5C94A-6AFE-ACBA-2704-463B30ACE5F3}"/>
              </a:ext>
            </a:extLst>
          </p:cNvPr>
          <p:cNvSpPr txBox="1"/>
          <p:nvPr/>
        </p:nvSpPr>
        <p:spPr>
          <a:xfrm>
            <a:off x="689393" y="1220432"/>
            <a:ext cx="2270896" cy="230812"/>
          </a:xfrm>
          <a:prstGeom prst="rect">
            <a:avLst/>
          </a:prstGeom>
          <a:noFill/>
          <a:ln>
            <a:noFill/>
          </a:ln>
        </p:spPr>
        <p:txBody>
          <a:bodyPr spcFirstLastPara="1" wrap="square" lIns="22850" tIns="22850" rIns="22850" bIns="22850" anchor="b" anchorCtr="0">
            <a:spAutoFit/>
          </a:bodyPr>
          <a:lstStyle/>
          <a:p>
            <a:pPr marL="0" marR="0" lvl="0" indent="0" defTabSz="45720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Jobs to Be Done</a:t>
            </a:r>
            <a:endParaRPr kumimoji="0" lang="en-US" sz="700" b="1" i="0" u="none" strike="noStrike" kern="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sp>
        <p:nvSpPr>
          <p:cNvPr id="10" name="Google Shape;61;p3">
            <a:extLst>
              <a:ext uri="{FF2B5EF4-FFF2-40B4-BE49-F238E27FC236}">
                <a16:creationId xmlns:a16="http://schemas.microsoft.com/office/drawing/2014/main" id="{2043B704-C355-7C73-470D-CCC86DDEB856}"/>
              </a:ext>
            </a:extLst>
          </p:cNvPr>
          <p:cNvSpPr txBox="1"/>
          <p:nvPr/>
        </p:nvSpPr>
        <p:spPr>
          <a:xfrm>
            <a:off x="726541" y="3922710"/>
            <a:ext cx="1760069" cy="230812"/>
          </a:xfrm>
          <a:prstGeom prst="rect">
            <a:avLst/>
          </a:prstGeom>
          <a:noFill/>
          <a:ln>
            <a:noFill/>
          </a:ln>
        </p:spPr>
        <p:txBody>
          <a:bodyPr spcFirstLastPara="1" wrap="square" lIns="22850" tIns="22850" rIns="22850" bIns="22850" anchor="b" anchorCtr="0">
            <a:spAutoFit/>
          </a:bodyPr>
          <a:lstStyle/>
          <a:p>
            <a:pPr marL="0" marR="0" lvl="0" indent="0" defTabSz="45720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Superpowers</a:t>
            </a:r>
            <a:endParaRPr kumimoji="0" lang="en-US" sz="1200" b="1" i="0" u="none" strike="noStrike" kern="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graphicFrame>
        <p:nvGraphicFramePr>
          <p:cNvPr id="11" name="Table 10">
            <a:extLst>
              <a:ext uri="{FF2B5EF4-FFF2-40B4-BE49-F238E27FC236}">
                <a16:creationId xmlns:a16="http://schemas.microsoft.com/office/drawing/2014/main" id="{0A7B579E-A9E5-B29A-9E4F-3978E6080E6F}"/>
              </a:ext>
            </a:extLst>
          </p:cNvPr>
          <p:cNvGraphicFramePr>
            <a:graphicFrameLocks noGrp="1"/>
          </p:cNvGraphicFramePr>
          <p:nvPr>
            <p:extLst>
              <p:ext uri="{D42A27DB-BD31-4B8C-83A1-F6EECF244321}">
                <p14:modId xmlns:p14="http://schemas.microsoft.com/office/powerpoint/2010/main" val="4131860092"/>
              </p:ext>
            </p:extLst>
          </p:nvPr>
        </p:nvGraphicFramePr>
        <p:xfrm>
          <a:off x="759343" y="4227534"/>
          <a:ext cx="2841156" cy="1443912"/>
        </p:xfrm>
        <a:graphic>
          <a:graphicData uri="http://schemas.openxmlformats.org/drawingml/2006/table">
            <a:tbl>
              <a:tblPr firstRow="1" bandRow="1">
                <a:tableStyleId>{2D5ABB26-0587-4C30-8999-92F81FD0307C}</a:tableStyleId>
              </a:tblPr>
              <a:tblGrid>
                <a:gridCol w="240782">
                  <a:extLst>
                    <a:ext uri="{9D8B030D-6E8A-4147-A177-3AD203B41FA5}">
                      <a16:colId xmlns:a16="http://schemas.microsoft.com/office/drawing/2014/main" val="149923257"/>
                    </a:ext>
                  </a:extLst>
                </a:gridCol>
                <a:gridCol w="2163364">
                  <a:extLst>
                    <a:ext uri="{9D8B030D-6E8A-4147-A177-3AD203B41FA5}">
                      <a16:colId xmlns:a16="http://schemas.microsoft.com/office/drawing/2014/main" val="3218880438"/>
                    </a:ext>
                  </a:extLst>
                </a:gridCol>
                <a:gridCol w="437010">
                  <a:extLst>
                    <a:ext uri="{9D8B030D-6E8A-4147-A177-3AD203B41FA5}">
                      <a16:colId xmlns:a16="http://schemas.microsoft.com/office/drawing/2014/main" val="720608733"/>
                    </a:ext>
                  </a:extLst>
                </a:gridCol>
              </a:tblGrid>
              <a:tr h="702244">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0" u="none" strike="noStrike" cap="none">
                          <a:solidFill>
                            <a:schemeClr val="tx1"/>
                          </a:solidFill>
                          <a:sym typeface="Lato"/>
                        </a:rPr>
                        <a:t>1</a:t>
                      </a:r>
                      <a:endParaRPr lang="en-US" sz="1000" b="0">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l" defTabSz="914400" rtl="0" eaLnBrk="1" fontAlgn="auto" latinLnBrk="0" hangingPunct="1">
                        <a:lnSpc>
                          <a:spcPct val="100000"/>
                        </a:lnSpc>
                        <a:spcBef>
                          <a:spcPts val="0"/>
                        </a:spcBef>
                        <a:spcAft>
                          <a:spcPts val="300"/>
                        </a:spcAft>
                        <a:buClr>
                          <a:srgbClr val="1D1D1D"/>
                        </a:buClr>
                        <a:buSzPct val="100000"/>
                        <a:buFontTx/>
                        <a:buNone/>
                        <a:tabLst/>
                        <a:defRPr sz="1200" b="1">
                          <a:solidFill>
                            <a:srgbClr val="FFFFFF"/>
                          </a:solidFill>
                          <a:latin typeface="Arial" pitchFamily="34" charset="0"/>
                        </a:defRPr>
                      </a:pPr>
                      <a:r>
                        <a:rPr kumimoji="0" lang="en-US" sz="1000" b="0" u="none" strike="noStrike" kern="1200" cap="none" spc="0" normalizeH="0" baseline="0" noProof="0" dirty="0">
                          <a:ln>
                            <a:noFill/>
                          </a:ln>
                          <a:solidFill>
                            <a:schemeClr val="tx1"/>
                          </a:solidFill>
                          <a:effectLst/>
                          <a:uLnTx/>
                          <a:uFillTx/>
                          <a:sym typeface="Lato Light"/>
                        </a:rPr>
                        <a:t>Outstanding partner to business leaders who is seen as an ally enabling commercial objectives</a:t>
                      </a:r>
                      <a:endParaRPr kumimoji="0" lang="en-US" sz="1000" b="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sym typeface="Lato Light"/>
                      </a:endParaRPr>
                    </a:p>
                  </a:txBody>
                  <a:tcPr marL="25977" marR="25977" marT="14288" marB="14288" anchor="ctr">
                    <a:lnB w="12700" cap="flat" cmpd="sng" algn="ctr">
                      <a:solidFill>
                        <a:srgbClr val="D0D2D0"/>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2600" b="0" i="0" u="none" strike="noStrike" kern="1200" cap="none" spc="0" normalizeH="0" baseline="0" noProof="0" dirty="0">
                        <a:ln>
                          <a:noFill/>
                        </a:ln>
                        <a:solidFill>
                          <a:schemeClr val="accent3"/>
                        </a:solidFill>
                        <a:effectLst/>
                        <a:uLnTx/>
                        <a:uFillTx/>
                        <a:latin typeface="+mn-lt"/>
                        <a:ea typeface="+mn-ea"/>
                        <a:cs typeface="+mn-cs"/>
                      </a:endParaRPr>
                    </a:p>
                  </a:txBody>
                  <a:tcPr anchor="ctr">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13599034"/>
                  </a:ext>
                </a:extLst>
              </a:tr>
              <a:tr h="741668">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0">
                          <a:solidFill>
                            <a:schemeClr val="tx1"/>
                          </a:solidFill>
                        </a:rPr>
                        <a:t>2</a:t>
                      </a:r>
                      <a:endParaRPr lang="en-US" sz="1000" b="0">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914400" rtl="0" eaLnBrk="1" fontAlgn="auto" latinLnBrk="0" hangingPunct="1">
                        <a:lnSpc>
                          <a:spcPct val="100000"/>
                        </a:lnSpc>
                        <a:spcBef>
                          <a:spcPts val="0"/>
                        </a:spcBef>
                        <a:spcAft>
                          <a:spcPts val="300"/>
                        </a:spcAft>
                        <a:buClr>
                          <a:srgbClr val="1D1D1D"/>
                        </a:buClr>
                        <a:buSzPct val="100000"/>
                        <a:buFontTx/>
                        <a:buNone/>
                        <a:tabLst/>
                        <a:defRPr/>
                      </a:pPr>
                      <a:r>
                        <a:rPr kumimoji="0" lang="en-US" sz="1000" b="0" u="none" strike="noStrike" kern="1200" cap="none" spc="0" normalizeH="0" baseline="0" noProof="0">
                          <a:ln>
                            <a:noFill/>
                          </a:ln>
                          <a:solidFill>
                            <a:schemeClr val="tx1"/>
                          </a:solidFill>
                          <a:effectLst/>
                          <a:uLnTx/>
                          <a:uFillTx/>
                          <a:sym typeface="Lato Light"/>
                        </a:rPr>
                        <a:t>Dual passions around improving the existing ‘plumbing’ while shaping future products</a:t>
                      </a: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sym typeface="Lato Light"/>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dirty="0">
                        <a:solidFill>
                          <a:schemeClr val="accent3"/>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58033297"/>
                  </a:ext>
                </a:extLst>
              </a:tr>
            </a:tbl>
          </a:graphicData>
        </a:graphic>
      </p:graphicFrame>
      <p:graphicFrame>
        <p:nvGraphicFramePr>
          <p:cNvPr id="13" name="Google Shape;302;p6">
            <a:extLst>
              <a:ext uri="{FF2B5EF4-FFF2-40B4-BE49-F238E27FC236}">
                <a16:creationId xmlns:a16="http://schemas.microsoft.com/office/drawing/2014/main" id="{50E97465-FB5F-163B-2DE6-CB01C9BE30F6}"/>
              </a:ext>
            </a:extLst>
          </p:cNvPr>
          <p:cNvGraphicFramePr/>
          <p:nvPr>
            <p:extLst>
              <p:ext uri="{D42A27DB-BD31-4B8C-83A1-F6EECF244321}">
                <p14:modId xmlns:p14="http://schemas.microsoft.com/office/powerpoint/2010/main" val="3078344128"/>
              </p:ext>
            </p:extLst>
          </p:nvPr>
        </p:nvGraphicFramePr>
        <p:xfrm>
          <a:off x="759343" y="1570188"/>
          <a:ext cx="2841156" cy="2170216"/>
        </p:xfrm>
        <a:graphic>
          <a:graphicData uri="http://schemas.openxmlformats.org/drawingml/2006/table">
            <a:tbl>
              <a:tblPr firstRow="1" bandRow="1">
                <a:tableStyleId>{2D5ABB26-0587-4C30-8999-92F81FD0307C}</a:tableStyleId>
              </a:tblPr>
              <a:tblGrid>
                <a:gridCol w="219746">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1803400">
                  <a:extLst>
                    <a:ext uri="{9D8B030D-6E8A-4147-A177-3AD203B41FA5}">
                      <a16:colId xmlns:a16="http://schemas.microsoft.com/office/drawing/2014/main" val="20002"/>
                    </a:ext>
                  </a:extLst>
                </a:gridCol>
                <a:gridCol w="437010">
                  <a:extLst>
                    <a:ext uri="{9D8B030D-6E8A-4147-A177-3AD203B41FA5}">
                      <a16:colId xmlns:a16="http://schemas.microsoft.com/office/drawing/2014/main" val="2124507968"/>
                    </a:ext>
                  </a:extLst>
                </a:gridCol>
              </a:tblGrid>
              <a:tr h="542554">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1</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30%</a:t>
                      </a:r>
                      <a:endParaRPr lang="en-US" sz="1000" b="1" dirty="0">
                        <a:solidFill>
                          <a:schemeClr val="accent1"/>
                        </a:solidFill>
                        <a:latin typeface="Arial" panose="020B0604020202020204" pitchFamily="34" charset="0"/>
                        <a:ea typeface="+mn-ea"/>
                        <a:cs typeface="Arial" panose="020B0604020202020204" pitchFamily="34" charset="0"/>
                      </a:endParaRPr>
                    </a:p>
                  </a:txBody>
                  <a:tcPr marL="25977" marR="25977" marT="14288" marB="14288" anchor="ctr">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200" b="1" kern="1200">
                          <a:solidFill>
                            <a:srgbClr val="FFFFFF"/>
                          </a:solidFill>
                          <a:latin typeface="Arial" pitchFamily="34" charset="0"/>
                        </a:defRPr>
                      </a:lvl1pPr>
                      <a:lvl2pPr marL="457189" algn="l" defTabSz="914377" rtl="0" eaLnBrk="1" latinLnBrk="0" hangingPunct="1">
                        <a:defRPr sz="1200" b="1" kern="1200">
                          <a:solidFill>
                            <a:srgbClr val="FFFFFF"/>
                          </a:solidFill>
                          <a:latin typeface="Arial" pitchFamily="34" charset="0"/>
                        </a:defRPr>
                      </a:lvl2pPr>
                      <a:lvl3pPr marL="914377" algn="l" defTabSz="914377" rtl="0" eaLnBrk="1" latinLnBrk="0" hangingPunct="1">
                        <a:defRPr sz="1200" b="1" kern="1200">
                          <a:solidFill>
                            <a:srgbClr val="FFFFFF"/>
                          </a:solidFill>
                          <a:latin typeface="Arial" pitchFamily="34" charset="0"/>
                        </a:defRPr>
                      </a:lvl3pPr>
                      <a:lvl4pPr marL="1371566" algn="l" defTabSz="914377" rtl="0" eaLnBrk="1" latinLnBrk="0" hangingPunct="1">
                        <a:defRPr sz="1200" b="1" kern="1200">
                          <a:solidFill>
                            <a:srgbClr val="FFFFFF"/>
                          </a:solidFill>
                          <a:latin typeface="Arial" pitchFamily="34" charset="0"/>
                        </a:defRPr>
                      </a:lvl4pPr>
                      <a:lvl5pPr marL="1828754" algn="l" defTabSz="914377" rtl="0" eaLnBrk="1" latinLnBrk="0" hangingPunct="1">
                        <a:defRPr sz="1200" b="1" kern="1200">
                          <a:solidFill>
                            <a:srgbClr val="FFFFFF"/>
                          </a:solidFill>
                          <a:latin typeface="Arial" pitchFamily="34" charset="0"/>
                        </a:defRPr>
                      </a:lvl5pPr>
                      <a:lvl6pPr marL="2285943" algn="l" defTabSz="914377" rtl="0" eaLnBrk="1" latinLnBrk="0" hangingPunct="1">
                        <a:defRPr sz="1200" b="1" kern="1200">
                          <a:solidFill>
                            <a:srgbClr val="FFFFFF"/>
                          </a:solidFill>
                          <a:latin typeface="Arial" pitchFamily="34" charset="0"/>
                        </a:defRPr>
                      </a:lvl6pPr>
                      <a:lvl7pPr marL="2743131" algn="l" defTabSz="914377" rtl="0" eaLnBrk="1" latinLnBrk="0" hangingPunct="1">
                        <a:defRPr sz="1200" b="1" kern="1200">
                          <a:solidFill>
                            <a:srgbClr val="FFFFFF"/>
                          </a:solidFill>
                          <a:latin typeface="Arial" pitchFamily="34" charset="0"/>
                        </a:defRPr>
                      </a:lvl7pPr>
                      <a:lvl8pPr marL="3200320" algn="l" defTabSz="914377" rtl="0" eaLnBrk="1" latinLnBrk="0" hangingPunct="1">
                        <a:defRPr sz="1200" b="1" kern="1200">
                          <a:solidFill>
                            <a:srgbClr val="FFFFFF"/>
                          </a:solidFill>
                          <a:latin typeface="Arial" pitchFamily="34" charset="0"/>
                        </a:defRPr>
                      </a:lvl8pPr>
                      <a:lvl9pPr marL="3657509" algn="l" defTabSz="914377" rtl="0" eaLnBrk="1" latinLnBrk="0" hangingPunct="1">
                        <a:defRPr sz="1200" b="1" kern="1200">
                          <a:solidFill>
                            <a:srgbClr val="FFFFFF"/>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lang="en-US" sz="1000" b="0" dirty="0">
                          <a:solidFill>
                            <a:schemeClr val="tx1"/>
                          </a:solidFill>
                          <a:latin typeface="Arial" panose="020B0604020202020204" pitchFamily="34" charset="0"/>
                          <a:cs typeface="Arial" panose="020B0604020202020204" pitchFamily="34" charset="0"/>
                        </a:rPr>
                        <a:t>Infrastructure fit for purpose</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B w="12700" cap="flat" cmpd="sng" algn="ctr">
                      <a:solidFill>
                        <a:srgbClr val="D0D2D0"/>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2600" b="0" i="0" u="none" strike="noStrike" kern="1200" cap="none" spc="0" normalizeH="0" baseline="0" noProof="0" dirty="0">
                        <a:ln>
                          <a:noFill/>
                        </a:ln>
                        <a:solidFill>
                          <a:schemeClr val="accent3"/>
                        </a:solidFill>
                        <a:effectLst/>
                        <a:uLnTx/>
                        <a:uFillTx/>
                        <a:latin typeface="+mn-lt"/>
                        <a:ea typeface="+mn-ea"/>
                        <a:cs typeface="+mn-cs"/>
                      </a:endParaRPr>
                    </a:p>
                  </a:txBody>
                  <a:tcPr anchor="ctr">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10001"/>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a:solidFill>
                            <a:schemeClr val="tx1"/>
                          </a:solidFill>
                          <a:latin typeface="Arial" panose="020B0604020202020204" pitchFamily="34" charset="0"/>
                          <a:cs typeface="Arial" panose="020B0604020202020204" pitchFamily="34" charset="0"/>
                        </a:rPr>
                        <a:t>2</a:t>
                      </a:r>
                    </a:p>
                  </a:txBody>
                  <a:tcPr marL="23400" marR="23400" marT="72000" marB="7200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35%</a:t>
                      </a:r>
                      <a:endParaRPr lang="en-US" sz="1000" b="1" dirty="0">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“Standard” Digital Transformation</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dirty="0">
                        <a:solidFill>
                          <a:schemeClr val="accent3"/>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4062063259"/>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3</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a:solidFill>
                            <a:schemeClr val="accent1"/>
                          </a:solidFill>
                          <a:latin typeface="Arial" panose="020B0604020202020204" pitchFamily="34" charset="0"/>
                          <a:cs typeface="Arial" panose="020B0604020202020204" pitchFamily="34" charset="0"/>
                        </a:rPr>
                        <a:t>15%</a:t>
                      </a:r>
                      <a:endParaRPr lang="en-US" sz="1000" b="1">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New Products and Service</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dirty="0">
                        <a:solidFill>
                          <a:schemeClr val="accent5"/>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lnB w="12700" cap="flat" cmpd="sng" algn="ctr">
                      <a:solidFill>
                        <a:srgbClr val="D0D2D0"/>
                      </a:solidFill>
                      <a:prstDash val="solid"/>
                      <a:round/>
                      <a:headEnd type="none" w="med" len="med"/>
                      <a:tailEnd type="none" w="med" len="med"/>
                    </a:lnB>
                  </a:tcPr>
                </a:tc>
                <a:extLst>
                  <a:ext uri="{0D108BD9-81ED-4DB2-BD59-A6C34878D82A}">
                    <a16:rowId xmlns:a16="http://schemas.microsoft.com/office/drawing/2014/main" val="10002"/>
                  </a:ext>
                </a:extLst>
              </a:tr>
              <a:tr h="542554">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Lato"/>
                        <a:buNone/>
                      </a:pPr>
                      <a:r>
                        <a:rPr lang="en-US" sz="1000" b="0" u="none" strike="noStrike" cap="none">
                          <a:solidFill>
                            <a:schemeClr val="tx1"/>
                          </a:solidFill>
                          <a:latin typeface="Arial" panose="020B0604020202020204" pitchFamily="34" charset="0"/>
                          <a:cs typeface="Arial" panose="020B0604020202020204" pitchFamily="34" charset="0"/>
                          <a:sym typeface="Lato"/>
                        </a:rPr>
                        <a:t>4</a:t>
                      </a:r>
                      <a:endParaRPr lang="en-US" sz="1000" b="0">
                        <a:solidFill>
                          <a:schemeClr val="tx1"/>
                        </a:solidFill>
                        <a:latin typeface="Arial" panose="020B0604020202020204" pitchFamily="34" charset="0"/>
                        <a:cs typeface="Arial" panose="020B0604020202020204" pitchFamily="34" charset="0"/>
                      </a:endParaRPr>
                    </a:p>
                  </a:txBody>
                  <a:tcPr marL="23400" marR="23400" marT="72000" marB="72000" anchor="ctr">
                    <a:lnT w="12700" cap="flat" cmpd="sng" algn="ctr">
                      <a:solidFill>
                        <a:srgbClr val="D0D2D0"/>
                      </a:solidFill>
                      <a:prstDash val="solid"/>
                      <a:round/>
                      <a:headEnd type="none" w="med" len="med"/>
                      <a:tailEnd type="none" w="med" len="med"/>
                    </a:lnT>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algn="ctr"/>
                      <a:r>
                        <a:rPr lang="en-US" sz="1000" b="1" dirty="0">
                          <a:solidFill>
                            <a:schemeClr val="accent1"/>
                          </a:solidFill>
                          <a:latin typeface="Arial" panose="020B0604020202020204" pitchFamily="34" charset="0"/>
                          <a:cs typeface="Arial" panose="020B0604020202020204" pitchFamily="34" charset="0"/>
                        </a:rPr>
                        <a:t>20%</a:t>
                      </a:r>
                      <a:endParaRPr lang="en-US" sz="1000" b="1" dirty="0">
                        <a:solidFill>
                          <a:schemeClr val="accent1"/>
                        </a:solidFill>
                        <a:latin typeface="Arial" panose="020B0604020202020204" pitchFamily="34" charset="0"/>
                        <a:ea typeface="Lato" panose="020F0502020204030203" pitchFamily="34" charset="0"/>
                        <a:cs typeface="Arial" panose="020B0604020202020204" pitchFamily="34" charset="0"/>
                      </a:endParaRPr>
                    </a:p>
                  </a:txBody>
                  <a:tcPr marL="25977" marR="25977" marT="14288" marB="14288" anchor="ctr">
                    <a:lnT w="12700" cap="flat" cmpd="sng" algn="ctr">
                      <a:solidFill>
                        <a:srgbClr val="D0D2D0"/>
                      </a:solidFill>
                      <a:prstDash val="solid"/>
                      <a:round/>
                      <a:headEnd type="none" w="med" len="med"/>
                      <a:tailEnd type="none" w="med" len="med"/>
                    </a:lnT>
                  </a:tcPr>
                </a:tc>
                <a:tc>
                  <a:txBody>
                    <a:bodyPr/>
                    <a:lstStyle>
                      <a:lvl1pPr marL="0" algn="l" defTabSz="914377" rtl="0" eaLnBrk="1" latinLnBrk="0" hangingPunct="1">
                        <a:defRPr sz="1800" kern="1200">
                          <a:solidFill>
                            <a:srgbClr val="1D1D1D"/>
                          </a:solidFill>
                          <a:latin typeface="Arial" pitchFamily="34" charset="0"/>
                        </a:defRPr>
                      </a:lvl1pPr>
                      <a:lvl2pPr marL="457189" algn="l" defTabSz="914377" rtl="0" eaLnBrk="1" latinLnBrk="0" hangingPunct="1">
                        <a:defRPr sz="1800" kern="1200">
                          <a:solidFill>
                            <a:srgbClr val="1D1D1D"/>
                          </a:solidFill>
                          <a:latin typeface="Arial" pitchFamily="34" charset="0"/>
                        </a:defRPr>
                      </a:lvl2pPr>
                      <a:lvl3pPr marL="914377" algn="l" defTabSz="914377" rtl="0" eaLnBrk="1" latinLnBrk="0" hangingPunct="1">
                        <a:defRPr sz="1800" kern="1200">
                          <a:solidFill>
                            <a:srgbClr val="1D1D1D"/>
                          </a:solidFill>
                          <a:latin typeface="Arial" pitchFamily="34" charset="0"/>
                        </a:defRPr>
                      </a:lvl3pPr>
                      <a:lvl4pPr marL="1371566" algn="l" defTabSz="914377" rtl="0" eaLnBrk="1" latinLnBrk="0" hangingPunct="1">
                        <a:defRPr sz="1800" kern="1200">
                          <a:solidFill>
                            <a:srgbClr val="1D1D1D"/>
                          </a:solidFill>
                          <a:latin typeface="Arial" pitchFamily="34" charset="0"/>
                        </a:defRPr>
                      </a:lvl4pPr>
                      <a:lvl5pPr marL="1828754" algn="l" defTabSz="914377" rtl="0" eaLnBrk="1" latinLnBrk="0" hangingPunct="1">
                        <a:defRPr sz="1800" kern="1200">
                          <a:solidFill>
                            <a:srgbClr val="1D1D1D"/>
                          </a:solidFill>
                          <a:latin typeface="Arial" pitchFamily="34" charset="0"/>
                        </a:defRPr>
                      </a:lvl5pPr>
                      <a:lvl6pPr marL="2285943" algn="l" defTabSz="914377" rtl="0" eaLnBrk="1" latinLnBrk="0" hangingPunct="1">
                        <a:defRPr sz="1800" kern="1200">
                          <a:solidFill>
                            <a:srgbClr val="1D1D1D"/>
                          </a:solidFill>
                          <a:latin typeface="Arial" pitchFamily="34" charset="0"/>
                        </a:defRPr>
                      </a:lvl6pPr>
                      <a:lvl7pPr marL="2743131" algn="l" defTabSz="914377" rtl="0" eaLnBrk="1" latinLnBrk="0" hangingPunct="1">
                        <a:defRPr sz="1800" kern="1200">
                          <a:solidFill>
                            <a:srgbClr val="1D1D1D"/>
                          </a:solidFill>
                          <a:latin typeface="Arial" pitchFamily="34" charset="0"/>
                        </a:defRPr>
                      </a:lvl7pPr>
                      <a:lvl8pPr marL="3200320" algn="l" defTabSz="914377" rtl="0" eaLnBrk="1" latinLnBrk="0" hangingPunct="1">
                        <a:defRPr sz="1800" kern="1200">
                          <a:solidFill>
                            <a:srgbClr val="1D1D1D"/>
                          </a:solidFill>
                          <a:latin typeface="Arial" pitchFamily="34" charset="0"/>
                        </a:defRPr>
                      </a:lvl8pPr>
                      <a:lvl9pPr marL="3657509" algn="l" defTabSz="914377" rtl="0" eaLnBrk="1" latinLnBrk="0" hangingPunct="1">
                        <a:defRPr sz="1800" kern="1200">
                          <a:solidFill>
                            <a:srgbClr val="1D1D1D"/>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solidFill>
                            <a:schemeClr val="tx1"/>
                          </a:solidFill>
                          <a:latin typeface="Arial" panose="020B0604020202020204" pitchFamily="34" charset="0"/>
                          <a:cs typeface="Arial" panose="020B0604020202020204" pitchFamily="34" charset="0"/>
                        </a:rPr>
                        <a:t>Implementation of SAP4Hana</a:t>
                      </a:r>
                      <a:endParaRPr lang="en-US" sz="1000" b="0" dirty="0">
                        <a:solidFill>
                          <a:schemeClr val="tx1"/>
                        </a:solidFill>
                        <a:latin typeface="Arial" panose="020B0604020202020204" pitchFamily="34" charset="0"/>
                        <a:ea typeface="Lato" panose="020F0502020204030203" pitchFamily="34" charset="0"/>
                        <a:cs typeface="Arial" panose="020B0604020202020204" pitchFamily="34" charset="0"/>
                      </a:endParaRPr>
                    </a:p>
                  </a:txBody>
                  <a:tcPr anchor="ctr">
                    <a:lnT w="12700" cap="flat" cmpd="sng" algn="ctr">
                      <a:solidFill>
                        <a:srgbClr val="D0D2D0"/>
                      </a:solidFill>
                      <a:prstDash val="solid"/>
                      <a:round/>
                      <a:headEnd type="none" w="med" len="med"/>
                      <a:tailEnd type="none" w="med" len="med"/>
                    </a:lnT>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dirty="0">
                        <a:solidFill>
                          <a:schemeClr val="accent5"/>
                        </a:solidFill>
                        <a:latin typeface="Lato" panose="020F0502020204030203" pitchFamily="34" charset="0"/>
                        <a:ea typeface="Lato" panose="020F0502020204030203" pitchFamily="34" charset="0"/>
                        <a:cs typeface="Lato" panose="020F0502020204030203" pitchFamily="34" charset="0"/>
                      </a:endParaRPr>
                    </a:p>
                  </a:txBody>
                  <a:tcPr anchor="ctr">
                    <a:lnT w="12700" cap="flat" cmpd="sng" algn="ctr">
                      <a:solidFill>
                        <a:srgbClr val="D0D2D0"/>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cxnSp>
        <p:nvCxnSpPr>
          <p:cNvPr id="22" name="Straight Connector 21">
            <a:extLst>
              <a:ext uri="{FF2B5EF4-FFF2-40B4-BE49-F238E27FC236}">
                <a16:creationId xmlns:a16="http://schemas.microsoft.com/office/drawing/2014/main" id="{FAB35BF8-77B8-6F4A-4864-A9D524A552C1}"/>
              </a:ext>
            </a:extLst>
          </p:cNvPr>
          <p:cNvCxnSpPr>
            <a:cxnSpLocks/>
          </p:cNvCxnSpPr>
          <p:nvPr/>
        </p:nvCxnSpPr>
        <p:spPr>
          <a:xfrm>
            <a:off x="689393" y="1486305"/>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618900C-21CB-29A0-B56D-1E5044F1910A}"/>
              </a:ext>
            </a:extLst>
          </p:cNvPr>
          <p:cNvCxnSpPr>
            <a:cxnSpLocks/>
          </p:cNvCxnSpPr>
          <p:nvPr/>
        </p:nvCxnSpPr>
        <p:spPr>
          <a:xfrm>
            <a:off x="689393" y="4169790"/>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B2566F5C-5F3D-AEF1-FB21-DE82F8582209}"/>
              </a:ext>
            </a:extLst>
          </p:cNvPr>
          <p:cNvGrpSpPr/>
          <p:nvPr/>
        </p:nvGrpSpPr>
        <p:grpSpPr>
          <a:xfrm>
            <a:off x="1076991" y="5999016"/>
            <a:ext cx="2137546" cy="266519"/>
            <a:chOff x="1174740" y="5999016"/>
            <a:chExt cx="1942047" cy="266519"/>
          </a:xfrm>
        </p:grpSpPr>
        <p:cxnSp>
          <p:nvCxnSpPr>
            <p:cNvPr id="36" name="Straight Arrow Connector 35">
              <a:extLst>
                <a:ext uri="{FF2B5EF4-FFF2-40B4-BE49-F238E27FC236}">
                  <a16:creationId xmlns:a16="http://schemas.microsoft.com/office/drawing/2014/main" id="{B282F417-4592-E8EE-CFAD-2D02838CC053}"/>
                </a:ext>
              </a:extLst>
            </p:cNvPr>
            <p:cNvCxnSpPr>
              <a:cxnSpLocks/>
            </p:cNvCxnSpPr>
            <p:nvPr/>
          </p:nvCxnSpPr>
          <p:spPr>
            <a:xfrm>
              <a:off x="1174740" y="5999016"/>
              <a:ext cx="1942047"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614B5B2-B10F-374B-626B-17823A6D314C}"/>
                </a:ext>
              </a:extLst>
            </p:cNvPr>
            <p:cNvCxnSpPr>
              <a:cxnSpLocks/>
            </p:cNvCxnSpPr>
            <p:nvPr/>
          </p:nvCxnSpPr>
          <p:spPr>
            <a:xfrm>
              <a:off x="1174740" y="6265535"/>
              <a:ext cx="1942047"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BE757981-858F-DD7C-00A3-71403FE95DCA}"/>
              </a:ext>
            </a:extLst>
          </p:cNvPr>
          <p:cNvSpPr txBox="1"/>
          <p:nvPr/>
        </p:nvSpPr>
        <p:spPr>
          <a:xfrm>
            <a:off x="1779781" y="5945155"/>
            <a:ext cx="753652" cy="107722"/>
          </a:xfrm>
          <a:prstGeom prst="rect">
            <a:avLst/>
          </a:prstGeom>
          <a:solidFill>
            <a:schemeClr val="bg1"/>
          </a:solidFill>
        </p:spPr>
        <p:txBody>
          <a:bodyPr wrap="square" t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Risk to Value</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9" name="Straight Connector 38">
            <a:extLst>
              <a:ext uri="{FF2B5EF4-FFF2-40B4-BE49-F238E27FC236}">
                <a16:creationId xmlns:a16="http://schemas.microsoft.com/office/drawing/2014/main" id="{BEC1F93D-B819-B80E-1A0C-213EE0FD2EF5}"/>
              </a:ext>
            </a:extLst>
          </p:cNvPr>
          <p:cNvCxnSpPr>
            <a:cxnSpLocks/>
          </p:cNvCxnSpPr>
          <p:nvPr/>
        </p:nvCxnSpPr>
        <p:spPr>
          <a:xfrm>
            <a:off x="570090" y="5850541"/>
            <a:ext cx="3253331"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8C63475-E8D5-CBAD-569A-EC1BF74EA710}"/>
              </a:ext>
            </a:extLst>
          </p:cNvPr>
          <p:cNvSpPr txBox="1"/>
          <p:nvPr/>
        </p:nvSpPr>
        <p:spPr>
          <a:xfrm>
            <a:off x="759343"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dirty="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13A63E3F-1943-535D-0461-29D5C7150D80}"/>
              </a:ext>
            </a:extLst>
          </p:cNvPr>
          <p:cNvSpPr txBox="1"/>
          <p:nvPr/>
        </p:nvSpPr>
        <p:spPr>
          <a:xfrm>
            <a:off x="3382477"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F672E6CE-F61A-17BE-C76D-66C28D794D33}"/>
              </a:ext>
            </a:extLst>
          </p:cNvPr>
          <p:cNvSpPr txBox="1"/>
          <p:nvPr/>
        </p:nvSpPr>
        <p:spPr>
          <a:xfrm>
            <a:off x="1415126"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dirty="0">
              <a:ln>
                <a:noFill/>
              </a:ln>
              <a:solidFill>
                <a:srgbClr val="FF6B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8BC593B5-3688-68D2-CFED-DC122B4867E0}"/>
              </a:ext>
            </a:extLst>
          </p:cNvPr>
          <p:cNvSpPr txBox="1"/>
          <p:nvPr/>
        </p:nvSpPr>
        <p:spPr>
          <a:xfrm>
            <a:off x="2726692"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BADC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8363FD6A-60B9-1CCC-050C-8077E4A007CF}"/>
              </a:ext>
            </a:extLst>
          </p:cNvPr>
          <p:cNvSpPr txBox="1"/>
          <p:nvPr/>
        </p:nvSpPr>
        <p:spPr>
          <a:xfrm>
            <a:off x="2070909" y="5999017"/>
            <a:ext cx="173090" cy="2154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Wingdings" panose="05000000000000000000" pitchFamily="2" charset="2"/>
              </a:rPr>
              <a:t></a:t>
            </a:r>
            <a:endParaRPr kumimoji="0" lang="en-US" sz="900" b="0" i="0" u="none" strike="noStrike" kern="0" cap="none" spc="0" normalizeH="0" baseline="0" noProof="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05435308-3C8D-3216-B44B-FB83E210EEE0}"/>
              </a:ext>
            </a:extLst>
          </p:cNvPr>
          <p:cNvSpPr txBox="1"/>
          <p:nvPr/>
        </p:nvSpPr>
        <p:spPr>
          <a:xfrm>
            <a:off x="1626452" y="6200481"/>
            <a:ext cx="1106937" cy="107722"/>
          </a:xfrm>
          <a:prstGeom prst="rect">
            <a:avLst/>
          </a:prstGeom>
          <a:solidFill>
            <a:schemeClr val="bg1"/>
          </a:solidFill>
        </p:spPr>
        <p:txBody>
          <a:bodyPr wrap="square" t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dirty="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Strength of Evidence</a:t>
            </a:r>
            <a:endParaRPr kumimoji="0" lang="en-US" sz="700" b="0" i="1" u="none" strike="noStrike" kern="0" cap="none" spc="0" normalizeH="0" baseline="0" noProof="0" dirty="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01ECE3F7-380F-7A99-CD93-DFEA979E65BD}"/>
              </a:ext>
            </a:extLst>
          </p:cNvPr>
          <p:cNvSpPr txBox="1"/>
          <p:nvPr/>
        </p:nvSpPr>
        <p:spPr>
          <a:xfrm>
            <a:off x="3157841" y="6178148"/>
            <a:ext cx="485511" cy="200055"/>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Strong</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7" name="TextBox 46">
            <a:extLst>
              <a:ext uri="{FF2B5EF4-FFF2-40B4-BE49-F238E27FC236}">
                <a16:creationId xmlns:a16="http://schemas.microsoft.com/office/drawing/2014/main" id="{ED18B657-F71B-3DCC-0CA9-3B7B3E897128}"/>
              </a:ext>
            </a:extLst>
          </p:cNvPr>
          <p:cNvSpPr txBox="1"/>
          <p:nvPr/>
        </p:nvSpPr>
        <p:spPr>
          <a:xfrm>
            <a:off x="695579" y="6178148"/>
            <a:ext cx="485511" cy="20005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None</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BF400659-ED19-ACAB-7DC1-91D3A645A109}"/>
              </a:ext>
            </a:extLst>
          </p:cNvPr>
          <p:cNvSpPr txBox="1"/>
          <p:nvPr/>
        </p:nvSpPr>
        <p:spPr>
          <a:xfrm>
            <a:off x="3116787" y="5898989"/>
            <a:ext cx="526566" cy="200055"/>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Low</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8D7FD273-CDC3-2853-8C46-CE46B6CB41C1}"/>
              </a:ext>
            </a:extLst>
          </p:cNvPr>
          <p:cNvSpPr txBox="1"/>
          <p:nvPr/>
        </p:nvSpPr>
        <p:spPr>
          <a:xfrm>
            <a:off x="695579" y="5898989"/>
            <a:ext cx="621805" cy="20005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Light"/>
              </a:rPr>
              <a:t>High </a:t>
            </a:r>
            <a:endParaRPr kumimoji="0" lang="en-US" sz="700" b="0" i="1" u="none" strike="noStrike" kern="0" cap="none" spc="0" normalizeH="0" baseline="0" noProof="0">
              <a:ln>
                <a:noFill/>
              </a:ln>
              <a:solidFill>
                <a:srgbClr val="000000">
                  <a:lumMod val="65000"/>
                  <a:lumOff val="35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7" name="Rectangle: Rounded Corners 27">
            <a:extLst>
              <a:ext uri="{FF2B5EF4-FFF2-40B4-BE49-F238E27FC236}">
                <a16:creationId xmlns:a16="http://schemas.microsoft.com/office/drawing/2014/main" id="{48F0B1DF-B164-1AAA-4171-15E9A90D87B9}"/>
              </a:ext>
            </a:extLst>
          </p:cNvPr>
          <p:cNvSpPr/>
          <p:nvPr/>
        </p:nvSpPr>
        <p:spPr>
          <a:xfrm>
            <a:off x="4006918" y="877774"/>
            <a:ext cx="1790700" cy="5500429"/>
          </a:xfrm>
          <a:prstGeom prst="round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b="1" spc="-25">
                <a:latin typeface="Segoe UI" pitchFamily="34" charset="0"/>
              </a:defRPr>
            </a:pPr>
            <a:endParaRPr kumimoji="0" lang="en-US" sz="16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8" name="Rectangle: Rounded Corners 28">
            <a:extLst>
              <a:ext uri="{FF2B5EF4-FFF2-40B4-BE49-F238E27FC236}">
                <a16:creationId xmlns:a16="http://schemas.microsoft.com/office/drawing/2014/main" id="{FB10C487-61EB-ED47-3491-83A5F0BB8D15}"/>
              </a:ext>
            </a:extLst>
          </p:cNvPr>
          <p:cNvSpPr/>
          <p:nvPr/>
        </p:nvSpPr>
        <p:spPr>
          <a:xfrm>
            <a:off x="7991775" y="877773"/>
            <a:ext cx="1790700" cy="5500429"/>
          </a:xfrm>
          <a:prstGeom prst="round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b="1" spc="-25">
                <a:latin typeface="Segoe UI" pitchFamily="34" charset="0"/>
              </a:defRPr>
            </a:pPr>
            <a:endParaRPr kumimoji="0" lang="en-US" sz="1600" b="1" i="0" u="none" strike="noStrike" kern="1200" cap="none" spc="-25" normalizeH="0" baseline="0" noProof="0" err="1">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9" name="TextBox 68">
            <a:extLst>
              <a:ext uri="{FF2B5EF4-FFF2-40B4-BE49-F238E27FC236}">
                <a16:creationId xmlns:a16="http://schemas.microsoft.com/office/drawing/2014/main" id="{F8454BB3-0508-36E8-74F0-0BCF622F13F7}"/>
              </a:ext>
            </a:extLst>
          </p:cNvPr>
          <p:cNvSpPr txBox="1"/>
          <p:nvPr/>
        </p:nvSpPr>
        <p:spPr>
          <a:xfrm>
            <a:off x="4106256" y="1580289"/>
            <a:ext cx="1472650" cy="301396"/>
          </a:xfrm>
          <a:prstGeom prst="rect">
            <a:avLst/>
          </a:prstGeom>
          <a:ln w="6350">
            <a:noFill/>
            <a:miter lim="800000"/>
          </a:ln>
        </p:spPr>
        <p:txBody>
          <a:bodyPr vert="horz" wrap="non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10" normalizeH="0" baseline="0" noProof="0" dirty="0">
                <a:ln>
                  <a:noFill/>
                </a:ln>
                <a:solidFill>
                  <a:srgbClr val="3B3B3B"/>
                </a:solidFill>
                <a:effectLst/>
                <a:uLnTx/>
                <a:uFillTx/>
                <a:latin typeface="Segoe UI" pitchFamily="34" charset="0"/>
                <a:ea typeface="Helvetica Neue" panose="02000503000000020004" pitchFamily="2" charset="0"/>
                <a:cs typeface="Helvetica Neue" panose="02000503000000020004" pitchFamily="2" charset="0"/>
              </a:rPr>
              <a:t>Dave Jones</a:t>
            </a:r>
          </a:p>
        </p:txBody>
      </p:sp>
      <p:sp>
        <p:nvSpPr>
          <p:cNvPr id="70" name="TextBox 69">
            <a:extLst>
              <a:ext uri="{FF2B5EF4-FFF2-40B4-BE49-F238E27FC236}">
                <a16:creationId xmlns:a16="http://schemas.microsoft.com/office/drawing/2014/main" id="{B9B7062A-547D-3D0A-B51B-62CCF9958C7A}"/>
              </a:ext>
            </a:extLst>
          </p:cNvPr>
          <p:cNvSpPr txBox="1"/>
          <p:nvPr/>
        </p:nvSpPr>
        <p:spPr>
          <a:xfrm>
            <a:off x="8190983" y="1595424"/>
            <a:ext cx="1338773" cy="301396"/>
          </a:xfrm>
          <a:prstGeom prst="rect">
            <a:avLst/>
          </a:prstGeom>
          <a:ln w="6350">
            <a:noFill/>
            <a:miter lim="800000"/>
          </a:ln>
        </p:spPr>
        <p:txBody>
          <a:bodyPr vert="horz" wrap="non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10" normalizeH="0" baseline="0" noProof="0">
                <a:ln>
                  <a:noFill/>
                </a:ln>
                <a:solidFill>
                  <a:srgbClr val="3B3B3B"/>
                </a:solidFill>
                <a:effectLst/>
                <a:uLnTx/>
                <a:uFillTx/>
                <a:latin typeface="Segoe UI" pitchFamily="34" charset="0"/>
                <a:ea typeface="Helvetica Neue" panose="02000503000000020004" pitchFamily="2" charset="0"/>
                <a:cs typeface="Helvetica Neue" panose="02000503000000020004" pitchFamily="2" charset="0"/>
              </a:rPr>
              <a:t>George Town</a:t>
            </a:r>
          </a:p>
        </p:txBody>
      </p:sp>
      <p:sp>
        <p:nvSpPr>
          <p:cNvPr id="85" name="TextBox 84">
            <a:extLst>
              <a:ext uri="{FF2B5EF4-FFF2-40B4-BE49-F238E27FC236}">
                <a16:creationId xmlns:a16="http://schemas.microsoft.com/office/drawing/2014/main" id="{AB5CCC2E-8089-8ACC-F90E-6E62180415F1}"/>
              </a:ext>
            </a:extLst>
          </p:cNvPr>
          <p:cNvSpPr txBox="1"/>
          <p:nvPr/>
        </p:nvSpPr>
        <p:spPr>
          <a:xfrm>
            <a:off x="4032624" y="1910527"/>
            <a:ext cx="1619915" cy="301396"/>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1" u="none" strike="noStrike" kern="1200" cap="none" spc="-10" normalizeH="0" baseline="0" noProof="0" dirty="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SVP eCommerce &amp; Digital Transformation</a:t>
            </a:r>
          </a:p>
        </p:txBody>
      </p:sp>
      <p:sp>
        <p:nvSpPr>
          <p:cNvPr id="86" name="TextBox 85">
            <a:extLst>
              <a:ext uri="{FF2B5EF4-FFF2-40B4-BE49-F238E27FC236}">
                <a16:creationId xmlns:a16="http://schemas.microsoft.com/office/drawing/2014/main" id="{7729C035-BA40-685B-2425-F62F0392023A}"/>
              </a:ext>
            </a:extLst>
          </p:cNvPr>
          <p:cNvSpPr txBox="1"/>
          <p:nvPr/>
        </p:nvSpPr>
        <p:spPr>
          <a:xfrm>
            <a:off x="8050412" y="1944515"/>
            <a:ext cx="1619915" cy="301396"/>
          </a:xfrm>
          <a:prstGeom prst="rect">
            <a:avLst/>
          </a:prstGeom>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1"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rPr>
              <a:t>SVP Enterprise Data, Analytics and AI</a:t>
            </a:r>
          </a:p>
        </p:txBody>
      </p:sp>
      <p:pic>
        <p:nvPicPr>
          <p:cNvPr id="88" name="Picture 87">
            <a:extLst>
              <a:ext uri="{FF2B5EF4-FFF2-40B4-BE49-F238E27FC236}">
                <a16:creationId xmlns:a16="http://schemas.microsoft.com/office/drawing/2014/main" id="{6C9ACC96-E3BA-26B1-6812-C64E23D06419}"/>
              </a:ext>
            </a:extLst>
          </p:cNvPr>
          <p:cNvPicPr>
            <a:picLocks noChangeAspect="1"/>
          </p:cNvPicPr>
          <p:nvPr/>
        </p:nvPicPr>
        <p:blipFill>
          <a:blip r:embed="rId3"/>
          <a:srcRect/>
          <a:stretch/>
        </p:blipFill>
        <p:spPr>
          <a:xfrm>
            <a:off x="8579323" y="1024014"/>
            <a:ext cx="562093" cy="562093"/>
          </a:xfrm>
          <a:prstGeom prst="ellipse">
            <a:avLst/>
          </a:prstGeom>
          <a:ln w="9525" cap="rnd">
            <a:solidFill>
              <a:srgbClr val="3B3B3B"/>
            </a:solidFill>
          </a:ln>
          <a:effectLst>
            <a:outerShdw blurRad="381000" dist="292100" dir="5400000" sx="-80000" sy="-18000" rotWithShape="0">
              <a:srgbClr val="1D1D1D">
                <a:alpha val="22000"/>
              </a:srgbClr>
            </a:outerShdw>
          </a:effectLst>
          <a:scene3d>
            <a:camera prst="orthographicFront"/>
            <a:lightRig rig="contrasting" dir="t">
              <a:rot lat="0" lon="0" rev="3000000"/>
            </a:lightRig>
          </a:scene3d>
          <a:sp3d contourW="7620">
            <a:bevelT w="95250" h="31750"/>
            <a:contourClr>
              <a:srgbClr val="3B3B3B"/>
            </a:contourClr>
          </a:sp3d>
        </p:spPr>
      </p:pic>
      <p:pic>
        <p:nvPicPr>
          <p:cNvPr id="89" name="Picture 88" descr="A Call for Civic-minded Technologists – Erhardt Graeff">
            <a:extLst>
              <a:ext uri="{FF2B5EF4-FFF2-40B4-BE49-F238E27FC236}">
                <a16:creationId xmlns:a16="http://schemas.microsoft.com/office/drawing/2014/main" id="{2E0E7DA4-B09E-3775-3CDF-4F15F487DDA0}"/>
              </a:ext>
            </a:extLst>
          </p:cNvPr>
          <p:cNvPicPr>
            <a:picLocks noChangeAspect="1"/>
          </p:cNvPicPr>
          <p:nvPr/>
        </p:nvPicPr>
        <p:blipFill>
          <a:blip r:embed="rId4">
            <a:extLst>
              <a:ext uri="{837473B0-CC2E-450A-ABE3-18F120FF3D39}">
                <a1611:picAttrSrcUrl xmlns:a1611="http://schemas.microsoft.com/office/drawing/2016/11/main" r:id="rId5"/>
              </a:ext>
            </a:extLst>
          </a:blip>
          <a:srcRect l="16775" r="16775"/>
          <a:stretch/>
        </p:blipFill>
        <p:spPr>
          <a:xfrm>
            <a:off x="4561535" y="1008879"/>
            <a:ext cx="562093" cy="562093"/>
          </a:xfrm>
          <a:prstGeom prst="ellipse">
            <a:avLst/>
          </a:prstGeom>
          <a:ln w="9525" cap="rnd">
            <a:solidFill>
              <a:srgbClr val="3B3B3B"/>
            </a:solidFill>
          </a:ln>
          <a:effectLst>
            <a:outerShdw blurRad="381000" dist="292100" dir="5400000" sx="-80000" sy="-18000" rotWithShape="0">
              <a:srgbClr val="1D1D1D">
                <a:alpha val="22000"/>
              </a:srgbClr>
            </a:outerShdw>
          </a:effectLst>
          <a:scene3d>
            <a:camera prst="orthographicFront"/>
            <a:lightRig rig="contrasting" dir="t">
              <a:rot lat="0" lon="0" rev="3000000"/>
            </a:lightRig>
          </a:scene3d>
          <a:sp3d contourW="7620">
            <a:bevelT w="95250" h="31750"/>
            <a:contourClr>
              <a:srgbClr val="3B3B3B"/>
            </a:contourClr>
          </a:sp3d>
        </p:spPr>
      </p:pic>
      <p:grpSp>
        <p:nvGrpSpPr>
          <p:cNvPr id="100" name="Group 99">
            <a:extLst>
              <a:ext uri="{FF2B5EF4-FFF2-40B4-BE49-F238E27FC236}">
                <a16:creationId xmlns:a16="http://schemas.microsoft.com/office/drawing/2014/main" id="{B2BF134F-891B-4039-009F-E867E3505F4C}"/>
              </a:ext>
            </a:extLst>
          </p:cNvPr>
          <p:cNvGrpSpPr/>
          <p:nvPr/>
        </p:nvGrpSpPr>
        <p:grpSpPr>
          <a:xfrm>
            <a:off x="5980169" y="877774"/>
            <a:ext cx="1829055" cy="4708358"/>
            <a:chOff x="5259667" y="1226141"/>
            <a:chExt cx="1906298" cy="1472744"/>
          </a:xfrm>
        </p:grpSpPr>
        <p:sp>
          <p:nvSpPr>
            <p:cNvPr id="101" name="Rounded Rectangle 166">
              <a:extLst>
                <a:ext uri="{FF2B5EF4-FFF2-40B4-BE49-F238E27FC236}">
                  <a16:creationId xmlns:a16="http://schemas.microsoft.com/office/drawing/2014/main" id="{4BD78EE7-DBED-A170-147F-7E526A6F248A}"/>
                </a:ext>
              </a:extLst>
            </p:cNvPr>
            <p:cNvSpPr/>
            <p:nvPr/>
          </p:nvSpPr>
          <p:spPr>
            <a:xfrm>
              <a:off x="5259668" y="1226580"/>
              <a:ext cx="1906297" cy="147230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b="1" spc="-25">
                  <a:solidFill>
                    <a:srgbClr val="FFFFFF"/>
                  </a:solidFill>
                  <a:latin typeface="Segoe UI" pitchFamily="34" charset="0"/>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1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102" name="TextBox 10">
              <a:extLst>
                <a:ext uri="{FF2B5EF4-FFF2-40B4-BE49-F238E27FC236}">
                  <a16:creationId xmlns:a16="http://schemas.microsoft.com/office/drawing/2014/main" id="{C2095F54-0D96-B6DE-3A41-CF1AB262C526}"/>
                </a:ext>
              </a:extLst>
            </p:cNvPr>
            <p:cNvSpPr txBox="1"/>
            <p:nvPr/>
          </p:nvSpPr>
          <p:spPr>
            <a:xfrm>
              <a:off x="5259667" y="1226141"/>
              <a:ext cx="1906297" cy="1311106"/>
            </a:xfrm>
            <a:prstGeom prst="rect">
              <a:avLst/>
            </a:prstGeom>
            <a:noFill/>
          </p:spPr>
          <p:txBody>
            <a:bodyPr wrap="square" lIns="91440" tIns="45720" rIns="91440" bIns="45720" rtlCol="0" anchor="t">
              <a:noAutofit/>
            </a:bodyPr>
            <a:lstStyle>
              <a:defPPr>
                <a:defRPr lang="en-US" b="1" spc="-25">
                  <a:latin typeface="Segoe UI" pitchFamily="34" charset="0"/>
                </a:defRPr>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lvl="0">
                <a:lnSpc>
                  <a:spcPct val="150000"/>
                </a:lnSpc>
                <a:spcBef>
                  <a:spcPts val="300"/>
                </a:spcBef>
                <a:spcAft>
                  <a:spcPts val="300"/>
                </a:spcAft>
                <a:defRPr/>
              </a:pPr>
              <a:r>
                <a:rPr lang="en-US" sz="900" b="1" dirty="0">
                  <a:solidFill>
                    <a:srgbClr val="000000">
                      <a:lumMod val="75000"/>
                      <a:lumOff val="25000"/>
                    </a:srgbClr>
                  </a:solidFill>
                  <a:latin typeface="Arial" panose="020B0604020202020204" pitchFamily="34" charset="0"/>
                  <a:ea typeface="Helvetica Neue" panose="02000503000000020004" pitchFamily="2" charset="0"/>
                  <a:cs typeface="Arial" panose="020B0604020202020204" pitchFamily="34" charset="0"/>
                </a:rPr>
                <a:t>EXECUTIVE SUMMARY </a:t>
              </a:r>
            </a:p>
            <a:p>
              <a:pPr lvl="0">
                <a:spcAft>
                  <a:spcPts val="300"/>
                </a:spcAft>
                <a:defRPr/>
              </a:pPr>
              <a:r>
                <a:rPr lang="en-US" sz="900" b="1" dirty="0">
                  <a:solidFill>
                    <a:srgbClr val="000000">
                      <a:lumMod val="75000"/>
                      <a:lumOff val="25000"/>
                    </a:srgbClr>
                  </a:solidFill>
                  <a:latin typeface="Arial" panose="020B0604020202020204" pitchFamily="34" charset="0"/>
                  <a:ea typeface="Helvetica Neue" panose="02000503000000020004" pitchFamily="2" charset="0"/>
                  <a:cs typeface="Arial" panose="020B0604020202020204" pitchFamily="34" charset="0"/>
                </a:rPr>
                <a:t>Talent Match: </a:t>
              </a:r>
              <a:r>
                <a:rPr lang="en-US" sz="900" dirty="0">
                  <a:solidFill>
                    <a:srgbClr val="404040"/>
                  </a:solidFill>
                  <a:latin typeface="Arial" panose="020B0604020202020204" pitchFamily="34" charset="0"/>
                  <a:ea typeface="Helvetica Neue" panose="02000503000000020004" pitchFamily="2" charset="0"/>
                  <a:cs typeface="Arial" panose="020B0604020202020204" pitchFamily="34" charset="0"/>
                </a:rPr>
                <a:t>Strong international experience having </a:t>
              </a:r>
              <a:r>
                <a:rPr lang="en-US" sz="900" dirty="0">
                  <a:solidFill>
                    <a:srgbClr val="919291">
                      <a:lumMod val="10000"/>
                    </a:srgbClr>
                  </a:solidFill>
                  <a:latin typeface="Arial" panose="020B0604020202020204" pitchFamily="34" charset="0"/>
                  <a:ea typeface="Helvetica Neue" panose="02000503000000020004" pitchFamily="2" charset="0"/>
                  <a:cs typeface="Arial" panose="020B0604020202020204" pitchFamily="34" charset="0"/>
                </a:rPr>
                <a:t>worked across 6+ countries, both as a CFO and CEO. [He/She] has weathered challenging business climates while delivering financial, operational, and transformational targets. Independent thinker and passionate about innovation and putting in place non-traditional solutions to business challenges.</a:t>
              </a:r>
            </a:p>
            <a:p>
              <a:pPr lvl="0">
                <a:defRPr/>
              </a:pPr>
              <a:r>
                <a:rPr lang="en-US" sz="900" b="1" dirty="0">
                  <a:solidFill>
                    <a:srgbClr val="000000">
                      <a:lumMod val="75000"/>
                      <a:lumOff val="25000"/>
                    </a:srgbClr>
                  </a:solidFill>
                  <a:latin typeface="Arial" panose="020B0604020202020204" pitchFamily="34" charset="0"/>
                  <a:ea typeface="Helvetica Neue" panose="02000503000000020004" pitchFamily="2" charset="0"/>
                  <a:cs typeface="Arial" panose="020B0604020202020204" pitchFamily="34" charset="0"/>
                </a:rPr>
                <a:t>Opportunities</a:t>
              </a:r>
              <a:r>
                <a:rPr lang="en-US" sz="900" dirty="0">
                  <a:solidFill>
                    <a:srgbClr val="000000">
                      <a:lumMod val="75000"/>
                      <a:lumOff val="25000"/>
                    </a:srgbClr>
                  </a:solidFill>
                  <a:latin typeface="Arial" panose="020B0604020202020204" pitchFamily="34" charset="0"/>
                  <a:ea typeface="Helvetica Neue" panose="02000503000000020004" pitchFamily="2" charset="0"/>
                  <a:cs typeface="Arial" panose="020B0604020202020204" pitchFamily="34" charset="0"/>
                </a:rPr>
                <a:t>: </a:t>
              </a:r>
              <a:r>
                <a:rPr lang="en-US" sz="900" dirty="0">
                  <a:solidFill>
                    <a:srgbClr val="919291">
                      <a:lumMod val="10000"/>
                    </a:srgbClr>
                  </a:solidFill>
                  <a:latin typeface="Arial" panose="020B0604020202020204" pitchFamily="34" charset="0"/>
                  <a:ea typeface="Helvetica Neue" panose="02000503000000020004" pitchFamily="2" charset="0"/>
                  <a:cs typeface="Arial" panose="020B0604020202020204" pitchFamily="34" charset="0"/>
                </a:rPr>
                <a:t>Focus on building stronger cohesion and creating "one culture" across BU. Leverage proven processes and expand network/relationships within [Company].  </a:t>
              </a:r>
            </a:p>
          </p:txBody>
        </p:sp>
      </p:grpSp>
      <p:grpSp>
        <p:nvGrpSpPr>
          <p:cNvPr id="103" name="Group 102">
            <a:extLst>
              <a:ext uri="{FF2B5EF4-FFF2-40B4-BE49-F238E27FC236}">
                <a16:creationId xmlns:a16="http://schemas.microsoft.com/office/drawing/2014/main" id="{6E4ECE4F-CC2D-1C1E-3B3B-0F8F34B7B1E2}"/>
              </a:ext>
            </a:extLst>
          </p:cNvPr>
          <p:cNvGrpSpPr/>
          <p:nvPr/>
        </p:nvGrpSpPr>
        <p:grpSpPr>
          <a:xfrm>
            <a:off x="9965028" y="889928"/>
            <a:ext cx="1829055" cy="4708358"/>
            <a:chOff x="5259667" y="1226141"/>
            <a:chExt cx="1906298" cy="1472744"/>
          </a:xfrm>
        </p:grpSpPr>
        <p:sp>
          <p:nvSpPr>
            <p:cNvPr id="104" name="Rounded Rectangle 166">
              <a:extLst>
                <a:ext uri="{FF2B5EF4-FFF2-40B4-BE49-F238E27FC236}">
                  <a16:creationId xmlns:a16="http://schemas.microsoft.com/office/drawing/2014/main" id="{CF877E39-986E-96BE-AF76-06A7489B25E7}"/>
                </a:ext>
              </a:extLst>
            </p:cNvPr>
            <p:cNvSpPr/>
            <p:nvPr/>
          </p:nvSpPr>
          <p:spPr>
            <a:xfrm>
              <a:off x="5259668" y="1226580"/>
              <a:ext cx="1906297" cy="147230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b="1" spc="-25">
                  <a:solidFill>
                    <a:srgbClr val="FFFFFF"/>
                  </a:solidFill>
                  <a:latin typeface="Segoe UI" pitchFamily="34" charset="0"/>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1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105" name="TextBox 10">
              <a:extLst>
                <a:ext uri="{FF2B5EF4-FFF2-40B4-BE49-F238E27FC236}">
                  <a16:creationId xmlns:a16="http://schemas.microsoft.com/office/drawing/2014/main" id="{244CA512-831A-CAAE-8931-B90E9BD652A6}"/>
                </a:ext>
              </a:extLst>
            </p:cNvPr>
            <p:cNvSpPr txBox="1"/>
            <p:nvPr/>
          </p:nvSpPr>
          <p:spPr>
            <a:xfrm>
              <a:off x="5259667" y="1226141"/>
              <a:ext cx="1906297" cy="1311106"/>
            </a:xfrm>
            <a:prstGeom prst="rect">
              <a:avLst/>
            </a:prstGeom>
            <a:noFill/>
          </p:spPr>
          <p:txBody>
            <a:bodyPr wrap="square" lIns="91440" tIns="45720" rIns="91440" bIns="45720" rtlCol="0" anchor="t">
              <a:noAutofit/>
            </a:bodyPr>
            <a:lstStyle>
              <a:defPPr>
                <a:defRPr lang="en-US" b="1" spc="-25">
                  <a:latin typeface="Segoe UI" pitchFamily="34" charset="0"/>
                </a:defRPr>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lvl="0">
                <a:spcBef>
                  <a:spcPts val="300"/>
                </a:spcBef>
                <a:spcAft>
                  <a:spcPts val="300"/>
                </a:spcAft>
                <a:defRPr/>
              </a:pPr>
              <a:r>
                <a:rPr lang="en-US" sz="900" b="1"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EXECUTIVE SUMMARY</a:t>
              </a:r>
              <a:endParaRPr lang="en-US" sz="900"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endParaRPr>
            </a:p>
            <a:p>
              <a:pPr lvl="0">
                <a:spcBef>
                  <a:spcPts val="300"/>
                </a:spcBef>
                <a:spcAft>
                  <a:spcPts val="300"/>
                </a:spcAft>
                <a:defRPr/>
              </a:pPr>
              <a:r>
                <a:rPr lang="en-US" sz="900" b="1"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Talent Match:</a:t>
              </a:r>
              <a:r>
                <a:rPr lang="en-US" sz="900"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 High-potential, data-driven leader who is recognized for building objective, metrics-based systems to drive continuous improvements to processes and customer experience; in short tenure, has made a mark as an effective leader who repeatedly has been selected to lead transformational initiatives</a:t>
              </a:r>
            </a:p>
            <a:p>
              <a:pPr lvl="0">
                <a:spcBef>
                  <a:spcPts val="300"/>
                </a:spcBef>
                <a:spcAft>
                  <a:spcPts val="300"/>
                </a:spcAft>
                <a:defRPr/>
              </a:pPr>
              <a:r>
                <a:rPr lang="en-US" sz="900" b="1"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Opportunities:</a:t>
              </a:r>
              <a:r>
                <a:rPr lang="en-US" sz="900"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 </a:t>
              </a:r>
              <a:r>
                <a:rPr lang="en-US" sz="900" dirty="0">
                  <a:solidFill>
                    <a:srgbClr val="919291">
                      <a:lumMod val="10000"/>
                    </a:srgbClr>
                  </a:solidFill>
                  <a:latin typeface="Helvetica Neue" panose="02000503000000020004" pitchFamily="2" charset="0"/>
                  <a:ea typeface="Helvetica Neue" panose="02000503000000020004" pitchFamily="2" charset="0"/>
                  <a:cs typeface="Helvetica Neue" panose="02000503000000020004" pitchFamily="2" charset="0"/>
                </a:rPr>
                <a:t>Expand relationship-based leadership skills and </a:t>
              </a:r>
              <a:r>
                <a:rPr lang="en-US" sz="900" dirty="0">
                  <a:solidFill>
                    <a:srgbClr val="404040"/>
                  </a:solidFill>
                  <a:latin typeface="Helvetica Neue" panose="02000503000000020004" pitchFamily="2" charset="0"/>
                  <a:ea typeface="Helvetica Neue" panose="02000503000000020004" pitchFamily="2" charset="0"/>
                  <a:cs typeface="Helvetica Neue" panose="02000503000000020004" pitchFamily="2" charset="0"/>
                </a:rPr>
                <a:t>faces notable gaps in international market leadership and direct sales experience. </a:t>
              </a:r>
              <a:r>
                <a:rPr lang="en-US" sz="900" dirty="0">
                  <a:solidFill>
                    <a:srgbClr val="919291">
                      <a:lumMod val="10000"/>
                    </a:srgbClr>
                  </a:solidFill>
                  <a:latin typeface="Helvetica Neue" panose="02000503000000020004" pitchFamily="2" charset="0"/>
                  <a:ea typeface="Helvetica Neue" panose="02000503000000020004" pitchFamily="2" charset="0"/>
                  <a:cs typeface="Helvetica Neue" panose="02000503000000020004" pitchFamily="2" charset="0"/>
                </a:rPr>
                <a:t>Needs time in role to build a track-record of results.</a:t>
              </a:r>
              <a:endParaRPr lang="en-US" sz="1100" dirty="0">
                <a:solidFill>
                  <a:srgbClr val="919291">
                    <a:lumMod val="10000"/>
                  </a:srgbClr>
                </a:solidFill>
                <a:latin typeface="Helvetica Neue" panose="02000503000000020004" pitchFamily="2" charset="0"/>
                <a:ea typeface="Helvetica Neue" panose="02000503000000020004" pitchFamily="2" charset="0"/>
                <a:cs typeface="Helvetica Neue" panose="02000503000000020004" pitchFamily="2" charset="0"/>
              </a:endParaRPr>
            </a:p>
            <a:p>
              <a:pPr lvl="0">
                <a:spcBef>
                  <a:spcPts val="300"/>
                </a:spcBef>
                <a:spcAft>
                  <a:spcPts val="300"/>
                </a:spcAft>
                <a:defRPr/>
              </a:pPr>
              <a:endParaRPr lang="en-US" sz="900" dirty="0">
                <a:solidFill>
                  <a:srgbClr val="000000">
                    <a:lumMod val="75000"/>
                    <a:lumOff val="25000"/>
                  </a:srgbClr>
                </a:solidFill>
                <a:latin typeface="Arial" panose="020B0604020202020204" pitchFamily="34" charset="0"/>
                <a:ea typeface="Helvetica Neue" panose="02000503000000020004" pitchFamily="2" charset="0"/>
                <a:cs typeface="Arial" panose="020B0604020202020204" pitchFamily="34" charset="0"/>
              </a:endParaRPr>
            </a:p>
          </p:txBody>
        </p:sp>
      </p:grpSp>
      <p:sp>
        <p:nvSpPr>
          <p:cNvPr id="106" name="Rounded Rectangle 166">
            <a:extLst>
              <a:ext uri="{FF2B5EF4-FFF2-40B4-BE49-F238E27FC236}">
                <a16:creationId xmlns:a16="http://schemas.microsoft.com/office/drawing/2014/main" id="{26207A9E-CEA0-42E6-7D36-7B4A07437507}"/>
              </a:ext>
            </a:extLst>
          </p:cNvPr>
          <p:cNvSpPr/>
          <p:nvPr/>
        </p:nvSpPr>
        <p:spPr>
          <a:xfrm>
            <a:off x="5987455" y="4323229"/>
            <a:ext cx="1830598" cy="2050260"/>
          </a:xfrm>
          <a:prstGeom prst="roundRect">
            <a:avLst>
              <a:gd name="adj" fmla="val 2874"/>
            </a:avLst>
          </a:prstGeom>
          <a:solidFill>
            <a:srgbClr val="F2F2F2"/>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10" normalizeH="0" baseline="0" noProof="0">
              <a:ln>
                <a:noFill/>
              </a:ln>
              <a:solidFill>
                <a:srgbClr val="1D1D1D">
                  <a:lumMod val="75000"/>
                  <a:lumOff val="2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7" name="Rectangle: Rounded Corners 77">
            <a:extLst>
              <a:ext uri="{FF2B5EF4-FFF2-40B4-BE49-F238E27FC236}">
                <a16:creationId xmlns:a16="http://schemas.microsoft.com/office/drawing/2014/main" id="{14F5774A-19FE-8F14-BCC9-5083AF0BF742}"/>
              </a:ext>
            </a:extLst>
          </p:cNvPr>
          <p:cNvSpPr/>
          <p:nvPr/>
        </p:nvSpPr>
        <p:spPr>
          <a:xfrm>
            <a:off x="5985907" y="4188049"/>
            <a:ext cx="1824771" cy="29942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10" normalizeH="0" baseline="0" noProof="0" dirty="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Leadership Insights</a:t>
            </a:r>
          </a:p>
        </p:txBody>
      </p:sp>
      <p:sp>
        <p:nvSpPr>
          <p:cNvPr id="108" name="TextBox 107">
            <a:extLst>
              <a:ext uri="{FF2B5EF4-FFF2-40B4-BE49-F238E27FC236}">
                <a16:creationId xmlns:a16="http://schemas.microsoft.com/office/drawing/2014/main" id="{D388076D-C0EB-C09D-5F44-4687C9C598E5}"/>
              </a:ext>
            </a:extLst>
          </p:cNvPr>
          <p:cNvSpPr txBox="1"/>
          <p:nvPr/>
        </p:nvSpPr>
        <p:spPr>
          <a:xfrm>
            <a:off x="5995483" y="5358443"/>
            <a:ext cx="1708236" cy="784830"/>
          </a:xfrm>
          <a:prstGeom prst="rect">
            <a:avLst/>
          </a:prstGeom>
          <a:noFill/>
        </p:spPr>
        <p:txBody>
          <a:bodyPr wrap="square" rtlCol="0">
            <a:spAutoFit/>
          </a:bodyPr>
          <a:lstStyle>
            <a:defPPr>
              <a:defRPr lang="en-US"/>
            </a:defPPr>
            <a:lvl1pPr marL="171450" indent="-171450">
              <a:lnSpc>
                <a:spcPct val="100000"/>
              </a:lnSpc>
              <a:spcBef>
                <a:spcPts val="0"/>
              </a:spcBef>
              <a:spcAft>
                <a:spcPts val="300"/>
              </a:spcAft>
              <a:buFont typeface="Arial" panose="020B0706020202030204" pitchFamily="34" charset="0"/>
              <a:buBlip>
                <a:blip r:embed="rId6"/>
              </a:buBlip>
              <a:defRPr sz="900" b="0" kern="0" spc="-10">
                <a:solidFill>
                  <a:srgbClr val="7A828D">
                    <a:lumMod val="10000"/>
                  </a:srgbClr>
                </a:solidFill>
                <a:latin typeface="Arial" pitchFamily="34" charset="0"/>
                <a:ea typeface="Helvetica Neue" panose="02000503000000020004" pitchFamily="2" charset="0"/>
                <a:cs typeface="Helvetica Neue" panose="02000503000000020004" pitchFamily="2" charset="0"/>
              </a:defRPr>
            </a:lvl1pPr>
            <a:lvl2pPr marL="685800" indent="-228600">
              <a:lnSpc>
                <a:spcPct val="90000"/>
              </a:lnSpc>
              <a:spcBef>
                <a:spcPts val="500"/>
              </a:spcBef>
              <a:buFont typeface="Arial" panose="020B0706020202030204" pitchFamily="34" charset="0"/>
              <a:buChar char="•"/>
              <a:defRPr sz="2400"/>
            </a:lvl2pPr>
            <a:lvl3pPr marL="1143000" indent="-228600">
              <a:lnSpc>
                <a:spcPct val="90000"/>
              </a:lnSpc>
              <a:spcBef>
                <a:spcPts val="500"/>
              </a:spcBef>
              <a:buFont typeface="Arial" panose="020B0706020202030204" pitchFamily="34" charset="0"/>
              <a:buChar char="•"/>
              <a:defRPr sz="2000"/>
            </a:lvl3pPr>
            <a:lvl4pPr marL="1600200" indent="-228600">
              <a:lnSpc>
                <a:spcPct val="90000"/>
              </a:lnSpc>
              <a:spcBef>
                <a:spcPts val="500"/>
              </a:spcBef>
              <a:buFont typeface="Arial" panose="020B0706020202030204" pitchFamily="34" charset="0"/>
              <a:buChar char="•"/>
            </a:lvl4pPr>
            <a:lvl5pPr marL="2057400" indent="-228600">
              <a:lnSpc>
                <a:spcPct val="90000"/>
              </a:lnSpc>
              <a:spcBef>
                <a:spcPts val="500"/>
              </a:spcBef>
              <a:buFont typeface="Arial" panose="020B0706020202030204" pitchFamily="34" charset="0"/>
              <a:buChar char="•"/>
            </a:lvl5pPr>
            <a:lvl6pPr marL="2514600" indent="-228600">
              <a:lnSpc>
                <a:spcPct val="90000"/>
              </a:lnSpc>
              <a:spcBef>
                <a:spcPts val="500"/>
              </a:spcBef>
              <a:buFont typeface="Arial" panose="020B0706020202030204" pitchFamily="34" charset="0"/>
              <a:buChar char="•"/>
            </a:lvl6pPr>
            <a:lvl7pPr marL="2971800" indent="-228600">
              <a:lnSpc>
                <a:spcPct val="90000"/>
              </a:lnSpc>
              <a:spcBef>
                <a:spcPts val="500"/>
              </a:spcBef>
              <a:buFont typeface="Arial" panose="020B0706020202030204" pitchFamily="34" charset="0"/>
              <a:buChar char="•"/>
            </a:lvl7pPr>
            <a:lvl8pPr marL="3429000" indent="-228600">
              <a:lnSpc>
                <a:spcPct val="90000"/>
              </a:lnSpc>
              <a:spcBef>
                <a:spcPts val="500"/>
              </a:spcBef>
              <a:buFont typeface="Arial" panose="020B0706020202030204" pitchFamily="34" charset="0"/>
              <a:buChar char="•"/>
            </a:lvl8pPr>
            <a:lvl9pPr marL="3886200" indent="-228600">
              <a:lnSpc>
                <a:spcPct val="90000"/>
              </a:lnSpc>
              <a:spcBef>
                <a:spcPts val="500"/>
              </a:spcBef>
              <a:buFont typeface="Arial" panose="020B0706020202030204" pitchFamily="34" charset="0"/>
              <a:buChar char="•"/>
            </a:lvl9pPr>
          </a:lstStyle>
          <a:p>
            <a:r>
              <a:rPr lang="en-US" dirty="0"/>
              <a:t>Motivated to deliver strong business results and leave a legacy; open to doing something entirely different from current role</a:t>
            </a:r>
          </a:p>
        </p:txBody>
      </p:sp>
      <p:sp>
        <p:nvSpPr>
          <p:cNvPr id="109" name="TextBox 108">
            <a:extLst>
              <a:ext uri="{FF2B5EF4-FFF2-40B4-BE49-F238E27FC236}">
                <a16:creationId xmlns:a16="http://schemas.microsoft.com/office/drawing/2014/main" id="{9EDA85CD-F8F9-2B4F-1463-82DC98AD66DB}"/>
              </a:ext>
            </a:extLst>
          </p:cNvPr>
          <p:cNvSpPr txBox="1"/>
          <p:nvPr/>
        </p:nvSpPr>
        <p:spPr>
          <a:xfrm>
            <a:off x="5995483" y="4547882"/>
            <a:ext cx="1533071" cy="230832"/>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10" normalizeH="0" baseline="0" noProof="0" dirty="0">
                <a:ln>
                  <a:noFill/>
                </a:ln>
                <a:solidFill>
                  <a:sysClr val="windowText" lastClr="000000"/>
                </a:solidFill>
                <a:effectLst/>
                <a:uLnTx/>
                <a:uFillTx/>
                <a:latin typeface="Segoe UI" pitchFamily="34" charset="0"/>
                <a:ea typeface="Helvetica Neue" panose="02000503000000020004" pitchFamily="2" charset="0"/>
                <a:cs typeface="Helvetica Neue" panose="02000503000000020004" pitchFamily="2" charset="0"/>
              </a:rPr>
              <a:t>Signature Strength</a:t>
            </a:r>
          </a:p>
        </p:txBody>
      </p:sp>
      <p:sp>
        <p:nvSpPr>
          <p:cNvPr id="110" name="TextBox 109">
            <a:extLst>
              <a:ext uri="{FF2B5EF4-FFF2-40B4-BE49-F238E27FC236}">
                <a16:creationId xmlns:a16="http://schemas.microsoft.com/office/drawing/2014/main" id="{802F149D-3E02-6493-A43C-7003EC5A13E7}"/>
              </a:ext>
            </a:extLst>
          </p:cNvPr>
          <p:cNvSpPr txBox="1"/>
          <p:nvPr/>
        </p:nvSpPr>
        <p:spPr>
          <a:xfrm>
            <a:off x="5995483" y="5155225"/>
            <a:ext cx="1533071" cy="230832"/>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10" normalizeH="0" baseline="0" noProof="0" dirty="0">
                <a:ln>
                  <a:noFill/>
                </a:ln>
                <a:solidFill>
                  <a:sysClr val="windowText" lastClr="000000"/>
                </a:solidFill>
                <a:effectLst/>
                <a:uLnTx/>
                <a:uFillTx/>
                <a:latin typeface="Segoe UI" pitchFamily="34" charset="0"/>
                <a:ea typeface="Helvetica Neue" panose="02000503000000020004" pitchFamily="2" charset="0"/>
                <a:cs typeface="Helvetica Neue" panose="02000503000000020004" pitchFamily="2" charset="0"/>
              </a:rPr>
              <a:t>Motivation</a:t>
            </a:r>
          </a:p>
        </p:txBody>
      </p:sp>
      <p:sp>
        <p:nvSpPr>
          <p:cNvPr id="111" name="Rounded Rectangle 166">
            <a:extLst>
              <a:ext uri="{FF2B5EF4-FFF2-40B4-BE49-F238E27FC236}">
                <a16:creationId xmlns:a16="http://schemas.microsoft.com/office/drawing/2014/main" id="{83C71590-1C19-F513-C630-C710660B4FC8}"/>
              </a:ext>
            </a:extLst>
          </p:cNvPr>
          <p:cNvSpPr/>
          <p:nvPr/>
        </p:nvSpPr>
        <p:spPr>
          <a:xfrm>
            <a:off x="9977334" y="4327897"/>
            <a:ext cx="1830598" cy="2044755"/>
          </a:xfrm>
          <a:prstGeom prst="roundRect">
            <a:avLst>
              <a:gd name="adj" fmla="val 2874"/>
            </a:avLst>
          </a:prstGeom>
          <a:solidFill>
            <a:srgbClr val="F2F2F2"/>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0" normalizeH="0" baseline="0" noProof="0">
              <a:ln>
                <a:noFill/>
              </a:ln>
              <a:solidFill>
                <a:srgbClr val="1D1D1D">
                  <a:lumMod val="75000"/>
                  <a:lumOff val="2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2" name="Rectangle: Rounded Corners 77">
            <a:extLst>
              <a:ext uri="{FF2B5EF4-FFF2-40B4-BE49-F238E27FC236}">
                <a16:creationId xmlns:a16="http://schemas.microsoft.com/office/drawing/2014/main" id="{D1AF2FB8-60DC-F2D7-02E1-39C2A2F022D0}"/>
              </a:ext>
            </a:extLst>
          </p:cNvPr>
          <p:cNvSpPr/>
          <p:nvPr/>
        </p:nvSpPr>
        <p:spPr>
          <a:xfrm>
            <a:off x="9970455" y="4188049"/>
            <a:ext cx="1824771" cy="29942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Leadership Insights</a:t>
            </a:r>
          </a:p>
        </p:txBody>
      </p:sp>
      <p:sp>
        <p:nvSpPr>
          <p:cNvPr id="113" name="TextBox 112">
            <a:extLst>
              <a:ext uri="{FF2B5EF4-FFF2-40B4-BE49-F238E27FC236}">
                <a16:creationId xmlns:a16="http://schemas.microsoft.com/office/drawing/2014/main" id="{BB827ADA-04CB-1C7A-DA77-4FF6E85A59AD}"/>
              </a:ext>
            </a:extLst>
          </p:cNvPr>
          <p:cNvSpPr txBox="1"/>
          <p:nvPr/>
        </p:nvSpPr>
        <p:spPr>
          <a:xfrm>
            <a:off x="9965026" y="4774610"/>
            <a:ext cx="1708236" cy="369332"/>
          </a:xfrm>
          <a:prstGeom prst="rect">
            <a:avLst/>
          </a:prstGeom>
          <a:noFill/>
        </p:spPr>
        <p:txBody>
          <a:bodyPr wrap="square" lIns="91440" tIns="45720" rIns="91440" bIns="45720" rtlCol="0">
            <a:spAutoFit/>
          </a:bodyPr>
          <a:lstStyle/>
          <a:p>
            <a:pPr marL="171450" indent="-171450">
              <a:lnSpc>
                <a:spcPct val="100000"/>
              </a:lnSpc>
              <a:spcBef>
                <a:spcPts val="0"/>
              </a:spcBef>
              <a:spcAft>
                <a:spcPts val="300"/>
              </a:spcAft>
              <a:buBlip>
                <a:blip r:embed="rId6"/>
              </a:buBlip>
              <a:defRPr/>
            </a:pPr>
            <a:r>
              <a:rPr lang="en-US" sz="900" kern="0" spc="-10" dirty="0">
                <a:solidFill>
                  <a:srgbClr val="7A828D">
                    <a:lumMod val="10000"/>
                  </a:srgbClr>
                </a:solidFill>
                <a:latin typeface="Arial" pitchFamily="34" charset="0"/>
                <a:ea typeface="Helvetica Neue" panose="02000503000000020004" pitchFamily="2" charset="0"/>
                <a:cs typeface="Helvetica Neue" panose="02000503000000020004" pitchFamily="2" charset="0"/>
              </a:rPr>
              <a:t>Commercially driven, transformative leader</a:t>
            </a:r>
          </a:p>
        </p:txBody>
      </p:sp>
      <p:sp>
        <p:nvSpPr>
          <p:cNvPr id="114" name="TextBox 113">
            <a:extLst>
              <a:ext uri="{FF2B5EF4-FFF2-40B4-BE49-F238E27FC236}">
                <a16:creationId xmlns:a16="http://schemas.microsoft.com/office/drawing/2014/main" id="{DDF41254-7E76-13B8-48A4-0962638606B2}"/>
              </a:ext>
            </a:extLst>
          </p:cNvPr>
          <p:cNvSpPr txBox="1"/>
          <p:nvPr/>
        </p:nvSpPr>
        <p:spPr>
          <a:xfrm>
            <a:off x="9987726" y="5343020"/>
            <a:ext cx="1708236" cy="923330"/>
          </a:xfrm>
          <a:prstGeom prst="rect">
            <a:avLst/>
          </a:prstGeom>
          <a:noFill/>
        </p:spPr>
        <p:txBody>
          <a:bodyPr wrap="square" lIns="91440" tIns="45720" rIns="91440" bIns="45720" rtlCol="0" anchor="t">
            <a:spAutoFit/>
          </a:bodyPr>
          <a:lstStyle/>
          <a:p>
            <a:pPr marL="171450" marR="0" lvl="0" indent="-171450" fontAlgn="auto">
              <a:spcAft>
                <a:spcPts val="300"/>
              </a:spcAft>
              <a:buClrTx/>
              <a:buSzTx/>
              <a:buBlip>
                <a:blip r:embed="rId6"/>
              </a:buBlip>
              <a:tabLst/>
              <a:defRPr/>
            </a:pPr>
            <a:r>
              <a:rPr lang="en-US" sz="900" kern="0" spc="-10" dirty="0">
                <a:solidFill>
                  <a:srgbClr val="7A828D">
                    <a:lumMod val="10000"/>
                  </a:srgbClr>
                </a:solidFill>
                <a:latin typeface="Arial" pitchFamily="34" charset="0"/>
                <a:ea typeface="Helvetica Neue" panose="02000503000000020004" pitchFamily="2" charset="0"/>
                <a:cs typeface="Helvetica Neue" panose="02000503000000020004" pitchFamily="2" charset="0"/>
              </a:rPr>
              <a:t>[He/She] is open to international opportunities in the future, but family/timing circumstances may push this further out</a:t>
            </a:r>
          </a:p>
        </p:txBody>
      </p:sp>
      <p:sp>
        <p:nvSpPr>
          <p:cNvPr id="115" name="TextBox 114">
            <a:extLst>
              <a:ext uri="{FF2B5EF4-FFF2-40B4-BE49-F238E27FC236}">
                <a16:creationId xmlns:a16="http://schemas.microsoft.com/office/drawing/2014/main" id="{6A16377F-8C76-1CB6-DBE0-927A685F449F}"/>
              </a:ext>
            </a:extLst>
          </p:cNvPr>
          <p:cNvSpPr txBox="1"/>
          <p:nvPr/>
        </p:nvSpPr>
        <p:spPr>
          <a:xfrm>
            <a:off x="9985362" y="4559655"/>
            <a:ext cx="1533071" cy="230832"/>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10" normalizeH="0" baseline="0" noProof="0" dirty="0">
                <a:ln>
                  <a:noFill/>
                </a:ln>
                <a:solidFill>
                  <a:sysClr val="windowText" lastClr="000000"/>
                </a:solidFill>
                <a:effectLst/>
                <a:uLnTx/>
                <a:uFillTx/>
                <a:latin typeface="Segoe UI" pitchFamily="34" charset="0"/>
                <a:ea typeface="Helvetica Neue" panose="02000503000000020004" pitchFamily="2" charset="0"/>
                <a:cs typeface="Helvetica Neue" panose="02000503000000020004" pitchFamily="2" charset="0"/>
              </a:rPr>
              <a:t>Signature Strength</a:t>
            </a:r>
          </a:p>
        </p:txBody>
      </p:sp>
      <p:sp>
        <p:nvSpPr>
          <p:cNvPr id="116" name="TextBox 115">
            <a:extLst>
              <a:ext uri="{FF2B5EF4-FFF2-40B4-BE49-F238E27FC236}">
                <a16:creationId xmlns:a16="http://schemas.microsoft.com/office/drawing/2014/main" id="{B20A2861-AF41-49BE-F33E-7E54A34AD219}"/>
              </a:ext>
            </a:extLst>
          </p:cNvPr>
          <p:cNvSpPr txBox="1"/>
          <p:nvPr/>
        </p:nvSpPr>
        <p:spPr>
          <a:xfrm>
            <a:off x="9985362" y="5119442"/>
            <a:ext cx="1533071" cy="230832"/>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10" normalizeH="0" baseline="0" noProof="0" dirty="0">
                <a:ln>
                  <a:noFill/>
                </a:ln>
                <a:solidFill>
                  <a:sysClr val="windowText" lastClr="000000"/>
                </a:solidFill>
                <a:effectLst/>
                <a:uLnTx/>
                <a:uFillTx/>
                <a:latin typeface="Segoe UI" pitchFamily="34" charset="0"/>
                <a:ea typeface="Helvetica Neue" panose="02000503000000020004" pitchFamily="2" charset="0"/>
                <a:cs typeface="Helvetica Neue" panose="02000503000000020004" pitchFamily="2" charset="0"/>
              </a:rPr>
              <a:t>Motivation</a:t>
            </a:r>
          </a:p>
        </p:txBody>
      </p:sp>
      <p:sp>
        <p:nvSpPr>
          <p:cNvPr id="137" name="Rectangle 136">
            <a:extLst>
              <a:ext uri="{FF2B5EF4-FFF2-40B4-BE49-F238E27FC236}">
                <a16:creationId xmlns:a16="http://schemas.microsoft.com/office/drawing/2014/main" id="{82A775D1-5CE4-27DD-1EA9-7AEA23CEB8CA}"/>
              </a:ext>
            </a:extLst>
          </p:cNvPr>
          <p:cNvSpPr/>
          <p:nvPr/>
        </p:nvSpPr>
        <p:spPr>
          <a:xfrm>
            <a:off x="4159115" y="2594118"/>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8" name="Rectangle 137">
            <a:extLst>
              <a:ext uri="{FF2B5EF4-FFF2-40B4-BE49-F238E27FC236}">
                <a16:creationId xmlns:a16="http://schemas.microsoft.com/office/drawing/2014/main" id="{378C8DC9-3F42-A849-CDDA-2B71B991C683}"/>
              </a:ext>
            </a:extLst>
          </p:cNvPr>
          <p:cNvSpPr/>
          <p:nvPr/>
        </p:nvSpPr>
        <p:spPr>
          <a:xfrm>
            <a:off x="4159115" y="3171958"/>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9" name="Rectangle 138">
            <a:extLst>
              <a:ext uri="{FF2B5EF4-FFF2-40B4-BE49-F238E27FC236}">
                <a16:creationId xmlns:a16="http://schemas.microsoft.com/office/drawing/2014/main" id="{AAE79384-C291-8FC5-1202-DC80EE892216}"/>
              </a:ext>
            </a:extLst>
          </p:cNvPr>
          <p:cNvSpPr/>
          <p:nvPr/>
        </p:nvSpPr>
        <p:spPr>
          <a:xfrm>
            <a:off x="4159115" y="3731811"/>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0" name="Rectangle 139">
            <a:extLst>
              <a:ext uri="{FF2B5EF4-FFF2-40B4-BE49-F238E27FC236}">
                <a16:creationId xmlns:a16="http://schemas.microsoft.com/office/drawing/2014/main" id="{0BEA7CB8-108B-4518-94B8-8C76C482EBBE}"/>
              </a:ext>
            </a:extLst>
          </p:cNvPr>
          <p:cNvSpPr/>
          <p:nvPr/>
        </p:nvSpPr>
        <p:spPr>
          <a:xfrm>
            <a:off x="4159115" y="4282140"/>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1" name="Rectangle 140">
            <a:extLst>
              <a:ext uri="{FF2B5EF4-FFF2-40B4-BE49-F238E27FC236}">
                <a16:creationId xmlns:a16="http://schemas.microsoft.com/office/drawing/2014/main" id="{4C961822-7AD2-44D2-A66C-43EE2EE9F9E5}"/>
              </a:ext>
            </a:extLst>
          </p:cNvPr>
          <p:cNvSpPr/>
          <p:nvPr/>
        </p:nvSpPr>
        <p:spPr>
          <a:xfrm>
            <a:off x="4197215" y="5395089"/>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2" name="Rectangle 141">
            <a:extLst>
              <a:ext uri="{FF2B5EF4-FFF2-40B4-BE49-F238E27FC236}">
                <a16:creationId xmlns:a16="http://schemas.microsoft.com/office/drawing/2014/main" id="{BFE25FF6-CB54-1627-ADA6-662F881B5060}"/>
              </a:ext>
            </a:extLst>
          </p:cNvPr>
          <p:cNvSpPr/>
          <p:nvPr/>
        </p:nvSpPr>
        <p:spPr>
          <a:xfrm>
            <a:off x="4197215" y="5971848"/>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3" name="Rectangle 142">
            <a:extLst>
              <a:ext uri="{FF2B5EF4-FFF2-40B4-BE49-F238E27FC236}">
                <a16:creationId xmlns:a16="http://schemas.microsoft.com/office/drawing/2014/main" id="{FC35E98B-5277-6E78-CD3C-FF3214825971}"/>
              </a:ext>
            </a:extLst>
          </p:cNvPr>
          <p:cNvSpPr/>
          <p:nvPr/>
        </p:nvSpPr>
        <p:spPr>
          <a:xfrm>
            <a:off x="4159115" y="4845467"/>
            <a:ext cx="1419277" cy="55623"/>
          </a:xfrm>
          <a:prstGeom prst="rect">
            <a:avLst/>
          </a:prstGeom>
          <a:gradFill flip="none" rotWithShape="1">
            <a:gsLst>
              <a:gs pos="100000">
                <a:srgbClr val="00B050"/>
              </a:gs>
              <a:gs pos="52000">
                <a:srgbClr val="FFC000"/>
              </a:gs>
              <a:gs pos="0">
                <a:srgbClr val="FF0000"/>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xmlns:a16="http://schemas.microsoft.com/office/drawing/2014/main" id="{86698199-14CE-475B-BA87-4F810FBC0DBB}"/>
              </a:ext>
            </a:extLst>
          </p:cNvPr>
          <p:cNvSpPr/>
          <p:nvPr/>
        </p:nvSpPr>
        <p:spPr>
          <a:xfrm>
            <a:off x="5175314" y="2558422"/>
            <a:ext cx="141942"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xmlns:a16="http://schemas.microsoft.com/office/drawing/2014/main" id="{699D5ED0-F2AE-1541-3FB8-8C6D6C4ED283}"/>
              </a:ext>
            </a:extLst>
          </p:cNvPr>
          <p:cNvSpPr/>
          <p:nvPr/>
        </p:nvSpPr>
        <p:spPr>
          <a:xfrm>
            <a:off x="5134129" y="3139764"/>
            <a:ext cx="141942"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xmlns:a16="http://schemas.microsoft.com/office/drawing/2014/main" id="{AB1F3136-71A9-2D16-619F-AC228AD4BA36}"/>
              </a:ext>
            </a:extLst>
          </p:cNvPr>
          <p:cNvSpPr/>
          <p:nvPr/>
        </p:nvSpPr>
        <p:spPr>
          <a:xfrm>
            <a:off x="4785480" y="3690449"/>
            <a:ext cx="139657"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7" name="Oval 146">
            <a:extLst>
              <a:ext uri="{FF2B5EF4-FFF2-40B4-BE49-F238E27FC236}">
                <a16:creationId xmlns:a16="http://schemas.microsoft.com/office/drawing/2014/main" id="{D2D8E15C-5D44-ED16-5D07-9A706B045E8F}"/>
              </a:ext>
            </a:extLst>
          </p:cNvPr>
          <p:cNvSpPr/>
          <p:nvPr/>
        </p:nvSpPr>
        <p:spPr>
          <a:xfrm>
            <a:off x="4938811" y="4243214"/>
            <a:ext cx="139657"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8" name="Oval 147">
            <a:extLst>
              <a:ext uri="{FF2B5EF4-FFF2-40B4-BE49-F238E27FC236}">
                <a16:creationId xmlns:a16="http://schemas.microsoft.com/office/drawing/2014/main" id="{4B78B805-15ED-14E8-1DA9-0D653C26BE37}"/>
              </a:ext>
            </a:extLst>
          </p:cNvPr>
          <p:cNvSpPr/>
          <p:nvPr/>
        </p:nvSpPr>
        <p:spPr>
          <a:xfrm>
            <a:off x="5245696" y="4818643"/>
            <a:ext cx="139657"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9" name="Oval 148">
            <a:extLst>
              <a:ext uri="{FF2B5EF4-FFF2-40B4-BE49-F238E27FC236}">
                <a16:creationId xmlns:a16="http://schemas.microsoft.com/office/drawing/2014/main" id="{60697C17-C5B0-F8A2-0253-5F5BE191F525}"/>
              </a:ext>
            </a:extLst>
          </p:cNvPr>
          <p:cNvSpPr/>
          <p:nvPr/>
        </p:nvSpPr>
        <p:spPr>
          <a:xfrm>
            <a:off x="5411772" y="5358253"/>
            <a:ext cx="139657"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0" name="Oval 149">
            <a:extLst>
              <a:ext uri="{FF2B5EF4-FFF2-40B4-BE49-F238E27FC236}">
                <a16:creationId xmlns:a16="http://schemas.microsoft.com/office/drawing/2014/main" id="{27F3C738-C6CB-27C9-9DA1-EC20060F61F6}"/>
              </a:ext>
            </a:extLst>
          </p:cNvPr>
          <p:cNvSpPr/>
          <p:nvPr/>
        </p:nvSpPr>
        <p:spPr>
          <a:xfrm>
            <a:off x="5335854" y="5935012"/>
            <a:ext cx="139657" cy="129294"/>
          </a:xfrm>
          <a:prstGeom prst="ellipse">
            <a:avLst/>
          </a:prstGeom>
          <a:solidFill>
            <a:srgbClr val="E9EAE9"/>
          </a:solidFill>
          <a:ln w="6350" cap="sq"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1" name="Rectangle 150">
            <a:extLst>
              <a:ext uri="{FF2B5EF4-FFF2-40B4-BE49-F238E27FC236}">
                <a16:creationId xmlns:a16="http://schemas.microsoft.com/office/drawing/2014/main" id="{18273E28-5059-AF9D-8426-C8FF9CC5F9A6}"/>
              </a:ext>
            </a:extLst>
          </p:cNvPr>
          <p:cNvSpPr/>
          <p:nvPr/>
        </p:nvSpPr>
        <p:spPr>
          <a:xfrm>
            <a:off x="8148533" y="3746946"/>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2" name="Rectangle 151">
            <a:extLst>
              <a:ext uri="{FF2B5EF4-FFF2-40B4-BE49-F238E27FC236}">
                <a16:creationId xmlns:a16="http://schemas.microsoft.com/office/drawing/2014/main" id="{87B5BA49-5BB4-051D-1C70-2355DC950339}"/>
              </a:ext>
            </a:extLst>
          </p:cNvPr>
          <p:cNvSpPr/>
          <p:nvPr/>
        </p:nvSpPr>
        <p:spPr>
          <a:xfrm>
            <a:off x="8148533" y="4297275"/>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3" name="Rectangle 152">
            <a:extLst>
              <a:ext uri="{FF2B5EF4-FFF2-40B4-BE49-F238E27FC236}">
                <a16:creationId xmlns:a16="http://schemas.microsoft.com/office/drawing/2014/main" id="{DB8F3F60-0CD8-43F7-D440-E9C7BB6585A7}"/>
              </a:ext>
            </a:extLst>
          </p:cNvPr>
          <p:cNvSpPr/>
          <p:nvPr/>
        </p:nvSpPr>
        <p:spPr>
          <a:xfrm>
            <a:off x="8186634" y="5410224"/>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4" name="Rectangle 153">
            <a:extLst>
              <a:ext uri="{FF2B5EF4-FFF2-40B4-BE49-F238E27FC236}">
                <a16:creationId xmlns:a16="http://schemas.microsoft.com/office/drawing/2014/main" id="{FF69D5BA-3F3E-BA54-B563-9E7AD488B804}"/>
              </a:ext>
            </a:extLst>
          </p:cNvPr>
          <p:cNvSpPr/>
          <p:nvPr/>
        </p:nvSpPr>
        <p:spPr>
          <a:xfrm>
            <a:off x="8186634" y="5986983"/>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5" name="Oval 154">
            <a:extLst>
              <a:ext uri="{FF2B5EF4-FFF2-40B4-BE49-F238E27FC236}">
                <a16:creationId xmlns:a16="http://schemas.microsoft.com/office/drawing/2014/main" id="{4B525439-228B-7105-5A12-55D4EE3E86CB}"/>
              </a:ext>
            </a:extLst>
          </p:cNvPr>
          <p:cNvSpPr/>
          <p:nvPr/>
        </p:nvSpPr>
        <p:spPr>
          <a:xfrm>
            <a:off x="8519548" y="5373388"/>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6" name="Oval 155">
            <a:extLst>
              <a:ext uri="{FF2B5EF4-FFF2-40B4-BE49-F238E27FC236}">
                <a16:creationId xmlns:a16="http://schemas.microsoft.com/office/drawing/2014/main" id="{1C211BFF-181A-6B0C-2694-99BF8E34B0FC}"/>
              </a:ext>
            </a:extLst>
          </p:cNvPr>
          <p:cNvSpPr/>
          <p:nvPr/>
        </p:nvSpPr>
        <p:spPr>
          <a:xfrm>
            <a:off x="8704716" y="5950147"/>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7" name="Rectangle 156">
            <a:extLst>
              <a:ext uri="{FF2B5EF4-FFF2-40B4-BE49-F238E27FC236}">
                <a16:creationId xmlns:a16="http://schemas.microsoft.com/office/drawing/2014/main" id="{D641B14D-8E93-A093-AA41-F11254944763}"/>
              </a:ext>
            </a:extLst>
          </p:cNvPr>
          <p:cNvSpPr/>
          <p:nvPr/>
        </p:nvSpPr>
        <p:spPr>
          <a:xfrm>
            <a:off x="8148533" y="4860602"/>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8" name="Rectangle 157">
            <a:extLst>
              <a:ext uri="{FF2B5EF4-FFF2-40B4-BE49-F238E27FC236}">
                <a16:creationId xmlns:a16="http://schemas.microsoft.com/office/drawing/2014/main" id="{8798B1BF-621F-20A5-5064-6E6FC7CB787F}"/>
              </a:ext>
            </a:extLst>
          </p:cNvPr>
          <p:cNvSpPr/>
          <p:nvPr/>
        </p:nvSpPr>
        <p:spPr>
          <a:xfrm>
            <a:off x="8148533" y="2611733"/>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9" name="Rectangle 158">
            <a:extLst>
              <a:ext uri="{FF2B5EF4-FFF2-40B4-BE49-F238E27FC236}">
                <a16:creationId xmlns:a16="http://schemas.microsoft.com/office/drawing/2014/main" id="{C3CC0D9F-FE75-9C86-BA41-ED0B2F4F0E79}"/>
              </a:ext>
            </a:extLst>
          </p:cNvPr>
          <p:cNvSpPr/>
          <p:nvPr/>
        </p:nvSpPr>
        <p:spPr>
          <a:xfrm>
            <a:off x="8148533" y="3188484"/>
            <a:ext cx="1419277" cy="55623"/>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0" name="Oval 159">
            <a:extLst>
              <a:ext uri="{FF2B5EF4-FFF2-40B4-BE49-F238E27FC236}">
                <a16:creationId xmlns:a16="http://schemas.microsoft.com/office/drawing/2014/main" id="{8562ADF3-27E8-FA04-63D3-B4DE746BC98C}"/>
              </a:ext>
            </a:extLst>
          </p:cNvPr>
          <p:cNvSpPr/>
          <p:nvPr/>
        </p:nvSpPr>
        <p:spPr>
          <a:xfrm>
            <a:off x="8595193" y="4829982"/>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1" name="Oval 160">
            <a:extLst>
              <a:ext uri="{FF2B5EF4-FFF2-40B4-BE49-F238E27FC236}">
                <a16:creationId xmlns:a16="http://schemas.microsoft.com/office/drawing/2014/main" id="{74C1FAB3-5834-0416-9233-35BCBA0EF3B4}"/>
              </a:ext>
            </a:extLst>
          </p:cNvPr>
          <p:cNvSpPr/>
          <p:nvPr/>
        </p:nvSpPr>
        <p:spPr>
          <a:xfrm>
            <a:off x="8735305" y="4270663"/>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2" name="Oval 161">
            <a:extLst>
              <a:ext uri="{FF2B5EF4-FFF2-40B4-BE49-F238E27FC236}">
                <a16:creationId xmlns:a16="http://schemas.microsoft.com/office/drawing/2014/main" id="{CF38C7AE-5CF9-1F7D-EE86-4C49257997DA}"/>
              </a:ext>
            </a:extLst>
          </p:cNvPr>
          <p:cNvSpPr/>
          <p:nvPr/>
        </p:nvSpPr>
        <p:spPr>
          <a:xfrm>
            <a:off x="8342607" y="3707815"/>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3" name="Oval 162">
            <a:extLst>
              <a:ext uri="{FF2B5EF4-FFF2-40B4-BE49-F238E27FC236}">
                <a16:creationId xmlns:a16="http://schemas.microsoft.com/office/drawing/2014/main" id="{75FE3D47-727B-D895-FCD8-B21E0313CFF9}"/>
              </a:ext>
            </a:extLst>
          </p:cNvPr>
          <p:cNvSpPr/>
          <p:nvPr/>
        </p:nvSpPr>
        <p:spPr>
          <a:xfrm>
            <a:off x="8735305" y="3161355"/>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4" name="Oval 163">
            <a:extLst>
              <a:ext uri="{FF2B5EF4-FFF2-40B4-BE49-F238E27FC236}">
                <a16:creationId xmlns:a16="http://schemas.microsoft.com/office/drawing/2014/main" id="{B1F8DCAB-A56A-D334-AEC3-20B4D60094D2}"/>
              </a:ext>
            </a:extLst>
          </p:cNvPr>
          <p:cNvSpPr/>
          <p:nvPr/>
        </p:nvSpPr>
        <p:spPr>
          <a:xfrm>
            <a:off x="8825301" y="2598545"/>
            <a:ext cx="141942" cy="12929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TextBox 134">
            <a:extLst>
              <a:ext uri="{FF2B5EF4-FFF2-40B4-BE49-F238E27FC236}">
                <a16:creationId xmlns:a16="http://schemas.microsoft.com/office/drawing/2014/main" id="{CC51075C-C4F1-945A-85F4-EE6F0E61F6F7}"/>
              </a:ext>
            </a:extLst>
          </p:cNvPr>
          <p:cNvSpPr txBox="1">
            <a:spLocks/>
          </p:cNvSpPr>
          <p:nvPr/>
        </p:nvSpPr>
        <p:spPr>
          <a:xfrm>
            <a:off x="5980168" y="4796988"/>
            <a:ext cx="1785937" cy="369887"/>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300"/>
              </a:spcAft>
              <a:buFont typeface="Arial" panose="020B0706020202030204" pitchFamily="34" charset="0"/>
              <a:buBlip>
                <a:blip r:embed="rId6"/>
              </a:buBlip>
              <a:defRPr/>
            </a:pPr>
            <a:r>
              <a:rPr lang="en-US" sz="900" kern="0" spc="-10" dirty="0">
                <a:solidFill>
                  <a:srgbClr val="7A828D">
                    <a:lumMod val="10000"/>
                  </a:srgbClr>
                </a:solidFill>
                <a:latin typeface="Arial" pitchFamily="34" charset="0"/>
                <a:ea typeface="Helvetica Neue" panose="02000503000000020004" pitchFamily="2" charset="0"/>
                <a:cs typeface="Helvetica Neue" panose="02000503000000020004" pitchFamily="2" charset="0"/>
              </a:rPr>
              <a:t>Global business experience &amp; financial acumen</a:t>
            </a:r>
            <a:r>
              <a:rPr lang="en-US" sz="900" spc="-10" dirty="0">
                <a:solidFill>
                  <a:srgbClr val="7A828D">
                    <a:lumMod val="10000"/>
                  </a:srgbClr>
                </a:solidFill>
                <a:latin typeface="Arial" pitchFamily="34" charset="0"/>
                <a:ea typeface="Helvetica Neue" panose="02000503000000020004" pitchFamily="2" charset="0"/>
                <a:cs typeface="Helvetica Neue" panose="02000503000000020004" pitchFamily="2" charset="0"/>
              </a:rPr>
              <a:t> </a:t>
            </a:r>
          </a:p>
        </p:txBody>
      </p:sp>
      <p:sp>
        <p:nvSpPr>
          <p:cNvPr id="165" name="TextBox 164">
            <a:extLst>
              <a:ext uri="{FF2B5EF4-FFF2-40B4-BE49-F238E27FC236}">
                <a16:creationId xmlns:a16="http://schemas.microsoft.com/office/drawing/2014/main" id="{086A35DD-08CE-130C-F7AA-1F46B073C71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006087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B38E-6025-8487-BE98-DA43CA3077BA}"/>
              </a:ext>
            </a:extLst>
          </p:cNvPr>
          <p:cNvSpPr>
            <a:spLocks noGrp="1"/>
          </p:cNvSpPr>
          <p:nvPr>
            <p:ph type="title"/>
          </p:nvPr>
        </p:nvSpPr>
        <p:spPr/>
        <p:txBody>
          <a:bodyPr/>
          <a:lstStyle/>
          <a:p>
            <a:r>
              <a:rPr lang="en-US" spc="-25" dirty="0">
                <a:ea typeface="Helvetica Neue Medium" panose="02000503000000020004" pitchFamily="2" charset="0"/>
                <a:cs typeface="Helvetica Neue Light" panose="020B0604020202020204" charset="0"/>
              </a:rPr>
              <a:t>Outcome </a:t>
            </a:r>
            <a:r>
              <a:rPr lang="en-US" spc="-25" dirty="0">
                <a:ea typeface="Helvetica Neue Medium" panose="02000503000000020004" pitchFamily="2" charset="0"/>
                <a:cs typeface="Helvetica Neue Medium" panose="02000503000000020004" pitchFamily="2" charset="0"/>
              </a:rPr>
              <a:t>of Readiness Assessment</a:t>
            </a:r>
            <a:endParaRPr lang="en-US" dirty="0"/>
          </a:p>
        </p:txBody>
      </p:sp>
      <p:sp>
        <p:nvSpPr>
          <p:cNvPr id="3" name="Text Placeholder 2">
            <a:extLst>
              <a:ext uri="{FF2B5EF4-FFF2-40B4-BE49-F238E27FC236}">
                <a16:creationId xmlns:a16="http://schemas.microsoft.com/office/drawing/2014/main" id="{781EE999-582A-A56A-B764-B96A2BBDD708}"/>
              </a:ext>
            </a:extLst>
          </p:cNvPr>
          <p:cNvSpPr>
            <a:spLocks noGrp="1"/>
          </p:cNvSpPr>
          <p:nvPr>
            <p:ph type="body" sz="quarter" idx="12"/>
          </p:nvPr>
        </p:nvSpPr>
        <p:spPr/>
        <p:txBody>
          <a:bodyPr/>
          <a:lstStyle/>
          <a:p>
            <a:r>
              <a:rPr lang="en-US" dirty="0"/>
              <a:t>Succession Plan</a:t>
            </a:r>
          </a:p>
          <a:p>
            <a:endParaRPr lang="en-US" dirty="0"/>
          </a:p>
        </p:txBody>
      </p:sp>
      <p:sp>
        <p:nvSpPr>
          <p:cNvPr id="4" name="Slide Number Placeholder 3">
            <a:extLst>
              <a:ext uri="{FF2B5EF4-FFF2-40B4-BE49-F238E27FC236}">
                <a16:creationId xmlns:a16="http://schemas.microsoft.com/office/drawing/2014/main" id="{C4B4F60D-5447-2D2F-C2F3-10E44A56CB22}"/>
              </a:ext>
            </a:extLst>
          </p:cNvPr>
          <p:cNvSpPr>
            <a:spLocks noGrp="1"/>
          </p:cNvSpPr>
          <p:nvPr>
            <p:ph type="sldNum" sz="quarter" idx="4"/>
          </p:nvPr>
        </p:nvSpPr>
        <p:spPr/>
        <p:txBody>
          <a:bodyPr/>
          <a:lstStyle/>
          <a:p>
            <a:pPr algn="ctr"/>
            <a:fld id="{7DA59B58-B945-4B36-BC6B-9C26C933A008}" type="slidenum">
              <a:rPr lang="en-US" smtClean="0"/>
              <a:t>12</a:t>
            </a:fld>
            <a:endParaRPr lang="en-US"/>
          </a:p>
        </p:txBody>
      </p:sp>
      <p:grpSp>
        <p:nvGrpSpPr>
          <p:cNvPr id="6" name="Group 5">
            <a:extLst>
              <a:ext uri="{FF2B5EF4-FFF2-40B4-BE49-F238E27FC236}">
                <a16:creationId xmlns:a16="http://schemas.microsoft.com/office/drawing/2014/main" id="{5D6D4587-B256-8293-E571-FD4EC8CD4C66}"/>
              </a:ext>
            </a:extLst>
          </p:cNvPr>
          <p:cNvGrpSpPr/>
          <p:nvPr/>
        </p:nvGrpSpPr>
        <p:grpSpPr>
          <a:xfrm>
            <a:off x="1906528" y="1309532"/>
            <a:ext cx="9632288" cy="2001831"/>
            <a:chOff x="2088945" y="1116880"/>
            <a:chExt cx="6306390" cy="1399713"/>
          </a:xfrm>
        </p:grpSpPr>
        <p:sp>
          <p:nvSpPr>
            <p:cNvPr id="7" name="Rectangle: Rounded Corners 5">
              <a:extLst>
                <a:ext uri="{FF2B5EF4-FFF2-40B4-BE49-F238E27FC236}">
                  <a16:creationId xmlns:a16="http://schemas.microsoft.com/office/drawing/2014/main" id="{91CB3CAD-CD97-8954-EC9D-98763D107D14}"/>
                </a:ext>
              </a:extLst>
            </p:cNvPr>
            <p:cNvSpPr/>
            <p:nvPr/>
          </p:nvSpPr>
          <p:spPr>
            <a:xfrm>
              <a:off x="4028321" y="1116880"/>
              <a:ext cx="1352876" cy="464918"/>
            </a:xfrm>
            <a:prstGeom prst="roundRect">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b="1" spc="-25">
                  <a:latin typeface="Segoe UI" pitchFamily="34" charset="0"/>
                </a:defRPr>
              </a:pPr>
              <a:endParaRPr kumimoji="0" lang="en-US" sz="1000" b="1" i="0" u="none" strike="noStrike" kern="0" cap="none" spc="-25"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C0087DAE-1BF5-2B26-BBBC-2B35E18066CE}"/>
                </a:ext>
              </a:extLst>
            </p:cNvPr>
            <p:cNvSpPr txBox="1"/>
            <p:nvPr/>
          </p:nvSpPr>
          <p:spPr>
            <a:xfrm>
              <a:off x="4147406" y="1268141"/>
              <a:ext cx="1114703" cy="177542"/>
            </a:xfrm>
            <a:prstGeom prst="rect">
              <a:avLst/>
            </a:prstGeom>
            <a:noFill/>
          </p:spPr>
          <p:txBody>
            <a:bodyPr wrap="square" lIns="91440" tIns="45720" rIns="91440" bIns="45720" anchor="ctr">
              <a:spAutoFit/>
            </a:bodyPr>
            <a:lstStyle/>
            <a:p>
              <a:pPr marL="0" marR="0" lvl="0" indent="0" algn="ctr" defTabSz="914354" eaLnBrk="1" fontAlgn="auto" latinLnBrk="0" hangingPunct="1">
                <a:lnSpc>
                  <a:spcPct val="100000"/>
                </a:lnSpc>
                <a:spcBef>
                  <a:spcPts val="0"/>
                </a:spcBef>
                <a:spcAft>
                  <a:spcPts val="600"/>
                </a:spcAft>
                <a:buClrTx/>
                <a:buSzTx/>
                <a:buFontTx/>
                <a:buNone/>
                <a:tabLst/>
                <a:defRPr b="1" spc="-25">
                  <a:latin typeface="Segoe UI" pitchFamily="34" charset="0"/>
                </a:defRPr>
              </a:pPr>
              <a:r>
                <a:rPr kumimoji="0" lang="en-US" sz="105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President &amp; CEO</a:t>
              </a:r>
              <a:endParaRPr kumimoji="0" lang="en-US" sz="7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9" name="Rectangle: Rounded Corners 7">
              <a:extLst>
                <a:ext uri="{FF2B5EF4-FFF2-40B4-BE49-F238E27FC236}">
                  <a16:creationId xmlns:a16="http://schemas.microsoft.com/office/drawing/2014/main" id="{F9792A4D-B771-5FA6-5BC8-9AE09120D131}"/>
                </a:ext>
              </a:extLst>
            </p:cNvPr>
            <p:cNvSpPr/>
            <p:nvPr/>
          </p:nvSpPr>
          <p:spPr>
            <a:xfrm>
              <a:off x="2088945" y="1896632"/>
              <a:ext cx="810806" cy="613822"/>
            </a:xfrm>
            <a:prstGeom prst="roundRect">
              <a:avLst>
                <a:gd name="adj" fmla="val 8520"/>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President, </a:t>
              </a:r>
              <a:b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b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BU1</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8">
              <a:extLst>
                <a:ext uri="{FF2B5EF4-FFF2-40B4-BE49-F238E27FC236}">
                  <a16:creationId xmlns:a16="http://schemas.microsoft.com/office/drawing/2014/main" id="{181E94EA-E152-B96D-E427-4E95F0DA6C51}"/>
                </a:ext>
              </a:extLst>
            </p:cNvPr>
            <p:cNvSpPr/>
            <p:nvPr/>
          </p:nvSpPr>
          <p:spPr>
            <a:xfrm>
              <a:off x="3006482" y="1902771"/>
              <a:ext cx="810806" cy="613822"/>
            </a:xfrm>
            <a:prstGeom prst="roundRect">
              <a:avLst>
                <a:gd name="adj" fmla="val 7357"/>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President, </a:t>
              </a:r>
              <a:b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b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BU2</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9">
              <a:extLst>
                <a:ext uri="{FF2B5EF4-FFF2-40B4-BE49-F238E27FC236}">
                  <a16:creationId xmlns:a16="http://schemas.microsoft.com/office/drawing/2014/main" id="{733DD7A6-E591-BF92-39E1-5C3C569B88F5}"/>
                </a:ext>
              </a:extLst>
            </p:cNvPr>
            <p:cNvSpPr/>
            <p:nvPr/>
          </p:nvSpPr>
          <p:spPr>
            <a:xfrm>
              <a:off x="3922091" y="1902771"/>
              <a:ext cx="810806" cy="613822"/>
            </a:xfrm>
            <a:prstGeom prst="roundRect">
              <a:avLst>
                <a:gd name="adj" fmla="val 8520"/>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Chief </a:t>
              </a:r>
              <a:b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b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Legal Officer</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10">
              <a:extLst>
                <a:ext uri="{FF2B5EF4-FFF2-40B4-BE49-F238E27FC236}">
                  <a16:creationId xmlns:a16="http://schemas.microsoft.com/office/drawing/2014/main" id="{6C197C32-AFC1-2ECC-150D-455EAC944C21}"/>
                </a:ext>
              </a:extLst>
            </p:cNvPr>
            <p:cNvSpPr/>
            <p:nvPr/>
          </p:nvSpPr>
          <p:spPr>
            <a:xfrm>
              <a:off x="4837700" y="1902771"/>
              <a:ext cx="810806" cy="613822"/>
            </a:xfrm>
            <a:prstGeom prst="roundRect">
              <a:avLst>
                <a:gd name="adj" fmla="val 8520"/>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Chief Human Resource Officer</a:t>
              </a:r>
              <a:endParaRPr kumimoji="0" lang="en-US"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25">
              <a:extLst>
                <a:ext uri="{FF2B5EF4-FFF2-40B4-BE49-F238E27FC236}">
                  <a16:creationId xmlns:a16="http://schemas.microsoft.com/office/drawing/2014/main" id="{9DD8018D-DF19-1E4E-5DB7-BCBB48479DE2}"/>
                </a:ext>
              </a:extLst>
            </p:cNvPr>
            <p:cNvSpPr/>
            <p:nvPr/>
          </p:nvSpPr>
          <p:spPr>
            <a:xfrm>
              <a:off x="5753310" y="1902771"/>
              <a:ext cx="810806" cy="613822"/>
            </a:xfrm>
            <a:prstGeom prst="roundRect">
              <a:avLst>
                <a:gd name="adj" fmla="val 8520"/>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Chief Financial Officer</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26">
              <a:extLst>
                <a:ext uri="{FF2B5EF4-FFF2-40B4-BE49-F238E27FC236}">
                  <a16:creationId xmlns:a16="http://schemas.microsoft.com/office/drawing/2014/main" id="{DC9B239E-DA44-0569-258A-0324F49BA43A}"/>
                </a:ext>
              </a:extLst>
            </p:cNvPr>
            <p:cNvSpPr/>
            <p:nvPr/>
          </p:nvSpPr>
          <p:spPr>
            <a:xfrm>
              <a:off x="6668919" y="1902771"/>
              <a:ext cx="810806" cy="613822"/>
            </a:xfrm>
            <a:prstGeom prst="roundRect">
              <a:avLst>
                <a:gd name="adj" fmla="val 6193"/>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Chief Data &amp; Information Officer</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Rounded Corners 27">
              <a:extLst>
                <a:ext uri="{FF2B5EF4-FFF2-40B4-BE49-F238E27FC236}">
                  <a16:creationId xmlns:a16="http://schemas.microsoft.com/office/drawing/2014/main" id="{84730F30-71B3-20FF-3D4D-8B9909C3C691}"/>
                </a:ext>
              </a:extLst>
            </p:cNvPr>
            <p:cNvSpPr/>
            <p:nvPr/>
          </p:nvSpPr>
          <p:spPr>
            <a:xfrm>
              <a:off x="7584529" y="1902771"/>
              <a:ext cx="810806" cy="613822"/>
            </a:xfrm>
            <a:prstGeom prst="roundRect">
              <a:avLst>
                <a:gd name="adj" fmla="val 6193"/>
              </a:avLst>
            </a:prstGeom>
            <a:ln/>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algn="ctr" defTabSz="914354" eaLnBrk="1" fontAlgn="auto" latinLnBrk="0" hangingPunct="1">
                <a:lnSpc>
                  <a:spcPct val="100000"/>
                </a:lnSpc>
                <a:spcBef>
                  <a:spcPts val="0"/>
                </a:spcBef>
                <a:spcAft>
                  <a:spcPts val="600"/>
                </a:spcAft>
                <a:buClrTx/>
                <a:buSzTx/>
                <a:buFontTx/>
                <a:buNone/>
                <a:tabLst/>
                <a:defRPr/>
              </a:pPr>
              <a:r>
                <a:rPr kumimoji="0" lang="en-US" sz="10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Chief Strat &amp; M&amp;A Officer</a:t>
              </a:r>
              <a:endPar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6" name="Connector: Elbow 28">
              <a:extLst>
                <a:ext uri="{FF2B5EF4-FFF2-40B4-BE49-F238E27FC236}">
                  <a16:creationId xmlns:a16="http://schemas.microsoft.com/office/drawing/2014/main" id="{497B61F8-58D8-D177-F0E2-ABF511C86670}"/>
                </a:ext>
              </a:extLst>
            </p:cNvPr>
            <p:cNvCxnSpPr>
              <a:cxnSpLocks/>
              <a:stCxn id="9" idx="0"/>
              <a:endCxn id="7" idx="2"/>
            </p:cNvCxnSpPr>
            <p:nvPr/>
          </p:nvCxnSpPr>
          <p:spPr>
            <a:xfrm rot="5400000" flipH="1" flipV="1">
              <a:off x="3442136" y="634010"/>
              <a:ext cx="314834" cy="2210411"/>
            </a:xfrm>
            <a:prstGeom prst="bentConnector3">
              <a:avLst/>
            </a:prstGeom>
            <a:noFill/>
            <a:ln w="9525" cap="flat" cmpd="sng" algn="ctr">
              <a:solidFill>
                <a:srgbClr val="281A42"/>
              </a:solidFill>
              <a:prstDash val="solid"/>
              <a:miter lim="800000"/>
              <a:headEnd w="med" len="sm"/>
              <a:tailEnd type="none" w="med" len="sm"/>
            </a:ln>
            <a:effectLst/>
          </p:spPr>
        </p:cxnSp>
        <p:cxnSp>
          <p:nvCxnSpPr>
            <p:cNvPr id="17" name="Straight Connector 16">
              <a:extLst>
                <a:ext uri="{FF2B5EF4-FFF2-40B4-BE49-F238E27FC236}">
                  <a16:creationId xmlns:a16="http://schemas.microsoft.com/office/drawing/2014/main" id="{161DE870-D80B-F463-942B-73ED6880017E}"/>
                </a:ext>
              </a:extLst>
            </p:cNvPr>
            <p:cNvCxnSpPr>
              <a:cxnSpLocks/>
              <a:stCxn id="10" idx="0"/>
            </p:cNvCxnSpPr>
            <p:nvPr/>
          </p:nvCxnSpPr>
          <p:spPr>
            <a:xfrm flipH="1" flipV="1">
              <a:off x="3411885" y="1738086"/>
              <a:ext cx="1" cy="164685"/>
            </a:xfrm>
            <a:prstGeom prst="line">
              <a:avLst/>
            </a:prstGeom>
            <a:noFill/>
            <a:ln w="9525" cap="flat" cmpd="sng" algn="ctr">
              <a:solidFill>
                <a:srgbClr val="281A42"/>
              </a:solidFill>
              <a:prstDash val="solid"/>
              <a:miter lim="800000"/>
              <a:headEnd w="med" len="sm"/>
              <a:tailEnd type="none" w="med" len="sm"/>
            </a:ln>
            <a:effectLst/>
          </p:spPr>
        </p:cxnSp>
        <p:cxnSp>
          <p:nvCxnSpPr>
            <p:cNvPr id="18" name="Straight Connector 17">
              <a:extLst>
                <a:ext uri="{FF2B5EF4-FFF2-40B4-BE49-F238E27FC236}">
                  <a16:creationId xmlns:a16="http://schemas.microsoft.com/office/drawing/2014/main" id="{50AED20E-D6D6-85B1-DB6D-5D9A68ED7D35}"/>
                </a:ext>
              </a:extLst>
            </p:cNvPr>
            <p:cNvCxnSpPr>
              <a:cxnSpLocks/>
              <a:stCxn id="11" idx="0"/>
            </p:cNvCxnSpPr>
            <p:nvPr/>
          </p:nvCxnSpPr>
          <p:spPr>
            <a:xfrm flipV="1">
              <a:off x="4327494" y="1738086"/>
              <a:ext cx="0" cy="164685"/>
            </a:xfrm>
            <a:prstGeom prst="line">
              <a:avLst/>
            </a:prstGeom>
            <a:noFill/>
            <a:ln w="9525" cap="flat" cmpd="sng" algn="ctr">
              <a:solidFill>
                <a:srgbClr val="281A42"/>
              </a:solidFill>
              <a:prstDash val="solid"/>
              <a:miter lim="800000"/>
              <a:headEnd w="med" len="sm"/>
              <a:tailEnd type="none" w="med" len="sm"/>
            </a:ln>
            <a:effectLst/>
          </p:spPr>
        </p:cxnSp>
        <p:cxnSp>
          <p:nvCxnSpPr>
            <p:cNvPr id="19" name="Connector: Elbow 31">
              <a:extLst>
                <a:ext uri="{FF2B5EF4-FFF2-40B4-BE49-F238E27FC236}">
                  <a16:creationId xmlns:a16="http://schemas.microsoft.com/office/drawing/2014/main" id="{2C403C9A-4019-B155-D6DF-D5B976742AE9}"/>
                </a:ext>
              </a:extLst>
            </p:cNvPr>
            <p:cNvCxnSpPr>
              <a:cxnSpLocks/>
              <a:stCxn id="15" idx="0"/>
              <a:endCxn id="7" idx="2"/>
            </p:cNvCxnSpPr>
            <p:nvPr/>
          </p:nvCxnSpPr>
          <p:spPr>
            <a:xfrm rot="16200000" flipV="1">
              <a:off x="6186859" y="99698"/>
              <a:ext cx="320973" cy="3285173"/>
            </a:xfrm>
            <a:prstGeom prst="bentConnector3">
              <a:avLst>
                <a:gd name="adj1" fmla="val 50000"/>
              </a:avLst>
            </a:prstGeom>
            <a:noFill/>
            <a:ln w="9525" cap="flat" cmpd="sng" algn="ctr">
              <a:solidFill>
                <a:srgbClr val="281A42"/>
              </a:solidFill>
              <a:prstDash val="solid"/>
              <a:miter lim="800000"/>
              <a:headEnd w="med" len="sm"/>
              <a:tailEnd type="none" w="med" len="sm"/>
            </a:ln>
            <a:effectLst/>
          </p:spPr>
        </p:cxnSp>
        <p:cxnSp>
          <p:nvCxnSpPr>
            <p:cNvPr id="20" name="Straight Connector 19">
              <a:extLst>
                <a:ext uri="{FF2B5EF4-FFF2-40B4-BE49-F238E27FC236}">
                  <a16:creationId xmlns:a16="http://schemas.microsoft.com/office/drawing/2014/main" id="{1F62A77A-A8C3-BAB8-F393-B10AF8B8DD71}"/>
                </a:ext>
              </a:extLst>
            </p:cNvPr>
            <p:cNvCxnSpPr>
              <a:cxnSpLocks/>
            </p:cNvCxnSpPr>
            <p:nvPr/>
          </p:nvCxnSpPr>
          <p:spPr>
            <a:xfrm flipV="1">
              <a:off x="5246915" y="1738086"/>
              <a:ext cx="0" cy="164685"/>
            </a:xfrm>
            <a:prstGeom prst="line">
              <a:avLst/>
            </a:prstGeom>
            <a:noFill/>
            <a:ln w="9525" cap="flat" cmpd="sng" algn="ctr">
              <a:solidFill>
                <a:srgbClr val="281A42"/>
              </a:solidFill>
              <a:prstDash val="solid"/>
              <a:miter lim="800000"/>
              <a:headEnd w="med" len="sm"/>
              <a:tailEnd type="none" w="med" len="sm"/>
            </a:ln>
            <a:effectLst/>
          </p:spPr>
        </p:cxnSp>
        <p:cxnSp>
          <p:nvCxnSpPr>
            <p:cNvPr id="21" name="Straight Connector 20">
              <a:extLst>
                <a:ext uri="{FF2B5EF4-FFF2-40B4-BE49-F238E27FC236}">
                  <a16:creationId xmlns:a16="http://schemas.microsoft.com/office/drawing/2014/main" id="{8DC9BF2C-A37D-2716-8DFA-2EE0D2219CDC}"/>
                </a:ext>
              </a:extLst>
            </p:cNvPr>
            <p:cNvCxnSpPr>
              <a:cxnSpLocks/>
            </p:cNvCxnSpPr>
            <p:nvPr/>
          </p:nvCxnSpPr>
          <p:spPr>
            <a:xfrm flipV="1">
              <a:off x="6158713" y="1738086"/>
              <a:ext cx="0" cy="164685"/>
            </a:xfrm>
            <a:prstGeom prst="line">
              <a:avLst/>
            </a:prstGeom>
            <a:noFill/>
            <a:ln w="9525" cap="flat" cmpd="sng" algn="ctr">
              <a:solidFill>
                <a:srgbClr val="281A42"/>
              </a:solidFill>
              <a:prstDash val="solid"/>
              <a:miter lim="800000"/>
              <a:headEnd w="med" len="sm"/>
              <a:tailEnd type="none" w="med" len="sm"/>
            </a:ln>
            <a:effectLst/>
          </p:spPr>
        </p:cxnSp>
        <p:cxnSp>
          <p:nvCxnSpPr>
            <p:cNvPr id="22" name="Straight Connector 21">
              <a:extLst>
                <a:ext uri="{FF2B5EF4-FFF2-40B4-BE49-F238E27FC236}">
                  <a16:creationId xmlns:a16="http://schemas.microsoft.com/office/drawing/2014/main" id="{765EC0E5-592D-920D-3BE4-E1B8FDF85265}"/>
                </a:ext>
              </a:extLst>
            </p:cNvPr>
            <p:cNvCxnSpPr>
              <a:cxnSpLocks/>
            </p:cNvCxnSpPr>
            <p:nvPr/>
          </p:nvCxnSpPr>
          <p:spPr>
            <a:xfrm flipV="1">
              <a:off x="7076251" y="1738086"/>
              <a:ext cx="0" cy="164685"/>
            </a:xfrm>
            <a:prstGeom prst="line">
              <a:avLst/>
            </a:prstGeom>
            <a:noFill/>
            <a:ln w="9525" cap="flat" cmpd="sng" algn="ctr">
              <a:solidFill>
                <a:srgbClr val="281A42"/>
              </a:solidFill>
              <a:prstDash val="solid"/>
              <a:miter lim="800000"/>
              <a:headEnd w="med" len="sm"/>
              <a:tailEnd type="none" w="med" len="sm"/>
            </a:ln>
            <a:effectLst/>
          </p:spPr>
        </p:cxnSp>
      </p:grpSp>
      <p:graphicFrame>
        <p:nvGraphicFramePr>
          <p:cNvPr id="23" name="Table 22">
            <a:extLst>
              <a:ext uri="{FF2B5EF4-FFF2-40B4-BE49-F238E27FC236}">
                <a16:creationId xmlns:a16="http://schemas.microsoft.com/office/drawing/2014/main" id="{EDE1DF8B-32C3-BFBA-3C4C-8083BC5ACF21}"/>
              </a:ext>
            </a:extLst>
          </p:cNvPr>
          <p:cNvGraphicFramePr>
            <a:graphicFrameLocks noGrp="1"/>
          </p:cNvGraphicFramePr>
          <p:nvPr>
            <p:extLst>
              <p:ext uri="{D42A27DB-BD31-4B8C-83A1-F6EECF244321}">
                <p14:modId xmlns:p14="http://schemas.microsoft.com/office/powerpoint/2010/main" val="3618145175"/>
              </p:ext>
            </p:extLst>
          </p:nvPr>
        </p:nvGraphicFramePr>
        <p:xfrm>
          <a:off x="488481" y="3356416"/>
          <a:ext cx="11356128" cy="2369654"/>
        </p:xfrm>
        <a:graphic>
          <a:graphicData uri="http://schemas.openxmlformats.org/drawingml/2006/table">
            <a:tbl>
              <a:tblPr firstRow="1" bandRow="1"/>
              <a:tblGrid>
                <a:gridCol w="1223318">
                  <a:extLst>
                    <a:ext uri="{9D8B030D-6E8A-4147-A177-3AD203B41FA5}">
                      <a16:colId xmlns:a16="http://schemas.microsoft.com/office/drawing/2014/main" val="1247648682"/>
                    </a:ext>
                  </a:extLst>
                </a:gridCol>
                <a:gridCol w="1408671">
                  <a:extLst>
                    <a:ext uri="{9D8B030D-6E8A-4147-A177-3AD203B41FA5}">
                      <a16:colId xmlns:a16="http://schemas.microsoft.com/office/drawing/2014/main" val="2165010857"/>
                    </a:ext>
                  </a:extLst>
                </a:gridCol>
                <a:gridCol w="1643448">
                  <a:extLst>
                    <a:ext uri="{9D8B030D-6E8A-4147-A177-3AD203B41FA5}">
                      <a16:colId xmlns:a16="http://schemas.microsoft.com/office/drawing/2014/main" val="3731887315"/>
                    </a:ext>
                  </a:extLst>
                </a:gridCol>
                <a:gridCol w="1408671">
                  <a:extLst>
                    <a:ext uri="{9D8B030D-6E8A-4147-A177-3AD203B41FA5}">
                      <a16:colId xmlns:a16="http://schemas.microsoft.com/office/drawing/2014/main" val="3396312903"/>
                    </a:ext>
                  </a:extLst>
                </a:gridCol>
                <a:gridCol w="1164885">
                  <a:extLst>
                    <a:ext uri="{9D8B030D-6E8A-4147-A177-3AD203B41FA5}">
                      <a16:colId xmlns:a16="http://schemas.microsoft.com/office/drawing/2014/main" val="165658933"/>
                    </a:ext>
                  </a:extLst>
                </a:gridCol>
                <a:gridCol w="1454747">
                  <a:extLst>
                    <a:ext uri="{9D8B030D-6E8A-4147-A177-3AD203B41FA5}">
                      <a16:colId xmlns:a16="http://schemas.microsoft.com/office/drawing/2014/main" val="3625062297"/>
                    </a:ext>
                  </a:extLst>
                </a:gridCol>
                <a:gridCol w="1421027">
                  <a:extLst>
                    <a:ext uri="{9D8B030D-6E8A-4147-A177-3AD203B41FA5}">
                      <a16:colId xmlns:a16="http://schemas.microsoft.com/office/drawing/2014/main" val="888485648"/>
                    </a:ext>
                  </a:extLst>
                </a:gridCol>
                <a:gridCol w="1631361">
                  <a:extLst>
                    <a:ext uri="{9D8B030D-6E8A-4147-A177-3AD203B41FA5}">
                      <a16:colId xmlns:a16="http://schemas.microsoft.com/office/drawing/2014/main" val="2862451624"/>
                    </a:ext>
                  </a:extLst>
                </a:gridCol>
              </a:tblGrid>
              <a:tr h="411364">
                <a:tc>
                  <a:txBody>
                    <a:bodyPr/>
                    <a:lstStyle/>
                    <a:p>
                      <a:pPr>
                        <a:buNone/>
                      </a:pPr>
                      <a:r>
                        <a:rPr lang="en-US" sz="1200" b="1" dirty="0">
                          <a:solidFill>
                            <a:srgbClr val="FFFFFF"/>
                          </a:solidFill>
                          <a:effectLst/>
                          <a:latin typeface="Arial" pitchFamily="34" charset="0"/>
                          <a:cs typeface="Helvetica Neue" panose="020B0604020202020204" charset="0"/>
                        </a:rPr>
                        <a:t>Ready Now</a:t>
                      </a:r>
                      <a:endParaRPr lang="en-US" sz="1400" dirty="0">
                        <a:solidFill>
                          <a:srgbClr val="00C27A"/>
                        </a:solidFill>
                        <a:effectLst/>
                        <a:latin typeface="Arial" pitchFamily="34" charset="0"/>
                        <a:cs typeface="Helvetica Neue" panose="020B0604020202020204" charset="0"/>
                      </a:endParaRPr>
                    </a:p>
                  </a:txBody>
                  <a:tcPr marL="76200" marR="76200" marT="38100" marB="3810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r">
                        <a:buNone/>
                      </a:pPr>
                      <a:endParaRPr lang="en-US" sz="1400" dirty="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00506971"/>
                  </a:ext>
                </a:extLst>
              </a:tr>
              <a:tr h="454568">
                <a:tc>
                  <a:txBody>
                    <a:bodyPr/>
                    <a:lstStyle/>
                    <a:p>
                      <a:pPr>
                        <a:buNone/>
                      </a:pPr>
                      <a:r>
                        <a:rPr lang="en-US" sz="1400" b="1" dirty="0">
                          <a:solidFill>
                            <a:schemeClr val="bg1"/>
                          </a:solidFill>
                          <a:effectLst/>
                          <a:latin typeface="Arial" pitchFamily="34" charset="0"/>
                          <a:cs typeface="Helvetica Neue" panose="020B0604020202020204" charset="0"/>
                        </a:rPr>
                        <a:t>1-3 Years</a:t>
                      </a:r>
                      <a:endParaRPr lang="en-US" sz="1400" dirty="0">
                        <a:solidFill>
                          <a:schemeClr val="bg1"/>
                        </a:solidFill>
                        <a:effectLst/>
                        <a:latin typeface="Arial" pitchFamily="34" charset="0"/>
                        <a:cs typeface="Helvetica Neue" panose="020B0604020202020204" charset="0"/>
                      </a:endParaRPr>
                    </a:p>
                  </a:txBody>
                  <a:tcPr marL="76200" marR="76200" marT="38100" marB="3810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549063597"/>
                  </a:ext>
                </a:extLst>
              </a:tr>
              <a:tr h="535147">
                <a:tc>
                  <a:txBody>
                    <a:bodyPr/>
                    <a:lstStyle/>
                    <a:p>
                      <a:pPr>
                        <a:buNone/>
                      </a:pPr>
                      <a:r>
                        <a:rPr lang="en-US" sz="1400" b="1" dirty="0">
                          <a:solidFill>
                            <a:schemeClr val="bg1"/>
                          </a:solidFill>
                          <a:effectLst/>
                          <a:latin typeface="Arial" pitchFamily="34" charset="0"/>
                          <a:cs typeface="Helvetica Neue" panose="020B0604020202020204" charset="0"/>
                        </a:rPr>
                        <a:t>3-5 Years</a:t>
                      </a:r>
                      <a:endParaRPr lang="en-US" sz="1400" dirty="0">
                        <a:solidFill>
                          <a:schemeClr val="bg1"/>
                        </a:solidFill>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pPr algn="ctr">
                        <a:buNone/>
                      </a:pPr>
                      <a:r>
                        <a:rPr lang="en-US" sz="1400" dirty="0">
                          <a:effectLst/>
                          <a:latin typeface="Arial" pitchFamily="34" charset="0"/>
                          <a:cs typeface="Helvetica Neue" panose="020B0604020202020204" charset="0"/>
                        </a:rPr>
                        <a:t>Person 1</a:t>
                      </a: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2</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3*</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endParaRPr lang="en-US" sz="140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896940515"/>
                  </a:ext>
                </a:extLst>
              </a:tr>
              <a:tr h="465655">
                <a:tc>
                  <a:txBody>
                    <a:bodyPr/>
                    <a:lstStyle/>
                    <a:p>
                      <a:pPr>
                        <a:buNone/>
                      </a:pPr>
                      <a:r>
                        <a:rPr lang="en-US" sz="1400" b="1" dirty="0">
                          <a:solidFill>
                            <a:schemeClr val="bg1"/>
                          </a:solidFill>
                          <a:effectLst/>
                          <a:latin typeface="Arial" pitchFamily="34" charset="0"/>
                          <a:cs typeface="Helvetica Neue" panose="020B0604020202020204" charset="0"/>
                        </a:rPr>
                        <a:t>5+ Years</a:t>
                      </a:r>
                      <a:endParaRPr lang="en-US" sz="1400" dirty="0">
                        <a:solidFill>
                          <a:schemeClr val="bg1"/>
                        </a:solidFill>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pPr algn="ctr">
                        <a:buNone/>
                      </a:pPr>
                      <a:r>
                        <a:rPr lang="en-US" sz="1400">
                          <a:effectLst/>
                          <a:latin typeface="Arial" pitchFamily="34" charset="0"/>
                          <a:cs typeface="Helvetica Neue" panose="020B0604020202020204" charset="0"/>
                        </a:rPr>
                        <a:t>Person 4*</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5*</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6*</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dirty="0">
                          <a:effectLst/>
                          <a:latin typeface="Arial" pitchFamily="34" charset="0"/>
                          <a:cs typeface="Helvetica Neue" panose="020B0604020202020204" charset="0"/>
                        </a:rPr>
                        <a:t>Person 7*</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8*</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9*</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10*</a:t>
                      </a:r>
                    </a:p>
                  </a:txBody>
                  <a:tcPr marL="76200" marR="76200" marT="38100" marB="38100" anchor="ctr">
                    <a:lnL w="12700" cap="flat" cmpd="sng" algn="ctr">
                      <a:solidFill>
                        <a:srgbClr val="FFFFFF"/>
                      </a:solidFill>
                      <a:prstDash val="solid"/>
                      <a:round/>
                      <a:headEnd type="none" w="med" len="med"/>
                      <a:tailEnd type="none" w="med" len="med"/>
                    </a:lnL>
                    <a:lnR w="12700" cmpd="sng">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89405024"/>
                  </a:ext>
                </a:extLst>
              </a:tr>
              <a:tr h="493982">
                <a:tc>
                  <a:txBody>
                    <a:bodyPr/>
                    <a:lstStyle/>
                    <a:p>
                      <a:pPr>
                        <a:buNone/>
                      </a:pPr>
                      <a:r>
                        <a:rPr lang="en-US" sz="1400" b="1" dirty="0">
                          <a:solidFill>
                            <a:schemeClr val="bg1"/>
                          </a:solidFill>
                          <a:effectLst/>
                          <a:latin typeface="Arial" pitchFamily="34" charset="0"/>
                          <a:cs typeface="Helvetica Neue" panose="020B0604020202020204" charset="0"/>
                        </a:rPr>
                        <a:t>Emergency Candidate</a:t>
                      </a:r>
                      <a:endParaRPr lang="en-US" sz="1400" dirty="0">
                        <a:solidFill>
                          <a:schemeClr val="bg1"/>
                        </a:solidFill>
                        <a:effectLst/>
                        <a:latin typeface="Arial" pitchFamily="34" charset="0"/>
                        <a:cs typeface="Helvetica Neue" panose="020B0604020202020204" charset="0"/>
                      </a:endParaRP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765FFF"/>
                    </a:solidFill>
                  </a:tcPr>
                </a:tc>
                <a:tc>
                  <a:txBody>
                    <a:bodyPr/>
                    <a:lstStyle/>
                    <a:p>
                      <a:pPr algn="ctr">
                        <a:buNone/>
                      </a:pPr>
                      <a:r>
                        <a:rPr lang="en-US" sz="1400">
                          <a:effectLst/>
                          <a:latin typeface="Arial" pitchFamily="34" charset="0"/>
                          <a:cs typeface="Helvetica Neue" panose="020B0604020202020204" charset="0"/>
                        </a:rPr>
                        <a:t>Person 1</a:t>
                      </a:r>
                    </a:p>
                  </a:txBody>
                  <a:tcPr marL="76200" marR="76200" marT="38100" marB="38100" anchor="ctr">
                    <a:lnL w="12700" cmpd="sng">
                      <a:solidFill>
                        <a:srgbClr val="FFFFFF"/>
                      </a:solidFill>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13**</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14**</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15</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16</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r>
                        <a:rPr lang="en-US" sz="1400">
                          <a:effectLst/>
                          <a:latin typeface="Arial" pitchFamily="34" charset="0"/>
                          <a:cs typeface="Helvetica Neue" panose="020B0604020202020204" charset="0"/>
                        </a:rPr>
                        <a:t>Person 3*</a:t>
                      </a: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algn="ctr">
                        <a:buNone/>
                      </a:pPr>
                      <a:endParaRPr lang="en-US" sz="1400" dirty="0">
                        <a:effectLst/>
                        <a:latin typeface="Arial" pitchFamily="34" charset="0"/>
                        <a:cs typeface="Helvetica Neue" panose="020B0604020202020204" charset="0"/>
                      </a:endParaRPr>
                    </a:p>
                  </a:txBody>
                  <a:tcPr marL="76200" marR="76200" marT="38100" marB="38100" anchor="ctr">
                    <a:lnL w="12700" cap="flat" cmpd="sng" algn="ctr">
                      <a:solidFill>
                        <a:srgbClr val="FFFFFF"/>
                      </a:solidFill>
                      <a:prstDash val="solid"/>
                      <a:round/>
                      <a:headEnd type="none" w="med" len="med"/>
                      <a:tailEnd type="none" w="med" len="med"/>
                    </a:lnL>
                    <a:lnR w="12700" cmpd="sng">
                      <a:solidFill>
                        <a:srgbClr val="FFFFFF"/>
                      </a:solidFill>
                    </a:lnR>
                    <a:lnT w="762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31214167"/>
                  </a:ext>
                </a:extLst>
              </a:tr>
            </a:tbl>
          </a:graphicData>
        </a:graphic>
      </p:graphicFrame>
      <p:sp>
        <p:nvSpPr>
          <p:cNvPr id="24" name="Rounded Rectangle 74">
            <a:extLst>
              <a:ext uri="{FF2B5EF4-FFF2-40B4-BE49-F238E27FC236}">
                <a16:creationId xmlns:a16="http://schemas.microsoft.com/office/drawing/2014/main" id="{A51B51AC-5EE8-F9C1-108B-CF40500BFBF5}"/>
              </a:ext>
            </a:extLst>
          </p:cNvPr>
          <p:cNvSpPr/>
          <p:nvPr/>
        </p:nvSpPr>
        <p:spPr>
          <a:xfrm>
            <a:off x="488481" y="5817875"/>
            <a:ext cx="5138820" cy="666735"/>
          </a:xfrm>
          <a:prstGeom prst="roundRect">
            <a:avLst>
              <a:gd name="adj" fmla="val 8952"/>
            </a:avLst>
          </a:prstGeom>
          <a:solidFill>
            <a:srgbClr val="FFFFFF"/>
          </a:solidFill>
          <a:ln>
            <a:solidFill>
              <a:srgbClr val="765FFF"/>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3B3B3B"/>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TextBox 24">
            <a:extLst>
              <a:ext uri="{FF2B5EF4-FFF2-40B4-BE49-F238E27FC236}">
                <a16:creationId xmlns:a16="http://schemas.microsoft.com/office/drawing/2014/main" id="{0BAF5C86-BCA2-59A4-8E58-5DEA7DDB7008}"/>
              </a:ext>
            </a:extLst>
          </p:cNvPr>
          <p:cNvSpPr txBox="1"/>
          <p:nvPr/>
        </p:nvSpPr>
        <p:spPr>
          <a:xfrm>
            <a:off x="702806" y="6111235"/>
            <a:ext cx="4764573" cy="319059"/>
          </a:xfrm>
          <a:prstGeom prst="rect">
            <a:avLst/>
          </a:prstGeom>
        </p:spPr>
        <p:txBody>
          <a:bodyPr vert="horz" wrap="none" lIns="0" tIns="0" rIns="0" bIns="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10" normalizeH="0" baseline="0" noProof="0" dirty="0">
                <a:ln>
                  <a:noFill/>
                </a:ln>
                <a:solidFill>
                  <a:srgbClr val="F2F2F2">
                    <a:lumMod val="10000"/>
                  </a:srgbClr>
                </a:solidFill>
                <a:effectLst/>
                <a:uLnTx/>
                <a:uFillTx/>
                <a:latin typeface="Arial" pitchFamily="34" charset="0"/>
                <a:ea typeface="Helvetica Neue" panose="02000503000000020004" pitchFamily="2" charset="0"/>
                <a:cs typeface="Helvetica Neue" panose="02000503000000020004" pitchFamily="2" charset="0"/>
              </a:rPr>
              <a:t>* = Lowered one readiness level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10" normalizeH="0" baseline="0" noProof="0" dirty="0">
                <a:ln>
                  <a:noFill/>
                </a:ln>
                <a:solidFill>
                  <a:srgbClr val="F2F2F2">
                    <a:lumMod val="10000"/>
                  </a:srgbClr>
                </a:solidFill>
                <a:effectLst/>
                <a:uLnTx/>
                <a:uFillTx/>
                <a:latin typeface="Arial" pitchFamily="34" charset="0"/>
                <a:ea typeface="Helvetica Neue" panose="02000503000000020004" pitchFamily="2" charset="0"/>
                <a:cs typeface="Helvetica Neue" panose="02000503000000020004" pitchFamily="2" charset="0"/>
              </a:rPr>
              <a:t>**  = Not seen as long term successor; moved to emergency only</a:t>
            </a:r>
            <a:endParaRPr kumimoji="0" lang="en-US" sz="1100" b="0" i="0" u="none" strike="noStrike" kern="0" cap="none" spc="-10" normalizeH="0" baseline="0" noProof="0" dirty="0">
              <a:ln>
                <a:noFill/>
              </a:ln>
              <a:solidFill>
                <a:srgbClr val="00C27A"/>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10" normalizeH="0" baseline="0" noProof="0" dirty="0">
              <a:ln>
                <a:noFill/>
              </a:ln>
              <a:solidFill>
                <a:srgbClr val="281A4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TextBox 25">
            <a:extLst>
              <a:ext uri="{FF2B5EF4-FFF2-40B4-BE49-F238E27FC236}">
                <a16:creationId xmlns:a16="http://schemas.microsoft.com/office/drawing/2014/main" id="{80911039-74EE-BFBD-15EC-551B8D2F4324}"/>
              </a:ext>
            </a:extLst>
          </p:cNvPr>
          <p:cNvSpPr txBox="1"/>
          <p:nvPr/>
        </p:nvSpPr>
        <p:spPr>
          <a:xfrm>
            <a:off x="702806" y="5876531"/>
            <a:ext cx="4541541" cy="184427"/>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Changes versus </a:t>
            </a:r>
            <a:r>
              <a:rPr kumimoji="0" lang="en-US" sz="1200" b="1" i="0" u="none" strike="noStrike" kern="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2024</a:t>
            </a:r>
            <a:r>
              <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 preliminary assessment:</a:t>
            </a:r>
            <a:endParaRPr kumimoji="0" lang="en-US" sz="105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TextBox 26">
            <a:extLst>
              <a:ext uri="{FF2B5EF4-FFF2-40B4-BE49-F238E27FC236}">
                <a16:creationId xmlns:a16="http://schemas.microsoft.com/office/drawing/2014/main" id="{D461C820-1DE6-B7C6-97D7-1E525D4BB28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918969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C23A-76AC-D343-24A0-42786C4BB961}"/>
              </a:ext>
            </a:extLst>
          </p:cNvPr>
          <p:cNvSpPr>
            <a:spLocks noGrp="1"/>
          </p:cNvSpPr>
          <p:nvPr>
            <p:ph type="title"/>
          </p:nvPr>
        </p:nvSpPr>
        <p:spPr/>
        <p:txBody>
          <a:bodyPr/>
          <a:lstStyle/>
          <a:p>
            <a:r>
              <a:rPr lang="en-GB" dirty="0"/>
              <a:t>Outcome of Readiness Assessment</a:t>
            </a:r>
            <a:endParaRPr lang="en-US" dirty="0"/>
          </a:p>
        </p:txBody>
      </p:sp>
      <p:sp>
        <p:nvSpPr>
          <p:cNvPr id="3" name="Text Placeholder 2">
            <a:extLst>
              <a:ext uri="{FF2B5EF4-FFF2-40B4-BE49-F238E27FC236}">
                <a16:creationId xmlns:a16="http://schemas.microsoft.com/office/drawing/2014/main" id="{581D71B5-6654-2565-4404-435285921D2A}"/>
              </a:ext>
            </a:extLst>
          </p:cNvPr>
          <p:cNvSpPr>
            <a:spLocks noGrp="1"/>
          </p:cNvSpPr>
          <p:nvPr>
            <p:ph type="body" sz="quarter" idx="12"/>
          </p:nvPr>
        </p:nvSpPr>
        <p:spPr/>
        <p:txBody>
          <a:bodyPr/>
          <a:lstStyle/>
          <a:p>
            <a:r>
              <a:rPr lang="en-GB" dirty="0"/>
              <a:t>Success enabling plan | CDIO Dave Jones</a:t>
            </a:r>
            <a:endParaRPr lang="en-US" dirty="0"/>
          </a:p>
        </p:txBody>
      </p:sp>
      <p:sp>
        <p:nvSpPr>
          <p:cNvPr id="4" name="Slide Number Placeholder 3">
            <a:extLst>
              <a:ext uri="{FF2B5EF4-FFF2-40B4-BE49-F238E27FC236}">
                <a16:creationId xmlns:a16="http://schemas.microsoft.com/office/drawing/2014/main" id="{4116E17A-4EE9-6031-BFCE-9F2384CB1E14}"/>
              </a:ext>
            </a:extLst>
          </p:cNvPr>
          <p:cNvSpPr>
            <a:spLocks noGrp="1"/>
          </p:cNvSpPr>
          <p:nvPr>
            <p:ph type="sldNum" sz="quarter" idx="4"/>
          </p:nvPr>
        </p:nvSpPr>
        <p:spPr/>
        <p:txBody>
          <a:bodyPr/>
          <a:lstStyle/>
          <a:p>
            <a:pPr algn="ctr"/>
            <a:fld id="{7DA59B58-B945-4B36-BC6B-9C26C933A008}" type="slidenum">
              <a:rPr lang="en-US" smtClean="0"/>
              <a:t>13</a:t>
            </a:fld>
            <a:endParaRPr lang="en-US"/>
          </a:p>
        </p:txBody>
      </p:sp>
      <p:pic>
        <p:nvPicPr>
          <p:cNvPr id="6" name="Picture 5">
            <a:extLst>
              <a:ext uri="{FF2B5EF4-FFF2-40B4-BE49-F238E27FC236}">
                <a16:creationId xmlns:a16="http://schemas.microsoft.com/office/drawing/2014/main" id="{0B4A3A4B-236D-2E24-7CF3-AB0B00CB8B9D}"/>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829638" y="1587994"/>
            <a:ext cx="5713748" cy="3213984"/>
          </a:xfrm>
          <a:prstGeom prst="rect">
            <a:avLst/>
          </a:prstGeom>
          <a:ln>
            <a:solidFill>
              <a:srgbClr val="1D1D1D"/>
            </a:solidFill>
          </a:ln>
          <a:effectLst>
            <a:outerShdw blurRad="50800" dist="38100" dir="2700000" algn="tl" rotWithShape="0">
              <a:prstClr val="black">
                <a:alpha val="40000"/>
              </a:prstClr>
            </a:outerShdw>
          </a:effectLst>
        </p:spPr>
      </p:pic>
      <p:sp>
        <p:nvSpPr>
          <p:cNvPr id="7" name="Isosceles Triangle 10">
            <a:extLst>
              <a:ext uri="{FF2B5EF4-FFF2-40B4-BE49-F238E27FC236}">
                <a16:creationId xmlns:a16="http://schemas.microsoft.com/office/drawing/2014/main" id="{F9723995-7000-DB03-EF4B-3EFE1C9D3319}"/>
              </a:ext>
            </a:extLst>
          </p:cNvPr>
          <p:cNvSpPr/>
          <p:nvPr/>
        </p:nvSpPr>
        <p:spPr>
          <a:xfrm rot="5400000">
            <a:off x="5724340" y="3420498"/>
            <a:ext cx="4395537" cy="36191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8" name="Rectangle: Rounded Corners 13">
            <a:extLst>
              <a:ext uri="{FF2B5EF4-FFF2-40B4-BE49-F238E27FC236}">
                <a16:creationId xmlns:a16="http://schemas.microsoft.com/office/drawing/2014/main" id="{C43D1941-88A1-18DC-C210-6A73C20734A5}"/>
              </a:ext>
            </a:extLst>
          </p:cNvPr>
          <p:cNvSpPr/>
          <p:nvPr/>
        </p:nvSpPr>
        <p:spPr>
          <a:xfrm>
            <a:off x="8638674" y="1599143"/>
            <a:ext cx="3080084" cy="414158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pPr>
            <a:r>
              <a:rPr lang="en-GB" sz="2000" spc="-10" dirty="0">
                <a:solidFill>
                  <a:srgbClr val="1D1D1D"/>
                </a:solidFill>
                <a:latin typeface="Arial" pitchFamily="34" charset="0"/>
                <a:cs typeface="Helvetica Neue Light" panose="020B0604020202020204" charset="0"/>
              </a:rPr>
              <a:t>Clear, sequenced and prioritized development plan to prepare successors for the future jobs your critical roles demand.</a:t>
            </a:r>
          </a:p>
        </p:txBody>
      </p:sp>
      <p:pic>
        <p:nvPicPr>
          <p:cNvPr id="9" name="Picture 8">
            <a:extLst>
              <a:ext uri="{FF2B5EF4-FFF2-40B4-BE49-F238E27FC236}">
                <a16:creationId xmlns:a16="http://schemas.microsoft.com/office/drawing/2014/main" id="{1EA81CC2-5625-4212-9AA5-FF8A3E4FA8F6}"/>
              </a:ext>
            </a:extLst>
          </p:cNvPr>
          <p:cNvPicPr>
            <a:picLocks noChangeAspect="1"/>
          </p:cNvPicPr>
          <p:nvPr/>
        </p:nvPicPr>
        <p:blipFill>
          <a:blip r:embed="rId3">
            <a:duotone>
              <a:schemeClr val="accent1">
                <a:shade val="45000"/>
                <a:satMod val="135000"/>
              </a:schemeClr>
              <a:prstClr val="white"/>
            </a:duotone>
          </a:blip>
          <a:srcRect b="5750"/>
          <a:stretch>
            <a:fillRect/>
          </a:stretch>
        </p:blipFill>
        <p:spPr>
          <a:xfrm>
            <a:off x="1976847" y="2614410"/>
            <a:ext cx="5649382" cy="3001690"/>
          </a:xfrm>
          <a:prstGeom prst="rect">
            <a:avLst/>
          </a:prstGeom>
          <a:ln>
            <a:solidFill>
              <a:srgbClr val="1D1D1D"/>
            </a:solidFill>
          </a:ln>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B3039C07-D70F-1105-3D81-B8379713F1CB}"/>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271087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519F-DAE9-AD49-97FA-B1BC08DF663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6C99BF11-EF3A-8446-1C71-1DFEFE550CFD}"/>
              </a:ext>
            </a:extLst>
          </p:cNvPr>
          <p:cNvSpPr txBox="1">
            <a:spLocks noGrp="1"/>
          </p:cNvSpPr>
          <p:nvPr>
            <p:ph type="title"/>
          </p:nvPr>
        </p:nvSpPr>
        <p:spPr>
          <a:noFill/>
        </p:spPr>
        <p:txBody>
          <a:bodyPr/>
          <a:lstStyle/>
          <a:p>
            <a:pPr>
              <a:buNone/>
            </a:pPr>
            <a:r>
              <a:rPr lang="en-US"/>
              <a:t>Rapid Talent to Value</a:t>
            </a:r>
          </a:p>
        </p:txBody>
      </p:sp>
    </p:spTree>
    <p:extLst>
      <p:ext uri="{BB962C8B-B14F-4D97-AF65-F5344CB8AC3E}">
        <p14:creationId xmlns:p14="http://schemas.microsoft.com/office/powerpoint/2010/main" val="224588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DF2AA1-1F99-9C82-42DE-CCCB0709BA88}"/>
              </a:ext>
            </a:extLst>
          </p:cNvPr>
          <p:cNvSpPr>
            <a:spLocks noGrp="1"/>
          </p:cNvSpPr>
          <p:nvPr>
            <p:ph type="sldNum" sz="quarter" idx="4"/>
          </p:nvPr>
        </p:nvSpPr>
        <p:spPr/>
        <p:txBody>
          <a:bodyPr/>
          <a:lstStyle/>
          <a:p>
            <a:pPr algn="ctr"/>
            <a:fld id="{1875A764-3B06-454E-8ABA-2F6ED0EB58E9}" type="slidenum">
              <a:rPr lang="en-US" smtClean="0"/>
              <a:t>15</a:t>
            </a:fld>
            <a:endParaRPr lang="en-US"/>
          </a:p>
        </p:txBody>
      </p:sp>
      <p:sp>
        <p:nvSpPr>
          <p:cNvPr id="5" name="Title 4">
            <a:extLst>
              <a:ext uri="{FF2B5EF4-FFF2-40B4-BE49-F238E27FC236}">
                <a16:creationId xmlns:a16="http://schemas.microsoft.com/office/drawing/2014/main" id="{8E526EA4-6B63-F1B7-62BF-A4D5176E524E}"/>
              </a:ext>
            </a:extLst>
          </p:cNvPr>
          <p:cNvSpPr>
            <a:spLocks noGrp="1"/>
          </p:cNvSpPr>
          <p:nvPr>
            <p:ph type="title"/>
          </p:nvPr>
        </p:nvSpPr>
        <p:spPr/>
        <p:txBody>
          <a:bodyPr/>
          <a:lstStyle/>
          <a:p>
            <a:r>
              <a:rPr lang="en-US" dirty="0">
                <a:solidFill>
                  <a:srgbClr val="281A42"/>
                </a:solidFill>
              </a:rPr>
              <a:t>Rapid TALENT2VALUE</a:t>
            </a:r>
            <a:endParaRPr lang="en-US" dirty="0"/>
          </a:p>
        </p:txBody>
      </p:sp>
      <p:cxnSp>
        <p:nvCxnSpPr>
          <p:cNvPr id="6" name="Straight Connector 5">
            <a:extLst>
              <a:ext uri="{FF2B5EF4-FFF2-40B4-BE49-F238E27FC236}">
                <a16:creationId xmlns:a16="http://schemas.microsoft.com/office/drawing/2014/main" id="{D1CA1BFD-F3D6-7FBD-7014-B057A3AAF7AC}"/>
              </a:ext>
            </a:extLst>
          </p:cNvPr>
          <p:cNvCxnSpPr>
            <a:stCxn id="7" idx="1"/>
            <a:endCxn id="7" idx="3"/>
          </p:cNvCxnSpPr>
          <p:nvPr/>
        </p:nvCxnSpPr>
        <p:spPr>
          <a:xfrm>
            <a:off x="3047778" y="1918960"/>
            <a:ext cx="5543550"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4">
            <a:extLst>
              <a:ext uri="{FF2B5EF4-FFF2-40B4-BE49-F238E27FC236}">
                <a16:creationId xmlns:a16="http://schemas.microsoft.com/office/drawing/2014/main" id="{33F7F7A0-C44E-9FAE-A44F-915C1514159B}"/>
              </a:ext>
            </a:extLst>
          </p:cNvPr>
          <p:cNvPicPr>
            <a:picLocks noChangeAspect="1" noChangeArrowheads="1"/>
          </p:cNvPicPr>
          <p:nvPr/>
        </p:nvPicPr>
        <p:blipFill>
          <a:blip r:embed="rId2">
            <a:duotone>
              <a:srgbClr val="765FFF"/>
              <a:srgbClr val="FFFFFF"/>
            </a:duotone>
          </a:blip>
          <a:srcRect/>
          <a:stretch>
            <a:fillRect/>
          </a:stretch>
        </p:blipFill>
        <p:spPr bwMode="auto">
          <a:xfrm>
            <a:off x="3047778" y="1152197"/>
            <a:ext cx="5543550" cy="1533525"/>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12">
            <a:extLst>
              <a:ext uri="{FF2B5EF4-FFF2-40B4-BE49-F238E27FC236}">
                <a16:creationId xmlns:a16="http://schemas.microsoft.com/office/drawing/2014/main" id="{3177477C-F0CE-0ED2-7F1D-59803750D4AB}"/>
              </a:ext>
            </a:extLst>
          </p:cNvPr>
          <p:cNvSpPr txBox="1">
            <a:spLocks/>
          </p:cNvSpPr>
          <p:nvPr/>
        </p:nvSpPr>
        <p:spPr>
          <a:xfrm>
            <a:off x="1274134" y="3866465"/>
            <a:ext cx="2650166" cy="2385275"/>
          </a:xfrm>
          <a:prstGeom prst="rect">
            <a:avLst/>
          </a:prstGeom>
        </p:spPr>
        <p:txBody>
          <a:bodyPr vert="horz" wrap="square" lIns="0" tIns="12700" rIns="0" bIns="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298450" indent="-285750">
              <a:lnSpc>
                <a:spcPct val="100000"/>
              </a:lnSpc>
              <a:spcBef>
                <a:spcPts val="100"/>
              </a:spcBef>
              <a:buFont typeface="Arial" panose="020B0706020202030204" pitchFamily="34" charset="0"/>
              <a:buBlip>
                <a:blip r:embed="rId3"/>
              </a:buBlip>
              <a:defRPr/>
            </a:pPr>
            <a:r>
              <a:rPr lang="en-US" kern="0">
                <a:solidFill>
                  <a:sysClr val="windowText" lastClr="000000"/>
                </a:solidFill>
                <a:latin typeface="Arial" panose="020B0604020202020204" pitchFamily="34" charset="0"/>
                <a:cs typeface="Arial" panose="020B0604020202020204" pitchFamily="34" charset="0"/>
              </a:rPr>
              <a:t>Document Review (Strategy, Business Plan, results) + 2-3 Intake interviews (CEO, CFO, CHRO, Strategy) on </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Where is the Money</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What are the Strategic Pivots </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What are the 3-5 critical bets to drive value (or risks to value)</a:t>
            </a:r>
          </a:p>
          <a:p>
            <a:pPr marL="755650" lvl="1" indent="-285750">
              <a:lnSpc>
                <a:spcPct val="100000"/>
              </a:lnSpc>
              <a:spcBef>
                <a:spcPts val="100"/>
              </a:spcBef>
              <a:buFont typeface="Arial" panose="020B0706020202030204" pitchFamily="34" charset="0"/>
              <a:buBlip>
                <a:blip r:embed="rId3"/>
              </a:buBlip>
              <a:defRPr/>
            </a:pPr>
            <a:r>
              <a:rPr lang="en-US" sz="1200" kern="0">
                <a:latin typeface="Arial" panose="020B0604020202020204" pitchFamily="34" charset="0"/>
                <a:cs typeface="Arial" panose="020B0604020202020204" pitchFamily="34" charset="0"/>
              </a:rPr>
              <a:t>Choices (if any) on operating model &amp; organization </a:t>
            </a:r>
            <a:endParaRPr lang="en-US" sz="1200" kern="0" dirty="0">
              <a:latin typeface="Arial" panose="020B0604020202020204" pitchFamily="34" charset="0"/>
              <a:cs typeface="Arial" panose="020B0604020202020204" pitchFamily="34" charset="0"/>
            </a:endParaRPr>
          </a:p>
        </p:txBody>
      </p:sp>
      <p:grpSp>
        <p:nvGrpSpPr>
          <p:cNvPr id="9" name="object 11">
            <a:extLst>
              <a:ext uri="{FF2B5EF4-FFF2-40B4-BE49-F238E27FC236}">
                <a16:creationId xmlns:a16="http://schemas.microsoft.com/office/drawing/2014/main" id="{183917C4-73D2-AF00-6AA9-DC68AEB424EC}"/>
              </a:ext>
            </a:extLst>
          </p:cNvPr>
          <p:cNvGrpSpPr/>
          <p:nvPr/>
        </p:nvGrpSpPr>
        <p:grpSpPr>
          <a:xfrm>
            <a:off x="4101087" y="4394894"/>
            <a:ext cx="221066" cy="256053"/>
            <a:chOff x="2988310" y="3163570"/>
            <a:chExt cx="297815" cy="820419"/>
          </a:xfrm>
        </p:grpSpPr>
        <p:sp>
          <p:nvSpPr>
            <p:cNvPr id="10" name="object 12">
              <a:extLst>
                <a:ext uri="{FF2B5EF4-FFF2-40B4-BE49-F238E27FC236}">
                  <a16:creationId xmlns:a16="http://schemas.microsoft.com/office/drawing/2014/main" id="{7B96C354-EB9D-1694-79DF-38F3889DEFAF}"/>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11" name="object 13">
              <a:extLst>
                <a:ext uri="{FF2B5EF4-FFF2-40B4-BE49-F238E27FC236}">
                  <a16:creationId xmlns:a16="http://schemas.microsoft.com/office/drawing/2014/main" id="{68E6513E-5A9D-D922-CBA5-F629E60B46AD}"/>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cxnSp>
        <p:nvCxnSpPr>
          <p:cNvPr id="12" name="Straight Connector 11">
            <a:extLst>
              <a:ext uri="{FF2B5EF4-FFF2-40B4-BE49-F238E27FC236}">
                <a16:creationId xmlns:a16="http://schemas.microsoft.com/office/drawing/2014/main" id="{50C74743-C44D-7E1D-9B68-E06C4DE9FDD6}"/>
              </a:ext>
            </a:extLst>
          </p:cNvPr>
          <p:cNvCxnSpPr>
            <a:cxnSpLocks/>
          </p:cNvCxnSpPr>
          <p:nvPr/>
        </p:nvCxnSpPr>
        <p:spPr>
          <a:xfrm>
            <a:off x="1516301" y="3105805"/>
            <a:ext cx="8380248" cy="0"/>
          </a:xfrm>
          <a:prstGeom prst="line">
            <a:avLst/>
          </a:prstGeom>
          <a:ln w="9525">
            <a:solidFill>
              <a:schemeClr val="accent1"/>
            </a:solidFill>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3" name="Rectangle: Rounded Corners 34">
            <a:extLst>
              <a:ext uri="{FF2B5EF4-FFF2-40B4-BE49-F238E27FC236}">
                <a16:creationId xmlns:a16="http://schemas.microsoft.com/office/drawing/2014/main" id="{BA297C3A-2A81-29EC-90AA-E80761A81DE4}"/>
              </a:ext>
            </a:extLst>
          </p:cNvPr>
          <p:cNvSpPr/>
          <p:nvPr/>
        </p:nvSpPr>
        <p:spPr>
          <a:xfrm>
            <a:off x="4433381" y="2961437"/>
            <a:ext cx="2546088" cy="312055"/>
          </a:xfrm>
          <a:prstGeom prst="round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pPr>
            <a:r>
              <a:rPr lang="en-US" sz="1100" b="1" dirty="0">
                <a:solidFill>
                  <a:schemeClr val="accent1"/>
                </a:solidFill>
              </a:rPr>
              <a:t>CONNECTING TALENT TO VALUE</a:t>
            </a:r>
          </a:p>
        </p:txBody>
      </p:sp>
      <p:sp>
        <p:nvSpPr>
          <p:cNvPr id="14" name="Rectangle: Rounded Corners 44">
            <a:extLst>
              <a:ext uri="{FF2B5EF4-FFF2-40B4-BE49-F238E27FC236}">
                <a16:creationId xmlns:a16="http://schemas.microsoft.com/office/drawing/2014/main" id="{F864F185-9A19-93DE-1776-E5AD8C56C529}"/>
              </a:ext>
            </a:extLst>
          </p:cNvPr>
          <p:cNvSpPr/>
          <p:nvPr/>
        </p:nvSpPr>
        <p:spPr>
          <a:xfrm>
            <a:off x="1350335" y="3360142"/>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Diagnostics</a:t>
            </a:r>
            <a:endParaRPr lang="LID4096" sz="1600" dirty="0"/>
          </a:p>
        </p:txBody>
      </p:sp>
      <p:sp>
        <p:nvSpPr>
          <p:cNvPr id="15" name="Rectangle: Rounded Corners 67">
            <a:extLst>
              <a:ext uri="{FF2B5EF4-FFF2-40B4-BE49-F238E27FC236}">
                <a16:creationId xmlns:a16="http://schemas.microsoft.com/office/drawing/2014/main" id="{C1D55C8E-60FC-6DB8-2443-926D31438321}"/>
              </a:ext>
            </a:extLst>
          </p:cNvPr>
          <p:cNvSpPr/>
          <p:nvPr/>
        </p:nvSpPr>
        <p:spPr>
          <a:xfrm>
            <a:off x="4648684" y="3384358"/>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Working Session(s)</a:t>
            </a:r>
            <a:endParaRPr lang="LID4096" sz="1600" dirty="0"/>
          </a:p>
        </p:txBody>
      </p:sp>
      <p:sp>
        <p:nvSpPr>
          <p:cNvPr id="16" name="Rectangle: Rounded Corners 70">
            <a:extLst>
              <a:ext uri="{FF2B5EF4-FFF2-40B4-BE49-F238E27FC236}">
                <a16:creationId xmlns:a16="http://schemas.microsoft.com/office/drawing/2014/main" id="{B42CE1A2-9EF7-BEEF-F082-CD3C5C2A9653}"/>
              </a:ext>
            </a:extLst>
          </p:cNvPr>
          <p:cNvSpPr/>
          <p:nvPr/>
        </p:nvSpPr>
        <p:spPr>
          <a:xfrm>
            <a:off x="8101304" y="3356173"/>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Wrap-up</a:t>
            </a:r>
            <a:endParaRPr lang="LID4096" sz="1600" dirty="0"/>
          </a:p>
        </p:txBody>
      </p:sp>
      <p:sp>
        <p:nvSpPr>
          <p:cNvPr id="17" name="object 12">
            <a:extLst>
              <a:ext uri="{FF2B5EF4-FFF2-40B4-BE49-F238E27FC236}">
                <a16:creationId xmlns:a16="http://schemas.microsoft.com/office/drawing/2014/main" id="{272CD70C-89E9-025E-129C-8316E20DD4DC}"/>
              </a:ext>
            </a:extLst>
          </p:cNvPr>
          <p:cNvSpPr txBox="1"/>
          <p:nvPr/>
        </p:nvSpPr>
        <p:spPr>
          <a:xfrm>
            <a:off x="4648684" y="3866466"/>
            <a:ext cx="2489833" cy="1588328"/>
          </a:xfrm>
          <a:prstGeom prst="rect">
            <a:avLst/>
          </a:prstGeom>
        </p:spPr>
        <p:txBody>
          <a:bodyPr vert="horz" wrap="square" lIns="0" tIns="12700" rIns="0" bIns="0" rtlCol="0" anchor="t">
            <a:noAutofit/>
          </a:bodyPr>
          <a:lstStyle/>
          <a:p>
            <a:pPr marL="298450" marR="0" lvl="0" indent="-285750" fontAlgn="auto">
              <a:spcBef>
                <a:spcPts val="100"/>
              </a:spcBef>
              <a:spcAft>
                <a:spcPts val="0"/>
              </a:spcAft>
              <a:buBlip>
                <a:blip r:embed="rId3"/>
              </a:buBlip>
              <a:tabLst/>
              <a:defRPr/>
            </a:pPr>
            <a:r>
              <a:rPr kumimoji="0" lang="en-US" sz="1200" b="0" i="0" u="none" strike="noStrike" kern="0" cap="none" spc="0" normalizeH="0" baseline="0" noProof="0" dirty="0">
                <a:ln>
                  <a:noFill/>
                </a:ln>
                <a:solidFill>
                  <a:srgbClr val="1D1D1D"/>
                </a:solidFill>
                <a:effectLst/>
                <a:uLnTx/>
                <a:uFillTx/>
                <a:latin typeface="Arial" panose="020B0604020202020204" pitchFamily="34" charset="0"/>
                <a:cs typeface="Arial" panose="020B0604020202020204" pitchFamily="34" charset="0"/>
              </a:rPr>
              <a:t>Working Session 1 to align on pivots, value hotspots, work </a:t>
            </a:r>
            <a:r>
              <a:rPr lang="en-US" sz="1200" kern="0" dirty="0">
                <a:latin typeface="Arial" panose="020B0604020202020204" pitchFamily="34" charset="0"/>
                <a:cs typeface="Arial" panose="020B0604020202020204" pitchFamily="34" charset="0"/>
              </a:rPr>
              <a:t>headlines</a:t>
            </a:r>
          </a:p>
          <a:p>
            <a:pPr marL="298450" marR="0" lvl="0" indent="-285750" fontAlgn="auto">
              <a:spcBef>
                <a:spcPts val="100"/>
              </a:spcBef>
              <a:spcAft>
                <a:spcPts val="0"/>
              </a:spcAft>
              <a:buBlip>
                <a:blip r:embed="rId3"/>
              </a:buBlip>
              <a:tabLst/>
              <a:defRPr/>
            </a:pPr>
            <a:r>
              <a:rPr lang="en-US" sz="1200" kern="0" dirty="0">
                <a:latin typeface="Arial" panose="020B0604020202020204" pitchFamily="34" charset="0"/>
                <a:cs typeface="Arial" panose="020B0604020202020204" pitchFamily="34" charset="0"/>
              </a:rPr>
              <a:t>Working Session 2 to identify </a:t>
            </a:r>
            <a:r>
              <a:rPr lang="en-GB" sz="1200" kern="0" dirty="0">
                <a:latin typeface="Arial" panose="020B0604020202020204" pitchFamily="34" charset="0"/>
                <a:cs typeface="Arial" panose="020B0604020202020204" pitchFamily="34" charset="0"/>
              </a:rPr>
              <a:t>, critical roles across the hierarchy &amp; </a:t>
            </a:r>
            <a:r>
              <a:rPr lang="en-US" sz="1200" kern="0" dirty="0">
                <a:latin typeface="Arial" panose="020B0604020202020204" pitchFamily="34" charset="0"/>
                <a:cs typeface="Arial" panose="020B0604020202020204" pitchFamily="34" charset="0"/>
              </a:rPr>
              <a:t>risks ((Talent Capital Balance Sheet)</a:t>
            </a:r>
          </a:p>
          <a:p>
            <a:pPr marL="298450" marR="0" lvl="0" indent="-285750" fontAlgn="auto">
              <a:spcBef>
                <a:spcPts val="100"/>
              </a:spcBef>
              <a:spcAft>
                <a:spcPts val="0"/>
              </a:spcAft>
              <a:buBlip>
                <a:blip r:embed="rId3"/>
              </a:buBlip>
              <a:tabLst/>
              <a:defRPr/>
            </a:pPr>
            <a:r>
              <a:rPr lang="en-US" sz="1200" kern="0" dirty="0">
                <a:latin typeface="Arial" panose="020B0604020202020204" pitchFamily="34" charset="0"/>
                <a:cs typeface="Arial" panose="020B0604020202020204" pitchFamily="34" charset="0"/>
              </a:rPr>
              <a:t>Working Session 3 to identify risk patterns and high-level interventions (org level and for critical roles)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sz="1200" b="0" i="0"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18" name="object 11">
            <a:extLst>
              <a:ext uri="{FF2B5EF4-FFF2-40B4-BE49-F238E27FC236}">
                <a16:creationId xmlns:a16="http://schemas.microsoft.com/office/drawing/2014/main" id="{522DAF56-43D3-664E-C115-1199C98E4265}"/>
              </a:ext>
            </a:extLst>
          </p:cNvPr>
          <p:cNvGrpSpPr/>
          <p:nvPr/>
        </p:nvGrpSpPr>
        <p:grpSpPr>
          <a:xfrm>
            <a:off x="7547615" y="4392913"/>
            <a:ext cx="221066" cy="256053"/>
            <a:chOff x="2988310" y="3163570"/>
            <a:chExt cx="297815" cy="820419"/>
          </a:xfrm>
        </p:grpSpPr>
        <p:sp>
          <p:nvSpPr>
            <p:cNvPr id="19" name="object 12">
              <a:extLst>
                <a:ext uri="{FF2B5EF4-FFF2-40B4-BE49-F238E27FC236}">
                  <a16:creationId xmlns:a16="http://schemas.microsoft.com/office/drawing/2014/main" id="{A2DD7F8A-E58E-1D75-3712-871C3DA0AFEE}"/>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20" name="object 13">
              <a:extLst>
                <a:ext uri="{FF2B5EF4-FFF2-40B4-BE49-F238E27FC236}">
                  <a16:creationId xmlns:a16="http://schemas.microsoft.com/office/drawing/2014/main" id="{1E97AC77-9885-847D-8EE2-E044D8C3CDAA}"/>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sp>
        <p:nvSpPr>
          <p:cNvPr id="21" name="object 12">
            <a:extLst>
              <a:ext uri="{FF2B5EF4-FFF2-40B4-BE49-F238E27FC236}">
                <a16:creationId xmlns:a16="http://schemas.microsoft.com/office/drawing/2014/main" id="{3C65E055-FBE4-1E1F-DD4F-A59AE7517137}"/>
              </a:ext>
            </a:extLst>
          </p:cNvPr>
          <p:cNvSpPr txBox="1"/>
          <p:nvPr/>
        </p:nvSpPr>
        <p:spPr>
          <a:xfrm>
            <a:off x="8101304" y="3957993"/>
            <a:ext cx="2319911" cy="1588328"/>
          </a:xfrm>
          <a:prstGeom prst="rect">
            <a:avLst/>
          </a:prstGeom>
        </p:spPr>
        <p:txBody>
          <a:bodyPr vert="horz" wrap="square" lIns="0" tIns="12700" rIns="0" bIns="0" rtlCol="0" anchor="t">
            <a:noAutofit/>
          </a:bodyPr>
          <a:lstStyle/>
          <a:p>
            <a:pPr marL="298450" indent="-285750">
              <a:lnSpc>
                <a:spcPct val="100000"/>
              </a:lnSpc>
              <a:spcBef>
                <a:spcPts val="100"/>
              </a:spcBef>
              <a:buClrTx/>
              <a:buSzTx/>
              <a:buBlip>
                <a:blip r:embed="rId3"/>
              </a:buBlip>
              <a:defRPr/>
            </a:pPr>
            <a:r>
              <a:rPr kumimoji="0" lang="en-GB" sz="1200" b="0" i="0" u="none" strike="noStrike" kern="0" cap="none" spc="0" normalizeH="0" baseline="0" noProof="0" dirty="0">
                <a:ln>
                  <a:noFill/>
                </a:ln>
                <a:solidFill>
                  <a:srgbClr val="1D1D1D"/>
                </a:solidFill>
                <a:effectLst/>
                <a:uLnTx/>
                <a:uFillTx/>
                <a:latin typeface="Arial" panose="020B0604020202020204" pitchFamily="34" charset="0"/>
                <a:cs typeface="Arial" panose="020B0604020202020204" pitchFamily="34" charset="0"/>
              </a:rPr>
              <a:t>Read-out with CEO/</a:t>
            </a:r>
            <a:r>
              <a:rPr lang="en-GB" sz="1200" kern="0" dirty="0">
                <a:latin typeface="Arial" panose="020B0604020202020204" pitchFamily="34" charset="0"/>
                <a:cs typeface="Arial" panose="020B0604020202020204" pitchFamily="34" charset="0"/>
              </a:rPr>
              <a:t>CHRO on Mobilization actions across pillars essential for CEO success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lang="en-GB" sz="1200" b="0" i="0"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DB5E5480-E803-A03F-281A-0DA6DDAD2D4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05465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B6752C-1212-3809-4BA5-393B526D30D9}"/>
              </a:ext>
            </a:extLst>
          </p:cNvPr>
          <p:cNvSpPr>
            <a:spLocks noGrp="1"/>
          </p:cNvSpPr>
          <p:nvPr>
            <p:ph type="sldNum" sz="quarter" idx="4"/>
          </p:nvPr>
        </p:nvSpPr>
        <p:spPr/>
        <p:txBody>
          <a:bodyPr/>
          <a:lstStyle/>
          <a:p>
            <a:pPr algn="ctr"/>
            <a:fld id="{1875A764-3B06-454E-8ABA-2F6ED0EB58E9}" type="slidenum">
              <a:rPr lang="en-US" smtClean="0"/>
              <a:t>16</a:t>
            </a:fld>
            <a:endParaRPr lang="en-US"/>
          </a:p>
        </p:txBody>
      </p:sp>
      <p:sp>
        <p:nvSpPr>
          <p:cNvPr id="3" name="Title 2">
            <a:extLst>
              <a:ext uri="{FF2B5EF4-FFF2-40B4-BE49-F238E27FC236}">
                <a16:creationId xmlns:a16="http://schemas.microsoft.com/office/drawing/2014/main" id="{49898A4A-F0F0-8FE7-825B-3853F18D0C81}"/>
              </a:ext>
            </a:extLst>
          </p:cNvPr>
          <p:cNvSpPr>
            <a:spLocks noGrp="1"/>
          </p:cNvSpPr>
          <p:nvPr>
            <p:ph type="title"/>
          </p:nvPr>
        </p:nvSpPr>
        <p:spPr/>
        <p:txBody>
          <a:bodyPr/>
          <a:lstStyle/>
          <a:p>
            <a:r>
              <a:rPr lang="en-GB" dirty="0">
                <a:solidFill>
                  <a:srgbClr val="281A42"/>
                </a:solidFill>
                <a:ea typeface="Lato"/>
                <a:cs typeface="Lato"/>
              </a:rPr>
              <a:t>Strategic Pivots </a:t>
            </a:r>
            <a:r>
              <a:rPr lang="en-GB" dirty="0">
                <a:solidFill>
                  <a:srgbClr val="281A42"/>
                </a:solidFill>
                <a:ea typeface="Lato"/>
                <a:cs typeface="Lato"/>
                <a:sym typeface="Wingdings" panose="05000000000000000000" pitchFamily="2" charset="2"/>
              </a:rPr>
              <a:t> Value Hotspots  Work Headlines</a:t>
            </a:r>
            <a:endParaRPr lang="en-US" dirty="0"/>
          </a:p>
        </p:txBody>
      </p:sp>
      <p:sp>
        <p:nvSpPr>
          <p:cNvPr id="4" name="Rounded Rectangle 1">
            <a:extLst>
              <a:ext uri="{FF2B5EF4-FFF2-40B4-BE49-F238E27FC236}">
                <a16:creationId xmlns:a16="http://schemas.microsoft.com/office/drawing/2014/main" id="{EDCA035C-9C7D-7186-DB95-554257BFED51}"/>
              </a:ext>
            </a:extLst>
          </p:cNvPr>
          <p:cNvSpPr/>
          <p:nvPr/>
        </p:nvSpPr>
        <p:spPr>
          <a:xfrm>
            <a:off x="1186901" y="1004544"/>
            <a:ext cx="10255799" cy="1164850"/>
          </a:xfrm>
          <a:prstGeom prst="roundRect">
            <a:avLst>
              <a:gd name="adj" fmla="val 4915"/>
            </a:avLst>
          </a:prstGeom>
          <a:solidFill>
            <a:srgbClr val="E8E4FD">
              <a:alpha val="31000"/>
            </a:srgb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aphicFrame>
        <p:nvGraphicFramePr>
          <p:cNvPr id="5" name="Table 41">
            <a:extLst>
              <a:ext uri="{FF2B5EF4-FFF2-40B4-BE49-F238E27FC236}">
                <a16:creationId xmlns:a16="http://schemas.microsoft.com/office/drawing/2014/main" id="{CF023BD1-5F58-8CD6-9697-721B6169BDC0}"/>
              </a:ext>
            </a:extLst>
          </p:cNvPr>
          <p:cNvGraphicFramePr>
            <a:graphicFrameLocks noGrp="1"/>
          </p:cNvGraphicFramePr>
          <p:nvPr>
            <p:extLst>
              <p:ext uri="{D42A27DB-BD31-4B8C-83A1-F6EECF244321}">
                <p14:modId xmlns:p14="http://schemas.microsoft.com/office/powerpoint/2010/main" val="3335833816"/>
              </p:ext>
            </p:extLst>
          </p:nvPr>
        </p:nvGraphicFramePr>
        <p:xfrm>
          <a:off x="1348840" y="977140"/>
          <a:ext cx="9903361" cy="1132502"/>
        </p:xfrm>
        <a:graphic>
          <a:graphicData uri="http://schemas.openxmlformats.org/drawingml/2006/table">
            <a:tbl>
              <a:tblPr firstRow="1" bandRow="1">
                <a:tableStyleId>{2D5ABB26-0587-4C30-8999-92F81FD0307C}</a:tableStyleId>
              </a:tblPr>
              <a:tblGrid>
                <a:gridCol w="3174539">
                  <a:extLst>
                    <a:ext uri="{9D8B030D-6E8A-4147-A177-3AD203B41FA5}">
                      <a16:colId xmlns:a16="http://schemas.microsoft.com/office/drawing/2014/main" val="4119152402"/>
                    </a:ext>
                  </a:extLst>
                </a:gridCol>
                <a:gridCol w="941676">
                  <a:extLst>
                    <a:ext uri="{9D8B030D-6E8A-4147-A177-3AD203B41FA5}">
                      <a16:colId xmlns:a16="http://schemas.microsoft.com/office/drawing/2014/main" val="2048534200"/>
                    </a:ext>
                  </a:extLst>
                </a:gridCol>
                <a:gridCol w="5787146">
                  <a:extLst>
                    <a:ext uri="{9D8B030D-6E8A-4147-A177-3AD203B41FA5}">
                      <a16:colId xmlns:a16="http://schemas.microsoft.com/office/drawing/2014/main" val="2057372679"/>
                    </a:ext>
                  </a:extLst>
                </a:gridCol>
              </a:tblGrid>
              <a:tr h="404936">
                <a:tc>
                  <a:txBody>
                    <a:bodyPr/>
                    <a:lstStyle/>
                    <a:p>
                      <a:pPr marL="0" indent="0" algn="r" hangingPunct="0">
                        <a:buFont typeface="Arial" panose="020B0604020202020204" pitchFamily="34" charset="0"/>
                        <a:buNone/>
                      </a:pPr>
                      <a:r>
                        <a:rPr lang="en-US" sz="1200" b="0" dirty="0">
                          <a:solidFill>
                            <a:schemeClr val="tx2"/>
                          </a:solidFill>
                        </a:rPr>
                        <a:t>Food security mandate</a:t>
                      </a:r>
                      <a:endParaRPr lang="en-US" sz="1200" b="0" dirty="0">
                        <a:solidFill>
                          <a:schemeClr val="tx2"/>
                        </a:solidFill>
                        <a:latin typeface="Arial" pitchFamily="34" charset="0"/>
                      </a:endParaRPr>
                    </a:p>
                  </a:txBody>
                  <a:tcPr anchor="ctr">
                    <a:lnB w="12700" cap="flat" cmpd="sng" algn="ctr">
                      <a:solidFill>
                        <a:schemeClr val="accent1"/>
                      </a:solidFill>
                      <a:prstDash val="solid"/>
                      <a:round/>
                      <a:headEnd type="none" w="med" len="med"/>
                      <a:tailEnd type="none" w="med" len="med"/>
                    </a:lnB>
                  </a:tcPr>
                </a:tc>
                <a:tc>
                  <a:txBody>
                    <a:bodyPr/>
                    <a:lstStyle/>
                    <a:p>
                      <a:pPr marL="0" indent="0" hangingPunct="0">
                        <a:buFont typeface="Arial" panose="020B0604020202020204" pitchFamily="34" charset="0"/>
                        <a:buNone/>
                      </a:pPr>
                      <a:endParaRPr lang="en-US" sz="1200" b="0" dirty="0">
                        <a:solidFill>
                          <a:schemeClr val="tx2"/>
                        </a:solidFill>
                        <a:latin typeface="Arial" pitchFamily="34" charset="0"/>
                      </a:endParaRPr>
                    </a:p>
                  </a:txBody>
                  <a:tcPr anchor="ctr">
                    <a:lnB w="12700" cap="flat" cmpd="sng" algn="ctr">
                      <a:solidFill>
                        <a:schemeClr val="accent1"/>
                      </a:solidFill>
                      <a:prstDash val="solid"/>
                      <a:round/>
                      <a:headEnd type="none" w="med" len="med"/>
                      <a:tailEnd type="none" w="med" len="med"/>
                    </a:lnB>
                  </a:tcPr>
                </a:tc>
                <a:tc>
                  <a:txBody>
                    <a:bodyPr/>
                    <a:lstStyle/>
                    <a:p>
                      <a:pPr algn="l">
                        <a:spcAft>
                          <a:spcPts val="360"/>
                        </a:spcAft>
                      </a:pPr>
                      <a:r>
                        <a:rPr lang="en-US" sz="1200" b="0" u="none" strike="noStrike" dirty="0">
                          <a:solidFill>
                            <a:schemeClr val="tx2"/>
                          </a:solidFill>
                          <a:effectLst/>
                        </a:rPr>
                        <a:t>Integrated food distribution company</a:t>
                      </a:r>
                      <a:endParaRPr lang="en-US" sz="1200" b="0" i="0" u="none" strike="noStrike" dirty="0">
                        <a:solidFill>
                          <a:schemeClr val="tx2"/>
                        </a:solidFill>
                        <a:effectLst/>
                        <a:latin typeface="Arial" pitchFamily="34" charset="0"/>
                        <a:ea typeface="Lato" panose="020F0502020204030203" pitchFamily="34" charset="0"/>
                        <a:cs typeface="Lato" panose="020F0502020204030203" pitchFamily="34" charset="0"/>
                      </a:endParaRPr>
                    </a:p>
                  </a:txBody>
                  <a:tcPr anchor="ct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0220662"/>
                  </a:ext>
                </a:extLst>
              </a:tr>
              <a:tr h="408059">
                <a:tc>
                  <a:txBody>
                    <a:bodyPr/>
                    <a:lstStyle/>
                    <a:p>
                      <a:pPr marL="0" indent="0" algn="r" hangingPunct="0">
                        <a:buFont typeface="Arial" panose="020B0604020202020204" pitchFamily="34" charset="0"/>
                        <a:buNone/>
                      </a:pPr>
                      <a:r>
                        <a:rPr lang="en-US" sz="1200" b="0" dirty="0">
                          <a:solidFill>
                            <a:schemeClr val="tx2"/>
                          </a:solidFill>
                        </a:rPr>
                        <a:t>Management of contract farming</a:t>
                      </a:r>
                      <a:endParaRPr lang="en-US" sz="1200" b="0"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indent="0" hangingPunct="0">
                        <a:buFont typeface="Arial" panose="020B0604020202020204" pitchFamily="34" charset="0"/>
                        <a:buNone/>
                      </a:pPr>
                      <a:endParaRPr lang="en-US" sz="1200" b="0" u="none"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GB" sz="1200" b="0" kern="1200" dirty="0">
                          <a:solidFill>
                            <a:schemeClr val="tx2"/>
                          </a:solidFill>
                          <a:effectLst/>
                        </a:rPr>
                        <a:t>Innovation driver in Agri-tech</a:t>
                      </a:r>
                      <a:endParaRPr lang="en-GB" sz="1200" b="0" kern="1200" dirty="0">
                        <a:solidFill>
                          <a:schemeClr val="tx2"/>
                        </a:solidFill>
                        <a:effectLst/>
                        <a:latin typeface="Arial" pitchFamily="34" charset="0"/>
                        <a:ea typeface="Lato" panose="020F0502020204030203" pitchFamily="34" charset="0"/>
                        <a:cs typeface="Lato" panose="020F0502020204030203" pitchFamily="34" charset="0"/>
                      </a:endParaRP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84803442"/>
                  </a:ext>
                </a:extLst>
              </a:tr>
              <a:tr h="319507">
                <a:tc>
                  <a:txBody>
                    <a:bodyPr/>
                    <a:lstStyle/>
                    <a:p>
                      <a:pPr marL="0" marR="0" lvl="0" indent="0" algn="r"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200" b="0" dirty="0">
                          <a:solidFill>
                            <a:schemeClr val="tx2"/>
                          </a:solidFill>
                        </a:rPr>
                        <a:t>Grants dependent &amp; sub-scale entities</a:t>
                      </a:r>
                      <a:endParaRPr lang="en-US" sz="1200" b="0"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tcPr>
                </a:tc>
                <a:tc>
                  <a:txBody>
                    <a:bodyPr/>
                    <a:lstStyle/>
                    <a:p>
                      <a:pPr marL="0" indent="0" hangingPunct="0">
                        <a:buFont typeface="Arial" panose="020B0604020202020204" pitchFamily="34" charset="0"/>
                        <a:buNone/>
                      </a:pPr>
                      <a:endParaRPr lang="en-US" sz="1200" b="0" u="none" dirty="0">
                        <a:solidFill>
                          <a:schemeClr val="tx2"/>
                        </a:solidFill>
                        <a:latin typeface="Arial" pitchFamily="34" charset="0"/>
                      </a:endParaRPr>
                    </a:p>
                  </a:txBody>
                  <a:tcPr anchor="ctr">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200" b="0" u="none" strike="noStrike" dirty="0">
                          <a:solidFill>
                            <a:schemeClr val="tx2"/>
                          </a:solidFill>
                          <a:effectLst/>
                        </a:rPr>
                        <a:t>Commercially sustainable, profitable &amp; independent company</a:t>
                      </a:r>
                      <a:endParaRPr lang="en-US" sz="1200" b="0" i="0" u="none" strike="noStrike" dirty="0">
                        <a:solidFill>
                          <a:schemeClr val="tx2"/>
                        </a:solidFill>
                        <a:effectLst/>
                        <a:latin typeface="Arial" pitchFamily="34" charset="0"/>
                        <a:ea typeface="Lato" panose="020F0502020204030203" pitchFamily="34" charset="0"/>
                        <a:cs typeface="Lato" panose="020F0502020204030203" pitchFamily="34" charset="0"/>
                      </a:endParaRPr>
                    </a:p>
                  </a:txBody>
                  <a:tcPr anchor="ctr">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2680669488"/>
                  </a:ext>
                </a:extLst>
              </a:tr>
            </a:tbl>
          </a:graphicData>
        </a:graphic>
      </p:graphicFrame>
      <p:sp>
        <p:nvSpPr>
          <p:cNvPr id="6" name="Triangle 73">
            <a:extLst>
              <a:ext uri="{FF2B5EF4-FFF2-40B4-BE49-F238E27FC236}">
                <a16:creationId xmlns:a16="http://schemas.microsoft.com/office/drawing/2014/main" id="{6FB8E735-5AF9-3959-8F65-77BE63C7897E}"/>
              </a:ext>
            </a:extLst>
          </p:cNvPr>
          <p:cNvSpPr/>
          <p:nvPr/>
        </p:nvSpPr>
        <p:spPr>
          <a:xfrm rot="5400000">
            <a:off x="5230510" y="1535689"/>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 name="Triangle 73">
            <a:extLst>
              <a:ext uri="{FF2B5EF4-FFF2-40B4-BE49-F238E27FC236}">
                <a16:creationId xmlns:a16="http://schemas.microsoft.com/office/drawing/2014/main" id="{B80DED72-590A-86D9-F6EC-710F92BE6EE2}"/>
              </a:ext>
            </a:extLst>
          </p:cNvPr>
          <p:cNvSpPr/>
          <p:nvPr/>
        </p:nvSpPr>
        <p:spPr>
          <a:xfrm rot="5400000">
            <a:off x="5230207" y="1131773"/>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8" name="Triangle 73">
            <a:extLst>
              <a:ext uri="{FF2B5EF4-FFF2-40B4-BE49-F238E27FC236}">
                <a16:creationId xmlns:a16="http://schemas.microsoft.com/office/drawing/2014/main" id="{E23912C4-ED11-A4AD-AD70-E1AC08A78E90}"/>
              </a:ext>
            </a:extLst>
          </p:cNvPr>
          <p:cNvSpPr/>
          <p:nvPr/>
        </p:nvSpPr>
        <p:spPr>
          <a:xfrm rot="5400000">
            <a:off x="5230207" y="193687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9" name="Rectangle: Rounded Corners 45">
            <a:extLst>
              <a:ext uri="{FF2B5EF4-FFF2-40B4-BE49-F238E27FC236}">
                <a16:creationId xmlns:a16="http://schemas.microsoft.com/office/drawing/2014/main" id="{A1AE7862-5114-4253-F8B7-85CA3420F4D3}"/>
              </a:ext>
            </a:extLst>
          </p:cNvPr>
          <p:cNvSpPr/>
          <p:nvPr/>
        </p:nvSpPr>
        <p:spPr>
          <a:xfrm>
            <a:off x="3024525"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000" kern="1200" spc="-10" dirty="0">
                <a:solidFill>
                  <a:schemeClr val="tx1"/>
                </a:solidFill>
                <a:latin typeface="Arial" pitchFamily="34" charset="0"/>
              </a:rPr>
              <a:t>STRATEGY </a:t>
            </a:r>
            <a:endParaRPr kumimoji="0" lang="en-US" sz="1000" b="0" i="0" u="none" strike="noStrike" kern="1200" cap="none" spc="-10" normalizeH="0" baseline="0" noProof="0" dirty="0">
              <a:ln>
                <a:noFill/>
              </a:ln>
              <a:solidFill>
                <a:schemeClr val="tx1"/>
              </a:solidFill>
              <a:effectLst/>
              <a:uLnTx/>
              <a:uFillTx/>
              <a:latin typeface="Arial" pitchFamily="34" charset="0"/>
            </a:endParaRPr>
          </a:p>
        </p:txBody>
      </p:sp>
      <p:sp>
        <p:nvSpPr>
          <p:cNvPr id="10" name="Rectangle: Rounded Corners 47">
            <a:extLst>
              <a:ext uri="{FF2B5EF4-FFF2-40B4-BE49-F238E27FC236}">
                <a16:creationId xmlns:a16="http://schemas.microsoft.com/office/drawing/2014/main" id="{A3437D85-A33D-2C72-0C28-D6E703223352}"/>
              </a:ext>
            </a:extLst>
          </p:cNvPr>
          <p:cNvSpPr/>
          <p:nvPr/>
        </p:nvSpPr>
        <p:spPr>
          <a:xfrm>
            <a:off x="7497769"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IT FOUNDATIONS </a:t>
            </a:r>
          </a:p>
        </p:txBody>
      </p:sp>
      <p:sp>
        <p:nvSpPr>
          <p:cNvPr id="11" name="Rectangle: Rounded Corners 48">
            <a:extLst>
              <a:ext uri="{FF2B5EF4-FFF2-40B4-BE49-F238E27FC236}">
                <a16:creationId xmlns:a16="http://schemas.microsoft.com/office/drawing/2014/main" id="{A2895B9C-9303-0DA1-7A34-737382C67420}"/>
              </a:ext>
            </a:extLst>
          </p:cNvPr>
          <p:cNvSpPr/>
          <p:nvPr/>
        </p:nvSpPr>
        <p:spPr>
          <a:xfrm>
            <a:off x="9734392"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HUMAN CAPITAL &amp; CULTURE</a:t>
            </a:r>
          </a:p>
        </p:txBody>
      </p:sp>
      <p:cxnSp>
        <p:nvCxnSpPr>
          <p:cNvPr id="12" name="Straight Arrow Connector 11">
            <a:extLst>
              <a:ext uri="{FF2B5EF4-FFF2-40B4-BE49-F238E27FC236}">
                <a16:creationId xmlns:a16="http://schemas.microsoft.com/office/drawing/2014/main" id="{AC3D47E9-3159-BA6A-2B23-DCE329D3A451}"/>
              </a:ext>
            </a:extLst>
          </p:cNvPr>
          <p:cNvCxnSpPr>
            <a:cxnSpLocks/>
          </p:cNvCxnSpPr>
          <p:nvPr/>
        </p:nvCxnSpPr>
        <p:spPr>
          <a:xfrm>
            <a:off x="787903" y="5607289"/>
            <a:ext cx="10926490" cy="0"/>
          </a:xfrm>
          <a:prstGeom prst="straightConnector1">
            <a:avLst/>
          </a:prstGeom>
          <a:ln>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53">
            <a:extLst>
              <a:ext uri="{FF2B5EF4-FFF2-40B4-BE49-F238E27FC236}">
                <a16:creationId xmlns:a16="http://schemas.microsoft.com/office/drawing/2014/main" id="{40CE55DE-F9ED-3D1F-7499-3F3F336F7748}"/>
              </a:ext>
            </a:extLst>
          </p:cNvPr>
          <p:cNvSpPr/>
          <p:nvPr/>
        </p:nvSpPr>
        <p:spPr>
          <a:xfrm>
            <a:off x="5261147"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ESG </a:t>
            </a:r>
          </a:p>
        </p:txBody>
      </p:sp>
      <p:sp>
        <p:nvSpPr>
          <p:cNvPr id="14" name="Rectangle: Rounded Corners 45">
            <a:extLst>
              <a:ext uri="{FF2B5EF4-FFF2-40B4-BE49-F238E27FC236}">
                <a16:creationId xmlns:a16="http://schemas.microsoft.com/office/drawing/2014/main" id="{17B4F7A5-D932-3D41-954F-8EBA89AE6953}"/>
              </a:ext>
            </a:extLst>
          </p:cNvPr>
          <p:cNvSpPr/>
          <p:nvPr/>
        </p:nvSpPr>
        <p:spPr>
          <a:xfrm>
            <a:off x="787903" y="5881927"/>
            <a:ext cx="1980000" cy="360000"/>
          </a:xfrm>
          <a:prstGeom prst="round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FINANCIAL ACUMEN </a:t>
            </a:r>
          </a:p>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schemeClr val="tx1"/>
                </a:solidFill>
                <a:effectLst/>
                <a:uLnTx/>
                <a:uFillTx/>
                <a:latin typeface="Arial" pitchFamily="34" charset="0"/>
              </a:rPr>
              <a:t>&amp; RISK MANAGEMENT</a:t>
            </a:r>
          </a:p>
        </p:txBody>
      </p:sp>
      <p:sp>
        <p:nvSpPr>
          <p:cNvPr id="15" name="Rounded Rectangle 18">
            <a:extLst>
              <a:ext uri="{FF2B5EF4-FFF2-40B4-BE49-F238E27FC236}">
                <a16:creationId xmlns:a16="http://schemas.microsoft.com/office/drawing/2014/main" id="{2A3531E7-0A38-4C2A-363A-3E076CBD00F0}"/>
              </a:ext>
            </a:extLst>
          </p:cNvPr>
          <p:cNvSpPr/>
          <p:nvPr/>
        </p:nvSpPr>
        <p:spPr>
          <a:xfrm>
            <a:off x="5011251" y="5420003"/>
            <a:ext cx="2479794" cy="359997"/>
          </a:xfrm>
          <a:prstGeom prst="roundRect">
            <a:avLst/>
          </a:prstGeom>
          <a:solidFill>
            <a:srgbClr val="91929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en-US" sz="1200" b="1" kern="0" spc="-10" dirty="0">
                <a:solidFill>
                  <a:schemeClr val="bg1"/>
                </a:solidFill>
                <a:latin typeface="Segoe UI" pitchFamily="34" charset="0"/>
                <a:ea typeface="Lato" panose="020F0502020204030203" pitchFamily="34" charset="0"/>
                <a:cs typeface="Lato" panose="020F0502020204030203" pitchFamily="34" charset="0"/>
              </a:rPr>
              <a:t>ENABLERS </a:t>
            </a:r>
            <a:r>
              <a:rPr lang="en-US" sz="2000" b="1" kern="0" spc="-10" dirty="0">
                <a:solidFill>
                  <a:schemeClr val="bg1"/>
                </a:solidFill>
                <a:latin typeface="Segoe UI" pitchFamily="34" charset="0"/>
                <a:ea typeface="Lato" panose="020F0502020204030203" pitchFamily="34" charset="0"/>
                <a:cs typeface="Lato" panose="020F0502020204030203" pitchFamily="34" charset="0"/>
              </a:rPr>
              <a:t>15%</a:t>
            </a:r>
            <a:endParaRPr lang="en-US" sz="1200" b="1" kern="0" spc="-10" dirty="0">
              <a:solidFill>
                <a:schemeClr val="bg1"/>
              </a:solidFill>
              <a:latin typeface="Segoe UI" pitchFamily="34" charset="0"/>
              <a:ea typeface="Lato" panose="020F0502020204030203" pitchFamily="34" charset="0"/>
              <a:cs typeface="Lato" panose="020F0502020204030203" pitchFamily="34" charset="0"/>
            </a:endParaRPr>
          </a:p>
        </p:txBody>
      </p:sp>
      <p:sp>
        <p:nvSpPr>
          <p:cNvPr id="16" name="Rounded Rectangle 19">
            <a:extLst>
              <a:ext uri="{FF2B5EF4-FFF2-40B4-BE49-F238E27FC236}">
                <a16:creationId xmlns:a16="http://schemas.microsoft.com/office/drawing/2014/main" id="{05024BB0-2AD5-0184-2D3E-5E163CE60728}"/>
              </a:ext>
            </a:extLst>
          </p:cNvPr>
          <p:cNvSpPr/>
          <p:nvPr/>
        </p:nvSpPr>
        <p:spPr>
          <a:xfrm>
            <a:off x="632755" y="3451892"/>
            <a:ext cx="2044344" cy="1955041"/>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Complete Integration</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of new acquisition X into HoldCo</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Leverage new capabilities to accelerate organic growth</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by </a:t>
            </a: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increasing customer base &amp; value-added services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 Country 1 &amp; 2</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Expand offering to win ‘center of plate’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beyond core F&amp;V portfolio – proteins, key staples and value add products / solutions</a:t>
            </a:r>
          </a:p>
          <a:p>
            <a:pPr marL="180975" indent="-180975" algn="l" rtl="0">
              <a:buFont typeface="Arial" panose="020B0604020202020204" pitchFamily="34" charset="0"/>
              <a:buChar char="•"/>
              <a:defRPr/>
            </a:pP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Unlock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subsidiary synergies to grow pest controls and services</a:t>
            </a:r>
          </a:p>
          <a:p>
            <a:pPr marL="180975" indent="-180975" algn="l" rtl="0">
              <a:buFont typeface="Arial" panose="020B0604020202020204" pitchFamily="34" charset="0"/>
              <a:buChar char="•"/>
              <a:defRPr/>
            </a:pP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Grow </a:t>
            </a:r>
            <a:r>
              <a:rPr lang="en-US" sz="900" b="1" spc="-10" dirty="0">
                <a:solidFill>
                  <a:schemeClr val="tx2"/>
                </a:solidFill>
                <a:latin typeface="Arial" panose="020B0604020202020204" pitchFamily="34" charset="0"/>
                <a:ea typeface="Lato" panose="020F0502020204030203" pitchFamily="34" charset="0"/>
                <a:cs typeface="Arial" panose="020B0604020202020204" pitchFamily="34" charset="0"/>
              </a:rPr>
              <a:t>commodity distribution </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17" name="Rounded Rectangle 20">
            <a:extLst>
              <a:ext uri="{FF2B5EF4-FFF2-40B4-BE49-F238E27FC236}">
                <a16:creationId xmlns:a16="http://schemas.microsoft.com/office/drawing/2014/main" id="{4096F0F8-A87B-B100-5E8E-20152E9862E3}"/>
              </a:ext>
            </a:extLst>
          </p:cNvPr>
          <p:cNvSpPr/>
          <p:nvPr/>
        </p:nvSpPr>
        <p:spPr>
          <a:xfrm>
            <a:off x="7342621" y="3421071"/>
            <a:ext cx="1980000" cy="1900932"/>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Expand product categories </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with a focus on integrated red meat, seafood, rice, and pulses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Integrate upstream and downstream value chains, </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including production, manufacturing, processing, packaging, and market routes (e.g., B2B wholesale)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Form joint ventures, strategic partnerships</a:t>
            </a:r>
            <a:r>
              <a:rPr kumimoji="0" lang="en-US" sz="900" i="0" u="none" strike="noStrike" kern="120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and pursue opportunistic M&amp;A to grow business in select markets</a:t>
            </a:r>
          </a:p>
        </p:txBody>
      </p:sp>
      <p:sp>
        <p:nvSpPr>
          <p:cNvPr id="18" name="Rounded Rectangle 21">
            <a:extLst>
              <a:ext uri="{FF2B5EF4-FFF2-40B4-BE49-F238E27FC236}">
                <a16:creationId xmlns:a16="http://schemas.microsoft.com/office/drawing/2014/main" id="{34870350-92C8-29A2-4339-7F953592B9F3}"/>
              </a:ext>
            </a:extLst>
          </p:cNvPr>
          <p:cNvSpPr/>
          <p:nvPr/>
        </p:nvSpPr>
        <p:spPr>
          <a:xfrm>
            <a:off x="9579245" y="3451893"/>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lang="en-US" sz="900" b="1" spc="-10" dirty="0">
                <a:solidFill>
                  <a:schemeClr val="tx2"/>
                </a:solidFill>
                <a:latin typeface="Arial" panose="020B0604020202020204" pitchFamily="34" charset="0"/>
                <a:ea typeface="Lato" panose="020F0502020204030203" pitchFamily="34" charset="0"/>
                <a:cs typeface="Arial" panose="020B0604020202020204" pitchFamily="34" charset="0"/>
              </a:rPr>
              <a:t>Develop a Digital Strategy &amp; roadmap </a:t>
            </a:r>
            <a:r>
              <a:rPr lang="en-US" sz="900" spc="-10" dirty="0">
                <a:solidFill>
                  <a:schemeClr val="tx2"/>
                </a:solidFill>
                <a:latin typeface="Arial" panose="020B0604020202020204" pitchFamily="34" charset="0"/>
                <a:ea typeface="Lato" panose="020F0502020204030203" pitchFamily="34" charset="0"/>
                <a:cs typeface="Arial" panose="020B0604020202020204" pitchFamily="34" charset="0"/>
              </a:rPr>
              <a:t>to drive innovation in agriculture and food value chains</a:t>
            </a:r>
            <a:endParaRPr kumimoji="0" lang="en-GB"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19" name="Rounded Rectangle 22">
            <a:extLst>
              <a:ext uri="{FF2B5EF4-FFF2-40B4-BE49-F238E27FC236}">
                <a16:creationId xmlns:a16="http://schemas.microsoft.com/office/drawing/2014/main" id="{79C2E3B2-4C13-7E3E-D676-97E602D34087}"/>
              </a:ext>
            </a:extLst>
          </p:cNvPr>
          <p:cNvSpPr/>
          <p:nvPr/>
        </p:nvSpPr>
        <p:spPr>
          <a:xfrm>
            <a:off x="5105999" y="3451893"/>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Build R&amp;D capabilities to enhance farmer eco-system, &amp; provide local farmer support </a:t>
            </a: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(improving yield, novel crops)</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Optimize management of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strategic food reserves through food security intelligence </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Strengthen crisis management</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capabilities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Manage risk, continue rotation </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of commodities (esp. sugar)</a:t>
            </a:r>
          </a:p>
        </p:txBody>
      </p:sp>
      <p:sp>
        <p:nvSpPr>
          <p:cNvPr id="20" name="Rounded Rectangle 23">
            <a:extLst>
              <a:ext uri="{FF2B5EF4-FFF2-40B4-BE49-F238E27FC236}">
                <a16:creationId xmlns:a16="http://schemas.microsoft.com/office/drawing/2014/main" id="{FB26AC0A-48E1-250F-EB65-0D543F6E3E9E}"/>
              </a:ext>
            </a:extLst>
          </p:cNvPr>
          <p:cNvSpPr/>
          <p:nvPr/>
        </p:nvSpPr>
        <p:spPr>
          <a:xfrm>
            <a:off x="2869377" y="3451631"/>
            <a:ext cx="1980000" cy="182964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Integrate F&amp;V Retail and Wholesale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channels with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AA</a:t>
            </a: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Extract synergies, restructure</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F&amp;V BU</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right-sizing commercial and operations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Leverage capabilities to accelerate organic </a:t>
            </a:r>
            <a:r>
              <a:rPr kumimoji="0" lang="en-US" sz="90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growth by growing and expanding into new product categories </a:t>
            </a:r>
            <a:r>
              <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across in key markets</a:t>
            </a:r>
            <a:r>
              <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rPr>
              <a:t> in Country 1, Country 2, Region A</a:t>
            </a:r>
            <a:endParaRPr kumimoji="0" lang="en-US" sz="900" b="1"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chemeClr val="tx2"/>
              </a:solidFill>
              <a:effectLst/>
              <a:uLnTx/>
              <a:uFillTx/>
              <a:latin typeface="Arial" panose="020B0604020202020204" pitchFamily="34" charset="0"/>
              <a:ea typeface="Lato" panose="020F0502020204030203" pitchFamily="34" charset="0"/>
              <a:cs typeface="Arial" panose="020B0604020202020204" pitchFamily="34" charset="0"/>
            </a:endParaRPr>
          </a:p>
        </p:txBody>
      </p:sp>
      <p:sp>
        <p:nvSpPr>
          <p:cNvPr id="21" name="Round Same-side Corner of Rectangle 14">
            <a:extLst>
              <a:ext uri="{FF2B5EF4-FFF2-40B4-BE49-F238E27FC236}">
                <a16:creationId xmlns:a16="http://schemas.microsoft.com/office/drawing/2014/main" id="{A9D84446-FD3F-E6E9-D488-78357E99B3C1}"/>
              </a:ext>
            </a:extLst>
          </p:cNvPr>
          <p:cNvSpPr/>
          <p:nvPr/>
        </p:nvSpPr>
        <p:spPr>
          <a:xfrm>
            <a:off x="3024525" y="2523453"/>
            <a:ext cx="1728000" cy="768632"/>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20%</a:t>
            </a:r>
          </a:p>
        </p:txBody>
      </p:sp>
      <p:sp>
        <p:nvSpPr>
          <p:cNvPr id="22" name="Round Same-side Corner of Rectangle 15">
            <a:extLst>
              <a:ext uri="{FF2B5EF4-FFF2-40B4-BE49-F238E27FC236}">
                <a16:creationId xmlns:a16="http://schemas.microsoft.com/office/drawing/2014/main" id="{BECC376A-25B8-4ADD-CEE1-4BA11676F6D7}"/>
              </a:ext>
            </a:extLst>
          </p:cNvPr>
          <p:cNvSpPr/>
          <p:nvPr/>
        </p:nvSpPr>
        <p:spPr>
          <a:xfrm>
            <a:off x="5231999" y="2523453"/>
            <a:ext cx="1728000" cy="768632"/>
          </a:xfrm>
          <a:prstGeom prst="round2SameRect">
            <a:avLst>
              <a:gd name="adj1" fmla="val 6396"/>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20%</a:t>
            </a:r>
          </a:p>
        </p:txBody>
      </p:sp>
      <p:sp>
        <p:nvSpPr>
          <p:cNvPr id="23" name="Round Same-side Corner of Rectangle 16">
            <a:extLst>
              <a:ext uri="{FF2B5EF4-FFF2-40B4-BE49-F238E27FC236}">
                <a16:creationId xmlns:a16="http://schemas.microsoft.com/office/drawing/2014/main" id="{4E045965-489E-98DE-87A9-F8A9BF4D3764}"/>
              </a:ext>
            </a:extLst>
          </p:cNvPr>
          <p:cNvSpPr/>
          <p:nvPr/>
        </p:nvSpPr>
        <p:spPr>
          <a:xfrm>
            <a:off x="7371769" y="2523452"/>
            <a:ext cx="1728000" cy="775995"/>
          </a:xfrm>
          <a:prstGeom prst="round2SameRect">
            <a:avLst>
              <a:gd name="adj1" fmla="val 8450"/>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a:solidFill>
                  <a:srgbClr val="FFFFFF"/>
                </a:solidFill>
              </a:defRPr>
            </a:pPr>
            <a:r>
              <a:rPr lang="en-US" sz="2000" b="1" spc="-10" dirty="0">
                <a:solidFill>
                  <a:schemeClr val="bg1"/>
                </a:solidFill>
                <a:latin typeface="Segoe UI" pitchFamily="34" charset="0"/>
              </a:rPr>
              <a:t>10%</a:t>
            </a:r>
          </a:p>
        </p:txBody>
      </p:sp>
      <p:sp>
        <p:nvSpPr>
          <p:cNvPr id="24" name="Round Same-side Corner of Rectangle 17">
            <a:extLst>
              <a:ext uri="{FF2B5EF4-FFF2-40B4-BE49-F238E27FC236}">
                <a16:creationId xmlns:a16="http://schemas.microsoft.com/office/drawing/2014/main" id="{E837C900-6F9E-6629-1AAE-63BD1701C45E}"/>
              </a:ext>
            </a:extLst>
          </p:cNvPr>
          <p:cNvSpPr/>
          <p:nvPr/>
        </p:nvSpPr>
        <p:spPr>
          <a:xfrm>
            <a:off x="9676097" y="2523453"/>
            <a:ext cx="1728000" cy="768632"/>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DIGITAL </a:t>
            </a:r>
            <a:endParaRPr lang="en-US" sz="1200" b="1" spc="-10" dirty="0">
              <a:solidFill>
                <a:schemeClr val="bg1"/>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lang="en-US" sz="1200" b="1" spc="-10" dirty="0">
              <a:solidFill>
                <a:schemeClr val="bg1"/>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2000" b="1" spc="-10" dirty="0">
                <a:solidFill>
                  <a:schemeClr val="bg1"/>
                </a:solidFill>
                <a:latin typeface="Segoe UI" pitchFamily="34" charset="0"/>
              </a:rPr>
              <a:t>5%</a:t>
            </a:r>
          </a:p>
        </p:txBody>
      </p:sp>
      <p:sp>
        <p:nvSpPr>
          <p:cNvPr id="25" name="Round Same-side Corner of Rectangle 14">
            <a:extLst>
              <a:ext uri="{FF2B5EF4-FFF2-40B4-BE49-F238E27FC236}">
                <a16:creationId xmlns:a16="http://schemas.microsoft.com/office/drawing/2014/main" id="{F4AB9DE6-5993-4CD0-4090-2BBD99A02E67}"/>
              </a:ext>
            </a:extLst>
          </p:cNvPr>
          <p:cNvSpPr/>
          <p:nvPr/>
        </p:nvSpPr>
        <p:spPr>
          <a:xfrm>
            <a:off x="787903" y="2510550"/>
            <a:ext cx="1728000" cy="768632"/>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200" b="1" spc="-10" dirty="0">
                <a:solidFill>
                  <a:schemeClr val="bg1"/>
                </a:solidFill>
                <a:latin typeface="Segoe UI" pitchFamily="34" charset="0"/>
                <a:ea typeface="Lato" panose="020F0502020204030203" pitchFamily="34" charset="0"/>
                <a:cs typeface="Lato" panose="020F0502020204030203" pitchFamily="34" charset="0"/>
              </a:rPr>
              <a:t>FOODSERVICE</a:t>
            </a: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chemeClr val="bg1"/>
                </a:solidFill>
                <a:latin typeface="Segoe UI" pitchFamily="34" charset="0"/>
              </a:rPr>
              <a:t>30%</a:t>
            </a:r>
          </a:p>
        </p:txBody>
      </p:sp>
      <p:sp>
        <p:nvSpPr>
          <p:cNvPr id="26" name="Rectangle: Rounded Corners 5">
            <a:extLst>
              <a:ext uri="{FF2B5EF4-FFF2-40B4-BE49-F238E27FC236}">
                <a16:creationId xmlns:a16="http://schemas.microsoft.com/office/drawing/2014/main" id="{AE5B2045-2739-0840-0FCB-E8FBDFE59307}"/>
              </a:ext>
            </a:extLst>
          </p:cNvPr>
          <p:cNvSpPr/>
          <p:nvPr/>
        </p:nvSpPr>
        <p:spPr>
          <a:xfrm rot="16200000">
            <a:off x="-206496" y="1330144"/>
            <a:ext cx="1192256"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spc="-25" dirty="0">
                <a:solidFill>
                  <a:srgbClr val="1D1D1D"/>
                </a:solidFill>
                <a:latin typeface="Arial" panose="020B0604020202020204" pitchFamily="34" charset="0"/>
                <a:cs typeface="Arial" panose="020B0604020202020204" pitchFamily="34" charset="0"/>
              </a:rPr>
              <a:t>STRATEGIC PIVOTS</a:t>
            </a:r>
            <a:endParaRPr lang="LID4096" sz="1400" spc="-25" dirty="0">
              <a:solidFill>
                <a:srgbClr val="1D1D1D"/>
              </a:solidFill>
              <a:latin typeface="Arial" panose="020B0604020202020204" pitchFamily="34" charset="0"/>
              <a:cs typeface="Arial" panose="020B0604020202020204" pitchFamily="34" charset="0"/>
            </a:endParaRPr>
          </a:p>
        </p:txBody>
      </p:sp>
      <p:sp>
        <p:nvSpPr>
          <p:cNvPr id="27" name="Rectangle: Rounded Corners 6">
            <a:extLst>
              <a:ext uri="{FF2B5EF4-FFF2-40B4-BE49-F238E27FC236}">
                <a16:creationId xmlns:a16="http://schemas.microsoft.com/office/drawing/2014/main" id="{4F44F717-309C-00E8-CA56-7812588096D7}"/>
              </a:ext>
            </a:extLst>
          </p:cNvPr>
          <p:cNvSpPr/>
          <p:nvPr/>
        </p:nvSpPr>
        <p:spPr>
          <a:xfrm rot="16200000">
            <a:off x="-287658" y="2649556"/>
            <a:ext cx="1354580"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rgbClr val="1D1D1D"/>
                </a:solidFill>
                <a:latin typeface="Arial" panose="020B0604020202020204" pitchFamily="34" charset="0"/>
                <a:cs typeface="Arial" panose="020B0604020202020204" pitchFamily="34" charset="0"/>
              </a:rPr>
              <a:t>VALUE HOTSPOTS</a:t>
            </a:r>
            <a:endParaRPr lang="LID4096" sz="1400" dirty="0">
              <a:solidFill>
                <a:srgbClr val="1D1D1D"/>
              </a:solidFill>
              <a:latin typeface="Arial" panose="020B0604020202020204" pitchFamily="34" charset="0"/>
              <a:cs typeface="Arial" panose="020B0604020202020204" pitchFamily="34" charset="0"/>
            </a:endParaRPr>
          </a:p>
        </p:txBody>
      </p:sp>
      <p:sp>
        <p:nvSpPr>
          <p:cNvPr id="28" name="Rectangle: Rounded Corners 7">
            <a:extLst>
              <a:ext uri="{FF2B5EF4-FFF2-40B4-BE49-F238E27FC236}">
                <a16:creationId xmlns:a16="http://schemas.microsoft.com/office/drawing/2014/main" id="{83D5E6E3-8963-229D-3665-0E0DC1E557D8}"/>
              </a:ext>
            </a:extLst>
          </p:cNvPr>
          <p:cNvSpPr/>
          <p:nvPr/>
        </p:nvSpPr>
        <p:spPr>
          <a:xfrm rot="16200000">
            <a:off x="-287658" y="4059256"/>
            <a:ext cx="1354580" cy="486247"/>
          </a:xfrm>
          <a:prstGeom prst="roundRect">
            <a:avLst/>
          </a:prstGeom>
          <a:solidFill>
            <a:srgbClr val="F2F2F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rgbClr val="1D1D1D"/>
                </a:solidFill>
                <a:latin typeface="Arial" panose="020B0604020202020204" pitchFamily="34" charset="0"/>
                <a:cs typeface="Arial" panose="020B0604020202020204" pitchFamily="34" charset="0"/>
              </a:rPr>
              <a:t>WORK HEADLINES </a:t>
            </a:r>
            <a:endParaRPr lang="LID4096" sz="1400" dirty="0">
              <a:solidFill>
                <a:srgbClr val="1D1D1D"/>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64010B81-F5AB-9C30-8306-07FB1F596C5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21019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7CBF3C-7F93-8EF4-F3D7-12936ABFC223}"/>
              </a:ext>
            </a:extLst>
          </p:cNvPr>
          <p:cNvSpPr>
            <a:spLocks noGrp="1"/>
          </p:cNvSpPr>
          <p:nvPr>
            <p:ph type="sldNum" sz="quarter" idx="4"/>
          </p:nvPr>
        </p:nvSpPr>
        <p:spPr/>
        <p:txBody>
          <a:bodyPr/>
          <a:lstStyle/>
          <a:p>
            <a:pPr algn="ctr"/>
            <a:fld id="{1875A764-3B06-454E-8ABA-2F6ED0EB58E9}" type="slidenum">
              <a:rPr lang="en-US" smtClean="0"/>
              <a:t>17</a:t>
            </a:fld>
            <a:endParaRPr lang="en-US"/>
          </a:p>
        </p:txBody>
      </p:sp>
      <p:sp>
        <p:nvSpPr>
          <p:cNvPr id="3" name="Title 2">
            <a:extLst>
              <a:ext uri="{FF2B5EF4-FFF2-40B4-BE49-F238E27FC236}">
                <a16:creationId xmlns:a16="http://schemas.microsoft.com/office/drawing/2014/main" id="{D45FB38B-E692-0C96-2984-383CBC73FE21}"/>
              </a:ext>
            </a:extLst>
          </p:cNvPr>
          <p:cNvSpPr>
            <a:spLocks noGrp="1"/>
          </p:cNvSpPr>
          <p:nvPr>
            <p:ph type="title"/>
          </p:nvPr>
        </p:nvSpPr>
        <p:spPr/>
        <p:txBody>
          <a:bodyPr/>
          <a:lstStyle/>
          <a:p>
            <a:r>
              <a:rPr lang="en-GB" dirty="0">
                <a:solidFill>
                  <a:srgbClr val="765FFF"/>
                </a:solidFill>
                <a:ea typeface="Lato"/>
                <a:cs typeface="Lato"/>
              </a:rPr>
              <a:t>Critical Roles and Risks @</a:t>
            </a:r>
            <a:r>
              <a:rPr lang="en-GB" dirty="0">
                <a:ea typeface="Lato"/>
                <a:cs typeface="Lato"/>
              </a:rPr>
              <a:t> Value Hotspots</a:t>
            </a:r>
            <a:endParaRPr lang="en-US" dirty="0"/>
          </a:p>
        </p:txBody>
      </p:sp>
      <p:sp>
        <p:nvSpPr>
          <p:cNvPr id="4" name="Rectangle 3">
            <a:extLst>
              <a:ext uri="{FF2B5EF4-FFF2-40B4-BE49-F238E27FC236}">
                <a16:creationId xmlns:a16="http://schemas.microsoft.com/office/drawing/2014/main" id="{865BE098-7123-8F1A-5595-860523E6C345}"/>
              </a:ext>
            </a:extLst>
          </p:cNvPr>
          <p:cNvSpPr/>
          <p:nvPr/>
        </p:nvSpPr>
        <p:spPr>
          <a:xfrm>
            <a:off x="600672" y="1771754"/>
            <a:ext cx="1677751"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$990M</a:t>
            </a:r>
          </a:p>
        </p:txBody>
      </p:sp>
      <p:sp>
        <p:nvSpPr>
          <p:cNvPr id="5" name="Rectangle 4">
            <a:extLst>
              <a:ext uri="{FF2B5EF4-FFF2-40B4-BE49-F238E27FC236}">
                <a16:creationId xmlns:a16="http://schemas.microsoft.com/office/drawing/2014/main" id="{78F5525A-432A-4090-4581-8E41A0C93E79}"/>
              </a:ext>
            </a:extLst>
          </p:cNvPr>
          <p:cNvSpPr/>
          <p:nvPr/>
        </p:nvSpPr>
        <p:spPr>
          <a:xfrm>
            <a:off x="2503622" y="1771754"/>
            <a:ext cx="1677750"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6" name="Rectangle 5">
            <a:extLst>
              <a:ext uri="{FF2B5EF4-FFF2-40B4-BE49-F238E27FC236}">
                <a16:creationId xmlns:a16="http://schemas.microsoft.com/office/drawing/2014/main" id="{994E1232-530E-55F6-C738-A63C3CA749EE}"/>
              </a:ext>
            </a:extLst>
          </p:cNvPr>
          <p:cNvSpPr/>
          <p:nvPr/>
        </p:nvSpPr>
        <p:spPr>
          <a:xfrm>
            <a:off x="4398822" y="1771754"/>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7" name="Rectangle 6">
            <a:extLst>
              <a:ext uri="{FF2B5EF4-FFF2-40B4-BE49-F238E27FC236}">
                <a16:creationId xmlns:a16="http://schemas.microsoft.com/office/drawing/2014/main" id="{E4D2FE3B-9CEF-1439-2BA0-4200E9239832}"/>
              </a:ext>
            </a:extLst>
          </p:cNvPr>
          <p:cNvSpPr/>
          <p:nvPr/>
        </p:nvSpPr>
        <p:spPr>
          <a:xfrm>
            <a:off x="6294015" y="1769700"/>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$330M</a:t>
            </a:r>
          </a:p>
        </p:txBody>
      </p:sp>
      <p:sp>
        <p:nvSpPr>
          <p:cNvPr id="8" name="Rectangle 7">
            <a:extLst>
              <a:ext uri="{FF2B5EF4-FFF2-40B4-BE49-F238E27FC236}">
                <a16:creationId xmlns:a16="http://schemas.microsoft.com/office/drawing/2014/main" id="{00D21628-5BD4-D6FD-2D03-8767D5726B74}"/>
              </a:ext>
            </a:extLst>
          </p:cNvPr>
          <p:cNvSpPr/>
          <p:nvPr/>
        </p:nvSpPr>
        <p:spPr>
          <a:xfrm>
            <a:off x="8189199"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$165M</a:t>
            </a:r>
          </a:p>
        </p:txBody>
      </p:sp>
      <p:sp>
        <p:nvSpPr>
          <p:cNvPr id="9" name="Round Same-side Corner of Rectangle 13">
            <a:extLst>
              <a:ext uri="{FF2B5EF4-FFF2-40B4-BE49-F238E27FC236}">
                <a16:creationId xmlns:a16="http://schemas.microsoft.com/office/drawing/2014/main" id="{0D702D41-7A7D-E005-F554-C48EA1FA9D1F}"/>
              </a:ext>
            </a:extLst>
          </p:cNvPr>
          <p:cNvSpPr/>
          <p:nvPr/>
        </p:nvSpPr>
        <p:spPr>
          <a:xfrm>
            <a:off x="608421" y="1062232"/>
            <a:ext cx="1728000" cy="784324"/>
          </a:xfrm>
          <a:prstGeom prst="round2SameRect">
            <a:avLst>
              <a:gd name="adj1" fmla="val 9477"/>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Foodservice</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ea typeface="Lato" panose="020F0502020204030203" pitchFamily="34" charset="0"/>
                <a:cs typeface="Lato" panose="020F0502020204030203" pitchFamily="34" charset="0"/>
              </a:rPr>
              <a:t>30</a:t>
            </a:r>
            <a:r>
              <a:rPr kumimoji="0" lang="en-US" sz="20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a:t>
            </a:r>
          </a:p>
        </p:txBody>
      </p:sp>
      <p:sp>
        <p:nvSpPr>
          <p:cNvPr id="10" name="Round Same-side Corner of Rectangle 14">
            <a:extLst>
              <a:ext uri="{FF2B5EF4-FFF2-40B4-BE49-F238E27FC236}">
                <a16:creationId xmlns:a16="http://schemas.microsoft.com/office/drawing/2014/main" id="{6D97D3E7-0C65-9C63-66DB-4EDDE6E536CA}"/>
              </a:ext>
            </a:extLst>
          </p:cNvPr>
          <p:cNvSpPr/>
          <p:nvPr/>
        </p:nvSpPr>
        <p:spPr>
          <a:xfrm>
            <a:off x="2492965" y="1062232"/>
            <a:ext cx="1728000" cy="776883"/>
          </a:xfrm>
          <a:prstGeom prst="round2SameRect">
            <a:avLst>
              <a:gd name="adj1" fmla="val 6394"/>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11" name="Round Same-side Corner of Rectangle 15">
            <a:extLst>
              <a:ext uri="{FF2B5EF4-FFF2-40B4-BE49-F238E27FC236}">
                <a16:creationId xmlns:a16="http://schemas.microsoft.com/office/drawing/2014/main" id="{14B53848-FEB1-1D01-D33D-F649831BF0FF}"/>
              </a:ext>
            </a:extLst>
          </p:cNvPr>
          <p:cNvSpPr/>
          <p:nvPr/>
        </p:nvSpPr>
        <p:spPr>
          <a:xfrm>
            <a:off x="4377509" y="1062232"/>
            <a:ext cx="1728000" cy="776883"/>
          </a:xfrm>
          <a:prstGeom prst="round2SameRect">
            <a:avLst>
              <a:gd name="adj1" fmla="val 6396"/>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12" name="Round Same-side Corner of Rectangle 16">
            <a:extLst>
              <a:ext uri="{FF2B5EF4-FFF2-40B4-BE49-F238E27FC236}">
                <a16:creationId xmlns:a16="http://schemas.microsoft.com/office/drawing/2014/main" id="{70E56ADB-0226-C10C-A15E-15FC3AA58E66}"/>
              </a:ext>
            </a:extLst>
          </p:cNvPr>
          <p:cNvSpPr/>
          <p:nvPr/>
        </p:nvSpPr>
        <p:spPr>
          <a:xfrm>
            <a:off x="6262053" y="1063754"/>
            <a:ext cx="1728000" cy="784324"/>
          </a:xfrm>
          <a:prstGeom prst="round2SameRect">
            <a:avLst>
              <a:gd name="adj1" fmla="val 8450"/>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b="1" spc="-25">
                <a:solidFill>
                  <a:srgbClr val="FFFFFF"/>
                </a:solidFill>
                <a:latin typeface="Segoe UI" pitchFamily="34" charset="0"/>
              </a:defRPr>
            </a:pPr>
            <a:r>
              <a:rPr lang="en-US" sz="2000" b="1" spc="-25" dirty="0">
                <a:solidFill>
                  <a:srgbClr val="F2F2F2"/>
                </a:solidFill>
                <a:latin typeface="Segoe UI" pitchFamily="34" charset="0"/>
              </a:rPr>
              <a:t>10%</a:t>
            </a:r>
          </a:p>
        </p:txBody>
      </p:sp>
      <p:sp>
        <p:nvSpPr>
          <p:cNvPr id="13" name="Round Same-side Corner of Rectangle 17">
            <a:extLst>
              <a:ext uri="{FF2B5EF4-FFF2-40B4-BE49-F238E27FC236}">
                <a16:creationId xmlns:a16="http://schemas.microsoft.com/office/drawing/2014/main" id="{157B03B2-FBCE-C53D-B87D-BFE86925A191}"/>
              </a:ext>
            </a:extLst>
          </p:cNvPr>
          <p:cNvSpPr/>
          <p:nvPr/>
        </p:nvSpPr>
        <p:spPr>
          <a:xfrm>
            <a:off x="8146597" y="1063754"/>
            <a:ext cx="1728000" cy="776883"/>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Digital</a:t>
            </a: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2000" b="1" spc="-25" dirty="0">
                <a:solidFill>
                  <a:srgbClr val="F2F2F2"/>
                </a:solidFill>
                <a:latin typeface="Segoe UI" pitchFamily="34" charset="0"/>
              </a:rPr>
              <a:t>5%</a:t>
            </a:r>
          </a:p>
        </p:txBody>
      </p:sp>
      <p:sp>
        <p:nvSpPr>
          <p:cNvPr id="14" name="Round Same-side Corner of Rectangle 18">
            <a:extLst>
              <a:ext uri="{FF2B5EF4-FFF2-40B4-BE49-F238E27FC236}">
                <a16:creationId xmlns:a16="http://schemas.microsoft.com/office/drawing/2014/main" id="{95094AE2-C548-A778-B2CC-00DEB5D697EF}"/>
              </a:ext>
            </a:extLst>
          </p:cNvPr>
          <p:cNvSpPr/>
          <p:nvPr/>
        </p:nvSpPr>
        <p:spPr>
          <a:xfrm>
            <a:off x="10031141" y="1063753"/>
            <a:ext cx="1728000" cy="776883"/>
          </a:xfrm>
          <a:prstGeom prst="round2SameRect">
            <a:avLst>
              <a:gd name="adj1" fmla="val 6395"/>
              <a:gd name="adj2" fmla="val 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Enablers</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15%</a:t>
            </a:r>
          </a:p>
        </p:txBody>
      </p:sp>
      <p:sp>
        <p:nvSpPr>
          <p:cNvPr id="15" name="Rectangle 14">
            <a:extLst>
              <a:ext uri="{FF2B5EF4-FFF2-40B4-BE49-F238E27FC236}">
                <a16:creationId xmlns:a16="http://schemas.microsoft.com/office/drawing/2014/main" id="{84F21A60-5CAE-0A1F-945A-A5D82A66396B}"/>
              </a:ext>
            </a:extLst>
          </p:cNvPr>
          <p:cNvSpPr/>
          <p:nvPr/>
        </p:nvSpPr>
        <p:spPr>
          <a:xfrm>
            <a:off x="10081967"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FFFFFF"/>
                </a:solidFill>
                <a:latin typeface="Arial" pitchFamily="34" charset="0"/>
              </a:rPr>
              <a:t>$495M</a:t>
            </a:r>
          </a:p>
        </p:txBody>
      </p:sp>
      <p:sp>
        <p:nvSpPr>
          <p:cNvPr id="16" name="TextBox 15">
            <a:extLst>
              <a:ext uri="{FF2B5EF4-FFF2-40B4-BE49-F238E27FC236}">
                <a16:creationId xmlns:a16="http://schemas.microsoft.com/office/drawing/2014/main" id="{4DD42D80-305B-A3A1-7056-7FEB7234B32B}"/>
              </a:ext>
            </a:extLst>
          </p:cNvPr>
          <p:cNvSpPr txBox="1"/>
          <p:nvPr/>
        </p:nvSpPr>
        <p:spPr>
          <a:xfrm>
            <a:off x="619134" y="2169517"/>
            <a:ext cx="11140625" cy="306467"/>
          </a:xfrm>
          <a:prstGeom prst="roundRect">
            <a:avLst/>
          </a:prstGeom>
          <a:solidFill>
            <a:schemeClr val="accent4"/>
          </a:solid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10" normalizeH="0" baseline="0" noProof="0" dirty="0">
                <a:ln>
                  <a:noFill/>
                </a:ln>
                <a:solidFill>
                  <a:schemeClr val="bg1"/>
                </a:solidFill>
                <a:effectLst/>
                <a:uLnTx/>
                <a:uFillTx/>
                <a:latin typeface="Segoe UI" pitchFamily="34" charset="0"/>
              </a:rPr>
              <a:t>CRITICAL ROLES @ EACH </a:t>
            </a:r>
            <a:r>
              <a:rPr lang="en-US" sz="1200" b="1" spc="-10" dirty="0">
                <a:solidFill>
                  <a:schemeClr val="bg1"/>
                </a:solidFill>
                <a:latin typeface="Segoe UI" pitchFamily="34" charset="0"/>
              </a:rPr>
              <a:t>HOTSPOT</a:t>
            </a:r>
            <a:endParaRPr kumimoji="0" lang="en-GB" sz="1200" b="1" u="none" strike="noStrike" kern="0" cap="none" spc="-10" normalizeH="0" baseline="0" noProof="0" dirty="0">
              <a:ln>
                <a:noFill/>
              </a:ln>
              <a:solidFill>
                <a:schemeClr val="bg1"/>
              </a:solidFill>
              <a:effectLst/>
              <a:uLnTx/>
              <a:uFillTx/>
              <a:latin typeface="Segoe UI" pitchFamily="34" charset="0"/>
            </a:endParaRPr>
          </a:p>
        </p:txBody>
      </p:sp>
      <p:graphicFrame>
        <p:nvGraphicFramePr>
          <p:cNvPr id="17" name="Table 16">
            <a:extLst>
              <a:ext uri="{FF2B5EF4-FFF2-40B4-BE49-F238E27FC236}">
                <a16:creationId xmlns:a16="http://schemas.microsoft.com/office/drawing/2014/main" id="{342AD25E-94C0-C9DD-8F00-40B0310B5B4B}"/>
              </a:ext>
            </a:extLst>
          </p:cNvPr>
          <p:cNvGraphicFramePr>
            <a:graphicFrameLocks noGrp="1"/>
          </p:cNvGraphicFramePr>
          <p:nvPr>
            <p:extLst>
              <p:ext uri="{D42A27DB-BD31-4B8C-83A1-F6EECF244321}">
                <p14:modId xmlns:p14="http://schemas.microsoft.com/office/powerpoint/2010/main" val="3358468744"/>
              </p:ext>
            </p:extLst>
          </p:nvPr>
        </p:nvGraphicFramePr>
        <p:xfrm>
          <a:off x="608421" y="2527604"/>
          <a:ext cx="1728000" cy="2540845"/>
        </p:xfrm>
        <a:graphic>
          <a:graphicData uri="http://schemas.openxmlformats.org/drawingml/2006/table">
            <a:tbl>
              <a:tblPr firstRow="1">
                <a:tableStyleId>{69012ECD-51FC-41F1-AA8D-1B2483CD663E}</a:tableStyleId>
              </a:tblPr>
              <a:tblGrid>
                <a:gridCol w="936000">
                  <a:extLst>
                    <a:ext uri="{9D8B030D-6E8A-4147-A177-3AD203B41FA5}">
                      <a16:colId xmlns:a16="http://schemas.microsoft.com/office/drawing/2014/main" val="1769993756"/>
                    </a:ext>
                  </a:extLst>
                </a:gridCol>
                <a:gridCol w="295954">
                  <a:extLst>
                    <a:ext uri="{9D8B030D-6E8A-4147-A177-3AD203B41FA5}">
                      <a16:colId xmlns:a16="http://schemas.microsoft.com/office/drawing/2014/main" val="1181255485"/>
                    </a:ext>
                  </a:extLst>
                </a:gridCol>
                <a:gridCol w="496046">
                  <a:extLst>
                    <a:ext uri="{9D8B030D-6E8A-4147-A177-3AD203B41FA5}">
                      <a16:colId xmlns:a16="http://schemas.microsoft.com/office/drawing/2014/main" val="4171049878"/>
                    </a:ext>
                  </a:extLst>
                </a:gridCol>
              </a:tblGrid>
              <a:tr h="0">
                <a:tc>
                  <a:txBody>
                    <a:bodyPr/>
                    <a:lstStyle/>
                    <a:p>
                      <a:pPr algn="l" fontAlgn="b"/>
                      <a:r>
                        <a:rPr lang="en-US" sz="800" b="1" u="none" strike="noStrike" dirty="0">
                          <a:solidFill>
                            <a:srgbClr val="FFFFFF"/>
                          </a:solidFill>
                          <a:effectLst/>
                        </a:rPr>
                        <a:t>CRITICAL ROLE</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VALUE (%)</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 ROLE VALUE </a:t>
                      </a:r>
                    </a:p>
                    <a:p>
                      <a:pPr algn="ctr" fontAlgn="b"/>
                      <a:r>
                        <a:rPr lang="en-US" sz="800" b="1" u="none" strike="noStrike" dirty="0">
                          <a:solidFill>
                            <a:srgbClr val="FFFFFF"/>
                          </a:solidFill>
                          <a:effectLst/>
                        </a:rPr>
                        <a:t>(USD)</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2505662647"/>
                  </a:ext>
                </a:extLst>
              </a:tr>
              <a:tr h="138699">
                <a:tc>
                  <a:txBody>
                    <a:bodyPr/>
                    <a:lstStyle/>
                    <a:p>
                      <a:pPr algn="l" fontAlgn="ctr"/>
                      <a:r>
                        <a:rPr lang="en-US" sz="800" b="0" u="none" strike="noStrike" dirty="0">
                          <a:solidFill>
                            <a:srgbClr val="1D1D1D"/>
                          </a:solidFill>
                          <a:effectLst/>
                        </a:rPr>
                        <a:t>Chief Commercial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683556057"/>
                  </a:ext>
                </a:extLst>
              </a:tr>
              <a:tr h="146857">
                <a:tc>
                  <a:txBody>
                    <a:bodyPr/>
                    <a:lstStyle/>
                    <a:p>
                      <a:pPr algn="l" rtl="0" fontAlgn="ctr"/>
                      <a:r>
                        <a:rPr lang="en-US" sz="800" b="0" u="none" strike="noStrike" dirty="0">
                          <a:solidFill>
                            <a:srgbClr val="1D1D1D"/>
                          </a:solidFill>
                          <a:effectLst/>
                        </a:rPr>
                        <a:t>Chief Operations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31058211"/>
                  </a:ext>
                </a:extLst>
              </a:tr>
              <a:tr h="198805">
                <a:tc>
                  <a:txBody>
                    <a:bodyPr/>
                    <a:lstStyle/>
                    <a:p>
                      <a:pPr algn="l" rtl="0" fontAlgn="b"/>
                      <a:r>
                        <a:rPr lang="en-US" sz="800" b="0" u="none" strike="noStrike" kern="1200" dirty="0">
                          <a:solidFill>
                            <a:srgbClr val="00C27A"/>
                          </a:solidFill>
                          <a:effectLst/>
                        </a:rPr>
                        <a:t>Head - Market  Intelligence</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99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419970704"/>
                  </a:ext>
                </a:extLst>
              </a:tr>
              <a:tr h="159095">
                <a:tc>
                  <a:txBody>
                    <a:bodyPr/>
                    <a:lstStyle/>
                    <a:p>
                      <a:pPr algn="l" rtl="0" fontAlgn="ctr"/>
                      <a:r>
                        <a:rPr lang="en-US" sz="800" b="0" u="none" strike="noStrike" dirty="0">
                          <a:solidFill>
                            <a:srgbClr val="1D1D1D"/>
                          </a:solidFill>
                          <a:effectLst/>
                        </a:rPr>
                        <a:t>Category Head 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97397957"/>
                  </a:ext>
                </a:extLst>
              </a:tr>
              <a:tr h="138699">
                <a:tc>
                  <a:txBody>
                    <a:bodyPr/>
                    <a:lstStyle/>
                    <a:p>
                      <a:pPr algn="l" rtl="0" fontAlgn="ctr"/>
                      <a:r>
                        <a:rPr lang="en-US" sz="800" b="0" u="none" strike="noStrike" dirty="0">
                          <a:solidFill>
                            <a:srgbClr val="1D1D1D"/>
                          </a:solidFill>
                          <a:effectLst/>
                        </a:rPr>
                        <a:t>Category Head 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415468497"/>
                  </a:ext>
                </a:extLst>
              </a:tr>
              <a:tr h="134619">
                <a:tc>
                  <a:txBody>
                    <a:bodyPr/>
                    <a:lstStyle/>
                    <a:p>
                      <a:pPr algn="l" rtl="0" fontAlgn="ctr"/>
                      <a:r>
                        <a:rPr lang="en-US" sz="800" b="0" u="none" strike="noStrike" dirty="0">
                          <a:solidFill>
                            <a:srgbClr val="1D1D1D"/>
                          </a:solidFill>
                          <a:effectLst/>
                        </a:rPr>
                        <a:t>Category Head 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69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650661333"/>
                  </a:ext>
                </a:extLst>
              </a:tr>
              <a:tr h="159095">
                <a:tc>
                  <a:txBody>
                    <a:bodyPr/>
                    <a:lstStyle/>
                    <a:p>
                      <a:pPr algn="l" rtl="0" fontAlgn="ctr"/>
                      <a:r>
                        <a:rPr lang="en-US" sz="800" b="0" u="none" strike="noStrike" dirty="0">
                          <a:solidFill>
                            <a:srgbClr val="1D1D1D"/>
                          </a:solidFill>
                          <a:effectLst/>
                        </a:rPr>
                        <a:t>Head of Export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077357638"/>
                  </a:ext>
                </a:extLst>
              </a:tr>
              <a:tr h="138699">
                <a:tc>
                  <a:txBody>
                    <a:bodyPr/>
                    <a:lstStyle/>
                    <a:p>
                      <a:pPr algn="l" rtl="0" fontAlgn="ctr"/>
                      <a:r>
                        <a:rPr lang="en-US" sz="800" b="0" u="none" strike="noStrike" dirty="0">
                          <a:solidFill>
                            <a:srgbClr val="1D1D1D"/>
                          </a:solidFill>
                          <a:effectLst/>
                        </a:rPr>
                        <a:t>Head of Local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394211120"/>
                  </a:ext>
                </a:extLst>
              </a:tr>
              <a:tr h="242040">
                <a:tc>
                  <a:txBody>
                    <a:bodyPr/>
                    <a:lstStyle/>
                    <a:p>
                      <a:pPr marL="0" algn="l" defTabSz="914400" rtl="0" eaLnBrk="1" fontAlgn="b" latinLnBrk="0" hangingPunct="1"/>
                      <a:r>
                        <a:rPr lang="en-US" sz="800" b="0" u="none" strike="noStrike" kern="1200" dirty="0">
                          <a:solidFill>
                            <a:srgbClr val="00C27A"/>
                          </a:solidFill>
                          <a:effectLst/>
                        </a:rPr>
                        <a:t>Strategy Lead X</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50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232903105"/>
                  </a:ext>
                </a:extLst>
              </a:tr>
              <a:tr h="138699">
                <a:tc>
                  <a:txBody>
                    <a:bodyPr/>
                    <a:lstStyle/>
                    <a:p>
                      <a:pPr algn="l" rtl="0" fontAlgn="ctr"/>
                      <a:r>
                        <a:rPr lang="en-US" sz="800" b="0" u="none" strike="noStrike" kern="1200" dirty="0">
                          <a:solidFill>
                            <a:srgbClr val="00C27A"/>
                          </a:solidFill>
                          <a:effectLst/>
                        </a:rPr>
                        <a:t>Head of Integration</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50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206576866"/>
                  </a:ext>
                </a:extLst>
              </a:tr>
              <a:tr h="138699">
                <a:tc>
                  <a:txBody>
                    <a:bodyPr/>
                    <a:lstStyle/>
                    <a:p>
                      <a:pPr algn="l" fontAlgn="ctr"/>
                      <a:r>
                        <a:rPr lang="en-US" sz="800" b="0" u="none" strike="noStrike" kern="1200" dirty="0">
                          <a:solidFill>
                            <a:srgbClr val="00C27A"/>
                          </a:solidFill>
                          <a:effectLst/>
                        </a:rPr>
                        <a:t>MD (acquired entity)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50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25779303"/>
                  </a:ext>
                </a:extLst>
              </a:tr>
              <a:tr h="76202">
                <a:tc>
                  <a:txBody>
                    <a:bodyPr/>
                    <a:lstStyle/>
                    <a:p>
                      <a:pPr marL="0" algn="l" defTabSz="914400" rtl="0" eaLnBrk="1" fontAlgn="b" latinLnBrk="0" hangingPunct="1"/>
                      <a:r>
                        <a:rPr lang="en-US" sz="800" b="0" u="none" strike="noStrike" kern="1200" dirty="0">
                          <a:solidFill>
                            <a:srgbClr val="00C27A"/>
                          </a:solidFill>
                          <a:effectLst/>
                        </a:rPr>
                        <a:t>MD 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4%</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40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958454393"/>
                  </a:ext>
                </a:extLst>
              </a:tr>
            </a:tbl>
          </a:graphicData>
        </a:graphic>
      </p:graphicFrame>
      <p:graphicFrame>
        <p:nvGraphicFramePr>
          <p:cNvPr id="18" name="Table 17">
            <a:extLst>
              <a:ext uri="{FF2B5EF4-FFF2-40B4-BE49-F238E27FC236}">
                <a16:creationId xmlns:a16="http://schemas.microsoft.com/office/drawing/2014/main" id="{A26BE9FD-9547-C9BA-0EEA-CDB02D9EC091}"/>
              </a:ext>
            </a:extLst>
          </p:cNvPr>
          <p:cNvGraphicFramePr>
            <a:graphicFrameLocks noGrp="1"/>
          </p:cNvGraphicFramePr>
          <p:nvPr>
            <p:extLst>
              <p:ext uri="{D42A27DB-BD31-4B8C-83A1-F6EECF244321}">
                <p14:modId xmlns:p14="http://schemas.microsoft.com/office/powerpoint/2010/main" val="3740684359"/>
              </p:ext>
            </p:extLst>
          </p:nvPr>
        </p:nvGraphicFramePr>
        <p:xfrm>
          <a:off x="2489372" y="2517352"/>
          <a:ext cx="1728000" cy="1777377"/>
        </p:xfrm>
        <a:graphic>
          <a:graphicData uri="http://schemas.openxmlformats.org/drawingml/2006/table">
            <a:tbl>
              <a:tblPr firstRow="1">
                <a:tableStyleId>{69012ECD-51FC-41F1-AA8D-1B2483CD663E}</a:tableStyleId>
              </a:tblPr>
              <a:tblGrid>
                <a:gridCol w="936000">
                  <a:extLst>
                    <a:ext uri="{9D8B030D-6E8A-4147-A177-3AD203B41FA5}">
                      <a16:colId xmlns:a16="http://schemas.microsoft.com/office/drawing/2014/main" val="1185073739"/>
                    </a:ext>
                  </a:extLst>
                </a:gridCol>
                <a:gridCol w="360000">
                  <a:extLst>
                    <a:ext uri="{9D8B030D-6E8A-4147-A177-3AD203B41FA5}">
                      <a16:colId xmlns:a16="http://schemas.microsoft.com/office/drawing/2014/main" val="3387738534"/>
                    </a:ext>
                  </a:extLst>
                </a:gridCol>
                <a:gridCol w="432000">
                  <a:extLst>
                    <a:ext uri="{9D8B030D-6E8A-4147-A177-3AD203B41FA5}">
                      <a16:colId xmlns:a16="http://schemas.microsoft.com/office/drawing/2014/main" val="3087892608"/>
                    </a:ext>
                  </a:extLst>
                </a:gridCol>
              </a:tblGrid>
              <a:tr h="422116">
                <a:tc>
                  <a:txBody>
                    <a:bodyPr/>
                    <a:lstStyle/>
                    <a:p>
                      <a:pPr algn="l" fontAlgn="b"/>
                      <a:r>
                        <a:rPr lang="en-US" sz="800" b="1" u="none" strike="noStrike" dirty="0">
                          <a:solidFill>
                            <a:srgbClr val="FFFFFF"/>
                          </a:solidFill>
                          <a:effectLst/>
                        </a:rPr>
                        <a:t>CRITICAL ROLE</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VALUE (%)</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 ROLE VALUE </a:t>
                      </a:r>
                    </a:p>
                    <a:p>
                      <a:pPr algn="ctr" fontAlgn="b"/>
                      <a:r>
                        <a:rPr lang="en-US" sz="800" b="1" u="none" strike="noStrike" dirty="0">
                          <a:solidFill>
                            <a:srgbClr val="FFFFFF"/>
                          </a:solidFill>
                          <a:effectLst/>
                        </a:rPr>
                        <a:t>(USD)</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2579543699"/>
                  </a:ext>
                </a:extLst>
              </a:tr>
              <a:tr h="294398">
                <a:tc>
                  <a:txBody>
                    <a:bodyPr/>
                    <a:lstStyle/>
                    <a:p>
                      <a:pPr algn="l" rtl="0" fontAlgn="ctr"/>
                      <a:r>
                        <a:rPr lang="en-US" sz="800" b="0" u="none" strike="noStrike" dirty="0">
                          <a:solidFill>
                            <a:srgbClr val="1D1D1D"/>
                          </a:solidFill>
                          <a:effectLst/>
                        </a:rPr>
                        <a:t>Chief Operating officer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40%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264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059164679"/>
                  </a:ext>
                </a:extLst>
              </a:tr>
              <a:tr h="157993">
                <a:tc>
                  <a:txBody>
                    <a:bodyPr/>
                    <a:lstStyle/>
                    <a:p>
                      <a:pPr algn="l" fontAlgn="ctr"/>
                      <a:r>
                        <a:rPr lang="en-US" sz="800" b="0" u="none" strike="noStrike" dirty="0">
                          <a:solidFill>
                            <a:srgbClr val="1D1D1D"/>
                          </a:solidFill>
                          <a:effectLst/>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132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998666557"/>
                  </a:ext>
                </a:extLst>
              </a:tr>
              <a:tr h="294398">
                <a:tc>
                  <a:txBody>
                    <a:bodyPr/>
                    <a:lstStyle/>
                    <a:p>
                      <a:pPr algn="l" rtl="0" fontAlgn="b"/>
                      <a:r>
                        <a:rPr lang="en-US" sz="800" b="0" u="none" strike="noStrike" kern="1200" dirty="0">
                          <a:solidFill>
                            <a:srgbClr val="00C27A"/>
                          </a:solidFill>
                          <a:effectLst/>
                        </a:rPr>
                        <a:t>Chief Commercial Officer AA</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kern="1200" dirty="0">
                          <a:solidFill>
                            <a:srgbClr val="00C27A"/>
                          </a:solidFill>
                          <a:effectLst/>
                        </a:rPr>
                        <a:t>15%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kern="1200" dirty="0">
                          <a:solidFill>
                            <a:srgbClr val="00C27A"/>
                          </a:solidFill>
                          <a:effectLst/>
                        </a:rPr>
                        <a:t>99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867612585"/>
                  </a:ext>
                </a:extLst>
              </a:tr>
              <a:tr h="149215">
                <a:tc>
                  <a:txBody>
                    <a:bodyPr/>
                    <a:lstStyle/>
                    <a:p>
                      <a:pPr marL="0" algn="l" defTabSz="914400" rtl="0" eaLnBrk="1" fontAlgn="b" latinLnBrk="0" hangingPunct="1"/>
                      <a:r>
                        <a:rPr lang="en-US" sz="800" b="0" u="none" strike="noStrike" kern="1200" dirty="0">
                          <a:solidFill>
                            <a:srgbClr val="00C27A"/>
                          </a:solidFill>
                          <a:effectLst/>
                        </a:rPr>
                        <a:t>Head of Integration</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66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02364983"/>
                  </a:ext>
                </a:extLst>
              </a:tr>
              <a:tr h="149215">
                <a:tc>
                  <a:txBody>
                    <a:bodyPr/>
                    <a:lstStyle/>
                    <a:p>
                      <a:pPr marL="0" algn="l" defTabSz="914400" rtl="0" eaLnBrk="1" fontAlgn="b" latinLnBrk="0" hangingPunct="1"/>
                      <a:r>
                        <a:rPr lang="en-US" sz="800" b="0" u="none" strike="noStrike" kern="1200" dirty="0">
                          <a:solidFill>
                            <a:srgbClr val="00C27A"/>
                          </a:solidFill>
                          <a:effectLst/>
                        </a:rPr>
                        <a:t>MD (acquired entity)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10%</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66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70203580"/>
                  </a:ext>
                </a:extLst>
              </a:tr>
              <a:tr h="294398">
                <a:tc>
                  <a:txBody>
                    <a:bodyPr/>
                    <a:lstStyle/>
                    <a:p>
                      <a:pPr marL="0" algn="l" defTabSz="914400" rtl="0" eaLnBrk="1" fontAlgn="b" latinLnBrk="0" hangingPunct="1"/>
                      <a:r>
                        <a:rPr lang="en-US" sz="800" b="0" u="none" strike="noStrike" kern="1200" dirty="0">
                          <a:solidFill>
                            <a:srgbClr val="00C27A"/>
                          </a:solidFill>
                          <a:effectLst/>
                        </a:rPr>
                        <a:t>Head - Market  Intelligence</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marL="0" algn="ctr" defTabSz="914400" rtl="0" eaLnBrk="1" fontAlgn="b" latinLnBrk="0" hangingPunct="1"/>
                      <a:r>
                        <a:rPr lang="en-US" sz="800" b="0" u="none" strike="noStrike" kern="1200" dirty="0">
                          <a:solidFill>
                            <a:srgbClr val="00C27A"/>
                          </a:solidFill>
                          <a:effectLst/>
                        </a:rPr>
                        <a:t>5%</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algn="ctr" defTabSz="914400" rtl="0" eaLnBrk="1" fontAlgn="b" latinLnBrk="0" hangingPunct="1"/>
                      <a:r>
                        <a:rPr lang="en-US" sz="800" b="0" u="none" strike="noStrike" kern="1200" dirty="0">
                          <a:solidFill>
                            <a:srgbClr val="00C27A"/>
                          </a:solidFill>
                          <a:effectLst/>
                        </a:rPr>
                        <a:t>33 </a:t>
                      </a:r>
                      <a:endPar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789636566"/>
                  </a:ext>
                </a:extLst>
              </a:tr>
            </a:tbl>
          </a:graphicData>
        </a:graphic>
      </p:graphicFrame>
      <p:graphicFrame>
        <p:nvGraphicFramePr>
          <p:cNvPr id="19" name="Table 18">
            <a:extLst>
              <a:ext uri="{FF2B5EF4-FFF2-40B4-BE49-F238E27FC236}">
                <a16:creationId xmlns:a16="http://schemas.microsoft.com/office/drawing/2014/main" id="{0AF773C7-C10E-4497-394D-10F1ED6202DF}"/>
              </a:ext>
            </a:extLst>
          </p:cNvPr>
          <p:cNvGraphicFramePr>
            <a:graphicFrameLocks noGrp="1"/>
          </p:cNvGraphicFramePr>
          <p:nvPr>
            <p:extLst>
              <p:ext uri="{D42A27DB-BD31-4B8C-83A1-F6EECF244321}">
                <p14:modId xmlns:p14="http://schemas.microsoft.com/office/powerpoint/2010/main" val="2927827484"/>
              </p:ext>
            </p:extLst>
          </p:nvPr>
        </p:nvGraphicFramePr>
        <p:xfrm>
          <a:off x="4377509" y="2520897"/>
          <a:ext cx="1728000" cy="1731368"/>
        </p:xfrm>
        <a:graphic>
          <a:graphicData uri="http://schemas.openxmlformats.org/drawingml/2006/table">
            <a:tbl>
              <a:tblPr firstRow="1">
                <a:tableStyleId>{69012ECD-51FC-41F1-AA8D-1B2483CD663E}</a:tableStyleId>
              </a:tblPr>
              <a:tblGrid>
                <a:gridCol w="1035153">
                  <a:extLst>
                    <a:ext uri="{9D8B030D-6E8A-4147-A177-3AD203B41FA5}">
                      <a16:colId xmlns:a16="http://schemas.microsoft.com/office/drawing/2014/main" val="3619773331"/>
                    </a:ext>
                  </a:extLst>
                </a:gridCol>
                <a:gridCol w="260847">
                  <a:extLst>
                    <a:ext uri="{9D8B030D-6E8A-4147-A177-3AD203B41FA5}">
                      <a16:colId xmlns:a16="http://schemas.microsoft.com/office/drawing/2014/main" val="3533799037"/>
                    </a:ext>
                  </a:extLst>
                </a:gridCol>
                <a:gridCol w="432000">
                  <a:extLst>
                    <a:ext uri="{9D8B030D-6E8A-4147-A177-3AD203B41FA5}">
                      <a16:colId xmlns:a16="http://schemas.microsoft.com/office/drawing/2014/main" val="1795593249"/>
                    </a:ext>
                  </a:extLst>
                </a:gridCol>
              </a:tblGrid>
              <a:tr h="159124">
                <a:tc>
                  <a:txBody>
                    <a:bodyPr/>
                    <a:lstStyle/>
                    <a:p>
                      <a:pPr algn="l" fontAlgn="b"/>
                      <a:r>
                        <a:rPr lang="en-US" sz="800" b="1" u="none" strike="noStrike" dirty="0">
                          <a:solidFill>
                            <a:srgbClr val="FFFFFF"/>
                          </a:solidFill>
                          <a:effectLst/>
                        </a:rPr>
                        <a:t>CRITICAL ROLE</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VALUE (%)</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 ROLE VALUE </a:t>
                      </a:r>
                    </a:p>
                    <a:p>
                      <a:pPr algn="ctr" fontAlgn="b"/>
                      <a:r>
                        <a:rPr lang="en-US" sz="800" b="1" u="none" strike="noStrike" dirty="0">
                          <a:solidFill>
                            <a:srgbClr val="FFFFFF"/>
                          </a:solidFill>
                          <a:effectLst/>
                        </a:rPr>
                        <a:t>(USD)</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4203797260"/>
                  </a:ext>
                </a:extLst>
              </a:tr>
              <a:tr h="159124">
                <a:tc>
                  <a:txBody>
                    <a:bodyPr/>
                    <a:lstStyle/>
                    <a:p>
                      <a:pPr algn="l" rtl="0" fontAlgn="ctr"/>
                      <a:r>
                        <a:rPr lang="en-US" sz="800" b="0" u="none" strike="noStrike" dirty="0">
                          <a:solidFill>
                            <a:srgbClr val="1D1D1D"/>
                          </a:solidFill>
                          <a:effectLst/>
                        </a:rPr>
                        <a:t>Head of AgTech</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198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20982108"/>
                  </a:ext>
                </a:extLst>
              </a:tr>
              <a:tr h="159124">
                <a:tc>
                  <a:txBody>
                    <a:bodyPr/>
                    <a:lstStyle/>
                    <a:p>
                      <a:pPr algn="l" rtl="0" fontAlgn="ctr"/>
                      <a:r>
                        <a:rPr lang="en-US" sz="800" b="0" u="none" strike="noStrike" dirty="0">
                          <a:solidFill>
                            <a:srgbClr val="1D1D1D"/>
                          </a:solidFill>
                          <a:effectLst/>
                        </a:rPr>
                        <a:t>Chief Farming Officer</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165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578004048"/>
                  </a:ext>
                </a:extLst>
              </a:tr>
              <a:tr h="168484">
                <a:tc>
                  <a:txBody>
                    <a:bodyPr/>
                    <a:lstStyle/>
                    <a:p>
                      <a:pPr algn="l" rtl="0" fontAlgn="ctr"/>
                      <a:r>
                        <a:rPr lang="en-US" sz="800" b="0" u="none" strike="noStrike" dirty="0">
                          <a:solidFill>
                            <a:srgbClr val="1D1D1D"/>
                          </a:solidFill>
                          <a:effectLst/>
                        </a:rPr>
                        <a:t>Head of Strategic Reserves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132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30703275"/>
                  </a:ext>
                </a:extLst>
              </a:tr>
              <a:tr h="159124">
                <a:tc>
                  <a:txBody>
                    <a:bodyPr/>
                    <a:lstStyle/>
                    <a:p>
                      <a:pPr algn="l" rtl="0" fontAlgn="ctr"/>
                      <a:r>
                        <a:rPr lang="en-US" sz="800" b="0" u="none" strike="noStrike" dirty="0">
                          <a:solidFill>
                            <a:srgbClr val="00C27A"/>
                          </a:solidFill>
                          <a:effectLst/>
                        </a:rPr>
                        <a:t>Head of Innovation (Distr/Food Svcs)</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15%</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99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79873330"/>
                  </a:ext>
                </a:extLst>
              </a:tr>
              <a:tr h="308888">
                <a:tc>
                  <a:txBody>
                    <a:bodyPr/>
                    <a:lstStyle/>
                    <a:p>
                      <a:pPr algn="l" rtl="0" fontAlgn="b"/>
                      <a:r>
                        <a:rPr lang="en-US" sz="800" b="0" u="none" strike="noStrike" dirty="0">
                          <a:solidFill>
                            <a:srgbClr val="00C27A"/>
                          </a:solidFill>
                          <a:effectLst/>
                        </a:rPr>
                        <a:t>Business Development Head (R&amp;D)</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dirty="0">
                          <a:solidFill>
                            <a:srgbClr val="00C27A"/>
                          </a:solidFill>
                          <a:effectLst/>
                        </a:rPr>
                        <a:t>10%</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 66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084081352"/>
                  </a:ext>
                </a:extLst>
              </a:tr>
            </a:tbl>
          </a:graphicData>
        </a:graphic>
      </p:graphicFrame>
      <p:graphicFrame>
        <p:nvGraphicFramePr>
          <p:cNvPr id="20" name="Table 19">
            <a:extLst>
              <a:ext uri="{FF2B5EF4-FFF2-40B4-BE49-F238E27FC236}">
                <a16:creationId xmlns:a16="http://schemas.microsoft.com/office/drawing/2014/main" id="{DE1CE250-15FD-6452-6D44-3993485C16D9}"/>
              </a:ext>
            </a:extLst>
          </p:cNvPr>
          <p:cNvGraphicFramePr>
            <a:graphicFrameLocks noGrp="1"/>
          </p:cNvGraphicFramePr>
          <p:nvPr>
            <p:extLst>
              <p:ext uri="{D42A27DB-BD31-4B8C-83A1-F6EECF244321}">
                <p14:modId xmlns:p14="http://schemas.microsoft.com/office/powerpoint/2010/main" val="368673778"/>
              </p:ext>
            </p:extLst>
          </p:nvPr>
        </p:nvGraphicFramePr>
        <p:xfrm>
          <a:off x="6262053" y="2524059"/>
          <a:ext cx="1728000" cy="1421697"/>
        </p:xfrm>
        <a:graphic>
          <a:graphicData uri="http://schemas.openxmlformats.org/drawingml/2006/table">
            <a:tbl>
              <a:tblPr firstRow="1">
                <a:tableStyleId>{69012ECD-51FC-41F1-AA8D-1B2483CD663E}</a:tableStyleId>
              </a:tblPr>
              <a:tblGrid>
                <a:gridCol w="833564">
                  <a:extLst>
                    <a:ext uri="{9D8B030D-6E8A-4147-A177-3AD203B41FA5}">
                      <a16:colId xmlns:a16="http://schemas.microsoft.com/office/drawing/2014/main" val="691513741"/>
                    </a:ext>
                  </a:extLst>
                </a:gridCol>
                <a:gridCol w="334297">
                  <a:extLst>
                    <a:ext uri="{9D8B030D-6E8A-4147-A177-3AD203B41FA5}">
                      <a16:colId xmlns:a16="http://schemas.microsoft.com/office/drawing/2014/main" val="1047493885"/>
                    </a:ext>
                  </a:extLst>
                </a:gridCol>
                <a:gridCol w="560139">
                  <a:extLst>
                    <a:ext uri="{9D8B030D-6E8A-4147-A177-3AD203B41FA5}">
                      <a16:colId xmlns:a16="http://schemas.microsoft.com/office/drawing/2014/main" val="2728748207"/>
                    </a:ext>
                  </a:extLst>
                </a:gridCol>
              </a:tblGrid>
              <a:tr h="148390">
                <a:tc>
                  <a:txBody>
                    <a:bodyPr/>
                    <a:lstStyle/>
                    <a:p>
                      <a:pPr algn="l" fontAlgn="b"/>
                      <a:r>
                        <a:rPr lang="en-US" sz="800" b="1" u="none" strike="noStrike" dirty="0">
                          <a:solidFill>
                            <a:srgbClr val="FFFFFF"/>
                          </a:solidFill>
                          <a:effectLst/>
                        </a:rPr>
                        <a:t>CRITICAL ROLE</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VALUE (%)</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tc>
                  <a:txBody>
                    <a:bodyPr/>
                    <a:lstStyle/>
                    <a:p>
                      <a:pPr algn="ctr" fontAlgn="b"/>
                      <a:r>
                        <a:rPr lang="en-US" sz="800" b="1" u="none" strike="noStrike" dirty="0">
                          <a:solidFill>
                            <a:srgbClr val="FFFFFF"/>
                          </a:solidFill>
                          <a:effectLst/>
                        </a:rPr>
                        <a:t> ROLE VALUE </a:t>
                      </a:r>
                    </a:p>
                    <a:p>
                      <a:pPr algn="ctr" fontAlgn="b"/>
                      <a:r>
                        <a:rPr lang="en-US" sz="800" b="1" u="none" strike="noStrike" dirty="0">
                          <a:solidFill>
                            <a:srgbClr val="FFFFFF"/>
                          </a:solidFill>
                          <a:effectLst/>
                        </a:rPr>
                        <a:t>(USD)</a:t>
                      </a:r>
                      <a:endPar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endParaRPr>
                    </a:p>
                  </a:txBody>
                  <a:tcPr marL="36000" marR="36000" marT="36000" marB="36000" anchor="ctr"/>
                </a:tc>
                <a:extLst>
                  <a:ext uri="{0D108BD9-81ED-4DB2-BD59-A6C34878D82A}">
                    <a16:rowId xmlns:a16="http://schemas.microsoft.com/office/drawing/2014/main" val="3013936349"/>
                  </a:ext>
                </a:extLst>
              </a:tr>
              <a:tr h="157665">
                <a:tc>
                  <a:txBody>
                    <a:bodyPr/>
                    <a:lstStyle/>
                    <a:p>
                      <a:pPr algn="l" rtl="0" fontAlgn="ctr"/>
                      <a:r>
                        <a:rPr lang="en-US" sz="800" b="0" u="none" strike="noStrike" dirty="0">
                          <a:solidFill>
                            <a:srgbClr val="1D1D1D"/>
                          </a:solidFill>
                          <a:effectLst/>
                        </a:rPr>
                        <a:t>Director of M&amp;A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40%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132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3861918"/>
                  </a:ext>
                </a:extLst>
              </a:tr>
              <a:tr h="166939">
                <a:tc>
                  <a:txBody>
                    <a:bodyPr/>
                    <a:lstStyle/>
                    <a:p>
                      <a:pPr algn="l" rtl="0" fontAlgn="ctr"/>
                      <a:r>
                        <a:rPr lang="en-US" sz="800" b="0" u="none" strike="noStrike" dirty="0">
                          <a:solidFill>
                            <a:srgbClr val="00C27A"/>
                          </a:solidFill>
                          <a:effectLst/>
                        </a:rPr>
                        <a:t>Head of Integration</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25%</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00C27A"/>
                          </a:solidFill>
                          <a:effectLst/>
                        </a:rPr>
                        <a:t>83 </a:t>
                      </a:r>
                      <a:endPar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003568642"/>
                  </a:ext>
                </a:extLst>
              </a:tr>
              <a:tr h="157665">
                <a:tc>
                  <a:txBody>
                    <a:bodyPr/>
                    <a:lstStyle/>
                    <a:p>
                      <a:pPr algn="l" rtl="0" fontAlgn="ctr"/>
                      <a:r>
                        <a:rPr lang="en-US" sz="800" b="0" u="none" strike="noStrike" dirty="0">
                          <a:solidFill>
                            <a:srgbClr val="1D1D1D"/>
                          </a:solidFill>
                          <a:effectLst/>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1971092670"/>
                  </a:ext>
                </a:extLst>
              </a:tr>
              <a:tr h="157665">
                <a:tc>
                  <a:txBody>
                    <a:bodyPr/>
                    <a:lstStyle/>
                    <a:p>
                      <a:pPr algn="l" fontAlgn="ctr"/>
                      <a:r>
                        <a:rPr lang="en-US" sz="800" b="0" u="none" strike="noStrike" dirty="0">
                          <a:solidFill>
                            <a:srgbClr val="1D1D1D"/>
                          </a:solidFill>
                          <a:effectLst/>
                        </a:rPr>
                        <a:t>Head of Local –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33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462351984"/>
                  </a:ext>
                </a:extLst>
              </a:tr>
              <a:tr h="267102">
                <a:tc>
                  <a:txBody>
                    <a:bodyPr/>
                    <a:lstStyle/>
                    <a:p>
                      <a:pPr algn="l" rtl="0" fontAlgn="b"/>
                      <a:r>
                        <a:rPr lang="en-US" sz="800" b="0" u="none" strike="noStrike" dirty="0">
                          <a:solidFill>
                            <a:srgbClr val="1D1D1D"/>
                          </a:solidFill>
                          <a:effectLst/>
                        </a:rPr>
                        <a:t>Head of Strategy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33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93447971"/>
                  </a:ext>
                </a:extLst>
              </a:tr>
            </a:tbl>
          </a:graphicData>
        </a:graphic>
      </p:graphicFrame>
      <p:graphicFrame>
        <p:nvGraphicFramePr>
          <p:cNvPr id="21" name="Table 20">
            <a:extLst>
              <a:ext uri="{FF2B5EF4-FFF2-40B4-BE49-F238E27FC236}">
                <a16:creationId xmlns:a16="http://schemas.microsoft.com/office/drawing/2014/main" id="{FE1F3A24-ECB6-E306-FC88-7F4DBC1852CC}"/>
              </a:ext>
            </a:extLst>
          </p:cNvPr>
          <p:cNvGraphicFramePr>
            <a:graphicFrameLocks noGrp="1"/>
          </p:cNvGraphicFramePr>
          <p:nvPr>
            <p:extLst>
              <p:ext uri="{D42A27DB-BD31-4B8C-83A1-F6EECF244321}">
                <p14:modId xmlns:p14="http://schemas.microsoft.com/office/powerpoint/2010/main" val="1808793325"/>
              </p:ext>
            </p:extLst>
          </p:nvPr>
        </p:nvGraphicFramePr>
        <p:xfrm>
          <a:off x="8146597" y="2524059"/>
          <a:ext cx="1728000" cy="2175120"/>
        </p:xfrm>
        <a:graphic>
          <a:graphicData uri="http://schemas.openxmlformats.org/drawingml/2006/table">
            <a:tbl>
              <a:tblPr firstRow="1">
                <a:tableStyleId>{69012ECD-51FC-41F1-AA8D-1B2483CD663E}</a:tableStyleId>
              </a:tblPr>
              <a:tblGrid>
                <a:gridCol w="936000">
                  <a:extLst>
                    <a:ext uri="{9D8B030D-6E8A-4147-A177-3AD203B41FA5}">
                      <a16:colId xmlns:a16="http://schemas.microsoft.com/office/drawing/2014/main" val="2008388853"/>
                    </a:ext>
                  </a:extLst>
                </a:gridCol>
                <a:gridCol w="360000">
                  <a:extLst>
                    <a:ext uri="{9D8B030D-6E8A-4147-A177-3AD203B41FA5}">
                      <a16:colId xmlns:a16="http://schemas.microsoft.com/office/drawing/2014/main" val="3799900447"/>
                    </a:ext>
                  </a:extLst>
                </a:gridCol>
                <a:gridCol w="432000">
                  <a:extLst>
                    <a:ext uri="{9D8B030D-6E8A-4147-A177-3AD203B41FA5}">
                      <a16:colId xmlns:a16="http://schemas.microsoft.com/office/drawing/2014/main" val="2807346443"/>
                    </a:ext>
                  </a:extLst>
                </a:gridCol>
              </a:tblGrid>
              <a:tr h="153864">
                <a:tc>
                  <a:txBody>
                    <a:bodyPr/>
                    <a:lstStyle/>
                    <a:p>
                      <a:pPr algn="l" fontAlgn="b"/>
                      <a:r>
                        <a:rPr lang="en-US" sz="600" b="1" u="none" strike="noStrike" dirty="0">
                          <a:solidFill>
                            <a:srgbClr val="FFFFFF"/>
                          </a:solidFill>
                          <a:effectLst/>
                        </a:rPr>
                        <a:t>CRITICAL ROLE</a:t>
                      </a:r>
                      <a:endParaRPr lang="en-US" sz="6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600" b="1" u="none" strike="noStrike" dirty="0">
                          <a:solidFill>
                            <a:srgbClr val="FFFFFF"/>
                          </a:solidFill>
                          <a:effectLst/>
                        </a:rPr>
                        <a:t>VALUE (%)</a:t>
                      </a:r>
                      <a:endParaRPr lang="en-US" sz="6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600" b="1" u="none" strike="noStrike" dirty="0">
                          <a:solidFill>
                            <a:srgbClr val="FFFFFF"/>
                          </a:solidFill>
                          <a:effectLst/>
                        </a:rPr>
                        <a:t> ROLE VALUE </a:t>
                      </a:r>
                    </a:p>
                    <a:p>
                      <a:pPr algn="ctr" fontAlgn="b"/>
                      <a:r>
                        <a:rPr lang="en-US" sz="600" b="1" u="none" strike="noStrike" dirty="0">
                          <a:solidFill>
                            <a:srgbClr val="FFFFFF"/>
                          </a:solidFill>
                          <a:effectLst/>
                        </a:rPr>
                        <a:t>(USD)</a:t>
                      </a:r>
                      <a:endParaRPr lang="en-US" sz="600" b="1" i="0" u="none" strike="noStrike" dirty="0">
                        <a:solidFill>
                          <a:srgbClr val="FFFFFF"/>
                        </a:solidFill>
                        <a:effectLst/>
                        <a:latin typeface="Arial" pitchFamily="34" charset="0"/>
                      </a:endParaRPr>
                    </a:p>
                  </a:txBody>
                  <a:tcPr marL="36000" marR="36000" marT="36000" marB="36000" anchor="ctr"/>
                </a:tc>
                <a:extLst>
                  <a:ext uri="{0D108BD9-81ED-4DB2-BD59-A6C34878D82A}">
                    <a16:rowId xmlns:a16="http://schemas.microsoft.com/office/drawing/2014/main" val="248211374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78793377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4048172198"/>
                  </a:ext>
                </a:extLst>
              </a:tr>
              <a:tr h="173097">
                <a:tc>
                  <a:txBody>
                    <a:bodyPr/>
                    <a:lstStyle/>
                    <a:p>
                      <a:pPr algn="l" rtl="0" fontAlgn="b"/>
                      <a:endParaRPr lang="en-US" sz="600" b="0" i="0" u="none" strike="noStrike" dirty="0">
                        <a:solidFill>
                          <a:srgbClr val="1D1D1D"/>
                        </a:solidFill>
                        <a:effectLst/>
                        <a:latin typeface="Arial" pitchFamily="34" charset="0"/>
                      </a:endParaRPr>
                    </a:p>
                  </a:txBody>
                  <a:tcPr marL="45720" marR="45720" anchor="b"/>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2647250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3983185301"/>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23353516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61045207"/>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189082384"/>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91170619"/>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tc>
                <a:tc>
                  <a:txBody>
                    <a:bodyPr/>
                    <a:lstStyle/>
                    <a:p>
                      <a:pPr algn="r" fontAlgn="ctr"/>
                      <a:endParaRPr lang="en-US" sz="600" b="0" i="0" u="none" strike="noStrike" dirty="0">
                        <a:solidFill>
                          <a:srgbClr val="1D1D1D"/>
                        </a:solidFill>
                        <a:effectLst/>
                        <a:latin typeface="Arial" pitchFamily="34" charset="0"/>
                      </a:endParaRPr>
                    </a:p>
                  </a:txBody>
                  <a:tcPr marL="45720" marR="45720" anchor="ctr"/>
                </a:tc>
                <a:extLst>
                  <a:ext uri="{0D108BD9-81ED-4DB2-BD59-A6C34878D82A}">
                    <a16:rowId xmlns:a16="http://schemas.microsoft.com/office/drawing/2014/main" val="1709902184"/>
                  </a:ext>
                </a:extLst>
              </a:tr>
              <a:tr h="163480">
                <a:tc>
                  <a:txBody>
                    <a:bodyPr/>
                    <a:lstStyle/>
                    <a:p>
                      <a:pPr algn="l" fontAlgn="ctr"/>
                      <a:endParaRPr lang="en-US" sz="600" b="1" i="0" u="none" strike="noStrike" dirty="0">
                        <a:solidFill>
                          <a:srgbClr val="3B3B3B"/>
                        </a:solidFill>
                        <a:effectLst/>
                        <a:latin typeface="Arial" pitchFamily="34" charset="0"/>
                      </a:endParaRPr>
                    </a:p>
                  </a:txBody>
                  <a:tcPr marL="45720" marR="45720" anchor="ctr"/>
                </a:tc>
                <a:tc>
                  <a:txBody>
                    <a:bodyPr/>
                    <a:lstStyle/>
                    <a:p>
                      <a:pPr algn="r" fontAlgn="ctr"/>
                      <a:endParaRPr lang="en-US" sz="600" b="1" i="0" u="none" strike="noStrike" dirty="0">
                        <a:solidFill>
                          <a:srgbClr val="3B3B3B"/>
                        </a:solidFill>
                        <a:effectLst/>
                        <a:latin typeface="Arial" pitchFamily="34" charset="0"/>
                      </a:endParaRPr>
                    </a:p>
                  </a:txBody>
                  <a:tcPr marL="45720" marR="45720" anchor="ctr"/>
                </a:tc>
                <a:tc>
                  <a:txBody>
                    <a:bodyPr/>
                    <a:lstStyle/>
                    <a:p>
                      <a:pPr algn="r" fontAlgn="ctr"/>
                      <a:endParaRPr lang="en-US" sz="600" b="1" i="0" u="none" strike="noStrike" dirty="0">
                        <a:solidFill>
                          <a:srgbClr val="585858"/>
                        </a:solidFill>
                        <a:effectLst/>
                        <a:latin typeface="Arial" pitchFamily="34" charset="0"/>
                      </a:endParaRPr>
                    </a:p>
                  </a:txBody>
                  <a:tcPr marL="45720" marR="45720" anchor="ctr"/>
                </a:tc>
                <a:extLst>
                  <a:ext uri="{0D108BD9-81ED-4DB2-BD59-A6C34878D82A}">
                    <a16:rowId xmlns:a16="http://schemas.microsoft.com/office/drawing/2014/main" val="3965296016"/>
                  </a:ext>
                </a:extLst>
              </a:tr>
            </a:tbl>
          </a:graphicData>
        </a:graphic>
      </p:graphicFrame>
      <p:graphicFrame>
        <p:nvGraphicFramePr>
          <p:cNvPr id="22" name="Table 21">
            <a:extLst>
              <a:ext uri="{FF2B5EF4-FFF2-40B4-BE49-F238E27FC236}">
                <a16:creationId xmlns:a16="http://schemas.microsoft.com/office/drawing/2014/main" id="{5D50BE32-7D49-EADA-3DA7-8C64238B4BA8}"/>
              </a:ext>
            </a:extLst>
          </p:cNvPr>
          <p:cNvGraphicFramePr>
            <a:graphicFrameLocks noGrp="1"/>
          </p:cNvGraphicFramePr>
          <p:nvPr>
            <p:extLst>
              <p:ext uri="{D42A27DB-BD31-4B8C-83A1-F6EECF244321}">
                <p14:modId xmlns:p14="http://schemas.microsoft.com/office/powerpoint/2010/main" val="1900771487"/>
              </p:ext>
            </p:extLst>
          </p:nvPr>
        </p:nvGraphicFramePr>
        <p:xfrm>
          <a:off x="10031141" y="2527604"/>
          <a:ext cx="1728000" cy="2411042"/>
        </p:xfrm>
        <a:graphic>
          <a:graphicData uri="http://schemas.openxmlformats.org/drawingml/2006/table">
            <a:tbl>
              <a:tblPr firstRow="1">
                <a:tableStyleId>{69012ECD-51FC-41F1-AA8D-1B2483CD663E}</a:tableStyleId>
              </a:tblPr>
              <a:tblGrid>
                <a:gridCol w="936000">
                  <a:extLst>
                    <a:ext uri="{9D8B030D-6E8A-4147-A177-3AD203B41FA5}">
                      <a16:colId xmlns:a16="http://schemas.microsoft.com/office/drawing/2014/main" val="1004205274"/>
                    </a:ext>
                  </a:extLst>
                </a:gridCol>
                <a:gridCol w="360000">
                  <a:extLst>
                    <a:ext uri="{9D8B030D-6E8A-4147-A177-3AD203B41FA5}">
                      <a16:colId xmlns:a16="http://schemas.microsoft.com/office/drawing/2014/main" val="1216075518"/>
                    </a:ext>
                  </a:extLst>
                </a:gridCol>
                <a:gridCol w="432000">
                  <a:extLst>
                    <a:ext uri="{9D8B030D-6E8A-4147-A177-3AD203B41FA5}">
                      <a16:colId xmlns:a16="http://schemas.microsoft.com/office/drawing/2014/main" val="3887552197"/>
                    </a:ext>
                  </a:extLst>
                </a:gridCol>
              </a:tblGrid>
              <a:tr h="179065">
                <a:tc>
                  <a:txBody>
                    <a:bodyPr/>
                    <a:lstStyle/>
                    <a:p>
                      <a:pPr algn="l" fontAlgn="b"/>
                      <a:r>
                        <a:rPr lang="en-US" sz="600" b="1" u="none" strike="noStrike" dirty="0">
                          <a:solidFill>
                            <a:srgbClr val="FFFFFF"/>
                          </a:solidFill>
                          <a:effectLst/>
                        </a:rPr>
                        <a:t>CRITICAL ROLE</a:t>
                      </a:r>
                      <a:endParaRPr lang="en-US" sz="6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600" b="1" u="none" strike="noStrike" dirty="0">
                          <a:solidFill>
                            <a:srgbClr val="FFFFFF"/>
                          </a:solidFill>
                          <a:effectLst/>
                        </a:rPr>
                        <a:t>VALUE (%)</a:t>
                      </a:r>
                      <a:endParaRPr lang="en-US" sz="600" b="1" i="0" u="none" strike="noStrike" dirty="0">
                        <a:solidFill>
                          <a:srgbClr val="FFFFFF"/>
                        </a:solidFill>
                        <a:effectLst/>
                        <a:latin typeface="Arial" pitchFamily="34" charset="0"/>
                      </a:endParaRPr>
                    </a:p>
                  </a:txBody>
                  <a:tcPr marL="36000" marR="36000" marT="36000" marB="36000" anchor="ctr"/>
                </a:tc>
                <a:tc>
                  <a:txBody>
                    <a:bodyPr/>
                    <a:lstStyle/>
                    <a:p>
                      <a:pPr algn="ctr" fontAlgn="b"/>
                      <a:r>
                        <a:rPr lang="en-US" sz="600" b="1" u="none" strike="noStrike" dirty="0">
                          <a:solidFill>
                            <a:srgbClr val="FFFFFF"/>
                          </a:solidFill>
                          <a:effectLst/>
                        </a:rPr>
                        <a:t> ROLE VALUE </a:t>
                      </a:r>
                    </a:p>
                    <a:p>
                      <a:pPr algn="ctr" fontAlgn="b"/>
                      <a:r>
                        <a:rPr lang="en-US" sz="600" b="1" u="none" strike="noStrike" dirty="0">
                          <a:solidFill>
                            <a:srgbClr val="FFFFFF"/>
                          </a:solidFill>
                          <a:effectLst/>
                        </a:rPr>
                        <a:t>(USD)</a:t>
                      </a:r>
                      <a:endParaRPr lang="en-US" sz="600" b="1" i="0" u="none" strike="noStrike" dirty="0">
                        <a:solidFill>
                          <a:srgbClr val="FFFFFF"/>
                        </a:solidFill>
                        <a:effectLst/>
                        <a:latin typeface="Arial" pitchFamily="34" charset="0"/>
                      </a:endParaRPr>
                    </a:p>
                  </a:txBody>
                  <a:tcPr marL="36000" marR="36000" marT="36000" marB="36000" anchor="ctr"/>
                </a:tc>
                <a:extLst>
                  <a:ext uri="{0D108BD9-81ED-4DB2-BD59-A6C34878D82A}">
                    <a16:rowId xmlns:a16="http://schemas.microsoft.com/office/drawing/2014/main" val="3257219610"/>
                  </a:ext>
                </a:extLst>
              </a:tr>
              <a:tr h="175874">
                <a:tc>
                  <a:txBody>
                    <a:bodyPr/>
                    <a:lstStyle/>
                    <a:p>
                      <a:pPr algn="l" rtl="0" fontAlgn="ctr"/>
                      <a:r>
                        <a:rPr lang="en-US" sz="800" b="0" u="none" strike="noStrike" dirty="0">
                          <a:solidFill>
                            <a:srgbClr val="1D1D1D"/>
                          </a:solidFill>
                          <a:effectLst/>
                        </a:rPr>
                        <a:t>Head of FP&amp;A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20%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99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685616431"/>
                  </a:ext>
                </a:extLst>
              </a:tr>
              <a:tr h="179065">
                <a:tc>
                  <a:txBody>
                    <a:bodyPr/>
                    <a:lstStyle/>
                    <a:p>
                      <a:pPr algn="l" rtl="0" fontAlgn="ctr"/>
                      <a:r>
                        <a:rPr lang="en-US" sz="800" b="0" u="none" strike="noStrike" dirty="0">
                          <a:solidFill>
                            <a:srgbClr val="1D1D1D"/>
                          </a:solidFill>
                          <a:effectLst/>
                        </a:rPr>
                        <a:t>Director IT (Digital Foundations)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74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4218840644"/>
                  </a:ext>
                </a:extLst>
              </a:tr>
              <a:tr h="189598">
                <a:tc>
                  <a:txBody>
                    <a:bodyPr/>
                    <a:lstStyle/>
                    <a:p>
                      <a:pPr algn="l" fontAlgn="ctr"/>
                      <a:r>
                        <a:rPr lang="en-US" sz="800" b="0" u="none" strike="noStrike" dirty="0">
                          <a:solidFill>
                            <a:srgbClr val="7A828D"/>
                          </a:solidFill>
                          <a:effectLst/>
                        </a:rPr>
                        <a:t>VP Treasury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7A828D"/>
                          </a:solidFill>
                          <a:effectLst/>
                        </a:rPr>
                        <a:t>15%</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7A828D"/>
                          </a:solidFill>
                          <a:effectLst/>
                        </a:rPr>
                        <a:t>74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876434280"/>
                  </a:ext>
                </a:extLst>
              </a:tr>
              <a:tr h="179065">
                <a:tc>
                  <a:txBody>
                    <a:bodyPr/>
                    <a:lstStyle/>
                    <a:p>
                      <a:pPr algn="l" fontAlgn="ctr"/>
                      <a:r>
                        <a:rPr lang="en-US" sz="800" b="0" u="none" strike="noStrike" dirty="0">
                          <a:solidFill>
                            <a:srgbClr val="1D1D1D"/>
                          </a:solidFill>
                          <a:effectLst/>
                        </a:rPr>
                        <a:t>Head of Finance (cost control)</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fontAlgn="ctr"/>
                      <a:r>
                        <a:rPr lang="en-US" sz="800" b="0" u="none" strike="noStrike" dirty="0">
                          <a:solidFill>
                            <a:srgbClr val="1D1D1D"/>
                          </a:solidFill>
                          <a:effectLst/>
                        </a:rPr>
                        <a:t>50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166081252"/>
                  </a:ext>
                </a:extLst>
              </a:tr>
              <a:tr h="179065">
                <a:tc>
                  <a:txBody>
                    <a:bodyPr/>
                    <a:lstStyle/>
                    <a:p>
                      <a:pPr algn="l" rtl="0" fontAlgn="b"/>
                      <a:r>
                        <a:rPr lang="en-US" sz="800" b="0" u="none" strike="noStrike" dirty="0">
                          <a:solidFill>
                            <a:srgbClr val="1D1D1D"/>
                          </a:solidFill>
                          <a:effectLst/>
                        </a:rPr>
                        <a:t>Head of Governance (Finance)</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670187858"/>
                  </a:ext>
                </a:extLst>
              </a:tr>
              <a:tr h="179065">
                <a:tc>
                  <a:txBody>
                    <a:bodyPr/>
                    <a:lstStyle/>
                    <a:p>
                      <a:pPr algn="l" rtl="0" fontAlgn="ctr"/>
                      <a:r>
                        <a:rPr lang="en-US" sz="800" b="0" u="none" strike="noStrike" dirty="0">
                          <a:solidFill>
                            <a:srgbClr val="1D1D1D"/>
                          </a:solidFill>
                          <a:effectLst/>
                        </a:rPr>
                        <a:t>Director ESG</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800460099"/>
                  </a:ext>
                </a:extLst>
              </a:tr>
              <a:tr h="179065">
                <a:tc>
                  <a:txBody>
                    <a:bodyPr/>
                    <a:lstStyle/>
                    <a:p>
                      <a:pPr algn="l" rtl="0" fontAlgn="ctr"/>
                      <a:r>
                        <a:rPr lang="en-US" sz="800" b="0" u="none" strike="noStrike" dirty="0">
                          <a:solidFill>
                            <a:srgbClr val="1D1D1D"/>
                          </a:solidFill>
                          <a:effectLst/>
                        </a:rPr>
                        <a:t>Head of Talent Acquisition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50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391581013"/>
                  </a:ext>
                </a:extLst>
              </a:tr>
              <a:tr h="179065">
                <a:tc>
                  <a:txBody>
                    <a:bodyPr/>
                    <a:lstStyle/>
                    <a:p>
                      <a:pPr algn="l" rtl="0" fontAlgn="ctr"/>
                      <a:r>
                        <a:rPr lang="en-US" sz="800" b="0" u="none" strike="noStrike" dirty="0">
                          <a:solidFill>
                            <a:srgbClr val="1D1D1D"/>
                          </a:solidFill>
                          <a:effectLst/>
                        </a:rPr>
                        <a:t>Head of Workforce Planning &amp; OD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25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2707497915"/>
                  </a:ext>
                </a:extLst>
              </a:tr>
              <a:tr h="179065">
                <a:tc>
                  <a:txBody>
                    <a:bodyPr/>
                    <a:lstStyle/>
                    <a:p>
                      <a:pPr algn="l" rtl="0" fontAlgn="ctr"/>
                      <a:r>
                        <a:rPr lang="en-US" sz="800" b="0" u="none" strike="noStrike" dirty="0">
                          <a:solidFill>
                            <a:srgbClr val="1D1D1D"/>
                          </a:solidFill>
                          <a:effectLst/>
                        </a:rPr>
                        <a:t>Head of Strategy </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algn="ctr" rtl="0" fontAlgn="ctr"/>
                      <a:r>
                        <a:rPr lang="en-US" sz="800" b="0" u="none" strike="noStrike" dirty="0">
                          <a:solidFill>
                            <a:srgbClr val="1D1D1D"/>
                          </a:solidFill>
                          <a:effectLst/>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solidFill>
                            <a:srgbClr val="1D1D1D"/>
                          </a:solidFill>
                          <a:effectLst/>
                          <a:uLnTx/>
                          <a:uFillTx/>
                        </a:rPr>
                        <a:t>25 </a:t>
                      </a:r>
                      <a:endPar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marL="0" marR="0" marT="0" marB="0" anchor="ctr"/>
                </a:tc>
                <a:extLst>
                  <a:ext uri="{0D108BD9-81ED-4DB2-BD59-A6C34878D82A}">
                    <a16:rowId xmlns:a16="http://schemas.microsoft.com/office/drawing/2014/main" val="3834249607"/>
                  </a:ext>
                </a:extLst>
              </a:tr>
            </a:tbl>
          </a:graphicData>
        </a:graphic>
      </p:graphicFrame>
      <p:sp>
        <p:nvSpPr>
          <p:cNvPr id="23" name="Rectangle: Rounded Corners 50">
            <a:extLst>
              <a:ext uri="{FF2B5EF4-FFF2-40B4-BE49-F238E27FC236}">
                <a16:creationId xmlns:a16="http://schemas.microsoft.com/office/drawing/2014/main" id="{7B4940E3-5D26-05E5-373A-90C295EE9293}"/>
              </a:ext>
            </a:extLst>
          </p:cNvPr>
          <p:cNvSpPr/>
          <p:nvPr/>
        </p:nvSpPr>
        <p:spPr>
          <a:xfrm>
            <a:off x="2724396" y="5115274"/>
            <a:ext cx="6918769" cy="1342521"/>
          </a:xfrm>
          <a:prstGeom prst="roundRect">
            <a:avLst>
              <a:gd name="adj" fmla="val 5743"/>
            </a:avLst>
          </a:prstGeom>
          <a:noFill/>
          <a:ln>
            <a:solidFill>
              <a:schemeClr val="accent1"/>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000" b="1" kern="1200" spc="-10" dirty="0">
                <a:solidFill>
                  <a:srgbClr val="281A42"/>
                </a:solidFill>
                <a:latin typeface="Segoe UI" pitchFamily="34" charset="0"/>
              </a:rPr>
              <a:t> Emerging Hotspot Risks</a:t>
            </a:r>
          </a:p>
          <a:p>
            <a:pPr marL="298450" indent="-285750">
              <a:spcBef>
                <a:spcPts val="100"/>
              </a:spcBef>
              <a:buBlip>
                <a:blip r:embed="rId2"/>
              </a:buBlip>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FOODSERVICE: Top 2 roles assessed as “Red” and 5 new roles. Significant value creation will come from identified X </a:t>
            </a:r>
            <a:r>
              <a:rPr lang="en-GB" sz="1000" kern="0" dirty="0">
                <a:solidFill>
                  <a:srgbClr val="1D1D1D"/>
                </a:solidFill>
                <a:latin typeface="Arial" panose="020B0604020202020204" pitchFamily="34" charset="0"/>
                <a:cs typeface="Arial" panose="020B0604020202020204" pitchFamily="34" charset="0"/>
              </a:rPr>
              <a:t>roles (~35-40%) which have not been assessed.</a:t>
            </a:r>
          </a:p>
          <a:p>
            <a:pPr marL="298450" indent="-285750">
              <a:spcBef>
                <a:spcPts val="100"/>
              </a:spcBef>
              <a:buBlip>
                <a:blip r:embed="rId2"/>
              </a:buBlip>
              <a:defRPr/>
            </a:pPr>
            <a:r>
              <a:rPr lang="en-GB" sz="1000" kern="0" dirty="0">
                <a:solidFill>
                  <a:srgbClr val="1D1D1D"/>
                </a:solidFill>
                <a:latin typeface="Arial" panose="020B0604020202020204" pitchFamily="34" charset="0"/>
                <a:cs typeface="Arial" panose="020B0604020202020204" pitchFamily="34" charset="0"/>
              </a:rPr>
              <a:t>F&amp;V: Top 2 roles require assessment, and the remaining roles are new</a:t>
            </a:r>
          </a:p>
          <a:p>
            <a:pPr marL="298450" indent="-285750">
              <a:spcBef>
                <a:spcPts val="100"/>
              </a:spcBef>
              <a:buBlip>
                <a:blip r:embed="rId2"/>
              </a:buBlip>
              <a:defRPr/>
            </a:pPr>
            <a:r>
              <a:rPr lang="en-GB" sz="1000" kern="0" dirty="0">
                <a:solidFill>
                  <a:srgbClr val="1D1D1D"/>
                </a:solidFill>
                <a:latin typeface="Arial" panose="020B0604020202020204" pitchFamily="34" charset="0"/>
                <a:cs typeface="Arial" panose="020B0604020202020204" pitchFamily="34" charset="0"/>
              </a:rPr>
              <a:t>FARMING &amp; FOOD: Top 2 roles are “amber” and the third role needs to be broadened. The remaining roles are new</a:t>
            </a:r>
          </a:p>
          <a:p>
            <a:pPr marL="298450" indent="-285750">
              <a:spcBef>
                <a:spcPts val="100"/>
              </a:spcBef>
              <a:buBlip>
                <a:blip r:embed="rId2"/>
              </a:buBlip>
              <a:defRPr/>
            </a:pPr>
            <a:r>
              <a:rPr lang="en-GB" sz="1000" kern="0" dirty="0">
                <a:solidFill>
                  <a:srgbClr val="1D1D1D"/>
                </a:solidFill>
                <a:latin typeface="Arial" panose="020B0604020202020204" pitchFamily="34" charset="0"/>
                <a:cs typeface="Arial" panose="020B0604020202020204" pitchFamily="34" charset="0"/>
              </a:rPr>
              <a:t>INORGANIC GROWTH: Top role is “amber” and the second role is new and may be under-resourced</a:t>
            </a:r>
          </a:p>
        </p:txBody>
      </p:sp>
      <p:grpSp>
        <p:nvGrpSpPr>
          <p:cNvPr id="24" name="Group 23">
            <a:extLst>
              <a:ext uri="{FF2B5EF4-FFF2-40B4-BE49-F238E27FC236}">
                <a16:creationId xmlns:a16="http://schemas.microsoft.com/office/drawing/2014/main" id="{B06B51AD-4BD0-29AE-4760-F1F0A6E18CB5}"/>
              </a:ext>
            </a:extLst>
          </p:cNvPr>
          <p:cNvGrpSpPr/>
          <p:nvPr/>
        </p:nvGrpSpPr>
        <p:grpSpPr>
          <a:xfrm>
            <a:off x="1073773" y="6046323"/>
            <a:ext cx="797296" cy="180000"/>
            <a:chOff x="5456868" y="6365965"/>
            <a:chExt cx="797296" cy="180000"/>
          </a:xfrm>
        </p:grpSpPr>
        <p:sp>
          <p:nvSpPr>
            <p:cNvPr id="25" name="TextBox 24">
              <a:extLst>
                <a:ext uri="{FF2B5EF4-FFF2-40B4-BE49-F238E27FC236}">
                  <a16:creationId xmlns:a16="http://schemas.microsoft.com/office/drawing/2014/main" id="{AB166FCC-3D28-EC2D-DAE6-9D3F49D3824C}"/>
                </a:ext>
              </a:extLst>
            </p:cNvPr>
            <p:cNvSpPr txBox="1">
              <a:spLocks/>
            </p:cNvSpPr>
            <p:nvPr/>
          </p:nvSpPr>
          <p:spPr>
            <a:xfrm>
              <a:off x="5690868" y="6394409"/>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R="0" lvl="0" algn="l" defTabSz="914400" rtl="0" eaLnBrk="1" fontAlgn="auto" latinLnBrk="0" hangingPunct="1">
                <a:lnSpc>
                  <a:spcPct val="100000"/>
                </a:lnSpc>
                <a:spcBef>
                  <a:spcPts val="0"/>
                </a:spcBef>
                <a:spcAft>
                  <a:spcPts val="0"/>
                </a:spcAft>
                <a:buClrTx/>
                <a:buSzTx/>
                <a:tabLst/>
                <a:defRPr>
                  <a:solidFill>
                    <a:srgbClr val="1D1D1D"/>
                  </a:solidFill>
                </a:defRPr>
              </a:pPr>
              <a:r>
                <a:rPr kumimoji="0" lang="en-US" sz="800" u="none" strike="noStrike" kern="1200" cap="none" spc="-10" normalizeH="0" baseline="0" noProof="0" dirty="0">
                  <a:ln>
                    <a:noFill/>
                  </a:ln>
                  <a:solidFill>
                    <a:srgbClr val="1D1D1D"/>
                  </a:solidFill>
                  <a:effectLst/>
                  <a:uLnTx/>
                  <a:uFillTx/>
                  <a:latin typeface="Arial" pitchFamily="34" charset="0"/>
                  <a:ea typeface="+mn-ea"/>
                  <a:cs typeface="+mn-cs"/>
                </a:rPr>
                <a:t>New Role</a:t>
              </a:r>
            </a:p>
          </p:txBody>
        </p:sp>
        <p:sp>
          <p:nvSpPr>
            <p:cNvPr id="26" name="TextBox 25">
              <a:extLst>
                <a:ext uri="{FF2B5EF4-FFF2-40B4-BE49-F238E27FC236}">
                  <a16:creationId xmlns:a16="http://schemas.microsoft.com/office/drawing/2014/main" id="{C529A59D-6F73-862C-00E4-60A4D191F723}"/>
                </a:ext>
              </a:extLst>
            </p:cNvPr>
            <p:cNvSpPr txBox="1">
              <a:spLocks/>
            </p:cNvSpPr>
            <p:nvPr/>
          </p:nvSpPr>
          <p:spPr>
            <a:xfrm>
              <a:off x="5456868" y="6365965"/>
              <a:ext cx="180000" cy="180000"/>
            </a:xfrm>
            <a:prstGeom prst="rect">
              <a:avLst/>
            </a:prstGeom>
            <a:solidFill>
              <a:srgbClr val="00C27A"/>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80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sp>
        <p:nvSpPr>
          <p:cNvPr id="27" name="TextBox 26">
            <a:extLst>
              <a:ext uri="{FF2B5EF4-FFF2-40B4-BE49-F238E27FC236}">
                <a16:creationId xmlns:a16="http://schemas.microsoft.com/office/drawing/2014/main" id="{F416259E-53E2-611E-B25D-A92D98F5F87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56920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022DAC-81E5-797A-E68C-7C68CD6EA9DF}"/>
              </a:ext>
            </a:extLst>
          </p:cNvPr>
          <p:cNvSpPr>
            <a:spLocks noGrp="1"/>
          </p:cNvSpPr>
          <p:nvPr>
            <p:ph type="sldNum" sz="quarter" idx="4"/>
          </p:nvPr>
        </p:nvSpPr>
        <p:spPr/>
        <p:txBody>
          <a:bodyPr/>
          <a:lstStyle/>
          <a:p>
            <a:pPr algn="ctr"/>
            <a:fld id="{1875A764-3B06-454E-8ABA-2F6ED0EB58E9}" type="slidenum">
              <a:rPr lang="en-US" smtClean="0"/>
              <a:t>18</a:t>
            </a:fld>
            <a:endParaRPr lang="en-US"/>
          </a:p>
        </p:txBody>
      </p:sp>
      <p:sp>
        <p:nvSpPr>
          <p:cNvPr id="3" name="Title 2">
            <a:extLst>
              <a:ext uri="{FF2B5EF4-FFF2-40B4-BE49-F238E27FC236}">
                <a16:creationId xmlns:a16="http://schemas.microsoft.com/office/drawing/2014/main" id="{30C96029-2EA5-F3AE-DF39-F1525BAC8EFA}"/>
              </a:ext>
            </a:extLst>
          </p:cNvPr>
          <p:cNvSpPr>
            <a:spLocks noGrp="1"/>
          </p:cNvSpPr>
          <p:nvPr>
            <p:ph type="title"/>
          </p:nvPr>
        </p:nvSpPr>
        <p:spPr/>
        <p:txBody>
          <a:bodyPr/>
          <a:lstStyle/>
          <a:p>
            <a:r>
              <a:rPr lang="en-GB" dirty="0">
                <a:solidFill>
                  <a:srgbClr val="765FFF"/>
                </a:solidFill>
                <a:ea typeface="Lato"/>
                <a:cs typeface="Segoe UI" panose="020B0502040204020203" pitchFamily="34" charset="0"/>
              </a:rPr>
              <a:t>Value Ranked List </a:t>
            </a:r>
            <a:r>
              <a:rPr lang="en-GB" dirty="0">
                <a:ea typeface="Lato"/>
                <a:cs typeface="Segoe UI" panose="020B0502040204020203" pitchFamily="34" charset="0"/>
              </a:rPr>
              <a:t>of Critical Roles</a:t>
            </a:r>
            <a:endParaRPr lang="en-US" dirty="0"/>
          </a:p>
        </p:txBody>
      </p:sp>
      <p:sp>
        <p:nvSpPr>
          <p:cNvPr id="4" name="Title 2">
            <a:extLst>
              <a:ext uri="{FF2B5EF4-FFF2-40B4-BE49-F238E27FC236}">
                <a16:creationId xmlns:a16="http://schemas.microsoft.com/office/drawing/2014/main" id="{578ADF08-96FF-87D4-6EDC-5D1FA494BE0C}"/>
              </a:ext>
            </a:extLst>
          </p:cNvPr>
          <p:cNvSpPr txBox="1">
            <a:spLocks/>
          </p:cNvSpPr>
          <p:nvPr/>
        </p:nvSpPr>
        <p:spPr>
          <a:xfrm>
            <a:off x="5061362" y="1588564"/>
            <a:ext cx="3913336" cy="184666"/>
          </a:xfrm>
          <a:prstGeom prst="rect">
            <a:avLst/>
          </a:prstGeom>
          <a:noFill/>
        </p:spPr>
        <p:txBody>
          <a:bodyPr vert="horz" wrap="square"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BOTTOM </a:t>
            </a:r>
            <a:r>
              <a:rPr lang="en-US" sz="1200" b="1" spc="-10" dirty="0">
                <a:solidFill>
                  <a:schemeClr val="accent1"/>
                </a:solidFill>
                <a:latin typeface="Segoe UI" pitchFamily="34" charset="0"/>
              </a:rPr>
              <a:t>15</a:t>
            </a: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CRITICAL ROLES DRIVE 27% VALUE </a:t>
            </a:r>
          </a:p>
        </p:txBody>
      </p:sp>
      <p:sp>
        <p:nvSpPr>
          <p:cNvPr id="5" name="Title 2">
            <a:extLst>
              <a:ext uri="{FF2B5EF4-FFF2-40B4-BE49-F238E27FC236}">
                <a16:creationId xmlns:a16="http://schemas.microsoft.com/office/drawing/2014/main" id="{0DF512C9-8F88-F38F-6F38-287C867661B8}"/>
              </a:ext>
            </a:extLst>
          </p:cNvPr>
          <p:cNvSpPr txBox="1">
            <a:spLocks/>
          </p:cNvSpPr>
          <p:nvPr/>
        </p:nvSpPr>
        <p:spPr>
          <a:xfrm>
            <a:off x="638422" y="1588564"/>
            <a:ext cx="3480573" cy="184666"/>
          </a:xfrm>
          <a:prstGeom prst="rect">
            <a:avLst/>
          </a:prstGeom>
          <a:noFill/>
        </p:spPr>
        <p:txBody>
          <a:bodyPr vert="horz"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TOP </a:t>
            </a:r>
            <a:r>
              <a:rPr lang="en-US" sz="1200" b="1" spc="-10" dirty="0">
                <a:solidFill>
                  <a:schemeClr val="accent1"/>
                </a:solidFill>
                <a:latin typeface="Segoe UI" pitchFamily="34" charset="0"/>
              </a:rPr>
              <a:t>15</a:t>
            </a:r>
            <a:r>
              <a:rPr kumimoji="0" lang="en-US" sz="1200" b="1" i="0" u="none" strike="noStrike" kern="0" cap="none" spc="-10" normalizeH="0" baseline="0" noProof="0" dirty="0">
                <a:ln>
                  <a:noFill/>
                </a:ln>
                <a:solidFill>
                  <a:schemeClr val="accent1"/>
                </a:solidFill>
                <a:effectLst/>
                <a:uLnTx/>
                <a:uFillTx/>
                <a:latin typeface="Segoe UI" pitchFamily="34" charset="0"/>
                <a:ea typeface="+mj-ea"/>
                <a:cs typeface="Lato Light" panose="020F0402020204030203" pitchFamily="34" charset="0"/>
              </a:rPr>
              <a:t> ROLES DRIVE 73% OF THE VALUE</a:t>
            </a:r>
          </a:p>
        </p:txBody>
      </p:sp>
      <p:sp>
        <p:nvSpPr>
          <p:cNvPr id="6" name="Rectangle 5">
            <a:extLst>
              <a:ext uri="{FF2B5EF4-FFF2-40B4-BE49-F238E27FC236}">
                <a16:creationId xmlns:a16="http://schemas.microsoft.com/office/drawing/2014/main" id="{88ECAB91-F5E5-A5B6-015C-B411A397FCA9}"/>
              </a:ext>
            </a:extLst>
          </p:cNvPr>
          <p:cNvSpPr/>
          <p:nvPr/>
        </p:nvSpPr>
        <p:spPr>
          <a:xfrm>
            <a:off x="9900819" y="1045631"/>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1200" b="1" spc="-25" dirty="0">
                <a:solidFill>
                  <a:srgbClr val="F2F2F2"/>
                </a:solidFill>
                <a:latin typeface="Segoe UI" pitchFamily="34" charset="0"/>
                <a:cs typeface="Arial"/>
              </a:rPr>
              <a:t>9 </a:t>
            </a:r>
            <a:r>
              <a:rPr kumimoji="0" lang="en-US" sz="1200" b="1" i="0" u="none" strike="noStrike" kern="0" cap="none" spc="-25" normalizeH="0" baseline="0" noProof="0" dirty="0">
                <a:ln>
                  <a:noFill/>
                </a:ln>
                <a:solidFill>
                  <a:srgbClr val="F2F2F2"/>
                </a:solidFill>
                <a:effectLst/>
                <a:uLnTx/>
                <a:uFillTx/>
                <a:latin typeface="Segoe UI" pitchFamily="34" charset="0"/>
                <a:ea typeface="+mn-ea"/>
                <a:cs typeface="Arial"/>
              </a:rPr>
              <a:t>New Roles Will Generate 25% of Future Value</a:t>
            </a:r>
          </a:p>
        </p:txBody>
      </p:sp>
      <p:sp>
        <p:nvSpPr>
          <p:cNvPr id="7" name="Rectangle 6">
            <a:extLst>
              <a:ext uri="{FF2B5EF4-FFF2-40B4-BE49-F238E27FC236}">
                <a16:creationId xmlns:a16="http://schemas.microsoft.com/office/drawing/2014/main" id="{482B1FCE-C01C-04EF-FBC0-60FF19BF00AF}"/>
              </a:ext>
            </a:extLst>
          </p:cNvPr>
          <p:cNvSpPr/>
          <p:nvPr/>
        </p:nvSpPr>
        <p:spPr>
          <a:xfrm>
            <a:off x="9897500" y="3876533"/>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Digital &amp; R&amp;D requires further detailing </a:t>
            </a:r>
          </a:p>
        </p:txBody>
      </p:sp>
      <p:sp>
        <p:nvSpPr>
          <p:cNvPr id="8" name="Rectangle 7">
            <a:extLst>
              <a:ext uri="{FF2B5EF4-FFF2-40B4-BE49-F238E27FC236}">
                <a16:creationId xmlns:a16="http://schemas.microsoft.com/office/drawing/2014/main" id="{8B15DFDE-BD16-1B17-7897-46B7AC6DA43F}"/>
              </a:ext>
            </a:extLst>
          </p:cNvPr>
          <p:cNvSpPr/>
          <p:nvPr/>
        </p:nvSpPr>
        <p:spPr>
          <a:xfrm>
            <a:off x="9921325" y="2179099"/>
            <a:ext cx="1521632" cy="1521632"/>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30% (9/30) roles in X &amp; AA. Will need to determine location of roles, </a:t>
            </a:r>
            <a:r>
              <a:rPr lang="en-GB" sz="1200" spc="-10" dirty="0">
                <a:solidFill>
                  <a:srgbClr val="F2F2F2"/>
                </a:solidFill>
                <a:latin typeface="Arial" pitchFamily="34" charset="0"/>
                <a:cs typeface="Arial"/>
              </a:rPr>
              <a:t>and assess need to merge / eliminate / create new roles post integration</a:t>
            </a:r>
            <a:endParaRPr lang="en-US" sz="1200" spc="-10" dirty="0">
              <a:solidFill>
                <a:srgbClr val="F2F2F2"/>
              </a:solidFill>
              <a:latin typeface="Arial" pitchFamily="34" charset="0"/>
              <a:cs typeface="Arial"/>
            </a:endParaRPr>
          </a:p>
        </p:txBody>
      </p:sp>
      <p:graphicFrame>
        <p:nvGraphicFramePr>
          <p:cNvPr id="9" name="Table 8">
            <a:extLst>
              <a:ext uri="{FF2B5EF4-FFF2-40B4-BE49-F238E27FC236}">
                <a16:creationId xmlns:a16="http://schemas.microsoft.com/office/drawing/2014/main" id="{95E99E84-DD36-2E34-8E1D-AB30C23815C4}"/>
              </a:ext>
            </a:extLst>
          </p:cNvPr>
          <p:cNvGraphicFramePr>
            <a:graphicFrameLocks noGrp="1"/>
          </p:cNvGraphicFramePr>
          <p:nvPr/>
        </p:nvGraphicFramePr>
        <p:xfrm>
          <a:off x="525629" y="2051728"/>
          <a:ext cx="4103184" cy="3621256"/>
        </p:xfrm>
        <a:graphic>
          <a:graphicData uri="http://schemas.openxmlformats.org/drawingml/2006/table">
            <a:tbl>
              <a:tblPr>
                <a:tableStyleId>{5C22544A-7EE6-4342-B048-85BDC9FD1C3A}</a:tableStyleId>
              </a:tblPr>
              <a:tblGrid>
                <a:gridCol w="538827">
                  <a:extLst>
                    <a:ext uri="{9D8B030D-6E8A-4147-A177-3AD203B41FA5}">
                      <a16:colId xmlns:a16="http://schemas.microsoft.com/office/drawing/2014/main" val="3658240485"/>
                    </a:ext>
                  </a:extLst>
                </a:gridCol>
                <a:gridCol w="1831508">
                  <a:extLst>
                    <a:ext uri="{9D8B030D-6E8A-4147-A177-3AD203B41FA5}">
                      <a16:colId xmlns:a16="http://schemas.microsoft.com/office/drawing/2014/main" val="828746394"/>
                    </a:ext>
                  </a:extLst>
                </a:gridCol>
                <a:gridCol w="1024531">
                  <a:extLst>
                    <a:ext uri="{9D8B030D-6E8A-4147-A177-3AD203B41FA5}">
                      <a16:colId xmlns:a16="http://schemas.microsoft.com/office/drawing/2014/main" val="3594722947"/>
                    </a:ext>
                  </a:extLst>
                </a:gridCol>
                <a:gridCol w="708318">
                  <a:extLst>
                    <a:ext uri="{9D8B030D-6E8A-4147-A177-3AD203B41FA5}">
                      <a16:colId xmlns:a16="http://schemas.microsoft.com/office/drawing/2014/main" val="1568904609"/>
                    </a:ext>
                  </a:extLst>
                </a:gridCol>
              </a:tblGrid>
              <a:tr h="233718">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l"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2549660478"/>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Operating officer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264</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116600521"/>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AgTech</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668569768"/>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Commercial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21%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140734235"/>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Integration</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05136062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Operations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1950992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344052241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Farming Officer</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165</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743751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Director of M&amp;A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114193717"/>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9</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 Market  Intelligence</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53%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066263423"/>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Strategic Reserves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57%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074566529"/>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MD (acquired entity)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116</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081890348"/>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12</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Chief Commercial Officer AA</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232548400"/>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Innovation (Distr/Food Svcs)</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37813718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FP&amp;A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284360152"/>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Local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83</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267939690"/>
                  </a:ext>
                </a:extLst>
              </a:tr>
            </a:tbl>
          </a:graphicData>
        </a:graphic>
      </p:graphicFrame>
      <p:graphicFrame>
        <p:nvGraphicFramePr>
          <p:cNvPr id="10" name="Table 9">
            <a:extLst>
              <a:ext uri="{FF2B5EF4-FFF2-40B4-BE49-F238E27FC236}">
                <a16:creationId xmlns:a16="http://schemas.microsoft.com/office/drawing/2014/main" id="{4F2B47B5-154A-3C29-F6FB-1CECF47B8FD9}"/>
              </a:ext>
            </a:extLst>
          </p:cNvPr>
          <p:cNvGraphicFramePr>
            <a:graphicFrameLocks noGrp="1"/>
          </p:cNvGraphicFramePr>
          <p:nvPr/>
        </p:nvGraphicFramePr>
        <p:xfrm>
          <a:off x="4964899" y="2051727"/>
          <a:ext cx="3931810" cy="3655614"/>
        </p:xfrm>
        <a:graphic>
          <a:graphicData uri="http://schemas.openxmlformats.org/drawingml/2006/table">
            <a:tbl>
              <a:tblPr>
                <a:tableStyleId>{5C22544A-7EE6-4342-B048-85BDC9FD1C3A}</a:tableStyleId>
              </a:tblPr>
              <a:tblGrid>
                <a:gridCol w="516323">
                  <a:extLst>
                    <a:ext uri="{9D8B030D-6E8A-4147-A177-3AD203B41FA5}">
                      <a16:colId xmlns:a16="http://schemas.microsoft.com/office/drawing/2014/main" val="417373094"/>
                    </a:ext>
                  </a:extLst>
                </a:gridCol>
                <a:gridCol w="1755013">
                  <a:extLst>
                    <a:ext uri="{9D8B030D-6E8A-4147-A177-3AD203B41FA5}">
                      <a16:colId xmlns:a16="http://schemas.microsoft.com/office/drawing/2014/main" val="4219093523"/>
                    </a:ext>
                  </a:extLst>
                </a:gridCol>
                <a:gridCol w="904465">
                  <a:extLst>
                    <a:ext uri="{9D8B030D-6E8A-4147-A177-3AD203B41FA5}">
                      <a16:colId xmlns:a16="http://schemas.microsoft.com/office/drawing/2014/main" val="3035953052"/>
                    </a:ext>
                  </a:extLst>
                </a:gridCol>
                <a:gridCol w="756009">
                  <a:extLst>
                    <a:ext uri="{9D8B030D-6E8A-4147-A177-3AD203B41FA5}">
                      <a16:colId xmlns:a16="http://schemas.microsoft.com/office/drawing/2014/main" val="4249880168"/>
                    </a:ext>
                  </a:extLst>
                </a:gridCol>
              </a:tblGrid>
              <a:tr h="238837">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1437998721"/>
                  </a:ext>
                </a:extLst>
              </a:tr>
              <a:tr h="269745">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16</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VP Treasury </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76%</a:t>
                      </a:r>
                    </a:p>
                  </a:txBody>
                  <a:tcPr marL="0" marR="0" marT="0" marB="0" anchor="b">
                    <a:solidFill>
                      <a:srgbClr val="F2F2F2"/>
                    </a:solidFill>
                  </a:tcPr>
                </a:tc>
                <a:extLst>
                  <a:ext uri="{0D108BD9-81ED-4DB2-BD59-A6C34878D82A}">
                    <a16:rowId xmlns:a16="http://schemas.microsoft.com/office/drawing/2014/main" val="2878496489"/>
                  </a:ext>
                </a:extLst>
              </a:tr>
              <a:tr h="224788">
                <a:tc>
                  <a:txBody>
                    <a:bodyPr/>
                    <a:lstStyle/>
                    <a:p>
                      <a:pPr algn="ctr" fontAlgn="b"/>
                      <a:r>
                        <a:rPr lang="en-US" sz="800" u="none" strike="noStrike" dirty="0">
                          <a:solidFill>
                            <a:srgbClr val="1D1D1D"/>
                          </a:solidFill>
                          <a:effectLst/>
                          <a:latin typeface="Arial" pitchFamily="34" charset="0"/>
                          <a:ea typeface="Lato" panose="020F0502020204030203" pitchFamily="34" charset="0"/>
                          <a:cs typeface="Lato" panose="020F0502020204030203" pitchFamily="34" charset="0"/>
                        </a:rPr>
                        <a:t>17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IT (Digital Foundations)</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78%</a:t>
                      </a:r>
                    </a:p>
                  </a:txBody>
                  <a:tcPr marL="0" marR="0" marT="0" marB="0" anchor="b">
                    <a:solidFill>
                      <a:srgbClr val="FFFFFF"/>
                    </a:solidFill>
                  </a:tcPr>
                </a:tc>
                <a:extLst>
                  <a:ext uri="{0D108BD9-81ED-4DB2-BD59-A6C34878D82A}">
                    <a16:rowId xmlns:a16="http://schemas.microsoft.com/office/drawing/2014/main" val="2103037242"/>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1</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80%</a:t>
                      </a:r>
                    </a:p>
                  </a:txBody>
                  <a:tcPr marL="0" marR="0" marT="0" marB="0" anchor="b">
                    <a:solidFill>
                      <a:srgbClr val="F2F2F2"/>
                    </a:solidFill>
                  </a:tcPr>
                </a:tc>
                <a:extLst>
                  <a:ext uri="{0D108BD9-81ED-4DB2-BD59-A6C34878D82A}">
                    <a16:rowId xmlns:a16="http://schemas.microsoft.com/office/drawing/2014/main" val="2608260324"/>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2</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82%</a:t>
                      </a:r>
                    </a:p>
                  </a:txBody>
                  <a:tcPr marL="0" marR="0" marT="0" marB="0" anchor="b">
                    <a:solidFill>
                      <a:srgbClr val="FFFFFF"/>
                    </a:solidFill>
                  </a:tcPr>
                </a:tc>
                <a:extLst>
                  <a:ext uri="{0D108BD9-81ED-4DB2-BD59-A6C34878D82A}">
                    <a16:rowId xmlns:a16="http://schemas.microsoft.com/office/drawing/2014/main" val="1733557753"/>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3</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85%</a:t>
                      </a:r>
                    </a:p>
                  </a:txBody>
                  <a:tcPr marL="0" marR="0" marT="0" marB="0" anchor="b">
                    <a:solidFill>
                      <a:srgbClr val="F2F2F2"/>
                    </a:solidFill>
                  </a:tcPr>
                </a:tc>
                <a:extLst>
                  <a:ext uri="{0D108BD9-81ED-4DB2-BD59-A6C34878D82A}">
                    <a16:rowId xmlns:a16="http://schemas.microsoft.com/office/drawing/2014/main" val="200061347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21</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Business Development Head (R&amp;D)</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66</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87%</a:t>
                      </a:r>
                    </a:p>
                  </a:txBody>
                  <a:tcPr marL="0" marR="0" marT="0" marB="0" anchor="b">
                    <a:solidFill>
                      <a:srgbClr val="FFFFFF"/>
                    </a:solidFill>
                  </a:tcPr>
                </a:tc>
                <a:extLst>
                  <a:ext uri="{0D108BD9-81ED-4DB2-BD59-A6C34878D82A}">
                    <a16:rowId xmlns:a16="http://schemas.microsoft.com/office/drawing/2014/main" val="772095976"/>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22</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Strategy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58</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88%</a:t>
                      </a:r>
                    </a:p>
                  </a:txBody>
                  <a:tcPr marL="0" marR="0" marT="0" marB="0" anchor="b">
                    <a:solidFill>
                      <a:srgbClr val="F2F2F2"/>
                    </a:solidFill>
                  </a:tcPr>
                </a:tc>
                <a:extLst>
                  <a:ext uri="{0D108BD9-81ED-4DB2-BD59-A6C34878D82A}">
                    <a16:rowId xmlns:a16="http://schemas.microsoft.com/office/drawing/2014/main" val="55144968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23</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Strategy Lead X</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90%</a:t>
                      </a:r>
                    </a:p>
                  </a:txBody>
                  <a:tcPr marL="0" marR="0" marT="0" marB="0" anchor="b">
                    <a:solidFill>
                      <a:srgbClr val="FFFFFF"/>
                    </a:solidFill>
                  </a:tcPr>
                </a:tc>
                <a:extLst>
                  <a:ext uri="{0D108BD9-81ED-4DB2-BD59-A6C34878D82A}">
                    <a16:rowId xmlns:a16="http://schemas.microsoft.com/office/drawing/2014/main" val="941669396"/>
                  </a:ext>
                </a:extLst>
              </a:tr>
              <a:tr h="224788">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Export X</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92%</a:t>
                      </a:r>
                    </a:p>
                  </a:txBody>
                  <a:tcPr marL="0" marR="0" marT="0" marB="0" anchor="b">
                    <a:solidFill>
                      <a:srgbClr val="F2F2F2"/>
                    </a:solidFill>
                  </a:tcPr>
                </a:tc>
                <a:extLst>
                  <a:ext uri="{0D108BD9-81ED-4DB2-BD59-A6C34878D82A}">
                    <a16:rowId xmlns:a16="http://schemas.microsoft.com/office/drawing/2014/main" val="390120029"/>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Governance (Finance)</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93%</a:t>
                      </a:r>
                    </a:p>
                  </a:txBody>
                  <a:tcPr marL="0" marR="0" marT="0" marB="0" anchor="b">
                    <a:solidFill>
                      <a:srgbClr val="FFFFFF"/>
                    </a:solidFill>
                  </a:tcPr>
                </a:tc>
                <a:extLst>
                  <a:ext uri="{0D108BD9-81ED-4DB2-BD59-A6C34878D82A}">
                    <a16:rowId xmlns:a16="http://schemas.microsoft.com/office/drawing/2014/main" val="198897179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ESG</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95%</a:t>
                      </a:r>
                    </a:p>
                  </a:txBody>
                  <a:tcPr marL="0" marR="0" marT="0" marB="0" anchor="b">
                    <a:solidFill>
                      <a:srgbClr val="F2F2F2"/>
                    </a:solidFill>
                  </a:tcPr>
                </a:tc>
                <a:extLst>
                  <a:ext uri="{0D108BD9-81ED-4DB2-BD59-A6C34878D82A}">
                    <a16:rowId xmlns:a16="http://schemas.microsoft.com/office/drawing/2014/main" val="620242563"/>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Finance (cost control)</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96%</a:t>
                      </a:r>
                    </a:p>
                  </a:txBody>
                  <a:tcPr marL="0" marR="0" marT="0" marB="0" anchor="b">
                    <a:solidFill>
                      <a:srgbClr val="FFFFFF"/>
                    </a:solidFill>
                  </a:tcPr>
                </a:tc>
                <a:extLst>
                  <a:ext uri="{0D108BD9-81ED-4DB2-BD59-A6C34878D82A}">
                    <a16:rowId xmlns:a16="http://schemas.microsoft.com/office/drawing/2014/main" val="25658912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Talent Acquisition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98%</a:t>
                      </a:r>
                    </a:p>
                  </a:txBody>
                  <a:tcPr marL="0" marR="0" marT="0" marB="0" anchor="b">
                    <a:solidFill>
                      <a:srgbClr val="F2F2F2"/>
                    </a:solidFill>
                  </a:tcPr>
                </a:tc>
                <a:extLst>
                  <a:ext uri="{0D108BD9-81ED-4DB2-BD59-A6C34878D82A}">
                    <a16:rowId xmlns:a16="http://schemas.microsoft.com/office/drawing/2014/main" val="2169159436"/>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29</a:t>
                      </a:r>
                    </a:p>
                  </a:txBody>
                  <a:tcPr marL="0" marR="0" marT="0" marB="0" anchor="b">
                    <a:solidFill>
                      <a:srgbClr val="FFFFFF"/>
                    </a:solidFill>
                  </a:tcPr>
                </a:tc>
                <a:tc>
                  <a:txBody>
                    <a:bodyPr/>
                    <a:lstStyle/>
                    <a:p>
                      <a:pPr algn="l"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MD Y</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40</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extLst>
                  <a:ext uri="{0D108BD9-81ED-4DB2-BD59-A6C34878D82A}">
                    <a16:rowId xmlns:a16="http://schemas.microsoft.com/office/drawing/2014/main" val="2192557938"/>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30</a:t>
                      </a:r>
                    </a:p>
                  </a:txBody>
                  <a:tcPr marL="0" marR="0" marT="0" marB="0" anchor="b">
                    <a:solidFill>
                      <a:srgbClr val="F2F2F2"/>
                    </a:solidFill>
                  </a:tcPr>
                </a:tc>
                <a:tc>
                  <a:txBody>
                    <a:bodyPr/>
                    <a:lstStyle/>
                    <a:p>
                      <a:pPr algn="l"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Head of Workforce Planning &amp; OD </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100%</a:t>
                      </a:r>
                    </a:p>
                  </a:txBody>
                  <a:tcPr marL="0" marR="0" marT="0" marB="0" anchor="b">
                    <a:solidFill>
                      <a:srgbClr val="F2F2F2"/>
                    </a:solidFill>
                  </a:tcPr>
                </a:tc>
                <a:extLst>
                  <a:ext uri="{0D108BD9-81ED-4DB2-BD59-A6C34878D82A}">
                    <a16:rowId xmlns:a16="http://schemas.microsoft.com/office/drawing/2014/main" val="113842929"/>
                  </a:ext>
                </a:extLst>
              </a:tr>
            </a:tbl>
          </a:graphicData>
        </a:graphic>
      </p:graphicFrame>
      <p:sp>
        <p:nvSpPr>
          <p:cNvPr id="11" name="Rectangle 10">
            <a:extLst>
              <a:ext uri="{FF2B5EF4-FFF2-40B4-BE49-F238E27FC236}">
                <a16:creationId xmlns:a16="http://schemas.microsoft.com/office/drawing/2014/main" id="{64855E25-8A5F-C2BF-2E2C-B0838646D65D}"/>
              </a:ext>
            </a:extLst>
          </p:cNvPr>
          <p:cNvSpPr/>
          <p:nvPr/>
        </p:nvSpPr>
        <p:spPr>
          <a:xfrm>
            <a:off x="9897500" y="5018265"/>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Head of Integration timing TBD</a:t>
            </a:r>
          </a:p>
        </p:txBody>
      </p:sp>
      <p:sp>
        <p:nvSpPr>
          <p:cNvPr id="12" name="TextBox 11">
            <a:extLst>
              <a:ext uri="{FF2B5EF4-FFF2-40B4-BE49-F238E27FC236}">
                <a16:creationId xmlns:a16="http://schemas.microsoft.com/office/drawing/2014/main" id="{7FC7E0BF-AC2A-F578-A971-5E79B8547EE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865846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32C9A2-5BE8-A828-3AF4-90565792EFD5}"/>
              </a:ext>
            </a:extLst>
          </p:cNvPr>
          <p:cNvSpPr>
            <a:spLocks noGrp="1"/>
          </p:cNvSpPr>
          <p:nvPr>
            <p:ph type="sldNum" sz="quarter" idx="4"/>
          </p:nvPr>
        </p:nvSpPr>
        <p:spPr/>
        <p:txBody>
          <a:bodyPr/>
          <a:lstStyle/>
          <a:p>
            <a:pPr algn="ctr"/>
            <a:fld id="{1875A764-3B06-454E-8ABA-2F6ED0EB58E9}" type="slidenum">
              <a:rPr lang="en-US" smtClean="0"/>
              <a:t>19</a:t>
            </a:fld>
            <a:endParaRPr lang="en-US"/>
          </a:p>
        </p:txBody>
      </p:sp>
      <p:sp>
        <p:nvSpPr>
          <p:cNvPr id="3" name="Title 2">
            <a:extLst>
              <a:ext uri="{FF2B5EF4-FFF2-40B4-BE49-F238E27FC236}">
                <a16:creationId xmlns:a16="http://schemas.microsoft.com/office/drawing/2014/main" id="{8C6C80EB-4C22-8A52-3DF7-FECED96C74B0}"/>
              </a:ext>
            </a:extLst>
          </p:cNvPr>
          <p:cNvSpPr>
            <a:spLocks noGrp="1"/>
          </p:cNvSpPr>
          <p:nvPr>
            <p:ph type="title"/>
          </p:nvPr>
        </p:nvSpPr>
        <p:spPr/>
        <p:txBody>
          <a:bodyPr/>
          <a:lstStyle/>
          <a:p>
            <a:r>
              <a:rPr lang="en-GB" dirty="0">
                <a:solidFill>
                  <a:srgbClr val="281A42"/>
                </a:solidFill>
                <a:ea typeface="Lato"/>
                <a:cs typeface="Segoe UI" panose="020B0502040204020203" pitchFamily="34" charset="0"/>
              </a:rPr>
              <a:t>Human Capital Balance Sheet</a:t>
            </a:r>
            <a:endParaRPr lang="en-US" dirty="0"/>
          </a:p>
        </p:txBody>
      </p:sp>
      <p:sp>
        <p:nvSpPr>
          <p:cNvPr id="4" name="Rectangle: Rounded Corners 147">
            <a:extLst>
              <a:ext uri="{FF2B5EF4-FFF2-40B4-BE49-F238E27FC236}">
                <a16:creationId xmlns:a16="http://schemas.microsoft.com/office/drawing/2014/main" id="{0172004B-B0BE-762D-7920-8D694D959096}"/>
              </a:ext>
            </a:extLst>
          </p:cNvPr>
          <p:cNvSpPr/>
          <p:nvPr/>
        </p:nvSpPr>
        <p:spPr>
          <a:xfrm>
            <a:off x="7692912" y="866727"/>
            <a:ext cx="4320496" cy="4769446"/>
          </a:xfrm>
          <a:prstGeom prst="roundRect">
            <a:avLst>
              <a:gd name="adj" fmla="val 5743"/>
            </a:avLst>
          </a:prstGeom>
          <a:noFill/>
          <a:ln>
            <a:solidFill>
              <a:schemeClr val="accent1"/>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12700">
              <a:spcBef>
                <a:spcPts val="100"/>
              </a:spcBef>
              <a:buClrTx/>
              <a:buSzTx/>
              <a:defRPr/>
            </a:pPr>
            <a:r>
              <a:rPr lang="en-US" sz="1100" b="1" kern="0" dirty="0">
                <a:solidFill>
                  <a:schemeClr val="tx1"/>
                </a:solidFill>
                <a:latin typeface="Arial" panose="020B0604020202020204" pitchFamily="34" charset="0"/>
                <a:cs typeface="Arial" panose="020B0604020202020204" pitchFamily="34" charset="0"/>
              </a:rPr>
              <a:t>Human Capital Insights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All N-1 Roles Remain Accountable for Value Creation, Though Not Explicitly Labeled Critical. the CHRO and CFO Roles Were Discussed, but the Critical Roles Identified Were at the N-2 Level Based on Required Work</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Majority of Roles Appear to Be Set up for Success (authority, Team Capability)</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Need to Assess and Address Talent Risks (starting with COO Aa, CCO X, COO X, CEO Aa)</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Due to Recent Acquisitions, Details on Key Roles in </a:t>
            </a:r>
            <a:r>
              <a:rPr lang="en-GB" sz="1050" kern="0" dirty="0">
                <a:solidFill>
                  <a:schemeClr val="tx1"/>
                </a:solidFill>
                <a:latin typeface="Arial" panose="020B0604020202020204" pitchFamily="34" charset="0"/>
                <a:cs typeface="Arial" panose="020B0604020202020204" pitchFamily="34" charset="0"/>
              </a:rPr>
              <a:t>X </a:t>
            </a:r>
            <a:r>
              <a:rPr lang="en-US" sz="1050" kern="0" dirty="0">
                <a:solidFill>
                  <a:schemeClr val="tx1"/>
                </a:solidFill>
                <a:latin typeface="Arial" panose="020B0604020202020204" pitchFamily="34" charset="0"/>
                <a:cs typeface="Arial" panose="020B0604020202020204" pitchFamily="34" charset="0"/>
              </a:rPr>
              <a:t>&amp; Aa Are Limited. Synergies and Talent May Exist, Especially in Commercial and Operations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Within HoldCo, Further Effort Required to Define the Work &amp; Roles in Digital and R&amp;D/Innovation</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Ability to Scale Assessment Requires Further Detailing</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Succession Plan for Critical Roles Appears Limited</a:t>
            </a:r>
          </a:p>
          <a:p>
            <a:pPr marL="298450" indent="-285750">
              <a:spcBef>
                <a:spcPts val="100"/>
              </a:spcBef>
              <a:buClrTx/>
              <a:buSzTx/>
              <a:buBlip>
                <a:blip r:embed="rId2"/>
              </a:buBlip>
              <a:defRPr/>
            </a:pPr>
            <a:r>
              <a:rPr lang="en-US" sz="1050" kern="0" dirty="0">
                <a:solidFill>
                  <a:schemeClr val="tx1"/>
                </a:solidFill>
                <a:latin typeface="Arial" panose="020B0604020202020204" pitchFamily="34" charset="0"/>
                <a:cs typeface="Arial" panose="020B0604020202020204" pitchFamily="34" charset="0"/>
              </a:rPr>
              <a:t>The Timing for Filling New Roles Needs Review Potentially Starting with Three Key Positions: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Head of Integration – Given Criticality of Integration to Extract Synergies and Drive Organic Growth, Handling This under the Strategy Officer May Not Be Optimal</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Broadening Strategic Reserves Role to Include (proactive) Food Security Intelligence &amp; Crisis Management Seems Critical to Meet Stakeholder Needs</a:t>
            </a:r>
          </a:p>
          <a:p>
            <a:pPr marL="298450" indent="-285750">
              <a:spcBef>
                <a:spcPts val="100"/>
              </a:spcBef>
              <a:buBlip>
                <a:blip r:embed="rId2"/>
              </a:buBlip>
              <a:defRPr/>
            </a:pPr>
            <a:r>
              <a:rPr lang="en-US" sz="1050" kern="0" dirty="0">
                <a:solidFill>
                  <a:schemeClr val="tx1"/>
                </a:solidFill>
                <a:latin typeface="Arial" panose="020B0604020202020204" pitchFamily="34" charset="0"/>
                <a:cs typeface="Arial" panose="020B0604020202020204" pitchFamily="34" charset="0"/>
              </a:rPr>
              <a:t>Head of Market Intelligence Seems Critical to Forecast Trends, Identify Growth Opportunities Using R&amp;D &amp; Drive Stronger Partnerships with Acquired Entities &amp; Geographies</a:t>
            </a:r>
          </a:p>
        </p:txBody>
      </p:sp>
      <p:grpSp>
        <p:nvGrpSpPr>
          <p:cNvPr id="5" name="Group 4">
            <a:extLst>
              <a:ext uri="{FF2B5EF4-FFF2-40B4-BE49-F238E27FC236}">
                <a16:creationId xmlns:a16="http://schemas.microsoft.com/office/drawing/2014/main" id="{A3394026-2C9A-4F38-45ED-941F4C4A16E5}"/>
              </a:ext>
            </a:extLst>
          </p:cNvPr>
          <p:cNvGrpSpPr/>
          <p:nvPr/>
        </p:nvGrpSpPr>
        <p:grpSpPr>
          <a:xfrm>
            <a:off x="7957018" y="5696932"/>
            <a:ext cx="4080575" cy="755629"/>
            <a:chOff x="7663543" y="5753185"/>
            <a:chExt cx="4080575" cy="755629"/>
          </a:xfrm>
        </p:grpSpPr>
        <p:sp>
          <p:nvSpPr>
            <p:cNvPr id="6" name="Rectangle: Rounded Corners 166">
              <a:extLst>
                <a:ext uri="{FF2B5EF4-FFF2-40B4-BE49-F238E27FC236}">
                  <a16:creationId xmlns:a16="http://schemas.microsoft.com/office/drawing/2014/main" id="{7A2FD2E0-C5AF-841B-F595-2B6FA150A8DC}"/>
                </a:ext>
              </a:extLst>
            </p:cNvPr>
            <p:cNvSpPr/>
            <p:nvPr/>
          </p:nvSpPr>
          <p:spPr>
            <a:xfrm>
              <a:off x="7663543" y="5753185"/>
              <a:ext cx="4080575" cy="755629"/>
            </a:xfrm>
            <a:prstGeom prst="roundRect">
              <a:avLst>
                <a:gd name="adj" fmla="val 10980"/>
              </a:avLst>
            </a:prstGeom>
            <a:solidFill>
              <a:srgbClr val="919291"/>
            </a:solidFill>
            <a:ln w="3175">
              <a:solidFill>
                <a:srgbClr val="00C27A">
                  <a:alpha val="10000"/>
                </a:srgbClr>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100" i="0" u="none" strike="noStrike" kern="1200" cap="none" spc="-10" normalizeH="0" baseline="0" noProof="0" dirty="0">
                  <a:ln>
                    <a:noFill/>
                  </a:ln>
                  <a:solidFill>
                    <a:schemeClr val="bg1"/>
                  </a:solidFill>
                  <a:effectLst/>
                  <a:uLnTx/>
                  <a:uFillTx/>
                  <a:latin typeface="Arial" pitchFamily="34" charset="0"/>
                  <a:ea typeface="+mn-ea"/>
                  <a:cs typeface="+mn-cs"/>
                </a:rPr>
                <a:t>Legend</a:t>
              </a:r>
            </a:p>
          </p:txBody>
        </p:sp>
        <p:sp>
          <p:nvSpPr>
            <p:cNvPr id="7" name="TextBox 6">
              <a:extLst>
                <a:ext uri="{FF2B5EF4-FFF2-40B4-BE49-F238E27FC236}">
                  <a16:creationId xmlns:a16="http://schemas.microsoft.com/office/drawing/2014/main" id="{9BAED723-C4A0-8DAC-F8B6-9F7877F17231}"/>
                </a:ext>
              </a:extLst>
            </p:cNvPr>
            <p:cNvSpPr txBox="1"/>
            <p:nvPr/>
          </p:nvSpPr>
          <p:spPr>
            <a:xfrm>
              <a:off x="9267759" y="6255737"/>
              <a:ext cx="2452174" cy="222825"/>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Significant Execution Risk, Intervention Required</a:t>
              </a:r>
            </a:p>
          </p:txBody>
        </p:sp>
        <p:sp>
          <p:nvSpPr>
            <p:cNvPr id="8" name="Rectangle: Rounded Corners 168">
              <a:extLst>
                <a:ext uri="{FF2B5EF4-FFF2-40B4-BE49-F238E27FC236}">
                  <a16:creationId xmlns:a16="http://schemas.microsoft.com/office/drawing/2014/main" id="{A7586BF4-2F89-121A-4101-DC893EF4E821}"/>
                </a:ext>
              </a:extLst>
            </p:cNvPr>
            <p:cNvSpPr/>
            <p:nvPr/>
          </p:nvSpPr>
          <p:spPr>
            <a:xfrm>
              <a:off x="9172469" y="6299803"/>
              <a:ext cx="116662" cy="99585"/>
            </a:xfrm>
            <a:prstGeom prst="roundRect">
              <a:avLst>
                <a:gd name="adj" fmla="val 0"/>
              </a:avLst>
            </a:prstGeom>
            <a:solidFill>
              <a:srgbClr val="BA0B2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 name="TextBox 8">
              <a:extLst>
                <a:ext uri="{FF2B5EF4-FFF2-40B4-BE49-F238E27FC236}">
                  <a16:creationId xmlns:a16="http://schemas.microsoft.com/office/drawing/2014/main" id="{A0A1F0E6-2014-7F09-66CF-FE9D44EEE6A1}"/>
                </a:ext>
              </a:extLst>
            </p:cNvPr>
            <p:cNvSpPr txBox="1"/>
            <p:nvPr/>
          </p:nvSpPr>
          <p:spPr>
            <a:xfrm>
              <a:off x="9267758" y="6083717"/>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Some Execution Risk, Intervention Suggested</a:t>
              </a:r>
            </a:p>
          </p:txBody>
        </p:sp>
        <p:sp>
          <p:nvSpPr>
            <p:cNvPr id="10" name="Rectangle: Rounded Corners 170">
              <a:extLst>
                <a:ext uri="{FF2B5EF4-FFF2-40B4-BE49-F238E27FC236}">
                  <a16:creationId xmlns:a16="http://schemas.microsoft.com/office/drawing/2014/main" id="{054EDE91-33C1-7F2D-26A5-8730D44378E8}"/>
                </a:ext>
              </a:extLst>
            </p:cNvPr>
            <p:cNvSpPr/>
            <p:nvPr/>
          </p:nvSpPr>
          <p:spPr>
            <a:xfrm>
              <a:off x="9172469" y="6127782"/>
              <a:ext cx="116662" cy="99585"/>
            </a:xfrm>
            <a:prstGeom prst="roundRect">
              <a:avLst>
                <a:gd name="adj" fmla="val 0"/>
              </a:avLst>
            </a:prstGeom>
            <a:solidFill>
              <a:srgbClr val="FFB54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1" name="TextBox 10">
              <a:extLst>
                <a:ext uri="{FF2B5EF4-FFF2-40B4-BE49-F238E27FC236}">
                  <a16:creationId xmlns:a16="http://schemas.microsoft.com/office/drawing/2014/main" id="{0B706771-A78D-F71C-4E0D-E91C0C49F511}"/>
                </a:ext>
              </a:extLst>
            </p:cNvPr>
            <p:cNvSpPr txBox="1"/>
            <p:nvPr/>
          </p:nvSpPr>
          <p:spPr>
            <a:xfrm>
              <a:off x="9267758" y="5904315"/>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effectLst/>
                  <a:uLnTx/>
                  <a:uFillTx/>
                  <a:latin typeface="Arial" pitchFamily="34" charset="0"/>
                  <a:ea typeface="+mn-ea"/>
                  <a:cs typeface="+mn-cs"/>
                </a:rPr>
                <a:t>= No Significant Execution Risk</a:t>
              </a:r>
            </a:p>
          </p:txBody>
        </p:sp>
        <p:sp>
          <p:nvSpPr>
            <p:cNvPr id="12" name="Rectangle: Rounded Corners 172">
              <a:extLst>
                <a:ext uri="{FF2B5EF4-FFF2-40B4-BE49-F238E27FC236}">
                  <a16:creationId xmlns:a16="http://schemas.microsoft.com/office/drawing/2014/main" id="{B6EF2992-BCFE-96DD-9654-956EC9FCC395}"/>
                </a:ext>
              </a:extLst>
            </p:cNvPr>
            <p:cNvSpPr/>
            <p:nvPr/>
          </p:nvSpPr>
          <p:spPr>
            <a:xfrm>
              <a:off x="9172469" y="5967438"/>
              <a:ext cx="116662" cy="99585"/>
            </a:xfrm>
            <a:prstGeom prst="rect">
              <a:avLst/>
            </a:prstGeom>
            <a:solidFill>
              <a:srgbClr val="00C27A">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nvGrpSpPr>
            <p:cNvPr id="13" name="Group 12">
              <a:extLst>
                <a:ext uri="{FF2B5EF4-FFF2-40B4-BE49-F238E27FC236}">
                  <a16:creationId xmlns:a16="http://schemas.microsoft.com/office/drawing/2014/main" id="{F7F3303D-4AB0-B11D-4D43-3A025661A00B}"/>
                </a:ext>
              </a:extLst>
            </p:cNvPr>
            <p:cNvGrpSpPr/>
            <p:nvPr/>
          </p:nvGrpSpPr>
          <p:grpSpPr>
            <a:xfrm>
              <a:off x="7785358" y="6270717"/>
              <a:ext cx="797296" cy="180000"/>
              <a:chOff x="5444055" y="6242994"/>
              <a:chExt cx="797296" cy="180000"/>
            </a:xfrm>
          </p:grpSpPr>
          <p:sp>
            <p:nvSpPr>
              <p:cNvPr id="14" name="TextBox 13">
                <a:extLst>
                  <a:ext uri="{FF2B5EF4-FFF2-40B4-BE49-F238E27FC236}">
                    <a16:creationId xmlns:a16="http://schemas.microsoft.com/office/drawing/2014/main" id="{60509BE6-AACF-8480-8039-2E8654B66ABD}"/>
                  </a:ext>
                </a:extLst>
              </p:cNvPr>
              <p:cNvSpPr txBox="1">
                <a:spLocks/>
              </p:cNvSpPr>
              <p:nvPr/>
            </p:nvSpPr>
            <p:spPr>
              <a:xfrm>
                <a:off x="5678055" y="6271438"/>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800" b="0" i="0" u="none" strike="noStrike" kern="1200" cap="none" spc="-10" normalizeH="0" baseline="0" noProof="0" dirty="0">
                    <a:ln>
                      <a:noFill/>
                    </a:ln>
                    <a:solidFill>
                      <a:schemeClr val="bg1"/>
                    </a:solidFill>
                    <a:effectLst/>
                    <a:uLnTx/>
                    <a:uFillTx/>
                    <a:latin typeface="Arial" pitchFamily="34" charset="0"/>
                    <a:ea typeface="+mn-ea"/>
                    <a:cs typeface="+mn-cs"/>
                  </a:rPr>
                  <a:t>New Role</a:t>
                </a:r>
              </a:p>
            </p:txBody>
          </p:sp>
          <p:sp>
            <p:nvSpPr>
              <p:cNvPr id="15" name="TextBox 14">
                <a:extLst>
                  <a:ext uri="{FF2B5EF4-FFF2-40B4-BE49-F238E27FC236}">
                    <a16:creationId xmlns:a16="http://schemas.microsoft.com/office/drawing/2014/main" id="{D0662563-E9CA-944E-34B4-8FFD75EB6900}"/>
                  </a:ext>
                </a:extLst>
              </p:cNvPr>
              <p:cNvSpPr txBox="1">
                <a:spLocks/>
              </p:cNvSpPr>
              <p:nvPr/>
            </p:nvSpPr>
            <p:spPr>
              <a:xfrm>
                <a:off x="5444055" y="6242994"/>
                <a:ext cx="180000" cy="180000"/>
              </a:xfrm>
              <a:prstGeom prst="rect">
                <a:avLst/>
              </a:prstGeom>
              <a:solidFill>
                <a:srgbClr val="60BDBC">
                  <a:alpha val="49804"/>
                </a:srgbClr>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grpSp>
      <p:sp>
        <p:nvSpPr>
          <p:cNvPr id="16" name="Title 1">
            <a:extLst>
              <a:ext uri="{FF2B5EF4-FFF2-40B4-BE49-F238E27FC236}">
                <a16:creationId xmlns:a16="http://schemas.microsoft.com/office/drawing/2014/main" id="{7C101C8C-9596-DA28-3D19-23EA06CA5B20}"/>
              </a:ext>
            </a:extLst>
          </p:cNvPr>
          <p:cNvSpPr txBox="1">
            <a:spLocks/>
          </p:cNvSpPr>
          <p:nvPr/>
        </p:nvSpPr>
        <p:spPr>
          <a:xfrm>
            <a:off x="577069" y="5643228"/>
            <a:ext cx="7115843" cy="411539"/>
          </a:xfrm>
          <a:prstGeom prst="rect">
            <a:avLst/>
          </a:prstGeom>
          <a:noFill/>
        </p:spPr>
        <p:txBody>
          <a:bodyPr vert="horz" lIns="91440" tIns="45720" rIns="91440" bIns="45720" rtlCol="0" anchor="ctr">
            <a:noAutofit/>
          </a:bodyPr>
          <a:lstStyle>
            <a:lvl1pP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Human Capital Balance sheet represents the </a:t>
            </a:r>
            <a:r>
              <a:rPr kumimoji="0" lang="en-US" sz="1200" b="0" i="1"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business view </a:t>
            </a: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of overall talent risk (red-amber-green)</a:t>
            </a:r>
          </a:p>
        </p:txBody>
      </p:sp>
      <p:pic>
        <p:nvPicPr>
          <p:cNvPr id="17" name="Picture 16">
            <a:extLst>
              <a:ext uri="{FF2B5EF4-FFF2-40B4-BE49-F238E27FC236}">
                <a16:creationId xmlns:a16="http://schemas.microsoft.com/office/drawing/2014/main" id="{29596AFB-367B-8EFE-3BCC-673E10E68F65}"/>
              </a:ext>
            </a:extLst>
          </p:cNvPr>
          <p:cNvPicPr>
            <a:picLocks noChangeAspect="1"/>
          </p:cNvPicPr>
          <p:nvPr/>
        </p:nvPicPr>
        <p:blipFill>
          <a:blip r:embed="rId3"/>
          <a:stretch>
            <a:fillRect/>
          </a:stretch>
        </p:blipFill>
        <p:spPr>
          <a:xfrm>
            <a:off x="525041" y="952496"/>
            <a:ext cx="7822692" cy="4597908"/>
          </a:xfrm>
          <a:prstGeom prst="rect">
            <a:avLst/>
          </a:prstGeom>
        </p:spPr>
      </p:pic>
      <p:sp>
        <p:nvSpPr>
          <p:cNvPr id="18" name="TextBox 17">
            <a:extLst>
              <a:ext uri="{FF2B5EF4-FFF2-40B4-BE49-F238E27FC236}">
                <a16:creationId xmlns:a16="http://schemas.microsoft.com/office/drawing/2014/main" id="{3D223BA8-05E3-7B0B-E4EB-B466827D8C3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807948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F9AB0F-4089-EDEC-A3F6-F5AB527964DF}"/>
              </a:ext>
            </a:extLst>
          </p:cNvPr>
          <p:cNvSpPr>
            <a:spLocks noGrp="1"/>
          </p:cNvSpPr>
          <p:nvPr>
            <p:ph type="sldNum" sz="quarter" idx="4"/>
          </p:nvPr>
        </p:nvSpPr>
        <p:spPr/>
        <p:txBody>
          <a:bodyPr/>
          <a:lstStyle/>
          <a:p>
            <a:pPr algn="ctr"/>
            <a:fld id="{1875A764-3B06-454E-8ABA-2F6ED0EB58E9}" type="slidenum">
              <a:rPr lang="en-US" smtClean="0"/>
              <a:t>20</a:t>
            </a:fld>
            <a:endParaRPr lang="en-US"/>
          </a:p>
        </p:txBody>
      </p:sp>
      <p:sp>
        <p:nvSpPr>
          <p:cNvPr id="3" name="Title 2">
            <a:extLst>
              <a:ext uri="{FF2B5EF4-FFF2-40B4-BE49-F238E27FC236}">
                <a16:creationId xmlns:a16="http://schemas.microsoft.com/office/drawing/2014/main" id="{0F5CCA4E-65AA-9E74-40C1-820782B62818}"/>
              </a:ext>
            </a:extLst>
          </p:cNvPr>
          <p:cNvSpPr>
            <a:spLocks noGrp="1"/>
          </p:cNvSpPr>
          <p:nvPr>
            <p:ph type="title"/>
          </p:nvPr>
        </p:nvSpPr>
        <p:spPr/>
        <p:txBody>
          <a:bodyPr/>
          <a:lstStyle/>
          <a:p>
            <a:r>
              <a:rPr lang="en-GB" dirty="0">
                <a:solidFill>
                  <a:srgbClr val="281A42"/>
                </a:solidFill>
                <a:ea typeface="Lato"/>
                <a:cs typeface="Lato"/>
              </a:rPr>
              <a:t>Enabling CEO Success</a:t>
            </a:r>
            <a:endParaRPr lang="en-US" dirty="0"/>
          </a:p>
        </p:txBody>
      </p:sp>
      <p:sp>
        <p:nvSpPr>
          <p:cNvPr id="4" name="Freeform: Shape 90">
            <a:extLst>
              <a:ext uri="{FF2B5EF4-FFF2-40B4-BE49-F238E27FC236}">
                <a16:creationId xmlns:a16="http://schemas.microsoft.com/office/drawing/2014/main" id="{21DDF9ED-DF41-BE97-BF2A-C11B9F8E3D22}"/>
              </a:ext>
            </a:extLst>
          </p:cNvPr>
          <p:cNvSpPr/>
          <p:nvPr/>
        </p:nvSpPr>
        <p:spPr>
          <a:xfrm>
            <a:off x="1222745" y="3351484"/>
            <a:ext cx="4901648" cy="2358080"/>
          </a:xfrm>
          <a:custGeom>
            <a:avLst/>
            <a:gdLst>
              <a:gd name="connsiteX0" fmla="*/ 0 w 5524500"/>
              <a:gd name="connsiteY0" fmla="*/ 0 h 2755778"/>
              <a:gd name="connsiteX1" fmla="*/ 255897 w 5524500"/>
              <a:gd name="connsiteY1" fmla="*/ 0 h 2755778"/>
              <a:gd name="connsiteX2" fmla="*/ 255897 w 5524500"/>
              <a:gd name="connsiteY2" fmla="*/ 1 h 2755778"/>
              <a:gd name="connsiteX3" fmla="*/ 2359301 w 5524500"/>
              <a:gd name="connsiteY3" fmla="*/ 1 h 2755778"/>
              <a:gd name="connsiteX4" fmla="*/ 2346095 w 5524500"/>
              <a:gd name="connsiteY4" fmla="*/ 23873 h 2755778"/>
              <a:gd name="connsiteX5" fmla="*/ 2319647 w 5524500"/>
              <a:gd name="connsiteY5" fmla="*/ 152401 h 2755778"/>
              <a:gd name="connsiteX6" fmla="*/ 2656197 w 5524500"/>
              <a:gd name="connsiteY6" fmla="*/ 482601 h 2755778"/>
              <a:gd name="connsiteX7" fmla="*/ 2992747 w 5524500"/>
              <a:gd name="connsiteY7" fmla="*/ 152401 h 2755778"/>
              <a:gd name="connsiteX8" fmla="*/ 2966299 w 5524500"/>
              <a:gd name="connsiteY8" fmla="*/ 23873 h 2755778"/>
              <a:gd name="connsiteX9" fmla="*/ 2953093 w 5524500"/>
              <a:gd name="connsiteY9" fmla="*/ 1 h 2755778"/>
              <a:gd name="connsiteX10" fmla="*/ 5054600 w 5524500"/>
              <a:gd name="connsiteY10" fmla="*/ 1 h 2755778"/>
              <a:gd name="connsiteX11" fmla="*/ 5054600 w 5524500"/>
              <a:gd name="connsiteY11" fmla="*/ 885253 h 2755778"/>
              <a:gd name="connsiteX12" fmla="*/ 5056950 w 5524500"/>
              <a:gd name="connsiteY12" fmla="*/ 884002 h 2755778"/>
              <a:gd name="connsiteX13" fmla="*/ 5187950 w 5524500"/>
              <a:gd name="connsiteY13" fmla="*/ 858053 h 2755778"/>
              <a:gd name="connsiteX14" fmla="*/ 5524500 w 5524500"/>
              <a:gd name="connsiteY14" fmla="*/ 1188253 h 2755778"/>
              <a:gd name="connsiteX15" fmla="*/ 5187950 w 5524500"/>
              <a:gd name="connsiteY15" fmla="*/ 1518453 h 2755778"/>
              <a:gd name="connsiteX16" fmla="*/ 5056950 w 5524500"/>
              <a:gd name="connsiteY16" fmla="*/ 1492504 h 2755778"/>
              <a:gd name="connsiteX17" fmla="*/ 5054600 w 5524500"/>
              <a:gd name="connsiteY17" fmla="*/ 1491253 h 2755778"/>
              <a:gd name="connsiteX18" fmla="*/ 5054600 w 5524500"/>
              <a:gd name="connsiteY18" fmla="*/ 2219663 h 2755778"/>
              <a:gd name="connsiteX19" fmla="*/ 5054600 w 5524500"/>
              <a:gd name="connsiteY19" fmla="*/ 2549866 h 2755778"/>
              <a:gd name="connsiteX20" fmla="*/ 5054600 w 5524500"/>
              <a:gd name="connsiteY20" fmla="*/ 2755777 h 2755778"/>
              <a:gd name="connsiteX21" fmla="*/ 1426186 w 5524500"/>
              <a:gd name="connsiteY21" fmla="*/ 2755777 h 2755778"/>
              <a:gd name="connsiteX22" fmla="*/ 1426176 w 5524500"/>
              <a:gd name="connsiteY22" fmla="*/ 2755778 h 2755778"/>
              <a:gd name="connsiteX23" fmla="*/ 250224 w 5524500"/>
              <a:gd name="connsiteY23" fmla="*/ 2755778 h 2755778"/>
              <a:gd name="connsiteX24" fmla="*/ 0 w 5524500"/>
              <a:gd name="connsiteY24" fmla="*/ 2505554 h 2755778"/>
              <a:gd name="connsiteX25" fmla="*/ 0 w 5524500"/>
              <a:gd name="connsiteY25" fmla="*/ 1858270 h 275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24500" h="2755778">
                <a:moveTo>
                  <a:pt x="0" y="0"/>
                </a:moveTo>
                <a:lnTo>
                  <a:pt x="255897" y="0"/>
                </a:lnTo>
                <a:lnTo>
                  <a:pt x="255897" y="1"/>
                </a:lnTo>
                <a:lnTo>
                  <a:pt x="2359301" y="1"/>
                </a:lnTo>
                <a:lnTo>
                  <a:pt x="2346095" y="23873"/>
                </a:lnTo>
                <a:cubicBezTo>
                  <a:pt x="2329065" y="63377"/>
                  <a:pt x="2319647" y="106810"/>
                  <a:pt x="2319647" y="152401"/>
                </a:cubicBezTo>
                <a:cubicBezTo>
                  <a:pt x="2319647" y="334765"/>
                  <a:pt x="2470326" y="482601"/>
                  <a:pt x="2656197" y="482601"/>
                </a:cubicBezTo>
                <a:cubicBezTo>
                  <a:pt x="2842068" y="482601"/>
                  <a:pt x="2992747" y="334765"/>
                  <a:pt x="2992747" y="152401"/>
                </a:cubicBezTo>
                <a:cubicBezTo>
                  <a:pt x="2992747" y="106810"/>
                  <a:pt x="2983330" y="63377"/>
                  <a:pt x="2966299" y="23873"/>
                </a:cubicBezTo>
                <a:lnTo>
                  <a:pt x="2953093" y="1"/>
                </a:lnTo>
                <a:lnTo>
                  <a:pt x="5054600" y="1"/>
                </a:lnTo>
                <a:lnTo>
                  <a:pt x="5054600" y="885253"/>
                </a:lnTo>
                <a:lnTo>
                  <a:pt x="5056950" y="884002"/>
                </a:lnTo>
                <a:cubicBezTo>
                  <a:pt x="5097214" y="867293"/>
                  <a:pt x="5141483" y="858053"/>
                  <a:pt x="5187950" y="858053"/>
                </a:cubicBezTo>
                <a:cubicBezTo>
                  <a:pt x="5373821" y="858053"/>
                  <a:pt x="5524500" y="1005889"/>
                  <a:pt x="5524500" y="1188253"/>
                </a:cubicBezTo>
                <a:cubicBezTo>
                  <a:pt x="5524500" y="1370617"/>
                  <a:pt x="5373821" y="1518453"/>
                  <a:pt x="5187950" y="1518453"/>
                </a:cubicBezTo>
                <a:cubicBezTo>
                  <a:pt x="5141483" y="1518453"/>
                  <a:pt x="5097214" y="1509213"/>
                  <a:pt x="5056950" y="1492504"/>
                </a:cubicBezTo>
                <a:lnTo>
                  <a:pt x="5054600" y="1491253"/>
                </a:lnTo>
                <a:lnTo>
                  <a:pt x="5054600" y="2219663"/>
                </a:lnTo>
                <a:lnTo>
                  <a:pt x="5054600" y="2549866"/>
                </a:lnTo>
                <a:lnTo>
                  <a:pt x="5054600" y="2755777"/>
                </a:lnTo>
                <a:lnTo>
                  <a:pt x="1426186" y="2755777"/>
                </a:lnTo>
                <a:lnTo>
                  <a:pt x="1426176" y="2755778"/>
                </a:lnTo>
                <a:lnTo>
                  <a:pt x="250224" y="2755778"/>
                </a:lnTo>
                <a:cubicBezTo>
                  <a:pt x="112029" y="2755778"/>
                  <a:pt x="0" y="2643749"/>
                  <a:pt x="0" y="2505554"/>
                </a:cubicBezTo>
                <a:lnTo>
                  <a:pt x="0" y="1858270"/>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prstClr val="white"/>
              </a:solidFill>
              <a:effectLst/>
              <a:uLnTx/>
              <a:uFillTx/>
              <a:latin typeface="Arial" pitchFamily="34" charset="0"/>
              <a:ea typeface="+mn-ea"/>
              <a:cs typeface="+mn-cs"/>
              <a:sym typeface="Arial" panose="020B0604020202020204" pitchFamily="34" charset="0"/>
            </a:endParaRPr>
          </a:p>
        </p:txBody>
      </p:sp>
      <p:sp>
        <p:nvSpPr>
          <p:cNvPr id="5" name="Freeform: Shape 94">
            <a:extLst>
              <a:ext uri="{FF2B5EF4-FFF2-40B4-BE49-F238E27FC236}">
                <a16:creationId xmlns:a16="http://schemas.microsoft.com/office/drawing/2014/main" id="{D1AD7056-4677-3C2B-6F63-BC83D5A2FE7A}"/>
              </a:ext>
            </a:extLst>
          </p:cNvPr>
          <p:cNvSpPr/>
          <p:nvPr/>
        </p:nvSpPr>
        <p:spPr>
          <a:xfrm>
            <a:off x="5258428" y="958377"/>
            <a:ext cx="4937135" cy="2393108"/>
          </a:xfrm>
          <a:custGeom>
            <a:avLst/>
            <a:gdLst>
              <a:gd name="connsiteX0" fmla="*/ 508000 w 5564497"/>
              <a:gd name="connsiteY0" fmla="*/ 0 h 2796714"/>
              <a:gd name="connsiteX1" fmla="*/ 4136424 w 5564497"/>
              <a:gd name="connsiteY1" fmla="*/ 0 h 2796714"/>
              <a:gd name="connsiteX2" fmla="*/ 4484997 w 5564497"/>
              <a:gd name="connsiteY2" fmla="*/ 0 h 2796714"/>
              <a:gd name="connsiteX3" fmla="*/ 5312376 w 5564497"/>
              <a:gd name="connsiteY3" fmla="*/ 0 h 2796714"/>
              <a:gd name="connsiteX4" fmla="*/ 5562600 w 5564497"/>
              <a:gd name="connsiteY4" fmla="*/ 250224 h 2796714"/>
              <a:gd name="connsiteX5" fmla="*/ 5562600 w 5564497"/>
              <a:gd name="connsiteY5" fmla="*/ 938442 h 2796714"/>
              <a:gd name="connsiteX6" fmla="*/ 5564497 w 5564497"/>
              <a:gd name="connsiteY6" fmla="*/ 938442 h 2796714"/>
              <a:gd name="connsiteX7" fmla="*/ 5564497 w 5564497"/>
              <a:gd name="connsiteY7" fmla="*/ 2796713 h 2796714"/>
              <a:gd name="connsiteX8" fmla="*/ 5308600 w 5564497"/>
              <a:gd name="connsiteY8" fmla="*/ 2796713 h 2796714"/>
              <a:gd name="connsiteX9" fmla="*/ 4991100 w 5564497"/>
              <a:gd name="connsiteY9" fmla="*/ 2796713 h 2796714"/>
              <a:gd name="connsiteX10" fmla="*/ 4991100 w 5564497"/>
              <a:gd name="connsiteY10" fmla="*/ 2796714 h 2796714"/>
              <a:gd name="connsiteX11" fmla="*/ 3191144 w 5564497"/>
              <a:gd name="connsiteY11" fmla="*/ 2796714 h 2796714"/>
              <a:gd name="connsiteX12" fmla="*/ 3218402 w 5564497"/>
              <a:gd name="connsiteY12" fmla="*/ 2747442 h 2796714"/>
              <a:gd name="connsiteX13" fmla="*/ 3244850 w 5564497"/>
              <a:gd name="connsiteY13" fmla="*/ 2618914 h 2796714"/>
              <a:gd name="connsiteX14" fmla="*/ 2908300 w 5564497"/>
              <a:gd name="connsiteY14" fmla="*/ 2288714 h 2796714"/>
              <a:gd name="connsiteX15" fmla="*/ 2571750 w 5564497"/>
              <a:gd name="connsiteY15" fmla="*/ 2618914 h 2796714"/>
              <a:gd name="connsiteX16" fmla="*/ 2598198 w 5564497"/>
              <a:gd name="connsiteY16" fmla="*/ 2747442 h 2796714"/>
              <a:gd name="connsiteX17" fmla="*/ 2625456 w 5564497"/>
              <a:gd name="connsiteY17" fmla="*/ 2796714 h 2796714"/>
              <a:gd name="connsiteX18" fmla="*/ 508000 w 5564497"/>
              <a:gd name="connsiteY18" fmla="*/ 2796714 h 2796714"/>
              <a:gd name="connsiteX19" fmla="*/ 508000 w 5564497"/>
              <a:gd name="connsiteY19" fmla="*/ 1717811 h 2796714"/>
              <a:gd name="connsiteX20" fmla="*/ 467551 w 5564497"/>
              <a:gd name="connsiteY20" fmla="*/ 1739352 h 2796714"/>
              <a:gd name="connsiteX21" fmla="*/ 336550 w 5564497"/>
              <a:gd name="connsiteY21" fmla="*/ 1765301 h 2796714"/>
              <a:gd name="connsiteX22" fmla="*/ 0 w 5564497"/>
              <a:gd name="connsiteY22" fmla="*/ 1435101 h 2796714"/>
              <a:gd name="connsiteX23" fmla="*/ 336550 w 5564497"/>
              <a:gd name="connsiteY23" fmla="*/ 1104901 h 2796714"/>
              <a:gd name="connsiteX24" fmla="*/ 467551 w 5564497"/>
              <a:gd name="connsiteY24" fmla="*/ 1130850 h 2796714"/>
              <a:gd name="connsiteX25" fmla="*/ 508000 w 5564497"/>
              <a:gd name="connsiteY25" fmla="*/ 1152391 h 2796714"/>
              <a:gd name="connsiteX26" fmla="*/ 508000 w 5564497"/>
              <a:gd name="connsiteY26" fmla="*/ 536114 h 2796714"/>
              <a:gd name="connsiteX27" fmla="*/ 508000 w 5564497"/>
              <a:gd name="connsiteY27" fmla="*/ 246848 h 279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64497" h="2796714">
                <a:moveTo>
                  <a:pt x="508000" y="0"/>
                </a:moveTo>
                <a:lnTo>
                  <a:pt x="4136424" y="0"/>
                </a:lnTo>
                <a:lnTo>
                  <a:pt x="4484997" y="0"/>
                </a:lnTo>
                <a:lnTo>
                  <a:pt x="5312376" y="0"/>
                </a:lnTo>
                <a:cubicBezTo>
                  <a:pt x="5450571" y="0"/>
                  <a:pt x="5562600" y="112029"/>
                  <a:pt x="5562600" y="250224"/>
                </a:cubicBezTo>
                <a:lnTo>
                  <a:pt x="5562600" y="938442"/>
                </a:lnTo>
                <a:lnTo>
                  <a:pt x="5564497" y="938442"/>
                </a:lnTo>
                <a:lnTo>
                  <a:pt x="5564497" y="2796713"/>
                </a:lnTo>
                <a:lnTo>
                  <a:pt x="5308600" y="2796713"/>
                </a:lnTo>
                <a:lnTo>
                  <a:pt x="4991100" y="2796713"/>
                </a:lnTo>
                <a:lnTo>
                  <a:pt x="4991100" y="2796714"/>
                </a:lnTo>
                <a:lnTo>
                  <a:pt x="3191144" y="2796714"/>
                </a:lnTo>
                <a:lnTo>
                  <a:pt x="3218402" y="2747442"/>
                </a:lnTo>
                <a:cubicBezTo>
                  <a:pt x="3235433" y="2707938"/>
                  <a:pt x="3244850" y="2664505"/>
                  <a:pt x="3244850" y="2618914"/>
                </a:cubicBezTo>
                <a:cubicBezTo>
                  <a:pt x="3244850" y="2436550"/>
                  <a:pt x="3094171" y="2288714"/>
                  <a:pt x="2908300" y="2288714"/>
                </a:cubicBezTo>
                <a:cubicBezTo>
                  <a:pt x="2722429" y="2288714"/>
                  <a:pt x="2571750" y="2436550"/>
                  <a:pt x="2571750" y="2618914"/>
                </a:cubicBezTo>
                <a:cubicBezTo>
                  <a:pt x="2571750" y="2664505"/>
                  <a:pt x="2581167" y="2707938"/>
                  <a:pt x="2598198" y="2747442"/>
                </a:cubicBezTo>
                <a:lnTo>
                  <a:pt x="2625456" y="2796714"/>
                </a:lnTo>
                <a:lnTo>
                  <a:pt x="508000" y="2796714"/>
                </a:lnTo>
                <a:lnTo>
                  <a:pt x="508000" y="1717811"/>
                </a:lnTo>
                <a:lnTo>
                  <a:pt x="467551" y="1739352"/>
                </a:lnTo>
                <a:cubicBezTo>
                  <a:pt x="427286" y="1756061"/>
                  <a:pt x="383018" y="1765301"/>
                  <a:pt x="336550" y="1765301"/>
                </a:cubicBezTo>
                <a:cubicBezTo>
                  <a:pt x="150679" y="1765301"/>
                  <a:pt x="0" y="1617465"/>
                  <a:pt x="0" y="1435101"/>
                </a:cubicBezTo>
                <a:cubicBezTo>
                  <a:pt x="0" y="1252737"/>
                  <a:pt x="150679" y="1104901"/>
                  <a:pt x="336550" y="1104901"/>
                </a:cubicBezTo>
                <a:cubicBezTo>
                  <a:pt x="383018" y="1104901"/>
                  <a:pt x="427286" y="1114141"/>
                  <a:pt x="467551" y="1130850"/>
                </a:cubicBezTo>
                <a:lnTo>
                  <a:pt x="508000" y="1152391"/>
                </a:lnTo>
                <a:lnTo>
                  <a:pt x="508000" y="536114"/>
                </a:lnTo>
                <a:lnTo>
                  <a:pt x="508000" y="246848"/>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a:ln>
                <a:noFill/>
              </a:ln>
              <a:solidFill>
                <a:prstClr val="white"/>
              </a:solidFill>
              <a:effectLst/>
              <a:uLnTx/>
              <a:uFillTx/>
              <a:latin typeface="Segoe UI" pitchFamily="34" charset="0"/>
              <a:ea typeface="+mn-ea"/>
              <a:cs typeface="+mn-cs"/>
              <a:sym typeface="Arial" panose="020B0604020202020204" pitchFamily="34" charset="0"/>
            </a:endParaRPr>
          </a:p>
        </p:txBody>
      </p:sp>
      <p:sp>
        <p:nvSpPr>
          <p:cNvPr id="6" name="Freeform: Shape 93">
            <a:extLst>
              <a:ext uri="{FF2B5EF4-FFF2-40B4-BE49-F238E27FC236}">
                <a16:creationId xmlns:a16="http://schemas.microsoft.com/office/drawing/2014/main" id="{F5D190FE-1F62-66C2-8D69-FABD3E3C5524}"/>
              </a:ext>
            </a:extLst>
          </p:cNvPr>
          <p:cNvSpPr/>
          <p:nvPr/>
        </p:nvSpPr>
        <p:spPr>
          <a:xfrm>
            <a:off x="5709154" y="2916797"/>
            <a:ext cx="4486409" cy="2792767"/>
          </a:xfrm>
          <a:custGeom>
            <a:avLst/>
            <a:gdLst>
              <a:gd name="connsiteX0" fmla="*/ 2400300 w 5056497"/>
              <a:gd name="connsiteY0" fmla="*/ 0 h 3263777"/>
              <a:gd name="connsiteX1" fmla="*/ 2736850 w 5056497"/>
              <a:gd name="connsiteY1" fmla="*/ 330200 h 3263777"/>
              <a:gd name="connsiteX2" fmla="*/ 2710402 w 5056497"/>
              <a:gd name="connsiteY2" fmla="*/ 458728 h 3263777"/>
              <a:gd name="connsiteX3" fmla="*/ 2683144 w 5056497"/>
              <a:gd name="connsiteY3" fmla="*/ 508000 h 3263777"/>
              <a:gd name="connsiteX4" fmla="*/ 4483100 w 5056497"/>
              <a:gd name="connsiteY4" fmla="*/ 508000 h 3263777"/>
              <a:gd name="connsiteX5" fmla="*/ 4483100 w 5056497"/>
              <a:gd name="connsiteY5" fmla="*/ 507999 h 3263777"/>
              <a:gd name="connsiteX6" fmla="*/ 5056497 w 5056497"/>
              <a:gd name="connsiteY6" fmla="*/ 507999 h 3263777"/>
              <a:gd name="connsiteX7" fmla="*/ 5056497 w 5056497"/>
              <a:gd name="connsiteY7" fmla="*/ 2366270 h 3263777"/>
              <a:gd name="connsiteX8" fmla="*/ 5054600 w 5056497"/>
              <a:gd name="connsiteY8" fmla="*/ 2366270 h 3263777"/>
              <a:gd name="connsiteX9" fmla="*/ 5054600 w 5056497"/>
              <a:gd name="connsiteY9" fmla="*/ 3013553 h 3263777"/>
              <a:gd name="connsiteX10" fmla="*/ 4804376 w 5056497"/>
              <a:gd name="connsiteY10" fmla="*/ 3263777 h 3263777"/>
              <a:gd name="connsiteX11" fmla="*/ 3976997 w 5056497"/>
              <a:gd name="connsiteY11" fmla="*/ 3263777 h 3263777"/>
              <a:gd name="connsiteX12" fmla="*/ 3628424 w 5056497"/>
              <a:gd name="connsiteY12" fmla="*/ 3263777 h 3263777"/>
              <a:gd name="connsiteX13" fmla="*/ 0 w 5056497"/>
              <a:gd name="connsiteY13" fmla="*/ 3263777 h 3263777"/>
              <a:gd name="connsiteX14" fmla="*/ 0 w 5056497"/>
              <a:gd name="connsiteY14" fmla="*/ 3057866 h 3263777"/>
              <a:gd name="connsiteX15" fmla="*/ 0 w 5056497"/>
              <a:gd name="connsiteY15" fmla="*/ 2727663 h 3263777"/>
              <a:gd name="connsiteX16" fmla="*/ 0 w 5056497"/>
              <a:gd name="connsiteY16" fmla="*/ 2000264 h 3263777"/>
              <a:gd name="connsiteX17" fmla="*/ 452 w 5056497"/>
              <a:gd name="connsiteY17" fmla="*/ 2000504 h 3263777"/>
              <a:gd name="connsiteX18" fmla="*/ 131452 w 5056497"/>
              <a:gd name="connsiteY18" fmla="*/ 2026453 h 3263777"/>
              <a:gd name="connsiteX19" fmla="*/ 468002 w 5056497"/>
              <a:gd name="connsiteY19" fmla="*/ 1696253 h 3263777"/>
              <a:gd name="connsiteX20" fmla="*/ 131452 w 5056497"/>
              <a:gd name="connsiteY20" fmla="*/ 1366053 h 3263777"/>
              <a:gd name="connsiteX21" fmla="*/ 452 w 5056497"/>
              <a:gd name="connsiteY21" fmla="*/ 1392002 h 3263777"/>
              <a:gd name="connsiteX22" fmla="*/ 0 w 5056497"/>
              <a:gd name="connsiteY22" fmla="*/ 1392243 h 3263777"/>
              <a:gd name="connsiteX23" fmla="*/ 0 w 5056497"/>
              <a:gd name="connsiteY23" fmla="*/ 508000 h 3263777"/>
              <a:gd name="connsiteX24" fmla="*/ 2117456 w 5056497"/>
              <a:gd name="connsiteY24" fmla="*/ 508000 h 3263777"/>
              <a:gd name="connsiteX25" fmla="*/ 2090198 w 5056497"/>
              <a:gd name="connsiteY25" fmla="*/ 458728 h 3263777"/>
              <a:gd name="connsiteX26" fmla="*/ 2063750 w 5056497"/>
              <a:gd name="connsiteY26" fmla="*/ 330200 h 3263777"/>
              <a:gd name="connsiteX27" fmla="*/ 2400300 w 5056497"/>
              <a:gd name="connsiteY27" fmla="*/ 0 h 32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56497" h="3263777">
                <a:moveTo>
                  <a:pt x="2400300" y="0"/>
                </a:moveTo>
                <a:cubicBezTo>
                  <a:pt x="2586171" y="0"/>
                  <a:pt x="2736850" y="147836"/>
                  <a:pt x="2736850" y="330200"/>
                </a:cubicBezTo>
                <a:cubicBezTo>
                  <a:pt x="2736850" y="375791"/>
                  <a:pt x="2727433" y="419224"/>
                  <a:pt x="2710402" y="458728"/>
                </a:cubicBezTo>
                <a:lnTo>
                  <a:pt x="2683144" y="508000"/>
                </a:lnTo>
                <a:lnTo>
                  <a:pt x="4483100" y="508000"/>
                </a:lnTo>
                <a:lnTo>
                  <a:pt x="4483100" y="507999"/>
                </a:lnTo>
                <a:lnTo>
                  <a:pt x="5056497" y="507999"/>
                </a:lnTo>
                <a:lnTo>
                  <a:pt x="5056497" y="2366270"/>
                </a:lnTo>
                <a:lnTo>
                  <a:pt x="5054600" y="2366270"/>
                </a:lnTo>
                <a:lnTo>
                  <a:pt x="5054600" y="3013553"/>
                </a:lnTo>
                <a:cubicBezTo>
                  <a:pt x="5054600" y="3151748"/>
                  <a:pt x="4942571" y="3263777"/>
                  <a:pt x="4804376" y="3263777"/>
                </a:cubicBezTo>
                <a:lnTo>
                  <a:pt x="3976997" y="3263777"/>
                </a:lnTo>
                <a:lnTo>
                  <a:pt x="3628424" y="3263777"/>
                </a:lnTo>
                <a:lnTo>
                  <a:pt x="0" y="3263777"/>
                </a:lnTo>
                <a:lnTo>
                  <a:pt x="0" y="3057866"/>
                </a:lnTo>
                <a:lnTo>
                  <a:pt x="0" y="2727663"/>
                </a:lnTo>
                <a:lnTo>
                  <a:pt x="0" y="2000264"/>
                </a:lnTo>
                <a:lnTo>
                  <a:pt x="452" y="2000504"/>
                </a:lnTo>
                <a:cubicBezTo>
                  <a:pt x="40716" y="2017213"/>
                  <a:pt x="84985" y="2026453"/>
                  <a:pt x="131452" y="2026453"/>
                </a:cubicBezTo>
                <a:cubicBezTo>
                  <a:pt x="317323" y="2026453"/>
                  <a:pt x="468002" y="1878617"/>
                  <a:pt x="468002" y="1696253"/>
                </a:cubicBezTo>
                <a:cubicBezTo>
                  <a:pt x="468002" y="1513889"/>
                  <a:pt x="317323" y="1366053"/>
                  <a:pt x="131452" y="1366053"/>
                </a:cubicBezTo>
                <a:cubicBezTo>
                  <a:pt x="84985" y="1366053"/>
                  <a:pt x="40716" y="1375293"/>
                  <a:pt x="452" y="1392002"/>
                </a:cubicBezTo>
                <a:lnTo>
                  <a:pt x="0" y="1392243"/>
                </a:lnTo>
                <a:lnTo>
                  <a:pt x="0" y="508000"/>
                </a:lnTo>
                <a:lnTo>
                  <a:pt x="2117456" y="508000"/>
                </a:lnTo>
                <a:lnTo>
                  <a:pt x="2090198" y="458728"/>
                </a:lnTo>
                <a:cubicBezTo>
                  <a:pt x="2073167" y="419224"/>
                  <a:pt x="2063750" y="375791"/>
                  <a:pt x="2063750" y="330200"/>
                </a:cubicBezTo>
                <a:cubicBezTo>
                  <a:pt x="2063750" y="147836"/>
                  <a:pt x="2214429" y="0"/>
                  <a:pt x="2400300" y="0"/>
                </a:cubicBez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prstClr val="white"/>
              </a:solidFill>
              <a:effectLst/>
              <a:uLnTx/>
              <a:uFillTx/>
              <a:latin typeface="Arial" pitchFamily="34" charset="0"/>
              <a:ea typeface="+mn-ea"/>
              <a:cs typeface="+mn-cs"/>
              <a:sym typeface="Arial" panose="020B0604020202020204" pitchFamily="34" charset="0"/>
            </a:endParaRPr>
          </a:p>
        </p:txBody>
      </p:sp>
      <p:sp>
        <p:nvSpPr>
          <p:cNvPr id="7" name="Freeform: Shape 92">
            <a:extLst>
              <a:ext uri="{FF2B5EF4-FFF2-40B4-BE49-F238E27FC236}">
                <a16:creationId xmlns:a16="http://schemas.microsoft.com/office/drawing/2014/main" id="{AA9E32B1-CC1B-7D5C-0EA5-20666FF80250}"/>
              </a:ext>
            </a:extLst>
          </p:cNvPr>
          <p:cNvSpPr/>
          <p:nvPr/>
        </p:nvSpPr>
        <p:spPr>
          <a:xfrm>
            <a:off x="1222745" y="958377"/>
            <a:ext cx="4486409" cy="2806062"/>
          </a:xfrm>
          <a:custGeom>
            <a:avLst/>
            <a:gdLst>
              <a:gd name="connsiteX0" fmla="*/ 1079500 w 5056497"/>
              <a:gd name="connsiteY0" fmla="*/ 0 h 3279314"/>
              <a:gd name="connsiteX1" fmla="*/ 5056497 w 5056497"/>
              <a:gd name="connsiteY1" fmla="*/ 0 h 3279314"/>
              <a:gd name="connsiteX2" fmla="*/ 5056497 w 5056497"/>
              <a:gd name="connsiteY2" fmla="*/ 246848 h 3279314"/>
              <a:gd name="connsiteX3" fmla="*/ 5056497 w 5056497"/>
              <a:gd name="connsiteY3" fmla="*/ 536114 h 3279314"/>
              <a:gd name="connsiteX4" fmla="*/ 5056497 w 5056497"/>
              <a:gd name="connsiteY4" fmla="*/ 1152391 h 3279314"/>
              <a:gd name="connsiteX5" fmla="*/ 5016048 w 5056497"/>
              <a:gd name="connsiteY5" fmla="*/ 1130850 h 3279314"/>
              <a:gd name="connsiteX6" fmla="*/ 4885047 w 5056497"/>
              <a:gd name="connsiteY6" fmla="*/ 1104901 h 3279314"/>
              <a:gd name="connsiteX7" fmla="*/ 4548497 w 5056497"/>
              <a:gd name="connsiteY7" fmla="*/ 1435101 h 3279314"/>
              <a:gd name="connsiteX8" fmla="*/ 4885047 w 5056497"/>
              <a:gd name="connsiteY8" fmla="*/ 1765301 h 3279314"/>
              <a:gd name="connsiteX9" fmla="*/ 5016048 w 5056497"/>
              <a:gd name="connsiteY9" fmla="*/ 1739352 h 3279314"/>
              <a:gd name="connsiteX10" fmla="*/ 5056497 w 5056497"/>
              <a:gd name="connsiteY10" fmla="*/ 1717811 h 3279314"/>
              <a:gd name="connsiteX11" fmla="*/ 5056497 w 5056497"/>
              <a:gd name="connsiteY11" fmla="*/ 2796714 h 3279314"/>
              <a:gd name="connsiteX12" fmla="*/ 2953093 w 5056497"/>
              <a:gd name="connsiteY12" fmla="*/ 2796714 h 3279314"/>
              <a:gd name="connsiteX13" fmla="*/ 2966299 w 5056497"/>
              <a:gd name="connsiteY13" fmla="*/ 2820586 h 3279314"/>
              <a:gd name="connsiteX14" fmla="*/ 2992747 w 5056497"/>
              <a:gd name="connsiteY14" fmla="*/ 2949114 h 3279314"/>
              <a:gd name="connsiteX15" fmla="*/ 2656197 w 5056497"/>
              <a:gd name="connsiteY15" fmla="*/ 3279314 h 3279314"/>
              <a:gd name="connsiteX16" fmla="*/ 2319647 w 5056497"/>
              <a:gd name="connsiteY16" fmla="*/ 2949114 h 3279314"/>
              <a:gd name="connsiteX17" fmla="*/ 2346095 w 5056497"/>
              <a:gd name="connsiteY17" fmla="*/ 2820586 h 3279314"/>
              <a:gd name="connsiteX18" fmla="*/ 2359301 w 5056497"/>
              <a:gd name="connsiteY18" fmla="*/ 2796714 h 3279314"/>
              <a:gd name="connsiteX19" fmla="*/ 255897 w 5056497"/>
              <a:gd name="connsiteY19" fmla="*/ 2796714 h 3279314"/>
              <a:gd name="connsiteX20" fmla="*/ 255897 w 5056497"/>
              <a:gd name="connsiteY20" fmla="*/ 2796713 h 3279314"/>
              <a:gd name="connsiteX21" fmla="*/ 0 w 5056497"/>
              <a:gd name="connsiteY21" fmla="*/ 2796713 h 3279314"/>
              <a:gd name="connsiteX22" fmla="*/ 0 w 5056497"/>
              <a:gd name="connsiteY22" fmla="*/ 938442 h 3279314"/>
              <a:gd name="connsiteX23" fmla="*/ 1897 w 5056497"/>
              <a:gd name="connsiteY23" fmla="*/ 938442 h 3279314"/>
              <a:gd name="connsiteX24" fmla="*/ 1897 w 5056497"/>
              <a:gd name="connsiteY24" fmla="*/ 250225 h 3279314"/>
              <a:gd name="connsiteX25" fmla="*/ 252121 w 5056497"/>
              <a:gd name="connsiteY25" fmla="*/ 1 h 3279314"/>
              <a:gd name="connsiteX26" fmla="*/ 1079500 w 5056497"/>
              <a:gd name="connsiteY26" fmla="*/ 1 h 3279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56497" h="3279314">
                <a:moveTo>
                  <a:pt x="1079500" y="0"/>
                </a:moveTo>
                <a:lnTo>
                  <a:pt x="5056497" y="0"/>
                </a:lnTo>
                <a:lnTo>
                  <a:pt x="5056497" y="246848"/>
                </a:lnTo>
                <a:lnTo>
                  <a:pt x="5056497" y="536114"/>
                </a:lnTo>
                <a:lnTo>
                  <a:pt x="5056497" y="1152391"/>
                </a:lnTo>
                <a:lnTo>
                  <a:pt x="5016048" y="1130850"/>
                </a:lnTo>
                <a:cubicBezTo>
                  <a:pt x="4975783" y="1114141"/>
                  <a:pt x="4931515" y="1104901"/>
                  <a:pt x="4885047" y="1104901"/>
                </a:cubicBezTo>
                <a:cubicBezTo>
                  <a:pt x="4699176" y="1104901"/>
                  <a:pt x="4548497" y="1252737"/>
                  <a:pt x="4548497" y="1435101"/>
                </a:cubicBezTo>
                <a:cubicBezTo>
                  <a:pt x="4548497" y="1617465"/>
                  <a:pt x="4699176" y="1765301"/>
                  <a:pt x="4885047" y="1765301"/>
                </a:cubicBezTo>
                <a:cubicBezTo>
                  <a:pt x="4931515" y="1765301"/>
                  <a:pt x="4975783" y="1756061"/>
                  <a:pt x="5016048" y="1739352"/>
                </a:cubicBezTo>
                <a:lnTo>
                  <a:pt x="5056497" y="1717811"/>
                </a:lnTo>
                <a:lnTo>
                  <a:pt x="5056497" y="2796714"/>
                </a:lnTo>
                <a:lnTo>
                  <a:pt x="2953093" y="2796714"/>
                </a:lnTo>
                <a:lnTo>
                  <a:pt x="2966299" y="2820586"/>
                </a:lnTo>
                <a:cubicBezTo>
                  <a:pt x="2983330" y="2860090"/>
                  <a:pt x="2992747" y="2903523"/>
                  <a:pt x="2992747" y="2949114"/>
                </a:cubicBezTo>
                <a:cubicBezTo>
                  <a:pt x="2992747" y="3131478"/>
                  <a:pt x="2842068" y="3279314"/>
                  <a:pt x="2656197" y="3279314"/>
                </a:cubicBezTo>
                <a:cubicBezTo>
                  <a:pt x="2470326" y="3279314"/>
                  <a:pt x="2319647" y="3131478"/>
                  <a:pt x="2319647" y="2949114"/>
                </a:cubicBezTo>
                <a:cubicBezTo>
                  <a:pt x="2319647" y="2903523"/>
                  <a:pt x="2329065" y="2860090"/>
                  <a:pt x="2346095" y="2820586"/>
                </a:cubicBezTo>
                <a:lnTo>
                  <a:pt x="2359301" y="2796714"/>
                </a:lnTo>
                <a:lnTo>
                  <a:pt x="255897" y="2796714"/>
                </a:lnTo>
                <a:lnTo>
                  <a:pt x="255897" y="2796713"/>
                </a:lnTo>
                <a:lnTo>
                  <a:pt x="0" y="2796713"/>
                </a:lnTo>
                <a:lnTo>
                  <a:pt x="0" y="938442"/>
                </a:lnTo>
                <a:lnTo>
                  <a:pt x="1897" y="938442"/>
                </a:lnTo>
                <a:lnTo>
                  <a:pt x="1897" y="250225"/>
                </a:lnTo>
                <a:cubicBezTo>
                  <a:pt x="1897" y="112030"/>
                  <a:pt x="113926" y="1"/>
                  <a:pt x="252121" y="1"/>
                </a:cubicBezTo>
                <a:lnTo>
                  <a:pt x="1079500" y="1"/>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a:ln>
                <a:noFill/>
              </a:ln>
              <a:solidFill>
                <a:prstClr val="white"/>
              </a:solidFill>
              <a:effectLst/>
              <a:uLnTx/>
              <a:uFillTx/>
              <a:latin typeface="Segoe UI" pitchFamily="34" charset="0"/>
              <a:ea typeface="+mn-ea"/>
              <a:cs typeface="+mn-cs"/>
              <a:sym typeface="Arial" panose="020B0604020202020204" pitchFamily="34" charset="0"/>
            </a:endParaRPr>
          </a:p>
        </p:txBody>
      </p:sp>
      <p:grpSp>
        <p:nvGrpSpPr>
          <p:cNvPr id="8" name="Group 7">
            <a:extLst>
              <a:ext uri="{FF2B5EF4-FFF2-40B4-BE49-F238E27FC236}">
                <a16:creationId xmlns:a16="http://schemas.microsoft.com/office/drawing/2014/main" id="{A3A0AC90-18F0-32D3-BF3C-0F020F87AD85}"/>
              </a:ext>
            </a:extLst>
          </p:cNvPr>
          <p:cNvGrpSpPr/>
          <p:nvPr/>
        </p:nvGrpSpPr>
        <p:grpSpPr>
          <a:xfrm>
            <a:off x="2744226" y="1600606"/>
            <a:ext cx="1472341" cy="834915"/>
            <a:chOff x="1383572" y="2033847"/>
            <a:chExt cx="1659430" cy="975727"/>
          </a:xfrm>
          <a:effectLst/>
        </p:grpSpPr>
        <p:pic>
          <p:nvPicPr>
            <p:cNvPr id="9" name="Graphic 31">
              <a:extLst>
                <a:ext uri="{FF2B5EF4-FFF2-40B4-BE49-F238E27FC236}">
                  <a16:creationId xmlns:a16="http://schemas.microsoft.com/office/drawing/2014/main" id="{3BF3B155-5F2E-D8B6-EBAE-161D2E4F5BE2}"/>
                </a:ext>
              </a:extLst>
            </p:cNvPr>
            <p:cNvPicPr>
              <a:picLocks noChangeAspect="1"/>
            </p:cNvPicPr>
            <p:nvPr/>
          </p:nvPicPr>
          <p:blipFill>
            <a:blip r:embed="rId2">
              <a:duotone>
                <a:srgbClr val="765FFF"/>
                <a:srgbClr val="FFFFFF"/>
              </a:duotone>
            </a:blip>
            <a:stretch>
              <a:fillRect/>
            </a:stretch>
          </p:blipFill>
          <p:spPr>
            <a:xfrm>
              <a:off x="1964951" y="2033847"/>
              <a:ext cx="527076" cy="527077"/>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512E9D75-EB2A-6033-19F5-45ADE162AB6A}"/>
                </a:ext>
              </a:extLst>
            </p:cNvPr>
            <p:cNvSpPr txBox="1"/>
            <p:nvPr/>
          </p:nvSpPr>
          <p:spPr>
            <a:xfrm>
              <a:off x="1383572" y="2640242"/>
              <a:ext cx="1659430" cy="369332"/>
            </a:xfrm>
            <a:prstGeom prst="rect">
              <a:avLst/>
            </a:prstGeom>
            <a:noFill/>
            <a:ln>
              <a:noFill/>
            </a:ln>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10" normalizeH="0" baseline="0" noProof="0">
                  <a:ln>
                    <a:noFill/>
                  </a:ln>
                  <a:solidFill>
                    <a:srgbClr val="281A42"/>
                  </a:solidFill>
                  <a:effectLst/>
                  <a:uLnTx/>
                  <a:uFillTx/>
                  <a:latin typeface="Segoe UI" pitchFamily="34" charset="0"/>
                  <a:ea typeface="+mn-ea"/>
                  <a:cs typeface="Arial" panose="020B0604020202020204" pitchFamily="34" charset="0"/>
                  <a:sym typeface="Arial" panose="020B0604020202020204" pitchFamily="34" charset="0"/>
                </a:rPr>
                <a:t>CEO success</a:t>
              </a:r>
            </a:p>
          </p:txBody>
        </p:sp>
      </p:grpSp>
      <p:sp>
        <p:nvSpPr>
          <p:cNvPr id="11" name="TextBox 10">
            <a:extLst>
              <a:ext uri="{FF2B5EF4-FFF2-40B4-BE49-F238E27FC236}">
                <a16:creationId xmlns:a16="http://schemas.microsoft.com/office/drawing/2014/main" id="{1E3BF05E-50D1-4A20-24E2-F7313B61DD7B}"/>
              </a:ext>
            </a:extLst>
          </p:cNvPr>
          <p:cNvSpPr txBox="1"/>
          <p:nvPr/>
        </p:nvSpPr>
        <p:spPr>
          <a:xfrm>
            <a:off x="1476234" y="2604741"/>
            <a:ext cx="4035302" cy="461665"/>
          </a:xfrm>
          <a:prstGeom prst="rect">
            <a:avLst/>
          </a:prstGeom>
          <a:noFill/>
          <a:ln>
            <a:noFill/>
          </a:ln>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“We Have a Brilliant CEO but do we have the Ecosystem for him to deliver?”</a:t>
            </a:r>
          </a:p>
        </p:txBody>
      </p:sp>
      <p:sp>
        <p:nvSpPr>
          <p:cNvPr id="12" name="TextBox 11">
            <a:extLst>
              <a:ext uri="{FF2B5EF4-FFF2-40B4-BE49-F238E27FC236}">
                <a16:creationId xmlns:a16="http://schemas.microsoft.com/office/drawing/2014/main" id="{F65204B4-7722-6BAB-FA34-ABD48D783D4E}"/>
              </a:ext>
            </a:extLst>
          </p:cNvPr>
          <p:cNvSpPr txBox="1"/>
          <p:nvPr/>
        </p:nvSpPr>
        <p:spPr>
          <a:xfrm>
            <a:off x="5873480" y="2284531"/>
            <a:ext cx="4183303" cy="646331"/>
          </a:xfrm>
          <a:prstGeom prst="rect">
            <a:avLst/>
          </a:prstGeom>
          <a:noFill/>
          <a:ln>
            <a:noFill/>
          </a:ln>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WHAT ARE THE </a:t>
            </a:r>
            <a:r>
              <a:rPr kumimoji="0" lang="en-US" sz="1200" b="1" i="0" u="none" strike="noStrike" kern="0" cap="none" spc="-10" normalizeH="0" baseline="0" noProof="0">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tl val="0"/>
              </a:rPr>
              <a:t>BIG BETS </a:t>
            </a: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TO DELIVER VALUE?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ARE THE </a:t>
            </a:r>
            <a:r>
              <a:rPr kumimoji="0" lang="en-US" sz="1200" b="1" i="0" u="none" strike="noStrike" kern="0" cap="none" spc="-10" normalizeH="0" baseline="0" noProof="0">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tl val="0"/>
              </a:rPr>
              <a:t>STAKEHOLDERS ALIGNED </a:t>
            </a: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TO THE BIG BETS? </a:t>
            </a:r>
          </a:p>
        </p:txBody>
      </p:sp>
      <p:sp>
        <p:nvSpPr>
          <p:cNvPr id="13" name="TextBox 12">
            <a:extLst>
              <a:ext uri="{FF2B5EF4-FFF2-40B4-BE49-F238E27FC236}">
                <a16:creationId xmlns:a16="http://schemas.microsoft.com/office/drawing/2014/main" id="{4B07CF93-72F3-EB3E-D43B-76E8E339D6B4}"/>
              </a:ext>
            </a:extLst>
          </p:cNvPr>
          <p:cNvSpPr txBox="1"/>
          <p:nvPr/>
        </p:nvSpPr>
        <p:spPr>
          <a:xfrm>
            <a:off x="5747458" y="4919397"/>
            <a:ext cx="4448105" cy="461665"/>
          </a:xfrm>
          <a:prstGeom prst="rect">
            <a:avLst/>
          </a:prstGeom>
          <a:noFill/>
          <a:ln>
            <a:noFill/>
          </a:ln>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tl val="0"/>
              </a:rPr>
              <a:t>ARE WE TALENTED ENOUGH AT THE POINTS OF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EXCEPTIONAL TALENT IN 20 – 30 CRITICAL ROLES</a:t>
            </a:r>
          </a:p>
        </p:txBody>
      </p:sp>
      <p:pic>
        <p:nvPicPr>
          <p:cNvPr id="14" name="Picture 13" descr="Bend the Curve">
            <a:extLst>
              <a:ext uri="{FF2B5EF4-FFF2-40B4-BE49-F238E27FC236}">
                <a16:creationId xmlns:a16="http://schemas.microsoft.com/office/drawing/2014/main" id="{B3BDF397-ADB1-AC97-0413-2AB919985279}"/>
              </a:ext>
            </a:extLst>
          </p:cNvPr>
          <p:cNvPicPr>
            <a:picLocks noChangeAspect="1"/>
          </p:cNvPicPr>
          <p:nvPr/>
        </p:nvPicPr>
        <p:blipFill>
          <a:blip r:embed="rId3">
            <a:duotone>
              <a:srgbClr val="765FFF"/>
              <a:srgbClr val="FFFFFF"/>
            </a:duotone>
          </a:blip>
          <a:stretch>
            <a:fillRect/>
          </a:stretch>
        </p:blipFill>
        <p:spPr>
          <a:xfrm>
            <a:off x="7487186" y="1407379"/>
            <a:ext cx="765248" cy="738019"/>
          </a:xfrm>
          <a:prstGeom prst="rect">
            <a:avLst/>
          </a:prstGeom>
          <a:ln>
            <a:noFill/>
          </a:ln>
        </p:spPr>
      </p:pic>
      <p:sp>
        <p:nvSpPr>
          <p:cNvPr id="15" name="TextBox 14">
            <a:extLst>
              <a:ext uri="{FF2B5EF4-FFF2-40B4-BE49-F238E27FC236}">
                <a16:creationId xmlns:a16="http://schemas.microsoft.com/office/drawing/2014/main" id="{29A842B4-B87B-E596-245C-0105CD7EC17E}"/>
              </a:ext>
            </a:extLst>
          </p:cNvPr>
          <p:cNvSpPr txBox="1"/>
          <p:nvPr/>
        </p:nvSpPr>
        <p:spPr>
          <a:xfrm>
            <a:off x="1464622" y="4773332"/>
            <a:ext cx="4183303" cy="830997"/>
          </a:xfrm>
          <a:prstGeom prst="rect">
            <a:avLst/>
          </a:prstGeom>
          <a:noFill/>
          <a:ln>
            <a:noFill/>
          </a:ln>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br>
            <a:r>
              <a:rPr kumimoji="0" lang="en-US" sz="1200" b="1" i="0" u="none" strike="noStrike" kern="0" cap="none" spc="-10" normalizeH="0" baseline="0" noProof="0">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tl val="0"/>
              </a:rPr>
              <a:t>IS MY LEADERSHIP TEAM READY?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rPr>
              <a:t>CEO, COO, CFO, CTO, CHRO, BU PRESIDENTS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10" normalizeH="0" baseline="0" noProof="0">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tl val="0"/>
            </a:endParaRPr>
          </a:p>
        </p:txBody>
      </p:sp>
      <p:pic>
        <p:nvPicPr>
          <p:cNvPr id="16" name="Picture 15" descr="Identify critical roles">
            <a:extLst>
              <a:ext uri="{FF2B5EF4-FFF2-40B4-BE49-F238E27FC236}">
                <a16:creationId xmlns:a16="http://schemas.microsoft.com/office/drawing/2014/main" id="{58C9D126-39D9-265D-2C6C-6233B94B8353}"/>
              </a:ext>
            </a:extLst>
          </p:cNvPr>
          <p:cNvPicPr>
            <a:picLocks noChangeAspect="1"/>
          </p:cNvPicPr>
          <p:nvPr/>
        </p:nvPicPr>
        <p:blipFill>
          <a:blip r:embed="rId4">
            <a:duotone>
              <a:srgbClr val="765FFF"/>
              <a:srgbClr val="FFFFFF"/>
            </a:duotone>
          </a:blip>
          <a:stretch>
            <a:fillRect/>
          </a:stretch>
        </p:blipFill>
        <p:spPr>
          <a:xfrm>
            <a:off x="2906021" y="3761981"/>
            <a:ext cx="1176660" cy="1134792"/>
          </a:xfrm>
          <a:prstGeom prst="rect">
            <a:avLst/>
          </a:prstGeom>
          <a:ln>
            <a:noFill/>
          </a:ln>
        </p:spPr>
      </p:pic>
      <p:pic>
        <p:nvPicPr>
          <p:cNvPr id="17" name="Picture 16" descr="The Code">
            <a:extLst>
              <a:ext uri="{FF2B5EF4-FFF2-40B4-BE49-F238E27FC236}">
                <a16:creationId xmlns:a16="http://schemas.microsoft.com/office/drawing/2014/main" id="{ED220103-AE14-9F7C-C18B-BAB024440338}"/>
              </a:ext>
            </a:extLst>
          </p:cNvPr>
          <p:cNvPicPr>
            <a:picLocks noChangeAspect="1"/>
          </p:cNvPicPr>
          <p:nvPr/>
        </p:nvPicPr>
        <p:blipFill>
          <a:blip r:embed="rId5">
            <a:duotone>
              <a:srgbClr val="765FFF"/>
              <a:srgbClr val="FFFFFF"/>
            </a:duotone>
          </a:blip>
          <a:stretch>
            <a:fillRect/>
          </a:stretch>
        </p:blipFill>
        <p:spPr>
          <a:xfrm>
            <a:off x="7072784" y="3944319"/>
            <a:ext cx="798531" cy="770117"/>
          </a:xfrm>
          <a:prstGeom prst="rect">
            <a:avLst/>
          </a:prstGeom>
          <a:ln>
            <a:noFill/>
          </a:ln>
        </p:spPr>
      </p:pic>
      <p:pic>
        <p:nvPicPr>
          <p:cNvPr id="18" name="Picture 17" descr="Choose">
            <a:extLst>
              <a:ext uri="{FF2B5EF4-FFF2-40B4-BE49-F238E27FC236}">
                <a16:creationId xmlns:a16="http://schemas.microsoft.com/office/drawing/2014/main" id="{5EFFFB75-E22C-1360-A0BF-51D8C62ADD2A}"/>
              </a:ext>
            </a:extLst>
          </p:cNvPr>
          <p:cNvPicPr>
            <a:picLocks noChangeAspect="1"/>
          </p:cNvPicPr>
          <p:nvPr/>
        </p:nvPicPr>
        <p:blipFill>
          <a:blip r:embed="rId6">
            <a:duotone>
              <a:srgbClr val="765FFF"/>
              <a:srgbClr val="FFFFFF"/>
            </a:duotone>
          </a:blip>
          <a:stretch>
            <a:fillRect/>
          </a:stretch>
        </p:blipFill>
        <p:spPr>
          <a:xfrm>
            <a:off x="7971510" y="3981470"/>
            <a:ext cx="798531" cy="770117"/>
          </a:xfrm>
          <a:prstGeom prst="rect">
            <a:avLst/>
          </a:prstGeom>
          <a:ln>
            <a:noFill/>
          </a:ln>
        </p:spPr>
      </p:pic>
      <p:sp>
        <p:nvSpPr>
          <p:cNvPr id="19" name="TextBox 18">
            <a:extLst>
              <a:ext uri="{FF2B5EF4-FFF2-40B4-BE49-F238E27FC236}">
                <a16:creationId xmlns:a16="http://schemas.microsoft.com/office/drawing/2014/main" id="{C160428A-A359-7AC0-C0BE-D2CAC0D11082}"/>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319558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149CF7-5CDF-BF9C-DD72-DE57C6A4D06E}"/>
              </a:ext>
            </a:extLst>
          </p:cNvPr>
          <p:cNvSpPr>
            <a:spLocks noGrp="1"/>
          </p:cNvSpPr>
          <p:nvPr>
            <p:ph type="sldNum" sz="quarter" idx="4"/>
          </p:nvPr>
        </p:nvSpPr>
        <p:spPr/>
        <p:txBody>
          <a:bodyPr/>
          <a:lstStyle/>
          <a:p>
            <a:pPr algn="ctr"/>
            <a:fld id="{1875A764-3B06-454E-8ABA-2F6ED0EB58E9}" type="slidenum">
              <a:rPr lang="en-US" smtClean="0"/>
              <a:t>21</a:t>
            </a:fld>
            <a:endParaRPr lang="en-US"/>
          </a:p>
        </p:txBody>
      </p:sp>
      <p:sp>
        <p:nvSpPr>
          <p:cNvPr id="3" name="Title 2">
            <a:extLst>
              <a:ext uri="{FF2B5EF4-FFF2-40B4-BE49-F238E27FC236}">
                <a16:creationId xmlns:a16="http://schemas.microsoft.com/office/drawing/2014/main" id="{C1EBA8CB-90D3-2533-3CB4-D7266E835780}"/>
              </a:ext>
            </a:extLst>
          </p:cNvPr>
          <p:cNvSpPr>
            <a:spLocks noGrp="1"/>
          </p:cNvSpPr>
          <p:nvPr>
            <p:ph type="title"/>
          </p:nvPr>
        </p:nvSpPr>
        <p:spPr/>
        <p:txBody>
          <a:bodyPr/>
          <a:lstStyle/>
          <a:p>
            <a:r>
              <a:rPr lang="en-GB" dirty="0">
                <a:solidFill>
                  <a:srgbClr val="281A42"/>
                </a:solidFill>
                <a:ea typeface="Lato"/>
                <a:cs typeface="Lato"/>
              </a:rPr>
              <a:t>Next Steps</a:t>
            </a:r>
            <a:endParaRPr lang="en-US" dirty="0"/>
          </a:p>
        </p:txBody>
      </p:sp>
      <p:pic>
        <p:nvPicPr>
          <p:cNvPr id="4" name="Picture 3">
            <a:extLst>
              <a:ext uri="{FF2B5EF4-FFF2-40B4-BE49-F238E27FC236}">
                <a16:creationId xmlns:a16="http://schemas.microsoft.com/office/drawing/2014/main" id="{11C44550-7A4D-22BE-C6D1-9AC54FA803CB}"/>
              </a:ext>
            </a:extLst>
          </p:cNvPr>
          <p:cNvPicPr>
            <a:picLocks noChangeAspect="1"/>
          </p:cNvPicPr>
          <p:nvPr/>
        </p:nvPicPr>
        <p:blipFill>
          <a:blip r:embed="rId2">
            <a:duotone>
              <a:srgbClr val="765FFF"/>
              <a:srgbClr val="FFFFFF"/>
            </a:duotone>
          </a:blip>
          <a:stretch>
            <a:fillRect/>
          </a:stretch>
        </p:blipFill>
        <p:spPr>
          <a:xfrm>
            <a:off x="371350" y="1123888"/>
            <a:ext cx="1957761" cy="1077710"/>
          </a:xfrm>
          <a:prstGeom prst="rect">
            <a:avLst/>
          </a:prstGeom>
        </p:spPr>
      </p:pic>
      <p:graphicFrame>
        <p:nvGraphicFramePr>
          <p:cNvPr id="5" name="Table 4">
            <a:extLst>
              <a:ext uri="{FF2B5EF4-FFF2-40B4-BE49-F238E27FC236}">
                <a16:creationId xmlns:a16="http://schemas.microsoft.com/office/drawing/2014/main" id="{1A54393A-EB29-6305-6122-C368858DC4B1}"/>
              </a:ext>
            </a:extLst>
          </p:cNvPr>
          <p:cNvGraphicFramePr>
            <a:graphicFrameLocks noGrp="1"/>
          </p:cNvGraphicFramePr>
          <p:nvPr>
            <p:extLst>
              <p:ext uri="{D42A27DB-BD31-4B8C-83A1-F6EECF244321}">
                <p14:modId xmlns:p14="http://schemas.microsoft.com/office/powerpoint/2010/main" val="820840743"/>
              </p:ext>
            </p:extLst>
          </p:nvPr>
        </p:nvGraphicFramePr>
        <p:xfrm>
          <a:off x="4325298" y="826267"/>
          <a:ext cx="7375974" cy="1579100"/>
        </p:xfrm>
        <a:graphic>
          <a:graphicData uri="http://schemas.openxmlformats.org/drawingml/2006/table">
            <a:tbl>
              <a:tblPr>
                <a:tableStyleId>{9DCAF9ED-07DC-4A11-8D7F-57B35C25682E}</a:tableStyleId>
              </a:tblPr>
              <a:tblGrid>
                <a:gridCol w="7375974">
                  <a:extLst>
                    <a:ext uri="{9D8B030D-6E8A-4147-A177-3AD203B41FA5}">
                      <a16:colId xmlns:a16="http://schemas.microsoft.com/office/drawing/2014/main" val="3290208004"/>
                    </a:ext>
                  </a:extLst>
                </a:gridCol>
              </a:tblGrid>
              <a:tr h="1132521">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kumimoji="0" lang="en-US" sz="1000" b="1" u="none" strike="noStrike" kern="0" cap="none" spc="0" normalizeH="0" baseline="0" noProof="0" dirty="0">
                          <a:ln>
                            <a:noFill/>
                          </a:ln>
                          <a:solidFill>
                            <a:schemeClr val="tx1"/>
                          </a:solidFill>
                          <a:effectLst/>
                          <a:uLnTx/>
                          <a:uFillTx/>
                        </a:rPr>
                        <a:t>CLARIFY THE MANDATE ON R&amp;D AND DIGITAL</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u="none" strike="noStrike" kern="0" cap="none" spc="0" normalizeH="0" baseline="0" noProof="0" dirty="0">
                          <a:ln>
                            <a:noFill/>
                          </a:ln>
                          <a:solidFill>
                            <a:schemeClr val="tx1"/>
                          </a:solidFill>
                          <a:effectLst/>
                          <a:uLnTx/>
                          <a:uFillTx/>
                        </a:rPr>
                        <a:t>Digital: Define next evolution of digital strategy &amp; roadmap (beyond IT </a:t>
                      </a:r>
                      <a:r>
                        <a:rPr kumimoji="0" lang="en-US" sz="1000" b="0" i="0" u="none" strike="noStrike" kern="1200" cap="none" spc="-10" normalizeH="0" baseline="0" noProof="0" dirty="0">
                          <a:ln>
                            <a:noFill/>
                          </a:ln>
                          <a:solidFill>
                            <a:srgbClr val="1D1D1D"/>
                          </a:solidFill>
                          <a:effectLst/>
                          <a:uLnTx/>
                          <a:uFillTx/>
                          <a:latin typeface="Arial" pitchFamily="34" charset="0"/>
                        </a:rPr>
                        <a:t>Foundations) and get Board endorsement.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u="none" strike="noStrike" kern="0" cap="none" spc="0" normalizeH="0" baseline="0" noProof="0" dirty="0">
                          <a:ln>
                            <a:noFill/>
                          </a:ln>
                          <a:solidFill>
                            <a:schemeClr val="tx1"/>
                          </a:solidFill>
                          <a:effectLst/>
                          <a:uLnTx/>
                          <a:uFillTx/>
                        </a:rPr>
                        <a:t>Define which digital roles should sit centrally vs. which roles </a:t>
                      </a: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should sit in the subsidiaries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R&amp;D: Define </a:t>
                      </a:r>
                      <a:r>
                        <a:rPr kumimoji="0" lang="en-GB" sz="1000" b="0" i="0" u="none" strike="noStrike" kern="1200" cap="none" spc="-10" normalizeH="0" baseline="0" dirty="0">
                          <a:ln>
                            <a:noFill/>
                          </a:ln>
                          <a:solidFill>
                            <a:srgbClr val="1D1D1D"/>
                          </a:solidFill>
                          <a:effectLst/>
                          <a:uLnTx/>
                          <a:uFillTx/>
                          <a:latin typeface="Arial" pitchFamily="34" charset="0"/>
                          <a:ea typeface="+mn-ea"/>
                          <a:cs typeface="+mn-cs"/>
                        </a:rPr>
                        <a:t>R&amp;D priorities </a:t>
                      </a:r>
                      <a:r>
                        <a:rPr kumimoji="0" lang="en-GB" sz="1000" b="0" u="none" strike="noStrike" kern="0" cap="none" spc="0" normalizeH="0" baseline="0" dirty="0">
                          <a:ln>
                            <a:noFill/>
                          </a:ln>
                          <a:solidFill>
                            <a:schemeClr val="tx1"/>
                          </a:solidFill>
                          <a:effectLst/>
                          <a:uLnTx/>
                          <a:uFillTx/>
                        </a:rPr>
                        <a:t>and pivotal work required in the new organization structure and get Board endorsement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endParaRPr kumimoji="0" lang="en-US" sz="1000" b="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kumimoji="0" lang="en-US" sz="1000" b="1" u="none" strike="noStrike" kern="0" cap="none" spc="0" normalizeH="0" baseline="0" noProof="0" dirty="0">
                          <a:ln>
                            <a:noFill/>
                          </a:ln>
                          <a:solidFill>
                            <a:schemeClr val="tx1"/>
                          </a:solidFill>
                          <a:effectLst/>
                          <a:uLnTx/>
                          <a:uFillTx/>
                        </a:rPr>
                        <a:t>OPERATING MODEL - HOW DO YOU WANT TO RUN THE PLACE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Review Operating</a:t>
                      </a:r>
                      <a:r>
                        <a:rPr kumimoji="0" lang="en-GB" sz="1000" b="0" i="0" u="none" strike="noStrike" kern="1200" cap="none" spc="-10" normalizeH="0" baseline="0" dirty="0">
                          <a:ln>
                            <a:noFill/>
                          </a:ln>
                          <a:solidFill>
                            <a:srgbClr val="1D1D1D"/>
                          </a:solidFill>
                          <a:effectLst/>
                          <a:uLnTx/>
                          <a:uFillTx/>
                          <a:latin typeface="Arial" pitchFamily="34" charset="0"/>
                          <a:ea typeface="+mn-ea"/>
                          <a:cs typeface="+mn-cs"/>
                        </a:rPr>
                        <a:t> Model to leverage capabilities from acquired entities &amp; identify</a:t>
                      </a: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 synergy opportunities (define role of corporate centre [strategy/integration] vs role of operating entities [commercial/operations])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Confirm leadership team + critical roles within </a:t>
                      </a:r>
                      <a:r>
                        <a:rPr kumimoji="0" lang="en-GB" sz="1000" b="0" i="0" u="none" strike="noStrike" kern="1200" cap="none" spc="-10" normalizeH="0" baseline="0" noProof="0" dirty="0" err="1">
                          <a:ln>
                            <a:noFill/>
                          </a:ln>
                          <a:solidFill>
                            <a:srgbClr val="1D1D1D"/>
                          </a:solidFill>
                          <a:effectLst/>
                          <a:uLnTx/>
                          <a:uFillTx/>
                          <a:latin typeface="Arial" pitchFamily="34" charset="0"/>
                          <a:ea typeface="+mn-ea"/>
                          <a:cs typeface="+mn-cs"/>
                        </a:rPr>
                        <a:t>HoldCo</a:t>
                      </a: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 &amp; subsidiaries (acquired </a:t>
                      </a:r>
                      <a:r>
                        <a:rPr kumimoji="0" lang="en-GB" sz="1000" b="0" u="none" strike="noStrike" kern="0" cap="none" spc="0" normalizeH="0" baseline="0" noProof="0" dirty="0">
                          <a:ln>
                            <a:noFill/>
                          </a:ln>
                          <a:solidFill>
                            <a:schemeClr val="tx1"/>
                          </a:solidFill>
                          <a:effectLst/>
                          <a:uLnTx/>
                          <a:uFillTx/>
                        </a:rPr>
                        <a:t>entities) </a:t>
                      </a:r>
                      <a:endParaRPr kumimoji="0" lang="en-GB" sz="1000" b="0" i="0" u="none" strike="noStrike" kern="0" cap="none" spc="0" normalizeH="0" baseline="0" noProof="0" dirty="0">
                        <a:ln>
                          <a:noFill/>
                        </a:ln>
                        <a:solidFill>
                          <a:schemeClr val="tx1"/>
                        </a:solidFill>
                        <a:effectLst/>
                        <a:uLnTx/>
                        <a:uFillTx/>
                        <a:latin typeface="Arial" pitchFamily="34" charset="0"/>
                        <a:ea typeface="+mn-ea"/>
                        <a:cs typeface="+mn-cs"/>
                      </a:endParaRPr>
                    </a:p>
                  </a:txBody>
                  <a:tcPr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7069370"/>
                  </a:ext>
                </a:extLst>
              </a:tr>
            </a:tbl>
          </a:graphicData>
        </a:graphic>
      </p:graphicFrame>
      <p:sp>
        <p:nvSpPr>
          <p:cNvPr id="6" name="Rectangle 5">
            <a:extLst>
              <a:ext uri="{FF2B5EF4-FFF2-40B4-BE49-F238E27FC236}">
                <a16:creationId xmlns:a16="http://schemas.microsoft.com/office/drawing/2014/main" id="{1CA78DA6-5427-EA2E-0612-A84154E8FC1E}"/>
              </a:ext>
            </a:extLst>
          </p:cNvPr>
          <p:cNvSpPr/>
          <p:nvPr/>
        </p:nvSpPr>
        <p:spPr>
          <a:xfrm>
            <a:off x="2398831" y="1152252"/>
            <a:ext cx="1779470" cy="10493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200" b="1" i="0" u="none" strike="noStrike" kern="1200" cap="none" spc="-25" normalizeH="0" baseline="0" noProof="0" dirty="0">
                <a:ln>
                  <a:noFill/>
                </a:ln>
                <a:solidFill>
                  <a:schemeClr val="bg1"/>
                </a:solidFill>
                <a:effectLst/>
                <a:uLnTx/>
                <a:uFillTx/>
                <a:latin typeface="Arial" panose="020B0604020202020204" pitchFamily="34" charset="0"/>
                <a:ea typeface="Lato" panose="020F0502020204030203" pitchFamily="34" charset="0"/>
                <a:cs typeface="Arial" panose="020B0604020202020204" pitchFamily="34" charset="0"/>
              </a:rPr>
              <a:t>What Are the Big Bets?</a:t>
            </a:r>
          </a:p>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lang="en-US" sz="1200" b="1" kern="1200" spc="-25" dirty="0">
                <a:solidFill>
                  <a:schemeClr val="bg1"/>
                </a:solidFill>
                <a:latin typeface="Arial" panose="020B0604020202020204" pitchFamily="34" charset="0"/>
                <a:ea typeface="Lato" panose="020F0502020204030203" pitchFamily="34" charset="0"/>
                <a:cs typeface="Arial" panose="020B0604020202020204" pitchFamily="34" charset="0"/>
              </a:rPr>
              <a:t>Are the Stakeholders Aligned?</a:t>
            </a:r>
            <a:endParaRPr kumimoji="0" lang="en-US" sz="1200" b="1" i="0" u="none" strike="noStrike" kern="1200" cap="none" spc="-25" normalizeH="0" baseline="0" noProof="0" dirty="0">
              <a:ln>
                <a:noFill/>
              </a:ln>
              <a:solidFill>
                <a:schemeClr val="bg1"/>
              </a:solidFill>
              <a:effectLst/>
              <a:uLnTx/>
              <a:uFillTx/>
              <a:latin typeface="Arial" panose="020B0604020202020204" pitchFamily="34" charset="0"/>
              <a:ea typeface="Lato" panose="020F0502020204030203" pitchFamily="34" charset="0"/>
              <a:cs typeface="Arial" panose="020B0604020202020204" pitchFamily="34" charset="0"/>
            </a:endParaRPr>
          </a:p>
        </p:txBody>
      </p:sp>
      <p:pic>
        <p:nvPicPr>
          <p:cNvPr id="7" name="Picture 6">
            <a:extLst>
              <a:ext uri="{FF2B5EF4-FFF2-40B4-BE49-F238E27FC236}">
                <a16:creationId xmlns:a16="http://schemas.microsoft.com/office/drawing/2014/main" id="{3682EDAB-5EFC-038B-7CE6-02B7D090B3DB}"/>
              </a:ext>
            </a:extLst>
          </p:cNvPr>
          <p:cNvPicPr>
            <a:picLocks noChangeAspect="1"/>
          </p:cNvPicPr>
          <p:nvPr/>
        </p:nvPicPr>
        <p:blipFill>
          <a:blip r:embed="rId4">
            <a:duotone>
              <a:srgbClr val="765FFF"/>
              <a:srgbClr val="FFFFFF"/>
            </a:duotone>
          </a:blip>
          <a:stretch>
            <a:fillRect/>
          </a:stretch>
        </p:blipFill>
        <p:spPr>
          <a:xfrm>
            <a:off x="371350" y="2466919"/>
            <a:ext cx="1957763" cy="1077711"/>
          </a:xfrm>
          <a:prstGeom prst="rect">
            <a:avLst/>
          </a:prstGeom>
        </p:spPr>
      </p:pic>
      <p:sp>
        <p:nvSpPr>
          <p:cNvPr id="8" name="Rectangle 7">
            <a:extLst>
              <a:ext uri="{FF2B5EF4-FFF2-40B4-BE49-F238E27FC236}">
                <a16:creationId xmlns:a16="http://schemas.microsoft.com/office/drawing/2014/main" id="{B1E4864D-E5E2-BD9E-BD9B-E3730FC71377}"/>
              </a:ext>
            </a:extLst>
          </p:cNvPr>
          <p:cNvSpPr/>
          <p:nvPr/>
        </p:nvSpPr>
        <p:spPr>
          <a:xfrm>
            <a:off x="2398831" y="2489005"/>
            <a:ext cx="1779470" cy="10493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rPr>
              <a:t>Is my Leadership team ready?</a:t>
            </a:r>
          </a:p>
        </p:txBody>
      </p:sp>
      <p:pic>
        <p:nvPicPr>
          <p:cNvPr id="9" name="Picture 8">
            <a:extLst>
              <a:ext uri="{FF2B5EF4-FFF2-40B4-BE49-F238E27FC236}">
                <a16:creationId xmlns:a16="http://schemas.microsoft.com/office/drawing/2014/main" id="{40185FBD-0E8C-11DD-2FB7-B4EA9F16C572}"/>
              </a:ext>
            </a:extLst>
          </p:cNvPr>
          <p:cNvPicPr>
            <a:picLocks noChangeAspect="1"/>
          </p:cNvPicPr>
          <p:nvPr/>
        </p:nvPicPr>
        <p:blipFill>
          <a:blip r:embed="rId5">
            <a:duotone>
              <a:srgbClr val="765FFF"/>
              <a:srgbClr val="FFFFFF"/>
            </a:duotone>
          </a:blip>
          <a:stretch>
            <a:fillRect/>
          </a:stretch>
        </p:blipFill>
        <p:spPr>
          <a:xfrm>
            <a:off x="371350" y="4188980"/>
            <a:ext cx="1957763" cy="1077711"/>
          </a:xfrm>
          <a:prstGeom prst="rect">
            <a:avLst/>
          </a:prstGeom>
        </p:spPr>
      </p:pic>
      <p:sp>
        <p:nvSpPr>
          <p:cNvPr id="10" name="Rectangle 9">
            <a:extLst>
              <a:ext uri="{FF2B5EF4-FFF2-40B4-BE49-F238E27FC236}">
                <a16:creationId xmlns:a16="http://schemas.microsoft.com/office/drawing/2014/main" id="{88C62559-FCFC-E5D3-6639-FA74B35861CC}"/>
              </a:ext>
            </a:extLst>
          </p:cNvPr>
          <p:cNvSpPr/>
          <p:nvPr/>
        </p:nvSpPr>
        <p:spPr>
          <a:xfrm>
            <a:off x="2386131" y="4222262"/>
            <a:ext cx="1779470" cy="10493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rPr>
              <a:t>Do we have enough talent where it matters?</a:t>
            </a:r>
          </a:p>
        </p:txBody>
      </p:sp>
      <p:graphicFrame>
        <p:nvGraphicFramePr>
          <p:cNvPr id="11" name="Table 10">
            <a:extLst>
              <a:ext uri="{FF2B5EF4-FFF2-40B4-BE49-F238E27FC236}">
                <a16:creationId xmlns:a16="http://schemas.microsoft.com/office/drawing/2014/main" id="{4486349D-C449-9862-8264-FE4CD3F7A5E7}"/>
              </a:ext>
            </a:extLst>
          </p:cNvPr>
          <p:cNvGraphicFramePr>
            <a:graphicFrameLocks noGrp="1"/>
          </p:cNvGraphicFramePr>
          <p:nvPr>
            <p:extLst>
              <p:ext uri="{D42A27DB-BD31-4B8C-83A1-F6EECF244321}">
                <p14:modId xmlns:p14="http://schemas.microsoft.com/office/powerpoint/2010/main" val="145064427"/>
              </p:ext>
            </p:extLst>
          </p:nvPr>
        </p:nvGraphicFramePr>
        <p:xfrm>
          <a:off x="4325298" y="2604825"/>
          <a:ext cx="7375974" cy="1021097"/>
        </p:xfrm>
        <a:graphic>
          <a:graphicData uri="http://schemas.openxmlformats.org/drawingml/2006/table">
            <a:tbl>
              <a:tblPr>
                <a:tableStyleId>{93296810-A885-4BE3-A3E7-6D5BEEA58F35}</a:tableStyleId>
              </a:tblPr>
              <a:tblGrid>
                <a:gridCol w="7375974">
                  <a:extLst>
                    <a:ext uri="{9D8B030D-6E8A-4147-A177-3AD203B41FA5}">
                      <a16:colId xmlns:a16="http://schemas.microsoft.com/office/drawing/2014/main" val="3290208004"/>
                    </a:ext>
                  </a:extLst>
                </a:gridCol>
              </a:tblGrid>
              <a:tr h="102109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kumimoji="0" lang="en-US" sz="1000" b="1" u="none" strike="noStrike" kern="0" cap="none" spc="0" normalizeH="0" baseline="0" noProof="0" dirty="0">
                          <a:ln>
                            <a:noFill/>
                          </a:ln>
                          <a:solidFill>
                            <a:schemeClr val="tx1"/>
                          </a:solidFill>
                          <a:effectLst/>
                          <a:uLnTx/>
                          <a:uFillTx/>
                        </a:rPr>
                        <a:t>ASSESS EXECUTIVE LEADERSHIP IN </a:t>
                      </a:r>
                      <a:r>
                        <a:rPr kumimoji="0" lang="en-US" sz="1000" b="1" u="none" strike="noStrike" kern="0" cap="none" spc="0" normalizeH="0" baseline="0" noProof="0" dirty="0" err="1">
                          <a:ln>
                            <a:noFill/>
                          </a:ln>
                          <a:solidFill>
                            <a:schemeClr val="tx1"/>
                          </a:solidFill>
                          <a:effectLst/>
                          <a:uLnTx/>
                          <a:uFillTx/>
                        </a:rPr>
                        <a:t>HoldCo</a:t>
                      </a:r>
                      <a:r>
                        <a:rPr kumimoji="0" lang="en-US" sz="1000" b="1" u="none" strike="noStrike" kern="0" cap="none" spc="0" normalizeH="0" baseline="0" noProof="0" dirty="0">
                          <a:ln>
                            <a:noFill/>
                          </a:ln>
                          <a:solidFill>
                            <a:schemeClr val="tx1"/>
                          </a:solidFill>
                          <a:effectLst/>
                          <a:uLnTx/>
                          <a:uFillTx/>
                        </a:rPr>
                        <a:t> &amp; Subsidiaries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Assess N-1 roles SILAL based on the mandate &amp; operating model (can individuals scale as per business ambition?)</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Assess capabilities of executive leadership team in subsidiaries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Upgrade individuals in roles (where necessary)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Define success </a:t>
                      </a:r>
                      <a:r>
                        <a:rPr kumimoji="0" lang="en-US" sz="1000" b="0" u="none" strike="noStrike" kern="0" cap="none" spc="0" normalizeH="0" baseline="0" noProof="0" dirty="0">
                          <a:ln>
                            <a:noFill/>
                          </a:ln>
                          <a:solidFill>
                            <a:schemeClr val="tx1"/>
                          </a:solidFill>
                          <a:effectLst/>
                          <a:uLnTx/>
                          <a:uFillTx/>
                        </a:rPr>
                        <a:t>enablement plans for key leaders (clarify jobs to be done, define actions to mitigate execution risks</a:t>
                      </a:r>
                      <a:r>
                        <a:rPr kumimoji="0" lang="en-US" sz="1000" b="1" u="none" strike="noStrike" kern="0" cap="none" spc="0" normalizeH="0" baseline="0" noProof="0" dirty="0">
                          <a:ln>
                            <a:noFill/>
                          </a:ln>
                          <a:solidFill>
                            <a:schemeClr val="tx1"/>
                          </a:solidFill>
                          <a:effectLst/>
                          <a:uLnTx/>
                          <a:uFillTx/>
                        </a:rPr>
                        <a:t>) </a:t>
                      </a:r>
                      <a:endParaRPr kumimoji="0" lang="en-US" sz="1000" b="1" i="0" u="none" strike="noStrike" kern="0" cap="none" spc="0" normalizeH="0" baseline="0" noProof="0" dirty="0">
                        <a:ln>
                          <a:noFill/>
                        </a:ln>
                        <a:solidFill>
                          <a:schemeClr val="tx1"/>
                        </a:solidFill>
                        <a:effectLst/>
                        <a:uLnTx/>
                        <a:uFillTx/>
                        <a:latin typeface="Arial" pitchFamily="34" charset="0"/>
                        <a:ea typeface="+mn-ea"/>
                        <a:cs typeface="+mn-cs"/>
                      </a:endParaRPr>
                    </a:p>
                  </a:txBody>
                  <a:tcPr marT="72000" marB="72000">
                    <a:solidFill>
                      <a:schemeClr val="bg1"/>
                    </a:solidFill>
                  </a:tcPr>
                </a:tc>
                <a:extLst>
                  <a:ext uri="{0D108BD9-81ED-4DB2-BD59-A6C34878D82A}">
                    <a16:rowId xmlns:a16="http://schemas.microsoft.com/office/drawing/2014/main" val="3547069370"/>
                  </a:ext>
                </a:extLst>
              </a:tr>
            </a:tbl>
          </a:graphicData>
        </a:graphic>
      </p:graphicFrame>
      <p:graphicFrame>
        <p:nvGraphicFramePr>
          <p:cNvPr id="12" name="Table 11">
            <a:extLst>
              <a:ext uri="{FF2B5EF4-FFF2-40B4-BE49-F238E27FC236}">
                <a16:creationId xmlns:a16="http://schemas.microsoft.com/office/drawing/2014/main" id="{C0F91598-37BD-C2C7-80D5-0807AD4D1484}"/>
              </a:ext>
            </a:extLst>
          </p:cNvPr>
          <p:cNvGraphicFramePr>
            <a:graphicFrameLocks noGrp="1"/>
          </p:cNvGraphicFramePr>
          <p:nvPr>
            <p:extLst>
              <p:ext uri="{D42A27DB-BD31-4B8C-83A1-F6EECF244321}">
                <p14:modId xmlns:p14="http://schemas.microsoft.com/office/powerpoint/2010/main" val="3193112478"/>
              </p:ext>
            </p:extLst>
          </p:nvPr>
        </p:nvGraphicFramePr>
        <p:xfrm>
          <a:off x="4325298" y="3750699"/>
          <a:ext cx="7375974" cy="2049000"/>
        </p:xfrm>
        <a:graphic>
          <a:graphicData uri="http://schemas.openxmlformats.org/drawingml/2006/table">
            <a:tbl>
              <a:tblPr>
                <a:tableStyleId>{5C22544A-7EE6-4342-B048-85BDC9FD1C3A}</a:tableStyleId>
              </a:tblPr>
              <a:tblGrid>
                <a:gridCol w="7375974">
                  <a:extLst>
                    <a:ext uri="{9D8B030D-6E8A-4147-A177-3AD203B41FA5}">
                      <a16:colId xmlns:a16="http://schemas.microsoft.com/office/drawing/2014/main" val="3290208004"/>
                    </a:ext>
                  </a:extLst>
                </a:gridCol>
              </a:tblGrid>
              <a:tr h="1459006">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kumimoji="0" lang="en-US" sz="1000" b="1" i="0" u="none" strike="noStrike" kern="0" cap="none" spc="0" normalizeH="0" baseline="0" noProof="0" dirty="0">
                          <a:ln>
                            <a:noFill/>
                          </a:ln>
                          <a:solidFill>
                            <a:schemeClr val="tx1"/>
                          </a:solidFill>
                          <a:effectLst/>
                          <a:uLnTx/>
                          <a:uFillTx/>
                          <a:latin typeface="Arial" pitchFamily="34" charset="0"/>
                          <a:ea typeface="+mn-ea"/>
                          <a:cs typeface="+mn-cs"/>
                        </a:rPr>
                        <a:t>PRIORITIZE HIRING NEW CRITICAL ROLES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Define ‘jobs to be done’ for all the new roles </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Prioritize hiring within next three months with a potential focus on Head of Market Intelligence, Head of Integration</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Identify whether </a:t>
                      </a:r>
                      <a:r>
                        <a:rPr kumimoji="0" lang="en-US" sz="1000" b="0" i="0" u="none" strike="noStrike" kern="0" cap="none" spc="0" normalizeH="0" baseline="0" noProof="0" dirty="0">
                          <a:ln>
                            <a:noFill/>
                          </a:ln>
                          <a:solidFill>
                            <a:schemeClr val="tx1"/>
                          </a:solidFill>
                          <a:effectLst/>
                          <a:uLnTx/>
                          <a:uFillTx/>
                          <a:latin typeface="Arial" pitchFamily="34" charset="0"/>
                          <a:ea typeface="+mn-ea"/>
                          <a:cs typeface="+mn-cs"/>
                        </a:rPr>
                        <a:t>talent upgrade is required for new broadened Strategic Reserves role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200" b="1">
                          <a:solidFill>
                            <a:srgbClr val="FFFFFF"/>
                          </a:solidFill>
                          <a:latin typeface="Arial" pitchFamily="34" charset="0"/>
                        </a:defRPr>
                      </a:pPr>
                      <a:endParaRPr kumimoji="0" lang="en-US" sz="1000" b="1" i="0" u="none" strike="noStrike" kern="0" cap="none" spc="0" normalizeH="0" baseline="0" noProof="0" dirty="0">
                        <a:ln>
                          <a:noFill/>
                        </a:ln>
                        <a:solidFill>
                          <a:schemeClr val="tx1"/>
                        </a:solidFill>
                        <a:effectLst/>
                        <a:uLnTx/>
                        <a:uFillTx/>
                        <a:latin typeface="Arial"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1">
                          <a:solidFill>
                            <a:srgbClr val="FFFFFF"/>
                          </a:solidFill>
                          <a:latin typeface="Arial" pitchFamily="34" charset="0"/>
                        </a:defRPr>
                      </a:pPr>
                      <a:r>
                        <a:rPr kumimoji="0" lang="en-US" sz="1000" b="1" i="0" u="none" strike="noStrike" kern="0" cap="none" spc="0" normalizeH="0" baseline="0" noProof="0" dirty="0">
                          <a:ln>
                            <a:noFill/>
                          </a:ln>
                          <a:solidFill>
                            <a:schemeClr val="tx1"/>
                          </a:solidFill>
                          <a:effectLst/>
                          <a:uLnTx/>
                          <a:uFillTx/>
                          <a:latin typeface="Arial" pitchFamily="34" charset="0"/>
                          <a:ea typeface="+mn-ea"/>
                          <a:cs typeface="+mn-cs"/>
                        </a:rPr>
                        <a:t>MOBILIZE CRITICAL ROLES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err="1">
                          <a:ln>
                            <a:noFill/>
                          </a:ln>
                          <a:solidFill>
                            <a:srgbClr val="1D1D1D"/>
                          </a:solidFill>
                          <a:effectLst/>
                          <a:uLnTx/>
                          <a:uFillTx/>
                          <a:latin typeface="Arial" pitchFamily="34" charset="0"/>
                          <a:ea typeface="+mn-ea"/>
                          <a:cs typeface="+mn-cs"/>
                        </a:rPr>
                        <a:t>HoldCo</a:t>
                      </a: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 </a:t>
                      </a:r>
                      <a:r>
                        <a:rPr kumimoji="0" lang="en-GB" sz="1000" b="0" i="0" u="none" strike="noStrike" kern="1200" cap="none" spc="-10" normalizeH="0" baseline="0" dirty="0">
                          <a:ln>
                            <a:noFill/>
                          </a:ln>
                          <a:solidFill>
                            <a:srgbClr val="1D1D1D"/>
                          </a:solidFill>
                          <a:effectLst/>
                          <a:uLnTx/>
                          <a:uFillTx/>
                          <a:latin typeface="Arial" pitchFamily="34" charset="0"/>
                          <a:ea typeface="+mn-ea"/>
                          <a:cs typeface="+mn-cs"/>
                        </a:rPr>
                        <a:t>Identify critical roles in R&amp;D + Digital. </a:t>
                      </a: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For all critical roles, d</a:t>
                      </a:r>
                      <a:r>
                        <a:rPr kumimoji="0" lang="en-GB" sz="1000" b="0" i="0" u="none" strike="noStrike" kern="1200" cap="none" spc="-10" normalizeH="0" baseline="0" dirty="0" err="1">
                          <a:ln>
                            <a:noFill/>
                          </a:ln>
                          <a:solidFill>
                            <a:srgbClr val="1D1D1D"/>
                          </a:solidFill>
                          <a:effectLst/>
                          <a:uLnTx/>
                          <a:uFillTx/>
                          <a:latin typeface="Arial" pitchFamily="34" charset="0"/>
                          <a:ea typeface="+mn-ea"/>
                          <a:cs typeface="+mn-cs"/>
                        </a:rPr>
                        <a:t>efine</a:t>
                      </a:r>
                      <a:r>
                        <a:rPr kumimoji="0" lang="en-GB" sz="1000" b="0" i="0" u="none" strike="noStrike" kern="1200" cap="none" spc="-10" normalizeH="0" baseline="0" dirty="0">
                          <a:ln>
                            <a:noFill/>
                          </a:ln>
                          <a:solidFill>
                            <a:srgbClr val="1D1D1D"/>
                          </a:solidFill>
                          <a:effectLst/>
                          <a:uLnTx/>
                          <a:uFillTx/>
                          <a:latin typeface="Arial" pitchFamily="34" charset="0"/>
                          <a:ea typeface="+mn-ea"/>
                          <a:cs typeface="+mn-cs"/>
                        </a:rPr>
                        <a:t> Jobs to be done, identify risks (</a:t>
                      </a: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e.g. key interfaces) and implement actions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Subsidiaries: Identify critical roles at N-2 &amp; Below. </a:t>
                      </a:r>
                      <a:r>
                        <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rPr>
                        <a:t>For all critical roles, d</a:t>
                      </a:r>
                      <a:r>
                        <a:rPr kumimoji="0" lang="en-GB" sz="1000" b="0" i="0" u="none" strike="noStrike" kern="1200" cap="none" spc="-10" normalizeH="0" baseline="0" dirty="0" err="1">
                          <a:ln>
                            <a:noFill/>
                          </a:ln>
                          <a:solidFill>
                            <a:srgbClr val="1D1D1D"/>
                          </a:solidFill>
                          <a:effectLst/>
                          <a:uLnTx/>
                          <a:uFillTx/>
                          <a:latin typeface="Arial" pitchFamily="34" charset="0"/>
                          <a:ea typeface="+mn-ea"/>
                          <a:cs typeface="+mn-cs"/>
                        </a:rPr>
                        <a:t>efine</a:t>
                      </a:r>
                      <a:r>
                        <a:rPr kumimoji="0" lang="en-GB" sz="1000" b="0" i="0" u="none" strike="noStrike" kern="1200" cap="none" spc="-10" normalizeH="0" baseline="0" dirty="0">
                          <a:ln>
                            <a:noFill/>
                          </a:ln>
                          <a:solidFill>
                            <a:srgbClr val="1D1D1D"/>
                          </a:solidFill>
                          <a:effectLst/>
                          <a:uLnTx/>
                          <a:uFillTx/>
                          <a:latin typeface="Arial" pitchFamily="34" charset="0"/>
                          <a:ea typeface="+mn-ea"/>
                          <a:cs typeface="+mn-cs"/>
                        </a:rPr>
                        <a:t> Jobs to be done, identify risks (</a:t>
                      </a: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e.g. key interfaces) and implement actions</a:t>
                      </a:r>
                      <a:endParaRPr kumimoji="0" lang="en-GB" sz="1000" b="0" i="0" u="none" strike="noStrike" kern="1200" cap="none" spc="-10" normalizeH="0" baseline="0" noProof="0" dirty="0">
                        <a:ln>
                          <a:noFill/>
                        </a:ln>
                        <a:solidFill>
                          <a:srgbClr val="1D1D1D"/>
                        </a:solidFill>
                        <a:effectLst/>
                        <a:uLnTx/>
                        <a:uFillTx/>
                        <a:latin typeface="Arial" pitchFamily="34" charset="0"/>
                        <a:ea typeface="+mn-ea"/>
                        <a:cs typeface="+mn-cs"/>
                      </a:endParaRP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Blip>
                          <a:blip r:embed="rId3"/>
                        </a:buBlip>
                        <a:tabLst/>
                        <a:defRPr/>
                      </a:pPr>
                      <a:r>
                        <a:rPr kumimoji="0" lang="en-US" sz="1000" b="0" i="0" u="none" strike="noStrike" kern="1200" cap="none" spc="-10" normalizeH="0" baseline="0" noProof="0" dirty="0">
                          <a:ln>
                            <a:noFill/>
                          </a:ln>
                          <a:solidFill>
                            <a:srgbClr val="1D1D1D"/>
                          </a:solidFill>
                          <a:effectLst/>
                          <a:uLnTx/>
                          <a:uFillTx/>
                          <a:latin typeface="Arial" pitchFamily="34" charset="0"/>
                          <a:ea typeface="+mn-ea"/>
                          <a:cs typeface="+mn-cs"/>
                        </a:rPr>
                        <a:t>Upgrade individuals in roles (where necessary)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200" b="1">
                          <a:solidFill>
                            <a:srgbClr val="FFFFFF"/>
                          </a:solidFill>
                          <a:latin typeface="Arial" pitchFamily="34" charset="0"/>
                        </a:defRPr>
                      </a:pPr>
                      <a:endParaRPr kumimoji="0" lang="en-US" sz="1000" b="0" i="0" u="none" strike="noStrike" kern="0" cap="none" spc="0" normalizeH="0" baseline="0" noProof="0" dirty="0">
                        <a:ln>
                          <a:noFill/>
                        </a:ln>
                        <a:solidFill>
                          <a:schemeClr val="tx1"/>
                        </a:solidFill>
                        <a:effectLst/>
                        <a:uLnTx/>
                        <a:uFillTx/>
                        <a:latin typeface="Arial" pitchFamily="34" charset="0"/>
                        <a:ea typeface="+mn-ea"/>
                        <a:cs typeface="+mn-cs"/>
                      </a:endParaRPr>
                    </a:p>
                  </a:txBody>
                  <a:tcPr marT="72000" marB="72000">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7069370"/>
                  </a:ext>
                </a:extLst>
              </a:tr>
            </a:tbl>
          </a:graphicData>
        </a:graphic>
      </p:graphicFrame>
      <p:cxnSp>
        <p:nvCxnSpPr>
          <p:cNvPr id="13" name="Straight Connector 12">
            <a:extLst>
              <a:ext uri="{FF2B5EF4-FFF2-40B4-BE49-F238E27FC236}">
                <a16:creationId xmlns:a16="http://schemas.microsoft.com/office/drawing/2014/main" id="{55B13205-A17F-7E76-E728-CD051E876C19}"/>
              </a:ext>
            </a:extLst>
          </p:cNvPr>
          <p:cNvCxnSpPr/>
          <p:nvPr/>
        </p:nvCxnSpPr>
        <p:spPr>
          <a:xfrm>
            <a:off x="371350" y="2387833"/>
            <a:ext cx="113299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B2CEFE8-5FA0-54E3-530A-5F7F5B0FA163}"/>
              </a:ext>
            </a:extLst>
          </p:cNvPr>
          <p:cNvCxnSpPr/>
          <p:nvPr/>
        </p:nvCxnSpPr>
        <p:spPr>
          <a:xfrm>
            <a:off x="431039" y="3625922"/>
            <a:ext cx="113299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AFBCB6B-F7AF-2416-E132-513E9A05F6E0}"/>
              </a:ext>
            </a:extLst>
          </p:cNvPr>
          <p:cNvCxnSpPr/>
          <p:nvPr/>
        </p:nvCxnSpPr>
        <p:spPr>
          <a:xfrm>
            <a:off x="431039" y="5715916"/>
            <a:ext cx="11329922"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CFB0391-DD23-5FDF-7400-0BBC65573FD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968618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72EBC-5EDB-C6D3-F658-1F9F319499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D175DE-7CB7-F502-2D73-11C80E85C5CB}"/>
              </a:ext>
            </a:extLst>
          </p:cNvPr>
          <p:cNvSpPr>
            <a:spLocks noGrp="1"/>
          </p:cNvSpPr>
          <p:nvPr>
            <p:ph type="title"/>
          </p:nvPr>
        </p:nvSpPr>
        <p:spPr>
          <a:noFill/>
        </p:spPr>
        <p:txBody>
          <a:bodyPr/>
          <a:lstStyle/>
          <a:p>
            <a:r>
              <a:rPr lang="en-US" dirty="0"/>
              <a:t>Talent to Value</a:t>
            </a:r>
          </a:p>
        </p:txBody>
      </p:sp>
    </p:spTree>
    <p:extLst>
      <p:ext uri="{BB962C8B-B14F-4D97-AF65-F5344CB8AC3E}">
        <p14:creationId xmlns:p14="http://schemas.microsoft.com/office/powerpoint/2010/main" val="55617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CEE171-9F4B-C695-0F3D-5C82D49A01A7}"/>
              </a:ext>
            </a:extLst>
          </p:cNvPr>
          <p:cNvSpPr>
            <a:spLocks noGrp="1"/>
          </p:cNvSpPr>
          <p:nvPr>
            <p:ph type="sldNum" sz="quarter" idx="4"/>
          </p:nvPr>
        </p:nvSpPr>
        <p:spPr/>
        <p:txBody>
          <a:bodyPr/>
          <a:lstStyle/>
          <a:p>
            <a:pPr algn="ctr"/>
            <a:fld id="{1875A764-3B06-454E-8ABA-2F6ED0EB58E9}" type="slidenum">
              <a:rPr lang="en-US" smtClean="0"/>
              <a:t>23</a:t>
            </a:fld>
            <a:endParaRPr lang="en-US"/>
          </a:p>
        </p:txBody>
      </p:sp>
      <p:sp>
        <p:nvSpPr>
          <p:cNvPr id="5" name="Title 4">
            <a:extLst>
              <a:ext uri="{FF2B5EF4-FFF2-40B4-BE49-F238E27FC236}">
                <a16:creationId xmlns:a16="http://schemas.microsoft.com/office/drawing/2014/main" id="{D4D5A6C2-2BC4-A84C-CDCF-FC6B4B37300B}"/>
              </a:ext>
            </a:extLst>
          </p:cNvPr>
          <p:cNvSpPr>
            <a:spLocks noGrp="1"/>
          </p:cNvSpPr>
          <p:nvPr>
            <p:ph type="title"/>
          </p:nvPr>
        </p:nvSpPr>
        <p:spPr/>
        <p:txBody>
          <a:bodyPr/>
          <a:lstStyle/>
          <a:p>
            <a:r>
              <a:rPr lang="en-US" spc="-25" dirty="0"/>
              <a:t>Talent to Value Methodology</a:t>
            </a:r>
            <a:endParaRPr lang="en-US" dirty="0"/>
          </a:p>
        </p:txBody>
      </p:sp>
      <p:sp>
        <p:nvSpPr>
          <p:cNvPr id="6" name="Rectangle: Rounded Corners 39">
            <a:extLst>
              <a:ext uri="{FF2B5EF4-FFF2-40B4-BE49-F238E27FC236}">
                <a16:creationId xmlns:a16="http://schemas.microsoft.com/office/drawing/2014/main" id="{BA004297-D6A5-FBC3-6F8D-712D51A90828}"/>
              </a:ext>
            </a:extLst>
          </p:cNvPr>
          <p:cNvSpPr/>
          <p:nvPr/>
        </p:nvSpPr>
        <p:spPr>
          <a:xfrm>
            <a:off x="755669" y="3038801"/>
            <a:ext cx="1591098" cy="15910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Rectangle: Rounded Corners 41">
            <a:extLst>
              <a:ext uri="{FF2B5EF4-FFF2-40B4-BE49-F238E27FC236}">
                <a16:creationId xmlns:a16="http://schemas.microsoft.com/office/drawing/2014/main" id="{7F4C1B17-156F-29E0-33FC-2B8210B5596F}"/>
              </a:ext>
            </a:extLst>
          </p:cNvPr>
          <p:cNvSpPr/>
          <p:nvPr/>
        </p:nvSpPr>
        <p:spPr>
          <a:xfrm>
            <a:off x="3029201" y="3038801"/>
            <a:ext cx="1591098" cy="15910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42">
            <a:extLst>
              <a:ext uri="{FF2B5EF4-FFF2-40B4-BE49-F238E27FC236}">
                <a16:creationId xmlns:a16="http://schemas.microsoft.com/office/drawing/2014/main" id="{46161A22-FC63-F458-1A95-8112C56B649D}"/>
              </a:ext>
            </a:extLst>
          </p:cNvPr>
          <p:cNvSpPr/>
          <p:nvPr/>
        </p:nvSpPr>
        <p:spPr>
          <a:xfrm>
            <a:off x="5302733" y="3038801"/>
            <a:ext cx="1591098" cy="15910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43">
            <a:extLst>
              <a:ext uri="{FF2B5EF4-FFF2-40B4-BE49-F238E27FC236}">
                <a16:creationId xmlns:a16="http://schemas.microsoft.com/office/drawing/2014/main" id="{9C10DC4C-E323-88FE-7480-FB9F6F9BF296}"/>
              </a:ext>
            </a:extLst>
          </p:cNvPr>
          <p:cNvSpPr/>
          <p:nvPr/>
        </p:nvSpPr>
        <p:spPr>
          <a:xfrm>
            <a:off x="7576263" y="3043082"/>
            <a:ext cx="1591098" cy="15910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4582628E-B077-208E-B1C0-6D1F980EF2A7}"/>
              </a:ext>
            </a:extLst>
          </p:cNvPr>
          <p:cNvSpPr txBox="1"/>
          <p:nvPr/>
        </p:nvSpPr>
        <p:spPr>
          <a:xfrm>
            <a:off x="494155" y="4964096"/>
            <a:ext cx="2236467" cy="538609"/>
          </a:xfrm>
          <a:prstGeom prst="rect">
            <a:avLst/>
          </a:prstGeom>
          <a:noFill/>
        </p:spPr>
        <p:txBody>
          <a:bodyPr wrap="square" lIns="91440" tIns="45720" rIns="91440" bIns="4572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5-7 Critical bets </a:t>
            </a:r>
            <a:r>
              <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that will “bend the curve”</a:t>
            </a:r>
          </a:p>
        </p:txBody>
      </p:sp>
      <p:sp>
        <p:nvSpPr>
          <p:cNvPr id="11" name="TextBox 10">
            <a:extLst>
              <a:ext uri="{FF2B5EF4-FFF2-40B4-BE49-F238E27FC236}">
                <a16:creationId xmlns:a16="http://schemas.microsoft.com/office/drawing/2014/main" id="{D8BD4307-35C2-698F-4740-892A8B0CA670}"/>
              </a:ext>
            </a:extLst>
          </p:cNvPr>
          <p:cNvSpPr txBox="1"/>
          <p:nvPr/>
        </p:nvSpPr>
        <p:spPr>
          <a:xfrm>
            <a:off x="2810844" y="4964096"/>
            <a:ext cx="2155980" cy="543867"/>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1" i="0"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Jobs to be Done </a:t>
            </a:r>
            <a:r>
              <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that will deliver the value</a:t>
            </a:r>
          </a:p>
        </p:txBody>
      </p:sp>
      <p:sp>
        <p:nvSpPr>
          <p:cNvPr id="12" name="TextBox 11">
            <a:extLst>
              <a:ext uri="{FF2B5EF4-FFF2-40B4-BE49-F238E27FC236}">
                <a16:creationId xmlns:a16="http://schemas.microsoft.com/office/drawing/2014/main" id="{D53AA256-1E4B-4946-7F2D-7F467BD68E9D}"/>
              </a:ext>
            </a:extLst>
          </p:cNvPr>
          <p:cNvSpPr txBox="1"/>
          <p:nvPr/>
        </p:nvSpPr>
        <p:spPr>
          <a:xfrm>
            <a:off x="5105807" y="4964096"/>
            <a:ext cx="1980120" cy="543867"/>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25-50 roles </a:t>
            </a:r>
            <a:r>
              <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deliver 80% of the value</a:t>
            </a:r>
          </a:p>
        </p:txBody>
      </p:sp>
      <p:sp>
        <p:nvSpPr>
          <p:cNvPr id="13" name="TextBox 12">
            <a:extLst>
              <a:ext uri="{FF2B5EF4-FFF2-40B4-BE49-F238E27FC236}">
                <a16:creationId xmlns:a16="http://schemas.microsoft.com/office/drawing/2014/main" id="{6A6F6705-45EA-79D7-415A-A7A215EC6707}"/>
              </a:ext>
            </a:extLst>
          </p:cNvPr>
          <p:cNvSpPr txBox="1"/>
          <p:nvPr/>
        </p:nvSpPr>
        <p:spPr>
          <a:xfrm>
            <a:off x="7350510" y="4964096"/>
            <a:ext cx="2025096" cy="523220"/>
          </a:xfrm>
          <a:prstGeom prst="rect">
            <a:avLst/>
          </a:prstGeom>
          <a:noFill/>
        </p:spPr>
        <p:txBody>
          <a:bodyPr wrap="square" lIns="91440" tIns="45720" rIns="91440" bIns="45720">
            <a:spAutoFit/>
          </a:bodyPr>
          <a:lstStyle/>
          <a:p>
            <a:pPr algn="ctr" defTabSz="914377">
              <a:defRPr/>
            </a:pPr>
            <a:r>
              <a:rPr lang="en-US" sz="1400" b="1" spc="-10">
                <a:solidFill>
                  <a:srgbClr val="281A42"/>
                </a:solidFill>
                <a:latin typeface="Segoe UI" pitchFamily="34" charset="0"/>
                <a:ea typeface="Helvetica Neue" panose="02000503000000020004" pitchFamily="2" charset="0"/>
                <a:cs typeface="Helvetica Neue" panose="02000503000000020004" pitchFamily="2" charset="0"/>
              </a:rPr>
              <a:t>Execution risk </a:t>
            </a:r>
            <a:r>
              <a:rPr lang="en-US" sz="1400" spc="-10">
                <a:solidFill>
                  <a:srgbClr val="1D1D1D"/>
                </a:solidFill>
                <a:latin typeface="Arial" pitchFamily="34" charset="0"/>
                <a:ea typeface="Helvetica Neue" panose="02000503000000020004" pitchFamily="2" charset="0"/>
                <a:cs typeface="Helvetica Neue" panose="02000503000000020004" pitchFamily="2" charset="0"/>
              </a:rPr>
              <a:t>in</a:t>
            </a:r>
          </a:p>
          <a:p>
            <a:pPr lvl="0" algn="ctr" defTabSz="914377">
              <a:defRPr/>
            </a:pPr>
            <a:r>
              <a:rPr kumimoji="0" lang="en-US" sz="1400"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Role</a:t>
            </a:r>
            <a:r>
              <a:rPr kumimoji="0" lang="en-US" sz="1400" b="0" i="0" u="none" strike="noStrike" kern="1200" cap="none" spc="-10" normalizeH="0" baseline="0" noProof="0" err="1">
                <a:ln>
                  <a:noFill/>
                </a:ln>
                <a:solidFill>
                  <a:srgbClr val="765FFF"/>
                </a:solidFill>
                <a:effectLst/>
                <a:uLnTx/>
                <a:uFillTx/>
                <a:latin typeface="Arial" pitchFamily="34" charset="0"/>
                <a:ea typeface="Helvetica Neue" panose="02000503000000020004" pitchFamily="2" charset="0"/>
                <a:cs typeface="Helvetica Neue" panose="02000503000000020004" pitchFamily="2" charset="0"/>
              </a:rPr>
              <a:t>•</a:t>
            </a:r>
            <a:r>
              <a:rPr kumimoji="0" lang="en-US" sz="1400" b="0" i="0" u="none" strike="noStrike" kern="1200" cap="none" spc="-10" normalizeH="0" baseline="0" noProof="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Talent</a:t>
            </a: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17">
            <a:extLst>
              <a:ext uri="{FF2B5EF4-FFF2-40B4-BE49-F238E27FC236}">
                <a16:creationId xmlns:a16="http://schemas.microsoft.com/office/drawing/2014/main" id="{6547CA5B-8A58-21DB-304B-0D91D6C16E2A}"/>
              </a:ext>
            </a:extLst>
          </p:cNvPr>
          <p:cNvSpPr/>
          <p:nvPr/>
        </p:nvSpPr>
        <p:spPr>
          <a:xfrm>
            <a:off x="9849794" y="3038801"/>
            <a:ext cx="1591098" cy="15910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TextBox 14">
            <a:extLst>
              <a:ext uri="{FF2B5EF4-FFF2-40B4-BE49-F238E27FC236}">
                <a16:creationId xmlns:a16="http://schemas.microsoft.com/office/drawing/2014/main" id="{74D23334-96F4-BC6C-07B4-5CD6A16D832D}"/>
              </a:ext>
            </a:extLst>
          </p:cNvPr>
          <p:cNvSpPr txBox="1"/>
          <p:nvPr/>
        </p:nvSpPr>
        <p:spPr>
          <a:xfrm>
            <a:off x="9637340" y="4964096"/>
            <a:ext cx="2138347" cy="543867"/>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281A42"/>
                </a:solidFill>
                <a:effectLst/>
                <a:uLnTx/>
                <a:uFillTx/>
                <a:latin typeface="Segoe UI" pitchFamily="34" charset="0"/>
                <a:ea typeface="Helvetica Neue" panose="02000503000000020004" pitchFamily="2" charset="0"/>
                <a:cs typeface="Helvetica Neue" panose="02000503000000020004" pitchFamily="2" charset="0"/>
              </a:rPr>
              <a:t>Fewest initiatives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to deliver the value</a:t>
            </a:r>
          </a:p>
        </p:txBody>
      </p:sp>
      <p:sp>
        <p:nvSpPr>
          <p:cNvPr id="16" name="Rectangle: Rounded Corners 54">
            <a:extLst>
              <a:ext uri="{FF2B5EF4-FFF2-40B4-BE49-F238E27FC236}">
                <a16:creationId xmlns:a16="http://schemas.microsoft.com/office/drawing/2014/main" id="{A6D8B8FE-D1FE-A549-1C49-12A31EE34A1F}"/>
              </a:ext>
            </a:extLst>
          </p:cNvPr>
          <p:cNvSpPr/>
          <p:nvPr/>
        </p:nvSpPr>
        <p:spPr>
          <a:xfrm>
            <a:off x="795515" y="3078647"/>
            <a:ext cx="1511405" cy="1511405"/>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5">
            <a:extLst>
              <a:ext uri="{FF2B5EF4-FFF2-40B4-BE49-F238E27FC236}">
                <a16:creationId xmlns:a16="http://schemas.microsoft.com/office/drawing/2014/main" id="{1AF20E37-4A9F-C47B-DA36-474CE4ACBDD5}"/>
              </a:ext>
            </a:extLst>
          </p:cNvPr>
          <p:cNvSpPr/>
          <p:nvPr/>
        </p:nvSpPr>
        <p:spPr>
          <a:xfrm>
            <a:off x="3069047" y="3078647"/>
            <a:ext cx="1511405" cy="1511405"/>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6">
            <a:extLst>
              <a:ext uri="{FF2B5EF4-FFF2-40B4-BE49-F238E27FC236}">
                <a16:creationId xmlns:a16="http://schemas.microsoft.com/office/drawing/2014/main" id="{4D032449-027D-1AC8-F226-A8A8D2249182}"/>
              </a:ext>
            </a:extLst>
          </p:cNvPr>
          <p:cNvSpPr/>
          <p:nvPr/>
        </p:nvSpPr>
        <p:spPr>
          <a:xfrm>
            <a:off x="5342579" y="3078647"/>
            <a:ext cx="1511405" cy="1511405"/>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7">
            <a:extLst>
              <a:ext uri="{FF2B5EF4-FFF2-40B4-BE49-F238E27FC236}">
                <a16:creationId xmlns:a16="http://schemas.microsoft.com/office/drawing/2014/main" id="{66288168-E85B-0A8A-C381-9A5F0928CCF0}"/>
              </a:ext>
            </a:extLst>
          </p:cNvPr>
          <p:cNvSpPr/>
          <p:nvPr/>
        </p:nvSpPr>
        <p:spPr>
          <a:xfrm>
            <a:off x="7616110" y="3082929"/>
            <a:ext cx="1511405" cy="1511405"/>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17">
            <a:extLst>
              <a:ext uri="{FF2B5EF4-FFF2-40B4-BE49-F238E27FC236}">
                <a16:creationId xmlns:a16="http://schemas.microsoft.com/office/drawing/2014/main" id="{14308843-3902-47A0-4161-FAA263ED177D}"/>
              </a:ext>
            </a:extLst>
          </p:cNvPr>
          <p:cNvSpPr/>
          <p:nvPr/>
        </p:nvSpPr>
        <p:spPr>
          <a:xfrm>
            <a:off x="9889641" y="3078647"/>
            <a:ext cx="1511405" cy="1511405"/>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21" name="Picture 20" descr="Bend the Curve">
            <a:extLst>
              <a:ext uri="{FF2B5EF4-FFF2-40B4-BE49-F238E27FC236}">
                <a16:creationId xmlns:a16="http://schemas.microsoft.com/office/drawing/2014/main" id="{1FCA0112-3D40-1355-15FC-EABDD9071466}"/>
              </a:ext>
            </a:extLst>
          </p:cNvPr>
          <p:cNvPicPr>
            <a:picLocks noChangeAspect="1"/>
          </p:cNvPicPr>
          <p:nvPr/>
        </p:nvPicPr>
        <p:blipFill>
          <a:blip r:embed="rId2">
            <a:duotone>
              <a:srgbClr val="765FFF"/>
              <a:srgbClr val="FFFFFF"/>
            </a:duotone>
          </a:blip>
          <a:stretch>
            <a:fillRect/>
          </a:stretch>
        </p:blipFill>
        <p:spPr>
          <a:xfrm>
            <a:off x="1097347" y="3384899"/>
            <a:ext cx="864000" cy="864000"/>
          </a:xfrm>
          <a:prstGeom prst="rect">
            <a:avLst/>
          </a:prstGeom>
        </p:spPr>
      </p:pic>
      <p:pic>
        <p:nvPicPr>
          <p:cNvPr id="22" name="Picture 21" descr="Activity">
            <a:extLst>
              <a:ext uri="{FF2B5EF4-FFF2-40B4-BE49-F238E27FC236}">
                <a16:creationId xmlns:a16="http://schemas.microsoft.com/office/drawing/2014/main" id="{19141EA8-C55F-6A35-6F4A-976C421FCF37}"/>
              </a:ext>
            </a:extLst>
          </p:cNvPr>
          <p:cNvPicPr>
            <a:picLocks noChangeAspect="1"/>
          </p:cNvPicPr>
          <p:nvPr/>
        </p:nvPicPr>
        <p:blipFill>
          <a:blip r:embed="rId3">
            <a:duotone>
              <a:srgbClr val="765FFF"/>
              <a:srgbClr val="FFFFFF"/>
            </a:duotone>
          </a:blip>
          <a:stretch>
            <a:fillRect/>
          </a:stretch>
        </p:blipFill>
        <p:spPr>
          <a:xfrm>
            <a:off x="3185868" y="3178019"/>
            <a:ext cx="1277760" cy="1277760"/>
          </a:xfrm>
          <a:prstGeom prst="rect">
            <a:avLst/>
          </a:prstGeom>
        </p:spPr>
      </p:pic>
      <p:pic>
        <p:nvPicPr>
          <p:cNvPr id="23" name="Picture 22" descr="Choose">
            <a:extLst>
              <a:ext uri="{FF2B5EF4-FFF2-40B4-BE49-F238E27FC236}">
                <a16:creationId xmlns:a16="http://schemas.microsoft.com/office/drawing/2014/main" id="{BC67B620-7ABF-7CA5-4B25-1871C4D2E321}"/>
              </a:ext>
            </a:extLst>
          </p:cNvPr>
          <p:cNvPicPr>
            <a:picLocks noChangeAspect="1"/>
          </p:cNvPicPr>
          <p:nvPr/>
        </p:nvPicPr>
        <p:blipFill>
          <a:blip r:embed="rId4">
            <a:duotone>
              <a:srgbClr val="765FFF"/>
              <a:srgbClr val="FFFFFF"/>
            </a:duotone>
          </a:blip>
          <a:stretch>
            <a:fillRect/>
          </a:stretch>
        </p:blipFill>
        <p:spPr>
          <a:xfrm>
            <a:off x="5495867" y="3251048"/>
            <a:ext cx="1200000" cy="1200000"/>
          </a:xfrm>
          <a:prstGeom prst="rect">
            <a:avLst/>
          </a:prstGeom>
        </p:spPr>
      </p:pic>
      <p:pic>
        <p:nvPicPr>
          <p:cNvPr id="24" name="Picture 23" descr="The Code">
            <a:extLst>
              <a:ext uri="{FF2B5EF4-FFF2-40B4-BE49-F238E27FC236}">
                <a16:creationId xmlns:a16="http://schemas.microsoft.com/office/drawing/2014/main" id="{CA92977C-3C6C-EF83-1281-68BE7FB6E57E}"/>
              </a:ext>
            </a:extLst>
          </p:cNvPr>
          <p:cNvPicPr>
            <a:picLocks noChangeAspect="1"/>
          </p:cNvPicPr>
          <p:nvPr/>
        </p:nvPicPr>
        <p:blipFill>
          <a:blip r:embed="rId5">
            <a:duotone>
              <a:srgbClr val="765FFF"/>
              <a:srgbClr val="FFFFFF"/>
            </a:duotone>
          </a:blip>
          <a:stretch>
            <a:fillRect/>
          </a:stretch>
        </p:blipFill>
        <p:spPr>
          <a:xfrm>
            <a:off x="7849091" y="3294179"/>
            <a:ext cx="1045440" cy="1045440"/>
          </a:xfrm>
          <a:prstGeom prst="rect">
            <a:avLst/>
          </a:prstGeom>
        </p:spPr>
      </p:pic>
      <p:pic>
        <p:nvPicPr>
          <p:cNvPr id="25" name="Picture 24" descr="Talent to Value">
            <a:extLst>
              <a:ext uri="{FF2B5EF4-FFF2-40B4-BE49-F238E27FC236}">
                <a16:creationId xmlns:a16="http://schemas.microsoft.com/office/drawing/2014/main" id="{864E20F0-4B98-BD0D-6CAE-0FC995199138}"/>
              </a:ext>
            </a:extLst>
          </p:cNvPr>
          <p:cNvPicPr>
            <a:picLocks noChangeAspect="1"/>
          </p:cNvPicPr>
          <p:nvPr/>
        </p:nvPicPr>
        <p:blipFill>
          <a:blip r:embed="rId6">
            <a:duotone>
              <a:srgbClr val="765FFF"/>
              <a:srgbClr val="FFFFFF"/>
            </a:duotone>
          </a:blip>
          <a:stretch>
            <a:fillRect/>
          </a:stretch>
        </p:blipFill>
        <p:spPr>
          <a:xfrm>
            <a:off x="10164008" y="3354350"/>
            <a:ext cx="960000" cy="960000"/>
          </a:xfrm>
          <a:prstGeom prst="rect">
            <a:avLst/>
          </a:prstGeom>
        </p:spPr>
      </p:pic>
      <p:sp>
        <p:nvSpPr>
          <p:cNvPr id="26" name="TextBox 25">
            <a:extLst>
              <a:ext uri="{FF2B5EF4-FFF2-40B4-BE49-F238E27FC236}">
                <a16:creationId xmlns:a16="http://schemas.microsoft.com/office/drawing/2014/main" id="{8AF7E245-C815-E922-ECE6-DD0CA8E73C9B}"/>
              </a:ext>
            </a:extLst>
          </p:cNvPr>
          <p:cNvSpPr txBox="1"/>
          <p:nvPr/>
        </p:nvSpPr>
        <p:spPr>
          <a:xfrm>
            <a:off x="481602" y="2005435"/>
            <a:ext cx="2139232" cy="661784"/>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Where is the money?</a:t>
            </a:r>
          </a:p>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/VALUE</a:t>
            </a:r>
          </a:p>
        </p:txBody>
      </p:sp>
      <p:sp>
        <p:nvSpPr>
          <p:cNvPr id="27" name="TextBox 26">
            <a:extLst>
              <a:ext uri="{FF2B5EF4-FFF2-40B4-BE49-F238E27FC236}">
                <a16:creationId xmlns:a16="http://schemas.microsoft.com/office/drawing/2014/main" id="{CC181B7F-1EA7-F2C5-011C-C6B898F26380}"/>
              </a:ext>
            </a:extLst>
          </p:cNvPr>
          <p:cNvSpPr txBox="1"/>
          <p:nvPr/>
        </p:nvSpPr>
        <p:spPr>
          <a:xfrm>
            <a:off x="2465616" y="2005435"/>
            <a:ext cx="2718264" cy="661784"/>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What needs to be true?</a:t>
            </a:r>
          </a:p>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/WORK</a:t>
            </a:r>
          </a:p>
        </p:txBody>
      </p:sp>
      <p:sp>
        <p:nvSpPr>
          <p:cNvPr id="28" name="TextBox 27">
            <a:extLst>
              <a:ext uri="{FF2B5EF4-FFF2-40B4-BE49-F238E27FC236}">
                <a16:creationId xmlns:a16="http://schemas.microsoft.com/office/drawing/2014/main" id="{DA887CF5-582C-37F0-EB8F-4DBEEDF40044}"/>
              </a:ext>
            </a:extLst>
          </p:cNvPr>
          <p:cNvSpPr txBox="1"/>
          <p:nvPr/>
        </p:nvSpPr>
        <p:spPr>
          <a:xfrm>
            <a:off x="4914686" y="2005435"/>
            <a:ext cx="2501184" cy="650691"/>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What are the critical roles?</a:t>
            </a:r>
          </a:p>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/LIST</a:t>
            </a:r>
            <a:endParaRPr kumimoji="0" lang="en-US" sz="1200" b="0" i="0" u="none" strike="noStrike" kern="1200" cap="none" spc="-10" normalizeH="0" baseline="0" noProof="0">
              <a:ln>
                <a:noFill/>
              </a:ln>
              <a:solidFill>
                <a:srgbClr val="765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TextBox 28">
            <a:extLst>
              <a:ext uri="{FF2B5EF4-FFF2-40B4-BE49-F238E27FC236}">
                <a16:creationId xmlns:a16="http://schemas.microsoft.com/office/drawing/2014/main" id="{EEC0F5A5-734A-CF8E-A992-9A87A59BFE17}"/>
              </a:ext>
            </a:extLst>
          </p:cNvPr>
          <p:cNvSpPr txBox="1"/>
          <p:nvPr/>
        </p:nvSpPr>
        <p:spPr>
          <a:xfrm>
            <a:off x="7257585" y="2005435"/>
            <a:ext cx="2415152" cy="661784"/>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Are we talented enough? </a:t>
            </a:r>
          </a:p>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b="1" i="0" u="none" strike="noStrike" kern="1200" cap="none" spc="-10"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/CLICK</a:t>
            </a:r>
          </a:p>
        </p:txBody>
      </p:sp>
      <p:sp>
        <p:nvSpPr>
          <p:cNvPr id="30" name="TextBox 29">
            <a:extLst>
              <a:ext uri="{FF2B5EF4-FFF2-40B4-BE49-F238E27FC236}">
                <a16:creationId xmlns:a16="http://schemas.microsoft.com/office/drawing/2014/main" id="{4A16261F-CBA8-4BF4-6825-1ADAB4E020FC}"/>
              </a:ext>
            </a:extLst>
          </p:cNvPr>
          <p:cNvSpPr txBox="1"/>
          <p:nvPr/>
        </p:nvSpPr>
        <p:spPr>
          <a:xfrm>
            <a:off x="9551437" y="2005435"/>
            <a:ext cx="2480512" cy="661912"/>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3B3B3B"/>
                </a:solidFill>
                <a:effectLst/>
                <a:uLnTx/>
                <a:uFillTx/>
                <a:latin typeface="Segoe UI" pitchFamily="34" charset="0"/>
                <a:ea typeface="Helvetica Neue" panose="02000503000000020004" pitchFamily="2" charset="0"/>
                <a:cs typeface="Helvetica Neue" panose="02000503000000020004" pitchFamily="2" charset="0"/>
              </a:rPr>
              <a:t>Shortest path to value?</a:t>
            </a:r>
          </a:p>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b="1" i="0" u="none" strike="noStrike" kern="120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0" i="0" u="none" strike="noStrike" kern="1200" cap="none" spc="-10" normalizeH="0" baseline="0" noProof="0">
              <a:ln>
                <a:noFill/>
              </a:ln>
              <a:solidFill>
                <a:srgbClr val="765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22448069-05C4-1D62-CF03-2E6E6916FB6D}"/>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652613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7F0376-E006-ECED-FE4D-E2532F157A71}"/>
              </a:ext>
            </a:extLst>
          </p:cNvPr>
          <p:cNvSpPr>
            <a:spLocks noGrp="1"/>
          </p:cNvSpPr>
          <p:nvPr>
            <p:ph type="sldNum" sz="quarter" idx="4"/>
          </p:nvPr>
        </p:nvSpPr>
        <p:spPr/>
        <p:txBody>
          <a:bodyPr/>
          <a:lstStyle/>
          <a:p>
            <a:pPr algn="ctr"/>
            <a:fld id="{1875A764-3B06-454E-8ABA-2F6ED0EB58E9}" type="slidenum">
              <a:rPr lang="en-US" smtClean="0"/>
              <a:t>24</a:t>
            </a:fld>
            <a:endParaRPr lang="en-US"/>
          </a:p>
        </p:txBody>
      </p:sp>
      <p:sp>
        <p:nvSpPr>
          <p:cNvPr id="5" name="Title 4">
            <a:extLst>
              <a:ext uri="{FF2B5EF4-FFF2-40B4-BE49-F238E27FC236}">
                <a16:creationId xmlns:a16="http://schemas.microsoft.com/office/drawing/2014/main" id="{38A1DC63-E06A-0D79-32F2-1A1D9CCC0A2E}"/>
              </a:ext>
            </a:extLst>
          </p:cNvPr>
          <p:cNvSpPr>
            <a:spLocks noGrp="1"/>
          </p:cNvSpPr>
          <p:nvPr>
            <p:ph type="title"/>
          </p:nvPr>
        </p:nvSpPr>
        <p:spPr/>
        <p:txBody>
          <a:bodyPr/>
          <a:lstStyle/>
          <a:p>
            <a:r>
              <a:rPr lang="en-US" spc="-25" dirty="0"/>
              <a:t>We Start with Defining</a:t>
            </a:r>
            <a:r>
              <a:rPr lang="en-GB" spc="-25" dirty="0"/>
              <a:t> Where Is the Value</a:t>
            </a:r>
            <a:endParaRPr lang="en-US" dirty="0"/>
          </a:p>
        </p:txBody>
      </p:sp>
      <p:grpSp>
        <p:nvGrpSpPr>
          <p:cNvPr id="6" name="Group 5">
            <a:extLst>
              <a:ext uri="{FF2B5EF4-FFF2-40B4-BE49-F238E27FC236}">
                <a16:creationId xmlns:a16="http://schemas.microsoft.com/office/drawing/2014/main" id="{C52CA1B1-3C91-0960-F10E-534E8E9D1BC1}"/>
              </a:ext>
            </a:extLst>
          </p:cNvPr>
          <p:cNvGrpSpPr/>
          <p:nvPr/>
        </p:nvGrpSpPr>
        <p:grpSpPr>
          <a:xfrm>
            <a:off x="3956221" y="1710278"/>
            <a:ext cx="7908967" cy="3827338"/>
            <a:chOff x="4608949" y="1943894"/>
            <a:chExt cx="6908797" cy="3547665"/>
          </a:xfrm>
        </p:grpSpPr>
        <p:sp>
          <p:nvSpPr>
            <p:cNvPr id="7" name="TextBox 6">
              <a:extLst>
                <a:ext uri="{FF2B5EF4-FFF2-40B4-BE49-F238E27FC236}">
                  <a16:creationId xmlns:a16="http://schemas.microsoft.com/office/drawing/2014/main" id="{2A341A80-15AB-BFF2-99A7-46A953A42C67}"/>
                </a:ext>
              </a:extLst>
            </p:cNvPr>
            <p:cNvSpPr txBox="1"/>
            <p:nvPr/>
          </p:nvSpPr>
          <p:spPr>
            <a:xfrm>
              <a:off x="7194962" y="1943894"/>
              <a:ext cx="1045062" cy="256758"/>
            </a:xfrm>
            <a:prstGeom prst="rect">
              <a:avLst/>
            </a:prstGeom>
            <a:noFill/>
          </p:spPr>
          <p:txBody>
            <a:bodyPr wrap="none" lIns="91440" tIns="45720" rIns="91440" bIns="45720" rtlCol="0">
              <a:spAutoFit/>
            </a:bodyPr>
            <a:lstStyle/>
            <a:p>
              <a:pPr defTabSz="914354">
                <a:defRPr/>
              </a:pPr>
              <a:r>
                <a:rPr lang="en-US" sz="1200" spc="-10" dirty="0">
                  <a:solidFill>
                    <a:srgbClr val="F2F2F2">
                      <a:lumMod val="10000"/>
                    </a:srgbClr>
                  </a:solidFill>
                  <a:latin typeface="Arial" pitchFamily="34" charset="0"/>
                  <a:ea typeface="Helvetica Neue" panose="02000503000000020004" pitchFamily="2" charset="0"/>
                  <a:cs typeface="Helvetica Neue" panose="02000503000000020004" pitchFamily="2" charset="0"/>
                </a:rPr>
                <a:t>5 Year Strategy</a:t>
              </a:r>
            </a:p>
          </p:txBody>
        </p:sp>
        <p:cxnSp>
          <p:nvCxnSpPr>
            <p:cNvPr id="8" name="Straight Arrow Connector 7">
              <a:extLst>
                <a:ext uri="{FF2B5EF4-FFF2-40B4-BE49-F238E27FC236}">
                  <a16:creationId xmlns:a16="http://schemas.microsoft.com/office/drawing/2014/main" id="{D29B920E-C50E-E96E-519F-C86799355B0A}"/>
                </a:ext>
              </a:extLst>
            </p:cNvPr>
            <p:cNvCxnSpPr>
              <a:cxnSpLocks/>
            </p:cNvCxnSpPr>
            <p:nvPr/>
          </p:nvCxnSpPr>
          <p:spPr>
            <a:xfrm flipV="1">
              <a:off x="4710546" y="2441960"/>
              <a:ext cx="0" cy="2484582"/>
            </a:xfrm>
            <a:prstGeom prst="straightConnector1">
              <a:avLst/>
            </a:prstGeom>
            <a:ln w="3810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FB936EE-C6FE-71C5-C34A-A66362002043}"/>
                </a:ext>
              </a:extLst>
            </p:cNvPr>
            <p:cNvCxnSpPr>
              <a:cxnSpLocks/>
            </p:cNvCxnSpPr>
            <p:nvPr/>
          </p:nvCxnSpPr>
          <p:spPr>
            <a:xfrm>
              <a:off x="4710546" y="4926542"/>
              <a:ext cx="6807200" cy="0"/>
            </a:xfrm>
            <a:prstGeom prst="straightConnector1">
              <a:avLst/>
            </a:prstGeom>
            <a:ln w="38100">
              <a:solidFill>
                <a:srgbClr val="1D1D1D"/>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0C0AFEB6-63B1-C223-D24F-50E7A169A976}"/>
                </a:ext>
              </a:extLst>
            </p:cNvPr>
            <p:cNvGrpSpPr/>
            <p:nvPr/>
          </p:nvGrpSpPr>
          <p:grpSpPr>
            <a:xfrm>
              <a:off x="4608949" y="4181153"/>
              <a:ext cx="1126836" cy="1310401"/>
              <a:chOff x="4895273" y="4066611"/>
              <a:chExt cx="1126836" cy="1310401"/>
            </a:xfrm>
          </p:grpSpPr>
          <p:sp>
            <p:nvSpPr>
              <p:cNvPr id="27" name="TextBox 26">
                <a:extLst>
                  <a:ext uri="{FF2B5EF4-FFF2-40B4-BE49-F238E27FC236}">
                    <a16:creationId xmlns:a16="http://schemas.microsoft.com/office/drawing/2014/main" id="{3EBC97CF-6976-6D67-53DE-93F5EF83504D}"/>
                  </a:ext>
                </a:extLst>
              </p:cNvPr>
              <p:cNvSpPr txBox="1"/>
              <p:nvPr/>
            </p:nvSpPr>
            <p:spPr>
              <a:xfrm>
                <a:off x="4895273" y="4949082"/>
                <a:ext cx="1126836" cy="427930"/>
              </a:xfrm>
              <a:prstGeom prst="rect">
                <a:avLst/>
              </a:prstGeom>
              <a:noFill/>
              <a:ln>
                <a:noFill/>
              </a:ln>
            </p:spPr>
            <p:txBody>
              <a:bodyPr wrap="square" lIns="91440" tIns="45720" rIns="91440" bIns="45720" rtlCol="0" anchor="ctr">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ORGANIC GROWTH</a:t>
                </a:r>
              </a:p>
            </p:txBody>
          </p:sp>
          <p:sp>
            <p:nvSpPr>
              <p:cNvPr id="28" name="TextBox 27">
                <a:extLst>
                  <a:ext uri="{FF2B5EF4-FFF2-40B4-BE49-F238E27FC236}">
                    <a16:creationId xmlns:a16="http://schemas.microsoft.com/office/drawing/2014/main" id="{296920D6-74D8-1999-09DE-1F3BD8B747D8}"/>
                  </a:ext>
                </a:extLst>
              </p:cNvPr>
              <p:cNvSpPr txBox="1"/>
              <p:nvPr/>
            </p:nvSpPr>
            <p:spPr>
              <a:xfrm>
                <a:off x="5014985" y="4066611"/>
                <a:ext cx="887411" cy="256758"/>
              </a:xfrm>
              <a:prstGeom prst="rect">
                <a:avLst/>
              </a:prstGeom>
              <a:noFill/>
              <a:ln>
                <a:noFill/>
              </a:ln>
            </p:spPr>
            <p:txBody>
              <a:bodyPr wrap="square" lIns="91440" tIns="45720" rIns="91440" bIns="45720">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1,700</a:t>
                </a:r>
              </a:p>
            </p:txBody>
          </p:sp>
          <p:sp>
            <p:nvSpPr>
              <p:cNvPr id="29" name="Rectangle 28">
                <a:extLst>
                  <a:ext uri="{FF2B5EF4-FFF2-40B4-BE49-F238E27FC236}">
                    <a16:creationId xmlns:a16="http://schemas.microsoft.com/office/drawing/2014/main" id="{15F551CC-25CD-C951-E4C5-A5C2148909D2}"/>
                  </a:ext>
                </a:extLst>
              </p:cNvPr>
              <p:cNvSpPr/>
              <p:nvPr/>
            </p:nvSpPr>
            <p:spPr>
              <a:xfrm>
                <a:off x="5160612" y="4410030"/>
                <a:ext cx="596160" cy="372746"/>
              </a:xfrm>
              <a:prstGeom prst="rect">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54">
                  <a:defRPr>
                    <a:solidFill>
                      <a:srgbClr val="FFFFFF"/>
                    </a:solidFill>
                  </a:defRPr>
                </a:pPr>
                <a:endParaRPr lang="en-US" sz="12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grpSp>
        <p:grpSp>
          <p:nvGrpSpPr>
            <p:cNvPr id="11" name="Group 10">
              <a:extLst>
                <a:ext uri="{FF2B5EF4-FFF2-40B4-BE49-F238E27FC236}">
                  <a16:creationId xmlns:a16="http://schemas.microsoft.com/office/drawing/2014/main" id="{ECEA71B7-6EDE-07F2-645A-560C1A891905}"/>
                </a:ext>
              </a:extLst>
            </p:cNvPr>
            <p:cNvGrpSpPr/>
            <p:nvPr/>
          </p:nvGrpSpPr>
          <p:grpSpPr>
            <a:xfrm>
              <a:off x="8139610" y="2989881"/>
              <a:ext cx="1126836" cy="2399797"/>
              <a:chOff x="5063850" y="2783006"/>
              <a:chExt cx="1126836" cy="2399797"/>
            </a:xfrm>
          </p:grpSpPr>
          <p:sp>
            <p:nvSpPr>
              <p:cNvPr id="25" name="TextBox 24">
                <a:extLst>
                  <a:ext uri="{FF2B5EF4-FFF2-40B4-BE49-F238E27FC236}">
                    <a16:creationId xmlns:a16="http://schemas.microsoft.com/office/drawing/2014/main" id="{EF6A02DA-E98F-5A68-FAAE-E378B2C3CFDF}"/>
                  </a:ext>
                </a:extLst>
              </p:cNvPr>
              <p:cNvSpPr txBox="1"/>
              <p:nvPr/>
            </p:nvSpPr>
            <p:spPr>
              <a:xfrm>
                <a:off x="5063850" y="4926045"/>
                <a:ext cx="1126836" cy="256758"/>
              </a:xfrm>
              <a:prstGeom prst="rect">
                <a:avLst/>
              </a:prstGeom>
              <a:noFill/>
              <a:ln>
                <a:noFill/>
              </a:ln>
            </p:spPr>
            <p:txBody>
              <a:bodyPr wrap="square" lIns="91440" tIns="45720" rIns="91440" bIns="45720" rtlCol="0" anchor="ctr">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M&amp;A</a:t>
                </a:r>
              </a:p>
            </p:txBody>
          </p:sp>
          <p:sp>
            <p:nvSpPr>
              <p:cNvPr id="26" name="Rectangle 25">
                <a:extLst>
                  <a:ext uri="{FF2B5EF4-FFF2-40B4-BE49-F238E27FC236}">
                    <a16:creationId xmlns:a16="http://schemas.microsoft.com/office/drawing/2014/main" id="{4FDFFC24-DD0C-8FDA-A15F-A931D5FA3283}"/>
                  </a:ext>
                </a:extLst>
              </p:cNvPr>
              <p:cNvSpPr/>
              <p:nvPr/>
            </p:nvSpPr>
            <p:spPr>
              <a:xfrm>
                <a:off x="5333859" y="2783006"/>
                <a:ext cx="596160" cy="570421"/>
              </a:xfrm>
              <a:prstGeom prst="rect">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54">
                  <a:defRPr>
                    <a:solidFill>
                      <a:srgbClr val="FFFFFF"/>
                    </a:solidFill>
                  </a:defRPr>
                </a:pPr>
                <a:endParaRPr lang="en-US" sz="12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grpSp>
        <p:sp>
          <p:nvSpPr>
            <p:cNvPr id="12" name="TextBox 11">
              <a:extLst>
                <a:ext uri="{FF2B5EF4-FFF2-40B4-BE49-F238E27FC236}">
                  <a16:creationId xmlns:a16="http://schemas.microsoft.com/office/drawing/2014/main" id="{051589B1-A47F-4ED7-22CE-C12587DB8DE1}"/>
                </a:ext>
              </a:extLst>
            </p:cNvPr>
            <p:cNvSpPr txBox="1"/>
            <p:nvPr/>
          </p:nvSpPr>
          <p:spPr>
            <a:xfrm>
              <a:off x="7069412" y="3186533"/>
              <a:ext cx="887411" cy="256758"/>
            </a:xfrm>
            <a:prstGeom prst="rect">
              <a:avLst/>
            </a:prstGeom>
            <a:noFill/>
            <a:ln>
              <a:noFill/>
            </a:ln>
          </p:spPr>
          <p:txBody>
            <a:bodyPr wrap="square" lIns="91440" tIns="45720" rIns="91440" bIns="45720">
              <a:spAutoFit/>
            </a:bodyPr>
            <a:lstStyle/>
            <a:p>
              <a:pPr algn="ctr" defTabSz="914354">
                <a:defRPr/>
              </a:pP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1700</a:t>
              </a:r>
            </a:p>
          </p:txBody>
        </p:sp>
        <p:grpSp>
          <p:nvGrpSpPr>
            <p:cNvPr id="13" name="Group 12">
              <a:extLst>
                <a:ext uri="{FF2B5EF4-FFF2-40B4-BE49-F238E27FC236}">
                  <a16:creationId xmlns:a16="http://schemas.microsoft.com/office/drawing/2014/main" id="{139E3BAC-82D9-0FC8-BF3E-E946063CE8FB}"/>
                </a:ext>
              </a:extLst>
            </p:cNvPr>
            <p:cNvGrpSpPr/>
            <p:nvPr/>
          </p:nvGrpSpPr>
          <p:grpSpPr>
            <a:xfrm>
              <a:off x="6973906" y="2584118"/>
              <a:ext cx="2153292" cy="2907441"/>
              <a:chOff x="7707350" y="2469576"/>
              <a:chExt cx="2153292" cy="2907441"/>
            </a:xfrm>
          </p:grpSpPr>
          <p:sp>
            <p:nvSpPr>
              <p:cNvPr id="22" name="TextBox 21">
                <a:extLst>
                  <a:ext uri="{FF2B5EF4-FFF2-40B4-BE49-F238E27FC236}">
                    <a16:creationId xmlns:a16="http://schemas.microsoft.com/office/drawing/2014/main" id="{0DD06ADD-70B0-8179-2703-EDF002B9C78A}"/>
                  </a:ext>
                </a:extLst>
              </p:cNvPr>
              <p:cNvSpPr txBox="1"/>
              <p:nvPr/>
            </p:nvSpPr>
            <p:spPr>
              <a:xfrm>
                <a:off x="7707350" y="4949087"/>
                <a:ext cx="1298268" cy="427930"/>
              </a:xfrm>
              <a:prstGeom prst="rect">
                <a:avLst/>
              </a:prstGeom>
              <a:noFill/>
              <a:ln>
                <a:noFill/>
              </a:ln>
            </p:spPr>
            <p:txBody>
              <a:bodyPr wrap="square" lIns="91440" tIns="45720" rIns="91440" bIns="45720" rtlCol="0" anchor="ctr">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NEW PRODUCTS &amp; INNOVATION</a:t>
                </a:r>
              </a:p>
            </p:txBody>
          </p:sp>
          <p:sp>
            <p:nvSpPr>
              <p:cNvPr id="23" name="TextBox 22">
                <a:extLst>
                  <a:ext uri="{FF2B5EF4-FFF2-40B4-BE49-F238E27FC236}">
                    <a16:creationId xmlns:a16="http://schemas.microsoft.com/office/drawing/2014/main" id="{0750CC13-ACFB-6DAC-EE69-36DC3F6D3E33}"/>
                  </a:ext>
                </a:extLst>
              </p:cNvPr>
              <p:cNvSpPr txBox="1"/>
              <p:nvPr/>
            </p:nvSpPr>
            <p:spPr>
              <a:xfrm>
                <a:off x="8973230" y="2469576"/>
                <a:ext cx="887412" cy="256758"/>
              </a:xfrm>
              <a:prstGeom prst="rect">
                <a:avLst/>
              </a:prstGeom>
              <a:noFill/>
              <a:ln>
                <a:noFill/>
              </a:ln>
            </p:spPr>
            <p:txBody>
              <a:bodyPr wrap="square" lIns="91440" tIns="45720" rIns="91440" bIns="45720">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1700</a:t>
                </a:r>
              </a:p>
            </p:txBody>
          </p:sp>
          <p:sp>
            <p:nvSpPr>
              <p:cNvPr id="24" name="Rectangle 23">
                <a:extLst>
                  <a:ext uri="{FF2B5EF4-FFF2-40B4-BE49-F238E27FC236}">
                    <a16:creationId xmlns:a16="http://schemas.microsoft.com/office/drawing/2014/main" id="{1B6DB684-30CD-20B7-F6DF-59523CDB8046}"/>
                  </a:ext>
                </a:extLst>
              </p:cNvPr>
              <p:cNvSpPr/>
              <p:nvPr/>
            </p:nvSpPr>
            <p:spPr>
              <a:xfrm>
                <a:off x="7972690" y="3445763"/>
                <a:ext cx="596160" cy="376530"/>
              </a:xfrm>
              <a:prstGeom prst="rect">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54">
                  <a:defRPr>
                    <a:solidFill>
                      <a:srgbClr val="FFFFFF"/>
                    </a:solidFill>
                  </a:defRPr>
                </a:pPr>
                <a:endParaRPr lang="en-US" sz="12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grpSp>
        <p:grpSp>
          <p:nvGrpSpPr>
            <p:cNvPr id="14" name="Group 13">
              <a:extLst>
                <a:ext uri="{FF2B5EF4-FFF2-40B4-BE49-F238E27FC236}">
                  <a16:creationId xmlns:a16="http://schemas.microsoft.com/office/drawing/2014/main" id="{DBB78688-035F-EDB6-68A5-F025740AF637}"/>
                </a:ext>
              </a:extLst>
            </p:cNvPr>
            <p:cNvGrpSpPr/>
            <p:nvPr/>
          </p:nvGrpSpPr>
          <p:grpSpPr>
            <a:xfrm>
              <a:off x="5616072" y="3666798"/>
              <a:ext cx="1453338" cy="1739174"/>
              <a:chOff x="10009680" y="3552255"/>
              <a:chExt cx="1453338" cy="1739174"/>
            </a:xfrm>
          </p:grpSpPr>
          <p:sp>
            <p:nvSpPr>
              <p:cNvPr id="19" name="TextBox 18">
                <a:extLst>
                  <a:ext uri="{FF2B5EF4-FFF2-40B4-BE49-F238E27FC236}">
                    <a16:creationId xmlns:a16="http://schemas.microsoft.com/office/drawing/2014/main" id="{5B13EF0C-E828-16F5-2B51-ED21DB96415C}"/>
                  </a:ext>
                </a:extLst>
              </p:cNvPr>
              <p:cNvSpPr txBox="1"/>
              <p:nvPr/>
            </p:nvSpPr>
            <p:spPr>
              <a:xfrm>
                <a:off x="10009680" y="5034671"/>
                <a:ext cx="1453338" cy="256758"/>
              </a:xfrm>
              <a:prstGeom prst="rect">
                <a:avLst/>
              </a:prstGeom>
              <a:noFill/>
              <a:ln>
                <a:noFill/>
              </a:ln>
            </p:spPr>
            <p:txBody>
              <a:bodyPr wrap="square" lIns="91440" tIns="45720" rIns="91440" bIns="45720" rtlCol="0" anchor="ctr">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PRODUCTIVITY</a:t>
                </a:r>
              </a:p>
            </p:txBody>
          </p:sp>
          <p:sp>
            <p:nvSpPr>
              <p:cNvPr id="20" name="Rectangle 19">
                <a:extLst>
                  <a:ext uri="{FF2B5EF4-FFF2-40B4-BE49-F238E27FC236}">
                    <a16:creationId xmlns:a16="http://schemas.microsoft.com/office/drawing/2014/main" id="{AB8E3853-1E28-7516-87FD-E37AF428F2B0}"/>
                  </a:ext>
                </a:extLst>
              </p:cNvPr>
              <p:cNvSpPr/>
              <p:nvPr/>
            </p:nvSpPr>
            <p:spPr>
              <a:xfrm>
                <a:off x="10438271" y="3902064"/>
                <a:ext cx="596160" cy="502041"/>
              </a:xfrm>
              <a:prstGeom prst="rect">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54">
                  <a:defRPr>
                    <a:solidFill>
                      <a:srgbClr val="FFFFFF"/>
                    </a:solidFill>
                  </a:defRPr>
                </a:pPr>
                <a:endParaRPr lang="en-US" sz="12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21" name="TextBox 20">
                <a:extLst>
                  <a:ext uri="{FF2B5EF4-FFF2-40B4-BE49-F238E27FC236}">
                    <a16:creationId xmlns:a16="http://schemas.microsoft.com/office/drawing/2014/main" id="{CA830B0A-DAFC-3602-D53A-D662BEAB3745}"/>
                  </a:ext>
                </a:extLst>
              </p:cNvPr>
              <p:cNvSpPr txBox="1"/>
              <p:nvPr/>
            </p:nvSpPr>
            <p:spPr>
              <a:xfrm>
                <a:off x="10292643" y="3552255"/>
                <a:ext cx="887412" cy="256758"/>
              </a:xfrm>
              <a:prstGeom prst="rect">
                <a:avLst/>
              </a:prstGeom>
              <a:noFill/>
              <a:ln>
                <a:noFill/>
              </a:ln>
            </p:spPr>
            <p:txBody>
              <a:bodyPr wrap="square" lIns="91440" tIns="45720" rIns="91440" bIns="45720">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840</a:t>
                </a:r>
              </a:p>
            </p:txBody>
          </p:sp>
        </p:grpSp>
        <p:grpSp>
          <p:nvGrpSpPr>
            <p:cNvPr id="15" name="Group 14">
              <a:extLst>
                <a:ext uri="{FF2B5EF4-FFF2-40B4-BE49-F238E27FC236}">
                  <a16:creationId xmlns:a16="http://schemas.microsoft.com/office/drawing/2014/main" id="{8D1F1802-345D-0DD3-3665-7C14213225A3}"/>
                </a:ext>
              </a:extLst>
            </p:cNvPr>
            <p:cNvGrpSpPr/>
            <p:nvPr/>
          </p:nvGrpSpPr>
          <p:grpSpPr>
            <a:xfrm>
              <a:off x="9177220" y="2545402"/>
              <a:ext cx="1126836" cy="2860574"/>
              <a:chOff x="9026765" y="2430859"/>
              <a:chExt cx="1126836" cy="2860574"/>
            </a:xfrm>
          </p:grpSpPr>
          <p:sp>
            <p:nvSpPr>
              <p:cNvPr id="16" name="TextBox 15">
                <a:extLst>
                  <a:ext uri="{FF2B5EF4-FFF2-40B4-BE49-F238E27FC236}">
                    <a16:creationId xmlns:a16="http://schemas.microsoft.com/office/drawing/2014/main" id="{86500FCB-D0DA-BB99-E60B-3F0274B05AEA}"/>
                  </a:ext>
                </a:extLst>
              </p:cNvPr>
              <p:cNvSpPr txBox="1"/>
              <p:nvPr/>
            </p:nvSpPr>
            <p:spPr>
              <a:xfrm>
                <a:off x="9026765" y="5034675"/>
                <a:ext cx="1126836" cy="256758"/>
              </a:xfrm>
              <a:prstGeom prst="rect">
                <a:avLst/>
              </a:prstGeom>
              <a:noFill/>
            </p:spPr>
            <p:txBody>
              <a:bodyPr wrap="square" lIns="91440" tIns="45720" rIns="91440" bIns="45720" rtlCol="0" anchor="ctr">
                <a:spAutoFit/>
              </a:bodyPr>
              <a:lstStyle/>
              <a:p>
                <a:pPr algn="ctr" defTabSz="914354">
                  <a:defRPr>
                    <a:solidFill>
                      <a:srgbClr val="FFFFFF"/>
                    </a:solidFill>
                  </a:defRPr>
                </a:pPr>
                <a:r>
                  <a:rPr lang="en-US" sz="1200" spc="-10" dirty="0">
                    <a:solidFill>
                      <a:schemeClr val="tx2"/>
                    </a:solidFill>
                    <a:latin typeface="Arial" pitchFamily="34" charset="0"/>
                    <a:ea typeface="Helvetica Neue" panose="02000503000000020004" pitchFamily="2" charset="0"/>
                    <a:cs typeface="Helvetica Neue" panose="02000503000000020004" pitchFamily="2" charset="0"/>
                  </a:rPr>
                  <a:t>2028</a:t>
                </a:r>
              </a:p>
            </p:txBody>
          </p:sp>
          <p:sp>
            <p:nvSpPr>
              <p:cNvPr id="17" name="Rectangle 16">
                <a:extLst>
                  <a:ext uri="{FF2B5EF4-FFF2-40B4-BE49-F238E27FC236}">
                    <a16:creationId xmlns:a16="http://schemas.microsoft.com/office/drawing/2014/main" id="{3B611955-63B6-AC7B-BC40-BE5926F64F48}"/>
                  </a:ext>
                </a:extLst>
              </p:cNvPr>
              <p:cNvSpPr/>
              <p:nvPr/>
            </p:nvSpPr>
            <p:spPr>
              <a:xfrm>
                <a:off x="9292104" y="2875337"/>
                <a:ext cx="596159" cy="1907436"/>
              </a:xfrm>
              <a:prstGeom prst="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54">
                  <a:defRPr>
                    <a:solidFill>
                      <a:srgbClr val="FFFFFF"/>
                    </a:solidFill>
                  </a:defRPr>
                </a:pPr>
                <a:endParaRPr lang="en-US" sz="12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1D8435FF-1FF0-4DBA-69D8-C4495BBE666C}"/>
                  </a:ext>
                </a:extLst>
              </p:cNvPr>
              <p:cNvSpPr txBox="1"/>
              <p:nvPr/>
            </p:nvSpPr>
            <p:spPr>
              <a:xfrm>
                <a:off x="9115991" y="2430859"/>
                <a:ext cx="887411" cy="256758"/>
              </a:xfrm>
              <a:prstGeom prst="rect">
                <a:avLst/>
              </a:prstGeom>
              <a:noFill/>
            </p:spPr>
            <p:txBody>
              <a:bodyPr wrap="square" lIns="91440" tIns="45720" rIns="91440" bIns="45720">
                <a:spAutoFit/>
              </a:bodyPr>
              <a:lstStyle/>
              <a:p>
                <a:pPr algn="ctr" defTabSz="914354">
                  <a:defRPr>
                    <a:solidFill>
                      <a:srgbClr val="FFFFFF"/>
                    </a:solidFill>
                  </a:defRPr>
                </a:pPr>
                <a:r>
                  <a:rPr lang="en-US" sz="1200" b="1" spc="-10" dirty="0">
                    <a:solidFill>
                      <a:schemeClr val="tx2"/>
                    </a:solidFill>
                    <a:latin typeface="Segoe UI" pitchFamily="34" charset="0"/>
                    <a:ea typeface="Helvetica Neue" panose="02000503000000020004" pitchFamily="2" charset="0"/>
                    <a:cs typeface="Helvetica Neue" panose="02000503000000020004" pitchFamily="2" charset="0"/>
                  </a:rPr>
                  <a:t>5,940</a:t>
                </a:r>
              </a:p>
            </p:txBody>
          </p:sp>
        </p:grpSp>
      </p:grpSp>
      <p:sp>
        <p:nvSpPr>
          <p:cNvPr id="30" name="TextBox 29">
            <a:extLst>
              <a:ext uri="{FF2B5EF4-FFF2-40B4-BE49-F238E27FC236}">
                <a16:creationId xmlns:a16="http://schemas.microsoft.com/office/drawing/2014/main" id="{DDC70789-5B55-A79F-5B66-98AE683BA2AA}"/>
              </a:ext>
            </a:extLst>
          </p:cNvPr>
          <p:cNvSpPr txBox="1"/>
          <p:nvPr/>
        </p:nvSpPr>
        <p:spPr>
          <a:xfrm>
            <a:off x="726543" y="2088778"/>
            <a:ext cx="2340000" cy="584775"/>
          </a:xfrm>
          <a:prstGeom prst="rect">
            <a:avLst/>
          </a:prstGeom>
          <a:noFill/>
        </p:spPr>
        <p:txBody>
          <a:bodyPr wrap="square" lIns="91440" tIns="45720" rIns="91440" bIns="45720">
            <a:spAutoFit/>
          </a:bodyPr>
          <a:lstStyle/>
          <a:p>
            <a:pPr lvl="0"/>
            <a:r>
              <a:rPr lang="en-GB" sz="1600" kern="1200" spc="-10" dirty="0">
                <a:solidFill>
                  <a:schemeClr val="tx2"/>
                </a:solidFill>
                <a:effectLst/>
                <a:latin typeface="Arial" pitchFamily="34" charset="0"/>
              </a:rPr>
              <a:t>Review of strategy and business plan </a:t>
            </a:r>
            <a:r>
              <a:rPr lang="en-GB" sz="1600" spc="-10" dirty="0">
                <a:solidFill>
                  <a:schemeClr val="tx2"/>
                </a:solidFill>
                <a:latin typeface="Arial" pitchFamily="34" charset="0"/>
              </a:rPr>
              <a:t>docs</a:t>
            </a:r>
            <a:endParaRPr lang="en-GB" sz="1600" kern="1200" spc="-10" dirty="0">
              <a:solidFill>
                <a:schemeClr val="tx2"/>
              </a:solidFill>
              <a:effectLst/>
              <a:latin typeface="Arial" pitchFamily="34" charset="0"/>
            </a:endParaRPr>
          </a:p>
        </p:txBody>
      </p:sp>
      <p:sp>
        <p:nvSpPr>
          <p:cNvPr id="31" name="TextBox 30">
            <a:extLst>
              <a:ext uri="{FF2B5EF4-FFF2-40B4-BE49-F238E27FC236}">
                <a16:creationId xmlns:a16="http://schemas.microsoft.com/office/drawing/2014/main" id="{2F307B64-4481-C32A-1887-80EA0891FA42}"/>
              </a:ext>
            </a:extLst>
          </p:cNvPr>
          <p:cNvSpPr txBox="1"/>
          <p:nvPr/>
        </p:nvSpPr>
        <p:spPr>
          <a:xfrm>
            <a:off x="726543" y="3207880"/>
            <a:ext cx="2340000" cy="584775"/>
          </a:xfrm>
          <a:prstGeom prst="rect">
            <a:avLst/>
          </a:prstGeom>
          <a:noFill/>
        </p:spPr>
        <p:txBody>
          <a:bodyPr wrap="square" lIns="91440" tIns="45720" rIns="91440" bIns="4572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600" kern="1200" spc="-10" dirty="0">
                <a:solidFill>
                  <a:schemeClr val="tx2"/>
                </a:solidFill>
                <a:effectLst/>
                <a:latin typeface="Arial" pitchFamily="34" charset="0"/>
              </a:rPr>
              <a:t>Review of operating plan and org data</a:t>
            </a:r>
          </a:p>
        </p:txBody>
      </p:sp>
      <p:sp>
        <p:nvSpPr>
          <p:cNvPr id="32" name="TextBox 31">
            <a:extLst>
              <a:ext uri="{FF2B5EF4-FFF2-40B4-BE49-F238E27FC236}">
                <a16:creationId xmlns:a16="http://schemas.microsoft.com/office/drawing/2014/main" id="{E7965F47-E0A5-657B-1B31-E065E1B41E88}"/>
              </a:ext>
            </a:extLst>
          </p:cNvPr>
          <p:cNvSpPr txBox="1"/>
          <p:nvPr/>
        </p:nvSpPr>
        <p:spPr>
          <a:xfrm>
            <a:off x="726543" y="4049983"/>
            <a:ext cx="2340000" cy="830997"/>
          </a:xfrm>
          <a:prstGeom prst="rect">
            <a:avLst/>
          </a:prstGeom>
          <a:noFill/>
        </p:spPr>
        <p:txBody>
          <a:bodyPr wrap="square" lIns="91440" tIns="45720" rIns="91440" bIns="4572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600" b="0" u="none" strike="noStrike" kern="1200" cap="none" spc="-10" normalizeH="0" baseline="0" noProof="0" dirty="0">
                <a:ln>
                  <a:noFill/>
                </a:ln>
                <a:solidFill>
                  <a:schemeClr val="tx2"/>
                </a:solidFill>
                <a:effectLst/>
                <a:uLnTx/>
                <a:uFillTx/>
                <a:latin typeface="Arial" pitchFamily="34" charset="0"/>
                <a:ea typeface="Times New Roman" panose="02020603050405020304" pitchFamily="18" charset="0"/>
                <a:cs typeface="Times New Roman" panose="02020603050405020304" pitchFamily="18" charset="0"/>
              </a:rPr>
              <a:t>Intake interviews with stakeholders  [e.g. LT, and HRBPs]</a:t>
            </a:r>
          </a:p>
        </p:txBody>
      </p:sp>
      <p:sp>
        <p:nvSpPr>
          <p:cNvPr id="33" name="Isosceles Triangle 35">
            <a:extLst>
              <a:ext uri="{FF2B5EF4-FFF2-40B4-BE49-F238E27FC236}">
                <a16:creationId xmlns:a16="http://schemas.microsoft.com/office/drawing/2014/main" id="{268BE5B6-5B75-487E-0114-9076517A15E3}"/>
              </a:ext>
            </a:extLst>
          </p:cNvPr>
          <p:cNvSpPr/>
          <p:nvPr/>
        </p:nvSpPr>
        <p:spPr>
          <a:xfrm rot="5400000">
            <a:off x="1239515" y="3319805"/>
            <a:ext cx="4607097" cy="48836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34" name="TextBox 33">
            <a:extLst>
              <a:ext uri="{FF2B5EF4-FFF2-40B4-BE49-F238E27FC236}">
                <a16:creationId xmlns:a16="http://schemas.microsoft.com/office/drawing/2014/main" id="{72723E29-4C9E-686A-3460-1459ACCED57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982061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F3F9F1-CC9E-8207-5212-6A08AFB7DCD8}"/>
              </a:ext>
            </a:extLst>
          </p:cNvPr>
          <p:cNvSpPr>
            <a:spLocks noGrp="1"/>
          </p:cNvSpPr>
          <p:nvPr>
            <p:ph type="sldNum" sz="quarter" idx="4"/>
          </p:nvPr>
        </p:nvSpPr>
        <p:spPr/>
        <p:txBody>
          <a:bodyPr/>
          <a:lstStyle/>
          <a:p>
            <a:pPr algn="ctr"/>
            <a:fld id="{1875A764-3B06-454E-8ABA-2F6ED0EB58E9}" type="slidenum">
              <a:rPr lang="en-US" smtClean="0"/>
              <a:t>25</a:t>
            </a:fld>
            <a:endParaRPr lang="en-US"/>
          </a:p>
        </p:txBody>
      </p:sp>
      <p:sp>
        <p:nvSpPr>
          <p:cNvPr id="3" name="Title 2">
            <a:extLst>
              <a:ext uri="{FF2B5EF4-FFF2-40B4-BE49-F238E27FC236}">
                <a16:creationId xmlns:a16="http://schemas.microsoft.com/office/drawing/2014/main" id="{1A7B2E42-A98D-799E-F044-6175619C4348}"/>
              </a:ext>
            </a:extLst>
          </p:cNvPr>
          <p:cNvSpPr>
            <a:spLocks noGrp="1"/>
          </p:cNvSpPr>
          <p:nvPr>
            <p:ph type="title"/>
          </p:nvPr>
        </p:nvSpPr>
        <p:spPr/>
        <p:txBody>
          <a:bodyPr/>
          <a:lstStyle/>
          <a:p>
            <a:r>
              <a:rPr lang="en-GB" spc="-25" dirty="0"/>
              <a:t>To Be Able to Define Work Headlines</a:t>
            </a:r>
            <a:endParaRPr lang="en-US" dirty="0"/>
          </a:p>
        </p:txBody>
      </p:sp>
      <p:grpSp>
        <p:nvGrpSpPr>
          <p:cNvPr id="4" name="Group 3">
            <a:extLst>
              <a:ext uri="{FF2B5EF4-FFF2-40B4-BE49-F238E27FC236}">
                <a16:creationId xmlns:a16="http://schemas.microsoft.com/office/drawing/2014/main" id="{A5AF5A6E-90AE-2800-59A8-6844451C0B77}"/>
              </a:ext>
            </a:extLst>
          </p:cNvPr>
          <p:cNvGrpSpPr/>
          <p:nvPr/>
        </p:nvGrpSpPr>
        <p:grpSpPr>
          <a:xfrm>
            <a:off x="713581" y="1198004"/>
            <a:ext cx="10764839" cy="232542"/>
            <a:chOff x="831471" y="901068"/>
            <a:chExt cx="10524714" cy="232542"/>
          </a:xfrm>
        </p:grpSpPr>
        <p:cxnSp>
          <p:nvCxnSpPr>
            <p:cNvPr id="5" name="Straight Arrow Connector 4">
              <a:extLst>
                <a:ext uri="{FF2B5EF4-FFF2-40B4-BE49-F238E27FC236}">
                  <a16:creationId xmlns:a16="http://schemas.microsoft.com/office/drawing/2014/main" id="{7D8EB1F5-1FC8-2DAC-E3ED-4C322D0D71E1}"/>
                </a:ext>
              </a:extLst>
            </p:cNvPr>
            <p:cNvCxnSpPr>
              <a:cxnSpLocks/>
            </p:cNvCxnSpPr>
            <p:nvPr/>
          </p:nvCxnSpPr>
          <p:spPr>
            <a:xfrm>
              <a:off x="4894646" y="1017339"/>
              <a:ext cx="2482627" cy="0"/>
            </a:xfrm>
            <a:prstGeom prst="straightConnector1">
              <a:avLst/>
            </a:prstGeom>
            <a:noFill/>
            <a:ln w="6350" cap="flat" cmpd="sng" algn="ctr">
              <a:solidFill>
                <a:schemeClr val="accent1"/>
              </a:solidFill>
              <a:prstDash val="solid"/>
              <a:miter lim="800000"/>
              <a:headEnd type="triangle"/>
              <a:tailEnd type="triangle"/>
            </a:ln>
            <a:effectLst/>
          </p:spPr>
        </p:cxnSp>
        <p:cxnSp>
          <p:nvCxnSpPr>
            <p:cNvPr id="6" name="Straight Arrow Connector 5">
              <a:extLst>
                <a:ext uri="{FF2B5EF4-FFF2-40B4-BE49-F238E27FC236}">
                  <a16:creationId xmlns:a16="http://schemas.microsoft.com/office/drawing/2014/main" id="{892DBBEB-D2D9-E649-23BE-9C2503EE4A17}"/>
                </a:ext>
              </a:extLst>
            </p:cNvPr>
            <p:cNvCxnSpPr>
              <a:cxnSpLocks/>
            </p:cNvCxnSpPr>
            <p:nvPr/>
          </p:nvCxnSpPr>
          <p:spPr>
            <a:xfrm>
              <a:off x="7377274" y="1017339"/>
              <a:ext cx="3978911" cy="0"/>
            </a:xfrm>
            <a:prstGeom prst="straightConnector1">
              <a:avLst/>
            </a:prstGeom>
            <a:noFill/>
            <a:ln w="6350" cap="flat" cmpd="sng" algn="ctr">
              <a:solidFill>
                <a:schemeClr val="accent1"/>
              </a:solidFill>
              <a:prstDash val="solid"/>
              <a:miter lim="800000"/>
              <a:headEnd type="triangle"/>
              <a:tailEnd type="triangle"/>
            </a:ln>
            <a:effectLst/>
          </p:spPr>
        </p:cxnSp>
        <p:cxnSp>
          <p:nvCxnSpPr>
            <p:cNvPr id="7" name="Straight Arrow Connector 6">
              <a:extLst>
                <a:ext uri="{FF2B5EF4-FFF2-40B4-BE49-F238E27FC236}">
                  <a16:creationId xmlns:a16="http://schemas.microsoft.com/office/drawing/2014/main" id="{EB52DE04-1A4C-157B-EE4E-4A0F1D8332E7}"/>
                </a:ext>
              </a:extLst>
            </p:cNvPr>
            <p:cNvCxnSpPr>
              <a:cxnSpLocks/>
            </p:cNvCxnSpPr>
            <p:nvPr/>
          </p:nvCxnSpPr>
          <p:spPr>
            <a:xfrm>
              <a:off x="831471" y="1017339"/>
              <a:ext cx="3770671" cy="0"/>
            </a:xfrm>
            <a:prstGeom prst="straightConnector1">
              <a:avLst/>
            </a:prstGeom>
            <a:noFill/>
            <a:ln w="6350" cap="flat" cmpd="sng" algn="ctr">
              <a:solidFill>
                <a:schemeClr val="accent1"/>
              </a:solidFill>
              <a:prstDash val="solid"/>
              <a:miter lim="800000"/>
              <a:headEnd type="triangle"/>
              <a:tailEnd type="triangle"/>
            </a:ln>
            <a:effectLst/>
          </p:spPr>
        </p:cxnSp>
        <p:sp>
          <p:nvSpPr>
            <p:cNvPr id="8" name="object 24">
              <a:extLst>
                <a:ext uri="{FF2B5EF4-FFF2-40B4-BE49-F238E27FC236}">
                  <a16:creationId xmlns:a16="http://schemas.microsoft.com/office/drawing/2014/main" id="{D7C17E12-2BC5-EEFB-9254-83B83808EDD6}"/>
                </a:ext>
              </a:extLst>
            </p:cNvPr>
            <p:cNvSpPr txBox="1"/>
            <p:nvPr/>
          </p:nvSpPr>
          <p:spPr>
            <a:xfrm>
              <a:off x="5417145" y="901068"/>
              <a:ext cx="1437629" cy="232542"/>
            </a:xfrm>
            <a:prstGeom prst="rect">
              <a:avLst/>
            </a:prstGeom>
            <a:solidFill>
              <a:schemeClr val="bg1"/>
            </a:solidFill>
          </p:spPr>
          <p:txBody>
            <a:bodyPr vert="horz" wrap="square" lIns="0" tIns="16933" rIns="0" bIns="0" rtlCol="0">
              <a:spAutoFit/>
            </a:bodyPr>
            <a:lstStyle/>
            <a:p>
              <a:pPr marL="16933" marR="0" lvl="0" indent="0" algn="ctr" defTabSz="1219170" rtl="0" eaLnBrk="1" fontAlgn="auto" latinLnBrk="0" hangingPunct="1">
                <a:lnSpc>
                  <a:spcPct val="100000"/>
                </a:lnSpc>
                <a:spcBef>
                  <a:spcPts val="133"/>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chemeClr val="accent1"/>
                  </a:solidFill>
                  <a:effectLst/>
                  <a:uLnTx/>
                  <a:uFillTx/>
                  <a:latin typeface="Segoe UI" pitchFamily="34" charset="0"/>
                  <a:ea typeface="+mn-ea"/>
                  <a:cs typeface="Tahoma"/>
                </a:rPr>
                <a:t>Grow</a:t>
              </a:r>
              <a:endParaRPr kumimoji="0" sz="1400" b="1" i="0" u="none" strike="noStrike" kern="1200" cap="none" spc="-25" normalizeH="0" baseline="0" noProof="0" dirty="0">
                <a:ln>
                  <a:noFill/>
                </a:ln>
                <a:solidFill>
                  <a:schemeClr val="accent1"/>
                </a:solidFill>
                <a:effectLst/>
                <a:uLnTx/>
                <a:uFillTx/>
                <a:latin typeface="Segoe UI" pitchFamily="34" charset="0"/>
                <a:ea typeface="+mn-ea"/>
                <a:cs typeface="Tahoma"/>
              </a:endParaRPr>
            </a:p>
          </p:txBody>
        </p:sp>
        <p:sp>
          <p:nvSpPr>
            <p:cNvPr id="9" name="object 24">
              <a:extLst>
                <a:ext uri="{FF2B5EF4-FFF2-40B4-BE49-F238E27FC236}">
                  <a16:creationId xmlns:a16="http://schemas.microsoft.com/office/drawing/2014/main" id="{FCBDB8C6-ACD9-EECD-03CD-0189F6CF7C3E}"/>
                </a:ext>
              </a:extLst>
            </p:cNvPr>
            <p:cNvSpPr txBox="1"/>
            <p:nvPr/>
          </p:nvSpPr>
          <p:spPr>
            <a:xfrm>
              <a:off x="8123180" y="901068"/>
              <a:ext cx="2610169" cy="232542"/>
            </a:xfrm>
            <a:prstGeom prst="rect">
              <a:avLst/>
            </a:prstGeom>
            <a:solidFill>
              <a:schemeClr val="bg1"/>
            </a:solidFill>
          </p:spPr>
          <p:txBody>
            <a:bodyPr vert="horz" wrap="square" lIns="0" tIns="16933" rIns="0" bIns="0" rtlCol="0">
              <a:spAutoFit/>
            </a:bodyPr>
            <a:lstStyle/>
            <a:p>
              <a:pPr marL="16933" marR="0" lvl="0" indent="0" algn="ctr" defTabSz="1219170" rtl="0" eaLnBrk="1" fontAlgn="auto" latinLnBrk="0" hangingPunct="1">
                <a:lnSpc>
                  <a:spcPct val="100000"/>
                </a:lnSpc>
                <a:spcBef>
                  <a:spcPts val="133"/>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chemeClr val="accent1"/>
                  </a:solidFill>
                  <a:effectLst/>
                  <a:uLnTx/>
                  <a:uFillTx/>
                  <a:latin typeface="Segoe UI" pitchFamily="34" charset="0"/>
                  <a:ea typeface="+mn-ea"/>
                  <a:cs typeface="Tahoma"/>
                </a:rPr>
                <a:t>Transform</a:t>
              </a:r>
              <a:endParaRPr kumimoji="0" sz="1400" b="1" i="0" u="none" strike="noStrike" kern="1200" cap="none" spc="-25" normalizeH="0" baseline="0" noProof="0" dirty="0">
                <a:ln>
                  <a:noFill/>
                </a:ln>
                <a:solidFill>
                  <a:schemeClr val="accent1"/>
                </a:solidFill>
                <a:effectLst/>
                <a:uLnTx/>
                <a:uFillTx/>
                <a:latin typeface="Segoe UI" pitchFamily="34" charset="0"/>
                <a:ea typeface="+mn-ea"/>
                <a:cs typeface="Tahoma"/>
              </a:endParaRPr>
            </a:p>
          </p:txBody>
        </p:sp>
        <p:sp>
          <p:nvSpPr>
            <p:cNvPr id="10" name="object 24">
              <a:extLst>
                <a:ext uri="{FF2B5EF4-FFF2-40B4-BE49-F238E27FC236}">
                  <a16:creationId xmlns:a16="http://schemas.microsoft.com/office/drawing/2014/main" id="{295A3A10-BDC4-496A-C02D-AA1D6A47F12C}"/>
                </a:ext>
              </a:extLst>
            </p:cNvPr>
            <p:cNvSpPr txBox="1"/>
            <p:nvPr/>
          </p:nvSpPr>
          <p:spPr>
            <a:xfrm>
              <a:off x="1331491" y="901068"/>
              <a:ext cx="2636533" cy="232542"/>
            </a:xfrm>
            <a:prstGeom prst="rect">
              <a:avLst/>
            </a:prstGeom>
            <a:solidFill>
              <a:schemeClr val="bg1"/>
            </a:solidFill>
          </p:spPr>
          <p:txBody>
            <a:bodyPr vert="horz" wrap="square" lIns="0" tIns="16933" rIns="0" bIns="0" rtlCol="0">
              <a:spAutoFit/>
            </a:bodyPr>
            <a:lstStyle/>
            <a:p>
              <a:pPr marL="16933" marR="0" lvl="0" indent="0" algn="ctr" defTabSz="1219170" rtl="0" eaLnBrk="1" fontAlgn="auto" latinLnBrk="0" hangingPunct="1">
                <a:lnSpc>
                  <a:spcPct val="100000"/>
                </a:lnSpc>
                <a:spcBef>
                  <a:spcPts val="133"/>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chemeClr val="accent1"/>
                  </a:solidFill>
                  <a:effectLst/>
                  <a:uLnTx/>
                  <a:uFillTx/>
                  <a:latin typeface="Segoe UI" pitchFamily="34" charset="0"/>
                  <a:ea typeface="+mn-ea"/>
                  <a:cs typeface="Tahoma"/>
                </a:rPr>
                <a:t>Run</a:t>
              </a:r>
              <a:endParaRPr kumimoji="0" sz="1400" b="1" i="0" u="none" strike="noStrike" kern="1200" cap="none" spc="-25" normalizeH="0" baseline="0" noProof="0" dirty="0">
                <a:ln>
                  <a:noFill/>
                </a:ln>
                <a:solidFill>
                  <a:schemeClr val="accent1"/>
                </a:solidFill>
                <a:effectLst/>
                <a:uLnTx/>
                <a:uFillTx/>
                <a:latin typeface="Segoe UI" pitchFamily="34" charset="0"/>
                <a:ea typeface="+mn-ea"/>
                <a:cs typeface="Tahoma"/>
              </a:endParaRPr>
            </a:p>
          </p:txBody>
        </p:sp>
      </p:grpSp>
      <p:sp>
        <p:nvSpPr>
          <p:cNvPr id="11" name="Rectangle 10">
            <a:extLst>
              <a:ext uri="{FF2B5EF4-FFF2-40B4-BE49-F238E27FC236}">
                <a16:creationId xmlns:a16="http://schemas.microsoft.com/office/drawing/2014/main" id="{CC2AE6E4-C0CE-5F98-EB04-9BE388885E28}"/>
              </a:ext>
            </a:extLst>
          </p:cNvPr>
          <p:cNvSpPr/>
          <p:nvPr/>
        </p:nvSpPr>
        <p:spPr>
          <a:xfrm>
            <a:off x="9355313" y="2610200"/>
            <a:ext cx="2520000" cy="2709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90000" rtlCol="0" anchor="t"/>
          <a:lstStyle/>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Develop a clear Country x Category acquisition roadmap by Q4 FY25 that aligns with long-term growth strategy </a:t>
            </a:r>
          </a:p>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Prioritize markets and categories with highest synergy potential.</a:t>
            </a:r>
          </a:p>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Build strong Post Integration Capabilities.</a:t>
            </a:r>
          </a:p>
        </p:txBody>
      </p:sp>
      <p:sp>
        <p:nvSpPr>
          <p:cNvPr id="12" name="Rectangle 11">
            <a:extLst>
              <a:ext uri="{FF2B5EF4-FFF2-40B4-BE49-F238E27FC236}">
                <a16:creationId xmlns:a16="http://schemas.microsoft.com/office/drawing/2014/main" id="{AA60BC1B-7553-101E-604A-DEA1D4AC7B75}"/>
              </a:ext>
            </a:extLst>
          </p:cNvPr>
          <p:cNvSpPr/>
          <p:nvPr/>
        </p:nvSpPr>
        <p:spPr>
          <a:xfrm>
            <a:off x="713580" y="2576000"/>
            <a:ext cx="2520000" cy="2731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90000" rtlCol="0" anchor="t"/>
          <a:lstStyle/>
          <a:p>
            <a:pPr marL="171450" indent="-171450">
              <a:spcAft>
                <a:spcPts val="300"/>
              </a:spcAft>
              <a:buBlip>
                <a:blip r:embed="rId2"/>
              </a:buBlip>
              <a:defRPr>
                <a:solidFill>
                  <a:srgbClr val="1D1D1D"/>
                </a:solidFill>
              </a:defRPr>
            </a:pPr>
            <a:r>
              <a:rPr lang="en-US" sz="1200" spc="-10" dirty="0">
                <a:solidFill>
                  <a:srgbClr val="1D1D1D"/>
                </a:solidFill>
                <a:latin typeface="Arial" pitchFamily="34" charset="0"/>
              </a:rPr>
              <a:t>(</a:t>
            </a:r>
            <a:r>
              <a:rPr lang="en-US" sz="1200" spc="-10" dirty="0">
                <a:solidFill>
                  <a:srgbClr val="1D1D1D"/>
                </a:solidFill>
                <a:latin typeface="Arial" panose="020B0604020202020204" pitchFamily="34" charset="0"/>
                <a:ea typeface="Helvetica Neue" panose="02000503000000020004" pitchFamily="2" charset="0"/>
                <a:cs typeface="Arial" panose="020B0604020202020204" pitchFamily="34" charset="0"/>
              </a:rPr>
              <a:t>Existing Portfolio) Increase share of wallet in existing geographies by launching targeted product extensions under current brands, tailored to local consumer needs and price sensitivity.</a:t>
            </a:r>
          </a:p>
          <a:p>
            <a:pPr marL="171450" indent="-171450">
              <a:spcAft>
                <a:spcPts val="300"/>
              </a:spcAft>
              <a:buBlip>
                <a:blip r:embed="rId2"/>
              </a:buBlip>
              <a:defRPr>
                <a:solidFill>
                  <a:srgbClr val="1D1D1D"/>
                </a:solidFill>
              </a:defRPr>
            </a:pPr>
            <a:r>
              <a:rPr lang="en-US" sz="1200" spc="-10" dirty="0">
                <a:solidFill>
                  <a:srgbClr val="1D1D1D"/>
                </a:solidFill>
                <a:latin typeface="Arial" panose="020B0604020202020204" pitchFamily="34" charset="0"/>
                <a:ea typeface="Helvetica Neue" panose="02000503000000020004" pitchFamily="2" charset="0"/>
                <a:cs typeface="Arial" panose="020B0604020202020204" pitchFamily="34" charset="0"/>
              </a:rPr>
              <a:t>Identify underpenetrated markets where the existing portfolio has a competitive </a:t>
            </a:r>
            <a:r>
              <a:rPr lang="en-US" sz="1200" spc="-10" dirty="0">
                <a:solidFill>
                  <a:srgbClr val="1D1D1D"/>
                </a:solidFill>
                <a:latin typeface="Arial" pitchFamily="34" charset="0"/>
              </a:rPr>
              <a:t>edge.</a:t>
            </a:r>
          </a:p>
        </p:txBody>
      </p:sp>
      <p:sp>
        <p:nvSpPr>
          <p:cNvPr id="13" name="Rectangle 12">
            <a:extLst>
              <a:ext uri="{FF2B5EF4-FFF2-40B4-BE49-F238E27FC236}">
                <a16:creationId xmlns:a16="http://schemas.microsoft.com/office/drawing/2014/main" id="{46ED3F7E-8E46-537B-7499-BF738CAE81E3}"/>
              </a:ext>
            </a:extLst>
          </p:cNvPr>
          <p:cNvSpPr/>
          <p:nvPr/>
        </p:nvSpPr>
        <p:spPr>
          <a:xfrm>
            <a:off x="3594158" y="2592413"/>
            <a:ext cx="2520000" cy="2709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90000" rtlCol="0" anchor="t"/>
          <a:lstStyle/>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Redesign the organizational to reduce spans &amp; layers and fixed costs by 15–20% by Q2 2026, while maintaining critical capabilities </a:t>
            </a:r>
          </a:p>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Automate and digitize manual processes in supply chain, logistics, and customer support.</a:t>
            </a:r>
          </a:p>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Implement zero-based budgeting to scrutinize all cost line items annually.</a:t>
            </a:r>
          </a:p>
        </p:txBody>
      </p:sp>
      <p:sp>
        <p:nvSpPr>
          <p:cNvPr id="14" name="Rectangle 13">
            <a:extLst>
              <a:ext uri="{FF2B5EF4-FFF2-40B4-BE49-F238E27FC236}">
                <a16:creationId xmlns:a16="http://schemas.microsoft.com/office/drawing/2014/main" id="{A4D55936-93C2-BD27-0D66-452D1C10DE9D}"/>
              </a:ext>
            </a:extLst>
          </p:cNvPr>
          <p:cNvSpPr/>
          <p:nvPr/>
        </p:nvSpPr>
        <p:spPr>
          <a:xfrm>
            <a:off x="9355314" y="1637762"/>
            <a:ext cx="2520000" cy="720000"/>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M&amp;A</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pc="-10" dirty="0">
                <a:solidFill>
                  <a:schemeClr val="accent1"/>
                </a:solidFill>
                <a:latin typeface="Arial" pitchFamily="34" charset="0"/>
                <a:ea typeface="Helvetica Neue" panose="02000503000000020004" pitchFamily="2" charset="0"/>
                <a:cs typeface="Helvetica Neue" panose="02000503000000020004" pitchFamily="2" charset="0"/>
              </a:rPr>
              <a:t>30</a:t>
            </a:r>
            <a:r>
              <a:rPr kumimoji="0" lang="en-US"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rPr>
              <a:t>%</a:t>
            </a:r>
            <a:endParaRPr kumimoji="0" lang="en-GB"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14">
            <a:extLst>
              <a:ext uri="{FF2B5EF4-FFF2-40B4-BE49-F238E27FC236}">
                <a16:creationId xmlns:a16="http://schemas.microsoft.com/office/drawing/2014/main" id="{6BCFAD99-AA1C-B65D-78AD-1607893071E8}"/>
              </a:ext>
            </a:extLst>
          </p:cNvPr>
          <p:cNvSpPr/>
          <p:nvPr/>
        </p:nvSpPr>
        <p:spPr>
          <a:xfrm>
            <a:off x="3594159" y="1637762"/>
            <a:ext cx="2520000" cy="720000"/>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PRODUCTIVITY</a:t>
            </a:r>
            <a:br>
              <a:rPr kumimoji="0" lang="en-US" sz="1200" u="none" strike="noStrike" kern="1200" cap="none" spc="-10" normalizeH="0" baseline="0" noProof="0" dirty="0">
                <a:ln>
                  <a:noFill/>
                </a:ln>
                <a:solidFill>
                  <a:prstClr val="black">
                    <a:lumMod val="50000"/>
                    <a:lumOff val="50000"/>
                  </a:prstClr>
                </a:solidFill>
                <a:effectLst/>
                <a:uLnTx/>
                <a:uFillTx/>
                <a:latin typeface="Arial" pitchFamily="34" charset="0"/>
                <a:ea typeface="Helvetica Neue" panose="02000503000000020004" pitchFamily="2" charset="0"/>
                <a:cs typeface="Helvetica Neue" panose="02000503000000020004" pitchFamily="2" charset="0"/>
              </a:rPr>
            </a:br>
            <a:r>
              <a:rPr kumimoji="0" lang="en-US"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rPr>
              <a:t>10%</a:t>
            </a:r>
            <a:endParaRPr kumimoji="0" lang="en-GB"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15">
            <a:extLst>
              <a:ext uri="{FF2B5EF4-FFF2-40B4-BE49-F238E27FC236}">
                <a16:creationId xmlns:a16="http://schemas.microsoft.com/office/drawing/2014/main" id="{C040FB22-BECC-0CBA-444D-E3CECB941D8F}"/>
              </a:ext>
            </a:extLst>
          </p:cNvPr>
          <p:cNvSpPr/>
          <p:nvPr/>
        </p:nvSpPr>
        <p:spPr>
          <a:xfrm>
            <a:off x="713581" y="1636387"/>
            <a:ext cx="2520000" cy="720000"/>
          </a:xfrm>
          <a:prstGeom prst="rect">
            <a:avLst/>
          </a:prstGeom>
          <a:solidFill>
            <a:schemeClr val="bg2"/>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CORE / ORGANIC GROWTH</a:t>
            </a:r>
          </a:p>
          <a:p>
            <a:pPr algn="ctr"/>
            <a:r>
              <a:rPr lang="en-US" spc="-10" dirty="0">
                <a:solidFill>
                  <a:schemeClr val="accent1"/>
                </a:solidFill>
                <a:latin typeface="Arial" pitchFamily="34" charset="0"/>
                <a:ea typeface="Helvetica Neue" panose="02000503000000020004" pitchFamily="2" charset="0"/>
                <a:cs typeface="Helvetica Neue" panose="02000503000000020004" pitchFamily="2" charset="0"/>
              </a:rPr>
              <a:t>30%</a:t>
            </a:r>
            <a:endParaRPr lang="en-GB" sz="12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sp>
        <p:nvSpPr>
          <p:cNvPr id="17" name="Rectangle 16">
            <a:extLst>
              <a:ext uri="{FF2B5EF4-FFF2-40B4-BE49-F238E27FC236}">
                <a16:creationId xmlns:a16="http://schemas.microsoft.com/office/drawing/2014/main" id="{3ADF85CD-0CE3-48CE-0DA6-9E83E81B32C8}"/>
              </a:ext>
            </a:extLst>
          </p:cNvPr>
          <p:cNvSpPr/>
          <p:nvPr/>
        </p:nvSpPr>
        <p:spPr>
          <a:xfrm>
            <a:off x="6474737" y="1650913"/>
            <a:ext cx="2669720" cy="720000"/>
          </a:xfrm>
          <a:prstGeom prst="rect">
            <a:avLst/>
          </a:prstGeom>
          <a:solidFill>
            <a:schemeClr val="bg2"/>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NEW PRODUCTS &amp; INNOVATION</a:t>
            </a:r>
          </a:p>
          <a:p>
            <a:pPr algn="ctr"/>
            <a:r>
              <a:rPr lang="en-US" spc="-10" dirty="0">
                <a:solidFill>
                  <a:schemeClr val="accent1"/>
                </a:solidFill>
                <a:latin typeface="Arial" pitchFamily="34" charset="0"/>
                <a:ea typeface="Helvetica Neue" panose="02000503000000020004" pitchFamily="2" charset="0"/>
                <a:cs typeface="Helvetica Neue" panose="02000503000000020004" pitchFamily="2" charset="0"/>
              </a:rPr>
              <a:t>30%</a:t>
            </a:r>
            <a:endParaRPr lang="en-US" sz="12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sp>
        <p:nvSpPr>
          <p:cNvPr id="18" name="Rectangle 17">
            <a:extLst>
              <a:ext uri="{FF2B5EF4-FFF2-40B4-BE49-F238E27FC236}">
                <a16:creationId xmlns:a16="http://schemas.microsoft.com/office/drawing/2014/main" id="{83D11D98-FC00-6AB6-7D7E-0BCD751E57E9}"/>
              </a:ext>
            </a:extLst>
          </p:cNvPr>
          <p:cNvSpPr/>
          <p:nvPr/>
        </p:nvSpPr>
        <p:spPr>
          <a:xfrm>
            <a:off x="6474736" y="2610199"/>
            <a:ext cx="2520000" cy="2709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90000" rtlCol="0" anchor="t"/>
          <a:lstStyle/>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Deliver $XXM in incremental revenue by FY26 through the launch of 3–5 new products that address unmet consumer needs, leveraging whitespace analysis across categories and geographies.</a:t>
            </a:r>
          </a:p>
          <a:p>
            <a:pPr marL="171450" indent="-171450">
              <a:spcBef>
                <a:spcPts val="600"/>
              </a:spcBef>
              <a:spcAft>
                <a:spcPts val="300"/>
              </a:spcAft>
              <a:buBlip>
                <a:blip r:embed="rId2"/>
              </a:buBlip>
              <a:defRPr>
                <a:solidFill>
                  <a:srgbClr val="1D1D1D"/>
                </a:solidFill>
              </a:defRPr>
            </a:pPr>
            <a:r>
              <a:rPr lang="en-US" sz="1200" spc="-10" dirty="0">
                <a:solidFill>
                  <a:srgbClr val="1D1D1D"/>
                </a:solidFill>
                <a:latin typeface="Arial" pitchFamily="34" charset="0"/>
              </a:rPr>
              <a:t>Cut product development and commercialization cycle time by 25% by streamlining innovation governance and enhancing R&amp;D and marketing collaboration.</a:t>
            </a:r>
          </a:p>
        </p:txBody>
      </p:sp>
      <p:cxnSp>
        <p:nvCxnSpPr>
          <p:cNvPr id="19" name="Straight Arrow Connector 18">
            <a:extLst>
              <a:ext uri="{FF2B5EF4-FFF2-40B4-BE49-F238E27FC236}">
                <a16:creationId xmlns:a16="http://schemas.microsoft.com/office/drawing/2014/main" id="{3E5A43D0-DE50-3C8C-8F3A-CD0AD1BD75A4}"/>
              </a:ext>
            </a:extLst>
          </p:cNvPr>
          <p:cNvCxnSpPr>
            <a:cxnSpLocks/>
          </p:cNvCxnSpPr>
          <p:nvPr/>
        </p:nvCxnSpPr>
        <p:spPr>
          <a:xfrm>
            <a:off x="708282" y="5579561"/>
            <a:ext cx="10770136" cy="0"/>
          </a:xfrm>
          <a:prstGeom prst="straightConnector1">
            <a:avLst/>
          </a:prstGeom>
          <a:noFill/>
          <a:ln w="6350" cap="flat" cmpd="sng" algn="ctr">
            <a:solidFill>
              <a:schemeClr val="accent1"/>
            </a:solidFill>
            <a:prstDash val="solid"/>
            <a:miter lim="800000"/>
            <a:headEnd type="triangle"/>
            <a:tailEnd type="triangle"/>
          </a:ln>
          <a:effectLst/>
        </p:spPr>
      </p:cxnSp>
      <p:sp>
        <p:nvSpPr>
          <p:cNvPr id="20" name="TextBox 19">
            <a:extLst>
              <a:ext uri="{FF2B5EF4-FFF2-40B4-BE49-F238E27FC236}">
                <a16:creationId xmlns:a16="http://schemas.microsoft.com/office/drawing/2014/main" id="{CC61FF50-A166-16A9-EAB3-9EFBF5017215}"/>
              </a:ext>
            </a:extLst>
          </p:cNvPr>
          <p:cNvSpPr txBox="1"/>
          <p:nvPr/>
        </p:nvSpPr>
        <p:spPr>
          <a:xfrm>
            <a:off x="5151430" y="5425673"/>
            <a:ext cx="1852626" cy="307777"/>
          </a:xfrm>
          <a:prstGeom prst="rect">
            <a:avLst/>
          </a:prstGeom>
          <a:solidFill>
            <a:schemeClr val="bg1"/>
          </a:solidFill>
        </p:spPr>
        <p:txBody>
          <a:bodyPr wrap="square" lIns="91440" tIns="45720" rIns="91440" bIns="4572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solidFill>
                  <a:srgbClr val="60BDBC"/>
                </a:solidFill>
                <a:effectLst/>
                <a:uLnTx/>
                <a:uFillTx/>
                <a:latin typeface="Arial" pitchFamily="34" charset="0"/>
                <a:ea typeface="+mn-ea"/>
                <a:cs typeface="+mn-cs"/>
              </a:rPr>
              <a:t>Enablers</a:t>
            </a:r>
            <a:endParaRPr kumimoji="0" lang="en-GB" sz="1400" i="0" u="none" strike="noStrike" kern="1200" cap="none" spc="-10" normalizeH="0" baseline="0" noProof="0" dirty="0">
              <a:ln>
                <a:noFill/>
              </a:ln>
              <a:solidFill>
                <a:srgbClr val="281A42"/>
              </a:solidFill>
              <a:effectLst/>
              <a:uLnTx/>
              <a:uFillTx/>
              <a:latin typeface="Arial" pitchFamily="34" charset="0"/>
              <a:ea typeface="+mn-ea"/>
              <a:cs typeface="+mn-cs"/>
            </a:endParaRPr>
          </a:p>
        </p:txBody>
      </p:sp>
      <p:sp>
        <p:nvSpPr>
          <p:cNvPr id="21" name="Rectangle 20">
            <a:extLst>
              <a:ext uri="{FF2B5EF4-FFF2-40B4-BE49-F238E27FC236}">
                <a16:creationId xmlns:a16="http://schemas.microsoft.com/office/drawing/2014/main" id="{47AB874E-F1F3-E651-7E28-EC4D37EF996C}"/>
              </a:ext>
            </a:extLst>
          </p:cNvPr>
          <p:cNvSpPr/>
          <p:nvPr/>
        </p:nvSpPr>
        <p:spPr>
          <a:xfrm>
            <a:off x="8444355" y="5839829"/>
            <a:ext cx="3034061" cy="499878"/>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solidFill>
                  <a:srgbClr val="1D1D1D"/>
                </a:solidFill>
                <a:effectLst/>
                <a:uLnTx/>
                <a:uFillTx/>
                <a:latin typeface="Arial" pitchFamily="34" charset="0"/>
                <a:ea typeface="+mn-ea"/>
                <a:cs typeface="+mn-cs"/>
              </a:rPr>
              <a:t>ENTERPRISE PROCESS INTEGRATION, SIMPLIFICATION</a:t>
            </a:r>
          </a:p>
        </p:txBody>
      </p:sp>
      <p:sp>
        <p:nvSpPr>
          <p:cNvPr id="22" name="Rectangle 21">
            <a:extLst>
              <a:ext uri="{FF2B5EF4-FFF2-40B4-BE49-F238E27FC236}">
                <a16:creationId xmlns:a16="http://schemas.microsoft.com/office/drawing/2014/main" id="{368C1FCD-84FB-DAA4-98B8-86A77A3B641F}"/>
              </a:ext>
            </a:extLst>
          </p:cNvPr>
          <p:cNvSpPr/>
          <p:nvPr/>
        </p:nvSpPr>
        <p:spPr>
          <a:xfrm>
            <a:off x="5767939" y="5851966"/>
            <a:ext cx="2618407" cy="487741"/>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solidFill>
                  <a:srgbClr val="1D1D1D"/>
                </a:solidFill>
                <a:effectLst/>
                <a:uLnTx/>
                <a:uFillTx/>
                <a:latin typeface="Arial" pitchFamily="34" charset="0"/>
                <a:ea typeface="+mn-ea"/>
                <a:cs typeface="+mn-cs"/>
              </a:rPr>
              <a:t>DIGITALIZATION</a:t>
            </a:r>
          </a:p>
        </p:txBody>
      </p:sp>
      <p:sp>
        <p:nvSpPr>
          <p:cNvPr id="23" name="Rectangle 22">
            <a:extLst>
              <a:ext uri="{FF2B5EF4-FFF2-40B4-BE49-F238E27FC236}">
                <a16:creationId xmlns:a16="http://schemas.microsoft.com/office/drawing/2014/main" id="{9A37E432-3B27-2B45-78B2-132DF5C0EE4B}"/>
              </a:ext>
            </a:extLst>
          </p:cNvPr>
          <p:cNvSpPr/>
          <p:nvPr/>
        </p:nvSpPr>
        <p:spPr>
          <a:xfrm>
            <a:off x="708281" y="5849368"/>
            <a:ext cx="2443843" cy="492937"/>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solidFill>
                  <a:srgbClr val="1D1D1D"/>
                </a:solidFill>
                <a:effectLst/>
                <a:uLnTx/>
                <a:uFillTx/>
                <a:latin typeface="Arial" pitchFamily="34" charset="0"/>
                <a:ea typeface="+mn-ea"/>
                <a:cs typeface="+mn-cs"/>
              </a:rPr>
              <a:t>TALENT, TEAMS &amp; ORGANIZATION</a:t>
            </a:r>
            <a:endParaRPr kumimoji="0" lang="en-GB" sz="140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24" name="Rectangle 23">
            <a:extLst>
              <a:ext uri="{FF2B5EF4-FFF2-40B4-BE49-F238E27FC236}">
                <a16:creationId xmlns:a16="http://schemas.microsoft.com/office/drawing/2014/main" id="{3BF82DED-223B-64FC-0CFF-9B97823FE3A8}"/>
              </a:ext>
            </a:extLst>
          </p:cNvPr>
          <p:cNvSpPr/>
          <p:nvPr/>
        </p:nvSpPr>
        <p:spPr>
          <a:xfrm>
            <a:off x="3266087" y="5849368"/>
            <a:ext cx="2443843" cy="492937"/>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spc="-10" dirty="0">
                <a:solidFill>
                  <a:srgbClr val="1D1D1D"/>
                </a:solidFill>
                <a:latin typeface="Arial" pitchFamily="34" charset="0"/>
              </a:rPr>
              <a:t>CHANGE </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spc="-10" dirty="0">
                <a:solidFill>
                  <a:srgbClr val="1D1D1D"/>
                </a:solidFill>
                <a:latin typeface="Arial" pitchFamily="34" charset="0"/>
              </a:rPr>
              <a:t>MANAGEMENT</a:t>
            </a:r>
            <a:endParaRPr kumimoji="0" lang="en-GB" sz="140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25" name="TextBox 24">
            <a:extLst>
              <a:ext uri="{FF2B5EF4-FFF2-40B4-BE49-F238E27FC236}">
                <a16:creationId xmlns:a16="http://schemas.microsoft.com/office/drawing/2014/main" id="{00067BA6-B861-A701-C3BE-5B5068357B4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79728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BAB86B-E9C6-19A9-A37D-B470EE692A78}"/>
              </a:ext>
            </a:extLst>
          </p:cNvPr>
          <p:cNvSpPr>
            <a:spLocks noGrp="1"/>
          </p:cNvSpPr>
          <p:nvPr>
            <p:ph type="sldNum" sz="quarter" idx="4"/>
          </p:nvPr>
        </p:nvSpPr>
        <p:spPr/>
        <p:txBody>
          <a:bodyPr/>
          <a:lstStyle/>
          <a:p>
            <a:pPr algn="ctr"/>
            <a:fld id="{1875A764-3B06-454E-8ABA-2F6ED0EB58E9}" type="slidenum">
              <a:rPr lang="en-US" smtClean="0"/>
              <a:t>26</a:t>
            </a:fld>
            <a:endParaRPr lang="en-US"/>
          </a:p>
        </p:txBody>
      </p:sp>
      <p:sp>
        <p:nvSpPr>
          <p:cNvPr id="3" name="Title 2">
            <a:extLst>
              <a:ext uri="{FF2B5EF4-FFF2-40B4-BE49-F238E27FC236}">
                <a16:creationId xmlns:a16="http://schemas.microsoft.com/office/drawing/2014/main" id="{34F21282-FD15-DEBD-3FAA-BA92A66733CE}"/>
              </a:ext>
            </a:extLst>
          </p:cNvPr>
          <p:cNvSpPr>
            <a:spLocks noGrp="1"/>
          </p:cNvSpPr>
          <p:nvPr>
            <p:ph type="title"/>
          </p:nvPr>
        </p:nvSpPr>
        <p:spPr/>
        <p:txBody>
          <a:bodyPr/>
          <a:lstStyle/>
          <a:p>
            <a:r>
              <a:rPr lang="en-US" spc="-25" dirty="0"/>
              <a:t>We Identify Critical Roles</a:t>
            </a:r>
            <a:endParaRPr lang="en-US" dirty="0"/>
          </a:p>
        </p:txBody>
      </p:sp>
      <p:grpSp>
        <p:nvGrpSpPr>
          <p:cNvPr id="4" name="Group 3">
            <a:extLst>
              <a:ext uri="{FF2B5EF4-FFF2-40B4-BE49-F238E27FC236}">
                <a16:creationId xmlns:a16="http://schemas.microsoft.com/office/drawing/2014/main" id="{FB538A02-5955-055A-BAF4-C9D0DD497DC6}"/>
              </a:ext>
            </a:extLst>
          </p:cNvPr>
          <p:cNvGrpSpPr/>
          <p:nvPr/>
        </p:nvGrpSpPr>
        <p:grpSpPr>
          <a:xfrm>
            <a:off x="885103" y="1165070"/>
            <a:ext cx="10385478" cy="3100449"/>
            <a:chOff x="654547" y="1025389"/>
            <a:chExt cx="10385478" cy="3100449"/>
          </a:xfrm>
        </p:grpSpPr>
        <p:sp>
          <p:nvSpPr>
            <p:cNvPr id="5" name="TextBox 42">
              <a:extLst>
                <a:ext uri="{FF2B5EF4-FFF2-40B4-BE49-F238E27FC236}">
                  <a16:creationId xmlns:a16="http://schemas.microsoft.com/office/drawing/2014/main" id="{CAFA6D83-9530-E024-6881-ECF470598043}"/>
                </a:ext>
              </a:extLst>
            </p:cNvPr>
            <p:cNvSpPr txBox="1"/>
            <p:nvPr/>
          </p:nvSpPr>
          <p:spPr>
            <a:xfrm>
              <a:off x="654547" y="3233286"/>
              <a:ext cx="5199107" cy="892552"/>
            </a:xfrm>
            <a:prstGeom prst="rect">
              <a:avLst/>
            </a:prstGeom>
            <a:noFill/>
            <a:ln w="25400">
              <a:noFill/>
            </a:ln>
          </p:spPr>
          <p:txBody>
            <a:bodyPr wrap="square" lIns="91440" tIns="45720" rIns="91440" bIns="45720" rtlCol="0">
              <a:sp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u="none" strike="noStrike" kern="1200" cap="none" spc="-10" normalizeH="0" baseline="0" noProof="0" dirty="0">
                  <a:ln>
                    <a:noFill/>
                  </a:ln>
                  <a:solidFill>
                    <a:schemeClr val="accent1"/>
                  </a:solidFill>
                  <a:effectLst/>
                  <a:uLnTx/>
                  <a:uFillTx/>
                  <a:latin typeface="Arial" pitchFamily="34" charset="0"/>
                  <a:ea typeface="+mn-ea"/>
                  <a:cs typeface="Lato Light" panose="020F0402020204030203" pitchFamily="34" charset="0"/>
                </a:rPr>
                <a:t>TRADITIONAL APPROACH</a:t>
              </a:r>
            </a:p>
            <a:p>
              <a:pPr marL="180975" marR="0" lvl="0"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u="none" strike="noStrike" kern="1200" cap="none" spc="-10" normalizeH="0" baseline="0" noProof="0" dirty="0">
                  <a:ln>
                    <a:noFill/>
                  </a:ln>
                  <a:solidFill>
                    <a:prstClr val="black">
                      <a:lumMod val="75000"/>
                      <a:lumOff val="25000"/>
                    </a:prstClr>
                  </a:solidFill>
                  <a:effectLst/>
                  <a:uLnTx/>
                  <a:uFillTx/>
                  <a:latin typeface="Arial" pitchFamily="34" charset="0"/>
                  <a:ea typeface="+mn-ea"/>
                  <a:cs typeface="Lato Light" panose="020F0402020204030203" pitchFamily="34" charset="0"/>
                </a:rPr>
                <a:t>Important roles are defined by their position in the hierarchy</a:t>
              </a:r>
            </a:p>
            <a:p>
              <a:pPr marL="180975" marR="0" lvl="0"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u="none" strike="noStrike" kern="1200" cap="none" spc="-10" normalizeH="0" baseline="0" noProof="0" dirty="0">
                  <a:ln>
                    <a:noFill/>
                  </a:ln>
                  <a:solidFill>
                    <a:prstClr val="black">
                      <a:lumMod val="75000"/>
                      <a:lumOff val="25000"/>
                    </a:prstClr>
                  </a:solidFill>
                  <a:effectLst/>
                  <a:uLnTx/>
                  <a:uFillTx/>
                  <a:latin typeface="Arial" pitchFamily="34" charset="0"/>
                  <a:ea typeface="+mn-ea"/>
                  <a:cs typeface="Lato Light" panose="020F0402020204030203" pitchFamily="34" charset="0"/>
                </a:rPr>
                <a:t>Roles within the same level are equal </a:t>
              </a:r>
            </a:p>
          </p:txBody>
        </p:sp>
        <p:sp>
          <p:nvSpPr>
            <p:cNvPr id="6" name="TextBox 44">
              <a:extLst>
                <a:ext uri="{FF2B5EF4-FFF2-40B4-BE49-F238E27FC236}">
                  <a16:creationId xmlns:a16="http://schemas.microsoft.com/office/drawing/2014/main" id="{09CDE464-2FA9-28DC-E4B7-89B0AF75DFE5}"/>
                </a:ext>
              </a:extLst>
            </p:cNvPr>
            <p:cNvSpPr txBox="1"/>
            <p:nvPr/>
          </p:nvSpPr>
          <p:spPr>
            <a:xfrm>
              <a:off x="6325972" y="3233286"/>
              <a:ext cx="4714053" cy="892552"/>
            </a:xfrm>
            <a:prstGeom prst="rect">
              <a:avLst/>
            </a:prstGeom>
            <a:noFill/>
            <a:ln w="25400">
              <a:noFill/>
            </a:ln>
          </p:spPr>
          <p:txBody>
            <a:bodyPr wrap="square" lIns="91440" tIns="45720" rIns="91440" bIns="45720" rtlCol="0">
              <a:sp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u="none" strike="noStrike" kern="1200" cap="none" spc="-10" normalizeH="0" baseline="0" noProof="0" dirty="0">
                  <a:ln>
                    <a:noFill/>
                  </a:ln>
                  <a:solidFill>
                    <a:srgbClr val="765FFF"/>
                  </a:solidFill>
                  <a:effectLst/>
                  <a:uLnTx/>
                  <a:uFillTx/>
                  <a:latin typeface="Arial" pitchFamily="34" charset="0"/>
                  <a:ea typeface="+mn-ea"/>
                  <a:cs typeface="Lato Light" panose="020F0402020204030203" pitchFamily="34" charset="0"/>
                </a:rPr>
                <a:t>TALENT TO VALUE</a:t>
              </a:r>
            </a:p>
            <a:p>
              <a:pPr marL="180975" marR="0" lvl="0"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u="none" strike="noStrike" kern="1200" cap="none" spc="-10" normalizeH="0" baseline="0" noProof="0" dirty="0">
                  <a:ln>
                    <a:noFill/>
                  </a:ln>
                  <a:solidFill>
                    <a:prstClr val="black">
                      <a:lumMod val="75000"/>
                      <a:lumOff val="25000"/>
                    </a:prstClr>
                  </a:solidFill>
                  <a:effectLst/>
                  <a:uLnTx/>
                  <a:uFillTx/>
                  <a:latin typeface="Arial" pitchFamily="34" charset="0"/>
                  <a:ea typeface="+mn-ea"/>
                  <a:cs typeface="Lato Light" panose="020F0402020204030203" pitchFamily="34" charset="0"/>
                </a:rPr>
                <a:t>Important roles are defined by their </a:t>
              </a:r>
              <a:r>
                <a:rPr kumimoji="0" lang="en-US" sz="1400" u="none" strike="noStrike" kern="1200" cap="none" spc="-10" normalizeH="0" baseline="0" noProof="0" dirty="0">
                  <a:ln>
                    <a:noFill/>
                  </a:ln>
                  <a:solidFill>
                    <a:srgbClr val="765FFF"/>
                  </a:solidFill>
                  <a:effectLst/>
                  <a:uLnTx/>
                  <a:uFillTx/>
                  <a:latin typeface="Arial" pitchFamily="34" charset="0"/>
                  <a:ea typeface="+mn-ea"/>
                  <a:cs typeface="Lato Light" panose="020F0402020204030203" pitchFamily="34" charset="0"/>
                </a:rPr>
                <a:t>value</a:t>
              </a:r>
              <a:r>
                <a:rPr kumimoji="0" lang="en-US" sz="1400" u="none" strike="noStrike" kern="1200" cap="none" spc="-10" normalizeH="0" baseline="0" noProof="0" dirty="0">
                  <a:ln>
                    <a:noFill/>
                  </a:ln>
                  <a:solidFill>
                    <a:prstClr val="black">
                      <a:lumMod val="75000"/>
                      <a:lumOff val="25000"/>
                    </a:prstClr>
                  </a:solidFill>
                  <a:effectLst/>
                  <a:uLnTx/>
                  <a:uFillTx/>
                  <a:latin typeface="Arial" pitchFamily="34" charset="0"/>
                  <a:ea typeface="+mn-ea"/>
                  <a:cs typeface="Lato Light" panose="020F0402020204030203" pitchFamily="34" charset="0"/>
                </a:rPr>
                <a:t> contribution</a:t>
              </a:r>
            </a:p>
            <a:p>
              <a:pPr marL="180975" marR="0" lvl="0"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u="none" strike="noStrike" kern="1200" cap="none" spc="-10" normalizeH="0" baseline="0" noProof="0" dirty="0">
                  <a:ln>
                    <a:noFill/>
                  </a:ln>
                  <a:solidFill>
                    <a:prstClr val="black">
                      <a:lumMod val="75000"/>
                      <a:lumOff val="25000"/>
                    </a:prstClr>
                  </a:solidFill>
                  <a:effectLst/>
                  <a:uLnTx/>
                  <a:uFillTx/>
                  <a:latin typeface="Arial" pitchFamily="34" charset="0"/>
                  <a:ea typeface="+mn-ea"/>
                  <a:cs typeface="Lato Light" panose="020F0402020204030203" pitchFamily="34" charset="0"/>
                </a:rPr>
                <a:t>Roles within the same level are not equal</a:t>
              </a:r>
            </a:p>
          </p:txBody>
        </p:sp>
        <p:grpSp>
          <p:nvGrpSpPr>
            <p:cNvPr id="7" name="Group 6">
              <a:extLst>
                <a:ext uri="{FF2B5EF4-FFF2-40B4-BE49-F238E27FC236}">
                  <a16:creationId xmlns:a16="http://schemas.microsoft.com/office/drawing/2014/main" id="{86B7E568-2590-74AE-15DD-F6AB2FAC3D84}"/>
                </a:ext>
              </a:extLst>
            </p:cNvPr>
            <p:cNvGrpSpPr/>
            <p:nvPr/>
          </p:nvGrpSpPr>
          <p:grpSpPr>
            <a:xfrm>
              <a:off x="1711050" y="1025389"/>
              <a:ext cx="8486884" cy="2167909"/>
              <a:chOff x="1770517" y="1025389"/>
              <a:chExt cx="8486884" cy="2167909"/>
            </a:xfrm>
          </p:grpSpPr>
          <p:pic>
            <p:nvPicPr>
              <p:cNvPr id="8" name="Picture 7">
                <a:extLst>
                  <a:ext uri="{FF2B5EF4-FFF2-40B4-BE49-F238E27FC236}">
                    <a16:creationId xmlns:a16="http://schemas.microsoft.com/office/drawing/2014/main" id="{98C23ECB-1AC7-D4EE-243F-459B7028FE02}"/>
                  </a:ext>
                </a:extLst>
              </p:cNvPr>
              <p:cNvPicPr>
                <a:picLocks noChangeAspect="1"/>
              </p:cNvPicPr>
              <p:nvPr/>
            </p:nvPicPr>
            <p:blipFill rotWithShape="1">
              <a:blip r:embed="rId2">
                <a:duotone>
                  <a:srgbClr val="765FFF"/>
                  <a:srgbClr val="FFFFFF"/>
                </a:duotone>
              </a:blip>
              <a:srcRect t="9339" b="19535"/>
              <a:stretch/>
            </p:blipFill>
            <p:spPr>
              <a:xfrm>
                <a:off x="1770517" y="1025389"/>
                <a:ext cx="3048000" cy="2167909"/>
              </a:xfrm>
              <a:prstGeom prst="rect">
                <a:avLst/>
              </a:prstGeom>
            </p:spPr>
          </p:pic>
          <p:pic>
            <p:nvPicPr>
              <p:cNvPr id="9" name="Picture 8" descr="A picture containing black&#10;&#10;Description automatically generated">
                <a:extLst>
                  <a:ext uri="{FF2B5EF4-FFF2-40B4-BE49-F238E27FC236}">
                    <a16:creationId xmlns:a16="http://schemas.microsoft.com/office/drawing/2014/main" id="{78E27542-33FF-1CC8-813D-0E247551C581}"/>
                  </a:ext>
                </a:extLst>
              </p:cNvPr>
              <p:cNvPicPr>
                <a:picLocks noChangeAspect="1"/>
              </p:cNvPicPr>
              <p:nvPr/>
            </p:nvPicPr>
            <p:blipFill rotWithShape="1">
              <a:blip r:embed="rId3">
                <a:duotone>
                  <a:srgbClr val="765FFF"/>
                  <a:srgbClr val="FFFFFF"/>
                </a:duotone>
              </a:blip>
              <a:srcRect t="9339" b="19535"/>
              <a:stretch/>
            </p:blipFill>
            <p:spPr>
              <a:xfrm>
                <a:off x="7209401" y="1025389"/>
                <a:ext cx="3048000" cy="2167909"/>
              </a:xfrm>
              <a:prstGeom prst="rect">
                <a:avLst/>
              </a:prstGeom>
            </p:spPr>
          </p:pic>
        </p:grpSp>
      </p:grpSp>
      <p:grpSp>
        <p:nvGrpSpPr>
          <p:cNvPr id="10" name="Group 9">
            <a:extLst>
              <a:ext uri="{FF2B5EF4-FFF2-40B4-BE49-F238E27FC236}">
                <a16:creationId xmlns:a16="http://schemas.microsoft.com/office/drawing/2014/main" id="{1CF356D8-FC98-0281-744A-B1B72E65820D}"/>
              </a:ext>
            </a:extLst>
          </p:cNvPr>
          <p:cNvGrpSpPr/>
          <p:nvPr/>
        </p:nvGrpSpPr>
        <p:grpSpPr>
          <a:xfrm>
            <a:off x="5802288" y="1647899"/>
            <a:ext cx="614684" cy="2338086"/>
            <a:chOff x="5659414" y="1206574"/>
            <a:chExt cx="614684" cy="2338086"/>
          </a:xfrm>
          <a:solidFill>
            <a:srgbClr val="F2F2F2"/>
          </a:solidFill>
        </p:grpSpPr>
        <p:cxnSp>
          <p:nvCxnSpPr>
            <p:cNvPr id="11" name="Straight Connector 10">
              <a:extLst>
                <a:ext uri="{FF2B5EF4-FFF2-40B4-BE49-F238E27FC236}">
                  <a16:creationId xmlns:a16="http://schemas.microsoft.com/office/drawing/2014/main" id="{FB328351-0CA6-88DF-F6CD-9698C97CCA98}"/>
                </a:ext>
              </a:extLst>
            </p:cNvPr>
            <p:cNvCxnSpPr>
              <a:cxnSpLocks/>
            </p:cNvCxnSpPr>
            <p:nvPr/>
          </p:nvCxnSpPr>
          <p:spPr>
            <a:xfrm>
              <a:off x="5966756" y="1206574"/>
              <a:ext cx="0" cy="2338086"/>
            </a:xfrm>
            <a:prstGeom prst="line">
              <a:avLst/>
            </a:prstGeom>
            <a:grpFill/>
            <a:ln>
              <a:solidFill>
                <a:srgbClr val="F2F2F2"/>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6BFC8E8-9575-2921-169B-5C763FF1E4D3}"/>
                </a:ext>
              </a:extLst>
            </p:cNvPr>
            <p:cNvSpPr/>
            <p:nvPr/>
          </p:nvSpPr>
          <p:spPr>
            <a:xfrm>
              <a:off x="5659414" y="2068275"/>
              <a:ext cx="614684" cy="614684"/>
            </a:xfrm>
            <a:prstGeom prst="ellipse">
              <a:avLst/>
            </a:prstGeom>
            <a:grpFill/>
            <a:ln w="9525">
              <a:solidFill>
                <a:srgbClr val="F2F2F2"/>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u="none" strike="noStrike" kern="1200" cap="none" spc="-10" normalizeH="0" baseline="0" noProof="0" dirty="0">
                  <a:ln>
                    <a:noFill/>
                  </a:ln>
                  <a:solidFill>
                    <a:schemeClr val="accent1"/>
                  </a:solidFill>
                  <a:effectLst/>
                  <a:uLnTx/>
                  <a:uFillTx/>
                  <a:latin typeface="Arial" pitchFamily="34" charset="0"/>
                  <a:ea typeface="+mn-ea"/>
                  <a:cs typeface="Lato Light" panose="020F0402020204030203" pitchFamily="34" charset="0"/>
                </a:rPr>
                <a:t>vs</a:t>
              </a:r>
            </a:p>
          </p:txBody>
        </p:sp>
      </p:grpSp>
      <p:grpSp>
        <p:nvGrpSpPr>
          <p:cNvPr id="13" name="Group 12">
            <a:extLst>
              <a:ext uri="{FF2B5EF4-FFF2-40B4-BE49-F238E27FC236}">
                <a16:creationId xmlns:a16="http://schemas.microsoft.com/office/drawing/2014/main" id="{42742F08-78CF-5FE9-DE54-AE792988AF75}"/>
              </a:ext>
            </a:extLst>
          </p:cNvPr>
          <p:cNvGrpSpPr/>
          <p:nvPr/>
        </p:nvGrpSpPr>
        <p:grpSpPr>
          <a:xfrm>
            <a:off x="726539" y="4469613"/>
            <a:ext cx="10900772" cy="1680239"/>
            <a:chOff x="346395" y="4600575"/>
            <a:chExt cx="11306678" cy="1680239"/>
          </a:xfrm>
        </p:grpSpPr>
        <p:sp>
          <p:nvSpPr>
            <p:cNvPr id="14" name="Rectangle 13">
              <a:extLst>
                <a:ext uri="{FF2B5EF4-FFF2-40B4-BE49-F238E27FC236}">
                  <a16:creationId xmlns:a16="http://schemas.microsoft.com/office/drawing/2014/main" id="{7B32D88B-8F4D-F558-2016-62FCA475A9BD}"/>
                </a:ext>
              </a:extLst>
            </p:cNvPr>
            <p:cNvSpPr/>
            <p:nvPr/>
          </p:nvSpPr>
          <p:spPr>
            <a:xfrm>
              <a:off x="346395" y="4600575"/>
              <a:ext cx="11171178" cy="1659573"/>
            </a:xfrm>
            <a:prstGeom prst="rect">
              <a:avLst/>
            </a:prstGeom>
            <a:solidFill>
              <a:srgbClr val="F2F2F2"/>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5" name="TextBox 55">
              <a:extLst>
                <a:ext uri="{FF2B5EF4-FFF2-40B4-BE49-F238E27FC236}">
                  <a16:creationId xmlns:a16="http://schemas.microsoft.com/office/drawing/2014/main" id="{4A43EB59-BF2E-CF22-865B-1116A24BEE9B}"/>
                </a:ext>
              </a:extLst>
            </p:cNvPr>
            <p:cNvSpPr txBox="1"/>
            <p:nvPr/>
          </p:nvSpPr>
          <p:spPr>
            <a:xfrm>
              <a:off x="7421633" y="4689688"/>
              <a:ext cx="4231440" cy="1538883"/>
            </a:xfrm>
            <a:prstGeom prst="rect">
              <a:avLst/>
            </a:prstGeom>
            <a:noFill/>
          </p:spPr>
          <p:txBody>
            <a:bodyPr wrap="square" lIns="91440" tIns="45720" rIns="91440" bIns="45720" rtlCol="0" anchor="t">
              <a:spAutoFit/>
            </a:bodyPr>
            <a:lstStyle>
              <a:defPPr>
                <a:defRPr lang="en-US">
                  <a:solidFill>
                    <a:srgbClr val="1D1D1D"/>
                  </a:solidFill>
                </a:defRPr>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342900" indent="-342900">
                <a:spcBef>
                  <a:spcPts val="600"/>
                </a:spcBef>
                <a:buFont typeface="+mj-lt"/>
                <a:buAutoNum type="arabicPeriod"/>
                <a:defRPr>
                  <a:solidFill>
                    <a:srgbClr val="1D1D1D"/>
                  </a:solidFill>
                </a:defRPr>
              </a:pPr>
              <a:r>
                <a:rPr lang="en-US" sz="1400" spc="-10" dirty="0">
                  <a:solidFill>
                    <a:srgbClr val="1D1D1D"/>
                  </a:solidFill>
                  <a:latin typeface="Arial" pitchFamily="34" charset="0"/>
                  <a:cs typeface="Lato Light" panose="020F0402020204030203" pitchFamily="34" charset="0"/>
                </a:rPr>
                <a:t>The </a:t>
              </a:r>
              <a:r>
                <a:rPr lang="en-US" sz="1400" spc="-10" dirty="0">
                  <a:solidFill>
                    <a:schemeClr val="accent1"/>
                  </a:solidFill>
                  <a:latin typeface="Arial" pitchFamily="34" charset="0"/>
                  <a:cs typeface="Lato Light" panose="020F0402020204030203" pitchFamily="34" charset="0"/>
                </a:rPr>
                <a:t>single point of accountability </a:t>
              </a:r>
              <a:r>
                <a:rPr lang="en-US" sz="1400" spc="-10" dirty="0">
                  <a:solidFill>
                    <a:srgbClr val="1D1D1D"/>
                  </a:solidFill>
                  <a:latin typeface="Arial" pitchFamily="34" charset="0"/>
                  <a:cs typeface="Lato Light" panose="020F0402020204030203" pitchFamily="34" charset="0"/>
                </a:rPr>
                <a:t>at the hotspot - Who are you going to call if the value does not arrive?</a:t>
              </a:r>
            </a:p>
            <a:p>
              <a:pPr marL="342900" indent="-342900">
                <a:spcBef>
                  <a:spcPts val="600"/>
                </a:spcBef>
                <a:buFont typeface="+mj-lt"/>
                <a:buAutoNum type="arabicPeriod"/>
                <a:defRPr>
                  <a:solidFill>
                    <a:srgbClr val="1D1D1D"/>
                  </a:solidFill>
                </a:defRPr>
              </a:pPr>
              <a:r>
                <a:rPr lang="en-US" sz="1400" spc="-10" dirty="0">
                  <a:solidFill>
                    <a:srgbClr val="1D1D1D"/>
                  </a:solidFill>
                  <a:latin typeface="Arial" pitchFamily="34" charset="0"/>
                  <a:cs typeface="Lato Light" panose="020F0402020204030203" pitchFamily="34" charset="0"/>
                </a:rPr>
                <a:t>The </a:t>
              </a:r>
              <a:r>
                <a:rPr lang="en-US" sz="1400" spc="-10" dirty="0">
                  <a:solidFill>
                    <a:schemeClr val="accent1"/>
                  </a:solidFill>
                  <a:latin typeface="Arial" pitchFamily="34" charset="0"/>
                  <a:cs typeface="Lato Light" panose="020F0402020204030203" pitchFamily="34" charset="0"/>
                </a:rPr>
                <a:t>biggest enabling roles </a:t>
              </a:r>
              <a:r>
                <a:rPr lang="en-US" sz="1400" spc="-10" dirty="0">
                  <a:solidFill>
                    <a:srgbClr val="1D1D1D"/>
                  </a:solidFill>
                  <a:latin typeface="Arial" pitchFamily="34" charset="0"/>
                  <a:cs typeface="Lato Light" panose="020F0402020204030203" pitchFamily="34" charset="0"/>
                </a:rPr>
                <a:t>at the hotspot</a:t>
              </a:r>
              <a:endParaRPr lang="en-US" sz="1400" spc="-10" dirty="0">
                <a:solidFill>
                  <a:schemeClr val="accent1"/>
                </a:solidFill>
                <a:latin typeface="Arial" pitchFamily="34" charset="0"/>
                <a:cs typeface="Lato Light" panose="020F0402020204030203" pitchFamily="34" charset="0"/>
              </a:endParaRPr>
            </a:p>
            <a:p>
              <a:pPr marL="342900" indent="-342900">
                <a:spcBef>
                  <a:spcPts val="600"/>
                </a:spcBef>
                <a:buFont typeface="+mj-lt"/>
                <a:buAutoNum type="arabicPeriod"/>
                <a:defRPr>
                  <a:solidFill>
                    <a:srgbClr val="1D1D1D"/>
                  </a:solidFill>
                </a:defRPr>
              </a:pPr>
              <a:r>
                <a:rPr lang="en-US" sz="1400" spc="-10" dirty="0">
                  <a:solidFill>
                    <a:schemeClr val="accent1"/>
                  </a:solidFill>
                  <a:latin typeface="Arial" pitchFamily="34" charset="0"/>
                  <a:cs typeface="Lato Light" panose="020F0402020204030203" pitchFamily="34" charset="0"/>
                </a:rPr>
                <a:t>New or </a:t>
              </a:r>
              <a:r>
                <a:rPr lang="en-US" sz="1400" spc="-10" dirty="0">
                  <a:solidFill>
                    <a:schemeClr val="accent1"/>
                  </a:solidFill>
                  <a:cs typeface="Lato Light" panose="020F0402020204030203" pitchFamily="34" charset="0"/>
                </a:rPr>
                <a:t>vacant</a:t>
              </a:r>
              <a:r>
                <a:rPr lang="en-US" sz="1400" spc="-10" dirty="0">
                  <a:cs typeface="Lato Light" panose="020F0402020204030203" pitchFamily="34" charset="0"/>
                </a:rPr>
                <a:t> roles required to bend the  curve </a:t>
              </a:r>
              <a:endParaRPr lang="en-US" sz="1400" spc="-10" dirty="0">
                <a:solidFill>
                  <a:srgbClr val="1D1D1D"/>
                </a:solidFill>
                <a:latin typeface="Arial" pitchFamily="34" charset="0"/>
                <a:cs typeface="Lato Light" panose="020F0402020204030203" pitchFamily="34" charset="0"/>
              </a:endParaRPr>
            </a:p>
          </p:txBody>
        </p:sp>
        <p:grpSp>
          <p:nvGrpSpPr>
            <p:cNvPr id="16" name="Group 15">
              <a:extLst>
                <a:ext uri="{FF2B5EF4-FFF2-40B4-BE49-F238E27FC236}">
                  <a16:creationId xmlns:a16="http://schemas.microsoft.com/office/drawing/2014/main" id="{B75CF6F4-592F-B246-9658-F7F8995AF42F}"/>
                </a:ext>
              </a:extLst>
            </p:cNvPr>
            <p:cNvGrpSpPr/>
            <p:nvPr/>
          </p:nvGrpSpPr>
          <p:grpSpPr>
            <a:xfrm>
              <a:off x="865500" y="4692730"/>
              <a:ext cx="5966754" cy="1588084"/>
              <a:chOff x="1308258" y="4639418"/>
              <a:chExt cx="5966754" cy="1588084"/>
            </a:xfrm>
          </p:grpSpPr>
          <p:grpSp>
            <p:nvGrpSpPr>
              <p:cNvPr id="17" name="Group 16">
                <a:extLst>
                  <a:ext uri="{FF2B5EF4-FFF2-40B4-BE49-F238E27FC236}">
                    <a16:creationId xmlns:a16="http://schemas.microsoft.com/office/drawing/2014/main" id="{FE86575F-EE41-E89D-8FF5-A61870FFD853}"/>
                  </a:ext>
                </a:extLst>
              </p:cNvPr>
              <p:cNvGrpSpPr/>
              <p:nvPr/>
            </p:nvGrpSpPr>
            <p:grpSpPr>
              <a:xfrm>
                <a:off x="1308258" y="4639418"/>
                <a:ext cx="1765244" cy="1588084"/>
                <a:chOff x="1587094" y="4605686"/>
                <a:chExt cx="1765244" cy="1588084"/>
              </a:xfrm>
            </p:grpSpPr>
            <p:sp>
              <p:nvSpPr>
                <p:cNvPr id="45" name="TextBox 73">
                  <a:extLst>
                    <a:ext uri="{FF2B5EF4-FFF2-40B4-BE49-F238E27FC236}">
                      <a16:creationId xmlns:a16="http://schemas.microsoft.com/office/drawing/2014/main" id="{CA0133A3-8BCC-693F-86FA-FA7DD2A8BEFF}"/>
                    </a:ext>
                  </a:extLst>
                </p:cNvPr>
                <p:cNvSpPr txBox="1"/>
                <p:nvPr/>
              </p:nvSpPr>
              <p:spPr>
                <a:xfrm>
                  <a:off x="1587094" y="5670550"/>
                  <a:ext cx="1765244" cy="523220"/>
                </a:xfrm>
                <a:prstGeom prst="rect">
                  <a:avLst/>
                </a:prstGeom>
                <a:noFill/>
              </p:spPr>
              <p:txBody>
                <a:bodyPr wrap="square" lIns="91440" tIns="45720" rIns="91440" bIns="45720" rtlCol="0" anchor="ctr">
                  <a:sp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10" normalizeH="0" baseline="0" noProof="0" dirty="0">
                      <a:ln>
                        <a:noFill/>
                      </a:ln>
                      <a:solidFill>
                        <a:schemeClr val="accent1"/>
                      </a:solidFill>
                      <a:effectLst/>
                      <a:uLnTx/>
                      <a:uFillTx/>
                      <a:latin typeface="Arial" pitchFamily="34" charset="0"/>
                      <a:ea typeface="+mn-ea"/>
                      <a:cs typeface="Lato Light" panose="020F0402020204030203" pitchFamily="34" charset="0"/>
                    </a:rPr>
                    <a:t>VALUE HOTSPOTS</a:t>
                  </a:r>
                </a:p>
              </p:txBody>
            </p:sp>
            <p:grpSp>
              <p:nvGrpSpPr>
                <p:cNvPr id="46" name="Group 45">
                  <a:extLst>
                    <a:ext uri="{FF2B5EF4-FFF2-40B4-BE49-F238E27FC236}">
                      <a16:creationId xmlns:a16="http://schemas.microsoft.com/office/drawing/2014/main" id="{A7FE1084-6603-294C-0B63-F159E475F9E4}"/>
                    </a:ext>
                  </a:extLst>
                </p:cNvPr>
                <p:cNvGrpSpPr/>
                <p:nvPr/>
              </p:nvGrpSpPr>
              <p:grpSpPr>
                <a:xfrm>
                  <a:off x="1924971" y="4605686"/>
                  <a:ext cx="1089490" cy="1089490"/>
                  <a:chOff x="1965952" y="2222120"/>
                  <a:chExt cx="1693074" cy="1693074"/>
                </a:xfrm>
              </p:grpSpPr>
              <p:grpSp>
                <p:nvGrpSpPr>
                  <p:cNvPr id="47" name="Group 46">
                    <a:extLst>
                      <a:ext uri="{FF2B5EF4-FFF2-40B4-BE49-F238E27FC236}">
                        <a16:creationId xmlns:a16="http://schemas.microsoft.com/office/drawing/2014/main" id="{2A750877-4F74-648F-437E-9368DA92F893}"/>
                      </a:ext>
                    </a:extLst>
                  </p:cNvPr>
                  <p:cNvGrpSpPr/>
                  <p:nvPr/>
                </p:nvGrpSpPr>
                <p:grpSpPr>
                  <a:xfrm>
                    <a:off x="2043480" y="2286228"/>
                    <a:ext cx="1553080" cy="1553080"/>
                    <a:chOff x="1747268" y="1613998"/>
                    <a:chExt cx="3989106" cy="3989106"/>
                  </a:xfrm>
                </p:grpSpPr>
                <p:sp>
                  <p:nvSpPr>
                    <p:cNvPr id="51" name="Oval 50">
                      <a:extLst>
                        <a:ext uri="{FF2B5EF4-FFF2-40B4-BE49-F238E27FC236}">
                          <a16:creationId xmlns:a16="http://schemas.microsoft.com/office/drawing/2014/main" id="{D6B8860E-487C-5937-56E1-58C16BD23606}"/>
                        </a:ext>
                      </a:extLst>
                    </p:cNvPr>
                    <p:cNvSpPr/>
                    <p:nvPr/>
                  </p:nvSpPr>
                  <p:spPr>
                    <a:xfrm>
                      <a:off x="1747268" y="1613998"/>
                      <a:ext cx="3989106" cy="3989106"/>
                    </a:xfrm>
                    <a:prstGeom prst="ellipse">
                      <a:avLst/>
                    </a:prstGeom>
                    <a:solidFill>
                      <a:srgbClr val="B2BBCA"/>
                    </a:solidFill>
                    <a:ln>
                      <a:solidFill>
                        <a:srgbClr val="F2F2F2"/>
                      </a:solidFill>
                    </a:ln>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sp>
                  <p:nvSpPr>
                    <p:cNvPr id="52" name="Oval 51">
                      <a:extLst>
                        <a:ext uri="{FF2B5EF4-FFF2-40B4-BE49-F238E27FC236}">
                          <a16:creationId xmlns:a16="http://schemas.microsoft.com/office/drawing/2014/main" id="{936C03D5-5047-1844-E3BE-EAC05E6BD734}"/>
                        </a:ext>
                      </a:extLst>
                    </p:cNvPr>
                    <p:cNvSpPr/>
                    <p:nvPr/>
                  </p:nvSpPr>
                  <p:spPr>
                    <a:xfrm>
                      <a:off x="2104551" y="1971281"/>
                      <a:ext cx="3274540" cy="3274540"/>
                    </a:xfrm>
                    <a:prstGeom prst="ellipse">
                      <a:avLst/>
                    </a:prstGeom>
                    <a:solidFill>
                      <a:srgbClr val="D0D7DF"/>
                    </a:solidFill>
                    <a:ln>
                      <a:solidFill>
                        <a:srgbClr val="F2F2F2"/>
                      </a:solidFill>
                    </a:ln>
                    <a:effectLst>
                      <a:outerShdw blurRad="50800" dist="38100" dir="2700000" algn="tl" rotWithShape="0">
                        <a:prstClr val="black">
                          <a:alpha val="40000"/>
                        </a:prstClr>
                      </a:outerShdw>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sp>
                  <p:nvSpPr>
                    <p:cNvPr id="53" name="Oval 52">
                      <a:extLst>
                        <a:ext uri="{FF2B5EF4-FFF2-40B4-BE49-F238E27FC236}">
                          <a16:creationId xmlns:a16="http://schemas.microsoft.com/office/drawing/2014/main" id="{8C84F6E0-9846-258D-1A66-7567128BC95F}"/>
                        </a:ext>
                      </a:extLst>
                    </p:cNvPr>
                    <p:cNvSpPr/>
                    <p:nvPr/>
                  </p:nvSpPr>
                  <p:spPr>
                    <a:xfrm>
                      <a:off x="2465600" y="2332330"/>
                      <a:ext cx="2552444" cy="2552444"/>
                    </a:xfrm>
                    <a:prstGeom prst="ellipse">
                      <a:avLst/>
                    </a:prstGeom>
                    <a:solidFill>
                      <a:srgbClr val="F2F2F2"/>
                    </a:solidFill>
                    <a:ln>
                      <a:solidFill>
                        <a:srgbClr val="F2F2F2"/>
                      </a:solidFill>
                    </a:ln>
                    <a:effectLst>
                      <a:outerShdw blurRad="50800" dist="38100" dir="2700000" algn="tl" rotWithShape="0">
                        <a:prstClr val="black">
                          <a:alpha val="40000"/>
                        </a:prstClr>
                      </a:outerShdw>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grpSp>
              <p:sp>
                <p:nvSpPr>
                  <p:cNvPr id="48" name="Minus 67">
                    <a:extLst>
                      <a:ext uri="{FF2B5EF4-FFF2-40B4-BE49-F238E27FC236}">
                        <a16:creationId xmlns:a16="http://schemas.microsoft.com/office/drawing/2014/main" id="{A413FFC4-2167-A50C-D804-9FFF3871246D}"/>
                      </a:ext>
                    </a:extLst>
                  </p:cNvPr>
                  <p:cNvSpPr/>
                  <p:nvPr/>
                </p:nvSpPr>
                <p:spPr>
                  <a:xfrm rot="2700000">
                    <a:off x="1980990" y="3037106"/>
                    <a:ext cx="1693074" cy="63101"/>
                  </a:xfrm>
                  <a:prstGeom prst="mathMinus">
                    <a:avLst/>
                  </a:prstGeom>
                  <a:solidFill>
                    <a:srgbClr val="7A828D"/>
                  </a:solidFill>
                  <a:ln w="19050">
                    <a:solidFill>
                      <a:srgbClr val="F2F2F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49" name="Minus 68">
                    <a:extLst>
                      <a:ext uri="{FF2B5EF4-FFF2-40B4-BE49-F238E27FC236}">
                        <a16:creationId xmlns:a16="http://schemas.microsoft.com/office/drawing/2014/main" id="{3F1911DE-47D8-8413-6B97-8F1A17278E60}"/>
                      </a:ext>
                    </a:extLst>
                  </p:cNvPr>
                  <p:cNvSpPr/>
                  <p:nvPr/>
                </p:nvSpPr>
                <p:spPr>
                  <a:xfrm rot="8100000">
                    <a:off x="1965952" y="3031217"/>
                    <a:ext cx="1693074" cy="63101"/>
                  </a:xfrm>
                  <a:prstGeom prst="mathMinus">
                    <a:avLst/>
                  </a:prstGeom>
                  <a:solidFill>
                    <a:srgbClr val="7A828D"/>
                  </a:solidFill>
                  <a:ln w="19050">
                    <a:solidFill>
                      <a:srgbClr val="F2F2F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50" name="Multiply 69">
                    <a:extLst>
                      <a:ext uri="{FF2B5EF4-FFF2-40B4-BE49-F238E27FC236}">
                        <a16:creationId xmlns:a16="http://schemas.microsoft.com/office/drawing/2014/main" id="{E680293C-389E-FD4C-6D0F-415940D2278B}"/>
                      </a:ext>
                    </a:extLst>
                  </p:cNvPr>
                  <p:cNvSpPr/>
                  <p:nvPr/>
                </p:nvSpPr>
                <p:spPr>
                  <a:xfrm>
                    <a:off x="2451668" y="2696536"/>
                    <a:ext cx="732464" cy="732464"/>
                  </a:xfrm>
                  <a:prstGeom prst="mathMultiply">
                    <a:avLst>
                      <a:gd name="adj1" fmla="val 13917"/>
                    </a:avLst>
                  </a:prstGeom>
                  <a:solidFill>
                    <a:srgbClr val="281A42"/>
                  </a:solidFill>
                  <a:ln>
                    <a:solidFill>
                      <a:srgbClr val="281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solidFill>
                          <a:srgbClr val="FFFFFF"/>
                        </a:solidFill>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u="none" strike="noStrike" kern="1200" cap="none" spc="-10" normalizeH="0" baseline="0" noProof="0" dirty="0">
                      <a:ln>
                        <a:noFill/>
                      </a:ln>
                      <a:solidFill>
                        <a:prstClr val="white"/>
                      </a:solidFill>
                      <a:effectLst/>
                      <a:uLnTx/>
                      <a:uFillTx/>
                      <a:latin typeface="Arial" pitchFamily="34" charset="0"/>
                      <a:ea typeface="+mn-ea"/>
                      <a:cs typeface="+mn-cs"/>
                    </a:endParaRPr>
                  </a:p>
                </p:txBody>
              </p:sp>
            </p:grpSp>
          </p:grpSp>
          <p:grpSp>
            <p:nvGrpSpPr>
              <p:cNvPr id="18" name="Group 17">
                <a:extLst>
                  <a:ext uri="{FF2B5EF4-FFF2-40B4-BE49-F238E27FC236}">
                    <a16:creationId xmlns:a16="http://schemas.microsoft.com/office/drawing/2014/main" id="{231DCFF2-3380-867B-E71A-C6A75FEB21F7}"/>
                  </a:ext>
                </a:extLst>
              </p:cNvPr>
              <p:cNvGrpSpPr/>
              <p:nvPr/>
            </p:nvGrpSpPr>
            <p:grpSpPr>
              <a:xfrm>
                <a:off x="3409014" y="4659695"/>
                <a:ext cx="1765244" cy="1439809"/>
                <a:chOff x="3868934" y="4646939"/>
                <a:chExt cx="1765244" cy="1439809"/>
              </a:xfrm>
            </p:grpSpPr>
            <p:sp>
              <p:nvSpPr>
                <p:cNvPr id="31" name="TextBox 49">
                  <a:extLst>
                    <a:ext uri="{FF2B5EF4-FFF2-40B4-BE49-F238E27FC236}">
                      <a16:creationId xmlns:a16="http://schemas.microsoft.com/office/drawing/2014/main" id="{DAF5EEEB-3B3D-ACDD-F75F-C3CDCB6C95A0}"/>
                    </a:ext>
                  </a:extLst>
                </p:cNvPr>
                <p:cNvSpPr txBox="1"/>
                <p:nvPr/>
              </p:nvSpPr>
              <p:spPr>
                <a:xfrm>
                  <a:off x="3868934" y="5778971"/>
                  <a:ext cx="1765244" cy="307777"/>
                </a:xfrm>
                <a:prstGeom prst="rect">
                  <a:avLst/>
                </a:prstGeom>
                <a:noFill/>
              </p:spPr>
              <p:txBody>
                <a:bodyPr wrap="square" lIns="91440" tIns="45720" rIns="91440" bIns="45720" rtlCol="0" anchor="ctr">
                  <a:sp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10" normalizeH="0" baseline="0" noProof="0" dirty="0">
                      <a:ln>
                        <a:noFill/>
                      </a:ln>
                      <a:solidFill>
                        <a:schemeClr val="accent1"/>
                      </a:solidFill>
                      <a:effectLst/>
                      <a:uLnTx/>
                      <a:uFillTx/>
                      <a:latin typeface="Arial" pitchFamily="34" charset="0"/>
                      <a:ea typeface="+mn-ea"/>
                      <a:cs typeface="Lato Light" panose="020F0402020204030203" pitchFamily="34" charset="0"/>
                    </a:rPr>
                    <a:t>THE WORK</a:t>
                  </a:r>
                </a:p>
              </p:txBody>
            </p:sp>
            <p:grpSp>
              <p:nvGrpSpPr>
                <p:cNvPr id="32" name="Group 31">
                  <a:extLst>
                    <a:ext uri="{FF2B5EF4-FFF2-40B4-BE49-F238E27FC236}">
                      <a16:creationId xmlns:a16="http://schemas.microsoft.com/office/drawing/2014/main" id="{36674D32-7DBB-DC3F-6AF8-B507AE73A874}"/>
                    </a:ext>
                  </a:extLst>
                </p:cNvPr>
                <p:cNvGrpSpPr/>
                <p:nvPr/>
              </p:nvGrpSpPr>
              <p:grpSpPr>
                <a:xfrm>
                  <a:off x="4251854" y="4646939"/>
                  <a:ext cx="999404" cy="999404"/>
                  <a:chOff x="5319460" y="2286228"/>
                  <a:chExt cx="1553080" cy="1553080"/>
                </a:xfrm>
              </p:grpSpPr>
              <p:grpSp>
                <p:nvGrpSpPr>
                  <p:cNvPr id="33" name="Group 32">
                    <a:extLst>
                      <a:ext uri="{FF2B5EF4-FFF2-40B4-BE49-F238E27FC236}">
                        <a16:creationId xmlns:a16="http://schemas.microsoft.com/office/drawing/2014/main" id="{BC78C7DD-7D38-0414-EC26-229F9A91CCBD}"/>
                      </a:ext>
                    </a:extLst>
                  </p:cNvPr>
                  <p:cNvGrpSpPr/>
                  <p:nvPr/>
                </p:nvGrpSpPr>
                <p:grpSpPr>
                  <a:xfrm>
                    <a:off x="5319460" y="2286228"/>
                    <a:ext cx="1553080" cy="1553080"/>
                    <a:chOff x="1991510" y="2286228"/>
                    <a:chExt cx="1553080" cy="1553080"/>
                  </a:xfrm>
                </p:grpSpPr>
                <p:grpSp>
                  <p:nvGrpSpPr>
                    <p:cNvPr id="38" name="Group 37">
                      <a:extLst>
                        <a:ext uri="{FF2B5EF4-FFF2-40B4-BE49-F238E27FC236}">
                          <a16:creationId xmlns:a16="http://schemas.microsoft.com/office/drawing/2014/main" id="{AC8231BD-C2B5-27DA-F832-8B776B0361FB}"/>
                        </a:ext>
                      </a:extLst>
                    </p:cNvPr>
                    <p:cNvGrpSpPr/>
                    <p:nvPr/>
                  </p:nvGrpSpPr>
                  <p:grpSpPr>
                    <a:xfrm>
                      <a:off x="1991510" y="2286228"/>
                      <a:ext cx="1553080" cy="1553080"/>
                      <a:chOff x="1747268" y="1613998"/>
                      <a:chExt cx="3989106" cy="3989106"/>
                    </a:xfrm>
                  </p:grpSpPr>
                  <p:sp>
                    <p:nvSpPr>
                      <p:cNvPr id="43" name="Oval 42">
                        <a:extLst>
                          <a:ext uri="{FF2B5EF4-FFF2-40B4-BE49-F238E27FC236}">
                            <a16:creationId xmlns:a16="http://schemas.microsoft.com/office/drawing/2014/main" id="{E7843B05-1084-2565-FB31-4EABA89EE5D8}"/>
                          </a:ext>
                        </a:extLst>
                      </p:cNvPr>
                      <p:cNvSpPr/>
                      <p:nvPr/>
                    </p:nvSpPr>
                    <p:spPr>
                      <a:xfrm>
                        <a:off x="1747268" y="1613998"/>
                        <a:ext cx="3989106" cy="3989106"/>
                      </a:xfrm>
                      <a:prstGeom prst="ellipse">
                        <a:avLst/>
                      </a:prstGeom>
                      <a:solidFill>
                        <a:srgbClr val="B2BBCA"/>
                      </a:solidFill>
                      <a:ln>
                        <a:solidFill>
                          <a:srgbClr val="F2F2F2"/>
                        </a:solidFill>
                      </a:ln>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sp>
                    <p:nvSpPr>
                      <p:cNvPr id="44" name="Oval 43">
                        <a:extLst>
                          <a:ext uri="{FF2B5EF4-FFF2-40B4-BE49-F238E27FC236}">
                            <a16:creationId xmlns:a16="http://schemas.microsoft.com/office/drawing/2014/main" id="{76F5C9B4-E99B-B282-BD40-0C506F8D30A5}"/>
                          </a:ext>
                        </a:extLst>
                      </p:cNvPr>
                      <p:cNvSpPr/>
                      <p:nvPr/>
                    </p:nvSpPr>
                    <p:spPr>
                      <a:xfrm>
                        <a:off x="2104551" y="1971281"/>
                        <a:ext cx="3274540" cy="3274540"/>
                      </a:xfrm>
                      <a:prstGeom prst="ellipse">
                        <a:avLst/>
                      </a:prstGeom>
                      <a:solidFill>
                        <a:srgbClr val="F2F2F2"/>
                      </a:solidFill>
                      <a:ln>
                        <a:solidFill>
                          <a:srgbClr val="F2F2F2"/>
                        </a:solidFill>
                      </a:ln>
                      <a:effectLst>
                        <a:outerShdw blurRad="50800" dist="38100" dir="2700000" algn="tl" rotWithShape="0">
                          <a:prstClr val="black">
                            <a:alpha val="40000"/>
                          </a:prstClr>
                        </a:outerShdw>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grpSp>
                <p:grpSp>
                  <p:nvGrpSpPr>
                    <p:cNvPr id="39" name="Group 38">
                      <a:extLst>
                        <a:ext uri="{FF2B5EF4-FFF2-40B4-BE49-F238E27FC236}">
                          <a16:creationId xmlns:a16="http://schemas.microsoft.com/office/drawing/2014/main" id="{E91EBFE8-5C89-194F-6597-A4AE901436B3}"/>
                        </a:ext>
                      </a:extLst>
                    </p:cNvPr>
                    <p:cNvGrpSpPr/>
                    <p:nvPr/>
                  </p:nvGrpSpPr>
                  <p:grpSpPr>
                    <a:xfrm>
                      <a:off x="2389874" y="2679834"/>
                      <a:ext cx="756338" cy="765874"/>
                      <a:chOff x="5354053" y="1402133"/>
                      <a:chExt cx="870048" cy="881015"/>
                    </a:xfrm>
                  </p:grpSpPr>
                  <p:sp>
                    <p:nvSpPr>
                      <p:cNvPr id="40" name="Rectangle 39">
                        <a:extLst>
                          <a:ext uri="{FF2B5EF4-FFF2-40B4-BE49-F238E27FC236}">
                            <a16:creationId xmlns:a16="http://schemas.microsoft.com/office/drawing/2014/main" id="{85C147B7-D35F-058D-C35E-0F9B3BB069E2}"/>
                          </a:ext>
                        </a:extLst>
                      </p:cNvPr>
                      <p:cNvSpPr/>
                      <p:nvPr/>
                    </p:nvSpPr>
                    <p:spPr>
                      <a:xfrm>
                        <a:off x="5354053" y="1402133"/>
                        <a:ext cx="471285" cy="471285"/>
                      </a:xfrm>
                      <a:prstGeom prst="rect">
                        <a:avLst/>
                      </a:prstGeom>
                      <a:solidFill>
                        <a:srgbClr val="B2BBCA"/>
                      </a:solidFill>
                      <a:ln>
                        <a:solidFill>
                          <a:srgbClr val="F2F2F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41" name="Rectangle 40">
                        <a:extLst>
                          <a:ext uri="{FF2B5EF4-FFF2-40B4-BE49-F238E27FC236}">
                            <a16:creationId xmlns:a16="http://schemas.microsoft.com/office/drawing/2014/main" id="{FFA85FBF-6031-E371-C0BD-62C4A0A2DE61}"/>
                          </a:ext>
                        </a:extLst>
                      </p:cNvPr>
                      <p:cNvSpPr/>
                      <p:nvPr/>
                    </p:nvSpPr>
                    <p:spPr>
                      <a:xfrm>
                        <a:off x="5415541" y="1485087"/>
                        <a:ext cx="589547" cy="589547"/>
                      </a:xfrm>
                      <a:prstGeom prst="rect">
                        <a:avLst/>
                      </a:prstGeom>
                      <a:solidFill>
                        <a:srgbClr val="D0D7DF"/>
                      </a:solidFill>
                      <a:ln>
                        <a:solidFill>
                          <a:srgbClr val="F2F2F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42" name="Rectangle 41">
                        <a:extLst>
                          <a:ext uri="{FF2B5EF4-FFF2-40B4-BE49-F238E27FC236}">
                            <a16:creationId xmlns:a16="http://schemas.microsoft.com/office/drawing/2014/main" id="{A9EC7762-B22F-85E8-FC8F-E21B4F20A7F2}"/>
                          </a:ext>
                        </a:extLst>
                      </p:cNvPr>
                      <p:cNvSpPr/>
                      <p:nvPr/>
                    </p:nvSpPr>
                    <p:spPr>
                      <a:xfrm>
                        <a:off x="5513083" y="1572130"/>
                        <a:ext cx="711018" cy="711018"/>
                      </a:xfrm>
                      <a:prstGeom prst="rect">
                        <a:avLst/>
                      </a:prstGeom>
                      <a:solidFill>
                        <a:srgbClr val="F2F2F2"/>
                      </a:solidFill>
                      <a:ln>
                        <a:solidFill>
                          <a:srgbClr val="F2F2F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grpSp>
              </p:grpSp>
              <p:grpSp>
                <p:nvGrpSpPr>
                  <p:cNvPr id="34" name="Group 33">
                    <a:extLst>
                      <a:ext uri="{FF2B5EF4-FFF2-40B4-BE49-F238E27FC236}">
                        <a16:creationId xmlns:a16="http://schemas.microsoft.com/office/drawing/2014/main" id="{C80DA0AD-E8BE-0F59-C842-D8003031C4E7}"/>
                      </a:ext>
                    </a:extLst>
                  </p:cNvPr>
                  <p:cNvGrpSpPr/>
                  <p:nvPr/>
                </p:nvGrpSpPr>
                <p:grpSpPr>
                  <a:xfrm rot="5400000">
                    <a:off x="5793606" y="2897492"/>
                    <a:ext cx="754173" cy="512497"/>
                    <a:chOff x="8182234" y="1085433"/>
                    <a:chExt cx="917900" cy="815759"/>
                  </a:xfrm>
                </p:grpSpPr>
                <p:sp>
                  <p:nvSpPr>
                    <p:cNvPr id="35" name="Minus 33">
                      <a:extLst>
                        <a:ext uri="{FF2B5EF4-FFF2-40B4-BE49-F238E27FC236}">
                          <a16:creationId xmlns:a16="http://schemas.microsoft.com/office/drawing/2014/main" id="{7420D0A1-F35E-C97E-B53D-35A22615E824}"/>
                        </a:ext>
                      </a:extLst>
                    </p:cNvPr>
                    <p:cNvSpPr/>
                    <p:nvPr/>
                  </p:nvSpPr>
                  <p:spPr>
                    <a:xfrm rot="16200000">
                      <a:off x="8179118" y="1231005"/>
                      <a:ext cx="563951" cy="557719"/>
                    </a:xfrm>
                    <a:prstGeom prst="mathMinus">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b="1" spc="-25">
                          <a:solidFill>
                            <a:srgbClr val="FFFFFF"/>
                          </a:solidFill>
                          <a:latin typeface="Segoe UI" pitchFamily="34" charset="0"/>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u="none" strike="noStrike" kern="1200" cap="none" spc="-25" normalizeH="0" baseline="0" noProof="0" dirty="0">
                        <a:ln>
                          <a:noFill/>
                        </a:ln>
                        <a:solidFill>
                          <a:prstClr val="white"/>
                        </a:solidFill>
                        <a:effectLst/>
                        <a:uLnTx/>
                        <a:uFillTx/>
                        <a:latin typeface="Segoe UI" pitchFamily="34" charset="0"/>
                        <a:ea typeface="+mn-ea"/>
                        <a:cs typeface="+mn-cs"/>
                      </a:endParaRPr>
                    </a:p>
                  </p:txBody>
                </p:sp>
                <p:sp>
                  <p:nvSpPr>
                    <p:cNvPr id="36" name="Minus 34">
                      <a:extLst>
                        <a:ext uri="{FF2B5EF4-FFF2-40B4-BE49-F238E27FC236}">
                          <a16:creationId xmlns:a16="http://schemas.microsoft.com/office/drawing/2014/main" id="{7798462E-5E56-F14F-2D9B-C3C34974E108}"/>
                        </a:ext>
                      </a:extLst>
                    </p:cNvPr>
                    <p:cNvSpPr/>
                    <p:nvPr/>
                  </p:nvSpPr>
                  <p:spPr>
                    <a:xfrm rot="16200000">
                      <a:off x="8359208" y="1088549"/>
                      <a:ext cx="563951" cy="557719"/>
                    </a:xfrm>
                    <a:prstGeom prst="mathMinus">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b="1" spc="-25">
                          <a:solidFill>
                            <a:srgbClr val="FFFFFF"/>
                          </a:solidFill>
                          <a:latin typeface="Segoe UI" pitchFamily="34" charset="0"/>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u="none" strike="noStrike" kern="1200" cap="none" spc="-25" normalizeH="0" baseline="0" noProof="0" dirty="0">
                        <a:ln>
                          <a:noFill/>
                        </a:ln>
                        <a:solidFill>
                          <a:prstClr val="white"/>
                        </a:solidFill>
                        <a:effectLst/>
                        <a:uLnTx/>
                        <a:uFillTx/>
                        <a:latin typeface="Segoe UI" pitchFamily="34" charset="0"/>
                        <a:ea typeface="+mn-ea"/>
                        <a:cs typeface="+mn-cs"/>
                      </a:endParaRPr>
                    </a:p>
                  </p:txBody>
                </p:sp>
                <p:sp>
                  <p:nvSpPr>
                    <p:cNvPr id="37" name="Minus 35">
                      <a:extLst>
                        <a:ext uri="{FF2B5EF4-FFF2-40B4-BE49-F238E27FC236}">
                          <a16:creationId xmlns:a16="http://schemas.microsoft.com/office/drawing/2014/main" id="{FCC55FA0-5D99-1633-1159-487F48C80737}"/>
                        </a:ext>
                      </a:extLst>
                    </p:cNvPr>
                    <p:cNvSpPr/>
                    <p:nvPr/>
                  </p:nvSpPr>
                  <p:spPr>
                    <a:xfrm rot="16200000">
                      <a:off x="8539299" y="1340357"/>
                      <a:ext cx="563951" cy="557719"/>
                    </a:xfrm>
                    <a:prstGeom prst="mathMinus">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b="1" spc="-25">
                          <a:solidFill>
                            <a:srgbClr val="FFFFFF"/>
                          </a:solidFill>
                          <a:latin typeface="Segoe UI" pitchFamily="34" charset="0"/>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u="none" strike="noStrike" kern="1200" cap="none" spc="-25" normalizeH="0" baseline="0" noProof="0" dirty="0">
                        <a:ln>
                          <a:noFill/>
                        </a:ln>
                        <a:solidFill>
                          <a:prstClr val="white"/>
                        </a:solidFill>
                        <a:effectLst/>
                        <a:uLnTx/>
                        <a:uFillTx/>
                        <a:latin typeface="Segoe UI" pitchFamily="34" charset="0"/>
                        <a:ea typeface="+mn-ea"/>
                        <a:cs typeface="+mn-cs"/>
                      </a:endParaRPr>
                    </a:p>
                  </p:txBody>
                </p:sp>
              </p:grpSp>
            </p:grpSp>
          </p:grpSp>
          <p:grpSp>
            <p:nvGrpSpPr>
              <p:cNvPr id="19" name="Group 18">
                <a:extLst>
                  <a:ext uri="{FF2B5EF4-FFF2-40B4-BE49-F238E27FC236}">
                    <a16:creationId xmlns:a16="http://schemas.microsoft.com/office/drawing/2014/main" id="{B50A82C4-44F2-F2F3-CB45-3EAD43F3E8C5}"/>
                  </a:ext>
                </a:extLst>
              </p:cNvPr>
              <p:cNvGrpSpPr/>
              <p:nvPr/>
            </p:nvGrpSpPr>
            <p:grpSpPr>
              <a:xfrm>
                <a:off x="5509768" y="4660044"/>
                <a:ext cx="1765244" cy="1439110"/>
                <a:chOff x="6269692" y="4646938"/>
                <a:chExt cx="1765244" cy="1439110"/>
              </a:xfrm>
            </p:grpSpPr>
            <p:grpSp>
              <p:nvGrpSpPr>
                <p:cNvPr id="22" name="Group 21">
                  <a:extLst>
                    <a:ext uri="{FF2B5EF4-FFF2-40B4-BE49-F238E27FC236}">
                      <a16:creationId xmlns:a16="http://schemas.microsoft.com/office/drawing/2014/main" id="{4C0D4C2C-5A3E-85BA-4AE2-A8057ADB04E0}"/>
                    </a:ext>
                  </a:extLst>
                </p:cNvPr>
                <p:cNvGrpSpPr/>
                <p:nvPr/>
              </p:nvGrpSpPr>
              <p:grpSpPr>
                <a:xfrm>
                  <a:off x="6652612" y="4646938"/>
                  <a:ext cx="999404" cy="999404"/>
                  <a:chOff x="8600852" y="2526131"/>
                  <a:chExt cx="1553080" cy="1553080"/>
                </a:xfrm>
              </p:grpSpPr>
              <p:grpSp>
                <p:nvGrpSpPr>
                  <p:cNvPr id="24" name="Group 23">
                    <a:extLst>
                      <a:ext uri="{FF2B5EF4-FFF2-40B4-BE49-F238E27FC236}">
                        <a16:creationId xmlns:a16="http://schemas.microsoft.com/office/drawing/2014/main" id="{E7C53BDD-A539-BAEC-2BBE-E1158035C644}"/>
                      </a:ext>
                    </a:extLst>
                  </p:cNvPr>
                  <p:cNvGrpSpPr/>
                  <p:nvPr/>
                </p:nvGrpSpPr>
                <p:grpSpPr>
                  <a:xfrm>
                    <a:off x="8600852" y="2526131"/>
                    <a:ext cx="1553080" cy="1553080"/>
                    <a:chOff x="1747268" y="2230189"/>
                    <a:chExt cx="3989106" cy="3989106"/>
                  </a:xfrm>
                </p:grpSpPr>
                <p:sp>
                  <p:nvSpPr>
                    <p:cNvPr id="29" name="Oval 28">
                      <a:extLst>
                        <a:ext uri="{FF2B5EF4-FFF2-40B4-BE49-F238E27FC236}">
                          <a16:creationId xmlns:a16="http://schemas.microsoft.com/office/drawing/2014/main" id="{937EDDC0-9FB4-775C-9B85-77FA77D36569}"/>
                        </a:ext>
                      </a:extLst>
                    </p:cNvPr>
                    <p:cNvSpPr/>
                    <p:nvPr/>
                  </p:nvSpPr>
                  <p:spPr>
                    <a:xfrm>
                      <a:off x="1747268" y="2230189"/>
                      <a:ext cx="3989106" cy="3989106"/>
                    </a:xfrm>
                    <a:prstGeom prst="ellipse">
                      <a:avLst/>
                    </a:prstGeom>
                    <a:solidFill>
                      <a:srgbClr val="B2BBCA"/>
                    </a:solidFill>
                    <a:ln>
                      <a:solidFill>
                        <a:srgbClr val="F2F2F2"/>
                      </a:solidFill>
                    </a:ln>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sp>
                  <p:nvSpPr>
                    <p:cNvPr id="30" name="Oval 29">
                      <a:extLst>
                        <a:ext uri="{FF2B5EF4-FFF2-40B4-BE49-F238E27FC236}">
                          <a16:creationId xmlns:a16="http://schemas.microsoft.com/office/drawing/2014/main" id="{6CBFF7FE-8D57-DDEA-AC80-B3023A54B2EC}"/>
                        </a:ext>
                      </a:extLst>
                    </p:cNvPr>
                    <p:cNvSpPr/>
                    <p:nvPr/>
                  </p:nvSpPr>
                  <p:spPr>
                    <a:xfrm>
                      <a:off x="2104550" y="2587470"/>
                      <a:ext cx="3274538" cy="3274539"/>
                    </a:xfrm>
                    <a:prstGeom prst="ellipse">
                      <a:avLst/>
                    </a:prstGeom>
                    <a:solidFill>
                      <a:srgbClr val="F2F2F2"/>
                    </a:solidFill>
                    <a:ln>
                      <a:solidFill>
                        <a:srgbClr val="F2F2F2"/>
                      </a:solidFill>
                    </a:ln>
                    <a:effectLst>
                      <a:outerShdw blurRad="50800" dist="38100" dir="2700000" algn="tl" rotWithShape="0">
                        <a:prstClr val="black">
                          <a:alpha val="40000"/>
                        </a:prstClr>
                      </a:outerShdw>
                    </a:effectLst>
                  </p:spPr>
                  <p:txBody>
                    <a:bodyPr wrap="square" lIns="0" tIns="0" rIns="0" bIns="0" rtlCol="0" anchor="ctr">
                      <a:no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u="none" strike="noStrike" kern="1200" cap="none" spc="-10" normalizeH="0" baseline="0" noProof="0" dirty="0">
                        <a:ln>
                          <a:noFill/>
                        </a:ln>
                        <a:solidFill>
                          <a:srgbClr val="1D1D1D"/>
                        </a:solidFill>
                        <a:effectLst/>
                        <a:uLnTx/>
                        <a:uFillTx/>
                        <a:latin typeface="Arial" pitchFamily="34" charset="0"/>
                        <a:ea typeface="+mn-ea"/>
                        <a:cs typeface="Lato Light" panose="020F0402020204030203" pitchFamily="34" charset="0"/>
                      </a:endParaRPr>
                    </a:p>
                  </p:txBody>
                </p:sp>
              </p:grpSp>
              <p:grpSp>
                <p:nvGrpSpPr>
                  <p:cNvPr id="25" name="Group 24">
                    <a:extLst>
                      <a:ext uri="{FF2B5EF4-FFF2-40B4-BE49-F238E27FC236}">
                        <a16:creationId xmlns:a16="http://schemas.microsoft.com/office/drawing/2014/main" id="{DC0DAF32-D948-C8F3-A850-2A1D0D612C8A}"/>
                      </a:ext>
                    </a:extLst>
                  </p:cNvPr>
                  <p:cNvGrpSpPr/>
                  <p:nvPr/>
                </p:nvGrpSpPr>
                <p:grpSpPr>
                  <a:xfrm>
                    <a:off x="8932274" y="2832342"/>
                    <a:ext cx="890214" cy="877624"/>
                    <a:chOff x="7340674" y="2726708"/>
                    <a:chExt cx="926024" cy="912926"/>
                  </a:xfrm>
                </p:grpSpPr>
                <p:sp>
                  <p:nvSpPr>
                    <p:cNvPr id="26" name="Freeform 58">
                      <a:extLst>
                        <a:ext uri="{FF2B5EF4-FFF2-40B4-BE49-F238E27FC236}">
                          <a16:creationId xmlns:a16="http://schemas.microsoft.com/office/drawing/2014/main" id="{066C086A-8A84-62B9-00B3-00A51C6BBA8D}"/>
                        </a:ext>
                      </a:extLst>
                    </p:cNvPr>
                    <p:cNvSpPr/>
                    <p:nvPr/>
                  </p:nvSpPr>
                  <p:spPr>
                    <a:xfrm>
                      <a:off x="7340674" y="2726708"/>
                      <a:ext cx="329578" cy="518357"/>
                    </a:xfrm>
                    <a:custGeom>
                      <a:avLst/>
                      <a:gdLst>
                        <a:gd name="connsiteX0" fmla="*/ 224570 w 449139"/>
                        <a:gd name="connsiteY0" fmla="*/ 344614 h 706397"/>
                        <a:gd name="connsiteX1" fmla="*/ 449139 w 449139"/>
                        <a:gd name="connsiteY1" fmla="*/ 569184 h 706397"/>
                        <a:gd name="connsiteX2" fmla="*/ 431493 w 449139"/>
                        <a:gd name="connsiteY2" fmla="*/ 656596 h 706397"/>
                        <a:gd name="connsiteX3" fmla="*/ 397916 w 449139"/>
                        <a:gd name="connsiteY3" fmla="*/ 706397 h 706397"/>
                        <a:gd name="connsiteX4" fmla="*/ 357327 w 449139"/>
                        <a:gd name="connsiteY4" fmla="*/ 679031 h 706397"/>
                        <a:gd name="connsiteX5" fmla="*/ 224570 w 449139"/>
                        <a:gd name="connsiteY5" fmla="*/ 652228 h 706397"/>
                        <a:gd name="connsiteX6" fmla="*/ 91814 w 449139"/>
                        <a:gd name="connsiteY6" fmla="*/ 679031 h 706397"/>
                        <a:gd name="connsiteX7" fmla="*/ 51225 w 449139"/>
                        <a:gd name="connsiteY7" fmla="*/ 706397 h 706397"/>
                        <a:gd name="connsiteX8" fmla="*/ 17648 w 449139"/>
                        <a:gd name="connsiteY8" fmla="*/ 656596 h 706397"/>
                        <a:gd name="connsiteX9" fmla="*/ 0 w 449139"/>
                        <a:gd name="connsiteY9" fmla="*/ 569184 h 706397"/>
                        <a:gd name="connsiteX10" fmla="*/ 224570 w 449139"/>
                        <a:gd name="connsiteY10" fmla="*/ 344614 h 706397"/>
                        <a:gd name="connsiteX11" fmla="*/ 227849 w 449139"/>
                        <a:gd name="connsiteY11" fmla="*/ 0 h 706397"/>
                        <a:gd name="connsiteX12" fmla="*/ 374744 w 449139"/>
                        <a:gd name="connsiteY12" fmla="*/ 146895 h 706397"/>
                        <a:gd name="connsiteX13" fmla="*/ 227849 w 449139"/>
                        <a:gd name="connsiteY13" fmla="*/ 293790 h 706397"/>
                        <a:gd name="connsiteX14" fmla="*/ 80954 w 449139"/>
                        <a:gd name="connsiteY14" fmla="*/ 146895 h 706397"/>
                        <a:gd name="connsiteX15" fmla="*/ 227849 w 449139"/>
                        <a:gd name="connsiteY15" fmla="*/ 0 h 7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9139" h="706397">
                          <a:moveTo>
                            <a:pt x="224570" y="344614"/>
                          </a:moveTo>
                          <a:cubicBezTo>
                            <a:pt x="348596" y="344614"/>
                            <a:pt x="449139" y="445157"/>
                            <a:pt x="449139" y="569184"/>
                          </a:cubicBezTo>
                          <a:cubicBezTo>
                            <a:pt x="449139" y="600190"/>
                            <a:pt x="442856" y="629729"/>
                            <a:pt x="431493" y="656596"/>
                          </a:cubicBezTo>
                          <a:lnTo>
                            <a:pt x="397916" y="706397"/>
                          </a:lnTo>
                          <a:lnTo>
                            <a:pt x="357327" y="679031"/>
                          </a:lnTo>
                          <a:cubicBezTo>
                            <a:pt x="316523" y="661772"/>
                            <a:pt x="271661" y="652228"/>
                            <a:pt x="224570" y="652228"/>
                          </a:cubicBezTo>
                          <a:cubicBezTo>
                            <a:pt x="177479" y="652228"/>
                            <a:pt x="132617" y="661772"/>
                            <a:pt x="91814" y="679031"/>
                          </a:cubicBezTo>
                          <a:lnTo>
                            <a:pt x="51225" y="706397"/>
                          </a:lnTo>
                          <a:lnTo>
                            <a:pt x="17648" y="656596"/>
                          </a:lnTo>
                          <a:cubicBezTo>
                            <a:pt x="6285" y="629729"/>
                            <a:pt x="0" y="600190"/>
                            <a:pt x="0" y="569184"/>
                          </a:cubicBezTo>
                          <a:cubicBezTo>
                            <a:pt x="0" y="445157"/>
                            <a:pt x="100543" y="344614"/>
                            <a:pt x="224570" y="344614"/>
                          </a:cubicBezTo>
                          <a:close/>
                          <a:moveTo>
                            <a:pt x="227849" y="0"/>
                          </a:moveTo>
                          <a:cubicBezTo>
                            <a:pt x="308977" y="0"/>
                            <a:pt x="374744" y="65767"/>
                            <a:pt x="374744" y="146895"/>
                          </a:cubicBezTo>
                          <a:cubicBezTo>
                            <a:pt x="374744" y="228023"/>
                            <a:pt x="308977" y="293790"/>
                            <a:pt x="227849" y="293790"/>
                          </a:cubicBezTo>
                          <a:cubicBezTo>
                            <a:pt x="146721" y="293790"/>
                            <a:pt x="80954" y="228023"/>
                            <a:pt x="80954" y="146895"/>
                          </a:cubicBezTo>
                          <a:cubicBezTo>
                            <a:pt x="80954" y="65767"/>
                            <a:pt x="146721" y="0"/>
                            <a:pt x="227849" y="0"/>
                          </a:cubicBezTo>
                          <a:close/>
                        </a:path>
                      </a:pathLst>
                    </a:custGeom>
                    <a:solidFill>
                      <a:srgbClr val="B2BBCA"/>
                    </a:solidFill>
                    <a:ln>
                      <a:solidFill>
                        <a:srgbClr val="F2F2F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27" name="Freeform 59">
                      <a:extLst>
                        <a:ext uri="{FF2B5EF4-FFF2-40B4-BE49-F238E27FC236}">
                          <a16:creationId xmlns:a16="http://schemas.microsoft.com/office/drawing/2014/main" id="{214231D2-D990-FF40-3108-93DEA7B9194E}"/>
                        </a:ext>
                      </a:extLst>
                    </p:cNvPr>
                    <p:cNvSpPr/>
                    <p:nvPr/>
                  </p:nvSpPr>
                  <p:spPr>
                    <a:xfrm>
                      <a:off x="7543159" y="2792629"/>
                      <a:ext cx="391892" cy="616358"/>
                    </a:xfrm>
                    <a:custGeom>
                      <a:avLst/>
                      <a:gdLst>
                        <a:gd name="connsiteX0" fmla="*/ 224570 w 449139"/>
                        <a:gd name="connsiteY0" fmla="*/ 344614 h 706397"/>
                        <a:gd name="connsiteX1" fmla="*/ 449139 w 449139"/>
                        <a:gd name="connsiteY1" fmla="*/ 569184 h 706397"/>
                        <a:gd name="connsiteX2" fmla="*/ 431493 w 449139"/>
                        <a:gd name="connsiteY2" fmla="*/ 656596 h 706397"/>
                        <a:gd name="connsiteX3" fmla="*/ 397916 w 449139"/>
                        <a:gd name="connsiteY3" fmla="*/ 706397 h 706397"/>
                        <a:gd name="connsiteX4" fmla="*/ 357327 w 449139"/>
                        <a:gd name="connsiteY4" fmla="*/ 679031 h 706397"/>
                        <a:gd name="connsiteX5" fmla="*/ 224570 w 449139"/>
                        <a:gd name="connsiteY5" fmla="*/ 652228 h 706397"/>
                        <a:gd name="connsiteX6" fmla="*/ 91814 w 449139"/>
                        <a:gd name="connsiteY6" fmla="*/ 679031 h 706397"/>
                        <a:gd name="connsiteX7" fmla="*/ 51225 w 449139"/>
                        <a:gd name="connsiteY7" fmla="*/ 706397 h 706397"/>
                        <a:gd name="connsiteX8" fmla="*/ 17648 w 449139"/>
                        <a:gd name="connsiteY8" fmla="*/ 656596 h 706397"/>
                        <a:gd name="connsiteX9" fmla="*/ 0 w 449139"/>
                        <a:gd name="connsiteY9" fmla="*/ 569184 h 706397"/>
                        <a:gd name="connsiteX10" fmla="*/ 224570 w 449139"/>
                        <a:gd name="connsiteY10" fmla="*/ 344614 h 706397"/>
                        <a:gd name="connsiteX11" fmla="*/ 227849 w 449139"/>
                        <a:gd name="connsiteY11" fmla="*/ 0 h 706397"/>
                        <a:gd name="connsiteX12" fmla="*/ 374744 w 449139"/>
                        <a:gd name="connsiteY12" fmla="*/ 146895 h 706397"/>
                        <a:gd name="connsiteX13" fmla="*/ 227849 w 449139"/>
                        <a:gd name="connsiteY13" fmla="*/ 293790 h 706397"/>
                        <a:gd name="connsiteX14" fmla="*/ 80954 w 449139"/>
                        <a:gd name="connsiteY14" fmla="*/ 146895 h 706397"/>
                        <a:gd name="connsiteX15" fmla="*/ 227849 w 449139"/>
                        <a:gd name="connsiteY15" fmla="*/ 0 h 7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9139" h="706397">
                          <a:moveTo>
                            <a:pt x="224570" y="344614"/>
                          </a:moveTo>
                          <a:cubicBezTo>
                            <a:pt x="348596" y="344614"/>
                            <a:pt x="449139" y="445157"/>
                            <a:pt x="449139" y="569184"/>
                          </a:cubicBezTo>
                          <a:cubicBezTo>
                            <a:pt x="449139" y="600190"/>
                            <a:pt x="442856" y="629729"/>
                            <a:pt x="431493" y="656596"/>
                          </a:cubicBezTo>
                          <a:lnTo>
                            <a:pt x="397916" y="706397"/>
                          </a:lnTo>
                          <a:lnTo>
                            <a:pt x="357327" y="679031"/>
                          </a:lnTo>
                          <a:cubicBezTo>
                            <a:pt x="316523" y="661772"/>
                            <a:pt x="271661" y="652228"/>
                            <a:pt x="224570" y="652228"/>
                          </a:cubicBezTo>
                          <a:cubicBezTo>
                            <a:pt x="177479" y="652228"/>
                            <a:pt x="132617" y="661772"/>
                            <a:pt x="91814" y="679031"/>
                          </a:cubicBezTo>
                          <a:lnTo>
                            <a:pt x="51225" y="706397"/>
                          </a:lnTo>
                          <a:lnTo>
                            <a:pt x="17648" y="656596"/>
                          </a:lnTo>
                          <a:cubicBezTo>
                            <a:pt x="6285" y="629729"/>
                            <a:pt x="0" y="600190"/>
                            <a:pt x="0" y="569184"/>
                          </a:cubicBezTo>
                          <a:cubicBezTo>
                            <a:pt x="0" y="445157"/>
                            <a:pt x="100543" y="344614"/>
                            <a:pt x="224570" y="344614"/>
                          </a:cubicBezTo>
                          <a:close/>
                          <a:moveTo>
                            <a:pt x="227849" y="0"/>
                          </a:moveTo>
                          <a:cubicBezTo>
                            <a:pt x="308977" y="0"/>
                            <a:pt x="374744" y="65767"/>
                            <a:pt x="374744" y="146895"/>
                          </a:cubicBezTo>
                          <a:cubicBezTo>
                            <a:pt x="374744" y="228023"/>
                            <a:pt x="308977" y="293790"/>
                            <a:pt x="227849" y="293790"/>
                          </a:cubicBezTo>
                          <a:cubicBezTo>
                            <a:pt x="146721" y="293790"/>
                            <a:pt x="80954" y="228023"/>
                            <a:pt x="80954" y="146895"/>
                          </a:cubicBezTo>
                          <a:cubicBezTo>
                            <a:pt x="80954" y="65767"/>
                            <a:pt x="146721" y="0"/>
                            <a:pt x="227849" y="0"/>
                          </a:cubicBezTo>
                          <a:close/>
                        </a:path>
                      </a:pathLst>
                    </a:custGeom>
                    <a:solidFill>
                      <a:srgbClr val="D0D7DF"/>
                    </a:solidFill>
                    <a:ln>
                      <a:solidFill>
                        <a:srgbClr val="F2F2F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28" name="Freeform 60">
                      <a:extLst>
                        <a:ext uri="{FF2B5EF4-FFF2-40B4-BE49-F238E27FC236}">
                          <a16:creationId xmlns:a16="http://schemas.microsoft.com/office/drawing/2014/main" id="{335D4A9F-5EE3-037C-6DDB-DF3EB7BEC751}"/>
                        </a:ext>
                      </a:extLst>
                    </p:cNvPr>
                    <p:cNvSpPr/>
                    <p:nvPr/>
                  </p:nvSpPr>
                  <p:spPr>
                    <a:xfrm>
                      <a:off x="7782117" y="2894196"/>
                      <a:ext cx="484581" cy="745438"/>
                    </a:xfrm>
                    <a:custGeom>
                      <a:avLst/>
                      <a:gdLst>
                        <a:gd name="connsiteX0" fmla="*/ 224570 w 449139"/>
                        <a:gd name="connsiteY0" fmla="*/ 344614 h 706397"/>
                        <a:gd name="connsiteX1" fmla="*/ 449139 w 449139"/>
                        <a:gd name="connsiteY1" fmla="*/ 569184 h 706397"/>
                        <a:gd name="connsiteX2" fmla="*/ 431493 w 449139"/>
                        <a:gd name="connsiteY2" fmla="*/ 656596 h 706397"/>
                        <a:gd name="connsiteX3" fmla="*/ 397916 w 449139"/>
                        <a:gd name="connsiteY3" fmla="*/ 706397 h 706397"/>
                        <a:gd name="connsiteX4" fmla="*/ 357327 w 449139"/>
                        <a:gd name="connsiteY4" fmla="*/ 679031 h 706397"/>
                        <a:gd name="connsiteX5" fmla="*/ 224570 w 449139"/>
                        <a:gd name="connsiteY5" fmla="*/ 652228 h 706397"/>
                        <a:gd name="connsiteX6" fmla="*/ 91814 w 449139"/>
                        <a:gd name="connsiteY6" fmla="*/ 679031 h 706397"/>
                        <a:gd name="connsiteX7" fmla="*/ 51225 w 449139"/>
                        <a:gd name="connsiteY7" fmla="*/ 706397 h 706397"/>
                        <a:gd name="connsiteX8" fmla="*/ 17648 w 449139"/>
                        <a:gd name="connsiteY8" fmla="*/ 656596 h 706397"/>
                        <a:gd name="connsiteX9" fmla="*/ 0 w 449139"/>
                        <a:gd name="connsiteY9" fmla="*/ 569184 h 706397"/>
                        <a:gd name="connsiteX10" fmla="*/ 224570 w 449139"/>
                        <a:gd name="connsiteY10" fmla="*/ 344614 h 706397"/>
                        <a:gd name="connsiteX11" fmla="*/ 227849 w 449139"/>
                        <a:gd name="connsiteY11" fmla="*/ 0 h 706397"/>
                        <a:gd name="connsiteX12" fmla="*/ 374744 w 449139"/>
                        <a:gd name="connsiteY12" fmla="*/ 146895 h 706397"/>
                        <a:gd name="connsiteX13" fmla="*/ 227849 w 449139"/>
                        <a:gd name="connsiteY13" fmla="*/ 293790 h 706397"/>
                        <a:gd name="connsiteX14" fmla="*/ 80954 w 449139"/>
                        <a:gd name="connsiteY14" fmla="*/ 146895 h 706397"/>
                        <a:gd name="connsiteX15" fmla="*/ 227849 w 449139"/>
                        <a:gd name="connsiteY15" fmla="*/ 0 h 7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9139" h="706397">
                          <a:moveTo>
                            <a:pt x="224570" y="344614"/>
                          </a:moveTo>
                          <a:cubicBezTo>
                            <a:pt x="348596" y="344614"/>
                            <a:pt x="449139" y="445157"/>
                            <a:pt x="449139" y="569184"/>
                          </a:cubicBezTo>
                          <a:cubicBezTo>
                            <a:pt x="449139" y="600190"/>
                            <a:pt x="442856" y="629729"/>
                            <a:pt x="431493" y="656596"/>
                          </a:cubicBezTo>
                          <a:lnTo>
                            <a:pt x="397916" y="706397"/>
                          </a:lnTo>
                          <a:lnTo>
                            <a:pt x="357327" y="679031"/>
                          </a:lnTo>
                          <a:cubicBezTo>
                            <a:pt x="316523" y="661772"/>
                            <a:pt x="271661" y="652228"/>
                            <a:pt x="224570" y="652228"/>
                          </a:cubicBezTo>
                          <a:cubicBezTo>
                            <a:pt x="177479" y="652228"/>
                            <a:pt x="132617" y="661772"/>
                            <a:pt x="91814" y="679031"/>
                          </a:cubicBezTo>
                          <a:lnTo>
                            <a:pt x="51225" y="706397"/>
                          </a:lnTo>
                          <a:lnTo>
                            <a:pt x="17648" y="656596"/>
                          </a:lnTo>
                          <a:cubicBezTo>
                            <a:pt x="6285" y="629729"/>
                            <a:pt x="0" y="600190"/>
                            <a:pt x="0" y="569184"/>
                          </a:cubicBezTo>
                          <a:cubicBezTo>
                            <a:pt x="0" y="445157"/>
                            <a:pt x="100543" y="344614"/>
                            <a:pt x="224570" y="344614"/>
                          </a:cubicBezTo>
                          <a:close/>
                          <a:moveTo>
                            <a:pt x="227849" y="0"/>
                          </a:moveTo>
                          <a:cubicBezTo>
                            <a:pt x="308977" y="0"/>
                            <a:pt x="374744" y="65767"/>
                            <a:pt x="374744" y="146895"/>
                          </a:cubicBezTo>
                          <a:cubicBezTo>
                            <a:pt x="374744" y="228023"/>
                            <a:pt x="308977" y="293790"/>
                            <a:pt x="227849" y="293790"/>
                          </a:cubicBezTo>
                          <a:cubicBezTo>
                            <a:pt x="146721" y="293790"/>
                            <a:pt x="80954" y="228023"/>
                            <a:pt x="80954" y="146895"/>
                          </a:cubicBezTo>
                          <a:cubicBezTo>
                            <a:pt x="80954" y="65767"/>
                            <a:pt x="146721" y="0"/>
                            <a:pt x="227849" y="0"/>
                          </a:cubicBezTo>
                          <a:close/>
                        </a:path>
                      </a:pathLst>
                    </a:custGeom>
                    <a:solidFill>
                      <a:srgbClr val="281A42"/>
                    </a:solidFill>
                    <a:ln>
                      <a:solidFill>
                        <a:srgbClr val="281A4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solidFill>
                            <a:srgbClr val="FFFFFF"/>
                          </a:solidFill>
                        </a:defRPr>
                      </a:defPPr>
                      <a:lvl1pPr marL="0" algn="l" defTabSz="914400" rtl="0" eaLnBrk="1" latinLnBrk="0" hangingPunct="1">
                        <a:defRPr sz="1800" kern="1200">
                          <a:solidFill>
                            <a:srgbClr val="F2F2F2"/>
                          </a:solidFill>
                          <a:latin typeface="+mn-lt"/>
                          <a:ea typeface="+mn-ea"/>
                          <a:cs typeface="+mn-cs"/>
                        </a:defRPr>
                      </a:lvl1pPr>
                      <a:lvl2pPr marL="457200" algn="l" defTabSz="914400" rtl="0" eaLnBrk="1" latinLnBrk="0" hangingPunct="1">
                        <a:defRPr sz="1800" kern="1200">
                          <a:solidFill>
                            <a:srgbClr val="F2F2F2"/>
                          </a:solidFill>
                          <a:latin typeface="+mn-lt"/>
                          <a:ea typeface="+mn-ea"/>
                          <a:cs typeface="+mn-cs"/>
                        </a:defRPr>
                      </a:lvl2pPr>
                      <a:lvl3pPr marL="914400" algn="l" defTabSz="914400" rtl="0" eaLnBrk="1" latinLnBrk="0" hangingPunct="1">
                        <a:defRPr sz="1800" kern="1200">
                          <a:solidFill>
                            <a:srgbClr val="F2F2F2"/>
                          </a:solidFill>
                          <a:latin typeface="+mn-lt"/>
                          <a:ea typeface="+mn-ea"/>
                          <a:cs typeface="+mn-cs"/>
                        </a:defRPr>
                      </a:lvl3pPr>
                      <a:lvl4pPr marL="1371600" algn="l" defTabSz="914400" rtl="0" eaLnBrk="1" latinLnBrk="0" hangingPunct="1">
                        <a:defRPr sz="1800" kern="1200">
                          <a:solidFill>
                            <a:srgbClr val="F2F2F2"/>
                          </a:solidFill>
                          <a:latin typeface="+mn-lt"/>
                          <a:ea typeface="+mn-ea"/>
                          <a:cs typeface="+mn-cs"/>
                        </a:defRPr>
                      </a:lvl4pPr>
                      <a:lvl5pPr marL="1828800" algn="l" defTabSz="914400" rtl="0" eaLnBrk="1" latinLnBrk="0" hangingPunct="1">
                        <a:defRPr sz="1800" kern="1200">
                          <a:solidFill>
                            <a:srgbClr val="F2F2F2"/>
                          </a:solidFill>
                          <a:latin typeface="+mn-lt"/>
                          <a:ea typeface="+mn-ea"/>
                          <a:cs typeface="+mn-cs"/>
                        </a:defRPr>
                      </a:lvl5pPr>
                      <a:lvl6pPr marL="2286000" algn="l" defTabSz="914400" rtl="0" eaLnBrk="1" latinLnBrk="0" hangingPunct="1">
                        <a:defRPr sz="1800" kern="1200">
                          <a:solidFill>
                            <a:srgbClr val="F2F2F2"/>
                          </a:solidFill>
                          <a:latin typeface="+mn-lt"/>
                          <a:ea typeface="+mn-ea"/>
                          <a:cs typeface="+mn-cs"/>
                        </a:defRPr>
                      </a:lvl6pPr>
                      <a:lvl7pPr marL="2743200" algn="l" defTabSz="914400" rtl="0" eaLnBrk="1" latinLnBrk="0" hangingPunct="1">
                        <a:defRPr sz="1800" kern="1200">
                          <a:solidFill>
                            <a:srgbClr val="F2F2F2"/>
                          </a:solidFill>
                          <a:latin typeface="+mn-lt"/>
                          <a:ea typeface="+mn-ea"/>
                          <a:cs typeface="+mn-cs"/>
                        </a:defRPr>
                      </a:lvl7pPr>
                      <a:lvl8pPr marL="3200400" algn="l" defTabSz="914400" rtl="0" eaLnBrk="1" latinLnBrk="0" hangingPunct="1">
                        <a:defRPr sz="1800" kern="1200">
                          <a:solidFill>
                            <a:srgbClr val="F2F2F2"/>
                          </a:solidFill>
                          <a:latin typeface="+mn-lt"/>
                          <a:ea typeface="+mn-ea"/>
                          <a:cs typeface="+mn-cs"/>
                        </a:defRPr>
                      </a:lvl8pPr>
                      <a:lvl9pPr marL="3657600" algn="l" defTabSz="914400" rtl="0" eaLnBrk="1" latinLnBrk="0" hangingPunct="1">
                        <a:defRPr sz="1800" kern="1200">
                          <a:solidFill>
                            <a:srgbClr val="F2F2F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u="none" strike="noStrike" kern="1200" cap="none" spc="-10" normalizeH="0" baseline="0" noProof="0" dirty="0">
                        <a:ln>
                          <a:noFill/>
                        </a:ln>
                        <a:solidFill>
                          <a:prstClr val="white"/>
                        </a:solidFill>
                        <a:effectLst/>
                        <a:uLnTx/>
                        <a:uFillTx/>
                        <a:latin typeface="Arial" pitchFamily="34" charset="0"/>
                        <a:ea typeface="+mn-ea"/>
                        <a:cs typeface="+mn-cs"/>
                      </a:endParaRPr>
                    </a:p>
                  </p:txBody>
                </p:sp>
              </p:grpSp>
            </p:grpSp>
            <p:sp>
              <p:nvSpPr>
                <p:cNvPr id="23" name="TextBox 63">
                  <a:extLst>
                    <a:ext uri="{FF2B5EF4-FFF2-40B4-BE49-F238E27FC236}">
                      <a16:creationId xmlns:a16="http://schemas.microsoft.com/office/drawing/2014/main" id="{B6DC4FF8-E47F-DC70-4023-1A0CD75F4E5B}"/>
                    </a:ext>
                  </a:extLst>
                </p:cNvPr>
                <p:cNvSpPr txBox="1"/>
                <p:nvPr/>
              </p:nvSpPr>
              <p:spPr>
                <a:xfrm>
                  <a:off x="6269692" y="5778271"/>
                  <a:ext cx="1765244" cy="307777"/>
                </a:xfrm>
                <a:prstGeom prst="rect">
                  <a:avLst/>
                </a:prstGeom>
                <a:noFill/>
              </p:spPr>
              <p:txBody>
                <a:bodyPr wrap="square" lIns="91440" tIns="45720" rIns="91440" bIns="45720" rtlCol="0" anchor="ctr">
                  <a:spAutoFit/>
                </a:bodyPr>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10" normalizeH="0" baseline="0" noProof="0" dirty="0">
                      <a:ln>
                        <a:noFill/>
                      </a:ln>
                      <a:solidFill>
                        <a:schemeClr val="accent1"/>
                      </a:solidFill>
                      <a:effectLst/>
                      <a:uLnTx/>
                      <a:uFillTx/>
                      <a:latin typeface="Arial" pitchFamily="34" charset="0"/>
                      <a:ea typeface="+mn-ea"/>
                      <a:cs typeface="Lato Light" panose="020F0402020204030203" pitchFamily="34" charset="0"/>
                    </a:rPr>
                    <a:t>CRITICAL ROLES</a:t>
                  </a:r>
                </a:p>
              </p:txBody>
            </p:sp>
          </p:grpSp>
          <p:cxnSp>
            <p:nvCxnSpPr>
              <p:cNvPr id="20" name="Straight Arrow Connector 19">
                <a:extLst>
                  <a:ext uri="{FF2B5EF4-FFF2-40B4-BE49-F238E27FC236}">
                    <a16:creationId xmlns:a16="http://schemas.microsoft.com/office/drawing/2014/main" id="{2DB04376-D287-D9A6-577F-31BD5BDBD271}"/>
                  </a:ext>
                </a:extLst>
              </p:cNvPr>
              <p:cNvCxnSpPr>
                <a:cxnSpLocks/>
              </p:cNvCxnSpPr>
              <p:nvPr/>
            </p:nvCxnSpPr>
            <p:spPr>
              <a:xfrm>
                <a:off x="2898358" y="5206945"/>
                <a:ext cx="685800" cy="0"/>
              </a:xfrm>
              <a:prstGeom prst="straightConnector1">
                <a:avLst/>
              </a:prstGeom>
              <a:ln>
                <a:solidFill>
                  <a:srgbClr val="1D1D1D"/>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2C41B0-2019-8832-100E-A1E3878F2717}"/>
                  </a:ext>
                </a:extLst>
              </p:cNvPr>
              <p:cNvCxnSpPr>
                <a:cxnSpLocks/>
              </p:cNvCxnSpPr>
              <p:nvPr/>
            </p:nvCxnSpPr>
            <p:spPr>
              <a:xfrm>
                <a:off x="4999114" y="5206945"/>
                <a:ext cx="685800" cy="0"/>
              </a:xfrm>
              <a:prstGeom prst="straightConnector1">
                <a:avLst/>
              </a:prstGeom>
              <a:ln>
                <a:solidFill>
                  <a:srgbClr val="1D1D1D"/>
                </a:solidFill>
                <a:tailEnd type="arrow"/>
              </a:ln>
            </p:spPr>
            <p:style>
              <a:lnRef idx="1">
                <a:schemeClr val="accent1"/>
              </a:lnRef>
              <a:fillRef idx="0">
                <a:schemeClr val="accent1"/>
              </a:fillRef>
              <a:effectRef idx="0">
                <a:schemeClr val="accent1"/>
              </a:effectRef>
              <a:fontRef idx="minor">
                <a:schemeClr val="tx1"/>
              </a:fontRef>
            </p:style>
          </p:cxnSp>
        </p:grpSp>
      </p:grpSp>
      <p:cxnSp>
        <p:nvCxnSpPr>
          <p:cNvPr id="54" name="Straight Arrow Connector 53">
            <a:extLst>
              <a:ext uri="{FF2B5EF4-FFF2-40B4-BE49-F238E27FC236}">
                <a16:creationId xmlns:a16="http://schemas.microsoft.com/office/drawing/2014/main" id="{6E5D6E6E-10E8-8151-1AA4-810CC8F12C90}"/>
              </a:ext>
            </a:extLst>
          </p:cNvPr>
          <p:cNvCxnSpPr>
            <a:cxnSpLocks/>
          </p:cNvCxnSpPr>
          <p:nvPr/>
        </p:nvCxnSpPr>
        <p:spPr>
          <a:xfrm flipV="1">
            <a:off x="6741021" y="4820220"/>
            <a:ext cx="725254" cy="304225"/>
          </a:xfrm>
          <a:prstGeom prst="straightConnector1">
            <a:avLst/>
          </a:prstGeom>
          <a:ln>
            <a:solidFill>
              <a:srgbClr val="1D1D1D"/>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89D99B0-66E5-8C59-B492-2E34EC3AE6E2}"/>
              </a:ext>
            </a:extLst>
          </p:cNvPr>
          <p:cNvCxnSpPr>
            <a:cxnSpLocks/>
          </p:cNvCxnSpPr>
          <p:nvPr/>
        </p:nvCxnSpPr>
        <p:spPr>
          <a:xfrm>
            <a:off x="6741021" y="5124445"/>
            <a:ext cx="679353" cy="271556"/>
          </a:xfrm>
          <a:prstGeom prst="straightConnector1">
            <a:avLst/>
          </a:prstGeom>
          <a:ln>
            <a:solidFill>
              <a:srgbClr val="1D1D1D"/>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E1241F3-B6E2-3090-0C06-7BB1484B9B0D}"/>
              </a:ext>
            </a:extLst>
          </p:cNvPr>
          <p:cNvCxnSpPr>
            <a:cxnSpLocks/>
          </p:cNvCxnSpPr>
          <p:nvPr/>
        </p:nvCxnSpPr>
        <p:spPr>
          <a:xfrm>
            <a:off x="6752900" y="5140287"/>
            <a:ext cx="667474" cy="769054"/>
          </a:xfrm>
          <a:prstGeom prst="straightConnector1">
            <a:avLst/>
          </a:prstGeom>
          <a:ln>
            <a:solidFill>
              <a:srgbClr val="1D1D1D"/>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30CA60C-A878-DC93-DCA1-C254CC56E19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57137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5C49AF-7073-6A0C-D1F0-64D45CC36A70}"/>
              </a:ext>
            </a:extLst>
          </p:cNvPr>
          <p:cNvSpPr>
            <a:spLocks noGrp="1"/>
          </p:cNvSpPr>
          <p:nvPr>
            <p:ph type="sldNum" sz="quarter" idx="4"/>
          </p:nvPr>
        </p:nvSpPr>
        <p:spPr/>
        <p:txBody>
          <a:bodyPr/>
          <a:lstStyle/>
          <a:p>
            <a:pPr algn="ctr"/>
            <a:fld id="{1875A764-3B06-454E-8ABA-2F6ED0EB58E9}" type="slidenum">
              <a:rPr lang="en-US" smtClean="0"/>
              <a:t>27</a:t>
            </a:fld>
            <a:endParaRPr lang="en-US"/>
          </a:p>
        </p:txBody>
      </p:sp>
      <p:sp>
        <p:nvSpPr>
          <p:cNvPr id="3" name="Title 2">
            <a:extLst>
              <a:ext uri="{FF2B5EF4-FFF2-40B4-BE49-F238E27FC236}">
                <a16:creationId xmlns:a16="http://schemas.microsoft.com/office/drawing/2014/main" id="{C75C5098-3A90-ADD7-45A6-F52FE8E44EB8}"/>
              </a:ext>
            </a:extLst>
          </p:cNvPr>
          <p:cNvSpPr>
            <a:spLocks noGrp="1"/>
          </p:cNvSpPr>
          <p:nvPr>
            <p:ph type="title"/>
          </p:nvPr>
        </p:nvSpPr>
        <p:spPr/>
        <p:txBody>
          <a:bodyPr/>
          <a:lstStyle/>
          <a:p>
            <a:r>
              <a:rPr lang="en-GB" spc="-25" dirty="0"/>
              <a:t>In Each of the Hotspots</a:t>
            </a:r>
            <a:endParaRPr lang="en-US" dirty="0"/>
          </a:p>
        </p:txBody>
      </p:sp>
      <p:sp>
        <p:nvSpPr>
          <p:cNvPr id="4" name="Rectangle 3">
            <a:extLst>
              <a:ext uri="{FF2B5EF4-FFF2-40B4-BE49-F238E27FC236}">
                <a16:creationId xmlns:a16="http://schemas.microsoft.com/office/drawing/2014/main" id="{04317CB8-886B-129E-D3D1-91352056208F}"/>
              </a:ext>
            </a:extLst>
          </p:cNvPr>
          <p:cNvSpPr/>
          <p:nvPr/>
        </p:nvSpPr>
        <p:spPr>
          <a:xfrm>
            <a:off x="9507285" y="1455283"/>
            <a:ext cx="2448000" cy="720000"/>
          </a:xfrm>
          <a:prstGeom prst="rect">
            <a:avLst/>
          </a:prstGeom>
          <a:solidFill>
            <a:schemeClr val="bg1"/>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M&amp;A</a:t>
            </a:r>
          </a:p>
          <a:p>
            <a:pPr lvl="0" algn="ctr" defTabSz="1219170">
              <a:defRPr/>
            </a:pPr>
            <a:r>
              <a:rPr lang="en-GB" spc="-10" dirty="0">
                <a:solidFill>
                  <a:schemeClr val="accent1"/>
                </a:solidFill>
                <a:latin typeface="Arial" pitchFamily="34" charset="0"/>
                <a:ea typeface="Helvetica Neue" panose="02000503000000020004" pitchFamily="2" charset="0"/>
                <a:cs typeface="Helvetica Neue" panose="02000503000000020004" pitchFamily="2" charset="0"/>
              </a:rPr>
              <a:t>$ </a:t>
            </a:r>
            <a:r>
              <a:rPr lang="en-US" spc="-10" dirty="0">
                <a:solidFill>
                  <a:schemeClr val="accent1"/>
                </a:solidFill>
                <a:latin typeface="Arial" pitchFamily="34" charset="0"/>
                <a:ea typeface="Helvetica Neue" panose="02000503000000020004" pitchFamily="2" charset="0"/>
                <a:cs typeface="Helvetica Neue" panose="02000503000000020004" pitchFamily="2" charset="0"/>
              </a:rPr>
              <a:t>1700</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spc="-10" dirty="0">
                <a:solidFill>
                  <a:schemeClr val="accent1"/>
                </a:solidFill>
                <a:latin typeface="Arial" pitchFamily="34" charset="0"/>
                <a:ea typeface="Helvetica Neue" panose="02000503000000020004" pitchFamily="2" charset="0"/>
                <a:cs typeface="Helvetica Neue" panose="02000503000000020004" pitchFamily="2" charset="0"/>
              </a:rPr>
              <a:t>30</a:t>
            </a:r>
            <a:r>
              <a:rPr kumimoji="0" lang="en-US" sz="1200"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rPr>
              <a:t>%</a:t>
            </a:r>
            <a:endParaRPr kumimoji="0" lang="en-GB" sz="1200"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4">
            <a:extLst>
              <a:ext uri="{FF2B5EF4-FFF2-40B4-BE49-F238E27FC236}">
                <a16:creationId xmlns:a16="http://schemas.microsoft.com/office/drawing/2014/main" id="{6B185D66-6E73-F611-8907-56BC933D9969}"/>
              </a:ext>
            </a:extLst>
          </p:cNvPr>
          <p:cNvSpPr/>
          <p:nvPr/>
        </p:nvSpPr>
        <p:spPr>
          <a:xfrm>
            <a:off x="3544597" y="1455283"/>
            <a:ext cx="2448000" cy="720000"/>
          </a:xfrm>
          <a:prstGeom prst="rect">
            <a:avLst/>
          </a:prstGeom>
          <a:solidFill>
            <a:schemeClr val="bg1"/>
          </a:solidFill>
          <a:ln w="12700" cap="flat" cmpd="sng" algn="ctr">
            <a:solidFill>
              <a:schemeClr val="accent1"/>
            </a:solidFill>
            <a:prstDash val="solid"/>
            <a:miter lim="800000"/>
          </a:ln>
          <a:effectLst/>
        </p:spPr>
        <p:txBody>
          <a:bodyPr lIns="91440" tIns="45720" rIns="91440" bIns="45720" rtlCol="0" anchor="ctr"/>
          <a:lstStyle/>
          <a:p>
            <a:pPr lvl="0" algn="ctr" defTabSz="1219170">
              <a:defRPr/>
            </a:pPr>
            <a:r>
              <a:rPr kumimoji="0" lang="en-US" sz="120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PRODUCTIVITY</a:t>
            </a:r>
            <a:br>
              <a:rPr kumimoji="0" lang="en-US" sz="1200" u="none" strike="noStrike" kern="1200" cap="none" spc="-10" normalizeH="0" baseline="0" noProof="0" dirty="0">
                <a:ln>
                  <a:noFill/>
                </a:ln>
                <a:solidFill>
                  <a:prstClr val="black">
                    <a:lumMod val="50000"/>
                    <a:lumOff val="50000"/>
                  </a:prstClr>
                </a:solidFill>
                <a:effectLst/>
                <a:uLnTx/>
                <a:uFillTx/>
                <a:latin typeface="Arial" pitchFamily="34" charset="0"/>
                <a:ea typeface="Helvetica Neue" panose="02000503000000020004" pitchFamily="2" charset="0"/>
                <a:cs typeface="Helvetica Neue" panose="02000503000000020004" pitchFamily="2" charset="0"/>
              </a:rPr>
            </a:br>
            <a:r>
              <a:rPr lang="en-GB" spc="-10" dirty="0">
                <a:solidFill>
                  <a:schemeClr val="accent1"/>
                </a:solidFill>
                <a:latin typeface="Arial" pitchFamily="34" charset="0"/>
                <a:ea typeface="Helvetica Neue" panose="02000503000000020004" pitchFamily="2" charset="0"/>
                <a:cs typeface="Helvetica Neue" panose="02000503000000020004" pitchFamily="2" charset="0"/>
              </a:rPr>
              <a:t>$ </a:t>
            </a:r>
            <a:r>
              <a:rPr lang="en-US" spc="-10" dirty="0">
                <a:solidFill>
                  <a:schemeClr val="accent1"/>
                </a:solidFill>
                <a:latin typeface="Arial" pitchFamily="34" charset="0"/>
              </a:rPr>
              <a:t>840</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rPr>
              <a:t>10%</a:t>
            </a:r>
            <a:endParaRPr kumimoji="0" lang="en-GB" sz="1200" u="none" strike="noStrike" kern="1200" cap="none" spc="-1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EE2380A9-9AF7-A74C-7AFA-A25FC104E356}"/>
              </a:ext>
            </a:extLst>
          </p:cNvPr>
          <p:cNvSpPr/>
          <p:nvPr/>
        </p:nvSpPr>
        <p:spPr>
          <a:xfrm>
            <a:off x="563253" y="1455283"/>
            <a:ext cx="2448000" cy="72000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CORE / ORGANIC GROWTH</a:t>
            </a:r>
          </a:p>
          <a:p>
            <a:pPr algn="ctr"/>
            <a:r>
              <a:rPr lang="en-GB" spc="-10" dirty="0">
                <a:solidFill>
                  <a:schemeClr val="accent1"/>
                </a:solidFill>
                <a:latin typeface="Arial" pitchFamily="34" charset="0"/>
                <a:ea typeface="Helvetica Neue" panose="02000503000000020004" pitchFamily="2" charset="0"/>
                <a:cs typeface="Helvetica Neue" panose="02000503000000020004" pitchFamily="2" charset="0"/>
              </a:rPr>
              <a:t>$ </a:t>
            </a:r>
            <a:r>
              <a:rPr lang="en-US" spc="-10" dirty="0">
                <a:solidFill>
                  <a:schemeClr val="accent1"/>
                </a:solidFill>
                <a:latin typeface="Arial" pitchFamily="34" charset="0"/>
                <a:ea typeface="Helvetica Neue" panose="02000503000000020004" pitchFamily="2" charset="0"/>
                <a:cs typeface="Helvetica Neue" panose="02000503000000020004" pitchFamily="2" charset="0"/>
              </a:rPr>
              <a:t>1700</a:t>
            </a:r>
          </a:p>
          <a:p>
            <a:pPr algn="ctr"/>
            <a:r>
              <a:rPr lang="en-US" sz="1200" spc="-10" dirty="0">
                <a:solidFill>
                  <a:schemeClr val="accent1"/>
                </a:solidFill>
                <a:latin typeface="Arial" pitchFamily="34" charset="0"/>
                <a:ea typeface="Helvetica Neue" panose="02000503000000020004" pitchFamily="2" charset="0"/>
                <a:cs typeface="Helvetica Neue" panose="02000503000000020004" pitchFamily="2" charset="0"/>
              </a:rPr>
              <a:t>30%</a:t>
            </a:r>
            <a:endParaRPr lang="en-GB" sz="10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2E6A8EA8-A3BD-B5E7-044A-56A62E38E735}"/>
              </a:ext>
            </a:extLst>
          </p:cNvPr>
          <p:cNvSpPr/>
          <p:nvPr/>
        </p:nvSpPr>
        <p:spPr>
          <a:xfrm>
            <a:off x="6525940" y="1455283"/>
            <a:ext cx="2540421" cy="72000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NEW PRODUCTS &amp; INNOVATION</a:t>
            </a:r>
          </a:p>
          <a:p>
            <a:pPr algn="ctr"/>
            <a:r>
              <a:rPr lang="en-GB" spc="-10" dirty="0">
                <a:solidFill>
                  <a:schemeClr val="accent1"/>
                </a:solidFill>
                <a:latin typeface="Arial" pitchFamily="34" charset="0"/>
                <a:ea typeface="Helvetica Neue" panose="02000503000000020004" pitchFamily="2" charset="0"/>
                <a:cs typeface="Helvetica Neue" panose="02000503000000020004" pitchFamily="2" charset="0"/>
              </a:rPr>
              <a:t>$ </a:t>
            </a:r>
            <a:r>
              <a:rPr lang="en-US" spc="-10" dirty="0">
                <a:solidFill>
                  <a:schemeClr val="accent1"/>
                </a:solidFill>
                <a:latin typeface="Arial" pitchFamily="34" charset="0"/>
                <a:ea typeface="Helvetica Neue" panose="02000503000000020004" pitchFamily="2" charset="0"/>
                <a:cs typeface="Helvetica Neue" panose="02000503000000020004" pitchFamily="2" charset="0"/>
              </a:rPr>
              <a:t>1700</a:t>
            </a:r>
          </a:p>
          <a:p>
            <a:pPr algn="ctr"/>
            <a:r>
              <a:rPr lang="en-US" sz="1200" spc="-10" dirty="0">
                <a:solidFill>
                  <a:schemeClr val="accent1"/>
                </a:solidFill>
                <a:latin typeface="Arial" pitchFamily="34" charset="0"/>
                <a:ea typeface="Helvetica Neue" panose="02000503000000020004" pitchFamily="2" charset="0"/>
                <a:cs typeface="Helvetica Neue" panose="02000503000000020004" pitchFamily="2" charset="0"/>
              </a:rPr>
              <a:t>30%</a:t>
            </a:r>
            <a:endParaRPr lang="en-US" sz="10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cxnSp>
        <p:nvCxnSpPr>
          <p:cNvPr id="8" name="Straight Arrow Connector 7">
            <a:extLst>
              <a:ext uri="{FF2B5EF4-FFF2-40B4-BE49-F238E27FC236}">
                <a16:creationId xmlns:a16="http://schemas.microsoft.com/office/drawing/2014/main" id="{DF2D3DE5-3E9B-4E9A-5C52-E424504F93B3}"/>
              </a:ext>
            </a:extLst>
          </p:cNvPr>
          <p:cNvCxnSpPr>
            <a:cxnSpLocks/>
          </p:cNvCxnSpPr>
          <p:nvPr/>
        </p:nvCxnSpPr>
        <p:spPr>
          <a:xfrm>
            <a:off x="708282" y="5579561"/>
            <a:ext cx="10770136" cy="0"/>
          </a:xfrm>
          <a:prstGeom prst="straightConnector1">
            <a:avLst/>
          </a:prstGeom>
          <a:noFill/>
          <a:ln w="6350" cap="flat" cmpd="sng" algn="ctr">
            <a:solidFill>
              <a:schemeClr val="accent1"/>
            </a:solidFill>
            <a:prstDash val="solid"/>
            <a:miter lim="800000"/>
            <a:headEnd type="triangle"/>
            <a:tailEnd type="triangle"/>
          </a:ln>
          <a:effectLst/>
        </p:spPr>
      </p:cxnSp>
      <p:sp>
        <p:nvSpPr>
          <p:cNvPr id="9" name="TextBox 8">
            <a:extLst>
              <a:ext uri="{FF2B5EF4-FFF2-40B4-BE49-F238E27FC236}">
                <a16:creationId xmlns:a16="http://schemas.microsoft.com/office/drawing/2014/main" id="{2DA6C0B2-C84D-7C61-F594-E5DFB773DBCD}"/>
              </a:ext>
            </a:extLst>
          </p:cNvPr>
          <p:cNvSpPr txBox="1"/>
          <p:nvPr/>
        </p:nvSpPr>
        <p:spPr>
          <a:xfrm>
            <a:off x="5151430" y="5425673"/>
            <a:ext cx="1852626" cy="307777"/>
          </a:xfrm>
          <a:prstGeom prst="rect">
            <a:avLst/>
          </a:prstGeom>
          <a:solidFill>
            <a:schemeClr val="bg1"/>
          </a:solidFill>
        </p:spPr>
        <p:txBody>
          <a:bodyPr wrap="square" lIns="91440" tIns="45720" rIns="91440" bIns="4572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solidFill>
                  <a:schemeClr val="accent6"/>
                </a:solidFill>
                <a:effectLst/>
                <a:uLnTx/>
                <a:uFillTx/>
                <a:latin typeface="Arial" pitchFamily="34" charset="0"/>
                <a:ea typeface="+mn-ea"/>
                <a:cs typeface="+mn-cs"/>
              </a:rPr>
              <a:t>ENABLERS</a:t>
            </a:r>
            <a:endParaRPr kumimoji="0" lang="en-GB" sz="1400" i="0" u="none" strike="noStrike" kern="1200" cap="none" spc="-10" normalizeH="0" baseline="0" noProof="0" dirty="0">
              <a:ln>
                <a:noFill/>
              </a:ln>
              <a:solidFill>
                <a:schemeClr val="accent6"/>
              </a:solidFill>
              <a:effectLst/>
              <a:uLnTx/>
              <a:uFillTx/>
              <a:latin typeface="Arial" pitchFamily="34" charset="0"/>
              <a:ea typeface="+mn-ea"/>
              <a:cs typeface="+mn-cs"/>
            </a:endParaRPr>
          </a:p>
        </p:txBody>
      </p:sp>
      <p:sp>
        <p:nvSpPr>
          <p:cNvPr id="10" name="Rectangle 9">
            <a:extLst>
              <a:ext uri="{FF2B5EF4-FFF2-40B4-BE49-F238E27FC236}">
                <a16:creationId xmlns:a16="http://schemas.microsoft.com/office/drawing/2014/main" id="{BA32CE2A-D69F-EB5E-F944-CD1E9625D514}"/>
              </a:ext>
            </a:extLst>
          </p:cNvPr>
          <p:cNvSpPr/>
          <p:nvPr/>
        </p:nvSpPr>
        <p:spPr>
          <a:xfrm>
            <a:off x="8444355" y="5839829"/>
            <a:ext cx="3034061" cy="512014"/>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mn-ea"/>
                <a:cs typeface="+mn-cs"/>
              </a:rPr>
              <a:t>ENTERPRISE PROCESS INTEGRATION, SIMPLIFICATION</a:t>
            </a:r>
          </a:p>
        </p:txBody>
      </p:sp>
      <p:sp>
        <p:nvSpPr>
          <p:cNvPr id="11" name="Rectangle 10">
            <a:extLst>
              <a:ext uri="{FF2B5EF4-FFF2-40B4-BE49-F238E27FC236}">
                <a16:creationId xmlns:a16="http://schemas.microsoft.com/office/drawing/2014/main" id="{0940FCA9-C117-6343-E7E9-97009F6C9EC0}"/>
              </a:ext>
            </a:extLst>
          </p:cNvPr>
          <p:cNvSpPr/>
          <p:nvPr/>
        </p:nvSpPr>
        <p:spPr>
          <a:xfrm>
            <a:off x="5767939" y="5851966"/>
            <a:ext cx="2618407" cy="487741"/>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mn-ea"/>
                <a:cs typeface="+mn-cs"/>
              </a:rPr>
              <a:t>DIGITALIZATION</a:t>
            </a:r>
          </a:p>
        </p:txBody>
      </p:sp>
      <p:sp>
        <p:nvSpPr>
          <p:cNvPr id="12" name="Rectangle 11">
            <a:extLst>
              <a:ext uri="{FF2B5EF4-FFF2-40B4-BE49-F238E27FC236}">
                <a16:creationId xmlns:a16="http://schemas.microsoft.com/office/drawing/2014/main" id="{9F03127F-1E81-E885-670A-30F5103AC688}"/>
              </a:ext>
            </a:extLst>
          </p:cNvPr>
          <p:cNvSpPr/>
          <p:nvPr/>
        </p:nvSpPr>
        <p:spPr>
          <a:xfrm>
            <a:off x="708281" y="5849368"/>
            <a:ext cx="2443843" cy="492937"/>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mn-ea"/>
                <a:cs typeface="+mn-cs"/>
              </a:rPr>
              <a:t>TALENT, TEAMS &amp; ORGANIZATION</a:t>
            </a:r>
            <a:endParaRPr kumimoji="0" lang="en-GB" sz="1400" i="0" u="none" strike="noStrike" kern="1200" cap="none" spc="-10" normalizeH="0" baseline="0" noProof="0" dirty="0">
              <a:ln>
                <a:noFill/>
              </a:ln>
              <a:effectLst/>
              <a:uLnTx/>
              <a:uFillTx/>
              <a:latin typeface="Arial" pitchFamily="34" charset="0"/>
              <a:ea typeface="+mn-ea"/>
              <a:cs typeface="+mn-cs"/>
            </a:endParaRPr>
          </a:p>
        </p:txBody>
      </p:sp>
      <p:sp>
        <p:nvSpPr>
          <p:cNvPr id="13" name="Rectangle 12">
            <a:extLst>
              <a:ext uri="{FF2B5EF4-FFF2-40B4-BE49-F238E27FC236}">
                <a16:creationId xmlns:a16="http://schemas.microsoft.com/office/drawing/2014/main" id="{5D3A3EF3-0DBC-3CC3-B4C1-0840ECFAE21F}"/>
              </a:ext>
            </a:extLst>
          </p:cNvPr>
          <p:cNvSpPr/>
          <p:nvPr/>
        </p:nvSpPr>
        <p:spPr>
          <a:xfrm>
            <a:off x="3266087" y="5849368"/>
            <a:ext cx="2443843" cy="492937"/>
          </a:xfrm>
          <a:prstGeom prst="rect">
            <a:avLst/>
          </a:prstGeom>
          <a:solidFill>
            <a:schemeClr val="bg2"/>
          </a:solidFill>
          <a:ln w="12700" cap="flat" cmpd="sng" algn="ctr">
            <a:solidFill>
              <a:schemeClr val="accent1"/>
            </a:solidFill>
            <a:prstDash val="solid"/>
            <a:miter lim="800000"/>
          </a:ln>
          <a:effectLst/>
        </p:spPr>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spc="-10" dirty="0">
                <a:latin typeface="Arial" pitchFamily="34" charset="0"/>
              </a:rPr>
              <a:t>CHANGE </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spc="-10" dirty="0">
                <a:latin typeface="Arial" pitchFamily="34" charset="0"/>
              </a:rPr>
              <a:t>MANAGEMENT</a:t>
            </a:r>
            <a:endParaRPr kumimoji="0" lang="en-GB" sz="1400" i="0" u="none" strike="noStrike" kern="1200" cap="none" spc="-10" normalizeH="0" baseline="0" noProof="0" dirty="0">
              <a:ln>
                <a:noFill/>
              </a:ln>
              <a:effectLst/>
              <a:uLnTx/>
              <a:uFillTx/>
              <a:latin typeface="Arial" pitchFamily="34" charset="0"/>
              <a:ea typeface="+mn-ea"/>
              <a:cs typeface="+mn-cs"/>
            </a:endParaRPr>
          </a:p>
        </p:txBody>
      </p:sp>
      <p:sp>
        <p:nvSpPr>
          <p:cNvPr id="14" name="Rectangle 13">
            <a:extLst>
              <a:ext uri="{FF2B5EF4-FFF2-40B4-BE49-F238E27FC236}">
                <a16:creationId xmlns:a16="http://schemas.microsoft.com/office/drawing/2014/main" id="{5C71B64E-5709-326E-3E30-60B5641A0928}"/>
              </a:ext>
            </a:extLst>
          </p:cNvPr>
          <p:cNvSpPr/>
          <p:nvPr/>
        </p:nvSpPr>
        <p:spPr>
          <a:xfrm>
            <a:off x="572680" y="2284443"/>
            <a:ext cx="11392032" cy="40535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t>CRITICAL ROLES @ EACH HOTSPOT</a:t>
            </a:r>
          </a:p>
        </p:txBody>
      </p:sp>
      <p:graphicFrame>
        <p:nvGraphicFramePr>
          <p:cNvPr id="15" name="Table 14">
            <a:extLst>
              <a:ext uri="{FF2B5EF4-FFF2-40B4-BE49-F238E27FC236}">
                <a16:creationId xmlns:a16="http://schemas.microsoft.com/office/drawing/2014/main" id="{611E7EE4-D45D-6F4D-3CBD-D73C8C0D24A7}"/>
              </a:ext>
            </a:extLst>
          </p:cNvPr>
          <p:cNvGraphicFramePr>
            <a:graphicFrameLocks noGrp="1"/>
          </p:cNvGraphicFramePr>
          <p:nvPr>
            <p:extLst>
              <p:ext uri="{D42A27DB-BD31-4B8C-83A1-F6EECF244321}">
                <p14:modId xmlns:p14="http://schemas.microsoft.com/office/powerpoint/2010/main" val="2517998971"/>
              </p:ext>
            </p:extLst>
          </p:nvPr>
        </p:nvGraphicFramePr>
        <p:xfrm>
          <a:off x="572680" y="2824953"/>
          <a:ext cx="2579445" cy="2367280"/>
        </p:xfrm>
        <a:graphic>
          <a:graphicData uri="http://schemas.openxmlformats.org/drawingml/2006/table">
            <a:tbl>
              <a:tblPr firstRow="1">
                <a:tableStyleId>{B301B821-A1FF-4177-AEE7-76D212191A09}</a:tableStyleId>
              </a:tblPr>
              <a:tblGrid>
                <a:gridCol w="1469921">
                  <a:extLst>
                    <a:ext uri="{9D8B030D-6E8A-4147-A177-3AD203B41FA5}">
                      <a16:colId xmlns:a16="http://schemas.microsoft.com/office/drawing/2014/main" val="1130257440"/>
                    </a:ext>
                  </a:extLst>
                </a:gridCol>
                <a:gridCol w="536632">
                  <a:extLst>
                    <a:ext uri="{9D8B030D-6E8A-4147-A177-3AD203B41FA5}">
                      <a16:colId xmlns:a16="http://schemas.microsoft.com/office/drawing/2014/main" val="963184346"/>
                    </a:ext>
                  </a:extLst>
                </a:gridCol>
                <a:gridCol w="572892">
                  <a:extLst>
                    <a:ext uri="{9D8B030D-6E8A-4147-A177-3AD203B41FA5}">
                      <a16:colId xmlns:a16="http://schemas.microsoft.com/office/drawing/2014/main" val="2373575332"/>
                    </a:ext>
                  </a:extLst>
                </a:gridCol>
              </a:tblGrid>
              <a:tr h="368300">
                <a:tc>
                  <a:txBody>
                    <a:bodyPr/>
                    <a:lstStyle/>
                    <a:p>
                      <a:pPr algn="l" fontAlgn="b">
                        <a:buNone/>
                      </a:pPr>
                      <a:r>
                        <a:rPr lang="en-GB" sz="1100" b="1" u="none" strike="noStrike" dirty="0">
                          <a:solidFill>
                            <a:srgbClr val="FFFFFF"/>
                          </a:solidFill>
                          <a:effectLst/>
                        </a:rPr>
                        <a:t>CRITICAL ROLE</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VALUE %</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ROLE VALUE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781523741"/>
                  </a:ext>
                </a:extLst>
              </a:tr>
              <a:tr h="184150">
                <a:tc>
                  <a:txBody>
                    <a:bodyPr/>
                    <a:lstStyle/>
                    <a:p>
                      <a:pPr algn="l" fontAlgn="b">
                        <a:buNone/>
                      </a:pPr>
                      <a:r>
                        <a:rPr lang="en-GB" sz="1100" u="none" strike="noStrike" dirty="0">
                          <a:effectLst/>
                        </a:rPr>
                        <a:t>BU Head</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$255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131620269"/>
                  </a:ext>
                </a:extLst>
              </a:tr>
              <a:tr h="184150">
                <a:tc>
                  <a:txBody>
                    <a:bodyPr/>
                    <a:lstStyle/>
                    <a:p>
                      <a:pPr algn="l" fontAlgn="b">
                        <a:buNone/>
                      </a:pPr>
                      <a:r>
                        <a:rPr lang="en-GB" sz="1100" u="none" strike="noStrike" dirty="0">
                          <a:solidFill>
                            <a:srgbClr val="00C27A"/>
                          </a:solidFill>
                          <a:effectLst/>
                        </a:rPr>
                        <a:t>Market Intelligence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a:effectLst/>
                        </a:rPr>
                        <a:t>15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$255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882942554"/>
                  </a:ext>
                </a:extLst>
              </a:tr>
              <a:tr h="184150">
                <a:tc>
                  <a:txBody>
                    <a:bodyPr/>
                    <a:lstStyle/>
                    <a:p>
                      <a:pPr algn="l" fontAlgn="b">
                        <a:buNone/>
                      </a:pPr>
                      <a:r>
                        <a:rPr lang="en-GB" sz="1100" u="none" strike="noStrike" dirty="0">
                          <a:effectLst/>
                        </a:rPr>
                        <a:t>Category Lead 1</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$170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591255803"/>
                  </a:ext>
                </a:extLst>
              </a:tr>
              <a:tr h="184150">
                <a:tc>
                  <a:txBody>
                    <a:bodyPr/>
                    <a:lstStyle/>
                    <a:p>
                      <a:pPr algn="l" fontAlgn="b">
                        <a:buNone/>
                      </a:pPr>
                      <a:r>
                        <a:rPr lang="en-GB" sz="1100" u="none" strike="noStrike" dirty="0">
                          <a:effectLst/>
                        </a:rPr>
                        <a:t>Category Lead 2</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$170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697026081"/>
                  </a:ext>
                </a:extLst>
              </a:tr>
              <a:tr h="184150">
                <a:tc>
                  <a:txBody>
                    <a:bodyPr/>
                    <a:lstStyle/>
                    <a:p>
                      <a:pPr algn="l" fontAlgn="b">
                        <a:buNone/>
                      </a:pPr>
                      <a:r>
                        <a:rPr lang="en-GB" sz="1100" u="none" strike="noStrike">
                          <a:effectLst/>
                        </a:rPr>
                        <a:t>Regional Sales Lead 1</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$255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518099308"/>
                  </a:ext>
                </a:extLst>
              </a:tr>
              <a:tr h="184150">
                <a:tc>
                  <a:txBody>
                    <a:bodyPr/>
                    <a:lstStyle/>
                    <a:p>
                      <a:pPr algn="l" fontAlgn="b">
                        <a:buNone/>
                      </a:pPr>
                      <a:r>
                        <a:rPr lang="en-GB" sz="1100" u="none" strike="noStrike">
                          <a:effectLst/>
                        </a:rPr>
                        <a:t>Regional Sales Lead 2</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15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a:solidFill>
                            <a:srgbClr val="1D1D1D"/>
                          </a:solidFill>
                          <a:effectLst/>
                        </a:rPr>
                        <a:t>$255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160766621"/>
                  </a:ext>
                </a:extLst>
              </a:tr>
              <a:tr h="184150">
                <a:tc>
                  <a:txBody>
                    <a:bodyPr/>
                    <a:lstStyle/>
                    <a:p>
                      <a:pPr algn="l" fontAlgn="b">
                        <a:buNone/>
                      </a:pPr>
                      <a:r>
                        <a:rPr lang="en-GB" sz="1100" u="none" strike="noStrike">
                          <a:effectLst/>
                        </a:rPr>
                        <a:t>Pricing</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dirty="0">
                          <a:solidFill>
                            <a:srgbClr val="1D1D1D"/>
                          </a:solidFill>
                          <a:effectLst/>
                        </a:rPr>
                        <a:t>$85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235345747"/>
                  </a:ext>
                </a:extLst>
              </a:tr>
              <a:tr h="184150">
                <a:tc>
                  <a:txBody>
                    <a:bodyPr/>
                    <a:lstStyle/>
                    <a:p>
                      <a:pPr algn="l" fontAlgn="b">
                        <a:buNone/>
                      </a:pPr>
                      <a:r>
                        <a:rPr lang="en-GB" sz="1100" u="none" strike="noStrike">
                          <a:effectLst/>
                        </a:rPr>
                        <a:t>Finance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dirty="0">
                          <a:solidFill>
                            <a:srgbClr val="1D1D1D"/>
                          </a:solidFill>
                          <a:effectLst/>
                        </a:rPr>
                        <a:t>$85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4242130009"/>
                  </a:ext>
                </a:extLst>
              </a:tr>
              <a:tr h="184150">
                <a:tc>
                  <a:txBody>
                    <a:bodyPr/>
                    <a:lstStyle/>
                    <a:p>
                      <a:pPr algn="l" fontAlgn="b">
                        <a:buNone/>
                      </a:pPr>
                      <a:r>
                        <a:rPr lang="en-GB" sz="1100" u="none" strike="noStrike">
                          <a:effectLst/>
                        </a:rPr>
                        <a:t>Digital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dirty="0">
                          <a:solidFill>
                            <a:srgbClr val="1D1D1D"/>
                          </a:solidFill>
                          <a:effectLst/>
                        </a:rPr>
                        <a:t>$85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471763269"/>
                  </a:ext>
                </a:extLst>
              </a:tr>
              <a:tr h="184150">
                <a:tc>
                  <a:txBody>
                    <a:bodyPr/>
                    <a:lstStyle/>
                    <a:p>
                      <a:pPr algn="l" fontAlgn="b">
                        <a:buNone/>
                      </a:pPr>
                      <a:r>
                        <a:rPr lang="en-GB" sz="1100" u="none" strike="noStrike">
                          <a:effectLst/>
                        </a:rPr>
                        <a:t>HR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b="0" u="none" strike="noStrike" dirty="0">
                          <a:solidFill>
                            <a:srgbClr val="1D1D1D"/>
                          </a:solidFill>
                          <a:effectLst/>
                        </a:rPr>
                        <a:t>$85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509635183"/>
                  </a:ext>
                </a:extLst>
              </a:tr>
            </a:tbl>
          </a:graphicData>
        </a:graphic>
      </p:graphicFrame>
      <p:graphicFrame>
        <p:nvGraphicFramePr>
          <p:cNvPr id="16" name="Table 15">
            <a:extLst>
              <a:ext uri="{FF2B5EF4-FFF2-40B4-BE49-F238E27FC236}">
                <a16:creationId xmlns:a16="http://schemas.microsoft.com/office/drawing/2014/main" id="{409872F5-6E8A-7E76-8741-E86DF144EEEE}"/>
              </a:ext>
            </a:extLst>
          </p:cNvPr>
          <p:cNvGraphicFramePr>
            <a:graphicFrameLocks noGrp="1"/>
          </p:cNvGraphicFramePr>
          <p:nvPr>
            <p:extLst>
              <p:ext uri="{D42A27DB-BD31-4B8C-83A1-F6EECF244321}">
                <p14:modId xmlns:p14="http://schemas.microsoft.com/office/powerpoint/2010/main" val="1220416326"/>
              </p:ext>
            </p:extLst>
          </p:nvPr>
        </p:nvGraphicFramePr>
        <p:xfrm>
          <a:off x="3550443" y="2828028"/>
          <a:ext cx="2442154" cy="1657350"/>
        </p:xfrm>
        <a:graphic>
          <a:graphicData uri="http://schemas.openxmlformats.org/drawingml/2006/table">
            <a:tbl>
              <a:tblPr firstRow="1">
                <a:tableStyleId>{B301B821-A1FF-4177-AEE7-76D212191A09}</a:tableStyleId>
              </a:tblPr>
              <a:tblGrid>
                <a:gridCol w="1349934">
                  <a:extLst>
                    <a:ext uri="{9D8B030D-6E8A-4147-A177-3AD203B41FA5}">
                      <a16:colId xmlns:a16="http://schemas.microsoft.com/office/drawing/2014/main" val="2849745087"/>
                    </a:ext>
                  </a:extLst>
                </a:gridCol>
                <a:gridCol w="516575">
                  <a:extLst>
                    <a:ext uri="{9D8B030D-6E8A-4147-A177-3AD203B41FA5}">
                      <a16:colId xmlns:a16="http://schemas.microsoft.com/office/drawing/2014/main" val="775546496"/>
                    </a:ext>
                  </a:extLst>
                </a:gridCol>
                <a:gridCol w="575645">
                  <a:extLst>
                    <a:ext uri="{9D8B030D-6E8A-4147-A177-3AD203B41FA5}">
                      <a16:colId xmlns:a16="http://schemas.microsoft.com/office/drawing/2014/main" val="3278229930"/>
                    </a:ext>
                  </a:extLst>
                </a:gridCol>
              </a:tblGrid>
              <a:tr h="368300">
                <a:tc>
                  <a:txBody>
                    <a:bodyPr/>
                    <a:lstStyle/>
                    <a:p>
                      <a:pPr algn="l" fontAlgn="b">
                        <a:buNone/>
                      </a:pPr>
                      <a:r>
                        <a:rPr lang="en-GB" sz="1100" b="1" u="none" strike="noStrike">
                          <a:solidFill>
                            <a:srgbClr val="FFFFFF"/>
                          </a:solidFill>
                          <a:effectLst/>
                        </a:rPr>
                        <a:t>CRITICAL ROLE</a:t>
                      </a:r>
                      <a:endParaRPr lang="en-GB" sz="1100" b="0" i="0" u="none" strike="noStrike">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VALUE %</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ROLE VALUE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715969029"/>
                  </a:ext>
                </a:extLst>
              </a:tr>
              <a:tr h="184150">
                <a:tc>
                  <a:txBody>
                    <a:bodyPr/>
                    <a:lstStyle/>
                    <a:p>
                      <a:pPr algn="l" fontAlgn="b">
                        <a:buNone/>
                      </a:pPr>
                      <a:r>
                        <a:rPr lang="en-GB" sz="1100" u="none" strike="noStrike" dirty="0">
                          <a:effectLst/>
                        </a:rPr>
                        <a:t>Head of </a:t>
                      </a:r>
                      <a:r>
                        <a:rPr lang="en-GB" sz="1100" u="none" strike="noStrike" dirty="0" err="1">
                          <a:effectLst/>
                        </a:rPr>
                        <a:t>Gl</a:t>
                      </a:r>
                      <a:r>
                        <a:rPr lang="en-GB" sz="1100" u="none" strike="noStrike" dirty="0">
                          <a:effectLst/>
                        </a:rPr>
                        <a:t> Ops</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20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$168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786801698"/>
                  </a:ext>
                </a:extLst>
              </a:tr>
              <a:tr h="184150">
                <a:tc>
                  <a:txBody>
                    <a:bodyPr/>
                    <a:lstStyle/>
                    <a:p>
                      <a:pPr algn="l" fontAlgn="b">
                        <a:buNone/>
                      </a:pPr>
                      <a:r>
                        <a:rPr lang="en-GB" sz="1100" u="none" strike="noStrike" dirty="0">
                          <a:effectLst/>
                        </a:rPr>
                        <a:t>HR BP</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$126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926243985"/>
                  </a:ext>
                </a:extLst>
              </a:tr>
              <a:tr h="184150">
                <a:tc>
                  <a:txBody>
                    <a:bodyPr/>
                    <a:lstStyle/>
                    <a:p>
                      <a:pPr algn="l" fontAlgn="b">
                        <a:buNone/>
                      </a:pPr>
                      <a:r>
                        <a:rPr lang="en-GB" sz="1100" u="none" strike="noStrike" dirty="0">
                          <a:solidFill>
                            <a:srgbClr val="00C27A"/>
                          </a:solidFill>
                          <a:effectLst/>
                        </a:rPr>
                        <a:t>Digital Ops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dirty="0">
                          <a:effectLst/>
                        </a:rPr>
                        <a:t>15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$126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368069582"/>
                  </a:ext>
                </a:extLst>
              </a:tr>
              <a:tr h="184150">
                <a:tc>
                  <a:txBody>
                    <a:bodyPr/>
                    <a:lstStyle/>
                    <a:p>
                      <a:pPr algn="l" fontAlgn="b">
                        <a:buNone/>
                      </a:pPr>
                      <a:r>
                        <a:rPr lang="en-GB" sz="1100" u="none" strike="noStrike">
                          <a:effectLst/>
                        </a:rPr>
                        <a:t>IT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12.5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$105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906657382"/>
                  </a:ext>
                </a:extLst>
              </a:tr>
              <a:tr h="184150">
                <a:tc>
                  <a:txBody>
                    <a:bodyPr/>
                    <a:lstStyle/>
                    <a:p>
                      <a:pPr algn="l" fontAlgn="b">
                        <a:buNone/>
                      </a:pPr>
                      <a:r>
                        <a:rPr lang="en-GB" sz="1100" u="none" strike="noStrike" dirty="0">
                          <a:solidFill>
                            <a:srgbClr val="00C27A"/>
                          </a:solidFill>
                          <a:effectLst/>
                        </a:rPr>
                        <a:t>Internal PMO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dirty="0">
                          <a:effectLst/>
                        </a:rPr>
                        <a:t>17.5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$147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758151244"/>
                  </a:ext>
                </a:extLst>
              </a:tr>
              <a:tr h="184150">
                <a:tc>
                  <a:txBody>
                    <a:bodyPr/>
                    <a:lstStyle/>
                    <a:p>
                      <a:pPr algn="l" fontAlgn="b">
                        <a:buNone/>
                      </a:pPr>
                      <a:r>
                        <a:rPr lang="en-GB" sz="1100" u="none" strike="noStrike" dirty="0">
                          <a:solidFill>
                            <a:srgbClr val="00C27A"/>
                          </a:solidFill>
                          <a:effectLst/>
                        </a:rPr>
                        <a:t>Analyst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$84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316672803"/>
                  </a:ext>
                </a:extLst>
              </a:tr>
              <a:tr h="184150">
                <a:tc>
                  <a:txBody>
                    <a:bodyPr/>
                    <a:lstStyle/>
                    <a:p>
                      <a:pPr algn="l" fontAlgn="b">
                        <a:buNone/>
                      </a:pPr>
                      <a:r>
                        <a:rPr lang="en-GB" sz="1100" u="none" strike="noStrike">
                          <a:effectLst/>
                        </a:rPr>
                        <a:t>Finance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$84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604258728"/>
                  </a:ext>
                </a:extLst>
              </a:tr>
            </a:tbl>
          </a:graphicData>
        </a:graphic>
      </p:graphicFrame>
      <p:graphicFrame>
        <p:nvGraphicFramePr>
          <p:cNvPr id="17" name="Table 16">
            <a:extLst>
              <a:ext uri="{FF2B5EF4-FFF2-40B4-BE49-F238E27FC236}">
                <a16:creationId xmlns:a16="http://schemas.microsoft.com/office/drawing/2014/main" id="{A76FAC36-9A45-8554-2770-7A8B2406B5B7}"/>
              </a:ext>
            </a:extLst>
          </p:cNvPr>
          <p:cNvGraphicFramePr>
            <a:graphicFrameLocks noGrp="1"/>
          </p:cNvGraphicFramePr>
          <p:nvPr>
            <p:extLst>
              <p:ext uri="{D42A27DB-BD31-4B8C-83A1-F6EECF244321}">
                <p14:modId xmlns:p14="http://schemas.microsoft.com/office/powerpoint/2010/main" val="394395496"/>
              </p:ext>
            </p:extLst>
          </p:nvPr>
        </p:nvGraphicFramePr>
        <p:xfrm>
          <a:off x="6522360" y="2832469"/>
          <a:ext cx="2451581" cy="1657350"/>
        </p:xfrm>
        <a:graphic>
          <a:graphicData uri="http://schemas.openxmlformats.org/drawingml/2006/table">
            <a:tbl>
              <a:tblPr firstRow="1">
                <a:tableStyleId>{B301B821-A1FF-4177-AEE7-76D212191A09}</a:tableStyleId>
              </a:tblPr>
              <a:tblGrid>
                <a:gridCol w="1244253">
                  <a:extLst>
                    <a:ext uri="{9D8B030D-6E8A-4147-A177-3AD203B41FA5}">
                      <a16:colId xmlns:a16="http://schemas.microsoft.com/office/drawing/2014/main" val="3212763459"/>
                    </a:ext>
                  </a:extLst>
                </a:gridCol>
                <a:gridCol w="579033">
                  <a:extLst>
                    <a:ext uri="{9D8B030D-6E8A-4147-A177-3AD203B41FA5}">
                      <a16:colId xmlns:a16="http://schemas.microsoft.com/office/drawing/2014/main" val="3633084768"/>
                    </a:ext>
                  </a:extLst>
                </a:gridCol>
                <a:gridCol w="628295">
                  <a:extLst>
                    <a:ext uri="{9D8B030D-6E8A-4147-A177-3AD203B41FA5}">
                      <a16:colId xmlns:a16="http://schemas.microsoft.com/office/drawing/2014/main" val="3313544231"/>
                    </a:ext>
                  </a:extLst>
                </a:gridCol>
              </a:tblGrid>
              <a:tr h="368300">
                <a:tc>
                  <a:txBody>
                    <a:bodyPr/>
                    <a:lstStyle/>
                    <a:p>
                      <a:pPr algn="l" fontAlgn="b">
                        <a:buNone/>
                      </a:pPr>
                      <a:r>
                        <a:rPr lang="en-GB" sz="1100" b="1" u="none" strike="noStrike">
                          <a:solidFill>
                            <a:srgbClr val="FFFFFF"/>
                          </a:solidFill>
                          <a:effectLst/>
                        </a:rPr>
                        <a:t>CRITICAL ROLE</a:t>
                      </a:r>
                      <a:endParaRPr lang="en-GB" sz="1100" b="0" i="0" u="none" strike="noStrike">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VALUE %</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ROLE VALUE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511254659"/>
                  </a:ext>
                </a:extLst>
              </a:tr>
              <a:tr h="184150">
                <a:tc>
                  <a:txBody>
                    <a:bodyPr/>
                    <a:lstStyle/>
                    <a:p>
                      <a:pPr algn="l"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882835092"/>
                  </a:ext>
                </a:extLst>
              </a:tr>
              <a:tr h="184150">
                <a:tc>
                  <a:txBody>
                    <a:bodyPr/>
                    <a:lstStyle/>
                    <a:p>
                      <a:pPr algn="l"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769207832"/>
                  </a:ext>
                </a:extLst>
              </a:tr>
              <a:tr h="184150">
                <a:tc>
                  <a:txBody>
                    <a:bodyPr/>
                    <a:lstStyle/>
                    <a:p>
                      <a:pPr algn="l"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773813984"/>
                  </a:ext>
                </a:extLst>
              </a:tr>
              <a:tr h="184150">
                <a:tc>
                  <a:txBody>
                    <a:bodyPr/>
                    <a:lstStyle/>
                    <a:p>
                      <a:pPr algn="l"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894382837"/>
                  </a:ext>
                </a:extLst>
              </a:tr>
              <a:tr h="184150">
                <a:tc>
                  <a:txBody>
                    <a:bodyPr/>
                    <a:lstStyle/>
                    <a:p>
                      <a:pPr algn="l"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627412933"/>
                  </a:ext>
                </a:extLst>
              </a:tr>
              <a:tr h="184150">
                <a:tc>
                  <a:txBody>
                    <a:bodyPr/>
                    <a:lstStyle/>
                    <a:p>
                      <a:pPr algn="l"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500915905"/>
                  </a:ext>
                </a:extLst>
              </a:tr>
              <a:tr h="184150">
                <a:tc>
                  <a:txBody>
                    <a:bodyPr/>
                    <a:lstStyle/>
                    <a:p>
                      <a:pPr algn="l"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2338577057"/>
                  </a:ext>
                </a:extLst>
              </a:tr>
            </a:tbl>
          </a:graphicData>
        </a:graphic>
      </p:graphicFrame>
      <p:graphicFrame>
        <p:nvGraphicFramePr>
          <p:cNvPr id="18" name="Table 17">
            <a:extLst>
              <a:ext uri="{FF2B5EF4-FFF2-40B4-BE49-F238E27FC236}">
                <a16:creationId xmlns:a16="http://schemas.microsoft.com/office/drawing/2014/main" id="{8FBC3DF6-DFC6-DB82-5BE1-F4DB10DB61B2}"/>
              </a:ext>
            </a:extLst>
          </p:cNvPr>
          <p:cNvGraphicFramePr>
            <a:graphicFrameLocks noGrp="1"/>
          </p:cNvGraphicFramePr>
          <p:nvPr>
            <p:extLst>
              <p:ext uri="{D42A27DB-BD31-4B8C-83A1-F6EECF244321}">
                <p14:modId xmlns:p14="http://schemas.microsoft.com/office/powerpoint/2010/main" val="2648828793"/>
              </p:ext>
            </p:extLst>
          </p:nvPr>
        </p:nvGraphicFramePr>
        <p:xfrm>
          <a:off x="9510794" y="2824953"/>
          <a:ext cx="2451581" cy="1945640"/>
        </p:xfrm>
        <a:graphic>
          <a:graphicData uri="http://schemas.openxmlformats.org/drawingml/2006/table">
            <a:tbl>
              <a:tblPr firstRow="1">
                <a:tableStyleId>{B301B821-A1FF-4177-AEE7-76D212191A09}</a:tableStyleId>
              </a:tblPr>
              <a:tblGrid>
                <a:gridCol w="1158853">
                  <a:extLst>
                    <a:ext uri="{9D8B030D-6E8A-4147-A177-3AD203B41FA5}">
                      <a16:colId xmlns:a16="http://schemas.microsoft.com/office/drawing/2014/main" val="902509596"/>
                    </a:ext>
                  </a:extLst>
                </a:gridCol>
                <a:gridCol w="534647">
                  <a:extLst>
                    <a:ext uri="{9D8B030D-6E8A-4147-A177-3AD203B41FA5}">
                      <a16:colId xmlns:a16="http://schemas.microsoft.com/office/drawing/2014/main" val="2569265472"/>
                    </a:ext>
                  </a:extLst>
                </a:gridCol>
                <a:gridCol w="758081">
                  <a:extLst>
                    <a:ext uri="{9D8B030D-6E8A-4147-A177-3AD203B41FA5}">
                      <a16:colId xmlns:a16="http://schemas.microsoft.com/office/drawing/2014/main" val="3919478481"/>
                    </a:ext>
                  </a:extLst>
                </a:gridCol>
              </a:tblGrid>
              <a:tr h="368300">
                <a:tc>
                  <a:txBody>
                    <a:bodyPr/>
                    <a:lstStyle/>
                    <a:p>
                      <a:pPr algn="l" fontAlgn="b">
                        <a:buNone/>
                      </a:pPr>
                      <a:r>
                        <a:rPr lang="en-GB" sz="1100" b="1" u="none" strike="noStrike" dirty="0">
                          <a:solidFill>
                            <a:srgbClr val="FFFFFF"/>
                          </a:solidFill>
                          <a:effectLst/>
                        </a:rPr>
                        <a:t>CRITICAL ROLE</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VALUE %</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ctr" fontAlgn="b">
                        <a:buNone/>
                      </a:pPr>
                      <a:r>
                        <a:rPr lang="en-GB" sz="1100" b="1" u="none" strike="noStrike" dirty="0">
                          <a:solidFill>
                            <a:srgbClr val="FFFFFF"/>
                          </a:solidFill>
                          <a:effectLst/>
                        </a:rPr>
                        <a:t>ROLE VALUE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653300833"/>
                  </a:ext>
                </a:extLst>
              </a:tr>
              <a:tr h="184150">
                <a:tc>
                  <a:txBody>
                    <a:bodyPr/>
                    <a:lstStyle/>
                    <a:p>
                      <a:pPr algn="l" fontAlgn="b">
                        <a:buNone/>
                      </a:pPr>
                      <a:r>
                        <a:rPr lang="en-GB" sz="1100" u="none" strike="noStrike" dirty="0">
                          <a:effectLst/>
                        </a:rPr>
                        <a:t>Head of M&amp;A</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25</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$425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017080739"/>
                  </a:ext>
                </a:extLst>
              </a:tr>
              <a:tr h="184150">
                <a:tc>
                  <a:txBody>
                    <a:bodyPr/>
                    <a:lstStyle/>
                    <a:p>
                      <a:pPr algn="l" fontAlgn="b">
                        <a:buNone/>
                      </a:pPr>
                      <a:r>
                        <a:rPr lang="en-GB" sz="1100" u="none" strike="noStrike" dirty="0">
                          <a:solidFill>
                            <a:srgbClr val="00C27A"/>
                          </a:solidFill>
                          <a:effectLst/>
                        </a:rPr>
                        <a:t>Integration Lead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dirty="0">
                          <a:effectLst/>
                        </a:rPr>
                        <a:t>25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$425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005623882"/>
                  </a:ext>
                </a:extLst>
              </a:tr>
              <a:tr h="184150">
                <a:tc>
                  <a:txBody>
                    <a:bodyPr/>
                    <a:lstStyle/>
                    <a:p>
                      <a:pPr algn="l" fontAlgn="b">
                        <a:buNone/>
                      </a:pPr>
                      <a:r>
                        <a:rPr lang="en-GB" sz="1100" u="none" strike="noStrike" dirty="0">
                          <a:effectLst/>
                        </a:rPr>
                        <a:t>Head of Local BU</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20</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$340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899120358"/>
                  </a:ext>
                </a:extLst>
              </a:tr>
              <a:tr h="184150">
                <a:tc>
                  <a:txBody>
                    <a:bodyPr/>
                    <a:lstStyle/>
                    <a:p>
                      <a:pPr algn="l" fontAlgn="b">
                        <a:buNone/>
                      </a:pPr>
                      <a:r>
                        <a:rPr lang="en-GB" sz="1100" u="none" strike="noStrike" dirty="0">
                          <a:solidFill>
                            <a:srgbClr val="00C27A"/>
                          </a:solidFill>
                          <a:effectLst/>
                        </a:rPr>
                        <a:t>Finance Lead M&amp;A NEW</a:t>
                      </a:r>
                      <a:endParaRPr lang="en-GB" sz="1100" b="0" i="0" u="none" strike="noStrike" dirty="0">
                        <a:solidFill>
                          <a:srgbClr val="00C27A"/>
                        </a:solidFill>
                        <a:effectLst/>
                        <a:latin typeface="Arial" pitchFamily="34" charset="0"/>
                      </a:endParaRPr>
                    </a:p>
                  </a:txBody>
                  <a:tcPr marL="6350" marR="6350" marT="6350" marB="0" anchor="b"/>
                </a:tc>
                <a:tc>
                  <a:txBody>
                    <a:bodyPr/>
                    <a:lstStyle/>
                    <a:p>
                      <a:pPr algn="r" fontAlgn="b">
                        <a:buNone/>
                      </a:pPr>
                      <a:r>
                        <a:rPr lang="en-GB" sz="1100" u="none" strike="noStrike" dirty="0">
                          <a:effectLst/>
                        </a:rPr>
                        <a:t>15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$255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802774918"/>
                  </a:ext>
                </a:extLst>
              </a:tr>
              <a:tr h="184150">
                <a:tc>
                  <a:txBody>
                    <a:bodyPr/>
                    <a:lstStyle/>
                    <a:p>
                      <a:pPr algn="l" fontAlgn="b">
                        <a:buNone/>
                      </a:pPr>
                      <a:r>
                        <a:rPr lang="en-GB" sz="1100" u="none" strike="noStrike">
                          <a:effectLst/>
                        </a:rPr>
                        <a:t>Head of Local Sales</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10</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a:effectLst/>
                        </a:rPr>
                        <a:t>$170 </a:t>
                      </a:r>
                      <a:endParaRPr lang="en-GB" sz="1100" b="0" i="0" u="none" strike="noStrike">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1814811774"/>
                  </a:ext>
                </a:extLst>
              </a:tr>
              <a:tr h="184150">
                <a:tc>
                  <a:txBody>
                    <a:bodyPr/>
                    <a:lstStyle/>
                    <a:p>
                      <a:pPr algn="l" fontAlgn="b">
                        <a:buNone/>
                      </a:pPr>
                      <a:r>
                        <a:rPr lang="en-GB" sz="1100" u="none" strike="noStrike">
                          <a:effectLst/>
                        </a:rPr>
                        <a:t>HR BP</a:t>
                      </a:r>
                      <a:endParaRPr lang="en-GB" sz="1100" b="0" i="0" u="none" strike="noStrike">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5</a:t>
                      </a:r>
                      <a:endParaRPr lang="en-GB" sz="1100" b="0" i="0" u="none" strike="noStrike" dirty="0">
                        <a:solidFill>
                          <a:srgbClr val="1D1D1D"/>
                        </a:solidFill>
                        <a:effectLst/>
                        <a:latin typeface="Arial" pitchFamily="34" charset="0"/>
                      </a:endParaRPr>
                    </a:p>
                  </a:txBody>
                  <a:tcPr marL="6350" marR="6350" marT="6350" marB="0" anchor="b"/>
                </a:tc>
                <a:tc>
                  <a:txBody>
                    <a:bodyPr/>
                    <a:lstStyle/>
                    <a:p>
                      <a:pPr algn="r" fontAlgn="b">
                        <a:buNone/>
                      </a:pPr>
                      <a:r>
                        <a:rPr lang="en-GB" sz="1100" u="none" strike="noStrike" dirty="0">
                          <a:effectLst/>
                        </a:rPr>
                        <a:t>$85 </a:t>
                      </a:r>
                      <a:endParaRPr lang="en-GB" sz="1100" b="0" i="0" u="none" strike="noStrike" dirty="0">
                        <a:solidFill>
                          <a:srgbClr val="1D1D1D"/>
                        </a:solidFill>
                        <a:effectLst/>
                        <a:latin typeface="Arial" pitchFamily="34" charset="0"/>
                      </a:endParaRPr>
                    </a:p>
                  </a:txBody>
                  <a:tcPr marL="6350" marR="6350" marT="6350" marB="0" anchor="b"/>
                </a:tc>
                <a:extLst>
                  <a:ext uri="{0D108BD9-81ED-4DB2-BD59-A6C34878D82A}">
                    <a16:rowId xmlns:a16="http://schemas.microsoft.com/office/drawing/2014/main" val="3770418173"/>
                  </a:ext>
                </a:extLst>
              </a:tr>
            </a:tbl>
          </a:graphicData>
        </a:graphic>
      </p:graphicFrame>
      <p:sp>
        <p:nvSpPr>
          <p:cNvPr id="19" name="Rectangle 18">
            <a:extLst>
              <a:ext uri="{FF2B5EF4-FFF2-40B4-BE49-F238E27FC236}">
                <a16:creationId xmlns:a16="http://schemas.microsoft.com/office/drawing/2014/main" id="{59C70A69-2379-D5DC-C84D-085BDED499CD}"/>
              </a:ext>
            </a:extLst>
          </p:cNvPr>
          <p:cNvSpPr/>
          <p:nvPr/>
        </p:nvSpPr>
        <p:spPr>
          <a:xfrm>
            <a:off x="10878292" y="5132346"/>
            <a:ext cx="1074656" cy="21775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dirty="0"/>
              <a:t>NEW ROLE</a:t>
            </a:r>
          </a:p>
        </p:txBody>
      </p:sp>
      <p:sp>
        <p:nvSpPr>
          <p:cNvPr id="20" name="TextBox 19">
            <a:extLst>
              <a:ext uri="{FF2B5EF4-FFF2-40B4-BE49-F238E27FC236}">
                <a16:creationId xmlns:a16="http://schemas.microsoft.com/office/drawing/2014/main" id="{BA4399AA-EC79-8B58-5C15-71AB5368775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325725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16DC74-78CC-F539-1462-0C248E3F5E41}"/>
              </a:ext>
            </a:extLst>
          </p:cNvPr>
          <p:cNvSpPr>
            <a:spLocks noGrp="1"/>
          </p:cNvSpPr>
          <p:nvPr>
            <p:ph type="sldNum" sz="quarter" idx="4"/>
          </p:nvPr>
        </p:nvSpPr>
        <p:spPr/>
        <p:txBody>
          <a:bodyPr/>
          <a:lstStyle/>
          <a:p>
            <a:pPr algn="ctr"/>
            <a:fld id="{1875A764-3B06-454E-8ABA-2F6ED0EB58E9}" type="slidenum">
              <a:rPr lang="en-US" smtClean="0"/>
              <a:t>28</a:t>
            </a:fld>
            <a:endParaRPr lang="en-US"/>
          </a:p>
        </p:txBody>
      </p:sp>
      <p:sp>
        <p:nvSpPr>
          <p:cNvPr id="3" name="Title 2">
            <a:extLst>
              <a:ext uri="{FF2B5EF4-FFF2-40B4-BE49-F238E27FC236}">
                <a16:creationId xmlns:a16="http://schemas.microsoft.com/office/drawing/2014/main" id="{5B63F0D3-9C6E-5C38-3D14-F5833786C69D}"/>
              </a:ext>
            </a:extLst>
          </p:cNvPr>
          <p:cNvSpPr>
            <a:spLocks noGrp="1"/>
          </p:cNvSpPr>
          <p:nvPr>
            <p:ph type="title"/>
          </p:nvPr>
        </p:nvSpPr>
        <p:spPr/>
        <p:txBody>
          <a:bodyPr/>
          <a:lstStyle/>
          <a:p>
            <a:r>
              <a:rPr lang="en-US" spc="-25" dirty="0"/>
              <a:t>And Rank Roles to Generate </a:t>
            </a:r>
            <a:r>
              <a:rPr lang="en-US" spc="-25" dirty="0">
                <a:solidFill>
                  <a:schemeClr val="accent1"/>
                </a:solidFill>
              </a:rPr>
              <a:t>/LIST</a:t>
            </a:r>
            <a:endParaRPr lang="en-US" dirty="0"/>
          </a:p>
        </p:txBody>
      </p:sp>
      <p:sp>
        <p:nvSpPr>
          <p:cNvPr id="4" name="Rectangle 3">
            <a:extLst>
              <a:ext uri="{FF2B5EF4-FFF2-40B4-BE49-F238E27FC236}">
                <a16:creationId xmlns:a16="http://schemas.microsoft.com/office/drawing/2014/main" id="{A784F9A2-DB3A-5653-2866-10C1A6B373B8}"/>
              </a:ext>
            </a:extLst>
          </p:cNvPr>
          <p:cNvSpPr/>
          <p:nvPr/>
        </p:nvSpPr>
        <p:spPr>
          <a:xfrm>
            <a:off x="4015486" y="5834799"/>
            <a:ext cx="8026385" cy="535574"/>
          </a:xfrm>
          <a:prstGeom prst="rect">
            <a:avLst/>
          </a:prstGeom>
          <a:solidFill>
            <a:srgbClr val="F2F2F2"/>
          </a:solidFill>
          <a:ln w="9525">
            <a:solidFill>
              <a:srgbClr val="281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351" dirty="0"/>
          </a:p>
        </p:txBody>
      </p:sp>
      <p:sp>
        <p:nvSpPr>
          <p:cNvPr id="5" name="TextBox 4">
            <a:extLst>
              <a:ext uri="{FF2B5EF4-FFF2-40B4-BE49-F238E27FC236}">
                <a16:creationId xmlns:a16="http://schemas.microsoft.com/office/drawing/2014/main" id="{5BF0F406-9C37-CFA4-224D-9E23692A0261}"/>
              </a:ext>
            </a:extLst>
          </p:cNvPr>
          <p:cNvSpPr txBox="1"/>
          <p:nvPr/>
        </p:nvSpPr>
        <p:spPr>
          <a:xfrm>
            <a:off x="6205780" y="5441279"/>
            <a:ext cx="1671491" cy="787039"/>
          </a:xfrm>
          <a:prstGeom prst="rect">
            <a:avLst/>
          </a:prstGeom>
          <a:solidFill>
            <a:schemeClr val="accent1"/>
          </a:solidFill>
          <a:ln>
            <a:solidFill>
              <a:srgbClr val="281A42"/>
            </a:solidFill>
          </a:ln>
          <a:effectLst/>
        </p:spPr>
        <p:txBody>
          <a:bodyPr wrap="square" lIns="91440" tIns="45720" rIns="91440" bIns="45720" rtlCol="0" anchor="ctr">
            <a:noAutofit/>
          </a:bodyPr>
          <a:lstStyle/>
          <a:p>
            <a:pPr algn="ctr"/>
            <a:r>
              <a:rPr lang="en-US" sz="1351" spc="-10" dirty="0">
                <a:solidFill>
                  <a:schemeClr val="bg2"/>
                </a:solidFill>
                <a:latin typeface="Arial" pitchFamily="34" charset="0"/>
                <a:cs typeface="Lato Light" panose="020F0402020204030203" pitchFamily="34" charset="0"/>
              </a:rPr>
              <a:t>50% Roles</a:t>
            </a:r>
            <a:endParaRPr lang="en-US" sz="1400" spc="-10" dirty="0">
              <a:solidFill>
                <a:schemeClr val="bg2"/>
              </a:solidFill>
              <a:latin typeface="Arial" pitchFamily="34" charset="0"/>
              <a:cs typeface="Lato Light" panose="020F0402020204030203" pitchFamily="34" charset="0"/>
            </a:endParaRPr>
          </a:p>
          <a:p>
            <a:pPr algn="ctr"/>
            <a:r>
              <a:rPr lang="en-US" sz="1400" spc="-10" dirty="0">
                <a:solidFill>
                  <a:schemeClr val="bg2"/>
                </a:solidFill>
                <a:latin typeface="Arial" pitchFamily="34" charset="0"/>
                <a:cs typeface="Lato Light" panose="020F0402020204030203" pitchFamily="34" charset="0"/>
              </a:rPr>
              <a:t>N-3 &amp; below</a:t>
            </a:r>
          </a:p>
        </p:txBody>
      </p:sp>
      <p:sp>
        <p:nvSpPr>
          <p:cNvPr id="6" name="TextBox 5">
            <a:extLst>
              <a:ext uri="{FF2B5EF4-FFF2-40B4-BE49-F238E27FC236}">
                <a16:creationId xmlns:a16="http://schemas.microsoft.com/office/drawing/2014/main" id="{1C1FEF7E-58DE-F5D6-2C22-81C9C769E8E5}"/>
              </a:ext>
            </a:extLst>
          </p:cNvPr>
          <p:cNvSpPr txBox="1"/>
          <p:nvPr/>
        </p:nvSpPr>
        <p:spPr>
          <a:xfrm>
            <a:off x="8180183" y="5441278"/>
            <a:ext cx="1671491" cy="787039"/>
          </a:xfrm>
          <a:prstGeom prst="rect">
            <a:avLst/>
          </a:prstGeom>
          <a:solidFill>
            <a:schemeClr val="accent1"/>
          </a:solidFill>
          <a:ln>
            <a:solidFill>
              <a:srgbClr val="281A42"/>
            </a:solidFill>
          </a:ln>
          <a:effectLst/>
        </p:spPr>
        <p:txBody>
          <a:bodyPr wrap="square" lIns="91440" tIns="45720" rIns="91440" bIns="45720" rtlCol="0" anchor="ctr">
            <a:noAutofit/>
          </a:bodyPr>
          <a:lstStyle/>
          <a:p>
            <a:pPr algn="ctr"/>
            <a:r>
              <a:rPr lang="en-US" sz="1351" spc="-10" dirty="0">
                <a:solidFill>
                  <a:schemeClr val="bg2"/>
                </a:solidFill>
                <a:latin typeface="Arial" pitchFamily="34" charset="0"/>
                <a:cs typeface="Lato Light" panose="020F0402020204030203" pitchFamily="34" charset="0"/>
              </a:rPr>
              <a:t>3 New Roles</a:t>
            </a:r>
          </a:p>
          <a:p>
            <a:pPr algn="ctr"/>
            <a:r>
              <a:rPr lang="en-US" sz="1351" spc="-10" dirty="0">
                <a:solidFill>
                  <a:schemeClr val="bg2"/>
                </a:solidFill>
                <a:latin typeface="Arial" pitchFamily="34" charset="0"/>
                <a:cs typeface="Lato Light" panose="020F0402020204030203" pitchFamily="34" charset="0"/>
              </a:rPr>
              <a:t>7 Vacant</a:t>
            </a:r>
          </a:p>
        </p:txBody>
      </p:sp>
      <p:sp>
        <p:nvSpPr>
          <p:cNvPr id="7" name="TextBox 6">
            <a:extLst>
              <a:ext uri="{FF2B5EF4-FFF2-40B4-BE49-F238E27FC236}">
                <a16:creationId xmlns:a16="http://schemas.microsoft.com/office/drawing/2014/main" id="{5A1973B3-1F95-0B63-9E8A-DFE4BC688349}"/>
              </a:ext>
            </a:extLst>
          </p:cNvPr>
          <p:cNvSpPr txBox="1"/>
          <p:nvPr/>
        </p:nvSpPr>
        <p:spPr>
          <a:xfrm>
            <a:off x="10154587" y="5420497"/>
            <a:ext cx="1671491" cy="787039"/>
          </a:xfrm>
          <a:prstGeom prst="rect">
            <a:avLst/>
          </a:prstGeom>
          <a:solidFill>
            <a:schemeClr val="accent1"/>
          </a:solidFill>
          <a:ln>
            <a:solidFill>
              <a:srgbClr val="281A42"/>
            </a:solidFill>
          </a:ln>
          <a:effectLst/>
        </p:spPr>
        <p:txBody>
          <a:bodyPr wrap="square" lIns="91440" tIns="45720" rIns="91440" bIns="45720" rtlCol="0" anchor="ctr">
            <a:noAutofit/>
          </a:bodyPr>
          <a:lstStyle/>
          <a:p>
            <a:pPr algn="ctr"/>
            <a:r>
              <a:rPr lang="en-US" sz="1351" spc="-10" dirty="0">
                <a:solidFill>
                  <a:schemeClr val="bg2"/>
                </a:solidFill>
                <a:latin typeface="Arial" pitchFamily="34" charset="0"/>
                <a:cs typeface="Lato Light" panose="020F0402020204030203" pitchFamily="34" charset="0"/>
              </a:rPr>
              <a:t>22 Roles</a:t>
            </a:r>
            <a:br>
              <a:rPr lang="en-US" sz="1351" spc="-10" dirty="0">
                <a:solidFill>
                  <a:schemeClr val="bg2"/>
                </a:solidFill>
                <a:latin typeface="Arial" pitchFamily="34" charset="0"/>
                <a:cs typeface="Lato Light" panose="020F0402020204030203" pitchFamily="34" charset="0"/>
              </a:rPr>
            </a:br>
            <a:r>
              <a:rPr lang="en-US" sz="1351" spc="-10" dirty="0">
                <a:solidFill>
                  <a:schemeClr val="bg2"/>
                </a:solidFill>
                <a:latin typeface="Arial" pitchFamily="34" charset="0"/>
                <a:cs typeface="Lato Light" panose="020F0402020204030203" pitchFamily="34" charset="0"/>
              </a:rPr>
              <a:t>Global Functions (non BU)</a:t>
            </a:r>
          </a:p>
        </p:txBody>
      </p:sp>
      <p:sp>
        <p:nvSpPr>
          <p:cNvPr id="8" name="TextBox 7">
            <a:extLst>
              <a:ext uri="{FF2B5EF4-FFF2-40B4-BE49-F238E27FC236}">
                <a16:creationId xmlns:a16="http://schemas.microsoft.com/office/drawing/2014/main" id="{ACF6F7BA-5D45-1531-DB8E-1A86837F48FD}"/>
              </a:ext>
            </a:extLst>
          </p:cNvPr>
          <p:cNvSpPr txBox="1"/>
          <p:nvPr/>
        </p:nvSpPr>
        <p:spPr>
          <a:xfrm>
            <a:off x="4231377" y="5453979"/>
            <a:ext cx="1671491" cy="787039"/>
          </a:xfrm>
          <a:prstGeom prst="rect">
            <a:avLst/>
          </a:prstGeom>
          <a:solidFill>
            <a:schemeClr val="accent1"/>
          </a:solidFill>
          <a:ln>
            <a:solidFill>
              <a:srgbClr val="281A42"/>
            </a:solidFill>
          </a:ln>
          <a:effectLst/>
        </p:spPr>
        <p:txBody>
          <a:bodyPr wrap="square" lIns="91440" tIns="45720" rIns="91440" bIns="45720" rtlCol="0" anchor="ctr">
            <a:noAutofit/>
          </a:bodyPr>
          <a:lstStyle/>
          <a:p>
            <a:pPr algn="ctr"/>
            <a:r>
              <a:rPr lang="en-US" sz="1351" spc="-10" dirty="0">
                <a:solidFill>
                  <a:schemeClr val="bg2"/>
                </a:solidFill>
                <a:latin typeface="Arial" pitchFamily="34" charset="0"/>
                <a:cs typeface="Lato Light" panose="020F0402020204030203" pitchFamily="34" charset="0"/>
              </a:rPr>
              <a:t>22 Roles</a:t>
            </a:r>
            <a:endParaRPr lang="en-US" sz="1400" spc="-10" dirty="0">
              <a:solidFill>
                <a:schemeClr val="bg2"/>
              </a:solidFill>
              <a:latin typeface="Arial" pitchFamily="34" charset="0"/>
              <a:cs typeface="Lato Light" panose="020F0402020204030203" pitchFamily="34" charset="0"/>
            </a:endParaRPr>
          </a:p>
          <a:p>
            <a:pPr algn="ctr"/>
            <a:r>
              <a:rPr lang="en-US" sz="1400" spc="-10" dirty="0">
                <a:solidFill>
                  <a:schemeClr val="bg2"/>
                </a:solidFill>
                <a:latin typeface="Arial" pitchFamily="34" charset="0"/>
                <a:cs typeface="Lato Light" panose="020F0402020204030203" pitchFamily="34" charset="0"/>
              </a:rPr>
              <a:t>c.80% of value </a:t>
            </a:r>
          </a:p>
        </p:txBody>
      </p:sp>
      <p:pic>
        <p:nvPicPr>
          <p:cNvPr id="9" name="Picture 8" descr="A graph with a red line&#10;&#10;AI-generated content may be incorrect.">
            <a:extLst>
              <a:ext uri="{FF2B5EF4-FFF2-40B4-BE49-F238E27FC236}">
                <a16:creationId xmlns:a16="http://schemas.microsoft.com/office/drawing/2014/main" id="{073BA068-9691-6157-093F-62061EA22E08}"/>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776" r="1"/>
          <a:stretch/>
        </p:blipFill>
        <p:spPr>
          <a:xfrm>
            <a:off x="4035006" y="1147840"/>
            <a:ext cx="7791072" cy="3868705"/>
          </a:xfrm>
          <a:prstGeom prst="rect">
            <a:avLst/>
          </a:prstGeom>
          <a:solidFill>
            <a:schemeClr val="accent1"/>
          </a:solidFill>
          <a:ln>
            <a:solidFill>
              <a:srgbClr val="F2F2F2"/>
            </a:solidFill>
          </a:ln>
        </p:spPr>
      </p:pic>
      <p:pic>
        <p:nvPicPr>
          <p:cNvPr id="10" name="Picture 9" descr="A screenshot of a table&#10;&#10;AI-generated content may be incorrect.">
            <a:extLst>
              <a:ext uri="{FF2B5EF4-FFF2-40B4-BE49-F238E27FC236}">
                <a16:creationId xmlns:a16="http://schemas.microsoft.com/office/drawing/2014/main" id="{B52ABAEA-C5BD-B0B3-FAC5-159FBD6B7DF2}"/>
              </a:ext>
            </a:extLst>
          </p:cNvPr>
          <p:cNvPicPr>
            <a:picLocks noChangeAspect="1"/>
          </p:cNvPicPr>
          <p:nvPr/>
        </p:nvPicPr>
        <p:blipFill>
          <a:blip r:embed="rId3">
            <a:duotone>
              <a:schemeClr val="accent1">
                <a:shade val="45000"/>
                <a:satMod val="135000"/>
              </a:schemeClr>
              <a:prstClr val="white"/>
            </a:duotone>
          </a:blip>
          <a:srcRect r="46003"/>
          <a:stretch>
            <a:fillRect/>
          </a:stretch>
        </p:blipFill>
        <p:spPr>
          <a:xfrm>
            <a:off x="344367" y="1141589"/>
            <a:ext cx="2654744" cy="4787945"/>
          </a:xfrm>
          <a:prstGeom prst="rect">
            <a:avLst/>
          </a:prstGeom>
        </p:spPr>
      </p:pic>
      <p:sp>
        <p:nvSpPr>
          <p:cNvPr id="11" name="Isosceles Triangle 5">
            <a:extLst>
              <a:ext uri="{FF2B5EF4-FFF2-40B4-BE49-F238E27FC236}">
                <a16:creationId xmlns:a16="http://schemas.microsoft.com/office/drawing/2014/main" id="{6505E2C4-D887-9D98-4174-ABBB8D602B7B}"/>
              </a:ext>
            </a:extLst>
          </p:cNvPr>
          <p:cNvSpPr/>
          <p:nvPr/>
        </p:nvSpPr>
        <p:spPr>
          <a:xfrm rot="5400000">
            <a:off x="1242658" y="3299768"/>
            <a:ext cx="4607097" cy="48836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12" name="TextBox 11">
            <a:extLst>
              <a:ext uri="{FF2B5EF4-FFF2-40B4-BE49-F238E27FC236}">
                <a16:creationId xmlns:a16="http://schemas.microsoft.com/office/drawing/2014/main" id="{36DE6FC3-7BD5-B350-B04F-7323A1EDB4B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8892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B5423D-E905-286F-668D-D2F9E8170D60}"/>
              </a:ext>
            </a:extLst>
          </p:cNvPr>
          <p:cNvSpPr>
            <a:spLocks noGrp="1"/>
          </p:cNvSpPr>
          <p:nvPr>
            <p:ph type="sldNum" sz="quarter" idx="4"/>
          </p:nvPr>
        </p:nvSpPr>
        <p:spPr/>
        <p:txBody>
          <a:bodyPr/>
          <a:lstStyle/>
          <a:p>
            <a:pPr algn="ctr"/>
            <a:fld id="{1875A764-3B06-454E-8ABA-2F6ED0EB58E9}" type="slidenum">
              <a:rPr lang="en-US" smtClean="0"/>
              <a:t>29</a:t>
            </a:fld>
            <a:endParaRPr lang="en-US"/>
          </a:p>
        </p:txBody>
      </p:sp>
      <p:sp>
        <p:nvSpPr>
          <p:cNvPr id="3" name="Title 2">
            <a:extLst>
              <a:ext uri="{FF2B5EF4-FFF2-40B4-BE49-F238E27FC236}">
                <a16:creationId xmlns:a16="http://schemas.microsoft.com/office/drawing/2014/main" id="{4BDD3ED8-F4D1-E974-B917-594918E77438}"/>
              </a:ext>
            </a:extLst>
          </p:cNvPr>
          <p:cNvSpPr>
            <a:spLocks noGrp="1"/>
          </p:cNvSpPr>
          <p:nvPr>
            <p:ph type="title"/>
          </p:nvPr>
        </p:nvSpPr>
        <p:spPr/>
        <p:txBody>
          <a:bodyPr/>
          <a:lstStyle/>
          <a:p>
            <a:r>
              <a:rPr lang="en-US" spc="-25" dirty="0"/>
              <a:t>We Connect </a:t>
            </a:r>
            <a:r>
              <a:rPr lang="en-US" spc="-25" dirty="0" err="1"/>
              <a:t>Work•Role•Talent</a:t>
            </a:r>
            <a:endParaRPr lang="en-US" dirty="0"/>
          </a:p>
        </p:txBody>
      </p:sp>
      <p:grpSp>
        <p:nvGrpSpPr>
          <p:cNvPr id="4" name="Group 3">
            <a:extLst>
              <a:ext uri="{FF2B5EF4-FFF2-40B4-BE49-F238E27FC236}">
                <a16:creationId xmlns:a16="http://schemas.microsoft.com/office/drawing/2014/main" id="{348557D2-161C-7928-1B89-37157D71633A}"/>
              </a:ext>
            </a:extLst>
          </p:cNvPr>
          <p:cNvGrpSpPr/>
          <p:nvPr/>
        </p:nvGrpSpPr>
        <p:grpSpPr>
          <a:xfrm>
            <a:off x="724052" y="1396934"/>
            <a:ext cx="10743896" cy="3385445"/>
            <a:chOff x="543039" y="1047700"/>
            <a:chExt cx="8057922" cy="2539084"/>
          </a:xfrm>
        </p:grpSpPr>
        <p:sp>
          <p:nvSpPr>
            <p:cNvPr id="5" name="Rectangle 4">
              <a:extLst>
                <a:ext uri="{FF2B5EF4-FFF2-40B4-BE49-F238E27FC236}">
                  <a16:creationId xmlns:a16="http://schemas.microsoft.com/office/drawing/2014/main" id="{021BA919-8D9E-8C6F-F1ED-517FEA3B5346}"/>
                </a:ext>
              </a:extLst>
            </p:cNvPr>
            <p:cNvSpPr/>
            <p:nvPr/>
          </p:nvSpPr>
          <p:spPr>
            <a:xfrm>
              <a:off x="543039" y="2154417"/>
              <a:ext cx="8057922" cy="1432367"/>
            </a:xfrm>
            <a:prstGeom prst="rect">
              <a:avLst/>
            </a:prstGeom>
            <a:solidFill>
              <a:srgbClr val="D0D7DF"/>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dirty="0">
                <a:latin typeface="Arial" pitchFamily="34"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B234FDD4-688B-D9F6-8E4E-D15447705FF8}"/>
                </a:ext>
              </a:extLst>
            </p:cNvPr>
            <p:cNvSpPr/>
            <p:nvPr/>
          </p:nvSpPr>
          <p:spPr>
            <a:xfrm>
              <a:off x="3666219" y="1459013"/>
              <a:ext cx="1802602" cy="1935459"/>
            </a:xfrm>
            <a:prstGeom prst="rect">
              <a:avLst/>
            </a:prstGeom>
            <a:solidFill>
              <a:srgbClr val="DAD4F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JOBS TO BE DONE </a:t>
              </a:r>
              <a:br>
                <a:rPr lang="en-US" sz="1400" spc="-10" dirty="0">
                  <a:solidFill>
                    <a:srgbClr val="1D1D1D"/>
                  </a:solidFill>
                  <a:latin typeface="Arial" pitchFamily="34" charset="0"/>
                  <a:ea typeface="Helvetica Neue" panose="02000503000000020004" pitchFamily="2" charset="0"/>
                  <a:cs typeface="Helvetica Neue" panose="02000503000000020004" pitchFamily="2" charset="0"/>
                </a:rPr>
              </a:b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(JTBD)</a:t>
              </a:r>
            </a:p>
            <a:p>
              <a:pPr algn="ctr"/>
              <a:endParaRPr lang="en-US" sz="1200" spc="-10" dirty="0">
                <a:solidFill>
                  <a:srgbClr val="1D1D1D"/>
                </a:solidFill>
                <a:latin typeface="Arial" pitchFamily="34" charset="0"/>
                <a:ea typeface="Helvetica Neue" panose="02000503000000020004" pitchFamily="2" charset="0"/>
                <a:cs typeface="Helvetica Neue" panose="02000503000000020004" pitchFamily="2" charset="0"/>
              </a:endParaRPr>
            </a:p>
            <a:p>
              <a:pPr algn="ctr"/>
              <a:r>
                <a:rPr lang="en-US" sz="1600" spc="-10" dirty="0">
                  <a:solidFill>
                    <a:srgbClr val="1D1D1D"/>
                  </a:solidFill>
                  <a:latin typeface="Arial" pitchFamily="34" charset="0"/>
                  <a:ea typeface="Helvetica Neue" panose="02000503000000020004" pitchFamily="2" charset="0"/>
                  <a:cs typeface="Helvetica Neue" panose="02000503000000020004" pitchFamily="2" charset="0"/>
                </a:rPr>
                <a:t>The three to five key actions and outcomes that must be delivered by the ROLE•TALENT combination</a:t>
              </a:r>
            </a:p>
          </p:txBody>
        </p:sp>
        <p:grpSp>
          <p:nvGrpSpPr>
            <p:cNvPr id="7" name="Group 6">
              <a:extLst>
                <a:ext uri="{FF2B5EF4-FFF2-40B4-BE49-F238E27FC236}">
                  <a16:creationId xmlns:a16="http://schemas.microsoft.com/office/drawing/2014/main" id="{8F4EF32F-58BD-B53F-BEBC-02AA1D54E109}"/>
                </a:ext>
              </a:extLst>
            </p:cNvPr>
            <p:cNvGrpSpPr/>
            <p:nvPr/>
          </p:nvGrpSpPr>
          <p:grpSpPr>
            <a:xfrm>
              <a:off x="5785522" y="1459015"/>
              <a:ext cx="2670395" cy="1935458"/>
              <a:chOff x="6570202" y="3050809"/>
              <a:chExt cx="3560527" cy="2580610"/>
            </a:xfrm>
          </p:grpSpPr>
          <p:sp>
            <p:nvSpPr>
              <p:cNvPr id="17" name="Rectangle 16">
                <a:extLst>
                  <a:ext uri="{FF2B5EF4-FFF2-40B4-BE49-F238E27FC236}">
                    <a16:creationId xmlns:a16="http://schemas.microsoft.com/office/drawing/2014/main" id="{45AB4DE9-E2CF-8888-14C7-052447009B5F}"/>
                  </a:ext>
                </a:extLst>
              </p:cNvPr>
              <p:cNvSpPr/>
              <p:nvPr/>
            </p:nvSpPr>
            <p:spPr>
              <a:xfrm>
                <a:off x="6570202" y="3050809"/>
                <a:ext cx="3560527" cy="2580610"/>
              </a:xfrm>
              <a:prstGeom prst="rect">
                <a:avLst/>
              </a:prstGeom>
              <a:solidFill>
                <a:srgbClr val="F2F2F2"/>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dirty="0">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92DD648E-5A20-18E9-E204-BE52CD97B9BB}"/>
                  </a:ext>
                </a:extLst>
              </p:cNvPr>
              <p:cNvSpPr txBox="1"/>
              <p:nvPr/>
            </p:nvSpPr>
            <p:spPr>
              <a:xfrm>
                <a:off x="7490312" y="3278509"/>
                <a:ext cx="2286000" cy="2125210"/>
              </a:xfrm>
              <a:prstGeom prst="rect">
                <a:avLst/>
              </a:prstGeom>
              <a:noFill/>
            </p:spPr>
            <p:txBody>
              <a:bodyPr wrap="square" lIns="91440" tIns="45720" rIns="91440" bIns="45720" rtlCol="0" anchor="ctr">
                <a:noAutofit/>
              </a:bodyPr>
              <a:lstStyle/>
              <a:p>
                <a:r>
                  <a:rPr lang="en-US" sz="1400" spc="-10" dirty="0">
                    <a:solidFill>
                      <a:schemeClr val="accent1"/>
                    </a:solidFill>
                    <a:latin typeface="Arial" pitchFamily="34" charset="0"/>
                    <a:ea typeface="Helvetica Neue" panose="02000503000000020004" pitchFamily="2" charset="0"/>
                    <a:cs typeface="Helvetica Neue" panose="02000503000000020004" pitchFamily="2" charset="0"/>
                  </a:rPr>
                  <a:t>TALENT</a:t>
                </a: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 RISKS</a:t>
                </a:r>
              </a:p>
              <a:p>
                <a:r>
                  <a:rPr lang="en-US" sz="1600" spc="-10" dirty="0">
                    <a:solidFill>
                      <a:srgbClr val="1D1D1D"/>
                    </a:solidFill>
                    <a:latin typeface="Arial" pitchFamily="34" charset="0"/>
                    <a:ea typeface="Helvetica Neue" panose="02000503000000020004" pitchFamily="2" charset="0"/>
                    <a:cs typeface="Helvetica Neue" panose="02000503000000020004" pitchFamily="2" charset="0"/>
                  </a:rPr>
                  <a:t>Evidence collected on four talent features filtered through the lens of the Jobs to Be Done</a:t>
                </a:r>
                <a:endParaRPr lang="en-US" sz="1200" spc="-10" dirty="0">
                  <a:solidFill>
                    <a:srgbClr val="1D1D1D"/>
                  </a:solidFill>
                  <a:latin typeface="Arial" pitchFamily="34" charset="0"/>
                  <a:ea typeface="Helvetica Neue" panose="02000503000000020004" pitchFamily="2" charset="0"/>
                  <a:cs typeface="Helvetica Neue" panose="02000503000000020004" pitchFamily="2" charset="0"/>
                </a:endParaRPr>
              </a:p>
            </p:txBody>
          </p:sp>
        </p:grpSp>
        <p:sp>
          <p:nvSpPr>
            <p:cNvPr id="8" name="Rectangle 7">
              <a:extLst>
                <a:ext uri="{FF2B5EF4-FFF2-40B4-BE49-F238E27FC236}">
                  <a16:creationId xmlns:a16="http://schemas.microsoft.com/office/drawing/2014/main" id="{C3C5D848-3B01-45E6-B249-A72CE9913BD8}"/>
                </a:ext>
              </a:extLst>
            </p:cNvPr>
            <p:cNvSpPr/>
            <p:nvPr/>
          </p:nvSpPr>
          <p:spPr>
            <a:xfrm>
              <a:off x="688084" y="1459015"/>
              <a:ext cx="2670395" cy="1935459"/>
            </a:xfrm>
            <a:prstGeom prst="rect">
              <a:avLst/>
            </a:prstGeom>
            <a:solidFill>
              <a:srgbClr val="F2F2F2"/>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dirty="0">
                <a:latin typeface="Arial" pitchFamily="34" charset="0"/>
                <a:ea typeface="Helvetica Neue" panose="020005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A53F82C3-E847-EE11-CCC8-D79D6499AE21}"/>
                </a:ext>
              </a:extLst>
            </p:cNvPr>
            <p:cNvSpPr txBox="1"/>
            <p:nvPr/>
          </p:nvSpPr>
          <p:spPr>
            <a:xfrm>
              <a:off x="741167" y="1629792"/>
              <a:ext cx="1714500" cy="1593907"/>
            </a:xfrm>
            <a:prstGeom prst="rect">
              <a:avLst/>
            </a:prstGeom>
            <a:noFill/>
          </p:spPr>
          <p:txBody>
            <a:bodyPr wrap="square" lIns="91440" tIns="45720" rIns="91440" bIns="45720" rtlCol="0" anchor="ctr">
              <a:noAutofit/>
            </a:bodyPr>
            <a:lstStyle/>
            <a:p>
              <a:pPr algn="r"/>
              <a:r>
                <a:rPr lang="en-US" sz="1400" spc="-10" dirty="0">
                  <a:solidFill>
                    <a:schemeClr val="accent1"/>
                  </a:solidFill>
                  <a:latin typeface="Arial" pitchFamily="34" charset="0"/>
                  <a:ea typeface="Helvetica Neue" panose="02000503000000020004" pitchFamily="2" charset="0"/>
                  <a:cs typeface="Helvetica Neue" panose="02000503000000020004" pitchFamily="2" charset="0"/>
                </a:rPr>
                <a:t>ROLE</a:t>
              </a: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 RISKS</a:t>
              </a:r>
            </a:p>
            <a:p>
              <a:pPr algn="r"/>
              <a:r>
                <a:rPr lang="en-US" sz="1600" spc="-10" dirty="0">
                  <a:solidFill>
                    <a:srgbClr val="1D1D1D"/>
                  </a:solidFill>
                  <a:latin typeface="Arial" pitchFamily="34" charset="0"/>
                  <a:ea typeface="Helvetica Neue" panose="02000503000000020004" pitchFamily="2" charset="0"/>
                  <a:cs typeface="Helvetica Neue" panose="02000503000000020004" pitchFamily="2" charset="0"/>
                </a:rPr>
                <a:t>Evidence collected on four role design features filtered through the lens of the Jobs to Be Done</a:t>
              </a:r>
              <a:endParaRPr lang="en-US" sz="1400" spc="-10" dirty="0">
                <a:solidFill>
                  <a:srgbClr val="1D1D1D"/>
                </a:solidFill>
                <a:latin typeface="Arial" pitchFamily="34" charset="0"/>
                <a:ea typeface="Helvetica Neue" panose="02000503000000020004" pitchFamily="2" charset="0"/>
                <a:cs typeface="Helvetica Neue" panose="02000503000000020004" pitchFamily="2" charset="0"/>
              </a:endParaRPr>
            </a:p>
          </p:txBody>
        </p:sp>
        <p:sp>
          <p:nvSpPr>
            <p:cNvPr id="10" name="Triangle 9">
              <a:extLst>
                <a:ext uri="{FF2B5EF4-FFF2-40B4-BE49-F238E27FC236}">
                  <a16:creationId xmlns:a16="http://schemas.microsoft.com/office/drawing/2014/main" id="{0D76FC74-0C97-AAFF-E7B6-BADDE1BEF948}"/>
                </a:ext>
              </a:extLst>
            </p:cNvPr>
            <p:cNvSpPr/>
            <p:nvPr/>
          </p:nvSpPr>
          <p:spPr>
            <a:xfrm rot="5400000">
              <a:off x="3368462" y="2351285"/>
              <a:ext cx="324000" cy="162000"/>
            </a:xfrm>
            <a:prstGeom prst="triangl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sp>
          <p:nvSpPr>
            <p:cNvPr id="11" name="Triangle 10">
              <a:extLst>
                <a:ext uri="{FF2B5EF4-FFF2-40B4-BE49-F238E27FC236}">
                  <a16:creationId xmlns:a16="http://schemas.microsoft.com/office/drawing/2014/main" id="{04008308-1243-13F8-DB52-8ADA1A5D1609}"/>
                </a:ext>
              </a:extLst>
            </p:cNvPr>
            <p:cNvSpPr/>
            <p:nvPr/>
          </p:nvSpPr>
          <p:spPr>
            <a:xfrm rot="16200000">
              <a:off x="5456598" y="2341431"/>
              <a:ext cx="324000" cy="172123"/>
            </a:xfrm>
            <a:prstGeom prst="triangle">
              <a:avLst/>
            </a:prstGeom>
            <a:solidFill>
              <a:srgbClr val="585858"/>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dirty="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2" name="Rectangle 11">
              <a:extLst>
                <a:ext uri="{FF2B5EF4-FFF2-40B4-BE49-F238E27FC236}">
                  <a16:creationId xmlns:a16="http://schemas.microsoft.com/office/drawing/2014/main" id="{EF5B7C02-5F17-4FC4-13D1-DC09E8D58A17}"/>
                </a:ext>
              </a:extLst>
            </p:cNvPr>
            <p:cNvSpPr/>
            <p:nvPr/>
          </p:nvSpPr>
          <p:spPr>
            <a:xfrm>
              <a:off x="688084" y="1050389"/>
              <a:ext cx="2670395" cy="302060"/>
            </a:xfrm>
            <a:prstGeom prst="rect">
              <a:avLst/>
            </a:prstGeom>
            <a:solidFill>
              <a:srgbClr val="281A42"/>
            </a:solidFill>
            <a:ln w="9525">
              <a:solidFill>
                <a:srgbClr val="281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25" dirty="0">
                  <a:solidFill>
                    <a:srgbClr val="FFFFFF"/>
                  </a:solidFill>
                  <a:latin typeface="Segoe UI" pitchFamily="34" charset="0"/>
                  <a:ea typeface="Helvetica Neue" panose="02000503000000020004" pitchFamily="2" charset="0"/>
                  <a:cs typeface="Helvetica Neue" panose="02000503000000020004" pitchFamily="2" charset="0"/>
                </a:rPr>
                <a:t>The Role</a:t>
              </a:r>
            </a:p>
          </p:txBody>
        </p:sp>
        <p:sp>
          <p:nvSpPr>
            <p:cNvPr id="13" name="Rectangle 12">
              <a:extLst>
                <a:ext uri="{FF2B5EF4-FFF2-40B4-BE49-F238E27FC236}">
                  <a16:creationId xmlns:a16="http://schemas.microsoft.com/office/drawing/2014/main" id="{BD970BA3-744F-B3FA-1058-2C034C72CA0E}"/>
                </a:ext>
              </a:extLst>
            </p:cNvPr>
            <p:cNvSpPr/>
            <p:nvPr/>
          </p:nvSpPr>
          <p:spPr>
            <a:xfrm>
              <a:off x="3666219" y="1047700"/>
              <a:ext cx="1802602" cy="302060"/>
            </a:xfrm>
            <a:prstGeom prst="rect">
              <a:avLst/>
            </a:prstGeom>
            <a:solidFill>
              <a:srgbClr val="DAD4F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25" dirty="0">
                  <a:solidFill>
                    <a:srgbClr val="1D1D1D"/>
                  </a:solidFill>
                  <a:latin typeface="Segoe UI" pitchFamily="34" charset="0"/>
                  <a:ea typeface="Helvetica Neue" panose="02000503000000020004" pitchFamily="2" charset="0"/>
                  <a:cs typeface="Helvetica Neue" panose="02000503000000020004" pitchFamily="2" charset="0"/>
                </a:rPr>
                <a:t>The Work</a:t>
              </a:r>
            </a:p>
          </p:txBody>
        </p:sp>
        <p:sp>
          <p:nvSpPr>
            <p:cNvPr id="14" name="Rectangle 13">
              <a:extLst>
                <a:ext uri="{FF2B5EF4-FFF2-40B4-BE49-F238E27FC236}">
                  <a16:creationId xmlns:a16="http://schemas.microsoft.com/office/drawing/2014/main" id="{8C5AF0B9-AEF2-DB1D-F630-98BAAF68F7CA}"/>
                </a:ext>
              </a:extLst>
            </p:cNvPr>
            <p:cNvSpPr/>
            <p:nvPr/>
          </p:nvSpPr>
          <p:spPr>
            <a:xfrm>
              <a:off x="5785522" y="1047700"/>
              <a:ext cx="2670395" cy="302060"/>
            </a:xfrm>
            <a:prstGeom prst="rect">
              <a:avLst/>
            </a:prstGeom>
            <a:solidFill>
              <a:srgbClr val="585858"/>
            </a:solidFill>
            <a:ln w="9525">
              <a:solidFill>
                <a:srgbClr val="1D1D1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25" dirty="0">
                  <a:solidFill>
                    <a:srgbClr val="FFFFFF"/>
                  </a:solidFill>
                  <a:latin typeface="Segoe UI" pitchFamily="34" charset="0"/>
                  <a:ea typeface="Helvetica Neue" panose="02000503000000020004" pitchFamily="2" charset="0"/>
                  <a:cs typeface="Helvetica Neue" panose="02000503000000020004" pitchFamily="2" charset="0"/>
                </a:rPr>
                <a:t>The Talent</a:t>
              </a:r>
            </a:p>
          </p:txBody>
        </p:sp>
        <p:pic>
          <p:nvPicPr>
            <p:cNvPr id="15" name="Picture 14" descr="Role, talent, red">
              <a:extLst>
                <a:ext uri="{FF2B5EF4-FFF2-40B4-BE49-F238E27FC236}">
                  <a16:creationId xmlns:a16="http://schemas.microsoft.com/office/drawing/2014/main" id="{6F01FA17-0B06-EF42-124B-8B913D2F3EF8}"/>
                </a:ext>
              </a:extLst>
            </p:cNvPr>
            <p:cNvPicPr>
              <a:picLocks noChangeAspect="1"/>
            </p:cNvPicPr>
            <p:nvPr/>
          </p:nvPicPr>
          <p:blipFill>
            <a:blip r:embed="rId2">
              <a:duotone>
                <a:srgbClr val="765FFF"/>
                <a:srgbClr val="FFFFFF"/>
              </a:duotone>
            </a:blip>
            <a:stretch>
              <a:fillRect/>
            </a:stretch>
          </p:blipFill>
          <p:spPr>
            <a:xfrm>
              <a:off x="2467526" y="2021742"/>
              <a:ext cx="810000" cy="810000"/>
            </a:xfrm>
            <a:prstGeom prst="rect">
              <a:avLst/>
            </a:prstGeom>
          </p:spPr>
        </p:pic>
        <p:pic>
          <p:nvPicPr>
            <p:cNvPr id="16" name="Picture 15" descr="Harnold, grey role">
              <a:extLst>
                <a:ext uri="{FF2B5EF4-FFF2-40B4-BE49-F238E27FC236}">
                  <a16:creationId xmlns:a16="http://schemas.microsoft.com/office/drawing/2014/main" id="{13278463-75ED-F271-0969-CB5ECF744922}"/>
                </a:ext>
              </a:extLst>
            </p:cNvPr>
            <p:cNvPicPr>
              <a:picLocks noChangeAspect="1"/>
            </p:cNvPicPr>
            <p:nvPr/>
          </p:nvPicPr>
          <p:blipFill>
            <a:blip r:embed="rId3">
              <a:duotone>
                <a:srgbClr val="765FFF"/>
                <a:srgbClr val="FFFFFF"/>
              </a:duotone>
            </a:blip>
            <a:stretch>
              <a:fillRect/>
            </a:stretch>
          </p:blipFill>
          <p:spPr>
            <a:xfrm>
              <a:off x="5823134" y="2089242"/>
              <a:ext cx="675000" cy="675000"/>
            </a:xfrm>
            <a:prstGeom prst="rect">
              <a:avLst/>
            </a:prstGeom>
          </p:spPr>
        </p:pic>
      </p:grpSp>
      <p:grpSp>
        <p:nvGrpSpPr>
          <p:cNvPr id="19" name="Group 18">
            <a:extLst>
              <a:ext uri="{FF2B5EF4-FFF2-40B4-BE49-F238E27FC236}">
                <a16:creationId xmlns:a16="http://schemas.microsoft.com/office/drawing/2014/main" id="{AC722FEE-CD0F-FF1E-D25E-51C6F2725A78}"/>
              </a:ext>
            </a:extLst>
          </p:cNvPr>
          <p:cNvGrpSpPr/>
          <p:nvPr/>
        </p:nvGrpSpPr>
        <p:grpSpPr>
          <a:xfrm>
            <a:off x="1525558" y="4959280"/>
            <a:ext cx="9128935" cy="1352904"/>
            <a:chOff x="978568" y="1384422"/>
            <a:chExt cx="10245988" cy="2324947"/>
          </a:xfrm>
        </p:grpSpPr>
        <p:sp>
          <p:nvSpPr>
            <p:cNvPr id="20" name="Rectangle 19">
              <a:extLst>
                <a:ext uri="{FF2B5EF4-FFF2-40B4-BE49-F238E27FC236}">
                  <a16:creationId xmlns:a16="http://schemas.microsoft.com/office/drawing/2014/main" id="{C4B871B9-58AF-C93D-8ABE-74E567AAC21D}"/>
                </a:ext>
              </a:extLst>
            </p:cNvPr>
            <p:cNvSpPr/>
            <p:nvPr/>
          </p:nvSpPr>
          <p:spPr>
            <a:xfrm>
              <a:off x="978568" y="1384422"/>
              <a:ext cx="10245988" cy="2324947"/>
            </a:xfrm>
            <a:prstGeom prst="rect">
              <a:avLst/>
            </a:prstGeom>
            <a:solidFill>
              <a:srgbClr val="D0D7DF"/>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dirty="0">
                <a:latin typeface="Arial" pitchFamily="34" charset="0"/>
                <a:ea typeface="Helvetica Neue" panose="02000503000000020004" pitchFamily="2" charset="0"/>
                <a:cs typeface="Helvetica Neue" panose="02000503000000020004" pitchFamily="2" charset="0"/>
              </a:endParaRPr>
            </a:p>
          </p:txBody>
        </p:sp>
        <p:grpSp>
          <p:nvGrpSpPr>
            <p:cNvPr id="21" name="Group 20">
              <a:extLst>
                <a:ext uri="{FF2B5EF4-FFF2-40B4-BE49-F238E27FC236}">
                  <a16:creationId xmlns:a16="http://schemas.microsoft.com/office/drawing/2014/main" id="{77BA324B-C946-0771-0E17-00A1B407E358}"/>
                </a:ext>
              </a:extLst>
            </p:cNvPr>
            <p:cNvGrpSpPr/>
            <p:nvPr/>
          </p:nvGrpSpPr>
          <p:grpSpPr>
            <a:xfrm>
              <a:off x="1226390" y="1512332"/>
              <a:ext cx="9739219" cy="2177375"/>
              <a:chOff x="1226390" y="2488645"/>
              <a:chExt cx="9739219" cy="2177375"/>
            </a:xfrm>
          </p:grpSpPr>
          <p:grpSp>
            <p:nvGrpSpPr>
              <p:cNvPr id="22" name="Group 21">
                <a:extLst>
                  <a:ext uri="{FF2B5EF4-FFF2-40B4-BE49-F238E27FC236}">
                    <a16:creationId xmlns:a16="http://schemas.microsoft.com/office/drawing/2014/main" id="{B04F0D7A-4524-D302-6BDB-A0F8A7937906}"/>
                  </a:ext>
                </a:extLst>
              </p:cNvPr>
              <p:cNvGrpSpPr/>
              <p:nvPr/>
            </p:nvGrpSpPr>
            <p:grpSpPr>
              <a:xfrm>
                <a:off x="1226390" y="3256751"/>
                <a:ext cx="9739219" cy="614093"/>
                <a:chOff x="1299715" y="3544232"/>
                <a:chExt cx="2780795" cy="115333"/>
              </a:xfrm>
            </p:grpSpPr>
            <p:sp>
              <p:nvSpPr>
                <p:cNvPr id="27" name="Rectangle">
                  <a:extLst>
                    <a:ext uri="{FF2B5EF4-FFF2-40B4-BE49-F238E27FC236}">
                      <a16:creationId xmlns:a16="http://schemas.microsoft.com/office/drawing/2014/main" id="{2B915AF4-26AA-4D9B-F706-0A9851DA9F0C}"/>
                    </a:ext>
                  </a:extLst>
                </p:cNvPr>
                <p:cNvSpPr/>
                <p:nvPr/>
              </p:nvSpPr>
              <p:spPr>
                <a:xfrm>
                  <a:off x="1299716" y="3544232"/>
                  <a:ext cx="2780794" cy="115333"/>
                </a:xfrm>
                <a:prstGeom prst="rect">
                  <a:avLst/>
                </a:prstGeom>
                <a:pattFill prst="ltUpDiag">
                  <a:fgClr>
                    <a:srgbClr val="BA0B2F"/>
                  </a:fgClr>
                  <a:bgClr>
                    <a:srgbClr val="F2F2F2"/>
                  </a:bgClr>
                </a:pattFill>
                <a:ln w="9525">
                  <a:solidFill>
                    <a:srgbClr val="1D1D1D"/>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dirty="0">
                    <a:solidFill>
                      <a:srgbClr val="FFFFFF"/>
                    </a:solidFill>
                    <a:latin typeface="Arial" pitchFamily="34" charset="0"/>
                    <a:ea typeface="Helvetica Neue" panose="02000503000000020004" pitchFamily="2" charset="0"/>
                    <a:cs typeface="Helvetica Neue" panose="02000503000000020004" pitchFamily="2" charset="0"/>
                    <a:sym typeface="Helvetica Neue Medium"/>
                  </a:endParaRPr>
                </a:p>
              </p:txBody>
            </p:sp>
            <p:sp>
              <p:nvSpPr>
                <p:cNvPr id="28" name="Rectangle">
                  <a:extLst>
                    <a:ext uri="{FF2B5EF4-FFF2-40B4-BE49-F238E27FC236}">
                      <a16:creationId xmlns:a16="http://schemas.microsoft.com/office/drawing/2014/main" id="{A41A0BB6-443B-7C6E-55CC-5BDBB4D3F2CC}"/>
                    </a:ext>
                  </a:extLst>
                </p:cNvPr>
                <p:cNvSpPr/>
                <p:nvPr/>
              </p:nvSpPr>
              <p:spPr>
                <a:xfrm>
                  <a:off x="1299715" y="3544232"/>
                  <a:ext cx="1962297" cy="115333"/>
                </a:xfrm>
                <a:prstGeom prst="rect">
                  <a:avLst/>
                </a:prstGeom>
                <a:solidFill>
                  <a:srgbClr val="BA0B2F"/>
                </a:solidFill>
                <a:ln w="9525">
                  <a:solidFill>
                    <a:srgbClr val="281A4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dirty="0">
                    <a:solidFill>
                      <a:srgbClr val="BA0B2F"/>
                    </a:solidFill>
                    <a:latin typeface="Arial" pitchFamily="34" charset="0"/>
                    <a:ea typeface="Helvetica Neue" panose="02000503000000020004" pitchFamily="2" charset="0"/>
                    <a:cs typeface="Helvetica Neue" panose="02000503000000020004" pitchFamily="2" charset="0"/>
                    <a:sym typeface="Helvetica Neue Medium"/>
                  </a:endParaRPr>
                </a:p>
              </p:txBody>
            </p:sp>
          </p:grpSp>
          <p:sp>
            <p:nvSpPr>
              <p:cNvPr id="23" name="Rectangle 22">
                <a:extLst>
                  <a:ext uri="{FF2B5EF4-FFF2-40B4-BE49-F238E27FC236}">
                    <a16:creationId xmlns:a16="http://schemas.microsoft.com/office/drawing/2014/main" id="{DF9AF015-3752-D43D-639D-A5E8D1731750}"/>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spc="-10" dirty="0">
                    <a:solidFill>
                      <a:srgbClr val="1D1D1D"/>
                    </a:solidFill>
                    <a:latin typeface="Segoe UI" pitchFamily="34" charset="0"/>
                    <a:ea typeface="Helvetica Neue" panose="02000503000000020004" pitchFamily="2" charset="0"/>
                    <a:cs typeface="Helvetica Neue" panose="02000503000000020004" pitchFamily="2" charset="0"/>
                  </a:rPr>
                  <a:t>ROLE RISK</a:t>
                </a:r>
                <a:br>
                  <a:rPr lang="en-US" sz="1400" spc="-10" dirty="0">
                    <a:solidFill>
                      <a:srgbClr val="1D1D1D"/>
                    </a:solidFill>
                    <a:latin typeface="Arial" pitchFamily="34" charset="0"/>
                    <a:ea typeface="Helvetica Neue" panose="02000503000000020004" pitchFamily="2" charset="0"/>
                    <a:cs typeface="Helvetica Neue" panose="02000503000000020004" pitchFamily="2" charset="0"/>
                  </a:rPr>
                </a:b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24" name="Rectangle 23">
                <a:extLst>
                  <a:ext uri="{FF2B5EF4-FFF2-40B4-BE49-F238E27FC236}">
                    <a16:creationId xmlns:a16="http://schemas.microsoft.com/office/drawing/2014/main" id="{BC4EFC45-344F-BF68-E528-5E55E8D83F11}"/>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dirty="0">
                    <a:solidFill>
                      <a:srgbClr val="F2F2F2"/>
                    </a:solidFill>
                    <a:latin typeface="Segoe UI" pitchFamily="34" charset="0"/>
                    <a:ea typeface="Helvetica Neue" panose="02000503000000020004" pitchFamily="2" charset="0"/>
                    <a:cs typeface="Helvetica Neue" panose="02000503000000020004" pitchFamily="2" charset="0"/>
                  </a:rPr>
                  <a:t>70%</a:t>
                </a:r>
                <a:endParaRPr lang="en-US" sz="1400" b="1" spc="-10" dirty="0">
                  <a:solidFill>
                    <a:srgbClr val="F2F2F2"/>
                  </a:solidFill>
                  <a:latin typeface="Segoe UI" pitchFamily="34" charset="0"/>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3C7EC2BE-C4D3-F5F2-C738-B49B997D97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sz="1400" spc="-10" dirty="0">
                    <a:solidFill>
                      <a:srgbClr val="281A42"/>
                    </a:solidFill>
                    <a:latin typeface="Arial" pitchFamily="34" charset="0"/>
                    <a:ea typeface="Helvetica Neue" panose="02000503000000020004" pitchFamily="2" charset="0"/>
                    <a:cs typeface="Helvetica Neue" panose="02000503000000020004" pitchFamily="2" charset="0"/>
                  </a:rPr>
                  <a:t>TALENT</a:t>
                </a: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 RISK </a:t>
                </a:r>
                <a:br>
                  <a:rPr lang="en-US" sz="1400" spc="-10" dirty="0">
                    <a:solidFill>
                      <a:srgbClr val="1D1D1D"/>
                    </a:solidFill>
                    <a:latin typeface="Arial" pitchFamily="34" charset="0"/>
                    <a:ea typeface="Helvetica Neue" panose="02000503000000020004" pitchFamily="2" charset="0"/>
                    <a:cs typeface="Helvetica Neue" panose="02000503000000020004" pitchFamily="2" charset="0"/>
                  </a:rPr>
                </a:br>
                <a:r>
                  <a:rPr lang="en-US" sz="1200" spc="-10" dirty="0">
                    <a:solidFill>
                      <a:srgbClr val="1D1D1D"/>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26" name="Rectangle 25">
                <a:extLst>
                  <a:ext uri="{FF2B5EF4-FFF2-40B4-BE49-F238E27FC236}">
                    <a16:creationId xmlns:a16="http://schemas.microsoft.com/office/drawing/2014/main" id="{4F759C04-9BFF-145B-323B-1699F5489904}"/>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dirty="0">
                    <a:solidFill>
                      <a:srgbClr val="1D1D1D"/>
                    </a:solidFill>
                    <a:latin typeface="Segoe UI" pitchFamily="34" charset="0"/>
                    <a:ea typeface="Helvetica Neue" panose="02000503000000020004" pitchFamily="2" charset="0"/>
                    <a:cs typeface="Helvetica Neue" panose="02000503000000020004" pitchFamily="2" charset="0"/>
                  </a:rPr>
                  <a:t>30%</a:t>
                </a:r>
                <a:endParaRPr lang="en-US" sz="1400" b="1" spc="-10" dirty="0">
                  <a:solidFill>
                    <a:srgbClr val="1D1D1D"/>
                  </a:solidFill>
                  <a:latin typeface="Segoe UI" pitchFamily="34" charset="0"/>
                  <a:ea typeface="Helvetica Neue" panose="02000503000000020004" pitchFamily="2" charset="0"/>
                  <a:cs typeface="Helvetica Neue" panose="02000503000000020004" pitchFamily="2" charset="0"/>
                </a:endParaRPr>
              </a:p>
            </p:txBody>
          </p:sp>
        </p:grpSp>
      </p:grpSp>
      <p:sp>
        <p:nvSpPr>
          <p:cNvPr id="29" name="TextBox 28">
            <a:extLst>
              <a:ext uri="{FF2B5EF4-FFF2-40B4-BE49-F238E27FC236}">
                <a16:creationId xmlns:a16="http://schemas.microsoft.com/office/drawing/2014/main" id="{76545F15-A987-AFAA-49F5-54F6D984EF0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879800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34E988-BBAB-8758-5900-E6EDADEB7A1E}"/>
              </a:ext>
            </a:extLst>
          </p:cNvPr>
          <p:cNvSpPr>
            <a:spLocks noGrp="1"/>
          </p:cNvSpPr>
          <p:nvPr>
            <p:ph type="sldNum" sz="quarter" idx="4"/>
          </p:nvPr>
        </p:nvSpPr>
        <p:spPr/>
        <p:txBody>
          <a:bodyPr/>
          <a:lstStyle/>
          <a:p>
            <a:pPr algn="ctr"/>
            <a:fld id="{1875A764-3B06-454E-8ABA-2F6ED0EB58E9}" type="slidenum">
              <a:rPr lang="en-US" smtClean="0"/>
              <a:t>30</a:t>
            </a:fld>
            <a:endParaRPr lang="en-US"/>
          </a:p>
        </p:txBody>
      </p:sp>
      <p:sp>
        <p:nvSpPr>
          <p:cNvPr id="3" name="Title 2">
            <a:extLst>
              <a:ext uri="{FF2B5EF4-FFF2-40B4-BE49-F238E27FC236}">
                <a16:creationId xmlns:a16="http://schemas.microsoft.com/office/drawing/2014/main" id="{64187448-53D2-FC01-D101-1EB724FEA993}"/>
              </a:ext>
            </a:extLst>
          </p:cNvPr>
          <p:cNvSpPr>
            <a:spLocks noGrp="1"/>
          </p:cNvSpPr>
          <p:nvPr>
            <p:ph type="title"/>
          </p:nvPr>
        </p:nvSpPr>
        <p:spPr/>
        <p:txBody>
          <a:bodyPr/>
          <a:lstStyle/>
          <a:p>
            <a:r>
              <a:rPr lang="en-US" spc="-25" dirty="0" err="1">
                <a:solidFill>
                  <a:schemeClr val="tx1"/>
                </a:solidFill>
              </a:rPr>
              <a:t>Role•Talent</a:t>
            </a:r>
            <a:r>
              <a:rPr lang="en-US" spc="-25" dirty="0">
                <a:solidFill>
                  <a:schemeClr val="tx1"/>
                </a:solidFill>
              </a:rPr>
              <a:t> Cards </a:t>
            </a:r>
            <a:r>
              <a:rPr lang="en-US" spc="-25" dirty="0"/>
              <a:t>Provide Detailed Risk Assessment</a:t>
            </a:r>
            <a:endParaRPr lang="en-US" dirty="0"/>
          </a:p>
        </p:txBody>
      </p:sp>
      <p:pic>
        <p:nvPicPr>
          <p:cNvPr id="4" name="Picture 3">
            <a:extLst>
              <a:ext uri="{FF2B5EF4-FFF2-40B4-BE49-F238E27FC236}">
                <a16:creationId xmlns:a16="http://schemas.microsoft.com/office/drawing/2014/main" id="{D3FC1ED4-8909-084F-7FF5-16AE48545B35}"/>
              </a:ext>
            </a:extLst>
          </p:cNvPr>
          <p:cNvPicPr>
            <a:picLocks noChangeAspect="1"/>
          </p:cNvPicPr>
          <p:nvPr/>
        </p:nvPicPr>
        <p:blipFill>
          <a:blip r:embed="rId2"/>
          <a:stretch>
            <a:fillRect/>
          </a:stretch>
        </p:blipFill>
        <p:spPr>
          <a:xfrm>
            <a:off x="1711966" y="1270813"/>
            <a:ext cx="8958047" cy="5068131"/>
          </a:xfrm>
          <a:prstGeom prst="rect">
            <a:avLst/>
          </a:prstGeom>
        </p:spPr>
      </p:pic>
      <p:sp>
        <p:nvSpPr>
          <p:cNvPr id="5" name="TextBox 4">
            <a:extLst>
              <a:ext uri="{FF2B5EF4-FFF2-40B4-BE49-F238E27FC236}">
                <a16:creationId xmlns:a16="http://schemas.microsoft.com/office/drawing/2014/main" id="{87865FE0-C84D-D47B-32D4-C5310FCBD1D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451246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B771C7-4FAB-7B68-7537-9EC83287C4C0}"/>
              </a:ext>
            </a:extLst>
          </p:cNvPr>
          <p:cNvSpPr>
            <a:spLocks noGrp="1"/>
          </p:cNvSpPr>
          <p:nvPr>
            <p:ph type="sldNum" sz="quarter" idx="4"/>
          </p:nvPr>
        </p:nvSpPr>
        <p:spPr/>
        <p:txBody>
          <a:bodyPr/>
          <a:lstStyle/>
          <a:p>
            <a:pPr algn="ctr"/>
            <a:fld id="{1875A764-3B06-454E-8ABA-2F6ED0EB58E9}" type="slidenum">
              <a:rPr lang="en-US" smtClean="0"/>
              <a:t>31</a:t>
            </a:fld>
            <a:endParaRPr lang="en-US"/>
          </a:p>
        </p:txBody>
      </p:sp>
      <p:sp>
        <p:nvSpPr>
          <p:cNvPr id="3" name="Title 2">
            <a:extLst>
              <a:ext uri="{FF2B5EF4-FFF2-40B4-BE49-F238E27FC236}">
                <a16:creationId xmlns:a16="http://schemas.microsoft.com/office/drawing/2014/main" id="{2C23B04C-4D40-32E9-D976-651B2A818F69}"/>
              </a:ext>
            </a:extLst>
          </p:cNvPr>
          <p:cNvSpPr>
            <a:spLocks noGrp="1"/>
          </p:cNvSpPr>
          <p:nvPr>
            <p:ph type="title"/>
          </p:nvPr>
        </p:nvSpPr>
        <p:spPr/>
        <p:txBody>
          <a:bodyPr/>
          <a:lstStyle/>
          <a:p>
            <a:r>
              <a:rPr lang="en-US" spc="-25" dirty="0">
                <a:solidFill>
                  <a:srgbClr val="765FFF"/>
                </a:solidFill>
              </a:rPr>
              <a:t>High-level </a:t>
            </a:r>
            <a:r>
              <a:rPr lang="en-US" spc="-25" dirty="0"/>
              <a:t>Risks across Critical Roles Can Also Be Done Rapidly</a:t>
            </a:r>
            <a:endParaRPr lang="en-US" dirty="0"/>
          </a:p>
        </p:txBody>
      </p:sp>
      <p:pic>
        <p:nvPicPr>
          <p:cNvPr id="6" name="Picture 5" descr="A screenshot of a table&#10;&#10;AI-generated content may be incorrect.">
            <a:extLst>
              <a:ext uri="{FF2B5EF4-FFF2-40B4-BE49-F238E27FC236}">
                <a16:creationId xmlns:a16="http://schemas.microsoft.com/office/drawing/2014/main" id="{B9783AF9-6694-D7F2-1A23-AF8C414462B2}"/>
              </a:ext>
            </a:extLst>
          </p:cNvPr>
          <p:cNvPicPr>
            <a:picLocks noChangeAspect="1"/>
          </p:cNvPicPr>
          <p:nvPr/>
        </p:nvPicPr>
        <p:blipFill>
          <a:blip r:embed="rId2"/>
          <a:stretch>
            <a:fillRect/>
          </a:stretch>
        </p:blipFill>
        <p:spPr>
          <a:xfrm>
            <a:off x="2214255" y="1080977"/>
            <a:ext cx="7471095" cy="5254256"/>
          </a:xfrm>
          <a:prstGeom prst="rect">
            <a:avLst/>
          </a:prstGeom>
        </p:spPr>
      </p:pic>
      <p:sp>
        <p:nvSpPr>
          <p:cNvPr id="7" name="TextBox 6">
            <a:extLst>
              <a:ext uri="{FF2B5EF4-FFF2-40B4-BE49-F238E27FC236}">
                <a16:creationId xmlns:a16="http://schemas.microsoft.com/office/drawing/2014/main" id="{75D82E3A-17B6-ECFD-BCA4-A46F2763368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270761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68D8E-DA86-5A25-16C8-30CB5DE677D5}"/>
              </a:ext>
            </a:extLst>
          </p:cNvPr>
          <p:cNvSpPr>
            <a:spLocks noGrp="1"/>
          </p:cNvSpPr>
          <p:nvPr>
            <p:ph type="sldNum" sz="quarter" idx="4"/>
          </p:nvPr>
        </p:nvSpPr>
        <p:spPr/>
        <p:txBody>
          <a:bodyPr/>
          <a:lstStyle/>
          <a:p>
            <a:pPr algn="ctr"/>
            <a:fld id="{1875A764-3B06-454E-8ABA-2F6ED0EB58E9}" type="slidenum">
              <a:rPr lang="en-US" smtClean="0"/>
              <a:t>32</a:t>
            </a:fld>
            <a:endParaRPr lang="en-US"/>
          </a:p>
        </p:txBody>
      </p:sp>
      <p:sp>
        <p:nvSpPr>
          <p:cNvPr id="3" name="Title 2">
            <a:extLst>
              <a:ext uri="{FF2B5EF4-FFF2-40B4-BE49-F238E27FC236}">
                <a16:creationId xmlns:a16="http://schemas.microsoft.com/office/drawing/2014/main" id="{2DB610A6-1CB8-1FB7-AA60-E5ADF0D35404}"/>
              </a:ext>
            </a:extLst>
          </p:cNvPr>
          <p:cNvSpPr>
            <a:spLocks noGrp="1"/>
          </p:cNvSpPr>
          <p:nvPr>
            <p:ph type="title"/>
          </p:nvPr>
        </p:nvSpPr>
        <p:spPr/>
        <p:txBody>
          <a:bodyPr/>
          <a:lstStyle/>
          <a:p>
            <a:r>
              <a:rPr lang="en-US" spc="-25" dirty="0"/>
              <a:t>This Helps to Mobilize People</a:t>
            </a:r>
            <a:endParaRPr lang="en-US" dirty="0"/>
          </a:p>
        </p:txBody>
      </p:sp>
      <p:grpSp>
        <p:nvGrpSpPr>
          <p:cNvPr id="4" name="Group 3">
            <a:extLst>
              <a:ext uri="{FF2B5EF4-FFF2-40B4-BE49-F238E27FC236}">
                <a16:creationId xmlns:a16="http://schemas.microsoft.com/office/drawing/2014/main" id="{6FC54F23-2CDC-4FFD-D3A8-BA4A921B1528}"/>
              </a:ext>
            </a:extLst>
          </p:cNvPr>
          <p:cNvGrpSpPr/>
          <p:nvPr/>
        </p:nvGrpSpPr>
        <p:grpSpPr>
          <a:xfrm>
            <a:off x="1063724" y="1522194"/>
            <a:ext cx="9820494" cy="3595679"/>
            <a:chOff x="1063724" y="1522194"/>
            <a:chExt cx="9820494" cy="3595679"/>
          </a:xfrm>
        </p:grpSpPr>
        <p:sp>
          <p:nvSpPr>
            <p:cNvPr id="5" name="Rectangle 4">
              <a:extLst>
                <a:ext uri="{FF2B5EF4-FFF2-40B4-BE49-F238E27FC236}">
                  <a16:creationId xmlns:a16="http://schemas.microsoft.com/office/drawing/2014/main" id="{838017E4-7A81-49BB-3F32-37DA5DDADD2B}"/>
                </a:ext>
              </a:extLst>
            </p:cNvPr>
            <p:cNvSpPr/>
            <p:nvPr/>
          </p:nvSpPr>
          <p:spPr>
            <a:xfrm>
              <a:off x="1063724" y="2156360"/>
              <a:ext cx="4821547" cy="886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chemeClr val="bg1"/>
                  </a:solidFill>
                  <a:effectLst/>
                  <a:uLnTx/>
                  <a:uFillTx/>
                  <a:latin typeface="Segoe UI" pitchFamily="34" charset="0"/>
                  <a:ea typeface="+mn-ea"/>
                  <a:cs typeface="+mn-cs"/>
                </a:rPr>
                <a:t>ROLE</a:t>
              </a:r>
              <a:r>
                <a:rPr kumimoji="0" lang="en-US" sz="1800" b="0" i="0" u="none" strike="noStrike" kern="1200" cap="none" spc="-10" normalizeH="0" baseline="0" noProof="0" dirty="0">
                  <a:ln>
                    <a:noFill/>
                  </a:ln>
                  <a:solidFill>
                    <a:schemeClr val="bg1"/>
                  </a:solidFill>
                  <a:effectLst/>
                  <a:uLnTx/>
                  <a:uFillTx/>
                  <a:latin typeface="Arial" pitchFamily="34" charset="0"/>
                  <a:ea typeface="+mn-ea"/>
                  <a:cs typeface="+mn-cs"/>
                </a:rPr>
                <a:t> </a:t>
              </a:r>
              <a:r>
                <a:rPr kumimoji="0" lang="en-US" sz="1800" i="0" u="none" strike="noStrike" kern="1200" cap="none" spc="-10" normalizeH="0" baseline="0" noProof="0" dirty="0">
                  <a:ln>
                    <a:noFill/>
                  </a:ln>
                  <a:solidFill>
                    <a:schemeClr val="bg1"/>
                  </a:solidFill>
                  <a:effectLst/>
                  <a:uLnTx/>
                  <a:uFillTx/>
                  <a:latin typeface="Arial" pitchFamily="34" charset="0"/>
                  <a:ea typeface="+mn-ea"/>
                  <a:cs typeface="+mn-cs"/>
                </a:rPr>
                <a:t>INTERVENTIONS</a:t>
              </a:r>
            </a:p>
          </p:txBody>
        </p:sp>
        <p:sp>
          <p:nvSpPr>
            <p:cNvPr id="6" name="Rectangle 5">
              <a:extLst>
                <a:ext uri="{FF2B5EF4-FFF2-40B4-BE49-F238E27FC236}">
                  <a16:creationId xmlns:a16="http://schemas.microsoft.com/office/drawing/2014/main" id="{0ABEBDEC-1D5D-7F50-A409-16E8B09A8980}"/>
                </a:ext>
              </a:extLst>
            </p:cNvPr>
            <p:cNvSpPr/>
            <p:nvPr/>
          </p:nvSpPr>
          <p:spPr>
            <a:xfrm>
              <a:off x="3640835" y="4231182"/>
              <a:ext cx="7243383" cy="886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chemeClr val="bg1"/>
                  </a:solidFill>
                  <a:effectLst/>
                  <a:uLnTx/>
                  <a:uFillTx/>
                  <a:latin typeface="Segoe UI" pitchFamily="34" charset="0"/>
                  <a:ea typeface="+mn-ea"/>
                  <a:cs typeface="+mn-cs"/>
                </a:rPr>
                <a:t>TALENT</a:t>
              </a:r>
              <a:r>
                <a:rPr kumimoji="0" lang="en-US" sz="1800" b="0" i="0" u="none" strike="noStrike" kern="1200" cap="none" spc="-10" normalizeH="0" baseline="0" noProof="0" dirty="0">
                  <a:ln>
                    <a:noFill/>
                  </a:ln>
                  <a:solidFill>
                    <a:schemeClr val="bg1"/>
                  </a:solidFill>
                  <a:effectLst/>
                  <a:uLnTx/>
                  <a:uFillTx/>
                  <a:latin typeface="Arial" pitchFamily="34" charset="0"/>
                  <a:ea typeface="+mn-ea"/>
                  <a:cs typeface="+mn-cs"/>
                </a:rPr>
                <a:t> </a:t>
              </a:r>
              <a:r>
                <a:rPr kumimoji="0" lang="en-US" sz="1800" i="0" u="none" strike="noStrike" kern="1200" cap="none" spc="-10" normalizeH="0" baseline="0" noProof="0" dirty="0">
                  <a:ln>
                    <a:noFill/>
                  </a:ln>
                  <a:solidFill>
                    <a:schemeClr val="bg1"/>
                  </a:solidFill>
                  <a:effectLst/>
                  <a:uLnTx/>
                  <a:uFillTx/>
                  <a:latin typeface="Arial" pitchFamily="34" charset="0"/>
                  <a:ea typeface="+mn-ea"/>
                  <a:cs typeface="+mn-cs"/>
                </a:rPr>
                <a:t>INTERVENTIONS</a:t>
              </a:r>
            </a:p>
          </p:txBody>
        </p:sp>
        <p:sp>
          <p:nvSpPr>
            <p:cNvPr id="7" name="Rectangle 6">
              <a:extLst>
                <a:ext uri="{FF2B5EF4-FFF2-40B4-BE49-F238E27FC236}">
                  <a16:creationId xmlns:a16="http://schemas.microsoft.com/office/drawing/2014/main" id="{0CCDCE13-67A7-77A3-3ACD-D162BF73C20F}"/>
                </a:ext>
              </a:extLst>
            </p:cNvPr>
            <p:cNvSpPr/>
            <p:nvPr/>
          </p:nvSpPr>
          <p:spPr>
            <a:xfrm>
              <a:off x="1202435" y="2507342"/>
              <a:ext cx="2244436" cy="2259717"/>
            </a:xfrm>
            <a:prstGeom prst="rect">
              <a:avLst/>
            </a:prstGeom>
            <a:solidFill>
              <a:schemeClr val="bg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8" name="TextBox 7">
              <a:extLst>
                <a:ext uri="{FF2B5EF4-FFF2-40B4-BE49-F238E27FC236}">
                  <a16:creationId xmlns:a16="http://schemas.microsoft.com/office/drawing/2014/main" id="{080532B9-28E4-17EE-6F0C-1E31124E1ADB}"/>
                </a:ext>
              </a:extLst>
            </p:cNvPr>
            <p:cNvSpPr txBox="1"/>
            <p:nvPr/>
          </p:nvSpPr>
          <p:spPr>
            <a:xfrm>
              <a:off x="1322507" y="2618178"/>
              <a:ext cx="1848338" cy="104644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CONFIGURE</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mn-cs"/>
                </a:rPr>
                <a:t>Changes to the role parameters designed to reduce risk or capture opportunity</a:t>
              </a:r>
            </a:p>
          </p:txBody>
        </p:sp>
        <p:sp>
          <p:nvSpPr>
            <p:cNvPr id="9" name="Rectangle 8">
              <a:extLst>
                <a:ext uri="{FF2B5EF4-FFF2-40B4-BE49-F238E27FC236}">
                  <a16:creationId xmlns:a16="http://schemas.microsoft.com/office/drawing/2014/main" id="{FBCB52CE-49CF-3485-8A52-0F566F7BA993}"/>
                </a:ext>
              </a:extLst>
            </p:cNvPr>
            <p:cNvSpPr/>
            <p:nvPr/>
          </p:nvSpPr>
          <p:spPr>
            <a:xfrm>
              <a:off x="3640835" y="2512724"/>
              <a:ext cx="2244436" cy="2259717"/>
            </a:xfrm>
            <a:prstGeom prst="rect">
              <a:avLst/>
            </a:prstGeom>
            <a:solidFill>
              <a:schemeClr val="bg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10" name="TextBox 9">
              <a:extLst>
                <a:ext uri="{FF2B5EF4-FFF2-40B4-BE49-F238E27FC236}">
                  <a16:creationId xmlns:a16="http://schemas.microsoft.com/office/drawing/2014/main" id="{E68D608A-AD05-858C-A318-1ED1952EE9EB}"/>
                </a:ext>
              </a:extLst>
            </p:cNvPr>
            <p:cNvSpPr txBox="1"/>
            <p:nvPr/>
          </p:nvSpPr>
          <p:spPr>
            <a:xfrm>
              <a:off x="3760907" y="2623560"/>
              <a:ext cx="1848338" cy="104644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a:ln>
                    <a:noFill/>
                  </a:ln>
                  <a:solidFill>
                    <a:srgbClr val="1D1D1D"/>
                  </a:solidFill>
                  <a:effectLst/>
                  <a:uLnTx/>
                  <a:uFillTx/>
                  <a:latin typeface="Segoe UI" pitchFamily="34" charset="0"/>
                  <a:ea typeface="+mn-ea"/>
                  <a:cs typeface="+mn-cs"/>
                </a:rPr>
                <a:t>COMPLEMENT</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a:ln>
                    <a:noFill/>
                  </a:ln>
                  <a:solidFill>
                    <a:srgbClr val="1D1D1D"/>
                  </a:solidFill>
                  <a:effectLst/>
                  <a:uLnTx/>
                  <a:uFillTx/>
                  <a:latin typeface="Arial" pitchFamily="34" charset="0"/>
                  <a:ea typeface="+mn-ea"/>
                  <a:cs typeface="+mn-cs"/>
                </a:rPr>
                <a:t>Surround the talent in question with the right experts, advisors and value enablers</a:t>
              </a:r>
            </a:p>
          </p:txBody>
        </p:sp>
        <p:sp>
          <p:nvSpPr>
            <p:cNvPr id="11" name="Rectangle 10">
              <a:extLst>
                <a:ext uri="{FF2B5EF4-FFF2-40B4-BE49-F238E27FC236}">
                  <a16:creationId xmlns:a16="http://schemas.microsoft.com/office/drawing/2014/main" id="{B73975EE-4244-9031-8C80-61AD7D3699D7}"/>
                </a:ext>
              </a:extLst>
            </p:cNvPr>
            <p:cNvSpPr/>
            <p:nvPr/>
          </p:nvSpPr>
          <p:spPr>
            <a:xfrm>
              <a:off x="8496906" y="2501366"/>
              <a:ext cx="2244436" cy="2259717"/>
            </a:xfrm>
            <a:prstGeom prst="rect">
              <a:avLst/>
            </a:prstGeom>
            <a:solidFill>
              <a:schemeClr val="bg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12" name="TextBox 11">
              <a:extLst>
                <a:ext uri="{FF2B5EF4-FFF2-40B4-BE49-F238E27FC236}">
                  <a16:creationId xmlns:a16="http://schemas.microsoft.com/office/drawing/2014/main" id="{54AC0685-04CB-8C72-A0A1-366DA8FEC10A}"/>
                </a:ext>
              </a:extLst>
            </p:cNvPr>
            <p:cNvSpPr txBox="1"/>
            <p:nvPr/>
          </p:nvSpPr>
          <p:spPr>
            <a:xfrm>
              <a:off x="8616978" y="2612202"/>
              <a:ext cx="1848338" cy="86177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a:ln>
                    <a:noFill/>
                  </a:ln>
                  <a:solidFill>
                    <a:srgbClr val="1D1D1D"/>
                  </a:solidFill>
                  <a:effectLst/>
                  <a:uLnTx/>
                  <a:uFillTx/>
                  <a:latin typeface="Segoe UI" pitchFamily="34" charset="0"/>
                  <a:ea typeface="+mn-ea"/>
                  <a:cs typeface="+mn-cs"/>
                </a:rPr>
                <a:t>CHANGE</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a:ln>
                    <a:noFill/>
                  </a:ln>
                  <a:solidFill>
                    <a:srgbClr val="1D1D1D"/>
                  </a:solidFill>
                  <a:effectLst/>
                  <a:uLnTx/>
                  <a:uFillTx/>
                  <a:latin typeface="Arial" pitchFamily="34" charset="0"/>
                  <a:ea typeface="+mn-ea"/>
                  <a:cs typeface="+mn-cs"/>
                </a:rPr>
                <a:t>Move the talent in question out of the role entirely. </a:t>
              </a:r>
            </a:p>
          </p:txBody>
        </p:sp>
        <p:sp>
          <p:nvSpPr>
            <p:cNvPr id="13" name="Rectangle 12">
              <a:extLst>
                <a:ext uri="{FF2B5EF4-FFF2-40B4-BE49-F238E27FC236}">
                  <a16:creationId xmlns:a16="http://schemas.microsoft.com/office/drawing/2014/main" id="{F5AF97AD-0DB6-DA74-4E6F-6D49F347CAE5}"/>
                </a:ext>
              </a:extLst>
            </p:cNvPr>
            <p:cNvSpPr/>
            <p:nvPr/>
          </p:nvSpPr>
          <p:spPr>
            <a:xfrm>
              <a:off x="6069776" y="2494956"/>
              <a:ext cx="2244436" cy="2259717"/>
            </a:xfrm>
            <a:prstGeom prst="rect">
              <a:avLst/>
            </a:prstGeom>
            <a:solidFill>
              <a:schemeClr val="bg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14" name="TextBox 13">
              <a:extLst>
                <a:ext uri="{FF2B5EF4-FFF2-40B4-BE49-F238E27FC236}">
                  <a16:creationId xmlns:a16="http://schemas.microsoft.com/office/drawing/2014/main" id="{AC5F1267-C807-EF51-F0E6-3E02E9AB5A1A}"/>
                </a:ext>
              </a:extLst>
            </p:cNvPr>
            <p:cNvSpPr txBox="1"/>
            <p:nvPr/>
          </p:nvSpPr>
          <p:spPr>
            <a:xfrm>
              <a:off x="6189848" y="2605792"/>
              <a:ext cx="1848338" cy="86177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a:ln>
                    <a:noFill/>
                  </a:ln>
                  <a:solidFill>
                    <a:srgbClr val="1D1D1D"/>
                  </a:solidFill>
                  <a:effectLst/>
                  <a:uLnTx/>
                  <a:uFillTx/>
                  <a:latin typeface="Segoe UI" pitchFamily="34" charset="0"/>
                  <a:ea typeface="+mn-ea"/>
                  <a:cs typeface="+mn-cs"/>
                </a:rPr>
                <a:t>COACH</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a:ln>
                    <a:noFill/>
                  </a:ln>
                  <a:solidFill>
                    <a:srgbClr val="1D1D1D"/>
                  </a:solidFill>
                  <a:effectLst/>
                  <a:uLnTx/>
                  <a:uFillTx/>
                  <a:latin typeface="Arial" pitchFamily="34" charset="0"/>
                  <a:ea typeface="+mn-ea"/>
                  <a:cs typeface="+mn-cs"/>
                </a:rPr>
                <a:t>Coach/mentor the talent. Coach the organization – alignment and conflict</a:t>
              </a:r>
            </a:p>
          </p:txBody>
        </p:sp>
        <p:pic>
          <p:nvPicPr>
            <p:cNvPr id="15" name="Picture 14" descr="Talent to Value">
              <a:extLst>
                <a:ext uri="{FF2B5EF4-FFF2-40B4-BE49-F238E27FC236}">
                  <a16:creationId xmlns:a16="http://schemas.microsoft.com/office/drawing/2014/main" id="{F6319368-D9FF-49D6-77BC-2B112C3057FD}"/>
                </a:ext>
              </a:extLst>
            </p:cNvPr>
            <p:cNvPicPr>
              <a:picLocks noChangeAspect="1"/>
            </p:cNvPicPr>
            <p:nvPr/>
          </p:nvPicPr>
          <p:blipFill>
            <a:blip r:embed="rId2">
              <a:duotone>
                <a:srgbClr val="765FFF"/>
                <a:srgbClr val="FFFFFF"/>
              </a:duotone>
            </a:blip>
            <a:stretch>
              <a:fillRect/>
            </a:stretch>
          </p:blipFill>
          <p:spPr>
            <a:xfrm>
              <a:off x="8745009" y="3748035"/>
              <a:ext cx="720000" cy="720000"/>
            </a:xfrm>
            <a:prstGeom prst="rect">
              <a:avLst/>
            </a:prstGeom>
          </p:spPr>
        </p:pic>
        <p:pic>
          <p:nvPicPr>
            <p:cNvPr id="16" name="Picture 15" descr="Talent to Value">
              <a:extLst>
                <a:ext uri="{FF2B5EF4-FFF2-40B4-BE49-F238E27FC236}">
                  <a16:creationId xmlns:a16="http://schemas.microsoft.com/office/drawing/2014/main" id="{A8B9DC3C-441C-537C-6B42-0385BA910388}"/>
                </a:ext>
              </a:extLst>
            </p:cNvPr>
            <p:cNvPicPr>
              <a:picLocks noChangeAspect="1"/>
            </p:cNvPicPr>
            <p:nvPr/>
          </p:nvPicPr>
          <p:blipFill>
            <a:blip r:embed="rId2">
              <a:duotone>
                <a:srgbClr val="765FFF"/>
                <a:srgbClr val="FFFFFF"/>
              </a:duotone>
            </a:blip>
            <a:stretch>
              <a:fillRect/>
            </a:stretch>
          </p:blipFill>
          <p:spPr>
            <a:xfrm>
              <a:off x="6481903" y="3748035"/>
              <a:ext cx="720000" cy="720000"/>
            </a:xfrm>
            <a:prstGeom prst="rect">
              <a:avLst/>
            </a:prstGeom>
          </p:spPr>
        </p:pic>
        <p:pic>
          <p:nvPicPr>
            <p:cNvPr id="17" name="Picture 16" descr="Talent to Value">
              <a:extLst>
                <a:ext uri="{FF2B5EF4-FFF2-40B4-BE49-F238E27FC236}">
                  <a16:creationId xmlns:a16="http://schemas.microsoft.com/office/drawing/2014/main" id="{27D0AF24-585F-5AEB-E056-D553BB037BCF}"/>
                </a:ext>
              </a:extLst>
            </p:cNvPr>
            <p:cNvPicPr>
              <a:picLocks noChangeAspect="1"/>
            </p:cNvPicPr>
            <p:nvPr/>
          </p:nvPicPr>
          <p:blipFill>
            <a:blip r:embed="rId2">
              <a:duotone>
                <a:srgbClr val="765FFF"/>
                <a:srgbClr val="FFFFFF"/>
              </a:duotone>
            </a:blip>
            <a:stretch>
              <a:fillRect/>
            </a:stretch>
          </p:blipFill>
          <p:spPr>
            <a:xfrm>
              <a:off x="4006779" y="3748035"/>
              <a:ext cx="720000" cy="720000"/>
            </a:xfrm>
            <a:prstGeom prst="rect">
              <a:avLst/>
            </a:prstGeom>
          </p:spPr>
        </p:pic>
        <p:pic>
          <p:nvPicPr>
            <p:cNvPr id="18" name="Picture 17" descr="Talent to Value">
              <a:extLst>
                <a:ext uri="{FF2B5EF4-FFF2-40B4-BE49-F238E27FC236}">
                  <a16:creationId xmlns:a16="http://schemas.microsoft.com/office/drawing/2014/main" id="{F3BEBDAA-CEDE-6490-E525-B0B35078739C}"/>
                </a:ext>
              </a:extLst>
            </p:cNvPr>
            <p:cNvPicPr>
              <a:picLocks noChangeAspect="1"/>
            </p:cNvPicPr>
            <p:nvPr/>
          </p:nvPicPr>
          <p:blipFill>
            <a:blip r:embed="rId2">
              <a:duotone>
                <a:srgbClr val="765FFF"/>
                <a:srgbClr val="FFFFFF"/>
              </a:duotone>
            </a:blip>
            <a:stretch>
              <a:fillRect/>
            </a:stretch>
          </p:blipFill>
          <p:spPr>
            <a:xfrm>
              <a:off x="1526676" y="3768183"/>
              <a:ext cx="720000" cy="720000"/>
            </a:xfrm>
            <a:prstGeom prst="rect">
              <a:avLst/>
            </a:prstGeom>
          </p:spPr>
        </p:pic>
        <p:pic>
          <p:nvPicPr>
            <p:cNvPr id="19" name="Graphic 36" descr="Tools with solid fill">
              <a:extLst>
                <a:ext uri="{FF2B5EF4-FFF2-40B4-BE49-F238E27FC236}">
                  <a16:creationId xmlns:a16="http://schemas.microsoft.com/office/drawing/2014/main" id="{3EA1BD51-F136-EF83-B419-9223EBC23825}"/>
                </a:ext>
              </a:extLst>
            </p:cNvPr>
            <p:cNvPicPr>
              <a:picLocks noChangeAspect="1"/>
            </p:cNvPicPr>
            <p:nvPr/>
          </p:nvPicPr>
          <p:blipFill>
            <a:blip r:embed="rId3">
              <a:duotone>
                <a:srgbClr val="765FFF"/>
                <a:srgbClr val="FFFFFF"/>
              </a:duotone>
            </a:blip>
            <a:stretch>
              <a:fillRect/>
            </a:stretch>
          </p:blipFill>
          <p:spPr>
            <a:xfrm>
              <a:off x="2429878" y="3907799"/>
              <a:ext cx="469232" cy="469232"/>
            </a:xfrm>
            <a:prstGeom prst="rect">
              <a:avLst/>
            </a:prstGeom>
          </p:spPr>
        </p:pic>
        <p:pic>
          <p:nvPicPr>
            <p:cNvPr id="20" name="Picture 19" descr="Decide">
              <a:extLst>
                <a:ext uri="{FF2B5EF4-FFF2-40B4-BE49-F238E27FC236}">
                  <a16:creationId xmlns:a16="http://schemas.microsoft.com/office/drawing/2014/main" id="{024D9730-EB4E-1888-F63C-A2F433AAE9CC}"/>
                </a:ext>
              </a:extLst>
            </p:cNvPr>
            <p:cNvPicPr>
              <a:picLocks noChangeAspect="1"/>
            </p:cNvPicPr>
            <p:nvPr/>
          </p:nvPicPr>
          <p:blipFill>
            <a:blip r:embed="rId4">
              <a:duotone>
                <a:srgbClr val="765FFF"/>
                <a:srgbClr val="FFFFFF"/>
              </a:duotone>
            </a:blip>
            <a:stretch>
              <a:fillRect/>
            </a:stretch>
          </p:blipFill>
          <p:spPr>
            <a:xfrm>
              <a:off x="4825305" y="3768251"/>
              <a:ext cx="648000" cy="648000"/>
            </a:xfrm>
            <a:prstGeom prst="rect">
              <a:avLst/>
            </a:prstGeom>
          </p:spPr>
        </p:pic>
        <p:pic>
          <p:nvPicPr>
            <p:cNvPr id="21" name="Picture 20" descr="Role, talent, red">
              <a:extLst>
                <a:ext uri="{FF2B5EF4-FFF2-40B4-BE49-F238E27FC236}">
                  <a16:creationId xmlns:a16="http://schemas.microsoft.com/office/drawing/2014/main" id="{D9648215-946F-B801-A4D4-561DA13EC018}"/>
                </a:ext>
              </a:extLst>
            </p:cNvPr>
            <p:cNvPicPr>
              <a:picLocks noChangeAspect="1"/>
            </p:cNvPicPr>
            <p:nvPr/>
          </p:nvPicPr>
          <p:blipFill>
            <a:blip r:embed="rId5">
              <a:duotone>
                <a:srgbClr val="765FFF"/>
                <a:srgbClr val="FFFFFF"/>
              </a:duotone>
            </a:blip>
            <a:stretch>
              <a:fillRect/>
            </a:stretch>
          </p:blipFill>
          <p:spPr>
            <a:xfrm>
              <a:off x="7262526" y="3734411"/>
              <a:ext cx="720000" cy="720000"/>
            </a:xfrm>
            <a:prstGeom prst="rect">
              <a:avLst/>
            </a:prstGeom>
          </p:spPr>
        </p:pic>
        <p:pic>
          <p:nvPicPr>
            <p:cNvPr id="22" name="Graphic 40" descr="Transfer with solid fill">
              <a:extLst>
                <a:ext uri="{FF2B5EF4-FFF2-40B4-BE49-F238E27FC236}">
                  <a16:creationId xmlns:a16="http://schemas.microsoft.com/office/drawing/2014/main" id="{58B3DC08-3DD0-8998-323F-D153E808B382}"/>
                </a:ext>
              </a:extLst>
            </p:cNvPr>
            <p:cNvPicPr>
              <a:picLocks noChangeAspect="1"/>
            </p:cNvPicPr>
            <p:nvPr/>
          </p:nvPicPr>
          <p:blipFill>
            <a:blip r:embed="rId6">
              <a:duotone>
                <a:srgbClr val="765FFF"/>
                <a:srgbClr val="FFFFFF"/>
              </a:duotone>
            </a:blip>
            <a:stretch>
              <a:fillRect/>
            </a:stretch>
          </p:blipFill>
          <p:spPr>
            <a:xfrm>
              <a:off x="9504053" y="3959172"/>
              <a:ext cx="310412" cy="310412"/>
            </a:xfrm>
            <a:prstGeom prst="rect">
              <a:avLst/>
            </a:prstGeom>
          </p:spPr>
        </p:pic>
        <p:pic>
          <p:nvPicPr>
            <p:cNvPr id="23" name="Picture 22" descr="Talent to Value">
              <a:extLst>
                <a:ext uri="{FF2B5EF4-FFF2-40B4-BE49-F238E27FC236}">
                  <a16:creationId xmlns:a16="http://schemas.microsoft.com/office/drawing/2014/main" id="{27410991-7C00-356B-400F-28A593A6A0F2}"/>
                </a:ext>
              </a:extLst>
            </p:cNvPr>
            <p:cNvPicPr>
              <a:picLocks noChangeAspect="1"/>
            </p:cNvPicPr>
            <p:nvPr/>
          </p:nvPicPr>
          <p:blipFill>
            <a:blip r:embed="rId2">
              <a:duotone>
                <a:srgbClr val="765FFF"/>
                <a:srgbClr val="FFFFFF"/>
              </a:duotone>
            </a:blip>
            <a:stretch>
              <a:fillRect/>
            </a:stretch>
          </p:blipFill>
          <p:spPr>
            <a:xfrm>
              <a:off x="9894813" y="3753196"/>
              <a:ext cx="720000" cy="720000"/>
            </a:xfrm>
            <a:prstGeom prst="rect">
              <a:avLst/>
            </a:prstGeom>
          </p:spPr>
        </p:pic>
        <p:sp>
          <p:nvSpPr>
            <p:cNvPr id="24" name="TextBox 23">
              <a:extLst>
                <a:ext uri="{FF2B5EF4-FFF2-40B4-BE49-F238E27FC236}">
                  <a16:creationId xmlns:a16="http://schemas.microsoft.com/office/drawing/2014/main" id="{3522F05B-CAA3-C609-B793-290ACFE95925}"/>
                </a:ext>
              </a:extLst>
            </p:cNvPr>
            <p:cNvSpPr txBox="1"/>
            <p:nvPr/>
          </p:nvSpPr>
          <p:spPr>
            <a:xfrm>
              <a:off x="6189848" y="1522194"/>
              <a:ext cx="4631497" cy="928187"/>
            </a:xfrm>
            <a:prstGeom prst="rect">
              <a:avLst/>
            </a:prstGeom>
            <a:noFill/>
          </p:spPr>
          <p:txBody>
            <a:bodyPr wrap="square" lIns="91440" tIns="45720" rIns="91440" bIns="45720" rtlCol="0" anchor="ctr">
              <a:noAutofit/>
            </a:bodyPr>
            <a:lstStyle/>
            <a:p>
              <a:pPr algn="r"/>
              <a:r>
                <a:rPr lang="en-US" spc="-10" dirty="0">
                  <a:solidFill>
                    <a:srgbClr val="1D1D1D"/>
                  </a:solidFill>
                  <a:latin typeface="Arial" pitchFamily="34" charset="0"/>
                  <a:ea typeface="Helvetica Neue" panose="02000503000000020004" pitchFamily="2" charset="0"/>
                  <a:cs typeface="Helvetica Neue" panose="02000503000000020004" pitchFamily="2" charset="0"/>
                </a:rPr>
                <a:t>Prioritize value coaching intervention based on expected </a:t>
              </a:r>
              <a:r>
                <a:rPr lang="en-US" spc="-10" dirty="0">
                  <a:solidFill>
                    <a:schemeClr val="accent1"/>
                  </a:solidFill>
                  <a:latin typeface="Arial" pitchFamily="34" charset="0"/>
                  <a:ea typeface="Helvetica Neue" panose="02000503000000020004" pitchFamily="2" charset="0"/>
                  <a:cs typeface="Helvetica Neue" panose="02000503000000020004" pitchFamily="2" charset="0"/>
                </a:rPr>
                <a:t>impact</a:t>
              </a:r>
              <a:r>
                <a:rPr lang="en-US" spc="-10" dirty="0">
                  <a:solidFill>
                    <a:srgbClr val="1D1D1D"/>
                  </a:solidFill>
                  <a:latin typeface="Arial" pitchFamily="34" charset="0"/>
                  <a:ea typeface="Helvetica Neue" panose="02000503000000020004" pitchFamily="2" charset="0"/>
                  <a:cs typeface="Helvetica Neue" panose="02000503000000020004" pitchFamily="2" charset="0"/>
                </a:rPr>
                <a:t> and </a:t>
              </a:r>
              <a:r>
                <a:rPr lang="en-US" spc="-10" dirty="0">
                  <a:solidFill>
                    <a:schemeClr val="accent1"/>
                  </a:solidFill>
                  <a:latin typeface="Arial" pitchFamily="34" charset="0"/>
                  <a:ea typeface="Helvetica Neue" panose="02000503000000020004" pitchFamily="2" charset="0"/>
                  <a:cs typeface="Helvetica Neue" panose="02000503000000020004" pitchFamily="2" charset="0"/>
                </a:rPr>
                <a:t>time to value.</a:t>
              </a:r>
            </a:p>
          </p:txBody>
        </p:sp>
      </p:grpSp>
      <p:sp>
        <p:nvSpPr>
          <p:cNvPr id="25" name="TextBox 24">
            <a:extLst>
              <a:ext uri="{FF2B5EF4-FFF2-40B4-BE49-F238E27FC236}">
                <a16:creationId xmlns:a16="http://schemas.microsoft.com/office/drawing/2014/main" id="{96955A2A-30BE-C9A5-221D-152252901D4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287525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22D1E0-D426-2823-9F0C-374621FEA224}"/>
              </a:ext>
            </a:extLst>
          </p:cNvPr>
          <p:cNvSpPr>
            <a:spLocks noGrp="1"/>
          </p:cNvSpPr>
          <p:nvPr>
            <p:ph type="sldNum" sz="quarter" idx="4"/>
          </p:nvPr>
        </p:nvSpPr>
        <p:spPr/>
        <p:txBody>
          <a:bodyPr/>
          <a:lstStyle/>
          <a:p>
            <a:pPr algn="ctr"/>
            <a:fld id="{1875A764-3B06-454E-8ABA-2F6ED0EB58E9}" type="slidenum">
              <a:rPr lang="en-US" smtClean="0"/>
              <a:t>33</a:t>
            </a:fld>
            <a:endParaRPr lang="en-US"/>
          </a:p>
        </p:txBody>
      </p:sp>
      <p:sp>
        <p:nvSpPr>
          <p:cNvPr id="3" name="Title 2">
            <a:extLst>
              <a:ext uri="{FF2B5EF4-FFF2-40B4-BE49-F238E27FC236}">
                <a16:creationId xmlns:a16="http://schemas.microsoft.com/office/drawing/2014/main" id="{F9AE05AF-97F8-C72C-1BE2-42F558966B35}"/>
              </a:ext>
            </a:extLst>
          </p:cNvPr>
          <p:cNvSpPr>
            <a:spLocks noGrp="1"/>
          </p:cNvSpPr>
          <p:nvPr>
            <p:ph type="title"/>
          </p:nvPr>
        </p:nvSpPr>
        <p:spPr/>
        <p:txBody>
          <a:bodyPr/>
          <a:lstStyle/>
          <a:p>
            <a:r>
              <a:rPr lang="en-US" spc="-25" dirty="0"/>
              <a:t>And Identify Actions at the Organization Level</a:t>
            </a:r>
            <a:endParaRPr lang="en-US" dirty="0"/>
          </a:p>
        </p:txBody>
      </p:sp>
      <p:sp>
        <p:nvSpPr>
          <p:cNvPr id="4" name="Rectangle 3">
            <a:extLst>
              <a:ext uri="{FF2B5EF4-FFF2-40B4-BE49-F238E27FC236}">
                <a16:creationId xmlns:a16="http://schemas.microsoft.com/office/drawing/2014/main" id="{295BE2E3-50C4-A2D3-99B8-6960985D6653}"/>
              </a:ext>
            </a:extLst>
          </p:cNvPr>
          <p:cNvSpPr/>
          <p:nvPr/>
        </p:nvSpPr>
        <p:spPr>
          <a:xfrm rot="10800000">
            <a:off x="5212077" y="1911928"/>
            <a:ext cx="355346" cy="3574472"/>
          </a:xfrm>
          <a:custGeom>
            <a:avLst/>
            <a:gdLst>
              <a:gd name="connsiteX0" fmla="*/ 0 w 2068838"/>
              <a:gd name="connsiteY0" fmla="*/ 0 h 5200109"/>
              <a:gd name="connsiteX1" fmla="*/ 2068838 w 2068838"/>
              <a:gd name="connsiteY1" fmla="*/ 0 h 5200109"/>
              <a:gd name="connsiteX2" fmla="*/ 2068838 w 2068838"/>
              <a:gd name="connsiteY2" fmla="*/ 5200109 h 5200109"/>
              <a:gd name="connsiteX3" fmla="*/ 0 w 2068838"/>
              <a:gd name="connsiteY3" fmla="*/ 5200109 h 5200109"/>
              <a:gd name="connsiteX4" fmla="*/ 0 w 2068838"/>
              <a:gd name="connsiteY4" fmla="*/ 0 h 5200109"/>
              <a:gd name="connsiteX0" fmla="*/ 0 w 2068838"/>
              <a:gd name="connsiteY0" fmla="*/ 984739 h 5200109"/>
              <a:gd name="connsiteX1" fmla="*/ 2068838 w 2068838"/>
              <a:gd name="connsiteY1" fmla="*/ 0 h 5200109"/>
              <a:gd name="connsiteX2" fmla="*/ 2068838 w 2068838"/>
              <a:gd name="connsiteY2" fmla="*/ 5200109 h 5200109"/>
              <a:gd name="connsiteX3" fmla="*/ 0 w 2068838"/>
              <a:gd name="connsiteY3" fmla="*/ 5200109 h 5200109"/>
              <a:gd name="connsiteX4" fmla="*/ 0 w 2068838"/>
              <a:gd name="connsiteY4" fmla="*/ 984739 h 5200109"/>
              <a:gd name="connsiteX0" fmla="*/ 0 w 2068838"/>
              <a:gd name="connsiteY0" fmla="*/ 984739 h 5200109"/>
              <a:gd name="connsiteX1" fmla="*/ 2068838 w 2068838"/>
              <a:gd name="connsiteY1" fmla="*/ 0 h 5200109"/>
              <a:gd name="connsiteX2" fmla="*/ 2068838 w 2068838"/>
              <a:gd name="connsiteY2" fmla="*/ 5200109 h 5200109"/>
              <a:gd name="connsiteX3" fmla="*/ 0 w 2068838"/>
              <a:gd name="connsiteY3" fmla="*/ 4176294 h 5200109"/>
              <a:gd name="connsiteX4" fmla="*/ 0 w 2068838"/>
              <a:gd name="connsiteY4" fmla="*/ 984739 h 5200109"/>
              <a:gd name="connsiteX0" fmla="*/ 7815 w 2076653"/>
              <a:gd name="connsiteY0" fmla="*/ 984739 h 5200109"/>
              <a:gd name="connsiteX1" fmla="*/ 2076653 w 2076653"/>
              <a:gd name="connsiteY1" fmla="*/ 0 h 5200109"/>
              <a:gd name="connsiteX2" fmla="*/ 2076653 w 2076653"/>
              <a:gd name="connsiteY2" fmla="*/ 5200109 h 5200109"/>
              <a:gd name="connsiteX3" fmla="*/ 0 w 2076653"/>
              <a:gd name="connsiteY3" fmla="*/ 4176294 h 5200109"/>
              <a:gd name="connsiteX4" fmla="*/ 7815 w 2076653"/>
              <a:gd name="connsiteY4" fmla="*/ 984739 h 5200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6653" h="5200109">
                <a:moveTo>
                  <a:pt x="7815" y="984739"/>
                </a:moveTo>
                <a:lnTo>
                  <a:pt x="2076653" y="0"/>
                </a:lnTo>
                <a:lnTo>
                  <a:pt x="2076653" y="5200109"/>
                </a:lnTo>
                <a:lnTo>
                  <a:pt x="0" y="4176294"/>
                </a:lnTo>
                <a:lnTo>
                  <a:pt x="7815" y="984739"/>
                </a:lnTo>
                <a:close/>
              </a:path>
            </a:pathLst>
          </a:custGeom>
          <a:solidFill>
            <a:srgbClr val="D0D7DF"/>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10" normalizeH="0" baseline="0" noProof="0">
              <a:ln>
                <a:noFill/>
              </a:ln>
              <a:solidFill>
                <a:srgbClr val="1D1D1D"/>
              </a:solidFill>
              <a:effectLst/>
              <a:uLnTx/>
              <a:uFillTx/>
              <a:latin typeface="Arial" pitchFamily="34" charset="0"/>
              <a:ea typeface="+mn-ea"/>
              <a:cs typeface="+mn-cs"/>
            </a:endParaRPr>
          </a:p>
        </p:txBody>
      </p:sp>
      <p:pic>
        <p:nvPicPr>
          <p:cNvPr id="5" name="Picture 4">
            <a:extLst>
              <a:ext uri="{FF2B5EF4-FFF2-40B4-BE49-F238E27FC236}">
                <a16:creationId xmlns:a16="http://schemas.microsoft.com/office/drawing/2014/main" id="{11DF780D-F219-0364-B6BF-E987E8361D94}"/>
              </a:ext>
            </a:extLst>
          </p:cNvPr>
          <p:cNvPicPr>
            <a:picLocks noChangeAspect="1"/>
          </p:cNvPicPr>
          <p:nvPr/>
        </p:nvPicPr>
        <p:blipFill>
          <a:blip r:embed="rId2">
            <a:duotone>
              <a:schemeClr val="accent1">
                <a:shade val="45000"/>
                <a:satMod val="135000"/>
              </a:schemeClr>
              <a:prstClr val="white"/>
            </a:duotone>
          </a:blip>
          <a:srcRect/>
          <a:stretch/>
        </p:blipFill>
        <p:spPr>
          <a:xfrm>
            <a:off x="726539" y="2088895"/>
            <a:ext cx="4485538" cy="3220538"/>
          </a:xfrm>
          <a:prstGeom prst="rect">
            <a:avLst/>
          </a:prstGeom>
        </p:spPr>
      </p:pic>
      <p:sp>
        <p:nvSpPr>
          <p:cNvPr id="6" name="Rectangle 5">
            <a:extLst>
              <a:ext uri="{FF2B5EF4-FFF2-40B4-BE49-F238E27FC236}">
                <a16:creationId xmlns:a16="http://schemas.microsoft.com/office/drawing/2014/main" id="{DA4DE6C8-144A-461B-1576-BB96BDEB641C}"/>
              </a:ext>
            </a:extLst>
          </p:cNvPr>
          <p:cNvSpPr/>
          <p:nvPr/>
        </p:nvSpPr>
        <p:spPr>
          <a:xfrm>
            <a:off x="5683170" y="4747602"/>
            <a:ext cx="5782291" cy="13849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lvl="0">
              <a:defRPr/>
            </a:pPr>
            <a:r>
              <a:rPr lang="en-US" sz="1200" b="1" kern="0" spc="-10">
                <a:solidFill>
                  <a:srgbClr val="281A42"/>
                </a:solidFill>
                <a:latin typeface="Segoe UI" pitchFamily="34" charset="0"/>
              </a:rPr>
              <a:t>MOBILIZE CRITCIAL ROLES BY MITIGATING EXECUTION RISKS</a:t>
            </a:r>
          </a:p>
          <a:p>
            <a:pPr marL="171450" lvl="0" indent="-171450">
              <a:buFont typeface="Arial" panose="020B0604020202020204" pitchFamily="34" charset="0"/>
              <a:buChar char="•"/>
              <a:defRPr/>
            </a:pPr>
            <a:r>
              <a:rPr lang="en-US" sz="1200" kern="0" spc="-10">
                <a:solidFill>
                  <a:srgbClr val="1D1D1D"/>
                </a:solidFill>
                <a:latin typeface="Arial" pitchFamily="34" charset="0"/>
              </a:rPr>
              <a:t>Prioritize roles with multiple red flags (</a:t>
            </a:r>
            <a:r>
              <a:rPr lang="en-US" sz="1200" kern="0" spc="-10">
                <a:solidFill>
                  <a:srgbClr val="765FFF"/>
                </a:solidFill>
                <a:latin typeface="Arial" pitchFamily="34" charset="0"/>
              </a:rPr>
              <a:t>Talent Risk, Role Risk, Ability to Scale</a:t>
            </a:r>
            <a:r>
              <a:rPr lang="en-US" sz="1200" kern="0" spc="-10">
                <a:solidFill>
                  <a:srgbClr val="1D1D1D"/>
                </a:solidFill>
                <a:latin typeface="Arial" pitchFamily="34" charset="0"/>
              </a:rPr>
              <a:t>) to clarify mandate, and mitigate risks —especially in scale-heavy roles</a:t>
            </a:r>
          </a:p>
          <a:p>
            <a:pPr marL="514350" lvl="1" indent="-171450">
              <a:buFont typeface="Arial" panose="020B0604020202020204" pitchFamily="34" charset="0"/>
              <a:buChar char="•"/>
              <a:defRPr/>
            </a:pPr>
            <a:r>
              <a:rPr lang="en-US" sz="1200" spc="-10">
                <a:solidFill>
                  <a:srgbClr val="1D1D1D"/>
                </a:solidFill>
                <a:latin typeface="Arial" pitchFamily="34" charset="0"/>
                <a:ea typeface="Helvetica Neue Light" panose="02000403000000020004" pitchFamily="2" charset="0"/>
                <a:cs typeface="Lato Light" panose="020F0502020204030203" pitchFamily="34" charset="0"/>
              </a:rPr>
              <a:t>Customer Marketing </a:t>
            </a:r>
            <a:r>
              <a:rPr lang="en-US" sz="1200" spc="-10" err="1">
                <a:solidFill>
                  <a:srgbClr val="1D1D1D"/>
                </a:solidFill>
                <a:latin typeface="Arial" pitchFamily="34" charset="0"/>
                <a:ea typeface="Helvetica Neue Light" panose="02000403000000020004" pitchFamily="2" charset="0"/>
                <a:cs typeface="Lato Light" panose="020F0502020204030203" pitchFamily="34" charset="0"/>
              </a:rPr>
              <a:t>Mgr</a:t>
            </a:r>
            <a:r>
              <a:rPr lang="en-US" sz="1200" spc="-10">
                <a:solidFill>
                  <a:srgbClr val="1D1D1D"/>
                </a:solidFill>
                <a:latin typeface="Arial" pitchFamily="34" charset="0"/>
                <a:ea typeface="Helvetica Neue Light" panose="02000403000000020004" pitchFamily="2" charset="0"/>
                <a:cs typeface="Lato Light" panose="020F0502020204030203" pitchFamily="34" charset="0"/>
              </a:rPr>
              <a:t>: create alignment on </a:t>
            </a:r>
            <a:r>
              <a:rPr lang="en-GB" sz="1200" spc="-10">
                <a:solidFill>
                  <a:srgbClr val="1D1D1D"/>
                </a:solidFill>
                <a:latin typeface="Arial" pitchFamily="34" charset="0"/>
                <a:ea typeface="Helvetica Neue Light" panose="02000403000000020004" pitchFamily="2" charset="0"/>
                <a:cs typeface="Lato Light" panose="020F0502020204030203" pitchFamily="34" charset="0"/>
              </a:rPr>
              <a:t>campaign goals / key metrics</a:t>
            </a:r>
            <a:endParaRPr lang="en-US" sz="1200" spc="-10">
              <a:solidFill>
                <a:srgbClr val="1D1D1D"/>
              </a:solidFill>
              <a:latin typeface="Arial" pitchFamily="34" charset="0"/>
              <a:ea typeface="Helvetica Neue Light" panose="02000403000000020004" pitchFamily="2" charset="0"/>
              <a:cs typeface="Lato Light" panose="020F0502020204030203" pitchFamily="34" charset="0"/>
            </a:endParaRPr>
          </a:p>
          <a:p>
            <a:pPr marL="514350" lvl="1" indent="-171450">
              <a:buFont typeface="Arial" panose="020B0604020202020204" pitchFamily="34" charset="0"/>
              <a:buChar char="•"/>
              <a:defRPr/>
            </a:pPr>
            <a:r>
              <a:rPr lang="en-US" sz="1200" spc="-10">
                <a:solidFill>
                  <a:srgbClr val="1D1D1D"/>
                </a:solidFill>
                <a:latin typeface="Arial" pitchFamily="34" charset="0"/>
                <a:ea typeface="Helvetica Neue Light" panose="02000403000000020004" pitchFamily="2" charset="0"/>
                <a:cs typeface="Lato Light" panose="020F0502020204030203" pitchFamily="34" charset="0"/>
              </a:rPr>
              <a:t>M&amp;A Integration Lead: Build team &amp; governance to address </a:t>
            </a:r>
            <a:r>
              <a:rPr lang="en-GB" sz="1200" spc="-10">
                <a:solidFill>
                  <a:srgbClr val="1D1D1D"/>
                </a:solidFill>
                <a:latin typeface="Arial" pitchFamily="34" charset="0"/>
                <a:ea typeface="Helvetica Neue Light" panose="02000403000000020004" pitchFamily="2" charset="0"/>
                <a:cs typeface="Lato Light" panose="020F0502020204030203" pitchFamily="34" charset="0"/>
              </a:rPr>
              <a:t>lack of buy-in from acquired teams</a:t>
            </a:r>
            <a:endParaRPr lang="en-US" sz="1200" spc="-10">
              <a:solidFill>
                <a:srgbClr val="1D1D1D"/>
              </a:solidFill>
              <a:latin typeface="Arial" pitchFamily="34" charset="0"/>
              <a:ea typeface="Helvetica Neue Light" panose="02000403000000020004" pitchFamily="2" charset="0"/>
              <a:cs typeface="Lato Light" panose="020F0502020204030203" pitchFamily="34" charset="0"/>
            </a:endParaRPr>
          </a:p>
        </p:txBody>
      </p:sp>
      <p:sp>
        <p:nvSpPr>
          <p:cNvPr id="7" name="Rectangle 6">
            <a:extLst>
              <a:ext uri="{FF2B5EF4-FFF2-40B4-BE49-F238E27FC236}">
                <a16:creationId xmlns:a16="http://schemas.microsoft.com/office/drawing/2014/main" id="{138BBCFC-1384-1C77-8144-ED83C419AA13}"/>
              </a:ext>
            </a:extLst>
          </p:cNvPr>
          <p:cNvSpPr/>
          <p:nvPr/>
        </p:nvSpPr>
        <p:spPr>
          <a:xfrm>
            <a:off x="5683170" y="2798850"/>
            <a:ext cx="5782291" cy="1754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rPr>
              <a:t>STRENGTHEN TEAM CAPABILITIES IN SPECIFIC AREAS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Assess N-1 and N-2 roles in light of future Jobs to Be Done across value hotspots like:</a:t>
            </a:r>
          </a:p>
          <a:p>
            <a:pPr marL="5143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Customer &amp; Channel – e.g., E-commerce Channel Manager, Customer Marketing Manager</a:t>
            </a:r>
          </a:p>
          <a:p>
            <a:pPr marL="5143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M&amp;A – M&amp;A Integration Lead, VP Corporate 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Review org structure and role clustering to:</a:t>
            </a:r>
          </a:p>
          <a:p>
            <a:pPr marL="5143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Focus headcount and leadership on scaling the work in hotspots like Brand Building, Digital Commerce, and Productivity</a:t>
            </a:r>
          </a:p>
        </p:txBody>
      </p:sp>
      <p:sp>
        <p:nvSpPr>
          <p:cNvPr id="8" name="Rectangle 7">
            <a:extLst>
              <a:ext uri="{FF2B5EF4-FFF2-40B4-BE49-F238E27FC236}">
                <a16:creationId xmlns:a16="http://schemas.microsoft.com/office/drawing/2014/main" id="{6DF96257-D169-77B4-66EB-B1B897303326}"/>
              </a:ext>
            </a:extLst>
          </p:cNvPr>
          <p:cNvSpPr/>
          <p:nvPr/>
        </p:nvSpPr>
        <p:spPr>
          <a:xfrm>
            <a:off x="5683170" y="1311763"/>
            <a:ext cx="5782291" cy="12003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b="1" spc="-25">
                <a:latin typeface="Segoe UI" pitchFamily="34" charset="0"/>
              </a:defRPr>
            </a:pPr>
            <a:r>
              <a:rPr kumimoji="0" lang="en-US" sz="1200" b="1" i="0" u="none" strike="noStrike" kern="0" cap="none" spc="-25" normalizeH="0" baseline="0" noProof="0" dirty="0">
                <a:ln>
                  <a:noFill/>
                </a:ln>
                <a:solidFill>
                  <a:srgbClr val="281A42"/>
                </a:solidFill>
                <a:effectLst/>
                <a:uLnTx/>
                <a:uFillTx/>
                <a:latin typeface="Segoe UI" pitchFamily="34" charset="0"/>
                <a:ea typeface="+mn-ea"/>
                <a:cs typeface="+mn-cs"/>
              </a:rPr>
              <a:t>OPERATING MODEL/ ORG HEALTH - HOW DO YOU WANT TO RUN THE PLACE</a:t>
            </a:r>
          </a:p>
          <a:p>
            <a:pPr marL="171450" indent="-171450">
              <a:buFont typeface="Arial" panose="020B0604020202020204" pitchFamily="34" charset="0"/>
              <a:buChar char="•"/>
              <a:defRPr/>
            </a:pPr>
            <a:r>
              <a:rPr lang="en-GB" sz="1200" kern="0" spc="-10" dirty="0">
                <a:solidFill>
                  <a:srgbClr val="1D1D1D"/>
                </a:solidFill>
                <a:latin typeface="Arial" pitchFamily="34" charset="0"/>
              </a:rPr>
              <a:t>Clarify Role of Headquarters Vs. region/country Vs. Platform Teams:</a:t>
            </a:r>
          </a:p>
          <a:p>
            <a:pPr marL="628650" lvl="2" indent="-171450">
              <a:buFont typeface="Arial" panose="020B0604020202020204" pitchFamily="34" charset="0"/>
              <a:buChar char="•"/>
              <a:defRPr/>
            </a:pPr>
            <a:r>
              <a:rPr lang="en-GB" sz="1200" kern="0" spc="-10" dirty="0">
                <a:solidFill>
                  <a:srgbClr val="1D1D1D"/>
                </a:solidFill>
                <a:latin typeface="Arial" pitchFamily="34" charset="0"/>
              </a:rPr>
              <a:t>M&amp;A &amp; Category Expansion (e.g., Central Vs. Local Responsibility in Planning?)</a:t>
            </a:r>
          </a:p>
          <a:p>
            <a:pPr marL="628650" lvl="2" indent="-171450">
              <a:buFont typeface="Arial" panose="020B0604020202020204" pitchFamily="34" charset="0"/>
              <a:buChar char="•"/>
              <a:defRPr/>
            </a:pPr>
            <a:r>
              <a:rPr lang="en-GB" sz="1200" kern="0" spc="-10" dirty="0">
                <a:solidFill>
                  <a:srgbClr val="1D1D1D"/>
                </a:solidFill>
                <a:latin typeface="Arial" pitchFamily="34" charset="0"/>
              </a:rPr>
              <a:t>Customer &amp; Channel: Who Owns Joint Business Planning</a:t>
            </a:r>
          </a:p>
          <a:p>
            <a:pPr marL="628650" lvl="2" indent="-171450">
              <a:buFont typeface="Arial" panose="020B0604020202020204" pitchFamily="34" charset="0"/>
              <a:buChar char="•"/>
              <a:defRPr/>
            </a:pPr>
            <a:r>
              <a:rPr lang="en-GB" sz="1200" kern="0" spc="-10" dirty="0">
                <a:solidFill>
                  <a:srgbClr val="1D1D1D"/>
                </a:solidFill>
                <a:latin typeface="Arial" pitchFamily="34" charset="0"/>
              </a:rPr>
              <a:t>Brand &amp; Innovation: Where Does Innovation Live</a:t>
            </a:r>
          </a:p>
        </p:txBody>
      </p:sp>
      <p:sp>
        <p:nvSpPr>
          <p:cNvPr id="9" name="TextBox 8">
            <a:extLst>
              <a:ext uri="{FF2B5EF4-FFF2-40B4-BE49-F238E27FC236}">
                <a16:creationId xmlns:a16="http://schemas.microsoft.com/office/drawing/2014/main" id="{65E69F93-AC0B-DC28-2F75-2F651D7C9C7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489895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8980FA-AB4D-73D8-AA01-BA03A9ADA8E4}"/>
              </a:ext>
            </a:extLst>
          </p:cNvPr>
          <p:cNvSpPr>
            <a:spLocks noGrp="1"/>
          </p:cNvSpPr>
          <p:nvPr>
            <p:ph type="sldNum" sz="quarter" idx="4"/>
          </p:nvPr>
        </p:nvSpPr>
        <p:spPr/>
        <p:txBody>
          <a:bodyPr/>
          <a:lstStyle/>
          <a:p>
            <a:pPr algn="ctr"/>
            <a:fld id="{1875A764-3B06-454E-8ABA-2F6ED0EB58E9}" type="slidenum">
              <a:rPr lang="en-US" smtClean="0"/>
              <a:t>34</a:t>
            </a:fld>
            <a:endParaRPr lang="en-US"/>
          </a:p>
        </p:txBody>
      </p:sp>
      <p:sp>
        <p:nvSpPr>
          <p:cNvPr id="3" name="Title 2">
            <a:extLst>
              <a:ext uri="{FF2B5EF4-FFF2-40B4-BE49-F238E27FC236}">
                <a16:creationId xmlns:a16="http://schemas.microsoft.com/office/drawing/2014/main" id="{29611708-EC53-23A1-291C-8CB9849C08B1}"/>
              </a:ext>
            </a:extLst>
          </p:cNvPr>
          <p:cNvSpPr>
            <a:spLocks noGrp="1"/>
          </p:cNvSpPr>
          <p:nvPr>
            <p:ph type="title"/>
          </p:nvPr>
        </p:nvSpPr>
        <p:spPr/>
        <p:txBody>
          <a:bodyPr/>
          <a:lstStyle/>
          <a:p>
            <a:r>
              <a:rPr lang="en-US" spc="-25" dirty="0"/>
              <a:t>Giving US the Fewest Initiatives to Deliver the Value</a:t>
            </a:r>
            <a:endParaRPr lang="en-US" dirty="0"/>
          </a:p>
        </p:txBody>
      </p:sp>
      <p:sp>
        <p:nvSpPr>
          <p:cNvPr id="4" name="Rounded Rectangle 3">
            <a:extLst>
              <a:ext uri="{FF2B5EF4-FFF2-40B4-BE49-F238E27FC236}">
                <a16:creationId xmlns:a16="http://schemas.microsoft.com/office/drawing/2014/main" id="{BA82261B-EB45-7D02-C2D1-56936AEA78CF}"/>
              </a:ext>
            </a:extLst>
          </p:cNvPr>
          <p:cNvSpPr/>
          <p:nvPr/>
        </p:nvSpPr>
        <p:spPr>
          <a:xfrm>
            <a:off x="1152068" y="1709381"/>
            <a:ext cx="7298252" cy="3950316"/>
          </a:xfrm>
          <a:prstGeom prst="roundRect">
            <a:avLst>
              <a:gd name="adj" fmla="val 2473"/>
            </a:avLst>
          </a:prstGeom>
          <a:solidFill>
            <a:srgbClr val="765FFF"/>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buClr>
                <a:srgbClr val="1D1D1D"/>
              </a:buClr>
            </a:pPr>
            <a:endParaRPr lang="en-US" sz="2489" kern="0" spc="-10">
              <a:solidFill>
                <a:srgbClr val="FFFFFF"/>
              </a:solidFill>
              <a:latin typeface="Arial" pitchFamily="34" charset="0"/>
              <a:ea typeface="Helvetica Neue" panose="02000503000000020004" pitchFamily="2" charset="0"/>
              <a:cs typeface="Helvetica Neue" panose="02000503000000020004" pitchFamily="2" charset="0"/>
              <a:sym typeface="Arial"/>
            </a:endParaRPr>
          </a:p>
        </p:txBody>
      </p:sp>
      <p:grpSp>
        <p:nvGrpSpPr>
          <p:cNvPr id="5" name="Group 4">
            <a:extLst>
              <a:ext uri="{FF2B5EF4-FFF2-40B4-BE49-F238E27FC236}">
                <a16:creationId xmlns:a16="http://schemas.microsoft.com/office/drawing/2014/main" id="{D14CB0CA-1D8E-6170-EB2B-686CA66F0894}"/>
              </a:ext>
            </a:extLst>
          </p:cNvPr>
          <p:cNvGrpSpPr/>
          <p:nvPr/>
        </p:nvGrpSpPr>
        <p:grpSpPr>
          <a:xfrm>
            <a:off x="2440374" y="2689329"/>
            <a:ext cx="2160315" cy="1953104"/>
            <a:chOff x="449515" y="3251389"/>
            <a:chExt cx="2160315" cy="1953104"/>
          </a:xfrm>
        </p:grpSpPr>
        <p:pic>
          <p:nvPicPr>
            <p:cNvPr id="6" name="Graphic 16" descr="Office worker female with solid fill">
              <a:extLst>
                <a:ext uri="{FF2B5EF4-FFF2-40B4-BE49-F238E27FC236}">
                  <a16:creationId xmlns:a16="http://schemas.microsoft.com/office/drawing/2014/main" id="{E12E14B3-F25A-21BD-14EC-88DDF435193B}"/>
                </a:ext>
              </a:extLst>
            </p:cNvPr>
            <p:cNvPicPr>
              <a:picLocks noChangeAspect="1"/>
            </p:cNvPicPr>
            <p:nvPr/>
          </p:nvPicPr>
          <p:blipFill>
            <a:blip r:embed="rId2">
              <a:duotone>
                <a:srgbClr val="765FFF"/>
                <a:srgbClr val="FFFFFF"/>
              </a:duotone>
            </a:blip>
            <a:stretch>
              <a:fillRect/>
            </a:stretch>
          </p:blipFill>
          <p:spPr>
            <a:xfrm>
              <a:off x="1102608" y="3251389"/>
              <a:ext cx="854129" cy="854129"/>
            </a:xfrm>
            <a:prstGeom prst="rect">
              <a:avLst/>
            </a:prstGeom>
          </p:spPr>
        </p:pic>
        <p:sp>
          <p:nvSpPr>
            <p:cNvPr id="7" name="TextBox 6">
              <a:extLst>
                <a:ext uri="{FF2B5EF4-FFF2-40B4-BE49-F238E27FC236}">
                  <a16:creationId xmlns:a16="http://schemas.microsoft.com/office/drawing/2014/main" id="{C70DEF75-9D74-8942-F42A-A399881D236A}"/>
                </a:ext>
              </a:extLst>
            </p:cNvPr>
            <p:cNvSpPr txBox="1"/>
            <p:nvPr/>
          </p:nvSpPr>
          <p:spPr>
            <a:xfrm>
              <a:off x="449515" y="4619718"/>
              <a:ext cx="2160315" cy="584775"/>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r>
                <a:rPr kumimoji="0" lang="en-US" sz="16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sym typeface="Arial"/>
                </a:rPr>
                <a:t>Role</a:t>
              </a:r>
            </a:p>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r>
                <a:rPr kumimoji="0" lang="en-US" sz="16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sym typeface="Arial"/>
                </a:rPr>
                <a:t>Interventions</a:t>
              </a:r>
            </a:p>
          </p:txBody>
        </p:sp>
      </p:grpSp>
      <p:grpSp>
        <p:nvGrpSpPr>
          <p:cNvPr id="8" name="Group 7">
            <a:extLst>
              <a:ext uri="{FF2B5EF4-FFF2-40B4-BE49-F238E27FC236}">
                <a16:creationId xmlns:a16="http://schemas.microsoft.com/office/drawing/2014/main" id="{9C73E0C0-6198-B17B-ACB0-036E88E452B4}"/>
              </a:ext>
            </a:extLst>
          </p:cNvPr>
          <p:cNvGrpSpPr/>
          <p:nvPr/>
        </p:nvGrpSpPr>
        <p:grpSpPr>
          <a:xfrm>
            <a:off x="4600689" y="2689329"/>
            <a:ext cx="2160315" cy="2020892"/>
            <a:chOff x="4514888" y="3115816"/>
            <a:chExt cx="2160315" cy="2020892"/>
          </a:xfrm>
        </p:grpSpPr>
        <p:grpSp>
          <p:nvGrpSpPr>
            <p:cNvPr id="9" name="Group 8">
              <a:extLst>
                <a:ext uri="{FF2B5EF4-FFF2-40B4-BE49-F238E27FC236}">
                  <a16:creationId xmlns:a16="http://schemas.microsoft.com/office/drawing/2014/main" id="{BD603500-AC34-FF5A-DBF2-B55317B9D7AC}"/>
                </a:ext>
              </a:extLst>
            </p:cNvPr>
            <p:cNvGrpSpPr/>
            <p:nvPr/>
          </p:nvGrpSpPr>
          <p:grpSpPr>
            <a:xfrm>
              <a:off x="4874398" y="3115816"/>
              <a:ext cx="1441294" cy="1037427"/>
              <a:chOff x="5773219" y="1965518"/>
              <a:chExt cx="1812821" cy="1304849"/>
            </a:xfrm>
          </p:grpSpPr>
          <p:grpSp>
            <p:nvGrpSpPr>
              <p:cNvPr id="11" name="Group 10">
                <a:extLst>
                  <a:ext uri="{FF2B5EF4-FFF2-40B4-BE49-F238E27FC236}">
                    <a16:creationId xmlns:a16="http://schemas.microsoft.com/office/drawing/2014/main" id="{FF0335D4-164A-C204-535B-EF0210B8EBDD}"/>
                  </a:ext>
                </a:extLst>
              </p:cNvPr>
              <p:cNvGrpSpPr/>
              <p:nvPr/>
            </p:nvGrpSpPr>
            <p:grpSpPr>
              <a:xfrm>
                <a:off x="5773219" y="1965518"/>
                <a:ext cx="1812821" cy="547147"/>
                <a:chOff x="5773219" y="1965518"/>
                <a:chExt cx="1812821" cy="547147"/>
              </a:xfrm>
            </p:grpSpPr>
            <p:grpSp>
              <p:nvGrpSpPr>
                <p:cNvPr id="79" name="Group 78">
                  <a:extLst>
                    <a:ext uri="{FF2B5EF4-FFF2-40B4-BE49-F238E27FC236}">
                      <a16:creationId xmlns:a16="http://schemas.microsoft.com/office/drawing/2014/main" id="{FB74C061-8048-DA51-6877-00719DA49EFB}"/>
                    </a:ext>
                  </a:extLst>
                </p:cNvPr>
                <p:cNvGrpSpPr/>
                <p:nvPr/>
              </p:nvGrpSpPr>
              <p:grpSpPr>
                <a:xfrm>
                  <a:off x="5773219" y="1965518"/>
                  <a:ext cx="398115" cy="547147"/>
                  <a:chOff x="838200" y="2262600"/>
                  <a:chExt cx="2940408" cy="4041118"/>
                </a:xfrm>
              </p:grpSpPr>
              <p:grpSp>
                <p:nvGrpSpPr>
                  <p:cNvPr id="124" name="Group 123">
                    <a:extLst>
                      <a:ext uri="{FF2B5EF4-FFF2-40B4-BE49-F238E27FC236}">
                        <a16:creationId xmlns:a16="http://schemas.microsoft.com/office/drawing/2014/main" id="{A3F9B837-9184-2921-9EFC-9B81C7198692}"/>
                      </a:ext>
                    </a:extLst>
                  </p:cNvPr>
                  <p:cNvGrpSpPr/>
                  <p:nvPr/>
                </p:nvGrpSpPr>
                <p:grpSpPr>
                  <a:xfrm>
                    <a:off x="838200" y="2814918"/>
                    <a:ext cx="2940408" cy="2936482"/>
                    <a:chOff x="1567274" y="2267114"/>
                    <a:chExt cx="3379375" cy="3374861"/>
                  </a:xfrm>
                </p:grpSpPr>
                <p:sp>
                  <p:nvSpPr>
                    <p:cNvPr id="130" name="Rounded Rectangle 129">
                      <a:extLst>
                        <a:ext uri="{FF2B5EF4-FFF2-40B4-BE49-F238E27FC236}">
                          <a16:creationId xmlns:a16="http://schemas.microsoft.com/office/drawing/2014/main" id="{4CA8EFB5-7DBD-AB41-FD06-659FC96744D0}"/>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131" name="Group 130">
                      <a:extLst>
                        <a:ext uri="{FF2B5EF4-FFF2-40B4-BE49-F238E27FC236}">
                          <a16:creationId xmlns:a16="http://schemas.microsoft.com/office/drawing/2014/main" id="{B111CC74-4668-4598-1173-4D810EF3AF35}"/>
                        </a:ext>
                      </a:extLst>
                    </p:cNvPr>
                    <p:cNvGrpSpPr/>
                    <p:nvPr/>
                  </p:nvGrpSpPr>
                  <p:grpSpPr>
                    <a:xfrm>
                      <a:off x="4569577" y="2828058"/>
                      <a:ext cx="377072" cy="2252971"/>
                      <a:chOff x="4550724" y="2795278"/>
                      <a:chExt cx="377072" cy="2252971"/>
                    </a:xfrm>
                  </p:grpSpPr>
                  <p:grpSp>
                    <p:nvGrpSpPr>
                      <p:cNvPr id="139" name="Group 138">
                        <a:extLst>
                          <a:ext uri="{FF2B5EF4-FFF2-40B4-BE49-F238E27FC236}">
                            <a16:creationId xmlns:a16="http://schemas.microsoft.com/office/drawing/2014/main" id="{79CDEB66-EC48-F171-C2DA-B1F1FAE0CF40}"/>
                          </a:ext>
                        </a:extLst>
                      </p:cNvPr>
                      <p:cNvGrpSpPr/>
                      <p:nvPr/>
                    </p:nvGrpSpPr>
                    <p:grpSpPr>
                      <a:xfrm>
                        <a:off x="4550724" y="2795278"/>
                        <a:ext cx="377072" cy="754143"/>
                        <a:chOff x="5090475" y="2837535"/>
                        <a:chExt cx="377072" cy="754143"/>
                      </a:xfrm>
                    </p:grpSpPr>
                    <p:sp>
                      <p:nvSpPr>
                        <p:cNvPr id="143" name="Freeform 142">
                          <a:extLst>
                            <a:ext uri="{FF2B5EF4-FFF2-40B4-BE49-F238E27FC236}">
                              <a16:creationId xmlns:a16="http://schemas.microsoft.com/office/drawing/2014/main" id="{100707F3-A89E-E4FB-0CA4-2A2CA8BD75E8}"/>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44" name="Freeform 143">
                          <a:extLst>
                            <a:ext uri="{FF2B5EF4-FFF2-40B4-BE49-F238E27FC236}">
                              <a16:creationId xmlns:a16="http://schemas.microsoft.com/office/drawing/2014/main" id="{B74E4EC5-1E0E-2A0D-9F2A-8827CB41517A}"/>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140" name="Group 139">
                        <a:extLst>
                          <a:ext uri="{FF2B5EF4-FFF2-40B4-BE49-F238E27FC236}">
                            <a16:creationId xmlns:a16="http://schemas.microsoft.com/office/drawing/2014/main" id="{3A4565FA-3859-3531-A055-A53FCAC7EA79}"/>
                          </a:ext>
                        </a:extLst>
                      </p:cNvPr>
                      <p:cNvGrpSpPr/>
                      <p:nvPr/>
                    </p:nvGrpSpPr>
                    <p:grpSpPr>
                      <a:xfrm>
                        <a:off x="4550724" y="4294106"/>
                        <a:ext cx="377072" cy="754143"/>
                        <a:chOff x="5090475" y="2837535"/>
                        <a:chExt cx="377072" cy="754143"/>
                      </a:xfrm>
                    </p:grpSpPr>
                    <p:sp>
                      <p:nvSpPr>
                        <p:cNvPr id="141" name="Freeform 140">
                          <a:extLst>
                            <a:ext uri="{FF2B5EF4-FFF2-40B4-BE49-F238E27FC236}">
                              <a16:creationId xmlns:a16="http://schemas.microsoft.com/office/drawing/2014/main" id="{280F352F-5F8A-A2E7-8873-E5F89E5FCB59}"/>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42" name="Freeform 141">
                          <a:extLst>
                            <a:ext uri="{FF2B5EF4-FFF2-40B4-BE49-F238E27FC236}">
                              <a16:creationId xmlns:a16="http://schemas.microsoft.com/office/drawing/2014/main" id="{3946B5AE-C79A-0F97-773A-42DD7E55B953}"/>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132" name="Group 131">
                      <a:extLst>
                        <a:ext uri="{FF2B5EF4-FFF2-40B4-BE49-F238E27FC236}">
                          <a16:creationId xmlns:a16="http://schemas.microsoft.com/office/drawing/2014/main" id="{749ADAB0-130B-D9E1-D2AA-45B46A5A4AD3}"/>
                        </a:ext>
                      </a:extLst>
                    </p:cNvPr>
                    <p:cNvGrpSpPr/>
                    <p:nvPr/>
                  </p:nvGrpSpPr>
                  <p:grpSpPr>
                    <a:xfrm rot="10800000">
                      <a:off x="1567274" y="2828058"/>
                      <a:ext cx="377072" cy="2252971"/>
                      <a:chOff x="4550724" y="2795278"/>
                      <a:chExt cx="377072" cy="2252971"/>
                    </a:xfrm>
                  </p:grpSpPr>
                  <p:grpSp>
                    <p:nvGrpSpPr>
                      <p:cNvPr id="133" name="Group 132">
                        <a:extLst>
                          <a:ext uri="{FF2B5EF4-FFF2-40B4-BE49-F238E27FC236}">
                            <a16:creationId xmlns:a16="http://schemas.microsoft.com/office/drawing/2014/main" id="{88296B6F-41FF-7AD8-A0A1-86A61527CE1B}"/>
                          </a:ext>
                        </a:extLst>
                      </p:cNvPr>
                      <p:cNvGrpSpPr/>
                      <p:nvPr/>
                    </p:nvGrpSpPr>
                    <p:grpSpPr>
                      <a:xfrm>
                        <a:off x="4550724" y="2795278"/>
                        <a:ext cx="377072" cy="754143"/>
                        <a:chOff x="5090475" y="2837535"/>
                        <a:chExt cx="377072" cy="754143"/>
                      </a:xfrm>
                    </p:grpSpPr>
                    <p:sp>
                      <p:nvSpPr>
                        <p:cNvPr id="137" name="Freeform 136">
                          <a:extLst>
                            <a:ext uri="{FF2B5EF4-FFF2-40B4-BE49-F238E27FC236}">
                              <a16:creationId xmlns:a16="http://schemas.microsoft.com/office/drawing/2014/main" id="{BAD78CA4-82CB-96B0-4F20-5C281B7FD262}"/>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38" name="Freeform 137">
                          <a:extLst>
                            <a:ext uri="{FF2B5EF4-FFF2-40B4-BE49-F238E27FC236}">
                              <a16:creationId xmlns:a16="http://schemas.microsoft.com/office/drawing/2014/main" id="{47F5F49F-E70D-D165-D06A-90E8CED5509B}"/>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134" name="Group 133">
                        <a:extLst>
                          <a:ext uri="{FF2B5EF4-FFF2-40B4-BE49-F238E27FC236}">
                            <a16:creationId xmlns:a16="http://schemas.microsoft.com/office/drawing/2014/main" id="{884F052B-471E-9B33-84BE-9D4B6B22A476}"/>
                          </a:ext>
                        </a:extLst>
                      </p:cNvPr>
                      <p:cNvGrpSpPr/>
                      <p:nvPr/>
                    </p:nvGrpSpPr>
                    <p:grpSpPr>
                      <a:xfrm>
                        <a:off x="4550724" y="4294106"/>
                        <a:ext cx="377072" cy="754143"/>
                        <a:chOff x="5090475" y="2837535"/>
                        <a:chExt cx="377072" cy="754143"/>
                      </a:xfrm>
                    </p:grpSpPr>
                    <p:sp>
                      <p:nvSpPr>
                        <p:cNvPr id="135" name="Freeform 134">
                          <a:extLst>
                            <a:ext uri="{FF2B5EF4-FFF2-40B4-BE49-F238E27FC236}">
                              <a16:creationId xmlns:a16="http://schemas.microsoft.com/office/drawing/2014/main" id="{383C681D-44A3-7DF9-C31C-7745D3588A2D}"/>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36" name="Freeform 135">
                          <a:extLst>
                            <a:ext uri="{FF2B5EF4-FFF2-40B4-BE49-F238E27FC236}">
                              <a16:creationId xmlns:a16="http://schemas.microsoft.com/office/drawing/2014/main" id="{4835ED8F-55E3-82B7-D8E2-055085D2ED75}"/>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125" name="Freeform 124">
                    <a:extLst>
                      <a:ext uri="{FF2B5EF4-FFF2-40B4-BE49-F238E27FC236}">
                        <a16:creationId xmlns:a16="http://schemas.microsoft.com/office/drawing/2014/main" id="{BD1AC4C7-34C6-8B93-1F1F-9F6C37F375E6}"/>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26" name="Freeform 125">
                    <a:extLst>
                      <a:ext uri="{FF2B5EF4-FFF2-40B4-BE49-F238E27FC236}">
                        <a16:creationId xmlns:a16="http://schemas.microsoft.com/office/drawing/2014/main" id="{55DEAC75-8002-CDEE-989D-0B4A4DF9DF9E}"/>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127" name="Group 126">
                    <a:extLst>
                      <a:ext uri="{FF2B5EF4-FFF2-40B4-BE49-F238E27FC236}">
                        <a16:creationId xmlns:a16="http://schemas.microsoft.com/office/drawing/2014/main" id="{31B28828-B647-7151-8C82-F95BD35C52EE}"/>
                      </a:ext>
                    </a:extLst>
                  </p:cNvPr>
                  <p:cNvGrpSpPr/>
                  <p:nvPr/>
                </p:nvGrpSpPr>
                <p:grpSpPr>
                  <a:xfrm rot="10800000">
                    <a:off x="1980313" y="5975626"/>
                    <a:ext cx="656183" cy="328092"/>
                    <a:chOff x="2036872" y="5854212"/>
                    <a:chExt cx="656183" cy="328092"/>
                  </a:xfrm>
                </p:grpSpPr>
                <p:sp>
                  <p:nvSpPr>
                    <p:cNvPr id="128" name="Freeform 127">
                      <a:extLst>
                        <a:ext uri="{FF2B5EF4-FFF2-40B4-BE49-F238E27FC236}">
                          <a16:creationId xmlns:a16="http://schemas.microsoft.com/office/drawing/2014/main" id="{092D2F5A-0A7D-B3C9-8DBF-7AE38D787690}"/>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29" name="Freeform 128">
                      <a:extLst>
                        <a:ext uri="{FF2B5EF4-FFF2-40B4-BE49-F238E27FC236}">
                          <a16:creationId xmlns:a16="http://schemas.microsoft.com/office/drawing/2014/main" id="{07C73591-A8C5-4DDC-669D-155CCD15049B}"/>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80" name="Group 79">
                  <a:extLst>
                    <a:ext uri="{FF2B5EF4-FFF2-40B4-BE49-F238E27FC236}">
                      <a16:creationId xmlns:a16="http://schemas.microsoft.com/office/drawing/2014/main" id="{C07FD7CF-FCFA-82E2-2046-0A46831A21C8}"/>
                    </a:ext>
                  </a:extLst>
                </p:cNvPr>
                <p:cNvGrpSpPr/>
                <p:nvPr/>
              </p:nvGrpSpPr>
              <p:grpSpPr>
                <a:xfrm>
                  <a:off x="6480572" y="1965518"/>
                  <a:ext cx="398115" cy="547147"/>
                  <a:chOff x="838200" y="2262600"/>
                  <a:chExt cx="2940408" cy="4041118"/>
                </a:xfrm>
              </p:grpSpPr>
              <p:grpSp>
                <p:nvGrpSpPr>
                  <p:cNvPr id="103" name="Group 102">
                    <a:extLst>
                      <a:ext uri="{FF2B5EF4-FFF2-40B4-BE49-F238E27FC236}">
                        <a16:creationId xmlns:a16="http://schemas.microsoft.com/office/drawing/2014/main" id="{90E5438F-CFB7-90B2-0820-FC2F3EF0D25D}"/>
                      </a:ext>
                    </a:extLst>
                  </p:cNvPr>
                  <p:cNvGrpSpPr/>
                  <p:nvPr/>
                </p:nvGrpSpPr>
                <p:grpSpPr>
                  <a:xfrm>
                    <a:off x="838200" y="2814918"/>
                    <a:ext cx="2940408" cy="2936482"/>
                    <a:chOff x="1567274" y="2267114"/>
                    <a:chExt cx="3379375" cy="3374861"/>
                  </a:xfrm>
                </p:grpSpPr>
                <p:sp>
                  <p:nvSpPr>
                    <p:cNvPr id="109" name="Rounded Rectangle 108">
                      <a:extLst>
                        <a:ext uri="{FF2B5EF4-FFF2-40B4-BE49-F238E27FC236}">
                          <a16:creationId xmlns:a16="http://schemas.microsoft.com/office/drawing/2014/main" id="{DAF1D6D4-B385-0061-D408-F056B74F1F4C}"/>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110" name="Group 109">
                      <a:extLst>
                        <a:ext uri="{FF2B5EF4-FFF2-40B4-BE49-F238E27FC236}">
                          <a16:creationId xmlns:a16="http://schemas.microsoft.com/office/drawing/2014/main" id="{DFA557C0-757F-2C39-B08F-14C9C1BA905A}"/>
                        </a:ext>
                      </a:extLst>
                    </p:cNvPr>
                    <p:cNvGrpSpPr/>
                    <p:nvPr/>
                  </p:nvGrpSpPr>
                  <p:grpSpPr>
                    <a:xfrm>
                      <a:off x="4569577" y="2828058"/>
                      <a:ext cx="377072" cy="2252971"/>
                      <a:chOff x="4550724" y="2795278"/>
                      <a:chExt cx="377072" cy="2252971"/>
                    </a:xfrm>
                  </p:grpSpPr>
                  <p:grpSp>
                    <p:nvGrpSpPr>
                      <p:cNvPr id="118" name="Group 117">
                        <a:extLst>
                          <a:ext uri="{FF2B5EF4-FFF2-40B4-BE49-F238E27FC236}">
                            <a16:creationId xmlns:a16="http://schemas.microsoft.com/office/drawing/2014/main" id="{8F891117-9D79-54F0-D4C1-3D97AC3B4EC2}"/>
                          </a:ext>
                        </a:extLst>
                      </p:cNvPr>
                      <p:cNvGrpSpPr/>
                      <p:nvPr/>
                    </p:nvGrpSpPr>
                    <p:grpSpPr>
                      <a:xfrm>
                        <a:off x="4550724" y="2795278"/>
                        <a:ext cx="377072" cy="754143"/>
                        <a:chOff x="5090475" y="2837535"/>
                        <a:chExt cx="377072" cy="754143"/>
                      </a:xfrm>
                    </p:grpSpPr>
                    <p:sp>
                      <p:nvSpPr>
                        <p:cNvPr id="122" name="Freeform 121">
                          <a:extLst>
                            <a:ext uri="{FF2B5EF4-FFF2-40B4-BE49-F238E27FC236}">
                              <a16:creationId xmlns:a16="http://schemas.microsoft.com/office/drawing/2014/main" id="{CCFB78D4-8649-6568-E627-7924408C2B07}"/>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23" name="Freeform 122">
                          <a:extLst>
                            <a:ext uri="{FF2B5EF4-FFF2-40B4-BE49-F238E27FC236}">
                              <a16:creationId xmlns:a16="http://schemas.microsoft.com/office/drawing/2014/main" id="{5AC54472-DCB8-B3EF-8B93-3D5E3F02F9D6}"/>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119" name="Group 118">
                        <a:extLst>
                          <a:ext uri="{FF2B5EF4-FFF2-40B4-BE49-F238E27FC236}">
                            <a16:creationId xmlns:a16="http://schemas.microsoft.com/office/drawing/2014/main" id="{84F93016-0ADA-828D-E8F8-6FF9219B146D}"/>
                          </a:ext>
                        </a:extLst>
                      </p:cNvPr>
                      <p:cNvGrpSpPr/>
                      <p:nvPr/>
                    </p:nvGrpSpPr>
                    <p:grpSpPr>
                      <a:xfrm>
                        <a:off x="4550724" y="4294106"/>
                        <a:ext cx="377072" cy="754143"/>
                        <a:chOff x="5090475" y="2837535"/>
                        <a:chExt cx="377072" cy="754143"/>
                      </a:xfrm>
                    </p:grpSpPr>
                    <p:sp>
                      <p:nvSpPr>
                        <p:cNvPr id="120" name="Freeform 119">
                          <a:extLst>
                            <a:ext uri="{FF2B5EF4-FFF2-40B4-BE49-F238E27FC236}">
                              <a16:creationId xmlns:a16="http://schemas.microsoft.com/office/drawing/2014/main" id="{D218AB1C-603B-67D0-8B64-4513946A8CBC}"/>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21" name="Freeform 120">
                          <a:extLst>
                            <a:ext uri="{FF2B5EF4-FFF2-40B4-BE49-F238E27FC236}">
                              <a16:creationId xmlns:a16="http://schemas.microsoft.com/office/drawing/2014/main" id="{7B280849-0A70-5C44-35B3-F5A1104C6334}"/>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111" name="Group 110">
                      <a:extLst>
                        <a:ext uri="{FF2B5EF4-FFF2-40B4-BE49-F238E27FC236}">
                          <a16:creationId xmlns:a16="http://schemas.microsoft.com/office/drawing/2014/main" id="{73097C52-15C7-1FDB-22C3-281C3D9878F9}"/>
                        </a:ext>
                      </a:extLst>
                    </p:cNvPr>
                    <p:cNvGrpSpPr/>
                    <p:nvPr/>
                  </p:nvGrpSpPr>
                  <p:grpSpPr>
                    <a:xfrm rot="10800000">
                      <a:off x="1567274" y="2828058"/>
                      <a:ext cx="377072" cy="2252971"/>
                      <a:chOff x="4550724" y="2795278"/>
                      <a:chExt cx="377072" cy="2252971"/>
                    </a:xfrm>
                  </p:grpSpPr>
                  <p:grpSp>
                    <p:nvGrpSpPr>
                      <p:cNvPr id="112" name="Group 111">
                        <a:extLst>
                          <a:ext uri="{FF2B5EF4-FFF2-40B4-BE49-F238E27FC236}">
                            <a16:creationId xmlns:a16="http://schemas.microsoft.com/office/drawing/2014/main" id="{543C31B9-BB4D-13ED-E8E7-8173323FB564}"/>
                          </a:ext>
                        </a:extLst>
                      </p:cNvPr>
                      <p:cNvGrpSpPr/>
                      <p:nvPr/>
                    </p:nvGrpSpPr>
                    <p:grpSpPr>
                      <a:xfrm>
                        <a:off x="4550724" y="2795278"/>
                        <a:ext cx="377072" cy="754143"/>
                        <a:chOff x="5090475" y="2837535"/>
                        <a:chExt cx="377072" cy="754143"/>
                      </a:xfrm>
                    </p:grpSpPr>
                    <p:sp>
                      <p:nvSpPr>
                        <p:cNvPr id="116" name="Freeform 115">
                          <a:extLst>
                            <a:ext uri="{FF2B5EF4-FFF2-40B4-BE49-F238E27FC236}">
                              <a16:creationId xmlns:a16="http://schemas.microsoft.com/office/drawing/2014/main" id="{3E2333AE-D87A-ADB9-F2C1-62CAF2B797C1}"/>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17" name="Freeform 116">
                          <a:extLst>
                            <a:ext uri="{FF2B5EF4-FFF2-40B4-BE49-F238E27FC236}">
                              <a16:creationId xmlns:a16="http://schemas.microsoft.com/office/drawing/2014/main" id="{01631CED-C9F6-1B07-5468-B1DE590C27A8}"/>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113" name="Group 112">
                        <a:extLst>
                          <a:ext uri="{FF2B5EF4-FFF2-40B4-BE49-F238E27FC236}">
                            <a16:creationId xmlns:a16="http://schemas.microsoft.com/office/drawing/2014/main" id="{CDD1E5B6-B589-C622-C1A8-BE45BDE8CFEF}"/>
                          </a:ext>
                        </a:extLst>
                      </p:cNvPr>
                      <p:cNvGrpSpPr/>
                      <p:nvPr/>
                    </p:nvGrpSpPr>
                    <p:grpSpPr>
                      <a:xfrm>
                        <a:off x="4550724" y="4294106"/>
                        <a:ext cx="377072" cy="754143"/>
                        <a:chOff x="5090475" y="2837535"/>
                        <a:chExt cx="377072" cy="754143"/>
                      </a:xfrm>
                    </p:grpSpPr>
                    <p:sp>
                      <p:nvSpPr>
                        <p:cNvPr id="114" name="Freeform 113">
                          <a:extLst>
                            <a:ext uri="{FF2B5EF4-FFF2-40B4-BE49-F238E27FC236}">
                              <a16:creationId xmlns:a16="http://schemas.microsoft.com/office/drawing/2014/main" id="{5345AE07-2667-39FE-A13B-C3DE0FCB95F2}"/>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15" name="Freeform 114">
                          <a:extLst>
                            <a:ext uri="{FF2B5EF4-FFF2-40B4-BE49-F238E27FC236}">
                              <a16:creationId xmlns:a16="http://schemas.microsoft.com/office/drawing/2014/main" id="{16D70D4B-7BE6-46F3-F27A-E7E7F2AAF0ED}"/>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104" name="Freeform 103">
                    <a:extLst>
                      <a:ext uri="{FF2B5EF4-FFF2-40B4-BE49-F238E27FC236}">
                        <a16:creationId xmlns:a16="http://schemas.microsoft.com/office/drawing/2014/main" id="{A6C2015C-10A3-3588-5E44-B8FFD0B9D6EC}"/>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5" name="Freeform 104">
                    <a:extLst>
                      <a:ext uri="{FF2B5EF4-FFF2-40B4-BE49-F238E27FC236}">
                        <a16:creationId xmlns:a16="http://schemas.microsoft.com/office/drawing/2014/main" id="{5F05FCD7-96E5-157C-4A37-CC872EDDFBD4}"/>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106" name="Group 105">
                    <a:extLst>
                      <a:ext uri="{FF2B5EF4-FFF2-40B4-BE49-F238E27FC236}">
                        <a16:creationId xmlns:a16="http://schemas.microsoft.com/office/drawing/2014/main" id="{767F4FFF-DC85-4C91-D9E2-7E475405C1CC}"/>
                      </a:ext>
                    </a:extLst>
                  </p:cNvPr>
                  <p:cNvGrpSpPr/>
                  <p:nvPr/>
                </p:nvGrpSpPr>
                <p:grpSpPr>
                  <a:xfrm rot="10800000">
                    <a:off x="1980313" y="5975626"/>
                    <a:ext cx="656183" cy="328092"/>
                    <a:chOff x="2036872" y="5854212"/>
                    <a:chExt cx="656183" cy="328092"/>
                  </a:xfrm>
                </p:grpSpPr>
                <p:sp>
                  <p:nvSpPr>
                    <p:cNvPr id="107" name="Freeform 106">
                      <a:extLst>
                        <a:ext uri="{FF2B5EF4-FFF2-40B4-BE49-F238E27FC236}">
                          <a16:creationId xmlns:a16="http://schemas.microsoft.com/office/drawing/2014/main" id="{6CEFB975-3ABE-FB7D-17C5-A33F905EB98F}"/>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8" name="Freeform 107">
                      <a:extLst>
                        <a:ext uri="{FF2B5EF4-FFF2-40B4-BE49-F238E27FC236}">
                          <a16:creationId xmlns:a16="http://schemas.microsoft.com/office/drawing/2014/main" id="{634B7436-A843-FC9E-5698-038BB5BB43B7}"/>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81" name="Group 80">
                  <a:extLst>
                    <a:ext uri="{FF2B5EF4-FFF2-40B4-BE49-F238E27FC236}">
                      <a16:creationId xmlns:a16="http://schemas.microsoft.com/office/drawing/2014/main" id="{7CE4A380-215F-99B4-836A-B02FBCFA5C83}"/>
                    </a:ext>
                  </a:extLst>
                </p:cNvPr>
                <p:cNvGrpSpPr/>
                <p:nvPr/>
              </p:nvGrpSpPr>
              <p:grpSpPr>
                <a:xfrm>
                  <a:off x="7187925" y="1965518"/>
                  <a:ext cx="398115" cy="547147"/>
                  <a:chOff x="838200" y="2262600"/>
                  <a:chExt cx="2940408" cy="4041118"/>
                </a:xfrm>
              </p:grpSpPr>
              <p:grpSp>
                <p:nvGrpSpPr>
                  <p:cNvPr id="82" name="Group 81">
                    <a:extLst>
                      <a:ext uri="{FF2B5EF4-FFF2-40B4-BE49-F238E27FC236}">
                        <a16:creationId xmlns:a16="http://schemas.microsoft.com/office/drawing/2014/main" id="{4807BFE5-05C1-AFCC-B3F2-75E3EED45649}"/>
                      </a:ext>
                    </a:extLst>
                  </p:cNvPr>
                  <p:cNvGrpSpPr/>
                  <p:nvPr/>
                </p:nvGrpSpPr>
                <p:grpSpPr>
                  <a:xfrm>
                    <a:off x="838200" y="2814918"/>
                    <a:ext cx="2940408" cy="2936482"/>
                    <a:chOff x="1567274" y="2267114"/>
                    <a:chExt cx="3379375" cy="3374861"/>
                  </a:xfrm>
                </p:grpSpPr>
                <p:sp>
                  <p:nvSpPr>
                    <p:cNvPr id="88" name="Rounded Rectangle 87">
                      <a:extLst>
                        <a:ext uri="{FF2B5EF4-FFF2-40B4-BE49-F238E27FC236}">
                          <a16:creationId xmlns:a16="http://schemas.microsoft.com/office/drawing/2014/main" id="{D8CE58A2-4B4B-E4A2-1148-957C62587AAF}"/>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89" name="Group 88">
                      <a:extLst>
                        <a:ext uri="{FF2B5EF4-FFF2-40B4-BE49-F238E27FC236}">
                          <a16:creationId xmlns:a16="http://schemas.microsoft.com/office/drawing/2014/main" id="{51CE69FA-5F0C-2D08-8A5E-5105E8E70254}"/>
                        </a:ext>
                      </a:extLst>
                    </p:cNvPr>
                    <p:cNvGrpSpPr/>
                    <p:nvPr/>
                  </p:nvGrpSpPr>
                  <p:grpSpPr>
                    <a:xfrm>
                      <a:off x="4569577" y="2828058"/>
                      <a:ext cx="377072" cy="2252971"/>
                      <a:chOff x="4550724" y="2795278"/>
                      <a:chExt cx="377072" cy="2252971"/>
                    </a:xfrm>
                  </p:grpSpPr>
                  <p:grpSp>
                    <p:nvGrpSpPr>
                      <p:cNvPr id="97" name="Group 96">
                        <a:extLst>
                          <a:ext uri="{FF2B5EF4-FFF2-40B4-BE49-F238E27FC236}">
                            <a16:creationId xmlns:a16="http://schemas.microsoft.com/office/drawing/2014/main" id="{8A2ED263-DA5A-2742-644F-00E358A05FCB}"/>
                          </a:ext>
                        </a:extLst>
                      </p:cNvPr>
                      <p:cNvGrpSpPr/>
                      <p:nvPr/>
                    </p:nvGrpSpPr>
                    <p:grpSpPr>
                      <a:xfrm>
                        <a:off x="4550724" y="2795278"/>
                        <a:ext cx="377072" cy="754143"/>
                        <a:chOff x="5090475" y="2837535"/>
                        <a:chExt cx="377072" cy="754143"/>
                      </a:xfrm>
                    </p:grpSpPr>
                    <p:sp>
                      <p:nvSpPr>
                        <p:cNvPr id="101" name="Freeform 100">
                          <a:extLst>
                            <a:ext uri="{FF2B5EF4-FFF2-40B4-BE49-F238E27FC236}">
                              <a16:creationId xmlns:a16="http://schemas.microsoft.com/office/drawing/2014/main" id="{037A9A63-78B3-C1E4-9201-5F10D887FEDA}"/>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2" name="Freeform 101">
                          <a:extLst>
                            <a:ext uri="{FF2B5EF4-FFF2-40B4-BE49-F238E27FC236}">
                              <a16:creationId xmlns:a16="http://schemas.microsoft.com/office/drawing/2014/main" id="{9DF28787-9586-46C5-45A3-3501E36F3108}"/>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98" name="Group 97">
                        <a:extLst>
                          <a:ext uri="{FF2B5EF4-FFF2-40B4-BE49-F238E27FC236}">
                            <a16:creationId xmlns:a16="http://schemas.microsoft.com/office/drawing/2014/main" id="{4349AF05-5FCB-56D4-FA84-6EF6CD6EBF71}"/>
                          </a:ext>
                        </a:extLst>
                      </p:cNvPr>
                      <p:cNvGrpSpPr/>
                      <p:nvPr/>
                    </p:nvGrpSpPr>
                    <p:grpSpPr>
                      <a:xfrm>
                        <a:off x="4550724" y="4294106"/>
                        <a:ext cx="377072" cy="754143"/>
                        <a:chOff x="5090475" y="2837535"/>
                        <a:chExt cx="377072" cy="754143"/>
                      </a:xfrm>
                    </p:grpSpPr>
                    <p:sp>
                      <p:nvSpPr>
                        <p:cNvPr id="99" name="Freeform 98">
                          <a:extLst>
                            <a:ext uri="{FF2B5EF4-FFF2-40B4-BE49-F238E27FC236}">
                              <a16:creationId xmlns:a16="http://schemas.microsoft.com/office/drawing/2014/main" id="{CDBF9AE6-A915-E151-E731-ACB79BCD1321}"/>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0" name="Freeform 99">
                          <a:extLst>
                            <a:ext uri="{FF2B5EF4-FFF2-40B4-BE49-F238E27FC236}">
                              <a16:creationId xmlns:a16="http://schemas.microsoft.com/office/drawing/2014/main" id="{2AAC15F1-2413-280D-532D-9D01282F2CE5}"/>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90" name="Group 89">
                      <a:extLst>
                        <a:ext uri="{FF2B5EF4-FFF2-40B4-BE49-F238E27FC236}">
                          <a16:creationId xmlns:a16="http://schemas.microsoft.com/office/drawing/2014/main" id="{509F6F3C-9547-78B0-816A-8A4E945C0095}"/>
                        </a:ext>
                      </a:extLst>
                    </p:cNvPr>
                    <p:cNvGrpSpPr/>
                    <p:nvPr/>
                  </p:nvGrpSpPr>
                  <p:grpSpPr>
                    <a:xfrm rot="10800000">
                      <a:off x="1567274" y="2828058"/>
                      <a:ext cx="377072" cy="2252971"/>
                      <a:chOff x="4550724" y="2795278"/>
                      <a:chExt cx="377072" cy="2252971"/>
                    </a:xfrm>
                  </p:grpSpPr>
                  <p:grpSp>
                    <p:nvGrpSpPr>
                      <p:cNvPr id="91" name="Group 90">
                        <a:extLst>
                          <a:ext uri="{FF2B5EF4-FFF2-40B4-BE49-F238E27FC236}">
                            <a16:creationId xmlns:a16="http://schemas.microsoft.com/office/drawing/2014/main" id="{4DD07D3F-A601-2413-7FAE-2BFB07C9F640}"/>
                          </a:ext>
                        </a:extLst>
                      </p:cNvPr>
                      <p:cNvGrpSpPr/>
                      <p:nvPr/>
                    </p:nvGrpSpPr>
                    <p:grpSpPr>
                      <a:xfrm>
                        <a:off x="4550724" y="2795278"/>
                        <a:ext cx="377072" cy="754143"/>
                        <a:chOff x="5090475" y="2837535"/>
                        <a:chExt cx="377072" cy="754143"/>
                      </a:xfrm>
                    </p:grpSpPr>
                    <p:sp>
                      <p:nvSpPr>
                        <p:cNvPr id="95" name="Freeform 94">
                          <a:extLst>
                            <a:ext uri="{FF2B5EF4-FFF2-40B4-BE49-F238E27FC236}">
                              <a16:creationId xmlns:a16="http://schemas.microsoft.com/office/drawing/2014/main" id="{82AE089D-81C4-9B6A-F4A9-BF52EBD47E26}"/>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6" name="Freeform 95">
                          <a:extLst>
                            <a:ext uri="{FF2B5EF4-FFF2-40B4-BE49-F238E27FC236}">
                              <a16:creationId xmlns:a16="http://schemas.microsoft.com/office/drawing/2014/main" id="{79D7446D-77B1-F333-E22D-F0E4E77A81E0}"/>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92" name="Group 91">
                        <a:extLst>
                          <a:ext uri="{FF2B5EF4-FFF2-40B4-BE49-F238E27FC236}">
                            <a16:creationId xmlns:a16="http://schemas.microsoft.com/office/drawing/2014/main" id="{7580714F-5A4B-6A11-4C28-F2840658F1E4}"/>
                          </a:ext>
                        </a:extLst>
                      </p:cNvPr>
                      <p:cNvGrpSpPr/>
                      <p:nvPr/>
                    </p:nvGrpSpPr>
                    <p:grpSpPr>
                      <a:xfrm>
                        <a:off x="4550724" y="4294106"/>
                        <a:ext cx="377072" cy="754143"/>
                        <a:chOff x="5090475" y="2837535"/>
                        <a:chExt cx="377072" cy="754143"/>
                      </a:xfrm>
                    </p:grpSpPr>
                    <p:sp>
                      <p:nvSpPr>
                        <p:cNvPr id="93" name="Freeform 92">
                          <a:extLst>
                            <a:ext uri="{FF2B5EF4-FFF2-40B4-BE49-F238E27FC236}">
                              <a16:creationId xmlns:a16="http://schemas.microsoft.com/office/drawing/2014/main" id="{6200A5F2-20E3-37C4-B98A-1C8CD3654D9B}"/>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4" name="Freeform 93">
                          <a:extLst>
                            <a:ext uri="{FF2B5EF4-FFF2-40B4-BE49-F238E27FC236}">
                              <a16:creationId xmlns:a16="http://schemas.microsoft.com/office/drawing/2014/main" id="{59F6B3BE-4DB7-6312-BD48-622BD7C49840}"/>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83" name="Freeform 82">
                    <a:extLst>
                      <a:ext uri="{FF2B5EF4-FFF2-40B4-BE49-F238E27FC236}">
                        <a16:creationId xmlns:a16="http://schemas.microsoft.com/office/drawing/2014/main" id="{75D09965-850B-8D8A-13B9-E6CD2886287A}"/>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4" name="Freeform 83">
                    <a:extLst>
                      <a:ext uri="{FF2B5EF4-FFF2-40B4-BE49-F238E27FC236}">
                        <a16:creationId xmlns:a16="http://schemas.microsoft.com/office/drawing/2014/main" id="{DC669DD3-0611-D491-622C-B8015A353C58}"/>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85" name="Group 84">
                    <a:extLst>
                      <a:ext uri="{FF2B5EF4-FFF2-40B4-BE49-F238E27FC236}">
                        <a16:creationId xmlns:a16="http://schemas.microsoft.com/office/drawing/2014/main" id="{14886E8D-814C-3BD4-7ACE-F622FC69E051}"/>
                      </a:ext>
                    </a:extLst>
                  </p:cNvPr>
                  <p:cNvGrpSpPr/>
                  <p:nvPr/>
                </p:nvGrpSpPr>
                <p:grpSpPr>
                  <a:xfrm rot="10800000">
                    <a:off x="1980313" y="5975626"/>
                    <a:ext cx="656183" cy="328092"/>
                    <a:chOff x="2036872" y="5854212"/>
                    <a:chExt cx="656183" cy="328092"/>
                  </a:xfrm>
                </p:grpSpPr>
                <p:sp>
                  <p:nvSpPr>
                    <p:cNvPr id="86" name="Freeform 85">
                      <a:extLst>
                        <a:ext uri="{FF2B5EF4-FFF2-40B4-BE49-F238E27FC236}">
                          <a16:creationId xmlns:a16="http://schemas.microsoft.com/office/drawing/2014/main" id="{7E30EBDD-931A-54D1-B6E4-3BABBC407EAE}"/>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7" name="Freeform 86">
                      <a:extLst>
                        <a:ext uri="{FF2B5EF4-FFF2-40B4-BE49-F238E27FC236}">
                          <a16:creationId xmlns:a16="http://schemas.microsoft.com/office/drawing/2014/main" id="{4BD35BA2-A5C5-7310-DBC9-FE1774D67E6D}"/>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grpSp>
            <p:nvGrpSpPr>
              <p:cNvPr id="12" name="Group 11">
                <a:extLst>
                  <a:ext uri="{FF2B5EF4-FFF2-40B4-BE49-F238E27FC236}">
                    <a16:creationId xmlns:a16="http://schemas.microsoft.com/office/drawing/2014/main" id="{214C733F-4B70-0612-1F40-7D742EACAE6C}"/>
                  </a:ext>
                </a:extLst>
              </p:cNvPr>
              <p:cNvGrpSpPr/>
              <p:nvPr/>
            </p:nvGrpSpPr>
            <p:grpSpPr>
              <a:xfrm>
                <a:off x="5773219" y="2723220"/>
                <a:ext cx="1812821" cy="547147"/>
                <a:chOff x="5773219" y="1965518"/>
                <a:chExt cx="1812821" cy="547147"/>
              </a:xfrm>
            </p:grpSpPr>
            <p:grpSp>
              <p:nvGrpSpPr>
                <p:cNvPr id="13" name="Group 12">
                  <a:extLst>
                    <a:ext uri="{FF2B5EF4-FFF2-40B4-BE49-F238E27FC236}">
                      <a16:creationId xmlns:a16="http://schemas.microsoft.com/office/drawing/2014/main" id="{BC5E0AAC-3EE4-7395-20FB-F4A7A14E23EA}"/>
                    </a:ext>
                  </a:extLst>
                </p:cNvPr>
                <p:cNvGrpSpPr/>
                <p:nvPr/>
              </p:nvGrpSpPr>
              <p:grpSpPr>
                <a:xfrm>
                  <a:off x="5773219" y="1965518"/>
                  <a:ext cx="398115" cy="547147"/>
                  <a:chOff x="838200" y="2262600"/>
                  <a:chExt cx="2940408" cy="4041118"/>
                </a:xfrm>
              </p:grpSpPr>
              <p:grpSp>
                <p:nvGrpSpPr>
                  <p:cNvPr id="58" name="Group 57">
                    <a:extLst>
                      <a:ext uri="{FF2B5EF4-FFF2-40B4-BE49-F238E27FC236}">
                        <a16:creationId xmlns:a16="http://schemas.microsoft.com/office/drawing/2014/main" id="{A767B5D0-CB77-7B68-9719-AA6405469AC8}"/>
                      </a:ext>
                    </a:extLst>
                  </p:cNvPr>
                  <p:cNvGrpSpPr/>
                  <p:nvPr/>
                </p:nvGrpSpPr>
                <p:grpSpPr>
                  <a:xfrm>
                    <a:off x="838200" y="2814918"/>
                    <a:ext cx="2940408" cy="2936482"/>
                    <a:chOff x="1567274" y="2267114"/>
                    <a:chExt cx="3379375" cy="3374861"/>
                  </a:xfrm>
                </p:grpSpPr>
                <p:sp>
                  <p:nvSpPr>
                    <p:cNvPr id="64" name="Rounded Rectangle 63">
                      <a:extLst>
                        <a:ext uri="{FF2B5EF4-FFF2-40B4-BE49-F238E27FC236}">
                          <a16:creationId xmlns:a16="http://schemas.microsoft.com/office/drawing/2014/main" id="{1F74992F-AC2C-5EBF-FF8C-C4D87FEBFAC6}"/>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65" name="Group 64">
                      <a:extLst>
                        <a:ext uri="{FF2B5EF4-FFF2-40B4-BE49-F238E27FC236}">
                          <a16:creationId xmlns:a16="http://schemas.microsoft.com/office/drawing/2014/main" id="{AB511E09-B87C-B38C-05CC-C2258437BFA1}"/>
                        </a:ext>
                      </a:extLst>
                    </p:cNvPr>
                    <p:cNvGrpSpPr/>
                    <p:nvPr/>
                  </p:nvGrpSpPr>
                  <p:grpSpPr>
                    <a:xfrm>
                      <a:off x="4569577" y="2828058"/>
                      <a:ext cx="377072" cy="2252971"/>
                      <a:chOff x="4550724" y="2795278"/>
                      <a:chExt cx="377072" cy="2252971"/>
                    </a:xfrm>
                  </p:grpSpPr>
                  <p:grpSp>
                    <p:nvGrpSpPr>
                      <p:cNvPr id="73" name="Group 72">
                        <a:extLst>
                          <a:ext uri="{FF2B5EF4-FFF2-40B4-BE49-F238E27FC236}">
                            <a16:creationId xmlns:a16="http://schemas.microsoft.com/office/drawing/2014/main" id="{06A4D9AC-82B4-40DC-DE20-B3CA309EC533}"/>
                          </a:ext>
                        </a:extLst>
                      </p:cNvPr>
                      <p:cNvGrpSpPr/>
                      <p:nvPr/>
                    </p:nvGrpSpPr>
                    <p:grpSpPr>
                      <a:xfrm>
                        <a:off x="4550724" y="2795278"/>
                        <a:ext cx="377072" cy="754143"/>
                        <a:chOff x="5090475" y="2837535"/>
                        <a:chExt cx="377072" cy="754143"/>
                      </a:xfrm>
                    </p:grpSpPr>
                    <p:sp>
                      <p:nvSpPr>
                        <p:cNvPr id="77" name="Freeform 76">
                          <a:extLst>
                            <a:ext uri="{FF2B5EF4-FFF2-40B4-BE49-F238E27FC236}">
                              <a16:creationId xmlns:a16="http://schemas.microsoft.com/office/drawing/2014/main" id="{C397B7B6-8E1A-B251-7C3D-726B2C29326B}"/>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8" name="Freeform 77">
                          <a:extLst>
                            <a:ext uri="{FF2B5EF4-FFF2-40B4-BE49-F238E27FC236}">
                              <a16:creationId xmlns:a16="http://schemas.microsoft.com/office/drawing/2014/main" id="{155997C4-5D58-7F53-816B-CC496ED3AFD1}"/>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74" name="Group 73">
                        <a:extLst>
                          <a:ext uri="{FF2B5EF4-FFF2-40B4-BE49-F238E27FC236}">
                            <a16:creationId xmlns:a16="http://schemas.microsoft.com/office/drawing/2014/main" id="{F8D6CA1F-9977-6464-DE2D-969DC38CE833}"/>
                          </a:ext>
                        </a:extLst>
                      </p:cNvPr>
                      <p:cNvGrpSpPr/>
                      <p:nvPr/>
                    </p:nvGrpSpPr>
                    <p:grpSpPr>
                      <a:xfrm>
                        <a:off x="4550724" y="4294106"/>
                        <a:ext cx="377072" cy="754143"/>
                        <a:chOff x="5090475" y="2837535"/>
                        <a:chExt cx="377072" cy="754143"/>
                      </a:xfrm>
                    </p:grpSpPr>
                    <p:sp>
                      <p:nvSpPr>
                        <p:cNvPr id="75" name="Freeform 74">
                          <a:extLst>
                            <a:ext uri="{FF2B5EF4-FFF2-40B4-BE49-F238E27FC236}">
                              <a16:creationId xmlns:a16="http://schemas.microsoft.com/office/drawing/2014/main" id="{12B29CFB-8CB7-B69A-F69C-D22878984A51}"/>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6" name="Freeform 75">
                          <a:extLst>
                            <a:ext uri="{FF2B5EF4-FFF2-40B4-BE49-F238E27FC236}">
                              <a16:creationId xmlns:a16="http://schemas.microsoft.com/office/drawing/2014/main" id="{0732083E-52A6-EF97-3AF1-9991903B5E4F}"/>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66" name="Group 65">
                      <a:extLst>
                        <a:ext uri="{FF2B5EF4-FFF2-40B4-BE49-F238E27FC236}">
                          <a16:creationId xmlns:a16="http://schemas.microsoft.com/office/drawing/2014/main" id="{BE4EBB33-6EA1-12BE-D1BA-E914579797AB}"/>
                        </a:ext>
                      </a:extLst>
                    </p:cNvPr>
                    <p:cNvGrpSpPr/>
                    <p:nvPr/>
                  </p:nvGrpSpPr>
                  <p:grpSpPr>
                    <a:xfrm rot="10800000">
                      <a:off x="1567274" y="2828058"/>
                      <a:ext cx="377072" cy="2252971"/>
                      <a:chOff x="4550724" y="2795278"/>
                      <a:chExt cx="377072" cy="2252971"/>
                    </a:xfrm>
                  </p:grpSpPr>
                  <p:grpSp>
                    <p:nvGrpSpPr>
                      <p:cNvPr id="67" name="Group 66">
                        <a:extLst>
                          <a:ext uri="{FF2B5EF4-FFF2-40B4-BE49-F238E27FC236}">
                            <a16:creationId xmlns:a16="http://schemas.microsoft.com/office/drawing/2014/main" id="{962F56D7-B9F9-895B-3A70-CD7936DB7516}"/>
                          </a:ext>
                        </a:extLst>
                      </p:cNvPr>
                      <p:cNvGrpSpPr/>
                      <p:nvPr/>
                    </p:nvGrpSpPr>
                    <p:grpSpPr>
                      <a:xfrm>
                        <a:off x="4550724" y="2795278"/>
                        <a:ext cx="377072" cy="754143"/>
                        <a:chOff x="5090475" y="2837535"/>
                        <a:chExt cx="377072" cy="754143"/>
                      </a:xfrm>
                    </p:grpSpPr>
                    <p:sp>
                      <p:nvSpPr>
                        <p:cNvPr id="71" name="Freeform 70">
                          <a:extLst>
                            <a:ext uri="{FF2B5EF4-FFF2-40B4-BE49-F238E27FC236}">
                              <a16:creationId xmlns:a16="http://schemas.microsoft.com/office/drawing/2014/main" id="{6B384944-4E6D-5DF7-728E-7CB65913E279}"/>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2" name="Freeform 71">
                          <a:extLst>
                            <a:ext uri="{FF2B5EF4-FFF2-40B4-BE49-F238E27FC236}">
                              <a16:creationId xmlns:a16="http://schemas.microsoft.com/office/drawing/2014/main" id="{59DDA7AA-E3A2-BCDE-3FFC-C886F7EA1B27}"/>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68" name="Group 67">
                        <a:extLst>
                          <a:ext uri="{FF2B5EF4-FFF2-40B4-BE49-F238E27FC236}">
                            <a16:creationId xmlns:a16="http://schemas.microsoft.com/office/drawing/2014/main" id="{712CCCF5-FB58-3AE0-802F-F106CA85BCDF}"/>
                          </a:ext>
                        </a:extLst>
                      </p:cNvPr>
                      <p:cNvGrpSpPr/>
                      <p:nvPr/>
                    </p:nvGrpSpPr>
                    <p:grpSpPr>
                      <a:xfrm>
                        <a:off x="4550724" y="4294106"/>
                        <a:ext cx="377072" cy="754143"/>
                        <a:chOff x="5090475" y="2837535"/>
                        <a:chExt cx="377072" cy="754143"/>
                      </a:xfrm>
                    </p:grpSpPr>
                    <p:sp>
                      <p:nvSpPr>
                        <p:cNvPr id="69" name="Freeform 68">
                          <a:extLst>
                            <a:ext uri="{FF2B5EF4-FFF2-40B4-BE49-F238E27FC236}">
                              <a16:creationId xmlns:a16="http://schemas.microsoft.com/office/drawing/2014/main" id="{A1C9D2EB-3129-6083-65A7-21E882ADD300}"/>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0" name="Freeform 69">
                          <a:extLst>
                            <a:ext uri="{FF2B5EF4-FFF2-40B4-BE49-F238E27FC236}">
                              <a16:creationId xmlns:a16="http://schemas.microsoft.com/office/drawing/2014/main" id="{BAEC921C-C91B-98AD-2311-8668245443E8}"/>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59" name="Freeform 58">
                    <a:extLst>
                      <a:ext uri="{FF2B5EF4-FFF2-40B4-BE49-F238E27FC236}">
                        <a16:creationId xmlns:a16="http://schemas.microsoft.com/office/drawing/2014/main" id="{7AB59553-B3B0-4E12-FC4A-90F8155E698A}"/>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0" name="Freeform 59">
                    <a:extLst>
                      <a:ext uri="{FF2B5EF4-FFF2-40B4-BE49-F238E27FC236}">
                        <a16:creationId xmlns:a16="http://schemas.microsoft.com/office/drawing/2014/main" id="{5D8AE770-0086-F76E-A076-2336BA39D013}"/>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61" name="Group 60">
                    <a:extLst>
                      <a:ext uri="{FF2B5EF4-FFF2-40B4-BE49-F238E27FC236}">
                        <a16:creationId xmlns:a16="http://schemas.microsoft.com/office/drawing/2014/main" id="{23358879-B058-C81D-9107-E03AE4D10838}"/>
                      </a:ext>
                    </a:extLst>
                  </p:cNvPr>
                  <p:cNvGrpSpPr/>
                  <p:nvPr/>
                </p:nvGrpSpPr>
                <p:grpSpPr>
                  <a:xfrm rot="10800000">
                    <a:off x="1980313" y="5975626"/>
                    <a:ext cx="656183" cy="328092"/>
                    <a:chOff x="2036872" y="5854212"/>
                    <a:chExt cx="656183" cy="328092"/>
                  </a:xfrm>
                </p:grpSpPr>
                <p:sp>
                  <p:nvSpPr>
                    <p:cNvPr id="62" name="Freeform 61">
                      <a:extLst>
                        <a:ext uri="{FF2B5EF4-FFF2-40B4-BE49-F238E27FC236}">
                          <a16:creationId xmlns:a16="http://schemas.microsoft.com/office/drawing/2014/main" id="{3B5C8453-26A3-F166-598C-49FD7BFB366A}"/>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3" name="Freeform 62">
                      <a:extLst>
                        <a:ext uri="{FF2B5EF4-FFF2-40B4-BE49-F238E27FC236}">
                          <a16:creationId xmlns:a16="http://schemas.microsoft.com/office/drawing/2014/main" id="{B427CD44-653E-2032-4833-D178815647D2}"/>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14" name="Group 13">
                  <a:extLst>
                    <a:ext uri="{FF2B5EF4-FFF2-40B4-BE49-F238E27FC236}">
                      <a16:creationId xmlns:a16="http://schemas.microsoft.com/office/drawing/2014/main" id="{E958C195-9516-7850-4A23-57EC106B529D}"/>
                    </a:ext>
                  </a:extLst>
                </p:cNvPr>
                <p:cNvGrpSpPr/>
                <p:nvPr/>
              </p:nvGrpSpPr>
              <p:grpSpPr>
                <a:xfrm>
                  <a:off x="6480572" y="1965518"/>
                  <a:ext cx="398115" cy="547147"/>
                  <a:chOff x="838200" y="2262600"/>
                  <a:chExt cx="2940408" cy="4041118"/>
                </a:xfrm>
              </p:grpSpPr>
              <p:grpSp>
                <p:nvGrpSpPr>
                  <p:cNvPr id="37" name="Group 36">
                    <a:extLst>
                      <a:ext uri="{FF2B5EF4-FFF2-40B4-BE49-F238E27FC236}">
                        <a16:creationId xmlns:a16="http://schemas.microsoft.com/office/drawing/2014/main" id="{DF055FE8-B933-D6D2-CE24-5B025A280DEA}"/>
                      </a:ext>
                    </a:extLst>
                  </p:cNvPr>
                  <p:cNvGrpSpPr/>
                  <p:nvPr/>
                </p:nvGrpSpPr>
                <p:grpSpPr>
                  <a:xfrm>
                    <a:off x="838200" y="2814918"/>
                    <a:ext cx="2940408" cy="2936482"/>
                    <a:chOff x="1567274" y="2267114"/>
                    <a:chExt cx="3379375" cy="3374861"/>
                  </a:xfrm>
                </p:grpSpPr>
                <p:sp>
                  <p:nvSpPr>
                    <p:cNvPr id="43" name="Rounded Rectangle 42">
                      <a:extLst>
                        <a:ext uri="{FF2B5EF4-FFF2-40B4-BE49-F238E27FC236}">
                          <a16:creationId xmlns:a16="http://schemas.microsoft.com/office/drawing/2014/main" id="{999487A0-09AE-5785-E705-6CD8AF3FA01F}"/>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44" name="Group 43">
                      <a:extLst>
                        <a:ext uri="{FF2B5EF4-FFF2-40B4-BE49-F238E27FC236}">
                          <a16:creationId xmlns:a16="http://schemas.microsoft.com/office/drawing/2014/main" id="{DF143D73-FBA8-3D5B-8A82-B4AD49CBCEDE}"/>
                        </a:ext>
                      </a:extLst>
                    </p:cNvPr>
                    <p:cNvGrpSpPr/>
                    <p:nvPr/>
                  </p:nvGrpSpPr>
                  <p:grpSpPr>
                    <a:xfrm>
                      <a:off x="4569577" y="2828058"/>
                      <a:ext cx="377072" cy="2252971"/>
                      <a:chOff x="4550724" y="2795278"/>
                      <a:chExt cx="377072" cy="2252971"/>
                    </a:xfrm>
                  </p:grpSpPr>
                  <p:grpSp>
                    <p:nvGrpSpPr>
                      <p:cNvPr id="52" name="Group 51">
                        <a:extLst>
                          <a:ext uri="{FF2B5EF4-FFF2-40B4-BE49-F238E27FC236}">
                            <a16:creationId xmlns:a16="http://schemas.microsoft.com/office/drawing/2014/main" id="{40E35067-C6FD-B103-FDBF-302241323133}"/>
                          </a:ext>
                        </a:extLst>
                      </p:cNvPr>
                      <p:cNvGrpSpPr/>
                      <p:nvPr/>
                    </p:nvGrpSpPr>
                    <p:grpSpPr>
                      <a:xfrm>
                        <a:off x="4550724" y="2795278"/>
                        <a:ext cx="377072" cy="754143"/>
                        <a:chOff x="5090475" y="2837535"/>
                        <a:chExt cx="377072" cy="754143"/>
                      </a:xfrm>
                    </p:grpSpPr>
                    <p:sp>
                      <p:nvSpPr>
                        <p:cNvPr id="56" name="Freeform 55">
                          <a:extLst>
                            <a:ext uri="{FF2B5EF4-FFF2-40B4-BE49-F238E27FC236}">
                              <a16:creationId xmlns:a16="http://schemas.microsoft.com/office/drawing/2014/main" id="{E8804AC6-C839-5645-4F89-E224E567AD84}"/>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57" name="Freeform 56">
                          <a:extLst>
                            <a:ext uri="{FF2B5EF4-FFF2-40B4-BE49-F238E27FC236}">
                              <a16:creationId xmlns:a16="http://schemas.microsoft.com/office/drawing/2014/main" id="{2AA13060-0DE7-AA4B-4F2B-013C716F6B10}"/>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53" name="Group 52">
                        <a:extLst>
                          <a:ext uri="{FF2B5EF4-FFF2-40B4-BE49-F238E27FC236}">
                            <a16:creationId xmlns:a16="http://schemas.microsoft.com/office/drawing/2014/main" id="{1081B4C6-A496-4EA2-5841-3556DBADE933}"/>
                          </a:ext>
                        </a:extLst>
                      </p:cNvPr>
                      <p:cNvGrpSpPr/>
                      <p:nvPr/>
                    </p:nvGrpSpPr>
                    <p:grpSpPr>
                      <a:xfrm>
                        <a:off x="4550724" y="4294106"/>
                        <a:ext cx="377072" cy="754143"/>
                        <a:chOff x="5090475" y="2837535"/>
                        <a:chExt cx="377072" cy="754143"/>
                      </a:xfrm>
                    </p:grpSpPr>
                    <p:sp>
                      <p:nvSpPr>
                        <p:cNvPr id="54" name="Freeform 53">
                          <a:extLst>
                            <a:ext uri="{FF2B5EF4-FFF2-40B4-BE49-F238E27FC236}">
                              <a16:creationId xmlns:a16="http://schemas.microsoft.com/office/drawing/2014/main" id="{B744B409-FA26-737B-5F70-1F5E1C079780}"/>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55" name="Freeform 54">
                          <a:extLst>
                            <a:ext uri="{FF2B5EF4-FFF2-40B4-BE49-F238E27FC236}">
                              <a16:creationId xmlns:a16="http://schemas.microsoft.com/office/drawing/2014/main" id="{7B6DAD75-8534-2233-6E26-E56DE2DF5A36}"/>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45" name="Group 44">
                      <a:extLst>
                        <a:ext uri="{FF2B5EF4-FFF2-40B4-BE49-F238E27FC236}">
                          <a16:creationId xmlns:a16="http://schemas.microsoft.com/office/drawing/2014/main" id="{CF4D46F3-3931-0E09-4637-332FFE342F79}"/>
                        </a:ext>
                      </a:extLst>
                    </p:cNvPr>
                    <p:cNvGrpSpPr/>
                    <p:nvPr/>
                  </p:nvGrpSpPr>
                  <p:grpSpPr>
                    <a:xfrm rot="10800000">
                      <a:off x="1567274" y="2828058"/>
                      <a:ext cx="377072" cy="2252971"/>
                      <a:chOff x="4550724" y="2795278"/>
                      <a:chExt cx="377072" cy="2252971"/>
                    </a:xfrm>
                  </p:grpSpPr>
                  <p:grpSp>
                    <p:nvGrpSpPr>
                      <p:cNvPr id="46" name="Group 45">
                        <a:extLst>
                          <a:ext uri="{FF2B5EF4-FFF2-40B4-BE49-F238E27FC236}">
                            <a16:creationId xmlns:a16="http://schemas.microsoft.com/office/drawing/2014/main" id="{018B2417-762E-326D-8620-0287293DB297}"/>
                          </a:ext>
                        </a:extLst>
                      </p:cNvPr>
                      <p:cNvGrpSpPr/>
                      <p:nvPr/>
                    </p:nvGrpSpPr>
                    <p:grpSpPr>
                      <a:xfrm>
                        <a:off x="4550724" y="2795278"/>
                        <a:ext cx="377072" cy="754143"/>
                        <a:chOff x="5090475" y="2837535"/>
                        <a:chExt cx="377072" cy="754143"/>
                      </a:xfrm>
                    </p:grpSpPr>
                    <p:sp>
                      <p:nvSpPr>
                        <p:cNvPr id="50" name="Freeform 49">
                          <a:extLst>
                            <a:ext uri="{FF2B5EF4-FFF2-40B4-BE49-F238E27FC236}">
                              <a16:creationId xmlns:a16="http://schemas.microsoft.com/office/drawing/2014/main" id="{2626D973-AEF1-518B-3AFC-2A0CE0CB7A9A}"/>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51" name="Freeform 50">
                          <a:extLst>
                            <a:ext uri="{FF2B5EF4-FFF2-40B4-BE49-F238E27FC236}">
                              <a16:creationId xmlns:a16="http://schemas.microsoft.com/office/drawing/2014/main" id="{F09F9223-00B3-81D7-2C24-B720EC032460}"/>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47" name="Group 46">
                        <a:extLst>
                          <a:ext uri="{FF2B5EF4-FFF2-40B4-BE49-F238E27FC236}">
                            <a16:creationId xmlns:a16="http://schemas.microsoft.com/office/drawing/2014/main" id="{C4E4EE00-7494-6CC8-17E0-07F9E2E91F6A}"/>
                          </a:ext>
                        </a:extLst>
                      </p:cNvPr>
                      <p:cNvGrpSpPr/>
                      <p:nvPr/>
                    </p:nvGrpSpPr>
                    <p:grpSpPr>
                      <a:xfrm>
                        <a:off x="4550724" y="4294106"/>
                        <a:ext cx="377072" cy="754143"/>
                        <a:chOff x="5090475" y="2837535"/>
                        <a:chExt cx="377072" cy="754143"/>
                      </a:xfrm>
                    </p:grpSpPr>
                    <p:sp>
                      <p:nvSpPr>
                        <p:cNvPr id="48" name="Freeform 47">
                          <a:extLst>
                            <a:ext uri="{FF2B5EF4-FFF2-40B4-BE49-F238E27FC236}">
                              <a16:creationId xmlns:a16="http://schemas.microsoft.com/office/drawing/2014/main" id="{FE9EAF0D-8409-E9AE-61C5-F95D08ECD91F}"/>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49" name="Freeform 48">
                          <a:extLst>
                            <a:ext uri="{FF2B5EF4-FFF2-40B4-BE49-F238E27FC236}">
                              <a16:creationId xmlns:a16="http://schemas.microsoft.com/office/drawing/2014/main" id="{634A8855-63AA-8570-98C5-80A433821E94}"/>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38" name="Freeform 37">
                    <a:extLst>
                      <a:ext uri="{FF2B5EF4-FFF2-40B4-BE49-F238E27FC236}">
                        <a16:creationId xmlns:a16="http://schemas.microsoft.com/office/drawing/2014/main" id="{25521845-0D32-E5A4-66CB-C80E7DE4C961}"/>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39" name="Freeform 38">
                    <a:extLst>
                      <a:ext uri="{FF2B5EF4-FFF2-40B4-BE49-F238E27FC236}">
                        <a16:creationId xmlns:a16="http://schemas.microsoft.com/office/drawing/2014/main" id="{A6DAE349-52BF-3283-CCE8-2009B5799D9B}"/>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40" name="Group 39">
                    <a:extLst>
                      <a:ext uri="{FF2B5EF4-FFF2-40B4-BE49-F238E27FC236}">
                        <a16:creationId xmlns:a16="http://schemas.microsoft.com/office/drawing/2014/main" id="{0583F04C-2E8E-B47C-D9F7-54EDE8B730D6}"/>
                      </a:ext>
                    </a:extLst>
                  </p:cNvPr>
                  <p:cNvGrpSpPr/>
                  <p:nvPr/>
                </p:nvGrpSpPr>
                <p:grpSpPr>
                  <a:xfrm rot="10800000">
                    <a:off x="1980313" y="5975626"/>
                    <a:ext cx="656183" cy="328092"/>
                    <a:chOff x="2036872" y="5854212"/>
                    <a:chExt cx="656183" cy="328092"/>
                  </a:xfrm>
                </p:grpSpPr>
                <p:sp>
                  <p:nvSpPr>
                    <p:cNvPr id="41" name="Freeform 40">
                      <a:extLst>
                        <a:ext uri="{FF2B5EF4-FFF2-40B4-BE49-F238E27FC236}">
                          <a16:creationId xmlns:a16="http://schemas.microsoft.com/office/drawing/2014/main" id="{7B831FAA-31A1-1567-BD50-FADB8618EEA9}"/>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42" name="Freeform 41">
                      <a:extLst>
                        <a:ext uri="{FF2B5EF4-FFF2-40B4-BE49-F238E27FC236}">
                          <a16:creationId xmlns:a16="http://schemas.microsoft.com/office/drawing/2014/main" id="{ED3FF07A-1191-D826-BAEF-1F08FB4F5B7D}"/>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281A42"/>
                    </a:solid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15" name="Group 14">
                  <a:extLst>
                    <a:ext uri="{FF2B5EF4-FFF2-40B4-BE49-F238E27FC236}">
                      <a16:creationId xmlns:a16="http://schemas.microsoft.com/office/drawing/2014/main" id="{3DDE77CE-8883-739F-49DE-67E15B9886AC}"/>
                    </a:ext>
                  </a:extLst>
                </p:cNvPr>
                <p:cNvGrpSpPr/>
                <p:nvPr/>
              </p:nvGrpSpPr>
              <p:grpSpPr>
                <a:xfrm>
                  <a:off x="7187925" y="1965518"/>
                  <a:ext cx="398115" cy="547147"/>
                  <a:chOff x="838200" y="2262600"/>
                  <a:chExt cx="2940408" cy="4041118"/>
                </a:xfrm>
              </p:grpSpPr>
              <p:grpSp>
                <p:nvGrpSpPr>
                  <p:cNvPr id="16" name="Group 15">
                    <a:extLst>
                      <a:ext uri="{FF2B5EF4-FFF2-40B4-BE49-F238E27FC236}">
                        <a16:creationId xmlns:a16="http://schemas.microsoft.com/office/drawing/2014/main" id="{8054AF84-6AB1-4C3E-8184-A8A88053D5C8}"/>
                      </a:ext>
                    </a:extLst>
                  </p:cNvPr>
                  <p:cNvGrpSpPr/>
                  <p:nvPr/>
                </p:nvGrpSpPr>
                <p:grpSpPr>
                  <a:xfrm>
                    <a:off x="838200" y="2814918"/>
                    <a:ext cx="2940408" cy="2936482"/>
                    <a:chOff x="1567274" y="2267114"/>
                    <a:chExt cx="3379375" cy="3374861"/>
                  </a:xfrm>
                </p:grpSpPr>
                <p:sp>
                  <p:nvSpPr>
                    <p:cNvPr id="22" name="Rounded Rectangle 21">
                      <a:extLst>
                        <a:ext uri="{FF2B5EF4-FFF2-40B4-BE49-F238E27FC236}">
                          <a16:creationId xmlns:a16="http://schemas.microsoft.com/office/drawing/2014/main" id="{A95F183B-3D7B-650C-A38B-6AAB4F35AE49}"/>
                        </a:ext>
                      </a:extLst>
                    </p:cNvPr>
                    <p:cNvSpPr/>
                    <p:nvPr/>
                  </p:nvSpPr>
                  <p:spPr>
                    <a:xfrm>
                      <a:off x="2215300" y="2267114"/>
                      <a:ext cx="2083323" cy="3374861"/>
                    </a:xfrm>
                    <a:prstGeom prst="round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23" name="Group 22">
                      <a:extLst>
                        <a:ext uri="{FF2B5EF4-FFF2-40B4-BE49-F238E27FC236}">
                          <a16:creationId xmlns:a16="http://schemas.microsoft.com/office/drawing/2014/main" id="{CF575EEB-4D4D-F8B9-B9D0-EE43BA03C014}"/>
                        </a:ext>
                      </a:extLst>
                    </p:cNvPr>
                    <p:cNvGrpSpPr/>
                    <p:nvPr/>
                  </p:nvGrpSpPr>
                  <p:grpSpPr>
                    <a:xfrm>
                      <a:off x="4569577" y="2828058"/>
                      <a:ext cx="377072" cy="2252971"/>
                      <a:chOff x="4550724" y="2795278"/>
                      <a:chExt cx="377072" cy="2252971"/>
                    </a:xfrm>
                  </p:grpSpPr>
                  <p:grpSp>
                    <p:nvGrpSpPr>
                      <p:cNvPr id="31" name="Group 30">
                        <a:extLst>
                          <a:ext uri="{FF2B5EF4-FFF2-40B4-BE49-F238E27FC236}">
                            <a16:creationId xmlns:a16="http://schemas.microsoft.com/office/drawing/2014/main" id="{596E8EA6-146B-918A-50A8-23F7785BF7D3}"/>
                          </a:ext>
                        </a:extLst>
                      </p:cNvPr>
                      <p:cNvGrpSpPr/>
                      <p:nvPr/>
                    </p:nvGrpSpPr>
                    <p:grpSpPr>
                      <a:xfrm>
                        <a:off x="4550724" y="2795278"/>
                        <a:ext cx="377072" cy="754143"/>
                        <a:chOff x="5090475" y="2837535"/>
                        <a:chExt cx="377072" cy="754143"/>
                      </a:xfrm>
                    </p:grpSpPr>
                    <p:sp>
                      <p:nvSpPr>
                        <p:cNvPr id="35" name="Freeform 34">
                          <a:extLst>
                            <a:ext uri="{FF2B5EF4-FFF2-40B4-BE49-F238E27FC236}">
                              <a16:creationId xmlns:a16="http://schemas.microsoft.com/office/drawing/2014/main" id="{2B0FEBDD-DC0C-7E03-A19D-C02DE67EBEDC}"/>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36" name="Freeform 35">
                          <a:extLst>
                            <a:ext uri="{FF2B5EF4-FFF2-40B4-BE49-F238E27FC236}">
                              <a16:creationId xmlns:a16="http://schemas.microsoft.com/office/drawing/2014/main" id="{A0C626EE-9087-E6D5-4F27-DD9F0EF98238}"/>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32" name="Group 31">
                        <a:extLst>
                          <a:ext uri="{FF2B5EF4-FFF2-40B4-BE49-F238E27FC236}">
                            <a16:creationId xmlns:a16="http://schemas.microsoft.com/office/drawing/2014/main" id="{5F446D64-625A-33BC-381F-32DF237B31FF}"/>
                          </a:ext>
                        </a:extLst>
                      </p:cNvPr>
                      <p:cNvGrpSpPr/>
                      <p:nvPr/>
                    </p:nvGrpSpPr>
                    <p:grpSpPr>
                      <a:xfrm>
                        <a:off x="4550724" y="4294106"/>
                        <a:ext cx="377072" cy="754143"/>
                        <a:chOff x="5090475" y="2837535"/>
                        <a:chExt cx="377072" cy="754143"/>
                      </a:xfrm>
                    </p:grpSpPr>
                    <p:sp>
                      <p:nvSpPr>
                        <p:cNvPr id="33" name="Freeform 32">
                          <a:extLst>
                            <a:ext uri="{FF2B5EF4-FFF2-40B4-BE49-F238E27FC236}">
                              <a16:creationId xmlns:a16="http://schemas.microsoft.com/office/drawing/2014/main" id="{DB302A56-591A-42DF-A02A-B3EDBDD1864F}"/>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34" name="Freeform 33">
                          <a:extLst>
                            <a:ext uri="{FF2B5EF4-FFF2-40B4-BE49-F238E27FC236}">
                              <a16:creationId xmlns:a16="http://schemas.microsoft.com/office/drawing/2014/main" id="{9659D36B-0A38-E23A-238E-9A5A92853BAD}"/>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nvGrpSpPr>
                    <p:cNvPr id="24" name="Group 23">
                      <a:extLst>
                        <a:ext uri="{FF2B5EF4-FFF2-40B4-BE49-F238E27FC236}">
                          <a16:creationId xmlns:a16="http://schemas.microsoft.com/office/drawing/2014/main" id="{8FDF24BB-DAE7-DC0A-BFC6-6B48A369552E}"/>
                        </a:ext>
                      </a:extLst>
                    </p:cNvPr>
                    <p:cNvGrpSpPr/>
                    <p:nvPr/>
                  </p:nvGrpSpPr>
                  <p:grpSpPr>
                    <a:xfrm rot="10800000">
                      <a:off x="1567274" y="2828058"/>
                      <a:ext cx="377072" cy="2252971"/>
                      <a:chOff x="4550724" y="2795278"/>
                      <a:chExt cx="377072" cy="2252971"/>
                    </a:xfrm>
                  </p:grpSpPr>
                  <p:grpSp>
                    <p:nvGrpSpPr>
                      <p:cNvPr id="25" name="Group 24">
                        <a:extLst>
                          <a:ext uri="{FF2B5EF4-FFF2-40B4-BE49-F238E27FC236}">
                            <a16:creationId xmlns:a16="http://schemas.microsoft.com/office/drawing/2014/main" id="{70C78B13-FCAB-F4F9-5912-7641E7F2C657}"/>
                          </a:ext>
                        </a:extLst>
                      </p:cNvPr>
                      <p:cNvGrpSpPr/>
                      <p:nvPr/>
                    </p:nvGrpSpPr>
                    <p:grpSpPr>
                      <a:xfrm>
                        <a:off x="4550724" y="2795278"/>
                        <a:ext cx="377072" cy="754143"/>
                        <a:chOff x="5090475" y="2837535"/>
                        <a:chExt cx="377072" cy="754143"/>
                      </a:xfrm>
                    </p:grpSpPr>
                    <p:sp>
                      <p:nvSpPr>
                        <p:cNvPr id="29" name="Freeform 28">
                          <a:extLst>
                            <a:ext uri="{FF2B5EF4-FFF2-40B4-BE49-F238E27FC236}">
                              <a16:creationId xmlns:a16="http://schemas.microsoft.com/office/drawing/2014/main" id="{5C5C36BB-B6B4-9BCB-AD59-0D7B0C34AEB9}"/>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30" name="Freeform 29">
                          <a:extLst>
                            <a:ext uri="{FF2B5EF4-FFF2-40B4-BE49-F238E27FC236}">
                              <a16:creationId xmlns:a16="http://schemas.microsoft.com/office/drawing/2014/main" id="{F0449385-D9E3-D6FF-F999-1E8694E8B5B8}"/>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nvGrpSpPr>
                      <p:cNvPr id="26" name="Group 25">
                        <a:extLst>
                          <a:ext uri="{FF2B5EF4-FFF2-40B4-BE49-F238E27FC236}">
                            <a16:creationId xmlns:a16="http://schemas.microsoft.com/office/drawing/2014/main" id="{C24D83AB-D135-10C0-ECC4-8758A4494D13}"/>
                          </a:ext>
                        </a:extLst>
                      </p:cNvPr>
                      <p:cNvGrpSpPr/>
                      <p:nvPr/>
                    </p:nvGrpSpPr>
                    <p:grpSpPr>
                      <a:xfrm>
                        <a:off x="4550724" y="4294106"/>
                        <a:ext cx="377072" cy="754143"/>
                        <a:chOff x="5090475" y="2837535"/>
                        <a:chExt cx="377072" cy="754143"/>
                      </a:xfrm>
                    </p:grpSpPr>
                    <p:sp>
                      <p:nvSpPr>
                        <p:cNvPr id="27" name="Freeform 26">
                          <a:extLst>
                            <a:ext uri="{FF2B5EF4-FFF2-40B4-BE49-F238E27FC236}">
                              <a16:creationId xmlns:a16="http://schemas.microsoft.com/office/drawing/2014/main" id="{FEB5397E-CA20-F3AB-06F1-60989692095D}"/>
                            </a:ext>
                          </a:extLst>
                        </p:cNvPr>
                        <p:cNvSpPr/>
                        <p:nvPr/>
                      </p:nvSpPr>
                      <p:spPr>
                        <a:xfrm>
                          <a:off x="5090475" y="2837535"/>
                          <a:ext cx="377072" cy="75414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8" name="Freeform 27">
                          <a:extLst>
                            <a:ext uri="{FF2B5EF4-FFF2-40B4-BE49-F238E27FC236}">
                              <a16:creationId xmlns:a16="http://schemas.microsoft.com/office/drawing/2014/main" id="{8B75B39F-94EB-4BDC-03D7-54F69CFD6B97}"/>
                            </a:ext>
                          </a:extLst>
                        </p:cNvPr>
                        <p:cNvSpPr/>
                        <p:nvPr/>
                      </p:nvSpPr>
                      <p:spPr>
                        <a:xfrm>
                          <a:off x="5090475" y="3000212"/>
                          <a:ext cx="214394" cy="428788"/>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sp>
                <p:nvSpPr>
                  <p:cNvPr id="17" name="Freeform 16">
                    <a:extLst>
                      <a:ext uri="{FF2B5EF4-FFF2-40B4-BE49-F238E27FC236}">
                        <a16:creationId xmlns:a16="http://schemas.microsoft.com/office/drawing/2014/main" id="{CBC7D719-DBB5-0D89-FD64-564A089A19D1}"/>
                      </a:ext>
                    </a:extLst>
                  </p:cNvPr>
                  <p:cNvSpPr/>
                  <p:nvPr/>
                </p:nvSpPr>
                <p:spPr>
                  <a:xfrm rot="16200000">
                    <a:off x="2144358" y="2098554"/>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8" name="Freeform 17">
                    <a:extLst>
                      <a:ext uri="{FF2B5EF4-FFF2-40B4-BE49-F238E27FC236}">
                        <a16:creationId xmlns:a16="http://schemas.microsoft.com/office/drawing/2014/main" id="{BAEEC6B5-752C-CF42-56FF-7389D2F49A88}"/>
                      </a:ext>
                    </a:extLst>
                  </p:cNvPr>
                  <p:cNvSpPr/>
                  <p:nvPr/>
                </p:nvSpPr>
                <p:spPr>
                  <a:xfrm rot="16200000">
                    <a:off x="2215131" y="2310874"/>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nvGrpSpPr>
                  <p:cNvPr id="19" name="Group 18">
                    <a:extLst>
                      <a:ext uri="{FF2B5EF4-FFF2-40B4-BE49-F238E27FC236}">
                        <a16:creationId xmlns:a16="http://schemas.microsoft.com/office/drawing/2014/main" id="{0C826677-E685-D8A9-3E9F-DEE12C7DF5C7}"/>
                      </a:ext>
                    </a:extLst>
                  </p:cNvPr>
                  <p:cNvGrpSpPr/>
                  <p:nvPr/>
                </p:nvGrpSpPr>
                <p:grpSpPr>
                  <a:xfrm rot="10800000">
                    <a:off x="1980313" y="5975626"/>
                    <a:ext cx="656183" cy="328092"/>
                    <a:chOff x="2036872" y="5854212"/>
                    <a:chExt cx="656183" cy="328092"/>
                  </a:xfrm>
                </p:grpSpPr>
                <p:sp>
                  <p:nvSpPr>
                    <p:cNvPr id="20" name="Freeform 19">
                      <a:extLst>
                        <a:ext uri="{FF2B5EF4-FFF2-40B4-BE49-F238E27FC236}">
                          <a16:creationId xmlns:a16="http://schemas.microsoft.com/office/drawing/2014/main" id="{6733AC0C-1336-CFD8-8DFB-72C1BA6F0E8D}"/>
                        </a:ext>
                      </a:extLst>
                    </p:cNvPr>
                    <p:cNvSpPr/>
                    <p:nvPr/>
                  </p:nvSpPr>
                  <p:spPr>
                    <a:xfrm rot="16200000">
                      <a:off x="2200918" y="5690166"/>
                      <a:ext cx="328092" cy="656183"/>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pPr>
                      <a:endParaRPr kumimoji="0" lang="en-US" sz="2489"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1" name="Freeform 20">
                      <a:extLst>
                        <a:ext uri="{FF2B5EF4-FFF2-40B4-BE49-F238E27FC236}">
                          <a16:creationId xmlns:a16="http://schemas.microsoft.com/office/drawing/2014/main" id="{36E9AAB7-E941-1614-7F2E-D473FC95D5EB}"/>
                        </a:ext>
                      </a:extLst>
                    </p:cNvPr>
                    <p:cNvSpPr/>
                    <p:nvPr/>
                  </p:nvSpPr>
                  <p:spPr>
                    <a:xfrm rot="16200000">
                      <a:off x="2271691" y="5902486"/>
                      <a:ext cx="186545" cy="373090"/>
                    </a:xfrm>
                    <a:custGeom>
                      <a:avLst/>
                      <a:gdLst>
                        <a:gd name="connsiteX0" fmla="*/ 1 w 509049"/>
                        <a:gd name="connsiteY0" fmla="*/ 0 h 1018096"/>
                        <a:gd name="connsiteX1" fmla="*/ 509049 w 509049"/>
                        <a:gd name="connsiteY1" fmla="*/ 509048 h 1018096"/>
                        <a:gd name="connsiteX2" fmla="*/ 1 w 509049"/>
                        <a:gd name="connsiteY2" fmla="*/ 1018096 h 1018096"/>
                        <a:gd name="connsiteX3" fmla="*/ 0 w 509049"/>
                        <a:gd name="connsiteY3" fmla="*/ 1018096 h 1018096"/>
                        <a:gd name="connsiteX4" fmla="*/ 0 w 509049"/>
                        <a:gd name="connsiteY4" fmla="*/ 0 h 101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049" h="1018096">
                          <a:moveTo>
                            <a:pt x="1" y="0"/>
                          </a:moveTo>
                          <a:cubicBezTo>
                            <a:pt x="281140" y="0"/>
                            <a:pt x="509049" y="227909"/>
                            <a:pt x="509049" y="509048"/>
                          </a:cubicBezTo>
                          <a:cubicBezTo>
                            <a:pt x="509049" y="790187"/>
                            <a:pt x="281140" y="1018096"/>
                            <a:pt x="1" y="1018096"/>
                          </a:cubicBezTo>
                          <a:lnTo>
                            <a:pt x="0" y="1018096"/>
                          </a:lnTo>
                          <a:lnTo>
                            <a:pt x="0" y="0"/>
                          </a:lnTo>
                          <a:close/>
                        </a:path>
                      </a:pathLst>
                    </a:custGeom>
                    <a:solidFill>
                      <a:srgbClr val="765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endParaRPr kumimoji="0" lang="en-US" sz="2489"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grpSp>
            </p:grpSp>
          </p:grpSp>
        </p:grpSp>
        <p:sp>
          <p:nvSpPr>
            <p:cNvPr id="10" name="TextBox 9">
              <a:extLst>
                <a:ext uri="{FF2B5EF4-FFF2-40B4-BE49-F238E27FC236}">
                  <a16:creationId xmlns:a16="http://schemas.microsoft.com/office/drawing/2014/main" id="{30505FAA-C3D6-92E7-E304-D00E7B47D634}"/>
                </a:ext>
              </a:extLst>
            </p:cNvPr>
            <p:cNvSpPr txBox="1"/>
            <p:nvPr/>
          </p:nvSpPr>
          <p:spPr>
            <a:xfrm>
              <a:off x="4514888" y="4551933"/>
              <a:ext cx="2160315" cy="584775"/>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r>
                <a:rPr kumimoji="0" lang="en-US" sz="16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sym typeface="Arial"/>
                </a:rPr>
                <a:t>Organization</a:t>
              </a:r>
            </a:p>
            <a:p>
              <a:pPr marL="0" marR="0" lvl="0" indent="0" algn="ctr" defTabSz="914400" rtl="0" eaLnBrk="1" fontAlgn="auto" latinLnBrk="0" hangingPunct="1">
                <a:lnSpc>
                  <a:spcPct val="100000"/>
                </a:lnSpc>
                <a:spcBef>
                  <a:spcPts val="0"/>
                </a:spcBef>
                <a:spcAft>
                  <a:spcPts val="0"/>
                </a:spcAft>
                <a:buClr>
                  <a:srgbClr val="1D1D1D"/>
                </a:buClr>
                <a:buSzTx/>
                <a:buFont typeface="Arial"/>
                <a:buNone/>
                <a:tabLst/>
                <a:defRPr>
                  <a:solidFill>
                    <a:srgbClr val="FFFFFF"/>
                  </a:solidFill>
                </a:defRPr>
              </a:pPr>
              <a:r>
                <a:rPr kumimoji="0" lang="en-US" sz="16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sym typeface="Arial"/>
                </a:rPr>
                <a:t>Interventions</a:t>
              </a:r>
            </a:p>
          </p:txBody>
        </p:sp>
      </p:grpSp>
      <p:pic>
        <p:nvPicPr>
          <p:cNvPr id="145" name="Picture 144">
            <a:extLst>
              <a:ext uri="{FF2B5EF4-FFF2-40B4-BE49-F238E27FC236}">
                <a16:creationId xmlns:a16="http://schemas.microsoft.com/office/drawing/2014/main" id="{3020CC65-6144-25D3-D3DD-77E758AD9E2D}"/>
              </a:ext>
            </a:extLst>
          </p:cNvPr>
          <p:cNvPicPr>
            <a:picLocks noChangeAspect="1"/>
          </p:cNvPicPr>
          <p:nvPr/>
        </p:nvPicPr>
        <p:blipFill>
          <a:blip r:embed="rId3" cstate="print">
            <a:duotone>
              <a:srgbClr val="765FFF"/>
              <a:srgbClr val="FFFFFF"/>
            </a:duotone>
          </a:blip>
          <a:stretch>
            <a:fillRect/>
          </a:stretch>
        </p:blipFill>
        <p:spPr>
          <a:xfrm>
            <a:off x="7550554" y="2496627"/>
            <a:ext cx="3580523" cy="2375825"/>
          </a:xfrm>
          <a:prstGeom prst="roundRect">
            <a:avLst>
              <a:gd name="adj" fmla="val 4224"/>
            </a:avLst>
          </a:prstGeom>
        </p:spPr>
      </p:pic>
      <p:sp>
        <p:nvSpPr>
          <p:cNvPr id="146" name="TextBox 145">
            <a:extLst>
              <a:ext uri="{FF2B5EF4-FFF2-40B4-BE49-F238E27FC236}">
                <a16:creationId xmlns:a16="http://schemas.microsoft.com/office/drawing/2014/main" id="{2B70D557-EB8D-CBA9-641F-62E41D6CF5E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002529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9B5C89-FBEB-619A-DCD7-B4EA94D3BCC3}"/>
              </a:ext>
            </a:extLst>
          </p:cNvPr>
          <p:cNvSpPr>
            <a:spLocks noGrp="1"/>
          </p:cNvSpPr>
          <p:nvPr>
            <p:ph type="sldNum" sz="quarter" idx="4"/>
          </p:nvPr>
        </p:nvSpPr>
        <p:spPr/>
        <p:txBody>
          <a:bodyPr/>
          <a:lstStyle/>
          <a:p>
            <a:pPr algn="ctr"/>
            <a:fld id="{1875A764-3B06-454E-8ABA-2F6ED0EB58E9}" type="slidenum">
              <a:rPr lang="en-US" smtClean="0"/>
              <a:t>35</a:t>
            </a:fld>
            <a:endParaRPr lang="en-US"/>
          </a:p>
        </p:txBody>
      </p:sp>
      <p:sp>
        <p:nvSpPr>
          <p:cNvPr id="3" name="Title 2">
            <a:extLst>
              <a:ext uri="{FF2B5EF4-FFF2-40B4-BE49-F238E27FC236}">
                <a16:creationId xmlns:a16="http://schemas.microsoft.com/office/drawing/2014/main" id="{1C7F6A39-2665-9C46-933B-2EC9E7A8DF44}"/>
              </a:ext>
            </a:extLst>
          </p:cNvPr>
          <p:cNvSpPr>
            <a:spLocks noGrp="1"/>
          </p:cNvSpPr>
          <p:nvPr>
            <p:ph type="title"/>
          </p:nvPr>
        </p:nvSpPr>
        <p:spPr/>
        <p:txBody>
          <a:bodyPr/>
          <a:lstStyle/>
          <a:p>
            <a:r>
              <a:rPr lang="en-US" spc="-25" dirty="0"/>
              <a:t>Business Impact of Talent to Value</a:t>
            </a:r>
            <a:endParaRPr lang="en-US" dirty="0"/>
          </a:p>
        </p:txBody>
      </p:sp>
      <p:pic>
        <p:nvPicPr>
          <p:cNvPr id="4" name="Picture 3" descr="Mobilize">
            <a:extLst>
              <a:ext uri="{FF2B5EF4-FFF2-40B4-BE49-F238E27FC236}">
                <a16:creationId xmlns:a16="http://schemas.microsoft.com/office/drawing/2014/main" id="{C700A429-6288-4C63-BB54-915AE32787E3}"/>
              </a:ext>
            </a:extLst>
          </p:cNvPr>
          <p:cNvPicPr>
            <a:picLocks noChangeAspect="1"/>
          </p:cNvPicPr>
          <p:nvPr/>
        </p:nvPicPr>
        <p:blipFill>
          <a:blip r:embed="rId2" cstate="screen">
            <a:duotone>
              <a:srgbClr val="765FFF"/>
              <a:srgbClr val="FFFFFF"/>
            </a:duotone>
          </a:blip>
          <a:stretch>
            <a:fillRect/>
          </a:stretch>
        </p:blipFill>
        <p:spPr>
          <a:xfrm>
            <a:off x="1869401" y="3575791"/>
            <a:ext cx="1270321" cy="1270321"/>
          </a:xfrm>
          <a:prstGeom prst="rect">
            <a:avLst/>
          </a:prstGeom>
        </p:spPr>
      </p:pic>
      <p:sp>
        <p:nvSpPr>
          <p:cNvPr id="5" name="Flowchart: Connector 1">
            <a:extLst>
              <a:ext uri="{FF2B5EF4-FFF2-40B4-BE49-F238E27FC236}">
                <a16:creationId xmlns:a16="http://schemas.microsoft.com/office/drawing/2014/main" id="{02C4E1B5-94A2-C3D3-8C80-F0E941E33880}"/>
              </a:ext>
            </a:extLst>
          </p:cNvPr>
          <p:cNvSpPr/>
          <p:nvPr/>
        </p:nvSpPr>
        <p:spPr>
          <a:xfrm>
            <a:off x="1169674" y="2243791"/>
            <a:ext cx="2664000" cy="2664000"/>
          </a:xfrm>
          <a:prstGeom prst="flowChartConnector">
            <a:avLst/>
          </a:prstGeom>
          <a:noFill/>
          <a:ln w="28575">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6" name="TextBox 5">
            <a:extLst>
              <a:ext uri="{FF2B5EF4-FFF2-40B4-BE49-F238E27FC236}">
                <a16:creationId xmlns:a16="http://schemas.microsoft.com/office/drawing/2014/main" id="{808E2552-0912-63C3-14AA-4DFBA7722DB0}"/>
              </a:ext>
            </a:extLst>
          </p:cNvPr>
          <p:cNvSpPr txBox="1"/>
          <p:nvPr/>
        </p:nvSpPr>
        <p:spPr>
          <a:xfrm>
            <a:off x="1566532" y="2692835"/>
            <a:ext cx="1870284" cy="954107"/>
          </a:xfrm>
          <a:prstGeom prst="rect">
            <a:avLst/>
          </a:prstGeom>
          <a:noFill/>
        </p:spPr>
        <p:txBody>
          <a:bodyPr wrap="square" lIns="91440" tIns="45720" rIns="91440" bIns="45720" rtlCol="0">
            <a:spAutoFit/>
          </a:bodyPr>
          <a:lstStyle/>
          <a:p>
            <a:pPr algn="ctr"/>
            <a:r>
              <a:rPr lang="en-GB" sz="2800" spc="-10">
                <a:latin typeface="Arial" pitchFamily="34" charset="0"/>
              </a:rPr>
              <a:t>Business Impact</a:t>
            </a:r>
          </a:p>
        </p:txBody>
      </p:sp>
      <p:sp>
        <p:nvSpPr>
          <p:cNvPr id="7" name="Rectangle: Rounded Corners 6">
            <a:extLst>
              <a:ext uri="{FF2B5EF4-FFF2-40B4-BE49-F238E27FC236}">
                <a16:creationId xmlns:a16="http://schemas.microsoft.com/office/drawing/2014/main" id="{1D94B2D4-53C3-02FF-2229-42EA29B19B77}"/>
              </a:ext>
            </a:extLst>
          </p:cNvPr>
          <p:cNvSpPr/>
          <p:nvPr/>
        </p:nvSpPr>
        <p:spPr>
          <a:xfrm>
            <a:off x="6378478" y="1415792"/>
            <a:ext cx="4738084" cy="828000"/>
          </a:xfrm>
          <a:prstGeom prst="roundRect">
            <a:avLst/>
          </a:prstGeom>
          <a:ln/>
        </p:spPr>
        <p:style>
          <a:lnRef idx="2">
            <a:schemeClr val="accent1"/>
          </a:lnRef>
          <a:fillRef idx="1">
            <a:schemeClr val="lt1"/>
          </a:fillRef>
          <a:effectRef idx="0">
            <a:schemeClr val="accent1"/>
          </a:effectRef>
          <a:fontRef idx="minor">
            <a:schemeClr val="dk1"/>
          </a:fontRef>
        </p:style>
        <p:txBody>
          <a:bodyPr lIns="900000" rtlCol="0" anchor="ctr"/>
          <a:lstStyle/>
          <a:p>
            <a:r>
              <a:rPr lang="en-GB" spc="-10">
                <a:latin typeface="Arial" pitchFamily="34" charset="0"/>
              </a:rPr>
              <a:t>Faster delivery of business strategy through mitigating execution risk</a:t>
            </a:r>
          </a:p>
        </p:txBody>
      </p:sp>
      <p:sp>
        <p:nvSpPr>
          <p:cNvPr id="8" name="Rectangle: Rounded Corners 7">
            <a:extLst>
              <a:ext uri="{FF2B5EF4-FFF2-40B4-BE49-F238E27FC236}">
                <a16:creationId xmlns:a16="http://schemas.microsoft.com/office/drawing/2014/main" id="{B10B4D6B-B14B-1103-8F0F-95BDC03B7919}"/>
              </a:ext>
            </a:extLst>
          </p:cNvPr>
          <p:cNvSpPr/>
          <p:nvPr/>
        </p:nvSpPr>
        <p:spPr>
          <a:xfrm>
            <a:off x="6378478" y="2349987"/>
            <a:ext cx="4738084" cy="828000"/>
          </a:xfrm>
          <a:prstGeom prst="roundRect">
            <a:avLst/>
          </a:prstGeom>
          <a:ln/>
        </p:spPr>
        <p:style>
          <a:lnRef idx="2">
            <a:schemeClr val="accent1"/>
          </a:lnRef>
          <a:fillRef idx="1">
            <a:schemeClr val="lt1"/>
          </a:fillRef>
          <a:effectRef idx="0">
            <a:schemeClr val="accent1"/>
          </a:effectRef>
          <a:fontRef idx="minor">
            <a:schemeClr val="dk1"/>
          </a:fontRef>
        </p:style>
        <p:txBody>
          <a:bodyPr lIns="900000" rtlCol="0" anchor="ctr"/>
          <a:lstStyle/>
          <a:p>
            <a:r>
              <a:rPr lang="en-GB" spc="-10">
                <a:latin typeface="Arial" pitchFamily="34" charset="0"/>
              </a:rPr>
              <a:t>Greater alignment of senior team on priorities that drive value creation</a:t>
            </a:r>
          </a:p>
        </p:txBody>
      </p:sp>
      <p:sp>
        <p:nvSpPr>
          <p:cNvPr id="9" name="Rectangle: Rounded Corners 8">
            <a:extLst>
              <a:ext uri="{FF2B5EF4-FFF2-40B4-BE49-F238E27FC236}">
                <a16:creationId xmlns:a16="http://schemas.microsoft.com/office/drawing/2014/main" id="{C4E97EF1-54F3-3493-97CF-1D2CCB00479A}"/>
              </a:ext>
            </a:extLst>
          </p:cNvPr>
          <p:cNvSpPr/>
          <p:nvPr/>
        </p:nvSpPr>
        <p:spPr>
          <a:xfrm>
            <a:off x="6378478" y="3279110"/>
            <a:ext cx="4738084" cy="828000"/>
          </a:xfrm>
          <a:prstGeom prst="roundRect">
            <a:avLst/>
          </a:prstGeom>
          <a:ln/>
        </p:spPr>
        <p:style>
          <a:lnRef idx="2">
            <a:schemeClr val="accent1"/>
          </a:lnRef>
          <a:fillRef idx="1">
            <a:schemeClr val="lt1"/>
          </a:fillRef>
          <a:effectRef idx="0">
            <a:schemeClr val="accent1"/>
          </a:effectRef>
          <a:fontRef idx="minor">
            <a:schemeClr val="dk1"/>
          </a:fontRef>
        </p:style>
        <p:txBody>
          <a:bodyPr lIns="900000" rtlCol="0" anchor="ctr"/>
          <a:lstStyle/>
          <a:p>
            <a:r>
              <a:rPr lang="en-GB" spc="-10">
                <a:latin typeface="Arial" pitchFamily="34" charset="0"/>
              </a:rPr>
              <a:t>Clarity and accountability in the work needed to create / enable / protect value</a:t>
            </a:r>
          </a:p>
        </p:txBody>
      </p:sp>
      <p:sp>
        <p:nvSpPr>
          <p:cNvPr id="10" name="Rectangle: Rounded Corners 9">
            <a:extLst>
              <a:ext uri="{FF2B5EF4-FFF2-40B4-BE49-F238E27FC236}">
                <a16:creationId xmlns:a16="http://schemas.microsoft.com/office/drawing/2014/main" id="{410596F5-6C6B-CBE2-8BE1-6C88A69B2217}"/>
              </a:ext>
            </a:extLst>
          </p:cNvPr>
          <p:cNvSpPr/>
          <p:nvPr/>
        </p:nvSpPr>
        <p:spPr>
          <a:xfrm>
            <a:off x="6378478" y="4218377"/>
            <a:ext cx="4738084" cy="828000"/>
          </a:xfrm>
          <a:prstGeom prst="roundRect">
            <a:avLst/>
          </a:prstGeom>
          <a:ln/>
        </p:spPr>
        <p:style>
          <a:lnRef idx="2">
            <a:schemeClr val="accent1"/>
          </a:lnRef>
          <a:fillRef idx="1">
            <a:schemeClr val="lt1"/>
          </a:fillRef>
          <a:effectRef idx="0">
            <a:schemeClr val="accent1"/>
          </a:effectRef>
          <a:fontRef idx="minor">
            <a:schemeClr val="dk1"/>
          </a:fontRef>
        </p:style>
        <p:txBody>
          <a:bodyPr lIns="900000" rtlCol="0" anchor="ctr"/>
          <a:lstStyle/>
          <a:p>
            <a:r>
              <a:rPr lang="en-GB" spc="-10">
                <a:latin typeface="Arial" pitchFamily="34" charset="0"/>
              </a:rPr>
              <a:t>Ensure talent is set-up for success with work and role design to produce results</a:t>
            </a:r>
          </a:p>
        </p:txBody>
      </p:sp>
      <p:sp>
        <p:nvSpPr>
          <p:cNvPr id="11" name="Rectangle: Rounded Corners 14">
            <a:extLst>
              <a:ext uri="{FF2B5EF4-FFF2-40B4-BE49-F238E27FC236}">
                <a16:creationId xmlns:a16="http://schemas.microsoft.com/office/drawing/2014/main" id="{A380F49D-208B-5220-35DE-CED14FC61015}"/>
              </a:ext>
            </a:extLst>
          </p:cNvPr>
          <p:cNvSpPr/>
          <p:nvPr/>
        </p:nvSpPr>
        <p:spPr>
          <a:xfrm>
            <a:off x="6378478" y="5152573"/>
            <a:ext cx="4738084" cy="828000"/>
          </a:xfrm>
          <a:prstGeom prst="roundRect">
            <a:avLst/>
          </a:prstGeom>
          <a:ln/>
        </p:spPr>
        <p:style>
          <a:lnRef idx="2">
            <a:schemeClr val="accent1"/>
          </a:lnRef>
          <a:fillRef idx="1">
            <a:schemeClr val="lt1"/>
          </a:fillRef>
          <a:effectRef idx="0">
            <a:schemeClr val="accent1"/>
          </a:effectRef>
          <a:fontRef idx="minor">
            <a:schemeClr val="dk1"/>
          </a:fontRef>
        </p:style>
        <p:txBody>
          <a:bodyPr lIns="900000" rtlCol="0" anchor="ctr"/>
          <a:lstStyle/>
          <a:p>
            <a:r>
              <a:rPr lang="en-GB" spc="-10">
                <a:latin typeface="Arial" pitchFamily="34" charset="0"/>
              </a:rPr>
              <a:t>Differentiated routines and focus on the work / roles that matter most</a:t>
            </a:r>
          </a:p>
        </p:txBody>
      </p:sp>
      <p:cxnSp>
        <p:nvCxnSpPr>
          <p:cNvPr id="12" name="Straight Connector 11">
            <a:extLst>
              <a:ext uri="{FF2B5EF4-FFF2-40B4-BE49-F238E27FC236}">
                <a16:creationId xmlns:a16="http://schemas.microsoft.com/office/drawing/2014/main" id="{DB2FA5C8-9075-5034-B0A5-1D4F3DA70241}"/>
              </a:ext>
            </a:extLst>
          </p:cNvPr>
          <p:cNvCxnSpPr>
            <a:cxnSpLocks/>
            <a:stCxn id="5" idx="6"/>
          </p:cNvCxnSpPr>
          <p:nvPr/>
        </p:nvCxnSpPr>
        <p:spPr>
          <a:xfrm>
            <a:off x="3833674" y="3575791"/>
            <a:ext cx="2544804" cy="1990782"/>
          </a:xfrm>
          <a:prstGeom prst="line">
            <a:avLst/>
          </a:prstGeom>
          <a:ln w="38100">
            <a:solidFill>
              <a:srgbClr val="919291"/>
            </a:solidFill>
          </a:ln>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5846D3DE-A97D-DB43-CD18-0031B1015A85}"/>
              </a:ext>
            </a:extLst>
          </p:cNvPr>
          <p:cNvCxnSpPr>
            <a:cxnSpLocks/>
            <a:stCxn id="5" idx="6"/>
          </p:cNvCxnSpPr>
          <p:nvPr/>
        </p:nvCxnSpPr>
        <p:spPr>
          <a:xfrm>
            <a:off x="3833674" y="3575791"/>
            <a:ext cx="2544804" cy="1056586"/>
          </a:xfrm>
          <a:prstGeom prst="line">
            <a:avLst/>
          </a:prstGeom>
          <a:ln w="38100">
            <a:solidFill>
              <a:srgbClr val="919291"/>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F82CA73B-2C8B-ACB5-FDBC-5FAC5A0927F6}"/>
              </a:ext>
            </a:extLst>
          </p:cNvPr>
          <p:cNvCxnSpPr>
            <a:cxnSpLocks/>
            <a:stCxn id="5" idx="6"/>
          </p:cNvCxnSpPr>
          <p:nvPr/>
        </p:nvCxnSpPr>
        <p:spPr>
          <a:xfrm>
            <a:off x="3833674" y="3575791"/>
            <a:ext cx="2544804" cy="117319"/>
          </a:xfrm>
          <a:prstGeom prst="line">
            <a:avLst/>
          </a:prstGeom>
          <a:ln w="38100">
            <a:solidFill>
              <a:srgbClr val="919291"/>
            </a:solidFill>
          </a:ln>
        </p:spPr>
        <p:style>
          <a:lnRef idx="3">
            <a:schemeClr val="accent1"/>
          </a:lnRef>
          <a:fillRef idx="0">
            <a:schemeClr val="accent1"/>
          </a:fillRef>
          <a:effectRef idx="2">
            <a:schemeClr val="accent1"/>
          </a:effectRef>
          <a:fontRef idx="minor">
            <a:schemeClr val="tx1"/>
          </a:fontRef>
        </p:style>
      </p:cxnSp>
      <p:cxnSp>
        <p:nvCxnSpPr>
          <p:cNvPr id="15" name="Straight Connector 14">
            <a:extLst>
              <a:ext uri="{FF2B5EF4-FFF2-40B4-BE49-F238E27FC236}">
                <a16:creationId xmlns:a16="http://schemas.microsoft.com/office/drawing/2014/main" id="{1BDB1232-1694-3862-B2FF-34FE4E063B28}"/>
              </a:ext>
            </a:extLst>
          </p:cNvPr>
          <p:cNvCxnSpPr>
            <a:cxnSpLocks/>
            <a:stCxn id="5" idx="6"/>
          </p:cNvCxnSpPr>
          <p:nvPr/>
        </p:nvCxnSpPr>
        <p:spPr>
          <a:xfrm flipV="1">
            <a:off x="3833674" y="2763987"/>
            <a:ext cx="2544804" cy="811804"/>
          </a:xfrm>
          <a:prstGeom prst="line">
            <a:avLst/>
          </a:prstGeom>
          <a:ln w="38100">
            <a:solidFill>
              <a:srgbClr val="919291"/>
            </a:solidFill>
          </a:ln>
        </p:spPr>
        <p:style>
          <a:lnRef idx="3">
            <a:schemeClr val="accent1"/>
          </a:lnRef>
          <a:fillRef idx="0">
            <a:schemeClr val="accent1"/>
          </a:fillRef>
          <a:effectRef idx="2">
            <a:schemeClr val="accent1"/>
          </a:effectRef>
          <a:fontRef idx="minor">
            <a:schemeClr val="tx1"/>
          </a:fontRef>
        </p:style>
      </p:cxnSp>
      <p:cxnSp>
        <p:nvCxnSpPr>
          <p:cNvPr id="16" name="Straight Connector 15">
            <a:extLst>
              <a:ext uri="{FF2B5EF4-FFF2-40B4-BE49-F238E27FC236}">
                <a16:creationId xmlns:a16="http://schemas.microsoft.com/office/drawing/2014/main" id="{D4CD29E6-8477-6F5A-D86C-702B92690D93}"/>
              </a:ext>
            </a:extLst>
          </p:cNvPr>
          <p:cNvCxnSpPr>
            <a:cxnSpLocks/>
            <a:stCxn id="5" idx="6"/>
          </p:cNvCxnSpPr>
          <p:nvPr/>
        </p:nvCxnSpPr>
        <p:spPr>
          <a:xfrm flipV="1">
            <a:off x="3833674" y="1829792"/>
            <a:ext cx="2544804" cy="1745999"/>
          </a:xfrm>
          <a:prstGeom prst="line">
            <a:avLst/>
          </a:prstGeom>
          <a:ln w="38100">
            <a:solidFill>
              <a:srgbClr val="919291"/>
            </a:solidFill>
          </a:ln>
        </p:spPr>
        <p:style>
          <a:lnRef idx="3">
            <a:schemeClr val="accent1"/>
          </a:lnRef>
          <a:fillRef idx="0">
            <a:schemeClr val="accent1"/>
          </a:fillRef>
          <a:effectRef idx="2">
            <a:schemeClr val="accent1"/>
          </a:effectRef>
          <a:fontRef idx="minor">
            <a:schemeClr val="tx1"/>
          </a:fontRef>
        </p:style>
      </p:cxnSp>
      <p:pic>
        <p:nvPicPr>
          <p:cNvPr id="17" name="Graphic 37" descr="End with solid fill">
            <a:extLst>
              <a:ext uri="{FF2B5EF4-FFF2-40B4-BE49-F238E27FC236}">
                <a16:creationId xmlns:a16="http://schemas.microsoft.com/office/drawing/2014/main" id="{ADB9B399-3CC9-542B-BA04-95643826589F}"/>
              </a:ext>
            </a:extLst>
          </p:cNvPr>
          <p:cNvPicPr>
            <a:picLocks noChangeAspect="1"/>
          </p:cNvPicPr>
          <p:nvPr/>
        </p:nvPicPr>
        <p:blipFill>
          <a:blip r:embed="rId3">
            <a:duotone>
              <a:srgbClr val="765FFF"/>
              <a:srgbClr val="FFFFFF"/>
            </a:duotone>
          </a:blip>
          <a:stretch>
            <a:fillRect/>
          </a:stretch>
        </p:blipFill>
        <p:spPr>
          <a:xfrm>
            <a:off x="6381509" y="1477853"/>
            <a:ext cx="693908" cy="693908"/>
          </a:xfrm>
          <a:prstGeom prst="rect">
            <a:avLst/>
          </a:prstGeom>
        </p:spPr>
      </p:pic>
      <p:pic>
        <p:nvPicPr>
          <p:cNvPr id="18" name="Graphic 44" descr="Meeting with solid fill">
            <a:extLst>
              <a:ext uri="{FF2B5EF4-FFF2-40B4-BE49-F238E27FC236}">
                <a16:creationId xmlns:a16="http://schemas.microsoft.com/office/drawing/2014/main" id="{350B4366-6FE1-505E-871B-25736CCABA6C}"/>
              </a:ext>
            </a:extLst>
          </p:cNvPr>
          <p:cNvPicPr>
            <a:picLocks noChangeAspect="1"/>
          </p:cNvPicPr>
          <p:nvPr/>
        </p:nvPicPr>
        <p:blipFill>
          <a:blip r:embed="rId4">
            <a:duotone>
              <a:srgbClr val="765FFF"/>
              <a:srgbClr val="FFFFFF"/>
            </a:duotone>
          </a:blip>
          <a:stretch>
            <a:fillRect/>
          </a:stretch>
        </p:blipFill>
        <p:spPr>
          <a:xfrm>
            <a:off x="6480833" y="2466695"/>
            <a:ext cx="594584" cy="594584"/>
          </a:xfrm>
          <a:prstGeom prst="rect">
            <a:avLst/>
          </a:prstGeom>
        </p:spPr>
      </p:pic>
      <p:pic>
        <p:nvPicPr>
          <p:cNvPr id="19" name="Graphic 46" descr="Lightbulb and gear with solid fill">
            <a:extLst>
              <a:ext uri="{FF2B5EF4-FFF2-40B4-BE49-F238E27FC236}">
                <a16:creationId xmlns:a16="http://schemas.microsoft.com/office/drawing/2014/main" id="{6DB36FDC-5B61-87B3-8203-F76136B62777}"/>
              </a:ext>
            </a:extLst>
          </p:cNvPr>
          <p:cNvPicPr>
            <a:picLocks noChangeAspect="1"/>
          </p:cNvPicPr>
          <p:nvPr/>
        </p:nvPicPr>
        <p:blipFill>
          <a:blip r:embed="rId5">
            <a:duotone>
              <a:srgbClr val="765FFF"/>
              <a:srgbClr val="FFFFFF"/>
            </a:duotone>
          </a:blip>
          <a:stretch>
            <a:fillRect/>
          </a:stretch>
        </p:blipFill>
        <p:spPr>
          <a:xfrm>
            <a:off x="6429655" y="3344640"/>
            <a:ext cx="696939" cy="696939"/>
          </a:xfrm>
          <a:prstGeom prst="rect">
            <a:avLst/>
          </a:prstGeom>
        </p:spPr>
      </p:pic>
      <p:pic>
        <p:nvPicPr>
          <p:cNvPr id="20" name="Graphic 54" descr="Gears with solid fill">
            <a:extLst>
              <a:ext uri="{FF2B5EF4-FFF2-40B4-BE49-F238E27FC236}">
                <a16:creationId xmlns:a16="http://schemas.microsoft.com/office/drawing/2014/main" id="{1E9E64B0-7EF8-F071-F11B-35AD6C4BBE48}"/>
              </a:ext>
            </a:extLst>
          </p:cNvPr>
          <p:cNvPicPr>
            <a:picLocks noChangeAspect="1"/>
          </p:cNvPicPr>
          <p:nvPr/>
        </p:nvPicPr>
        <p:blipFill>
          <a:blip r:embed="rId6">
            <a:duotone>
              <a:srgbClr val="765FFF"/>
              <a:srgbClr val="FFFFFF"/>
            </a:duotone>
          </a:blip>
          <a:stretch>
            <a:fillRect/>
          </a:stretch>
        </p:blipFill>
        <p:spPr>
          <a:xfrm>
            <a:off x="6502445" y="4279951"/>
            <a:ext cx="704852" cy="704852"/>
          </a:xfrm>
          <a:prstGeom prst="rect">
            <a:avLst/>
          </a:prstGeom>
        </p:spPr>
      </p:pic>
      <p:pic>
        <p:nvPicPr>
          <p:cNvPr id="21" name="Graphic 56" descr="Bullseye with solid fill">
            <a:extLst>
              <a:ext uri="{FF2B5EF4-FFF2-40B4-BE49-F238E27FC236}">
                <a16:creationId xmlns:a16="http://schemas.microsoft.com/office/drawing/2014/main" id="{D1ABFF22-B018-64B4-3D02-DEDC0CCC329E}"/>
              </a:ext>
            </a:extLst>
          </p:cNvPr>
          <p:cNvPicPr>
            <a:picLocks noChangeAspect="1"/>
          </p:cNvPicPr>
          <p:nvPr/>
        </p:nvPicPr>
        <p:blipFill>
          <a:blip r:embed="rId7">
            <a:duotone>
              <a:srgbClr val="765FFF"/>
              <a:srgbClr val="FFFFFF"/>
            </a:duotone>
          </a:blip>
          <a:stretch>
            <a:fillRect/>
          </a:stretch>
        </p:blipFill>
        <p:spPr>
          <a:xfrm>
            <a:off x="6480833" y="5260860"/>
            <a:ext cx="611425" cy="611425"/>
          </a:xfrm>
          <a:prstGeom prst="rect">
            <a:avLst/>
          </a:prstGeom>
        </p:spPr>
      </p:pic>
      <p:sp>
        <p:nvSpPr>
          <p:cNvPr id="22" name="TextBox 21">
            <a:extLst>
              <a:ext uri="{FF2B5EF4-FFF2-40B4-BE49-F238E27FC236}">
                <a16:creationId xmlns:a16="http://schemas.microsoft.com/office/drawing/2014/main" id="{0354C7C5-5BCF-4BAF-1025-19608996F08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998465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A46E8-B694-5D99-AE40-773FEB3492A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E41405F-D769-5556-D026-211E0B8094CC}"/>
              </a:ext>
            </a:extLst>
          </p:cNvPr>
          <p:cNvSpPr txBox="1">
            <a:spLocks noGrp="1"/>
          </p:cNvSpPr>
          <p:nvPr>
            <p:ph type="title"/>
          </p:nvPr>
        </p:nvSpPr>
        <p:spPr>
          <a:noFill/>
        </p:spPr>
        <p:txBody>
          <a:bodyPr/>
          <a:lstStyle/>
          <a:p>
            <a:pPr>
              <a:buNone/>
            </a:pPr>
            <a:r>
              <a:rPr lang="en-US" dirty="0"/>
              <a:t>Organizing to Value</a:t>
            </a:r>
          </a:p>
        </p:txBody>
      </p:sp>
    </p:spTree>
    <p:extLst>
      <p:ext uri="{BB962C8B-B14F-4D97-AF65-F5344CB8AC3E}">
        <p14:creationId xmlns:p14="http://schemas.microsoft.com/office/powerpoint/2010/main" val="3433213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B29A04-0F5F-3554-7A1E-131919182AF4}"/>
              </a:ext>
            </a:extLst>
          </p:cNvPr>
          <p:cNvSpPr>
            <a:spLocks noGrp="1"/>
          </p:cNvSpPr>
          <p:nvPr>
            <p:ph type="title"/>
          </p:nvPr>
        </p:nvSpPr>
        <p:spPr/>
        <p:txBody>
          <a:bodyPr/>
          <a:lstStyle/>
          <a:p>
            <a:r>
              <a:rPr lang="en-US" dirty="0"/>
              <a:t>Organize to Value: Our Approach</a:t>
            </a:r>
          </a:p>
        </p:txBody>
      </p:sp>
      <p:sp>
        <p:nvSpPr>
          <p:cNvPr id="5" name="Text Placeholder 4">
            <a:extLst>
              <a:ext uri="{FF2B5EF4-FFF2-40B4-BE49-F238E27FC236}">
                <a16:creationId xmlns:a16="http://schemas.microsoft.com/office/drawing/2014/main" id="{7E79A358-0265-FD4B-5159-53EF7FD8949C}"/>
              </a:ext>
            </a:extLst>
          </p:cNvPr>
          <p:cNvSpPr>
            <a:spLocks noGrp="1"/>
          </p:cNvSpPr>
          <p:nvPr>
            <p:ph type="body" sz="quarter" idx="12"/>
          </p:nvPr>
        </p:nvSpPr>
        <p:spPr/>
        <p:txBody>
          <a:bodyPr/>
          <a:lstStyle/>
          <a:p>
            <a:pPr lvl="0"/>
            <a:r>
              <a:rPr lang="en-GB" dirty="0"/>
              <a:t>Value Hotspots </a:t>
            </a:r>
            <a:r>
              <a:rPr lang="en-US" altLang="en-US" dirty="0">
                <a:sym typeface="Helvetica Neue Light" panose="02000403000000020004" pitchFamily="2" charset="0"/>
              </a:rPr>
              <a:t>| Work @ the Hotspots | Work Risks | Pattern of Risk (fewest Critical Areas to Solve)</a:t>
            </a:r>
            <a:endParaRPr lang="en-GB" dirty="0"/>
          </a:p>
        </p:txBody>
      </p:sp>
      <p:sp>
        <p:nvSpPr>
          <p:cNvPr id="2" name="Slide Number Placeholder 1">
            <a:extLst>
              <a:ext uri="{FF2B5EF4-FFF2-40B4-BE49-F238E27FC236}">
                <a16:creationId xmlns:a16="http://schemas.microsoft.com/office/drawing/2014/main" id="{D9E63C30-8858-3886-F54C-911B3A036CE3}"/>
              </a:ext>
            </a:extLst>
          </p:cNvPr>
          <p:cNvSpPr>
            <a:spLocks noGrp="1"/>
          </p:cNvSpPr>
          <p:nvPr>
            <p:ph type="sldNum" sz="quarter" idx="4"/>
          </p:nvPr>
        </p:nvSpPr>
        <p:spPr/>
        <p:txBody>
          <a:bodyPr/>
          <a:lstStyle/>
          <a:p>
            <a:pPr algn="ctr"/>
            <a:fld id="{5B5F607B-51C9-463C-B8AC-22C4474A29A3}" type="slidenum">
              <a:rPr lang="en-US" smtClean="0"/>
              <a:t>37</a:t>
            </a:fld>
            <a:endParaRPr lang="en-US"/>
          </a:p>
        </p:txBody>
      </p:sp>
      <p:sp>
        <p:nvSpPr>
          <p:cNvPr id="6" name="Rounded Rectangle 104">
            <a:extLst>
              <a:ext uri="{FF2B5EF4-FFF2-40B4-BE49-F238E27FC236}">
                <a16:creationId xmlns:a16="http://schemas.microsoft.com/office/drawing/2014/main" id="{73E9C744-0EF1-4C66-3776-06E3222F4ADA}"/>
              </a:ext>
            </a:extLst>
          </p:cNvPr>
          <p:cNvSpPr/>
          <p:nvPr/>
        </p:nvSpPr>
        <p:spPr>
          <a:xfrm>
            <a:off x="1411217" y="1102246"/>
            <a:ext cx="1927591" cy="638175"/>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DRIVE </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EFFICIENCY</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800" b="1" i="0" u="none" strike="noStrike" kern="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15%</a:t>
            </a:r>
          </a:p>
        </p:txBody>
      </p:sp>
      <p:sp>
        <p:nvSpPr>
          <p:cNvPr id="7" name="Rounded Rectangle 105">
            <a:extLst>
              <a:ext uri="{FF2B5EF4-FFF2-40B4-BE49-F238E27FC236}">
                <a16:creationId xmlns:a16="http://schemas.microsoft.com/office/drawing/2014/main" id="{36B788D5-B289-E316-D3A8-EA76A6E402F2}"/>
              </a:ext>
            </a:extLst>
          </p:cNvPr>
          <p:cNvSpPr/>
          <p:nvPr/>
        </p:nvSpPr>
        <p:spPr>
          <a:xfrm>
            <a:off x="3382475" y="1093868"/>
            <a:ext cx="1925692" cy="638175"/>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MANUFACTURING OPT. &amp; EXPANSION</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800" b="1" i="0" u="none" strike="noStrike" kern="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10%</a:t>
            </a:r>
          </a:p>
        </p:txBody>
      </p:sp>
      <p:sp>
        <p:nvSpPr>
          <p:cNvPr id="8" name="Rounded Rectangle 106">
            <a:extLst>
              <a:ext uri="{FF2B5EF4-FFF2-40B4-BE49-F238E27FC236}">
                <a16:creationId xmlns:a16="http://schemas.microsoft.com/office/drawing/2014/main" id="{ADC488D4-8695-4BB0-5278-F0AB5CC97A26}"/>
              </a:ext>
            </a:extLst>
          </p:cNvPr>
          <p:cNvSpPr/>
          <p:nvPr/>
        </p:nvSpPr>
        <p:spPr>
          <a:xfrm>
            <a:off x="5351834" y="1102246"/>
            <a:ext cx="1927592" cy="638175"/>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PRODUCT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PORTFOLIO</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800" b="1" i="0" u="none" strike="noStrike" kern="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20%</a:t>
            </a:r>
          </a:p>
        </p:txBody>
      </p:sp>
      <p:sp>
        <p:nvSpPr>
          <p:cNvPr id="9" name="Rounded Rectangle 107">
            <a:extLst>
              <a:ext uri="{FF2B5EF4-FFF2-40B4-BE49-F238E27FC236}">
                <a16:creationId xmlns:a16="http://schemas.microsoft.com/office/drawing/2014/main" id="{115956F5-7470-BC52-987C-43EB960D9A42}"/>
              </a:ext>
            </a:extLst>
          </p:cNvPr>
          <p:cNvSpPr/>
          <p:nvPr/>
        </p:nvSpPr>
        <p:spPr>
          <a:xfrm>
            <a:off x="7314851" y="1102246"/>
            <a:ext cx="1927591" cy="638175"/>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INORGANIC GROWTH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(NEW GEOGRAPHIES)</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800" b="1" i="0" u="none" strike="noStrike" kern="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35%</a:t>
            </a:r>
          </a:p>
        </p:txBody>
      </p:sp>
      <p:sp>
        <p:nvSpPr>
          <p:cNvPr id="10" name="Rounded Rectangle 109">
            <a:extLst>
              <a:ext uri="{FF2B5EF4-FFF2-40B4-BE49-F238E27FC236}">
                <a16:creationId xmlns:a16="http://schemas.microsoft.com/office/drawing/2014/main" id="{01A4D5D2-EA5F-DF29-4670-6C3484B57546}"/>
              </a:ext>
            </a:extLst>
          </p:cNvPr>
          <p:cNvSpPr/>
          <p:nvPr/>
        </p:nvSpPr>
        <p:spPr>
          <a:xfrm>
            <a:off x="9307017" y="1102246"/>
            <a:ext cx="1927592" cy="638175"/>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DIGITAL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ADOPTION</a:t>
            </a:r>
          </a:p>
          <a:p>
            <a:pPr marL="0" marR="0" lvl="0" indent="0" defTabSz="914400" eaLnBrk="1" fontAlgn="auto" latinLnBrk="0" hangingPunct="1">
              <a:lnSpc>
                <a:spcPct val="100000"/>
              </a:lnSpc>
              <a:spcBef>
                <a:spcPts val="0"/>
              </a:spcBef>
              <a:spcAft>
                <a:spcPts val="0"/>
              </a:spcAft>
              <a:buClr>
                <a:srgbClr val="FFFFFF"/>
              </a:buClr>
              <a:buSzPts val="3200"/>
              <a:buFont typeface="Lato"/>
              <a:buNone/>
              <a:tabLst/>
              <a:defRPr/>
            </a:pPr>
            <a:r>
              <a:rPr kumimoji="0" lang="en-US" sz="1800" b="1" i="0" u="none" strike="noStrike" kern="0" cap="none" spc="-10" normalizeH="0" baseline="0" noProof="0">
                <a:ln>
                  <a:noFill/>
                </a:ln>
                <a:solidFill>
                  <a:srgbClr val="765FFF"/>
                </a:solidFill>
                <a:effectLst/>
                <a:uLnTx/>
                <a:uFillTx/>
                <a:latin typeface="Segoe UI" pitchFamily="34" charset="0"/>
                <a:ea typeface="Helvetica Neue" panose="02000503000000020004" pitchFamily="2" charset="0"/>
                <a:cs typeface="Helvetica Neue" panose="02000503000000020004" pitchFamily="2" charset="0"/>
                <a:sym typeface="Lato"/>
              </a:rPr>
              <a:t>10%</a:t>
            </a:r>
          </a:p>
        </p:txBody>
      </p:sp>
      <p:sp>
        <p:nvSpPr>
          <p:cNvPr id="11" name="TextBox 10">
            <a:extLst>
              <a:ext uri="{FF2B5EF4-FFF2-40B4-BE49-F238E27FC236}">
                <a16:creationId xmlns:a16="http://schemas.microsoft.com/office/drawing/2014/main" id="{DC040CF3-1D0A-9B72-736F-1053AD5081AB}"/>
              </a:ext>
            </a:extLst>
          </p:cNvPr>
          <p:cNvSpPr txBox="1"/>
          <p:nvPr/>
        </p:nvSpPr>
        <p:spPr>
          <a:xfrm>
            <a:off x="3337042" y="1810130"/>
            <a:ext cx="1927591" cy="1169551"/>
          </a:xfrm>
          <a:prstGeom prst="rect">
            <a:avLst/>
          </a:prstGeom>
          <a:noFill/>
        </p:spPr>
        <p:txBody>
          <a:bodyPr wrap="square" lIns="91440" tIns="45720" rIns="91440" bIns="45720">
            <a:spAutoFit/>
          </a:bodyPr>
          <a:lstStyle/>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Facility modernization/automation</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Site integration</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Strengthen supply resilience</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Manufacturing priorities alignment</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Country X transformation</a:t>
            </a:r>
          </a:p>
        </p:txBody>
      </p:sp>
      <p:sp>
        <p:nvSpPr>
          <p:cNvPr id="12" name="TextBox 11">
            <a:extLst>
              <a:ext uri="{FF2B5EF4-FFF2-40B4-BE49-F238E27FC236}">
                <a16:creationId xmlns:a16="http://schemas.microsoft.com/office/drawing/2014/main" id="{75856F43-20B1-5977-9A74-B0235E0913DE}"/>
              </a:ext>
            </a:extLst>
          </p:cNvPr>
          <p:cNvSpPr txBox="1"/>
          <p:nvPr/>
        </p:nvSpPr>
        <p:spPr>
          <a:xfrm>
            <a:off x="5351833" y="1810130"/>
            <a:ext cx="1963017" cy="1323439"/>
          </a:xfrm>
          <a:prstGeom prst="rect">
            <a:avLst/>
          </a:prstGeom>
          <a:noFill/>
        </p:spPr>
        <p:txBody>
          <a:bodyPr wrap="square" lIns="91440" tIns="45720" rIns="91440" bIns="45720">
            <a:spAutoFit/>
          </a:bodyPr>
          <a:lstStyle/>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Product lifecycle management</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Drive in-licensing, partnerships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Portfolio renewal and optimization</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Cross-sell Company brands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New product launches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Build launch capabilities</a:t>
            </a:r>
          </a:p>
        </p:txBody>
      </p:sp>
      <p:sp>
        <p:nvSpPr>
          <p:cNvPr id="13" name="TextBox 12">
            <a:extLst>
              <a:ext uri="{FF2B5EF4-FFF2-40B4-BE49-F238E27FC236}">
                <a16:creationId xmlns:a16="http://schemas.microsoft.com/office/drawing/2014/main" id="{D97FA227-DEB1-8AD8-1B55-63AC1719B466}"/>
              </a:ext>
            </a:extLst>
          </p:cNvPr>
          <p:cNvSpPr txBox="1"/>
          <p:nvPr/>
        </p:nvSpPr>
        <p:spPr>
          <a:xfrm>
            <a:off x="7362475" y="1810130"/>
            <a:ext cx="1868719" cy="1323439"/>
          </a:xfrm>
          <a:prstGeom prst="rect">
            <a:avLst/>
          </a:prstGeom>
          <a:noFill/>
        </p:spPr>
        <p:txBody>
          <a:bodyPr wrap="square" lIns="91440" tIns="45720" rIns="91440" bIns="45720">
            <a:spAutoFit/>
          </a:bodyPr>
          <a:lstStyle/>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Enter high-potential geographies</a:t>
            </a:r>
          </a:p>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Global pharma M&amp;A</a:t>
            </a:r>
          </a:p>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Inorganic growth for top TAs</a:t>
            </a:r>
          </a:p>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Acquire late-stage assets</a:t>
            </a:r>
          </a:p>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Advance product development</a:t>
            </a:r>
          </a:p>
          <a:p>
            <a:pPr marL="108000" indent="-108000">
              <a:buBlip>
                <a:blip r:embed="rId3"/>
              </a:buBlip>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Strengthen PMI capabilitie</a:t>
            </a:r>
            <a:r>
              <a:rPr kumimoji="0" lang="en-US"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s</a:t>
            </a:r>
          </a:p>
        </p:txBody>
      </p:sp>
      <p:sp>
        <p:nvSpPr>
          <p:cNvPr id="14" name="TextBox 13">
            <a:extLst>
              <a:ext uri="{FF2B5EF4-FFF2-40B4-BE49-F238E27FC236}">
                <a16:creationId xmlns:a16="http://schemas.microsoft.com/office/drawing/2014/main" id="{00453263-3455-0065-3E1F-D8883B95B25C}"/>
              </a:ext>
            </a:extLst>
          </p:cNvPr>
          <p:cNvSpPr txBox="1"/>
          <p:nvPr/>
        </p:nvSpPr>
        <p:spPr>
          <a:xfrm>
            <a:off x="9307017" y="1810130"/>
            <a:ext cx="1927592" cy="1169551"/>
          </a:xfrm>
          <a:prstGeom prst="rect">
            <a:avLst/>
          </a:prstGeom>
          <a:noFill/>
        </p:spPr>
        <p:txBody>
          <a:bodyPr wrap="square" lIns="91440" tIns="45720" rIns="91440" bIns="45720">
            <a:spAutoFit/>
          </a:bodyPr>
          <a:lstStyle/>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Strengthen core digital platforms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Actionable AI and automation</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Ensure systems interoperability</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Invest in unified cloud systems</a:t>
            </a:r>
          </a:p>
        </p:txBody>
      </p:sp>
      <p:cxnSp>
        <p:nvCxnSpPr>
          <p:cNvPr id="15" name="Straight Connector 14">
            <a:extLst>
              <a:ext uri="{FF2B5EF4-FFF2-40B4-BE49-F238E27FC236}">
                <a16:creationId xmlns:a16="http://schemas.microsoft.com/office/drawing/2014/main" id="{581597D8-5B1E-4899-B6D1-94A01905F3CC}"/>
              </a:ext>
            </a:extLst>
          </p:cNvPr>
          <p:cNvCxnSpPr>
            <a:cxnSpLocks/>
          </p:cNvCxnSpPr>
          <p:nvPr/>
        </p:nvCxnSpPr>
        <p:spPr>
          <a:xfrm>
            <a:off x="1441775" y="3287458"/>
            <a:ext cx="9731437"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DF77345-2420-6008-776F-8F577C13A7DC}"/>
              </a:ext>
            </a:extLst>
          </p:cNvPr>
          <p:cNvSpPr txBox="1"/>
          <p:nvPr/>
        </p:nvSpPr>
        <p:spPr>
          <a:xfrm>
            <a:off x="1430648" y="3357167"/>
            <a:ext cx="1804150" cy="1015663"/>
          </a:xfrm>
          <a:prstGeom prst="rect">
            <a:avLst/>
          </a:prstGeom>
          <a:noFill/>
        </p:spPr>
        <p:txBody>
          <a:bodyPr wrap="square" lIns="91440" tIns="45720" rIns="91440" bIns="45720">
            <a:spAutoFit/>
          </a:bodyPr>
          <a:lstStyle/>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Legacy-driven inconsistency</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Shared Services design gaps</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Service levels too low</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Poor p</a:t>
            </a:r>
            <a:r>
              <a:rPr kumimoji="0" lang="en-GB" sz="1000" b="0" i="0" u="none" strike="noStrike" kern="0" cap="none" spc="-10" normalizeH="0" baseline="0" noProof="0" dirty="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rocess</a:t>
            </a:r>
            <a:r>
              <a:rPr kumimoji="0" lang="en-GB"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 adoption</a:t>
            </a:r>
          </a:p>
        </p:txBody>
      </p:sp>
      <p:sp>
        <p:nvSpPr>
          <p:cNvPr id="17" name="TextBox 16">
            <a:extLst>
              <a:ext uri="{FF2B5EF4-FFF2-40B4-BE49-F238E27FC236}">
                <a16:creationId xmlns:a16="http://schemas.microsoft.com/office/drawing/2014/main" id="{BFFD4799-4A8C-8E2D-B24E-1A31ED3CD586}"/>
              </a:ext>
            </a:extLst>
          </p:cNvPr>
          <p:cNvSpPr txBox="1"/>
          <p:nvPr/>
        </p:nvSpPr>
        <p:spPr>
          <a:xfrm>
            <a:off x="3337041" y="3357167"/>
            <a:ext cx="1927591" cy="1477328"/>
          </a:xfrm>
          <a:prstGeom prst="rect">
            <a:avLst/>
          </a:prstGeom>
          <a:noFill/>
        </p:spPr>
        <p:txBody>
          <a:bodyPr wrap="square" lIns="91440" tIns="45720" rIns="91440" bIns="45720">
            <a:spAutoFit/>
          </a:bodyPr>
          <a:lstStyle/>
          <a:p>
            <a:pPr marL="108000" marR="0" lvl="0" indent="-108000" fontAlgn="auto">
              <a:lnSpc>
                <a:spcPct val="100000"/>
              </a:lnSpc>
              <a:spcBef>
                <a:spcPts val="0"/>
              </a:spcBef>
              <a:spcAft>
                <a:spcPts val="0"/>
              </a:spcAft>
              <a:buClrTx/>
              <a:buSzTx/>
              <a:buBlip>
                <a:blip r:embed="rId3"/>
              </a:buBlip>
              <a:tabLst/>
              <a:defRPr/>
            </a:pPr>
            <a:r>
              <a:rPr kumimoji="0" lang="en-GB"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Optimize manufacturing network </a:t>
            </a: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design</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Mitigate new supply risks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Align manufacturing with product launches</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Enable capability supply adaptation</a:t>
            </a:r>
          </a:p>
          <a:p>
            <a:pPr marL="108000" marR="0" lvl="0" indent="-108000" fontAlgn="auto">
              <a:lnSpc>
                <a:spcPct val="100000"/>
              </a:lnSpc>
              <a:spcBef>
                <a:spcPts val="0"/>
              </a:spcBef>
              <a:spcAft>
                <a:spcPts val="0"/>
              </a:spcAft>
              <a:buClrTx/>
              <a:buSzTx/>
              <a:buBlip>
                <a:blip r:embed="rId3"/>
              </a:buBlip>
              <a:tabLst/>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Accelerate Country X transformation</a:t>
            </a:r>
          </a:p>
        </p:txBody>
      </p:sp>
      <p:sp>
        <p:nvSpPr>
          <p:cNvPr id="18" name="TextBox 17">
            <a:extLst>
              <a:ext uri="{FF2B5EF4-FFF2-40B4-BE49-F238E27FC236}">
                <a16:creationId xmlns:a16="http://schemas.microsoft.com/office/drawing/2014/main" id="{931534CC-808F-84D6-6290-E95ACD3C58B3}"/>
              </a:ext>
            </a:extLst>
          </p:cNvPr>
          <p:cNvSpPr txBox="1"/>
          <p:nvPr/>
        </p:nvSpPr>
        <p:spPr>
          <a:xfrm>
            <a:off x="5351833" y="3357167"/>
            <a:ext cx="1879054" cy="1169551"/>
          </a:xfrm>
          <a:prstGeom prst="rect">
            <a:avLst/>
          </a:prstGeom>
          <a:noFill/>
        </p:spPr>
        <p:txBody>
          <a:bodyPr wrap="square" lIns="91440" tIns="45720" rIns="91440" bIns="45720">
            <a:spAutoFit/>
          </a:bodyPr>
          <a:lstStyle/>
          <a:p>
            <a:pPr marL="108000" indent="-108000">
              <a:buBlip>
                <a:blip r:embed="rId3"/>
              </a:buBlip>
              <a:defRPr/>
            </a:pPr>
            <a:r>
              <a:rPr kumimoji="0" lang="en-GB"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Strengthen lifecycle </a:t>
            </a: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management capability</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Enhance cross-selling capability</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Build regulatory launch skills</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Boost market access capabil</a:t>
            </a:r>
            <a:r>
              <a:rPr kumimoji="0" lang="en-GB" sz="1000" b="0" i="0" u="none" strike="noStrike" kern="0" cap="none" spc="-10" normalizeH="0" baseline="0" noProof="0" dirty="0" err="1">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ity</a:t>
            </a:r>
            <a:endParaRPr kumimoji="0" lang="en-GB"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TextBox 18">
            <a:extLst>
              <a:ext uri="{FF2B5EF4-FFF2-40B4-BE49-F238E27FC236}">
                <a16:creationId xmlns:a16="http://schemas.microsoft.com/office/drawing/2014/main" id="{511296B8-86C2-0211-6273-1758249DF466}"/>
              </a:ext>
            </a:extLst>
          </p:cNvPr>
          <p:cNvSpPr txBox="1"/>
          <p:nvPr/>
        </p:nvSpPr>
        <p:spPr>
          <a:xfrm>
            <a:off x="7363802" y="3357167"/>
            <a:ext cx="1868719" cy="861774"/>
          </a:xfrm>
          <a:prstGeom prst="rect">
            <a:avLst/>
          </a:prstGeom>
          <a:noFill/>
        </p:spPr>
        <p:txBody>
          <a:bodyPr wrap="square" lIns="91440" tIns="45720" rIns="91440" bIns="45720">
            <a:spAutoFit/>
          </a:bodyPr>
          <a:lstStyle/>
          <a:p>
            <a:pPr marL="108000" marR="0" lvl="0" indent="-108000" fontAlgn="auto">
              <a:lnSpc>
                <a:spcPct val="100000"/>
              </a:lnSpc>
              <a:spcBef>
                <a:spcPts val="0"/>
              </a:spcBef>
              <a:spcAft>
                <a:spcPts val="0"/>
              </a:spcAft>
              <a:buClrTx/>
              <a:buSzTx/>
              <a:buBlip>
                <a:blip r:embed="rId3"/>
              </a:buBlip>
              <a:tabLst/>
              <a:defRPr/>
            </a:pPr>
            <a:r>
              <a:rPr kumimoji="0" lang="en-US"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Weak </a:t>
            </a: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target selection</a:t>
            </a:r>
          </a:p>
          <a:p>
            <a:pPr marL="108000" marR="0" lvl="0" indent="-108000" fontAlgn="auto">
              <a:lnSpc>
                <a:spcPct val="100000"/>
              </a:lnSpc>
              <a:spcBef>
                <a:spcPts val="0"/>
              </a:spcBef>
              <a:spcAft>
                <a:spcPts val="0"/>
              </a:spcAft>
              <a:buClrTx/>
              <a:buSzTx/>
              <a:buBlip>
                <a:blip r:embed="rId3"/>
              </a:buBlip>
              <a:tabLst/>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Insufficient due diligence</a:t>
            </a:r>
          </a:p>
          <a:p>
            <a:pPr marL="108000" marR="0" lvl="0" indent="-108000" fontAlgn="auto">
              <a:lnSpc>
                <a:spcPct val="100000"/>
              </a:lnSpc>
              <a:spcBef>
                <a:spcPts val="0"/>
              </a:spcBef>
              <a:spcAft>
                <a:spcPts val="0"/>
              </a:spcAft>
              <a:buClrTx/>
              <a:buSzTx/>
              <a:buBlip>
                <a:blip r:embed="rId3"/>
              </a:buBlip>
              <a:tabLst/>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Integration capability gaps</a:t>
            </a:r>
          </a:p>
          <a:p>
            <a:pPr marL="108000" marR="0" lvl="0" indent="-108000" fontAlgn="auto">
              <a:lnSpc>
                <a:spcPct val="100000"/>
              </a:lnSpc>
              <a:spcBef>
                <a:spcPts val="0"/>
              </a:spcBef>
              <a:spcAft>
                <a:spcPts val="0"/>
              </a:spcAft>
              <a:buClrTx/>
              <a:buSzTx/>
              <a:buBlip>
                <a:blip r:embed="rId3"/>
              </a:buBlip>
              <a:tabLst/>
              <a:defRPr/>
            </a:pPr>
            <a:r>
              <a:rPr lang="en-US" sz="1000" kern="0" spc="-10" dirty="0">
                <a:solidFill>
                  <a:srgbClr val="1D1D1D"/>
                </a:solidFill>
                <a:latin typeface="Arial" pitchFamily="34" charset="0"/>
                <a:ea typeface="Helvetica Neue" panose="02000503000000020004" pitchFamily="2" charset="0"/>
                <a:cs typeface="Helvetica Neue" panose="02000503000000020004" pitchFamily="2" charset="0"/>
              </a:rPr>
              <a:t>Weak post-acquisition development</a:t>
            </a:r>
          </a:p>
        </p:txBody>
      </p:sp>
      <p:sp>
        <p:nvSpPr>
          <p:cNvPr id="20" name="TextBox 19">
            <a:extLst>
              <a:ext uri="{FF2B5EF4-FFF2-40B4-BE49-F238E27FC236}">
                <a16:creationId xmlns:a16="http://schemas.microsoft.com/office/drawing/2014/main" id="{7AEA0DD8-25B1-9999-BAFC-76A9174A26E0}"/>
              </a:ext>
            </a:extLst>
          </p:cNvPr>
          <p:cNvSpPr txBox="1"/>
          <p:nvPr/>
        </p:nvSpPr>
        <p:spPr>
          <a:xfrm>
            <a:off x="9308344" y="3357167"/>
            <a:ext cx="1927592" cy="707886"/>
          </a:xfrm>
          <a:prstGeom prst="rect">
            <a:avLst/>
          </a:prstGeom>
          <a:noFill/>
        </p:spPr>
        <p:txBody>
          <a:bodyPr wrap="square" lIns="91440" tIns="45720" rIns="91440" bIns="45720">
            <a:spAutoFit/>
          </a:bodyPr>
          <a:lstStyle/>
          <a:p>
            <a:pPr marL="108000" indent="-108000">
              <a:buBlip>
                <a:blip r:embed="rId3"/>
              </a:buBlip>
              <a:defRPr/>
            </a:pPr>
            <a:r>
              <a:rPr kumimoji="0" lang="en-GB" sz="10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Improve systems </a:t>
            </a: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interoperability</a:t>
            </a:r>
          </a:p>
          <a:p>
            <a:pPr marL="108000" indent="-10800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Accelerate technology adoption</a:t>
            </a:r>
          </a:p>
        </p:txBody>
      </p:sp>
      <p:sp>
        <p:nvSpPr>
          <p:cNvPr id="21" name="Google Shape;404;p8">
            <a:extLst>
              <a:ext uri="{FF2B5EF4-FFF2-40B4-BE49-F238E27FC236}">
                <a16:creationId xmlns:a16="http://schemas.microsoft.com/office/drawing/2014/main" id="{669775E2-6C87-29AB-C080-4DC24529351B}"/>
              </a:ext>
            </a:extLst>
          </p:cNvPr>
          <p:cNvSpPr/>
          <p:nvPr/>
        </p:nvSpPr>
        <p:spPr>
          <a:xfrm rot="16200000">
            <a:off x="350163" y="2294041"/>
            <a:ext cx="1385832" cy="509506"/>
          </a:xfrm>
          <a:prstGeom prst="roundRect">
            <a:avLst>
              <a:gd name="adj" fmla="val 3122"/>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4800"/>
              <a:buFont typeface="Arial"/>
              <a:buNone/>
              <a:tabLst/>
              <a:defRPr/>
            </a:pPr>
            <a:r>
              <a:rPr kumimoji="0" lang="en-US" sz="12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WORK @ THE HOTSPOTS</a:t>
            </a:r>
            <a:endParaRPr kumimoji="0" sz="12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endParaRPr>
          </a:p>
        </p:txBody>
      </p:sp>
      <p:sp>
        <p:nvSpPr>
          <p:cNvPr id="22" name="Google Shape;404;p8">
            <a:extLst>
              <a:ext uri="{FF2B5EF4-FFF2-40B4-BE49-F238E27FC236}">
                <a16:creationId xmlns:a16="http://schemas.microsoft.com/office/drawing/2014/main" id="{D79C12C2-EBFB-1A7A-9531-ACE54184B154}"/>
              </a:ext>
            </a:extLst>
          </p:cNvPr>
          <p:cNvSpPr/>
          <p:nvPr/>
        </p:nvSpPr>
        <p:spPr>
          <a:xfrm rot="16200000">
            <a:off x="340450" y="3795330"/>
            <a:ext cx="1385832" cy="509506"/>
          </a:xfrm>
          <a:prstGeom prst="roundRect">
            <a:avLst>
              <a:gd name="adj" fmla="val 3122"/>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4800"/>
              <a:buFont typeface="Arial"/>
              <a:buNone/>
              <a:tabLst/>
              <a:defRPr/>
            </a:pPr>
            <a:r>
              <a:rPr kumimoji="0" lang="en-US" sz="12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WORK RISKS</a:t>
            </a:r>
            <a:endParaRPr kumimoji="0" sz="12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endParaRPr>
          </a:p>
        </p:txBody>
      </p:sp>
      <p:sp>
        <p:nvSpPr>
          <p:cNvPr id="23" name="Rounded Rectangle 22">
            <a:extLst>
              <a:ext uri="{FF2B5EF4-FFF2-40B4-BE49-F238E27FC236}">
                <a16:creationId xmlns:a16="http://schemas.microsoft.com/office/drawing/2014/main" id="{59C39434-5351-21F5-398D-50EE8A5348D9}"/>
              </a:ext>
            </a:extLst>
          </p:cNvPr>
          <p:cNvSpPr/>
          <p:nvPr/>
        </p:nvSpPr>
        <p:spPr>
          <a:xfrm>
            <a:off x="641268" y="5511840"/>
            <a:ext cx="11303879" cy="793402"/>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3" anchor="ctr"/>
          <a:lstStyle/>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Mis-aligned Priorities across end-to-end value chain (Launches, Manufacturing &amp; </a:t>
            </a:r>
            <a:r>
              <a:rPr lang="en-GB" sz="1050" spc="-10" dirty="0">
                <a:solidFill>
                  <a:srgbClr val="1D1D1D"/>
                </a:solidFill>
                <a:latin typeface="Arial" pitchFamily="34" charset="0"/>
                <a:ea typeface="Helvetica Neue Light" panose="02000403000000020004" pitchFamily="2" charset="0"/>
                <a:cs typeface="Helvetica Neue" panose="02000503000000020004" pitchFamily="2" charset="0"/>
              </a:rPr>
              <a:t>Demand)</a:t>
            </a:r>
            <a:endPar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Process design: manufacturing, shared services</a:t>
            </a: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Capability gaps: PLCM, integration, change</a:t>
            </a: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Change adoption: tech, process</a:t>
            </a: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Tech systems interoperability for e2e</a:t>
            </a: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Critical roles and interfaces</a:t>
            </a:r>
          </a:p>
          <a:p>
            <a:pPr marL="228600" marR="0" lvl="0" indent="-228600" defTabSz="914400" eaLnBrk="1" fontAlgn="auto" latinLnBrk="0" hangingPunct="1">
              <a:lnSpc>
                <a:spcPct val="100000"/>
              </a:lnSpc>
              <a:spcBef>
                <a:spcPts val="600"/>
              </a:spcBef>
              <a:spcAft>
                <a:spcPts val="600"/>
              </a:spcAft>
              <a:buClrTx/>
              <a:buSzTx/>
              <a:buFont typeface="+mj-lt"/>
              <a:buAutoNum type="arabicPeriod"/>
              <a:tabLst/>
              <a:defRPr/>
            </a:pPr>
            <a:r>
              <a:rPr kumimoji="0" lang="en-GB" sz="1050" i="0" u="none" strike="noStrike" kern="0" cap="none" spc="-10" normalizeH="0" baseline="0" noProof="0" dirty="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rPr>
              <a:t>Governance and change systems</a:t>
            </a:r>
          </a:p>
        </p:txBody>
      </p:sp>
      <p:cxnSp>
        <p:nvCxnSpPr>
          <p:cNvPr id="24" name="Straight Connector 23">
            <a:extLst>
              <a:ext uri="{FF2B5EF4-FFF2-40B4-BE49-F238E27FC236}">
                <a16:creationId xmlns:a16="http://schemas.microsoft.com/office/drawing/2014/main" id="{C80C5B7C-EC37-9145-3DC6-AF40AB30503A}"/>
              </a:ext>
            </a:extLst>
          </p:cNvPr>
          <p:cNvCxnSpPr>
            <a:cxnSpLocks/>
          </p:cNvCxnSpPr>
          <p:nvPr/>
        </p:nvCxnSpPr>
        <p:spPr>
          <a:xfrm>
            <a:off x="1400928" y="4834495"/>
            <a:ext cx="9731437"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25" name="Trapezoid 7">
            <a:extLst>
              <a:ext uri="{FF2B5EF4-FFF2-40B4-BE49-F238E27FC236}">
                <a16:creationId xmlns:a16="http://schemas.microsoft.com/office/drawing/2014/main" id="{DE779F04-7E17-24CB-4F0F-FC17A8C64444}"/>
              </a:ext>
            </a:extLst>
          </p:cNvPr>
          <p:cNvSpPr/>
          <p:nvPr/>
        </p:nvSpPr>
        <p:spPr>
          <a:xfrm rot="10800000" flipH="1">
            <a:off x="1534265" y="4803953"/>
            <a:ext cx="9876732" cy="375188"/>
          </a:xfrm>
          <a:prstGeom prst="triangle">
            <a:avLst/>
          </a:prstGeom>
          <a:solidFill>
            <a:srgbClr val="DAD4F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400" b="0" i="0" u="none" strike="noStrike" kern="1200" cap="none" spc="-10" normalizeH="0" baseline="0" noProof="0">
              <a:ln>
                <a:noFill/>
              </a:ln>
              <a:solidFill>
                <a:srgbClr val="FFFFFF"/>
              </a:solidFill>
              <a:effectLst/>
              <a:uLnTx/>
              <a:uFillTx/>
              <a:latin typeface="Arial" pitchFamily="34" charset="0"/>
              <a:ea typeface="+mn-ea"/>
              <a:cs typeface="+mn-cs"/>
              <a:sym typeface="Arial" panose="020B0604020202020204" pitchFamily="34" charset="0"/>
            </a:endParaRPr>
          </a:p>
        </p:txBody>
      </p:sp>
      <p:sp>
        <p:nvSpPr>
          <p:cNvPr id="26" name="TextBox 25">
            <a:extLst>
              <a:ext uri="{FF2B5EF4-FFF2-40B4-BE49-F238E27FC236}">
                <a16:creationId xmlns:a16="http://schemas.microsoft.com/office/drawing/2014/main" id="{DCAE91E4-07AB-18E8-DC2E-F4112682B7C9}"/>
              </a:ext>
            </a:extLst>
          </p:cNvPr>
          <p:cNvSpPr txBox="1"/>
          <p:nvPr/>
        </p:nvSpPr>
        <p:spPr>
          <a:xfrm>
            <a:off x="2934793" y="5160449"/>
            <a:ext cx="6782540" cy="307777"/>
          </a:xfrm>
          <a:prstGeom prst="rect">
            <a:avLst/>
          </a:prstGeom>
          <a:noFill/>
        </p:spPr>
        <p:txBody>
          <a:bodyPr wrap="square" lIns="91440" tIns="45720" rIns="91440" bIns="4572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10" normalizeH="0" baseline="0" noProof="0" dirty="0">
                <a:ln>
                  <a:noFill/>
                </a:ln>
                <a:solidFill>
                  <a:srgbClr val="765FFF"/>
                </a:solidFill>
                <a:effectLst/>
                <a:uLnTx/>
                <a:uFillTx/>
                <a:latin typeface="Segoe UI" pitchFamily="34" charset="0"/>
                <a:ea typeface="+mn-ea"/>
                <a:cs typeface="Arial" panose="020B0604020202020204" pitchFamily="34" charset="0"/>
                <a:sym typeface="Arial" panose="020B0604020202020204" pitchFamily="34" charset="0"/>
              </a:rPr>
              <a:t>Risk Patterns</a:t>
            </a:r>
          </a:p>
        </p:txBody>
      </p:sp>
      <p:sp>
        <p:nvSpPr>
          <p:cNvPr id="27" name="TextBox 10">
            <a:extLst>
              <a:ext uri="{FF2B5EF4-FFF2-40B4-BE49-F238E27FC236}">
                <a16:creationId xmlns:a16="http://schemas.microsoft.com/office/drawing/2014/main" id="{49E7E2B9-35AC-F6AF-5CB4-9FF07D7A854E}"/>
              </a:ext>
            </a:extLst>
          </p:cNvPr>
          <p:cNvSpPr txBox="1">
            <a:spLocks/>
          </p:cNvSpPr>
          <p:nvPr/>
        </p:nvSpPr>
        <p:spPr>
          <a:xfrm>
            <a:off x="1430648" y="1810130"/>
            <a:ext cx="1858769" cy="1015663"/>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08000" indent="-108000">
              <a:lnSpc>
                <a:spcPct val="100000"/>
              </a:lnSpc>
              <a:spcBef>
                <a:spcPts val="0"/>
              </a:spcBef>
              <a:buFont typeface="Arial" panose="020B0706020202030204" pitchFamily="34" charset="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One Company integration</a:t>
            </a:r>
          </a:p>
          <a:p>
            <a:pPr marL="108000" indent="-108000">
              <a:lnSpc>
                <a:spcPct val="100000"/>
              </a:lnSpc>
              <a:spcBef>
                <a:spcPts val="0"/>
              </a:spcBef>
              <a:buFont typeface="Arial" panose="020B0706020202030204" pitchFamily="34" charset="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Shared Services rollout</a:t>
            </a:r>
          </a:p>
          <a:p>
            <a:pPr marL="108000" indent="-108000">
              <a:lnSpc>
                <a:spcPct val="100000"/>
              </a:lnSpc>
              <a:spcBef>
                <a:spcPts val="0"/>
              </a:spcBef>
              <a:buFont typeface="Arial" panose="020B0706020202030204" pitchFamily="34" charset="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Company Tax and profit boost</a:t>
            </a:r>
          </a:p>
          <a:p>
            <a:pPr marL="108000" indent="-108000">
              <a:lnSpc>
                <a:spcPct val="100000"/>
              </a:lnSpc>
              <a:spcBef>
                <a:spcPts val="0"/>
              </a:spcBef>
              <a:buFont typeface="Arial" panose="020B0706020202030204" pitchFamily="34" charset="0"/>
              <a:buBlip>
                <a:blip r:embed="rId3"/>
              </a:buBlip>
              <a:defRPr/>
            </a:pPr>
            <a:r>
              <a:rPr lang="en-GB" sz="1000" kern="0" spc="-10" dirty="0">
                <a:solidFill>
                  <a:srgbClr val="1D1D1D"/>
                </a:solidFill>
                <a:latin typeface="Arial" pitchFamily="34" charset="0"/>
                <a:ea typeface="Helvetica Neue" panose="02000503000000020004" pitchFamily="2" charset="0"/>
                <a:cs typeface="Helvetica Neue" panose="02000503000000020004" pitchFamily="2" charset="0"/>
              </a:rPr>
              <a:t>Embed change management</a:t>
            </a:r>
          </a:p>
        </p:txBody>
      </p:sp>
      <p:sp>
        <p:nvSpPr>
          <p:cNvPr id="28" name="TextBox 27">
            <a:extLst>
              <a:ext uri="{FF2B5EF4-FFF2-40B4-BE49-F238E27FC236}">
                <a16:creationId xmlns:a16="http://schemas.microsoft.com/office/drawing/2014/main" id="{BA915772-507A-9021-2C21-23AC6209577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60785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F08A-8A80-AB42-0ABA-63813C156307}"/>
              </a:ext>
            </a:extLst>
          </p:cNvPr>
          <p:cNvSpPr>
            <a:spLocks noGrp="1"/>
          </p:cNvSpPr>
          <p:nvPr>
            <p:ph type="title"/>
          </p:nvPr>
        </p:nvSpPr>
        <p:spPr/>
        <p:txBody>
          <a:bodyPr/>
          <a:lstStyle/>
          <a:p>
            <a:r>
              <a:rPr lang="en-US" dirty="0"/>
              <a:t>Organize to Value</a:t>
            </a:r>
          </a:p>
        </p:txBody>
      </p:sp>
      <p:sp>
        <p:nvSpPr>
          <p:cNvPr id="3" name="Text Placeholder 2">
            <a:extLst>
              <a:ext uri="{FF2B5EF4-FFF2-40B4-BE49-F238E27FC236}">
                <a16:creationId xmlns:a16="http://schemas.microsoft.com/office/drawing/2014/main" id="{08E45A9A-EE5C-AB9E-5E68-21262F67D946}"/>
              </a:ext>
            </a:extLst>
          </p:cNvPr>
          <p:cNvSpPr>
            <a:spLocks noGrp="1"/>
          </p:cNvSpPr>
          <p:nvPr>
            <p:ph type="body" sz="quarter" idx="12"/>
          </p:nvPr>
        </p:nvSpPr>
        <p:spPr/>
        <p:txBody>
          <a:bodyPr/>
          <a:lstStyle/>
          <a:p>
            <a:r>
              <a:rPr lang="en-US" dirty="0"/>
              <a:t>Design principles</a:t>
            </a:r>
            <a:endParaRPr lang="en-US" spc="-10" dirty="0"/>
          </a:p>
        </p:txBody>
      </p:sp>
      <p:sp>
        <p:nvSpPr>
          <p:cNvPr id="4" name="Slide Number Placeholder 3">
            <a:extLst>
              <a:ext uri="{FF2B5EF4-FFF2-40B4-BE49-F238E27FC236}">
                <a16:creationId xmlns:a16="http://schemas.microsoft.com/office/drawing/2014/main" id="{E8754654-346E-1D1E-2393-D9CB2A7A78EB}"/>
              </a:ext>
            </a:extLst>
          </p:cNvPr>
          <p:cNvSpPr>
            <a:spLocks noGrp="1"/>
          </p:cNvSpPr>
          <p:nvPr>
            <p:ph type="sldNum" sz="quarter" idx="4"/>
          </p:nvPr>
        </p:nvSpPr>
        <p:spPr/>
        <p:txBody>
          <a:bodyPr/>
          <a:lstStyle/>
          <a:p>
            <a:pPr algn="ctr"/>
            <a:fld id="{7DA59B58-B945-4B36-BC6B-9C26C933A008}" type="slidenum">
              <a:rPr lang="en-US" smtClean="0"/>
              <a:t>38</a:t>
            </a:fld>
            <a:endParaRPr lang="en-US"/>
          </a:p>
        </p:txBody>
      </p:sp>
      <p:sp>
        <p:nvSpPr>
          <p:cNvPr id="6" name="Rounded Rectangle 5">
            <a:extLst>
              <a:ext uri="{FF2B5EF4-FFF2-40B4-BE49-F238E27FC236}">
                <a16:creationId xmlns:a16="http://schemas.microsoft.com/office/drawing/2014/main" id="{12EC3E6A-EA23-3D11-9119-2B4C0E6014FD}"/>
              </a:ext>
            </a:extLst>
          </p:cNvPr>
          <p:cNvSpPr/>
          <p:nvPr/>
        </p:nvSpPr>
        <p:spPr>
          <a:xfrm>
            <a:off x="6961282" y="1641399"/>
            <a:ext cx="4400100" cy="4381658"/>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anchor="ctr"/>
          <a:lstStyle/>
          <a:p>
            <a:pPr marR="0" lvl="0" algn="l" defTabSz="914400" eaLnBrk="1" fontAlgn="auto" latinLnBrk="0" hangingPunct="1">
              <a:lnSpc>
                <a:spcPct val="100000"/>
              </a:lnSpc>
              <a:spcBef>
                <a:spcPts val="600"/>
              </a:spcBef>
              <a:spcAft>
                <a:spcPts val="600"/>
              </a:spcAft>
              <a:buClrTx/>
              <a:buSzTx/>
              <a:tabLst/>
              <a:defRPr/>
            </a:pPr>
            <a:endParaRPr kumimoji="0" lang="en-GB" sz="1050" i="0" u="none" strike="noStrike" kern="0" cap="none" spc="-10" normalizeH="0" baseline="0" noProof="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E4966AB2-4E0D-812A-34DC-338033E01148}"/>
              </a:ext>
            </a:extLst>
          </p:cNvPr>
          <p:cNvSpPr txBox="1"/>
          <p:nvPr/>
        </p:nvSpPr>
        <p:spPr>
          <a:xfrm>
            <a:off x="7166709" y="1834837"/>
            <a:ext cx="3949176" cy="4078039"/>
          </a:xfrm>
          <a:prstGeom prst="rect">
            <a:avLst/>
          </a:prstGeom>
          <a:noFill/>
        </p:spPr>
        <p:txBody>
          <a:bodyPr wrap="square" lIns="91440" tIns="45720" rIns="91440" bIns="45720">
            <a:spAutoFit/>
          </a:bodyPr>
          <a:lstStyle/>
          <a:p>
            <a:pPr marL="228600" indent="-228600">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Centre on market needs</a:t>
            </a:r>
          </a:p>
          <a:p>
            <a:pPr marL="228600" indent="-228600">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Create capacity for future growth (TA, markets)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Clear functional accountabilities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Optimize e2e through minimizing process handoffs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Clarify service levels and decision rights at key interfaces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Build new capabilities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Sequence change through clear roadmap </a:t>
            </a:r>
          </a:p>
          <a:p>
            <a:pPr marL="228600" indent="-228600" eaLnBrk="1" fontAlgn="auto" hangingPunct="1">
              <a:spcBef>
                <a:spcPts val="600"/>
              </a:spcBef>
              <a:spcAft>
                <a:spcPts val="1200"/>
              </a:spcAft>
              <a:buFont typeface="+mj-lt"/>
              <a:buAutoNum type="arabicPeriod"/>
              <a:defRPr/>
            </a:pPr>
            <a:r>
              <a:rPr lang="en-GB" sz="1400" spc="-10">
                <a:solidFill>
                  <a:srgbClr val="1D1D1D"/>
                </a:solidFill>
                <a:latin typeface="Arial" pitchFamily="34" charset="0"/>
                <a:ea typeface="Helvetica Neue Light" panose="02000403000000020004" pitchFamily="2" charset="0"/>
                <a:cs typeface="Helvetica Neue" panose="020B0604020202020204" charset="0"/>
              </a:rPr>
              <a:t>Leverage technology as business enabler </a:t>
            </a:r>
          </a:p>
        </p:txBody>
      </p:sp>
      <p:sp>
        <p:nvSpPr>
          <p:cNvPr id="8" name="Rectangle: Rounded Corners 17">
            <a:extLst>
              <a:ext uri="{FF2B5EF4-FFF2-40B4-BE49-F238E27FC236}">
                <a16:creationId xmlns:a16="http://schemas.microsoft.com/office/drawing/2014/main" id="{4B053706-22E8-13DF-8196-C1C67E61DC15}"/>
              </a:ext>
            </a:extLst>
          </p:cNvPr>
          <p:cNvSpPr/>
          <p:nvPr/>
        </p:nvSpPr>
        <p:spPr>
          <a:xfrm>
            <a:off x="1041253" y="1621094"/>
            <a:ext cx="4439549" cy="4401963"/>
          </a:xfrm>
          <a:prstGeom prst="roundRect">
            <a:avLst>
              <a:gd name="adj" fmla="val 5734"/>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l" defTabSz="609585" rtl="0" fontAlgn="t">
              <a:defRPr/>
            </a:pPr>
            <a:endParaRPr lang="en-US" sz="1050" kern="1200" spc="-10">
              <a:solidFill>
                <a:srgbClr val="281A42"/>
              </a:solidFill>
              <a:latin typeface="Arial" pitchFamily="34" charset="0"/>
              <a:ea typeface="Helvetica Neue" panose="02000503000000020004" pitchFamily="2" charset="0"/>
              <a:cs typeface="Helvetica Neue" panose="02000503000000020004" pitchFamily="2" charset="0"/>
            </a:endParaRPr>
          </a:p>
        </p:txBody>
      </p:sp>
      <p:cxnSp>
        <p:nvCxnSpPr>
          <p:cNvPr id="9" name="Straight Connector 8">
            <a:extLst>
              <a:ext uri="{FF2B5EF4-FFF2-40B4-BE49-F238E27FC236}">
                <a16:creationId xmlns:a16="http://schemas.microsoft.com/office/drawing/2014/main" id="{A8A1E7FE-871F-311A-1539-2C19DDB7F17A}"/>
              </a:ext>
            </a:extLst>
          </p:cNvPr>
          <p:cNvCxnSpPr>
            <a:cxnSpLocks/>
          </p:cNvCxnSpPr>
          <p:nvPr/>
        </p:nvCxnSpPr>
        <p:spPr>
          <a:xfrm>
            <a:off x="1041254" y="3222809"/>
            <a:ext cx="4439549" cy="3435"/>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73FAF3E-A07B-8325-B857-9591FB12E976}"/>
              </a:ext>
            </a:extLst>
          </p:cNvPr>
          <p:cNvCxnSpPr>
            <a:cxnSpLocks/>
          </p:cNvCxnSpPr>
          <p:nvPr/>
        </p:nvCxnSpPr>
        <p:spPr>
          <a:xfrm>
            <a:off x="1041254" y="4548507"/>
            <a:ext cx="4439549"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B796C9C-A116-B934-712A-ECAF980FBDD5}"/>
              </a:ext>
            </a:extLst>
          </p:cNvPr>
          <p:cNvSpPr txBox="1"/>
          <p:nvPr/>
        </p:nvSpPr>
        <p:spPr>
          <a:xfrm>
            <a:off x="974479" y="4630624"/>
            <a:ext cx="4530790" cy="307777"/>
          </a:xfrm>
          <a:prstGeom prst="rect">
            <a:avLst/>
          </a:prstGeom>
          <a:noFill/>
        </p:spPr>
        <p:txBody>
          <a:bodyPr wrap="square" lIns="91440" tIns="45720" rIns="91440" bIns="45720" rtlCol="0">
            <a:spAutoFit/>
          </a:bodyPr>
          <a:lstStyle/>
          <a:p>
            <a:pPr algn="ctr" defTabSz="609585" rtl="0">
              <a:defRPr/>
            </a:pPr>
            <a:r>
              <a:rPr lang="en-US" sz="1400" b="1" i="1" kern="1200" spc="-10">
                <a:solidFill>
                  <a:srgbClr val="765FFF"/>
                </a:solidFill>
                <a:latin typeface="Segoe UI" pitchFamily="34" charset="0"/>
                <a:ea typeface="Helvetica Neue" panose="02000503000000020004" pitchFamily="2" charset="0"/>
                <a:cs typeface="Helvetica Neue" panose="02000503000000020004" pitchFamily="2" charset="0"/>
              </a:rPr>
              <a:t>Empower Markets to increase responsiveness </a:t>
            </a:r>
          </a:p>
        </p:txBody>
      </p:sp>
      <p:sp>
        <p:nvSpPr>
          <p:cNvPr id="12" name="TextBox 11">
            <a:extLst>
              <a:ext uri="{FF2B5EF4-FFF2-40B4-BE49-F238E27FC236}">
                <a16:creationId xmlns:a16="http://schemas.microsoft.com/office/drawing/2014/main" id="{F58A20B8-BA22-351E-3BCF-4E473450AE6C}"/>
              </a:ext>
            </a:extLst>
          </p:cNvPr>
          <p:cNvSpPr txBox="1"/>
          <p:nvPr/>
        </p:nvSpPr>
        <p:spPr>
          <a:xfrm>
            <a:off x="1076116" y="1635031"/>
            <a:ext cx="4391912" cy="307777"/>
          </a:xfrm>
          <a:prstGeom prst="rect">
            <a:avLst/>
          </a:prstGeom>
          <a:noFill/>
        </p:spPr>
        <p:txBody>
          <a:bodyPr wrap="square" lIns="91440" tIns="45720" rIns="91440" bIns="45720" rtlCol="0">
            <a:spAutoFit/>
          </a:bodyPr>
          <a:lstStyle/>
          <a:p>
            <a:pPr algn="ctr" defTabSz="609585" rtl="0">
              <a:defRPr/>
            </a:pPr>
            <a:r>
              <a:rPr lang="en-US" sz="1400" b="1" i="1" kern="1200" spc="-10">
                <a:solidFill>
                  <a:srgbClr val="765FFF"/>
                </a:solidFill>
                <a:latin typeface="Segoe UI" pitchFamily="34" charset="0"/>
                <a:ea typeface="Helvetica Neue" panose="02000503000000020004" pitchFamily="2" charset="0"/>
                <a:cs typeface="Helvetica Neue" panose="02000503000000020004" pitchFamily="2" charset="0"/>
              </a:rPr>
              <a:t>Leverage Enterprise for optimization</a:t>
            </a:r>
          </a:p>
        </p:txBody>
      </p:sp>
      <p:sp>
        <p:nvSpPr>
          <p:cNvPr id="13" name="TextBox 12">
            <a:extLst>
              <a:ext uri="{FF2B5EF4-FFF2-40B4-BE49-F238E27FC236}">
                <a16:creationId xmlns:a16="http://schemas.microsoft.com/office/drawing/2014/main" id="{7EA453AC-6D96-ED1B-B09D-C215A4EB783B}"/>
              </a:ext>
            </a:extLst>
          </p:cNvPr>
          <p:cNvSpPr txBox="1"/>
          <p:nvPr/>
        </p:nvSpPr>
        <p:spPr>
          <a:xfrm>
            <a:off x="1160933" y="2030203"/>
            <a:ext cx="3999141" cy="1061829"/>
          </a:xfrm>
          <a:prstGeom prst="rect">
            <a:avLst/>
          </a:prstGeom>
          <a:noFill/>
        </p:spPr>
        <p:txBody>
          <a:bodyPr wrap="square" lIns="91440" tIns="45720" rIns="91440" bIns="45720" rtlCol="0">
            <a:spAutoFit/>
          </a:bodyPr>
          <a:lstStyle/>
          <a:p>
            <a:pPr marL="171446" indent="-171446" defTabSz="609585">
              <a:lnSpc>
                <a:spcPct val="90000"/>
              </a:lnSpc>
              <a:buBlip>
                <a:blip r:embed="rId2"/>
              </a:buBlip>
              <a:defRPr/>
            </a:pP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Product Lifecycle Management</a:t>
            </a:r>
          </a:p>
          <a:p>
            <a:pPr marL="171446" indent="-171446" defTabSz="609585">
              <a:lnSpc>
                <a:spcPct val="90000"/>
              </a:lnSpc>
              <a:buBlip>
                <a:blip r:embed="rId2"/>
              </a:buBlip>
              <a:defRPr/>
            </a:pP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Optimized manufacturing </a:t>
            </a:r>
          </a:p>
          <a:p>
            <a:pPr marL="171446" indent="-171446" defTabSz="609585">
              <a:lnSpc>
                <a:spcPct val="90000"/>
              </a:lnSpc>
              <a:buBlip>
                <a:blip r:embed="rId2"/>
              </a:buBlip>
              <a:defRPr/>
            </a:pP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Flexible supply chain </a:t>
            </a:r>
          </a:p>
          <a:p>
            <a:pPr marL="171446" indent="-171446" defTabSz="609585">
              <a:lnSpc>
                <a:spcPct val="90000"/>
              </a:lnSpc>
              <a:buBlip>
                <a:blip r:embed="rId2"/>
              </a:buBlip>
              <a:defRPr/>
            </a:pP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Robust Tech Infrastructure</a:t>
            </a:r>
          </a:p>
          <a:p>
            <a:pPr marL="171446" indent="-171446" defTabSz="609585">
              <a:lnSpc>
                <a:spcPct val="90000"/>
              </a:lnSpc>
              <a:buBlip>
                <a:blip r:embed="rId2"/>
              </a:buBlip>
              <a:defRPr/>
            </a:pP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Shared Business Services </a:t>
            </a:r>
          </a:p>
        </p:txBody>
      </p:sp>
      <p:sp>
        <p:nvSpPr>
          <p:cNvPr id="14" name="TextBox 13">
            <a:extLst>
              <a:ext uri="{FF2B5EF4-FFF2-40B4-BE49-F238E27FC236}">
                <a16:creationId xmlns:a16="http://schemas.microsoft.com/office/drawing/2014/main" id="{5F836DDF-0049-6676-DE4F-A061C8B9942B}"/>
              </a:ext>
            </a:extLst>
          </p:cNvPr>
          <p:cNvSpPr txBox="1"/>
          <p:nvPr/>
        </p:nvSpPr>
        <p:spPr>
          <a:xfrm>
            <a:off x="1039836" y="3250610"/>
            <a:ext cx="4439549" cy="523220"/>
          </a:xfrm>
          <a:prstGeom prst="rect">
            <a:avLst/>
          </a:prstGeom>
          <a:noFill/>
        </p:spPr>
        <p:txBody>
          <a:bodyPr wrap="square" lIns="91440" tIns="45720" rIns="91440" bIns="45720" rtlCol="0">
            <a:spAutoFit/>
          </a:bodyPr>
          <a:lstStyle/>
          <a:p>
            <a:pPr algn="ctr" defTabSz="609585" rtl="0">
              <a:defRPr/>
            </a:pPr>
            <a:r>
              <a:rPr lang="en-US" sz="1400" b="1" i="1" kern="1200" spc="-10">
                <a:solidFill>
                  <a:srgbClr val="765FFF"/>
                </a:solidFill>
                <a:latin typeface="Segoe UI" pitchFamily="34" charset="0"/>
                <a:ea typeface="Helvetica Neue" panose="02000503000000020004" pitchFamily="2" charset="0"/>
                <a:cs typeface="Helvetica Neue" panose="02000503000000020004" pitchFamily="2" charset="0"/>
              </a:rPr>
              <a:t>TA strategies and market demand </a:t>
            </a:r>
          </a:p>
          <a:p>
            <a:pPr algn="ctr" defTabSz="609585" rtl="0">
              <a:defRPr/>
            </a:pPr>
            <a:r>
              <a:rPr lang="en-US" sz="1400" b="1" i="1" kern="1200" spc="-10">
                <a:solidFill>
                  <a:srgbClr val="765FFF"/>
                </a:solidFill>
                <a:latin typeface="Segoe UI" pitchFamily="34" charset="0"/>
                <a:ea typeface="Helvetica Neue" panose="02000503000000020004" pitchFamily="2" charset="0"/>
                <a:cs typeface="Helvetica Neue" panose="02000503000000020004" pitchFamily="2" charset="0"/>
              </a:rPr>
              <a:t>link Enterprise + Markets</a:t>
            </a:r>
          </a:p>
        </p:txBody>
      </p:sp>
      <p:sp>
        <p:nvSpPr>
          <p:cNvPr id="15" name="TextBox 14">
            <a:extLst>
              <a:ext uri="{FF2B5EF4-FFF2-40B4-BE49-F238E27FC236}">
                <a16:creationId xmlns:a16="http://schemas.microsoft.com/office/drawing/2014/main" id="{81201E0B-1EA6-D625-ADAE-C3F6A53ABC9F}"/>
              </a:ext>
            </a:extLst>
          </p:cNvPr>
          <p:cNvSpPr txBox="1"/>
          <p:nvPr/>
        </p:nvSpPr>
        <p:spPr>
          <a:xfrm>
            <a:off x="1160933" y="3755028"/>
            <a:ext cx="4385226" cy="738664"/>
          </a:xfrm>
          <a:prstGeom prst="rect">
            <a:avLst/>
          </a:prstGeom>
          <a:noFill/>
        </p:spPr>
        <p:txBody>
          <a:bodyPr wrap="square" lIns="91440" tIns="45720" rIns="91440" bIns="45720" rtlCol="0">
            <a:spAutoFit/>
          </a:bodyPr>
          <a:lstStyle/>
          <a:p>
            <a:pPr algn="l" defTabSz="609585" rtl="0">
              <a:defRPr/>
            </a:pPr>
            <a:r>
              <a:rPr lang="en-US" sz="1400" kern="1200" spc="-10" dirty="0">
                <a:solidFill>
                  <a:srgbClr val="1D1D1D"/>
                </a:solidFill>
                <a:latin typeface="Arial" pitchFamily="34" charset="0"/>
                <a:ea typeface="Helvetica Neue" panose="02000503000000020004" pitchFamily="2" charset="0"/>
                <a:cs typeface="Helvetica Neue" panose="02000503000000020004" pitchFamily="2" charset="0"/>
              </a:rPr>
              <a:t>Markets drive TA strategy deployment through Product Lifecycle Management enabled by co-located functions and global support </a:t>
            </a:r>
          </a:p>
        </p:txBody>
      </p:sp>
      <p:sp>
        <p:nvSpPr>
          <p:cNvPr id="16" name="TextBox 15">
            <a:extLst>
              <a:ext uri="{FF2B5EF4-FFF2-40B4-BE49-F238E27FC236}">
                <a16:creationId xmlns:a16="http://schemas.microsoft.com/office/drawing/2014/main" id="{347CD7A6-B032-B805-C4D5-DA9322B48D71}"/>
              </a:ext>
            </a:extLst>
          </p:cNvPr>
          <p:cNvSpPr txBox="1"/>
          <p:nvPr/>
        </p:nvSpPr>
        <p:spPr>
          <a:xfrm>
            <a:off x="1160933" y="1284180"/>
            <a:ext cx="3242798" cy="300082"/>
          </a:xfrm>
          <a:prstGeom prst="rect">
            <a:avLst/>
          </a:prstGeom>
          <a:noFill/>
        </p:spPr>
        <p:txBody>
          <a:bodyPr wrap="square" lIns="91440" tIns="45720" rIns="91440" bIns="45720" rtlCol="0">
            <a:spAutoFit/>
          </a:bodyPr>
          <a:lstStyle>
            <a:defPPr>
              <a:defRPr b="1" kern="0" spc="-25">
                <a:latin typeface="Segoe UI" pitchFamily="34" charset="0"/>
              </a:defRPr>
            </a:defPPr>
            <a:lvl1pPr algn="ctr" defTabSz="609585" rtl="0">
              <a:defRPr sz="1100" b="1" kern="1200" spc="-25">
                <a:solidFill>
                  <a:srgbClr val="281A42"/>
                </a:solidFill>
                <a:latin typeface="Segoe UI" pitchFamily="34" charset="0"/>
                <a:ea typeface="Helvetica Neue" panose="02000503000000020004" pitchFamily="2" charset="0"/>
                <a:cs typeface="Helvetica Neue" panose="02000503000000020004" pitchFamily="2" charset="0"/>
              </a:defRPr>
            </a:lvl1pPr>
          </a:lstStyle>
          <a:p>
            <a:r>
              <a:rPr lang="en-US" sz="1350" b="1" spc="-25">
                <a:solidFill>
                  <a:srgbClr val="765FFF"/>
                </a:solidFill>
                <a:latin typeface="Segoe UI" pitchFamily="34" charset="0"/>
              </a:rPr>
              <a:t>What Are We Solving For?</a:t>
            </a:r>
          </a:p>
        </p:txBody>
      </p:sp>
      <p:sp>
        <p:nvSpPr>
          <p:cNvPr id="17" name="Trapezoid 7">
            <a:extLst>
              <a:ext uri="{FF2B5EF4-FFF2-40B4-BE49-F238E27FC236}">
                <a16:creationId xmlns:a16="http://schemas.microsoft.com/office/drawing/2014/main" id="{C71C3CE1-752D-F74F-C7A2-91422292FE99}"/>
              </a:ext>
            </a:extLst>
          </p:cNvPr>
          <p:cNvSpPr/>
          <p:nvPr/>
        </p:nvSpPr>
        <p:spPr>
          <a:xfrm rot="5400000" flipH="1">
            <a:off x="3960744" y="3307767"/>
            <a:ext cx="4136289" cy="1053312"/>
          </a:xfrm>
          <a:prstGeom prst="triangle">
            <a:avLst/>
          </a:prstGeom>
          <a:pattFill prst="ltHorz">
            <a:fgClr>
              <a:srgbClr val="F2F2F2"/>
            </a:fgClr>
            <a:bgClr>
              <a:srgbClr val="F2F2F2"/>
            </a:bgClr>
          </a:patt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400" b="0" i="0" u="none" strike="noStrike" kern="1200" cap="none" spc="-10" normalizeH="0" baseline="0" noProof="0">
              <a:ln>
                <a:noFill/>
              </a:ln>
              <a:solidFill>
                <a:srgbClr val="FFFFFF"/>
              </a:solidFill>
              <a:effectLst/>
              <a:uLnTx/>
              <a:uFillTx/>
              <a:latin typeface="Arial" pitchFamily="34" charset="0"/>
              <a:ea typeface="+mn-ea"/>
              <a:cs typeface="+mn-cs"/>
              <a:sym typeface="Arial" panose="020B0604020202020204" pitchFamily="34" charset="0"/>
            </a:endParaRPr>
          </a:p>
        </p:txBody>
      </p:sp>
      <p:sp>
        <p:nvSpPr>
          <p:cNvPr id="18" name="TextBox 17">
            <a:extLst>
              <a:ext uri="{FF2B5EF4-FFF2-40B4-BE49-F238E27FC236}">
                <a16:creationId xmlns:a16="http://schemas.microsoft.com/office/drawing/2014/main" id="{4F318896-A6F5-4652-00C3-1DF4DDC8591C}"/>
              </a:ext>
            </a:extLst>
          </p:cNvPr>
          <p:cNvSpPr txBox="1"/>
          <p:nvPr/>
        </p:nvSpPr>
        <p:spPr>
          <a:xfrm>
            <a:off x="6961282" y="1309955"/>
            <a:ext cx="4400100" cy="300082"/>
          </a:xfrm>
          <a:prstGeom prst="rect">
            <a:avLst/>
          </a:prstGeom>
          <a:noFill/>
        </p:spPr>
        <p:txBody>
          <a:bodyPr wrap="square" lIns="0" rIns="0" rtlCol="0">
            <a:spAutoFit/>
          </a:bodyPr>
          <a:lstStyle>
            <a:defPPr>
              <a:defRPr b="1" kern="0" spc="-25">
                <a:latin typeface="Segoe UI" pitchFamily="34" charset="0"/>
              </a:defRPr>
            </a:defPPr>
            <a:lvl1pPr algn="ctr" defTabSz="609585" rtl="0">
              <a:defRPr sz="1100" b="1" kern="1200" spc="-25">
                <a:solidFill>
                  <a:srgbClr val="281A42"/>
                </a:solidFill>
                <a:latin typeface="Segoe UI" pitchFamily="34" charset="0"/>
                <a:ea typeface="Helvetica Neue" panose="02000503000000020004" pitchFamily="2" charset="0"/>
                <a:cs typeface="Helvetica Neue" panose="02000503000000020004" pitchFamily="2" charset="0"/>
              </a:defRPr>
            </a:lvl1pPr>
          </a:lstStyle>
          <a:p>
            <a:r>
              <a:rPr lang="en-US" sz="1350" b="1" spc="-25">
                <a:solidFill>
                  <a:srgbClr val="765FFF"/>
                </a:solidFill>
                <a:latin typeface="Segoe UI" pitchFamily="34" charset="0"/>
              </a:rPr>
              <a:t>Therefore, What Are the Design Principles</a:t>
            </a:r>
          </a:p>
        </p:txBody>
      </p:sp>
      <p:sp>
        <p:nvSpPr>
          <p:cNvPr id="19" name="TextBox 8">
            <a:extLst>
              <a:ext uri="{FF2B5EF4-FFF2-40B4-BE49-F238E27FC236}">
                <a16:creationId xmlns:a16="http://schemas.microsoft.com/office/drawing/2014/main" id="{413B4167-9F02-4721-E5F8-7F2E8468B91B}"/>
              </a:ext>
            </a:extLst>
          </p:cNvPr>
          <p:cNvSpPr txBox="1">
            <a:spLocks/>
          </p:cNvSpPr>
          <p:nvPr/>
        </p:nvSpPr>
        <p:spPr>
          <a:xfrm>
            <a:off x="1160933" y="4906360"/>
            <a:ext cx="4296340" cy="1061829"/>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46" indent="-171446">
              <a:spcBef>
                <a:spcPts val="0"/>
              </a:spcBef>
              <a:buFont typeface="Arial" panose="020B0706020202030204" pitchFamily="34" charset="0"/>
              <a:buBlip>
                <a:blip r:embed="rId2"/>
              </a:buBlip>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Strategy</a:t>
            </a:r>
          </a:p>
          <a:p>
            <a:pPr marL="171446" indent="-171446" defTabSz="609585">
              <a:spcBef>
                <a:spcPts val="0"/>
              </a:spcBef>
              <a:buFont typeface="Arial" panose="020B0706020202030204" pitchFamily="34" charset="0"/>
              <a:buBlip>
                <a:blip r:embed="rId2"/>
              </a:buBlip>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P&amp;L execution</a:t>
            </a:r>
          </a:p>
          <a:p>
            <a:pPr marL="171446" indent="-171446" defTabSz="609585">
              <a:spcBef>
                <a:spcPts val="0"/>
              </a:spcBef>
              <a:buFont typeface="Arial" panose="020B0706020202030204" pitchFamily="34" charset="0"/>
              <a:buBlip>
                <a:blip r:embed="rId2"/>
              </a:buBlip>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Productivity </a:t>
            </a:r>
          </a:p>
          <a:p>
            <a:pPr marL="171446" indent="-171446" defTabSz="609585">
              <a:spcBef>
                <a:spcPts val="0"/>
              </a:spcBef>
              <a:buFont typeface="Arial" panose="020B0706020202030204" pitchFamily="34" charset="0"/>
              <a:buBlip>
                <a:blip r:embed="rId2"/>
              </a:buBlip>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Talent development</a:t>
            </a:r>
          </a:p>
          <a:p>
            <a:pPr marL="171446" indent="-171446" defTabSz="609585">
              <a:spcBef>
                <a:spcPts val="0"/>
              </a:spcBef>
              <a:buFont typeface="Arial" panose="020B0706020202030204" pitchFamily="34" charset="0"/>
              <a:buBlip>
                <a:blip r:embed="rId2"/>
              </a:buBlip>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Customer Engagement</a:t>
            </a:r>
            <a:endParaRPr lang="en-US" sz="1400" spc="-10" dirty="0">
              <a:solidFill>
                <a:srgbClr val="1D1D1D"/>
              </a:solidFill>
              <a:latin typeface="Arial" pitchFamily="34" charset="0"/>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97B8CDA9-B918-BCEA-00D4-4D3E3B139AB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799234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DC603-63F0-C7F5-9140-A587F8792AEC}"/>
              </a:ext>
            </a:extLst>
          </p:cNvPr>
          <p:cNvSpPr>
            <a:spLocks noGrp="1"/>
          </p:cNvSpPr>
          <p:nvPr>
            <p:ph type="title"/>
          </p:nvPr>
        </p:nvSpPr>
        <p:spPr/>
        <p:txBody>
          <a:bodyPr/>
          <a:lstStyle/>
          <a:p>
            <a:r>
              <a:rPr lang="en-US" dirty="0"/>
              <a:t>Organize to Value</a:t>
            </a:r>
          </a:p>
        </p:txBody>
      </p:sp>
      <p:sp>
        <p:nvSpPr>
          <p:cNvPr id="3" name="Text Placeholder 2">
            <a:extLst>
              <a:ext uri="{FF2B5EF4-FFF2-40B4-BE49-F238E27FC236}">
                <a16:creationId xmlns:a16="http://schemas.microsoft.com/office/drawing/2014/main" id="{8F891955-B938-90B7-5830-F28F76AF755B}"/>
              </a:ext>
            </a:extLst>
          </p:cNvPr>
          <p:cNvSpPr>
            <a:spLocks noGrp="1"/>
          </p:cNvSpPr>
          <p:nvPr>
            <p:ph type="body" sz="quarter" idx="12"/>
          </p:nvPr>
        </p:nvSpPr>
        <p:spPr/>
        <p:txBody>
          <a:bodyPr/>
          <a:lstStyle/>
          <a:p>
            <a:r>
              <a:rPr lang="en-US" dirty="0"/>
              <a:t>Pivot</a:t>
            </a:r>
          </a:p>
        </p:txBody>
      </p:sp>
      <p:sp>
        <p:nvSpPr>
          <p:cNvPr id="4" name="Slide Number Placeholder 3">
            <a:extLst>
              <a:ext uri="{FF2B5EF4-FFF2-40B4-BE49-F238E27FC236}">
                <a16:creationId xmlns:a16="http://schemas.microsoft.com/office/drawing/2014/main" id="{30D668A8-82A5-281D-A836-492C625990EB}"/>
              </a:ext>
            </a:extLst>
          </p:cNvPr>
          <p:cNvSpPr>
            <a:spLocks noGrp="1"/>
          </p:cNvSpPr>
          <p:nvPr>
            <p:ph type="sldNum" sz="quarter" idx="4"/>
          </p:nvPr>
        </p:nvSpPr>
        <p:spPr/>
        <p:txBody>
          <a:bodyPr/>
          <a:lstStyle/>
          <a:p>
            <a:pPr algn="ctr"/>
            <a:fld id="{7DA59B58-B945-4B36-BC6B-9C26C933A008}" type="slidenum">
              <a:rPr lang="en-US" smtClean="0"/>
              <a:t>39</a:t>
            </a:fld>
            <a:endParaRPr lang="en-US"/>
          </a:p>
        </p:txBody>
      </p:sp>
      <p:sp>
        <p:nvSpPr>
          <p:cNvPr id="6" name="Rounded Rectangle 5">
            <a:extLst>
              <a:ext uri="{FF2B5EF4-FFF2-40B4-BE49-F238E27FC236}">
                <a16:creationId xmlns:a16="http://schemas.microsoft.com/office/drawing/2014/main" id="{E3F2B4D6-C75B-A693-F814-73B36ACC096B}"/>
              </a:ext>
            </a:extLst>
          </p:cNvPr>
          <p:cNvSpPr/>
          <p:nvPr/>
        </p:nvSpPr>
        <p:spPr>
          <a:xfrm>
            <a:off x="6763888" y="1876172"/>
            <a:ext cx="4462189" cy="4381658"/>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anchor="ctr"/>
          <a:lstStyle/>
          <a:p>
            <a:pPr marR="0" lvl="0" algn="l" defTabSz="914400" eaLnBrk="1" fontAlgn="auto" latinLnBrk="0" hangingPunct="1">
              <a:lnSpc>
                <a:spcPct val="100000"/>
              </a:lnSpc>
              <a:spcBef>
                <a:spcPts val="600"/>
              </a:spcBef>
              <a:spcAft>
                <a:spcPts val="600"/>
              </a:spcAft>
              <a:buClrTx/>
              <a:buSzTx/>
              <a:tabLst/>
              <a:defRPr/>
            </a:pPr>
            <a:endParaRPr kumimoji="0" lang="en-GB" sz="1050" i="0" u="none" strike="noStrike" kern="0" cap="none" spc="-10" normalizeH="0" baseline="0" noProof="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p:txBody>
      </p:sp>
      <p:grpSp>
        <p:nvGrpSpPr>
          <p:cNvPr id="7" name="Group 6">
            <a:extLst>
              <a:ext uri="{FF2B5EF4-FFF2-40B4-BE49-F238E27FC236}">
                <a16:creationId xmlns:a16="http://schemas.microsoft.com/office/drawing/2014/main" id="{AB6EA9E4-9474-AFF2-8A60-7E32733E29B0}"/>
              </a:ext>
            </a:extLst>
          </p:cNvPr>
          <p:cNvGrpSpPr/>
          <p:nvPr/>
        </p:nvGrpSpPr>
        <p:grpSpPr>
          <a:xfrm>
            <a:off x="1793088" y="2174937"/>
            <a:ext cx="3485578" cy="3511229"/>
            <a:chOff x="1701856" y="2329275"/>
            <a:chExt cx="3485578" cy="3511229"/>
          </a:xfrm>
        </p:grpSpPr>
        <p:sp>
          <p:nvSpPr>
            <p:cNvPr id="8" name="Rounded Rectangle 7">
              <a:extLst>
                <a:ext uri="{FF2B5EF4-FFF2-40B4-BE49-F238E27FC236}">
                  <a16:creationId xmlns:a16="http://schemas.microsoft.com/office/drawing/2014/main" id="{05080EE9-22F1-8403-045A-CADE30553CE5}"/>
                </a:ext>
              </a:extLst>
            </p:cNvPr>
            <p:cNvSpPr/>
            <p:nvPr/>
          </p:nvSpPr>
          <p:spPr>
            <a:xfrm>
              <a:off x="1701856" y="3176316"/>
              <a:ext cx="917630" cy="2104494"/>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anchor="ctr"/>
            <a:lstStyle/>
            <a:p>
              <a:pPr marR="0" lvl="0" algn="l" defTabSz="914400" eaLnBrk="1" fontAlgn="auto" latinLnBrk="0" hangingPunct="1">
                <a:lnSpc>
                  <a:spcPct val="100000"/>
                </a:lnSpc>
                <a:spcBef>
                  <a:spcPts val="600"/>
                </a:spcBef>
                <a:spcAft>
                  <a:spcPts val="600"/>
                </a:spcAft>
                <a:buClrTx/>
                <a:buSzTx/>
                <a:tabLst/>
                <a:defRPr/>
              </a:pPr>
              <a:endParaRPr kumimoji="0" lang="en-GB" sz="1050" i="0" u="none" strike="noStrike" kern="0" cap="none" spc="-10" normalizeH="0" baseline="0" noProof="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p:txBody>
        </p:sp>
        <p:sp>
          <p:nvSpPr>
            <p:cNvPr id="9" name="Rounded Rectangle 8">
              <a:extLst>
                <a:ext uri="{FF2B5EF4-FFF2-40B4-BE49-F238E27FC236}">
                  <a16:creationId xmlns:a16="http://schemas.microsoft.com/office/drawing/2014/main" id="{A3986C0F-D98C-7521-95FE-D5A93F64ADF3}"/>
                </a:ext>
              </a:extLst>
            </p:cNvPr>
            <p:cNvSpPr/>
            <p:nvPr/>
          </p:nvSpPr>
          <p:spPr>
            <a:xfrm>
              <a:off x="2672165" y="2582231"/>
              <a:ext cx="1393448" cy="3258273"/>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anchor="ctr"/>
            <a:lstStyle/>
            <a:p>
              <a:pPr marR="0" lvl="0" algn="l" defTabSz="914400" eaLnBrk="1" fontAlgn="auto" latinLnBrk="0" hangingPunct="1">
                <a:lnSpc>
                  <a:spcPct val="100000"/>
                </a:lnSpc>
                <a:spcBef>
                  <a:spcPts val="600"/>
                </a:spcBef>
                <a:spcAft>
                  <a:spcPts val="600"/>
                </a:spcAft>
                <a:buClrTx/>
                <a:buSzTx/>
                <a:tabLst/>
                <a:defRPr/>
              </a:pPr>
              <a:endParaRPr kumimoji="0" lang="en-GB" sz="1050" i="0" u="none" strike="noStrike" kern="0" cap="none" spc="-10" normalizeH="0" baseline="0" noProof="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p:txBody>
        </p:sp>
        <p:sp>
          <p:nvSpPr>
            <p:cNvPr id="10" name="Rounded Rectangle 9">
              <a:extLst>
                <a:ext uri="{FF2B5EF4-FFF2-40B4-BE49-F238E27FC236}">
                  <a16:creationId xmlns:a16="http://schemas.microsoft.com/office/drawing/2014/main" id="{680A1F79-F0F1-4CA7-AEFB-F50CE76FA5DD}"/>
                </a:ext>
              </a:extLst>
            </p:cNvPr>
            <p:cNvSpPr/>
            <p:nvPr/>
          </p:nvSpPr>
          <p:spPr>
            <a:xfrm>
              <a:off x="2776337" y="3021538"/>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Manufacturing </a:t>
              </a:r>
            </a:p>
          </p:txBody>
        </p:sp>
        <p:sp>
          <p:nvSpPr>
            <p:cNvPr id="11" name="Rounded Rectangle 10">
              <a:extLst>
                <a:ext uri="{FF2B5EF4-FFF2-40B4-BE49-F238E27FC236}">
                  <a16:creationId xmlns:a16="http://schemas.microsoft.com/office/drawing/2014/main" id="{12C62717-0693-0346-EB7C-C1A1E0B43636}"/>
                </a:ext>
              </a:extLst>
            </p:cNvPr>
            <p:cNvSpPr/>
            <p:nvPr/>
          </p:nvSpPr>
          <p:spPr>
            <a:xfrm>
              <a:off x="2776337" y="3397451"/>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Quality</a:t>
              </a:r>
            </a:p>
          </p:txBody>
        </p:sp>
        <p:sp>
          <p:nvSpPr>
            <p:cNvPr id="12" name="Rounded Rectangle 11">
              <a:extLst>
                <a:ext uri="{FF2B5EF4-FFF2-40B4-BE49-F238E27FC236}">
                  <a16:creationId xmlns:a16="http://schemas.microsoft.com/office/drawing/2014/main" id="{7AEFE6E8-1E7D-702C-3E1C-871B706AA515}"/>
                </a:ext>
              </a:extLst>
            </p:cNvPr>
            <p:cNvSpPr/>
            <p:nvPr/>
          </p:nvSpPr>
          <p:spPr>
            <a:xfrm>
              <a:off x="2776337" y="3801350"/>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Supply</a:t>
              </a:r>
            </a:p>
          </p:txBody>
        </p:sp>
        <p:sp>
          <p:nvSpPr>
            <p:cNvPr id="13" name="Rounded Rectangle 12">
              <a:extLst>
                <a:ext uri="{FF2B5EF4-FFF2-40B4-BE49-F238E27FC236}">
                  <a16:creationId xmlns:a16="http://schemas.microsoft.com/office/drawing/2014/main" id="{91BA39C6-1B3A-DA28-C926-95103C7D9111}"/>
                </a:ext>
              </a:extLst>
            </p:cNvPr>
            <p:cNvSpPr/>
            <p:nvPr/>
          </p:nvSpPr>
          <p:spPr>
            <a:xfrm>
              <a:off x="2776337" y="4177263"/>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Digital</a:t>
              </a:r>
            </a:p>
          </p:txBody>
        </p:sp>
        <p:sp>
          <p:nvSpPr>
            <p:cNvPr id="14" name="Rounded Rectangle 13">
              <a:extLst>
                <a:ext uri="{FF2B5EF4-FFF2-40B4-BE49-F238E27FC236}">
                  <a16:creationId xmlns:a16="http://schemas.microsoft.com/office/drawing/2014/main" id="{C5D7BEBE-CF22-F142-9C04-8034FCBA645E}"/>
                </a:ext>
              </a:extLst>
            </p:cNvPr>
            <p:cNvSpPr/>
            <p:nvPr/>
          </p:nvSpPr>
          <p:spPr>
            <a:xfrm>
              <a:off x="2776337" y="4597706"/>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Finance</a:t>
              </a:r>
            </a:p>
          </p:txBody>
        </p:sp>
        <p:sp>
          <p:nvSpPr>
            <p:cNvPr id="15" name="Rounded Rectangle 14">
              <a:extLst>
                <a:ext uri="{FF2B5EF4-FFF2-40B4-BE49-F238E27FC236}">
                  <a16:creationId xmlns:a16="http://schemas.microsoft.com/office/drawing/2014/main" id="{18B64296-55E6-E921-AECA-923166B0ADD9}"/>
                </a:ext>
              </a:extLst>
            </p:cNvPr>
            <p:cNvSpPr/>
            <p:nvPr/>
          </p:nvSpPr>
          <p:spPr>
            <a:xfrm>
              <a:off x="2776337" y="5001605"/>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IT</a:t>
              </a:r>
            </a:p>
          </p:txBody>
        </p:sp>
        <p:sp>
          <p:nvSpPr>
            <p:cNvPr id="16" name="Rounded Rectangle 15">
              <a:extLst>
                <a:ext uri="{FF2B5EF4-FFF2-40B4-BE49-F238E27FC236}">
                  <a16:creationId xmlns:a16="http://schemas.microsoft.com/office/drawing/2014/main" id="{A653C45F-0F93-89B8-7FC6-716A41E5502E}"/>
                </a:ext>
              </a:extLst>
            </p:cNvPr>
            <p:cNvSpPr/>
            <p:nvPr/>
          </p:nvSpPr>
          <p:spPr>
            <a:xfrm>
              <a:off x="2776337" y="5377518"/>
              <a:ext cx="1192193" cy="26674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spc="-10">
                  <a:solidFill>
                    <a:srgbClr val="1D1D1D"/>
                  </a:solidFill>
                  <a:latin typeface="Arial" pitchFamily="34" charset="0"/>
                  <a:ea typeface="Helvetica Neue" panose="02000503000000020004" pitchFamily="2" charset="0"/>
                  <a:cs typeface="Helvetica Neue" panose="02000503000000020004" pitchFamily="2" charset="0"/>
                </a:rPr>
                <a:t>HR</a:t>
              </a:r>
            </a:p>
          </p:txBody>
        </p:sp>
        <p:pic>
          <p:nvPicPr>
            <p:cNvPr id="17" name="Graphic 14" descr="Europe with solid fill">
              <a:extLst>
                <a:ext uri="{FF2B5EF4-FFF2-40B4-BE49-F238E27FC236}">
                  <a16:creationId xmlns:a16="http://schemas.microsoft.com/office/drawing/2014/main" id="{E95EDD94-3FD0-52B8-1B2D-0B2E093129D6}"/>
                </a:ext>
              </a:extLst>
            </p:cNvPr>
            <p:cNvPicPr>
              <a:picLocks noChangeAspect="1"/>
            </p:cNvPicPr>
            <p:nvPr/>
          </p:nvPicPr>
          <p:blipFill>
            <a:blip r:embed="rId2">
              <a:duotone>
                <a:srgbClr val="765FFF"/>
                <a:srgbClr val="FFFFFF"/>
              </a:duotone>
            </a:blip>
            <a:stretch>
              <a:fillRect/>
            </a:stretch>
          </p:blipFill>
          <p:spPr>
            <a:xfrm>
              <a:off x="1775948" y="3815350"/>
              <a:ext cx="652731" cy="652731"/>
            </a:xfrm>
            <a:prstGeom prst="rect">
              <a:avLst/>
            </a:prstGeom>
          </p:spPr>
        </p:pic>
        <p:pic>
          <p:nvPicPr>
            <p:cNvPr id="18" name="Graphic 15" descr="Australia with solid fill">
              <a:extLst>
                <a:ext uri="{FF2B5EF4-FFF2-40B4-BE49-F238E27FC236}">
                  <a16:creationId xmlns:a16="http://schemas.microsoft.com/office/drawing/2014/main" id="{D622173E-F51A-0A44-C31F-B694C3B0C05C}"/>
                </a:ext>
              </a:extLst>
            </p:cNvPr>
            <p:cNvPicPr>
              <a:picLocks noChangeAspect="1"/>
            </p:cNvPicPr>
            <p:nvPr/>
          </p:nvPicPr>
          <p:blipFill>
            <a:blip r:embed="rId3">
              <a:duotone>
                <a:srgbClr val="765FFF"/>
                <a:srgbClr val="FFFFFF"/>
              </a:duotone>
            </a:blip>
            <a:stretch>
              <a:fillRect/>
            </a:stretch>
          </p:blipFill>
          <p:spPr>
            <a:xfrm>
              <a:off x="1901815" y="3235911"/>
              <a:ext cx="652731" cy="652731"/>
            </a:xfrm>
            <a:prstGeom prst="rect">
              <a:avLst/>
            </a:prstGeom>
          </p:spPr>
        </p:pic>
        <p:pic>
          <p:nvPicPr>
            <p:cNvPr id="19" name="Graphic 16" descr="South America with solid fill">
              <a:extLst>
                <a:ext uri="{FF2B5EF4-FFF2-40B4-BE49-F238E27FC236}">
                  <a16:creationId xmlns:a16="http://schemas.microsoft.com/office/drawing/2014/main" id="{104E5441-F139-09EA-EFBE-84A5BD7381BE}"/>
                </a:ext>
              </a:extLst>
            </p:cNvPr>
            <p:cNvPicPr>
              <a:picLocks noChangeAspect="1"/>
            </p:cNvPicPr>
            <p:nvPr/>
          </p:nvPicPr>
          <p:blipFill>
            <a:blip r:embed="rId4">
              <a:duotone>
                <a:srgbClr val="765FFF"/>
                <a:srgbClr val="FFFFFF"/>
              </a:duotone>
            </a:blip>
            <a:stretch>
              <a:fillRect/>
            </a:stretch>
          </p:blipFill>
          <p:spPr>
            <a:xfrm>
              <a:off x="1752964" y="4550544"/>
              <a:ext cx="652731" cy="652731"/>
            </a:xfrm>
            <a:prstGeom prst="rect">
              <a:avLst/>
            </a:prstGeom>
          </p:spPr>
        </p:pic>
        <p:sp>
          <p:nvSpPr>
            <p:cNvPr id="20" name="Rounded Rectangle 104">
              <a:extLst>
                <a:ext uri="{FF2B5EF4-FFF2-40B4-BE49-F238E27FC236}">
                  <a16:creationId xmlns:a16="http://schemas.microsoft.com/office/drawing/2014/main" id="{494A54A9-FD3A-8651-DD31-7F35AC7CE72E}"/>
                </a:ext>
              </a:extLst>
            </p:cNvPr>
            <p:cNvSpPr/>
            <p:nvPr/>
          </p:nvSpPr>
          <p:spPr>
            <a:xfrm>
              <a:off x="2672166" y="2329275"/>
              <a:ext cx="1393448" cy="351462"/>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eaLnBrk="1" fontAlgn="auto" latinLnBrk="0" hangingPunct="1">
                <a:lnSpc>
                  <a:spcPct val="100000"/>
                </a:lnSpc>
                <a:spcBef>
                  <a:spcPts val="0"/>
                </a:spcBef>
                <a:spcAft>
                  <a:spcPts val="0"/>
                </a:spcAft>
                <a:buClr>
                  <a:srgbClr val="FFFFFF"/>
                </a:buClr>
                <a:buSzPts val="3200"/>
                <a:buFont typeface="Lato"/>
                <a:buNone/>
                <a:tabLst/>
                <a:defRPr/>
              </a:pPr>
              <a:r>
                <a:rPr lang="en-US" sz="1000" b="1" spc="-10" dirty="0">
                  <a:solidFill>
                    <a:srgbClr val="1D1D1D"/>
                  </a:solidFill>
                  <a:latin typeface="Segoe UI" pitchFamily="34" charset="0"/>
                  <a:ea typeface="Helvetica Neue" panose="02000503000000020004" pitchFamily="2" charset="0"/>
                  <a:cs typeface="Helvetica Neue" panose="02000503000000020004" pitchFamily="2" charset="0"/>
                  <a:sym typeface="Lato"/>
                </a:rPr>
                <a:t>FUNCTIONS</a:t>
              </a:r>
              <a:endParaRPr kumimoji="0" lang="en-US" sz="1800" b="1" i="0" u="none" strike="noStrike" kern="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21" name="Rounded Rectangle 104">
              <a:extLst>
                <a:ext uri="{FF2B5EF4-FFF2-40B4-BE49-F238E27FC236}">
                  <a16:creationId xmlns:a16="http://schemas.microsoft.com/office/drawing/2014/main" id="{033E093B-08DF-2CC9-3015-461F95C8B6E2}"/>
                </a:ext>
              </a:extLst>
            </p:cNvPr>
            <p:cNvSpPr/>
            <p:nvPr/>
          </p:nvSpPr>
          <p:spPr>
            <a:xfrm>
              <a:off x="1701857" y="2879327"/>
              <a:ext cx="917630" cy="351462"/>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eaLnBrk="1" fontAlgn="auto" latinLnBrk="0" hangingPunct="1">
                <a:lnSpc>
                  <a:spcPct val="100000"/>
                </a:lnSpc>
                <a:spcBef>
                  <a:spcPts val="0"/>
                </a:spcBef>
                <a:spcAft>
                  <a:spcPts val="0"/>
                </a:spcAft>
                <a:buClr>
                  <a:srgbClr val="FFFFFF"/>
                </a:buClr>
                <a:buSzPts val="3200"/>
                <a:buFont typeface="Lato"/>
                <a:buNone/>
                <a:tabLst/>
                <a:defRPr/>
              </a:pPr>
              <a:r>
                <a:rPr lang="en-US" sz="1000" b="1" spc="-10">
                  <a:solidFill>
                    <a:srgbClr val="1D1D1D"/>
                  </a:solidFill>
                  <a:latin typeface="Segoe UI" pitchFamily="34" charset="0"/>
                  <a:ea typeface="Helvetica Neue" panose="02000503000000020004" pitchFamily="2" charset="0"/>
                  <a:cs typeface="Helvetica Neue" panose="02000503000000020004" pitchFamily="2" charset="0"/>
                  <a:sym typeface="Lato"/>
                </a:rPr>
                <a:t>REGIONS</a:t>
              </a:r>
              <a:endParaRPr kumimoji="0" lang="en-US" sz="18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22" name="Rounded Rectangle 21">
              <a:extLst>
                <a:ext uri="{FF2B5EF4-FFF2-40B4-BE49-F238E27FC236}">
                  <a16:creationId xmlns:a16="http://schemas.microsoft.com/office/drawing/2014/main" id="{5E776300-0ACE-6D9A-81A7-B45EC4BF7560}"/>
                </a:ext>
              </a:extLst>
            </p:cNvPr>
            <p:cNvSpPr/>
            <p:nvPr/>
          </p:nvSpPr>
          <p:spPr>
            <a:xfrm>
              <a:off x="4118291" y="3152823"/>
              <a:ext cx="1069143" cy="2104494"/>
            </a:xfrm>
            <a:prstGeom prst="roundRect">
              <a:avLst>
                <a:gd name="adj" fmla="val 4250"/>
              </a:avLst>
            </a:prstGeom>
            <a:solidFill>
              <a:srgbClr val="F2F2F2"/>
            </a:solidFill>
            <a:ln w="3175">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anchor="ctr"/>
            <a:lstStyle/>
            <a:p>
              <a:pPr marR="0" lvl="0" algn="l" defTabSz="914400" eaLnBrk="1" fontAlgn="auto" latinLnBrk="0" hangingPunct="1">
                <a:lnSpc>
                  <a:spcPct val="100000"/>
                </a:lnSpc>
                <a:spcBef>
                  <a:spcPts val="600"/>
                </a:spcBef>
                <a:spcAft>
                  <a:spcPts val="600"/>
                </a:spcAft>
                <a:buClrTx/>
                <a:buSzTx/>
                <a:tabLst/>
                <a:defRPr/>
              </a:pPr>
              <a:endParaRPr kumimoji="0" lang="en-GB" sz="1050" i="0" u="none" strike="noStrike" kern="0" cap="none" spc="-10" normalizeH="0" baseline="0" noProof="0">
                <a:ln>
                  <a:noFill/>
                </a:ln>
                <a:solidFill>
                  <a:srgbClr val="1D1D1D"/>
                </a:solidFill>
                <a:effectLst/>
                <a:uLnTx/>
                <a:uFillTx/>
                <a:latin typeface="Arial" pitchFamily="34" charset="0"/>
                <a:ea typeface="Helvetica Neue Light" panose="02000403000000020004" pitchFamily="2" charset="0"/>
                <a:cs typeface="Helvetica Neue" panose="02000503000000020004" pitchFamily="2" charset="0"/>
              </a:endParaRPr>
            </a:p>
          </p:txBody>
        </p:sp>
        <p:sp>
          <p:nvSpPr>
            <p:cNvPr id="23" name="Rounded Rectangle 104">
              <a:extLst>
                <a:ext uri="{FF2B5EF4-FFF2-40B4-BE49-F238E27FC236}">
                  <a16:creationId xmlns:a16="http://schemas.microsoft.com/office/drawing/2014/main" id="{907AF568-D4F6-684B-D61E-E5A4FB1FA6D1}"/>
                </a:ext>
              </a:extLst>
            </p:cNvPr>
            <p:cNvSpPr/>
            <p:nvPr/>
          </p:nvSpPr>
          <p:spPr>
            <a:xfrm>
              <a:off x="4118292" y="2867409"/>
              <a:ext cx="1069142" cy="351462"/>
            </a:xfrm>
            <a:prstGeom prst="roundRect">
              <a:avLst/>
            </a:prstGeom>
            <a:solidFill>
              <a:srgbClr val="D0D7D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eaLnBrk="1" fontAlgn="auto" latinLnBrk="0" hangingPunct="1">
                <a:lnSpc>
                  <a:spcPct val="100000"/>
                </a:lnSpc>
                <a:spcBef>
                  <a:spcPts val="0"/>
                </a:spcBef>
                <a:spcAft>
                  <a:spcPts val="0"/>
                </a:spcAft>
                <a:buClr>
                  <a:srgbClr val="FFFFFF"/>
                </a:buClr>
                <a:buSzPts val="3200"/>
                <a:buFont typeface="Lato"/>
                <a:buNone/>
                <a:tabLst/>
                <a:defRPr/>
              </a:pPr>
              <a:r>
                <a:rPr lang="en-US" sz="1000" b="1" spc="-10">
                  <a:solidFill>
                    <a:srgbClr val="1D1D1D"/>
                  </a:solidFill>
                  <a:latin typeface="Segoe UI" pitchFamily="34" charset="0"/>
                  <a:ea typeface="Helvetica Neue" panose="02000503000000020004" pitchFamily="2" charset="0"/>
                  <a:cs typeface="Helvetica Neue" panose="02000503000000020004" pitchFamily="2" charset="0"/>
                  <a:sym typeface="Lato"/>
                </a:rPr>
                <a:t>CUSTOMERS</a:t>
              </a:r>
              <a:endParaRPr kumimoji="0" lang="en-US" sz="1800" b="1" i="0" u="none" strike="noStrike" kern="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pic>
          <p:nvPicPr>
            <p:cNvPr id="24" name="Graphic 46" descr="Bank outline">
              <a:extLst>
                <a:ext uri="{FF2B5EF4-FFF2-40B4-BE49-F238E27FC236}">
                  <a16:creationId xmlns:a16="http://schemas.microsoft.com/office/drawing/2014/main" id="{066BCDD3-9B71-1CAA-CF26-CB577D07BA22}"/>
                </a:ext>
              </a:extLst>
            </p:cNvPr>
            <p:cNvPicPr>
              <a:picLocks noChangeAspect="1"/>
            </p:cNvPicPr>
            <p:nvPr/>
          </p:nvPicPr>
          <p:blipFill>
            <a:blip r:embed="rId5">
              <a:duotone>
                <a:srgbClr val="765FFF"/>
                <a:srgbClr val="FFFFFF"/>
              </a:duotone>
            </a:blip>
            <a:stretch>
              <a:fillRect/>
            </a:stretch>
          </p:blipFill>
          <p:spPr>
            <a:xfrm>
              <a:off x="4314504" y="4579419"/>
              <a:ext cx="555368" cy="555368"/>
            </a:xfrm>
            <a:prstGeom prst="rect">
              <a:avLst/>
            </a:prstGeom>
          </p:spPr>
        </p:pic>
        <p:pic>
          <p:nvPicPr>
            <p:cNvPr id="25" name="Graphic 48" descr="Share with solid fill">
              <a:extLst>
                <a:ext uri="{FF2B5EF4-FFF2-40B4-BE49-F238E27FC236}">
                  <a16:creationId xmlns:a16="http://schemas.microsoft.com/office/drawing/2014/main" id="{5B765E44-07C8-9458-6D70-6AC553C54216}"/>
                </a:ext>
              </a:extLst>
            </p:cNvPr>
            <p:cNvPicPr>
              <a:picLocks noChangeAspect="1"/>
            </p:cNvPicPr>
            <p:nvPr/>
          </p:nvPicPr>
          <p:blipFill>
            <a:blip r:embed="rId6">
              <a:duotone>
                <a:srgbClr val="765FFF"/>
                <a:srgbClr val="FFFFFF"/>
              </a:duotone>
            </a:blip>
            <a:stretch>
              <a:fillRect/>
            </a:stretch>
          </p:blipFill>
          <p:spPr>
            <a:xfrm>
              <a:off x="4306578" y="3932901"/>
              <a:ext cx="555368" cy="555368"/>
            </a:xfrm>
            <a:prstGeom prst="rect">
              <a:avLst/>
            </a:prstGeom>
          </p:spPr>
        </p:pic>
        <p:pic>
          <p:nvPicPr>
            <p:cNvPr id="26" name="Graphic 50" descr="Medical with solid fill">
              <a:extLst>
                <a:ext uri="{FF2B5EF4-FFF2-40B4-BE49-F238E27FC236}">
                  <a16:creationId xmlns:a16="http://schemas.microsoft.com/office/drawing/2014/main" id="{A0B69CE2-CE8B-5479-C2C2-501A3C7FD143}"/>
                </a:ext>
              </a:extLst>
            </p:cNvPr>
            <p:cNvPicPr>
              <a:picLocks noChangeAspect="1"/>
            </p:cNvPicPr>
            <p:nvPr/>
          </p:nvPicPr>
          <p:blipFill>
            <a:blip r:embed="rId7">
              <a:duotone>
                <a:srgbClr val="765FFF"/>
                <a:srgbClr val="FFFFFF"/>
              </a:duotone>
            </a:blip>
            <a:stretch>
              <a:fillRect/>
            </a:stretch>
          </p:blipFill>
          <p:spPr>
            <a:xfrm>
              <a:off x="4325378" y="3329608"/>
              <a:ext cx="555368" cy="555368"/>
            </a:xfrm>
            <a:prstGeom prst="rect">
              <a:avLst/>
            </a:prstGeom>
          </p:spPr>
        </p:pic>
      </p:grpSp>
      <p:sp>
        <p:nvSpPr>
          <p:cNvPr id="27" name="TextBox 26">
            <a:extLst>
              <a:ext uri="{FF2B5EF4-FFF2-40B4-BE49-F238E27FC236}">
                <a16:creationId xmlns:a16="http://schemas.microsoft.com/office/drawing/2014/main" id="{707CC639-9566-AABA-77BD-7B0552E5021F}"/>
              </a:ext>
            </a:extLst>
          </p:cNvPr>
          <p:cNvSpPr txBox="1"/>
          <p:nvPr/>
        </p:nvSpPr>
        <p:spPr>
          <a:xfrm>
            <a:off x="1669752" y="999787"/>
            <a:ext cx="3723681" cy="338554"/>
          </a:xfrm>
          <a:prstGeom prst="rect">
            <a:avLst/>
          </a:prstGeom>
          <a:noFill/>
        </p:spPr>
        <p:txBody>
          <a:bodyPr wrap="square" lIns="91440" tIns="45720" rIns="91440" bIns="45720" rtlCol="0">
            <a:spAutoFit/>
          </a:bodyPr>
          <a:lstStyle/>
          <a:p>
            <a:pPr algn="ctr" defTabSz="609585" rtl="0">
              <a:defRPr b="1" spc="-25">
                <a:latin typeface="Segoe UI" pitchFamily="34" charset="0"/>
              </a:defRPr>
            </a:pPr>
            <a:r>
              <a:rPr lang="en-US" sz="1600" b="1" kern="1200" spc="-25" dirty="0">
                <a:solidFill>
                  <a:srgbClr val="765FFF"/>
                </a:solidFill>
                <a:latin typeface="Segoe UI" pitchFamily="34" charset="0"/>
                <a:ea typeface="Helvetica Neue" panose="02000503000000020004" pitchFamily="2" charset="0"/>
                <a:cs typeface="Helvetica Neue" panose="02000503000000020004" pitchFamily="2" charset="0"/>
              </a:rPr>
              <a:t>How Are We Designed Today?</a:t>
            </a:r>
          </a:p>
        </p:txBody>
      </p:sp>
      <p:sp>
        <p:nvSpPr>
          <p:cNvPr id="28" name="TextBox 27">
            <a:extLst>
              <a:ext uri="{FF2B5EF4-FFF2-40B4-BE49-F238E27FC236}">
                <a16:creationId xmlns:a16="http://schemas.microsoft.com/office/drawing/2014/main" id="{25C52701-FCA3-D811-6CD4-51EE32F3BCDF}"/>
              </a:ext>
            </a:extLst>
          </p:cNvPr>
          <p:cNvSpPr txBox="1"/>
          <p:nvPr/>
        </p:nvSpPr>
        <p:spPr>
          <a:xfrm>
            <a:off x="7466468" y="953261"/>
            <a:ext cx="3057028" cy="338554"/>
          </a:xfrm>
          <a:prstGeom prst="rect">
            <a:avLst/>
          </a:prstGeom>
          <a:noFill/>
        </p:spPr>
        <p:txBody>
          <a:bodyPr wrap="square" lIns="91440" tIns="45720" rIns="91440" bIns="45720" rtlCol="0">
            <a:spAutoFit/>
          </a:bodyPr>
          <a:lstStyle>
            <a:defPPr>
              <a:defRPr b="1" kern="0" spc="-25">
                <a:latin typeface="Segoe UI" pitchFamily="34" charset="0"/>
              </a:defRPr>
            </a:defPPr>
            <a:lvl1pPr algn="ctr" defTabSz="609585" rtl="0">
              <a:defRPr sz="1100" b="1" kern="1200" spc="-25">
                <a:solidFill>
                  <a:srgbClr val="281A42"/>
                </a:solidFill>
                <a:latin typeface="Segoe UI" pitchFamily="34" charset="0"/>
                <a:ea typeface="Helvetica Neue" panose="02000503000000020004" pitchFamily="2" charset="0"/>
                <a:cs typeface="Helvetica Neue" panose="02000503000000020004" pitchFamily="2" charset="0"/>
              </a:defRPr>
            </a:lvl1pPr>
          </a:lstStyle>
          <a:p>
            <a:r>
              <a:rPr lang="en-US" sz="1600" b="1" spc="-25" dirty="0">
                <a:solidFill>
                  <a:srgbClr val="765FFF"/>
                </a:solidFill>
                <a:latin typeface="Segoe UI" pitchFamily="34" charset="0"/>
              </a:rPr>
              <a:t>Organize to Value</a:t>
            </a:r>
          </a:p>
        </p:txBody>
      </p:sp>
      <p:sp>
        <p:nvSpPr>
          <p:cNvPr id="29" name="TextBox 28">
            <a:extLst>
              <a:ext uri="{FF2B5EF4-FFF2-40B4-BE49-F238E27FC236}">
                <a16:creationId xmlns:a16="http://schemas.microsoft.com/office/drawing/2014/main" id="{0013DB5E-6A50-D7A6-ADA4-E44978002561}"/>
              </a:ext>
            </a:extLst>
          </p:cNvPr>
          <p:cNvSpPr txBox="1"/>
          <p:nvPr/>
        </p:nvSpPr>
        <p:spPr>
          <a:xfrm>
            <a:off x="1581666" y="1307022"/>
            <a:ext cx="3899852" cy="286232"/>
          </a:xfrm>
          <a:prstGeom prst="rect">
            <a:avLst/>
          </a:prstGeom>
          <a:noFill/>
        </p:spPr>
        <p:txBody>
          <a:bodyPr wrap="square" lIns="91440" tIns="45720" rIns="91440" bIns="45720">
            <a:spAutoFit/>
          </a:bodyPr>
          <a:lstStyle/>
          <a:p>
            <a:pPr algn="ctr" defTabSz="914377">
              <a:lnSpc>
                <a:spcPct val="90000"/>
              </a:lnSpc>
              <a:defRPr/>
            </a:pPr>
            <a:r>
              <a:rPr lang="en-US" sz="1400" b="1" spc="-10" dirty="0">
                <a:solidFill>
                  <a:schemeClr val="accent1"/>
                </a:solidFill>
                <a:latin typeface="Arial" pitchFamily="34" charset="0"/>
                <a:ea typeface="Helvetica Neue" panose="02000503000000020004" pitchFamily="2" charset="0"/>
                <a:cs typeface="Helvetica Neue" panose="02000503000000020004" pitchFamily="2" charset="0"/>
              </a:rPr>
              <a:t>FROM</a:t>
            </a:r>
            <a:r>
              <a:rPr lang="en-US" sz="1400" spc="-10" dirty="0">
                <a:solidFill>
                  <a:schemeClr val="accent1"/>
                </a:solidFill>
                <a:latin typeface="Arial" pitchFamily="34" charset="0"/>
                <a:ea typeface="Helvetica Neue" panose="02000503000000020004" pitchFamily="2" charset="0"/>
                <a:cs typeface="Helvetica Neue" panose="02000503000000020004" pitchFamily="2" charset="0"/>
              </a:rPr>
              <a:t> </a:t>
            </a:r>
            <a:r>
              <a:rPr lang="en-US" sz="1400" spc="-10" dirty="0">
                <a:latin typeface="Arial" pitchFamily="34" charset="0"/>
                <a:ea typeface="Helvetica Neue" panose="02000503000000020004" pitchFamily="2" charset="0"/>
                <a:cs typeface="Helvetica Neue" panose="02000503000000020004" pitchFamily="2" charset="0"/>
              </a:rPr>
              <a:t>functional silos</a:t>
            </a:r>
          </a:p>
        </p:txBody>
      </p:sp>
      <p:sp>
        <p:nvSpPr>
          <p:cNvPr id="30" name="TextBox 29">
            <a:extLst>
              <a:ext uri="{FF2B5EF4-FFF2-40B4-BE49-F238E27FC236}">
                <a16:creationId xmlns:a16="http://schemas.microsoft.com/office/drawing/2014/main" id="{AC05371C-C2C2-08A3-1573-6E9D303EB6E2}"/>
              </a:ext>
            </a:extLst>
          </p:cNvPr>
          <p:cNvSpPr txBox="1"/>
          <p:nvPr/>
        </p:nvSpPr>
        <p:spPr>
          <a:xfrm>
            <a:off x="6734929" y="1264084"/>
            <a:ext cx="4520107" cy="674031"/>
          </a:xfrm>
          <a:prstGeom prst="rect">
            <a:avLst/>
          </a:prstGeom>
          <a:noFill/>
        </p:spPr>
        <p:txBody>
          <a:bodyPr wrap="square" lIns="91440" tIns="45720" rIns="91440" bIns="45720">
            <a:spAutoFit/>
          </a:bodyPr>
          <a:lstStyle/>
          <a:p>
            <a:pPr algn="ctr" defTabSz="914377">
              <a:lnSpc>
                <a:spcPct val="90000"/>
              </a:lnSpc>
              <a:defRPr/>
            </a:pPr>
            <a:r>
              <a:rPr lang="en-US" sz="1400" b="1" spc="-10" dirty="0">
                <a:solidFill>
                  <a:schemeClr val="accent1"/>
                </a:solidFill>
                <a:latin typeface="Arial" pitchFamily="34" charset="0"/>
                <a:ea typeface="Helvetica Neue" panose="02000503000000020004" pitchFamily="2" charset="0"/>
                <a:cs typeface="Helvetica Neue" panose="02000503000000020004" pitchFamily="2" charset="0"/>
              </a:rPr>
              <a:t>TO</a:t>
            </a:r>
            <a:r>
              <a:rPr lang="en-US" sz="1400" spc="-10" dirty="0">
                <a:solidFill>
                  <a:srgbClr val="1D1D1D"/>
                </a:solidFill>
                <a:latin typeface="Arial" pitchFamily="34" charset="0"/>
                <a:ea typeface="Helvetica Neue" panose="02000503000000020004" pitchFamily="2" charset="0"/>
                <a:cs typeface="Helvetica Neue" panose="02000503000000020004" pitchFamily="2" charset="0"/>
              </a:rPr>
              <a:t> market anchored, driving customer engagement, with embedded functional resources and ability to leverage enterprise capabilities</a:t>
            </a:r>
          </a:p>
        </p:txBody>
      </p:sp>
      <p:grpSp>
        <p:nvGrpSpPr>
          <p:cNvPr id="31" name="Group 30">
            <a:extLst>
              <a:ext uri="{FF2B5EF4-FFF2-40B4-BE49-F238E27FC236}">
                <a16:creationId xmlns:a16="http://schemas.microsoft.com/office/drawing/2014/main" id="{408F33A6-0F3F-538D-4476-B601D8086DEF}"/>
              </a:ext>
            </a:extLst>
          </p:cNvPr>
          <p:cNvGrpSpPr/>
          <p:nvPr/>
        </p:nvGrpSpPr>
        <p:grpSpPr>
          <a:xfrm>
            <a:off x="7642444" y="2895329"/>
            <a:ext cx="2780370" cy="2793283"/>
            <a:chOff x="8670569" y="3668065"/>
            <a:chExt cx="2780370" cy="2793283"/>
          </a:xfrm>
        </p:grpSpPr>
        <p:sp>
          <p:nvSpPr>
            <p:cNvPr id="32" name="Oval 31">
              <a:extLst>
                <a:ext uri="{FF2B5EF4-FFF2-40B4-BE49-F238E27FC236}">
                  <a16:creationId xmlns:a16="http://schemas.microsoft.com/office/drawing/2014/main" id="{AC7476D1-60BB-FC74-E106-78D370DF95DA}"/>
                </a:ext>
              </a:extLst>
            </p:cNvPr>
            <p:cNvSpPr/>
            <p:nvPr/>
          </p:nvSpPr>
          <p:spPr>
            <a:xfrm>
              <a:off x="8683745" y="3668065"/>
              <a:ext cx="2767194" cy="2767195"/>
            </a:xfrm>
            <a:prstGeom prst="ellipse">
              <a:avLst/>
            </a:prstGeom>
            <a:solidFill>
              <a:srgbClr val="765FFF"/>
            </a:solidFill>
            <a:ln w="12700" cap="flat" cmpd="sng" algn="ctr">
              <a:noFill/>
              <a:prstDash val="solid"/>
              <a:miter lim="800000"/>
            </a:ln>
            <a:effectLst/>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100" b="0" i="0" u="none" strike="noStrike" kern="0" cap="none" spc="-10" normalizeH="0" baseline="0" noProof="0">
                <a:ln>
                  <a:noFill/>
                </a:ln>
                <a:solidFill>
                  <a:srgbClr val="FFFFFF"/>
                </a:solidFill>
                <a:effectLst/>
                <a:uLnTx/>
                <a:uFillTx/>
                <a:latin typeface="Arial" pitchFamily="34" charset="0"/>
                <a:ea typeface="+mn-ea"/>
                <a:cs typeface="+mn-cs"/>
              </a:endParaRPr>
            </a:p>
          </p:txBody>
        </p:sp>
        <p:pic>
          <p:nvPicPr>
            <p:cNvPr id="33" name="Picture 32">
              <a:extLst>
                <a:ext uri="{FF2B5EF4-FFF2-40B4-BE49-F238E27FC236}">
                  <a16:creationId xmlns:a16="http://schemas.microsoft.com/office/drawing/2014/main" id="{B0EDF16C-FE17-6172-8494-D5DC434026C0}"/>
                </a:ext>
              </a:extLst>
            </p:cNvPr>
            <p:cNvPicPr>
              <a:picLocks noChangeAspect="1"/>
            </p:cNvPicPr>
            <p:nvPr/>
          </p:nvPicPr>
          <p:blipFill>
            <a:blip r:embed="rId8">
              <a:duotone>
                <a:srgbClr val="765FFF"/>
                <a:srgbClr val="FFFFFF"/>
              </a:duotone>
            </a:blip>
            <a:stretch>
              <a:fillRect/>
            </a:stretch>
          </p:blipFill>
          <p:spPr>
            <a:xfrm>
              <a:off x="8807415" y="3797516"/>
              <a:ext cx="2529891" cy="2529892"/>
            </a:xfrm>
            <a:prstGeom prst="rect">
              <a:avLst/>
            </a:prstGeom>
          </p:spPr>
        </p:pic>
        <p:sp>
          <p:nvSpPr>
            <p:cNvPr id="34" name="Oval 33">
              <a:extLst>
                <a:ext uri="{FF2B5EF4-FFF2-40B4-BE49-F238E27FC236}">
                  <a16:creationId xmlns:a16="http://schemas.microsoft.com/office/drawing/2014/main" id="{FC78DA84-9548-D252-93CD-C333D6F3AC24}"/>
                </a:ext>
              </a:extLst>
            </p:cNvPr>
            <p:cNvSpPr/>
            <p:nvPr/>
          </p:nvSpPr>
          <p:spPr>
            <a:xfrm>
              <a:off x="8946711" y="3931031"/>
              <a:ext cx="2241262" cy="2241263"/>
            </a:xfrm>
            <a:prstGeom prst="ellipse">
              <a:avLst/>
            </a:prstGeom>
            <a:solidFill>
              <a:srgbClr val="D0D7DF"/>
            </a:solidFill>
            <a:ln w="12700" cap="flat" cmpd="sng" algn="ctr">
              <a:noFill/>
              <a:prstDash val="solid"/>
              <a:miter lim="800000"/>
            </a:ln>
            <a:effectLst/>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10" normalizeH="0" baseline="0" noProof="0">
                <a:ln>
                  <a:noFill/>
                </a:ln>
                <a:solidFill>
                  <a:srgbClr val="1D1D1D"/>
                </a:solidFill>
                <a:effectLst/>
                <a:uLnTx/>
                <a:uFillTx/>
                <a:latin typeface="Arial" pitchFamily="34" charset="0"/>
                <a:ea typeface="+mn-ea"/>
                <a:cs typeface="+mn-cs"/>
              </a:endParaRPr>
            </a:p>
          </p:txBody>
        </p:sp>
        <p:pic>
          <p:nvPicPr>
            <p:cNvPr id="35" name="Graphic 62" descr="Arrow circle outline">
              <a:extLst>
                <a:ext uri="{FF2B5EF4-FFF2-40B4-BE49-F238E27FC236}">
                  <a16:creationId xmlns:a16="http://schemas.microsoft.com/office/drawing/2014/main" id="{4D8BCA81-5A7F-44E2-A7DD-F470ADAA8C75}"/>
                </a:ext>
              </a:extLst>
            </p:cNvPr>
            <p:cNvPicPr>
              <a:picLocks noChangeAspect="1"/>
            </p:cNvPicPr>
            <p:nvPr/>
          </p:nvPicPr>
          <p:blipFill>
            <a:blip r:embed="rId9">
              <a:biLevel thresh="75000"/>
              <a:extLst>
                <a:ext uri="{BEBA8EAE-BF5A-486C-A8C5-ECC9F3942E4B}">
                  <a14:imgProps xmlns:a14="http://schemas.microsoft.com/office/drawing/2010/main">
                    <a14:imgLayer r:embed="rId10">
                      <a14:imgEffect>
                        <a14:colorTemperature colorTemp="11200"/>
                      </a14:imgEffect>
                      <a14:imgEffect>
                        <a14:saturation sat="400000"/>
                      </a14:imgEffect>
                    </a14:imgLayer>
                  </a14:imgProps>
                </a:ext>
              </a:extLst>
            </a:blip>
            <a:stretch>
              <a:fillRect/>
            </a:stretch>
          </p:blipFill>
          <p:spPr>
            <a:xfrm rot="603602">
              <a:off x="8670569" y="3768147"/>
              <a:ext cx="2693200" cy="2693201"/>
            </a:xfrm>
            <a:prstGeom prst="rect">
              <a:avLst/>
            </a:prstGeom>
          </p:spPr>
        </p:pic>
        <p:pic>
          <p:nvPicPr>
            <p:cNvPr id="36" name="Picture 35">
              <a:extLst>
                <a:ext uri="{FF2B5EF4-FFF2-40B4-BE49-F238E27FC236}">
                  <a16:creationId xmlns:a16="http://schemas.microsoft.com/office/drawing/2014/main" id="{6F3D3DB1-FDDB-0427-5A7F-D078B6B6A21A}"/>
                </a:ext>
              </a:extLst>
            </p:cNvPr>
            <p:cNvPicPr>
              <a:picLocks noChangeAspect="1"/>
            </p:cNvPicPr>
            <p:nvPr/>
          </p:nvPicPr>
          <p:blipFill>
            <a:blip r:embed="rId11">
              <a:duotone>
                <a:srgbClr val="765FFF"/>
                <a:srgbClr val="FFFFFF"/>
              </a:duotone>
            </a:blip>
            <a:stretch>
              <a:fillRect/>
            </a:stretch>
          </p:blipFill>
          <p:spPr>
            <a:xfrm rot="17771388">
              <a:off x="9452750" y="3862896"/>
              <a:ext cx="126171" cy="126171"/>
            </a:xfrm>
            <a:prstGeom prst="rect">
              <a:avLst/>
            </a:prstGeom>
          </p:spPr>
        </p:pic>
        <p:pic>
          <p:nvPicPr>
            <p:cNvPr id="37" name="Picture 36">
              <a:extLst>
                <a:ext uri="{FF2B5EF4-FFF2-40B4-BE49-F238E27FC236}">
                  <a16:creationId xmlns:a16="http://schemas.microsoft.com/office/drawing/2014/main" id="{C6B1FB2E-9CBC-972B-2DA1-27BA4DC66C2D}"/>
                </a:ext>
              </a:extLst>
            </p:cNvPr>
            <p:cNvPicPr>
              <a:picLocks noChangeAspect="1"/>
            </p:cNvPicPr>
            <p:nvPr/>
          </p:nvPicPr>
          <p:blipFill>
            <a:blip r:embed="rId11">
              <a:duotone>
                <a:srgbClr val="765FFF"/>
                <a:srgbClr val="FFFFFF"/>
              </a:duotone>
            </a:blip>
            <a:stretch>
              <a:fillRect/>
            </a:stretch>
          </p:blipFill>
          <p:spPr>
            <a:xfrm rot="2247308">
              <a:off x="11250645" y="4777994"/>
              <a:ext cx="126171" cy="126171"/>
            </a:xfrm>
            <a:prstGeom prst="rect">
              <a:avLst/>
            </a:prstGeom>
          </p:spPr>
        </p:pic>
        <p:pic>
          <p:nvPicPr>
            <p:cNvPr id="38" name="Picture 37">
              <a:extLst>
                <a:ext uri="{FF2B5EF4-FFF2-40B4-BE49-F238E27FC236}">
                  <a16:creationId xmlns:a16="http://schemas.microsoft.com/office/drawing/2014/main" id="{525E1C32-9771-5543-BC93-97598F39B3D4}"/>
                </a:ext>
              </a:extLst>
            </p:cNvPr>
            <p:cNvPicPr>
              <a:picLocks noChangeAspect="1"/>
            </p:cNvPicPr>
            <p:nvPr/>
          </p:nvPicPr>
          <p:blipFill>
            <a:blip r:embed="rId11">
              <a:duotone>
                <a:srgbClr val="765FFF"/>
                <a:srgbClr val="FFFFFF"/>
              </a:duotone>
            </a:blip>
            <a:stretch>
              <a:fillRect/>
            </a:stretch>
          </p:blipFill>
          <p:spPr>
            <a:xfrm rot="5400000">
              <a:off x="10924104" y="5858114"/>
              <a:ext cx="126171" cy="126171"/>
            </a:xfrm>
            <a:prstGeom prst="rect">
              <a:avLst/>
            </a:prstGeom>
          </p:spPr>
        </p:pic>
        <p:pic>
          <p:nvPicPr>
            <p:cNvPr id="39" name="Picture 38">
              <a:extLst>
                <a:ext uri="{FF2B5EF4-FFF2-40B4-BE49-F238E27FC236}">
                  <a16:creationId xmlns:a16="http://schemas.microsoft.com/office/drawing/2014/main" id="{47495E33-F8AA-AD48-30E0-7CB029E4B46B}"/>
                </a:ext>
              </a:extLst>
            </p:cNvPr>
            <p:cNvPicPr>
              <a:picLocks noChangeAspect="1"/>
            </p:cNvPicPr>
            <p:nvPr/>
          </p:nvPicPr>
          <p:blipFill>
            <a:blip r:embed="rId11">
              <a:duotone>
                <a:srgbClr val="765FFF"/>
                <a:srgbClr val="FFFFFF"/>
              </a:duotone>
            </a:blip>
            <a:stretch>
              <a:fillRect/>
            </a:stretch>
          </p:blipFill>
          <p:spPr>
            <a:xfrm rot="8027948">
              <a:off x="10031755" y="6255136"/>
              <a:ext cx="126171" cy="126171"/>
            </a:xfrm>
            <a:prstGeom prst="rect">
              <a:avLst/>
            </a:prstGeom>
          </p:spPr>
        </p:pic>
        <p:pic>
          <p:nvPicPr>
            <p:cNvPr id="40" name="Picture 39">
              <a:extLst>
                <a:ext uri="{FF2B5EF4-FFF2-40B4-BE49-F238E27FC236}">
                  <a16:creationId xmlns:a16="http://schemas.microsoft.com/office/drawing/2014/main" id="{7F164726-A8A8-AFB7-AA86-4B73AD38BE86}"/>
                </a:ext>
              </a:extLst>
            </p:cNvPr>
            <p:cNvPicPr>
              <a:picLocks noChangeAspect="1"/>
            </p:cNvPicPr>
            <p:nvPr/>
          </p:nvPicPr>
          <p:blipFill>
            <a:blip r:embed="rId11">
              <a:duotone>
                <a:srgbClr val="765FFF"/>
                <a:srgbClr val="FFFFFF"/>
              </a:duotone>
            </a:blip>
            <a:stretch>
              <a:fillRect/>
            </a:stretch>
          </p:blipFill>
          <p:spPr>
            <a:xfrm rot="10800000">
              <a:off x="9203849" y="5967609"/>
              <a:ext cx="126171" cy="126171"/>
            </a:xfrm>
            <a:prstGeom prst="rect">
              <a:avLst/>
            </a:prstGeom>
          </p:spPr>
        </p:pic>
        <p:pic>
          <p:nvPicPr>
            <p:cNvPr id="41" name="Picture 40">
              <a:extLst>
                <a:ext uri="{FF2B5EF4-FFF2-40B4-BE49-F238E27FC236}">
                  <a16:creationId xmlns:a16="http://schemas.microsoft.com/office/drawing/2014/main" id="{F71433F6-073E-A182-A99C-3A9EA0351F24}"/>
                </a:ext>
              </a:extLst>
            </p:cNvPr>
            <p:cNvPicPr>
              <a:picLocks noChangeAspect="1"/>
            </p:cNvPicPr>
            <p:nvPr/>
          </p:nvPicPr>
          <p:blipFill>
            <a:blip r:embed="rId11">
              <a:duotone>
                <a:srgbClr val="765FFF"/>
                <a:srgbClr val="FFFFFF"/>
              </a:duotone>
            </a:blip>
            <a:stretch>
              <a:fillRect/>
            </a:stretch>
          </p:blipFill>
          <p:spPr>
            <a:xfrm rot="14113080">
              <a:off x="8771992" y="4777994"/>
              <a:ext cx="126171" cy="126171"/>
            </a:xfrm>
            <a:prstGeom prst="rect">
              <a:avLst/>
            </a:prstGeom>
          </p:spPr>
        </p:pic>
        <p:pic>
          <p:nvPicPr>
            <p:cNvPr id="42" name="Picture 41">
              <a:extLst>
                <a:ext uri="{FF2B5EF4-FFF2-40B4-BE49-F238E27FC236}">
                  <a16:creationId xmlns:a16="http://schemas.microsoft.com/office/drawing/2014/main" id="{408B7442-35B7-19E7-1E05-2A3AED206E82}"/>
                </a:ext>
              </a:extLst>
            </p:cNvPr>
            <p:cNvPicPr>
              <a:picLocks noChangeAspect="1"/>
            </p:cNvPicPr>
            <p:nvPr/>
          </p:nvPicPr>
          <p:blipFill>
            <a:blip r:embed="rId11">
              <a:duotone>
                <a:srgbClr val="765FFF"/>
                <a:srgbClr val="FFFFFF"/>
              </a:duotone>
            </a:blip>
            <a:stretch>
              <a:fillRect/>
            </a:stretch>
          </p:blipFill>
          <p:spPr>
            <a:xfrm rot="20365061">
              <a:off x="10420515" y="3808433"/>
              <a:ext cx="126171" cy="126171"/>
            </a:xfrm>
            <a:prstGeom prst="rect">
              <a:avLst/>
            </a:prstGeom>
          </p:spPr>
        </p:pic>
      </p:grpSp>
      <p:sp>
        <p:nvSpPr>
          <p:cNvPr id="43" name="Rounded Rectangle 42">
            <a:extLst>
              <a:ext uri="{FF2B5EF4-FFF2-40B4-BE49-F238E27FC236}">
                <a16:creationId xmlns:a16="http://schemas.microsoft.com/office/drawing/2014/main" id="{7B499A9D-C361-EF38-2F4B-7A2AC4875B9B}"/>
              </a:ext>
            </a:extLst>
          </p:cNvPr>
          <p:cNvSpPr/>
          <p:nvPr/>
        </p:nvSpPr>
        <p:spPr>
          <a:xfrm>
            <a:off x="6851768" y="2066834"/>
            <a:ext cx="824032" cy="21620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spc="-10">
                <a:solidFill>
                  <a:srgbClr val="1D1D1D"/>
                </a:solidFill>
                <a:latin typeface="Arial" pitchFamily="34" charset="0"/>
                <a:ea typeface="Helvetica Neue" panose="02000503000000020004" pitchFamily="2" charset="0"/>
                <a:cs typeface="Helvetica Neue" panose="02000503000000020004" pitchFamily="2" charset="0"/>
              </a:rPr>
              <a:t>Manufacturing </a:t>
            </a:r>
          </a:p>
        </p:txBody>
      </p:sp>
      <p:sp>
        <p:nvSpPr>
          <p:cNvPr id="44" name="Rounded Rectangle 43">
            <a:extLst>
              <a:ext uri="{FF2B5EF4-FFF2-40B4-BE49-F238E27FC236}">
                <a16:creationId xmlns:a16="http://schemas.microsoft.com/office/drawing/2014/main" id="{5D061B4F-EAEB-E379-82F7-AE79F47C9536}"/>
              </a:ext>
            </a:extLst>
          </p:cNvPr>
          <p:cNvSpPr/>
          <p:nvPr/>
        </p:nvSpPr>
        <p:spPr>
          <a:xfrm>
            <a:off x="7723682" y="2060764"/>
            <a:ext cx="824032" cy="21620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spc="-10">
                <a:solidFill>
                  <a:srgbClr val="1D1D1D"/>
                </a:solidFill>
                <a:latin typeface="Arial" pitchFamily="34" charset="0"/>
                <a:ea typeface="Helvetica Neue" panose="02000503000000020004" pitchFamily="2" charset="0"/>
                <a:cs typeface="Helvetica Neue" panose="02000503000000020004" pitchFamily="2" charset="0"/>
              </a:rPr>
              <a:t>Quality</a:t>
            </a:r>
          </a:p>
        </p:txBody>
      </p:sp>
      <p:sp>
        <p:nvSpPr>
          <p:cNvPr id="45" name="Rounded Rectangle 44">
            <a:extLst>
              <a:ext uri="{FF2B5EF4-FFF2-40B4-BE49-F238E27FC236}">
                <a16:creationId xmlns:a16="http://schemas.microsoft.com/office/drawing/2014/main" id="{A4AE4B19-EA81-FE2D-E451-35EDF3DFF137}"/>
              </a:ext>
            </a:extLst>
          </p:cNvPr>
          <p:cNvSpPr/>
          <p:nvPr/>
        </p:nvSpPr>
        <p:spPr>
          <a:xfrm>
            <a:off x="8595596" y="2059436"/>
            <a:ext cx="824032" cy="21620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spc="-10">
                <a:solidFill>
                  <a:srgbClr val="1D1D1D"/>
                </a:solidFill>
                <a:latin typeface="Arial" pitchFamily="34" charset="0"/>
                <a:ea typeface="Helvetica Neue" panose="02000503000000020004" pitchFamily="2" charset="0"/>
                <a:cs typeface="Helvetica Neue" panose="02000503000000020004" pitchFamily="2" charset="0"/>
              </a:rPr>
              <a:t>Supply</a:t>
            </a:r>
          </a:p>
        </p:txBody>
      </p:sp>
      <p:sp>
        <p:nvSpPr>
          <p:cNvPr id="46" name="Rounded Rectangle 45">
            <a:extLst>
              <a:ext uri="{FF2B5EF4-FFF2-40B4-BE49-F238E27FC236}">
                <a16:creationId xmlns:a16="http://schemas.microsoft.com/office/drawing/2014/main" id="{61E586FF-5BE6-ED91-402F-3D291CDBABA6}"/>
              </a:ext>
            </a:extLst>
          </p:cNvPr>
          <p:cNvSpPr/>
          <p:nvPr/>
        </p:nvSpPr>
        <p:spPr>
          <a:xfrm>
            <a:off x="9467510" y="2054612"/>
            <a:ext cx="824032" cy="21620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spc="-10">
                <a:solidFill>
                  <a:srgbClr val="1D1D1D"/>
                </a:solidFill>
                <a:latin typeface="Arial" pitchFamily="34" charset="0"/>
                <a:ea typeface="Helvetica Neue" panose="02000503000000020004" pitchFamily="2" charset="0"/>
                <a:cs typeface="Helvetica Neue" panose="02000503000000020004" pitchFamily="2" charset="0"/>
              </a:rPr>
              <a:t>Digital</a:t>
            </a:r>
          </a:p>
        </p:txBody>
      </p:sp>
      <p:sp>
        <p:nvSpPr>
          <p:cNvPr id="47" name="Rounded Rectangle 46">
            <a:extLst>
              <a:ext uri="{FF2B5EF4-FFF2-40B4-BE49-F238E27FC236}">
                <a16:creationId xmlns:a16="http://schemas.microsoft.com/office/drawing/2014/main" id="{270A304E-62F4-ED8E-1477-BD43CE5ED4E6}"/>
              </a:ext>
            </a:extLst>
          </p:cNvPr>
          <p:cNvSpPr/>
          <p:nvPr/>
        </p:nvSpPr>
        <p:spPr>
          <a:xfrm>
            <a:off x="10353643" y="2054612"/>
            <a:ext cx="824032" cy="216207"/>
          </a:xfrm>
          <a:prstGeom prst="roundRect">
            <a:avLst/>
          </a:prstGeom>
          <a:no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spc="-10">
                <a:solidFill>
                  <a:srgbClr val="1D1D1D"/>
                </a:solidFill>
                <a:latin typeface="Arial" pitchFamily="34" charset="0"/>
                <a:ea typeface="Helvetica Neue" panose="02000503000000020004" pitchFamily="2" charset="0"/>
                <a:cs typeface="Helvetica Neue" panose="02000503000000020004" pitchFamily="2" charset="0"/>
              </a:rPr>
              <a:t>Finance, HR, IT</a:t>
            </a:r>
          </a:p>
        </p:txBody>
      </p:sp>
      <p:pic>
        <p:nvPicPr>
          <p:cNvPr id="48" name="Graphic 21540" descr="Bank outline">
            <a:extLst>
              <a:ext uri="{FF2B5EF4-FFF2-40B4-BE49-F238E27FC236}">
                <a16:creationId xmlns:a16="http://schemas.microsoft.com/office/drawing/2014/main" id="{30A65ED3-96BB-6187-24C5-C5B2E85B3755}"/>
              </a:ext>
            </a:extLst>
          </p:cNvPr>
          <p:cNvPicPr>
            <a:picLocks noChangeAspect="1"/>
          </p:cNvPicPr>
          <p:nvPr/>
        </p:nvPicPr>
        <p:blipFill>
          <a:blip r:embed="rId5">
            <a:duotone>
              <a:srgbClr val="765FFF"/>
              <a:srgbClr val="FFFFFF"/>
            </a:duotone>
          </a:blip>
          <a:stretch>
            <a:fillRect/>
          </a:stretch>
        </p:blipFill>
        <p:spPr>
          <a:xfrm>
            <a:off x="10419228" y="5227460"/>
            <a:ext cx="790111" cy="790111"/>
          </a:xfrm>
          <a:prstGeom prst="rect">
            <a:avLst/>
          </a:prstGeom>
        </p:spPr>
      </p:pic>
      <p:pic>
        <p:nvPicPr>
          <p:cNvPr id="49" name="Graphic 21541" descr="Share with solid fill">
            <a:extLst>
              <a:ext uri="{FF2B5EF4-FFF2-40B4-BE49-F238E27FC236}">
                <a16:creationId xmlns:a16="http://schemas.microsoft.com/office/drawing/2014/main" id="{1B33DC0A-5E6D-294A-4FB5-91A86CCECEDB}"/>
              </a:ext>
            </a:extLst>
          </p:cNvPr>
          <p:cNvPicPr>
            <a:picLocks noChangeAspect="1"/>
          </p:cNvPicPr>
          <p:nvPr/>
        </p:nvPicPr>
        <p:blipFill>
          <a:blip r:embed="rId6">
            <a:duotone>
              <a:srgbClr val="765FFF"/>
              <a:srgbClr val="FFFFFF"/>
            </a:duotone>
          </a:blip>
          <a:stretch>
            <a:fillRect/>
          </a:stretch>
        </p:blipFill>
        <p:spPr>
          <a:xfrm>
            <a:off x="10369320" y="2820859"/>
            <a:ext cx="779250" cy="779250"/>
          </a:xfrm>
          <a:prstGeom prst="rect">
            <a:avLst/>
          </a:prstGeom>
        </p:spPr>
      </p:pic>
      <p:pic>
        <p:nvPicPr>
          <p:cNvPr id="50" name="Graphic 21542" descr="Medical with solid fill">
            <a:extLst>
              <a:ext uri="{FF2B5EF4-FFF2-40B4-BE49-F238E27FC236}">
                <a16:creationId xmlns:a16="http://schemas.microsoft.com/office/drawing/2014/main" id="{96CAA781-4BE0-0BD9-2770-6F0934980517}"/>
              </a:ext>
            </a:extLst>
          </p:cNvPr>
          <p:cNvPicPr>
            <a:picLocks noChangeAspect="1"/>
          </p:cNvPicPr>
          <p:nvPr/>
        </p:nvPicPr>
        <p:blipFill>
          <a:blip r:embed="rId7">
            <a:duotone>
              <a:srgbClr val="765FFF"/>
              <a:srgbClr val="FFFFFF"/>
            </a:duotone>
          </a:blip>
          <a:stretch>
            <a:fillRect/>
          </a:stretch>
        </p:blipFill>
        <p:spPr>
          <a:xfrm>
            <a:off x="6826152" y="3748212"/>
            <a:ext cx="744576" cy="744576"/>
          </a:xfrm>
          <a:prstGeom prst="rect">
            <a:avLst/>
          </a:prstGeom>
        </p:spPr>
      </p:pic>
      <p:pic>
        <p:nvPicPr>
          <p:cNvPr id="51" name="Graphic 21543" descr="Europe with solid fill">
            <a:extLst>
              <a:ext uri="{FF2B5EF4-FFF2-40B4-BE49-F238E27FC236}">
                <a16:creationId xmlns:a16="http://schemas.microsoft.com/office/drawing/2014/main" id="{D2AD4710-B695-C211-0ED6-4A119B376977}"/>
              </a:ext>
            </a:extLst>
          </p:cNvPr>
          <p:cNvPicPr>
            <a:picLocks noChangeAspect="1"/>
          </p:cNvPicPr>
          <p:nvPr/>
        </p:nvPicPr>
        <p:blipFill>
          <a:blip r:embed="rId2">
            <a:duotone>
              <a:srgbClr val="765FFF"/>
              <a:srgbClr val="FFFFFF"/>
            </a:duotone>
          </a:blip>
          <a:stretch>
            <a:fillRect/>
          </a:stretch>
        </p:blipFill>
        <p:spPr>
          <a:xfrm>
            <a:off x="8917428" y="4274701"/>
            <a:ext cx="652731" cy="652731"/>
          </a:xfrm>
          <a:prstGeom prst="rect">
            <a:avLst/>
          </a:prstGeom>
        </p:spPr>
      </p:pic>
      <p:pic>
        <p:nvPicPr>
          <p:cNvPr id="52" name="Graphic 21544" descr="Australia with solid fill">
            <a:extLst>
              <a:ext uri="{FF2B5EF4-FFF2-40B4-BE49-F238E27FC236}">
                <a16:creationId xmlns:a16="http://schemas.microsoft.com/office/drawing/2014/main" id="{B9B3CF25-E2B4-2C5D-B024-4816863C0066}"/>
              </a:ext>
            </a:extLst>
          </p:cNvPr>
          <p:cNvPicPr>
            <a:picLocks noChangeAspect="1"/>
          </p:cNvPicPr>
          <p:nvPr/>
        </p:nvPicPr>
        <p:blipFill>
          <a:blip r:embed="rId3">
            <a:duotone>
              <a:srgbClr val="765FFF"/>
              <a:srgbClr val="FFFFFF"/>
            </a:duotone>
          </a:blip>
          <a:stretch>
            <a:fillRect/>
          </a:stretch>
        </p:blipFill>
        <p:spPr>
          <a:xfrm>
            <a:off x="9043295" y="3695262"/>
            <a:ext cx="652731" cy="652731"/>
          </a:xfrm>
          <a:prstGeom prst="rect">
            <a:avLst/>
          </a:prstGeom>
        </p:spPr>
      </p:pic>
      <p:pic>
        <p:nvPicPr>
          <p:cNvPr id="53" name="Graphic 21545" descr="South America with solid fill">
            <a:extLst>
              <a:ext uri="{FF2B5EF4-FFF2-40B4-BE49-F238E27FC236}">
                <a16:creationId xmlns:a16="http://schemas.microsoft.com/office/drawing/2014/main" id="{A900B797-B33E-966A-71EA-3C279AAF0C97}"/>
              </a:ext>
            </a:extLst>
          </p:cNvPr>
          <p:cNvPicPr>
            <a:picLocks noChangeAspect="1"/>
          </p:cNvPicPr>
          <p:nvPr/>
        </p:nvPicPr>
        <p:blipFill>
          <a:blip r:embed="rId4">
            <a:duotone>
              <a:srgbClr val="765FFF"/>
              <a:srgbClr val="FFFFFF"/>
            </a:duotone>
          </a:blip>
          <a:stretch>
            <a:fillRect/>
          </a:stretch>
        </p:blipFill>
        <p:spPr>
          <a:xfrm>
            <a:off x="8361686" y="3920494"/>
            <a:ext cx="652731" cy="652731"/>
          </a:xfrm>
          <a:prstGeom prst="rect">
            <a:avLst/>
          </a:prstGeom>
        </p:spPr>
      </p:pic>
      <p:cxnSp>
        <p:nvCxnSpPr>
          <p:cNvPr id="54" name="Straight Connector 53">
            <a:extLst>
              <a:ext uri="{FF2B5EF4-FFF2-40B4-BE49-F238E27FC236}">
                <a16:creationId xmlns:a16="http://schemas.microsoft.com/office/drawing/2014/main" id="{BBCEFC28-6657-D230-34E1-05B786436956}"/>
              </a:ext>
            </a:extLst>
          </p:cNvPr>
          <p:cNvCxnSpPr>
            <a:cxnSpLocks/>
          </p:cNvCxnSpPr>
          <p:nvPr/>
        </p:nvCxnSpPr>
        <p:spPr>
          <a:xfrm flipV="1">
            <a:off x="5981367" y="1264084"/>
            <a:ext cx="0" cy="5173606"/>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EFEC55D-1826-8D69-8B94-172CA43B526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139734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3FA1-BA1D-9A45-A963-37335349272B}"/>
              </a:ext>
            </a:extLst>
          </p:cNvPr>
          <p:cNvSpPr>
            <a:spLocks noGrp="1"/>
          </p:cNvSpPr>
          <p:nvPr>
            <p:ph type="title"/>
          </p:nvPr>
        </p:nvSpPr>
        <p:spPr/>
        <p:txBody>
          <a:bodyPr/>
          <a:lstStyle/>
          <a:p>
            <a:r>
              <a:rPr lang="en-US" dirty="0"/>
              <a:t>Organize to Value</a:t>
            </a:r>
          </a:p>
        </p:txBody>
      </p:sp>
      <p:sp>
        <p:nvSpPr>
          <p:cNvPr id="3" name="Text Placeholder 2">
            <a:extLst>
              <a:ext uri="{FF2B5EF4-FFF2-40B4-BE49-F238E27FC236}">
                <a16:creationId xmlns:a16="http://schemas.microsoft.com/office/drawing/2014/main" id="{54243DB4-93F7-167C-9D32-5F48124A91AC}"/>
              </a:ext>
            </a:extLst>
          </p:cNvPr>
          <p:cNvSpPr>
            <a:spLocks noGrp="1"/>
          </p:cNvSpPr>
          <p:nvPr>
            <p:ph type="body" sz="quarter" idx="12"/>
          </p:nvPr>
        </p:nvSpPr>
        <p:spPr/>
        <p:txBody>
          <a:bodyPr/>
          <a:lstStyle/>
          <a:p>
            <a:r>
              <a:rPr lang="en-US" dirty="0"/>
              <a:t>Example Activation</a:t>
            </a:r>
          </a:p>
          <a:p>
            <a:endParaRPr lang="en-US" dirty="0"/>
          </a:p>
        </p:txBody>
      </p:sp>
      <p:sp>
        <p:nvSpPr>
          <p:cNvPr id="4" name="Slide Number Placeholder 3">
            <a:extLst>
              <a:ext uri="{FF2B5EF4-FFF2-40B4-BE49-F238E27FC236}">
                <a16:creationId xmlns:a16="http://schemas.microsoft.com/office/drawing/2014/main" id="{196C080D-A9FC-7D90-D4E2-8D9D18B87B6D}"/>
              </a:ext>
            </a:extLst>
          </p:cNvPr>
          <p:cNvSpPr>
            <a:spLocks noGrp="1"/>
          </p:cNvSpPr>
          <p:nvPr>
            <p:ph type="sldNum" sz="quarter" idx="4"/>
          </p:nvPr>
        </p:nvSpPr>
        <p:spPr/>
        <p:txBody>
          <a:bodyPr/>
          <a:lstStyle/>
          <a:p>
            <a:pPr algn="ctr"/>
            <a:fld id="{7DA59B58-B945-4B36-BC6B-9C26C933A008}" type="slidenum">
              <a:rPr lang="en-US" smtClean="0"/>
              <a:t>40</a:t>
            </a:fld>
            <a:endParaRPr lang="en-US"/>
          </a:p>
        </p:txBody>
      </p:sp>
      <p:sp>
        <p:nvSpPr>
          <p:cNvPr id="6" name="Rectangle: Rounded Corners 5">
            <a:extLst>
              <a:ext uri="{FF2B5EF4-FFF2-40B4-BE49-F238E27FC236}">
                <a16:creationId xmlns:a16="http://schemas.microsoft.com/office/drawing/2014/main" id="{699BCC0E-059D-7923-C6F6-EDC4B1413AE5}"/>
              </a:ext>
            </a:extLst>
          </p:cNvPr>
          <p:cNvSpPr/>
          <p:nvPr/>
        </p:nvSpPr>
        <p:spPr>
          <a:xfrm>
            <a:off x="1023700" y="1260069"/>
            <a:ext cx="2296518" cy="456878"/>
          </a:xfrm>
          <a:prstGeom prst="roundRect">
            <a:avLst/>
          </a:prstGeom>
          <a:solidFill>
            <a:srgbClr val="FFF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25">
                <a:solidFill>
                  <a:srgbClr val="765FFF"/>
                </a:solidFill>
                <a:latin typeface="Segoe UI" pitchFamily="34" charset="0"/>
                <a:ea typeface="Helvetica Neue" panose="02000503000000020004" pitchFamily="2" charset="0"/>
                <a:cs typeface="Helvetica Neue" panose="02000503000000020004" pitchFamily="2" charset="0"/>
              </a:rPr>
              <a:t>Key Function Top-level Structure &amp; JTBDs</a:t>
            </a:r>
            <a:endParaRPr lang="LID4096" sz="1200" b="1" spc="-25">
              <a:solidFill>
                <a:srgbClr val="765FFF"/>
              </a:solidFill>
              <a:latin typeface="Segoe UI" pitchFamily="34" charset="0"/>
              <a:ea typeface="Helvetica Neue" panose="02000503000000020004" pitchFamily="2" charset="0"/>
              <a:cs typeface="Helvetica Neue" panose="02000503000000020004" pitchFamily="2" charset="0"/>
            </a:endParaRPr>
          </a:p>
        </p:txBody>
      </p:sp>
      <p:sp>
        <p:nvSpPr>
          <p:cNvPr id="7" name="Rectangle: Rounded Corners 6">
            <a:extLst>
              <a:ext uri="{FF2B5EF4-FFF2-40B4-BE49-F238E27FC236}">
                <a16:creationId xmlns:a16="http://schemas.microsoft.com/office/drawing/2014/main" id="{EA65CE10-1F68-8CFE-F5F7-B30C8F637CE8}"/>
              </a:ext>
            </a:extLst>
          </p:cNvPr>
          <p:cNvSpPr/>
          <p:nvPr/>
        </p:nvSpPr>
        <p:spPr>
          <a:xfrm>
            <a:off x="4548445" y="1260069"/>
            <a:ext cx="2743200" cy="456879"/>
          </a:xfrm>
          <a:prstGeom prst="roundRect">
            <a:avLst/>
          </a:prstGeom>
          <a:solidFill>
            <a:srgbClr val="FFF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25" dirty="0">
                <a:solidFill>
                  <a:srgbClr val="765FFF"/>
                </a:solidFill>
                <a:latin typeface="Segoe UI" pitchFamily="34" charset="0"/>
                <a:ea typeface="Helvetica Neue" panose="02000503000000020004" pitchFamily="2" charset="0"/>
                <a:cs typeface="Helvetica Neue" panose="02000503000000020004" pitchFamily="2" charset="0"/>
              </a:rPr>
              <a:t>Decision Rights @ Critical Interfaces</a:t>
            </a:r>
            <a:endParaRPr lang="LID4096" sz="1200" b="1" spc="-25">
              <a:solidFill>
                <a:srgbClr val="765FFF"/>
              </a:solidFill>
              <a:latin typeface="Segoe UI" pitchFamily="34" charset="0"/>
              <a:ea typeface="Helvetica Neue" panose="02000503000000020004" pitchFamily="2" charset="0"/>
              <a:cs typeface="Helvetica Neue" panose="02000503000000020004" pitchFamily="2" charset="0"/>
            </a:endParaRPr>
          </a:p>
        </p:txBody>
      </p:sp>
      <p:sp>
        <p:nvSpPr>
          <p:cNvPr id="8" name="Rectangle: Rounded Corners 7">
            <a:extLst>
              <a:ext uri="{FF2B5EF4-FFF2-40B4-BE49-F238E27FC236}">
                <a16:creationId xmlns:a16="http://schemas.microsoft.com/office/drawing/2014/main" id="{BBD4283C-137B-2A56-DCE5-2C39C84203C2}"/>
              </a:ext>
            </a:extLst>
          </p:cNvPr>
          <p:cNvSpPr/>
          <p:nvPr/>
        </p:nvSpPr>
        <p:spPr>
          <a:xfrm>
            <a:off x="8502032" y="1290994"/>
            <a:ext cx="2743200" cy="425953"/>
          </a:xfrm>
          <a:prstGeom prst="roundRect">
            <a:avLst/>
          </a:prstGeom>
          <a:solidFill>
            <a:srgbClr val="FFF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25">
                <a:solidFill>
                  <a:srgbClr val="765FFF"/>
                </a:solidFill>
                <a:latin typeface="Segoe UI" pitchFamily="34" charset="0"/>
                <a:ea typeface="Helvetica Neue" panose="02000503000000020004" pitchFamily="2" charset="0"/>
                <a:cs typeface="Helvetica Neue" panose="02000503000000020004" pitchFamily="2" charset="0"/>
              </a:rPr>
              <a:t>Specific Governance Forums with Clear Remit</a:t>
            </a:r>
            <a:endParaRPr lang="LID4096" sz="1200" b="1" spc="-25">
              <a:solidFill>
                <a:srgbClr val="765FFF"/>
              </a:solidFill>
              <a:latin typeface="Segoe UI" pitchFamily="34" charset="0"/>
              <a:ea typeface="Helvetica Neue" panose="02000503000000020004" pitchFamily="2" charset="0"/>
              <a:cs typeface="Helvetica Neue" panose="02000503000000020004" pitchFamily="2" charset="0"/>
            </a:endParaRPr>
          </a:p>
        </p:txBody>
      </p:sp>
      <p:sp>
        <p:nvSpPr>
          <p:cNvPr id="9" name="Rectangle: Rounded Corners 8">
            <a:extLst>
              <a:ext uri="{FF2B5EF4-FFF2-40B4-BE49-F238E27FC236}">
                <a16:creationId xmlns:a16="http://schemas.microsoft.com/office/drawing/2014/main" id="{CC8910D1-4441-DBA3-D53C-3CF195B49E7B}"/>
              </a:ext>
            </a:extLst>
          </p:cNvPr>
          <p:cNvSpPr/>
          <p:nvPr/>
        </p:nvSpPr>
        <p:spPr>
          <a:xfrm>
            <a:off x="1985188" y="3638839"/>
            <a:ext cx="2743200" cy="456878"/>
          </a:xfrm>
          <a:prstGeom prst="roundRect">
            <a:avLst/>
          </a:prstGeom>
          <a:solidFill>
            <a:srgbClr val="FFF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10" dirty="0">
                <a:solidFill>
                  <a:srgbClr val="765FFF"/>
                </a:solidFill>
                <a:latin typeface="Segoe UI" pitchFamily="34" charset="0"/>
                <a:ea typeface="Helvetica Neue" panose="02000503000000020004" pitchFamily="2" charset="0"/>
                <a:cs typeface="Helvetica Neue" panose="02000503000000020004" pitchFamily="2" charset="0"/>
              </a:rPr>
              <a:t>Critical Roles &amp; key capabilities to win</a:t>
            </a:r>
            <a:endParaRPr lang="LID4096" sz="1200" b="1" spc="-10">
              <a:solidFill>
                <a:srgbClr val="765FFF"/>
              </a:solidFill>
              <a:latin typeface="Segoe UI" pitchFamily="34" charset="0"/>
              <a:ea typeface="Helvetica Neue" panose="02000503000000020004" pitchFamily="2" charset="0"/>
              <a:cs typeface="Helvetica Neue" panose="02000503000000020004" pitchFamily="2" charset="0"/>
            </a:endParaRPr>
          </a:p>
        </p:txBody>
      </p:sp>
      <p:sp>
        <p:nvSpPr>
          <p:cNvPr id="10" name="Rectangle: Rounded Corners 13">
            <a:extLst>
              <a:ext uri="{FF2B5EF4-FFF2-40B4-BE49-F238E27FC236}">
                <a16:creationId xmlns:a16="http://schemas.microsoft.com/office/drawing/2014/main" id="{18B0A653-8895-B12E-F641-218F6464CA8C}"/>
              </a:ext>
            </a:extLst>
          </p:cNvPr>
          <p:cNvSpPr/>
          <p:nvPr/>
        </p:nvSpPr>
        <p:spPr>
          <a:xfrm>
            <a:off x="6719779" y="3638839"/>
            <a:ext cx="2743200" cy="456878"/>
          </a:xfrm>
          <a:prstGeom prst="roundRect">
            <a:avLst/>
          </a:prstGeom>
          <a:solidFill>
            <a:srgbClr val="FFFFFF"/>
          </a:solidFill>
          <a:ln>
            <a:solidFill>
              <a:srgbClr val="765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10">
                <a:solidFill>
                  <a:srgbClr val="765FFF"/>
                </a:solidFill>
                <a:latin typeface="Segoe UI" pitchFamily="34" charset="0"/>
                <a:ea typeface="Helvetica Neue" panose="02000503000000020004" pitchFamily="2" charset="0"/>
                <a:cs typeface="Helvetica Neue" panose="02000503000000020004" pitchFamily="2" charset="0"/>
              </a:rPr>
              <a:t>Sequenced Mobilization Plan &amp; Leader checklist</a:t>
            </a:r>
            <a:endParaRPr lang="LID4096" sz="1200" b="1" spc="-10">
              <a:solidFill>
                <a:srgbClr val="765FFF"/>
              </a:solidFill>
              <a:latin typeface="Segoe UI" pitchFamily="34" charset="0"/>
              <a:ea typeface="Helvetica Neue" panose="02000503000000020004" pitchFamily="2" charset="0"/>
              <a:cs typeface="Helvetica Neue" panose="02000503000000020004" pitchFamily="2" charset="0"/>
            </a:endParaRPr>
          </a:p>
        </p:txBody>
      </p:sp>
      <p:graphicFrame>
        <p:nvGraphicFramePr>
          <p:cNvPr id="11" name="Diagram 10">
            <a:extLst>
              <a:ext uri="{FF2B5EF4-FFF2-40B4-BE49-F238E27FC236}">
                <a16:creationId xmlns:a16="http://schemas.microsoft.com/office/drawing/2014/main" id="{0B84780B-8D32-78ED-704D-AB8157B8ABFD}"/>
              </a:ext>
            </a:extLst>
          </p:cNvPr>
          <p:cNvGraphicFramePr/>
          <p:nvPr>
            <p:extLst>
              <p:ext uri="{D42A27DB-BD31-4B8C-83A1-F6EECF244321}">
                <p14:modId xmlns:p14="http://schemas.microsoft.com/office/powerpoint/2010/main" val="3989377193"/>
              </p:ext>
            </p:extLst>
          </p:nvPr>
        </p:nvGraphicFramePr>
        <p:xfrm>
          <a:off x="822498" y="1147603"/>
          <a:ext cx="2743200" cy="1907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Table 11">
            <a:extLst>
              <a:ext uri="{FF2B5EF4-FFF2-40B4-BE49-F238E27FC236}">
                <a16:creationId xmlns:a16="http://schemas.microsoft.com/office/drawing/2014/main" id="{0FDE6B8A-F65F-2B19-7A71-95E9F344E01B}"/>
              </a:ext>
            </a:extLst>
          </p:cNvPr>
          <p:cNvGraphicFramePr>
            <a:graphicFrameLocks noGrp="1"/>
          </p:cNvGraphicFramePr>
          <p:nvPr>
            <p:extLst>
              <p:ext uri="{D42A27DB-BD31-4B8C-83A1-F6EECF244321}">
                <p14:modId xmlns:p14="http://schemas.microsoft.com/office/powerpoint/2010/main" val="2317163002"/>
              </p:ext>
            </p:extLst>
          </p:nvPr>
        </p:nvGraphicFramePr>
        <p:xfrm>
          <a:off x="4062713" y="1993782"/>
          <a:ext cx="3855755" cy="838200"/>
        </p:xfrm>
        <a:graphic>
          <a:graphicData uri="http://schemas.openxmlformats.org/drawingml/2006/table">
            <a:tbl>
              <a:tblPr firstRow="1" bandRow="1">
                <a:tableStyleId>{69012ECD-51FC-41F1-AA8D-1B2483CD663E}</a:tableStyleId>
              </a:tblPr>
              <a:tblGrid>
                <a:gridCol w="1400409">
                  <a:extLst>
                    <a:ext uri="{9D8B030D-6E8A-4147-A177-3AD203B41FA5}">
                      <a16:colId xmlns:a16="http://schemas.microsoft.com/office/drawing/2014/main" val="3236694442"/>
                    </a:ext>
                  </a:extLst>
                </a:gridCol>
                <a:gridCol w="837629">
                  <a:extLst>
                    <a:ext uri="{9D8B030D-6E8A-4147-A177-3AD203B41FA5}">
                      <a16:colId xmlns:a16="http://schemas.microsoft.com/office/drawing/2014/main" val="4267338099"/>
                    </a:ext>
                  </a:extLst>
                </a:gridCol>
                <a:gridCol w="1617717">
                  <a:extLst>
                    <a:ext uri="{9D8B030D-6E8A-4147-A177-3AD203B41FA5}">
                      <a16:colId xmlns:a16="http://schemas.microsoft.com/office/drawing/2014/main" val="2168576624"/>
                    </a:ext>
                  </a:extLst>
                </a:gridCol>
              </a:tblGrid>
              <a:tr h="0">
                <a:tc>
                  <a:txBody>
                    <a:bodyPr/>
                    <a:lstStyle/>
                    <a:p>
                      <a:pPr algn="ctr"/>
                      <a:r>
                        <a:rPr lang="en-US" sz="900" b="1" kern="1200" dirty="0">
                          <a:solidFill>
                            <a:srgbClr val="FFFFFF"/>
                          </a:solidFill>
                        </a:rPr>
                        <a:t>Owned by Regions</a:t>
                      </a:r>
                      <a:endParaRPr lang="en-US" sz="900" b="1" kern="1200" dirty="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tc>
                  <a:txBody>
                    <a:bodyPr/>
                    <a:lstStyle/>
                    <a:p>
                      <a:pPr algn="ctr"/>
                      <a:r>
                        <a:rPr lang="en-US" sz="900" b="1" kern="1200" dirty="0">
                          <a:solidFill>
                            <a:srgbClr val="FFFFFF"/>
                          </a:solidFill>
                        </a:rPr>
                        <a:t>Shared</a:t>
                      </a:r>
                      <a:r>
                        <a:rPr lang="en-US" sz="900" b="1" kern="1200" baseline="30000" dirty="0">
                          <a:solidFill>
                            <a:srgbClr val="FFFFFF"/>
                          </a:solidFill>
                        </a:rPr>
                        <a:t>1</a:t>
                      </a:r>
                      <a:endParaRPr lang="en-US" sz="900" b="1" kern="1200" baseline="30000" dirty="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tc>
                  <a:txBody>
                    <a:bodyPr/>
                    <a:lstStyle/>
                    <a:p>
                      <a:pPr algn="ctr"/>
                      <a:r>
                        <a:rPr lang="en-US" sz="900" b="1" kern="1200" dirty="0">
                          <a:solidFill>
                            <a:srgbClr val="FFFFFF"/>
                          </a:solidFill>
                        </a:rPr>
                        <a:t>Owned by Manufacturing</a:t>
                      </a:r>
                      <a:endParaRPr lang="en-US" sz="900" b="1" kern="1200" dirty="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extLst>
                  <a:ext uri="{0D108BD9-81ED-4DB2-BD59-A6C34878D82A}">
                    <a16:rowId xmlns:a16="http://schemas.microsoft.com/office/drawing/2014/main" val="965934565"/>
                  </a:ext>
                </a:extLst>
              </a:tr>
              <a:tr h="421191">
                <a:tc>
                  <a:txBody>
                    <a:bodyPr/>
                    <a:lstStyle/>
                    <a:p>
                      <a:r>
                        <a:rPr lang="en-US" sz="800" b="0"/>
                        <a:t>Forecast accuracy </a:t>
                      </a:r>
                      <a:endParaRPr lang="en-US" sz="800" b="0">
                        <a:latin typeface="Arial" pitchFamily="34" charset="0"/>
                        <a:ea typeface="Helvetica Neue" panose="02000503000000020004" pitchFamily="2" charset="0"/>
                        <a:cs typeface="Helvetica Neue" panose="02000503000000020004" pitchFamily="2" charset="0"/>
                      </a:endParaRPr>
                    </a:p>
                  </a:txBody>
                  <a:tcPr marL="121920" marR="121920" marT="60960" marB="60960" anchor="ctr"/>
                </a:tc>
                <a:tc>
                  <a:txBody>
                    <a:bodyPr/>
                    <a:lstStyle/>
                    <a:p>
                      <a:r>
                        <a:rPr lang="en-US" sz="800" b="0"/>
                        <a:t>Product Fulfillment, Inventory costs  </a:t>
                      </a:r>
                      <a:endParaRPr lang="en-US" sz="800" b="0">
                        <a:latin typeface="Arial" pitchFamily="34" charset="0"/>
                        <a:ea typeface="Helvetica Neue" panose="02000503000000020004" pitchFamily="2" charset="0"/>
                        <a:cs typeface="Helvetica Neue" panose="02000503000000020004" pitchFamily="2" charset="0"/>
                      </a:endParaRPr>
                    </a:p>
                  </a:txBody>
                  <a:tcPr marL="121920" marR="121920" marT="60960" marB="60960" anchor="ctr"/>
                </a:tc>
                <a:tc>
                  <a:txBody>
                    <a:bodyPr/>
                    <a:lstStyle/>
                    <a:p>
                      <a:r>
                        <a:rPr lang="en-US" sz="800" b="0" dirty="0"/>
                        <a:t>Manufacturing Cost</a:t>
                      </a:r>
                      <a:endParaRPr lang="en-US" sz="800" b="0" dirty="0">
                        <a:latin typeface="Arial" pitchFamily="34" charset="0"/>
                        <a:ea typeface="Helvetica Neue" panose="02000503000000020004" pitchFamily="2" charset="0"/>
                        <a:cs typeface="Helvetica Neue" panose="02000503000000020004" pitchFamily="2" charset="0"/>
                      </a:endParaRPr>
                    </a:p>
                  </a:txBody>
                  <a:tcPr marL="121920" marR="121920" marT="60960" marB="60960" anchor="ctr"/>
                </a:tc>
                <a:extLst>
                  <a:ext uri="{0D108BD9-81ED-4DB2-BD59-A6C34878D82A}">
                    <a16:rowId xmlns:a16="http://schemas.microsoft.com/office/drawing/2014/main" val="4007519994"/>
                  </a:ext>
                </a:extLst>
              </a:tr>
            </a:tbl>
          </a:graphicData>
        </a:graphic>
      </p:graphicFrame>
      <p:graphicFrame>
        <p:nvGraphicFramePr>
          <p:cNvPr id="13" name="Table 12">
            <a:extLst>
              <a:ext uri="{FF2B5EF4-FFF2-40B4-BE49-F238E27FC236}">
                <a16:creationId xmlns:a16="http://schemas.microsoft.com/office/drawing/2014/main" id="{00EBBF1A-3F65-76A7-DC59-30F088912461}"/>
              </a:ext>
            </a:extLst>
          </p:cNvPr>
          <p:cNvGraphicFramePr>
            <a:graphicFrameLocks noGrp="1"/>
          </p:cNvGraphicFramePr>
          <p:nvPr>
            <p:extLst>
              <p:ext uri="{D42A27DB-BD31-4B8C-83A1-F6EECF244321}">
                <p14:modId xmlns:p14="http://schemas.microsoft.com/office/powerpoint/2010/main" val="3839085978"/>
              </p:ext>
            </p:extLst>
          </p:nvPr>
        </p:nvGraphicFramePr>
        <p:xfrm>
          <a:off x="8091379" y="1993781"/>
          <a:ext cx="3855755" cy="960120"/>
        </p:xfrm>
        <a:graphic>
          <a:graphicData uri="http://schemas.openxmlformats.org/drawingml/2006/table">
            <a:tbl>
              <a:tblPr firstRow="1" bandRow="1">
                <a:tableStyleId>{69012ECD-51FC-41F1-AA8D-1B2483CD663E}</a:tableStyleId>
              </a:tblPr>
              <a:tblGrid>
                <a:gridCol w="690842">
                  <a:extLst>
                    <a:ext uri="{9D8B030D-6E8A-4147-A177-3AD203B41FA5}">
                      <a16:colId xmlns:a16="http://schemas.microsoft.com/office/drawing/2014/main" val="3236694442"/>
                    </a:ext>
                  </a:extLst>
                </a:gridCol>
                <a:gridCol w="560438">
                  <a:extLst>
                    <a:ext uri="{9D8B030D-6E8A-4147-A177-3AD203B41FA5}">
                      <a16:colId xmlns:a16="http://schemas.microsoft.com/office/drawing/2014/main" val="4267338099"/>
                    </a:ext>
                  </a:extLst>
                </a:gridCol>
                <a:gridCol w="1432485">
                  <a:extLst>
                    <a:ext uri="{9D8B030D-6E8A-4147-A177-3AD203B41FA5}">
                      <a16:colId xmlns:a16="http://schemas.microsoft.com/office/drawing/2014/main" val="2168576624"/>
                    </a:ext>
                  </a:extLst>
                </a:gridCol>
                <a:gridCol w="1171990">
                  <a:extLst>
                    <a:ext uri="{9D8B030D-6E8A-4147-A177-3AD203B41FA5}">
                      <a16:colId xmlns:a16="http://schemas.microsoft.com/office/drawing/2014/main" val="100273227"/>
                    </a:ext>
                  </a:extLst>
                </a:gridCol>
              </a:tblGrid>
              <a:tr h="194871">
                <a:tc>
                  <a:txBody>
                    <a:bodyPr/>
                    <a:lstStyle/>
                    <a:p>
                      <a:r>
                        <a:rPr lang="en-US" sz="900" b="1" dirty="0">
                          <a:solidFill>
                            <a:srgbClr val="FFFFFF"/>
                          </a:solidFill>
                        </a:rPr>
                        <a:t>Forum</a:t>
                      </a:r>
                      <a:endParaRPr lang="en-US" sz="900" b="1" dirty="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tc>
                  <a:txBody>
                    <a:bodyPr/>
                    <a:lstStyle/>
                    <a:p>
                      <a:r>
                        <a:rPr lang="en-US" sz="900" b="1">
                          <a:solidFill>
                            <a:srgbClr val="FFFFFF"/>
                          </a:solidFill>
                        </a:rPr>
                        <a:t>Freq</a:t>
                      </a:r>
                      <a:endParaRPr lang="en-US" sz="900" baseline="3000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tc>
                  <a:txBody>
                    <a:bodyPr/>
                    <a:lstStyle/>
                    <a:p>
                      <a:r>
                        <a:rPr lang="en-US" sz="900" b="1">
                          <a:solidFill>
                            <a:srgbClr val="FFFFFF"/>
                          </a:solidFill>
                        </a:rPr>
                        <a:t>Membership</a:t>
                      </a:r>
                      <a:endParaRPr lang="en-US" sz="900" b="1">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tc>
                  <a:txBody>
                    <a:bodyPr/>
                    <a:lstStyle/>
                    <a:p>
                      <a:r>
                        <a:rPr lang="en-US" sz="900" b="1" dirty="0">
                          <a:solidFill>
                            <a:srgbClr val="FFFFFF"/>
                          </a:solidFill>
                        </a:rPr>
                        <a:t>Key decisions</a:t>
                      </a:r>
                      <a:endParaRPr lang="en-US" sz="900" b="1" dirty="0">
                        <a:solidFill>
                          <a:srgbClr val="FFFFFF"/>
                        </a:solidFill>
                        <a:latin typeface="Arial" pitchFamily="34" charset="0"/>
                        <a:ea typeface="Helvetica Neue" panose="02000503000000020004" pitchFamily="2" charset="0"/>
                        <a:cs typeface="Helvetica Neue" panose="02000503000000020004" pitchFamily="2" charset="0"/>
                      </a:endParaRPr>
                    </a:p>
                  </a:txBody>
                  <a:tcPr marL="45720" marR="45720" anchor="ctr"/>
                </a:tc>
                <a:extLst>
                  <a:ext uri="{0D108BD9-81ED-4DB2-BD59-A6C34878D82A}">
                    <a16:rowId xmlns:a16="http://schemas.microsoft.com/office/drawing/2014/main" val="965934565"/>
                  </a:ext>
                </a:extLst>
              </a:tr>
              <a:tr h="550223">
                <a:tc>
                  <a:txBody>
                    <a:bodyPr/>
                    <a:lstStyle/>
                    <a:p>
                      <a:pPr marL="0" algn="l" defTabSz="914400" rtl="0" eaLnBrk="1" latinLnBrk="0" hangingPunct="1"/>
                      <a:r>
                        <a:rPr lang="en-US" sz="800" b="0" kern="1200" dirty="0">
                          <a:solidFill>
                            <a:schemeClr val="tx1"/>
                          </a:solidFill>
                          <a:latin typeface="+mn-lt"/>
                          <a:ea typeface="+mn-ea"/>
                          <a:cs typeface="+mn-cs"/>
                        </a:rPr>
                        <a:t>Planning Optimization </a:t>
                      </a:r>
                    </a:p>
                  </a:txBody>
                  <a:tcPr marL="121920" marR="121920" marT="60960" marB="60960"/>
                </a:tc>
                <a:tc>
                  <a:txBody>
                    <a:bodyPr/>
                    <a:lstStyle/>
                    <a:p>
                      <a:pPr marL="0" algn="l" defTabSz="914400" rtl="0" eaLnBrk="1" latinLnBrk="0" hangingPunct="1"/>
                      <a:r>
                        <a:rPr lang="en-US" sz="800" b="0" kern="1200" dirty="0">
                          <a:solidFill>
                            <a:schemeClr val="tx1"/>
                          </a:solidFill>
                          <a:latin typeface="+mn-lt"/>
                          <a:ea typeface="+mn-ea"/>
                          <a:cs typeface="+mn-cs"/>
                        </a:rPr>
                        <a:t>Bi-weekly </a:t>
                      </a:r>
                    </a:p>
                  </a:txBody>
                  <a:tcPr marL="121920" marR="121920" marT="60960" marB="60960"/>
                </a:tc>
                <a:tc>
                  <a:txBody>
                    <a:bodyPr/>
                    <a:lstStyle/>
                    <a:p>
                      <a:pPr marL="79375" indent="-82296" algn="l" defTabSz="914400" rtl="0" eaLnBrk="1" latinLnBrk="0" hangingPunct="1">
                        <a:buFontTx/>
                        <a:buBlip>
                          <a:blip r:embed="rId7"/>
                        </a:buBlip>
                      </a:pPr>
                      <a:r>
                        <a:rPr lang="en-US" sz="800" b="0" kern="1200" dirty="0">
                          <a:solidFill>
                            <a:schemeClr val="tx1"/>
                          </a:solidFill>
                          <a:latin typeface="+mn-lt"/>
                          <a:ea typeface="+mn-ea"/>
                          <a:cs typeface="+mn-cs"/>
                        </a:rPr>
                        <a:t>Head Strategic Launches, BD, Products </a:t>
                      </a:r>
                    </a:p>
                    <a:p>
                      <a:pPr marL="79375" indent="-82296" algn="l" defTabSz="914400" rtl="0" eaLnBrk="1" latinLnBrk="0" hangingPunct="1">
                        <a:buFontTx/>
                        <a:buBlip>
                          <a:blip r:embed="rId7"/>
                        </a:buBlip>
                      </a:pPr>
                      <a:r>
                        <a:rPr lang="en-US" sz="800" b="0" kern="1200" dirty="0">
                          <a:solidFill>
                            <a:schemeClr val="tx1"/>
                          </a:solidFill>
                          <a:latin typeface="+mn-lt"/>
                          <a:ea typeface="+mn-ea"/>
                          <a:cs typeface="+mn-cs"/>
                        </a:rPr>
                        <a:t>Head Demand Planning </a:t>
                      </a:r>
                    </a:p>
                    <a:p>
                      <a:pPr marL="79375" indent="-82296" algn="l" defTabSz="914400" rtl="0" eaLnBrk="1" latinLnBrk="0" hangingPunct="1">
                        <a:buFontTx/>
                        <a:buBlip>
                          <a:blip r:embed="rId7"/>
                        </a:buBlip>
                      </a:pPr>
                      <a:r>
                        <a:rPr lang="en-US" sz="800" b="0" kern="1200" dirty="0">
                          <a:solidFill>
                            <a:schemeClr val="tx1"/>
                          </a:solidFill>
                          <a:latin typeface="+mn-lt"/>
                          <a:ea typeface="+mn-ea"/>
                          <a:cs typeface="+mn-cs"/>
                        </a:rPr>
                        <a:t>Head Procurement </a:t>
                      </a:r>
                    </a:p>
                    <a:p>
                      <a:pPr marL="79375" indent="-82296" algn="l" defTabSz="914400" rtl="0" eaLnBrk="1" latinLnBrk="0" hangingPunct="1">
                        <a:buFontTx/>
                        <a:buBlip>
                          <a:blip r:embed="rId7"/>
                        </a:buBlip>
                      </a:pPr>
                      <a:r>
                        <a:rPr lang="en-US" sz="800" b="0" kern="1200" dirty="0">
                          <a:solidFill>
                            <a:schemeClr val="tx1"/>
                          </a:solidFill>
                          <a:latin typeface="+mn-lt"/>
                          <a:ea typeface="+mn-ea"/>
                          <a:cs typeface="+mn-cs"/>
                        </a:rPr>
                        <a:t>Head Production Ops</a:t>
                      </a:r>
                    </a:p>
                  </a:txBody>
                  <a:tcPr marL="121920" marR="121920" marT="60960" marB="60960"/>
                </a:tc>
                <a:tc>
                  <a:txBody>
                    <a:bodyPr/>
                    <a:lstStyle/>
                    <a:p>
                      <a:pPr marL="79375" indent="-82296" algn="l" defTabSz="914400" rtl="0" eaLnBrk="1" latinLnBrk="0" hangingPunct="1">
                        <a:buFontTx/>
                        <a:buBlip>
                          <a:blip r:embed="rId7"/>
                        </a:buBlip>
                      </a:pPr>
                      <a:r>
                        <a:rPr lang="en-GB" sz="800" b="0" kern="1200" dirty="0" err="1">
                          <a:solidFill>
                            <a:schemeClr val="tx1"/>
                          </a:solidFill>
                          <a:latin typeface="+mn-lt"/>
                          <a:ea typeface="+mn-ea"/>
                          <a:cs typeface="+mn-cs"/>
                        </a:rPr>
                        <a:t>Mfg</a:t>
                      </a:r>
                      <a:r>
                        <a:rPr lang="en-GB" sz="800" b="0" kern="1200" dirty="0">
                          <a:solidFill>
                            <a:schemeClr val="tx1"/>
                          </a:solidFill>
                          <a:latin typeface="+mn-lt"/>
                          <a:ea typeface="+mn-ea"/>
                          <a:cs typeface="+mn-cs"/>
                        </a:rPr>
                        <a:t> </a:t>
                      </a:r>
                      <a:r>
                        <a:rPr lang="en-GB" sz="800" b="0" kern="1200" dirty="0" err="1">
                          <a:solidFill>
                            <a:schemeClr val="tx1"/>
                          </a:solidFill>
                          <a:latin typeface="+mn-lt"/>
                          <a:ea typeface="+mn-ea"/>
                          <a:cs typeface="+mn-cs"/>
                        </a:rPr>
                        <a:t>reqs</a:t>
                      </a:r>
                      <a:r>
                        <a:rPr lang="en-GB" sz="800" b="0" kern="1200" dirty="0">
                          <a:solidFill>
                            <a:schemeClr val="tx1"/>
                          </a:solidFill>
                          <a:latin typeface="+mn-lt"/>
                          <a:ea typeface="+mn-ea"/>
                          <a:cs typeface="+mn-cs"/>
                        </a:rPr>
                        <a:t>. for product launches</a:t>
                      </a:r>
                    </a:p>
                    <a:p>
                      <a:pPr marL="79375" indent="-82296" algn="l" defTabSz="914400" rtl="0" eaLnBrk="1" latinLnBrk="0" hangingPunct="1">
                        <a:buFontTx/>
                        <a:buBlip>
                          <a:blip r:embed="rId7"/>
                        </a:buBlip>
                      </a:pPr>
                      <a:r>
                        <a:rPr lang="en-US" sz="800" b="0" kern="1200" dirty="0">
                          <a:solidFill>
                            <a:schemeClr val="tx1"/>
                          </a:solidFill>
                          <a:latin typeface="+mn-lt"/>
                          <a:ea typeface="+mn-ea"/>
                          <a:cs typeface="+mn-cs"/>
                        </a:rPr>
                        <a:t>Optimize product supply &amp; market demand</a:t>
                      </a:r>
                    </a:p>
                  </a:txBody>
                  <a:tcPr marL="121920" marR="121920" marT="60960" marB="60960"/>
                </a:tc>
                <a:extLst>
                  <a:ext uri="{0D108BD9-81ED-4DB2-BD59-A6C34878D82A}">
                    <a16:rowId xmlns:a16="http://schemas.microsoft.com/office/drawing/2014/main" val="1418974216"/>
                  </a:ext>
                </a:extLst>
              </a:tr>
            </a:tbl>
          </a:graphicData>
        </a:graphic>
      </p:graphicFrame>
      <p:pic>
        <p:nvPicPr>
          <p:cNvPr id="14" name="Picture 13">
            <a:extLst>
              <a:ext uri="{FF2B5EF4-FFF2-40B4-BE49-F238E27FC236}">
                <a16:creationId xmlns:a16="http://schemas.microsoft.com/office/drawing/2014/main" id="{FDB5A20C-444F-11E4-E77E-318CA0A1112A}"/>
              </a:ext>
            </a:extLst>
          </p:cNvPr>
          <p:cNvPicPr>
            <a:picLocks noChangeAspect="1"/>
          </p:cNvPicPr>
          <p:nvPr/>
        </p:nvPicPr>
        <p:blipFill>
          <a:blip r:embed="rId8">
            <a:duotone>
              <a:srgbClr val="765FFF"/>
              <a:srgbClr val="FFFFFF"/>
            </a:duotone>
          </a:blip>
          <a:stretch>
            <a:fillRect/>
          </a:stretch>
        </p:blipFill>
        <p:spPr>
          <a:xfrm>
            <a:off x="6096000" y="4126223"/>
            <a:ext cx="3893792" cy="1765266"/>
          </a:xfrm>
          <a:prstGeom prst="rect">
            <a:avLst/>
          </a:prstGeom>
        </p:spPr>
      </p:pic>
      <p:sp>
        <p:nvSpPr>
          <p:cNvPr id="15" name="Oval 14">
            <a:extLst>
              <a:ext uri="{FF2B5EF4-FFF2-40B4-BE49-F238E27FC236}">
                <a16:creationId xmlns:a16="http://schemas.microsoft.com/office/drawing/2014/main" id="{2735717A-B0C9-C56E-BA30-0ADCE6B3A396}"/>
              </a:ext>
            </a:extLst>
          </p:cNvPr>
          <p:cNvSpPr/>
          <p:nvPr/>
        </p:nvSpPr>
        <p:spPr>
          <a:xfrm>
            <a:off x="897384" y="1137933"/>
            <a:ext cx="295640" cy="297911"/>
          </a:xfrm>
          <a:prstGeom prst="ellipse">
            <a:avLst/>
          </a:prstGeom>
          <a:solidFill>
            <a:srgbClr val="91929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a:solidFill>
                  <a:srgbClr val="FFFFFF"/>
                </a:solidFill>
                <a:latin typeface="Segoe UI" pitchFamily="34" charset="0"/>
                <a:ea typeface="Helvetica Neue" panose="02000503000000020004" pitchFamily="2" charset="0"/>
                <a:cs typeface="Helvetica Neue" panose="02000503000000020004" pitchFamily="2" charset="0"/>
              </a:rPr>
              <a:t>1</a:t>
            </a:r>
          </a:p>
        </p:txBody>
      </p:sp>
      <p:sp>
        <p:nvSpPr>
          <p:cNvPr id="16" name="Oval 15">
            <a:extLst>
              <a:ext uri="{FF2B5EF4-FFF2-40B4-BE49-F238E27FC236}">
                <a16:creationId xmlns:a16="http://schemas.microsoft.com/office/drawing/2014/main" id="{1DCB1727-4175-0196-1512-77CE39BB240B}"/>
              </a:ext>
            </a:extLst>
          </p:cNvPr>
          <p:cNvSpPr/>
          <p:nvPr/>
        </p:nvSpPr>
        <p:spPr>
          <a:xfrm>
            <a:off x="4400625" y="1149611"/>
            <a:ext cx="295640" cy="297911"/>
          </a:xfrm>
          <a:prstGeom prst="ellipse">
            <a:avLst/>
          </a:prstGeom>
          <a:solidFill>
            <a:srgbClr val="91929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dirty="0">
                <a:solidFill>
                  <a:srgbClr val="FFFFFF"/>
                </a:solidFill>
                <a:latin typeface="Segoe UI" pitchFamily="34" charset="0"/>
                <a:ea typeface="Helvetica Neue" panose="02000503000000020004" pitchFamily="2" charset="0"/>
                <a:cs typeface="Helvetica Neue" panose="02000503000000020004" pitchFamily="2" charset="0"/>
              </a:rPr>
              <a:t>2</a:t>
            </a:r>
          </a:p>
        </p:txBody>
      </p:sp>
      <p:sp>
        <p:nvSpPr>
          <p:cNvPr id="17" name="Oval 16">
            <a:extLst>
              <a:ext uri="{FF2B5EF4-FFF2-40B4-BE49-F238E27FC236}">
                <a16:creationId xmlns:a16="http://schemas.microsoft.com/office/drawing/2014/main" id="{4EF4C733-5B16-DA09-0537-40C3FE991E70}"/>
              </a:ext>
            </a:extLst>
          </p:cNvPr>
          <p:cNvSpPr/>
          <p:nvPr/>
        </p:nvSpPr>
        <p:spPr>
          <a:xfrm>
            <a:off x="1841840" y="3489883"/>
            <a:ext cx="295640" cy="297911"/>
          </a:xfrm>
          <a:prstGeom prst="ellipse">
            <a:avLst/>
          </a:prstGeom>
          <a:solidFill>
            <a:srgbClr val="91929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FFFFFF"/>
                </a:solidFill>
                <a:latin typeface="Segoe UI" panose="020B0502040204020203" pitchFamily="34" charset="0"/>
                <a:ea typeface="Helvetica Neue" panose="02000503000000020004" pitchFamily="2" charset="0"/>
                <a:cs typeface="Segoe UI" panose="020B0502040204020203" pitchFamily="34" charset="0"/>
              </a:rPr>
              <a:t>4</a:t>
            </a:r>
          </a:p>
        </p:txBody>
      </p:sp>
      <p:sp>
        <p:nvSpPr>
          <p:cNvPr id="18" name="Oval 17">
            <a:extLst>
              <a:ext uri="{FF2B5EF4-FFF2-40B4-BE49-F238E27FC236}">
                <a16:creationId xmlns:a16="http://schemas.microsoft.com/office/drawing/2014/main" id="{3BDFFBE0-D210-3834-0B59-A54D8E5FF5E3}"/>
              </a:ext>
            </a:extLst>
          </p:cNvPr>
          <p:cNvSpPr/>
          <p:nvPr/>
        </p:nvSpPr>
        <p:spPr>
          <a:xfrm>
            <a:off x="6562487" y="3526638"/>
            <a:ext cx="295640" cy="297911"/>
          </a:xfrm>
          <a:prstGeom prst="ellipse">
            <a:avLst/>
          </a:prstGeom>
          <a:solidFill>
            <a:srgbClr val="91929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rgbClr val="FFFFFF"/>
                </a:solidFill>
                <a:latin typeface="Segoe UI" panose="020B0502040204020203" pitchFamily="34" charset="0"/>
                <a:ea typeface="Helvetica Neue" panose="02000503000000020004" pitchFamily="2" charset="0"/>
                <a:cs typeface="Segoe UI" panose="020B0502040204020203" pitchFamily="34" charset="0"/>
              </a:rPr>
              <a:t>5</a:t>
            </a:r>
          </a:p>
        </p:txBody>
      </p:sp>
      <p:sp>
        <p:nvSpPr>
          <p:cNvPr id="19" name="Oval 18">
            <a:extLst>
              <a:ext uri="{FF2B5EF4-FFF2-40B4-BE49-F238E27FC236}">
                <a16:creationId xmlns:a16="http://schemas.microsoft.com/office/drawing/2014/main" id="{BCE05916-8A0B-F6F2-33F7-75FE846D7311}"/>
              </a:ext>
            </a:extLst>
          </p:cNvPr>
          <p:cNvSpPr/>
          <p:nvPr/>
        </p:nvSpPr>
        <p:spPr>
          <a:xfrm>
            <a:off x="8268273" y="1142038"/>
            <a:ext cx="295640" cy="277745"/>
          </a:xfrm>
          <a:prstGeom prst="ellipse">
            <a:avLst/>
          </a:prstGeom>
          <a:solidFill>
            <a:srgbClr val="91929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a:solidFill>
                  <a:srgbClr val="FFFFFF"/>
                </a:solidFill>
                <a:latin typeface="Segoe UI" pitchFamily="34" charset="0"/>
                <a:ea typeface="Helvetica Neue" panose="02000503000000020004" pitchFamily="2" charset="0"/>
                <a:cs typeface="Helvetica Neue" panose="02000503000000020004" pitchFamily="2" charset="0"/>
              </a:rPr>
              <a:t>3</a:t>
            </a:r>
          </a:p>
        </p:txBody>
      </p:sp>
      <p:graphicFrame>
        <p:nvGraphicFramePr>
          <p:cNvPr id="20" name="Table 19">
            <a:extLst>
              <a:ext uri="{FF2B5EF4-FFF2-40B4-BE49-F238E27FC236}">
                <a16:creationId xmlns:a16="http://schemas.microsoft.com/office/drawing/2014/main" id="{CC286EDB-29FA-3AAF-0442-EC76CA2208E7}"/>
              </a:ext>
            </a:extLst>
          </p:cNvPr>
          <p:cNvGraphicFramePr>
            <a:graphicFrameLocks noGrp="1"/>
          </p:cNvGraphicFramePr>
          <p:nvPr>
            <p:extLst>
              <p:ext uri="{D42A27DB-BD31-4B8C-83A1-F6EECF244321}">
                <p14:modId xmlns:p14="http://schemas.microsoft.com/office/powerpoint/2010/main" val="275743317"/>
              </p:ext>
            </p:extLst>
          </p:nvPr>
        </p:nvGraphicFramePr>
        <p:xfrm>
          <a:off x="1084366" y="4200920"/>
          <a:ext cx="4588408" cy="2273862"/>
        </p:xfrm>
        <a:graphic>
          <a:graphicData uri="http://schemas.openxmlformats.org/drawingml/2006/table">
            <a:tbl>
              <a:tblPr firstRow="1">
                <a:tableStyleId>{69012ECD-51FC-41F1-AA8D-1B2483CD663E}</a:tableStyleId>
              </a:tblPr>
              <a:tblGrid>
                <a:gridCol w="402590">
                  <a:extLst>
                    <a:ext uri="{9D8B030D-6E8A-4147-A177-3AD203B41FA5}">
                      <a16:colId xmlns:a16="http://schemas.microsoft.com/office/drawing/2014/main" val="737286300"/>
                    </a:ext>
                  </a:extLst>
                </a:gridCol>
                <a:gridCol w="2314195">
                  <a:extLst>
                    <a:ext uri="{9D8B030D-6E8A-4147-A177-3AD203B41FA5}">
                      <a16:colId xmlns:a16="http://schemas.microsoft.com/office/drawing/2014/main" val="4262969526"/>
                    </a:ext>
                  </a:extLst>
                </a:gridCol>
                <a:gridCol w="1023271">
                  <a:extLst>
                    <a:ext uri="{9D8B030D-6E8A-4147-A177-3AD203B41FA5}">
                      <a16:colId xmlns:a16="http://schemas.microsoft.com/office/drawing/2014/main" val="495610722"/>
                    </a:ext>
                  </a:extLst>
                </a:gridCol>
                <a:gridCol w="848352">
                  <a:extLst>
                    <a:ext uri="{9D8B030D-6E8A-4147-A177-3AD203B41FA5}">
                      <a16:colId xmlns:a16="http://schemas.microsoft.com/office/drawing/2014/main" val="2702387763"/>
                    </a:ext>
                  </a:extLst>
                </a:gridCol>
              </a:tblGrid>
              <a:tr h="174018">
                <a:tc>
                  <a:txBody>
                    <a:bodyPr/>
                    <a:lstStyle>
                      <a:lvl1pPr>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kumimoji="0" lang="en-US" altLang="en-US" sz="900" b="1" u="none" strike="noStrike" cap="none" normalizeH="0" baseline="0" dirty="0">
                          <a:ln>
                            <a:noFill/>
                          </a:ln>
                          <a:solidFill>
                            <a:srgbClr val="FFFFFF"/>
                          </a:solidFill>
                          <a:effectLst/>
                          <a:sym typeface="Arial" panose="020B0604020202020204" pitchFamily="34" charset="0"/>
                        </a:rPr>
                        <a:t>Rank</a:t>
                      </a:r>
                      <a:endParaRPr kumimoji="0" lang="en-US" altLang="en-US" sz="900" b="0" i="0" u="none" strike="noStrike" cap="none" normalizeH="0" baseline="0" dirty="0">
                        <a:ln>
                          <a:noFill/>
                        </a:ln>
                        <a:solidFill>
                          <a:srgbClr val="FFFFFF"/>
                        </a:solidFill>
                        <a:effectLst/>
                        <a:latin typeface="Arial" pitchFamily="34" charset="0"/>
                        <a:cs typeface="Arial" panose="020B0604020202020204" pitchFamily="34" charset="0"/>
                        <a:sym typeface="Arial" panose="020B0604020202020204" pitchFamily="34" charset="0"/>
                      </a:endParaRPr>
                    </a:p>
                  </a:txBody>
                  <a:tcPr marL="45720" marR="45720" anchor="ctr" horzOverflow="overflow"/>
                </a:tc>
                <a:tc>
                  <a:txBody>
                    <a:bodyPr/>
                    <a:lstStyle>
                      <a:lvl1pPr>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kumimoji="0" lang="en-US" altLang="en-US" sz="900" b="1" u="none" strike="noStrike" cap="none" normalizeH="0" baseline="0" dirty="0">
                          <a:ln>
                            <a:noFill/>
                          </a:ln>
                          <a:solidFill>
                            <a:srgbClr val="FFFFFF"/>
                          </a:solidFill>
                          <a:effectLst/>
                          <a:sym typeface="Arial" panose="020B0604020202020204" pitchFamily="34" charset="0"/>
                        </a:rPr>
                        <a:t>Critical Role</a:t>
                      </a:r>
                      <a:endParaRPr kumimoji="0" lang="en-US" altLang="en-US" sz="900" b="0" i="0" u="none" strike="noStrike" cap="none" normalizeH="0" baseline="0" dirty="0">
                        <a:ln>
                          <a:noFill/>
                        </a:ln>
                        <a:solidFill>
                          <a:srgbClr val="FFFFFF"/>
                        </a:solidFill>
                        <a:effectLst/>
                        <a:latin typeface="Arial" pitchFamily="34" charset="0"/>
                        <a:cs typeface="Arial" panose="020B0604020202020204" pitchFamily="34" charset="0"/>
                        <a:sym typeface="Arial" panose="020B0604020202020204" pitchFamily="34" charset="0"/>
                      </a:endParaRPr>
                    </a:p>
                  </a:txBody>
                  <a:tcPr marL="45720" marR="45720" anchor="ctr" horzOverflow="overflow"/>
                </a:tc>
                <a:tc>
                  <a:txBody>
                    <a:bodyPr/>
                    <a:lstStyle>
                      <a:lvl1pPr>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kumimoji="0" lang="en-US" altLang="en-US" sz="900" b="1" u="none" strike="noStrike" cap="none" normalizeH="0" baseline="0" dirty="0">
                          <a:ln>
                            <a:noFill/>
                          </a:ln>
                          <a:solidFill>
                            <a:srgbClr val="FFFFFF"/>
                          </a:solidFill>
                          <a:effectLst/>
                          <a:sym typeface="Arial" panose="020B0604020202020204" pitchFamily="34" charset="0"/>
                        </a:rPr>
                        <a:t>Value (</a:t>
                      </a:r>
                      <a:r>
                        <a:rPr kumimoji="0" lang="en-US" altLang="en-US" sz="900" b="1" u="none" strike="noStrike" cap="none" normalizeH="0" baseline="0" dirty="0" err="1">
                          <a:ln>
                            <a:noFill/>
                          </a:ln>
                          <a:solidFill>
                            <a:srgbClr val="FFFFFF"/>
                          </a:solidFill>
                          <a:effectLst/>
                          <a:sym typeface="Arial" panose="020B0604020202020204" pitchFamily="34" charset="0"/>
                        </a:rPr>
                        <a:t>Aed</a:t>
                      </a:r>
                      <a:r>
                        <a:rPr kumimoji="0" lang="en-US" altLang="en-US" sz="900" b="1" u="none" strike="noStrike" cap="none" normalizeH="0" baseline="0" dirty="0">
                          <a:ln>
                            <a:noFill/>
                          </a:ln>
                          <a:solidFill>
                            <a:srgbClr val="FFFFFF"/>
                          </a:solidFill>
                          <a:effectLst/>
                          <a:sym typeface="Arial" panose="020B0604020202020204" pitchFamily="34" charset="0"/>
                        </a:rPr>
                        <a:t>) </a:t>
                      </a:r>
                      <a:r>
                        <a:rPr kumimoji="0" lang="en-US" altLang="en-US" sz="900" b="1" u="none" strike="noStrike" cap="none" normalizeH="0" baseline="0" dirty="0" err="1">
                          <a:ln>
                            <a:noFill/>
                          </a:ln>
                          <a:solidFill>
                            <a:srgbClr val="FFFFFF"/>
                          </a:solidFill>
                          <a:effectLst/>
                          <a:sym typeface="Arial" panose="020B0604020202020204" pitchFamily="34" charset="0"/>
                        </a:rPr>
                        <a:t>Mln</a:t>
                      </a:r>
                      <a:endParaRPr kumimoji="0" lang="en-US" altLang="en-US" sz="900" b="0" i="0" u="none" strike="noStrike" cap="none" normalizeH="0" baseline="0" dirty="0">
                        <a:ln>
                          <a:noFill/>
                        </a:ln>
                        <a:solidFill>
                          <a:srgbClr val="FFFFFF"/>
                        </a:solidFill>
                        <a:effectLst/>
                        <a:latin typeface="Arial" pitchFamily="34" charset="0"/>
                        <a:cs typeface="Arial" panose="020B0604020202020204" pitchFamily="34" charset="0"/>
                        <a:sym typeface="Arial" panose="020B0604020202020204" pitchFamily="34" charset="0"/>
                      </a:endParaRPr>
                    </a:p>
                  </a:txBody>
                  <a:tcPr marL="45720" marR="45720" anchor="ctr" horzOverflow="overflow"/>
                </a:tc>
                <a:tc>
                  <a:txBody>
                    <a:bodyPr/>
                    <a:lstStyle>
                      <a:lvl1pPr>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b="1">
                          <a:solidFill>
                            <a:srgbClr val="FFFFFF"/>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kumimoji="0" lang="en-US" altLang="en-US" sz="900" b="1" u="none" strike="noStrike" cap="none" normalizeH="0" baseline="0" dirty="0">
                          <a:ln>
                            <a:noFill/>
                          </a:ln>
                          <a:solidFill>
                            <a:srgbClr val="FFFFFF"/>
                          </a:solidFill>
                          <a:effectLst/>
                          <a:sym typeface="Arial" panose="020B0604020202020204" pitchFamily="34" charset="0"/>
                        </a:rPr>
                        <a:t>Cumulative %</a:t>
                      </a:r>
                      <a:endParaRPr kumimoji="0" lang="en-US" altLang="en-US" sz="900" b="0" i="0" u="none" strike="noStrike" cap="none" normalizeH="0" baseline="0" dirty="0">
                        <a:ln>
                          <a:noFill/>
                        </a:ln>
                        <a:solidFill>
                          <a:srgbClr val="FFFFFF"/>
                        </a:solidFill>
                        <a:effectLst/>
                        <a:latin typeface="Arial" pitchFamily="34" charset="0"/>
                        <a:cs typeface="Arial" panose="020B0604020202020204" pitchFamily="34" charset="0"/>
                        <a:sym typeface="Arial" panose="020B0604020202020204" pitchFamily="34" charset="0"/>
                      </a:endParaRPr>
                    </a:p>
                  </a:txBody>
                  <a:tcPr marL="45720" marR="45720" anchor="ctr" horzOverflow="overflow"/>
                </a:tc>
                <a:extLst>
                  <a:ext uri="{0D108BD9-81ED-4DB2-BD59-A6C34878D82A}">
                    <a16:rowId xmlns:a16="http://schemas.microsoft.com/office/drawing/2014/main" val="1983260323"/>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1</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SVP Corporate Development </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238</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7%</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3430744912"/>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2</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Head of M&amp;A</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238</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14%</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3601459605"/>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3</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SVP Strategy, Business Development &amp; Product Launches</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204</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20%</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4266008303"/>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00C27A"/>
                          </a:solidFill>
                          <a:effectLst/>
                          <a:sym typeface="Arial" panose="020B0604020202020204" pitchFamily="34" charset="0"/>
                        </a:rPr>
                        <a:t>4</a:t>
                      </a:r>
                      <a:endParaRPr lang="en-US" altLang="en-US" sz="800" b="0" i="0" u="none" strike="noStrike" cap="none">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00C27A"/>
                          </a:solidFill>
                          <a:effectLst/>
                          <a:sym typeface="Arial" panose="020B0604020202020204" pitchFamily="34" charset="0"/>
                        </a:rPr>
                        <a:t>Head of Post Merger Integration</a:t>
                      </a:r>
                      <a:endParaRPr lang="en-US" sz="800" b="0" i="0" u="none" strike="noStrike" cap="none" dirty="0">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dirty="0">
                          <a:solidFill>
                            <a:srgbClr val="00C27A"/>
                          </a:solidFill>
                          <a:effectLst/>
                          <a:sym typeface="Arial" panose="020B0604020202020204" pitchFamily="34" charset="0"/>
                        </a:rPr>
                        <a:t>179</a:t>
                      </a:r>
                      <a:endParaRPr lang="en-US" sz="800" b="0" i="0" u="none" strike="noStrike" cap="none" dirty="0">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00C27A"/>
                          </a:solidFill>
                          <a:effectLst/>
                          <a:sym typeface="Arial" panose="020B0604020202020204" pitchFamily="34" charset="0"/>
                        </a:rPr>
                        <a:t>25%</a:t>
                      </a:r>
                      <a:endParaRPr lang="en-US" sz="800" b="0" i="0" u="none" strike="noStrike" cap="none">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4116781400"/>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5</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VP Corporate Legal</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179</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30%</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3833753591"/>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6</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VP Due Diligence</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179</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35%</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3704593751"/>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00C27A"/>
                          </a:solidFill>
                          <a:effectLst/>
                          <a:sym typeface="Arial" panose="020B0604020202020204" pitchFamily="34" charset="0"/>
                        </a:rPr>
                        <a:t>7</a:t>
                      </a:r>
                      <a:endParaRPr lang="en-US" altLang="en-US" sz="800" b="0" i="0" u="none" strike="noStrike" cap="none">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00C27A"/>
                          </a:solidFill>
                          <a:effectLst/>
                          <a:sym typeface="Arial" panose="020B0604020202020204" pitchFamily="34" charset="0"/>
                        </a:rPr>
                        <a:t>Head of Strategic Insights</a:t>
                      </a:r>
                      <a:endParaRPr lang="en-US" sz="800" b="0" i="0" u="none" strike="noStrike" cap="none" dirty="0">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00C27A"/>
                          </a:solidFill>
                          <a:effectLst/>
                          <a:sym typeface="Arial" panose="020B0604020202020204" pitchFamily="34" charset="0"/>
                        </a:rPr>
                        <a:t>179</a:t>
                      </a:r>
                      <a:endParaRPr lang="en-US" sz="800" b="0" i="0" u="none" strike="noStrike" cap="none">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00C27A"/>
                          </a:solidFill>
                          <a:effectLst/>
                          <a:sym typeface="Arial" panose="020B0604020202020204" pitchFamily="34" charset="0"/>
                        </a:rPr>
                        <a:t>40%</a:t>
                      </a:r>
                      <a:endParaRPr lang="en-US" sz="800" b="0" i="0" u="none" strike="noStrike" cap="none">
                        <a:solidFill>
                          <a:srgbClr val="00C27A"/>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1994752687"/>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8</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dirty="0">
                          <a:solidFill>
                            <a:srgbClr val="1D1D1D"/>
                          </a:solidFill>
                          <a:effectLst/>
                          <a:sym typeface="Arial" panose="020B0604020202020204" pitchFamily="34" charset="0"/>
                        </a:rPr>
                        <a:t>VP Regulatory, Medical &amp; Pharmacovigilance</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136</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44%</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1402658603"/>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9</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a:solidFill>
                            <a:srgbClr val="FF2E88"/>
                          </a:solidFill>
                          <a:effectLst/>
                          <a:sym typeface="Arial" panose="020B0604020202020204" pitchFamily="34" charset="0"/>
                        </a:rPr>
                        <a:t>VP Digital &amp; Innovation</a:t>
                      </a:r>
                      <a:endParaRPr lang="en-US" sz="800" b="0" i="0" u="none" strike="noStrike" cap="none">
                        <a:solidFill>
                          <a:srgbClr val="FF2E88"/>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136</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48%</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3639109922"/>
                  </a:ext>
                </a:extLst>
              </a:tr>
              <a:tr h="135196">
                <a:tc>
                  <a:txBody>
                    <a:bodyPr/>
                    <a:lstStyle>
                      <a:lvl1pPr>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1pPr>
                      <a:lvl2pPr marL="742950" indent="-28575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2pPr>
                      <a:lvl3pPr marL="11430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3pPr>
                      <a:lvl4pPr marL="16002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4pPr>
                      <a:lvl5pPr marL="2057400" indent="-228600">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1D1D1D"/>
                        </a:buClr>
                        <a:buFont typeface="Arial" panose="020B0604020202020204" pitchFamily="34" charset="0"/>
                        <a:defRPr sz="1200">
                          <a:solidFill>
                            <a:srgbClr val="1D1D1D"/>
                          </a:solidFill>
                          <a:latin typeface="Arial" pitchFamily="34" charset="0"/>
                          <a:cs typeface="Arial" panose="020B0604020202020204" pitchFamily="34" charset="0"/>
                          <a:sym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rgbClr val="1D1D1D"/>
                        </a:buClr>
                        <a:buSzTx/>
                        <a:buFont typeface="Arial" panose="020B0604020202020204" pitchFamily="34" charset="0"/>
                        <a:buNone/>
                        <a:tabLst/>
                      </a:pPr>
                      <a:r>
                        <a:rPr lang="en-US" altLang="en-US" sz="800" b="0" u="none" strike="noStrike" cap="none">
                          <a:solidFill>
                            <a:srgbClr val="1D1D1D"/>
                          </a:solidFill>
                          <a:effectLst/>
                          <a:sym typeface="Arial" panose="020B0604020202020204" pitchFamily="34" charset="0"/>
                        </a:rPr>
                        <a:t>10</a:t>
                      </a:r>
                      <a:endParaRPr lang="en-US" alt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78242" marR="78242" marT="39119" marB="39119" anchor="ctr" horzOverflow="overflow"/>
                </a:tc>
                <a:tc>
                  <a:txBody>
                    <a:bodyPr/>
                    <a:lstStyle/>
                    <a:p>
                      <a:pPr algn="l" fontAlgn="b">
                        <a:buNone/>
                      </a:pPr>
                      <a:r>
                        <a:rPr lang="en-US" sz="800" b="0" u="none" strike="noStrike" cap="none">
                          <a:solidFill>
                            <a:srgbClr val="1D1D1D"/>
                          </a:solidFill>
                          <a:effectLst/>
                          <a:sym typeface="Arial" panose="020B0604020202020204" pitchFamily="34" charset="0"/>
                        </a:rPr>
                        <a:t>VP Value Creation </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a:solidFill>
                            <a:srgbClr val="1D1D1D"/>
                          </a:solidFill>
                          <a:effectLst/>
                          <a:sym typeface="Arial" panose="020B0604020202020204" pitchFamily="34" charset="0"/>
                        </a:rPr>
                        <a:t>128</a:t>
                      </a:r>
                      <a:endParaRPr lang="en-US" sz="800" b="0" i="0" u="none" strike="noStrike" cap="none">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tc>
                  <a:txBody>
                    <a:bodyPr/>
                    <a:lstStyle/>
                    <a:p>
                      <a:pPr algn="ctr" fontAlgn="b">
                        <a:buNone/>
                      </a:pPr>
                      <a:r>
                        <a:rPr lang="en-US" sz="800" b="0" u="none" strike="noStrike" cap="none" dirty="0">
                          <a:solidFill>
                            <a:srgbClr val="1D1D1D"/>
                          </a:solidFill>
                          <a:effectLst/>
                          <a:sym typeface="Arial" panose="020B0604020202020204" pitchFamily="34" charset="0"/>
                        </a:rPr>
                        <a:t>52%</a:t>
                      </a:r>
                      <a:endParaRPr lang="en-US" sz="800" b="0" i="0" u="none" strike="noStrike" cap="none" dirty="0">
                        <a:solidFill>
                          <a:srgbClr val="1D1D1D"/>
                        </a:solidFill>
                        <a:effectLst/>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txBody>
                  <a:tcPr marL="0" marR="0" marT="0" marB="0" anchor="ctr"/>
                </a:tc>
                <a:extLst>
                  <a:ext uri="{0D108BD9-81ED-4DB2-BD59-A6C34878D82A}">
                    <a16:rowId xmlns:a16="http://schemas.microsoft.com/office/drawing/2014/main" val="4025849800"/>
                  </a:ext>
                </a:extLst>
              </a:tr>
            </a:tbl>
          </a:graphicData>
        </a:graphic>
      </p:graphicFrame>
      <p:cxnSp>
        <p:nvCxnSpPr>
          <p:cNvPr id="21" name="Straight Connector 20">
            <a:extLst>
              <a:ext uri="{FF2B5EF4-FFF2-40B4-BE49-F238E27FC236}">
                <a16:creationId xmlns:a16="http://schemas.microsoft.com/office/drawing/2014/main" id="{C1B6BAFA-170C-1C64-DB65-FE0F6554EE23}"/>
              </a:ext>
            </a:extLst>
          </p:cNvPr>
          <p:cNvCxnSpPr>
            <a:cxnSpLocks/>
          </p:cNvCxnSpPr>
          <p:nvPr/>
        </p:nvCxnSpPr>
        <p:spPr>
          <a:xfrm>
            <a:off x="420000" y="3303803"/>
            <a:ext cx="11177713" cy="0"/>
          </a:xfrm>
          <a:prstGeom prst="line">
            <a:avLst/>
          </a:prstGeom>
          <a:ln>
            <a:solidFill>
              <a:srgbClr val="91929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C81529E-6E10-17BC-1B3A-ED5E899D4AE3}"/>
              </a:ext>
            </a:extLst>
          </p:cNvPr>
          <p:cNvSpPr txBox="1"/>
          <p:nvPr/>
        </p:nvSpPr>
        <p:spPr>
          <a:xfrm>
            <a:off x="822498" y="2524342"/>
            <a:ext cx="3147777" cy="615553"/>
          </a:xfrm>
          <a:prstGeom prst="rect">
            <a:avLst/>
          </a:prstGeom>
          <a:noFill/>
          <a:ln>
            <a:noFill/>
          </a:ln>
        </p:spPr>
        <p:txBody>
          <a:bodyPr wrap="square" lIns="121920" tIns="60960" rIns="121920" bIns="60960" anchor="t">
            <a:spAutoFit/>
          </a:bodyPr>
          <a:lstStyle/>
          <a:p>
            <a:pPr marL="304792" indent="-304792">
              <a:buFont typeface="+mj-lt"/>
              <a:buAutoNum type="arabicPeriod"/>
            </a:pPr>
            <a:r>
              <a:rPr lang="en-US" sz="800" spc="-10" dirty="0">
                <a:latin typeface="Arial" pitchFamily="34" charset="0"/>
                <a:ea typeface="Helvetica Neue" panose="02000503000000020004" pitchFamily="2" charset="0"/>
                <a:cs typeface="Helvetica Neue" panose="02000503000000020004" pitchFamily="2" charset="0"/>
              </a:rPr>
              <a:t>Head of </a:t>
            </a:r>
            <a:r>
              <a:rPr lang="en-US" sz="800" spc="-10" dirty="0" err="1">
                <a:latin typeface="Arial" pitchFamily="34" charset="0"/>
                <a:ea typeface="Helvetica Neue" panose="02000503000000020004" pitchFamily="2" charset="0"/>
                <a:cs typeface="Helvetica Neue" panose="02000503000000020004" pitchFamily="2" charset="0"/>
              </a:rPr>
              <a:t>Mfg</a:t>
            </a:r>
            <a:r>
              <a:rPr lang="en-US" sz="800" spc="-10" dirty="0">
                <a:latin typeface="Arial" pitchFamily="34" charset="0"/>
                <a:ea typeface="Helvetica Neue" panose="02000503000000020004" pitchFamily="2" charset="0"/>
                <a:cs typeface="Helvetica Neue" panose="02000503000000020004" pitchFamily="2" charset="0"/>
              </a:rPr>
              <a:t> : 5 Direct Reports</a:t>
            </a:r>
          </a:p>
          <a:p>
            <a:pPr marL="304792" indent="-304792">
              <a:buFont typeface="+mj-lt"/>
              <a:buAutoNum type="arabicPeriod"/>
            </a:pPr>
            <a:r>
              <a:rPr lang="en-US" sz="800" spc="-10" dirty="0">
                <a:latin typeface="Arial" pitchFamily="34" charset="0"/>
                <a:ea typeface="Helvetica Neue" panose="02000503000000020004" pitchFamily="2" charset="0"/>
                <a:cs typeface="Helvetica Neue" panose="02000503000000020004" pitchFamily="2" charset="0"/>
              </a:rPr>
              <a:t>Eliminate the Sr Director role. Replace with VP </a:t>
            </a:r>
          </a:p>
          <a:p>
            <a:pPr marL="304792" indent="-304792">
              <a:buFont typeface="+mj-lt"/>
              <a:buAutoNum type="arabicPeriod"/>
            </a:pPr>
            <a:r>
              <a:rPr lang="en-US" sz="800" spc="-10" dirty="0">
                <a:latin typeface="Arial" pitchFamily="34" charset="0"/>
                <a:ea typeface="Helvetica Neue" panose="02000503000000020004" pitchFamily="2" charset="0"/>
                <a:cs typeface="Helvetica Neue" panose="02000503000000020004" pitchFamily="2" charset="0"/>
              </a:rPr>
              <a:t>Address Manager span of control (1 to 8 reports)</a:t>
            </a:r>
          </a:p>
          <a:p>
            <a:pPr marL="304792" indent="-304792">
              <a:buFont typeface="+mj-lt"/>
              <a:buAutoNum type="arabicPeriod"/>
            </a:pPr>
            <a:r>
              <a:rPr lang="en-US" sz="800" spc="-10" dirty="0">
                <a:latin typeface="Arial" pitchFamily="34" charset="0"/>
                <a:ea typeface="Helvetica Neue" panose="02000503000000020004" pitchFamily="2" charset="0"/>
                <a:cs typeface="Helvetica Neue" panose="02000503000000020004" pitchFamily="2" charset="0"/>
              </a:rPr>
              <a:t>Assess Leadership team readiness</a:t>
            </a:r>
          </a:p>
        </p:txBody>
      </p:sp>
      <p:sp>
        <p:nvSpPr>
          <p:cNvPr id="23" name="TextBox 22">
            <a:extLst>
              <a:ext uri="{FF2B5EF4-FFF2-40B4-BE49-F238E27FC236}">
                <a16:creationId xmlns:a16="http://schemas.microsoft.com/office/drawing/2014/main" id="{EE9B4ECE-65CD-4E9E-975E-C08A0169ADF2}"/>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6946397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E666-A74D-4678-014C-BE68A3BDD10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C3CB51A-C74B-1D1E-226C-2A39C452CB3C}"/>
              </a:ext>
            </a:extLst>
          </p:cNvPr>
          <p:cNvSpPr txBox="1">
            <a:spLocks noGrp="1"/>
          </p:cNvSpPr>
          <p:nvPr>
            <p:ph type="title"/>
          </p:nvPr>
        </p:nvSpPr>
        <p:spPr>
          <a:noFill/>
        </p:spPr>
        <p:txBody>
          <a:bodyPr/>
          <a:lstStyle/>
          <a:p>
            <a:pPr>
              <a:buNone/>
            </a:pPr>
            <a:r>
              <a:rPr lang="en-US"/>
              <a:t>CXO Enablement</a:t>
            </a:r>
          </a:p>
        </p:txBody>
      </p:sp>
    </p:spTree>
    <p:extLst>
      <p:ext uri="{BB962C8B-B14F-4D97-AF65-F5344CB8AC3E}">
        <p14:creationId xmlns:p14="http://schemas.microsoft.com/office/powerpoint/2010/main" val="1720326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E19367-B83B-B528-38FA-FA3CD7FF69B5}"/>
              </a:ext>
            </a:extLst>
          </p:cNvPr>
          <p:cNvSpPr>
            <a:spLocks noGrp="1"/>
          </p:cNvSpPr>
          <p:nvPr>
            <p:ph type="sldNum" sz="quarter" idx="4"/>
          </p:nvPr>
        </p:nvSpPr>
        <p:spPr/>
        <p:txBody>
          <a:bodyPr/>
          <a:lstStyle/>
          <a:p>
            <a:pPr algn="ctr"/>
            <a:fld id="{1875A764-3B06-454E-8ABA-2F6ED0EB58E9}" type="slidenum">
              <a:rPr lang="en-US" smtClean="0"/>
              <a:t>42</a:t>
            </a:fld>
            <a:endParaRPr lang="en-US"/>
          </a:p>
        </p:txBody>
      </p:sp>
      <p:sp>
        <p:nvSpPr>
          <p:cNvPr id="5" name="Title 4">
            <a:extLst>
              <a:ext uri="{FF2B5EF4-FFF2-40B4-BE49-F238E27FC236}">
                <a16:creationId xmlns:a16="http://schemas.microsoft.com/office/drawing/2014/main" id="{E89995AA-E765-26FC-B01C-6F036859529C}"/>
              </a:ext>
            </a:extLst>
          </p:cNvPr>
          <p:cNvSpPr>
            <a:spLocks noGrp="1"/>
          </p:cNvSpPr>
          <p:nvPr>
            <p:ph type="title"/>
          </p:nvPr>
        </p:nvSpPr>
        <p:spPr/>
        <p:txBody>
          <a:bodyPr/>
          <a:lstStyle/>
          <a:p>
            <a:r>
              <a:rPr lang="en-GB" dirty="0">
                <a:ea typeface="Lato"/>
                <a:cs typeface="Lato"/>
              </a:rPr>
              <a:t>4 Pillars Essential for CXO Success</a:t>
            </a:r>
            <a:endParaRPr lang="en-US" dirty="0"/>
          </a:p>
        </p:txBody>
      </p:sp>
      <p:sp>
        <p:nvSpPr>
          <p:cNvPr id="6" name="Freeform: Shape 90">
            <a:extLst>
              <a:ext uri="{FF2B5EF4-FFF2-40B4-BE49-F238E27FC236}">
                <a16:creationId xmlns:a16="http://schemas.microsoft.com/office/drawing/2014/main" id="{455242F9-0069-BB9A-A282-A31FAEF2FD98}"/>
              </a:ext>
            </a:extLst>
          </p:cNvPr>
          <p:cNvSpPr/>
          <p:nvPr/>
        </p:nvSpPr>
        <p:spPr>
          <a:xfrm>
            <a:off x="699257" y="3703228"/>
            <a:ext cx="5524500" cy="2755778"/>
          </a:xfrm>
          <a:custGeom>
            <a:avLst/>
            <a:gdLst>
              <a:gd name="connsiteX0" fmla="*/ 0 w 5524500"/>
              <a:gd name="connsiteY0" fmla="*/ 0 h 2755778"/>
              <a:gd name="connsiteX1" fmla="*/ 255897 w 5524500"/>
              <a:gd name="connsiteY1" fmla="*/ 0 h 2755778"/>
              <a:gd name="connsiteX2" fmla="*/ 255897 w 5524500"/>
              <a:gd name="connsiteY2" fmla="*/ 1 h 2755778"/>
              <a:gd name="connsiteX3" fmla="*/ 2359301 w 5524500"/>
              <a:gd name="connsiteY3" fmla="*/ 1 h 2755778"/>
              <a:gd name="connsiteX4" fmla="*/ 2346095 w 5524500"/>
              <a:gd name="connsiteY4" fmla="*/ 23873 h 2755778"/>
              <a:gd name="connsiteX5" fmla="*/ 2319647 w 5524500"/>
              <a:gd name="connsiteY5" fmla="*/ 152401 h 2755778"/>
              <a:gd name="connsiteX6" fmla="*/ 2656197 w 5524500"/>
              <a:gd name="connsiteY6" fmla="*/ 482601 h 2755778"/>
              <a:gd name="connsiteX7" fmla="*/ 2992747 w 5524500"/>
              <a:gd name="connsiteY7" fmla="*/ 152401 h 2755778"/>
              <a:gd name="connsiteX8" fmla="*/ 2966299 w 5524500"/>
              <a:gd name="connsiteY8" fmla="*/ 23873 h 2755778"/>
              <a:gd name="connsiteX9" fmla="*/ 2953093 w 5524500"/>
              <a:gd name="connsiteY9" fmla="*/ 1 h 2755778"/>
              <a:gd name="connsiteX10" fmla="*/ 5054600 w 5524500"/>
              <a:gd name="connsiteY10" fmla="*/ 1 h 2755778"/>
              <a:gd name="connsiteX11" fmla="*/ 5054600 w 5524500"/>
              <a:gd name="connsiteY11" fmla="*/ 885253 h 2755778"/>
              <a:gd name="connsiteX12" fmla="*/ 5056950 w 5524500"/>
              <a:gd name="connsiteY12" fmla="*/ 884002 h 2755778"/>
              <a:gd name="connsiteX13" fmla="*/ 5187950 w 5524500"/>
              <a:gd name="connsiteY13" fmla="*/ 858053 h 2755778"/>
              <a:gd name="connsiteX14" fmla="*/ 5524500 w 5524500"/>
              <a:gd name="connsiteY14" fmla="*/ 1188253 h 2755778"/>
              <a:gd name="connsiteX15" fmla="*/ 5187950 w 5524500"/>
              <a:gd name="connsiteY15" fmla="*/ 1518453 h 2755778"/>
              <a:gd name="connsiteX16" fmla="*/ 5056950 w 5524500"/>
              <a:gd name="connsiteY16" fmla="*/ 1492504 h 2755778"/>
              <a:gd name="connsiteX17" fmla="*/ 5054600 w 5524500"/>
              <a:gd name="connsiteY17" fmla="*/ 1491253 h 2755778"/>
              <a:gd name="connsiteX18" fmla="*/ 5054600 w 5524500"/>
              <a:gd name="connsiteY18" fmla="*/ 2219663 h 2755778"/>
              <a:gd name="connsiteX19" fmla="*/ 5054600 w 5524500"/>
              <a:gd name="connsiteY19" fmla="*/ 2549866 h 2755778"/>
              <a:gd name="connsiteX20" fmla="*/ 5054600 w 5524500"/>
              <a:gd name="connsiteY20" fmla="*/ 2755777 h 2755778"/>
              <a:gd name="connsiteX21" fmla="*/ 1426186 w 5524500"/>
              <a:gd name="connsiteY21" fmla="*/ 2755777 h 2755778"/>
              <a:gd name="connsiteX22" fmla="*/ 1426176 w 5524500"/>
              <a:gd name="connsiteY22" fmla="*/ 2755778 h 2755778"/>
              <a:gd name="connsiteX23" fmla="*/ 250224 w 5524500"/>
              <a:gd name="connsiteY23" fmla="*/ 2755778 h 2755778"/>
              <a:gd name="connsiteX24" fmla="*/ 0 w 5524500"/>
              <a:gd name="connsiteY24" fmla="*/ 2505554 h 2755778"/>
              <a:gd name="connsiteX25" fmla="*/ 0 w 5524500"/>
              <a:gd name="connsiteY25" fmla="*/ 1858270 h 275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24500" h="2755778">
                <a:moveTo>
                  <a:pt x="0" y="0"/>
                </a:moveTo>
                <a:lnTo>
                  <a:pt x="255897" y="0"/>
                </a:lnTo>
                <a:lnTo>
                  <a:pt x="255897" y="1"/>
                </a:lnTo>
                <a:lnTo>
                  <a:pt x="2359301" y="1"/>
                </a:lnTo>
                <a:lnTo>
                  <a:pt x="2346095" y="23873"/>
                </a:lnTo>
                <a:cubicBezTo>
                  <a:pt x="2329065" y="63377"/>
                  <a:pt x="2319647" y="106810"/>
                  <a:pt x="2319647" y="152401"/>
                </a:cubicBezTo>
                <a:cubicBezTo>
                  <a:pt x="2319647" y="334765"/>
                  <a:pt x="2470326" y="482601"/>
                  <a:pt x="2656197" y="482601"/>
                </a:cubicBezTo>
                <a:cubicBezTo>
                  <a:pt x="2842068" y="482601"/>
                  <a:pt x="2992747" y="334765"/>
                  <a:pt x="2992747" y="152401"/>
                </a:cubicBezTo>
                <a:cubicBezTo>
                  <a:pt x="2992747" y="106810"/>
                  <a:pt x="2983330" y="63377"/>
                  <a:pt x="2966299" y="23873"/>
                </a:cubicBezTo>
                <a:lnTo>
                  <a:pt x="2953093" y="1"/>
                </a:lnTo>
                <a:lnTo>
                  <a:pt x="5054600" y="1"/>
                </a:lnTo>
                <a:lnTo>
                  <a:pt x="5054600" y="885253"/>
                </a:lnTo>
                <a:lnTo>
                  <a:pt x="5056950" y="884002"/>
                </a:lnTo>
                <a:cubicBezTo>
                  <a:pt x="5097214" y="867293"/>
                  <a:pt x="5141483" y="858053"/>
                  <a:pt x="5187950" y="858053"/>
                </a:cubicBezTo>
                <a:cubicBezTo>
                  <a:pt x="5373821" y="858053"/>
                  <a:pt x="5524500" y="1005889"/>
                  <a:pt x="5524500" y="1188253"/>
                </a:cubicBezTo>
                <a:cubicBezTo>
                  <a:pt x="5524500" y="1370617"/>
                  <a:pt x="5373821" y="1518453"/>
                  <a:pt x="5187950" y="1518453"/>
                </a:cubicBezTo>
                <a:cubicBezTo>
                  <a:pt x="5141483" y="1518453"/>
                  <a:pt x="5097214" y="1509213"/>
                  <a:pt x="5056950" y="1492504"/>
                </a:cubicBezTo>
                <a:lnTo>
                  <a:pt x="5054600" y="1491253"/>
                </a:lnTo>
                <a:lnTo>
                  <a:pt x="5054600" y="2219663"/>
                </a:lnTo>
                <a:lnTo>
                  <a:pt x="5054600" y="2549866"/>
                </a:lnTo>
                <a:lnTo>
                  <a:pt x="5054600" y="2755777"/>
                </a:lnTo>
                <a:lnTo>
                  <a:pt x="1426186" y="2755777"/>
                </a:lnTo>
                <a:lnTo>
                  <a:pt x="1426176" y="2755778"/>
                </a:lnTo>
                <a:lnTo>
                  <a:pt x="250224" y="2755778"/>
                </a:lnTo>
                <a:cubicBezTo>
                  <a:pt x="112029" y="2755778"/>
                  <a:pt x="0" y="2643749"/>
                  <a:pt x="0" y="2505554"/>
                </a:cubicBezTo>
                <a:lnTo>
                  <a:pt x="0" y="1858270"/>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7" name="Freeform: Shape 94">
            <a:extLst>
              <a:ext uri="{FF2B5EF4-FFF2-40B4-BE49-F238E27FC236}">
                <a16:creationId xmlns:a16="http://schemas.microsoft.com/office/drawing/2014/main" id="{E0B8FCD8-0271-F409-97CA-1244F6FBCD51}"/>
              </a:ext>
            </a:extLst>
          </p:cNvPr>
          <p:cNvSpPr/>
          <p:nvPr/>
        </p:nvSpPr>
        <p:spPr>
          <a:xfrm>
            <a:off x="5247754" y="906515"/>
            <a:ext cx="5564497" cy="2796714"/>
          </a:xfrm>
          <a:custGeom>
            <a:avLst/>
            <a:gdLst>
              <a:gd name="connsiteX0" fmla="*/ 508000 w 5564497"/>
              <a:gd name="connsiteY0" fmla="*/ 0 h 2796714"/>
              <a:gd name="connsiteX1" fmla="*/ 4136424 w 5564497"/>
              <a:gd name="connsiteY1" fmla="*/ 0 h 2796714"/>
              <a:gd name="connsiteX2" fmla="*/ 4484997 w 5564497"/>
              <a:gd name="connsiteY2" fmla="*/ 0 h 2796714"/>
              <a:gd name="connsiteX3" fmla="*/ 5312376 w 5564497"/>
              <a:gd name="connsiteY3" fmla="*/ 0 h 2796714"/>
              <a:gd name="connsiteX4" fmla="*/ 5562600 w 5564497"/>
              <a:gd name="connsiteY4" fmla="*/ 250224 h 2796714"/>
              <a:gd name="connsiteX5" fmla="*/ 5562600 w 5564497"/>
              <a:gd name="connsiteY5" fmla="*/ 938442 h 2796714"/>
              <a:gd name="connsiteX6" fmla="*/ 5564497 w 5564497"/>
              <a:gd name="connsiteY6" fmla="*/ 938442 h 2796714"/>
              <a:gd name="connsiteX7" fmla="*/ 5564497 w 5564497"/>
              <a:gd name="connsiteY7" fmla="*/ 2796713 h 2796714"/>
              <a:gd name="connsiteX8" fmla="*/ 5308600 w 5564497"/>
              <a:gd name="connsiteY8" fmla="*/ 2796713 h 2796714"/>
              <a:gd name="connsiteX9" fmla="*/ 4991100 w 5564497"/>
              <a:gd name="connsiteY9" fmla="*/ 2796713 h 2796714"/>
              <a:gd name="connsiteX10" fmla="*/ 4991100 w 5564497"/>
              <a:gd name="connsiteY10" fmla="*/ 2796714 h 2796714"/>
              <a:gd name="connsiteX11" fmla="*/ 3191144 w 5564497"/>
              <a:gd name="connsiteY11" fmla="*/ 2796714 h 2796714"/>
              <a:gd name="connsiteX12" fmla="*/ 3218402 w 5564497"/>
              <a:gd name="connsiteY12" fmla="*/ 2747442 h 2796714"/>
              <a:gd name="connsiteX13" fmla="*/ 3244850 w 5564497"/>
              <a:gd name="connsiteY13" fmla="*/ 2618914 h 2796714"/>
              <a:gd name="connsiteX14" fmla="*/ 2908300 w 5564497"/>
              <a:gd name="connsiteY14" fmla="*/ 2288714 h 2796714"/>
              <a:gd name="connsiteX15" fmla="*/ 2571750 w 5564497"/>
              <a:gd name="connsiteY15" fmla="*/ 2618914 h 2796714"/>
              <a:gd name="connsiteX16" fmla="*/ 2598198 w 5564497"/>
              <a:gd name="connsiteY16" fmla="*/ 2747442 h 2796714"/>
              <a:gd name="connsiteX17" fmla="*/ 2625456 w 5564497"/>
              <a:gd name="connsiteY17" fmla="*/ 2796714 h 2796714"/>
              <a:gd name="connsiteX18" fmla="*/ 508000 w 5564497"/>
              <a:gd name="connsiteY18" fmla="*/ 2796714 h 2796714"/>
              <a:gd name="connsiteX19" fmla="*/ 508000 w 5564497"/>
              <a:gd name="connsiteY19" fmla="*/ 1717811 h 2796714"/>
              <a:gd name="connsiteX20" fmla="*/ 467551 w 5564497"/>
              <a:gd name="connsiteY20" fmla="*/ 1739352 h 2796714"/>
              <a:gd name="connsiteX21" fmla="*/ 336550 w 5564497"/>
              <a:gd name="connsiteY21" fmla="*/ 1765301 h 2796714"/>
              <a:gd name="connsiteX22" fmla="*/ 0 w 5564497"/>
              <a:gd name="connsiteY22" fmla="*/ 1435101 h 2796714"/>
              <a:gd name="connsiteX23" fmla="*/ 336550 w 5564497"/>
              <a:gd name="connsiteY23" fmla="*/ 1104901 h 2796714"/>
              <a:gd name="connsiteX24" fmla="*/ 467551 w 5564497"/>
              <a:gd name="connsiteY24" fmla="*/ 1130850 h 2796714"/>
              <a:gd name="connsiteX25" fmla="*/ 508000 w 5564497"/>
              <a:gd name="connsiteY25" fmla="*/ 1152391 h 2796714"/>
              <a:gd name="connsiteX26" fmla="*/ 508000 w 5564497"/>
              <a:gd name="connsiteY26" fmla="*/ 536114 h 2796714"/>
              <a:gd name="connsiteX27" fmla="*/ 508000 w 5564497"/>
              <a:gd name="connsiteY27" fmla="*/ 246848 h 279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64497" h="2796714">
                <a:moveTo>
                  <a:pt x="508000" y="0"/>
                </a:moveTo>
                <a:lnTo>
                  <a:pt x="4136424" y="0"/>
                </a:lnTo>
                <a:lnTo>
                  <a:pt x="4484997" y="0"/>
                </a:lnTo>
                <a:lnTo>
                  <a:pt x="5312376" y="0"/>
                </a:lnTo>
                <a:cubicBezTo>
                  <a:pt x="5450571" y="0"/>
                  <a:pt x="5562600" y="112029"/>
                  <a:pt x="5562600" y="250224"/>
                </a:cubicBezTo>
                <a:lnTo>
                  <a:pt x="5562600" y="938442"/>
                </a:lnTo>
                <a:lnTo>
                  <a:pt x="5564497" y="938442"/>
                </a:lnTo>
                <a:lnTo>
                  <a:pt x="5564497" y="2796713"/>
                </a:lnTo>
                <a:lnTo>
                  <a:pt x="5308600" y="2796713"/>
                </a:lnTo>
                <a:lnTo>
                  <a:pt x="4991100" y="2796713"/>
                </a:lnTo>
                <a:lnTo>
                  <a:pt x="4991100" y="2796714"/>
                </a:lnTo>
                <a:lnTo>
                  <a:pt x="3191144" y="2796714"/>
                </a:lnTo>
                <a:lnTo>
                  <a:pt x="3218402" y="2747442"/>
                </a:lnTo>
                <a:cubicBezTo>
                  <a:pt x="3235433" y="2707938"/>
                  <a:pt x="3244850" y="2664505"/>
                  <a:pt x="3244850" y="2618914"/>
                </a:cubicBezTo>
                <a:cubicBezTo>
                  <a:pt x="3244850" y="2436550"/>
                  <a:pt x="3094171" y="2288714"/>
                  <a:pt x="2908300" y="2288714"/>
                </a:cubicBezTo>
                <a:cubicBezTo>
                  <a:pt x="2722429" y="2288714"/>
                  <a:pt x="2571750" y="2436550"/>
                  <a:pt x="2571750" y="2618914"/>
                </a:cubicBezTo>
                <a:cubicBezTo>
                  <a:pt x="2571750" y="2664505"/>
                  <a:pt x="2581167" y="2707938"/>
                  <a:pt x="2598198" y="2747442"/>
                </a:cubicBezTo>
                <a:lnTo>
                  <a:pt x="2625456" y="2796714"/>
                </a:lnTo>
                <a:lnTo>
                  <a:pt x="508000" y="2796714"/>
                </a:lnTo>
                <a:lnTo>
                  <a:pt x="508000" y="1717811"/>
                </a:lnTo>
                <a:lnTo>
                  <a:pt x="467551" y="1739352"/>
                </a:lnTo>
                <a:cubicBezTo>
                  <a:pt x="427286" y="1756061"/>
                  <a:pt x="383018" y="1765301"/>
                  <a:pt x="336550" y="1765301"/>
                </a:cubicBezTo>
                <a:cubicBezTo>
                  <a:pt x="150679" y="1765301"/>
                  <a:pt x="0" y="1617465"/>
                  <a:pt x="0" y="1435101"/>
                </a:cubicBezTo>
                <a:cubicBezTo>
                  <a:pt x="0" y="1252737"/>
                  <a:pt x="150679" y="1104901"/>
                  <a:pt x="336550" y="1104901"/>
                </a:cubicBezTo>
                <a:cubicBezTo>
                  <a:pt x="383018" y="1104901"/>
                  <a:pt x="427286" y="1114141"/>
                  <a:pt x="467551" y="1130850"/>
                </a:cubicBezTo>
                <a:lnTo>
                  <a:pt x="508000" y="1152391"/>
                </a:lnTo>
                <a:lnTo>
                  <a:pt x="508000" y="536114"/>
                </a:lnTo>
                <a:lnTo>
                  <a:pt x="508000" y="246848"/>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prstClr val="white"/>
              </a:solidFill>
              <a:effectLst/>
              <a:uLnTx/>
              <a:uFillTx/>
              <a:latin typeface="Segoe UI" pitchFamily="34" charset="0"/>
              <a:ea typeface="+mn-ea"/>
              <a:cs typeface="+mn-cs"/>
            </a:endParaRPr>
          </a:p>
        </p:txBody>
      </p:sp>
      <p:sp>
        <p:nvSpPr>
          <p:cNvPr id="8" name="Freeform: Shape 93">
            <a:extLst>
              <a:ext uri="{FF2B5EF4-FFF2-40B4-BE49-F238E27FC236}">
                <a16:creationId xmlns:a16="http://schemas.microsoft.com/office/drawing/2014/main" id="{898D8AE5-1C94-3E5B-BE15-D821113BB9AC}"/>
              </a:ext>
            </a:extLst>
          </p:cNvPr>
          <p:cNvSpPr/>
          <p:nvPr/>
        </p:nvSpPr>
        <p:spPr>
          <a:xfrm>
            <a:off x="5755754" y="3195229"/>
            <a:ext cx="5056497" cy="3263777"/>
          </a:xfrm>
          <a:custGeom>
            <a:avLst/>
            <a:gdLst>
              <a:gd name="connsiteX0" fmla="*/ 2400300 w 5056497"/>
              <a:gd name="connsiteY0" fmla="*/ 0 h 3263777"/>
              <a:gd name="connsiteX1" fmla="*/ 2736850 w 5056497"/>
              <a:gd name="connsiteY1" fmla="*/ 330200 h 3263777"/>
              <a:gd name="connsiteX2" fmla="*/ 2710402 w 5056497"/>
              <a:gd name="connsiteY2" fmla="*/ 458728 h 3263777"/>
              <a:gd name="connsiteX3" fmla="*/ 2683144 w 5056497"/>
              <a:gd name="connsiteY3" fmla="*/ 508000 h 3263777"/>
              <a:gd name="connsiteX4" fmla="*/ 4483100 w 5056497"/>
              <a:gd name="connsiteY4" fmla="*/ 508000 h 3263777"/>
              <a:gd name="connsiteX5" fmla="*/ 4483100 w 5056497"/>
              <a:gd name="connsiteY5" fmla="*/ 507999 h 3263777"/>
              <a:gd name="connsiteX6" fmla="*/ 5056497 w 5056497"/>
              <a:gd name="connsiteY6" fmla="*/ 507999 h 3263777"/>
              <a:gd name="connsiteX7" fmla="*/ 5056497 w 5056497"/>
              <a:gd name="connsiteY7" fmla="*/ 2366270 h 3263777"/>
              <a:gd name="connsiteX8" fmla="*/ 5054600 w 5056497"/>
              <a:gd name="connsiteY8" fmla="*/ 2366270 h 3263777"/>
              <a:gd name="connsiteX9" fmla="*/ 5054600 w 5056497"/>
              <a:gd name="connsiteY9" fmla="*/ 3013553 h 3263777"/>
              <a:gd name="connsiteX10" fmla="*/ 4804376 w 5056497"/>
              <a:gd name="connsiteY10" fmla="*/ 3263777 h 3263777"/>
              <a:gd name="connsiteX11" fmla="*/ 3976997 w 5056497"/>
              <a:gd name="connsiteY11" fmla="*/ 3263777 h 3263777"/>
              <a:gd name="connsiteX12" fmla="*/ 3628424 w 5056497"/>
              <a:gd name="connsiteY12" fmla="*/ 3263777 h 3263777"/>
              <a:gd name="connsiteX13" fmla="*/ 0 w 5056497"/>
              <a:gd name="connsiteY13" fmla="*/ 3263777 h 3263777"/>
              <a:gd name="connsiteX14" fmla="*/ 0 w 5056497"/>
              <a:gd name="connsiteY14" fmla="*/ 3057866 h 3263777"/>
              <a:gd name="connsiteX15" fmla="*/ 0 w 5056497"/>
              <a:gd name="connsiteY15" fmla="*/ 2727663 h 3263777"/>
              <a:gd name="connsiteX16" fmla="*/ 0 w 5056497"/>
              <a:gd name="connsiteY16" fmla="*/ 2000264 h 3263777"/>
              <a:gd name="connsiteX17" fmla="*/ 452 w 5056497"/>
              <a:gd name="connsiteY17" fmla="*/ 2000504 h 3263777"/>
              <a:gd name="connsiteX18" fmla="*/ 131452 w 5056497"/>
              <a:gd name="connsiteY18" fmla="*/ 2026453 h 3263777"/>
              <a:gd name="connsiteX19" fmla="*/ 468002 w 5056497"/>
              <a:gd name="connsiteY19" fmla="*/ 1696253 h 3263777"/>
              <a:gd name="connsiteX20" fmla="*/ 131452 w 5056497"/>
              <a:gd name="connsiteY20" fmla="*/ 1366053 h 3263777"/>
              <a:gd name="connsiteX21" fmla="*/ 452 w 5056497"/>
              <a:gd name="connsiteY21" fmla="*/ 1392002 h 3263777"/>
              <a:gd name="connsiteX22" fmla="*/ 0 w 5056497"/>
              <a:gd name="connsiteY22" fmla="*/ 1392243 h 3263777"/>
              <a:gd name="connsiteX23" fmla="*/ 0 w 5056497"/>
              <a:gd name="connsiteY23" fmla="*/ 508000 h 3263777"/>
              <a:gd name="connsiteX24" fmla="*/ 2117456 w 5056497"/>
              <a:gd name="connsiteY24" fmla="*/ 508000 h 3263777"/>
              <a:gd name="connsiteX25" fmla="*/ 2090198 w 5056497"/>
              <a:gd name="connsiteY25" fmla="*/ 458728 h 3263777"/>
              <a:gd name="connsiteX26" fmla="*/ 2063750 w 5056497"/>
              <a:gd name="connsiteY26" fmla="*/ 330200 h 3263777"/>
              <a:gd name="connsiteX27" fmla="*/ 2400300 w 5056497"/>
              <a:gd name="connsiteY27" fmla="*/ 0 h 32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56497" h="3263777">
                <a:moveTo>
                  <a:pt x="2400300" y="0"/>
                </a:moveTo>
                <a:cubicBezTo>
                  <a:pt x="2586171" y="0"/>
                  <a:pt x="2736850" y="147836"/>
                  <a:pt x="2736850" y="330200"/>
                </a:cubicBezTo>
                <a:cubicBezTo>
                  <a:pt x="2736850" y="375791"/>
                  <a:pt x="2727433" y="419224"/>
                  <a:pt x="2710402" y="458728"/>
                </a:cubicBezTo>
                <a:lnTo>
                  <a:pt x="2683144" y="508000"/>
                </a:lnTo>
                <a:lnTo>
                  <a:pt x="4483100" y="508000"/>
                </a:lnTo>
                <a:lnTo>
                  <a:pt x="4483100" y="507999"/>
                </a:lnTo>
                <a:lnTo>
                  <a:pt x="5056497" y="507999"/>
                </a:lnTo>
                <a:lnTo>
                  <a:pt x="5056497" y="2366270"/>
                </a:lnTo>
                <a:lnTo>
                  <a:pt x="5054600" y="2366270"/>
                </a:lnTo>
                <a:lnTo>
                  <a:pt x="5054600" y="3013553"/>
                </a:lnTo>
                <a:cubicBezTo>
                  <a:pt x="5054600" y="3151748"/>
                  <a:pt x="4942571" y="3263777"/>
                  <a:pt x="4804376" y="3263777"/>
                </a:cubicBezTo>
                <a:lnTo>
                  <a:pt x="3976997" y="3263777"/>
                </a:lnTo>
                <a:lnTo>
                  <a:pt x="3628424" y="3263777"/>
                </a:lnTo>
                <a:lnTo>
                  <a:pt x="0" y="3263777"/>
                </a:lnTo>
                <a:lnTo>
                  <a:pt x="0" y="3057866"/>
                </a:lnTo>
                <a:lnTo>
                  <a:pt x="0" y="2727663"/>
                </a:lnTo>
                <a:lnTo>
                  <a:pt x="0" y="2000264"/>
                </a:lnTo>
                <a:lnTo>
                  <a:pt x="452" y="2000504"/>
                </a:lnTo>
                <a:cubicBezTo>
                  <a:pt x="40716" y="2017213"/>
                  <a:pt x="84985" y="2026453"/>
                  <a:pt x="131452" y="2026453"/>
                </a:cubicBezTo>
                <a:cubicBezTo>
                  <a:pt x="317323" y="2026453"/>
                  <a:pt x="468002" y="1878617"/>
                  <a:pt x="468002" y="1696253"/>
                </a:cubicBezTo>
                <a:cubicBezTo>
                  <a:pt x="468002" y="1513889"/>
                  <a:pt x="317323" y="1366053"/>
                  <a:pt x="131452" y="1366053"/>
                </a:cubicBezTo>
                <a:cubicBezTo>
                  <a:pt x="84985" y="1366053"/>
                  <a:pt x="40716" y="1375293"/>
                  <a:pt x="452" y="1392002"/>
                </a:cubicBezTo>
                <a:lnTo>
                  <a:pt x="0" y="1392243"/>
                </a:lnTo>
                <a:lnTo>
                  <a:pt x="0" y="508000"/>
                </a:lnTo>
                <a:lnTo>
                  <a:pt x="2117456" y="508000"/>
                </a:lnTo>
                <a:lnTo>
                  <a:pt x="2090198" y="458728"/>
                </a:lnTo>
                <a:cubicBezTo>
                  <a:pt x="2073167" y="419224"/>
                  <a:pt x="2063750" y="375791"/>
                  <a:pt x="2063750" y="330200"/>
                </a:cubicBezTo>
                <a:cubicBezTo>
                  <a:pt x="2063750" y="147836"/>
                  <a:pt x="2214429" y="0"/>
                  <a:pt x="2400300" y="0"/>
                </a:cubicBez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9" name="Freeform: Shape 92">
            <a:extLst>
              <a:ext uri="{FF2B5EF4-FFF2-40B4-BE49-F238E27FC236}">
                <a16:creationId xmlns:a16="http://schemas.microsoft.com/office/drawing/2014/main" id="{761A242F-DC50-E4C7-C51B-BDAA611D4136}"/>
              </a:ext>
            </a:extLst>
          </p:cNvPr>
          <p:cNvSpPr/>
          <p:nvPr/>
        </p:nvSpPr>
        <p:spPr>
          <a:xfrm>
            <a:off x="699257" y="906515"/>
            <a:ext cx="5056497" cy="3279314"/>
          </a:xfrm>
          <a:custGeom>
            <a:avLst/>
            <a:gdLst>
              <a:gd name="connsiteX0" fmla="*/ 1079500 w 5056497"/>
              <a:gd name="connsiteY0" fmla="*/ 0 h 3279314"/>
              <a:gd name="connsiteX1" fmla="*/ 5056497 w 5056497"/>
              <a:gd name="connsiteY1" fmla="*/ 0 h 3279314"/>
              <a:gd name="connsiteX2" fmla="*/ 5056497 w 5056497"/>
              <a:gd name="connsiteY2" fmla="*/ 246848 h 3279314"/>
              <a:gd name="connsiteX3" fmla="*/ 5056497 w 5056497"/>
              <a:gd name="connsiteY3" fmla="*/ 536114 h 3279314"/>
              <a:gd name="connsiteX4" fmla="*/ 5056497 w 5056497"/>
              <a:gd name="connsiteY4" fmla="*/ 1152391 h 3279314"/>
              <a:gd name="connsiteX5" fmla="*/ 5016048 w 5056497"/>
              <a:gd name="connsiteY5" fmla="*/ 1130850 h 3279314"/>
              <a:gd name="connsiteX6" fmla="*/ 4885047 w 5056497"/>
              <a:gd name="connsiteY6" fmla="*/ 1104901 h 3279314"/>
              <a:gd name="connsiteX7" fmla="*/ 4548497 w 5056497"/>
              <a:gd name="connsiteY7" fmla="*/ 1435101 h 3279314"/>
              <a:gd name="connsiteX8" fmla="*/ 4885047 w 5056497"/>
              <a:gd name="connsiteY8" fmla="*/ 1765301 h 3279314"/>
              <a:gd name="connsiteX9" fmla="*/ 5016048 w 5056497"/>
              <a:gd name="connsiteY9" fmla="*/ 1739352 h 3279314"/>
              <a:gd name="connsiteX10" fmla="*/ 5056497 w 5056497"/>
              <a:gd name="connsiteY10" fmla="*/ 1717811 h 3279314"/>
              <a:gd name="connsiteX11" fmla="*/ 5056497 w 5056497"/>
              <a:gd name="connsiteY11" fmla="*/ 2796714 h 3279314"/>
              <a:gd name="connsiteX12" fmla="*/ 2953093 w 5056497"/>
              <a:gd name="connsiteY12" fmla="*/ 2796714 h 3279314"/>
              <a:gd name="connsiteX13" fmla="*/ 2966299 w 5056497"/>
              <a:gd name="connsiteY13" fmla="*/ 2820586 h 3279314"/>
              <a:gd name="connsiteX14" fmla="*/ 2992747 w 5056497"/>
              <a:gd name="connsiteY14" fmla="*/ 2949114 h 3279314"/>
              <a:gd name="connsiteX15" fmla="*/ 2656197 w 5056497"/>
              <a:gd name="connsiteY15" fmla="*/ 3279314 h 3279314"/>
              <a:gd name="connsiteX16" fmla="*/ 2319647 w 5056497"/>
              <a:gd name="connsiteY16" fmla="*/ 2949114 h 3279314"/>
              <a:gd name="connsiteX17" fmla="*/ 2346095 w 5056497"/>
              <a:gd name="connsiteY17" fmla="*/ 2820586 h 3279314"/>
              <a:gd name="connsiteX18" fmla="*/ 2359301 w 5056497"/>
              <a:gd name="connsiteY18" fmla="*/ 2796714 h 3279314"/>
              <a:gd name="connsiteX19" fmla="*/ 255897 w 5056497"/>
              <a:gd name="connsiteY19" fmla="*/ 2796714 h 3279314"/>
              <a:gd name="connsiteX20" fmla="*/ 255897 w 5056497"/>
              <a:gd name="connsiteY20" fmla="*/ 2796713 h 3279314"/>
              <a:gd name="connsiteX21" fmla="*/ 0 w 5056497"/>
              <a:gd name="connsiteY21" fmla="*/ 2796713 h 3279314"/>
              <a:gd name="connsiteX22" fmla="*/ 0 w 5056497"/>
              <a:gd name="connsiteY22" fmla="*/ 938442 h 3279314"/>
              <a:gd name="connsiteX23" fmla="*/ 1897 w 5056497"/>
              <a:gd name="connsiteY23" fmla="*/ 938442 h 3279314"/>
              <a:gd name="connsiteX24" fmla="*/ 1897 w 5056497"/>
              <a:gd name="connsiteY24" fmla="*/ 250225 h 3279314"/>
              <a:gd name="connsiteX25" fmla="*/ 252121 w 5056497"/>
              <a:gd name="connsiteY25" fmla="*/ 1 h 3279314"/>
              <a:gd name="connsiteX26" fmla="*/ 1079500 w 5056497"/>
              <a:gd name="connsiteY26" fmla="*/ 1 h 3279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56497" h="3279314">
                <a:moveTo>
                  <a:pt x="1079500" y="0"/>
                </a:moveTo>
                <a:lnTo>
                  <a:pt x="5056497" y="0"/>
                </a:lnTo>
                <a:lnTo>
                  <a:pt x="5056497" y="246848"/>
                </a:lnTo>
                <a:lnTo>
                  <a:pt x="5056497" y="536114"/>
                </a:lnTo>
                <a:lnTo>
                  <a:pt x="5056497" y="1152391"/>
                </a:lnTo>
                <a:lnTo>
                  <a:pt x="5016048" y="1130850"/>
                </a:lnTo>
                <a:cubicBezTo>
                  <a:pt x="4975783" y="1114141"/>
                  <a:pt x="4931515" y="1104901"/>
                  <a:pt x="4885047" y="1104901"/>
                </a:cubicBezTo>
                <a:cubicBezTo>
                  <a:pt x="4699176" y="1104901"/>
                  <a:pt x="4548497" y="1252737"/>
                  <a:pt x="4548497" y="1435101"/>
                </a:cubicBezTo>
                <a:cubicBezTo>
                  <a:pt x="4548497" y="1617465"/>
                  <a:pt x="4699176" y="1765301"/>
                  <a:pt x="4885047" y="1765301"/>
                </a:cubicBezTo>
                <a:cubicBezTo>
                  <a:pt x="4931515" y="1765301"/>
                  <a:pt x="4975783" y="1756061"/>
                  <a:pt x="5016048" y="1739352"/>
                </a:cubicBezTo>
                <a:lnTo>
                  <a:pt x="5056497" y="1717811"/>
                </a:lnTo>
                <a:lnTo>
                  <a:pt x="5056497" y="2796714"/>
                </a:lnTo>
                <a:lnTo>
                  <a:pt x="2953093" y="2796714"/>
                </a:lnTo>
                <a:lnTo>
                  <a:pt x="2966299" y="2820586"/>
                </a:lnTo>
                <a:cubicBezTo>
                  <a:pt x="2983330" y="2860090"/>
                  <a:pt x="2992747" y="2903523"/>
                  <a:pt x="2992747" y="2949114"/>
                </a:cubicBezTo>
                <a:cubicBezTo>
                  <a:pt x="2992747" y="3131478"/>
                  <a:pt x="2842068" y="3279314"/>
                  <a:pt x="2656197" y="3279314"/>
                </a:cubicBezTo>
                <a:cubicBezTo>
                  <a:pt x="2470326" y="3279314"/>
                  <a:pt x="2319647" y="3131478"/>
                  <a:pt x="2319647" y="2949114"/>
                </a:cubicBezTo>
                <a:cubicBezTo>
                  <a:pt x="2319647" y="2903523"/>
                  <a:pt x="2329065" y="2860090"/>
                  <a:pt x="2346095" y="2820586"/>
                </a:cubicBezTo>
                <a:lnTo>
                  <a:pt x="2359301" y="2796714"/>
                </a:lnTo>
                <a:lnTo>
                  <a:pt x="255897" y="2796714"/>
                </a:lnTo>
                <a:lnTo>
                  <a:pt x="255897" y="2796713"/>
                </a:lnTo>
                <a:lnTo>
                  <a:pt x="0" y="2796713"/>
                </a:lnTo>
                <a:lnTo>
                  <a:pt x="0" y="938442"/>
                </a:lnTo>
                <a:lnTo>
                  <a:pt x="1897" y="938442"/>
                </a:lnTo>
                <a:lnTo>
                  <a:pt x="1897" y="250225"/>
                </a:lnTo>
                <a:cubicBezTo>
                  <a:pt x="1897" y="112030"/>
                  <a:pt x="113926" y="1"/>
                  <a:pt x="252121" y="1"/>
                </a:cubicBezTo>
                <a:lnTo>
                  <a:pt x="1079500" y="1"/>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prstClr val="white"/>
              </a:solidFill>
              <a:effectLst/>
              <a:uLnTx/>
              <a:uFillTx/>
              <a:latin typeface="Segoe UI" pitchFamily="34" charset="0"/>
              <a:ea typeface="+mn-ea"/>
              <a:cs typeface="+mn-cs"/>
            </a:endParaRPr>
          </a:p>
        </p:txBody>
      </p:sp>
      <p:grpSp>
        <p:nvGrpSpPr>
          <p:cNvPr id="10" name="Group 9">
            <a:extLst>
              <a:ext uri="{FF2B5EF4-FFF2-40B4-BE49-F238E27FC236}">
                <a16:creationId xmlns:a16="http://schemas.microsoft.com/office/drawing/2014/main" id="{E74037A0-5257-D9C7-95B7-04D3E9BA9B87}"/>
              </a:ext>
            </a:extLst>
          </p:cNvPr>
          <p:cNvGrpSpPr/>
          <p:nvPr/>
        </p:nvGrpSpPr>
        <p:grpSpPr>
          <a:xfrm>
            <a:off x="2570365" y="1657060"/>
            <a:ext cx="1346844" cy="975727"/>
            <a:chOff x="1539865" y="2033847"/>
            <a:chExt cx="1346844" cy="975727"/>
          </a:xfrm>
        </p:grpSpPr>
        <p:pic>
          <p:nvPicPr>
            <p:cNvPr id="11" name="Graphic 18">
              <a:extLst>
                <a:ext uri="{FF2B5EF4-FFF2-40B4-BE49-F238E27FC236}">
                  <a16:creationId xmlns:a16="http://schemas.microsoft.com/office/drawing/2014/main" id="{F044CA31-C26F-F0F6-D960-B5FE2C79AAA1}"/>
                </a:ext>
              </a:extLst>
            </p:cNvPr>
            <p:cNvPicPr>
              <a:picLocks noChangeAspect="1"/>
            </p:cNvPicPr>
            <p:nvPr/>
          </p:nvPicPr>
          <p:blipFill>
            <a:blip r:embed="rId2">
              <a:duotone>
                <a:srgbClr val="765FFF"/>
                <a:srgbClr val="FFFFFF"/>
              </a:duotone>
            </a:blip>
            <a:stretch>
              <a:fillRect/>
            </a:stretch>
          </p:blipFill>
          <p:spPr>
            <a:xfrm>
              <a:off x="1964951" y="2033847"/>
              <a:ext cx="527076" cy="527077"/>
            </a:xfrm>
            <a:prstGeom prst="rect">
              <a:avLst/>
            </a:prstGeom>
            <a:effectLst/>
          </p:spPr>
        </p:pic>
        <p:sp>
          <p:nvSpPr>
            <p:cNvPr id="12" name="TextBox 11">
              <a:extLst>
                <a:ext uri="{FF2B5EF4-FFF2-40B4-BE49-F238E27FC236}">
                  <a16:creationId xmlns:a16="http://schemas.microsoft.com/office/drawing/2014/main" id="{6BBF984B-D614-23A2-731D-7CEFC68120E6}"/>
                </a:ext>
              </a:extLst>
            </p:cNvPr>
            <p:cNvSpPr txBox="1"/>
            <p:nvPr/>
          </p:nvSpPr>
          <p:spPr>
            <a:xfrm>
              <a:off x="1539865" y="2640242"/>
              <a:ext cx="1346844"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10" normalizeH="0" baseline="0" noProof="0" dirty="0">
                  <a:ln>
                    <a:noFill/>
                  </a:ln>
                  <a:solidFill>
                    <a:srgbClr val="281A42"/>
                  </a:solidFill>
                  <a:effectLst/>
                  <a:uLnTx/>
                  <a:uFillTx/>
                  <a:latin typeface="Segoe UI" pitchFamily="34" charset="0"/>
                  <a:ea typeface="+mn-ea"/>
                  <a:cs typeface="+mn-cs"/>
                </a:rPr>
                <a:t>CXO success</a:t>
              </a:r>
            </a:p>
          </p:txBody>
        </p:sp>
      </p:grpSp>
      <p:sp>
        <p:nvSpPr>
          <p:cNvPr id="13" name="TextBox 12">
            <a:extLst>
              <a:ext uri="{FF2B5EF4-FFF2-40B4-BE49-F238E27FC236}">
                <a16:creationId xmlns:a16="http://schemas.microsoft.com/office/drawing/2014/main" id="{AF726675-E192-8412-646F-11F1E4F3A879}"/>
              </a:ext>
            </a:extLst>
          </p:cNvPr>
          <p:cNvSpPr txBox="1"/>
          <p:nvPr/>
        </p:nvSpPr>
        <p:spPr>
          <a:xfrm>
            <a:off x="985482" y="3010287"/>
            <a:ext cx="4548068" cy="52322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 normalizeH="0" baseline="0" noProof="0" dirty="0">
                <a:ln>
                  <a:noFill/>
                </a:ln>
                <a:solidFill>
                  <a:prstClr val="black"/>
                </a:solidFill>
                <a:effectLst/>
                <a:uLnTx/>
                <a:uFillTx/>
                <a:latin typeface="Arial" pitchFamily="34" charset="0"/>
                <a:ea typeface="Lato" panose="020F0502020204030203" pitchFamily="34" charset="0"/>
                <a:cs typeface="Lato" panose="020F0502020204030203" pitchFamily="34" charset="0"/>
              </a:rPr>
              <a:t>“We Have a Brilliant CXO but do we have the Ecosystem for him to deliver?”</a:t>
            </a:r>
          </a:p>
        </p:txBody>
      </p:sp>
      <p:sp>
        <p:nvSpPr>
          <p:cNvPr id="14" name="TextBox 13">
            <a:extLst>
              <a:ext uri="{FF2B5EF4-FFF2-40B4-BE49-F238E27FC236}">
                <a16:creationId xmlns:a16="http://schemas.microsoft.com/office/drawing/2014/main" id="{F31F18F9-E4F8-FE89-833E-B164C7808DD9}"/>
              </a:ext>
            </a:extLst>
          </p:cNvPr>
          <p:cNvSpPr txBox="1"/>
          <p:nvPr/>
        </p:nvSpPr>
        <p:spPr>
          <a:xfrm>
            <a:off x="5909765" y="2485404"/>
            <a:ext cx="4714875"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WHAT ARE THE BIG BETS TO DELIVER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ARE THE STAKEHOLDERS ALIGNED TO THE BIG BETS? </a:t>
            </a:r>
          </a:p>
        </p:txBody>
      </p:sp>
      <p:sp>
        <p:nvSpPr>
          <p:cNvPr id="15" name="TextBox 14">
            <a:extLst>
              <a:ext uri="{FF2B5EF4-FFF2-40B4-BE49-F238E27FC236}">
                <a16:creationId xmlns:a16="http://schemas.microsoft.com/office/drawing/2014/main" id="{7285E199-3479-7C45-791D-406580517449}"/>
              </a:ext>
            </a:extLst>
          </p:cNvPr>
          <p:cNvSpPr txBox="1"/>
          <p:nvPr/>
        </p:nvSpPr>
        <p:spPr>
          <a:xfrm>
            <a:off x="5909765" y="5543727"/>
            <a:ext cx="5013326"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dirty="0">
                <a:ln/>
                <a:solidFill>
                  <a:srgbClr val="1D1D1D"/>
                </a:solidFill>
                <a:effectLst/>
                <a:uLnTx/>
                <a:uFillTx/>
                <a:latin typeface="Segoe UI" pitchFamily="34" charset="0"/>
                <a:ea typeface="Lato"/>
                <a:cs typeface="Lato"/>
                <a:sym typeface="Lato"/>
                <a:rtl val="0"/>
              </a:rPr>
              <a:t>ARE WE TALENTED ENOUGH AT THE POINTS OF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solidFill>
                  <a:srgbClr val="1D1D1D"/>
                </a:solidFill>
                <a:effectLst/>
                <a:uLnTx/>
                <a:uFillTx/>
                <a:latin typeface="Arial" pitchFamily="34" charset="0"/>
                <a:ea typeface="+mn-ea"/>
                <a:cs typeface="+mn-cs"/>
                <a:sym typeface="Lato"/>
                <a:rtl val="0"/>
              </a:rPr>
              <a:t>EXCEPTIONAL TALENT IN 20 – 30 CRITICAL ROLES</a:t>
            </a:r>
          </a:p>
        </p:txBody>
      </p:sp>
      <p:pic>
        <p:nvPicPr>
          <p:cNvPr id="16" name="Picture 15" descr="Bend the Curve">
            <a:extLst>
              <a:ext uri="{FF2B5EF4-FFF2-40B4-BE49-F238E27FC236}">
                <a16:creationId xmlns:a16="http://schemas.microsoft.com/office/drawing/2014/main" id="{CDEDB569-3834-AFB2-3089-4246CE44F1D7}"/>
              </a:ext>
            </a:extLst>
          </p:cNvPr>
          <p:cNvPicPr>
            <a:picLocks noChangeAspect="1"/>
          </p:cNvPicPr>
          <p:nvPr/>
        </p:nvPicPr>
        <p:blipFill>
          <a:blip r:embed="rId3">
            <a:duotone>
              <a:srgbClr val="765FFF"/>
              <a:srgbClr val="FFFFFF"/>
            </a:duotone>
          </a:blip>
          <a:stretch>
            <a:fillRect/>
          </a:stretch>
        </p:blipFill>
        <p:spPr>
          <a:xfrm>
            <a:off x="7759721" y="1431243"/>
            <a:ext cx="862488" cy="862488"/>
          </a:xfrm>
          <a:prstGeom prst="rect">
            <a:avLst/>
          </a:prstGeom>
        </p:spPr>
      </p:pic>
      <p:sp>
        <p:nvSpPr>
          <p:cNvPr id="17" name="TextBox 16">
            <a:extLst>
              <a:ext uri="{FF2B5EF4-FFF2-40B4-BE49-F238E27FC236}">
                <a16:creationId xmlns:a16="http://schemas.microsoft.com/office/drawing/2014/main" id="{0CC1BBB0-C650-8882-137C-61115F87245D}"/>
              </a:ext>
            </a:extLst>
          </p:cNvPr>
          <p:cNvSpPr txBox="1"/>
          <p:nvPr/>
        </p:nvSpPr>
        <p:spPr>
          <a:xfrm>
            <a:off x="985482" y="5298840"/>
            <a:ext cx="4714875" cy="954107"/>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rPr>
            </a:br>
            <a:r>
              <a:rPr kumimoji="0" lang="en-US" sz="1400" b="1" i="0" u="none" strike="noStrike" kern="0" cap="none" spc="-10" normalizeH="0" baseline="0" noProof="0" dirty="0">
                <a:ln/>
                <a:solidFill>
                  <a:srgbClr val="1D1D1D"/>
                </a:solidFill>
                <a:effectLst/>
                <a:uLnTx/>
                <a:uFillTx/>
                <a:latin typeface="Segoe UI" pitchFamily="34" charset="0"/>
                <a:ea typeface="Lato"/>
                <a:cs typeface="Lato"/>
                <a:sym typeface="Lato"/>
                <a:rtl val="0"/>
              </a:rPr>
              <a:t>IS MY LEADERSHIP TEAM READY?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rPr>
              <a:t>CEO, COO, CFO, CTO, CHRO, BU PRESIDENTS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endParaRPr>
          </a:p>
        </p:txBody>
      </p:sp>
      <p:pic>
        <p:nvPicPr>
          <p:cNvPr id="18" name="Picture 17" descr="Identify critical roles">
            <a:extLst>
              <a:ext uri="{FF2B5EF4-FFF2-40B4-BE49-F238E27FC236}">
                <a16:creationId xmlns:a16="http://schemas.microsoft.com/office/drawing/2014/main" id="{4725E22D-C79F-E037-27FE-C5828F0C2916}"/>
              </a:ext>
            </a:extLst>
          </p:cNvPr>
          <p:cNvPicPr>
            <a:picLocks noChangeAspect="1"/>
          </p:cNvPicPr>
          <p:nvPr/>
        </p:nvPicPr>
        <p:blipFill>
          <a:blip r:embed="rId4">
            <a:duotone>
              <a:srgbClr val="765FFF"/>
              <a:srgbClr val="FFFFFF"/>
            </a:duotone>
          </a:blip>
          <a:stretch>
            <a:fillRect/>
          </a:stretch>
        </p:blipFill>
        <p:spPr>
          <a:xfrm>
            <a:off x="2596427" y="4182957"/>
            <a:ext cx="1326178" cy="1326178"/>
          </a:xfrm>
          <a:prstGeom prst="rect">
            <a:avLst/>
          </a:prstGeom>
        </p:spPr>
      </p:pic>
      <p:pic>
        <p:nvPicPr>
          <p:cNvPr id="19" name="Picture 18" descr="The Code">
            <a:extLst>
              <a:ext uri="{FF2B5EF4-FFF2-40B4-BE49-F238E27FC236}">
                <a16:creationId xmlns:a16="http://schemas.microsoft.com/office/drawing/2014/main" id="{C3BE4E65-CFF9-C014-F479-02F9EF1DE0A1}"/>
              </a:ext>
            </a:extLst>
          </p:cNvPr>
          <p:cNvPicPr>
            <a:picLocks noChangeAspect="1"/>
          </p:cNvPicPr>
          <p:nvPr/>
        </p:nvPicPr>
        <p:blipFill>
          <a:blip r:embed="rId5">
            <a:duotone>
              <a:srgbClr val="765FFF"/>
              <a:srgbClr val="FFFFFF"/>
            </a:duotone>
          </a:blip>
          <a:stretch>
            <a:fillRect/>
          </a:stretch>
        </p:blipFill>
        <p:spPr>
          <a:xfrm>
            <a:off x="7292660" y="4396046"/>
            <a:ext cx="900000" cy="900000"/>
          </a:xfrm>
          <a:prstGeom prst="rect">
            <a:avLst/>
          </a:prstGeom>
        </p:spPr>
      </p:pic>
      <p:pic>
        <p:nvPicPr>
          <p:cNvPr id="20" name="Picture 19" descr="Choose">
            <a:extLst>
              <a:ext uri="{FF2B5EF4-FFF2-40B4-BE49-F238E27FC236}">
                <a16:creationId xmlns:a16="http://schemas.microsoft.com/office/drawing/2014/main" id="{BAFDC7A4-0514-6F53-C1BC-82BC696638CC}"/>
              </a:ext>
            </a:extLst>
          </p:cNvPr>
          <p:cNvPicPr>
            <a:picLocks noChangeAspect="1"/>
          </p:cNvPicPr>
          <p:nvPr/>
        </p:nvPicPr>
        <p:blipFill>
          <a:blip r:embed="rId6">
            <a:duotone>
              <a:srgbClr val="765FFF"/>
              <a:srgbClr val="FFFFFF"/>
            </a:duotone>
          </a:blip>
          <a:stretch>
            <a:fillRect/>
          </a:stretch>
        </p:blipFill>
        <p:spPr>
          <a:xfrm>
            <a:off x="8305588" y="4452990"/>
            <a:ext cx="900000" cy="900000"/>
          </a:xfrm>
          <a:prstGeom prst="rect">
            <a:avLst/>
          </a:prstGeom>
        </p:spPr>
      </p:pic>
      <p:sp>
        <p:nvSpPr>
          <p:cNvPr id="21" name="TextBox 20">
            <a:extLst>
              <a:ext uri="{FF2B5EF4-FFF2-40B4-BE49-F238E27FC236}">
                <a16:creationId xmlns:a16="http://schemas.microsoft.com/office/drawing/2014/main" id="{D4B12601-DE6E-47D5-7DBC-7F44FE2482A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269043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CDA1C2-37A7-E9BE-EE5C-75E1D8B92FF6}"/>
              </a:ext>
            </a:extLst>
          </p:cNvPr>
          <p:cNvSpPr>
            <a:spLocks noGrp="1"/>
          </p:cNvSpPr>
          <p:nvPr>
            <p:ph type="sldNum" sz="quarter" idx="4"/>
          </p:nvPr>
        </p:nvSpPr>
        <p:spPr/>
        <p:txBody>
          <a:bodyPr/>
          <a:lstStyle/>
          <a:p>
            <a:pPr algn="ctr"/>
            <a:fld id="{1875A764-3B06-454E-8ABA-2F6ED0EB58E9}" type="slidenum">
              <a:rPr lang="en-US" smtClean="0"/>
              <a:t>43</a:t>
            </a:fld>
            <a:endParaRPr lang="en-US"/>
          </a:p>
        </p:txBody>
      </p:sp>
      <p:sp>
        <p:nvSpPr>
          <p:cNvPr id="3" name="Title 2">
            <a:extLst>
              <a:ext uri="{FF2B5EF4-FFF2-40B4-BE49-F238E27FC236}">
                <a16:creationId xmlns:a16="http://schemas.microsoft.com/office/drawing/2014/main" id="{0603337D-33B8-20FD-D1A0-94E9B8DC7532}"/>
              </a:ext>
            </a:extLst>
          </p:cNvPr>
          <p:cNvSpPr>
            <a:spLocks noGrp="1"/>
          </p:cNvSpPr>
          <p:nvPr>
            <p:ph type="title"/>
          </p:nvPr>
        </p:nvSpPr>
        <p:spPr/>
        <p:txBody>
          <a:bodyPr/>
          <a:lstStyle/>
          <a:p>
            <a:r>
              <a:rPr lang="en-US" dirty="0"/>
              <a:t>Going green &amp; global</a:t>
            </a:r>
          </a:p>
        </p:txBody>
      </p:sp>
      <p:sp>
        <p:nvSpPr>
          <p:cNvPr id="4" name="Rounded Rectangle 3">
            <a:extLst>
              <a:ext uri="{FF2B5EF4-FFF2-40B4-BE49-F238E27FC236}">
                <a16:creationId xmlns:a16="http://schemas.microsoft.com/office/drawing/2014/main" id="{ECFCBADB-4E88-0D6E-54B6-B64276FA40AA}"/>
              </a:ext>
            </a:extLst>
          </p:cNvPr>
          <p:cNvSpPr/>
          <p:nvPr/>
        </p:nvSpPr>
        <p:spPr>
          <a:xfrm>
            <a:off x="544712" y="850449"/>
            <a:ext cx="11062798" cy="1662325"/>
          </a:xfrm>
          <a:prstGeom prst="roundRect">
            <a:avLst>
              <a:gd name="adj" fmla="val 4915"/>
            </a:avLst>
          </a:prstGeom>
          <a:solidFill>
            <a:srgbClr val="E8E4FD"/>
          </a:solid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5" name="TextBox 34">
            <a:extLst>
              <a:ext uri="{FF2B5EF4-FFF2-40B4-BE49-F238E27FC236}">
                <a16:creationId xmlns:a16="http://schemas.microsoft.com/office/drawing/2014/main" id="{387D2F06-266E-5712-6B13-703185777D78}"/>
              </a:ext>
            </a:extLst>
          </p:cNvPr>
          <p:cNvSpPr txBox="1">
            <a:spLocks/>
          </p:cNvSpPr>
          <p:nvPr/>
        </p:nvSpPr>
        <p:spPr>
          <a:xfrm>
            <a:off x="928514" y="5083054"/>
            <a:ext cx="2751387" cy="1169551"/>
          </a:xfrm>
          <a:prstGeom prst="rect">
            <a:avLst/>
          </a:prstGeom>
          <a:noFill/>
        </p:spPr>
        <p:txBody>
          <a:bodyPr wrap="square" lIns="0" tIns="45720" rIns="91440" bIns="45720" numCol="1" spcCol="108000" anchor="t">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Driving performance over the last 17 years. </a:t>
            </a:r>
          </a:p>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Executing reverse merger with help of Board </a:t>
            </a:r>
          </a:p>
          <a:p>
            <a:pPr marL="171450" indent="-171450">
              <a:lnSpc>
                <a:spcPct val="100000"/>
              </a:lnSpc>
              <a:spcBef>
                <a:spcPts val="0"/>
              </a:spcBef>
              <a:spcAft>
                <a:spcPts val="600"/>
              </a:spcAft>
              <a:buFont typeface="Arial" panose="020B0706020202030204" pitchFamily="34" charset="0"/>
              <a:buBlip>
                <a:blip r:embed="rId2"/>
              </a:buBlip>
              <a:defRPr/>
            </a:pPr>
            <a:r>
              <a:rPr lang="en-US" kern="0" spc="-10">
                <a:solidFill>
                  <a:srgbClr val="1D1D1D"/>
                </a:solidFill>
                <a:latin typeface="Arial" pitchFamily="34" charset="0"/>
              </a:rPr>
              <a:t>Strengthening financial foundations </a:t>
            </a:r>
            <a:endParaRPr lang="en-US" kern="0" spc="-10" dirty="0">
              <a:solidFill>
                <a:srgbClr val="1D1D1D"/>
              </a:solidFill>
              <a:latin typeface="Arial" pitchFamily="34" charset="0"/>
            </a:endParaRPr>
          </a:p>
        </p:txBody>
      </p:sp>
      <p:graphicFrame>
        <p:nvGraphicFramePr>
          <p:cNvPr id="6" name="Table 41">
            <a:extLst>
              <a:ext uri="{FF2B5EF4-FFF2-40B4-BE49-F238E27FC236}">
                <a16:creationId xmlns:a16="http://schemas.microsoft.com/office/drawing/2014/main" id="{C25994A0-8572-3947-3C0E-4C3889864D64}"/>
              </a:ext>
            </a:extLst>
          </p:cNvPr>
          <p:cNvGraphicFramePr>
            <a:graphicFrameLocks noGrp="1"/>
          </p:cNvGraphicFramePr>
          <p:nvPr/>
        </p:nvGraphicFramePr>
        <p:xfrm>
          <a:off x="584490" y="903228"/>
          <a:ext cx="11023021" cy="1578798"/>
        </p:xfrm>
        <a:graphic>
          <a:graphicData uri="http://schemas.openxmlformats.org/drawingml/2006/table">
            <a:tbl>
              <a:tblPr bandRow="1">
                <a:tableStyleId>{5C22544A-7EE6-4342-B048-85BDC9FD1C3A}</a:tableStyleId>
              </a:tblPr>
              <a:tblGrid>
                <a:gridCol w="5118144">
                  <a:extLst>
                    <a:ext uri="{9D8B030D-6E8A-4147-A177-3AD203B41FA5}">
                      <a16:colId xmlns:a16="http://schemas.microsoft.com/office/drawing/2014/main" val="4119152402"/>
                    </a:ext>
                  </a:extLst>
                </a:gridCol>
                <a:gridCol w="625353">
                  <a:extLst>
                    <a:ext uri="{9D8B030D-6E8A-4147-A177-3AD203B41FA5}">
                      <a16:colId xmlns:a16="http://schemas.microsoft.com/office/drawing/2014/main" val="2048534200"/>
                    </a:ext>
                  </a:extLst>
                </a:gridCol>
                <a:gridCol w="5279524">
                  <a:extLst>
                    <a:ext uri="{9D8B030D-6E8A-4147-A177-3AD203B41FA5}">
                      <a16:colId xmlns:a16="http://schemas.microsoft.com/office/drawing/2014/main" val="2057372679"/>
                    </a:ext>
                  </a:extLst>
                </a:gridCol>
              </a:tblGrid>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Regional centric business</a:t>
                      </a: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GB" sz="1600" b="0" dirty="0">
                          <a:solidFill>
                            <a:schemeClr val="tx2"/>
                          </a:solidFill>
                          <a:latin typeface="Arial" panose="020B0604020202020204" pitchFamily="34" charset="0"/>
                          <a:cs typeface="Arial" panose="020B0604020202020204" pitchFamily="34" charset="0"/>
                        </a:rPr>
                        <a:t>More balanced local &amp; international business &amp; JVs</a:t>
                      </a: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90220662"/>
                  </a:ext>
                </a:extLst>
              </a:tr>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Commoditized, low growth, low margin portfolio</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GB" sz="1600" b="0" kern="1200" dirty="0">
                          <a:solidFill>
                            <a:schemeClr val="tx2"/>
                          </a:solidFill>
                          <a:effectLst/>
                          <a:latin typeface="Arial" panose="020B0604020202020204" pitchFamily="34" charset="0"/>
                          <a:cs typeface="Arial" panose="020B0604020202020204" pitchFamily="34" charset="0"/>
                        </a:rPr>
                        <a:t>Differentiated, value-added product portfolio</a:t>
                      </a: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solidFill>
                        <a:srgbClr val="7B828D"/>
                      </a:solid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3546791840"/>
                  </a:ext>
                </a:extLst>
              </a:tr>
              <a:tr h="526266">
                <a:tc>
                  <a:txBody>
                    <a:bodyPr/>
                    <a:lstStyle/>
                    <a:p>
                      <a:pPr marL="0" indent="0" algn="r">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Meeting construction needs at lower costs </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endParaRPr lang="en-US" sz="1600" b="0" dirty="0">
                        <a:solidFill>
                          <a:schemeClr val="tx2"/>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tc>
                  <a:txBody>
                    <a:bodyPr/>
                    <a:lstStyle/>
                    <a:p>
                      <a:pPr marL="0" indent="0">
                        <a:buFont typeface="Arial" panose="020B0604020202020204" pitchFamily="34" charset="0"/>
                        <a:buNone/>
                      </a:pPr>
                      <a:r>
                        <a:rPr lang="en-US" sz="1600" b="0" dirty="0">
                          <a:solidFill>
                            <a:schemeClr val="tx2"/>
                          </a:solidFill>
                          <a:latin typeface="Arial" panose="020B0604020202020204" pitchFamily="34" charset="0"/>
                          <a:cs typeface="Arial" panose="020B0604020202020204" pitchFamily="34" charset="0"/>
                        </a:rPr>
                        <a:t>Embracing sustainability and enabling green energy</a:t>
                      </a:r>
                    </a:p>
                  </a:txBody>
                  <a:tcPr anchor="ctr">
                    <a:lnL w="12700" cmpd="sng">
                      <a:noFill/>
                    </a:lnL>
                    <a:lnR w="12700" cmpd="sng">
                      <a:noFill/>
                    </a:lnR>
                    <a:lnT w="12700" cap="flat" cmpd="sng" algn="ctr">
                      <a:solidFill>
                        <a:srgbClr val="7B828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4FD"/>
                    </a:solidFill>
                  </a:tcPr>
                </a:tc>
                <a:extLst>
                  <a:ext uri="{0D108BD9-81ED-4DB2-BD59-A6C34878D82A}">
                    <a16:rowId xmlns:a16="http://schemas.microsoft.com/office/drawing/2014/main" val="184803442"/>
                  </a:ext>
                </a:extLst>
              </a:tr>
            </a:tbl>
          </a:graphicData>
        </a:graphic>
      </p:graphicFrame>
      <p:sp>
        <p:nvSpPr>
          <p:cNvPr id="7" name="Triangle 73">
            <a:extLst>
              <a:ext uri="{FF2B5EF4-FFF2-40B4-BE49-F238E27FC236}">
                <a16:creationId xmlns:a16="http://schemas.microsoft.com/office/drawing/2014/main" id="{A8422A22-10A2-DBF7-ADA5-236A6197A03B}"/>
              </a:ext>
            </a:extLst>
          </p:cNvPr>
          <p:cNvSpPr/>
          <p:nvPr/>
        </p:nvSpPr>
        <p:spPr>
          <a:xfrm rot="5400000">
            <a:off x="5822130" y="1667152"/>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 name="Triangle 73">
            <a:extLst>
              <a:ext uri="{FF2B5EF4-FFF2-40B4-BE49-F238E27FC236}">
                <a16:creationId xmlns:a16="http://schemas.microsoft.com/office/drawing/2014/main" id="{B3808D55-DFCA-74A5-84BA-74808A2C346D}"/>
              </a:ext>
            </a:extLst>
          </p:cNvPr>
          <p:cNvSpPr/>
          <p:nvPr/>
        </p:nvSpPr>
        <p:spPr>
          <a:xfrm rot="5400000">
            <a:off x="5822576" y="108969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9" name="Triangle 73">
            <a:extLst>
              <a:ext uri="{FF2B5EF4-FFF2-40B4-BE49-F238E27FC236}">
                <a16:creationId xmlns:a16="http://schemas.microsoft.com/office/drawing/2014/main" id="{D84FBC4B-8A7F-CADD-7306-8587797D38AD}"/>
              </a:ext>
            </a:extLst>
          </p:cNvPr>
          <p:cNvSpPr/>
          <p:nvPr/>
        </p:nvSpPr>
        <p:spPr>
          <a:xfrm rot="5400000">
            <a:off x="5822130" y="2248436"/>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solidFill>
            <a:srgbClr val="E8E4FD"/>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0" name="TextBox 9">
            <a:extLst>
              <a:ext uri="{FF2B5EF4-FFF2-40B4-BE49-F238E27FC236}">
                <a16:creationId xmlns:a16="http://schemas.microsoft.com/office/drawing/2014/main" id="{80E14B98-784C-D021-6202-1E0270F4A528}"/>
              </a:ext>
            </a:extLst>
          </p:cNvPr>
          <p:cNvSpPr txBox="1"/>
          <p:nvPr/>
        </p:nvSpPr>
        <p:spPr>
          <a:xfrm>
            <a:off x="544712" y="2649021"/>
            <a:ext cx="11062798" cy="354925"/>
          </a:xfrm>
          <a:prstGeom prst="roundRect">
            <a:avLst>
              <a:gd name="adj" fmla="val 8986"/>
            </a:avLst>
          </a:prstGeom>
          <a:solidFill>
            <a:srgbClr val="F2F2F2"/>
          </a:solidFill>
          <a:ln w="6350">
            <a:solidFill>
              <a:srgbClr val="281A42"/>
            </a:solidFill>
          </a:ln>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dirty="0">
                <a:ln>
                  <a:noFill/>
                </a:ln>
                <a:solidFill>
                  <a:srgbClr val="281A42"/>
                </a:solidFill>
                <a:effectLst/>
                <a:uLnTx/>
                <a:uFillTx/>
                <a:latin typeface="Segoe UI" pitchFamily="34" charset="0"/>
              </a:rPr>
              <a:t>(4x Volume, 5x Revenue, </a:t>
            </a:r>
            <a:r>
              <a:rPr lang="en-US" sz="1600" b="1" kern="0" spc="-10" dirty="0">
                <a:solidFill>
                  <a:srgbClr val="281A42"/>
                </a:solidFill>
                <a:latin typeface="Segoe UI" pitchFamily="34" charset="0"/>
              </a:rPr>
              <a:t>6</a:t>
            </a:r>
            <a:r>
              <a:rPr kumimoji="0" lang="en-US" sz="1600" b="1" i="0" u="none" strike="noStrike" kern="0" cap="none" spc="-10" normalizeH="0" baseline="0" noProof="0" dirty="0">
                <a:ln>
                  <a:noFill/>
                </a:ln>
                <a:solidFill>
                  <a:srgbClr val="281A42"/>
                </a:solidFill>
                <a:effectLst/>
                <a:uLnTx/>
                <a:uFillTx/>
                <a:latin typeface="Segoe UI" pitchFamily="34" charset="0"/>
              </a:rPr>
              <a:t>x EBITDA, 10x Net Income) </a:t>
            </a:r>
            <a:endParaRPr kumimoji="0" lang="en-GB" sz="1600" b="1" i="0" u="none" strike="noStrike" kern="0" cap="none" spc="-10" normalizeH="0" baseline="0" noProof="0" dirty="0">
              <a:ln>
                <a:noFill/>
              </a:ln>
              <a:solidFill>
                <a:srgbClr val="1D1D1D">
                  <a:lumMod val="50000"/>
                  <a:lumOff val="50000"/>
                </a:srgbClr>
              </a:solidFill>
              <a:effectLst/>
              <a:uLnTx/>
              <a:uFillTx/>
              <a:latin typeface="Segoe UI" pitchFamily="34" charset="0"/>
            </a:endParaRPr>
          </a:p>
        </p:txBody>
      </p:sp>
      <p:sp>
        <p:nvSpPr>
          <p:cNvPr id="11" name="object 14">
            <a:extLst>
              <a:ext uri="{FF2B5EF4-FFF2-40B4-BE49-F238E27FC236}">
                <a16:creationId xmlns:a16="http://schemas.microsoft.com/office/drawing/2014/main" id="{B7E16055-F034-2825-2A21-5496BB9C5D09}"/>
              </a:ext>
            </a:extLst>
          </p:cNvPr>
          <p:cNvSpPr/>
          <p:nvPr/>
        </p:nvSpPr>
        <p:spPr>
          <a:xfrm>
            <a:off x="928254" y="3921045"/>
            <a:ext cx="2192020" cy="1100923"/>
          </a:xfrm>
          <a:prstGeom prst="flowChartInputOutput">
            <a:avLst/>
          </a:prstGeom>
          <a:solidFill>
            <a:srgbClr val="F2F2F2"/>
          </a:solidFill>
          <a:ln w="12700">
            <a:solidFill>
              <a:srgbClr val="281A42"/>
            </a:solidFill>
          </a:ln>
        </p:spPr>
        <p:txBody>
          <a:bodyPr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0" cap="none" spc="-10" normalizeH="0" baseline="0" noProof="0" dirty="0">
                <a:ln>
                  <a:noFill/>
                </a:ln>
                <a:solidFill>
                  <a:schemeClr val="accent1"/>
                </a:solidFill>
                <a:effectLst/>
                <a:uLnTx/>
                <a:uFillTx/>
                <a:latin typeface="Arial" pitchFamily="34" charset="0"/>
                <a:ea typeface="+mn-ea"/>
                <a:cs typeface="Arial"/>
              </a:rPr>
              <a:t>RUN</a:t>
            </a:r>
          </a:p>
        </p:txBody>
      </p:sp>
      <p:sp>
        <p:nvSpPr>
          <p:cNvPr id="12" name="object 17">
            <a:extLst>
              <a:ext uri="{FF2B5EF4-FFF2-40B4-BE49-F238E27FC236}">
                <a16:creationId xmlns:a16="http://schemas.microsoft.com/office/drawing/2014/main" id="{AF581BE9-8788-ACD1-50EF-999FA7F4E608}"/>
              </a:ext>
            </a:extLst>
          </p:cNvPr>
          <p:cNvSpPr txBox="1"/>
          <p:nvPr/>
        </p:nvSpPr>
        <p:spPr>
          <a:xfrm>
            <a:off x="4957304" y="3921054"/>
            <a:ext cx="2029538" cy="1100924"/>
          </a:xfrm>
          <a:prstGeom prst="roundRect">
            <a:avLst>
              <a:gd name="adj" fmla="val 5904"/>
            </a:avLst>
          </a:prstGeom>
          <a:solidFill>
            <a:srgbClr val="F2F2F2"/>
          </a:solidFill>
          <a:ln w="12700">
            <a:solidFill>
              <a:srgbClr val="281A42"/>
            </a:solidFill>
          </a:ln>
        </p:spPr>
        <p:txBody>
          <a:bodyPr vert="horz" wrap="square" lIns="0" tIns="0" rIns="0" bIns="0" rtlCol="0" anchor="ctr">
            <a:noAutofit/>
          </a:bodyP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chemeClr val="accent1"/>
                </a:solidFill>
                <a:effectLst/>
                <a:uLnTx/>
                <a:uFillTx/>
                <a:latin typeface="Arial" pitchFamily="34" charset="0"/>
                <a:ea typeface="+mn-ea"/>
                <a:cs typeface="Arial"/>
              </a:rPr>
              <a:t>CHANGE</a:t>
            </a:r>
            <a:endParaRPr kumimoji="0" sz="1800" b="0" i="0" u="none" strike="noStrike" kern="0" cap="none" spc="-10" normalizeH="0" baseline="0" noProof="0" dirty="0">
              <a:ln>
                <a:noFill/>
              </a:ln>
              <a:solidFill>
                <a:schemeClr val="accent1"/>
              </a:solidFill>
              <a:effectLst/>
              <a:uLnTx/>
              <a:uFillTx/>
              <a:latin typeface="Arial" pitchFamily="34" charset="0"/>
              <a:ea typeface="+mn-ea"/>
              <a:cs typeface="Arial"/>
            </a:endParaRPr>
          </a:p>
        </p:txBody>
      </p:sp>
      <p:sp>
        <p:nvSpPr>
          <p:cNvPr id="13" name="object 24">
            <a:extLst>
              <a:ext uri="{FF2B5EF4-FFF2-40B4-BE49-F238E27FC236}">
                <a16:creationId xmlns:a16="http://schemas.microsoft.com/office/drawing/2014/main" id="{3AD729F7-C0C2-FEC0-5BEB-CFA4C4AB7723}"/>
              </a:ext>
            </a:extLst>
          </p:cNvPr>
          <p:cNvSpPr txBox="1"/>
          <p:nvPr/>
        </p:nvSpPr>
        <p:spPr>
          <a:xfrm>
            <a:off x="2925551" y="3054210"/>
            <a:ext cx="2468879"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1</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STRONG START</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endParaRPr kumimoji="0" sz="1400" b="1" i="0" u="none" strike="noStrike" kern="0" cap="none" spc="-10" normalizeH="0" baseline="0" noProof="0" dirty="0">
              <a:ln>
                <a:noFill/>
              </a:ln>
              <a:solidFill>
                <a:srgbClr val="1D1D1D"/>
              </a:solidFill>
              <a:effectLst/>
              <a:uLnTx/>
              <a:uFillTx/>
              <a:latin typeface="Segoe UI" pitchFamily="34" charset="0"/>
              <a:ea typeface="+mn-ea"/>
              <a:cs typeface="Tahoma"/>
            </a:endParaRPr>
          </a:p>
        </p:txBody>
      </p:sp>
      <p:sp>
        <p:nvSpPr>
          <p:cNvPr id="14" name="TextBox 13">
            <a:extLst>
              <a:ext uri="{FF2B5EF4-FFF2-40B4-BE49-F238E27FC236}">
                <a16:creationId xmlns:a16="http://schemas.microsoft.com/office/drawing/2014/main" id="{92321C93-8D68-402D-C8D2-E85BC4C5D52C}"/>
              </a:ext>
            </a:extLst>
          </p:cNvPr>
          <p:cNvSpPr txBox="1"/>
          <p:nvPr/>
        </p:nvSpPr>
        <p:spPr>
          <a:xfrm>
            <a:off x="4934612" y="5088614"/>
            <a:ext cx="2402663" cy="1061829"/>
          </a:xfrm>
          <a:prstGeom prst="rect">
            <a:avLst/>
          </a:prstGeom>
          <a:noFill/>
        </p:spPr>
        <p:txBody>
          <a:bodyPr wrap="square" lIns="0" tIns="45720" rIns="91440" bIns="45720" numCol="1" spcCol="108000" anchor="t">
            <a:spAutoFit/>
          </a:bodyPr>
          <a:lstStyle/>
          <a:p>
            <a:pPr marL="171450" indent="-171450">
              <a:spcAft>
                <a:spcPts val="600"/>
              </a:spcAft>
              <a:buClrTx/>
              <a:buSzTx/>
              <a:buBlip>
                <a:blip r:embed="rId2"/>
              </a:buBlip>
              <a:defRPr/>
            </a:pPr>
            <a:r>
              <a:rPr lang="en-US" sz="1200" kern="0" spc="-10" dirty="0">
                <a:solidFill>
                  <a:srgbClr val="1D1D1D"/>
                </a:solidFill>
                <a:latin typeface="Arial" pitchFamily="34" charset="0"/>
              </a:rPr>
              <a:t>New Operating Model </a:t>
            </a:r>
          </a:p>
          <a:p>
            <a:pPr marL="171450" indent="-171450">
              <a:spcAft>
                <a:spcPts val="600"/>
              </a:spcAft>
              <a:buClrTx/>
              <a:buSzTx/>
              <a:buBlip>
                <a:blip r:embed="rId2"/>
              </a:buBlip>
              <a:defRPr/>
            </a:pPr>
            <a:r>
              <a:rPr lang="en-US" sz="1200" kern="0" spc="-10" dirty="0">
                <a:solidFill>
                  <a:srgbClr val="1D1D1D"/>
                </a:solidFill>
                <a:latin typeface="Arial" pitchFamily="34" charset="0"/>
              </a:rPr>
              <a:t>Leadership team upgrades</a:t>
            </a:r>
          </a:p>
          <a:p>
            <a:pPr marL="171450" indent="-171450">
              <a:spcAft>
                <a:spcPts val="600"/>
              </a:spcAft>
              <a:buClrTx/>
              <a:buSzTx/>
              <a:buBlip>
                <a:blip r:embed="rId2"/>
              </a:buBlip>
              <a:defRPr/>
            </a:pPr>
            <a:r>
              <a:rPr lang="en-US" sz="1200" kern="0" spc="-10" dirty="0">
                <a:solidFill>
                  <a:srgbClr val="1D1D1D"/>
                </a:solidFill>
                <a:latin typeface="Arial" pitchFamily="34" charset="0"/>
              </a:rPr>
              <a:t>Culture of low accountability</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5" name="object 24">
            <a:extLst>
              <a:ext uri="{FF2B5EF4-FFF2-40B4-BE49-F238E27FC236}">
                <a16:creationId xmlns:a16="http://schemas.microsoft.com/office/drawing/2014/main" id="{97D4184D-679E-0A78-5A0B-31FDA18E1E79}"/>
              </a:ext>
            </a:extLst>
          </p:cNvPr>
          <p:cNvSpPr txBox="1"/>
          <p:nvPr/>
        </p:nvSpPr>
        <p:spPr>
          <a:xfrm>
            <a:off x="7685048" y="3054210"/>
            <a:ext cx="3466783"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2</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NEEDS TO EVOLVE</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p>
        </p:txBody>
      </p:sp>
      <p:sp>
        <p:nvSpPr>
          <p:cNvPr id="16" name="Oval 15">
            <a:extLst>
              <a:ext uri="{FF2B5EF4-FFF2-40B4-BE49-F238E27FC236}">
                <a16:creationId xmlns:a16="http://schemas.microsoft.com/office/drawing/2014/main" id="{1066D3B5-EC7A-B205-E416-C50E5FA10984}"/>
              </a:ext>
            </a:extLst>
          </p:cNvPr>
          <p:cNvSpPr/>
          <p:nvPr/>
        </p:nvSpPr>
        <p:spPr>
          <a:xfrm>
            <a:off x="8516217" y="3921054"/>
            <a:ext cx="1804447" cy="1100931"/>
          </a:xfrm>
          <a:prstGeom prst="ellipse">
            <a:avLst/>
          </a:prstGeom>
          <a:solidFill>
            <a:srgbClr val="F2F2F2"/>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chemeClr val="accent1"/>
                </a:solidFill>
                <a:effectLst/>
                <a:uLnTx/>
                <a:uFillTx/>
                <a:latin typeface="Arial" pitchFamily="34" charset="0"/>
                <a:ea typeface="+mn-ea"/>
                <a:cs typeface="Arial"/>
              </a:rPr>
              <a:t>GROW</a:t>
            </a:r>
            <a:r>
              <a:rPr kumimoji="0" lang="en-US" sz="1800" b="0" i="0" u="none" strike="noStrike" kern="0" cap="none" spc="-10" normalizeH="0" baseline="0" noProof="0" dirty="0">
                <a:ln>
                  <a:noFill/>
                </a:ln>
                <a:solidFill>
                  <a:srgbClr val="281A42"/>
                </a:solidFill>
                <a:effectLst/>
                <a:uLnTx/>
                <a:uFillTx/>
                <a:latin typeface="Arial" pitchFamily="34" charset="0"/>
                <a:ea typeface="+mn-ea"/>
                <a:cs typeface="Arial"/>
              </a:rPr>
              <a:t> </a:t>
            </a:r>
          </a:p>
        </p:txBody>
      </p:sp>
      <p:sp>
        <p:nvSpPr>
          <p:cNvPr id="17" name="TextBox 16">
            <a:extLst>
              <a:ext uri="{FF2B5EF4-FFF2-40B4-BE49-F238E27FC236}">
                <a16:creationId xmlns:a16="http://schemas.microsoft.com/office/drawing/2014/main" id="{0D08DD3B-6CDA-7862-8D8D-06F22470D209}"/>
              </a:ext>
            </a:extLst>
          </p:cNvPr>
          <p:cNvSpPr txBox="1"/>
          <p:nvPr/>
        </p:nvSpPr>
        <p:spPr>
          <a:xfrm>
            <a:off x="8375001" y="5083054"/>
            <a:ext cx="2966937" cy="1431161"/>
          </a:xfrm>
          <a:prstGeom prst="rect">
            <a:avLst/>
          </a:prstGeom>
          <a:noFill/>
        </p:spPr>
        <p:txBody>
          <a:bodyPr wrap="square" lIns="0" tIns="45720" rIns="91440" bIns="45720" numCol="1" spcCol="108000" anchor="t">
            <a:spAutoFit/>
          </a:bodyPr>
          <a:lstStyle/>
          <a:p>
            <a:pPr marL="171450" marR="0" lvl="0" indent="-171450" fontAlgn="auto">
              <a:lnSpc>
                <a:spcPct val="100000"/>
              </a:lnSpc>
              <a:spcBef>
                <a:spcPts val="0"/>
              </a:spcBef>
              <a:spcAft>
                <a:spcPts val="600"/>
              </a:spcAft>
              <a:buBlip>
                <a:blip r:embed="rId2"/>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personal support to </a:t>
            </a:r>
            <a:r>
              <a:rPr lang="en-US" sz="1200" kern="0" spc="-10" dirty="0">
                <a:solidFill>
                  <a:srgbClr val="1D1D1D"/>
                </a:solidFill>
                <a:latin typeface="Arial" pitchFamily="34" charset="0"/>
              </a:rPr>
              <a:t>shape/drive the growth narrative </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Make the operating model work </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Strengthen Leadership bench strength</a:t>
            </a:r>
          </a:p>
          <a:p>
            <a:pPr marL="171450" marR="0" lvl="0" indent="-171450" fontAlgn="auto">
              <a:lnSpc>
                <a:spcPct val="100000"/>
              </a:lnSpc>
              <a:spcBef>
                <a:spcPts val="0"/>
              </a:spcBef>
              <a:spcAft>
                <a:spcPts val="600"/>
              </a:spcAft>
              <a:buBlip>
                <a:blip r:embed="rId2"/>
              </a:buBlip>
              <a:tabLst/>
              <a:defRPr/>
            </a:pPr>
            <a:r>
              <a:rPr lang="en-US" sz="1200" kern="0" spc="-10" dirty="0">
                <a:solidFill>
                  <a:srgbClr val="1D1D1D"/>
                </a:solidFill>
                <a:latin typeface="Arial" pitchFamily="34" charset="0"/>
              </a:rPr>
              <a:t>Define and detail an exciting growth narrative to Investors</a:t>
            </a:r>
          </a:p>
        </p:txBody>
      </p:sp>
      <p:sp>
        <p:nvSpPr>
          <p:cNvPr id="18" name="Rectangle: Rounded Corners 13">
            <a:extLst>
              <a:ext uri="{FF2B5EF4-FFF2-40B4-BE49-F238E27FC236}">
                <a16:creationId xmlns:a16="http://schemas.microsoft.com/office/drawing/2014/main" id="{58653B4F-4A15-77DA-EAB3-09836D94B6B4}"/>
              </a:ext>
            </a:extLst>
          </p:cNvPr>
          <p:cNvSpPr/>
          <p:nvPr/>
        </p:nvSpPr>
        <p:spPr>
          <a:xfrm>
            <a:off x="1654660" y="4085921"/>
            <a:ext cx="871810" cy="162740"/>
          </a:xfrm>
          <a:prstGeom prst="roundRect">
            <a:avLst/>
          </a:prstGeom>
          <a:solidFill>
            <a:srgbClr val="00C2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chemeClr val="accent3"/>
              </a:solidFill>
              <a:effectLst/>
              <a:uLnTx/>
              <a:uFillTx/>
              <a:latin typeface="Arial" pitchFamily="34" charset="0"/>
              <a:ea typeface="+mn-ea"/>
              <a:cs typeface="+mn-cs"/>
            </a:endParaRPr>
          </a:p>
        </p:txBody>
      </p:sp>
      <p:sp>
        <p:nvSpPr>
          <p:cNvPr id="19" name="Rectangle: Rounded Corners 13">
            <a:extLst>
              <a:ext uri="{FF2B5EF4-FFF2-40B4-BE49-F238E27FC236}">
                <a16:creationId xmlns:a16="http://schemas.microsoft.com/office/drawing/2014/main" id="{542C603D-8190-DB54-B577-F5EB3B70E1C0}"/>
              </a:ext>
            </a:extLst>
          </p:cNvPr>
          <p:cNvSpPr/>
          <p:nvPr/>
        </p:nvSpPr>
        <p:spPr>
          <a:xfrm>
            <a:off x="5507637" y="4081713"/>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chemeClr val="accent5"/>
              </a:solidFill>
              <a:effectLst/>
              <a:uLnTx/>
              <a:uFillTx/>
              <a:latin typeface="Arial" pitchFamily="34" charset="0"/>
              <a:ea typeface="+mn-ea"/>
              <a:cs typeface="+mn-cs"/>
            </a:endParaRPr>
          </a:p>
        </p:txBody>
      </p:sp>
      <p:sp>
        <p:nvSpPr>
          <p:cNvPr id="20" name="Rectangle: Rounded Corners 13">
            <a:extLst>
              <a:ext uri="{FF2B5EF4-FFF2-40B4-BE49-F238E27FC236}">
                <a16:creationId xmlns:a16="http://schemas.microsoft.com/office/drawing/2014/main" id="{FBE53015-726B-FC11-57EA-30F6B803DCFE}"/>
              </a:ext>
            </a:extLst>
          </p:cNvPr>
          <p:cNvSpPr/>
          <p:nvPr/>
        </p:nvSpPr>
        <p:spPr>
          <a:xfrm>
            <a:off x="8986660" y="4119807"/>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rgbClr val="FFFFFF"/>
              </a:solidFill>
              <a:effectLst/>
              <a:uLnTx/>
              <a:uFillTx/>
              <a:latin typeface="Arial" pitchFamily="34" charset="0"/>
              <a:ea typeface="+mn-ea"/>
              <a:cs typeface="+mn-cs"/>
            </a:endParaRPr>
          </a:p>
        </p:txBody>
      </p:sp>
      <p:sp>
        <p:nvSpPr>
          <p:cNvPr id="21" name="TextBox 20">
            <a:extLst>
              <a:ext uri="{FF2B5EF4-FFF2-40B4-BE49-F238E27FC236}">
                <a16:creationId xmlns:a16="http://schemas.microsoft.com/office/drawing/2014/main" id="{4D13D277-F454-EE1C-C115-5332F3A54A4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137584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3015F2-7E8E-B122-D120-FEA8D76C09A6}"/>
              </a:ext>
            </a:extLst>
          </p:cNvPr>
          <p:cNvSpPr>
            <a:spLocks noGrp="1"/>
          </p:cNvSpPr>
          <p:nvPr>
            <p:ph type="sldNum" sz="quarter" idx="4"/>
          </p:nvPr>
        </p:nvSpPr>
        <p:spPr/>
        <p:txBody>
          <a:bodyPr/>
          <a:lstStyle/>
          <a:p>
            <a:pPr algn="ctr"/>
            <a:fld id="{1875A764-3B06-454E-8ABA-2F6ED0EB58E9}" type="slidenum">
              <a:rPr lang="en-US" smtClean="0"/>
              <a:t>44</a:t>
            </a:fld>
            <a:endParaRPr lang="en-US"/>
          </a:p>
        </p:txBody>
      </p:sp>
      <p:sp>
        <p:nvSpPr>
          <p:cNvPr id="3" name="Title 2">
            <a:extLst>
              <a:ext uri="{FF2B5EF4-FFF2-40B4-BE49-F238E27FC236}">
                <a16:creationId xmlns:a16="http://schemas.microsoft.com/office/drawing/2014/main" id="{2879554E-A933-9601-7EED-3CE53B879F25}"/>
              </a:ext>
            </a:extLst>
          </p:cNvPr>
          <p:cNvSpPr>
            <a:spLocks noGrp="1"/>
          </p:cNvSpPr>
          <p:nvPr>
            <p:ph type="title"/>
          </p:nvPr>
        </p:nvSpPr>
        <p:spPr/>
        <p:txBody>
          <a:bodyPr/>
          <a:lstStyle/>
          <a:p>
            <a:r>
              <a:rPr lang="en-US" dirty="0"/>
              <a:t>CXO </a:t>
            </a:r>
            <a:r>
              <a:rPr lang="en-US" dirty="0">
                <a:solidFill>
                  <a:schemeClr val="accent1"/>
                </a:solidFill>
              </a:rPr>
              <a:t>Value Ambition</a:t>
            </a:r>
          </a:p>
        </p:txBody>
      </p:sp>
      <p:sp>
        <p:nvSpPr>
          <p:cNvPr id="4" name="Google Shape;56;p3">
            <a:extLst>
              <a:ext uri="{FF2B5EF4-FFF2-40B4-BE49-F238E27FC236}">
                <a16:creationId xmlns:a16="http://schemas.microsoft.com/office/drawing/2014/main" id="{33C78084-7978-A78E-6E2F-E4815AA669FA}"/>
              </a:ext>
            </a:extLst>
          </p:cNvPr>
          <p:cNvSpPr/>
          <p:nvPr/>
        </p:nvSpPr>
        <p:spPr>
          <a:xfrm>
            <a:off x="2650547" y="770954"/>
            <a:ext cx="5653992" cy="5559799"/>
          </a:xfrm>
          <a:prstGeom prst="roundRect">
            <a:avLst>
              <a:gd name="adj" fmla="val 3709"/>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5" name="Google Shape;61;p3">
            <a:extLst>
              <a:ext uri="{FF2B5EF4-FFF2-40B4-BE49-F238E27FC236}">
                <a16:creationId xmlns:a16="http://schemas.microsoft.com/office/drawing/2014/main" id="{5549D320-E3C5-4F6F-617C-A2EC161ED327}"/>
              </a:ext>
            </a:extLst>
          </p:cNvPr>
          <p:cNvSpPr txBox="1"/>
          <p:nvPr/>
        </p:nvSpPr>
        <p:spPr>
          <a:xfrm>
            <a:off x="2762342" y="829494"/>
            <a:ext cx="471484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Jobs to Be Done</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6" name="Google Shape;103;p3">
            <a:extLst>
              <a:ext uri="{FF2B5EF4-FFF2-40B4-BE49-F238E27FC236}">
                <a16:creationId xmlns:a16="http://schemas.microsoft.com/office/drawing/2014/main" id="{3D2CC805-C65E-2990-CBB4-36097FE6A499}"/>
              </a:ext>
            </a:extLst>
          </p:cNvPr>
          <p:cNvSpPr/>
          <p:nvPr/>
        </p:nvSpPr>
        <p:spPr>
          <a:xfrm>
            <a:off x="8404288" y="772898"/>
            <a:ext cx="3266452" cy="5557856"/>
          </a:xfrm>
          <a:prstGeom prst="roundRect">
            <a:avLst>
              <a:gd name="adj" fmla="val 5388"/>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 name="Google Shape;96;p3">
            <a:extLst>
              <a:ext uri="{FF2B5EF4-FFF2-40B4-BE49-F238E27FC236}">
                <a16:creationId xmlns:a16="http://schemas.microsoft.com/office/drawing/2014/main" id="{4710DE5C-2903-CCDA-1A2C-1F8F567C52B1}"/>
              </a:ext>
            </a:extLst>
          </p:cNvPr>
          <p:cNvSpPr/>
          <p:nvPr/>
        </p:nvSpPr>
        <p:spPr>
          <a:xfrm>
            <a:off x="8614665" y="1011057"/>
            <a:ext cx="2902275" cy="2257794"/>
          </a:xfrm>
          <a:prstGeom prst="roundRect">
            <a:avLst>
              <a:gd name="adj" fmla="val 5598"/>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8" name="TextBox 7">
            <a:extLst>
              <a:ext uri="{FF2B5EF4-FFF2-40B4-BE49-F238E27FC236}">
                <a16:creationId xmlns:a16="http://schemas.microsoft.com/office/drawing/2014/main" id="{DDD4BB2A-7626-2759-B911-5E11FFF508CC}"/>
              </a:ext>
            </a:extLst>
          </p:cNvPr>
          <p:cNvSpPr txBox="1"/>
          <p:nvPr/>
        </p:nvSpPr>
        <p:spPr>
          <a:xfrm>
            <a:off x="8743627" y="1166637"/>
            <a:ext cx="2620684" cy="200054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SP1: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Inspirational leader with ability to excite new investors &amp; Board on growth agenda while sustaining operating results</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SP2: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Decisive, mature leader to motivate leadership team and organization to deliver strategic pivots (think globally, JVs, M&amp;A)</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sp>
        <p:nvSpPr>
          <p:cNvPr id="9" name="Google Shape;61;p3">
            <a:extLst>
              <a:ext uri="{FF2B5EF4-FFF2-40B4-BE49-F238E27FC236}">
                <a16:creationId xmlns:a16="http://schemas.microsoft.com/office/drawing/2014/main" id="{D5C758F8-4BF7-3D5B-D016-4F2D2B507271}"/>
              </a:ext>
            </a:extLst>
          </p:cNvPr>
          <p:cNvSpPr txBox="1"/>
          <p:nvPr/>
        </p:nvSpPr>
        <p:spPr>
          <a:xfrm>
            <a:off x="8586629" y="829494"/>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Superpowers</a:t>
            </a:r>
            <a:endParaRPr kumimoji="0" lang="en-US" sz="1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0" name="Google Shape;68;p3">
            <a:extLst>
              <a:ext uri="{FF2B5EF4-FFF2-40B4-BE49-F238E27FC236}">
                <a16:creationId xmlns:a16="http://schemas.microsoft.com/office/drawing/2014/main" id="{14A1848E-A16A-30D7-5807-69ACB3FCA97B}"/>
              </a:ext>
            </a:extLst>
          </p:cNvPr>
          <p:cNvSpPr/>
          <p:nvPr/>
        </p:nvSpPr>
        <p:spPr>
          <a:xfrm>
            <a:off x="2774531" y="1006530"/>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1" name="Google Shape;70;p3">
            <a:extLst>
              <a:ext uri="{FF2B5EF4-FFF2-40B4-BE49-F238E27FC236}">
                <a16:creationId xmlns:a16="http://schemas.microsoft.com/office/drawing/2014/main" id="{34B910FE-E309-6B53-0EAA-A40A17EF7EED}"/>
              </a:ext>
            </a:extLst>
          </p:cNvPr>
          <p:cNvSpPr txBox="1"/>
          <p:nvPr/>
        </p:nvSpPr>
        <p:spPr>
          <a:xfrm>
            <a:off x="2931051" y="1385911"/>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40%</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2" name="Google Shape;71;p3">
            <a:extLst>
              <a:ext uri="{FF2B5EF4-FFF2-40B4-BE49-F238E27FC236}">
                <a16:creationId xmlns:a16="http://schemas.microsoft.com/office/drawing/2014/main" id="{101892DF-3DAA-EB52-53D8-C425E4016391}"/>
              </a:ext>
            </a:extLst>
          </p:cNvPr>
          <p:cNvSpPr txBox="1"/>
          <p:nvPr/>
        </p:nvSpPr>
        <p:spPr>
          <a:xfrm>
            <a:off x="3046827" y="1202813"/>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1</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3" name="Google Shape;68;p3">
            <a:extLst>
              <a:ext uri="{FF2B5EF4-FFF2-40B4-BE49-F238E27FC236}">
                <a16:creationId xmlns:a16="http://schemas.microsoft.com/office/drawing/2014/main" id="{F5A7E58E-A0B0-3E58-CF0F-93E9B118DDCB}"/>
              </a:ext>
            </a:extLst>
          </p:cNvPr>
          <p:cNvSpPr/>
          <p:nvPr/>
        </p:nvSpPr>
        <p:spPr>
          <a:xfrm>
            <a:off x="2775420" y="2094636"/>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4" name="Google Shape;69;p3">
            <a:extLst>
              <a:ext uri="{FF2B5EF4-FFF2-40B4-BE49-F238E27FC236}">
                <a16:creationId xmlns:a16="http://schemas.microsoft.com/office/drawing/2014/main" id="{83C23A06-147B-DFE3-FC7B-EDEF18CC0994}"/>
              </a:ext>
            </a:extLst>
          </p:cNvPr>
          <p:cNvSpPr txBox="1"/>
          <p:nvPr/>
        </p:nvSpPr>
        <p:spPr>
          <a:xfrm>
            <a:off x="3788911" y="2262693"/>
            <a:ext cx="4362064" cy="7078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chemeClr val="accent1"/>
                </a:solidFill>
                <a:effectLst/>
                <a:uLnTx/>
                <a:uFillTx/>
                <a:latin typeface="Arial" pitchFamily="34" charset="0"/>
                <a:ea typeface="Lato" panose="020F0502020204030203" pitchFamily="34" charset="0"/>
                <a:cs typeface="Lato" panose="020F0502020204030203" pitchFamily="34" charset="0"/>
              </a:rPr>
              <a:t>Diversify Decarbonize Product Portfolio For Organic Growth </a:t>
            </a:r>
          </a:p>
          <a:p>
            <a:pPr marL="171450" indent="-171450">
              <a:buClrTx/>
              <a:buSzTx/>
              <a:buBlip>
                <a:blip r:embed="rId2"/>
              </a:buBlip>
              <a:defRPr/>
            </a:pPr>
            <a:r>
              <a:rPr lang="en-US" sz="900" kern="0" spc="-10" dirty="0">
                <a:solidFill>
                  <a:srgbClr val="1D1D1D"/>
                </a:solidFill>
                <a:latin typeface="Arial" pitchFamily="34" charset="0"/>
                <a:ea typeface="Lato"/>
                <a:cs typeface="Lato"/>
              </a:rPr>
              <a:t>Drive product portfolio for decarbonization</a:t>
            </a:r>
          </a:p>
          <a:p>
            <a:pPr marL="171450" indent="-171450">
              <a:buClrTx/>
              <a:buSzTx/>
              <a:buBlip>
                <a:blip r:embed="rId2"/>
              </a:buBlip>
              <a:defRPr/>
            </a:pPr>
            <a:r>
              <a:rPr lang="en-US" sz="900" kern="0" spc="-10" dirty="0">
                <a:solidFill>
                  <a:srgbClr val="1D1D1D"/>
                </a:solidFill>
                <a:latin typeface="Arial" pitchFamily="34" charset="0"/>
                <a:ea typeface="Lato"/>
                <a:cs typeface="Lato"/>
              </a:rPr>
              <a:t>Drive Greenfield development JV</a:t>
            </a:r>
          </a:p>
          <a:p>
            <a:pPr marL="171450" indent="-171450">
              <a:buClrTx/>
              <a:buSzTx/>
              <a:buBlip>
                <a:blip r:embed="rId2"/>
              </a:buBlip>
              <a:defRPr/>
            </a:pPr>
            <a:r>
              <a:rPr lang="en-US" sz="900" kern="0" spc="-10" dirty="0">
                <a:solidFill>
                  <a:srgbClr val="1D1D1D"/>
                </a:solidFill>
                <a:latin typeface="Arial" pitchFamily="34" charset="0"/>
                <a:ea typeface="Lato"/>
                <a:cs typeface="Lato"/>
              </a:rPr>
              <a:t>BU 2: Create comprehensive products, solutions, services portfolio for distributors, industrial clients, builders. </a:t>
            </a:r>
          </a:p>
        </p:txBody>
      </p:sp>
      <p:sp>
        <p:nvSpPr>
          <p:cNvPr id="15" name="Google Shape;70;p3">
            <a:extLst>
              <a:ext uri="{FF2B5EF4-FFF2-40B4-BE49-F238E27FC236}">
                <a16:creationId xmlns:a16="http://schemas.microsoft.com/office/drawing/2014/main" id="{C6CAECF1-5654-44B0-1C98-9A82D28A36D4}"/>
              </a:ext>
            </a:extLst>
          </p:cNvPr>
          <p:cNvSpPr txBox="1"/>
          <p:nvPr/>
        </p:nvSpPr>
        <p:spPr>
          <a:xfrm>
            <a:off x="2931051" y="2474016"/>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6" name="Google Shape;71;p3">
            <a:extLst>
              <a:ext uri="{FF2B5EF4-FFF2-40B4-BE49-F238E27FC236}">
                <a16:creationId xmlns:a16="http://schemas.microsoft.com/office/drawing/2014/main" id="{0DB73A61-6EE0-02EE-0D8E-FC848AD493BE}"/>
              </a:ext>
            </a:extLst>
          </p:cNvPr>
          <p:cNvSpPr txBox="1"/>
          <p:nvPr/>
        </p:nvSpPr>
        <p:spPr>
          <a:xfrm>
            <a:off x="3046827" y="2290919"/>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2</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7" name="Google Shape;68;p3">
            <a:extLst>
              <a:ext uri="{FF2B5EF4-FFF2-40B4-BE49-F238E27FC236}">
                <a16:creationId xmlns:a16="http://schemas.microsoft.com/office/drawing/2014/main" id="{C82F5B1F-0CE9-C8E9-F57F-FCCAA6C4A07D}"/>
              </a:ext>
            </a:extLst>
          </p:cNvPr>
          <p:cNvSpPr/>
          <p:nvPr/>
        </p:nvSpPr>
        <p:spPr>
          <a:xfrm>
            <a:off x="2775420" y="3170042"/>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8" name="Google Shape;69;p3">
            <a:extLst>
              <a:ext uri="{FF2B5EF4-FFF2-40B4-BE49-F238E27FC236}">
                <a16:creationId xmlns:a16="http://schemas.microsoft.com/office/drawing/2014/main" id="{403FC4F5-CB44-8E5C-8325-13769D2E4173}"/>
              </a:ext>
            </a:extLst>
          </p:cNvPr>
          <p:cNvSpPr txBox="1"/>
          <p:nvPr/>
        </p:nvSpPr>
        <p:spPr>
          <a:xfrm>
            <a:off x="3788911" y="3338100"/>
            <a:ext cx="4362064" cy="7078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Arial"/>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Build &amp; Deliver Investment Case To Drive Inorganic Growth</a:t>
            </a:r>
          </a:p>
          <a:p>
            <a:pPr marL="171450" marR="0" lvl="0" indent="-171450" fontAlgn="auto">
              <a:lnSpc>
                <a:spcPct val="100000"/>
              </a:lnSpc>
              <a:spcBef>
                <a:spcPts val="0"/>
              </a:spcBef>
              <a:spcAft>
                <a:spcPts val="0"/>
              </a:spcAft>
              <a:buBlip>
                <a:blip r:embed="rId2"/>
              </a:buBlip>
              <a:tabLst/>
              <a:defRPr/>
            </a:pP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Identify strategic targets for volume, revenue &amp; EBITDA growth to secure Board </a:t>
            </a:r>
            <a:r>
              <a:rPr lang="en-GB" sz="900" kern="0" spc="-10" dirty="0">
                <a:solidFill>
                  <a:srgbClr val="1D1D1D"/>
                </a:solidFill>
                <a:latin typeface="Arial" pitchFamily="34" charset="0"/>
                <a:ea typeface="Lato"/>
                <a:cs typeface="Lato"/>
              </a:rPr>
              <a:t>approval and create interest from international institutional investors. Close deals / integrate acquisitions seamlessly for value creation </a:t>
            </a:r>
          </a:p>
          <a:p>
            <a:pPr marL="171450" marR="0" lvl="0" indent="-171450" fontAlgn="auto">
              <a:lnSpc>
                <a:spcPct val="100000"/>
              </a:lnSpc>
              <a:spcBef>
                <a:spcPts val="0"/>
              </a:spcBef>
              <a:spcAft>
                <a:spcPts val="0"/>
              </a:spcAft>
              <a:buBlip>
                <a:blip r:embed="rId2"/>
              </a:buBlip>
              <a:tabLst/>
              <a:defRPr/>
            </a:pPr>
            <a:r>
              <a:rPr lang="en-GB" sz="900" kern="0" spc="-10" dirty="0">
                <a:solidFill>
                  <a:srgbClr val="1D1D1D"/>
                </a:solidFill>
                <a:latin typeface="Arial" pitchFamily="34" charset="0"/>
                <a:ea typeface="Lato"/>
                <a:cs typeface="Lato"/>
              </a:rPr>
              <a:t>Identify and build JVs / commercial </a:t>
            </a: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Partnerships</a:t>
            </a:r>
          </a:p>
        </p:txBody>
      </p:sp>
      <p:sp>
        <p:nvSpPr>
          <p:cNvPr id="19" name="Google Shape;70;p3">
            <a:extLst>
              <a:ext uri="{FF2B5EF4-FFF2-40B4-BE49-F238E27FC236}">
                <a16:creationId xmlns:a16="http://schemas.microsoft.com/office/drawing/2014/main" id="{7FA4A2FC-1FC8-CD9E-C3C8-80AEAFBB2A4C}"/>
              </a:ext>
            </a:extLst>
          </p:cNvPr>
          <p:cNvSpPr txBox="1"/>
          <p:nvPr/>
        </p:nvSpPr>
        <p:spPr>
          <a:xfrm>
            <a:off x="2931051" y="3549422"/>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0" name="Google Shape;71;p3">
            <a:extLst>
              <a:ext uri="{FF2B5EF4-FFF2-40B4-BE49-F238E27FC236}">
                <a16:creationId xmlns:a16="http://schemas.microsoft.com/office/drawing/2014/main" id="{5DB066A5-5F3F-57EF-4F0C-4D7C9721103E}"/>
              </a:ext>
            </a:extLst>
          </p:cNvPr>
          <p:cNvSpPr txBox="1"/>
          <p:nvPr/>
        </p:nvSpPr>
        <p:spPr>
          <a:xfrm>
            <a:off x="3046827" y="3366325"/>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3</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1" name="Google Shape;68;p3">
            <a:extLst>
              <a:ext uri="{FF2B5EF4-FFF2-40B4-BE49-F238E27FC236}">
                <a16:creationId xmlns:a16="http://schemas.microsoft.com/office/drawing/2014/main" id="{02CA37C0-6B89-3E15-8BDF-6058DDC017C7}"/>
              </a:ext>
            </a:extLst>
          </p:cNvPr>
          <p:cNvSpPr/>
          <p:nvPr/>
        </p:nvSpPr>
        <p:spPr>
          <a:xfrm>
            <a:off x="2774531" y="4258149"/>
            <a:ext cx="5454000" cy="879494"/>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2" name="Google Shape;69;p3">
            <a:extLst>
              <a:ext uri="{FF2B5EF4-FFF2-40B4-BE49-F238E27FC236}">
                <a16:creationId xmlns:a16="http://schemas.microsoft.com/office/drawing/2014/main" id="{E2A2D41D-2957-2CC8-BCD3-BDC7573C9664}"/>
              </a:ext>
            </a:extLst>
          </p:cNvPr>
          <p:cNvSpPr txBox="1"/>
          <p:nvPr/>
        </p:nvSpPr>
        <p:spPr>
          <a:xfrm>
            <a:off x="3788022" y="4416566"/>
            <a:ext cx="4362064" cy="6001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20000"/>
              </a:lnSpc>
              <a:spcBef>
                <a:spcPts val="0"/>
              </a:spcBef>
              <a:spcAft>
                <a:spcPts val="0"/>
              </a:spcAft>
              <a:buClr>
                <a:srgbClr val="1D1D1D"/>
              </a:buClr>
              <a:buSzPts val="2000"/>
              <a:buFontTx/>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Expand Geographic Footprint </a:t>
            </a:r>
          </a:p>
          <a:p>
            <a:pPr marL="171450" indent="-171450">
              <a:buClrTx/>
              <a:buSzTx/>
              <a:buBlip>
                <a:blip r:embed="rId2"/>
              </a:buBlip>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Enter new export markets for exports by capitalizing on demand for sustainable </a:t>
            </a:r>
            <a:r>
              <a:rPr lang="en-US" sz="900" kern="0" spc="-10" dirty="0">
                <a:solidFill>
                  <a:srgbClr val="1D1D1D"/>
                </a:solidFill>
                <a:latin typeface="Arial" pitchFamily="34" charset="0"/>
                <a:ea typeface="Lato"/>
                <a:cs typeface="Lato"/>
              </a:rPr>
              <a:t>building materials</a:t>
            </a:r>
          </a:p>
          <a:p>
            <a:pPr marL="171450" indent="-171450">
              <a:buClrTx/>
              <a:buSzTx/>
              <a:buBlip>
                <a:blip r:embed="rId2"/>
              </a:buBlip>
              <a:defRPr/>
            </a:pPr>
            <a:r>
              <a:rPr lang="en-US" sz="900" kern="0" spc="-10" dirty="0">
                <a:solidFill>
                  <a:srgbClr val="1D1D1D"/>
                </a:solidFill>
                <a:latin typeface="Arial" pitchFamily="34" charset="0"/>
                <a:ea typeface="Lato"/>
                <a:cs typeface="Lato"/>
              </a:rPr>
              <a:t>Explore opportunities to enhance </a:t>
            </a: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vertical Integration</a:t>
            </a:r>
          </a:p>
        </p:txBody>
      </p:sp>
      <p:sp>
        <p:nvSpPr>
          <p:cNvPr id="23" name="Google Shape;70;p3">
            <a:extLst>
              <a:ext uri="{FF2B5EF4-FFF2-40B4-BE49-F238E27FC236}">
                <a16:creationId xmlns:a16="http://schemas.microsoft.com/office/drawing/2014/main" id="{9BC0932E-2EBE-8E5C-33CC-AAA57F5280AA}"/>
              </a:ext>
            </a:extLst>
          </p:cNvPr>
          <p:cNvSpPr txBox="1"/>
          <p:nvPr/>
        </p:nvSpPr>
        <p:spPr>
          <a:xfrm>
            <a:off x="2931051" y="463752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4" name="Google Shape;71;p3">
            <a:extLst>
              <a:ext uri="{FF2B5EF4-FFF2-40B4-BE49-F238E27FC236}">
                <a16:creationId xmlns:a16="http://schemas.microsoft.com/office/drawing/2014/main" id="{7AD1373A-EE1E-CC0A-4E57-109259CC2E94}"/>
              </a:ext>
            </a:extLst>
          </p:cNvPr>
          <p:cNvSpPr txBox="1"/>
          <p:nvPr/>
        </p:nvSpPr>
        <p:spPr>
          <a:xfrm>
            <a:off x="3046827" y="445443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25" name="Google Shape;57;p3">
            <a:extLst>
              <a:ext uri="{FF2B5EF4-FFF2-40B4-BE49-F238E27FC236}">
                <a16:creationId xmlns:a16="http://schemas.microsoft.com/office/drawing/2014/main" id="{2CB217B6-088D-5EB2-7E8D-31CBF061019D}"/>
              </a:ext>
            </a:extLst>
          </p:cNvPr>
          <p:cNvSpPr/>
          <p:nvPr/>
        </p:nvSpPr>
        <p:spPr>
          <a:xfrm>
            <a:off x="563253" y="770954"/>
            <a:ext cx="1987063" cy="5559799"/>
          </a:xfrm>
          <a:prstGeom prst="roundRect">
            <a:avLst>
              <a:gd name="adj" fmla="val 5837"/>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6" name="Google Shape;72;p3">
            <a:extLst>
              <a:ext uri="{FF2B5EF4-FFF2-40B4-BE49-F238E27FC236}">
                <a16:creationId xmlns:a16="http://schemas.microsoft.com/office/drawing/2014/main" id="{4CA8C7CF-E979-FA0E-2274-214BE07A5325}"/>
              </a:ext>
            </a:extLst>
          </p:cNvPr>
          <p:cNvSpPr txBox="1"/>
          <p:nvPr/>
        </p:nvSpPr>
        <p:spPr>
          <a:xfrm>
            <a:off x="706570" y="829494"/>
            <a:ext cx="174438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Deliver Strategy</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7" name="Google Shape;57;p3">
            <a:extLst>
              <a:ext uri="{FF2B5EF4-FFF2-40B4-BE49-F238E27FC236}">
                <a16:creationId xmlns:a16="http://schemas.microsoft.com/office/drawing/2014/main" id="{36AB6839-88C4-422D-6C1C-6C1B515D34E3}"/>
              </a:ext>
            </a:extLst>
          </p:cNvPr>
          <p:cNvSpPr/>
          <p:nvPr/>
        </p:nvSpPr>
        <p:spPr>
          <a:xfrm>
            <a:off x="689953" y="3363008"/>
            <a:ext cx="1736380" cy="2844340"/>
          </a:xfrm>
          <a:prstGeom prst="roundRect">
            <a:avLst>
              <a:gd name="adj" fmla="val 5837"/>
            </a:avLst>
          </a:prstGeom>
          <a:solidFill>
            <a:schemeClr val="bg1"/>
          </a:solidFill>
          <a:ln>
            <a:solidFill>
              <a:schemeClr val="accent1"/>
            </a:solid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mn-ea"/>
              <a:cs typeface="+mn-cs"/>
              <a:sym typeface="Lato"/>
            </a:endParaRPr>
          </a:p>
        </p:txBody>
      </p:sp>
      <p:sp>
        <p:nvSpPr>
          <p:cNvPr id="28" name="Google Shape;102;p3">
            <a:extLst>
              <a:ext uri="{FF2B5EF4-FFF2-40B4-BE49-F238E27FC236}">
                <a16:creationId xmlns:a16="http://schemas.microsoft.com/office/drawing/2014/main" id="{EE8304C3-B626-1EA5-A27A-3B6D2F5146AD}"/>
              </a:ext>
            </a:extLst>
          </p:cNvPr>
          <p:cNvSpPr txBox="1"/>
          <p:nvPr/>
        </p:nvSpPr>
        <p:spPr>
          <a:xfrm>
            <a:off x="824426" y="3516092"/>
            <a:ext cx="1601908" cy="230812"/>
          </a:xfrm>
          <a:prstGeom prst="rect">
            <a:avLst/>
          </a:prstGeom>
          <a:noFill/>
          <a:ln>
            <a:noFill/>
          </a:ln>
        </p:spPr>
        <p:txBody>
          <a:bodyPr spcFirstLastPara="1" wrap="square" lIns="22850" tIns="22850" rIns="22850" bIns="22850" anchor="b" anchorCtr="0">
            <a:spAutoFit/>
          </a:bodyPr>
          <a:lstStyle/>
          <a:p>
            <a:pPr marL="0" marR="0" lvl="0" indent="0"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EXPECTED VALUE</a:t>
            </a:r>
            <a:endParaRPr kumimoji="0" lang="en-US" sz="7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graphicFrame>
        <p:nvGraphicFramePr>
          <p:cNvPr id="29" name="Table 28">
            <a:extLst>
              <a:ext uri="{FF2B5EF4-FFF2-40B4-BE49-F238E27FC236}">
                <a16:creationId xmlns:a16="http://schemas.microsoft.com/office/drawing/2014/main" id="{1331806C-E105-C4D4-0E4C-49A2F9226C02}"/>
              </a:ext>
            </a:extLst>
          </p:cNvPr>
          <p:cNvGraphicFramePr>
            <a:graphicFrameLocks noGrp="1"/>
          </p:cNvGraphicFramePr>
          <p:nvPr/>
        </p:nvGraphicFramePr>
        <p:xfrm>
          <a:off x="675060" y="1202813"/>
          <a:ext cx="1775897" cy="1783080"/>
        </p:xfrm>
        <a:graphic>
          <a:graphicData uri="http://schemas.openxmlformats.org/drawingml/2006/table">
            <a:tbl>
              <a:tblPr firstRow="1" bandRow="1">
                <a:tableStyleId>{5940675A-B579-460E-94D1-54222C63F5DA}</a:tableStyleId>
              </a:tblPr>
              <a:tblGrid>
                <a:gridCol w="1775897">
                  <a:extLst>
                    <a:ext uri="{9D8B030D-6E8A-4147-A177-3AD203B41FA5}">
                      <a16:colId xmlns:a16="http://schemas.microsoft.com/office/drawing/2014/main" val="2160030322"/>
                    </a:ext>
                  </a:extLst>
                </a:gridCol>
              </a:tblGrid>
              <a:tr h="181852">
                <a:tc>
                  <a:txBody>
                    <a:bodyPr/>
                    <a:lstStyle/>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Run core operations</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Grow organically &amp; inorganically </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Drive decarbonized value- added products </a:t>
                      </a:r>
                    </a:p>
                    <a:p>
                      <a:pPr marL="171450" marR="0" lvl="0" indent="-171450" algn="l" defTabSz="914400" rtl="0" eaLnBrk="1" fontAlgn="auto" latinLnBrk="0" hangingPunct="1">
                        <a:lnSpc>
                          <a:spcPct val="100000"/>
                        </a:lnSpc>
                        <a:spcBef>
                          <a:spcPts val="0"/>
                        </a:spcBef>
                        <a:spcAft>
                          <a:spcPts val="600"/>
                        </a:spcAft>
                        <a:buFont typeface="Arial" panose="020B0706020202030204" pitchFamily="34" charset="0"/>
                        <a:buBlip>
                          <a:blip r:embed="rId2"/>
                        </a:buBlip>
                        <a:tabLst/>
                        <a:defRPr/>
                      </a:pPr>
                      <a:r>
                        <a:rPr kumimoji="0" lang="en-GB" sz="1200" b="0" i="0" u="none" strike="noStrike" kern="0" cap="none" spc="-10" normalizeH="0" baseline="0" dirty="0">
                          <a:ln>
                            <a:noFill/>
                          </a:ln>
                          <a:solidFill>
                            <a:schemeClr val="tx1"/>
                          </a:solidFill>
                          <a:effectLst/>
                          <a:uLnTx/>
                          <a:uFillTx/>
                          <a:latin typeface="Arial" pitchFamily="34" charset="0"/>
                          <a:ea typeface="+mn-ea"/>
                          <a:cs typeface="+mn-cs"/>
                        </a:rPr>
                        <a:t>Build team for future ready organization.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01001088"/>
                  </a:ext>
                </a:extLst>
              </a:tr>
            </a:tbl>
          </a:graphicData>
        </a:graphic>
      </p:graphicFrame>
      <p:sp>
        <p:nvSpPr>
          <p:cNvPr id="30" name="Google Shape;68;p3">
            <a:extLst>
              <a:ext uri="{FF2B5EF4-FFF2-40B4-BE49-F238E27FC236}">
                <a16:creationId xmlns:a16="http://schemas.microsoft.com/office/drawing/2014/main" id="{1FDB5D08-10A3-0F3F-AF3D-D48480684AD2}"/>
              </a:ext>
            </a:extLst>
          </p:cNvPr>
          <p:cNvSpPr/>
          <p:nvPr/>
        </p:nvSpPr>
        <p:spPr>
          <a:xfrm>
            <a:off x="2799337" y="5176979"/>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1" name="Google Shape;69;p3">
            <a:extLst>
              <a:ext uri="{FF2B5EF4-FFF2-40B4-BE49-F238E27FC236}">
                <a16:creationId xmlns:a16="http://schemas.microsoft.com/office/drawing/2014/main" id="{90D83699-F680-3DA3-0FE6-96AACD192F1F}"/>
              </a:ext>
            </a:extLst>
          </p:cNvPr>
          <p:cNvSpPr txBox="1"/>
          <p:nvPr/>
        </p:nvSpPr>
        <p:spPr>
          <a:xfrm>
            <a:off x="3812828" y="5206536"/>
            <a:ext cx="4362064" cy="984885"/>
          </a:xfrm>
          <a:prstGeom prst="rect">
            <a:avLst/>
          </a:prstGeom>
          <a:noFill/>
          <a:ln>
            <a:noFill/>
          </a:ln>
        </p:spPr>
        <p:txBody>
          <a:bodyPr spcFirstLastPara="1" wrap="square" lIns="0" tIns="0" rIns="0" bIns="0" anchor="ctr" anchorCtr="0">
            <a:spAutoFit/>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Organization &amp; Operating Model</a:t>
            </a:r>
          </a:p>
          <a:p>
            <a:pPr marL="171450" marR="0" lvl="0" indent="-171450" fontAlgn="auto">
              <a:lnSpc>
                <a:spcPct val="100000"/>
              </a:lnSpc>
              <a:spcBef>
                <a:spcPts val="0"/>
              </a:spcBef>
              <a:spcAft>
                <a:spcPts val="0"/>
              </a:spcAft>
              <a:buBlip>
                <a:blip r:embed="rId2"/>
              </a:buBlip>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Select new </a:t>
            </a:r>
            <a:r>
              <a:rPr lang="en-US" sz="900" kern="0" spc="-10" dirty="0">
                <a:solidFill>
                  <a:srgbClr val="1D1D1D"/>
                </a:solidFill>
                <a:latin typeface="Arial" pitchFamily="34" charset="0"/>
                <a:ea typeface="Lato"/>
                <a:cs typeface="Lato"/>
              </a:rPr>
              <a:t>leaders and (re)build leadership team for future ready organization, with high quality talent in critical roles </a:t>
            </a:r>
          </a:p>
          <a:p>
            <a:pPr marL="171450" marR="0" lvl="0" indent="-171450" fontAlgn="auto">
              <a:lnSpc>
                <a:spcPct val="100000"/>
              </a:lnSpc>
              <a:spcBef>
                <a:spcPts val="0"/>
              </a:spcBef>
              <a:spcAft>
                <a:spcPts val="0"/>
              </a:spcAft>
              <a:buBlip>
                <a:blip r:embed="rId2"/>
              </a:buBlip>
              <a:tabLst/>
              <a:defRPr/>
            </a:pPr>
            <a:r>
              <a:rPr lang="en-GB" sz="900" kern="0" spc="-10" dirty="0">
                <a:solidFill>
                  <a:srgbClr val="1D1D1D"/>
                </a:solidFill>
                <a:latin typeface="Arial" pitchFamily="34" charset="0"/>
                <a:ea typeface="Lato"/>
                <a:cs typeface="Lato"/>
              </a:rPr>
              <a:t>Strengthen new organization model and operating interfaces, </a:t>
            </a:r>
            <a:r>
              <a:rPr lang="en-US" sz="900" kern="0" spc="-10" dirty="0">
                <a:solidFill>
                  <a:srgbClr val="1D1D1D"/>
                </a:solidFill>
                <a:latin typeface="Arial" pitchFamily="34" charset="0"/>
                <a:ea typeface="Lato"/>
                <a:cs typeface="Lato"/>
              </a:rPr>
              <a:t>clarify decision rights and align objectives &amp; incentives</a:t>
            </a:r>
          </a:p>
          <a:p>
            <a:pPr marL="171450" marR="0" lvl="0" indent="-171450" fontAlgn="auto">
              <a:lnSpc>
                <a:spcPct val="100000"/>
              </a:lnSpc>
              <a:spcBef>
                <a:spcPts val="0"/>
              </a:spcBef>
              <a:spcAft>
                <a:spcPts val="0"/>
              </a:spcAft>
              <a:buBlip>
                <a:blip r:embed="rId2"/>
              </a:buBlip>
              <a:tabLst/>
              <a:defRPr/>
            </a:pPr>
            <a:r>
              <a:rPr lang="en-US" sz="900" kern="0" spc="-10" dirty="0">
                <a:solidFill>
                  <a:srgbClr val="1D1D1D"/>
                </a:solidFill>
                <a:latin typeface="Arial" pitchFamily="34" charset="0"/>
                <a:ea typeface="Lato"/>
                <a:cs typeface="Lato"/>
              </a:rPr>
              <a:t>Define strategy deployment plan, align and mobilize leadership team and communicate to </a:t>
            </a: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organization </a:t>
            </a:r>
            <a:endPar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sp>
        <p:nvSpPr>
          <p:cNvPr id="32" name="Google Shape;70;p3">
            <a:extLst>
              <a:ext uri="{FF2B5EF4-FFF2-40B4-BE49-F238E27FC236}">
                <a16:creationId xmlns:a16="http://schemas.microsoft.com/office/drawing/2014/main" id="{574D5465-94C2-8F18-AA68-2A1B328721DE}"/>
              </a:ext>
            </a:extLst>
          </p:cNvPr>
          <p:cNvSpPr txBox="1"/>
          <p:nvPr/>
        </p:nvSpPr>
        <p:spPr>
          <a:xfrm>
            <a:off x="2931051" y="555635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33" name="Google Shape;71;p3">
            <a:extLst>
              <a:ext uri="{FF2B5EF4-FFF2-40B4-BE49-F238E27FC236}">
                <a16:creationId xmlns:a16="http://schemas.microsoft.com/office/drawing/2014/main" id="{FA1509D5-8F25-EF1B-4C75-ACDF4A695045}"/>
              </a:ext>
            </a:extLst>
          </p:cNvPr>
          <p:cNvSpPr txBox="1"/>
          <p:nvPr/>
        </p:nvSpPr>
        <p:spPr>
          <a:xfrm>
            <a:off x="3046827" y="537326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34" name="TextBox 33">
            <a:extLst>
              <a:ext uri="{FF2B5EF4-FFF2-40B4-BE49-F238E27FC236}">
                <a16:creationId xmlns:a16="http://schemas.microsoft.com/office/drawing/2014/main" id="{A8DF68C7-6D9A-BBD9-ED8D-45CF00497002}"/>
              </a:ext>
            </a:extLst>
          </p:cNvPr>
          <p:cNvSpPr txBox="1"/>
          <p:nvPr/>
        </p:nvSpPr>
        <p:spPr>
          <a:xfrm>
            <a:off x="852555" y="4081138"/>
            <a:ext cx="1279046"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chemeClr val="accent6"/>
                </a:solidFill>
                <a:latin typeface="Arial" pitchFamily="34" charset="0"/>
              </a:rPr>
              <a:t>5</a:t>
            </a:r>
            <a:r>
              <a:rPr kumimoji="0" lang="en-US" sz="3600" b="0" i="0" u="none" strike="noStrike" kern="0" cap="none" spc="-10" normalizeH="0" baseline="0" noProof="0" dirty="0">
                <a:ln>
                  <a:noFill/>
                </a:ln>
                <a:solidFill>
                  <a:schemeClr val="accent6"/>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REVENUE</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5" name="TextBox 34">
            <a:extLst>
              <a:ext uri="{FF2B5EF4-FFF2-40B4-BE49-F238E27FC236}">
                <a16:creationId xmlns:a16="http://schemas.microsoft.com/office/drawing/2014/main" id="{2E0C98DC-94B0-C528-097E-B7890BB4C583}"/>
              </a:ext>
            </a:extLst>
          </p:cNvPr>
          <p:cNvSpPr txBox="1"/>
          <p:nvPr/>
        </p:nvSpPr>
        <p:spPr>
          <a:xfrm>
            <a:off x="826782" y="5216213"/>
            <a:ext cx="1480059"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chemeClr val="accent4"/>
                </a:solidFill>
                <a:latin typeface="Arial" pitchFamily="34" charset="0"/>
              </a:rPr>
              <a:t>2</a:t>
            </a:r>
            <a:r>
              <a:rPr kumimoji="0" lang="en-US" sz="3600" b="0" i="0" u="none" strike="noStrike" kern="0" cap="none" spc="-10" normalizeH="0" baseline="0" noProof="0" dirty="0">
                <a:ln>
                  <a:noFill/>
                </a:ln>
                <a:solidFill>
                  <a:schemeClr val="accent4"/>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EBIDTA</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6" name="Rounded Rectangle 35">
            <a:extLst>
              <a:ext uri="{FF2B5EF4-FFF2-40B4-BE49-F238E27FC236}">
                <a16:creationId xmlns:a16="http://schemas.microsoft.com/office/drawing/2014/main" id="{6A6B7BDF-5EC9-DCC5-087B-4569BCED3452}"/>
              </a:ext>
            </a:extLst>
          </p:cNvPr>
          <p:cNvSpPr/>
          <p:nvPr/>
        </p:nvSpPr>
        <p:spPr>
          <a:xfrm>
            <a:off x="824426" y="3870312"/>
            <a:ext cx="866254" cy="24872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dirty="0">
                <a:ln>
                  <a:noFill/>
                </a:ln>
                <a:solidFill>
                  <a:schemeClr val="tx2"/>
                </a:solidFill>
                <a:effectLst/>
                <a:uLnTx/>
                <a:uFillTx/>
                <a:latin typeface="Arial" pitchFamily="34" charset="0"/>
                <a:ea typeface="+mn-ea"/>
                <a:cs typeface="+mn-cs"/>
              </a:rPr>
              <a:t>BY 2028</a:t>
            </a:r>
            <a:endParaRPr kumimoji="0" lang="en-GB" sz="1200" b="0" i="0" u="none" strike="noStrike" kern="0" cap="none" spc="-10" normalizeH="0" baseline="30000" noProof="0" dirty="0">
              <a:ln>
                <a:noFill/>
              </a:ln>
              <a:solidFill>
                <a:schemeClr val="tx2"/>
              </a:solidFill>
              <a:effectLst/>
              <a:uLnTx/>
              <a:uFillTx/>
              <a:latin typeface="Arial" pitchFamily="34" charset="0"/>
              <a:ea typeface="+mn-ea"/>
              <a:cs typeface="+mn-cs"/>
            </a:endParaRPr>
          </a:p>
        </p:txBody>
      </p:sp>
      <p:cxnSp>
        <p:nvCxnSpPr>
          <p:cNvPr id="37" name="Straight Connector 36">
            <a:extLst>
              <a:ext uri="{FF2B5EF4-FFF2-40B4-BE49-F238E27FC236}">
                <a16:creationId xmlns:a16="http://schemas.microsoft.com/office/drawing/2014/main" id="{82292F99-A063-9F50-F6D2-4A462D61336F}"/>
              </a:ext>
            </a:extLst>
          </p:cNvPr>
          <p:cNvCxnSpPr>
            <a:cxnSpLocks/>
          </p:cNvCxnSpPr>
          <p:nvPr/>
        </p:nvCxnSpPr>
        <p:spPr>
          <a:xfrm flipH="1">
            <a:off x="824426" y="5177958"/>
            <a:ext cx="1482415" cy="0"/>
          </a:xfrm>
          <a:prstGeom prst="line">
            <a:avLst/>
          </a:prstGeom>
          <a:ln>
            <a:solidFill>
              <a:srgbClr val="281A42"/>
            </a:solidFill>
            <a:headEnd type="none" w="lg" len="med"/>
          </a:ln>
        </p:spPr>
        <p:style>
          <a:lnRef idx="1">
            <a:schemeClr val="accent1"/>
          </a:lnRef>
          <a:fillRef idx="0">
            <a:schemeClr val="accent1"/>
          </a:fillRef>
          <a:effectRef idx="0">
            <a:schemeClr val="accent1"/>
          </a:effectRef>
          <a:fontRef idx="minor">
            <a:schemeClr val="tx1"/>
          </a:fontRef>
        </p:style>
      </p:cxnSp>
      <p:grpSp>
        <p:nvGrpSpPr>
          <p:cNvPr id="38" name="Google Shape;195;p5">
            <a:extLst>
              <a:ext uri="{FF2B5EF4-FFF2-40B4-BE49-F238E27FC236}">
                <a16:creationId xmlns:a16="http://schemas.microsoft.com/office/drawing/2014/main" id="{4A507916-1630-D529-19C0-3FEF9D889E70}"/>
              </a:ext>
            </a:extLst>
          </p:cNvPr>
          <p:cNvGrpSpPr>
            <a:grpSpLocks noChangeAspect="1"/>
          </p:cNvGrpSpPr>
          <p:nvPr/>
        </p:nvGrpSpPr>
        <p:grpSpPr>
          <a:xfrm>
            <a:off x="9020984" y="3939458"/>
            <a:ext cx="2033060" cy="2160000"/>
            <a:chOff x="501276" y="-6468"/>
            <a:chExt cx="3521559" cy="3741437"/>
          </a:xfrm>
        </p:grpSpPr>
        <p:grpSp>
          <p:nvGrpSpPr>
            <p:cNvPr id="39" name="Google Shape;196;p5">
              <a:extLst>
                <a:ext uri="{FF2B5EF4-FFF2-40B4-BE49-F238E27FC236}">
                  <a16:creationId xmlns:a16="http://schemas.microsoft.com/office/drawing/2014/main" id="{B325303C-DCC5-52E3-9DC0-27787652D9A7}"/>
                </a:ext>
              </a:extLst>
            </p:cNvPr>
            <p:cNvGrpSpPr/>
            <p:nvPr/>
          </p:nvGrpSpPr>
          <p:grpSpPr>
            <a:xfrm>
              <a:off x="719169" y="448534"/>
              <a:ext cx="3239749" cy="2539768"/>
              <a:chOff x="-341400" y="0"/>
              <a:chExt cx="3239746" cy="2539768"/>
            </a:xfrm>
          </p:grpSpPr>
          <p:sp>
            <p:nvSpPr>
              <p:cNvPr id="46" name="Google Shape;197;p5">
                <a:extLst>
                  <a:ext uri="{FF2B5EF4-FFF2-40B4-BE49-F238E27FC236}">
                    <a16:creationId xmlns:a16="http://schemas.microsoft.com/office/drawing/2014/main" id="{0330F5AF-556F-9D1D-3651-9FBA5916451E}"/>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7" name="Google Shape;198;p5">
                <a:extLst>
                  <a:ext uri="{FF2B5EF4-FFF2-40B4-BE49-F238E27FC236}">
                    <a16:creationId xmlns:a16="http://schemas.microsoft.com/office/drawing/2014/main" id="{BAE22DDF-4343-FB0C-0FAE-577861E1B084}"/>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30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8" name="Google Shape;199;p5">
                <a:extLst>
                  <a:ext uri="{FF2B5EF4-FFF2-40B4-BE49-F238E27FC236}">
                    <a16:creationId xmlns:a16="http://schemas.microsoft.com/office/drawing/2014/main" id="{FAA2E27F-2DFC-F4DC-D2F6-91DE6DBEF7A1}"/>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40" name="Google Shape;200;p5">
              <a:extLst>
                <a:ext uri="{FF2B5EF4-FFF2-40B4-BE49-F238E27FC236}">
                  <a16:creationId xmlns:a16="http://schemas.microsoft.com/office/drawing/2014/main" id="{A8776B37-83F5-8379-CD18-4A72DA976DB3}"/>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1" name="Google Shape;201;p5">
              <a:extLst>
                <a:ext uri="{FF2B5EF4-FFF2-40B4-BE49-F238E27FC236}">
                  <a16:creationId xmlns:a16="http://schemas.microsoft.com/office/drawing/2014/main" id="{C3E0F2D9-9522-AB3C-EA94-F70D3179C88D}"/>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2" name="Google Shape;202;p5">
              <a:extLst>
                <a:ext uri="{FF2B5EF4-FFF2-40B4-BE49-F238E27FC236}">
                  <a16:creationId xmlns:a16="http://schemas.microsoft.com/office/drawing/2014/main" id="{2F001862-EA94-8297-7BA4-566C369776A9}"/>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43" name="Google Shape;203;p5">
              <a:extLst>
                <a:ext uri="{FF2B5EF4-FFF2-40B4-BE49-F238E27FC236}">
                  <a16:creationId xmlns:a16="http://schemas.microsoft.com/office/drawing/2014/main" id="{5F56B6D6-A527-DF94-189C-C897BF63EA12}"/>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4" name="Google Shape;204;p5">
              <a:extLst>
                <a:ext uri="{FF2B5EF4-FFF2-40B4-BE49-F238E27FC236}">
                  <a16:creationId xmlns:a16="http://schemas.microsoft.com/office/drawing/2014/main" id="{2FFB53DB-9DF5-BBCA-28E6-ECB0354E63FF}"/>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5" name="Google Shape;205;p5">
              <a:extLst>
                <a:ext uri="{FF2B5EF4-FFF2-40B4-BE49-F238E27FC236}">
                  <a16:creationId xmlns:a16="http://schemas.microsoft.com/office/drawing/2014/main" id="{97AF095F-6D7E-E742-E6F4-957E6384AEC2}"/>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49" name="Google Shape;61;p3">
            <a:extLst>
              <a:ext uri="{FF2B5EF4-FFF2-40B4-BE49-F238E27FC236}">
                <a16:creationId xmlns:a16="http://schemas.microsoft.com/office/drawing/2014/main" id="{EEF8A119-8680-9303-9111-0BCB98623A37}"/>
              </a:ext>
            </a:extLst>
          </p:cNvPr>
          <p:cNvSpPr txBox="1"/>
          <p:nvPr/>
        </p:nvSpPr>
        <p:spPr>
          <a:xfrm>
            <a:off x="8590172" y="3667273"/>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a:t>
            </a:r>
            <a:endParaRPr kumimoji="0" lang="en-US" sz="12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sp>
        <p:nvSpPr>
          <p:cNvPr id="50" name="TextBox 49">
            <a:extLst>
              <a:ext uri="{FF2B5EF4-FFF2-40B4-BE49-F238E27FC236}">
                <a16:creationId xmlns:a16="http://schemas.microsoft.com/office/drawing/2014/main" id="{4A531D7E-56B2-C0A5-3840-9103D0C6B22E}"/>
              </a:ext>
            </a:extLst>
          </p:cNvPr>
          <p:cNvSpPr txBox="1"/>
          <p:nvPr/>
        </p:nvSpPr>
        <p:spPr>
          <a:xfrm>
            <a:off x="8920977" y="6079224"/>
            <a:ext cx="2233075" cy="230832"/>
          </a:xfrm>
          <a:prstGeom prst="rect">
            <a:avLst/>
          </a:prstGeom>
          <a:noFill/>
        </p:spPr>
        <p:txBody>
          <a:bodyPr wrap="square" lIns="91440" tIns="45720" rIns="91440" bIns="45720">
            <a:spAutoFit/>
          </a:bodyPr>
          <a:lstStyle/>
          <a:p>
            <a:pPr algn="ctr" rtl="0">
              <a:defRPr/>
            </a:pPr>
            <a:r>
              <a:rPr lang="en-US" sz="900" i="1" kern="1200" spc="-10" dirty="0">
                <a:solidFill>
                  <a:srgbClr val="1D1D1D">
                    <a:lumMod val="85000"/>
                    <a:lumOff val="15000"/>
                  </a:srgbClr>
                </a:solidFill>
                <a:latin typeface="Arial" pitchFamily="34" charset="0"/>
                <a:ea typeface="Calibri" panose="020F0502020204030204" pitchFamily="34" charset="0"/>
                <a:cs typeface="Calibri" panose="020F0502020204030204" pitchFamily="34" charset="0"/>
                <a:sym typeface="Arial"/>
              </a:rPr>
              <a:t>Medium forecast of value delivery</a:t>
            </a:r>
          </a:p>
        </p:txBody>
      </p:sp>
      <p:sp>
        <p:nvSpPr>
          <p:cNvPr id="51" name="Google Shape;69;p3">
            <a:extLst>
              <a:ext uri="{FF2B5EF4-FFF2-40B4-BE49-F238E27FC236}">
                <a16:creationId xmlns:a16="http://schemas.microsoft.com/office/drawing/2014/main" id="{04C328BA-7C61-72BF-97D8-4721726604C2}"/>
              </a:ext>
            </a:extLst>
          </p:cNvPr>
          <p:cNvSpPr txBox="1">
            <a:spLocks/>
          </p:cNvSpPr>
          <p:nvPr/>
        </p:nvSpPr>
        <p:spPr>
          <a:xfrm>
            <a:off x="3788022" y="1105337"/>
            <a:ext cx="4362064" cy="846386"/>
          </a:xfrm>
          <a:prstGeom prst="rect">
            <a:avLst/>
          </a:prstGeom>
          <a:noFill/>
          <a:ln>
            <a:noFill/>
          </a:ln>
        </p:spPr>
        <p:txBody>
          <a:bodyPr spcFirstLastPara="1" wrap="square" lIns="0" tIns="0" rIns="0" bIns="0" anchor="ctr" anchorCtr="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n-US" sz="1000" kern="0" spc="-10">
                <a:solidFill>
                  <a:schemeClr val="accent1"/>
                </a:solidFill>
                <a:latin typeface="Arial" pitchFamily="34" charset="0"/>
                <a:ea typeface="Lato" panose="020F0502020204030203" pitchFamily="34" charset="0"/>
                <a:cs typeface="Lato" panose="020F0502020204030203" pitchFamily="34" charset="0"/>
              </a:rPr>
              <a:t>Protect Core While Enhancing Productivity </a:t>
            </a:r>
          </a:p>
          <a:p>
            <a:pPr marL="171450" indent="-171450">
              <a:lnSpc>
                <a:spcPct val="100000"/>
              </a:lnSpc>
              <a:spcBef>
                <a:spcPts val="0"/>
              </a:spcBef>
              <a:buFont typeface="Arial" panose="020B0706020202030204" pitchFamily="34" charset="0"/>
              <a:buBlip>
                <a:blip r:embed="rId2"/>
              </a:buBlip>
              <a:defRPr/>
            </a:pPr>
            <a:r>
              <a:rPr lang="en-US" sz="900" kern="0" spc="-10">
                <a:solidFill>
                  <a:srgbClr val="1D1D1D"/>
                </a:solidFill>
                <a:latin typeface="Arial" pitchFamily="34" charset="0"/>
                <a:ea typeface="Lato"/>
                <a:cs typeface="Lato"/>
              </a:rPr>
              <a:t>Strategic owner for delivering incremental revenue, through Asset Development, feedstock optimization, building materials, project implementation to protect market position &amp; financials</a:t>
            </a:r>
          </a:p>
          <a:p>
            <a:pPr marL="171450" indent="-171450">
              <a:lnSpc>
                <a:spcPct val="100000"/>
              </a:lnSpc>
              <a:spcBef>
                <a:spcPts val="0"/>
              </a:spcBef>
              <a:buFont typeface="Arial" panose="020B0706020202030204" pitchFamily="34" charset="0"/>
              <a:buBlip>
                <a:blip r:embed="rId2"/>
              </a:buBlip>
              <a:defRPr/>
            </a:pPr>
            <a:r>
              <a:rPr lang="en-US" sz="900" kern="0" spc="-10">
                <a:solidFill>
                  <a:srgbClr val="1D1D1D"/>
                </a:solidFill>
                <a:latin typeface="Arial" pitchFamily="34" charset="0"/>
                <a:ea typeface="Lato"/>
                <a:cs typeface="Lato"/>
              </a:rPr>
              <a:t>Extract cost/productivity synergies from Digital Transformation programs (Smart Mfg., IOT, AI) to generate fuel for growth optimization</a:t>
            </a:r>
            <a:endParaRPr lang="en-US" sz="900" kern="0" spc="-10" dirty="0">
              <a:solidFill>
                <a:srgbClr val="1D1D1D"/>
              </a:solidFill>
              <a:latin typeface="Arial" pitchFamily="34" charset="0"/>
              <a:ea typeface="Lato"/>
              <a:cs typeface="Lato"/>
            </a:endParaRPr>
          </a:p>
        </p:txBody>
      </p:sp>
      <p:sp>
        <p:nvSpPr>
          <p:cNvPr id="52" name="TextBox 51">
            <a:extLst>
              <a:ext uri="{FF2B5EF4-FFF2-40B4-BE49-F238E27FC236}">
                <a16:creationId xmlns:a16="http://schemas.microsoft.com/office/drawing/2014/main" id="{CE6862DB-1F84-44A3-C812-BEAAB7B9971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688857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9131BC-E543-C8C1-D758-3B6CC27DD0ED}"/>
              </a:ext>
            </a:extLst>
          </p:cNvPr>
          <p:cNvSpPr>
            <a:spLocks noGrp="1"/>
          </p:cNvSpPr>
          <p:nvPr>
            <p:ph type="sldNum" sz="quarter" idx="4"/>
          </p:nvPr>
        </p:nvSpPr>
        <p:spPr/>
        <p:txBody>
          <a:bodyPr/>
          <a:lstStyle/>
          <a:p>
            <a:pPr algn="ctr"/>
            <a:fld id="{1875A764-3B06-454E-8ABA-2F6ED0EB58E9}" type="slidenum">
              <a:rPr lang="en-US" smtClean="0"/>
              <a:t>45</a:t>
            </a:fld>
            <a:endParaRPr lang="en-US"/>
          </a:p>
        </p:txBody>
      </p:sp>
      <p:sp>
        <p:nvSpPr>
          <p:cNvPr id="3" name="Title 2">
            <a:extLst>
              <a:ext uri="{FF2B5EF4-FFF2-40B4-BE49-F238E27FC236}">
                <a16:creationId xmlns:a16="http://schemas.microsoft.com/office/drawing/2014/main" id="{61647DD2-FC8D-6874-8E80-A3479A93C65B}"/>
              </a:ext>
            </a:extLst>
          </p:cNvPr>
          <p:cNvSpPr>
            <a:spLocks noGrp="1"/>
          </p:cNvSpPr>
          <p:nvPr>
            <p:ph type="title"/>
          </p:nvPr>
        </p:nvSpPr>
        <p:spPr/>
        <p:txBody>
          <a:bodyPr/>
          <a:lstStyle/>
          <a:p>
            <a:r>
              <a:rPr lang="en-US" dirty="0"/>
              <a:t>CXO </a:t>
            </a:r>
            <a:r>
              <a:rPr lang="en-US" dirty="0">
                <a:solidFill>
                  <a:schemeClr val="accent1"/>
                </a:solidFill>
              </a:rPr>
              <a:t>Value Forecast</a:t>
            </a:r>
          </a:p>
        </p:txBody>
      </p:sp>
      <p:sp>
        <p:nvSpPr>
          <p:cNvPr id="4" name="Google Shape;103;p3">
            <a:extLst>
              <a:ext uri="{FF2B5EF4-FFF2-40B4-BE49-F238E27FC236}">
                <a16:creationId xmlns:a16="http://schemas.microsoft.com/office/drawing/2014/main" id="{3A33BF81-993E-AF55-0995-9C44453ACF32}"/>
              </a:ext>
            </a:extLst>
          </p:cNvPr>
          <p:cNvSpPr/>
          <p:nvPr/>
        </p:nvSpPr>
        <p:spPr>
          <a:xfrm>
            <a:off x="6096000" y="3643407"/>
            <a:ext cx="3608304" cy="2508959"/>
          </a:xfrm>
          <a:prstGeom prst="roundRect">
            <a:avLst>
              <a:gd name="adj" fmla="val 4596"/>
            </a:avLst>
          </a:prstGeom>
          <a:solidFill>
            <a:srgbClr val="00C27A"/>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solidFill>
                  <a:srgbClr val="FFFFFF"/>
                </a:solidFill>
              </a:defRPr>
            </a:pPr>
            <a:endParaRPr kumimoji="0" sz="2400" b="0" i="0" u="none" strike="noStrike" kern="0" cap="none" spc="-10" normalizeH="0" baseline="0" noProof="0" dirty="0">
              <a:ln>
                <a:noFill/>
              </a:ln>
              <a:solidFill>
                <a:srgbClr val="FFFFFF"/>
              </a:solidFill>
              <a:effectLst/>
              <a:uLnTx/>
              <a:uFillTx/>
              <a:latin typeface="Arial" pitchFamily="34" charset="0"/>
              <a:ea typeface="Lato"/>
              <a:cs typeface="Lato"/>
              <a:sym typeface="Lato"/>
            </a:endParaRPr>
          </a:p>
        </p:txBody>
      </p:sp>
      <p:sp>
        <p:nvSpPr>
          <p:cNvPr id="6" name="Google Shape;128;p4">
            <a:extLst>
              <a:ext uri="{FF2B5EF4-FFF2-40B4-BE49-F238E27FC236}">
                <a16:creationId xmlns:a16="http://schemas.microsoft.com/office/drawing/2014/main" id="{D10B69F6-3EDC-5F4F-5FF6-4434CC11D52B}"/>
              </a:ext>
            </a:extLst>
          </p:cNvPr>
          <p:cNvSpPr/>
          <p:nvPr/>
        </p:nvSpPr>
        <p:spPr>
          <a:xfrm>
            <a:off x="4251854" y="793396"/>
            <a:ext cx="7564753" cy="5428685"/>
          </a:xfrm>
          <a:prstGeom prst="roundRect">
            <a:avLst>
              <a:gd name="adj" fmla="val 267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 name="Google Shape;136;p4">
            <a:extLst>
              <a:ext uri="{FF2B5EF4-FFF2-40B4-BE49-F238E27FC236}">
                <a16:creationId xmlns:a16="http://schemas.microsoft.com/office/drawing/2014/main" id="{18A29FA2-F682-2288-EB40-6B0B2F40E687}"/>
              </a:ext>
            </a:extLst>
          </p:cNvPr>
          <p:cNvSpPr txBox="1"/>
          <p:nvPr/>
        </p:nvSpPr>
        <p:spPr>
          <a:xfrm>
            <a:off x="4445890" y="4218542"/>
            <a:ext cx="7208789" cy="1985139"/>
          </a:xfrm>
          <a:prstGeom prst="rect">
            <a:avLst/>
          </a:prstGeom>
          <a:noFill/>
          <a:ln>
            <a:noFill/>
          </a:ln>
        </p:spPr>
        <p:txBody>
          <a:bodyPr spcFirstLastPara="1" wrap="square" lIns="22850" tIns="22850" rIns="22850" bIns="22850" numCol="1" spcCol="180000" anchor="t" anchorCtr="0">
            <a:spAutoFit/>
          </a:bodyPr>
          <a:lstStyle/>
          <a:p>
            <a:pPr marL="142875" marR="0" lvl="0" indent="-142875" defTabSz="457200" fontAlgn="auto">
              <a:lnSpc>
                <a:spcPct val="100000"/>
              </a:lnSpc>
              <a:spcBef>
                <a:spcPts val="0"/>
              </a:spcBef>
              <a:spcAft>
                <a:spcPts val="0"/>
              </a:spcAft>
              <a:buBlip>
                <a:blip r:embed="rId2"/>
              </a:buBlip>
              <a:tabLst/>
              <a:defRPr/>
            </a:pPr>
            <a:r>
              <a:rPr kumimoji="0" lang="en-GB" sz="105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CXO has strong regional </a:t>
            </a:r>
            <a:r>
              <a:rPr lang="en-GB" sz="1050" kern="0" spc="-10" dirty="0">
                <a:solidFill>
                  <a:srgbClr val="1D1D1D"/>
                </a:solidFill>
                <a:latin typeface="Arial" pitchFamily="34" charset="0"/>
                <a:cs typeface="Calibri" panose="020F0502020204030204" pitchFamily="34" charset="0"/>
                <a:sym typeface="Arial"/>
              </a:rPr>
              <a:t>business experience with a solid operating track record. As a homegrown CEO and industry expert, he is well-regarded for his humility, empathy and ability to foster loyalty within the organization. Demonstrated learning agility in moving from operational to commercial roles, with support from strong mentor.</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Has created an Operating Model that positions him for success as Holdco CEO but needs a bi-focal focus on driving core performance and building future growth. This requires him to delegate responsibility while maintaining accountability to ensure effective execution and ensure balance between short-term performance and long-term expansion. </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Essential to have a more focused approach on fewer, prioritized strategic goals for greater impact. To do that, needs to enhance Board confidence by proactively detailing risk-aware investment &amp; growth opportunities</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Needs to complement his leadership team with global and M&amp;A experience to effectively communicate an exciting growth narrative and secure investor buy-in for deals and decarbonized products.</a:t>
            </a:r>
          </a:p>
          <a:p>
            <a:pPr marL="142875" marR="0" lvl="0" indent="-142875" defTabSz="457200" fontAlgn="auto">
              <a:lnSpc>
                <a:spcPct val="100000"/>
              </a:lnSpc>
              <a:spcBef>
                <a:spcPts val="0"/>
              </a:spcBef>
              <a:spcAft>
                <a:spcPts val="0"/>
              </a:spcAft>
              <a:buBlip>
                <a:blip r:embed="rId2"/>
              </a:buBlip>
              <a:tabLst/>
              <a:defRPr/>
            </a:pPr>
            <a:r>
              <a:rPr lang="en-GB" sz="1050" kern="0" spc="-10" dirty="0">
                <a:solidFill>
                  <a:srgbClr val="1D1D1D"/>
                </a:solidFill>
                <a:latin typeface="Arial" pitchFamily="34" charset="0"/>
                <a:cs typeface="Calibri" panose="020F0502020204030204" pitchFamily="34" charset="0"/>
                <a:sym typeface="Arial"/>
              </a:rPr>
              <a:t>May be perceived as "too nice," with a high affiliation style that can lead to avoidance of conflict and difficult conversations, particularly when needing to hold people to account </a:t>
            </a:r>
            <a:r>
              <a:rPr kumimoji="0" lang="en-GB" sz="105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for performance or making tough people decisions. </a:t>
            </a:r>
          </a:p>
        </p:txBody>
      </p:sp>
      <p:sp>
        <p:nvSpPr>
          <p:cNvPr id="8" name="Google Shape;136;p4">
            <a:extLst>
              <a:ext uri="{FF2B5EF4-FFF2-40B4-BE49-F238E27FC236}">
                <a16:creationId xmlns:a16="http://schemas.microsoft.com/office/drawing/2014/main" id="{DF22D51B-F18E-2C7B-EA3C-015D3314693A}"/>
              </a:ext>
            </a:extLst>
          </p:cNvPr>
          <p:cNvSpPr txBox="1"/>
          <p:nvPr/>
        </p:nvSpPr>
        <p:spPr>
          <a:xfrm>
            <a:off x="4443401" y="2146171"/>
            <a:ext cx="7203208" cy="1661973"/>
          </a:xfrm>
          <a:prstGeom prst="rect">
            <a:avLst/>
          </a:prstGeom>
          <a:noFill/>
          <a:ln>
            <a:noFill/>
          </a:ln>
        </p:spPr>
        <p:txBody>
          <a:bodyPr spcFirstLastPara="1" wrap="square" lIns="22850" tIns="22850" rIns="22850" bIns="22850" numCol="1" spcCol="180000" anchor="t" anchorCtr="0">
            <a:spAutoFit/>
          </a:bodyPr>
          <a:lstStyle/>
          <a:p>
            <a:pPr marL="142875" indent="-142875" defTabSz="457200">
              <a:buClrTx/>
              <a:buSzTx/>
              <a:buBlip>
                <a:blip r:embed="rId2"/>
              </a:buBlip>
              <a:defRPr/>
            </a:pPr>
            <a:r>
              <a:rPr kumimoji="0" lang="en-US" sz="1050" b="0" i="0" u="none" strike="noStrike" kern="0" cap="none" spc="-10" normalizeH="0" baseline="0" noProof="0" dirty="0">
                <a:ln>
                  <a:noFill/>
                </a:ln>
                <a:solidFill>
                  <a:srgbClr val="1D1D1D"/>
                </a:solidFill>
                <a:effectLst/>
                <a:uLnTx/>
                <a:uFillTx/>
                <a:latin typeface="Arial" pitchFamily="34" charset="0"/>
                <a:ea typeface="Lato"/>
                <a:cs typeface="Calibri"/>
                <a:sym typeface="Arial"/>
              </a:rPr>
              <a:t>The current </a:t>
            </a:r>
            <a:r>
              <a:rPr lang="en-US" sz="1050" kern="0" spc="-10" dirty="0">
                <a:solidFill>
                  <a:srgbClr val="1D1D1D"/>
                </a:solidFill>
                <a:latin typeface="Arial" pitchFamily="34" charset="0"/>
                <a:cs typeface="Calibri" panose="020F0502020204030204" pitchFamily="34" charset="0"/>
                <a:sym typeface="Arial"/>
              </a:rPr>
              <a:t>mandate is challenging due to lack of detail and stakeholder alignment in the new growth initiatives.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Role design supports the mandate, but capability gaps in growth areas create a significant risk, both in the organization and leadership.</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Operating model currently seems to prioritize functional needs over BU performance delivery, limiting effectiveness.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The Senior Leadership Team has some gaps (CEO BU 1). This requires him to step into operational details. </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In addition, there are insufficient capabilities in critical areas: M&amp;A, Corporate Finance, Investor Relations, Operations, S&amp;OP, Procurement, Sales, and BU Financial Controllers.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Existing culture of "business as usual" is resistant to change which creates siloed behavior and low accountability across levels.</a:t>
            </a:r>
          </a:p>
          <a:p>
            <a:pPr marL="142875" indent="-142875" defTabSz="457200">
              <a:buClrTx/>
              <a:buSzTx/>
              <a:buBlip>
                <a:blip r:embed="rId2"/>
              </a:buBlip>
              <a:defRPr/>
            </a:pPr>
            <a:r>
              <a:rPr lang="en-US" sz="1050" kern="0" spc="-10" dirty="0">
                <a:solidFill>
                  <a:srgbClr val="1D1D1D"/>
                </a:solidFill>
                <a:latin typeface="Arial" pitchFamily="34" charset="0"/>
                <a:cs typeface="Calibri" panose="020F0502020204030204" pitchFamily="34" charset="0"/>
                <a:sym typeface="Arial"/>
              </a:rPr>
              <a:t>Need to improve external communication </a:t>
            </a:r>
            <a:r>
              <a:rPr kumimoji="0" lang="en-US" sz="1050" b="0" i="0" u="none" strike="noStrike" kern="0" cap="none" spc="-10" normalizeH="0" baseline="0" noProof="0" dirty="0">
                <a:ln>
                  <a:noFill/>
                </a:ln>
                <a:solidFill>
                  <a:srgbClr val="1D1D1D"/>
                </a:solidFill>
                <a:effectLst/>
                <a:uLnTx/>
                <a:uFillTx/>
                <a:latin typeface="Arial" pitchFamily="34" charset="0"/>
                <a:ea typeface="Lato"/>
                <a:cs typeface="Calibri"/>
                <a:sym typeface="Arial"/>
              </a:rPr>
              <a:t>to effectively promote the growth story and attract investors.</a:t>
            </a:r>
          </a:p>
        </p:txBody>
      </p:sp>
      <p:cxnSp>
        <p:nvCxnSpPr>
          <p:cNvPr id="9" name="Google Shape;306;p6">
            <a:extLst>
              <a:ext uri="{FF2B5EF4-FFF2-40B4-BE49-F238E27FC236}">
                <a16:creationId xmlns:a16="http://schemas.microsoft.com/office/drawing/2014/main" id="{3609E132-56F5-2567-6408-98954E14BC77}"/>
              </a:ext>
            </a:extLst>
          </p:cNvPr>
          <p:cNvCxnSpPr>
            <a:cxnSpLocks/>
          </p:cNvCxnSpPr>
          <p:nvPr/>
        </p:nvCxnSpPr>
        <p:spPr>
          <a:xfrm>
            <a:off x="4445890" y="1838976"/>
            <a:ext cx="7040880" cy="0"/>
          </a:xfrm>
          <a:prstGeom prst="straightConnector1">
            <a:avLst/>
          </a:prstGeom>
          <a:noFill/>
          <a:ln w="12700" cap="flat" cmpd="sng">
            <a:solidFill>
              <a:schemeClr val="accent1"/>
            </a:solidFill>
            <a:prstDash val="solid"/>
            <a:miter lim="400000"/>
            <a:headEnd type="none" w="sm" len="sm"/>
            <a:tailEnd type="none" w="sm" len="sm"/>
          </a:ln>
        </p:spPr>
      </p:cxnSp>
      <p:cxnSp>
        <p:nvCxnSpPr>
          <p:cNvPr id="10" name="Google Shape;306;p6">
            <a:extLst>
              <a:ext uri="{FF2B5EF4-FFF2-40B4-BE49-F238E27FC236}">
                <a16:creationId xmlns:a16="http://schemas.microsoft.com/office/drawing/2014/main" id="{3A052CDD-1741-EA4A-E14E-602239B2F893}"/>
              </a:ext>
            </a:extLst>
          </p:cNvPr>
          <p:cNvCxnSpPr>
            <a:cxnSpLocks/>
          </p:cNvCxnSpPr>
          <p:nvPr/>
        </p:nvCxnSpPr>
        <p:spPr>
          <a:xfrm>
            <a:off x="4443401" y="3898237"/>
            <a:ext cx="7040880" cy="0"/>
          </a:xfrm>
          <a:prstGeom prst="straightConnector1">
            <a:avLst/>
          </a:prstGeom>
          <a:noFill/>
          <a:ln w="12700" cap="flat" cmpd="sng">
            <a:solidFill>
              <a:schemeClr val="accent1"/>
            </a:solidFill>
            <a:prstDash val="solid"/>
            <a:miter lim="400000"/>
            <a:headEnd type="none" w="sm" len="sm"/>
            <a:tailEnd type="none" w="sm" len="sm"/>
          </a:ln>
        </p:spPr>
      </p:cxnSp>
      <p:sp>
        <p:nvSpPr>
          <p:cNvPr id="11" name="TextBox 10">
            <a:extLst>
              <a:ext uri="{FF2B5EF4-FFF2-40B4-BE49-F238E27FC236}">
                <a16:creationId xmlns:a16="http://schemas.microsoft.com/office/drawing/2014/main" id="{27E540B3-5744-021C-EEC8-7A9353A0CEA8}"/>
              </a:ext>
            </a:extLst>
          </p:cNvPr>
          <p:cNvSpPr txBox="1"/>
          <p:nvPr/>
        </p:nvSpPr>
        <p:spPr>
          <a:xfrm>
            <a:off x="4499638" y="1949308"/>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IS THE ROLE/ORGANIZATION DESIGNED TO ENABLE VALUE DELIVERY?</a:t>
            </a:r>
          </a:p>
        </p:txBody>
      </p:sp>
      <p:sp>
        <p:nvSpPr>
          <p:cNvPr id="12" name="TextBox 11">
            <a:extLst>
              <a:ext uri="{FF2B5EF4-FFF2-40B4-BE49-F238E27FC236}">
                <a16:creationId xmlns:a16="http://schemas.microsoft.com/office/drawing/2014/main" id="{9CC63FBE-41C7-6DA7-2EF0-B2C43C6E0477}"/>
              </a:ext>
            </a:extLst>
          </p:cNvPr>
          <p:cNvSpPr txBox="1"/>
          <p:nvPr/>
        </p:nvSpPr>
        <p:spPr>
          <a:xfrm>
            <a:off x="4499638" y="4002904"/>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TALENT</a:t>
            </a:r>
          </a:p>
        </p:txBody>
      </p:sp>
      <p:sp>
        <p:nvSpPr>
          <p:cNvPr id="13" name="Google Shape;103;p3">
            <a:extLst>
              <a:ext uri="{FF2B5EF4-FFF2-40B4-BE49-F238E27FC236}">
                <a16:creationId xmlns:a16="http://schemas.microsoft.com/office/drawing/2014/main" id="{DE30CF66-4E09-C1C5-A84B-56C80D56D707}"/>
              </a:ext>
            </a:extLst>
          </p:cNvPr>
          <p:cNvSpPr/>
          <p:nvPr/>
        </p:nvSpPr>
        <p:spPr>
          <a:xfrm>
            <a:off x="537321" y="2444676"/>
            <a:ext cx="3608304" cy="2175790"/>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4" name="Google Shape;103;p3">
            <a:extLst>
              <a:ext uri="{FF2B5EF4-FFF2-40B4-BE49-F238E27FC236}">
                <a16:creationId xmlns:a16="http://schemas.microsoft.com/office/drawing/2014/main" id="{4AA89EF0-9091-ED9E-75B9-A5EACC1727F7}"/>
              </a:ext>
            </a:extLst>
          </p:cNvPr>
          <p:cNvSpPr/>
          <p:nvPr/>
        </p:nvSpPr>
        <p:spPr>
          <a:xfrm>
            <a:off x="537321" y="4684910"/>
            <a:ext cx="3608304" cy="153717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5" name="Google Shape;103;p3">
            <a:extLst>
              <a:ext uri="{FF2B5EF4-FFF2-40B4-BE49-F238E27FC236}">
                <a16:creationId xmlns:a16="http://schemas.microsoft.com/office/drawing/2014/main" id="{21A01DB6-073A-D3AB-DFFE-352E77C3EC1F}"/>
              </a:ext>
            </a:extLst>
          </p:cNvPr>
          <p:cNvSpPr/>
          <p:nvPr/>
        </p:nvSpPr>
        <p:spPr>
          <a:xfrm>
            <a:off x="537321" y="793396"/>
            <a:ext cx="3608304" cy="158471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grpSp>
        <p:nvGrpSpPr>
          <p:cNvPr id="16" name="Google Shape;105;p3">
            <a:extLst>
              <a:ext uri="{FF2B5EF4-FFF2-40B4-BE49-F238E27FC236}">
                <a16:creationId xmlns:a16="http://schemas.microsoft.com/office/drawing/2014/main" id="{F0FBCF56-282C-C2D5-1A3F-E5ED9109C57C}"/>
              </a:ext>
            </a:extLst>
          </p:cNvPr>
          <p:cNvGrpSpPr>
            <a:grpSpLocks noChangeAspect="1"/>
          </p:cNvGrpSpPr>
          <p:nvPr/>
        </p:nvGrpSpPr>
        <p:grpSpPr>
          <a:xfrm>
            <a:off x="623253" y="1164250"/>
            <a:ext cx="1084298" cy="1152000"/>
            <a:chOff x="501280" y="-6468"/>
            <a:chExt cx="3521557" cy="3741440"/>
          </a:xfrm>
        </p:grpSpPr>
        <p:grpSp>
          <p:nvGrpSpPr>
            <p:cNvPr id="17" name="Google Shape;106;p3">
              <a:extLst>
                <a:ext uri="{FF2B5EF4-FFF2-40B4-BE49-F238E27FC236}">
                  <a16:creationId xmlns:a16="http://schemas.microsoft.com/office/drawing/2014/main" id="{8DF45407-F666-E9F4-37EC-9D05498E1F9B}"/>
                </a:ext>
              </a:extLst>
            </p:cNvPr>
            <p:cNvGrpSpPr/>
            <p:nvPr/>
          </p:nvGrpSpPr>
          <p:grpSpPr>
            <a:xfrm>
              <a:off x="1060570" y="448533"/>
              <a:ext cx="2539764" cy="2539769"/>
              <a:chOff x="0" y="0"/>
              <a:chExt cx="2539762" cy="2539768"/>
            </a:xfrm>
          </p:grpSpPr>
          <p:sp>
            <p:nvSpPr>
              <p:cNvPr id="24" name="Google Shape;107;p3">
                <a:extLst>
                  <a:ext uri="{FF2B5EF4-FFF2-40B4-BE49-F238E27FC236}">
                    <a16:creationId xmlns:a16="http://schemas.microsoft.com/office/drawing/2014/main" id="{6E70FCD2-4FF3-34A3-6AFF-28C2E86BB4F1}"/>
                  </a:ext>
                </a:extLst>
              </p:cNvPr>
              <p:cNvSpPr/>
              <p:nvPr/>
            </p:nvSpPr>
            <p:spPr>
              <a:xfrm>
                <a:off x="0"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5" name="Google Shape;108;p3">
                <a:extLst>
                  <a:ext uri="{FF2B5EF4-FFF2-40B4-BE49-F238E27FC236}">
                    <a16:creationId xmlns:a16="http://schemas.microsoft.com/office/drawing/2014/main" id="{8E64DC7F-2655-0015-9055-B5B58EF47304}"/>
                  </a:ext>
                </a:extLst>
              </p:cNvPr>
              <p:cNvSpPr txBox="1"/>
              <p:nvPr/>
            </p:nvSpPr>
            <p:spPr>
              <a:xfrm>
                <a:off x="275567" y="480774"/>
                <a:ext cx="2031837" cy="1157609"/>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22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2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6" name="Google Shape;109;p3">
                <a:extLst>
                  <a:ext uri="{FF2B5EF4-FFF2-40B4-BE49-F238E27FC236}">
                    <a16:creationId xmlns:a16="http://schemas.microsoft.com/office/drawing/2014/main" id="{6D40EABD-D80F-0EBA-57B1-55C0F7EE4DFB}"/>
                  </a:ext>
                </a:extLst>
              </p:cNvPr>
              <p:cNvSpPr/>
              <p:nvPr/>
            </p:nvSpPr>
            <p:spPr>
              <a:xfrm>
                <a:off x="112893" y="1517176"/>
                <a:ext cx="2393317" cy="49972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8" name="Google Shape;110;p3">
              <a:extLst>
                <a:ext uri="{FF2B5EF4-FFF2-40B4-BE49-F238E27FC236}">
                  <a16:creationId xmlns:a16="http://schemas.microsoft.com/office/drawing/2014/main" id="{65B2F1AC-E0FA-0D27-1991-FDEE944C9AAA}"/>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9" name="Google Shape;111;p3">
              <a:extLst>
                <a:ext uri="{FF2B5EF4-FFF2-40B4-BE49-F238E27FC236}">
                  <a16:creationId xmlns:a16="http://schemas.microsoft.com/office/drawing/2014/main" id="{A162C465-4B8E-FFCE-1B97-5206F5E4E119}"/>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0" name="Google Shape;112;p3">
              <a:extLst>
                <a:ext uri="{FF2B5EF4-FFF2-40B4-BE49-F238E27FC236}">
                  <a16:creationId xmlns:a16="http://schemas.microsoft.com/office/drawing/2014/main" id="{8967A1D0-7C79-55EF-030B-0A85AEA5D1CD}"/>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1" name="Google Shape;113;p3">
              <a:extLst>
                <a:ext uri="{FF2B5EF4-FFF2-40B4-BE49-F238E27FC236}">
                  <a16:creationId xmlns:a16="http://schemas.microsoft.com/office/drawing/2014/main" id="{261DEC94-50FF-90F9-1D2C-A9AA2AB903E5}"/>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2" name="Google Shape;114;p3">
              <a:extLst>
                <a:ext uri="{FF2B5EF4-FFF2-40B4-BE49-F238E27FC236}">
                  <a16:creationId xmlns:a16="http://schemas.microsoft.com/office/drawing/2014/main" id="{43488D7A-5029-7517-6E01-132F8E1CC741}"/>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3" name="Google Shape;115;p3">
              <a:extLst>
                <a:ext uri="{FF2B5EF4-FFF2-40B4-BE49-F238E27FC236}">
                  <a16:creationId xmlns:a16="http://schemas.microsoft.com/office/drawing/2014/main" id="{57D0EEDC-EDCE-44AD-023D-D74ADD0575A0}"/>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10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7" name="Google Shape;121;p3">
            <a:extLst>
              <a:ext uri="{FF2B5EF4-FFF2-40B4-BE49-F238E27FC236}">
                <a16:creationId xmlns:a16="http://schemas.microsoft.com/office/drawing/2014/main" id="{B7E16898-5D70-59BE-B569-BF86A1F27581}"/>
              </a:ext>
            </a:extLst>
          </p:cNvPr>
          <p:cNvSpPr txBox="1"/>
          <p:nvPr/>
        </p:nvSpPr>
        <p:spPr>
          <a:xfrm>
            <a:off x="687345" y="871822"/>
            <a:ext cx="110503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281A42"/>
                </a:solidFill>
                <a:effectLst/>
                <a:uLnTx/>
                <a:uFillTx/>
                <a:latin typeface="Segoe UI" pitchFamily="34" charset="0"/>
                <a:ea typeface="Lato"/>
                <a:cs typeface="Lato"/>
                <a:sym typeface="Lato"/>
              </a:rPr>
              <a:t>Click </a:t>
            </a:r>
            <a:r>
              <a:rPr kumimoji="0" lang="en-US" sz="1200" b="1" i="0" u="none" strike="noStrike" kern="0" cap="none" spc="-25" normalizeH="0" baseline="0" noProof="0" dirty="0">
                <a:ln>
                  <a:noFill/>
                </a:ln>
                <a:solidFill>
                  <a:srgbClr val="281A42"/>
                </a:solidFill>
                <a:effectLst/>
                <a:uLnTx/>
                <a:uFillTx/>
                <a:latin typeface="Segoe UI" pitchFamily="34" charset="0"/>
                <a:ea typeface="Lato Light"/>
                <a:cs typeface="Lato Light"/>
                <a:sym typeface="Lato Light"/>
              </a:rPr>
              <a:t>Score</a:t>
            </a:r>
            <a:endParaRPr kumimoji="0" lang="en-US" sz="1200" b="1" i="0" u="none" strike="noStrike" kern="0" cap="none" spc="-25" normalizeH="0" baseline="0" noProof="0" dirty="0">
              <a:ln>
                <a:noFill/>
              </a:ln>
              <a:solidFill>
                <a:srgbClr val="281A42"/>
              </a:solidFill>
              <a:effectLst/>
              <a:uLnTx/>
              <a:uFillTx/>
              <a:latin typeface="Segoe UI" pitchFamily="34" charset="0"/>
              <a:ea typeface="+mn-ea"/>
              <a:cs typeface="Arial"/>
              <a:sym typeface="Arial"/>
            </a:endParaRPr>
          </a:p>
        </p:txBody>
      </p:sp>
      <p:grpSp>
        <p:nvGrpSpPr>
          <p:cNvPr id="28" name="Group 27">
            <a:extLst>
              <a:ext uri="{FF2B5EF4-FFF2-40B4-BE49-F238E27FC236}">
                <a16:creationId xmlns:a16="http://schemas.microsoft.com/office/drawing/2014/main" id="{978ABC98-C610-9D8B-4772-3207D41E9E4C}"/>
              </a:ext>
            </a:extLst>
          </p:cNvPr>
          <p:cNvGrpSpPr/>
          <p:nvPr/>
        </p:nvGrpSpPr>
        <p:grpSpPr>
          <a:xfrm>
            <a:off x="1923108" y="932793"/>
            <a:ext cx="2016499" cy="1542357"/>
            <a:chOff x="2851267" y="1598659"/>
            <a:chExt cx="1412157" cy="1522969"/>
          </a:xfrm>
        </p:grpSpPr>
        <p:graphicFrame>
          <p:nvGraphicFramePr>
            <p:cNvPr id="29" name="Chart 28">
              <a:extLst>
                <a:ext uri="{FF2B5EF4-FFF2-40B4-BE49-F238E27FC236}">
                  <a16:creationId xmlns:a16="http://schemas.microsoft.com/office/drawing/2014/main" id="{7427DCAA-66DB-BB89-313A-D76A351EDD6B}"/>
                </a:ext>
              </a:extLst>
            </p:cNvPr>
            <p:cNvGraphicFramePr/>
            <p:nvPr/>
          </p:nvGraphicFramePr>
          <p:xfrm>
            <a:off x="2851267" y="1598659"/>
            <a:ext cx="1412157" cy="1522969"/>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7C448264-98C2-7AAF-A968-AE2960876093}"/>
                </a:ext>
              </a:extLst>
            </p:cNvPr>
            <p:cNvSpPr txBox="1"/>
            <p:nvPr/>
          </p:nvSpPr>
          <p:spPr>
            <a:xfrm>
              <a:off x="2903870" y="1610393"/>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59D3D248-E599-7B8F-19D0-0CD2BE382CBA}"/>
                </a:ext>
              </a:extLst>
            </p:cNvPr>
            <p:cNvSpPr txBox="1"/>
            <p:nvPr/>
          </p:nvSpPr>
          <p:spPr>
            <a:xfrm>
              <a:off x="2903870" y="2057148"/>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168CA2AB-1A82-A54C-C6B5-D118E3323B2A}"/>
                </a:ext>
              </a:extLst>
            </p:cNvPr>
            <p:cNvSpPr txBox="1"/>
            <p:nvPr/>
          </p:nvSpPr>
          <p:spPr>
            <a:xfrm>
              <a:off x="2903870" y="2466645"/>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sp>
        <p:nvSpPr>
          <p:cNvPr id="33" name="Google Shape;121;p3">
            <a:extLst>
              <a:ext uri="{FF2B5EF4-FFF2-40B4-BE49-F238E27FC236}">
                <a16:creationId xmlns:a16="http://schemas.microsoft.com/office/drawing/2014/main" id="{3DC2DACB-CC94-CBDE-4AD4-2BE70537CF7E}"/>
              </a:ext>
            </a:extLst>
          </p:cNvPr>
          <p:cNvSpPr txBox="1"/>
          <p:nvPr/>
        </p:nvSpPr>
        <p:spPr>
          <a:xfrm>
            <a:off x="687344" y="2507611"/>
            <a:ext cx="1764759" cy="230812"/>
          </a:xfrm>
          <a:prstGeom prst="rect">
            <a:avLst/>
          </a:prstGeom>
          <a:noFill/>
          <a:ln>
            <a:noFill/>
          </a:ln>
        </p:spPr>
        <p:txBody>
          <a:bodyPr spcFirstLastPara="1" wrap="square" lIns="22850" tIns="22850" rIns="22850" bIns="2285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281A42"/>
                </a:solidFill>
                <a:effectLst/>
                <a:uLnTx/>
                <a:uFillTx/>
                <a:latin typeface="Segoe UI" pitchFamily="34" charset="0"/>
                <a:ea typeface="Calibri" panose="020F0502020204030204" pitchFamily="34" charset="0"/>
                <a:cs typeface="Calibri" panose="020F0502020204030204" pitchFamily="34" charset="0"/>
              </a:rPr>
              <a:t>JOBS TO BE DONE</a:t>
            </a:r>
          </a:p>
        </p:txBody>
      </p:sp>
      <p:sp>
        <p:nvSpPr>
          <p:cNvPr id="34" name="Google Shape;121;p3">
            <a:extLst>
              <a:ext uri="{FF2B5EF4-FFF2-40B4-BE49-F238E27FC236}">
                <a16:creationId xmlns:a16="http://schemas.microsoft.com/office/drawing/2014/main" id="{931F7A9A-5DD8-FBB7-D141-15F50C88ED32}"/>
              </a:ext>
            </a:extLst>
          </p:cNvPr>
          <p:cNvSpPr txBox="1"/>
          <p:nvPr/>
        </p:nvSpPr>
        <p:spPr>
          <a:xfrm>
            <a:off x="687345" y="4732874"/>
            <a:ext cx="1769522"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Lato"/>
                <a:cs typeface="Lato"/>
                <a:sym typeface="Lato"/>
              </a:rPr>
              <a:t>SUPERPOWERS</a:t>
            </a:r>
          </a:p>
        </p:txBody>
      </p:sp>
      <p:sp>
        <p:nvSpPr>
          <p:cNvPr id="35" name="TextBox 34">
            <a:extLst>
              <a:ext uri="{FF2B5EF4-FFF2-40B4-BE49-F238E27FC236}">
                <a16:creationId xmlns:a16="http://schemas.microsoft.com/office/drawing/2014/main" id="{8805B1A5-BCC1-6A24-955A-3D6471B3924F}"/>
              </a:ext>
            </a:extLst>
          </p:cNvPr>
          <p:cNvSpPr txBox="1"/>
          <p:nvPr/>
        </p:nvSpPr>
        <p:spPr>
          <a:xfrm>
            <a:off x="1324741" y="4972780"/>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Inspirational leader with ability to excite new investors &amp; Board on growth agenda while sustaining operating results</a:t>
            </a:r>
            <a:endPar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8809A763-7497-A0FF-016A-B0F90DA8B636}"/>
              </a:ext>
            </a:extLst>
          </p:cNvPr>
          <p:cNvSpPr txBox="1"/>
          <p:nvPr/>
        </p:nvSpPr>
        <p:spPr>
          <a:xfrm>
            <a:off x="609542" y="5020200"/>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sp>
        <p:nvSpPr>
          <p:cNvPr id="37" name="TextBox 36">
            <a:extLst>
              <a:ext uri="{FF2B5EF4-FFF2-40B4-BE49-F238E27FC236}">
                <a16:creationId xmlns:a16="http://schemas.microsoft.com/office/drawing/2014/main" id="{18B62404-C35E-2A3A-DDA0-7C0096AD1E0E}"/>
              </a:ext>
            </a:extLst>
          </p:cNvPr>
          <p:cNvSpPr txBox="1"/>
          <p:nvPr/>
        </p:nvSpPr>
        <p:spPr>
          <a:xfrm>
            <a:off x="1324741" y="5536198"/>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Decisive, mature leader to motivate leadership team and organization to deliver strategic pivots (think globally, JVs, M&amp;A)</a:t>
            </a:r>
          </a:p>
        </p:txBody>
      </p:sp>
      <p:sp>
        <p:nvSpPr>
          <p:cNvPr id="38" name="TextBox 37">
            <a:extLst>
              <a:ext uri="{FF2B5EF4-FFF2-40B4-BE49-F238E27FC236}">
                <a16:creationId xmlns:a16="http://schemas.microsoft.com/office/drawing/2014/main" id="{B39D27BA-4646-8E48-58E7-948539331E17}"/>
              </a:ext>
            </a:extLst>
          </p:cNvPr>
          <p:cNvSpPr txBox="1"/>
          <p:nvPr/>
        </p:nvSpPr>
        <p:spPr>
          <a:xfrm>
            <a:off x="609542" y="5583618"/>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grpSp>
        <p:nvGrpSpPr>
          <p:cNvPr id="39" name="Group 38">
            <a:extLst>
              <a:ext uri="{FF2B5EF4-FFF2-40B4-BE49-F238E27FC236}">
                <a16:creationId xmlns:a16="http://schemas.microsoft.com/office/drawing/2014/main" id="{89060B08-0548-508F-9119-33CBA3A996D9}"/>
              </a:ext>
            </a:extLst>
          </p:cNvPr>
          <p:cNvGrpSpPr/>
          <p:nvPr/>
        </p:nvGrpSpPr>
        <p:grpSpPr>
          <a:xfrm>
            <a:off x="609542" y="2790191"/>
            <a:ext cx="3391192" cy="338554"/>
            <a:chOff x="441367" y="2951878"/>
            <a:chExt cx="3391192" cy="338554"/>
          </a:xfrm>
        </p:grpSpPr>
        <p:sp>
          <p:nvSpPr>
            <p:cNvPr id="40" name="TextBox 39">
              <a:extLst>
                <a:ext uri="{FF2B5EF4-FFF2-40B4-BE49-F238E27FC236}">
                  <a16:creationId xmlns:a16="http://schemas.microsoft.com/office/drawing/2014/main" id="{16EA3274-2D21-8433-4675-702017B36A5E}"/>
                </a:ext>
              </a:extLst>
            </p:cNvPr>
            <p:cNvSpPr txBox="1"/>
            <p:nvPr/>
          </p:nvSpPr>
          <p:spPr>
            <a:xfrm>
              <a:off x="1156566" y="3005739"/>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Protect &amp; grow core while enhancing productivity</a:t>
              </a:r>
            </a:p>
          </p:txBody>
        </p:sp>
        <p:sp>
          <p:nvSpPr>
            <p:cNvPr id="41" name="TextBox 40">
              <a:extLst>
                <a:ext uri="{FF2B5EF4-FFF2-40B4-BE49-F238E27FC236}">
                  <a16:creationId xmlns:a16="http://schemas.microsoft.com/office/drawing/2014/main" id="{94435722-17E4-418C-73B3-7E5205084F2E}"/>
                </a:ext>
              </a:extLst>
            </p:cNvPr>
            <p:cNvSpPr txBox="1"/>
            <p:nvPr/>
          </p:nvSpPr>
          <p:spPr>
            <a:xfrm>
              <a:off x="441367" y="2951878"/>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40%</a:t>
              </a:r>
            </a:p>
          </p:txBody>
        </p:sp>
      </p:grpSp>
      <p:grpSp>
        <p:nvGrpSpPr>
          <p:cNvPr id="42" name="Group 41">
            <a:extLst>
              <a:ext uri="{FF2B5EF4-FFF2-40B4-BE49-F238E27FC236}">
                <a16:creationId xmlns:a16="http://schemas.microsoft.com/office/drawing/2014/main" id="{B33BA546-CA17-D7C5-8F91-1547805FC7FB}"/>
              </a:ext>
            </a:extLst>
          </p:cNvPr>
          <p:cNvGrpSpPr/>
          <p:nvPr/>
        </p:nvGrpSpPr>
        <p:grpSpPr>
          <a:xfrm>
            <a:off x="609542" y="3144332"/>
            <a:ext cx="3391192" cy="338554"/>
            <a:chOff x="441367" y="3321332"/>
            <a:chExt cx="3391192" cy="338554"/>
          </a:xfrm>
        </p:grpSpPr>
        <p:sp>
          <p:nvSpPr>
            <p:cNvPr id="43" name="TextBox 42">
              <a:extLst>
                <a:ext uri="{FF2B5EF4-FFF2-40B4-BE49-F238E27FC236}">
                  <a16:creationId xmlns:a16="http://schemas.microsoft.com/office/drawing/2014/main" id="{0753D008-7F8E-DB1A-9829-72656F2F41DD}"/>
                </a:ext>
              </a:extLst>
            </p:cNvPr>
            <p:cNvSpPr txBox="1"/>
            <p:nvPr/>
          </p:nvSpPr>
          <p:spPr>
            <a:xfrm>
              <a:off x="1156566" y="337519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a:rPr>
                <a:t>Diversify &amp; decarbonize product portfolio</a:t>
              </a:r>
              <a:endPar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A61802FA-DB69-E127-23C8-B57917CED520}"/>
                </a:ext>
              </a:extLst>
            </p:cNvPr>
            <p:cNvSpPr txBox="1"/>
            <p:nvPr/>
          </p:nvSpPr>
          <p:spPr>
            <a:xfrm>
              <a:off x="441367" y="332133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45" name="Group 44">
            <a:extLst>
              <a:ext uri="{FF2B5EF4-FFF2-40B4-BE49-F238E27FC236}">
                <a16:creationId xmlns:a16="http://schemas.microsoft.com/office/drawing/2014/main" id="{D142681A-0F1E-9721-8E93-F0200308F2B9}"/>
              </a:ext>
            </a:extLst>
          </p:cNvPr>
          <p:cNvGrpSpPr/>
          <p:nvPr/>
        </p:nvGrpSpPr>
        <p:grpSpPr>
          <a:xfrm>
            <a:off x="609542" y="3498473"/>
            <a:ext cx="3391192" cy="369332"/>
            <a:chOff x="441367" y="3703976"/>
            <a:chExt cx="3391192" cy="369332"/>
          </a:xfrm>
        </p:grpSpPr>
        <p:sp>
          <p:nvSpPr>
            <p:cNvPr id="46" name="TextBox 45">
              <a:extLst>
                <a:ext uri="{FF2B5EF4-FFF2-40B4-BE49-F238E27FC236}">
                  <a16:creationId xmlns:a16="http://schemas.microsoft.com/office/drawing/2014/main" id="{1BC092A0-A92C-6B8D-E993-B462673143E6}"/>
                </a:ext>
              </a:extLst>
            </p:cNvPr>
            <p:cNvSpPr txBox="1"/>
            <p:nvPr/>
          </p:nvSpPr>
          <p:spPr>
            <a:xfrm>
              <a:off x="1156566" y="3703976"/>
              <a:ext cx="2675993" cy="3693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Build &amp; deliver investment case to drive </a:t>
              </a:r>
              <a:b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b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inorganic growth </a:t>
              </a:r>
            </a:p>
          </p:txBody>
        </p:sp>
        <p:sp>
          <p:nvSpPr>
            <p:cNvPr id="47" name="TextBox 46">
              <a:extLst>
                <a:ext uri="{FF2B5EF4-FFF2-40B4-BE49-F238E27FC236}">
                  <a16:creationId xmlns:a16="http://schemas.microsoft.com/office/drawing/2014/main" id="{025220AC-BD04-53FA-927D-2F23069F42E7}"/>
                </a:ext>
              </a:extLst>
            </p:cNvPr>
            <p:cNvSpPr txBox="1"/>
            <p:nvPr/>
          </p:nvSpPr>
          <p:spPr>
            <a:xfrm>
              <a:off x="441367" y="3719365"/>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48" name="Group 47">
            <a:extLst>
              <a:ext uri="{FF2B5EF4-FFF2-40B4-BE49-F238E27FC236}">
                <a16:creationId xmlns:a16="http://schemas.microsoft.com/office/drawing/2014/main" id="{FECF3CE1-B4B4-49F9-E2F3-2BF8A2C96977}"/>
              </a:ext>
            </a:extLst>
          </p:cNvPr>
          <p:cNvGrpSpPr/>
          <p:nvPr/>
        </p:nvGrpSpPr>
        <p:grpSpPr>
          <a:xfrm>
            <a:off x="609542" y="3883392"/>
            <a:ext cx="3391192" cy="338554"/>
            <a:chOff x="441367" y="4032533"/>
            <a:chExt cx="3391192" cy="338554"/>
          </a:xfrm>
        </p:grpSpPr>
        <p:sp>
          <p:nvSpPr>
            <p:cNvPr id="49" name="TextBox 48">
              <a:extLst>
                <a:ext uri="{FF2B5EF4-FFF2-40B4-BE49-F238E27FC236}">
                  <a16:creationId xmlns:a16="http://schemas.microsoft.com/office/drawing/2014/main" id="{6C387F19-B8CC-AF25-F8B1-2FB8B0E3FC41}"/>
                </a:ext>
              </a:extLst>
            </p:cNvPr>
            <p:cNvSpPr txBox="1"/>
            <p:nvPr/>
          </p:nvSpPr>
          <p:spPr>
            <a:xfrm>
              <a:off x="1156566" y="4086394"/>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Expand geographic footprint</a:t>
              </a:r>
            </a:p>
          </p:txBody>
        </p:sp>
        <p:sp>
          <p:nvSpPr>
            <p:cNvPr id="50" name="TextBox 49">
              <a:extLst>
                <a:ext uri="{FF2B5EF4-FFF2-40B4-BE49-F238E27FC236}">
                  <a16:creationId xmlns:a16="http://schemas.microsoft.com/office/drawing/2014/main" id="{1BC7D1E1-1841-1415-5B34-0D285AD45A4A}"/>
                </a:ext>
              </a:extLst>
            </p:cNvPr>
            <p:cNvSpPr txBox="1"/>
            <p:nvPr/>
          </p:nvSpPr>
          <p:spPr>
            <a:xfrm>
              <a:off x="441367" y="4032533"/>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51" name="Group 50">
            <a:extLst>
              <a:ext uri="{FF2B5EF4-FFF2-40B4-BE49-F238E27FC236}">
                <a16:creationId xmlns:a16="http://schemas.microsoft.com/office/drawing/2014/main" id="{2063BAAC-FB3C-4F95-4112-0475B98AE182}"/>
              </a:ext>
            </a:extLst>
          </p:cNvPr>
          <p:cNvGrpSpPr/>
          <p:nvPr/>
        </p:nvGrpSpPr>
        <p:grpSpPr>
          <a:xfrm>
            <a:off x="609542" y="4237533"/>
            <a:ext cx="3391192" cy="338554"/>
            <a:chOff x="441367" y="4365042"/>
            <a:chExt cx="3391192" cy="338554"/>
          </a:xfrm>
        </p:grpSpPr>
        <p:sp>
          <p:nvSpPr>
            <p:cNvPr id="52" name="TextBox 51">
              <a:extLst>
                <a:ext uri="{FF2B5EF4-FFF2-40B4-BE49-F238E27FC236}">
                  <a16:creationId xmlns:a16="http://schemas.microsoft.com/office/drawing/2014/main" id="{7DBD7D9F-191D-C360-A518-7432A5159072}"/>
                </a:ext>
              </a:extLst>
            </p:cNvPr>
            <p:cNvSpPr txBox="1"/>
            <p:nvPr/>
          </p:nvSpPr>
          <p:spPr>
            <a:xfrm>
              <a:off x="1156566" y="441890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Organization &amp; operating model</a:t>
              </a:r>
            </a:p>
          </p:txBody>
        </p:sp>
        <p:sp>
          <p:nvSpPr>
            <p:cNvPr id="53" name="TextBox 52">
              <a:extLst>
                <a:ext uri="{FF2B5EF4-FFF2-40B4-BE49-F238E27FC236}">
                  <a16:creationId xmlns:a16="http://schemas.microsoft.com/office/drawing/2014/main" id="{AAEAC4DF-D4E5-9A55-6778-E9CFCB21C6BA}"/>
                </a:ext>
              </a:extLst>
            </p:cNvPr>
            <p:cNvSpPr txBox="1"/>
            <p:nvPr/>
          </p:nvSpPr>
          <p:spPr>
            <a:xfrm>
              <a:off x="441367" y="436504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cxnSp>
        <p:nvCxnSpPr>
          <p:cNvPr id="54" name="Straight Connector 53">
            <a:extLst>
              <a:ext uri="{FF2B5EF4-FFF2-40B4-BE49-F238E27FC236}">
                <a16:creationId xmlns:a16="http://schemas.microsoft.com/office/drawing/2014/main" id="{702DE454-338A-27F5-21BD-62BAC7818A0F}"/>
              </a:ext>
            </a:extLst>
          </p:cNvPr>
          <p:cNvCxnSpPr/>
          <p:nvPr/>
        </p:nvCxnSpPr>
        <p:spPr>
          <a:xfrm>
            <a:off x="666324" y="3139255"/>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887AEBC-1755-83C0-5A42-B2BDEA08041B}"/>
              </a:ext>
            </a:extLst>
          </p:cNvPr>
          <p:cNvCxnSpPr/>
          <p:nvPr/>
        </p:nvCxnSpPr>
        <p:spPr>
          <a:xfrm>
            <a:off x="666324" y="3496606"/>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87DC64E-84E4-1C9A-8D6A-A69D2644FCA5}"/>
              </a:ext>
            </a:extLst>
          </p:cNvPr>
          <p:cNvCxnSpPr/>
          <p:nvPr/>
        </p:nvCxnSpPr>
        <p:spPr>
          <a:xfrm>
            <a:off x="666324" y="3874978"/>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B3A2122-2846-095C-395D-1C80A04D3F10}"/>
              </a:ext>
            </a:extLst>
          </p:cNvPr>
          <p:cNvCxnSpPr/>
          <p:nvPr/>
        </p:nvCxnSpPr>
        <p:spPr>
          <a:xfrm>
            <a:off x="666324" y="4221819"/>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FF59108-AE4A-3F5A-22C4-222A9CE9087E}"/>
              </a:ext>
            </a:extLst>
          </p:cNvPr>
          <p:cNvCxnSpPr/>
          <p:nvPr/>
        </p:nvCxnSpPr>
        <p:spPr>
          <a:xfrm>
            <a:off x="666324" y="5514592"/>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59" name="Rectangle: Rounded Corners 27">
            <a:extLst>
              <a:ext uri="{FF2B5EF4-FFF2-40B4-BE49-F238E27FC236}">
                <a16:creationId xmlns:a16="http://schemas.microsoft.com/office/drawing/2014/main" id="{7813D859-9F42-FEAA-A267-E8C101FED5F0}"/>
              </a:ext>
            </a:extLst>
          </p:cNvPr>
          <p:cNvSpPr/>
          <p:nvPr/>
        </p:nvSpPr>
        <p:spPr>
          <a:xfrm>
            <a:off x="1350532" y="6342997"/>
            <a:ext cx="232562" cy="98899"/>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rgbClr val="FFFFFF"/>
                </a:solidFill>
                <a:effectLst/>
                <a:uLnTx/>
                <a:uFillTx/>
                <a:latin typeface="Lato" panose="020F0502020204030203" pitchFamily="34" charset="77"/>
                <a:ea typeface="+mn-ea"/>
                <a:cs typeface="+mn-cs"/>
                <a:sym typeface="Arial"/>
              </a:rPr>
              <a:t>70+</a:t>
            </a:r>
          </a:p>
        </p:txBody>
      </p:sp>
      <p:sp>
        <p:nvSpPr>
          <p:cNvPr id="60" name="Rectangle: Rounded Corners 28">
            <a:extLst>
              <a:ext uri="{FF2B5EF4-FFF2-40B4-BE49-F238E27FC236}">
                <a16:creationId xmlns:a16="http://schemas.microsoft.com/office/drawing/2014/main" id="{2CD4D0BC-53A1-EAE1-0B4E-D59F02D7F8FE}"/>
              </a:ext>
            </a:extLst>
          </p:cNvPr>
          <p:cNvSpPr/>
          <p:nvPr/>
        </p:nvSpPr>
        <p:spPr>
          <a:xfrm>
            <a:off x="2224305" y="6342997"/>
            <a:ext cx="232562" cy="98899"/>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chemeClr val="bg1"/>
                </a:solidFill>
                <a:effectLst/>
                <a:uLnTx/>
                <a:uFillTx/>
                <a:latin typeface="Lato" panose="020F0502020204030203" pitchFamily="34" charset="77"/>
                <a:ea typeface="+mn-ea"/>
                <a:cs typeface="+mn-cs"/>
                <a:sym typeface="Arial"/>
              </a:rPr>
              <a:t>56-70</a:t>
            </a:r>
          </a:p>
        </p:txBody>
      </p:sp>
      <p:sp>
        <p:nvSpPr>
          <p:cNvPr id="61" name="Rectangle: Rounded Corners 30">
            <a:extLst>
              <a:ext uri="{FF2B5EF4-FFF2-40B4-BE49-F238E27FC236}">
                <a16:creationId xmlns:a16="http://schemas.microsoft.com/office/drawing/2014/main" id="{9908685D-2A84-AEE9-CFE0-F148D070174B}"/>
              </a:ext>
            </a:extLst>
          </p:cNvPr>
          <p:cNvSpPr/>
          <p:nvPr/>
        </p:nvSpPr>
        <p:spPr>
          <a:xfrm>
            <a:off x="3228484" y="6342997"/>
            <a:ext cx="232562" cy="98899"/>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400" b="0" i="0" u="none" strike="noStrike" kern="0" cap="none" spc="0" normalizeH="0" baseline="0" noProof="0" dirty="0">
                <a:ln>
                  <a:noFill/>
                </a:ln>
                <a:solidFill>
                  <a:schemeClr val="bg1"/>
                </a:solidFill>
                <a:effectLst/>
                <a:uLnTx/>
                <a:uFillTx/>
                <a:latin typeface="Lato" panose="020F0502020204030203" pitchFamily="34" charset="77"/>
                <a:ea typeface="+mn-ea"/>
                <a:cs typeface="+mn-cs"/>
                <a:sym typeface="Arial"/>
              </a:rPr>
              <a:t>&lt;55</a:t>
            </a:r>
          </a:p>
        </p:txBody>
      </p:sp>
      <p:sp>
        <p:nvSpPr>
          <p:cNvPr id="62" name="TextBox 61">
            <a:extLst>
              <a:ext uri="{FF2B5EF4-FFF2-40B4-BE49-F238E27FC236}">
                <a16:creationId xmlns:a16="http://schemas.microsoft.com/office/drawing/2014/main" id="{11BBD689-7CAD-E782-84E3-E5745FF6D179}"/>
              </a:ext>
            </a:extLst>
          </p:cNvPr>
          <p:cNvSpPr txBox="1"/>
          <p:nvPr/>
        </p:nvSpPr>
        <p:spPr>
          <a:xfrm>
            <a:off x="1559387" y="6292419"/>
            <a:ext cx="348172"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Low</a:t>
            </a:r>
          </a:p>
        </p:txBody>
      </p:sp>
      <p:sp>
        <p:nvSpPr>
          <p:cNvPr id="63" name="TextBox 62">
            <a:extLst>
              <a:ext uri="{FF2B5EF4-FFF2-40B4-BE49-F238E27FC236}">
                <a16:creationId xmlns:a16="http://schemas.microsoft.com/office/drawing/2014/main" id="{247D1E61-8C75-3A28-A615-62E4160267B0}"/>
              </a:ext>
            </a:extLst>
          </p:cNvPr>
          <p:cNvSpPr txBox="1"/>
          <p:nvPr/>
        </p:nvSpPr>
        <p:spPr>
          <a:xfrm>
            <a:off x="2448225" y="6292419"/>
            <a:ext cx="575799"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Moderate</a:t>
            </a:r>
          </a:p>
        </p:txBody>
      </p:sp>
      <p:sp>
        <p:nvSpPr>
          <p:cNvPr id="64" name="TextBox 63">
            <a:extLst>
              <a:ext uri="{FF2B5EF4-FFF2-40B4-BE49-F238E27FC236}">
                <a16:creationId xmlns:a16="http://schemas.microsoft.com/office/drawing/2014/main" id="{98E6A6D4-65EC-4352-744B-47DD2E15D4E2}"/>
              </a:ext>
            </a:extLst>
          </p:cNvPr>
          <p:cNvSpPr txBox="1"/>
          <p:nvPr/>
        </p:nvSpPr>
        <p:spPr>
          <a:xfrm>
            <a:off x="3457959" y="6292419"/>
            <a:ext cx="367408" cy="20005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High</a:t>
            </a:r>
          </a:p>
        </p:txBody>
      </p:sp>
      <p:sp>
        <p:nvSpPr>
          <p:cNvPr id="65" name="TextBox 64">
            <a:extLst>
              <a:ext uri="{FF2B5EF4-FFF2-40B4-BE49-F238E27FC236}">
                <a16:creationId xmlns:a16="http://schemas.microsoft.com/office/drawing/2014/main" id="{03C80849-ADF6-BEAB-7BFA-5913DA7858B7}"/>
              </a:ext>
            </a:extLst>
          </p:cNvPr>
          <p:cNvSpPr txBox="1"/>
          <p:nvPr/>
        </p:nvSpPr>
        <p:spPr>
          <a:xfrm>
            <a:off x="537321" y="6292419"/>
            <a:ext cx="694800" cy="20005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7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Risk Level:</a:t>
            </a:r>
          </a:p>
        </p:txBody>
      </p:sp>
      <p:sp>
        <p:nvSpPr>
          <p:cNvPr id="67" name="Google Shape;136;p4">
            <a:extLst>
              <a:ext uri="{FF2B5EF4-FFF2-40B4-BE49-F238E27FC236}">
                <a16:creationId xmlns:a16="http://schemas.microsoft.com/office/drawing/2014/main" id="{F294478D-CDF0-97A8-FBC8-5BC39C518E52}"/>
              </a:ext>
            </a:extLst>
          </p:cNvPr>
          <p:cNvSpPr txBox="1">
            <a:spLocks/>
          </p:cNvSpPr>
          <p:nvPr/>
        </p:nvSpPr>
        <p:spPr>
          <a:xfrm>
            <a:off x="4482013" y="1008967"/>
            <a:ext cx="7155041" cy="715560"/>
          </a:xfrm>
          <a:prstGeom prst="rect">
            <a:avLst/>
          </a:prstGeom>
          <a:noFill/>
          <a:ln>
            <a:noFill/>
          </a:ln>
        </p:spPr>
        <p:txBody>
          <a:bodyPr spcFirstLastPara="1" wrap="square" lIns="22850" tIns="22850" rIns="22850" bIns="22850" anchor="t" anchorCtr="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defTabSz="457200">
              <a:lnSpc>
                <a:spcPct val="100000"/>
              </a:lnSpc>
              <a:spcBef>
                <a:spcPts val="0"/>
              </a:spcBef>
              <a:buClr>
                <a:srgbClr val="765FFF"/>
              </a:buClr>
              <a:buSzPts val="3600"/>
              <a:buFont typeface="Arial" panose="020B0706020202030204" pitchFamily="34" charset="0"/>
              <a:buNone/>
              <a:defRPr/>
            </a:pPr>
            <a:r>
              <a:rPr lang="en-US" b="1" kern="0" spc="-10">
                <a:solidFill>
                  <a:srgbClr val="281A42"/>
                </a:solidFill>
                <a:latin typeface="Segoe UI" pitchFamily="34" charset="0"/>
                <a:sym typeface="Lato"/>
              </a:rPr>
              <a:t>WHAT’S THE PIVOTAL WORK?</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Translate growth ambitions into organic and inorganic detailed execution plans + Build Board alignment</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Build new organizational capabilities to deliver growth &amp; decarbonization aspirations </a:t>
            </a:r>
          </a:p>
          <a:p>
            <a:pPr marL="142875" indent="-142875" defTabSz="457200">
              <a:lnSpc>
                <a:spcPct val="100000"/>
              </a:lnSpc>
              <a:spcBef>
                <a:spcPts val="0"/>
              </a:spcBef>
              <a:buFont typeface="Arial" panose="020B0706020202030204" pitchFamily="34" charset="0"/>
              <a:buBlip>
                <a:blip r:embed="rId2"/>
              </a:buBlip>
              <a:defRPr/>
            </a:pPr>
            <a:r>
              <a:rPr lang="en-US" sz="1050" kern="0" spc="-10">
                <a:solidFill>
                  <a:srgbClr val="1D1D1D"/>
                </a:solidFill>
                <a:latin typeface="Arial" pitchFamily="34" charset="0"/>
                <a:cs typeface="Calibri" panose="020F0502020204030204" pitchFamily="34" charset="0"/>
                <a:sym typeface="Arial"/>
              </a:rPr>
              <a:t>Strengthen Operating Model and culture of accountability </a:t>
            </a:r>
            <a:endParaRPr lang="en-US" sz="1050" kern="0" spc="-10" dirty="0">
              <a:solidFill>
                <a:srgbClr val="1D1D1D"/>
              </a:solidFill>
              <a:latin typeface="Arial" pitchFamily="34" charset="0"/>
              <a:cs typeface="Calibri" panose="020F0502020204030204" pitchFamily="34" charset="0"/>
              <a:sym typeface="Arial"/>
            </a:endParaRPr>
          </a:p>
        </p:txBody>
      </p:sp>
      <p:sp>
        <p:nvSpPr>
          <p:cNvPr id="5" name="TextBox 4">
            <a:extLst>
              <a:ext uri="{FF2B5EF4-FFF2-40B4-BE49-F238E27FC236}">
                <a16:creationId xmlns:a16="http://schemas.microsoft.com/office/drawing/2014/main" id="{122269A5-887B-C188-1414-6E37E17FCEA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711163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231704-77D3-33BA-F0C6-3EB107159DE7}"/>
              </a:ext>
            </a:extLst>
          </p:cNvPr>
          <p:cNvSpPr>
            <a:spLocks noGrp="1"/>
          </p:cNvSpPr>
          <p:nvPr>
            <p:ph type="title"/>
          </p:nvPr>
        </p:nvSpPr>
        <p:spPr/>
        <p:txBody>
          <a:bodyPr/>
          <a:lstStyle/>
          <a:p>
            <a:r>
              <a:rPr lang="en-US" dirty="0"/>
              <a:t>CXO </a:t>
            </a:r>
            <a:r>
              <a:rPr lang="en-US" dirty="0">
                <a:solidFill>
                  <a:schemeClr val="accent1"/>
                </a:solidFill>
              </a:rPr>
              <a:t>Value Forecast</a:t>
            </a:r>
            <a:br>
              <a:rPr lang="en-US" dirty="0">
                <a:solidFill>
                  <a:schemeClr val="accent1"/>
                </a:solidFill>
              </a:rPr>
            </a:br>
            <a:endParaRPr lang="en-US" dirty="0">
              <a:solidFill>
                <a:schemeClr val="accent1"/>
              </a:solidFill>
            </a:endParaRPr>
          </a:p>
        </p:txBody>
      </p:sp>
      <p:sp>
        <p:nvSpPr>
          <p:cNvPr id="7" name="Text Placeholder 6">
            <a:extLst>
              <a:ext uri="{FF2B5EF4-FFF2-40B4-BE49-F238E27FC236}">
                <a16:creationId xmlns:a16="http://schemas.microsoft.com/office/drawing/2014/main" id="{1BB25ED6-6EA8-0D0A-5BFE-CCADF18A9F17}"/>
              </a:ext>
            </a:extLst>
          </p:cNvPr>
          <p:cNvSpPr>
            <a:spLocks noGrp="1"/>
          </p:cNvSpPr>
          <p:nvPr>
            <p:ph type="body" sz="quarter" idx="12"/>
          </p:nvPr>
        </p:nvSpPr>
        <p:spPr/>
        <p:txBody>
          <a:bodyPr/>
          <a:lstStyle/>
          <a:p>
            <a:r>
              <a:rPr lang="en-US" dirty="0"/>
              <a:t>Click Score</a:t>
            </a:r>
          </a:p>
        </p:txBody>
      </p:sp>
      <p:sp>
        <p:nvSpPr>
          <p:cNvPr id="4" name="Slide Number Placeholder 3">
            <a:extLst>
              <a:ext uri="{FF2B5EF4-FFF2-40B4-BE49-F238E27FC236}">
                <a16:creationId xmlns:a16="http://schemas.microsoft.com/office/drawing/2014/main" id="{1974010F-A2E2-7322-762D-D2C57E17BEC8}"/>
              </a:ext>
            </a:extLst>
          </p:cNvPr>
          <p:cNvSpPr>
            <a:spLocks noGrp="1"/>
          </p:cNvSpPr>
          <p:nvPr>
            <p:ph type="sldNum" sz="quarter" idx="4"/>
          </p:nvPr>
        </p:nvSpPr>
        <p:spPr/>
        <p:txBody>
          <a:bodyPr/>
          <a:lstStyle/>
          <a:p>
            <a:pPr algn="ctr"/>
            <a:fld id="{1875A764-3B06-454E-8ABA-2F6ED0EB58E9}" type="slidenum">
              <a:rPr lang="en-US" smtClean="0"/>
              <a:t>46</a:t>
            </a:fld>
            <a:endParaRPr lang="en-US"/>
          </a:p>
        </p:txBody>
      </p:sp>
      <p:sp>
        <p:nvSpPr>
          <p:cNvPr id="8" name="Rounded Rectangle 5">
            <a:extLst>
              <a:ext uri="{FF2B5EF4-FFF2-40B4-BE49-F238E27FC236}">
                <a16:creationId xmlns:a16="http://schemas.microsoft.com/office/drawing/2014/main" id="{A30D73F3-BCA0-AB0F-2737-756D45CD8BAA}"/>
              </a:ext>
            </a:extLst>
          </p:cNvPr>
          <p:cNvSpPr/>
          <p:nvPr/>
        </p:nvSpPr>
        <p:spPr>
          <a:xfrm>
            <a:off x="5481964" y="11235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pSp>
        <p:nvGrpSpPr>
          <p:cNvPr id="9" name="Group 8">
            <a:extLst>
              <a:ext uri="{FF2B5EF4-FFF2-40B4-BE49-F238E27FC236}">
                <a16:creationId xmlns:a16="http://schemas.microsoft.com/office/drawing/2014/main" id="{EDC59D12-A33F-9C09-0E84-A78ADDB0C7E7}"/>
              </a:ext>
            </a:extLst>
          </p:cNvPr>
          <p:cNvGrpSpPr/>
          <p:nvPr/>
        </p:nvGrpSpPr>
        <p:grpSpPr>
          <a:xfrm>
            <a:off x="1592081" y="5818368"/>
            <a:ext cx="2828005" cy="612104"/>
            <a:chOff x="6663500" y="7817282"/>
            <a:chExt cx="5656010" cy="1224208"/>
          </a:xfrm>
        </p:grpSpPr>
        <p:sp>
          <p:nvSpPr>
            <p:cNvPr id="10" name="Rounded Rectangle 46">
              <a:extLst>
                <a:ext uri="{FF2B5EF4-FFF2-40B4-BE49-F238E27FC236}">
                  <a16:creationId xmlns:a16="http://schemas.microsoft.com/office/drawing/2014/main" id="{DE803AC1-F634-CCDA-7C93-936BC2DE5FF6}"/>
                </a:ext>
              </a:extLst>
            </p:cNvPr>
            <p:cNvSpPr/>
            <p:nvPr/>
          </p:nvSpPr>
          <p:spPr>
            <a:xfrm>
              <a:off x="7232926" y="7817282"/>
              <a:ext cx="5086584" cy="122420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&lt;50 – L</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ower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50-69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Medium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70+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Higher forecast of value delivery</a:t>
              </a:r>
            </a:p>
          </p:txBody>
        </p:sp>
        <p:sp>
          <p:nvSpPr>
            <p:cNvPr id="11" name="Rectangle 10">
              <a:extLst>
                <a:ext uri="{FF2B5EF4-FFF2-40B4-BE49-F238E27FC236}">
                  <a16:creationId xmlns:a16="http://schemas.microsoft.com/office/drawing/2014/main" id="{869D4FD3-0C09-292B-9465-F18F5B695A0D}"/>
                </a:ext>
              </a:extLst>
            </p:cNvPr>
            <p:cNvSpPr/>
            <p:nvPr/>
          </p:nvSpPr>
          <p:spPr>
            <a:xfrm>
              <a:off x="6666830" y="8042764"/>
              <a:ext cx="573464" cy="219326"/>
            </a:xfrm>
            <a:prstGeom prst="rect">
              <a:avLst/>
            </a:prstGeom>
            <a:solidFill>
              <a:srgbClr val="D8453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sp>
          <p:nvSpPr>
            <p:cNvPr id="12" name="Rectangle 11">
              <a:extLst>
                <a:ext uri="{FF2B5EF4-FFF2-40B4-BE49-F238E27FC236}">
                  <a16:creationId xmlns:a16="http://schemas.microsoft.com/office/drawing/2014/main" id="{1CE6DCF6-E4AC-150D-9F0B-8B5E600AE7E1}"/>
                </a:ext>
              </a:extLst>
            </p:cNvPr>
            <p:cNvSpPr/>
            <p:nvPr/>
          </p:nvSpPr>
          <p:spPr>
            <a:xfrm>
              <a:off x="6666830" y="8335332"/>
              <a:ext cx="573464" cy="2193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3" name="Rectangle 12">
              <a:extLst>
                <a:ext uri="{FF2B5EF4-FFF2-40B4-BE49-F238E27FC236}">
                  <a16:creationId xmlns:a16="http://schemas.microsoft.com/office/drawing/2014/main" id="{FFFB416D-1E68-4668-694A-1EB883BC6031}"/>
                </a:ext>
              </a:extLst>
            </p:cNvPr>
            <p:cNvSpPr/>
            <p:nvPr/>
          </p:nvSpPr>
          <p:spPr>
            <a:xfrm>
              <a:off x="6663500" y="8625136"/>
              <a:ext cx="573464" cy="219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grpSp>
      <p:sp>
        <p:nvSpPr>
          <p:cNvPr id="14" name="TextBox 13">
            <a:extLst>
              <a:ext uri="{FF2B5EF4-FFF2-40B4-BE49-F238E27FC236}">
                <a16:creationId xmlns:a16="http://schemas.microsoft.com/office/drawing/2014/main" id="{E8B2CC1D-9D6F-8196-CAA3-6D40A3F86109}"/>
              </a:ext>
            </a:extLst>
          </p:cNvPr>
          <p:cNvSpPr txBox="1"/>
          <p:nvPr/>
        </p:nvSpPr>
        <p:spPr>
          <a:xfrm>
            <a:off x="5557001" y="11409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rPr>
              <a:t>Work</a:t>
            </a:r>
            <a:r>
              <a:rPr kumimoji="0" lang="en-US" sz="105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 Score</a:t>
            </a:r>
            <a:endParaRPr kumimoji="0" lang="en-US" sz="14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graphicFrame>
        <p:nvGraphicFramePr>
          <p:cNvPr id="15" name="Chart 14">
            <a:extLst>
              <a:ext uri="{FF2B5EF4-FFF2-40B4-BE49-F238E27FC236}">
                <a16:creationId xmlns:a16="http://schemas.microsoft.com/office/drawing/2014/main" id="{4740FBBE-E065-E179-8EF3-6667793A1DEC}"/>
              </a:ext>
            </a:extLst>
          </p:cNvPr>
          <p:cNvGraphicFramePr/>
          <p:nvPr/>
        </p:nvGraphicFramePr>
        <p:xfrm>
          <a:off x="6953889" y="1250933"/>
          <a:ext cx="3284162" cy="1580682"/>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07B3686A-3FF3-87EE-D641-3C4557C6B0A6}"/>
              </a:ext>
            </a:extLst>
          </p:cNvPr>
          <p:cNvSpPr txBox="1"/>
          <p:nvPr/>
        </p:nvSpPr>
        <p:spPr>
          <a:xfrm>
            <a:off x="5564952" y="14126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00" b="1" i="0" u="none" strike="noStrike" kern="1200" cap="none" spc="-25" normalizeH="0" baseline="0" noProof="0" dirty="0">
                <a:ln>
                  <a:noFill/>
                </a:ln>
                <a:solidFill>
                  <a:srgbClr val="1D1D1D"/>
                </a:solidFill>
                <a:effectLst/>
                <a:uLnTx/>
                <a:uFillTx/>
                <a:latin typeface="Segoe UI" pitchFamily="34" charset="0"/>
                <a:ea typeface="+mn-ea"/>
                <a:cs typeface="+mn-cs"/>
              </a:rPr>
              <a:t>Alignment</a:t>
            </a:r>
            <a:endParaRPr kumimoji="0" lang="en-US" sz="10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A3DEE90-2A8E-8C3F-6F87-31C3D0EE5CCF}"/>
              </a:ext>
            </a:extLst>
          </p:cNvPr>
          <p:cNvSpPr txBox="1"/>
          <p:nvPr/>
        </p:nvSpPr>
        <p:spPr>
          <a:xfrm>
            <a:off x="5564952" y="17459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Complexity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761496CE-4665-5738-D826-8FFFF8DECDB2}"/>
              </a:ext>
            </a:extLst>
          </p:cNvPr>
          <p:cNvSpPr txBox="1"/>
          <p:nvPr/>
        </p:nvSpPr>
        <p:spPr>
          <a:xfrm>
            <a:off x="5564952" y="20737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New Work</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FF987BEE-ADE3-E3BB-18F2-6AD0B9660731}"/>
              </a:ext>
            </a:extLst>
          </p:cNvPr>
          <p:cNvSpPr txBox="1"/>
          <p:nvPr/>
        </p:nvSpPr>
        <p:spPr>
          <a:xfrm>
            <a:off x="5564952" y="24095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Competitive Intensity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nvGrpSpPr>
          <p:cNvPr id="20" name="Group 19">
            <a:extLst>
              <a:ext uri="{FF2B5EF4-FFF2-40B4-BE49-F238E27FC236}">
                <a16:creationId xmlns:a16="http://schemas.microsoft.com/office/drawing/2014/main" id="{D84D5D12-721F-3FFC-C4AD-74D52D808F6C}"/>
              </a:ext>
            </a:extLst>
          </p:cNvPr>
          <p:cNvGrpSpPr/>
          <p:nvPr/>
        </p:nvGrpSpPr>
        <p:grpSpPr>
          <a:xfrm>
            <a:off x="1294774" y="1123507"/>
            <a:ext cx="3391712" cy="4645886"/>
            <a:chOff x="1294774" y="1260249"/>
            <a:chExt cx="3391712" cy="4645886"/>
          </a:xfrm>
        </p:grpSpPr>
        <p:sp>
          <p:nvSpPr>
            <p:cNvPr id="21" name="Rounded Rectangle 5">
              <a:extLst>
                <a:ext uri="{FF2B5EF4-FFF2-40B4-BE49-F238E27FC236}">
                  <a16:creationId xmlns:a16="http://schemas.microsoft.com/office/drawing/2014/main" id="{313DD65A-11E8-D21D-E90A-02E8CB7AB797}"/>
                </a:ext>
              </a:extLst>
            </p:cNvPr>
            <p:cNvSpPr/>
            <p:nvPr/>
          </p:nvSpPr>
          <p:spPr>
            <a:xfrm>
              <a:off x="1294774" y="1260249"/>
              <a:ext cx="3391712" cy="4638918"/>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22" name="TextBox 21">
              <a:extLst>
                <a:ext uri="{FF2B5EF4-FFF2-40B4-BE49-F238E27FC236}">
                  <a16:creationId xmlns:a16="http://schemas.microsoft.com/office/drawing/2014/main" id="{68269341-DBB0-DB83-3940-1EE07DA90E5B}"/>
                </a:ext>
              </a:extLst>
            </p:cNvPr>
            <p:cNvSpPr txBox="1"/>
            <p:nvPr/>
          </p:nvSpPr>
          <p:spPr>
            <a:xfrm>
              <a:off x="1294774" y="1377484"/>
              <a:ext cx="3391710" cy="307777"/>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effectLst/>
                  <a:uLnTx/>
                  <a:uFillTx/>
                  <a:latin typeface="Segoe UI" pitchFamily="34" charset="0"/>
                  <a:ea typeface="Calibri" panose="020F0502020204030204" pitchFamily="34" charset="0"/>
                  <a:cs typeface="Calibri" panose="020F0502020204030204" pitchFamily="34" charset="0"/>
                </a:rPr>
                <a:t>CXO</a:t>
              </a:r>
            </a:p>
          </p:txBody>
        </p:sp>
        <p:grpSp>
          <p:nvGrpSpPr>
            <p:cNvPr id="23" name="Google Shape;195;p5">
              <a:extLst>
                <a:ext uri="{FF2B5EF4-FFF2-40B4-BE49-F238E27FC236}">
                  <a16:creationId xmlns:a16="http://schemas.microsoft.com/office/drawing/2014/main" id="{55DD9FD0-7E7A-9A11-7B86-89B70CE189DA}"/>
                </a:ext>
              </a:extLst>
            </p:cNvPr>
            <p:cNvGrpSpPr>
              <a:grpSpLocks noChangeAspect="1"/>
            </p:cNvGrpSpPr>
            <p:nvPr/>
          </p:nvGrpSpPr>
          <p:grpSpPr>
            <a:xfrm>
              <a:off x="1972467" y="1844665"/>
              <a:ext cx="2033060" cy="2160000"/>
              <a:chOff x="501276" y="-6468"/>
              <a:chExt cx="3521559" cy="3741437"/>
            </a:xfrm>
          </p:grpSpPr>
          <p:grpSp>
            <p:nvGrpSpPr>
              <p:cNvPr id="28" name="Google Shape;196;p5">
                <a:extLst>
                  <a:ext uri="{FF2B5EF4-FFF2-40B4-BE49-F238E27FC236}">
                    <a16:creationId xmlns:a16="http://schemas.microsoft.com/office/drawing/2014/main" id="{26936D1E-7FA6-DB8B-BE48-E42861666E18}"/>
                  </a:ext>
                </a:extLst>
              </p:cNvPr>
              <p:cNvGrpSpPr/>
              <p:nvPr/>
            </p:nvGrpSpPr>
            <p:grpSpPr>
              <a:xfrm>
                <a:off x="719169" y="448534"/>
                <a:ext cx="3239749" cy="2539768"/>
                <a:chOff x="-341400" y="0"/>
                <a:chExt cx="3239746" cy="2539768"/>
              </a:xfrm>
            </p:grpSpPr>
            <p:sp>
              <p:nvSpPr>
                <p:cNvPr id="35" name="Google Shape;197;p5">
                  <a:extLst>
                    <a:ext uri="{FF2B5EF4-FFF2-40B4-BE49-F238E27FC236}">
                      <a16:creationId xmlns:a16="http://schemas.microsoft.com/office/drawing/2014/main" id="{1B418C66-C531-EE22-BF92-AECBCDE8959B}"/>
                    </a:ext>
                  </a:extLst>
                </p:cNvPr>
                <p:cNvSpPr/>
                <p:nvPr/>
              </p:nvSpPr>
              <p:spPr>
                <a:xfrm>
                  <a:off x="1" y="0"/>
                  <a:ext cx="2539762" cy="2539768"/>
                </a:xfrm>
                <a:prstGeom prst="ellipse">
                  <a:avLst/>
                </a:prstGeom>
                <a:solidFill>
                  <a:srgbClr val="FFC000"/>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6" name="Google Shape;198;p5">
                  <a:extLst>
                    <a:ext uri="{FF2B5EF4-FFF2-40B4-BE49-F238E27FC236}">
                      <a16:creationId xmlns:a16="http://schemas.microsoft.com/office/drawing/2014/main" id="{F94A914F-6A03-6866-07EB-4FD4C2EAF6AC}"/>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latin typeface="Segoe UI" pitchFamily="34" charset="0"/>
                    </a:defRPr>
                  </a:pPr>
                  <a:r>
                    <a:rPr kumimoji="0" lang="en-US" sz="3000" b="1" i="0" u="none" strike="noStrike" kern="0" cap="none" spc="-25" normalizeH="0" baseline="0" noProof="0" dirty="0">
                      <a:ln>
                        <a:noFill/>
                      </a:ln>
                      <a:solidFill>
                        <a:srgbClr val="FFFFFF"/>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7" name="Google Shape;199;p5">
                  <a:extLst>
                    <a:ext uri="{FF2B5EF4-FFF2-40B4-BE49-F238E27FC236}">
                      <a16:creationId xmlns:a16="http://schemas.microsoft.com/office/drawing/2014/main" id="{87709FCE-FD9B-5F6E-E82B-6FE2CC72E915}"/>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9" name="Google Shape;200;p5">
                <a:extLst>
                  <a:ext uri="{FF2B5EF4-FFF2-40B4-BE49-F238E27FC236}">
                    <a16:creationId xmlns:a16="http://schemas.microsoft.com/office/drawing/2014/main" id="{D68DF27D-9B5F-6769-235C-08490D9D8C59}"/>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0" name="Google Shape;201;p5">
                <a:extLst>
                  <a:ext uri="{FF2B5EF4-FFF2-40B4-BE49-F238E27FC236}">
                    <a16:creationId xmlns:a16="http://schemas.microsoft.com/office/drawing/2014/main" id="{D29874F8-7841-4F0A-39B1-28F16452004F}"/>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1" name="Google Shape;202;p5">
                <a:extLst>
                  <a:ext uri="{FF2B5EF4-FFF2-40B4-BE49-F238E27FC236}">
                    <a16:creationId xmlns:a16="http://schemas.microsoft.com/office/drawing/2014/main" id="{28295FDB-60FB-B6C7-0158-2BC2C9EF88BF}"/>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2" name="Google Shape;203;p5">
                <a:extLst>
                  <a:ext uri="{FF2B5EF4-FFF2-40B4-BE49-F238E27FC236}">
                    <a16:creationId xmlns:a16="http://schemas.microsoft.com/office/drawing/2014/main" id="{37E6D8B0-1ACB-4018-0793-63FA6C3C56C4}"/>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3" name="Google Shape;204;p5">
                <a:extLst>
                  <a:ext uri="{FF2B5EF4-FFF2-40B4-BE49-F238E27FC236}">
                    <a16:creationId xmlns:a16="http://schemas.microsoft.com/office/drawing/2014/main" id="{1DCBEAAC-3860-095F-5798-A963D5B2357B}"/>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4" name="Google Shape;205;p5">
                <a:extLst>
                  <a:ext uri="{FF2B5EF4-FFF2-40B4-BE49-F238E27FC236}">
                    <a16:creationId xmlns:a16="http://schemas.microsoft.com/office/drawing/2014/main" id="{356880B9-732E-0186-598E-5B88F43A2836}"/>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aphicFrame>
          <p:nvGraphicFramePr>
            <p:cNvPr id="24" name="Chart 23">
              <a:extLst>
                <a:ext uri="{FF2B5EF4-FFF2-40B4-BE49-F238E27FC236}">
                  <a16:creationId xmlns:a16="http://schemas.microsoft.com/office/drawing/2014/main" id="{AC790D41-DB6D-F3D1-2DB4-FFED8515A9D7}"/>
                </a:ext>
              </a:extLst>
            </p:cNvPr>
            <p:cNvGraphicFramePr/>
            <p:nvPr/>
          </p:nvGraphicFramePr>
          <p:xfrm>
            <a:off x="1345274" y="3998135"/>
            <a:ext cx="3284162" cy="190800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D2E1BF5E-8E34-843F-DA1C-85BEB3EDE645}"/>
                </a:ext>
              </a:extLst>
            </p:cNvPr>
            <p:cNvSpPr txBox="1"/>
            <p:nvPr/>
          </p:nvSpPr>
          <p:spPr>
            <a:xfrm>
              <a:off x="1413254" y="4585513"/>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9E98697E-2121-BA43-309F-B3AE8482BA77}"/>
                </a:ext>
              </a:extLst>
            </p:cNvPr>
            <p:cNvSpPr txBox="1"/>
            <p:nvPr/>
          </p:nvSpPr>
          <p:spPr>
            <a:xfrm>
              <a:off x="1413254" y="5141644"/>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3E0686C2-9333-53A5-A66D-E76E88610C51}"/>
                </a:ext>
              </a:extLst>
            </p:cNvPr>
            <p:cNvSpPr txBox="1"/>
            <p:nvPr/>
          </p:nvSpPr>
          <p:spPr>
            <a:xfrm>
              <a:off x="1415154" y="4013183"/>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sp>
        <p:nvSpPr>
          <p:cNvPr id="38" name="Rounded Rectangle 5">
            <a:extLst>
              <a:ext uri="{FF2B5EF4-FFF2-40B4-BE49-F238E27FC236}">
                <a16:creationId xmlns:a16="http://schemas.microsoft.com/office/drawing/2014/main" id="{0AFA7C0B-8A8D-ABB5-BF24-5EF065C9B910}"/>
              </a:ext>
            </a:extLst>
          </p:cNvPr>
          <p:cNvSpPr/>
          <p:nvPr/>
        </p:nvSpPr>
        <p:spPr>
          <a:xfrm>
            <a:off x="5494664" y="29269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9" name="TextBox 38">
            <a:extLst>
              <a:ext uri="{FF2B5EF4-FFF2-40B4-BE49-F238E27FC236}">
                <a16:creationId xmlns:a16="http://schemas.microsoft.com/office/drawing/2014/main" id="{EBE08E01-E847-8F63-32EC-92924259AF02}"/>
              </a:ext>
            </a:extLst>
          </p:cNvPr>
          <p:cNvSpPr txBox="1"/>
          <p:nvPr/>
        </p:nvSpPr>
        <p:spPr>
          <a:xfrm>
            <a:off x="5569701" y="29443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Role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40" name="Chart 39">
            <a:extLst>
              <a:ext uri="{FF2B5EF4-FFF2-40B4-BE49-F238E27FC236}">
                <a16:creationId xmlns:a16="http://schemas.microsoft.com/office/drawing/2014/main" id="{F5B8E603-14AC-D92E-2EDE-1EDAC9F1C711}"/>
              </a:ext>
            </a:extLst>
          </p:cNvPr>
          <p:cNvGraphicFramePr/>
          <p:nvPr/>
        </p:nvGraphicFramePr>
        <p:xfrm>
          <a:off x="6966589" y="3054333"/>
          <a:ext cx="3284162" cy="1580682"/>
        </p:xfrm>
        <a:graphic>
          <a:graphicData uri="http://schemas.openxmlformats.org/drawingml/2006/chart">
            <c:chart xmlns:c="http://schemas.openxmlformats.org/drawingml/2006/chart" xmlns:r="http://schemas.openxmlformats.org/officeDocument/2006/relationships" r:id="rId4"/>
          </a:graphicData>
        </a:graphic>
      </p:graphicFrame>
      <p:sp>
        <p:nvSpPr>
          <p:cNvPr id="41" name="TextBox 40">
            <a:extLst>
              <a:ext uri="{FF2B5EF4-FFF2-40B4-BE49-F238E27FC236}">
                <a16:creationId xmlns:a16="http://schemas.microsoft.com/office/drawing/2014/main" id="{CD00F40C-73C2-97FF-FC3C-E8815FE4F380}"/>
              </a:ext>
            </a:extLst>
          </p:cNvPr>
          <p:cNvSpPr txBox="1"/>
          <p:nvPr/>
        </p:nvSpPr>
        <p:spPr>
          <a:xfrm>
            <a:off x="5577652" y="32160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Authority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22415BE3-8BC3-1FB2-3EF3-AAE6D1C4484B}"/>
              </a:ext>
            </a:extLst>
          </p:cNvPr>
          <p:cNvSpPr txBox="1"/>
          <p:nvPr/>
        </p:nvSpPr>
        <p:spPr>
          <a:xfrm>
            <a:off x="5577652" y="35493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Capacity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8ADFD122-7100-362C-36CD-603A43ED1D14}"/>
              </a:ext>
            </a:extLst>
          </p:cNvPr>
          <p:cNvSpPr txBox="1"/>
          <p:nvPr/>
        </p:nvSpPr>
        <p:spPr>
          <a:xfrm>
            <a:off x="5577652" y="38771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Resistance</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B2296D47-C7E9-77F7-EE0C-BDFB66D7C675}"/>
              </a:ext>
            </a:extLst>
          </p:cNvPr>
          <p:cNvSpPr txBox="1"/>
          <p:nvPr/>
        </p:nvSpPr>
        <p:spPr>
          <a:xfrm>
            <a:off x="5577652" y="42129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Incentives</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5" name="Rounded Rectangle 5">
            <a:extLst>
              <a:ext uri="{FF2B5EF4-FFF2-40B4-BE49-F238E27FC236}">
                <a16:creationId xmlns:a16="http://schemas.microsoft.com/office/drawing/2014/main" id="{B6C7295A-9924-072D-A58F-E453CB01C372}"/>
              </a:ext>
            </a:extLst>
          </p:cNvPr>
          <p:cNvSpPr/>
          <p:nvPr/>
        </p:nvSpPr>
        <p:spPr>
          <a:xfrm>
            <a:off x="5507364" y="4743007"/>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46" name="TextBox 45">
            <a:extLst>
              <a:ext uri="{FF2B5EF4-FFF2-40B4-BE49-F238E27FC236}">
                <a16:creationId xmlns:a16="http://schemas.microsoft.com/office/drawing/2014/main" id="{4B82C609-C87B-957F-A5C2-22822ABB8C6F}"/>
              </a:ext>
            </a:extLst>
          </p:cNvPr>
          <p:cNvSpPr txBox="1"/>
          <p:nvPr/>
        </p:nvSpPr>
        <p:spPr>
          <a:xfrm>
            <a:off x="5582401" y="4760482"/>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Talent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42CB4876-48E9-6BE1-6454-A0C7016716B0}"/>
              </a:ext>
            </a:extLst>
          </p:cNvPr>
          <p:cNvSpPr txBox="1"/>
          <p:nvPr/>
        </p:nvSpPr>
        <p:spPr>
          <a:xfrm>
            <a:off x="5590352" y="503215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JTBD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0BF3D5BA-DB77-7356-C058-2287E2695009}"/>
              </a:ext>
            </a:extLst>
          </p:cNvPr>
          <p:cNvSpPr txBox="1"/>
          <p:nvPr/>
        </p:nvSpPr>
        <p:spPr>
          <a:xfrm>
            <a:off x="5590352" y="536544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Superpower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A8B64445-B287-39AA-227F-F4468B729797}"/>
              </a:ext>
            </a:extLst>
          </p:cNvPr>
          <p:cNvSpPr txBox="1"/>
          <p:nvPr/>
        </p:nvSpPr>
        <p:spPr>
          <a:xfrm>
            <a:off x="5590352" y="5693274"/>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Two-way fit</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025721FB-76E2-F0E3-A481-74AB78700B2B}"/>
              </a:ext>
            </a:extLst>
          </p:cNvPr>
          <p:cNvSpPr txBox="1"/>
          <p:nvPr/>
        </p:nvSpPr>
        <p:spPr>
          <a:xfrm>
            <a:off x="5590352" y="602905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Track Record</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51" name="Chart 50">
            <a:extLst>
              <a:ext uri="{FF2B5EF4-FFF2-40B4-BE49-F238E27FC236}">
                <a16:creationId xmlns:a16="http://schemas.microsoft.com/office/drawing/2014/main" id="{E6BFE461-7B74-805D-E257-BD35ED507F40}"/>
              </a:ext>
            </a:extLst>
          </p:cNvPr>
          <p:cNvGraphicFramePr/>
          <p:nvPr/>
        </p:nvGraphicFramePr>
        <p:xfrm>
          <a:off x="6979289" y="4870433"/>
          <a:ext cx="3284162" cy="1580682"/>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2F7B4E5F-BE0A-2656-42B6-BFE5FC0930A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0457667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CBC404-9812-E59F-05C1-0C8834EA33EE}"/>
              </a:ext>
            </a:extLst>
          </p:cNvPr>
          <p:cNvSpPr>
            <a:spLocks noGrp="1"/>
          </p:cNvSpPr>
          <p:nvPr>
            <p:ph type="sldNum" sz="quarter" idx="4"/>
          </p:nvPr>
        </p:nvSpPr>
        <p:spPr/>
        <p:txBody>
          <a:bodyPr/>
          <a:lstStyle/>
          <a:p>
            <a:pPr algn="ctr"/>
            <a:fld id="{1875A764-3B06-454E-8ABA-2F6ED0EB58E9}" type="slidenum">
              <a:rPr lang="en-US" smtClean="0"/>
              <a:t>47</a:t>
            </a:fld>
            <a:endParaRPr lang="en-US"/>
          </a:p>
        </p:txBody>
      </p:sp>
      <p:sp>
        <p:nvSpPr>
          <p:cNvPr id="3" name="Title 2">
            <a:extLst>
              <a:ext uri="{FF2B5EF4-FFF2-40B4-BE49-F238E27FC236}">
                <a16:creationId xmlns:a16="http://schemas.microsoft.com/office/drawing/2014/main" id="{286F527C-E585-AF3D-2EED-9198F39DA1C9}"/>
              </a:ext>
            </a:extLst>
          </p:cNvPr>
          <p:cNvSpPr>
            <a:spLocks noGrp="1"/>
          </p:cNvSpPr>
          <p:nvPr>
            <p:ph type="title"/>
          </p:nvPr>
        </p:nvSpPr>
        <p:spPr/>
        <p:txBody>
          <a:bodyPr/>
          <a:lstStyle/>
          <a:p>
            <a:r>
              <a:rPr lang="en-US" dirty="0"/>
              <a:t>Hogan Assessment </a:t>
            </a:r>
            <a:r>
              <a:rPr lang="en-US" dirty="0">
                <a:solidFill>
                  <a:schemeClr val="accent1"/>
                </a:solidFill>
              </a:rPr>
              <a:t>Summary</a:t>
            </a:r>
            <a:endParaRPr lang="en-US" dirty="0"/>
          </a:p>
        </p:txBody>
      </p:sp>
      <p:sp>
        <p:nvSpPr>
          <p:cNvPr id="4" name="Rectangle 3">
            <a:extLst>
              <a:ext uri="{FF2B5EF4-FFF2-40B4-BE49-F238E27FC236}">
                <a16:creationId xmlns:a16="http://schemas.microsoft.com/office/drawing/2014/main" id="{E80E8E34-BDD7-EE29-8BB5-D0AF9280D7DB}"/>
              </a:ext>
            </a:extLst>
          </p:cNvPr>
          <p:cNvSpPr/>
          <p:nvPr/>
        </p:nvSpPr>
        <p:spPr>
          <a:xfrm>
            <a:off x="6981826" y="13413"/>
            <a:ext cx="5210174" cy="6858000"/>
          </a:xfrm>
          <a:prstGeom prst="rect">
            <a:avLst/>
          </a:prstGeom>
          <a:solidFill>
            <a:srgbClr val="F2F2F2"/>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sym typeface="Arial"/>
            </a:endParaRPr>
          </a:p>
        </p:txBody>
      </p:sp>
      <p:cxnSp>
        <p:nvCxnSpPr>
          <p:cNvPr id="5" name="Straight Connector 4">
            <a:extLst>
              <a:ext uri="{FF2B5EF4-FFF2-40B4-BE49-F238E27FC236}">
                <a16:creationId xmlns:a16="http://schemas.microsoft.com/office/drawing/2014/main" id="{BB25AB41-92D7-5C81-F3C2-C95A08F813E3}"/>
              </a:ext>
            </a:extLst>
          </p:cNvPr>
          <p:cNvCxnSpPr>
            <a:cxnSpLocks/>
          </p:cNvCxnSpPr>
          <p:nvPr/>
        </p:nvCxnSpPr>
        <p:spPr>
          <a:xfrm>
            <a:off x="322002" y="919129"/>
            <a:ext cx="6192678"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C553360-E9C4-20B0-4BD1-8AA5326E4B2E}"/>
              </a:ext>
            </a:extLst>
          </p:cNvPr>
          <p:cNvSpPr txBox="1"/>
          <p:nvPr/>
        </p:nvSpPr>
        <p:spPr>
          <a:xfrm>
            <a:off x="437616" y="6078749"/>
            <a:ext cx="4633919" cy="313636"/>
          </a:xfrm>
          <a:prstGeom prst="rect">
            <a:avLst/>
          </a:prstGeom>
          <a:noFill/>
        </p:spPr>
        <p:txBody>
          <a:bodyPr wrap="square" lIns="91440" tIns="45720" rIns="91440" bIns="45720" rtlCol="0" anchor="b">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10" normalizeH="0" baseline="0" noProof="0" dirty="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sym typeface="Arial"/>
              </a:rPr>
              <a:t>* Hogan insights should be read in conjunction with the detailed Hogan Report </a:t>
            </a:r>
          </a:p>
        </p:txBody>
      </p:sp>
      <p:sp>
        <p:nvSpPr>
          <p:cNvPr id="7" name="TextBox 3">
            <a:extLst>
              <a:ext uri="{FF2B5EF4-FFF2-40B4-BE49-F238E27FC236}">
                <a16:creationId xmlns:a16="http://schemas.microsoft.com/office/drawing/2014/main" id="{9E3B7349-48C0-F535-F8A6-5B95479CD0B8}"/>
              </a:ext>
            </a:extLst>
          </p:cNvPr>
          <p:cNvSpPr txBox="1">
            <a:spLocks/>
          </p:cNvSpPr>
          <p:nvPr/>
        </p:nvSpPr>
        <p:spPr>
          <a:xfrm>
            <a:off x="322002" y="964741"/>
            <a:ext cx="6388100" cy="4471988"/>
          </a:xfrm>
          <a:prstGeom prst="rect">
            <a:avLst/>
          </a:prstGeom>
          <a:noFill/>
        </p:spPr>
        <p:txBody>
          <a:bodyPr wrap="square" lIns="91440" tIns="45720" rIns="91440" bIns="4572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defRPr/>
            </a:pPr>
            <a:endParaRPr lang="en-US" sz="1400" kern="0" spc="-10">
              <a:solidFill>
                <a:srgbClr val="281A42"/>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r>
              <a:rPr lang="en-US" sz="1400" b="1" kern="0" spc="-10">
                <a:solidFill>
                  <a:schemeClr val="tx1"/>
                </a:solidFill>
                <a:latin typeface="Arial" pitchFamily="34" charset="0"/>
                <a:ea typeface="Lato Light"/>
                <a:cs typeface="Lato Light"/>
                <a:sym typeface="Arial"/>
              </a:rPr>
              <a:t>Role · Talent Match</a:t>
            </a:r>
            <a:br>
              <a:rPr lang="en-US" sz="1400" b="1" kern="0" spc="-10">
                <a:solidFill>
                  <a:schemeClr val="tx1"/>
                </a:solidFill>
                <a:latin typeface="Arial" pitchFamily="34" charset="0"/>
                <a:ea typeface="Lato Light" panose="020F0502020204030203" pitchFamily="34" charset="0"/>
                <a:cs typeface="Lato Light" panose="020F0502020204030203" pitchFamily="34" charset="0"/>
              </a:rPr>
            </a:br>
            <a:endParaRPr lang="en-US" sz="1400" b="1" kern="0" spc="-10">
              <a:solidFill>
                <a:schemeClr val="tx1"/>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CXO has strong drivers related to creating impact and being seen and recognized as doing so. (High Power, High Recognition) .  Additionally, his Ambition and drive points to his desire to lead and deliver results.</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0" indent="0">
              <a:lnSpc>
                <a:spcPct val="100000"/>
              </a:lnSpc>
              <a:spcBef>
                <a:spcPts val="0"/>
              </a:spcBef>
              <a:buFontTx/>
              <a:buNone/>
              <a:defRPr/>
            </a:pPr>
            <a:r>
              <a:rPr lang="en-US" sz="1400" b="1" kern="0" spc="-10">
                <a:solidFill>
                  <a:schemeClr val="tx1"/>
                </a:solidFill>
                <a:latin typeface="Arial" pitchFamily="34" charset="0"/>
                <a:sym typeface="Arial"/>
              </a:rPr>
              <a:t>Potential Derailers </a:t>
            </a:r>
            <a:br>
              <a:rPr lang="en-US" sz="1400" kern="0" spc="-10">
                <a:solidFill>
                  <a:sysClr val="windowText" lastClr="000000"/>
                </a:solidFill>
                <a:latin typeface="Arial" pitchFamily="34" charset="0"/>
                <a:ea typeface="Lato Light" panose="020F0502020204030203" pitchFamily="34" charset="0"/>
                <a:cs typeface="Lato Light" panose="020F0502020204030203" pitchFamily="34" charset="0"/>
              </a:rPr>
            </a:br>
            <a:endParaRPr lang="en-US" sz="1400" kern="0" spc="-10">
              <a:solidFill>
                <a:srgbClr val="281A42"/>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The profile suggests that this may not be a natural fit against transformative JTBDS related to expansion and diversification and that some complementing could help on these JTBDs.   </a:t>
            </a:r>
            <a:r>
              <a:rPr lang="en-US" sz="1400" spc="-10">
                <a:solidFill>
                  <a:srgbClr val="3B3B3B"/>
                </a:solidFill>
                <a:latin typeface="Arial" pitchFamily="34" charset="0"/>
                <a:ea typeface="Lato Light"/>
                <a:cs typeface="Lato Light"/>
                <a:sym typeface="Arial"/>
              </a:rPr>
              <a:t>He </a:t>
            </a:r>
            <a:r>
              <a:rPr lang="en-US" sz="1400" kern="0" spc="-10">
                <a:solidFill>
                  <a:srgbClr val="3B3B3B"/>
                </a:solidFill>
                <a:latin typeface="Arial" pitchFamily="34" charset="0"/>
                <a:ea typeface="Lato Light"/>
                <a:cs typeface="Lato Light"/>
                <a:sym typeface="Arial"/>
              </a:rPr>
              <a:t>tends to be pragmatic, a </a:t>
            </a:r>
            <a:r>
              <a:rPr lang="en-US" sz="1400" spc="-10">
                <a:solidFill>
                  <a:srgbClr val="3B3B3B"/>
                </a:solidFill>
                <a:latin typeface="Arial" pitchFamily="34" charset="0"/>
                <a:ea typeface="Lato Light"/>
                <a:cs typeface="Lato Light"/>
                <a:sym typeface="Arial"/>
              </a:rPr>
              <a:t>low-risk</a:t>
            </a:r>
            <a:r>
              <a:rPr lang="en-US" sz="1400" kern="0" spc="-10">
                <a:solidFill>
                  <a:srgbClr val="3B3B3B"/>
                </a:solidFill>
                <a:latin typeface="Arial" pitchFamily="34" charset="0"/>
                <a:ea typeface="Lato Light"/>
                <a:cs typeface="Lato Light"/>
                <a:sym typeface="Arial"/>
              </a:rPr>
              <a:t> taker, focused on the tangible what is, rather than the unpredictability of what can be.   (High Cautious,  High Tradition, Pragmatic Learning Approach).</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171450" indent="-171450" algn="just">
              <a:lnSpc>
                <a:spcPct val="100000"/>
              </a:lnSpc>
              <a:spcBef>
                <a:spcPts val="0"/>
              </a:spcBef>
              <a:buFont typeface="Arial" panose="020B0706020202030204" pitchFamily="34" charset="0"/>
              <a:buBlip>
                <a:blip r:embed="rId2"/>
              </a:buBlip>
              <a:defRPr/>
            </a:pPr>
            <a:r>
              <a:rPr lang="en-US" sz="1400" kern="0" spc="-10">
                <a:solidFill>
                  <a:srgbClr val="3B3B3B"/>
                </a:solidFill>
                <a:latin typeface="Arial" pitchFamily="34" charset="0"/>
                <a:ea typeface="Lato Light"/>
                <a:cs typeface="Lato Light"/>
                <a:sym typeface="Arial"/>
              </a:rPr>
              <a:t>The profile also suggests that under stress, he can be seen as somewhat disconnected and uncommunicative which might impact the ability to engage and align the organization.  </a:t>
            </a:r>
            <a:endParaRPr lang="en-US" sz="1400" kern="0" spc="-10">
              <a:solidFill>
                <a:srgbClr val="3B3B3B"/>
              </a:solidFill>
              <a:latin typeface="Arial" pitchFamily="34" charset="0"/>
              <a:ea typeface="Lato Light"/>
              <a:cs typeface="Lato Light"/>
            </a:endParaRPr>
          </a:p>
          <a:p>
            <a:pPr marL="171450" indent="-171450" algn="just">
              <a:lnSpc>
                <a:spcPct val="100000"/>
              </a:lnSpc>
              <a:spcBef>
                <a:spcPts val="0"/>
              </a:spcBef>
              <a:buFont typeface="Arial" panose="020B0706020202030204" pitchFamily="34" charset="0"/>
              <a:buBlip>
                <a:blip r:embed="rId2"/>
              </a:buBlip>
              <a:defRPr/>
            </a:pPr>
            <a:endParaRPr lang="en-US" sz="1400" kern="0" spc="-10">
              <a:solidFill>
                <a:srgbClr val="3B3B3B"/>
              </a:solidFill>
              <a:latin typeface="Arial" pitchFamily="34" charset="0"/>
              <a:ea typeface="Lato Light" panose="020F0502020204030203" pitchFamily="34" charset="0"/>
              <a:cs typeface="Lato Light" panose="020F0502020204030203" pitchFamily="34" charset="0"/>
              <a:sym typeface="Arial"/>
            </a:endParaRPr>
          </a:p>
          <a:p>
            <a:pPr marL="171450" indent="-171450">
              <a:lnSpc>
                <a:spcPct val="100000"/>
              </a:lnSpc>
              <a:spcBef>
                <a:spcPts val="0"/>
              </a:spcBef>
              <a:buFont typeface="Arial" panose="020B0706020202030204" pitchFamily="34" charset="0"/>
              <a:buBlip>
                <a:blip r:embed="rId2"/>
              </a:buBlip>
              <a:defRPr/>
            </a:pPr>
            <a:endParaRPr lang="en-US" sz="1400" kern="0" spc="-10" dirty="0">
              <a:solidFill>
                <a:srgbClr val="3B3B3B"/>
              </a:solidFill>
              <a:latin typeface="Arial" pitchFamily="34" charset="0"/>
              <a:ea typeface="Lato Light" panose="020F0502020204030203" pitchFamily="34" charset="0"/>
              <a:cs typeface="Lato Light" panose="020F0502020204030203" pitchFamily="34" charset="0"/>
              <a:sym typeface="Arial"/>
            </a:endParaRPr>
          </a:p>
        </p:txBody>
      </p:sp>
      <p:pic>
        <p:nvPicPr>
          <p:cNvPr id="8" name="Picture 7">
            <a:extLst>
              <a:ext uri="{FF2B5EF4-FFF2-40B4-BE49-F238E27FC236}">
                <a16:creationId xmlns:a16="http://schemas.microsoft.com/office/drawing/2014/main" id="{FCBFF951-23C8-B231-4968-75E206B6900C}"/>
              </a:ext>
            </a:extLst>
          </p:cNvPr>
          <p:cNvPicPr>
            <a:picLocks noChangeAspect="1"/>
          </p:cNvPicPr>
          <p:nvPr/>
        </p:nvPicPr>
        <p:blipFill>
          <a:blip r:embed="rId3"/>
          <a:stretch>
            <a:fillRect/>
          </a:stretch>
        </p:blipFill>
        <p:spPr>
          <a:xfrm>
            <a:off x="7053805" y="321189"/>
            <a:ext cx="5066215" cy="6248487"/>
          </a:xfrm>
          <a:prstGeom prst="rect">
            <a:avLst/>
          </a:prstGeom>
        </p:spPr>
      </p:pic>
      <p:sp>
        <p:nvSpPr>
          <p:cNvPr id="9" name="TextBox 8">
            <a:extLst>
              <a:ext uri="{FF2B5EF4-FFF2-40B4-BE49-F238E27FC236}">
                <a16:creationId xmlns:a16="http://schemas.microsoft.com/office/drawing/2014/main" id="{49EE3D76-A441-6D30-611B-3AA0B966C21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5070169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C93035-CE7C-F8B0-7D61-B5D8C94275CF}"/>
              </a:ext>
            </a:extLst>
          </p:cNvPr>
          <p:cNvSpPr>
            <a:spLocks noGrp="1"/>
          </p:cNvSpPr>
          <p:nvPr>
            <p:ph type="sldNum" sz="quarter" idx="4"/>
          </p:nvPr>
        </p:nvSpPr>
        <p:spPr/>
        <p:txBody>
          <a:bodyPr/>
          <a:lstStyle/>
          <a:p>
            <a:pPr algn="ctr"/>
            <a:fld id="{1875A764-3B06-454E-8ABA-2F6ED0EB58E9}" type="slidenum">
              <a:rPr lang="en-US" smtClean="0"/>
              <a:t>48</a:t>
            </a:fld>
            <a:endParaRPr lang="en-US"/>
          </a:p>
        </p:txBody>
      </p:sp>
      <p:sp>
        <p:nvSpPr>
          <p:cNvPr id="3" name="Title 2">
            <a:extLst>
              <a:ext uri="{FF2B5EF4-FFF2-40B4-BE49-F238E27FC236}">
                <a16:creationId xmlns:a16="http://schemas.microsoft.com/office/drawing/2014/main" id="{C8339315-8162-3CC6-3230-65E9F48694EC}"/>
              </a:ext>
            </a:extLst>
          </p:cNvPr>
          <p:cNvSpPr>
            <a:spLocks noGrp="1"/>
          </p:cNvSpPr>
          <p:nvPr>
            <p:ph type="title"/>
          </p:nvPr>
        </p:nvSpPr>
        <p:spPr/>
        <p:txBody>
          <a:bodyPr/>
          <a:lstStyle/>
          <a:p>
            <a:r>
              <a:rPr lang="en-US" dirty="0"/>
              <a:t>The 4 Pillars Essential for CXO Success: Summary</a:t>
            </a:r>
          </a:p>
        </p:txBody>
      </p:sp>
      <p:sp>
        <p:nvSpPr>
          <p:cNvPr id="4" name="Rounded Rectangle 3">
            <a:extLst>
              <a:ext uri="{FF2B5EF4-FFF2-40B4-BE49-F238E27FC236}">
                <a16:creationId xmlns:a16="http://schemas.microsoft.com/office/drawing/2014/main" id="{6EF7AC5C-95FE-E6BE-09F9-3F9A9C1EAF2B}"/>
              </a:ext>
            </a:extLst>
          </p:cNvPr>
          <p:cNvSpPr/>
          <p:nvPr/>
        </p:nvSpPr>
        <p:spPr>
          <a:xfrm>
            <a:off x="559098" y="3066940"/>
            <a:ext cx="8110800" cy="3401738"/>
          </a:xfrm>
          <a:prstGeom prst="roundRect">
            <a:avLst>
              <a:gd name="adj" fmla="val 602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5" name="Rounded Rectangle 4">
            <a:extLst>
              <a:ext uri="{FF2B5EF4-FFF2-40B4-BE49-F238E27FC236}">
                <a16:creationId xmlns:a16="http://schemas.microsoft.com/office/drawing/2014/main" id="{F92DD30B-C656-B870-D1D6-1088B57C5CA5}"/>
              </a:ext>
            </a:extLst>
          </p:cNvPr>
          <p:cNvSpPr/>
          <p:nvPr/>
        </p:nvSpPr>
        <p:spPr>
          <a:xfrm>
            <a:off x="563253" y="663172"/>
            <a:ext cx="4039483" cy="2320025"/>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6" name="Rounded Rectangle 5">
            <a:extLst>
              <a:ext uri="{FF2B5EF4-FFF2-40B4-BE49-F238E27FC236}">
                <a16:creationId xmlns:a16="http://schemas.microsoft.com/office/drawing/2014/main" id="{B4753C37-C7D5-424D-E321-A9614F3DDF01}"/>
              </a:ext>
            </a:extLst>
          </p:cNvPr>
          <p:cNvSpPr/>
          <p:nvPr/>
        </p:nvSpPr>
        <p:spPr>
          <a:xfrm>
            <a:off x="4703549" y="663172"/>
            <a:ext cx="7307101" cy="2320025"/>
          </a:xfrm>
          <a:prstGeom prst="roundRect">
            <a:avLst>
              <a:gd name="adj" fmla="val 6590"/>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7" name="Rounded Rectangle 6">
            <a:extLst>
              <a:ext uri="{FF2B5EF4-FFF2-40B4-BE49-F238E27FC236}">
                <a16:creationId xmlns:a16="http://schemas.microsoft.com/office/drawing/2014/main" id="{8C66FB93-0D3B-192A-EADA-E0CB190EBA02}"/>
              </a:ext>
            </a:extLst>
          </p:cNvPr>
          <p:cNvSpPr/>
          <p:nvPr/>
        </p:nvSpPr>
        <p:spPr>
          <a:xfrm>
            <a:off x="8766887" y="3066941"/>
            <a:ext cx="3243763" cy="3401738"/>
          </a:xfrm>
          <a:prstGeom prst="roundRect">
            <a:avLst>
              <a:gd name="adj" fmla="val 505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8" name="TextBox 7">
            <a:extLst>
              <a:ext uri="{FF2B5EF4-FFF2-40B4-BE49-F238E27FC236}">
                <a16:creationId xmlns:a16="http://schemas.microsoft.com/office/drawing/2014/main" id="{F7DFA638-FBF6-CA7F-FAEE-93C960706E25}"/>
              </a:ext>
            </a:extLst>
          </p:cNvPr>
          <p:cNvSpPr txBox="1"/>
          <p:nvPr/>
        </p:nvSpPr>
        <p:spPr>
          <a:xfrm>
            <a:off x="772753" y="663339"/>
            <a:ext cx="3059202"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Clarity and Alignment on Mandate</a:t>
            </a:r>
            <a:endParaRPr kumimoji="0" lang="en-US" sz="1400" b="1" i="0" u="none" strike="noStrike" kern="0" cap="none" spc="-25" normalizeH="0" baseline="0" noProof="0" dirty="0">
              <a:ln>
                <a:noFill/>
              </a:ln>
              <a:solidFill>
                <a:srgbClr val="281A42"/>
              </a:solidFill>
              <a:effectLst/>
              <a:uLnTx/>
              <a:uFillTx/>
              <a:latin typeface="Segoe UI" pitchFamily="34" charset="0"/>
              <a:cs typeface="Calibri" panose="020F0502020204030204" pitchFamily="34" charset="0"/>
            </a:endParaRPr>
          </a:p>
        </p:txBody>
      </p:sp>
      <p:sp>
        <p:nvSpPr>
          <p:cNvPr id="9" name="TextBox 38">
            <a:extLst>
              <a:ext uri="{FF2B5EF4-FFF2-40B4-BE49-F238E27FC236}">
                <a16:creationId xmlns:a16="http://schemas.microsoft.com/office/drawing/2014/main" id="{B2D8DEB1-0B58-68BB-735B-127366B50CB7}"/>
              </a:ext>
            </a:extLst>
          </p:cNvPr>
          <p:cNvSpPr txBox="1">
            <a:spLocks/>
          </p:cNvSpPr>
          <p:nvPr/>
        </p:nvSpPr>
        <p:spPr>
          <a:xfrm>
            <a:off x="773632" y="1206517"/>
            <a:ext cx="3763966" cy="1140313"/>
          </a:xfrm>
          <a:prstGeom prst="rect">
            <a:avLst/>
          </a:prstGeom>
          <a:noFill/>
        </p:spPr>
        <p:txBody>
          <a:bodyPr wrap="square" lIns="0" tIns="45720" rIns="91440" bIns="4572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Lack of clarity and insufficient alignment on mandate between stakeholders (Board, CEO, ExCo). </a:t>
            </a:r>
          </a:p>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The vison has not been translated into specific and clear plans. </a:t>
            </a:r>
          </a:p>
          <a:p>
            <a:pPr marL="171450" indent="-171450">
              <a:lnSpc>
                <a:spcPct val="100000"/>
              </a:lnSpc>
              <a:spcBef>
                <a:spcPts val="0"/>
              </a:spcBef>
              <a:spcAft>
                <a:spcPts val="800"/>
              </a:spcAft>
              <a:buFont typeface="Arial" panose="020B0706020202030204" pitchFamily="34" charset="0"/>
              <a:buBlip>
                <a:blip r:embed="rId2"/>
              </a:buBlip>
              <a:defRPr/>
            </a:pPr>
            <a:r>
              <a:rPr lang="en-US" kern="0" spc="-10">
                <a:solidFill>
                  <a:srgbClr val="1D1D1D"/>
                </a:solidFill>
                <a:latin typeface="Arial" pitchFamily="34" charset="0"/>
              </a:rPr>
              <a:t>Low confidence among the Board and leadership team members regarding the achievability of these ambitions. </a:t>
            </a:r>
            <a:endParaRPr lang="en-US" kern="0" spc="-10" dirty="0">
              <a:solidFill>
                <a:srgbClr val="1D1D1D"/>
              </a:solidFill>
              <a:latin typeface="Arial" pitchFamily="34" charset="0"/>
            </a:endParaRPr>
          </a:p>
        </p:txBody>
      </p:sp>
      <p:sp>
        <p:nvSpPr>
          <p:cNvPr id="10" name="TextBox 9">
            <a:extLst>
              <a:ext uri="{FF2B5EF4-FFF2-40B4-BE49-F238E27FC236}">
                <a16:creationId xmlns:a16="http://schemas.microsoft.com/office/drawing/2014/main" id="{7CD2DAF6-B6B6-CCC8-CCE4-25922B5A02FB}"/>
              </a:ext>
            </a:extLst>
          </p:cNvPr>
          <p:cNvSpPr txBox="1"/>
          <p:nvPr/>
        </p:nvSpPr>
        <p:spPr>
          <a:xfrm>
            <a:off x="4906781" y="663172"/>
            <a:ext cx="3020083" cy="558665"/>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Click between CXO Jobs + Ambition</a:t>
            </a:r>
          </a:p>
        </p:txBody>
      </p:sp>
      <p:sp>
        <p:nvSpPr>
          <p:cNvPr id="11" name="TextBox 10">
            <a:extLst>
              <a:ext uri="{FF2B5EF4-FFF2-40B4-BE49-F238E27FC236}">
                <a16:creationId xmlns:a16="http://schemas.microsoft.com/office/drawing/2014/main" id="{822A9379-7D7B-E1AA-B342-634B286CBF61}"/>
              </a:ext>
            </a:extLst>
          </p:cNvPr>
          <p:cNvSpPr txBox="1"/>
          <p:nvPr/>
        </p:nvSpPr>
        <p:spPr>
          <a:xfrm>
            <a:off x="4933354" y="1119367"/>
            <a:ext cx="6695393" cy="1854649"/>
          </a:xfrm>
          <a:prstGeom prst="rect">
            <a:avLst/>
          </a:prstGeom>
          <a:noFill/>
        </p:spPr>
        <p:txBody>
          <a:bodyPr wrap="square" lIns="0" tIns="45720" rIns="91440" bIns="45720" numCol="3" spcCol="108000" anchor="t">
            <a:noAutofit/>
          </a:bodyPr>
          <a:lstStyle/>
          <a:p>
            <a:pPr marL="171450" indent="-171450">
              <a:spcAft>
                <a:spcPts val="800"/>
              </a:spcAft>
              <a:buBlip>
                <a:blip r:embed="rId2"/>
              </a:buBlip>
              <a:tabLst>
                <a:tab pos="2054225" algn="l"/>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Strong regional and </a:t>
            </a:r>
            <a:r>
              <a:rPr lang="en-US" sz="1200" kern="0" spc="-10" dirty="0">
                <a:solidFill>
                  <a:srgbClr val="1D1D1D"/>
                </a:solidFill>
                <a:latin typeface="Arial" pitchFamily="34" charset="0"/>
              </a:rPr>
              <a:t>operational background capable of running the business.</a:t>
            </a:r>
          </a:p>
          <a:p>
            <a:pPr marL="171450" indent="-171450">
              <a:spcAft>
                <a:spcPts val="800"/>
              </a:spcAft>
              <a:buBlip>
                <a:blip r:embed="rId2"/>
              </a:buBlip>
              <a:tabLst>
                <a:tab pos="2054225" algn="l"/>
              </a:tabLst>
              <a:defRPr/>
            </a:pPr>
            <a:r>
              <a:rPr lang="en-US" sz="1200" kern="0" spc="-10" dirty="0">
                <a:solidFill>
                  <a:srgbClr val="1D1D1D"/>
                </a:solidFill>
                <a:latin typeface="Arial" pitchFamily="34" charset="0"/>
              </a:rPr>
              <a:t>However, his Jobs-to-be done readiness is ~50% (VA portfolio, inorganic growth, geographic expansion, operating model).</a:t>
            </a:r>
          </a:p>
          <a:p>
            <a:pPr marL="171450" indent="-171450">
              <a:spcAft>
                <a:spcPts val="800"/>
              </a:spcAft>
              <a:buBlip>
                <a:blip r:embed="rId2"/>
              </a:buBlip>
              <a:defRPr/>
            </a:pPr>
            <a:r>
              <a:rPr lang="en-US" sz="1200" kern="0" spc="-10" dirty="0">
                <a:solidFill>
                  <a:srgbClr val="1D1D1D"/>
                </a:solidFill>
                <a:latin typeface="Arial" pitchFamily="34" charset="0"/>
              </a:rPr>
              <a:t>Relies heavily on Board’s guidance and lacks initiative for new growth opportunities. </a:t>
            </a:r>
          </a:p>
          <a:p>
            <a:pPr marL="171450" indent="-171450">
              <a:spcAft>
                <a:spcPts val="800"/>
              </a:spcAft>
              <a:buClrTx/>
              <a:buSzTx/>
              <a:buBlip>
                <a:blip r:embed="rId2"/>
              </a:buBlip>
              <a:defRPr/>
            </a:pPr>
            <a:r>
              <a:rPr lang="en-US" sz="1200" kern="0" spc="-10" dirty="0">
                <a:solidFill>
                  <a:srgbClr val="1D1D1D"/>
                </a:solidFill>
                <a:latin typeface="Arial" pitchFamily="34" charset="0"/>
              </a:rPr>
              <a:t>Gap in defining and detailing an exciting growth narrative to build investor commitment &amp; confidence to deliver deals.</a:t>
            </a:r>
          </a:p>
          <a:p>
            <a:pPr marL="171450" indent="-171450">
              <a:spcAft>
                <a:spcPts val="800"/>
              </a:spcAft>
              <a:buBlip>
                <a:blip r:embed="rId2"/>
              </a:buBlip>
              <a:defRPr/>
            </a:pPr>
            <a:endParaRPr lang="en-US" sz="1200" kern="0" spc="-10" dirty="0">
              <a:solidFill>
                <a:srgbClr val="1D1D1D"/>
              </a:solidFill>
              <a:latin typeface="Arial" pitchFamily="34" charset="0"/>
            </a:endParaRPr>
          </a:p>
          <a:p>
            <a:pPr marL="171450" indent="-171450">
              <a:spcAft>
                <a:spcPts val="800"/>
              </a:spcAft>
              <a:buBlip>
                <a:blip r:embed="rId2"/>
              </a:buBlip>
              <a:defRPr/>
            </a:pPr>
            <a:r>
              <a:rPr lang="en-US" sz="1200" kern="0" spc="-10" dirty="0">
                <a:solidFill>
                  <a:srgbClr val="1D1D1D"/>
                </a:solidFill>
                <a:latin typeface="Arial" pitchFamily="34" charset="0"/>
              </a:rPr>
              <a:t>Hesitant to make bold decisions and is corroborated with his Hogan.</a:t>
            </a:r>
          </a:p>
          <a:p>
            <a:pPr marL="171450" indent="-171450">
              <a:spcAft>
                <a:spcPts val="800"/>
              </a:spcAft>
              <a:buClrTx/>
              <a:buSzTx/>
              <a:buBlip>
                <a:blip r:embed="rId2"/>
              </a:buBlip>
              <a:defRPr/>
            </a:pPr>
            <a:r>
              <a:rPr lang="en-US" sz="1200" kern="0" spc="-10" dirty="0">
                <a:solidFill>
                  <a:srgbClr val="1D1D1D"/>
                </a:solidFill>
                <a:latin typeface="Arial" pitchFamily="34" charset="0"/>
              </a:rPr>
              <a:t>Does not hold his team accountable for performance. </a:t>
            </a:r>
          </a:p>
          <a:p>
            <a:pPr marL="171450" marR="0" lvl="0" indent="-171450" defTabSz="91440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2" name="TextBox 11">
            <a:extLst>
              <a:ext uri="{FF2B5EF4-FFF2-40B4-BE49-F238E27FC236}">
                <a16:creationId xmlns:a16="http://schemas.microsoft.com/office/drawing/2014/main" id="{52C72337-55FE-6D01-3C03-6A166C5FBACE}"/>
              </a:ext>
            </a:extLst>
          </p:cNvPr>
          <p:cNvSpPr txBox="1"/>
          <p:nvPr/>
        </p:nvSpPr>
        <p:spPr>
          <a:xfrm>
            <a:off x="750773" y="3071132"/>
            <a:ext cx="4011477" cy="456453"/>
          </a:xfrm>
          <a:prstGeom prst="rect">
            <a:avLst/>
          </a:prstGeom>
          <a:noFill/>
        </p:spPr>
        <p:txBody>
          <a:bodyPr wrap="square" lIns="0" tIns="45720" rIns="91440" bIns="45720" anchor="t">
            <a:noAutofit/>
          </a:bodyPr>
          <a:lstStyle/>
          <a:p>
            <a:pPr>
              <a:defRPr/>
            </a:pPr>
            <a:r>
              <a:rPr kumimoji="0" lang="en-US" sz="1400" b="1" i="0" u="none" strike="noStrike" kern="0" cap="none" spc="0" normalizeH="0" baseline="0" noProof="0" dirty="0">
                <a:ln>
                  <a:noFill/>
                </a:ln>
                <a:solidFill>
                  <a:srgbClr val="281A42"/>
                </a:solidFill>
                <a:effectLst/>
                <a:uLnTx/>
                <a:uFillTx/>
                <a:latin typeface="Lato Black"/>
                <a:ea typeface="Lato Black"/>
                <a:cs typeface="Calibri"/>
              </a:rPr>
              <a:t>LT capability to deliver strategy</a:t>
            </a:r>
            <a:r>
              <a:rPr lang="en-US" sz="1400" b="1" dirty="0">
                <a:solidFill>
                  <a:srgbClr val="281A42"/>
                </a:solidFill>
                <a:latin typeface="Lato Black"/>
                <a:ea typeface="Lato Black"/>
                <a:cs typeface="Calibri"/>
              </a:rPr>
              <a:t> </a:t>
            </a: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13" name="TextBox 12">
            <a:extLst>
              <a:ext uri="{FF2B5EF4-FFF2-40B4-BE49-F238E27FC236}">
                <a16:creationId xmlns:a16="http://schemas.microsoft.com/office/drawing/2014/main" id="{29FFDA48-4928-C210-885F-DD2C8D553015}"/>
              </a:ext>
            </a:extLst>
          </p:cNvPr>
          <p:cNvSpPr txBox="1"/>
          <p:nvPr/>
        </p:nvSpPr>
        <p:spPr>
          <a:xfrm>
            <a:off x="8953168" y="3025825"/>
            <a:ext cx="2157198"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rPr>
              <a:t>Organization capabilities &amp; critical roles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14" name="Rounded Rectangle 13">
            <a:extLst>
              <a:ext uri="{FF2B5EF4-FFF2-40B4-BE49-F238E27FC236}">
                <a16:creationId xmlns:a16="http://schemas.microsoft.com/office/drawing/2014/main" id="{5EC0AFDD-F698-B774-DE8F-FA7F23A543F5}"/>
              </a:ext>
            </a:extLst>
          </p:cNvPr>
          <p:cNvSpPr/>
          <p:nvPr/>
        </p:nvSpPr>
        <p:spPr>
          <a:xfrm>
            <a:off x="772752" y="3869689"/>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5" name="Rounded Rectangle 14">
            <a:extLst>
              <a:ext uri="{FF2B5EF4-FFF2-40B4-BE49-F238E27FC236}">
                <a16:creationId xmlns:a16="http://schemas.microsoft.com/office/drawing/2014/main" id="{5FF4C60D-DA39-C8DA-3EED-7B891302EDCC}"/>
              </a:ext>
            </a:extLst>
          </p:cNvPr>
          <p:cNvSpPr/>
          <p:nvPr/>
        </p:nvSpPr>
        <p:spPr>
          <a:xfrm>
            <a:off x="2675242" y="3869689"/>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16" name="Rounded Rectangle 15">
            <a:extLst>
              <a:ext uri="{FF2B5EF4-FFF2-40B4-BE49-F238E27FC236}">
                <a16:creationId xmlns:a16="http://schemas.microsoft.com/office/drawing/2014/main" id="{B1585A0D-15EB-8B11-3B6C-377909766B04}"/>
              </a:ext>
            </a:extLst>
          </p:cNvPr>
          <p:cNvSpPr/>
          <p:nvPr/>
        </p:nvSpPr>
        <p:spPr>
          <a:xfrm>
            <a:off x="3642064"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7" name="Rounded Rectangle 16">
            <a:extLst>
              <a:ext uri="{FF2B5EF4-FFF2-40B4-BE49-F238E27FC236}">
                <a16:creationId xmlns:a16="http://schemas.microsoft.com/office/drawing/2014/main" id="{99E5D8E7-92DE-F2A0-6511-79B78135DC99}"/>
              </a:ext>
            </a:extLst>
          </p:cNvPr>
          <p:cNvSpPr/>
          <p:nvPr/>
        </p:nvSpPr>
        <p:spPr>
          <a:xfrm>
            <a:off x="4608885"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8" name="Rounded Rectangle 17">
            <a:extLst>
              <a:ext uri="{FF2B5EF4-FFF2-40B4-BE49-F238E27FC236}">
                <a16:creationId xmlns:a16="http://schemas.microsoft.com/office/drawing/2014/main" id="{0FFABFD6-1759-94A0-4C7D-68EC0698C2FF}"/>
              </a:ext>
            </a:extLst>
          </p:cNvPr>
          <p:cNvSpPr/>
          <p:nvPr/>
        </p:nvSpPr>
        <p:spPr>
          <a:xfrm>
            <a:off x="5575707" y="3869689"/>
            <a:ext cx="908538" cy="1566303"/>
          </a:xfrm>
          <a:prstGeom prst="roundRect">
            <a:avLst>
              <a:gd name="adj" fmla="val 7595"/>
            </a:avLst>
          </a:prstGeom>
          <a:solidFill>
            <a:schemeClr val="accent6">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9" name="Rounded Rectangle 18">
            <a:extLst>
              <a:ext uri="{FF2B5EF4-FFF2-40B4-BE49-F238E27FC236}">
                <a16:creationId xmlns:a16="http://schemas.microsoft.com/office/drawing/2014/main" id="{FDC2CAE8-18FA-091E-B323-B2BE9121C2B8}"/>
              </a:ext>
            </a:extLst>
          </p:cNvPr>
          <p:cNvSpPr/>
          <p:nvPr/>
        </p:nvSpPr>
        <p:spPr>
          <a:xfrm>
            <a:off x="6542529" y="3869689"/>
            <a:ext cx="908538" cy="1566303"/>
          </a:xfrm>
          <a:prstGeom prst="roundRect">
            <a:avLst>
              <a:gd name="adj" fmla="val 7595"/>
            </a:avLst>
          </a:prstGeom>
          <a:solidFill>
            <a:srgbClr val="281A4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0" name="Rounded Rectangle 19">
            <a:extLst>
              <a:ext uri="{FF2B5EF4-FFF2-40B4-BE49-F238E27FC236}">
                <a16:creationId xmlns:a16="http://schemas.microsoft.com/office/drawing/2014/main" id="{B21CBA44-DC8A-26F6-EA23-111CF234DADF}"/>
              </a:ext>
            </a:extLst>
          </p:cNvPr>
          <p:cNvSpPr/>
          <p:nvPr/>
        </p:nvSpPr>
        <p:spPr>
          <a:xfrm>
            <a:off x="7509351" y="3869689"/>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21" name="Rounded Rectangle 20">
            <a:extLst>
              <a:ext uri="{FF2B5EF4-FFF2-40B4-BE49-F238E27FC236}">
                <a16:creationId xmlns:a16="http://schemas.microsoft.com/office/drawing/2014/main" id="{34A83567-7D3D-F977-E65F-E86547D1030F}"/>
              </a:ext>
            </a:extLst>
          </p:cNvPr>
          <p:cNvSpPr/>
          <p:nvPr/>
        </p:nvSpPr>
        <p:spPr>
          <a:xfrm>
            <a:off x="1717026" y="3869623"/>
            <a:ext cx="908538" cy="1566303"/>
          </a:xfrm>
          <a:prstGeom prst="roundRect">
            <a:avLst>
              <a:gd name="adj" fmla="val 7595"/>
            </a:avLst>
          </a:prstGeom>
          <a:solidFill>
            <a:schemeClr val="accent4">
              <a:alpha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2" name="TextBox 21">
            <a:extLst>
              <a:ext uri="{FF2B5EF4-FFF2-40B4-BE49-F238E27FC236}">
                <a16:creationId xmlns:a16="http://schemas.microsoft.com/office/drawing/2014/main" id="{84F6EDE2-51CC-31E8-1BAE-DA4E21467F0E}"/>
              </a:ext>
            </a:extLst>
          </p:cNvPr>
          <p:cNvSpPr txBox="1"/>
          <p:nvPr/>
        </p:nvSpPr>
        <p:spPr>
          <a:xfrm>
            <a:off x="7580575" y="3891296"/>
            <a:ext cx="653833"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CFO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3" name="TextBox 22">
            <a:extLst>
              <a:ext uri="{FF2B5EF4-FFF2-40B4-BE49-F238E27FC236}">
                <a16:creationId xmlns:a16="http://schemas.microsoft.com/office/drawing/2014/main" id="{7227B39F-F1D7-F3F3-6B74-23373B005F4E}"/>
              </a:ext>
            </a:extLst>
          </p:cNvPr>
          <p:cNvSpPr txBox="1"/>
          <p:nvPr/>
        </p:nvSpPr>
        <p:spPr>
          <a:xfrm>
            <a:off x="2722554" y="3891296"/>
            <a:ext cx="73387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CHRO</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4" name="TextBox 23">
            <a:extLst>
              <a:ext uri="{FF2B5EF4-FFF2-40B4-BE49-F238E27FC236}">
                <a16:creationId xmlns:a16="http://schemas.microsoft.com/office/drawing/2014/main" id="{2167D3C8-E007-41F9-C4F0-8522C74F8C56}"/>
              </a:ext>
            </a:extLst>
          </p:cNvPr>
          <p:cNvSpPr txBox="1"/>
          <p:nvPr/>
        </p:nvSpPr>
        <p:spPr>
          <a:xfrm>
            <a:off x="3711875" y="3891296"/>
            <a:ext cx="778490"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Technology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5" name="TextBox 24">
            <a:extLst>
              <a:ext uri="{FF2B5EF4-FFF2-40B4-BE49-F238E27FC236}">
                <a16:creationId xmlns:a16="http://schemas.microsoft.com/office/drawing/2014/main" id="{0CBB6B6E-8EBD-1177-8A07-FF25B5FD4B73}"/>
              </a:ext>
            </a:extLst>
          </p:cNvPr>
          <p:cNvSpPr txBox="1"/>
          <p:nvPr/>
        </p:nvSpPr>
        <p:spPr>
          <a:xfrm>
            <a:off x="4670387" y="3891296"/>
            <a:ext cx="778490"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Projects 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6" name="TextBox 25">
            <a:extLst>
              <a:ext uri="{FF2B5EF4-FFF2-40B4-BE49-F238E27FC236}">
                <a16:creationId xmlns:a16="http://schemas.microsoft.com/office/drawing/2014/main" id="{D59601F1-72AC-90EF-CC0D-FE2429E2F5E4}"/>
              </a:ext>
            </a:extLst>
          </p:cNvPr>
          <p:cNvSpPr txBox="1"/>
          <p:nvPr/>
        </p:nvSpPr>
        <p:spPr>
          <a:xfrm>
            <a:off x="5615463" y="3891296"/>
            <a:ext cx="97075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PMO &amp; Transformation</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27" name="TextBox 26">
            <a:extLst>
              <a:ext uri="{FF2B5EF4-FFF2-40B4-BE49-F238E27FC236}">
                <a16:creationId xmlns:a16="http://schemas.microsoft.com/office/drawing/2014/main" id="{035E0ACE-F6A9-F48D-CF5E-8CCBB9348035}"/>
              </a:ext>
            </a:extLst>
          </p:cNvPr>
          <p:cNvSpPr txBox="1"/>
          <p:nvPr/>
        </p:nvSpPr>
        <p:spPr>
          <a:xfrm>
            <a:off x="6603401" y="3891296"/>
            <a:ext cx="788089"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Growth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lang="en-US" sz="900" spc="-10" dirty="0">
              <a:solidFill>
                <a:srgbClr val="FFFFFF"/>
              </a:solidFill>
              <a:latin typeface="Arial" pitchFamily="34" charset="0"/>
              <a:ea typeface="+mn-ea"/>
              <a:cs typeface="+mn-cs"/>
            </a:endParaRPr>
          </a:p>
        </p:txBody>
      </p:sp>
      <p:sp>
        <p:nvSpPr>
          <p:cNvPr id="28" name="TextBox 27">
            <a:extLst>
              <a:ext uri="{FF2B5EF4-FFF2-40B4-BE49-F238E27FC236}">
                <a16:creationId xmlns:a16="http://schemas.microsoft.com/office/drawing/2014/main" id="{2B619BB7-FDB7-4072-5B42-03A71C88A098}"/>
              </a:ext>
            </a:extLst>
          </p:cNvPr>
          <p:cNvSpPr txBox="1"/>
          <p:nvPr/>
        </p:nvSpPr>
        <p:spPr>
          <a:xfrm>
            <a:off x="860830" y="3891296"/>
            <a:ext cx="73782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lang="en-US" sz="900" b="1" spc="-10" dirty="0">
                <a:solidFill>
                  <a:srgbClr val="FFFFFF"/>
                </a:solidFill>
                <a:latin typeface="Segoe UI" pitchFamily="34" charset="0"/>
                <a:ea typeface="+mn-ea"/>
                <a:cs typeface="+mn-cs"/>
              </a:rPr>
              <a:t>CEO </a:t>
            </a: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BU 1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p:txBody>
      </p:sp>
      <p:sp>
        <p:nvSpPr>
          <p:cNvPr id="29" name="TextBox 28">
            <a:extLst>
              <a:ext uri="{FF2B5EF4-FFF2-40B4-BE49-F238E27FC236}">
                <a16:creationId xmlns:a16="http://schemas.microsoft.com/office/drawing/2014/main" id="{5EB7C155-3A08-650D-3996-43323793A841}"/>
              </a:ext>
            </a:extLst>
          </p:cNvPr>
          <p:cNvSpPr txBox="1"/>
          <p:nvPr/>
        </p:nvSpPr>
        <p:spPr>
          <a:xfrm>
            <a:off x="1777090" y="3891296"/>
            <a:ext cx="78947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CEO BU 2</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cxnSp>
        <p:nvCxnSpPr>
          <p:cNvPr id="30" name="Straight Connector 29">
            <a:extLst>
              <a:ext uri="{FF2B5EF4-FFF2-40B4-BE49-F238E27FC236}">
                <a16:creationId xmlns:a16="http://schemas.microsoft.com/office/drawing/2014/main" id="{B35CBD21-C0E4-BBD1-B52E-9FFAD848F528}"/>
              </a:ext>
            </a:extLst>
          </p:cNvPr>
          <p:cNvCxnSpPr>
            <a:cxnSpLocks/>
          </p:cNvCxnSpPr>
          <p:nvPr/>
        </p:nvCxnSpPr>
        <p:spPr>
          <a:xfrm>
            <a:off x="772752" y="4584616"/>
            <a:ext cx="767629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31" name="Triangle 73">
            <a:extLst>
              <a:ext uri="{FF2B5EF4-FFF2-40B4-BE49-F238E27FC236}">
                <a16:creationId xmlns:a16="http://schemas.microsoft.com/office/drawing/2014/main" id="{E1485640-9442-BEE6-A841-1527F222F0DB}"/>
              </a:ext>
            </a:extLst>
          </p:cNvPr>
          <p:cNvSpPr/>
          <p:nvPr/>
        </p:nvSpPr>
        <p:spPr>
          <a:xfrm rot="5400000">
            <a:off x="3460592"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2" name="Triangle 73">
            <a:extLst>
              <a:ext uri="{FF2B5EF4-FFF2-40B4-BE49-F238E27FC236}">
                <a16:creationId xmlns:a16="http://schemas.microsoft.com/office/drawing/2014/main" id="{573EBFDB-D1B0-A66B-8B98-CB5804DCA57A}"/>
              </a:ext>
            </a:extLst>
          </p:cNvPr>
          <p:cNvSpPr/>
          <p:nvPr/>
        </p:nvSpPr>
        <p:spPr>
          <a:xfrm rot="5400000">
            <a:off x="4430030"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3" name="Triangle 73">
            <a:extLst>
              <a:ext uri="{FF2B5EF4-FFF2-40B4-BE49-F238E27FC236}">
                <a16:creationId xmlns:a16="http://schemas.microsoft.com/office/drawing/2014/main" id="{95F348E9-8862-2ED2-26D7-BB9111F66672}"/>
              </a:ext>
            </a:extLst>
          </p:cNvPr>
          <p:cNvSpPr/>
          <p:nvPr/>
        </p:nvSpPr>
        <p:spPr>
          <a:xfrm rot="5400000">
            <a:off x="5391407"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4" name="Triangle 73">
            <a:extLst>
              <a:ext uri="{FF2B5EF4-FFF2-40B4-BE49-F238E27FC236}">
                <a16:creationId xmlns:a16="http://schemas.microsoft.com/office/drawing/2014/main" id="{ABF7BBB6-614C-46FD-E71C-242809FBFD62}"/>
              </a:ext>
            </a:extLst>
          </p:cNvPr>
          <p:cNvSpPr/>
          <p:nvPr/>
        </p:nvSpPr>
        <p:spPr>
          <a:xfrm rot="5400000">
            <a:off x="6365666"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5" name="Triangle 73">
            <a:extLst>
              <a:ext uri="{FF2B5EF4-FFF2-40B4-BE49-F238E27FC236}">
                <a16:creationId xmlns:a16="http://schemas.microsoft.com/office/drawing/2014/main" id="{66B96D39-142A-CDD3-AD83-725244DB8BE5}"/>
              </a:ext>
            </a:extLst>
          </p:cNvPr>
          <p:cNvSpPr/>
          <p:nvPr/>
        </p:nvSpPr>
        <p:spPr>
          <a:xfrm rot="5400000">
            <a:off x="7327043"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6" name="Triangle 73">
            <a:extLst>
              <a:ext uri="{FF2B5EF4-FFF2-40B4-BE49-F238E27FC236}">
                <a16:creationId xmlns:a16="http://schemas.microsoft.com/office/drawing/2014/main" id="{35CFBA14-4AFA-C7DE-C4AC-5ACF7C99EDAD}"/>
              </a:ext>
            </a:extLst>
          </p:cNvPr>
          <p:cNvSpPr/>
          <p:nvPr/>
        </p:nvSpPr>
        <p:spPr>
          <a:xfrm rot="5400000">
            <a:off x="8309622" y="4547356"/>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graphicFrame>
        <p:nvGraphicFramePr>
          <p:cNvPr id="37" name="Table 36">
            <a:extLst>
              <a:ext uri="{FF2B5EF4-FFF2-40B4-BE49-F238E27FC236}">
                <a16:creationId xmlns:a16="http://schemas.microsoft.com/office/drawing/2014/main" id="{89474E28-E8F5-871E-30B5-70788F06D2D5}"/>
              </a:ext>
            </a:extLst>
          </p:cNvPr>
          <p:cNvGraphicFramePr>
            <a:graphicFrameLocks noGrp="1"/>
          </p:cNvGraphicFramePr>
          <p:nvPr/>
        </p:nvGraphicFramePr>
        <p:xfrm>
          <a:off x="8953167" y="3802242"/>
          <a:ext cx="2885481" cy="2560320"/>
        </p:xfrm>
        <a:graphic>
          <a:graphicData uri="http://schemas.openxmlformats.org/drawingml/2006/table">
            <a:tbl>
              <a:tblPr firstRow="1" bandRow="1">
                <a:tableStyleId>{5C22544A-7EE6-4342-B048-85BDC9FD1C3A}</a:tableStyleId>
              </a:tblPr>
              <a:tblGrid>
                <a:gridCol w="407674">
                  <a:extLst>
                    <a:ext uri="{9D8B030D-6E8A-4147-A177-3AD203B41FA5}">
                      <a16:colId xmlns:a16="http://schemas.microsoft.com/office/drawing/2014/main" val="3010852878"/>
                    </a:ext>
                  </a:extLst>
                </a:gridCol>
                <a:gridCol w="1911364">
                  <a:extLst>
                    <a:ext uri="{9D8B030D-6E8A-4147-A177-3AD203B41FA5}">
                      <a16:colId xmlns:a16="http://schemas.microsoft.com/office/drawing/2014/main" val="3098370671"/>
                    </a:ext>
                  </a:extLst>
                </a:gridCol>
                <a:gridCol w="566443">
                  <a:extLst>
                    <a:ext uri="{9D8B030D-6E8A-4147-A177-3AD203B41FA5}">
                      <a16:colId xmlns:a16="http://schemas.microsoft.com/office/drawing/2014/main" val="2420660461"/>
                    </a:ext>
                  </a:extLst>
                </a:gridCol>
              </a:tblGrid>
              <a:tr h="163256">
                <a:tc>
                  <a:txBody>
                    <a:bodyPr/>
                    <a:lstStyle/>
                    <a:p>
                      <a:r>
                        <a:rPr lang="en-US" sz="800" b="1" i="0" dirty="0">
                          <a:solidFill>
                            <a:srgbClr val="FFFFFF"/>
                          </a:solidFill>
                          <a:latin typeface="Arial" pitchFamily="34" charset="0"/>
                        </a:rPr>
                        <a:t>#</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Role</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Level</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894251591"/>
                  </a:ext>
                </a:extLst>
              </a:tr>
              <a:tr h="163256">
                <a:tc>
                  <a:txBody>
                    <a:bodyPr/>
                    <a:lstStyle/>
                    <a:p>
                      <a:r>
                        <a:rPr lang="en-US" sz="800" b="0" i="0" dirty="0">
                          <a:solidFill>
                            <a:srgbClr val="1D1D1D"/>
                          </a:solidFill>
                          <a:latin typeface="Arial" pitchFamily="34" charset="0"/>
                        </a:rPr>
                        <a:t>1</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Director BD and M&amp;A</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267919836"/>
                  </a:ext>
                </a:extLst>
              </a:tr>
              <a:tr h="163256">
                <a:tc>
                  <a:txBody>
                    <a:bodyPr/>
                    <a:lstStyle/>
                    <a:p>
                      <a:r>
                        <a:rPr lang="en-US" sz="800" b="0" i="0" dirty="0">
                          <a:solidFill>
                            <a:srgbClr val="FFFFFF"/>
                          </a:solidFill>
                          <a:latin typeface="Arial" pitchFamily="34" charset="0"/>
                        </a:rPr>
                        <a:t>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Financial Planning &amp; Control</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796677586"/>
                  </a:ext>
                </a:extLst>
              </a:tr>
              <a:tr h="163256">
                <a:tc>
                  <a:txBody>
                    <a:bodyPr/>
                    <a:lstStyle/>
                    <a:p>
                      <a:r>
                        <a:rPr lang="en-US" sz="800" b="0" i="0" dirty="0">
                          <a:solidFill>
                            <a:srgbClr val="1D1D1D"/>
                          </a:solidFill>
                          <a:latin typeface="Arial" pitchFamily="34" charset="0"/>
                        </a:rPr>
                        <a:t>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Director of Investor Relations</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9674476"/>
                  </a:ext>
                </a:extLst>
              </a:tr>
              <a:tr h="163256">
                <a:tc>
                  <a:txBody>
                    <a:bodyPr/>
                    <a:lstStyle/>
                    <a:p>
                      <a:r>
                        <a:rPr lang="en-US" sz="800" b="0" i="0" dirty="0">
                          <a:solidFill>
                            <a:srgbClr val="FFFFFF"/>
                          </a:solidFill>
                          <a:latin typeface="Arial" pitchFamily="34" charset="0"/>
                        </a:rPr>
                        <a:t>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Industrial Automation (IOT)</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14057405"/>
                  </a:ext>
                </a:extLst>
              </a:tr>
              <a:tr h="163256">
                <a:tc>
                  <a:txBody>
                    <a:bodyPr/>
                    <a:lstStyle/>
                    <a:p>
                      <a:r>
                        <a:rPr lang="en-US" sz="800" b="0" i="0" dirty="0">
                          <a:solidFill>
                            <a:srgbClr val="1D1D1D"/>
                          </a:solidFill>
                          <a:latin typeface="Arial" pitchFamily="34" charset="0"/>
                        </a:rPr>
                        <a:t>5</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Project Director</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17193018"/>
                  </a:ext>
                </a:extLst>
              </a:tr>
              <a:tr h="163256">
                <a:tc>
                  <a:txBody>
                    <a:bodyPr/>
                    <a:lstStyle/>
                    <a:p>
                      <a:r>
                        <a:rPr lang="en-US" sz="800" b="0" i="0" dirty="0">
                          <a:solidFill>
                            <a:srgbClr val="FFFFFF"/>
                          </a:solidFill>
                          <a:latin typeface="Arial" pitchFamily="34" charset="0"/>
                        </a:rPr>
                        <a:t>6</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800" b="0" i="0" dirty="0">
                          <a:solidFill>
                            <a:srgbClr val="FFFFFF"/>
                          </a:solidFill>
                          <a:latin typeface="Arial" pitchFamily="34" charset="0"/>
                        </a:rPr>
                        <a:t>Head of Integration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268977802"/>
                  </a:ext>
                </a:extLst>
              </a:tr>
              <a:tr h="163256">
                <a:tc>
                  <a:txBody>
                    <a:bodyPr/>
                    <a:lstStyle/>
                    <a:p>
                      <a:r>
                        <a:rPr lang="en-US" sz="800" b="0" i="0" dirty="0">
                          <a:solidFill>
                            <a:srgbClr val="1D1D1D"/>
                          </a:solidFill>
                          <a:latin typeface="Arial" pitchFamily="34" charset="0"/>
                        </a:rPr>
                        <a:t>7</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Head of Due Diligence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068769190"/>
                  </a:ext>
                </a:extLst>
              </a:tr>
              <a:tr h="163256">
                <a:tc>
                  <a:txBody>
                    <a:bodyPr/>
                    <a:lstStyle/>
                    <a:p>
                      <a:r>
                        <a:rPr lang="en-US" sz="800" b="0" i="0" dirty="0">
                          <a:solidFill>
                            <a:srgbClr val="FFFFFF"/>
                          </a:solidFill>
                          <a:latin typeface="Arial" pitchFamily="34" charset="0"/>
                        </a:rPr>
                        <a:t>8</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Head of Corp. Comms</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323437889"/>
                  </a:ext>
                </a:extLst>
              </a:tr>
              <a:tr h="163256">
                <a:tc>
                  <a:txBody>
                    <a:bodyPr/>
                    <a:lstStyle/>
                    <a:p>
                      <a:r>
                        <a:rPr lang="en-US" sz="800" b="0" i="0" dirty="0">
                          <a:solidFill>
                            <a:srgbClr val="1D1D1D"/>
                          </a:solidFill>
                          <a:latin typeface="Arial" pitchFamily="34" charset="0"/>
                        </a:rPr>
                        <a:t>9</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COO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85099102"/>
                  </a:ext>
                </a:extLst>
              </a:tr>
              <a:tr h="163256">
                <a:tc>
                  <a:txBody>
                    <a:bodyPr/>
                    <a:lstStyle/>
                    <a:p>
                      <a:r>
                        <a:rPr lang="en-US" sz="800" b="0" i="0" kern="1200" dirty="0">
                          <a:solidFill>
                            <a:srgbClr val="1D1D1D"/>
                          </a:solidFill>
                          <a:latin typeface="Arial" pitchFamily="34" charset="0"/>
                          <a:ea typeface="+mn-ea"/>
                          <a:cs typeface="+mn-cs"/>
                        </a:rPr>
                        <a:t>10</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CCO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extLst>
                  <a:ext uri="{0D108BD9-81ED-4DB2-BD59-A6C34878D82A}">
                    <a16:rowId xmlns:a16="http://schemas.microsoft.com/office/drawing/2014/main" val="2647851601"/>
                  </a:ext>
                </a:extLst>
              </a:tr>
              <a:tr h="163256">
                <a:tc>
                  <a:txBody>
                    <a:bodyPr/>
                    <a:lstStyle/>
                    <a:p>
                      <a:r>
                        <a:rPr lang="en-US" sz="800" b="0" i="0" dirty="0">
                          <a:solidFill>
                            <a:srgbClr val="1D1D1D"/>
                          </a:solidFill>
                          <a:latin typeface="Arial" pitchFamily="34" charset="0"/>
                        </a:rPr>
                        <a:t>11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VP Commercial BU 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03646143"/>
                  </a:ext>
                </a:extLst>
              </a:tr>
            </a:tbl>
          </a:graphicData>
        </a:graphic>
      </p:graphicFrame>
      <p:sp>
        <p:nvSpPr>
          <p:cNvPr id="38" name="Rounded Rectangle 37">
            <a:extLst>
              <a:ext uri="{FF2B5EF4-FFF2-40B4-BE49-F238E27FC236}">
                <a16:creationId xmlns:a16="http://schemas.microsoft.com/office/drawing/2014/main" id="{7282E6A9-4F98-2335-D454-EB1057206888}"/>
              </a:ext>
            </a:extLst>
          </p:cNvPr>
          <p:cNvSpPr/>
          <p:nvPr/>
        </p:nvSpPr>
        <p:spPr>
          <a:xfrm>
            <a:off x="4184612" y="766993"/>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anose="020B0502040204020203" pitchFamily="34" charset="0"/>
                <a:cs typeface="Segoe UI" panose="020B0502040204020203" pitchFamily="34" charset="0"/>
              </a:rPr>
              <a:t>1</a:t>
            </a:r>
          </a:p>
        </p:txBody>
      </p:sp>
      <p:sp>
        <p:nvSpPr>
          <p:cNvPr id="39" name="Rounded Rectangle 38">
            <a:extLst>
              <a:ext uri="{FF2B5EF4-FFF2-40B4-BE49-F238E27FC236}">
                <a16:creationId xmlns:a16="http://schemas.microsoft.com/office/drawing/2014/main" id="{F3A42309-FEC1-175C-EA8A-9D911C762200}"/>
              </a:ext>
            </a:extLst>
          </p:cNvPr>
          <p:cNvSpPr/>
          <p:nvPr/>
        </p:nvSpPr>
        <p:spPr>
          <a:xfrm>
            <a:off x="11539203" y="766993"/>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anose="020B0502040204020203" pitchFamily="34" charset="0"/>
                <a:cs typeface="Segoe UI" panose="020B0502040204020203" pitchFamily="34" charset="0"/>
              </a:rPr>
              <a:t>2</a:t>
            </a:r>
          </a:p>
        </p:txBody>
      </p:sp>
      <p:sp>
        <p:nvSpPr>
          <p:cNvPr id="40" name="Rounded Rectangle 39">
            <a:extLst>
              <a:ext uri="{FF2B5EF4-FFF2-40B4-BE49-F238E27FC236}">
                <a16:creationId xmlns:a16="http://schemas.microsoft.com/office/drawing/2014/main" id="{86E0DBF9-5351-BBA8-36F9-B5B077373832}"/>
              </a:ext>
            </a:extLst>
          </p:cNvPr>
          <p:cNvSpPr/>
          <p:nvPr/>
        </p:nvSpPr>
        <p:spPr>
          <a:xfrm>
            <a:off x="8224579" y="3135540"/>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anose="020B0502040204020203" pitchFamily="34" charset="0"/>
                <a:cs typeface="Segoe UI" panose="020B0502040204020203" pitchFamily="34" charset="0"/>
              </a:rPr>
              <a:t>3</a:t>
            </a:r>
          </a:p>
        </p:txBody>
      </p:sp>
      <p:sp>
        <p:nvSpPr>
          <p:cNvPr id="41" name="Rounded Rectangle 40">
            <a:extLst>
              <a:ext uri="{FF2B5EF4-FFF2-40B4-BE49-F238E27FC236}">
                <a16:creationId xmlns:a16="http://schemas.microsoft.com/office/drawing/2014/main" id="{047D892B-0286-8DF8-1835-91A9D8100FE4}"/>
              </a:ext>
            </a:extLst>
          </p:cNvPr>
          <p:cNvSpPr/>
          <p:nvPr/>
        </p:nvSpPr>
        <p:spPr>
          <a:xfrm>
            <a:off x="11539203" y="3135540"/>
            <a:ext cx="299445" cy="279334"/>
          </a:xfrm>
          <a:prstGeom prst="roundRect">
            <a:avLst>
              <a:gd name="adj" fmla="val 192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anose="020B0502040204020203" pitchFamily="34" charset="0"/>
                <a:cs typeface="Segoe UI" panose="020B0502040204020203" pitchFamily="34" charset="0"/>
              </a:rPr>
              <a:t>4</a:t>
            </a:r>
          </a:p>
        </p:txBody>
      </p:sp>
      <p:sp>
        <p:nvSpPr>
          <p:cNvPr id="42" name="Rectangle: Rounded Corners 11">
            <a:extLst>
              <a:ext uri="{FF2B5EF4-FFF2-40B4-BE49-F238E27FC236}">
                <a16:creationId xmlns:a16="http://schemas.microsoft.com/office/drawing/2014/main" id="{026A0616-3714-03BE-2276-114C8EA98A4F}"/>
              </a:ext>
            </a:extLst>
          </p:cNvPr>
          <p:cNvSpPr/>
          <p:nvPr/>
        </p:nvSpPr>
        <p:spPr>
          <a:xfrm>
            <a:off x="956930" y="982530"/>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solidFill>
                <a:srgbClr val="FFFFFF"/>
              </a:solidFill>
              <a:latin typeface="Segoe UI" pitchFamily="34" charset="0"/>
            </a:endParaRPr>
          </a:p>
        </p:txBody>
      </p:sp>
      <p:sp>
        <p:nvSpPr>
          <p:cNvPr id="43" name="Rectangle: Rounded Corners 12">
            <a:extLst>
              <a:ext uri="{FF2B5EF4-FFF2-40B4-BE49-F238E27FC236}">
                <a16:creationId xmlns:a16="http://schemas.microsoft.com/office/drawing/2014/main" id="{9A0692D2-4913-4521-B499-04FDC7D8B60C}"/>
              </a:ext>
            </a:extLst>
          </p:cNvPr>
          <p:cNvSpPr/>
          <p:nvPr/>
        </p:nvSpPr>
        <p:spPr>
          <a:xfrm>
            <a:off x="5117815" y="996703"/>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latin typeface="Segoe UI" pitchFamily="34" charset="0"/>
            </a:endParaRPr>
          </a:p>
        </p:txBody>
      </p:sp>
      <p:sp>
        <p:nvSpPr>
          <p:cNvPr id="44" name="Rectangle: Rounded Corners 13">
            <a:extLst>
              <a:ext uri="{FF2B5EF4-FFF2-40B4-BE49-F238E27FC236}">
                <a16:creationId xmlns:a16="http://schemas.microsoft.com/office/drawing/2014/main" id="{250FE004-0F63-DE82-D879-A3445AB9E261}"/>
              </a:ext>
            </a:extLst>
          </p:cNvPr>
          <p:cNvSpPr/>
          <p:nvPr/>
        </p:nvSpPr>
        <p:spPr>
          <a:xfrm>
            <a:off x="971103" y="3454782"/>
            <a:ext cx="871810" cy="16274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p>
        </p:txBody>
      </p:sp>
      <p:sp>
        <p:nvSpPr>
          <p:cNvPr id="45" name="Rectangle: Rounded Corners 14">
            <a:extLst>
              <a:ext uri="{FF2B5EF4-FFF2-40B4-BE49-F238E27FC236}">
                <a16:creationId xmlns:a16="http://schemas.microsoft.com/office/drawing/2014/main" id="{2246ED05-D82A-8A55-9E4C-22F13D84EFE2}"/>
              </a:ext>
            </a:extLst>
          </p:cNvPr>
          <p:cNvSpPr/>
          <p:nvPr/>
        </p:nvSpPr>
        <p:spPr>
          <a:xfrm>
            <a:off x="8949094" y="3547217"/>
            <a:ext cx="871810" cy="162740"/>
          </a:xfrm>
          <a:prstGeom prst="roundRect">
            <a:avLst/>
          </a:prstGeom>
          <a:solidFill>
            <a:srgbClr val="D8453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solidFill>
                <a:srgbClr val="FFFFFF"/>
              </a:solidFill>
            </a:endParaRPr>
          </a:p>
        </p:txBody>
      </p:sp>
      <p:sp>
        <p:nvSpPr>
          <p:cNvPr id="46" name="Triangle 73">
            <a:extLst>
              <a:ext uri="{FF2B5EF4-FFF2-40B4-BE49-F238E27FC236}">
                <a16:creationId xmlns:a16="http://schemas.microsoft.com/office/drawing/2014/main" id="{95EE3B34-5765-5369-9921-52D44CAE5483}"/>
              </a:ext>
            </a:extLst>
          </p:cNvPr>
          <p:cNvSpPr/>
          <p:nvPr/>
        </p:nvSpPr>
        <p:spPr>
          <a:xfrm rot="5400000">
            <a:off x="1573586" y="4565003"/>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47" name="Triangle 73">
            <a:extLst>
              <a:ext uri="{FF2B5EF4-FFF2-40B4-BE49-F238E27FC236}">
                <a16:creationId xmlns:a16="http://schemas.microsoft.com/office/drawing/2014/main" id="{E2848D30-A258-92B9-9651-730A88BECF07}"/>
              </a:ext>
            </a:extLst>
          </p:cNvPr>
          <p:cNvSpPr/>
          <p:nvPr/>
        </p:nvSpPr>
        <p:spPr>
          <a:xfrm rot="5400000">
            <a:off x="2486381" y="4553778"/>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48" name="TextBox 47">
            <a:extLst>
              <a:ext uri="{FF2B5EF4-FFF2-40B4-BE49-F238E27FC236}">
                <a16:creationId xmlns:a16="http://schemas.microsoft.com/office/drawing/2014/main" id="{DF4D76AD-0768-BF75-943C-C72EAFA584B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5009796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0457CC-336F-9029-CFC3-37BB3C5981CB}"/>
              </a:ext>
            </a:extLst>
          </p:cNvPr>
          <p:cNvSpPr>
            <a:spLocks noGrp="1"/>
          </p:cNvSpPr>
          <p:nvPr>
            <p:ph type="sldNum" sz="quarter" idx="4"/>
          </p:nvPr>
        </p:nvSpPr>
        <p:spPr/>
        <p:txBody>
          <a:bodyPr/>
          <a:lstStyle/>
          <a:p>
            <a:pPr algn="ctr"/>
            <a:fld id="{1875A764-3B06-454E-8ABA-2F6ED0EB58E9}" type="slidenum">
              <a:rPr lang="en-US" smtClean="0"/>
              <a:t>49</a:t>
            </a:fld>
            <a:endParaRPr lang="en-US"/>
          </a:p>
        </p:txBody>
      </p:sp>
      <p:sp>
        <p:nvSpPr>
          <p:cNvPr id="3" name="Title 2">
            <a:extLst>
              <a:ext uri="{FF2B5EF4-FFF2-40B4-BE49-F238E27FC236}">
                <a16:creationId xmlns:a16="http://schemas.microsoft.com/office/drawing/2014/main" id="{015F7919-0DD3-277F-705B-ED1759A3D29B}"/>
              </a:ext>
            </a:extLst>
          </p:cNvPr>
          <p:cNvSpPr>
            <a:spLocks noGrp="1"/>
          </p:cNvSpPr>
          <p:nvPr>
            <p:ph type="title"/>
          </p:nvPr>
        </p:nvSpPr>
        <p:spPr/>
        <p:txBody>
          <a:bodyPr/>
          <a:lstStyle/>
          <a:p>
            <a:r>
              <a:rPr lang="en-GB" dirty="0">
                <a:solidFill>
                  <a:srgbClr val="281A42"/>
                </a:solidFill>
              </a:rPr>
              <a:t>CXO Enabling Success Plan</a:t>
            </a:r>
            <a:endParaRPr lang="en-US" dirty="0"/>
          </a:p>
        </p:txBody>
      </p:sp>
      <p:sp>
        <p:nvSpPr>
          <p:cNvPr id="4" name="Google Shape;128;p4">
            <a:extLst>
              <a:ext uri="{FF2B5EF4-FFF2-40B4-BE49-F238E27FC236}">
                <a16:creationId xmlns:a16="http://schemas.microsoft.com/office/drawing/2014/main" id="{1EF90902-B88E-1AF5-9F05-2CBE4D94A407}"/>
              </a:ext>
            </a:extLst>
          </p:cNvPr>
          <p:cNvSpPr/>
          <p:nvPr/>
        </p:nvSpPr>
        <p:spPr>
          <a:xfrm>
            <a:off x="787692" y="2154888"/>
            <a:ext cx="11046345" cy="4052230"/>
          </a:xfrm>
          <a:prstGeom prst="roundRect">
            <a:avLst>
              <a:gd name="adj" fmla="val 4298"/>
            </a:avLst>
          </a:prstGeom>
          <a:solidFill>
            <a:schemeClr val="bg2"/>
          </a:solidFill>
          <a:ln w="9525" cap="flat" cmpd="sng">
            <a:solidFill>
              <a:schemeClr val="accent1"/>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dirty="0">
              <a:ln>
                <a:noFill/>
              </a:ln>
              <a:solidFill>
                <a:srgbClr val="000000"/>
              </a:solidFill>
              <a:effectLst/>
              <a:uLnTx/>
              <a:uFillTx/>
              <a:latin typeface="Lato" panose="020F0502020204030203" pitchFamily="34" charset="77"/>
              <a:ea typeface="Lato"/>
              <a:cs typeface="Lato"/>
              <a:sym typeface="Lato"/>
            </a:endParaRPr>
          </a:p>
        </p:txBody>
      </p:sp>
      <p:sp>
        <p:nvSpPr>
          <p:cNvPr id="5" name="Google Shape;180;p5">
            <a:extLst>
              <a:ext uri="{FF2B5EF4-FFF2-40B4-BE49-F238E27FC236}">
                <a16:creationId xmlns:a16="http://schemas.microsoft.com/office/drawing/2014/main" id="{4A264A79-D1B3-326A-86A0-687AA896D5A1}"/>
              </a:ext>
            </a:extLst>
          </p:cNvPr>
          <p:cNvSpPr/>
          <p:nvPr/>
        </p:nvSpPr>
        <p:spPr>
          <a:xfrm>
            <a:off x="787693" y="862424"/>
            <a:ext cx="11046345" cy="1214762"/>
          </a:xfrm>
          <a:prstGeom prst="roundRect">
            <a:avLst>
              <a:gd name="adj" fmla="val 13273"/>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NL" sz="2400" b="1" i="0" u="none" strike="noStrike" kern="0" cap="none" spc="-25"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82;p5">
            <a:extLst>
              <a:ext uri="{FF2B5EF4-FFF2-40B4-BE49-F238E27FC236}">
                <a16:creationId xmlns:a16="http://schemas.microsoft.com/office/drawing/2014/main" id="{D9284792-F738-7D25-C054-DDD5A6900C90}"/>
              </a:ext>
            </a:extLst>
          </p:cNvPr>
          <p:cNvSpPr txBox="1"/>
          <p:nvPr/>
        </p:nvSpPr>
        <p:spPr>
          <a:xfrm>
            <a:off x="1065511" y="1142589"/>
            <a:ext cx="10226265" cy="892532"/>
          </a:xfrm>
          <a:prstGeom prst="rect">
            <a:avLst/>
          </a:prstGeom>
          <a:noFill/>
          <a:ln>
            <a:noFill/>
          </a:ln>
        </p:spPr>
        <p:txBody>
          <a:bodyPr spcFirstLastPara="1" wrap="square" lIns="22850" tIns="22850" rIns="22850" bIns="22850" numCol="1" anchor="t" anchorCtr="0">
            <a:spAutoFit/>
          </a:bodyPr>
          <a:lstStyle/>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Clarity on Mandate and Board Confidence in CXO to Deliver Mandate</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Create CXO Capacity to Have Bifocal Focus on Balancing Core Performance &amp; Growth</a:t>
            </a:r>
            <a:endPar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endParaRP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Making New Operating Model Work with an Effective &amp; Aligned Leadership Team</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Building New Capabilities</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Strengthen Culture: Drive Culture of Accountability and Performance (internally) and Communicate the Growth Story to Attract Investors (externally).</a:t>
            </a:r>
          </a:p>
        </p:txBody>
      </p:sp>
      <p:sp>
        <p:nvSpPr>
          <p:cNvPr id="7" name="Google Shape;143;p4">
            <a:extLst>
              <a:ext uri="{FF2B5EF4-FFF2-40B4-BE49-F238E27FC236}">
                <a16:creationId xmlns:a16="http://schemas.microsoft.com/office/drawing/2014/main" id="{784D9A9B-8423-A584-CED2-3C8EDBBA66F2}"/>
              </a:ext>
            </a:extLst>
          </p:cNvPr>
          <p:cNvSpPr txBox="1"/>
          <p:nvPr/>
        </p:nvSpPr>
        <p:spPr>
          <a:xfrm>
            <a:off x="1065513" y="882413"/>
            <a:ext cx="500241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What Are We Solving For?</a:t>
            </a:r>
          </a:p>
        </p:txBody>
      </p:sp>
      <p:sp>
        <p:nvSpPr>
          <p:cNvPr id="8" name="Google Shape;143;p4">
            <a:extLst>
              <a:ext uri="{FF2B5EF4-FFF2-40B4-BE49-F238E27FC236}">
                <a16:creationId xmlns:a16="http://schemas.microsoft.com/office/drawing/2014/main" id="{D9BF7A0D-7A7E-85B0-CB47-02F3744824A9}"/>
              </a:ext>
            </a:extLst>
          </p:cNvPr>
          <p:cNvSpPr txBox="1"/>
          <p:nvPr/>
        </p:nvSpPr>
        <p:spPr>
          <a:xfrm>
            <a:off x="1065513" y="2191108"/>
            <a:ext cx="612562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WHAT IS THE ENABLING CEO SUCCESS PLAN? </a:t>
            </a:r>
          </a:p>
        </p:txBody>
      </p:sp>
      <p:sp>
        <p:nvSpPr>
          <p:cNvPr id="9" name="Google Shape;136;p4">
            <a:extLst>
              <a:ext uri="{FF2B5EF4-FFF2-40B4-BE49-F238E27FC236}">
                <a16:creationId xmlns:a16="http://schemas.microsoft.com/office/drawing/2014/main" id="{DB9AED81-EDA7-96E2-BAD9-9C41D7463FB9}"/>
              </a:ext>
            </a:extLst>
          </p:cNvPr>
          <p:cNvSpPr txBox="1">
            <a:spLocks/>
          </p:cNvSpPr>
          <p:nvPr/>
        </p:nvSpPr>
        <p:spPr>
          <a:xfrm>
            <a:off x="1065512" y="2478581"/>
            <a:ext cx="10546540" cy="3740961"/>
          </a:xfrm>
          <a:prstGeom prst="rect">
            <a:avLst/>
          </a:prstGeom>
          <a:noFill/>
          <a:ln>
            <a:noFill/>
          </a:ln>
        </p:spPr>
        <p:txBody>
          <a:bodyPr spcFirstLastPara="1" wrap="square" lIns="22850" tIns="22850" rIns="22850" bIns="22850" anchor="t" anchorCtr="0">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defRPr/>
            </a:pPr>
            <a:r>
              <a:rPr lang="en-US" sz="1000" b="1" kern="0" spc="-10">
                <a:solidFill>
                  <a:sysClr val="windowText" lastClr="000000"/>
                </a:solidFill>
                <a:latin typeface="Segoe UI" pitchFamily="34" charset="0"/>
                <a:ea typeface="Lato"/>
                <a:cs typeface="Lato"/>
              </a:rPr>
              <a:t>1. Clarity on MANDATE and board confidence in CXO to deliver mandate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Precise Jobs To Be Done for CXO for the next 12 months. Make sharp choices, and co-create between CXO &amp; Board</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Strengthen relationships with Board members</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Explore Advisors with specific inorganic growth experience (M&amp;A, global)</a:t>
            </a:r>
          </a:p>
          <a:p>
            <a:pPr marL="0" indent="0">
              <a:lnSpc>
                <a:spcPct val="100000"/>
              </a:lnSpc>
              <a:spcBef>
                <a:spcPts val="0"/>
              </a:spcBef>
              <a:buFontTx/>
              <a:buNone/>
              <a:defRPr/>
            </a:pPr>
            <a:endParaRPr lang="en-US" sz="1000" b="1" kern="0" spc="-10">
              <a:solidFill>
                <a:sysClr val="windowText" lastClr="000000"/>
              </a:solidFill>
              <a:latin typeface="Segoe UI" pitchFamily="34" charset="0"/>
              <a:ea typeface="Lato"/>
              <a:cs typeface="Lato"/>
            </a:endParaRPr>
          </a:p>
          <a:p>
            <a:pPr marL="0" indent="0">
              <a:lnSpc>
                <a:spcPct val="100000"/>
              </a:lnSpc>
              <a:spcBef>
                <a:spcPts val="0"/>
              </a:spcBef>
              <a:buFontTx/>
              <a:buNone/>
              <a:defRPr/>
            </a:pPr>
            <a:r>
              <a:rPr lang="en-US" sz="1000" b="1" kern="0" spc="-10">
                <a:solidFill>
                  <a:sysClr val="windowText" lastClr="000000"/>
                </a:solidFill>
                <a:latin typeface="Segoe UI" pitchFamily="34" charset="0"/>
                <a:ea typeface="Lato"/>
                <a:cs typeface="Lato"/>
              </a:rPr>
              <a:t>2. Create CXO Capacity to have BIFOCAL focus on Balancing core performance &amp; growth </a:t>
            </a:r>
            <a:endParaRPr lang="en-US" sz="1000" b="1" kern="0" spc="-10">
              <a:solidFill>
                <a:sysClr val="windowText" lastClr="000000"/>
              </a:solidFill>
              <a:latin typeface="Segoe UI" pitchFamily="34" charset="0"/>
              <a:ea typeface="Lato" panose="020F0502020204030203" pitchFamily="34" charset="0"/>
              <a:cs typeface="Lato" panose="020F0502020204030203" pitchFamily="34" charset="0"/>
            </a:endParaRP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Release Personal Capacity from “Running” BU1. Upgrade BU1 leadership.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the number of strategic initiatives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Leverage the CFO and the CEO BU2 as a sounding board within the ELT</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Clarify role and remit of the Advisor (Government Affairs to drive organic growth &amp; Board relationships)</a:t>
            </a:r>
          </a:p>
          <a:p>
            <a:pPr marL="0" indent="0">
              <a:lnSpc>
                <a:spcPct val="100000"/>
              </a:lnSpc>
              <a:spcBef>
                <a:spcPts val="0"/>
              </a:spcBef>
              <a:buFontTx/>
              <a:buNone/>
              <a:defRPr/>
            </a:pPr>
            <a:endParaRPr lang="en-US" sz="1000" b="1" kern="0" spc="-10">
              <a:solidFill>
                <a:sysClr val="windowText" lastClr="000000"/>
              </a:solidFill>
              <a:latin typeface="Segoe UI" pitchFamily="34" charset="0"/>
              <a:ea typeface="Lato" panose="020F0502020204030203" pitchFamily="34" charset="0"/>
              <a:cs typeface="Lato" panose="020F0502020204030203" pitchFamily="34" charset="0"/>
            </a:endParaRPr>
          </a:p>
          <a:p>
            <a:pPr marL="0" indent="0">
              <a:lnSpc>
                <a:spcPct val="100000"/>
              </a:lnSpc>
              <a:spcBef>
                <a:spcPts val="0"/>
              </a:spcBef>
              <a:buFontTx/>
              <a:buNone/>
              <a:defRPr/>
            </a:pPr>
            <a:r>
              <a:rPr lang="en-US" sz="1000" b="1" kern="0" spc="-10">
                <a:solidFill>
                  <a:prstClr val="black"/>
                </a:solidFill>
                <a:latin typeface="Segoe UI" pitchFamily="34" charset="0"/>
                <a:ea typeface="Lato"/>
                <a:cs typeface="Lato"/>
              </a:rPr>
              <a:t>3. Make Operating Model work</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panose="020F0502020204030203" pitchFamily="34" charset="0"/>
                <a:cs typeface="Lato" panose="020F0502020204030203" pitchFamily="34" charset="0"/>
              </a:rPr>
              <a:t>Quick Wins (BU Finance support)</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a:cs typeface="Lato"/>
              </a:rPr>
              <a:t>Define role of Corporate Centre to drive Enterprise priorities and what can be pushed down to BU CEO remit (incl. functions). </a:t>
            </a: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sysClr val="windowText" lastClr="000000"/>
                </a:solidFill>
                <a:latin typeface="Arial" pitchFamily="34" charset="0"/>
                <a:ea typeface="Lato" panose="020F0502020204030203" pitchFamily="34" charset="0"/>
                <a:cs typeface="Lato" panose="020F0502020204030203" pitchFamily="34" charset="0"/>
              </a:rPr>
              <a:t>Drive x-function collaboration </a:t>
            </a:r>
            <a:endParaRPr lang="en-US" sz="1000" kern="0" spc="-10">
              <a:solidFill>
                <a:prstClr val="black"/>
              </a:solidFill>
              <a:latin typeface="Arial" pitchFamily="34" charset="0"/>
              <a:ea typeface="Lato"/>
              <a:cs typeface="Lato"/>
            </a:endParaRPr>
          </a:p>
          <a:p>
            <a:pPr marL="0" indent="0" defTabSz="914377">
              <a:lnSpc>
                <a:spcPct val="100000"/>
              </a:lnSpc>
              <a:spcBef>
                <a:spcPts val="0"/>
              </a:spcBef>
              <a:buFontTx/>
              <a:buNone/>
              <a:defRPr/>
            </a:pPr>
            <a:endParaRPr lang="en-US" sz="1000" b="1" kern="0" spc="-10">
              <a:solidFill>
                <a:sysClr val="windowText" lastClr="000000"/>
              </a:solidFill>
              <a:latin typeface="Segoe UI" pitchFamily="34" charset="0"/>
              <a:ea typeface="Lato"/>
              <a:cs typeface="Lato"/>
            </a:endParaRPr>
          </a:p>
          <a:p>
            <a:pPr marL="0" indent="0" defTabSz="914377">
              <a:lnSpc>
                <a:spcPct val="100000"/>
              </a:lnSpc>
              <a:spcBef>
                <a:spcPts val="0"/>
              </a:spcBef>
              <a:buFontTx/>
              <a:buNone/>
              <a:defRPr/>
            </a:pPr>
            <a:r>
              <a:rPr lang="en-US" sz="1000" b="1" kern="0" spc="-10">
                <a:solidFill>
                  <a:sysClr val="windowText" lastClr="000000"/>
                </a:solidFill>
                <a:latin typeface="Segoe UI" pitchFamily="34" charset="0"/>
                <a:ea typeface="Lato"/>
                <a:cs typeface="Lato"/>
              </a:rPr>
              <a:t>4. Build new capabilities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and Build capabilities in M&amp;A, Corporate Finance, Inv. Relations, Operations, S&amp;OP, Procurement, Sales, BU Financial Controllers, HR</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Identify critical roles, assess risks and build risk mitigation plans (incl. succession planning)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Prioritize and Proactively Build Bench @ BUs (over next 12 months). </a:t>
            </a:r>
          </a:p>
          <a:p>
            <a:pPr marL="447675" lvl="1" indent="-179070" defTabSz="914377">
              <a:lnSpc>
                <a:spcPct val="100000"/>
              </a:lnSpc>
              <a:spcBef>
                <a:spcPts val="0"/>
              </a:spcBef>
              <a:buFont typeface="Arial" panose="020B0706020202030204" pitchFamily="34" charset="0"/>
              <a:buBlip>
                <a:blip r:embed="rId2"/>
              </a:buBlip>
              <a:defRPr/>
            </a:pPr>
            <a:r>
              <a:rPr lang="en-US" sz="1000" spc="-10">
                <a:solidFill>
                  <a:prstClr val="black"/>
                </a:solidFill>
                <a:latin typeface="Arial" pitchFamily="34" charset="0"/>
                <a:ea typeface="Lato"/>
                <a:cs typeface="Lato"/>
              </a:rPr>
              <a:t>Assess, address and strengthen N-2 capacity in BU1 Leadership team</a:t>
            </a:r>
          </a:p>
          <a:p>
            <a:pPr marL="447675" lvl="1" indent="-179070" defTabSz="914377">
              <a:lnSpc>
                <a:spcPct val="100000"/>
              </a:lnSpc>
              <a:spcBef>
                <a:spcPts val="0"/>
              </a:spcBef>
              <a:buFont typeface="Arial" panose="020B0706020202030204" pitchFamily="34" charset="0"/>
              <a:buBlip>
                <a:blip r:embed="rId2"/>
              </a:buBlip>
              <a:defRPr/>
            </a:pPr>
            <a:endParaRPr lang="en-US" sz="1000" b="1" kern="0" spc="-10">
              <a:solidFill>
                <a:prstClr val="black"/>
              </a:solidFill>
              <a:latin typeface="Segoe UI" pitchFamily="34" charset="0"/>
              <a:ea typeface="Lato" panose="020F0502020204030203" pitchFamily="34" charset="0"/>
              <a:cs typeface="Lato" panose="020F0502020204030203" pitchFamily="34" charset="0"/>
            </a:endParaRPr>
          </a:p>
          <a:p>
            <a:pPr>
              <a:lnSpc>
                <a:spcPct val="100000"/>
              </a:lnSpc>
              <a:spcBef>
                <a:spcPts val="0"/>
              </a:spcBef>
              <a:buFontTx/>
              <a:buAutoNum type="arabicPeriod" startAt="5"/>
              <a:defRPr/>
            </a:pPr>
            <a:r>
              <a:rPr lang="en-US" sz="1000" b="1" kern="0" spc="-10">
                <a:solidFill>
                  <a:prstClr val="black"/>
                </a:solidFill>
                <a:latin typeface="Segoe UI" pitchFamily="34" charset="0"/>
                <a:ea typeface="Lato"/>
                <a:cs typeface="Lato"/>
              </a:rPr>
              <a:t>Strengthen Culture</a:t>
            </a:r>
            <a:endParaRPr lang="en-US" sz="1000" kern="0" spc="-10">
              <a:solidFill>
                <a:prstClr val="black"/>
              </a:solidFill>
              <a:latin typeface="Arial" pitchFamily="34" charset="0"/>
              <a:ea typeface="Lato"/>
              <a:cs typeface="Lato"/>
            </a:endParaRPr>
          </a:p>
          <a:p>
            <a:pPr marL="447675" lvl="1" indent="-179070" defTabSz="914377">
              <a:lnSpc>
                <a:spcPct val="100000"/>
              </a:lnSpc>
              <a:spcBef>
                <a:spcPts val="0"/>
              </a:spcBef>
              <a:buFont typeface="Arial" panose="020B0706020202030204" pitchFamily="34" charset="0"/>
              <a:buBlip>
                <a:blip r:embed="rId2"/>
              </a:buBlip>
              <a:defRPr/>
            </a:pPr>
            <a:r>
              <a:rPr lang="en-US" sz="1000" kern="0" spc="-10">
                <a:solidFill>
                  <a:prstClr val="black"/>
                </a:solidFill>
                <a:latin typeface="Arial" pitchFamily="34" charset="0"/>
                <a:ea typeface="Lato"/>
                <a:cs typeface="Lato"/>
              </a:rPr>
              <a:t>Reinforce desired mindset of </a:t>
            </a:r>
            <a:r>
              <a:rPr lang="en-US" sz="1000" b="1" kern="0" spc="-10">
                <a:solidFill>
                  <a:prstClr val="black"/>
                </a:solidFill>
                <a:latin typeface="Segoe UI" pitchFamily="34" charset="0"/>
                <a:ea typeface="Lato"/>
                <a:cs typeface="Lato"/>
              </a:rPr>
              <a:t>accountability and performance</a:t>
            </a:r>
            <a:r>
              <a:rPr lang="en-US" sz="1000" kern="0" spc="-10">
                <a:solidFill>
                  <a:prstClr val="black"/>
                </a:solidFill>
                <a:latin typeface="Arial" pitchFamily="34" charset="0"/>
                <a:ea typeface="Lato"/>
                <a:cs typeface="Lato"/>
              </a:rPr>
              <a:t>. Hold BU LTs accountable for performance</a:t>
            </a:r>
            <a:endParaRPr lang="en-US" sz="1000" kern="0" spc="-10" dirty="0">
              <a:solidFill>
                <a:prstClr val="black"/>
              </a:solidFill>
              <a:latin typeface="Arial" pitchFamily="34" charset="0"/>
              <a:ea typeface="Lato"/>
              <a:cs typeface="Lato"/>
            </a:endParaRPr>
          </a:p>
        </p:txBody>
      </p:sp>
      <p:sp>
        <p:nvSpPr>
          <p:cNvPr id="10" name="Google Shape;143;p4">
            <a:extLst>
              <a:ext uri="{FF2B5EF4-FFF2-40B4-BE49-F238E27FC236}">
                <a16:creationId xmlns:a16="http://schemas.microsoft.com/office/drawing/2014/main" id="{422ACDAC-FC27-7671-767D-47E31313ACED}"/>
              </a:ext>
            </a:extLst>
          </p:cNvPr>
          <p:cNvSpPr txBox="1"/>
          <p:nvPr/>
        </p:nvSpPr>
        <p:spPr>
          <a:xfrm>
            <a:off x="10244663" y="2255886"/>
            <a:ext cx="1184730" cy="553978"/>
          </a:xfrm>
          <a:prstGeom prst="rect">
            <a:avLst/>
          </a:pr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POTENTIAL FOR </a:t>
            </a:r>
          </a:p>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IMPROVEMENT</a:t>
            </a:r>
          </a:p>
        </p:txBody>
      </p:sp>
      <p:grpSp>
        <p:nvGrpSpPr>
          <p:cNvPr id="11" name="Google Shape;195;p5">
            <a:extLst>
              <a:ext uri="{FF2B5EF4-FFF2-40B4-BE49-F238E27FC236}">
                <a16:creationId xmlns:a16="http://schemas.microsoft.com/office/drawing/2014/main" id="{2F01CFFC-0405-EE75-906E-5B51D289B67D}"/>
              </a:ext>
            </a:extLst>
          </p:cNvPr>
          <p:cNvGrpSpPr/>
          <p:nvPr/>
        </p:nvGrpSpPr>
        <p:grpSpPr>
          <a:xfrm>
            <a:off x="10209937" y="2944866"/>
            <a:ext cx="1068814" cy="1199653"/>
            <a:chOff x="501280" y="-6468"/>
            <a:chExt cx="3521557" cy="3741440"/>
          </a:xfrm>
        </p:grpSpPr>
        <p:grpSp>
          <p:nvGrpSpPr>
            <p:cNvPr id="12" name="Google Shape;196;p5">
              <a:extLst>
                <a:ext uri="{FF2B5EF4-FFF2-40B4-BE49-F238E27FC236}">
                  <a16:creationId xmlns:a16="http://schemas.microsoft.com/office/drawing/2014/main" id="{AA0B3787-D613-516B-16FD-BC74A16D2E96}"/>
                </a:ext>
              </a:extLst>
            </p:cNvPr>
            <p:cNvGrpSpPr/>
            <p:nvPr/>
          </p:nvGrpSpPr>
          <p:grpSpPr>
            <a:xfrm>
              <a:off x="1060571" y="448533"/>
              <a:ext cx="2539764" cy="2539769"/>
              <a:chOff x="1" y="0"/>
              <a:chExt cx="2539762" cy="2539768"/>
            </a:xfrm>
          </p:grpSpPr>
          <p:sp>
            <p:nvSpPr>
              <p:cNvPr id="19" name="Google Shape;197;p5">
                <a:extLst>
                  <a:ext uri="{FF2B5EF4-FFF2-40B4-BE49-F238E27FC236}">
                    <a16:creationId xmlns:a16="http://schemas.microsoft.com/office/drawing/2014/main" id="{A0716914-5676-EA50-F21F-80C0E5079D6B}"/>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0" name="Google Shape;198;p5">
                <a:extLst>
                  <a:ext uri="{FF2B5EF4-FFF2-40B4-BE49-F238E27FC236}">
                    <a16:creationId xmlns:a16="http://schemas.microsoft.com/office/drawing/2014/main" id="{4D358B86-D556-D94B-377B-921E6C5DAC09}"/>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lang="en-US" b="1" spc="-25" dirty="0">
                    <a:solidFill>
                      <a:srgbClr val="1D1D1D"/>
                    </a:solidFill>
                    <a:latin typeface="Segoe UI" pitchFamily="34" charset="0"/>
                    <a:ea typeface="Lato"/>
                    <a:cs typeface="Lato"/>
                    <a:sym typeface="Lato"/>
                  </a:rPr>
                  <a:t>56</a:t>
                </a:r>
                <a:endParaRPr kumimoji="0" sz="1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1" name="Google Shape;199;p5">
                <a:extLst>
                  <a:ext uri="{FF2B5EF4-FFF2-40B4-BE49-F238E27FC236}">
                    <a16:creationId xmlns:a16="http://schemas.microsoft.com/office/drawing/2014/main" id="{D7D0E8B8-8830-EEAC-FC52-D15790B1B475}"/>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6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3" name="Google Shape;200;p5">
              <a:extLst>
                <a:ext uri="{FF2B5EF4-FFF2-40B4-BE49-F238E27FC236}">
                  <a16:creationId xmlns:a16="http://schemas.microsoft.com/office/drawing/2014/main" id="{226EDF1F-6A37-D262-56F1-2361D6E8EF00}"/>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4" name="Google Shape;201;p5">
              <a:extLst>
                <a:ext uri="{FF2B5EF4-FFF2-40B4-BE49-F238E27FC236}">
                  <a16:creationId xmlns:a16="http://schemas.microsoft.com/office/drawing/2014/main" id="{C0358905-A144-E004-C563-AE2F1250622B}"/>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5" name="Google Shape;202;p5">
              <a:extLst>
                <a:ext uri="{FF2B5EF4-FFF2-40B4-BE49-F238E27FC236}">
                  <a16:creationId xmlns:a16="http://schemas.microsoft.com/office/drawing/2014/main" id="{7AD5752C-2DCD-3FA1-E75F-19436C4543C3}"/>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6" name="Google Shape;203;p5">
              <a:extLst>
                <a:ext uri="{FF2B5EF4-FFF2-40B4-BE49-F238E27FC236}">
                  <a16:creationId xmlns:a16="http://schemas.microsoft.com/office/drawing/2014/main" id="{EF23AF50-3744-B9A4-207A-D778D4C2F2E9}"/>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7" name="Google Shape;204;p5">
              <a:extLst>
                <a:ext uri="{FF2B5EF4-FFF2-40B4-BE49-F238E27FC236}">
                  <a16:creationId xmlns:a16="http://schemas.microsoft.com/office/drawing/2014/main" id="{BF7CF63B-26B8-7E40-A4F8-7DABB966C97C}"/>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8" name="Google Shape;205;p5">
              <a:extLst>
                <a:ext uri="{FF2B5EF4-FFF2-40B4-BE49-F238E27FC236}">
                  <a16:creationId xmlns:a16="http://schemas.microsoft.com/office/drawing/2014/main" id="{4048CB2E-887B-48EF-AA21-97693856B5C9}"/>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pSp>
        <p:nvGrpSpPr>
          <p:cNvPr id="22" name="Google Shape;195;p5">
            <a:extLst>
              <a:ext uri="{FF2B5EF4-FFF2-40B4-BE49-F238E27FC236}">
                <a16:creationId xmlns:a16="http://schemas.microsoft.com/office/drawing/2014/main" id="{90698D8C-90D6-8AD6-D498-F3141266A62B}"/>
              </a:ext>
            </a:extLst>
          </p:cNvPr>
          <p:cNvGrpSpPr/>
          <p:nvPr/>
        </p:nvGrpSpPr>
        <p:grpSpPr>
          <a:xfrm>
            <a:off x="10235337" y="4710166"/>
            <a:ext cx="1068814" cy="1199653"/>
            <a:chOff x="501280" y="-6468"/>
            <a:chExt cx="3521557" cy="3741440"/>
          </a:xfrm>
        </p:grpSpPr>
        <p:grpSp>
          <p:nvGrpSpPr>
            <p:cNvPr id="23" name="Google Shape;196;p5">
              <a:extLst>
                <a:ext uri="{FF2B5EF4-FFF2-40B4-BE49-F238E27FC236}">
                  <a16:creationId xmlns:a16="http://schemas.microsoft.com/office/drawing/2014/main" id="{8B98E734-4BF6-9A6A-FEF1-C643DF1AD948}"/>
                </a:ext>
              </a:extLst>
            </p:cNvPr>
            <p:cNvGrpSpPr/>
            <p:nvPr/>
          </p:nvGrpSpPr>
          <p:grpSpPr>
            <a:xfrm>
              <a:off x="1060571" y="448533"/>
              <a:ext cx="2539764" cy="2539769"/>
              <a:chOff x="1" y="0"/>
              <a:chExt cx="2539762" cy="2539768"/>
            </a:xfrm>
          </p:grpSpPr>
          <p:sp>
            <p:nvSpPr>
              <p:cNvPr id="30" name="Google Shape;197;p5">
                <a:extLst>
                  <a:ext uri="{FF2B5EF4-FFF2-40B4-BE49-F238E27FC236}">
                    <a16:creationId xmlns:a16="http://schemas.microsoft.com/office/drawing/2014/main" id="{99191350-8A35-0E6D-B87A-E6642A52AE0B}"/>
                  </a:ext>
                </a:extLst>
              </p:cNvPr>
              <p:cNvSpPr/>
              <p:nvPr/>
            </p:nvSpPr>
            <p:spPr>
              <a:xfrm>
                <a:off x="1" y="0"/>
                <a:ext cx="2539762" cy="2539768"/>
              </a:xfrm>
              <a:prstGeom prst="ellipse">
                <a:avLst/>
              </a:prstGeom>
              <a:solidFill>
                <a:srgbClr val="00C27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solidFill>
                      <a:srgbClr val="FFFFFF"/>
                    </a:solidFill>
                    <a:latin typeface="Segoe UI" pitchFamily="34" charset="0"/>
                  </a:defRPr>
                </a:pPr>
                <a:endParaRPr kumimoji="0" sz="2000" b="1" i="0" u="none" strike="noStrike" kern="0" cap="none" spc="-25" normalizeH="0" baseline="0" noProof="0" dirty="0">
                  <a:ln>
                    <a:noFill/>
                  </a:ln>
                  <a:solidFill>
                    <a:srgbClr val="FFFFFF"/>
                  </a:solidFill>
                  <a:effectLst/>
                  <a:uLnTx/>
                  <a:uFillTx/>
                  <a:latin typeface="Segoe UI" pitchFamily="34" charset="0"/>
                  <a:ea typeface="Lato"/>
                  <a:cs typeface="Lato"/>
                  <a:sym typeface="Lato"/>
                </a:endParaRPr>
              </a:p>
            </p:txBody>
          </p:sp>
          <p:sp>
            <p:nvSpPr>
              <p:cNvPr id="31" name="Google Shape;198;p5">
                <a:extLst>
                  <a:ext uri="{FF2B5EF4-FFF2-40B4-BE49-F238E27FC236}">
                    <a16:creationId xmlns:a16="http://schemas.microsoft.com/office/drawing/2014/main" id="{D489A063-8994-3C3B-0894-61B09D3281FB}"/>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FFFFFF"/>
                    </a:solidFill>
                    <a:latin typeface="Segoe UI" pitchFamily="34" charset="0"/>
                  </a:defRPr>
                </a:pPr>
                <a:r>
                  <a:rPr lang="en-US" b="1" spc="-25" dirty="0">
                    <a:solidFill>
                      <a:srgbClr val="FFFFFF"/>
                    </a:solidFill>
                    <a:latin typeface="Segoe UI" pitchFamily="34" charset="0"/>
                    <a:ea typeface="Lato"/>
                    <a:cs typeface="Lato"/>
                    <a:sym typeface="Lato"/>
                  </a:rPr>
                  <a:t>70</a:t>
                </a:r>
                <a:endParaRPr kumimoji="0" sz="100" b="1" i="0" u="none" strike="noStrike" kern="0" cap="none" spc="-25" normalizeH="0" baseline="0" noProof="0" dirty="0">
                  <a:ln>
                    <a:noFill/>
                  </a:ln>
                  <a:solidFill>
                    <a:srgbClr val="FFFFFF"/>
                  </a:solidFill>
                  <a:effectLst/>
                  <a:uLnTx/>
                  <a:uFillTx/>
                  <a:latin typeface="Segoe UI" pitchFamily="34" charset="0"/>
                  <a:ea typeface="+mn-ea"/>
                  <a:cs typeface="Arial"/>
                  <a:sym typeface="Arial"/>
                </a:endParaRPr>
              </a:p>
            </p:txBody>
          </p:sp>
          <p:sp>
            <p:nvSpPr>
              <p:cNvPr id="32" name="Google Shape;199;p5">
                <a:extLst>
                  <a:ext uri="{FF2B5EF4-FFF2-40B4-BE49-F238E27FC236}">
                    <a16:creationId xmlns:a16="http://schemas.microsoft.com/office/drawing/2014/main" id="{8A727288-0AEE-CFE3-02B8-E0C07E5D295A}"/>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FFFFFF"/>
                    </a:solidFill>
                  </a:defRPr>
                </a:pPr>
                <a:r>
                  <a:rPr kumimoji="0" lang="en-US" sz="600" b="0" i="0" u="none" strike="noStrike" kern="0" cap="none" spc="-10" normalizeH="0" baseline="0" noProof="0" dirty="0">
                    <a:ln>
                      <a:noFill/>
                    </a:ln>
                    <a:solidFill>
                      <a:srgbClr val="FFFFFF"/>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FFFFFF"/>
                  </a:solidFill>
                  <a:effectLst/>
                  <a:uLnTx/>
                  <a:uFillTx/>
                  <a:latin typeface="Arial" pitchFamily="34" charset="0"/>
                  <a:ea typeface="+mn-ea"/>
                  <a:cs typeface="Arial"/>
                  <a:sym typeface="Arial"/>
                </a:endParaRPr>
              </a:p>
            </p:txBody>
          </p:sp>
        </p:grpSp>
        <p:sp>
          <p:nvSpPr>
            <p:cNvPr id="24" name="Google Shape;200;p5">
              <a:extLst>
                <a:ext uri="{FF2B5EF4-FFF2-40B4-BE49-F238E27FC236}">
                  <a16:creationId xmlns:a16="http://schemas.microsoft.com/office/drawing/2014/main" id="{04349FC1-E565-9F82-5079-AF9105F411F1}"/>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5" name="Google Shape;201;p5">
              <a:extLst>
                <a:ext uri="{FF2B5EF4-FFF2-40B4-BE49-F238E27FC236}">
                  <a16:creationId xmlns:a16="http://schemas.microsoft.com/office/drawing/2014/main" id="{6AAE7E47-EA87-DD70-376B-2AE5FB735478}"/>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6" name="Google Shape;202;p5">
              <a:extLst>
                <a:ext uri="{FF2B5EF4-FFF2-40B4-BE49-F238E27FC236}">
                  <a16:creationId xmlns:a16="http://schemas.microsoft.com/office/drawing/2014/main" id="{18A51463-2DE9-26F7-198F-3F19C9D5326B}"/>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27" name="Google Shape;203;p5">
              <a:extLst>
                <a:ext uri="{FF2B5EF4-FFF2-40B4-BE49-F238E27FC236}">
                  <a16:creationId xmlns:a16="http://schemas.microsoft.com/office/drawing/2014/main" id="{283EFD39-6A0D-93CF-B06A-AFB022D561BE}"/>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8" name="Google Shape;204;p5">
              <a:extLst>
                <a:ext uri="{FF2B5EF4-FFF2-40B4-BE49-F238E27FC236}">
                  <a16:creationId xmlns:a16="http://schemas.microsoft.com/office/drawing/2014/main" id="{B70E029D-8D18-B514-A08B-10B1B1730330}"/>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9" name="Google Shape;205;p5">
              <a:extLst>
                <a:ext uri="{FF2B5EF4-FFF2-40B4-BE49-F238E27FC236}">
                  <a16:creationId xmlns:a16="http://schemas.microsoft.com/office/drawing/2014/main" id="{D3D1FA2B-094F-908F-B2BF-0C66AE37543A}"/>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33" name="TextBox 32">
            <a:extLst>
              <a:ext uri="{FF2B5EF4-FFF2-40B4-BE49-F238E27FC236}">
                <a16:creationId xmlns:a16="http://schemas.microsoft.com/office/drawing/2014/main" id="{88F65A10-FAEE-89FC-205A-8755B06F6D6F}"/>
              </a:ext>
            </a:extLst>
          </p:cNvPr>
          <p:cNvSpPr txBox="1"/>
          <p:nvPr/>
        </p:nvSpPr>
        <p:spPr>
          <a:xfrm>
            <a:off x="1463420" y="6263779"/>
            <a:ext cx="4206601" cy="253916"/>
          </a:xfrm>
          <a:prstGeom prst="rect">
            <a:avLst/>
          </a:prstGeom>
          <a:noFill/>
          <a:ln>
            <a:noFill/>
          </a:ln>
        </p:spPr>
        <p:txBody>
          <a:bodyPr spcFirstLastPara="1" wrap="square" lIns="22850" tIns="22850" rIns="22850" bIns="22850" anchor="t" anchorCtr="0">
            <a:noAutofit/>
          </a:bodyPr>
          <a:lstStyle>
            <a:defPPr>
              <a:defRPr kern="0"/>
            </a:defPPr>
            <a:lvl1pPr marR="0" lvl="0" defTabSz="914400" eaLnBrk="1" fontAlgn="auto" latinLnBrk="0" hangingPunct="1">
              <a:lnSpc>
                <a:spcPct val="100000"/>
              </a:lnSpc>
              <a:spcBef>
                <a:spcPts val="0"/>
              </a:spcBef>
              <a:spcAft>
                <a:spcPts val="0"/>
              </a:spcAft>
              <a:buClrTx/>
              <a:buSzTx/>
              <a:tabLst/>
              <a:defRPr sz="1050" b="1" spc="-10">
                <a:latin typeface="Segoe UI" pitchFamily="34" charset="0"/>
                <a:ea typeface="Lato" panose="020F0502020204030203" pitchFamily="34" charset="0"/>
                <a:cs typeface="Lato" panose="020F0502020204030203" pitchFamily="34" charset="0"/>
              </a:defRPr>
            </a:lvl1pPr>
            <a:lvl2pPr marL="476250" lvl="1" indent="-228600">
              <a:buFont typeface="Arial" panose="020B0604020202020204" pitchFamily="34" charset="0"/>
              <a:buChar char="•"/>
              <a:defRPr sz="1050" kern="1200" spc="-10">
                <a:solidFill>
                  <a:prstClr val="black"/>
                </a:solidFill>
                <a:latin typeface="Arial" pitchFamily="34" charset="0"/>
                <a:ea typeface="Lato" panose="020F0502020204030203" pitchFamily="34" charset="0"/>
                <a:cs typeface="Lato" panose="020F0502020204030203" pitchFamily="34" charset="0"/>
              </a:defRPr>
            </a:lvl2pPr>
          </a:lstStyle>
          <a:p>
            <a:r>
              <a:rPr lang="en-GB" i="1" dirty="0"/>
              <a:t>Note: Success Plan actions are listed in order of relative importance</a:t>
            </a:r>
            <a:endParaRPr lang="LID4096" i="1"/>
          </a:p>
        </p:txBody>
      </p:sp>
      <p:sp>
        <p:nvSpPr>
          <p:cNvPr id="34" name="TextBox 33">
            <a:extLst>
              <a:ext uri="{FF2B5EF4-FFF2-40B4-BE49-F238E27FC236}">
                <a16:creationId xmlns:a16="http://schemas.microsoft.com/office/drawing/2014/main" id="{29940B6A-0659-342B-C5C4-73AC76EC2FE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161554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62A1-9CA4-82FE-EA57-1B4DEEFA65C2}"/>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F2620B4-D5D6-8703-6676-CA7FFC203CB0}"/>
              </a:ext>
            </a:extLst>
          </p:cNvPr>
          <p:cNvSpPr txBox="1">
            <a:spLocks noGrp="1"/>
          </p:cNvSpPr>
          <p:nvPr>
            <p:ph type="title"/>
          </p:nvPr>
        </p:nvSpPr>
        <p:spPr>
          <a:noFill/>
        </p:spPr>
        <p:txBody>
          <a:bodyPr/>
          <a:lstStyle/>
          <a:p>
            <a:pPr>
              <a:buNone/>
            </a:pPr>
            <a:r>
              <a:rPr lang="en-US"/>
              <a:t>PE / Due Diligence</a:t>
            </a:r>
          </a:p>
        </p:txBody>
      </p:sp>
    </p:spTree>
    <p:extLst>
      <p:ext uri="{BB962C8B-B14F-4D97-AF65-F5344CB8AC3E}">
        <p14:creationId xmlns:p14="http://schemas.microsoft.com/office/powerpoint/2010/main" val="2779481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F99CE-DD8D-A7BF-DC40-8DAEC52B9453}"/>
              </a:ext>
            </a:extLst>
          </p:cNvPr>
          <p:cNvSpPr>
            <a:spLocks noGrp="1"/>
          </p:cNvSpPr>
          <p:nvPr>
            <p:ph type="sldNum" sz="quarter" idx="4"/>
          </p:nvPr>
        </p:nvSpPr>
        <p:spPr/>
        <p:txBody>
          <a:bodyPr/>
          <a:lstStyle/>
          <a:p>
            <a:pPr algn="ctr"/>
            <a:fld id="{1875A764-3B06-454E-8ABA-2F6ED0EB58E9}" type="slidenum">
              <a:rPr lang="en-US" smtClean="0"/>
              <a:t>51</a:t>
            </a:fld>
            <a:endParaRPr lang="en-US"/>
          </a:p>
        </p:txBody>
      </p:sp>
      <p:sp>
        <p:nvSpPr>
          <p:cNvPr id="5" name="Title 4">
            <a:extLst>
              <a:ext uri="{FF2B5EF4-FFF2-40B4-BE49-F238E27FC236}">
                <a16:creationId xmlns:a16="http://schemas.microsoft.com/office/drawing/2014/main" id="{2BA17825-6CCD-9C92-50C7-26222039B776}"/>
              </a:ext>
            </a:extLst>
          </p:cNvPr>
          <p:cNvSpPr>
            <a:spLocks noGrp="1"/>
          </p:cNvSpPr>
          <p:nvPr>
            <p:ph type="title"/>
          </p:nvPr>
        </p:nvSpPr>
        <p:spPr/>
        <p:txBody>
          <a:bodyPr/>
          <a:lstStyle/>
          <a:p>
            <a:r>
              <a:rPr lang="en-US" spc="-25" dirty="0"/>
              <a:t>Talent to Value across </a:t>
            </a:r>
            <a:r>
              <a:rPr lang="en-US" spc="-25" dirty="0">
                <a:solidFill>
                  <a:srgbClr val="765FFF"/>
                </a:solidFill>
              </a:rPr>
              <a:t>the Deal Lifecycle</a:t>
            </a:r>
            <a:endParaRPr lang="en-US" dirty="0"/>
          </a:p>
        </p:txBody>
      </p:sp>
      <p:sp>
        <p:nvSpPr>
          <p:cNvPr id="6" name="object 7">
            <a:extLst>
              <a:ext uri="{FF2B5EF4-FFF2-40B4-BE49-F238E27FC236}">
                <a16:creationId xmlns:a16="http://schemas.microsoft.com/office/drawing/2014/main" id="{B9D3383F-3C40-DD48-58D5-12271D45BF33}"/>
              </a:ext>
            </a:extLst>
          </p:cNvPr>
          <p:cNvSpPr/>
          <p:nvPr/>
        </p:nvSpPr>
        <p:spPr>
          <a:xfrm>
            <a:off x="2560320" y="1551541"/>
            <a:ext cx="7266586" cy="868680"/>
          </a:xfrm>
          <a:custGeom>
            <a:avLst/>
            <a:gdLst/>
            <a:ahLst/>
            <a:cxnLst/>
            <a:rect l="l" t="t" r="r" b="b"/>
            <a:pathLst>
              <a:path w="7071359" h="868680">
                <a:moveTo>
                  <a:pt x="0" y="868679"/>
                </a:moveTo>
                <a:lnTo>
                  <a:pt x="7071359" y="868679"/>
                </a:lnTo>
                <a:lnTo>
                  <a:pt x="7071359" y="0"/>
                </a:lnTo>
                <a:lnTo>
                  <a:pt x="0" y="0"/>
                </a:lnTo>
                <a:lnTo>
                  <a:pt x="0" y="868679"/>
                </a:lnTo>
                <a:close/>
              </a:path>
            </a:pathLst>
          </a:custGeom>
          <a:ln w="25400">
            <a:solidFill>
              <a:srgbClr val="F2F2F2"/>
            </a:solidFill>
          </a:ln>
        </p:spPr>
        <p:txBody>
          <a:bodyPr wrap="square" lIns="0" tIns="0" rIns="0" bIns="0" rtlCol="0"/>
          <a:lstStyle/>
          <a:p>
            <a:endParaRPr dirty="0">
              <a:solidFill>
                <a:srgbClr val="281A42"/>
              </a:solidFill>
            </a:endParaRPr>
          </a:p>
        </p:txBody>
      </p:sp>
      <p:sp>
        <p:nvSpPr>
          <p:cNvPr id="7" name="object 8">
            <a:extLst>
              <a:ext uri="{FF2B5EF4-FFF2-40B4-BE49-F238E27FC236}">
                <a16:creationId xmlns:a16="http://schemas.microsoft.com/office/drawing/2014/main" id="{5A025FEF-A721-03D6-13A0-569793D2BC7A}"/>
              </a:ext>
            </a:extLst>
          </p:cNvPr>
          <p:cNvSpPr txBox="1"/>
          <p:nvPr/>
        </p:nvSpPr>
        <p:spPr>
          <a:xfrm>
            <a:off x="3084195" y="1702470"/>
            <a:ext cx="5498465" cy="566822"/>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PRE-DEAL</a:t>
            </a:r>
            <a:r>
              <a:rPr lang="en-US" sz="1800" b="1" spc="-10" dirty="0">
                <a:latin typeface="Segoe UI" pitchFamily="34" charset="0"/>
                <a:cs typeface="Calibri"/>
              </a:rPr>
              <a:t> DILIGENCE</a:t>
            </a:r>
            <a:br>
              <a:rPr lang="en-US" sz="1800" b="1" spc="-10" dirty="0">
                <a:latin typeface="Segoe UI" pitchFamily="34" charset="0"/>
                <a:cs typeface="Calibri"/>
              </a:rPr>
            </a:br>
            <a:r>
              <a:rPr lang="en-US" sz="1800" spc="-10" dirty="0">
                <a:solidFill>
                  <a:srgbClr val="765FFF"/>
                </a:solidFill>
                <a:latin typeface="Arial" pitchFamily="34" charset="0"/>
                <a:cs typeface="Calibri"/>
              </a:rPr>
              <a:t>what are leadership, transition risks?</a:t>
            </a:r>
            <a:r>
              <a:rPr lang="en-US" sz="1800" spc="-10" dirty="0">
                <a:latin typeface="Arial" pitchFamily="34" charset="0"/>
                <a:cs typeface="Calibri"/>
              </a:rPr>
              <a:t> </a:t>
            </a:r>
            <a:endParaRPr sz="1800" spc="-10" dirty="0">
              <a:latin typeface="Arial" pitchFamily="34" charset="0"/>
              <a:cs typeface="Calibri"/>
            </a:endParaRPr>
          </a:p>
        </p:txBody>
      </p:sp>
      <p:grpSp>
        <p:nvGrpSpPr>
          <p:cNvPr id="8" name="object 9">
            <a:extLst>
              <a:ext uri="{FF2B5EF4-FFF2-40B4-BE49-F238E27FC236}">
                <a16:creationId xmlns:a16="http://schemas.microsoft.com/office/drawing/2014/main" id="{1A8FD4C3-472D-DFF4-02FD-C6B019CCE5D7}"/>
              </a:ext>
            </a:extLst>
          </p:cNvPr>
          <p:cNvGrpSpPr/>
          <p:nvPr/>
        </p:nvGrpSpPr>
        <p:grpSpPr>
          <a:xfrm>
            <a:off x="2113280" y="1538841"/>
            <a:ext cx="886460" cy="894080"/>
            <a:chOff x="2421889" y="1347469"/>
            <a:chExt cx="886460" cy="894080"/>
          </a:xfrm>
          <a:solidFill>
            <a:srgbClr val="1D1D1D"/>
          </a:solidFill>
        </p:grpSpPr>
        <p:sp>
          <p:nvSpPr>
            <p:cNvPr id="9" name="object 10">
              <a:extLst>
                <a:ext uri="{FF2B5EF4-FFF2-40B4-BE49-F238E27FC236}">
                  <a16:creationId xmlns:a16="http://schemas.microsoft.com/office/drawing/2014/main" id="{37425339-7EC4-B207-6076-9BD2C66071E3}"/>
                </a:ext>
              </a:extLst>
            </p:cNvPr>
            <p:cNvSpPr/>
            <p:nvPr/>
          </p:nvSpPr>
          <p:spPr>
            <a:xfrm>
              <a:off x="2434589" y="1360169"/>
              <a:ext cx="861060" cy="868680"/>
            </a:xfrm>
            <a:custGeom>
              <a:avLst/>
              <a:gdLst/>
              <a:ahLst/>
              <a:cxnLst/>
              <a:rect l="l" t="t" r="r" b="b"/>
              <a:pathLst>
                <a:path w="861060" h="868680">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b="1" spc="-25" dirty="0">
                <a:latin typeface="Segoe UI" pitchFamily="34" charset="0"/>
              </a:endParaRPr>
            </a:p>
          </p:txBody>
        </p:sp>
        <p:sp>
          <p:nvSpPr>
            <p:cNvPr id="10" name="object 11">
              <a:extLst>
                <a:ext uri="{FF2B5EF4-FFF2-40B4-BE49-F238E27FC236}">
                  <a16:creationId xmlns:a16="http://schemas.microsoft.com/office/drawing/2014/main" id="{9DF87BE8-D1E7-A3AA-7302-9B8C7ED11CE8}"/>
                </a:ext>
              </a:extLst>
            </p:cNvPr>
            <p:cNvSpPr/>
            <p:nvPr/>
          </p:nvSpPr>
          <p:spPr>
            <a:xfrm>
              <a:off x="2434589" y="1360169"/>
              <a:ext cx="861060" cy="868680"/>
            </a:xfrm>
            <a:custGeom>
              <a:avLst/>
              <a:gdLst/>
              <a:ahLst/>
              <a:cxnLst/>
              <a:rect l="l" t="t" r="r" b="b"/>
              <a:pathLst>
                <a:path w="861060" h="868680">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b="1" spc="-25" dirty="0">
                <a:latin typeface="Segoe UI" pitchFamily="34" charset="0"/>
              </a:endParaRPr>
            </a:p>
          </p:txBody>
        </p:sp>
      </p:grpSp>
      <p:sp>
        <p:nvSpPr>
          <p:cNvPr id="11" name="object 12">
            <a:extLst>
              <a:ext uri="{FF2B5EF4-FFF2-40B4-BE49-F238E27FC236}">
                <a16:creationId xmlns:a16="http://schemas.microsoft.com/office/drawing/2014/main" id="{A1DC5BA0-A2C6-7165-D596-B963C3B4CAC4}"/>
              </a:ext>
            </a:extLst>
          </p:cNvPr>
          <p:cNvSpPr txBox="1"/>
          <p:nvPr/>
        </p:nvSpPr>
        <p:spPr>
          <a:xfrm>
            <a:off x="2458086" y="1767759"/>
            <a:ext cx="1955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1</a:t>
            </a:r>
            <a:endParaRPr sz="2400" spc="-10" dirty="0">
              <a:latin typeface="Arial" pitchFamily="34" charset="0"/>
              <a:cs typeface="Calibri"/>
            </a:endParaRPr>
          </a:p>
        </p:txBody>
      </p:sp>
      <p:sp>
        <p:nvSpPr>
          <p:cNvPr id="12" name="object 13">
            <a:extLst>
              <a:ext uri="{FF2B5EF4-FFF2-40B4-BE49-F238E27FC236}">
                <a16:creationId xmlns:a16="http://schemas.microsoft.com/office/drawing/2014/main" id="{3CD24BAB-69D3-05E6-85E8-D57766B56239}"/>
              </a:ext>
            </a:extLst>
          </p:cNvPr>
          <p:cNvSpPr/>
          <p:nvPr/>
        </p:nvSpPr>
        <p:spPr>
          <a:xfrm>
            <a:off x="2560320" y="2595482"/>
            <a:ext cx="7266586" cy="868680"/>
          </a:xfrm>
          <a:custGeom>
            <a:avLst/>
            <a:gdLst/>
            <a:ahLst/>
            <a:cxnLst/>
            <a:rect l="l" t="t" r="r" b="b"/>
            <a:pathLst>
              <a:path w="7071359" h="868679">
                <a:moveTo>
                  <a:pt x="0" y="868680"/>
                </a:moveTo>
                <a:lnTo>
                  <a:pt x="7071359" y="868680"/>
                </a:lnTo>
                <a:lnTo>
                  <a:pt x="7071359" y="0"/>
                </a:lnTo>
                <a:lnTo>
                  <a:pt x="0" y="0"/>
                </a:lnTo>
                <a:lnTo>
                  <a:pt x="0" y="868680"/>
                </a:lnTo>
                <a:close/>
              </a:path>
            </a:pathLst>
          </a:custGeom>
          <a:ln w="25400">
            <a:solidFill>
              <a:srgbClr val="F2F2F2"/>
            </a:solidFill>
          </a:ln>
        </p:spPr>
        <p:txBody>
          <a:bodyPr wrap="square" lIns="0" tIns="0" rIns="0" bIns="0" rtlCol="0"/>
          <a:lstStyle/>
          <a:p>
            <a:endParaRPr dirty="0"/>
          </a:p>
        </p:txBody>
      </p:sp>
      <p:sp>
        <p:nvSpPr>
          <p:cNvPr id="13" name="object 14">
            <a:extLst>
              <a:ext uri="{FF2B5EF4-FFF2-40B4-BE49-F238E27FC236}">
                <a16:creationId xmlns:a16="http://schemas.microsoft.com/office/drawing/2014/main" id="{3543B3C7-1636-1048-4135-A949895CED39}"/>
              </a:ext>
            </a:extLst>
          </p:cNvPr>
          <p:cNvSpPr txBox="1"/>
          <p:nvPr/>
        </p:nvSpPr>
        <p:spPr>
          <a:xfrm>
            <a:off x="3084195" y="2746411"/>
            <a:ext cx="6547484" cy="566822"/>
          </a:xfrm>
          <a:prstGeom prst="rect">
            <a:avLst/>
          </a:prstGeom>
        </p:spPr>
        <p:txBody>
          <a:bodyPr vert="horz" wrap="square" lIns="0" tIns="12700" rIns="0" bIns="0" rtlCol="0">
            <a:spAutoFit/>
          </a:bodyPr>
          <a:lstStyle/>
          <a:p>
            <a:pPr marL="12700">
              <a:lnSpc>
                <a:spcPct val="100000"/>
              </a:lnSpc>
              <a:spcBef>
                <a:spcPts val="100"/>
              </a:spcBef>
            </a:pPr>
            <a:r>
              <a:rPr b="1" spc="-10" dirty="0">
                <a:latin typeface="Segoe UI" pitchFamily="34" charset="0"/>
                <a:cs typeface="Calibri"/>
              </a:rPr>
              <a:t>DEAL CLOSE</a:t>
            </a:r>
            <a:br>
              <a:rPr lang="en-US" b="1" spc="-10" dirty="0">
                <a:latin typeface="Segoe UI" pitchFamily="34" charset="0"/>
                <a:cs typeface="Calibri"/>
              </a:rPr>
            </a:br>
            <a:r>
              <a:rPr lang="en-US" spc="-10" dirty="0">
                <a:solidFill>
                  <a:srgbClr val="765FFF"/>
                </a:solidFill>
                <a:latin typeface="Arial" pitchFamily="34" charset="0"/>
                <a:cs typeface="Calibri"/>
              </a:rPr>
              <a:t>do we have the right leader and a winning leadership team?</a:t>
            </a:r>
            <a:endParaRPr spc="-10" dirty="0">
              <a:solidFill>
                <a:srgbClr val="765FFF"/>
              </a:solidFill>
              <a:latin typeface="Arial" pitchFamily="34" charset="0"/>
              <a:cs typeface="Calibri"/>
            </a:endParaRPr>
          </a:p>
        </p:txBody>
      </p:sp>
      <p:grpSp>
        <p:nvGrpSpPr>
          <p:cNvPr id="14" name="object 15">
            <a:extLst>
              <a:ext uri="{FF2B5EF4-FFF2-40B4-BE49-F238E27FC236}">
                <a16:creationId xmlns:a16="http://schemas.microsoft.com/office/drawing/2014/main" id="{7BD5A079-5B7F-A132-FAF2-CFE0477B75A9}"/>
              </a:ext>
            </a:extLst>
          </p:cNvPr>
          <p:cNvGrpSpPr/>
          <p:nvPr/>
        </p:nvGrpSpPr>
        <p:grpSpPr>
          <a:xfrm>
            <a:off x="2113280" y="2582782"/>
            <a:ext cx="886460" cy="894080"/>
            <a:chOff x="2421889" y="2391410"/>
            <a:chExt cx="886460" cy="894080"/>
          </a:xfrm>
          <a:solidFill>
            <a:srgbClr val="1D1D1D"/>
          </a:solidFill>
        </p:grpSpPr>
        <p:sp>
          <p:nvSpPr>
            <p:cNvPr id="15" name="object 16">
              <a:extLst>
                <a:ext uri="{FF2B5EF4-FFF2-40B4-BE49-F238E27FC236}">
                  <a16:creationId xmlns:a16="http://schemas.microsoft.com/office/drawing/2014/main" id="{6A33D1DC-F389-7D56-1818-B537988B0EDE}"/>
                </a:ext>
              </a:extLst>
            </p:cNvPr>
            <p:cNvSpPr/>
            <p:nvPr/>
          </p:nvSpPr>
          <p:spPr>
            <a:xfrm>
              <a:off x="2434589" y="2404110"/>
              <a:ext cx="861060" cy="868680"/>
            </a:xfrm>
            <a:custGeom>
              <a:avLst/>
              <a:gdLst/>
              <a:ahLst/>
              <a:cxnLst/>
              <a:rect l="l" t="t" r="r" b="b"/>
              <a:pathLst>
                <a:path w="861060" h="868679">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dirty="0">
                <a:solidFill>
                  <a:srgbClr val="FFFFFF"/>
                </a:solidFill>
              </a:endParaRPr>
            </a:p>
          </p:txBody>
        </p:sp>
        <p:sp>
          <p:nvSpPr>
            <p:cNvPr id="16" name="object 17">
              <a:extLst>
                <a:ext uri="{FF2B5EF4-FFF2-40B4-BE49-F238E27FC236}">
                  <a16:creationId xmlns:a16="http://schemas.microsoft.com/office/drawing/2014/main" id="{81687260-7722-6085-9034-CC30A6435CB6}"/>
                </a:ext>
              </a:extLst>
            </p:cNvPr>
            <p:cNvSpPr/>
            <p:nvPr/>
          </p:nvSpPr>
          <p:spPr>
            <a:xfrm>
              <a:off x="2434589" y="2404110"/>
              <a:ext cx="861060" cy="868680"/>
            </a:xfrm>
            <a:custGeom>
              <a:avLst/>
              <a:gdLst/>
              <a:ahLst/>
              <a:cxnLst/>
              <a:rect l="l" t="t" r="r" b="b"/>
              <a:pathLst>
                <a:path w="861060" h="868679">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17" name="object 18">
            <a:extLst>
              <a:ext uri="{FF2B5EF4-FFF2-40B4-BE49-F238E27FC236}">
                <a16:creationId xmlns:a16="http://schemas.microsoft.com/office/drawing/2014/main" id="{2D20AE69-137B-28B3-2623-695F64D7D03D}"/>
              </a:ext>
            </a:extLst>
          </p:cNvPr>
          <p:cNvSpPr txBox="1"/>
          <p:nvPr/>
        </p:nvSpPr>
        <p:spPr>
          <a:xfrm>
            <a:off x="2458086" y="2809413"/>
            <a:ext cx="195580" cy="382156"/>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2</a:t>
            </a:r>
            <a:r>
              <a:rPr lang="en-US" sz="2400" b="1" spc="-10" dirty="0">
                <a:solidFill>
                  <a:srgbClr val="FFFFFF"/>
                </a:solidFill>
                <a:latin typeface="Segoe UI" pitchFamily="34" charset="0"/>
                <a:cs typeface="Calibri"/>
              </a:rPr>
              <a:t> </a:t>
            </a:r>
            <a:endParaRPr sz="2400" spc="-10" dirty="0">
              <a:solidFill>
                <a:srgbClr val="FFFFFF"/>
              </a:solidFill>
              <a:latin typeface="Arial" pitchFamily="34" charset="0"/>
              <a:cs typeface="Calibri"/>
            </a:endParaRPr>
          </a:p>
        </p:txBody>
      </p:sp>
      <p:sp>
        <p:nvSpPr>
          <p:cNvPr id="18" name="object 19">
            <a:extLst>
              <a:ext uri="{FF2B5EF4-FFF2-40B4-BE49-F238E27FC236}">
                <a16:creationId xmlns:a16="http://schemas.microsoft.com/office/drawing/2014/main" id="{AC091EF7-5221-DC7A-77EA-AA977D8B38C3}"/>
              </a:ext>
            </a:extLst>
          </p:cNvPr>
          <p:cNvSpPr/>
          <p:nvPr/>
        </p:nvSpPr>
        <p:spPr>
          <a:xfrm>
            <a:off x="2560320" y="3639422"/>
            <a:ext cx="7266586" cy="861060"/>
          </a:xfrm>
          <a:custGeom>
            <a:avLst/>
            <a:gdLst/>
            <a:ahLst/>
            <a:cxnLst/>
            <a:rect l="l" t="t" r="r" b="b"/>
            <a:pathLst>
              <a:path w="7071359" h="861060">
                <a:moveTo>
                  <a:pt x="0" y="861060"/>
                </a:moveTo>
                <a:lnTo>
                  <a:pt x="7071359" y="861060"/>
                </a:lnTo>
                <a:lnTo>
                  <a:pt x="7071359" y="0"/>
                </a:lnTo>
                <a:lnTo>
                  <a:pt x="0" y="0"/>
                </a:lnTo>
                <a:lnTo>
                  <a:pt x="0" y="861060"/>
                </a:lnTo>
                <a:close/>
              </a:path>
            </a:pathLst>
          </a:custGeom>
          <a:ln w="25399">
            <a:solidFill>
              <a:srgbClr val="F2F2F2"/>
            </a:solidFill>
          </a:ln>
        </p:spPr>
        <p:txBody>
          <a:bodyPr wrap="square" lIns="0" tIns="0" rIns="0" bIns="0" rtlCol="0"/>
          <a:lstStyle/>
          <a:p>
            <a:endParaRPr dirty="0"/>
          </a:p>
        </p:txBody>
      </p:sp>
      <p:sp>
        <p:nvSpPr>
          <p:cNvPr id="19" name="object 20">
            <a:extLst>
              <a:ext uri="{FF2B5EF4-FFF2-40B4-BE49-F238E27FC236}">
                <a16:creationId xmlns:a16="http://schemas.microsoft.com/office/drawing/2014/main" id="{34EA09C4-BE08-1B12-A322-6EFFA48C0066}"/>
              </a:ext>
            </a:extLst>
          </p:cNvPr>
          <p:cNvSpPr txBox="1"/>
          <p:nvPr/>
        </p:nvSpPr>
        <p:spPr>
          <a:xfrm>
            <a:off x="3084195" y="3780129"/>
            <a:ext cx="6547484" cy="579646"/>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HOLD PERIOD</a:t>
            </a:r>
            <a:endParaRPr lang="en-US" b="1" spc="-10" dirty="0">
              <a:latin typeface="Segoe UI" pitchFamily="34" charset="0"/>
              <a:cs typeface="Calibri"/>
            </a:endParaRPr>
          </a:p>
          <a:p>
            <a:pPr marL="12700">
              <a:lnSpc>
                <a:spcPct val="100000"/>
              </a:lnSpc>
              <a:spcBef>
                <a:spcPts val="100"/>
              </a:spcBef>
            </a:pPr>
            <a:r>
              <a:rPr lang="en-US" spc="-10" dirty="0">
                <a:solidFill>
                  <a:srgbClr val="765FFF"/>
                </a:solidFill>
                <a:latin typeface="Arial" pitchFamily="34" charset="0"/>
                <a:cs typeface="Calibri"/>
              </a:rPr>
              <a:t>h</a:t>
            </a:r>
            <a:r>
              <a:rPr lang="en-US" sz="1800" spc="-10" dirty="0">
                <a:solidFill>
                  <a:srgbClr val="765FFF"/>
                </a:solidFill>
                <a:latin typeface="Arial" pitchFamily="34" charset="0"/>
                <a:cs typeface="Calibri"/>
              </a:rPr>
              <a:t>ow can we accelerate time to value? reduce volatility of returns?</a:t>
            </a:r>
            <a:endParaRPr sz="1800" spc="-10" dirty="0">
              <a:solidFill>
                <a:srgbClr val="765FFF"/>
              </a:solidFill>
              <a:latin typeface="Arial" pitchFamily="34" charset="0"/>
              <a:cs typeface="Calibri"/>
            </a:endParaRPr>
          </a:p>
        </p:txBody>
      </p:sp>
      <p:grpSp>
        <p:nvGrpSpPr>
          <p:cNvPr id="20" name="object 21">
            <a:extLst>
              <a:ext uri="{FF2B5EF4-FFF2-40B4-BE49-F238E27FC236}">
                <a16:creationId xmlns:a16="http://schemas.microsoft.com/office/drawing/2014/main" id="{1B61A3F3-0844-AD3F-CCFB-EC5555D475F7}"/>
              </a:ext>
            </a:extLst>
          </p:cNvPr>
          <p:cNvGrpSpPr/>
          <p:nvPr/>
        </p:nvGrpSpPr>
        <p:grpSpPr>
          <a:xfrm>
            <a:off x="2113280" y="3626722"/>
            <a:ext cx="886460" cy="886460"/>
            <a:chOff x="2421889" y="3435350"/>
            <a:chExt cx="886460" cy="886460"/>
          </a:xfrm>
          <a:solidFill>
            <a:srgbClr val="1D1D1D"/>
          </a:solidFill>
        </p:grpSpPr>
        <p:sp>
          <p:nvSpPr>
            <p:cNvPr id="21" name="object 22">
              <a:extLst>
                <a:ext uri="{FF2B5EF4-FFF2-40B4-BE49-F238E27FC236}">
                  <a16:creationId xmlns:a16="http://schemas.microsoft.com/office/drawing/2014/main" id="{4CDE3B03-81D3-14BA-DEB5-BD0E23FEEAA1}"/>
                </a:ext>
              </a:extLst>
            </p:cNvPr>
            <p:cNvSpPr/>
            <p:nvPr/>
          </p:nvSpPr>
          <p:spPr>
            <a:xfrm>
              <a:off x="2434589" y="3448050"/>
              <a:ext cx="861060" cy="861060"/>
            </a:xfrm>
            <a:custGeom>
              <a:avLst/>
              <a:gdLst/>
              <a:ahLst/>
              <a:cxnLst/>
              <a:rect l="l" t="t" r="r" b="b"/>
              <a:pathLst>
                <a:path w="861060" h="861060">
                  <a:moveTo>
                    <a:pt x="430530" y="0"/>
                  </a:moveTo>
                  <a:lnTo>
                    <a:pt x="383624" y="2526"/>
                  </a:lnTo>
                  <a:lnTo>
                    <a:pt x="338180" y="9931"/>
                  </a:lnTo>
                  <a:lnTo>
                    <a:pt x="294461" y="21951"/>
                  </a:lnTo>
                  <a:lnTo>
                    <a:pt x="252729" y="38324"/>
                  </a:lnTo>
                  <a:lnTo>
                    <a:pt x="213247" y="58786"/>
                  </a:lnTo>
                  <a:lnTo>
                    <a:pt x="176278" y="83076"/>
                  </a:lnTo>
                  <a:lnTo>
                    <a:pt x="142084" y="110929"/>
                  </a:lnTo>
                  <a:lnTo>
                    <a:pt x="110929" y="142084"/>
                  </a:lnTo>
                  <a:lnTo>
                    <a:pt x="83076" y="176278"/>
                  </a:lnTo>
                  <a:lnTo>
                    <a:pt x="58786" y="213247"/>
                  </a:lnTo>
                  <a:lnTo>
                    <a:pt x="38324" y="252729"/>
                  </a:lnTo>
                  <a:lnTo>
                    <a:pt x="21951" y="294461"/>
                  </a:lnTo>
                  <a:lnTo>
                    <a:pt x="9931" y="338180"/>
                  </a:lnTo>
                  <a:lnTo>
                    <a:pt x="2526" y="383624"/>
                  </a:lnTo>
                  <a:lnTo>
                    <a:pt x="0" y="430530"/>
                  </a:lnTo>
                  <a:lnTo>
                    <a:pt x="2526" y="477435"/>
                  </a:lnTo>
                  <a:lnTo>
                    <a:pt x="9931" y="522879"/>
                  </a:lnTo>
                  <a:lnTo>
                    <a:pt x="21951" y="566598"/>
                  </a:lnTo>
                  <a:lnTo>
                    <a:pt x="38324" y="608330"/>
                  </a:lnTo>
                  <a:lnTo>
                    <a:pt x="58786" y="647812"/>
                  </a:lnTo>
                  <a:lnTo>
                    <a:pt x="83076" y="684781"/>
                  </a:lnTo>
                  <a:lnTo>
                    <a:pt x="110929" y="718975"/>
                  </a:lnTo>
                  <a:lnTo>
                    <a:pt x="142084" y="750130"/>
                  </a:lnTo>
                  <a:lnTo>
                    <a:pt x="176278" y="777983"/>
                  </a:lnTo>
                  <a:lnTo>
                    <a:pt x="213247" y="802273"/>
                  </a:lnTo>
                  <a:lnTo>
                    <a:pt x="252729" y="822735"/>
                  </a:lnTo>
                  <a:lnTo>
                    <a:pt x="294461" y="839108"/>
                  </a:lnTo>
                  <a:lnTo>
                    <a:pt x="338180" y="851128"/>
                  </a:lnTo>
                  <a:lnTo>
                    <a:pt x="383624" y="858533"/>
                  </a:lnTo>
                  <a:lnTo>
                    <a:pt x="430530" y="861060"/>
                  </a:lnTo>
                  <a:lnTo>
                    <a:pt x="477435" y="858533"/>
                  </a:lnTo>
                  <a:lnTo>
                    <a:pt x="522879" y="851128"/>
                  </a:lnTo>
                  <a:lnTo>
                    <a:pt x="566598" y="839108"/>
                  </a:lnTo>
                  <a:lnTo>
                    <a:pt x="608330" y="822735"/>
                  </a:lnTo>
                  <a:lnTo>
                    <a:pt x="647812" y="802273"/>
                  </a:lnTo>
                  <a:lnTo>
                    <a:pt x="684781" y="777983"/>
                  </a:lnTo>
                  <a:lnTo>
                    <a:pt x="718975" y="750130"/>
                  </a:lnTo>
                  <a:lnTo>
                    <a:pt x="750130" y="718975"/>
                  </a:lnTo>
                  <a:lnTo>
                    <a:pt x="777983" y="684781"/>
                  </a:lnTo>
                  <a:lnTo>
                    <a:pt x="802273" y="647812"/>
                  </a:lnTo>
                  <a:lnTo>
                    <a:pt x="822735" y="608330"/>
                  </a:lnTo>
                  <a:lnTo>
                    <a:pt x="839108" y="566598"/>
                  </a:lnTo>
                  <a:lnTo>
                    <a:pt x="851128" y="522879"/>
                  </a:lnTo>
                  <a:lnTo>
                    <a:pt x="858533" y="477435"/>
                  </a:lnTo>
                  <a:lnTo>
                    <a:pt x="861060" y="430530"/>
                  </a:lnTo>
                  <a:lnTo>
                    <a:pt x="858533" y="383624"/>
                  </a:lnTo>
                  <a:lnTo>
                    <a:pt x="851128" y="338180"/>
                  </a:lnTo>
                  <a:lnTo>
                    <a:pt x="839108" y="294461"/>
                  </a:lnTo>
                  <a:lnTo>
                    <a:pt x="822735" y="252729"/>
                  </a:lnTo>
                  <a:lnTo>
                    <a:pt x="802273" y="213247"/>
                  </a:lnTo>
                  <a:lnTo>
                    <a:pt x="777983" y="176278"/>
                  </a:lnTo>
                  <a:lnTo>
                    <a:pt x="750130" y="142084"/>
                  </a:lnTo>
                  <a:lnTo>
                    <a:pt x="718975" y="110929"/>
                  </a:lnTo>
                  <a:lnTo>
                    <a:pt x="684781" y="83076"/>
                  </a:lnTo>
                  <a:lnTo>
                    <a:pt x="647812" y="58786"/>
                  </a:lnTo>
                  <a:lnTo>
                    <a:pt x="608330" y="38324"/>
                  </a:lnTo>
                  <a:lnTo>
                    <a:pt x="566598" y="21951"/>
                  </a:lnTo>
                  <a:lnTo>
                    <a:pt x="522879" y="9931"/>
                  </a:lnTo>
                  <a:lnTo>
                    <a:pt x="477435" y="2526"/>
                  </a:lnTo>
                  <a:lnTo>
                    <a:pt x="430530" y="0"/>
                  </a:lnTo>
                  <a:close/>
                </a:path>
              </a:pathLst>
            </a:custGeom>
            <a:grpFill/>
          </p:spPr>
          <p:txBody>
            <a:bodyPr wrap="square" lIns="0" tIns="0" rIns="0" bIns="0" rtlCol="0"/>
            <a:lstStyle/>
            <a:p>
              <a:endParaRPr dirty="0">
                <a:solidFill>
                  <a:srgbClr val="FFFFFF"/>
                </a:solidFill>
              </a:endParaRPr>
            </a:p>
          </p:txBody>
        </p:sp>
        <p:sp>
          <p:nvSpPr>
            <p:cNvPr id="22" name="object 23">
              <a:extLst>
                <a:ext uri="{FF2B5EF4-FFF2-40B4-BE49-F238E27FC236}">
                  <a16:creationId xmlns:a16="http://schemas.microsoft.com/office/drawing/2014/main" id="{8208134B-FE9F-68D3-D2AE-E51DF0C7E297}"/>
                </a:ext>
              </a:extLst>
            </p:cNvPr>
            <p:cNvSpPr/>
            <p:nvPr/>
          </p:nvSpPr>
          <p:spPr>
            <a:xfrm>
              <a:off x="2434589" y="3448050"/>
              <a:ext cx="861060" cy="861060"/>
            </a:xfrm>
            <a:custGeom>
              <a:avLst/>
              <a:gdLst/>
              <a:ahLst/>
              <a:cxnLst/>
              <a:rect l="l" t="t" r="r" b="b"/>
              <a:pathLst>
                <a:path w="861060" h="861060">
                  <a:moveTo>
                    <a:pt x="0" y="430530"/>
                  </a:moveTo>
                  <a:lnTo>
                    <a:pt x="2526" y="383624"/>
                  </a:lnTo>
                  <a:lnTo>
                    <a:pt x="9931" y="338180"/>
                  </a:lnTo>
                  <a:lnTo>
                    <a:pt x="21951" y="294461"/>
                  </a:lnTo>
                  <a:lnTo>
                    <a:pt x="38324" y="252729"/>
                  </a:lnTo>
                  <a:lnTo>
                    <a:pt x="58786" y="213247"/>
                  </a:lnTo>
                  <a:lnTo>
                    <a:pt x="83076" y="176278"/>
                  </a:lnTo>
                  <a:lnTo>
                    <a:pt x="110929" y="142084"/>
                  </a:lnTo>
                  <a:lnTo>
                    <a:pt x="142084" y="110929"/>
                  </a:lnTo>
                  <a:lnTo>
                    <a:pt x="176278" y="83076"/>
                  </a:lnTo>
                  <a:lnTo>
                    <a:pt x="213247" y="58786"/>
                  </a:lnTo>
                  <a:lnTo>
                    <a:pt x="252729" y="38324"/>
                  </a:lnTo>
                  <a:lnTo>
                    <a:pt x="294461" y="21951"/>
                  </a:lnTo>
                  <a:lnTo>
                    <a:pt x="338180" y="9931"/>
                  </a:lnTo>
                  <a:lnTo>
                    <a:pt x="383624" y="2526"/>
                  </a:lnTo>
                  <a:lnTo>
                    <a:pt x="430530" y="0"/>
                  </a:lnTo>
                  <a:lnTo>
                    <a:pt x="477435" y="2526"/>
                  </a:lnTo>
                  <a:lnTo>
                    <a:pt x="522879" y="9931"/>
                  </a:lnTo>
                  <a:lnTo>
                    <a:pt x="566598" y="21951"/>
                  </a:lnTo>
                  <a:lnTo>
                    <a:pt x="608330" y="38324"/>
                  </a:lnTo>
                  <a:lnTo>
                    <a:pt x="647812" y="58786"/>
                  </a:lnTo>
                  <a:lnTo>
                    <a:pt x="684781" y="83076"/>
                  </a:lnTo>
                  <a:lnTo>
                    <a:pt x="718975" y="110929"/>
                  </a:lnTo>
                  <a:lnTo>
                    <a:pt x="750130" y="142084"/>
                  </a:lnTo>
                  <a:lnTo>
                    <a:pt x="777983" y="176278"/>
                  </a:lnTo>
                  <a:lnTo>
                    <a:pt x="802273" y="213247"/>
                  </a:lnTo>
                  <a:lnTo>
                    <a:pt x="822735" y="252729"/>
                  </a:lnTo>
                  <a:lnTo>
                    <a:pt x="839108" y="294461"/>
                  </a:lnTo>
                  <a:lnTo>
                    <a:pt x="851128" y="338180"/>
                  </a:lnTo>
                  <a:lnTo>
                    <a:pt x="858533" y="383624"/>
                  </a:lnTo>
                  <a:lnTo>
                    <a:pt x="861060" y="430530"/>
                  </a:lnTo>
                  <a:lnTo>
                    <a:pt x="858533" y="477435"/>
                  </a:lnTo>
                  <a:lnTo>
                    <a:pt x="851128" y="522879"/>
                  </a:lnTo>
                  <a:lnTo>
                    <a:pt x="839108" y="566598"/>
                  </a:lnTo>
                  <a:lnTo>
                    <a:pt x="822735" y="608330"/>
                  </a:lnTo>
                  <a:lnTo>
                    <a:pt x="802273" y="647812"/>
                  </a:lnTo>
                  <a:lnTo>
                    <a:pt x="777983" y="684781"/>
                  </a:lnTo>
                  <a:lnTo>
                    <a:pt x="750130" y="718975"/>
                  </a:lnTo>
                  <a:lnTo>
                    <a:pt x="718975" y="750130"/>
                  </a:lnTo>
                  <a:lnTo>
                    <a:pt x="684781" y="777983"/>
                  </a:lnTo>
                  <a:lnTo>
                    <a:pt x="647812" y="802273"/>
                  </a:lnTo>
                  <a:lnTo>
                    <a:pt x="608330" y="822735"/>
                  </a:lnTo>
                  <a:lnTo>
                    <a:pt x="566598" y="839108"/>
                  </a:lnTo>
                  <a:lnTo>
                    <a:pt x="522879" y="851128"/>
                  </a:lnTo>
                  <a:lnTo>
                    <a:pt x="477435" y="858533"/>
                  </a:lnTo>
                  <a:lnTo>
                    <a:pt x="430530" y="861060"/>
                  </a:lnTo>
                  <a:lnTo>
                    <a:pt x="383624" y="858533"/>
                  </a:lnTo>
                  <a:lnTo>
                    <a:pt x="338180" y="851128"/>
                  </a:lnTo>
                  <a:lnTo>
                    <a:pt x="294461" y="839108"/>
                  </a:lnTo>
                  <a:lnTo>
                    <a:pt x="252729" y="822735"/>
                  </a:lnTo>
                  <a:lnTo>
                    <a:pt x="213247" y="802273"/>
                  </a:lnTo>
                  <a:lnTo>
                    <a:pt x="176278" y="777983"/>
                  </a:lnTo>
                  <a:lnTo>
                    <a:pt x="142084" y="750130"/>
                  </a:lnTo>
                  <a:lnTo>
                    <a:pt x="110929" y="718975"/>
                  </a:lnTo>
                  <a:lnTo>
                    <a:pt x="83076" y="684781"/>
                  </a:lnTo>
                  <a:lnTo>
                    <a:pt x="58786" y="647812"/>
                  </a:lnTo>
                  <a:lnTo>
                    <a:pt x="38324" y="608330"/>
                  </a:lnTo>
                  <a:lnTo>
                    <a:pt x="21951" y="566598"/>
                  </a:lnTo>
                  <a:lnTo>
                    <a:pt x="9931" y="522879"/>
                  </a:lnTo>
                  <a:lnTo>
                    <a:pt x="2526" y="477435"/>
                  </a:lnTo>
                  <a:lnTo>
                    <a:pt x="0" y="430530"/>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23" name="object 24">
            <a:extLst>
              <a:ext uri="{FF2B5EF4-FFF2-40B4-BE49-F238E27FC236}">
                <a16:creationId xmlns:a16="http://schemas.microsoft.com/office/drawing/2014/main" id="{6C0E37CB-8F60-2388-9E48-B47D892CEC31}"/>
              </a:ext>
            </a:extLst>
          </p:cNvPr>
          <p:cNvSpPr txBox="1"/>
          <p:nvPr/>
        </p:nvSpPr>
        <p:spPr>
          <a:xfrm>
            <a:off x="2458086" y="3851448"/>
            <a:ext cx="195580" cy="391795"/>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3</a:t>
            </a:r>
            <a:endParaRPr sz="2400" spc="-10" dirty="0">
              <a:solidFill>
                <a:srgbClr val="FFFFFF"/>
              </a:solidFill>
              <a:latin typeface="Arial" pitchFamily="34" charset="0"/>
              <a:cs typeface="Calibri"/>
            </a:endParaRPr>
          </a:p>
        </p:txBody>
      </p:sp>
      <p:sp>
        <p:nvSpPr>
          <p:cNvPr id="24" name="object 25">
            <a:extLst>
              <a:ext uri="{FF2B5EF4-FFF2-40B4-BE49-F238E27FC236}">
                <a16:creationId xmlns:a16="http://schemas.microsoft.com/office/drawing/2014/main" id="{40FB07E5-34FD-C193-1E37-1F7A421B8D2A}"/>
              </a:ext>
            </a:extLst>
          </p:cNvPr>
          <p:cNvSpPr/>
          <p:nvPr/>
        </p:nvSpPr>
        <p:spPr>
          <a:xfrm>
            <a:off x="2560320" y="4675742"/>
            <a:ext cx="7266586" cy="868680"/>
          </a:xfrm>
          <a:custGeom>
            <a:avLst/>
            <a:gdLst/>
            <a:ahLst/>
            <a:cxnLst/>
            <a:rect l="l" t="t" r="r" b="b"/>
            <a:pathLst>
              <a:path w="7071359" h="868679">
                <a:moveTo>
                  <a:pt x="0" y="868679"/>
                </a:moveTo>
                <a:lnTo>
                  <a:pt x="7071359" y="868679"/>
                </a:lnTo>
                <a:lnTo>
                  <a:pt x="7071359" y="0"/>
                </a:lnTo>
                <a:lnTo>
                  <a:pt x="0" y="0"/>
                </a:lnTo>
                <a:lnTo>
                  <a:pt x="0" y="868679"/>
                </a:lnTo>
                <a:close/>
              </a:path>
            </a:pathLst>
          </a:custGeom>
          <a:ln w="25400">
            <a:solidFill>
              <a:srgbClr val="F2F2F2"/>
            </a:solidFill>
          </a:ln>
        </p:spPr>
        <p:txBody>
          <a:bodyPr wrap="square" lIns="0" tIns="0" rIns="0" bIns="0" rtlCol="0"/>
          <a:lstStyle/>
          <a:p>
            <a:endParaRPr dirty="0"/>
          </a:p>
        </p:txBody>
      </p:sp>
      <p:sp>
        <p:nvSpPr>
          <p:cNvPr id="25" name="object 26">
            <a:extLst>
              <a:ext uri="{FF2B5EF4-FFF2-40B4-BE49-F238E27FC236}">
                <a16:creationId xmlns:a16="http://schemas.microsoft.com/office/drawing/2014/main" id="{E2214092-199B-1EE2-87F5-A8F9CA41A2FB}"/>
              </a:ext>
            </a:extLst>
          </p:cNvPr>
          <p:cNvSpPr txBox="1"/>
          <p:nvPr/>
        </p:nvSpPr>
        <p:spPr>
          <a:xfrm>
            <a:off x="3084195" y="4805715"/>
            <a:ext cx="4962525" cy="566822"/>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Segoe UI" pitchFamily="34" charset="0"/>
                <a:cs typeface="Calibri"/>
              </a:rPr>
              <a:t>EXIT</a:t>
            </a:r>
            <a:r>
              <a:rPr lang="en-US" sz="1800" b="1" spc="-10" dirty="0">
                <a:latin typeface="Segoe UI" pitchFamily="34" charset="0"/>
                <a:cs typeface="Calibri"/>
              </a:rPr>
              <a:t> VENDOR DUE DILIGENCE</a:t>
            </a:r>
            <a:br>
              <a:rPr lang="en-US" b="1" spc="-10" dirty="0">
                <a:latin typeface="Segoe UI" pitchFamily="34" charset="0"/>
                <a:cs typeface="Calibri"/>
              </a:rPr>
            </a:br>
            <a:r>
              <a:rPr lang="en-US" spc="-10" dirty="0">
                <a:solidFill>
                  <a:srgbClr val="765FFF"/>
                </a:solidFill>
                <a:latin typeface="Arial" pitchFamily="34" charset="0"/>
                <a:cs typeface="Calibri"/>
              </a:rPr>
              <a:t>how can we </a:t>
            </a:r>
            <a:r>
              <a:rPr lang="en-US" sz="1800" spc="-10" dirty="0">
                <a:solidFill>
                  <a:srgbClr val="765FFF"/>
                </a:solidFill>
                <a:latin typeface="Arial" pitchFamily="34" charset="0"/>
                <a:cs typeface="Calibri"/>
              </a:rPr>
              <a:t>improve our value realization?</a:t>
            </a:r>
            <a:endParaRPr sz="1800" spc="-10" dirty="0">
              <a:solidFill>
                <a:srgbClr val="765FFF"/>
              </a:solidFill>
              <a:latin typeface="Arial" pitchFamily="34" charset="0"/>
              <a:cs typeface="Calibri"/>
            </a:endParaRPr>
          </a:p>
        </p:txBody>
      </p:sp>
      <p:grpSp>
        <p:nvGrpSpPr>
          <p:cNvPr id="26" name="object 27">
            <a:extLst>
              <a:ext uri="{FF2B5EF4-FFF2-40B4-BE49-F238E27FC236}">
                <a16:creationId xmlns:a16="http://schemas.microsoft.com/office/drawing/2014/main" id="{2657353E-864A-13C4-9A49-A2A05EC6D454}"/>
              </a:ext>
            </a:extLst>
          </p:cNvPr>
          <p:cNvGrpSpPr/>
          <p:nvPr/>
        </p:nvGrpSpPr>
        <p:grpSpPr>
          <a:xfrm>
            <a:off x="2113280" y="4663042"/>
            <a:ext cx="886460" cy="894080"/>
            <a:chOff x="2421889" y="4471670"/>
            <a:chExt cx="886460" cy="894080"/>
          </a:xfrm>
          <a:solidFill>
            <a:srgbClr val="1D1D1D"/>
          </a:solidFill>
        </p:grpSpPr>
        <p:sp>
          <p:nvSpPr>
            <p:cNvPr id="27" name="object 28">
              <a:extLst>
                <a:ext uri="{FF2B5EF4-FFF2-40B4-BE49-F238E27FC236}">
                  <a16:creationId xmlns:a16="http://schemas.microsoft.com/office/drawing/2014/main" id="{F882C1DB-725F-3613-2BD4-A44F81874CFC}"/>
                </a:ext>
              </a:extLst>
            </p:cNvPr>
            <p:cNvSpPr/>
            <p:nvPr/>
          </p:nvSpPr>
          <p:spPr>
            <a:xfrm>
              <a:off x="2434589" y="4484370"/>
              <a:ext cx="861060" cy="868680"/>
            </a:xfrm>
            <a:custGeom>
              <a:avLst/>
              <a:gdLst/>
              <a:ahLst/>
              <a:cxnLst/>
              <a:rect l="l" t="t" r="r" b="b"/>
              <a:pathLst>
                <a:path w="861060" h="868679">
                  <a:moveTo>
                    <a:pt x="430530" y="0"/>
                  </a:moveTo>
                  <a:lnTo>
                    <a:pt x="383624" y="2548"/>
                  </a:lnTo>
                  <a:lnTo>
                    <a:pt x="338180" y="10016"/>
                  </a:lnTo>
                  <a:lnTo>
                    <a:pt x="294461" y="22140"/>
                  </a:lnTo>
                  <a:lnTo>
                    <a:pt x="252729" y="38654"/>
                  </a:lnTo>
                  <a:lnTo>
                    <a:pt x="213247" y="59294"/>
                  </a:lnTo>
                  <a:lnTo>
                    <a:pt x="176278" y="83795"/>
                  </a:lnTo>
                  <a:lnTo>
                    <a:pt x="142084" y="111892"/>
                  </a:lnTo>
                  <a:lnTo>
                    <a:pt x="110929" y="143320"/>
                  </a:lnTo>
                  <a:lnTo>
                    <a:pt x="83076" y="177814"/>
                  </a:lnTo>
                  <a:lnTo>
                    <a:pt x="58786" y="215109"/>
                  </a:lnTo>
                  <a:lnTo>
                    <a:pt x="38324" y="254941"/>
                  </a:lnTo>
                  <a:lnTo>
                    <a:pt x="21951" y="297045"/>
                  </a:lnTo>
                  <a:lnTo>
                    <a:pt x="9931" y="341156"/>
                  </a:lnTo>
                  <a:lnTo>
                    <a:pt x="2526" y="387009"/>
                  </a:lnTo>
                  <a:lnTo>
                    <a:pt x="0" y="434339"/>
                  </a:lnTo>
                  <a:lnTo>
                    <a:pt x="2526" y="481670"/>
                  </a:lnTo>
                  <a:lnTo>
                    <a:pt x="9931" y="527523"/>
                  </a:lnTo>
                  <a:lnTo>
                    <a:pt x="21951" y="571634"/>
                  </a:lnTo>
                  <a:lnTo>
                    <a:pt x="38324" y="613738"/>
                  </a:lnTo>
                  <a:lnTo>
                    <a:pt x="58786" y="653570"/>
                  </a:lnTo>
                  <a:lnTo>
                    <a:pt x="83076" y="690865"/>
                  </a:lnTo>
                  <a:lnTo>
                    <a:pt x="110929" y="725359"/>
                  </a:lnTo>
                  <a:lnTo>
                    <a:pt x="142084" y="756787"/>
                  </a:lnTo>
                  <a:lnTo>
                    <a:pt x="176278" y="784884"/>
                  </a:lnTo>
                  <a:lnTo>
                    <a:pt x="213247" y="809385"/>
                  </a:lnTo>
                  <a:lnTo>
                    <a:pt x="252729" y="830025"/>
                  </a:lnTo>
                  <a:lnTo>
                    <a:pt x="294461" y="846539"/>
                  </a:lnTo>
                  <a:lnTo>
                    <a:pt x="338180" y="858663"/>
                  </a:lnTo>
                  <a:lnTo>
                    <a:pt x="383624" y="866131"/>
                  </a:lnTo>
                  <a:lnTo>
                    <a:pt x="430530" y="868679"/>
                  </a:lnTo>
                  <a:lnTo>
                    <a:pt x="477435" y="866131"/>
                  </a:lnTo>
                  <a:lnTo>
                    <a:pt x="522879" y="858663"/>
                  </a:lnTo>
                  <a:lnTo>
                    <a:pt x="566598" y="846539"/>
                  </a:lnTo>
                  <a:lnTo>
                    <a:pt x="608330" y="830025"/>
                  </a:lnTo>
                  <a:lnTo>
                    <a:pt x="647812" y="809385"/>
                  </a:lnTo>
                  <a:lnTo>
                    <a:pt x="684781" y="784884"/>
                  </a:lnTo>
                  <a:lnTo>
                    <a:pt x="718975" y="756787"/>
                  </a:lnTo>
                  <a:lnTo>
                    <a:pt x="750130" y="725359"/>
                  </a:lnTo>
                  <a:lnTo>
                    <a:pt x="777983" y="690865"/>
                  </a:lnTo>
                  <a:lnTo>
                    <a:pt x="802273" y="653570"/>
                  </a:lnTo>
                  <a:lnTo>
                    <a:pt x="822735" y="613738"/>
                  </a:lnTo>
                  <a:lnTo>
                    <a:pt x="839108" y="571634"/>
                  </a:lnTo>
                  <a:lnTo>
                    <a:pt x="851128" y="527523"/>
                  </a:lnTo>
                  <a:lnTo>
                    <a:pt x="858533" y="481670"/>
                  </a:lnTo>
                  <a:lnTo>
                    <a:pt x="861060" y="434339"/>
                  </a:lnTo>
                  <a:lnTo>
                    <a:pt x="858533" y="387009"/>
                  </a:lnTo>
                  <a:lnTo>
                    <a:pt x="851128" y="341156"/>
                  </a:lnTo>
                  <a:lnTo>
                    <a:pt x="839108" y="297045"/>
                  </a:lnTo>
                  <a:lnTo>
                    <a:pt x="822735" y="254941"/>
                  </a:lnTo>
                  <a:lnTo>
                    <a:pt x="802273" y="215109"/>
                  </a:lnTo>
                  <a:lnTo>
                    <a:pt x="777983" y="177814"/>
                  </a:lnTo>
                  <a:lnTo>
                    <a:pt x="750130" y="143320"/>
                  </a:lnTo>
                  <a:lnTo>
                    <a:pt x="718975" y="111892"/>
                  </a:lnTo>
                  <a:lnTo>
                    <a:pt x="684781" y="83795"/>
                  </a:lnTo>
                  <a:lnTo>
                    <a:pt x="647812" y="59294"/>
                  </a:lnTo>
                  <a:lnTo>
                    <a:pt x="608330" y="38654"/>
                  </a:lnTo>
                  <a:lnTo>
                    <a:pt x="566598" y="22140"/>
                  </a:lnTo>
                  <a:lnTo>
                    <a:pt x="522879" y="10016"/>
                  </a:lnTo>
                  <a:lnTo>
                    <a:pt x="477435" y="2548"/>
                  </a:lnTo>
                  <a:lnTo>
                    <a:pt x="430530" y="0"/>
                  </a:lnTo>
                  <a:close/>
                </a:path>
              </a:pathLst>
            </a:custGeom>
            <a:grpFill/>
          </p:spPr>
          <p:txBody>
            <a:bodyPr wrap="square" lIns="0" tIns="0" rIns="0" bIns="0" rtlCol="0"/>
            <a:lstStyle/>
            <a:p>
              <a:endParaRPr dirty="0">
                <a:solidFill>
                  <a:srgbClr val="FFFFFF"/>
                </a:solidFill>
              </a:endParaRPr>
            </a:p>
          </p:txBody>
        </p:sp>
        <p:sp>
          <p:nvSpPr>
            <p:cNvPr id="28" name="object 29">
              <a:extLst>
                <a:ext uri="{FF2B5EF4-FFF2-40B4-BE49-F238E27FC236}">
                  <a16:creationId xmlns:a16="http://schemas.microsoft.com/office/drawing/2014/main" id="{F853AFB9-189F-6F3F-6ACF-87D3EEBE21F1}"/>
                </a:ext>
              </a:extLst>
            </p:cNvPr>
            <p:cNvSpPr/>
            <p:nvPr/>
          </p:nvSpPr>
          <p:spPr>
            <a:xfrm>
              <a:off x="2434589" y="4484370"/>
              <a:ext cx="861060" cy="868680"/>
            </a:xfrm>
            <a:custGeom>
              <a:avLst/>
              <a:gdLst/>
              <a:ahLst/>
              <a:cxnLst/>
              <a:rect l="l" t="t" r="r" b="b"/>
              <a:pathLst>
                <a:path w="861060" h="868679">
                  <a:moveTo>
                    <a:pt x="0" y="434339"/>
                  </a:moveTo>
                  <a:lnTo>
                    <a:pt x="2526" y="387009"/>
                  </a:lnTo>
                  <a:lnTo>
                    <a:pt x="9931" y="341156"/>
                  </a:lnTo>
                  <a:lnTo>
                    <a:pt x="21951" y="297045"/>
                  </a:lnTo>
                  <a:lnTo>
                    <a:pt x="38324" y="254941"/>
                  </a:lnTo>
                  <a:lnTo>
                    <a:pt x="58786" y="215109"/>
                  </a:lnTo>
                  <a:lnTo>
                    <a:pt x="83076" y="177814"/>
                  </a:lnTo>
                  <a:lnTo>
                    <a:pt x="110929" y="143320"/>
                  </a:lnTo>
                  <a:lnTo>
                    <a:pt x="142084" y="111892"/>
                  </a:lnTo>
                  <a:lnTo>
                    <a:pt x="176278" y="83795"/>
                  </a:lnTo>
                  <a:lnTo>
                    <a:pt x="213247" y="59294"/>
                  </a:lnTo>
                  <a:lnTo>
                    <a:pt x="252729" y="38654"/>
                  </a:lnTo>
                  <a:lnTo>
                    <a:pt x="294461" y="22140"/>
                  </a:lnTo>
                  <a:lnTo>
                    <a:pt x="338180" y="10016"/>
                  </a:lnTo>
                  <a:lnTo>
                    <a:pt x="383624" y="2548"/>
                  </a:lnTo>
                  <a:lnTo>
                    <a:pt x="430530" y="0"/>
                  </a:lnTo>
                  <a:lnTo>
                    <a:pt x="477435" y="2548"/>
                  </a:lnTo>
                  <a:lnTo>
                    <a:pt x="522879" y="10016"/>
                  </a:lnTo>
                  <a:lnTo>
                    <a:pt x="566598" y="22140"/>
                  </a:lnTo>
                  <a:lnTo>
                    <a:pt x="608330" y="38654"/>
                  </a:lnTo>
                  <a:lnTo>
                    <a:pt x="647812" y="59294"/>
                  </a:lnTo>
                  <a:lnTo>
                    <a:pt x="684781" y="83795"/>
                  </a:lnTo>
                  <a:lnTo>
                    <a:pt x="718975" y="111892"/>
                  </a:lnTo>
                  <a:lnTo>
                    <a:pt x="750130" y="143320"/>
                  </a:lnTo>
                  <a:lnTo>
                    <a:pt x="777983" y="177814"/>
                  </a:lnTo>
                  <a:lnTo>
                    <a:pt x="802273" y="215109"/>
                  </a:lnTo>
                  <a:lnTo>
                    <a:pt x="822735" y="254941"/>
                  </a:lnTo>
                  <a:lnTo>
                    <a:pt x="839108" y="297045"/>
                  </a:lnTo>
                  <a:lnTo>
                    <a:pt x="851128" y="341156"/>
                  </a:lnTo>
                  <a:lnTo>
                    <a:pt x="858533" y="387009"/>
                  </a:lnTo>
                  <a:lnTo>
                    <a:pt x="861060" y="434339"/>
                  </a:lnTo>
                  <a:lnTo>
                    <a:pt x="858533" y="481670"/>
                  </a:lnTo>
                  <a:lnTo>
                    <a:pt x="851128" y="527523"/>
                  </a:lnTo>
                  <a:lnTo>
                    <a:pt x="839108" y="571634"/>
                  </a:lnTo>
                  <a:lnTo>
                    <a:pt x="822735" y="613738"/>
                  </a:lnTo>
                  <a:lnTo>
                    <a:pt x="802273" y="653570"/>
                  </a:lnTo>
                  <a:lnTo>
                    <a:pt x="777983" y="690865"/>
                  </a:lnTo>
                  <a:lnTo>
                    <a:pt x="750130" y="725359"/>
                  </a:lnTo>
                  <a:lnTo>
                    <a:pt x="718975" y="756787"/>
                  </a:lnTo>
                  <a:lnTo>
                    <a:pt x="684781" y="784884"/>
                  </a:lnTo>
                  <a:lnTo>
                    <a:pt x="647812" y="809385"/>
                  </a:lnTo>
                  <a:lnTo>
                    <a:pt x="608330" y="830025"/>
                  </a:lnTo>
                  <a:lnTo>
                    <a:pt x="566598" y="846539"/>
                  </a:lnTo>
                  <a:lnTo>
                    <a:pt x="522879" y="858663"/>
                  </a:lnTo>
                  <a:lnTo>
                    <a:pt x="477435" y="866131"/>
                  </a:lnTo>
                  <a:lnTo>
                    <a:pt x="430530" y="868679"/>
                  </a:lnTo>
                  <a:lnTo>
                    <a:pt x="383624" y="866131"/>
                  </a:lnTo>
                  <a:lnTo>
                    <a:pt x="338180" y="858663"/>
                  </a:lnTo>
                  <a:lnTo>
                    <a:pt x="294461" y="846539"/>
                  </a:lnTo>
                  <a:lnTo>
                    <a:pt x="252729" y="830025"/>
                  </a:lnTo>
                  <a:lnTo>
                    <a:pt x="213247" y="809385"/>
                  </a:lnTo>
                  <a:lnTo>
                    <a:pt x="176278" y="784884"/>
                  </a:lnTo>
                  <a:lnTo>
                    <a:pt x="142084" y="756787"/>
                  </a:lnTo>
                  <a:lnTo>
                    <a:pt x="110929" y="725359"/>
                  </a:lnTo>
                  <a:lnTo>
                    <a:pt x="83076" y="690865"/>
                  </a:lnTo>
                  <a:lnTo>
                    <a:pt x="58786" y="653570"/>
                  </a:lnTo>
                  <a:lnTo>
                    <a:pt x="38324" y="613738"/>
                  </a:lnTo>
                  <a:lnTo>
                    <a:pt x="21951" y="571634"/>
                  </a:lnTo>
                  <a:lnTo>
                    <a:pt x="9931" y="527523"/>
                  </a:lnTo>
                  <a:lnTo>
                    <a:pt x="2526" y="481670"/>
                  </a:lnTo>
                  <a:lnTo>
                    <a:pt x="0" y="434339"/>
                  </a:lnTo>
                  <a:close/>
                </a:path>
              </a:pathLst>
            </a:custGeom>
            <a:grpFill/>
            <a:ln w="25400">
              <a:solidFill>
                <a:srgbClr val="FFFFFF"/>
              </a:solidFill>
            </a:ln>
          </p:spPr>
          <p:txBody>
            <a:bodyPr wrap="square" lIns="0" tIns="0" rIns="0" bIns="0" rtlCol="0"/>
            <a:lstStyle/>
            <a:p>
              <a:endParaRPr dirty="0">
                <a:solidFill>
                  <a:srgbClr val="FFFFFF"/>
                </a:solidFill>
              </a:endParaRPr>
            </a:p>
          </p:txBody>
        </p:sp>
      </p:grpSp>
      <p:sp>
        <p:nvSpPr>
          <p:cNvPr id="29" name="object 30">
            <a:extLst>
              <a:ext uri="{FF2B5EF4-FFF2-40B4-BE49-F238E27FC236}">
                <a16:creationId xmlns:a16="http://schemas.microsoft.com/office/drawing/2014/main" id="{4897928E-BA7C-79FD-5660-D1621BC345C0}"/>
              </a:ext>
            </a:extLst>
          </p:cNvPr>
          <p:cNvSpPr txBox="1"/>
          <p:nvPr/>
        </p:nvSpPr>
        <p:spPr>
          <a:xfrm>
            <a:off x="2458086" y="4893229"/>
            <a:ext cx="195580" cy="391795"/>
          </a:xfrm>
          <a:prstGeom prst="rect">
            <a:avLst/>
          </a:prstGeom>
          <a:noFill/>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Segoe UI" pitchFamily="34" charset="0"/>
                <a:cs typeface="Calibri"/>
              </a:rPr>
              <a:t>4</a:t>
            </a:r>
            <a:endParaRPr sz="2400" spc="-10" dirty="0">
              <a:solidFill>
                <a:srgbClr val="FFFFFF"/>
              </a:solidFill>
              <a:latin typeface="Arial" pitchFamily="34" charset="0"/>
              <a:cs typeface="Calibri"/>
            </a:endParaRPr>
          </a:p>
        </p:txBody>
      </p:sp>
      <p:sp>
        <p:nvSpPr>
          <p:cNvPr id="30" name="TextBox 29">
            <a:extLst>
              <a:ext uri="{FF2B5EF4-FFF2-40B4-BE49-F238E27FC236}">
                <a16:creationId xmlns:a16="http://schemas.microsoft.com/office/drawing/2014/main" id="{54279E6E-C22B-C75C-BCE4-7BFFEA71283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4493880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82BC55-F4AD-BE9F-8E83-BAA19D34BBB4}"/>
              </a:ext>
            </a:extLst>
          </p:cNvPr>
          <p:cNvSpPr>
            <a:spLocks noGrp="1"/>
          </p:cNvSpPr>
          <p:nvPr>
            <p:ph type="title"/>
          </p:nvPr>
        </p:nvSpPr>
        <p:spPr/>
        <p:txBody>
          <a:bodyPr/>
          <a:lstStyle/>
          <a:p>
            <a:r>
              <a:rPr lang="en-US" dirty="0"/>
              <a:t>Pre-deal Diligence</a:t>
            </a:r>
          </a:p>
        </p:txBody>
      </p:sp>
      <p:sp>
        <p:nvSpPr>
          <p:cNvPr id="7" name="Text Placeholder 6">
            <a:extLst>
              <a:ext uri="{FF2B5EF4-FFF2-40B4-BE49-F238E27FC236}">
                <a16:creationId xmlns:a16="http://schemas.microsoft.com/office/drawing/2014/main" id="{ADDBBA98-F9FA-3990-761C-90CEB745B50E}"/>
              </a:ext>
            </a:extLst>
          </p:cNvPr>
          <p:cNvSpPr>
            <a:spLocks noGrp="1"/>
          </p:cNvSpPr>
          <p:nvPr>
            <p:ph type="body" sz="quarter" idx="12"/>
          </p:nvPr>
        </p:nvSpPr>
        <p:spPr/>
        <p:txBody>
          <a:bodyPr/>
          <a:lstStyle/>
          <a:p>
            <a:r>
              <a:rPr lang="en-US" dirty="0"/>
              <a:t>Talent2Value Approach</a:t>
            </a:r>
          </a:p>
          <a:p>
            <a:endParaRPr lang="en-US" dirty="0"/>
          </a:p>
        </p:txBody>
      </p:sp>
      <p:sp>
        <p:nvSpPr>
          <p:cNvPr id="4" name="Slide Number Placeholder 3">
            <a:extLst>
              <a:ext uri="{FF2B5EF4-FFF2-40B4-BE49-F238E27FC236}">
                <a16:creationId xmlns:a16="http://schemas.microsoft.com/office/drawing/2014/main" id="{1E0D1C01-2454-D81F-C167-4677DF9F9AE1}"/>
              </a:ext>
            </a:extLst>
          </p:cNvPr>
          <p:cNvSpPr>
            <a:spLocks noGrp="1"/>
          </p:cNvSpPr>
          <p:nvPr>
            <p:ph type="sldNum" sz="quarter" idx="4"/>
          </p:nvPr>
        </p:nvSpPr>
        <p:spPr/>
        <p:txBody>
          <a:bodyPr/>
          <a:lstStyle/>
          <a:p>
            <a:pPr algn="ctr"/>
            <a:fld id="{1875A764-3B06-454E-8ABA-2F6ED0EB58E9}" type="slidenum">
              <a:rPr lang="en-US" smtClean="0"/>
              <a:t>52</a:t>
            </a:fld>
            <a:endParaRPr lang="en-US"/>
          </a:p>
        </p:txBody>
      </p:sp>
      <p:grpSp>
        <p:nvGrpSpPr>
          <p:cNvPr id="8" name="object 2">
            <a:extLst>
              <a:ext uri="{FF2B5EF4-FFF2-40B4-BE49-F238E27FC236}">
                <a16:creationId xmlns:a16="http://schemas.microsoft.com/office/drawing/2014/main" id="{3B7B88C7-DE7D-D887-B77D-6B3EF031F4A5}"/>
              </a:ext>
            </a:extLst>
          </p:cNvPr>
          <p:cNvGrpSpPr/>
          <p:nvPr/>
        </p:nvGrpSpPr>
        <p:grpSpPr>
          <a:xfrm>
            <a:off x="263906" y="1548764"/>
            <a:ext cx="11652250" cy="519430"/>
            <a:chOff x="263906" y="1548764"/>
            <a:chExt cx="11652250" cy="519430"/>
          </a:xfrm>
        </p:grpSpPr>
        <p:sp>
          <p:nvSpPr>
            <p:cNvPr id="9" name="object 3">
              <a:extLst>
                <a:ext uri="{FF2B5EF4-FFF2-40B4-BE49-F238E27FC236}">
                  <a16:creationId xmlns:a16="http://schemas.microsoft.com/office/drawing/2014/main" id="{7C300FB3-437C-63F8-03CC-E02D92671615}"/>
                </a:ext>
              </a:extLst>
            </p:cNvPr>
            <p:cNvSpPr/>
            <p:nvPr/>
          </p:nvSpPr>
          <p:spPr>
            <a:xfrm>
              <a:off x="640842" y="1558289"/>
              <a:ext cx="0" cy="312420"/>
            </a:xfrm>
            <a:custGeom>
              <a:avLst/>
              <a:gdLst/>
              <a:ahLst/>
              <a:cxnLst/>
              <a:rect l="l" t="t" r="r" b="b"/>
              <a:pathLst>
                <a:path h="312419">
                  <a:moveTo>
                    <a:pt x="0" y="0"/>
                  </a:moveTo>
                  <a:lnTo>
                    <a:pt x="0" y="312293"/>
                  </a:lnTo>
                </a:path>
              </a:pathLst>
            </a:custGeom>
            <a:ln w="19050">
              <a:solidFill>
                <a:srgbClr val="765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4">
              <a:extLst>
                <a:ext uri="{FF2B5EF4-FFF2-40B4-BE49-F238E27FC236}">
                  <a16:creationId xmlns:a16="http://schemas.microsoft.com/office/drawing/2014/main" id="{CE1EC852-B068-EB5B-1114-2E8C936A5592}"/>
                </a:ext>
              </a:extLst>
            </p:cNvPr>
            <p:cNvSpPr/>
            <p:nvPr/>
          </p:nvSpPr>
          <p:spPr>
            <a:xfrm>
              <a:off x="276606" y="1741169"/>
              <a:ext cx="11626850" cy="292735"/>
            </a:xfrm>
            <a:custGeom>
              <a:avLst/>
              <a:gdLst/>
              <a:ahLst/>
              <a:cxnLst/>
              <a:rect l="l" t="t" r="r" b="b"/>
              <a:pathLst>
                <a:path w="11626850" h="292735">
                  <a:moveTo>
                    <a:pt x="11480292" y="0"/>
                  </a:moveTo>
                  <a:lnTo>
                    <a:pt x="11480292" y="73151"/>
                  </a:lnTo>
                  <a:lnTo>
                    <a:pt x="0" y="73151"/>
                  </a:lnTo>
                  <a:lnTo>
                    <a:pt x="0" y="219455"/>
                  </a:lnTo>
                  <a:lnTo>
                    <a:pt x="11480292" y="219455"/>
                  </a:lnTo>
                  <a:lnTo>
                    <a:pt x="11480292" y="292607"/>
                  </a:lnTo>
                  <a:lnTo>
                    <a:pt x="11626596" y="146303"/>
                  </a:lnTo>
                  <a:lnTo>
                    <a:pt x="11480292" y="0"/>
                  </a:lnTo>
                  <a:close/>
                </a:path>
              </a:pathLst>
            </a:custGeom>
            <a:solidFill>
              <a:srgbClr val="76767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5">
              <a:extLst>
                <a:ext uri="{FF2B5EF4-FFF2-40B4-BE49-F238E27FC236}">
                  <a16:creationId xmlns:a16="http://schemas.microsoft.com/office/drawing/2014/main" id="{D3A4D768-78D7-050A-A7A2-80544782DCD6}"/>
                </a:ext>
              </a:extLst>
            </p:cNvPr>
            <p:cNvSpPr/>
            <p:nvPr/>
          </p:nvSpPr>
          <p:spPr>
            <a:xfrm>
              <a:off x="276606" y="1741169"/>
              <a:ext cx="11626850" cy="292735"/>
            </a:xfrm>
            <a:custGeom>
              <a:avLst/>
              <a:gdLst/>
              <a:ahLst/>
              <a:cxnLst/>
              <a:rect l="l" t="t" r="r" b="b"/>
              <a:pathLst>
                <a:path w="11626850" h="292735">
                  <a:moveTo>
                    <a:pt x="0" y="73151"/>
                  </a:moveTo>
                  <a:lnTo>
                    <a:pt x="11480292" y="73151"/>
                  </a:lnTo>
                  <a:lnTo>
                    <a:pt x="11480292" y="0"/>
                  </a:lnTo>
                  <a:lnTo>
                    <a:pt x="11626596" y="146303"/>
                  </a:lnTo>
                  <a:lnTo>
                    <a:pt x="11480292" y="292607"/>
                  </a:lnTo>
                  <a:lnTo>
                    <a:pt x="11480292" y="219455"/>
                  </a:lnTo>
                  <a:lnTo>
                    <a:pt x="0" y="219455"/>
                  </a:lnTo>
                  <a:lnTo>
                    <a:pt x="0" y="73151"/>
                  </a:lnTo>
                  <a:close/>
                </a:path>
              </a:pathLst>
            </a:custGeom>
            <a:ln w="25400">
              <a:solidFill>
                <a:srgbClr val="76767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6">
              <a:extLst>
                <a:ext uri="{FF2B5EF4-FFF2-40B4-BE49-F238E27FC236}">
                  <a16:creationId xmlns:a16="http://schemas.microsoft.com/office/drawing/2014/main" id="{1190CAEA-BDB8-A04A-BDFE-9C0E2BF3A643}"/>
                </a:ext>
              </a:extLst>
            </p:cNvPr>
            <p:cNvSpPr/>
            <p:nvPr/>
          </p:nvSpPr>
          <p:spPr>
            <a:xfrm>
              <a:off x="470154" y="1684781"/>
              <a:ext cx="341630" cy="341630"/>
            </a:xfrm>
            <a:custGeom>
              <a:avLst/>
              <a:gdLst/>
              <a:ahLst/>
              <a:cxnLst/>
              <a:rect l="l" t="t" r="r" b="b"/>
              <a:pathLst>
                <a:path w="341630" h="341630">
                  <a:moveTo>
                    <a:pt x="170687" y="0"/>
                  </a:moveTo>
                  <a:lnTo>
                    <a:pt x="125311" y="6099"/>
                  </a:lnTo>
                  <a:lnTo>
                    <a:pt x="84536" y="23311"/>
                  </a:lnTo>
                  <a:lnTo>
                    <a:pt x="49991" y="50006"/>
                  </a:lnTo>
                  <a:lnTo>
                    <a:pt x="23303" y="84553"/>
                  </a:lnTo>
                  <a:lnTo>
                    <a:pt x="6096" y="125324"/>
                  </a:lnTo>
                  <a:lnTo>
                    <a:pt x="0" y="170687"/>
                  </a:lnTo>
                  <a:lnTo>
                    <a:pt x="6096" y="216051"/>
                  </a:lnTo>
                  <a:lnTo>
                    <a:pt x="23303" y="256822"/>
                  </a:lnTo>
                  <a:lnTo>
                    <a:pt x="49991" y="291369"/>
                  </a:lnTo>
                  <a:lnTo>
                    <a:pt x="84536" y="318064"/>
                  </a:lnTo>
                  <a:lnTo>
                    <a:pt x="125311" y="335276"/>
                  </a:lnTo>
                  <a:lnTo>
                    <a:pt x="170687" y="341375"/>
                  </a:lnTo>
                  <a:lnTo>
                    <a:pt x="216064" y="335276"/>
                  </a:lnTo>
                  <a:lnTo>
                    <a:pt x="256839" y="318064"/>
                  </a:lnTo>
                  <a:lnTo>
                    <a:pt x="291384" y="291369"/>
                  </a:lnTo>
                  <a:lnTo>
                    <a:pt x="318072" y="256822"/>
                  </a:lnTo>
                  <a:lnTo>
                    <a:pt x="335279" y="216051"/>
                  </a:lnTo>
                  <a:lnTo>
                    <a:pt x="341375" y="170687"/>
                  </a:lnTo>
                  <a:lnTo>
                    <a:pt x="335279" y="125324"/>
                  </a:lnTo>
                  <a:lnTo>
                    <a:pt x="318072" y="84553"/>
                  </a:lnTo>
                  <a:lnTo>
                    <a:pt x="291384" y="50006"/>
                  </a:lnTo>
                  <a:lnTo>
                    <a:pt x="256839" y="23311"/>
                  </a:lnTo>
                  <a:lnTo>
                    <a:pt x="216064" y="6099"/>
                  </a:lnTo>
                  <a:lnTo>
                    <a:pt x="170687" y="0"/>
                  </a:lnTo>
                  <a:close/>
                </a:path>
              </a:pathLst>
            </a:custGeom>
            <a:solidFill>
              <a:srgbClr val="765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7">
              <a:extLst>
                <a:ext uri="{FF2B5EF4-FFF2-40B4-BE49-F238E27FC236}">
                  <a16:creationId xmlns:a16="http://schemas.microsoft.com/office/drawing/2014/main" id="{71CFD83F-03F6-D828-EEA2-7BD6573F5478}"/>
                </a:ext>
              </a:extLst>
            </p:cNvPr>
            <p:cNvSpPr/>
            <p:nvPr/>
          </p:nvSpPr>
          <p:spPr>
            <a:xfrm>
              <a:off x="470154" y="1684781"/>
              <a:ext cx="341630" cy="341630"/>
            </a:xfrm>
            <a:custGeom>
              <a:avLst/>
              <a:gdLst/>
              <a:ahLst/>
              <a:cxnLst/>
              <a:rect l="l" t="t" r="r" b="b"/>
              <a:pathLst>
                <a:path w="341630" h="341630">
                  <a:moveTo>
                    <a:pt x="0" y="170687"/>
                  </a:moveTo>
                  <a:lnTo>
                    <a:pt x="6096" y="125324"/>
                  </a:lnTo>
                  <a:lnTo>
                    <a:pt x="23303" y="84553"/>
                  </a:lnTo>
                  <a:lnTo>
                    <a:pt x="49991" y="50006"/>
                  </a:lnTo>
                  <a:lnTo>
                    <a:pt x="84536" y="23311"/>
                  </a:lnTo>
                  <a:lnTo>
                    <a:pt x="125311" y="6099"/>
                  </a:lnTo>
                  <a:lnTo>
                    <a:pt x="170687" y="0"/>
                  </a:lnTo>
                  <a:lnTo>
                    <a:pt x="216064" y="6099"/>
                  </a:lnTo>
                  <a:lnTo>
                    <a:pt x="256839" y="23311"/>
                  </a:lnTo>
                  <a:lnTo>
                    <a:pt x="291384" y="50006"/>
                  </a:lnTo>
                  <a:lnTo>
                    <a:pt x="318072" y="84553"/>
                  </a:lnTo>
                  <a:lnTo>
                    <a:pt x="335279" y="125324"/>
                  </a:lnTo>
                  <a:lnTo>
                    <a:pt x="341375" y="170687"/>
                  </a:lnTo>
                  <a:lnTo>
                    <a:pt x="335279" y="216051"/>
                  </a:lnTo>
                  <a:lnTo>
                    <a:pt x="318072" y="256822"/>
                  </a:lnTo>
                  <a:lnTo>
                    <a:pt x="291384" y="291369"/>
                  </a:lnTo>
                  <a:lnTo>
                    <a:pt x="256839" y="318064"/>
                  </a:lnTo>
                  <a:lnTo>
                    <a:pt x="216064" y="335276"/>
                  </a:lnTo>
                  <a:lnTo>
                    <a:pt x="170687" y="341375"/>
                  </a:lnTo>
                  <a:lnTo>
                    <a:pt x="125311" y="335276"/>
                  </a:lnTo>
                  <a:lnTo>
                    <a:pt x="84536" y="318064"/>
                  </a:lnTo>
                  <a:lnTo>
                    <a:pt x="49991" y="291369"/>
                  </a:lnTo>
                  <a:lnTo>
                    <a:pt x="23303" y="256822"/>
                  </a:lnTo>
                  <a:lnTo>
                    <a:pt x="6096" y="216051"/>
                  </a:lnTo>
                  <a:lnTo>
                    <a:pt x="0" y="170687"/>
                  </a:lnTo>
                  <a:close/>
                </a:path>
              </a:pathLst>
            </a:custGeom>
            <a:ln w="25400">
              <a:solidFill>
                <a:srgbClr val="765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8">
              <a:extLst>
                <a:ext uri="{FF2B5EF4-FFF2-40B4-BE49-F238E27FC236}">
                  <a16:creationId xmlns:a16="http://schemas.microsoft.com/office/drawing/2014/main" id="{25EA304E-1DF7-BC51-AF5C-FBEC77C3771C}"/>
                </a:ext>
              </a:extLst>
            </p:cNvPr>
            <p:cNvSpPr/>
            <p:nvPr/>
          </p:nvSpPr>
          <p:spPr>
            <a:xfrm>
              <a:off x="1144523" y="1697735"/>
              <a:ext cx="1286510" cy="370840"/>
            </a:xfrm>
            <a:custGeom>
              <a:avLst/>
              <a:gdLst/>
              <a:ahLst/>
              <a:cxnLst/>
              <a:rect l="l" t="t" r="r" b="b"/>
              <a:pathLst>
                <a:path w="1286510" h="370839">
                  <a:moveTo>
                    <a:pt x="1286256" y="0"/>
                  </a:moveTo>
                  <a:lnTo>
                    <a:pt x="0" y="0"/>
                  </a:lnTo>
                  <a:lnTo>
                    <a:pt x="0" y="370332"/>
                  </a:lnTo>
                  <a:lnTo>
                    <a:pt x="1286256" y="370332"/>
                  </a:lnTo>
                  <a:lnTo>
                    <a:pt x="128625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grpSp>
      <p:sp>
        <p:nvSpPr>
          <p:cNvPr id="15" name="object 11">
            <a:extLst>
              <a:ext uri="{FF2B5EF4-FFF2-40B4-BE49-F238E27FC236}">
                <a16:creationId xmlns:a16="http://schemas.microsoft.com/office/drawing/2014/main" id="{2A5388F2-F952-F89D-C49B-BC22C7AF52D1}"/>
              </a:ext>
            </a:extLst>
          </p:cNvPr>
          <p:cNvSpPr txBox="1"/>
          <p:nvPr/>
        </p:nvSpPr>
        <p:spPr>
          <a:xfrm>
            <a:off x="283565" y="1213865"/>
            <a:ext cx="710565" cy="2590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600" b="1" i="0" u="none" strike="noStrike" kern="0" cap="none" spc="-25" normalizeH="0" baseline="0" noProof="0" dirty="0">
                <a:ln>
                  <a:noFill/>
                </a:ln>
                <a:solidFill>
                  <a:sysClr val="windowText" lastClr="000000"/>
                </a:solidFill>
                <a:effectLst/>
                <a:uLnTx/>
                <a:uFillTx/>
                <a:latin typeface="Segoe UI" pitchFamily="34" charset="0"/>
                <a:cs typeface="Arial"/>
              </a:rPr>
              <a:t>Kickoff</a:t>
            </a:r>
            <a:endParaRPr kumimoji="0" sz="1800" b="1" i="0" u="none" strike="noStrike" kern="0" cap="none" spc="-25" normalizeH="0" baseline="0" noProof="0" dirty="0">
              <a:ln>
                <a:noFill/>
              </a:ln>
              <a:solidFill>
                <a:sysClr val="windowText" lastClr="000000"/>
              </a:solidFill>
              <a:effectLst/>
              <a:uLnTx/>
              <a:uFillTx/>
              <a:latin typeface="Segoe UI" pitchFamily="34" charset="0"/>
              <a:cs typeface="Arial"/>
            </a:endParaRPr>
          </a:p>
        </p:txBody>
      </p:sp>
      <p:sp>
        <p:nvSpPr>
          <p:cNvPr id="16" name="object 12">
            <a:extLst>
              <a:ext uri="{FF2B5EF4-FFF2-40B4-BE49-F238E27FC236}">
                <a16:creationId xmlns:a16="http://schemas.microsoft.com/office/drawing/2014/main" id="{8D553BE9-0C93-6E45-26EE-7E5DCE0BA4D0}"/>
              </a:ext>
            </a:extLst>
          </p:cNvPr>
          <p:cNvSpPr txBox="1"/>
          <p:nvPr/>
        </p:nvSpPr>
        <p:spPr>
          <a:xfrm>
            <a:off x="1380871"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1</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17" name="object 13">
            <a:extLst>
              <a:ext uri="{FF2B5EF4-FFF2-40B4-BE49-F238E27FC236}">
                <a16:creationId xmlns:a16="http://schemas.microsoft.com/office/drawing/2014/main" id="{ED58851F-7448-DECD-DFB0-F5FA8F3362A0}"/>
              </a:ext>
            </a:extLst>
          </p:cNvPr>
          <p:cNvSpPr/>
          <p:nvPr/>
        </p:nvSpPr>
        <p:spPr>
          <a:xfrm>
            <a:off x="3845052" y="1697735"/>
            <a:ext cx="1286510" cy="370840"/>
          </a:xfrm>
          <a:custGeom>
            <a:avLst/>
            <a:gdLst/>
            <a:ahLst/>
            <a:cxnLst/>
            <a:rect l="l" t="t" r="r" b="b"/>
            <a:pathLst>
              <a:path w="1286510"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18" name="object 14">
            <a:extLst>
              <a:ext uri="{FF2B5EF4-FFF2-40B4-BE49-F238E27FC236}">
                <a16:creationId xmlns:a16="http://schemas.microsoft.com/office/drawing/2014/main" id="{C79298AB-9D4D-6536-2BF3-2CDA8E2B49CF}"/>
              </a:ext>
            </a:extLst>
          </p:cNvPr>
          <p:cNvSpPr txBox="1"/>
          <p:nvPr/>
        </p:nvSpPr>
        <p:spPr>
          <a:xfrm>
            <a:off x="4082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2</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19" name="object 15">
            <a:extLst>
              <a:ext uri="{FF2B5EF4-FFF2-40B4-BE49-F238E27FC236}">
                <a16:creationId xmlns:a16="http://schemas.microsoft.com/office/drawing/2014/main" id="{FF0658BA-D80D-F7F1-5363-1769F9178945}"/>
              </a:ext>
            </a:extLst>
          </p:cNvPr>
          <p:cNvSpPr/>
          <p:nvPr/>
        </p:nvSpPr>
        <p:spPr>
          <a:xfrm>
            <a:off x="6512052" y="1697735"/>
            <a:ext cx="1286510" cy="370840"/>
          </a:xfrm>
          <a:custGeom>
            <a:avLst/>
            <a:gdLst/>
            <a:ahLst/>
            <a:cxnLst/>
            <a:rect l="l" t="t" r="r" b="b"/>
            <a:pathLst>
              <a:path w="1286509"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20" name="object 16">
            <a:extLst>
              <a:ext uri="{FF2B5EF4-FFF2-40B4-BE49-F238E27FC236}">
                <a16:creationId xmlns:a16="http://schemas.microsoft.com/office/drawing/2014/main" id="{937AAF89-73FF-7521-1972-347932206A91}"/>
              </a:ext>
            </a:extLst>
          </p:cNvPr>
          <p:cNvSpPr txBox="1"/>
          <p:nvPr/>
        </p:nvSpPr>
        <p:spPr>
          <a:xfrm>
            <a:off x="6749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3</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21" name="object 17">
            <a:extLst>
              <a:ext uri="{FF2B5EF4-FFF2-40B4-BE49-F238E27FC236}">
                <a16:creationId xmlns:a16="http://schemas.microsoft.com/office/drawing/2014/main" id="{F4CDC97C-C003-32F0-2288-37D7A102ED3E}"/>
              </a:ext>
            </a:extLst>
          </p:cNvPr>
          <p:cNvSpPr/>
          <p:nvPr/>
        </p:nvSpPr>
        <p:spPr>
          <a:xfrm>
            <a:off x="9179052" y="1697735"/>
            <a:ext cx="1286510" cy="370840"/>
          </a:xfrm>
          <a:custGeom>
            <a:avLst/>
            <a:gdLst/>
            <a:ahLst/>
            <a:cxnLst/>
            <a:rect l="l" t="t" r="r" b="b"/>
            <a:pathLst>
              <a:path w="1286509" h="370839">
                <a:moveTo>
                  <a:pt x="1286255" y="0"/>
                </a:moveTo>
                <a:lnTo>
                  <a:pt x="0" y="0"/>
                </a:lnTo>
                <a:lnTo>
                  <a:pt x="0" y="370332"/>
                </a:lnTo>
                <a:lnTo>
                  <a:pt x="1286255" y="370332"/>
                </a:lnTo>
                <a:lnTo>
                  <a:pt x="128625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22" name="object 18">
            <a:extLst>
              <a:ext uri="{FF2B5EF4-FFF2-40B4-BE49-F238E27FC236}">
                <a16:creationId xmlns:a16="http://schemas.microsoft.com/office/drawing/2014/main" id="{D40378BF-1C78-1E7D-08A9-4BA816E9F927}"/>
              </a:ext>
            </a:extLst>
          </p:cNvPr>
          <p:cNvSpPr txBox="1"/>
          <p:nvPr/>
        </p:nvSpPr>
        <p:spPr>
          <a:xfrm>
            <a:off x="9416922" y="1725244"/>
            <a:ext cx="81280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1" u="none" strike="noStrike" kern="0" cap="none" spc="-10" normalizeH="0" baseline="0" noProof="0">
                <a:ln>
                  <a:noFill/>
                </a:ln>
                <a:solidFill>
                  <a:sysClr val="windowText" lastClr="000000"/>
                </a:solidFill>
                <a:effectLst/>
                <a:uLnTx/>
                <a:uFillTx/>
                <a:latin typeface="Segoe UI" pitchFamily="34" charset="0"/>
                <a:cs typeface="Arial"/>
              </a:rPr>
              <a:t>Week 4</a:t>
            </a:r>
            <a:endParaRPr kumimoji="0" sz="1800" b="0" i="0" u="none" strike="noStrike" kern="0" cap="none" spc="-10" normalizeH="0" baseline="0" noProof="0">
              <a:ln>
                <a:noFill/>
              </a:ln>
              <a:solidFill>
                <a:sysClr val="windowText" lastClr="000000"/>
              </a:solidFill>
              <a:effectLst/>
              <a:uLnTx/>
              <a:uFillTx/>
              <a:latin typeface="Arial" pitchFamily="34" charset="0"/>
              <a:cs typeface="Arial"/>
            </a:endParaRPr>
          </a:p>
        </p:txBody>
      </p:sp>
      <p:graphicFrame>
        <p:nvGraphicFramePr>
          <p:cNvPr id="23" name="object 19">
            <a:extLst>
              <a:ext uri="{FF2B5EF4-FFF2-40B4-BE49-F238E27FC236}">
                <a16:creationId xmlns:a16="http://schemas.microsoft.com/office/drawing/2014/main" id="{E2CDD840-C53D-D747-6D16-8D45B3CF2777}"/>
              </a:ext>
            </a:extLst>
          </p:cNvPr>
          <p:cNvGraphicFramePr>
            <a:graphicFrameLocks noGrp="1"/>
          </p:cNvGraphicFramePr>
          <p:nvPr/>
        </p:nvGraphicFramePr>
        <p:xfrm>
          <a:off x="810590" y="2272410"/>
          <a:ext cx="10625197" cy="3686777"/>
        </p:xfrm>
        <a:graphic>
          <a:graphicData uri="http://schemas.openxmlformats.org/drawingml/2006/table">
            <a:tbl>
              <a:tblPr firstRow="1" bandRow="1">
                <a:tableStyleId>{2D5ABB26-0587-4C30-8999-92F81FD0307C}</a:tableStyleId>
              </a:tblPr>
              <a:tblGrid>
                <a:gridCol w="2579991">
                  <a:extLst>
                    <a:ext uri="{9D8B030D-6E8A-4147-A177-3AD203B41FA5}">
                      <a16:colId xmlns:a16="http://schemas.microsoft.com/office/drawing/2014/main" val="20000"/>
                    </a:ext>
                  </a:extLst>
                </a:gridCol>
                <a:gridCol w="2683417">
                  <a:extLst>
                    <a:ext uri="{9D8B030D-6E8A-4147-A177-3AD203B41FA5}">
                      <a16:colId xmlns:a16="http://schemas.microsoft.com/office/drawing/2014/main" val="20001"/>
                    </a:ext>
                  </a:extLst>
                </a:gridCol>
                <a:gridCol w="2700444">
                  <a:extLst>
                    <a:ext uri="{9D8B030D-6E8A-4147-A177-3AD203B41FA5}">
                      <a16:colId xmlns:a16="http://schemas.microsoft.com/office/drawing/2014/main" val="20002"/>
                    </a:ext>
                  </a:extLst>
                </a:gridCol>
                <a:gridCol w="2661345">
                  <a:extLst>
                    <a:ext uri="{9D8B030D-6E8A-4147-A177-3AD203B41FA5}">
                      <a16:colId xmlns:a16="http://schemas.microsoft.com/office/drawing/2014/main" val="20003"/>
                    </a:ext>
                  </a:extLst>
                </a:gridCol>
              </a:tblGrid>
              <a:tr h="1358535">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Management/Banker Presentation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Management Financial Model</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Draft Thesis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VDD/Interim DD in Data Room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Listen into Management sessions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(with DD Partners)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90 min discussion with Deal Team + Ops Team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Attend Management Presentation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Pre-meeting comfort building with seller, brief to Management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Leader meetings in person or virtual (1 to 2-hour 1:1s)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Collate evidence data from outside-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in references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DD sessions with </a:t>
                      </a:r>
                      <a:r>
                        <a:rPr lang="en-US" sz="1200" b="0" kern="0" dirty="0" err="1">
                          <a:solidFill>
                            <a:schemeClr val="tx1"/>
                          </a:solidFill>
                          <a:latin typeface="Arial" panose="020B0604020202020204" pitchFamily="34" charset="0"/>
                          <a:ea typeface="+mn-ea"/>
                          <a:cs typeface="Arial" panose="020B0604020202020204" pitchFamily="34" charset="0"/>
                        </a:rPr>
                        <a:t>Mgmt</a:t>
                      </a:r>
                      <a:r>
                        <a:rPr lang="en-US" sz="1200" b="0" kern="0" dirty="0">
                          <a:solidFill>
                            <a:schemeClr val="tx1"/>
                          </a:solidFill>
                          <a:latin typeface="Arial" panose="020B0604020202020204" pitchFamily="34" charset="0"/>
                          <a:ea typeface="+mn-ea"/>
                          <a:cs typeface="Arial" panose="020B0604020202020204" pitchFamily="34" charset="0"/>
                        </a:rPr>
                        <a:t> and 1:1 conversations with leaders</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0"/>
                  </a:ext>
                </a:extLst>
              </a:tr>
              <a:tr h="1163784">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Understand the business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Intake &amp; document/data review</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Q&amp;A with Deal + Ops team</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Align on hypothesis on value, key</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pivots for value to arrive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a:solidFill>
                            <a:schemeClr val="tx1"/>
                          </a:solidFill>
                          <a:latin typeface="Arial" panose="020B0604020202020204" pitchFamily="34" charset="0"/>
                          <a:ea typeface="+mn-ea"/>
                          <a:cs typeface="Arial" panose="020B0604020202020204" pitchFamily="34" charset="0"/>
                        </a:rPr>
                        <a:t>Roles proximate to work</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Relaxed discussion on work, risks,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team, org (NOT an assessment)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Updating hypothesis based on discussions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Synthesize and build the evidence mosaic for the key diligence questions, and Leadership Talent</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1"/>
                  </a:ext>
                </a:extLst>
              </a:tr>
              <a:tr h="1164458">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‘Strawman’ Value Agenda &amp; List of</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Critical Roles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Value Hotspots, Critical Roles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Brief partners for outside-in low</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touch talent data</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Evidence on value, work pivots, risks,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talent in the team</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0" kern="0" dirty="0">
                          <a:solidFill>
                            <a:schemeClr val="tx1"/>
                          </a:solidFill>
                          <a:latin typeface="Arial" panose="020B0604020202020204" pitchFamily="34" charset="0"/>
                          <a:ea typeface="+mn-ea"/>
                          <a:cs typeface="Arial" panose="020B0604020202020204" pitchFamily="34" charset="0"/>
                        </a:rPr>
                        <a:t>Human data – identity, beliefs, motivations</a:t>
                      </a:r>
                    </a:p>
                  </a:txBody>
                  <a:tcPr>
                    <a:lnT w="12700">
                      <a:solidFill>
                        <a:srgbClr val="1D1D1D"/>
                      </a:solidFill>
                      <a:prstDash val="solid"/>
                    </a:lnT>
                    <a:lnB w="12700">
                      <a:solidFill>
                        <a:srgbClr val="1D1D1D"/>
                      </a:solidFill>
                      <a:prstDash val="solid"/>
                    </a:lnB>
                    <a:noFill/>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1" kern="0" dirty="0">
                          <a:solidFill>
                            <a:schemeClr val="accent1"/>
                          </a:solidFill>
                          <a:latin typeface="Arial" panose="020B0604020202020204" pitchFamily="34" charset="0"/>
                          <a:ea typeface="+mn-ea"/>
                          <a:cs typeface="Arial" panose="020B0604020202020204" pitchFamily="34" charset="0"/>
                        </a:rPr>
                        <a:t>2 Page Executive Summary for IC</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2"/>
                        </a:buBlip>
                        <a:tabLst/>
                        <a:defRPr/>
                      </a:pPr>
                      <a:r>
                        <a:rPr lang="en-US" sz="1200" b="1" kern="0" dirty="0">
                          <a:solidFill>
                            <a:schemeClr val="accent1"/>
                          </a:solidFill>
                          <a:latin typeface="Arial" panose="020B0604020202020204" pitchFamily="34" charset="0"/>
                          <a:ea typeface="+mn-ea"/>
                          <a:cs typeface="Arial" panose="020B0604020202020204" pitchFamily="34" charset="0"/>
                        </a:rPr>
                        <a:t>Detailed readout for the deal team</a:t>
                      </a:r>
                    </a:p>
                  </a:txBody>
                  <a:tcPr>
                    <a:lnT w="12700">
                      <a:solidFill>
                        <a:srgbClr val="1D1D1D"/>
                      </a:solidFill>
                      <a:prstDash val="solid"/>
                    </a:lnT>
                    <a:lnB w="12700">
                      <a:solidFill>
                        <a:srgbClr val="1D1D1D"/>
                      </a:solidFill>
                      <a:prstDash val="solid"/>
                    </a:lnB>
                    <a:noFill/>
                  </a:tcPr>
                </a:tc>
                <a:extLst>
                  <a:ext uri="{0D108BD9-81ED-4DB2-BD59-A6C34878D82A}">
                    <a16:rowId xmlns:a16="http://schemas.microsoft.com/office/drawing/2014/main" val="10002"/>
                  </a:ext>
                </a:extLst>
              </a:tr>
            </a:tbl>
          </a:graphicData>
        </a:graphic>
      </p:graphicFrame>
      <p:sp>
        <p:nvSpPr>
          <p:cNvPr id="24" name="object 20">
            <a:extLst>
              <a:ext uri="{FF2B5EF4-FFF2-40B4-BE49-F238E27FC236}">
                <a16:creationId xmlns:a16="http://schemas.microsoft.com/office/drawing/2014/main" id="{03647066-694B-60DF-CF59-511F930AFD06}"/>
              </a:ext>
            </a:extLst>
          </p:cNvPr>
          <p:cNvSpPr txBox="1"/>
          <p:nvPr/>
        </p:nvSpPr>
        <p:spPr>
          <a:xfrm>
            <a:off x="452438" y="2508059"/>
            <a:ext cx="269304" cy="64770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a:ln>
                  <a:noFill/>
                </a:ln>
                <a:solidFill>
                  <a:schemeClr val="accent1"/>
                </a:solidFill>
                <a:effectLst/>
                <a:uLnTx/>
                <a:uFillTx/>
                <a:latin typeface="Arial" pitchFamily="34" charset="0"/>
                <a:cs typeface="Arial"/>
              </a:rPr>
              <a:t>Inputs</a:t>
            </a:r>
          </a:p>
        </p:txBody>
      </p:sp>
      <p:sp>
        <p:nvSpPr>
          <p:cNvPr id="25" name="object 21">
            <a:extLst>
              <a:ext uri="{FF2B5EF4-FFF2-40B4-BE49-F238E27FC236}">
                <a16:creationId xmlns:a16="http://schemas.microsoft.com/office/drawing/2014/main" id="{5F911828-2924-2930-807F-59337F523113}"/>
              </a:ext>
            </a:extLst>
          </p:cNvPr>
          <p:cNvSpPr txBox="1"/>
          <p:nvPr/>
        </p:nvSpPr>
        <p:spPr>
          <a:xfrm>
            <a:off x="453962" y="3778797"/>
            <a:ext cx="269304" cy="55880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a:ln>
                  <a:noFill/>
                </a:ln>
                <a:solidFill>
                  <a:schemeClr val="accent1"/>
                </a:solidFill>
                <a:effectLst/>
                <a:uLnTx/>
                <a:uFillTx/>
                <a:latin typeface="Arial" pitchFamily="34" charset="0"/>
                <a:cs typeface="Arial"/>
              </a:rPr>
              <a:t>Work</a:t>
            </a:r>
          </a:p>
        </p:txBody>
      </p:sp>
      <p:sp>
        <p:nvSpPr>
          <p:cNvPr id="26" name="object 22">
            <a:extLst>
              <a:ext uri="{FF2B5EF4-FFF2-40B4-BE49-F238E27FC236}">
                <a16:creationId xmlns:a16="http://schemas.microsoft.com/office/drawing/2014/main" id="{47D0846E-5F3A-8435-B384-FA47CEA0D8BC}"/>
              </a:ext>
            </a:extLst>
          </p:cNvPr>
          <p:cNvSpPr txBox="1"/>
          <p:nvPr/>
        </p:nvSpPr>
        <p:spPr>
          <a:xfrm>
            <a:off x="433540" y="4908076"/>
            <a:ext cx="269304" cy="712470"/>
          </a:xfrm>
          <a:prstGeom prst="rect">
            <a:avLst/>
          </a:prstGeom>
        </p:spPr>
        <p:txBody>
          <a:bodyPr vert="vert270" wrap="square" lIns="0" tIns="0" rIns="0" bIns="0" rtlCol="0">
            <a:spAutoFit/>
          </a:bodyPr>
          <a:lstStyle/>
          <a:p>
            <a:pPr marL="12700" marR="0" lvl="0" indent="0" defTabSz="914400" eaLnBrk="1" fontAlgn="auto" latinLnBrk="0" hangingPunct="1">
              <a:lnSpc>
                <a:spcPts val="2090"/>
              </a:lnSpc>
              <a:spcBef>
                <a:spcPts val="0"/>
              </a:spcBef>
              <a:spcAft>
                <a:spcPts val="0"/>
              </a:spcAft>
              <a:buClrTx/>
              <a:buSzTx/>
              <a:buFontTx/>
              <a:buNone/>
              <a:tabLst/>
              <a:defRPr/>
            </a:pPr>
            <a:r>
              <a:rPr kumimoji="0" sz="1800" i="0" u="none" strike="noStrike" kern="0" cap="none" spc="-10" normalizeH="0" baseline="0" noProof="0" dirty="0">
                <a:ln>
                  <a:noFill/>
                </a:ln>
                <a:solidFill>
                  <a:schemeClr val="accent1"/>
                </a:solidFill>
                <a:effectLst/>
                <a:uLnTx/>
                <a:uFillTx/>
                <a:latin typeface="Arial" pitchFamily="34" charset="0"/>
                <a:cs typeface="Arial"/>
              </a:rPr>
              <a:t>Output</a:t>
            </a:r>
          </a:p>
        </p:txBody>
      </p:sp>
      <p:sp>
        <p:nvSpPr>
          <p:cNvPr id="2" name="TextBox 1">
            <a:extLst>
              <a:ext uri="{FF2B5EF4-FFF2-40B4-BE49-F238E27FC236}">
                <a16:creationId xmlns:a16="http://schemas.microsoft.com/office/drawing/2014/main" id="{7F00B4D9-7AC7-1C63-CFDA-077AC1CB21CA}"/>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6340801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DEF9-96EA-E3FE-82C2-EF57726481B7}"/>
              </a:ext>
            </a:extLst>
          </p:cNvPr>
          <p:cNvSpPr>
            <a:spLocks noGrp="1"/>
          </p:cNvSpPr>
          <p:nvPr>
            <p:ph type="title"/>
          </p:nvPr>
        </p:nvSpPr>
        <p:spPr/>
        <p:txBody>
          <a:bodyPr/>
          <a:lstStyle/>
          <a:p>
            <a:r>
              <a:rPr lang="en-US" dirty="0"/>
              <a:t>Pre-Deal Diligence Case Study</a:t>
            </a:r>
          </a:p>
        </p:txBody>
      </p:sp>
      <p:sp>
        <p:nvSpPr>
          <p:cNvPr id="3" name="Text Placeholder 2">
            <a:extLst>
              <a:ext uri="{FF2B5EF4-FFF2-40B4-BE49-F238E27FC236}">
                <a16:creationId xmlns:a16="http://schemas.microsoft.com/office/drawing/2014/main" id="{C17C96B1-37AA-E2AD-7C8A-035ACFD57696}"/>
              </a:ext>
            </a:extLst>
          </p:cNvPr>
          <p:cNvSpPr>
            <a:spLocks noGrp="1"/>
          </p:cNvSpPr>
          <p:nvPr>
            <p:ph type="body" sz="quarter" idx="12"/>
          </p:nvPr>
        </p:nvSpPr>
        <p:spPr/>
        <p:txBody>
          <a:bodyPr/>
          <a:lstStyle/>
          <a:p>
            <a:r>
              <a:rPr lang="en-US" dirty="0"/>
              <a:t>Four Week Sprint – Leadership Talent Dd Adjacent to Finance, Legal, Operational DD</a:t>
            </a:r>
          </a:p>
          <a:p>
            <a:endParaRPr lang="en-US" dirty="0"/>
          </a:p>
        </p:txBody>
      </p:sp>
      <p:sp>
        <p:nvSpPr>
          <p:cNvPr id="4" name="Slide Number Placeholder 3">
            <a:extLst>
              <a:ext uri="{FF2B5EF4-FFF2-40B4-BE49-F238E27FC236}">
                <a16:creationId xmlns:a16="http://schemas.microsoft.com/office/drawing/2014/main" id="{6CC4930F-1FC5-CA63-4BF2-56717D4B560A}"/>
              </a:ext>
            </a:extLst>
          </p:cNvPr>
          <p:cNvSpPr>
            <a:spLocks noGrp="1"/>
          </p:cNvSpPr>
          <p:nvPr>
            <p:ph type="sldNum" sz="quarter" idx="4"/>
          </p:nvPr>
        </p:nvSpPr>
        <p:spPr/>
        <p:txBody>
          <a:bodyPr/>
          <a:lstStyle/>
          <a:p>
            <a:pPr algn="ctr"/>
            <a:fld id="{7DA59B58-B945-4B36-BC6B-9C26C933A008}" type="slidenum">
              <a:rPr lang="en-US" smtClean="0"/>
              <a:t>53</a:t>
            </a:fld>
            <a:endParaRPr lang="en-US"/>
          </a:p>
        </p:txBody>
      </p:sp>
      <p:sp>
        <p:nvSpPr>
          <p:cNvPr id="7" name="Rectangle 6">
            <a:extLst>
              <a:ext uri="{FF2B5EF4-FFF2-40B4-BE49-F238E27FC236}">
                <a16:creationId xmlns:a16="http://schemas.microsoft.com/office/drawing/2014/main" id="{45F22580-FBCD-464B-D344-5363D5523A13}"/>
              </a:ext>
            </a:extLst>
          </p:cNvPr>
          <p:cNvSpPr/>
          <p:nvPr/>
        </p:nvSpPr>
        <p:spPr>
          <a:xfrm>
            <a:off x="5536559" y="1507773"/>
            <a:ext cx="6357632" cy="4797865"/>
          </a:xfrm>
          <a:prstGeom prst="rect">
            <a:avLst/>
          </a:prstGeom>
          <a:no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gn="l">
              <a:buFont typeface="Arial" panose="020B0604020202020204" pitchFamily="34" charset="0"/>
              <a:buChar char="•"/>
            </a:pPr>
            <a:endParaRPr lang="en-US" sz="1400" spc="-10" dirty="0">
              <a:solidFill>
                <a:srgbClr val="765FFF"/>
              </a:solidFill>
              <a:latin typeface="Arial" pitchFamily="34" charset="0"/>
            </a:endParaRPr>
          </a:p>
          <a:p>
            <a:pPr marL="342900" indent="-342900" algn="l">
              <a:buBlip>
                <a:blip r:embed="rId2"/>
              </a:buBlip>
            </a:pPr>
            <a:r>
              <a:rPr lang="en-US" sz="1400" spc="-10" dirty="0">
                <a:solidFill>
                  <a:srgbClr val="765FFF"/>
                </a:solidFill>
                <a:latin typeface="Arial" pitchFamily="34" charset="0"/>
              </a:rPr>
              <a:t>LEADERSHIP TALENT</a:t>
            </a:r>
            <a:r>
              <a:rPr lang="en-US" sz="1400" spc="-10" dirty="0">
                <a:solidFill>
                  <a:srgbClr val="1D1D1D"/>
                </a:solidFill>
                <a:latin typeface="Arial" pitchFamily="34" charset="0"/>
              </a:rPr>
              <a:t> : How strong are the CEO &amp; Leadership Team?</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61950" indent="-361950" algn="l">
              <a:buBlip>
                <a:blip r:embed="rId2"/>
              </a:buBlip>
            </a:pPr>
            <a:r>
              <a:rPr lang="en-US" sz="1400" spc="-10" dirty="0">
                <a:solidFill>
                  <a:srgbClr val="765FFF"/>
                </a:solidFill>
                <a:latin typeface="Arial" pitchFamily="34" charset="0"/>
              </a:rPr>
              <a:t>LEADERSHIP TEAM RISKS</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647700" lvl="5" indent="-285750" algn="l">
              <a:buBlip>
                <a:blip r:embed="rId2"/>
              </a:buBlip>
            </a:pPr>
            <a:r>
              <a:rPr lang="en-US" sz="1400" spc="-10" dirty="0">
                <a:solidFill>
                  <a:srgbClr val="1D1D1D"/>
                </a:solidFill>
                <a:latin typeface="Arial" pitchFamily="34" charset="0"/>
              </a:rPr>
              <a:t>Motivations of the CEO and Leadership Team to stay on</a:t>
            </a:r>
          </a:p>
          <a:p>
            <a:pPr marL="647700" lvl="5" indent="-285750" algn="l">
              <a:buBlip>
                <a:blip r:embed="rId2"/>
              </a:buBlip>
            </a:pPr>
            <a:r>
              <a:rPr lang="en-US" sz="1400" spc="-10" dirty="0">
                <a:solidFill>
                  <a:srgbClr val="1D1D1D"/>
                </a:solidFill>
                <a:latin typeface="Arial" pitchFamily="34" charset="0"/>
              </a:rPr>
              <a:t>Capacity, Capability and Fit for CEO and Leadership Team for the thesis </a:t>
            </a:r>
          </a:p>
          <a:p>
            <a:pPr marL="285750" indent="-285750" algn="l">
              <a:buBlip>
                <a:blip r:embed="rId2"/>
              </a:buBlip>
            </a:pPr>
            <a:endParaRPr lang="en-US" sz="1400" spc="-10" dirty="0">
              <a:solidFill>
                <a:srgbClr val="1D1D1D"/>
              </a:solidFill>
              <a:latin typeface="Arial" pitchFamily="34" charset="0"/>
            </a:endParaRPr>
          </a:p>
          <a:p>
            <a:pPr marL="361950" indent="-361950" algn="l">
              <a:buBlip>
                <a:blip r:embed="rId2"/>
              </a:buBlip>
            </a:pPr>
            <a:r>
              <a:rPr lang="en-US" sz="1400" spc="-10" dirty="0">
                <a:solidFill>
                  <a:srgbClr val="765FFF"/>
                </a:solidFill>
                <a:latin typeface="Arial" pitchFamily="34" charset="0"/>
              </a:rPr>
              <a:t>BENCH-STRENGTH</a:t>
            </a:r>
            <a:br>
              <a:rPr lang="en-US" sz="1400" spc="-10" dirty="0">
                <a:solidFill>
                  <a:srgbClr val="765FFF"/>
                </a:solidFill>
                <a:latin typeface="Arial" pitchFamily="34" charset="0"/>
              </a:rPr>
            </a:br>
            <a:endParaRPr lang="en-US" sz="1400" spc="-10" dirty="0">
              <a:solidFill>
                <a:srgbClr val="1D1D1D"/>
              </a:solidFill>
              <a:latin typeface="Arial" pitchFamily="34" charset="0"/>
            </a:endParaRPr>
          </a:p>
          <a:p>
            <a:pPr marL="647700" lvl="5" indent="-285750" algn="l">
              <a:buBlip>
                <a:blip r:embed="rId2"/>
              </a:buBlip>
            </a:pPr>
            <a:r>
              <a:rPr lang="en-US" sz="1400" spc="-10" dirty="0">
                <a:solidFill>
                  <a:srgbClr val="1D1D1D"/>
                </a:solidFill>
                <a:latin typeface="Arial" pitchFamily="34" charset="0"/>
              </a:rPr>
              <a:t>Succession planning &amp; bench-strength for CEO’s direct reports</a:t>
            </a:r>
          </a:p>
          <a:p>
            <a:pPr marL="647700" lvl="5" indent="-285750" algn="l">
              <a:buBlip>
                <a:blip r:embed="rId2"/>
              </a:buBlip>
            </a:pPr>
            <a:r>
              <a:rPr lang="en-US" sz="1400" spc="-10" dirty="0">
                <a:solidFill>
                  <a:srgbClr val="1D1D1D"/>
                </a:solidFill>
                <a:latin typeface="Arial" pitchFamily="34" charset="0"/>
              </a:rPr>
              <a:t>Indicative Critical Roles and view on bench-strength deeper in the Org.</a:t>
            </a:r>
          </a:p>
          <a:p>
            <a:pPr marL="285750" indent="-285750" algn="l">
              <a:buBlip>
                <a:blip r:embed="rId2"/>
              </a:buBlip>
            </a:pPr>
            <a:endParaRPr lang="en-US" sz="1400" spc="-10" dirty="0">
              <a:solidFill>
                <a:srgbClr val="1D1D1D"/>
              </a:solidFill>
              <a:latin typeface="Arial" pitchFamily="34" charset="0"/>
            </a:endParaRPr>
          </a:p>
          <a:p>
            <a:pPr marL="285750" indent="-285750" algn="l">
              <a:buBlip>
                <a:blip r:embed="rId2"/>
              </a:buBlip>
            </a:pPr>
            <a:r>
              <a:rPr lang="en-US" sz="1400" spc="-10" dirty="0">
                <a:solidFill>
                  <a:srgbClr val="765FFF"/>
                </a:solidFill>
                <a:latin typeface="Arial" pitchFamily="34" charset="0"/>
              </a:rPr>
              <a:t>MANAGEMENT GAPS vs THESIS: </a:t>
            </a:r>
            <a:r>
              <a:rPr lang="en-US" sz="1400" spc="-10" dirty="0">
                <a:solidFill>
                  <a:srgbClr val="1D1D1D"/>
                </a:solidFill>
                <a:latin typeface="Arial" pitchFamily="34" charset="0"/>
              </a:rPr>
              <a:t>Gaps in Management, Org. Capability/Structure vs. Pivots required to deliver the thesis. </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285750" indent="-285750" algn="l">
              <a:buBlip>
                <a:blip r:embed="rId2"/>
              </a:buBlip>
            </a:pPr>
            <a:r>
              <a:rPr lang="en-US" sz="1400" spc="-10" dirty="0">
                <a:solidFill>
                  <a:srgbClr val="281A42"/>
                </a:solidFill>
                <a:latin typeface="Arial" pitchFamily="34" charset="0"/>
              </a:rPr>
              <a:t>DATA INSIGHTS: </a:t>
            </a:r>
            <a:r>
              <a:rPr lang="en-US" sz="1400" spc="-10" dirty="0">
                <a:solidFill>
                  <a:srgbClr val="1D1D1D"/>
                </a:solidFill>
                <a:latin typeface="Arial" pitchFamily="34" charset="0"/>
              </a:rPr>
              <a:t>Key insights from Employee / Engagement Survey and Attrition Data as made available by the target.</a:t>
            </a:r>
          </a:p>
        </p:txBody>
      </p:sp>
      <p:sp>
        <p:nvSpPr>
          <p:cNvPr id="8" name="Rectangle 7">
            <a:extLst>
              <a:ext uri="{FF2B5EF4-FFF2-40B4-BE49-F238E27FC236}">
                <a16:creationId xmlns:a16="http://schemas.microsoft.com/office/drawing/2014/main" id="{105AA2CE-D322-8073-3DC3-85D14E0A7C44}"/>
              </a:ext>
            </a:extLst>
          </p:cNvPr>
          <p:cNvSpPr/>
          <p:nvPr/>
        </p:nvSpPr>
        <p:spPr>
          <a:xfrm>
            <a:off x="297809" y="1858805"/>
            <a:ext cx="4883791" cy="4026209"/>
          </a:xfrm>
          <a:prstGeom prst="rect">
            <a:avLst/>
          </a:prstGeom>
          <a:no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lgn="l">
              <a:buFont typeface="Arial" panose="020B0604020202020204" pitchFamily="34" charset="0"/>
              <a:buChar char="•"/>
            </a:pPr>
            <a:endParaRPr lang="en-US" sz="1400" spc="-10" dirty="0">
              <a:solidFill>
                <a:srgbClr val="1D1D1D"/>
              </a:solidFill>
              <a:latin typeface="Arial" pitchFamily="34" charset="0"/>
            </a:endParaRPr>
          </a:p>
          <a:p>
            <a:pPr marL="342900" indent="-342900" algn="l">
              <a:buFont typeface="Arial" panose="020B0604020202020204" pitchFamily="34" charset="0"/>
              <a:buChar char="•"/>
            </a:pPr>
            <a:endParaRPr lang="en-US" sz="1400" spc="-10" dirty="0">
              <a:solidFill>
                <a:srgbClr val="1D1D1D"/>
              </a:solidFill>
              <a:latin typeface="Arial" pitchFamily="34" charset="0"/>
            </a:endParaRPr>
          </a:p>
          <a:p>
            <a:pPr marL="342900" indent="-342900" algn="l">
              <a:buBlip>
                <a:blip r:embed="rId2"/>
              </a:buBlip>
            </a:pPr>
            <a:r>
              <a:rPr lang="en-US" sz="1400" spc="-10" dirty="0">
                <a:solidFill>
                  <a:srgbClr val="1D1D1D"/>
                </a:solidFill>
                <a:latin typeface="Arial" pitchFamily="34" charset="0"/>
              </a:rPr>
              <a:t>Financial sponsor evaluating buyout of privately held Global Consumer Services Business.</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Blip>
                <a:blip r:embed="rId2"/>
              </a:buBlip>
            </a:pPr>
            <a:r>
              <a:rPr lang="en-US" sz="1400" spc="-10" dirty="0">
                <a:solidFill>
                  <a:srgbClr val="1D1D1D"/>
                </a:solidFill>
                <a:latin typeface="Arial" pitchFamily="34" charset="0"/>
              </a:rPr>
              <a:t>Leadership Team comprising of CEO, 8 Direct Reports and 2 Obviously Critical Roles not formally a part of the Executive Leadership Team.</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Blip>
                <a:blip r:embed="rId2"/>
              </a:buBlip>
            </a:pPr>
            <a:r>
              <a:rPr lang="en-US" sz="1400" spc="-10" dirty="0">
                <a:solidFill>
                  <a:srgbClr val="1D1D1D"/>
                </a:solidFill>
                <a:latin typeface="Arial" pitchFamily="34" charset="0"/>
              </a:rPr>
              <a:t>Team executed a tough turnaround under current shareholder. Future thesis hinges on pivoting to growth.</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Blip>
                <a:blip r:embed="rId2"/>
              </a:buBlip>
            </a:pPr>
            <a:r>
              <a:rPr lang="en-US" sz="1400" spc="-10" dirty="0">
                <a:solidFill>
                  <a:srgbClr val="1D1D1D"/>
                </a:solidFill>
                <a:latin typeface="Arial" pitchFamily="34" charset="0"/>
              </a:rPr>
              <a:t>Large core business with leading positions in the Companies categories in key markets, with limited growth potential. </a:t>
            </a:r>
            <a:br>
              <a:rPr lang="en-US" sz="1400" spc="-10" dirty="0">
                <a:solidFill>
                  <a:srgbClr val="1D1D1D"/>
                </a:solidFill>
                <a:latin typeface="Arial" pitchFamily="34" charset="0"/>
              </a:rPr>
            </a:br>
            <a:endParaRPr lang="en-US" sz="1400" spc="-10" dirty="0">
              <a:solidFill>
                <a:srgbClr val="1D1D1D"/>
              </a:solidFill>
              <a:latin typeface="Arial" pitchFamily="34" charset="0"/>
            </a:endParaRPr>
          </a:p>
          <a:p>
            <a:pPr marL="342900" indent="-342900" algn="l">
              <a:buBlip>
                <a:blip r:embed="rId2"/>
              </a:buBlip>
            </a:pPr>
            <a:r>
              <a:rPr lang="en-US" sz="1400" spc="-10" dirty="0">
                <a:solidFill>
                  <a:srgbClr val="1D1D1D"/>
                </a:solidFill>
                <a:latin typeface="Arial" pitchFamily="34" charset="0"/>
              </a:rPr>
              <a:t>Significant attractive organic and inorganic growth optionality but limited in-market evidence.</a:t>
            </a:r>
          </a:p>
        </p:txBody>
      </p:sp>
      <p:sp>
        <p:nvSpPr>
          <p:cNvPr id="9" name="Rectangle 8">
            <a:extLst>
              <a:ext uri="{FF2B5EF4-FFF2-40B4-BE49-F238E27FC236}">
                <a16:creationId xmlns:a16="http://schemas.microsoft.com/office/drawing/2014/main" id="{41FF2D1B-ABC3-19E7-2485-8210893B45D9}"/>
              </a:ext>
            </a:extLst>
          </p:cNvPr>
          <p:cNvSpPr/>
          <p:nvPr/>
        </p:nvSpPr>
        <p:spPr>
          <a:xfrm>
            <a:off x="687959" y="1608290"/>
            <a:ext cx="4179316" cy="4970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Deal Context</a:t>
            </a:r>
            <a:endParaRPr lang="en-GB" b="1" dirty="0"/>
          </a:p>
        </p:txBody>
      </p:sp>
      <p:sp>
        <p:nvSpPr>
          <p:cNvPr id="10" name="Rectangle 9">
            <a:extLst>
              <a:ext uri="{FF2B5EF4-FFF2-40B4-BE49-F238E27FC236}">
                <a16:creationId xmlns:a16="http://schemas.microsoft.com/office/drawing/2014/main" id="{02DF57AC-DE81-A78B-350B-6D4A2D8A33A6}"/>
              </a:ext>
            </a:extLst>
          </p:cNvPr>
          <p:cNvSpPr/>
          <p:nvPr/>
        </p:nvSpPr>
        <p:spPr>
          <a:xfrm>
            <a:off x="6625717" y="1259242"/>
            <a:ext cx="4179316" cy="4970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spc="-25" dirty="0">
                <a:latin typeface="Segoe UI" pitchFamily="34" charset="0"/>
              </a:rPr>
              <a:t>Diligence Key Questions</a:t>
            </a:r>
            <a:endParaRPr lang="en-GB" b="1" spc="-25" dirty="0">
              <a:latin typeface="Segoe UI" pitchFamily="34" charset="0"/>
            </a:endParaRPr>
          </a:p>
        </p:txBody>
      </p:sp>
      <p:sp>
        <p:nvSpPr>
          <p:cNvPr id="5" name="TextBox 4">
            <a:extLst>
              <a:ext uri="{FF2B5EF4-FFF2-40B4-BE49-F238E27FC236}">
                <a16:creationId xmlns:a16="http://schemas.microsoft.com/office/drawing/2014/main" id="{4486F494-D5C0-FB6F-0E11-3C078143F52B}"/>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5458263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5B80-583E-237C-B1FF-364DC96D7A4C}"/>
              </a:ext>
            </a:extLst>
          </p:cNvPr>
          <p:cNvSpPr>
            <a:spLocks noGrp="1"/>
          </p:cNvSpPr>
          <p:nvPr>
            <p:ph type="title"/>
          </p:nvPr>
        </p:nvSpPr>
        <p:spPr/>
        <p:txBody>
          <a:bodyPr/>
          <a:lstStyle/>
          <a:p>
            <a:r>
              <a:rPr lang="en-US" dirty="0"/>
              <a:t>Pre-deal Diligence Output: Readout Summary</a:t>
            </a:r>
          </a:p>
        </p:txBody>
      </p:sp>
      <p:sp>
        <p:nvSpPr>
          <p:cNvPr id="3" name="Text Placeholder 2">
            <a:extLst>
              <a:ext uri="{FF2B5EF4-FFF2-40B4-BE49-F238E27FC236}">
                <a16:creationId xmlns:a16="http://schemas.microsoft.com/office/drawing/2014/main" id="{A3359A2A-63A1-AABE-2E45-C61A4141794E}"/>
              </a:ext>
            </a:extLst>
          </p:cNvPr>
          <p:cNvSpPr>
            <a:spLocks noGrp="1"/>
          </p:cNvSpPr>
          <p:nvPr>
            <p:ph type="body" sz="quarter" idx="12"/>
          </p:nvPr>
        </p:nvSpPr>
        <p:spPr/>
        <p:txBody>
          <a:bodyPr/>
          <a:lstStyle/>
          <a:p>
            <a:r>
              <a:rPr lang="en-US" dirty="0"/>
              <a:t>Pragmatic, Actionable Input, Enabling Sponsor to Underwrite Talent Risks Better</a:t>
            </a:r>
          </a:p>
          <a:p>
            <a:endParaRPr lang="en-US" dirty="0"/>
          </a:p>
        </p:txBody>
      </p:sp>
      <p:sp>
        <p:nvSpPr>
          <p:cNvPr id="4" name="Slide Number Placeholder 3">
            <a:extLst>
              <a:ext uri="{FF2B5EF4-FFF2-40B4-BE49-F238E27FC236}">
                <a16:creationId xmlns:a16="http://schemas.microsoft.com/office/drawing/2014/main" id="{BEEA2604-0224-5C14-03C8-4853BE1535C3}"/>
              </a:ext>
            </a:extLst>
          </p:cNvPr>
          <p:cNvSpPr>
            <a:spLocks noGrp="1"/>
          </p:cNvSpPr>
          <p:nvPr>
            <p:ph type="sldNum" sz="quarter" idx="4"/>
          </p:nvPr>
        </p:nvSpPr>
        <p:spPr/>
        <p:txBody>
          <a:bodyPr/>
          <a:lstStyle/>
          <a:p>
            <a:pPr algn="ctr"/>
            <a:fld id="{7DA59B58-B945-4B36-BC6B-9C26C933A008}" type="slidenum">
              <a:rPr lang="en-US" smtClean="0"/>
              <a:t>54</a:t>
            </a:fld>
            <a:endParaRPr lang="en-US"/>
          </a:p>
        </p:txBody>
      </p:sp>
      <p:grpSp>
        <p:nvGrpSpPr>
          <p:cNvPr id="6" name="object 2">
            <a:extLst>
              <a:ext uri="{FF2B5EF4-FFF2-40B4-BE49-F238E27FC236}">
                <a16:creationId xmlns:a16="http://schemas.microsoft.com/office/drawing/2014/main" id="{B3E0E2E1-7921-D444-DB6A-621BC14E9EBA}"/>
              </a:ext>
            </a:extLst>
          </p:cNvPr>
          <p:cNvGrpSpPr/>
          <p:nvPr/>
        </p:nvGrpSpPr>
        <p:grpSpPr>
          <a:xfrm>
            <a:off x="439073" y="4345821"/>
            <a:ext cx="3338829" cy="2066289"/>
            <a:chOff x="97535" y="4238244"/>
            <a:chExt cx="3273425" cy="2122170"/>
          </a:xfrm>
        </p:grpSpPr>
        <p:pic>
          <p:nvPicPr>
            <p:cNvPr id="7" name="object 3">
              <a:extLst>
                <a:ext uri="{FF2B5EF4-FFF2-40B4-BE49-F238E27FC236}">
                  <a16:creationId xmlns:a16="http://schemas.microsoft.com/office/drawing/2014/main" id="{C53EAD49-250C-78A5-707C-0A304CA12267}"/>
                </a:ext>
              </a:extLst>
            </p:cNvPr>
            <p:cNvPicPr/>
            <p:nvPr/>
          </p:nvPicPr>
          <p:blipFill>
            <a:blip r:embed="rId2" cstate="email">
              <a:duotone>
                <a:srgbClr val="765FFF"/>
                <a:srgbClr val="FFFFFF"/>
              </a:duotone>
            </a:blip>
            <a:stretch>
              <a:fillRect/>
            </a:stretch>
          </p:blipFill>
          <p:spPr>
            <a:xfrm>
              <a:off x="525744" y="4605175"/>
              <a:ext cx="2844618" cy="1713047"/>
            </a:xfrm>
            <a:prstGeom prst="rect">
              <a:avLst/>
            </a:prstGeom>
          </p:spPr>
        </p:pic>
        <p:pic>
          <p:nvPicPr>
            <p:cNvPr id="8" name="object 4">
              <a:extLst>
                <a:ext uri="{FF2B5EF4-FFF2-40B4-BE49-F238E27FC236}">
                  <a16:creationId xmlns:a16="http://schemas.microsoft.com/office/drawing/2014/main" id="{109CC31A-308B-66B8-E11E-097A399DAFD0}"/>
                </a:ext>
              </a:extLst>
            </p:cNvPr>
            <p:cNvPicPr/>
            <p:nvPr/>
          </p:nvPicPr>
          <p:blipFill>
            <a:blip r:embed="rId3" cstate="email">
              <a:duotone>
                <a:srgbClr val="765FFF"/>
                <a:srgbClr val="FFFFFF"/>
              </a:duotone>
            </a:blip>
            <a:stretch>
              <a:fillRect/>
            </a:stretch>
          </p:blipFill>
          <p:spPr>
            <a:xfrm>
              <a:off x="374903" y="4408932"/>
              <a:ext cx="2899410" cy="1951482"/>
            </a:xfrm>
            <a:prstGeom prst="rect">
              <a:avLst/>
            </a:prstGeom>
          </p:spPr>
        </p:pic>
        <p:pic>
          <p:nvPicPr>
            <p:cNvPr id="9" name="object 5">
              <a:extLst>
                <a:ext uri="{FF2B5EF4-FFF2-40B4-BE49-F238E27FC236}">
                  <a16:creationId xmlns:a16="http://schemas.microsoft.com/office/drawing/2014/main" id="{AEE30D73-3112-0D76-7A9A-C2C5764614C9}"/>
                </a:ext>
              </a:extLst>
            </p:cNvPr>
            <p:cNvPicPr/>
            <p:nvPr/>
          </p:nvPicPr>
          <p:blipFill>
            <a:blip r:embed="rId4" cstate="email">
              <a:duotone>
                <a:srgbClr val="765FFF"/>
                <a:srgbClr val="FFFFFF"/>
              </a:duotone>
            </a:blip>
            <a:stretch>
              <a:fillRect/>
            </a:stretch>
          </p:blipFill>
          <p:spPr>
            <a:xfrm>
              <a:off x="251459" y="4323588"/>
              <a:ext cx="2899410" cy="1951482"/>
            </a:xfrm>
            <a:prstGeom prst="rect">
              <a:avLst/>
            </a:prstGeom>
          </p:spPr>
        </p:pic>
        <p:pic>
          <p:nvPicPr>
            <p:cNvPr id="10" name="object 6">
              <a:extLst>
                <a:ext uri="{FF2B5EF4-FFF2-40B4-BE49-F238E27FC236}">
                  <a16:creationId xmlns:a16="http://schemas.microsoft.com/office/drawing/2014/main" id="{BF4F77F5-9315-2BCD-30EB-04DC0280B841}"/>
                </a:ext>
              </a:extLst>
            </p:cNvPr>
            <p:cNvPicPr/>
            <p:nvPr/>
          </p:nvPicPr>
          <p:blipFill>
            <a:blip r:embed="rId5" cstate="email">
              <a:duotone>
                <a:srgbClr val="765FFF"/>
                <a:srgbClr val="FFFFFF"/>
              </a:duotone>
            </a:blip>
            <a:stretch>
              <a:fillRect/>
            </a:stretch>
          </p:blipFill>
          <p:spPr>
            <a:xfrm>
              <a:off x="97535" y="4238244"/>
              <a:ext cx="2899410" cy="1949958"/>
            </a:xfrm>
            <a:prstGeom prst="rect">
              <a:avLst/>
            </a:prstGeom>
          </p:spPr>
        </p:pic>
      </p:grpSp>
      <p:grpSp>
        <p:nvGrpSpPr>
          <p:cNvPr id="11" name="object 9">
            <a:extLst>
              <a:ext uri="{FF2B5EF4-FFF2-40B4-BE49-F238E27FC236}">
                <a16:creationId xmlns:a16="http://schemas.microsoft.com/office/drawing/2014/main" id="{63D2DB78-64C8-D636-3DEE-66BE7A07081E}"/>
              </a:ext>
            </a:extLst>
          </p:cNvPr>
          <p:cNvGrpSpPr/>
          <p:nvPr/>
        </p:nvGrpSpPr>
        <p:grpSpPr>
          <a:xfrm>
            <a:off x="439073" y="1752057"/>
            <a:ext cx="3338829" cy="2066289"/>
            <a:chOff x="188940" y="1740133"/>
            <a:chExt cx="3338829" cy="2066289"/>
          </a:xfrm>
        </p:grpSpPr>
        <p:pic>
          <p:nvPicPr>
            <p:cNvPr id="12" name="object 10">
              <a:extLst>
                <a:ext uri="{FF2B5EF4-FFF2-40B4-BE49-F238E27FC236}">
                  <a16:creationId xmlns:a16="http://schemas.microsoft.com/office/drawing/2014/main" id="{B371B2B3-B313-D0FD-0B4B-CD669C32D788}"/>
                </a:ext>
              </a:extLst>
            </p:cNvPr>
            <p:cNvPicPr/>
            <p:nvPr/>
          </p:nvPicPr>
          <p:blipFill>
            <a:blip r:embed="rId6" cstate="email">
              <a:duotone>
                <a:srgbClr val="765FFF"/>
                <a:srgbClr val="FFFFFF"/>
              </a:duotone>
            </a:blip>
            <a:stretch>
              <a:fillRect/>
            </a:stretch>
          </p:blipFill>
          <p:spPr>
            <a:xfrm>
              <a:off x="188940" y="1740133"/>
              <a:ext cx="2844618" cy="1714386"/>
            </a:xfrm>
            <a:prstGeom prst="rect">
              <a:avLst/>
            </a:prstGeom>
          </p:spPr>
        </p:pic>
        <p:pic>
          <p:nvPicPr>
            <p:cNvPr id="13" name="object 11">
              <a:extLst>
                <a:ext uri="{FF2B5EF4-FFF2-40B4-BE49-F238E27FC236}">
                  <a16:creationId xmlns:a16="http://schemas.microsoft.com/office/drawing/2014/main" id="{A9288F2F-34EE-A8CD-A52E-E136EB1C7972}"/>
                </a:ext>
              </a:extLst>
            </p:cNvPr>
            <p:cNvPicPr/>
            <p:nvPr/>
          </p:nvPicPr>
          <p:blipFill>
            <a:blip r:embed="rId7" cstate="email">
              <a:duotone>
                <a:srgbClr val="765FFF"/>
                <a:srgbClr val="FFFFFF"/>
              </a:duotone>
            </a:blip>
            <a:stretch>
              <a:fillRect/>
            </a:stretch>
          </p:blipFill>
          <p:spPr>
            <a:xfrm>
              <a:off x="629412" y="1854708"/>
              <a:ext cx="2897886" cy="1951482"/>
            </a:xfrm>
            <a:prstGeom prst="rect">
              <a:avLst/>
            </a:prstGeom>
          </p:spPr>
        </p:pic>
      </p:grpSp>
      <p:sp>
        <p:nvSpPr>
          <p:cNvPr id="14" name="object 12">
            <a:extLst>
              <a:ext uri="{FF2B5EF4-FFF2-40B4-BE49-F238E27FC236}">
                <a16:creationId xmlns:a16="http://schemas.microsoft.com/office/drawing/2014/main" id="{60A7072D-E4BF-051C-7D68-C7560FA84802}"/>
              </a:ext>
            </a:extLst>
          </p:cNvPr>
          <p:cNvSpPr txBox="1"/>
          <p:nvPr/>
        </p:nvSpPr>
        <p:spPr>
          <a:xfrm>
            <a:off x="533985" y="1338460"/>
            <a:ext cx="3126740" cy="566822"/>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800" b="1" i="0" u="none" strike="noStrike" kern="0" cap="none" spc="-25" normalizeH="0" baseline="0" noProof="0" dirty="0">
                <a:ln>
                  <a:noFill/>
                </a:ln>
                <a:solidFill>
                  <a:sysClr val="windowText" lastClr="000000"/>
                </a:solidFill>
                <a:effectLst/>
                <a:uLnTx/>
                <a:uFillTx/>
                <a:latin typeface="Segoe UI" pitchFamily="34" charset="0"/>
                <a:cs typeface="Calibri"/>
              </a:rPr>
              <a:t>2 Page </a:t>
            </a:r>
            <a:r>
              <a:rPr kumimoji="0" sz="1800" b="1" i="0" u="none" strike="noStrike" kern="0" cap="none" spc="-25" normalizeH="0" baseline="0" noProof="0" dirty="0">
                <a:ln>
                  <a:noFill/>
                </a:ln>
                <a:solidFill>
                  <a:srgbClr val="765FFF"/>
                </a:solidFill>
                <a:effectLst/>
                <a:uLnTx/>
                <a:uFillTx/>
                <a:latin typeface="Segoe UI" pitchFamily="34" charset="0"/>
                <a:cs typeface="Calibri"/>
              </a:rPr>
              <a:t>Executive Summary for </a:t>
            </a:r>
            <a:r>
              <a:rPr kumimoji="0" lang="en-US" sz="1800" b="1" i="0" u="none" strike="noStrike" kern="0" cap="none" spc="-25" normalizeH="0" baseline="0" noProof="0" dirty="0">
                <a:ln>
                  <a:noFill/>
                </a:ln>
                <a:solidFill>
                  <a:srgbClr val="765FFF"/>
                </a:solidFill>
                <a:effectLst/>
                <a:uLnTx/>
                <a:uFillTx/>
                <a:latin typeface="Segoe UI" pitchFamily="34" charset="0"/>
                <a:cs typeface="Calibri"/>
              </a:rPr>
              <a:t>IC</a:t>
            </a:r>
            <a:endParaRPr kumimoji="0" sz="1800" b="1" i="0" u="none" strike="noStrike" kern="0" cap="none" spc="-25" normalizeH="0" baseline="0" noProof="0" dirty="0">
              <a:ln>
                <a:noFill/>
              </a:ln>
              <a:solidFill>
                <a:sysClr val="windowText" lastClr="000000"/>
              </a:solidFill>
              <a:effectLst/>
              <a:uLnTx/>
              <a:uFillTx/>
              <a:latin typeface="Segoe UI" pitchFamily="34" charset="0"/>
              <a:cs typeface="Calibri"/>
            </a:endParaRPr>
          </a:p>
        </p:txBody>
      </p:sp>
      <p:sp>
        <p:nvSpPr>
          <p:cNvPr id="15" name="object 13">
            <a:extLst>
              <a:ext uri="{FF2B5EF4-FFF2-40B4-BE49-F238E27FC236}">
                <a16:creationId xmlns:a16="http://schemas.microsoft.com/office/drawing/2014/main" id="{2B4E1966-C753-987E-94C6-8F08A6821120}"/>
              </a:ext>
            </a:extLst>
          </p:cNvPr>
          <p:cNvSpPr txBox="1"/>
          <p:nvPr/>
        </p:nvSpPr>
        <p:spPr>
          <a:xfrm>
            <a:off x="456871" y="3932223"/>
            <a:ext cx="338518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ysClr val="windowText" lastClr="000000"/>
                </a:solidFill>
                <a:effectLst/>
                <a:uLnTx/>
                <a:uFillTx/>
                <a:latin typeface="Segoe UI" pitchFamily="34" charset="0"/>
                <a:cs typeface="Calibri"/>
              </a:rPr>
              <a:t>Detailed readout for the </a:t>
            </a:r>
            <a:r>
              <a:rPr kumimoji="0" sz="1800" b="1" i="0" u="none" strike="noStrike" kern="0" cap="none" spc="-10" normalizeH="0" baseline="0" noProof="0" dirty="0">
                <a:ln>
                  <a:noFill/>
                </a:ln>
                <a:solidFill>
                  <a:srgbClr val="765FFF"/>
                </a:solidFill>
                <a:effectLst/>
                <a:uLnTx/>
                <a:uFillTx/>
                <a:latin typeface="Segoe UI" pitchFamily="34" charset="0"/>
                <a:cs typeface="Calibri"/>
              </a:rPr>
              <a:t>Deal Team</a:t>
            </a:r>
            <a:endParaRPr kumimoji="0" sz="1800" b="0" i="0" u="none" strike="noStrike" kern="0" cap="none" spc="-10" normalizeH="0" baseline="0" noProof="0" dirty="0">
              <a:ln>
                <a:noFill/>
              </a:ln>
              <a:solidFill>
                <a:sysClr val="windowText" lastClr="000000"/>
              </a:solidFill>
              <a:effectLst/>
              <a:uLnTx/>
              <a:uFillTx/>
              <a:latin typeface="Arial" pitchFamily="34" charset="0"/>
              <a:cs typeface="Calibri"/>
            </a:endParaRPr>
          </a:p>
        </p:txBody>
      </p:sp>
      <p:graphicFrame>
        <p:nvGraphicFramePr>
          <p:cNvPr id="16" name="object 14">
            <a:extLst>
              <a:ext uri="{FF2B5EF4-FFF2-40B4-BE49-F238E27FC236}">
                <a16:creationId xmlns:a16="http://schemas.microsoft.com/office/drawing/2014/main" id="{A4659DF4-8B6C-B801-FC9A-29E3EDB521EC}"/>
              </a:ext>
            </a:extLst>
          </p:cNvPr>
          <p:cNvGraphicFramePr>
            <a:graphicFrameLocks noGrp="1"/>
          </p:cNvGraphicFramePr>
          <p:nvPr/>
        </p:nvGraphicFramePr>
        <p:xfrm>
          <a:off x="4259274" y="1508619"/>
          <a:ext cx="7475855" cy="4990464"/>
        </p:xfrm>
        <a:graphic>
          <a:graphicData uri="http://schemas.openxmlformats.org/drawingml/2006/table">
            <a:tbl>
              <a:tblPr firstRow="1" bandRow="1">
                <a:tableStyleId>{69012ECD-51FC-41F1-AA8D-1B2483CD663E}</a:tableStyleId>
              </a:tblPr>
              <a:tblGrid>
                <a:gridCol w="2963161">
                  <a:extLst>
                    <a:ext uri="{9D8B030D-6E8A-4147-A177-3AD203B41FA5}">
                      <a16:colId xmlns:a16="http://schemas.microsoft.com/office/drawing/2014/main" val="20000"/>
                    </a:ext>
                  </a:extLst>
                </a:gridCol>
                <a:gridCol w="4512694">
                  <a:extLst>
                    <a:ext uri="{9D8B030D-6E8A-4147-A177-3AD203B41FA5}">
                      <a16:colId xmlns:a16="http://schemas.microsoft.com/office/drawing/2014/main" val="20001"/>
                    </a:ext>
                  </a:extLst>
                </a:gridCol>
              </a:tblGrid>
              <a:tr h="307975">
                <a:tc>
                  <a:txBody>
                    <a:bodyPr/>
                    <a:lstStyle/>
                    <a:p>
                      <a:pPr marL="91440">
                        <a:lnSpc>
                          <a:spcPct val="100000"/>
                        </a:lnSpc>
                        <a:spcBef>
                          <a:spcPts val="484"/>
                        </a:spcBef>
                      </a:pPr>
                      <a:r>
                        <a:rPr sz="1100" b="1" dirty="0">
                          <a:solidFill>
                            <a:srgbClr val="FFFFFF"/>
                          </a:solidFill>
                        </a:rPr>
                        <a:t>TYPICAL</a:t>
                      </a:r>
                      <a:r>
                        <a:rPr sz="1100" b="1" spc="-40" dirty="0">
                          <a:solidFill>
                            <a:srgbClr val="FFFFFF"/>
                          </a:solidFill>
                        </a:rPr>
                        <a:t> </a:t>
                      </a:r>
                      <a:r>
                        <a:rPr sz="1100" b="1" spc="-10" dirty="0">
                          <a:solidFill>
                            <a:srgbClr val="FFFFFF"/>
                          </a:solidFill>
                        </a:rPr>
                        <a:t>OUTPUTS</a:t>
                      </a:r>
                      <a:endParaRPr sz="1100" dirty="0">
                        <a:solidFill>
                          <a:srgbClr val="FFFFFF"/>
                        </a:solidFill>
                        <a:latin typeface="Arial" pitchFamily="34" charset="0"/>
                        <a:cs typeface="Calibri"/>
                      </a:endParaRPr>
                    </a:p>
                  </a:txBody>
                  <a:tcPr marL="0" marR="0" marT="61594" marB="0">
                    <a:lnL w="12700" cap="flat" cmpd="sng" algn="ctr">
                      <a:noFill/>
                      <a:prstDash val="solid"/>
                      <a:miter lim="800000"/>
                    </a:lnL>
                    <a:lnR w="12700" cap="flat" cmpd="sng" algn="ctr">
                      <a:noFill/>
                      <a:prstDash val="solid"/>
                      <a:round/>
                      <a:headEnd type="none" w="med" len="med"/>
                      <a:tailEnd type="none" w="med" len="med"/>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tc>
                  <a:txBody>
                    <a:bodyPr/>
                    <a:lstStyle/>
                    <a:p>
                      <a:pPr marL="137160">
                        <a:lnSpc>
                          <a:spcPct val="100000"/>
                        </a:lnSpc>
                        <a:spcBef>
                          <a:spcPts val="484"/>
                        </a:spcBef>
                      </a:pPr>
                      <a:r>
                        <a:rPr sz="1100" b="1" dirty="0">
                          <a:solidFill>
                            <a:srgbClr val="FFFFFF"/>
                          </a:solidFill>
                        </a:rPr>
                        <a:t>ILLUSTRATIVE</a:t>
                      </a:r>
                      <a:r>
                        <a:rPr sz="1100" b="1" spc="-60" dirty="0">
                          <a:solidFill>
                            <a:srgbClr val="FFFFFF"/>
                          </a:solidFill>
                        </a:rPr>
                        <a:t> </a:t>
                      </a:r>
                      <a:r>
                        <a:rPr sz="1100" b="1" spc="-10" dirty="0">
                          <a:solidFill>
                            <a:srgbClr val="FFFFFF"/>
                          </a:solidFill>
                        </a:rPr>
                        <a:t>HEADLINES</a:t>
                      </a:r>
                      <a:endParaRPr sz="1100" dirty="0">
                        <a:solidFill>
                          <a:srgbClr val="FFFFFF"/>
                        </a:solidFill>
                        <a:latin typeface="Arial" pitchFamily="34" charset="0"/>
                        <a:cs typeface="Calibri"/>
                      </a:endParaRPr>
                    </a:p>
                  </a:txBody>
                  <a:tcPr marL="0" marR="0" marT="61594" marB="0">
                    <a:lnL w="12700" cap="flat" cmpd="sng" algn="ctr">
                      <a:noFill/>
                      <a:prstDash val="solid"/>
                      <a:round/>
                      <a:headEnd type="none" w="med" len="med"/>
                      <a:tailEnd type="none" w="med" len="med"/>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30630">
                <a:tc>
                  <a:txBody>
                    <a:bodyPr/>
                    <a:lstStyle/>
                    <a:p>
                      <a:pPr marL="91440">
                        <a:lnSpc>
                          <a:spcPct val="100000"/>
                        </a:lnSpc>
                        <a:spcBef>
                          <a:spcPts val="254"/>
                        </a:spcBef>
                      </a:pPr>
                      <a:r>
                        <a:rPr sz="1100" b="1" dirty="0">
                          <a:solidFill>
                            <a:srgbClr val="808080"/>
                          </a:solidFill>
                        </a:rPr>
                        <a:t>Top</a:t>
                      </a:r>
                      <a:r>
                        <a:rPr sz="1100" b="1" spc="-20" dirty="0">
                          <a:solidFill>
                            <a:srgbClr val="808080"/>
                          </a:solidFill>
                        </a:rPr>
                        <a:t> </a:t>
                      </a:r>
                      <a:r>
                        <a:rPr sz="1100" b="1" dirty="0">
                          <a:solidFill>
                            <a:srgbClr val="808080"/>
                          </a:solidFill>
                        </a:rPr>
                        <a:t>Team</a:t>
                      </a:r>
                      <a:r>
                        <a:rPr sz="1100" b="1" spc="-20" dirty="0">
                          <a:solidFill>
                            <a:srgbClr val="808080"/>
                          </a:solidFill>
                        </a:rPr>
                        <a:t> </a:t>
                      </a:r>
                      <a:r>
                        <a:rPr sz="1100" b="1" spc="-10" dirty="0">
                          <a:solidFill>
                            <a:srgbClr val="808080"/>
                          </a:solidFill>
                        </a:rPr>
                        <a:t>Assessment</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CEO</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Leadership Talent &amp; Leadership as a team</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Risks in transition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Bench strength for leadership</a:t>
                      </a:r>
                    </a:p>
                  </a:txBody>
                  <a:tcPr marL="0" marR="0" marT="32384" marB="0">
                    <a:lnR w="12700" cap="flat" cmpd="sng" algn="ctr">
                      <a:solidFill>
                        <a:schemeClr val="bg2"/>
                      </a:solidFill>
                      <a:prstDash val="solid"/>
                      <a:round/>
                      <a:headEnd type="none" w="med" len="med"/>
                      <a:tailEnd type="none" w="med" len="med"/>
                    </a:lnR>
                    <a:lnT w="12700" cap="flat" cmpd="sng" algn="ctr">
                      <a:noFill/>
                      <a:prstDash val="solid"/>
                      <a:miter lim="800000"/>
                    </a:lnT>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CEO not recommended for thesis: blind spots in thinking strategically for a sustainable org, capabilities; Bias to short term thinking</a:t>
                      </a:r>
                    </a:p>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Winning turnaround team that is driven top down, complements with CEO, 	and works well with each other</a:t>
                      </a:r>
                    </a:p>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Ready and keen internal successor available for CEO in transition.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3 Roles (and 1 advisory role) critical for continuity in transition; medium risk of attrition. Balance talent fungible.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Leadership succession weak, work in progress.</a:t>
                      </a:r>
                    </a:p>
                  </a:txBody>
                  <a:tcPr marL="0" marR="0" marT="32384" marB="0">
                    <a:lnL w="12700" cap="flat" cmpd="sng" algn="ctr">
                      <a:solidFill>
                        <a:schemeClr val="bg2"/>
                      </a:solidFill>
                      <a:prstDash val="solid"/>
                      <a:round/>
                      <a:headEnd type="none" w="med" len="med"/>
                      <a:tailEnd type="none" w="med" len="med"/>
                    </a:lnL>
                    <a:lnT w="12700" cap="flat" cmpd="sng" algn="ctr">
                      <a:noFill/>
                      <a:prstDash val="solid"/>
                      <a:miter lim="800000"/>
                    </a:lnT>
                  </a:tcPr>
                </a:tc>
                <a:extLst>
                  <a:ext uri="{0D108BD9-81ED-4DB2-BD59-A6C34878D82A}">
                    <a16:rowId xmlns:a16="http://schemas.microsoft.com/office/drawing/2014/main" val="10001"/>
                  </a:ext>
                </a:extLst>
              </a:tr>
              <a:tr h="774065">
                <a:tc>
                  <a:txBody>
                    <a:bodyPr/>
                    <a:lstStyle/>
                    <a:p>
                      <a:pPr marL="91440">
                        <a:lnSpc>
                          <a:spcPct val="100000"/>
                        </a:lnSpc>
                        <a:spcBef>
                          <a:spcPts val="295"/>
                        </a:spcBef>
                      </a:pPr>
                      <a:r>
                        <a:rPr sz="1100" b="1" dirty="0">
                          <a:solidFill>
                            <a:srgbClr val="808080"/>
                          </a:solidFill>
                        </a:rPr>
                        <a:t>List:</a:t>
                      </a:r>
                      <a:r>
                        <a:rPr sz="1100" b="1" spc="-30" dirty="0">
                          <a:solidFill>
                            <a:srgbClr val="808080"/>
                          </a:solidFill>
                        </a:rPr>
                        <a:t> </a:t>
                      </a:r>
                      <a:r>
                        <a:rPr sz="1100" b="1" dirty="0">
                          <a:solidFill>
                            <a:srgbClr val="808080"/>
                          </a:solidFill>
                        </a:rPr>
                        <a:t>41</a:t>
                      </a:r>
                      <a:r>
                        <a:rPr sz="1100" b="1" spc="-5" dirty="0">
                          <a:solidFill>
                            <a:srgbClr val="808080"/>
                          </a:solidFill>
                        </a:rPr>
                        <a:t> </a:t>
                      </a:r>
                      <a:r>
                        <a:rPr sz="1100" b="1" dirty="0">
                          <a:solidFill>
                            <a:srgbClr val="808080"/>
                          </a:solidFill>
                        </a:rPr>
                        <a:t>Critical</a:t>
                      </a:r>
                      <a:r>
                        <a:rPr sz="1100" b="1" spc="-35" dirty="0">
                          <a:solidFill>
                            <a:srgbClr val="808080"/>
                          </a:solidFill>
                        </a:rPr>
                        <a:t> </a:t>
                      </a:r>
                      <a:r>
                        <a:rPr sz="1100" b="1" spc="-20" dirty="0">
                          <a:solidFill>
                            <a:srgbClr val="808080"/>
                          </a:solidFill>
                        </a:rPr>
                        <a:t>Roles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Talent beyond CEO &amp; Direct Reports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Bench strength at Critical Roles</a:t>
                      </a:r>
                    </a:p>
                  </a:txBody>
                  <a:tcPr marL="0" marR="0" marT="37465"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List of Critical Roles across hierarchy and functions (going down to N-3)</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View on role talent match at Critical Roles (per company view), and brief commentary on risks </a:t>
                      </a:r>
                    </a:p>
                  </a:txBody>
                  <a:tcPr marL="0" marR="0" marT="37465"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2"/>
                  </a:ext>
                </a:extLst>
              </a:tr>
              <a:tr h="878205">
                <a:tc>
                  <a:txBody>
                    <a:bodyPr/>
                    <a:lstStyle/>
                    <a:p>
                      <a:pPr marL="91440">
                        <a:lnSpc>
                          <a:spcPct val="100000"/>
                        </a:lnSpc>
                        <a:spcBef>
                          <a:spcPts val="295"/>
                        </a:spcBef>
                      </a:pPr>
                      <a:r>
                        <a:rPr sz="1100" b="1" spc="-10" dirty="0">
                          <a:solidFill>
                            <a:srgbClr val="808080"/>
                          </a:solidFill>
                        </a:rPr>
                        <a:t>Organizational</a:t>
                      </a:r>
                      <a:r>
                        <a:rPr sz="1100" b="1" spc="-20" dirty="0">
                          <a:solidFill>
                            <a:srgbClr val="808080"/>
                          </a:solidFill>
                        </a:rPr>
                        <a:t> </a:t>
                      </a:r>
                      <a:r>
                        <a:rPr sz="1100" b="1" dirty="0">
                          <a:solidFill>
                            <a:srgbClr val="808080"/>
                          </a:solidFill>
                        </a:rPr>
                        <a:t>Beliefs</a:t>
                      </a:r>
                      <a:r>
                        <a:rPr sz="1100" b="1" spc="-20" dirty="0">
                          <a:solidFill>
                            <a:srgbClr val="808080"/>
                          </a:solidFill>
                        </a:rPr>
                        <a:t> </a:t>
                      </a:r>
                      <a:r>
                        <a:rPr sz="1100" b="1" dirty="0">
                          <a:solidFill>
                            <a:srgbClr val="808080"/>
                          </a:solidFill>
                        </a:rPr>
                        <a:t>and Capability</a:t>
                      </a:r>
                      <a:r>
                        <a:rPr sz="1100" b="1" spc="-5" dirty="0">
                          <a:solidFill>
                            <a:srgbClr val="808080"/>
                          </a:solidFill>
                        </a:rPr>
                        <a:t> </a:t>
                      </a:r>
                      <a:r>
                        <a:rPr sz="1100" b="1" spc="-20" dirty="0">
                          <a:solidFill>
                            <a:srgbClr val="808080"/>
                          </a:solidFill>
                        </a:rPr>
                        <a:t>Risks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Areas of high &amp; low belief in the thesis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Function / Capability strengths and gaps</a:t>
                      </a:r>
                    </a:p>
                  </a:txBody>
                  <a:tcPr marL="0" marR="0" marT="37465"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ClrTx/>
                        <a:buSzTx/>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Belief in ___ parts of the thesis inconsistent; internal misalignment around 	path forward on ___ key initiative</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Organization gaps translate into adjusted in EBIDTA, with estimates of costs 	to elevate to required capability (8-10 net new roles, adjust EBIT by $x Mn)</a:t>
                      </a:r>
                    </a:p>
                  </a:txBody>
                  <a:tcPr marL="0" marR="0" marT="37465"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3"/>
                  </a:ext>
                </a:extLst>
              </a:tr>
              <a:tr h="762000">
                <a:tc>
                  <a:txBody>
                    <a:bodyPr/>
                    <a:lstStyle/>
                    <a:p>
                      <a:pPr marL="91440">
                        <a:lnSpc>
                          <a:spcPct val="100000"/>
                        </a:lnSpc>
                        <a:spcBef>
                          <a:spcPts val="300"/>
                        </a:spcBef>
                      </a:pPr>
                      <a:r>
                        <a:rPr sz="1100" b="1" dirty="0">
                          <a:solidFill>
                            <a:srgbClr val="808080"/>
                          </a:solidFill>
                        </a:rPr>
                        <a:t>Engagement</a:t>
                      </a:r>
                      <a:r>
                        <a:rPr sz="1100" b="1" spc="-30" dirty="0">
                          <a:solidFill>
                            <a:srgbClr val="808080"/>
                          </a:solidFill>
                        </a:rPr>
                        <a:t> </a:t>
                      </a:r>
                      <a:r>
                        <a:rPr sz="1100" b="1" dirty="0">
                          <a:solidFill>
                            <a:srgbClr val="808080"/>
                          </a:solidFill>
                        </a:rPr>
                        <a:t>&amp;</a:t>
                      </a:r>
                      <a:r>
                        <a:rPr sz="1100" b="1" spc="-25" dirty="0">
                          <a:solidFill>
                            <a:srgbClr val="808080"/>
                          </a:solidFill>
                        </a:rPr>
                        <a:t> </a:t>
                      </a:r>
                      <a:r>
                        <a:rPr sz="1100" b="1" dirty="0">
                          <a:solidFill>
                            <a:srgbClr val="808080"/>
                          </a:solidFill>
                        </a:rPr>
                        <a:t>Culture</a:t>
                      </a:r>
                      <a:r>
                        <a:rPr sz="1100" b="1" spc="-30" dirty="0">
                          <a:solidFill>
                            <a:srgbClr val="808080"/>
                          </a:solidFill>
                        </a:rPr>
                        <a:t> </a:t>
                      </a:r>
                      <a:r>
                        <a:rPr sz="1100" b="1" spc="-10" dirty="0">
                          <a:solidFill>
                            <a:srgbClr val="808080"/>
                          </a:solidFill>
                        </a:rPr>
                        <a:t>Analysis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Data driven insights on attrition</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Engagement Surveys</a:t>
                      </a:r>
                    </a:p>
                  </a:txBody>
                  <a:tcPr marL="0" marR="0" marT="38100"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High goal clarity, low loyalty, high burnout, disengagement</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Hotspots in engagement, attrition in … key levers to deploy</a:t>
                      </a:r>
                    </a:p>
                  </a:txBody>
                  <a:tcPr marL="0" marR="0" marT="38100"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4"/>
                  </a:ext>
                </a:extLst>
              </a:tr>
              <a:tr h="666115">
                <a:tc>
                  <a:txBody>
                    <a:bodyPr/>
                    <a:lstStyle/>
                    <a:p>
                      <a:pPr marL="91440">
                        <a:lnSpc>
                          <a:spcPct val="100000"/>
                        </a:lnSpc>
                        <a:spcBef>
                          <a:spcPts val="300"/>
                        </a:spcBef>
                      </a:pPr>
                      <a:r>
                        <a:rPr sz="1100" b="1" dirty="0">
                          <a:solidFill>
                            <a:srgbClr val="808080"/>
                          </a:solidFill>
                        </a:rPr>
                        <a:t>Top</a:t>
                      </a:r>
                      <a:r>
                        <a:rPr sz="1100" b="1" spc="-20" dirty="0">
                          <a:solidFill>
                            <a:srgbClr val="808080"/>
                          </a:solidFill>
                        </a:rPr>
                        <a:t> </a:t>
                      </a:r>
                      <a:r>
                        <a:rPr sz="1100" b="1" dirty="0">
                          <a:solidFill>
                            <a:srgbClr val="808080"/>
                          </a:solidFill>
                        </a:rPr>
                        <a:t>5</a:t>
                      </a:r>
                      <a:r>
                        <a:rPr sz="1100" b="1" spc="-20" dirty="0">
                          <a:solidFill>
                            <a:srgbClr val="808080"/>
                          </a:solidFill>
                        </a:rPr>
                        <a:t> </a:t>
                      </a:r>
                      <a:r>
                        <a:rPr sz="1100" b="1" dirty="0">
                          <a:solidFill>
                            <a:srgbClr val="808080"/>
                          </a:solidFill>
                        </a:rPr>
                        <a:t>Watchouts</a:t>
                      </a:r>
                      <a:r>
                        <a:rPr sz="1100" b="1" spc="-15" dirty="0">
                          <a:solidFill>
                            <a:srgbClr val="808080"/>
                          </a:solidFill>
                        </a:rPr>
                        <a:t> </a:t>
                      </a:r>
                      <a:r>
                        <a:rPr sz="1100" b="1" dirty="0">
                          <a:solidFill>
                            <a:srgbClr val="808080"/>
                          </a:solidFill>
                        </a:rPr>
                        <a:t>&amp;</a:t>
                      </a:r>
                      <a:r>
                        <a:rPr sz="1100" b="1" spc="-25" dirty="0">
                          <a:solidFill>
                            <a:srgbClr val="808080"/>
                          </a:solidFill>
                        </a:rPr>
                        <a:t> </a:t>
                      </a:r>
                      <a:r>
                        <a:rPr sz="1100" b="1" spc="-10" dirty="0">
                          <a:solidFill>
                            <a:srgbClr val="808080"/>
                          </a:solidFill>
                        </a:rPr>
                        <a:t>Recommendations</a:t>
                      </a:r>
                      <a:endParaRPr sz="1100" dirty="0">
                        <a:solidFill>
                          <a:srgbClr val="808080"/>
                        </a:solidFill>
                      </a:endParaRP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Post transaction value creating moves</a:t>
                      </a:r>
                    </a:p>
                  </a:txBody>
                  <a:tcPr marL="0" marR="0" marT="38100" marB="0">
                    <a:lnR w="12700" cap="flat" cmpd="sng" algn="ctr">
                      <a:solidFill>
                        <a:schemeClr val="bg2"/>
                      </a:solidFill>
                      <a:prstDash val="solid"/>
                      <a:round/>
                      <a:headEnd type="none" w="med" len="med"/>
                      <a:tailEnd type="none" w="med" len="med"/>
                    </a:lnR>
                  </a:tcPr>
                </a:tc>
                <a:tc>
                  <a:txBody>
                    <a:bodyPr/>
                    <a:lstStyle/>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Stabilize and consolidate structure/processes,</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Rebalance resourcing in ABC areas, </a:t>
                      </a:r>
                    </a:p>
                    <a:p>
                      <a:pPr marL="298450" marR="0" lvl="0" indent="-285750" algn="l" defTabSz="914400" rtl="0" eaLnBrk="1" fontAlgn="auto" latinLnBrk="0" hangingPunct="1">
                        <a:lnSpc>
                          <a:spcPct val="100000"/>
                        </a:lnSpc>
                        <a:spcBef>
                          <a:spcPts val="100"/>
                        </a:spcBef>
                        <a:spcAft>
                          <a:spcPts val="0"/>
                        </a:spcAft>
                        <a:buFont typeface="Arial" panose="020B0706020202030204" pitchFamily="34" charset="0"/>
                        <a:buBlip>
                          <a:blip r:embed="rId8"/>
                        </a:buBlip>
                        <a:tabLst/>
                        <a:defRPr/>
                      </a:pPr>
                      <a:r>
                        <a:rPr lang="en-US" sz="1100" b="0" kern="0" dirty="0">
                          <a:solidFill>
                            <a:schemeClr val="tx1"/>
                          </a:solidFill>
                          <a:latin typeface="Arial" panose="020B0604020202020204" pitchFamily="34" charset="0"/>
                          <a:ea typeface="+mn-ea"/>
                          <a:cs typeface="Arial" panose="020B0604020202020204" pitchFamily="34" charset="0"/>
                        </a:rPr>
                        <a:t>Management construct for transition – 3 Scenarios</a:t>
                      </a:r>
                    </a:p>
                  </a:txBody>
                  <a:tcPr marL="0" marR="0" marT="38100" marB="0">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17" name="TextBox 16">
            <a:extLst>
              <a:ext uri="{FF2B5EF4-FFF2-40B4-BE49-F238E27FC236}">
                <a16:creationId xmlns:a16="http://schemas.microsoft.com/office/drawing/2014/main" id="{1365DB99-CEF7-EB7C-53D3-A0478DA82EA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92544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E244CA-D215-6E9E-5759-784EEBC857A8}"/>
              </a:ext>
            </a:extLst>
          </p:cNvPr>
          <p:cNvSpPr>
            <a:spLocks noGrp="1"/>
          </p:cNvSpPr>
          <p:nvPr>
            <p:ph type="sldNum" sz="quarter" idx="4"/>
          </p:nvPr>
        </p:nvSpPr>
        <p:spPr/>
        <p:txBody>
          <a:bodyPr/>
          <a:lstStyle/>
          <a:p>
            <a:pPr algn="ctr"/>
            <a:fld id="{7DA59B58-B945-4B36-BC6B-9C26C933A008}" type="slidenum">
              <a:rPr lang="en-US" smtClean="0"/>
              <a:t>55</a:t>
            </a:fld>
            <a:endParaRPr lang="en-US"/>
          </a:p>
        </p:txBody>
      </p:sp>
      <p:pic>
        <p:nvPicPr>
          <p:cNvPr id="6" name="Picture 5" descr="A webinar with a city landscape&#10;&#10;AI-generated content may be incorrect.">
            <a:extLst>
              <a:ext uri="{FF2B5EF4-FFF2-40B4-BE49-F238E27FC236}">
                <a16:creationId xmlns:a16="http://schemas.microsoft.com/office/drawing/2014/main" id="{671C4A63-C739-76AE-4F5B-E859E3B7AE80}"/>
              </a:ext>
            </a:extLst>
          </p:cNvPr>
          <p:cNvPicPr>
            <a:picLocks noChangeAspect="1"/>
          </p:cNvPicPr>
          <p:nvPr/>
        </p:nvPicPr>
        <p:blipFill>
          <a:blip r:embed="rId2"/>
          <a:srcRect t="32836"/>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99215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2A9E-6D69-8F6B-134F-FBFF523C6705}"/>
              </a:ext>
            </a:extLst>
          </p:cNvPr>
          <p:cNvSpPr>
            <a:spLocks noGrp="1"/>
          </p:cNvSpPr>
          <p:nvPr>
            <p:ph type="title"/>
          </p:nvPr>
        </p:nvSpPr>
        <p:spPr/>
        <p:txBody>
          <a:bodyPr/>
          <a:lstStyle/>
          <a:p>
            <a:r>
              <a:rPr lang="en-US" dirty="0"/>
              <a:t>How</a:t>
            </a:r>
          </a:p>
        </p:txBody>
      </p:sp>
      <p:sp>
        <p:nvSpPr>
          <p:cNvPr id="3" name="Text Placeholder 2">
            <a:extLst>
              <a:ext uri="{FF2B5EF4-FFF2-40B4-BE49-F238E27FC236}">
                <a16:creationId xmlns:a16="http://schemas.microsoft.com/office/drawing/2014/main" id="{B3763544-54AC-4ED4-4460-6D299148F03A}"/>
              </a:ext>
            </a:extLst>
          </p:cNvPr>
          <p:cNvSpPr>
            <a:spLocks noGrp="1"/>
          </p:cNvSpPr>
          <p:nvPr>
            <p:ph type="body" sz="quarter" idx="12"/>
          </p:nvPr>
        </p:nvSpPr>
        <p:spPr/>
        <p:txBody>
          <a:bodyPr/>
          <a:lstStyle/>
          <a:p>
            <a:r>
              <a:rPr lang="en-US" dirty="0"/>
              <a:t>Capability Building Partnership</a:t>
            </a:r>
          </a:p>
        </p:txBody>
      </p:sp>
      <p:sp>
        <p:nvSpPr>
          <p:cNvPr id="4" name="Slide Number Placeholder 3">
            <a:extLst>
              <a:ext uri="{FF2B5EF4-FFF2-40B4-BE49-F238E27FC236}">
                <a16:creationId xmlns:a16="http://schemas.microsoft.com/office/drawing/2014/main" id="{D30DDE3B-9231-5DC9-5BF7-B115FB063461}"/>
              </a:ext>
            </a:extLst>
          </p:cNvPr>
          <p:cNvSpPr>
            <a:spLocks noGrp="1"/>
          </p:cNvSpPr>
          <p:nvPr>
            <p:ph type="sldNum" sz="quarter" idx="4"/>
          </p:nvPr>
        </p:nvSpPr>
        <p:spPr/>
        <p:txBody>
          <a:bodyPr/>
          <a:lstStyle/>
          <a:p>
            <a:pPr algn="ctr"/>
            <a:fld id="{7DA59B58-B945-4B36-BC6B-9C26C933A008}" type="slidenum">
              <a:rPr lang="en-US" smtClean="0"/>
              <a:t>56</a:t>
            </a:fld>
            <a:endParaRPr lang="en-US"/>
          </a:p>
        </p:txBody>
      </p:sp>
      <p:sp>
        <p:nvSpPr>
          <p:cNvPr id="6" name="Rectangle: Rounded Corners 1">
            <a:extLst>
              <a:ext uri="{FF2B5EF4-FFF2-40B4-BE49-F238E27FC236}">
                <a16:creationId xmlns:a16="http://schemas.microsoft.com/office/drawing/2014/main" id="{B9F7D650-2C55-AB40-D721-A7D88CEE0014}"/>
              </a:ext>
            </a:extLst>
          </p:cNvPr>
          <p:cNvSpPr/>
          <p:nvPr/>
        </p:nvSpPr>
        <p:spPr>
          <a:xfrm>
            <a:off x="6356226" y="2091948"/>
            <a:ext cx="1722189" cy="1277430"/>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765FFF"/>
                </a:solidFill>
                <a:effectLst/>
                <a:uLnTx/>
                <a:uFillTx/>
                <a:latin typeface="Segoe UI" pitchFamily="34" charset="0"/>
                <a:cs typeface="Helvetica Neue" panose="020B0604020202020204" charset="0"/>
              </a:rPr>
              <a:t>1 day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Classroom training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Succession to Value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(critical roles)</a:t>
            </a:r>
          </a:p>
        </p:txBody>
      </p:sp>
      <p:sp>
        <p:nvSpPr>
          <p:cNvPr id="7" name="Rectangle: Rounded Corners 1">
            <a:extLst>
              <a:ext uri="{FF2B5EF4-FFF2-40B4-BE49-F238E27FC236}">
                <a16:creationId xmlns:a16="http://schemas.microsoft.com/office/drawing/2014/main" id="{73B02FFF-31DC-F3DC-482C-9CF5C273447F}"/>
              </a:ext>
            </a:extLst>
          </p:cNvPr>
          <p:cNvSpPr/>
          <p:nvPr/>
        </p:nvSpPr>
        <p:spPr>
          <a:xfrm>
            <a:off x="6359777" y="3621886"/>
            <a:ext cx="1656000" cy="1814919"/>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765FFF"/>
                </a:solidFill>
                <a:effectLst/>
                <a:uLnTx/>
                <a:uFillTx/>
                <a:latin typeface="Segoe UI" pitchFamily="34" charset="0"/>
                <a:cs typeface="Helvetica Neue" panose="020B0604020202020204" charset="0"/>
              </a:rPr>
              <a:t>4 weeks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Hands-on Action learning through shadowing FulcrumQ to apply Succession to Value</a:t>
            </a:r>
          </a:p>
        </p:txBody>
      </p:sp>
      <p:sp>
        <p:nvSpPr>
          <p:cNvPr id="8" name="Rectangle: Rounded Corners 26">
            <a:extLst>
              <a:ext uri="{FF2B5EF4-FFF2-40B4-BE49-F238E27FC236}">
                <a16:creationId xmlns:a16="http://schemas.microsoft.com/office/drawing/2014/main" id="{61089A23-5C7E-0776-E1F4-21ED4820C46B}"/>
              </a:ext>
            </a:extLst>
          </p:cNvPr>
          <p:cNvSpPr/>
          <p:nvPr/>
        </p:nvSpPr>
        <p:spPr>
          <a:xfrm>
            <a:off x="4631106" y="1469405"/>
            <a:ext cx="3381121" cy="507609"/>
          </a:xfrm>
          <a:prstGeom prst="roundRect">
            <a:avLst/>
          </a:prstGeom>
          <a:solidFill>
            <a:srgbClr val="765FFF"/>
          </a:solidFill>
          <a:ln>
            <a:solidFill>
              <a:srgbClr val="D0D7DF"/>
            </a:solidFill>
          </a:ln>
        </p:spPr>
        <p:txBody>
          <a:bodyPr vert="horz" lIns="73152" tIns="73152" rIns="60960" bIns="48768" rtlCol="0" anchor="ctr" anchorCtr="0">
            <a:noAutofit/>
          </a:bodyPr>
          <a:lstStyle/>
          <a:p>
            <a:pPr marL="0" marR="0" lvl="0" indent="0" algn="ctr" defTabSz="231642" eaLnBrk="1" fontAlgn="auto" latinLnBrk="0" hangingPunct="1">
              <a:lnSpc>
                <a:spcPct val="100000"/>
              </a:lnSpc>
              <a:spcBef>
                <a:spcPts val="0"/>
              </a:spcBef>
              <a:spcAft>
                <a:spcPts val="0"/>
              </a:spcAft>
              <a:buClrTx/>
              <a:buSzTx/>
              <a:buFontTx/>
              <a:buNone/>
              <a:tabLst>
                <a:tab pos="231642" algn="l"/>
                <a:tab pos="463284" algn="l"/>
                <a:tab pos="694927" algn="l"/>
                <a:tab pos="926569" algn="l"/>
              </a:tabLst>
              <a:defRPr>
                <a:solidFill>
                  <a:srgbClr val="FFFFFF"/>
                </a:solidFill>
              </a:defRPr>
            </a:pPr>
            <a:r>
              <a:rPr kumimoji="0" lang="en-US" sz="1400" b="1" i="0" u="none" strike="noStrike" kern="0" cap="none" spc="-10" normalizeH="0" baseline="0" noProof="0">
                <a:ln>
                  <a:noFill/>
                </a:ln>
                <a:solidFill>
                  <a:srgbClr val="FFFFFF"/>
                </a:solidFill>
                <a:effectLst/>
                <a:uLnTx/>
                <a:uFillTx/>
                <a:latin typeface="Segoe UI" pitchFamily="34" charset="0"/>
                <a:cs typeface="Helvetica Neue" panose="020B0604020202020204" charset="0"/>
              </a:rPr>
              <a:t>SUCCESSION TO VALUE</a:t>
            </a:r>
          </a:p>
        </p:txBody>
      </p:sp>
      <p:sp>
        <p:nvSpPr>
          <p:cNvPr id="9" name="Rectangle: Rounded Corners 1">
            <a:extLst>
              <a:ext uri="{FF2B5EF4-FFF2-40B4-BE49-F238E27FC236}">
                <a16:creationId xmlns:a16="http://schemas.microsoft.com/office/drawing/2014/main" id="{D6CDE219-5A4C-BA19-EF21-B622819FB344}"/>
              </a:ext>
            </a:extLst>
          </p:cNvPr>
          <p:cNvSpPr/>
          <p:nvPr/>
        </p:nvSpPr>
        <p:spPr>
          <a:xfrm>
            <a:off x="10081812" y="2086663"/>
            <a:ext cx="1656000" cy="1282716"/>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765FFF"/>
                </a:solidFill>
                <a:effectLst/>
                <a:uLnTx/>
                <a:uFillTx/>
                <a:latin typeface="Segoe UI" pitchFamily="34" charset="0"/>
                <a:cs typeface="Helvetica Neue" panose="020B0604020202020204" charset="0"/>
              </a:rPr>
              <a:t>1 day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Workshop on T2V – operating Model</a:t>
            </a:r>
          </a:p>
        </p:txBody>
      </p:sp>
      <p:sp>
        <p:nvSpPr>
          <p:cNvPr id="10" name="Rectangle: Rounded Corners 26">
            <a:extLst>
              <a:ext uri="{FF2B5EF4-FFF2-40B4-BE49-F238E27FC236}">
                <a16:creationId xmlns:a16="http://schemas.microsoft.com/office/drawing/2014/main" id="{11C5626D-B348-AB56-50BC-D702F2AE4BF0}"/>
              </a:ext>
            </a:extLst>
          </p:cNvPr>
          <p:cNvSpPr/>
          <p:nvPr/>
        </p:nvSpPr>
        <p:spPr>
          <a:xfrm>
            <a:off x="8363171" y="1469405"/>
            <a:ext cx="3374639" cy="507609"/>
          </a:xfrm>
          <a:prstGeom prst="roundRect">
            <a:avLst/>
          </a:prstGeom>
          <a:solidFill>
            <a:srgbClr val="765FFF"/>
          </a:solidFill>
          <a:ln>
            <a:solidFill>
              <a:srgbClr val="D0D7DF"/>
            </a:solidFill>
          </a:ln>
        </p:spPr>
        <p:txBody>
          <a:bodyPr vert="horz" lIns="73152" tIns="73152" rIns="60960" bIns="48768" rtlCol="0" anchor="ctr" anchorCtr="0">
            <a:noAutofit/>
          </a:bodyPr>
          <a:lstStyle/>
          <a:p>
            <a:pPr marL="0" marR="0" lvl="0" indent="0" algn="ctr" defTabSz="231642" eaLnBrk="1" fontAlgn="auto" latinLnBrk="0" hangingPunct="1">
              <a:lnSpc>
                <a:spcPct val="100000"/>
              </a:lnSpc>
              <a:spcBef>
                <a:spcPts val="0"/>
              </a:spcBef>
              <a:spcAft>
                <a:spcPts val="0"/>
              </a:spcAft>
              <a:buClrTx/>
              <a:buSzTx/>
              <a:buFontTx/>
              <a:buNone/>
              <a:tabLst>
                <a:tab pos="231642" algn="l"/>
                <a:tab pos="463284" algn="l"/>
                <a:tab pos="694927" algn="l"/>
                <a:tab pos="926569" algn="l"/>
              </a:tabLst>
              <a:defRPr>
                <a:solidFill>
                  <a:srgbClr val="FFFFFF"/>
                </a:solidFill>
              </a:defRPr>
            </a:pPr>
            <a:r>
              <a:rPr kumimoji="0" lang="en-US" sz="1400" b="1" i="0" u="none" strike="noStrike" kern="0" cap="none" spc="-10" normalizeH="0" baseline="0" noProof="0">
                <a:ln>
                  <a:noFill/>
                </a:ln>
                <a:solidFill>
                  <a:srgbClr val="FFFFFF"/>
                </a:solidFill>
                <a:effectLst/>
                <a:uLnTx/>
                <a:uFillTx/>
                <a:latin typeface="Segoe UI" pitchFamily="34" charset="0"/>
                <a:cs typeface="Helvetica Neue" panose="020B0604020202020204" charset="0"/>
              </a:rPr>
              <a:t>ORGANIZE TO VALUE</a:t>
            </a:r>
          </a:p>
        </p:txBody>
      </p:sp>
      <p:cxnSp>
        <p:nvCxnSpPr>
          <p:cNvPr id="11" name="Straight Connector 10">
            <a:extLst>
              <a:ext uri="{FF2B5EF4-FFF2-40B4-BE49-F238E27FC236}">
                <a16:creationId xmlns:a16="http://schemas.microsoft.com/office/drawing/2014/main" id="{FAAA649C-1329-F9FF-9925-7BABF308E427}"/>
              </a:ext>
            </a:extLst>
          </p:cNvPr>
          <p:cNvCxnSpPr>
            <a:cxnSpLocks/>
          </p:cNvCxnSpPr>
          <p:nvPr/>
        </p:nvCxnSpPr>
        <p:spPr>
          <a:xfrm>
            <a:off x="4442620" y="1469405"/>
            <a:ext cx="0" cy="4304963"/>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Rounded Corners 1">
            <a:extLst>
              <a:ext uri="{FF2B5EF4-FFF2-40B4-BE49-F238E27FC236}">
                <a16:creationId xmlns:a16="http://schemas.microsoft.com/office/drawing/2014/main" id="{561C0468-6478-972E-5697-4DE7F995D6FA}"/>
              </a:ext>
            </a:extLst>
          </p:cNvPr>
          <p:cNvSpPr/>
          <p:nvPr/>
        </p:nvSpPr>
        <p:spPr>
          <a:xfrm>
            <a:off x="10081812" y="3621886"/>
            <a:ext cx="1656000" cy="1814919"/>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765FFF"/>
                </a:solidFill>
                <a:effectLst/>
                <a:uLnTx/>
                <a:uFillTx/>
                <a:latin typeface="Segoe UI" pitchFamily="34" charset="0"/>
                <a:cs typeface="Helvetica Neue" panose="020B0604020202020204" charset="0"/>
              </a:rPr>
              <a:t>6 weeks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Hands-on Action learning through shadowing FulcrumQ to apply Organize to Value*</a:t>
            </a:r>
          </a:p>
        </p:txBody>
      </p:sp>
      <p:cxnSp>
        <p:nvCxnSpPr>
          <p:cNvPr id="13" name="Straight Connector 12">
            <a:extLst>
              <a:ext uri="{FF2B5EF4-FFF2-40B4-BE49-F238E27FC236}">
                <a16:creationId xmlns:a16="http://schemas.microsoft.com/office/drawing/2014/main" id="{A2BD0D08-B4F1-C5D4-08C4-659A7BB461C1}"/>
              </a:ext>
            </a:extLst>
          </p:cNvPr>
          <p:cNvCxnSpPr>
            <a:cxnSpLocks/>
          </p:cNvCxnSpPr>
          <p:nvPr/>
        </p:nvCxnSpPr>
        <p:spPr>
          <a:xfrm>
            <a:off x="8220794" y="1469405"/>
            <a:ext cx="0" cy="4304963"/>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Rounded Corners 1">
            <a:extLst>
              <a:ext uri="{FF2B5EF4-FFF2-40B4-BE49-F238E27FC236}">
                <a16:creationId xmlns:a16="http://schemas.microsoft.com/office/drawing/2014/main" id="{D158F2F0-AD7A-0F36-7343-4008696CAD7E}"/>
              </a:ext>
            </a:extLst>
          </p:cNvPr>
          <p:cNvSpPr/>
          <p:nvPr/>
        </p:nvSpPr>
        <p:spPr>
          <a:xfrm>
            <a:off x="2563614" y="2070417"/>
            <a:ext cx="1656000" cy="1358583"/>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cs typeface="Helvetica Neue" panose="020B0604020202020204" charset="0"/>
              </a:rPr>
              <a:t>2 days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dirty="0">
                <a:ln>
                  <a:noFill/>
                </a:ln>
                <a:solidFill>
                  <a:srgbClr val="1D1D1D"/>
                </a:solidFill>
                <a:effectLst/>
                <a:uLnTx/>
                <a:uFillTx/>
                <a:latin typeface="Arial" pitchFamily="34" charset="0"/>
                <a:cs typeface="Helvetica Neue" panose="020B0604020202020204" charset="0"/>
              </a:rPr>
              <a:t>Classroom training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dirty="0">
                <a:ln>
                  <a:noFill/>
                </a:ln>
                <a:solidFill>
                  <a:srgbClr val="1D1D1D"/>
                </a:solidFill>
                <a:effectLst/>
                <a:uLnTx/>
                <a:uFillTx/>
                <a:latin typeface="Arial" pitchFamily="34" charset="0"/>
                <a:cs typeface="Helvetica Neue" panose="020B0604020202020204" charset="0"/>
              </a:rPr>
              <a:t>Talent to Value (critical roles)</a:t>
            </a:r>
          </a:p>
        </p:txBody>
      </p:sp>
      <p:sp>
        <p:nvSpPr>
          <p:cNvPr id="15" name="Rounded Rectangle 6">
            <a:extLst>
              <a:ext uri="{FF2B5EF4-FFF2-40B4-BE49-F238E27FC236}">
                <a16:creationId xmlns:a16="http://schemas.microsoft.com/office/drawing/2014/main" id="{758100DF-354C-DCD4-86A6-6459E7A51268}"/>
              </a:ext>
            </a:extLst>
          </p:cNvPr>
          <p:cNvSpPr/>
          <p:nvPr/>
        </p:nvSpPr>
        <p:spPr>
          <a:xfrm>
            <a:off x="860108" y="2091947"/>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1: LEARNING</a:t>
            </a:r>
          </a:p>
        </p:txBody>
      </p:sp>
      <p:sp>
        <p:nvSpPr>
          <p:cNvPr id="16" name="Rounded Rectangle 7">
            <a:extLst>
              <a:ext uri="{FF2B5EF4-FFF2-40B4-BE49-F238E27FC236}">
                <a16:creationId xmlns:a16="http://schemas.microsoft.com/office/drawing/2014/main" id="{480DE023-A668-7A27-354D-0B39C7E7E512}"/>
              </a:ext>
            </a:extLst>
          </p:cNvPr>
          <p:cNvSpPr/>
          <p:nvPr/>
        </p:nvSpPr>
        <p:spPr>
          <a:xfrm>
            <a:off x="860108" y="3621886"/>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2: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TAKING ACTION</a:t>
            </a:r>
          </a:p>
        </p:txBody>
      </p:sp>
      <p:sp>
        <p:nvSpPr>
          <p:cNvPr id="17" name="Rectangle: Rounded Corners 1">
            <a:extLst>
              <a:ext uri="{FF2B5EF4-FFF2-40B4-BE49-F238E27FC236}">
                <a16:creationId xmlns:a16="http://schemas.microsoft.com/office/drawing/2014/main" id="{1C481957-EA59-9F04-BF0D-0AD743F4914F}"/>
              </a:ext>
            </a:extLst>
          </p:cNvPr>
          <p:cNvSpPr/>
          <p:nvPr/>
        </p:nvSpPr>
        <p:spPr>
          <a:xfrm>
            <a:off x="2563614" y="3621886"/>
            <a:ext cx="1656000" cy="1814919"/>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spc="-10">
                <a:solidFill>
                  <a:srgbClr val="765FFF"/>
                </a:solidFill>
                <a:latin typeface="Segoe UI" pitchFamily="34" charset="0"/>
                <a:cs typeface="Helvetica Neue" panose="020B0604020202020204" charset="0"/>
              </a:rPr>
              <a:t>6</a:t>
            </a:r>
            <a:r>
              <a:rPr kumimoji="0" lang="en-US" sz="1400" b="1" i="0" u="none" strike="noStrike" kern="0" cap="none" spc="-10" normalizeH="0" baseline="0" noProof="0">
                <a:ln>
                  <a:noFill/>
                </a:ln>
                <a:solidFill>
                  <a:srgbClr val="765FFF"/>
                </a:solidFill>
                <a:effectLst/>
                <a:uLnTx/>
                <a:uFillTx/>
                <a:latin typeface="Segoe UI" pitchFamily="34" charset="0"/>
                <a:cs typeface="Helvetica Neue" panose="020B0604020202020204" charset="0"/>
              </a:rPr>
              <a:t> weeks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a:ln>
                  <a:noFill/>
                </a:ln>
                <a:solidFill>
                  <a:srgbClr val="1D1D1D"/>
                </a:solidFill>
                <a:effectLst/>
                <a:uLnTx/>
                <a:uFillTx/>
                <a:latin typeface="Arial" pitchFamily="34" charset="0"/>
                <a:cs typeface="Helvetica Neue" panose="020B0604020202020204" charset="0"/>
              </a:rPr>
              <a:t>Hands-on Action learning through shadowing FulcrumQ to apply Talent to Value</a:t>
            </a:r>
          </a:p>
        </p:txBody>
      </p:sp>
      <p:sp>
        <p:nvSpPr>
          <p:cNvPr id="18" name="Rectangle: Rounded Corners 26">
            <a:extLst>
              <a:ext uri="{FF2B5EF4-FFF2-40B4-BE49-F238E27FC236}">
                <a16:creationId xmlns:a16="http://schemas.microsoft.com/office/drawing/2014/main" id="{02A41745-0DD6-4EB0-2861-2C0051E81FA3}"/>
              </a:ext>
            </a:extLst>
          </p:cNvPr>
          <p:cNvSpPr/>
          <p:nvPr/>
        </p:nvSpPr>
        <p:spPr>
          <a:xfrm>
            <a:off x="843707" y="1469405"/>
            <a:ext cx="3403612" cy="507609"/>
          </a:xfrm>
          <a:prstGeom prst="roundRect">
            <a:avLst/>
          </a:prstGeom>
          <a:solidFill>
            <a:srgbClr val="765FFF"/>
          </a:solidFill>
          <a:ln>
            <a:solidFill>
              <a:srgbClr val="D0D7DF"/>
            </a:solidFill>
          </a:ln>
        </p:spPr>
        <p:txBody>
          <a:bodyPr vert="horz" lIns="73152" tIns="73152" rIns="60960" bIns="48768" rtlCol="0" anchor="ctr" anchorCtr="0">
            <a:noAutofit/>
          </a:bodyPr>
          <a:lstStyle/>
          <a:p>
            <a:pPr marL="0" marR="0" lvl="0" indent="0" algn="ctr" defTabSz="231642" eaLnBrk="1" fontAlgn="auto" latinLnBrk="0" hangingPunct="1">
              <a:lnSpc>
                <a:spcPct val="100000"/>
              </a:lnSpc>
              <a:spcBef>
                <a:spcPts val="0"/>
              </a:spcBef>
              <a:spcAft>
                <a:spcPts val="0"/>
              </a:spcAft>
              <a:buClrTx/>
              <a:buSzTx/>
              <a:buFontTx/>
              <a:buNone/>
              <a:tabLst>
                <a:tab pos="231642" algn="l"/>
                <a:tab pos="463284" algn="l"/>
                <a:tab pos="694927" algn="l"/>
                <a:tab pos="926569" algn="l"/>
              </a:tabLst>
              <a:defRPr>
                <a:solidFill>
                  <a:srgbClr val="FFFFFF"/>
                </a:solidFill>
              </a:defRPr>
            </a:pPr>
            <a:r>
              <a:rPr kumimoji="0" lang="en-US" sz="1400" b="1" i="0" u="none" strike="noStrike" kern="0" cap="none" spc="-10" normalizeH="0" baseline="0" noProof="0">
                <a:ln>
                  <a:noFill/>
                </a:ln>
                <a:solidFill>
                  <a:srgbClr val="FFFFFF"/>
                </a:solidFill>
                <a:effectLst/>
                <a:uLnTx/>
                <a:uFillTx/>
                <a:latin typeface="Segoe UI" pitchFamily="34" charset="0"/>
                <a:cs typeface="Helvetica Neue" panose="020B0604020202020204" charset="0"/>
              </a:rPr>
              <a:t>TALENT TO VALUE</a:t>
            </a:r>
          </a:p>
        </p:txBody>
      </p:sp>
      <p:sp>
        <p:nvSpPr>
          <p:cNvPr id="19" name="Rounded Rectangle 6">
            <a:extLst>
              <a:ext uri="{FF2B5EF4-FFF2-40B4-BE49-F238E27FC236}">
                <a16:creationId xmlns:a16="http://schemas.microsoft.com/office/drawing/2014/main" id="{5207BE2C-989D-4E72-EE63-0EAF0054D95D}"/>
              </a:ext>
            </a:extLst>
          </p:cNvPr>
          <p:cNvSpPr/>
          <p:nvPr/>
        </p:nvSpPr>
        <p:spPr>
          <a:xfrm>
            <a:off x="4647795" y="2070417"/>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1: LEARNING</a:t>
            </a:r>
          </a:p>
        </p:txBody>
      </p:sp>
      <p:sp>
        <p:nvSpPr>
          <p:cNvPr id="20" name="Rounded Rectangle 7">
            <a:extLst>
              <a:ext uri="{FF2B5EF4-FFF2-40B4-BE49-F238E27FC236}">
                <a16:creationId xmlns:a16="http://schemas.microsoft.com/office/drawing/2014/main" id="{97F1AF54-A958-084B-99A1-D025DD039D71}"/>
              </a:ext>
            </a:extLst>
          </p:cNvPr>
          <p:cNvSpPr/>
          <p:nvPr/>
        </p:nvSpPr>
        <p:spPr>
          <a:xfrm>
            <a:off x="4631106" y="3621886"/>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2: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TAKING ACTION</a:t>
            </a:r>
          </a:p>
        </p:txBody>
      </p:sp>
      <p:sp>
        <p:nvSpPr>
          <p:cNvPr id="21" name="Rounded Rectangle 6">
            <a:extLst>
              <a:ext uri="{FF2B5EF4-FFF2-40B4-BE49-F238E27FC236}">
                <a16:creationId xmlns:a16="http://schemas.microsoft.com/office/drawing/2014/main" id="{863583FF-6FCB-F21A-7D78-6EB276C0241E}"/>
              </a:ext>
            </a:extLst>
          </p:cNvPr>
          <p:cNvSpPr/>
          <p:nvPr/>
        </p:nvSpPr>
        <p:spPr>
          <a:xfrm>
            <a:off x="8379860" y="2070417"/>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1: LEARNING</a:t>
            </a:r>
          </a:p>
        </p:txBody>
      </p:sp>
      <p:sp>
        <p:nvSpPr>
          <p:cNvPr id="22" name="Rounded Rectangle 7">
            <a:extLst>
              <a:ext uri="{FF2B5EF4-FFF2-40B4-BE49-F238E27FC236}">
                <a16:creationId xmlns:a16="http://schemas.microsoft.com/office/drawing/2014/main" id="{87E2E7FC-8F80-696B-D507-8661076A8028}"/>
              </a:ext>
            </a:extLst>
          </p:cNvPr>
          <p:cNvSpPr/>
          <p:nvPr/>
        </p:nvSpPr>
        <p:spPr>
          <a:xfrm>
            <a:off x="8379860" y="3621886"/>
            <a:ext cx="1656000" cy="613292"/>
          </a:xfrm>
          <a:prstGeom prst="roundRect">
            <a:avLst/>
          </a:prstGeom>
          <a:solidFill>
            <a:srgbClr val="60BDB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STEP 2: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rgbClr val="1D1D1D"/>
                </a:solidFill>
                <a:effectLst/>
                <a:uLnTx/>
                <a:uFillTx/>
                <a:latin typeface="Arial" pitchFamily="34" charset="0"/>
                <a:cs typeface="Helvetica Neue" panose="020B0604020202020204" charset="0"/>
              </a:rPr>
              <a:t>TAKING ACTION</a:t>
            </a:r>
          </a:p>
        </p:txBody>
      </p:sp>
      <p:sp>
        <p:nvSpPr>
          <p:cNvPr id="23" name="TextBox 22">
            <a:extLst>
              <a:ext uri="{FF2B5EF4-FFF2-40B4-BE49-F238E27FC236}">
                <a16:creationId xmlns:a16="http://schemas.microsoft.com/office/drawing/2014/main" id="{05EB9EB9-F946-1F6C-4E19-E744D50EFC85}"/>
              </a:ext>
            </a:extLst>
          </p:cNvPr>
          <p:cNvSpPr txBox="1"/>
          <p:nvPr/>
        </p:nvSpPr>
        <p:spPr>
          <a:xfrm>
            <a:off x="10475495" y="5926768"/>
            <a:ext cx="1716505" cy="461665"/>
          </a:xfrm>
          <a:prstGeom prst="rect">
            <a:avLst/>
          </a:prstGeom>
          <a:noFill/>
        </p:spPr>
        <p:txBody>
          <a:bodyPr wrap="square" lIns="91440" tIns="45720" rIns="91440" bIns="4572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10" normalizeH="0" baseline="0" noProof="0">
                <a:ln>
                  <a:noFill/>
                </a:ln>
                <a:solidFill>
                  <a:srgbClr val="1D1D1D"/>
                </a:solidFill>
                <a:effectLst/>
                <a:uLnTx/>
                <a:uFillTx/>
                <a:latin typeface="Arial" pitchFamily="34" charset="0"/>
                <a:cs typeface="Helvetica Neue" panose="020B0604020202020204" charset="0"/>
              </a:rPr>
              <a:t>*(followed by quarterly checkpoints)</a:t>
            </a:r>
          </a:p>
        </p:txBody>
      </p:sp>
      <p:sp>
        <p:nvSpPr>
          <p:cNvPr id="24" name="TextBox 23">
            <a:extLst>
              <a:ext uri="{FF2B5EF4-FFF2-40B4-BE49-F238E27FC236}">
                <a16:creationId xmlns:a16="http://schemas.microsoft.com/office/drawing/2014/main" id="{C3829118-16C0-1CF8-D9B9-47B5FC162E1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187977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3374D8-C4EC-E09B-0B58-E7F5260DF031}"/>
              </a:ext>
            </a:extLst>
          </p:cNvPr>
          <p:cNvSpPr>
            <a:spLocks noGrp="1"/>
          </p:cNvSpPr>
          <p:nvPr>
            <p:ph type="sldNum" sz="quarter" idx="4"/>
          </p:nvPr>
        </p:nvSpPr>
        <p:spPr/>
        <p:txBody>
          <a:bodyPr/>
          <a:lstStyle/>
          <a:p>
            <a:pPr algn="ctr"/>
            <a:fld id="{7DA59B58-B945-4B36-BC6B-9C26C933A008}" type="slidenum">
              <a:rPr lang="en-US" smtClean="0"/>
              <a:t>57</a:t>
            </a:fld>
            <a:endParaRPr lang="en-US"/>
          </a:p>
        </p:txBody>
      </p:sp>
      <p:sp>
        <p:nvSpPr>
          <p:cNvPr id="30" name="Title 29">
            <a:extLst>
              <a:ext uri="{FF2B5EF4-FFF2-40B4-BE49-F238E27FC236}">
                <a16:creationId xmlns:a16="http://schemas.microsoft.com/office/drawing/2014/main" id="{E854D856-F88A-7360-CE39-F93FD3E81E66}"/>
              </a:ext>
            </a:extLst>
          </p:cNvPr>
          <p:cNvSpPr>
            <a:spLocks noGrp="1"/>
          </p:cNvSpPr>
          <p:nvPr>
            <p:ph type="title"/>
          </p:nvPr>
        </p:nvSpPr>
        <p:spPr/>
        <p:txBody>
          <a:bodyPr/>
          <a:lstStyle/>
          <a:p>
            <a:r>
              <a:rPr lang="en-US" dirty="0"/>
              <a:t>Talent to Value: Project Overview</a:t>
            </a:r>
          </a:p>
        </p:txBody>
      </p:sp>
      <p:sp>
        <p:nvSpPr>
          <p:cNvPr id="6" name="TextBox 5">
            <a:extLst>
              <a:ext uri="{FF2B5EF4-FFF2-40B4-BE49-F238E27FC236}">
                <a16:creationId xmlns:a16="http://schemas.microsoft.com/office/drawing/2014/main" id="{2C56BBCD-BD7B-1889-4053-C12FC8A0DDF6}"/>
              </a:ext>
            </a:extLst>
          </p:cNvPr>
          <p:cNvSpPr txBox="1"/>
          <p:nvPr/>
        </p:nvSpPr>
        <p:spPr>
          <a:xfrm>
            <a:off x="720857" y="1019052"/>
            <a:ext cx="4512399" cy="400110"/>
          </a:xfrm>
          <a:prstGeom prst="rect">
            <a:avLst/>
          </a:prstGeom>
          <a:no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Talent to Value Pivots</a:t>
            </a:r>
          </a:p>
        </p:txBody>
      </p:sp>
      <p:cxnSp>
        <p:nvCxnSpPr>
          <p:cNvPr id="7" name="Straight Connector 6">
            <a:extLst>
              <a:ext uri="{FF2B5EF4-FFF2-40B4-BE49-F238E27FC236}">
                <a16:creationId xmlns:a16="http://schemas.microsoft.com/office/drawing/2014/main" id="{3F1F8802-AFBA-1678-DE7B-F713C217AB15}"/>
              </a:ext>
            </a:extLst>
          </p:cNvPr>
          <p:cNvCxnSpPr>
            <a:cxnSpLocks/>
          </p:cNvCxnSpPr>
          <p:nvPr/>
        </p:nvCxnSpPr>
        <p:spPr>
          <a:xfrm>
            <a:off x="720857" y="1427207"/>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42B08C4-492B-65FC-922A-F5030F06A14D}"/>
              </a:ext>
            </a:extLst>
          </p:cNvPr>
          <p:cNvCxnSpPr>
            <a:cxnSpLocks/>
          </p:cNvCxnSpPr>
          <p:nvPr/>
        </p:nvCxnSpPr>
        <p:spPr>
          <a:xfrm>
            <a:off x="720857" y="3254004"/>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4257111-AB0D-7CA1-134A-FDF73C686DCC}"/>
              </a:ext>
            </a:extLst>
          </p:cNvPr>
          <p:cNvSpPr txBox="1"/>
          <p:nvPr/>
        </p:nvSpPr>
        <p:spPr>
          <a:xfrm>
            <a:off x="720857" y="2825502"/>
            <a:ext cx="4939959" cy="400110"/>
          </a:xfrm>
          <a:prstGeom prst="rect">
            <a:avLst/>
          </a:prstGeom>
          <a:noFill/>
        </p:spPr>
        <p:txBody>
          <a:bodyPr wrap="square" lIns="91440" tIns="45720" rIns="91440" bIns="4572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Timelines</a:t>
            </a:r>
          </a:p>
        </p:txBody>
      </p:sp>
      <p:sp>
        <p:nvSpPr>
          <p:cNvPr id="10" name="Freeform 308">
            <a:extLst>
              <a:ext uri="{FF2B5EF4-FFF2-40B4-BE49-F238E27FC236}">
                <a16:creationId xmlns:a16="http://schemas.microsoft.com/office/drawing/2014/main" id="{58A9F868-8BF0-523D-A652-D297C30C9150}"/>
              </a:ext>
            </a:extLst>
          </p:cNvPr>
          <p:cNvSpPr/>
          <p:nvPr/>
        </p:nvSpPr>
        <p:spPr>
          <a:xfrm>
            <a:off x="7214795" y="1028670"/>
            <a:ext cx="251172" cy="322015"/>
          </a:xfrm>
          <a:custGeom>
            <a:avLst/>
            <a:gdLst>
              <a:gd name="connsiteX0" fmla="*/ 68461 w 381422"/>
              <a:gd name="connsiteY0" fmla="*/ 134475 h 489000"/>
              <a:gd name="connsiteX1" fmla="*/ 68461 w 381422"/>
              <a:gd name="connsiteY1" fmla="*/ 127139 h 489000"/>
              <a:gd name="connsiteX2" fmla="*/ 312961 w 381422"/>
              <a:gd name="connsiteY2" fmla="*/ 127139 h 489000"/>
              <a:gd name="connsiteX3" fmla="*/ 312961 w 381422"/>
              <a:gd name="connsiteY3" fmla="*/ 141811 h 489000"/>
              <a:gd name="connsiteX4" fmla="*/ 68461 w 381422"/>
              <a:gd name="connsiteY4" fmla="*/ 141811 h 489000"/>
              <a:gd name="connsiteX5" fmla="*/ 68461 w 381422"/>
              <a:gd name="connsiteY5" fmla="*/ 134475 h 489000"/>
              <a:gd name="connsiteX6" fmla="*/ 68461 w 381422"/>
              <a:gd name="connsiteY6" fmla="*/ 264061 h 489000"/>
              <a:gd name="connsiteX7" fmla="*/ 312961 w 381422"/>
              <a:gd name="connsiteY7" fmla="*/ 264061 h 489000"/>
              <a:gd name="connsiteX8" fmla="*/ 312961 w 381422"/>
              <a:gd name="connsiteY8" fmla="*/ 249389 h 489000"/>
              <a:gd name="connsiteX9" fmla="*/ 68461 w 381422"/>
              <a:gd name="connsiteY9" fmla="*/ 249389 h 489000"/>
              <a:gd name="connsiteX10" fmla="*/ 68461 w 381422"/>
              <a:gd name="connsiteY10" fmla="*/ 264061 h 489000"/>
              <a:gd name="connsiteX11" fmla="*/ 68461 w 381422"/>
              <a:gd name="connsiteY11" fmla="*/ 202936 h 489000"/>
              <a:gd name="connsiteX12" fmla="*/ 312961 w 381422"/>
              <a:gd name="connsiteY12" fmla="*/ 202936 h 489000"/>
              <a:gd name="connsiteX13" fmla="*/ 312961 w 381422"/>
              <a:gd name="connsiteY13" fmla="*/ 188264 h 489000"/>
              <a:gd name="connsiteX14" fmla="*/ 68461 w 381422"/>
              <a:gd name="connsiteY14" fmla="*/ 188264 h 489000"/>
              <a:gd name="connsiteX15" fmla="*/ 68461 w 381422"/>
              <a:gd name="connsiteY15" fmla="*/ 202936 h 489000"/>
              <a:gd name="connsiteX16" fmla="*/ 68461 w 381422"/>
              <a:gd name="connsiteY16" fmla="*/ 325186 h 489000"/>
              <a:gd name="connsiteX17" fmla="*/ 312961 w 381422"/>
              <a:gd name="connsiteY17" fmla="*/ 325186 h 489000"/>
              <a:gd name="connsiteX18" fmla="*/ 312961 w 381422"/>
              <a:gd name="connsiteY18" fmla="*/ 310514 h 489000"/>
              <a:gd name="connsiteX19" fmla="*/ 68461 w 381422"/>
              <a:gd name="connsiteY19" fmla="*/ 310514 h 489000"/>
              <a:gd name="connsiteX20" fmla="*/ 68461 w 381422"/>
              <a:gd name="connsiteY20" fmla="*/ 325186 h 489000"/>
              <a:gd name="connsiteX21" fmla="*/ 68461 w 381422"/>
              <a:gd name="connsiteY21" fmla="*/ 386311 h 489000"/>
              <a:gd name="connsiteX22" fmla="*/ 190711 w 381422"/>
              <a:gd name="connsiteY22" fmla="*/ 386311 h 489000"/>
              <a:gd name="connsiteX23" fmla="*/ 190711 w 381422"/>
              <a:gd name="connsiteY23" fmla="*/ 371639 h 489000"/>
              <a:gd name="connsiteX24" fmla="*/ 68461 w 381422"/>
              <a:gd name="connsiteY24" fmla="*/ 371639 h 489000"/>
              <a:gd name="connsiteX25" fmla="*/ 68461 w 381422"/>
              <a:gd name="connsiteY25" fmla="*/ 386311 h 489000"/>
              <a:gd name="connsiteX26" fmla="*/ 381422 w 381422"/>
              <a:gd name="connsiteY26" fmla="*/ 56111 h 489000"/>
              <a:gd name="connsiteX27" fmla="*/ 381422 w 381422"/>
              <a:gd name="connsiteY27" fmla="*/ 457214 h 489000"/>
              <a:gd name="connsiteX28" fmla="*/ 349636 w 381422"/>
              <a:gd name="connsiteY28" fmla="*/ 489000 h 489000"/>
              <a:gd name="connsiteX29" fmla="*/ 31786 w 381422"/>
              <a:gd name="connsiteY29" fmla="*/ 489000 h 489000"/>
              <a:gd name="connsiteX30" fmla="*/ 0 w 381422"/>
              <a:gd name="connsiteY30" fmla="*/ 457214 h 489000"/>
              <a:gd name="connsiteX31" fmla="*/ 0 w 381422"/>
              <a:gd name="connsiteY31" fmla="*/ 56111 h 489000"/>
              <a:gd name="connsiteX32" fmla="*/ 31786 w 381422"/>
              <a:gd name="connsiteY32" fmla="*/ 24325 h 489000"/>
              <a:gd name="connsiteX33" fmla="*/ 91688 w 381422"/>
              <a:gd name="connsiteY33" fmla="*/ 24325 h 489000"/>
              <a:gd name="connsiteX34" fmla="*/ 91688 w 381422"/>
              <a:gd name="connsiteY34" fmla="*/ 19561 h 489000"/>
              <a:gd name="connsiteX35" fmla="*/ 111249 w 381422"/>
              <a:gd name="connsiteY35" fmla="*/ 0 h 489000"/>
              <a:gd name="connsiteX36" fmla="*/ 270174 w 381422"/>
              <a:gd name="connsiteY36" fmla="*/ 0 h 489000"/>
              <a:gd name="connsiteX37" fmla="*/ 289735 w 381422"/>
              <a:gd name="connsiteY37" fmla="*/ 19561 h 489000"/>
              <a:gd name="connsiteX38" fmla="*/ 289735 w 381422"/>
              <a:gd name="connsiteY38" fmla="*/ 24325 h 489000"/>
              <a:gd name="connsiteX39" fmla="*/ 349636 w 381422"/>
              <a:gd name="connsiteY39" fmla="*/ 24325 h 489000"/>
              <a:gd name="connsiteX40" fmla="*/ 381422 w 381422"/>
              <a:gd name="connsiteY40" fmla="*/ 56111 h 489000"/>
              <a:gd name="connsiteX41" fmla="*/ 106360 w 381422"/>
              <a:gd name="connsiteY41" fmla="*/ 48900 h 489000"/>
              <a:gd name="connsiteX42" fmla="*/ 275063 w 381422"/>
              <a:gd name="connsiteY42" fmla="*/ 48900 h 489000"/>
              <a:gd name="connsiteX43" fmla="*/ 275063 w 381422"/>
              <a:gd name="connsiteY43" fmla="*/ 19561 h 489000"/>
              <a:gd name="connsiteX44" fmla="*/ 270174 w 381422"/>
              <a:gd name="connsiteY44" fmla="*/ 14672 h 489000"/>
              <a:gd name="connsiteX45" fmla="*/ 111249 w 381422"/>
              <a:gd name="connsiteY45" fmla="*/ 14672 h 489000"/>
              <a:gd name="connsiteX46" fmla="*/ 106360 w 381422"/>
              <a:gd name="connsiteY46" fmla="*/ 19561 h 489000"/>
              <a:gd name="connsiteX47" fmla="*/ 106360 w 381422"/>
              <a:gd name="connsiteY47" fmla="*/ 48900 h 489000"/>
              <a:gd name="connsiteX48" fmla="*/ 366750 w 381422"/>
              <a:gd name="connsiteY48" fmla="*/ 56111 h 489000"/>
              <a:gd name="connsiteX49" fmla="*/ 349636 w 381422"/>
              <a:gd name="connsiteY49" fmla="*/ 38997 h 489000"/>
              <a:gd name="connsiteX50" fmla="*/ 289735 w 381422"/>
              <a:gd name="connsiteY50" fmla="*/ 38997 h 489000"/>
              <a:gd name="connsiteX51" fmla="*/ 289735 w 381422"/>
              <a:gd name="connsiteY51" fmla="*/ 56236 h 489000"/>
              <a:gd name="connsiteX52" fmla="*/ 282399 w 381422"/>
              <a:gd name="connsiteY52" fmla="*/ 63572 h 489000"/>
              <a:gd name="connsiteX53" fmla="*/ 99024 w 381422"/>
              <a:gd name="connsiteY53" fmla="*/ 63572 h 489000"/>
              <a:gd name="connsiteX54" fmla="*/ 91688 w 381422"/>
              <a:gd name="connsiteY54" fmla="*/ 56236 h 489000"/>
              <a:gd name="connsiteX55" fmla="*/ 91688 w 381422"/>
              <a:gd name="connsiteY55" fmla="*/ 38997 h 489000"/>
              <a:gd name="connsiteX56" fmla="*/ 31786 w 381422"/>
              <a:gd name="connsiteY56" fmla="*/ 38997 h 489000"/>
              <a:gd name="connsiteX57" fmla="*/ 14672 w 381422"/>
              <a:gd name="connsiteY57" fmla="*/ 56111 h 489000"/>
              <a:gd name="connsiteX58" fmla="*/ 14672 w 381422"/>
              <a:gd name="connsiteY58" fmla="*/ 457214 h 489000"/>
              <a:gd name="connsiteX59" fmla="*/ 31786 w 381422"/>
              <a:gd name="connsiteY59" fmla="*/ 474328 h 489000"/>
              <a:gd name="connsiteX60" fmla="*/ 349636 w 381422"/>
              <a:gd name="connsiteY60" fmla="*/ 474328 h 489000"/>
              <a:gd name="connsiteX61" fmla="*/ 366750 w 381422"/>
              <a:gd name="connsiteY61" fmla="*/ 457214 h 489000"/>
              <a:gd name="connsiteX62" fmla="*/ 366750 w 381422"/>
              <a:gd name="connsiteY62" fmla="*/ 56111 h 4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81422" h="489000">
                <a:moveTo>
                  <a:pt x="68461" y="134475"/>
                </a:moveTo>
                <a:lnTo>
                  <a:pt x="68461" y="127139"/>
                </a:lnTo>
                <a:lnTo>
                  <a:pt x="312961" y="127139"/>
                </a:lnTo>
                <a:lnTo>
                  <a:pt x="312961" y="141811"/>
                </a:lnTo>
                <a:lnTo>
                  <a:pt x="68461" y="141811"/>
                </a:lnTo>
                <a:lnTo>
                  <a:pt x="68461" y="134475"/>
                </a:lnTo>
                <a:close/>
                <a:moveTo>
                  <a:pt x="68461" y="264061"/>
                </a:moveTo>
                <a:lnTo>
                  <a:pt x="312961" y="264061"/>
                </a:lnTo>
                <a:lnTo>
                  <a:pt x="312961" y="249389"/>
                </a:lnTo>
                <a:lnTo>
                  <a:pt x="68461" y="249389"/>
                </a:lnTo>
                <a:lnTo>
                  <a:pt x="68461" y="264061"/>
                </a:lnTo>
                <a:close/>
                <a:moveTo>
                  <a:pt x="68461" y="202936"/>
                </a:moveTo>
                <a:lnTo>
                  <a:pt x="312961" y="202936"/>
                </a:lnTo>
                <a:lnTo>
                  <a:pt x="312961" y="188264"/>
                </a:lnTo>
                <a:lnTo>
                  <a:pt x="68461" y="188264"/>
                </a:lnTo>
                <a:lnTo>
                  <a:pt x="68461" y="202936"/>
                </a:lnTo>
                <a:close/>
                <a:moveTo>
                  <a:pt x="68461" y="325186"/>
                </a:moveTo>
                <a:lnTo>
                  <a:pt x="312961" y="325186"/>
                </a:lnTo>
                <a:lnTo>
                  <a:pt x="312961" y="310514"/>
                </a:lnTo>
                <a:lnTo>
                  <a:pt x="68461" y="310514"/>
                </a:lnTo>
                <a:lnTo>
                  <a:pt x="68461" y="325186"/>
                </a:lnTo>
                <a:close/>
                <a:moveTo>
                  <a:pt x="68461" y="386311"/>
                </a:moveTo>
                <a:lnTo>
                  <a:pt x="190711" y="386311"/>
                </a:lnTo>
                <a:lnTo>
                  <a:pt x="190711" y="371639"/>
                </a:lnTo>
                <a:lnTo>
                  <a:pt x="68461" y="371639"/>
                </a:lnTo>
                <a:lnTo>
                  <a:pt x="68461" y="386311"/>
                </a:lnTo>
                <a:close/>
                <a:moveTo>
                  <a:pt x="381422" y="56111"/>
                </a:moveTo>
                <a:lnTo>
                  <a:pt x="381422" y="457214"/>
                </a:lnTo>
                <a:cubicBezTo>
                  <a:pt x="381422" y="474740"/>
                  <a:pt x="367162" y="489000"/>
                  <a:pt x="349636" y="489000"/>
                </a:cubicBezTo>
                <a:lnTo>
                  <a:pt x="31786" y="489000"/>
                </a:lnTo>
                <a:cubicBezTo>
                  <a:pt x="14260" y="489000"/>
                  <a:pt x="0" y="474740"/>
                  <a:pt x="0" y="457214"/>
                </a:cubicBezTo>
                <a:lnTo>
                  <a:pt x="0" y="56111"/>
                </a:lnTo>
                <a:cubicBezTo>
                  <a:pt x="0" y="38585"/>
                  <a:pt x="14260" y="24325"/>
                  <a:pt x="31786" y="24325"/>
                </a:cubicBezTo>
                <a:lnTo>
                  <a:pt x="91688" y="24325"/>
                </a:lnTo>
                <a:lnTo>
                  <a:pt x="91688" y="19561"/>
                </a:lnTo>
                <a:cubicBezTo>
                  <a:pt x="91688" y="8775"/>
                  <a:pt x="100462" y="0"/>
                  <a:pt x="111249" y="0"/>
                </a:cubicBezTo>
                <a:lnTo>
                  <a:pt x="270174" y="0"/>
                </a:lnTo>
                <a:cubicBezTo>
                  <a:pt x="280960" y="0"/>
                  <a:pt x="289735" y="8774"/>
                  <a:pt x="289735" y="19561"/>
                </a:cubicBezTo>
                <a:lnTo>
                  <a:pt x="289735" y="24325"/>
                </a:lnTo>
                <a:lnTo>
                  <a:pt x="349636" y="24325"/>
                </a:lnTo>
                <a:cubicBezTo>
                  <a:pt x="367162" y="24325"/>
                  <a:pt x="381422" y="38585"/>
                  <a:pt x="381422" y="56111"/>
                </a:cubicBezTo>
                <a:close/>
                <a:moveTo>
                  <a:pt x="106360" y="48900"/>
                </a:moveTo>
                <a:lnTo>
                  <a:pt x="275063" y="48900"/>
                </a:lnTo>
                <a:lnTo>
                  <a:pt x="275063" y="19561"/>
                </a:lnTo>
                <a:cubicBezTo>
                  <a:pt x="275063" y="16866"/>
                  <a:pt x="272872" y="14672"/>
                  <a:pt x="270174" y="14672"/>
                </a:cubicBezTo>
                <a:lnTo>
                  <a:pt x="111249" y="14672"/>
                </a:lnTo>
                <a:cubicBezTo>
                  <a:pt x="108551" y="14672"/>
                  <a:pt x="106360" y="16866"/>
                  <a:pt x="106360" y="19561"/>
                </a:cubicBezTo>
                <a:lnTo>
                  <a:pt x="106360" y="48900"/>
                </a:lnTo>
                <a:close/>
                <a:moveTo>
                  <a:pt x="366750" y="56111"/>
                </a:moveTo>
                <a:cubicBezTo>
                  <a:pt x="366750" y="46674"/>
                  <a:pt x="359073" y="38997"/>
                  <a:pt x="349636" y="38997"/>
                </a:cubicBezTo>
                <a:lnTo>
                  <a:pt x="289735" y="38997"/>
                </a:lnTo>
                <a:lnTo>
                  <a:pt x="289735" y="56236"/>
                </a:lnTo>
                <a:cubicBezTo>
                  <a:pt x="289735" y="60286"/>
                  <a:pt x="286452" y="63572"/>
                  <a:pt x="282399" y="63572"/>
                </a:cubicBezTo>
                <a:lnTo>
                  <a:pt x="99024" y="63572"/>
                </a:lnTo>
                <a:cubicBezTo>
                  <a:pt x="94971" y="63572"/>
                  <a:pt x="91688" y="60286"/>
                  <a:pt x="91688" y="56236"/>
                </a:cubicBezTo>
                <a:lnTo>
                  <a:pt x="91688" y="38997"/>
                </a:lnTo>
                <a:lnTo>
                  <a:pt x="31786" y="38997"/>
                </a:lnTo>
                <a:cubicBezTo>
                  <a:pt x="22349" y="38997"/>
                  <a:pt x="14672" y="46674"/>
                  <a:pt x="14672" y="56111"/>
                </a:cubicBezTo>
                <a:lnTo>
                  <a:pt x="14672" y="457214"/>
                </a:lnTo>
                <a:cubicBezTo>
                  <a:pt x="14672" y="466651"/>
                  <a:pt x="22349" y="474328"/>
                  <a:pt x="31786" y="474328"/>
                </a:cubicBezTo>
                <a:lnTo>
                  <a:pt x="349636" y="474328"/>
                </a:lnTo>
                <a:cubicBezTo>
                  <a:pt x="359073" y="474328"/>
                  <a:pt x="366750" y="466651"/>
                  <a:pt x="366750" y="457214"/>
                </a:cubicBezTo>
                <a:lnTo>
                  <a:pt x="366750" y="56111"/>
                </a:lnTo>
                <a:close/>
              </a:path>
            </a:pathLst>
          </a:custGeom>
          <a:solidFill>
            <a:srgbClr val="765FFF"/>
          </a:solidFill>
          <a:ln w="0" cap="flat">
            <a:solidFill>
              <a:srgbClr val="765FFF"/>
            </a:solidFill>
            <a:prstDash val="solid"/>
            <a:miter/>
          </a:ln>
        </p:spPr>
        <p:txBody>
          <a:bodyPr lIns="91440" tIns="45720" rIns="91440" bIns="45720" rtlCol="0" anchor="ctr"/>
          <a:lstStyle/>
          <a:p>
            <a:pPr marL="0" marR="0" lvl="0" indent="0" algn="l"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pic>
        <p:nvPicPr>
          <p:cNvPr id="11" name="Graphic 38" descr="Blockchain outline">
            <a:extLst>
              <a:ext uri="{FF2B5EF4-FFF2-40B4-BE49-F238E27FC236}">
                <a16:creationId xmlns:a16="http://schemas.microsoft.com/office/drawing/2014/main" id="{8FE15300-B5A4-BD66-C6ED-ADE3A1766815}"/>
              </a:ext>
            </a:extLst>
          </p:cNvPr>
          <p:cNvPicPr>
            <a:picLocks noChangeAspect="1"/>
          </p:cNvPicPr>
          <p:nvPr/>
        </p:nvPicPr>
        <p:blipFill>
          <a:blip r:embed="rId2">
            <a:duotone>
              <a:srgbClr val="765FFF"/>
              <a:srgbClr val="FFFFFF"/>
            </a:duotone>
          </a:blip>
          <a:stretch>
            <a:fillRect/>
          </a:stretch>
        </p:blipFill>
        <p:spPr>
          <a:xfrm>
            <a:off x="7145147" y="2786212"/>
            <a:ext cx="455983" cy="455983"/>
          </a:xfrm>
          <a:prstGeom prst="rect">
            <a:avLst/>
          </a:prstGeom>
        </p:spPr>
      </p:pic>
      <p:cxnSp>
        <p:nvCxnSpPr>
          <p:cNvPr id="12" name="Straight Arrow Connector 11">
            <a:extLst>
              <a:ext uri="{FF2B5EF4-FFF2-40B4-BE49-F238E27FC236}">
                <a16:creationId xmlns:a16="http://schemas.microsoft.com/office/drawing/2014/main" id="{E7FD2B64-C4F1-5D64-72EB-9472AA50E33C}"/>
              </a:ext>
            </a:extLst>
          </p:cNvPr>
          <p:cNvCxnSpPr>
            <a:cxnSpLocks/>
          </p:cNvCxnSpPr>
          <p:nvPr/>
        </p:nvCxnSpPr>
        <p:spPr>
          <a:xfrm>
            <a:off x="732579" y="3759339"/>
            <a:ext cx="6619045" cy="0"/>
          </a:xfrm>
          <a:prstGeom prst="straightConnector1">
            <a:avLst/>
          </a:prstGeom>
          <a:ln w="9525">
            <a:solidFill>
              <a:srgbClr val="F2F2F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EF07BDC-A990-F2F3-21BD-420B3CA47E90}"/>
              </a:ext>
            </a:extLst>
          </p:cNvPr>
          <p:cNvSpPr txBox="1"/>
          <p:nvPr/>
        </p:nvSpPr>
        <p:spPr>
          <a:xfrm>
            <a:off x="1104406" y="3621806"/>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Light" panose="020B0604020202020204" charset="0"/>
              </a:rPr>
              <a:t>Step 1</a:t>
            </a:r>
          </a:p>
        </p:txBody>
      </p:sp>
      <p:cxnSp>
        <p:nvCxnSpPr>
          <p:cNvPr id="14" name="Straight Connector 13">
            <a:extLst>
              <a:ext uri="{FF2B5EF4-FFF2-40B4-BE49-F238E27FC236}">
                <a16:creationId xmlns:a16="http://schemas.microsoft.com/office/drawing/2014/main" id="{82E287D5-4EBA-5F57-8BE9-32395A847E15}"/>
              </a:ext>
            </a:extLst>
          </p:cNvPr>
          <p:cNvCxnSpPr>
            <a:cxnSpLocks/>
          </p:cNvCxnSpPr>
          <p:nvPr/>
        </p:nvCxnSpPr>
        <p:spPr>
          <a:xfrm>
            <a:off x="8053928" y="1427207"/>
            <a:ext cx="413807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FFC2FF4-03B2-654D-0A03-F20CA6F80478}"/>
              </a:ext>
            </a:extLst>
          </p:cNvPr>
          <p:cNvSpPr txBox="1"/>
          <p:nvPr/>
        </p:nvSpPr>
        <p:spPr>
          <a:xfrm>
            <a:off x="9039020" y="1033020"/>
            <a:ext cx="2620489" cy="400110"/>
          </a:xfrm>
          <a:prstGeom prst="rect">
            <a:avLst/>
          </a:prstGeom>
          <a:noFill/>
        </p:spPr>
        <p:txBody>
          <a:bodyPr wrap="square" lIns="91440" tIns="45720" rIns="91440" bIns="45720">
            <a:spAutoFit/>
          </a:bodyPr>
          <a:lstStyle/>
          <a:p>
            <a:pPr marL="0" marR="0" lvl="0" indent="0" algn="l" defTabSz="609585"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a:ln>
                  <a:noFill/>
                </a:ln>
                <a:effectLst/>
                <a:uLnTx/>
                <a:uFillTx/>
                <a:latin typeface="Segoe UI" pitchFamily="34" charset="0"/>
                <a:ea typeface="Helvetica Neue" panose="02000503000000020004" pitchFamily="2" charset="0"/>
                <a:cs typeface="Helvetica Neue Light" panose="020B0604020202020204" charset="0"/>
              </a:rPr>
              <a:t>Deliverables</a:t>
            </a:r>
          </a:p>
        </p:txBody>
      </p:sp>
      <p:pic>
        <p:nvPicPr>
          <p:cNvPr id="16" name="Picture 15">
            <a:extLst>
              <a:ext uri="{FF2B5EF4-FFF2-40B4-BE49-F238E27FC236}">
                <a16:creationId xmlns:a16="http://schemas.microsoft.com/office/drawing/2014/main" id="{EDC9DE6B-201D-2476-DD93-8A167813FE3E}"/>
              </a:ext>
            </a:extLst>
          </p:cNvPr>
          <p:cNvPicPr>
            <a:picLocks noChangeAspect="1"/>
          </p:cNvPicPr>
          <p:nvPr/>
        </p:nvPicPr>
        <p:blipFill>
          <a:blip r:embed="rId3">
            <a:duotone>
              <a:srgbClr val="765FFF"/>
              <a:srgbClr val="FFFFFF"/>
            </a:duotone>
          </a:blip>
          <a:stretch>
            <a:fillRect/>
          </a:stretch>
        </p:blipFill>
        <p:spPr>
          <a:xfrm>
            <a:off x="8251247" y="669732"/>
            <a:ext cx="787773" cy="751713"/>
          </a:xfrm>
          <a:prstGeom prst="rect">
            <a:avLst/>
          </a:prstGeom>
        </p:spPr>
      </p:pic>
      <p:sp>
        <p:nvSpPr>
          <p:cNvPr id="17" name="Rectangle: Rounded Corners 24">
            <a:extLst>
              <a:ext uri="{FF2B5EF4-FFF2-40B4-BE49-F238E27FC236}">
                <a16:creationId xmlns:a16="http://schemas.microsoft.com/office/drawing/2014/main" id="{218EB6E5-C6A8-C7BB-773A-448141A4ECC2}"/>
              </a:ext>
            </a:extLst>
          </p:cNvPr>
          <p:cNvSpPr/>
          <p:nvPr/>
        </p:nvSpPr>
        <p:spPr>
          <a:xfrm>
            <a:off x="8302874" y="1840013"/>
            <a:ext cx="3486175" cy="3576855"/>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04792" marR="0" lvl="0" indent="-304792" algn="l" defTabSz="81276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0" cap="none" spc="-10" normalizeH="0" baseline="0" noProof="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p:txBody>
      </p:sp>
      <p:sp>
        <p:nvSpPr>
          <p:cNvPr id="18" name="TextBox 17">
            <a:extLst>
              <a:ext uri="{FF2B5EF4-FFF2-40B4-BE49-F238E27FC236}">
                <a16:creationId xmlns:a16="http://schemas.microsoft.com/office/drawing/2014/main" id="{DABFBECE-22EC-6F43-1C74-4B3593FC8F67}"/>
              </a:ext>
            </a:extLst>
          </p:cNvPr>
          <p:cNvSpPr txBox="1"/>
          <p:nvPr/>
        </p:nvSpPr>
        <p:spPr>
          <a:xfrm>
            <a:off x="2368275" y="3621806"/>
            <a:ext cx="708084"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2</a:t>
            </a:r>
          </a:p>
        </p:txBody>
      </p:sp>
      <p:sp>
        <p:nvSpPr>
          <p:cNvPr id="19" name="TextBox 18">
            <a:extLst>
              <a:ext uri="{FF2B5EF4-FFF2-40B4-BE49-F238E27FC236}">
                <a16:creationId xmlns:a16="http://schemas.microsoft.com/office/drawing/2014/main" id="{8C0C263A-7A1C-D707-2C73-10DF2FDA91E0}"/>
              </a:ext>
            </a:extLst>
          </p:cNvPr>
          <p:cNvSpPr txBox="1"/>
          <p:nvPr/>
        </p:nvSpPr>
        <p:spPr>
          <a:xfrm>
            <a:off x="3683201" y="3614801"/>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3</a:t>
            </a:r>
          </a:p>
        </p:txBody>
      </p:sp>
      <p:graphicFrame>
        <p:nvGraphicFramePr>
          <p:cNvPr id="20" name="Table 19">
            <a:extLst>
              <a:ext uri="{FF2B5EF4-FFF2-40B4-BE49-F238E27FC236}">
                <a16:creationId xmlns:a16="http://schemas.microsoft.com/office/drawing/2014/main" id="{1CDF28B4-5361-52B2-F4CB-F6B13F1EBC87}"/>
              </a:ext>
            </a:extLst>
          </p:cNvPr>
          <p:cNvGraphicFramePr>
            <a:graphicFrameLocks noGrp="1"/>
          </p:cNvGraphicFramePr>
          <p:nvPr>
            <p:extLst>
              <p:ext uri="{D42A27DB-BD31-4B8C-83A1-F6EECF244321}">
                <p14:modId xmlns:p14="http://schemas.microsoft.com/office/powerpoint/2010/main" val="2402820335"/>
              </p:ext>
            </p:extLst>
          </p:nvPr>
        </p:nvGraphicFramePr>
        <p:xfrm>
          <a:off x="720857" y="4178636"/>
          <a:ext cx="6730270" cy="2046390"/>
        </p:xfrm>
        <a:graphic>
          <a:graphicData uri="http://schemas.openxmlformats.org/drawingml/2006/table">
            <a:tbl>
              <a:tblPr firstRow="1" bandRow="1">
                <a:tableStyleId>{69012ECD-51FC-41F1-AA8D-1B2483CD663E}</a:tableStyleId>
              </a:tblPr>
              <a:tblGrid>
                <a:gridCol w="1346054">
                  <a:extLst>
                    <a:ext uri="{9D8B030D-6E8A-4147-A177-3AD203B41FA5}">
                      <a16:colId xmlns:a16="http://schemas.microsoft.com/office/drawing/2014/main" val="446208157"/>
                    </a:ext>
                  </a:extLst>
                </a:gridCol>
                <a:gridCol w="1346054">
                  <a:extLst>
                    <a:ext uri="{9D8B030D-6E8A-4147-A177-3AD203B41FA5}">
                      <a16:colId xmlns:a16="http://schemas.microsoft.com/office/drawing/2014/main" val="1287033572"/>
                    </a:ext>
                  </a:extLst>
                </a:gridCol>
                <a:gridCol w="1346054">
                  <a:extLst>
                    <a:ext uri="{9D8B030D-6E8A-4147-A177-3AD203B41FA5}">
                      <a16:colId xmlns:a16="http://schemas.microsoft.com/office/drawing/2014/main" val="518594239"/>
                    </a:ext>
                  </a:extLst>
                </a:gridCol>
                <a:gridCol w="1346054">
                  <a:extLst>
                    <a:ext uri="{9D8B030D-6E8A-4147-A177-3AD203B41FA5}">
                      <a16:colId xmlns:a16="http://schemas.microsoft.com/office/drawing/2014/main" val="1655344151"/>
                    </a:ext>
                  </a:extLst>
                </a:gridCol>
                <a:gridCol w="1346054">
                  <a:extLst>
                    <a:ext uri="{9D8B030D-6E8A-4147-A177-3AD203B41FA5}">
                      <a16:colId xmlns:a16="http://schemas.microsoft.com/office/drawing/2014/main" val="1307993032"/>
                    </a:ext>
                  </a:extLst>
                </a:gridCol>
              </a:tblGrid>
              <a:tr h="648647">
                <a:tc>
                  <a:txBody>
                    <a:bodyPr/>
                    <a:lstStyle/>
                    <a:p>
                      <a:pPr algn="ctr"/>
                      <a:r>
                        <a:rPr lang="en-US" sz="1050" b="1" dirty="0">
                          <a:solidFill>
                            <a:srgbClr val="FFFFFF"/>
                          </a:solidFill>
                        </a:rPr>
                        <a:t>ANALYZE </a:t>
                      </a:r>
                    </a:p>
                    <a:p>
                      <a:pPr marL="0" marR="0" lvl="0" indent="0" algn="ctr" defTabSz="914377" rtl="0" eaLnBrk="1" fontAlgn="auto" latinLnBrk="0" hangingPunct="1">
                        <a:lnSpc>
                          <a:spcPct val="100000"/>
                        </a:lnSpc>
                        <a:spcBef>
                          <a:spcPts val="0"/>
                        </a:spcBef>
                        <a:spcAft>
                          <a:spcPts val="0"/>
                        </a:spcAft>
                        <a:buClrTx/>
                        <a:buSzTx/>
                        <a:buFontTx/>
                        <a:buNone/>
                        <a:tabLst/>
                        <a:defRPr sz="1200" b="1">
                          <a:solidFill>
                            <a:srgbClr val="FFFFFF"/>
                          </a:solidFill>
                          <a:latin typeface="Arial" pitchFamily="34" charset="0"/>
                        </a:defRPr>
                      </a:pPr>
                      <a:r>
                        <a:rPr lang="en-US" sz="1050" b="1" dirty="0">
                          <a:solidFill>
                            <a:srgbClr val="FFFFFF"/>
                          </a:solidFill>
                        </a:rPr>
                        <a:t>MATERIALS + INTAKE</a:t>
                      </a:r>
                      <a:br>
                        <a:rPr lang="en-US" sz="1050" b="1" dirty="0">
                          <a:solidFill>
                            <a:srgbClr val="FFFFFF"/>
                          </a:solidFill>
                        </a:rPr>
                      </a:br>
                      <a:r>
                        <a:rPr lang="en-US" sz="1050" b="1" dirty="0">
                          <a:solidFill>
                            <a:srgbClr val="FFFFFF"/>
                          </a:solidFill>
                        </a:rPr>
                        <a:t>INTERVIEWS</a:t>
                      </a:r>
                      <a:endParaRPr lang="en-US" sz="1050" b="1" dirty="0">
                        <a:solidFill>
                          <a:srgbClr val="FFFFFF"/>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HOTSPOTS + WORK @ HOTSPOTS</a:t>
                      </a:r>
                      <a:endParaRPr lang="en-US" sz="1050" b="1">
                        <a:solidFill>
                          <a:srgbClr val="FFFFFF"/>
                        </a:solidFill>
                        <a:latin typeface="Arial" pitchFamily="34" charset="0"/>
                        <a:cs typeface="Helvetica Neue" panose="020B0604020202020204" charset="0"/>
                      </a:endParaRP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sz="1200" b="1">
                          <a:solidFill>
                            <a:srgbClr val="FFFFFF"/>
                          </a:solidFill>
                          <a:latin typeface="Arial" pitchFamily="34" charset="0"/>
                        </a:defRPr>
                      </a:pPr>
                      <a:r>
                        <a:rPr lang="en-GB" sz="1050" b="1">
                          <a:solidFill>
                            <a:srgbClr val="FFFFFF"/>
                          </a:solidFill>
                        </a:rPr>
                        <a:t>CRITCIAL ROLES</a:t>
                      </a:r>
                      <a:endParaRPr lang="en-US" sz="1050" b="1">
                        <a:solidFill>
                          <a:srgbClr val="1D1D1D"/>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RISK PATTERNS</a:t>
                      </a:r>
                      <a:endParaRPr lang="en-US" sz="1050" b="1">
                        <a:solidFill>
                          <a:srgbClr val="FFFFFF"/>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MOBILIZATION PLAN +  READOUT</a:t>
                      </a:r>
                      <a:endParaRPr lang="en-US" sz="1050" b="1">
                        <a:solidFill>
                          <a:srgbClr val="FFFFFF"/>
                        </a:solidFill>
                        <a:latin typeface="Arial" pitchFamily="34" charset="0"/>
                        <a:cs typeface="Helvetica Neue" panose="020B0604020202020204" charset="0"/>
                      </a:endParaRPr>
                    </a:p>
                  </a:txBody>
                  <a:tcPr anchor="ctr"/>
                </a:tc>
                <a:extLst>
                  <a:ext uri="{0D108BD9-81ED-4DB2-BD59-A6C34878D82A}">
                    <a16:rowId xmlns:a16="http://schemas.microsoft.com/office/drawing/2014/main" val="2283789029"/>
                  </a:ext>
                </a:extLst>
              </a:tr>
              <a:tr h="902225">
                <a:tc>
                  <a:txBody>
                    <a:bodyPr/>
                    <a:lstStyle/>
                    <a:p>
                      <a:pPr algn="ctr"/>
                      <a:r>
                        <a:rPr lang="en-US" sz="1050" dirty="0">
                          <a:solidFill>
                            <a:schemeClr val="tx1"/>
                          </a:solidFill>
                        </a:rPr>
                        <a:t>Strategy </a:t>
                      </a:r>
                    </a:p>
                    <a:p>
                      <a:pPr algn="ctr"/>
                      <a:r>
                        <a:rPr lang="en-US" sz="1050" dirty="0">
                          <a:solidFill>
                            <a:schemeClr val="tx1"/>
                          </a:solidFill>
                          <a:sym typeface="+mn-lt"/>
                        </a:rPr>
                        <a:t>• </a:t>
                      </a:r>
                      <a:r>
                        <a:rPr lang="en-US" sz="1050" kern="1200" dirty="0">
                          <a:solidFill>
                            <a:schemeClr val="tx1"/>
                          </a:solidFill>
                        </a:rPr>
                        <a:t>Structure </a:t>
                      </a:r>
                      <a:r>
                        <a:rPr lang="en-US" sz="1050" dirty="0">
                          <a:solidFill>
                            <a:schemeClr val="tx1"/>
                          </a:solidFill>
                          <a:sym typeface="+mn-lt"/>
                        </a:rPr>
                        <a:t>•</a:t>
                      </a:r>
                      <a:r>
                        <a:rPr lang="en-US" sz="1050" dirty="0">
                          <a:solidFill>
                            <a:schemeClr val="tx1"/>
                          </a:solidFill>
                        </a:rPr>
                        <a:t> </a:t>
                      </a:r>
                    </a:p>
                    <a:p>
                      <a:pPr algn="ctr"/>
                      <a:r>
                        <a:rPr lang="en-US" sz="1050" kern="1200" dirty="0">
                          <a:solidFill>
                            <a:schemeClr val="tx1"/>
                          </a:solidFill>
                        </a:rPr>
                        <a:t>CEO </a:t>
                      </a:r>
                      <a:r>
                        <a:rPr lang="en-US" sz="1050" kern="1200" dirty="0">
                          <a:solidFill>
                            <a:schemeClr val="tx1"/>
                          </a:solidFill>
                          <a:sym typeface="+mn-lt"/>
                        </a:rPr>
                        <a:t>• </a:t>
                      </a:r>
                      <a:r>
                        <a:rPr lang="en-US" sz="1050" kern="1200" dirty="0">
                          <a:solidFill>
                            <a:schemeClr val="tx1"/>
                          </a:solidFill>
                        </a:rPr>
                        <a:t>CHRO</a:t>
                      </a:r>
                      <a:endParaRPr lang="en-US" sz="1050" kern="1200" dirty="0">
                        <a:solidFill>
                          <a:schemeClr val="tx1"/>
                        </a:solidFill>
                        <a:latin typeface="Arial" pitchFamily="34" charset="0"/>
                        <a:ea typeface="+mn-ea"/>
                        <a:cs typeface="Helvetica Neue" panose="020B0604020202020204" charset="0"/>
                      </a:endParaRPr>
                    </a:p>
                  </a:txBody>
                  <a:tcPr anchor="ctr"/>
                </a:tc>
                <a:tc>
                  <a:txBody>
                    <a:bodyPr/>
                    <a:lstStyle/>
                    <a:p>
                      <a:pPr algn="ctr"/>
                      <a:r>
                        <a:rPr lang="en-US" sz="1050" kern="1200" dirty="0">
                          <a:solidFill>
                            <a:schemeClr val="tx1"/>
                          </a:solidFill>
                        </a:rPr>
                        <a:t>Value Hotspots </a:t>
                      </a:r>
                      <a:r>
                        <a:rPr lang="en-US" sz="1050" kern="1200" dirty="0">
                          <a:solidFill>
                            <a:schemeClr val="tx1"/>
                          </a:solidFill>
                          <a:sym typeface="+mn-lt"/>
                        </a:rPr>
                        <a:t>• Work Headlines @ Hotspots</a:t>
                      </a:r>
                      <a:endParaRPr lang="en-US" sz="1050" kern="1200" dirty="0">
                        <a:solidFill>
                          <a:schemeClr val="tx1"/>
                        </a:solidFill>
                        <a:latin typeface="Arial" pitchFamily="34" charset="0"/>
                        <a:ea typeface="+mn-ea"/>
                        <a:cs typeface="Helvetica Neue" panose="020B0604020202020204" charset="0"/>
                      </a:endParaRPr>
                    </a:p>
                  </a:txBody>
                  <a:tcPr anchor="ctr"/>
                </a:tc>
                <a:tc>
                  <a:txBody>
                    <a:bodyPr/>
                    <a:lstStyle/>
                    <a:p>
                      <a:pPr algn="ctr"/>
                      <a:r>
                        <a:rPr lang="en-US" sz="1050" kern="1200" dirty="0">
                          <a:solidFill>
                            <a:schemeClr val="tx1"/>
                          </a:solidFill>
                          <a:sym typeface="+mn-lt"/>
                        </a:rPr>
                        <a:t>Critical Roles @ Hotspots • Value Ranked List </a:t>
                      </a:r>
                      <a:endParaRPr lang="en-US" sz="1050" kern="1200" dirty="0">
                        <a:solidFill>
                          <a:schemeClr val="tx1"/>
                        </a:solidFill>
                        <a:latin typeface="Arial" pitchFamily="34" charset="0"/>
                        <a:ea typeface="+mn-ea"/>
                        <a:cs typeface="Helvetica Neue" panose="020B0604020202020204" charset="0"/>
                      </a:endParaRPr>
                    </a:p>
                  </a:txBody>
                  <a:tcPr anchor="ctr"/>
                </a:tc>
                <a:tc>
                  <a:txBody>
                    <a:bodyPr/>
                    <a:lstStyle/>
                    <a:p>
                      <a:pPr algn="ctr"/>
                      <a:r>
                        <a:rPr lang="en-US" sz="1050" kern="1200" dirty="0">
                          <a:solidFill>
                            <a:schemeClr val="tx1"/>
                          </a:solidFill>
                          <a:sym typeface="+mn-lt"/>
                        </a:rPr>
                        <a:t>Risk @ Critical Roles • Org Level Risk Patterns</a:t>
                      </a:r>
                      <a:endParaRPr lang="en-US" sz="1050" kern="1200" dirty="0">
                        <a:solidFill>
                          <a:schemeClr val="tx1"/>
                        </a:solidFill>
                        <a:latin typeface="Arial" pitchFamily="34" charset="0"/>
                        <a:ea typeface="+mn-ea"/>
                        <a:cs typeface="Helvetica Neue" panose="020B0604020202020204" charset="0"/>
                        <a:sym typeface="+mn-lt"/>
                      </a:endParaRPr>
                    </a:p>
                  </a:txBody>
                  <a:tcPr anchor="ctr"/>
                </a:tc>
                <a:tc>
                  <a:txBody>
                    <a:bodyPr/>
                    <a:lstStyle/>
                    <a:p>
                      <a:pPr algn="ctr"/>
                      <a:r>
                        <a:rPr kumimoji="0" lang="en-US" sz="1050" b="0" u="none" strike="noStrike" kern="1200" cap="none" spc="0" normalizeH="0" baseline="0" noProof="0" dirty="0">
                          <a:ln>
                            <a:noFill/>
                          </a:ln>
                          <a:solidFill>
                            <a:schemeClr val="tx1"/>
                          </a:solidFill>
                          <a:effectLst/>
                          <a:uLnTx/>
                          <a:uFillTx/>
                        </a:rPr>
                        <a:t>CEO </a:t>
                      </a:r>
                      <a:r>
                        <a:rPr kumimoji="0" lang="en-US" sz="1050" b="0" u="none" strike="noStrike" kern="1200" cap="none" spc="0" normalizeH="0" baseline="0" noProof="0" dirty="0">
                          <a:ln>
                            <a:noFill/>
                          </a:ln>
                          <a:solidFill>
                            <a:schemeClr val="tx1"/>
                          </a:solidFill>
                          <a:effectLst/>
                          <a:uLnTx/>
                          <a:uFillTx/>
                          <a:sym typeface="+mn-lt"/>
                        </a:rPr>
                        <a:t>• CHRO </a:t>
                      </a:r>
                      <a:endParaRPr lang="en-US" sz="105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488218340"/>
                  </a:ext>
                </a:extLst>
              </a:tr>
              <a:tr h="4126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1200">
                          <a:solidFill>
                            <a:schemeClr val="tx1"/>
                          </a:solidFill>
                        </a:rPr>
                        <a:t>Virtual</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1200">
                          <a:solidFill>
                            <a:schemeClr val="tx1"/>
                          </a:solidFill>
                        </a:rPr>
                        <a:t>Face to Face </a:t>
                      </a:r>
                      <a:r>
                        <a:rPr lang="en-US" sz="1050">
                          <a:solidFill>
                            <a:schemeClr val="tx1"/>
                          </a:solidFill>
                        </a:rPr>
                        <a:t> </a:t>
                      </a:r>
                      <a:endParaRPr lang="en-US" sz="1050">
                        <a:solidFill>
                          <a:schemeClr val="tx1"/>
                        </a:solidFill>
                        <a:latin typeface="Arial" pitchFamily="34" charset="0"/>
                        <a:cs typeface="Helvetica Neue" panose="020B060402020202020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1200">
                          <a:solidFill>
                            <a:schemeClr val="tx1"/>
                          </a:solidFill>
                        </a:rPr>
                        <a:t>Face to Face </a:t>
                      </a:r>
                      <a:r>
                        <a:rPr lang="en-US" sz="1050">
                          <a:solidFill>
                            <a:schemeClr val="tx1"/>
                          </a:solidFill>
                        </a:rPr>
                        <a:t> </a:t>
                      </a:r>
                      <a:endParaRPr lang="en-US" sz="1050">
                        <a:solidFill>
                          <a:schemeClr val="tx1"/>
                        </a:solidFill>
                        <a:latin typeface="Arial" pitchFamily="34" charset="0"/>
                        <a:cs typeface="Helvetica Neue" panose="020B060402020202020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1200">
                          <a:solidFill>
                            <a:schemeClr val="tx1"/>
                          </a:solidFill>
                        </a:rPr>
                        <a:t>Face to Face </a:t>
                      </a:r>
                      <a:r>
                        <a:rPr lang="en-US" sz="1050">
                          <a:solidFill>
                            <a:schemeClr val="tx1"/>
                          </a:solidFill>
                        </a:rPr>
                        <a:t> </a:t>
                      </a:r>
                      <a:endParaRPr lang="en-US" sz="1050">
                        <a:solidFill>
                          <a:schemeClr val="tx1"/>
                        </a:solidFill>
                        <a:latin typeface="Arial" pitchFamily="34" charset="0"/>
                        <a:cs typeface="Helvetica Neue" panose="020B0604020202020204" charset="0"/>
                      </a:endParaRPr>
                    </a:p>
                  </a:txBody>
                  <a:tcPr anchor="ctr"/>
                </a:tc>
                <a:tc>
                  <a:txBody>
                    <a:bodyPr/>
                    <a:lstStyle/>
                    <a:p>
                      <a:pPr algn="ctr"/>
                      <a:r>
                        <a:rPr lang="en-US" sz="1050" dirty="0">
                          <a:solidFill>
                            <a:schemeClr val="tx1"/>
                          </a:solidFill>
                        </a:rPr>
                        <a:t>Virtual </a:t>
                      </a:r>
                      <a:endParaRPr lang="en-US" sz="105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1547781014"/>
                  </a:ext>
                </a:extLst>
              </a:tr>
            </a:tbl>
          </a:graphicData>
        </a:graphic>
      </p:graphicFrame>
      <p:sp>
        <p:nvSpPr>
          <p:cNvPr id="21" name="TextBox 20">
            <a:extLst>
              <a:ext uri="{FF2B5EF4-FFF2-40B4-BE49-F238E27FC236}">
                <a16:creationId xmlns:a16="http://schemas.microsoft.com/office/drawing/2014/main" id="{DD17739D-E30D-07C5-A3D3-F251099C937D}"/>
              </a:ext>
            </a:extLst>
          </p:cNvPr>
          <p:cNvSpPr txBox="1"/>
          <p:nvPr/>
        </p:nvSpPr>
        <p:spPr>
          <a:xfrm>
            <a:off x="5078657" y="3606294"/>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4</a:t>
            </a:r>
          </a:p>
        </p:txBody>
      </p:sp>
      <p:sp>
        <p:nvSpPr>
          <p:cNvPr id="22" name="Rounded Rectangle 21">
            <a:extLst>
              <a:ext uri="{FF2B5EF4-FFF2-40B4-BE49-F238E27FC236}">
                <a16:creationId xmlns:a16="http://schemas.microsoft.com/office/drawing/2014/main" id="{04C0173F-46AB-9DFB-88FD-F2D8191FDE12}"/>
              </a:ext>
            </a:extLst>
          </p:cNvPr>
          <p:cNvSpPr/>
          <p:nvPr/>
        </p:nvSpPr>
        <p:spPr>
          <a:xfrm>
            <a:off x="720857" y="1577718"/>
            <a:ext cx="6880273" cy="1139081"/>
          </a:xfrm>
          <a:prstGeom prst="roundRect">
            <a:avLst>
              <a:gd name="adj" fmla="val 7477"/>
            </a:avLst>
          </a:prstGeom>
          <a:solidFill>
            <a:srgbClr val="DAD4F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graphicFrame>
        <p:nvGraphicFramePr>
          <p:cNvPr id="23" name="Table 22">
            <a:extLst>
              <a:ext uri="{FF2B5EF4-FFF2-40B4-BE49-F238E27FC236}">
                <a16:creationId xmlns:a16="http://schemas.microsoft.com/office/drawing/2014/main" id="{3F0FF94B-7DD5-1634-53AB-DAC19CD417D4}"/>
              </a:ext>
            </a:extLst>
          </p:cNvPr>
          <p:cNvGraphicFramePr>
            <a:graphicFrameLocks noGrp="1"/>
          </p:cNvGraphicFramePr>
          <p:nvPr>
            <p:extLst>
              <p:ext uri="{D42A27DB-BD31-4B8C-83A1-F6EECF244321}">
                <p14:modId xmlns:p14="http://schemas.microsoft.com/office/powerpoint/2010/main" val="572827443"/>
              </p:ext>
            </p:extLst>
          </p:nvPr>
        </p:nvGraphicFramePr>
        <p:xfrm>
          <a:off x="835199" y="1590911"/>
          <a:ext cx="6651590" cy="1094753"/>
        </p:xfrm>
        <a:graphic>
          <a:graphicData uri="http://schemas.openxmlformats.org/drawingml/2006/table">
            <a:tbl>
              <a:tblPr bandRow="1">
                <a:tableStyleId>{C083E6E3-FA7D-4D7B-A595-EF9225AFEA82}</a:tableStyleId>
              </a:tblPr>
              <a:tblGrid>
                <a:gridCol w="3172882">
                  <a:extLst>
                    <a:ext uri="{9D8B030D-6E8A-4147-A177-3AD203B41FA5}">
                      <a16:colId xmlns:a16="http://schemas.microsoft.com/office/drawing/2014/main" val="20000"/>
                    </a:ext>
                  </a:extLst>
                </a:gridCol>
                <a:gridCol w="223966">
                  <a:extLst>
                    <a:ext uri="{9D8B030D-6E8A-4147-A177-3AD203B41FA5}">
                      <a16:colId xmlns:a16="http://schemas.microsoft.com/office/drawing/2014/main" val="20001"/>
                    </a:ext>
                  </a:extLst>
                </a:gridCol>
                <a:gridCol w="3254742">
                  <a:extLst>
                    <a:ext uri="{9D8B030D-6E8A-4147-A177-3AD203B41FA5}">
                      <a16:colId xmlns:a16="http://schemas.microsoft.com/office/drawing/2014/main" val="20002"/>
                    </a:ext>
                  </a:extLst>
                </a:gridCol>
              </a:tblGrid>
              <a:tr h="316277">
                <a:tc>
                  <a:txBody>
                    <a:bodyPr/>
                    <a:lstStyle/>
                    <a:p>
                      <a:pPr marL="0" marR="0" lvl="0" indent="0" algn="r" defTabSz="914400" rtl="0" eaLnBrk="1" fontAlgn="auto" latinLnBrk="0" hangingPunct="1">
                        <a:lnSpc>
                          <a:spcPct val="100000"/>
                        </a:lnSpc>
                        <a:spcBef>
                          <a:spcPts val="0"/>
                        </a:spcBef>
                        <a:spcAft>
                          <a:spcPts val="0"/>
                        </a:spcAft>
                        <a:buClr>
                          <a:schemeClr val="dk1"/>
                        </a:buClr>
                        <a:buSzPts val="1200"/>
                        <a:buFont typeface="Arial"/>
                        <a:buNone/>
                        <a:tabLst/>
                        <a:defRPr sz="1200" b="1">
                          <a:solidFill>
                            <a:srgbClr val="FFFFFF"/>
                          </a:solidFill>
                          <a:latin typeface="Arial" pitchFamily="34" charset="0"/>
                        </a:defRPr>
                      </a:pPr>
                      <a:r>
                        <a:rPr lang="en-US" sz="1000" b="1" u="none" strike="noStrike" kern="1200" cap="none">
                          <a:solidFill>
                            <a:schemeClr val="tx1"/>
                          </a:solidFill>
                          <a:latin typeface="Arial" pitchFamily="34" charset="0"/>
                          <a:ea typeface="Helvetica Neue" panose="02000503000000020004" pitchFamily="2" charset="0"/>
                          <a:cs typeface="Helvetica Neue" panose="02000503000000020004" pitchFamily="2" charset="0"/>
                        </a:rPr>
                        <a:t>From Hierarchy-Driven Talent Allocation</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lvl="2" algn="r" rtl="0"/>
                      <a:endParaRPr lang="en-IN" sz="1000" b="1" i="0" u="none" strike="noStrike" cap="none">
                        <a:solidFill>
                          <a:schemeClr val="tx1"/>
                        </a:solidFill>
                        <a:effectLst/>
                        <a:latin typeface="Arial" pitchFamily="34" charset="0"/>
                        <a:ea typeface="Helvetica Neue" panose="02000503000000020004" pitchFamily="2" charset="0"/>
                        <a:cs typeface="Helvetica Neue" panose="02000503000000020004" pitchFamily="2" charset="0"/>
                        <a:sym typeface="Arial"/>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To Value-Driven Talent Deployment</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extLst>
                  <a:ext uri="{0D108BD9-81ED-4DB2-BD59-A6C34878D82A}">
                    <a16:rowId xmlns:a16="http://schemas.microsoft.com/office/drawing/2014/main" val="10000"/>
                  </a:ext>
                </a:extLst>
              </a:tr>
              <a:tr h="364681">
                <a:tc>
                  <a:txBody>
                    <a:bodyPr/>
                    <a:lstStyle/>
                    <a:p>
                      <a:pPr marL="0" marR="0" lvl="0" indent="0" algn="r" rtl="0">
                        <a:spcBef>
                          <a:spcPts val="0"/>
                        </a:spcBef>
                        <a:spcAft>
                          <a:spcPts val="0"/>
                        </a:spcAft>
                        <a:buClr>
                          <a:schemeClr val="dk1"/>
                        </a:buClr>
                        <a:buSzPts val="1200"/>
                        <a:buFont typeface="Arial"/>
                        <a:buNone/>
                      </a:pPr>
                      <a:r>
                        <a:rPr lang="en-GB"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From Generic Job Descriptions</a:t>
                      </a:r>
                      <a:endParaRPr lang="en-US" sz="1000" b="1" dirty="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GB" sz="1000" b="1" dirty="0">
                          <a:solidFill>
                            <a:schemeClr val="tx1"/>
                          </a:solidFill>
                          <a:latin typeface="Arial" pitchFamily="34" charset="0"/>
                          <a:ea typeface="Helvetica Neue" panose="02000503000000020004" pitchFamily="2" charset="0"/>
                          <a:cs typeface="Helvetica Neue" panose="02000503000000020004" pitchFamily="2" charset="0"/>
                        </a:rPr>
                        <a:t>To Precise Jobs to Be Done for Value Creation </a:t>
                      </a:r>
                      <a:endParaRPr lang="en-US" sz="1000" b="1" dirty="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extLst>
                  <a:ext uri="{0D108BD9-81ED-4DB2-BD59-A6C34878D82A}">
                    <a16:rowId xmlns:a16="http://schemas.microsoft.com/office/drawing/2014/main" val="10001"/>
                  </a:ext>
                </a:extLst>
              </a:tr>
              <a:tr h="413795">
                <a:tc>
                  <a:txBody>
                    <a:bodyPr/>
                    <a:lstStyle/>
                    <a:p>
                      <a:pPr marL="0" marR="0" lvl="0" indent="0" algn="r" rtl="0">
                        <a:lnSpc>
                          <a:spcPct val="100000"/>
                        </a:lnSpc>
                        <a:spcBef>
                          <a:spcPts val="0"/>
                        </a:spcBef>
                        <a:spcAft>
                          <a:spcPts val="0"/>
                        </a:spcAft>
                        <a:buClr>
                          <a:schemeClr val="dk1"/>
                        </a:buClr>
                        <a:buSzPts val="1200"/>
                        <a:buFont typeface="Arial"/>
                        <a:buNone/>
                      </a:pPr>
                      <a:r>
                        <a:rPr lang="en-GB"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From "Seat Empty, Seat Full, Job Done"</a:t>
                      </a:r>
                      <a:endParaRPr lang="en-US" sz="1000" b="1">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GB"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To risk seeking for value delivery</a:t>
                      </a:r>
                      <a:endPar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endParaRPr>
                    </a:p>
                  </a:txBody>
                  <a:tcPr marL="91442" marR="91442" marT="45723" marB="45723" anchor="ctr">
                    <a:lnT>
                      <a:noFill/>
                    </a:lnT>
                    <a:lnB>
                      <a:noFill/>
                    </a:lnB>
                    <a:solidFill>
                      <a:srgbClr val="DAD4FD"/>
                    </a:solidFill>
                  </a:tcPr>
                </a:tc>
                <a:extLst>
                  <a:ext uri="{0D108BD9-81ED-4DB2-BD59-A6C34878D82A}">
                    <a16:rowId xmlns:a16="http://schemas.microsoft.com/office/drawing/2014/main" val="10002"/>
                  </a:ext>
                </a:extLst>
              </a:tr>
            </a:tbl>
          </a:graphicData>
        </a:graphic>
      </p:graphicFrame>
      <p:sp>
        <p:nvSpPr>
          <p:cNvPr id="24" name="Triangle 23">
            <a:extLst>
              <a:ext uri="{FF2B5EF4-FFF2-40B4-BE49-F238E27FC236}">
                <a16:creationId xmlns:a16="http://schemas.microsoft.com/office/drawing/2014/main" id="{23C62ED2-DB24-17A1-40B3-9099266D3198}"/>
              </a:ext>
            </a:extLst>
          </p:cNvPr>
          <p:cNvSpPr/>
          <p:nvPr/>
        </p:nvSpPr>
        <p:spPr>
          <a:xfrm rot="5400000">
            <a:off x="4049576" y="1727362"/>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5" name="Triangle 24">
            <a:extLst>
              <a:ext uri="{FF2B5EF4-FFF2-40B4-BE49-F238E27FC236}">
                <a16:creationId xmlns:a16="http://schemas.microsoft.com/office/drawing/2014/main" id="{405434BF-C3A8-0DF8-B1E2-3574FD43B552}"/>
              </a:ext>
            </a:extLst>
          </p:cNvPr>
          <p:cNvSpPr/>
          <p:nvPr/>
        </p:nvSpPr>
        <p:spPr>
          <a:xfrm rot="5400000">
            <a:off x="4049576" y="2082383"/>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6" name="Triangle 25">
            <a:extLst>
              <a:ext uri="{FF2B5EF4-FFF2-40B4-BE49-F238E27FC236}">
                <a16:creationId xmlns:a16="http://schemas.microsoft.com/office/drawing/2014/main" id="{44A97278-192E-F04A-DD0D-D4645E476935}"/>
              </a:ext>
            </a:extLst>
          </p:cNvPr>
          <p:cNvSpPr/>
          <p:nvPr/>
        </p:nvSpPr>
        <p:spPr>
          <a:xfrm rot="5400000">
            <a:off x="4049576" y="2461175"/>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7" name="TextBox 26">
            <a:extLst>
              <a:ext uri="{FF2B5EF4-FFF2-40B4-BE49-F238E27FC236}">
                <a16:creationId xmlns:a16="http://schemas.microsoft.com/office/drawing/2014/main" id="{EC145F4C-DB70-9EDD-8E39-B4E660CF7CB2}"/>
              </a:ext>
            </a:extLst>
          </p:cNvPr>
          <p:cNvSpPr txBox="1"/>
          <p:nvPr/>
        </p:nvSpPr>
        <p:spPr>
          <a:xfrm>
            <a:off x="6285806" y="3621805"/>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5</a:t>
            </a:r>
          </a:p>
        </p:txBody>
      </p:sp>
      <p:sp>
        <p:nvSpPr>
          <p:cNvPr id="28" name="Rectangle: Rounded Corners 37">
            <a:extLst>
              <a:ext uri="{FF2B5EF4-FFF2-40B4-BE49-F238E27FC236}">
                <a16:creationId xmlns:a16="http://schemas.microsoft.com/office/drawing/2014/main" id="{670C13C5-E089-A42D-7FAE-5417E8D6A60A}"/>
              </a:ext>
            </a:extLst>
          </p:cNvPr>
          <p:cNvSpPr/>
          <p:nvPr/>
        </p:nvSpPr>
        <p:spPr>
          <a:xfrm>
            <a:off x="8039738" y="1515572"/>
            <a:ext cx="4022574" cy="4928352"/>
          </a:xfrm>
          <a:prstGeom prst="roundRect">
            <a:avLst/>
          </a:prstGeom>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24">
            <a:extLst>
              <a:ext uri="{FF2B5EF4-FFF2-40B4-BE49-F238E27FC236}">
                <a16:creationId xmlns:a16="http://schemas.microsoft.com/office/drawing/2014/main" id="{DBA6D754-372A-ED6F-1AE0-35C6AD6808E8}"/>
              </a:ext>
            </a:extLst>
          </p:cNvPr>
          <p:cNvSpPr/>
          <p:nvPr/>
        </p:nvSpPr>
        <p:spPr>
          <a:xfrm>
            <a:off x="8003114" y="1532783"/>
            <a:ext cx="4059197" cy="4793598"/>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t"/>
          <a:lstStyle/>
          <a:p>
            <a:pPr marL="228600" marR="0" lvl="0" indent="-228600" algn="l" defTabSz="914400" rtl="0" eaLnBrk="1" fontAlgn="auto" latinLnBrk="0" hangingPunct="1">
              <a:lnSpc>
                <a:spcPct val="100000"/>
              </a:lnSpc>
              <a:buClrTx/>
              <a:buSzTx/>
              <a:buFont typeface="+mj-lt"/>
              <a:buAutoNum type="arabicPeriod"/>
              <a:tabLst/>
              <a:defRPr/>
            </a:pPr>
            <a:r>
              <a:rPr kumimoji="0" lang="en-GB"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Value Agenda with Prioritized Hotspots </a:t>
            </a:r>
            <a:r>
              <a:rPr lang="en-GB" sz="1300" spc="-10" dirty="0">
                <a:solidFill>
                  <a:prstClr val="black"/>
                </a:solidFill>
                <a:latin typeface="Arial" pitchFamily="34" charset="0"/>
                <a:cs typeface="Helvetica Neue Light" panose="020B0604020202020204" charset="0"/>
              </a:rPr>
              <a:t>- an aligned view of 3-5 value hotspots covering 70-80% of enterprise value, with </a:t>
            </a:r>
            <a: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clear articulation of the pivotal work and work headlines required at each hotspot.</a:t>
            </a:r>
            <a:b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br>
            <a:endPar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a:p>
            <a:pPr marL="228600" marR="0" lvl="0" indent="-228600" algn="l" defTabSz="914400" rtl="0" eaLnBrk="1" fontAlgn="auto" latinLnBrk="0" hangingPunct="1">
              <a:lnSpc>
                <a:spcPct val="100000"/>
              </a:lnSpc>
              <a:buClrTx/>
              <a:buSzTx/>
              <a:buFont typeface="+mj-lt"/>
              <a:buAutoNum type="arabicPeriod"/>
              <a:tabLst/>
              <a:defRPr/>
            </a:pPr>
            <a:r>
              <a:rPr kumimoji="0" lang="en-GB"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Value-Ranked Critical Roles</a:t>
            </a:r>
            <a: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 a prioritized list of 20-30 critical roles (typically 80% of value) with assigned value contribution percentages.</a:t>
            </a:r>
            <a:b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br>
            <a:endPar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a:p>
            <a:pPr marL="228600" indent="-228600">
              <a:buFont typeface="+mj-lt"/>
              <a:buAutoNum type="arabicPeriod"/>
              <a:defRPr/>
            </a:pPr>
            <a:r>
              <a:rPr kumimoji="0" lang="en-GB"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Risks at critical roles – </a:t>
            </a:r>
            <a:r>
              <a:rPr lang="en-GB" sz="1300" spc="-10" dirty="0">
                <a:solidFill>
                  <a:prstClr val="black"/>
                </a:solidFill>
                <a:latin typeface="Arial" pitchFamily="34" charset="0"/>
                <a:cs typeface="Helvetica Neue Light" panose="020B0604020202020204" charset="0"/>
              </a:rPr>
              <a:t>Detailed </a:t>
            </a:r>
            <a:r>
              <a:rPr lang="en-GB" sz="1300" spc="-10" dirty="0" err="1">
                <a:solidFill>
                  <a:prstClr val="black"/>
                </a:solidFill>
                <a:latin typeface="Arial" pitchFamily="34" charset="0"/>
                <a:cs typeface="Helvetica Neue Light" panose="020B0604020202020204" charset="0"/>
              </a:rPr>
              <a:t>Role•Talent</a:t>
            </a:r>
            <a:r>
              <a:rPr lang="en-GB" sz="1300" spc="-10" dirty="0">
                <a:solidFill>
                  <a:prstClr val="black"/>
                </a:solidFill>
                <a:latin typeface="Arial" pitchFamily="34" charset="0"/>
                <a:cs typeface="Helvetica Neue Light" panose="020B0604020202020204" charset="0"/>
              </a:rPr>
              <a:t> Cards for top 25 roles identifying Jobs to be Done, role risks and talent risks OR high-level assessment for role &amp; talent risks across roles.</a:t>
            </a:r>
            <a:br>
              <a:rPr lang="en-GB" sz="1300" spc="-10" dirty="0">
                <a:solidFill>
                  <a:prstClr val="black"/>
                </a:solidFill>
                <a:latin typeface="Arial" pitchFamily="34" charset="0"/>
                <a:cs typeface="Helvetica Neue Light" panose="020B0604020202020204" charset="0"/>
              </a:rPr>
            </a:br>
            <a:endParaRPr lang="en-GB" sz="1300" spc="-10" dirty="0">
              <a:solidFill>
                <a:prstClr val="black"/>
              </a:solidFill>
              <a:latin typeface="Arial" pitchFamily="34" charset="0"/>
              <a:cs typeface="Helvetica Neue Light" panose="020B0604020202020204" charset="0"/>
            </a:endParaRPr>
          </a:p>
          <a:p>
            <a:pPr marL="228600" marR="0" lvl="0" indent="-228600" algn="l" defTabSz="914400" rtl="0" eaLnBrk="1" fontAlgn="auto" latinLnBrk="0" hangingPunct="1">
              <a:lnSpc>
                <a:spcPct val="100000"/>
              </a:lnSpc>
              <a:buClrTx/>
              <a:buSzTx/>
              <a:buFont typeface="+mj-lt"/>
              <a:buAutoNum type="arabicPeriod"/>
              <a:tabLst/>
              <a:defRPr/>
            </a:pPr>
            <a:r>
              <a:rPr kumimoji="0" lang="en-GB"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Talent Capital Balance Sheet </a:t>
            </a:r>
            <a: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Risk patterns across critical roles (e.</a:t>
            </a:r>
            <a:r>
              <a:rPr lang="en-GB" sz="1300" spc="-10" dirty="0">
                <a:solidFill>
                  <a:prstClr val="black"/>
                </a:solidFill>
                <a:latin typeface="Arial" pitchFamily="34" charset="0"/>
                <a:ea typeface="Helvetica Neue" panose="02000503000000020004" pitchFamily="2" charset="0"/>
                <a:cs typeface="Helvetica Neue Light" panose="020B0604020202020204" charset="0"/>
              </a:rPr>
              <a:t>g. </a:t>
            </a:r>
            <a: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capability gaps, decision rights, talent risks, succession readiness)</a:t>
            </a:r>
            <a:b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br>
            <a:endPar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a:p>
            <a:pPr marL="228600" marR="0" lvl="0" indent="-228600" algn="l" defTabSz="914400" rtl="0" eaLnBrk="1" fontAlgn="auto" latinLnBrk="0" hangingPunct="1">
              <a:lnSpc>
                <a:spcPct val="100000"/>
              </a:lnSpc>
              <a:buClrTx/>
              <a:buSzTx/>
              <a:buFont typeface="+mj-lt"/>
              <a:buAutoNum type="arabicPeriod"/>
              <a:tabLst/>
              <a:defRPr/>
            </a:pPr>
            <a:r>
              <a:rPr kumimoji="0" lang="en-GB"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Mobilization Plan </a:t>
            </a:r>
            <a:r>
              <a:rPr kumimoji="0" lang="en-GB"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a sequenced action plan identifying the fewest possible interventions to mitigate risks and deliver value.</a:t>
            </a:r>
            <a:endPar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p:txBody>
      </p:sp>
      <p:sp>
        <p:nvSpPr>
          <p:cNvPr id="31" name="TextBox 30">
            <a:extLst>
              <a:ext uri="{FF2B5EF4-FFF2-40B4-BE49-F238E27FC236}">
                <a16:creationId xmlns:a16="http://schemas.microsoft.com/office/drawing/2014/main" id="{008ED7DC-2BA3-04B5-2636-1BED200A6F8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161428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7B8BD6-0AC1-0E36-EB8D-3503DB8ACC60}"/>
              </a:ext>
            </a:extLst>
          </p:cNvPr>
          <p:cNvSpPr>
            <a:spLocks noGrp="1"/>
          </p:cNvSpPr>
          <p:nvPr>
            <p:ph type="sldNum" sz="quarter" idx="4"/>
          </p:nvPr>
        </p:nvSpPr>
        <p:spPr/>
        <p:txBody>
          <a:bodyPr/>
          <a:lstStyle/>
          <a:p>
            <a:pPr algn="ctr"/>
            <a:fld id="{1875A764-3B06-454E-8ABA-2F6ED0EB58E9}" type="slidenum">
              <a:rPr lang="en-US" smtClean="0"/>
              <a:t>58</a:t>
            </a:fld>
            <a:endParaRPr lang="en-US"/>
          </a:p>
        </p:txBody>
      </p:sp>
      <p:sp>
        <p:nvSpPr>
          <p:cNvPr id="3" name="Title 2">
            <a:extLst>
              <a:ext uri="{FF2B5EF4-FFF2-40B4-BE49-F238E27FC236}">
                <a16:creationId xmlns:a16="http://schemas.microsoft.com/office/drawing/2014/main" id="{C48A302E-A176-435A-C11B-7ECDF95BD5C5}"/>
              </a:ext>
            </a:extLst>
          </p:cNvPr>
          <p:cNvSpPr>
            <a:spLocks noGrp="1"/>
          </p:cNvSpPr>
          <p:nvPr>
            <p:ph type="title"/>
          </p:nvPr>
        </p:nvSpPr>
        <p:spPr/>
        <p:txBody>
          <a:bodyPr/>
          <a:lstStyle/>
          <a:p>
            <a:r>
              <a:rPr lang="en-GB" spc="-25" dirty="0">
                <a:cs typeface="Helvetica Neue Light" panose="020B0604020202020204" charset="0"/>
              </a:rPr>
              <a:t>Succession to Value: Project Overview</a:t>
            </a:r>
            <a:endParaRPr lang="en-US" dirty="0"/>
          </a:p>
        </p:txBody>
      </p:sp>
      <p:sp>
        <p:nvSpPr>
          <p:cNvPr id="4" name="Rectangle: Rounded Corners 2">
            <a:extLst>
              <a:ext uri="{FF2B5EF4-FFF2-40B4-BE49-F238E27FC236}">
                <a16:creationId xmlns:a16="http://schemas.microsoft.com/office/drawing/2014/main" id="{EE01C68F-4A8F-7B49-FB66-C769E619D184}"/>
              </a:ext>
            </a:extLst>
          </p:cNvPr>
          <p:cNvSpPr/>
          <p:nvPr/>
        </p:nvSpPr>
        <p:spPr>
          <a:xfrm>
            <a:off x="8091640" y="1500528"/>
            <a:ext cx="3938778" cy="4606009"/>
          </a:xfrm>
          <a:prstGeom prst="roundRect">
            <a:avLst/>
          </a:prstGeom>
          <a:noFill/>
          <a:ln>
            <a:solidFill>
              <a:srgbClr val="765FFF"/>
            </a:solidFill>
          </a:ln>
        </p:spPr>
        <p:txBody>
          <a:bodyPr vert="horz" lIns="73152" tIns="73152" rIns="60960" bIns="48768" rtlCol="0" anchor="ctr" anchorCtr="0">
            <a:noAutofit/>
          </a:bodyPr>
          <a:lstStyle/>
          <a:p>
            <a:pPr marL="0" marR="0" lvl="0" indent="0" algn="ctr" defTabSz="231642" rtl="0" eaLnBrk="1" fontAlgn="auto" latinLnBrk="0" hangingPunct="1">
              <a:lnSpc>
                <a:spcPct val="100000"/>
              </a:lnSpc>
              <a:spcBef>
                <a:spcPts val="0"/>
              </a:spcBef>
              <a:spcAft>
                <a:spcPts val="800"/>
              </a:spcAft>
              <a:buClrTx/>
              <a:buSzTx/>
              <a:buFontTx/>
              <a:buNone/>
              <a:tabLst>
                <a:tab pos="231642" algn="l"/>
                <a:tab pos="463284" algn="l"/>
                <a:tab pos="694927" algn="l"/>
                <a:tab pos="926569" algn="l"/>
              </a:tabLst>
              <a:defRPr/>
            </a:pPr>
            <a:endParaRPr kumimoji="0" lang="en-US" sz="1467" b="0" i="0" u="none" strike="noStrike" kern="1200" cap="none" spc="-10" normalizeH="0" baseline="0" noProof="0" err="1">
              <a:ln>
                <a:noFill/>
              </a:ln>
              <a:solidFill>
                <a:srgbClr val="3B3B3B"/>
              </a:solidFill>
              <a:effectLst/>
              <a:uLnTx/>
              <a:uFillTx/>
              <a:latin typeface="Arial"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0B0B30AB-6B18-B4F6-1ECA-2D985B3904B5}"/>
              </a:ext>
            </a:extLst>
          </p:cNvPr>
          <p:cNvSpPr txBox="1"/>
          <p:nvPr/>
        </p:nvSpPr>
        <p:spPr>
          <a:xfrm>
            <a:off x="720857" y="1019052"/>
            <a:ext cx="4207599" cy="400110"/>
          </a:xfrm>
          <a:prstGeom prst="rect">
            <a:avLst/>
          </a:prstGeom>
          <a:no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Succession to Value Pivots</a:t>
            </a:r>
          </a:p>
        </p:txBody>
      </p:sp>
      <p:cxnSp>
        <p:nvCxnSpPr>
          <p:cNvPr id="6" name="Straight Connector 5">
            <a:extLst>
              <a:ext uri="{FF2B5EF4-FFF2-40B4-BE49-F238E27FC236}">
                <a16:creationId xmlns:a16="http://schemas.microsoft.com/office/drawing/2014/main" id="{ED10F476-7DBF-105D-D3EB-1153C80E2B5A}"/>
              </a:ext>
            </a:extLst>
          </p:cNvPr>
          <p:cNvCxnSpPr>
            <a:cxnSpLocks/>
          </p:cNvCxnSpPr>
          <p:nvPr/>
        </p:nvCxnSpPr>
        <p:spPr>
          <a:xfrm>
            <a:off x="720857" y="1427207"/>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3C52E45-E7F0-4B0B-81D7-C66EB21A8FBB}"/>
              </a:ext>
            </a:extLst>
          </p:cNvPr>
          <p:cNvCxnSpPr>
            <a:cxnSpLocks/>
          </p:cNvCxnSpPr>
          <p:nvPr/>
        </p:nvCxnSpPr>
        <p:spPr>
          <a:xfrm>
            <a:off x="720857" y="3254004"/>
            <a:ext cx="6651591"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5343CA2-DB4A-D187-878D-6D17EA07E2DC}"/>
              </a:ext>
            </a:extLst>
          </p:cNvPr>
          <p:cNvSpPr txBox="1"/>
          <p:nvPr/>
        </p:nvSpPr>
        <p:spPr>
          <a:xfrm>
            <a:off x="720857" y="2840492"/>
            <a:ext cx="4939959" cy="400110"/>
          </a:xfrm>
          <a:prstGeom prst="rect">
            <a:avLst/>
          </a:prstGeom>
          <a:noFill/>
        </p:spPr>
        <p:txBody>
          <a:bodyPr wrap="square" lIns="91440" tIns="45720" rIns="91440" bIns="4572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Timelines</a:t>
            </a:r>
          </a:p>
        </p:txBody>
      </p:sp>
      <p:sp>
        <p:nvSpPr>
          <p:cNvPr id="9" name="Freeform 308">
            <a:extLst>
              <a:ext uri="{FF2B5EF4-FFF2-40B4-BE49-F238E27FC236}">
                <a16:creationId xmlns:a16="http://schemas.microsoft.com/office/drawing/2014/main" id="{B4A24773-ACD6-61FE-2CA2-0089D2DC7470}"/>
              </a:ext>
            </a:extLst>
          </p:cNvPr>
          <p:cNvSpPr/>
          <p:nvPr/>
        </p:nvSpPr>
        <p:spPr>
          <a:xfrm>
            <a:off x="7214795" y="1028670"/>
            <a:ext cx="251172" cy="322015"/>
          </a:xfrm>
          <a:custGeom>
            <a:avLst/>
            <a:gdLst>
              <a:gd name="connsiteX0" fmla="*/ 68461 w 381422"/>
              <a:gd name="connsiteY0" fmla="*/ 134475 h 489000"/>
              <a:gd name="connsiteX1" fmla="*/ 68461 w 381422"/>
              <a:gd name="connsiteY1" fmla="*/ 127139 h 489000"/>
              <a:gd name="connsiteX2" fmla="*/ 312961 w 381422"/>
              <a:gd name="connsiteY2" fmla="*/ 127139 h 489000"/>
              <a:gd name="connsiteX3" fmla="*/ 312961 w 381422"/>
              <a:gd name="connsiteY3" fmla="*/ 141811 h 489000"/>
              <a:gd name="connsiteX4" fmla="*/ 68461 w 381422"/>
              <a:gd name="connsiteY4" fmla="*/ 141811 h 489000"/>
              <a:gd name="connsiteX5" fmla="*/ 68461 w 381422"/>
              <a:gd name="connsiteY5" fmla="*/ 134475 h 489000"/>
              <a:gd name="connsiteX6" fmla="*/ 68461 w 381422"/>
              <a:gd name="connsiteY6" fmla="*/ 264061 h 489000"/>
              <a:gd name="connsiteX7" fmla="*/ 312961 w 381422"/>
              <a:gd name="connsiteY7" fmla="*/ 264061 h 489000"/>
              <a:gd name="connsiteX8" fmla="*/ 312961 w 381422"/>
              <a:gd name="connsiteY8" fmla="*/ 249389 h 489000"/>
              <a:gd name="connsiteX9" fmla="*/ 68461 w 381422"/>
              <a:gd name="connsiteY9" fmla="*/ 249389 h 489000"/>
              <a:gd name="connsiteX10" fmla="*/ 68461 w 381422"/>
              <a:gd name="connsiteY10" fmla="*/ 264061 h 489000"/>
              <a:gd name="connsiteX11" fmla="*/ 68461 w 381422"/>
              <a:gd name="connsiteY11" fmla="*/ 202936 h 489000"/>
              <a:gd name="connsiteX12" fmla="*/ 312961 w 381422"/>
              <a:gd name="connsiteY12" fmla="*/ 202936 h 489000"/>
              <a:gd name="connsiteX13" fmla="*/ 312961 w 381422"/>
              <a:gd name="connsiteY13" fmla="*/ 188264 h 489000"/>
              <a:gd name="connsiteX14" fmla="*/ 68461 w 381422"/>
              <a:gd name="connsiteY14" fmla="*/ 188264 h 489000"/>
              <a:gd name="connsiteX15" fmla="*/ 68461 w 381422"/>
              <a:gd name="connsiteY15" fmla="*/ 202936 h 489000"/>
              <a:gd name="connsiteX16" fmla="*/ 68461 w 381422"/>
              <a:gd name="connsiteY16" fmla="*/ 325186 h 489000"/>
              <a:gd name="connsiteX17" fmla="*/ 312961 w 381422"/>
              <a:gd name="connsiteY17" fmla="*/ 325186 h 489000"/>
              <a:gd name="connsiteX18" fmla="*/ 312961 w 381422"/>
              <a:gd name="connsiteY18" fmla="*/ 310514 h 489000"/>
              <a:gd name="connsiteX19" fmla="*/ 68461 w 381422"/>
              <a:gd name="connsiteY19" fmla="*/ 310514 h 489000"/>
              <a:gd name="connsiteX20" fmla="*/ 68461 w 381422"/>
              <a:gd name="connsiteY20" fmla="*/ 325186 h 489000"/>
              <a:gd name="connsiteX21" fmla="*/ 68461 w 381422"/>
              <a:gd name="connsiteY21" fmla="*/ 386311 h 489000"/>
              <a:gd name="connsiteX22" fmla="*/ 190711 w 381422"/>
              <a:gd name="connsiteY22" fmla="*/ 386311 h 489000"/>
              <a:gd name="connsiteX23" fmla="*/ 190711 w 381422"/>
              <a:gd name="connsiteY23" fmla="*/ 371639 h 489000"/>
              <a:gd name="connsiteX24" fmla="*/ 68461 w 381422"/>
              <a:gd name="connsiteY24" fmla="*/ 371639 h 489000"/>
              <a:gd name="connsiteX25" fmla="*/ 68461 w 381422"/>
              <a:gd name="connsiteY25" fmla="*/ 386311 h 489000"/>
              <a:gd name="connsiteX26" fmla="*/ 381422 w 381422"/>
              <a:gd name="connsiteY26" fmla="*/ 56111 h 489000"/>
              <a:gd name="connsiteX27" fmla="*/ 381422 w 381422"/>
              <a:gd name="connsiteY27" fmla="*/ 457214 h 489000"/>
              <a:gd name="connsiteX28" fmla="*/ 349636 w 381422"/>
              <a:gd name="connsiteY28" fmla="*/ 489000 h 489000"/>
              <a:gd name="connsiteX29" fmla="*/ 31786 w 381422"/>
              <a:gd name="connsiteY29" fmla="*/ 489000 h 489000"/>
              <a:gd name="connsiteX30" fmla="*/ 0 w 381422"/>
              <a:gd name="connsiteY30" fmla="*/ 457214 h 489000"/>
              <a:gd name="connsiteX31" fmla="*/ 0 w 381422"/>
              <a:gd name="connsiteY31" fmla="*/ 56111 h 489000"/>
              <a:gd name="connsiteX32" fmla="*/ 31786 w 381422"/>
              <a:gd name="connsiteY32" fmla="*/ 24325 h 489000"/>
              <a:gd name="connsiteX33" fmla="*/ 91688 w 381422"/>
              <a:gd name="connsiteY33" fmla="*/ 24325 h 489000"/>
              <a:gd name="connsiteX34" fmla="*/ 91688 w 381422"/>
              <a:gd name="connsiteY34" fmla="*/ 19561 h 489000"/>
              <a:gd name="connsiteX35" fmla="*/ 111249 w 381422"/>
              <a:gd name="connsiteY35" fmla="*/ 0 h 489000"/>
              <a:gd name="connsiteX36" fmla="*/ 270174 w 381422"/>
              <a:gd name="connsiteY36" fmla="*/ 0 h 489000"/>
              <a:gd name="connsiteX37" fmla="*/ 289735 w 381422"/>
              <a:gd name="connsiteY37" fmla="*/ 19561 h 489000"/>
              <a:gd name="connsiteX38" fmla="*/ 289735 w 381422"/>
              <a:gd name="connsiteY38" fmla="*/ 24325 h 489000"/>
              <a:gd name="connsiteX39" fmla="*/ 349636 w 381422"/>
              <a:gd name="connsiteY39" fmla="*/ 24325 h 489000"/>
              <a:gd name="connsiteX40" fmla="*/ 381422 w 381422"/>
              <a:gd name="connsiteY40" fmla="*/ 56111 h 489000"/>
              <a:gd name="connsiteX41" fmla="*/ 106360 w 381422"/>
              <a:gd name="connsiteY41" fmla="*/ 48900 h 489000"/>
              <a:gd name="connsiteX42" fmla="*/ 275063 w 381422"/>
              <a:gd name="connsiteY42" fmla="*/ 48900 h 489000"/>
              <a:gd name="connsiteX43" fmla="*/ 275063 w 381422"/>
              <a:gd name="connsiteY43" fmla="*/ 19561 h 489000"/>
              <a:gd name="connsiteX44" fmla="*/ 270174 w 381422"/>
              <a:gd name="connsiteY44" fmla="*/ 14672 h 489000"/>
              <a:gd name="connsiteX45" fmla="*/ 111249 w 381422"/>
              <a:gd name="connsiteY45" fmla="*/ 14672 h 489000"/>
              <a:gd name="connsiteX46" fmla="*/ 106360 w 381422"/>
              <a:gd name="connsiteY46" fmla="*/ 19561 h 489000"/>
              <a:gd name="connsiteX47" fmla="*/ 106360 w 381422"/>
              <a:gd name="connsiteY47" fmla="*/ 48900 h 489000"/>
              <a:gd name="connsiteX48" fmla="*/ 366750 w 381422"/>
              <a:gd name="connsiteY48" fmla="*/ 56111 h 489000"/>
              <a:gd name="connsiteX49" fmla="*/ 349636 w 381422"/>
              <a:gd name="connsiteY49" fmla="*/ 38997 h 489000"/>
              <a:gd name="connsiteX50" fmla="*/ 289735 w 381422"/>
              <a:gd name="connsiteY50" fmla="*/ 38997 h 489000"/>
              <a:gd name="connsiteX51" fmla="*/ 289735 w 381422"/>
              <a:gd name="connsiteY51" fmla="*/ 56236 h 489000"/>
              <a:gd name="connsiteX52" fmla="*/ 282399 w 381422"/>
              <a:gd name="connsiteY52" fmla="*/ 63572 h 489000"/>
              <a:gd name="connsiteX53" fmla="*/ 99024 w 381422"/>
              <a:gd name="connsiteY53" fmla="*/ 63572 h 489000"/>
              <a:gd name="connsiteX54" fmla="*/ 91688 w 381422"/>
              <a:gd name="connsiteY54" fmla="*/ 56236 h 489000"/>
              <a:gd name="connsiteX55" fmla="*/ 91688 w 381422"/>
              <a:gd name="connsiteY55" fmla="*/ 38997 h 489000"/>
              <a:gd name="connsiteX56" fmla="*/ 31786 w 381422"/>
              <a:gd name="connsiteY56" fmla="*/ 38997 h 489000"/>
              <a:gd name="connsiteX57" fmla="*/ 14672 w 381422"/>
              <a:gd name="connsiteY57" fmla="*/ 56111 h 489000"/>
              <a:gd name="connsiteX58" fmla="*/ 14672 w 381422"/>
              <a:gd name="connsiteY58" fmla="*/ 457214 h 489000"/>
              <a:gd name="connsiteX59" fmla="*/ 31786 w 381422"/>
              <a:gd name="connsiteY59" fmla="*/ 474328 h 489000"/>
              <a:gd name="connsiteX60" fmla="*/ 349636 w 381422"/>
              <a:gd name="connsiteY60" fmla="*/ 474328 h 489000"/>
              <a:gd name="connsiteX61" fmla="*/ 366750 w 381422"/>
              <a:gd name="connsiteY61" fmla="*/ 457214 h 489000"/>
              <a:gd name="connsiteX62" fmla="*/ 366750 w 381422"/>
              <a:gd name="connsiteY62" fmla="*/ 56111 h 4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81422" h="489000">
                <a:moveTo>
                  <a:pt x="68461" y="134475"/>
                </a:moveTo>
                <a:lnTo>
                  <a:pt x="68461" y="127139"/>
                </a:lnTo>
                <a:lnTo>
                  <a:pt x="312961" y="127139"/>
                </a:lnTo>
                <a:lnTo>
                  <a:pt x="312961" y="141811"/>
                </a:lnTo>
                <a:lnTo>
                  <a:pt x="68461" y="141811"/>
                </a:lnTo>
                <a:lnTo>
                  <a:pt x="68461" y="134475"/>
                </a:lnTo>
                <a:close/>
                <a:moveTo>
                  <a:pt x="68461" y="264061"/>
                </a:moveTo>
                <a:lnTo>
                  <a:pt x="312961" y="264061"/>
                </a:lnTo>
                <a:lnTo>
                  <a:pt x="312961" y="249389"/>
                </a:lnTo>
                <a:lnTo>
                  <a:pt x="68461" y="249389"/>
                </a:lnTo>
                <a:lnTo>
                  <a:pt x="68461" y="264061"/>
                </a:lnTo>
                <a:close/>
                <a:moveTo>
                  <a:pt x="68461" y="202936"/>
                </a:moveTo>
                <a:lnTo>
                  <a:pt x="312961" y="202936"/>
                </a:lnTo>
                <a:lnTo>
                  <a:pt x="312961" y="188264"/>
                </a:lnTo>
                <a:lnTo>
                  <a:pt x="68461" y="188264"/>
                </a:lnTo>
                <a:lnTo>
                  <a:pt x="68461" y="202936"/>
                </a:lnTo>
                <a:close/>
                <a:moveTo>
                  <a:pt x="68461" y="325186"/>
                </a:moveTo>
                <a:lnTo>
                  <a:pt x="312961" y="325186"/>
                </a:lnTo>
                <a:lnTo>
                  <a:pt x="312961" y="310514"/>
                </a:lnTo>
                <a:lnTo>
                  <a:pt x="68461" y="310514"/>
                </a:lnTo>
                <a:lnTo>
                  <a:pt x="68461" y="325186"/>
                </a:lnTo>
                <a:close/>
                <a:moveTo>
                  <a:pt x="68461" y="386311"/>
                </a:moveTo>
                <a:lnTo>
                  <a:pt x="190711" y="386311"/>
                </a:lnTo>
                <a:lnTo>
                  <a:pt x="190711" y="371639"/>
                </a:lnTo>
                <a:lnTo>
                  <a:pt x="68461" y="371639"/>
                </a:lnTo>
                <a:lnTo>
                  <a:pt x="68461" y="386311"/>
                </a:lnTo>
                <a:close/>
                <a:moveTo>
                  <a:pt x="381422" y="56111"/>
                </a:moveTo>
                <a:lnTo>
                  <a:pt x="381422" y="457214"/>
                </a:lnTo>
                <a:cubicBezTo>
                  <a:pt x="381422" y="474740"/>
                  <a:pt x="367162" y="489000"/>
                  <a:pt x="349636" y="489000"/>
                </a:cubicBezTo>
                <a:lnTo>
                  <a:pt x="31786" y="489000"/>
                </a:lnTo>
                <a:cubicBezTo>
                  <a:pt x="14260" y="489000"/>
                  <a:pt x="0" y="474740"/>
                  <a:pt x="0" y="457214"/>
                </a:cubicBezTo>
                <a:lnTo>
                  <a:pt x="0" y="56111"/>
                </a:lnTo>
                <a:cubicBezTo>
                  <a:pt x="0" y="38585"/>
                  <a:pt x="14260" y="24325"/>
                  <a:pt x="31786" y="24325"/>
                </a:cubicBezTo>
                <a:lnTo>
                  <a:pt x="91688" y="24325"/>
                </a:lnTo>
                <a:lnTo>
                  <a:pt x="91688" y="19561"/>
                </a:lnTo>
                <a:cubicBezTo>
                  <a:pt x="91688" y="8775"/>
                  <a:pt x="100462" y="0"/>
                  <a:pt x="111249" y="0"/>
                </a:cubicBezTo>
                <a:lnTo>
                  <a:pt x="270174" y="0"/>
                </a:lnTo>
                <a:cubicBezTo>
                  <a:pt x="280960" y="0"/>
                  <a:pt x="289735" y="8774"/>
                  <a:pt x="289735" y="19561"/>
                </a:cubicBezTo>
                <a:lnTo>
                  <a:pt x="289735" y="24325"/>
                </a:lnTo>
                <a:lnTo>
                  <a:pt x="349636" y="24325"/>
                </a:lnTo>
                <a:cubicBezTo>
                  <a:pt x="367162" y="24325"/>
                  <a:pt x="381422" y="38585"/>
                  <a:pt x="381422" y="56111"/>
                </a:cubicBezTo>
                <a:close/>
                <a:moveTo>
                  <a:pt x="106360" y="48900"/>
                </a:moveTo>
                <a:lnTo>
                  <a:pt x="275063" y="48900"/>
                </a:lnTo>
                <a:lnTo>
                  <a:pt x="275063" y="19561"/>
                </a:lnTo>
                <a:cubicBezTo>
                  <a:pt x="275063" y="16866"/>
                  <a:pt x="272872" y="14672"/>
                  <a:pt x="270174" y="14672"/>
                </a:cubicBezTo>
                <a:lnTo>
                  <a:pt x="111249" y="14672"/>
                </a:lnTo>
                <a:cubicBezTo>
                  <a:pt x="108551" y="14672"/>
                  <a:pt x="106360" y="16866"/>
                  <a:pt x="106360" y="19561"/>
                </a:cubicBezTo>
                <a:lnTo>
                  <a:pt x="106360" y="48900"/>
                </a:lnTo>
                <a:close/>
                <a:moveTo>
                  <a:pt x="366750" y="56111"/>
                </a:moveTo>
                <a:cubicBezTo>
                  <a:pt x="366750" y="46674"/>
                  <a:pt x="359073" y="38997"/>
                  <a:pt x="349636" y="38997"/>
                </a:cubicBezTo>
                <a:lnTo>
                  <a:pt x="289735" y="38997"/>
                </a:lnTo>
                <a:lnTo>
                  <a:pt x="289735" y="56236"/>
                </a:lnTo>
                <a:cubicBezTo>
                  <a:pt x="289735" y="60286"/>
                  <a:pt x="286452" y="63572"/>
                  <a:pt x="282399" y="63572"/>
                </a:cubicBezTo>
                <a:lnTo>
                  <a:pt x="99024" y="63572"/>
                </a:lnTo>
                <a:cubicBezTo>
                  <a:pt x="94971" y="63572"/>
                  <a:pt x="91688" y="60286"/>
                  <a:pt x="91688" y="56236"/>
                </a:cubicBezTo>
                <a:lnTo>
                  <a:pt x="91688" y="38997"/>
                </a:lnTo>
                <a:lnTo>
                  <a:pt x="31786" y="38997"/>
                </a:lnTo>
                <a:cubicBezTo>
                  <a:pt x="22349" y="38997"/>
                  <a:pt x="14672" y="46674"/>
                  <a:pt x="14672" y="56111"/>
                </a:cubicBezTo>
                <a:lnTo>
                  <a:pt x="14672" y="457214"/>
                </a:lnTo>
                <a:cubicBezTo>
                  <a:pt x="14672" y="466651"/>
                  <a:pt x="22349" y="474328"/>
                  <a:pt x="31786" y="474328"/>
                </a:cubicBezTo>
                <a:lnTo>
                  <a:pt x="349636" y="474328"/>
                </a:lnTo>
                <a:cubicBezTo>
                  <a:pt x="359073" y="474328"/>
                  <a:pt x="366750" y="466651"/>
                  <a:pt x="366750" y="457214"/>
                </a:cubicBezTo>
                <a:lnTo>
                  <a:pt x="366750" y="56111"/>
                </a:lnTo>
                <a:close/>
              </a:path>
            </a:pathLst>
          </a:custGeom>
          <a:solidFill>
            <a:srgbClr val="765FFF"/>
          </a:solidFill>
          <a:ln w="0" cap="flat">
            <a:solidFill>
              <a:srgbClr val="765FFF"/>
            </a:solidFill>
            <a:prstDash val="solid"/>
            <a:miter/>
          </a:ln>
        </p:spPr>
        <p:txBody>
          <a:bodyPr lIns="91440" tIns="45720" rIns="91440" bIns="45720" rtlCol="0" anchor="ctr"/>
          <a:lstStyle/>
          <a:p>
            <a:pPr marL="0" marR="0" lvl="0" indent="0" algn="l"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pic>
        <p:nvPicPr>
          <p:cNvPr id="10" name="Graphic 38" descr="Blockchain outline">
            <a:extLst>
              <a:ext uri="{FF2B5EF4-FFF2-40B4-BE49-F238E27FC236}">
                <a16:creationId xmlns:a16="http://schemas.microsoft.com/office/drawing/2014/main" id="{631CC1D1-AE4C-A58E-7E78-3AC52C7E809B}"/>
              </a:ext>
            </a:extLst>
          </p:cNvPr>
          <p:cNvPicPr>
            <a:picLocks noChangeAspect="1"/>
          </p:cNvPicPr>
          <p:nvPr/>
        </p:nvPicPr>
        <p:blipFill>
          <a:blip r:embed="rId2">
            <a:duotone>
              <a:srgbClr val="765FFF"/>
              <a:srgbClr val="FFFFFF"/>
            </a:duotone>
          </a:blip>
          <a:stretch>
            <a:fillRect/>
          </a:stretch>
        </p:blipFill>
        <p:spPr>
          <a:xfrm>
            <a:off x="7146726" y="2790365"/>
            <a:ext cx="454404" cy="454404"/>
          </a:xfrm>
          <a:prstGeom prst="rect">
            <a:avLst/>
          </a:prstGeom>
        </p:spPr>
      </p:pic>
      <p:cxnSp>
        <p:nvCxnSpPr>
          <p:cNvPr id="11" name="Straight Arrow Connector 10">
            <a:extLst>
              <a:ext uri="{FF2B5EF4-FFF2-40B4-BE49-F238E27FC236}">
                <a16:creationId xmlns:a16="http://schemas.microsoft.com/office/drawing/2014/main" id="{85573120-7F47-BFC7-3C20-B33EC4386AAE}"/>
              </a:ext>
            </a:extLst>
          </p:cNvPr>
          <p:cNvCxnSpPr>
            <a:cxnSpLocks/>
          </p:cNvCxnSpPr>
          <p:nvPr/>
        </p:nvCxnSpPr>
        <p:spPr>
          <a:xfrm>
            <a:off x="732579" y="3759339"/>
            <a:ext cx="6619045" cy="0"/>
          </a:xfrm>
          <a:prstGeom prst="straightConnector1">
            <a:avLst/>
          </a:prstGeom>
          <a:ln w="9525">
            <a:solidFill>
              <a:srgbClr val="F2F2F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84F03BC-B11F-85F6-B187-31260B0B6D59}"/>
              </a:ext>
            </a:extLst>
          </p:cNvPr>
          <p:cNvSpPr txBox="1"/>
          <p:nvPr/>
        </p:nvSpPr>
        <p:spPr>
          <a:xfrm>
            <a:off x="1457448" y="3621806"/>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Step 1</a:t>
            </a:r>
          </a:p>
        </p:txBody>
      </p:sp>
      <p:cxnSp>
        <p:nvCxnSpPr>
          <p:cNvPr id="13" name="Straight Connector 12">
            <a:extLst>
              <a:ext uri="{FF2B5EF4-FFF2-40B4-BE49-F238E27FC236}">
                <a16:creationId xmlns:a16="http://schemas.microsoft.com/office/drawing/2014/main" id="{7F5FECB6-1D06-0FA0-5154-09FAFCBE5B56}"/>
              </a:ext>
            </a:extLst>
          </p:cNvPr>
          <p:cNvCxnSpPr>
            <a:cxnSpLocks/>
          </p:cNvCxnSpPr>
          <p:nvPr/>
        </p:nvCxnSpPr>
        <p:spPr>
          <a:xfrm>
            <a:off x="8053928" y="1427207"/>
            <a:ext cx="3976490"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3D1F1C-BF91-D102-5E28-7F3E71E9FF5F}"/>
              </a:ext>
            </a:extLst>
          </p:cNvPr>
          <p:cNvSpPr txBox="1"/>
          <p:nvPr/>
        </p:nvSpPr>
        <p:spPr>
          <a:xfrm>
            <a:off x="8976526" y="1025811"/>
            <a:ext cx="2620489" cy="400110"/>
          </a:xfrm>
          <a:prstGeom prst="rect">
            <a:avLst/>
          </a:prstGeom>
          <a:noFill/>
        </p:spPr>
        <p:txBody>
          <a:bodyPr wrap="square" lIns="91440" tIns="45720" rIns="91440" bIns="45720">
            <a:spAutoFit/>
          </a:bodyPr>
          <a:lstStyle/>
          <a:p>
            <a:pPr marL="0" marR="0" lvl="0" indent="0" algn="l" defTabSz="609585"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Deliverables</a:t>
            </a:r>
          </a:p>
        </p:txBody>
      </p:sp>
      <p:sp>
        <p:nvSpPr>
          <p:cNvPr id="15" name="Rectangle: Rounded Corners 24">
            <a:extLst>
              <a:ext uri="{FF2B5EF4-FFF2-40B4-BE49-F238E27FC236}">
                <a16:creationId xmlns:a16="http://schemas.microsoft.com/office/drawing/2014/main" id="{8CF692C7-CCFB-4140-AA4B-B5B2D526C8B8}"/>
              </a:ext>
            </a:extLst>
          </p:cNvPr>
          <p:cNvSpPr/>
          <p:nvPr/>
        </p:nvSpPr>
        <p:spPr>
          <a:xfrm>
            <a:off x="8014898" y="1686060"/>
            <a:ext cx="4177102" cy="3576855"/>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Connect Supply &amp; Demand </a:t>
            </a:r>
            <a:r>
              <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match Talent to Value creating positions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Align Stakeholders </a:t>
            </a:r>
            <a:r>
              <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ensure shared ownership of future JTBDs, talent decisions, and readiness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Assess Readiness with Multi-Evidence Approach </a:t>
            </a:r>
            <a:r>
              <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integrate data from Hogan, stakeholders, and performance insights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Accelerate Growth through Personalized Development Plans </a:t>
            </a:r>
            <a:r>
              <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tailor actions to each leader’s gaps to future role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Embed in the Current Culture / Operating System </a:t>
            </a:r>
          </a:p>
        </p:txBody>
      </p:sp>
      <p:sp>
        <p:nvSpPr>
          <p:cNvPr id="16" name="TextBox 15">
            <a:extLst>
              <a:ext uri="{FF2B5EF4-FFF2-40B4-BE49-F238E27FC236}">
                <a16:creationId xmlns:a16="http://schemas.microsoft.com/office/drawing/2014/main" id="{FAFD3199-6722-E238-D72D-B873A0E4A1FA}"/>
              </a:ext>
            </a:extLst>
          </p:cNvPr>
          <p:cNvSpPr txBox="1"/>
          <p:nvPr/>
        </p:nvSpPr>
        <p:spPr>
          <a:xfrm>
            <a:off x="2990066" y="3621805"/>
            <a:ext cx="974311"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Step 2</a:t>
            </a:r>
          </a:p>
        </p:txBody>
      </p:sp>
      <p:sp>
        <p:nvSpPr>
          <p:cNvPr id="17" name="TextBox 16">
            <a:extLst>
              <a:ext uri="{FF2B5EF4-FFF2-40B4-BE49-F238E27FC236}">
                <a16:creationId xmlns:a16="http://schemas.microsoft.com/office/drawing/2014/main" id="{D7A3D5ED-FF4F-DCD8-B312-E686CC50050C}"/>
              </a:ext>
            </a:extLst>
          </p:cNvPr>
          <p:cNvSpPr txBox="1"/>
          <p:nvPr/>
        </p:nvSpPr>
        <p:spPr>
          <a:xfrm>
            <a:off x="4378145" y="3614800"/>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Step 3</a:t>
            </a:r>
          </a:p>
        </p:txBody>
      </p:sp>
      <p:graphicFrame>
        <p:nvGraphicFramePr>
          <p:cNvPr id="18" name="Table 17">
            <a:extLst>
              <a:ext uri="{FF2B5EF4-FFF2-40B4-BE49-F238E27FC236}">
                <a16:creationId xmlns:a16="http://schemas.microsoft.com/office/drawing/2014/main" id="{0CA87E38-A223-54E1-C183-835BCE978B74}"/>
              </a:ext>
            </a:extLst>
          </p:cNvPr>
          <p:cNvGraphicFramePr>
            <a:graphicFrameLocks noGrp="1"/>
          </p:cNvGraphicFramePr>
          <p:nvPr>
            <p:extLst>
              <p:ext uri="{D42A27DB-BD31-4B8C-83A1-F6EECF244321}">
                <p14:modId xmlns:p14="http://schemas.microsoft.com/office/powerpoint/2010/main" val="4253363788"/>
              </p:ext>
            </p:extLst>
          </p:nvPr>
        </p:nvGraphicFramePr>
        <p:xfrm>
          <a:off x="720857" y="4178636"/>
          <a:ext cx="6743077" cy="1927904"/>
        </p:xfrm>
        <a:graphic>
          <a:graphicData uri="http://schemas.openxmlformats.org/drawingml/2006/table">
            <a:tbl>
              <a:tblPr firstRow="1" bandRow="1">
                <a:tableStyleId>{69012ECD-51FC-41F1-AA8D-1B2483CD663E}</a:tableStyleId>
              </a:tblPr>
              <a:tblGrid>
                <a:gridCol w="2061667">
                  <a:extLst>
                    <a:ext uri="{9D8B030D-6E8A-4147-A177-3AD203B41FA5}">
                      <a16:colId xmlns:a16="http://schemas.microsoft.com/office/drawing/2014/main" val="639335632"/>
                    </a:ext>
                  </a:extLst>
                </a:gridCol>
                <a:gridCol w="1715507">
                  <a:extLst>
                    <a:ext uri="{9D8B030D-6E8A-4147-A177-3AD203B41FA5}">
                      <a16:colId xmlns:a16="http://schemas.microsoft.com/office/drawing/2014/main" val="1287033572"/>
                    </a:ext>
                  </a:extLst>
                </a:gridCol>
                <a:gridCol w="1707803">
                  <a:extLst>
                    <a:ext uri="{9D8B030D-6E8A-4147-A177-3AD203B41FA5}">
                      <a16:colId xmlns:a16="http://schemas.microsoft.com/office/drawing/2014/main" val="1655344151"/>
                    </a:ext>
                  </a:extLst>
                </a:gridCol>
                <a:gridCol w="1258100">
                  <a:extLst>
                    <a:ext uri="{9D8B030D-6E8A-4147-A177-3AD203B41FA5}">
                      <a16:colId xmlns:a16="http://schemas.microsoft.com/office/drawing/2014/main" val="1307993032"/>
                    </a:ext>
                  </a:extLst>
                </a:gridCol>
              </a:tblGrid>
              <a:tr h="820024">
                <a:tc>
                  <a:txBody>
                    <a:bodyPr/>
                    <a:lstStyle/>
                    <a:p>
                      <a:pPr algn="ctr"/>
                      <a:r>
                        <a:rPr lang="en-US" sz="1050" b="1" dirty="0">
                          <a:solidFill>
                            <a:srgbClr val="FFFFFF"/>
                          </a:solidFill>
                        </a:rPr>
                        <a:t>COLLECT &amp; ANALYZE </a:t>
                      </a:r>
                    </a:p>
                    <a:p>
                      <a:pPr algn="ctr"/>
                      <a:r>
                        <a:rPr lang="en-US" sz="1050" b="1" dirty="0">
                          <a:solidFill>
                            <a:srgbClr val="FFFFFF"/>
                          </a:solidFill>
                        </a:rPr>
                        <a:t>CLIENT MATERIALS</a:t>
                      </a:r>
                      <a:endParaRPr lang="en-US" sz="1050" b="1" dirty="0">
                        <a:solidFill>
                          <a:srgbClr val="FFFFFF"/>
                        </a:solidFill>
                        <a:latin typeface="Arial" pitchFamily="34" charset="0"/>
                        <a:cs typeface="Helvetica Neue" panose="020B0604020202020204" charset="0"/>
                      </a:endParaRPr>
                    </a:p>
                  </a:txBody>
                  <a:tcPr anchor="ctr"/>
                </a:tc>
                <a:tc>
                  <a:txBody>
                    <a:bodyPr/>
                    <a:lstStyle/>
                    <a:p>
                      <a:pPr algn="ctr"/>
                      <a:r>
                        <a:rPr lang="en-US" sz="1050" b="1" dirty="0">
                          <a:solidFill>
                            <a:srgbClr val="FFFFFF"/>
                          </a:solidFill>
                        </a:rPr>
                        <a:t> INTAKE</a:t>
                      </a:r>
                      <a:br>
                        <a:rPr lang="en-US" sz="1050" b="1" dirty="0">
                          <a:solidFill>
                            <a:srgbClr val="FFFFFF"/>
                          </a:solidFill>
                        </a:rPr>
                      </a:br>
                      <a:r>
                        <a:rPr lang="en-US" sz="1050" b="1" dirty="0">
                          <a:solidFill>
                            <a:srgbClr val="FFFFFF"/>
                          </a:solidFill>
                        </a:rPr>
                        <a:t>INTERVIEWS</a:t>
                      </a:r>
                      <a:endParaRPr lang="en-US" sz="1050" b="1" dirty="0">
                        <a:solidFill>
                          <a:srgbClr val="FFFFFF"/>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HALF DAY </a:t>
                      </a:r>
                    </a:p>
                    <a:p>
                      <a:pPr algn="ctr"/>
                      <a:r>
                        <a:rPr lang="en-US" sz="1050" b="1">
                          <a:solidFill>
                            <a:srgbClr val="FFFFFF"/>
                          </a:solidFill>
                        </a:rPr>
                        <a:t>CALIBRATION WORKSHOP</a:t>
                      </a:r>
                      <a:endParaRPr lang="en-US" sz="1050" b="1">
                        <a:solidFill>
                          <a:srgbClr val="FFFFFF"/>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ENABLING PLAN READOUT</a:t>
                      </a:r>
                      <a:endParaRPr lang="en-US" sz="1050" b="1">
                        <a:solidFill>
                          <a:srgbClr val="FFFFFF"/>
                        </a:solidFill>
                        <a:latin typeface="Arial" pitchFamily="34" charset="0"/>
                        <a:cs typeface="Helvetica Neue" panose="020B0604020202020204" charset="0"/>
                      </a:endParaRPr>
                    </a:p>
                  </a:txBody>
                  <a:tcPr anchor="ctr"/>
                </a:tc>
                <a:extLst>
                  <a:ext uri="{0D108BD9-81ED-4DB2-BD59-A6C34878D82A}">
                    <a16:rowId xmlns:a16="http://schemas.microsoft.com/office/drawing/2014/main" val="2283789029"/>
                  </a:ext>
                </a:extLst>
              </a:tr>
              <a:tr h="553605">
                <a:tc rowSpan="2">
                  <a:txBody>
                    <a:bodyPr/>
                    <a:lstStyle/>
                    <a:p>
                      <a:pPr algn="ctr"/>
                      <a:r>
                        <a:rPr lang="en-US" sz="1050" dirty="0">
                          <a:solidFill>
                            <a:schemeClr val="tx1"/>
                          </a:solidFill>
                        </a:rPr>
                        <a:t>Strategy Documents </a:t>
                      </a:r>
                    </a:p>
                    <a:p>
                      <a:pPr algn="ctr"/>
                      <a:r>
                        <a:rPr lang="en-US" sz="1050" dirty="0">
                          <a:solidFill>
                            <a:schemeClr val="tx1"/>
                          </a:solidFill>
                        </a:rPr>
                        <a:t>List of Roles</a:t>
                      </a:r>
                    </a:p>
                    <a:p>
                      <a:pPr algn="ctr"/>
                      <a:r>
                        <a:rPr lang="en-US" sz="1050" dirty="0">
                          <a:solidFill>
                            <a:schemeClr val="tx1"/>
                          </a:solidFill>
                        </a:rPr>
                        <a:t> (N-1 or Critical Roles)</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dirty="0">
                          <a:solidFill>
                            <a:schemeClr val="tx1"/>
                          </a:solidFill>
                        </a:rPr>
                        <a:t>List of Candidates</a:t>
                      </a:r>
                      <a:endParaRPr lang="en-US" sz="1050" dirty="0">
                        <a:solidFill>
                          <a:schemeClr val="tx1"/>
                        </a:solidFill>
                        <a:latin typeface="Arial" pitchFamily="34" charset="0"/>
                        <a:cs typeface="Helvetica Neue" panose="020B0604020202020204" charset="0"/>
                      </a:endParaRPr>
                    </a:p>
                  </a:txBody>
                  <a:tcPr/>
                </a:tc>
                <a:tc>
                  <a:txBody>
                    <a:bodyPr/>
                    <a:lstStyle/>
                    <a:p>
                      <a:pPr algn="ctr"/>
                      <a:r>
                        <a:rPr lang="en-US" sz="1050" kern="1200" dirty="0">
                          <a:solidFill>
                            <a:schemeClr val="tx1"/>
                          </a:solidFill>
                        </a:rPr>
                        <a:t>CEO </a:t>
                      </a:r>
                      <a:r>
                        <a:rPr lang="en-US" sz="1050" kern="1200" dirty="0">
                          <a:solidFill>
                            <a:schemeClr val="tx1"/>
                          </a:solidFill>
                          <a:sym typeface="+mn-lt"/>
                        </a:rPr>
                        <a:t>• </a:t>
                      </a:r>
                      <a:r>
                        <a:rPr lang="en-US" sz="1050" kern="1200" dirty="0">
                          <a:solidFill>
                            <a:schemeClr val="tx1"/>
                          </a:solidFill>
                        </a:rPr>
                        <a:t>CHRO </a:t>
                      </a:r>
                      <a:r>
                        <a:rPr lang="en-US" sz="1050" kern="1200" dirty="0">
                          <a:solidFill>
                            <a:schemeClr val="tx1"/>
                          </a:solidFill>
                          <a:sym typeface="+mn-lt"/>
                        </a:rPr>
                        <a:t>• </a:t>
                      </a:r>
                    </a:p>
                    <a:p>
                      <a:pPr algn="ctr"/>
                      <a:r>
                        <a:rPr lang="en-US" sz="1050" kern="1200" dirty="0">
                          <a:solidFill>
                            <a:schemeClr val="tx1"/>
                          </a:solidFill>
                          <a:sym typeface="+mn-lt"/>
                        </a:rPr>
                        <a:t>Line Mgr.</a:t>
                      </a:r>
                      <a:endParaRPr lang="en-US" sz="1050" kern="1200" dirty="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050" b="0" u="none" strike="noStrike" kern="1200" cap="none" spc="0" normalizeH="0" baseline="0" noProof="0" dirty="0">
                          <a:ln>
                            <a:noFill/>
                          </a:ln>
                          <a:solidFill>
                            <a:schemeClr val="tx1"/>
                          </a:solidFill>
                          <a:effectLst/>
                          <a:uLnTx/>
                          <a:uFillTx/>
                        </a:rPr>
                        <a:t>CEO</a:t>
                      </a:r>
                      <a:r>
                        <a:rPr kumimoji="0" lang="en-US" sz="1050" b="0" u="none" strike="noStrike" kern="1200" cap="none" spc="0" normalizeH="0" baseline="0" noProof="0" dirty="0">
                          <a:ln>
                            <a:noFill/>
                          </a:ln>
                          <a:solidFill>
                            <a:schemeClr val="tx1"/>
                          </a:solidFill>
                          <a:effectLst/>
                          <a:uLnTx/>
                          <a:uFillTx/>
                          <a:sym typeface="+mn-lt"/>
                        </a:rPr>
                        <a:t> • CHRO</a:t>
                      </a:r>
                      <a:endParaRPr lang="en-US" sz="1050" dirty="0">
                        <a:solidFill>
                          <a:schemeClr val="tx1"/>
                        </a:solidFill>
                        <a:latin typeface="Arial" pitchFamily="34" charset="0"/>
                        <a:cs typeface="Helvetica Neue" panose="020B0604020202020204" charset="0"/>
                      </a:endParaRPr>
                    </a:p>
                  </a:txBody>
                  <a:tcPr anchor="ctr"/>
                </a:tc>
                <a:tc>
                  <a:txBody>
                    <a:bodyPr/>
                    <a:lstStyle/>
                    <a:p>
                      <a:pPr algn="ctr"/>
                      <a:r>
                        <a:rPr kumimoji="0" lang="en-US" sz="1050" b="0" u="none" strike="noStrike" kern="1200" cap="none" spc="0" normalizeH="0" baseline="0" noProof="0">
                          <a:ln>
                            <a:noFill/>
                          </a:ln>
                          <a:solidFill>
                            <a:schemeClr val="tx1"/>
                          </a:solidFill>
                          <a:effectLst/>
                          <a:uLnTx/>
                          <a:uFillTx/>
                        </a:rPr>
                        <a:t>CEO</a:t>
                      </a:r>
                      <a:endParaRPr lang="en-US" sz="105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488218340"/>
                  </a:ext>
                </a:extLst>
              </a:tr>
              <a:tr h="554275">
                <a:tc vMerge="1">
                  <a:txBody>
                    <a:bodyPr/>
                    <a:lstStyle/>
                    <a:p>
                      <a:pPr algn="ctr"/>
                      <a:endParaRPr lang="en-US" sz="1000"/>
                    </a:p>
                  </a:txBody>
                  <a:tcPr anchor="ctr">
                    <a:lnL w="12700" cap="flat" cmpd="sng" algn="ctr">
                      <a:solidFill>
                        <a:srgbClr val="1D1D1D"/>
                      </a:solidFill>
                      <a:prstDash val="solid"/>
                      <a:round/>
                      <a:headEnd type="none" w="med" len="med"/>
                      <a:tailEnd type="none" w="med" len="med"/>
                    </a:lnL>
                    <a:lnR w="12700" cap="flat" cmpd="sng" algn="ctr">
                      <a:solidFill>
                        <a:srgbClr val="1D1D1D"/>
                      </a:solidFill>
                      <a:prstDash val="solid"/>
                      <a:round/>
                      <a:headEnd type="none" w="med" len="med"/>
                      <a:tailEnd type="none" w="med" len="med"/>
                    </a:lnR>
                    <a:lnT w="12700" cap="flat" cmpd="sng" algn="ctr">
                      <a:solidFill>
                        <a:srgbClr val="1D1D1D"/>
                      </a:solidFill>
                      <a:prstDash val="solid"/>
                      <a:round/>
                      <a:headEnd type="none" w="med" len="med"/>
                      <a:tailEnd type="none" w="med" len="med"/>
                    </a:lnT>
                    <a:lnB w="12700" cap="flat" cmpd="sng" algn="ctr">
                      <a:solidFill>
                        <a:srgbClr val="1D1D1D"/>
                      </a:solidFill>
                      <a:prstDash val="solid"/>
                      <a:round/>
                      <a:headEnd type="none" w="med" len="med"/>
                      <a:tailEnd type="none" w="med" len="med"/>
                    </a:lnB>
                    <a:solidFill>
                      <a:srgbClr val="FFFFFF"/>
                    </a:solidFill>
                  </a:tcPr>
                </a:tc>
                <a:tc>
                  <a:txBody>
                    <a:bodyPr/>
                    <a:lstStyle/>
                    <a:p>
                      <a:pPr algn="ctr"/>
                      <a:r>
                        <a:rPr lang="en-US" sz="1050" kern="1200">
                          <a:solidFill>
                            <a:schemeClr val="tx1"/>
                          </a:solidFill>
                        </a:rPr>
                        <a:t>Virtual</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lang="en-US" sz="1050" dirty="0">
                          <a:solidFill>
                            <a:schemeClr val="tx1"/>
                          </a:solidFill>
                        </a:rPr>
                        <a:t>Face to Face</a:t>
                      </a:r>
                      <a:endParaRPr lang="en-US" sz="1050" dirty="0">
                        <a:solidFill>
                          <a:schemeClr val="tx1"/>
                        </a:solidFill>
                        <a:latin typeface="Arial" pitchFamily="34" charset="0"/>
                        <a:cs typeface="Helvetica Neue" panose="020B0604020202020204" charset="0"/>
                      </a:endParaRPr>
                    </a:p>
                  </a:txBody>
                  <a:tcPr anchor="ctr"/>
                </a:tc>
                <a:tc>
                  <a:txBody>
                    <a:bodyPr/>
                    <a:lstStyle/>
                    <a:p>
                      <a:pPr algn="ctr"/>
                      <a:r>
                        <a:rPr lang="en-US" sz="1050" dirty="0">
                          <a:solidFill>
                            <a:schemeClr val="tx1"/>
                          </a:solidFill>
                        </a:rPr>
                        <a:t>Virtual </a:t>
                      </a:r>
                      <a:endParaRPr lang="en-US" sz="105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1547781014"/>
                  </a:ext>
                </a:extLst>
              </a:tr>
            </a:tbl>
          </a:graphicData>
        </a:graphic>
      </p:graphicFrame>
      <p:sp>
        <p:nvSpPr>
          <p:cNvPr id="19" name="TextBox 18">
            <a:extLst>
              <a:ext uri="{FF2B5EF4-FFF2-40B4-BE49-F238E27FC236}">
                <a16:creationId xmlns:a16="http://schemas.microsoft.com/office/drawing/2014/main" id="{2898A33E-44B2-A9C7-7F91-4B26126FF20F}"/>
              </a:ext>
            </a:extLst>
          </p:cNvPr>
          <p:cNvSpPr txBox="1"/>
          <p:nvPr/>
        </p:nvSpPr>
        <p:spPr>
          <a:xfrm>
            <a:off x="5910761" y="3606293"/>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Step 4</a:t>
            </a:r>
          </a:p>
        </p:txBody>
      </p:sp>
      <p:sp>
        <p:nvSpPr>
          <p:cNvPr id="20" name="Slide Number Placeholder 2">
            <a:extLst>
              <a:ext uri="{FF2B5EF4-FFF2-40B4-BE49-F238E27FC236}">
                <a16:creationId xmlns:a16="http://schemas.microsoft.com/office/drawing/2014/main" id="{3741FCD2-BADE-1BE2-D8DD-F6F9B8041A31}"/>
              </a:ext>
            </a:extLst>
          </p:cNvPr>
          <p:cNvSpPr txBox="1">
            <a:spLocks noChangeArrowheads="1"/>
          </p:cNvSpPr>
          <p:nvPr/>
        </p:nvSpPr>
        <p:spPr>
          <a:xfrm>
            <a:off x="0" y="238125"/>
            <a:ext cx="557213" cy="5572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txBody>
          <a:bodyPr lIns="91440" tIns="45720" rIns="91440" bIns="45720" anchor="ctr"/>
          <a:lstStyle>
            <a:defPPr>
              <a:defRPr b="1" kern="0" spc="-25">
                <a:latin typeface="Segoe UI" pitchFamily="34" charset="0"/>
              </a:defRPr>
            </a:defPPr>
            <a:lvl1pPr>
              <a:defRPr sz="1400" b="1" spc="-25">
                <a:solidFill>
                  <a:srgbClr val="1D1D1D"/>
                </a:solidFill>
                <a:latin typeface="Segoe UI" pitchFamily="34" charset="0"/>
                <a:cs typeface="Arial" panose="020B0604020202020204" pitchFamily="34" charset="0"/>
                <a:sym typeface="Arial" panose="020B0604020202020204" pitchFamily="34" charset="0"/>
              </a:defRPr>
            </a:lvl1pPr>
            <a:lvl2pPr marL="742950" indent="-285750">
              <a:defRPr sz="1400" b="1" spc="-25">
                <a:solidFill>
                  <a:srgbClr val="1D1D1D"/>
                </a:solidFill>
                <a:latin typeface="Segoe UI" pitchFamily="34" charset="0"/>
                <a:cs typeface="Arial" panose="020B0604020202020204" pitchFamily="34" charset="0"/>
                <a:sym typeface="Arial" panose="020B0604020202020204" pitchFamily="34" charset="0"/>
              </a:defRPr>
            </a:lvl2pPr>
            <a:lvl3pPr marL="1143000" indent="-228600">
              <a:defRPr sz="1400" b="1" spc="-25">
                <a:solidFill>
                  <a:srgbClr val="1D1D1D"/>
                </a:solidFill>
                <a:latin typeface="Segoe UI" pitchFamily="34" charset="0"/>
                <a:cs typeface="Arial" panose="020B0604020202020204" pitchFamily="34" charset="0"/>
                <a:sym typeface="Arial" panose="020B0604020202020204" pitchFamily="34" charset="0"/>
              </a:defRPr>
            </a:lvl3pPr>
            <a:lvl4pPr marL="1600200" indent="-228600">
              <a:defRPr sz="1400" b="1" spc="-25">
                <a:solidFill>
                  <a:srgbClr val="1D1D1D"/>
                </a:solidFill>
                <a:latin typeface="Segoe UI" pitchFamily="34" charset="0"/>
                <a:cs typeface="Arial" panose="020B0604020202020204" pitchFamily="34" charset="0"/>
                <a:sym typeface="Arial" panose="020B0604020202020204" pitchFamily="34" charset="0"/>
              </a:defRPr>
            </a:lvl4pPr>
            <a:lvl5pPr marL="2057400" indent="-228600">
              <a:defRPr sz="1400" b="1" spc="-25">
                <a:solidFill>
                  <a:srgbClr val="1D1D1D"/>
                </a:solidFill>
                <a:latin typeface="Segoe UI"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b="1" spc="-25">
                <a:solidFill>
                  <a:srgbClr val="1D1D1D"/>
                </a:solidFill>
                <a:latin typeface="Segoe UI"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b="1" spc="-25">
                <a:solidFill>
                  <a:srgbClr val="1D1D1D"/>
                </a:solidFill>
                <a:latin typeface="Segoe UI"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b="1" spc="-25">
                <a:solidFill>
                  <a:srgbClr val="1D1D1D"/>
                </a:solidFill>
                <a:latin typeface="Segoe UI"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b="1" spc="-25">
                <a:solidFill>
                  <a:srgbClr val="1D1D1D"/>
                </a:solidFill>
                <a:latin typeface="Segoe UI"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1D1D1D"/>
              </a:buClr>
              <a:buSzTx/>
              <a:buFont typeface="Arial" panose="020B0604020202020204" pitchFamily="34" charset="0"/>
              <a:buNone/>
              <a:tabLst/>
              <a:defRPr b="1" spc="-25">
                <a:latin typeface="Segoe UI" pitchFamily="34" charset="0"/>
              </a:defRPr>
            </a:pPr>
            <a:fld id="{D5C88882-3A44-6B42-8F01-7CC8C5AE3817}" type="slidenum">
              <a:rPr kumimoji="0" lang="en-US" altLang="en-US" sz="1800" b="1" i="0" u="none" strike="noStrike" kern="1200" cap="none" spc="-25" normalizeH="0" baseline="0" noProof="0" smtClean="0">
                <a:ln>
                  <a:noFill/>
                </a:ln>
                <a:solidFill>
                  <a:srgbClr val="FFFFFF"/>
                </a:solidFill>
                <a:effectLst/>
                <a:uLnTx/>
                <a:uFillTx/>
                <a:latin typeface="Segoe UI" pitchFamily="34"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1D1D1D"/>
                </a:buClr>
                <a:buSzTx/>
                <a:buFont typeface="Arial" panose="020B0604020202020204" pitchFamily="34" charset="0"/>
                <a:buNone/>
                <a:tabLst/>
                <a:defRPr b="1" spc="-25">
                  <a:latin typeface="Segoe UI" pitchFamily="34" charset="0"/>
                </a:defRPr>
              </a:pPr>
              <a:t>58</a:t>
            </a:fld>
            <a:endParaRPr kumimoji="0" lang="en-US" altLang="en-US" sz="1800" b="1" i="0" u="none" strike="noStrike" kern="1200" cap="none" spc="-25" normalizeH="0" baseline="0" noProof="0">
              <a:ln>
                <a:noFill/>
              </a:ln>
              <a:solidFill>
                <a:srgbClr val="FFFFFF"/>
              </a:solidFill>
              <a:effectLst/>
              <a:uLnTx/>
              <a:uFillTx/>
              <a:latin typeface="Segoe UI" pitchFamily="34" charset="0"/>
              <a:ea typeface="+mn-ea"/>
              <a:cs typeface="Arial" panose="020B0604020202020204" pitchFamily="34" charset="0"/>
              <a:sym typeface="Helvetica Neue" panose="02000503000000020004" pitchFamily="2" charset="0"/>
            </a:endParaRPr>
          </a:p>
        </p:txBody>
      </p:sp>
      <p:sp>
        <p:nvSpPr>
          <p:cNvPr id="21" name="Rounded Rectangle 20">
            <a:extLst>
              <a:ext uri="{FF2B5EF4-FFF2-40B4-BE49-F238E27FC236}">
                <a16:creationId xmlns:a16="http://schemas.microsoft.com/office/drawing/2014/main" id="{79A3E3E1-4FBF-2A64-4126-CE3934F91D4A}"/>
              </a:ext>
            </a:extLst>
          </p:cNvPr>
          <p:cNvSpPr/>
          <p:nvPr/>
        </p:nvSpPr>
        <p:spPr>
          <a:xfrm>
            <a:off x="732579" y="1600868"/>
            <a:ext cx="6949576" cy="1139081"/>
          </a:xfrm>
          <a:prstGeom prst="roundRect">
            <a:avLst>
              <a:gd name="adj" fmla="val 7477"/>
            </a:avLst>
          </a:prstGeom>
          <a:solidFill>
            <a:srgbClr val="DAD4F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graphicFrame>
        <p:nvGraphicFramePr>
          <p:cNvPr id="22" name="Table 21">
            <a:extLst>
              <a:ext uri="{FF2B5EF4-FFF2-40B4-BE49-F238E27FC236}">
                <a16:creationId xmlns:a16="http://schemas.microsoft.com/office/drawing/2014/main" id="{DF7145BB-B20C-9408-4A9C-61E7BE434B9B}"/>
              </a:ext>
            </a:extLst>
          </p:cNvPr>
          <p:cNvGraphicFramePr>
            <a:graphicFrameLocks noGrp="1"/>
          </p:cNvGraphicFramePr>
          <p:nvPr>
            <p:extLst>
              <p:ext uri="{D42A27DB-BD31-4B8C-83A1-F6EECF244321}">
                <p14:modId xmlns:p14="http://schemas.microsoft.com/office/powerpoint/2010/main" val="1805278077"/>
              </p:ext>
            </p:extLst>
          </p:nvPr>
        </p:nvGraphicFramePr>
        <p:xfrm>
          <a:off x="835198" y="1629415"/>
          <a:ext cx="6778739" cy="1094753"/>
        </p:xfrm>
        <a:graphic>
          <a:graphicData uri="http://schemas.openxmlformats.org/drawingml/2006/table">
            <a:tbl>
              <a:tblPr firstRow="1" bandRow="1">
                <a:tableStyleId>{C083E6E3-FA7D-4D7B-A595-EF9225AFEA82}</a:tableStyleId>
              </a:tblPr>
              <a:tblGrid>
                <a:gridCol w="3233534">
                  <a:extLst>
                    <a:ext uri="{9D8B030D-6E8A-4147-A177-3AD203B41FA5}">
                      <a16:colId xmlns:a16="http://schemas.microsoft.com/office/drawing/2014/main" val="20000"/>
                    </a:ext>
                  </a:extLst>
                </a:gridCol>
                <a:gridCol w="228247">
                  <a:extLst>
                    <a:ext uri="{9D8B030D-6E8A-4147-A177-3AD203B41FA5}">
                      <a16:colId xmlns:a16="http://schemas.microsoft.com/office/drawing/2014/main" val="20001"/>
                    </a:ext>
                  </a:extLst>
                </a:gridCol>
                <a:gridCol w="3316958">
                  <a:extLst>
                    <a:ext uri="{9D8B030D-6E8A-4147-A177-3AD203B41FA5}">
                      <a16:colId xmlns:a16="http://schemas.microsoft.com/office/drawing/2014/main" val="20002"/>
                    </a:ext>
                  </a:extLst>
                </a:gridCol>
              </a:tblGrid>
              <a:tr h="316277">
                <a:tc>
                  <a:txBody>
                    <a:bodyPr/>
                    <a:lstStyle/>
                    <a:p>
                      <a:pPr marL="0" marR="0" lvl="0" indent="0" algn="r" defTabSz="914400" rtl="0" eaLnBrk="1" fontAlgn="auto" latinLnBrk="0" hangingPunct="1">
                        <a:lnSpc>
                          <a:spcPct val="100000"/>
                        </a:lnSpc>
                        <a:spcBef>
                          <a:spcPts val="0"/>
                        </a:spcBef>
                        <a:spcAft>
                          <a:spcPts val="0"/>
                        </a:spcAft>
                        <a:buClr>
                          <a:schemeClr val="dk1"/>
                        </a:buClr>
                        <a:buSzPts val="1200"/>
                        <a:buFont typeface="Arial"/>
                        <a:buNone/>
                        <a:tabLst/>
                        <a:defRPr sz="1200" b="1">
                          <a:solidFill>
                            <a:srgbClr val="FFFFFF"/>
                          </a:solidFill>
                          <a:latin typeface="Arial" pitchFamily="34" charset="0"/>
                        </a:defRPr>
                      </a:pPr>
                      <a:r>
                        <a:rPr lang="en-US" sz="1000" b="1" u="none" strike="noStrike" kern="1200" cap="none" dirty="0">
                          <a:solidFill>
                            <a:schemeClr val="tx1"/>
                          </a:solidFill>
                          <a:latin typeface="Arial" pitchFamily="34" charset="0"/>
                          <a:ea typeface="Helvetica Neue" panose="02000503000000020004" pitchFamily="2" charset="0"/>
                          <a:cs typeface="Helvetica Neue" panose="02000503000000020004" pitchFamily="2" charset="0"/>
                        </a:rPr>
                        <a:t>Generic Leadership Competence Model</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lvl="2" algn="r" rtl="0"/>
                      <a:endParaRPr lang="en-IN" sz="1000" b="1" i="0" u="none" strike="noStrike" cap="none">
                        <a:solidFill>
                          <a:schemeClr val="tx1"/>
                        </a:solidFill>
                        <a:effectLst/>
                        <a:latin typeface="Arial" pitchFamily="34" charset="0"/>
                        <a:ea typeface="Helvetica Neue" panose="02000503000000020004" pitchFamily="2" charset="0"/>
                        <a:cs typeface="Helvetica Neue" panose="02000503000000020004" pitchFamily="2" charset="0"/>
                        <a:sym typeface="Arial"/>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Succession for N-1 &amp; Critical roles</a:t>
                      </a:r>
                      <a:endParaRPr lang="en-US" sz="1000" b="1">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extLst>
                  <a:ext uri="{0D108BD9-81ED-4DB2-BD59-A6C34878D82A}">
                    <a16:rowId xmlns:a16="http://schemas.microsoft.com/office/drawing/2014/main" val="10000"/>
                  </a:ext>
                </a:extLst>
              </a:tr>
              <a:tr h="364681">
                <a:tc>
                  <a:txBody>
                    <a:bodyPr/>
                    <a:lstStyle/>
                    <a:p>
                      <a:pPr marL="0" marR="0" lvl="0" indent="0" algn="r" rtl="0">
                        <a:spcBef>
                          <a:spcPts val="0"/>
                        </a:spcBef>
                        <a:spcAft>
                          <a:spcPts val="0"/>
                        </a:spcAft>
                        <a:buClr>
                          <a:schemeClr val="dk1"/>
                        </a:buClr>
                        <a:buSzPts val="1200"/>
                        <a:buFont typeface="Arial"/>
                        <a:buNone/>
                      </a:pP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Experience &amp; Expertise in Today’s Role</a:t>
                      </a:r>
                    </a:p>
                  </a:txBody>
                  <a:tcPr marL="91442" marR="91442" marT="45723" marB="45723" anchor="ctr">
                    <a:lnT w="12700" cmpd="sng">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dirty="0">
                          <a:solidFill>
                            <a:schemeClr val="tx1"/>
                          </a:solidFill>
                          <a:latin typeface="Arial" pitchFamily="34" charset="0"/>
                          <a:ea typeface="Helvetica Neue" panose="02000503000000020004" pitchFamily="2" charset="0"/>
                          <a:cs typeface="Helvetica Neue" panose="02000503000000020004" pitchFamily="2" charset="0"/>
                        </a:rPr>
                        <a:t>Aligned to Future Jobs to Be Done</a:t>
                      </a:r>
                    </a:p>
                  </a:txBody>
                  <a:tcPr marL="91442" marR="91442" marT="45723" marB="45723" anchor="ctr">
                    <a:lnT w="12700" cmpd="sng">
                      <a:noFill/>
                    </a:lnT>
                    <a:lnB>
                      <a:noFill/>
                    </a:lnB>
                    <a:solidFill>
                      <a:srgbClr val="DAD4FD"/>
                    </a:solidFill>
                  </a:tcPr>
                </a:tc>
                <a:extLst>
                  <a:ext uri="{0D108BD9-81ED-4DB2-BD59-A6C34878D82A}">
                    <a16:rowId xmlns:a16="http://schemas.microsoft.com/office/drawing/2014/main" val="10001"/>
                  </a:ext>
                </a:extLst>
              </a:tr>
              <a:tr h="413795">
                <a:tc>
                  <a:txBody>
                    <a:bodyPr/>
                    <a:lstStyle/>
                    <a:p>
                      <a:pPr marL="0" marR="0" lvl="0" indent="0" algn="r"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Opinion-Led</a:t>
                      </a:r>
                      <a:endParaRPr lang="en-US" sz="1000" b="1" dirty="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Evidence &amp; Assessment-Based</a:t>
                      </a:r>
                    </a:p>
                  </a:txBody>
                  <a:tcPr marL="91442" marR="91442" marT="45723" marB="45723" anchor="ctr">
                    <a:lnT>
                      <a:noFill/>
                    </a:lnT>
                    <a:lnB>
                      <a:noFill/>
                    </a:lnB>
                    <a:solidFill>
                      <a:srgbClr val="DAD4FD"/>
                    </a:solidFill>
                  </a:tcPr>
                </a:tc>
                <a:extLst>
                  <a:ext uri="{0D108BD9-81ED-4DB2-BD59-A6C34878D82A}">
                    <a16:rowId xmlns:a16="http://schemas.microsoft.com/office/drawing/2014/main" val="10002"/>
                  </a:ext>
                </a:extLst>
              </a:tr>
            </a:tbl>
          </a:graphicData>
        </a:graphic>
      </p:graphicFrame>
      <p:sp>
        <p:nvSpPr>
          <p:cNvPr id="23" name="Triangle 22">
            <a:extLst>
              <a:ext uri="{FF2B5EF4-FFF2-40B4-BE49-F238E27FC236}">
                <a16:creationId xmlns:a16="http://schemas.microsoft.com/office/drawing/2014/main" id="{C1E696A8-3525-6DA9-58C1-C273744284C5}"/>
              </a:ext>
            </a:extLst>
          </p:cNvPr>
          <p:cNvSpPr/>
          <p:nvPr/>
        </p:nvSpPr>
        <p:spPr>
          <a:xfrm rot="5400000">
            <a:off x="3998777" y="1778161"/>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4" name="Triangle 23">
            <a:extLst>
              <a:ext uri="{FF2B5EF4-FFF2-40B4-BE49-F238E27FC236}">
                <a16:creationId xmlns:a16="http://schemas.microsoft.com/office/drawing/2014/main" id="{A10DBC41-7CCD-0C12-5C74-41093119E22A}"/>
              </a:ext>
            </a:extLst>
          </p:cNvPr>
          <p:cNvSpPr/>
          <p:nvPr/>
        </p:nvSpPr>
        <p:spPr>
          <a:xfrm rot="5400000">
            <a:off x="3998777" y="2104606"/>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5" name="Triangle 24">
            <a:extLst>
              <a:ext uri="{FF2B5EF4-FFF2-40B4-BE49-F238E27FC236}">
                <a16:creationId xmlns:a16="http://schemas.microsoft.com/office/drawing/2014/main" id="{070C02A5-E799-EF59-47E1-7D1DCF1D2AC8}"/>
              </a:ext>
            </a:extLst>
          </p:cNvPr>
          <p:cNvSpPr/>
          <p:nvPr/>
        </p:nvSpPr>
        <p:spPr>
          <a:xfrm rot="5400000">
            <a:off x="3998777" y="2511974"/>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6" name="TextBox 25">
            <a:extLst>
              <a:ext uri="{FF2B5EF4-FFF2-40B4-BE49-F238E27FC236}">
                <a16:creationId xmlns:a16="http://schemas.microsoft.com/office/drawing/2014/main" id="{ABED6C20-A8B0-7C42-8200-3F65987271E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pic>
        <p:nvPicPr>
          <p:cNvPr id="27" name="Picture 26">
            <a:extLst>
              <a:ext uri="{FF2B5EF4-FFF2-40B4-BE49-F238E27FC236}">
                <a16:creationId xmlns:a16="http://schemas.microsoft.com/office/drawing/2014/main" id="{83E36C2E-20DD-AE1A-177F-E6DA741E0296}"/>
              </a:ext>
            </a:extLst>
          </p:cNvPr>
          <p:cNvPicPr>
            <a:picLocks noChangeAspect="1"/>
          </p:cNvPicPr>
          <p:nvPr/>
        </p:nvPicPr>
        <p:blipFill>
          <a:blip r:embed="rId3">
            <a:duotone>
              <a:srgbClr val="765FFF"/>
              <a:srgbClr val="FFFFFF"/>
            </a:duotone>
          </a:blip>
          <a:stretch>
            <a:fillRect/>
          </a:stretch>
        </p:blipFill>
        <p:spPr>
          <a:xfrm>
            <a:off x="8251247" y="669732"/>
            <a:ext cx="787773" cy="751713"/>
          </a:xfrm>
          <a:prstGeom prst="rect">
            <a:avLst/>
          </a:prstGeom>
        </p:spPr>
      </p:pic>
    </p:spTree>
    <p:extLst>
      <p:ext uri="{BB962C8B-B14F-4D97-AF65-F5344CB8AC3E}">
        <p14:creationId xmlns:p14="http://schemas.microsoft.com/office/powerpoint/2010/main" val="2132175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30E59A-550A-A59C-9C80-DD2C7DDA5F1A}"/>
              </a:ext>
            </a:extLst>
          </p:cNvPr>
          <p:cNvSpPr>
            <a:spLocks noGrp="1"/>
          </p:cNvSpPr>
          <p:nvPr>
            <p:ph type="sldNum" sz="quarter" idx="4"/>
          </p:nvPr>
        </p:nvSpPr>
        <p:spPr/>
        <p:txBody>
          <a:bodyPr/>
          <a:lstStyle/>
          <a:p>
            <a:pPr algn="ctr"/>
            <a:fld id="{7DA59B58-B945-4B36-BC6B-9C26C933A008}" type="slidenum">
              <a:rPr lang="en-US" smtClean="0"/>
              <a:t>59</a:t>
            </a:fld>
            <a:endParaRPr lang="en-US"/>
          </a:p>
        </p:txBody>
      </p:sp>
      <p:sp>
        <p:nvSpPr>
          <p:cNvPr id="6" name="Title 5">
            <a:extLst>
              <a:ext uri="{FF2B5EF4-FFF2-40B4-BE49-F238E27FC236}">
                <a16:creationId xmlns:a16="http://schemas.microsoft.com/office/drawing/2014/main" id="{B4637DF2-2095-EC1A-B914-CFEE90325406}"/>
              </a:ext>
            </a:extLst>
          </p:cNvPr>
          <p:cNvSpPr>
            <a:spLocks noGrp="1"/>
          </p:cNvSpPr>
          <p:nvPr>
            <p:ph type="title"/>
          </p:nvPr>
        </p:nvSpPr>
        <p:spPr/>
        <p:txBody>
          <a:bodyPr/>
          <a:lstStyle/>
          <a:p>
            <a:r>
              <a:rPr lang="en-US" dirty="0"/>
              <a:t>Organize to Value: Project Overview</a:t>
            </a:r>
          </a:p>
        </p:txBody>
      </p:sp>
      <p:sp>
        <p:nvSpPr>
          <p:cNvPr id="7" name="TextBox 6">
            <a:extLst>
              <a:ext uri="{FF2B5EF4-FFF2-40B4-BE49-F238E27FC236}">
                <a16:creationId xmlns:a16="http://schemas.microsoft.com/office/drawing/2014/main" id="{BF7BA2D8-4FA3-D05C-1092-D34442180E96}"/>
              </a:ext>
            </a:extLst>
          </p:cNvPr>
          <p:cNvSpPr txBox="1"/>
          <p:nvPr/>
        </p:nvSpPr>
        <p:spPr>
          <a:xfrm>
            <a:off x="720857" y="1019052"/>
            <a:ext cx="4512399" cy="400110"/>
          </a:xfrm>
          <a:prstGeom prst="rect">
            <a:avLst/>
          </a:prstGeom>
          <a:no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i="0" u="none" strike="noStrike" kern="1200" cap="none" spc="-25"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Organize to Value Pivots</a:t>
            </a:r>
          </a:p>
        </p:txBody>
      </p:sp>
      <p:cxnSp>
        <p:nvCxnSpPr>
          <p:cNvPr id="8" name="Straight Connector 7">
            <a:extLst>
              <a:ext uri="{FF2B5EF4-FFF2-40B4-BE49-F238E27FC236}">
                <a16:creationId xmlns:a16="http://schemas.microsoft.com/office/drawing/2014/main" id="{C437A205-EB6C-F370-F588-7373E6B6ECD7}"/>
              </a:ext>
            </a:extLst>
          </p:cNvPr>
          <p:cNvCxnSpPr>
            <a:cxnSpLocks/>
          </p:cNvCxnSpPr>
          <p:nvPr/>
        </p:nvCxnSpPr>
        <p:spPr>
          <a:xfrm>
            <a:off x="720857" y="1427207"/>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86A9E-4BFD-D6F7-3644-4FF813F4C44E}"/>
              </a:ext>
            </a:extLst>
          </p:cNvPr>
          <p:cNvCxnSpPr>
            <a:cxnSpLocks/>
          </p:cNvCxnSpPr>
          <p:nvPr/>
        </p:nvCxnSpPr>
        <p:spPr>
          <a:xfrm>
            <a:off x="720857" y="3254004"/>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DDE1F4D-4CC4-258B-498E-9F6BC5A97900}"/>
              </a:ext>
            </a:extLst>
          </p:cNvPr>
          <p:cNvSpPr txBox="1"/>
          <p:nvPr/>
        </p:nvSpPr>
        <p:spPr>
          <a:xfrm>
            <a:off x="720857" y="2840492"/>
            <a:ext cx="4939959" cy="400110"/>
          </a:xfrm>
          <a:prstGeom prst="rect">
            <a:avLst/>
          </a:prstGeom>
          <a:noFill/>
        </p:spPr>
        <p:txBody>
          <a:bodyPr wrap="square" lIns="91440" tIns="45720" rIns="91440" bIns="4572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Timelines</a:t>
            </a:r>
          </a:p>
        </p:txBody>
      </p:sp>
      <p:sp>
        <p:nvSpPr>
          <p:cNvPr id="11" name="Freeform 308">
            <a:extLst>
              <a:ext uri="{FF2B5EF4-FFF2-40B4-BE49-F238E27FC236}">
                <a16:creationId xmlns:a16="http://schemas.microsoft.com/office/drawing/2014/main" id="{977DF8C6-5AA7-0EF2-5097-E2B585004C25}"/>
              </a:ext>
            </a:extLst>
          </p:cNvPr>
          <p:cNvSpPr/>
          <p:nvPr/>
        </p:nvSpPr>
        <p:spPr>
          <a:xfrm>
            <a:off x="7214795" y="1028670"/>
            <a:ext cx="251172" cy="322015"/>
          </a:xfrm>
          <a:custGeom>
            <a:avLst/>
            <a:gdLst>
              <a:gd name="connsiteX0" fmla="*/ 68461 w 381422"/>
              <a:gd name="connsiteY0" fmla="*/ 134475 h 489000"/>
              <a:gd name="connsiteX1" fmla="*/ 68461 w 381422"/>
              <a:gd name="connsiteY1" fmla="*/ 127139 h 489000"/>
              <a:gd name="connsiteX2" fmla="*/ 312961 w 381422"/>
              <a:gd name="connsiteY2" fmla="*/ 127139 h 489000"/>
              <a:gd name="connsiteX3" fmla="*/ 312961 w 381422"/>
              <a:gd name="connsiteY3" fmla="*/ 141811 h 489000"/>
              <a:gd name="connsiteX4" fmla="*/ 68461 w 381422"/>
              <a:gd name="connsiteY4" fmla="*/ 141811 h 489000"/>
              <a:gd name="connsiteX5" fmla="*/ 68461 w 381422"/>
              <a:gd name="connsiteY5" fmla="*/ 134475 h 489000"/>
              <a:gd name="connsiteX6" fmla="*/ 68461 w 381422"/>
              <a:gd name="connsiteY6" fmla="*/ 264061 h 489000"/>
              <a:gd name="connsiteX7" fmla="*/ 312961 w 381422"/>
              <a:gd name="connsiteY7" fmla="*/ 264061 h 489000"/>
              <a:gd name="connsiteX8" fmla="*/ 312961 w 381422"/>
              <a:gd name="connsiteY8" fmla="*/ 249389 h 489000"/>
              <a:gd name="connsiteX9" fmla="*/ 68461 w 381422"/>
              <a:gd name="connsiteY9" fmla="*/ 249389 h 489000"/>
              <a:gd name="connsiteX10" fmla="*/ 68461 w 381422"/>
              <a:gd name="connsiteY10" fmla="*/ 264061 h 489000"/>
              <a:gd name="connsiteX11" fmla="*/ 68461 w 381422"/>
              <a:gd name="connsiteY11" fmla="*/ 202936 h 489000"/>
              <a:gd name="connsiteX12" fmla="*/ 312961 w 381422"/>
              <a:gd name="connsiteY12" fmla="*/ 202936 h 489000"/>
              <a:gd name="connsiteX13" fmla="*/ 312961 w 381422"/>
              <a:gd name="connsiteY13" fmla="*/ 188264 h 489000"/>
              <a:gd name="connsiteX14" fmla="*/ 68461 w 381422"/>
              <a:gd name="connsiteY14" fmla="*/ 188264 h 489000"/>
              <a:gd name="connsiteX15" fmla="*/ 68461 w 381422"/>
              <a:gd name="connsiteY15" fmla="*/ 202936 h 489000"/>
              <a:gd name="connsiteX16" fmla="*/ 68461 w 381422"/>
              <a:gd name="connsiteY16" fmla="*/ 325186 h 489000"/>
              <a:gd name="connsiteX17" fmla="*/ 312961 w 381422"/>
              <a:gd name="connsiteY17" fmla="*/ 325186 h 489000"/>
              <a:gd name="connsiteX18" fmla="*/ 312961 w 381422"/>
              <a:gd name="connsiteY18" fmla="*/ 310514 h 489000"/>
              <a:gd name="connsiteX19" fmla="*/ 68461 w 381422"/>
              <a:gd name="connsiteY19" fmla="*/ 310514 h 489000"/>
              <a:gd name="connsiteX20" fmla="*/ 68461 w 381422"/>
              <a:gd name="connsiteY20" fmla="*/ 325186 h 489000"/>
              <a:gd name="connsiteX21" fmla="*/ 68461 w 381422"/>
              <a:gd name="connsiteY21" fmla="*/ 386311 h 489000"/>
              <a:gd name="connsiteX22" fmla="*/ 190711 w 381422"/>
              <a:gd name="connsiteY22" fmla="*/ 386311 h 489000"/>
              <a:gd name="connsiteX23" fmla="*/ 190711 w 381422"/>
              <a:gd name="connsiteY23" fmla="*/ 371639 h 489000"/>
              <a:gd name="connsiteX24" fmla="*/ 68461 w 381422"/>
              <a:gd name="connsiteY24" fmla="*/ 371639 h 489000"/>
              <a:gd name="connsiteX25" fmla="*/ 68461 w 381422"/>
              <a:gd name="connsiteY25" fmla="*/ 386311 h 489000"/>
              <a:gd name="connsiteX26" fmla="*/ 381422 w 381422"/>
              <a:gd name="connsiteY26" fmla="*/ 56111 h 489000"/>
              <a:gd name="connsiteX27" fmla="*/ 381422 w 381422"/>
              <a:gd name="connsiteY27" fmla="*/ 457214 h 489000"/>
              <a:gd name="connsiteX28" fmla="*/ 349636 w 381422"/>
              <a:gd name="connsiteY28" fmla="*/ 489000 h 489000"/>
              <a:gd name="connsiteX29" fmla="*/ 31786 w 381422"/>
              <a:gd name="connsiteY29" fmla="*/ 489000 h 489000"/>
              <a:gd name="connsiteX30" fmla="*/ 0 w 381422"/>
              <a:gd name="connsiteY30" fmla="*/ 457214 h 489000"/>
              <a:gd name="connsiteX31" fmla="*/ 0 w 381422"/>
              <a:gd name="connsiteY31" fmla="*/ 56111 h 489000"/>
              <a:gd name="connsiteX32" fmla="*/ 31786 w 381422"/>
              <a:gd name="connsiteY32" fmla="*/ 24325 h 489000"/>
              <a:gd name="connsiteX33" fmla="*/ 91688 w 381422"/>
              <a:gd name="connsiteY33" fmla="*/ 24325 h 489000"/>
              <a:gd name="connsiteX34" fmla="*/ 91688 w 381422"/>
              <a:gd name="connsiteY34" fmla="*/ 19561 h 489000"/>
              <a:gd name="connsiteX35" fmla="*/ 111249 w 381422"/>
              <a:gd name="connsiteY35" fmla="*/ 0 h 489000"/>
              <a:gd name="connsiteX36" fmla="*/ 270174 w 381422"/>
              <a:gd name="connsiteY36" fmla="*/ 0 h 489000"/>
              <a:gd name="connsiteX37" fmla="*/ 289735 w 381422"/>
              <a:gd name="connsiteY37" fmla="*/ 19561 h 489000"/>
              <a:gd name="connsiteX38" fmla="*/ 289735 w 381422"/>
              <a:gd name="connsiteY38" fmla="*/ 24325 h 489000"/>
              <a:gd name="connsiteX39" fmla="*/ 349636 w 381422"/>
              <a:gd name="connsiteY39" fmla="*/ 24325 h 489000"/>
              <a:gd name="connsiteX40" fmla="*/ 381422 w 381422"/>
              <a:gd name="connsiteY40" fmla="*/ 56111 h 489000"/>
              <a:gd name="connsiteX41" fmla="*/ 106360 w 381422"/>
              <a:gd name="connsiteY41" fmla="*/ 48900 h 489000"/>
              <a:gd name="connsiteX42" fmla="*/ 275063 w 381422"/>
              <a:gd name="connsiteY42" fmla="*/ 48900 h 489000"/>
              <a:gd name="connsiteX43" fmla="*/ 275063 w 381422"/>
              <a:gd name="connsiteY43" fmla="*/ 19561 h 489000"/>
              <a:gd name="connsiteX44" fmla="*/ 270174 w 381422"/>
              <a:gd name="connsiteY44" fmla="*/ 14672 h 489000"/>
              <a:gd name="connsiteX45" fmla="*/ 111249 w 381422"/>
              <a:gd name="connsiteY45" fmla="*/ 14672 h 489000"/>
              <a:gd name="connsiteX46" fmla="*/ 106360 w 381422"/>
              <a:gd name="connsiteY46" fmla="*/ 19561 h 489000"/>
              <a:gd name="connsiteX47" fmla="*/ 106360 w 381422"/>
              <a:gd name="connsiteY47" fmla="*/ 48900 h 489000"/>
              <a:gd name="connsiteX48" fmla="*/ 366750 w 381422"/>
              <a:gd name="connsiteY48" fmla="*/ 56111 h 489000"/>
              <a:gd name="connsiteX49" fmla="*/ 349636 w 381422"/>
              <a:gd name="connsiteY49" fmla="*/ 38997 h 489000"/>
              <a:gd name="connsiteX50" fmla="*/ 289735 w 381422"/>
              <a:gd name="connsiteY50" fmla="*/ 38997 h 489000"/>
              <a:gd name="connsiteX51" fmla="*/ 289735 w 381422"/>
              <a:gd name="connsiteY51" fmla="*/ 56236 h 489000"/>
              <a:gd name="connsiteX52" fmla="*/ 282399 w 381422"/>
              <a:gd name="connsiteY52" fmla="*/ 63572 h 489000"/>
              <a:gd name="connsiteX53" fmla="*/ 99024 w 381422"/>
              <a:gd name="connsiteY53" fmla="*/ 63572 h 489000"/>
              <a:gd name="connsiteX54" fmla="*/ 91688 w 381422"/>
              <a:gd name="connsiteY54" fmla="*/ 56236 h 489000"/>
              <a:gd name="connsiteX55" fmla="*/ 91688 w 381422"/>
              <a:gd name="connsiteY55" fmla="*/ 38997 h 489000"/>
              <a:gd name="connsiteX56" fmla="*/ 31786 w 381422"/>
              <a:gd name="connsiteY56" fmla="*/ 38997 h 489000"/>
              <a:gd name="connsiteX57" fmla="*/ 14672 w 381422"/>
              <a:gd name="connsiteY57" fmla="*/ 56111 h 489000"/>
              <a:gd name="connsiteX58" fmla="*/ 14672 w 381422"/>
              <a:gd name="connsiteY58" fmla="*/ 457214 h 489000"/>
              <a:gd name="connsiteX59" fmla="*/ 31786 w 381422"/>
              <a:gd name="connsiteY59" fmla="*/ 474328 h 489000"/>
              <a:gd name="connsiteX60" fmla="*/ 349636 w 381422"/>
              <a:gd name="connsiteY60" fmla="*/ 474328 h 489000"/>
              <a:gd name="connsiteX61" fmla="*/ 366750 w 381422"/>
              <a:gd name="connsiteY61" fmla="*/ 457214 h 489000"/>
              <a:gd name="connsiteX62" fmla="*/ 366750 w 381422"/>
              <a:gd name="connsiteY62" fmla="*/ 56111 h 4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81422" h="489000">
                <a:moveTo>
                  <a:pt x="68461" y="134475"/>
                </a:moveTo>
                <a:lnTo>
                  <a:pt x="68461" y="127139"/>
                </a:lnTo>
                <a:lnTo>
                  <a:pt x="312961" y="127139"/>
                </a:lnTo>
                <a:lnTo>
                  <a:pt x="312961" y="141811"/>
                </a:lnTo>
                <a:lnTo>
                  <a:pt x="68461" y="141811"/>
                </a:lnTo>
                <a:lnTo>
                  <a:pt x="68461" y="134475"/>
                </a:lnTo>
                <a:close/>
                <a:moveTo>
                  <a:pt x="68461" y="264061"/>
                </a:moveTo>
                <a:lnTo>
                  <a:pt x="312961" y="264061"/>
                </a:lnTo>
                <a:lnTo>
                  <a:pt x="312961" y="249389"/>
                </a:lnTo>
                <a:lnTo>
                  <a:pt x="68461" y="249389"/>
                </a:lnTo>
                <a:lnTo>
                  <a:pt x="68461" y="264061"/>
                </a:lnTo>
                <a:close/>
                <a:moveTo>
                  <a:pt x="68461" y="202936"/>
                </a:moveTo>
                <a:lnTo>
                  <a:pt x="312961" y="202936"/>
                </a:lnTo>
                <a:lnTo>
                  <a:pt x="312961" y="188264"/>
                </a:lnTo>
                <a:lnTo>
                  <a:pt x="68461" y="188264"/>
                </a:lnTo>
                <a:lnTo>
                  <a:pt x="68461" y="202936"/>
                </a:lnTo>
                <a:close/>
                <a:moveTo>
                  <a:pt x="68461" y="325186"/>
                </a:moveTo>
                <a:lnTo>
                  <a:pt x="312961" y="325186"/>
                </a:lnTo>
                <a:lnTo>
                  <a:pt x="312961" y="310514"/>
                </a:lnTo>
                <a:lnTo>
                  <a:pt x="68461" y="310514"/>
                </a:lnTo>
                <a:lnTo>
                  <a:pt x="68461" y="325186"/>
                </a:lnTo>
                <a:close/>
                <a:moveTo>
                  <a:pt x="68461" y="386311"/>
                </a:moveTo>
                <a:lnTo>
                  <a:pt x="190711" y="386311"/>
                </a:lnTo>
                <a:lnTo>
                  <a:pt x="190711" y="371639"/>
                </a:lnTo>
                <a:lnTo>
                  <a:pt x="68461" y="371639"/>
                </a:lnTo>
                <a:lnTo>
                  <a:pt x="68461" y="386311"/>
                </a:lnTo>
                <a:close/>
                <a:moveTo>
                  <a:pt x="381422" y="56111"/>
                </a:moveTo>
                <a:lnTo>
                  <a:pt x="381422" y="457214"/>
                </a:lnTo>
                <a:cubicBezTo>
                  <a:pt x="381422" y="474740"/>
                  <a:pt x="367162" y="489000"/>
                  <a:pt x="349636" y="489000"/>
                </a:cubicBezTo>
                <a:lnTo>
                  <a:pt x="31786" y="489000"/>
                </a:lnTo>
                <a:cubicBezTo>
                  <a:pt x="14260" y="489000"/>
                  <a:pt x="0" y="474740"/>
                  <a:pt x="0" y="457214"/>
                </a:cubicBezTo>
                <a:lnTo>
                  <a:pt x="0" y="56111"/>
                </a:lnTo>
                <a:cubicBezTo>
                  <a:pt x="0" y="38585"/>
                  <a:pt x="14260" y="24325"/>
                  <a:pt x="31786" y="24325"/>
                </a:cubicBezTo>
                <a:lnTo>
                  <a:pt x="91688" y="24325"/>
                </a:lnTo>
                <a:lnTo>
                  <a:pt x="91688" y="19561"/>
                </a:lnTo>
                <a:cubicBezTo>
                  <a:pt x="91688" y="8775"/>
                  <a:pt x="100462" y="0"/>
                  <a:pt x="111249" y="0"/>
                </a:cubicBezTo>
                <a:lnTo>
                  <a:pt x="270174" y="0"/>
                </a:lnTo>
                <a:cubicBezTo>
                  <a:pt x="280960" y="0"/>
                  <a:pt x="289735" y="8774"/>
                  <a:pt x="289735" y="19561"/>
                </a:cubicBezTo>
                <a:lnTo>
                  <a:pt x="289735" y="24325"/>
                </a:lnTo>
                <a:lnTo>
                  <a:pt x="349636" y="24325"/>
                </a:lnTo>
                <a:cubicBezTo>
                  <a:pt x="367162" y="24325"/>
                  <a:pt x="381422" y="38585"/>
                  <a:pt x="381422" y="56111"/>
                </a:cubicBezTo>
                <a:close/>
                <a:moveTo>
                  <a:pt x="106360" y="48900"/>
                </a:moveTo>
                <a:lnTo>
                  <a:pt x="275063" y="48900"/>
                </a:lnTo>
                <a:lnTo>
                  <a:pt x="275063" y="19561"/>
                </a:lnTo>
                <a:cubicBezTo>
                  <a:pt x="275063" y="16866"/>
                  <a:pt x="272872" y="14672"/>
                  <a:pt x="270174" y="14672"/>
                </a:cubicBezTo>
                <a:lnTo>
                  <a:pt x="111249" y="14672"/>
                </a:lnTo>
                <a:cubicBezTo>
                  <a:pt x="108551" y="14672"/>
                  <a:pt x="106360" y="16866"/>
                  <a:pt x="106360" y="19561"/>
                </a:cubicBezTo>
                <a:lnTo>
                  <a:pt x="106360" y="48900"/>
                </a:lnTo>
                <a:close/>
                <a:moveTo>
                  <a:pt x="366750" y="56111"/>
                </a:moveTo>
                <a:cubicBezTo>
                  <a:pt x="366750" y="46674"/>
                  <a:pt x="359073" y="38997"/>
                  <a:pt x="349636" y="38997"/>
                </a:cubicBezTo>
                <a:lnTo>
                  <a:pt x="289735" y="38997"/>
                </a:lnTo>
                <a:lnTo>
                  <a:pt x="289735" y="56236"/>
                </a:lnTo>
                <a:cubicBezTo>
                  <a:pt x="289735" y="60286"/>
                  <a:pt x="286452" y="63572"/>
                  <a:pt x="282399" y="63572"/>
                </a:cubicBezTo>
                <a:lnTo>
                  <a:pt x="99024" y="63572"/>
                </a:lnTo>
                <a:cubicBezTo>
                  <a:pt x="94971" y="63572"/>
                  <a:pt x="91688" y="60286"/>
                  <a:pt x="91688" y="56236"/>
                </a:cubicBezTo>
                <a:lnTo>
                  <a:pt x="91688" y="38997"/>
                </a:lnTo>
                <a:lnTo>
                  <a:pt x="31786" y="38997"/>
                </a:lnTo>
                <a:cubicBezTo>
                  <a:pt x="22349" y="38997"/>
                  <a:pt x="14672" y="46674"/>
                  <a:pt x="14672" y="56111"/>
                </a:cubicBezTo>
                <a:lnTo>
                  <a:pt x="14672" y="457214"/>
                </a:lnTo>
                <a:cubicBezTo>
                  <a:pt x="14672" y="466651"/>
                  <a:pt x="22349" y="474328"/>
                  <a:pt x="31786" y="474328"/>
                </a:cubicBezTo>
                <a:lnTo>
                  <a:pt x="349636" y="474328"/>
                </a:lnTo>
                <a:cubicBezTo>
                  <a:pt x="359073" y="474328"/>
                  <a:pt x="366750" y="466651"/>
                  <a:pt x="366750" y="457214"/>
                </a:cubicBezTo>
                <a:lnTo>
                  <a:pt x="366750" y="56111"/>
                </a:lnTo>
                <a:close/>
              </a:path>
            </a:pathLst>
          </a:custGeom>
          <a:solidFill>
            <a:srgbClr val="765FFF"/>
          </a:solidFill>
          <a:ln w="0" cap="flat">
            <a:solidFill>
              <a:srgbClr val="765FFF"/>
            </a:solidFill>
            <a:prstDash val="solid"/>
            <a:miter/>
          </a:ln>
        </p:spPr>
        <p:txBody>
          <a:bodyPr lIns="91440" tIns="45720" rIns="91440" bIns="45720" rtlCol="0" anchor="ctr"/>
          <a:lstStyle/>
          <a:p>
            <a:pPr marL="0" marR="0" lvl="0" indent="0" algn="l"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pic>
        <p:nvPicPr>
          <p:cNvPr id="12" name="Graphic 38" descr="Blockchain outline">
            <a:extLst>
              <a:ext uri="{FF2B5EF4-FFF2-40B4-BE49-F238E27FC236}">
                <a16:creationId xmlns:a16="http://schemas.microsoft.com/office/drawing/2014/main" id="{C12905C4-A1A2-99FB-8170-205BEEE74566}"/>
              </a:ext>
            </a:extLst>
          </p:cNvPr>
          <p:cNvPicPr>
            <a:picLocks noChangeAspect="1"/>
          </p:cNvPicPr>
          <p:nvPr/>
        </p:nvPicPr>
        <p:blipFill>
          <a:blip r:embed="rId2">
            <a:duotone>
              <a:srgbClr val="765FFF"/>
              <a:srgbClr val="FFFFFF"/>
            </a:duotone>
          </a:blip>
          <a:stretch>
            <a:fillRect/>
          </a:stretch>
        </p:blipFill>
        <p:spPr>
          <a:xfrm>
            <a:off x="7026141" y="2798437"/>
            <a:ext cx="455567" cy="455567"/>
          </a:xfrm>
          <a:prstGeom prst="rect">
            <a:avLst/>
          </a:prstGeom>
        </p:spPr>
      </p:pic>
      <p:cxnSp>
        <p:nvCxnSpPr>
          <p:cNvPr id="13" name="Straight Arrow Connector 12">
            <a:extLst>
              <a:ext uri="{FF2B5EF4-FFF2-40B4-BE49-F238E27FC236}">
                <a16:creationId xmlns:a16="http://schemas.microsoft.com/office/drawing/2014/main" id="{DACB0810-B7A3-C1A9-47B5-C9225E15EA96}"/>
              </a:ext>
            </a:extLst>
          </p:cNvPr>
          <p:cNvCxnSpPr>
            <a:cxnSpLocks/>
          </p:cNvCxnSpPr>
          <p:nvPr/>
        </p:nvCxnSpPr>
        <p:spPr>
          <a:xfrm>
            <a:off x="732579" y="3759339"/>
            <a:ext cx="6619045" cy="0"/>
          </a:xfrm>
          <a:prstGeom prst="straightConnector1">
            <a:avLst/>
          </a:prstGeom>
          <a:ln w="9525">
            <a:solidFill>
              <a:srgbClr val="F2F2F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92D5E3F-F2D3-DC80-0C75-72AD961F3028}"/>
              </a:ext>
            </a:extLst>
          </p:cNvPr>
          <p:cNvSpPr txBox="1"/>
          <p:nvPr/>
        </p:nvSpPr>
        <p:spPr>
          <a:xfrm>
            <a:off x="1104406" y="3621806"/>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Light" panose="020B0604020202020204" charset="0"/>
              </a:rPr>
              <a:t>Step 1</a:t>
            </a:r>
          </a:p>
        </p:txBody>
      </p:sp>
      <p:sp>
        <p:nvSpPr>
          <p:cNvPr id="15" name="Rectangle: Rounded Corners 2">
            <a:extLst>
              <a:ext uri="{FF2B5EF4-FFF2-40B4-BE49-F238E27FC236}">
                <a16:creationId xmlns:a16="http://schemas.microsoft.com/office/drawing/2014/main" id="{70B8F255-48F0-5E6B-3322-8835EB4F4BCA}"/>
              </a:ext>
            </a:extLst>
          </p:cNvPr>
          <p:cNvSpPr/>
          <p:nvPr/>
        </p:nvSpPr>
        <p:spPr>
          <a:xfrm>
            <a:off x="8039738" y="1515572"/>
            <a:ext cx="3854769" cy="4809121"/>
          </a:xfrm>
          <a:prstGeom prst="roundRect">
            <a:avLst/>
          </a:prstGeom>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6" name="Straight Connector 15">
            <a:extLst>
              <a:ext uri="{FF2B5EF4-FFF2-40B4-BE49-F238E27FC236}">
                <a16:creationId xmlns:a16="http://schemas.microsoft.com/office/drawing/2014/main" id="{C505AD3B-D5CD-198A-FBE9-5C10C4564B6F}"/>
              </a:ext>
            </a:extLst>
          </p:cNvPr>
          <p:cNvCxnSpPr>
            <a:cxnSpLocks/>
          </p:cNvCxnSpPr>
          <p:nvPr/>
        </p:nvCxnSpPr>
        <p:spPr>
          <a:xfrm>
            <a:off x="8053928" y="1427207"/>
            <a:ext cx="413807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0A384D4-3F77-F5AD-4D15-FA04D41BA18A}"/>
              </a:ext>
            </a:extLst>
          </p:cNvPr>
          <p:cNvSpPr txBox="1"/>
          <p:nvPr/>
        </p:nvSpPr>
        <p:spPr>
          <a:xfrm>
            <a:off x="9039020" y="1027097"/>
            <a:ext cx="2620489" cy="400110"/>
          </a:xfrm>
          <a:prstGeom prst="rect">
            <a:avLst/>
          </a:prstGeom>
          <a:noFill/>
        </p:spPr>
        <p:txBody>
          <a:bodyPr wrap="square" lIns="91440" tIns="45720" rIns="91440" bIns="45720">
            <a:spAutoFit/>
          </a:bodyPr>
          <a:lstStyle/>
          <a:p>
            <a:pPr marL="0" marR="0" lvl="0" indent="0" algn="l" defTabSz="609585"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a:ln>
                  <a:noFill/>
                </a:ln>
                <a:effectLst/>
                <a:uLnTx/>
                <a:uFillTx/>
                <a:latin typeface="Segoe UI" pitchFamily="34" charset="0"/>
                <a:ea typeface="Helvetica Neue" panose="02000503000000020004" pitchFamily="2" charset="0"/>
                <a:cs typeface="Helvetica Neue Light" panose="020B0604020202020204" charset="0"/>
              </a:rPr>
              <a:t>Deliverables</a:t>
            </a:r>
          </a:p>
        </p:txBody>
      </p:sp>
      <p:sp>
        <p:nvSpPr>
          <p:cNvPr id="18" name="Rectangle: Rounded Corners 24">
            <a:extLst>
              <a:ext uri="{FF2B5EF4-FFF2-40B4-BE49-F238E27FC236}">
                <a16:creationId xmlns:a16="http://schemas.microsoft.com/office/drawing/2014/main" id="{9953F044-3676-D3F1-B9FD-CB56B357EE76}"/>
              </a:ext>
            </a:extLst>
          </p:cNvPr>
          <p:cNvSpPr/>
          <p:nvPr/>
        </p:nvSpPr>
        <p:spPr>
          <a:xfrm>
            <a:off x="8302874" y="1840013"/>
            <a:ext cx="3486175" cy="3576855"/>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04792" marR="0" lvl="0" indent="-304792" algn="l" defTabSz="81276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0" cap="none" spc="-10" normalizeH="0" baseline="0" noProof="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p:txBody>
      </p:sp>
      <p:sp>
        <p:nvSpPr>
          <p:cNvPr id="19" name="TextBox 18">
            <a:extLst>
              <a:ext uri="{FF2B5EF4-FFF2-40B4-BE49-F238E27FC236}">
                <a16:creationId xmlns:a16="http://schemas.microsoft.com/office/drawing/2014/main" id="{77BF2D15-3DE8-3012-D3F9-A34BF87F99AB}"/>
              </a:ext>
            </a:extLst>
          </p:cNvPr>
          <p:cNvSpPr txBox="1"/>
          <p:nvPr/>
        </p:nvSpPr>
        <p:spPr>
          <a:xfrm>
            <a:off x="2368275" y="3621806"/>
            <a:ext cx="708084"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2</a:t>
            </a:r>
          </a:p>
        </p:txBody>
      </p:sp>
      <p:sp>
        <p:nvSpPr>
          <p:cNvPr id="20" name="TextBox 19">
            <a:extLst>
              <a:ext uri="{FF2B5EF4-FFF2-40B4-BE49-F238E27FC236}">
                <a16:creationId xmlns:a16="http://schemas.microsoft.com/office/drawing/2014/main" id="{9DC53F1B-F46A-AE1C-AE01-8D48D6C95B7E}"/>
              </a:ext>
            </a:extLst>
          </p:cNvPr>
          <p:cNvSpPr txBox="1"/>
          <p:nvPr/>
        </p:nvSpPr>
        <p:spPr>
          <a:xfrm>
            <a:off x="3683201" y="3614801"/>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3</a:t>
            </a:r>
          </a:p>
        </p:txBody>
      </p:sp>
      <p:graphicFrame>
        <p:nvGraphicFramePr>
          <p:cNvPr id="21" name="Table 20">
            <a:extLst>
              <a:ext uri="{FF2B5EF4-FFF2-40B4-BE49-F238E27FC236}">
                <a16:creationId xmlns:a16="http://schemas.microsoft.com/office/drawing/2014/main" id="{0EF5BB60-6E3D-B7F2-E8D5-EB2E8FA984A9}"/>
              </a:ext>
            </a:extLst>
          </p:cNvPr>
          <p:cNvGraphicFramePr>
            <a:graphicFrameLocks noGrp="1"/>
          </p:cNvGraphicFramePr>
          <p:nvPr>
            <p:extLst>
              <p:ext uri="{D42A27DB-BD31-4B8C-83A1-F6EECF244321}">
                <p14:modId xmlns:p14="http://schemas.microsoft.com/office/powerpoint/2010/main" val="2510571135"/>
              </p:ext>
            </p:extLst>
          </p:nvPr>
        </p:nvGraphicFramePr>
        <p:xfrm>
          <a:off x="720857" y="4178636"/>
          <a:ext cx="6745110" cy="2105819"/>
        </p:xfrm>
        <a:graphic>
          <a:graphicData uri="http://schemas.openxmlformats.org/drawingml/2006/table">
            <a:tbl>
              <a:tblPr firstRow="1" bandRow="1">
                <a:tableStyleId>{69012ECD-51FC-41F1-AA8D-1B2483CD663E}</a:tableStyleId>
              </a:tblPr>
              <a:tblGrid>
                <a:gridCol w="1353806">
                  <a:extLst>
                    <a:ext uri="{9D8B030D-6E8A-4147-A177-3AD203B41FA5}">
                      <a16:colId xmlns:a16="http://schemas.microsoft.com/office/drawing/2014/main" val="639335632"/>
                    </a:ext>
                  </a:extLst>
                </a:gridCol>
                <a:gridCol w="1262517">
                  <a:extLst>
                    <a:ext uri="{9D8B030D-6E8A-4147-A177-3AD203B41FA5}">
                      <a16:colId xmlns:a16="http://schemas.microsoft.com/office/drawing/2014/main" val="1287033572"/>
                    </a:ext>
                  </a:extLst>
                </a:gridCol>
                <a:gridCol w="1430853">
                  <a:extLst>
                    <a:ext uri="{9D8B030D-6E8A-4147-A177-3AD203B41FA5}">
                      <a16:colId xmlns:a16="http://schemas.microsoft.com/office/drawing/2014/main" val="1655344151"/>
                    </a:ext>
                  </a:extLst>
                </a:gridCol>
                <a:gridCol w="1412149">
                  <a:extLst>
                    <a:ext uri="{9D8B030D-6E8A-4147-A177-3AD203B41FA5}">
                      <a16:colId xmlns:a16="http://schemas.microsoft.com/office/drawing/2014/main" val="1278771052"/>
                    </a:ext>
                  </a:extLst>
                </a:gridCol>
                <a:gridCol w="1285785">
                  <a:extLst>
                    <a:ext uri="{9D8B030D-6E8A-4147-A177-3AD203B41FA5}">
                      <a16:colId xmlns:a16="http://schemas.microsoft.com/office/drawing/2014/main" val="1307993032"/>
                    </a:ext>
                  </a:extLst>
                </a:gridCol>
              </a:tblGrid>
              <a:tr h="820024">
                <a:tc>
                  <a:txBody>
                    <a:bodyPr/>
                    <a:lstStyle/>
                    <a:p>
                      <a:pPr algn="ctr"/>
                      <a:r>
                        <a:rPr lang="en-US" sz="1050" b="1">
                          <a:solidFill>
                            <a:srgbClr val="FFFFFF"/>
                          </a:solidFill>
                        </a:rPr>
                        <a:t>ANALYZE </a:t>
                      </a:r>
                    </a:p>
                    <a:p>
                      <a:pPr marL="0" marR="0" lvl="0" indent="0" algn="ctr" defTabSz="914377" rtl="0" eaLnBrk="1" fontAlgn="auto" latinLnBrk="0" hangingPunct="1">
                        <a:lnSpc>
                          <a:spcPct val="100000"/>
                        </a:lnSpc>
                        <a:spcBef>
                          <a:spcPts val="0"/>
                        </a:spcBef>
                        <a:spcAft>
                          <a:spcPts val="0"/>
                        </a:spcAft>
                        <a:buClrTx/>
                        <a:buSzTx/>
                        <a:buFontTx/>
                        <a:buNone/>
                        <a:tabLst/>
                        <a:defRPr sz="1200" b="1">
                          <a:solidFill>
                            <a:srgbClr val="FFFFFF"/>
                          </a:solidFill>
                          <a:latin typeface="Arial" pitchFamily="34" charset="0"/>
                        </a:defRPr>
                      </a:pPr>
                      <a:r>
                        <a:rPr lang="en-US" sz="1050" b="1">
                          <a:solidFill>
                            <a:srgbClr val="FFFFFF"/>
                          </a:solidFill>
                        </a:rPr>
                        <a:t>MATERIALS + INTAKE</a:t>
                      </a:r>
                      <a:br>
                        <a:rPr lang="en-US" sz="1050" b="1">
                          <a:solidFill>
                            <a:srgbClr val="FFFFFF"/>
                          </a:solidFill>
                        </a:rPr>
                      </a:br>
                      <a:r>
                        <a:rPr lang="en-US" sz="1050" b="1">
                          <a:solidFill>
                            <a:srgbClr val="FFFFFF"/>
                          </a:solidFill>
                        </a:rPr>
                        <a:t>INTERVIEWS</a:t>
                      </a:r>
                      <a:endParaRPr lang="en-US" sz="1050" b="1">
                        <a:solidFill>
                          <a:srgbClr val="FFFFFF"/>
                        </a:solidFill>
                        <a:latin typeface="Arial" pitchFamily="34" charset="0"/>
                        <a:cs typeface="Helvetica Neue" panose="020B0604020202020204" charset="0"/>
                      </a:endParaRPr>
                    </a:p>
                  </a:txBody>
                  <a:tcPr anchor="ctr"/>
                </a:tc>
                <a:tc>
                  <a:txBody>
                    <a:bodyPr/>
                    <a:lstStyle/>
                    <a:p>
                      <a:pPr algn="ctr"/>
                      <a:r>
                        <a:rPr lang="en-US" sz="1050" b="1" dirty="0">
                          <a:solidFill>
                            <a:srgbClr val="FFFFFF"/>
                          </a:solidFill>
                        </a:rPr>
                        <a:t>HOTSPOTS + RISKS</a:t>
                      </a:r>
                      <a:endParaRPr lang="en-US" sz="1050" b="1" dirty="0">
                        <a:solidFill>
                          <a:srgbClr val="FFFFFF"/>
                        </a:solidFill>
                        <a:latin typeface="Arial" pitchFamily="34" charset="0"/>
                        <a:cs typeface="Helvetica Neue" panose="020B0604020202020204" charset="0"/>
                      </a:endParaRPr>
                    </a:p>
                  </a:txBody>
                  <a:tcPr anchor="ctr"/>
                </a:tc>
                <a:tc>
                  <a:txBody>
                    <a:bodyPr/>
                    <a:lstStyle/>
                    <a:p>
                      <a:pPr algn="ctr"/>
                      <a:r>
                        <a:rPr lang="en-US" sz="1050" b="1">
                          <a:solidFill>
                            <a:srgbClr val="FFFFFF"/>
                          </a:solidFill>
                        </a:rPr>
                        <a:t>OPERATING MODEL CHOICES</a:t>
                      </a:r>
                      <a:endParaRPr lang="en-US" sz="1050" b="1">
                        <a:solidFill>
                          <a:srgbClr val="FFFFFF"/>
                        </a:solidFill>
                        <a:latin typeface="Arial" pitchFamily="34" charset="0"/>
                        <a:cs typeface="Helvetica Neue" panose="020B0604020202020204" charset="0"/>
                      </a:endParaRP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sz="1200" b="1">
                          <a:solidFill>
                            <a:srgbClr val="FFFFFF"/>
                          </a:solidFill>
                          <a:latin typeface="Arial" pitchFamily="34" charset="0"/>
                        </a:defRPr>
                      </a:pPr>
                      <a:r>
                        <a:rPr lang="en-US" sz="1050" b="1">
                          <a:solidFill>
                            <a:srgbClr val="FFFFFF"/>
                          </a:solidFill>
                        </a:rPr>
                        <a:t>OPERATING MODEL ACTIVATION </a:t>
                      </a:r>
                      <a:endParaRPr lang="en-US" sz="1050" b="1">
                        <a:solidFill>
                          <a:srgbClr val="FFFFFF"/>
                        </a:solidFill>
                        <a:latin typeface="Arial" pitchFamily="34" charset="0"/>
                        <a:cs typeface="Helvetica Neue" panose="020B0604020202020204" charset="0"/>
                      </a:endParaRPr>
                    </a:p>
                  </a:txBody>
                  <a:tcPr anchor="ctr"/>
                </a:tc>
                <a:tc>
                  <a:txBody>
                    <a:bodyPr/>
                    <a:lstStyle/>
                    <a:p>
                      <a:pPr algn="ctr"/>
                      <a:r>
                        <a:rPr lang="en-US" sz="1050" b="1" dirty="0">
                          <a:solidFill>
                            <a:srgbClr val="FFFFFF"/>
                          </a:solidFill>
                        </a:rPr>
                        <a:t>ENABLING PLAN +  READOUT</a:t>
                      </a:r>
                      <a:endParaRPr lang="en-US" sz="1050" b="1" dirty="0">
                        <a:solidFill>
                          <a:srgbClr val="FFFFFF"/>
                        </a:solidFill>
                        <a:latin typeface="Arial" pitchFamily="34" charset="0"/>
                        <a:cs typeface="Helvetica Neue" panose="020B0604020202020204" charset="0"/>
                      </a:endParaRPr>
                    </a:p>
                  </a:txBody>
                  <a:tcPr anchor="ctr"/>
                </a:tc>
                <a:extLst>
                  <a:ext uri="{0D108BD9-81ED-4DB2-BD59-A6C34878D82A}">
                    <a16:rowId xmlns:a16="http://schemas.microsoft.com/office/drawing/2014/main" val="2283789029"/>
                  </a:ext>
                </a:extLst>
              </a:tr>
              <a:tr h="553605">
                <a:tc rowSpan="2">
                  <a:txBody>
                    <a:bodyPr/>
                    <a:lstStyle/>
                    <a:p>
                      <a:pPr algn="ctr"/>
                      <a:r>
                        <a:rPr lang="en-US" sz="1050" dirty="0">
                          <a:solidFill>
                            <a:schemeClr val="tx1"/>
                          </a:solidFill>
                        </a:rPr>
                        <a:t>Strategy </a:t>
                      </a:r>
                    </a:p>
                    <a:p>
                      <a:pPr algn="ctr"/>
                      <a:r>
                        <a:rPr lang="en-US" sz="1050" dirty="0">
                          <a:solidFill>
                            <a:schemeClr val="tx1"/>
                          </a:solidFill>
                          <a:sym typeface="+mn-lt"/>
                        </a:rPr>
                        <a:t>• </a:t>
                      </a:r>
                      <a:r>
                        <a:rPr lang="en-US" sz="1050" kern="1200" dirty="0">
                          <a:solidFill>
                            <a:schemeClr val="tx1"/>
                          </a:solidFill>
                        </a:rPr>
                        <a:t>Structure </a:t>
                      </a:r>
                      <a:r>
                        <a:rPr lang="en-US" sz="1050" dirty="0">
                          <a:solidFill>
                            <a:schemeClr val="tx1"/>
                          </a:solidFill>
                          <a:sym typeface="+mn-lt"/>
                        </a:rPr>
                        <a:t>•</a:t>
                      </a:r>
                      <a:r>
                        <a:rPr lang="en-US" sz="1050" dirty="0">
                          <a:solidFill>
                            <a:schemeClr val="tx1"/>
                          </a:solidFill>
                        </a:rPr>
                        <a:t> </a:t>
                      </a:r>
                    </a:p>
                    <a:p>
                      <a:pPr algn="ctr"/>
                      <a:r>
                        <a:rPr lang="en-US" sz="1050" kern="1200" dirty="0">
                          <a:solidFill>
                            <a:schemeClr val="tx1"/>
                          </a:solidFill>
                        </a:rPr>
                        <a:t>CEO </a:t>
                      </a:r>
                      <a:r>
                        <a:rPr lang="en-US" sz="1050" kern="1200" dirty="0">
                          <a:solidFill>
                            <a:schemeClr val="tx1"/>
                          </a:solidFill>
                          <a:sym typeface="+mn-lt"/>
                        </a:rPr>
                        <a:t>• </a:t>
                      </a:r>
                      <a:r>
                        <a:rPr lang="en-US" sz="1050" kern="1200" dirty="0">
                          <a:solidFill>
                            <a:schemeClr val="tx1"/>
                          </a:solidFill>
                        </a:rPr>
                        <a:t>CHRO</a:t>
                      </a:r>
                    </a:p>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050" kern="1200" dirty="0">
                        <a:solidFill>
                          <a:schemeClr val="tx1"/>
                        </a:solidFill>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050" kern="1200" dirty="0">
                        <a:solidFill>
                          <a:schemeClr val="tx1"/>
                        </a:solidFill>
                      </a:endParaRP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Virtual</a:t>
                      </a:r>
                      <a:endParaRPr lang="en-US" sz="1050" kern="1200" dirty="0">
                        <a:solidFill>
                          <a:schemeClr val="tx1"/>
                        </a:solidFill>
                        <a:latin typeface="Arial" pitchFamily="34" charset="0"/>
                        <a:ea typeface="+mn-ea"/>
                        <a:cs typeface="Helvetica Neue" panose="020B0604020202020204" charset="0"/>
                      </a:endParaRPr>
                    </a:p>
                  </a:txBody>
                  <a:tcPr/>
                </a:tc>
                <a:tc>
                  <a:txBody>
                    <a:bodyPr/>
                    <a:lstStyle/>
                    <a:p>
                      <a:pPr algn="ctr"/>
                      <a:r>
                        <a:rPr lang="en-US" sz="1050" kern="1200">
                          <a:solidFill>
                            <a:schemeClr val="tx1"/>
                          </a:solidFill>
                        </a:rPr>
                        <a:t>Value Hotspots </a:t>
                      </a:r>
                      <a:r>
                        <a:rPr lang="en-US" sz="1050" kern="1200">
                          <a:solidFill>
                            <a:schemeClr val="tx1"/>
                          </a:solidFill>
                          <a:sym typeface="+mn-lt"/>
                        </a:rPr>
                        <a:t>• Work risks • Risk patterns</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050" b="0" u="none" strike="noStrike" kern="1200" cap="none" spc="0" normalizeH="0" baseline="0" noProof="0">
                          <a:ln>
                            <a:noFill/>
                          </a:ln>
                          <a:solidFill>
                            <a:schemeClr val="tx1"/>
                          </a:solidFill>
                          <a:effectLst/>
                          <a:uLnTx/>
                          <a:uFillTx/>
                        </a:rPr>
                        <a:t>Design Principles </a:t>
                      </a:r>
                    </a:p>
                    <a:p>
                      <a:pPr algn="ctr"/>
                      <a:r>
                        <a:rPr kumimoji="0" lang="en-US" sz="1050" b="0" u="none" strike="noStrike" kern="1200" cap="none" spc="0" normalizeH="0" baseline="0" noProof="0">
                          <a:ln>
                            <a:noFill/>
                          </a:ln>
                          <a:solidFill>
                            <a:schemeClr val="tx1"/>
                          </a:solidFill>
                          <a:effectLst/>
                          <a:uLnTx/>
                          <a:uFillTx/>
                          <a:sym typeface="+mn-lt"/>
                        </a:rPr>
                        <a:t>• Interfaces </a:t>
                      </a:r>
                      <a:r>
                        <a:rPr lang="en-US" sz="1050" kern="1200">
                          <a:solidFill>
                            <a:schemeClr val="tx1"/>
                          </a:solidFill>
                          <a:sym typeface="+mn-lt"/>
                        </a:rPr>
                        <a:t>• </a:t>
                      </a:r>
                    </a:p>
                    <a:p>
                      <a:pPr algn="ctr"/>
                      <a:r>
                        <a:rPr lang="en-US" sz="1050" kern="1200">
                          <a:solidFill>
                            <a:schemeClr val="tx1"/>
                          </a:solidFill>
                        </a:rPr>
                        <a:t>Choices </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050" b="0" u="none" strike="noStrike" kern="1200" cap="none" spc="0" normalizeH="0" baseline="0" noProof="0">
                          <a:ln>
                            <a:noFill/>
                          </a:ln>
                          <a:solidFill>
                            <a:schemeClr val="tx1"/>
                          </a:solidFill>
                          <a:effectLst/>
                          <a:uLnTx/>
                          <a:uFillTx/>
                        </a:rPr>
                        <a:t>Confirm choice </a:t>
                      </a:r>
                      <a:r>
                        <a:rPr kumimoji="0" lang="en-US" sz="1050" b="0" u="none" strike="noStrike" kern="1200" cap="none" spc="0" normalizeH="0" baseline="0" noProof="0">
                          <a:ln>
                            <a:noFill/>
                          </a:ln>
                          <a:solidFill>
                            <a:schemeClr val="tx1"/>
                          </a:solidFill>
                          <a:effectLst/>
                          <a:uLnTx/>
                          <a:uFillTx/>
                          <a:sym typeface="+mn-lt"/>
                        </a:rPr>
                        <a:t>• </a:t>
                      </a:r>
                      <a:r>
                        <a:rPr kumimoji="0" lang="en-US" sz="1050" b="0" u="none" strike="noStrike" kern="1200" cap="none" spc="0" normalizeH="0" baseline="0" noProof="0">
                          <a:ln>
                            <a:noFill/>
                          </a:ln>
                          <a:solidFill>
                            <a:schemeClr val="tx1"/>
                          </a:solidFill>
                          <a:effectLst/>
                          <a:uLnTx/>
                          <a:uFillTx/>
                        </a:rPr>
                        <a:t>Decision rights </a:t>
                      </a:r>
                      <a:r>
                        <a:rPr kumimoji="0" lang="en-US" sz="1050" b="0" u="none" strike="noStrike" kern="1200" cap="none" spc="0" normalizeH="0" baseline="0" noProof="0">
                          <a:ln>
                            <a:noFill/>
                          </a:ln>
                          <a:solidFill>
                            <a:schemeClr val="tx1"/>
                          </a:solidFill>
                          <a:effectLst/>
                          <a:uLnTx/>
                          <a:uFillTx/>
                          <a:sym typeface="+mn-lt"/>
                        </a:rPr>
                        <a:t>• </a:t>
                      </a:r>
                      <a:endParaRPr kumimoji="0" lang="en-US" sz="1050" b="0" u="none" strike="noStrike" kern="1200" cap="none" spc="0" normalizeH="0" baseline="0" noProof="0">
                        <a:ln>
                          <a:noFill/>
                        </a:ln>
                        <a:solidFill>
                          <a:schemeClr val="tx1"/>
                        </a:solidFill>
                        <a:effectLst/>
                        <a:uLnTx/>
                        <a:uFillTx/>
                      </a:endParaRPr>
                    </a:p>
                    <a:p>
                      <a:pPr algn="ctr"/>
                      <a:r>
                        <a:rPr kumimoji="0" lang="en-US" sz="1050" b="0" u="none" strike="noStrike" kern="1200" cap="none" spc="0" normalizeH="0" baseline="0" noProof="0">
                          <a:ln>
                            <a:noFill/>
                          </a:ln>
                          <a:solidFill>
                            <a:schemeClr val="tx1"/>
                          </a:solidFill>
                          <a:effectLst/>
                          <a:uLnTx/>
                          <a:uFillTx/>
                          <a:sym typeface="+mn-lt"/>
                        </a:rPr>
                        <a:t>• Governance </a:t>
                      </a:r>
                      <a:r>
                        <a:rPr lang="en-US" sz="1050" kern="1200">
                          <a:solidFill>
                            <a:schemeClr val="tx1"/>
                          </a:solidFill>
                          <a:sym typeface="+mn-lt"/>
                        </a:rPr>
                        <a:t>• </a:t>
                      </a:r>
                    </a:p>
                    <a:p>
                      <a:pPr algn="ctr"/>
                      <a:r>
                        <a:rPr lang="en-US" sz="1050" kern="1200">
                          <a:solidFill>
                            <a:schemeClr val="tx1"/>
                          </a:solidFill>
                        </a:rPr>
                        <a:t>Roles</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050" b="0" u="none" strike="noStrike" kern="1200" cap="none" spc="0" normalizeH="0" baseline="0" noProof="0" dirty="0">
                          <a:ln>
                            <a:noFill/>
                          </a:ln>
                          <a:solidFill>
                            <a:schemeClr val="tx1"/>
                          </a:solidFill>
                          <a:effectLst/>
                          <a:uLnTx/>
                          <a:uFillTx/>
                        </a:rPr>
                        <a:t>CEO </a:t>
                      </a:r>
                      <a:r>
                        <a:rPr kumimoji="0" lang="en-US" sz="1050" b="0" u="none" strike="noStrike" kern="1200" cap="none" spc="0" normalizeH="0" baseline="0" noProof="0" dirty="0">
                          <a:ln>
                            <a:noFill/>
                          </a:ln>
                          <a:solidFill>
                            <a:schemeClr val="tx1"/>
                          </a:solidFill>
                          <a:effectLst/>
                          <a:uLnTx/>
                          <a:uFillTx/>
                          <a:sym typeface="+mn-lt"/>
                        </a:rPr>
                        <a:t>• CHRO </a:t>
                      </a:r>
                      <a:endParaRPr lang="en-US" sz="105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488218340"/>
                  </a:ext>
                </a:extLst>
              </a:tr>
              <a:tr h="554275">
                <a:tc vMerge="1">
                  <a:txBody>
                    <a:bodyPr/>
                    <a:lstStyle/>
                    <a:p>
                      <a:pPr algn="ctr"/>
                      <a:endParaRPr lang="en-US" sz="1000"/>
                    </a:p>
                  </a:txBody>
                  <a:tcPr anchor="ctr">
                    <a:lnL w="12700" cap="flat" cmpd="sng" algn="ctr">
                      <a:solidFill>
                        <a:srgbClr val="1D1D1D"/>
                      </a:solidFill>
                      <a:prstDash val="solid"/>
                      <a:round/>
                      <a:headEnd type="none" w="med" len="med"/>
                      <a:tailEnd type="none" w="med" len="med"/>
                    </a:lnL>
                    <a:lnR w="12700" cap="flat" cmpd="sng" algn="ctr">
                      <a:solidFill>
                        <a:srgbClr val="1D1D1D"/>
                      </a:solidFill>
                      <a:prstDash val="solid"/>
                      <a:round/>
                      <a:headEnd type="none" w="med" len="med"/>
                      <a:tailEnd type="none" w="med" len="med"/>
                    </a:lnR>
                    <a:lnT w="12700" cap="flat" cmpd="sng" algn="ctr">
                      <a:solidFill>
                        <a:srgbClr val="1D1D1D"/>
                      </a:solidFill>
                      <a:prstDash val="solid"/>
                      <a:round/>
                      <a:headEnd type="none" w="med" len="med"/>
                      <a:tailEnd type="none" w="med" len="med"/>
                    </a:lnT>
                    <a:lnB w="12700" cap="flat" cmpd="sng" algn="ctr">
                      <a:solidFill>
                        <a:srgbClr val="1D1D1D"/>
                      </a:solidFill>
                      <a:prstDash val="solid"/>
                      <a:round/>
                      <a:headEnd type="none" w="med" len="med"/>
                      <a:tailEnd type="none" w="med" len="med"/>
                    </a:lnB>
                    <a:solidFill>
                      <a:srgbClr val="FFFFFF"/>
                    </a:solidFill>
                  </a:tcPr>
                </a:tc>
                <a:tc>
                  <a:txBody>
                    <a:bodyPr/>
                    <a:lstStyle/>
                    <a:p>
                      <a:pPr algn="ctr"/>
                      <a:r>
                        <a:rPr lang="en-US" sz="1050" kern="1200">
                          <a:solidFill>
                            <a:schemeClr val="tx1"/>
                          </a:solidFill>
                        </a:rPr>
                        <a:t>Face to Face </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lang="en-US" sz="1050">
                          <a:solidFill>
                            <a:schemeClr val="tx1"/>
                          </a:solidFill>
                        </a:rPr>
                        <a:t>Virtual </a:t>
                      </a:r>
                      <a:endParaRPr lang="en-US" sz="1050">
                        <a:solidFill>
                          <a:schemeClr val="tx1"/>
                        </a:solidFill>
                        <a:latin typeface="Arial" pitchFamily="34" charset="0"/>
                        <a:cs typeface="Helvetica Neue" panose="020B0604020202020204" charset="0"/>
                      </a:endParaRP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kern="1200">
                          <a:solidFill>
                            <a:schemeClr val="tx1"/>
                          </a:solidFill>
                        </a:rPr>
                        <a:t>Face to Face </a:t>
                      </a:r>
                      <a:endParaRPr lang="en-US" sz="1050" kern="1200">
                        <a:solidFill>
                          <a:schemeClr val="tx1"/>
                        </a:solidFill>
                        <a:latin typeface="Arial" pitchFamily="34" charset="0"/>
                        <a:ea typeface="+mn-ea"/>
                        <a:cs typeface="Helvetica Neue" panose="020B0604020202020204" charset="0"/>
                      </a:endParaRPr>
                    </a:p>
                  </a:txBody>
                  <a:tcPr anchor="ctr"/>
                </a:tc>
                <a:tc>
                  <a:txBody>
                    <a:bodyPr/>
                    <a:lstStyle/>
                    <a:p>
                      <a:pPr algn="ctr"/>
                      <a:r>
                        <a:rPr lang="en-US" sz="1050" dirty="0">
                          <a:solidFill>
                            <a:schemeClr val="tx1"/>
                          </a:solidFill>
                        </a:rPr>
                        <a:t>Virtual </a:t>
                      </a:r>
                      <a:endParaRPr lang="en-US" sz="105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1547781014"/>
                  </a:ext>
                </a:extLst>
              </a:tr>
            </a:tbl>
          </a:graphicData>
        </a:graphic>
      </p:graphicFrame>
      <p:sp>
        <p:nvSpPr>
          <p:cNvPr id="22" name="TextBox 21">
            <a:extLst>
              <a:ext uri="{FF2B5EF4-FFF2-40B4-BE49-F238E27FC236}">
                <a16:creationId xmlns:a16="http://schemas.microsoft.com/office/drawing/2014/main" id="{495470A0-DACE-FFCB-F1B5-53F5D64D72A3}"/>
              </a:ext>
            </a:extLst>
          </p:cNvPr>
          <p:cNvSpPr txBox="1"/>
          <p:nvPr/>
        </p:nvSpPr>
        <p:spPr>
          <a:xfrm>
            <a:off x="5078657" y="3606294"/>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4</a:t>
            </a:r>
          </a:p>
        </p:txBody>
      </p:sp>
      <p:sp>
        <p:nvSpPr>
          <p:cNvPr id="23" name="Rounded Rectangle 22">
            <a:extLst>
              <a:ext uri="{FF2B5EF4-FFF2-40B4-BE49-F238E27FC236}">
                <a16:creationId xmlns:a16="http://schemas.microsoft.com/office/drawing/2014/main" id="{803FA394-AFAB-FC9E-009B-173B631D60CC}"/>
              </a:ext>
            </a:extLst>
          </p:cNvPr>
          <p:cNvSpPr/>
          <p:nvPr/>
        </p:nvSpPr>
        <p:spPr>
          <a:xfrm>
            <a:off x="720857" y="1577718"/>
            <a:ext cx="6880273" cy="1139081"/>
          </a:xfrm>
          <a:prstGeom prst="roundRect">
            <a:avLst>
              <a:gd name="adj" fmla="val 7477"/>
            </a:avLst>
          </a:prstGeom>
          <a:solidFill>
            <a:srgbClr val="DAD4F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10" normalizeH="0" baseline="0" noProof="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graphicFrame>
        <p:nvGraphicFramePr>
          <p:cNvPr id="24" name="Table 23">
            <a:extLst>
              <a:ext uri="{FF2B5EF4-FFF2-40B4-BE49-F238E27FC236}">
                <a16:creationId xmlns:a16="http://schemas.microsoft.com/office/drawing/2014/main" id="{EC41C9E8-A0EB-6477-AF86-86C61B45D63A}"/>
              </a:ext>
            </a:extLst>
          </p:cNvPr>
          <p:cNvGraphicFramePr>
            <a:graphicFrameLocks noGrp="1"/>
          </p:cNvGraphicFramePr>
          <p:nvPr>
            <p:extLst>
              <p:ext uri="{D42A27DB-BD31-4B8C-83A1-F6EECF244321}">
                <p14:modId xmlns:p14="http://schemas.microsoft.com/office/powerpoint/2010/main" val="3604890"/>
              </p:ext>
            </p:extLst>
          </p:nvPr>
        </p:nvGraphicFramePr>
        <p:xfrm>
          <a:off x="795807" y="1649035"/>
          <a:ext cx="6655632" cy="1014086"/>
        </p:xfrm>
        <a:graphic>
          <a:graphicData uri="http://schemas.openxmlformats.org/drawingml/2006/table">
            <a:tbl>
              <a:tblPr firstRow="1" bandRow="1">
                <a:tableStyleId>{C083E6E3-FA7D-4D7B-A595-EF9225AFEA82}</a:tableStyleId>
              </a:tblPr>
              <a:tblGrid>
                <a:gridCol w="2739980">
                  <a:extLst>
                    <a:ext uri="{9D8B030D-6E8A-4147-A177-3AD203B41FA5}">
                      <a16:colId xmlns:a16="http://schemas.microsoft.com/office/drawing/2014/main" val="20000"/>
                    </a:ext>
                  </a:extLst>
                </a:gridCol>
                <a:gridCol w="298349">
                  <a:extLst>
                    <a:ext uri="{9D8B030D-6E8A-4147-A177-3AD203B41FA5}">
                      <a16:colId xmlns:a16="http://schemas.microsoft.com/office/drawing/2014/main" val="20001"/>
                    </a:ext>
                  </a:extLst>
                </a:gridCol>
                <a:gridCol w="3617303">
                  <a:extLst>
                    <a:ext uri="{9D8B030D-6E8A-4147-A177-3AD203B41FA5}">
                      <a16:colId xmlns:a16="http://schemas.microsoft.com/office/drawing/2014/main" val="20002"/>
                    </a:ext>
                  </a:extLst>
                </a:gridCol>
              </a:tblGrid>
              <a:tr h="286961">
                <a:tc>
                  <a:txBody>
                    <a:bodyPr/>
                    <a:lstStyle/>
                    <a:p>
                      <a:pPr marL="0" marR="0" lvl="0" indent="0" algn="r" defTabSz="914400" rtl="0" eaLnBrk="1" fontAlgn="auto" latinLnBrk="0" hangingPunct="1">
                        <a:lnSpc>
                          <a:spcPct val="100000"/>
                        </a:lnSpc>
                        <a:spcBef>
                          <a:spcPts val="0"/>
                        </a:spcBef>
                        <a:spcAft>
                          <a:spcPts val="0"/>
                        </a:spcAft>
                        <a:buClr>
                          <a:schemeClr val="dk1"/>
                        </a:buClr>
                        <a:buSzPts val="1200"/>
                        <a:buFont typeface="Arial"/>
                        <a:buNone/>
                        <a:tabLst/>
                        <a:defRPr sz="1200" b="1">
                          <a:solidFill>
                            <a:srgbClr val="FFFFFF"/>
                          </a:solidFill>
                          <a:latin typeface="Arial" pitchFamily="34" charset="0"/>
                        </a:defRPr>
                      </a:pPr>
                      <a:r>
                        <a:rPr lang="en-US" sz="1000" b="1" u="none" strike="noStrike" kern="1200" cap="none" dirty="0">
                          <a:solidFill>
                            <a:schemeClr val="tx1"/>
                          </a:solidFill>
                          <a:latin typeface="Arial" pitchFamily="34" charset="0"/>
                          <a:ea typeface="Helvetica Neue" panose="02000503000000020004" pitchFamily="2" charset="0"/>
                          <a:cs typeface="Helvetica Neue" panose="02000503000000020004" pitchFamily="2" charset="0"/>
                        </a:rPr>
                        <a:t>Big, Expensive Org-design Exercises </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lvl="2" algn="r" rtl="0"/>
                      <a:endParaRPr lang="en-IN" sz="1000" b="1" i="0" u="none" strike="noStrike" cap="none">
                        <a:solidFill>
                          <a:schemeClr val="tx1"/>
                        </a:solidFill>
                        <a:effectLst/>
                        <a:latin typeface="Arial" pitchFamily="34" charset="0"/>
                        <a:ea typeface="Helvetica Neue" panose="02000503000000020004" pitchFamily="2" charset="0"/>
                        <a:cs typeface="Helvetica Neue" panose="02000503000000020004" pitchFamily="2" charset="0"/>
                        <a:sym typeface="Arial"/>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Value-focused Work Anchored On Agenda And Risks.</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extLst>
                  <a:ext uri="{0D108BD9-81ED-4DB2-BD59-A6C34878D82A}">
                    <a16:rowId xmlns:a16="http://schemas.microsoft.com/office/drawing/2014/main" val="10000"/>
                  </a:ext>
                </a:extLst>
              </a:tr>
              <a:tr h="330879">
                <a:tc>
                  <a:txBody>
                    <a:bodyPr/>
                    <a:lstStyle/>
                    <a:p>
                      <a:pPr marL="0" marR="0" lvl="0" indent="0" algn="r" rtl="0">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Broad, Holistic Redesign </a:t>
                      </a:r>
                      <a:endParaRPr lang="en-US" sz="1000" b="1" dirty="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dirty="0">
                          <a:solidFill>
                            <a:schemeClr val="tx1"/>
                          </a:solidFill>
                          <a:latin typeface="Arial" pitchFamily="34" charset="0"/>
                          <a:ea typeface="Helvetica Neue" panose="02000503000000020004" pitchFamily="2" charset="0"/>
                          <a:cs typeface="Helvetica Neue" panose="02000503000000020004" pitchFamily="2" charset="0"/>
                        </a:rPr>
                        <a:t>Surgical Precision At Interfaces That Truly Matter.</a:t>
                      </a:r>
                    </a:p>
                  </a:txBody>
                  <a:tcPr marL="91442" marR="91442" marT="45723" marB="45723" anchor="ctr">
                    <a:lnT w="12700" cmpd="sng">
                      <a:noFill/>
                    </a:lnT>
                    <a:lnB>
                      <a:noFill/>
                    </a:lnB>
                    <a:solidFill>
                      <a:srgbClr val="DAD4FD"/>
                    </a:solidFill>
                  </a:tcPr>
                </a:tc>
                <a:extLst>
                  <a:ext uri="{0D108BD9-81ED-4DB2-BD59-A6C34878D82A}">
                    <a16:rowId xmlns:a16="http://schemas.microsoft.com/office/drawing/2014/main" val="10001"/>
                  </a:ext>
                </a:extLst>
              </a:tr>
              <a:tr h="375440">
                <a:tc>
                  <a:txBody>
                    <a:bodyPr/>
                    <a:lstStyle/>
                    <a:p>
                      <a:pPr marL="0" marR="0" lvl="0" indent="0" algn="r" rtl="0">
                        <a:lnSpc>
                          <a:spcPct val="100000"/>
                        </a:lnSpc>
                        <a:spcBef>
                          <a:spcPts val="0"/>
                        </a:spcBef>
                        <a:spcAft>
                          <a:spcPts val="0"/>
                        </a:spcAft>
                        <a:buClr>
                          <a:schemeClr val="dk1"/>
                        </a:buClr>
                        <a:buSzPts val="1200"/>
                        <a:buFont typeface="Arial"/>
                        <a:buNone/>
                      </a:pP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Long Timelines And Complexity </a:t>
                      </a:r>
                      <a:endParaRPr lang="en-US" sz="1000" b="1">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Pragmatic Fixes in Decision Rights, Governance, Roles at Key Interfaces for preferred design choice. </a:t>
                      </a:r>
                    </a:p>
                  </a:txBody>
                  <a:tcPr marL="91442" marR="91442" marT="45723" marB="45723" anchor="ctr">
                    <a:lnT>
                      <a:noFill/>
                    </a:lnT>
                    <a:lnB>
                      <a:noFill/>
                    </a:lnB>
                    <a:solidFill>
                      <a:srgbClr val="DAD4FD"/>
                    </a:solidFill>
                  </a:tcPr>
                </a:tc>
                <a:extLst>
                  <a:ext uri="{0D108BD9-81ED-4DB2-BD59-A6C34878D82A}">
                    <a16:rowId xmlns:a16="http://schemas.microsoft.com/office/drawing/2014/main" val="10002"/>
                  </a:ext>
                </a:extLst>
              </a:tr>
            </a:tbl>
          </a:graphicData>
        </a:graphic>
      </p:graphicFrame>
      <p:sp>
        <p:nvSpPr>
          <p:cNvPr id="25" name="Triangle 24">
            <a:extLst>
              <a:ext uri="{FF2B5EF4-FFF2-40B4-BE49-F238E27FC236}">
                <a16:creationId xmlns:a16="http://schemas.microsoft.com/office/drawing/2014/main" id="{B38F287A-40BC-A413-067B-90AAC2A6484B}"/>
              </a:ext>
            </a:extLst>
          </p:cNvPr>
          <p:cNvSpPr/>
          <p:nvPr/>
        </p:nvSpPr>
        <p:spPr>
          <a:xfrm rot="5400000">
            <a:off x="3644460" y="1727362"/>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6" name="Triangle 25">
            <a:extLst>
              <a:ext uri="{FF2B5EF4-FFF2-40B4-BE49-F238E27FC236}">
                <a16:creationId xmlns:a16="http://schemas.microsoft.com/office/drawing/2014/main" id="{F2AFD4C3-B728-DBFE-4FD6-0A0FA3882FCC}"/>
              </a:ext>
            </a:extLst>
          </p:cNvPr>
          <p:cNvSpPr/>
          <p:nvPr/>
        </p:nvSpPr>
        <p:spPr>
          <a:xfrm rot="5400000">
            <a:off x="3644460" y="2082383"/>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7" name="Triangle 26">
            <a:extLst>
              <a:ext uri="{FF2B5EF4-FFF2-40B4-BE49-F238E27FC236}">
                <a16:creationId xmlns:a16="http://schemas.microsoft.com/office/drawing/2014/main" id="{B6C4ACD3-7C15-8ABC-CDA1-EA7831EC62A7}"/>
              </a:ext>
            </a:extLst>
          </p:cNvPr>
          <p:cNvSpPr/>
          <p:nvPr/>
        </p:nvSpPr>
        <p:spPr>
          <a:xfrm rot="5400000">
            <a:off x="3644460" y="2461175"/>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8" name="Rectangle: Rounded Corners 24">
            <a:extLst>
              <a:ext uri="{FF2B5EF4-FFF2-40B4-BE49-F238E27FC236}">
                <a16:creationId xmlns:a16="http://schemas.microsoft.com/office/drawing/2014/main" id="{7487C181-D798-4DCE-42A7-8FAB42C744DD}"/>
              </a:ext>
            </a:extLst>
          </p:cNvPr>
          <p:cNvSpPr/>
          <p:nvPr/>
        </p:nvSpPr>
        <p:spPr>
          <a:xfrm>
            <a:off x="8107935" y="1509808"/>
            <a:ext cx="3965694" cy="4702951"/>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t"/>
          <a:lstStyle/>
          <a:p>
            <a:pPr marL="228600" marR="0" lvl="0" indent="-228600" algn="l" defTabSz="914400" rtl="0" eaLnBrk="1" fontAlgn="auto" latinLnBrk="0" hangingPunct="1">
              <a:lnSpc>
                <a:spcPct val="100000"/>
              </a:lnSpc>
              <a:spcAft>
                <a:spcPts val="600"/>
              </a:spcAft>
              <a:buClrTx/>
              <a:buSzTx/>
              <a:buFont typeface="+mj-lt"/>
              <a:buAutoNum type="arabicPeriod"/>
              <a:tabLst/>
              <a:defRPr/>
            </a:pPr>
            <a:r>
              <a:rPr kumimoji="0" lang="en-US"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Value Hotspots &amp; Work Risks</a:t>
            </a:r>
            <a:r>
              <a:rPr lang="en-US" sz="1300" spc="-10" dirty="0">
                <a:solidFill>
                  <a:prstClr val="black"/>
                </a:solidFill>
                <a:latin typeface="Arial" pitchFamily="34" charset="0"/>
                <a:ea typeface="Helvetica Neue" panose="02000503000000020004" pitchFamily="2" charset="0"/>
                <a:cs typeface="Helvetica Neue Light" panose="020B0604020202020204" charset="0"/>
              </a:rPr>
              <a:t> – m</a:t>
            </a:r>
            <a:r>
              <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ap where value is created/lost and identify risks at hotspots (unclear </a:t>
            </a:r>
            <a:r>
              <a:rPr lang="en-US" sz="1300" kern="1200" spc="-10" dirty="0">
                <a:solidFill>
                  <a:prstClr val="black"/>
                </a:solidFill>
                <a:latin typeface="Arial" pitchFamily="34" charset="0"/>
                <a:ea typeface="Helvetica Neue" panose="02000503000000020004" pitchFamily="2" charset="0"/>
                <a:cs typeface="Helvetica Neue Light" panose="020B0604020202020204" charset="0"/>
              </a:rPr>
              <a:t>priorities, </a:t>
            </a:r>
            <a:r>
              <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capability </a:t>
            </a:r>
            <a:r>
              <a:rPr lang="en-US" sz="1300" kern="1200" spc="-10" dirty="0">
                <a:solidFill>
                  <a:prstClr val="black"/>
                </a:solidFill>
                <a:latin typeface="Arial" pitchFamily="34" charset="0"/>
                <a:ea typeface="Helvetica Neue" panose="02000503000000020004" pitchFamily="2" charset="0"/>
                <a:cs typeface="Helvetica Neue Light" panose="020B0604020202020204" charset="0"/>
              </a:rPr>
              <a:t>gaps</a:t>
            </a:r>
            <a:r>
              <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tech readiness, decision rights, talent gaps).</a:t>
            </a:r>
          </a:p>
          <a:p>
            <a:pPr marL="228600" indent="-228600" algn="l" rtl="0">
              <a:spcAft>
                <a:spcPts val="600"/>
              </a:spcAft>
              <a:buFont typeface="+mj-lt"/>
              <a:buAutoNum type="arabicPeriod"/>
              <a:defRPr/>
            </a:pPr>
            <a:r>
              <a:rPr lang="en-US" sz="1300" kern="1200" spc="-10" dirty="0">
                <a:solidFill>
                  <a:srgbClr val="765FFF"/>
                </a:solidFill>
                <a:latin typeface="Arial" pitchFamily="34" charset="0"/>
                <a:ea typeface="Helvetica Neue" panose="02000503000000020004" pitchFamily="2" charset="0"/>
                <a:cs typeface="Helvetica Neue Light" panose="020B0604020202020204" charset="0"/>
              </a:rPr>
              <a:t>Risk patterns</a:t>
            </a:r>
            <a:r>
              <a:rPr lang="en-US" sz="1300" spc="-10" dirty="0">
                <a:solidFill>
                  <a:srgbClr val="765FFF"/>
                </a:solidFill>
                <a:latin typeface="Arial" pitchFamily="34" charset="0"/>
                <a:ea typeface="Helvetica Neue" panose="02000503000000020004" pitchFamily="2" charset="0"/>
                <a:cs typeface="Helvetica Neue Light" panose="020B0604020202020204" charset="0"/>
              </a:rPr>
              <a:t> </a:t>
            </a:r>
            <a:r>
              <a:rPr lang="en-US" sz="1300" spc="-10" dirty="0">
                <a:solidFill>
                  <a:prstClr val="black"/>
                </a:solidFill>
                <a:latin typeface="Arial" pitchFamily="34" charset="0"/>
                <a:ea typeface="Helvetica Neue" panose="02000503000000020004" pitchFamily="2" charset="0"/>
                <a:cs typeface="Helvetica Neue Light" panose="020B0604020202020204" charset="0"/>
              </a:rPr>
              <a:t>– m</a:t>
            </a:r>
            <a:r>
              <a:rPr lang="en-US" sz="1300" kern="1200" spc="-10" dirty="0">
                <a:solidFill>
                  <a:prstClr val="black"/>
                </a:solidFill>
                <a:latin typeface="Arial" pitchFamily="34" charset="0"/>
                <a:cs typeface="Helvetica Neue Light" panose="020B0604020202020204" charset="0"/>
              </a:rPr>
              <a:t>ap key risk patterns across hotspots (misaligned priorities, overlapping accountabilities / remit, weak / new  / missing capabilities, unclear decision rights, etc.) </a:t>
            </a:r>
            <a:endParaRPr lang="en-GB" sz="1300" kern="1200" spc="-10" dirty="0">
              <a:solidFill>
                <a:prstClr val="black"/>
              </a:solidFill>
              <a:latin typeface="Arial" pitchFamily="34" charset="0"/>
              <a:ea typeface="Helvetica Neue" panose="02000503000000020004" pitchFamily="2" charset="0"/>
              <a:cs typeface="Helvetica Neue Light" panose="020B0604020202020204" charset="0"/>
            </a:endParaRPr>
          </a:p>
          <a:p>
            <a:pPr marL="228600" marR="0" lvl="0" indent="-228600" algn="l" defTabSz="914400" rtl="0" eaLnBrk="1" fontAlgn="auto" latinLnBrk="0" hangingPunct="1">
              <a:lnSpc>
                <a:spcPct val="100000"/>
              </a:lnSpc>
              <a:spcAft>
                <a:spcPts val="600"/>
              </a:spcAft>
              <a:buClrTx/>
              <a:buSzTx/>
              <a:buFont typeface="+mj-lt"/>
              <a:buAutoNum type="arabicPeriod"/>
              <a:tabLst/>
              <a:defRPr/>
            </a:pPr>
            <a:r>
              <a:rPr lang="en-US" sz="1300" kern="1200" spc="-10" dirty="0">
                <a:solidFill>
                  <a:srgbClr val="765FFF"/>
                </a:solidFill>
                <a:latin typeface="Arial" pitchFamily="34" charset="0"/>
                <a:ea typeface="Helvetica Neue" panose="02000503000000020004" pitchFamily="2" charset="0"/>
                <a:cs typeface="Helvetica Neue Light" panose="020B0604020202020204" charset="0"/>
              </a:rPr>
              <a:t>Organize to Value Choices </a:t>
            </a:r>
            <a:r>
              <a:rPr lang="en-US" sz="1300" kern="1200" spc="-10" dirty="0">
                <a:solidFill>
                  <a:prstClr val="black"/>
                </a:solidFill>
                <a:latin typeface="Arial" pitchFamily="34" charset="0"/>
                <a:ea typeface="Helvetica Neue" panose="02000503000000020004" pitchFamily="2" charset="0"/>
                <a:cs typeface="Helvetica Neue Light" panose="020B0604020202020204" charset="0"/>
              </a:rPr>
              <a:t>– de</a:t>
            </a:r>
            <a:r>
              <a:rPr lang="en-US" sz="1300" kern="1200" spc="-10" dirty="0">
                <a:solidFill>
                  <a:prstClr val="black"/>
                </a:solidFill>
                <a:latin typeface="Arial" pitchFamily="34" charset="0"/>
                <a:cs typeface="Helvetica Neue Light" panose="020B0604020202020204" charset="0"/>
              </a:rPr>
              <a:t>fine design principles, identify critical operating interfaces, identify organization design choices</a:t>
            </a:r>
            <a:endPar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a:p>
            <a:pPr marL="228600" indent="-228600" algn="l" rtl="0">
              <a:spcAft>
                <a:spcPts val="600"/>
              </a:spcAft>
              <a:buFont typeface="+mj-lt"/>
              <a:buAutoNum type="arabicPeriod"/>
              <a:defRPr/>
            </a:pPr>
            <a:r>
              <a:rPr lang="en-US" sz="1300" kern="1200" spc="-10" dirty="0">
                <a:solidFill>
                  <a:srgbClr val="765FFF"/>
                </a:solidFill>
                <a:latin typeface="Arial" pitchFamily="34" charset="0"/>
                <a:ea typeface="Helvetica Neue" panose="02000503000000020004" pitchFamily="2" charset="0"/>
                <a:cs typeface="Helvetica Neue Light" panose="020B0604020202020204" charset="0"/>
              </a:rPr>
              <a:t>Organize to Value Activation </a:t>
            </a:r>
            <a:r>
              <a:rPr lang="en-US" sz="1300" kern="1200" spc="-10" dirty="0">
                <a:solidFill>
                  <a:prstClr val="black"/>
                </a:solidFill>
                <a:latin typeface="Arial" pitchFamily="34" charset="0"/>
                <a:ea typeface="Helvetica Neue" panose="02000503000000020004" pitchFamily="2" charset="0"/>
                <a:cs typeface="Helvetica Neue Light" panose="020B0604020202020204" charset="0"/>
              </a:rPr>
              <a:t>– for chosen organization design, mitigate risks at key interfaces by defining decision rights, governance forums, critical roles</a:t>
            </a:r>
            <a:endPar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endParaRPr>
          </a:p>
          <a:p>
            <a:pPr marL="228600" marR="0" lvl="0" indent="-228600" algn="l" defTabSz="914400" rtl="0" eaLnBrk="1" fontAlgn="auto" latinLnBrk="0" hangingPunct="1">
              <a:lnSpc>
                <a:spcPct val="100000"/>
              </a:lnSpc>
              <a:spcAft>
                <a:spcPts val="600"/>
              </a:spcAft>
              <a:buClrTx/>
              <a:buSzTx/>
              <a:buFont typeface="+mj-lt"/>
              <a:buAutoNum type="arabicPeriod"/>
              <a:tabLst/>
              <a:defRPr/>
            </a:pPr>
            <a:r>
              <a:rPr kumimoji="0" lang="en-US" sz="1300" i="0" u="none" strike="noStrike" kern="1200" cap="none" spc="-10" normalizeH="0" baseline="0" noProof="0" dirty="0">
                <a:ln>
                  <a:noFill/>
                </a:ln>
                <a:solidFill>
                  <a:srgbClr val="765FFF"/>
                </a:solidFill>
                <a:effectLst/>
                <a:uLnTx/>
                <a:uFillTx/>
                <a:latin typeface="Arial" pitchFamily="34" charset="0"/>
                <a:ea typeface="Helvetica Neue" panose="02000503000000020004" pitchFamily="2" charset="0"/>
                <a:cs typeface="Helvetica Neue Light" panose="020B0604020202020204" charset="0"/>
              </a:rPr>
              <a:t>Organize to Value Enabling Plan </a:t>
            </a:r>
            <a:r>
              <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a:t>
            </a:r>
            <a:r>
              <a:rPr lang="en-US" sz="1300" spc="-10" dirty="0">
                <a:solidFill>
                  <a:prstClr val="black"/>
                </a:solidFill>
                <a:latin typeface="Arial" pitchFamily="34" charset="0"/>
                <a:ea typeface="Helvetica Neue" panose="02000503000000020004" pitchFamily="2" charset="0"/>
                <a:cs typeface="Helvetica Neue Light" panose="020B0604020202020204" charset="0"/>
              </a:rPr>
              <a:t>d</a:t>
            </a:r>
            <a:r>
              <a:rPr kumimoji="0" lang="en-US" sz="1300" i="0" u="none" strike="noStrike" kern="1200" cap="none" spc="-10" normalizeH="0" baseline="0" noProof="0" dirty="0" err="1">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efine</a:t>
            </a:r>
            <a:r>
              <a:rPr kumimoji="0" lang="en-US" sz="1300" i="0" u="none" strike="noStrike" kern="1200" cap="none" spc="-10" normalizeH="0" baseline="0" noProof="0" dirty="0">
                <a:ln>
                  <a:noFill/>
                </a:ln>
                <a:solidFill>
                  <a:prstClr val="black"/>
                </a:solidFill>
                <a:effectLst/>
                <a:uLnTx/>
                <a:uFillTx/>
                <a:latin typeface="Arial" pitchFamily="34" charset="0"/>
                <a:ea typeface="Helvetica Neue" panose="02000503000000020004" pitchFamily="2" charset="0"/>
                <a:cs typeface="Helvetica Neue Light" panose="020B0604020202020204" charset="0"/>
              </a:rPr>
              <a:t> targeted actions to sequence the activation (incl. detailed design that might be required) across teams and organization.</a:t>
            </a:r>
          </a:p>
        </p:txBody>
      </p:sp>
      <p:sp>
        <p:nvSpPr>
          <p:cNvPr id="29" name="TextBox 28">
            <a:extLst>
              <a:ext uri="{FF2B5EF4-FFF2-40B4-BE49-F238E27FC236}">
                <a16:creationId xmlns:a16="http://schemas.microsoft.com/office/drawing/2014/main" id="{B3AEA984-73BF-34C1-8C3A-19EC49125967}"/>
              </a:ext>
            </a:extLst>
          </p:cNvPr>
          <p:cNvSpPr txBox="1"/>
          <p:nvPr/>
        </p:nvSpPr>
        <p:spPr>
          <a:xfrm>
            <a:off x="6285806" y="3621805"/>
            <a:ext cx="813127"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Light" panose="020B0604020202020204" charset="0"/>
              </a:rPr>
              <a:t>Step 5</a:t>
            </a:r>
          </a:p>
        </p:txBody>
      </p:sp>
      <p:sp>
        <p:nvSpPr>
          <p:cNvPr id="30" name="TextBox 29">
            <a:extLst>
              <a:ext uri="{FF2B5EF4-FFF2-40B4-BE49-F238E27FC236}">
                <a16:creationId xmlns:a16="http://schemas.microsoft.com/office/drawing/2014/main" id="{D5277557-D163-BD53-7502-86BA7620364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pic>
        <p:nvPicPr>
          <p:cNvPr id="31" name="Picture 30">
            <a:extLst>
              <a:ext uri="{FF2B5EF4-FFF2-40B4-BE49-F238E27FC236}">
                <a16:creationId xmlns:a16="http://schemas.microsoft.com/office/drawing/2014/main" id="{67D4BEF4-312F-368C-9202-57D410836FCD}"/>
              </a:ext>
            </a:extLst>
          </p:cNvPr>
          <p:cNvPicPr>
            <a:picLocks noChangeAspect="1"/>
          </p:cNvPicPr>
          <p:nvPr/>
        </p:nvPicPr>
        <p:blipFill>
          <a:blip r:embed="rId3">
            <a:duotone>
              <a:srgbClr val="765FFF"/>
              <a:srgbClr val="FFFFFF"/>
            </a:duotone>
          </a:blip>
          <a:stretch>
            <a:fillRect/>
          </a:stretch>
        </p:blipFill>
        <p:spPr>
          <a:xfrm>
            <a:off x="8251247" y="669732"/>
            <a:ext cx="787773" cy="751713"/>
          </a:xfrm>
          <a:prstGeom prst="rect">
            <a:avLst/>
          </a:prstGeom>
        </p:spPr>
      </p:pic>
    </p:spTree>
    <p:extLst>
      <p:ext uri="{BB962C8B-B14F-4D97-AF65-F5344CB8AC3E}">
        <p14:creationId xmlns:p14="http://schemas.microsoft.com/office/powerpoint/2010/main" val="3345857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6D91AF-11D1-9604-B673-E62EE0C00E7F}"/>
              </a:ext>
            </a:extLst>
          </p:cNvPr>
          <p:cNvSpPr>
            <a:spLocks noGrp="1"/>
          </p:cNvSpPr>
          <p:nvPr>
            <p:ph type="sldNum" sz="quarter" idx="4"/>
          </p:nvPr>
        </p:nvSpPr>
        <p:spPr/>
        <p:txBody>
          <a:bodyPr/>
          <a:lstStyle/>
          <a:p>
            <a:pPr algn="ctr"/>
            <a:fld id="{1875A764-3B06-454E-8ABA-2F6ED0EB58E9}" type="slidenum">
              <a:rPr lang="en-US" smtClean="0"/>
              <a:t>60</a:t>
            </a:fld>
            <a:endParaRPr lang="en-US"/>
          </a:p>
        </p:txBody>
      </p:sp>
      <p:sp>
        <p:nvSpPr>
          <p:cNvPr id="3" name="Title 2">
            <a:extLst>
              <a:ext uri="{FF2B5EF4-FFF2-40B4-BE49-F238E27FC236}">
                <a16:creationId xmlns:a16="http://schemas.microsoft.com/office/drawing/2014/main" id="{79B44E6E-7661-DD5E-0638-EFC68494BA1D}"/>
              </a:ext>
            </a:extLst>
          </p:cNvPr>
          <p:cNvSpPr>
            <a:spLocks noGrp="1"/>
          </p:cNvSpPr>
          <p:nvPr>
            <p:ph type="title"/>
          </p:nvPr>
        </p:nvSpPr>
        <p:spPr/>
        <p:txBody>
          <a:bodyPr/>
          <a:lstStyle/>
          <a:p>
            <a:r>
              <a:rPr lang="en-US" dirty="0"/>
              <a:t>Hiring to Value: Project Overview</a:t>
            </a:r>
          </a:p>
        </p:txBody>
      </p:sp>
      <p:sp>
        <p:nvSpPr>
          <p:cNvPr id="4" name="TextBox 3">
            <a:extLst>
              <a:ext uri="{FF2B5EF4-FFF2-40B4-BE49-F238E27FC236}">
                <a16:creationId xmlns:a16="http://schemas.microsoft.com/office/drawing/2014/main" id="{E5095BD8-E418-9DF4-791C-46038E7785CC}"/>
              </a:ext>
            </a:extLst>
          </p:cNvPr>
          <p:cNvSpPr txBox="1"/>
          <p:nvPr/>
        </p:nvSpPr>
        <p:spPr>
          <a:xfrm>
            <a:off x="720857" y="1012956"/>
            <a:ext cx="3396831" cy="400110"/>
          </a:xfrm>
          <a:prstGeom prst="rect">
            <a:avLst/>
          </a:prstGeom>
          <a:no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Hiring to Value Pivots</a:t>
            </a:r>
          </a:p>
        </p:txBody>
      </p:sp>
      <p:cxnSp>
        <p:nvCxnSpPr>
          <p:cNvPr id="5" name="Straight Connector 4">
            <a:extLst>
              <a:ext uri="{FF2B5EF4-FFF2-40B4-BE49-F238E27FC236}">
                <a16:creationId xmlns:a16="http://schemas.microsoft.com/office/drawing/2014/main" id="{26A61F8C-6FE4-E232-C744-539CEE4212B3}"/>
              </a:ext>
            </a:extLst>
          </p:cNvPr>
          <p:cNvCxnSpPr>
            <a:cxnSpLocks/>
          </p:cNvCxnSpPr>
          <p:nvPr/>
        </p:nvCxnSpPr>
        <p:spPr>
          <a:xfrm>
            <a:off x="720857" y="1427207"/>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0674200-6054-28E0-8F53-ADC3AD8BAF39}"/>
              </a:ext>
            </a:extLst>
          </p:cNvPr>
          <p:cNvCxnSpPr>
            <a:cxnSpLocks/>
          </p:cNvCxnSpPr>
          <p:nvPr/>
        </p:nvCxnSpPr>
        <p:spPr>
          <a:xfrm>
            <a:off x="720857" y="3254004"/>
            <a:ext cx="676593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8964100-28E2-3B08-94D6-9B42DC7D4FD7}"/>
              </a:ext>
            </a:extLst>
          </p:cNvPr>
          <p:cNvSpPr txBox="1"/>
          <p:nvPr/>
        </p:nvSpPr>
        <p:spPr>
          <a:xfrm>
            <a:off x="720857" y="2834888"/>
            <a:ext cx="4939959" cy="400110"/>
          </a:xfrm>
          <a:prstGeom prst="rect">
            <a:avLst/>
          </a:prstGeom>
          <a:noFill/>
        </p:spPr>
        <p:txBody>
          <a:bodyPr wrap="square" lIns="91440" tIns="45720" rIns="91440" bIns="4572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 normalizeH="0" baseline="0" noProof="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Timelines</a:t>
            </a:r>
          </a:p>
        </p:txBody>
      </p:sp>
      <p:sp>
        <p:nvSpPr>
          <p:cNvPr id="8" name="Freeform 308">
            <a:extLst>
              <a:ext uri="{FF2B5EF4-FFF2-40B4-BE49-F238E27FC236}">
                <a16:creationId xmlns:a16="http://schemas.microsoft.com/office/drawing/2014/main" id="{0C6A3C70-2D9C-815A-A9E9-919E5F99E963}"/>
              </a:ext>
            </a:extLst>
          </p:cNvPr>
          <p:cNvSpPr/>
          <p:nvPr/>
        </p:nvSpPr>
        <p:spPr>
          <a:xfrm>
            <a:off x="7214795" y="1028670"/>
            <a:ext cx="251172" cy="322015"/>
          </a:xfrm>
          <a:custGeom>
            <a:avLst/>
            <a:gdLst>
              <a:gd name="connsiteX0" fmla="*/ 68461 w 381422"/>
              <a:gd name="connsiteY0" fmla="*/ 134475 h 489000"/>
              <a:gd name="connsiteX1" fmla="*/ 68461 w 381422"/>
              <a:gd name="connsiteY1" fmla="*/ 127139 h 489000"/>
              <a:gd name="connsiteX2" fmla="*/ 312961 w 381422"/>
              <a:gd name="connsiteY2" fmla="*/ 127139 h 489000"/>
              <a:gd name="connsiteX3" fmla="*/ 312961 w 381422"/>
              <a:gd name="connsiteY3" fmla="*/ 141811 h 489000"/>
              <a:gd name="connsiteX4" fmla="*/ 68461 w 381422"/>
              <a:gd name="connsiteY4" fmla="*/ 141811 h 489000"/>
              <a:gd name="connsiteX5" fmla="*/ 68461 w 381422"/>
              <a:gd name="connsiteY5" fmla="*/ 134475 h 489000"/>
              <a:gd name="connsiteX6" fmla="*/ 68461 w 381422"/>
              <a:gd name="connsiteY6" fmla="*/ 264061 h 489000"/>
              <a:gd name="connsiteX7" fmla="*/ 312961 w 381422"/>
              <a:gd name="connsiteY7" fmla="*/ 264061 h 489000"/>
              <a:gd name="connsiteX8" fmla="*/ 312961 w 381422"/>
              <a:gd name="connsiteY8" fmla="*/ 249389 h 489000"/>
              <a:gd name="connsiteX9" fmla="*/ 68461 w 381422"/>
              <a:gd name="connsiteY9" fmla="*/ 249389 h 489000"/>
              <a:gd name="connsiteX10" fmla="*/ 68461 w 381422"/>
              <a:gd name="connsiteY10" fmla="*/ 264061 h 489000"/>
              <a:gd name="connsiteX11" fmla="*/ 68461 w 381422"/>
              <a:gd name="connsiteY11" fmla="*/ 202936 h 489000"/>
              <a:gd name="connsiteX12" fmla="*/ 312961 w 381422"/>
              <a:gd name="connsiteY12" fmla="*/ 202936 h 489000"/>
              <a:gd name="connsiteX13" fmla="*/ 312961 w 381422"/>
              <a:gd name="connsiteY13" fmla="*/ 188264 h 489000"/>
              <a:gd name="connsiteX14" fmla="*/ 68461 w 381422"/>
              <a:gd name="connsiteY14" fmla="*/ 188264 h 489000"/>
              <a:gd name="connsiteX15" fmla="*/ 68461 w 381422"/>
              <a:gd name="connsiteY15" fmla="*/ 202936 h 489000"/>
              <a:gd name="connsiteX16" fmla="*/ 68461 w 381422"/>
              <a:gd name="connsiteY16" fmla="*/ 325186 h 489000"/>
              <a:gd name="connsiteX17" fmla="*/ 312961 w 381422"/>
              <a:gd name="connsiteY17" fmla="*/ 325186 h 489000"/>
              <a:gd name="connsiteX18" fmla="*/ 312961 w 381422"/>
              <a:gd name="connsiteY18" fmla="*/ 310514 h 489000"/>
              <a:gd name="connsiteX19" fmla="*/ 68461 w 381422"/>
              <a:gd name="connsiteY19" fmla="*/ 310514 h 489000"/>
              <a:gd name="connsiteX20" fmla="*/ 68461 w 381422"/>
              <a:gd name="connsiteY20" fmla="*/ 325186 h 489000"/>
              <a:gd name="connsiteX21" fmla="*/ 68461 w 381422"/>
              <a:gd name="connsiteY21" fmla="*/ 386311 h 489000"/>
              <a:gd name="connsiteX22" fmla="*/ 190711 w 381422"/>
              <a:gd name="connsiteY22" fmla="*/ 386311 h 489000"/>
              <a:gd name="connsiteX23" fmla="*/ 190711 w 381422"/>
              <a:gd name="connsiteY23" fmla="*/ 371639 h 489000"/>
              <a:gd name="connsiteX24" fmla="*/ 68461 w 381422"/>
              <a:gd name="connsiteY24" fmla="*/ 371639 h 489000"/>
              <a:gd name="connsiteX25" fmla="*/ 68461 w 381422"/>
              <a:gd name="connsiteY25" fmla="*/ 386311 h 489000"/>
              <a:gd name="connsiteX26" fmla="*/ 381422 w 381422"/>
              <a:gd name="connsiteY26" fmla="*/ 56111 h 489000"/>
              <a:gd name="connsiteX27" fmla="*/ 381422 w 381422"/>
              <a:gd name="connsiteY27" fmla="*/ 457214 h 489000"/>
              <a:gd name="connsiteX28" fmla="*/ 349636 w 381422"/>
              <a:gd name="connsiteY28" fmla="*/ 489000 h 489000"/>
              <a:gd name="connsiteX29" fmla="*/ 31786 w 381422"/>
              <a:gd name="connsiteY29" fmla="*/ 489000 h 489000"/>
              <a:gd name="connsiteX30" fmla="*/ 0 w 381422"/>
              <a:gd name="connsiteY30" fmla="*/ 457214 h 489000"/>
              <a:gd name="connsiteX31" fmla="*/ 0 w 381422"/>
              <a:gd name="connsiteY31" fmla="*/ 56111 h 489000"/>
              <a:gd name="connsiteX32" fmla="*/ 31786 w 381422"/>
              <a:gd name="connsiteY32" fmla="*/ 24325 h 489000"/>
              <a:gd name="connsiteX33" fmla="*/ 91688 w 381422"/>
              <a:gd name="connsiteY33" fmla="*/ 24325 h 489000"/>
              <a:gd name="connsiteX34" fmla="*/ 91688 w 381422"/>
              <a:gd name="connsiteY34" fmla="*/ 19561 h 489000"/>
              <a:gd name="connsiteX35" fmla="*/ 111249 w 381422"/>
              <a:gd name="connsiteY35" fmla="*/ 0 h 489000"/>
              <a:gd name="connsiteX36" fmla="*/ 270174 w 381422"/>
              <a:gd name="connsiteY36" fmla="*/ 0 h 489000"/>
              <a:gd name="connsiteX37" fmla="*/ 289735 w 381422"/>
              <a:gd name="connsiteY37" fmla="*/ 19561 h 489000"/>
              <a:gd name="connsiteX38" fmla="*/ 289735 w 381422"/>
              <a:gd name="connsiteY38" fmla="*/ 24325 h 489000"/>
              <a:gd name="connsiteX39" fmla="*/ 349636 w 381422"/>
              <a:gd name="connsiteY39" fmla="*/ 24325 h 489000"/>
              <a:gd name="connsiteX40" fmla="*/ 381422 w 381422"/>
              <a:gd name="connsiteY40" fmla="*/ 56111 h 489000"/>
              <a:gd name="connsiteX41" fmla="*/ 106360 w 381422"/>
              <a:gd name="connsiteY41" fmla="*/ 48900 h 489000"/>
              <a:gd name="connsiteX42" fmla="*/ 275063 w 381422"/>
              <a:gd name="connsiteY42" fmla="*/ 48900 h 489000"/>
              <a:gd name="connsiteX43" fmla="*/ 275063 w 381422"/>
              <a:gd name="connsiteY43" fmla="*/ 19561 h 489000"/>
              <a:gd name="connsiteX44" fmla="*/ 270174 w 381422"/>
              <a:gd name="connsiteY44" fmla="*/ 14672 h 489000"/>
              <a:gd name="connsiteX45" fmla="*/ 111249 w 381422"/>
              <a:gd name="connsiteY45" fmla="*/ 14672 h 489000"/>
              <a:gd name="connsiteX46" fmla="*/ 106360 w 381422"/>
              <a:gd name="connsiteY46" fmla="*/ 19561 h 489000"/>
              <a:gd name="connsiteX47" fmla="*/ 106360 w 381422"/>
              <a:gd name="connsiteY47" fmla="*/ 48900 h 489000"/>
              <a:gd name="connsiteX48" fmla="*/ 366750 w 381422"/>
              <a:gd name="connsiteY48" fmla="*/ 56111 h 489000"/>
              <a:gd name="connsiteX49" fmla="*/ 349636 w 381422"/>
              <a:gd name="connsiteY49" fmla="*/ 38997 h 489000"/>
              <a:gd name="connsiteX50" fmla="*/ 289735 w 381422"/>
              <a:gd name="connsiteY50" fmla="*/ 38997 h 489000"/>
              <a:gd name="connsiteX51" fmla="*/ 289735 w 381422"/>
              <a:gd name="connsiteY51" fmla="*/ 56236 h 489000"/>
              <a:gd name="connsiteX52" fmla="*/ 282399 w 381422"/>
              <a:gd name="connsiteY52" fmla="*/ 63572 h 489000"/>
              <a:gd name="connsiteX53" fmla="*/ 99024 w 381422"/>
              <a:gd name="connsiteY53" fmla="*/ 63572 h 489000"/>
              <a:gd name="connsiteX54" fmla="*/ 91688 w 381422"/>
              <a:gd name="connsiteY54" fmla="*/ 56236 h 489000"/>
              <a:gd name="connsiteX55" fmla="*/ 91688 w 381422"/>
              <a:gd name="connsiteY55" fmla="*/ 38997 h 489000"/>
              <a:gd name="connsiteX56" fmla="*/ 31786 w 381422"/>
              <a:gd name="connsiteY56" fmla="*/ 38997 h 489000"/>
              <a:gd name="connsiteX57" fmla="*/ 14672 w 381422"/>
              <a:gd name="connsiteY57" fmla="*/ 56111 h 489000"/>
              <a:gd name="connsiteX58" fmla="*/ 14672 w 381422"/>
              <a:gd name="connsiteY58" fmla="*/ 457214 h 489000"/>
              <a:gd name="connsiteX59" fmla="*/ 31786 w 381422"/>
              <a:gd name="connsiteY59" fmla="*/ 474328 h 489000"/>
              <a:gd name="connsiteX60" fmla="*/ 349636 w 381422"/>
              <a:gd name="connsiteY60" fmla="*/ 474328 h 489000"/>
              <a:gd name="connsiteX61" fmla="*/ 366750 w 381422"/>
              <a:gd name="connsiteY61" fmla="*/ 457214 h 489000"/>
              <a:gd name="connsiteX62" fmla="*/ 366750 w 381422"/>
              <a:gd name="connsiteY62" fmla="*/ 56111 h 4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81422" h="489000">
                <a:moveTo>
                  <a:pt x="68461" y="134475"/>
                </a:moveTo>
                <a:lnTo>
                  <a:pt x="68461" y="127139"/>
                </a:lnTo>
                <a:lnTo>
                  <a:pt x="312961" y="127139"/>
                </a:lnTo>
                <a:lnTo>
                  <a:pt x="312961" y="141811"/>
                </a:lnTo>
                <a:lnTo>
                  <a:pt x="68461" y="141811"/>
                </a:lnTo>
                <a:lnTo>
                  <a:pt x="68461" y="134475"/>
                </a:lnTo>
                <a:close/>
                <a:moveTo>
                  <a:pt x="68461" y="264061"/>
                </a:moveTo>
                <a:lnTo>
                  <a:pt x="312961" y="264061"/>
                </a:lnTo>
                <a:lnTo>
                  <a:pt x="312961" y="249389"/>
                </a:lnTo>
                <a:lnTo>
                  <a:pt x="68461" y="249389"/>
                </a:lnTo>
                <a:lnTo>
                  <a:pt x="68461" y="264061"/>
                </a:lnTo>
                <a:close/>
                <a:moveTo>
                  <a:pt x="68461" y="202936"/>
                </a:moveTo>
                <a:lnTo>
                  <a:pt x="312961" y="202936"/>
                </a:lnTo>
                <a:lnTo>
                  <a:pt x="312961" y="188264"/>
                </a:lnTo>
                <a:lnTo>
                  <a:pt x="68461" y="188264"/>
                </a:lnTo>
                <a:lnTo>
                  <a:pt x="68461" y="202936"/>
                </a:lnTo>
                <a:close/>
                <a:moveTo>
                  <a:pt x="68461" y="325186"/>
                </a:moveTo>
                <a:lnTo>
                  <a:pt x="312961" y="325186"/>
                </a:lnTo>
                <a:lnTo>
                  <a:pt x="312961" y="310514"/>
                </a:lnTo>
                <a:lnTo>
                  <a:pt x="68461" y="310514"/>
                </a:lnTo>
                <a:lnTo>
                  <a:pt x="68461" y="325186"/>
                </a:lnTo>
                <a:close/>
                <a:moveTo>
                  <a:pt x="68461" y="386311"/>
                </a:moveTo>
                <a:lnTo>
                  <a:pt x="190711" y="386311"/>
                </a:lnTo>
                <a:lnTo>
                  <a:pt x="190711" y="371639"/>
                </a:lnTo>
                <a:lnTo>
                  <a:pt x="68461" y="371639"/>
                </a:lnTo>
                <a:lnTo>
                  <a:pt x="68461" y="386311"/>
                </a:lnTo>
                <a:close/>
                <a:moveTo>
                  <a:pt x="381422" y="56111"/>
                </a:moveTo>
                <a:lnTo>
                  <a:pt x="381422" y="457214"/>
                </a:lnTo>
                <a:cubicBezTo>
                  <a:pt x="381422" y="474740"/>
                  <a:pt x="367162" y="489000"/>
                  <a:pt x="349636" y="489000"/>
                </a:cubicBezTo>
                <a:lnTo>
                  <a:pt x="31786" y="489000"/>
                </a:lnTo>
                <a:cubicBezTo>
                  <a:pt x="14260" y="489000"/>
                  <a:pt x="0" y="474740"/>
                  <a:pt x="0" y="457214"/>
                </a:cubicBezTo>
                <a:lnTo>
                  <a:pt x="0" y="56111"/>
                </a:lnTo>
                <a:cubicBezTo>
                  <a:pt x="0" y="38585"/>
                  <a:pt x="14260" y="24325"/>
                  <a:pt x="31786" y="24325"/>
                </a:cubicBezTo>
                <a:lnTo>
                  <a:pt x="91688" y="24325"/>
                </a:lnTo>
                <a:lnTo>
                  <a:pt x="91688" y="19561"/>
                </a:lnTo>
                <a:cubicBezTo>
                  <a:pt x="91688" y="8775"/>
                  <a:pt x="100462" y="0"/>
                  <a:pt x="111249" y="0"/>
                </a:cubicBezTo>
                <a:lnTo>
                  <a:pt x="270174" y="0"/>
                </a:lnTo>
                <a:cubicBezTo>
                  <a:pt x="280960" y="0"/>
                  <a:pt x="289735" y="8774"/>
                  <a:pt x="289735" y="19561"/>
                </a:cubicBezTo>
                <a:lnTo>
                  <a:pt x="289735" y="24325"/>
                </a:lnTo>
                <a:lnTo>
                  <a:pt x="349636" y="24325"/>
                </a:lnTo>
                <a:cubicBezTo>
                  <a:pt x="367162" y="24325"/>
                  <a:pt x="381422" y="38585"/>
                  <a:pt x="381422" y="56111"/>
                </a:cubicBezTo>
                <a:close/>
                <a:moveTo>
                  <a:pt x="106360" y="48900"/>
                </a:moveTo>
                <a:lnTo>
                  <a:pt x="275063" y="48900"/>
                </a:lnTo>
                <a:lnTo>
                  <a:pt x="275063" y="19561"/>
                </a:lnTo>
                <a:cubicBezTo>
                  <a:pt x="275063" y="16866"/>
                  <a:pt x="272872" y="14672"/>
                  <a:pt x="270174" y="14672"/>
                </a:cubicBezTo>
                <a:lnTo>
                  <a:pt x="111249" y="14672"/>
                </a:lnTo>
                <a:cubicBezTo>
                  <a:pt x="108551" y="14672"/>
                  <a:pt x="106360" y="16866"/>
                  <a:pt x="106360" y="19561"/>
                </a:cubicBezTo>
                <a:lnTo>
                  <a:pt x="106360" y="48900"/>
                </a:lnTo>
                <a:close/>
                <a:moveTo>
                  <a:pt x="366750" y="56111"/>
                </a:moveTo>
                <a:cubicBezTo>
                  <a:pt x="366750" y="46674"/>
                  <a:pt x="359073" y="38997"/>
                  <a:pt x="349636" y="38997"/>
                </a:cubicBezTo>
                <a:lnTo>
                  <a:pt x="289735" y="38997"/>
                </a:lnTo>
                <a:lnTo>
                  <a:pt x="289735" y="56236"/>
                </a:lnTo>
                <a:cubicBezTo>
                  <a:pt x="289735" y="60286"/>
                  <a:pt x="286452" y="63572"/>
                  <a:pt x="282399" y="63572"/>
                </a:cubicBezTo>
                <a:lnTo>
                  <a:pt x="99024" y="63572"/>
                </a:lnTo>
                <a:cubicBezTo>
                  <a:pt x="94971" y="63572"/>
                  <a:pt x="91688" y="60286"/>
                  <a:pt x="91688" y="56236"/>
                </a:cubicBezTo>
                <a:lnTo>
                  <a:pt x="91688" y="38997"/>
                </a:lnTo>
                <a:lnTo>
                  <a:pt x="31786" y="38997"/>
                </a:lnTo>
                <a:cubicBezTo>
                  <a:pt x="22349" y="38997"/>
                  <a:pt x="14672" y="46674"/>
                  <a:pt x="14672" y="56111"/>
                </a:cubicBezTo>
                <a:lnTo>
                  <a:pt x="14672" y="457214"/>
                </a:lnTo>
                <a:cubicBezTo>
                  <a:pt x="14672" y="466651"/>
                  <a:pt x="22349" y="474328"/>
                  <a:pt x="31786" y="474328"/>
                </a:cubicBezTo>
                <a:lnTo>
                  <a:pt x="349636" y="474328"/>
                </a:lnTo>
                <a:cubicBezTo>
                  <a:pt x="359073" y="474328"/>
                  <a:pt x="366750" y="466651"/>
                  <a:pt x="366750" y="457214"/>
                </a:cubicBezTo>
                <a:lnTo>
                  <a:pt x="366750" y="56111"/>
                </a:lnTo>
                <a:close/>
              </a:path>
            </a:pathLst>
          </a:custGeom>
          <a:solidFill>
            <a:srgbClr val="765FFF"/>
          </a:solidFill>
          <a:ln w="0" cap="flat">
            <a:solidFill>
              <a:srgbClr val="765FFF"/>
            </a:solidFill>
            <a:prstDash val="solid"/>
            <a:miter/>
          </a:ln>
        </p:spPr>
        <p:txBody>
          <a:bodyPr lIns="91440" tIns="45720" rIns="91440" bIns="45720" rtlCol="0" anchor="ctr"/>
          <a:lstStyle/>
          <a:p>
            <a:pPr marL="0" marR="0" lvl="0" indent="0" algn="l"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800" b="1" i="0" u="none" strike="noStrike" kern="1200" cap="none" spc="-25"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endParaRPr>
          </a:p>
        </p:txBody>
      </p:sp>
      <p:pic>
        <p:nvPicPr>
          <p:cNvPr id="9" name="Graphic 38" descr="Blockchain outline">
            <a:extLst>
              <a:ext uri="{FF2B5EF4-FFF2-40B4-BE49-F238E27FC236}">
                <a16:creationId xmlns:a16="http://schemas.microsoft.com/office/drawing/2014/main" id="{42A82073-F403-BB1A-A1ED-F1691C3BFA34}"/>
              </a:ext>
            </a:extLst>
          </p:cNvPr>
          <p:cNvPicPr>
            <a:picLocks noChangeAspect="1"/>
          </p:cNvPicPr>
          <p:nvPr/>
        </p:nvPicPr>
        <p:blipFill>
          <a:blip r:embed="rId2">
            <a:duotone>
              <a:srgbClr val="765FFF"/>
              <a:srgbClr val="FFFFFF"/>
            </a:duotone>
          </a:blip>
          <a:stretch>
            <a:fillRect/>
          </a:stretch>
        </p:blipFill>
        <p:spPr>
          <a:xfrm>
            <a:off x="7143952" y="2841089"/>
            <a:ext cx="400109" cy="400109"/>
          </a:xfrm>
          <a:prstGeom prst="rect">
            <a:avLst/>
          </a:prstGeom>
        </p:spPr>
      </p:pic>
      <p:cxnSp>
        <p:nvCxnSpPr>
          <p:cNvPr id="10" name="Straight Arrow Connector 9">
            <a:extLst>
              <a:ext uri="{FF2B5EF4-FFF2-40B4-BE49-F238E27FC236}">
                <a16:creationId xmlns:a16="http://schemas.microsoft.com/office/drawing/2014/main" id="{57D1C011-1FE7-5551-659A-5F40020C852B}"/>
              </a:ext>
            </a:extLst>
          </p:cNvPr>
          <p:cNvCxnSpPr>
            <a:cxnSpLocks/>
          </p:cNvCxnSpPr>
          <p:nvPr/>
        </p:nvCxnSpPr>
        <p:spPr>
          <a:xfrm>
            <a:off x="732579" y="3759339"/>
            <a:ext cx="6619045" cy="0"/>
          </a:xfrm>
          <a:prstGeom prst="straightConnector1">
            <a:avLst/>
          </a:prstGeom>
          <a:ln w="9525">
            <a:solidFill>
              <a:srgbClr val="F2F2F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2EE089F-9A96-73EC-2009-9BAE7BED35E2}"/>
              </a:ext>
            </a:extLst>
          </p:cNvPr>
          <p:cNvSpPr txBox="1"/>
          <p:nvPr/>
        </p:nvSpPr>
        <p:spPr>
          <a:xfrm>
            <a:off x="1457448" y="3621806"/>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B0604020202020204" charset="0"/>
              </a:rPr>
              <a:t>Step 1</a:t>
            </a:r>
          </a:p>
        </p:txBody>
      </p:sp>
      <p:sp>
        <p:nvSpPr>
          <p:cNvPr id="12" name="Rectangle: Rounded Corners 2">
            <a:extLst>
              <a:ext uri="{FF2B5EF4-FFF2-40B4-BE49-F238E27FC236}">
                <a16:creationId xmlns:a16="http://schemas.microsoft.com/office/drawing/2014/main" id="{8D20AB9F-86A1-752F-E45A-1704EA82CFEA}"/>
              </a:ext>
            </a:extLst>
          </p:cNvPr>
          <p:cNvSpPr/>
          <p:nvPr/>
        </p:nvSpPr>
        <p:spPr>
          <a:xfrm>
            <a:off x="8053928" y="1571954"/>
            <a:ext cx="3832990" cy="4548777"/>
          </a:xfrm>
          <a:prstGeom prst="roundRect">
            <a:avLst/>
          </a:prstGeom>
        </p:spPr>
        <p:style>
          <a:lnRef idx="2">
            <a:schemeClr val="accent1"/>
          </a:lnRef>
          <a:fillRef idx="1">
            <a:schemeClr val="lt1"/>
          </a:fillRef>
          <a:effectRef idx="0">
            <a:schemeClr val="accent1"/>
          </a:effectRef>
          <a:fontRef idx="minor">
            <a:schemeClr val="dk1"/>
          </a:fontRef>
        </p:style>
        <p:txBody>
          <a:bodyPr vert="horz" lIns="73152" tIns="73152" rIns="60960" bIns="48768" rtlCol="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3" name="Straight Connector 12">
            <a:extLst>
              <a:ext uri="{FF2B5EF4-FFF2-40B4-BE49-F238E27FC236}">
                <a16:creationId xmlns:a16="http://schemas.microsoft.com/office/drawing/2014/main" id="{D829D090-8E41-CD38-8D54-487F8DAD0599}"/>
              </a:ext>
            </a:extLst>
          </p:cNvPr>
          <p:cNvCxnSpPr>
            <a:cxnSpLocks/>
          </p:cNvCxnSpPr>
          <p:nvPr/>
        </p:nvCxnSpPr>
        <p:spPr>
          <a:xfrm>
            <a:off x="8053928" y="1427207"/>
            <a:ext cx="4138072" cy="0"/>
          </a:xfrm>
          <a:prstGeom prst="line">
            <a:avLst/>
          </a:prstGeom>
          <a:ln w="9525">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35D223F-0189-D011-C41F-C81B9D51C43E}"/>
              </a:ext>
            </a:extLst>
          </p:cNvPr>
          <p:cNvSpPr txBox="1"/>
          <p:nvPr/>
        </p:nvSpPr>
        <p:spPr>
          <a:xfrm>
            <a:off x="9039020" y="1012956"/>
            <a:ext cx="2620489" cy="400110"/>
          </a:xfrm>
          <a:prstGeom prst="rect">
            <a:avLst/>
          </a:prstGeom>
          <a:noFill/>
        </p:spPr>
        <p:txBody>
          <a:bodyPr wrap="square" lIns="91440" tIns="45720" rIns="91440" bIns="45720">
            <a:spAutoFit/>
          </a:bodyPr>
          <a:lstStyle/>
          <a:p>
            <a:pPr marL="0" marR="0" lvl="0" indent="0" algn="l" defTabSz="609585"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2000" b="1" i="0" u="none" strike="noStrike" kern="1200" cap="none" spc="-25"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Deliverables</a:t>
            </a:r>
          </a:p>
        </p:txBody>
      </p:sp>
      <p:pic>
        <p:nvPicPr>
          <p:cNvPr id="15" name="Picture 14">
            <a:extLst>
              <a:ext uri="{FF2B5EF4-FFF2-40B4-BE49-F238E27FC236}">
                <a16:creationId xmlns:a16="http://schemas.microsoft.com/office/drawing/2014/main" id="{AEECFFDF-184E-7B57-04F5-8C0B2ED9C703}"/>
              </a:ext>
            </a:extLst>
          </p:cNvPr>
          <p:cNvPicPr>
            <a:picLocks noChangeAspect="1"/>
          </p:cNvPicPr>
          <p:nvPr/>
        </p:nvPicPr>
        <p:blipFill>
          <a:blip r:embed="rId3">
            <a:duotone>
              <a:srgbClr val="765FFF"/>
              <a:srgbClr val="FFFFFF"/>
            </a:duotone>
          </a:blip>
          <a:stretch>
            <a:fillRect/>
          </a:stretch>
        </p:blipFill>
        <p:spPr>
          <a:xfrm>
            <a:off x="8251247" y="669732"/>
            <a:ext cx="787773" cy="751713"/>
          </a:xfrm>
          <a:prstGeom prst="rect">
            <a:avLst/>
          </a:prstGeom>
        </p:spPr>
      </p:pic>
      <p:sp>
        <p:nvSpPr>
          <p:cNvPr id="16" name="Rectangle: Rounded Corners 24">
            <a:extLst>
              <a:ext uri="{FF2B5EF4-FFF2-40B4-BE49-F238E27FC236}">
                <a16:creationId xmlns:a16="http://schemas.microsoft.com/office/drawing/2014/main" id="{D26FECB1-2E56-4BFB-0B1F-C41489099F7C}"/>
              </a:ext>
            </a:extLst>
          </p:cNvPr>
          <p:cNvSpPr/>
          <p:nvPr/>
        </p:nvSpPr>
        <p:spPr>
          <a:xfrm>
            <a:off x="8302874" y="1840013"/>
            <a:ext cx="3486175" cy="3576855"/>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04792" marR="0" lvl="0" indent="-304792" algn="l" defTabSz="81276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0" cap="none" spc="-10" normalizeH="0" baseline="0" noProof="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C2193F80-C5F5-8FB6-3DF1-F34554552A1C}"/>
              </a:ext>
            </a:extLst>
          </p:cNvPr>
          <p:cNvSpPr txBox="1"/>
          <p:nvPr/>
        </p:nvSpPr>
        <p:spPr>
          <a:xfrm>
            <a:off x="2990066" y="3621805"/>
            <a:ext cx="974311"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B0604020202020204" charset="0"/>
              </a:rPr>
              <a:t>Step 2</a:t>
            </a:r>
          </a:p>
        </p:txBody>
      </p:sp>
      <p:sp>
        <p:nvSpPr>
          <p:cNvPr id="18" name="TextBox 17">
            <a:extLst>
              <a:ext uri="{FF2B5EF4-FFF2-40B4-BE49-F238E27FC236}">
                <a16:creationId xmlns:a16="http://schemas.microsoft.com/office/drawing/2014/main" id="{52CF353A-53EA-CA1F-EDFF-6BF96FC0B64B}"/>
              </a:ext>
            </a:extLst>
          </p:cNvPr>
          <p:cNvSpPr txBox="1"/>
          <p:nvPr/>
        </p:nvSpPr>
        <p:spPr>
          <a:xfrm>
            <a:off x="4378145" y="3614800"/>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B0604020202020204" charset="0"/>
              </a:rPr>
              <a:t>Step 3</a:t>
            </a:r>
          </a:p>
        </p:txBody>
      </p:sp>
      <p:graphicFrame>
        <p:nvGraphicFramePr>
          <p:cNvPr id="19" name="Table 18">
            <a:extLst>
              <a:ext uri="{FF2B5EF4-FFF2-40B4-BE49-F238E27FC236}">
                <a16:creationId xmlns:a16="http://schemas.microsoft.com/office/drawing/2014/main" id="{AEC8B3FE-DC8C-680C-5857-0E80BF36EF73}"/>
              </a:ext>
            </a:extLst>
          </p:cNvPr>
          <p:cNvGraphicFramePr>
            <a:graphicFrameLocks noGrp="1"/>
          </p:cNvGraphicFramePr>
          <p:nvPr>
            <p:extLst>
              <p:ext uri="{D42A27DB-BD31-4B8C-83A1-F6EECF244321}">
                <p14:modId xmlns:p14="http://schemas.microsoft.com/office/powerpoint/2010/main" val="1106384886"/>
              </p:ext>
            </p:extLst>
          </p:nvPr>
        </p:nvGraphicFramePr>
        <p:xfrm>
          <a:off x="720857" y="4178637"/>
          <a:ext cx="6651592" cy="1861924"/>
        </p:xfrm>
        <a:graphic>
          <a:graphicData uri="http://schemas.openxmlformats.org/drawingml/2006/table">
            <a:tbl>
              <a:tblPr firstRow="1" bandRow="1">
                <a:tableStyleId>{69012ECD-51FC-41F1-AA8D-1B2483CD663E}</a:tableStyleId>
              </a:tblPr>
              <a:tblGrid>
                <a:gridCol w="1662898">
                  <a:extLst>
                    <a:ext uri="{9D8B030D-6E8A-4147-A177-3AD203B41FA5}">
                      <a16:colId xmlns:a16="http://schemas.microsoft.com/office/drawing/2014/main" val="639335632"/>
                    </a:ext>
                  </a:extLst>
                </a:gridCol>
                <a:gridCol w="1662898">
                  <a:extLst>
                    <a:ext uri="{9D8B030D-6E8A-4147-A177-3AD203B41FA5}">
                      <a16:colId xmlns:a16="http://schemas.microsoft.com/office/drawing/2014/main" val="1287033572"/>
                    </a:ext>
                  </a:extLst>
                </a:gridCol>
                <a:gridCol w="1662898">
                  <a:extLst>
                    <a:ext uri="{9D8B030D-6E8A-4147-A177-3AD203B41FA5}">
                      <a16:colId xmlns:a16="http://schemas.microsoft.com/office/drawing/2014/main" val="1655344151"/>
                    </a:ext>
                  </a:extLst>
                </a:gridCol>
                <a:gridCol w="1662898">
                  <a:extLst>
                    <a:ext uri="{9D8B030D-6E8A-4147-A177-3AD203B41FA5}">
                      <a16:colId xmlns:a16="http://schemas.microsoft.com/office/drawing/2014/main" val="1307993032"/>
                    </a:ext>
                  </a:extLst>
                </a:gridCol>
              </a:tblGrid>
              <a:tr h="756337">
                <a:tc>
                  <a:txBody>
                    <a:bodyPr/>
                    <a:lstStyle/>
                    <a:p>
                      <a:pPr algn="ctr"/>
                      <a:r>
                        <a:rPr lang="en-US" sz="1100" b="1">
                          <a:solidFill>
                            <a:srgbClr val="FFFFFF"/>
                          </a:solidFill>
                        </a:rPr>
                        <a:t>COLLECT &amp; ANALYZE </a:t>
                      </a:r>
                    </a:p>
                    <a:p>
                      <a:pPr algn="ctr"/>
                      <a:r>
                        <a:rPr lang="en-US" sz="1100" b="1">
                          <a:solidFill>
                            <a:srgbClr val="FFFFFF"/>
                          </a:solidFill>
                        </a:rPr>
                        <a:t>CLIENT MATERIALS                                                                                                            </a:t>
                      </a:r>
                      <a:endParaRPr lang="en-US" sz="1100" b="1">
                        <a:solidFill>
                          <a:srgbClr val="FFFFFF"/>
                        </a:solidFill>
                        <a:latin typeface="Arial" pitchFamily="34" charset="0"/>
                        <a:cs typeface="Helvetica Neue" panose="020B0604020202020204" charset="0"/>
                      </a:endParaRPr>
                    </a:p>
                  </a:txBody>
                  <a:tcPr anchor="ctr"/>
                </a:tc>
                <a:tc>
                  <a:txBody>
                    <a:bodyPr/>
                    <a:lstStyle/>
                    <a:p>
                      <a:pPr algn="ctr"/>
                      <a:r>
                        <a:rPr lang="en-US" sz="1100" b="1">
                          <a:solidFill>
                            <a:srgbClr val="FFFFFF"/>
                          </a:solidFill>
                        </a:rPr>
                        <a:t> INTAKE</a:t>
                      </a:r>
                      <a:br>
                        <a:rPr lang="en-US" sz="1100" b="1">
                          <a:solidFill>
                            <a:srgbClr val="FFFFFF"/>
                          </a:solidFill>
                        </a:rPr>
                      </a:br>
                      <a:r>
                        <a:rPr lang="en-US" sz="1100" b="1">
                          <a:solidFill>
                            <a:srgbClr val="FFFFFF"/>
                          </a:solidFill>
                        </a:rPr>
                        <a:t>INTERVIEWS</a:t>
                      </a:r>
                      <a:endParaRPr lang="en-US" sz="1100" b="1">
                        <a:solidFill>
                          <a:srgbClr val="FFFFFF"/>
                        </a:solidFill>
                        <a:latin typeface="Arial" pitchFamily="34" charset="0"/>
                        <a:cs typeface="Helvetica Neue" panose="020B0604020202020204" charset="0"/>
                      </a:endParaRPr>
                    </a:p>
                  </a:txBody>
                  <a:tcPr anchor="ctr"/>
                </a:tc>
                <a:tc>
                  <a:txBody>
                    <a:bodyPr/>
                    <a:lstStyle/>
                    <a:p>
                      <a:pPr algn="ctr"/>
                      <a:r>
                        <a:rPr lang="en-US" sz="1100" b="1">
                          <a:solidFill>
                            <a:srgbClr val="FFFFFF"/>
                          </a:solidFill>
                        </a:rPr>
                        <a:t>ASSESSMENTS</a:t>
                      </a:r>
                      <a:endParaRPr lang="en-US" sz="1100" b="1">
                        <a:solidFill>
                          <a:srgbClr val="FFFFFF"/>
                        </a:solidFill>
                        <a:latin typeface="Arial" pitchFamily="34" charset="0"/>
                        <a:cs typeface="Helvetica Neue" panose="020B0604020202020204" charset="0"/>
                      </a:endParaRPr>
                    </a:p>
                  </a:txBody>
                  <a:tcPr anchor="ctr"/>
                </a:tc>
                <a:tc>
                  <a:txBody>
                    <a:bodyPr/>
                    <a:lstStyle/>
                    <a:p>
                      <a:pPr algn="ctr"/>
                      <a:r>
                        <a:rPr lang="en-US" sz="1100" b="1">
                          <a:solidFill>
                            <a:srgbClr val="FFFFFF"/>
                          </a:solidFill>
                        </a:rPr>
                        <a:t>SUCCESS / ONBOARDING PLAN</a:t>
                      </a:r>
                      <a:endParaRPr lang="en-US" sz="1100" b="1">
                        <a:solidFill>
                          <a:srgbClr val="FFFFFF"/>
                        </a:solidFill>
                        <a:latin typeface="Arial" pitchFamily="34" charset="0"/>
                        <a:cs typeface="Helvetica Neue" panose="020B0604020202020204" charset="0"/>
                      </a:endParaRPr>
                    </a:p>
                  </a:txBody>
                  <a:tcPr anchor="ctr"/>
                </a:tc>
                <a:extLst>
                  <a:ext uri="{0D108BD9-81ED-4DB2-BD59-A6C34878D82A}">
                    <a16:rowId xmlns:a16="http://schemas.microsoft.com/office/drawing/2014/main" val="2283789029"/>
                  </a:ext>
                </a:extLst>
              </a:tr>
              <a:tr h="548199">
                <a:tc>
                  <a:txBody>
                    <a:bodyPr/>
                    <a:lstStyle/>
                    <a:p>
                      <a:pPr algn="ctr"/>
                      <a:r>
                        <a:rPr lang="en-US" sz="1100" dirty="0">
                          <a:solidFill>
                            <a:schemeClr val="tx1"/>
                          </a:solidFill>
                        </a:rPr>
                        <a:t>Strategy Documents </a:t>
                      </a:r>
                      <a:r>
                        <a:rPr lang="en-US" sz="1100" dirty="0">
                          <a:solidFill>
                            <a:schemeClr val="tx1"/>
                          </a:solidFill>
                          <a:sym typeface="+mn-lt"/>
                        </a:rPr>
                        <a:t>•</a:t>
                      </a:r>
                      <a:r>
                        <a:rPr lang="en-US" sz="1100" dirty="0">
                          <a:solidFill>
                            <a:schemeClr val="tx1"/>
                          </a:solidFill>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solidFill>
                            <a:schemeClr val="tx1"/>
                          </a:solidFill>
                        </a:rPr>
                        <a:t>Org Structure </a:t>
                      </a:r>
                      <a:r>
                        <a:rPr lang="en-US" sz="1100" dirty="0">
                          <a:solidFill>
                            <a:schemeClr val="tx1"/>
                          </a:solidFill>
                          <a:sym typeface="+mn-lt"/>
                        </a:rPr>
                        <a:t>•</a:t>
                      </a:r>
                      <a:r>
                        <a:rPr lang="en-US" sz="1100" dirty="0">
                          <a:solidFill>
                            <a:schemeClr val="tx1"/>
                          </a:solidFill>
                        </a:rPr>
                        <a:t> </a:t>
                      </a:r>
                      <a:endParaRPr lang="en-US" sz="1100" dirty="0">
                        <a:solidFill>
                          <a:schemeClr val="tx1"/>
                        </a:solidFill>
                        <a:latin typeface="Arial" pitchFamily="34" charset="0"/>
                        <a:cs typeface="Helvetica Neue" panose="020B0604020202020204" charset="0"/>
                      </a:endParaRPr>
                    </a:p>
                  </a:txBody>
                  <a:tcPr/>
                </a:tc>
                <a:tc>
                  <a:txBody>
                    <a:bodyPr/>
                    <a:lstStyle/>
                    <a:p>
                      <a:pPr algn="ctr"/>
                      <a:r>
                        <a:rPr lang="en-US" sz="1100" kern="1200" dirty="0">
                          <a:solidFill>
                            <a:schemeClr val="tx1"/>
                          </a:solidFill>
                        </a:rPr>
                        <a:t>CEO </a:t>
                      </a:r>
                      <a:r>
                        <a:rPr lang="en-US" sz="1100" kern="1200" dirty="0">
                          <a:solidFill>
                            <a:schemeClr val="tx1"/>
                          </a:solidFill>
                          <a:sym typeface="+mn-lt"/>
                        </a:rPr>
                        <a:t>• </a:t>
                      </a:r>
                      <a:r>
                        <a:rPr lang="en-US" sz="1100" kern="1200" dirty="0">
                          <a:solidFill>
                            <a:schemeClr val="tx1"/>
                          </a:solidFill>
                        </a:rPr>
                        <a:t>CHRO </a:t>
                      </a:r>
                      <a:r>
                        <a:rPr lang="en-US" sz="1100" kern="1200" dirty="0">
                          <a:solidFill>
                            <a:schemeClr val="tx1"/>
                          </a:solidFill>
                          <a:sym typeface="+mn-lt"/>
                        </a:rPr>
                        <a:t>• </a:t>
                      </a:r>
                    </a:p>
                    <a:p>
                      <a:pPr algn="ctr"/>
                      <a:r>
                        <a:rPr lang="en-US" sz="1100" kern="1200" dirty="0">
                          <a:solidFill>
                            <a:schemeClr val="tx1"/>
                          </a:solidFill>
                          <a:sym typeface="+mn-lt"/>
                        </a:rPr>
                        <a:t>Line Mgr.</a:t>
                      </a:r>
                      <a:endParaRPr lang="en-US" sz="1100" kern="1200" dirty="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100" b="0" u="none" strike="noStrike" kern="1200" cap="none" spc="0" normalizeH="0" baseline="0" noProof="0" dirty="0">
                          <a:ln>
                            <a:noFill/>
                          </a:ln>
                          <a:solidFill>
                            <a:schemeClr val="tx1"/>
                          </a:solidFill>
                          <a:effectLst/>
                          <a:uLnTx/>
                          <a:uFillTx/>
                        </a:rPr>
                        <a:t>CEO</a:t>
                      </a:r>
                      <a:r>
                        <a:rPr kumimoji="0" lang="en-US" sz="1100" b="0" u="none" strike="noStrike" kern="1200" cap="none" spc="0" normalizeH="0" baseline="0" noProof="0" dirty="0">
                          <a:ln>
                            <a:noFill/>
                          </a:ln>
                          <a:solidFill>
                            <a:schemeClr val="tx1"/>
                          </a:solidFill>
                          <a:effectLst/>
                          <a:uLnTx/>
                          <a:uFillTx/>
                          <a:sym typeface="+mn-lt"/>
                        </a:rPr>
                        <a:t> • CHRO </a:t>
                      </a:r>
                      <a:r>
                        <a:rPr lang="en-US" sz="1100" kern="1200" dirty="0">
                          <a:solidFill>
                            <a:schemeClr val="tx1"/>
                          </a:solidFill>
                          <a:sym typeface="+mn-lt"/>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sym typeface="+mn-lt"/>
                        </a:rPr>
                        <a:t>Line Mgr. • </a:t>
                      </a:r>
                    </a:p>
                    <a:p>
                      <a:pPr algn="ctr"/>
                      <a:r>
                        <a:rPr lang="en-US" sz="1100" kern="1200" dirty="0">
                          <a:solidFill>
                            <a:schemeClr val="tx1"/>
                          </a:solidFill>
                        </a:rPr>
                        <a:t>Candidates</a:t>
                      </a:r>
                      <a:endParaRPr lang="en-US" sz="1100" kern="1200" dirty="0">
                        <a:solidFill>
                          <a:schemeClr val="tx1"/>
                        </a:solidFill>
                        <a:latin typeface="Arial" pitchFamily="34" charset="0"/>
                        <a:ea typeface="+mn-ea"/>
                        <a:cs typeface="Helvetica Neue" panose="020B0604020202020204" charset="0"/>
                      </a:endParaRPr>
                    </a:p>
                  </a:txBody>
                  <a:tcPr anchor="ctr"/>
                </a:tc>
                <a:tc>
                  <a:txBody>
                    <a:bodyPr/>
                    <a:lstStyle/>
                    <a:p>
                      <a:pPr algn="ctr"/>
                      <a:r>
                        <a:rPr kumimoji="0" lang="en-US" sz="1100" b="0" u="none" strike="noStrike" kern="1200" cap="none" spc="0" normalizeH="0" baseline="0" noProof="0" dirty="0">
                          <a:ln>
                            <a:noFill/>
                          </a:ln>
                          <a:solidFill>
                            <a:schemeClr val="tx1"/>
                          </a:solidFill>
                          <a:effectLst/>
                          <a:uLnTx/>
                          <a:uFillTx/>
                        </a:rPr>
                        <a:t>CEO</a:t>
                      </a:r>
                      <a:endParaRPr lang="en-US" sz="110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488218340"/>
                  </a:ext>
                </a:extLst>
              </a:tr>
              <a:tr h="51122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100">
                        <a:solidFill>
                          <a:schemeClr val="tx1"/>
                        </a:solidFill>
                        <a:latin typeface="Arial" pitchFamily="34" charset="0"/>
                        <a:cs typeface="Helvetica Neue" panose="020B0604020202020204" charset="0"/>
                      </a:endParaRPr>
                    </a:p>
                  </a:txBody>
                  <a:tcPr/>
                </a:tc>
                <a:tc>
                  <a:txBody>
                    <a:bodyPr/>
                    <a:lstStyle/>
                    <a:p>
                      <a:pPr algn="ctr"/>
                      <a:r>
                        <a:rPr lang="en-US" sz="1100" kern="1200">
                          <a:solidFill>
                            <a:schemeClr val="tx1"/>
                          </a:solidFill>
                        </a:rPr>
                        <a:t>Virtual</a:t>
                      </a:r>
                      <a:endParaRPr lang="en-US" sz="1100" kern="1200">
                        <a:solidFill>
                          <a:schemeClr val="tx1"/>
                        </a:solidFill>
                        <a:latin typeface="Arial" pitchFamily="34" charset="0"/>
                        <a:ea typeface="+mn-ea"/>
                        <a:cs typeface="Helvetica Neue" panose="020B0604020202020204" charset="0"/>
                      </a:endParaRPr>
                    </a:p>
                  </a:txBody>
                  <a:tcPr anchor="ctr"/>
                </a:tc>
                <a:tc>
                  <a:txBody>
                    <a:bodyPr/>
                    <a:lstStyle/>
                    <a:p>
                      <a:pPr algn="ctr"/>
                      <a:r>
                        <a:rPr lang="en-US" sz="1100">
                          <a:solidFill>
                            <a:schemeClr val="tx1"/>
                          </a:solidFill>
                        </a:rPr>
                        <a:t>Face to Face</a:t>
                      </a:r>
                      <a:endParaRPr lang="en-US" sz="1100">
                        <a:solidFill>
                          <a:schemeClr val="tx1"/>
                        </a:solidFill>
                        <a:latin typeface="Arial" pitchFamily="34" charset="0"/>
                        <a:cs typeface="Helvetica Neue" panose="020B0604020202020204" charset="0"/>
                      </a:endParaRPr>
                    </a:p>
                  </a:txBody>
                  <a:tcPr anchor="ctr"/>
                </a:tc>
                <a:tc>
                  <a:txBody>
                    <a:bodyPr/>
                    <a:lstStyle/>
                    <a:p>
                      <a:pPr algn="ctr"/>
                      <a:r>
                        <a:rPr lang="en-US" sz="1100" dirty="0">
                          <a:solidFill>
                            <a:schemeClr val="tx1"/>
                          </a:solidFill>
                        </a:rPr>
                        <a:t>Virtual </a:t>
                      </a:r>
                      <a:endParaRPr lang="en-US" sz="1100" dirty="0">
                        <a:solidFill>
                          <a:schemeClr val="tx1"/>
                        </a:solidFill>
                        <a:latin typeface="Arial" pitchFamily="34" charset="0"/>
                        <a:cs typeface="Helvetica Neue" panose="020B0604020202020204" charset="0"/>
                      </a:endParaRPr>
                    </a:p>
                  </a:txBody>
                  <a:tcPr anchor="ctr"/>
                </a:tc>
                <a:extLst>
                  <a:ext uri="{0D108BD9-81ED-4DB2-BD59-A6C34878D82A}">
                    <a16:rowId xmlns:a16="http://schemas.microsoft.com/office/drawing/2014/main" val="1547781014"/>
                  </a:ext>
                </a:extLst>
              </a:tr>
            </a:tbl>
          </a:graphicData>
        </a:graphic>
      </p:graphicFrame>
      <p:sp>
        <p:nvSpPr>
          <p:cNvPr id="20" name="TextBox 19">
            <a:extLst>
              <a:ext uri="{FF2B5EF4-FFF2-40B4-BE49-F238E27FC236}">
                <a16:creationId xmlns:a16="http://schemas.microsoft.com/office/drawing/2014/main" id="{E4700EB2-C78D-6AB3-548C-D7432EF35EC3}"/>
              </a:ext>
            </a:extLst>
          </p:cNvPr>
          <p:cNvSpPr txBox="1"/>
          <p:nvPr/>
        </p:nvSpPr>
        <p:spPr>
          <a:xfrm>
            <a:off x="5910761" y="3606293"/>
            <a:ext cx="1118848" cy="307777"/>
          </a:xfrm>
          <a:prstGeom prst="rect">
            <a:avLst/>
          </a:prstGeom>
          <a:solidFill>
            <a:srgbClr val="F2F2F2"/>
          </a:solidFill>
          <a:ln>
            <a:solidFill>
              <a:schemeClr val="accent1"/>
            </a:solidFill>
          </a:ln>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effectLst/>
                <a:uLnTx/>
                <a:uFillTx/>
                <a:latin typeface="Arial" pitchFamily="34" charset="0"/>
                <a:ea typeface="Helvetica Neue" panose="02000503000000020004" pitchFamily="2" charset="0"/>
                <a:cs typeface="Helvetica Neue" panose="020B0604020202020204" charset="0"/>
              </a:rPr>
              <a:t>Step 4</a:t>
            </a:r>
          </a:p>
        </p:txBody>
      </p:sp>
      <p:sp>
        <p:nvSpPr>
          <p:cNvPr id="21" name="Rounded Rectangle 20">
            <a:extLst>
              <a:ext uri="{FF2B5EF4-FFF2-40B4-BE49-F238E27FC236}">
                <a16:creationId xmlns:a16="http://schemas.microsoft.com/office/drawing/2014/main" id="{E2856214-AE79-A2BC-1934-BD393EEFDF7A}"/>
              </a:ext>
            </a:extLst>
          </p:cNvPr>
          <p:cNvSpPr/>
          <p:nvPr/>
        </p:nvSpPr>
        <p:spPr>
          <a:xfrm>
            <a:off x="720857" y="1571233"/>
            <a:ext cx="6880273" cy="1139081"/>
          </a:xfrm>
          <a:prstGeom prst="roundRect">
            <a:avLst>
              <a:gd name="adj" fmla="val 7477"/>
            </a:avLst>
          </a:prstGeom>
          <a:solidFill>
            <a:srgbClr val="DAD4FD"/>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graphicFrame>
        <p:nvGraphicFramePr>
          <p:cNvPr id="22" name="Table 21">
            <a:extLst>
              <a:ext uri="{FF2B5EF4-FFF2-40B4-BE49-F238E27FC236}">
                <a16:creationId xmlns:a16="http://schemas.microsoft.com/office/drawing/2014/main" id="{EBBF7022-5575-1C6F-6C25-D76C7DFFB61F}"/>
              </a:ext>
            </a:extLst>
          </p:cNvPr>
          <p:cNvGraphicFramePr>
            <a:graphicFrameLocks noGrp="1"/>
          </p:cNvGraphicFramePr>
          <p:nvPr>
            <p:extLst>
              <p:ext uri="{D42A27DB-BD31-4B8C-83A1-F6EECF244321}">
                <p14:modId xmlns:p14="http://schemas.microsoft.com/office/powerpoint/2010/main" val="2355065428"/>
              </p:ext>
            </p:extLst>
          </p:nvPr>
        </p:nvGraphicFramePr>
        <p:xfrm>
          <a:off x="720857" y="1637451"/>
          <a:ext cx="6708862" cy="1049785"/>
        </p:xfrm>
        <a:graphic>
          <a:graphicData uri="http://schemas.openxmlformats.org/drawingml/2006/table">
            <a:tbl>
              <a:tblPr firstRow="1" bandRow="1">
                <a:tableStyleId>{C083E6E3-FA7D-4D7B-A595-EF9225AFEA82}</a:tableStyleId>
              </a:tblPr>
              <a:tblGrid>
                <a:gridCol w="3077391">
                  <a:extLst>
                    <a:ext uri="{9D8B030D-6E8A-4147-A177-3AD203B41FA5}">
                      <a16:colId xmlns:a16="http://schemas.microsoft.com/office/drawing/2014/main" val="20000"/>
                    </a:ext>
                  </a:extLst>
                </a:gridCol>
                <a:gridCol w="348705">
                  <a:extLst>
                    <a:ext uri="{9D8B030D-6E8A-4147-A177-3AD203B41FA5}">
                      <a16:colId xmlns:a16="http://schemas.microsoft.com/office/drawing/2014/main" val="20001"/>
                    </a:ext>
                  </a:extLst>
                </a:gridCol>
                <a:gridCol w="3282766">
                  <a:extLst>
                    <a:ext uri="{9D8B030D-6E8A-4147-A177-3AD203B41FA5}">
                      <a16:colId xmlns:a16="http://schemas.microsoft.com/office/drawing/2014/main" val="20002"/>
                    </a:ext>
                  </a:extLst>
                </a:gridCol>
              </a:tblGrid>
              <a:tr h="257293">
                <a:tc>
                  <a:txBody>
                    <a:bodyPr/>
                    <a:lstStyle/>
                    <a:p>
                      <a:pPr marL="0" marR="0" lvl="0" indent="0" algn="r" defTabSz="914400" rtl="0" eaLnBrk="1" fontAlgn="auto" latinLnBrk="0" hangingPunct="1">
                        <a:lnSpc>
                          <a:spcPct val="100000"/>
                        </a:lnSpc>
                        <a:spcBef>
                          <a:spcPts val="0"/>
                        </a:spcBef>
                        <a:spcAft>
                          <a:spcPts val="0"/>
                        </a:spcAft>
                        <a:buClr>
                          <a:schemeClr val="dk1"/>
                        </a:buClr>
                        <a:buSzPts val="1200"/>
                        <a:buFont typeface="Arial"/>
                        <a:buNone/>
                        <a:tabLst/>
                        <a:defRPr sz="1200" b="1">
                          <a:solidFill>
                            <a:srgbClr val="FFFFFF"/>
                          </a:solidFill>
                          <a:latin typeface="Arial" pitchFamily="34" charset="0"/>
                        </a:defRPr>
                      </a:pPr>
                      <a:r>
                        <a:rPr lang="en-US" sz="1000" b="1" u="none" strike="noStrike" kern="1200" cap="none">
                          <a:solidFill>
                            <a:schemeClr val="tx1"/>
                          </a:solidFill>
                          <a:latin typeface="Arial" pitchFamily="34" charset="0"/>
                          <a:ea typeface="Helvetica Neue" panose="02000503000000020004" pitchFamily="2" charset="0"/>
                          <a:cs typeface="Helvetica Neue" panose="02000503000000020004" pitchFamily="2" charset="0"/>
                        </a:rPr>
                        <a:t>Generic Job Descriptions</a:t>
                      </a: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lvl="2" algn="r" rtl="0"/>
                      <a:endParaRPr lang="en-IN" sz="1000" b="1" i="0" u="none" strike="noStrike" cap="none">
                        <a:solidFill>
                          <a:schemeClr val="tx1"/>
                        </a:solidFill>
                        <a:effectLst/>
                        <a:latin typeface="Arial" pitchFamily="34" charset="0"/>
                        <a:ea typeface="Helvetica Neue" panose="02000503000000020004" pitchFamily="2" charset="0"/>
                        <a:cs typeface="Helvetica Neue" panose="02000503000000020004" pitchFamily="2" charset="0"/>
                        <a:sym typeface="Arial"/>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Aligned to</a:t>
                      </a: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rPr>
                        <a:t> </a:t>
                      </a: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Jobs to be done</a:t>
                      </a:r>
                      <a:endParaRPr lang="en-US" sz="1000" b="1">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L>
                      <a:noFill/>
                    </a:lnL>
                    <a:lnR>
                      <a:noFill/>
                    </a:lnR>
                    <a:lnT w="12700" cmpd="sng">
                      <a:noFill/>
                    </a:lnT>
                    <a:lnB w="12700" cmpd="sng">
                      <a:noFill/>
                    </a:lnB>
                    <a:lnTlToBr w="12700" cmpd="sng">
                      <a:noFill/>
                      <a:prstDash val="solid"/>
                    </a:lnTlToBr>
                    <a:lnBlToTr w="12700" cmpd="sng">
                      <a:noFill/>
                      <a:prstDash val="solid"/>
                    </a:lnBlToTr>
                    <a:solidFill>
                      <a:srgbClr val="DAD4FD"/>
                    </a:solidFill>
                  </a:tcPr>
                </a:tc>
                <a:extLst>
                  <a:ext uri="{0D108BD9-81ED-4DB2-BD59-A6C34878D82A}">
                    <a16:rowId xmlns:a16="http://schemas.microsoft.com/office/drawing/2014/main" val="10000"/>
                  </a:ext>
                </a:extLst>
              </a:tr>
              <a:tr h="377393">
                <a:tc>
                  <a:txBody>
                    <a:bodyPr/>
                    <a:lstStyle/>
                    <a:p>
                      <a:pPr marL="0" marR="0" lvl="0" indent="0" algn="r" rtl="0">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Good Talent</a:t>
                      </a:r>
                      <a:endParaRPr lang="en-US" sz="1000" b="1" dirty="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w="12700" cmpd="sng">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dirty="0">
                          <a:solidFill>
                            <a:schemeClr val="tx1"/>
                          </a:solidFill>
                          <a:latin typeface="Arial" pitchFamily="34" charset="0"/>
                          <a:ea typeface="Helvetica Neue" panose="02000503000000020004" pitchFamily="2" charset="0"/>
                          <a:cs typeface="Helvetica Neue" panose="02000503000000020004" pitchFamily="2" charset="0"/>
                        </a:rPr>
                        <a:t>Structured Interviews and Assessment Focusing On The JTBDs, Role Risks And Superpowers</a:t>
                      </a:r>
                    </a:p>
                  </a:txBody>
                  <a:tcPr marL="91442" marR="91442" marT="45723" marB="45723" anchor="ctr">
                    <a:lnT w="12700" cmpd="sng">
                      <a:noFill/>
                    </a:lnT>
                    <a:lnB>
                      <a:noFill/>
                    </a:lnB>
                    <a:solidFill>
                      <a:srgbClr val="DAD4FD"/>
                    </a:solidFill>
                  </a:tcPr>
                </a:tc>
                <a:extLst>
                  <a:ext uri="{0D108BD9-81ED-4DB2-BD59-A6C34878D82A}">
                    <a16:rowId xmlns:a16="http://schemas.microsoft.com/office/drawing/2014/main" val="10001"/>
                  </a:ext>
                </a:extLst>
              </a:tr>
              <a:tr h="377393">
                <a:tc>
                  <a:txBody>
                    <a:bodyPr/>
                    <a:lstStyle/>
                    <a:p>
                      <a:pPr marL="0" marR="0" lvl="0" indent="0" algn="r" rtl="0">
                        <a:lnSpc>
                          <a:spcPct val="100000"/>
                        </a:lnSpc>
                        <a:spcBef>
                          <a:spcPts val="0"/>
                        </a:spcBef>
                        <a:spcAft>
                          <a:spcPts val="0"/>
                        </a:spcAft>
                        <a:buClr>
                          <a:schemeClr val="dk1"/>
                        </a:buClr>
                        <a:buSzPts val="1200"/>
                        <a:buFont typeface="Arial"/>
                        <a:buNone/>
                      </a:pPr>
                      <a:r>
                        <a:rPr lang="en-US" sz="1000" b="1" u="none" strike="noStrike" cap="none">
                          <a:solidFill>
                            <a:schemeClr val="tx1"/>
                          </a:solidFill>
                          <a:latin typeface="Arial" pitchFamily="34" charset="0"/>
                          <a:ea typeface="Helvetica Neue" panose="02000503000000020004" pitchFamily="2" charset="0"/>
                          <a:cs typeface="Helvetica Neue" panose="02000503000000020004" pitchFamily="2" charset="0"/>
                          <a:sym typeface="Lato"/>
                        </a:rPr>
                        <a:t>Hiring good talent will ensure success</a:t>
                      </a:r>
                      <a:endParaRPr lang="en-US" sz="1000" b="1">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lvl="2" algn="r"/>
                      <a:endParaRPr lang="en-US" sz="1000" b="1" i="0">
                        <a:solidFill>
                          <a:schemeClr val="tx1"/>
                        </a:solidFill>
                        <a:latin typeface="Arial" pitchFamily="34" charset="0"/>
                        <a:ea typeface="Helvetica Neue" panose="02000503000000020004" pitchFamily="2" charset="0"/>
                        <a:cs typeface="Helvetica Neue" panose="02000503000000020004" pitchFamily="2" charset="0"/>
                      </a:endParaRPr>
                    </a:p>
                  </a:txBody>
                  <a:tcPr marL="91442" marR="91442" marT="45723" marB="45723" anchor="ctr">
                    <a:lnT>
                      <a:noFill/>
                    </a:lnT>
                    <a:lnB>
                      <a:noFill/>
                    </a:lnB>
                    <a:solidFill>
                      <a:srgbClr val="DAD4FD"/>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000" b="1" u="none" strike="noStrike" cap="none" dirty="0">
                          <a:solidFill>
                            <a:schemeClr val="tx1"/>
                          </a:solidFill>
                          <a:latin typeface="Arial" pitchFamily="34" charset="0"/>
                          <a:ea typeface="Helvetica Neue" panose="02000503000000020004" pitchFamily="2" charset="0"/>
                          <a:cs typeface="Helvetica Neue" panose="02000503000000020004" pitchFamily="2" charset="0"/>
                          <a:sym typeface="Lato"/>
                        </a:rPr>
                        <a:t>Success / Onboarding Plan With Role &amp; Talent Interventions</a:t>
                      </a:r>
                    </a:p>
                  </a:txBody>
                  <a:tcPr marL="91442" marR="91442" marT="45723" marB="45723" anchor="ctr">
                    <a:lnT>
                      <a:noFill/>
                    </a:lnT>
                    <a:lnB>
                      <a:noFill/>
                    </a:lnB>
                    <a:solidFill>
                      <a:srgbClr val="DAD4FD"/>
                    </a:solidFill>
                  </a:tcPr>
                </a:tc>
                <a:extLst>
                  <a:ext uri="{0D108BD9-81ED-4DB2-BD59-A6C34878D82A}">
                    <a16:rowId xmlns:a16="http://schemas.microsoft.com/office/drawing/2014/main" val="10002"/>
                  </a:ext>
                </a:extLst>
              </a:tr>
            </a:tbl>
          </a:graphicData>
        </a:graphic>
      </p:graphicFrame>
      <p:sp>
        <p:nvSpPr>
          <p:cNvPr id="23" name="Triangle 22">
            <a:extLst>
              <a:ext uri="{FF2B5EF4-FFF2-40B4-BE49-F238E27FC236}">
                <a16:creationId xmlns:a16="http://schemas.microsoft.com/office/drawing/2014/main" id="{277FA5A8-6071-E89F-58A9-76988BE501E1}"/>
              </a:ext>
            </a:extLst>
          </p:cNvPr>
          <p:cNvSpPr/>
          <p:nvPr/>
        </p:nvSpPr>
        <p:spPr>
          <a:xfrm rot="5400000">
            <a:off x="3998777" y="1763047"/>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4" name="Triangle 23">
            <a:extLst>
              <a:ext uri="{FF2B5EF4-FFF2-40B4-BE49-F238E27FC236}">
                <a16:creationId xmlns:a16="http://schemas.microsoft.com/office/drawing/2014/main" id="{5FB2FB5A-3A9A-038D-3D02-11C8AE1C6989}"/>
              </a:ext>
            </a:extLst>
          </p:cNvPr>
          <p:cNvSpPr/>
          <p:nvPr/>
        </p:nvSpPr>
        <p:spPr>
          <a:xfrm rot="5400000">
            <a:off x="3998777" y="2118068"/>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5" name="Triangle 24">
            <a:extLst>
              <a:ext uri="{FF2B5EF4-FFF2-40B4-BE49-F238E27FC236}">
                <a16:creationId xmlns:a16="http://schemas.microsoft.com/office/drawing/2014/main" id="{A8E68C1C-E95A-2ACE-1755-30F2D5CCC8FA}"/>
              </a:ext>
            </a:extLst>
          </p:cNvPr>
          <p:cNvSpPr/>
          <p:nvPr/>
        </p:nvSpPr>
        <p:spPr>
          <a:xfrm rot="5400000">
            <a:off x="3998777" y="2496860"/>
            <a:ext cx="161925" cy="78155"/>
          </a:xfrm>
          <a:prstGeom prst="triangle">
            <a:avLst/>
          </a:prstGeom>
          <a:solidFill>
            <a:srgbClr val="76767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0" fontAlgn="base" latinLnBrk="0" hangingPunct="0">
              <a:lnSpc>
                <a:spcPct val="100000"/>
              </a:lnSpc>
              <a:spcBef>
                <a:spcPct val="0"/>
              </a:spcBef>
              <a:spcAft>
                <a:spcPct val="0"/>
              </a:spcAft>
              <a:buClrTx/>
              <a:buSzTx/>
              <a:buFontTx/>
              <a:buNone/>
              <a:tabLst/>
              <a:defRPr>
                <a:solidFill>
                  <a:srgbClr val="FFFFFF"/>
                </a:solidFill>
              </a:defRPr>
            </a:pPr>
            <a:endParaRPr kumimoji="0" lang="en-US" sz="14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6" name="Rectangle: Rounded Corners 24">
            <a:extLst>
              <a:ext uri="{FF2B5EF4-FFF2-40B4-BE49-F238E27FC236}">
                <a16:creationId xmlns:a16="http://schemas.microsoft.com/office/drawing/2014/main" id="{263D2AA0-1C9B-0F3A-09A1-63B07109E775}"/>
              </a:ext>
            </a:extLst>
          </p:cNvPr>
          <p:cNvSpPr/>
          <p:nvPr/>
        </p:nvSpPr>
        <p:spPr>
          <a:xfrm>
            <a:off x="8076492" y="1577717"/>
            <a:ext cx="3810426" cy="4971487"/>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Define Jobs to Be Done </a:t>
            </a: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3–5 specific outcomes + role risks (not general responsibilities)</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Select the Search Partner </a:t>
            </a: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Choose the right lead consultant and project team</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Assess Talent Readiness </a:t>
            </a:r>
            <a:endParaRPr lang="en-US" sz="1400" spc="-10" noProof="0" dirty="0">
              <a:solidFill>
                <a:srgbClr val="765FFF"/>
              </a:solidFill>
              <a:latin typeface="Arial" panose="020B0604020202020204" pitchFamily="34" charset="0"/>
              <a:ea typeface="Helvetica Neue" panose="02000503000000020004" pitchFamily="2" charset="0"/>
              <a:cs typeface="Arial" panose="020B0604020202020204" pitchFamily="34" charset="0"/>
            </a:endParaRPr>
          </a:p>
          <a:p>
            <a:pPr marL="265113" lvl="1" indent="-265113">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(2 candidates / role)</a:t>
            </a:r>
            <a:r>
              <a:rPr lang="en-US" sz="1400" spc="-10" dirty="0">
                <a:solidFill>
                  <a:srgbClr val="765FFF"/>
                </a:solidFill>
                <a:latin typeface="Arial" panose="020B0604020202020204" pitchFamily="34" charset="0"/>
                <a:ea typeface="Helvetica Neue" panose="02000503000000020004" pitchFamily="2" charset="0"/>
                <a:cs typeface="Arial" panose="020B0604020202020204" pitchFamily="34" charset="0"/>
              </a:rPr>
              <a:t>:</a:t>
            </a:r>
            <a:endPar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lvl="1" indent="-265113">
              <a:buFont typeface="Wingdings" panose="05000000000000000000" pitchFamily="2" charset="2"/>
              <a:buChar char="ü"/>
              <a:defRPr/>
            </a:pP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Role design</a:t>
            </a:r>
          </a:p>
          <a:p>
            <a:pPr marL="265113" lvl="1" indent="-265113">
              <a:buFont typeface="Wingdings" panose="05000000000000000000" pitchFamily="2" charset="2"/>
              <a:buChar char="ü"/>
              <a:defRPr/>
            </a:pP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Talent match to the JTBD</a:t>
            </a:r>
          </a:p>
          <a:p>
            <a:pPr marL="265113" lvl="1" indent="-265113">
              <a:buFont typeface="Wingdings" panose="05000000000000000000" pitchFamily="2" charset="2"/>
              <a:buChar char="ü"/>
              <a:defRPr/>
            </a:pP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Superpowers</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Off-List References</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Hogan Assessment</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The Art of Offer</a:t>
            </a: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endParaRPr kumimoji="0" lang="en-US" sz="14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endParaRPr>
          </a:p>
          <a:p>
            <a:pPr marL="265113" marR="0" lvl="0" indent="-265113" defTabSz="91440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10" normalizeH="0" baseline="0" noProof="0" dirty="0">
                <a:ln>
                  <a:noFill/>
                </a:ln>
                <a:solidFill>
                  <a:srgbClr val="765FFF"/>
                </a:solidFill>
                <a:effectLst/>
                <a:uLnTx/>
                <a:uFillTx/>
                <a:latin typeface="Arial" panose="020B0604020202020204" pitchFamily="34" charset="0"/>
                <a:ea typeface="Helvetica Neue" panose="02000503000000020004" pitchFamily="2" charset="0"/>
                <a:cs typeface="Arial" panose="020B0604020202020204" pitchFamily="34" charset="0"/>
              </a:rPr>
              <a:t>Success &amp; Onboarding Plan </a:t>
            </a:r>
            <a:r>
              <a:rPr kumimoji="0" lang="en-US" sz="1200" i="0" u="none" strike="noStrike" kern="1200" cap="none" spc="-10" normalizeH="0" baseline="0" noProof="0" dirty="0">
                <a:ln>
                  <a:noFill/>
                </a:ln>
                <a:solidFill>
                  <a:srgbClr val="1D1D1D"/>
                </a:solidFill>
                <a:effectLst/>
                <a:uLnTx/>
                <a:uFillTx/>
                <a:latin typeface="Arial" panose="020B0604020202020204" pitchFamily="34" charset="0"/>
                <a:ea typeface="Helvetica Neue" panose="02000503000000020004" pitchFamily="2" charset="0"/>
                <a:cs typeface="Arial" panose="020B0604020202020204" pitchFamily="34" charset="0"/>
              </a:rPr>
              <a:t>→ Clear role and talent interventions</a:t>
            </a:r>
            <a:endParaRPr kumimoji="0" lang="en-US" sz="1200" i="0" u="none" strike="noStrike" kern="1200" cap="none" spc="-10" normalizeH="0" baseline="0" noProof="0" dirty="0">
              <a:ln>
                <a:noFill/>
              </a:ln>
              <a:solidFill>
                <a:srgbClr val="3B3B3B"/>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7" name="TextBox 26">
            <a:extLst>
              <a:ext uri="{FF2B5EF4-FFF2-40B4-BE49-F238E27FC236}">
                <a16:creationId xmlns:a16="http://schemas.microsoft.com/office/drawing/2014/main" id="{F0896AE5-1DA5-A684-0ECB-D9BC81BA226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2102848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5E7E97-E56C-B710-7A6B-898238B37C22}"/>
              </a:ext>
            </a:extLst>
          </p:cNvPr>
          <p:cNvSpPr>
            <a:spLocks noGrp="1"/>
          </p:cNvSpPr>
          <p:nvPr>
            <p:ph type="sldNum" sz="quarter" idx="4"/>
          </p:nvPr>
        </p:nvSpPr>
        <p:spPr/>
        <p:txBody>
          <a:bodyPr/>
          <a:lstStyle/>
          <a:p>
            <a:pPr algn="ctr"/>
            <a:fld id="{263862CC-204F-4E50-8BF7-6EEE79EB8F36}" type="slidenum">
              <a:rPr lang="en-US" smtClean="0"/>
              <a:t>61</a:t>
            </a:fld>
            <a:endParaRPr lang="en-US"/>
          </a:p>
        </p:txBody>
      </p:sp>
      <p:sp>
        <p:nvSpPr>
          <p:cNvPr id="3" name="TextBox 2">
            <a:extLst>
              <a:ext uri="{FF2B5EF4-FFF2-40B4-BE49-F238E27FC236}">
                <a16:creationId xmlns:a16="http://schemas.microsoft.com/office/drawing/2014/main" id="{7B7C4FF6-FF68-B40F-6F54-6515E6074969}"/>
              </a:ext>
            </a:extLst>
          </p:cNvPr>
          <p:cNvSpPr txBox="1"/>
          <p:nvPr/>
        </p:nvSpPr>
        <p:spPr>
          <a:xfrm>
            <a:off x="3096126" y="5350042"/>
            <a:ext cx="3807324" cy="1077218"/>
          </a:xfrm>
          <a:prstGeom prst="rect">
            <a:avLst/>
          </a:prstGeom>
          <a:noFill/>
        </p:spPr>
        <p:txBody>
          <a:bodyPr wrap="none" lIns="91440" tIns="45720" rIns="91440" bIns="45720" rtlCol="0" anchor="t">
            <a:spAutoFit/>
          </a:bodyPr>
          <a:lstStyle/>
          <a:p>
            <a:r>
              <a:rPr lang="en-GB" sz="1600" spc="-10">
                <a:latin typeface="Arial" pitchFamily="34" charset="0"/>
              </a:rPr>
              <a:t>Monica Klaas-Kütt</a:t>
            </a:r>
          </a:p>
          <a:p>
            <a:r>
              <a:rPr lang="en-GB" sz="1600" spc="-10">
                <a:latin typeface="Arial" pitchFamily="34" charset="0"/>
              </a:rPr>
              <a:t>Associate Partner</a:t>
            </a:r>
          </a:p>
          <a:p>
            <a:r>
              <a:rPr lang="en-GB" sz="1600" spc="-10">
                <a:latin typeface="Arial" pitchFamily="34" charset="0"/>
                <a:hlinkClick r:id="rId2"/>
              </a:rPr>
              <a:t>monica@FulcrumQ.com</a:t>
            </a:r>
          </a:p>
          <a:p>
            <a:r>
              <a:rPr lang="en-GB" sz="1600" spc="-10">
                <a:latin typeface="Arial" pitchFamily="34" charset="0"/>
                <a:ea typeface="+mn-lt"/>
                <a:cs typeface="+mn-lt"/>
                <a:hlinkClick r:id="rId3"/>
              </a:rPr>
              <a:t>www.linkedin.com/in/monica-klaas-kuett</a:t>
            </a:r>
            <a:endParaRPr lang="en-GB" sz="1600" spc="-10">
              <a:latin typeface="Arial" pitchFamily="34" charset="0"/>
              <a:ea typeface="+mn-lt"/>
              <a:cs typeface="+mn-lt"/>
            </a:endParaRPr>
          </a:p>
        </p:txBody>
      </p:sp>
      <p:sp>
        <p:nvSpPr>
          <p:cNvPr id="4" name="TextBox 3">
            <a:extLst>
              <a:ext uri="{FF2B5EF4-FFF2-40B4-BE49-F238E27FC236}">
                <a16:creationId xmlns:a16="http://schemas.microsoft.com/office/drawing/2014/main" id="{C7BB6DA3-6A6F-DF45-D09C-C92A1E53372B}"/>
              </a:ext>
            </a:extLst>
          </p:cNvPr>
          <p:cNvSpPr txBox="1"/>
          <p:nvPr/>
        </p:nvSpPr>
        <p:spPr>
          <a:xfrm>
            <a:off x="3096126" y="4194101"/>
            <a:ext cx="5612306" cy="1077218"/>
          </a:xfrm>
          <a:prstGeom prst="rect">
            <a:avLst/>
          </a:prstGeom>
          <a:noFill/>
        </p:spPr>
        <p:txBody>
          <a:bodyPr wrap="none" lIns="91440" tIns="45720" rIns="91440" bIns="45720" rtlCol="0" anchor="t">
            <a:spAutoFit/>
          </a:bodyPr>
          <a:lstStyle/>
          <a:p>
            <a:r>
              <a:rPr lang="en-GB" sz="1600" spc="-10">
                <a:latin typeface="Arial" pitchFamily="34" charset="0"/>
                <a:cs typeface="Helvetica Neue" panose="020B0604020202020204" charset="0"/>
              </a:rPr>
              <a:t>Prateek Sinha</a:t>
            </a:r>
          </a:p>
          <a:p>
            <a:r>
              <a:rPr lang="en-GB" sz="1600" spc="-10">
                <a:latin typeface="Arial" pitchFamily="34" charset="0"/>
                <a:cs typeface="Helvetica Neue" panose="020B0604020202020204" charset="0"/>
              </a:rPr>
              <a:t>Partner</a:t>
            </a:r>
          </a:p>
          <a:p>
            <a:r>
              <a:rPr lang="en-GB" sz="1600" spc="-10">
                <a:latin typeface="Arial" pitchFamily="34" charset="0"/>
                <a:cs typeface="Helvetica Neue" panose="020B0604020202020204" charset="0"/>
                <a:hlinkClick r:id="rId4"/>
              </a:rPr>
              <a:t>prateek@FulcrumQ.com</a:t>
            </a:r>
          </a:p>
          <a:p>
            <a:r>
              <a:rPr lang="en-GB" sz="1600" spc="-10">
                <a:latin typeface="Arial" pitchFamily="34" charset="0"/>
                <a:ea typeface="+mn-lt"/>
                <a:cs typeface="Helvetica Neue" panose="020B0604020202020204" charset="0"/>
                <a:hlinkClick r:id="rId5"/>
              </a:rPr>
              <a:t>https://www.linkedin.com/in/prateek-sinha-talent-od-change/</a:t>
            </a:r>
            <a:endParaRPr lang="en-GB" spc="-10">
              <a:latin typeface="Arial" pitchFamily="34" charset="0"/>
              <a:ea typeface="+mn-lt"/>
              <a:cs typeface="Helvetica Neue" panose="020B0604020202020204" charset="0"/>
            </a:endParaRPr>
          </a:p>
        </p:txBody>
      </p:sp>
      <p:pic>
        <p:nvPicPr>
          <p:cNvPr id="5" name="Picture 4" descr="A person with short hair wearing glasses and a white shirt&#10;&#10;AI-generated content may be incorrect.">
            <a:extLst>
              <a:ext uri="{FF2B5EF4-FFF2-40B4-BE49-F238E27FC236}">
                <a16:creationId xmlns:a16="http://schemas.microsoft.com/office/drawing/2014/main" id="{6D4188D0-7E5C-3E3A-9CB1-7E450BA5BCE1}"/>
              </a:ext>
            </a:extLst>
          </p:cNvPr>
          <p:cNvPicPr>
            <a:picLocks noChangeAspect="1"/>
          </p:cNvPicPr>
          <p:nvPr/>
        </p:nvPicPr>
        <p:blipFill>
          <a:blip r:embed="rId6"/>
          <a:stretch>
            <a:fillRect/>
          </a:stretch>
        </p:blipFill>
        <p:spPr>
          <a:xfrm>
            <a:off x="1836821" y="5424063"/>
            <a:ext cx="846311" cy="849309"/>
          </a:xfrm>
          <a:prstGeom prst="rect">
            <a:avLst/>
          </a:prstGeom>
        </p:spPr>
      </p:pic>
      <p:pic>
        <p:nvPicPr>
          <p:cNvPr id="6" name="Picture 5" descr="A person in a suit&#10;&#10;AI-generated content may be incorrect.">
            <a:extLst>
              <a:ext uri="{FF2B5EF4-FFF2-40B4-BE49-F238E27FC236}">
                <a16:creationId xmlns:a16="http://schemas.microsoft.com/office/drawing/2014/main" id="{BE87B4A9-5983-47DB-9053-E6491C602E11}"/>
              </a:ext>
            </a:extLst>
          </p:cNvPr>
          <p:cNvPicPr>
            <a:picLocks noChangeAspect="1"/>
          </p:cNvPicPr>
          <p:nvPr/>
        </p:nvPicPr>
        <p:blipFill>
          <a:blip r:embed="rId7"/>
          <a:stretch>
            <a:fillRect/>
          </a:stretch>
        </p:blipFill>
        <p:spPr>
          <a:xfrm>
            <a:off x="1836821" y="4227933"/>
            <a:ext cx="849309" cy="849309"/>
          </a:xfrm>
          <a:prstGeom prst="rect">
            <a:avLst/>
          </a:prstGeom>
        </p:spPr>
      </p:pic>
    </p:spTree>
    <p:extLst>
      <p:ext uri="{BB962C8B-B14F-4D97-AF65-F5344CB8AC3E}">
        <p14:creationId xmlns:p14="http://schemas.microsoft.com/office/powerpoint/2010/main" val="2987315179"/>
      </p:ext>
    </p:extLst>
  </p:cSld>
  <p:clrMapOvr>
    <a:masterClrMapping/>
  </p:clrMapOvr>
</p:sld>
</file>

<file path=ppt/theme/theme1.xml><?xml version="1.0" encoding="utf-8"?>
<a:theme xmlns:a="http://schemas.openxmlformats.org/drawingml/2006/main" name="FQ_Theme">
  <a:themeElements>
    <a:clrScheme name="FQ_Colors">
      <a:dk1>
        <a:srgbClr val="1D1D1D"/>
      </a:dk1>
      <a:lt1>
        <a:srgbClr val="FFFFFF"/>
      </a:lt1>
      <a:dk2>
        <a:srgbClr val="281A42"/>
      </a:dk2>
      <a:lt2>
        <a:srgbClr val="F2F2F2"/>
      </a:lt2>
      <a:accent1>
        <a:srgbClr val="765FFF"/>
      </a:accent1>
      <a:accent2>
        <a:srgbClr val="281A42"/>
      </a:accent2>
      <a:accent3>
        <a:srgbClr val="00C27A"/>
      </a:accent3>
      <a:accent4>
        <a:srgbClr val="60BDBC"/>
      </a:accent4>
      <a:accent5>
        <a:srgbClr val="FFB547"/>
      </a:accent5>
      <a:accent6>
        <a:srgbClr val="FF2E88"/>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ulcrumQ Default Template" id="{8DA0E5EF-F260-734E-8758-5A5D32FE6210}" vid="{6D9E437C-8548-9346-908E-F626CF510D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81A42"/>
      </a:dk2>
      <a:lt2>
        <a:srgbClr val="D0D7DF"/>
      </a:lt2>
      <a:accent1>
        <a:srgbClr val="7A828D"/>
      </a:accent1>
      <a:accent2>
        <a:srgbClr val="FFB547"/>
      </a:accent2>
      <a:accent3>
        <a:srgbClr val="00C27A"/>
      </a:accent3>
      <a:accent4>
        <a:srgbClr val="60BDBC"/>
      </a:accent4>
      <a:accent5>
        <a:srgbClr val="917FFF"/>
      </a:accent5>
      <a:accent6>
        <a:srgbClr val="00C27A"/>
      </a:accent6>
      <a:hlink>
        <a:srgbClr val="60BDBC"/>
      </a:hlink>
      <a:folHlink>
        <a:srgbClr val="C8B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ee8fdce-b256-4fbb-9f2e-e2e60028207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9C1F0537780943AD98C02B80BF19B5" ma:contentTypeVersion="10" ma:contentTypeDescription="Create a new document." ma:contentTypeScope="" ma:versionID="86dda6c60c7a4327762f4f81fb29f069">
  <xsd:schema xmlns:xsd="http://www.w3.org/2001/XMLSchema" xmlns:xs="http://www.w3.org/2001/XMLSchema" xmlns:p="http://schemas.microsoft.com/office/2006/metadata/properties" xmlns:ns3="7ee8fdce-b256-4fbb-9f2e-e2e60028207d" targetNamespace="http://schemas.microsoft.com/office/2006/metadata/properties" ma:root="true" ma:fieldsID="a5cce8fff16155696095d1e5458d566c" ns3:_="">
    <xsd:import namespace="7ee8fdce-b256-4fbb-9f2e-e2e60028207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e8fdce-b256-4fbb-9f2e-e2e6002820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8BAE66-A1D1-4C93-936A-1E242AAF5ABA}">
  <ds:schemaRefs>
    <ds:schemaRef ds:uri="http://schemas.microsoft.com/sharepoint/v3/contenttype/forms"/>
  </ds:schemaRefs>
</ds:datastoreItem>
</file>

<file path=customXml/itemProps2.xml><?xml version="1.0" encoding="utf-8"?>
<ds:datastoreItem xmlns:ds="http://schemas.openxmlformats.org/officeDocument/2006/customXml" ds:itemID="{63E89E6A-2009-4FD6-9B17-C81D73259F54}">
  <ds:schemaRefs>
    <ds:schemaRef ds:uri="http://schemas.microsoft.com/office/2006/documentManagement/types"/>
    <ds:schemaRef ds:uri="http://www.w3.org/XML/1998/namespace"/>
    <ds:schemaRef ds:uri="7ee8fdce-b256-4fbb-9f2e-e2e60028207d"/>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45D026BE-E9EE-4815-8105-280B6E1410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e8fdce-b256-4fbb-9f2e-e2e6002820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17422</TotalTime>
  <Words>9821</Words>
  <Application>Microsoft Macintosh PowerPoint</Application>
  <PresentationFormat>Widescreen</PresentationFormat>
  <Paragraphs>1873</Paragraphs>
  <Slides>61</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Aptos</vt:lpstr>
      <vt:lpstr>Arial</vt:lpstr>
      <vt:lpstr>Calibri</vt:lpstr>
      <vt:lpstr>Helvetica Neue</vt:lpstr>
      <vt:lpstr>Helvetica Neue Light</vt:lpstr>
      <vt:lpstr>Helvetica Neue Medium</vt:lpstr>
      <vt:lpstr>Lato</vt:lpstr>
      <vt:lpstr>Lato Black</vt:lpstr>
      <vt:lpstr>Lato Light</vt:lpstr>
      <vt:lpstr>Segoe UI</vt:lpstr>
      <vt:lpstr>Wingdings</vt:lpstr>
      <vt:lpstr>FQ_Theme</vt:lpstr>
      <vt:lpstr>Talent to Value</vt:lpstr>
      <vt:lpstr>Talent to Value Unlocks Answers to Critical Business Questions</vt:lpstr>
      <vt:lpstr>Talent to Value</vt:lpstr>
      <vt:lpstr>Talent to Value in Core HR Practices</vt:lpstr>
      <vt:lpstr>Succession for Value</vt:lpstr>
      <vt:lpstr>Succession for Value™</vt:lpstr>
      <vt:lpstr>Future Jobs to Be Done &amp; Risks</vt:lpstr>
      <vt:lpstr>Future Jobs to Be Done Readiness</vt:lpstr>
      <vt:lpstr>Hogan</vt:lpstr>
      <vt:lpstr>Talent Match Summary </vt:lpstr>
      <vt:lpstr>Candidate Assessment Comparison</vt:lpstr>
      <vt:lpstr>Outcome of Readiness Assessment</vt:lpstr>
      <vt:lpstr>Outcome of Readiness Assessment</vt:lpstr>
      <vt:lpstr>Rapid Talent to Value</vt:lpstr>
      <vt:lpstr>Rapid TALENT2VALUE</vt:lpstr>
      <vt:lpstr>Strategic Pivots  Value Hotspots  Work Headlines</vt:lpstr>
      <vt:lpstr>Critical Roles and Risks @ Value Hotspots</vt:lpstr>
      <vt:lpstr>Value Ranked List of Critical Roles</vt:lpstr>
      <vt:lpstr>Human Capital Balance Sheet</vt:lpstr>
      <vt:lpstr>Enabling CEO Success</vt:lpstr>
      <vt:lpstr>Next Steps</vt:lpstr>
      <vt:lpstr>Talent to Value</vt:lpstr>
      <vt:lpstr>Talent to Value Methodology</vt:lpstr>
      <vt:lpstr>We Start with Defining Where Is the Value</vt:lpstr>
      <vt:lpstr>To Be Able to Define Work Headlines</vt:lpstr>
      <vt:lpstr>We Identify Critical Roles</vt:lpstr>
      <vt:lpstr>In Each of the Hotspots</vt:lpstr>
      <vt:lpstr>And Rank Roles to Generate /LIST</vt:lpstr>
      <vt:lpstr>We Connect Work•Role•Talent</vt:lpstr>
      <vt:lpstr>Role•Talent Cards Provide Detailed Risk Assessment</vt:lpstr>
      <vt:lpstr>High-level Risks across Critical Roles Can Also Be Done Rapidly</vt:lpstr>
      <vt:lpstr>This Helps to Mobilize People</vt:lpstr>
      <vt:lpstr>And Identify Actions at the Organization Level</vt:lpstr>
      <vt:lpstr>Giving US the Fewest Initiatives to Deliver the Value</vt:lpstr>
      <vt:lpstr>Business Impact of Talent to Value</vt:lpstr>
      <vt:lpstr>Organizing to Value</vt:lpstr>
      <vt:lpstr>Organize to Value: Our Approach</vt:lpstr>
      <vt:lpstr>Organize to Value</vt:lpstr>
      <vt:lpstr>Organize to Value</vt:lpstr>
      <vt:lpstr>Organize to Value</vt:lpstr>
      <vt:lpstr>CXO Enablement</vt:lpstr>
      <vt:lpstr>4 Pillars Essential for CXO Success</vt:lpstr>
      <vt:lpstr>Going green &amp; global</vt:lpstr>
      <vt:lpstr>CXO Value Ambition</vt:lpstr>
      <vt:lpstr>CXO Value Forecast</vt:lpstr>
      <vt:lpstr>CXO Value Forecast </vt:lpstr>
      <vt:lpstr>Hogan Assessment Summary</vt:lpstr>
      <vt:lpstr>The 4 Pillars Essential for CXO Success: Summary</vt:lpstr>
      <vt:lpstr>CXO Enabling Success Plan</vt:lpstr>
      <vt:lpstr>PE / Due Diligence</vt:lpstr>
      <vt:lpstr>Talent to Value across the Deal Lifecycle</vt:lpstr>
      <vt:lpstr>Pre-deal Diligence</vt:lpstr>
      <vt:lpstr>Pre-Deal Diligence Case Study</vt:lpstr>
      <vt:lpstr>Pre-deal Diligence Output: Readout Summary</vt:lpstr>
      <vt:lpstr>PowerPoint Presentation</vt:lpstr>
      <vt:lpstr>How</vt:lpstr>
      <vt:lpstr>Talent to Value: Project Overview</vt:lpstr>
      <vt:lpstr>Succession to Value: Project Overview</vt:lpstr>
      <vt:lpstr>Organize to Value: Project Overview</vt:lpstr>
      <vt:lpstr>Hiring to Value: Project 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7</cp:revision>
  <dcterms:created xsi:type="dcterms:W3CDTF">2025-06-30T15:34:40Z</dcterms:created>
  <dcterms:modified xsi:type="dcterms:W3CDTF">2026-04-01T17:26:41Z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0x010100C29C1F0537780943AD98C02B80BF19B5</vt:lpwstr>
  </property>
  <property fmtid="{D5CDD505-2E9C-101B-9397-08002B2CF9AE}" pid="3" name="MediaServiceImageTags">
    <vt:lpwstr/>
  </property>
</Properties>
</file>