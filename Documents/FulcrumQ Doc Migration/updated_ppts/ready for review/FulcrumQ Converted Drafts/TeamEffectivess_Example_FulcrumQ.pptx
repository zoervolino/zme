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79" r:id="rId2"/>
    <p:sldId id="2147483645" r:id="rId3"/>
    <p:sldId id="2147483646" r:id="rId4"/>
    <p:sldId id="2147483647" r:id="rId5"/>
    <p:sldId id="257" r:id="rId6"/>
    <p:sldId id="256" r:id="rId7"/>
    <p:sldId id="259" r:id="rId8"/>
    <p:sldId id="260" r:id="rId9"/>
    <p:sldId id="261" r:id="rId10"/>
    <p:sldId id="262" r:id="rId11"/>
    <p:sldId id="263" r:id="rId12"/>
    <p:sldId id="264" r:id="rId13"/>
    <p:sldId id="2147483644" r:id="rId14"/>
    <p:sldId id="265" r:id="rId15"/>
    <p:sldId id="26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F64F820-1379-D452-456D-9C65B93E65B1}" name="Steve Courington" initials="SC" userId="S::steve@ceoworks.com::de04d6d9-dadf-401b-ba80-a508ce3a350b" providerId="AD"/>
  <p188:author id="{7790658E-A00C-5D70-2FD4-A6EEB6224A20}" name="Steve Courington" initials="" userId="S::Steve@ceoworks.com::de04d6d9-dadf-401b-ba80-a508ce3a350b" providerId="AD"/>
  <p188:author id="{A1EFD2DB-0424-D3AF-6732-90D4546F0AA3}" name="Prateek Sinha" initials="PS" userId="S::prateek@ceoworks.com::c66a1130-a33f-4c6d-a198-f0787721f69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7B828D"/>
    <a:srgbClr val="EA332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60"/>
    <p:restoredTop sz="89813"/>
  </p:normalViewPr>
  <p:slideViewPr>
    <p:cSldViewPr snapToGrid="0">
      <p:cViewPr varScale="1">
        <p:scale>
          <a:sx n="90" d="100"/>
          <a:sy n="90" d="100"/>
        </p:scale>
        <p:origin x="1312" y="488"/>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800D22-F09B-FD4A-8E27-39C4CE3DB079}" type="datetimeFigureOut">
              <a:rPr lang="en-US" smtClean="0"/>
              <a:t>4/1/26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A8E7B8-C19B-7842-AB1E-E51A971E0E07}" type="slidenum">
              <a:rPr lang="en-US" smtClean="0"/>
              <a:t>‹#›</a:t>
            </a:fld>
            <a:endParaRPr lang="en-US"/>
          </a:p>
        </p:txBody>
      </p:sp>
    </p:spTree>
    <p:extLst>
      <p:ext uri="{BB962C8B-B14F-4D97-AF65-F5344CB8AC3E}">
        <p14:creationId xmlns:p14="http://schemas.microsoft.com/office/powerpoint/2010/main" val="7570941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_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descr="A black and white logo&#10;&#10;AI-generated content may be incorrect.">
            <a:extLst>
              <a:ext uri="{FF2B5EF4-FFF2-40B4-BE49-F238E27FC236}">
                <a16:creationId xmlns:a16="http://schemas.microsoft.com/office/drawing/2014/main" id="{37BA394B-6FC7-BA29-9C9F-C3C5996A08DF}"/>
              </a:ext>
            </a:extLst>
          </p:cNvPr>
          <p:cNvPicPr>
            <a:picLocks noChangeAspect="1"/>
          </p:cNvPicPr>
          <p:nvPr/>
        </p:nvPicPr>
        <p:blipFill>
          <a:blip r:embed="rId3"/>
          <a:stretch>
            <a:fillRect/>
          </a:stretch>
        </p:blipFill>
        <p:spPr>
          <a:xfrm>
            <a:off x="432000" y="6126480"/>
            <a:ext cx="2194560" cy="445223"/>
          </a:xfrm>
          <a:prstGeom prst="rect">
            <a:avLst/>
          </a:prstGeom>
        </p:spPr>
      </p:pic>
      <p:sp>
        <p:nvSpPr>
          <p:cNvPr id="2" name="Title 1">
            <a:extLst>
              <a:ext uri="{FF2B5EF4-FFF2-40B4-BE49-F238E27FC236}">
                <a16:creationId xmlns:a16="http://schemas.microsoft.com/office/drawing/2014/main" id="{73CE3C99-2183-B3DE-3AAA-1A32D4AE1C58}"/>
              </a:ext>
            </a:extLst>
          </p:cNvPr>
          <p:cNvSpPr>
            <a:spLocks noGrp="1"/>
          </p:cNvSpPr>
          <p:nvPr>
            <p:ph type="title"/>
          </p:nvPr>
        </p:nvSpPr>
        <p:spPr>
          <a:xfrm>
            <a:off x="432000" y="432000"/>
            <a:ext cx="11338560" cy="968175"/>
          </a:xfrm>
          <a:prstGeom prst="rect">
            <a:avLst/>
          </a:prstGeom>
        </p:spPr>
        <p:txBody>
          <a:bodyPr/>
          <a:lstStyle>
            <a:lvl1pPr>
              <a:defRPr sz="6000" b="1">
                <a:solidFill>
                  <a:schemeClr val="tx1"/>
                </a:solidFill>
                <a:latin typeface="Segoe UI" pitchFamily="34" charset="0"/>
              </a:defRPr>
            </a:lvl1pPr>
          </a:lstStyle>
          <a:p>
            <a:r>
              <a:rPr lang="en-US"/>
              <a:t>Click to edit Master title style</a:t>
            </a:r>
            <a:endParaRPr/>
          </a:p>
        </p:txBody>
      </p:sp>
      <p:sp>
        <p:nvSpPr>
          <p:cNvPr id="4" name="Text Placeholder 6">
            <a:extLst>
              <a:ext uri="{FF2B5EF4-FFF2-40B4-BE49-F238E27FC236}">
                <a16:creationId xmlns:a16="http://schemas.microsoft.com/office/drawing/2014/main" id="{4E3D04D9-FFC9-D3AA-13F8-C5614D78CB7B}"/>
              </a:ext>
            </a:extLst>
          </p:cNvPr>
          <p:cNvSpPr>
            <a:spLocks noGrp="1"/>
          </p:cNvSpPr>
          <p:nvPr>
            <p:ph type="body" sz="quarter" idx="12"/>
          </p:nvPr>
        </p:nvSpPr>
        <p:spPr>
          <a:xfrm>
            <a:off x="432000" y="1417108"/>
            <a:ext cx="11338560" cy="665692"/>
          </a:xfrm>
          <a:prstGeom prst="rect">
            <a:avLst/>
          </a:prstGeom>
        </p:spPr>
        <p:txBody>
          <a:bodyPr/>
          <a:lstStyle>
            <a:lvl1pPr>
              <a:buNone/>
              <a:defRPr sz="4000">
                <a:solidFill>
                  <a:schemeClr val="tx1"/>
                </a:solidFill>
                <a:latin typeface="+mj-lt"/>
              </a:defRPr>
            </a:lvl1pPr>
          </a:lstStyle>
          <a:p>
            <a:pPr lvl="0"/>
            <a:r>
              <a:rPr lang="en-US"/>
              <a:t>Click to edit Master text styles</a:t>
            </a:r>
          </a:p>
        </p:txBody>
      </p:sp>
      <p:pic>
        <p:nvPicPr>
          <p:cNvPr id="3" name="Picture 2" descr="A black and white logo&#10;&#10;AI-generated content may be incorrect.">
            <a:extLst>
              <a:ext uri="{FF2B5EF4-FFF2-40B4-BE49-F238E27FC236}">
                <a16:creationId xmlns:a16="http://schemas.microsoft.com/office/drawing/2014/main" id="{1AED1153-695A-6B98-C47D-7ABC0B711F06}"/>
              </a:ext>
            </a:extLst>
          </p:cNvPr>
          <p:cNvPicPr>
            <a:picLocks noChangeAspect="1"/>
          </p:cNvPicPr>
          <p:nvPr userDrawn="1"/>
        </p:nvPicPr>
        <p:blipFill>
          <a:blip r:embed="rId3"/>
          <a:stretch>
            <a:fillRect/>
          </a:stretch>
        </p:blipFill>
        <p:spPr>
          <a:xfrm>
            <a:off x="432000" y="6126480"/>
            <a:ext cx="2194560" cy="445223"/>
          </a:xfrm>
          <a:prstGeom prst="rect">
            <a:avLst/>
          </a:prstGeom>
        </p:spPr>
      </p:pic>
    </p:spTree>
    <p:extLst>
      <p:ext uri="{BB962C8B-B14F-4D97-AF65-F5344CB8AC3E}">
        <p14:creationId xmlns:p14="http://schemas.microsoft.com/office/powerpoint/2010/main" val="37001052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_Dark">
    <p:bg>
      <p:bgPr>
        <a:solidFill>
          <a:srgbClr val="281A42"/>
        </a:solidFill>
        <a:effectLst/>
      </p:bgPr>
    </p:bg>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srcRect l="4652" t="14597" r="4536" b="15507"/>
          <a:stretch>
            <a:fillRect/>
          </a:stretch>
        </p:blipFill>
        <p:spPr>
          <a:xfrm>
            <a:off x="435748" y="6113928"/>
            <a:ext cx="2159000" cy="454027"/>
          </a:xfrm>
          <a:prstGeom prst="rect">
            <a:avLst/>
          </a:prstGeom>
        </p:spPr>
      </p:pic>
      <p:pic>
        <p:nvPicPr>
          <p:cNvPr id="11" name="Picture 10"/>
          <p:cNvPicPr>
            <a:picLocks noChangeAspect="1"/>
          </p:cNvPicPr>
          <p:nvPr/>
        </p:nvPicPr>
        <p:blipFill>
          <a:blip r:embed="rId3"/>
          <a:srcRect/>
          <a:stretch/>
        </p:blipFill>
        <p:spPr>
          <a:xfrm>
            <a:off x="9165100" y="6191590"/>
            <a:ext cx="2437894" cy="364855"/>
          </a:xfrm>
          <a:prstGeom prst="rect">
            <a:avLst/>
          </a:prstGeom>
        </p:spPr>
      </p:pic>
      <p:sp>
        <p:nvSpPr>
          <p:cNvPr id="12" name="Title 1"/>
          <p:cNvSpPr>
            <a:spLocks noGrp="1"/>
          </p:cNvSpPr>
          <p:nvPr>
            <p:ph type="title"/>
          </p:nvPr>
        </p:nvSpPr>
        <p:spPr>
          <a:xfrm>
            <a:off x="432000" y="432000"/>
            <a:ext cx="11338560" cy="968175"/>
          </a:xfrm>
          <a:prstGeom prst="rect">
            <a:avLst/>
          </a:prstGeom>
        </p:spPr>
        <p:txBody>
          <a:bodyPr/>
          <a:lstStyle>
            <a:lvl1pPr>
              <a:defRPr sz="6000" b="1">
                <a:solidFill>
                  <a:schemeClr val="bg1"/>
                </a:solidFill>
                <a:latin typeface="Segoe UI" pitchFamily="34" charset="0"/>
              </a:defRPr>
            </a:lvl1pPr>
          </a:lstStyle>
          <a:p>
            <a:r>
              <a:rPr lang="en-US"/>
              <a:t>Click to edit Master title style</a:t>
            </a:r>
            <a:endParaRPr/>
          </a:p>
        </p:txBody>
      </p:sp>
      <p:sp>
        <p:nvSpPr>
          <p:cNvPr id="2" name="Text Placeholder 6">
            <a:extLst>
              <a:ext uri="{FF2B5EF4-FFF2-40B4-BE49-F238E27FC236}">
                <a16:creationId xmlns:a16="http://schemas.microsoft.com/office/drawing/2014/main" id="{03ECDC62-748E-F1B0-07F3-0B62BB658E25}"/>
              </a:ext>
            </a:extLst>
          </p:cNvPr>
          <p:cNvSpPr>
            <a:spLocks noGrp="1"/>
          </p:cNvSpPr>
          <p:nvPr>
            <p:ph type="body" sz="quarter" idx="12"/>
          </p:nvPr>
        </p:nvSpPr>
        <p:spPr>
          <a:xfrm>
            <a:off x="432000" y="1417108"/>
            <a:ext cx="11338560" cy="665692"/>
          </a:xfrm>
          <a:prstGeom prst="rect">
            <a:avLst/>
          </a:prstGeom>
        </p:spPr>
        <p:txBody>
          <a:bodyPr/>
          <a:lstStyle>
            <a:lvl1pPr>
              <a:buNone/>
              <a:defRPr sz="4000">
                <a:solidFill>
                  <a:schemeClr val="bg1"/>
                </a:solidFill>
                <a:latin typeface="+mj-lt"/>
              </a:defRPr>
            </a:lvl1pPr>
          </a:lstStyle>
          <a:p>
            <a:pPr lvl="0"/>
            <a:r>
              <a:rPr lang="en-US"/>
              <a:t>Click to edit Master text styles</a:t>
            </a:r>
          </a:p>
        </p:txBody>
      </p:sp>
      <p:pic>
        <p:nvPicPr>
          <p:cNvPr id="3" name="Picture 2">
            <a:extLst>
              <a:ext uri="{FF2B5EF4-FFF2-40B4-BE49-F238E27FC236}">
                <a16:creationId xmlns:a16="http://schemas.microsoft.com/office/drawing/2014/main" id="{E0B4E0F1-7D88-9142-CE87-C8B858F36A56}"/>
              </a:ext>
            </a:extLst>
          </p:cNvPr>
          <p:cNvPicPr>
            <a:picLocks noChangeAspect="1"/>
          </p:cNvPicPr>
          <p:nvPr userDrawn="1"/>
        </p:nvPicPr>
        <p:blipFill rotWithShape="1">
          <a:blip r:embed="rId2"/>
          <a:srcRect l="4652" t="14597" r="4536" b="15507"/>
          <a:stretch>
            <a:fillRect/>
          </a:stretch>
        </p:blipFill>
        <p:spPr>
          <a:xfrm>
            <a:off x="435748" y="6113928"/>
            <a:ext cx="2159000" cy="454027"/>
          </a:xfrm>
          <a:prstGeom prst="rect">
            <a:avLst/>
          </a:prstGeom>
        </p:spPr>
      </p:pic>
      <p:pic>
        <p:nvPicPr>
          <p:cNvPr id="4" name="Picture 3">
            <a:extLst>
              <a:ext uri="{FF2B5EF4-FFF2-40B4-BE49-F238E27FC236}">
                <a16:creationId xmlns:a16="http://schemas.microsoft.com/office/drawing/2014/main" id="{55F3E59F-8EB2-1215-8D63-04505CE260F7}"/>
              </a:ext>
            </a:extLst>
          </p:cNvPr>
          <p:cNvPicPr>
            <a:picLocks noChangeAspect="1"/>
          </p:cNvPicPr>
          <p:nvPr userDrawn="1"/>
        </p:nvPicPr>
        <p:blipFill>
          <a:blip r:embed="rId3"/>
          <a:srcRect/>
          <a:stretch/>
        </p:blipFill>
        <p:spPr>
          <a:xfrm>
            <a:off x="9165100" y="6191590"/>
            <a:ext cx="2437894" cy="364855"/>
          </a:xfrm>
          <a:prstGeom prst="rect">
            <a:avLst/>
          </a:prstGeom>
        </p:spPr>
      </p:pic>
    </p:spTree>
    <p:extLst>
      <p:ext uri="{BB962C8B-B14F-4D97-AF65-F5344CB8AC3E}">
        <p14:creationId xmlns:p14="http://schemas.microsoft.com/office/powerpoint/2010/main" val="2437173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_Photo">
    <p:bg>
      <p:bgPr>
        <a:blipFill>
          <a:blip r:embed="rId2"/>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2B6FC9E-8B11-5EE3-6E11-7061DFCA524F}"/>
              </a:ext>
            </a:extLst>
          </p:cNvPr>
          <p:cNvSpPr>
            <a:spLocks noGrp="1"/>
          </p:cNvSpPr>
          <p:nvPr>
            <p:ph type="title"/>
          </p:nvPr>
        </p:nvSpPr>
        <p:spPr>
          <a:xfrm>
            <a:off x="432000" y="432000"/>
            <a:ext cx="11338560" cy="968175"/>
          </a:xfrm>
          <a:prstGeom prst="rect">
            <a:avLst/>
          </a:prstGeom>
        </p:spPr>
        <p:txBody>
          <a:bodyPr/>
          <a:lstStyle>
            <a:lvl1pPr>
              <a:defRPr sz="6000" b="1">
                <a:solidFill>
                  <a:schemeClr val="tx1"/>
                </a:solidFill>
                <a:latin typeface="Segoe UI" pitchFamily="34" charset="0"/>
              </a:defRPr>
            </a:lvl1pPr>
          </a:lstStyle>
          <a:p>
            <a:r>
              <a:rPr lang="en-US"/>
              <a:t>Click to edit Master title style</a:t>
            </a:r>
            <a:endParaRPr/>
          </a:p>
        </p:txBody>
      </p:sp>
      <p:sp>
        <p:nvSpPr>
          <p:cNvPr id="6" name="Text Placeholder 6">
            <a:extLst>
              <a:ext uri="{FF2B5EF4-FFF2-40B4-BE49-F238E27FC236}">
                <a16:creationId xmlns:a16="http://schemas.microsoft.com/office/drawing/2014/main" id="{CAC7920E-1162-2D3C-5D4A-368EDE93E7DA}"/>
              </a:ext>
            </a:extLst>
          </p:cNvPr>
          <p:cNvSpPr>
            <a:spLocks noGrp="1"/>
          </p:cNvSpPr>
          <p:nvPr>
            <p:ph type="body" sz="quarter" idx="12"/>
          </p:nvPr>
        </p:nvSpPr>
        <p:spPr>
          <a:xfrm>
            <a:off x="432000" y="1417108"/>
            <a:ext cx="11338560" cy="665692"/>
          </a:xfrm>
          <a:prstGeom prst="rect">
            <a:avLst/>
          </a:prstGeom>
        </p:spPr>
        <p:txBody>
          <a:bodyPr/>
          <a:lstStyle>
            <a:lvl1pPr>
              <a:buNone/>
              <a:defRPr sz="4000">
                <a:solidFill>
                  <a:schemeClr val="tx1"/>
                </a:solidFill>
                <a:latin typeface="+mj-lt"/>
              </a:defRPr>
            </a:lvl1pPr>
          </a:lstStyle>
          <a:p>
            <a:pPr lvl="0"/>
            <a:r>
              <a:rPr lang="en-US"/>
              <a:t>Click to edit Master text styles</a:t>
            </a:r>
          </a:p>
        </p:txBody>
      </p:sp>
      <p:pic>
        <p:nvPicPr>
          <p:cNvPr id="7" name="Picture 6" descr="A black and white logo&#10;&#10;AI-generated content may be incorrect.">
            <a:extLst>
              <a:ext uri="{FF2B5EF4-FFF2-40B4-BE49-F238E27FC236}">
                <a16:creationId xmlns:a16="http://schemas.microsoft.com/office/drawing/2014/main" id="{CAEBF6F5-2984-E005-E78A-9FBAEF51708C}"/>
              </a:ext>
            </a:extLst>
          </p:cNvPr>
          <p:cNvPicPr>
            <a:picLocks noChangeAspect="1"/>
          </p:cNvPicPr>
          <p:nvPr/>
        </p:nvPicPr>
        <p:blipFill>
          <a:blip r:embed="rId3"/>
          <a:stretch>
            <a:fillRect/>
          </a:stretch>
        </p:blipFill>
        <p:spPr>
          <a:xfrm>
            <a:off x="432000" y="6126480"/>
            <a:ext cx="2194560" cy="445223"/>
          </a:xfrm>
          <a:prstGeom prst="rect">
            <a:avLst/>
          </a:prstGeom>
        </p:spPr>
      </p:pic>
      <p:pic>
        <p:nvPicPr>
          <p:cNvPr id="2" name="Picture 1" descr="A black and white logo&#10;&#10;AI-generated content may be incorrect.">
            <a:extLst>
              <a:ext uri="{FF2B5EF4-FFF2-40B4-BE49-F238E27FC236}">
                <a16:creationId xmlns:a16="http://schemas.microsoft.com/office/drawing/2014/main" id="{D883554E-186B-D3A7-5712-0CB495E52736}"/>
              </a:ext>
            </a:extLst>
          </p:cNvPr>
          <p:cNvPicPr>
            <a:picLocks noChangeAspect="1"/>
          </p:cNvPicPr>
          <p:nvPr userDrawn="1"/>
        </p:nvPicPr>
        <p:blipFill>
          <a:blip r:embed="rId3"/>
          <a:stretch>
            <a:fillRect/>
          </a:stretch>
        </p:blipFill>
        <p:spPr>
          <a:xfrm>
            <a:off x="432000" y="6126480"/>
            <a:ext cx="2194560" cy="445223"/>
          </a:xfrm>
          <a:prstGeom prst="rect">
            <a:avLst/>
          </a:prstGeom>
        </p:spPr>
      </p:pic>
    </p:spTree>
    <p:extLst>
      <p:ext uri="{BB962C8B-B14F-4D97-AF65-F5344CB8AC3E}">
        <p14:creationId xmlns:p14="http://schemas.microsoft.com/office/powerpoint/2010/main" val="874798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_Light">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EA15675-8D93-AAAB-1CE7-1CC9B1E120FC}"/>
              </a:ext>
            </a:extLst>
          </p:cNvPr>
          <p:cNvSpPr>
            <a:spLocks noGrp="1"/>
          </p:cNvSpPr>
          <p:nvPr>
            <p:ph type="title"/>
          </p:nvPr>
        </p:nvSpPr>
        <p:spPr>
          <a:xfrm>
            <a:off x="420000" y="228600"/>
            <a:ext cx="11338560" cy="546568"/>
          </a:xfrm>
          <a:prstGeom prst="rect">
            <a:avLst/>
          </a:prstGeom>
        </p:spPr>
        <p:txBody>
          <a:bodyPr/>
          <a:lstStyle>
            <a:lvl1pPr>
              <a:defRPr sz="2800" b="1">
                <a:solidFill>
                  <a:srgbClr val="1D1D1D"/>
                </a:solidFill>
                <a:latin typeface="Segoe UI" pitchFamily="34" charset="0"/>
              </a:defRPr>
            </a:lvl1pPr>
          </a:lstStyle>
          <a:p>
            <a:r>
              <a:rPr lang="en-US"/>
              <a:t>Click to edit Master title style</a:t>
            </a:r>
            <a:endParaRPr/>
          </a:p>
        </p:txBody>
      </p:sp>
      <p:sp>
        <p:nvSpPr>
          <p:cNvPr id="3" name="Content Placeholder 2">
            <a:extLst>
              <a:ext uri="{FF2B5EF4-FFF2-40B4-BE49-F238E27FC236}">
                <a16:creationId xmlns:a16="http://schemas.microsoft.com/office/drawing/2014/main" id="{748FA9E0-DC8A-A493-5950-929C39A48C8D}"/>
              </a:ext>
            </a:extLst>
          </p:cNvPr>
          <p:cNvSpPr>
            <a:spLocks noGrp="1"/>
          </p:cNvSpPr>
          <p:nvPr>
            <p:ph sz="quarter" idx="11"/>
          </p:nvPr>
        </p:nvSpPr>
        <p:spPr>
          <a:xfrm>
            <a:off x="420000" y="1493167"/>
            <a:ext cx="11338560" cy="4673952"/>
          </a:xfrm>
          <a:prstGeom prst="rect">
            <a:avLst/>
          </a:prstGeom>
        </p:spPr>
        <p:txBody>
          <a:bodyPr tIns="108000" anchor="t"/>
          <a:lstStyle>
            <a:lvl1pPr marL="285750" indent="-285750" algn="l">
              <a:lnSpc>
                <a:spcPts val="2020"/>
              </a:lnSpc>
              <a:buSzPct val="70000"/>
              <a:buFontTx/>
              <a:buBlip>
                <a:blip r:embed="rId2"/>
              </a:buBlip>
              <a:defRPr sz="2000">
                <a:solidFill>
                  <a:schemeClr val="bg2">
                    <a:lumMod val="25000"/>
                  </a:schemeClr>
                </a:solidFill>
                <a:latin typeface="+mn-lt"/>
              </a:defRPr>
            </a:lvl1pPr>
            <a:lvl2pPr marL="742950" indent="-285750" algn="l">
              <a:lnSpc>
                <a:spcPts val="2020"/>
              </a:lnSpc>
              <a:buSzPct val="70000"/>
              <a:buFontTx/>
              <a:buBlip>
                <a:blip r:embed="rId2"/>
              </a:buBlip>
              <a:defRPr sz="1800">
                <a:solidFill>
                  <a:schemeClr val="bg2">
                    <a:lumMod val="25000"/>
                  </a:schemeClr>
                </a:solidFill>
                <a:latin typeface="+mn-lt"/>
              </a:defRPr>
            </a:lvl2pPr>
            <a:lvl3pPr marL="1200150" indent="-285750" algn="l">
              <a:lnSpc>
                <a:spcPts val="2020"/>
              </a:lnSpc>
              <a:buSzPct val="60000"/>
              <a:buFontTx/>
              <a:buBlip>
                <a:blip r:embed="rId2"/>
              </a:buBlip>
              <a:defRPr sz="1600">
                <a:solidFill>
                  <a:schemeClr val="bg2">
                    <a:lumMod val="25000"/>
                  </a:schemeClr>
                </a:solidFill>
                <a:latin typeface="+mn-lt"/>
              </a:defRPr>
            </a:lvl3pPr>
            <a:lvl4pPr marL="1657350" indent="-285750" algn="l">
              <a:lnSpc>
                <a:spcPts val="2020"/>
              </a:lnSpc>
              <a:buSzPct val="70000"/>
              <a:buFontTx/>
              <a:buBlip>
                <a:blip r:embed="rId2"/>
              </a:buBlip>
              <a:defRPr sz="1600">
                <a:solidFill>
                  <a:schemeClr val="bg2">
                    <a:lumMod val="25000"/>
                  </a:schemeClr>
                </a:solidFill>
                <a:latin typeface="+mn-lt"/>
              </a:defRPr>
            </a:lvl4pPr>
            <a:lvl5pPr marL="2114550" indent="-285750" algn="l">
              <a:lnSpc>
                <a:spcPts val="2020"/>
              </a:lnSpc>
              <a:buSzPct val="70000"/>
              <a:buFontTx/>
              <a:buBlip>
                <a:blip r:embed="rId2"/>
              </a:buBlip>
              <a:defRPr sz="1600">
                <a:solidFill>
                  <a:schemeClr val="bg2">
                    <a:lumMod val="25000"/>
                  </a:schemeClr>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5" name="Group 4">
            <a:extLst>
              <a:ext uri="{FF2B5EF4-FFF2-40B4-BE49-F238E27FC236}">
                <a16:creationId xmlns:a16="http://schemas.microsoft.com/office/drawing/2014/main" id="{F35D7D86-FBBE-7F7A-B7FF-0D7DFE0BAD46}"/>
              </a:ext>
            </a:extLst>
          </p:cNvPr>
          <p:cNvGrpSpPr/>
          <p:nvPr/>
        </p:nvGrpSpPr>
        <p:grpSpPr>
          <a:xfrm>
            <a:off x="335847" y="6525414"/>
            <a:ext cx="11424153" cy="274320"/>
            <a:chOff x="335847" y="6525414"/>
            <a:chExt cx="11424153" cy="274320"/>
          </a:xfrm>
        </p:grpSpPr>
        <p:pic>
          <p:nvPicPr>
            <p:cNvPr id="11" name="Picture 10" descr="A black screen with a purple border&#10;&#10;AI-generated content may be incorrect.">
              <a:extLst>
                <a:ext uri="{FF2B5EF4-FFF2-40B4-BE49-F238E27FC236}">
                  <a16:creationId xmlns:a16="http://schemas.microsoft.com/office/drawing/2014/main" id="{5BAEB00A-12B2-8C80-05C3-953E8EF87DD6}"/>
                </a:ext>
              </a:extLst>
            </p:cNvPr>
            <p:cNvPicPr>
              <a:picLocks noChangeAspect="1"/>
            </p:cNvPicPr>
            <p:nvPr/>
          </p:nvPicPr>
          <p:blipFill>
            <a:blip r:embed="rId3"/>
            <a:stretch>
              <a:fillRect/>
            </a:stretch>
          </p:blipFill>
          <p:spPr>
            <a:xfrm>
              <a:off x="9868291" y="6525414"/>
              <a:ext cx="1891709" cy="274320"/>
            </a:xfrm>
            <a:prstGeom prst="rect">
              <a:avLst/>
            </a:prstGeom>
          </p:spPr>
        </p:pic>
        <p:pic>
          <p:nvPicPr>
            <p:cNvPr id="12" name="Picture 11" descr="A black and grey logo&#10;&#10;AI-generated content may be incorrect.">
              <a:extLst>
                <a:ext uri="{FF2B5EF4-FFF2-40B4-BE49-F238E27FC236}">
                  <a16:creationId xmlns:a16="http://schemas.microsoft.com/office/drawing/2014/main" id="{A5EE5FB5-040C-44E2-4B16-D6D638638DF0}"/>
                </a:ext>
              </a:extLst>
            </p:cNvPr>
            <p:cNvPicPr>
              <a:picLocks noChangeAspect="1"/>
            </p:cNvPicPr>
            <p:nvPr/>
          </p:nvPicPr>
          <p:blipFill>
            <a:blip r:embed="rId4"/>
            <a:stretch>
              <a:fillRect/>
            </a:stretch>
          </p:blipFill>
          <p:spPr>
            <a:xfrm>
              <a:off x="335847" y="6525414"/>
              <a:ext cx="1344658" cy="274320"/>
            </a:xfrm>
            <a:prstGeom prst="rect">
              <a:avLst/>
            </a:prstGeom>
          </p:spPr>
        </p:pic>
        <p:sp>
          <p:nvSpPr>
            <p:cNvPr id="13" name="TextBox 12">
              <a:extLst>
                <a:ext uri="{FF2B5EF4-FFF2-40B4-BE49-F238E27FC236}">
                  <a16:creationId xmlns:a16="http://schemas.microsoft.com/office/drawing/2014/main" id="{987B2ED7-8640-ADBE-297E-5F8489AA98B5}"/>
                </a:ext>
              </a:extLst>
            </p:cNvPr>
            <p:cNvSpPr txBox="1"/>
            <p:nvPr/>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
        <p:nvSpPr>
          <p:cNvPr id="500" name="Slide Number Placeholder 500"/>
          <p:cNvSpPr>
            <a:spLocks noGrp="1"/>
          </p:cNvSpPr>
          <p:nvPr>
            <p:ph type="sldNum" sz="quarter" idx="4"/>
          </p:nvPr>
        </p:nvSpPr>
        <p:spPr>
          <a:xfrm>
            <a:off x="0" y="6554852"/>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1875A764-3B06-454E-8ABA-2F6ED0EB58E9}" type="slidenum">
              <a:rPr lang="en-US" smtClean="0"/>
              <a:t>‹#›</a:t>
            </a:fld>
            <a:endParaRPr lang="en-US"/>
          </a:p>
        </p:txBody>
      </p:sp>
      <p:grpSp>
        <p:nvGrpSpPr>
          <p:cNvPr id="6" name="Group 5">
            <a:extLst>
              <a:ext uri="{FF2B5EF4-FFF2-40B4-BE49-F238E27FC236}">
                <a16:creationId xmlns:a16="http://schemas.microsoft.com/office/drawing/2014/main" id="{BAAAE700-338E-3D3C-13CC-2B72D122613F}"/>
              </a:ext>
            </a:extLst>
          </p:cNvPr>
          <p:cNvGrpSpPr/>
          <p:nvPr userDrawn="1"/>
        </p:nvGrpSpPr>
        <p:grpSpPr>
          <a:xfrm>
            <a:off x="335847" y="6525414"/>
            <a:ext cx="11424153" cy="274320"/>
            <a:chOff x="335847" y="6525414"/>
            <a:chExt cx="11424153" cy="274320"/>
          </a:xfrm>
        </p:grpSpPr>
        <p:pic>
          <p:nvPicPr>
            <p:cNvPr id="7" name="Picture 6" descr="A black screen with a purple border&#10;&#10;AI-generated content may be incorrect.">
              <a:extLst>
                <a:ext uri="{FF2B5EF4-FFF2-40B4-BE49-F238E27FC236}">
                  <a16:creationId xmlns:a16="http://schemas.microsoft.com/office/drawing/2014/main" id="{8BC29EFF-AD40-7A30-0252-1003A1EED3B8}"/>
                </a:ext>
              </a:extLst>
            </p:cNvPr>
            <p:cNvPicPr>
              <a:picLocks noChangeAspect="1"/>
            </p:cNvPicPr>
            <p:nvPr userDrawn="1"/>
          </p:nvPicPr>
          <p:blipFill>
            <a:blip r:embed="rId3"/>
            <a:stretch>
              <a:fillRect/>
            </a:stretch>
          </p:blipFill>
          <p:spPr>
            <a:xfrm>
              <a:off x="9868291" y="6525414"/>
              <a:ext cx="1891709" cy="274320"/>
            </a:xfrm>
            <a:prstGeom prst="rect">
              <a:avLst/>
            </a:prstGeom>
          </p:spPr>
        </p:pic>
        <p:pic>
          <p:nvPicPr>
            <p:cNvPr id="8" name="Picture 7" descr="A black and grey logo&#10;&#10;AI-generated content may be incorrect.">
              <a:extLst>
                <a:ext uri="{FF2B5EF4-FFF2-40B4-BE49-F238E27FC236}">
                  <a16:creationId xmlns:a16="http://schemas.microsoft.com/office/drawing/2014/main" id="{D319C388-6E14-ACE1-7D72-E7A13C6201FE}"/>
                </a:ext>
              </a:extLst>
            </p:cNvPr>
            <p:cNvPicPr>
              <a:picLocks noChangeAspect="1"/>
            </p:cNvPicPr>
            <p:nvPr userDrawn="1"/>
          </p:nvPicPr>
          <p:blipFill>
            <a:blip r:embed="rId4"/>
            <a:stretch>
              <a:fillRect/>
            </a:stretch>
          </p:blipFill>
          <p:spPr>
            <a:xfrm>
              <a:off x="335847" y="6525414"/>
              <a:ext cx="1344658" cy="274320"/>
            </a:xfrm>
            <a:prstGeom prst="rect">
              <a:avLst/>
            </a:prstGeom>
          </p:spPr>
        </p:pic>
        <p:sp>
          <p:nvSpPr>
            <p:cNvPr id="9" name="TextBox 8">
              <a:extLst>
                <a:ext uri="{FF2B5EF4-FFF2-40B4-BE49-F238E27FC236}">
                  <a16:creationId xmlns:a16="http://schemas.microsoft.com/office/drawing/2014/main" id="{D6871F42-716A-CFFF-5061-88738F8A0C2D}"/>
                </a:ext>
              </a:extLst>
            </p:cNvPr>
            <p:cNvSpPr txBox="1"/>
            <p:nvPr userDrawn="1"/>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Tree>
    <p:extLst>
      <p:ext uri="{BB962C8B-B14F-4D97-AF65-F5344CB8AC3E}">
        <p14:creationId xmlns:p14="http://schemas.microsoft.com/office/powerpoint/2010/main" val="35685698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Content_Dark">
    <p:bg>
      <p:bgPr>
        <a:solidFill>
          <a:srgbClr val="281A4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A855D8E-7C99-F04C-568A-F3D00C3F9DC1}"/>
              </a:ext>
            </a:extLst>
          </p:cNvPr>
          <p:cNvPicPr>
            <a:picLocks noChangeAspect="1"/>
          </p:cNvPicPr>
          <p:nvPr/>
        </p:nvPicPr>
        <p:blipFill>
          <a:blip r:embed="rId2"/>
          <a:srcRect/>
          <a:stretch/>
        </p:blipFill>
        <p:spPr>
          <a:xfrm>
            <a:off x="9885198" y="6514542"/>
            <a:ext cx="1857894" cy="274320"/>
          </a:xfrm>
          <a:prstGeom prst="rect">
            <a:avLst/>
          </a:prstGeom>
        </p:spPr>
      </p:pic>
      <p:pic>
        <p:nvPicPr>
          <p:cNvPr id="7" name="Picture 6">
            <a:extLst>
              <a:ext uri="{FF2B5EF4-FFF2-40B4-BE49-F238E27FC236}">
                <a16:creationId xmlns:a16="http://schemas.microsoft.com/office/drawing/2014/main" id="{47C47C13-ABA9-A848-6895-50FBF0B20733}"/>
              </a:ext>
            </a:extLst>
          </p:cNvPr>
          <p:cNvPicPr>
            <a:picLocks noChangeAspect="1"/>
          </p:cNvPicPr>
          <p:nvPr/>
        </p:nvPicPr>
        <p:blipFill>
          <a:blip r:embed="rId3"/>
          <a:srcRect/>
          <a:stretch/>
        </p:blipFill>
        <p:spPr>
          <a:xfrm>
            <a:off x="338835" y="6515152"/>
            <a:ext cx="1338681" cy="273100"/>
          </a:xfrm>
          <a:prstGeom prst="rect">
            <a:avLst/>
          </a:prstGeom>
        </p:spPr>
      </p:pic>
      <p:sp>
        <p:nvSpPr>
          <p:cNvPr id="6" name="TextBox 5">
            <a:extLst>
              <a:ext uri="{FF2B5EF4-FFF2-40B4-BE49-F238E27FC236}">
                <a16:creationId xmlns:a16="http://schemas.microsoft.com/office/drawing/2014/main" id="{240F3394-203F-9BB3-143F-1A80C14393A6}"/>
              </a:ext>
            </a:extLst>
          </p:cNvPr>
          <p:cNvSpPr txBox="1"/>
          <p:nvPr/>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
        <p:nvSpPr>
          <p:cNvPr id="503" name="Slide Number Placeholder 503"/>
          <p:cNvSpPr>
            <a:spLocks noGrp="1"/>
          </p:cNvSpPr>
          <p:nvPr>
            <p:ph type="sldNum" sz="quarter" idx="4"/>
          </p:nvPr>
        </p:nvSpPr>
        <p:spPr>
          <a:xfrm>
            <a:off x="0" y="6543980"/>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207E56B2-1050-4901-A86F-E2774496114A}" type="slidenum">
              <a:rPr lang="en-US" smtClean="0"/>
              <a:t>‹#›</a:t>
            </a:fld>
            <a:endParaRPr lang="en-US"/>
          </a:p>
        </p:txBody>
      </p:sp>
      <p:sp>
        <p:nvSpPr>
          <p:cNvPr id="2" name="Title 1">
            <a:extLst>
              <a:ext uri="{FF2B5EF4-FFF2-40B4-BE49-F238E27FC236}">
                <a16:creationId xmlns:a16="http://schemas.microsoft.com/office/drawing/2014/main" id="{5EB6032B-B87F-A83D-7D7F-2F852CE634E7}"/>
              </a:ext>
            </a:extLst>
          </p:cNvPr>
          <p:cNvSpPr>
            <a:spLocks noGrp="1"/>
          </p:cNvSpPr>
          <p:nvPr>
            <p:ph type="title"/>
          </p:nvPr>
        </p:nvSpPr>
        <p:spPr>
          <a:xfrm>
            <a:off x="420000" y="228600"/>
            <a:ext cx="11338560" cy="546568"/>
          </a:xfrm>
          <a:prstGeom prst="rect">
            <a:avLst/>
          </a:prstGeom>
        </p:spPr>
        <p:txBody>
          <a:bodyPr/>
          <a:lstStyle>
            <a:lvl1pPr>
              <a:defRPr sz="2800" b="1">
                <a:solidFill>
                  <a:schemeClr val="bg1"/>
                </a:solidFill>
                <a:latin typeface="Segoe UI" pitchFamily="34" charset="0"/>
              </a:defRPr>
            </a:lvl1pPr>
          </a:lstStyle>
          <a:p>
            <a:r>
              <a:rPr lang="en-US"/>
              <a:t>Click to edit Master title style</a:t>
            </a:r>
            <a:endParaRPr/>
          </a:p>
        </p:txBody>
      </p:sp>
      <p:sp>
        <p:nvSpPr>
          <p:cNvPr id="8" name="Content Placeholder 2">
            <a:extLst>
              <a:ext uri="{FF2B5EF4-FFF2-40B4-BE49-F238E27FC236}">
                <a16:creationId xmlns:a16="http://schemas.microsoft.com/office/drawing/2014/main" id="{DF184CFC-9FB0-2FE4-90D5-6D58E6832D4D}"/>
              </a:ext>
            </a:extLst>
          </p:cNvPr>
          <p:cNvSpPr>
            <a:spLocks noGrp="1"/>
          </p:cNvSpPr>
          <p:nvPr>
            <p:ph sz="quarter" idx="11"/>
          </p:nvPr>
        </p:nvSpPr>
        <p:spPr>
          <a:xfrm>
            <a:off x="420000" y="1493167"/>
            <a:ext cx="11338560" cy="4673952"/>
          </a:xfrm>
          <a:prstGeom prst="rect">
            <a:avLst/>
          </a:prstGeom>
        </p:spPr>
        <p:txBody>
          <a:bodyPr tIns="108000" anchor="t"/>
          <a:lstStyle>
            <a:lvl1pPr marL="285750" indent="-285750" algn="l">
              <a:lnSpc>
                <a:spcPts val="2020"/>
              </a:lnSpc>
              <a:buSzPct val="70000"/>
              <a:buFontTx/>
              <a:buBlip>
                <a:blip r:embed="rId4"/>
              </a:buBlip>
              <a:defRPr sz="2000">
                <a:solidFill>
                  <a:schemeClr val="bg1"/>
                </a:solidFill>
                <a:latin typeface="+mn-lt"/>
              </a:defRPr>
            </a:lvl1pPr>
            <a:lvl2pPr marL="742950" indent="-285750" algn="l">
              <a:lnSpc>
                <a:spcPts val="2020"/>
              </a:lnSpc>
              <a:buSzPct val="70000"/>
              <a:buFontTx/>
              <a:buBlip>
                <a:blip r:embed="rId4"/>
              </a:buBlip>
              <a:defRPr sz="1800">
                <a:solidFill>
                  <a:schemeClr val="bg1"/>
                </a:solidFill>
                <a:latin typeface="+mn-lt"/>
              </a:defRPr>
            </a:lvl2pPr>
            <a:lvl3pPr marL="1200150" indent="-285750" algn="l">
              <a:lnSpc>
                <a:spcPts val="2020"/>
              </a:lnSpc>
              <a:buSzPct val="60000"/>
              <a:buFontTx/>
              <a:buBlip>
                <a:blip r:embed="rId4"/>
              </a:buBlip>
              <a:defRPr sz="1600">
                <a:solidFill>
                  <a:schemeClr val="bg1"/>
                </a:solidFill>
                <a:latin typeface="+mn-lt"/>
              </a:defRPr>
            </a:lvl3pPr>
            <a:lvl4pPr marL="1657350" indent="-285750" algn="l">
              <a:lnSpc>
                <a:spcPts val="2020"/>
              </a:lnSpc>
              <a:buSzPct val="70000"/>
              <a:buFontTx/>
              <a:buBlip>
                <a:blip r:embed="rId4"/>
              </a:buBlip>
              <a:defRPr sz="1600">
                <a:solidFill>
                  <a:schemeClr val="bg1"/>
                </a:solidFill>
                <a:latin typeface="+mn-lt"/>
              </a:defRPr>
            </a:lvl4pPr>
            <a:lvl5pPr marL="2114550" indent="-285750" algn="l">
              <a:lnSpc>
                <a:spcPts val="2020"/>
              </a:lnSpc>
              <a:buSzPct val="70000"/>
              <a:buFontTx/>
              <a:buBlip>
                <a:blip r:embed="rId4"/>
              </a:buBlip>
              <a:defRPr sz="160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33F6BA9A-4A6E-2750-5A58-9D290E2DEEFE}"/>
              </a:ext>
            </a:extLst>
          </p:cNvPr>
          <p:cNvPicPr>
            <a:picLocks noChangeAspect="1"/>
          </p:cNvPicPr>
          <p:nvPr userDrawn="1"/>
        </p:nvPicPr>
        <p:blipFill>
          <a:blip r:embed="rId2"/>
          <a:srcRect/>
          <a:stretch/>
        </p:blipFill>
        <p:spPr>
          <a:xfrm>
            <a:off x="9885198" y="6514542"/>
            <a:ext cx="1857894" cy="274320"/>
          </a:xfrm>
          <a:prstGeom prst="rect">
            <a:avLst/>
          </a:prstGeom>
        </p:spPr>
      </p:pic>
      <p:pic>
        <p:nvPicPr>
          <p:cNvPr id="5" name="Picture 4">
            <a:extLst>
              <a:ext uri="{FF2B5EF4-FFF2-40B4-BE49-F238E27FC236}">
                <a16:creationId xmlns:a16="http://schemas.microsoft.com/office/drawing/2014/main" id="{FD1C2F86-B0B8-0A3E-5886-1D0825E8D49F}"/>
              </a:ext>
            </a:extLst>
          </p:cNvPr>
          <p:cNvPicPr>
            <a:picLocks noChangeAspect="1"/>
          </p:cNvPicPr>
          <p:nvPr userDrawn="1"/>
        </p:nvPicPr>
        <p:blipFill>
          <a:blip r:embed="rId3"/>
          <a:srcRect/>
          <a:stretch/>
        </p:blipFill>
        <p:spPr>
          <a:xfrm>
            <a:off x="338835" y="6515152"/>
            <a:ext cx="1338681" cy="273100"/>
          </a:xfrm>
          <a:prstGeom prst="rect">
            <a:avLst/>
          </a:prstGeom>
        </p:spPr>
      </p:pic>
      <p:sp>
        <p:nvSpPr>
          <p:cNvPr id="9" name="TextBox 8">
            <a:extLst>
              <a:ext uri="{FF2B5EF4-FFF2-40B4-BE49-F238E27FC236}">
                <a16:creationId xmlns:a16="http://schemas.microsoft.com/office/drawing/2014/main" id="{7CC01EAF-6797-3F0F-E633-9F8C9325ED55}"/>
              </a:ext>
            </a:extLst>
          </p:cNvPr>
          <p:cNvSpPr txBox="1"/>
          <p:nvPr userDrawn="1"/>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Tree>
    <p:extLst>
      <p:ext uri="{BB962C8B-B14F-4D97-AF65-F5344CB8AC3E}">
        <p14:creationId xmlns:p14="http://schemas.microsoft.com/office/powerpoint/2010/main" val="1997693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_Light_Sub">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6F0300B-935C-8414-45CA-914146389CC2}"/>
              </a:ext>
            </a:extLst>
          </p:cNvPr>
          <p:cNvSpPr>
            <a:spLocks noGrp="1"/>
          </p:cNvSpPr>
          <p:nvPr>
            <p:ph type="title"/>
          </p:nvPr>
        </p:nvSpPr>
        <p:spPr>
          <a:xfrm>
            <a:off x="420000" y="228600"/>
            <a:ext cx="11338560" cy="425592"/>
          </a:xfrm>
          <a:prstGeom prst="rect">
            <a:avLst/>
          </a:prstGeom>
        </p:spPr>
        <p:txBody>
          <a:bodyPr/>
          <a:lstStyle>
            <a:lvl1pPr>
              <a:defRPr sz="2800" b="1">
                <a:solidFill>
                  <a:srgbClr val="1D1D1D"/>
                </a:solidFill>
                <a:latin typeface="Segoe UI" pitchFamily="34" charset="0"/>
              </a:defRPr>
            </a:lvl1pPr>
          </a:lstStyle>
          <a:p>
            <a:r>
              <a:rPr lang="en-US"/>
              <a:t>Click to edit Master title style</a:t>
            </a:r>
            <a:endParaRPr/>
          </a:p>
        </p:txBody>
      </p:sp>
      <p:grpSp>
        <p:nvGrpSpPr>
          <p:cNvPr id="2" name="Group 1">
            <a:extLst>
              <a:ext uri="{FF2B5EF4-FFF2-40B4-BE49-F238E27FC236}">
                <a16:creationId xmlns:a16="http://schemas.microsoft.com/office/drawing/2014/main" id="{194E9799-634E-7736-76B4-6220A70329AF}"/>
              </a:ext>
            </a:extLst>
          </p:cNvPr>
          <p:cNvGrpSpPr/>
          <p:nvPr/>
        </p:nvGrpSpPr>
        <p:grpSpPr>
          <a:xfrm>
            <a:off x="335847" y="6525414"/>
            <a:ext cx="11424153" cy="274320"/>
            <a:chOff x="335847" y="6525414"/>
            <a:chExt cx="11424153" cy="274320"/>
          </a:xfrm>
        </p:grpSpPr>
        <p:pic>
          <p:nvPicPr>
            <p:cNvPr id="11" name="Picture 10" descr="A black screen with a purple border&#10;&#10;AI-generated content may be incorrect.">
              <a:extLst>
                <a:ext uri="{FF2B5EF4-FFF2-40B4-BE49-F238E27FC236}">
                  <a16:creationId xmlns:a16="http://schemas.microsoft.com/office/drawing/2014/main" id="{684A767D-3F86-D687-87F0-42E5F8F82CBC}"/>
                </a:ext>
              </a:extLst>
            </p:cNvPr>
            <p:cNvPicPr>
              <a:picLocks noChangeAspect="1"/>
            </p:cNvPicPr>
            <p:nvPr/>
          </p:nvPicPr>
          <p:blipFill>
            <a:blip r:embed="rId2"/>
            <a:stretch>
              <a:fillRect/>
            </a:stretch>
          </p:blipFill>
          <p:spPr>
            <a:xfrm>
              <a:off x="9868291" y="6525414"/>
              <a:ext cx="1891709" cy="274320"/>
            </a:xfrm>
            <a:prstGeom prst="rect">
              <a:avLst/>
            </a:prstGeom>
          </p:spPr>
        </p:pic>
        <p:pic>
          <p:nvPicPr>
            <p:cNvPr id="12" name="Picture 11" descr="A black and grey logo&#10;&#10;AI-generated content may be incorrect.">
              <a:extLst>
                <a:ext uri="{FF2B5EF4-FFF2-40B4-BE49-F238E27FC236}">
                  <a16:creationId xmlns:a16="http://schemas.microsoft.com/office/drawing/2014/main" id="{E49A6899-080A-CB11-E001-0849EFA039BC}"/>
                </a:ext>
              </a:extLst>
            </p:cNvPr>
            <p:cNvPicPr>
              <a:picLocks noChangeAspect="1"/>
            </p:cNvPicPr>
            <p:nvPr/>
          </p:nvPicPr>
          <p:blipFill>
            <a:blip r:embed="rId3"/>
            <a:stretch>
              <a:fillRect/>
            </a:stretch>
          </p:blipFill>
          <p:spPr>
            <a:xfrm>
              <a:off x="335847" y="6525414"/>
              <a:ext cx="1344658" cy="274320"/>
            </a:xfrm>
            <a:prstGeom prst="rect">
              <a:avLst/>
            </a:prstGeom>
          </p:spPr>
        </p:pic>
        <p:sp>
          <p:nvSpPr>
            <p:cNvPr id="13" name="TextBox 12">
              <a:extLst>
                <a:ext uri="{FF2B5EF4-FFF2-40B4-BE49-F238E27FC236}">
                  <a16:creationId xmlns:a16="http://schemas.microsoft.com/office/drawing/2014/main" id="{BD83557B-4935-7DE8-D7B5-DD3A59F0D9D5}"/>
                </a:ext>
              </a:extLst>
            </p:cNvPr>
            <p:cNvSpPr txBox="1"/>
            <p:nvPr/>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
        <p:nvSpPr>
          <p:cNvPr id="14" name="Text Placeholder 6">
            <a:extLst>
              <a:ext uri="{FF2B5EF4-FFF2-40B4-BE49-F238E27FC236}">
                <a16:creationId xmlns:a16="http://schemas.microsoft.com/office/drawing/2014/main" id="{2DB32DC9-CD14-7184-963C-A86EEEA32669}"/>
              </a:ext>
            </a:extLst>
          </p:cNvPr>
          <p:cNvSpPr>
            <a:spLocks noGrp="1"/>
          </p:cNvSpPr>
          <p:nvPr>
            <p:ph type="body" sz="quarter" idx="12"/>
          </p:nvPr>
        </p:nvSpPr>
        <p:spPr>
          <a:xfrm>
            <a:off x="420000" y="674041"/>
            <a:ext cx="11338560" cy="343702"/>
          </a:xfrm>
          <a:prstGeom prst="rect">
            <a:avLst/>
          </a:prstGeom>
        </p:spPr>
        <p:txBody>
          <a:bodyPr/>
          <a:lstStyle>
            <a:lvl1pPr>
              <a:buNone/>
              <a:defRPr sz="2000">
                <a:solidFill>
                  <a:schemeClr val="tx1"/>
                </a:solidFill>
                <a:latin typeface="+mj-lt"/>
              </a:defRPr>
            </a:lvl1pPr>
          </a:lstStyle>
          <a:p>
            <a:pPr lvl="0"/>
            <a:r>
              <a:rPr lang="en-US"/>
              <a:t>Click to edit Master text styles</a:t>
            </a:r>
          </a:p>
        </p:txBody>
      </p:sp>
      <p:sp>
        <p:nvSpPr>
          <p:cNvPr id="501" name="Slide Number Placeholder 501"/>
          <p:cNvSpPr>
            <a:spLocks noGrp="1"/>
          </p:cNvSpPr>
          <p:nvPr>
            <p:ph type="sldNum" sz="quarter" idx="4"/>
          </p:nvPr>
        </p:nvSpPr>
        <p:spPr>
          <a:xfrm>
            <a:off x="0" y="6554852"/>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7DA59B58-B945-4B36-BC6B-9C26C933A008}" type="slidenum">
              <a:rPr lang="en-US" smtClean="0"/>
              <a:t>‹#›</a:t>
            </a:fld>
            <a:endParaRPr lang="en-US"/>
          </a:p>
        </p:txBody>
      </p:sp>
      <p:sp>
        <p:nvSpPr>
          <p:cNvPr id="3" name="Content Placeholder 2">
            <a:extLst>
              <a:ext uri="{FF2B5EF4-FFF2-40B4-BE49-F238E27FC236}">
                <a16:creationId xmlns:a16="http://schemas.microsoft.com/office/drawing/2014/main" id="{F00D5C08-7E21-58E4-11F1-D77F274A152F}"/>
              </a:ext>
            </a:extLst>
          </p:cNvPr>
          <p:cNvSpPr>
            <a:spLocks noGrp="1"/>
          </p:cNvSpPr>
          <p:nvPr>
            <p:ph sz="quarter" idx="11"/>
          </p:nvPr>
        </p:nvSpPr>
        <p:spPr>
          <a:xfrm>
            <a:off x="420000" y="1493167"/>
            <a:ext cx="11338560" cy="4673952"/>
          </a:xfrm>
          <a:prstGeom prst="rect">
            <a:avLst/>
          </a:prstGeom>
        </p:spPr>
        <p:txBody>
          <a:bodyPr tIns="108000" anchor="t"/>
          <a:lstStyle>
            <a:lvl1pPr marL="285750" indent="-285750" algn="l">
              <a:lnSpc>
                <a:spcPts val="2020"/>
              </a:lnSpc>
              <a:buSzPct val="70000"/>
              <a:buFontTx/>
              <a:buBlip>
                <a:blip r:embed="rId4"/>
              </a:buBlip>
              <a:defRPr sz="2000">
                <a:solidFill>
                  <a:schemeClr val="bg2">
                    <a:lumMod val="25000"/>
                  </a:schemeClr>
                </a:solidFill>
                <a:latin typeface="+mn-lt"/>
              </a:defRPr>
            </a:lvl1pPr>
            <a:lvl2pPr marL="742950" indent="-285750" algn="l">
              <a:lnSpc>
                <a:spcPts val="2020"/>
              </a:lnSpc>
              <a:buSzPct val="70000"/>
              <a:buFontTx/>
              <a:buBlip>
                <a:blip r:embed="rId4"/>
              </a:buBlip>
              <a:defRPr sz="1800">
                <a:solidFill>
                  <a:schemeClr val="bg2">
                    <a:lumMod val="25000"/>
                  </a:schemeClr>
                </a:solidFill>
                <a:latin typeface="+mn-lt"/>
              </a:defRPr>
            </a:lvl2pPr>
            <a:lvl3pPr marL="1200150" indent="-285750" algn="l">
              <a:lnSpc>
                <a:spcPts val="2020"/>
              </a:lnSpc>
              <a:buSzPct val="60000"/>
              <a:buFontTx/>
              <a:buBlip>
                <a:blip r:embed="rId4"/>
              </a:buBlip>
              <a:defRPr sz="1600">
                <a:solidFill>
                  <a:schemeClr val="bg2">
                    <a:lumMod val="25000"/>
                  </a:schemeClr>
                </a:solidFill>
                <a:latin typeface="+mn-lt"/>
              </a:defRPr>
            </a:lvl3pPr>
            <a:lvl4pPr marL="1657350" indent="-285750" algn="l">
              <a:lnSpc>
                <a:spcPts val="2020"/>
              </a:lnSpc>
              <a:buSzPct val="70000"/>
              <a:buFontTx/>
              <a:buBlip>
                <a:blip r:embed="rId4"/>
              </a:buBlip>
              <a:defRPr sz="1600">
                <a:solidFill>
                  <a:schemeClr val="bg2">
                    <a:lumMod val="25000"/>
                  </a:schemeClr>
                </a:solidFill>
                <a:latin typeface="+mn-lt"/>
              </a:defRPr>
            </a:lvl4pPr>
            <a:lvl5pPr marL="2114550" indent="-285750" algn="l">
              <a:lnSpc>
                <a:spcPts val="2020"/>
              </a:lnSpc>
              <a:buSzPct val="70000"/>
              <a:buFontTx/>
              <a:buBlip>
                <a:blip r:embed="rId4"/>
              </a:buBlip>
              <a:defRPr sz="1600">
                <a:solidFill>
                  <a:schemeClr val="bg2">
                    <a:lumMod val="25000"/>
                  </a:schemeClr>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 name="Group 3">
            <a:extLst>
              <a:ext uri="{FF2B5EF4-FFF2-40B4-BE49-F238E27FC236}">
                <a16:creationId xmlns:a16="http://schemas.microsoft.com/office/drawing/2014/main" id="{D13ABF44-7159-0310-8642-D658032AE35C}"/>
              </a:ext>
            </a:extLst>
          </p:cNvPr>
          <p:cNvGrpSpPr/>
          <p:nvPr userDrawn="1"/>
        </p:nvGrpSpPr>
        <p:grpSpPr>
          <a:xfrm>
            <a:off x="335847" y="6525414"/>
            <a:ext cx="11424153" cy="274320"/>
            <a:chOff x="335847" y="6525414"/>
            <a:chExt cx="11424153" cy="274320"/>
          </a:xfrm>
        </p:grpSpPr>
        <p:pic>
          <p:nvPicPr>
            <p:cNvPr id="6" name="Picture 5" descr="A black screen with a purple border&#10;&#10;AI-generated content may be incorrect.">
              <a:extLst>
                <a:ext uri="{FF2B5EF4-FFF2-40B4-BE49-F238E27FC236}">
                  <a16:creationId xmlns:a16="http://schemas.microsoft.com/office/drawing/2014/main" id="{DA256E40-4839-A002-DAE4-E92AC3621E44}"/>
                </a:ext>
              </a:extLst>
            </p:cNvPr>
            <p:cNvPicPr>
              <a:picLocks noChangeAspect="1"/>
            </p:cNvPicPr>
            <p:nvPr userDrawn="1"/>
          </p:nvPicPr>
          <p:blipFill>
            <a:blip r:embed="rId2"/>
            <a:stretch>
              <a:fillRect/>
            </a:stretch>
          </p:blipFill>
          <p:spPr>
            <a:xfrm>
              <a:off x="9868291" y="6525414"/>
              <a:ext cx="1891709" cy="274320"/>
            </a:xfrm>
            <a:prstGeom prst="rect">
              <a:avLst/>
            </a:prstGeom>
          </p:spPr>
        </p:pic>
        <p:pic>
          <p:nvPicPr>
            <p:cNvPr id="7" name="Picture 6" descr="A black and grey logo&#10;&#10;AI-generated content may be incorrect.">
              <a:extLst>
                <a:ext uri="{FF2B5EF4-FFF2-40B4-BE49-F238E27FC236}">
                  <a16:creationId xmlns:a16="http://schemas.microsoft.com/office/drawing/2014/main" id="{D9790FCA-7576-E215-2F6F-5D710A40D684}"/>
                </a:ext>
              </a:extLst>
            </p:cNvPr>
            <p:cNvPicPr>
              <a:picLocks noChangeAspect="1"/>
            </p:cNvPicPr>
            <p:nvPr userDrawn="1"/>
          </p:nvPicPr>
          <p:blipFill>
            <a:blip r:embed="rId3"/>
            <a:stretch>
              <a:fillRect/>
            </a:stretch>
          </p:blipFill>
          <p:spPr>
            <a:xfrm>
              <a:off x="335847" y="6525414"/>
              <a:ext cx="1344658" cy="274320"/>
            </a:xfrm>
            <a:prstGeom prst="rect">
              <a:avLst/>
            </a:prstGeom>
          </p:spPr>
        </p:pic>
        <p:sp>
          <p:nvSpPr>
            <p:cNvPr id="8" name="TextBox 7">
              <a:extLst>
                <a:ext uri="{FF2B5EF4-FFF2-40B4-BE49-F238E27FC236}">
                  <a16:creationId xmlns:a16="http://schemas.microsoft.com/office/drawing/2014/main" id="{2B89C57F-9FD2-3D9E-C745-F36B0B48A6C5}"/>
                </a:ext>
              </a:extLst>
            </p:cNvPr>
            <p:cNvSpPr txBox="1"/>
            <p:nvPr userDrawn="1"/>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Tree>
    <p:extLst>
      <p:ext uri="{BB962C8B-B14F-4D97-AF65-F5344CB8AC3E}">
        <p14:creationId xmlns:p14="http://schemas.microsoft.com/office/powerpoint/2010/main" val="1653552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_Dark_Sub">
    <p:bg>
      <p:bgPr>
        <a:solidFill>
          <a:srgbClr val="281A42"/>
        </a:solidFill>
        <a:effectLst/>
      </p:bgPr>
    </p:bg>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9AEA2C12-706D-CA8B-562A-F839F787ACC6}"/>
              </a:ext>
            </a:extLst>
          </p:cNvPr>
          <p:cNvSpPr>
            <a:spLocks noGrp="1"/>
          </p:cNvSpPr>
          <p:nvPr>
            <p:ph sz="quarter" idx="11"/>
          </p:nvPr>
        </p:nvSpPr>
        <p:spPr>
          <a:xfrm>
            <a:off x="420000" y="1493167"/>
            <a:ext cx="11338560" cy="4673952"/>
          </a:xfrm>
          <a:prstGeom prst="rect">
            <a:avLst/>
          </a:prstGeom>
        </p:spPr>
        <p:txBody>
          <a:bodyPr tIns="108000" anchor="t"/>
          <a:lstStyle>
            <a:lvl1pPr marL="285750" indent="-285750" algn="l">
              <a:lnSpc>
                <a:spcPts val="2020"/>
              </a:lnSpc>
              <a:buSzPct val="70000"/>
              <a:buFontTx/>
              <a:buBlip>
                <a:blip r:embed="rId2"/>
              </a:buBlip>
              <a:defRPr sz="2000">
                <a:solidFill>
                  <a:schemeClr val="bg1"/>
                </a:solidFill>
                <a:latin typeface="+mn-lt"/>
              </a:defRPr>
            </a:lvl1pPr>
            <a:lvl2pPr marL="742950" indent="-285750" algn="l">
              <a:lnSpc>
                <a:spcPts val="2020"/>
              </a:lnSpc>
              <a:buSzPct val="70000"/>
              <a:buFontTx/>
              <a:buBlip>
                <a:blip r:embed="rId2"/>
              </a:buBlip>
              <a:defRPr sz="1800">
                <a:solidFill>
                  <a:schemeClr val="bg1"/>
                </a:solidFill>
                <a:latin typeface="+mn-lt"/>
              </a:defRPr>
            </a:lvl2pPr>
            <a:lvl3pPr marL="1200150" indent="-285750" algn="l">
              <a:lnSpc>
                <a:spcPts val="2020"/>
              </a:lnSpc>
              <a:buSzPct val="70000"/>
              <a:buFontTx/>
              <a:buBlip>
                <a:blip r:embed="rId2"/>
              </a:buBlip>
              <a:defRPr sz="1800">
                <a:solidFill>
                  <a:schemeClr val="bg1"/>
                </a:solidFill>
                <a:latin typeface="+mn-lt"/>
              </a:defRPr>
            </a:lvl3pPr>
            <a:lvl4pPr marL="1657350" indent="-285750" algn="l">
              <a:lnSpc>
                <a:spcPts val="2020"/>
              </a:lnSpc>
              <a:buSzPct val="70000"/>
              <a:buFontTx/>
              <a:buBlip>
                <a:blip r:embed="rId2"/>
              </a:buBlip>
              <a:defRPr sz="1800">
                <a:solidFill>
                  <a:schemeClr val="bg1"/>
                </a:solidFill>
                <a:latin typeface="+mn-lt"/>
              </a:defRPr>
            </a:lvl4pPr>
            <a:lvl5pPr marL="2114550" indent="-285750" algn="l">
              <a:lnSpc>
                <a:spcPts val="2020"/>
              </a:lnSpc>
              <a:buSzPct val="70000"/>
              <a:buFontTx/>
              <a:buBlip>
                <a:blip r:embed="rId2"/>
              </a:buBlip>
              <a:defRPr sz="180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9DD88E1E-075F-16F9-E92B-5A17AA502768}"/>
              </a:ext>
            </a:extLst>
          </p:cNvPr>
          <p:cNvPicPr>
            <a:picLocks noChangeAspect="1"/>
          </p:cNvPicPr>
          <p:nvPr/>
        </p:nvPicPr>
        <p:blipFill>
          <a:blip r:embed="rId3"/>
          <a:srcRect/>
          <a:stretch/>
        </p:blipFill>
        <p:spPr>
          <a:xfrm>
            <a:off x="9885198" y="6514542"/>
            <a:ext cx="1857894" cy="274320"/>
          </a:xfrm>
          <a:prstGeom prst="rect">
            <a:avLst/>
          </a:prstGeom>
        </p:spPr>
      </p:pic>
      <p:pic>
        <p:nvPicPr>
          <p:cNvPr id="3" name="Picture 2">
            <a:extLst>
              <a:ext uri="{FF2B5EF4-FFF2-40B4-BE49-F238E27FC236}">
                <a16:creationId xmlns:a16="http://schemas.microsoft.com/office/drawing/2014/main" id="{E24CC322-E05B-5FA0-F1FB-CE44C7DC4AA2}"/>
              </a:ext>
            </a:extLst>
          </p:cNvPr>
          <p:cNvPicPr>
            <a:picLocks noChangeAspect="1"/>
          </p:cNvPicPr>
          <p:nvPr/>
        </p:nvPicPr>
        <p:blipFill>
          <a:blip r:embed="rId4"/>
          <a:srcRect/>
          <a:stretch/>
        </p:blipFill>
        <p:spPr>
          <a:xfrm>
            <a:off x="338835" y="6515152"/>
            <a:ext cx="1338681" cy="273100"/>
          </a:xfrm>
          <a:prstGeom prst="rect">
            <a:avLst/>
          </a:prstGeom>
        </p:spPr>
      </p:pic>
      <p:sp>
        <p:nvSpPr>
          <p:cNvPr id="4" name="TextBox 3">
            <a:extLst>
              <a:ext uri="{FF2B5EF4-FFF2-40B4-BE49-F238E27FC236}">
                <a16:creationId xmlns:a16="http://schemas.microsoft.com/office/drawing/2014/main" id="{A1FDE916-4E68-47BE-7CCA-CE1BDDE69408}"/>
              </a:ext>
            </a:extLst>
          </p:cNvPr>
          <p:cNvSpPr txBox="1"/>
          <p:nvPr/>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
        <p:nvSpPr>
          <p:cNvPr id="504" name="Slide Number Placeholder 504"/>
          <p:cNvSpPr>
            <a:spLocks noGrp="1"/>
          </p:cNvSpPr>
          <p:nvPr>
            <p:ph type="sldNum" sz="quarter" idx="4"/>
          </p:nvPr>
        </p:nvSpPr>
        <p:spPr>
          <a:xfrm>
            <a:off x="0" y="6543980"/>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907D951D-1967-483E-BB83-DA2FAF8BD3C5}" type="slidenum">
              <a:rPr lang="en-US" smtClean="0"/>
              <a:t>‹#›</a:t>
            </a:fld>
            <a:endParaRPr lang="en-US"/>
          </a:p>
        </p:txBody>
      </p:sp>
      <p:sp>
        <p:nvSpPr>
          <p:cNvPr id="7" name="Title 1">
            <a:extLst>
              <a:ext uri="{FF2B5EF4-FFF2-40B4-BE49-F238E27FC236}">
                <a16:creationId xmlns:a16="http://schemas.microsoft.com/office/drawing/2014/main" id="{3E7E6407-B729-531A-E63B-931D38FA1997}"/>
              </a:ext>
            </a:extLst>
          </p:cNvPr>
          <p:cNvSpPr>
            <a:spLocks noGrp="1"/>
          </p:cNvSpPr>
          <p:nvPr>
            <p:ph type="title"/>
          </p:nvPr>
        </p:nvSpPr>
        <p:spPr>
          <a:xfrm>
            <a:off x="420000" y="228600"/>
            <a:ext cx="11338560" cy="425592"/>
          </a:xfrm>
          <a:prstGeom prst="rect">
            <a:avLst/>
          </a:prstGeom>
        </p:spPr>
        <p:txBody>
          <a:bodyPr/>
          <a:lstStyle>
            <a:lvl1pPr>
              <a:defRPr sz="2800" b="1">
                <a:solidFill>
                  <a:schemeClr val="bg1"/>
                </a:solidFill>
                <a:latin typeface="Segoe UI" pitchFamily="34" charset="0"/>
              </a:defRPr>
            </a:lvl1pPr>
          </a:lstStyle>
          <a:p>
            <a:r>
              <a:rPr lang="en-US"/>
              <a:t>Click to edit Master title style</a:t>
            </a:r>
            <a:endParaRPr/>
          </a:p>
        </p:txBody>
      </p:sp>
      <p:sp>
        <p:nvSpPr>
          <p:cNvPr id="8" name="Text Placeholder 6">
            <a:extLst>
              <a:ext uri="{FF2B5EF4-FFF2-40B4-BE49-F238E27FC236}">
                <a16:creationId xmlns:a16="http://schemas.microsoft.com/office/drawing/2014/main" id="{84657EC2-CEDF-D7F5-6742-63F0C8E338CA}"/>
              </a:ext>
            </a:extLst>
          </p:cNvPr>
          <p:cNvSpPr>
            <a:spLocks noGrp="1"/>
          </p:cNvSpPr>
          <p:nvPr>
            <p:ph type="body" sz="quarter" idx="12"/>
          </p:nvPr>
        </p:nvSpPr>
        <p:spPr>
          <a:xfrm>
            <a:off x="420000" y="674041"/>
            <a:ext cx="11338560" cy="343702"/>
          </a:xfrm>
          <a:prstGeom prst="rect">
            <a:avLst/>
          </a:prstGeom>
        </p:spPr>
        <p:txBody>
          <a:bodyPr/>
          <a:lstStyle>
            <a:lvl1pPr>
              <a:buNone/>
              <a:defRPr sz="2000">
                <a:solidFill>
                  <a:schemeClr val="bg1"/>
                </a:solidFill>
                <a:latin typeface="+mj-lt"/>
              </a:defRPr>
            </a:lvl1pPr>
          </a:lstStyle>
          <a:p>
            <a:pPr lvl="0"/>
            <a:r>
              <a:rPr lang="en-US"/>
              <a:t>Click to edit Master text styles</a:t>
            </a:r>
          </a:p>
        </p:txBody>
      </p:sp>
      <p:pic>
        <p:nvPicPr>
          <p:cNvPr id="5" name="Picture 4">
            <a:extLst>
              <a:ext uri="{FF2B5EF4-FFF2-40B4-BE49-F238E27FC236}">
                <a16:creationId xmlns:a16="http://schemas.microsoft.com/office/drawing/2014/main" id="{C9B9B128-F973-EEF6-EF03-D91D80373494}"/>
              </a:ext>
            </a:extLst>
          </p:cNvPr>
          <p:cNvPicPr>
            <a:picLocks noChangeAspect="1"/>
          </p:cNvPicPr>
          <p:nvPr userDrawn="1"/>
        </p:nvPicPr>
        <p:blipFill>
          <a:blip r:embed="rId3"/>
          <a:srcRect/>
          <a:stretch/>
        </p:blipFill>
        <p:spPr>
          <a:xfrm>
            <a:off x="9885198" y="6514542"/>
            <a:ext cx="1857894" cy="274320"/>
          </a:xfrm>
          <a:prstGeom prst="rect">
            <a:avLst/>
          </a:prstGeom>
        </p:spPr>
      </p:pic>
      <p:pic>
        <p:nvPicPr>
          <p:cNvPr id="9" name="Picture 8">
            <a:extLst>
              <a:ext uri="{FF2B5EF4-FFF2-40B4-BE49-F238E27FC236}">
                <a16:creationId xmlns:a16="http://schemas.microsoft.com/office/drawing/2014/main" id="{B76599BF-0C95-F285-041D-E211D0EBCB3E}"/>
              </a:ext>
            </a:extLst>
          </p:cNvPr>
          <p:cNvPicPr>
            <a:picLocks noChangeAspect="1"/>
          </p:cNvPicPr>
          <p:nvPr userDrawn="1"/>
        </p:nvPicPr>
        <p:blipFill>
          <a:blip r:embed="rId4"/>
          <a:srcRect/>
          <a:stretch/>
        </p:blipFill>
        <p:spPr>
          <a:xfrm>
            <a:off x="338835" y="6515152"/>
            <a:ext cx="1338681" cy="273100"/>
          </a:xfrm>
          <a:prstGeom prst="rect">
            <a:avLst/>
          </a:prstGeom>
        </p:spPr>
      </p:pic>
      <p:sp>
        <p:nvSpPr>
          <p:cNvPr id="10" name="TextBox 9">
            <a:extLst>
              <a:ext uri="{FF2B5EF4-FFF2-40B4-BE49-F238E27FC236}">
                <a16:creationId xmlns:a16="http://schemas.microsoft.com/office/drawing/2014/main" id="{79996EC1-CD86-C9E1-9600-D7F536EFF6C9}"/>
              </a:ext>
            </a:extLst>
          </p:cNvPr>
          <p:cNvSpPr txBox="1"/>
          <p:nvPr userDrawn="1"/>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Tree>
    <p:extLst>
      <p:ext uri="{BB962C8B-B14F-4D97-AF65-F5344CB8AC3E}">
        <p14:creationId xmlns:p14="http://schemas.microsoft.com/office/powerpoint/2010/main" val="1985953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_Only_Light">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F35D7D86-FBBE-7F7A-B7FF-0D7DFE0BAD46}"/>
              </a:ext>
            </a:extLst>
          </p:cNvPr>
          <p:cNvGrpSpPr/>
          <p:nvPr/>
        </p:nvGrpSpPr>
        <p:grpSpPr>
          <a:xfrm>
            <a:off x="335847" y="6525414"/>
            <a:ext cx="11424153" cy="274320"/>
            <a:chOff x="335847" y="6525414"/>
            <a:chExt cx="11424153" cy="274320"/>
          </a:xfrm>
        </p:grpSpPr>
        <p:pic>
          <p:nvPicPr>
            <p:cNvPr id="11" name="Picture 10" descr="A black screen with a purple border&#10;&#10;AI-generated content may be incorrect.">
              <a:extLst>
                <a:ext uri="{FF2B5EF4-FFF2-40B4-BE49-F238E27FC236}">
                  <a16:creationId xmlns:a16="http://schemas.microsoft.com/office/drawing/2014/main" id="{5BAEB00A-12B2-8C80-05C3-953E8EF87DD6}"/>
                </a:ext>
              </a:extLst>
            </p:cNvPr>
            <p:cNvPicPr>
              <a:picLocks noChangeAspect="1"/>
            </p:cNvPicPr>
            <p:nvPr/>
          </p:nvPicPr>
          <p:blipFill>
            <a:blip r:embed="rId2"/>
            <a:stretch>
              <a:fillRect/>
            </a:stretch>
          </p:blipFill>
          <p:spPr>
            <a:xfrm>
              <a:off x="9868291" y="6525414"/>
              <a:ext cx="1891709" cy="274320"/>
            </a:xfrm>
            <a:prstGeom prst="rect">
              <a:avLst/>
            </a:prstGeom>
          </p:spPr>
        </p:pic>
        <p:pic>
          <p:nvPicPr>
            <p:cNvPr id="12" name="Picture 11" descr="A black and grey logo&#10;&#10;AI-generated content may be incorrect.">
              <a:extLst>
                <a:ext uri="{FF2B5EF4-FFF2-40B4-BE49-F238E27FC236}">
                  <a16:creationId xmlns:a16="http://schemas.microsoft.com/office/drawing/2014/main" id="{A5EE5FB5-040C-44E2-4B16-D6D638638DF0}"/>
                </a:ext>
              </a:extLst>
            </p:cNvPr>
            <p:cNvPicPr>
              <a:picLocks noChangeAspect="1"/>
            </p:cNvPicPr>
            <p:nvPr/>
          </p:nvPicPr>
          <p:blipFill>
            <a:blip r:embed="rId3"/>
            <a:stretch>
              <a:fillRect/>
            </a:stretch>
          </p:blipFill>
          <p:spPr>
            <a:xfrm>
              <a:off x="335847" y="6525414"/>
              <a:ext cx="1344658" cy="274320"/>
            </a:xfrm>
            <a:prstGeom prst="rect">
              <a:avLst/>
            </a:prstGeom>
          </p:spPr>
        </p:pic>
        <p:sp>
          <p:nvSpPr>
            <p:cNvPr id="13" name="TextBox 12">
              <a:extLst>
                <a:ext uri="{FF2B5EF4-FFF2-40B4-BE49-F238E27FC236}">
                  <a16:creationId xmlns:a16="http://schemas.microsoft.com/office/drawing/2014/main" id="{987B2ED7-8640-ADBE-297E-5F8489AA98B5}"/>
                </a:ext>
              </a:extLst>
            </p:cNvPr>
            <p:cNvSpPr txBox="1"/>
            <p:nvPr/>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
        <p:nvSpPr>
          <p:cNvPr id="500" name="Slide Number Placeholder 500"/>
          <p:cNvSpPr>
            <a:spLocks noGrp="1"/>
          </p:cNvSpPr>
          <p:nvPr>
            <p:ph type="sldNum" sz="quarter" idx="4"/>
          </p:nvPr>
        </p:nvSpPr>
        <p:spPr>
          <a:xfrm>
            <a:off x="0" y="6554852"/>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1875A764-3B06-454E-8ABA-2F6ED0EB58E9}" type="slidenum">
              <a:rPr lang="en-US" smtClean="0"/>
              <a:t>‹#›</a:t>
            </a:fld>
            <a:endParaRPr lang="en-US"/>
          </a:p>
        </p:txBody>
      </p:sp>
      <p:sp>
        <p:nvSpPr>
          <p:cNvPr id="2" name="Title 1">
            <a:extLst>
              <a:ext uri="{FF2B5EF4-FFF2-40B4-BE49-F238E27FC236}">
                <a16:creationId xmlns:a16="http://schemas.microsoft.com/office/drawing/2014/main" id="{24239D7E-847E-7ECB-B5B3-78921924BC62}"/>
              </a:ext>
            </a:extLst>
          </p:cNvPr>
          <p:cNvSpPr>
            <a:spLocks noGrp="1"/>
          </p:cNvSpPr>
          <p:nvPr>
            <p:ph type="title"/>
          </p:nvPr>
        </p:nvSpPr>
        <p:spPr>
          <a:xfrm>
            <a:off x="420000" y="228600"/>
            <a:ext cx="11338560" cy="546568"/>
          </a:xfrm>
          <a:prstGeom prst="rect">
            <a:avLst/>
          </a:prstGeom>
        </p:spPr>
        <p:txBody>
          <a:bodyPr/>
          <a:lstStyle>
            <a:lvl1pPr>
              <a:defRPr sz="2800" b="1">
                <a:solidFill>
                  <a:srgbClr val="1D1D1D"/>
                </a:solidFill>
                <a:latin typeface="Segoe UI" pitchFamily="34" charset="0"/>
              </a:defRPr>
            </a:lvl1pPr>
          </a:lstStyle>
          <a:p>
            <a:r>
              <a:rPr lang="en-US"/>
              <a:t>Click to edit Master title style</a:t>
            </a:r>
            <a:endParaRPr/>
          </a:p>
        </p:txBody>
      </p:sp>
      <p:grpSp>
        <p:nvGrpSpPr>
          <p:cNvPr id="3" name="Group 2">
            <a:extLst>
              <a:ext uri="{FF2B5EF4-FFF2-40B4-BE49-F238E27FC236}">
                <a16:creationId xmlns:a16="http://schemas.microsoft.com/office/drawing/2014/main" id="{EB225BBB-4B98-5FF7-84C1-7A330B9237C5}"/>
              </a:ext>
            </a:extLst>
          </p:cNvPr>
          <p:cNvGrpSpPr/>
          <p:nvPr userDrawn="1"/>
        </p:nvGrpSpPr>
        <p:grpSpPr>
          <a:xfrm>
            <a:off x="335847" y="6525414"/>
            <a:ext cx="11424153" cy="274320"/>
            <a:chOff x="335847" y="6525414"/>
            <a:chExt cx="11424153" cy="274320"/>
          </a:xfrm>
        </p:grpSpPr>
        <p:pic>
          <p:nvPicPr>
            <p:cNvPr id="4" name="Picture 3" descr="A black screen with a purple border&#10;&#10;AI-generated content may be incorrect.">
              <a:extLst>
                <a:ext uri="{FF2B5EF4-FFF2-40B4-BE49-F238E27FC236}">
                  <a16:creationId xmlns:a16="http://schemas.microsoft.com/office/drawing/2014/main" id="{11399B78-A26E-C5D3-5977-F72D21DCEFAD}"/>
                </a:ext>
              </a:extLst>
            </p:cNvPr>
            <p:cNvPicPr>
              <a:picLocks noChangeAspect="1"/>
            </p:cNvPicPr>
            <p:nvPr userDrawn="1"/>
          </p:nvPicPr>
          <p:blipFill>
            <a:blip r:embed="rId2"/>
            <a:stretch>
              <a:fillRect/>
            </a:stretch>
          </p:blipFill>
          <p:spPr>
            <a:xfrm>
              <a:off x="9868291" y="6525414"/>
              <a:ext cx="1891709" cy="274320"/>
            </a:xfrm>
            <a:prstGeom prst="rect">
              <a:avLst/>
            </a:prstGeom>
          </p:spPr>
        </p:pic>
        <p:pic>
          <p:nvPicPr>
            <p:cNvPr id="6" name="Picture 5" descr="A black and grey logo&#10;&#10;AI-generated content may be incorrect.">
              <a:extLst>
                <a:ext uri="{FF2B5EF4-FFF2-40B4-BE49-F238E27FC236}">
                  <a16:creationId xmlns:a16="http://schemas.microsoft.com/office/drawing/2014/main" id="{FD13B7C0-9011-B8D4-9EEE-6C853DFAFB6C}"/>
                </a:ext>
              </a:extLst>
            </p:cNvPr>
            <p:cNvPicPr>
              <a:picLocks noChangeAspect="1"/>
            </p:cNvPicPr>
            <p:nvPr userDrawn="1"/>
          </p:nvPicPr>
          <p:blipFill>
            <a:blip r:embed="rId3"/>
            <a:stretch>
              <a:fillRect/>
            </a:stretch>
          </p:blipFill>
          <p:spPr>
            <a:xfrm>
              <a:off x="335847" y="6525414"/>
              <a:ext cx="1344658" cy="274320"/>
            </a:xfrm>
            <a:prstGeom prst="rect">
              <a:avLst/>
            </a:prstGeom>
          </p:spPr>
        </p:pic>
        <p:sp>
          <p:nvSpPr>
            <p:cNvPr id="7" name="TextBox 6">
              <a:extLst>
                <a:ext uri="{FF2B5EF4-FFF2-40B4-BE49-F238E27FC236}">
                  <a16:creationId xmlns:a16="http://schemas.microsoft.com/office/drawing/2014/main" id="{78EAC99F-5662-C339-9764-481B7B922392}"/>
                </a:ext>
              </a:extLst>
            </p:cNvPr>
            <p:cNvSpPr txBox="1"/>
            <p:nvPr userDrawn="1"/>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Tree>
    <p:extLst>
      <p:ext uri="{BB962C8B-B14F-4D97-AF65-F5344CB8AC3E}">
        <p14:creationId xmlns:p14="http://schemas.microsoft.com/office/powerpoint/2010/main" val="2562099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_Only_Dark">
    <p:bg>
      <p:bgPr>
        <a:solidFill>
          <a:srgbClr val="281A4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A855D8E-7C99-F04C-568A-F3D00C3F9DC1}"/>
              </a:ext>
            </a:extLst>
          </p:cNvPr>
          <p:cNvPicPr>
            <a:picLocks noChangeAspect="1"/>
          </p:cNvPicPr>
          <p:nvPr/>
        </p:nvPicPr>
        <p:blipFill>
          <a:blip r:embed="rId2"/>
          <a:srcRect/>
          <a:stretch/>
        </p:blipFill>
        <p:spPr>
          <a:xfrm>
            <a:off x="9885198" y="6514542"/>
            <a:ext cx="1857894" cy="274320"/>
          </a:xfrm>
          <a:prstGeom prst="rect">
            <a:avLst/>
          </a:prstGeom>
        </p:spPr>
      </p:pic>
      <p:pic>
        <p:nvPicPr>
          <p:cNvPr id="7" name="Picture 6">
            <a:extLst>
              <a:ext uri="{FF2B5EF4-FFF2-40B4-BE49-F238E27FC236}">
                <a16:creationId xmlns:a16="http://schemas.microsoft.com/office/drawing/2014/main" id="{47C47C13-ABA9-A848-6895-50FBF0B20733}"/>
              </a:ext>
            </a:extLst>
          </p:cNvPr>
          <p:cNvPicPr>
            <a:picLocks noChangeAspect="1"/>
          </p:cNvPicPr>
          <p:nvPr/>
        </p:nvPicPr>
        <p:blipFill>
          <a:blip r:embed="rId3"/>
          <a:srcRect/>
          <a:stretch/>
        </p:blipFill>
        <p:spPr>
          <a:xfrm>
            <a:off x="338835" y="6515152"/>
            <a:ext cx="1338681" cy="273100"/>
          </a:xfrm>
          <a:prstGeom prst="rect">
            <a:avLst/>
          </a:prstGeom>
        </p:spPr>
      </p:pic>
      <p:sp>
        <p:nvSpPr>
          <p:cNvPr id="6" name="TextBox 5">
            <a:extLst>
              <a:ext uri="{FF2B5EF4-FFF2-40B4-BE49-F238E27FC236}">
                <a16:creationId xmlns:a16="http://schemas.microsoft.com/office/drawing/2014/main" id="{240F3394-203F-9BB3-143F-1A80C14393A6}"/>
              </a:ext>
            </a:extLst>
          </p:cNvPr>
          <p:cNvSpPr txBox="1"/>
          <p:nvPr/>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
        <p:nvSpPr>
          <p:cNvPr id="503" name="Slide Number Placeholder 503"/>
          <p:cNvSpPr>
            <a:spLocks noGrp="1"/>
          </p:cNvSpPr>
          <p:nvPr>
            <p:ph type="sldNum" sz="quarter" idx="4"/>
          </p:nvPr>
        </p:nvSpPr>
        <p:spPr>
          <a:xfrm>
            <a:off x="0" y="6543980"/>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207E56B2-1050-4901-A86F-E2774496114A}" type="slidenum">
              <a:rPr lang="en-US" smtClean="0"/>
              <a:t>‹#›</a:t>
            </a:fld>
            <a:endParaRPr lang="en-US"/>
          </a:p>
        </p:txBody>
      </p:sp>
      <p:sp>
        <p:nvSpPr>
          <p:cNvPr id="2" name="Title 1">
            <a:extLst>
              <a:ext uri="{FF2B5EF4-FFF2-40B4-BE49-F238E27FC236}">
                <a16:creationId xmlns:a16="http://schemas.microsoft.com/office/drawing/2014/main" id="{A6F95571-82E2-85D7-3B9C-56BA8B5AD547}"/>
              </a:ext>
            </a:extLst>
          </p:cNvPr>
          <p:cNvSpPr>
            <a:spLocks noGrp="1"/>
          </p:cNvSpPr>
          <p:nvPr>
            <p:ph type="title"/>
          </p:nvPr>
        </p:nvSpPr>
        <p:spPr>
          <a:xfrm>
            <a:off x="420000" y="228600"/>
            <a:ext cx="11338560" cy="546568"/>
          </a:xfrm>
          <a:prstGeom prst="rect">
            <a:avLst/>
          </a:prstGeom>
        </p:spPr>
        <p:txBody>
          <a:bodyPr/>
          <a:lstStyle>
            <a:lvl1pPr>
              <a:defRPr sz="2800" b="1">
                <a:solidFill>
                  <a:schemeClr val="bg1"/>
                </a:solidFill>
                <a:latin typeface="Segoe UI" pitchFamily="34" charset="0"/>
              </a:defRPr>
            </a:lvl1pPr>
          </a:lstStyle>
          <a:p>
            <a:r>
              <a:rPr lang="en-US"/>
              <a:t>Click to edit Master title style</a:t>
            </a:r>
            <a:endParaRPr/>
          </a:p>
        </p:txBody>
      </p:sp>
      <p:pic>
        <p:nvPicPr>
          <p:cNvPr id="3" name="Picture 2">
            <a:extLst>
              <a:ext uri="{FF2B5EF4-FFF2-40B4-BE49-F238E27FC236}">
                <a16:creationId xmlns:a16="http://schemas.microsoft.com/office/drawing/2014/main" id="{7F7BC436-961B-D816-84DF-1F889D57215D}"/>
              </a:ext>
            </a:extLst>
          </p:cNvPr>
          <p:cNvPicPr>
            <a:picLocks noChangeAspect="1"/>
          </p:cNvPicPr>
          <p:nvPr userDrawn="1"/>
        </p:nvPicPr>
        <p:blipFill>
          <a:blip r:embed="rId2"/>
          <a:srcRect/>
          <a:stretch/>
        </p:blipFill>
        <p:spPr>
          <a:xfrm>
            <a:off x="9885198" y="6514542"/>
            <a:ext cx="1857894" cy="274320"/>
          </a:xfrm>
          <a:prstGeom prst="rect">
            <a:avLst/>
          </a:prstGeom>
        </p:spPr>
      </p:pic>
      <p:pic>
        <p:nvPicPr>
          <p:cNvPr id="5" name="Picture 4">
            <a:extLst>
              <a:ext uri="{FF2B5EF4-FFF2-40B4-BE49-F238E27FC236}">
                <a16:creationId xmlns:a16="http://schemas.microsoft.com/office/drawing/2014/main" id="{92000C47-8281-C02D-16F9-EA7DC2C581A4}"/>
              </a:ext>
            </a:extLst>
          </p:cNvPr>
          <p:cNvPicPr>
            <a:picLocks noChangeAspect="1"/>
          </p:cNvPicPr>
          <p:nvPr userDrawn="1"/>
        </p:nvPicPr>
        <p:blipFill>
          <a:blip r:embed="rId3"/>
          <a:srcRect/>
          <a:stretch/>
        </p:blipFill>
        <p:spPr>
          <a:xfrm>
            <a:off x="338835" y="6515152"/>
            <a:ext cx="1338681" cy="273100"/>
          </a:xfrm>
          <a:prstGeom prst="rect">
            <a:avLst/>
          </a:prstGeom>
        </p:spPr>
      </p:pic>
      <p:sp>
        <p:nvSpPr>
          <p:cNvPr id="8" name="TextBox 7">
            <a:extLst>
              <a:ext uri="{FF2B5EF4-FFF2-40B4-BE49-F238E27FC236}">
                <a16:creationId xmlns:a16="http://schemas.microsoft.com/office/drawing/2014/main" id="{D1F91332-0918-0B47-73BF-CF5E1F4FE808}"/>
              </a:ext>
            </a:extLst>
          </p:cNvPr>
          <p:cNvSpPr txBox="1"/>
          <p:nvPr userDrawn="1"/>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Tree>
    <p:extLst>
      <p:ext uri="{BB962C8B-B14F-4D97-AF65-F5344CB8AC3E}">
        <p14:creationId xmlns:p14="http://schemas.microsoft.com/office/powerpoint/2010/main" val="909476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_Light">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577A6FE-7F15-37F5-2BCD-425A1BEB9F62}"/>
              </a:ext>
            </a:extLst>
          </p:cNvPr>
          <p:cNvGrpSpPr/>
          <p:nvPr/>
        </p:nvGrpSpPr>
        <p:grpSpPr>
          <a:xfrm>
            <a:off x="335847" y="6525414"/>
            <a:ext cx="11424153" cy="274320"/>
            <a:chOff x="335847" y="6525414"/>
            <a:chExt cx="11424153" cy="274320"/>
          </a:xfrm>
        </p:grpSpPr>
        <p:pic>
          <p:nvPicPr>
            <p:cNvPr id="10" name="Picture 9" descr="A black screen with a purple border&#10;&#10;AI-generated content may be incorrect.">
              <a:extLst>
                <a:ext uri="{FF2B5EF4-FFF2-40B4-BE49-F238E27FC236}">
                  <a16:creationId xmlns:a16="http://schemas.microsoft.com/office/drawing/2014/main" id="{2A7DCDAA-3778-05BB-466E-B7777E2F692F}"/>
                </a:ext>
              </a:extLst>
            </p:cNvPr>
            <p:cNvPicPr>
              <a:picLocks noChangeAspect="1"/>
            </p:cNvPicPr>
            <p:nvPr/>
          </p:nvPicPr>
          <p:blipFill>
            <a:blip r:embed="rId2"/>
            <a:stretch>
              <a:fillRect/>
            </a:stretch>
          </p:blipFill>
          <p:spPr>
            <a:xfrm>
              <a:off x="9868291" y="6525414"/>
              <a:ext cx="1891709" cy="274320"/>
            </a:xfrm>
            <a:prstGeom prst="rect">
              <a:avLst/>
            </a:prstGeom>
          </p:spPr>
        </p:pic>
        <p:pic>
          <p:nvPicPr>
            <p:cNvPr id="11" name="Picture 10" descr="A black and grey logo&#10;&#10;AI-generated content may be incorrect.">
              <a:extLst>
                <a:ext uri="{FF2B5EF4-FFF2-40B4-BE49-F238E27FC236}">
                  <a16:creationId xmlns:a16="http://schemas.microsoft.com/office/drawing/2014/main" id="{BA1AC551-0CBB-D6A0-1DDE-10B661503F24}"/>
                </a:ext>
              </a:extLst>
            </p:cNvPr>
            <p:cNvPicPr>
              <a:picLocks noChangeAspect="1"/>
            </p:cNvPicPr>
            <p:nvPr/>
          </p:nvPicPr>
          <p:blipFill>
            <a:blip r:embed="rId3"/>
            <a:stretch>
              <a:fillRect/>
            </a:stretch>
          </p:blipFill>
          <p:spPr>
            <a:xfrm>
              <a:off x="335847" y="6525414"/>
              <a:ext cx="1344658" cy="274320"/>
            </a:xfrm>
            <a:prstGeom prst="rect">
              <a:avLst/>
            </a:prstGeom>
          </p:spPr>
        </p:pic>
        <p:sp>
          <p:nvSpPr>
            <p:cNvPr id="12" name="TextBox 11">
              <a:extLst>
                <a:ext uri="{FF2B5EF4-FFF2-40B4-BE49-F238E27FC236}">
                  <a16:creationId xmlns:a16="http://schemas.microsoft.com/office/drawing/2014/main" id="{63953271-E885-522F-49C6-F0F1BBE5AEE8}"/>
                </a:ext>
              </a:extLst>
            </p:cNvPr>
            <p:cNvSpPr txBox="1"/>
            <p:nvPr/>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
        <p:nvSpPr>
          <p:cNvPr id="502" name="Slide Number Placeholder 502"/>
          <p:cNvSpPr>
            <a:spLocks noGrp="1"/>
          </p:cNvSpPr>
          <p:nvPr>
            <p:ph type="sldNum" sz="quarter" idx="4"/>
          </p:nvPr>
        </p:nvSpPr>
        <p:spPr>
          <a:xfrm>
            <a:off x="0" y="6554852"/>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263862CC-204F-4E50-8BF7-6EEE79EB8F36}" type="slidenum">
              <a:rPr lang="en-US" smtClean="0"/>
              <a:t>‹#›</a:t>
            </a:fld>
            <a:endParaRPr lang="en-US"/>
          </a:p>
        </p:txBody>
      </p:sp>
      <p:grpSp>
        <p:nvGrpSpPr>
          <p:cNvPr id="3" name="Group 2">
            <a:extLst>
              <a:ext uri="{FF2B5EF4-FFF2-40B4-BE49-F238E27FC236}">
                <a16:creationId xmlns:a16="http://schemas.microsoft.com/office/drawing/2014/main" id="{7F016BD5-A56B-5BA3-F690-D9AFCC34CA02}"/>
              </a:ext>
            </a:extLst>
          </p:cNvPr>
          <p:cNvGrpSpPr/>
          <p:nvPr userDrawn="1"/>
        </p:nvGrpSpPr>
        <p:grpSpPr>
          <a:xfrm>
            <a:off x="335847" y="6525414"/>
            <a:ext cx="11424153" cy="274320"/>
            <a:chOff x="335847" y="6525414"/>
            <a:chExt cx="11424153" cy="274320"/>
          </a:xfrm>
        </p:grpSpPr>
        <p:pic>
          <p:nvPicPr>
            <p:cNvPr id="4" name="Picture 3" descr="A black screen with a purple border&#10;&#10;AI-generated content may be incorrect.">
              <a:extLst>
                <a:ext uri="{FF2B5EF4-FFF2-40B4-BE49-F238E27FC236}">
                  <a16:creationId xmlns:a16="http://schemas.microsoft.com/office/drawing/2014/main" id="{F57B6DD7-1C29-5CD5-E825-1A6752941061}"/>
                </a:ext>
              </a:extLst>
            </p:cNvPr>
            <p:cNvPicPr>
              <a:picLocks noChangeAspect="1"/>
            </p:cNvPicPr>
            <p:nvPr userDrawn="1"/>
          </p:nvPicPr>
          <p:blipFill>
            <a:blip r:embed="rId2"/>
            <a:stretch>
              <a:fillRect/>
            </a:stretch>
          </p:blipFill>
          <p:spPr>
            <a:xfrm>
              <a:off x="9868291" y="6525414"/>
              <a:ext cx="1891709" cy="274320"/>
            </a:xfrm>
            <a:prstGeom prst="rect">
              <a:avLst/>
            </a:prstGeom>
          </p:spPr>
        </p:pic>
        <p:pic>
          <p:nvPicPr>
            <p:cNvPr id="5" name="Picture 4" descr="A black and grey logo&#10;&#10;AI-generated content may be incorrect.">
              <a:extLst>
                <a:ext uri="{FF2B5EF4-FFF2-40B4-BE49-F238E27FC236}">
                  <a16:creationId xmlns:a16="http://schemas.microsoft.com/office/drawing/2014/main" id="{EB161965-9496-DC09-2773-B4928F83CC1B}"/>
                </a:ext>
              </a:extLst>
            </p:cNvPr>
            <p:cNvPicPr>
              <a:picLocks noChangeAspect="1"/>
            </p:cNvPicPr>
            <p:nvPr userDrawn="1"/>
          </p:nvPicPr>
          <p:blipFill>
            <a:blip r:embed="rId3"/>
            <a:stretch>
              <a:fillRect/>
            </a:stretch>
          </p:blipFill>
          <p:spPr>
            <a:xfrm>
              <a:off x="335847" y="6525414"/>
              <a:ext cx="1344658" cy="274320"/>
            </a:xfrm>
            <a:prstGeom prst="rect">
              <a:avLst/>
            </a:prstGeom>
          </p:spPr>
        </p:pic>
        <p:sp>
          <p:nvSpPr>
            <p:cNvPr id="6" name="TextBox 5">
              <a:extLst>
                <a:ext uri="{FF2B5EF4-FFF2-40B4-BE49-F238E27FC236}">
                  <a16:creationId xmlns:a16="http://schemas.microsoft.com/office/drawing/2014/main" id="{CC0ABE36-5BB2-574A-E750-F948BA8DAE9A}"/>
                </a:ext>
              </a:extLst>
            </p:cNvPr>
            <p:cNvSpPr txBox="1"/>
            <p:nvPr userDrawn="1"/>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Tree>
    <p:extLst>
      <p:ext uri="{BB962C8B-B14F-4D97-AF65-F5344CB8AC3E}">
        <p14:creationId xmlns:p14="http://schemas.microsoft.com/office/powerpoint/2010/main" val="902660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lank_Dark">
    <p:bg>
      <p:bgPr>
        <a:solidFill>
          <a:srgbClr val="281A4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D01AD69-9691-1E32-5B19-EADB15933819}"/>
              </a:ext>
            </a:extLst>
          </p:cNvPr>
          <p:cNvPicPr>
            <a:picLocks noChangeAspect="1"/>
          </p:cNvPicPr>
          <p:nvPr/>
        </p:nvPicPr>
        <p:blipFill>
          <a:blip r:embed="rId2"/>
          <a:srcRect/>
          <a:stretch/>
        </p:blipFill>
        <p:spPr>
          <a:xfrm>
            <a:off x="9885198" y="6514542"/>
            <a:ext cx="1857894" cy="274320"/>
          </a:xfrm>
          <a:prstGeom prst="rect">
            <a:avLst/>
          </a:prstGeom>
        </p:spPr>
      </p:pic>
      <p:pic>
        <p:nvPicPr>
          <p:cNvPr id="3" name="Picture 2">
            <a:extLst>
              <a:ext uri="{FF2B5EF4-FFF2-40B4-BE49-F238E27FC236}">
                <a16:creationId xmlns:a16="http://schemas.microsoft.com/office/drawing/2014/main" id="{1F889208-DB86-485A-C5EF-41C729FD141B}"/>
              </a:ext>
            </a:extLst>
          </p:cNvPr>
          <p:cNvPicPr>
            <a:picLocks noChangeAspect="1"/>
          </p:cNvPicPr>
          <p:nvPr/>
        </p:nvPicPr>
        <p:blipFill>
          <a:blip r:embed="rId3"/>
          <a:srcRect/>
          <a:stretch/>
        </p:blipFill>
        <p:spPr>
          <a:xfrm>
            <a:off x="338835" y="6515152"/>
            <a:ext cx="1338681" cy="273100"/>
          </a:xfrm>
          <a:prstGeom prst="rect">
            <a:avLst/>
          </a:prstGeom>
        </p:spPr>
      </p:pic>
      <p:sp>
        <p:nvSpPr>
          <p:cNvPr id="8" name="TextBox 7">
            <a:extLst>
              <a:ext uri="{FF2B5EF4-FFF2-40B4-BE49-F238E27FC236}">
                <a16:creationId xmlns:a16="http://schemas.microsoft.com/office/drawing/2014/main" id="{00960D57-6649-C85B-C203-A5A47F87752B}"/>
              </a:ext>
            </a:extLst>
          </p:cNvPr>
          <p:cNvSpPr txBox="1"/>
          <p:nvPr/>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
        <p:nvSpPr>
          <p:cNvPr id="505" name="Slide Number Placeholder 505"/>
          <p:cNvSpPr>
            <a:spLocks noGrp="1"/>
          </p:cNvSpPr>
          <p:nvPr>
            <p:ph type="sldNum" sz="quarter" idx="4"/>
          </p:nvPr>
        </p:nvSpPr>
        <p:spPr>
          <a:xfrm>
            <a:off x="0" y="6543980"/>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5B5F607B-51C9-463C-B8AC-22C4474A29A3}" type="slidenum">
              <a:rPr lang="en-US" smtClean="0"/>
              <a:t>‹#›</a:t>
            </a:fld>
            <a:endParaRPr lang="en-US"/>
          </a:p>
        </p:txBody>
      </p:sp>
      <p:pic>
        <p:nvPicPr>
          <p:cNvPr id="4" name="Picture 3">
            <a:extLst>
              <a:ext uri="{FF2B5EF4-FFF2-40B4-BE49-F238E27FC236}">
                <a16:creationId xmlns:a16="http://schemas.microsoft.com/office/drawing/2014/main" id="{44367700-E7B8-00A1-CA00-780B430A3123}"/>
              </a:ext>
            </a:extLst>
          </p:cNvPr>
          <p:cNvPicPr>
            <a:picLocks noChangeAspect="1"/>
          </p:cNvPicPr>
          <p:nvPr userDrawn="1"/>
        </p:nvPicPr>
        <p:blipFill>
          <a:blip r:embed="rId2"/>
          <a:srcRect/>
          <a:stretch/>
        </p:blipFill>
        <p:spPr>
          <a:xfrm>
            <a:off x="9885198" y="6514542"/>
            <a:ext cx="1857894" cy="274320"/>
          </a:xfrm>
          <a:prstGeom prst="rect">
            <a:avLst/>
          </a:prstGeom>
        </p:spPr>
      </p:pic>
      <p:pic>
        <p:nvPicPr>
          <p:cNvPr id="5" name="Picture 4">
            <a:extLst>
              <a:ext uri="{FF2B5EF4-FFF2-40B4-BE49-F238E27FC236}">
                <a16:creationId xmlns:a16="http://schemas.microsoft.com/office/drawing/2014/main" id="{92FFD0E7-4FF1-D7DE-B8CF-6D3ADD3BC27F}"/>
              </a:ext>
            </a:extLst>
          </p:cNvPr>
          <p:cNvPicPr>
            <a:picLocks noChangeAspect="1"/>
          </p:cNvPicPr>
          <p:nvPr userDrawn="1"/>
        </p:nvPicPr>
        <p:blipFill>
          <a:blip r:embed="rId3"/>
          <a:srcRect/>
          <a:stretch/>
        </p:blipFill>
        <p:spPr>
          <a:xfrm>
            <a:off x="338835" y="6515152"/>
            <a:ext cx="1338681" cy="273100"/>
          </a:xfrm>
          <a:prstGeom prst="rect">
            <a:avLst/>
          </a:prstGeom>
        </p:spPr>
      </p:pic>
      <p:sp>
        <p:nvSpPr>
          <p:cNvPr id="6" name="TextBox 5">
            <a:extLst>
              <a:ext uri="{FF2B5EF4-FFF2-40B4-BE49-F238E27FC236}">
                <a16:creationId xmlns:a16="http://schemas.microsoft.com/office/drawing/2014/main" id="{6A1BC7B2-6B3B-DB21-E219-33C1F3A48CF1}"/>
              </a:ext>
            </a:extLst>
          </p:cNvPr>
          <p:cNvSpPr txBox="1"/>
          <p:nvPr userDrawn="1"/>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Tree>
    <p:extLst>
      <p:ext uri="{BB962C8B-B14F-4D97-AF65-F5344CB8AC3E}">
        <p14:creationId xmlns:p14="http://schemas.microsoft.com/office/powerpoint/2010/main" val="2399923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vider_Dark">
    <p:bg>
      <p:bgPr>
        <a:solidFill>
          <a:srgbClr val="281A4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09B0A9-4F98-C3F4-4E57-41FF83F30DD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32000" y="6209865"/>
            <a:ext cx="1847486" cy="363440"/>
          </a:xfrm>
          <a:prstGeom prst="rect">
            <a:avLst/>
          </a:prstGeom>
        </p:spPr>
      </p:pic>
      <p:pic>
        <p:nvPicPr>
          <p:cNvPr id="6" name="Picture 5">
            <a:extLst>
              <a:ext uri="{FF2B5EF4-FFF2-40B4-BE49-F238E27FC236}">
                <a16:creationId xmlns:a16="http://schemas.microsoft.com/office/drawing/2014/main" id="{CB4CFA25-03B5-0177-8AC1-33D467FC70EA}"/>
              </a:ext>
            </a:extLst>
          </p:cNvPr>
          <p:cNvPicPr>
            <a:picLocks noChangeAspect="1"/>
          </p:cNvPicPr>
          <p:nvPr/>
        </p:nvPicPr>
        <p:blipFill>
          <a:blip r:embed="rId3"/>
          <a:srcRect/>
          <a:stretch/>
        </p:blipFill>
        <p:spPr>
          <a:xfrm>
            <a:off x="9210430" y="6209865"/>
            <a:ext cx="2347233" cy="364855"/>
          </a:xfrm>
          <a:prstGeom prst="rect">
            <a:avLst/>
          </a:prstGeom>
        </p:spPr>
      </p:pic>
      <p:sp>
        <p:nvSpPr>
          <p:cNvPr id="8" name="Title 1">
            <a:extLst>
              <a:ext uri="{FF2B5EF4-FFF2-40B4-BE49-F238E27FC236}">
                <a16:creationId xmlns:a16="http://schemas.microsoft.com/office/drawing/2014/main" id="{D15AE0B4-EBC9-F172-55AF-5CEADF6BB87F}"/>
              </a:ext>
            </a:extLst>
          </p:cNvPr>
          <p:cNvSpPr>
            <a:spLocks noGrp="1"/>
          </p:cNvSpPr>
          <p:nvPr>
            <p:ph type="title"/>
          </p:nvPr>
        </p:nvSpPr>
        <p:spPr>
          <a:xfrm>
            <a:off x="432000" y="2974822"/>
            <a:ext cx="11338560" cy="908357"/>
          </a:xfrm>
          <a:prstGeom prst="rect">
            <a:avLst/>
          </a:prstGeom>
        </p:spPr>
        <p:txBody>
          <a:bodyPr/>
          <a:lstStyle>
            <a:lvl1pPr>
              <a:defRPr sz="6600" b="1" spc="-150">
                <a:solidFill>
                  <a:schemeClr val="bg1"/>
                </a:solidFill>
                <a:latin typeface="+mj-lt"/>
              </a:defRPr>
            </a:lvl1pPr>
          </a:lstStyle>
          <a:p>
            <a:r>
              <a:rPr lang="en-US"/>
              <a:t>Click to edit Master title style</a:t>
            </a:r>
            <a:endParaRPr/>
          </a:p>
        </p:txBody>
      </p:sp>
      <p:sp>
        <p:nvSpPr>
          <p:cNvPr id="9" name="Text Placeholder 6">
            <a:extLst>
              <a:ext uri="{FF2B5EF4-FFF2-40B4-BE49-F238E27FC236}">
                <a16:creationId xmlns:a16="http://schemas.microsoft.com/office/drawing/2014/main" id="{5E6E9556-28FF-C72E-9775-EC041E8A5024}"/>
              </a:ext>
            </a:extLst>
          </p:cNvPr>
          <p:cNvSpPr>
            <a:spLocks noGrp="1"/>
          </p:cNvSpPr>
          <p:nvPr>
            <p:ph type="body" sz="quarter" idx="12"/>
          </p:nvPr>
        </p:nvSpPr>
        <p:spPr>
          <a:xfrm>
            <a:off x="432000" y="3936973"/>
            <a:ext cx="11338560" cy="665692"/>
          </a:xfrm>
          <a:prstGeom prst="rect">
            <a:avLst/>
          </a:prstGeom>
        </p:spPr>
        <p:txBody>
          <a:bodyPr/>
          <a:lstStyle>
            <a:lvl1pPr>
              <a:buNone/>
              <a:defRPr sz="4000">
                <a:solidFill>
                  <a:schemeClr val="bg1"/>
                </a:solidFill>
                <a:latin typeface="+mj-lt"/>
              </a:defRPr>
            </a:lvl1pPr>
          </a:lstStyle>
          <a:p>
            <a:pPr lvl="0"/>
            <a:r>
              <a:rPr lang="en-US"/>
              <a:t>Click to edit Master text styles</a:t>
            </a:r>
          </a:p>
        </p:txBody>
      </p:sp>
      <p:sp>
        <p:nvSpPr>
          <p:cNvPr id="2" name="Rectangle 1">
            <a:extLst>
              <a:ext uri="{FF2B5EF4-FFF2-40B4-BE49-F238E27FC236}">
                <a16:creationId xmlns:a16="http://schemas.microsoft.com/office/drawing/2014/main" id="{D1083F48-B9B5-250C-EC88-908B62BD3AFC}"/>
              </a:ext>
            </a:extLst>
          </p:cNvPr>
          <p:cNvSpPr/>
          <p:nvPr/>
        </p:nvSpPr>
        <p:spPr>
          <a:xfrm>
            <a:off x="0" y="0"/>
            <a:ext cx="91440" cy="6858000"/>
          </a:xfrm>
          <a:prstGeom prst="rect">
            <a:avLst/>
          </a:prstGeom>
          <a:solidFill>
            <a:srgbClr val="76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a:extLst>
              <a:ext uri="{FF2B5EF4-FFF2-40B4-BE49-F238E27FC236}">
                <a16:creationId xmlns:a16="http://schemas.microsoft.com/office/drawing/2014/main" id="{2AC4D28D-5628-0FAB-BB37-9B5095BB19E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32000" y="6209865"/>
            <a:ext cx="1847486" cy="363440"/>
          </a:xfrm>
          <a:prstGeom prst="rect">
            <a:avLst/>
          </a:prstGeom>
        </p:spPr>
      </p:pic>
      <p:pic>
        <p:nvPicPr>
          <p:cNvPr id="5" name="Picture 4">
            <a:extLst>
              <a:ext uri="{FF2B5EF4-FFF2-40B4-BE49-F238E27FC236}">
                <a16:creationId xmlns:a16="http://schemas.microsoft.com/office/drawing/2014/main" id="{B8EC43E4-6A73-99D5-F9A3-E7D3D97EBF1A}"/>
              </a:ext>
            </a:extLst>
          </p:cNvPr>
          <p:cNvPicPr>
            <a:picLocks noChangeAspect="1"/>
          </p:cNvPicPr>
          <p:nvPr userDrawn="1"/>
        </p:nvPicPr>
        <p:blipFill>
          <a:blip r:embed="rId3"/>
          <a:srcRect/>
          <a:stretch/>
        </p:blipFill>
        <p:spPr>
          <a:xfrm>
            <a:off x="9210430" y="6209865"/>
            <a:ext cx="2347233" cy="364855"/>
          </a:xfrm>
          <a:prstGeom prst="rect">
            <a:avLst/>
          </a:prstGeom>
        </p:spPr>
      </p:pic>
      <p:sp>
        <p:nvSpPr>
          <p:cNvPr id="7" name="Rectangle 6">
            <a:extLst>
              <a:ext uri="{FF2B5EF4-FFF2-40B4-BE49-F238E27FC236}">
                <a16:creationId xmlns:a16="http://schemas.microsoft.com/office/drawing/2014/main" id="{D1A58DCA-200A-6AF9-E5F0-31C116120388}"/>
              </a:ext>
            </a:extLst>
          </p:cNvPr>
          <p:cNvSpPr/>
          <p:nvPr userDrawn="1"/>
        </p:nvSpPr>
        <p:spPr>
          <a:xfrm>
            <a:off x="0" y="0"/>
            <a:ext cx="91440" cy="6858000"/>
          </a:xfrm>
          <a:prstGeom prst="rect">
            <a:avLst/>
          </a:prstGeom>
          <a:solidFill>
            <a:srgbClr val="76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8450477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ivider_Cryst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6" name="Title 1"/>
          <p:cNvSpPr>
            <a:spLocks noGrp="1"/>
          </p:cNvSpPr>
          <p:nvPr>
            <p:ph type="title"/>
          </p:nvPr>
        </p:nvSpPr>
        <p:spPr>
          <a:xfrm>
            <a:off x="432000" y="2974822"/>
            <a:ext cx="11338560" cy="908357"/>
          </a:xfrm>
          <a:prstGeom prst="rect">
            <a:avLst/>
          </a:prstGeom>
        </p:spPr>
        <p:txBody>
          <a:bodyPr/>
          <a:lstStyle>
            <a:lvl1pPr>
              <a:defRPr sz="6600" b="1" spc="-150">
                <a:solidFill>
                  <a:schemeClr val="bg1"/>
                </a:solidFill>
                <a:latin typeface="+mj-lt"/>
              </a:defRPr>
            </a:lvl1pPr>
          </a:lstStyle>
          <a:p>
            <a:r>
              <a:rPr lang="en-US"/>
              <a:t>Click to edit Master title style</a:t>
            </a:r>
            <a:endParaRPr/>
          </a:p>
        </p:txBody>
      </p:sp>
      <p:sp>
        <p:nvSpPr>
          <p:cNvPr id="2" name="Text Placeholder 6">
            <a:extLst>
              <a:ext uri="{FF2B5EF4-FFF2-40B4-BE49-F238E27FC236}">
                <a16:creationId xmlns:a16="http://schemas.microsoft.com/office/drawing/2014/main" id="{14915D0C-CB06-62F7-E67D-7F5B928F57E1}"/>
              </a:ext>
            </a:extLst>
          </p:cNvPr>
          <p:cNvSpPr>
            <a:spLocks noGrp="1"/>
          </p:cNvSpPr>
          <p:nvPr>
            <p:ph type="body" sz="quarter" idx="12"/>
          </p:nvPr>
        </p:nvSpPr>
        <p:spPr>
          <a:xfrm>
            <a:off x="432000" y="3936973"/>
            <a:ext cx="11338560" cy="665692"/>
          </a:xfrm>
          <a:prstGeom prst="rect">
            <a:avLst/>
          </a:prstGeom>
        </p:spPr>
        <p:txBody>
          <a:bodyPr/>
          <a:lstStyle>
            <a:lvl1pPr>
              <a:buNone/>
              <a:defRPr sz="4000">
                <a:solidFill>
                  <a:schemeClr val="bg1"/>
                </a:solidFill>
                <a:latin typeface="+mj-lt"/>
              </a:defRPr>
            </a:lvl1pPr>
          </a:lstStyle>
          <a:p>
            <a:pPr lvl="0"/>
            <a:r>
              <a:rPr lang="en-US"/>
              <a:t>Click to edit Master text styles</a:t>
            </a:r>
          </a:p>
        </p:txBody>
      </p:sp>
      <p:pic>
        <p:nvPicPr>
          <p:cNvPr id="3" name="Picture 2">
            <a:extLst>
              <a:ext uri="{FF2B5EF4-FFF2-40B4-BE49-F238E27FC236}">
                <a16:creationId xmlns:a16="http://schemas.microsoft.com/office/drawing/2014/main" id="{4B798847-E310-8470-FC39-FCD772C71BD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32000" y="6209865"/>
            <a:ext cx="1847486" cy="363440"/>
          </a:xfrm>
          <a:prstGeom prst="rect">
            <a:avLst/>
          </a:prstGeom>
        </p:spPr>
      </p:pic>
      <p:sp>
        <p:nvSpPr>
          <p:cNvPr id="5" name="Rectangle 4">
            <a:extLst>
              <a:ext uri="{FF2B5EF4-FFF2-40B4-BE49-F238E27FC236}">
                <a16:creationId xmlns:a16="http://schemas.microsoft.com/office/drawing/2014/main" id="{954F02A1-F26A-CCE0-8A13-B5F534431235}"/>
              </a:ext>
            </a:extLst>
          </p:cNvPr>
          <p:cNvSpPr/>
          <p:nvPr/>
        </p:nvSpPr>
        <p:spPr>
          <a:xfrm>
            <a:off x="0" y="0"/>
            <a:ext cx="91440" cy="6858000"/>
          </a:xfrm>
          <a:prstGeom prst="rect">
            <a:avLst/>
          </a:prstGeom>
          <a:solidFill>
            <a:srgbClr val="76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a:extLst>
              <a:ext uri="{FF2B5EF4-FFF2-40B4-BE49-F238E27FC236}">
                <a16:creationId xmlns:a16="http://schemas.microsoft.com/office/drawing/2014/main" id="{2CF92799-6CFD-FC58-A1FC-8FAACB71FBFD}"/>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432000" y="6209865"/>
            <a:ext cx="1847486" cy="363440"/>
          </a:xfrm>
          <a:prstGeom prst="rect">
            <a:avLst/>
          </a:prstGeom>
        </p:spPr>
      </p:pic>
      <p:sp>
        <p:nvSpPr>
          <p:cNvPr id="6" name="Rectangle 5">
            <a:extLst>
              <a:ext uri="{FF2B5EF4-FFF2-40B4-BE49-F238E27FC236}">
                <a16:creationId xmlns:a16="http://schemas.microsoft.com/office/drawing/2014/main" id="{C71AF492-0819-EC08-ED38-56959E5585DD}"/>
              </a:ext>
            </a:extLst>
          </p:cNvPr>
          <p:cNvSpPr/>
          <p:nvPr userDrawn="1"/>
        </p:nvSpPr>
        <p:spPr>
          <a:xfrm>
            <a:off x="0" y="0"/>
            <a:ext cx="91440" cy="6858000"/>
          </a:xfrm>
          <a:prstGeom prst="rect">
            <a:avLst/>
          </a:prstGeom>
          <a:solidFill>
            <a:srgbClr val="76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2320975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Ending_Dark">
    <p:bg>
      <p:bgPr>
        <a:solidFill>
          <a:srgbClr val="281A42"/>
        </a:solidFill>
        <a:effectLst/>
      </p:bgPr>
    </p:bg>
    <p:spTree>
      <p:nvGrpSpPr>
        <p:cNvPr id="1" name=""/>
        <p:cNvGrpSpPr/>
        <p:nvPr/>
      </p:nvGrpSpPr>
      <p:grpSpPr>
        <a:xfrm>
          <a:off x="0" y="0"/>
          <a:ext cx="0" cy="0"/>
          <a:chOff x="0" y="0"/>
          <a:chExt cx="0" cy="0"/>
        </a:xfrm>
      </p:grpSpPr>
      <p:sp>
        <p:nvSpPr>
          <p:cNvPr id="12" name="Text Placeholder 6">
            <a:extLst>
              <a:ext uri="{FF2B5EF4-FFF2-40B4-BE49-F238E27FC236}">
                <a16:creationId xmlns:a16="http://schemas.microsoft.com/office/drawing/2014/main" id="{1E71750F-A212-2A66-6A12-40A9211C57DA}"/>
              </a:ext>
            </a:extLst>
          </p:cNvPr>
          <p:cNvSpPr>
            <a:spLocks noGrp="1"/>
          </p:cNvSpPr>
          <p:nvPr>
            <p:ph type="body" sz="quarter" idx="12"/>
          </p:nvPr>
        </p:nvSpPr>
        <p:spPr>
          <a:xfrm>
            <a:off x="432000" y="3936973"/>
            <a:ext cx="11338560" cy="493776"/>
          </a:xfrm>
          <a:prstGeom prst="rect">
            <a:avLst/>
          </a:prstGeom>
        </p:spPr>
        <p:txBody>
          <a:bodyPr/>
          <a:lstStyle>
            <a:lvl1pPr>
              <a:buNone/>
              <a:defRPr sz="2800">
                <a:solidFill>
                  <a:schemeClr val="bg1"/>
                </a:solidFill>
                <a:latin typeface="+mj-lt"/>
              </a:defRPr>
            </a:lvl1pPr>
          </a:lstStyle>
          <a:p>
            <a:pPr lvl="0"/>
            <a:r>
              <a:rPr lang="en-US"/>
              <a:t>Click to edit Master text styles</a:t>
            </a:r>
          </a:p>
        </p:txBody>
      </p:sp>
      <p:pic>
        <p:nvPicPr>
          <p:cNvPr id="23" name="Picture 22">
            <a:extLst>
              <a:ext uri="{FF2B5EF4-FFF2-40B4-BE49-F238E27FC236}">
                <a16:creationId xmlns:a16="http://schemas.microsoft.com/office/drawing/2014/main" id="{6D1CFE30-8773-227E-903F-B1430892F0C9}"/>
              </a:ext>
            </a:extLst>
          </p:cNvPr>
          <p:cNvPicPr>
            <a:picLocks noChangeAspect="1"/>
          </p:cNvPicPr>
          <p:nvPr/>
        </p:nvPicPr>
        <p:blipFill>
          <a:blip r:embed="rId2"/>
          <a:srcRect l="4376" t="11516" r="4153" b="11516"/>
          <a:stretch>
            <a:fillRect/>
          </a:stretch>
        </p:blipFill>
        <p:spPr>
          <a:xfrm>
            <a:off x="417346" y="6188145"/>
            <a:ext cx="1869333" cy="429768"/>
          </a:xfrm>
          <a:prstGeom prst="rect">
            <a:avLst/>
          </a:prstGeom>
        </p:spPr>
      </p:pic>
      <p:pic>
        <p:nvPicPr>
          <p:cNvPr id="2" name="Picture 1">
            <a:extLst>
              <a:ext uri="{FF2B5EF4-FFF2-40B4-BE49-F238E27FC236}">
                <a16:creationId xmlns:a16="http://schemas.microsoft.com/office/drawing/2014/main" id="{FCAD75B8-1961-0901-7197-778645E6878F}"/>
              </a:ext>
            </a:extLst>
          </p:cNvPr>
          <p:cNvPicPr>
            <a:picLocks noChangeAspect="1"/>
          </p:cNvPicPr>
          <p:nvPr/>
        </p:nvPicPr>
        <p:blipFill>
          <a:blip r:embed="rId3"/>
          <a:srcRect/>
          <a:stretch/>
        </p:blipFill>
        <p:spPr>
          <a:xfrm>
            <a:off x="9210430" y="6209865"/>
            <a:ext cx="2347233" cy="364855"/>
          </a:xfrm>
          <a:prstGeom prst="rect">
            <a:avLst/>
          </a:prstGeom>
        </p:spPr>
      </p:pic>
      <p:pic>
        <p:nvPicPr>
          <p:cNvPr id="3" name="Picture 2">
            <a:extLst>
              <a:ext uri="{FF2B5EF4-FFF2-40B4-BE49-F238E27FC236}">
                <a16:creationId xmlns:a16="http://schemas.microsoft.com/office/drawing/2014/main" id="{EE0B02FF-8604-586E-FCEA-F2630787735E}"/>
              </a:ext>
            </a:extLst>
          </p:cNvPr>
          <p:cNvPicPr>
            <a:picLocks noChangeAspect="1"/>
          </p:cNvPicPr>
          <p:nvPr userDrawn="1"/>
        </p:nvPicPr>
        <p:blipFill>
          <a:blip r:embed="rId2"/>
          <a:srcRect l="4376" t="11516" r="4153" b="11516"/>
          <a:stretch>
            <a:fillRect/>
          </a:stretch>
        </p:blipFill>
        <p:spPr>
          <a:xfrm>
            <a:off x="417346" y="6188145"/>
            <a:ext cx="1869333" cy="429768"/>
          </a:xfrm>
          <a:prstGeom prst="rect">
            <a:avLst/>
          </a:prstGeom>
        </p:spPr>
      </p:pic>
      <p:pic>
        <p:nvPicPr>
          <p:cNvPr id="4" name="Picture 3">
            <a:extLst>
              <a:ext uri="{FF2B5EF4-FFF2-40B4-BE49-F238E27FC236}">
                <a16:creationId xmlns:a16="http://schemas.microsoft.com/office/drawing/2014/main" id="{929837DF-36CB-F9C7-2AF7-86255EDA03D9}"/>
              </a:ext>
            </a:extLst>
          </p:cNvPr>
          <p:cNvPicPr>
            <a:picLocks noChangeAspect="1"/>
          </p:cNvPicPr>
          <p:nvPr userDrawn="1"/>
        </p:nvPicPr>
        <p:blipFill>
          <a:blip r:embed="rId3"/>
          <a:srcRect/>
          <a:stretch/>
        </p:blipFill>
        <p:spPr>
          <a:xfrm>
            <a:off x="9210430" y="6209865"/>
            <a:ext cx="2347233" cy="364855"/>
          </a:xfrm>
          <a:prstGeom prst="rect">
            <a:avLst/>
          </a:prstGeom>
        </p:spPr>
      </p:pic>
      <p:sp>
        <p:nvSpPr>
          <p:cNvPr id="5" name="TextBox 4">
            <a:extLst>
              <a:ext uri="{FF2B5EF4-FFF2-40B4-BE49-F238E27FC236}">
                <a16:creationId xmlns:a16="http://schemas.microsoft.com/office/drawing/2014/main" id="{0E200A60-B051-BEDC-E25C-CAC8A419D6D2}"/>
              </a:ext>
            </a:extLst>
          </p:cNvPr>
          <p:cNvSpPr txBox="1"/>
          <p:nvPr userDrawn="1"/>
        </p:nvSpPr>
        <p:spPr>
          <a:xfrm>
            <a:off x="432000" y="2044808"/>
            <a:ext cx="11338560" cy="1107996"/>
          </a:xfrm>
          <a:prstGeom prst="rect">
            <a:avLst/>
          </a:prstGeom>
          <a:noFill/>
        </p:spPr>
        <p:txBody>
          <a:bodyPr wrap="square" rtlCol="0">
            <a:spAutoFit/>
          </a:bodyPr>
          <a:lstStyle/>
          <a:p>
            <a:r>
              <a:rPr lang="en-US" sz="6600" b="1">
                <a:solidFill>
                  <a:schemeClr val="bg1"/>
                </a:solidFill>
              </a:rPr>
              <a:t>Thank you</a:t>
            </a:r>
            <a:endParaRPr lang="en-US" sz="6600" b="1">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354570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Ending_PivotPurple">
    <p:bg>
      <p:bgPr>
        <a:solidFill>
          <a:srgbClr val="755FFF"/>
        </a:solidFill>
        <a:effectLst/>
      </p:bgPr>
    </p:bg>
    <p:spTree>
      <p:nvGrpSpPr>
        <p:cNvPr id="1" name=""/>
        <p:cNvGrpSpPr/>
        <p:nvPr/>
      </p:nvGrpSpPr>
      <p:grpSpPr>
        <a:xfrm>
          <a:off x="0" y="0"/>
          <a:ext cx="0" cy="0"/>
          <a:chOff x="0" y="0"/>
          <a:chExt cx="0" cy="0"/>
        </a:xfrm>
      </p:grpSpPr>
      <p:sp>
        <p:nvSpPr>
          <p:cNvPr id="12" name="Text Placeholder 6">
            <a:extLst>
              <a:ext uri="{FF2B5EF4-FFF2-40B4-BE49-F238E27FC236}">
                <a16:creationId xmlns:a16="http://schemas.microsoft.com/office/drawing/2014/main" id="{1E71750F-A212-2A66-6A12-40A9211C57DA}"/>
              </a:ext>
            </a:extLst>
          </p:cNvPr>
          <p:cNvSpPr>
            <a:spLocks noGrp="1"/>
          </p:cNvSpPr>
          <p:nvPr>
            <p:ph type="body" sz="quarter" idx="12"/>
          </p:nvPr>
        </p:nvSpPr>
        <p:spPr>
          <a:xfrm>
            <a:off x="432000" y="3936973"/>
            <a:ext cx="11338560" cy="493776"/>
          </a:xfrm>
          <a:prstGeom prst="rect">
            <a:avLst/>
          </a:prstGeom>
        </p:spPr>
        <p:txBody>
          <a:bodyPr/>
          <a:lstStyle>
            <a:lvl1pPr>
              <a:buNone/>
              <a:defRPr sz="2800">
                <a:solidFill>
                  <a:schemeClr val="bg1"/>
                </a:solidFill>
                <a:latin typeface="+mj-lt"/>
              </a:defRPr>
            </a:lvl1pPr>
          </a:lstStyle>
          <a:p>
            <a:pPr lvl="0"/>
            <a:r>
              <a:rPr lang="en-US"/>
              <a:t>Click to edit Master text styles</a:t>
            </a:r>
          </a:p>
        </p:txBody>
      </p:sp>
      <p:pic>
        <p:nvPicPr>
          <p:cNvPr id="23" name="Picture 22">
            <a:extLst>
              <a:ext uri="{FF2B5EF4-FFF2-40B4-BE49-F238E27FC236}">
                <a16:creationId xmlns:a16="http://schemas.microsoft.com/office/drawing/2014/main" id="{6D1CFE30-8773-227E-903F-B1430892F0C9}"/>
              </a:ext>
            </a:extLst>
          </p:cNvPr>
          <p:cNvPicPr>
            <a:picLocks noChangeAspect="1"/>
          </p:cNvPicPr>
          <p:nvPr/>
        </p:nvPicPr>
        <p:blipFill>
          <a:blip r:embed="rId2"/>
          <a:srcRect l="4376" t="11516" r="4153" b="11516"/>
          <a:stretch>
            <a:fillRect/>
          </a:stretch>
        </p:blipFill>
        <p:spPr>
          <a:xfrm>
            <a:off x="417346" y="6188145"/>
            <a:ext cx="1869333" cy="429768"/>
          </a:xfrm>
          <a:prstGeom prst="rect">
            <a:avLst/>
          </a:prstGeom>
        </p:spPr>
      </p:pic>
      <p:pic>
        <p:nvPicPr>
          <p:cNvPr id="2" name="Picture 1">
            <a:extLst>
              <a:ext uri="{FF2B5EF4-FFF2-40B4-BE49-F238E27FC236}">
                <a16:creationId xmlns:a16="http://schemas.microsoft.com/office/drawing/2014/main" id="{41DCE326-F1D6-8FF0-0CFD-1F01F428AF76}"/>
              </a:ext>
            </a:extLst>
          </p:cNvPr>
          <p:cNvPicPr>
            <a:picLocks noChangeAspect="1"/>
          </p:cNvPicPr>
          <p:nvPr userDrawn="1"/>
        </p:nvPicPr>
        <p:blipFill>
          <a:blip r:embed="rId2"/>
          <a:srcRect l="4376" t="11516" r="4153" b="11516"/>
          <a:stretch>
            <a:fillRect/>
          </a:stretch>
        </p:blipFill>
        <p:spPr>
          <a:xfrm>
            <a:off x="417346" y="6188145"/>
            <a:ext cx="1869333" cy="429768"/>
          </a:xfrm>
          <a:prstGeom prst="rect">
            <a:avLst/>
          </a:prstGeom>
        </p:spPr>
      </p:pic>
      <p:sp>
        <p:nvSpPr>
          <p:cNvPr id="3" name="TextBox 2">
            <a:extLst>
              <a:ext uri="{FF2B5EF4-FFF2-40B4-BE49-F238E27FC236}">
                <a16:creationId xmlns:a16="http://schemas.microsoft.com/office/drawing/2014/main" id="{CD30B84A-CD15-A69D-7C0D-0A25B01CE3A9}"/>
              </a:ext>
            </a:extLst>
          </p:cNvPr>
          <p:cNvSpPr txBox="1"/>
          <p:nvPr userDrawn="1"/>
        </p:nvSpPr>
        <p:spPr>
          <a:xfrm>
            <a:off x="432000" y="2044808"/>
            <a:ext cx="11338560" cy="1107996"/>
          </a:xfrm>
          <a:prstGeom prst="rect">
            <a:avLst/>
          </a:prstGeom>
          <a:noFill/>
        </p:spPr>
        <p:txBody>
          <a:bodyPr wrap="square" rtlCol="0">
            <a:spAutoFit/>
          </a:bodyPr>
          <a:lstStyle/>
          <a:p>
            <a:r>
              <a:rPr lang="en-US" sz="6600" b="1">
                <a:solidFill>
                  <a:schemeClr val="bg1"/>
                </a:solidFill>
              </a:rPr>
              <a:t>Thank you</a:t>
            </a:r>
            <a:endParaRPr lang="en-US" sz="6600" b="1">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37026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371747"/>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Lst>
  <p:hf hdr="0" ftr="0" dt="0"/>
  <p:txStyles>
    <p:titleStyle>
      <a:lvl1pPr algn="l" defTabSz="914400" rtl="0" eaLnBrk="1" latinLnBrk="0" hangingPunct="1">
        <a:lnSpc>
          <a:spcPct val="90000"/>
        </a:lnSpc>
        <a:spcBef>
          <a:spcPct val="0"/>
        </a:spcBef>
        <a:buNone/>
        <a:defRPr lang="en-US" sz="2800" b="1" kern="1200">
          <a:ea typeface="+mj-ea"/>
          <a:cs typeface="+mj-cs"/>
        </a:defRPr>
      </a:lvl1pPr>
    </p:titleStyle>
    <p:body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lang="en-US" sz="1000" b="0" kern="120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6.png"/><Relationship Id="rId1" Type="http://schemas.openxmlformats.org/officeDocument/2006/relationships/slideLayout" Target="../slideLayouts/slideLayout8.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8.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38.png"/></Relationships>
</file>

<file path=ppt/slides/_rels/slide15.xml.rels><?xml version="1.0" encoding="UTF-8" standalone="yes"?>
<Relationships xmlns="http://schemas.openxmlformats.org/package/2006/relationships"><Relationship Id="rId26" Type="http://schemas.openxmlformats.org/officeDocument/2006/relationships/image" Target="../media/image63.png"/><Relationship Id="rId21" Type="http://schemas.openxmlformats.org/officeDocument/2006/relationships/image" Target="../media/image58.png"/><Relationship Id="rId42" Type="http://schemas.openxmlformats.org/officeDocument/2006/relationships/image" Target="../media/image79.png"/><Relationship Id="rId47" Type="http://schemas.openxmlformats.org/officeDocument/2006/relationships/image" Target="../media/image84.png"/><Relationship Id="rId63" Type="http://schemas.openxmlformats.org/officeDocument/2006/relationships/image" Target="../media/image100.png"/><Relationship Id="rId68" Type="http://schemas.openxmlformats.org/officeDocument/2006/relationships/image" Target="../media/image105.png"/><Relationship Id="rId84" Type="http://schemas.openxmlformats.org/officeDocument/2006/relationships/image" Target="../media/image121.png"/><Relationship Id="rId89" Type="http://schemas.openxmlformats.org/officeDocument/2006/relationships/image" Target="../media/image126.png"/><Relationship Id="rId16" Type="http://schemas.openxmlformats.org/officeDocument/2006/relationships/image" Target="../media/image53.jpg"/><Relationship Id="rId11" Type="http://schemas.openxmlformats.org/officeDocument/2006/relationships/image" Target="../media/image48.png"/><Relationship Id="rId32" Type="http://schemas.openxmlformats.org/officeDocument/2006/relationships/image" Target="../media/image69.png"/><Relationship Id="rId37" Type="http://schemas.openxmlformats.org/officeDocument/2006/relationships/image" Target="../media/image74.jpg"/><Relationship Id="rId53" Type="http://schemas.openxmlformats.org/officeDocument/2006/relationships/image" Target="../media/image90.jpg"/><Relationship Id="rId58" Type="http://schemas.openxmlformats.org/officeDocument/2006/relationships/image" Target="../media/image95.jpg"/><Relationship Id="rId74" Type="http://schemas.openxmlformats.org/officeDocument/2006/relationships/image" Target="../media/image111.png"/><Relationship Id="rId79" Type="http://schemas.openxmlformats.org/officeDocument/2006/relationships/image" Target="../media/image116.jpg"/><Relationship Id="rId5" Type="http://schemas.openxmlformats.org/officeDocument/2006/relationships/image" Target="../media/image42.jpg"/><Relationship Id="rId90" Type="http://schemas.openxmlformats.org/officeDocument/2006/relationships/image" Target="../media/image127.png"/><Relationship Id="rId95" Type="http://schemas.openxmlformats.org/officeDocument/2006/relationships/image" Target="../media/image132.png"/><Relationship Id="rId22" Type="http://schemas.openxmlformats.org/officeDocument/2006/relationships/image" Target="../media/image59.png"/><Relationship Id="rId27" Type="http://schemas.openxmlformats.org/officeDocument/2006/relationships/image" Target="../media/image64.png"/><Relationship Id="rId43" Type="http://schemas.openxmlformats.org/officeDocument/2006/relationships/image" Target="../media/image80.png"/><Relationship Id="rId48" Type="http://schemas.openxmlformats.org/officeDocument/2006/relationships/image" Target="../media/image85.png"/><Relationship Id="rId64" Type="http://schemas.openxmlformats.org/officeDocument/2006/relationships/image" Target="../media/image101.png"/><Relationship Id="rId69" Type="http://schemas.openxmlformats.org/officeDocument/2006/relationships/image" Target="../media/image106.png"/><Relationship Id="rId8" Type="http://schemas.openxmlformats.org/officeDocument/2006/relationships/image" Target="../media/image45.png"/><Relationship Id="rId51" Type="http://schemas.openxmlformats.org/officeDocument/2006/relationships/image" Target="../media/image88.jpg"/><Relationship Id="rId72" Type="http://schemas.openxmlformats.org/officeDocument/2006/relationships/image" Target="../media/image109.png"/><Relationship Id="rId80" Type="http://schemas.openxmlformats.org/officeDocument/2006/relationships/image" Target="../media/image117.jpg"/><Relationship Id="rId85" Type="http://schemas.openxmlformats.org/officeDocument/2006/relationships/image" Target="../media/image122.png"/><Relationship Id="rId93" Type="http://schemas.openxmlformats.org/officeDocument/2006/relationships/image" Target="../media/image130.png"/><Relationship Id="rId3" Type="http://schemas.openxmlformats.org/officeDocument/2006/relationships/image" Target="../media/image40.jpg"/><Relationship Id="rId12" Type="http://schemas.openxmlformats.org/officeDocument/2006/relationships/image" Target="../media/image49.png"/><Relationship Id="rId17" Type="http://schemas.openxmlformats.org/officeDocument/2006/relationships/image" Target="../media/image54.png"/><Relationship Id="rId25" Type="http://schemas.openxmlformats.org/officeDocument/2006/relationships/image" Target="../media/image62.jpg"/><Relationship Id="rId33" Type="http://schemas.openxmlformats.org/officeDocument/2006/relationships/image" Target="../media/image70.jpg"/><Relationship Id="rId38" Type="http://schemas.openxmlformats.org/officeDocument/2006/relationships/image" Target="../media/image75.png"/><Relationship Id="rId46" Type="http://schemas.openxmlformats.org/officeDocument/2006/relationships/image" Target="../media/image83.png"/><Relationship Id="rId59" Type="http://schemas.openxmlformats.org/officeDocument/2006/relationships/image" Target="../media/image96.jpg"/><Relationship Id="rId67" Type="http://schemas.openxmlformats.org/officeDocument/2006/relationships/image" Target="../media/image104.png"/><Relationship Id="rId20" Type="http://schemas.openxmlformats.org/officeDocument/2006/relationships/image" Target="../media/image57.png"/><Relationship Id="rId41" Type="http://schemas.openxmlformats.org/officeDocument/2006/relationships/image" Target="../media/image78.png"/><Relationship Id="rId54" Type="http://schemas.openxmlformats.org/officeDocument/2006/relationships/image" Target="../media/image91.jpg"/><Relationship Id="rId62" Type="http://schemas.openxmlformats.org/officeDocument/2006/relationships/image" Target="../media/image99.png"/><Relationship Id="rId70" Type="http://schemas.openxmlformats.org/officeDocument/2006/relationships/image" Target="../media/image107.png"/><Relationship Id="rId75" Type="http://schemas.openxmlformats.org/officeDocument/2006/relationships/image" Target="../media/image112.jpg"/><Relationship Id="rId83" Type="http://schemas.openxmlformats.org/officeDocument/2006/relationships/image" Target="../media/image120.jpg"/><Relationship Id="rId88" Type="http://schemas.openxmlformats.org/officeDocument/2006/relationships/image" Target="../media/image125.png"/><Relationship Id="rId91" Type="http://schemas.openxmlformats.org/officeDocument/2006/relationships/image" Target="../media/image128.jpg"/><Relationship Id="rId1" Type="http://schemas.openxmlformats.org/officeDocument/2006/relationships/slideLayout" Target="../slideLayouts/slideLayout8.xml"/><Relationship Id="rId6" Type="http://schemas.openxmlformats.org/officeDocument/2006/relationships/image" Target="../media/image43.png"/><Relationship Id="rId15" Type="http://schemas.openxmlformats.org/officeDocument/2006/relationships/image" Target="../media/image52.png"/><Relationship Id="rId23" Type="http://schemas.openxmlformats.org/officeDocument/2006/relationships/image" Target="../media/image60.jpg"/><Relationship Id="rId28" Type="http://schemas.openxmlformats.org/officeDocument/2006/relationships/image" Target="../media/image65.jpg"/><Relationship Id="rId36" Type="http://schemas.openxmlformats.org/officeDocument/2006/relationships/image" Target="../media/image73.jpg"/><Relationship Id="rId49" Type="http://schemas.openxmlformats.org/officeDocument/2006/relationships/image" Target="../media/image86.jpg"/><Relationship Id="rId57" Type="http://schemas.openxmlformats.org/officeDocument/2006/relationships/image" Target="../media/image94.jpg"/><Relationship Id="rId10" Type="http://schemas.openxmlformats.org/officeDocument/2006/relationships/image" Target="../media/image47.png"/><Relationship Id="rId31" Type="http://schemas.openxmlformats.org/officeDocument/2006/relationships/image" Target="../media/image68.png"/><Relationship Id="rId44" Type="http://schemas.openxmlformats.org/officeDocument/2006/relationships/image" Target="../media/image81.jpg"/><Relationship Id="rId52" Type="http://schemas.openxmlformats.org/officeDocument/2006/relationships/image" Target="../media/image89.png"/><Relationship Id="rId60" Type="http://schemas.openxmlformats.org/officeDocument/2006/relationships/image" Target="../media/image97.jpg"/><Relationship Id="rId65" Type="http://schemas.openxmlformats.org/officeDocument/2006/relationships/image" Target="../media/image102.png"/><Relationship Id="rId73" Type="http://schemas.openxmlformats.org/officeDocument/2006/relationships/image" Target="../media/image110.png"/><Relationship Id="rId78" Type="http://schemas.openxmlformats.org/officeDocument/2006/relationships/image" Target="../media/image115.png"/><Relationship Id="rId81" Type="http://schemas.openxmlformats.org/officeDocument/2006/relationships/image" Target="../media/image118.jpg"/><Relationship Id="rId86" Type="http://schemas.openxmlformats.org/officeDocument/2006/relationships/image" Target="../media/image123.png"/><Relationship Id="rId94" Type="http://schemas.openxmlformats.org/officeDocument/2006/relationships/image" Target="../media/image131.jpg"/><Relationship Id="rId4" Type="http://schemas.openxmlformats.org/officeDocument/2006/relationships/image" Target="../media/image41.png"/><Relationship Id="rId9" Type="http://schemas.openxmlformats.org/officeDocument/2006/relationships/image" Target="../media/image46.jpg"/><Relationship Id="rId13" Type="http://schemas.openxmlformats.org/officeDocument/2006/relationships/image" Target="../media/image50.png"/><Relationship Id="rId18" Type="http://schemas.openxmlformats.org/officeDocument/2006/relationships/image" Target="../media/image55.png"/><Relationship Id="rId39" Type="http://schemas.openxmlformats.org/officeDocument/2006/relationships/image" Target="../media/image76.png"/><Relationship Id="rId34" Type="http://schemas.openxmlformats.org/officeDocument/2006/relationships/image" Target="../media/image71.jpg"/><Relationship Id="rId50" Type="http://schemas.openxmlformats.org/officeDocument/2006/relationships/image" Target="../media/image87.jpg"/><Relationship Id="rId55" Type="http://schemas.openxmlformats.org/officeDocument/2006/relationships/image" Target="../media/image92.png"/><Relationship Id="rId76" Type="http://schemas.openxmlformats.org/officeDocument/2006/relationships/image" Target="../media/image113.png"/><Relationship Id="rId7" Type="http://schemas.openxmlformats.org/officeDocument/2006/relationships/image" Target="../media/image44.jpg"/><Relationship Id="rId71" Type="http://schemas.openxmlformats.org/officeDocument/2006/relationships/image" Target="../media/image108.jpg"/><Relationship Id="rId92" Type="http://schemas.openxmlformats.org/officeDocument/2006/relationships/image" Target="../media/image129.png"/><Relationship Id="rId2" Type="http://schemas.openxmlformats.org/officeDocument/2006/relationships/image" Target="../media/image39.jpg"/><Relationship Id="rId29" Type="http://schemas.openxmlformats.org/officeDocument/2006/relationships/image" Target="../media/image66.png"/><Relationship Id="rId24" Type="http://schemas.openxmlformats.org/officeDocument/2006/relationships/image" Target="../media/image61.jpg"/><Relationship Id="rId40" Type="http://schemas.openxmlformats.org/officeDocument/2006/relationships/image" Target="../media/image77.png"/><Relationship Id="rId45" Type="http://schemas.openxmlformats.org/officeDocument/2006/relationships/image" Target="../media/image82.jpg"/><Relationship Id="rId66" Type="http://schemas.openxmlformats.org/officeDocument/2006/relationships/image" Target="../media/image103.png"/><Relationship Id="rId87" Type="http://schemas.openxmlformats.org/officeDocument/2006/relationships/image" Target="../media/image124.jpg"/><Relationship Id="rId61" Type="http://schemas.openxmlformats.org/officeDocument/2006/relationships/image" Target="../media/image98.png"/><Relationship Id="rId82" Type="http://schemas.openxmlformats.org/officeDocument/2006/relationships/image" Target="../media/image119.png"/><Relationship Id="rId19" Type="http://schemas.openxmlformats.org/officeDocument/2006/relationships/image" Target="../media/image56.jpg"/><Relationship Id="rId14" Type="http://schemas.openxmlformats.org/officeDocument/2006/relationships/image" Target="../media/image51.png"/><Relationship Id="rId30" Type="http://schemas.openxmlformats.org/officeDocument/2006/relationships/image" Target="../media/image67.png"/><Relationship Id="rId35" Type="http://schemas.openxmlformats.org/officeDocument/2006/relationships/image" Target="../media/image72.png"/><Relationship Id="rId56" Type="http://schemas.openxmlformats.org/officeDocument/2006/relationships/image" Target="../media/image93.png"/><Relationship Id="rId77" Type="http://schemas.openxmlformats.org/officeDocument/2006/relationships/image" Target="../media/image114.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ext Placeholder 1">
            <a:extLst>
              <a:ext uri="{FF2B5EF4-FFF2-40B4-BE49-F238E27FC236}">
                <a16:creationId xmlns:a16="http://schemas.microsoft.com/office/drawing/2014/main" id="{4EA89C5B-371E-4F91-4B14-39B9F4D56C97}"/>
              </a:ext>
            </a:extLst>
          </p:cNvPr>
          <p:cNvSpPr>
            <a:spLocks noGrp="1" noChangeArrowheads="1"/>
          </p:cNvSpPr>
          <p:nvPr>
            <p:ph type="title"/>
          </p:nvPr>
        </p:nvSpPr>
        <p:spPr bwMode="auto">
          <a:xfrm>
            <a:off x="432000" y="432000"/>
            <a:ext cx="11338560" cy="968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1D1D1D"/>
                </a:solidFill>
                <a:miter lim="800000"/>
                <a:headEnd/>
                <a:tailEnd/>
              </a14:hiddenLine>
            </a:ext>
          </a:extLst>
        </p:spPr>
        <p:txBody>
          <a:bodyPr vert="horz" numCol="1" compatLnSpc="1">
            <a:prstTxWarp prst="textNoShape">
              <a:avLst/>
            </a:prstTxWarp>
          </a:bodyPr>
          <a:lstStyle/>
          <a:p>
            <a:r>
              <a:rPr lang="en-US" altLang="en-US" dirty="0">
                <a:sym typeface="Helvetica Neue" panose="02000503000000020004" pitchFamily="2" charset="0"/>
              </a:rPr>
              <a:t>Team Effectiveness</a:t>
            </a:r>
            <a:br>
              <a:rPr lang="en-US" dirty="0"/>
            </a:br>
            <a:br>
              <a:rPr lang="en-US" altLang="en-US" dirty="0">
                <a:sym typeface="Helvetica Neue" panose="02000503000000020004" pitchFamily="2" charset="0"/>
              </a:rPr>
            </a:br>
            <a:endParaRPr lang="en-US" altLang="en-US" dirty="0">
              <a:sym typeface="Helvetica Neue" panose="02000503000000020004" pitchFamily="2" charset="0"/>
            </a:endParaRPr>
          </a:p>
        </p:txBody>
      </p:sp>
      <p:sp>
        <p:nvSpPr>
          <p:cNvPr id="19458" name="Text Placeholder 2">
            <a:extLst>
              <a:ext uri="{FF2B5EF4-FFF2-40B4-BE49-F238E27FC236}">
                <a16:creationId xmlns:a16="http://schemas.microsoft.com/office/drawing/2014/main" id="{4E626B21-C5AE-F649-9318-DDF22289320B}"/>
              </a:ext>
            </a:extLst>
          </p:cNvPr>
          <p:cNvSpPr>
            <a:spLocks noGrp="1" noChangeArrowheads="1"/>
          </p:cNvSpPr>
          <p:nvPr>
            <p:ph type="body" sz="quarter" idx="12"/>
          </p:nvPr>
        </p:nvSpPr>
        <p:spPr bwMode="auto">
          <a:xfrm>
            <a:off x="432000" y="1417108"/>
            <a:ext cx="11338560" cy="66569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1D1D1D"/>
                </a:solidFill>
                <a:miter lim="800000"/>
                <a:headEnd/>
                <a:tailEnd/>
              </a14:hiddenLine>
            </a:ext>
          </a:extLst>
        </p:spPr>
        <p:txBody>
          <a:bodyPr vert="horz" numCol="1" compatLnSpc="1">
            <a:prstTxWarp prst="textNoShape">
              <a:avLst/>
            </a:prstTxWarp>
          </a:bodyPr>
          <a:lstStyle/>
          <a:p>
            <a:r>
              <a:rPr lang="en-US" altLang="en-US" dirty="0">
                <a:sym typeface="Helvetica Neue Light" panose="02000403000000020004" pitchFamily="2" charset="0"/>
              </a:rPr>
              <a:t>Greater alignment of senior team on priorities that drive value creation</a:t>
            </a:r>
            <a:br>
              <a:rPr lang="en-US" altLang="en-US" dirty="0">
                <a:sym typeface="Helvetica Neue Light" panose="02000403000000020004" pitchFamily="2" charset="0"/>
              </a:rPr>
            </a:br>
            <a:endParaRPr lang="en-US" altLang="en-US" dirty="0">
              <a:sym typeface="Helvetica Neue Light" panose="02000403000000020004" pitchFamily="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FDD3C6-F476-313A-E521-0EDC28F47141}"/>
              </a:ext>
            </a:extLst>
          </p:cNvPr>
          <p:cNvSpPr>
            <a:spLocks noGrp="1"/>
          </p:cNvSpPr>
          <p:nvPr>
            <p:ph type="sldNum" sz="quarter" idx="4"/>
          </p:nvPr>
        </p:nvSpPr>
        <p:spPr/>
        <p:txBody>
          <a:bodyPr/>
          <a:lstStyle/>
          <a:p>
            <a:pPr algn="ctr"/>
            <a:fld id="{1875A764-3B06-454E-8ABA-2F6ED0EB58E9}" type="slidenum">
              <a:rPr lang="en-US" smtClean="0"/>
              <a:t>2</a:t>
            </a:fld>
            <a:endParaRPr lang="en-US"/>
          </a:p>
        </p:txBody>
      </p:sp>
      <p:sp>
        <p:nvSpPr>
          <p:cNvPr id="3" name="Title 2">
            <a:extLst>
              <a:ext uri="{FF2B5EF4-FFF2-40B4-BE49-F238E27FC236}">
                <a16:creationId xmlns:a16="http://schemas.microsoft.com/office/drawing/2014/main" id="{DD560E72-AF47-A3E1-ED03-7A53D3C2000D}"/>
              </a:ext>
            </a:extLst>
          </p:cNvPr>
          <p:cNvSpPr>
            <a:spLocks noGrp="1"/>
          </p:cNvSpPr>
          <p:nvPr>
            <p:ph type="title"/>
          </p:nvPr>
        </p:nvSpPr>
        <p:spPr>
          <a:xfrm>
            <a:off x="419999" y="228600"/>
            <a:ext cx="11895826" cy="546568"/>
          </a:xfrm>
        </p:spPr>
        <p:txBody>
          <a:bodyPr/>
          <a:lstStyle/>
          <a:p>
            <a:r>
              <a:rPr lang="en-US" dirty="0"/>
              <a:t>We Start by Understanding the Company &amp; Speaking with the People</a:t>
            </a:r>
          </a:p>
        </p:txBody>
      </p:sp>
      <p:grpSp>
        <p:nvGrpSpPr>
          <p:cNvPr id="4" name="Group 3">
            <a:extLst>
              <a:ext uri="{FF2B5EF4-FFF2-40B4-BE49-F238E27FC236}">
                <a16:creationId xmlns:a16="http://schemas.microsoft.com/office/drawing/2014/main" id="{48C6B304-2FF6-5B9C-3DA3-C6D348FA69B1}"/>
              </a:ext>
            </a:extLst>
          </p:cNvPr>
          <p:cNvGrpSpPr/>
          <p:nvPr/>
        </p:nvGrpSpPr>
        <p:grpSpPr>
          <a:xfrm>
            <a:off x="969574" y="1399813"/>
            <a:ext cx="6849718" cy="4623301"/>
            <a:chOff x="6583918" y="2006763"/>
            <a:chExt cx="5130324" cy="3751951"/>
          </a:xfrm>
        </p:grpSpPr>
        <p:sp>
          <p:nvSpPr>
            <p:cNvPr id="5" name="Rectangle 4">
              <a:extLst>
                <a:ext uri="{FF2B5EF4-FFF2-40B4-BE49-F238E27FC236}">
                  <a16:creationId xmlns:a16="http://schemas.microsoft.com/office/drawing/2014/main" id="{7347A991-3A90-DAB5-FDEB-2EEE8979D33C}"/>
                </a:ext>
              </a:extLst>
            </p:cNvPr>
            <p:cNvSpPr/>
            <p:nvPr/>
          </p:nvSpPr>
          <p:spPr>
            <a:xfrm>
              <a:off x="6583918" y="2006763"/>
              <a:ext cx="1711812" cy="187564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360000" tIns="46800" rIns="360000" rtlCol="0" anchor="ctr"/>
            <a:lstStyle/>
            <a:p>
              <a:pPr lvl="0"/>
              <a:endParaRPr lang="en-GB" sz="1400" spc="-10" dirty="0">
                <a:solidFill>
                  <a:srgbClr val="1D1D1D"/>
                </a:solidFill>
                <a:latin typeface="Arial" pitchFamily="34" charset="0"/>
                <a:ea typeface="Lato" panose="020F0502020204030203" pitchFamily="34" charset="0"/>
                <a:cs typeface="Lato" panose="020F0502020204030203" pitchFamily="34" charset="0"/>
              </a:endParaRPr>
            </a:p>
            <a:p>
              <a:pPr lvl="0"/>
              <a:endParaRPr lang="en-GB" sz="1400" spc="-10" dirty="0">
                <a:solidFill>
                  <a:srgbClr val="1D1D1D"/>
                </a:solidFill>
                <a:latin typeface="Arial" pitchFamily="34" charset="0"/>
                <a:ea typeface="Lato" panose="020F0502020204030203" pitchFamily="34" charset="0"/>
                <a:cs typeface="Lato" panose="020F0502020204030203" pitchFamily="34" charset="0"/>
              </a:endParaRPr>
            </a:p>
            <a:p>
              <a:pPr lvl="0"/>
              <a:r>
                <a:rPr lang="en-GB" sz="1400" spc="-10" dirty="0">
                  <a:solidFill>
                    <a:srgbClr val="1D1D1D"/>
                  </a:solidFill>
                  <a:latin typeface="Arial" pitchFamily="34" charset="0"/>
                  <a:ea typeface="Lato" panose="020F0502020204030203" pitchFamily="34" charset="0"/>
                  <a:cs typeface="Lato" panose="020F0502020204030203" pitchFamily="34" charset="0"/>
                </a:rPr>
                <a:t>Strategy Documents</a:t>
              </a:r>
              <a:endParaRPr lang="LID4096" sz="1400" spc="-10">
                <a:solidFill>
                  <a:srgbClr val="1D1D1D"/>
                </a:solidFill>
                <a:latin typeface="Arial" pitchFamily="34" charset="0"/>
                <a:ea typeface="Lato" panose="020F0502020204030203" pitchFamily="34" charset="0"/>
                <a:cs typeface="Lato" panose="020F0502020204030203" pitchFamily="34" charset="0"/>
              </a:endParaRPr>
            </a:p>
          </p:txBody>
        </p:sp>
        <p:sp>
          <p:nvSpPr>
            <p:cNvPr id="6" name="Rectangle 5">
              <a:extLst>
                <a:ext uri="{FF2B5EF4-FFF2-40B4-BE49-F238E27FC236}">
                  <a16:creationId xmlns:a16="http://schemas.microsoft.com/office/drawing/2014/main" id="{8074C558-012C-A765-0E9A-A17A97C58C5C}"/>
                </a:ext>
              </a:extLst>
            </p:cNvPr>
            <p:cNvSpPr/>
            <p:nvPr/>
          </p:nvSpPr>
          <p:spPr>
            <a:xfrm>
              <a:off x="8292890" y="2006763"/>
              <a:ext cx="1711812" cy="187564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0" tIns="46800" rIns="360000" rtlCol="0" anchor="ctr"/>
            <a:lstStyle/>
            <a:p>
              <a:endParaRPr lang="en-US" sz="1400" spc="-10" dirty="0">
                <a:solidFill>
                  <a:srgbClr val="1D1D1D"/>
                </a:solidFill>
                <a:latin typeface="Arial" pitchFamily="34" charset="0"/>
                <a:ea typeface="Lato" panose="020F0502020204030203" pitchFamily="34" charset="0"/>
                <a:cs typeface="Lato" panose="020F0502020204030203" pitchFamily="34" charset="0"/>
              </a:endParaRPr>
            </a:p>
            <a:p>
              <a:r>
                <a:rPr lang="en-US" sz="1400" spc="-10" dirty="0">
                  <a:solidFill>
                    <a:srgbClr val="1D1D1D"/>
                  </a:solidFill>
                  <a:latin typeface="Arial" pitchFamily="34" charset="0"/>
                  <a:ea typeface="Lato" panose="020F0502020204030203" pitchFamily="34" charset="0"/>
                  <a:cs typeface="Lato" panose="020F0502020204030203" pitchFamily="34" charset="0"/>
                </a:rPr>
                <a:t>1:1 Interviews</a:t>
              </a:r>
            </a:p>
          </p:txBody>
        </p:sp>
        <p:sp>
          <p:nvSpPr>
            <p:cNvPr id="7" name="Rectangle 6">
              <a:extLst>
                <a:ext uri="{FF2B5EF4-FFF2-40B4-BE49-F238E27FC236}">
                  <a16:creationId xmlns:a16="http://schemas.microsoft.com/office/drawing/2014/main" id="{47B83B91-7BEA-C832-CFCD-FA0588D28ED7}"/>
                </a:ext>
              </a:extLst>
            </p:cNvPr>
            <p:cNvSpPr/>
            <p:nvPr/>
          </p:nvSpPr>
          <p:spPr>
            <a:xfrm>
              <a:off x="10002430" y="2006763"/>
              <a:ext cx="1711812" cy="187564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360000" tIns="46800" rIns="360000" rtlCol="0" anchor="ctr"/>
            <a:lstStyle/>
            <a:p>
              <a:endParaRPr lang="en-US" sz="1400" spc="-10" dirty="0">
                <a:solidFill>
                  <a:srgbClr val="1D1D1D"/>
                </a:solidFill>
                <a:latin typeface="Arial" pitchFamily="34" charset="0"/>
                <a:ea typeface="Lato" panose="020F0502020204030203" pitchFamily="34" charset="0"/>
                <a:cs typeface="Lato" panose="020F0502020204030203" pitchFamily="34" charset="0"/>
              </a:endParaRPr>
            </a:p>
            <a:p>
              <a:r>
                <a:rPr lang="en-US" sz="1400" spc="-10" dirty="0">
                  <a:solidFill>
                    <a:srgbClr val="1D1D1D"/>
                  </a:solidFill>
                  <a:latin typeface="Arial" pitchFamily="34" charset="0"/>
                  <a:ea typeface="Lato" panose="020F0502020204030203" pitchFamily="34" charset="0"/>
                  <a:cs typeface="Lato" panose="020F0502020204030203" pitchFamily="34" charset="0"/>
                </a:rPr>
                <a:t>Stakeholder feedback</a:t>
              </a:r>
            </a:p>
          </p:txBody>
        </p:sp>
        <p:sp>
          <p:nvSpPr>
            <p:cNvPr id="8" name="Rectangle 7">
              <a:extLst>
                <a:ext uri="{FF2B5EF4-FFF2-40B4-BE49-F238E27FC236}">
                  <a16:creationId xmlns:a16="http://schemas.microsoft.com/office/drawing/2014/main" id="{8C62CD95-7849-15BD-BE51-7649656D6EB2}"/>
                </a:ext>
              </a:extLst>
            </p:cNvPr>
            <p:cNvSpPr/>
            <p:nvPr/>
          </p:nvSpPr>
          <p:spPr>
            <a:xfrm>
              <a:off x="6583918" y="3883072"/>
              <a:ext cx="1711813" cy="187564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0" tIns="46800" rIns="360000" rtlCol="0" anchor="ctr"/>
            <a:lstStyle/>
            <a:p>
              <a:endParaRPr lang="en-US" sz="1400" spc="-10">
                <a:solidFill>
                  <a:srgbClr val="1D1D1D"/>
                </a:solidFill>
                <a:latin typeface="Arial" pitchFamily="34" charset="0"/>
                <a:ea typeface="Lato" panose="020F0502020204030203" pitchFamily="34" charset="0"/>
                <a:cs typeface="Lato" panose="020F0502020204030203" pitchFamily="34" charset="0"/>
              </a:endParaRPr>
            </a:p>
            <a:p>
              <a:r>
                <a:rPr lang="en-US" sz="1400" spc="-10">
                  <a:solidFill>
                    <a:srgbClr val="1D1D1D"/>
                  </a:solidFill>
                  <a:latin typeface="Arial" pitchFamily="34" charset="0"/>
                  <a:ea typeface="Lato" panose="020F0502020204030203" pitchFamily="34" charset="0"/>
                  <a:cs typeface="Lato" panose="020F0502020204030203" pitchFamily="34" charset="0"/>
                </a:rPr>
                <a:t>Employee Engagement Survey</a:t>
              </a:r>
            </a:p>
          </p:txBody>
        </p:sp>
        <p:sp>
          <p:nvSpPr>
            <p:cNvPr id="9" name="Rectangle 8">
              <a:extLst>
                <a:ext uri="{FF2B5EF4-FFF2-40B4-BE49-F238E27FC236}">
                  <a16:creationId xmlns:a16="http://schemas.microsoft.com/office/drawing/2014/main" id="{259F6289-23FE-A299-1274-CD58A4E74642}"/>
                </a:ext>
              </a:extLst>
            </p:cNvPr>
            <p:cNvSpPr/>
            <p:nvPr/>
          </p:nvSpPr>
          <p:spPr>
            <a:xfrm>
              <a:off x="8292890" y="3875121"/>
              <a:ext cx="1711813" cy="187564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360000" tIns="46800" rIns="360000" rtlCol="0" anchor="ctr"/>
            <a:lstStyle/>
            <a:p>
              <a:endParaRPr lang="en-US" sz="1400" spc="-10">
                <a:solidFill>
                  <a:srgbClr val="1D1D1D"/>
                </a:solidFill>
                <a:latin typeface="Arial" pitchFamily="34" charset="0"/>
                <a:ea typeface="Lato" panose="020F0502020204030203" pitchFamily="34" charset="0"/>
                <a:cs typeface="Lato" panose="020F0502020204030203" pitchFamily="34" charset="0"/>
              </a:endParaRPr>
            </a:p>
            <a:p>
              <a:r>
                <a:rPr lang="en-US" sz="1400" spc="-10">
                  <a:solidFill>
                    <a:srgbClr val="1D1D1D"/>
                  </a:solidFill>
                  <a:latin typeface="Arial" pitchFamily="34" charset="0"/>
                  <a:ea typeface="Lato" panose="020F0502020204030203" pitchFamily="34" charset="0"/>
                  <a:cs typeface="Lato" panose="020F0502020204030203" pitchFamily="34" charset="0"/>
                </a:rPr>
                <a:t>Team</a:t>
              </a:r>
            </a:p>
            <a:p>
              <a:r>
                <a:rPr lang="en-US" sz="1400" spc="-10">
                  <a:solidFill>
                    <a:srgbClr val="1D1D1D"/>
                  </a:solidFill>
                  <a:latin typeface="Arial" pitchFamily="34" charset="0"/>
                  <a:ea typeface="Lato" panose="020F0502020204030203" pitchFamily="34" charset="0"/>
                  <a:cs typeface="Lato" panose="020F0502020204030203" pitchFamily="34" charset="0"/>
                </a:rPr>
                <a:t>Personality</a:t>
              </a:r>
            </a:p>
            <a:p>
              <a:r>
                <a:rPr lang="en-US" sz="1400" spc="-10">
                  <a:solidFill>
                    <a:srgbClr val="1D1D1D"/>
                  </a:solidFill>
                  <a:latin typeface="Arial" pitchFamily="34" charset="0"/>
                  <a:ea typeface="Lato" panose="020F0502020204030203" pitchFamily="34" charset="0"/>
                  <a:cs typeface="Lato" panose="020F0502020204030203" pitchFamily="34" charset="0"/>
                </a:rPr>
                <a:t>Profiles</a:t>
              </a:r>
            </a:p>
          </p:txBody>
        </p:sp>
        <p:sp>
          <p:nvSpPr>
            <p:cNvPr id="10" name="Rectangle 9">
              <a:extLst>
                <a:ext uri="{FF2B5EF4-FFF2-40B4-BE49-F238E27FC236}">
                  <a16:creationId xmlns:a16="http://schemas.microsoft.com/office/drawing/2014/main" id="{AE9F4B3B-69B0-AEC2-55ED-4452ED44C972}"/>
                </a:ext>
              </a:extLst>
            </p:cNvPr>
            <p:cNvSpPr/>
            <p:nvPr/>
          </p:nvSpPr>
          <p:spPr>
            <a:xfrm>
              <a:off x="10002429" y="3883072"/>
              <a:ext cx="1711813" cy="187564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0" tIns="46800" rIns="360000" rtlCol="0" anchor="ctr"/>
            <a:lstStyle/>
            <a:p>
              <a:endParaRPr lang="en-US" sz="1400" spc="-10" dirty="0">
                <a:solidFill>
                  <a:srgbClr val="1D1D1D"/>
                </a:solidFill>
                <a:latin typeface="Arial" pitchFamily="34" charset="0"/>
                <a:ea typeface="Lato" panose="020F0502020204030203" pitchFamily="34" charset="0"/>
                <a:cs typeface="Lato" panose="020F0502020204030203" pitchFamily="34" charset="0"/>
              </a:endParaRPr>
            </a:p>
            <a:p>
              <a:r>
                <a:rPr lang="en-US" sz="1400" spc="-10" dirty="0">
                  <a:solidFill>
                    <a:srgbClr val="1D1D1D"/>
                  </a:solidFill>
                  <a:latin typeface="Arial" pitchFamily="34" charset="0"/>
                  <a:ea typeface="Lato" panose="020F0502020204030203" pitchFamily="34" charset="0"/>
                  <a:cs typeface="Lato" panose="020F0502020204030203" pitchFamily="34" charset="0"/>
                </a:rPr>
                <a:t>Leadership</a:t>
              </a:r>
            </a:p>
            <a:p>
              <a:r>
                <a:rPr lang="en-US" sz="1400" spc="-10" dirty="0">
                  <a:solidFill>
                    <a:srgbClr val="1D1D1D"/>
                  </a:solidFill>
                  <a:latin typeface="Arial" pitchFamily="34" charset="0"/>
                  <a:ea typeface="Lato" panose="020F0502020204030203" pitchFamily="34" charset="0"/>
                  <a:cs typeface="Lato" panose="020F0502020204030203" pitchFamily="34" charset="0"/>
                </a:rPr>
                <a:t>Culture Survey</a:t>
              </a:r>
            </a:p>
          </p:txBody>
        </p:sp>
      </p:grpSp>
      <p:sp>
        <p:nvSpPr>
          <p:cNvPr id="11" name="Rectangle 10">
            <a:extLst>
              <a:ext uri="{FF2B5EF4-FFF2-40B4-BE49-F238E27FC236}">
                <a16:creationId xmlns:a16="http://schemas.microsoft.com/office/drawing/2014/main" id="{FB653F04-8F7E-8AFC-F6F8-988317D72F3A}"/>
              </a:ext>
            </a:extLst>
          </p:cNvPr>
          <p:cNvSpPr/>
          <p:nvPr/>
        </p:nvSpPr>
        <p:spPr>
          <a:xfrm>
            <a:off x="7794155" y="1399813"/>
            <a:ext cx="2285514" cy="231124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0" tIns="46800" rIns="360000" rtlCol="0" anchor="ctr"/>
          <a:lstStyle/>
          <a:p>
            <a:endParaRPr lang="en-US" sz="1400" spc="-10">
              <a:solidFill>
                <a:srgbClr val="1D1D1D"/>
              </a:solidFill>
              <a:latin typeface="Arial" pitchFamily="34" charset="0"/>
              <a:ea typeface="Lato" panose="020F0502020204030203" pitchFamily="34" charset="0"/>
              <a:cs typeface="Lato" panose="020F0502020204030203" pitchFamily="34" charset="0"/>
            </a:endParaRPr>
          </a:p>
          <a:p>
            <a:r>
              <a:rPr lang="en-US" sz="1400" spc="-10">
                <a:solidFill>
                  <a:srgbClr val="1D1D1D"/>
                </a:solidFill>
                <a:latin typeface="Arial" pitchFamily="34" charset="0"/>
                <a:ea typeface="Lato" panose="020F0502020204030203" pitchFamily="34" charset="0"/>
                <a:cs typeface="Lato" panose="020F0502020204030203" pitchFamily="34" charset="0"/>
              </a:rPr>
              <a:t>Board Conversations</a:t>
            </a:r>
          </a:p>
        </p:txBody>
      </p:sp>
      <p:sp>
        <p:nvSpPr>
          <p:cNvPr id="12" name="Rectangle 11">
            <a:extLst>
              <a:ext uri="{FF2B5EF4-FFF2-40B4-BE49-F238E27FC236}">
                <a16:creationId xmlns:a16="http://schemas.microsoft.com/office/drawing/2014/main" id="{C3BC0684-8437-5021-BE04-2F5766826707}"/>
              </a:ext>
            </a:extLst>
          </p:cNvPr>
          <p:cNvSpPr/>
          <p:nvPr/>
        </p:nvSpPr>
        <p:spPr>
          <a:xfrm>
            <a:off x="7794155" y="3702077"/>
            <a:ext cx="2285516" cy="23112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360000" tIns="46800" rIns="360000" rtlCol="0" anchor="ctr"/>
          <a:lstStyle/>
          <a:p>
            <a:endParaRPr lang="en-US" sz="1400" spc="-10" dirty="0">
              <a:solidFill>
                <a:srgbClr val="1D1D1D"/>
              </a:solidFill>
              <a:latin typeface="Arial" pitchFamily="34" charset="0"/>
              <a:ea typeface="Lato" panose="020F0502020204030203" pitchFamily="34" charset="0"/>
              <a:cs typeface="Lato" panose="020F0502020204030203" pitchFamily="34" charset="0"/>
            </a:endParaRPr>
          </a:p>
          <a:p>
            <a:r>
              <a:rPr lang="en-US" sz="1400" spc="-10" dirty="0">
                <a:solidFill>
                  <a:srgbClr val="1D1D1D"/>
                </a:solidFill>
                <a:latin typeface="Arial" pitchFamily="34" charset="0"/>
                <a:ea typeface="Lato" panose="020F0502020204030203" pitchFamily="34" charset="0"/>
                <a:cs typeface="Lato" panose="020F0502020204030203" pitchFamily="34" charset="0"/>
              </a:rPr>
              <a:t>Shareholder Conversations</a:t>
            </a:r>
          </a:p>
        </p:txBody>
      </p:sp>
      <p:sp>
        <p:nvSpPr>
          <p:cNvPr id="13" name="Rectangle 12">
            <a:extLst>
              <a:ext uri="{FF2B5EF4-FFF2-40B4-BE49-F238E27FC236}">
                <a16:creationId xmlns:a16="http://schemas.microsoft.com/office/drawing/2014/main" id="{F2F32FE0-46EA-45E5-87D3-D0871BE92C2C}"/>
              </a:ext>
            </a:extLst>
          </p:cNvPr>
          <p:cNvSpPr/>
          <p:nvPr/>
        </p:nvSpPr>
        <p:spPr>
          <a:xfrm>
            <a:off x="969574" y="1399813"/>
            <a:ext cx="9110095" cy="461350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p>
        </p:txBody>
      </p:sp>
    </p:spTree>
    <p:extLst>
      <p:ext uri="{BB962C8B-B14F-4D97-AF65-F5344CB8AC3E}">
        <p14:creationId xmlns:p14="http://schemas.microsoft.com/office/powerpoint/2010/main" val="25693751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E5C351B-52EE-6B26-631B-50EB968F4D69}"/>
              </a:ext>
            </a:extLst>
          </p:cNvPr>
          <p:cNvSpPr>
            <a:spLocks noGrp="1"/>
          </p:cNvSpPr>
          <p:nvPr>
            <p:ph type="sldNum" sz="quarter" idx="4"/>
          </p:nvPr>
        </p:nvSpPr>
        <p:spPr/>
        <p:txBody>
          <a:bodyPr/>
          <a:lstStyle/>
          <a:p>
            <a:pPr algn="ctr"/>
            <a:fld id="{1875A764-3B06-454E-8ABA-2F6ED0EB58E9}" type="slidenum">
              <a:rPr lang="en-US" smtClean="0"/>
              <a:t>3</a:t>
            </a:fld>
            <a:endParaRPr lang="en-US"/>
          </a:p>
        </p:txBody>
      </p:sp>
      <p:sp>
        <p:nvSpPr>
          <p:cNvPr id="3" name="Title 2">
            <a:extLst>
              <a:ext uri="{FF2B5EF4-FFF2-40B4-BE49-F238E27FC236}">
                <a16:creationId xmlns:a16="http://schemas.microsoft.com/office/drawing/2014/main" id="{63E7AF76-2519-6CAD-880A-963906F624EE}"/>
              </a:ext>
            </a:extLst>
          </p:cNvPr>
          <p:cNvSpPr>
            <a:spLocks noGrp="1"/>
          </p:cNvSpPr>
          <p:nvPr>
            <p:ph type="title"/>
          </p:nvPr>
        </p:nvSpPr>
        <p:spPr/>
        <p:txBody>
          <a:bodyPr/>
          <a:lstStyle/>
          <a:p>
            <a:r>
              <a:rPr lang="en-US" dirty="0"/>
              <a:t>We Align on the Company’s Strategic Pivots</a:t>
            </a:r>
          </a:p>
        </p:txBody>
      </p:sp>
      <p:sp>
        <p:nvSpPr>
          <p:cNvPr id="4" name="object 11">
            <a:extLst>
              <a:ext uri="{FF2B5EF4-FFF2-40B4-BE49-F238E27FC236}">
                <a16:creationId xmlns:a16="http://schemas.microsoft.com/office/drawing/2014/main" id="{3C25548A-7CD9-364D-C95F-E41ADBF9B027}"/>
              </a:ext>
            </a:extLst>
          </p:cNvPr>
          <p:cNvSpPr txBox="1"/>
          <p:nvPr/>
        </p:nvSpPr>
        <p:spPr>
          <a:xfrm>
            <a:off x="1409797" y="1735625"/>
            <a:ext cx="4350385" cy="182101"/>
          </a:xfrm>
          <a:prstGeom prst="rect">
            <a:avLst/>
          </a:prstGeom>
        </p:spPr>
        <p:txBody>
          <a:bodyPr vert="horz" wrap="square" lIns="0" tIns="12700" rIns="0" bIns="0" rtlCol="0">
            <a:spAutoFit/>
          </a:bodyPr>
          <a:lstStyle/>
          <a:p>
            <a:pPr marL="0" marR="5080" lvl="0" indent="0" algn="r" defTabSz="914400" eaLnBrk="1" fontAlgn="auto" latinLnBrk="0" hangingPunct="1">
              <a:lnSpc>
                <a:spcPct val="100000"/>
              </a:lnSpc>
              <a:spcBef>
                <a:spcPts val="100"/>
              </a:spcBef>
              <a:spcAft>
                <a:spcPts val="0"/>
              </a:spcAft>
              <a:buClrTx/>
              <a:buSzTx/>
              <a:buFontTx/>
              <a:buNone/>
              <a:tabLst/>
              <a:defRPr/>
            </a:pPr>
            <a:r>
              <a:rPr kumimoji="0" sz="1100" i="0" u="none" strike="noStrike" kern="0" cap="none" spc="-10" normalizeH="0" baseline="0" noProof="0" dirty="0">
                <a:ln>
                  <a:noFill/>
                </a:ln>
                <a:solidFill>
                  <a:srgbClr val="281A42"/>
                </a:solidFill>
                <a:effectLst/>
                <a:uLnTx/>
                <a:uFillTx/>
                <a:latin typeface="Arial" pitchFamily="34" charset="0"/>
                <a:cs typeface="Arial"/>
              </a:rPr>
              <a:t>UAE-focused operations</a:t>
            </a:r>
            <a:endParaRPr kumimoji="0" sz="1100" i="0" u="none" strike="noStrike" kern="0" cap="none" spc="-10" normalizeH="0" baseline="0" noProof="0" dirty="0">
              <a:ln>
                <a:noFill/>
              </a:ln>
              <a:solidFill>
                <a:sysClr val="windowText" lastClr="000000"/>
              </a:solidFill>
              <a:effectLst/>
              <a:uLnTx/>
              <a:uFillTx/>
              <a:latin typeface="Arial" pitchFamily="34" charset="0"/>
              <a:cs typeface="Arial"/>
            </a:endParaRPr>
          </a:p>
        </p:txBody>
      </p:sp>
      <p:sp>
        <p:nvSpPr>
          <p:cNvPr id="5" name="object 12">
            <a:extLst>
              <a:ext uri="{FF2B5EF4-FFF2-40B4-BE49-F238E27FC236}">
                <a16:creationId xmlns:a16="http://schemas.microsoft.com/office/drawing/2014/main" id="{762D8411-3D7B-1CDD-A944-53CECCDF3886}"/>
              </a:ext>
            </a:extLst>
          </p:cNvPr>
          <p:cNvSpPr txBox="1"/>
          <p:nvPr/>
        </p:nvSpPr>
        <p:spPr>
          <a:xfrm>
            <a:off x="6311910" y="1735625"/>
            <a:ext cx="5073528" cy="182101"/>
          </a:xfrm>
          <a:prstGeom prst="rect">
            <a:avLst/>
          </a:prstGeom>
        </p:spPr>
        <p:txBody>
          <a:bodyPr vert="horz" wrap="square" lIns="0" tIns="12700" rIns="0" bIns="0" rtlCol="0">
            <a:spAutoFit/>
          </a:bodyPr>
          <a:lstStyle/>
          <a:p>
            <a:pPr marL="0" marR="5080" lvl="0" indent="0" defTabSz="914400" eaLnBrk="1" fontAlgn="auto" latinLnBrk="0" hangingPunct="1">
              <a:lnSpc>
                <a:spcPct val="100000"/>
              </a:lnSpc>
              <a:spcBef>
                <a:spcPts val="100"/>
              </a:spcBef>
              <a:spcAft>
                <a:spcPts val="0"/>
              </a:spcAft>
              <a:buClrTx/>
              <a:buSzTx/>
              <a:buFontTx/>
              <a:buNone/>
              <a:tabLst/>
              <a:defRPr/>
            </a:pPr>
            <a:r>
              <a:rPr kumimoji="0" lang="en-US" sz="1100" i="0" u="none" strike="noStrike" kern="0" cap="none" spc="-10" normalizeH="0" baseline="0" noProof="0" dirty="0">
                <a:ln>
                  <a:noFill/>
                </a:ln>
                <a:solidFill>
                  <a:srgbClr val="281A42"/>
                </a:solidFill>
                <a:effectLst/>
                <a:uLnTx/>
                <a:uFillTx/>
                <a:latin typeface="Arial" pitchFamily="34" charset="0"/>
                <a:cs typeface="Arial"/>
              </a:rPr>
              <a:t>Market Expansion</a:t>
            </a:r>
            <a:r>
              <a:rPr kumimoji="0" sz="1100" i="0" u="none" strike="noStrike" kern="0" cap="none" spc="-10" normalizeH="0" baseline="0" noProof="0" dirty="0">
                <a:ln>
                  <a:noFill/>
                </a:ln>
                <a:solidFill>
                  <a:srgbClr val="281A42"/>
                </a:solidFill>
                <a:effectLst/>
                <a:uLnTx/>
                <a:uFillTx/>
                <a:latin typeface="Arial" pitchFamily="34" charset="0"/>
                <a:cs typeface="Arial"/>
              </a:rPr>
              <a:t> into new geographies</a:t>
            </a:r>
            <a:endParaRPr kumimoji="0" sz="1100" i="0" u="none" strike="noStrike" kern="0" cap="none" spc="-10" normalizeH="0" baseline="0" noProof="0" dirty="0">
              <a:ln>
                <a:noFill/>
              </a:ln>
              <a:solidFill>
                <a:sysClr val="windowText" lastClr="000000"/>
              </a:solidFill>
              <a:effectLst/>
              <a:uLnTx/>
              <a:uFillTx/>
              <a:latin typeface="Arial" pitchFamily="34" charset="0"/>
              <a:cs typeface="Arial"/>
            </a:endParaRPr>
          </a:p>
        </p:txBody>
      </p:sp>
      <p:sp>
        <p:nvSpPr>
          <p:cNvPr id="6" name="object 15">
            <a:extLst>
              <a:ext uri="{FF2B5EF4-FFF2-40B4-BE49-F238E27FC236}">
                <a16:creationId xmlns:a16="http://schemas.microsoft.com/office/drawing/2014/main" id="{06924D53-CC10-22D5-9243-6A0AAD08A305}"/>
              </a:ext>
            </a:extLst>
          </p:cNvPr>
          <p:cNvSpPr txBox="1"/>
          <p:nvPr/>
        </p:nvSpPr>
        <p:spPr>
          <a:xfrm>
            <a:off x="802102" y="2304794"/>
            <a:ext cx="4958080" cy="182101"/>
          </a:xfrm>
          <a:prstGeom prst="rect">
            <a:avLst/>
          </a:prstGeom>
        </p:spPr>
        <p:txBody>
          <a:bodyPr vert="horz" wrap="square" lIns="0" tIns="12700" rIns="0" bIns="0" rtlCol="0">
            <a:spAutoFit/>
          </a:bodyPr>
          <a:lstStyle/>
          <a:p>
            <a:pPr marL="0" marR="6350" lvl="0" indent="0" algn="r" defTabSz="914400" eaLnBrk="1" fontAlgn="auto" latinLnBrk="0" hangingPunct="1">
              <a:lnSpc>
                <a:spcPct val="100000"/>
              </a:lnSpc>
              <a:spcBef>
                <a:spcPts val="100"/>
              </a:spcBef>
              <a:spcAft>
                <a:spcPts val="0"/>
              </a:spcAft>
              <a:buClrTx/>
              <a:buSzTx/>
              <a:buFontTx/>
              <a:buNone/>
              <a:tabLst/>
              <a:defRPr/>
            </a:pPr>
            <a:r>
              <a:rPr kumimoji="0" sz="1100" i="0" u="none" strike="noStrike" kern="0" cap="none" spc="-10" normalizeH="0" baseline="0" noProof="0" dirty="0">
                <a:ln>
                  <a:noFill/>
                </a:ln>
                <a:solidFill>
                  <a:srgbClr val="281A42"/>
                </a:solidFill>
                <a:effectLst/>
                <a:uLnTx/>
                <a:uFillTx/>
                <a:latin typeface="Arial" pitchFamily="34" charset="0"/>
                <a:cs typeface="Arial"/>
              </a:rPr>
              <a:t>Low maturity of systems and processes</a:t>
            </a:r>
            <a:endParaRPr kumimoji="0" sz="1100" i="0" u="none" strike="noStrike" kern="0" cap="none" spc="-10" normalizeH="0" baseline="0" noProof="0" dirty="0">
              <a:ln>
                <a:noFill/>
              </a:ln>
              <a:solidFill>
                <a:sysClr val="windowText" lastClr="000000"/>
              </a:solidFill>
              <a:effectLst/>
              <a:uLnTx/>
              <a:uFillTx/>
              <a:latin typeface="Arial" pitchFamily="34" charset="0"/>
              <a:cs typeface="Arial"/>
            </a:endParaRPr>
          </a:p>
        </p:txBody>
      </p:sp>
      <p:sp>
        <p:nvSpPr>
          <p:cNvPr id="7" name="object 16">
            <a:extLst>
              <a:ext uri="{FF2B5EF4-FFF2-40B4-BE49-F238E27FC236}">
                <a16:creationId xmlns:a16="http://schemas.microsoft.com/office/drawing/2014/main" id="{05D4386B-0C75-0D0A-3E88-BB8169A5EB56}"/>
              </a:ext>
            </a:extLst>
          </p:cNvPr>
          <p:cNvSpPr txBox="1"/>
          <p:nvPr/>
        </p:nvSpPr>
        <p:spPr>
          <a:xfrm>
            <a:off x="6301366" y="2304794"/>
            <a:ext cx="4945380" cy="182101"/>
          </a:xfrm>
          <a:prstGeom prst="rect">
            <a:avLst/>
          </a:prstGeom>
        </p:spPr>
        <p:txBody>
          <a:bodyPr vert="horz" wrap="square" lIns="0" tIns="12700" rIns="0" bIns="0" rtlCol="0">
            <a:spAutoFit/>
          </a:bodyPr>
          <a:lstStyle/>
          <a:p>
            <a:pPr marL="0" marR="5080" lvl="0" indent="0" defTabSz="914400" eaLnBrk="1" fontAlgn="auto" latinLnBrk="0" hangingPunct="1">
              <a:lnSpc>
                <a:spcPct val="100000"/>
              </a:lnSpc>
              <a:spcBef>
                <a:spcPts val="100"/>
              </a:spcBef>
              <a:spcAft>
                <a:spcPts val="0"/>
              </a:spcAft>
              <a:buClrTx/>
              <a:buSzTx/>
              <a:buFontTx/>
              <a:buNone/>
              <a:tabLst/>
              <a:defRPr/>
            </a:pPr>
            <a:r>
              <a:rPr kumimoji="0" sz="1100" i="0" u="none" strike="noStrike" kern="0" cap="none" spc="-10" normalizeH="0" baseline="0" noProof="0" dirty="0">
                <a:ln>
                  <a:noFill/>
                </a:ln>
                <a:solidFill>
                  <a:srgbClr val="281A42"/>
                </a:solidFill>
                <a:effectLst/>
                <a:uLnTx/>
                <a:uFillTx/>
                <a:latin typeface="Arial" pitchFamily="34" charset="0"/>
                <a:cs typeface="Arial"/>
              </a:rPr>
              <a:t>Operational excellence with </a:t>
            </a:r>
            <a:r>
              <a:rPr lang="en-US" sz="1100" kern="0" spc="-10" dirty="0">
                <a:solidFill>
                  <a:srgbClr val="281A42"/>
                </a:solidFill>
                <a:latin typeface="Arial" pitchFamily="34" charset="0"/>
                <a:cs typeface="Arial"/>
              </a:rPr>
              <a:t>digital</a:t>
            </a:r>
            <a:r>
              <a:rPr kumimoji="0" sz="1100" i="0" u="none" strike="noStrike" kern="0" cap="none" spc="-10" normalizeH="0" baseline="0" noProof="0" dirty="0">
                <a:ln>
                  <a:noFill/>
                </a:ln>
                <a:solidFill>
                  <a:srgbClr val="281A42"/>
                </a:solidFill>
                <a:effectLst/>
                <a:uLnTx/>
                <a:uFillTx/>
                <a:latin typeface="Arial" pitchFamily="34" charset="0"/>
                <a:cs typeface="Arial"/>
              </a:rPr>
              <a:t>-enabled operations</a:t>
            </a:r>
            <a:endParaRPr kumimoji="0" sz="1100" i="0" u="none" strike="noStrike" kern="0" cap="none" spc="-10" normalizeH="0" baseline="0" noProof="0" dirty="0">
              <a:ln>
                <a:noFill/>
              </a:ln>
              <a:solidFill>
                <a:sysClr val="windowText" lastClr="000000"/>
              </a:solidFill>
              <a:effectLst/>
              <a:uLnTx/>
              <a:uFillTx/>
              <a:latin typeface="Arial" pitchFamily="34" charset="0"/>
              <a:cs typeface="Arial"/>
            </a:endParaRPr>
          </a:p>
        </p:txBody>
      </p:sp>
      <p:sp>
        <p:nvSpPr>
          <p:cNvPr id="8" name="object 17">
            <a:extLst>
              <a:ext uri="{FF2B5EF4-FFF2-40B4-BE49-F238E27FC236}">
                <a16:creationId xmlns:a16="http://schemas.microsoft.com/office/drawing/2014/main" id="{E681887F-7BBB-E646-533C-1353B9457F84}"/>
              </a:ext>
            </a:extLst>
          </p:cNvPr>
          <p:cNvSpPr txBox="1"/>
          <p:nvPr/>
        </p:nvSpPr>
        <p:spPr>
          <a:xfrm>
            <a:off x="2423219" y="2938781"/>
            <a:ext cx="3338195" cy="182101"/>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100" i="0" u="none" strike="noStrike" kern="0" cap="none" spc="-10" normalizeH="0" baseline="0" noProof="0" dirty="0">
                <a:ln>
                  <a:noFill/>
                </a:ln>
                <a:solidFill>
                  <a:srgbClr val="281A42"/>
                </a:solidFill>
                <a:effectLst/>
                <a:uLnTx/>
                <a:uFillTx/>
                <a:latin typeface="Arial" pitchFamily="34" charset="0"/>
                <a:cs typeface="Arial"/>
              </a:rPr>
              <a:t>Ad-hoc culture, weak governance, fragmented focus</a:t>
            </a:r>
            <a:endParaRPr kumimoji="0" sz="1100" i="0" u="none" strike="noStrike" kern="0" cap="none" spc="-10" normalizeH="0" baseline="0" noProof="0">
              <a:ln>
                <a:noFill/>
              </a:ln>
              <a:solidFill>
                <a:sysClr val="windowText" lastClr="000000"/>
              </a:solidFill>
              <a:effectLst/>
              <a:uLnTx/>
              <a:uFillTx/>
              <a:latin typeface="Arial" pitchFamily="34" charset="0"/>
              <a:cs typeface="Arial"/>
            </a:endParaRPr>
          </a:p>
        </p:txBody>
      </p:sp>
      <p:sp>
        <p:nvSpPr>
          <p:cNvPr id="9" name="object 18">
            <a:extLst>
              <a:ext uri="{FF2B5EF4-FFF2-40B4-BE49-F238E27FC236}">
                <a16:creationId xmlns:a16="http://schemas.microsoft.com/office/drawing/2014/main" id="{431F88EA-5B99-56A9-E18F-314679D95CAD}"/>
              </a:ext>
            </a:extLst>
          </p:cNvPr>
          <p:cNvSpPr txBox="1"/>
          <p:nvPr/>
        </p:nvSpPr>
        <p:spPr>
          <a:xfrm>
            <a:off x="6301366" y="2854961"/>
            <a:ext cx="4330700" cy="360680"/>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sz="1100" i="0" u="none" strike="noStrike" kern="0" cap="none" spc="-10" normalizeH="0" baseline="0" noProof="0" dirty="0">
                <a:ln>
                  <a:noFill/>
                </a:ln>
                <a:solidFill>
                  <a:srgbClr val="281A42"/>
                </a:solidFill>
                <a:effectLst/>
                <a:uLnTx/>
                <a:uFillTx/>
                <a:latin typeface="Arial" pitchFamily="34" charset="0"/>
                <a:cs typeface="Arial"/>
              </a:rPr>
              <a:t>Values, outcome-driven, one-team culture with clear priorities, high accountability, and performance standards</a:t>
            </a:r>
            <a:endParaRPr kumimoji="0" sz="1100" i="0" u="none" strike="noStrike" kern="0" cap="none" spc="-10" normalizeH="0" baseline="0" noProof="0" dirty="0">
              <a:ln>
                <a:noFill/>
              </a:ln>
              <a:solidFill>
                <a:sysClr val="windowText" lastClr="000000"/>
              </a:solidFill>
              <a:effectLst/>
              <a:uLnTx/>
              <a:uFillTx/>
              <a:latin typeface="Arial" pitchFamily="34" charset="0"/>
              <a:cs typeface="Arial"/>
            </a:endParaRPr>
          </a:p>
        </p:txBody>
      </p:sp>
      <p:grpSp>
        <p:nvGrpSpPr>
          <p:cNvPr id="10" name="object 19">
            <a:extLst>
              <a:ext uri="{FF2B5EF4-FFF2-40B4-BE49-F238E27FC236}">
                <a16:creationId xmlns:a16="http://schemas.microsoft.com/office/drawing/2014/main" id="{787CCA8D-0947-582E-3680-E16C3143E026}"/>
              </a:ext>
            </a:extLst>
          </p:cNvPr>
          <p:cNvGrpSpPr/>
          <p:nvPr/>
        </p:nvGrpSpPr>
        <p:grpSpPr>
          <a:xfrm>
            <a:off x="638172" y="3905921"/>
            <a:ext cx="10915650" cy="1823085"/>
            <a:chOff x="638172" y="3905921"/>
            <a:chExt cx="10915650" cy="1823085"/>
          </a:xfrm>
        </p:grpSpPr>
        <p:sp>
          <p:nvSpPr>
            <p:cNvPr id="11" name="object 20">
              <a:extLst>
                <a:ext uri="{FF2B5EF4-FFF2-40B4-BE49-F238E27FC236}">
                  <a16:creationId xmlns:a16="http://schemas.microsoft.com/office/drawing/2014/main" id="{3188C76A-A029-AAB5-6719-E3CED2F104FE}"/>
                </a:ext>
              </a:extLst>
            </p:cNvPr>
            <p:cNvSpPr/>
            <p:nvPr/>
          </p:nvSpPr>
          <p:spPr>
            <a:xfrm>
              <a:off x="642934" y="3910684"/>
              <a:ext cx="10906125" cy="1813560"/>
            </a:xfrm>
            <a:custGeom>
              <a:avLst/>
              <a:gdLst/>
              <a:ahLst/>
              <a:cxnLst/>
              <a:rect l="l" t="t" r="r" b="b"/>
              <a:pathLst>
                <a:path w="10906125" h="1813560">
                  <a:moveTo>
                    <a:pt x="10829048" y="1813558"/>
                  </a:moveTo>
                  <a:lnTo>
                    <a:pt x="77076" y="1813558"/>
                  </a:lnTo>
                  <a:lnTo>
                    <a:pt x="47074" y="1807501"/>
                  </a:lnTo>
                  <a:lnTo>
                    <a:pt x="22575" y="1790983"/>
                  </a:lnTo>
                  <a:lnTo>
                    <a:pt x="6057" y="1766483"/>
                  </a:lnTo>
                  <a:lnTo>
                    <a:pt x="0" y="1736481"/>
                  </a:lnTo>
                  <a:lnTo>
                    <a:pt x="0" y="77075"/>
                  </a:lnTo>
                  <a:lnTo>
                    <a:pt x="6057" y="47074"/>
                  </a:lnTo>
                  <a:lnTo>
                    <a:pt x="22575" y="22575"/>
                  </a:lnTo>
                  <a:lnTo>
                    <a:pt x="47074" y="6057"/>
                  </a:lnTo>
                  <a:lnTo>
                    <a:pt x="77076" y="0"/>
                  </a:lnTo>
                  <a:lnTo>
                    <a:pt x="10829048" y="0"/>
                  </a:lnTo>
                  <a:lnTo>
                    <a:pt x="10871810" y="12949"/>
                  </a:lnTo>
                  <a:lnTo>
                    <a:pt x="10900258" y="47580"/>
                  </a:lnTo>
                  <a:lnTo>
                    <a:pt x="10906124" y="77075"/>
                  </a:lnTo>
                  <a:lnTo>
                    <a:pt x="10906124" y="1736481"/>
                  </a:lnTo>
                  <a:lnTo>
                    <a:pt x="10900067" y="1766483"/>
                  </a:lnTo>
                  <a:lnTo>
                    <a:pt x="10883549" y="1790983"/>
                  </a:lnTo>
                  <a:lnTo>
                    <a:pt x="10859050" y="1807501"/>
                  </a:lnTo>
                  <a:lnTo>
                    <a:pt x="10829048" y="1813558"/>
                  </a:lnTo>
                  <a:close/>
                </a:path>
              </a:pathLst>
            </a:custGeom>
            <a:solidFill>
              <a:srgbClr val="FFFFFF"/>
            </a:solidFill>
            <a:ln>
              <a:solidFill>
                <a:schemeClr val="accent1"/>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1D1D1D"/>
                </a:solidFill>
                <a:effectLst/>
                <a:uLnTx/>
                <a:uFillTx/>
              </a:endParaRPr>
            </a:p>
          </p:txBody>
        </p:sp>
        <p:sp>
          <p:nvSpPr>
            <p:cNvPr id="12" name="object 21">
              <a:extLst>
                <a:ext uri="{FF2B5EF4-FFF2-40B4-BE49-F238E27FC236}">
                  <a16:creationId xmlns:a16="http://schemas.microsoft.com/office/drawing/2014/main" id="{0B768511-5DD6-6FA4-8602-F90FFFBCA1D6}"/>
                </a:ext>
              </a:extLst>
            </p:cNvPr>
            <p:cNvSpPr/>
            <p:nvPr/>
          </p:nvSpPr>
          <p:spPr>
            <a:xfrm>
              <a:off x="642934" y="3910684"/>
              <a:ext cx="10906125" cy="1813560"/>
            </a:xfrm>
            <a:custGeom>
              <a:avLst/>
              <a:gdLst/>
              <a:ahLst/>
              <a:cxnLst/>
              <a:rect l="l" t="t" r="r" b="b"/>
              <a:pathLst>
                <a:path w="10906125" h="1813560">
                  <a:moveTo>
                    <a:pt x="0" y="77075"/>
                  </a:moveTo>
                  <a:lnTo>
                    <a:pt x="6057" y="47074"/>
                  </a:lnTo>
                  <a:lnTo>
                    <a:pt x="22575" y="22575"/>
                  </a:lnTo>
                  <a:lnTo>
                    <a:pt x="47074" y="6057"/>
                  </a:lnTo>
                  <a:lnTo>
                    <a:pt x="77076" y="0"/>
                  </a:lnTo>
                  <a:lnTo>
                    <a:pt x="10829048" y="0"/>
                  </a:lnTo>
                  <a:lnTo>
                    <a:pt x="10871810" y="12949"/>
                  </a:lnTo>
                  <a:lnTo>
                    <a:pt x="10900258" y="47580"/>
                  </a:lnTo>
                  <a:lnTo>
                    <a:pt x="10906124" y="77075"/>
                  </a:lnTo>
                  <a:lnTo>
                    <a:pt x="10906124" y="1736481"/>
                  </a:lnTo>
                  <a:lnTo>
                    <a:pt x="10900067" y="1766483"/>
                  </a:lnTo>
                  <a:lnTo>
                    <a:pt x="10883549" y="1790983"/>
                  </a:lnTo>
                  <a:lnTo>
                    <a:pt x="10859050" y="1807501"/>
                  </a:lnTo>
                  <a:lnTo>
                    <a:pt x="10829048" y="1813558"/>
                  </a:lnTo>
                  <a:lnTo>
                    <a:pt x="77076" y="1813558"/>
                  </a:lnTo>
                  <a:lnTo>
                    <a:pt x="47074" y="1807501"/>
                  </a:lnTo>
                  <a:lnTo>
                    <a:pt x="22575" y="1790983"/>
                  </a:lnTo>
                  <a:lnTo>
                    <a:pt x="6057" y="1766483"/>
                  </a:lnTo>
                  <a:lnTo>
                    <a:pt x="0" y="1736481"/>
                  </a:lnTo>
                  <a:lnTo>
                    <a:pt x="0" y="77075"/>
                  </a:lnTo>
                  <a:close/>
                </a:path>
              </a:pathLst>
            </a:custGeom>
            <a:ln w="9524">
              <a:solidFill>
                <a:schemeClr val="accent1"/>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3" name="object 23">
            <a:extLst>
              <a:ext uri="{FF2B5EF4-FFF2-40B4-BE49-F238E27FC236}">
                <a16:creationId xmlns:a16="http://schemas.microsoft.com/office/drawing/2014/main" id="{8C95F0D0-BB63-CE4E-9B38-A421C869264D}"/>
              </a:ext>
            </a:extLst>
          </p:cNvPr>
          <p:cNvSpPr/>
          <p:nvPr/>
        </p:nvSpPr>
        <p:spPr>
          <a:xfrm>
            <a:off x="642935" y="1645453"/>
            <a:ext cx="10906125" cy="1684655"/>
          </a:xfrm>
          <a:custGeom>
            <a:avLst/>
            <a:gdLst/>
            <a:ahLst/>
            <a:cxnLst/>
            <a:rect l="l" t="t" r="r" b="b"/>
            <a:pathLst>
              <a:path w="10906125" h="1684654">
                <a:moveTo>
                  <a:pt x="0" y="0"/>
                </a:moveTo>
                <a:lnTo>
                  <a:pt x="10906125" y="0"/>
                </a:lnTo>
              </a:path>
              <a:path w="10906125" h="1684654">
                <a:moveTo>
                  <a:pt x="0" y="551941"/>
                </a:moveTo>
                <a:lnTo>
                  <a:pt x="10906125" y="551941"/>
                </a:lnTo>
              </a:path>
              <a:path w="10906125" h="1684654">
                <a:moveTo>
                  <a:pt x="0" y="1142591"/>
                </a:moveTo>
                <a:lnTo>
                  <a:pt x="10906123" y="1142591"/>
                </a:lnTo>
              </a:path>
              <a:path w="10906125" h="1684654">
                <a:moveTo>
                  <a:pt x="0" y="1684401"/>
                </a:moveTo>
                <a:lnTo>
                  <a:pt x="10906123" y="1684401"/>
                </a:lnTo>
              </a:path>
            </a:pathLst>
          </a:custGeom>
          <a:ln w="9524">
            <a:solidFill>
              <a:schemeClr val="accent1"/>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 name="object 25">
            <a:extLst>
              <a:ext uri="{FF2B5EF4-FFF2-40B4-BE49-F238E27FC236}">
                <a16:creationId xmlns:a16="http://schemas.microsoft.com/office/drawing/2014/main" id="{89883475-F3FB-479E-3C12-46968AFD3C32}"/>
              </a:ext>
            </a:extLst>
          </p:cNvPr>
          <p:cNvSpPr txBox="1"/>
          <p:nvPr/>
        </p:nvSpPr>
        <p:spPr>
          <a:xfrm>
            <a:off x="1981768" y="4371463"/>
            <a:ext cx="1160145" cy="635000"/>
          </a:xfrm>
          <a:prstGeom prst="rect">
            <a:avLst/>
          </a:prstGeom>
        </p:spPr>
        <p:txBody>
          <a:bodyPr vert="horz" wrap="square" lIns="0" tIns="12700" rIns="0" bIns="0" rtlCol="0">
            <a:spAutoFit/>
          </a:bodyPr>
          <a:lstStyle/>
          <a:p>
            <a:pPr marL="0" marR="0" lvl="0" indent="0" algn="ctr" defTabSz="914400" eaLnBrk="1" fontAlgn="auto" latinLnBrk="0" hangingPunct="1">
              <a:lnSpc>
                <a:spcPct val="100000"/>
              </a:lnSpc>
              <a:spcBef>
                <a:spcPts val="100"/>
              </a:spcBef>
              <a:spcAft>
                <a:spcPts val="0"/>
              </a:spcAft>
              <a:buClrTx/>
              <a:buSzTx/>
              <a:buFontTx/>
              <a:buNone/>
              <a:tabLst/>
              <a:defRPr/>
            </a:pPr>
            <a:r>
              <a:rPr kumimoji="0" sz="2000" b="1" i="0" u="none" strike="noStrike" kern="0" cap="none" spc="-10" normalizeH="0" baseline="0" noProof="0" dirty="0">
                <a:ln>
                  <a:noFill/>
                </a:ln>
                <a:solidFill>
                  <a:srgbClr val="281A42"/>
                </a:solidFill>
                <a:effectLst/>
                <a:uLnTx/>
                <a:uFillTx/>
                <a:latin typeface="Segoe UI" pitchFamily="34" charset="0"/>
                <a:cs typeface="Helvetica Neue"/>
              </a:rPr>
              <a:t>2025</a:t>
            </a:r>
            <a:endParaRPr kumimoji="0" sz="2000" b="0" i="0" u="none" strike="noStrike" kern="0" cap="none" spc="-10" normalizeH="0" baseline="0" noProof="0" dirty="0">
              <a:ln>
                <a:noFill/>
              </a:ln>
              <a:solidFill>
                <a:sysClr val="windowText" lastClr="000000"/>
              </a:solidFill>
              <a:effectLst/>
              <a:uLnTx/>
              <a:uFillTx/>
              <a:latin typeface="Arial" pitchFamily="34" charset="0"/>
              <a:cs typeface="Helvetica Neue"/>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sz="2000" b="1" i="0" u="none" strike="noStrike" kern="0" cap="none" spc="-10" normalizeH="0" baseline="0" noProof="0" dirty="0">
                <a:ln>
                  <a:noFill/>
                </a:ln>
                <a:solidFill>
                  <a:srgbClr val="281A42"/>
                </a:solidFill>
                <a:effectLst/>
                <a:uLnTx/>
                <a:uFillTx/>
                <a:latin typeface="Segoe UI" pitchFamily="34" charset="0"/>
                <a:cs typeface="Helvetica Neue"/>
              </a:rPr>
              <a:t>RESULTS</a:t>
            </a:r>
            <a:endParaRPr kumimoji="0" sz="2000" b="0" i="0" u="none" strike="noStrike" kern="0" cap="none" spc="-10" normalizeH="0" baseline="0" noProof="0" dirty="0">
              <a:ln>
                <a:noFill/>
              </a:ln>
              <a:solidFill>
                <a:sysClr val="windowText" lastClr="000000"/>
              </a:solidFill>
              <a:effectLst/>
              <a:uLnTx/>
              <a:uFillTx/>
              <a:latin typeface="Arial" pitchFamily="34" charset="0"/>
              <a:cs typeface="Helvetica Neue"/>
            </a:endParaRPr>
          </a:p>
        </p:txBody>
      </p:sp>
      <p:sp>
        <p:nvSpPr>
          <p:cNvPr id="15" name="object 26">
            <a:extLst>
              <a:ext uri="{FF2B5EF4-FFF2-40B4-BE49-F238E27FC236}">
                <a16:creationId xmlns:a16="http://schemas.microsoft.com/office/drawing/2014/main" id="{CB66469B-9437-1020-7E9F-79F4C5CCD5CC}"/>
              </a:ext>
            </a:extLst>
          </p:cNvPr>
          <p:cNvSpPr txBox="1"/>
          <p:nvPr/>
        </p:nvSpPr>
        <p:spPr>
          <a:xfrm>
            <a:off x="4144528" y="4102370"/>
            <a:ext cx="1239520" cy="502920"/>
          </a:xfrm>
          <a:prstGeom prst="rect">
            <a:avLst/>
          </a:prstGeom>
        </p:spPr>
        <p:txBody>
          <a:bodyPr vert="horz" wrap="square" lIns="0" tIns="12700" rIns="0" bIns="0" rtlCol="0">
            <a:spAutoFit/>
          </a:bodyPr>
          <a:lstStyle/>
          <a:p>
            <a:pPr marL="0" marR="0" lvl="0" indent="0" algn="ctr" defTabSz="914400" eaLnBrk="1" fontAlgn="auto" latinLnBrk="0" hangingPunct="1">
              <a:lnSpc>
                <a:spcPct val="100000"/>
              </a:lnSpc>
              <a:spcBef>
                <a:spcPts val="100"/>
              </a:spcBef>
              <a:spcAft>
                <a:spcPts val="0"/>
              </a:spcAft>
              <a:buClrTx/>
              <a:buSzTx/>
              <a:buFontTx/>
              <a:buNone/>
              <a:tabLst/>
              <a:defRPr/>
            </a:pPr>
            <a:r>
              <a:rPr kumimoji="0" sz="2000" b="0" i="0" u="none" strike="noStrike" kern="0" cap="none" spc="-10" normalizeH="0" baseline="0" noProof="0" dirty="0">
                <a:ln>
                  <a:noFill/>
                </a:ln>
                <a:solidFill>
                  <a:srgbClr val="281A42"/>
                </a:solidFill>
                <a:effectLst/>
                <a:uLnTx/>
                <a:uFillTx/>
                <a:latin typeface="Arial" pitchFamily="34" charset="0"/>
                <a:cs typeface="Helvetica Neue"/>
              </a:rPr>
              <a:t>AED </a:t>
            </a:r>
            <a:r>
              <a:rPr kumimoji="0" lang="en-US" sz="2000" b="0" i="0" u="none" strike="noStrike" kern="0" cap="none" spc="-10" normalizeH="0" baseline="0" noProof="0" dirty="0">
                <a:ln>
                  <a:noFill/>
                </a:ln>
                <a:solidFill>
                  <a:srgbClr val="281A42"/>
                </a:solidFill>
                <a:effectLst/>
                <a:uLnTx/>
                <a:uFillTx/>
                <a:latin typeface="Arial" pitchFamily="34" charset="0"/>
                <a:cs typeface="Helvetica Neue"/>
              </a:rPr>
              <a:t>5Bn</a:t>
            </a:r>
            <a:endParaRPr kumimoji="0" sz="2000" b="0" i="0" u="none" strike="noStrike" kern="0" cap="none" spc="-10" normalizeH="0" baseline="0" noProof="0" dirty="0">
              <a:ln>
                <a:noFill/>
              </a:ln>
              <a:solidFill>
                <a:sysClr val="windowText" lastClr="000000"/>
              </a:solidFill>
              <a:effectLst/>
              <a:uLnTx/>
              <a:uFillTx/>
              <a:latin typeface="Arial" pitchFamily="34" charset="0"/>
              <a:cs typeface="Helvetica Neue"/>
            </a:endParaRPr>
          </a:p>
          <a:p>
            <a:pPr marL="0" marR="0" lvl="0" indent="0" algn="ctr" defTabSz="914400" eaLnBrk="1" fontAlgn="auto" latinLnBrk="0" hangingPunct="1">
              <a:lnSpc>
                <a:spcPct val="100000"/>
              </a:lnSpc>
              <a:spcBef>
                <a:spcPts val="35"/>
              </a:spcBef>
              <a:spcAft>
                <a:spcPts val="0"/>
              </a:spcAft>
              <a:buClrTx/>
              <a:buSzTx/>
              <a:buFontTx/>
              <a:buNone/>
              <a:tabLst/>
              <a:defRPr/>
            </a:pPr>
            <a:r>
              <a:rPr kumimoji="0" sz="1100" b="0" i="0" u="none" strike="noStrike" kern="0" cap="none" spc="-10" normalizeH="0" baseline="0" noProof="0" dirty="0">
                <a:ln>
                  <a:noFill/>
                </a:ln>
                <a:solidFill>
                  <a:srgbClr val="281A42"/>
                </a:solidFill>
                <a:effectLst/>
                <a:uLnTx/>
                <a:uFillTx/>
                <a:latin typeface="Arial" pitchFamily="34" charset="0"/>
                <a:cs typeface="Helvetica Neue"/>
              </a:rPr>
              <a:t>Revenue</a:t>
            </a:r>
            <a:endParaRPr kumimoji="0" sz="1100" b="0" i="0" u="none" strike="noStrike" kern="0" cap="none" spc="-10" normalizeH="0" baseline="0" noProof="0" dirty="0">
              <a:ln>
                <a:noFill/>
              </a:ln>
              <a:solidFill>
                <a:sysClr val="windowText" lastClr="000000"/>
              </a:solidFill>
              <a:effectLst/>
              <a:uLnTx/>
              <a:uFillTx/>
              <a:latin typeface="Arial" pitchFamily="34" charset="0"/>
              <a:cs typeface="Helvetica Neue"/>
            </a:endParaRPr>
          </a:p>
        </p:txBody>
      </p:sp>
      <p:sp>
        <p:nvSpPr>
          <p:cNvPr id="16" name="object 27">
            <a:extLst>
              <a:ext uri="{FF2B5EF4-FFF2-40B4-BE49-F238E27FC236}">
                <a16:creationId xmlns:a16="http://schemas.microsoft.com/office/drawing/2014/main" id="{B599A3D8-2017-A94D-2F11-755115C86C5F}"/>
              </a:ext>
            </a:extLst>
          </p:cNvPr>
          <p:cNvSpPr txBox="1"/>
          <p:nvPr/>
        </p:nvSpPr>
        <p:spPr>
          <a:xfrm>
            <a:off x="6604054" y="4102370"/>
            <a:ext cx="1451610" cy="502920"/>
          </a:xfrm>
          <a:prstGeom prst="rect">
            <a:avLst/>
          </a:prstGeom>
        </p:spPr>
        <p:txBody>
          <a:bodyPr vert="horz" wrap="square" lIns="0" tIns="12700" rIns="0" bIns="0" rtlCol="0">
            <a:spAutoFit/>
          </a:bodyPr>
          <a:lstStyle/>
          <a:p>
            <a:pPr marL="0" marR="0" lvl="0" indent="0" algn="ctr" defTabSz="914400" eaLnBrk="1" fontAlgn="auto" latinLnBrk="0" hangingPunct="1">
              <a:lnSpc>
                <a:spcPct val="100000"/>
              </a:lnSpc>
              <a:spcBef>
                <a:spcPts val="100"/>
              </a:spcBef>
              <a:spcAft>
                <a:spcPts val="0"/>
              </a:spcAft>
              <a:buClrTx/>
              <a:buSzTx/>
              <a:buFontTx/>
              <a:buNone/>
              <a:tabLst/>
              <a:defRPr/>
            </a:pPr>
            <a:r>
              <a:rPr kumimoji="0" sz="2000" b="0" i="0" u="none" strike="noStrike" kern="0" cap="none" spc="-10" normalizeH="0" baseline="0" noProof="0" dirty="0">
                <a:ln>
                  <a:noFill/>
                </a:ln>
                <a:solidFill>
                  <a:srgbClr val="281A42"/>
                </a:solidFill>
                <a:effectLst/>
                <a:uLnTx/>
                <a:uFillTx/>
                <a:latin typeface="Arial" pitchFamily="34" charset="0"/>
                <a:cs typeface="Helvetica Neue"/>
              </a:rPr>
              <a:t>AED </a:t>
            </a:r>
            <a:r>
              <a:rPr kumimoji="0" lang="en-US" sz="2000" b="0" i="0" u="none" strike="noStrike" kern="0" cap="none" spc="-10" normalizeH="0" baseline="0" noProof="0" dirty="0">
                <a:ln>
                  <a:noFill/>
                </a:ln>
                <a:solidFill>
                  <a:srgbClr val="281A42"/>
                </a:solidFill>
                <a:effectLst/>
                <a:uLnTx/>
                <a:uFillTx/>
                <a:latin typeface="Arial" pitchFamily="34" charset="0"/>
                <a:cs typeface="Helvetica Neue"/>
              </a:rPr>
              <a:t>10Bn</a:t>
            </a:r>
            <a:endParaRPr kumimoji="0" sz="2000" b="0" i="0" u="none" strike="noStrike" kern="0" cap="none" spc="-10" normalizeH="0" baseline="0" noProof="0" dirty="0">
              <a:ln>
                <a:noFill/>
              </a:ln>
              <a:solidFill>
                <a:sysClr val="windowText" lastClr="000000"/>
              </a:solidFill>
              <a:effectLst/>
              <a:uLnTx/>
              <a:uFillTx/>
              <a:latin typeface="Arial" pitchFamily="34" charset="0"/>
              <a:cs typeface="Helvetica Neue"/>
            </a:endParaRPr>
          </a:p>
          <a:p>
            <a:pPr marL="0" marR="0" lvl="0" indent="0" algn="ctr" defTabSz="914400" eaLnBrk="1" fontAlgn="auto" latinLnBrk="0" hangingPunct="1">
              <a:lnSpc>
                <a:spcPct val="100000"/>
              </a:lnSpc>
              <a:spcBef>
                <a:spcPts val="35"/>
              </a:spcBef>
              <a:spcAft>
                <a:spcPts val="0"/>
              </a:spcAft>
              <a:buClrTx/>
              <a:buSzTx/>
              <a:buFontTx/>
              <a:buNone/>
              <a:tabLst/>
              <a:defRPr/>
            </a:pPr>
            <a:r>
              <a:rPr kumimoji="0" sz="1100" b="0" i="0" u="none" strike="noStrike" kern="0" cap="none" spc="-10" normalizeH="0" baseline="0" noProof="0" dirty="0">
                <a:ln>
                  <a:noFill/>
                </a:ln>
                <a:solidFill>
                  <a:srgbClr val="281A42"/>
                </a:solidFill>
                <a:effectLst/>
                <a:uLnTx/>
                <a:uFillTx/>
                <a:latin typeface="Arial" pitchFamily="34" charset="0"/>
                <a:cs typeface="Helvetica Neue"/>
              </a:rPr>
              <a:t>Revenue</a:t>
            </a:r>
            <a:endParaRPr kumimoji="0" sz="1100" b="0" i="0" u="none" strike="noStrike" kern="0" cap="none" spc="-10" normalizeH="0" baseline="0" noProof="0" dirty="0">
              <a:ln>
                <a:noFill/>
              </a:ln>
              <a:solidFill>
                <a:sysClr val="windowText" lastClr="000000"/>
              </a:solidFill>
              <a:effectLst/>
              <a:uLnTx/>
              <a:uFillTx/>
              <a:latin typeface="Arial" pitchFamily="34" charset="0"/>
              <a:cs typeface="Helvetica Neue"/>
            </a:endParaRPr>
          </a:p>
        </p:txBody>
      </p:sp>
      <p:sp>
        <p:nvSpPr>
          <p:cNvPr id="17" name="object 28">
            <a:extLst>
              <a:ext uri="{FF2B5EF4-FFF2-40B4-BE49-F238E27FC236}">
                <a16:creationId xmlns:a16="http://schemas.microsoft.com/office/drawing/2014/main" id="{06261029-E433-0AF8-F9B9-A11E256EA037}"/>
              </a:ext>
            </a:extLst>
          </p:cNvPr>
          <p:cNvSpPr txBox="1"/>
          <p:nvPr/>
        </p:nvSpPr>
        <p:spPr>
          <a:xfrm>
            <a:off x="4156435" y="4775470"/>
            <a:ext cx="1239520" cy="502920"/>
          </a:xfrm>
          <a:prstGeom prst="rect">
            <a:avLst/>
          </a:prstGeom>
        </p:spPr>
        <p:txBody>
          <a:bodyPr vert="horz" wrap="square" lIns="0" tIns="12700" rIns="0" bIns="0" rtlCol="0">
            <a:spAutoFit/>
          </a:bodyPr>
          <a:lstStyle/>
          <a:p>
            <a:pPr marL="0" marR="0" lvl="0" indent="0" algn="ctr" defTabSz="914400" eaLnBrk="1" fontAlgn="auto" latinLnBrk="0" hangingPunct="1">
              <a:lnSpc>
                <a:spcPct val="100000"/>
              </a:lnSpc>
              <a:spcBef>
                <a:spcPts val="100"/>
              </a:spcBef>
              <a:spcAft>
                <a:spcPts val="0"/>
              </a:spcAft>
              <a:buClrTx/>
              <a:buSzTx/>
              <a:buFontTx/>
              <a:buNone/>
              <a:tabLst/>
              <a:defRPr/>
            </a:pPr>
            <a:r>
              <a:rPr kumimoji="0" sz="2000" b="0" i="0" u="none" strike="noStrike" kern="0" cap="none" spc="-10" normalizeH="0" baseline="0" noProof="0" dirty="0">
                <a:ln>
                  <a:noFill/>
                </a:ln>
                <a:solidFill>
                  <a:srgbClr val="281A42"/>
                </a:solidFill>
                <a:effectLst/>
                <a:uLnTx/>
                <a:uFillTx/>
                <a:latin typeface="Arial" pitchFamily="34" charset="0"/>
                <a:cs typeface="Helvetica Neue"/>
              </a:rPr>
              <a:t>AED </a:t>
            </a:r>
            <a:r>
              <a:rPr lang="en-US" sz="2000" kern="0" spc="-10" dirty="0">
                <a:solidFill>
                  <a:srgbClr val="281A42"/>
                </a:solidFill>
                <a:latin typeface="Arial" pitchFamily="34" charset="0"/>
                <a:cs typeface="Helvetica Neue"/>
              </a:rPr>
              <a:t>0.5</a:t>
            </a:r>
            <a:r>
              <a:rPr kumimoji="0" lang="en-US" sz="2000" b="0" i="0" u="none" strike="noStrike" kern="0" cap="none" spc="-10" normalizeH="0" baseline="0" noProof="0" dirty="0">
                <a:ln>
                  <a:noFill/>
                </a:ln>
                <a:solidFill>
                  <a:srgbClr val="281A42"/>
                </a:solidFill>
                <a:effectLst/>
                <a:uLnTx/>
                <a:uFillTx/>
                <a:latin typeface="Arial" pitchFamily="34" charset="0"/>
                <a:cs typeface="Helvetica Neue"/>
              </a:rPr>
              <a:t>Bn</a:t>
            </a:r>
            <a:endParaRPr kumimoji="0" sz="2000" b="0" i="0" u="none" strike="noStrike" kern="0" cap="none" spc="-10" normalizeH="0" baseline="0" noProof="0" dirty="0">
              <a:ln>
                <a:noFill/>
              </a:ln>
              <a:solidFill>
                <a:sysClr val="windowText" lastClr="000000"/>
              </a:solidFill>
              <a:effectLst/>
              <a:uLnTx/>
              <a:uFillTx/>
              <a:latin typeface="Arial" pitchFamily="34" charset="0"/>
              <a:cs typeface="Helvetica Neue"/>
            </a:endParaRPr>
          </a:p>
          <a:p>
            <a:pPr marL="0" marR="0" lvl="0" indent="0" algn="ctr" defTabSz="914400" eaLnBrk="1" fontAlgn="auto" latinLnBrk="0" hangingPunct="1">
              <a:lnSpc>
                <a:spcPct val="100000"/>
              </a:lnSpc>
              <a:spcBef>
                <a:spcPts val="35"/>
              </a:spcBef>
              <a:spcAft>
                <a:spcPts val="0"/>
              </a:spcAft>
              <a:buClrTx/>
              <a:buSzTx/>
              <a:buFontTx/>
              <a:buNone/>
              <a:tabLst/>
              <a:defRPr/>
            </a:pPr>
            <a:r>
              <a:rPr kumimoji="0" sz="1100" b="0" i="0" u="none" strike="noStrike" kern="0" cap="none" spc="-10" normalizeH="0" baseline="0" noProof="0" dirty="0">
                <a:ln>
                  <a:noFill/>
                </a:ln>
                <a:solidFill>
                  <a:srgbClr val="281A42"/>
                </a:solidFill>
                <a:effectLst/>
                <a:uLnTx/>
                <a:uFillTx/>
                <a:latin typeface="Arial" pitchFamily="34" charset="0"/>
                <a:cs typeface="Helvetica Neue"/>
              </a:rPr>
              <a:t>EBITDA</a:t>
            </a:r>
            <a:endParaRPr kumimoji="0" sz="1100" b="0" i="0" u="none" strike="noStrike" kern="0" cap="none" spc="-10" normalizeH="0" baseline="0" noProof="0" dirty="0">
              <a:ln>
                <a:noFill/>
              </a:ln>
              <a:solidFill>
                <a:sysClr val="windowText" lastClr="000000"/>
              </a:solidFill>
              <a:effectLst/>
              <a:uLnTx/>
              <a:uFillTx/>
              <a:latin typeface="Arial" pitchFamily="34" charset="0"/>
              <a:cs typeface="Helvetica Neue"/>
            </a:endParaRPr>
          </a:p>
        </p:txBody>
      </p:sp>
      <p:sp>
        <p:nvSpPr>
          <p:cNvPr id="18" name="object 29">
            <a:extLst>
              <a:ext uri="{FF2B5EF4-FFF2-40B4-BE49-F238E27FC236}">
                <a16:creationId xmlns:a16="http://schemas.microsoft.com/office/drawing/2014/main" id="{711A7414-FBFE-CE15-B75E-000F9E94D072}"/>
              </a:ext>
            </a:extLst>
          </p:cNvPr>
          <p:cNvSpPr txBox="1"/>
          <p:nvPr/>
        </p:nvSpPr>
        <p:spPr>
          <a:xfrm>
            <a:off x="6709929" y="4764359"/>
            <a:ext cx="1239520" cy="502920"/>
          </a:xfrm>
          <a:prstGeom prst="rect">
            <a:avLst/>
          </a:prstGeom>
        </p:spPr>
        <p:txBody>
          <a:bodyPr vert="horz" wrap="square" lIns="0" tIns="12700" rIns="0" bIns="0" rtlCol="0">
            <a:spAutoFit/>
          </a:bodyPr>
          <a:lstStyle/>
          <a:p>
            <a:pPr marL="0" marR="0" lvl="0" indent="0" algn="ctr" defTabSz="914400" eaLnBrk="1" fontAlgn="auto" latinLnBrk="0" hangingPunct="1">
              <a:lnSpc>
                <a:spcPct val="100000"/>
              </a:lnSpc>
              <a:spcBef>
                <a:spcPts val="100"/>
              </a:spcBef>
              <a:spcAft>
                <a:spcPts val="0"/>
              </a:spcAft>
              <a:buClrTx/>
              <a:buSzTx/>
              <a:buFontTx/>
              <a:buNone/>
              <a:tabLst/>
              <a:defRPr/>
            </a:pPr>
            <a:r>
              <a:rPr kumimoji="0" sz="2000" b="0" i="0" u="none" strike="noStrike" kern="0" cap="none" spc="-10" normalizeH="0" baseline="0" noProof="0" dirty="0">
                <a:ln>
                  <a:noFill/>
                </a:ln>
                <a:solidFill>
                  <a:srgbClr val="281A42"/>
                </a:solidFill>
                <a:effectLst/>
                <a:uLnTx/>
                <a:uFillTx/>
                <a:latin typeface="Arial" pitchFamily="34" charset="0"/>
                <a:cs typeface="Helvetica Neue"/>
              </a:rPr>
              <a:t>AED </a:t>
            </a:r>
            <a:r>
              <a:rPr kumimoji="0" lang="en-US" sz="2000" b="0" i="0" u="none" strike="noStrike" kern="0" cap="none" spc="-10" normalizeH="0" baseline="0" noProof="0" dirty="0">
                <a:ln>
                  <a:noFill/>
                </a:ln>
                <a:solidFill>
                  <a:srgbClr val="281A42"/>
                </a:solidFill>
                <a:effectLst/>
                <a:uLnTx/>
                <a:uFillTx/>
                <a:latin typeface="Arial" pitchFamily="34" charset="0"/>
                <a:cs typeface="Helvetica Neue"/>
              </a:rPr>
              <a:t>2Bn</a:t>
            </a:r>
            <a:endParaRPr kumimoji="0" sz="2000" b="0" i="0" u="none" strike="noStrike" kern="0" cap="none" spc="-10" normalizeH="0" baseline="0" noProof="0" dirty="0">
              <a:ln>
                <a:noFill/>
              </a:ln>
              <a:solidFill>
                <a:sysClr val="windowText" lastClr="000000"/>
              </a:solidFill>
              <a:effectLst/>
              <a:uLnTx/>
              <a:uFillTx/>
              <a:latin typeface="Arial" pitchFamily="34" charset="0"/>
              <a:cs typeface="Helvetica Neue"/>
            </a:endParaRPr>
          </a:p>
          <a:p>
            <a:pPr marL="0" marR="0" lvl="0" indent="0" algn="ctr" defTabSz="914400" eaLnBrk="1" fontAlgn="auto" latinLnBrk="0" hangingPunct="1">
              <a:lnSpc>
                <a:spcPct val="100000"/>
              </a:lnSpc>
              <a:spcBef>
                <a:spcPts val="35"/>
              </a:spcBef>
              <a:spcAft>
                <a:spcPts val="0"/>
              </a:spcAft>
              <a:buClrTx/>
              <a:buSzTx/>
              <a:buFontTx/>
              <a:buNone/>
              <a:tabLst/>
              <a:defRPr/>
            </a:pPr>
            <a:r>
              <a:rPr kumimoji="0" sz="1100" b="0" i="0" u="none" strike="noStrike" kern="0" cap="none" spc="-10" normalizeH="0" baseline="0" noProof="0" dirty="0">
                <a:ln>
                  <a:noFill/>
                </a:ln>
                <a:solidFill>
                  <a:srgbClr val="281A42"/>
                </a:solidFill>
                <a:effectLst/>
                <a:uLnTx/>
                <a:uFillTx/>
                <a:latin typeface="Arial" pitchFamily="34" charset="0"/>
                <a:cs typeface="Helvetica Neue"/>
              </a:rPr>
              <a:t>EBITDA</a:t>
            </a:r>
            <a:endParaRPr kumimoji="0" sz="1100" b="0" i="0" u="none" strike="noStrike" kern="0" cap="none" spc="-10" normalizeH="0" baseline="0" noProof="0" dirty="0">
              <a:ln>
                <a:noFill/>
              </a:ln>
              <a:solidFill>
                <a:sysClr val="windowText" lastClr="000000"/>
              </a:solidFill>
              <a:effectLst/>
              <a:uLnTx/>
              <a:uFillTx/>
              <a:latin typeface="Arial" pitchFamily="34" charset="0"/>
              <a:cs typeface="Helvetica Neue"/>
            </a:endParaRPr>
          </a:p>
        </p:txBody>
      </p:sp>
      <p:grpSp>
        <p:nvGrpSpPr>
          <p:cNvPr id="19" name="object 30">
            <a:extLst>
              <a:ext uri="{FF2B5EF4-FFF2-40B4-BE49-F238E27FC236}">
                <a16:creationId xmlns:a16="http://schemas.microsoft.com/office/drawing/2014/main" id="{43BEB238-7E81-8C09-B9EC-0EA3845BC2BB}"/>
              </a:ext>
            </a:extLst>
          </p:cNvPr>
          <p:cNvGrpSpPr/>
          <p:nvPr/>
        </p:nvGrpSpPr>
        <p:grpSpPr>
          <a:xfrm>
            <a:off x="3413123" y="4695286"/>
            <a:ext cx="7972315" cy="875263"/>
            <a:chOff x="3413123" y="4695286"/>
            <a:chExt cx="7972315" cy="875263"/>
          </a:xfrm>
        </p:grpSpPr>
        <p:sp>
          <p:nvSpPr>
            <p:cNvPr id="20" name="object 31">
              <a:extLst>
                <a:ext uri="{FF2B5EF4-FFF2-40B4-BE49-F238E27FC236}">
                  <a16:creationId xmlns:a16="http://schemas.microsoft.com/office/drawing/2014/main" id="{9A8F94BE-78CD-FC18-1C33-E02FB799A2F9}"/>
                </a:ext>
              </a:extLst>
            </p:cNvPr>
            <p:cNvSpPr/>
            <p:nvPr/>
          </p:nvSpPr>
          <p:spPr>
            <a:xfrm>
              <a:off x="3413123" y="4711019"/>
              <a:ext cx="5356225" cy="0"/>
            </a:xfrm>
            <a:custGeom>
              <a:avLst/>
              <a:gdLst/>
              <a:ahLst/>
              <a:cxnLst/>
              <a:rect l="l" t="t" r="r" b="b"/>
              <a:pathLst>
                <a:path w="5356225">
                  <a:moveTo>
                    <a:pt x="0" y="0"/>
                  </a:moveTo>
                  <a:lnTo>
                    <a:pt x="5356225" y="0"/>
                  </a:lnTo>
                </a:path>
              </a:pathLst>
            </a:custGeom>
            <a:ln w="9524">
              <a:solidFill>
                <a:schemeClr val="accent1"/>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 name="object 32">
              <a:extLst>
                <a:ext uri="{FF2B5EF4-FFF2-40B4-BE49-F238E27FC236}">
                  <a16:creationId xmlns:a16="http://schemas.microsoft.com/office/drawing/2014/main" id="{6332DB11-1FF4-DA6C-C68B-645B1817EC6A}"/>
                </a:ext>
              </a:extLst>
            </p:cNvPr>
            <p:cNvSpPr/>
            <p:nvPr/>
          </p:nvSpPr>
          <p:spPr>
            <a:xfrm>
              <a:off x="8769349" y="4695286"/>
              <a:ext cx="43815" cy="31750"/>
            </a:xfrm>
            <a:custGeom>
              <a:avLst/>
              <a:gdLst/>
              <a:ahLst/>
              <a:cxnLst/>
              <a:rect l="l" t="t" r="r" b="b"/>
              <a:pathLst>
                <a:path w="43815" h="31750">
                  <a:moveTo>
                    <a:pt x="0" y="31465"/>
                  </a:moveTo>
                  <a:lnTo>
                    <a:pt x="0" y="0"/>
                  </a:lnTo>
                  <a:lnTo>
                    <a:pt x="43224" y="15732"/>
                  </a:lnTo>
                  <a:lnTo>
                    <a:pt x="0" y="31465"/>
                  </a:lnTo>
                  <a:close/>
                </a:path>
              </a:pathLst>
            </a:custGeom>
            <a:solidFill>
              <a:srgbClr val="281A4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sz="1800" b="0" i="0" u="none" strike="noStrike" kern="0" cap="none" spc="0" normalizeH="0" baseline="0" noProof="0">
                <a:ln>
                  <a:noFill/>
                </a:ln>
                <a:solidFill>
                  <a:sysClr val="windowText" lastClr="000000"/>
                </a:solidFill>
                <a:effectLst/>
                <a:uLnTx/>
                <a:uFillTx/>
              </a:endParaRPr>
            </a:p>
          </p:txBody>
        </p:sp>
        <p:sp>
          <p:nvSpPr>
            <p:cNvPr id="22" name="object 33">
              <a:extLst>
                <a:ext uri="{FF2B5EF4-FFF2-40B4-BE49-F238E27FC236}">
                  <a16:creationId xmlns:a16="http://schemas.microsoft.com/office/drawing/2014/main" id="{39097ECD-C4FB-ED69-D0E5-43784896E52A}"/>
                </a:ext>
              </a:extLst>
            </p:cNvPr>
            <p:cNvSpPr/>
            <p:nvPr/>
          </p:nvSpPr>
          <p:spPr>
            <a:xfrm>
              <a:off x="8769349" y="4695286"/>
              <a:ext cx="43815" cy="31750"/>
            </a:xfrm>
            <a:custGeom>
              <a:avLst/>
              <a:gdLst/>
              <a:ahLst/>
              <a:cxnLst/>
              <a:rect l="l" t="t" r="r" b="b"/>
              <a:pathLst>
                <a:path w="43815" h="31750">
                  <a:moveTo>
                    <a:pt x="0" y="31465"/>
                  </a:moveTo>
                  <a:lnTo>
                    <a:pt x="43224" y="15732"/>
                  </a:lnTo>
                  <a:lnTo>
                    <a:pt x="0" y="0"/>
                  </a:lnTo>
                  <a:lnTo>
                    <a:pt x="0" y="31465"/>
                  </a:lnTo>
                  <a:close/>
                </a:path>
              </a:pathLst>
            </a:custGeom>
            <a:noFill/>
            <a:ln w="9524">
              <a:solidFill>
                <a:schemeClr val="accent1"/>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sp>
          <p:nvSpPr>
            <p:cNvPr id="23" name="object 34">
              <a:extLst>
                <a:ext uri="{FF2B5EF4-FFF2-40B4-BE49-F238E27FC236}">
                  <a16:creationId xmlns:a16="http://schemas.microsoft.com/office/drawing/2014/main" id="{2EA161F4-7D3D-0B00-00BF-DD60091E8D83}"/>
                </a:ext>
              </a:extLst>
            </p:cNvPr>
            <p:cNvSpPr/>
            <p:nvPr/>
          </p:nvSpPr>
          <p:spPr>
            <a:xfrm>
              <a:off x="8971803" y="5028259"/>
              <a:ext cx="2413635" cy="307571"/>
            </a:xfrm>
            <a:custGeom>
              <a:avLst/>
              <a:gdLst/>
              <a:ahLst/>
              <a:cxnLst/>
              <a:rect l="l" t="t" r="r" b="b"/>
              <a:pathLst>
                <a:path w="2413634" h="542289">
                  <a:moveTo>
                    <a:pt x="2413374" y="542275"/>
                  </a:moveTo>
                  <a:lnTo>
                    <a:pt x="0" y="542275"/>
                  </a:lnTo>
                  <a:lnTo>
                    <a:pt x="0" y="75388"/>
                  </a:lnTo>
                  <a:lnTo>
                    <a:pt x="402228" y="75388"/>
                  </a:lnTo>
                  <a:lnTo>
                    <a:pt x="668046" y="0"/>
                  </a:lnTo>
                  <a:lnTo>
                    <a:pt x="1005572" y="75388"/>
                  </a:lnTo>
                  <a:lnTo>
                    <a:pt x="2413374" y="75388"/>
                  </a:lnTo>
                  <a:lnTo>
                    <a:pt x="2413374" y="542275"/>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1D1D1D"/>
                </a:solidFill>
                <a:effectLst/>
                <a:uLnTx/>
                <a:uFillTx/>
              </a:endParaRPr>
            </a:p>
          </p:txBody>
        </p:sp>
        <p:sp>
          <p:nvSpPr>
            <p:cNvPr id="24" name="object 35">
              <a:extLst>
                <a:ext uri="{FF2B5EF4-FFF2-40B4-BE49-F238E27FC236}">
                  <a16:creationId xmlns:a16="http://schemas.microsoft.com/office/drawing/2014/main" id="{30ABB0D9-6131-6A74-DEC9-08B1ECB3FD1A}"/>
                </a:ext>
              </a:extLst>
            </p:cNvPr>
            <p:cNvSpPr/>
            <p:nvPr/>
          </p:nvSpPr>
          <p:spPr>
            <a:xfrm>
              <a:off x="8971803" y="5028259"/>
              <a:ext cx="2413635" cy="542290"/>
            </a:xfrm>
            <a:custGeom>
              <a:avLst/>
              <a:gdLst/>
              <a:ahLst/>
              <a:cxnLst/>
              <a:rect l="l" t="t" r="r" b="b"/>
              <a:pathLst>
                <a:path w="2413634" h="542289">
                  <a:moveTo>
                    <a:pt x="0" y="75388"/>
                  </a:moveTo>
                  <a:lnTo>
                    <a:pt x="402228" y="75388"/>
                  </a:lnTo>
                  <a:lnTo>
                    <a:pt x="668046" y="0"/>
                  </a:lnTo>
                  <a:lnTo>
                    <a:pt x="1005572" y="75388"/>
                  </a:lnTo>
                  <a:lnTo>
                    <a:pt x="2413374" y="75388"/>
                  </a:lnTo>
                  <a:lnTo>
                    <a:pt x="2413374" y="153202"/>
                  </a:lnTo>
                  <a:lnTo>
                    <a:pt x="2413374" y="269924"/>
                  </a:lnTo>
                  <a:lnTo>
                    <a:pt x="2413374" y="542275"/>
                  </a:lnTo>
                  <a:lnTo>
                    <a:pt x="1005572" y="542275"/>
                  </a:lnTo>
                  <a:lnTo>
                    <a:pt x="402228" y="542275"/>
                  </a:lnTo>
                  <a:lnTo>
                    <a:pt x="0" y="542275"/>
                  </a:lnTo>
                  <a:lnTo>
                    <a:pt x="0" y="269924"/>
                  </a:lnTo>
                  <a:lnTo>
                    <a:pt x="0" y="153202"/>
                  </a:lnTo>
                  <a:lnTo>
                    <a:pt x="0" y="75388"/>
                  </a:lnTo>
                  <a:close/>
                </a:path>
              </a:pathLst>
            </a:custGeom>
            <a:ln w="9524">
              <a:solidFill>
                <a:schemeClr val="accent1"/>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5" name="object 38">
            <a:extLst>
              <a:ext uri="{FF2B5EF4-FFF2-40B4-BE49-F238E27FC236}">
                <a16:creationId xmlns:a16="http://schemas.microsoft.com/office/drawing/2014/main" id="{E8640591-E3CC-0520-E9A8-FE90C689E3B5}"/>
              </a:ext>
            </a:extLst>
          </p:cNvPr>
          <p:cNvSpPr txBox="1"/>
          <p:nvPr/>
        </p:nvSpPr>
        <p:spPr>
          <a:xfrm>
            <a:off x="5148072" y="1074438"/>
            <a:ext cx="1122006" cy="19749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b="1" spc="-25">
                <a:latin typeface="Segoe UI" pitchFamily="34" charset="0"/>
              </a:defRPr>
            </a:pPr>
            <a:r>
              <a:rPr kumimoji="0" lang="en-US" sz="1200" b="1" i="0" u="none" strike="noStrike" kern="0" cap="none" spc="-25" normalizeH="0" baseline="0" noProof="0" dirty="0">
                <a:ln>
                  <a:noFill/>
                </a:ln>
                <a:solidFill>
                  <a:schemeClr val="accent1"/>
                </a:solidFill>
                <a:effectLst/>
                <a:uLnTx/>
                <a:uFillTx/>
                <a:latin typeface="Segoe UI" pitchFamily="34" charset="0"/>
                <a:cs typeface="Helvetica Neue"/>
              </a:rPr>
              <a:t>From</a:t>
            </a:r>
            <a:r>
              <a:rPr kumimoji="0" sz="1200" b="1" i="0" u="none" strike="noStrike" kern="0" cap="none" spc="-25" normalizeH="0" baseline="0" noProof="0" dirty="0">
                <a:ln>
                  <a:noFill/>
                </a:ln>
                <a:solidFill>
                  <a:schemeClr val="accent1"/>
                </a:solidFill>
                <a:effectLst/>
                <a:uLnTx/>
                <a:uFillTx/>
                <a:latin typeface="Segoe UI" pitchFamily="34" charset="0"/>
                <a:cs typeface="Helvetica Neue"/>
              </a:rPr>
              <a:t>…</a:t>
            </a:r>
          </a:p>
        </p:txBody>
      </p:sp>
      <p:sp>
        <p:nvSpPr>
          <p:cNvPr id="26" name="object 39">
            <a:extLst>
              <a:ext uri="{FF2B5EF4-FFF2-40B4-BE49-F238E27FC236}">
                <a16:creationId xmlns:a16="http://schemas.microsoft.com/office/drawing/2014/main" id="{49BCF6E3-3FA2-E431-E868-322A0C2C7865}"/>
              </a:ext>
            </a:extLst>
          </p:cNvPr>
          <p:cNvSpPr txBox="1"/>
          <p:nvPr/>
        </p:nvSpPr>
        <p:spPr>
          <a:xfrm>
            <a:off x="8919471" y="4371463"/>
            <a:ext cx="2327275" cy="964367"/>
          </a:xfrm>
          <a:prstGeom prst="rect">
            <a:avLst/>
          </a:prstGeom>
        </p:spPr>
        <p:txBody>
          <a:bodyPr vert="horz" wrap="square" lIns="0" tIns="12700" rIns="0" bIns="0" rtlCol="0">
            <a:spAutoFit/>
          </a:bodyPr>
          <a:lstStyle/>
          <a:p>
            <a:pPr marL="0" marR="760730" lvl="0" indent="0" algn="ctr" defTabSz="914400" eaLnBrk="1" fontAlgn="auto" latinLnBrk="0" hangingPunct="1">
              <a:lnSpc>
                <a:spcPct val="100000"/>
              </a:lnSpc>
              <a:spcBef>
                <a:spcPts val="100"/>
              </a:spcBef>
              <a:spcAft>
                <a:spcPts val="0"/>
              </a:spcAft>
              <a:buClrTx/>
              <a:buSzTx/>
              <a:buFontTx/>
              <a:buNone/>
              <a:tabLst/>
              <a:defRPr/>
            </a:pPr>
            <a:r>
              <a:rPr kumimoji="0" sz="2000" b="1" i="0" u="none" strike="noStrike" kern="0" cap="none" spc="-10" normalizeH="0" baseline="0" noProof="0" dirty="0">
                <a:ln>
                  <a:noFill/>
                </a:ln>
                <a:solidFill>
                  <a:schemeClr val="accent6"/>
                </a:solidFill>
                <a:effectLst/>
                <a:uLnTx/>
                <a:uFillTx/>
                <a:latin typeface="Segoe UI" pitchFamily="34" charset="0"/>
                <a:cs typeface="Helvetica Neue"/>
              </a:rPr>
              <a:t>2030</a:t>
            </a:r>
            <a:endParaRPr kumimoji="0" sz="2000" b="0" i="0" u="none" strike="noStrike" kern="0" cap="none" spc="-10" normalizeH="0" baseline="0" noProof="0" dirty="0">
              <a:ln>
                <a:noFill/>
              </a:ln>
              <a:solidFill>
                <a:schemeClr val="accent6"/>
              </a:solidFill>
              <a:effectLst/>
              <a:uLnTx/>
              <a:uFillTx/>
              <a:latin typeface="Arial" pitchFamily="34" charset="0"/>
              <a:cs typeface="Helvetica Neue"/>
            </a:endParaRPr>
          </a:p>
          <a:p>
            <a:pPr marL="0" marR="760095" lvl="0" indent="0" algn="ctr" defTabSz="914400" eaLnBrk="1" fontAlgn="auto" latinLnBrk="0" hangingPunct="1">
              <a:lnSpc>
                <a:spcPct val="100000"/>
              </a:lnSpc>
              <a:spcBef>
                <a:spcPts val="0"/>
              </a:spcBef>
              <a:spcAft>
                <a:spcPts val="0"/>
              </a:spcAft>
              <a:buClrTx/>
              <a:buSzTx/>
              <a:buFontTx/>
              <a:buNone/>
              <a:tabLst/>
              <a:defRPr/>
            </a:pPr>
            <a:r>
              <a:rPr kumimoji="0" sz="2000" b="1" i="0" u="none" strike="noStrike" kern="0" cap="none" spc="-10" normalizeH="0" baseline="0" noProof="0" dirty="0">
                <a:ln>
                  <a:noFill/>
                </a:ln>
                <a:solidFill>
                  <a:schemeClr val="accent6"/>
                </a:solidFill>
                <a:effectLst/>
                <a:uLnTx/>
                <a:uFillTx/>
                <a:latin typeface="Segoe UI" pitchFamily="34" charset="0"/>
                <a:cs typeface="Helvetica Neue"/>
              </a:rPr>
              <a:t>ASPIRATION</a:t>
            </a:r>
            <a:endParaRPr kumimoji="0" sz="2000" b="0" i="0" u="none" strike="noStrike" kern="0" cap="none" spc="-10" normalizeH="0" baseline="0" noProof="0" dirty="0">
              <a:ln>
                <a:noFill/>
              </a:ln>
              <a:solidFill>
                <a:schemeClr val="accent6"/>
              </a:solidFill>
              <a:effectLst/>
              <a:uLnTx/>
              <a:uFillTx/>
              <a:latin typeface="Arial" pitchFamily="34" charset="0"/>
              <a:cs typeface="Helvetica Neue"/>
            </a:endParaRPr>
          </a:p>
          <a:p>
            <a:pPr marL="153035" marR="0" lvl="0" defTabSz="914400" eaLnBrk="1" fontAlgn="auto" latinLnBrk="0" hangingPunct="1">
              <a:lnSpc>
                <a:spcPct val="100000"/>
              </a:lnSpc>
              <a:spcBef>
                <a:spcPts val="1340"/>
              </a:spcBef>
              <a:spcAft>
                <a:spcPts val="0"/>
              </a:spcAft>
              <a:buClr>
                <a:srgbClr val="585858"/>
              </a:buClr>
              <a:buSzPct val="72727"/>
              <a:tabLst>
                <a:tab pos="310515" algn="l"/>
              </a:tabLst>
              <a:defRPr/>
            </a:pPr>
            <a:r>
              <a:rPr kumimoji="0" sz="1100" b="0" i="0" u="none" strike="noStrike" kern="0" cap="none" spc="-10" normalizeH="0" baseline="0" noProof="0" dirty="0">
                <a:ln>
                  <a:noFill/>
                </a:ln>
                <a:solidFill>
                  <a:srgbClr val="281A42"/>
                </a:solidFill>
                <a:effectLst/>
                <a:uLnTx/>
                <a:uFillTx/>
                <a:latin typeface="Arial" pitchFamily="34" charset="0"/>
                <a:cs typeface="Helvetica Neue"/>
              </a:rPr>
              <a:t>Mid-case including M&amp;A</a:t>
            </a:r>
            <a:endParaRPr kumimoji="0" sz="1100" b="0" i="0" u="none" strike="noStrike" kern="0" cap="none" spc="-10" normalizeH="0" baseline="0" noProof="0" dirty="0">
              <a:ln>
                <a:noFill/>
              </a:ln>
              <a:solidFill>
                <a:sysClr val="windowText" lastClr="000000"/>
              </a:solidFill>
              <a:effectLst/>
              <a:uLnTx/>
              <a:uFillTx/>
              <a:latin typeface="Arial" pitchFamily="34" charset="0"/>
              <a:cs typeface="Helvetica Neue"/>
            </a:endParaRPr>
          </a:p>
        </p:txBody>
      </p:sp>
      <p:sp>
        <p:nvSpPr>
          <p:cNvPr id="27" name="object 38">
            <a:extLst>
              <a:ext uri="{FF2B5EF4-FFF2-40B4-BE49-F238E27FC236}">
                <a16:creationId xmlns:a16="http://schemas.microsoft.com/office/drawing/2014/main" id="{306A0ADE-2707-1805-0E07-C894CF754509}"/>
              </a:ext>
            </a:extLst>
          </p:cNvPr>
          <p:cNvSpPr txBox="1"/>
          <p:nvPr/>
        </p:nvSpPr>
        <p:spPr>
          <a:xfrm>
            <a:off x="6456259" y="1074438"/>
            <a:ext cx="646906" cy="19749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b="1" spc="-25">
                <a:latin typeface="Segoe UI" pitchFamily="34" charset="0"/>
              </a:defRPr>
            </a:pPr>
            <a:r>
              <a:rPr kumimoji="0" sz="1200" b="1" i="0" u="none" strike="noStrike" kern="0" cap="none" spc="-25" normalizeH="0" baseline="0" noProof="0" dirty="0">
                <a:ln>
                  <a:noFill/>
                </a:ln>
                <a:solidFill>
                  <a:schemeClr val="accent1"/>
                </a:solidFill>
                <a:effectLst/>
                <a:uLnTx/>
                <a:uFillTx/>
                <a:latin typeface="Segoe UI" pitchFamily="34" charset="0"/>
                <a:cs typeface="Helvetica Neue"/>
              </a:rPr>
              <a:t>To…</a:t>
            </a:r>
          </a:p>
        </p:txBody>
      </p:sp>
      <p:sp>
        <p:nvSpPr>
          <p:cNvPr id="28" name="TextBox 27">
            <a:extLst>
              <a:ext uri="{FF2B5EF4-FFF2-40B4-BE49-F238E27FC236}">
                <a16:creationId xmlns:a16="http://schemas.microsoft.com/office/drawing/2014/main" id="{D4100B47-22B8-98A6-4620-958C579B0063}"/>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2927969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7D898A80-0F8E-786B-99A6-D1BBA48F62C4}"/>
              </a:ext>
            </a:extLst>
          </p:cNvPr>
          <p:cNvSpPr>
            <a:spLocks noGrp="1"/>
          </p:cNvSpPr>
          <p:nvPr>
            <p:ph type="title"/>
          </p:nvPr>
        </p:nvSpPr>
        <p:spPr/>
        <p:txBody>
          <a:bodyPr/>
          <a:lstStyle/>
          <a:p>
            <a:r>
              <a:rPr lang="en-US" spc="-25" dirty="0">
                <a:solidFill>
                  <a:srgbClr val="281A42"/>
                </a:solidFill>
                <a:cs typeface="Arial" panose="020B0604020202020204" pitchFamily="34" charset="0"/>
                <a:sym typeface="Helvetica Neue Light" panose="02000403000000020004" pitchFamily="2" charset="0"/>
              </a:rPr>
              <a:t>We First Define the Jobs to Be Done for Each Leader </a:t>
            </a:r>
            <a:endParaRPr lang="en-US" dirty="0"/>
          </a:p>
        </p:txBody>
      </p:sp>
      <p:sp>
        <p:nvSpPr>
          <p:cNvPr id="19" name="Text Placeholder 18">
            <a:extLst>
              <a:ext uri="{FF2B5EF4-FFF2-40B4-BE49-F238E27FC236}">
                <a16:creationId xmlns:a16="http://schemas.microsoft.com/office/drawing/2014/main" id="{708AE98D-4B55-2171-3A07-844034D61C45}"/>
              </a:ext>
            </a:extLst>
          </p:cNvPr>
          <p:cNvSpPr>
            <a:spLocks noGrp="1"/>
          </p:cNvSpPr>
          <p:nvPr>
            <p:ph type="body" sz="quarter" idx="12"/>
          </p:nvPr>
        </p:nvSpPr>
        <p:spPr/>
        <p:txBody>
          <a:bodyPr/>
          <a:lstStyle/>
          <a:p>
            <a:r>
              <a:rPr lang="en-US" spc="-25" dirty="0">
                <a:solidFill>
                  <a:srgbClr val="281A42"/>
                </a:solidFill>
                <a:cs typeface="Arial" panose="020B0604020202020204" pitchFamily="34" charset="0"/>
                <a:sym typeface="Helvetica Neue Light" panose="02000403000000020004" pitchFamily="2" charset="0"/>
              </a:rPr>
              <a:t>I.e. Chief Finance Officer</a:t>
            </a:r>
            <a:endParaRPr lang="en-US" dirty="0"/>
          </a:p>
        </p:txBody>
      </p:sp>
      <p:sp>
        <p:nvSpPr>
          <p:cNvPr id="2" name="Slide Number Placeholder 1">
            <a:extLst>
              <a:ext uri="{FF2B5EF4-FFF2-40B4-BE49-F238E27FC236}">
                <a16:creationId xmlns:a16="http://schemas.microsoft.com/office/drawing/2014/main" id="{498C265F-1B66-4202-C507-6D96D68C3E63}"/>
              </a:ext>
            </a:extLst>
          </p:cNvPr>
          <p:cNvSpPr>
            <a:spLocks noGrp="1"/>
          </p:cNvSpPr>
          <p:nvPr>
            <p:ph type="sldNum" sz="quarter" idx="4"/>
          </p:nvPr>
        </p:nvSpPr>
        <p:spPr/>
        <p:txBody>
          <a:bodyPr/>
          <a:lstStyle/>
          <a:p>
            <a:pPr algn="ctr"/>
            <a:fld id="{1875A764-3B06-454E-8ABA-2F6ED0EB58E9}" type="slidenum">
              <a:rPr lang="en-US" smtClean="0"/>
              <a:t>4</a:t>
            </a:fld>
            <a:endParaRPr lang="en-US"/>
          </a:p>
        </p:txBody>
      </p:sp>
      <p:sp>
        <p:nvSpPr>
          <p:cNvPr id="4" name="Google Shape;57;p3">
            <a:extLst>
              <a:ext uri="{FF2B5EF4-FFF2-40B4-BE49-F238E27FC236}">
                <a16:creationId xmlns:a16="http://schemas.microsoft.com/office/drawing/2014/main" id="{68F43BB2-A8D7-5CAE-A80C-07985FE94BAA}"/>
              </a:ext>
            </a:extLst>
          </p:cNvPr>
          <p:cNvSpPr/>
          <p:nvPr/>
        </p:nvSpPr>
        <p:spPr>
          <a:xfrm>
            <a:off x="3398274" y="1167378"/>
            <a:ext cx="5555948" cy="5008530"/>
          </a:xfrm>
          <a:prstGeom prst="roundRect">
            <a:avLst>
              <a:gd name="adj" fmla="val 3135"/>
            </a:avLst>
          </a:prstGeom>
          <a:solidFill>
            <a:srgbClr val="F2F2F2"/>
          </a:solidFill>
          <a:ln w="9525" cap="flat" cmpd="sng">
            <a:solidFill>
              <a:srgbClr val="765FF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lang="en-US" sz="2400" b="1" i="0" u="none" strike="noStrike" kern="0" cap="none" spc="-25"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sym typeface="Lato"/>
            </a:endParaRPr>
          </a:p>
        </p:txBody>
      </p:sp>
      <p:graphicFrame>
        <p:nvGraphicFramePr>
          <p:cNvPr id="5" name="Table 4">
            <a:extLst>
              <a:ext uri="{FF2B5EF4-FFF2-40B4-BE49-F238E27FC236}">
                <a16:creationId xmlns:a16="http://schemas.microsoft.com/office/drawing/2014/main" id="{74A77184-108B-6150-4CA9-3176A72C31FC}"/>
              </a:ext>
            </a:extLst>
          </p:cNvPr>
          <p:cNvGraphicFramePr>
            <a:graphicFrameLocks noGrp="1"/>
          </p:cNvGraphicFramePr>
          <p:nvPr>
            <p:extLst>
              <p:ext uri="{D42A27DB-BD31-4B8C-83A1-F6EECF244321}">
                <p14:modId xmlns:p14="http://schemas.microsoft.com/office/powerpoint/2010/main" val="703666719"/>
              </p:ext>
            </p:extLst>
          </p:nvPr>
        </p:nvGraphicFramePr>
        <p:xfrm>
          <a:off x="3476834" y="1668048"/>
          <a:ext cx="5398827" cy="4480560"/>
        </p:xfrm>
        <a:graphic>
          <a:graphicData uri="http://schemas.openxmlformats.org/drawingml/2006/table">
            <a:tbl>
              <a:tblPr firstRow="1" bandRow="1">
                <a:tableStyleId>{5C22544A-7EE6-4342-B048-85BDC9FD1C3A}</a:tableStyleId>
              </a:tblPr>
              <a:tblGrid>
                <a:gridCol w="5398827">
                  <a:extLst>
                    <a:ext uri="{9D8B030D-6E8A-4147-A177-3AD203B41FA5}">
                      <a16:colId xmlns:a16="http://schemas.microsoft.com/office/drawing/2014/main" val="2300840210"/>
                    </a:ext>
                  </a:extLst>
                </a:gridCol>
              </a:tblGrid>
              <a:tr h="4167983">
                <a:tc>
                  <a:txBody>
                    <a:bodyPr/>
                    <a:lstStyle/>
                    <a:p>
                      <a:pPr marL="228600" indent="-228600">
                        <a:buFont typeface="+mj-lt"/>
                        <a:buAutoNum type="arabicPeriod"/>
                      </a:pPr>
                      <a:r>
                        <a:rPr lang="en-US" sz="1200" b="0" i="0" u="none" strike="noStrike" kern="1200" noProof="0" dirty="0">
                          <a:solidFill>
                            <a:schemeClr val="accent1"/>
                          </a:solidFill>
                          <a:effectLst/>
                          <a:latin typeface="Arial" pitchFamily="34" charset="0"/>
                          <a:ea typeface="Helvetica Neue" panose="02000503000000020004" pitchFamily="2" charset="0"/>
                          <a:cs typeface="Helvetica Neue" panose="02000503000000020004" pitchFamily="2" charset="0"/>
                        </a:rPr>
                        <a:t>[30%] </a:t>
                      </a:r>
                      <a:r>
                        <a:rPr lang="en-US" sz="1200" b="0" i="0" u="none" strike="noStrike" kern="1200" noProof="0" dirty="0">
                          <a:solidFill>
                            <a:schemeClr val="tx1"/>
                          </a:solidFill>
                          <a:effectLst/>
                          <a:latin typeface="Arial" pitchFamily="34" charset="0"/>
                          <a:ea typeface="Helvetica Neue" panose="02000503000000020004" pitchFamily="2" charset="0"/>
                          <a:cs typeface="Helvetica Neue" panose="02000503000000020004" pitchFamily="2" charset="0"/>
                        </a:rPr>
                        <a:t>Execute strategic M&amp;A and disciplined capital allocation by leading financial evaluation, structuring, and due diligence for acquisitions and strategic opportunities—deploying capital to drive inorganic growth, optimizing resource allocation across business priorities, and managing debt and treasury to fund international expansion</a:t>
                      </a:r>
                    </a:p>
                    <a:p>
                      <a:pPr marL="228600" indent="-228600">
                        <a:buFont typeface="+mj-lt"/>
                        <a:buAutoNum type="arabicPeriod"/>
                      </a:pPr>
                      <a:endParaRPr kumimoji="0" lang="en-US" sz="1200" b="0" i="0" u="none" strike="noStrike" kern="1200" cap="none" spc="0" normalizeH="0" baseline="0" noProof="0" dirty="0">
                        <a:ln>
                          <a:noFill/>
                        </a:ln>
                        <a:solidFill>
                          <a:schemeClr val="tx1"/>
                        </a:solidFill>
                        <a:effectLst/>
                        <a:uLnTx/>
                        <a:uFillTx/>
                        <a:latin typeface="Arial" pitchFamily="34" charset="0"/>
                        <a:ea typeface="Helvetica Neue" panose="02000503000000020004" pitchFamily="2" charset="0"/>
                        <a:cs typeface="Helvetica Neue" panose="02000503000000020004" pitchFamily="2" charset="0"/>
                        <a:sym typeface="Arial"/>
                      </a:endParaRPr>
                    </a:p>
                    <a:p>
                      <a:pPr marL="228600" indent="-228600">
                        <a:buFont typeface="+mj-lt"/>
                        <a:buAutoNum type="arabicPeriod"/>
                      </a:pPr>
                      <a:r>
                        <a:rPr kumimoji="0" lang="en-US" sz="1200" b="0" i="0" u="none" strike="noStrike" kern="1200" cap="none" spc="0" normalizeH="0" baseline="0" noProof="0" dirty="0">
                          <a:ln>
                            <a:noFill/>
                          </a:ln>
                          <a:solidFill>
                            <a:schemeClr val="accent1"/>
                          </a:solidFill>
                          <a:effectLst/>
                          <a:uLnTx/>
                          <a:uFillTx/>
                          <a:latin typeface="Arial" pitchFamily="34" charset="0"/>
                          <a:ea typeface="Helvetica Neue" panose="02000503000000020004" pitchFamily="2" charset="0"/>
                          <a:cs typeface="Helvetica Neue" panose="02000503000000020004" pitchFamily="2" charset="0"/>
                          <a:sym typeface="Arial"/>
                        </a:rPr>
                        <a:t>[25%] </a:t>
                      </a:r>
                      <a:r>
                        <a:rPr kumimoji="0" lang="en-US" sz="1200" b="0" i="0" u="none" strike="noStrike" kern="1200" cap="none" spc="0" normalizeH="0" baseline="0" noProof="0" dirty="0">
                          <a:ln>
                            <a:noFill/>
                          </a:ln>
                          <a:solidFill>
                            <a:schemeClr val="tx1"/>
                          </a:solidFill>
                          <a:effectLst/>
                          <a:uLnTx/>
                          <a:uFillTx/>
                          <a:latin typeface="Arial" pitchFamily="34" charset="0"/>
                          <a:ea typeface="Helvetica Neue" panose="02000503000000020004" pitchFamily="2" charset="0"/>
                          <a:cs typeface="Helvetica Neue" panose="02000503000000020004" pitchFamily="2" charset="0"/>
                          <a:sym typeface="Arial"/>
                        </a:rPr>
                        <a:t>Modernize financial infrastructure eliminating invoicing lags, achieving full automation of core financial reporting, and transitioning from manual Excel-based operations to integrated enterprise systems</a:t>
                      </a:r>
                    </a:p>
                    <a:p>
                      <a:pPr marL="228600" indent="-228600">
                        <a:buFont typeface="+mj-lt"/>
                        <a:buAutoNum type="arabicPeriod"/>
                      </a:pPr>
                      <a:endParaRPr kumimoji="0" lang="en-US" sz="1200" b="0" i="0" u="none" strike="noStrike" kern="1200" cap="none" spc="0" normalizeH="0" baseline="0" noProof="0" dirty="0">
                        <a:ln>
                          <a:noFill/>
                        </a:ln>
                        <a:solidFill>
                          <a:schemeClr val="tx1"/>
                        </a:solidFill>
                        <a:effectLst/>
                        <a:uLnTx/>
                        <a:uFillTx/>
                        <a:latin typeface="Arial" pitchFamily="34" charset="0"/>
                        <a:ea typeface="Helvetica Neue" panose="02000503000000020004" pitchFamily="2" charset="0"/>
                        <a:cs typeface="Helvetica Neue" panose="02000503000000020004" pitchFamily="2" charset="0"/>
                        <a:sym typeface="Arial"/>
                      </a:endParaRPr>
                    </a:p>
                    <a:p>
                      <a:pPr marL="228600" indent="-228600">
                        <a:buFont typeface="+mj-lt"/>
                        <a:buAutoNum type="arabicPeriod"/>
                      </a:pPr>
                      <a:r>
                        <a:rPr kumimoji="0" lang="en-US" sz="1200" b="0" i="0" u="none" strike="noStrike" kern="1200" cap="none" spc="0" normalizeH="0" baseline="0" noProof="0" dirty="0">
                          <a:ln>
                            <a:noFill/>
                          </a:ln>
                          <a:solidFill>
                            <a:schemeClr val="accent1"/>
                          </a:solidFill>
                          <a:effectLst/>
                          <a:uLnTx/>
                          <a:uFillTx/>
                          <a:latin typeface="Arial" pitchFamily="34" charset="0"/>
                          <a:ea typeface="Helvetica Neue" panose="02000503000000020004" pitchFamily="2" charset="0"/>
                          <a:cs typeface="Helvetica Neue" panose="02000503000000020004" pitchFamily="2" charset="0"/>
                          <a:sym typeface="Arial"/>
                        </a:rPr>
                        <a:t>[20%] </a:t>
                      </a:r>
                      <a:r>
                        <a:rPr kumimoji="0" lang="en-US" sz="1200" b="0" i="0" u="none" strike="noStrike" kern="1200" cap="none" spc="0" normalizeH="0" baseline="0" noProof="0" dirty="0">
                          <a:ln>
                            <a:noFill/>
                          </a:ln>
                          <a:solidFill>
                            <a:schemeClr val="tx1"/>
                          </a:solidFill>
                          <a:effectLst/>
                          <a:uLnTx/>
                          <a:uFillTx/>
                          <a:latin typeface="Arial" pitchFamily="34" charset="0"/>
                          <a:ea typeface="Helvetica Neue" panose="02000503000000020004" pitchFamily="2" charset="0"/>
                          <a:cs typeface="Helvetica Neue" panose="02000503000000020004" pitchFamily="2" charset="0"/>
                          <a:sym typeface="Arial"/>
                        </a:rPr>
                        <a:t>Optimize commercial finance and working capital to implement data-backed costing and pricing mechanisms, drive inventory reduction, improve cash conversion, and institutionalize profitability analysis to protect margins</a:t>
                      </a:r>
                    </a:p>
                    <a:p>
                      <a:pPr marL="228600" indent="-228600">
                        <a:buFont typeface="+mj-lt"/>
                        <a:buAutoNum type="arabicPeriod"/>
                      </a:pPr>
                      <a:endParaRPr kumimoji="0" lang="en-US" sz="1200" b="0" i="0" u="none" strike="noStrike" kern="1200" cap="none" spc="0" normalizeH="0" baseline="0" noProof="0" dirty="0">
                        <a:ln>
                          <a:noFill/>
                        </a:ln>
                        <a:solidFill>
                          <a:schemeClr val="tx1"/>
                        </a:solidFill>
                        <a:effectLst/>
                        <a:uLnTx/>
                        <a:uFillTx/>
                        <a:latin typeface="Arial" pitchFamily="34" charset="0"/>
                        <a:ea typeface="Helvetica Neue" panose="02000503000000020004" pitchFamily="2" charset="0"/>
                        <a:cs typeface="Helvetica Neue" panose="02000503000000020004" pitchFamily="2" charset="0"/>
                        <a:sym typeface="Arial"/>
                      </a:endParaRPr>
                    </a:p>
                    <a:p>
                      <a:pPr marL="228600" indent="-228600">
                        <a:buFont typeface="+mj-lt"/>
                        <a:buAutoNum type="arabicPeriod"/>
                      </a:pPr>
                      <a:r>
                        <a:rPr kumimoji="0" lang="en-US" sz="1200" b="0" i="0" u="none" strike="noStrike" kern="1200" cap="none" spc="0" normalizeH="0" baseline="0" noProof="0" dirty="0">
                          <a:ln>
                            <a:noFill/>
                          </a:ln>
                          <a:solidFill>
                            <a:schemeClr val="accent1"/>
                          </a:solidFill>
                          <a:effectLst/>
                          <a:uLnTx/>
                          <a:uFillTx/>
                          <a:latin typeface="Arial" pitchFamily="34" charset="0"/>
                          <a:ea typeface="Helvetica Neue" panose="02000503000000020004" pitchFamily="2" charset="0"/>
                          <a:cs typeface="Helvetica Neue" panose="02000503000000020004" pitchFamily="2" charset="0"/>
                          <a:sym typeface="Arial"/>
                        </a:rPr>
                        <a:t>[15%] </a:t>
                      </a:r>
                      <a:r>
                        <a:rPr kumimoji="0" lang="en-US" sz="1200" b="0" i="0" u="none" strike="noStrike" kern="1200" cap="none" spc="0" normalizeH="0" baseline="0" noProof="0" dirty="0">
                          <a:ln>
                            <a:noFill/>
                          </a:ln>
                          <a:solidFill>
                            <a:schemeClr val="tx1"/>
                          </a:solidFill>
                          <a:effectLst/>
                          <a:uLnTx/>
                          <a:uFillTx/>
                          <a:latin typeface="Arial" pitchFamily="34" charset="0"/>
                          <a:ea typeface="Helvetica Neue" panose="02000503000000020004" pitchFamily="2" charset="0"/>
                          <a:cs typeface="Helvetica Neue" panose="02000503000000020004" pitchFamily="2" charset="0"/>
                          <a:sym typeface="Arial"/>
                        </a:rPr>
                        <a:t>Institutionalize investor relations and governance by crafting a compelling equity story centered on the phygital transformation, managing public market expectations, strengthening internal controls, and building credibility with analysts as a listed entity</a:t>
                      </a:r>
                    </a:p>
                    <a:p>
                      <a:pPr marL="228600" indent="-228600">
                        <a:buFont typeface="+mj-lt"/>
                        <a:buAutoNum type="arabicPeriod"/>
                      </a:pPr>
                      <a:endParaRPr lang="en-US" sz="1200" b="0" i="0" u="none" strike="noStrike" kern="1200" noProof="0" dirty="0">
                        <a:solidFill>
                          <a:schemeClr val="tx1"/>
                        </a:solidFill>
                        <a:effectLst/>
                        <a:latin typeface="Arial" pitchFamily="34" charset="0"/>
                        <a:ea typeface="Helvetica Neue" panose="02000503000000020004" pitchFamily="2" charset="0"/>
                        <a:cs typeface="Helvetica Neue" panose="02000503000000020004" pitchFamily="2" charset="0"/>
                      </a:endParaRPr>
                    </a:p>
                    <a:p>
                      <a:pPr marL="228600" indent="-228600">
                        <a:buFont typeface="+mj-lt"/>
                        <a:buAutoNum type="arabicPeriod"/>
                      </a:pPr>
                      <a:r>
                        <a:rPr lang="en-US" sz="1200" b="0" i="0" u="none" strike="noStrike" kern="1200" noProof="0" dirty="0">
                          <a:solidFill>
                            <a:schemeClr val="accent1"/>
                          </a:solidFill>
                          <a:effectLst/>
                          <a:latin typeface="Arial" pitchFamily="34" charset="0"/>
                          <a:ea typeface="Helvetica Neue" panose="02000503000000020004" pitchFamily="2" charset="0"/>
                          <a:cs typeface="Helvetica Neue" panose="02000503000000020004" pitchFamily="2" charset="0"/>
                        </a:rPr>
                        <a:t>[10%] </a:t>
                      </a:r>
                      <a:r>
                        <a:rPr lang="en-US" sz="1200" b="0" i="0" u="none" strike="noStrike" kern="1200" noProof="0" dirty="0">
                          <a:solidFill>
                            <a:schemeClr val="tx1"/>
                          </a:solidFill>
                          <a:effectLst/>
                          <a:latin typeface="Arial" pitchFamily="34" charset="0"/>
                          <a:ea typeface="Helvetica Neue" panose="02000503000000020004" pitchFamily="2" charset="0"/>
                          <a:cs typeface="Helvetica Neue" panose="02000503000000020004" pitchFamily="2" charset="0"/>
                        </a:rPr>
                        <a:t>Build finance team capability by developing talent across strategic finance, commercial partnering, and M&amp;A integration—embedding business acumen and commercial mindset through training and development to support a more complex organization</a:t>
                      </a:r>
                    </a:p>
                  </a:txBody>
                  <a:tcP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440114098"/>
                  </a:ext>
                </a:extLst>
              </a:tr>
            </a:tbl>
          </a:graphicData>
        </a:graphic>
      </p:graphicFrame>
      <p:sp>
        <p:nvSpPr>
          <p:cNvPr id="6" name="Google Shape;57;p3">
            <a:extLst>
              <a:ext uri="{FF2B5EF4-FFF2-40B4-BE49-F238E27FC236}">
                <a16:creationId xmlns:a16="http://schemas.microsoft.com/office/drawing/2014/main" id="{E3D17A2F-BC54-46D4-56DD-5A0C7A15BAAD}"/>
              </a:ext>
            </a:extLst>
          </p:cNvPr>
          <p:cNvSpPr/>
          <p:nvPr/>
        </p:nvSpPr>
        <p:spPr>
          <a:xfrm>
            <a:off x="511497" y="1167378"/>
            <a:ext cx="2783451" cy="5008530"/>
          </a:xfrm>
          <a:prstGeom prst="roundRect">
            <a:avLst>
              <a:gd name="adj" fmla="val 5837"/>
            </a:avLst>
          </a:prstGeom>
          <a:solidFill>
            <a:srgbClr val="F2F2F2"/>
          </a:solidFill>
          <a:ln w="9525" cap="flat" cmpd="sng">
            <a:solidFill>
              <a:srgbClr val="765FF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lang="en-US" sz="2400" b="1" i="0" u="none" strike="noStrike" kern="0" cap="none" spc="-25"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sym typeface="Lato"/>
            </a:endParaRPr>
          </a:p>
        </p:txBody>
      </p:sp>
      <p:sp>
        <p:nvSpPr>
          <p:cNvPr id="7" name="Google Shape;57;p3">
            <a:extLst>
              <a:ext uri="{FF2B5EF4-FFF2-40B4-BE49-F238E27FC236}">
                <a16:creationId xmlns:a16="http://schemas.microsoft.com/office/drawing/2014/main" id="{23EC6E70-F067-71A6-37BB-E50A5FA18C95}"/>
              </a:ext>
            </a:extLst>
          </p:cNvPr>
          <p:cNvSpPr/>
          <p:nvPr/>
        </p:nvSpPr>
        <p:spPr>
          <a:xfrm>
            <a:off x="9057548" y="1167378"/>
            <a:ext cx="2950675" cy="5008530"/>
          </a:xfrm>
          <a:prstGeom prst="roundRect">
            <a:avLst>
              <a:gd name="adj" fmla="val 5837"/>
            </a:avLst>
          </a:prstGeom>
          <a:solidFill>
            <a:srgbClr val="F2F2F2"/>
          </a:solidFill>
          <a:ln w="9525" cap="flat" cmpd="sng">
            <a:solidFill>
              <a:srgbClr val="765FF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lang="en-US" sz="2400" b="1" i="0" u="none" strike="noStrike" kern="0" cap="none" spc="-25"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sym typeface="Lato"/>
            </a:endParaRPr>
          </a:p>
        </p:txBody>
      </p:sp>
      <p:sp>
        <p:nvSpPr>
          <p:cNvPr id="8" name="TextBox 22">
            <a:extLst>
              <a:ext uri="{FF2B5EF4-FFF2-40B4-BE49-F238E27FC236}">
                <a16:creationId xmlns:a16="http://schemas.microsoft.com/office/drawing/2014/main" id="{27AE0641-D411-FF0A-18F4-EB7D6B78A3D2}"/>
              </a:ext>
            </a:extLst>
          </p:cNvPr>
          <p:cNvSpPr txBox="1">
            <a:spLocks/>
          </p:cNvSpPr>
          <p:nvPr/>
        </p:nvSpPr>
        <p:spPr>
          <a:xfrm>
            <a:off x="661737" y="1745833"/>
            <a:ext cx="2541714" cy="2658471"/>
          </a:xfrm>
          <a:prstGeom prst="rect">
            <a:avLst/>
          </a:prstGeom>
          <a:noFill/>
        </p:spPr>
        <p:txBody>
          <a:bodyPr wrap="square">
            <a:spAutoFit/>
          </a:bodyPr>
          <a:lst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a:lstStyle>
          <a:p>
            <a:pPr marL="171450" indent="-171450" eaLnBrk="0" fontAlgn="base" hangingPunct="0">
              <a:lnSpc>
                <a:spcPct val="100000"/>
              </a:lnSpc>
              <a:spcBef>
                <a:spcPct val="0"/>
              </a:spcBef>
              <a:spcAft>
                <a:spcPts val="360"/>
              </a:spcAft>
              <a:buSzPct val="100000"/>
              <a:buFont typeface="Arial" panose="020B0706020202030204" pitchFamily="34" charset="0"/>
              <a:buBlip>
                <a:blip r:embed="rId2"/>
              </a:buBlip>
              <a:defRPr/>
            </a:pPr>
            <a:r>
              <a:rPr lang="en-US" b="1" spc="-10">
                <a:solidFill>
                  <a:srgbClr val="1D1D1D"/>
                </a:solidFill>
                <a:latin typeface="Segoe UI" pitchFamily="34" charset="0"/>
                <a:ea typeface="Helvetica Neue" panose="02000503000000020004" pitchFamily="2" charset="0"/>
                <a:cs typeface="Helvetica Neue" panose="02000503000000020004" pitchFamily="2" charset="0"/>
                <a:sym typeface="Arial" panose="020B0604020202020204" pitchFamily="34" charset="0"/>
              </a:rPr>
              <a:t>From: </a:t>
            </a:r>
            <a:br>
              <a:rPr lang="en-US" b="1" spc="-10">
                <a:solidFill>
                  <a:srgbClr val="1D1D1D"/>
                </a:solidFill>
                <a:latin typeface="Segoe UI" pitchFamily="34" charset="0"/>
                <a:ea typeface="Helvetica Neue" panose="02000503000000020004" pitchFamily="2" charset="0"/>
                <a:cs typeface="Helvetica Neue" panose="02000503000000020004" pitchFamily="2" charset="0"/>
                <a:sym typeface="Arial" panose="020B0604020202020204" pitchFamily="34" charset="0"/>
              </a:rPr>
            </a:br>
            <a:r>
              <a:rPr lang="en-US" spc="-10">
                <a:solidFill>
                  <a:srgbClr val="1D1D1D"/>
                </a:solidFill>
                <a:latin typeface="Arial" pitchFamily="34" charset="0"/>
                <a:ea typeface="Helvetica Neue" panose="02000503000000020004" pitchFamily="2" charset="0"/>
                <a:cs typeface="Helvetica Neue" panose="02000503000000020004" pitchFamily="2" charset="0"/>
                <a:sym typeface="Arial" panose="020B0604020202020204" pitchFamily="34" charset="0"/>
              </a:rPr>
              <a:t>Finance function focused on reporting and compliance with manual, Excel-based transactional processes</a:t>
            </a:r>
          </a:p>
          <a:p>
            <a:pPr marL="171450" indent="-171450" eaLnBrk="0" fontAlgn="base" hangingPunct="0">
              <a:lnSpc>
                <a:spcPct val="100000"/>
              </a:lnSpc>
              <a:spcBef>
                <a:spcPct val="0"/>
              </a:spcBef>
              <a:spcAft>
                <a:spcPts val="360"/>
              </a:spcAft>
              <a:buFont typeface="Arial" panose="020B0706020202030204" pitchFamily="34" charset="0"/>
              <a:buBlip>
                <a:blip r:embed="rId2"/>
              </a:buBlip>
              <a:defRPr/>
            </a:pPr>
            <a:endParaRPr lang="en-US" spc="-10">
              <a:solidFill>
                <a:srgbClr val="1D1D1D"/>
              </a:solidFill>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p>
            <a:pPr marL="171450" indent="-171450" eaLnBrk="0" fontAlgn="base" hangingPunct="0">
              <a:lnSpc>
                <a:spcPct val="100000"/>
              </a:lnSpc>
              <a:spcBef>
                <a:spcPct val="0"/>
              </a:spcBef>
              <a:spcAft>
                <a:spcPts val="360"/>
              </a:spcAft>
              <a:buSzPct val="100000"/>
              <a:buFont typeface="Arial" panose="020B0706020202030204" pitchFamily="34" charset="0"/>
              <a:buBlip>
                <a:blip r:embed="rId2"/>
              </a:buBlip>
              <a:defRPr/>
            </a:pPr>
            <a:r>
              <a:rPr lang="en-US" b="1" spc="-10">
                <a:solidFill>
                  <a:srgbClr val="1D1D1D"/>
                </a:solidFill>
                <a:latin typeface="Segoe UI" pitchFamily="34" charset="0"/>
                <a:ea typeface="Helvetica Neue" panose="02000503000000020004" pitchFamily="2" charset="0"/>
                <a:cs typeface="Helvetica Neue" panose="02000503000000020004" pitchFamily="2" charset="0"/>
                <a:sym typeface="Arial" panose="020B0604020202020204" pitchFamily="34" charset="0"/>
              </a:rPr>
              <a:t>To: </a:t>
            </a:r>
            <a:br>
              <a:rPr lang="en-US" b="1" spc="-10">
                <a:solidFill>
                  <a:srgbClr val="1D1D1D"/>
                </a:solidFill>
                <a:latin typeface="Segoe UI" pitchFamily="34" charset="0"/>
                <a:ea typeface="Helvetica Neue" panose="02000503000000020004" pitchFamily="2" charset="0"/>
                <a:cs typeface="Helvetica Neue" panose="02000503000000020004" pitchFamily="2" charset="0"/>
                <a:sym typeface="Arial" panose="020B0604020202020204" pitchFamily="34" charset="0"/>
              </a:rPr>
            </a:br>
            <a:r>
              <a:rPr lang="en-US" spc="-10">
                <a:solidFill>
                  <a:srgbClr val="1D1D1D"/>
                </a:solidFill>
                <a:latin typeface="Arial" pitchFamily="34" charset="0"/>
                <a:ea typeface="Helvetica Neue" panose="02000503000000020004" pitchFamily="2" charset="0"/>
                <a:cs typeface="Helvetica Neue" panose="02000503000000020004" pitchFamily="2" charset="0"/>
                <a:sym typeface="Arial" panose="020B0604020202020204" pitchFamily="34" charset="0"/>
              </a:rPr>
              <a:t>Strategic finance partner enabling growth through real-time visibility, M&amp;A execution, disciplined capital allocation, and investor relations excellence as a listed company</a:t>
            </a:r>
            <a:endParaRPr lang="en-US" spc="-10" dirty="0">
              <a:solidFill>
                <a:srgbClr val="1D1D1D"/>
              </a:solidFill>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p:txBody>
      </p:sp>
      <p:sp>
        <p:nvSpPr>
          <p:cNvPr id="9" name="TextBox 8">
            <a:extLst>
              <a:ext uri="{FF2B5EF4-FFF2-40B4-BE49-F238E27FC236}">
                <a16:creationId xmlns:a16="http://schemas.microsoft.com/office/drawing/2014/main" id="{F6B431BA-A6E0-6179-7905-F2243E29FE47}"/>
              </a:ext>
            </a:extLst>
          </p:cNvPr>
          <p:cNvSpPr txBox="1"/>
          <p:nvPr/>
        </p:nvSpPr>
        <p:spPr>
          <a:xfrm>
            <a:off x="9313615" y="1668048"/>
            <a:ext cx="2438539" cy="4124206"/>
          </a:xfrm>
          <a:prstGeom prst="rect">
            <a:avLst/>
          </a:prstGeom>
          <a:noFill/>
        </p:spPr>
        <p:txBody>
          <a:bodyPr wrap="square" lIns="91440" tIns="45720" rIns="91440" bIns="45720">
            <a:spAutoFit/>
          </a:bodyPr>
          <a:lstStyle/>
          <a:p>
            <a:pPr marL="171450" marR="0" lvl="0" indent="-171450" algn="l" defTabSz="914400" rtl="0" eaLnBrk="1" fontAlgn="auto" latinLnBrk="0" hangingPunct="1">
              <a:lnSpc>
                <a:spcPct val="100000"/>
              </a:lnSpc>
              <a:spcBef>
                <a:spcPts val="0"/>
              </a:spcBef>
              <a:spcAft>
                <a:spcPts val="1200"/>
              </a:spcAft>
              <a:buClrTx/>
              <a:buSzTx/>
              <a:buBlip>
                <a:blip r:embed="rId3"/>
              </a:buBlip>
              <a:tabLst/>
              <a:defRPr/>
            </a:pPr>
            <a:r>
              <a:rPr kumimoji="0" lang="en-US" sz="1200" b="1" i="0" u="none" strike="noStrike" kern="1200" cap="none" spc="-10" normalizeH="0" baseline="0" noProof="0" dirty="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sym typeface="Arial" panose="020B0604020202020204" pitchFamily="34" charset="0"/>
              </a:rPr>
              <a:t>Capital markets &amp; Strategic Finance Mastery: </a:t>
            </a:r>
            <a:r>
              <a:rPr kumimoji="0" lang="en-US" sz="1200" b="0" i="0" u="none" strike="noStrike" kern="1200" cap="none" spc="-10" normalizeH="0" baseline="0" noProof="0" dirty="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panose="020B0604020202020204" pitchFamily="34" charset="0"/>
              </a:rPr>
              <a:t>Simultaneously manage public market expectations, structure complex M&amp;A transactions, and optimize capital allocation—translating operational transformation into a compelling equity story while deploying balance sheet for strategic growth</a:t>
            </a:r>
          </a:p>
          <a:p>
            <a:pPr marL="171450" marR="0" lvl="0" indent="-171450" algn="l" defTabSz="914400" rtl="0" eaLnBrk="1" fontAlgn="auto" latinLnBrk="0" hangingPunct="1">
              <a:lnSpc>
                <a:spcPct val="100000"/>
              </a:lnSpc>
              <a:spcBef>
                <a:spcPts val="0"/>
              </a:spcBef>
              <a:spcAft>
                <a:spcPts val="1200"/>
              </a:spcAft>
              <a:buClrTx/>
              <a:buSzTx/>
              <a:buBlip>
                <a:blip r:embed="rId3"/>
              </a:buBlip>
              <a:tabLst/>
              <a:defRPr/>
            </a:pPr>
            <a:r>
              <a:rPr kumimoji="0" lang="en-US" sz="1200" b="1" i="0" u="none" strike="noStrike" kern="1200" cap="none" spc="-10" normalizeH="0" baseline="0" noProof="0" dirty="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sym typeface="Arial" panose="020B0604020202020204" pitchFamily="34" charset="0"/>
              </a:rPr>
              <a:t>Finance Transformation &amp; Operational Partnership: </a:t>
            </a:r>
            <a:r>
              <a:rPr kumimoji="0" lang="en-US" sz="1200" b="0" i="0" u="none" strike="noStrike" kern="1200" cap="none" spc="-10" normalizeH="0" baseline="0" noProof="0" dirty="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sym typeface="Arial" panose="020B0604020202020204" pitchFamily="34" charset="0"/>
              </a:rPr>
              <a:t>Rebuild financial infrastructure while partnering with commercial and industrial leaders to drive performance—serving as both architect of financial systems and business partner for margin improvement</a:t>
            </a:r>
          </a:p>
        </p:txBody>
      </p:sp>
      <p:sp>
        <p:nvSpPr>
          <p:cNvPr id="10" name="TextBox 9">
            <a:extLst>
              <a:ext uri="{FF2B5EF4-FFF2-40B4-BE49-F238E27FC236}">
                <a16:creationId xmlns:a16="http://schemas.microsoft.com/office/drawing/2014/main" id="{8DE94A04-A051-73F2-266A-625594BA796E}"/>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cxnSp>
        <p:nvCxnSpPr>
          <p:cNvPr id="11" name="Straight Connector 10">
            <a:extLst>
              <a:ext uri="{FF2B5EF4-FFF2-40B4-BE49-F238E27FC236}">
                <a16:creationId xmlns:a16="http://schemas.microsoft.com/office/drawing/2014/main" id="{18FE6D9E-E205-4571-EE59-06D2FAC08C6A}"/>
              </a:ext>
            </a:extLst>
          </p:cNvPr>
          <p:cNvCxnSpPr>
            <a:cxnSpLocks/>
          </p:cNvCxnSpPr>
          <p:nvPr/>
        </p:nvCxnSpPr>
        <p:spPr>
          <a:xfrm>
            <a:off x="748528" y="1624063"/>
            <a:ext cx="2438539" cy="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7E2B0001-C262-284C-2DD7-456AB7C698EF}"/>
              </a:ext>
            </a:extLst>
          </p:cNvPr>
          <p:cNvCxnSpPr>
            <a:cxnSpLocks/>
          </p:cNvCxnSpPr>
          <p:nvPr/>
        </p:nvCxnSpPr>
        <p:spPr>
          <a:xfrm>
            <a:off x="3645621" y="1624063"/>
            <a:ext cx="5157596" cy="0"/>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7820C558-B856-32EB-11B0-A6D08A50ADAA}"/>
              </a:ext>
            </a:extLst>
          </p:cNvPr>
          <p:cNvCxnSpPr>
            <a:cxnSpLocks/>
          </p:cNvCxnSpPr>
          <p:nvPr/>
        </p:nvCxnSpPr>
        <p:spPr>
          <a:xfrm>
            <a:off x="9206342" y="1624063"/>
            <a:ext cx="2438539" cy="0"/>
          </a:xfrm>
          <a:prstGeom prst="line">
            <a:avLst/>
          </a:prstGeom>
        </p:spPr>
        <p:style>
          <a:lnRef idx="1">
            <a:schemeClr val="dk1"/>
          </a:lnRef>
          <a:fillRef idx="0">
            <a:schemeClr val="dk1"/>
          </a:fillRef>
          <a:effectRef idx="0">
            <a:schemeClr val="dk1"/>
          </a:effectRef>
          <a:fontRef idx="minor">
            <a:schemeClr val="tx1"/>
          </a:fontRef>
        </p:style>
      </p:cxnSp>
      <p:sp>
        <p:nvSpPr>
          <p:cNvPr id="14" name="Google Shape;61;p3">
            <a:extLst>
              <a:ext uri="{FF2B5EF4-FFF2-40B4-BE49-F238E27FC236}">
                <a16:creationId xmlns:a16="http://schemas.microsoft.com/office/drawing/2014/main" id="{E0E03AF0-7FBE-14E8-ECF9-E626FF0D58C6}"/>
              </a:ext>
            </a:extLst>
          </p:cNvPr>
          <p:cNvSpPr txBox="1"/>
          <p:nvPr/>
        </p:nvSpPr>
        <p:spPr>
          <a:xfrm>
            <a:off x="3734950" y="1318051"/>
            <a:ext cx="4229815" cy="230812"/>
          </a:xfrm>
          <a:prstGeom prst="rect">
            <a:avLst/>
          </a:prstGeom>
          <a:noFill/>
          <a:ln>
            <a:noFill/>
          </a:ln>
        </p:spPr>
        <p:txBody>
          <a:bodyPr spcFirstLastPara="1" wrap="square" lIns="22850" tIns="22850" rIns="22850" bIns="22850" anchor="t" anchorCtr="0">
            <a:spAutoFit/>
          </a:bodyPr>
          <a:lstStyle/>
          <a:p>
            <a:pPr marL="0" marR="0" lvl="0" indent="0" algn="l" defTabSz="457200" rtl="0" eaLnBrk="1" fontAlgn="auto" latinLnBrk="0" hangingPunct="1">
              <a:lnSpc>
                <a:spcPct val="100000"/>
              </a:lnSpc>
              <a:spcBef>
                <a:spcPts val="0"/>
              </a:spcBef>
              <a:spcAft>
                <a:spcPts val="0"/>
              </a:spcAft>
              <a:buClr>
                <a:srgbClr val="765FFF"/>
              </a:buClr>
              <a:buSzPts val="2400"/>
              <a:buFontTx/>
              <a:buNone/>
              <a:tabLst/>
              <a:defRPr b="1" spc="-25">
                <a:latin typeface="Segoe UI" pitchFamily="34" charset="0"/>
              </a:defRPr>
            </a:pPr>
            <a:r>
              <a:rPr kumimoji="0" lang="en-US" sz="1200" b="1" u="none" strike="noStrike" kern="0" cap="none" spc="-25" normalizeH="0" baseline="0" noProof="0">
                <a:ln>
                  <a:noFill/>
                </a:ln>
                <a:solidFill>
                  <a:schemeClr val="accent1"/>
                </a:solidFill>
                <a:effectLst/>
                <a:uLnTx/>
                <a:uFillTx/>
                <a:latin typeface="Segoe UI" pitchFamily="34" charset="0"/>
                <a:ea typeface="Helvetica Neue" panose="02000503000000020004" pitchFamily="2" charset="0"/>
                <a:cs typeface="Helvetica Neue" panose="02000503000000020004" pitchFamily="2" charset="0"/>
                <a:sym typeface="Lato"/>
              </a:rPr>
              <a:t>Jobs to Be Done</a:t>
            </a:r>
            <a:endParaRPr kumimoji="0" lang="en-US" sz="1200" b="1" u="none" strike="noStrike" kern="0" cap="none" spc="-25" normalizeH="0" baseline="0" noProof="0">
              <a:ln>
                <a:noFill/>
              </a:ln>
              <a:solidFill>
                <a:schemeClr val="accent1"/>
              </a:solidFill>
              <a:effectLst/>
              <a:uLnTx/>
              <a:uFillTx/>
              <a:latin typeface="Segoe UI" pitchFamily="34" charset="0"/>
              <a:ea typeface="Helvetica Neue" panose="02000503000000020004" pitchFamily="2" charset="0"/>
              <a:cs typeface="Helvetica Neue" panose="02000503000000020004" pitchFamily="2" charset="0"/>
              <a:sym typeface="Arial"/>
            </a:endParaRPr>
          </a:p>
        </p:txBody>
      </p:sp>
      <p:sp>
        <p:nvSpPr>
          <p:cNvPr id="15" name="Google Shape;72;p3">
            <a:extLst>
              <a:ext uri="{FF2B5EF4-FFF2-40B4-BE49-F238E27FC236}">
                <a16:creationId xmlns:a16="http://schemas.microsoft.com/office/drawing/2014/main" id="{CB17C70B-D03D-1B1D-F0F8-31EBF0008906}"/>
              </a:ext>
            </a:extLst>
          </p:cNvPr>
          <p:cNvSpPr txBox="1"/>
          <p:nvPr/>
        </p:nvSpPr>
        <p:spPr>
          <a:xfrm>
            <a:off x="9275719" y="1318051"/>
            <a:ext cx="2438539"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765FFF"/>
              </a:buClr>
              <a:buSzPts val="2400"/>
              <a:buFontTx/>
              <a:buNone/>
              <a:tabLst/>
              <a:defRPr b="1" spc="-25">
                <a:latin typeface="Segoe UI" pitchFamily="34" charset="0"/>
              </a:defRPr>
            </a:pPr>
            <a:r>
              <a:rPr kumimoji="0" lang="en-US" sz="1200" b="1" u="none" strike="noStrike" kern="0" cap="none" spc="-25" normalizeH="0" baseline="0" noProof="0">
                <a:ln>
                  <a:noFill/>
                </a:ln>
                <a:solidFill>
                  <a:schemeClr val="accent1"/>
                </a:solidFill>
                <a:effectLst/>
                <a:uLnTx/>
                <a:uFillTx/>
                <a:latin typeface="Segoe UI" pitchFamily="34" charset="0"/>
                <a:ea typeface="Helvetica Neue" panose="02000503000000020004" pitchFamily="2" charset="0"/>
                <a:cs typeface="Helvetica Neue" panose="02000503000000020004" pitchFamily="2" charset="0"/>
                <a:sym typeface="Lato"/>
              </a:rPr>
              <a:t>Superpowers</a:t>
            </a:r>
            <a:endParaRPr kumimoji="0" lang="en-US" sz="1200" b="1" u="none" strike="noStrike" kern="0" cap="none" spc="-25" normalizeH="0" baseline="0" noProof="0">
              <a:ln>
                <a:noFill/>
              </a:ln>
              <a:solidFill>
                <a:schemeClr val="accent1"/>
              </a:solidFill>
              <a:effectLst/>
              <a:uLnTx/>
              <a:uFillTx/>
              <a:latin typeface="Segoe UI" pitchFamily="34" charset="0"/>
              <a:ea typeface="Helvetica Neue" panose="02000503000000020004" pitchFamily="2" charset="0"/>
              <a:cs typeface="Helvetica Neue" panose="02000503000000020004" pitchFamily="2" charset="0"/>
              <a:sym typeface="Arial"/>
            </a:endParaRPr>
          </a:p>
        </p:txBody>
      </p:sp>
      <p:sp>
        <p:nvSpPr>
          <p:cNvPr id="16" name="Google Shape;72;p3">
            <a:extLst>
              <a:ext uri="{FF2B5EF4-FFF2-40B4-BE49-F238E27FC236}">
                <a16:creationId xmlns:a16="http://schemas.microsoft.com/office/drawing/2014/main" id="{47D04AEC-7AA9-73F5-CE8B-FE9E84A8EAB8}"/>
              </a:ext>
            </a:extLst>
          </p:cNvPr>
          <p:cNvSpPr txBox="1"/>
          <p:nvPr/>
        </p:nvSpPr>
        <p:spPr>
          <a:xfrm>
            <a:off x="748529" y="1318051"/>
            <a:ext cx="2724636" cy="243636"/>
          </a:xfrm>
          <a:prstGeom prst="rect">
            <a:avLst/>
          </a:prstGeom>
          <a:noFill/>
          <a:ln>
            <a:noFill/>
          </a:ln>
        </p:spPr>
        <p:txBody>
          <a:bodyPr spcFirstLastPara="1" wrap="square" lIns="22850" tIns="22850" rIns="22850" bIns="22850" anchor="b" anchorCtr="0">
            <a:spAutoFit/>
          </a:bodyPr>
          <a:lstStyle/>
          <a:p>
            <a:pPr marL="12700" marR="0" lvl="0" indent="0" algn="l" defTabSz="914400" rtl="0" eaLnBrk="0" fontAlgn="base" latinLnBrk="0" hangingPunct="0">
              <a:lnSpc>
                <a:spcPct val="100000"/>
              </a:lnSpc>
              <a:spcBef>
                <a:spcPts val="100"/>
              </a:spcBef>
              <a:spcAft>
                <a:spcPct val="0"/>
              </a:spcAft>
              <a:buClrTx/>
              <a:buSzTx/>
              <a:buFontTx/>
              <a:buNone/>
              <a:tabLst/>
              <a:defRPr b="1" spc="-25">
                <a:latin typeface="Segoe UI" pitchFamily="34" charset="0"/>
              </a:defRPr>
            </a:pPr>
            <a:r>
              <a:rPr kumimoji="0" lang="en-US" sz="1200" b="1" u="none" strike="noStrike" kern="1200" cap="none" spc="-25" normalizeH="0" baseline="0" noProof="0" dirty="0">
                <a:ln>
                  <a:noFill/>
                </a:ln>
                <a:solidFill>
                  <a:schemeClr val="accent1"/>
                </a:solidFill>
                <a:effectLst/>
                <a:uLnTx/>
                <a:uFillTx/>
                <a:latin typeface="Segoe UI" pitchFamily="34" charset="0"/>
                <a:ea typeface="Helvetica Neue" panose="02000503000000020004" pitchFamily="2" charset="0"/>
                <a:cs typeface="Helvetica Neue" panose="02000503000000020004" pitchFamily="2" charset="0"/>
                <a:sym typeface="Arial" panose="020B0604020202020204" pitchFamily="34" charset="0"/>
              </a:rPr>
              <a:t>Jobs to Be Done Pivot</a:t>
            </a:r>
          </a:p>
        </p:txBody>
      </p:sp>
    </p:spTree>
    <p:extLst>
      <p:ext uri="{BB962C8B-B14F-4D97-AF65-F5344CB8AC3E}">
        <p14:creationId xmlns:p14="http://schemas.microsoft.com/office/powerpoint/2010/main" val="2961317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0C122D-94AF-444E-8E7B-E4164225BA08}"/>
              </a:ext>
            </a:extLst>
          </p:cNvPr>
          <p:cNvSpPr>
            <a:spLocks noGrp="1"/>
          </p:cNvSpPr>
          <p:nvPr>
            <p:ph type="sldNum" sz="quarter" idx="4"/>
          </p:nvPr>
        </p:nvSpPr>
        <p:spPr/>
        <p:txBody>
          <a:bodyPr/>
          <a:lstStyle/>
          <a:p>
            <a:pPr algn="ctr"/>
            <a:fld id="{7DA59B58-B945-4B36-BC6B-9C26C933A008}" type="slidenum">
              <a:rPr lang="en-US" smtClean="0"/>
              <a:t>5</a:t>
            </a:fld>
            <a:endParaRPr lang="en-US"/>
          </a:p>
        </p:txBody>
      </p:sp>
      <p:sp>
        <p:nvSpPr>
          <p:cNvPr id="2" name="Title 1">
            <a:extLst>
              <a:ext uri="{FF2B5EF4-FFF2-40B4-BE49-F238E27FC236}">
                <a16:creationId xmlns:a16="http://schemas.microsoft.com/office/drawing/2014/main" id="{0446A341-6540-91CA-CDAD-4636B363294B}"/>
              </a:ext>
            </a:extLst>
          </p:cNvPr>
          <p:cNvSpPr>
            <a:spLocks noGrp="1"/>
          </p:cNvSpPr>
          <p:nvPr>
            <p:ph type="title"/>
          </p:nvPr>
        </p:nvSpPr>
        <p:spPr/>
        <p:txBody>
          <a:bodyPr/>
          <a:lstStyle/>
          <a:p>
            <a:r>
              <a:rPr lang="en-US" dirty="0">
                <a:sym typeface="Helvetica Neue Light" panose="02000403000000020004" pitchFamily="2" charset="0"/>
              </a:rPr>
              <a:t>We Use These to Define the Shared JTBDs for the Leadership Team</a:t>
            </a:r>
            <a:endParaRPr lang="en-US" dirty="0"/>
          </a:p>
        </p:txBody>
      </p:sp>
      <p:sp>
        <p:nvSpPr>
          <p:cNvPr id="6" name="Google Shape;57;p3">
            <a:extLst>
              <a:ext uri="{FF2B5EF4-FFF2-40B4-BE49-F238E27FC236}">
                <a16:creationId xmlns:a16="http://schemas.microsoft.com/office/drawing/2014/main" id="{D49C907D-5F89-7B7C-A047-69CFC7116650}"/>
              </a:ext>
            </a:extLst>
          </p:cNvPr>
          <p:cNvSpPr/>
          <p:nvPr/>
        </p:nvSpPr>
        <p:spPr>
          <a:xfrm>
            <a:off x="3443990" y="1215501"/>
            <a:ext cx="5555948" cy="4620011"/>
          </a:xfrm>
          <a:prstGeom prst="roundRect">
            <a:avLst>
              <a:gd name="adj" fmla="val 3135"/>
            </a:avLst>
          </a:prstGeom>
          <a:solidFill>
            <a:srgbClr val="F2F2F2"/>
          </a:solidFill>
          <a:ln w="9525" cap="flat" cmpd="sng">
            <a:solidFill>
              <a:srgbClr val="281A42"/>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lang="en-US" sz="1200" b="1" u="none" strike="noStrike" kern="0" cap="none" spc="-25" normalizeH="0" baseline="0" noProof="0">
              <a:ln>
                <a:noFill/>
              </a:ln>
              <a:effectLst/>
              <a:uLnTx/>
              <a:uFillTx/>
              <a:latin typeface="Segoe UI" pitchFamily="34" charset="0"/>
              <a:ea typeface="Helvetica Neue" panose="02000503000000020004" pitchFamily="2" charset="0"/>
              <a:cs typeface="Helvetica Neue" panose="02000503000000020004" pitchFamily="2" charset="0"/>
              <a:sym typeface="Lato"/>
            </a:endParaRPr>
          </a:p>
        </p:txBody>
      </p:sp>
      <p:sp>
        <p:nvSpPr>
          <p:cNvPr id="7" name="Google Shape;61;p3">
            <a:extLst>
              <a:ext uri="{FF2B5EF4-FFF2-40B4-BE49-F238E27FC236}">
                <a16:creationId xmlns:a16="http://schemas.microsoft.com/office/drawing/2014/main" id="{4EE73083-16FA-DEF3-A72A-FB610BE0B786}"/>
              </a:ext>
            </a:extLst>
          </p:cNvPr>
          <p:cNvSpPr txBox="1"/>
          <p:nvPr/>
        </p:nvSpPr>
        <p:spPr>
          <a:xfrm>
            <a:off x="3734950" y="1318051"/>
            <a:ext cx="4229815" cy="230812"/>
          </a:xfrm>
          <a:prstGeom prst="rect">
            <a:avLst/>
          </a:prstGeom>
          <a:noFill/>
          <a:ln>
            <a:noFill/>
          </a:ln>
        </p:spPr>
        <p:txBody>
          <a:bodyPr spcFirstLastPara="1" wrap="square" lIns="22850" tIns="22850" rIns="22850" bIns="22850" anchor="t" anchorCtr="0">
            <a:spAutoFit/>
          </a:bodyPr>
          <a:lstStyle/>
          <a:p>
            <a:pPr marL="0" marR="0" lvl="0" indent="0" algn="l" defTabSz="457200" rtl="0" eaLnBrk="1" fontAlgn="auto" latinLnBrk="0" hangingPunct="1">
              <a:lnSpc>
                <a:spcPct val="100000"/>
              </a:lnSpc>
              <a:spcBef>
                <a:spcPts val="0"/>
              </a:spcBef>
              <a:spcAft>
                <a:spcPts val="0"/>
              </a:spcAft>
              <a:buClr>
                <a:srgbClr val="765FFF"/>
              </a:buClr>
              <a:buSzPts val="2400"/>
              <a:buFontTx/>
              <a:buNone/>
              <a:tabLst/>
              <a:defRPr b="1" spc="-25">
                <a:latin typeface="Segoe UI" pitchFamily="34" charset="0"/>
              </a:defRPr>
            </a:pPr>
            <a:r>
              <a:rPr kumimoji="0" lang="en-US" sz="1200" b="1" u="none" strike="noStrike" kern="0" cap="none" spc="-25" normalizeH="0" baseline="0" noProof="0">
                <a:ln>
                  <a:noFill/>
                </a:ln>
                <a:solidFill>
                  <a:schemeClr val="accent1"/>
                </a:solidFill>
                <a:effectLst/>
                <a:uLnTx/>
                <a:uFillTx/>
                <a:latin typeface="Segoe UI" pitchFamily="34" charset="0"/>
                <a:ea typeface="Helvetica Neue" panose="02000503000000020004" pitchFamily="2" charset="0"/>
                <a:cs typeface="Helvetica Neue" panose="02000503000000020004" pitchFamily="2" charset="0"/>
                <a:sym typeface="Lato"/>
              </a:rPr>
              <a:t>Jobs to Be Done</a:t>
            </a:r>
            <a:endParaRPr kumimoji="0" lang="en-US" sz="1200" b="1" u="none" strike="noStrike" kern="0" cap="none" spc="-25" normalizeH="0" baseline="0" noProof="0">
              <a:ln>
                <a:noFill/>
              </a:ln>
              <a:solidFill>
                <a:schemeClr val="accent1"/>
              </a:solidFill>
              <a:effectLst/>
              <a:uLnTx/>
              <a:uFillTx/>
              <a:latin typeface="Segoe UI" pitchFamily="34" charset="0"/>
              <a:ea typeface="Helvetica Neue" panose="02000503000000020004" pitchFamily="2" charset="0"/>
              <a:cs typeface="Helvetica Neue" panose="02000503000000020004" pitchFamily="2" charset="0"/>
              <a:sym typeface="Arial"/>
            </a:endParaRPr>
          </a:p>
        </p:txBody>
      </p:sp>
      <p:graphicFrame>
        <p:nvGraphicFramePr>
          <p:cNvPr id="8" name="Table 7">
            <a:extLst>
              <a:ext uri="{FF2B5EF4-FFF2-40B4-BE49-F238E27FC236}">
                <a16:creationId xmlns:a16="http://schemas.microsoft.com/office/drawing/2014/main" id="{2096827A-58C3-41ED-81EF-0F91C15195F0}"/>
              </a:ext>
            </a:extLst>
          </p:cNvPr>
          <p:cNvGraphicFramePr>
            <a:graphicFrameLocks noGrp="1"/>
          </p:cNvGraphicFramePr>
          <p:nvPr>
            <p:extLst>
              <p:ext uri="{D42A27DB-BD31-4B8C-83A1-F6EECF244321}">
                <p14:modId xmlns:p14="http://schemas.microsoft.com/office/powerpoint/2010/main" val="1875104008"/>
              </p:ext>
            </p:extLst>
          </p:nvPr>
        </p:nvGraphicFramePr>
        <p:xfrm>
          <a:off x="3645621" y="1683142"/>
          <a:ext cx="5157596" cy="3017520"/>
        </p:xfrm>
        <a:graphic>
          <a:graphicData uri="http://schemas.openxmlformats.org/drawingml/2006/table">
            <a:tbl>
              <a:tblPr firstRow="1" bandRow="1">
                <a:tableStyleId>{5C22544A-7EE6-4342-B048-85BDC9FD1C3A}</a:tableStyleId>
              </a:tblPr>
              <a:tblGrid>
                <a:gridCol w="5157596">
                  <a:extLst>
                    <a:ext uri="{9D8B030D-6E8A-4147-A177-3AD203B41FA5}">
                      <a16:colId xmlns:a16="http://schemas.microsoft.com/office/drawing/2014/main" val="2300840210"/>
                    </a:ext>
                  </a:extLst>
                </a:gridCol>
              </a:tblGrid>
              <a:tr h="885112">
                <a:tc>
                  <a:txBody>
                    <a:bodyPr/>
                    <a:lstStyle/>
                    <a:p>
                      <a:pPr marL="228600" indent="-228600">
                        <a:buClr>
                          <a:schemeClr val="accent1"/>
                        </a:buClr>
                        <a:buFont typeface="+mj-lt"/>
                        <a:buAutoNum type="arabicPeriod"/>
                      </a:pPr>
                      <a:r>
                        <a:rPr lang="en-US" sz="1200" b="0" i="0" u="none" strike="noStrike" kern="1200" noProof="0" dirty="0">
                          <a:solidFill>
                            <a:schemeClr val="tx2"/>
                          </a:solidFill>
                          <a:effectLst/>
                          <a:latin typeface="Arial" pitchFamily="34" charset="0"/>
                          <a:ea typeface="Helvetica Neue" panose="02000503000000020004" pitchFamily="2" charset="0"/>
                          <a:cs typeface="Helvetica Neue" panose="02000503000000020004" pitchFamily="2" charset="0"/>
                        </a:rPr>
                        <a:t>Deliver 2026 financial commitments, execute the strategy, and protect all client relationships by securing renewal of critical contracts, achieving revenue and EBITDA targets and advancing strategic initiatives that position the company for long-term growth</a:t>
                      </a:r>
                    </a:p>
                    <a:p>
                      <a:pPr marL="228600" indent="-228600">
                        <a:buClr>
                          <a:schemeClr val="accent1"/>
                        </a:buClr>
                        <a:buFont typeface="+mj-lt"/>
                        <a:buAutoNum type="arabicPeriod"/>
                      </a:pPr>
                      <a:endParaRPr lang="en-US" sz="1200" b="0" i="0" u="none" strike="noStrike" noProof="0" dirty="0">
                        <a:solidFill>
                          <a:schemeClr val="tx2"/>
                        </a:solidFill>
                        <a:effectLst/>
                        <a:latin typeface="Arial" pitchFamily="34" charset="0"/>
                        <a:ea typeface="Arial"/>
                        <a:cs typeface="Arial"/>
                        <a:sym typeface="Arial" panose="020B0604020202020204" pitchFamily="34" charset="0"/>
                      </a:endParaRPr>
                    </a:p>
                    <a:p>
                      <a:pPr marL="228600" indent="-228600">
                        <a:buClr>
                          <a:schemeClr val="accent1"/>
                        </a:buClr>
                        <a:buFont typeface="+mj-lt"/>
                        <a:buAutoNum type="arabicPeriod"/>
                      </a:pPr>
                      <a:r>
                        <a:rPr lang="en-US" sz="1200" b="0" i="0" u="none" strike="noStrike" noProof="0" dirty="0">
                          <a:solidFill>
                            <a:schemeClr val="tx2"/>
                          </a:solidFill>
                          <a:effectLst/>
                          <a:latin typeface="Arial" pitchFamily="34" charset="0"/>
                          <a:ea typeface="Arial"/>
                          <a:cs typeface="Arial"/>
                          <a:sym typeface="Arial" panose="020B0604020202020204" pitchFamily="34" charset="0"/>
                        </a:rPr>
                        <a:t>Establish execution rhythm with clear accountability by creating performance operating cadence where initiatives have owners, milestones, and consequences</a:t>
                      </a:r>
                    </a:p>
                    <a:p>
                      <a:pPr marL="228600" indent="-228600">
                        <a:buClr>
                          <a:schemeClr val="accent1"/>
                        </a:buClr>
                        <a:buFont typeface="+mj-lt"/>
                        <a:buAutoNum type="arabicPeriod"/>
                      </a:pPr>
                      <a:endParaRPr lang="en-US" sz="1200" b="0" i="0" u="none" strike="noStrike" noProof="0" dirty="0">
                        <a:solidFill>
                          <a:schemeClr val="tx2"/>
                        </a:solidFill>
                        <a:effectLst/>
                        <a:latin typeface="Arial" pitchFamily="34" charset="0"/>
                        <a:ea typeface="Arial"/>
                        <a:cs typeface="Arial"/>
                        <a:sym typeface="Arial" panose="020B0604020202020204" pitchFamily="34" charset="0"/>
                      </a:endParaRPr>
                    </a:p>
                    <a:p>
                      <a:pPr marL="228600" indent="-228600">
                        <a:buClr>
                          <a:schemeClr val="accent1"/>
                        </a:buClr>
                        <a:buFont typeface="+mj-lt"/>
                        <a:buAutoNum type="arabicPeriod"/>
                      </a:pPr>
                      <a:r>
                        <a:rPr lang="en-US" sz="1200" b="0" i="0" u="none" strike="noStrike" noProof="0" dirty="0">
                          <a:solidFill>
                            <a:schemeClr val="tx2"/>
                          </a:solidFill>
                          <a:effectLst/>
                          <a:latin typeface="Arial" pitchFamily="34" charset="0"/>
                          <a:ea typeface="Arial"/>
                          <a:cs typeface="Arial"/>
                          <a:sym typeface="Arial" panose="020B0604020202020204" pitchFamily="34" charset="0"/>
                        </a:rPr>
                        <a:t>Clarify operating model and role accountabilities by defining functional mandates, decision rights, and ownership so everyone knows who is responsible for what and can execute without confusion</a:t>
                      </a:r>
                    </a:p>
                    <a:p>
                      <a:pPr marL="228600" indent="-228600">
                        <a:buClr>
                          <a:schemeClr val="accent1"/>
                        </a:buClr>
                        <a:buFont typeface="+mj-lt"/>
                        <a:buAutoNum type="arabicPeriod"/>
                      </a:pPr>
                      <a:endParaRPr lang="en-US" sz="1200" b="0" i="0" u="none" strike="noStrike" noProof="0" dirty="0">
                        <a:solidFill>
                          <a:schemeClr val="tx2"/>
                        </a:solidFill>
                        <a:effectLst/>
                        <a:latin typeface="Arial" pitchFamily="34" charset="0"/>
                        <a:ea typeface="Arial"/>
                        <a:cs typeface="Arial"/>
                        <a:sym typeface="Arial" panose="020B0604020202020204" pitchFamily="34" charset="0"/>
                      </a:endParaRPr>
                    </a:p>
                    <a:p>
                      <a:pPr marL="228600" indent="-228600">
                        <a:buClr>
                          <a:schemeClr val="accent1"/>
                        </a:buClr>
                        <a:buFont typeface="+mj-lt"/>
                        <a:buAutoNum type="arabicPeriod"/>
                      </a:pPr>
                      <a:r>
                        <a:rPr lang="en-US" sz="1200" b="0" i="0" u="none" strike="noStrike" noProof="0" dirty="0">
                          <a:solidFill>
                            <a:schemeClr val="tx2"/>
                          </a:solidFill>
                          <a:effectLst/>
                          <a:latin typeface="Arial" pitchFamily="34" charset="0"/>
                          <a:ea typeface="Arial"/>
                          <a:cs typeface="Arial"/>
                          <a:sym typeface="Arial" panose="020B0604020202020204" pitchFamily="34" charset="0"/>
                        </a:rPr>
                        <a:t>Build high-performance culture and critical capabilities by embedding values of Trust, Teamwork, and Accountability, attracting talent for priority roles, and developing Emirati professionals for key positions</a:t>
                      </a:r>
                    </a:p>
                  </a:txBody>
                  <a:tcP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440114098"/>
                  </a:ext>
                </a:extLst>
              </a:tr>
            </a:tbl>
          </a:graphicData>
        </a:graphic>
      </p:graphicFrame>
      <p:sp>
        <p:nvSpPr>
          <p:cNvPr id="9" name="Google Shape;57;p3">
            <a:extLst>
              <a:ext uri="{FF2B5EF4-FFF2-40B4-BE49-F238E27FC236}">
                <a16:creationId xmlns:a16="http://schemas.microsoft.com/office/drawing/2014/main" id="{161879D6-5A23-78C9-E637-8C8DE1D2B66B}"/>
              </a:ext>
            </a:extLst>
          </p:cNvPr>
          <p:cNvSpPr/>
          <p:nvPr/>
        </p:nvSpPr>
        <p:spPr>
          <a:xfrm>
            <a:off x="557213" y="1215501"/>
            <a:ext cx="2783451" cy="4620011"/>
          </a:xfrm>
          <a:prstGeom prst="roundRect">
            <a:avLst>
              <a:gd name="adj" fmla="val 5837"/>
            </a:avLst>
          </a:prstGeom>
          <a:solidFill>
            <a:srgbClr val="F2F2F2"/>
          </a:solidFill>
          <a:ln w="9525" cap="flat" cmpd="sng">
            <a:solidFill>
              <a:srgbClr val="281A42"/>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lang="en-US" sz="1200" b="1" u="none" strike="noStrike" kern="0" cap="none" spc="-25" normalizeH="0" baseline="0" noProof="0">
              <a:ln>
                <a:noFill/>
              </a:ln>
              <a:effectLst/>
              <a:uLnTx/>
              <a:uFillTx/>
              <a:latin typeface="Segoe UI" pitchFamily="34" charset="0"/>
              <a:ea typeface="Helvetica Neue" panose="02000503000000020004" pitchFamily="2" charset="0"/>
              <a:cs typeface="Helvetica Neue" panose="02000503000000020004" pitchFamily="2" charset="0"/>
              <a:sym typeface="Lato"/>
            </a:endParaRPr>
          </a:p>
        </p:txBody>
      </p:sp>
      <p:sp>
        <p:nvSpPr>
          <p:cNvPr id="10" name="Google Shape;57;p3">
            <a:extLst>
              <a:ext uri="{FF2B5EF4-FFF2-40B4-BE49-F238E27FC236}">
                <a16:creationId xmlns:a16="http://schemas.microsoft.com/office/drawing/2014/main" id="{9C227BF5-3A3C-0347-E080-24FE8DCC8648}"/>
              </a:ext>
            </a:extLst>
          </p:cNvPr>
          <p:cNvSpPr/>
          <p:nvPr/>
        </p:nvSpPr>
        <p:spPr>
          <a:xfrm>
            <a:off x="9103265" y="1215501"/>
            <a:ext cx="2684898" cy="4620011"/>
          </a:xfrm>
          <a:prstGeom prst="roundRect">
            <a:avLst>
              <a:gd name="adj" fmla="val 5837"/>
            </a:avLst>
          </a:prstGeom>
          <a:solidFill>
            <a:srgbClr val="F2F2F2"/>
          </a:solidFill>
          <a:ln w="9525" cap="flat" cmpd="sng">
            <a:solidFill>
              <a:srgbClr val="281A42"/>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lang="en-US" sz="1200" b="1" u="none" strike="noStrike" kern="0" cap="none" spc="-25" normalizeH="0" baseline="0" noProof="0">
              <a:ln>
                <a:noFill/>
              </a:ln>
              <a:effectLst/>
              <a:uLnTx/>
              <a:uFillTx/>
              <a:latin typeface="Segoe UI" pitchFamily="34" charset="0"/>
              <a:ea typeface="Helvetica Neue" panose="02000503000000020004" pitchFamily="2" charset="0"/>
              <a:cs typeface="Helvetica Neue" panose="02000503000000020004" pitchFamily="2" charset="0"/>
              <a:sym typeface="Lato"/>
            </a:endParaRPr>
          </a:p>
        </p:txBody>
      </p:sp>
      <p:sp>
        <p:nvSpPr>
          <p:cNvPr id="11" name="Google Shape;72;p3">
            <a:extLst>
              <a:ext uri="{FF2B5EF4-FFF2-40B4-BE49-F238E27FC236}">
                <a16:creationId xmlns:a16="http://schemas.microsoft.com/office/drawing/2014/main" id="{ACB7F9BF-B9CD-D9B4-72CB-F49473E3A0A3}"/>
              </a:ext>
            </a:extLst>
          </p:cNvPr>
          <p:cNvSpPr txBox="1"/>
          <p:nvPr/>
        </p:nvSpPr>
        <p:spPr>
          <a:xfrm>
            <a:off x="9275719" y="1318051"/>
            <a:ext cx="2438539"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765FFF"/>
              </a:buClr>
              <a:buSzPts val="2400"/>
              <a:buFontTx/>
              <a:buNone/>
              <a:tabLst/>
              <a:defRPr b="1" spc="-25">
                <a:latin typeface="Segoe UI" pitchFamily="34" charset="0"/>
              </a:defRPr>
            </a:pPr>
            <a:r>
              <a:rPr kumimoji="0" lang="en-US" sz="1200" b="1" u="none" strike="noStrike" kern="0" cap="none" spc="-25" normalizeH="0" baseline="0" noProof="0">
                <a:ln>
                  <a:noFill/>
                </a:ln>
                <a:solidFill>
                  <a:schemeClr val="accent1"/>
                </a:solidFill>
                <a:effectLst/>
                <a:uLnTx/>
                <a:uFillTx/>
                <a:latin typeface="Segoe UI" pitchFamily="34" charset="0"/>
                <a:ea typeface="Helvetica Neue" panose="02000503000000020004" pitchFamily="2" charset="0"/>
                <a:cs typeface="Helvetica Neue" panose="02000503000000020004" pitchFamily="2" charset="0"/>
                <a:sym typeface="Lato"/>
              </a:rPr>
              <a:t>Superpowers</a:t>
            </a:r>
            <a:endParaRPr kumimoji="0" lang="en-US" sz="1200" b="1" u="none" strike="noStrike" kern="0" cap="none" spc="-25" normalizeH="0" baseline="0" noProof="0">
              <a:ln>
                <a:noFill/>
              </a:ln>
              <a:solidFill>
                <a:schemeClr val="accent1"/>
              </a:solidFill>
              <a:effectLst/>
              <a:uLnTx/>
              <a:uFillTx/>
              <a:latin typeface="Segoe UI" pitchFamily="34" charset="0"/>
              <a:ea typeface="Helvetica Neue" panose="02000503000000020004" pitchFamily="2" charset="0"/>
              <a:cs typeface="Helvetica Neue" panose="02000503000000020004" pitchFamily="2" charset="0"/>
              <a:sym typeface="Arial"/>
            </a:endParaRPr>
          </a:p>
        </p:txBody>
      </p:sp>
      <p:sp>
        <p:nvSpPr>
          <p:cNvPr id="12" name="Google Shape;72;p3">
            <a:extLst>
              <a:ext uri="{FF2B5EF4-FFF2-40B4-BE49-F238E27FC236}">
                <a16:creationId xmlns:a16="http://schemas.microsoft.com/office/drawing/2014/main" id="{F546BAFB-081E-8773-19B1-2ABD8339F8FB}"/>
              </a:ext>
            </a:extLst>
          </p:cNvPr>
          <p:cNvSpPr txBox="1"/>
          <p:nvPr/>
        </p:nvSpPr>
        <p:spPr>
          <a:xfrm>
            <a:off x="748529" y="1318051"/>
            <a:ext cx="2724636" cy="243636"/>
          </a:xfrm>
          <a:prstGeom prst="rect">
            <a:avLst/>
          </a:prstGeom>
          <a:noFill/>
          <a:ln>
            <a:noFill/>
          </a:ln>
        </p:spPr>
        <p:txBody>
          <a:bodyPr spcFirstLastPara="1" wrap="square" lIns="22850" tIns="22850" rIns="22850" bIns="22850" anchor="b" anchorCtr="0">
            <a:spAutoFit/>
          </a:bodyPr>
          <a:lstStyle/>
          <a:p>
            <a:pPr marL="12700" marR="0" lvl="0" indent="0" algn="l" defTabSz="914400" rtl="0" eaLnBrk="0" fontAlgn="base" latinLnBrk="0" hangingPunct="0">
              <a:lnSpc>
                <a:spcPct val="100000"/>
              </a:lnSpc>
              <a:spcBef>
                <a:spcPts val="100"/>
              </a:spcBef>
              <a:spcAft>
                <a:spcPct val="0"/>
              </a:spcAft>
              <a:buClrTx/>
              <a:buSzTx/>
              <a:buFontTx/>
              <a:buNone/>
              <a:tabLst/>
              <a:defRPr b="1" spc="-25">
                <a:latin typeface="Segoe UI" pitchFamily="34" charset="0"/>
              </a:defRPr>
            </a:pPr>
            <a:r>
              <a:rPr kumimoji="0" lang="en-US" sz="1200" b="1" u="none" strike="noStrike" kern="1200" cap="none" spc="-25" normalizeH="0" baseline="0" noProof="0" dirty="0">
                <a:ln>
                  <a:noFill/>
                </a:ln>
                <a:solidFill>
                  <a:schemeClr val="accent1"/>
                </a:solidFill>
                <a:effectLst/>
                <a:uLnTx/>
                <a:uFillTx/>
                <a:latin typeface="Segoe UI" pitchFamily="34" charset="0"/>
                <a:ea typeface="Helvetica Neue" panose="02000503000000020004" pitchFamily="2" charset="0"/>
                <a:cs typeface="Helvetica Neue" panose="02000503000000020004" pitchFamily="2" charset="0"/>
                <a:sym typeface="Arial" panose="020B0604020202020204" pitchFamily="34" charset="0"/>
              </a:rPr>
              <a:t>Jobs to Be Done Pivot</a:t>
            </a:r>
          </a:p>
        </p:txBody>
      </p:sp>
      <p:sp>
        <p:nvSpPr>
          <p:cNvPr id="13" name="TextBox 12">
            <a:extLst>
              <a:ext uri="{FF2B5EF4-FFF2-40B4-BE49-F238E27FC236}">
                <a16:creationId xmlns:a16="http://schemas.microsoft.com/office/drawing/2014/main" id="{60772581-6147-1915-86A3-D19C6F94F94F}"/>
              </a:ext>
            </a:extLst>
          </p:cNvPr>
          <p:cNvSpPr txBox="1"/>
          <p:nvPr/>
        </p:nvSpPr>
        <p:spPr>
          <a:xfrm>
            <a:off x="748528" y="1683142"/>
            <a:ext cx="2438539" cy="2585323"/>
          </a:xfrm>
          <a:prstGeom prst="rect">
            <a:avLst/>
          </a:prstGeom>
          <a:noFill/>
        </p:spPr>
        <p:txBody>
          <a:bodyPr wrap="square" lIns="0" tIns="0" rIns="0" bIns="0">
            <a:spAutoFit/>
          </a:bodyPr>
          <a:lstStyle/>
          <a:p>
            <a:pPr marL="171450" marR="0" lvl="0" indent="-171450" algn="l" defTabSz="914400" rtl="0" eaLnBrk="0" fontAlgn="base" latinLnBrk="0" hangingPunct="0">
              <a:lnSpc>
                <a:spcPct val="100000"/>
              </a:lnSpc>
              <a:spcBef>
                <a:spcPct val="0"/>
              </a:spcBef>
              <a:spcAft>
                <a:spcPct val="0"/>
              </a:spcAft>
              <a:buClrTx/>
              <a:buSzTx/>
              <a:buBlip>
                <a:blip r:embed="rId2"/>
              </a:buBlip>
              <a:tabLst/>
              <a:defRPr/>
            </a:pPr>
            <a:r>
              <a:rPr lang="en-US" sz="1200" b="1" spc="-10" dirty="0">
                <a:solidFill>
                  <a:srgbClr val="1D1D1D"/>
                </a:solidFill>
                <a:latin typeface="Segoe UI" pitchFamily="34" charset="0"/>
                <a:ea typeface="Helvetica Neue" panose="02000503000000020004" pitchFamily="2" charset="0"/>
                <a:cs typeface="Helvetica Neue" panose="02000503000000020004" pitchFamily="2" charset="0"/>
                <a:sym typeface="Arial" panose="020B0604020202020204" pitchFamily="34" charset="0"/>
              </a:rPr>
              <a:t>From: </a:t>
            </a:r>
            <a:br>
              <a:rPr kumimoji="0" lang="en-US" sz="1200" b="1" u="none" strike="noStrike" kern="1200" cap="none" spc="-10" normalizeH="0" baseline="0" noProof="0" dirty="0">
                <a:ln>
                  <a:noFill/>
                </a:ln>
                <a:effectLst/>
                <a:uLnTx/>
                <a:uFillTx/>
                <a:latin typeface="Segoe UI" pitchFamily="34" charset="0"/>
                <a:ea typeface="Helvetica Neue" panose="02000503000000020004" pitchFamily="2" charset="0"/>
                <a:cs typeface="Helvetica Neue" panose="02000503000000020004" pitchFamily="2" charset="0"/>
                <a:sym typeface="Arial" panose="020B0604020202020204" pitchFamily="34" charset="0"/>
              </a:rPr>
            </a:br>
            <a:r>
              <a:rPr kumimoji="0" lang="en-US" sz="1200" u="none" strike="noStrike" kern="1200" cap="none" spc="-10" normalizeH="0" baseline="0" noProof="0" dirty="0">
                <a:ln>
                  <a:noFill/>
                </a:ln>
                <a:effectLst/>
                <a:uLnTx/>
                <a:uFillTx/>
                <a:latin typeface="Arial" pitchFamily="34" charset="0"/>
                <a:ea typeface="Helvetica Neue" panose="02000503000000020004" pitchFamily="2" charset="0"/>
                <a:cs typeface="Helvetica Neue" panose="02000503000000020004" pitchFamily="2" charset="0"/>
                <a:sym typeface="Arial" panose="020B0604020202020204" pitchFamily="34" charset="0"/>
              </a:rPr>
              <a:t>Leadership team of functional experts operating in silos and dependent on CEO for direction and client relationships</a:t>
            </a:r>
          </a:p>
          <a:p>
            <a:pPr marL="171450" marR="0" lvl="0" indent="-171450" algn="l" defTabSz="914400" rtl="0" eaLnBrk="0" fontAlgn="base" latinLnBrk="0" hangingPunct="0">
              <a:lnSpc>
                <a:spcPct val="100000"/>
              </a:lnSpc>
              <a:spcBef>
                <a:spcPct val="0"/>
              </a:spcBef>
              <a:spcAft>
                <a:spcPct val="0"/>
              </a:spcAft>
              <a:buClrTx/>
              <a:buSzTx/>
              <a:buBlip>
                <a:blip r:embed="rId2"/>
              </a:buBlip>
              <a:tabLst/>
              <a:defRPr/>
            </a:pPr>
            <a:endParaRPr kumimoji="0" lang="en-US" sz="1200" u="none" strike="noStrike" kern="1200" cap="none" spc="-10" normalizeH="0" baseline="0" noProof="0" dirty="0">
              <a:ln>
                <a:noFill/>
              </a:ln>
              <a:effectLst/>
              <a:uLnTx/>
              <a:uFillTx/>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Blip>
                <a:blip r:embed="rId2"/>
              </a:buBlip>
              <a:tabLst/>
              <a:defRPr/>
            </a:pPr>
            <a:r>
              <a:rPr kumimoji="0" lang="en-US" sz="1200" b="1" u="none" strike="noStrike" kern="1200" cap="none" spc="-10" normalizeH="0" baseline="0" noProof="0" dirty="0">
                <a:ln>
                  <a:noFill/>
                </a:ln>
                <a:effectLst/>
                <a:uLnTx/>
                <a:uFillTx/>
                <a:latin typeface="Segoe UI" pitchFamily="34" charset="0"/>
                <a:ea typeface="Helvetica Neue" panose="02000503000000020004" pitchFamily="2" charset="0"/>
                <a:cs typeface="Helvetica Neue" panose="02000503000000020004" pitchFamily="2" charset="0"/>
                <a:sym typeface="Arial" panose="020B0604020202020204" pitchFamily="34" charset="0"/>
              </a:rPr>
              <a:t>To: </a:t>
            </a:r>
            <a:br>
              <a:rPr kumimoji="0" lang="en-US" sz="1200" b="1" u="none" strike="noStrike" kern="1200" cap="none" spc="-10" normalizeH="0" baseline="0" noProof="0" dirty="0">
                <a:ln>
                  <a:noFill/>
                </a:ln>
                <a:effectLst/>
                <a:uLnTx/>
                <a:uFillTx/>
                <a:latin typeface="Segoe UI" pitchFamily="34" charset="0"/>
                <a:ea typeface="Helvetica Neue" panose="02000503000000020004" pitchFamily="2" charset="0"/>
                <a:cs typeface="Helvetica Neue" panose="02000503000000020004" pitchFamily="2" charset="0"/>
                <a:sym typeface="Arial" panose="020B0604020202020204" pitchFamily="34" charset="0"/>
              </a:rPr>
            </a:br>
            <a:r>
              <a:rPr kumimoji="0" lang="en-US" sz="1200" u="none" strike="noStrike" kern="1200" cap="none" spc="-10" normalizeH="0" baseline="0" noProof="0" dirty="0">
                <a:ln>
                  <a:noFill/>
                </a:ln>
                <a:effectLst/>
                <a:uLnTx/>
                <a:uFillTx/>
                <a:latin typeface="Arial" pitchFamily="34" charset="0"/>
                <a:ea typeface="Helvetica Neue" panose="02000503000000020004" pitchFamily="2" charset="0"/>
                <a:cs typeface="Helvetica Neue" panose="02000503000000020004" pitchFamily="2" charset="0"/>
                <a:sym typeface="Arial" panose="020B0604020202020204" pitchFamily="34" charset="0"/>
              </a:rPr>
              <a:t>Aligned executive team with clear ownership, shared accountability for results, disciplined execution rhythm, and collective responsibility for delivering transformation while protecting the core business</a:t>
            </a:r>
          </a:p>
        </p:txBody>
      </p:sp>
      <p:sp>
        <p:nvSpPr>
          <p:cNvPr id="14" name="TextBox 13">
            <a:extLst>
              <a:ext uri="{FF2B5EF4-FFF2-40B4-BE49-F238E27FC236}">
                <a16:creationId xmlns:a16="http://schemas.microsoft.com/office/drawing/2014/main" id="{76D475B8-ADB1-491A-DF60-B30220E66C48}"/>
              </a:ext>
            </a:extLst>
          </p:cNvPr>
          <p:cNvSpPr txBox="1"/>
          <p:nvPr/>
        </p:nvSpPr>
        <p:spPr>
          <a:xfrm>
            <a:off x="9132438" y="1683142"/>
            <a:ext cx="2512443" cy="3970318"/>
          </a:xfrm>
          <a:prstGeom prst="rect">
            <a:avLst/>
          </a:prstGeom>
          <a:noFill/>
        </p:spPr>
        <p:txBody>
          <a:bodyPr wrap="square" lIns="91440" tIns="45720" rIns="91440" bIns="45720">
            <a:spAutoFit/>
          </a:bodyPr>
          <a:lstStyle/>
          <a:p>
            <a:pPr marL="228600" marR="0" lvl="0" indent="-228600" algn="l" defTabSz="914400" rtl="0" eaLnBrk="0" fontAlgn="base" latinLnBrk="0" hangingPunct="0">
              <a:lnSpc>
                <a:spcPct val="100000"/>
              </a:lnSpc>
              <a:spcBef>
                <a:spcPct val="0"/>
              </a:spcBef>
              <a:spcAft>
                <a:spcPct val="0"/>
              </a:spcAft>
              <a:buClrTx/>
              <a:buSzTx/>
              <a:buBlip>
                <a:blip r:embed="rId2"/>
              </a:buBlip>
              <a:tabLst/>
              <a:defRPr/>
            </a:pPr>
            <a:r>
              <a:rPr kumimoji="0" lang="en-US" sz="1200" b="1" u="none" strike="noStrike" kern="1200" cap="none" spc="-10" normalizeH="0" baseline="0" noProof="0" dirty="0">
                <a:ln>
                  <a:noFill/>
                </a:ln>
                <a:effectLst/>
                <a:uLnTx/>
                <a:uFillTx/>
                <a:latin typeface="Segoe UI" pitchFamily="34" charset="0"/>
                <a:ea typeface="Helvetica Neue" panose="02000503000000020004" pitchFamily="2" charset="0"/>
                <a:cs typeface="Helvetica Neue" panose="02000503000000020004" pitchFamily="2" charset="0"/>
                <a:sym typeface="Arial" panose="020B0604020202020204" pitchFamily="34" charset="0"/>
              </a:rPr>
              <a:t>Collective Accountability &amp; Constructive Challenge:</a:t>
            </a:r>
            <a:r>
              <a:rPr kumimoji="0" lang="en-US" sz="1200" u="none" strike="noStrike" kern="1200" cap="none" spc="-10" normalizeH="0" baseline="0" noProof="0" dirty="0">
                <a:ln>
                  <a:noFill/>
                </a:ln>
                <a:effectLst/>
                <a:uLnTx/>
                <a:uFillTx/>
                <a:latin typeface="Arial" pitchFamily="34" charset="0"/>
                <a:ea typeface="Helvetica Neue" panose="02000503000000020004" pitchFamily="2" charset="0"/>
                <a:cs typeface="Helvetica Neue" panose="02000503000000020004" pitchFamily="2" charset="0"/>
                <a:sym typeface="Arial" panose="020B0604020202020204" pitchFamily="34" charset="0"/>
              </a:rPr>
              <a:t> The ability to hold each other accountable for commitments, call out delays without defensiveness, and demand performance from peer; creating a team where candor is expected and excuses are not accepted</a:t>
            </a:r>
          </a:p>
          <a:p>
            <a:pPr marL="228600" marR="0" lvl="0" indent="-228600" algn="l" defTabSz="914400" rtl="0" eaLnBrk="0" fontAlgn="base" latinLnBrk="0" hangingPunct="0">
              <a:lnSpc>
                <a:spcPct val="100000"/>
              </a:lnSpc>
              <a:spcBef>
                <a:spcPct val="0"/>
              </a:spcBef>
              <a:spcAft>
                <a:spcPct val="0"/>
              </a:spcAft>
              <a:buClrTx/>
              <a:buSzTx/>
              <a:buBlip>
                <a:blip r:embed="rId2"/>
              </a:buBlip>
              <a:tabLst/>
              <a:defRPr/>
            </a:pPr>
            <a:endParaRPr kumimoji="0" lang="en-US" sz="1200" u="none" strike="noStrike" kern="1200" cap="none" spc="-10" normalizeH="0" baseline="0" noProof="0" dirty="0">
              <a:ln>
                <a:noFill/>
              </a:ln>
              <a:effectLst/>
              <a:uLnTx/>
              <a:uFillTx/>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p>
            <a:pPr marL="228600" marR="0" lvl="0" indent="-228600" algn="l" defTabSz="914400" rtl="0" eaLnBrk="0" fontAlgn="base" latinLnBrk="0" hangingPunct="0">
              <a:lnSpc>
                <a:spcPct val="100000"/>
              </a:lnSpc>
              <a:spcBef>
                <a:spcPct val="0"/>
              </a:spcBef>
              <a:spcAft>
                <a:spcPct val="0"/>
              </a:spcAft>
              <a:buClrTx/>
              <a:buSzTx/>
              <a:buBlip>
                <a:blip r:embed="rId2"/>
              </a:buBlip>
              <a:tabLst/>
              <a:defRPr/>
            </a:pPr>
            <a:r>
              <a:rPr kumimoji="0" lang="en-US" sz="1200" b="1" u="none" strike="noStrike" kern="1200" cap="none" spc="-10" normalizeH="0" baseline="0" noProof="0" dirty="0">
                <a:ln>
                  <a:noFill/>
                </a:ln>
                <a:effectLst/>
                <a:uLnTx/>
                <a:uFillTx/>
                <a:latin typeface="Segoe UI" pitchFamily="34" charset="0"/>
                <a:ea typeface="Helvetica Neue" panose="02000503000000020004" pitchFamily="2" charset="0"/>
                <a:cs typeface="Helvetica Neue" panose="02000503000000020004" pitchFamily="2" charset="0"/>
                <a:sym typeface="Arial" panose="020B0604020202020204" pitchFamily="34" charset="0"/>
              </a:rPr>
              <a:t>One-Team Behavior Across Boundaries: </a:t>
            </a:r>
            <a:r>
              <a:rPr kumimoji="0" lang="en-US" sz="1200" u="none" strike="noStrike" kern="1200" cap="none" spc="-10" normalizeH="0" baseline="0" noProof="0" dirty="0">
                <a:ln>
                  <a:noFill/>
                </a:ln>
                <a:effectLst/>
                <a:uLnTx/>
                <a:uFillTx/>
                <a:latin typeface="Arial" pitchFamily="34" charset="0"/>
                <a:ea typeface="Helvetica Neue" panose="02000503000000020004" pitchFamily="2" charset="0"/>
                <a:cs typeface="Helvetica Neue" panose="02000503000000020004" pitchFamily="2" charset="0"/>
                <a:sym typeface="Arial" panose="020B0604020202020204" pitchFamily="34" charset="0"/>
              </a:rPr>
              <a:t>The ability to put enterprise outcomes ahead of functional interests, support each other's success, and operate with transparency; where wins are shared, problems are surfaced early, and no one succeeds unless the team succeeds</a:t>
            </a:r>
          </a:p>
        </p:txBody>
      </p:sp>
      <p:cxnSp>
        <p:nvCxnSpPr>
          <p:cNvPr id="15" name="Straight Connector 14">
            <a:extLst>
              <a:ext uri="{FF2B5EF4-FFF2-40B4-BE49-F238E27FC236}">
                <a16:creationId xmlns:a16="http://schemas.microsoft.com/office/drawing/2014/main" id="{ABA3D4B6-3165-D9A3-7F48-FED0CE63AAD3}"/>
              </a:ext>
            </a:extLst>
          </p:cNvPr>
          <p:cNvCxnSpPr>
            <a:cxnSpLocks/>
          </p:cNvCxnSpPr>
          <p:nvPr/>
        </p:nvCxnSpPr>
        <p:spPr>
          <a:xfrm>
            <a:off x="748528" y="1624063"/>
            <a:ext cx="2438539" cy="0"/>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2AEF2822-B180-5817-D087-B8297FBC2FF7}"/>
              </a:ext>
            </a:extLst>
          </p:cNvPr>
          <p:cNvCxnSpPr>
            <a:cxnSpLocks/>
          </p:cNvCxnSpPr>
          <p:nvPr/>
        </p:nvCxnSpPr>
        <p:spPr>
          <a:xfrm>
            <a:off x="3645621" y="1624063"/>
            <a:ext cx="5157596" cy="0"/>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6C32EA25-9429-F29C-1513-B3A7A8E02A71}"/>
              </a:ext>
            </a:extLst>
          </p:cNvPr>
          <p:cNvCxnSpPr>
            <a:cxnSpLocks/>
          </p:cNvCxnSpPr>
          <p:nvPr/>
        </p:nvCxnSpPr>
        <p:spPr>
          <a:xfrm>
            <a:off x="9206342" y="1624063"/>
            <a:ext cx="2438539" cy="0"/>
          </a:xfrm>
          <a:prstGeom prst="line">
            <a:avLst/>
          </a:prstGeom>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AB8111A6-3E60-B424-2013-A1EA5A05BCF0}"/>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665503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D9A30E4-7CAF-BBE9-263A-FF30FAD7E107}"/>
              </a:ext>
            </a:extLst>
          </p:cNvPr>
          <p:cNvSpPr>
            <a:spLocks noGrp="1"/>
          </p:cNvSpPr>
          <p:nvPr>
            <p:ph type="sldNum" sz="quarter" idx="4"/>
          </p:nvPr>
        </p:nvSpPr>
        <p:spPr/>
        <p:txBody>
          <a:bodyPr/>
          <a:lstStyle/>
          <a:p>
            <a:pPr algn="ctr"/>
            <a:fld id="{1875A764-3B06-454E-8ABA-2F6ED0EB58E9}" type="slidenum">
              <a:rPr lang="en-US" smtClean="0"/>
              <a:t>6</a:t>
            </a:fld>
            <a:endParaRPr lang="en-US"/>
          </a:p>
        </p:txBody>
      </p:sp>
      <p:sp>
        <p:nvSpPr>
          <p:cNvPr id="3" name="Title 2">
            <a:extLst>
              <a:ext uri="{FF2B5EF4-FFF2-40B4-BE49-F238E27FC236}">
                <a16:creationId xmlns:a16="http://schemas.microsoft.com/office/drawing/2014/main" id="{D56D62E1-A114-F349-FCD8-9EBBD619F6A3}"/>
              </a:ext>
            </a:extLst>
          </p:cNvPr>
          <p:cNvSpPr>
            <a:spLocks noGrp="1"/>
          </p:cNvSpPr>
          <p:nvPr>
            <p:ph type="title"/>
          </p:nvPr>
        </p:nvSpPr>
        <p:spPr/>
        <p:txBody>
          <a:bodyPr/>
          <a:lstStyle/>
          <a:p>
            <a:r>
              <a:rPr lang="en-US" dirty="0"/>
              <a:t>Energy spent versus energy required</a:t>
            </a:r>
          </a:p>
        </p:txBody>
      </p:sp>
      <p:grpSp>
        <p:nvGrpSpPr>
          <p:cNvPr id="4" name="object 4">
            <a:extLst>
              <a:ext uri="{FF2B5EF4-FFF2-40B4-BE49-F238E27FC236}">
                <a16:creationId xmlns:a16="http://schemas.microsoft.com/office/drawing/2014/main" id="{AB1DAD11-B666-D44E-94F2-9BE47B3D1F56}"/>
              </a:ext>
            </a:extLst>
          </p:cNvPr>
          <p:cNvGrpSpPr/>
          <p:nvPr/>
        </p:nvGrpSpPr>
        <p:grpSpPr>
          <a:xfrm>
            <a:off x="885463" y="1511416"/>
            <a:ext cx="10601325" cy="4361180"/>
            <a:chOff x="885463" y="1511416"/>
            <a:chExt cx="10601325" cy="4361180"/>
          </a:xfrm>
        </p:grpSpPr>
        <p:sp>
          <p:nvSpPr>
            <p:cNvPr id="5" name="object 5">
              <a:extLst>
                <a:ext uri="{FF2B5EF4-FFF2-40B4-BE49-F238E27FC236}">
                  <a16:creationId xmlns:a16="http://schemas.microsoft.com/office/drawing/2014/main" id="{510D32DB-905B-FD1C-4E37-CFE4E013A46E}"/>
                </a:ext>
              </a:extLst>
            </p:cNvPr>
            <p:cNvSpPr/>
            <p:nvPr/>
          </p:nvSpPr>
          <p:spPr>
            <a:xfrm>
              <a:off x="888944" y="1511416"/>
              <a:ext cx="2743200" cy="4361180"/>
            </a:xfrm>
            <a:custGeom>
              <a:avLst/>
              <a:gdLst/>
              <a:ahLst/>
              <a:cxnLst/>
              <a:rect l="l" t="t" r="r" b="b"/>
              <a:pathLst>
                <a:path w="2743200" h="4361180">
                  <a:moveTo>
                    <a:pt x="2633225" y="4360871"/>
                  </a:moveTo>
                  <a:lnTo>
                    <a:pt x="109974" y="4360871"/>
                  </a:lnTo>
                  <a:lnTo>
                    <a:pt x="67167" y="4352229"/>
                  </a:lnTo>
                  <a:lnTo>
                    <a:pt x="32210" y="4328661"/>
                  </a:lnTo>
                  <a:lnTo>
                    <a:pt x="8642" y="4293704"/>
                  </a:lnTo>
                  <a:lnTo>
                    <a:pt x="0" y="4250896"/>
                  </a:lnTo>
                  <a:lnTo>
                    <a:pt x="0" y="109974"/>
                  </a:lnTo>
                  <a:lnTo>
                    <a:pt x="8642" y="67167"/>
                  </a:lnTo>
                  <a:lnTo>
                    <a:pt x="32210" y="32210"/>
                  </a:lnTo>
                  <a:lnTo>
                    <a:pt x="67167" y="8642"/>
                  </a:lnTo>
                  <a:lnTo>
                    <a:pt x="109974" y="0"/>
                  </a:lnTo>
                  <a:lnTo>
                    <a:pt x="2633225" y="0"/>
                  </a:lnTo>
                  <a:lnTo>
                    <a:pt x="2675310" y="8371"/>
                  </a:lnTo>
                  <a:lnTo>
                    <a:pt x="2710989" y="32210"/>
                  </a:lnTo>
                  <a:lnTo>
                    <a:pt x="2734828" y="67889"/>
                  </a:lnTo>
                  <a:lnTo>
                    <a:pt x="2743200" y="109974"/>
                  </a:lnTo>
                  <a:lnTo>
                    <a:pt x="2743200" y="4250896"/>
                  </a:lnTo>
                  <a:lnTo>
                    <a:pt x="2734557" y="4293704"/>
                  </a:lnTo>
                  <a:lnTo>
                    <a:pt x="2710989" y="4328661"/>
                  </a:lnTo>
                  <a:lnTo>
                    <a:pt x="2676032" y="4352229"/>
                  </a:lnTo>
                  <a:lnTo>
                    <a:pt x="2633225" y="4360871"/>
                  </a:lnTo>
                  <a:close/>
                </a:path>
              </a:pathLst>
            </a:custGeom>
            <a:solidFill>
              <a:srgbClr val="281A4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a:extLst>
                <a:ext uri="{FF2B5EF4-FFF2-40B4-BE49-F238E27FC236}">
                  <a16:creationId xmlns:a16="http://schemas.microsoft.com/office/drawing/2014/main" id="{2938569B-A455-3BA3-CBEC-C0E6C4C1C7A5}"/>
                </a:ext>
              </a:extLst>
            </p:cNvPr>
            <p:cNvSpPr/>
            <p:nvPr/>
          </p:nvSpPr>
          <p:spPr>
            <a:xfrm>
              <a:off x="3617086" y="1511416"/>
              <a:ext cx="7869555" cy="4361180"/>
            </a:xfrm>
            <a:custGeom>
              <a:avLst/>
              <a:gdLst/>
              <a:ahLst/>
              <a:cxnLst/>
              <a:rect l="l" t="t" r="r" b="b"/>
              <a:pathLst>
                <a:path w="7869555" h="4361180">
                  <a:moveTo>
                    <a:pt x="7694373" y="4360871"/>
                  </a:moveTo>
                  <a:lnTo>
                    <a:pt x="174827" y="4360871"/>
                  </a:lnTo>
                  <a:lnTo>
                    <a:pt x="128351" y="4354626"/>
                  </a:lnTo>
                  <a:lnTo>
                    <a:pt x="86588" y="4337002"/>
                  </a:lnTo>
                  <a:lnTo>
                    <a:pt x="51205" y="4309666"/>
                  </a:lnTo>
                  <a:lnTo>
                    <a:pt x="23869" y="4274283"/>
                  </a:lnTo>
                  <a:lnTo>
                    <a:pt x="6244" y="4232520"/>
                  </a:lnTo>
                  <a:lnTo>
                    <a:pt x="0" y="4186044"/>
                  </a:lnTo>
                  <a:lnTo>
                    <a:pt x="0" y="174827"/>
                  </a:lnTo>
                  <a:lnTo>
                    <a:pt x="6244" y="128351"/>
                  </a:lnTo>
                  <a:lnTo>
                    <a:pt x="23869" y="86588"/>
                  </a:lnTo>
                  <a:lnTo>
                    <a:pt x="51205" y="51205"/>
                  </a:lnTo>
                  <a:lnTo>
                    <a:pt x="86588" y="23869"/>
                  </a:lnTo>
                  <a:lnTo>
                    <a:pt x="128351" y="6244"/>
                  </a:lnTo>
                  <a:lnTo>
                    <a:pt x="174827" y="0"/>
                  </a:lnTo>
                  <a:lnTo>
                    <a:pt x="7694373" y="0"/>
                  </a:lnTo>
                  <a:lnTo>
                    <a:pt x="7761277" y="13307"/>
                  </a:lnTo>
                  <a:lnTo>
                    <a:pt x="7817994" y="51205"/>
                  </a:lnTo>
                  <a:lnTo>
                    <a:pt x="7855893" y="107923"/>
                  </a:lnTo>
                  <a:lnTo>
                    <a:pt x="7869201" y="174827"/>
                  </a:lnTo>
                  <a:lnTo>
                    <a:pt x="7869201" y="4186044"/>
                  </a:lnTo>
                  <a:lnTo>
                    <a:pt x="7862956" y="4232520"/>
                  </a:lnTo>
                  <a:lnTo>
                    <a:pt x="7845332" y="4274283"/>
                  </a:lnTo>
                  <a:lnTo>
                    <a:pt x="7817995" y="4309666"/>
                  </a:lnTo>
                  <a:lnTo>
                    <a:pt x="7782612" y="4337002"/>
                  </a:lnTo>
                  <a:lnTo>
                    <a:pt x="7740849" y="4354626"/>
                  </a:lnTo>
                  <a:lnTo>
                    <a:pt x="7694373" y="4360871"/>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1D1D1D"/>
                </a:solidFill>
                <a:effectLst/>
                <a:uLnTx/>
                <a:uFillTx/>
              </a:endParaRPr>
            </a:p>
          </p:txBody>
        </p:sp>
        <p:sp>
          <p:nvSpPr>
            <p:cNvPr id="7" name="object 7">
              <a:extLst>
                <a:ext uri="{FF2B5EF4-FFF2-40B4-BE49-F238E27FC236}">
                  <a16:creationId xmlns:a16="http://schemas.microsoft.com/office/drawing/2014/main" id="{F9F1F700-47FB-0749-17A5-C2BF16E46A89}"/>
                </a:ext>
              </a:extLst>
            </p:cNvPr>
            <p:cNvSpPr/>
            <p:nvPr/>
          </p:nvSpPr>
          <p:spPr>
            <a:xfrm>
              <a:off x="885463" y="1604837"/>
              <a:ext cx="2748280" cy="826135"/>
            </a:xfrm>
            <a:custGeom>
              <a:avLst/>
              <a:gdLst/>
              <a:ahLst/>
              <a:cxnLst/>
              <a:rect l="l" t="t" r="r" b="b"/>
              <a:pathLst>
                <a:path w="2748279" h="826135">
                  <a:moveTo>
                    <a:pt x="2747824" y="825549"/>
                  </a:moveTo>
                  <a:lnTo>
                    <a:pt x="0" y="825549"/>
                  </a:lnTo>
                  <a:lnTo>
                    <a:pt x="0" y="0"/>
                  </a:lnTo>
                  <a:lnTo>
                    <a:pt x="2747824" y="0"/>
                  </a:lnTo>
                  <a:lnTo>
                    <a:pt x="2747824" y="825549"/>
                  </a:lnTo>
                  <a:close/>
                </a:path>
              </a:pathLst>
            </a:custGeom>
            <a:solidFill>
              <a:srgbClr val="281A4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8">
              <a:extLst>
                <a:ext uri="{FF2B5EF4-FFF2-40B4-BE49-F238E27FC236}">
                  <a16:creationId xmlns:a16="http://schemas.microsoft.com/office/drawing/2014/main" id="{395B24BA-EA26-34CF-ECE1-38DD3A0F6322}"/>
                </a:ext>
              </a:extLst>
            </p:cNvPr>
            <p:cNvSpPr/>
            <p:nvPr/>
          </p:nvSpPr>
          <p:spPr>
            <a:xfrm>
              <a:off x="3633279" y="2430398"/>
              <a:ext cx="7853045" cy="788670"/>
            </a:xfrm>
            <a:custGeom>
              <a:avLst/>
              <a:gdLst/>
              <a:ahLst/>
              <a:cxnLst/>
              <a:rect l="l" t="t" r="r" b="b"/>
              <a:pathLst>
                <a:path w="7853045" h="788669">
                  <a:moveTo>
                    <a:pt x="7853007" y="0"/>
                  </a:moveTo>
                  <a:lnTo>
                    <a:pt x="3806901" y="0"/>
                  </a:lnTo>
                  <a:lnTo>
                    <a:pt x="524281" y="0"/>
                  </a:lnTo>
                  <a:lnTo>
                    <a:pt x="0" y="0"/>
                  </a:lnTo>
                  <a:lnTo>
                    <a:pt x="0" y="788073"/>
                  </a:lnTo>
                  <a:lnTo>
                    <a:pt x="524281" y="788073"/>
                  </a:lnTo>
                  <a:lnTo>
                    <a:pt x="3806901" y="788073"/>
                  </a:lnTo>
                  <a:lnTo>
                    <a:pt x="7853007" y="788073"/>
                  </a:lnTo>
                  <a:lnTo>
                    <a:pt x="7853007" y="0"/>
                  </a:lnTo>
                  <a:close/>
                </a:path>
              </a:pathLst>
            </a:custGeom>
            <a:solidFill>
              <a:srgbClr val="F2F2F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1D1D1D"/>
                </a:solidFill>
                <a:effectLst/>
                <a:uLnTx/>
                <a:uFillTx/>
              </a:endParaRPr>
            </a:p>
          </p:txBody>
        </p:sp>
        <p:sp>
          <p:nvSpPr>
            <p:cNvPr id="9" name="object 9">
              <a:extLst>
                <a:ext uri="{FF2B5EF4-FFF2-40B4-BE49-F238E27FC236}">
                  <a16:creationId xmlns:a16="http://schemas.microsoft.com/office/drawing/2014/main" id="{2AC108F7-BF2A-ABBA-9E89-E718FF763F67}"/>
                </a:ext>
              </a:extLst>
            </p:cNvPr>
            <p:cNvSpPr/>
            <p:nvPr/>
          </p:nvSpPr>
          <p:spPr>
            <a:xfrm>
              <a:off x="885463" y="3218462"/>
              <a:ext cx="2748280" cy="836294"/>
            </a:xfrm>
            <a:custGeom>
              <a:avLst/>
              <a:gdLst/>
              <a:ahLst/>
              <a:cxnLst/>
              <a:rect l="l" t="t" r="r" b="b"/>
              <a:pathLst>
                <a:path w="2748279" h="836295">
                  <a:moveTo>
                    <a:pt x="2747824" y="836199"/>
                  </a:moveTo>
                  <a:lnTo>
                    <a:pt x="0" y="836199"/>
                  </a:lnTo>
                  <a:lnTo>
                    <a:pt x="0" y="0"/>
                  </a:lnTo>
                  <a:lnTo>
                    <a:pt x="2747824" y="0"/>
                  </a:lnTo>
                  <a:lnTo>
                    <a:pt x="2747824" y="836199"/>
                  </a:lnTo>
                  <a:close/>
                </a:path>
              </a:pathLst>
            </a:custGeom>
            <a:solidFill>
              <a:srgbClr val="281A4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sz="1800" b="0" i="0" u="none" strike="noStrike" kern="0" cap="none" spc="0" normalizeH="0" baseline="0" noProof="0">
                <a:ln>
                  <a:noFill/>
                </a:ln>
                <a:solidFill>
                  <a:sysClr val="windowText" lastClr="000000"/>
                </a:solidFill>
                <a:effectLst/>
                <a:uLnTx/>
                <a:uFillTx/>
              </a:endParaRPr>
            </a:p>
          </p:txBody>
        </p:sp>
        <p:sp>
          <p:nvSpPr>
            <p:cNvPr id="10" name="object 10">
              <a:extLst>
                <a:ext uri="{FF2B5EF4-FFF2-40B4-BE49-F238E27FC236}">
                  <a16:creationId xmlns:a16="http://schemas.microsoft.com/office/drawing/2014/main" id="{18FA4CCF-13DB-E860-3EC1-0D62B7118FCF}"/>
                </a:ext>
              </a:extLst>
            </p:cNvPr>
            <p:cNvSpPr/>
            <p:nvPr/>
          </p:nvSpPr>
          <p:spPr>
            <a:xfrm>
              <a:off x="3633279" y="3218471"/>
              <a:ext cx="7853045" cy="836294"/>
            </a:xfrm>
            <a:custGeom>
              <a:avLst/>
              <a:gdLst/>
              <a:ahLst/>
              <a:cxnLst/>
              <a:rect l="l" t="t" r="r" b="b"/>
              <a:pathLst>
                <a:path w="7853045" h="836295">
                  <a:moveTo>
                    <a:pt x="7853007" y="0"/>
                  </a:moveTo>
                  <a:lnTo>
                    <a:pt x="3806901" y="0"/>
                  </a:lnTo>
                  <a:lnTo>
                    <a:pt x="524281" y="0"/>
                  </a:lnTo>
                  <a:lnTo>
                    <a:pt x="0" y="0"/>
                  </a:lnTo>
                  <a:lnTo>
                    <a:pt x="0" y="836193"/>
                  </a:lnTo>
                  <a:lnTo>
                    <a:pt x="524281" y="836193"/>
                  </a:lnTo>
                  <a:lnTo>
                    <a:pt x="3806901" y="836193"/>
                  </a:lnTo>
                  <a:lnTo>
                    <a:pt x="7853007" y="836193"/>
                  </a:lnTo>
                  <a:lnTo>
                    <a:pt x="7853007"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1D1D1D"/>
                </a:solidFill>
                <a:effectLst/>
                <a:uLnTx/>
                <a:uFillTx/>
              </a:endParaRPr>
            </a:p>
          </p:txBody>
        </p:sp>
        <p:sp>
          <p:nvSpPr>
            <p:cNvPr id="11" name="object 11">
              <a:extLst>
                <a:ext uri="{FF2B5EF4-FFF2-40B4-BE49-F238E27FC236}">
                  <a16:creationId xmlns:a16="http://schemas.microsoft.com/office/drawing/2014/main" id="{56EECE62-4421-227E-F012-9BD265A58136}"/>
                </a:ext>
              </a:extLst>
            </p:cNvPr>
            <p:cNvSpPr/>
            <p:nvPr/>
          </p:nvSpPr>
          <p:spPr>
            <a:xfrm>
              <a:off x="3633279" y="4054665"/>
              <a:ext cx="7853045" cy="794385"/>
            </a:xfrm>
            <a:custGeom>
              <a:avLst/>
              <a:gdLst/>
              <a:ahLst/>
              <a:cxnLst/>
              <a:rect l="l" t="t" r="r" b="b"/>
              <a:pathLst>
                <a:path w="7853045" h="794385">
                  <a:moveTo>
                    <a:pt x="7853007" y="0"/>
                  </a:moveTo>
                  <a:lnTo>
                    <a:pt x="3806901" y="0"/>
                  </a:lnTo>
                  <a:lnTo>
                    <a:pt x="524281" y="0"/>
                  </a:lnTo>
                  <a:lnTo>
                    <a:pt x="0" y="0"/>
                  </a:lnTo>
                  <a:lnTo>
                    <a:pt x="0" y="794080"/>
                  </a:lnTo>
                  <a:lnTo>
                    <a:pt x="524281" y="794080"/>
                  </a:lnTo>
                  <a:lnTo>
                    <a:pt x="3806901" y="794080"/>
                  </a:lnTo>
                  <a:lnTo>
                    <a:pt x="7853007" y="794080"/>
                  </a:lnTo>
                  <a:lnTo>
                    <a:pt x="7853007" y="0"/>
                  </a:lnTo>
                  <a:close/>
                </a:path>
              </a:pathLst>
            </a:custGeom>
            <a:solidFill>
              <a:srgbClr val="F2F2F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1D1D1D"/>
                </a:solidFill>
                <a:effectLst/>
                <a:uLnTx/>
                <a:uFillTx/>
              </a:endParaRPr>
            </a:p>
          </p:txBody>
        </p:sp>
        <p:sp>
          <p:nvSpPr>
            <p:cNvPr id="12" name="object 12">
              <a:extLst>
                <a:ext uri="{FF2B5EF4-FFF2-40B4-BE49-F238E27FC236}">
                  <a16:creationId xmlns:a16="http://schemas.microsoft.com/office/drawing/2014/main" id="{56CF0737-CDB7-91A1-E135-85C92DAC1144}"/>
                </a:ext>
              </a:extLst>
            </p:cNvPr>
            <p:cNvSpPr/>
            <p:nvPr/>
          </p:nvSpPr>
          <p:spPr>
            <a:xfrm>
              <a:off x="885463" y="4848738"/>
              <a:ext cx="2748280" cy="930275"/>
            </a:xfrm>
            <a:custGeom>
              <a:avLst/>
              <a:gdLst/>
              <a:ahLst/>
              <a:cxnLst/>
              <a:rect l="l" t="t" r="r" b="b"/>
              <a:pathLst>
                <a:path w="2748279" h="930275">
                  <a:moveTo>
                    <a:pt x="2747824" y="930149"/>
                  </a:moveTo>
                  <a:lnTo>
                    <a:pt x="0" y="930149"/>
                  </a:lnTo>
                  <a:lnTo>
                    <a:pt x="0" y="0"/>
                  </a:lnTo>
                  <a:lnTo>
                    <a:pt x="2747824" y="0"/>
                  </a:lnTo>
                  <a:lnTo>
                    <a:pt x="2747824" y="930149"/>
                  </a:lnTo>
                  <a:close/>
                </a:path>
              </a:pathLst>
            </a:custGeom>
            <a:solidFill>
              <a:srgbClr val="281A4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sz="1800" b="0" i="0" u="none" strike="noStrike" kern="0" cap="none" spc="0" normalizeH="0" baseline="0" noProof="0">
                <a:ln>
                  <a:noFill/>
                </a:ln>
                <a:solidFill>
                  <a:sysClr val="windowText" lastClr="000000"/>
                </a:solidFill>
                <a:effectLst/>
                <a:uLnTx/>
                <a:uFillTx/>
              </a:endParaRPr>
            </a:p>
          </p:txBody>
        </p:sp>
      </p:grpSp>
      <p:sp>
        <p:nvSpPr>
          <p:cNvPr id="13" name="object 15">
            <a:extLst>
              <a:ext uri="{FF2B5EF4-FFF2-40B4-BE49-F238E27FC236}">
                <a16:creationId xmlns:a16="http://schemas.microsoft.com/office/drawing/2014/main" id="{7E81D939-26DD-C337-7F20-470D7E8AB77A}"/>
              </a:ext>
            </a:extLst>
          </p:cNvPr>
          <p:cNvSpPr txBox="1"/>
          <p:nvPr/>
        </p:nvSpPr>
        <p:spPr>
          <a:xfrm>
            <a:off x="1082313" y="1874865"/>
            <a:ext cx="2018030" cy="26924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600" b="1" i="0" u="none" strike="noStrike" kern="0" cap="none" spc="-10" normalizeH="0" baseline="0" noProof="0" dirty="0">
                <a:ln>
                  <a:noFill/>
                </a:ln>
                <a:solidFill>
                  <a:srgbClr val="FFFFFF"/>
                </a:solidFill>
                <a:effectLst/>
                <a:uLnTx/>
                <a:uFillTx/>
                <a:latin typeface="Segoe UI" pitchFamily="34" charset="0"/>
                <a:cs typeface="Helvetica Neue"/>
              </a:rPr>
              <a:t>Everything vs. Focus</a:t>
            </a:r>
            <a:endParaRPr kumimoji="0" sz="1600" b="0" i="0" u="none" strike="noStrike" kern="0" cap="none" spc="-10" normalizeH="0" baseline="0" noProof="0" dirty="0">
              <a:ln>
                <a:noFill/>
              </a:ln>
              <a:solidFill>
                <a:sysClr val="windowText" lastClr="000000"/>
              </a:solidFill>
              <a:effectLst/>
              <a:uLnTx/>
              <a:uFillTx/>
              <a:latin typeface="Arial" pitchFamily="34" charset="0"/>
              <a:cs typeface="Helvetica Neue"/>
            </a:endParaRPr>
          </a:p>
        </p:txBody>
      </p:sp>
      <p:sp>
        <p:nvSpPr>
          <p:cNvPr id="14" name="object 16">
            <a:extLst>
              <a:ext uri="{FF2B5EF4-FFF2-40B4-BE49-F238E27FC236}">
                <a16:creationId xmlns:a16="http://schemas.microsoft.com/office/drawing/2014/main" id="{FB949EAD-C82E-C000-2328-0AC7BD8057ED}"/>
              </a:ext>
            </a:extLst>
          </p:cNvPr>
          <p:cNvSpPr txBox="1"/>
          <p:nvPr/>
        </p:nvSpPr>
        <p:spPr>
          <a:xfrm>
            <a:off x="4373463" y="1815936"/>
            <a:ext cx="2115185" cy="391160"/>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10" normalizeH="0" baseline="0" noProof="0" dirty="0">
                <a:ln>
                  <a:noFill/>
                </a:ln>
                <a:solidFill>
                  <a:srgbClr val="281A42"/>
                </a:solidFill>
                <a:effectLst/>
                <a:uLnTx/>
                <a:uFillTx/>
                <a:latin typeface="Arial" pitchFamily="34" charset="0"/>
                <a:cs typeface="Helvetica Neue"/>
              </a:rPr>
              <a:t>14 initiatives, chasing every opportunity</a:t>
            </a:r>
            <a:endParaRPr kumimoji="0" sz="1200" b="0" i="0" u="none" strike="noStrike" kern="0" cap="none" spc="-10" normalizeH="0" baseline="0" noProof="0" dirty="0">
              <a:ln>
                <a:noFill/>
              </a:ln>
              <a:solidFill>
                <a:sysClr val="windowText" lastClr="000000"/>
              </a:solidFill>
              <a:effectLst/>
              <a:uLnTx/>
              <a:uFillTx/>
              <a:latin typeface="Arial" pitchFamily="34" charset="0"/>
              <a:cs typeface="Helvetica Neue"/>
            </a:endParaRPr>
          </a:p>
        </p:txBody>
      </p:sp>
      <p:sp>
        <p:nvSpPr>
          <p:cNvPr id="15" name="object 17">
            <a:extLst>
              <a:ext uri="{FF2B5EF4-FFF2-40B4-BE49-F238E27FC236}">
                <a16:creationId xmlns:a16="http://schemas.microsoft.com/office/drawing/2014/main" id="{78AED2CB-6F4C-5D13-1516-732792B5BFDB}"/>
              </a:ext>
            </a:extLst>
          </p:cNvPr>
          <p:cNvSpPr txBox="1"/>
          <p:nvPr/>
        </p:nvSpPr>
        <p:spPr>
          <a:xfrm>
            <a:off x="7656088" y="1907376"/>
            <a:ext cx="2508885" cy="208279"/>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10" normalizeH="0" baseline="0" noProof="0" dirty="0">
                <a:ln>
                  <a:noFill/>
                </a:ln>
                <a:solidFill>
                  <a:srgbClr val="281A42"/>
                </a:solidFill>
                <a:effectLst/>
                <a:uLnTx/>
                <a:uFillTx/>
                <a:latin typeface="Arial" pitchFamily="34" charset="0"/>
                <a:cs typeface="Helvetica Neue"/>
              </a:rPr>
              <a:t>3 priorities that bend the value curve</a:t>
            </a:r>
            <a:endParaRPr kumimoji="0" sz="1200" b="0" i="0" u="none" strike="noStrike" kern="0" cap="none" spc="-10" normalizeH="0" baseline="0" noProof="0">
              <a:ln>
                <a:noFill/>
              </a:ln>
              <a:solidFill>
                <a:sysClr val="windowText" lastClr="000000"/>
              </a:solidFill>
              <a:effectLst/>
              <a:uLnTx/>
              <a:uFillTx/>
              <a:latin typeface="Arial" pitchFamily="34" charset="0"/>
              <a:cs typeface="Helvetica Neue"/>
            </a:endParaRPr>
          </a:p>
        </p:txBody>
      </p:sp>
      <p:sp>
        <p:nvSpPr>
          <p:cNvPr id="16" name="object 18">
            <a:extLst>
              <a:ext uri="{FF2B5EF4-FFF2-40B4-BE49-F238E27FC236}">
                <a16:creationId xmlns:a16="http://schemas.microsoft.com/office/drawing/2014/main" id="{78DFC2DA-3780-F5BA-4166-1B03F85BEC5E}"/>
              </a:ext>
            </a:extLst>
          </p:cNvPr>
          <p:cNvSpPr txBox="1"/>
          <p:nvPr/>
        </p:nvSpPr>
        <p:spPr>
          <a:xfrm>
            <a:off x="885463" y="2430388"/>
            <a:ext cx="2748280" cy="788670"/>
          </a:xfrm>
          <a:prstGeom prst="rect">
            <a:avLst/>
          </a:prstGeom>
          <a:solidFill>
            <a:schemeClr val="accent3"/>
          </a:solidFill>
        </p:spPr>
        <p:txBody>
          <a:bodyPr vert="horz" wrap="square" lIns="0" tIns="29845" rIns="0" bIns="0" rtlCol="0">
            <a:spAutoFit/>
          </a:bodyPr>
          <a:lstStyle/>
          <a:p>
            <a:pPr marL="0" marR="0" lvl="0" indent="0" defTabSz="914400" eaLnBrk="1" fontAlgn="auto" latinLnBrk="0" hangingPunct="1">
              <a:lnSpc>
                <a:spcPct val="100000"/>
              </a:lnSpc>
              <a:spcBef>
                <a:spcPts val="235"/>
              </a:spcBef>
              <a:spcAft>
                <a:spcPts val="0"/>
              </a:spcAft>
              <a:buClrTx/>
              <a:buSzTx/>
              <a:buFontTx/>
              <a:buNone/>
              <a:tabLst/>
              <a:defRPr/>
            </a:pPr>
            <a:endParaRPr kumimoji="0" sz="1600" b="0" i="0" u="none" strike="noStrike" kern="0" cap="none" spc="-10" normalizeH="0" baseline="0" noProof="0" dirty="0">
              <a:ln>
                <a:noFill/>
              </a:ln>
              <a:solidFill>
                <a:srgbClr val="1D1D1D"/>
              </a:solidFill>
              <a:effectLst/>
              <a:uLnTx/>
              <a:uFillTx/>
              <a:latin typeface="Arial" pitchFamily="34" charset="0"/>
              <a:cs typeface="Times New Roman"/>
            </a:endParaRPr>
          </a:p>
          <a:p>
            <a:pPr marL="209550" marR="0" lvl="0" indent="0" defTabSz="914400" eaLnBrk="1" fontAlgn="auto" latinLnBrk="0" hangingPunct="1">
              <a:lnSpc>
                <a:spcPct val="100000"/>
              </a:lnSpc>
              <a:spcBef>
                <a:spcPts val="0"/>
              </a:spcBef>
              <a:spcAft>
                <a:spcPts val="0"/>
              </a:spcAft>
              <a:buClrTx/>
              <a:buSzTx/>
              <a:buFontTx/>
              <a:buNone/>
              <a:tabLst/>
              <a:defRPr/>
            </a:pPr>
            <a:r>
              <a:rPr kumimoji="0" sz="1600" b="1" i="0" u="none" strike="noStrike" kern="0" cap="none" spc="-10" normalizeH="0" baseline="0" noProof="0" dirty="0">
                <a:ln>
                  <a:noFill/>
                </a:ln>
                <a:solidFill>
                  <a:srgbClr val="1D1D1D"/>
                </a:solidFill>
                <a:effectLst/>
                <a:uLnTx/>
                <a:uFillTx/>
                <a:latin typeface="Segoe UI" pitchFamily="34" charset="0"/>
                <a:cs typeface="Helvetica Neue"/>
              </a:rPr>
              <a:t>Past vs. Future</a:t>
            </a:r>
            <a:endParaRPr kumimoji="0" sz="1600" b="0" i="0" u="none" strike="noStrike" kern="0" cap="none" spc="-10" normalizeH="0" baseline="0" noProof="0" dirty="0">
              <a:ln>
                <a:noFill/>
              </a:ln>
              <a:solidFill>
                <a:srgbClr val="1D1D1D"/>
              </a:solidFill>
              <a:effectLst/>
              <a:uLnTx/>
              <a:uFillTx/>
              <a:latin typeface="Arial" pitchFamily="34" charset="0"/>
              <a:cs typeface="Helvetica Neue"/>
            </a:endParaRPr>
          </a:p>
        </p:txBody>
      </p:sp>
      <p:sp>
        <p:nvSpPr>
          <p:cNvPr id="17" name="object 19">
            <a:extLst>
              <a:ext uri="{FF2B5EF4-FFF2-40B4-BE49-F238E27FC236}">
                <a16:creationId xmlns:a16="http://schemas.microsoft.com/office/drawing/2014/main" id="{07E6EEBB-D812-5871-7A41-DD36620D8665}"/>
              </a:ext>
            </a:extLst>
          </p:cNvPr>
          <p:cNvSpPr txBox="1"/>
          <p:nvPr/>
        </p:nvSpPr>
        <p:spPr>
          <a:xfrm>
            <a:off x="4386163" y="2714189"/>
            <a:ext cx="2025014" cy="382156"/>
          </a:xfrm>
          <a:prstGeom prst="rect">
            <a:avLst/>
          </a:prstGeom>
        </p:spPr>
        <p:txBody>
          <a:bodyPr vert="horz" wrap="square" lIns="0" tIns="12700" rIns="0" bIns="0" rtlCol="0">
            <a:spAutoFit/>
          </a:bodyPr>
          <a:lstStyle/>
          <a:p>
            <a:pPr marL="0" marR="0" lvl="0" indent="0"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10" normalizeH="0" baseline="0" noProof="0" dirty="0">
                <a:ln>
                  <a:noFill/>
                </a:ln>
                <a:solidFill>
                  <a:srgbClr val="281A42"/>
                </a:solidFill>
                <a:effectLst/>
                <a:uLnTx/>
                <a:uFillTx/>
                <a:latin typeface="Arial" pitchFamily="34" charset="0"/>
                <a:cs typeface="Helvetica Neue"/>
              </a:rPr>
              <a:t>Explaining inherited problems</a:t>
            </a:r>
            <a:r>
              <a:rPr kumimoji="0" lang="en-US" sz="1200" b="0" i="0" u="none" strike="noStrike" kern="0" cap="none" spc="-10" normalizeH="0" baseline="0" noProof="0" dirty="0">
                <a:ln>
                  <a:noFill/>
                </a:ln>
                <a:solidFill>
                  <a:srgbClr val="281A42"/>
                </a:solidFill>
                <a:effectLst/>
                <a:uLnTx/>
                <a:uFillTx/>
                <a:latin typeface="Arial" pitchFamily="34" charset="0"/>
                <a:cs typeface="Helvetica Neue"/>
              </a:rPr>
              <a:t>, compliance</a:t>
            </a:r>
            <a:endParaRPr kumimoji="0" sz="1200" b="0" i="0" u="none" strike="noStrike" kern="0" cap="none" spc="-10" normalizeH="0" baseline="0" noProof="0" dirty="0">
              <a:ln>
                <a:noFill/>
              </a:ln>
              <a:solidFill>
                <a:sysClr val="windowText" lastClr="000000"/>
              </a:solidFill>
              <a:effectLst/>
              <a:uLnTx/>
              <a:uFillTx/>
              <a:latin typeface="Arial" pitchFamily="34" charset="0"/>
              <a:cs typeface="Helvetica Neue"/>
            </a:endParaRPr>
          </a:p>
        </p:txBody>
      </p:sp>
      <p:sp>
        <p:nvSpPr>
          <p:cNvPr id="18" name="object 20">
            <a:extLst>
              <a:ext uri="{FF2B5EF4-FFF2-40B4-BE49-F238E27FC236}">
                <a16:creationId xmlns:a16="http://schemas.microsoft.com/office/drawing/2014/main" id="{412A6FBB-A8B7-7364-FE62-AF217DCD5658}"/>
              </a:ext>
            </a:extLst>
          </p:cNvPr>
          <p:cNvSpPr txBox="1"/>
          <p:nvPr/>
        </p:nvSpPr>
        <p:spPr>
          <a:xfrm>
            <a:off x="7668788" y="2714189"/>
            <a:ext cx="3470267" cy="197490"/>
          </a:xfrm>
          <a:prstGeom prst="rect">
            <a:avLst/>
          </a:prstGeom>
        </p:spPr>
        <p:txBody>
          <a:bodyPr vert="horz" wrap="square" lIns="0" tIns="12700" rIns="0" bIns="0" rtlCol="0">
            <a:spAutoFit/>
          </a:bodyPr>
          <a:lstStyle/>
          <a:p>
            <a:pPr marL="0" marR="0" lvl="0" indent="0"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10" normalizeH="0" baseline="0" noProof="0" dirty="0">
                <a:ln>
                  <a:noFill/>
                </a:ln>
                <a:solidFill>
                  <a:srgbClr val="281A42"/>
                </a:solidFill>
                <a:effectLst/>
                <a:uLnTx/>
                <a:uFillTx/>
                <a:latin typeface="Arial" pitchFamily="34" charset="0"/>
                <a:cs typeface="Helvetica Neue"/>
              </a:rPr>
              <a:t>Building infrastructure that delivers</a:t>
            </a:r>
            <a:r>
              <a:rPr kumimoji="0" lang="en-US" sz="1200" b="0" i="0" u="none" strike="noStrike" kern="0" cap="none" spc="-10" normalizeH="0" baseline="0" noProof="0" dirty="0">
                <a:ln>
                  <a:noFill/>
                </a:ln>
                <a:solidFill>
                  <a:srgbClr val="281A42"/>
                </a:solidFill>
                <a:effectLst/>
                <a:uLnTx/>
                <a:uFillTx/>
                <a:latin typeface="Arial" pitchFamily="34" charset="0"/>
                <a:cs typeface="Helvetica Neue"/>
              </a:rPr>
              <a:t> future results</a:t>
            </a:r>
            <a:endParaRPr kumimoji="0" sz="1200" b="0" i="0" u="none" strike="noStrike" kern="0" cap="none" spc="-10" normalizeH="0" baseline="0" noProof="0" dirty="0">
              <a:ln>
                <a:noFill/>
              </a:ln>
              <a:solidFill>
                <a:sysClr val="windowText" lastClr="000000"/>
              </a:solidFill>
              <a:effectLst/>
              <a:uLnTx/>
              <a:uFillTx/>
              <a:latin typeface="Arial" pitchFamily="34" charset="0"/>
              <a:cs typeface="Helvetica Neue"/>
            </a:endParaRPr>
          </a:p>
        </p:txBody>
      </p:sp>
      <p:sp>
        <p:nvSpPr>
          <p:cNvPr id="19" name="object 21">
            <a:extLst>
              <a:ext uri="{FF2B5EF4-FFF2-40B4-BE49-F238E27FC236}">
                <a16:creationId xmlns:a16="http://schemas.microsoft.com/office/drawing/2014/main" id="{87456F63-DB6B-95D7-65E3-A3BC795666FA}"/>
              </a:ext>
            </a:extLst>
          </p:cNvPr>
          <p:cNvSpPr txBox="1"/>
          <p:nvPr/>
        </p:nvSpPr>
        <p:spPr>
          <a:xfrm>
            <a:off x="1082313" y="3493815"/>
            <a:ext cx="2252345" cy="26924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600" b="1" i="0" u="none" strike="noStrike" kern="0" cap="none" spc="-10" normalizeH="0" baseline="0" noProof="0" dirty="0">
                <a:ln>
                  <a:noFill/>
                </a:ln>
                <a:solidFill>
                  <a:srgbClr val="FFFFFF"/>
                </a:solidFill>
                <a:effectLst/>
                <a:uLnTx/>
                <a:uFillTx/>
                <a:latin typeface="Segoe UI" pitchFamily="34" charset="0"/>
                <a:cs typeface="Helvetica Neue"/>
              </a:rPr>
              <a:t>Care vs. Accountability</a:t>
            </a:r>
            <a:endParaRPr kumimoji="0" sz="1600" b="0" i="0" u="none" strike="noStrike" kern="0" cap="none" spc="-10" normalizeH="0" baseline="0" noProof="0">
              <a:ln>
                <a:noFill/>
              </a:ln>
              <a:solidFill>
                <a:sysClr val="windowText" lastClr="000000"/>
              </a:solidFill>
              <a:effectLst/>
              <a:uLnTx/>
              <a:uFillTx/>
              <a:latin typeface="Arial" pitchFamily="34" charset="0"/>
              <a:cs typeface="Helvetica Neue"/>
            </a:endParaRPr>
          </a:p>
        </p:txBody>
      </p:sp>
      <p:sp>
        <p:nvSpPr>
          <p:cNvPr id="20" name="object 22">
            <a:extLst>
              <a:ext uri="{FF2B5EF4-FFF2-40B4-BE49-F238E27FC236}">
                <a16:creationId xmlns:a16="http://schemas.microsoft.com/office/drawing/2014/main" id="{BF12D389-2AAE-21AC-A13C-418EB27769AF}"/>
              </a:ext>
            </a:extLst>
          </p:cNvPr>
          <p:cNvSpPr txBox="1"/>
          <p:nvPr/>
        </p:nvSpPr>
        <p:spPr>
          <a:xfrm>
            <a:off x="4373463" y="3434887"/>
            <a:ext cx="2506104" cy="197490"/>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10" normalizeH="0" baseline="0" noProof="0" dirty="0">
                <a:ln>
                  <a:noFill/>
                </a:ln>
                <a:solidFill>
                  <a:srgbClr val="281A42"/>
                </a:solidFill>
                <a:effectLst/>
                <a:uLnTx/>
                <a:uFillTx/>
                <a:latin typeface="Arial" pitchFamily="34" charset="0"/>
                <a:cs typeface="Helvetica Neue"/>
              </a:rPr>
              <a:t>Supporting the team, </a:t>
            </a:r>
            <a:r>
              <a:rPr kumimoji="0" lang="en-US" sz="1200" b="0" i="0" u="none" strike="noStrike" kern="0" cap="none" spc="-10" normalizeH="0" baseline="0" noProof="0" dirty="0">
                <a:ln>
                  <a:noFill/>
                </a:ln>
                <a:solidFill>
                  <a:srgbClr val="281A42"/>
                </a:solidFill>
                <a:effectLst/>
                <a:uLnTx/>
                <a:uFillTx/>
                <a:latin typeface="Arial" pitchFamily="34" charset="0"/>
                <a:cs typeface="Helvetica Neue"/>
              </a:rPr>
              <a:t>well being</a:t>
            </a:r>
            <a:endParaRPr kumimoji="0" sz="1200" b="0" i="0" u="none" strike="noStrike" kern="0" cap="none" spc="-10" normalizeH="0" baseline="0" noProof="0" dirty="0">
              <a:ln>
                <a:noFill/>
              </a:ln>
              <a:solidFill>
                <a:sysClr val="windowText" lastClr="000000"/>
              </a:solidFill>
              <a:effectLst/>
              <a:uLnTx/>
              <a:uFillTx/>
              <a:latin typeface="Arial" pitchFamily="34" charset="0"/>
              <a:cs typeface="Helvetica Neue"/>
            </a:endParaRPr>
          </a:p>
        </p:txBody>
      </p:sp>
      <p:sp>
        <p:nvSpPr>
          <p:cNvPr id="21" name="object 23">
            <a:extLst>
              <a:ext uri="{FF2B5EF4-FFF2-40B4-BE49-F238E27FC236}">
                <a16:creationId xmlns:a16="http://schemas.microsoft.com/office/drawing/2014/main" id="{62D01266-F4BB-4FA1-14EE-FD6E65317B35}"/>
              </a:ext>
            </a:extLst>
          </p:cNvPr>
          <p:cNvSpPr txBox="1"/>
          <p:nvPr/>
        </p:nvSpPr>
        <p:spPr>
          <a:xfrm>
            <a:off x="7656088" y="3442370"/>
            <a:ext cx="3053715" cy="382156"/>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10" normalizeH="0" baseline="0" noProof="0" dirty="0">
                <a:ln>
                  <a:noFill/>
                </a:ln>
                <a:solidFill>
                  <a:srgbClr val="281A42"/>
                </a:solidFill>
                <a:effectLst/>
                <a:uLnTx/>
                <a:uFillTx/>
                <a:latin typeface="Arial" pitchFamily="34" charset="0"/>
                <a:cs typeface="Helvetica Neue"/>
              </a:rPr>
              <a:t>Demanding results, enforcing consequences</a:t>
            </a:r>
            <a:r>
              <a:rPr kumimoji="0" lang="en-US" sz="1200" b="0" i="0" u="none" strike="noStrike" kern="0" cap="none" spc="-10" normalizeH="0" baseline="0" noProof="0" dirty="0">
                <a:ln>
                  <a:noFill/>
                </a:ln>
                <a:solidFill>
                  <a:srgbClr val="281A42"/>
                </a:solidFill>
                <a:effectLst/>
                <a:uLnTx/>
                <a:uFillTx/>
                <a:latin typeface="Arial" pitchFamily="34" charset="0"/>
                <a:cs typeface="Helvetica Neue"/>
              </a:rPr>
              <a:t>, addressing underperformance</a:t>
            </a:r>
            <a:endParaRPr kumimoji="0" sz="1200" b="0" i="0" u="none" strike="noStrike" kern="0" cap="none" spc="-10" normalizeH="0" baseline="0" noProof="0" dirty="0">
              <a:ln>
                <a:noFill/>
              </a:ln>
              <a:solidFill>
                <a:sysClr val="windowText" lastClr="000000"/>
              </a:solidFill>
              <a:effectLst/>
              <a:uLnTx/>
              <a:uFillTx/>
              <a:latin typeface="Arial" pitchFamily="34" charset="0"/>
              <a:cs typeface="Helvetica Neue"/>
            </a:endParaRPr>
          </a:p>
        </p:txBody>
      </p:sp>
      <p:sp>
        <p:nvSpPr>
          <p:cNvPr id="22" name="object 24">
            <a:extLst>
              <a:ext uri="{FF2B5EF4-FFF2-40B4-BE49-F238E27FC236}">
                <a16:creationId xmlns:a16="http://schemas.microsoft.com/office/drawing/2014/main" id="{C5EB2938-4E85-81B8-C3DC-78F3F61501D8}"/>
              </a:ext>
            </a:extLst>
          </p:cNvPr>
          <p:cNvSpPr txBox="1"/>
          <p:nvPr/>
        </p:nvSpPr>
        <p:spPr>
          <a:xfrm>
            <a:off x="885463" y="4054662"/>
            <a:ext cx="2748280" cy="794385"/>
          </a:xfrm>
          <a:prstGeom prst="rect">
            <a:avLst/>
          </a:prstGeom>
          <a:solidFill>
            <a:schemeClr val="accent3"/>
          </a:solidFill>
        </p:spPr>
        <p:txBody>
          <a:bodyPr vert="horz" wrap="square" lIns="0" tIns="33020" rIns="0" bIns="0" rtlCol="0">
            <a:spAutoFit/>
          </a:bodyPr>
          <a:lstStyle/>
          <a:p>
            <a:pPr marL="0" marR="0" lvl="0" indent="0" defTabSz="914400" eaLnBrk="1" fontAlgn="auto" latinLnBrk="0" hangingPunct="1">
              <a:lnSpc>
                <a:spcPct val="100000"/>
              </a:lnSpc>
              <a:spcBef>
                <a:spcPts val="260"/>
              </a:spcBef>
              <a:spcAft>
                <a:spcPts val="0"/>
              </a:spcAft>
              <a:buClrTx/>
              <a:buSzTx/>
              <a:buFontTx/>
              <a:buNone/>
              <a:tabLst/>
              <a:defRPr/>
            </a:pPr>
            <a:endParaRPr kumimoji="0" sz="1600" b="0" i="0" u="none" strike="noStrike" kern="0" cap="none" spc="-10" normalizeH="0" baseline="0" noProof="0">
              <a:ln>
                <a:noFill/>
              </a:ln>
              <a:solidFill>
                <a:srgbClr val="1D1D1D"/>
              </a:solidFill>
              <a:effectLst/>
              <a:uLnTx/>
              <a:uFillTx/>
              <a:latin typeface="Arial" pitchFamily="34" charset="0"/>
              <a:cs typeface="Times New Roman"/>
            </a:endParaRPr>
          </a:p>
          <a:p>
            <a:pPr marL="209550" marR="0" lvl="0" indent="0" defTabSz="914400" eaLnBrk="1" fontAlgn="auto" latinLnBrk="0" hangingPunct="1">
              <a:lnSpc>
                <a:spcPct val="100000"/>
              </a:lnSpc>
              <a:spcBef>
                <a:spcPts val="0"/>
              </a:spcBef>
              <a:spcAft>
                <a:spcPts val="0"/>
              </a:spcAft>
              <a:buClrTx/>
              <a:buSzTx/>
              <a:buFontTx/>
              <a:buNone/>
              <a:tabLst/>
              <a:defRPr/>
            </a:pPr>
            <a:r>
              <a:rPr kumimoji="0" sz="1600" b="1" i="0" u="none" strike="noStrike" kern="0" cap="none" spc="-10" normalizeH="0" baseline="0" noProof="0" dirty="0">
                <a:ln>
                  <a:noFill/>
                </a:ln>
                <a:solidFill>
                  <a:srgbClr val="1D1D1D"/>
                </a:solidFill>
                <a:effectLst/>
                <a:uLnTx/>
                <a:uFillTx/>
                <a:latin typeface="Segoe UI" pitchFamily="34" charset="0"/>
                <a:cs typeface="Helvetica Neue"/>
              </a:rPr>
              <a:t>Rewards vs. Results</a:t>
            </a:r>
            <a:endParaRPr kumimoji="0" sz="1600" b="0" i="0" u="none" strike="noStrike" kern="0" cap="none" spc="-10" normalizeH="0" baseline="0" noProof="0">
              <a:ln>
                <a:noFill/>
              </a:ln>
              <a:solidFill>
                <a:srgbClr val="1D1D1D"/>
              </a:solidFill>
              <a:effectLst/>
              <a:uLnTx/>
              <a:uFillTx/>
              <a:latin typeface="Arial" pitchFamily="34" charset="0"/>
              <a:cs typeface="Helvetica Neue"/>
            </a:endParaRPr>
          </a:p>
        </p:txBody>
      </p:sp>
      <p:sp>
        <p:nvSpPr>
          <p:cNvPr id="23" name="object 25">
            <a:extLst>
              <a:ext uri="{FF2B5EF4-FFF2-40B4-BE49-F238E27FC236}">
                <a16:creationId xmlns:a16="http://schemas.microsoft.com/office/drawing/2014/main" id="{0DCFCEE9-9AFB-30D4-AA38-158886CA2C36}"/>
              </a:ext>
            </a:extLst>
          </p:cNvPr>
          <p:cNvSpPr txBox="1"/>
          <p:nvPr/>
        </p:nvSpPr>
        <p:spPr>
          <a:xfrm>
            <a:off x="4386163" y="4250024"/>
            <a:ext cx="1714500" cy="391160"/>
          </a:xfrm>
          <a:prstGeom prst="rect">
            <a:avLst/>
          </a:prstGeom>
        </p:spPr>
        <p:txBody>
          <a:bodyPr vert="horz" wrap="square" lIns="0" tIns="12700" rIns="0" bIns="0" rtlCol="0">
            <a:spAutoFit/>
          </a:bodyPr>
          <a:lstStyle/>
          <a:p>
            <a:pPr marL="0" marR="5080" lvl="0" indent="0"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10" normalizeH="0" baseline="0" noProof="0" dirty="0">
                <a:ln>
                  <a:noFill/>
                </a:ln>
                <a:solidFill>
                  <a:srgbClr val="281A42"/>
                </a:solidFill>
                <a:effectLst/>
                <a:uLnTx/>
                <a:uFillTx/>
                <a:latin typeface="Arial" pitchFamily="34" charset="0"/>
                <a:cs typeface="Helvetica Neue"/>
              </a:rPr>
              <a:t>Designing incentives and compensation</a:t>
            </a:r>
            <a:endParaRPr kumimoji="0" sz="1200" b="0" i="0" u="none" strike="noStrike" kern="0" cap="none" spc="-10" normalizeH="0" baseline="0" noProof="0">
              <a:ln>
                <a:noFill/>
              </a:ln>
              <a:solidFill>
                <a:sysClr val="windowText" lastClr="000000"/>
              </a:solidFill>
              <a:effectLst/>
              <a:uLnTx/>
              <a:uFillTx/>
              <a:latin typeface="Arial" pitchFamily="34" charset="0"/>
              <a:cs typeface="Helvetica Neue"/>
            </a:endParaRPr>
          </a:p>
        </p:txBody>
      </p:sp>
      <p:sp>
        <p:nvSpPr>
          <p:cNvPr id="24" name="object 26">
            <a:extLst>
              <a:ext uri="{FF2B5EF4-FFF2-40B4-BE49-F238E27FC236}">
                <a16:creationId xmlns:a16="http://schemas.microsoft.com/office/drawing/2014/main" id="{4B0D92C7-042C-85A3-EBDD-A5D5922A2CE6}"/>
              </a:ext>
            </a:extLst>
          </p:cNvPr>
          <p:cNvSpPr txBox="1"/>
          <p:nvPr/>
        </p:nvSpPr>
        <p:spPr>
          <a:xfrm>
            <a:off x="7668788" y="4341464"/>
            <a:ext cx="2481580" cy="197490"/>
          </a:xfrm>
          <a:prstGeom prst="rect">
            <a:avLst/>
          </a:prstGeom>
        </p:spPr>
        <p:txBody>
          <a:bodyPr vert="horz" wrap="square" lIns="0" tIns="12700" rIns="0" bIns="0" rtlCol="0">
            <a:spAutoFit/>
          </a:bodyPr>
          <a:lstStyle/>
          <a:p>
            <a:pPr marL="0" marR="0" lvl="0" indent="0" defTabSz="914400" eaLnBrk="1" fontAlgn="auto" latinLnBrk="0" hangingPunct="1">
              <a:lnSpc>
                <a:spcPct val="100000"/>
              </a:lnSpc>
              <a:spcBef>
                <a:spcPts val="100"/>
              </a:spcBef>
              <a:spcAft>
                <a:spcPts val="0"/>
              </a:spcAft>
              <a:buClrTx/>
              <a:buSzTx/>
              <a:buFontTx/>
              <a:buNone/>
              <a:tabLst/>
              <a:defRPr/>
            </a:pPr>
            <a:r>
              <a:rPr kumimoji="0" lang="en-US" sz="1200" b="0" i="0" u="none" strike="noStrike" kern="0" cap="none" spc="-10" normalizeH="0" baseline="0" noProof="0" dirty="0">
                <a:ln>
                  <a:noFill/>
                </a:ln>
                <a:solidFill>
                  <a:srgbClr val="281A42"/>
                </a:solidFill>
                <a:effectLst/>
                <a:uLnTx/>
                <a:uFillTx/>
                <a:latin typeface="Arial" pitchFamily="34" charset="0"/>
                <a:cs typeface="Helvetica Neue"/>
              </a:rPr>
              <a:t>R</a:t>
            </a:r>
            <a:r>
              <a:rPr kumimoji="0" sz="1200" b="0" i="0" u="none" strike="noStrike" kern="0" cap="none" spc="-10" normalizeH="0" baseline="0" noProof="0" dirty="0">
                <a:ln>
                  <a:noFill/>
                </a:ln>
                <a:solidFill>
                  <a:srgbClr val="281A42"/>
                </a:solidFill>
                <a:effectLst/>
                <a:uLnTx/>
                <a:uFillTx/>
                <a:latin typeface="Arial" pitchFamily="34" charset="0"/>
                <a:cs typeface="Helvetica Neue"/>
              </a:rPr>
              <a:t>etaining</a:t>
            </a:r>
            <a:r>
              <a:rPr kumimoji="0" lang="en-US" sz="1200" b="0" i="0" u="none" strike="noStrike" kern="0" cap="none" spc="-10" normalizeH="0" baseline="0" noProof="0" dirty="0">
                <a:ln>
                  <a:noFill/>
                </a:ln>
                <a:solidFill>
                  <a:srgbClr val="281A42"/>
                </a:solidFill>
                <a:effectLst/>
                <a:uLnTx/>
                <a:uFillTx/>
                <a:latin typeface="Arial" pitchFamily="34" charset="0"/>
                <a:cs typeface="Helvetica Neue"/>
              </a:rPr>
              <a:t> and acquiring new</a:t>
            </a:r>
            <a:r>
              <a:rPr kumimoji="0" sz="1200" b="0" i="0" u="none" strike="noStrike" kern="0" cap="none" spc="-10" normalizeH="0" baseline="0" noProof="0" dirty="0">
                <a:ln>
                  <a:noFill/>
                </a:ln>
                <a:solidFill>
                  <a:srgbClr val="281A42"/>
                </a:solidFill>
                <a:effectLst/>
                <a:uLnTx/>
                <a:uFillTx/>
                <a:latin typeface="Arial" pitchFamily="34" charset="0"/>
                <a:cs typeface="Helvetica Neue"/>
              </a:rPr>
              <a:t> clients</a:t>
            </a:r>
            <a:endParaRPr kumimoji="0" sz="1200" b="0" i="0" u="none" strike="noStrike" kern="0" cap="none" spc="-10" normalizeH="0" baseline="0" noProof="0" dirty="0">
              <a:ln>
                <a:noFill/>
              </a:ln>
              <a:solidFill>
                <a:sysClr val="windowText" lastClr="000000"/>
              </a:solidFill>
              <a:effectLst/>
              <a:uLnTx/>
              <a:uFillTx/>
              <a:latin typeface="Arial" pitchFamily="34" charset="0"/>
              <a:cs typeface="Helvetica Neue"/>
            </a:endParaRPr>
          </a:p>
        </p:txBody>
      </p:sp>
      <p:sp>
        <p:nvSpPr>
          <p:cNvPr id="25" name="object 27">
            <a:extLst>
              <a:ext uri="{FF2B5EF4-FFF2-40B4-BE49-F238E27FC236}">
                <a16:creationId xmlns:a16="http://schemas.microsoft.com/office/drawing/2014/main" id="{FF248211-B1A7-2C5B-3CA3-6570EF9FAB2E}"/>
              </a:ext>
            </a:extLst>
          </p:cNvPr>
          <p:cNvSpPr txBox="1"/>
          <p:nvPr/>
        </p:nvSpPr>
        <p:spPr>
          <a:xfrm>
            <a:off x="1082313" y="5171064"/>
            <a:ext cx="2169160" cy="26924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600" b="1" i="0" u="none" strike="noStrike" kern="0" cap="none" spc="-10" normalizeH="0" baseline="0" noProof="0" dirty="0">
                <a:ln>
                  <a:noFill/>
                </a:ln>
                <a:solidFill>
                  <a:srgbClr val="FFFFFF"/>
                </a:solidFill>
                <a:effectLst/>
                <a:uLnTx/>
                <a:uFillTx/>
                <a:latin typeface="Segoe UI" pitchFamily="34" charset="0"/>
                <a:cs typeface="Helvetica Neue"/>
              </a:rPr>
              <a:t>Networks vs. Systems</a:t>
            </a:r>
            <a:endParaRPr kumimoji="0" sz="1600" b="0" i="0" u="none" strike="noStrike" kern="0" cap="none" spc="-10" normalizeH="0" baseline="0" noProof="0">
              <a:ln>
                <a:noFill/>
              </a:ln>
              <a:solidFill>
                <a:sysClr val="windowText" lastClr="000000"/>
              </a:solidFill>
              <a:effectLst/>
              <a:uLnTx/>
              <a:uFillTx/>
              <a:latin typeface="Arial" pitchFamily="34" charset="0"/>
              <a:cs typeface="Helvetica Neue"/>
            </a:endParaRPr>
          </a:p>
        </p:txBody>
      </p:sp>
      <p:sp>
        <p:nvSpPr>
          <p:cNvPr id="26" name="object 28">
            <a:extLst>
              <a:ext uri="{FF2B5EF4-FFF2-40B4-BE49-F238E27FC236}">
                <a16:creationId xmlns:a16="http://schemas.microsoft.com/office/drawing/2014/main" id="{AA7B6DB9-C9F8-18D7-DC79-D1C2740A91A6}"/>
              </a:ext>
            </a:extLst>
          </p:cNvPr>
          <p:cNvSpPr txBox="1"/>
          <p:nvPr/>
        </p:nvSpPr>
        <p:spPr>
          <a:xfrm>
            <a:off x="4373463" y="5112137"/>
            <a:ext cx="2155825" cy="391160"/>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10" normalizeH="0" baseline="0" noProof="0" dirty="0">
                <a:ln>
                  <a:noFill/>
                </a:ln>
                <a:solidFill>
                  <a:srgbClr val="281A42"/>
                </a:solidFill>
                <a:effectLst/>
                <a:uLnTx/>
                <a:uFillTx/>
                <a:latin typeface="Arial" pitchFamily="34" charset="0"/>
                <a:cs typeface="Helvetica Neue"/>
              </a:rPr>
              <a:t>Personal relationships for quick wins</a:t>
            </a:r>
            <a:endParaRPr kumimoji="0" sz="1200" b="0" i="0" u="none" strike="noStrike" kern="0" cap="none" spc="-10" normalizeH="0" baseline="0" noProof="0">
              <a:ln>
                <a:noFill/>
              </a:ln>
              <a:solidFill>
                <a:sysClr val="windowText" lastClr="000000"/>
              </a:solidFill>
              <a:effectLst/>
              <a:uLnTx/>
              <a:uFillTx/>
              <a:latin typeface="Arial" pitchFamily="34" charset="0"/>
              <a:cs typeface="Helvetica Neue"/>
            </a:endParaRPr>
          </a:p>
        </p:txBody>
      </p:sp>
      <p:sp>
        <p:nvSpPr>
          <p:cNvPr id="27" name="object 29">
            <a:extLst>
              <a:ext uri="{FF2B5EF4-FFF2-40B4-BE49-F238E27FC236}">
                <a16:creationId xmlns:a16="http://schemas.microsoft.com/office/drawing/2014/main" id="{2CF1EE2B-5D2C-76A0-135C-A504AEC75465}"/>
              </a:ext>
            </a:extLst>
          </p:cNvPr>
          <p:cNvSpPr txBox="1"/>
          <p:nvPr/>
        </p:nvSpPr>
        <p:spPr>
          <a:xfrm>
            <a:off x="7656088" y="5203577"/>
            <a:ext cx="2952750" cy="19749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1200" b="0" i="0" u="none" strike="noStrike" kern="0" cap="none" spc="-10" normalizeH="0" baseline="0" noProof="0" dirty="0">
                <a:ln>
                  <a:noFill/>
                </a:ln>
                <a:solidFill>
                  <a:srgbClr val="281A42"/>
                </a:solidFill>
                <a:effectLst/>
                <a:uLnTx/>
                <a:uFillTx/>
                <a:latin typeface="Arial" pitchFamily="34" charset="0"/>
                <a:cs typeface="Helvetica Neue"/>
              </a:rPr>
              <a:t>S</a:t>
            </a:r>
            <a:r>
              <a:rPr kumimoji="0" sz="1200" b="0" i="0" u="none" strike="noStrike" kern="0" cap="none" spc="-10" normalizeH="0" baseline="0" noProof="0" dirty="0">
                <a:ln>
                  <a:noFill/>
                </a:ln>
                <a:solidFill>
                  <a:srgbClr val="281A42"/>
                </a:solidFill>
                <a:effectLst/>
                <a:uLnTx/>
                <a:uFillTx/>
                <a:latin typeface="Arial" pitchFamily="34" charset="0"/>
                <a:cs typeface="Helvetica Neue"/>
              </a:rPr>
              <a:t>calable processes</a:t>
            </a:r>
            <a:endParaRPr kumimoji="0" sz="1200" b="0" i="0" u="none" strike="noStrike" kern="0" cap="none" spc="-10" normalizeH="0" baseline="0" noProof="0" dirty="0">
              <a:ln>
                <a:noFill/>
              </a:ln>
              <a:solidFill>
                <a:sysClr val="windowText" lastClr="000000"/>
              </a:solidFill>
              <a:effectLst/>
              <a:uLnTx/>
              <a:uFillTx/>
              <a:latin typeface="Arial" pitchFamily="34" charset="0"/>
              <a:cs typeface="Helvetica Neue"/>
            </a:endParaRPr>
          </a:p>
        </p:txBody>
      </p:sp>
      <p:sp>
        <p:nvSpPr>
          <p:cNvPr id="28" name="object 30">
            <a:extLst>
              <a:ext uri="{FF2B5EF4-FFF2-40B4-BE49-F238E27FC236}">
                <a16:creationId xmlns:a16="http://schemas.microsoft.com/office/drawing/2014/main" id="{FDB3C985-F9D1-4EBC-FD7C-AAE1FAC531A5}"/>
              </a:ext>
            </a:extLst>
          </p:cNvPr>
          <p:cNvSpPr txBox="1"/>
          <p:nvPr/>
        </p:nvSpPr>
        <p:spPr>
          <a:xfrm>
            <a:off x="4345171" y="1128507"/>
            <a:ext cx="1160145" cy="228268"/>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b="1" spc="-25">
                <a:latin typeface="Segoe UI" pitchFamily="34" charset="0"/>
              </a:defRPr>
            </a:pPr>
            <a:r>
              <a:rPr kumimoji="0" sz="1400" b="1" i="0" u="none" strike="noStrike" kern="0" cap="none" spc="-25" normalizeH="0" baseline="0" noProof="0" dirty="0">
                <a:ln>
                  <a:noFill/>
                </a:ln>
                <a:solidFill>
                  <a:schemeClr val="accent1"/>
                </a:solidFill>
                <a:effectLst/>
                <a:uLnTx/>
                <a:uFillTx/>
                <a:latin typeface="Segoe UI" pitchFamily="34" charset="0"/>
                <a:cs typeface="Helvetica Neue"/>
              </a:rPr>
              <a:t>Energy Spent</a:t>
            </a:r>
            <a:endParaRPr kumimoji="0" sz="1400" b="1" i="0" u="none" strike="noStrike" kern="0" cap="none" spc="-25" normalizeH="0" baseline="0" noProof="0">
              <a:ln>
                <a:noFill/>
              </a:ln>
              <a:solidFill>
                <a:schemeClr val="accent1"/>
              </a:solidFill>
              <a:effectLst/>
              <a:uLnTx/>
              <a:uFillTx/>
              <a:latin typeface="Segoe UI" pitchFamily="34" charset="0"/>
              <a:cs typeface="Helvetica Neue"/>
            </a:endParaRPr>
          </a:p>
        </p:txBody>
      </p:sp>
      <p:sp>
        <p:nvSpPr>
          <p:cNvPr id="29" name="object 31">
            <a:extLst>
              <a:ext uri="{FF2B5EF4-FFF2-40B4-BE49-F238E27FC236}">
                <a16:creationId xmlns:a16="http://schemas.microsoft.com/office/drawing/2014/main" id="{3E970D26-B43C-9BD7-9A06-1143BD45E131}"/>
              </a:ext>
            </a:extLst>
          </p:cNvPr>
          <p:cNvSpPr txBox="1"/>
          <p:nvPr/>
        </p:nvSpPr>
        <p:spPr>
          <a:xfrm>
            <a:off x="7905446" y="1128507"/>
            <a:ext cx="1435100" cy="228268"/>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b="1" spc="-25">
                <a:latin typeface="Segoe UI" pitchFamily="34" charset="0"/>
              </a:defRPr>
            </a:pPr>
            <a:r>
              <a:rPr kumimoji="0" sz="1400" b="1" i="0" u="none" strike="noStrike" kern="0" cap="none" spc="-25" normalizeH="0" baseline="0" noProof="0" dirty="0">
                <a:ln>
                  <a:noFill/>
                </a:ln>
                <a:solidFill>
                  <a:schemeClr val="accent1"/>
                </a:solidFill>
                <a:effectLst/>
                <a:uLnTx/>
                <a:uFillTx/>
                <a:latin typeface="Segoe UI" pitchFamily="34" charset="0"/>
                <a:cs typeface="Helvetica Neue"/>
              </a:rPr>
              <a:t>Energy Required</a:t>
            </a:r>
          </a:p>
        </p:txBody>
      </p:sp>
      <p:sp>
        <p:nvSpPr>
          <p:cNvPr id="30" name="TextBox 29">
            <a:extLst>
              <a:ext uri="{FF2B5EF4-FFF2-40B4-BE49-F238E27FC236}">
                <a16:creationId xmlns:a16="http://schemas.microsoft.com/office/drawing/2014/main" id="{83B9FCFE-552F-0E3F-C33C-F7F00369FF13}"/>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3043818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3A91266D-9560-B535-56E0-5534E72A8A78}"/>
              </a:ext>
            </a:extLst>
          </p:cNvPr>
          <p:cNvSpPr>
            <a:spLocks noGrp="1"/>
          </p:cNvSpPr>
          <p:nvPr>
            <p:ph type="title"/>
          </p:nvPr>
        </p:nvSpPr>
        <p:spPr/>
        <p:txBody>
          <a:bodyPr/>
          <a:lstStyle/>
          <a:p>
            <a:r>
              <a:rPr lang="en-US" dirty="0">
                <a:sym typeface="Helvetica Neue Light" panose="02000403000000020004" pitchFamily="2" charset="0"/>
              </a:rPr>
              <a:t>We Conduct Hogan Personality for Each Leader </a:t>
            </a:r>
            <a:endParaRPr lang="en-US" dirty="0"/>
          </a:p>
        </p:txBody>
      </p:sp>
      <p:sp>
        <p:nvSpPr>
          <p:cNvPr id="14" name="Text Placeholder 13">
            <a:extLst>
              <a:ext uri="{FF2B5EF4-FFF2-40B4-BE49-F238E27FC236}">
                <a16:creationId xmlns:a16="http://schemas.microsoft.com/office/drawing/2014/main" id="{7E3DCA4C-FCFE-E732-2E03-41DE7CBF7CB8}"/>
              </a:ext>
            </a:extLst>
          </p:cNvPr>
          <p:cNvSpPr>
            <a:spLocks noGrp="1"/>
          </p:cNvSpPr>
          <p:nvPr>
            <p:ph type="body" sz="quarter" idx="12"/>
          </p:nvPr>
        </p:nvSpPr>
        <p:spPr/>
        <p:txBody>
          <a:bodyPr/>
          <a:lstStyle/>
          <a:p>
            <a:r>
              <a:rPr lang="en-US" dirty="0">
                <a:sym typeface="Helvetica Neue Light" panose="02000403000000020004" pitchFamily="2" charset="0"/>
              </a:rPr>
              <a:t>I.e. Chief Finance Officer</a:t>
            </a:r>
            <a:endParaRPr lang="en-US" dirty="0"/>
          </a:p>
        </p:txBody>
      </p:sp>
      <p:sp>
        <p:nvSpPr>
          <p:cNvPr id="2" name="Slide Number Placeholder 1">
            <a:extLst>
              <a:ext uri="{FF2B5EF4-FFF2-40B4-BE49-F238E27FC236}">
                <a16:creationId xmlns:a16="http://schemas.microsoft.com/office/drawing/2014/main" id="{E4F25B34-55ED-3F0B-5C18-AEA7AFFB0FFC}"/>
              </a:ext>
            </a:extLst>
          </p:cNvPr>
          <p:cNvSpPr>
            <a:spLocks noGrp="1"/>
          </p:cNvSpPr>
          <p:nvPr>
            <p:ph type="sldNum" sz="quarter" idx="4"/>
          </p:nvPr>
        </p:nvSpPr>
        <p:spPr/>
        <p:txBody>
          <a:bodyPr/>
          <a:lstStyle/>
          <a:p>
            <a:pPr algn="ctr"/>
            <a:fld id="{1875A764-3B06-454E-8ABA-2F6ED0EB58E9}" type="slidenum">
              <a:rPr lang="en-US" smtClean="0"/>
              <a:t>7</a:t>
            </a:fld>
            <a:endParaRPr lang="en-US"/>
          </a:p>
        </p:txBody>
      </p:sp>
      <p:grpSp>
        <p:nvGrpSpPr>
          <p:cNvPr id="4" name="Group 3">
            <a:extLst>
              <a:ext uri="{FF2B5EF4-FFF2-40B4-BE49-F238E27FC236}">
                <a16:creationId xmlns:a16="http://schemas.microsoft.com/office/drawing/2014/main" id="{BF514EA3-03D4-6ED1-1FA4-1D5EDE2A62CF}"/>
              </a:ext>
            </a:extLst>
          </p:cNvPr>
          <p:cNvGrpSpPr/>
          <p:nvPr/>
        </p:nvGrpSpPr>
        <p:grpSpPr>
          <a:xfrm>
            <a:off x="758455" y="1088623"/>
            <a:ext cx="6226053" cy="655403"/>
            <a:chOff x="529855" y="131505"/>
            <a:chExt cx="6226053" cy="655403"/>
          </a:xfrm>
        </p:grpSpPr>
        <p:sp>
          <p:nvSpPr>
            <p:cNvPr id="5" name="TextBox 4">
              <a:extLst>
                <a:ext uri="{FF2B5EF4-FFF2-40B4-BE49-F238E27FC236}">
                  <a16:creationId xmlns:a16="http://schemas.microsoft.com/office/drawing/2014/main" id="{324A6D83-ED3C-CCF9-463B-536C50B05352}"/>
                </a:ext>
              </a:extLst>
            </p:cNvPr>
            <p:cNvSpPr txBox="1"/>
            <p:nvPr/>
          </p:nvSpPr>
          <p:spPr>
            <a:xfrm>
              <a:off x="529855" y="131505"/>
              <a:ext cx="680414" cy="253916"/>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050" b="1" i="0" u="none" strike="noStrike" kern="1200" cap="none" spc="-25" normalizeH="0" baseline="0" noProof="0">
                  <a:ln>
                    <a:noFill/>
                  </a:ln>
                  <a:solidFill>
                    <a:srgbClr val="1D1D1D">
                      <a:lumMod val="50000"/>
                      <a:lumOff val="50000"/>
                    </a:srgbClr>
                  </a:solidFill>
                  <a:effectLst/>
                  <a:uLnTx/>
                  <a:uFillTx/>
                  <a:latin typeface="Segoe UI" pitchFamily="34" charset="0"/>
                  <a:ea typeface="Lato Light" panose="020F0502020204030203" pitchFamily="34" charset="0"/>
                  <a:cs typeface="Lato Light" panose="020F0502020204030203" pitchFamily="34" charset="0"/>
                  <a:sym typeface="Arial" panose="020B0604020202020204" pitchFamily="34" charset="0"/>
                </a:rPr>
                <a:t>Role</a:t>
              </a:r>
            </a:p>
          </p:txBody>
        </p:sp>
        <p:sp>
          <p:nvSpPr>
            <p:cNvPr id="6" name="TextBox 5">
              <a:extLst>
                <a:ext uri="{FF2B5EF4-FFF2-40B4-BE49-F238E27FC236}">
                  <a16:creationId xmlns:a16="http://schemas.microsoft.com/office/drawing/2014/main" id="{FA1589C4-7821-9C5C-28C4-D5FC06346155}"/>
                </a:ext>
              </a:extLst>
            </p:cNvPr>
            <p:cNvSpPr txBox="1"/>
            <p:nvPr/>
          </p:nvSpPr>
          <p:spPr>
            <a:xfrm>
              <a:off x="529855" y="356566"/>
              <a:ext cx="3201164" cy="430342"/>
            </a:xfrm>
            <a:prstGeom prst="rect">
              <a:avLst/>
            </a:prstGeom>
            <a:noFill/>
          </p:spPr>
          <p:txBody>
            <a:bodyPr wrap="square" lIns="91440" tIns="45720" rIns="91440" bIns="457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400" b="1" i="0" u="none" strike="noStrike" kern="1200" cap="none" spc="-25" normalizeH="0" baseline="0" noProof="0" dirty="0">
                  <a:ln>
                    <a:noFill/>
                  </a:ln>
                  <a:solidFill>
                    <a:prstClr val="black"/>
                  </a:solidFill>
                  <a:effectLst/>
                  <a:uLnTx/>
                  <a:uFillTx/>
                  <a:latin typeface="Segoe UI" pitchFamily="34" charset="0"/>
                  <a:ea typeface="Lato Light" panose="020F0502020204030203" pitchFamily="34" charset="0"/>
                  <a:cs typeface="Arial" panose="020B0604020202020204" pitchFamily="34" charset="0"/>
                  <a:sym typeface="Arial" panose="020B0604020202020204" pitchFamily="34" charset="0"/>
                </a:rPr>
                <a:t>Chief Financial Officer</a:t>
              </a:r>
            </a:p>
          </p:txBody>
        </p:sp>
        <p:sp>
          <p:nvSpPr>
            <p:cNvPr id="7" name="TextBox 6">
              <a:extLst>
                <a:ext uri="{FF2B5EF4-FFF2-40B4-BE49-F238E27FC236}">
                  <a16:creationId xmlns:a16="http://schemas.microsoft.com/office/drawing/2014/main" id="{60E69738-8716-EF75-F45D-AF1CC35E50FB}"/>
                </a:ext>
              </a:extLst>
            </p:cNvPr>
            <p:cNvSpPr txBox="1"/>
            <p:nvPr/>
          </p:nvSpPr>
          <p:spPr>
            <a:xfrm>
              <a:off x="5962084" y="131505"/>
              <a:ext cx="748798" cy="253916"/>
            </a:xfrm>
            <a:prstGeom prst="rect">
              <a:avLst/>
            </a:prstGeom>
            <a:noFill/>
          </p:spPr>
          <p:txBody>
            <a:bodyPr wrap="square" lIns="91440" tIns="45720" rIns="91440" bIns="45720" rtlCol="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050" b="1" i="0" u="none" strike="noStrike" kern="1200" cap="none" spc="-25" normalizeH="0" baseline="0" noProof="0">
                  <a:ln>
                    <a:noFill/>
                  </a:ln>
                  <a:solidFill>
                    <a:srgbClr val="1D1D1D">
                      <a:lumMod val="50000"/>
                      <a:lumOff val="50000"/>
                    </a:srgbClr>
                  </a:solidFill>
                  <a:effectLst/>
                  <a:uLnTx/>
                  <a:uFillTx/>
                  <a:latin typeface="Segoe UI" pitchFamily="34" charset="0"/>
                  <a:ea typeface="Lato Light" panose="020F0502020204030203" pitchFamily="34" charset="0"/>
                  <a:cs typeface="Lato Light" panose="020F0502020204030203" pitchFamily="34" charset="0"/>
                  <a:sym typeface="Arial" panose="020B0604020202020204" pitchFamily="34" charset="0"/>
                </a:rPr>
                <a:t>Talent</a:t>
              </a:r>
            </a:p>
          </p:txBody>
        </p:sp>
        <p:sp>
          <p:nvSpPr>
            <p:cNvPr id="8" name="TextBox 7">
              <a:extLst>
                <a:ext uri="{FF2B5EF4-FFF2-40B4-BE49-F238E27FC236}">
                  <a16:creationId xmlns:a16="http://schemas.microsoft.com/office/drawing/2014/main" id="{E448D205-839D-4CDB-CE14-3CB981999A9D}"/>
                </a:ext>
              </a:extLst>
            </p:cNvPr>
            <p:cNvSpPr txBox="1"/>
            <p:nvPr/>
          </p:nvSpPr>
          <p:spPr>
            <a:xfrm>
              <a:off x="3665327" y="296859"/>
              <a:ext cx="3090581" cy="490041"/>
            </a:xfrm>
            <a:prstGeom prst="rect">
              <a:avLst/>
            </a:prstGeom>
            <a:noFill/>
          </p:spPr>
          <p:txBody>
            <a:bodyPr wrap="square" lIns="91440" tIns="45720" rIns="91440" bIns="4572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r>
                <a:rPr lang="en-US" sz="1400" b="1" spc="-25" dirty="0">
                  <a:solidFill>
                    <a:prstClr val="black"/>
                  </a:solidFill>
                  <a:latin typeface="Segoe UI" pitchFamily="34" charset="0"/>
                  <a:ea typeface="Lato Light" panose="020F0502020204030203" pitchFamily="34" charset="0"/>
                  <a:cs typeface="Arial" panose="020B0604020202020204" pitchFamily="34" charset="0"/>
                  <a:sym typeface="Arial" panose="020B0604020202020204" pitchFamily="34" charset="0"/>
                </a:rPr>
                <a:t>John X</a:t>
              </a:r>
              <a:endParaRPr kumimoji="0" lang="en-US" sz="1400" b="1" i="0" u="none" strike="noStrike" kern="1200" cap="none" spc="-25" normalizeH="0" baseline="0" noProof="0" dirty="0">
                <a:ln>
                  <a:noFill/>
                </a:ln>
                <a:solidFill>
                  <a:prstClr val="black"/>
                </a:solidFill>
                <a:effectLst/>
                <a:uLnTx/>
                <a:uFillTx/>
                <a:latin typeface="Segoe UI" pitchFamily="34" charset="0"/>
                <a:ea typeface="Lato Light" panose="020F0502020204030203" pitchFamily="34" charset="0"/>
                <a:cs typeface="Arial" panose="020B0604020202020204" pitchFamily="34" charset="0"/>
                <a:sym typeface="Arial" panose="020B0604020202020204" pitchFamily="34" charset="0"/>
              </a:endParaRPr>
            </a:p>
          </p:txBody>
        </p:sp>
      </p:grpSp>
      <p:sp>
        <p:nvSpPr>
          <p:cNvPr id="9" name="TextBox 2">
            <a:extLst>
              <a:ext uri="{FF2B5EF4-FFF2-40B4-BE49-F238E27FC236}">
                <a16:creationId xmlns:a16="http://schemas.microsoft.com/office/drawing/2014/main" id="{AD4A193C-271F-083C-87E6-815A3816747A}"/>
              </a:ext>
            </a:extLst>
          </p:cNvPr>
          <p:cNvSpPr txBox="1">
            <a:spLocks/>
          </p:cNvSpPr>
          <p:nvPr/>
        </p:nvSpPr>
        <p:spPr>
          <a:xfrm>
            <a:off x="420000" y="1649583"/>
            <a:ext cx="7094492" cy="4673952"/>
          </a:xfrm>
          <a:prstGeom prst="rect">
            <a:avLst/>
          </a:prstGeom>
          <a:solidFill>
            <a:srgbClr val="F2F2F2"/>
          </a:solidFill>
        </p:spPr>
        <p:txBody>
          <a:bodyPr wrap="square" lIns="91440" tIns="45720" rIns="91440" bIns="45720" rtlCol="0" anchor="t">
            <a:noAutofit/>
          </a:bodyPr>
          <a:lst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a:lstStyle>
          <a:p>
            <a:pPr>
              <a:lnSpc>
                <a:spcPct val="100000"/>
              </a:lnSpc>
            </a:pPr>
            <a:r>
              <a:rPr lang="en-US" sz="1300">
                <a:solidFill>
                  <a:sysClr val="windowText" lastClr="000000"/>
                </a:solidFill>
              </a:rPr>
              <a:t>John is the anchor on a team. When things get chaotic, he stays steady (Adjustment: 87). He brings rigor to everything he does (Prudence: 95; Diligent: 96)—his attention to process, governance, and detail is exceptional. He goes deep (Learning Approach: 95) and values expertise and mastery. The organization can count on him to get things right.</a:t>
            </a:r>
          </a:p>
          <a:p>
            <a:pPr>
              <a:lnSpc>
                <a:spcPct val="100000"/>
              </a:lnSpc>
            </a:pPr>
            <a:r>
              <a:rPr lang="en-US" sz="1300">
                <a:solidFill>
                  <a:sysClr val="windowText" lastClr="000000"/>
                </a:solidFill>
              </a:rPr>
              <a:t>When pressure mounts, John's instinct may be to focus and work through things on his own (Reserved: 82; Sociability: 10). This could make it harder for others to know where they stand —brief, intentional check-ins help maintain connection. He may also have a tendency to defer to authority (Dutiful: 89) and while this is a strength, his role requires him to push back when he sees risk.</a:t>
            </a:r>
          </a:p>
          <a:p>
            <a:pPr>
              <a:lnSpc>
                <a:spcPct val="100000"/>
              </a:lnSpc>
            </a:pPr>
            <a:r>
              <a:rPr lang="en-US" sz="1300">
                <a:solidFill>
                  <a:sysClr val="windowText" lastClr="000000"/>
                </a:solidFill>
              </a:rPr>
              <a:t>What drives John is financial performance (Commerce: 96)—he wants the company to succeed commercially and measures success in results. Relationships matter to him, but outcomes matter more.</a:t>
            </a:r>
          </a:p>
          <a:p>
            <a:pPr>
              <a:lnSpc>
                <a:spcPct val="100000"/>
              </a:lnSpc>
            </a:pPr>
            <a:r>
              <a:rPr lang="en-US" sz="1300">
                <a:solidFill>
                  <a:sysClr val="windowText" lastClr="000000"/>
                </a:solidFill>
              </a:rPr>
              <a:t>Can enhance impact through: </a:t>
            </a:r>
          </a:p>
          <a:p>
            <a:pPr lvl="1">
              <a:lnSpc>
                <a:spcPct val="100000"/>
              </a:lnSpc>
            </a:pPr>
            <a:r>
              <a:rPr lang="en-US" sz="1300"/>
              <a:t>Partnering with Ahmed on governance —both are highly disciplined and commercially aligned but can also occasionally withdraw, helping each other reach out proactively can keep things connected. </a:t>
            </a:r>
          </a:p>
          <a:p>
            <a:pPr lvl="1">
              <a:lnSpc>
                <a:spcPct val="100000"/>
              </a:lnSpc>
            </a:pPr>
            <a:r>
              <a:rPr lang="en-US" sz="1300"/>
              <a:t>Serving as guardrails for the CEO who prefers moving fast and may not always enforce process. </a:t>
            </a:r>
            <a:endParaRPr lang="en-US" sz="1300" dirty="0"/>
          </a:p>
        </p:txBody>
      </p:sp>
      <p:pic>
        <p:nvPicPr>
          <p:cNvPr id="10" name="Picture 9">
            <a:extLst>
              <a:ext uri="{FF2B5EF4-FFF2-40B4-BE49-F238E27FC236}">
                <a16:creationId xmlns:a16="http://schemas.microsoft.com/office/drawing/2014/main" id="{E4F7F9BC-AAD6-6046-D31E-CF81F9A49508}"/>
              </a:ext>
            </a:extLst>
          </p:cNvPr>
          <p:cNvPicPr>
            <a:picLocks/>
          </p:cNvPicPr>
          <p:nvPr/>
        </p:nvPicPr>
        <p:blipFill>
          <a:blip r:embed="rId2"/>
          <a:stretch>
            <a:fillRect/>
          </a:stretch>
        </p:blipFill>
        <p:spPr>
          <a:xfrm>
            <a:off x="7639199" y="918000"/>
            <a:ext cx="4395600" cy="5223600"/>
          </a:xfrm>
          <a:prstGeom prst="rect">
            <a:avLst/>
          </a:prstGeom>
        </p:spPr>
      </p:pic>
      <p:sp>
        <p:nvSpPr>
          <p:cNvPr id="11" name="TextBox 10">
            <a:extLst>
              <a:ext uri="{FF2B5EF4-FFF2-40B4-BE49-F238E27FC236}">
                <a16:creationId xmlns:a16="http://schemas.microsoft.com/office/drawing/2014/main" id="{D09A8ACA-FE30-D570-C49E-87D450F36F61}"/>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1124523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53ED538-8052-2B21-1AD6-609327FC4312}"/>
              </a:ext>
            </a:extLst>
          </p:cNvPr>
          <p:cNvSpPr>
            <a:spLocks noGrp="1"/>
          </p:cNvSpPr>
          <p:nvPr>
            <p:ph type="sldNum" sz="quarter" idx="4"/>
          </p:nvPr>
        </p:nvSpPr>
        <p:spPr/>
        <p:txBody>
          <a:bodyPr/>
          <a:lstStyle/>
          <a:p>
            <a:pPr algn="ctr"/>
            <a:fld id="{7DA59B58-B945-4B36-BC6B-9C26C933A008}" type="slidenum">
              <a:rPr lang="en-US" smtClean="0"/>
              <a:t>8</a:t>
            </a:fld>
            <a:endParaRPr lang="en-US"/>
          </a:p>
        </p:txBody>
      </p:sp>
      <p:sp>
        <p:nvSpPr>
          <p:cNvPr id="2" name="Title 1">
            <a:extLst>
              <a:ext uri="{FF2B5EF4-FFF2-40B4-BE49-F238E27FC236}">
                <a16:creationId xmlns:a16="http://schemas.microsoft.com/office/drawing/2014/main" id="{4145B753-5309-7A49-62F3-98C136812331}"/>
              </a:ext>
            </a:extLst>
          </p:cNvPr>
          <p:cNvSpPr>
            <a:spLocks noGrp="1"/>
          </p:cNvSpPr>
          <p:nvPr>
            <p:ph type="title"/>
          </p:nvPr>
        </p:nvSpPr>
        <p:spPr/>
        <p:txBody>
          <a:bodyPr/>
          <a:lstStyle/>
          <a:p>
            <a:r>
              <a:rPr lang="en-US" dirty="0">
                <a:sym typeface="Arial" panose="020B0604020202020204" pitchFamily="34" charset="0"/>
              </a:rPr>
              <a:t>We Provide Insights for How the Leadership Team Works</a:t>
            </a:r>
            <a:endParaRPr lang="en-US" dirty="0"/>
          </a:p>
        </p:txBody>
      </p:sp>
      <p:grpSp>
        <p:nvGrpSpPr>
          <p:cNvPr id="6" name="object 6">
            <a:extLst>
              <a:ext uri="{FF2B5EF4-FFF2-40B4-BE49-F238E27FC236}">
                <a16:creationId xmlns:a16="http://schemas.microsoft.com/office/drawing/2014/main" id="{10BF2634-86EB-7B89-A260-A9F476A42FA3}"/>
              </a:ext>
            </a:extLst>
          </p:cNvPr>
          <p:cNvGrpSpPr/>
          <p:nvPr/>
        </p:nvGrpSpPr>
        <p:grpSpPr>
          <a:xfrm>
            <a:off x="731837" y="939113"/>
            <a:ext cx="10728325" cy="5154295"/>
            <a:chOff x="731837" y="939113"/>
            <a:chExt cx="10728325" cy="5154295"/>
          </a:xfrm>
          <a:noFill/>
        </p:grpSpPr>
        <p:sp>
          <p:nvSpPr>
            <p:cNvPr id="7" name="object 7">
              <a:extLst>
                <a:ext uri="{FF2B5EF4-FFF2-40B4-BE49-F238E27FC236}">
                  <a16:creationId xmlns:a16="http://schemas.microsoft.com/office/drawing/2014/main" id="{375A45F1-043C-B84E-614B-156A82369664}"/>
                </a:ext>
              </a:extLst>
            </p:cNvPr>
            <p:cNvSpPr/>
            <p:nvPr/>
          </p:nvSpPr>
          <p:spPr>
            <a:xfrm>
              <a:off x="731837" y="939113"/>
              <a:ext cx="10728325" cy="5154295"/>
            </a:xfrm>
            <a:custGeom>
              <a:avLst/>
              <a:gdLst/>
              <a:ahLst/>
              <a:cxnLst/>
              <a:rect l="l" t="t" r="r" b="b"/>
              <a:pathLst>
                <a:path w="10728325" h="5154295">
                  <a:moveTo>
                    <a:pt x="10567939" y="5153710"/>
                  </a:moveTo>
                  <a:lnTo>
                    <a:pt x="160383" y="5153710"/>
                  </a:lnTo>
                  <a:lnTo>
                    <a:pt x="109689" y="5145534"/>
                  </a:lnTo>
                  <a:lnTo>
                    <a:pt x="65663" y="5122766"/>
                  </a:lnTo>
                  <a:lnTo>
                    <a:pt x="30944" y="5088047"/>
                  </a:lnTo>
                  <a:lnTo>
                    <a:pt x="8176" y="5044021"/>
                  </a:lnTo>
                  <a:lnTo>
                    <a:pt x="0" y="4993327"/>
                  </a:lnTo>
                  <a:lnTo>
                    <a:pt x="0" y="160383"/>
                  </a:lnTo>
                  <a:lnTo>
                    <a:pt x="8176" y="109689"/>
                  </a:lnTo>
                  <a:lnTo>
                    <a:pt x="30944" y="65663"/>
                  </a:lnTo>
                  <a:lnTo>
                    <a:pt x="65663" y="30944"/>
                  </a:lnTo>
                  <a:lnTo>
                    <a:pt x="109689" y="8176"/>
                  </a:lnTo>
                  <a:lnTo>
                    <a:pt x="160383" y="0"/>
                  </a:lnTo>
                  <a:lnTo>
                    <a:pt x="10567939" y="0"/>
                  </a:lnTo>
                  <a:lnTo>
                    <a:pt x="10629316" y="12208"/>
                  </a:lnTo>
                  <a:lnTo>
                    <a:pt x="10681348" y="46975"/>
                  </a:lnTo>
                  <a:lnTo>
                    <a:pt x="10716115" y="99007"/>
                  </a:lnTo>
                  <a:lnTo>
                    <a:pt x="10728323" y="160383"/>
                  </a:lnTo>
                  <a:lnTo>
                    <a:pt x="10728323" y="4993327"/>
                  </a:lnTo>
                  <a:lnTo>
                    <a:pt x="10720147" y="5044021"/>
                  </a:lnTo>
                  <a:lnTo>
                    <a:pt x="10697379" y="5088047"/>
                  </a:lnTo>
                  <a:lnTo>
                    <a:pt x="10662660" y="5122766"/>
                  </a:lnTo>
                  <a:lnTo>
                    <a:pt x="10618633" y="5145534"/>
                  </a:lnTo>
                  <a:lnTo>
                    <a:pt x="10567939" y="5153710"/>
                  </a:lnTo>
                  <a:close/>
                </a:path>
              </a:pathLst>
            </a:custGeom>
            <a:grp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sz="1800" b="1" i="0" u="none" strike="noStrike" kern="0" cap="none" spc="-25" normalizeH="0" baseline="0" noProof="0">
                <a:ln>
                  <a:noFill/>
                </a:ln>
                <a:solidFill>
                  <a:srgbClr val="1D1D1D"/>
                </a:solidFill>
                <a:effectLst/>
                <a:uLnTx/>
                <a:uFillTx/>
                <a:latin typeface="Segoe UI" pitchFamily="34" charset="0"/>
              </a:endParaRPr>
            </a:p>
          </p:txBody>
        </p:sp>
        <p:sp>
          <p:nvSpPr>
            <p:cNvPr id="8" name="object 8">
              <a:extLst>
                <a:ext uri="{FF2B5EF4-FFF2-40B4-BE49-F238E27FC236}">
                  <a16:creationId xmlns:a16="http://schemas.microsoft.com/office/drawing/2014/main" id="{6C0CE447-FBBA-BB09-0B79-C8108478A1E1}"/>
                </a:ext>
              </a:extLst>
            </p:cNvPr>
            <p:cNvSpPr/>
            <p:nvPr/>
          </p:nvSpPr>
          <p:spPr>
            <a:xfrm>
              <a:off x="731837" y="939113"/>
              <a:ext cx="10728325" cy="5154295"/>
            </a:xfrm>
            <a:custGeom>
              <a:avLst/>
              <a:gdLst/>
              <a:ahLst/>
              <a:cxnLst/>
              <a:rect l="l" t="t" r="r" b="b"/>
              <a:pathLst>
                <a:path w="10728325" h="5154295">
                  <a:moveTo>
                    <a:pt x="0" y="160383"/>
                  </a:moveTo>
                  <a:lnTo>
                    <a:pt x="8176" y="109689"/>
                  </a:lnTo>
                  <a:lnTo>
                    <a:pt x="30944" y="65663"/>
                  </a:lnTo>
                  <a:lnTo>
                    <a:pt x="65663" y="30944"/>
                  </a:lnTo>
                  <a:lnTo>
                    <a:pt x="109689" y="8176"/>
                  </a:lnTo>
                  <a:lnTo>
                    <a:pt x="160383" y="0"/>
                  </a:lnTo>
                  <a:lnTo>
                    <a:pt x="10567939" y="0"/>
                  </a:lnTo>
                  <a:lnTo>
                    <a:pt x="10629316" y="12208"/>
                  </a:lnTo>
                  <a:lnTo>
                    <a:pt x="10681348" y="46975"/>
                  </a:lnTo>
                  <a:lnTo>
                    <a:pt x="10716115" y="99007"/>
                  </a:lnTo>
                  <a:lnTo>
                    <a:pt x="10728323" y="160383"/>
                  </a:lnTo>
                  <a:lnTo>
                    <a:pt x="10728323" y="4993327"/>
                  </a:lnTo>
                  <a:lnTo>
                    <a:pt x="10720147" y="5044021"/>
                  </a:lnTo>
                  <a:lnTo>
                    <a:pt x="10697379" y="5088047"/>
                  </a:lnTo>
                  <a:lnTo>
                    <a:pt x="10662660" y="5122766"/>
                  </a:lnTo>
                  <a:lnTo>
                    <a:pt x="10618633" y="5145534"/>
                  </a:lnTo>
                  <a:lnTo>
                    <a:pt x="10567939" y="5153710"/>
                  </a:lnTo>
                  <a:lnTo>
                    <a:pt x="160383" y="5153710"/>
                  </a:lnTo>
                  <a:lnTo>
                    <a:pt x="109689" y="5145534"/>
                  </a:lnTo>
                  <a:lnTo>
                    <a:pt x="65663" y="5122766"/>
                  </a:lnTo>
                  <a:lnTo>
                    <a:pt x="30944" y="5088047"/>
                  </a:lnTo>
                  <a:lnTo>
                    <a:pt x="8176" y="5044021"/>
                  </a:lnTo>
                  <a:lnTo>
                    <a:pt x="0" y="4993327"/>
                  </a:lnTo>
                  <a:lnTo>
                    <a:pt x="0" y="160383"/>
                  </a:lnTo>
                  <a:close/>
                </a:path>
              </a:pathLst>
            </a:custGeom>
            <a:noFill/>
            <a:ln w="9524">
              <a:solidFill>
                <a:srgbClr val="1D1D1D"/>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sz="1800" b="1" i="0" u="none" strike="noStrike" kern="0" cap="none" spc="-25" normalizeH="0" baseline="0" noProof="0">
                <a:ln>
                  <a:noFill/>
                </a:ln>
                <a:solidFill>
                  <a:sysClr val="windowText" lastClr="000000"/>
                </a:solidFill>
                <a:effectLst/>
                <a:uLnTx/>
                <a:uFillTx/>
                <a:latin typeface="Segoe UI" pitchFamily="34" charset="0"/>
              </a:endParaRPr>
            </a:p>
          </p:txBody>
        </p:sp>
      </p:grpSp>
      <p:sp>
        <p:nvSpPr>
          <p:cNvPr id="9" name="Triangle 8">
            <a:extLst>
              <a:ext uri="{FF2B5EF4-FFF2-40B4-BE49-F238E27FC236}">
                <a16:creationId xmlns:a16="http://schemas.microsoft.com/office/drawing/2014/main" id="{9D81B43F-518A-BDA3-5EF9-896015E37D99}"/>
              </a:ext>
            </a:extLst>
          </p:cNvPr>
          <p:cNvSpPr/>
          <p:nvPr/>
        </p:nvSpPr>
        <p:spPr>
          <a:xfrm rot="16200000" flipH="1">
            <a:off x="6159938" y="858652"/>
            <a:ext cx="5142597" cy="5303520"/>
          </a:xfrm>
          <a:prstGeom prst="triangle">
            <a:avLst>
              <a:gd name="adj" fmla="val 50634"/>
            </a:avLst>
          </a:prstGeom>
          <a:gradFill>
            <a:gsLst>
              <a:gs pos="100000">
                <a:schemeClr val="bg1"/>
              </a:gs>
              <a:gs pos="0">
                <a:srgbClr val="7B828D"/>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riangle 9">
            <a:extLst>
              <a:ext uri="{FF2B5EF4-FFF2-40B4-BE49-F238E27FC236}">
                <a16:creationId xmlns:a16="http://schemas.microsoft.com/office/drawing/2014/main" id="{EA7D27B7-F34C-DBD5-58B9-18B2522920E7}"/>
              </a:ext>
            </a:extLst>
          </p:cNvPr>
          <p:cNvSpPr/>
          <p:nvPr/>
        </p:nvSpPr>
        <p:spPr>
          <a:xfrm rot="5400000">
            <a:off x="906147" y="864501"/>
            <a:ext cx="5154296" cy="5303520"/>
          </a:xfrm>
          <a:prstGeom prst="triangle">
            <a:avLst>
              <a:gd name="adj" fmla="val 50634"/>
            </a:avLst>
          </a:prstGeom>
          <a:gradFill>
            <a:gsLst>
              <a:gs pos="100000">
                <a:schemeClr val="bg1"/>
              </a:gs>
              <a:gs pos="0">
                <a:schemeClr val="accent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bject 10">
            <a:extLst>
              <a:ext uri="{FF2B5EF4-FFF2-40B4-BE49-F238E27FC236}">
                <a16:creationId xmlns:a16="http://schemas.microsoft.com/office/drawing/2014/main" id="{E1BE1DCC-A7AD-84D0-0AAE-9E4B2EEE66DD}"/>
              </a:ext>
            </a:extLst>
          </p:cNvPr>
          <p:cNvSpPr txBox="1"/>
          <p:nvPr/>
        </p:nvSpPr>
        <p:spPr>
          <a:xfrm>
            <a:off x="8413717" y="2326902"/>
            <a:ext cx="1374775" cy="33020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000" b="1" i="0" u="none" strike="noStrike" kern="0" cap="none" spc="-10" normalizeH="0" baseline="0" noProof="0" dirty="0">
                <a:ln>
                  <a:noFill/>
                </a:ln>
                <a:solidFill>
                  <a:sysClr val="windowText" lastClr="000000"/>
                </a:solidFill>
                <a:effectLst/>
                <a:uLnTx/>
                <a:uFillTx/>
                <a:latin typeface="Segoe UI" pitchFamily="34" charset="0"/>
                <a:cs typeface="Helvetica Neue"/>
              </a:rPr>
              <a:t>Headwinds</a:t>
            </a:r>
            <a:endParaRPr kumimoji="0" sz="2000" b="0" i="0" u="none" strike="noStrike" kern="0" cap="none" spc="-10" normalizeH="0" baseline="0" noProof="0" dirty="0">
              <a:ln>
                <a:noFill/>
              </a:ln>
              <a:solidFill>
                <a:sysClr val="windowText" lastClr="000000"/>
              </a:solidFill>
              <a:effectLst/>
              <a:uLnTx/>
              <a:uFillTx/>
              <a:latin typeface="Arial" pitchFamily="34" charset="0"/>
              <a:cs typeface="Helvetica Neue"/>
            </a:endParaRPr>
          </a:p>
        </p:txBody>
      </p:sp>
      <p:grpSp>
        <p:nvGrpSpPr>
          <p:cNvPr id="12" name="object 11">
            <a:extLst>
              <a:ext uri="{FF2B5EF4-FFF2-40B4-BE49-F238E27FC236}">
                <a16:creationId xmlns:a16="http://schemas.microsoft.com/office/drawing/2014/main" id="{570322B4-7F50-AA63-C464-493C728EC3BD}"/>
              </a:ext>
            </a:extLst>
          </p:cNvPr>
          <p:cNvGrpSpPr/>
          <p:nvPr/>
        </p:nvGrpSpPr>
        <p:grpSpPr>
          <a:xfrm>
            <a:off x="5539487" y="1743112"/>
            <a:ext cx="1113155" cy="3545840"/>
            <a:chOff x="5539487" y="1743112"/>
            <a:chExt cx="1113155" cy="3545840"/>
          </a:xfrm>
        </p:grpSpPr>
        <p:pic>
          <p:nvPicPr>
            <p:cNvPr id="13" name="object 12">
              <a:extLst>
                <a:ext uri="{FF2B5EF4-FFF2-40B4-BE49-F238E27FC236}">
                  <a16:creationId xmlns:a16="http://schemas.microsoft.com/office/drawing/2014/main" id="{BACD1BBD-8CF8-6BE3-B818-FCEF5D5ACD79}"/>
                </a:ext>
              </a:extLst>
            </p:cNvPr>
            <p:cNvPicPr/>
            <p:nvPr/>
          </p:nvPicPr>
          <p:blipFill>
            <a:blip r:embed="rId2" cstate="print">
              <a:duotone>
                <a:schemeClr val="accent1">
                  <a:shade val="45000"/>
                  <a:satMod val="135000"/>
                </a:schemeClr>
                <a:prstClr val="white"/>
              </a:duotone>
            </a:blip>
            <a:stretch>
              <a:fillRect/>
            </a:stretch>
          </p:blipFill>
          <p:spPr>
            <a:xfrm>
              <a:off x="5539487" y="1743112"/>
              <a:ext cx="522297" cy="522297"/>
            </a:xfrm>
            <a:prstGeom prst="rect">
              <a:avLst/>
            </a:prstGeom>
          </p:spPr>
        </p:pic>
        <p:pic>
          <p:nvPicPr>
            <p:cNvPr id="14" name="object 13">
              <a:extLst>
                <a:ext uri="{FF2B5EF4-FFF2-40B4-BE49-F238E27FC236}">
                  <a16:creationId xmlns:a16="http://schemas.microsoft.com/office/drawing/2014/main" id="{09E0F188-30A1-FCAD-ED09-577E36DE9CF0}"/>
                </a:ext>
              </a:extLst>
            </p:cNvPr>
            <p:cNvPicPr/>
            <p:nvPr/>
          </p:nvPicPr>
          <p:blipFill>
            <a:blip r:embed="rId2" cstate="print">
              <a:duotone>
                <a:schemeClr val="accent1">
                  <a:shade val="45000"/>
                  <a:satMod val="135000"/>
                </a:schemeClr>
                <a:prstClr val="white"/>
              </a:duotone>
            </a:blip>
            <a:stretch>
              <a:fillRect/>
            </a:stretch>
          </p:blipFill>
          <p:spPr>
            <a:xfrm>
              <a:off x="6130216" y="1760814"/>
              <a:ext cx="522297" cy="522297"/>
            </a:xfrm>
            <a:prstGeom prst="rect">
              <a:avLst/>
            </a:prstGeom>
          </p:spPr>
        </p:pic>
        <p:pic>
          <p:nvPicPr>
            <p:cNvPr id="15" name="object 14">
              <a:extLst>
                <a:ext uri="{FF2B5EF4-FFF2-40B4-BE49-F238E27FC236}">
                  <a16:creationId xmlns:a16="http://schemas.microsoft.com/office/drawing/2014/main" id="{053F9FC6-DA2F-2B42-4A3E-FE793EF58ABE}"/>
                </a:ext>
              </a:extLst>
            </p:cNvPr>
            <p:cNvPicPr/>
            <p:nvPr/>
          </p:nvPicPr>
          <p:blipFill>
            <a:blip r:embed="rId3" cstate="print">
              <a:duotone>
                <a:schemeClr val="accent1">
                  <a:shade val="45000"/>
                  <a:satMod val="135000"/>
                </a:schemeClr>
                <a:prstClr val="white"/>
              </a:duotone>
            </a:blip>
            <a:stretch>
              <a:fillRect/>
            </a:stretch>
          </p:blipFill>
          <p:spPr>
            <a:xfrm>
              <a:off x="5543342" y="4752489"/>
              <a:ext cx="536332" cy="536333"/>
            </a:xfrm>
            <a:prstGeom prst="rect">
              <a:avLst/>
            </a:prstGeom>
          </p:spPr>
        </p:pic>
        <p:pic>
          <p:nvPicPr>
            <p:cNvPr id="16" name="object 15">
              <a:extLst>
                <a:ext uri="{FF2B5EF4-FFF2-40B4-BE49-F238E27FC236}">
                  <a16:creationId xmlns:a16="http://schemas.microsoft.com/office/drawing/2014/main" id="{2778E6C7-68A8-ACC2-4D56-A4B072D94BBA}"/>
                </a:ext>
              </a:extLst>
            </p:cNvPr>
            <p:cNvPicPr/>
            <p:nvPr/>
          </p:nvPicPr>
          <p:blipFill>
            <a:blip r:embed="rId3" cstate="print">
              <a:duotone>
                <a:schemeClr val="accent1">
                  <a:shade val="45000"/>
                  <a:satMod val="135000"/>
                </a:schemeClr>
                <a:prstClr val="white"/>
              </a:duotone>
            </a:blip>
            <a:stretch>
              <a:fillRect/>
            </a:stretch>
          </p:blipFill>
          <p:spPr>
            <a:xfrm>
              <a:off x="6112327" y="4748823"/>
              <a:ext cx="536332" cy="536333"/>
            </a:xfrm>
            <a:prstGeom prst="rect">
              <a:avLst/>
            </a:prstGeom>
          </p:spPr>
        </p:pic>
      </p:grpSp>
      <p:sp>
        <p:nvSpPr>
          <p:cNvPr id="17" name="object 16">
            <a:extLst>
              <a:ext uri="{FF2B5EF4-FFF2-40B4-BE49-F238E27FC236}">
                <a16:creationId xmlns:a16="http://schemas.microsoft.com/office/drawing/2014/main" id="{194B0A2F-5D04-CBE6-5DFD-7C638A2B5FDC}"/>
              </a:ext>
            </a:extLst>
          </p:cNvPr>
          <p:cNvSpPr txBox="1"/>
          <p:nvPr/>
        </p:nvSpPr>
        <p:spPr>
          <a:xfrm>
            <a:off x="2632407" y="2326902"/>
            <a:ext cx="1146175" cy="33020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000" b="1" i="0" u="none" strike="noStrike" kern="0" cap="none" spc="-10" normalizeH="0" baseline="0" noProof="0" dirty="0">
                <a:ln>
                  <a:noFill/>
                </a:ln>
                <a:solidFill>
                  <a:sysClr val="windowText" lastClr="000000"/>
                </a:solidFill>
                <a:effectLst/>
                <a:uLnTx/>
                <a:uFillTx/>
                <a:latin typeface="Segoe UI" pitchFamily="34" charset="0"/>
                <a:cs typeface="Helvetica Neue"/>
              </a:rPr>
              <a:t>Tailwinds</a:t>
            </a:r>
            <a:endParaRPr kumimoji="0" sz="2000" b="0" i="0" u="none" strike="noStrike" kern="0" cap="none" spc="-10" normalizeH="0" baseline="0" noProof="0">
              <a:ln>
                <a:noFill/>
              </a:ln>
              <a:solidFill>
                <a:sysClr val="windowText" lastClr="000000"/>
              </a:solidFill>
              <a:effectLst/>
              <a:uLnTx/>
              <a:uFillTx/>
              <a:latin typeface="Arial" pitchFamily="34" charset="0"/>
              <a:cs typeface="Helvetica Neue"/>
            </a:endParaRPr>
          </a:p>
        </p:txBody>
      </p:sp>
      <p:sp>
        <p:nvSpPr>
          <p:cNvPr id="18" name="object 17">
            <a:extLst>
              <a:ext uri="{FF2B5EF4-FFF2-40B4-BE49-F238E27FC236}">
                <a16:creationId xmlns:a16="http://schemas.microsoft.com/office/drawing/2014/main" id="{0F2939BF-E5CD-8679-9313-F1B2F4973744}"/>
              </a:ext>
            </a:extLst>
          </p:cNvPr>
          <p:cNvSpPr txBox="1"/>
          <p:nvPr/>
        </p:nvSpPr>
        <p:spPr>
          <a:xfrm>
            <a:off x="8423978" y="2703395"/>
            <a:ext cx="2121535" cy="452120"/>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sz="1400" b="0" i="0" u="none" strike="noStrike" kern="0" cap="none" spc="-10" normalizeH="0" baseline="0" noProof="0" dirty="0">
                <a:ln>
                  <a:noFill/>
                </a:ln>
                <a:solidFill>
                  <a:sysClr val="windowText" lastClr="000000"/>
                </a:solidFill>
                <a:effectLst/>
                <a:uLnTx/>
                <a:uFillTx/>
                <a:latin typeface="Arial" pitchFamily="34" charset="0"/>
                <a:cs typeface="Helvetica Neue"/>
              </a:rPr>
              <a:t>Work independently rather than interdependently</a:t>
            </a:r>
            <a:endParaRPr kumimoji="0" sz="1400" b="0" i="0" u="none" strike="noStrike" kern="0" cap="none" spc="-10" normalizeH="0" baseline="0" noProof="0">
              <a:ln>
                <a:noFill/>
              </a:ln>
              <a:solidFill>
                <a:sysClr val="windowText" lastClr="000000"/>
              </a:solidFill>
              <a:effectLst/>
              <a:uLnTx/>
              <a:uFillTx/>
              <a:latin typeface="Arial" pitchFamily="34" charset="0"/>
              <a:cs typeface="Helvetica Neue"/>
            </a:endParaRPr>
          </a:p>
        </p:txBody>
      </p:sp>
      <p:sp>
        <p:nvSpPr>
          <p:cNvPr id="19" name="object 18">
            <a:extLst>
              <a:ext uri="{FF2B5EF4-FFF2-40B4-BE49-F238E27FC236}">
                <a16:creationId xmlns:a16="http://schemas.microsoft.com/office/drawing/2014/main" id="{31DAFC5B-EE00-C394-03E0-8973825C2F34}"/>
              </a:ext>
            </a:extLst>
          </p:cNvPr>
          <p:cNvSpPr txBox="1"/>
          <p:nvPr/>
        </p:nvSpPr>
        <p:spPr>
          <a:xfrm>
            <a:off x="8423978" y="3343474"/>
            <a:ext cx="1362075" cy="2387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400" b="0" i="0" u="none" strike="noStrike" kern="0" cap="none" spc="-10" normalizeH="0" baseline="0" noProof="0" dirty="0">
                <a:ln>
                  <a:noFill/>
                </a:ln>
                <a:solidFill>
                  <a:sysClr val="windowText" lastClr="000000"/>
                </a:solidFill>
                <a:effectLst/>
                <a:uLnTx/>
                <a:uFillTx/>
                <a:latin typeface="Arial" pitchFamily="34" charset="0"/>
                <a:cs typeface="Helvetica Neue"/>
              </a:rPr>
              <a:t>Low on Empathy</a:t>
            </a:r>
          </a:p>
        </p:txBody>
      </p:sp>
      <p:sp>
        <p:nvSpPr>
          <p:cNvPr id="20" name="object 19">
            <a:extLst>
              <a:ext uri="{FF2B5EF4-FFF2-40B4-BE49-F238E27FC236}">
                <a16:creationId xmlns:a16="http://schemas.microsoft.com/office/drawing/2014/main" id="{1095B7BA-198A-78F0-A222-2DB6F95E6768}"/>
              </a:ext>
            </a:extLst>
          </p:cNvPr>
          <p:cNvSpPr txBox="1"/>
          <p:nvPr/>
        </p:nvSpPr>
        <p:spPr>
          <a:xfrm>
            <a:off x="8423978" y="3770195"/>
            <a:ext cx="1296035" cy="2387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400" b="0" i="0" u="none" strike="noStrike" kern="0" cap="none" spc="-10" normalizeH="0" baseline="0" noProof="0" dirty="0">
                <a:ln>
                  <a:noFill/>
                </a:ln>
                <a:solidFill>
                  <a:sysClr val="windowText" lastClr="000000"/>
                </a:solidFill>
                <a:effectLst/>
                <a:uLnTx/>
                <a:uFillTx/>
                <a:latin typeface="Arial" pitchFamily="34" charset="0"/>
                <a:cs typeface="Helvetica Neue"/>
              </a:rPr>
              <a:t>Low on Process</a:t>
            </a:r>
            <a:endParaRPr kumimoji="0" sz="1400" b="0" i="0" u="none" strike="noStrike" kern="0" cap="none" spc="-10" normalizeH="0" baseline="0" noProof="0">
              <a:ln>
                <a:noFill/>
              </a:ln>
              <a:solidFill>
                <a:sysClr val="windowText" lastClr="000000"/>
              </a:solidFill>
              <a:effectLst/>
              <a:uLnTx/>
              <a:uFillTx/>
              <a:latin typeface="Arial" pitchFamily="34" charset="0"/>
              <a:cs typeface="Helvetica Neue"/>
            </a:endParaRPr>
          </a:p>
        </p:txBody>
      </p:sp>
      <p:sp>
        <p:nvSpPr>
          <p:cNvPr id="21" name="object 20">
            <a:extLst>
              <a:ext uri="{FF2B5EF4-FFF2-40B4-BE49-F238E27FC236}">
                <a16:creationId xmlns:a16="http://schemas.microsoft.com/office/drawing/2014/main" id="{FB812E70-AF8E-B204-5A7F-DAA945C49958}"/>
              </a:ext>
            </a:extLst>
          </p:cNvPr>
          <p:cNvSpPr txBox="1"/>
          <p:nvPr/>
        </p:nvSpPr>
        <p:spPr>
          <a:xfrm>
            <a:off x="8423978" y="4196915"/>
            <a:ext cx="2144395" cy="452120"/>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sz="1400" b="0" i="0" u="none" strike="noStrike" kern="0" cap="none" spc="-10" normalizeH="0" baseline="0" noProof="0" dirty="0">
                <a:ln>
                  <a:noFill/>
                </a:ln>
                <a:solidFill>
                  <a:sysClr val="windowText" lastClr="000000"/>
                </a:solidFill>
                <a:effectLst/>
                <a:uLnTx/>
                <a:uFillTx/>
                <a:latin typeface="Arial" pitchFamily="34" charset="0"/>
                <a:cs typeface="Helvetica Neue"/>
              </a:rPr>
              <a:t>Quick to frustration when things don't go as planned</a:t>
            </a:r>
            <a:endParaRPr kumimoji="0" sz="1400" b="0" i="0" u="none" strike="noStrike" kern="0" cap="none" spc="-10" normalizeH="0" baseline="0" noProof="0">
              <a:ln>
                <a:noFill/>
              </a:ln>
              <a:solidFill>
                <a:sysClr val="windowText" lastClr="000000"/>
              </a:solidFill>
              <a:effectLst/>
              <a:uLnTx/>
              <a:uFillTx/>
              <a:latin typeface="Arial" pitchFamily="34" charset="0"/>
              <a:cs typeface="Helvetica Neue"/>
            </a:endParaRPr>
          </a:p>
        </p:txBody>
      </p:sp>
      <p:sp>
        <p:nvSpPr>
          <p:cNvPr id="22" name="object 21">
            <a:extLst>
              <a:ext uri="{FF2B5EF4-FFF2-40B4-BE49-F238E27FC236}">
                <a16:creationId xmlns:a16="http://schemas.microsoft.com/office/drawing/2014/main" id="{4F5664BD-1E1C-53D4-4747-9D0585D7B0AB}"/>
              </a:ext>
            </a:extLst>
          </p:cNvPr>
          <p:cNvSpPr txBox="1"/>
          <p:nvPr/>
        </p:nvSpPr>
        <p:spPr>
          <a:xfrm>
            <a:off x="2118763" y="2703395"/>
            <a:ext cx="1649730" cy="452120"/>
          </a:xfrm>
          <a:prstGeom prst="rect">
            <a:avLst/>
          </a:prstGeom>
        </p:spPr>
        <p:txBody>
          <a:bodyPr vert="horz" wrap="square" lIns="0" tIns="12700" rIns="0" bIns="0" rtlCol="0">
            <a:spAutoFit/>
          </a:bodyPr>
          <a:lstStyle/>
          <a:p>
            <a:pPr marL="0" marR="5080" lvl="0" indent="0" algn="r" defTabSz="914400" eaLnBrk="1" fontAlgn="auto" latinLnBrk="0" hangingPunct="1">
              <a:lnSpc>
                <a:spcPct val="100000"/>
              </a:lnSpc>
              <a:spcBef>
                <a:spcPts val="100"/>
              </a:spcBef>
              <a:spcAft>
                <a:spcPts val="0"/>
              </a:spcAft>
              <a:buClrTx/>
              <a:buSzTx/>
              <a:buFontTx/>
              <a:buNone/>
              <a:tabLst/>
              <a:defRPr/>
            </a:pPr>
            <a:r>
              <a:rPr kumimoji="0" lang="en-US" sz="1400" b="0" i="0" u="none" strike="noStrike" kern="0" cap="none" spc="-10" normalizeH="0" baseline="0" noProof="0">
                <a:ln>
                  <a:noFill/>
                </a:ln>
                <a:solidFill>
                  <a:sysClr val="windowText" lastClr="000000"/>
                </a:solidFill>
                <a:effectLst/>
                <a:uLnTx/>
                <a:uFillTx/>
                <a:latin typeface="Arial" pitchFamily="34" charset="0"/>
                <a:cs typeface="Helvetica Neue"/>
              </a:rPr>
              <a:t>Intellectually</a:t>
            </a:r>
            <a:r>
              <a:rPr kumimoji="0" sz="1400" b="0" i="0" u="none" strike="noStrike" kern="0" cap="none" spc="-10" normalizeH="0" baseline="0" noProof="0" dirty="0">
                <a:ln>
                  <a:noFill/>
                </a:ln>
                <a:solidFill>
                  <a:sysClr val="windowText" lastClr="000000"/>
                </a:solidFill>
                <a:effectLst/>
                <a:uLnTx/>
                <a:uFillTx/>
                <a:latin typeface="Arial" pitchFamily="34" charset="0"/>
                <a:cs typeface="Helvetica Neue"/>
              </a:rPr>
              <a:t> strong</a:t>
            </a:r>
            <a:endParaRPr kumimoji="0" sz="1400" b="0" i="0" u="none" strike="noStrike" kern="0" cap="none" spc="-10" normalizeH="0" baseline="0" noProof="0">
              <a:ln>
                <a:noFill/>
              </a:ln>
              <a:solidFill>
                <a:sysClr val="windowText" lastClr="000000"/>
              </a:solidFill>
              <a:effectLst/>
              <a:uLnTx/>
              <a:uFillTx/>
              <a:latin typeface="Arial" pitchFamily="34" charset="0"/>
              <a:cs typeface="Helvetica Neue"/>
            </a:endParaRPr>
          </a:p>
          <a:p>
            <a:pPr marL="0" marR="5715" lvl="0" indent="0" algn="r" defTabSz="914400" eaLnBrk="1" fontAlgn="auto" latinLnBrk="0" hangingPunct="1">
              <a:lnSpc>
                <a:spcPct val="100000"/>
              </a:lnSpc>
              <a:spcBef>
                <a:spcPts val="0"/>
              </a:spcBef>
              <a:spcAft>
                <a:spcPts val="0"/>
              </a:spcAft>
              <a:buClrTx/>
              <a:buSzTx/>
              <a:buFontTx/>
              <a:buNone/>
              <a:tabLst/>
              <a:defRPr/>
            </a:pPr>
            <a:r>
              <a:rPr kumimoji="0" sz="1400" b="0" i="0" u="none" strike="noStrike" kern="0" cap="none" spc="-10" normalizeH="0" baseline="0" noProof="0" dirty="0">
                <a:ln>
                  <a:noFill/>
                </a:ln>
                <a:solidFill>
                  <a:sysClr val="windowText" lastClr="000000"/>
                </a:solidFill>
                <a:effectLst/>
                <a:uLnTx/>
                <a:uFillTx/>
                <a:latin typeface="Arial" pitchFamily="34" charset="0"/>
                <a:cs typeface="Helvetica Neue"/>
              </a:rPr>
              <a:t>(Learning)</a:t>
            </a:r>
            <a:endParaRPr kumimoji="0" sz="1400" b="0" i="0" u="none" strike="noStrike" kern="0" cap="none" spc="-10" normalizeH="0" baseline="0" noProof="0">
              <a:ln>
                <a:noFill/>
              </a:ln>
              <a:solidFill>
                <a:sysClr val="windowText" lastClr="000000"/>
              </a:solidFill>
              <a:effectLst/>
              <a:uLnTx/>
              <a:uFillTx/>
              <a:latin typeface="Arial" pitchFamily="34" charset="0"/>
              <a:cs typeface="Helvetica Neue"/>
            </a:endParaRPr>
          </a:p>
        </p:txBody>
      </p:sp>
      <p:sp>
        <p:nvSpPr>
          <p:cNvPr id="23" name="object 22">
            <a:extLst>
              <a:ext uri="{FF2B5EF4-FFF2-40B4-BE49-F238E27FC236}">
                <a16:creationId xmlns:a16="http://schemas.microsoft.com/office/drawing/2014/main" id="{F2C31CC7-86F6-E332-440A-0D37F51D0E5B}"/>
              </a:ext>
            </a:extLst>
          </p:cNvPr>
          <p:cNvSpPr txBox="1"/>
          <p:nvPr/>
        </p:nvSpPr>
        <p:spPr>
          <a:xfrm>
            <a:off x="2121800" y="3343474"/>
            <a:ext cx="1646555" cy="2387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400" b="0" i="0" u="none" strike="noStrike" kern="0" cap="none" spc="-10" normalizeH="0" baseline="0" noProof="0" dirty="0">
                <a:ln>
                  <a:noFill/>
                </a:ln>
                <a:solidFill>
                  <a:sysClr val="windowText" lastClr="000000"/>
                </a:solidFill>
                <a:effectLst/>
                <a:uLnTx/>
                <a:uFillTx/>
                <a:latin typeface="Arial" pitchFamily="34" charset="0"/>
                <a:cs typeface="Helvetica Neue"/>
              </a:rPr>
              <a:t>Commercially astute</a:t>
            </a:r>
            <a:endParaRPr kumimoji="0" sz="1400" b="0" i="0" u="none" strike="noStrike" kern="0" cap="none" spc="-10" normalizeH="0" baseline="0" noProof="0">
              <a:ln>
                <a:noFill/>
              </a:ln>
              <a:solidFill>
                <a:sysClr val="windowText" lastClr="000000"/>
              </a:solidFill>
              <a:effectLst/>
              <a:uLnTx/>
              <a:uFillTx/>
              <a:latin typeface="Arial" pitchFamily="34" charset="0"/>
              <a:cs typeface="Helvetica Neue"/>
            </a:endParaRPr>
          </a:p>
        </p:txBody>
      </p:sp>
      <p:sp>
        <p:nvSpPr>
          <p:cNvPr id="24" name="object 23">
            <a:extLst>
              <a:ext uri="{FF2B5EF4-FFF2-40B4-BE49-F238E27FC236}">
                <a16:creationId xmlns:a16="http://schemas.microsoft.com/office/drawing/2014/main" id="{2DF91A7C-B44B-1A9D-8026-3465878DC941}"/>
              </a:ext>
            </a:extLst>
          </p:cNvPr>
          <p:cNvSpPr txBox="1"/>
          <p:nvPr/>
        </p:nvSpPr>
        <p:spPr>
          <a:xfrm>
            <a:off x="2014908" y="3770195"/>
            <a:ext cx="1753870" cy="2387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400" b="0" i="0" u="none" strike="noStrike" kern="0" cap="none" spc="-10" normalizeH="0" baseline="0" noProof="0" dirty="0">
                <a:ln>
                  <a:noFill/>
                </a:ln>
                <a:solidFill>
                  <a:sysClr val="windowText" lastClr="000000"/>
                </a:solidFill>
                <a:effectLst/>
                <a:uLnTx/>
                <a:uFillTx/>
                <a:latin typeface="Arial" pitchFamily="34" charset="0"/>
                <a:cs typeface="Helvetica Neue"/>
              </a:rPr>
              <a:t>High Team Motivation</a:t>
            </a:r>
          </a:p>
        </p:txBody>
      </p:sp>
      <p:sp>
        <p:nvSpPr>
          <p:cNvPr id="25" name="object 24">
            <a:extLst>
              <a:ext uri="{FF2B5EF4-FFF2-40B4-BE49-F238E27FC236}">
                <a16:creationId xmlns:a16="http://schemas.microsoft.com/office/drawing/2014/main" id="{3BCDD2EE-4408-0923-46F6-ABB85E31F6B4}"/>
              </a:ext>
            </a:extLst>
          </p:cNvPr>
          <p:cNvSpPr txBox="1"/>
          <p:nvPr/>
        </p:nvSpPr>
        <p:spPr>
          <a:xfrm>
            <a:off x="2709129" y="4196915"/>
            <a:ext cx="1059180" cy="452120"/>
          </a:xfrm>
          <a:prstGeom prst="rect">
            <a:avLst/>
          </a:prstGeom>
        </p:spPr>
        <p:txBody>
          <a:bodyPr vert="horz" wrap="square" lIns="0" tIns="12700" rIns="0" bIns="0" rtlCol="0">
            <a:spAutoFit/>
          </a:bodyPr>
          <a:lstStyle/>
          <a:p>
            <a:pPr marL="245745" marR="5080" lvl="0" indent="-233679" defTabSz="914400" eaLnBrk="1" fontAlgn="auto" latinLnBrk="0" hangingPunct="1">
              <a:lnSpc>
                <a:spcPct val="100000"/>
              </a:lnSpc>
              <a:spcBef>
                <a:spcPts val="100"/>
              </a:spcBef>
              <a:spcAft>
                <a:spcPts val="0"/>
              </a:spcAft>
              <a:buClrTx/>
              <a:buSzTx/>
              <a:buFontTx/>
              <a:buNone/>
              <a:tabLst/>
              <a:defRPr/>
            </a:pPr>
            <a:r>
              <a:rPr kumimoji="0" sz="1400" b="0" i="0" u="none" strike="noStrike" kern="0" cap="none" spc="-10" normalizeH="0" baseline="0" noProof="0" dirty="0">
                <a:ln>
                  <a:noFill/>
                </a:ln>
                <a:solidFill>
                  <a:sysClr val="windowText" lastClr="000000"/>
                </a:solidFill>
                <a:effectLst/>
                <a:uLnTx/>
                <a:uFillTx/>
                <a:latin typeface="Arial" pitchFamily="34" charset="0"/>
                <a:cs typeface="Helvetica Neue"/>
              </a:rPr>
              <a:t>Highly driven (Ambition)</a:t>
            </a:r>
            <a:endParaRPr kumimoji="0" sz="1400" b="0" i="0" u="none" strike="noStrike" kern="0" cap="none" spc="-10" normalizeH="0" baseline="0" noProof="0">
              <a:ln>
                <a:noFill/>
              </a:ln>
              <a:solidFill>
                <a:sysClr val="windowText" lastClr="000000"/>
              </a:solidFill>
              <a:effectLst/>
              <a:uLnTx/>
              <a:uFillTx/>
              <a:latin typeface="Arial" pitchFamily="34" charset="0"/>
              <a:cs typeface="Helvetica Neue"/>
            </a:endParaRPr>
          </a:p>
        </p:txBody>
      </p:sp>
      <p:sp>
        <p:nvSpPr>
          <p:cNvPr id="26" name="object 25">
            <a:extLst>
              <a:ext uri="{FF2B5EF4-FFF2-40B4-BE49-F238E27FC236}">
                <a16:creationId xmlns:a16="http://schemas.microsoft.com/office/drawing/2014/main" id="{2688182F-2FCF-6B5D-A20F-E0C5031768F6}"/>
              </a:ext>
            </a:extLst>
          </p:cNvPr>
          <p:cNvSpPr/>
          <p:nvPr/>
        </p:nvSpPr>
        <p:spPr>
          <a:xfrm>
            <a:off x="1532237" y="2693772"/>
            <a:ext cx="9128760" cy="1445895"/>
          </a:xfrm>
          <a:custGeom>
            <a:avLst/>
            <a:gdLst/>
            <a:ahLst/>
            <a:cxnLst/>
            <a:rect l="l" t="t" r="r" b="b"/>
            <a:pathLst>
              <a:path w="9128760" h="1445895">
                <a:moveTo>
                  <a:pt x="0" y="568410"/>
                </a:moveTo>
                <a:lnTo>
                  <a:pt x="2233345" y="568410"/>
                </a:lnTo>
              </a:path>
              <a:path w="9128760" h="1445895">
                <a:moveTo>
                  <a:pt x="0" y="1013253"/>
                </a:moveTo>
                <a:lnTo>
                  <a:pt x="2233345" y="1013253"/>
                </a:lnTo>
              </a:path>
              <a:path w="9128760" h="1445895">
                <a:moveTo>
                  <a:pt x="0" y="1445740"/>
                </a:moveTo>
                <a:lnTo>
                  <a:pt x="2233345" y="1445740"/>
                </a:lnTo>
              </a:path>
              <a:path w="9128760" h="1445895">
                <a:moveTo>
                  <a:pt x="6895069" y="568410"/>
                </a:moveTo>
                <a:lnTo>
                  <a:pt x="9128415" y="568410"/>
                </a:lnTo>
              </a:path>
              <a:path w="9128760" h="1445895">
                <a:moveTo>
                  <a:pt x="6895069" y="1013254"/>
                </a:moveTo>
                <a:lnTo>
                  <a:pt x="9128415" y="1013254"/>
                </a:lnTo>
              </a:path>
              <a:path w="9128760" h="1445895">
                <a:moveTo>
                  <a:pt x="6895069" y="1421026"/>
                </a:moveTo>
                <a:lnTo>
                  <a:pt x="9128415" y="1421026"/>
                </a:lnTo>
              </a:path>
              <a:path w="9128760" h="1445895">
                <a:moveTo>
                  <a:pt x="0" y="0"/>
                </a:moveTo>
                <a:lnTo>
                  <a:pt x="2233345" y="0"/>
                </a:lnTo>
              </a:path>
              <a:path w="9128760" h="1445895">
                <a:moveTo>
                  <a:pt x="6895069" y="0"/>
                </a:moveTo>
                <a:lnTo>
                  <a:pt x="9128415" y="0"/>
                </a:lnTo>
              </a:path>
            </a:pathLst>
          </a:custGeom>
          <a:ln w="9524">
            <a:solidFill>
              <a:srgbClr val="765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7" name="TextBox 26">
            <a:extLst>
              <a:ext uri="{FF2B5EF4-FFF2-40B4-BE49-F238E27FC236}">
                <a16:creationId xmlns:a16="http://schemas.microsoft.com/office/drawing/2014/main" id="{27BCBC6C-5392-1DC4-7FF3-7F992A25CBD5}"/>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12540893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218CD2-F48C-14B8-AE09-2FE626842FE2}"/>
              </a:ext>
            </a:extLst>
          </p:cNvPr>
          <p:cNvSpPr>
            <a:spLocks noGrp="1"/>
          </p:cNvSpPr>
          <p:nvPr>
            <p:ph type="sldNum" sz="quarter" idx="4"/>
          </p:nvPr>
        </p:nvSpPr>
        <p:spPr/>
        <p:txBody>
          <a:bodyPr/>
          <a:lstStyle/>
          <a:p>
            <a:pPr algn="ctr"/>
            <a:fld id="{1875A764-3B06-454E-8ABA-2F6ED0EB58E9}" type="slidenum">
              <a:rPr lang="en-US" smtClean="0"/>
              <a:t>9</a:t>
            </a:fld>
            <a:endParaRPr lang="en-US"/>
          </a:p>
        </p:txBody>
      </p:sp>
      <p:sp>
        <p:nvSpPr>
          <p:cNvPr id="3" name="Title 2">
            <a:extLst>
              <a:ext uri="{FF2B5EF4-FFF2-40B4-BE49-F238E27FC236}">
                <a16:creationId xmlns:a16="http://schemas.microsoft.com/office/drawing/2014/main" id="{0C2A23BF-E68D-4CE6-4F51-430BE33F12A1}"/>
              </a:ext>
            </a:extLst>
          </p:cNvPr>
          <p:cNvSpPr>
            <a:spLocks noGrp="1"/>
          </p:cNvSpPr>
          <p:nvPr>
            <p:ph type="title"/>
          </p:nvPr>
        </p:nvSpPr>
        <p:spPr/>
        <p:txBody>
          <a:bodyPr/>
          <a:lstStyle/>
          <a:p>
            <a:r>
              <a:rPr lang="en-US" dirty="0"/>
              <a:t>We Identify Team Dynamics</a:t>
            </a:r>
          </a:p>
        </p:txBody>
      </p:sp>
      <p:sp>
        <p:nvSpPr>
          <p:cNvPr id="4" name="Rounded Rectangle 3">
            <a:extLst>
              <a:ext uri="{FF2B5EF4-FFF2-40B4-BE49-F238E27FC236}">
                <a16:creationId xmlns:a16="http://schemas.microsoft.com/office/drawing/2014/main" id="{EA6594C7-8764-41A9-720A-10E4CDE08B47}"/>
              </a:ext>
            </a:extLst>
          </p:cNvPr>
          <p:cNvSpPr/>
          <p:nvPr/>
        </p:nvSpPr>
        <p:spPr>
          <a:xfrm>
            <a:off x="6082759" y="938163"/>
            <a:ext cx="5036965" cy="3000375"/>
          </a:xfrm>
          <a:prstGeom prst="roundRect">
            <a:avLst/>
          </a:prstGeom>
          <a:gradFill>
            <a:gsLst>
              <a:gs pos="100000">
                <a:schemeClr val="bg1"/>
              </a:gs>
              <a:gs pos="0">
                <a:srgbClr val="7B828D">
                  <a:alpha val="57972"/>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77A89399-9C6B-D301-5AE3-A13C1A36ABFB}"/>
              </a:ext>
            </a:extLst>
          </p:cNvPr>
          <p:cNvSpPr/>
          <p:nvPr/>
        </p:nvSpPr>
        <p:spPr>
          <a:xfrm>
            <a:off x="970507" y="942975"/>
            <a:ext cx="5036965" cy="3000375"/>
          </a:xfrm>
          <a:prstGeom prst="roundRect">
            <a:avLst/>
          </a:prstGeom>
          <a:gradFill>
            <a:gsLst>
              <a:gs pos="100000">
                <a:schemeClr val="bg1"/>
              </a:gs>
              <a:gs pos="0">
                <a:schemeClr val="accent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bject 13">
            <a:extLst>
              <a:ext uri="{FF2B5EF4-FFF2-40B4-BE49-F238E27FC236}">
                <a16:creationId xmlns:a16="http://schemas.microsoft.com/office/drawing/2014/main" id="{B8179A41-8438-6300-21FD-B371A9309927}"/>
              </a:ext>
            </a:extLst>
          </p:cNvPr>
          <p:cNvSpPr txBox="1"/>
          <p:nvPr/>
        </p:nvSpPr>
        <p:spPr>
          <a:xfrm>
            <a:off x="8146597" y="1083196"/>
            <a:ext cx="970280" cy="23876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b="1" spc="-25">
                <a:latin typeface="Segoe UI" pitchFamily="34" charset="0"/>
              </a:defRPr>
            </a:pPr>
            <a:r>
              <a:rPr kumimoji="0" sz="1400" b="1" i="0" u="none" strike="noStrike" kern="0" cap="none" spc="-25" normalizeH="0" baseline="0" noProof="0" dirty="0">
                <a:ln>
                  <a:noFill/>
                </a:ln>
                <a:solidFill>
                  <a:sysClr val="windowText" lastClr="000000"/>
                </a:solidFill>
                <a:effectLst/>
                <a:uLnTx/>
                <a:uFillTx/>
                <a:latin typeface="Segoe UI" pitchFamily="34" charset="0"/>
                <a:ea typeface="+mn-ea"/>
                <a:cs typeface="Helvetica Neue"/>
                <a:sym typeface="Arial" panose="020B0604020202020204" pitchFamily="34" charset="0"/>
              </a:rPr>
              <a:t>Headwinds</a:t>
            </a:r>
            <a:endParaRPr kumimoji="0" sz="1400" b="1" i="0" u="none" strike="noStrike" kern="0" cap="none" spc="-25" normalizeH="0" baseline="0" noProof="0">
              <a:ln>
                <a:noFill/>
              </a:ln>
              <a:solidFill>
                <a:sysClr val="windowText" lastClr="000000"/>
              </a:solidFill>
              <a:effectLst/>
              <a:uLnTx/>
              <a:uFillTx/>
              <a:latin typeface="Segoe UI" pitchFamily="34" charset="0"/>
              <a:ea typeface="+mn-ea"/>
              <a:cs typeface="Helvetica Neue"/>
              <a:sym typeface="Arial" panose="020B0604020202020204" pitchFamily="34" charset="0"/>
            </a:endParaRPr>
          </a:p>
        </p:txBody>
      </p:sp>
      <p:sp>
        <p:nvSpPr>
          <p:cNvPr id="7" name="object 18">
            <a:extLst>
              <a:ext uri="{FF2B5EF4-FFF2-40B4-BE49-F238E27FC236}">
                <a16:creationId xmlns:a16="http://schemas.microsoft.com/office/drawing/2014/main" id="{33AB57E4-D54E-2020-7A25-9FFDBEE4927D}"/>
              </a:ext>
            </a:extLst>
          </p:cNvPr>
          <p:cNvSpPr/>
          <p:nvPr/>
        </p:nvSpPr>
        <p:spPr>
          <a:xfrm>
            <a:off x="970508" y="4096479"/>
            <a:ext cx="10191115" cy="1784985"/>
          </a:xfrm>
          <a:custGeom>
            <a:avLst/>
            <a:gdLst/>
            <a:ahLst/>
            <a:cxnLst/>
            <a:rect l="l" t="t" r="r" b="b"/>
            <a:pathLst>
              <a:path w="10191115" h="1784985">
                <a:moveTo>
                  <a:pt x="0" y="83281"/>
                </a:moveTo>
                <a:lnTo>
                  <a:pt x="6544" y="50864"/>
                </a:lnTo>
                <a:lnTo>
                  <a:pt x="24392" y="24392"/>
                </a:lnTo>
                <a:lnTo>
                  <a:pt x="50864" y="6544"/>
                </a:lnTo>
                <a:lnTo>
                  <a:pt x="83281" y="0"/>
                </a:lnTo>
                <a:lnTo>
                  <a:pt x="10107775" y="0"/>
                </a:lnTo>
                <a:lnTo>
                  <a:pt x="10153980" y="13992"/>
                </a:lnTo>
                <a:lnTo>
                  <a:pt x="10184717" y="51411"/>
                </a:lnTo>
                <a:lnTo>
                  <a:pt x="10191056" y="83281"/>
                </a:lnTo>
                <a:lnTo>
                  <a:pt x="10191056" y="1701201"/>
                </a:lnTo>
                <a:lnTo>
                  <a:pt x="10184511" y="1733618"/>
                </a:lnTo>
                <a:lnTo>
                  <a:pt x="10166664" y="1760090"/>
                </a:lnTo>
                <a:lnTo>
                  <a:pt x="10140192" y="1777938"/>
                </a:lnTo>
                <a:lnTo>
                  <a:pt x="10107775" y="1784482"/>
                </a:lnTo>
                <a:lnTo>
                  <a:pt x="83281" y="1784482"/>
                </a:lnTo>
                <a:lnTo>
                  <a:pt x="50864" y="1777938"/>
                </a:lnTo>
                <a:lnTo>
                  <a:pt x="24392" y="1760090"/>
                </a:lnTo>
                <a:lnTo>
                  <a:pt x="6544" y="1733618"/>
                </a:lnTo>
                <a:lnTo>
                  <a:pt x="0" y="1701201"/>
                </a:lnTo>
                <a:lnTo>
                  <a:pt x="0" y="83281"/>
                </a:lnTo>
                <a:close/>
              </a:path>
            </a:pathLst>
          </a:custGeom>
          <a:ln w="9524">
            <a:solidFill>
              <a:schemeClr val="accent1"/>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10" normalizeH="0" baseline="0" noProof="0">
              <a:ln>
                <a:noFill/>
              </a:ln>
              <a:solidFill>
                <a:sysClr val="windowText" lastClr="000000"/>
              </a:solidFill>
              <a:effectLst/>
              <a:uLnTx/>
              <a:uFillTx/>
              <a:latin typeface="Arial" pitchFamily="34" charset="0"/>
              <a:ea typeface="+mn-ea"/>
              <a:cs typeface="Arial" panose="020B0604020202020204" pitchFamily="34" charset="0"/>
              <a:sym typeface="Arial" panose="020B0604020202020204" pitchFamily="34" charset="0"/>
            </a:endParaRPr>
          </a:p>
        </p:txBody>
      </p:sp>
      <p:graphicFrame>
        <p:nvGraphicFramePr>
          <p:cNvPr id="8" name="object 19">
            <a:extLst>
              <a:ext uri="{FF2B5EF4-FFF2-40B4-BE49-F238E27FC236}">
                <a16:creationId xmlns:a16="http://schemas.microsoft.com/office/drawing/2014/main" id="{BB196E98-7BE6-2F4A-7453-00F02159922F}"/>
              </a:ext>
            </a:extLst>
          </p:cNvPr>
          <p:cNvGraphicFramePr>
            <a:graphicFrameLocks noGrp="1"/>
          </p:cNvGraphicFramePr>
          <p:nvPr>
            <p:extLst>
              <p:ext uri="{D42A27DB-BD31-4B8C-83A1-F6EECF244321}">
                <p14:modId xmlns:p14="http://schemas.microsoft.com/office/powerpoint/2010/main" val="369596186"/>
              </p:ext>
            </p:extLst>
          </p:nvPr>
        </p:nvGraphicFramePr>
        <p:xfrm>
          <a:off x="3577602" y="4174215"/>
          <a:ext cx="7579359" cy="1631073"/>
        </p:xfrm>
        <a:graphic>
          <a:graphicData uri="http://schemas.openxmlformats.org/drawingml/2006/table">
            <a:tbl>
              <a:tblPr bandRow="1">
                <a:tableStyleId>{C083E6E3-FA7D-4D7B-A595-EF9225AFEA82}</a:tableStyleId>
              </a:tblPr>
              <a:tblGrid>
                <a:gridCol w="7579359">
                  <a:extLst>
                    <a:ext uri="{9D8B030D-6E8A-4147-A177-3AD203B41FA5}">
                      <a16:colId xmlns:a16="http://schemas.microsoft.com/office/drawing/2014/main" val="20000"/>
                    </a:ext>
                  </a:extLst>
                </a:gridCol>
              </a:tblGrid>
              <a:tr h="537521">
                <a:tc>
                  <a:txBody>
                    <a:bodyPr/>
                    <a:lstStyle/>
                    <a:p>
                      <a:pPr marL="387985" indent="-171450" algn="l" defTabSz="914400" rtl="0" eaLnBrk="1" latinLnBrk="0" hangingPunct="1">
                        <a:lnSpc>
                          <a:spcPct val="100000"/>
                        </a:lnSpc>
                        <a:spcBef>
                          <a:spcPts val="509"/>
                        </a:spcBef>
                        <a:buFontTx/>
                        <a:buBlip>
                          <a:blip r:embed="rId2"/>
                        </a:buBlip>
                        <a:tabLst>
                          <a:tab pos="364490" algn="l"/>
                        </a:tabLst>
                      </a:pPr>
                      <a:endParaRPr lang="en-US" sz="1100" b="1" kern="1200" dirty="0">
                        <a:solidFill>
                          <a:schemeClr val="tx1"/>
                        </a:solidFill>
                      </a:endParaRPr>
                    </a:p>
                    <a:p>
                      <a:pPr marL="387985" marR="414020" indent="-171450" algn="l" defTabSz="914400" rtl="0" eaLnBrk="1" latinLnBrk="0" hangingPunct="1">
                        <a:lnSpc>
                          <a:spcPct val="100000"/>
                        </a:lnSpc>
                        <a:spcBef>
                          <a:spcPts val="509"/>
                        </a:spcBef>
                        <a:buFontTx/>
                        <a:buBlip>
                          <a:blip r:embed="rId2"/>
                        </a:buBlip>
                        <a:tabLst>
                          <a:tab pos="364490" algn="l"/>
                        </a:tabLst>
                      </a:pPr>
                      <a:r>
                        <a:rPr lang="en-US" sz="1100" b="1" kern="1200" dirty="0">
                          <a:solidFill>
                            <a:schemeClr val="tx1"/>
                          </a:solidFill>
                        </a:rPr>
                        <a:t>John &amp; Ahmed: High process proﬁles, both disciplined and commercial; Risk: both withdraw under pressure, may silo</a:t>
                      </a:r>
                      <a:endParaRPr lang="en-US" sz="1100" b="1" kern="1200" dirty="0">
                        <a:solidFill>
                          <a:schemeClr val="tx1"/>
                        </a:solidFill>
                        <a:latin typeface="Arial" pitchFamily="34" charset="0"/>
                        <a:ea typeface="+mn-ea"/>
                        <a:cs typeface="Helvetica Neue"/>
                      </a:endParaRPr>
                    </a:p>
                  </a:txBody>
                  <a:tcPr marL="0" marR="0" marT="3810" marB="0">
                    <a:lnL>
                      <a:noFill/>
                    </a:lnL>
                    <a:lnR>
                      <a:noFill/>
                    </a:lnR>
                    <a:lnT w="127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98537">
                <a:tc>
                  <a:txBody>
                    <a:bodyPr/>
                    <a:lstStyle/>
                    <a:p>
                      <a:pPr marL="387985" indent="-171450">
                        <a:lnSpc>
                          <a:spcPct val="100000"/>
                        </a:lnSpc>
                        <a:spcBef>
                          <a:spcPts val="509"/>
                        </a:spcBef>
                        <a:buFontTx/>
                        <a:buBlip>
                          <a:blip r:embed="rId2"/>
                        </a:buBlip>
                        <a:tabLst>
                          <a:tab pos="364490" algn="l"/>
                        </a:tabLst>
                      </a:pPr>
                      <a:r>
                        <a:rPr sz="1100" b="1" dirty="0">
                          <a:solidFill>
                            <a:schemeClr val="tx1"/>
                          </a:solidFill>
                        </a:rPr>
                        <a:t>D</a:t>
                      </a:r>
                      <a:r>
                        <a:rPr lang="en-US" sz="1100" b="1" dirty="0">
                          <a:solidFill>
                            <a:schemeClr val="tx1"/>
                          </a:solidFill>
                        </a:rPr>
                        <a:t>iana</a:t>
                      </a:r>
                      <a:r>
                        <a:rPr sz="1100" b="1" spc="-35" dirty="0">
                          <a:solidFill>
                            <a:schemeClr val="tx1"/>
                          </a:solidFill>
                        </a:rPr>
                        <a:t> </a:t>
                      </a:r>
                      <a:r>
                        <a:rPr sz="1100" b="1" dirty="0">
                          <a:solidFill>
                            <a:schemeClr val="tx1"/>
                          </a:solidFill>
                        </a:rPr>
                        <a:t>and</a:t>
                      </a:r>
                      <a:r>
                        <a:rPr sz="1100" b="1" spc="-30" dirty="0">
                          <a:solidFill>
                            <a:schemeClr val="tx1"/>
                          </a:solidFill>
                        </a:rPr>
                        <a:t> </a:t>
                      </a:r>
                      <a:r>
                        <a:rPr sz="1100" b="1" dirty="0">
                          <a:solidFill>
                            <a:schemeClr val="tx1"/>
                          </a:solidFill>
                        </a:rPr>
                        <a:t>All</a:t>
                      </a:r>
                      <a:r>
                        <a:rPr sz="1100" b="1" spc="-30" dirty="0">
                          <a:solidFill>
                            <a:schemeClr val="tx1"/>
                          </a:solidFill>
                        </a:rPr>
                        <a:t> </a:t>
                      </a:r>
                      <a:r>
                        <a:rPr sz="1100" b="1" dirty="0">
                          <a:solidFill>
                            <a:schemeClr val="tx1"/>
                          </a:solidFill>
                        </a:rPr>
                        <a:t>Peers:</a:t>
                      </a:r>
                      <a:r>
                        <a:rPr sz="1100" b="1" spc="-25" dirty="0">
                          <a:solidFill>
                            <a:schemeClr val="tx1"/>
                          </a:solidFill>
                        </a:rPr>
                        <a:t> </a:t>
                      </a:r>
                      <a:r>
                        <a:rPr lang="en-US" sz="1100" dirty="0">
                          <a:solidFill>
                            <a:schemeClr val="tx1"/>
                          </a:solidFill>
                        </a:rPr>
                        <a:t>The</a:t>
                      </a:r>
                      <a:r>
                        <a:rPr lang="en-US" sz="1100" spc="-30" dirty="0">
                          <a:solidFill>
                            <a:schemeClr val="tx1"/>
                          </a:solidFill>
                        </a:rPr>
                        <a:t> </a:t>
                      </a:r>
                      <a:r>
                        <a:rPr lang="en-US" sz="1100" dirty="0">
                          <a:solidFill>
                            <a:schemeClr val="tx1"/>
                          </a:solidFill>
                        </a:rPr>
                        <a:t>team's</a:t>
                      </a:r>
                      <a:r>
                        <a:rPr lang="en-US" sz="1100" spc="-30" dirty="0">
                          <a:solidFill>
                            <a:schemeClr val="tx1"/>
                          </a:solidFill>
                        </a:rPr>
                        <a:t> </a:t>
                      </a:r>
                      <a:r>
                        <a:rPr lang="en-US" sz="1100" spc="-10" dirty="0">
                          <a:solidFill>
                            <a:schemeClr val="tx1"/>
                          </a:solidFill>
                        </a:rPr>
                        <a:t>connector;</a:t>
                      </a:r>
                      <a:r>
                        <a:rPr lang="en-US" sz="1100" spc="-35" dirty="0">
                          <a:solidFill>
                            <a:schemeClr val="tx1"/>
                          </a:solidFill>
                        </a:rPr>
                        <a:t> </a:t>
                      </a:r>
                      <a:r>
                        <a:rPr sz="1100" dirty="0">
                          <a:solidFill>
                            <a:schemeClr val="tx1"/>
                          </a:solidFill>
                        </a:rPr>
                        <a:t>Use</a:t>
                      </a:r>
                      <a:r>
                        <a:rPr sz="1100" spc="-30" dirty="0">
                          <a:solidFill>
                            <a:schemeClr val="tx1"/>
                          </a:solidFill>
                        </a:rPr>
                        <a:t> </a:t>
                      </a:r>
                      <a:r>
                        <a:rPr sz="1100" dirty="0">
                          <a:solidFill>
                            <a:schemeClr val="tx1"/>
                          </a:solidFill>
                        </a:rPr>
                        <a:t>her</a:t>
                      </a:r>
                      <a:r>
                        <a:rPr sz="1100" spc="-30" dirty="0">
                          <a:solidFill>
                            <a:schemeClr val="tx1"/>
                          </a:solidFill>
                        </a:rPr>
                        <a:t> </a:t>
                      </a:r>
                      <a:r>
                        <a:rPr sz="1100" dirty="0">
                          <a:solidFill>
                            <a:schemeClr val="tx1"/>
                          </a:solidFill>
                        </a:rPr>
                        <a:t>to</a:t>
                      </a:r>
                      <a:r>
                        <a:rPr sz="1100" spc="-30" dirty="0">
                          <a:solidFill>
                            <a:schemeClr val="tx1"/>
                          </a:solidFill>
                        </a:rPr>
                        <a:t> </a:t>
                      </a:r>
                      <a:r>
                        <a:rPr sz="1100" dirty="0">
                          <a:solidFill>
                            <a:schemeClr val="tx1"/>
                          </a:solidFill>
                        </a:rPr>
                        <a:t>bridge</a:t>
                      </a:r>
                      <a:r>
                        <a:rPr sz="1100" spc="-30" dirty="0">
                          <a:solidFill>
                            <a:schemeClr val="tx1"/>
                          </a:solidFill>
                        </a:rPr>
                        <a:t> </a:t>
                      </a:r>
                      <a:r>
                        <a:rPr sz="1100" dirty="0">
                          <a:solidFill>
                            <a:schemeClr val="tx1"/>
                          </a:solidFill>
                        </a:rPr>
                        <a:t>silos</a:t>
                      </a:r>
                      <a:r>
                        <a:rPr sz="1100" spc="-30" dirty="0">
                          <a:solidFill>
                            <a:schemeClr val="tx1"/>
                          </a:solidFill>
                        </a:rPr>
                        <a:t> </a:t>
                      </a:r>
                      <a:r>
                        <a:rPr sz="1100" dirty="0">
                          <a:solidFill>
                            <a:schemeClr val="tx1"/>
                          </a:solidFill>
                        </a:rPr>
                        <a:t>and</a:t>
                      </a:r>
                      <a:r>
                        <a:rPr sz="1100" spc="-30" dirty="0">
                          <a:solidFill>
                            <a:schemeClr val="tx1"/>
                          </a:solidFill>
                        </a:rPr>
                        <a:t> </a:t>
                      </a:r>
                      <a:r>
                        <a:rPr sz="1100" spc="-10" dirty="0">
                          <a:solidFill>
                            <a:schemeClr val="tx1"/>
                          </a:solidFill>
                        </a:rPr>
                        <a:t>facilitate</a:t>
                      </a:r>
                      <a:r>
                        <a:rPr sz="1100" spc="-30" dirty="0">
                          <a:solidFill>
                            <a:schemeClr val="tx1"/>
                          </a:solidFill>
                        </a:rPr>
                        <a:t> </a:t>
                      </a:r>
                      <a:r>
                        <a:rPr sz="1100" dirty="0">
                          <a:solidFill>
                            <a:schemeClr val="tx1"/>
                          </a:solidFill>
                        </a:rPr>
                        <a:t>diﬃcult</a:t>
                      </a:r>
                      <a:r>
                        <a:rPr sz="1100" spc="-35" dirty="0">
                          <a:solidFill>
                            <a:schemeClr val="tx1"/>
                          </a:solidFill>
                        </a:rPr>
                        <a:t> </a:t>
                      </a:r>
                      <a:r>
                        <a:rPr sz="1100" spc="-10" dirty="0">
                          <a:solidFill>
                            <a:schemeClr val="tx1"/>
                          </a:solidFill>
                        </a:rPr>
                        <a:t>conversations</a:t>
                      </a:r>
                      <a:endParaRPr sz="1100" dirty="0">
                        <a:solidFill>
                          <a:schemeClr val="tx1"/>
                        </a:solidFill>
                        <a:latin typeface="Arial" pitchFamily="34" charset="0"/>
                        <a:cs typeface="Helvetica Neue"/>
                      </a:endParaRPr>
                    </a:p>
                  </a:txBody>
                  <a:tcPr marL="0" marR="0" marT="64769"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87895">
                <a:tc>
                  <a:txBody>
                    <a:bodyPr/>
                    <a:lstStyle/>
                    <a:p>
                      <a:pPr marL="387985" indent="-171450">
                        <a:lnSpc>
                          <a:spcPct val="100000"/>
                        </a:lnSpc>
                        <a:spcBef>
                          <a:spcPts val="484"/>
                        </a:spcBef>
                        <a:buFontTx/>
                        <a:buBlip>
                          <a:blip r:embed="rId2"/>
                        </a:buBlip>
                        <a:tabLst>
                          <a:tab pos="364490" algn="l"/>
                        </a:tabLst>
                      </a:pPr>
                      <a:r>
                        <a:rPr sz="1100" b="1" dirty="0">
                          <a:solidFill>
                            <a:schemeClr val="tx1"/>
                          </a:solidFill>
                        </a:rPr>
                        <a:t>Maz</a:t>
                      </a:r>
                      <a:r>
                        <a:rPr sz="1100" b="1" spc="-25" dirty="0">
                          <a:solidFill>
                            <a:schemeClr val="tx1"/>
                          </a:solidFill>
                        </a:rPr>
                        <a:t> </a:t>
                      </a:r>
                      <a:r>
                        <a:rPr sz="1100" b="1" dirty="0">
                          <a:solidFill>
                            <a:schemeClr val="tx1"/>
                          </a:solidFill>
                        </a:rPr>
                        <a:t>&amp;</a:t>
                      </a:r>
                      <a:r>
                        <a:rPr sz="1100" b="1" spc="-25" dirty="0">
                          <a:solidFill>
                            <a:schemeClr val="tx1"/>
                          </a:solidFill>
                        </a:rPr>
                        <a:t> </a:t>
                      </a:r>
                      <a:r>
                        <a:rPr lang="en-US" sz="1100" b="1" dirty="0">
                          <a:solidFill>
                            <a:schemeClr val="tx1"/>
                          </a:solidFill>
                        </a:rPr>
                        <a:t>Ahmed</a:t>
                      </a:r>
                      <a:r>
                        <a:rPr sz="1100" b="1" dirty="0">
                          <a:solidFill>
                            <a:schemeClr val="tx1"/>
                          </a:solidFill>
                        </a:rPr>
                        <a:t>:</a:t>
                      </a:r>
                      <a:r>
                        <a:rPr sz="1100" b="1" spc="260" dirty="0">
                          <a:solidFill>
                            <a:schemeClr val="tx1"/>
                          </a:solidFill>
                        </a:rPr>
                        <a:t> </a:t>
                      </a:r>
                      <a:r>
                        <a:rPr sz="1100" dirty="0">
                          <a:solidFill>
                            <a:schemeClr val="tx1"/>
                          </a:solidFill>
                        </a:rPr>
                        <a:t>Both</a:t>
                      </a:r>
                      <a:r>
                        <a:rPr sz="1100" spc="-25" dirty="0">
                          <a:solidFill>
                            <a:schemeClr val="tx1"/>
                          </a:solidFill>
                        </a:rPr>
                        <a:t> </a:t>
                      </a:r>
                      <a:r>
                        <a:rPr sz="1100" spc="-10" dirty="0">
                          <a:solidFill>
                            <a:schemeClr val="tx1"/>
                          </a:solidFill>
                        </a:rPr>
                        <a:t>stress-sensitive</a:t>
                      </a:r>
                      <a:r>
                        <a:rPr sz="1100" spc="-25" dirty="0">
                          <a:solidFill>
                            <a:schemeClr val="tx1"/>
                          </a:solidFill>
                        </a:rPr>
                        <a:t> </a:t>
                      </a:r>
                      <a:r>
                        <a:rPr sz="1100" dirty="0">
                          <a:solidFill>
                            <a:schemeClr val="tx1"/>
                          </a:solidFill>
                        </a:rPr>
                        <a:t>and</a:t>
                      </a:r>
                      <a:r>
                        <a:rPr sz="1100" spc="-25" dirty="0">
                          <a:solidFill>
                            <a:schemeClr val="tx1"/>
                          </a:solidFill>
                        </a:rPr>
                        <a:t> </a:t>
                      </a:r>
                      <a:r>
                        <a:rPr sz="1100" spc="-10" dirty="0">
                          <a:solidFill>
                            <a:schemeClr val="tx1"/>
                          </a:solidFill>
                        </a:rPr>
                        <a:t>withdrawn;</a:t>
                      </a:r>
                      <a:r>
                        <a:rPr sz="1100" spc="-25" dirty="0">
                          <a:solidFill>
                            <a:schemeClr val="tx1"/>
                          </a:solidFill>
                        </a:rPr>
                        <a:t> </a:t>
                      </a:r>
                      <a:r>
                        <a:rPr sz="1100" dirty="0">
                          <a:solidFill>
                            <a:schemeClr val="tx1"/>
                          </a:solidFill>
                        </a:rPr>
                        <a:t>Under</a:t>
                      </a:r>
                      <a:r>
                        <a:rPr sz="1100" spc="-25" dirty="0">
                          <a:solidFill>
                            <a:schemeClr val="tx1"/>
                          </a:solidFill>
                        </a:rPr>
                        <a:t> </a:t>
                      </a:r>
                      <a:r>
                        <a:rPr sz="1100" dirty="0">
                          <a:solidFill>
                            <a:schemeClr val="tx1"/>
                          </a:solidFill>
                        </a:rPr>
                        <a:t>pressure,</a:t>
                      </a:r>
                      <a:r>
                        <a:rPr sz="1100" spc="-25" dirty="0">
                          <a:solidFill>
                            <a:schemeClr val="tx1"/>
                          </a:solidFill>
                        </a:rPr>
                        <a:t> </a:t>
                      </a:r>
                      <a:r>
                        <a:rPr sz="1100" dirty="0">
                          <a:solidFill>
                            <a:schemeClr val="tx1"/>
                          </a:solidFill>
                        </a:rPr>
                        <a:t>both</a:t>
                      </a:r>
                      <a:r>
                        <a:rPr sz="1100" spc="-25" dirty="0">
                          <a:solidFill>
                            <a:schemeClr val="tx1"/>
                          </a:solidFill>
                        </a:rPr>
                        <a:t> </a:t>
                      </a:r>
                      <a:r>
                        <a:rPr sz="1100" dirty="0">
                          <a:solidFill>
                            <a:schemeClr val="tx1"/>
                          </a:solidFill>
                        </a:rPr>
                        <a:t>will</a:t>
                      </a:r>
                      <a:r>
                        <a:rPr sz="1100" spc="-25" dirty="0">
                          <a:solidFill>
                            <a:schemeClr val="tx1"/>
                          </a:solidFill>
                        </a:rPr>
                        <a:t> </a:t>
                      </a:r>
                      <a:r>
                        <a:rPr sz="1100" dirty="0">
                          <a:solidFill>
                            <a:schemeClr val="tx1"/>
                          </a:solidFill>
                        </a:rPr>
                        <a:t>go</a:t>
                      </a:r>
                      <a:r>
                        <a:rPr sz="1100" spc="-25" dirty="0">
                          <a:solidFill>
                            <a:schemeClr val="tx1"/>
                          </a:solidFill>
                        </a:rPr>
                        <a:t> </a:t>
                      </a:r>
                      <a:r>
                        <a:rPr sz="1100" spc="-10" dirty="0">
                          <a:solidFill>
                            <a:schemeClr val="tx1"/>
                          </a:solidFill>
                        </a:rPr>
                        <a:t>silent</a:t>
                      </a:r>
                      <a:endParaRPr sz="1100" dirty="0">
                        <a:solidFill>
                          <a:schemeClr val="tx1"/>
                        </a:solidFill>
                        <a:latin typeface="Arial" pitchFamily="34" charset="0"/>
                        <a:cs typeface="Helvetica Neue"/>
                      </a:endParaRPr>
                    </a:p>
                  </a:txBody>
                  <a:tcPr marL="0" marR="0" marT="61594"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74411">
                <a:tc>
                  <a:txBody>
                    <a:bodyPr/>
                    <a:lstStyle/>
                    <a:p>
                      <a:pPr marL="387985" indent="-171450">
                        <a:lnSpc>
                          <a:spcPct val="100000"/>
                        </a:lnSpc>
                        <a:spcBef>
                          <a:spcPts val="550"/>
                        </a:spcBef>
                        <a:buFontTx/>
                        <a:buBlip>
                          <a:blip r:embed="rId2"/>
                        </a:buBlip>
                        <a:tabLst>
                          <a:tab pos="364490" algn="l"/>
                        </a:tabLst>
                      </a:pPr>
                      <a:r>
                        <a:rPr lang="en-US" sz="1100" b="1" spc="-10" dirty="0">
                          <a:solidFill>
                            <a:schemeClr val="tx1"/>
                          </a:solidFill>
                        </a:rPr>
                        <a:t>Tina</a:t>
                      </a:r>
                      <a:r>
                        <a:rPr sz="1100" b="1" spc="-35" dirty="0">
                          <a:solidFill>
                            <a:schemeClr val="tx1"/>
                          </a:solidFill>
                        </a:rPr>
                        <a:t> </a:t>
                      </a:r>
                      <a:r>
                        <a:rPr sz="1100" b="1" dirty="0">
                          <a:solidFill>
                            <a:schemeClr val="tx1"/>
                          </a:solidFill>
                        </a:rPr>
                        <a:t>&amp;</a:t>
                      </a:r>
                      <a:r>
                        <a:rPr sz="1100" b="1" spc="-35" dirty="0">
                          <a:solidFill>
                            <a:schemeClr val="tx1"/>
                          </a:solidFill>
                        </a:rPr>
                        <a:t> </a:t>
                      </a:r>
                      <a:r>
                        <a:rPr sz="1100" b="1" dirty="0">
                          <a:solidFill>
                            <a:schemeClr val="tx1"/>
                          </a:solidFill>
                        </a:rPr>
                        <a:t>Maz:</a:t>
                      </a:r>
                      <a:r>
                        <a:rPr sz="1100" b="1" spc="-30" dirty="0">
                          <a:solidFill>
                            <a:schemeClr val="tx1"/>
                          </a:solidFill>
                        </a:rPr>
                        <a:t> </a:t>
                      </a:r>
                      <a:r>
                        <a:rPr sz="1100" dirty="0">
                          <a:solidFill>
                            <a:schemeClr val="tx1"/>
                          </a:solidFill>
                        </a:rPr>
                        <a:t>Won't</a:t>
                      </a:r>
                      <a:r>
                        <a:rPr sz="1100" spc="-35" dirty="0">
                          <a:solidFill>
                            <a:schemeClr val="tx1"/>
                          </a:solidFill>
                        </a:rPr>
                        <a:t> </a:t>
                      </a:r>
                      <a:r>
                        <a:rPr sz="1100" dirty="0">
                          <a:solidFill>
                            <a:schemeClr val="tx1"/>
                          </a:solidFill>
                        </a:rPr>
                        <a:t>naturally</a:t>
                      </a:r>
                      <a:r>
                        <a:rPr sz="1100" spc="-35" dirty="0">
                          <a:solidFill>
                            <a:schemeClr val="tx1"/>
                          </a:solidFill>
                        </a:rPr>
                        <a:t> </a:t>
                      </a:r>
                      <a:r>
                        <a:rPr sz="1100" spc="-10" dirty="0">
                          <a:solidFill>
                            <a:schemeClr val="tx1"/>
                          </a:solidFill>
                        </a:rPr>
                        <a:t>collaborate;</a:t>
                      </a:r>
                      <a:r>
                        <a:rPr sz="1100" spc="-35" dirty="0">
                          <a:solidFill>
                            <a:schemeClr val="tx1"/>
                          </a:solidFill>
                        </a:rPr>
                        <a:t> </a:t>
                      </a:r>
                      <a:r>
                        <a:rPr lang="en-US" sz="1100" spc="-35" dirty="0">
                          <a:solidFill>
                            <a:schemeClr val="tx1"/>
                          </a:solidFill>
                        </a:rPr>
                        <a:t>Tina</a:t>
                      </a:r>
                      <a:r>
                        <a:rPr sz="1100" spc="-30" dirty="0">
                          <a:solidFill>
                            <a:schemeClr val="tx1"/>
                          </a:solidFill>
                        </a:rPr>
                        <a:t> </a:t>
                      </a:r>
                      <a:r>
                        <a:rPr sz="1100" dirty="0">
                          <a:solidFill>
                            <a:schemeClr val="tx1"/>
                          </a:solidFill>
                        </a:rPr>
                        <a:t>won't</a:t>
                      </a:r>
                      <a:r>
                        <a:rPr sz="1100" spc="-35" dirty="0">
                          <a:solidFill>
                            <a:schemeClr val="tx1"/>
                          </a:solidFill>
                        </a:rPr>
                        <a:t> </a:t>
                      </a:r>
                      <a:r>
                        <a:rPr sz="1100" dirty="0">
                          <a:solidFill>
                            <a:schemeClr val="tx1"/>
                          </a:solidFill>
                        </a:rPr>
                        <a:t>assert;</a:t>
                      </a:r>
                      <a:r>
                        <a:rPr sz="1100" spc="-35" dirty="0">
                          <a:solidFill>
                            <a:schemeClr val="tx1"/>
                          </a:solidFill>
                        </a:rPr>
                        <a:t> </a:t>
                      </a:r>
                      <a:r>
                        <a:rPr sz="1100" dirty="0">
                          <a:solidFill>
                            <a:schemeClr val="tx1"/>
                          </a:solidFill>
                        </a:rPr>
                        <a:t>Maz</a:t>
                      </a:r>
                      <a:r>
                        <a:rPr sz="1100" spc="-35" dirty="0">
                          <a:solidFill>
                            <a:schemeClr val="tx1"/>
                          </a:solidFill>
                        </a:rPr>
                        <a:t> </a:t>
                      </a:r>
                      <a:r>
                        <a:rPr sz="1100" dirty="0">
                          <a:solidFill>
                            <a:schemeClr val="tx1"/>
                          </a:solidFill>
                        </a:rPr>
                        <a:t>won't</a:t>
                      </a:r>
                      <a:r>
                        <a:rPr sz="1100" spc="-35" dirty="0">
                          <a:solidFill>
                            <a:schemeClr val="tx1"/>
                          </a:solidFill>
                        </a:rPr>
                        <a:t> </a:t>
                      </a:r>
                      <a:r>
                        <a:rPr sz="1100" spc="-10" dirty="0">
                          <a:solidFill>
                            <a:schemeClr val="tx1"/>
                          </a:solidFill>
                        </a:rPr>
                        <a:t>engage</a:t>
                      </a:r>
                      <a:endParaRPr sz="1100" dirty="0">
                        <a:solidFill>
                          <a:schemeClr val="tx1"/>
                        </a:solidFill>
                        <a:latin typeface="Arial" pitchFamily="34" charset="0"/>
                        <a:cs typeface="Helvetica Neue"/>
                      </a:endParaRPr>
                    </a:p>
                  </a:txBody>
                  <a:tcPr marL="0" marR="0" marT="69850" marB="0">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9" name="object 20">
            <a:extLst>
              <a:ext uri="{FF2B5EF4-FFF2-40B4-BE49-F238E27FC236}">
                <a16:creationId xmlns:a16="http://schemas.microsoft.com/office/drawing/2014/main" id="{00567B7D-30DD-BF35-B7A8-01D54AFB947D}"/>
              </a:ext>
            </a:extLst>
          </p:cNvPr>
          <p:cNvSpPr txBox="1"/>
          <p:nvPr/>
        </p:nvSpPr>
        <p:spPr>
          <a:xfrm>
            <a:off x="1541628" y="4717610"/>
            <a:ext cx="1470025" cy="452120"/>
          </a:xfrm>
          <a:prstGeom prst="rect">
            <a:avLst/>
          </a:prstGeom>
        </p:spPr>
        <p:txBody>
          <a:bodyPr vert="horz" wrap="square" lIns="0" tIns="12700" rIns="0" bIns="0" rtlCol="0">
            <a:spAutoFit/>
          </a:bodyPr>
          <a:lstStyle/>
          <a:p>
            <a:pPr marL="12700" marR="5080" lvl="0" indent="0" algn="l" defTabSz="914400" rtl="0" eaLnBrk="1" fontAlgn="auto" latinLnBrk="0" hangingPunct="1">
              <a:lnSpc>
                <a:spcPct val="100000"/>
              </a:lnSpc>
              <a:spcBef>
                <a:spcPts val="100"/>
              </a:spcBef>
              <a:spcAft>
                <a:spcPts val="0"/>
              </a:spcAft>
              <a:buClrTx/>
              <a:buSzTx/>
              <a:buFontTx/>
              <a:buNone/>
              <a:tabLst/>
              <a:defRPr/>
            </a:pPr>
            <a:r>
              <a:rPr kumimoji="0" sz="1400" b="1" i="0" u="none" strike="noStrike" kern="0" cap="none" spc="-10" normalizeH="0" baseline="0" noProof="0" dirty="0">
                <a:ln>
                  <a:noFill/>
                </a:ln>
                <a:solidFill>
                  <a:srgbClr val="281A42"/>
                </a:solidFill>
                <a:effectLst/>
                <a:uLnTx/>
                <a:uFillTx/>
                <a:latin typeface="Segoe UI" pitchFamily="34" charset="0"/>
                <a:ea typeface="+mn-ea"/>
                <a:cs typeface="Helvetica Neue"/>
                <a:sym typeface="Arial" panose="020B0604020202020204" pitchFamily="34" charset="0"/>
              </a:rPr>
              <a:t>Key peer-to-peer dynamics</a:t>
            </a:r>
            <a:endParaRPr kumimoji="0" sz="1400" b="0" i="0" u="none" strike="noStrike" kern="0" cap="none" spc="-10" normalizeH="0" baseline="0" noProof="0" dirty="0">
              <a:ln>
                <a:noFill/>
              </a:ln>
              <a:solidFill>
                <a:sysClr val="windowText" lastClr="000000"/>
              </a:solidFill>
              <a:effectLst/>
              <a:uLnTx/>
              <a:uFillTx/>
              <a:latin typeface="Arial" pitchFamily="34" charset="0"/>
              <a:ea typeface="+mn-ea"/>
              <a:cs typeface="Helvetica Neue"/>
              <a:sym typeface="Arial" panose="020B0604020202020204" pitchFamily="34" charset="0"/>
            </a:endParaRPr>
          </a:p>
        </p:txBody>
      </p:sp>
      <p:grpSp>
        <p:nvGrpSpPr>
          <p:cNvPr id="10" name="object 21">
            <a:extLst>
              <a:ext uri="{FF2B5EF4-FFF2-40B4-BE49-F238E27FC236}">
                <a16:creationId xmlns:a16="http://schemas.microsoft.com/office/drawing/2014/main" id="{2E9E10DD-851D-3BE0-4CD4-88F1D10D0B8B}"/>
              </a:ext>
            </a:extLst>
          </p:cNvPr>
          <p:cNvGrpSpPr/>
          <p:nvPr/>
        </p:nvGrpSpPr>
        <p:grpSpPr>
          <a:xfrm>
            <a:off x="5726028" y="2144628"/>
            <a:ext cx="638175" cy="638175"/>
            <a:chOff x="5726028" y="2144628"/>
            <a:chExt cx="638175" cy="638175"/>
          </a:xfrm>
        </p:grpSpPr>
        <p:sp>
          <p:nvSpPr>
            <p:cNvPr id="11" name="object 22">
              <a:extLst>
                <a:ext uri="{FF2B5EF4-FFF2-40B4-BE49-F238E27FC236}">
                  <a16:creationId xmlns:a16="http://schemas.microsoft.com/office/drawing/2014/main" id="{2039786C-D918-C300-F340-4A4D93EC07EA}"/>
                </a:ext>
              </a:extLst>
            </p:cNvPr>
            <p:cNvSpPr/>
            <p:nvPr/>
          </p:nvSpPr>
          <p:spPr>
            <a:xfrm>
              <a:off x="5726028" y="2144628"/>
              <a:ext cx="638175" cy="638175"/>
            </a:xfrm>
            <a:custGeom>
              <a:avLst/>
              <a:gdLst/>
              <a:ahLst/>
              <a:cxnLst/>
              <a:rect l="l" t="t" r="r" b="b"/>
              <a:pathLst>
                <a:path w="638175" h="638175">
                  <a:moveTo>
                    <a:pt x="318836" y="637673"/>
                  </a:moveTo>
                  <a:lnTo>
                    <a:pt x="271721" y="634216"/>
                  </a:lnTo>
                  <a:lnTo>
                    <a:pt x="226752" y="624174"/>
                  </a:lnTo>
                  <a:lnTo>
                    <a:pt x="184423" y="608040"/>
                  </a:lnTo>
                  <a:lnTo>
                    <a:pt x="145227" y="586307"/>
                  </a:lnTo>
                  <a:lnTo>
                    <a:pt x="109656" y="559468"/>
                  </a:lnTo>
                  <a:lnTo>
                    <a:pt x="78205" y="528017"/>
                  </a:lnTo>
                  <a:lnTo>
                    <a:pt x="51366" y="492447"/>
                  </a:lnTo>
                  <a:lnTo>
                    <a:pt x="29633" y="453250"/>
                  </a:lnTo>
                  <a:lnTo>
                    <a:pt x="13499" y="410921"/>
                  </a:lnTo>
                  <a:lnTo>
                    <a:pt x="3457" y="365952"/>
                  </a:lnTo>
                  <a:lnTo>
                    <a:pt x="0" y="318836"/>
                  </a:lnTo>
                  <a:lnTo>
                    <a:pt x="3457" y="271721"/>
                  </a:lnTo>
                  <a:lnTo>
                    <a:pt x="13499" y="226752"/>
                  </a:lnTo>
                  <a:lnTo>
                    <a:pt x="29633" y="184423"/>
                  </a:lnTo>
                  <a:lnTo>
                    <a:pt x="51366" y="145226"/>
                  </a:lnTo>
                  <a:lnTo>
                    <a:pt x="78205" y="109656"/>
                  </a:lnTo>
                  <a:lnTo>
                    <a:pt x="109656" y="78205"/>
                  </a:lnTo>
                  <a:lnTo>
                    <a:pt x="145227" y="51366"/>
                  </a:lnTo>
                  <a:lnTo>
                    <a:pt x="184423" y="29633"/>
                  </a:lnTo>
                  <a:lnTo>
                    <a:pt x="226752" y="13499"/>
                  </a:lnTo>
                  <a:lnTo>
                    <a:pt x="271721" y="3457"/>
                  </a:lnTo>
                  <a:lnTo>
                    <a:pt x="318836" y="0"/>
                  </a:lnTo>
                  <a:lnTo>
                    <a:pt x="369015" y="3971"/>
                  </a:lnTo>
                  <a:lnTo>
                    <a:pt x="417505" y="15651"/>
                  </a:lnTo>
                  <a:lnTo>
                    <a:pt x="463452" y="34682"/>
                  </a:lnTo>
                  <a:lnTo>
                    <a:pt x="505999" y="60712"/>
                  </a:lnTo>
                  <a:lnTo>
                    <a:pt x="544288" y="93385"/>
                  </a:lnTo>
                  <a:lnTo>
                    <a:pt x="576961" y="131675"/>
                  </a:lnTo>
                  <a:lnTo>
                    <a:pt x="602991" y="174221"/>
                  </a:lnTo>
                  <a:lnTo>
                    <a:pt x="622022" y="220168"/>
                  </a:lnTo>
                  <a:lnTo>
                    <a:pt x="633702" y="268658"/>
                  </a:lnTo>
                  <a:lnTo>
                    <a:pt x="637673" y="318836"/>
                  </a:lnTo>
                  <a:lnTo>
                    <a:pt x="634216" y="365952"/>
                  </a:lnTo>
                  <a:lnTo>
                    <a:pt x="624174" y="410921"/>
                  </a:lnTo>
                  <a:lnTo>
                    <a:pt x="608040" y="453250"/>
                  </a:lnTo>
                  <a:lnTo>
                    <a:pt x="586307" y="492447"/>
                  </a:lnTo>
                  <a:lnTo>
                    <a:pt x="559468" y="528017"/>
                  </a:lnTo>
                  <a:lnTo>
                    <a:pt x="528017" y="559468"/>
                  </a:lnTo>
                  <a:lnTo>
                    <a:pt x="492447" y="586307"/>
                  </a:lnTo>
                  <a:lnTo>
                    <a:pt x="453250" y="608040"/>
                  </a:lnTo>
                  <a:lnTo>
                    <a:pt x="410921" y="624174"/>
                  </a:lnTo>
                  <a:lnTo>
                    <a:pt x="365952" y="634216"/>
                  </a:lnTo>
                  <a:lnTo>
                    <a:pt x="318836" y="637673"/>
                  </a:lnTo>
                  <a:close/>
                </a:path>
              </a:pathLst>
            </a:custGeom>
            <a:solidFill>
              <a:schemeClr val="tx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sz="1800" b="0" i="0" u="none" strike="noStrike" kern="0" cap="none" spc="-10" normalizeH="0" baseline="0" noProof="0">
                <a:ln>
                  <a:noFill/>
                </a:ln>
                <a:solidFill>
                  <a:sysClr val="windowText" lastClr="000000"/>
                </a:solidFill>
                <a:effectLst/>
                <a:uLnTx/>
                <a:uFillTx/>
                <a:latin typeface="Arial" pitchFamily="34" charset="0"/>
                <a:ea typeface="+mn-ea"/>
                <a:cs typeface="Arial" panose="020B0604020202020204" pitchFamily="34" charset="0"/>
                <a:sym typeface="Arial" panose="020B0604020202020204" pitchFamily="34" charset="0"/>
              </a:endParaRPr>
            </a:p>
          </p:txBody>
        </p:sp>
        <p:pic>
          <p:nvPicPr>
            <p:cNvPr id="12" name="object 23">
              <a:extLst>
                <a:ext uri="{FF2B5EF4-FFF2-40B4-BE49-F238E27FC236}">
                  <a16:creationId xmlns:a16="http://schemas.microsoft.com/office/drawing/2014/main" id="{9D3FD1D5-EB8B-3088-4779-34776A9419F4}"/>
                </a:ext>
              </a:extLst>
            </p:cNvPr>
            <p:cNvPicPr/>
            <p:nvPr/>
          </p:nvPicPr>
          <p:blipFill>
            <a:blip r:embed="rId3" cstate="print">
              <a:duotone>
                <a:srgbClr val="765FFF"/>
                <a:srgbClr val="FFFFFF"/>
              </a:duotone>
            </a:blip>
            <a:stretch>
              <a:fillRect/>
            </a:stretch>
          </p:blipFill>
          <p:spPr>
            <a:xfrm>
              <a:off x="5780607" y="2330847"/>
              <a:ext cx="265236" cy="265235"/>
            </a:xfrm>
            <a:prstGeom prst="rect">
              <a:avLst/>
            </a:prstGeom>
          </p:spPr>
        </p:pic>
        <p:pic>
          <p:nvPicPr>
            <p:cNvPr id="13" name="object 24">
              <a:extLst>
                <a:ext uri="{FF2B5EF4-FFF2-40B4-BE49-F238E27FC236}">
                  <a16:creationId xmlns:a16="http://schemas.microsoft.com/office/drawing/2014/main" id="{40432DE2-40B3-CC26-771A-2E2E23E57D47}"/>
                </a:ext>
              </a:extLst>
            </p:cNvPr>
            <p:cNvPicPr/>
            <p:nvPr/>
          </p:nvPicPr>
          <p:blipFill>
            <a:blip r:embed="rId4" cstate="print">
              <a:duotone>
                <a:srgbClr val="765FFF"/>
                <a:srgbClr val="FFFFFF"/>
              </a:duotone>
            </a:blip>
            <a:stretch>
              <a:fillRect/>
            </a:stretch>
          </p:blipFill>
          <p:spPr>
            <a:xfrm>
              <a:off x="6057205" y="2330847"/>
              <a:ext cx="257266" cy="265235"/>
            </a:xfrm>
            <a:prstGeom prst="rect">
              <a:avLst/>
            </a:prstGeom>
          </p:spPr>
        </p:pic>
      </p:grpSp>
      <p:sp>
        <p:nvSpPr>
          <p:cNvPr id="14" name="object 25">
            <a:extLst>
              <a:ext uri="{FF2B5EF4-FFF2-40B4-BE49-F238E27FC236}">
                <a16:creationId xmlns:a16="http://schemas.microsoft.com/office/drawing/2014/main" id="{AEE85D25-8C6A-3554-D5C5-6DC4987C8442}"/>
              </a:ext>
            </a:extLst>
          </p:cNvPr>
          <p:cNvSpPr txBox="1"/>
          <p:nvPr/>
        </p:nvSpPr>
        <p:spPr>
          <a:xfrm>
            <a:off x="3047634" y="1144693"/>
            <a:ext cx="810260" cy="23876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b="1" spc="-25">
                <a:latin typeface="Segoe UI" pitchFamily="34" charset="0"/>
              </a:defRPr>
            </a:pPr>
            <a:r>
              <a:rPr kumimoji="0" sz="1400" b="1" i="0" u="none" strike="noStrike" kern="0" cap="none" spc="-25" normalizeH="0" baseline="0" noProof="0" dirty="0">
                <a:ln>
                  <a:noFill/>
                </a:ln>
                <a:solidFill>
                  <a:sysClr val="windowText" lastClr="000000"/>
                </a:solidFill>
                <a:effectLst/>
                <a:uLnTx/>
                <a:uFillTx/>
                <a:latin typeface="Segoe UI" pitchFamily="34" charset="0"/>
                <a:ea typeface="+mn-ea"/>
                <a:cs typeface="Helvetica Neue"/>
                <a:sym typeface="Arial" panose="020B0604020202020204" pitchFamily="34" charset="0"/>
              </a:rPr>
              <a:t>Tailwinds</a:t>
            </a:r>
          </a:p>
        </p:txBody>
      </p:sp>
      <p:sp>
        <p:nvSpPr>
          <p:cNvPr id="15" name="object 26">
            <a:extLst>
              <a:ext uri="{FF2B5EF4-FFF2-40B4-BE49-F238E27FC236}">
                <a16:creationId xmlns:a16="http://schemas.microsoft.com/office/drawing/2014/main" id="{53780B78-4E01-30DB-1DDA-C221413DEEEE}"/>
              </a:ext>
            </a:extLst>
          </p:cNvPr>
          <p:cNvSpPr txBox="1"/>
          <p:nvPr/>
        </p:nvSpPr>
        <p:spPr>
          <a:xfrm>
            <a:off x="1256675" y="1639355"/>
            <a:ext cx="3864610" cy="320601"/>
          </a:xfrm>
          <a:prstGeom prst="rect">
            <a:avLst/>
          </a:prstGeom>
        </p:spPr>
        <p:txBody>
          <a:bodyPr vert="horz" wrap="square" lIns="0" tIns="12700" rIns="0" bIns="0" rtlCol="0">
            <a:spAutoFit/>
          </a:bodyPr>
          <a:lstStyle/>
          <a:p>
            <a:pPr marL="184150" marR="0" lvl="0" indent="-171450" algn="l" defTabSz="914400" rtl="0" eaLnBrk="1" fontAlgn="auto" latinLnBrk="0" hangingPunct="1">
              <a:lnSpc>
                <a:spcPct val="100000"/>
              </a:lnSpc>
              <a:spcBef>
                <a:spcPts val="100"/>
              </a:spcBef>
              <a:spcAft>
                <a:spcPts val="0"/>
              </a:spcAft>
              <a:buClrTx/>
              <a:buSzTx/>
              <a:buBlip>
                <a:blip r:embed="rId2"/>
              </a:buBlip>
              <a:tabLst>
                <a:tab pos="163830" algn="l"/>
              </a:tabLst>
              <a:defRPr/>
            </a:pPr>
            <a:r>
              <a:rPr kumimoji="0" lang="en-US" sz="1000" b="1" i="0" u="none" strike="noStrike" kern="0" cap="none" spc="-10" normalizeH="0" baseline="0" noProof="0" dirty="0">
                <a:ln>
                  <a:noFill/>
                </a:ln>
                <a:solidFill>
                  <a:sysClr val="windowText" lastClr="000000"/>
                </a:solidFill>
                <a:effectLst/>
                <a:uLnTx/>
                <a:uFillTx/>
                <a:latin typeface="Segoe UI" pitchFamily="34" charset="0"/>
                <a:ea typeface="+mn-ea"/>
                <a:cs typeface="Helvetica Neue"/>
                <a:sym typeface="Arial" panose="020B0604020202020204" pitchFamily="34" charset="0"/>
              </a:rPr>
              <a:t>John </a:t>
            </a:r>
            <a:r>
              <a:rPr kumimoji="0" sz="1000" b="1" i="0" u="none" strike="noStrike" kern="0" cap="none" spc="-10" normalizeH="0" baseline="0" noProof="0" dirty="0">
                <a:ln>
                  <a:noFill/>
                </a:ln>
                <a:solidFill>
                  <a:sysClr val="windowText" lastClr="000000"/>
                </a:solidFill>
                <a:effectLst/>
                <a:uLnTx/>
                <a:uFillTx/>
                <a:latin typeface="Segoe UI" pitchFamily="34" charset="0"/>
                <a:ea typeface="+mn-ea"/>
                <a:cs typeface="Helvetica Neue"/>
                <a:sym typeface="Arial" panose="020B0604020202020204" pitchFamily="34" charset="0"/>
              </a:rPr>
              <a:t> - </a:t>
            </a:r>
            <a:r>
              <a:rPr kumimoji="0" sz="1000" b="0" i="0" u="none" strike="noStrike" kern="0" cap="none" spc="-10" normalizeH="0" baseline="0" noProof="0" dirty="0">
                <a:ln>
                  <a:noFill/>
                </a:ln>
                <a:solidFill>
                  <a:sysClr val="windowText" lastClr="000000"/>
                </a:solidFill>
                <a:effectLst/>
                <a:uLnTx/>
                <a:uFillTx/>
                <a:latin typeface="Arial" pitchFamily="34" charset="0"/>
                <a:ea typeface="+mn-ea"/>
                <a:cs typeface="Helvetica Neue"/>
                <a:sym typeface="Arial" panose="020B0604020202020204" pitchFamily="34" charset="0"/>
              </a:rPr>
              <a:t>the team’s </a:t>
            </a:r>
            <a:r>
              <a:rPr kumimoji="0" lang="en-US" sz="1000" b="0" i="0" u="none" strike="noStrike" kern="0" cap="none" spc="-10" normalizeH="0" baseline="0" noProof="0" dirty="0">
                <a:ln>
                  <a:noFill/>
                </a:ln>
                <a:solidFill>
                  <a:sysClr val="windowText" lastClr="000000"/>
                </a:solidFill>
                <a:effectLst/>
                <a:uLnTx/>
                <a:uFillTx/>
                <a:latin typeface="Arial" pitchFamily="34" charset="0"/>
                <a:ea typeface="+mn-ea"/>
                <a:cs typeface="Helvetica Neue"/>
                <a:sym typeface="Arial" panose="020B0604020202020204" pitchFamily="34" charset="0"/>
              </a:rPr>
              <a:t>process </a:t>
            </a:r>
            <a:r>
              <a:rPr kumimoji="0" sz="1000" b="0" i="0" u="none" strike="noStrike" kern="0" cap="none" spc="-10" normalizeH="0" baseline="0" noProof="0" dirty="0">
                <a:ln>
                  <a:noFill/>
                </a:ln>
                <a:solidFill>
                  <a:sysClr val="windowText" lastClr="000000"/>
                </a:solidFill>
                <a:effectLst/>
                <a:uLnTx/>
                <a:uFillTx/>
                <a:latin typeface="Arial" pitchFamily="34" charset="0"/>
                <a:ea typeface="+mn-ea"/>
                <a:cs typeface="Helvetica Neue"/>
                <a:sym typeface="Arial" panose="020B0604020202020204" pitchFamily="34" charset="0"/>
              </a:rPr>
              <a:t>anchor</a:t>
            </a:r>
            <a:r>
              <a:rPr kumimoji="0" sz="1000" b="1" i="0" u="none" strike="noStrike" kern="0" cap="none" spc="-10" normalizeH="0" baseline="0" noProof="0" dirty="0">
                <a:ln>
                  <a:noFill/>
                </a:ln>
                <a:solidFill>
                  <a:sysClr val="windowText" lastClr="000000"/>
                </a:solidFill>
                <a:effectLst/>
                <a:uLnTx/>
                <a:uFillTx/>
                <a:latin typeface="Segoe UI" pitchFamily="34" charset="0"/>
                <a:ea typeface="+mn-ea"/>
                <a:cs typeface="Helvetica Neue"/>
                <a:sym typeface="Arial" panose="020B0604020202020204" pitchFamily="34" charset="0"/>
              </a:rPr>
              <a:t>: stability, discipline, and governance</a:t>
            </a:r>
            <a:endParaRPr kumimoji="0" sz="1000" b="0" i="0" u="none" strike="noStrike" kern="0" cap="none" spc="-10" normalizeH="0" baseline="0" noProof="0" dirty="0">
              <a:ln>
                <a:noFill/>
              </a:ln>
              <a:solidFill>
                <a:sysClr val="windowText" lastClr="000000"/>
              </a:solidFill>
              <a:effectLst/>
              <a:uLnTx/>
              <a:uFillTx/>
              <a:latin typeface="Arial" pitchFamily="34" charset="0"/>
              <a:ea typeface="+mn-ea"/>
              <a:cs typeface="Helvetica Neue"/>
              <a:sym typeface="Arial" panose="020B0604020202020204" pitchFamily="34" charset="0"/>
            </a:endParaRPr>
          </a:p>
        </p:txBody>
      </p:sp>
      <p:sp>
        <p:nvSpPr>
          <p:cNvPr id="16" name="object 27">
            <a:extLst>
              <a:ext uri="{FF2B5EF4-FFF2-40B4-BE49-F238E27FC236}">
                <a16:creationId xmlns:a16="http://schemas.microsoft.com/office/drawing/2014/main" id="{BE2E35C8-082A-3241-6701-8CD4894F80AD}"/>
              </a:ext>
            </a:extLst>
          </p:cNvPr>
          <p:cNvSpPr txBox="1"/>
          <p:nvPr/>
        </p:nvSpPr>
        <p:spPr>
          <a:xfrm>
            <a:off x="1256675" y="2045430"/>
            <a:ext cx="4041775" cy="330200"/>
          </a:xfrm>
          <a:prstGeom prst="rect">
            <a:avLst/>
          </a:prstGeom>
        </p:spPr>
        <p:txBody>
          <a:bodyPr vert="horz" wrap="square" lIns="0" tIns="12700" rIns="0" bIns="0" rtlCol="0">
            <a:spAutoFit/>
          </a:bodyPr>
          <a:lstStyle/>
          <a:p>
            <a:pPr marL="183515" marR="5080" lvl="0" indent="-171450" algn="l" defTabSz="914400" rtl="0" eaLnBrk="1" fontAlgn="auto" latinLnBrk="0" hangingPunct="1">
              <a:lnSpc>
                <a:spcPct val="100000"/>
              </a:lnSpc>
              <a:spcBef>
                <a:spcPts val="100"/>
              </a:spcBef>
              <a:spcAft>
                <a:spcPts val="0"/>
              </a:spcAft>
              <a:buClrTx/>
              <a:buSzTx/>
              <a:buBlip>
                <a:blip r:embed="rId2"/>
              </a:buBlip>
              <a:tabLst>
                <a:tab pos="164465" algn="l"/>
              </a:tabLst>
              <a:defRPr/>
            </a:pPr>
            <a:r>
              <a:rPr kumimoji="0" sz="1000" b="1" i="0" u="none" strike="noStrike" kern="0" cap="none" spc="-10" normalizeH="0" baseline="0" noProof="0" dirty="0">
                <a:ln>
                  <a:noFill/>
                </a:ln>
                <a:solidFill>
                  <a:sysClr val="windowText" lastClr="000000"/>
                </a:solidFill>
                <a:effectLst/>
                <a:uLnTx/>
                <a:uFillTx/>
                <a:latin typeface="Segoe UI" pitchFamily="34" charset="0"/>
                <a:ea typeface="+mn-ea"/>
                <a:cs typeface="Helvetica Neue"/>
                <a:sym typeface="Arial" panose="020B0604020202020204" pitchFamily="34" charset="0"/>
              </a:rPr>
              <a:t>D</a:t>
            </a:r>
            <a:r>
              <a:rPr kumimoji="0" lang="en-US" sz="1000" b="1" i="0" u="none" strike="noStrike" kern="0" cap="none" spc="-10" normalizeH="0" baseline="0" noProof="0" dirty="0">
                <a:ln>
                  <a:noFill/>
                </a:ln>
                <a:solidFill>
                  <a:sysClr val="windowText" lastClr="000000"/>
                </a:solidFill>
                <a:effectLst/>
                <a:uLnTx/>
                <a:uFillTx/>
                <a:latin typeface="Segoe UI" pitchFamily="34" charset="0"/>
                <a:ea typeface="+mn-ea"/>
                <a:cs typeface="Helvetica Neue"/>
                <a:sym typeface="Arial" panose="020B0604020202020204" pitchFamily="34" charset="0"/>
              </a:rPr>
              <a:t>iana </a:t>
            </a:r>
            <a:r>
              <a:rPr kumimoji="0" sz="1000" b="1" i="0" u="none" strike="noStrike" kern="0" cap="none" spc="-10" normalizeH="0" baseline="0" noProof="0" dirty="0">
                <a:ln>
                  <a:noFill/>
                </a:ln>
                <a:solidFill>
                  <a:sysClr val="windowText" lastClr="000000"/>
                </a:solidFill>
                <a:effectLst/>
                <a:uLnTx/>
                <a:uFillTx/>
                <a:latin typeface="Segoe UI" pitchFamily="34" charset="0"/>
                <a:ea typeface="+mn-ea"/>
                <a:cs typeface="Helvetica Neue"/>
                <a:sym typeface="Arial" panose="020B0604020202020204" pitchFamily="34" charset="0"/>
              </a:rPr>
              <a:t> - </a:t>
            </a:r>
            <a:r>
              <a:rPr kumimoji="0" sz="1000" b="0" i="0" u="none" strike="noStrike" kern="0" cap="none" spc="-10" normalizeH="0" baseline="0" noProof="0" dirty="0">
                <a:ln>
                  <a:noFill/>
                </a:ln>
                <a:solidFill>
                  <a:sysClr val="windowText" lastClr="000000"/>
                </a:solidFill>
                <a:effectLst/>
                <a:uLnTx/>
                <a:uFillTx/>
                <a:latin typeface="Arial" pitchFamily="34" charset="0"/>
                <a:ea typeface="+mn-ea"/>
                <a:cs typeface="Helvetica Neue"/>
                <a:sym typeface="Arial" panose="020B0604020202020204" pitchFamily="34" charset="0"/>
              </a:rPr>
              <a:t>the team's connector: </a:t>
            </a:r>
            <a:r>
              <a:rPr kumimoji="0" sz="1000" b="1" i="0" u="none" strike="noStrike" kern="0" cap="none" spc="-10" normalizeH="0" baseline="0" noProof="0" dirty="0">
                <a:ln>
                  <a:noFill/>
                </a:ln>
                <a:solidFill>
                  <a:sysClr val="windowText" lastClr="000000"/>
                </a:solidFill>
                <a:effectLst/>
                <a:uLnTx/>
                <a:uFillTx/>
                <a:latin typeface="Segoe UI" pitchFamily="34" charset="0"/>
                <a:ea typeface="+mn-ea"/>
                <a:cs typeface="Helvetica Neue"/>
                <a:sym typeface="Arial" panose="020B0604020202020204" pitchFamily="34" charset="0"/>
              </a:rPr>
              <a:t>relationships, judgement and local 	nuances:</a:t>
            </a:r>
            <a:endParaRPr kumimoji="0" sz="1000" b="0" i="0" u="none" strike="noStrike" kern="0" cap="none" spc="-10" normalizeH="0" baseline="0" noProof="0" dirty="0">
              <a:ln>
                <a:noFill/>
              </a:ln>
              <a:solidFill>
                <a:sysClr val="windowText" lastClr="000000"/>
              </a:solidFill>
              <a:effectLst/>
              <a:uLnTx/>
              <a:uFillTx/>
              <a:latin typeface="Arial" pitchFamily="34" charset="0"/>
              <a:ea typeface="+mn-ea"/>
              <a:cs typeface="Helvetica Neue"/>
              <a:sym typeface="Arial" panose="020B0604020202020204" pitchFamily="34" charset="0"/>
            </a:endParaRPr>
          </a:p>
        </p:txBody>
      </p:sp>
      <p:sp>
        <p:nvSpPr>
          <p:cNvPr id="17" name="object 28">
            <a:extLst>
              <a:ext uri="{FF2B5EF4-FFF2-40B4-BE49-F238E27FC236}">
                <a16:creationId xmlns:a16="http://schemas.microsoft.com/office/drawing/2014/main" id="{ACB9EB73-D9FC-30AE-CBB4-E81455B8A9B1}"/>
              </a:ext>
            </a:extLst>
          </p:cNvPr>
          <p:cNvSpPr txBox="1"/>
          <p:nvPr/>
        </p:nvSpPr>
        <p:spPr>
          <a:xfrm>
            <a:off x="1256675" y="2580218"/>
            <a:ext cx="3268979" cy="166712"/>
          </a:xfrm>
          <a:prstGeom prst="rect">
            <a:avLst/>
          </a:prstGeom>
        </p:spPr>
        <p:txBody>
          <a:bodyPr vert="horz" wrap="square" lIns="0" tIns="12700" rIns="0" bIns="0" rtlCol="0">
            <a:spAutoFit/>
          </a:bodyPr>
          <a:lstStyle/>
          <a:p>
            <a:pPr marL="184150" marR="0" lvl="0" indent="-171450" algn="l" defTabSz="914400" rtl="0" eaLnBrk="1" fontAlgn="auto" latinLnBrk="0" hangingPunct="1">
              <a:lnSpc>
                <a:spcPct val="100000"/>
              </a:lnSpc>
              <a:spcBef>
                <a:spcPts val="100"/>
              </a:spcBef>
              <a:spcAft>
                <a:spcPts val="0"/>
              </a:spcAft>
              <a:buClrTx/>
              <a:buSzTx/>
              <a:buBlip>
                <a:blip r:embed="rId2"/>
              </a:buBlip>
              <a:tabLst>
                <a:tab pos="163830" algn="l"/>
              </a:tabLst>
              <a:defRPr/>
            </a:pPr>
            <a:r>
              <a:rPr lang="en-US" sz="1000" b="1" kern="0" spc="-10" dirty="0">
                <a:solidFill>
                  <a:sysClr val="windowText" lastClr="000000"/>
                </a:solidFill>
                <a:latin typeface="Segoe UI" pitchFamily="34" charset="0"/>
                <a:cs typeface="Helvetica Neue"/>
                <a:sym typeface="Arial" panose="020B0604020202020204" pitchFamily="34" charset="0"/>
              </a:rPr>
              <a:t>Maz </a:t>
            </a:r>
            <a:r>
              <a:rPr kumimoji="0" sz="1000" b="1" i="0" u="none" strike="noStrike" kern="0" cap="none" spc="-10" normalizeH="0" baseline="0" noProof="0" dirty="0">
                <a:ln>
                  <a:noFill/>
                </a:ln>
                <a:solidFill>
                  <a:sysClr val="windowText" lastClr="000000"/>
                </a:solidFill>
                <a:effectLst/>
                <a:uLnTx/>
                <a:uFillTx/>
                <a:latin typeface="Segoe UI" pitchFamily="34" charset="0"/>
                <a:ea typeface="+mn-ea"/>
                <a:cs typeface="Helvetica Neue"/>
                <a:sym typeface="Arial" panose="020B0604020202020204" pitchFamily="34" charset="0"/>
              </a:rPr>
              <a:t> - </a:t>
            </a:r>
            <a:r>
              <a:rPr kumimoji="0" sz="1000" b="0" i="0" u="none" strike="noStrike" kern="0" cap="none" spc="-10" normalizeH="0" baseline="0" noProof="0" dirty="0">
                <a:ln>
                  <a:noFill/>
                </a:ln>
                <a:solidFill>
                  <a:sysClr val="windowText" lastClr="000000"/>
                </a:solidFill>
                <a:effectLst/>
                <a:uLnTx/>
                <a:uFillTx/>
                <a:latin typeface="Arial" pitchFamily="34" charset="0"/>
                <a:ea typeface="+mn-ea"/>
                <a:cs typeface="Helvetica Neue"/>
                <a:sym typeface="Arial" panose="020B0604020202020204" pitchFamily="34" charset="0"/>
              </a:rPr>
              <a:t>the team’s expert: </a:t>
            </a:r>
            <a:r>
              <a:rPr kumimoji="0" sz="1000" b="1" i="0" u="none" strike="noStrike" kern="0" cap="none" spc="-10" normalizeH="0" baseline="0" noProof="0" dirty="0">
                <a:ln>
                  <a:noFill/>
                </a:ln>
                <a:solidFill>
                  <a:sysClr val="windowText" lastClr="000000"/>
                </a:solidFill>
                <a:effectLst/>
                <a:uLnTx/>
                <a:uFillTx/>
                <a:latin typeface="Segoe UI" pitchFamily="34" charset="0"/>
                <a:ea typeface="+mn-ea"/>
                <a:cs typeface="Helvetica Neue"/>
                <a:sym typeface="Arial" panose="020B0604020202020204" pitchFamily="34" charset="0"/>
              </a:rPr>
              <a:t>deep technical expertise</a:t>
            </a:r>
            <a:endParaRPr kumimoji="0" sz="1000" b="0" i="0" u="none" strike="noStrike" kern="0" cap="none" spc="-10" normalizeH="0" baseline="0" noProof="0" dirty="0">
              <a:ln>
                <a:noFill/>
              </a:ln>
              <a:solidFill>
                <a:sysClr val="windowText" lastClr="000000"/>
              </a:solidFill>
              <a:effectLst/>
              <a:uLnTx/>
              <a:uFillTx/>
              <a:latin typeface="Arial" pitchFamily="34" charset="0"/>
              <a:ea typeface="+mn-ea"/>
              <a:cs typeface="Helvetica Neue"/>
              <a:sym typeface="Arial" panose="020B0604020202020204" pitchFamily="34" charset="0"/>
            </a:endParaRPr>
          </a:p>
        </p:txBody>
      </p:sp>
      <p:sp>
        <p:nvSpPr>
          <p:cNvPr id="18" name="object 29">
            <a:extLst>
              <a:ext uri="{FF2B5EF4-FFF2-40B4-BE49-F238E27FC236}">
                <a16:creationId xmlns:a16="http://schemas.microsoft.com/office/drawing/2014/main" id="{17BA72DF-609C-F921-9303-C2A669BE411D}"/>
              </a:ext>
            </a:extLst>
          </p:cNvPr>
          <p:cNvSpPr txBox="1"/>
          <p:nvPr/>
        </p:nvSpPr>
        <p:spPr>
          <a:xfrm>
            <a:off x="1256675" y="3017430"/>
            <a:ext cx="4231640" cy="166712"/>
          </a:xfrm>
          <a:prstGeom prst="rect">
            <a:avLst/>
          </a:prstGeom>
        </p:spPr>
        <p:txBody>
          <a:bodyPr vert="horz" wrap="square" lIns="0" tIns="12700" rIns="0" bIns="0" rtlCol="0">
            <a:spAutoFit/>
          </a:bodyPr>
          <a:lstStyle/>
          <a:p>
            <a:pPr marL="184150" marR="0" lvl="0" indent="-171450" algn="l" defTabSz="914400" rtl="0" eaLnBrk="1" fontAlgn="auto" latinLnBrk="0" hangingPunct="1">
              <a:lnSpc>
                <a:spcPct val="100000"/>
              </a:lnSpc>
              <a:spcBef>
                <a:spcPts val="100"/>
              </a:spcBef>
              <a:spcAft>
                <a:spcPts val="0"/>
              </a:spcAft>
              <a:buClrTx/>
              <a:buSzTx/>
              <a:buBlip>
                <a:blip r:embed="rId2"/>
              </a:buBlip>
              <a:tabLst>
                <a:tab pos="163830" algn="l"/>
              </a:tabLst>
              <a:defRPr/>
            </a:pPr>
            <a:r>
              <a:rPr kumimoji="0" lang="en-US" sz="1000" b="1" i="0" u="none" strike="noStrike" kern="0" cap="none" spc="-10" normalizeH="0" baseline="0" noProof="0" dirty="0">
                <a:ln>
                  <a:noFill/>
                </a:ln>
                <a:solidFill>
                  <a:sysClr val="windowText" lastClr="000000"/>
                </a:solidFill>
                <a:effectLst/>
                <a:uLnTx/>
                <a:uFillTx/>
                <a:latin typeface="Segoe UI" pitchFamily="34" charset="0"/>
                <a:ea typeface="+mn-ea"/>
                <a:cs typeface="Helvetica Neue"/>
                <a:sym typeface="Arial" panose="020B0604020202020204" pitchFamily="34" charset="0"/>
              </a:rPr>
              <a:t>Ahmed </a:t>
            </a:r>
            <a:r>
              <a:rPr kumimoji="0" sz="1000" b="1" i="0" u="none" strike="noStrike" kern="0" cap="none" spc="-10" normalizeH="0" baseline="0" noProof="0" dirty="0">
                <a:ln>
                  <a:noFill/>
                </a:ln>
                <a:solidFill>
                  <a:sysClr val="windowText" lastClr="000000"/>
                </a:solidFill>
                <a:effectLst/>
                <a:uLnTx/>
                <a:uFillTx/>
                <a:latin typeface="Segoe UI" pitchFamily="34" charset="0"/>
                <a:ea typeface="+mn-ea"/>
                <a:cs typeface="Helvetica Neue"/>
                <a:sym typeface="Arial" panose="020B0604020202020204" pitchFamily="34" charset="0"/>
              </a:rPr>
              <a:t>: </a:t>
            </a:r>
            <a:r>
              <a:rPr kumimoji="0" sz="1000" b="0" i="0" u="none" strike="noStrike" kern="0" cap="none" spc="-10" normalizeH="0" baseline="0" noProof="0" dirty="0">
                <a:ln>
                  <a:noFill/>
                </a:ln>
                <a:solidFill>
                  <a:sysClr val="windowText" lastClr="000000"/>
                </a:solidFill>
                <a:effectLst/>
                <a:uLnTx/>
                <a:uFillTx/>
                <a:latin typeface="Arial" pitchFamily="34" charset="0"/>
                <a:ea typeface="+mn-ea"/>
                <a:cs typeface="Helvetica Neue"/>
                <a:sym typeface="Arial" panose="020B0604020202020204" pitchFamily="34" charset="0"/>
              </a:rPr>
              <a:t>the team's operator</a:t>
            </a:r>
            <a:r>
              <a:rPr kumimoji="0" sz="1000" b="1" i="0" u="none" strike="noStrike" kern="0" cap="none" spc="-10" normalizeH="0" baseline="0" noProof="0" dirty="0">
                <a:ln>
                  <a:noFill/>
                </a:ln>
                <a:solidFill>
                  <a:sysClr val="windowText" lastClr="000000"/>
                </a:solidFill>
                <a:effectLst/>
                <a:uLnTx/>
                <a:uFillTx/>
                <a:latin typeface="Segoe UI" pitchFamily="34" charset="0"/>
                <a:ea typeface="+mn-ea"/>
                <a:cs typeface="Helvetica Neue"/>
                <a:sym typeface="Arial" panose="020B0604020202020204" pitchFamily="34" charset="0"/>
              </a:rPr>
              <a:t>: operational discipline and process rigor</a:t>
            </a:r>
            <a:endParaRPr kumimoji="0" sz="1000" b="0" i="0" u="none" strike="noStrike" kern="0" cap="none" spc="-10" normalizeH="0" baseline="0" noProof="0" dirty="0">
              <a:ln>
                <a:noFill/>
              </a:ln>
              <a:solidFill>
                <a:sysClr val="windowText" lastClr="000000"/>
              </a:solidFill>
              <a:effectLst/>
              <a:uLnTx/>
              <a:uFillTx/>
              <a:latin typeface="Arial" pitchFamily="34" charset="0"/>
              <a:ea typeface="+mn-ea"/>
              <a:cs typeface="Helvetica Neue"/>
              <a:sym typeface="Arial" panose="020B0604020202020204" pitchFamily="34" charset="0"/>
            </a:endParaRPr>
          </a:p>
        </p:txBody>
      </p:sp>
      <p:sp>
        <p:nvSpPr>
          <p:cNvPr id="19" name="object 30">
            <a:extLst>
              <a:ext uri="{FF2B5EF4-FFF2-40B4-BE49-F238E27FC236}">
                <a16:creationId xmlns:a16="http://schemas.microsoft.com/office/drawing/2014/main" id="{D57382AA-507A-6D43-B92D-858EA3003711}"/>
              </a:ext>
            </a:extLst>
          </p:cNvPr>
          <p:cNvSpPr txBox="1"/>
          <p:nvPr/>
        </p:nvSpPr>
        <p:spPr>
          <a:xfrm>
            <a:off x="1256674" y="3478330"/>
            <a:ext cx="3014383" cy="166712"/>
          </a:xfrm>
          <a:prstGeom prst="rect">
            <a:avLst/>
          </a:prstGeom>
        </p:spPr>
        <p:txBody>
          <a:bodyPr vert="horz" wrap="square" lIns="0" tIns="12700" rIns="0" bIns="0" rtlCol="0">
            <a:spAutoFit/>
          </a:bodyPr>
          <a:lstStyle/>
          <a:p>
            <a:pPr marL="184150" marR="0" lvl="0" indent="-171450" algn="l" defTabSz="914400" rtl="0" eaLnBrk="1" fontAlgn="auto" latinLnBrk="0" hangingPunct="1">
              <a:lnSpc>
                <a:spcPct val="100000"/>
              </a:lnSpc>
              <a:spcBef>
                <a:spcPts val="100"/>
              </a:spcBef>
              <a:spcAft>
                <a:spcPts val="0"/>
              </a:spcAft>
              <a:buClrTx/>
              <a:buSzTx/>
              <a:buBlip>
                <a:blip r:embed="rId2"/>
              </a:buBlip>
              <a:tabLst>
                <a:tab pos="163830" algn="l"/>
              </a:tabLst>
              <a:defRPr/>
            </a:pPr>
            <a:r>
              <a:rPr kumimoji="0" lang="en-US" sz="1000" b="1" i="0" u="none" strike="noStrike" kern="0" cap="none" spc="-10" normalizeH="0" baseline="0" noProof="0" dirty="0">
                <a:ln>
                  <a:noFill/>
                </a:ln>
                <a:solidFill>
                  <a:sysClr val="windowText" lastClr="000000"/>
                </a:solidFill>
                <a:effectLst/>
                <a:uLnTx/>
                <a:uFillTx/>
                <a:latin typeface="Segoe UI" pitchFamily="34" charset="0"/>
                <a:ea typeface="+mn-ea"/>
                <a:cs typeface="Helvetica Neue"/>
                <a:sym typeface="Arial" panose="020B0604020202020204" pitchFamily="34" charset="0"/>
              </a:rPr>
              <a:t>Tina </a:t>
            </a:r>
            <a:r>
              <a:rPr kumimoji="0" sz="1000" b="1" i="0" u="none" strike="noStrike" kern="0" cap="none" spc="-10" normalizeH="0" baseline="0" noProof="0" dirty="0">
                <a:ln>
                  <a:noFill/>
                </a:ln>
                <a:solidFill>
                  <a:sysClr val="windowText" lastClr="000000"/>
                </a:solidFill>
                <a:effectLst/>
                <a:uLnTx/>
                <a:uFillTx/>
                <a:latin typeface="Segoe UI" pitchFamily="34" charset="0"/>
                <a:ea typeface="+mn-ea"/>
                <a:cs typeface="Helvetica Neue"/>
                <a:sym typeface="Arial" panose="020B0604020202020204" pitchFamily="34" charset="0"/>
              </a:rPr>
              <a:t> : </a:t>
            </a:r>
            <a:r>
              <a:rPr kumimoji="0" lang="en-US" sz="1000" b="1" i="0" u="none" strike="noStrike" kern="0" cap="none" spc="-10" normalizeH="0" baseline="0" noProof="0" dirty="0">
                <a:ln>
                  <a:noFill/>
                </a:ln>
                <a:solidFill>
                  <a:sysClr val="windowText" lastClr="000000"/>
                </a:solidFill>
                <a:effectLst/>
                <a:uLnTx/>
                <a:uFillTx/>
                <a:latin typeface="Segoe UI" pitchFamily="34" charset="0"/>
                <a:ea typeface="+mn-ea"/>
                <a:cs typeface="Helvetica Neue"/>
                <a:sym typeface="Arial" panose="020B0604020202020204" pitchFamily="34" charset="0"/>
              </a:rPr>
              <a:t>Farming and client relations</a:t>
            </a:r>
            <a:endParaRPr kumimoji="0" sz="1000" b="0" i="0" u="none" strike="noStrike" kern="0" cap="none" spc="-10" normalizeH="0" baseline="0" noProof="0" dirty="0">
              <a:ln>
                <a:noFill/>
              </a:ln>
              <a:solidFill>
                <a:sysClr val="windowText" lastClr="000000"/>
              </a:solidFill>
              <a:effectLst/>
              <a:uLnTx/>
              <a:uFillTx/>
              <a:latin typeface="Arial" pitchFamily="34" charset="0"/>
              <a:ea typeface="+mn-ea"/>
              <a:cs typeface="Helvetica Neue"/>
              <a:sym typeface="Arial" panose="020B0604020202020204" pitchFamily="34" charset="0"/>
            </a:endParaRPr>
          </a:p>
        </p:txBody>
      </p:sp>
      <p:sp>
        <p:nvSpPr>
          <p:cNvPr id="20" name="object 14">
            <a:extLst>
              <a:ext uri="{FF2B5EF4-FFF2-40B4-BE49-F238E27FC236}">
                <a16:creationId xmlns:a16="http://schemas.microsoft.com/office/drawing/2014/main" id="{31EB89BC-7978-4180-C95A-42E06CF1B6C4}"/>
              </a:ext>
            </a:extLst>
          </p:cNvPr>
          <p:cNvSpPr txBox="1">
            <a:spLocks/>
          </p:cNvSpPr>
          <p:nvPr/>
        </p:nvSpPr>
        <p:spPr>
          <a:xfrm>
            <a:off x="6669713" y="1459672"/>
            <a:ext cx="4265612" cy="2320925"/>
          </a:xfrm>
          <a:prstGeom prst="rect">
            <a:avLst/>
          </a:prstGeom>
        </p:spPr>
        <p:txBody>
          <a:bodyPr vert="horz" wrap="square" lIns="0" tIns="12700" rIns="0" bIns="0" rtlCol="0">
            <a:spAutoFit/>
          </a:bodyPr>
          <a:lst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a:lstStyle>
          <a:p>
            <a:pPr marL="171450" indent="-171450" eaLnBrk="0" fontAlgn="base" hangingPunct="0">
              <a:lnSpc>
                <a:spcPct val="100000"/>
              </a:lnSpc>
              <a:spcBef>
                <a:spcPct val="0"/>
              </a:spcBef>
              <a:spcAft>
                <a:spcPct val="0"/>
              </a:spcAft>
              <a:buFont typeface="Arial" panose="020B0706020202030204" pitchFamily="34" charset="0"/>
              <a:buBlip>
                <a:blip r:embed="rId5"/>
              </a:buBlip>
              <a:defRPr/>
            </a:pPr>
            <a:r>
              <a:rPr lang="en-US" sz="1000" b="1" spc="-10">
                <a:solidFill>
                  <a:prstClr val="black"/>
                </a:solidFill>
                <a:latin typeface="Segoe UI" pitchFamily="34" charset="0"/>
                <a:ea typeface="Helvetica Neue" panose="02000503000000020004" pitchFamily="2" charset="0"/>
                <a:cs typeface="Helvetica Neue" panose="02000503000000020004" pitchFamily="2" charset="0"/>
                <a:sym typeface="Arial" panose="020B0604020202020204" pitchFamily="34" charset="0"/>
              </a:rPr>
              <a:t>Struggle under pressure: </a:t>
            </a:r>
          </a:p>
          <a:p>
            <a:pPr marL="628650" lvl="1" indent="-171450" eaLnBrk="0" fontAlgn="base" hangingPunct="0">
              <a:lnSpc>
                <a:spcPct val="100000"/>
              </a:lnSpc>
              <a:spcBef>
                <a:spcPct val="0"/>
              </a:spcBef>
              <a:spcAft>
                <a:spcPct val="0"/>
              </a:spcAft>
              <a:buFont typeface="Arial" panose="020B0706020202030204" pitchFamily="34" charset="0"/>
              <a:buBlip>
                <a:blip r:embed="rId5"/>
              </a:buBlip>
              <a:defRPr/>
            </a:pPr>
            <a:r>
              <a:rPr lang="en-US" sz="1000" spc="-10">
                <a:solidFill>
                  <a:prstClr val="black"/>
                </a:solidFill>
                <a:latin typeface="Arial" pitchFamily="34" charset="0"/>
                <a:ea typeface="Helvetica Neue" panose="02000503000000020004" pitchFamily="2" charset="0"/>
                <a:cs typeface="Helvetica Neue" panose="02000503000000020004" pitchFamily="2" charset="0"/>
                <a:sym typeface="Arial" panose="020B0604020202020204" pitchFamily="34" charset="0"/>
              </a:rPr>
              <a:t>60% of team may become reactive or withdraw</a:t>
            </a:r>
          </a:p>
          <a:p>
            <a:pPr marL="628650" lvl="1" indent="-171450" eaLnBrk="0" fontAlgn="base" hangingPunct="0">
              <a:lnSpc>
                <a:spcPct val="100000"/>
              </a:lnSpc>
              <a:spcBef>
                <a:spcPct val="0"/>
              </a:spcBef>
              <a:spcAft>
                <a:spcPct val="0"/>
              </a:spcAft>
              <a:buFont typeface="Arial" panose="020B0706020202030204" pitchFamily="34" charset="0"/>
              <a:buBlip>
                <a:blip r:embed="rId5"/>
              </a:buBlip>
              <a:defRPr/>
            </a:pPr>
            <a:r>
              <a:rPr lang="en-US" sz="1000" spc="-10">
                <a:solidFill>
                  <a:prstClr val="black"/>
                </a:solidFill>
                <a:latin typeface="Arial" pitchFamily="34" charset="0"/>
                <a:ea typeface="Helvetica Neue" panose="02000503000000020004" pitchFamily="2" charset="0"/>
                <a:cs typeface="Helvetica Neue" panose="02000503000000020004" pitchFamily="2" charset="0"/>
                <a:sym typeface="Arial" panose="020B0604020202020204" pitchFamily="34" charset="0"/>
              </a:rPr>
              <a:t>John and Diana comfortable with pressure</a:t>
            </a:r>
          </a:p>
          <a:p>
            <a:pPr marL="171450" indent="-171450" eaLnBrk="0" fontAlgn="base" hangingPunct="0">
              <a:lnSpc>
                <a:spcPct val="100000"/>
              </a:lnSpc>
              <a:spcBef>
                <a:spcPct val="0"/>
              </a:spcBef>
              <a:spcAft>
                <a:spcPct val="0"/>
              </a:spcAft>
              <a:buFont typeface="Arial" panose="020B0706020202030204" pitchFamily="34" charset="0"/>
              <a:buBlip>
                <a:blip r:embed="rId5"/>
              </a:buBlip>
              <a:defRPr/>
            </a:pPr>
            <a:endParaRPr lang="en-US" sz="1000" spc="-10">
              <a:solidFill>
                <a:prstClr val="black"/>
              </a:solidFill>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p>
            <a:pPr marL="171450" indent="-171450" eaLnBrk="0" fontAlgn="base" hangingPunct="0">
              <a:lnSpc>
                <a:spcPct val="100000"/>
              </a:lnSpc>
              <a:spcBef>
                <a:spcPct val="0"/>
              </a:spcBef>
              <a:spcAft>
                <a:spcPct val="0"/>
              </a:spcAft>
              <a:buFont typeface="Arial" panose="020B0706020202030204" pitchFamily="34" charset="0"/>
              <a:buBlip>
                <a:blip r:embed="rId5"/>
              </a:buBlip>
              <a:defRPr/>
            </a:pPr>
            <a:r>
              <a:rPr lang="en-US" sz="1000" b="1" spc="-10">
                <a:solidFill>
                  <a:prstClr val="black"/>
                </a:solidFill>
                <a:latin typeface="Segoe UI" pitchFamily="34" charset="0"/>
                <a:ea typeface="Helvetica Neue" panose="02000503000000020004" pitchFamily="2" charset="0"/>
                <a:cs typeface="Helvetica Neue" panose="02000503000000020004" pitchFamily="2" charset="0"/>
                <a:sym typeface="Arial" panose="020B0604020202020204" pitchFamily="34" charset="0"/>
              </a:rPr>
              <a:t>Communication collapse: </a:t>
            </a:r>
          </a:p>
          <a:p>
            <a:pPr marL="628650" lvl="1" indent="-171450" eaLnBrk="0" fontAlgn="base" hangingPunct="0">
              <a:lnSpc>
                <a:spcPct val="100000"/>
              </a:lnSpc>
              <a:spcBef>
                <a:spcPct val="0"/>
              </a:spcBef>
              <a:spcAft>
                <a:spcPct val="0"/>
              </a:spcAft>
              <a:buFont typeface="Arial" panose="020B0706020202030204" pitchFamily="34" charset="0"/>
              <a:buBlip>
                <a:blip r:embed="rId5"/>
              </a:buBlip>
              <a:defRPr/>
            </a:pPr>
            <a:r>
              <a:rPr lang="en-US" sz="1000" spc="-10">
                <a:solidFill>
                  <a:prstClr val="black"/>
                </a:solidFill>
                <a:latin typeface="Arial" pitchFamily="34" charset="0"/>
                <a:ea typeface="Helvetica Neue" panose="02000503000000020004" pitchFamily="2" charset="0"/>
                <a:cs typeface="Helvetica Neue" panose="02000503000000020004" pitchFamily="2" charset="0"/>
                <a:sym typeface="Arial" panose="020B0604020202020204" pitchFamily="34" charset="0"/>
              </a:rPr>
              <a:t>Under stress, the majority may shut down</a:t>
            </a:r>
          </a:p>
          <a:p>
            <a:pPr marL="628650" lvl="1" indent="-171450" eaLnBrk="0" fontAlgn="base" hangingPunct="0">
              <a:lnSpc>
                <a:spcPct val="100000"/>
              </a:lnSpc>
              <a:spcBef>
                <a:spcPct val="0"/>
              </a:spcBef>
              <a:spcAft>
                <a:spcPct val="0"/>
              </a:spcAft>
              <a:buFont typeface="Arial" panose="020B0706020202030204" pitchFamily="34" charset="0"/>
              <a:buBlip>
                <a:blip r:embed="rId5"/>
              </a:buBlip>
              <a:defRPr/>
            </a:pPr>
            <a:r>
              <a:rPr lang="en-US" sz="1000" spc="-10">
                <a:solidFill>
                  <a:prstClr val="black"/>
                </a:solidFill>
                <a:latin typeface="Arial" pitchFamily="34" charset="0"/>
                <a:ea typeface="Helvetica Neue" panose="02000503000000020004" pitchFamily="2" charset="0"/>
                <a:cs typeface="Helvetica Neue" panose="02000503000000020004" pitchFamily="2" charset="0"/>
                <a:sym typeface="Arial" panose="020B0604020202020204" pitchFamily="34" charset="0"/>
              </a:rPr>
              <a:t>Information flow fails when it matters most</a:t>
            </a:r>
          </a:p>
          <a:p>
            <a:pPr marL="171450" indent="-171450" eaLnBrk="0" fontAlgn="base" hangingPunct="0">
              <a:lnSpc>
                <a:spcPct val="100000"/>
              </a:lnSpc>
              <a:spcBef>
                <a:spcPct val="0"/>
              </a:spcBef>
              <a:spcAft>
                <a:spcPct val="0"/>
              </a:spcAft>
              <a:buFont typeface="Arial" panose="020B0706020202030204" pitchFamily="34" charset="0"/>
              <a:buBlip>
                <a:blip r:embed="rId5"/>
              </a:buBlip>
              <a:defRPr/>
            </a:pPr>
            <a:endParaRPr lang="en-US" sz="1000" spc="-10">
              <a:solidFill>
                <a:prstClr val="black"/>
              </a:solidFill>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p>
            <a:pPr marL="171450" indent="-171450" eaLnBrk="0" fontAlgn="base" hangingPunct="0">
              <a:lnSpc>
                <a:spcPct val="100000"/>
              </a:lnSpc>
              <a:spcBef>
                <a:spcPct val="0"/>
              </a:spcBef>
              <a:spcAft>
                <a:spcPct val="0"/>
              </a:spcAft>
              <a:buFont typeface="Arial" panose="020B0706020202030204" pitchFamily="34" charset="0"/>
              <a:buBlip>
                <a:blip r:embed="rId5"/>
              </a:buBlip>
              <a:defRPr/>
            </a:pPr>
            <a:r>
              <a:rPr lang="en-US" sz="1000" b="1" spc="-10">
                <a:solidFill>
                  <a:prstClr val="black"/>
                </a:solidFill>
                <a:latin typeface="Segoe UI" pitchFamily="34" charset="0"/>
                <a:ea typeface="Helvetica Neue" panose="02000503000000020004" pitchFamily="2" charset="0"/>
                <a:cs typeface="Helvetica Neue" panose="02000503000000020004" pitchFamily="2" charset="0"/>
                <a:sym typeface="Arial" panose="020B0604020202020204" pitchFamily="34" charset="0"/>
              </a:rPr>
              <a:t>Low emotional attunement: </a:t>
            </a:r>
          </a:p>
          <a:p>
            <a:pPr marL="628650" lvl="1" indent="-171450" eaLnBrk="0" fontAlgn="base" hangingPunct="0">
              <a:lnSpc>
                <a:spcPct val="100000"/>
              </a:lnSpc>
              <a:spcBef>
                <a:spcPct val="0"/>
              </a:spcBef>
              <a:spcAft>
                <a:spcPct val="0"/>
              </a:spcAft>
              <a:buFont typeface="Arial" panose="020B0706020202030204" pitchFamily="34" charset="0"/>
              <a:buBlip>
                <a:blip r:embed="rId5"/>
              </a:buBlip>
              <a:defRPr/>
            </a:pPr>
            <a:r>
              <a:rPr lang="en-US" sz="1000" spc="-10">
                <a:solidFill>
                  <a:prstClr val="black"/>
                </a:solidFill>
                <a:latin typeface="Arial" pitchFamily="34" charset="0"/>
                <a:ea typeface="Helvetica Neue" panose="02000503000000020004" pitchFamily="2" charset="0"/>
                <a:cs typeface="Helvetica Neue" panose="02000503000000020004" pitchFamily="2" charset="0"/>
                <a:sym typeface="Arial" panose="020B0604020202020204" pitchFamily="34" charset="0"/>
              </a:rPr>
              <a:t>Maz and Ahmed may be perceived as distant</a:t>
            </a:r>
          </a:p>
          <a:p>
            <a:pPr marL="628650" lvl="1" indent="-171450" eaLnBrk="0" fontAlgn="base" hangingPunct="0">
              <a:lnSpc>
                <a:spcPct val="100000"/>
              </a:lnSpc>
              <a:spcBef>
                <a:spcPct val="0"/>
              </a:spcBef>
              <a:spcAft>
                <a:spcPct val="0"/>
              </a:spcAft>
              <a:buFont typeface="Arial" panose="020B0706020202030204" pitchFamily="34" charset="0"/>
              <a:buBlip>
                <a:blip r:embed="rId5"/>
              </a:buBlip>
              <a:defRPr/>
            </a:pPr>
            <a:r>
              <a:rPr lang="en-US" sz="1000" spc="-10">
                <a:solidFill>
                  <a:prstClr val="black"/>
                </a:solidFill>
                <a:latin typeface="Arial" pitchFamily="34" charset="0"/>
                <a:ea typeface="Helvetica Neue" panose="02000503000000020004" pitchFamily="2" charset="0"/>
                <a:cs typeface="Helvetica Neue" panose="02000503000000020004" pitchFamily="2" charset="0"/>
                <a:sym typeface="Arial" panose="020B0604020202020204" pitchFamily="34" charset="0"/>
              </a:rPr>
              <a:t>Diana and John best at reading the room</a:t>
            </a:r>
          </a:p>
          <a:p>
            <a:pPr marL="171450" indent="-171450" eaLnBrk="0" fontAlgn="base" hangingPunct="0">
              <a:lnSpc>
                <a:spcPct val="100000"/>
              </a:lnSpc>
              <a:spcBef>
                <a:spcPct val="0"/>
              </a:spcBef>
              <a:spcAft>
                <a:spcPct val="0"/>
              </a:spcAft>
              <a:buFont typeface="Arial" panose="020B0706020202030204" pitchFamily="34" charset="0"/>
              <a:buBlip>
                <a:blip r:embed="rId5"/>
              </a:buBlip>
              <a:defRPr/>
            </a:pPr>
            <a:endParaRPr lang="en-US" sz="1000" spc="-10">
              <a:solidFill>
                <a:prstClr val="black"/>
              </a:solidFill>
              <a:latin typeface="Arial" pitchFamily="34" charset="0"/>
              <a:ea typeface="Helvetica Neue" panose="02000503000000020004" pitchFamily="2" charset="0"/>
              <a:cs typeface="Helvetica Neue" panose="02000503000000020004" pitchFamily="2" charset="0"/>
              <a:sym typeface="Arial" panose="020B0604020202020204" pitchFamily="34" charset="0"/>
            </a:endParaRPr>
          </a:p>
          <a:p>
            <a:pPr marL="171450" indent="-171450" eaLnBrk="0" fontAlgn="base" hangingPunct="0">
              <a:lnSpc>
                <a:spcPct val="100000"/>
              </a:lnSpc>
              <a:spcBef>
                <a:spcPct val="0"/>
              </a:spcBef>
              <a:spcAft>
                <a:spcPct val="0"/>
              </a:spcAft>
              <a:buFont typeface="Arial" panose="020B0706020202030204" pitchFamily="34" charset="0"/>
              <a:buBlip>
                <a:blip r:embed="rId5"/>
              </a:buBlip>
              <a:defRPr/>
            </a:pPr>
            <a:r>
              <a:rPr lang="en-US" sz="1000" b="1" spc="-10">
                <a:solidFill>
                  <a:prstClr val="black"/>
                </a:solidFill>
                <a:latin typeface="Segoe UI" pitchFamily="34" charset="0"/>
                <a:ea typeface="Helvetica Neue" panose="02000503000000020004" pitchFamily="2" charset="0"/>
                <a:cs typeface="Helvetica Neue" panose="02000503000000020004" pitchFamily="2" charset="0"/>
                <a:sym typeface="Arial" panose="020B0604020202020204" pitchFamily="34" charset="0"/>
              </a:rPr>
              <a:t>Process discipline concentrated: </a:t>
            </a:r>
          </a:p>
          <a:p>
            <a:pPr marL="628650" lvl="1" indent="-171450" eaLnBrk="0" fontAlgn="base" hangingPunct="0">
              <a:lnSpc>
                <a:spcPct val="100000"/>
              </a:lnSpc>
              <a:spcBef>
                <a:spcPct val="0"/>
              </a:spcBef>
              <a:spcAft>
                <a:spcPct val="0"/>
              </a:spcAft>
              <a:buFont typeface="Arial" panose="020B0706020202030204" pitchFamily="34" charset="0"/>
              <a:buBlip>
                <a:blip r:embed="rId5"/>
              </a:buBlip>
              <a:defRPr/>
            </a:pPr>
            <a:r>
              <a:rPr lang="en-US" sz="1000" spc="-10">
                <a:solidFill>
                  <a:prstClr val="black"/>
                </a:solidFill>
                <a:latin typeface="Arial" pitchFamily="34" charset="0"/>
                <a:ea typeface="Helvetica Neue" panose="02000503000000020004" pitchFamily="2" charset="0"/>
                <a:cs typeface="Helvetica Neue" panose="02000503000000020004" pitchFamily="2" charset="0"/>
                <a:sym typeface="Arial" panose="020B0604020202020204" pitchFamily="34" charset="0"/>
              </a:rPr>
              <a:t>Only John and Ahmed are high on Process.</a:t>
            </a:r>
          </a:p>
          <a:p>
            <a:pPr marL="621030" lvl="1" indent="-151130">
              <a:lnSpc>
                <a:spcPct val="100000"/>
              </a:lnSpc>
              <a:spcBef>
                <a:spcPts val="0"/>
              </a:spcBef>
              <a:buFont typeface="Arial" panose="020B0706020202030204" pitchFamily="34" charset="0"/>
              <a:buBlip>
                <a:blip r:embed="rId5"/>
              </a:buBlip>
              <a:tabLst>
                <a:tab pos="621030" algn="l"/>
              </a:tabLst>
              <a:defRPr/>
            </a:pPr>
            <a:endParaRPr lang="en-US" sz="1000" kern="0" spc="-10" dirty="0">
              <a:solidFill>
                <a:prstClr val="black"/>
              </a:solidFill>
              <a:latin typeface="Arial" pitchFamily="34" charset="0"/>
              <a:cs typeface="Helvetica Neue"/>
              <a:sym typeface="Arial" panose="020B0604020202020204" pitchFamily="34" charset="0"/>
            </a:endParaRPr>
          </a:p>
        </p:txBody>
      </p:sp>
      <p:sp>
        <p:nvSpPr>
          <p:cNvPr id="22" name="TextBox 21">
            <a:extLst>
              <a:ext uri="{FF2B5EF4-FFF2-40B4-BE49-F238E27FC236}">
                <a16:creationId xmlns:a16="http://schemas.microsoft.com/office/drawing/2014/main" id="{B8752992-EDE8-31F7-B35C-54D8DD06A377}"/>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1265083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33073CF-BE58-F277-AE28-62113C73993F}"/>
              </a:ext>
            </a:extLst>
          </p:cNvPr>
          <p:cNvSpPr>
            <a:spLocks noGrp="1"/>
          </p:cNvSpPr>
          <p:nvPr>
            <p:ph type="title"/>
          </p:nvPr>
        </p:nvSpPr>
        <p:spPr/>
        <p:txBody>
          <a:bodyPr/>
          <a:lstStyle/>
          <a:p>
            <a:r>
              <a:rPr lang="en-US" dirty="0"/>
              <a:t>We Facilitate Team Offsite </a:t>
            </a:r>
          </a:p>
        </p:txBody>
      </p:sp>
      <p:sp>
        <p:nvSpPr>
          <p:cNvPr id="6" name="Text Placeholder 5">
            <a:extLst>
              <a:ext uri="{FF2B5EF4-FFF2-40B4-BE49-F238E27FC236}">
                <a16:creationId xmlns:a16="http://schemas.microsoft.com/office/drawing/2014/main" id="{F18C6A93-4121-D2D3-A381-B498F64167AD}"/>
              </a:ext>
            </a:extLst>
          </p:cNvPr>
          <p:cNvSpPr>
            <a:spLocks noGrp="1"/>
          </p:cNvSpPr>
          <p:nvPr>
            <p:ph type="body" sz="quarter" idx="12"/>
          </p:nvPr>
        </p:nvSpPr>
        <p:spPr/>
        <p:txBody>
          <a:bodyPr/>
          <a:lstStyle/>
          <a:p>
            <a:r>
              <a:rPr lang="en-US" dirty="0"/>
              <a:t>What High Performing Teams Do (differently)</a:t>
            </a:r>
          </a:p>
        </p:txBody>
      </p:sp>
      <p:sp>
        <p:nvSpPr>
          <p:cNvPr id="2" name="Slide Number Placeholder 1">
            <a:extLst>
              <a:ext uri="{FF2B5EF4-FFF2-40B4-BE49-F238E27FC236}">
                <a16:creationId xmlns:a16="http://schemas.microsoft.com/office/drawing/2014/main" id="{DDA5F653-1B4F-AB97-C53E-7442C7D60D16}"/>
              </a:ext>
            </a:extLst>
          </p:cNvPr>
          <p:cNvSpPr>
            <a:spLocks noGrp="1"/>
          </p:cNvSpPr>
          <p:nvPr>
            <p:ph type="sldNum" sz="quarter" idx="4"/>
          </p:nvPr>
        </p:nvSpPr>
        <p:spPr/>
        <p:txBody>
          <a:bodyPr/>
          <a:lstStyle/>
          <a:p>
            <a:pPr algn="ctr"/>
            <a:fld id="{1875A764-3B06-454E-8ABA-2F6ED0EB58E9}" type="slidenum">
              <a:rPr lang="en-US" smtClean="0"/>
              <a:t>10</a:t>
            </a:fld>
            <a:endParaRPr lang="en-US"/>
          </a:p>
        </p:txBody>
      </p:sp>
      <p:sp>
        <p:nvSpPr>
          <p:cNvPr id="7" name="Rectangle 6">
            <a:extLst>
              <a:ext uri="{FF2B5EF4-FFF2-40B4-BE49-F238E27FC236}">
                <a16:creationId xmlns:a16="http://schemas.microsoft.com/office/drawing/2014/main" id="{7AB01FC6-791A-393F-62E1-7E3F5D5BEE10}"/>
              </a:ext>
            </a:extLst>
          </p:cNvPr>
          <p:cNvSpPr/>
          <p:nvPr/>
        </p:nvSpPr>
        <p:spPr>
          <a:xfrm>
            <a:off x="9500672" y="1948045"/>
            <a:ext cx="2245394" cy="3454609"/>
          </a:xfrm>
          <a:prstGeom prst="rect">
            <a:avLst/>
          </a:prstGeom>
          <a:solidFill>
            <a:srgbClr val="F2F2F2">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1D1D1D"/>
              </a:solidFill>
              <a:effectLst/>
              <a:uLnTx/>
              <a:uFillTx/>
              <a:latin typeface="Arial" pitchFamily="34" charset="0"/>
              <a:ea typeface="+mn-ea"/>
              <a:cs typeface="+mn-cs"/>
            </a:endParaRPr>
          </a:p>
        </p:txBody>
      </p:sp>
      <p:sp>
        <p:nvSpPr>
          <p:cNvPr id="8" name="Rectangle 7">
            <a:extLst>
              <a:ext uri="{FF2B5EF4-FFF2-40B4-BE49-F238E27FC236}">
                <a16:creationId xmlns:a16="http://schemas.microsoft.com/office/drawing/2014/main" id="{AE112962-6FF3-D9A8-7913-5945C0C20BC2}"/>
              </a:ext>
            </a:extLst>
          </p:cNvPr>
          <p:cNvSpPr/>
          <p:nvPr/>
        </p:nvSpPr>
        <p:spPr>
          <a:xfrm>
            <a:off x="7254220" y="1948045"/>
            <a:ext cx="2251658" cy="3454609"/>
          </a:xfrm>
          <a:prstGeom prst="rect">
            <a:avLst/>
          </a:prstGeom>
          <a:solidFill>
            <a:srgbClr val="60BDBC">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1D1D1D"/>
              </a:solidFill>
              <a:effectLst/>
              <a:uLnTx/>
              <a:uFillTx/>
              <a:latin typeface="Arial" pitchFamily="34" charset="0"/>
              <a:ea typeface="+mn-ea"/>
              <a:cs typeface="+mn-cs"/>
            </a:endParaRPr>
          </a:p>
        </p:txBody>
      </p:sp>
      <p:sp>
        <p:nvSpPr>
          <p:cNvPr id="9" name="Rectangle 8">
            <a:extLst>
              <a:ext uri="{FF2B5EF4-FFF2-40B4-BE49-F238E27FC236}">
                <a16:creationId xmlns:a16="http://schemas.microsoft.com/office/drawing/2014/main" id="{77A79235-4567-8EDC-56A6-EA47EA8D4E9E}"/>
              </a:ext>
            </a:extLst>
          </p:cNvPr>
          <p:cNvSpPr/>
          <p:nvPr/>
        </p:nvSpPr>
        <p:spPr>
          <a:xfrm>
            <a:off x="4955933" y="1948045"/>
            <a:ext cx="2296406" cy="3454609"/>
          </a:xfrm>
          <a:prstGeom prst="rect">
            <a:avLst/>
          </a:prstGeom>
          <a:solidFill>
            <a:srgbClr val="F2F2F2">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1D1D1D"/>
              </a:solidFill>
              <a:effectLst/>
              <a:uLnTx/>
              <a:uFillTx/>
              <a:latin typeface="Arial" pitchFamily="34" charset="0"/>
              <a:ea typeface="+mn-ea"/>
              <a:cs typeface="+mn-cs"/>
            </a:endParaRPr>
          </a:p>
        </p:txBody>
      </p:sp>
      <p:sp>
        <p:nvSpPr>
          <p:cNvPr id="10" name="Rectangle 9">
            <a:extLst>
              <a:ext uri="{FF2B5EF4-FFF2-40B4-BE49-F238E27FC236}">
                <a16:creationId xmlns:a16="http://schemas.microsoft.com/office/drawing/2014/main" id="{B4E33B17-04FA-E93E-31A5-2D6D466898FB}"/>
              </a:ext>
            </a:extLst>
          </p:cNvPr>
          <p:cNvSpPr/>
          <p:nvPr/>
        </p:nvSpPr>
        <p:spPr>
          <a:xfrm>
            <a:off x="2697285" y="1946654"/>
            <a:ext cx="2251658" cy="3454609"/>
          </a:xfrm>
          <a:prstGeom prst="rect">
            <a:avLst/>
          </a:prstGeom>
          <a:solidFill>
            <a:srgbClr val="60BDBC">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1D1D1D"/>
              </a:solidFill>
              <a:effectLst/>
              <a:uLnTx/>
              <a:uFillTx/>
              <a:latin typeface="Arial" pitchFamily="34" charset="0"/>
              <a:ea typeface="+mn-ea"/>
              <a:cs typeface="+mn-cs"/>
            </a:endParaRPr>
          </a:p>
        </p:txBody>
      </p:sp>
      <p:sp>
        <p:nvSpPr>
          <p:cNvPr id="11" name="Rectangle 10">
            <a:extLst>
              <a:ext uri="{FF2B5EF4-FFF2-40B4-BE49-F238E27FC236}">
                <a16:creationId xmlns:a16="http://schemas.microsoft.com/office/drawing/2014/main" id="{B394C146-994C-422B-09A8-53A3CFF12FA3}"/>
              </a:ext>
            </a:extLst>
          </p:cNvPr>
          <p:cNvSpPr/>
          <p:nvPr/>
        </p:nvSpPr>
        <p:spPr>
          <a:xfrm>
            <a:off x="443766" y="1946654"/>
            <a:ext cx="2251658" cy="3454609"/>
          </a:xfrm>
          <a:prstGeom prst="rect">
            <a:avLst/>
          </a:prstGeom>
          <a:solidFill>
            <a:srgbClr val="F2F2F2">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a:ln>
                <a:noFill/>
              </a:ln>
              <a:solidFill>
                <a:srgbClr val="1D1D1D"/>
              </a:solidFill>
              <a:effectLst/>
              <a:uLnTx/>
              <a:uFillTx/>
              <a:latin typeface="Arial" pitchFamily="34" charset="0"/>
              <a:ea typeface="+mn-ea"/>
              <a:cs typeface="+mn-cs"/>
            </a:endParaRPr>
          </a:p>
        </p:txBody>
      </p:sp>
      <p:grpSp>
        <p:nvGrpSpPr>
          <p:cNvPr id="12" name="Group 11">
            <a:extLst>
              <a:ext uri="{FF2B5EF4-FFF2-40B4-BE49-F238E27FC236}">
                <a16:creationId xmlns:a16="http://schemas.microsoft.com/office/drawing/2014/main" id="{15A272EF-2D99-78E2-017A-8276CAEE8E53}"/>
              </a:ext>
            </a:extLst>
          </p:cNvPr>
          <p:cNvGrpSpPr/>
          <p:nvPr/>
        </p:nvGrpSpPr>
        <p:grpSpPr>
          <a:xfrm>
            <a:off x="1226081" y="1587981"/>
            <a:ext cx="687029" cy="687029"/>
            <a:chOff x="1039505" y="1300562"/>
            <a:chExt cx="687029" cy="687029"/>
          </a:xfrm>
        </p:grpSpPr>
        <p:sp>
          <p:nvSpPr>
            <p:cNvPr id="13" name="Oval 12">
              <a:extLst>
                <a:ext uri="{FF2B5EF4-FFF2-40B4-BE49-F238E27FC236}">
                  <a16:creationId xmlns:a16="http://schemas.microsoft.com/office/drawing/2014/main" id="{66AD5D03-17F1-3309-F8A8-B8514C6136B1}"/>
                </a:ext>
              </a:extLst>
            </p:cNvPr>
            <p:cNvSpPr/>
            <p:nvPr/>
          </p:nvSpPr>
          <p:spPr>
            <a:xfrm>
              <a:off x="1039505" y="1300562"/>
              <a:ext cx="687029" cy="687029"/>
            </a:xfrm>
            <a:prstGeom prst="ellipse">
              <a:avLst/>
            </a:prstGeom>
            <a:solidFill>
              <a:schemeClr val="accent1"/>
            </a:solidFill>
            <a:ln w="2540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dirty="0">
                <a:ln>
                  <a:noFill/>
                </a:ln>
                <a:solidFill>
                  <a:srgbClr val="1D1D1D"/>
                </a:solidFill>
                <a:effectLst/>
                <a:uLnTx/>
                <a:uFillTx/>
                <a:latin typeface="Segoe UI" pitchFamily="34" charset="0"/>
                <a:ea typeface="+mn-ea"/>
                <a:cs typeface="+mn-cs"/>
              </a:endParaRPr>
            </a:p>
          </p:txBody>
        </p:sp>
        <p:grpSp>
          <p:nvGrpSpPr>
            <p:cNvPr id="14" name="Group 13">
              <a:extLst>
                <a:ext uri="{FF2B5EF4-FFF2-40B4-BE49-F238E27FC236}">
                  <a16:creationId xmlns:a16="http://schemas.microsoft.com/office/drawing/2014/main" id="{6772C831-A86A-D352-F1D1-105821606200}"/>
                </a:ext>
              </a:extLst>
            </p:cNvPr>
            <p:cNvGrpSpPr>
              <a:grpSpLocks noChangeAspect="1"/>
            </p:cNvGrpSpPr>
            <p:nvPr/>
          </p:nvGrpSpPr>
          <p:grpSpPr>
            <a:xfrm>
              <a:off x="1172232" y="1445948"/>
              <a:ext cx="459710" cy="360000"/>
              <a:chOff x="5476763" y="2949119"/>
              <a:chExt cx="1228009" cy="961661"/>
            </a:xfrm>
          </p:grpSpPr>
          <p:grpSp>
            <p:nvGrpSpPr>
              <p:cNvPr id="15" name="Graphic 8">
                <a:extLst>
                  <a:ext uri="{FF2B5EF4-FFF2-40B4-BE49-F238E27FC236}">
                    <a16:creationId xmlns:a16="http://schemas.microsoft.com/office/drawing/2014/main" id="{2BB567B2-CA40-4F11-39ED-C5DBF0ECFE98}"/>
                  </a:ext>
                </a:extLst>
              </p:cNvPr>
              <p:cNvGrpSpPr/>
              <p:nvPr/>
            </p:nvGrpSpPr>
            <p:grpSpPr>
              <a:xfrm>
                <a:off x="5560470" y="2949119"/>
                <a:ext cx="1063449" cy="526443"/>
                <a:chOff x="5560470" y="2949119"/>
                <a:chExt cx="1063449" cy="526443"/>
              </a:xfrm>
              <a:noFill/>
            </p:grpSpPr>
            <p:grpSp>
              <p:nvGrpSpPr>
                <p:cNvPr id="19" name="Graphic 8">
                  <a:extLst>
                    <a:ext uri="{FF2B5EF4-FFF2-40B4-BE49-F238E27FC236}">
                      <a16:creationId xmlns:a16="http://schemas.microsoft.com/office/drawing/2014/main" id="{0F108534-D2A9-EF9B-EEC7-C35563F88743}"/>
                    </a:ext>
                  </a:extLst>
                </p:cNvPr>
                <p:cNvGrpSpPr/>
                <p:nvPr/>
              </p:nvGrpSpPr>
              <p:grpSpPr>
                <a:xfrm>
                  <a:off x="5855344" y="2949119"/>
                  <a:ext cx="473701" cy="525493"/>
                  <a:chOff x="5855344" y="2949119"/>
                  <a:chExt cx="473701" cy="525493"/>
                </a:xfrm>
                <a:noFill/>
              </p:grpSpPr>
              <p:sp>
                <p:nvSpPr>
                  <p:cNvPr id="31" name="Freeform 30">
                    <a:extLst>
                      <a:ext uri="{FF2B5EF4-FFF2-40B4-BE49-F238E27FC236}">
                        <a16:creationId xmlns:a16="http://schemas.microsoft.com/office/drawing/2014/main" id="{5CAE8645-7795-EEE3-5DAD-55C05375122F}"/>
                      </a:ext>
                    </a:extLst>
                  </p:cNvPr>
                  <p:cNvSpPr/>
                  <p:nvPr/>
                </p:nvSpPr>
                <p:spPr>
                  <a:xfrm>
                    <a:off x="5855344" y="3184783"/>
                    <a:ext cx="148388" cy="289828"/>
                  </a:xfrm>
                  <a:custGeom>
                    <a:avLst/>
                    <a:gdLst>
                      <a:gd name="connsiteX0" fmla="*/ 0 w 148388"/>
                      <a:gd name="connsiteY0" fmla="*/ 289829 h 289828"/>
                      <a:gd name="connsiteX1" fmla="*/ 18073 w 148388"/>
                      <a:gd name="connsiteY1" fmla="*/ 84573 h 289828"/>
                      <a:gd name="connsiteX2" fmla="*/ 148388 w 148388"/>
                      <a:gd name="connsiteY2" fmla="*/ 0 h 289828"/>
                    </a:gdLst>
                    <a:ahLst/>
                    <a:cxnLst>
                      <a:cxn ang="0">
                        <a:pos x="connsiteX0" y="connsiteY0"/>
                      </a:cxn>
                      <a:cxn ang="0">
                        <a:pos x="connsiteX1" y="connsiteY1"/>
                      </a:cxn>
                      <a:cxn ang="0">
                        <a:pos x="connsiteX2" y="connsiteY2"/>
                      </a:cxn>
                    </a:cxnLst>
                    <a:rect l="l" t="t" r="r" b="b"/>
                    <a:pathLst>
                      <a:path w="148388" h="289828">
                        <a:moveTo>
                          <a:pt x="0" y="289829"/>
                        </a:moveTo>
                        <a:cubicBezTo>
                          <a:pt x="0" y="277476"/>
                          <a:pt x="18073" y="84573"/>
                          <a:pt x="18073" y="84573"/>
                        </a:cubicBezTo>
                        <a:lnTo>
                          <a:pt x="148388" y="0"/>
                        </a:lnTo>
                      </a:path>
                    </a:pathLst>
                  </a:custGeom>
                  <a:noFill/>
                  <a:ln w="12700" cap="flat">
                    <a:solidFill>
                      <a:srgbClr val="F2F2F2"/>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32" name="Freeform 31">
                    <a:extLst>
                      <a:ext uri="{FF2B5EF4-FFF2-40B4-BE49-F238E27FC236}">
                        <a16:creationId xmlns:a16="http://schemas.microsoft.com/office/drawing/2014/main" id="{D53C0A37-83A0-49A9-6DFA-0F9F47139F7E}"/>
                      </a:ext>
                    </a:extLst>
                  </p:cNvPr>
                  <p:cNvSpPr/>
                  <p:nvPr/>
                </p:nvSpPr>
                <p:spPr>
                  <a:xfrm>
                    <a:off x="6042732" y="3371984"/>
                    <a:ext cx="31389" cy="102627"/>
                  </a:xfrm>
                  <a:custGeom>
                    <a:avLst/>
                    <a:gdLst>
                      <a:gd name="connsiteX0" fmla="*/ 31390 w 31389"/>
                      <a:gd name="connsiteY0" fmla="*/ 0 h 102627"/>
                      <a:gd name="connsiteX1" fmla="*/ 0 w 31389"/>
                      <a:gd name="connsiteY1" fmla="*/ 102628 h 102627"/>
                    </a:gdLst>
                    <a:ahLst/>
                    <a:cxnLst>
                      <a:cxn ang="0">
                        <a:pos x="connsiteX0" y="connsiteY0"/>
                      </a:cxn>
                      <a:cxn ang="0">
                        <a:pos x="connsiteX1" y="connsiteY1"/>
                      </a:cxn>
                    </a:cxnLst>
                    <a:rect l="l" t="t" r="r" b="b"/>
                    <a:pathLst>
                      <a:path w="31389" h="102627">
                        <a:moveTo>
                          <a:pt x="31390" y="0"/>
                        </a:moveTo>
                        <a:lnTo>
                          <a:pt x="0" y="102628"/>
                        </a:lnTo>
                      </a:path>
                    </a:pathLst>
                  </a:custGeom>
                  <a:ln w="12700" cap="rnd">
                    <a:solidFill>
                      <a:srgbClr val="F2F2F2"/>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33" name="Freeform 32">
                    <a:extLst>
                      <a:ext uri="{FF2B5EF4-FFF2-40B4-BE49-F238E27FC236}">
                        <a16:creationId xmlns:a16="http://schemas.microsoft.com/office/drawing/2014/main" id="{B540EBF1-3CEA-CC4D-D06E-2958137F3599}"/>
                      </a:ext>
                    </a:extLst>
                  </p:cNvPr>
                  <p:cNvSpPr/>
                  <p:nvPr/>
                </p:nvSpPr>
                <p:spPr>
                  <a:xfrm>
                    <a:off x="6180657" y="3184783"/>
                    <a:ext cx="148388" cy="289828"/>
                  </a:xfrm>
                  <a:custGeom>
                    <a:avLst/>
                    <a:gdLst>
                      <a:gd name="connsiteX0" fmla="*/ 148388 w 148388"/>
                      <a:gd name="connsiteY0" fmla="*/ 289829 h 289828"/>
                      <a:gd name="connsiteX1" fmla="*/ 130316 w 148388"/>
                      <a:gd name="connsiteY1" fmla="*/ 84573 h 289828"/>
                      <a:gd name="connsiteX2" fmla="*/ 0 w 148388"/>
                      <a:gd name="connsiteY2" fmla="*/ 0 h 289828"/>
                    </a:gdLst>
                    <a:ahLst/>
                    <a:cxnLst>
                      <a:cxn ang="0">
                        <a:pos x="connsiteX0" y="connsiteY0"/>
                      </a:cxn>
                      <a:cxn ang="0">
                        <a:pos x="connsiteX1" y="connsiteY1"/>
                      </a:cxn>
                      <a:cxn ang="0">
                        <a:pos x="connsiteX2" y="connsiteY2"/>
                      </a:cxn>
                    </a:cxnLst>
                    <a:rect l="l" t="t" r="r" b="b"/>
                    <a:pathLst>
                      <a:path w="148388" h="289828">
                        <a:moveTo>
                          <a:pt x="148388" y="289829"/>
                        </a:moveTo>
                        <a:cubicBezTo>
                          <a:pt x="148388" y="277476"/>
                          <a:pt x="130316" y="84573"/>
                          <a:pt x="130316" y="84573"/>
                        </a:cubicBezTo>
                        <a:lnTo>
                          <a:pt x="0" y="0"/>
                        </a:lnTo>
                      </a:path>
                    </a:pathLst>
                  </a:custGeom>
                  <a:noFill/>
                  <a:ln w="12700" cap="flat">
                    <a:solidFill>
                      <a:srgbClr val="F2F2F2"/>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34" name="Freeform 33">
                    <a:extLst>
                      <a:ext uri="{FF2B5EF4-FFF2-40B4-BE49-F238E27FC236}">
                        <a16:creationId xmlns:a16="http://schemas.microsoft.com/office/drawing/2014/main" id="{35AB962E-581E-E55A-8DC9-072F9002D617}"/>
                      </a:ext>
                    </a:extLst>
                  </p:cNvPr>
                  <p:cNvSpPr/>
                  <p:nvPr/>
                </p:nvSpPr>
                <p:spPr>
                  <a:xfrm>
                    <a:off x="6002781" y="3184783"/>
                    <a:ext cx="178826" cy="187200"/>
                  </a:xfrm>
                  <a:custGeom>
                    <a:avLst/>
                    <a:gdLst>
                      <a:gd name="connsiteX0" fmla="*/ 178827 w 178826"/>
                      <a:gd name="connsiteY0" fmla="*/ 0 h 187200"/>
                      <a:gd name="connsiteX1" fmla="*/ 38999 w 178826"/>
                      <a:gd name="connsiteY1" fmla="*/ 128285 h 187200"/>
                      <a:gd name="connsiteX2" fmla="*/ 71341 w 178826"/>
                      <a:gd name="connsiteY2" fmla="*/ 187201 h 187200"/>
                      <a:gd name="connsiteX3" fmla="*/ 89413 w 178826"/>
                      <a:gd name="connsiteY3" fmla="*/ 187201 h 187200"/>
                      <a:gd name="connsiteX4" fmla="*/ 107486 w 178826"/>
                      <a:gd name="connsiteY4" fmla="*/ 187201 h 187200"/>
                      <a:gd name="connsiteX5" fmla="*/ 139827 w 178826"/>
                      <a:gd name="connsiteY5" fmla="*/ 128285 h 187200"/>
                      <a:gd name="connsiteX6" fmla="*/ 0 w 178826"/>
                      <a:gd name="connsiteY6" fmla="*/ 0 h 18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8826" h="187200">
                        <a:moveTo>
                          <a:pt x="178827" y="0"/>
                        </a:moveTo>
                        <a:lnTo>
                          <a:pt x="38999" y="128285"/>
                        </a:lnTo>
                        <a:lnTo>
                          <a:pt x="71341" y="187201"/>
                        </a:lnTo>
                        <a:lnTo>
                          <a:pt x="89413" y="187201"/>
                        </a:lnTo>
                        <a:lnTo>
                          <a:pt x="107486" y="187201"/>
                        </a:lnTo>
                        <a:lnTo>
                          <a:pt x="139827" y="128285"/>
                        </a:lnTo>
                        <a:lnTo>
                          <a:pt x="0" y="0"/>
                        </a:lnTo>
                      </a:path>
                    </a:pathLst>
                  </a:custGeom>
                  <a:noFill/>
                  <a:ln w="12700" cap="rnd">
                    <a:solidFill>
                      <a:srgbClr val="F2F2F2"/>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35" name="Freeform 34">
                    <a:extLst>
                      <a:ext uri="{FF2B5EF4-FFF2-40B4-BE49-F238E27FC236}">
                        <a16:creationId xmlns:a16="http://schemas.microsoft.com/office/drawing/2014/main" id="{07BFDA21-9505-C255-48C9-B90F81BFC269}"/>
                      </a:ext>
                    </a:extLst>
                  </p:cNvPr>
                  <p:cNvSpPr/>
                  <p:nvPr/>
                </p:nvSpPr>
                <p:spPr>
                  <a:xfrm>
                    <a:off x="6110268" y="3371984"/>
                    <a:ext cx="31389" cy="102627"/>
                  </a:xfrm>
                  <a:custGeom>
                    <a:avLst/>
                    <a:gdLst>
                      <a:gd name="connsiteX0" fmla="*/ 0 w 31389"/>
                      <a:gd name="connsiteY0" fmla="*/ 0 h 102627"/>
                      <a:gd name="connsiteX1" fmla="*/ 31390 w 31389"/>
                      <a:gd name="connsiteY1" fmla="*/ 102628 h 102627"/>
                    </a:gdLst>
                    <a:ahLst/>
                    <a:cxnLst>
                      <a:cxn ang="0">
                        <a:pos x="connsiteX0" y="connsiteY0"/>
                      </a:cxn>
                      <a:cxn ang="0">
                        <a:pos x="connsiteX1" y="connsiteY1"/>
                      </a:cxn>
                    </a:cxnLst>
                    <a:rect l="l" t="t" r="r" b="b"/>
                    <a:pathLst>
                      <a:path w="31389" h="102627">
                        <a:moveTo>
                          <a:pt x="0" y="0"/>
                        </a:moveTo>
                        <a:lnTo>
                          <a:pt x="31390" y="102628"/>
                        </a:lnTo>
                      </a:path>
                    </a:pathLst>
                  </a:custGeom>
                  <a:ln w="12700" cap="rnd">
                    <a:solidFill>
                      <a:srgbClr val="F2F2F2"/>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36" name="Freeform 35">
                    <a:extLst>
                      <a:ext uri="{FF2B5EF4-FFF2-40B4-BE49-F238E27FC236}">
                        <a16:creationId xmlns:a16="http://schemas.microsoft.com/office/drawing/2014/main" id="{C4BB84D0-075C-73C7-F85B-29F67D80D1A4}"/>
                      </a:ext>
                    </a:extLst>
                  </p:cNvPr>
                  <p:cNvSpPr/>
                  <p:nvPr/>
                </p:nvSpPr>
                <p:spPr>
                  <a:xfrm>
                    <a:off x="6181608" y="3398591"/>
                    <a:ext cx="69438" cy="9502"/>
                  </a:xfrm>
                  <a:custGeom>
                    <a:avLst/>
                    <a:gdLst>
                      <a:gd name="connsiteX0" fmla="*/ 0 w 69438"/>
                      <a:gd name="connsiteY0" fmla="*/ 0 h 9502"/>
                      <a:gd name="connsiteX1" fmla="*/ 69438 w 69438"/>
                      <a:gd name="connsiteY1" fmla="*/ 0 h 9502"/>
                    </a:gdLst>
                    <a:ahLst/>
                    <a:cxnLst>
                      <a:cxn ang="0">
                        <a:pos x="connsiteX0" y="connsiteY0"/>
                      </a:cxn>
                      <a:cxn ang="0">
                        <a:pos x="connsiteX1" y="connsiteY1"/>
                      </a:cxn>
                    </a:cxnLst>
                    <a:rect l="l" t="t" r="r" b="b"/>
                    <a:pathLst>
                      <a:path w="69438" h="9502">
                        <a:moveTo>
                          <a:pt x="0" y="0"/>
                        </a:moveTo>
                        <a:lnTo>
                          <a:pt x="69438" y="0"/>
                        </a:lnTo>
                      </a:path>
                    </a:pathLst>
                  </a:custGeom>
                  <a:ln w="12700" cap="rnd">
                    <a:solidFill>
                      <a:srgbClr val="F2F2F2"/>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37" name="Freeform 36">
                    <a:extLst>
                      <a:ext uri="{FF2B5EF4-FFF2-40B4-BE49-F238E27FC236}">
                        <a16:creationId xmlns:a16="http://schemas.microsoft.com/office/drawing/2014/main" id="{EAF6EA4F-286B-121A-F816-ACB11D06D90B}"/>
                      </a:ext>
                    </a:extLst>
                  </p:cNvPr>
                  <p:cNvSpPr/>
                  <p:nvPr/>
                </p:nvSpPr>
                <p:spPr>
                  <a:xfrm>
                    <a:off x="6008488" y="2949119"/>
                    <a:ext cx="167412" cy="205255"/>
                  </a:xfrm>
                  <a:custGeom>
                    <a:avLst/>
                    <a:gdLst>
                      <a:gd name="connsiteX0" fmla="*/ 167412 w 167412"/>
                      <a:gd name="connsiteY0" fmla="*/ 102628 h 205255"/>
                      <a:gd name="connsiteX1" fmla="*/ 83706 w 167412"/>
                      <a:gd name="connsiteY1" fmla="*/ 205256 h 205255"/>
                      <a:gd name="connsiteX2" fmla="*/ 0 w 167412"/>
                      <a:gd name="connsiteY2" fmla="*/ 102628 h 205255"/>
                      <a:gd name="connsiteX3" fmla="*/ 83706 w 167412"/>
                      <a:gd name="connsiteY3" fmla="*/ 0 h 205255"/>
                      <a:gd name="connsiteX4" fmla="*/ 167412 w 167412"/>
                      <a:gd name="connsiteY4" fmla="*/ 102628 h 2052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412" h="205255">
                        <a:moveTo>
                          <a:pt x="167412" y="102628"/>
                        </a:moveTo>
                        <a:cubicBezTo>
                          <a:pt x="167412" y="159308"/>
                          <a:pt x="129936" y="205256"/>
                          <a:pt x="83706" y="205256"/>
                        </a:cubicBezTo>
                        <a:cubicBezTo>
                          <a:pt x="37477" y="205256"/>
                          <a:pt x="0" y="159308"/>
                          <a:pt x="0" y="102628"/>
                        </a:cubicBezTo>
                        <a:cubicBezTo>
                          <a:pt x="0" y="45948"/>
                          <a:pt x="37477" y="0"/>
                          <a:pt x="83706" y="0"/>
                        </a:cubicBezTo>
                        <a:cubicBezTo>
                          <a:pt x="129936" y="0"/>
                          <a:pt x="167412" y="45948"/>
                          <a:pt x="167412" y="102628"/>
                        </a:cubicBezTo>
                        <a:close/>
                      </a:path>
                    </a:pathLst>
                  </a:custGeom>
                  <a:noFill/>
                  <a:ln w="12700" cap="rnd">
                    <a:solidFill>
                      <a:srgbClr val="F2F2F2"/>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grpSp>
            <p:grpSp>
              <p:nvGrpSpPr>
                <p:cNvPr id="20" name="Graphic 8">
                  <a:extLst>
                    <a:ext uri="{FF2B5EF4-FFF2-40B4-BE49-F238E27FC236}">
                      <a16:creationId xmlns:a16="http://schemas.microsoft.com/office/drawing/2014/main" id="{77541723-6C89-FC20-0361-136F56E62CD2}"/>
                    </a:ext>
                  </a:extLst>
                </p:cNvPr>
                <p:cNvGrpSpPr/>
                <p:nvPr/>
              </p:nvGrpSpPr>
              <p:grpSpPr>
                <a:xfrm>
                  <a:off x="6309070" y="3036543"/>
                  <a:ext cx="314849" cy="439019"/>
                  <a:chOff x="6309070" y="3036543"/>
                  <a:chExt cx="314849" cy="439019"/>
                </a:xfrm>
                <a:noFill/>
              </p:grpSpPr>
              <p:sp>
                <p:nvSpPr>
                  <p:cNvPr id="26" name="Freeform 25">
                    <a:extLst>
                      <a:ext uri="{FF2B5EF4-FFF2-40B4-BE49-F238E27FC236}">
                        <a16:creationId xmlns:a16="http://schemas.microsoft.com/office/drawing/2014/main" id="{C8FD0534-2892-F4D2-28E9-07A727473117}"/>
                      </a:ext>
                    </a:extLst>
                  </p:cNvPr>
                  <p:cNvSpPr/>
                  <p:nvPr/>
                </p:nvSpPr>
                <p:spPr>
                  <a:xfrm>
                    <a:off x="6309070" y="3235147"/>
                    <a:ext cx="87511" cy="36109"/>
                  </a:xfrm>
                  <a:custGeom>
                    <a:avLst/>
                    <a:gdLst>
                      <a:gd name="connsiteX0" fmla="*/ 0 w 87511"/>
                      <a:gd name="connsiteY0" fmla="*/ 36110 h 36109"/>
                      <a:gd name="connsiteX1" fmla="*/ 87511 w 87511"/>
                      <a:gd name="connsiteY1" fmla="*/ 0 h 36109"/>
                    </a:gdLst>
                    <a:ahLst/>
                    <a:cxnLst>
                      <a:cxn ang="0">
                        <a:pos x="connsiteX0" y="connsiteY0"/>
                      </a:cxn>
                      <a:cxn ang="0">
                        <a:pos x="connsiteX1" y="connsiteY1"/>
                      </a:cxn>
                    </a:cxnLst>
                    <a:rect l="l" t="t" r="r" b="b"/>
                    <a:pathLst>
                      <a:path w="87511" h="36109">
                        <a:moveTo>
                          <a:pt x="0" y="36110"/>
                        </a:moveTo>
                        <a:lnTo>
                          <a:pt x="87511" y="0"/>
                        </a:lnTo>
                      </a:path>
                    </a:pathLst>
                  </a:custGeom>
                  <a:ln w="12700" cap="flat">
                    <a:solidFill>
                      <a:srgbClr val="F2F2F2"/>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27" name="Freeform 26">
                    <a:extLst>
                      <a:ext uri="{FF2B5EF4-FFF2-40B4-BE49-F238E27FC236}">
                        <a16:creationId xmlns:a16="http://schemas.microsoft.com/office/drawing/2014/main" id="{E25D9ED0-8782-BC19-925E-A05D672DC232}"/>
                      </a:ext>
                    </a:extLst>
                  </p:cNvPr>
                  <p:cNvSpPr/>
                  <p:nvPr/>
                </p:nvSpPr>
                <p:spPr>
                  <a:xfrm>
                    <a:off x="6396581" y="3235147"/>
                    <a:ext cx="59926" cy="41811"/>
                  </a:xfrm>
                  <a:custGeom>
                    <a:avLst/>
                    <a:gdLst>
                      <a:gd name="connsiteX0" fmla="*/ 59926 w 59926"/>
                      <a:gd name="connsiteY0" fmla="*/ 41811 h 41811"/>
                      <a:gd name="connsiteX1" fmla="*/ 0 w 59926"/>
                      <a:gd name="connsiteY1" fmla="*/ 0 h 41811"/>
                    </a:gdLst>
                    <a:ahLst/>
                    <a:cxnLst>
                      <a:cxn ang="0">
                        <a:pos x="connsiteX0" y="connsiteY0"/>
                      </a:cxn>
                      <a:cxn ang="0">
                        <a:pos x="connsiteX1" y="connsiteY1"/>
                      </a:cxn>
                    </a:cxnLst>
                    <a:rect l="l" t="t" r="r" b="b"/>
                    <a:pathLst>
                      <a:path w="59926" h="41811">
                        <a:moveTo>
                          <a:pt x="59926" y="41811"/>
                        </a:moveTo>
                        <a:lnTo>
                          <a:pt x="0" y="0"/>
                        </a:lnTo>
                      </a:path>
                    </a:pathLst>
                  </a:custGeom>
                  <a:ln w="12700" cap="rnd">
                    <a:solidFill>
                      <a:srgbClr val="F2F2F2"/>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28" name="Freeform 27">
                    <a:extLst>
                      <a:ext uri="{FF2B5EF4-FFF2-40B4-BE49-F238E27FC236}">
                        <a16:creationId xmlns:a16="http://schemas.microsoft.com/office/drawing/2014/main" id="{CA8C32D4-1CD2-0357-E9FC-BC5E660516B3}"/>
                      </a:ext>
                    </a:extLst>
                  </p:cNvPr>
                  <p:cNvSpPr/>
                  <p:nvPr/>
                </p:nvSpPr>
                <p:spPr>
                  <a:xfrm>
                    <a:off x="6515482" y="3235147"/>
                    <a:ext cx="108437" cy="240415"/>
                  </a:xfrm>
                  <a:custGeom>
                    <a:avLst/>
                    <a:gdLst>
                      <a:gd name="connsiteX0" fmla="*/ 108438 w 108437"/>
                      <a:gd name="connsiteY0" fmla="*/ 240415 h 240415"/>
                      <a:gd name="connsiteX1" fmla="*/ 87511 w 108437"/>
                      <a:gd name="connsiteY1" fmla="*/ 37060 h 240415"/>
                      <a:gd name="connsiteX2" fmla="*/ 0 w 108437"/>
                      <a:gd name="connsiteY2" fmla="*/ 0 h 240415"/>
                    </a:gdLst>
                    <a:ahLst/>
                    <a:cxnLst>
                      <a:cxn ang="0">
                        <a:pos x="connsiteX0" y="connsiteY0"/>
                      </a:cxn>
                      <a:cxn ang="0">
                        <a:pos x="connsiteX1" y="connsiteY1"/>
                      </a:cxn>
                      <a:cxn ang="0">
                        <a:pos x="connsiteX2" y="connsiteY2"/>
                      </a:cxn>
                    </a:cxnLst>
                    <a:rect l="l" t="t" r="r" b="b"/>
                    <a:pathLst>
                      <a:path w="108437" h="240415">
                        <a:moveTo>
                          <a:pt x="108438" y="240415"/>
                        </a:moveTo>
                        <a:cubicBezTo>
                          <a:pt x="108438" y="231863"/>
                          <a:pt x="87511" y="37060"/>
                          <a:pt x="87511" y="37060"/>
                        </a:cubicBezTo>
                        <a:lnTo>
                          <a:pt x="0" y="0"/>
                        </a:lnTo>
                      </a:path>
                    </a:pathLst>
                  </a:custGeom>
                  <a:noFill/>
                  <a:ln w="12700" cap="flat">
                    <a:solidFill>
                      <a:srgbClr val="F2F2F2"/>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29" name="Freeform 28">
                    <a:extLst>
                      <a:ext uri="{FF2B5EF4-FFF2-40B4-BE49-F238E27FC236}">
                        <a16:creationId xmlns:a16="http://schemas.microsoft.com/office/drawing/2014/main" id="{86A3BF79-D22F-13E9-8D47-283603607CDC}"/>
                      </a:ext>
                    </a:extLst>
                  </p:cNvPr>
                  <p:cNvSpPr/>
                  <p:nvPr/>
                </p:nvSpPr>
                <p:spPr>
                  <a:xfrm>
                    <a:off x="6456507" y="3235147"/>
                    <a:ext cx="59926" cy="163444"/>
                  </a:xfrm>
                  <a:custGeom>
                    <a:avLst/>
                    <a:gdLst>
                      <a:gd name="connsiteX0" fmla="*/ 59926 w 59926"/>
                      <a:gd name="connsiteY0" fmla="*/ 0 h 163444"/>
                      <a:gd name="connsiteX1" fmla="*/ 0 w 59926"/>
                      <a:gd name="connsiteY1" fmla="*/ 41811 h 163444"/>
                      <a:gd name="connsiteX2" fmla="*/ 0 w 59926"/>
                      <a:gd name="connsiteY2" fmla="*/ 163444 h 163444"/>
                    </a:gdLst>
                    <a:ahLst/>
                    <a:cxnLst>
                      <a:cxn ang="0">
                        <a:pos x="connsiteX0" y="connsiteY0"/>
                      </a:cxn>
                      <a:cxn ang="0">
                        <a:pos x="connsiteX1" y="connsiteY1"/>
                      </a:cxn>
                      <a:cxn ang="0">
                        <a:pos x="connsiteX2" y="connsiteY2"/>
                      </a:cxn>
                    </a:cxnLst>
                    <a:rect l="l" t="t" r="r" b="b"/>
                    <a:pathLst>
                      <a:path w="59926" h="163444">
                        <a:moveTo>
                          <a:pt x="59926" y="0"/>
                        </a:moveTo>
                        <a:lnTo>
                          <a:pt x="0" y="41811"/>
                        </a:lnTo>
                        <a:lnTo>
                          <a:pt x="0" y="163444"/>
                        </a:lnTo>
                      </a:path>
                    </a:pathLst>
                  </a:custGeom>
                  <a:noFill/>
                  <a:ln w="12700" cap="rnd">
                    <a:solidFill>
                      <a:srgbClr val="F2F2F2"/>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30" name="Freeform 29">
                    <a:extLst>
                      <a:ext uri="{FF2B5EF4-FFF2-40B4-BE49-F238E27FC236}">
                        <a16:creationId xmlns:a16="http://schemas.microsoft.com/office/drawing/2014/main" id="{62DAFDC7-5E2E-F231-5C9E-F1D649372BD5}"/>
                      </a:ext>
                    </a:extLst>
                  </p:cNvPr>
                  <p:cNvSpPr/>
                  <p:nvPr/>
                </p:nvSpPr>
                <p:spPr>
                  <a:xfrm>
                    <a:off x="6392776" y="3036543"/>
                    <a:ext cx="127461" cy="155842"/>
                  </a:xfrm>
                  <a:custGeom>
                    <a:avLst/>
                    <a:gdLst>
                      <a:gd name="connsiteX0" fmla="*/ 127462 w 127461"/>
                      <a:gd name="connsiteY0" fmla="*/ 77921 h 155842"/>
                      <a:gd name="connsiteX1" fmla="*/ 63731 w 127461"/>
                      <a:gd name="connsiteY1" fmla="*/ 155842 h 155842"/>
                      <a:gd name="connsiteX2" fmla="*/ 0 w 127461"/>
                      <a:gd name="connsiteY2" fmla="*/ 77921 h 155842"/>
                      <a:gd name="connsiteX3" fmla="*/ 63731 w 127461"/>
                      <a:gd name="connsiteY3" fmla="*/ 0 h 155842"/>
                      <a:gd name="connsiteX4" fmla="*/ 127462 w 127461"/>
                      <a:gd name="connsiteY4" fmla="*/ 77921 h 155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461" h="155842">
                        <a:moveTo>
                          <a:pt x="127462" y="77921"/>
                        </a:moveTo>
                        <a:cubicBezTo>
                          <a:pt x="127462" y="120956"/>
                          <a:pt x="98929" y="155842"/>
                          <a:pt x="63731" y="155842"/>
                        </a:cubicBezTo>
                        <a:cubicBezTo>
                          <a:pt x="28533" y="155842"/>
                          <a:pt x="0" y="120956"/>
                          <a:pt x="0" y="77921"/>
                        </a:cubicBezTo>
                        <a:cubicBezTo>
                          <a:pt x="0" y="34886"/>
                          <a:pt x="28533" y="0"/>
                          <a:pt x="63731" y="0"/>
                        </a:cubicBezTo>
                        <a:cubicBezTo>
                          <a:pt x="98929" y="0"/>
                          <a:pt x="127462" y="34886"/>
                          <a:pt x="127462" y="77921"/>
                        </a:cubicBezTo>
                        <a:close/>
                      </a:path>
                    </a:pathLst>
                  </a:custGeom>
                  <a:noFill/>
                  <a:ln w="12700" cap="rnd">
                    <a:solidFill>
                      <a:srgbClr val="F2F2F2"/>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grpSp>
            <p:sp>
              <p:nvSpPr>
                <p:cNvPr id="21" name="Freeform 20">
                  <a:extLst>
                    <a:ext uri="{FF2B5EF4-FFF2-40B4-BE49-F238E27FC236}">
                      <a16:creationId xmlns:a16="http://schemas.microsoft.com/office/drawing/2014/main" id="{7C8AF11D-5A13-BA83-C680-839FDD30AE02}"/>
                    </a:ext>
                  </a:extLst>
                </p:cNvPr>
                <p:cNvSpPr/>
                <p:nvPr/>
              </p:nvSpPr>
              <p:spPr>
                <a:xfrm>
                  <a:off x="5787808" y="3235147"/>
                  <a:ext cx="87511" cy="36109"/>
                </a:xfrm>
                <a:custGeom>
                  <a:avLst/>
                  <a:gdLst>
                    <a:gd name="connsiteX0" fmla="*/ 87511 w 87511"/>
                    <a:gd name="connsiteY0" fmla="*/ 36110 h 36109"/>
                    <a:gd name="connsiteX1" fmla="*/ 0 w 87511"/>
                    <a:gd name="connsiteY1" fmla="*/ 0 h 36109"/>
                  </a:gdLst>
                  <a:ahLst/>
                  <a:cxnLst>
                    <a:cxn ang="0">
                      <a:pos x="connsiteX0" y="connsiteY0"/>
                    </a:cxn>
                    <a:cxn ang="0">
                      <a:pos x="connsiteX1" y="connsiteY1"/>
                    </a:cxn>
                  </a:cxnLst>
                  <a:rect l="l" t="t" r="r" b="b"/>
                  <a:pathLst>
                    <a:path w="87511" h="36109">
                      <a:moveTo>
                        <a:pt x="87511" y="36110"/>
                      </a:moveTo>
                      <a:lnTo>
                        <a:pt x="0" y="0"/>
                      </a:lnTo>
                    </a:path>
                  </a:pathLst>
                </a:custGeom>
                <a:ln w="12700" cap="flat">
                  <a:solidFill>
                    <a:srgbClr val="F2F2F2"/>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22" name="Freeform 21">
                  <a:extLst>
                    <a:ext uri="{FF2B5EF4-FFF2-40B4-BE49-F238E27FC236}">
                      <a16:creationId xmlns:a16="http://schemas.microsoft.com/office/drawing/2014/main" id="{EAE2FCBF-09F4-2604-9E35-DAD93AE7372E}"/>
                    </a:ext>
                  </a:extLst>
                </p:cNvPr>
                <p:cNvSpPr/>
                <p:nvPr/>
              </p:nvSpPr>
              <p:spPr>
                <a:xfrm>
                  <a:off x="5727882" y="3235147"/>
                  <a:ext cx="59926" cy="41811"/>
                </a:xfrm>
                <a:custGeom>
                  <a:avLst/>
                  <a:gdLst>
                    <a:gd name="connsiteX0" fmla="*/ 0 w 59926"/>
                    <a:gd name="connsiteY0" fmla="*/ 41811 h 41811"/>
                    <a:gd name="connsiteX1" fmla="*/ 59926 w 59926"/>
                    <a:gd name="connsiteY1" fmla="*/ 0 h 41811"/>
                  </a:gdLst>
                  <a:ahLst/>
                  <a:cxnLst>
                    <a:cxn ang="0">
                      <a:pos x="connsiteX0" y="connsiteY0"/>
                    </a:cxn>
                    <a:cxn ang="0">
                      <a:pos x="connsiteX1" y="connsiteY1"/>
                    </a:cxn>
                  </a:cxnLst>
                  <a:rect l="l" t="t" r="r" b="b"/>
                  <a:pathLst>
                    <a:path w="59926" h="41811">
                      <a:moveTo>
                        <a:pt x="0" y="41811"/>
                      </a:moveTo>
                      <a:lnTo>
                        <a:pt x="59926" y="0"/>
                      </a:lnTo>
                    </a:path>
                  </a:pathLst>
                </a:custGeom>
                <a:ln w="12700" cap="rnd">
                  <a:solidFill>
                    <a:srgbClr val="F2F2F2"/>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23" name="Freeform 22">
                  <a:extLst>
                    <a:ext uri="{FF2B5EF4-FFF2-40B4-BE49-F238E27FC236}">
                      <a16:creationId xmlns:a16="http://schemas.microsoft.com/office/drawing/2014/main" id="{F9F52A42-1915-322C-5A9D-263B5C79BFA0}"/>
                    </a:ext>
                  </a:extLst>
                </p:cNvPr>
                <p:cNvSpPr/>
                <p:nvPr/>
              </p:nvSpPr>
              <p:spPr>
                <a:xfrm>
                  <a:off x="5560470" y="3235147"/>
                  <a:ext cx="108437" cy="240415"/>
                </a:xfrm>
                <a:custGeom>
                  <a:avLst/>
                  <a:gdLst>
                    <a:gd name="connsiteX0" fmla="*/ 0 w 108437"/>
                    <a:gd name="connsiteY0" fmla="*/ 240415 h 240415"/>
                    <a:gd name="connsiteX1" fmla="*/ 20926 w 108437"/>
                    <a:gd name="connsiteY1" fmla="*/ 37060 h 240415"/>
                    <a:gd name="connsiteX2" fmla="*/ 108438 w 108437"/>
                    <a:gd name="connsiteY2" fmla="*/ 0 h 240415"/>
                  </a:gdLst>
                  <a:ahLst/>
                  <a:cxnLst>
                    <a:cxn ang="0">
                      <a:pos x="connsiteX0" y="connsiteY0"/>
                    </a:cxn>
                    <a:cxn ang="0">
                      <a:pos x="connsiteX1" y="connsiteY1"/>
                    </a:cxn>
                    <a:cxn ang="0">
                      <a:pos x="connsiteX2" y="connsiteY2"/>
                    </a:cxn>
                  </a:cxnLst>
                  <a:rect l="l" t="t" r="r" b="b"/>
                  <a:pathLst>
                    <a:path w="108437" h="240415">
                      <a:moveTo>
                        <a:pt x="0" y="240415"/>
                      </a:moveTo>
                      <a:cubicBezTo>
                        <a:pt x="0" y="231863"/>
                        <a:pt x="20926" y="37060"/>
                        <a:pt x="20926" y="37060"/>
                      </a:cubicBezTo>
                      <a:lnTo>
                        <a:pt x="108438" y="0"/>
                      </a:lnTo>
                    </a:path>
                  </a:pathLst>
                </a:custGeom>
                <a:noFill/>
                <a:ln w="12700" cap="flat">
                  <a:solidFill>
                    <a:srgbClr val="F2F2F2"/>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24" name="Freeform 23">
                  <a:extLst>
                    <a:ext uri="{FF2B5EF4-FFF2-40B4-BE49-F238E27FC236}">
                      <a16:creationId xmlns:a16="http://schemas.microsoft.com/office/drawing/2014/main" id="{682267FF-D8B0-E9F6-B1BA-DCA8E1E279ED}"/>
                    </a:ext>
                  </a:extLst>
                </p:cNvPr>
                <p:cNvSpPr/>
                <p:nvPr/>
              </p:nvSpPr>
              <p:spPr>
                <a:xfrm>
                  <a:off x="5667956" y="3235147"/>
                  <a:ext cx="59925" cy="163444"/>
                </a:xfrm>
                <a:custGeom>
                  <a:avLst/>
                  <a:gdLst>
                    <a:gd name="connsiteX0" fmla="*/ 0 w 59925"/>
                    <a:gd name="connsiteY0" fmla="*/ 0 h 163444"/>
                    <a:gd name="connsiteX1" fmla="*/ 59926 w 59925"/>
                    <a:gd name="connsiteY1" fmla="*/ 41811 h 163444"/>
                    <a:gd name="connsiteX2" fmla="*/ 59926 w 59925"/>
                    <a:gd name="connsiteY2" fmla="*/ 163444 h 163444"/>
                  </a:gdLst>
                  <a:ahLst/>
                  <a:cxnLst>
                    <a:cxn ang="0">
                      <a:pos x="connsiteX0" y="connsiteY0"/>
                    </a:cxn>
                    <a:cxn ang="0">
                      <a:pos x="connsiteX1" y="connsiteY1"/>
                    </a:cxn>
                    <a:cxn ang="0">
                      <a:pos x="connsiteX2" y="connsiteY2"/>
                    </a:cxn>
                  </a:cxnLst>
                  <a:rect l="l" t="t" r="r" b="b"/>
                  <a:pathLst>
                    <a:path w="59925" h="163444">
                      <a:moveTo>
                        <a:pt x="0" y="0"/>
                      </a:moveTo>
                      <a:lnTo>
                        <a:pt x="59926" y="41811"/>
                      </a:lnTo>
                      <a:lnTo>
                        <a:pt x="59926" y="163444"/>
                      </a:lnTo>
                    </a:path>
                  </a:pathLst>
                </a:custGeom>
                <a:noFill/>
                <a:ln w="12700" cap="rnd">
                  <a:solidFill>
                    <a:srgbClr val="F2F2F2"/>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25" name="Freeform 24">
                  <a:extLst>
                    <a:ext uri="{FF2B5EF4-FFF2-40B4-BE49-F238E27FC236}">
                      <a16:creationId xmlns:a16="http://schemas.microsoft.com/office/drawing/2014/main" id="{B9C72586-D8EC-2226-4AB7-053EF4B3EB0F}"/>
                    </a:ext>
                  </a:extLst>
                </p:cNvPr>
                <p:cNvSpPr/>
                <p:nvPr/>
              </p:nvSpPr>
              <p:spPr>
                <a:xfrm>
                  <a:off x="5664151" y="3036543"/>
                  <a:ext cx="127461" cy="155842"/>
                </a:xfrm>
                <a:custGeom>
                  <a:avLst/>
                  <a:gdLst>
                    <a:gd name="connsiteX0" fmla="*/ 127462 w 127461"/>
                    <a:gd name="connsiteY0" fmla="*/ 77921 h 155842"/>
                    <a:gd name="connsiteX1" fmla="*/ 63731 w 127461"/>
                    <a:gd name="connsiteY1" fmla="*/ 155842 h 155842"/>
                    <a:gd name="connsiteX2" fmla="*/ 0 w 127461"/>
                    <a:gd name="connsiteY2" fmla="*/ 77921 h 155842"/>
                    <a:gd name="connsiteX3" fmla="*/ 63731 w 127461"/>
                    <a:gd name="connsiteY3" fmla="*/ 0 h 155842"/>
                    <a:gd name="connsiteX4" fmla="*/ 127462 w 127461"/>
                    <a:gd name="connsiteY4" fmla="*/ 77921 h 155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461" h="155842">
                      <a:moveTo>
                        <a:pt x="127462" y="77921"/>
                      </a:moveTo>
                      <a:cubicBezTo>
                        <a:pt x="127462" y="120956"/>
                        <a:pt x="98928" y="155842"/>
                        <a:pt x="63731" y="155842"/>
                      </a:cubicBezTo>
                      <a:cubicBezTo>
                        <a:pt x="28533" y="155842"/>
                        <a:pt x="0" y="120956"/>
                        <a:pt x="0" y="77921"/>
                      </a:cubicBezTo>
                      <a:cubicBezTo>
                        <a:pt x="0" y="34886"/>
                        <a:pt x="28533" y="0"/>
                        <a:pt x="63731" y="0"/>
                      </a:cubicBezTo>
                      <a:cubicBezTo>
                        <a:pt x="98928" y="0"/>
                        <a:pt x="127462" y="34886"/>
                        <a:pt x="127462" y="77921"/>
                      </a:cubicBezTo>
                      <a:close/>
                    </a:path>
                  </a:pathLst>
                </a:custGeom>
                <a:noFill/>
                <a:ln w="12700" cap="rnd">
                  <a:solidFill>
                    <a:srgbClr val="F2F2F2"/>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grpSp>
          <p:grpSp>
            <p:nvGrpSpPr>
              <p:cNvPr id="16" name="Graphic 8">
                <a:extLst>
                  <a:ext uri="{FF2B5EF4-FFF2-40B4-BE49-F238E27FC236}">
                    <a16:creationId xmlns:a16="http://schemas.microsoft.com/office/drawing/2014/main" id="{10AC5EC0-FE10-0C2C-1154-3FD581F3DAE3}"/>
                  </a:ext>
                </a:extLst>
              </p:cNvPr>
              <p:cNvGrpSpPr/>
              <p:nvPr/>
            </p:nvGrpSpPr>
            <p:grpSpPr>
              <a:xfrm>
                <a:off x="5476763" y="3474612"/>
                <a:ext cx="1228009" cy="436168"/>
                <a:chOff x="5476763" y="3474612"/>
                <a:chExt cx="1228009" cy="436168"/>
              </a:xfrm>
              <a:noFill/>
            </p:grpSpPr>
            <p:sp>
              <p:nvSpPr>
                <p:cNvPr id="17" name="Freeform 16">
                  <a:extLst>
                    <a:ext uri="{FF2B5EF4-FFF2-40B4-BE49-F238E27FC236}">
                      <a16:creationId xmlns:a16="http://schemas.microsoft.com/office/drawing/2014/main" id="{DDDB85F0-DE7E-3AF7-D220-91BC42A4E220}"/>
                    </a:ext>
                  </a:extLst>
                </p:cNvPr>
                <p:cNvSpPr/>
                <p:nvPr/>
              </p:nvSpPr>
              <p:spPr>
                <a:xfrm>
                  <a:off x="5476763" y="3474612"/>
                  <a:ext cx="1228009" cy="436168"/>
                </a:xfrm>
                <a:custGeom>
                  <a:avLst/>
                  <a:gdLst>
                    <a:gd name="connsiteX0" fmla="*/ 1126230 w 1228009"/>
                    <a:gd name="connsiteY0" fmla="*/ 0 h 436168"/>
                    <a:gd name="connsiteX1" fmla="*/ 103682 w 1228009"/>
                    <a:gd name="connsiteY1" fmla="*/ 0 h 436168"/>
                    <a:gd name="connsiteX2" fmla="*/ 0 w 1228009"/>
                    <a:gd name="connsiteY2" fmla="*/ 103578 h 436168"/>
                    <a:gd name="connsiteX3" fmla="*/ 0 w 1228009"/>
                    <a:gd name="connsiteY3" fmla="*/ 436169 h 436168"/>
                    <a:gd name="connsiteX4" fmla="*/ 212119 w 1228009"/>
                    <a:gd name="connsiteY4" fmla="*/ 436169 h 436168"/>
                    <a:gd name="connsiteX5" fmla="*/ 212119 w 1228009"/>
                    <a:gd name="connsiteY5" fmla="*/ 387706 h 436168"/>
                    <a:gd name="connsiteX6" fmla="*/ 329118 w 1228009"/>
                    <a:gd name="connsiteY6" fmla="*/ 270824 h 436168"/>
                    <a:gd name="connsiteX7" fmla="*/ 898891 w 1228009"/>
                    <a:gd name="connsiteY7" fmla="*/ 270824 h 436168"/>
                    <a:gd name="connsiteX8" fmla="*/ 1015890 w 1228009"/>
                    <a:gd name="connsiteY8" fmla="*/ 387706 h 436168"/>
                    <a:gd name="connsiteX9" fmla="*/ 1015890 w 1228009"/>
                    <a:gd name="connsiteY9" fmla="*/ 436169 h 436168"/>
                    <a:gd name="connsiteX10" fmla="*/ 1228009 w 1228009"/>
                    <a:gd name="connsiteY10" fmla="*/ 436169 h 436168"/>
                    <a:gd name="connsiteX11" fmla="*/ 1228009 w 1228009"/>
                    <a:gd name="connsiteY11" fmla="*/ 103578 h 436168"/>
                    <a:gd name="connsiteX12" fmla="*/ 1124328 w 1228009"/>
                    <a:gd name="connsiteY12" fmla="*/ 0 h 436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28009" h="436168">
                      <a:moveTo>
                        <a:pt x="1126230" y="0"/>
                      </a:moveTo>
                      <a:lnTo>
                        <a:pt x="103682" y="0"/>
                      </a:lnTo>
                      <a:cubicBezTo>
                        <a:pt x="46609" y="0"/>
                        <a:pt x="0" y="46563"/>
                        <a:pt x="0" y="103578"/>
                      </a:cubicBezTo>
                      <a:lnTo>
                        <a:pt x="0" y="436169"/>
                      </a:lnTo>
                      <a:lnTo>
                        <a:pt x="212119" y="436169"/>
                      </a:lnTo>
                      <a:lnTo>
                        <a:pt x="212119" y="387706"/>
                      </a:lnTo>
                      <a:cubicBezTo>
                        <a:pt x="212119" y="323088"/>
                        <a:pt x="264436" y="270824"/>
                        <a:pt x="329118" y="270824"/>
                      </a:cubicBezTo>
                      <a:lnTo>
                        <a:pt x="898891" y="270824"/>
                      </a:lnTo>
                      <a:cubicBezTo>
                        <a:pt x="963574" y="270824"/>
                        <a:pt x="1015890" y="323088"/>
                        <a:pt x="1015890" y="387706"/>
                      </a:cubicBezTo>
                      <a:lnTo>
                        <a:pt x="1015890" y="436169"/>
                      </a:lnTo>
                      <a:lnTo>
                        <a:pt x="1228009" y="436169"/>
                      </a:lnTo>
                      <a:lnTo>
                        <a:pt x="1228009" y="103578"/>
                      </a:lnTo>
                      <a:cubicBezTo>
                        <a:pt x="1228009" y="46563"/>
                        <a:pt x="1181400" y="0"/>
                        <a:pt x="1124328" y="0"/>
                      </a:cubicBezTo>
                      <a:close/>
                    </a:path>
                  </a:pathLst>
                </a:custGeom>
                <a:noFill/>
                <a:ln w="12700" cap="flat">
                  <a:solidFill>
                    <a:srgbClr val="F2F2F2"/>
                  </a:solidFill>
                  <a:prstDash val="solid"/>
                  <a:miter/>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18" name="Freeform 17">
                  <a:extLst>
                    <a:ext uri="{FF2B5EF4-FFF2-40B4-BE49-F238E27FC236}">
                      <a16:creationId xmlns:a16="http://schemas.microsoft.com/office/drawing/2014/main" id="{8E8686D5-9044-4FBE-3015-D07477806065}"/>
                    </a:ext>
                  </a:extLst>
                </p:cNvPr>
                <p:cNvSpPr/>
                <p:nvPr/>
              </p:nvSpPr>
              <p:spPr>
                <a:xfrm>
                  <a:off x="5801125" y="3661813"/>
                  <a:ext cx="582139" cy="9502"/>
                </a:xfrm>
                <a:custGeom>
                  <a:avLst/>
                  <a:gdLst>
                    <a:gd name="connsiteX0" fmla="*/ 0 w 582139"/>
                    <a:gd name="connsiteY0" fmla="*/ 0 h 9502"/>
                    <a:gd name="connsiteX1" fmla="*/ 582139 w 582139"/>
                    <a:gd name="connsiteY1" fmla="*/ 0 h 9502"/>
                  </a:gdLst>
                  <a:ahLst/>
                  <a:cxnLst>
                    <a:cxn ang="0">
                      <a:pos x="connsiteX0" y="connsiteY0"/>
                    </a:cxn>
                    <a:cxn ang="0">
                      <a:pos x="connsiteX1" y="connsiteY1"/>
                    </a:cxn>
                  </a:cxnLst>
                  <a:rect l="l" t="t" r="r" b="b"/>
                  <a:pathLst>
                    <a:path w="582139" h="9502">
                      <a:moveTo>
                        <a:pt x="0" y="0"/>
                      </a:moveTo>
                      <a:lnTo>
                        <a:pt x="582139" y="0"/>
                      </a:lnTo>
                    </a:path>
                  </a:pathLst>
                </a:custGeom>
                <a:ln w="12700" cap="rnd">
                  <a:solidFill>
                    <a:srgbClr val="F2F2F2"/>
                  </a:solidFill>
                  <a:prstDash val="solid"/>
                  <a:miter/>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grpSp>
        </p:grpSp>
      </p:grpSp>
      <p:grpSp>
        <p:nvGrpSpPr>
          <p:cNvPr id="38" name="Group 37">
            <a:extLst>
              <a:ext uri="{FF2B5EF4-FFF2-40B4-BE49-F238E27FC236}">
                <a16:creationId xmlns:a16="http://schemas.microsoft.com/office/drawing/2014/main" id="{D3446433-27B2-57E9-C56F-48FBCEB5C9CB}"/>
              </a:ext>
            </a:extLst>
          </p:cNvPr>
          <p:cNvGrpSpPr/>
          <p:nvPr/>
        </p:nvGrpSpPr>
        <p:grpSpPr>
          <a:xfrm>
            <a:off x="3487551" y="1598488"/>
            <a:ext cx="687029" cy="687029"/>
            <a:chOff x="3104955" y="1306482"/>
            <a:chExt cx="687029" cy="687029"/>
          </a:xfrm>
        </p:grpSpPr>
        <p:sp>
          <p:nvSpPr>
            <p:cNvPr id="39" name="Oval 38">
              <a:extLst>
                <a:ext uri="{FF2B5EF4-FFF2-40B4-BE49-F238E27FC236}">
                  <a16:creationId xmlns:a16="http://schemas.microsoft.com/office/drawing/2014/main" id="{AA6020E4-ABE5-ED9C-19F4-7DA1AB44531E}"/>
                </a:ext>
              </a:extLst>
            </p:cNvPr>
            <p:cNvSpPr/>
            <p:nvPr/>
          </p:nvSpPr>
          <p:spPr>
            <a:xfrm>
              <a:off x="3104955" y="1306482"/>
              <a:ext cx="687029" cy="687029"/>
            </a:xfrm>
            <a:prstGeom prst="ellipse">
              <a:avLst/>
            </a:prstGeom>
            <a:solidFill>
              <a:srgbClr val="60BDBC"/>
            </a:solidFill>
            <a:ln w="2540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a:ln>
                  <a:noFill/>
                </a:ln>
                <a:solidFill>
                  <a:srgbClr val="1D1D1D"/>
                </a:solidFill>
                <a:effectLst/>
                <a:uLnTx/>
                <a:uFillTx/>
                <a:latin typeface="Segoe UI" pitchFamily="34" charset="0"/>
                <a:ea typeface="+mn-ea"/>
                <a:cs typeface="+mn-cs"/>
              </a:endParaRPr>
            </a:p>
          </p:txBody>
        </p:sp>
        <p:grpSp>
          <p:nvGrpSpPr>
            <p:cNvPr id="40" name="Group 39">
              <a:extLst>
                <a:ext uri="{FF2B5EF4-FFF2-40B4-BE49-F238E27FC236}">
                  <a16:creationId xmlns:a16="http://schemas.microsoft.com/office/drawing/2014/main" id="{A164AF52-06B5-98C6-0A16-C2B2BB15DF13}"/>
                </a:ext>
              </a:extLst>
            </p:cNvPr>
            <p:cNvGrpSpPr>
              <a:grpSpLocks noChangeAspect="1"/>
            </p:cNvGrpSpPr>
            <p:nvPr/>
          </p:nvGrpSpPr>
          <p:grpSpPr>
            <a:xfrm>
              <a:off x="3254466" y="1445948"/>
              <a:ext cx="404005" cy="396000"/>
              <a:chOff x="5370228" y="5298630"/>
              <a:chExt cx="1111009" cy="1088996"/>
            </a:xfrm>
          </p:grpSpPr>
          <p:grpSp>
            <p:nvGrpSpPr>
              <p:cNvPr id="41" name="Graphic 51">
                <a:extLst>
                  <a:ext uri="{FF2B5EF4-FFF2-40B4-BE49-F238E27FC236}">
                    <a16:creationId xmlns:a16="http://schemas.microsoft.com/office/drawing/2014/main" id="{1DDD9D55-438C-386C-2ABB-52A64A1FC02D}"/>
                  </a:ext>
                </a:extLst>
              </p:cNvPr>
              <p:cNvGrpSpPr/>
              <p:nvPr/>
            </p:nvGrpSpPr>
            <p:grpSpPr>
              <a:xfrm>
                <a:off x="5370228" y="5909646"/>
                <a:ext cx="370019" cy="468477"/>
                <a:chOff x="5370228" y="5909646"/>
                <a:chExt cx="370019" cy="468477"/>
              </a:xfrm>
              <a:noFill/>
            </p:grpSpPr>
            <p:sp>
              <p:nvSpPr>
                <p:cNvPr id="62" name="Freeform 61">
                  <a:extLst>
                    <a:ext uri="{FF2B5EF4-FFF2-40B4-BE49-F238E27FC236}">
                      <a16:creationId xmlns:a16="http://schemas.microsoft.com/office/drawing/2014/main" id="{8A6F9957-3039-E55A-9B4E-98C8D2E8939A}"/>
                    </a:ext>
                  </a:extLst>
                </p:cNvPr>
                <p:cNvSpPr/>
                <p:nvPr/>
              </p:nvSpPr>
              <p:spPr>
                <a:xfrm>
                  <a:off x="5490079" y="5909646"/>
                  <a:ext cx="129364" cy="129235"/>
                </a:xfrm>
                <a:custGeom>
                  <a:avLst/>
                  <a:gdLst>
                    <a:gd name="connsiteX0" fmla="*/ 129364 w 129364"/>
                    <a:gd name="connsiteY0" fmla="*/ 64617 h 129235"/>
                    <a:gd name="connsiteX1" fmla="*/ 64682 w 129364"/>
                    <a:gd name="connsiteY1" fmla="*/ 129235 h 129235"/>
                    <a:gd name="connsiteX2" fmla="*/ 0 w 129364"/>
                    <a:gd name="connsiteY2" fmla="*/ 64617 h 129235"/>
                    <a:gd name="connsiteX3" fmla="*/ 64682 w 129364"/>
                    <a:gd name="connsiteY3" fmla="*/ 0 h 129235"/>
                    <a:gd name="connsiteX4" fmla="*/ 129364 w 129364"/>
                    <a:gd name="connsiteY4" fmla="*/ 64617 h 129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364" h="129235">
                      <a:moveTo>
                        <a:pt x="129364" y="64617"/>
                      </a:moveTo>
                      <a:cubicBezTo>
                        <a:pt x="129364" y="99777"/>
                        <a:pt x="100828" y="129235"/>
                        <a:pt x="64682" y="129235"/>
                      </a:cubicBezTo>
                      <a:cubicBezTo>
                        <a:pt x="28536" y="129235"/>
                        <a:pt x="0" y="100727"/>
                        <a:pt x="0" y="64617"/>
                      </a:cubicBezTo>
                      <a:cubicBezTo>
                        <a:pt x="0" y="28508"/>
                        <a:pt x="28536" y="0"/>
                        <a:pt x="64682" y="0"/>
                      </a:cubicBezTo>
                      <a:cubicBezTo>
                        <a:pt x="100828" y="0"/>
                        <a:pt x="129364" y="28508"/>
                        <a:pt x="129364" y="64617"/>
                      </a:cubicBezTo>
                      <a:close/>
                    </a:path>
                  </a:pathLst>
                </a:custGeom>
                <a:noFill/>
                <a:ln w="12700" cap="flat">
                  <a:solidFill>
                    <a:srgbClr val="F2F2F2"/>
                  </a:solidFill>
                  <a:prstDash val="solid"/>
                  <a:miter/>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63" name="Freeform 62">
                  <a:extLst>
                    <a:ext uri="{FF2B5EF4-FFF2-40B4-BE49-F238E27FC236}">
                      <a16:creationId xmlns:a16="http://schemas.microsoft.com/office/drawing/2014/main" id="{80894A21-C40F-6FB6-10DA-EC257158D0FB}"/>
                    </a:ext>
                  </a:extLst>
                </p:cNvPr>
                <p:cNvSpPr/>
                <p:nvPr/>
              </p:nvSpPr>
              <p:spPr>
                <a:xfrm>
                  <a:off x="5555713" y="6093996"/>
                  <a:ext cx="9512" cy="110230"/>
                </a:xfrm>
                <a:custGeom>
                  <a:avLst/>
                  <a:gdLst>
                    <a:gd name="connsiteX0" fmla="*/ 0 w 9512"/>
                    <a:gd name="connsiteY0" fmla="*/ 0 h 110230"/>
                    <a:gd name="connsiteX1" fmla="*/ 0 w 9512"/>
                    <a:gd name="connsiteY1" fmla="*/ 110230 h 110230"/>
                  </a:gdLst>
                  <a:ahLst/>
                  <a:cxnLst>
                    <a:cxn ang="0">
                      <a:pos x="connsiteX0" y="connsiteY0"/>
                    </a:cxn>
                    <a:cxn ang="0">
                      <a:pos x="connsiteX1" y="connsiteY1"/>
                    </a:cxn>
                  </a:cxnLst>
                  <a:rect l="l" t="t" r="r" b="b"/>
                  <a:pathLst>
                    <a:path w="9512" h="110230">
                      <a:moveTo>
                        <a:pt x="0" y="0"/>
                      </a:moveTo>
                      <a:lnTo>
                        <a:pt x="0" y="110230"/>
                      </a:lnTo>
                    </a:path>
                  </a:pathLst>
                </a:custGeom>
                <a:ln w="12700" cap="flat">
                  <a:solidFill>
                    <a:srgbClr val="F2F2F2"/>
                  </a:solidFill>
                  <a:prstDash val="solid"/>
                  <a:miter/>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64" name="Freeform 63">
                  <a:extLst>
                    <a:ext uri="{FF2B5EF4-FFF2-40B4-BE49-F238E27FC236}">
                      <a16:creationId xmlns:a16="http://schemas.microsoft.com/office/drawing/2014/main" id="{57D9B2F7-0B3D-D40E-3101-214DEC99249B}"/>
                    </a:ext>
                  </a:extLst>
                </p:cNvPr>
                <p:cNvSpPr/>
                <p:nvPr/>
              </p:nvSpPr>
              <p:spPr>
                <a:xfrm>
                  <a:off x="5658443" y="6224182"/>
                  <a:ext cx="9512" cy="153941"/>
                </a:xfrm>
                <a:custGeom>
                  <a:avLst/>
                  <a:gdLst>
                    <a:gd name="connsiteX0" fmla="*/ 0 w 9512"/>
                    <a:gd name="connsiteY0" fmla="*/ 153942 h 153941"/>
                    <a:gd name="connsiteX1" fmla="*/ 0 w 9512"/>
                    <a:gd name="connsiteY1" fmla="*/ 0 h 153941"/>
                  </a:gdLst>
                  <a:ahLst/>
                  <a:cxnLst>
                    <a:cxn ang="0">
                      <a:pos x="connsiteX0" y="connsiteY0"/>
                    </a:cxn>
                    <a:cxn ang="0">
                      <a:pos x="connsiteX1" y="connsiteY1"/>
                    </a:cxn>
                  </a:cxnLst>
                  <a:rect l="l" t="t" r="r" b="b"/>
                  <a:pathLst>
                    <a:path w="9512" h="153941">
                      <a:moveTo>
                        <a:pt x="0" y="153942"/>
                      </a:moveTo>
                      <a:lnTo>
                        <a:pt x="0" y="0"/>
                      </a:lnTo>
                    </a:path>
                  </a:pathLst>
                </a:custGeom>
                <a:ln w="12700" cap="flat">
                  <a:solidFill>
                    <a:srgbClr val="F2F2F2"/>
                  </a:solidFill>
                  <a:prstDash val="solid"/>
                  <a:miter/>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65" name="Freeform 64">
                  <a:extLst>
                    <a:ext uri="{FF2B5EF4-FFF2-40B4-BE49-F238E27FC236}">
                      <a16:creationId xmlns:a16="http://schemas.microsoft.com/office/drawing/2014/main" id="{9ACED97A-65AA-254B-8325-CE86E3498C59}"/>
                    </a:ext>
                  </a:extLst>
                </p:cNvPr>
                <p:cNvSpPr/>
                <p:nvPr/>
              </p:nvSpPr>
              <p:spPr>
                <a:xfrm>
                  <a:off x="5452031" y="6224182"/>
                  <a:ext cx="9512" cy="153941"/>
                </a:xfrm>
                <a:custGeom>
                  <a:avLst/>
                  <a:gdLst>
                    <a:gd name="connsiteX0" fmla="*/ 0 w 9512"/>
                    <a:gd name="connsiteY0" fmla="*/ 0 h 153941"/>
                    <a:gd name="connsiteX1" fmla="*/ 0 w 9512"/>
                    <a:gd name="connsiteY1" fmla="*/ 153942 h 153941"/>
                  </a:gdLst>
                  <a:ahLst/>
                  <a:cxnLst>
                    <a:cxn ang="0">
                      <a:pos x="connsiteX0" y="connsiteY0"/>
                    </a:cxn>
                    <a:cxn ang="0">
                      <a:pos x="connsiteX1" y="connsiteY1"/>
                    </a:cxn>
                  </a:cxnLst>
                  <a:rect l="l" t="t" r="r" b="b"/>
                  <a:pathLst>
                    <a:path w="9512" h="153941">
                      <a:moveTo>
                        <a:pt x="0" y="0"/>
                      </a:moveTo>
                      <a:lnTo>
                        <a:pt x="0" y="153942"/>
                      </a:lnTo>
                    </a:path>
                  </a:pathLst>
                </a:custGeom>
                <a:ln w="12700" cap="flat">
                  <a:solidFill>
                    <a:srgbClr val="F2F2F2"/>
                  </a:solidFill>
                  <a:prstDash val="solid"/>
                  <a:miter/>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66" name="Freeform 65">
                  <a:extLst>
                    <a:ext uri="{FF2B5EF4-FFF2-40B4-BE49-F238E27FC236}">
                      <a16:creationId xmlns:a16="http://schemas.microsoft.com/office/drawing/2014/main" id="{6DC31AD1-2E9B-3D46-D5B3-AE0D1219DEBF}"/>
                    </a:ext>
                  </a:extLst>
                </p:cNvPr>
                <p:cNvSpPr/>
                <p:nvPr/>
              </p:nvSpPr>
              <p:spPr>
                <a:xfrm>
                  <a:off x="5370228" y="6093996"/>
                  <a:ext cx="297727" cy="284127"/>
                </a:xfrm>
                <a:custGeom>
                  <a:avLst/>
                  <a:gdLst>
                    <a:gd name="connsiteX0" fmla="*/ 0 w 297727"/>
                    <a:gd name="connsiteY0" fmla="*/ 284127 h 284127"/>
                    <a:gd name="connsiteX1" fmla="*/ 0 w 297727"/>
                    <a:gd name="connsiteY1" fmla="*/ 85523 h 284127"/>
                    <a:gd name="connsiteX2" fmla="*/ 72292 w 297727"/>
                    <a:gd name="connsiteY2" fmla="*/ 0 h 284127"/>
                    <a:gd name="connsiteX3" fmla="*/ 297728 w 297727"/>
                    <a:gd name="connsiteY3" fmla="*/ 0 h 284127"/>
                  </a:gdLst>
                  <a:ahLst/>
                  <a:cxnLst>
                    <a:cxn ang="0">
                      <a:pos x="connsiteX0" y="connsiteY0"/>
                    </a:cxn>
                    <a:cxn ang="0">
                      <a:pos x="connsiteX1" y="connsiteY1"/>
                    </a:cxn>
                    <a:cxn ang="0">
                      <a:pos x="connsiteX2" y="connsiteY2"/>
                    </a:cxn>
                    <a:cxn ang="0">
                      <a:pos x="connsiteX3" y="connsiteY3"/>
                    </a:cxn>
                  </a:cxnLst>
                  <a:rect l="l" t="t" r="r" b="b"/>
                  <a:pathLst>
                    <a:path w="297727" h="284127">
                      <a:moveTo>
                        <a:pt x="0" y="284127"/>
                      </a:moveTo>
                      <a:lnTo>
                        <a:pt x="0" y="85523"/>
                      </a:lnTo>
                      <a:cubicBezTo>
                        <a:pt x="0" y="38010"/>
                        <a:pt x="25682" y="0"/>
                        <a:pt x="72292" y="0"/>
                      </a:cubicBezTo>
                      <a:lnTo>
                        <a:pt x="297728" y="0"/>
                      </a:lnTo>
                    </a:path>
                  </a:pathLst>
                </a:custGeom>
                <a:noFill/>
                <a:ln w="12700" cap="flat">
                  <a:solidFill>
                    <a:srgbClr val="F2F2F2"/>
                  </a:solidFill>
                  <a:prstDash val="solid"/>
                  <a:miter/>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67" name="Freeform 66">
                  <a:extLst>
                    <a:ext uri="{FF2B5EF4-FFF2-40B4-BE49-F238E27FC236}">
                      <a16:creationId xmlns:a16="http://schemas.microsoft.com/office/drawing/2014/main" id="{417B844D-1A7A-5BBB-DB17-CF66D48A87BE}"/>
                    </a:ext>
                  </a:extLst>
                </p:cNvPr>
                <p:cNvSpPr/>
                <p:nvPr/>
              </p:nvSpPr>
              <p:spPr>
                <a:xfrm>
                  <a:off x="5667955" y="6093996"/>
                  <a:ext cx="72291" cy="195753"/>
                </a:xfrm>
                <a:custGeom>
                  <a:avLst/>
                  <a:gdLst>
                    <a:gd name="connsiteX0" fmla="*/ 0 w 72291"/>
                    <a:gd name="connsiteY0" fmla="*/ 0 h 195753"/>
                    <a:gd name="connsiteX1" fmla="*/ 0 w 72291"/>
                    <a:gd name="connsiteY1" fmla="*/ 0 h 195753"/>
                    <a:gd name="connsiteX2" fmla="*/ 72292 w 72291"/>
                    <a:gd name="connsiteY2" fmla="*/ 85523 h 195753"/>
                    <a:gd name="connsiteX3" fmla="*/ 72292 w 72291"/>
                    <a:gd name="connsiteY3" fmla="*/ 195753 h 195753"/>
                  </a:gdLst>
                  <a:ahLst/>
                  <a:cxnLst>
                    <a:cxn ang="0">
                      <a:pos x="connsiteX0" y="connsiteY0"/>
                    </a:cxn>
                    <a:cxn ang="0">
                      <a:pos x="connsiteX1" y="connsiteY1"/>
                    </a:cxn>
                    <a:cxn ang="0">
                      <a:pos x="connsiteX2" y="connsiteY2"/>
                    </a:cxn>
                    <a:cxn ang="0">
                      <a:pos x="connsiteX3" y="connsiteY3"/>
                    </a:cxn>
                  </a:cxnLst>
                  <a:rect l="l" t="t" r="r" b="b"/>
                  <a:pathLst>
                    <a:path w="72291" h="195753">
                      <a:moveTo>
                        <a:pt x="0" y="0"/>
                      </a:moveTo>
                      <a:lnTo>
                        <a:pt x="0" y="0"/>
                      </a:lnTo>
                      <a:cubicBezTo>
                        <a:pt x="47560" y="0"/>
                        <a:pt x="72292" y="38010"/>
                        <a:pt x="72292" y="85523"/>
                      </a:cubicBezTo>
                      <a:lnTo>
                        <a:pt x="72292" y="195753"/>
                      </a:lnTo>
                    </a:path>
                  </a:pathLst>
                </a:custGeom>
                <a:noFill/>
                <a:ln w="12700" cap="flat">
                  <a:solidFill>
                    <a:srgbClr val="F2F2F2"/>
                  </a:solidFill>
                  <a:prstDash val="solid"/>
                  <a:miter/>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grpSp>
          <p:grpSp>
            <p:nvGrpSpPr>
              <p:cNvPr id="42" name="Graphic 51">
                <a:extLst>
                  <a:ext uri="{FF2B5EF4-FFF2-40B4-BE49-F238E27FC236}">
                    <a16:creationId xmlns:a16="http://schemas.microsoft.com/office/drawing/2014/main" id="{BCD1C2EB-E700-9C6D-2D11-B2E9010353DA}"/>
                  </a:ext>
                </a:extLst>
              </p:cNvPr>
              <p:cNvGrpSpPr/>
              <p:nvPr/>
            </p:nvGrpSpPr>
            <p:grpSpPr>
              <a:xfrm>
                <a:off x="5740247" y="5909646"/>
                <a:ext cx="370019" cy="468477"/>
                <a:chOff x="5740247" y="5909646"/>
                <a:chExt cx="370019" cy="468477"/>
              </a:xfrm>
              <a:noFill/>
            </p:grpSpPr>
            <p:sp>
              <p:nvSpPr>
                <p:cNvPr id="56" name="Freeform 55">
                  <a:extLst>
                    <a:ext uri="{FF2B5EF4-FFF2-40B4-BE49-F238E27FC236}">
                      <a16:creationId xmlns:a16="http://schemas.microsoft.com/office/drawing/2014/main" id="{7AC37C9D-19C1-564D-1B28-477D0378A86D}"/>
                    </a:ext>
                  </a:extLst>
                </p:cNvPr>
                <p:cNvSpPr/>
                <p:nvPr/>
              </p:nvSpPr>
              <p:spPr>
                <a:xfrm>
                  <a:off x="5861050" y="5909646"/>
                  <a:ext cx="129364" cy="129235"/>
                </a:xfrm>
                <a:custGeom>
                  <a:avLst/>
                  <a:gdLst>
                    <a:gd name="connsiteX0" fmla="*/ 129364 w 129364"/>
                    <a:gd name="connsiteY0" fmla="*/ 64617 h 129235"/>
                    <a:gd name="connsiteX1" fmla="*/ 64682 w 129364"/>
                    <a:gd name="connsiteY1" fmla="*/ 129235 h 129235"/>
                    <a:gd name="connsiteX2" fmla="*/ 0 w 129364"/>
                    <a:gd name="connsiteY2" fmla="*/ 64617 h 129235"/>
                    <a:gd name="connsiteX3" fmla="*/ 64682 w 129364"/>
                    <a:gd name="connsiteY3" fmla="*/ 0 h 129235"/>
                    <a:gd name="connsiteX4" fmla="*/ 129364 w 129364"/>
                    <a:gd name="connsiteY4" fmla="*/ 64617 h 129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364" h="129235">
                      <a:moveTo>
                        <a:pt x="129364" y="64617"/>
                      </a:moveTo>
                      <a:cubicBezTo>
                        <a:pt x="129364" y="99777"/>
                        <a:pt x="100828" y="129235"/>
                        <a:pt x="64682" y="129235"/>
                      </a:cubicBezTo>
                      <a:cubicBezTo>
                        <a:pt x="28536" y="129235"/>
                        <a:pt x="0" y="100727"/>
                        <a:pt x="0" y="64617"/>
                      </a:cubicBezTo>
                      <a:cubicBezTo>
                        <a:pt x="0" y="28508"/>
                        <a:pt x="28536" y="0"/>
                        <a:pt x="64682" y="0"/>
                      </a:cubicBezTo>
                      <a:cubicBezTo>
                        <a:pt x="100828" y="0"/>
                        <a:pt x="129364" y="28508"/>
                        <a:pt x="129364" y="64617"/>
                      </a:cubicBezTo>
                      <a:close/>
                    </a:path>
                  </a:pathLst>
                </a:custGeom>
                <a:noFill/>
                <a:ln w="12700" cap="flat">
                  <a:solidFill>
                    <a:srgbClr val="F2F2F2"/>
                  </a:solidFill>
                  <a:prstDash val="solid"/>
                  <a:miter/>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57" name="Freeform 56">
                  <a:extLst>
                    <a:ext uri="{FF2B5EF4-FFF2-40B4-BE49-F238E27FC236}">
                      <a16:creationId xmlns:a16="http://schemas.microsoft.com/office/drawing/2014/main" id="{3B4DA43A-8188-ED7B-3125-3CE805B0307A}"/>
                    </a:ext>
                  </a:extLst>
                </p:cNvPr>
                <p:cNvSpPr/>
                <p:nvPr/>
              </p:nvSpPr>
              <p:spPr>
                <a:xfrm>
                  <a:off x="5925733" y="6093996"/>
                  <a:ext cx="9512" cy="110230"/>
                </a:xfrm>
                <a:custGeom>
                  <a:avLst/>
                  <a:gdLst>
                    <a:gd name="connsiteX0" fmla="*/ 0 w 9512"/>
                    <a:gd name="connsiteY0" fmla="*/ 0 h 110230"/>
                    <a:gd name="connsiteX1" fmla="*/ 0 w 9512"/>
                    <a:gd name="connsiteY1" fmla="*/ 110230 h 110230"/>
                  </a:gdLst>
                  <a:ahLst/>
                  <a:cxnLst>
                    <a:cxn ang="0">
                      <a:pos x="connsiteX0" y="connsiteY0"/>
                    </a:cxn>
                    <a:cxn ang="0">
                      <a:pos x="connsiteX1" y="connsiteY1"/>
                    </a:cxn>
                  </a:cxnLst>
                  <a:rect l="l" t="t" r="r" b="b"/>
                  <a:pathLst>
                    <a:path w="9512" h="110230">
                      <a:moveTo>
                        <a:pt x="0" y="0"/>
                      </a:moveTo>
                      <a:lnTo>
                        <a:pt x="0" y="110230"/>
                      </a:lnTo>
                    </a:path>
                  </a:pathLst>
                </a:custGeom>
                <a:ln w="12700" cap="flat">
                  <a:solidFill>
                    <a:srgbClr val="F2F2F2"/>
                  </a:solidFill>
                  <a:prstDash val="solid"/>
                  <a:miter/>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58" name="Freeform 57">
                  <a:extLst>
                    <a:ext uri="{FF2B5EF4-FFF2-40B4-BE49-F238E27FC236}">
                      <a16:creationId xmlns:a16="http://schemas.microsoft.com/office/drawing/2014/main" id="{2662188E-B73F-DB1E-9B59-53EE88845000}"/>
                    </a:ext>
                  </a:extLst>
                </p:cNvPr>
                <p:cNvSpPr/>
                <p:nvPr/>
              </p:nvSpPr>
              <p:spPr>
                <a:xfrm>
                  <a:off x="6028463" y="6224182"/>
                  <a:ext cx="9512" cy="153941"/>
                </a:xfrm>
                <a:custGeom>
                  <a:avLst/>
                  <a:gdLst>
                    <a:gd name="connsiteX0" fmla="*/ 0 w 9512"/>
                    <a:gd name="connsiteY0" fmla="*/ 153942 h 153941"/>
                    <a:gd name="connsiteX1" fmla="*/ 0 w 9512"/>
                    <a:gd name="connsiteY1" fmla="*/ 0 h 153941"/>
                  </a:gdLst>
                  <a:ahLst/>
                  <a:cxnLst>
                    <a:cxn ang="0">
                      <a:pos x="connsiteX0" y="connsiteY0"/>
                    </a:cxn>
                    <a:cxn ang="0">
                      <a:pos x="connsiteX1" y="connsiteY1"/>
                    </a:cxn>
                  </a:cxnLst>
                  <a:rect l="l" t="t" r="r" b="b"/>
                  <a:pathLst>
                    <a:path w="9512" h="153941">
                      <a:moveTo>
                        <a:pt x="0" y="153942"/>
                      </a:moveTo>
                      <a:lnTo>
                        <a:pt x="0" y="0"/>
                      </a:lnTo>
                    </a:path>
                  </a:pathLst>
                </a:custGeom>
                <a:ln w="12700" cap="flat">
                  <a:solidFill>
                    <a:srgbClr val="F2F2F2"/>
                  </a:solidFill>
                  <a:prstDash val="solid"/>
                  <a:miter/>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59" name="Freeform 58">
                  <a:extLst>
                    <a:ext uri="{FF2B5EF4-FFF2-40B4-BE49-F238E27FC236}">
                      <a16:creationId xmlns:a16="http://schemas.microsoft.com/office/drawing/2014/main" id="{FCB46D58-F1F3-EAB5-A4A5-30E7A85BEB0D}"/>
                    </a:ext>
                  </a:extLst>
                </p:cNvPr>
                <p:cNvSpPr/>
                <p:nvPr/>
              </p:nvSpPr>
              <p:spPr>
                <a:xfrm>
                  <a:off x="5823002" y="6224182"/>
                  <a:ext cx="9512" cy="153941"/>
                </a:xfrm>
                <a:custGeom>
                  <a:avLst/>
                  <a:gdLst>
                    <a:gd name="connsiteX0" fmla="*/ 0 w 9512"/>
                    <a:gd name="connsiteY0" fmla="*/ 0 h 153941"/>
                    <a:gd name="connsiteX1" fmla="*/ 0 w 9512"/>
                    <a:gd name="connsiteY1" fmla="*/ 153942 h 153941"/>
                  </a:gdLst>
                  <a:ahLst/>
                  <a:cxnLst>
                    <a:cxn ang="0">
                      <a:pos x="connsiteX0" y="connsiteY0"/>
                    </a:cxn>
                    <a:cxn ang="0">
                      <a:pos x="connsiteX1" y="connsiteY1"/>
                    </a:cxn>
                  </a:cxnLst>
                  <a:rect l="l" t="t" r="r" b="b"/>
                  <a:pathLst>
                    <a:path w="9512" h="153941">
                      <a:moveTo>
                        <a:pt x="0" y="0"/>
                      </a:moveTo>
                      <a:lnTo>
                        <a:pt x="0" y="153942"/>
                      </a:lnTo>
                    </a:path>
                  </a:pathLst>
                </a:custGeom>
                <a:ln w="12700" cap="flat">
                  <a:solidFill>
                    <a:srgbClr val="F2F2F2"/>
                  </a:solidFill>
                  <a:prstDash val="solid"/>
                  <a:miter/>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60" name="Freeform 59">
                  <a:extLst>
                    <a:ext uri="{FF2B5EF4-FFF2-40B4-BE49-F238E27FC236}">
                      <a16:creationId xmlns:a16="http://schemas.microsoft.com/office/drawing/2014/main" id="{0ACFC225-D7B9-DE48-A50F-B3293C4BB90F}"/>
                    </a:ext>
                  </a:extLst>
                </p:cNvPr>
                <p:cNvSpPr/>
                <p:nvPr/>
              </p:nvSpPr>
              <p:spPr>
                <a:xfrm>
                  <a:off x="5740247" y="6093996"/>
                  <a:ext cx="297727" cy="195753"/>
                </a:xfrm>
                <a:custGeom>
                  <a:avLst/>
                  <a:gdLst>
                    <a:gd name="connsiteX0" fmla="*/ 0 w 297727"/>
                    <a:gd name="connsiteY0" fmla="*/ 195753 h 195753"/>
                    <a:gd name="connsiteX1" fmla="*/ 0 w 297727"/>
                    <a:gd name="connsiteY1" fmla="*/ 85523 h 195753"/>
                    <a:gd name="connsiteX2" fmla="*/ 72292 w 297727"/>
                    <a:gd name="connsiteY2" fmla="*/ 0 h 195753"/>
                    <a:gd name="connsiteX3" fmla="*/ 297728 w 297727"/>
                    <a:gd name="connsiteY3" fmla="*/ 0 h 195753"/>
                  </a:gdLst>
                  <a:ahLst/>
                  <a:cxnLst>
                    <a:cxn ang="0">
                      <a:pos x="connsiteX0" y="connsiteY0"/>
                    </a:cxn>
                    <a:cxn ang="0">
                      <a:pos x="connsiteX1" y="connsiteY1"/>
                    </a:cxn>
                    <a:cxn ang="0">
                      <a:pos x="connsiteX2" y="connsiteY2"/>
                    </a:cxn>
                    <a:cxn ang="0">
                      <a:pos x="connsiteX3" y="connsiteY3"/>
                    </a:cxn>
                  </a:cxnLst>
                  <a:rect l="l" t="t" r="r" b="b"/>
                  <a:pathLst>
                    <a:path w="297727" h="195753">
                      <a:moveTo>
                        <a:pt x="0" y="195753"/>
                      </a:moveTo>
                      <a:lnTo>
                        <a:pt x="0" y="85523"/>
                      </a:lnTo>
                      <a:cubicBezTo>
                        <a:pt x="0" y="38010"/>
                        <a:pt x="25682" y="0"/>
                        <a:pt x="72292" y="0"/>
                      </a:cubicBezTo>
                      <a:lnTo>
                        <a:pt x="297728" y="0"/>
                      </a:lnTo>
                    </a:path>
                  </a:pathLst>
                </a:custGeom>
                <a:noFill/>
                <a:ln w="12700" cap="flat">
                  <a:solidFill>
                    <a:srgbClr val="F2F2F2"/>
                  </a:solidFill>
                  <a:prstDash val="solid"/>
                  <a:miter/>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61" name="Freeform 60">
                  <a:extLst>
                    <a:ext uri="{FF2B5EF4-FFF2-40B4-BE49-F238E27FC236}">
                      <a16:creationId xmlns:a16="http://schemas.microsoft.com/office/drawing/2014/main" id="{AF56F3CD-7AB9-7283-8067-2A649A1748C5}"/>
                    </a:ext>
                  </a:extLst>
                </p:cNvPr>
                <p:cNvSpPr/>
                <p:nvPr/>
              </p:nvSpPr>
              <p:spPr>
                <a:xfrm>
                  <a:off x="6037975" y="6093996"/>
                  <a:ext cx="72291" cy="195753"/>
                </a:xfrm>
                <a:custGeom>
                  <a:avLst/>
                  <a:gdLst>
                    <a:gd name="connsiteX0" fmla="*/ 0 w 72291"/>
                    <a:gd name="connsiteY0" fmla="*/ 0 h 195753"/>
                    <a:gd name="connsiteX1" fmla="*/ 0 w 72291"/>
                    <a:gd name="connsiteY1" fmla="*/ 0 h 195753"/>
                    <a:gd name="connsiteX2" fmla="*/ 72292 w 72291"/>
                    <a:gd name="connsiteY2" fmla="*/ 85523 h 195753"/>
                    <a:gd name="connsiteX3" fmla="*/ 72292 w 72291"/>
                    <a:gd name="connsiteY3" fmla="*/ 195753 h 195753"/>
                  </a:gdLst>
                  <a:ahLst/>
                  <a:cxnLst>
                    <a:cxn ang="0">
                      <a:pos x="connsiteX0" y="connsiteY0"/>
                    </a:cxn>
                    <a:cxn ang="0">
                      <a:pos x="connsiteX1" y="connsiteY1"/>
                    </a:cxn>
                    <a:cxn ang="0">
                      <a:pos x="connsiteX2" y="connsiteY2"/>
                    </a:cxn>
                    <a:cxn ang="0">
                      <a:pos x="connsiteX3" y="connsiteY3"/>
                    </a:cxn>
                  </a:cxnLst>
                  <a:rect l="l" t="t" r="r" b="b"/>
                  <a:pathLst>
                    <a:path w="72291" h="195753">
                      <a:moveTo>
                        <a:pt x="0" y="0"/>
                      </a:moveTo>
                      <a:lnTo>
                        <a:pt x="0" y="0"/>
                      </a:lnTo>
                      <a:cubicBezTo>
                        <a:pt x="47560" y="0"/>
                        <a:pt x="72292" y="38010"/>
                        <a:pt x="72292" y="85523"/>
                      </a:cubicBezTo>
                      <a:lnTo>
                        <a:pt x="72292" y="195753"/>
                      </a:lnTo>
                    </a:path>
                  </a:pathLst>
                </a:custGeom>
                <a:noFill/>
                <a:ln w="12700" cap="flat">
                  <a:solidFill>
                    <a:srgbClr val="F2F2F2"/>
                  </a:solidFill>
                  <a:prstDash val="solid"/>
                  <a:miter/>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grpSp>
          <p:grpSp>
            <p:nvGrpSpPr>
              <p:cNvPr id="43" name="Graphic 51">
                <a:extLst>
                  <a:ext uri="{FF2B5EF4-FFF2-40B4-BE49-F238E27FC236}">
                    <a16:creationId xmlns:a16="http://schemas.microsoft.com/office/drawing/2014/main" id="{9F5ED95B-9C77-6A90-5588-F9F174960AEF}"/>
                  </a:ext>
                </a:extLst>
              </p:cNvPr>
              <p:cNvGrpSpPr/>
              <p:nvPr/>
            </p:nvGrpSpPr>
            <p:grpSpPr>
              <a:xfrm>
                <a:off x="6111218" y="5909646"/>
                <a:ext cx="370019" cy="468477"/>
                <a:chOff x="6111218" y="5909646"/>
                <a:chExt cx="370019" cy="468477"/>
              </a:xfrm>
              <a:noFill/>
            </p:grpSpPr>
            <p:sp>
              <p:nvSpPr>
                <p:cNvPr id="50" name="Freeform 49">
                  <a:extLst>
                    <a:ext uri="{FF2B5EF4-FFF2-40B4-BE49-F238E27FC236}">
                      <a16:creationId xmlns:a16="http://schemas.microsoft.com/office/drawing/2014/main" id="{006FA7FF-E66A-5022-84BF-F61355975030}"/>
                    </a:ext>
                  </a:extLst>
                </p:cNvPr>
                <p:cNvSpPr/>
                <p:nvPr/>
              </p:nvSpPr>
              <p:spPr>
                <a:xfrm>
                  <a:off x="6231070" y="5909646"/>
                  <a:ext cx="129364" cy="129235"/>
                </a:xfrm>
                <a:custGeom>
                  <a:avLst/>
                  <a:gdLst>
                    <a:gd name="connsiteX0" fmla="*/ 129364 w 129364"/>
                    <a:gd name="connsiteY0" fmla="*/ 64617 h 129235"/>
                    <a:gd name="connsiteX1" fmla="*/ 64682 w 129364"/>
                    <a:gd name="connsiteY1" fmla="*/ 129235 h 129235"/>
                    <a:gd name="connsiteX2" fmla="*/ 0 w 129364"/>
                    <a:gd name="connsiteY2" fmla="*/ 64617 h 129235"/>
                    <a:gd name="connsiteX3" fmla="*/ 64682 w 129364"/>
                    <a:gd name="connsiteY3" fmla="*/ 0 h 129235"/>
                    <a:gd name="connsiteX4" fmla="*/ 129364 w 129364"/>
                    <a:gd name="connsiteY4" fmla="*/ 64617 h 129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364" h="129235">
                      <a:moveTo>
                        <a:pt x="129364" y="64617"/>
                      </a:moveTo>
                      <a:cubicBezTo>
                        <a:pt x="129364" y="99777"/>
                        <a:pt x="100828" y="129235"/>
                        <a:pt x="64682" y="129235"/>
                      </a:cubicBezTo>
                      <a:cubicBezTo>
                        <a:pt x="28536" y="129235"/>
                        <a:pt x="0" y="100727"/>
                        <a:pt x="0" y="64617"/>
                      </a:cubicBezTo>
                      <a:cubicBezTo>
                        <a:pt x="0" y="28508"/>
                        <a:pt x="28536" y="0"/>
                        <a:pt x="64682" y="0"/>
                      </a:cubicBezTo>
                      <a:cubicBezTo>
                        <a:pt x="100828" y="0"/>
                        <a:pt x="129364" y="28508"/>
                        <a:pt x="129364" y="64617"/>
                      </a:cubicBezTo>
                      <a:close/>
                    </a:path>
                  </a:pathLst>
                </a:custGeom>
                <a:noFill/>
                <a:ln w="12700" cap="flat">
                  <a:solidFill>
                    <a:srgbClr val="F2F2F2"/>
                  </a:solidFill>
                  <a:prstDash val="solid"/>
                  <a:miter/>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51" name="Freeform 50">
                  <a:extLst>
                    <a:ext uri="{FF2B5EF4-FFF2-40B4-BE49-F238E27FC236}">
                      <a16:creationId xmlns:a16="http://schemas.microsoft.com/office/drawing/2014/main" id="{AB2A20B5-BE89-F762-5B72-5C04E25C8F40}"/>
                    </a:ext>
                  </a:extLst>
                </p:cNvPr>
                <p:cNvSpPr/>
                <p:nvPr/>
              </p:nvSpPr>
              <p:spPr>
                <a:xfrm>
                  <a:off x="6295752" y="6093996"/>
                  <a:ext cx="9512" cy="110230"/>
                </a:xfrm>
                <a:custGeom>
                  <a:avLst/>
                  <a:gdLst>
                    <a:gd name="connsiteX0" fmla="*/ 0 w 9512"/>
                    <a:gd name="connsiteY0" fmla="*/ 0 h 110230"/>
                    <a:gd name="connsiteX1" fmla="*/ 0 w 9512"/>
                    <a:gd name="connsiteY1" fmla="*/ 110230 h 110230"/>
                  </a:gdLst>
                  <a:ahLst/>
                  <a:cxnLst>
                    <a:cxn ang="0">
                      <a:pos x="connsiteX0" y="connsiteY0"/>
                    </a:cxn>
                    <a:cxn ang="0">
                      <a:pos x="connsiteX1" y="connsiteY1"/>
                    </a:cxn>
                  </a:cxnLst>
                  <a:rect l="l" t="t" r="r" b="b"/>
                  <a:pathLst>
                    <a:path w="9512" h="110230">
                      <a:moveTo>
                        <a:pt x="0" y="0"/>
                      </a:moveTo>
                      <a:lnTo>
                        <a:pt x="0" y="110230"/>
                      </a:lnTo>
                    </a:path>
                  </a:pathLst>
                </a:custGeom>
                <a:ln w="12700" cap="flat">
                  <a:solidFill>
                    <a:srgbClr val="F2F2F2"/>
                  </a:solidFill>
                  <a:prstDash val="solid"/>
                  <a:miter/>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52" name="Freeform 51">
                  <a:extLst>
                    <a:ext uri="{FF2B5EF4-FFF2-40B4-BE49-F238E27FC236}">
                      <a16:creationId xmlns:a16="http://schemas.microsoft.com/office/drawing/2014/main" id="{72FDE6C4-1E90-B788-3BF5-621BC92D8D27}"/>
                    </a:ext>
                  </a:extLst>
                </p:cNvPr>
                <p:cNvSpPr/>
                <p:nvPr/>
              </p:nvSpPr>
              <p:spPr>
                <a:xfrm>
                  <a:off x="6399434" y="6224182"/>
                  <a:ext cx="9512" cy="153941"/>
                </a:xfrm>
                <a:custGeom>
                  <a:avLst/>
                  <a:gdLst>
                    <a:gd name="connsiteX0" fmla="*/ 0 w 9512"/>
                    <a:gd name="connsiteY0" fmla="*/ 153942 h 153941"/>
                    <a:gd name="connsiteX1" fmla="*/ 0 w 9512"/>
                    <a:gd name="connsiteY1" fmla="*/ 0 h 153941"/>
                  </a:gdLst>
                  <a:ahLst/>
                  <a:cxnLst>
                    <a:cxn ang="0">
                      <a:pos x="connsiteX0" y="connsiteY0"/>
                    </a:cxn>
                    <a:cxn ang="0">
                      <a:pos x="connsiteX1" y="connsiteY1"/>
                    </a:cxn>
                  </a:cxnLst>
                  <a:rect l="l" t="t" r="r" b="b"/>
                  <a:pathLst>
                    <a:path w="9512" h="153941">
                      <a:moveTo>
                        <a:pt x="0" y="153942"/>
                      </a:moveTo>
                      <a:lnTo>
                        <a:pt x="0" y="0"/>
                      </a:lnTo>
                    </a:path>
                  </a:pathLst>
                </a:custGeom>
                <a:ln w="12700" cap="flat">
                  <a:solidFill>
                    <a:srgbClr val="F2F2F2"/>
                  </a:solidFill>
                  <a:prstDash val="solid"/>
                  <a:miter/>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53" name="Freeform 52">
                  <a:extLst>
                    <a:ext uri="{FF2B5EF4-FFF2-40B4-BE49-F238E27FC236}">
                      <a16:creationId xmlns:a16="http://schemas.microsoft.com/office/drawing/2014/main" id="{686B5C01-B2C2-8CCB-CC64-DDC531C45ADB}"/>
                    </a:ext>
                  </a:extLst>
                </p:cNvPr>
                <p:cNvSpPr/>
                <p:nvPr/>
              </p:nvSpPr>
              <p:spPr>
                <a:xfrm>
                  <a:off x="6193022" y="6224182"/>
                  <a:ext cx="9512" cy="153941"/>
                </a:xfrm>
                <a:custGeom>
                  <a:avLst/>
                  <a:gdLst>
                    <a:gd name="connsiteX0" fmla="*/ 0 w 9512"/>
                    <a:gd name="connsiteY0" fmla="*/ 0 h 153941"/>
                    <a:gd name="connsiteX1" fmla="*/ 0 w 9512"/>
                    <a:gd name="connsiteY1" fmla="*/ 153942 h 153941"/>
                  </a:gdLst>
                  <a:ahLst/>
                  <a:cxnLst>
                    <a:cxn ang="0">
                      <a:pos x="connsiteX0" y="connsiteY0"/>
                    </a:cxn>
                    <a:cxn ang="0">
                      <a:pos x="connsiteX1" y="connsiteY1"/>
                    </a:cxn>
                  </a:cxnLst>
                  <a:rect l="l" t="t" r="r" b="b"/>
                  <a:pathLst>
                    <a:path w="9512" h="153941">
                      <a:moveTo>
                        <a:pt x="0" y="0"/>
                      </a:moveTo>
                      <a:lnTo>
                        <a:pt x="0" y="153942"/>
                      </a:lnTo>
                    </a:path>
                  </a:pathLst>
                </a:custGeom>
                <a:ln w="12700" cap="flat">
                  <a:solidFill>
                    <a:srgbClr val="F2F2F2"/>
                  </a:solidFill>
                  <a:prstDash val="solid"/>
                  <a:miter/>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54" name="Freeform 53">
                  <a:extLst>
                    <a:ext uri="{FF2B5EF4-FFF2-40B4-BE49-F238E27FC236}">
                      <a16:creationId xmlns:a16="http://schemas.microsoft.com/office/drawing/2014/main" id="{31ADAC50-3D8F-0331-D7DE-B7DF9A81ECEF}"/>
                    </a:ext>
                  </a:extLst>
                </p:cNvPr>
                <p:cNvSpPr/>
                <p:nvPr/>
              </p:nvSpPr>
              <p:spPr>
                <a:xfrm>
                  <a:off x="6111218" y="6093996"/>
                  <a:ext cx="297727" cy="195753"/>
                </a:xfrm>
                <a:custGeom>
                  <a:avLst/>
                  <a:gdLst>
                    <a:gd name="connsiteX0" fmla="*/ 0 w 297727"/>
                    <a:gd name="connsiteY0" fmla="*/ 195753 h 195753"/>
                    <a:gd name="connsiteX1" fmla="*/ 0 w 297727"/>
                    <a:gd name="connsiteY1" fmla="*/ 85523 h 195753"/>
                    <a:gd name="connsiteX2" fmla="*/ 72292 w 297727"/>
                    <a:gd name="connsiteY2" fmla="*/ 0 h 195753"/>
                    <a:gd name="connsiteX3" fmla="*/ 297728 w 297727"/>
                    <a:gd name="connsiteY3" fmla="*/ 0 h 195753"/>
                  </a:gdLst>
                  <a:ahLst/>
                  <a:cxnLst>
                    <a:cxn ang="0">
                      <a:pos x="connsiteX0" y="connsiteY0"/>
                    </a:cxn>
                    <a:cxn ang="0">
                      <a:pos x="connsiteX1" y="connsiteY1"/>
                    </a:cxn>
                    <a:cxn ang="0">
                      <a:pos x="connsiteX2" y="connsiteY2"/>
                    </a:cxn>
                    <a:cxn ang="0">
                      <a:pos x="connsiteX3" y="connsiteY3"/>
                    </a:cxn>
                  </a:cxnLst>
                  <a:rect l="l" t="t" r="r" b="b"/>
                  <a:pathLst>
                    <a:path w="297727" h="195753">
                      <a:moveTo>
                        <a:pt x="0" y="195753"/>
                      </a:moveTo>
                      <a:lnTo>
                        <a:pt x="0" y="85523"/>
                      </a:lnTo>
                      <a:cubicBezTo>
                        <a:pt x="0" y="38010"/>
                        <a:pt x="25682" y="0"/>
                        <a:pt x="72292" y="0"/>
                      </a:cubicBezTo>
                      <a:lnTo>
                        <a:pt x="297728" y="0"/>
                      </a:lnTo>
                    </a:path>
                  </a:pathLst>
                </a:custGeom>
                <a:noFill/>
                <a:ln w="12700" cap="flat">
                  <a:solidFill>
                    <a:srgbClr val="F2F2F2"/>
                  </a:solidFill>
                  <a:prstDash val="solid"/>
                  <a:miter/>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55" name="Freeform 54">
                  <a:extLst>
                    <a:ext uri="{FF2B5EF4-FFF2-40B4-BE49-F238E27FC236}">
                      <a16:creationId xmlns:a16="http://schemas.microsoft.com/office/drawing/2014/main" id="{86FA3A15-553A-7CF9-DE41-0C173680E163}"/>
                    </a:ext>
                  </a:extLst>
                </p:cNvPr>
                <p:cNvSpPr/>
                <p:nvPr/>
              </p:nvSpPr>
              <p:spPr>
                <a:xfrm>
                  <a:off x="6408946" y="6093996"/>
                  <a:ext cx="72291" cy="284127"/>
                </a:xfrm>
                <a:custGeom>
                  <a:avLst/>
                  <a:gdLst>
                    <a:gd name="connsiteX0" fmla="*/ 0 w 72291"/>
                    <a:gd name="connsiteY0" fmla="*/ 0 h 284127"/>
                    <a:gd name="connsiteX1" fmla="*/ 0 w 72291"/>
                    <a:gd name="connsiteY1" fmla="*/ 0 h 284127"/>
                    <a:gd name="connsiteX2" fmla="*/ 72292 w 72291"/>
                    <a:gd name="connsiteY2" fmla="*/ 85523 h 284127"/>
                    <a:gd name="connsiteX3" fmla="*/ 72292 w 72291"/>
                    <a:gd name="connsiteY3" fmla="*/ 284127 h 284127"/>
                  </a:gdLst>
                  <a:ahLst/>
                  <a:cxnLst>
                    <a:cxn ang="0">
                      <a:pos x="connsiteX0" y="connsiteY0"/>
                    </a:cxn>
                    <a:cxn ang="0">
                      <a:pos x="connsiteX1" y="connsiteY1"/>
                    </a:cxn>
                    <a:cxn ang="0">
                      <a:pos x="connsiteX2" y="connsiteY2"/>
                    </a:cxn>
                    <a:cxn ang="0">
                      <a:pos x="connsiteX3" y="connsiteY3"/>
                    </a:cxn>
                  </a:cxnLst>
                  <a:rect l="l" t="t" r="r" b="b"/>
                  <a:pathLst>
                    <a:path w="72291" h="284127">
                      <a:moveTo>
                        <a:pt x="0" y="0"/>
                      </a:moveTo>
                      <a:lnTo>
                        <a:pt x="0" y="0"/>
                      </a:lnTo>
                      <a:cubicBezTo>
                        <a:pt x="47560" y="0"/>
                        <a:pt x="72292" y="38010"/>
                        <a:pt x="72292" y="85523"/>
                      </a:cubicBezTo>
                      <a:lnTo>
                        <a:pt x="72292" y="284127"/>
                      </a:lnTo>
                    </a:path>
                  </a:pathLst>
                </a:custGeom>
                <a:noFill/>
                <a:ln w="12700" cap="flat">
                  <a:solidFill>
                    <a:srgbClr val="F2F2F2"/>
                  </a:solidFill>
                  <a:prstDash val="solid"/>
                  <a:miter/>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grpSp>
          <p:sp>
            <p:nvSpPr>
              <p:cNvPr id="44" name="Freeform 43">
                <a:extLst>
                  <a:ext uri="{FF2B5EF4-FFF2-40B4-BE49-F238E27FC236}">
                    <a16:creationId xmlns:a16="http://schemas.microsoft.com/office/drawing/2014/main" id="{D662824C-2ED9-8F2F-66FE-4DFE341E9A4C}"/>
                  </a:ext>
                </a:extLst>
              </p:cNvPr>
              <p:cNvSpPr/>
              <p:nvPr/>
            </p:nvSpPr>
            <p:spPr>
              <a:xfrm>
                <a:off x="5539542" y="5367048"/>
                <a:ext cx="772380" cy="399108"/>
              </a:xfrm>
              <a:custGeom>
                <a:avLst/>
                <a:gdLst>
                  <a:gd name="connsiteX0" fmla="*/ 0 w 772380"/>
                  <a:gd name="connsiteY0" fmla="*/ 0 h 399108"/>
                  <a:gd name="connsiteX1" fmla="*/ 772381 w 772380"/>
                  <a:gd name="connsiteY1" fmla="*/ 0 h 399108"/>
                  <a:gd name="connsiteX2" fmla="*/ 772381 w 772380"/>
                  <a:gd name="connsiteY2" fmla="*/ 399109 h 399108"/>
                  <a:gd name="connsiteX3" fmla="*/ 0 w 772380"/>
                  <a:gd name="connsiteY3" fmla="*/ 399109 h 399108"/>
                </a:gdLst>
                <a:ahLst/>
                <a:cxnLst>
                  <a:cxn ang="0">
                    <a:pos x="connsiteX0" y="connsiteY0"/>
                  </a:cxn>
                  <a:cxn ang="0">
                    <a:pos x="connsiteX1" y="connsiteY1"/>
                  </a:cxn>
                  <a:cxn ang="0">
                    <a:pos x="connsiteX2" y="connsiteY2"/>
                  </a:cxn>
                  <a:cxn ang="0">
                    <a:pos x="connsiteX3" y="connsiteY3"/>
                  </a:cxn>
                </a:cxnLst>
                <a:rect l="l" t="t" r="r" b="b"/>
                <a:pathLst>
                  <a:path w="772380" h="399108">
                    <a:moveTo>
                      <a:pt x="0" y="0"/>
                    </a:moveTo>
                    <a:lnTo>
                      <a:pt x="772381" y="0"/>
                    </a:lnTo>
                    <a:lnTo>
                      <a:pt x="772381" y="399109"/>
                    </a:lnTo>
                    <a:lnTo>
                      <a:pt x="0" y="399109"/>
                    </a:lnTo>
                    <a:close/>
                  </a:path>
                </a:pathLst>
              </a:custGeom>
              <a:noFill/>
              <a:ln w="12700" cap="rnd">
                <a:solidFill>
                  <a:srgbClr val="F2F2F2"/>
                </a:solidFill>
                <a:prstDash val="solid"/>
                <a:miter/>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45" name="Freeform 44">
                <a:extLst>
                  <a:ext uri="{FF2B5EF4-FFF2-40B4-BE49-F238E27FC236}">
                    <a16:creationId xmlns:a16="http://schemas.microsoft.com/office/drawing/2014/main" id="{A16F0B82-4F2B-0BEA-2C44-DC8C12F424DD}"/>
                  </a:ext>
                </a:extLst>
              </p:cNvPr>
              <p:cNvSpPr/>
              <p:nvPr/>
            </p:nvSpPr>
            <p:spPr>
              <a:xfrm>
                <a:off x="5501494" y="5298630"/>
                <a:ext cx="848477" cy="68418"/>
              </a:xfrm>
              <a:custGeom>
                <a:avLst/>
                <a:gdLst>
                  <a:gd name="connsiteX0" fmla="*/ 819941 w 848477"/>
                  <a:gd name="connsiteY0" fmla="*/ 68419 h 68418"/>
                  <a:gd name="connsiteX1" fmla="*/ 28536 w 848477"/>
                  <a:gd name="connsiteY1" fmla="*/ 68419 h 68418"/>
                  <a:gd name="connsiteX2" fmla="*/ 0 w 848477"/>
                  <a:gd name="connsiteY2" fmla="*/ 34209 h 68418"/>
                  <a:gd name="connsiteX3" fmla="*/ 0 w 848477"/>
                  <a:gd name="connsiteY3" fmla="*/ 34209 h 68418"/>
                  <a:gd name="connsiteX4" fmla="*/ 28536 w 848477"/>
                  <a:gd name="connsiteY4" fmla="*/ 0 h 68418"/>
                  <a:gd name="connsiteX5" fmla="*/ 819941 w 848477"/>
                  <a:gd name="connsiteY5" fmla="*/ 0 h 68418"/>
                  <a:gd name="connsiteX6" fmla="*/ 848477 w 848477"/>
                  <a:gd name="connsiteY6" fmla="*/ 34209 h 68418"/>
                  <a:gd name="connsiteX7" fmla="*/ 848477 w 848477"/>
                  <a:gd name="connsiteY7" fmla="*/ 34209 h 68418"/>
                  <a:gd name="connsiteX8" fmla="*/ 819941 w 848477"/>
                  <a:gd name="connsiteY8" fmla="*/ 68419 h 68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8477" h="68418">
                    <a:moveTo>
                      <a:pt x="819941" y="68419"/>
                    </a:moveTo>
                    <a:lnTo>
                      <a:pt x="28536" y="68419"/>
                    </a:lnTo>
                    <a:cubicBezTo>
                      <a:pt x="12366" y="68419"/>
                      <a:pt x="0" y="53214"/>
                      <a:pt x="0" y="34209"/>
                    </a:cubicBezTo>
                    <a:lnTo>
                      <a:pt x="0" y="34209"/>
                    </a:lnTo>
                    <a:cubicBezTo>
                      <a:pt x="0" y="15204"/>
                      <a:pt x="12366" y="0"/>
                      <a:pt x="28536" y="0"/>
                    </a:cubicBezTo>
                    <a:lnTo>
                      <a:pt x="819941" y="0"/>
                    </a:lnTo>
                    <a:cubicBezTo>
                      <a:pt x="835160" y="0"/>
                      <a:pt x="848477" y="15204"/>
                      <a:pt x="848477" y="34209"/>
                    </a:cubicBezTo>
                    <a:lnTo>
                      <a:pt x="848477" y="34209"/>
                    </a:lnTo>
                    <a:cubicBezTo>
                      <a:pt x="848477" y="53214"/>
                      <a:pt x="836111" y="68419"/>
                      <a:pt x="819941" y="68419"/>
                    </a:cubicBezTo>
                    <a:close/>
                  </a:path>
                </a:pathLst>
              </a:custGeom>
              <a:noFill/>
              <a:ln w="12700" cap="rnd">
                <a:solidFill>
                  <a:srgbClr val="F2F2F2"/>
                </a:solidFill>
                <a:prstDash val="solid"/>
                <a:miter/>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46" name="Freeform 45">
                <a:extLst>
                  <a:ext uri="{FF2B5EF4-FFF2-40B4-BE49-F238E27FC236}">
                    <a16:creationId xmlns:a16="http://schemas.microsoft.com/office/drawing/2014/main" id="{E29A49FB-B754-1E7D-C515-D6F9302DE278}"/>
                  </a:ext>
                </a:extLst>
              </p:cNvPr>
              <p:cNvSpPr/>
              <p:nvPr/>
            </p:nvSpPr>
            <p:spPr>
              <a:xfrm>
                <a:off x="5956171" y="5767107"/>
                <a:ext cx="9512" cy="70319"/>
              </a:xfrm>
              <a:custGeom>
                <a:avLst/>
                <a:gdLst>
                  <a:gd name="connsiteX0" fmla="*/ 0 w 9512"/>
                  <a:gd name="connsiteY0" fmla="*/ 0 h 70319"/>
                  <a:gd name="connsiteX1" fmla="*/ 0 w 9512"/>
                  <a:gd name="connsiteY1" fmla="*/ 70319 h 70319"/>
                </a:gdLst>
                <a:ahLst/>
                <a:cxnLst>
                  <a:cxn ang="0">
                    <a:pos x="connsiteX0" y="connsiteY0"/>
                  </a:cxn>
                  <a:cxn ang="0">
                    <a:pos x="connsiteX1" y="connsiteY1"/>
                  </a:cxn>
                </a:cxnLst>
                <a:rect l="l" t="t" r="r" b="b"/>
                <a:pathLst>
                  <a:path w="9512" h="70319">
                    <a:moveTo>
                      <a:pt x="0" y="0"/>
                    </a:moveTo>
                    <a:lnTo>
                      <a:pt x="0" y="70319"/>
                    </a:lnTo>
                  </a:path>
                </a:pathLst>
              </a:custGeom>
              <a:ln w="12700" cap="rnd">
                <a:solidFill>
                  <a:srgbClr val="F2F2F2"/>
                </a:solidFill>
                <a:prstDash val="solid"/>
                <a:miter/>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47" name="Freeform 46">
                <a:extLst>
                  <a:ext uri="{FF2B5EF4-FFF2-40B4-BE49-F238E27FC236}">
                    <a16:creationId xmlns:a16="http://schemas.microsoft.com/office/drawing/2014/main" id="{D3922AA0-EE50-0D92-2322-E9FD81508EAC}"/>
                  </a:ext>
                </a:extLst>
              </p:cNvPr>
              <p:cNvSpPr/>
              <p:nvPr/>
            </p:nvSpPr>
            <p:spPr>
              <a:xfrm>
                <a:off x="5895294" y="5767107"/>
                <a:ext cx="9512" cy="70319"/>
              </a:xfrm>
              <a:custGeom>
                <a:avLst/>
                <a:gdLst>
                  <a:gd name="connsiteX0" fmla="*/ 0 w 9512"/>
                  <a:gd name="connsiteY0" fmla="*/ 70319 h 70319"/>
                  <a:gd name="connsiteX1" fmla="*/ 0 w 9512"/>
                  <a:gd name="connsiteY1" fmla="*/ 0 h 70319"/>
                </a:gdLst>
                <a:ahLst/>
                <a:cxnLst>
                  <a:cxn ang="0">
                    <a:pos x="connsiteX0" y="connsiteY0"/>
                  </a:cxn>
                  <a:cxn ang="0">
                    <a:pos x="connsiteX1" y="connsiteY1"/>
                  </a:cxn>
                </a:cxnLst>
                <a:rect l="l" t="t" r="r" b="b"/>
                <a:pathLst>
                  <a:path w="9512" h="70319">
                    <a:moveTo>
                      <a:pt x="0" y="70319"/>
                    </a:moveTo>
                    <a:lnTo>
                      <a:pt x="0" y="0"/>
                    </a:lnTo>
                  </a:path>
                </a:pathLst>
              </a:custGeom>
              <a:ln w="12700" cap="rnd">
                <a:solidFill>
                  <a:srgbClr val="F2F2F2"/>
                </a:solidFill>
                <a:prstDash val="solid"/>
                <a:miter/>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48" name="Freeform 47">
                <a:extLst>
                  <a:ext uri="{FF2B5EF4-FFF2-40B4-BE49-F238E27FC236}">
                    <a16:creationId xmlns:a16="http://schemas.microsoft.com/office/drawing/2014/main" id="{77B3AEC6-743A-C0AB-8C38-2FC2B068E2C5}"/>
                  </a:ext>
                </a:extLst>
              </p:cNvPr>
              <p:cNvSpPr/>
              <p:nvPr/>
            </p:nvSpPr>
            <p:spPr>
              <a:xfrm>
                <a:off x="5452031" y="6378124"/>
                <a:ext cx="947402" cy="9502"/>
              </a:xfrm>
              <a:custGeom>
                <a:avLst/>
                <a:gdLst>
                  <a:gd name="connsiteX0" fmla="*/ 0 w 947402"/>
                  <a:gd name="connsiteY0" fmla="*/ 0 h 9502"/>
                  <a:gd name="connsiteX1" fmla="*/ 947403 w 947402"/>
                  <a:gd name="connsiteY1" fmla="*/ 0 h 9502"/>
                </a:gdLst>
                <a:ahLst/>
                <a:cxnLst>
                  <a:cxn ang="0">
                    <a:pos x="connsiteX0" y="connsiteY0"/>
                  </a:cxn>
                  <a:cxn ang="0">
                    <a:pos x="connsiteX1" y="connsiteY1"/>
                  </a:cxn>
                </a:cxnLst>
                <a:rect l="l" t="t" r="r" b="b"/>
                <a:pathLst>
                  <a:path w="947402" h="9502">
                    <a:moveTo>
                      <a:pt x="0" y="0"/>
                    </a:moveTo>
                    <a:lnTo>
                      <a:pt x="947403" y="0"/>
                    </a:lnTo>
                  </a:path>
                </a:pathLst>
              </a:custGeom>
              <a:ln w="12700" cap="rnd">
                <a:solidFill>
                  <a:srgbClr val="F2F2F2"/>
                </a:solidFill>
                <a:prstDash val="solid"/>
                <a:miter/>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49" name="Freeform 48">
                <a:extLst>
                  <a:ext uri="{FF2B5EF4-FFF2-40B4-BE49-F238E27FC236}">
                    <a16:creationId xmlns:a16="http://schemas.microsoft.com/office/drawing/2014/main" id="{DF657989-F14F-3D22-1DB1-866A175E23BE}"/>
                  </a:ext>
                </a:extLst>
              </p:cNvPr>
              <p:cNvSpPr/>
              <p:nvPr/>
            </p:nvSpPr>
            <p:spPr>
              <a:xfrm>
                <a:off x="5673663" y="5477278"/>
                <a:ext cx="504140" cy="169145"/>
              </a:xfrm>
              <a:custGeom>
                <a:avLst/>
                <a:gdLst>
                  <a:gd name="connsiteX0" fmla="*/ 0 w 504140"/>
                  <a:gd name="connsiteY0" fmla="*/ 169146 h 169145"/>
                  <a:gd name="connsiteX1" fmla="*/ 138876 w 504140"/>
                  <a:gd name="connsiteY1" fmla="*/ 63667 h 169145"/>
                  <a:gd name="connsiteX2" fmla="*/ 204510 w 504140"/>
                  <a:gd name="connsiteY2" fmla="*/ 130185 h 169145"/>
                  <a:gd name="connsiteX3" fmla="*/ 314850 w 504140"/>
                  <a:gd name="connsiteY3" fmla="*/ 43712 h 169145"/>
                  <a:gd name="connsiteX4" fmla="*/ 370020 w 504140"/>
                  <a:gd name="connsiteY4" fmla="*/ 99777 h 169145"/>
                  <a:gd name="connsiteX5" fmla="*/ 504140 w 504140"/>
                  <a:gd name="connsiteY5" fmla="*/ 0 h 169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140" h="169145">
                    <a:moveTo>
                      <a:pt x="0" y="169146"/>
                    </a:moveTo>
                    <a:lnTo>
                      <a:pt x="138876" y="63667"/>
                    </a:lnTo>
                    <a:lnTo>
                      <a:pt x="204510" y="130185"/>
                    </a:lnTo>
                    <a:lnTo>
                      <a:pt x="314850" y="43712"/>
                    </a:lnTo>
                    <a:lnTo>
                      <a:pt x="370020" y="99777"/>
                    </a:lnTo>
                    <a:lnTo>
                      <a:pt x="504140" y="0"/>
                    </a:lnTo>
                  </a:path>
                </a:pathLst>
              </a:custGeom>
              <a:noFill/>
              <a:ln w="12700" cap="rnd">
                <a:solidFill>
                  <a:srgbClr val="F2F2F2"/>
                </a:solidFill>
                <a:prstDash val="solid"/>
                <a:miter/>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grpSp>
      </p:grpSp>
      <p:grpSp>
        <p:nvGrpSpPr>
          <p:cNvPr id="68" name="Group 67">
            <a:extLst>
              <a:ext uri="{FF2B5EF4-FFF2-40B4-BE49-F238E27FC236}">
                <a16:creationId xmlns:a16="http://schemas.microsoft.com/office/drawing/2014/main" id="{82E3C366-1D19-DC57-5AB3-252B40706684}"/>
              </a:ext>
            </a:extLst>
          </p:cNvPr>
          <p:cNvGrpSpPr/>
          <p:nvPr/>
        </p:nvGrpSpPr>
        <p:grpSpPr>
          <a:xfrm>
            <a:off x="10345891" y="1613925"/>
            <a:ext cx="687029" cy="687029"/>
            <a:chOff x="9517103" y="1331707"/>
            <a:chExt cx="687029" cy="687029"/>
          </a:xfrm>
        </p:grpSpPr>
        <p:sp>
          <p:nvSpPr>
            <p:cNvPr id="69" name="Oval 68">
              <a:extLst>
                <a:ext uri="{FF2B5EF4-FFF2-40B4-BE49-F238E27FC236}">
                  <a16:creationId xmlns:a16="http://schemas.microsoft.com/office/drawing/2014/main" id="{C3A413FE-A56E-0B24-B856-41F644270515}"/>
                </a:ext>
              </a:extLst>
            </p:cNvPr>
            <p:cNvSpPr/>
            <p:nvPr/>
          </p:nvSpPr>
          <p:spPr>
            <a:xfrm>
              <a:off x="9517103" y="1331707"/>
              <a:ext cx="687029" cy="687029"/>
            </a:xfrm>
            <a:prstGeom prst="ellipse">
              <a:avLst/>
            </a:prstGeom>
            <a:solidFill>
              <a:schemeClr val="accent1"/>
            </a:solidFill>
            <a:ln w="2540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a:ln>
                  <a:noFill/>
                </a:ln>
                <a:solidFill>
                  <a:srgbClr val="1D1D1D"/>
                </a:solidFill>
                <a:effectLst/>
                <a:uLnTx/>
                <a:uFillTx/>
                <a:latin typeface="Segoe UI" pitchFamily="34" charset="0"/>
                <a:ea typeface="+mn-ea"/>
                <a:cs typeface="+mn-cs"/>
              </a:endParaRPr>
            </a:p>
          </p:txBody>
        </p:sp>
        <p:grpSp>
          <p:nvGrpSpPr>
            <p:cNvPr id="70" name="Graphic 78">
              <a:extLst>
                <a:ext uri="{FF2B5EF4-FFF2-40B4-BE49-F238E27FC236}">
                  <a16:creationId xmlns:a16="http://schemas.microsoft.com/office/drawing/2014/main" id="{5F4627D9-A141-D389-69AA-8387FE5A33E9}"/>
                </a:ext>
              </a:extLst>
            </p:cNvPr>
            <p:cNvGrpSpPr/>
            <p:nvPr/>
          </p:nvGrpSpPr>
          <p:grpSpPr>
            <a:xfrm>
              <a:off x="9594228" y="1442755"/>
              <a:ext cx="485145" cy="507199"/>
              <a:chOff x="10583223" y="3165803"/>
              <a:chExt cx="609230" cy="636924"/>
            </a:xfrm>
            <a:noFill/>
          </p:grpSpPr>
          <p:sp>
            <p:nvSpPr>
              <p:cNvPr id="71" name="Freeform 70">
                <a:extLst>
                  <a:ext uri="{FF2B5EF4-FFF2-40B4-BE49-F238E27FC236}">
                    <a16:creationId xmlns:a16="http://schemas.microsoft.com/office/drawing/2014/main" id="{5C32051C-CAD1-21EF-0EE3-E92012785430}"/>
                  </a:ext>
                </a:extLst>
              </p:cNvPr>
              <p:cNvSpPr/>
              <p:nvPr/>
            </p:nvSpPr>
            <p:spPr>
              <a:xfrm>
                <a:off x="10583223" y="3165803"/>
                <a:ext cx="221538" cy="456923"/>
              </a:xfrm>
              <a:custGeom>
                <a:avLst/>
                <a:gdLst>
                  <a:gd name="connsiteX0" fmla="*/ 166154 w 221538"/>
                  <a:gd name="connsiteY0" fmla="*/ 221538 h 456923"/>
                  <a:gd name="connsiteX1" fmla="*/ 166154 w 221538"/>
                  <a:gd name="connsiteY1" fmla="*/ 138462 h 456923"/>
                  <a:gd name="connsiteX2" fmla="*/ 221538 w 221538"/>
                  <a:gd name="connsiteY2" fmla="*/ 138462 h 456923"/>
                  <a:gd name="connsiteX3" fmla="*/ 110769 w 221538"/>
                  <a:gd name="connsiteY3" fmla="*/ 0 h 456923"/>
                  <a:gd name="connsiteX4" fmla="*/ 0 w 221538"/>
                  <a:gd name="connsiteY4" fmla="*/ 138462 h 456923"/>
                  <a:gd name="connsiteX5" fmla="*/ 55385 w 221538"/>
                  <a:gd name="connsiteY5" fmla="*/ 138462 h 456923"/>
                  <a:gd name="connsiteX6" fmla="*/ 55385 w 221538"/>
                  <a:gd name="connsiteY6" fmla="*/ 456923 h 456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1538" h="456923">
                    <a:moveTo>
                      <a:pt x="166154" y="221538"/>
                    </a:moveTo>
                    <a:lnTo>
                      <a:pt x="166154" y="138462"/>
                    </a:lnTo>
                    <a:lnTo>
                      <a:pt x="221538" y="138462"/>
                    </a:lnTo>
                    <a:lnTo>
                      <a:pt x="110769" y="0"/>
                    </a:lnTo>
                    <a:lnTo>
                      <a:pt x="0" y="138462"/>
                    </a:lnTo>
                    <a:lnTo>
                      <a:pt x="55385" y="138462"/>
                    </a:lnTo>
                    <a:lnTo>
                      <a:pt x="55385" y="456923"/>
                    </a:lnTo>
                  </a:path>
                </a:pathLst>
              </a:custGeom>
              <a:noFill/>
              <a:ln w="19050" cap="rnd">
                <a:solidFill>
                  <a:srgbClr val="FFFFFF"/>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sysClr val="windowText" lastClr="000000"/>
                  </a:solidFill>
                  <a:effectLst/>
                  <a:uLnTx/>
                  <a:uFillTx/>
                  <a:latin typeface="Arial" pitchFamily="34" charset="0"/>
                  <a:ea typeface="+mn-ea"/>
                  <a:cs typeface="+mn-cs"/>
                </a:endParaRPr>
              </a:p>
            </p:txBody>
          </p:sp>
          <p:sp>
            <p:nvSpPr>
              <p:cNvPr id="72" name="Freeform 71">
                <a:extLst>
                  <a:ext uri="{FF2B5EF4-FFF2-40B4-BE49-F238E27FC236}">
                    <a16:creationId xmlns:a16="http://schemas.microsoft.com/office/drawing/2014/main" id="{D556F0C0-C350-8D46-CAE4-CF3F0A134AD4}"/>
                  </a:ext>
                </a:extLst>
              </p:cNvPr>
              <p:cNvSpPr/>
              <p:nvPr/>
            </p:nvSpPr>
            <p:spPr>
              <a:xfrm>
                <a:off x="10984761" y="3165803"/>
                <a:ext cx="193846" cy="276923"/>
              </a:xfrm>
              <a:custGeom>
                <a:avLst/>
                <a:gdLst>
                  <a:gd name="connsiteX0" fmla="*/ 152308 w 193846"/>
                  <a:gd name="connsiteY0" fmla="*/ 276923 h 276923"/>
                  <a:gd name="connsiteX1" fmla="*/ 152308 w 193846"/>
                  <a:gd name="connsiteY1" fmla="*/ 138462 h 276923"/>
                  <a:gd name="connsiteX2" fmla="*/ 193846 w 193846"/>
                  <a:gd name="connsiteY2" fmla="*/ 138462 h 276923"/>
                  <a:gd name="connsiteX3" fmla="*/ 96923 w 193846"/>
                  <a:gd name="connsiteY3" fmla="*/ 0 h 276923"/>
                  <a:gd name="connsiteX4" fmla="*/ 0 w 193846"/>
                  <a:gd name="connsiteY4" fmla="*/ 138462 h 276923"/>
                  <a:gd name="connsiteX5" fmla="*/ 41538 w 193846"/>
                  <a:gd name="connsiteY5" fmla="*/ 138462 h 276923"/>
                  <a:gd name="connsiteX6" fmla="*/ 41538 w 193846"/>
                  <a:gd name="connsiteY6" fmla="*/ 207692 h 276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846" h="276923">
                    <a:moveTo>
                      <a:pt x="152308" y="276923"/>
                    </a:moveTo>
                    <a:lnTo>
                      <a:pt x="152308" y="138462"/>
                    </a:lnTo>
                    <a:lnTo>
                      <a:pt x="193846" y="138462"/>
                    </a:lnTo>
                    <a:lnTo>
                      <a:pt x="96923" y="0"/>
                    </a:lnTo>
                    <a:lnTo>
                      <a:pt x="0" y="138462"/>
                    </a:lnTo>
                    <a:lnTo>
                      <a:pt x="41538" y="138462"/>
                    </a:lnTo>
                    <a:lnTo>
                      <a:pt x="41538" y="207692"/>
                    </a:lnTo>
                  </a:path>
                </a:pathLst>
              </a:custGeom>
              <a:noFill/>
              <a:ln w="19050" cap="rnd">
                <a:solidFill>
                  <a:srgbClr val="FFFFFF"/>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73" name="Freeform 72">
                <a:extLst>
                  <a:ext uri="{FF2B5EF4-FFF2-40B4-BE49-F238E27FC236}">
                    <a16:creationId xmlns:a16="http://schemas.microsoft.com/office/drawing/2014/main" id="{46F3894E-6563-1673-1C6A-21D7A089FF5E}"/>
                  </a:ext>
                </a:extLst>
              </p:cNvPr>
              <p:cNvSpPr/>
              <p:nvPr/>
            </p:nvSpPr>
            <p:spPr>
              <a:xfrm>
                <a:off x="10777069" y="3304265"/>
                <a:ext cx="221538" cy="456923"/>
              </a:xfrm>
              <a:custGeom>
                <a:avLst/>
                <a:gdLst>
                  <a:gd name="connsiteX0" fmla="*/ 166154 w 221538"/>
                  <a:gd name="connsiteY0" fmla="*/ 221538 h 456923"/>
                  <a:gd name="connsiteX1" fmla="*/ 166154 w 221538"/>
                  <a:gd name="connsiteY1" fmla="*/ 138462 h 456923"/>
                  <a:gd name="connsiteX2" fmla="*/ 221538 w 221538"/>
                  <a:gd name="connsiteY2" fmla="*/ 138462 h 456923"/>
                  <a:gd name="connsiteX3" fmla="*/ 110769 w 221538"/>
                  <a:gd name="connsiteY3" fmla="*/ 0 h 456923"/>
                  <a:gd name="connsiteX4" fmla="*/ 0 w 221538"/>
                  <a:gd name="connsiteY4" fmla="*/ 138462 h 456923"/>
                  <a:gd name="connsiteX5" fmla="*/ 55385 w 221538"/>
                  <a:gd name="connsiteY5" fmla="*/ 138462 h 456923"/>
                  <a:gd name="connsiteX6" fmla="*/ 55385 w 221538"/>
                  <a:gd name="connsiteY6" fmla="*/ 456923 h 456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1538" h="456923">
                    <a:moveTo>
                      <a:pt x="166154" y="221538"/>
                    </a:moveTo>
                    <a:lnTo>
                      <a:pt x="166154" y="138462"/>
                    </a:lnTo>
                    <a:lnTo>
                      <a:pt x="221538" y="138462"/>
                    </a:lnTo>
                    <a:lnTo>
                      <a:pt x="110769" y="0"/>
                    </a:lnTo>
                    <a:lnTo>
                      <a:pt x="0" y="138462"/>
                    </a:lnTo>
                    <a:lnTo>
                      <a:pt x="55385" y="138462"/>
                    </a:lnTo>
                    <a:lnTo>
                      <a:pt x="55385" y="456923"/>
                    </a:lnTo>
                  </a:path>
                </a:pathLst>
              </a:custGeom>
              <a:noFill/>
              <a:ln w="19050" cap="rnd">
                <a:solidFill>
                  <a:srgbClr val="FFFFFF"/>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74" name="Freeform 73">
                <a:extLst>
                  <a:ext uri="{FF2B5EF4-FFF2-40B4-BE49-F238E27FC236}">
                    <a16:creationId xmlns:a16="http://schemas.microsoft.com/office/drawing/2014/main" id="{D6B4FCAA-50D4-B174-C86A-CF05CC7F7316}"/>
                  </a:ext>
                </a:extLst>
              </p:cNvPr>
              <p:cNvSpPr/>
              <p:nvPr/>
            </p:nvSpPr>
            <p:spPr>
              <a:xfrm>
                <a:off x="10970915" y="3442727"/>
                <a:ext cx="221538" cy="332307"/>
              </a:xfrm>
              <a:custGeom>
                <a:avLst/>
                <a:gdLst>
                  <a:gd name="connsiteX0" fmla="*/ 166154 w 221538"/>
                  <a:gd name="connsiteY0" fmla="*/ 332308 h 332307"/>
                  <a:gd name="connsiteX1" fmla="*/ 166154 w 221538"/>
                  <a:gd name="connsiteY1" fmla="*/ 138462 h 332307"/>
                  <a:gd name="connsiteX2" fmla="*/ 221538 w 221538"/>
                  <a:gd name="connsiteY2" fmla="*/ 138462 h 332307"/>
                  <a:gd name="connsiteX3" fmla="*/ 110769 w 221538"/>
                  <a:gd name="connsiteY3" fmla="*/ 0 h 332307"/>
                  <a:gd name="connsiteX4" fmla="*/ 0 w 221538"/>
                  <a:gd name="connsiteY4" fmla="*/ 138462 h 332307"/>
                  <a:gd name="connsiteX5" fmla="*/ 55385 w 221538"/>
                  <a:gd name="connsiteY5" fmla="*/ 138462 h 332307"/>
                  <a:gd name="connsiteX6" fmla="*/ 55385 w 221538"/>
                  <a:gd name="connsiteY6" fmla="*/ 221538 h 332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1538" h="332307">
                    <a:moveTo>
                      <a:pt x="166154" y="332308"/>
                    </a:moveTo>
                    <a:lnTo>
                      <a:pt x="166154" y="138462"/>
                    </a:lnTo>
                    <a:lnTo>
                      <a:pt x="221538" y="138462"/>
                    </a:lnTo>
                    <a:lnTo>
                      <a:pt x="110769" y="0"/>
                    </a:lnTo>
                    <a:lnTo>
                      <a:pt x="0" y="138462"/>
                    </a:lnTo>
                    <a:lnTo>
                      <a:pt x="55385" y="138462"/>
                    </a:lnTo>
                    <a:lnTo>
                      <a:pt x="55385" y="221538"/>
                    </a:lnTo>
                  </a:path>
                </a:pathLst>
              </a:custGeom>
              <a:noFill/>
              <a:ln w="19050" cap="rnd">
                <a:solidFill>
                  <a:srgbClr val="FFFFFF"/>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75" name="Freeform 74">
                <a:extLst>
                  <a:ext uri="{FF2B5EF4-FFF2-40B4-BE49-F238E27FC236}">
                    <a16:creationId xmlns:a16="http://schemas.microsoft.com/office/drawing/2014/main" id="{06B9DC4B-D224-5F44-3CEB-34D3B4C0B330}"/>
                  </a:ext>
                </a:extLst>
              </p:cNvPr>
              <p:cNvSpPr/>
              <p:nvPr/>
            </p:nvSpPr>
            <p:spPr>
              <a:xfrm>
                <a:off x="10707838" y="3525804"/>
                <a:ext cx="13846" cy="152307"/>
              </a:xfrm>
              <a:custGeom>
                <a:avLst/>
                <a:gdLst>
                  <a:gd name="connsiteX0" fmla="*/ 0 w 13846"/>
                  <a:gd name="connsiteY0" fmla="*/ 0 h 152307"/>
                  <a:gd name="connsiteX1" fmla="*/ 0 w 13846"/>
                  <a:gd name="connsiteY1" fmla="*/ 152308 h 152307"/>
                </a:gdLst>
                <a:ahLst/>
                <a:cxnLst>
                  <a:cxn ang="0">
                    <a:pos x="connsiteX0" y="connsiteY0"/>
                  </a:cxn>
                  <a:cxn ang="0">
                    <a:pos x="connsiteX1" y="connsiteY1"/>
                  </a:cxn>
                </a:cxnLst>
                <a:rect l="l" t="t" r="r" b="b"/>
                <a:pathLst>
                  <a:path w="13846" h="152307">
                    <a:moveTo>
                      <a:pt x="0" y="0"/>
                    </a:moveTo>
                    <a:lnTo>
                      <a:pt x="0" y="152308"/>
                    </a:lnTo>
                  </a:path>
                </a:pathLst>
              </a:custGeom>
              <a:ln w="19050" cap="rnd">
                <a:solidFill>
                  <a:srgbClr val="FFFFFF"/>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76" name="Freeform 75">
                <a:extLst>
                  <a:ext uri="{FF2B5EF4-FFF2-40B4-BE49-F238E27FC236}">
                    <a16:creationId xmlns:a16="http://schemas.microsoft.com/office/drawing/2014/main" id="{B637BA87-D288-85BF-0233-1BC5C361BDCC}"/>
                  </a:ext>
                </a:extLst>
              </p:cNvPr>
              <p:cNvSpPr/>
              <p:nvPr/>
            </p:nvSpPr>
            <p:spPr>
              <a:xfrm>
                <a:off x="10915531" y="3622727"/>
                <a:ext cx="13846" cy="180000"/>
              </a:xfrm>
              <a:custGeom>
                <a:avLst/>
                <a:gdLst>
                  <a:gd name="connsiteX0" fmla="*/ 0 w 13846"/>
                  <a:gd name="connsiteY0" fmla="*/ 0 h 180000"/>
                  <a:gd name="connsiteX1" fmla="*/ 0 w 13846"/>
                  <a:gd name="connsiteY1" fmla="*/ 180000 h 180000"/>
                </a:gdLst>
                <a:ahLst/>
                <a:cxnLst>
                  <a:cxn ang="0">
                    <a:pos x="connsiteX0" y="connsiteY0"/>
                  </a:cxn>
                  <a:cxn ang="0">
                    <a:pos x="connsiteX1" y="connsiteY1"/>
                  </a:cxn>
                </a:cxnLst>
                <a:rect l="l" t="t" r="r" b="b"/>
                <a:pathLst>
                  <a:path w="13846" h="180000">
                    <a:moveTo>
                      <a:pt x="0" y="0"/>
                    </a:moveTo>
                    <a:lnTo>
                      <a:pt x="0" y="180000"/>
                    </a:lnTo>
                  </a:path>
                </a:pathLst>
              </a:custGeom>
              <a:ln w="19050" cap="rnd">
                <a:solidFill>
                  <a:srgbClr val="FFFFFF"/>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grpSp>
      </p:grpSp>
      <p:grpSp>
        <p:nvGrpSpPr>
          <p:cNvPr id="77" name="Group 76">
            <a:extLst>
              <a:ext uri="{FF2B5EF4-FFF2-40B4-BE49-F238E27FC236}">
                <a16:creationId xmlns:a16="http://schemas.microsoft.com/office/drawing/2014/main" id="{65110756-B5AD-91C3-3874-07AA2E53D667}"/>
              </a:ext>
            </a:extLst>
          </p:cNvPr>
          <p:cNvGrpSpPr/>
          <p:nvPr/>
        </p:nvGrpSpPr>
        <p:grpSpPr>
          <a:xfrm>
            <a:off x="8055223" y="1609384"/>
            <a:ext cx="687029" cy="687029"/>
            <a:chOff x="7440304" y="1324558"/>
            <a:chExt cx="687029" cy="687029"/>
          </a:xfrm>
        </p:grpSpPr>
        <p:sp>
          <p:nvSpPr>
            <p:cNvPr id="78" name="Oval 77">
              <a:extLst>
                <a:ext uri="{FF2B5EF4-FFF2-40B4-BE49-F238E27FC236}">
                  <a16:creationId xmlns:a16="http://schemas.microsoft.com/office/drawing/2014/main" id="{870AC270-0701-E766-DE72-7966FD907DCA}"/>
                </a:ext>
              </a:extLst>
            </p:cNvPr>
            <p:cNvSpPr/>
            <p:nvPr/>
          </p:nvSpPr>
          <p:spPr>
            <a:xfrm>
              <a:off x="7440304" y="1324558"/>
              <a:ext cx="687029" cy="687029"/>
            </a:xfrm>
            <a:prstGeom prst="ellipse">
              <a:avLst/>
            </a:prstGeom>
            <a:solidFill>
              <a:srgbClr val="60BDBC"/>
            </a:solidFill>
            <a:ln w="2540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a:ln>
                  <a:noFill/>
                </a:ln>
                <a:solidFill>
                  <a:srgbClr val="1D1D1D"/>
                </a:solidFill>
                <a:effectLst/>
                <a:uLnTx/>
                <a:uFillTx/>
                <a:latin typeface="Segoe UI" pitchFamily="34" charset="0"/>
                <a:ea typeface="+mn-ea"/>
                <a:cs typeface="+mn-cs"/>
              </a:endParaRPr>
            </a:p>
          </p:txBody>
        </p:sp>
        <p:grpSp>
          <p:nvGrpSpPr>
            <p:cNvPr id="79" name="Graphic 77">
              <a:extLst>
                <a:ext uri="{FF2B5EF4-FFF2-40B4-BE49-F238E27FC236}">
                  <a16:creationId xmlns:a16="http://schemas.microsoft.com/office/drawing/2014/main" id="{6E969A1D-044D-9827-0847-9B014EA6F68B}"/>
                </a:ext>
              </a:extLst>
            </p:cNvPr>
            <p:cNvGrpSpPr/>
            <p:nvPr/>
          </p:nvGrpSpPr>
          <p:grpSpPr>
            <a:xfrm>
              <a:off x="7559879" y="1366177"/>
              <a:ext cx="502790" cy="496061"/>
              <a:chOff x="6892792" y="3107183"/>
              <a:chExt cx="631387" cy="622938"/>
            </a:xfrm>
            <a:noFill/>
          </p:grpSpPr>
          <p:sp>
            <p:nvSpPr>
              <p:cNvPr id="80" name="Freeform 79">
                <a:extLst>
                  <a:ext uri="{FF2B5EF4-FFF2-40B4-BE49-F238E27FC236}">
                    <a16:creationId xmlns:a16="http://schemas.microsoft.com/office/drawing/2014/main" id="{FF207A75-5341-82B4-DB12-CA641D42E7DD}"/>
                  </a:ext>
                </a:extLst>
              </p:cNvPr>
              <p:cNvSpPr/>
              <p:nvPr/>
            </p:nvSpPr>
            <p:spPr>
              <a:xfrm>
                <a:off x="7047177" y="3397814"/>
                <a:ext cx="96923" cy="96923"/>
              </a:xfrm>
              <a:custGeom>
                <a:avLst/>
                <a:gdLst>
                  <a:gd name="connsiteX0" fmla="*/ 96923 w 96923"/>
                  <a:gd name="connsiteY0" fmla="*/ 48462 h 96923"/>
                  <a:gd name="connsiteX1" fmla="*/ 48462 w 96923"/>
                  <a:gd name="connsiteY1" fmla="*/ 96923 h 96923"/>
                  <a:gd name="connsiteX2" fmla="*/ 0 w 96923"/>
                  <a:gd name="connsiteY2" fmla="*/ 48462 h 96923"/>
                  <a:gd name="connsiteX3" fmla="*/ 48462 w 96923"/>
                  <a:gd name="connsiteY3" fmla="*/ 0 h 96923"/>
                  <a:gd name="connsiteX4" fmla="*/ 96923 w 96923"/>
                  <a:gd name="connsiteY4" fmla="*/ 48462 h 9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923" h="96923">
                    <a:moveTo>
                      <a:pt x="96923" y="48462"/>
                    </a:moveTo>
                    <a:cubicBezTo>
                      <a:pt x="96923" y="75226"/>
                      <a:pt x="75226" y="96923"/>
                      <a:pt x="48462" y="96923"/>
                    </a:cubicBezTo>
                    <a:cubicBezTo>
                      <a:pt x="21697" y="96923"/>
                      <a:pt x="0" y="75226"/>
                      <a:pt x="0" y="48462"/>
                    </a:cubicBezTo>
                    <a:cubicBezTo>
                      <a:pt x="0" y="21697"/>
                      <a:pt x="21697" y="0"/>
                      <a:pt x="48462" y="0"/>
                    </a:cubicBezTo>
                    <a:cubicBezTo>
                      <a:pt x="75226" y="0"/>
                      <a:pt x="96923" y="21697"/>
                      <a:pt x="96923" y="48462"/>
                    </a:cubicBezTo>
                    <a:close/>
                  </a:path>
                </a:pathLst>
              </a:custGeom>
              <a:noFill/>
              <a:ln w="19050" cap="rnd">
                <a:solidFill>
                  <a:srgbClr val="FFFFFF"/>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81" name="Freeform 80">
                <a:extLst>
                  <a:ext uri="{FF2B5EF4-FFF2-40B4-BE49-F238E27FC236}">
                    <a16:creationId xmlns:a16="http://schemas.microsoft.com/office/drawing/2014/main" id="{0E9FB64D-02F5-0A04-421A-1E3E1508B3B9}"/>
                  </a:ext>
                </a:extLst>
              </p:cNvPr>
              <p:cNvSpPr/>
              <p:nvPr/>
            </p:nvSpPr>
            <p:spPr>
              <a:xfrm>
                <a:off x="6908715" y="3453198"/>
                <a:ext cx="96923" cy="96923"/>
              </a:xfrm>
              <a:custGeom>
                <a:avLst/>
                <a:gdLst>
                  <a:gd name="connsiteX0" fmla="*/ 96923 w 96923"/>
                  <a:gd name="connsiteY0" fmla="*/ 48462 h 96923"/>
                  <a:gd name="connsiteX1" fmla="*/ 48462 w 96923"/>
                  <a:gd name="connsiteY1" fmla="*/ 96923 h 96923"/>
                  <a:gd name="connsiteX2" fmla="*/ 0 w 96923"/>
                  <a:gd name="connsiteY2" fmla="*/ 48462 h 96923"/>
                  <a:gd name="connsiteX3" fmla="*/ 48462 w 96923"/>
                  <a:gd name="connsiteY3" fmla="*/ 0 h 96923"/>
                  <a:gd name="connsiteX4" fmla="*/ 96923 w 96923"/>
                  <a:gd name="connsiteY4" fmla="*/ 48462 h 9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923" h="96923">
                    <a:moveTo>
                      <a:pt x="96923" y="48462"/>
                    </a:moveTo>
                    <a:cubicBezTo>
                      <a:pt x="96923" y="75226"/>
                      <a:pt x="75226" y="96923"/>
                      <a:pt x="48462" y="96923"/>
                    </a:cubicBezTo>
                    <a:cubicBezTo>
                      <a:pt x="21697" y="96923"/>
                      <a:pt x="0" y="75226"/>
                      <a:pt x="0" y="48462"/>
                    </a:cubicBezTo>
                    <a:cubicBezTo>
                      <a:pt x="0" y="21697"/>
                      <a:pt x="21697" y="0"/>
                      <a:pt x="48462" y="0"/>
                    </a:cubicBezTo>
                    <a:cubicBezTo>
                      <a:pt x="75226" y="0"/>
                      <a:pt x="96923" y="21697"/>
                      <a:pt x="96923" y="48462"/>
                    </a:cubicBezTo>
                    <a:close/>
                  </a:path>
                </a:pathLst>
              </a:custGeom>
              <a:noFill/>
              <a:ln w="19050" cap="rnd">
                <a:solidFill>
                  <a:srgbClr val="FFFFFF"/>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82" name="Freeform 81">
                <a:extLst>
                  <a:ext uri="{FF2B5EF4-FFF2-40B4-BE49-F238E27FC236}">
                    <a16:creationId xmlns:a16="http://schemas.microsoft.com/office/drawing/2014/main" id="{6D0BEEE8-5B6E-9EC0-63AD-9FC21EE073A8}"/>
                  </a:ext>
                </a:extLst>
              </p:cNvPr>
              <p:cNvSpPr/>
              <p:nvPr/>
            </p:nvSpPr>
            <p:spPr>
              <a:xfrm>
                <a:off x="7005638" y="3448075"/>
                <a:ext cx="259843" cy="282046"/>
              </a:xfrm>
              <a:custGeom>
                <a:avLst/>
                <a:gdLst>
                  <a:gd name="connsiteX0" fmla="*/ 0 w 259843"/>
                  <a:gd name="connsiteY0" fmla="*/ 282046 h 282046"/>
                  <a:gd name="connsiteX1" fmla="*/ 32400 w 259843"/>
                  <a:gd name="connsiteY1" fmla="*/ 130985 h 282046"/>
                  <a:gd name="connsiteX2" fmla="*/ 83077 w 259843"/>
                  <a:gd name="connsiteY2" fmla="*/ 88200 h 282046"/>
                  <a:gd name="connsiteX3" fmla="*/ 166154 w 259843"/>
                  <a:gd name="connsiteY3" fmla="*/ 74354 h 282046"/>
                  <a:gd name="connsiteX4" fmla="*/ 248538 w 259843"/>
                  <a:gd name="connsiteY4" fmla="*/ 0 h 282046"/>
                  <a:gd name="connsiteX5" fmla="*/ 245631 w 259843"/>
                  <a:gd name="connsiteY5" fmla="*/ 75185 h 282046"/>
                  <a:gd name="connsiteX6" fmla="*/ 186231 w 259843"/>
                  <a:gd name="connsiteY6" fmla="*/ 134031 h 282046"/>
                  <a:gd name="connsiteX7" fmla="*/ 95400 w 259843"/>
                  <a:gd name="connsiteY7" fmla="*/ 161723 h 282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9843" h="282046">
                    <a:moveTo>
                      <a:pt x="0" y="282046"/>
                    </a:moveTo>
                    <a:lnTo>
                      <a:pt x="32400" y="130985"/>
                    </a:lnTo>
                    <a:cubicBezTo>
                      <a:pt x="37800" y="105923"/>
                      <a:pt x="55385" y="93323"/>
                      <a:pt x="83077" y="88200"/>
                    </a:cubicBezTo>
                    <a:lnTo>
                      <a:pt x="166154" y="74354"/>
                    </a:lnTo>
                    <a:lnTo>
                      <a:pt x="248538" y="0"/>
                    </a:lnTo>
                    <a:cubicBezTo>
                      <a:pt x="248538" y="0"/>
                      <a:pt x="275815" y="46662"/>
                      <a:pt x="245631" y="75185"/>
                    </a:cubicBezTo>
                    <a:lnTo>
                      <a:pt x="186231" y="134031"/>
                    </a:lnTo>
                    <a:lnTo>
                      <a:pt x="95400" y="161723"/>
                    </a:lnTo>
                  </a:path>
                </a:pathLst>
              </a:custGeom>
              <a:noFill/>
              <a:ln w="19050" cap="rnd">
                <a:solidFill>
                  <a:srgbClr val="FFFFFF"/>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83" name="Freeform 82">
                <a:extLst>
                  <a:ext uri="{FF2B5EF4-FFF2-40B4-BE49-F238E27FC236}">
                    <a16:creationId xmlns:a16="http://schemas.microsoft.com/office/drawing/2014/main" id="{20AFA326-3921-2E1F-3ADF-150BC6978536}"/>
                  </a:ext>
                </a:extLst>
              </p:cNvPr>
              <p:cNvSpPr/>
              <p:nvPr/>
            </p:nvSpPr>
            <p:spPr>
              <a:xfrm>
                <a:off x="7130254" y="3591660"/>
                <a:ext cx="27692" cy="138461"/>
              </a:xfrm>
              <a:custGeom>
                <a:avLst/>
                <a:gdLst>
                  <a:gd name="connsiteX0" fmla="*/ 0 w 27692"/>
                  <a:gd name="connsiteY0" fmla="*/ 138462 h 138461"/>
                  <a:gd name="connsiteX1" fmla="*/ 27692 w 27692"/>
                  <a:gd name="connsiteY1" fmla="*/ 0 h 138461"/>
                </a:gdLst>
                <a:ahLst/>
                <a:cxnLst>
                  <a:cxn ang="0">
                    <a:pos x="connsiteX0" y="connsiteY0"/>
                  </a:cxn>
                  <a:cxn ang="0">
                    <a:pos x="connsiteX1" y="connsiteY1"/>
                  </a:cxn>
                </a:cxnLst>
                <a:rect l="l" t="t" r="r" b="b"/>
                <a:pathLst>
                  <a:path w="27692" h="138461">
                    <a:moveTo>
                      <a:pt x="0" y="138462"/>
                    </a:moveTo>
                    <a:lnTo>
                      <a:pt x="27692" y="0"/>
                    </a:lnTo>
                  </a:path>
                </a:pathLst>
              </a:custGeom>
              <a:ln w="19050" cap="rnd">
                <a:solidFill>
                  <a:srgbClr val="FFFFFF"/>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84" name="Freeform 83">
                <a:extLst>
                  <a:ext uri="{FF2B5EF4-FFF2-40B4-BE49-F238E27FC236}">
                    <a16:creationId xmlns:a16="http://schemas.microsoft.com/office/drawing/2014/main" id="{F33B2D46-F243-AF2C-9361-89B338BC1A16}"/>
                  </a:ext>
                </a:extLst>
              </p:cNvPr>
              <p:cNvSpPr/>
              <p:nvPr/>
            </p:nvSpPr>
            <p:spPr>
              <a:xfrm>
                <a:off x="7359269" y="3439491"/>
                <a:ext cx="96923" cy="96923"/>
              </a:xfrm>
              <a:custGeom>
                <a:avLst/>
                <a:gdLst>
                  <a:gd name="connsiteX0" fmla="*/ 96923 w 96923"/>
                  <a:gd name="connsiteY0" fmla="*/ 48462 h 96923"/>
                  <a:gd name="connsiteX1" fmla="*/ 48462 w 96923"/>
                  <a:gd name="connsiteY1" fmla="*/ 96923 h 96923"/>
                  <a:gd name="connsiteX2" fmla="*/ 0 w 96923"/>
                  <a:gd name="connsiteY2" fmla="*/ 48462 h 96923"/>
                  <a:gd name="connsiteX3" fmla="*/ 48462 w 96923"/>
                  <a:gd name="connsiteY3" fmla="*/ 0 h 96923"/>
                  <a:gd name="connsiteX4" fmla="*/ 96923 w 96923"/>
                  <a:gd name="connsiteY4" fmla="*/ 48462 h 9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923" h="96923">
                    <a:moveTo>
                      <a:pt x="96923" y="48462"/>
                    </a:moveTo>
                    <a:cubicBezTo>
                      <a:pt x="96923" y="75226"/>
                      <a:pt x="75226" y="96923"/>
                      <a:pt x="48462" y="96923"/>
                    </a:cubicBezTo>
                    <a:cubicBezTo>
                      <a:pt x="21697" y="96923"/>
                      <a:pt x="0" y="75226"/>
                      <a:pt x="0" y="48462"/>
                    </a:cubicBezTo>
                    <a:cubicBezTo>
                      <a:pt x="0" y="21697"/>
                      <a:pt x="21697" y="0"/>
                      <a:pt x="48462" y="0"/>
                    </a:cubicBezTo>
                    <a:cubicBezTo>
                      <a:pt x="75226" y="0"/>
                      <a:pt x="96923" y="21697"/>
                      <a:pt x="96923" y="48462"/>
                    </a:cubicBezTo>
                    <a:close/>
                  </a:path>
                </a:pathLst>
              </a:custGeom>
              <a:noFill/>
              <a:ln w="19050" cap="rnd">
                <a:solidFill>
                  <a:srgbClr val="FFFFFF"/>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85" name="Freeform 84">
                <a:extLst>
                  <a:ext uri="{FF2B5EF4-FFF2-40B4-BE49-F238E27FC236}">
                    <a16:creationId xmlns:a16="http://schemas.microsoft.com/office/drawing/2014/main" id="{62F88BEB-5575-07AB-242D-38F7076B5559}"/>
                  </a:ext>
                </a:extLst>
              </p:cNvPr>
              <p:cNvSpPr/>
              <p:nvPr/>
            </p:nvSpPr>
            <p:spPr>
              <a:xfrm>
                <a:off x="7262209" y="3577950"/>
                <a:ext cx="261970" cy="152169"/>
              </a:xfrm>
              <a:custGeom>
                <a:avLst/>
                <a:gdLst>
                  <a:gd name="connsiteX0" fmla="*/ 261969 w 261969"/>
                  <a:gd name="connsiteY0" fmla="*/ 152169 h 152169"/>
                  <a:gd name="connsiteX1" fmla="*/ 230954 w 261969"/>
                  <a:gd name="connsiteY1" fmla="*/ 44308 h 152169"/>
                  <a:gd name="connsiteX2" fmla="*/ 166154 w 261969"/>
                  <a:gd name="connsiteY2" fmla="*/ 0 h 152169"/>
                  <a:gd name="connsiteX3" fmla="*/ 0 w 261969"/>
                  <a:gd name="connsiteY3" fmla="*/ 0 h 152169"/>
                  <a:gd name="connsiteX4" fmla="*/ 55385 w 261969"/>
                  <a:gd name="connsiteY4" fmla="*/ 55385 h 152169"/>
                  <a:gd name="connsiteX5" fmla="*/ 166154 w 261969"/>
                  <a:gd name="connsiteY5" fmla="*/ 55385 h 152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69" h="152169">
                    <a:moveTo>
                      <a:pt x="261969" y="152169"/>
                    </a:moveTo>
                    <a:lnTo>
                      <a:pt x="230954" y="44308"/>
                    </a:lnTo>
                    <a:cubicBezTo>
                      <a:pt x="225554" y="19246"/>
                      <a:pt x="210046" y="0"/>
                      <a:pt x="166154" y="0"/>
                    </a:cubicBezTo>
                    <a:lnTo>
                      <a:pt x="0" y="0"/>
                    </a:lnTo>
                    <a:cubicBezTo>
                      <a:pt x="0" y="0"/>
                      <a:pt x="9277" y="55385"/>
                      <a:pt x="55385" y="55385"/>
                    </a:cubicBezTo>
                    <a:lnTo>
                      <a:pt x="166154" y="55385"/>
                    </a:lnTo>
                  </a:path>
                </a:pathLst>
              </a:custGeom>
              <a:noFill/>
              <a:ln w="19050" cap="rnd">
                <a:solidFill>
                  <a:srgbClr val="FFFFFF"/>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86" name="Freeform 85">
                <a:extLst>
                  <a:ext uri="{FF2B5EF4-FFF2-40B4-BE49-F238E27FC236}">
                    <a16:creationId xmlns:a16="http://schemas.microsoft.com/office/drawing/2014/main" id="{3867FEC3-7A51-2E4D-3F85-954C399C19D9}"/>
                  </a:ext>
                </a:extLst>
              </p:cNvPr>
              <p:cNvSpPr/>
              <p:nvPr/>
            </p:nvSpPr>
            <p:spPr>
              <a:xfrm>
                <a:off x="7386961" y="3633337"/>
                <a:ext cx="35169" cy="96784"/>
              </a:xfrm>
              <a:custGeom>
                <a:avLst/>
                <a:gdLst>
                  <a:gd name="connsiteX0" fmla="*/ 35169 w 35169"/>
                  <a:gd name="connsiteY0" fmla="*/ 96785 h 96784"/>
                  <a:gd name="connsiteX1" fmla="*/ 0 w 35169"/>
                  <a:gd name="connsiteY1" fmla="*/ 0 h 96784"/>
                </a:gdLst>
                <a:ahLst/>
                <a:cxnLst>
                  <a:cxn ang="0">
                    <a:pos x="connsiteX0" y="connsiteY0"/>
                  </a:cxn>
                  <a:cxn ang="0">
                    <a:pos x="connsiteX1" y="connsiteY1"/>
                  </a:cxn>
                </a:cxnLst>
                <a:rect l="l" t="t" r="r" b="b"/>
                <a:pathLst>
                  <a:path w="35169" h="96784">
                    <a:moveTo>
                      <a:pt x="35169" y="96785"/>
                    </a:moveTo>
                    <a:lnTo>
                      <a:pt x="0" y="0"/>
                    </a:lnTo>
                  </a:path>
                </a:pathLst>
              </a:custGeom>
              <a:ln w="19050" cap="rnd">
                <a:solidFill>
                  <a:srgbClr val="FFFFFF"/>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87" name="Freeform 86">
                <a:extLst>
                  <a:ext uri="{FF2B5EF4-FFF2-40B4-BE49-F238E27FC236}">
                    <a16:creationId xmlns:a16="http://schemas.microsoft.com/office/drawing/2014/main" id="{6C792CCA-3A76-6694-DDA5-C9589BABA1DD}"/>
                  </a:ext>
                </a:extLst>
              </p:cNvPr>
              <p:cNvSpPr/>
              <p:nvPr/>
            </p:nvSpPr>
            <p:spPr>
              <a:xfrm>
                <a:off x="6892792" y="3577814"/>
                <a:ext cx="140400" cy="152307"/>
              </a:xfrm>
              <a:custGeom>
                <a:avLst/>
                <a:gdLst>
                  <a:gd name="connsiteX0" fmla="*/ 0 w 140400"/>
                  <a:gd name="connsiteY0" fmla="*/ 152308 h 152307"/>
                  <a:gd name="connsiteX1" fmla="*/ 20492 w 140400"/>
                  <a:gd name="connsiteY1" fmla="*/ 56631 h 152307"/>
                  <a:gd name="connsiteX2" fmla="*/ 71169 w 140400"/>
                  <a:gd name="connsiteY2" fmla="*/ 13846 h 152307"/>
                  <a:gd name="connsiteX3" fmla="*/ 140400 w 140400"/>
                  <a:gd name="connsiteY3" fmla="*/ 0 h 152307"/>
                </a:gdLst>
                <a:ahLst/>
                <a:cxnLst>
                  <a:cxn ang="0">
                    <a:pos x="connsiteX0" y="connsiteY0"/>
                  </a:cxn>
                  <a:cxn ang="0">
                    <a:pos x="connsiteX1" y="connsiteY1"/>
                  </a:cxn>
                  <a:cxn ang="0">
                    <a:pos x="connsiteX2" y="connsiteY2"/>
                  </a:cxn>
                  <a:cxn ang="0">
                    <a:pos x="connsiteX3" y="connsiteY3"/>
                  </a:cxn>
                </a:cxnLst>
                <a:rect l="l" t="t" r="r" b="b"/>
                <a:pathLst>
                  <a:path w="140400" h="152307">
                    <a:moveTo>
                      <a:pt x="0" y="152308"/>
                    </a:moveTo>
                    <a:lnTo>
                      <a:pt x="20492" y="56631"/>
                    </a:lnTo>
                    <a:cubicBezTo>
                      <a:pt x="25892" y="31569"/>
                      <a:pt x="43477" y="18969"/>
                      <a:pt x="71169" y="13846"/>
                    </a:cubicBezTo>
                    <a:lnTo>
                      <a:pt x="140400" y="0"/>
                    </a:lnTo>
                  </a:path>
                </a:pathLst>
              </a:custGeom>
              <a:noFill/>
              <a:ln w="19050" cap="rnd">
                <a:solidFill>
                  <a:srgbClr val="FFFFFF"/>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88" name="Freeform 87">
                <a:extLst>
                  <a:ext uri="{FF2B5EF4-FFF2-40B4-BE49-F238E27FC236}">
                    <a16:creationId xmlns:a16="http://schemas.microsoft.com/office/drawing/2014/main" id="{AEB81751-E634-0B01-A6D3-BD656FABB3A4}"/>
                  </a:ext>
                </a:extLst>
              </p:cNvPr>
              <p:cNvSpPr/>
              <p:nvPr/>
            </p:nvSpPr>
            <p:spPr>
              <a:xfrm>
                <a:off x="6913146" y="3158691"/>
                <a:ext cx="245907" cy="209215"/>
              </a:xfrm>
              <a:custGeom>
                <a:avLst/>
                <a:gdLst>
                  <a:gd name="connsiteX0" fmla="*/ 191354 w 245907"/>
                  <a:gd name="connsiteY0" fmla="*/ 0 h 209215"/>
                  <a:gd name="connsiteX1" fmla="*/ 0 w 245907"/>
                  <a:gd name="connsiteY1" fmla="*/ 81969 h 209215"/>
                  <a:gd name="connsiteX2" fmla="*/ 63000 w 245907"/>
                  <a:gd name="connsiteY2" fmla="*/ 130708 h 209215"/>
                  <a:gd name="connsiteX3" fmla="*/ 54415 w 245907"/>
                  <a:gd name="connsiteY3" fmla="*/ 209215 h 209215"/>
                  <a:gd name="connsiteX4" fmla="*/ 245908 w 245907"/>
                  <a:gd name="connsiteY4" fmla="*/ 127246 h 2092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907" h="209215">
                    <a:moveTo>
                      <a:pt x="191354" y="0"/>
                    </a:moveTo>
                    <a:lnTo>
                      <a:pt x="0" y="81969"/>
                    </a:lnTo>
                    <a:lnTo>
                      <a:pt x="63000" y="130708"/>
                    </a:lnTo>
                    <a:lnTo>
                      <a:pt x="54415" y="209215"/>
                    </a:lnTo>
                    <a:lnTo>
                      <a:pt x="245908" y="127246"/>
                    </a:lnTo>
                  </a:path>
                </a:pathLst>
              </a:custGeom>
              <a:noFill/>
              <a:ln w="19050" cap="rnd">
                <a:solidFill>
                  <a:srgbClr val="FFFFFF"/>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89" name="Freeform 88">
                <a:extLst>
                  <a:ext uri="{FF2B5EF4-FFF2-40B4-BE49-F238E27FC236}">
                    <a16:creationId xmlns:a16="http://schemas.microsoft.com/office/drawing/2014/main" id="{B8A36A05-DF61-3F79-BF3D-EDF8FC566A63}"/>
                  </a:ext>
                </a:extLst>
              </p:cNvPr>
              <p:cNvSpPr/>
              <p:nvPr/>
            </p:nvSpPr>
            <p:spPr>
              <a:xfrm>
                <a:off x="7082346" y="3107183"/>
                <a:ext cx="153415" cy="357646"/>
              </a:xfrm>
              <a:custGeom>
                <a:avLst/>
                <a:gdLst>
                  <a:gd name="connsiteX0" fmla="*/ 153415 w 153415"/>
                  <a:gd name="connsiteY0" fmla="*/ 357646 h 357646"/>
                  <a:gd name="connsiteX1" fmla="*/ 0 w 153415"/>
                  <a:gd name="connsiteY1" fmla="*/ 0 h 357646"/>
                </a:gdLst>
                <a:ahLst/>
                <a:cxnLst>
                  <a:cxn ang="0">
                    <a:pos x="connsiteX0" y="connsiteY0"/>
                  </a:cxn>
                  <a:cxn ang="0">
                    <a:pos x="connsiteX1" y="connsiteY1"/>
                  </a:cxn>
                </a:cxnLst>
                <a:rect l="l" t="t" r="r" b="b"/>
                <a:pathLst>
                  <a:path w="153415" h="357646">
                    <a:moveTo>
                      <a:pt x="153415" y="357646"/>
                    </a:moveTo>
                    <a:lnTo>
                      <a:pt x="0" y="0"/>
                    </a:lnTo>
                  </a:path>
                </a:pathLst>
              </a:custGeom>
              <a:ln w="19050" cap="rnd">
                <a:solidFill>
                  <a:srgbClr val="FFFFFF"/>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90" name="Freeform 89">
                <a:extLst>
                  <a:ext uri="{FF2B5EF4-FFF2-40B4-BE49-F238E27FC236}">
                    <a16:creationId xmlns:a16="http://schemas.microsoft.com/office/drawing/2014/main" id="{D6EBA6BE-794E-A5A2-46DE-406930ED7D22}"/>
                  </a:ext>
                </a:extLst>
              </p:cNvPr>
              <p:cNvSpPr/>
              <p:nvPr/>
            </p:nvSpPr>
            <p:spPr>
              <a:xfrm>
                <a:off x="7257084" y="3516614"/>
                <a:ext cx="25338" cy="61200"/>
              </a:xfrm>
              <a:custGeom>
                <a:avLst/>
                <a:gdLst>
                  <a:gd name="connsiteX0" fmla="*/ 25338 w 25338"/>
                  <a:gd name="connsiteY0" fmla="*/ 61200 h 61200"/>
                  <a:gd name="connsiteX1" fmla="*/ 0 w 25338"/>
                  <a:gd name="connsiteY1" fmla="*/ 0 h 61200"/>
                </a:gdLst>
                <a:ahLst/>
                <a:cxnLst>
                  <a:cxn ang="0">
                    <a:pos x="connsiteX0" y="connsiteY0"/>
                  </a:cxn>
                  <a:cxn ang="0">
                    <a:pos x="connsiteX1" y="connsiteY1"/>
                  </a:cxn>
                </a:cxnLst>
                <a:rect l="l" t="t" r="r" b="b"/>
                <a:pathLst>
                  <a:path w="25338" h="61200">
                    <a:moveTo>
                      <a:pt x="25338" y="61200"/>
                    </a:moveTo>
                    <a:lnTo>
                      <a:pt x="0" y="0"/>
                    </a:lnTo>
                  </a:path>
                </a:pathLst>
              </a:custGeom>
              <a:ln w="19050" cap="rnd">
                <a:solidFill>
                  <a:srgbClr val="FFFFFF"/>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91" name="Freeform 90">
                <a:extLst>
                  <a:ext uri="{FF2B5EF4-FFF2-40B4-BE49-F238E27FC236}">
                    <a16:creationId xmlns:a16="http://schemas.microsoft.com/office/drawing/2014/main" id="{45AF9E42-4065-72AE-D319-A9920E70231E}"/>
                  </a:ext>
                </a:extLst>
              </p:cNvPr>
              <p:cNvSpPr/>
              <p:nvPr/>
            </p:nvSpPr>
            <p:spPr>
              <a:xfrm>
                <a:off x="7305407" y="3633337"/>
                <a:ext cx="40015" cy="96784"/>
              </a:xfrm>
              <a:custGeom>
                <a:avLst/>
                <a:gdLst>
                  <a:gd name="connsiteX0" fmla="*/ 40015 w 40015"/>
                  <a:gd name="connsiteY0" fmla="*/ 96785 h 96784"/>
                  <a:gd name="connsiteX1" fmla="*/ 0 w 40015"/>
                  <a:gd name="connsiteY1" fmla="*/ 0 h 96784"/>
                </a:gdLst>
                <a:ahLst/>
                <a:cxnLst>
                  <a:cxn ang="0">
                    <a:pos x="connsiteX0" y="connsiteY0"/>
                  </a:cxn>
                  <a:cxn ang="0">
                    <a:pos x="connsiteX1" y="connsiteY1"/>
                  </a:cxn>
                </a:cxnLst>
                <a:rect l="l" t="t" r="r" b="b"/>
                <a:pathLst>
                  <a:path w="40015" h="96784">
                    <a:moveTo>
                      <a:pt x="40015" y="96785"/>
                    </a:moveTo>
                    <a:lnTo>
                      <a:pt x="0" y="0"/>
                    </a:lnTo>
                  </a:path>
                </a:pathLst>
              </a:custGeom>
              <a:ln w="19050" cap="rnd">
                <a:solidFill>
                  <a:srgbClr val="FFFFFF"/>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grpSp>
      </p:grpSp>
      <p:grpSp>
        <p:nvGrpSpPr>
          <p:cNvPr id="92" name="Group 91">
            <a:extLst>
              <a:ext uri="{FF2B5EF4-FFF2-40B4-BE49-F238E27FC236}">
                <a16:creationId xmlns:a16="http://schemas.microsoft.com/office/drawing/2014/main" id="{CAF89F28-209E-9F73-F1E1-B0674791BC49}"/>
              </a:ext>
            </a:extLst>
          </p:cNvPr>
          <p:cNvGrpSpPr/>
          <p:nvPr/>
        </p:nvGrpSpPr>
        <p:grpSpPr>
          <a:xfrm>
            <a:off x="5768573" y="1595429"/>
            <a:ext cx="687029" cy="687029"/>
            <a:chOff x="5167597" y="1302369"/>
            <a:chExt cx="687029" cy="687029"/>
          </a:xfrm>
        </p:grpSpPr>
        <p:sp>
          <p:nvSpPr>
            <p:cNvPr id="93" name="Oval 92">
              <a:extLst>
                <a:ext uri="{FF2B5EF4-FFF2-40B4-BE49-F238E27FC236}">
                  <a16:creationId xmlns:a16="http://schemas.microsoft.com/office/drawing/2014/main" id="{DBBD15DA-4A02-496E-CFA6-D2496F3ABE73}"/>
                </a:ext>
              </a:extLst>
            </p:cNvPr>
            <p:cNvSpPr/>
            <p:nvPr/>
          </p:nvSpPr>
          <p:spPr>
            <a:xfrm>
              <a:off x="5167597" y="1302369"/>
              <a:ext cx="687029" cy="687029"/>
            </a:xfrm>
            <a:prstGeom prst="ellipse">
              <a:avLst/>
            </a:prstGeom>
            <a:solidFill>
              <a:schemeClr val="accent1"/>
            </a:solidFill>
            <a:ln w="2540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dirty="0">
                <a:ln>
                  <a:noFill/>
                </a:ln>
                <a:solidFill>
                  <a:srgbClr val="1D1D1D"/>
                </a:solidFill>
                <a:effectLst/>
                <a:uLnTx/>
                <a:uFillTx/>
                <a:latin typeface="Segoe UI" pitchFamily="34" charset="0"/>
                <a:ea typeface="+mn-ea"/>
                <a:cs typeface="+mn-cs"/>
              </a:endParaRPr>
            </a:p>
          </p:txBody>
        </p:sp>
        <p:grpSp>
          <p:nvGrpSpPr>
            <p:cNvPr id="94" name="Graphic 76">
              <a:extLst>
                <a:ext uri="{FF2B5EF4-FFF2-40B4-BE49-F238E27FC236}">
                  <a16:creationId xmlns:a16="http://schemas.microsoft.com/office/drawing/2014/main" id="{A0449595-D4FF-CBA5-96CC-EF531FB8236D}"/>
                </a:ext>
              </a:extLst>
            </p:cNvPr>
            <p:cNvGrpSpPr/>
            <p:nvPr/>
          </p:nvGrpSpPr>
          <p:grpSpPr>
            <a:xfrm>
              <a:off x="5317108" y="1378190"/>
              <a:ext cx="430966" cy="485145"/>
              <a:chOff x="3298173" y="3179855"/>
              <a:chExt cx="541193" cy="609230"/>
            </a:xfrm>
            <a:noFill/>
          </p:grpSpPr>
          <p:sp>
            <p:nvSpPr>
              <p:cNvPr id="95" name="Freeform 94">
                <a:extLst>
                  <a:ext uri="{FF2B5EF4-FFF2-40B4-BE49-F238E27FC236}">
                    <a16:creationId xmlns:a16="http://schemas.microsoft.com/office/drawing/2014/main" id="{2947A604-C55C-1D28-C992-1BF679A198C8}"/>
                  </a:ext>
                </a:extLst>
              </p:cNvPr>
              <p:cNvSpPr/>
              <p:nvPr/>
            </p:nvSpPr>
            <p:spPr>
              <a:xfrm>
                <a:off x="3298173" y="3304470"/>
                <a:ext cx="361054" cy="346153"/>
              </a:xfrm>
              <a:custGeom>
                <a:avLst/>
                <a:gdLst>
                  <a:gd name="connsiteX0" fmla="*/ 111394 w 361054"/>
                  <a:gd name="connsiteY0" fmla="*/ 235385 h 346153"/>
                  <a:gd name="connsiteX1" fmla="*/ 111394 w 361054"/>
                  <a:gd name="connsiteY1" fmla="*/ 207692 h 346153"/>
                  <a:gd name="connsiteX2" fmla="*/ 28317 w 361054"/>
                  <a:gd name="connsiteY2" fmla="*/ 110769 h 346153"/>
                  <a:gd name="connsiteX3" fmla="*/ 2979 w 361054"/>
                  <a:gd name="connsiteY3" fmla="*/ 68400 h 346153"/>
                  <a:gd name="connsiteX4" fmla="*/ 28317 w 361054"/>
                  <a:gd name="connsiteY4" fmla="*/ 0 h 346153"/>
                  <a:gd name="connsiteX5" fmla="*/ 69856 w 361054"/>
                  <a:gd name="connsiteY5" fmla="*/ 69231 h 346153"/>
                  <a:gd name="connsiteX6" fmla="*/ 125240 w 361054"/>
                  <a:gd name="connsiteY6" fmla="*/ 124615 h 346153"/>
                  <a:gd name="connsiteX7" fmla="*/ 165117 w 361054"/>
                  <a:gd name="connsiteY7" fmla="*/ 138462 h 346153"/>
                  <a:gd name="connsiteX8" fmla="*/ 195994 w 361054"/>
                  <a:gd name="connsiteY8" fmla="*/ 138462 h 346153"/>
                  <a:gd name="connsiteX9" fmla="*/ 235871 w 361054"/>
                  <a:gd name="connsiteY9" fmla="*/ 124615 h 346153"/>
                  <a:gd name="connsiteX10" fmla="*/ 291256 w 361054"/>
                  <a:gd name="connsiteY10" fmla="*/ 69231 h 346153"/>
                  <a:gd name="connsiteX11" fmla="*/ 332794 w 361054"/>
                  <a:gd name="connsiteY11" fmla="*/ 0 h 346153"/>
                  <a:gd name="connsiteX12" fmla="*/ 358133 w 361054"/>
                  <a:gd name="connsiteY12" fmla="*/ 68400 h 346153"/>
                  <a:gd name="connsiteX13" fmla="*/ 332794 w 361054"/>
                  <a:gd name="connsiteY13" fmla="*/ 110769 h 346153"/>
                  <a:gd name="connsiteX14" fmla="*/ 249717 w 361054"/>
                  <a:gd name="connsiteY14" fmla="*/ 207692 h 346153"/>
                  <a:gd name="connsiteX15" fmla="*/ 249717 w 361054"/>
                  <a:gd name="connsiteY15" fmla="*/ 346154 h 346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61054" h="346153">
                    <a:moveTo>
                      <a:pt x="111394" y="235385"/>
                    </a:moveTo>
                    <a:lnTo>
                      <a:pt x="111394" y="207692"/>
                    </a:lnTo>
                    <a:lnTo>
                      <a:pt x="28317" y="110769"/>
                    </a:lnTo>
                    <a:lnTo>
                      <a:pt x="2979" y="68400"/>
                    </a:lnTo>
                    <a:cubicBezTo>
                      <a:pt x="-5883" y="46385"/>
                      <a:pt x="5748" y="7615"/>
                      <a:pt x="28317" y="0"/>
                    </a:cubicBezTo>
                    <a:lnTo>
                      <a:pt x="69856" y="69231"/>
                    </a:lnTo>
                    <a:lnTo>
                      <a:pt x="125240" y="124615"/>
                    </a:lnTo>
                    <a:cubicBezTo>
                      <a:pt x="134102" y="133754"/>
                      <a:pt x="152517" y="138462"/>
                      <a:pt x="165117" y="138462"/>
                    </a:cubicBezTo>
                    <a:lnTo>
                      <a:pt x="195994" y="138462"/>
                    </a:lnTo>
                    <a:cubicBezTo>
                      <a:pt x="208594" y="138462"/>
                      <a:pt x="227148" y="133754"/>
                      <a:pt x="235871" y="124615"/>
                    </a:cubicBezTo>
                    <a:lnTo>
                      <a:pt x="291256" y="69231"/>
                    </a:lnTo>
                    <a:lnTo>
                      <a:pt x="332794" y="0"/>
                    </a:lnTo>
                    <a:cubicBezTo>
                      <a:pt x="355363" y="7477"/>
                      <a:pt x="366856" y="46246"/>
                      <a:pt x="358133" y="68400"/>
                    </a:cubicBezTo>
                    <a:lnTo>
                      <a:pt x="332794" y="110769"/>
                    </a:lnTo>
                    <a:lnTo>
                      <a:pt x="249717" y="207692"/>
                    </a:lnTo>
                    <a:lnTo>
                      <a:pt x="249717" y="346154"/>
                    </a:lnTo>
                  </a:path>
                </a:pathLst>
              </a:custGeom>
              <a:noFill/>
              <a:ln w="19050" cap="rnd">
                <a:solidFill>
                  <a:srgbClr val="FFFFFF"/>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96" name="Freeform 95">
                <a:extLst>
                  <a:ext uri="{FF2B5EF4-FFF2-40B4-BE49-F238E27FC236}">
                    <a16:creationId xmlns:a16="http://schemas.microsoft.com/office/drawing/2014/main" id="{D8329AF2-5B0A-0255-8790-324C4DF055D6}"/>
                  </a:ext>
                </a:extLst>
              </p:cNvPr>
              <p:cNvSpPr/>
              <p:nvPr/>
            </p:nvSpPr>
            <p:spPr>
              <a:xfrm>
                <a:off x="3437259" y="3304470"/>
                <a:ext cx="83076" cy="97200"/>
              </a:xfrm>
              <a:custGeom>
                <a:avLst/>
                <a:gdLst>
                  <a:gd name="connsiteX0" fmla="*/ 41538 w 83076"/>
                  <a:gd name="connsiteY0" fmla="*/ 0 h 97200"/>
                  <a:gd name="connsiteX1" fmla="*/ 83077 w 83076"/>
                  <a:gd name="connsiteY1" fmla="*/ 41677 h 97200"/>
                  <a:gd name="connsiteX2" fmla="*/ 83077 w 83076"/>
                  <a:gd name="connsiteY2" fmla="*/ 55523 h 97200"/>
                  <a:gd name="connsiteX3" fmla="*/ 41538 w 83076"/>
                  <a:gd name="connsiteY3" fmla="*/ 97200 h 97200"/>
                  <a:gd name="connsiteX4" fmla="*/ 0 w 83076"/>
                  <a:gd name="connsiteY4" fmla="*/ 55523 h 97200"/>
                  <a:gd name="connsiteX5" fmla="*/ 0 w 83076"/>
                  <a:gd name="connsiteY5" fmla="*/ 41677 h 97200"/>
                  <a:gd name="connsiteX6" fmla="*/ 41538 w 83076"/>
                  <a:gd name="connsiteY6" fmla="*/ 0 h 9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076" h="97200">
                    <a:moveTo>
                      <a:pt x="41538" y="0"/>
                    </a:moveTo>
                    <a:cubicBezTo>
                      <a:pt x="66462" y="0"/>
                      <a:pt x="83077" y="18692"/>
                      <a:pt x="83077" y="41677"/>
                    </a:cubicBezTo>
                    <a:lnTo>
                      <a:pt x="83077" y="55523"/>
                    </a:lnTo>
                    <a:cubicBezTo>
                      <a:pt x="83077" y="78508"/>
                      <a:pt x="66462" y="97200"/>
                      <a:pt x="41538" y="97200"/>
                    </a:cubicBezTo>
                    <a:cubicBezTo>
                      <a:pt x="16615" y="97200"/>
                      <a:pt x="0" y="78508"/>
                      <a:pt x="0" y="55523"/>
                    </a:cubicBezTo>
                    <a:lnTo>
                      <a:pt x="0" y="41677"/>
                    </a:lnTo>
                    <a:cubicBezTo>
                      <a:pt x="0" y="18692"/>
                      <a:pt x="16615" y="0"/>
                      <a:pt x="41538" y="0"/>
                    </a:cubicBezTo>
                    <a:close/>
                  </a:path>
                </a:pathLst>
              </a:custGeom>
              <a:noFill/>
              <a:ln w="19050" cap="rnd">
                <a:solidFill>
                  <a:srgbClr val="FFFFFF"/>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97" name="Freeform 96">
                <a:extLst>
                  <a:ext uri="{FF2B5EF4-FFF2-40B4-BE49-F238E27FC236}">
                    <a16:creationId xmlns:a16="http://schemas.microsoft.com/office/drawing/2014/main" id="{965869F6-6C9A-A4A4-E284-826A8B530440}"/>
                  </a:ext>
                </a:extLst>
              </p:cNvPr>
              <p:cNvSpPr/>
              <p:nvPr/>
            </p:nvSpPr>
            <p:spPr>
              <a:xfrm>
                <a:off x="3617259" y="3526009"/>
                <a:ext cx="83076" cy="97199"/>
              </a:xfrm>
              <a:custGeom>
                <a:avLst/>
                <a:gdLst>
                  <a:gd name="connsiteX0" fmla="*/ 41538 w 83076"/>
                  <a:gd name="connsiteY0" fmla="*/ 97200 h 97199"/>
                  <a:gd name="connsiteX1" fmla="*/ 0 w 83076"/>
                  <a:gd name="connsiteY1" fmla="*/ 55523 h 97199"/>
                  <a:gd name="connsiteX2" fmla="*/ 0 w 83076"/>
                  <a:gd name="connsiteY2" fmla="*/ 41677 h 97199"/>
                  <a:gd name="connsiteX3" fmla="*/ 41538 w 83076"/>
                  <a:gd name="connsiteY3" fmla="*/ 0 h 97199"/>
                  <a:gd name="connsiteX4" fmla="*/ 83077 w 83076"/>
                  <a:gd name="connsiteY4" fmla="*/ 41677 h 97199"/>
                  <a:gd name="connsiteX5" fmla="*/ 83077 w 83076"/>
                  <a:gd name="connsiteY5" fmla="*/ 55523 h 97199"/>
                  <a:gd name="connsiteX6" fmla="*/ 41538 w 83076"/>
                  <a:gd name="connsiteY6" fmla="*/ 97200 h 97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076" h="97199">
                    <a:moveTo>
                      <a:pt x="41538" y="97200"/>
                    </a:moveTo>
                    <a:cubicBezTo>
                      <a:pt x="16615" y="97200"/>
                      <a:pt x="0" y="78508"/>
                      <a:pt x="0" y="55523"/>
                    </a:cubicBezTo>
                    <a:lnTo>
                      <a:pt x="0" y="41677"/>
                    </a:lnTo>
                    <a:cubicBezTo>
                      <a:pt x="0" y="18692"/>
                      <a:pt x="16615" y="0"/>
                      <a:pt x="41538" y="0"/>
                    </a:cubicBezTo>
                    <a:cubicBezTo>
                      <a:pt x="66462" y="0"/>
                      <a:pt x="83077" y="18692"/>
                      <a:pt x="83077" y="41677"/>
                    </a:cubicBezTo>
                    <a:lnTo>
                      <a:pt x="83077" y="55523"/>
                    </a:lnTo>
                    <a:cubicBezTo>
                      <a:pt x="83077" y="78508"/>
                      <a:pt x="66462" y="97200"/>
                      <a:pt x="41538" y="97200"/>
                    </a:cubicBezTo>
                    <a:close/>
                  </a:path>
                </a:pathLst>
              </a:custGeom>
              <a:noFill/>
              <a:ln w="19050" cap="rnd">
                <a:solidFill>
                  <a:srgbClr val="FFFFFF"/>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98" name="Freeform 97">
                <a:extLst>
                  <a:ext uri="{FF2B5EF4-FFF2-40B4-BE49-F238E27FC236}">
                    <a16:creationId xmlns:a16="http://schemas.microsoft.com/office/drawing/2014/main" id="{3A6BAECB-5957-720D-1D9E-822E8AFE862D}"/>
                  </a:ext>
                </a:extLst>
              </p:cNvPr>
              <p:cNvSpPr/>
              <p:nvPr/>
            </p:nvSpPr>
            <p:spPr>
              <a:xfrm>
                <a:off x="3576275" y="3526009"/>
                <a:ext cx="263091" cy="263076"/>
              </a:xfrm>
              <a:custGeom>
                <a:avLst/>
                <a:gdLst>
                  <a:gd name="connsiteX0" fmla="*/ 0 w 263091"/>
                  <a:gd name="connsiteY0" fmla="*/ 263077 h 263076"/>
                  <a:gd name="connsiteX1" fmla="*/ 0 w 263091"/>
                  <a:gd name="connsiteY1" fmla="*/ 193846 h 263076"/>
                  <a:gd name="connsiteX2" fmla="*/ 82523 w 263091"/>
                  <a:gd name="connsiteY2" fmla="*/ 138462 h 263076"/>
                  <a:gd name="connsiteX3" fmla="*/ 98031 w 263091"/>
                  <a:gd name="connsiteY3" fmla="*/ 138462 h 263076"/>
                  <a:gd name="connsiteX4" fmla="*/ 137908 w 263091"/>
                  <a:gd name="connsiteY4" fmla="*/ 124615 h 263076"/>
                  <a:gd name="connsiteX5" fmla="*/ 193292 w 263091"/>
                  <a:gd name="connsiteY5" fmla="*/ 96923 h 263076"/>
                  <a:gd name="connsiteX6" fmla="*/ 234831 w 263091"/>
                  <a:gd name="connsiteY6" fmla="*/ 0 h 263076"/>
                  <a:gd name="connsiteX7" fmla="*/ 234831 w 263091"/>
                  <a:gd name="connsiteY7" fmla="*/ 0 h 263076"/>
                  <a:gd name="connsiteX8" fmla="*/ 260169 w 263091"/>
                  <a:gd name="connsiteY8" fmla="*/ 82246 h 263076"/>
                  <a:gd name="connsiteX9" fmla="*/ 234831 w 263091"/>
                  <a:gd name="connsiteY9" fmla="*/ 138462 h 263076"/>
                  <a:gd name="connsiteX10" fmla="*/ 152308 w 263091"/>
                  <a:gd name="connsiteY10" fmla="*/ 207692 h 263076"/>
                  <a:gd name="connsiteX11" fmla="*/ 152308 w 263091"/>
                  <a:gd name="connsiteY11" fmla="*/ 263077 h 263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3091" h="263076">
                    <a:moveTo>
                      <a:pt x="0" y="263077"/>
                    </a:moveTo>
                    <a:lnTo>
                      <a:pt x="0" y="193846"/>
                    </a:lnTo>
                    <a:cubicBezTo>
                      <a:pt x="0" y="148154"/>
                      <a:pt x="48877" y="138462"/>
                      <a:pt x="82523" y="138462"/>
                    </a:cubicBezTo>
                    <a:lnTo>
                      <a:pt x="98031" y="138462"/>
                    </a:lnTo>
                    <a:cubicBezTo>
                      <a:pt x="108554" y="138462"/>
                      <a:pt x="122954" y="131262"/>
                      <a:pt x="137908" y="124615"/>
                    </a:cubicBezTo>
                    <a:lnTo>
                      <a:pt x="193292" y="96923"/>
                    </a:lnTo>
                    <a:lnTo>
                      <a:pt x="234831" y="0"/>
                    </a:lnTo>
                    <a:lnTo>
                      <a:pt x="234831" y="0"/>
                    </a:lnTo>
                    <a:cubicBezTo>
                      <a:pt x="257400" y="7477"/>
                      <a:pt x="268892" y="60092"/>
                      <a:pt x="260169" y="82246"/>
                    </a:cubicBezTo>
                    <a:lnTo>
                      <a:pt x="234831" y="138462"/>
                    </a:lnTo>
                    <a:lnTo>
                      <a:pt x="152308" y="207692"/>
                    </a:lnTo>
                    <a:lnTo>
                      <a:pt x="152308" y="263077"/>
                    </a:lnTo>
                  </a:path>
                </a:pathLst>
              </a:custGeom>
              <a:noFill/>
              <a:ln w="19050" cap="rnd">
                <a:solidFill>
                  <a:srgbClr val="FFFFFF"/>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99" name="Freeform 98">
                <a:extLst>
                  <a:ext uri="{FF2B5EF4-FFF2-40B4-BE49-F238E27FC236}">
                    <a16:creationId xmlns:a16="http://schemas.microsoft.com/office/drawing/2014/main" id="{ABE342E1-7EFB-9E96-B23E-4C46734CB9AB}"/>
                  </a:ext>
                </a:extLst>
              </p:cNvPr>
              <p:cNvSpPr/>
              <p:nvPr/>
            </p:nvSpPr>
            <p:spPr>
              <a:xfrm>
                <a:off x="3395721" y="3567547"/>
                <a:ext cx="83076" cy="97199"/>
              </a:xfrm>
              <a:custGeom>
                <a:avLst/>
                <a:gdLst>
                  <a:gd name="connsiteX0" fmla="*/ 41538 w 83076"/>
                  <a:gd name="connsiteY0" fmla="*/ 97200 h 97199"/>
                  <a:gd name="connsiteX1" fmla="*/ 83077 w 83076"/>
                  <a:gd name="connsiteY1" fmla="*/ 55523 h 97199"/>
                  <a:gd name="connsiteX2" fmla="*/ 83077 w 83076"/>
                  <a:gd name="connsiteY2" fmla="*/ 41677 h 97199"/>
                  <a:gd name="connsiteX3" fmla="*/ 41538 w 83076"/>
                  <a:gd name="connsiteY3" fmla="*/ 0 h 97199"/>
                  <a:gd name="connsiteX4" fmla="*/ 0 w 83076"/>
                  <a:gd name="connsiteY4" fmla="*/ 41677 h 97199"/>
                  <a:gd name="connsiteX5" fmla="*/ 0 w 83076"/>
                  <a:gd name="connsiteY5" fmla="*/ 55523 h 97199"/>
                  <a:gd name="connsiteX6" fmla="*/ 41538 w 83076"/>
                  <a:gd name="connsiteY6" fmla="*/ 97200 h 97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076" h="97199">
                    <a:moveTo>
                      <a:pt x="41538" y="97200"/>
                    </a:moveTo>
                    <a:cubicBezTo>
                      <a:pt x="66462" y="97200"/>
                      <a:pt x="83077" y="78508"/>
                      <a:pt x="83077" y="55523"/>
                    </a:cubicBezTo>
                    <a:lnTo>
                      <a:pt x="83077" y="41677"/>
                    </a:lnTo>
                    <a:cubicBezTo>
                      <a:pt x="83077" y="18692"/>
                      <a:pt x="66462" y="0"/>
                      <a:pt x="41538" y="0"/>
                    </a:cubicBezTo>
                    <a:cubicBezTo>
                      <a:pt x="16615" y="0"/>
                      <a:pt x="0" y="18692"/>
                      <a:pt x="0" y="41677"/>
                    </a:cubicBezTo>
                    <a:lnTo>
                      <a:pt x="0" y="55523"/>
                    </a:lnTo>
                    <a:cubicBezTo>
                      <a:pt x="0" y="78508"/>
                      <a:pt x="16615" y="97200"/>
                      <a:pt x="41538" y="97200"/>
                    </a:cubicBezTo>
                    <a:close/>
                  </a:path>
                </a:pathLst>
              </a:custGeom>
              <a:noFill/>
              <a:ln w="19050" cap="rnd">
                <a:solidFill>
                  <a:srgbClr val="FFFFFF"/>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100" name="Freeform 99">
                <a:extLst>
                  <a:ext uri="{FF2B5EF4-FFF2-40B4-BE49-F238E27FC236}">
                    <a16:creationId xmlns:a16="http://schemas.microsoft.com/office/drawing/2014/main" id="{4F19EF4A-9E3F-62BA-0F7A-C79B319B37BD}"/>
                  </a:ext>
                </a:extLst>
              </p:cNvPr>
              <p:cNvSpPr/>
              <p:nvPr/>
            </p:nvSpPr>
            <p:spPr>
              <a:xfrm>
                <a:off x="3354182" y="3706009"/>
                <a:ext cx="166153" cy="83076"/>
              </a:xfrm>
              <a:custGeom>
                <a:avLst/>
                <a:gdLst>
                  <a:gd name="connsiteX0" fmla="*/ 0 w 166153"/>
                  <a:gd name="connsiteY0" fmla="*/ 83077 h 83076"/>
                  <a:gd name="connsiteX1" fmla="*/ 0 w 166153"/>
                  <a:gd name="connsiteY1" fmla="*/ 55385 h 83076"/>
                  <a:gd name="connsiteX2" fmla="*/ 83077 w 166153"/>
                  <a:gd name="connsiteY2" fmla="*/ 0 h 83076"/>
                  <a:gd name="connsiteX3" fmla="*/ 166154 w 166153"/>
                  <a:gd name="connsiteY3" fmla="*/ 55385 h 83076"/>
                  <a:gd name="connsiteX4" fmla="*/ 166154 w 166153"/>
                  <a:gd name="connsiteY4" fmla="*/ 83077 h 83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153" h="83076">
                    <a:moveTo>
                      <a:pt x="0" y="83077"/>
                    </a:moveTo>
                    <a:lnTo>
                      <a:pt x="0" y="55385"/>
                    </a:lnTo>
                    <a:cubicBezTo>
                      <a:pt x="0" y="9692"/>
                      <a:pt x="49431" y="0"/>
                      <a:pt x="83077" y="0"/>
                    </a:cubicBezTo>
                    <a:cubicBezTo>
                      <a:pt x="116723" y="0"/>
                      <a:pt x="166154" y="9692"/>
                      <a:pt x="166154" y="55385"/>
                    </a:cubicBezTo>
                    <a:lnTo>
                      <a:pt x="166154" y="83077"/>
                    </a:lnTo>
                  </a:path>
                </a:pathLst>
              </a:custGeom>
              <a:noFill/>
              <a:ln w="19050" cap="rnd">
                <a:solidFill>
                  <a:srgbClr val="FFFFFF"/>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101" name="Freeform 100">
                <a:extLst>
                  <a:ext uri="{FF2B5EF4-FFF2-40B4-BE49-F238E27FC236}">
                    <a16:creationId xmlns:a16="http://schemas.microsoft.com/office/drawing/2014/main" id="{D8569A0E-18B0-0BD8-82F3-7600A0A76B77}"/>
                  </a:ext>
                </a:extLst>
              </p:cNvPr>
              <p:cNvSpPr/>
              <p:nvPr/>
            </p:nvSpPr>
            <p:spPr>
              <a:xfrm>
                <a:off x="3478798" y="3179855"/>
                <a:ext cx="13846" cy="69230"/>
              </a:xfrm>
              <a:custGeom>
                <a:avLst/>
                <a:gdLst>
                  <a:gd name="connsiteX0" fmla="*/ 0 w 13846"/>
                  <a:gd name="connsiteY0" fmla="*/ 69231 h 69230"/>
                  <a:gd name="connsiteX1" fmla="*/ 0 w 13846"/>
                  <a:gd name="connsiteY1" fmla="*/ 0 h 69230"/>
                </a:gdLst>
                <a:ahLst/>
                <a:cxnLst>
                  <a:cxn ang="0">
                    <a:pos x="connsiteX0" y="connsiteY0"/>
                  </a:cxn>
                  <a:cxn ang="0">
                    <a:pos x="connsiteX1" y="connsiteY1"/>
                  </a:cxn>
                </a:cxnLst>
                <a:rect l="l" t="t" r="r" b="b"/>
                <a:pathLst>
                  <a:path w="13846" h="69230">
                    <a:moveTo>
                      <a:pt x="0" y="69231"/>
                    </a:moveTo>
                    <a:lnTo>
                      <a:pt x="0" y="0"/>
                    </a:lnTo>
                  </a:path>
                </a:pathLst>
              </a:custGeom>
              <a:ln w="19050" cap="rnd">
                <a:solidFill>
                  <a:srgbClr val="FFFFFF"/>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102" name="Freeform 101">
                <a:extLst>
                  <a:ext uri="{FF2B5EF4-FFF2-40B4-BE49-F238E27FC236}">
                    <a16:creationId xmlns:a16="http://schemas.microsoft.com/office/drawing/2014/main" id="{94DAFEAE-2543-1D13-F319-89C1B755459A}"/>
                  </a:ext>
                </a:extLst>
              </p:cNvPr>
              <p:cNvSpPr/>
              <p:nvPr/>
            </p:nvSpPr>
            <p:spPr>
              <a:xfrm>
                <a:off x="3534736" y="3221394"/>
                <a:ext cx="41538" cy="41538"/>
              </a:xfrm>
              <a:custGeom>
                <a:avLst/>
                <a:gdLst>
                  <a:gd name="connsiteX0" fmla="*/ 0 w 41538"/>
                  <a:gd name="connsiteY0" fmla="*/ 41538 h 41538"/>
                  <a:gd name="connsiteX1" fmla="*/ 41538 w 41538"/>
                  <a:gd name="connsiteY1" fmla="*/ 0 h 41538"/>
                </a:gdLst>
                <a:ahLst/>
                <a:cxnLst>
                  <a:cxn ang="0">
                    <a:pos x="connsiteX0" y="connsiteY0"/>
                  </a:cxn>
                  <a:cxn ang="0">
                    <a:pos x="connsiteX1" y="connsiteY1"/>
                  </a:cxn>
                </a:cxnLst>
                <a:rect l="l" t="t" r="r" b="b"/>
                <a:pathLst>
                  <a:path w="41538" h="41538">
                    <a:moveTo>
                      <a:pt x="0" y="41538"/>
                    </a:moveTo>
                    <a:lnTo>
                      <a:pt x="41538" y="0"/>
                    </a:lnTo>
                  </a:path>
                </a:pathLst>
              </a:custGeom>
              <a:ln w="19050" cap="rnd">
                <a:solidFill>
                  <a:srgbClr val="FFFFFF"/>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sp>
            <p:nvSpPr>
              <p:cNvPr id="103" name="Freeform 102">
                <a:extLst>
                  <a:ext uri="{FF2B5EF4-FFF2-40B4-BE49-F238E27FC236}">
                    <a16:creationId xmlns:a16="http://schemas.microsoft.com/office/drawing/2014/main" id="{76774BA3-BF47-4B78-90F8-51F78E5E75B5}"/>
                  </a:ext>
                </a:extLst>
              </p:cNvPr>
              <p:cNvSpPr/>
              <p:nvPr/>
            </p:nvSpPr>
            <p:spPr>
              <a:xfrm>
                <a:off x="3382429" y="3221394"/>
                <a:ext cx="41538" cy="41538"/>
              </a:xfrm>
              <a:custGeom>
                <a:avLst/>
                <a:gdLst>
                  <a:gd name="connsiteX0" fmla="*/ 41538 w 41538"/>
                  <a:gd name="connsiteY0" fmla="*/ 41538 h 41538"/>
                  <a:gd name="connsiteX1" fmla="*/ 0 w 41538"/>
                  <a:gd name="connsiteY1" fmla="*/ 0 h 41538"/>
                </a:gdLst>
                <a:ahLst/>
                <a:cxnLst>
                  <a:cxn ang="0">
                    <a:pos x="connsiteX0" y="connsiteY0"/>
                  </a:cxn>
                  <a:cxn ang="0">
                    <a:pos x="connsiteX1" y="connsiteY1"/>
                  </a:cxn>
                </a:cxnLst>
                <a:rect l="l" t="t" r="r" b="b"/>
                <a:pathLst>
                  <a:path w="41538" h="41538">
                    <a:moveTo>
                      <a:pt x="41538" y="41538"/>
                    </a:moveTo>
                    <a:lnTo>
                      <a:pt x="0" y="0"/>
                    </a:lnTo>
                  </a:path>
                </a:pathLst>
              </a:custGeom>
              <a:ln w="19050" cap="rnd">
                <a:solidFill>
                  <a:srgbClr val="FFFFFF"/>
                </a:solidFill>
                <a:prstDash val="solid"/>
                <a:round/>
              </a:ln>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a:ln>
                    <a:noFill/>
                  </a:ln>
                  <a:solidFill>
                    <a:sysClr val="windowText" lastClr="000000"/>
                  </a:solidFill>
                  <a:effectLst/>
                  <a:uLnTx/>
                  <a:uFillTx/>
                  <a:latin typeface="Arial" pitchFamily="34" charset="0"/>
                  <a:ea typeface="+mn-ea"/>
                  <a:cs typeface="+mn-cs"/>
                </a:endParaRPr>
              </a:p>
            </p:txBody>
          </p:sp>
        </p:grpSp>
      </p:grpSp>
      <p:sp>
        <p:nvSpPr>
          <p:cNvPr id="104" name="TextBox 103">
            <a:extLst>
              <a:ext uri="{FF2B5EF4-FFF2-40B4-BE49-F238E27FC236}">
                <a16:creationId xmlns:a16="http://schemas.microsoft.com/office/drawing/2014/main" id="{A4A1CB5F-4BBC-2032-D02E-FDF8CE61EDFC}"/>
              </a:ext>
            </a:extLst>
          </p:cNvPr>
          <p:cNvSpPr txBox="1"/>
          <p:nvPr/>
        </p:nvSpPr>
        <p:spPr>
          <a:xfrm>
            <a:off x="3169345" y="2613504"/>
            <a:ext cx="1346546" cy="523220"/>
          </a:xfrm>
          <a:prstGeom prst="rect">
            <a:avLst/>
          </a:prstGeom>
          <a:noFill/>
        </p:spPr>
        <p:txBody>
          <a:bodyPr wrap="square" lIns="91440" tIns="45720" rIns="91440" bIns="45720">
            <a:noAutofit/>
          </a:bodyPr>
          <a:lstStyle>
            <a:defPPr>
              <a:defRPr lang="en-US"/>
            </a:defP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10" normalizeH="0" baseline="0" noProof="0">
                <a:ln>
                  <a:noFill/>
                </a:ln>
                <a:solidFill>
                  <a:prstClr val="black"/>
                </a:solidFill>
                <a:effectLst/>
                <a:uLnTx/>
                <a:uFillTx/>
                <a:latin typeface="Arial" pitchFamily="34" charset="0"/>
                <a:ea typeface="+mn-ea"/>
                <a:cs typeface="+mn-cs"/>
              </a:rPr>
              <a:t>A Shared </a:t>
            </a:r>
          </a:p>
          <a:p>
            <a:pPr marL="0" marR="0" lvl="1"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10" normalizeH="0" baseline="0" noProof="0">
                <a:ln>
                  <a:noFill/>
                </a:ln>
                <a:solidFill>
                  <a:prstClr val="black"/>
                </a:solidFill>
                <a:effectLst/>
                <a:uLnTx/>
                <a:uFillTx/>
                <a:latin typeface="Arial" pitchFamily="34" charset="0"/>
                <a:ea typeface="+mn-ea"/>
                <a:cs typeface="+mn-cs"/>
              </a:rPr>
              <a:t>Story</a:t>
            </a:r>
            <a:endParaRPr kumimoji="0" lang="en-US" sz="1400" b="0" i="0" u="none" strike="noStrike" kern="1200" cap="none" spc="-10" normalizeH="0" baseline="0" noProof="0">
              <a:ln>
                <a:noFill/>
              </a:ln>
              <a:solidFill>
                <a:prstClr val="black"/>
              </a:solidFill>
              <a:effectLst/>
              <a:uLnTx/>
              <a:uFillTx/>
              <a:latin typeface="Arial" pitchFamily="34" charset="0"/>
              <a:ea typeface="+mn-ea"/>
              <a:cs typeface="+mn-cs"/>
              <a:sym typeface="Lora"/>
            </a:endParaRPr>
          </a:p>
        </p:txBody>
      </p:sp>
      <p:sp>
        <p:nvSpPr>
          <p:cNvPr id="105" name="TextBox 104">
            <a:extLst>
              <a:ext uri="{FF2B5EF4-FFF2-40B4-BE49-F238E27FC236}">
                <a16:creationId xmlns:a16="http://schemas.microsoft.com/office/drawing/2014/main" id="{2E64C25F-0DF0-AD45-1572-4F17573EC273}"/>
              </a:ext>
            </a:extLst>
          </p:cNvPr>
          <p:cNvSpPr txBox="1"/>
          <p:nvPr/>
        </p:nvSpPr>
        <p:spPr>
          <a:xfrm>
            <a:off x="5257142" y="2605552"/>
            <a:ext cx="1732996" cy="523220"/>
          </a:xfrm>
          <a:prstGeom prst="rect">
            <a:avLst/>
          </a:prstGeom>
          <a:noFill/>
        </p:spPr>
        <p:txBody>
          <a:bodyPr wrap="square" lIns="91440" tIns="45720" rIns="91440" bIns="45720">
            <a:spAutoFit/>
          </a:bodyPr>
          <a:lstStyle>
            <a:defPPr>
              <a:defRPr lang="en-US"/>
            </a:defPPr>
            <a:lvl2pPr lvl="1"/>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10" normalizeH="0" baseline="0" noProof="0">
                <a:ln>
                  <a:noFill/>
                </a:ln>
                <a:solidFill>
                  <a:prstClr val="black"/>
                </a:solidFill>
                <a:effectLst/>
                <a:uLnTx/>
                <a:uFillTx/>
                <a:latin typeface="Arial" pitchFamily="34" charset="0"/>
                <a:ea typeface="+mn-ea"/>
                <a:cs typeface="+mn-cs"/>
              </a:rPr>
              <a:t>Psychological Safety</a:t>
            </a:r>
            <a:endParaRPr kumimoji="0" lang="en-US" sz="1400" b="0" i="0" u="none" strike="noStrike" kern="1200" cap="none" spc="-10" normalizeH="0" baseline="0" noProof="0">
              <a:ln>
                <a:noFill/>
              </a:ln>
              <a:solidFill>
                <a:prstClr val="black"/>
              </a:solidFill>
              <a:effectLst/>
              <a:uLnTx/>
              <a:uFillTx/>
              <a:latin typeface="Arial" pitchFamily="34" charset="0"/>
              <a:ea typeface="+mn-ea"/>
              <a:cs typeface="+mn-cs"/>
              <a:sym typeface="Lora"/>
            </a:endParaRPr>
          </a:p>
        </p:txBody>
      </p:sp>
      <p:sp>
        <p:nvSpPr>
          <p:cNvPr id="106" name="TextBox 105">
            <a:extLst>
              <a:ext uri="{FF2B5EF4-FFF2-40B4-BE49-F238E27FC236}">
                <a16:creationId xmlns:a16="http://schemas.microsoft.com/office/drawing/2014/main" id="{6AF74C96-B625-D8A1-64F4-DD4D9E95994B}"/>
              </a:ext>
            </a:extLst>
          </p:cNvPr>
          <p:cNvSpPr txBox="1"/>
          <p:nvPr/>
        </p:nvSpPr>
        <p:spPr>
          <a:xfrm>
            <a:off x="7462785" y="2606269"/>
            <a:ext cx="1885634" cy="523220"/>
          </a:xfrm>
          <a:prstGeom prst="rect">
            <a:avLst/>
          </a:prstGeom>
          <a:noFill/>
        </p:spPr>
        <p:txBody>
          <a:bodyPr wrap="square" lIns="91440" tIns="45720" rIns="91440" bIns="45720">
            <a:spAutoFit/>
          </a:bodyPr>
          <a:lstStyle>
            <a:defPPr>
              <a:defRPr lang="en-US"/>
            </a:defPPr>
            <a:lvl2pPr lvl="1"/>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10" normalizeH="0" baseline="0" noProof="0">
                <a:ln>
                  <a:noFill/>
                </a:ln>
                <a:solidFill>
                  <a:prstClr val="black"/>
                </a:solidFill>
                <a:effectLst/>
                <a:uLnTx/>
                <a:uFillTx/>
                <a:latin typeface="Arial" pitchFamily="34" charset="0"/>
                <a:ea typeface="+mn-ea"/>
                <a:cs typeface="+mn-cs"/>
              </a:rPr>
              <a:t>Belonging Is Fundamental</a:t>
            </a:r>
            <a:endParaRPr kumimoji="0" lang="en-US" sz="1400" b="0" i="0" u="none" strike="noStrike" kern="1200" cap="none" spc="-10" normalizeH="0" baseline="0" noProof="0">
              <a:ln>
                <a:noFill/>
              </a:ln>
              <a:solidFill>
                <a:prstClr val="black"/>
              </a:solidFill>
              <a:effectLst/>
              <a:uLnTx/>
              <a:uFillTx/>
              <a:latin typeface="Arial" pitchFamily="34" charset="0"/>
              <a:ea typeface="+mn-ea"/>
              <a:cs typeface="+mn-cs"/>
              <a:sym typeface="Lora"/>
            </a:endParaRPr>
          </a:p>
        </p:txBody>
      </p:sp>
      <p:sp>
        <p:nvSpPr>
          <p:cNvPr id="107" name="TextBox 106">
            <a:extLst>
              <a:ext uri="{FF2B5EF4-FFF2-40B4-BE49-F238E27FC236}">
                <a16:creationId xmlns:a16="http://schemas.microsoft.com/office/drawing/2014/main" id="{6AFE7992-8265-01FC-60D0-42D0D096B716}"/>
              </a:ext>
            </a:extLst>
          </p:cNvPr>
          <p:cNvSpPr txBox="1"/>
          <p:nvPr/>
        </p:nvSpPr>
        <p:spPr>
          <a:xfrm>
            <a:off x="9812242" y="2606269"/>
            <a:ext cx="1750798" cy="738664"/>
          </a:xfrm>
          <a:prstGeom prst="rect">
            <a:avLst/>
          </a:prstGeom>
          <a:noFill/>
        </p:spPr>
        <p:txBody>
          <a:bodyPr wrap="square" lIns="91440" tIns="45720" rIns="91440" bIns="45720">
            <a:spAutoFit/>
          </a:bodyPr>
          <a:lstStyle>
            <a:defPPr>
              <a:defRPr lang="en-US"/>
            </a:defPPr>
            <a:lvl2pPr lvl="1"/>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10" normalizeH="0" baseline="0" noProof="0">
                <a:ln>
                  <a:noFill/>
                </a:ln>
                <a:solidFill>
                  <a:prstClr val="black"/>
                </a:solidFill>
                <a:effectLst/>
                <a:uLnTx/>
                <a:uFillTx/>
                <a:latin typeface="Arial" pitchFamily="34" charset="0"/>
                <a:ea typeface="+mn-ea"/>
                <a:cs typeface="+mn-cs"/>
              </a:rPr>
              <a:t>Ritualize High Performance Behaviors</a:t>
            </a:r>
            <a:endParaRPr kumimoji="0" lang="en-US" sz="1400" b="0" i="0" u="none" strike="noStrike" kern="1200" cap="none" spc="-10" normalizeH="0" baseline="0" noProof="0">
              <a:ln>
                <a:noFill/>
              </a:ln>
              <a:solidFill>
                <a:prstClr val="black"/>
              </a:solidFill>
              <a:effectLst/>
              <a:uLnTx/>
              <a:uFillTx/>
              <a:latin typeface="Arial" pitchFamily="34" charset="0"/>
              <a:ea typeface="+mn-ea"/>
              <a:cs typeface="+mn-cs"/>
              <a:sym typeface="Lora"/>
            </a:endParaRPr>
          </a:p>
        </p:txBody>
      </p:sp>
      <p:sp>
        <p:nvSpPr>
          <p:cNvPr id="108" name="TextBox 107">
            <a:extLst>
              <a:ext uri="{FF2B5EF4-FFF2-40B4-BE49-F238E27FC236}">
                <a16:creationId xmlns:a16="http://schemas.microsoft.com/office/drawing/2014/main" id="{619202DB-17C9-51E4-7BF8-F34C8C08754E}"/>
              </a:ext>
            </a:extLst>
          </p:cNvPr>
          <p:cNvSpPr txBox="1"/>
          <p:nvPr/>
        </p:nvSpPr>
        <p:spPr>
          <a:xfrm>
            <a:off x="639751" y="2605552"/>
            <a:ext cx="1882795" cy="523220"/>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10" normalizeH="0" baseline="0" noProof="0">
                <a:ln>
                  <a:noFill/>
                </a:ln>
                <a:solidFill>
                  <a:prstClr val="black"/>
                </a:solidFill>
                <a:effectLst/>
                <a:uLnTx/>
                <a:uFillTx/>
                <a:latin typeface="Arial" pitchFamily="34" charset="0"/>
                <a:ea typeface="+mn-ea"/>
                <a:cs typeface="+mn-cs"/>
              </a:rPr>
              <a:t>Shared Values and Clarity of Goals</a:t>
            </a:r>
          </a:p>
        </p:txBody>
      </p:sp>
      <p:pic>
        <p:nvPicPr>
          <p:cNvPr id="109" name="Picture 108">
            <a:extLst>
              <a:ext uri="{FF2B5EF4-FFF2-40B4-BE49-F238E27FC236}">
                <a16:creationId xmlns:a16="http://schemas.microsoft.com/office/drawing/2014/main" id="{78F3C9BD-CAF4-9E09-5C1A-6083BA4C814E}"/>
              </a:ext>
            </a:extLst>
          </p:cNvPr>
          <p:cNvPicPr>
            <a:picLocks noChangeAspect="1"/>
          </p:cNvPicPr>
          <p:nvPr/>
        </p:nvPicPr>
        <p:blipFill>
          <a:blip r:embed="rId2"/>
          <a:srcRect/>
          <a:stretch/>
        </p:blipFill>
        <p:spPr>
          <a:xfrm>
            <a:off x="5297435" y="4289690"/>
            <a:ext cx="1714824" cy="530778"/>
          </a:xfrm>
          <a:prstGeom prst="rect">
            <a:avLst/>
          </a:prstGeom>
        </p:spPr>
      </p:pic>
      <p:pic>
        <p:nvPicPr>
          <p:cNvPr id="110" name="Picture 109">
            <a:extLst>
              <a:ext uri="{FF2B5EF4-FFF2-40B4-BE49-F238E27FC236}">
                <a16:creationId xmlns:a16="http://schemas.microsoft.com/office/drawing/2014/main" id="{7077FB0E-534E-2740-4AE3-C482F815B2F1}"/>
              </a:ext>
            </a:extLst>
          </p:cNvPr>
          <p:cNvPicPr>
            <a:picLocks noChangeAspect="1"/>
          </p:cNvPicPr>
          <p:nvPr/>
        </p:nvPicPr>
        <p:blipFill>
          <a:blip r:embed="rId3">
            <a:duotone>
              <a:srgbClr val="765FFF"/>
              <a:srgbClr val="FFFFFF"/>
            </a:duotone>
          </a:blip>
          <a:srcRect/>
          <a:stretch/>
        </p:blipFill>
        <p:spPr>
          <a:xfrm>
            <a:off x="7917217" y="4193341"/>
            <a:ext cx="1002549" cy="753870"/>
          </a:xfrm>
          <a:prstGeom prst="rect">
            <a:avLst/>
          </a:prstGeom>
        </p:spPr>
      </p:pic>
      <p:pic>
        <p:nvPicPr>
          <p:cNvPr id="111" name="Picture 110" descr="A black and orange logo&#10;&#10;AI-generated content may be incorrect.">
            <a:extLst>
              <a:ext uri="{FF2B5EF4-FFF2-40B4-BE49-F238E27FC236}">
                <a16:creationId xmlns:a16="http://schemas.microsoft.com/office/drawing/2014/main" id="{F0FE3289-67F7-7DDD-0322-510238AF64A1}"/>
              </a:ext>
            </a:extLst>
          </p:cNvPr>
          <p:cNvPicPr>
            <a:picLocks noChangeAspect="1"/>
          </p:cNvPicPr>
          <p:nvPr/>
        </p:nvPicPr>
        <p:blipFill>
          <a:blip r:embed="rId4"/>
          <a:stretch>
            <a:fillRect/>
          </a:stretch>
        </p:blipFill>
        <p:spPr>
          <a:xfrm>
            <a:off x="783393" y="3821172"/>
            <a:ext cx="1540347" cy="1540347"/>
          </a:xfrm>
          <a:prstGeom prst="rect">
            <a:avLst/>
          </a:prstGeom>
        </p:spPr>
      </p:pic>
      <p:pic>
        <p:nvPicPr>
          <p:cNvPr id="112" name="Picture 111" descr="A black background with a black square&#10;&#10;AI-generated content may be incorrect.">
            <a:extLst>
              <a:ext uri="{FF2B5EF4-FFF2-40B4-BE49-F238E27FC236}">
                <a16:creationId xmlns:a16="http://schemas.microsoft.com/office/drawing/2014/main" id="{B99CF376-29D8-EA98-16A3-03641306752B}"/>
              </a:ext>
            </a:extLst>
          </p:cNvPr>
          <p:cNvPicPr>
            <a:picLocks noChangeAspect="1"/>
          </p:cNvPicPr>
          <p:nvPr/>
        </p:nvPicPr>
        <p:blipFill>
          <a:blip r:embed="rId5"/>
          <a:stretch>
            <a:fillRect/>
          </a:stretch>
        </p:blipFill>
        <p:spPr>
          <a:xfrm>
            <a:off x="3322347" y="4317612"/>
            <a:ext cx="1148125" cy="532798"/>
          </a:xfrm>
          <a:prstGeom prst="rect">
            <a:avLst/>
          </a:prstGeom>
        </p:spPr>
      </p:pic>
      <p:pic>
        <p:nvPicPr>
          <p:cNvPr id="113" name="Picture 112" descr="A green book with black background&#10;&#10;AI-generated content may be incorrect.">
            <a:extLst>
              <a:ext uri="{FF2B5EF4-FFF2-40B4-BE49-F238E27FC236}">
                <a16:creationId xmlns:a16="http://schemas.microsoft.com/office/drawing/2014/main" id="{1FA46ECA-E352-A60C-5610-EEE3475249B5}"/>
              </a:ext>
            </a:extLst>
          </p:cNvPr>
          <p:cNvPicPr>
            <a:picLocks noChangeAspect="1"/>
          </p:cNvPicPr>
          <p:nvPr/>
        </p:nvPicPr>
        <p:blipFill>
          <a:blip r:embed="rId6">
            <a:duotone>
              <a:srgbClr val="765FFF"/>
              <a:srgbClr val="FFFFFF"/>
            </a:duotone>
          </a:blip>
          <a:stretch>
            <a:fillRect/>
          </a:stretch>
        </p:blipFill>
        <p:spPr>
          <a:xfrm>
            <a:off x="10345098" y="4147323"/>
            <a:ext cx="876856" cy="673360"/>
          </a:xfrm>
          <a:prstGeom prst="rect">
            <a:avLst/>
          </a:prstGeom>
        </p:spPr>
      </p:pic>
      <p:sp>
        <p:nvSpPr>
          <p:cNvPr id="114" name="TextBox 113">
            <a:extLst>
              <a:ext uri="{FF2B5EF4-FFF2-40B4-BE49-F238E27FC236}">
                <a16:creationId xmlns:a16="http://schemas.microsoft.com/office/drawing/2014/main" id="{016DD885-07E2-445A-9846-F8F19029A59B}"/>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3625479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04" grpId="0"/>
      <p:bldP spid="105" grpId="0"/>
      <p:bldP spid="106" grpId="0"/>
      <p:bldP spid="107" grpId="0"/>
      <p:bldP spid="10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000989A-1731-9BA8-94E3-5AA11E504D96}"/>
              </a:ext>
            </a:extLst>
          </p:cNvPr>
          <p:cNvSpPr>
            <a:spLocks noGrp="1"/>
          </p:cNvSpPr>
          <p:nvPr>
            <p:ph type="sldNum" sz="quarter" idx="4"/>
          </p:nvPr>
        </p:nvSpPr>
        <p:spPr/>
        <p:txBody>
          <a:bodyPr/>
          <a:lstStyle/>
          <a:p>
            <a:pPr algn="ctr"/>
            <a:fld id="{1875A764-3B06-454E-8ABA-2F6ED0EB58E9}" type="slidenum">
              <a:rPr lang="en-US" smtClean="0"/>
              <a:t>11</a:t>
            </a:fld>
            <a:endParaRPr lang="en-US"/>
          </a:p>
        </p:txBody>
      </p:sp>
      <p:sp>
        <p:nvSpPr>
          <p:cNvPr id="2" name="Title 1">
            <a:extLst>
              <a:ext uri="{FF2B5EF4-FFF2-40B4-BE49-F238E27FC236}">
                <a16:creationId xmlns:a16="http://schemas.microsoft.com/office/drawing/2014/main" id="{3D277661-D024-B436-5B51-9A931720059B}"/>
              </a:ext>
            </a:extLst>
          </p:cNvPr>
          <p:cNvSpPr>
            <a:spLocks noGrp="1"/>
          </p:cNvSpPr>
          <p:nvPr>
            <p:ph type="title"/>
          </p:nvPr>
        </p:nvSpPr>
        <p:spPr/>
        <p:txBody>
          <a:bodyPr/>
          <a:lstStyle/>
          <a:p>
            <a:r>
              <a:rPr lang="en-US" dirty="0"/>
              <a:t>During the Offsite, We Jointly Develop the High-performance Team Journey</a:t>
            </a:r>
          </a:p>
        </p:txBody>
      </p:sp>
      <p:grpSp>
        <p:nvGrpSpPr>
          <p:cNvPr id="5" name="Group 4">
            <a:extLst>
              <a:ext uri="{FF2B5EF4-FFF2-40B4-BE49-F238E27FC236}">
                <a16:creationId xmlns:a16="http://schemas.microsoft.com/office/drawing/2014/main" id="{B4B3EEF6-AC77-39BA-6371-99152C10DABF}"/>
              </a:ext>
            </a:extLst>
          </p:cNvPr>
          <p:cNvGrpSpPr/>
          <p:nvPr/>
        </p:nvGrpSpPr>
        <p:grpSpPr>
          <a:xfrm>
            <a:off x="945685" y="3636524"/>
            <a:ext cx="10609554" cy="1200329"/>
            <a:chOff x="945685" y="3697780"/>
            <a:chExt cx="10609554" cy="1200329"/>
          </a:xfrm>
        </p:grpSpPr>
        <p:sp>
          <p:nvSpPr>
            <p:cNvPr id="6" name="TextBox 5">
              <a:extLst>
                <a:ext uri="{FF2B5EF4-FFF2-40B4-BE49-F238E27FC236}">
                  <a16:creationId xmlns:a16="http://schemas.microsoft.com/office/drawing/2014/main" id="{BE0552A6-B7E8-28FA-55AD-FB883BBB2775}"/>
                </a:ext>
              </a:extLst>
            </p:cNvPr>
            <p:cNvSpPr txBox="1"/>
            <p:nvPr/>
          </p:nvSpPr>
          <p:spPr>
            <a:xfrm>
              <a:off x="2175972" y="3697780"/>
              <a:ext cx="9379267" cy="1200329"/>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200" b="1" i="0" u="none" strike="noStrike" kern="0" cap="none" spc="-10" normalizeH="0" baseline="0" noProof="0" dirty="0">
                  <a:ln>
                    <a:noFill/>
                  </a:ln>
                  <a:solidFill>
                    <a:schemeClr val="accent1"/>
                  </a:solidFill>
                  <a:effectLst/>
                  <a:uLnTx/>
                  <a:uFillTx/>
                  <a:latin typeface="Segoe UI" pitchFamily="34" charset="0"/>
                  <a:ea typeface="Helvetica Neue" panose="02000503000000020004" pitchFamily="2" charset="0"/>
                  <a:cs typeface="Helvetica Neue" panose="02000503000000020004" pitchFamily="2" charset="0"/>
                </a:rPr>
                <a:t>Interdependencies</a:t>
              </a:r>
            </a:p>
            <a:p>
              <a:pPr marL="285750" marR="0" lvl="0" indent="-285750" fontAlgn="auto">
                <a:lnSpc>
                  <a:spcPct val="100000"/>
                </a:lnSpc>
                <a:spcBef>
                  <a:spcPts val="0"/>
                </a:spcBef>
                <a:spcAft>
                  <a:spcPts val="0"/>
                </a:spcAft>
                <a:buClrTx/>
                <a:buSzTx/>
                <a:buBlip>
                  <a:blip r:embed="rId2"/>
                </a:buBlip>
                <a:tabLst/>
                <a:defRPr>
                  <a:solidFill>
                    <a:srgbClr val="1D1D1D"/>
                  </a:solidFill>
                </a:defRPr>
              </a:pPr>
              <a:r>
                <a:rPr kumimoji="0" lang="en-GB" sz="1200" b="0" i="0" u="none" strike="noStrike" kern="0" cap="none" spc="-10" normalizeH="0" baseline="0" noProof="0" dirty="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Identify top 5 task </a:t>
              </a:r>
              <a:r>
                <a:rPr lang="en-GB" sz="1200" kern="0" spc="-10" dirty="0">
                  <a:solidFill>
                    <a:srgbClr val="1D1D1D"/>
                  </a:solidFill>
                  <a:latin typeface="Arial" pitchFamily="34" charset="0"/>
                  <a:ea typeface="Helvetica Neue" panose="02000503000000020004" pitchFamily="2" charset="0"/>
                  <a:cs typeface="Helvetica Neue" panose="02000503000000020004" pitchFamily="2" charset="0"/>
                </a:rPr>
                <a:t>interdependencies and regularly discuss progress in weekly team meetings (on rotating basis)</a:t>
              </a:r>
            </a:p>
            <a:p>
              <a:pPr marL="285750" indent="-285750">
                <a:buBlip>
                  <a:blip r:embed="rId2"/>
                </a:buBlip>
                <a:defRPr>
                  <a:solidFill>
                    <a:srgbClr val="1D1D1D"/>
                  </a:solidFill>
                </a:defRPr>
              </a:pPr>
              <a:r>
                <a:rPr lang="en-US" sz="1200" kern="0" spc="-10" dirty="0">
                  <a:solidFill>
                    <a:srgbClr val="1D1D1D"/>
                  </a:solidFill>
                  <a:latin typeface="Arial" pitchFamily="34" charset="0"/>
                  <a:ea typeface="Helvetica Neue" panose="02000503000000020004" pitchFamily="2" charset="0"/>
                  <a:cs typeface="Helvetica Neue" panose="02000503000000020004" pitchFamily="2" charset="0"/>
                </a:rPr>
                <a:t>What trade-offs need to be made to deliver on priorities? Where do we need to reallocate resources to move faster?</a:t>
              </a:r>
            </a:p>
            <a:p>
              <a:pPr marL="285750" indent="-285750">
                <a:buBlip>
                  <a:blip r:embed="rId2"/>
                </a:buBlip>
                <a:defRPr>
                  <a:solidFill>
                    <a:srgbClr val="1D1D1D"/>
                  </a:solidFill>
                </a:defRPr>
              </a:pPr>
              <a:r>
                <a:rPr lang="en-US" sz="1200" kern="0" spc="-10" dirty="0">
                  <a:solidFill>
                    <a:srgbClr val="1D1D1D"/>
                  </a:solidFill>
                  <a:latin typeface="Arial" pitchFamily="34" charset="0"/>
                  <a:ea typeface="Helvetica Neue" panose="02000503000000020004" pitchFamily="2" charset="0"/>
                  <a:cs typeface="Helvetica Neue" panose="02000503000000020004" pitchFamily="2" charset="0"/>
                </a:rPr>
                <a:t>Call out interdependencies early—if your decision affects another function, align before acting.</a:t>
              </a:r>
            </a:p>
            <a:p>
              <a:pPr marL="285750" indent="-285750">
                <a:buBlip>
                  <a:blip r:embed="rId2"/>
                </a:buBlip>
                <a:defRPr>
                  <a:solidFill>
                    <a:srgbClr val="1D1D1D"/>
                  </a:solidFill>
                </a:defRPr>
              </a:pPr>
              <a:r>
                <a:rPr lang="en-US" sz="1200" kern="0" spc="-10" dirty="0">
                  <a:solidFill>
                    <a:srgbClr val="1D1D1D"/>
                  </a:solidFill>
                  <a:latin typeface="Arial" pitchFamily="34" charset="0"/>
                  <a:ea typeface="Helvetica Neue" panose="02000503000000020004" pitchFamily="2" charset="0"/>
                  <a:cs typeface="Helvetica Neue" panose="02000503000000020004" pitchFamily="2" charset="0"/>
                </a:rPr>
                <a:t>Build transparency—share roadblocks and ask for help where needed.</a:t>
              </a:r>
            </a:p>
            <a:p>
              <a:pPr marL="285750" indent="-285750">
                <a:buBlip>
                  <a:blip r:embed="rId2"/>
                </a:buBlip>
                <a:defRPr>
                  <a:solidFill>
                    <a:srgbClr val="1D1D1D"/>
                  </a:solidFill>
                </a:defRPr>
              </a:pPr>
              <a:r>
                <a:rPr lang="en-US" sz="1200" kern="0" spc="-10" dirty="0">
                  <a:solidFill>
                    <a:srgbClr val="1D1D1D"/>
                  </a:solidFill>
                  <a:latin typeface="Arial" pitchFamily="34" charset="0"/>
                  <a:ea typeface="Helvetica Neue" panose="02000503000000020004" pitchFamily="2" charset="0"/>
                  <a:cs typeface="Helvetica Neue" panose="02000503000000020004" pitchFamily="2" charset="0"/>
                </a:rPr>
                <a:t>Who do I depend on to deliver </a:t>
              </a:r>
              <a:r>
                <a:rPr kumimoji="0" lang="en-US" sz="1200" b="0" i="0" u="none" strike="noStrike" kern="0" cap="none" spc="-10" normalizeH="0" baseline="0" noProof="0" dirty="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for me? How can I help enable others’ priorities? </a:t>
              </a:r>
            </a:p>
          </p:txBody>
        </p:sp>
        <p:sp>
          <p:nvSpPr>
            <p:cNvPr id="7" name="Oval 6">
              <a:extLst>
                <a:ext uri="{FF2B5EF4-FFF2-40B4-BE49-F238E27FC236}">
                  <a16:creationId xmlns:a16="http://schemas.microsoft.com/office/drawing/2014/main" id="{B03651C5-A7A3-0976-221D-559A582714C3}"/>
                </a:ext>
              </a:extLst>
            </p:cNvPr>
            <p:cNvSpPr/>
            <p:nvPr/>
          </p:nvSpPr>
          <p:spPr>
            <a:xfrm>
              <a:off x="945685" y="3819893"/>
              <a:ext cx="914400" cy="914400"/>
            </a:xfrm>
            <a:prstGeom prst="ellipse">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pic>
          <p:nvPicPr>
            <p:cNvPr id="8" name="Picture 7" descr="JTBD Key Work">
              <a:extLst>
                <a:ext uri="{FF2B5EF4-FFF2-40B4-BE49-F238E27FC236}">
                  <a16:creationId xmlns:a16="http://schemas.microsoft.com/office/drawing/2014/main" id="{B1878A4C-306C-A120-AE81-5D072C1201D4}"/>
                </a:ext>
              </a:extLst>
            </p:cNvPr>
            <p:cNvPicPr>
              <a:picLocks noChangeAspect="1"/>
            </p:cNvPicPr>
            <p:nvPr/>
          </p:nvPicPr>
          <p:blipFill>
            <a:blip r:embed="rId3">
              <a:duotone>
                <a:srgbClr val="765FFF"/>
                <a:srgbClr val="FFFFFF"/>
              </a:duotone>
            </a:blip>
            <a:stretch>
              <a:fillRect/>
            </a:stretch>
          </p:blipFill>
          <p:spPr>
            <a:xfrm>
              <a:off x="1042885" y="3917093"/>
              <a:ext cx="720000" cy="720000"/>
            </a:xfrm>
            <a:prstGeom prst="rect">
              <a:avLst/>
            </a:prstGeom>
          </p:spPr>
        </p:pic>
      </p:grpSp>
      <p:grpSp>
        <p:nvGrpSpPr>
          <p:cNvPr id="9" name="Group 8">
            <a:extLst>
              <a:ext uri="{FF2B5EF4-FFF2-40B4-BE49-F238E27FC236}">
                <a16:creationId xmlns:a16="http://schemas.microsoft.com/office/drawing/2014/main" id="{C7DF2556-FBAB-A17A-AAA2-0262F272F1FB}"/>
              </a:ext>
            </a:extLst>
          </p:cNvPr>
          <p:cNvGrpSpPr/>
          <p:nvPr/>
        </p:nvGrpSpPr>
        <p:grpSpPr>
          <a:xfrm>
            <a:off x="945685" y="5003447"/>
            <a:ext cx="10609554" cy="914400"/>
            <a:chOff x="945685" y="4810939"/>
            <a:chExt cx="10609554" cy="914400"/>
          </a:xfrm>
        </p:grpSpPr>
        <p:sp>
          <p:nvSpPr>
            <p:cNvPr id="10" name="TextBox 9">
              <a:extLst>
                <a:ext uri="{FF2B5EF4-FFF2-40B4-BE49-F238E27FC236}">
                  <a16:creationId xmlns:a16="http://schemas.microsoft.com/office/drawing/2014/main" id="{F8D8988A-3B77-648A-B4A3-3D70F09C8993}"/>
                </a:ext>
              </a:extLst>
            </p:cNvPr>
            <p:cNvSpPr txBox="1"/>
            <p:nvPr/>
          </p:nvSpPr>
          <p:spPr>
            <a:xfrm>
              <a:off x="2175972" y="4852641"/>
              <a:ext cx="9379267" cy="830997"/>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200" b="1" i="0" u="none" strike="noStrike" kern="0" cap="none" spc="-10" normalizeH="0" baseline="0" noProof="0" dirty="0">
                  <a:ln>
                    <a:noFill/>
                  </a:ln>
                  <a:solidFill>
                    <a:schemeClr val="accent1"/>
                  </a:solidFill>
                  <a:effectLst/>
                  <a:uLnTx/>
                  <a:uFillTx/>
                  <a:latin typeface="Segoe UI" pitchFamily="34" charset="0"/>
                  <a:ea typeface="Helvetica Neue" panose="02000503000000020004" pitchFamily="2" charset="0"/>
                  <a:cs typeface="Helvetica Neue" panose="02000503000000020004" pitchFamily="2" charset="0"/>
                </a:rPr>
                <a:t>Role Model</a:t>
              </a:r>
            </a:p>
            <a:p>
              <a:pPr marL="285750" indent="-285750">
                <a:buBlip>
                  <a:blip r:embed="rId2"/>
                </a:buBlip>
                <a:defRPr>
                  <a:solidFill>
                    <a:srgbClr val="1D1D1D"/>
                  </a:solidFill>
                </a:defRPr>
              </a:pPr>
              <a:r>
                <a:rPr lang="en-US" sz="1200" kern="0" spc="-10" dirty="0">
                  <a:solidFill>
                    <a:srgbClr val="1D1D1D"/>
                  </a:solidFill>
                  <a:latin typeface="Arial" pitchFamily="34" charset="0"/>
                  <a:ea typeface="Helvetica Neue" panose="02000503000000020004" pitchFamily="2" charset="0"/>
                  <a:cs typeface="Helvetica Neue" panose="02000503000000020004" pitchFamily="2" charset="0"/>
                </a:rPr>
                <a:t>Jointly communicate with organization to role model values &amp; behaviors (incl. joint scorecard for Chiefs)</a:t>
              </a:r>
            </a:p>
            <a:p>
              <a:pPr marL="285750" indent="-285750">
                <a:buBlip>
                  <a:blip r:embed="rId2"/>
                </a:buBlip>
                <a:defRPr>
                  <a:solidFill>
                    <a:srgbClr val="1D1D1D"/>
                  </a:solidFill>
                </a:defRPr>
              </a:pPr>
              <a:r>
                <a:rPr lang="en-US" sz="1200" kern="0" spc="-10" dirty="0">
                  <a:solidFill>
                    <a:srgbClr val="1D1D1D"/>
                  </a:solidFill>
                  <a:latin typeface="Arial" pitchFamily="34" charset="0"/>
                  <a:ea typeface="Helvetica Neue" panose="02000503000000020004" pitchFamily="2" charset="0"/>
                  <a:cs typeface="Helvetica Neue" panose="02000503000000020004" pitchFamily="2" charset="0"/>
                </a:rPr>
                <a:t>Strengthen </a:t>
              </a:r>
              <a:r>
                <a:rPr kumimoji="0" lang="en-US" sz="1200" b="0" i="0" u="none" strike="noStrike" kern="0" cap="none" spc="-10" normalizeH="0" baseline="0" noProof="0" dirty="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committees (</a:t>
              </a:r>
              <a:r>
                <a:rPr lang="en-US" sz="1200" kern="0" spc="-10" dirty="0">
                  <a:solidFill>
                    <a:srgbClr val="1D1D1D"/>
                  </a:solidFill>
                  <a:latin typeface="Arial" pitchFamily="34" charset="0"/>
                  <a:ea typeface="Helvetica Neue" panose="02000503000000020004" pitchFamily="2" charset="0"/>
                  <a:cs typeface="Helvetica Neue" panose="02000503000000020004" pitchFamily="2" charset="0"/>
                </a:rPr>
                <a:t>priorities, decision making, information flow) to drive cross functional excellence. </a:t>
              </a:r>
            </a:p>
            <a:p>
              <a:pPr marL="285750" marR="0" lvl="0" indent="-285750" fontAlgn="auto">
                <a:lnSpc>
                  <a:spcPct val="100000"/>
                </a:lnSpc>
                <a:spcBef>
                  <a:spcPts val="0"/>
                </a:spcBef>
                <a:spcAft>
                  <a:spcPts val="0"/>
                </a:spcAft>
                <a:buClrTx/>
                <a:buSzTx/>
                <a:buBlip>
                  <a:blip r:embed="rId2"/>
                </a:buBlip>
                <a:tabLst/>
                <a:defRPr>
                  <a:solidFill>
                    <a:srgbClr val="1D1D1D"/>
                  </a:solidFill>
                </a:defRPr>
              </a:pPr>
              <a:r>
                <a:rPr lang="en-US" sz="1200" kern="0" spc="-10" dirty="0">
                  <a:solidFill>
                    <a:srgbClr val="1D1D1D"/>
                  </a:solidFill>
                  <a:latin typeface="Arial" pitchFamily="34" charset="0"/>
                  <a:ea typeface="Helvetica Neue" panose="02000503000000020004" pitchFamily="2" charset="0"/>
                  <a:cs typeface="Helvetica Neue" panose="02000503000000020004" pitchFamily="2" charset="0"/>
                </a:rPr>
                <a:t>Review role of LT members in </a:t>
              </a:r>
              <a:r>
                <a:rPr kumimoji="0" lang="en-US" sz="1200" b="0" i="0" u="none" strike="noStrike" kern="0" cap="none" spc="-10" normalizeH="0" baseline="0" noProof="0" dirty="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committees to further empower, increase delegation and increase pace. </a:t>
              </a:r>
            </a:p>
          </p:txBody>
        </p:sp>
        <p:sp>
          <p:nvSpPr>
            <p:cNvPr id="11" name="Oval 10">
              <a:extLst>
                <a:ext uri="{FF2B5EF4-FFF2-40B4-BE49-F238E27FC236}">
                  <a16:creationId xmlns:a16="http://schemas.microsoft.com/office/drawing/2014/main" id="{1A6A8A58-D02C-6F83-679D-91DEAD6F7E48}"/>
                </a:ext>
              </a:extLst>
            </p:cNvPr>
            <p:cNvSpPr/>
            <p:nvPr/>
          </p:nvSpPr>
          <p:spPr>
            <a:xfrm>
              <a:off x="945685" y="4810939"/>
              <a:ext cx="914400" cy="914400"/>
            </a:xfrm>
            <a:prstGeom prst="ellipse">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pic>
          <p:nvPicPr>
            <p:cNvPr id="12" name="Picture 11" descr="Choose">
              <a:extLst>
                <a:ext uri="{FF2B5EF4-FFF2-40B4-BE49-F238E27FC236}">
                  <a16:creationId xmlns:a16="http://schemas.microsoft.com/office/drawing/2014/main" id="{A887CECD-9B95-F151-4D47-14C84B87E45F}"/>
                </a:ext>
              </a:extLst>
            </p:cNvPr>
            <p:cNvPicPr>
              <a:picLocks noChangeAspect="1"/>
            </p:cNvPicPr>
            <p:nvPr/>
          </p:nvPicPr>
          <p:blipFill>
            <a:blip r:embed="rId4">
              <a:duotone>
                <a:srgbClr val="765FFF"/>
                <a:srgbClr val="FFFFFF"/>
              </a:duotone>
            </a:blip>
            <a:stretch>
              <a:fillRect/>
            </a:stretch>
          </p:blipFill>
          <p:spPr>
            <a:xfrm>
              <a:off x="1064793" y="4930047"/>
              <a:ext cx="676184" cy="676184"/>
            </a:xfrm>
            <a:prstGeom prst="rect">
              <a:avLst/>
            </a:prstGeom>
          </p:spPr>
        </p:pic>
      </p:grpSp>
      <p:grpSp>
        <p:nvGrpSpPr>
          <p:cNvPr id="13" name="Group 12">
            <a:extLst>
              <a:ext uri="{FF2B5EF4-FFF2-40B4-BE49-F238E27FC236}">
                <a16:creationId xmlns:a16="http://schemas.microsoft.com/office/drawing/2014/main" id="{B30894C9-5B69-F9E4-65EC-7EBA700B6603}"/>
              </a:ext>
            </a:extLst>
          </p:cNvPr>
          <p:cNvGrpSpPr/>
          <p:nvPr/>
        </p:nvGrpSpPr>
        <p:grpSpPr>
          <a:xfrm>
            <a:off x="945685" y="2269602"/>
            <a:ext cx="10609554" cy="1200329"/>
            <a:chOff x="945685" y="2263519"/>
            <a:chExt cx="10609554" cy="1200329"/>
          </a:xfrm>
        </p:grpSpPr>
        <p:sp>
          <p:nvSpPr>
            <p:cNvPr id="14" name="TextBox 13">
              <a:extLst>
                <a:ext uri="{FF2B5EF4-FFF2-40B4-BE49-F238E27FC236}">
                  <a16:creationId xmlns:a16="http://schemas.microsoft.com/office/drawing/2014/main" id="{FFFB0DCB-FFB5-C292-F22F-B950F0889CF4}"/>
                </a:ext>
              </a:extLst>
            </p:cNvPr>
            <p:cNvSpPr txBox="1"/>
            <p:nvPr/>
          </p:nvSpPr>
          <p:spPr>
            <a:xfrm>
              <a:off x="2175972" y="2263519"/>
              <a:ext cx="9379267" cy="1200329"/>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200" b="1" i="0" u="none" strike="noStrike" kern="0" cap="none" spc="-10" normalizeH="0" baseline="0" noProof="0" dirty="0">
                  <a:ln>
                    <a:noFill/>
                  </a:ln>
                  <a:solidFill>
                    <a:schemeClr val="accent1"/>
                  </a:solidFill>
                  <a:effectLst/>
                  <a:uLnTx/>
                  <a:uFillTx/>
                  <a:latin typeface="Segoe UI" pitchFamily="34" charset="0"/>
                  <a:ea typeface="Helvetica Neue" panose="02000503000000020004" pitchFamily="2" charset="0"/>
                  <a:cs typeface="Helvetica Neue" panose="02000503000000020004" pitchFamily="2" charset="0"/>
                </a:rPr>
                <a:t>Continue the Team Building Journey</a:t>
              </a:r>
            </a:p>
            <a:p>
              <a:pPr marL="285750" marR="0" lvl="0" indent="-285750" fontAlgn="auto">
                <a:lnSpc>
                  <a:spcPct val="100000"/>
                </a:lnSpc>
                <a:spcBef>
                  <a:spcPts val="0"/>
                </a:spcBef>
                <a:spcAft>
                  <a:spcPts val="0"/>
                </a:spcAft>
                <a:buClrTx/>
                <a:buSzTx/>
                <a:buBlip>
                  <a:blip r:embed="rId2"/>
                </a:buBlip>
                <a:tabLst/>
                <a:defRPr>
                  <a:solidFill>
                    <a:srgbClr val="1D1D1D"/>
                  </a:solidFill>
                </a:defRPr>
              </a:pPr>
              <a:r>
                <a:rPr kumimoji="0" lang="en-US" sz="1200" b="0" i="0" u="none" strike="noStrike" kern="0" cap="none" spc="-10" normalizeH="0" baseline="0" noProof="0" dirty="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Hold 2 in-person team offsites per year to align on priorities and execution plans, review progress and interdependencies, </a:t>
              </a:r>
              <a:r>
                <a:rPr lang="en-US" sz="1200" kern="0" spc="-10" dirty="0">
                  <a:solidFill>
                    <a:srgbClr val="1D1D1D"/>
                  </a:solidFill>
                  <a:latin typeface="Arial" pitchFamily="34" charset="0"/>
                  <a:ea typeface="Helvetica Neue" panose="02000503000000020004" pitchFamily="2" charset="0"/>
                  <a:cs typeface="Helvetica Neue" panose="02000503000000020004" pitchFamily="2" charset="0"/>
                </a:rPr>
                <a:t>strengthen trust and collaboration. </a:t>
              </a:r>
            </a:p>
            <a:p>
              <a:pPr marL="285750" marR="0" lvl="0" indent="-285750" fontAlgn="auto">
                <a:lnSpc>
                  <a:spcPct val="100000"/>
                </a:lnSpc>
                <a:spcBef>
                  <a:spcPts val="0"/>
                </a:spcBef>
                <a:spcAft>
                  <a:spcPts val="0"/>
                </a:spcAft>
                <a:buClrTx/>
                <a:buSzTx/>
                <a:buBlip>
                  <a:blip r:embed="rId2"/>
                </a:buBlip>
                <a:tabLst/>
                <a:defRPr>
                  <a:solidFill>
                    <a:srgbClr val="1D1D1D"/>
                  </a:solidFill>
                </a:defRPr>
              </a:pPr>
              <a:r>
                <a:rPr lang="en-US" sz="1200" kern="0" spc="-10" dirty="0">
                  <a:solidFill>
                    <a:srgbClr val="1D1D1D"/>
                  </a:solidFill>
                  <a:latin typeface="Arial" pitchFamily="34" charset="0"/>
                  <a:ea typeface="Helvetica Neue" panose="02000503000000020004" pitchFamily="2" charset="0"/>
                  <a:cs typeface="Helvetica Neue" panose="02000503000000020004" pitchFamily="2" charset="0"/>
                </a:rPr>
                <a:t>Continue team building activities to build stronger personal relationships- could include simple lunches, coffee.</a:t>
              </a:r>
            </a:p>
            <a:p>
              <a:pPr marL="285750" marR="0" lvl="0" indent="-285750" fontAlgn="auto">
                <a:lnSpc>
                  <a:spcPct val="100000"/>
                </a:lnSpc>
                <a:spcBef>
                  <a:spcPts val="0"/>
                </a:spcBef>
                <a:spcAft>
                  <a:spcPts val="0"/>
                </a:spcAft>
                <a:buClrTx/>
                <a:buSzTx/>
                <a:buBlip>
                  <a:blip r:embed="rId2"/>
                </a:buBlip>
                <a:tabLst/>
                <a:defRPr>
                  <a:solidFill>
                    <a:srgbClr val="1D1D1D"/>
                  </a:solidFill>
                </a:defRPr>
              </a:pPr>
              <a:r>
                <a:rPr lang="en-US" sz="1200" kern="0" spc="-10" dirty="0">
                  <a:solidFill>
                    <a:srgbClr val="1D1D1D"/>
                  </a:solidFill>
                  <a:latin typeface="Arial" pitchFamily="34" charset="0"/>
                  <a:ea typeface="Helvetica Neue" panose="02000503000000020004" pitchFamily="2" charset="0"/>
                  <a:cs typeface="Helvetica Neue" panose="02000503000000020004" pitchFamily="2" charset="0"/>
                </a:rPr>
                <a:t>Continue </a:t>
              </a:r>
              <a:r>
                <a:rPr lang="en-GB" sz="1200" kern="0" spc="-10" dirty="0">
                  <a:solidFill>
                    <a:srgbClr val="1D1D1D"/>
                  </a:solidFill>
                  <a:latin typeface="Arial" pitchFamily="34" charset="0"/>
                  <a:ea typeface="Helvetica Neue" panose="02000503000000020004" pitchFamily="2" charset="0"/>
                  <a:cs typeface="Helvetica Neue" panose="02000503000000020004" pitchFamily="2" charset="0"/>
                </a:rPr>
                <a:t>to e</a:t>
              </a:r>
              <a:r>
                <a:rPr lang="en-US" sz="1200" kern="0" spc="-10" dirty="0" err="1">
                  <a:solidFill>
                    <a:srgbClr val="1D1D1D"/>
                  </a:solidFill>
                  <a:latin typeface="Arial" pitchFamily="34" charset="0"/>
                  <a:ea typeface="Helvetica Neue" panose="02000503000000020004" pitchFamily="2" charset="0"/>
                  <a:cs typeface="Helvetica Neue" panose="02000503000000020004" pitchFamily="2" charset="0"/>
                </a:rPr>
                <a:t>ncourage</a:t>
              </a:r>
              <a:r>
                <a:rPr lang="en-US" sz="1200" kern="0" spc="-10" dirty="0">
                  <a:solidFill>
                    <a:srgbClr val="1D1D1D"/>
                  </a:solidFill>
                  <a:latin typeface="Arial" pitchFamily="34" charset="0"/>
                  <a:ea typeface="Helvetica Neue" panose="02000503000000020004" pitchFamily="2" charset="0"/>
                  <a:cs typeface="Helvetica Neue" panose="02000503000000020004" pitchFamily="2" charset="0"/>
                </a:rPr>
                <a:t> Chiefs to shift from functional to enterprise leadership where it matters (key question: does this topic require team input and if so how early, or can it be handled </a:t>
              </a:r>
              <a:r>
                <a:rPr kumimoji="0" lang="en-US" sz="1200" b="0" i="1" u="none" strike="noStrike" kern="0" cap="none" spc="-10" normalizeH="0" baseline="0" noProof="0" dirty="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rPr>
                <a:t>within my function?)</a:t>
              </a:r>
              <a:endParaRPr kumimoji="0" lang="en-US" sz="1200" b="0" i="0" u="none" strike="noStrike" kern="0" cap="none" spc="-10" normalizeH="0" baseline="0" noProof="0" dirty="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sp>
          <p:nvSpPr>
            <p:cNvPr id="15" name="Oval 14">
              <a:extLst>
                <a:ext uri="{FF2B5EF4-FFF2-40B4-BE49-F238E27FC236}">
                  <a16:creationId xmlns:a16="http://schemas.microsoft.com/office/drawing/2014/main" id="{6678530D-52B0-E121-3BC6-302A3A9B1A4F}"/>
                </a:ext>
              </a:extLst>
            </p:cNvPr>
            <p:cNvSpPr/>
            <p:nvPr/>
          </p:nvSpPr>
          <p:spPr>
            <a:xfrm>
              <a:off x="945685" y="2406483"/>
              <a:ext cx="914400" cy="914400"/>
            </a:xfrm>
            <a:prstGeom prst="ellipse">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b="0" i="0" u="none" strike="noStrike" kern="0" cap="none" spc="-10" normalizeH="0" baseline="0" noProof="0">
                <a:ln>
                  <a:noFill/>
                </a:ln>
                <a:solidFill>
                  <a:srgbClr val="1D1D1D"/>
                </a:solidFill>
                <a:effectLst/>
                <a:uLnTx/>
                <a:uFillTx/>
                <a:latin typeface="Arial" pitchFamily="34" charset="0"/>
                <a:ea typeface="Helvetica Neue" panose="02000503000000020004" pitchFamily="2" charset="0"/>
                <a:cs typeface="Helvetica Neue" panose="02000503000000020004" pitchFamily="2" charset="0"/>
              </a:endParaRPr>
            </a:p>
          </p:txBody>
        </p:sp>
        <p:pic>
          <p:nvPicPr>
            <p:cNvPr id="16" name="Picture 15" descr="Identify critical roles">
              <a:extLst>
                <a:ext uri="{FF2B5EF4-FFF2-40B4-BE49-F238E27FC236}">
                  <a16:creationId xmlns:a16="http://schemas.microsoft.com/office/drawing/2014/main" id="{3DBAD5AD-5E20-8037-3FF0-BDE01C009334}"/>
                </a:ext>
              </a:extLst>
            </p:cNvPr>
            <p:cNvPicPr>
              <a:picLocks noChangeAspect="1"/>
            </p:cNvPicPr>
            <p:nvPr/>
          </p:nvPicPr>
          <p:blipFill>
            <a:blip r:embed="rId5">
              <a:duotone>
                <a:srgbClr val="765FFF"/>
                <a:srgbClr val="FFFFFF"/>
              </a:duotone>
            </a:blip>
            <a:stretch>
              <a:fillRect/>
            </a:stretch>
          </p:blipFill>
          <p:spPr>
            <a:xfrm>
              <a:off x="967285" y="2428083"/>
              <a:ext cx="871200" cy="871200"/>
            </a:xfrm>
            <a:prstGeom prst="rect">
              <a:avLst/>
            </a:prstGeom>
          </p:spPr>
        </p:pic>
      </p:grpSp>
      <p:grpSp>
        <p:nvGrpSpPr>
          <p:cNvPr id="17" name="Group 16">
            <a:extLst>
              <a:ext uri="{FF2B5EF4-FFF2-40B4-BE49-F238E27FC236}">
                <a16:creationId xmlns:a16="http://schemas.microsoft.com/office/drawing/2014/main" id="{AE580339-27F6-6C93-0CAB-65C1B204CDDC}"/>
              </a:ext>
            </a:extLst>
          </p:cNvPr>
          <p:cNvGrpSpPr/>
          <p:nvPr/>
        </p:nvGrpSpPr>
        <p:grpSpPr>
          <a:xfrm>
            <a:off x="945685" y="1188609"/>
            <a:ext cx="10609554" cy="914400"/>
            <a:chOff x="945685" y="996101"/>
            <a:chExt cx="10609554" cy="914400"/>
          </a:xfrm>
        </p:grpSpPr>
        <p:sp>
          <p:nvSpPr>
            <p:cNvPr id="18" name="Oval 17">
              <a:extLst>
                <a:ext uri="{FF2B5EF4-FFF2-40B4-BE49-F238E27FC236}">
                  <a16:creationId xmlns:a16="http://schemas.microsoft.com/office/drawing/2014/main" id="{54328194-CC55-E4F0-DA0B-F0CFCAFAC324}"/>
                </a:ext>
              </a:extLst>
            </p:cNvPr>
            <p:cNvSpPr/>
            <p:nvPr/>
          </p:nvSpPr>
          <p:spPr>
            <a:xfrm>
              <a:off x="945685" y="996101"/>
              <a:ext cx="914400" cy="914400"/>
            </a:xfrm>
            <a:prstGeom prst="ellipse">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b="1" i="0" u="none" strike="noStrike" kern="0" cap="none" spc="-25" normalizeH="0" baseline="0" noProof="0">
                <a:ln>
                  <a:noFill/>
                </a:ln>
                <a:solidFill>
                  <a:srgbClr val="1D1D1D"/>
                </a:solidFill>
                <a:effectLst/>
                <a:uLnTx/>
                <a:uFillTx/>
                <a:latin typeface="Segoe UI" pitchFamily="34" charset="0"/>
                <a:ea typeface="Helvetica Neue" panose="02000503000000020004" pitchFamily="2" charset="0"/>
                <a:cs typeface="Helvetica Neue" panose="02000503000000020004" pitchFamily="2" charset="0"/>
              </a:endParaRPr>
            </a:p>
          </p:txBody>
        </p:sp>
        <p:pic>
          <p:nvPicPr>
            <p:cNvPr id="19" name="Picture 18" descr="The Click">
              <a:extLst>
                <a:ext uri="{FF2B5EF4-FFF2-40B4-BE49-F238E27FC236}">
                  <a16:creationId xmlns:a16="http://schemas.microsoft.com/office/drawing/2014/main" id="{AB984EB0-4745-D586-E545-4607B6EA80CA}"/>
                </a:ext>
              </a:extLst>
            </p:cNvPr>
            <p:cNvPicPr>
              <a:picLocks noChangeAspect="1"/>
            </p:cNvPicPr>
            <p:nvPr/>
          </p:nvPicPr>
          <p:blipFill>
            <a:blip r:embed="rId6">
              <a:duotone>
                <a:srgbClr val="765FFF"/>
                <a:srgbClr val="FFFFFF"/>
              </a:duotone>
            </a:blip>
            <a:stretch>
              <a:fillRect/>
            </a:stretch>
          </p:blipFill>
          <p:spPr>
            <a:xfrm>
              <a:off x="1078885" y="1129301"/>
              <a:ext cx="648000" cy="648000"/>
            </a:xfrm>
            <a:prstGeom prst="rect">
              <a:avLst/>
            </a:prstGeom>
          </p:spPr>
        </p:pic>
        <p:sp>
          <p:nvSpPr>
            <p:cNvPr id="20" name="TextBox 19">
              <a:extLst>
                <a:ext uri="{FF2B5EF4-FFF2-40B4-BE49-F238E27FC236}">
                  <a16:creationId xmlns:a16="http://schemas.microsoft.com/office/drawing/2014/main" id="{F0F46790-E7E8-9594-D0C9-3A41C86744D0}"/>
                </a:ext>
              </a:extLst>
            </p:cNvPr>
            <p:cNvSpPr txBox="1"/>
            <p:nvPr/>
          </p:nvSpPr>
          <p:spPr>
            <a:xfrm>
              <a:off x="2175972" y="1130970"/>
              <a:ext cx="9379267" cy="646331"/>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1D1D1D"/>
                  </a:solidFill>
                  <a:latin typeface="Segoe UI" pitchFamily="34" charset="0"/>
                </a:defRPr>
              </a:pPr>
              <a:r>
                <a:rPr kumimoji="0" lang="en-US" sz="1200" i="0" u="none" strike="noStrike" kern="0" cap="none" spc="-25" normalizeH="0" baseline="0" noProof="0" dirty="0">
                  <a:ln>
                    <a:noFill/>
                  </a:ln>
                  <a:solidFill>
                    <a:schemeClr val="accent1"/>
                  </a:solidFill>
                  <a:effectLst/>
                  <a:uLnTx/>
                  <a:uFillTx/>
                  <a:latin typeface="Segoe UI" pitchFamily="34" charset="0"/>
                  <a:ea typeface="Helvetica Neue" panose="02000503000000020004" pitchFamily="2" charset="0"/>
                  <a:cs typeface="Helvetica Neue" panose="02000503000000020004" pitchFamily="2" charset="0"/>
                </a:rPr>
                <a:t>Strong Start &amp; Building Blocks for a High-performance Team</a:t>
              </a:r>
            </a:p>
            <a:p>
              <a:pPr marL="285750" indent="-285750">
                <a:buBlip>
                  <a:blip r:embed="rId2"/>
                </a:buBlip>
                <a:defRPr>
                  <a:solidFill>
                    <a:srgbClr val="1D1D1D"/>
                  </a:solidFill>
                </a:defRPr>
              </a:pPr>
              <a:r>
                <a:rPr lang="en-US" sz="1200" kern="0" spc="-10" dirty="0">
                  <a:solidFill>
                    <a:srgbClr val="1D1D1D"/>
                  </a:solidFill>
                  <a:latin typeface="Arial" pitchFamily="34" charset="0"/>
                  <a:ea typeface="Helvetica Neue" panose="02000503000000020004" pitchFamily="2" charset="0"/>
                  <a:cs typeface="Helvetica Neue" panose="02000503000000020004" pitchFamily="2" charset="0"/>
                </a:rPr>
                <a:t>On-point Messaging from CEO – Why Now + Unique Window of Opportunity </a:t>
              </a:r>
            </a:p>
            <a:p>
              <a:pPr marL="285750" indent="-285750">
                <a:buBlip>
                  <a:blip r:embed="rId2"/>
                </a:buBlip>
                <a:defRPr>
                  <a:solidFill>
                    <a:srgbClr val="1D1D1D"/>
                  </a:solidFill>
                </a:defRPr>
              </a:pPr>
              <a:r>
                <a:rPr lang="en-US" sz="1200" kern="0" spc="-10" dirty="0">
                  <a:solidFill>
                    <a:srgbClr val="1D1D1D"/>
                  </a:solidFill>
                  <a:latin typeface="Arial" pitchFamily="34" charset="0"/>
                  <a:ea typeface="Helvetica Neue" panose="02000503000000020004" pitchFamily="2" charset="0"/>
                  <a:cs typeface="Helvetica Neue" panose="02000503000000020004" pitchFamily="2" charset="0"/>
                </a:rPr>
                <a:t>Emerging Sense of Collective Ownership &amp; Identity as Enterprise Leaders</a:t>
              </a:r>
            </a:p>
          </p:txBody>
        </p:sp>
      </p:grpSp>
      <p:sp>
        <p:nvSpPr>
          <p:cNvPr id="21" name="TextBox 20">
            <a:extLst>
              <a:ext uri="{FF2B5EF4-FFF2-40B4-BE49-F238E27FC236}">
                <a16:creationId xmlns:a16="http://schemas.microsoft.com/office/drawing/2014/main" id="{9BBD34DB-1B41-1C95-0DD4-54DE883452B3}"/>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10166347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06C82-8527-DDE5-52A0-77CE63336E85}"/>
              </a:ext>
            </a:extLst>
          </p:cNvPr>
          <p:cNvSpPr>
            <a:spLocks noGrp="1"/>
          </p:cNvSpPr>
          <p:nvPr>
            <p:ph type="title"/>
          </p:nvPr>
        </p:nvSpPr>
        <p:spPr/>
        <p:txBody>
          <a:bodyPr/>
          <a:lstStyle/>
          <a:p>
            <a:r>
              <a:rPr lang="en-US" dirty="0">
                <a:sym typeface="Helvetica Neue Light" panose="02000403000000020004" pitchFamily="2" charset="0"/>
              </a:rPr>
              <a:t>We Develop Enabling Plan for Each Leader to Support the Team </a:t>
            </a:r>
            <a:endParaRPr lang="en-US" dirty="0"/>
          </a:p>
        </p:txBody>
      </p:sp>
      <p:sp>
        <p:nvSpPr>
          <p:cNvPr id="3" name="Text Placeholder 2">
            <a:extLst>
              <a:ext uri="{FF2B5EF4-FFF2-40B4-BE49-F238E27FC236}">
                <a16:creationId xmlns:a16="http://schemas.microsoft.com/office/drawing/2014/main" id="{5709B78D-0418-A2CE-66D6-1F374F5CE646}"/>
              </a:ext>
            </a:extLst>
          </p:cNvPr>
          <p:cNvSpPr>
            <a:spLocks noGrp="1"/>
          </p:cNvSpPr>
          <p:nvPr>
            <p:ph type="body" sz="quarter" idx="12"/>
          </p:nvPr>
        </p:nvSpPr>
        <p:spPr/>
        <p:txBody>
          <a:bodyPr/>
          <a:lstStyle/>
          <a:p>
            <a:r>
              <a:rPr lang="en-US" dirty="0">
                <a:sym typeface="Helvetica Neue Light" panose="02000403000000020004" pitchFamily="2" charset="0"/>
              </a:rPr>
              <a:t>I.e. CHRO</a:t>
            </a:r>
            <a:endParaRPr lang="en-US" dirty="0"/>
          </a:p>
          <a:p>
            <a:endParaRPr lang="en-US" dirty="0"/>
          </a:p>
        </p:txBody>
      </p:sp>
      <p:sp>
        <p:nvSpPr>
          <p:cNvPr id="4" name="Slide Number Placeholder 3">
            <a:extLst>
              <a:ext uri="{FF2B5EF4-FFF2-40B4-BE49-F238E27FC236}">
                <a16:creationId xmlns:a16="http://schemas.microsoft.com/office/drawing/2014/main" id="{D60C4948-518B-5DB7-2B9D-A3094C3E380B}"/>
              </a:ext>
            </a:extLst>
          </p:cNvPr>
          <p:cNvSpPr>
            <a:spLocks noGrp="1"/>
          </p:cNvSpPr>
          <p:nvPr>
            <p:ph type="sldNum" sz="quarter" idx="4"/>
          </p:nvPr>
        </p:nvSpPr>
        <p:spPr/>
        <p:txBody>
          <a:bodyPr/>
          <a:lstStyle/>
          <a:p>
            <a:pPr algn="ctr"/>
            <a:fld id="{7DA59B58-B945-4B36-BC6B-9C26C933A008}" type="slidenum">
              <a:rPr lang="en-US" smtClean="0"/>
              <a:t>12</a:t>
            </a:fld>
            <a:endParaRPr lang="en-US"/>
          </a:p>
        </p:txBody>
      </p:sp>
      <p:sp>
        <p:nvSpPr>
          <p:cNvPr id="6" name="Google Shape;57;p3">
            <a:extLst>
              <a:ext uri="{FF2B5EF4-FFF2-40B4-BE49-F238E27FC236}">
                <a16:creationId xmlns:a16="http://schemas.microsoft.com/office/drawing/2014/main" id="{DC0D7766-98A2-A5CB-F0E4-BC5174487704}"/>
              </a:ext>
            </a:extLst>
          </p:cNvPr>
          <p:cNvSpPr/>
          <p:nvPr/>
        </p:nvSpPr>
        <p:spPr>
          <a:xfrm>
            <a:off x="462167" y="1097719"/>
            <a:ext cx="2809068" cy="4993655"/>
          </a:xfrm>
          <a:prstGeom prst="roundRect">
            <a:avLst>
              <a:gd name="adj" fmla="val 3135"/>
            </a:avLst>
          </a:prstGeom>
          <a:solidFill>
            <a:srgbClr val="F2F2F2"/>
          </a:solidFill>
          <a:ln w="9525" cap="flat" cmpd="sng">
            <a:solidFill>
              <a:srgbClr val="765FF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lang="en-US" sz="2400" b="1" i="0" u="none" strike="noStrike" kern="0" cap="none" spc="-25" normalizeH="0" baseline="0" noProof="0">
              <a:ln>
                <a:noFill/>
              </a:ln>
              <a:solidFill>
                <a:srgbClr val="1D1D1D"/>
              </a:solidFill>
              <a:effectLst/>
              <a:uLnTx/>
              <a:uFillTx/>
              <a:latin typeface="Segoe UI" pitchFamily="34" charset="0"/>
              <a:ea typeface="Lato"/>
              <a:cs typeface="Lato"/>
              <a:sym typeface="Lato"/>
            </a:endParaRPr>
          </a:p>
        </p:txBody>
      </p:sp>
      <p:sp>
        <p:nvSpPr>
          <p:cNvPr id="7" name="Google Shape;57;p3">
            <a:extLst>
              <a:ext uri="{FF2B5EF4-FFF2-40B4-BE49-F238E27FC236}">
                <a16:creationId xmlns:a16="http://schemas.microsoft.com/office/drawing/2014/main" id="{402F0240-1138-BC56-43F0-51BB27E2DBC9}"/>
              </a:ext>
            </a:extLst>
          </p:cNvPr>
          <p:cNvSpPr/>
          <p:nvPr/>
        </p:nvSpPr>
        <p:spPr>
          <a:xfrm>
            <a:off x="3326655" y="1097719"/>
            <a:ext cx="8595897" cy="4993655"/>
          </a:xfrm>
          <a:prstGeom prst="roundRect">
            <a:avLst>
              <a:gd name="adj" fmla="val 2256"/>
            </a:avLst>
          </a:prstGeom>
          <a:solidFill>
            <a:srgbClr val="F2F2F2"/>
          </a:solidFill>
          <a:ln w="9525" cap="flat" cmpd="sng">
            <a:solidFill>
              <a:srgbClr val="765FFF"/>
            </a:solidFill>
            <a:prstDash val="solid"/>
            <a:miter lim="400000"/>
            <a:headEnd type="none" w="sm" len="sm"/>
            <a:tailEnd type="none" w="sm" len="sm"/>
          </a:ln>
        </p:spPr>
        <p:txBody>
          <a:bodyPr spcFirstLastPara="1" wrap="square" lIns="22850" tIns="22850" rIns="22850" bIns="22850" anchor="t" anchorCtr="0">
            <a:noAutofit/>
          </a:bodyPr>
          <a:lstStyle/>
          <a:p>
            <a:endParaRPr lang="en-US" sz="1400" b="1" spc="-25" noProof="0" dirty="0">
              <a:latin typeface="Segoe UI" pitchFamily="34" charset="0"/>
              <a:ea typeface="Arial"/>
              <a:cs typeface="Arial"/>
            </a:endParaRPr>
          </a:p>
          <a:p>
            <a:endParaRPr lang="en-US" sz="1400" b="1" spc="-25" noProof="0" dirty="0">
              <a:solidFill>
                <a:srgbClr val="765FFF"/>
              </a:solidFill>
              <a:latin typeface="Segoe UI" pitchFamily="34" charset="0"/>
              <a:ea typeface="Arial"/>
              <a:cs typeface="Arial"/>
            </a:endParaRPr>
          </a:p>
          <a:p>
            <a:r>
              <a:rPr lang="en-US" sz="1300" b="1" spc="-25" noProof="0" dirty="0">
                <a:solidFill>
                  <a:srgbClr val="765FFF"/>
                </a:solidFill>
                <a:latin typeface="Segoe UI" pitchFamily="34" charset="0"/>
                <a:ea typeface="Arial"/>
                <a:cs typeface="Arial"/>
              </a:rPr>
              <a:t>Building Critical Capabilities</a:t>
            </a:r>
            <a:endParaRPr lang="en-US" sz="1300" b="1" spc="-25" noProof="0" dirty="0">
              <a:latin typeface="Segoe UI" pitchFamily="34" charset="0"/>
              <a:ea typeface="Arial"/>
              <a:cs typeface="Arial"/>
            </a:endParaRPr>
          </a:p>
          <a:p>
            <a:pPr marL="285750" indent="-285750">
              <a:buBlip>
                <a:blip r:embed="rId2"/>
              </a:buBlip>
            </a:pPr>
            <a:r>
              <a:rPr lang="en-US" sz="1300" spc="-25" noProof="0" dirty="0">
                <a:latin typeface="Arial" panose="020B0604020202020204" pitchFamily="34" charset="0"/>
                <a:ea typeface="Arial"/>
                <a:cs typeface="Arial" panose="020B0604020202020204" pitchFamily="34" charset="0"/>
              </a:rPr>
              <a:t>Identify and build critical roles and capabilities the organization needs for growth—digital, pricing</a:t>
            </a:r>
            <a:endParaRPr lang="en-US" sz="1300" spc="-25" dirty="0">
              <a:latin typeface="Arial" panose="020B0604020202020204" pitchFamily="34" charset="0"/>
              <a:ea typeface="Arial"/>
              <a:cs typeface="Arial" panose="020B0604020202020204" pitchFamily="34" charset="0"/>
            </a:endParaRPr>
          </a:p>
          <a:p>
            <a:pPr marL="285750" indent="-285750">
              <a:buBlip>
                <a:blip r:embed="rId2"/>
              </a:buBlip>
            </a:pPr>
            <a:r>
              <a:rPr lang="en-US" sz="1300" spc="-25" noProof="0" dirty="0">
                <a:latin typeface="Arial" panose="020B0604020202020204" pitchFamily="34" charset="0"/>
                <a:ea typeface="Arial"/>
                <a:cs typeface="Arial" panose="020B0604020202020204" pitchFamily="34" charset="0"/>
              </a:rPr>
              <a:t>Work with </a:t>
            </a:r>
            <a:r>
              <a:rPr lang="en-US" sz="1300" spc="-25" dirty="0">
                <a:latin typeface="Arial" panose="020B0604020202020204" pitchFamily="34" charset="0"/>
                <a:ea typeface="Arial"/>
                <a:cs typeface="Arial" panose="020B0604020202020204" pitchFamily="34" charset="0"/>
              </a:rPr>
              <a:t>the CEO </a:t>
            </a:r>
            <a:r>
              <a:rPr lang="en-US" sz="1300" spc="-25" noProof="0" dirty="0">
                <a:latin typeface="Arial" panose="020B0604020202020204" pitchFamily="34" charset="0"/>
                <a:ea typeface="Arial"/>
                <a:cs typeface="Arial" panose="020B0604020202020204" pitchFamily="34" charset="0"/>
              </a:rPr>
              <a:t>to define clear JTBDs for l2s and all critical roles using your influencing skills. This creates clarity on what success looks like and enables better hiring and performance conversations.</a:t>
            </a:r>
          </a:p>
          <a:p>
            <a:pPr marL="285750" indent="-285750">
              <a:buBlip>
                <a:blip r:embed="rId2"/>
              </a:buBlip>
            </a:pPr>
            <a:r>
              <a:rPr lang="en-US" sz="1300" spc="-25" noProof="0" dirty="0">
                <a:latin typeface="Arial" panose="020B0604020202020204" pitchFamily="34" charset="0"/>
                <a:ea typeface="Arial"/>
                <a:cs typeface="Arial" panose="020B0604020202020204" pitchFamily="34" charset="0"/>
              </a:rPr>
              <a:t>Build your own HR team capacity so you have bandwidth to focus on strategic priorities. Bring in dedicated ta and HR operations leadership to free your time</a:t>
            </a:r>
          </a:p>
          <a:p>
            <a:endParaRPr lang="en-US" sz="1300" spc="-25" noProof="0" dirty="0">
              <a:latin typeface="Arial" panose="020B0604020202020204" pitchFamily="34" charset="0"/>
              <a:cs typeface="Arial" panose="020B0604020202020204" pitchFamily="34" charset="0"/>
            </a:endParaRPr>
          </a:p>
          <a:p>
            <a:r>
              <a:rPr lang="en-US" sz="1300" b="1" spc="-25" noProof="0" dirty="0">
                <a:solidFill>
                  <a:srgbClr val="765FFF"/>
                </a:solidFill>
                <a:latin typeface="Segoe UI" pitchFamily="34" charset="0"/>
                <a:ea typeface="Arial"/>
                <a:cs typeface="Arial"/>
              </a:rPr>
              <a:t>Completing Organizational Foundations</a:t>
            </a:r>
            <a:endParaRPr lang="en-US" sz="1300" b="1" spc="-25" noProof="0" dirty="0">
              <a:latin typeface="Segoe UI" pitchFamily="34" charset="0"/>
              <a:ea typeface="Arial"/>
              <a:cs typeface="Arial"/>
            </a:endParaRPr>
          </a:p>
          <a:p>
            <a:pPr marL="285750" indent="-285750">
              <a:buBlip>
                <a:blip r:embed="rId2"/>
              </a:buBlip>
            </a:pPr>
            <a:r>
              <a:rPr lang="en-US" sz="1300" spc="-25" dirty="0">
                <a:latin typeface="Arial" panose="020B0604020202020204" pitchFamily="34" charset="0"/>
                <a:cs typeface="Arial" panose="020B0604020202020204" pitchFamily="34" charset="0"/>
              </a:rPr>
              <a:t>Finalize the operating model by March 2026 and restructure key functions to align talent to value creation.</a:t>
            </a:r>
          </a:p>
          <a:p>
            <a:pPr marL="285750" indent="-285750">
              <a:buBlip>
                <a:blip r:embed="rId2"/>
              </a:buBlip>
            </a:pPr>
            <a:r>
              <a:rPr lang="en-US" sz="1300" spc="-25" dirty="0">
                <a:latin typeface="Arial" panose="020B0604020202020204" pitchFamily="34" charset="0"/>
                <a:cs typeface="Arial" panose="020B0604020202020204" pitchFamily="34" charset="0"/>
              </a:rPr>
              <a:t>Deliver org designs for manufacturing and other functions that need structural clarity.</a:t>
            </a:r>
          </a:p>
          <a:p>
            <a:pPr marL="285750" indent="-285750">
              <a:buBlip>
                <a:blip r:embed="rId2"/>
              </a:buBlip>
            </a:pPr>
            <a:r>
              <a:rPr lang="en-US" sz="1300" spc="-25" dirty="0">
                <a:latin typeface="Arial" panose="020B0604020202020204" pitchFamily="34" charset="0"/>
                <a:cs typeface="Arial" panose="020B0604020202020204" pitchFamily="34" charset="0"/>
              </a:rPr>
              <a:t>Leverage your relationship with NRC for support on organizational design and people strategy. Their perspective and backing strengthens your initiatives.</a:t>
            </a:r>
            <a:br>
              <a:rPr lang="en-US" sz="1300" spc="-25" dirty="0">
                <a:latin typeface="Arial" panose="020B0604020202020204" pitchFamily="34" charset="0"/>
                <a:cs typeface="Arial" panose="020B0604020202020204" pitchFamily="34" charset="0"/>
              </a:rPr>
            </a:br>
            <a:endParaRPr lang="en-US" sz="1300" spc="-25" dirty="0">
              <a:latin typeface="Arial" panose="020B0604020202020204" pitchFamily="34" charset="0"/>
              <a:cs typeface="Arial" panose="020B0604020202020204" pitchFamily="34" charset="0"/>
            </a:endParaRPr>
          </a:p>
          <a:p>
            <a:r>
              <a:rPr lang="en-US" sz="1300" b="1" spc="-25" noProof="0" dirty="0">
                <a:solidFill>
                  <a:srgbClr val="765FFF"/>
                </a:solidFill>
                <a:latin typeface="Segoe UI" pitchFamily="34" charset="0"/>
                <a:ea typeface="Arial"/>
                <a:cs typeface="Arial"/>
              </a:rPr>
              <a:t>Driving Performance Culture and Leadership Effectiveness</a:t>
            </a:r>
            <a:endParaRPr lang="en-US" sz="1300" b="1" spc="-25" noProof="0" dirty="0">
              <a:latin typeface="Segoe UI" pitchFamily="34" charset="0"/>
              <a:ea typeface="Arial"/>
              <a:cs typeface="Arial"/>
            </a:endParaRPr>
          </a:p>
          <a:p>
            <a:pPr marL="285750" indent="-285750">
              <a:buBlip>
                <a:blip r:embed="rId2"/>
              </a:buBlip>
            </a:pPr>
            <a:r>
              <a:rPr lang="en-US" sz="1300" spc="-25" noProof="0" dirty="0">
                <a:latin typeface="Arial" panose="020B0604020202020204" pitchFamily="34" charset="0"/>
                <a:ea typeface="Arial"/>
                <a:cs typeface="Arial" panose="020B0604020202020204" pitchFamily="34" charset="0"/>
              </a:rPr>
              <a:t>Drive performance accountability through the performance management cascade. Ensure L3 goals are clear and </a:t>
            </a:r>
            <a:r>
              <a:rPr lang="en-US" sz="1300" spc="-25" dirty="0">
                <a:latin typeface="Arial" panose="020B0604020202020204" pitchFamily="34" charset="0"/>
                <a:cs typeface="Arial" panose="020B0604020202020204" pitchFamily="34" charset="0"/>
              </a:rPr>
              <a:t>tracked. Address underperformance when IT occurs.</a:t>
            </a:r>
          </a:p>
          <a:p>
            <a:pPr marL="285750" indent="-285750">
              <a:buBlip>
                <a:blip r:embed="rId2"/>
              </a:buBlip>
            </a:pPr>
            <a:r>
              <a:rPr lang="en-US" sz="1300" spc="-25" dirty="0">
                <a:latin typeface="Arial" panose="020B0604020202020204" pitchFamily="34" charset="0"/>
                <a:cs typeface="Arial" panose="020B0604020202020204" pitchFamily="34" charset="0"/>
              </a:rPr>
              <a:t>Design offsites, facilitate ways of working discussions, and help build trust across the N-1.</a:t>
            </a:r>
          </a:p>
          <a:p>
            <a:pPr marL="285750" indent="-285750">
              <a:buBlip>
                <a:blip r:embed="rId2"/>
              </a:buBlip>
            </a:pPr>
            <a:endParaRPr lang="en-US" sz="1300" spc="-25" dirty="0">
              <a:latin typeface="Arial" panose="020B0604020202020204" pitchFamily="34" charset="0"/>
              <a:cs typeface="Arial" panose="020B0604020202020204" pitchFamily="34" charset="0"/>
            </a:endParaRPr>
          </a:p>
          <a:p>
            <a:r>
              <a:rPr lang="en-US" sz="1300" b="1" spc="-25" noProof="0" dirty="0">
                <a:solidFill>
                  <a:srgbClr val="765FFF"/>
                </a:solidFill>
                <a:latin typeface="Segoe UI" pitchFamily="34" charset="0"/>
                <a:ea typeface="Arial"/>
                <a:cs typeface="Arial"/>
              </a:rPr>
              <a:t>Leveraging Your Strengths</a:t>
            </a:r>
            <a:endParaRPr lang="en-US" sz="1300" b="1" spc="-25" noProof="0" dirty="0">
              <a:latin typeface="Segoe UI" pitchFamily="34" charset="0"/>
              <a:ea typeface="Arial"/>
              <a:cs typeface="Arial"/>
            </a:endParaRPr>
          </a:p>
          <a:p>
            <a:pPr marL="285750" indent="-285750">
              <a:buBlip>
                <a:blip r:embed="rId2"/>
              </a:buBlip>
            </a:pPr>
            <a:r>
              <a:rPr lang="en-US" sz="1300" spc="-25" dirty="0">
                <a:latin typeface="Arial" panose="020B0604020202020204" pitchFamily="34" charset="0"/>
                <a:cs typeface="Arial" panose="020B0604020202020204" pitchFamily="34" charset="0"/>
              </a:rPr>
              <a:t>Focus on 3-4 priorities that matter most. Hogan shows tendency to take on many things because you can do IT which is a strength when channeled—disciplined prioritization ensures you complete what matters.</a:t>
            </a:r>
          </a:p>
        </p:txBody>
      </p:sp>
      <p:sp>
        <p:nvSpPr>
          <p:cNvPr id="8" name="TextBox 7">
            <a:extLst>
              <a:ext uri="{FF2B5EF4-FFF2-40B4-BE49-F238E27FC236}">
                <a16:creationId xmlns:a16="http://schemas.microsoft.com/office/drawing/2014/main" id="{7B40B027-78CF-30A9-48DA-C2B9C2F6B126}"/>
              </a:ext>
            </a:extLst>
          </p:cNvPr>
          <p:cNvSpPr txBox="1"/>
          <p:nvPr/>
        </p:nvSpPr>
        <p:spPr>
          <a:xfrm>
            <a:off x="6207283" y="1108229"/>
            <a:ext cx="2834640" cy="369332"/>
          </a:xfrm>
          <a:prstGeom prst="rect">
            <a:avLst/>
          </a:prstGeom>
          <a:solidFill>
            <a:srgbClr val="F2F2F2"/>
          </a:solidFill>
        </p:spPr>
        <p:txBody>
          <a:bodyPr wrap="square" lIns="91440" tIns="45720" rIns="91440" bIns="45720">
            <a:spAutoFit/>
          </a:bodyPr>
          <a:lstStyle/>
          <a:p>
            <a:pPr marL="0" marR="0" lvl="0" indent="0" algn="ctr" defTabSz="457200" rtl="0" eaLnBrk="1" fontAlgn="auto" latinLnBrk="0" hangingPunct="1">
              <a:lnSpc>
                <a:spcPct val="100000"/>
              </a:lnSpc>
              <a:spcBef>
                <a:spcPts val="0"/>
              </a:spcBef>
              <a:spcAft>
                <a:spcPts val="0"/>
              </a:spcAft>
              <a:buClr>
                <a:srgbClr val="765FFF"/>
              </a:buClr>
              <a:buSzPts val="3600"/>
              <a:buFontTx/>
              <a:buNone/>
              <a:tabLst/>
              <a:defRPr b="1" spc="-25">
                <a:latin typeface="Segoe UI" pitchFamily="34" charset="0"/>
              </a:defRPr>
            </a:pPr>
            <a:r>
              <a:rPr kumimoji="0" lang="en-US" sz="1800" b="1" i="0" u="none" strike="noStrike" kern="0" cap="none" spc="-25" normalizeH="0" baseline="0" noProof="0" dirty="0">
                <a:ln>
                  <a:noFill/>
                </a:ln>
                <a:solidFill>
                  <a:srgbClr val="1D1D1D"/>
                </a:solidFill>
                <a:effectLst/>
                <a:uLnTx/>
                <a:uFillTx/>
                <a:latin typeface="Segoe UI" pitchFamily="34" charset="0"/>
                <a:ea typeface="Lato"/>
                <a:cs typeface="Arial" panose="020B0604020202020204" pitchFamily="34" charset="0"/>
                <a:sym typeface="Lato"/>
              </a:rPr>
              <a:t>Success Enabling </a:t>
            </a:r>
            <a:r>
              <a:rPr kumimoji="0" lang="en-US" sz="1800" b="1" i="0" u="none" strike="noStrike" kern="0" cap="none" spc="-25" normalizeH="0" baseline="0" noProof="0" dirty="0">
                <a:ln>
                  <a:noFill/>
                </a:ln>
                <a:solidFill>
                  <a:srgbClr val="765FFF"/>
                </a:solidFill>
                <a:effectLst/>
                <a:uLnTx/>
                <a:uFillTx/>
                <a:latin typeface="Segoe UI" pitchFamily="34" charset="0"/>
                <a:ea typeface="Lato"/>
                <a:cs typeface="Arial" panose="020B0604020202020204" pitchFamily="34" charset="0"/>
                <a:sym typeface="Lato"/>
              </a:rPr>
              <a:t>Plan</a:t>
            </a:r>
            <a:endParaRPr kumimoji="0" lang="en-US" sz="1800" b="1" i="0" u="none" strike="noStrike" kern="0" cap="none" spc="-25" normalizeH="0" baseline="0" noProof="0" dirty="0">
              <a:ln>
                <a:noFill/>
              </a:ln>
              <a:solidFill>
                <a:srgbClr val="1D1D1D"/>
              </a:solidFill>
              <a:effectLst/>
              <a:uLnTx/>
              <a:uFillTx/>
              <a:latin typeface="Segoe UI" pitchFamily="34" charset="0"/>
              <a:ea typeface="Lato"/>
              <a:cs typeface="Arial" panose="020B0604020202020204" pitchFamily="34" charset="0"/>
              <a:sym typeface="Lato"/>
            </a:endParaRPr>
          </a:p>
        </p:txBody>
      </p:sp>
      <p:sp>
        <p:nvSpPr>
          <p:cNvPr id="9" name="Google Shape;61;p3">
            <a:extLst>
              <a:ext uri="{FF2B5EF4-FFF2-40B4-BE49-F238E27FC236}">
                <a16:creationId xmlns:a16="http://schemas.microsoft.com/office/drawing/2014/main" id="{A4BF220F-0A2B-DA66-104A-34D63667BD10}"/>
              </a:ext>
            </a:extLst>
          </p:cNvPr>
          <p:cNvSpPr txBox="1">
            <a:spLocks/>
          </p:cNvSpPr>
          <p:nvPr/>
        </p:nvSpPr>
        <p:spPr>
          <a:xfrm>
            <a:off x="526561" y="1292895"/>
            <a:ext cx="2680279" cy="4675106"/>
          </a:xfrm>
          <a:prstGeom prst="rect">
            <a:avLst/>
          </a:prstGeom>
          <a:noFill/>
          <a:ln>
            <a:noFill/>
          </a:ln>
        </p:spPr>
        <p:txBody>
          <a:bodyPr spcFirstLastPara="1" wrap="square" lIns="22850" tIns="22850" rIns="22850" bIns="22850" anchor="t" anchorCtr="0">
            <a:spAutoFit/>
          </a:bodyPr>
          <a:lst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a:lstStyle>
          <a:p>
            <a:pPr marL="0" indent="0" defTabSz="457200">
              <a:lnSpc>
                <a:spcPct val="100000"/>
              </a:lnSpc>
              <a:spcBef>
                <a:spcPts val="0"/>
              </a:spcBef>
              <a:buClr>
                <a:srgbClr val="765FFF"/>
              </a:buClr>
              <a:buSzPts val="2400"/>
              <a:buFont typeface="Arial" panose="020B0706020202030204" pitchFamily="34" charset="0"/>
              <a:buNone/>
              <a:defRPr/>
            </a:pPr>
            <a:r>
              <a:rPr lang="en-US" sz="1600" b="1" kern="0" spc="-10" dirty="0">
                <a:solidFill>
                  <a:prstClr val="black"/>
                </a:solidFill>
                <a:latin typeface="Segoe UI" pitchFamily="34" charset="0"/>
                <a:ea typeface="Helvetica Neue" panose="02000503000000020004" pitchFamily="2" charset="0"/>
                <a:cs typeface="Helvetica Neue" panose="02000503000000020004" pitchFamily="2" charset="0"/>
                <a:sym typeface="Lato"/>
              </a:rPr>
              <a:t>What are We </a:t>
            </a:r>
            <a:r>
              <a:rPr lang="en-US" sz="1600" b="1" kern="0" spc="-10" dirty="0">
                <a:solidFill>
                  <a:srgbClr val="765FFF"/>
                </a:solidFill>
                <a:latin typeface="Segoe UI" pitchFamily="34" charset="0"/>
                <a:ea typeface="Helvetica Neue" panose="02000503000000020004" pitchFamily="2" charset="0"/>
                <a:cs typeface="Helvetica Neue" panose="02000503000000020004" pitchFamily="2" charset="0"/>
                <a:sym typeface="Lato"/>
              </a:rPr>
              <a:t>Solving For?</a:t>
            </a:r>
          </a:p>
          <a:p>
            <a:pPr marL="285750" indent="-285750" defTabSz="457200">
              <a:lnSpc>
                <a:spcPct val="100000"/>
              </a:lnSpc>
              <a:spcBef>
                <a:spcPts val="0"/>
              </a:spcBef>
              <a:buFont typeface="Arial" panose="020B0706020202030204" pitchFamily="34" charset="0"/>
              <a:buBlip>
                <a:blip r:embed="rId3"/>
              </a:buBlip>
              <a:defRPr/>
            </a:pPr>
            <a:endParaRPr lang="en-US" b="1" kern="0" spc="-10" dirty="0">
              <a:solidFill>
                <a:srgbClr val="765FFF"/>
              </a:solidFill>
              <a:latin typeface="Segoe UI" pitchFamily="34" charset="0"/>
              <a:ea typeface="Helvetica Neue" panose="02000503000000020004" pitchFamily="2" charset="0"/>
              <a:cs typeface="Helvetica Neue" panose="02000503000000020004" pitchFamily="2" charset="0"/>
              <a:sym typeface="Lato"/>
            </a:endParaRPr>
          </a:p>
          <a:p>
            <a:pPr marL="171450" indent="-171450">
              <a:buFont typeface="Arial" panose="020B0706020202030204" pitchFamily="34" charset="0"/>
              <a:buBlip>
                <a:blip r:embed="rId3"/>
              </a:buBlip>
            </a:pPr>
            <a:r>
              <a:rPr lang="en-US" b="1" spc="-10" dirty="0">
                <a:solidFill>
                  <a:sysClr val="windowText" lastClr="000000"/>
                </a:solidFill>
                <a:latin typeface="Segoe UI" pitchFamily="34" charset="0"/>
                <a:ea typeface="Arial"/>
                <a:cs typeface="Arial"/>
              </a:rPr>
              <a:t>Building Critical Capabilities for Growth</a:t>
            </a:r>
            <a:r>
              <a:rPr lang="en-US" spc="-10" dirty="0">
                <a:solidFill>
                  <a:sysClr val="windowText" lastClr="000000"/>
                </a:solidFill>
                <a:latin typeface="Arial" pitchFamily="34" charset="0"/>
                <a:ea typeface="Arial"/>
                <a:cs typeface="Arial"/>
              </a:rPr>
              <a:t> — The transformation requires new capabilities the organization doesn't have today—digital, pricing, commercial infrastructure. </a:t>
            </a:r>
          </a:p>
          <a:p>
            <a:pPr marL="171450" indent="-171450">
              <a:buFont typeface="Arial" panose="020B0706020202030204" pitchFamily="34" charset="0"/>
              <a:buBlip>
                <a:blip r:embed="rId3"/>
              </a:buBlip>
            </a:pPr>
            <a:r>
              <a:rPr lang="en-US" b="1" spc="-10" dirty="0">
                <a:solidFill>
                  <a:sysClr val="windowText" lastClr="000000"/>
                </a:solidFill>
                <a:latin typeface="Segoe UI" pitchFamily="34" charset="0"/>
                <a:ea typeface="Arial"/>
                <a:cs typeface="Arial"/>
              </a:rPr>
              <a:t>Completing Organizational Foundations</a:t>
            </a:r>
            <a:r>
              <a:rPr lang="en-US" spc="-10" dirty="0">
                <a:solidFill>
                  <a:sysClr val="windowText" lastClr="000000"/>
                </a:solidFill>
                <a:latin typeface="Arial" pitchFamily="34" charset="0"/>
                <a:ea typeface="Arial"/>
                <a:cs typeface="Arial"/>
              </a:rPr>
              <a:t> — Finalize the operating model and deliver org designs for manufacturing and other functions. Ensure clear JTBDs exist for all critical roles so the organization knows what success looks like.</a:t>
            </a:r>
          </a:p>
          <a:p>
            <a:pPr marL="171450" indent="-171450">
              <a:buFont typeface="Arial" panose="020B0706020202030204" pitchFamily="34" charset="0"/>
              <a:buBlip>
                <a:blip r:embed="rId3"/>
              </a:buBlip>
            </a:pPr>
            <a:r>
              <a:rPr lang="en-US" b="1" spc="-10" dirty="0">
                <a:solidFill>
                  <a:sysClr val="windowText" lastClr="000000"/>
                </a:solidFill>
                <a:latin typeface="Segoe UI" pitchFamily="34" charset="0"/>
                <a:ea typeface="Arial"/>
                <a:cs typeface="Arial"/>
              </a:rPr>
              <a:t>Driving Performance Culture and Leadership Effectiveness</a:t>
            </a:r>
            <a:r>
              <a:rPr lang="en-US" spc="-10" dirty="0">
                <a:solidFill>
                  <a:sysClr val="windowText" lastClr="000000"/>
                </a:solidFill>
                <a:latin typeface="Arial" pitchFamily="34" charset="0"/>
                <a:ea typeface="Arial"/>
                <a:cs typeface="Arial"/>
              </a:rPr>
              <a:t> — Embed accountability through performance management. Support the CEO in building a high-performing leadership team through team-building and increased collaboration across N-1.</a:t>
            </a:r>
            <a:endParaRPr lang="en-US" sz="1050" b="1" kern="0" spc="-10" dirty="0">
              <a:solidFill>
                <a:prstClr val="black"/>
              </a:solidFill>
              <a:latin typeface="Segoe UI" pitchFamily="34" charset="0"/>
              <a:ea typeface="Lato"/>
              <a:cs typeface="Arial" panose="020B0604020202020204" pitchFamily="34" charset="0"/>
              <a:sym typeface="Lato"/>
            </a:endParaRPr>
          </a:p>
          <a:p>
            <a:pPr marL="171450" indent="-171450" defTabSz="457200">
              <a:lnSpc>
                <a:spcPct val="100000"/>
              </a:lnSpc>
              <a:spcBef>
                <a:spcPts val="0"/>
              </a:spcBef>
              <a:buFont typeface="Arial" panose="020B0706020202030204" pitchFamily="34" charset="0"/>
              <a:buBlip>
                <a:blip r:embed="rId3"/>
              </a:buBlip>
              <a:defRPr/>
            </a:pPr>
            <a:endParaRPr lang="en-US" sz="1050" b="1" kern="0" spc="-10" dirty="0">
              <a:solidFill>
                <a:prstClr val="black"/>
              </a:solidFill>
              <a:latin typeface="Segoe UI" pitchFamily="34" charset="0"/>
              <a:ea typeface="Lato"/>
              <a:cs typeface="Arial" panose="020B0604020202020204" pitchFamily="34" charset="0"/>
              <a:sym typeface="Lato"/>
            </a:endParaRPr>
          </a:p>
        </p:txBody>
      </p:sp>
      <p:sp>
        <p:nvSpPr>
          <p:cNvPr id="10" name="TextBox 9">
            <a:extLst>
              <a:ext uri="{FF2B5EF4-FFF2-40B4-BE49-F238E27FC236}">
                <a16:creationId xmlns:a16="http://schemas.microsoft.com/office/drawing/2014/main" id="{B8DC3936-0786-CBBA-DF64-A5C9D8D73C04}"/>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4917408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B3DB8-1416-5F86-0208-F5C7AE2E6FB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6E07E25-8885-D038-9203-BF3D37784FDB}"/>
              </a:ext>
            </a:extLst>
          </p:cNvPr>
          <p:cNvSpPr>
            <a:spLocks noGrp="1"/>
          </p:cNvSpPr>
          <p:nvPr>
            <p:ph type="body" sz="quarter" idx="12"/>
          </p:nvPr>
        </p:nvSpPr>
        <p:spPr/>
        <p:txBody>
          <a:bodyPr/>
          <a:lstStyle/>
          <a:p>
            <a:endParaRPr lang="en-US"/>
          </a:p>
        </p:txBody>
      </p:sp>
      <p:sp>
        <p:nvSpPr>
          <p:cNvPr id="19458" name="SlideNumber"/>
          <p:cNvSpPr>
            <a:spLocks noGrp="1"/>
          </p:cNvSpPr>
          <p:nvPr>
            <p:ph type="sldNum" idx="4294967295"/>
          </p:nvPr>
        </p:nvSpPr>
        <p:spPr>
          <a:xfrm>
            <a:off x="0" y="6564313"/>
            <a:ext cx="457200" cy="128587"/>
          </a:xfrm>
        </p:spPr>
        <p:txBody>
          <a:bodyPr vert="horz" wrap="square" anchor="ctr"/>
          <a:lstStyle>
            <a:lvl1pPr algn="l">
              <a:defRPr lang="en-US" sz="1000">
                <a:solidFill>
                  <a:srgbClr val="767676"/>
                </a:solidFill>
                <a:latin typeface="Arial" pitchFamily="34" charset="0"/>
              </a:defRPr>
            </a:lvl1pPr>
          </a:lstStyle>
          <a:p>
            <a:fld id="{99F6ABDC-8754-4EAE-BA97-9F40DC04D2D0}" type="slidenum">
              <a:rPr/>
              <a:t>13</a:t>
            </a:fld>
            <a:endParaRPr lang="en-US"/>
          </a:p>
        </p:txBody>
      </p:sp>
    </p:spTree>
    <p:extLst>
      <p:ext uri="{BB962C8B-B14F-4D97-AF65-F5344CB8AC3E}">
        <p14:creationId xmlns:p14="http://schemas.microsoft.com/office/powerpoint/2010/main" val="34612650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9774ED6-3C12-5A70-192A-3B5E74BF059F}"/>
              </a:ext>
            </a:extLst>
          </p:cNvPr>
          <p:cNvSpPr>
            <a:spLocks noGrp="1"/>
          </p:cNvSpPr>
          <p:nvPr>
            <p:ph type="sldNum" sz="quarter" idx="4"/>
          </p:nvPr>
        </p:nvSpPr>
        <p:spPr/>
        <p:txBody>
          <a:bodyPr/>
          <a:lstStyle/>
          <a:p>
            <a:pPr algn="ctr"/>
            <a:fld id="{1875A764-3B06-454E-8ABA-2F6ED0EB58E9}" type="slidenum">
              <a:rPr lang="en-US" smtClean="0"/>
              <a:t>14</a:t>
            </a:fld>
            <a:endParaRPr lang="en-US"/>
          </a:p>
        </p:txBody>
      </p:sp>
      <p:sp>
        <p:nvSpPr>
          <p:cNvPr id="5" name="Title 4">
            <a:extLst>
              <a:ext uri="{FF2B5EF4-FFF2-40B4-BE49-F238E27FC236}">
                <a16:creationId xmlns:a16="http://schemas.microsoft.com/office/drawing/2014/main" id="{EFA81D4E-B95D-92D0-BFAB-2213BE0C2AA7}"/>
              </a:ext>
            </a:extLst>
          </p:cNvPr>
          <p:cNvSpPr>
            <a:spLocks noGrp="1"/>
          </p:cNvSpPr>
          <p:nvPr>
            <p:ph type="title"/>
          </p:nvPr>
        </p:nvSpPr>
        <p:spPr/>
        <p:txBody>
          <a:bodyPr/>
          <a:lstStyle/>
          <a:p>
            <a:r>
              <a:rPr lang="en-US" spc="-25" dirty="0">
                <a:ea typeface="Lato" panose="020F0502020204030203" pitchFamily="34" charset="0"/>
                <a:cs typeface="Lato" panose="020F0502020204030203" pitchFamily="34" charset="0"/>
              </a:rPr>
              <a:t>What We Do</a:t>
            </a:r>
            <a:endParaRPr lang="en-US" dirty="0"/>
          </a:p>
        </p:txBody>
      </p:sp>
      <p:cxnSp>
        <p:nvCxnSpPr>
          <p:cNvPr id="6" name="Straight Connector 5">
            <a:extLst>
              <a:ext uri="{FF2B5EF4-FFF2-40B4-BE49-F238E27FC236}">
                <a16:creationId xmlns:a16="http://schemas.microsoft.com/office/drawing/2014/main" id="{30746BC1-E9A1-83A9-121C-B2C791C1FB1A}"/>
              </a:ext>
            </a:extLst>
          </p:cNvPr>
          <p:cNvCxnSpPr>
            <a:cxnSpLocks/>
          </p:cNvCxnSpPr>
          <p:nvPr/>
        </p:nvCxnSpPr>
        <p:spPr>
          <a:xfrm>
            <a:off x="4633439" y="1061887"/>
            <a:ext cx="2885" cy="5265381"/>
          </a:xfrm>
          <a:prstGeom prst="line">
            <a:avLst/>
          </a:prstGeom>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B842457C-D9AC-D967-F9B3-DB67C3BC7F44}"/>
              </a:ext>
            </a:extLst>
          </p:cNvPr>
          <p:cNvGrpSpPr/>
          <p:nvPr/>
        </p:nvGrpSpPr>
        <p:grpSpPr>
          <a:xfrm>
            <a:off x="5785732" y="843028"/>
            <a:ext cx="1844039" cy="1783299"/>
            <a:chOff x="3387213" y="2885385"/>
            <a:chExt cx="1383029" cy="1337474"/>
          </a:xfrm>
        </p:grpSpPr>
        <p:sp>
          <p:nvSpPr>
            <p:cNvPr id="8" name="Oval 7">
              <a:extLst>
                <a:ext uri="{FF2B5EF4-FFF2-40B4-BE49-F238E27FC236}">
                  <a16:creationId xmlns:a16="http://schemas.microsoft.com/office/drawing/2014/main" id="{B8B29C12-6524-9394-2A30-18812F3B8BB3}"/>
                </a:ext>
              </a:extLst>
            </p:cNvPr>
            <p:cNvSpPr/>
            <p:nvPr/>
          </p:nvSpPr>
          <p:spPr>
            <a:xfrm>
              <a:off x="3667248" y="3013189"/>
              <a:ext cx="822960" cy="822960"/>
            </a:xfrm>
            <a:prstGeom prst="ellipse">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914377"/>
              <a:endParaRPr lang="en-US" spc="-10">
                <a:solidFill>
                  <a:srgbClr val="1D1D1D"/>
                </a:solidFill>
                <a:latin typeface="Arial" pitchFamily="34" charset="0"/>
              </a:endParaRPr>
            </a:p>
          </p:txBody>
        </p:sp>
        <p:sp>
          <p:nvSpPr>
            <p:cNvPr id="9" name="TextBox 8">
              <a:extLst>
                <a:ext uri="{FF2B5EF4-FFF2-40B4-BE49-F238E27FC236}">
                  <a16:creationId xmlns:a16="http://schemas.microsoft.com/office/drawing/2014/main" id="{1BF8E6C2-1586-D938-B897-1BD929D336EA}"/>
                </a:ext>
              </a:extLst>
            </p:cNvPr>
            <p:cNvSpPr txBox="1"/>
            <p:nvPr/>
          </p:nvSpPr>
          <p:spPr>
            <a:xfrm>
              <a:off x="3387213" y="3814959"/>
              <a:ext cx="1383029" cy="407900"/>
            </a:xfrm>
            <a:prstGeom prst="rect">
              <a:avLst/>
            </a:prstGeom>
            <a:noFill/>
          </p:spPr>
          <p:txBody>
            <a:bodyPr wrap="square" lIns="91440" tIns="45720" rIns="91440" bIns="45720">
              <a:spAutoFit/>
            </a:bodyPr>
            <a:lstStyle/>
            <a:p>
              <a:pPr algn="ctr" defTabSz="914377"/>
              <a:r>
                <a:rPr lang="en-US" sz="1467" spc="-10">
                  <a:solidFill>
                    <a:srgbClr val="1D1D1D"/>
                  </a:solidFill>
                  <a:latin typeface="Arial" pitchFamily="34" charset="0"/>
                  <a:ea typeface="Lato Light" panose="020F0502020204030203" pitchFamily="34" charset="0"/>
                  <a:cs typeface="Lato Light" panose="020F0502020204030203" pitchFamily="34" charset="0"/>
                </a:rPr>
                <a:t>C-Suite Succession Management</a:t>
              </a:r>
            </a:p>
          </p:txBody>
        </p:sp>
        <p:pic>
          <p:nvPicPr>
            <p:cNvPr id="10" name="Picture 9" descr="Connect roles and talent">
              <a:extLst>
                <a:ext uri="{FF2B5EF4-FFF2-40B4-BE49-F238E27FC236}">
                  <a16:creationId xmlns:a16="http://schemas.microsoft.com/office/drawing/2014/main" id="{13AD19E0-5F95-014A-3BCB-F558A976478A}"/>
                </a:ext>
              </a:extLst>
            </p:cNvPr>
            <p:cNvPicPr>
              <a:picLocks noChangeAspect="1"/>
            </p:cNvPicPr>
            <p:nvPr/>
          </p:nvPicPr>
          <p:blipFill>
            <a:blip r:embed="rId2" cstate="screen">
              <a:duotone>
                <a:srgbClr val="765FFF"/>
                <a:srgbClr val="FFFFFF"/>
              </a:duotone>
            </a:blip>
            <a:stretch>
              <a:fillRect/>
            </a:stretch>
          </p:blipFill>
          <p:spPr>
            <a:xfrm>
              <a:off x="3597412" y="2885385"/>
              <a:ext cx="1007999" cy="1007999"/>
            </a:xfrm>
            <a:prstGeom prst="rect">
              <a:avLst/>
            </a:prstGeom>
          </p:spPr>
        </p:pic>
      </p:grpSp>
      <p:grpSp>
        <p:nvGrpSpPr>
          <p:cNvPr id="11" name="Group 10">
            <a:extLst>
              <a:ext uri="{FF2B5EF4-FFF2-40B4-BE49-F238E27FC236}">
                <a16:creationId xmlns:a16="http://schemas.microsoft.com/office/drawing/2014/main" id="{A17E72B8-C852-BF68-A236-75B49DC1BE77}"/>
              </a:ext>
            </a:extLst>
          </p:cNvPr>
          <p:cNvGrpSpPr/>
          <p:nvPr/>
        </p:nvGrpSpPr>
        <p:grpSpPr>
          <a:xfrm>
            <a:off x="6915972" y="2736367"/>
            <a:ext cx="2231287" cy="1675188"/>
            <a:chOff x="4630769" y="3364764"/>
            <a:chExt cx="1673465" cy="1256391"/>
          </a:xfrm>
        </p:grpSpPr>
        <p:sp>
          <p:nvSpPr>
            <p:cNvPr id="12" name="Oval 11">
              <a:extLst>
                <a:ext uri="{FF2B5EF4-FFF2-40B4-BE49-F238E27FC236}">
                  <a16:creationId xmlns:a16="http://schemas.microsoft.com/office/drawing/2014/main" id="{187A3C45-9DF5-9887-2831-A22E62B4DA28}"/>
                </a:ext>
              </a:extLst>
            </p:cNvPr>
            <p:cNvSpPr/>
            <p:nvPr/>
          </p:nvSpPr>
          <p:spPr>
            <a:xfrm>
              <a:off x="5056022" y="3364764"/>
              <a:ext cx="822960" cy="822960"/>
            </a:xfrm>
            <a:prstGeom prst="ellipse">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914377"/>
              <a:endParaRPr lang="en-US" spc="-10">
                <a:solidFill>
                  <a:srgbClr val="1D1D1D"/>
                </a:solidFill>
                <a:latin typeface="Arial" pitchFamily="34" charset="0"/>
              </a:endParaRPr>
            </a:p>
          </p:txBody>
        </p:sp>
        <p:sp>
          <p:nvSpPr>
            <p:cNvPr id="13" name="TextBox 12">
              <a:extLst>
                <a:ext uri="{FF2B5EF4-FFF2-40B4-BE49-F238E27FC236}">
                  <a16:creationId xmlns:a16="http://schemas.microsoft.com/office/drawing/2014/main" id="{19E67BA6-8696-74E2-B386-3FB0B9D57DF9}"/>
                </a:ext>
              </a:extLst>
            </p:cNvPr>
            <p:cNvSpPr txBox="1"/>
            <p:nvPr/>
          </p:nvSpPr>
          <p:spPr>
            <a:xfrm>
              <a:off x="4630769" y="4213255"/>
              <a:ext cx="1673465" cy="407900"/>
            </a:xfrm>
            <a:prstGeom prst="rect">
              <a:avLst/>
            </a:prstGeom>
            <a:noFill/>
          </p:spPr>
          <p:txBody>
            <a:bodyPr wrap="square" lIns="91440" tIns="45720" rIns="91440" bIns="45720">
              <a:spAutoFit/>
            </a:bodyPr>
            <a:lstStyle/>
            <a:p>
              <a:pPr algn="ctr" defTabSz="914377"/>
              <a:r>
                <a:rPr lang="en-US" sz="1467" spc="-10" dirty="0">
                  <a:solidFill>
                    <a:srgbClr val="1D1D1D"/>
                  </a:solidFill>
                  <a:latin typeface="Arial" pitchFamily="34" charset="0"/>
                  <a:ea typeface="Lato Light" panose="020F0502020204030203" pitchFamily="34" charset="0"/>
                  <a:cs typeface="Lato Light" panose="020F0502020204030203" pitchFamily="34" charset="0"/>
                </a:rPr>
                <a:t>Operating Model </a:t>
              </a:r>
            </a:p>
            <a:p>
              <a:pPr algn="ctr" defTabSz="914377"/>
              <a:r>
                <a:rPr lang="en-US" sz="1467" spc="-10" dirty="0">
                  <a:solidFill>
                    <a:srgbClr val="1D1D1D"/>
                  </a:solidFill>
                  <a:latin typeface="Arial" pitchFamily="34" charset="0"/>
                  <a:ea typeface="Lato Light" panose="020F0502020204030203" pitchFamily="34" charset="0"/>
                  <a:cs typeface="Lato Light" panose="020F0502020204030203" pitchFamily="34" charset="0"/>
                </a:rPr>
                <a:t>Optimization</a:t>
              </a:r>
            </a:p>
          </p:txBody>
        </p:sp>
        <p:pic>
          <p:nvPicPr>
            <p:cNvPr id="14" name="Picture 13" descr="JTBD Key Work">
              <a:extLst>
                <a:ext uri="{FF2B5EF4-FFF2-40B4-BE49-F238E27FC236}">
                  <a16:creationId xmlns:a16="http://schemas.microsoft.com/office/drawing/2014/main" id="{7D953575-6AA1-8EAD-E9AC-93AC96B10E77}"/>
                </a:ext>
              </a:extLst>
            </p:cNvPr>
            <p:cNvPicPr>
              <a:picLocks noChangeAspect="1"/>
            </p:cNvPicPr>
            <p:nvPr/>
          </p:nvPicPr>
          <p:blipFill>
            <a:blip r:embed="rId3" cstate="screen">
              <a:duotone>
                <a:srgbClr val="765FFF"/>
                <a:srgbClr val="FFFFFF"/>
              </a:duotone>
            </a:blip>
            <a:stretch>
              <a:fillRect/>
            </a:stretch>
          </p:blipFill>
          <p:spPr>
            <a:xfrm>
              <a:off x="5085560" y="3416244"/>
              <a:ext cx="720000" cy="720000"/>
            </a:xfrm>
            <a:prstGeom prst="rect">
              <a:avLst/>
            </a:prstGeom>
          </p:spPr>
        </p:pic>
      </p:grpSp>
      <p:grpSp>
        <p:nvGrpSpPr>
          <p:cNvPr id="15" name="Group 14">
            <a:extLst>
              <a:ext uri="{FF2B5EF4-FFF2-40B4-BE49-F238E27FC236}">
                <a16:creationId xmlns:a16="http://schemas.microsoft.com/office/drawing/2014/main" id="{EEDACFA7-23A6-B84F-B1B2-4B77811EC013}"/>
              </a:ext>
            </a:extLst>
          </p:cNvPr>
          <p:cNvGrpSpPr/>
          <p:nvPr/>
        </p:nvGrpSpPr>
        <p:grpSpPr>
          <a:xfrm>
            <a:off x="8099639" y="4524073"/>
            <a:ext cx="2409948" cy="1508080"/>
            <a:chOff x="7155201" y="2926039"/>
            <a:chExt cx="1807461" cy="1131060"/>
          </a:xfrm>
        </p:grpSpPr>
        <p:sp>
          <p:nvSpPr>
            <p:cNvPr id="16" name="Oval 15">
              <a:extLst>
                <a:ext uri="{FF2B5EF4-FFF2-40B4-BE49-F238E27FC236}">
                  <a16:creationId xmlns:a16="http://schemas.microsoft.com/office/drawing/2014/main" id="{F4BFA562-8EBE-790A-F71D-FF80B627E0CE}"/>
                </a:ext>
              </a:extLst>
            </p:cNvPr>
            <p:cNvSpPr/>
            <p:nvPr/>
          </p:nvSpPr>
          <p:spPr>
            <a:xfrm>
              <a:off x="7653742" y="3004764"/>
              <a:ext cx="822960" cy="822960"/>
            </a:xfrm>
            <a:prstGeom prst="ellipse">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914377"/>
              <a:endParaRPr lang="en-US" spc="-10">
                <a:solidFill>
                  <a:srgbClr val="1D1D1D"/>
                </a:solidFill>
                <a:latin typeface="Arial" pitchFamily="34" charset="0"/>
              </a:endParaRPr>
            </a:p>
          </p:txBody>
        </p:sp>
        <p:sp>
          <p:nvSpPr>
            <p:cNvPr id="17" name="TextBox 16">
              <a:extLst>
                <a:ext uri="{FF2B5EF4-FFF2-40B4-BE49-F238E27FC236}">
                  <a16:creationId xmlns:a16="http://schemas.microsoft.com/office/drawing/2014/main" id="{2B0696D9-7582-C2B9-A784-7F83C5C0F888}"/>
                </a:ext>
              </a:extLst>
            </p:cNvPr>
            <p:cNvSpPr txBox="1"/>
            <p:nvPr/>
          </p:nvSpPr>
          <p:spPr>
            <a:xfrm>
              <a:off x="7155201" y="3818524"/>
              <a:ext cx="1807461" cy="238575"/>
            </a:xfrm>
            <a:prstGeom prst="rect">
              <a:avLst/>
            </a:prstGeom>
            <a:noFill/>
          </p:spPr>
          <p:txBody>
            <a:bodyPr wrap="square" lIns="91440" tIns="45720" rIns="91440" bIns="45720">
              <a:spAutoFit/>
            </a:bodyPr>
            <a:lstStyle/>
            <a:p>
              <a:pPr algn="ctr" defTabSz="914377"/>
              <a:r>
                <a:rPr lang="en-US" sz="1467" spc="-10" dirty="0">
                  <a:solidFill>
                    <a:srgbClr val="1D1D1D"/>
                  </a:solidFill>
                  <a:latin typeface="Arial" pitchFamily="34" charset="0"/>
                  <a:ea typeface="Lato Light" panose="020F0502020204030203" pitchFamily="34" charset="0"/>
                  <a:cs typeface="Lato Light" panose="020F0502020204030203" pitchFamily="34" charset="0"/>
                </a:rPr>
                <a:t>People Diligence</a:t>
              </a:r>
            </a:p>
          </p:txBody>
        </p:sp>
        <p:pic>
          <p:nvPicPr>
            <p:cNvPr id="18" name="Picture 17" descr="Sequence DNA">
              <a:extLst>
                <a:ext uri="{FF2B5EF4-FFF2-40B4-BE49-F238E27FC236}">
                  <a16:creationId xmlns:a16="http://schemas.microsoft.com/office/drawing/2014/main" id="{917D5F7A-84EE-5436-E4EE-02061864CBF6}"/>
                </a:ext>
              </a:extLst>
            </p:cNvPr>
            <p:cNvPicPr>
              <a:picLocks noChangeAspect="1"/>
            </p:cNvPicPr>
            <p:nvPr/>
          </p:nvPicPr>
          <p:blipFill>
            <a:blip r:embed="rId4" cstate="screen">
              <a:duotone>
                <a:srgbClr val="765FFF"/>
                <a:srgbClr val="FFFFFF"/>
              </a:duotone>
            </a:blip>
            <a:stretch>
              <a:fillRect/>
            </a:stretch>
          </p:blipFill>
          <p:spPr>
            <a:xfrm>
              <a:off x="7561221" y="2926039"/>
              <a:ext cx="1007999" cy="1007999"/>
            </a:xfrm>
            <a:prstGeom prst="rect">
              <a:avLst/>
            </a:prstGeom>
          </p:spPr>
        </p:pic>
      </p:grpSp>
      <p:grpSp>
        <p:nvGrpSpPr>
          <p:cNvPr id="19" name="Group 18">
            <a:extLst>
              <a:ext uri="{FF2B5EF4-FFF2-40B4-BE49-F238E27FC236}">
                <a16:creationId xmlns:a16="http://schemas.microsoft.com/office/drawing/2014/main" id="{B592C8CD-B614-F455-8D0D-4B9A0D0FB873}"/>
              </a:ext>
            </a:extLst>
          </p:cNvPr>
          <p:cNvGrpSpPr/>
          <p:nvPr/>
        </p:nvGrpSpPr>
        <p:grpSpPr>
          <a:xfrm>
            <a:off x="5796342" y="4686837"/>
            <a:ext cx="1676399" cy="1450036"/>
            <a:chOff x="6163124" y="2388250"/>
            <a:chExt cx="1257299" cy="1087527"/>
          </a:xfrm>
        </p:grpSpPr>
        <p:sp>
          <p:nvSpPr>
            <p:cNvPr id="20" name="Oval 19">
              <a:extLst>
                <a:ext uri="{FF2B5EF4-FFF2-40B4-BE49-F238E27FC236}">
                  <a16:creationId xmlns:a16="http://schemas.microsoft.com/office/drawing/2014/main" id="{BDCC79A0-B0B2-4ACB-A845-99344108F3AD}"/>
                </a:ext>
              </a:extLst>
            </p:cNvPr>
            <p:cNvSpPr/>
            <p:nvPr/>
          </p:nvSpPr>
          <p:spPr>
            <a:xfrm>
              <a:off x="6385578" y="2388250"/>
              <a:ext cx="822960" cy="822960"/>
            </a:xfrm>
            <a:prstGeom prst="ellipse">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914377"/>
              <a:endParaRPr lang="en-US" spc="-10">
                <a:solidFill>
                  <a:srgbClr val="1D1D1D"/>
                </a:solidFill>
                <a:latin typeface="Arial" pitchFamily="34" charset="0"/>
              </a:endParaRPr>
            </a:p>
          </p:txBody>
        </p:sp>
        <p:sp>
          <p:nvSpPr>
            <p:cNvPr id="21" name="TextBox 20">
              <a:extLst>
                <a:ext uri="{FF2B5EF4-FFF2-40B4-BE49-F238E27FC236}">
                  <a16:creationId xmlns:a16="http://schemas.microsoft.com/office/drawing/2014/main" id="{54867B50-86E7-9B69-BF8A-D52D36395C47}"/>
                </a:ext>
              </a:extLst>
            </p:cNvPr>
            <p:cNvSpPr txBox="1"/>
            <p:nvPr/>
          </p:nvSpPr>
          <p:spPr>
            <a:xfrm>
              <a:off x="6163124" y="3237202"/>
              <a:ext cx="1257299" cy="238575"/>
            </a:xfrm>
            <a:prstGeom prst="rect">
              <a:avLst/>
            </a:prstGeom>
            <a:noFill/>
          </p:spPr>
          <p:txBody>
            <a:bodyPr wrap="square" lIns="91440" tIns="45720" rIns="91440" bIns="45720">
              <a:spAutoFit/>
            </a:bodyPr>
            <a:lstStyle/>
            <a:p>
              <a:pPr algn="ctr" defTabSz="914377"/>
              <a:r>
                <a:rPr lang="en-US" sz="1467" spc="-10" dirty="0">
                  <a:solidFill>
                    <a:srgbClr val="1D1D1D"/>
                  </a:solidFill>
                  <a:latin typeface="Arial" pitchFamily="34" charset="0"/>
                  <a:ea typeface="Lato Light" panose="020F0502020204030203" pitchFamily="34" charset="0"/>
                  <a:cs typeface="Lato Light" panose="020F0502020204030203" pitchFamily="34" charset="0"/>
                </a:rPr>
                <a:t>Training &amp; AI</a:t>
              </a:r>
            </a:p>
          </p:txBody>
        </p:sp>
        <p:pic>
          <p:nvPicPr>
            <p:cNvPr id="22" name="Picture 21" descr="Allocate">
              <a:extLst>
                <a:ext uri="{FF2B5EF4-FFF2-40B4-BE49-F238E27FC236}">
                  <a16:creationId xmlns:a16="http://schemas.microsoft.com/office/drawing/2014/main" id="{891E2CA3-34F9-1DFA-F1CF-31549511D500}"/>
                </a:ext>
              </a:extLst>
            </p:cNvPr>
            <p:cNvPicPr>
              <a:picLocks noChangeAspect="1"/>
            </p:cNvPicPr>
            <p:nvPr/>
          </p:nvPicPr>
          <p:blipFill>
            <a:blip r:embed="rId5" cstate="screen">
              <a:duotone>
                <a:srgbClr val="765FFF"/>
                <a:srgbClr val="FFFFFF"/>
              </a:duotone>
            </a:blip>
            <a:stretch>
              <a:fillRect/>
            </a:stretch>
          </p:blipFill>
          <p:spPr>
            <a:xfrm>
              <a:off x="6448126" y="2439730"/>
              <a:ext cx="720000" cy="720000"/>
            </a:xfrm>
            <a:prstGeom prst="rect">
              <a:avLst/>
            </a:prstGeom>
          </p:spPr>
        </p:pic>
      </p:grpSp>
      <p:grpSp>
        <p:nvGrpSpPr>
          <p:cNvPr id="23" name="Group 22">
            <a:extLst>
              <a:ext uri="{FF2B5EF4-FFF2-40B4-BE49-F238E27FC236}">
                <a16:creationId xmlns:a16="http://schemas.microsoft.com/office/drawing/2014/main" id="{239267D5-61EF-6CC5-A674-6D8B9687B8F8}"/>
              </a:ext>
            </a:extLst>
          </p:cNvPr>
          <p:cNvGrpSpPr/>
          <p:nvPr/>
        </p:nvGrpSpPr>
        <p:grpSpPr>
          <a:xfrm>
            <a:off x="8099638" y="1010232"/>
            <a:ext cx="2037016" cy="1403597"/>
            <a:chOff x="7301341" y="1152077"/>
            <a:chExt cx="1527762" cy="1052698"/>
          </a:xfrm>
        </p:grpSpPr>
        <p:sp>
          <p:nvSpPr>
            <p:cNvPr id="24" name="Oval 23">
              <a:extLst>
                <a:ext uri="{FF2B5EF4-FFF2-40B4-BE49-F238E27FC236}">
                  <a16:creationId xmlns:a16="http://schemas.microsoft.com/office/drawing/2014/main" id="{4355F262-867A-61C0-2BEC-97FEF9B167D9}"/>
                </a:ext>
              </a:extLst>
            </p:cNvPr>
            <p:cNvSpPr/>
            <p:nvPr/>
          </p:nvSpPr>
          <p:spPr>
            <a:xfrm>
              <a:off x="7653742" y="1152077"/>
              <a:ext cx="822960" cy="822960"/>
            </a:xfrm>
            <a:prstGeom prst="ellipse">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914377"/>
              <a:endParaRPr lang="en-US" b="1" spc="-25">
                <a:solidFill>
                  <a:srgbClr val="1D1D1D"/>
                </a:solidFill>
                <a:latin typeface="Segoe UI" pitchFamily="34" charset="0"/>
              </a:endParaRPr>
            </a:p>
          </p:txBody>
        </p:sp>
        <p:sp>
          <p:nvSpPr>
            <p:cNvPr id="25" name="TextBox 24">
              <a:extLst>
                <a:ext uri="{FF2B5EF4-FFF2-40B4-BE49-F238E27FC236}">
                  <a16:creationId xmlns:a16="http://schemas.microsoft.com/office/drawing/2014/main" id="{3947A53B-0BD1-20AD-EFBD-C26C3B8DE75E}"/>
                </a:ext>
              </a:extLst>
            </p:cNvPr>
            <p:cNvSpPr txBox="1"/>
            <p:nvPr/>
          </p:nvSpPr>
          <p:spPr>
            <a:xfrm>
              <a:off x="7301341" y="1966200"/>
              <a:ext cx="1527762" cy="238575"/>
            </a:xfrm>
            <a:prstGeom prst="rect">
              <a:avLst/>
            </a:prstGeom>
            <a:noFill/>
          </p:spPr>
          <p:txBody>
            <a:bodyPr wrap="square" lIns="91440" tIns="45720" rIns="91440" bIns="45720">
              <a:spAutoFit/>
            </a:bodyPr>
            <a:lstStyle/>
            <a:p>
              <a:pPr algn="ctr" defTabSz="914377"/>
              <a:r>
                <a:rPr lang="en-US" sz="1467" spc="-10">
                  <a:solidFill>
                    <a:srgbClr val="1D1D1D"/>
                  </a:solidFill>
                  <a:latin typeface="Arial" pitchFamily="34" charset="0"/>
                  <a:ea typeface="Lato Light" panose="020F0502020204030203" pitchFamily="34" charset="0"/>
                  <a:cs typeface="Lato Light" panose="020F0502020204030203" pitchFamily="34" charset="0"/>
                </a:rPr>
                <a:t>Executive Assessment</a:t>
              </a:r>
            </a:p>
          </p:txBody>
        </p:sp>
        <p:pic>
          <p:nvPicPr>
            <p:cNvPr id="26" name="Picture 25">
              <a:extLst>
                <a:ext uri="{FF2B5EF4-FFF2-40B4-BE49-F238E27FC236}">
                  <a16:creationId xmlns:a16="http://schemas.microsoft.com/office/drawing/2014/main" id="{268EEFE9-0358-94B2-4299-568989CB81AA}"/>
                </a:ext>
              </a:extLst>
            </p:cNvPr>
            <p:cNvPicPr>
              <a:picLocks noChangeAspect="1"/>
            </p:cNvPicPr>
            <p:nvPr/>
          </p:nvPicPr>
          <p:blipFill>
            <a:blip r:embed="rId6" cstate="screen">
              <a:duotone>
                <a:srgbClr val="765FFF"/>
                <a:srgbClr val="FFFFFF"/>
              </a:duotone>
            </a:blip>
            <a:stretch>
              <a:fillRect/>
            </a:stretch>
          </p:blipFill>
          <p:spPr>
            <a:xfrm>
              <a:off x="7739218" y="1241931"/>
              <a:ext cx="652003" cy="649385"/>
            </a:xfrm>
            <a:prstGeom prst="rect">
              <a:avLst/>
            </a:prstGeom>
          </p:spPr>
        </p:pic>
      </p:grpSp>
      <p:grpSp>
        <p:nvGrpSpPr>
          <p:cNvPr id="27" name="Group 26">
            <a:extLst>
              <a:ext uri="{FF2B5EF4-FFF2-40B4-BE49-F238E27FC236}">
                <a16:creationId xmlns:a16="http://schemas.microsoft.com/office/drawing/2014/main" id="{7E30348E-336D-C48D-C539-AFDF80906B67}"/>
              </a:ext>
            </a:extLst>
          </p:cNvPr>
          <p:cNvGrpSpPr/>
          <p:nvPr/>
        </p:nvGrpSpPr>
        <p:grpSpPr>
          <a:xfrm>
            <a:off x="4754858" y="2770669"/>
            <a:ext cx="1676399" cy="1647335"/>
            <a:chOff x="3159264" y="881838"/>
            <a:chExt cx="1257299" cy="1235501"/>
          </a:xfrm>
        </p:grpSpPr>
        <p:sp>
          <p:nvSpPr>
            <p:cNvPr id="28" name="Oval 27">
              <a:extLst>
                <a:ext uri="{FF2B5EF4-FFF2-40B4-BE49-F238E27FC236}">
                  <a16:creationId xmlns:a16="http://schemas.microsoft.com/office/drawing/2014/main" id="{7E18F7C0-E019-4F45-A966-3CE33D925470}"/>
                </a:ext>
              </a:extLst>
            </p:cNvPr>
            <p:cNvSpPr/>
            <p:nvPr/>
          </p:nvSpPr>
          <p:spPr>
            <a:xfrm>
              <a:off x="3376433" y="881838"/>
              <a:ext cx="822960" cy="822960"/>
            </a:xfrm>
            <a:prstGeom prst="ellipse">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914377"/>
              <a:endParaRPr lang="en-US" b="1" spc="-25">
                <a:solidFill>
                  <a:srgbClr val="1D1D1D"/>
                </a:solidFill>
                <a:latin typeface="Segoe UI" pitchFamily="34" charset="0"/>
              </a:endParaRPr>
            </a:p>
          </p:txBody>
        </p:sp>
        <p:sp>
          <p:nvSpPr>
            <p:cNvPr id="29" name="TextBox 28">
              <a:extLst>
                <a:ext uri="{FF2B5EF4-FFF2-40B4-BE49-F238E27FC236}">
                  <a16:creationId xmlns:a16="http://schemas.microsoft.com/office/drawing/2014/main" id="{515A2F72-4006-DACA-6BE5-DE0E61F72989}"/>
                </a:ext>
              </a:extLst>
            </p:cNvPr>
            <p:cNvSpPr txBox="1"/>
            <p:nvPr/>
          </p:nvSpPr>
          <p:spPr>
            <a:xfrm>
              <a:off x="3159264" y="1709439"/>
              <a:ext cx="1257299" cy="407900"/>
            </a:xfrm>
            <a:prstGeom prst="rect">
              <a:avLst/>
            </a:prstGeom>
            <a:noFill/>
          </p:spPr>
          <p:txBody>
            <a:bodyPr wrap="square" lIns="91440" tIns="45720" rIns="91440" bIns="45720">
              <a:spAutoFit/>
            </a:bodyPr>
            <a:lstStyle/>
            <a:p>
              <a:pPr algn="ctr" defTabSz="914377"/>
              <a:r>
                <a:rPr lang="en-US" sz="1467" spc="-10" dirty="0">
                  <a:solidFill>
                    <a:srgbClr val="1D1D1D"/>
                  </a:solidFill>
                  <a:latin typeface="Arial" pitchFamily="34" charset="0"/>
                  <a:ea typeface="Lato Light" panose="020F0502020204030203" pitchFamily="34" charset="0"/>
                  <a:cs typeface="Lato Light" panose="020F0502020204030203" pitchFamily="34" charset="0"/>
                </a:rPr>
                <a:t>C-Suite Team Effectiveness</a:t>
              </a:r>
            </a:p>
          </p:txBody>
        </p:sp>
        <p:pic>
          <p:nvPicPr>
            <p:cNvPr id="30" name="Picture 29" descr="Mobilize">
              <a:extLst>
                <a:ext uri="{FF2B5EF4-FFF2-40B4-BE49-F238E27FC236}">
                  <a16:creationId xmlns:a16="http://schemas.microsoft.com/office/drawing/2014/main" id="{651A7EDF-3A8B-EDA9-4B76-5CB2CE758529}"/>
                </a:ext>
              </a:extLst>
            </p:cNvPr>
            <p:cNvPicPr>
              <a:picLocks noChangeAspect="1"/>
            </p:cNvPicPr>
            <p:nvPr/>
          </p:nvPicPr>
          <p:blipFill>
            <a:blip r:embed="rId7" cstate="screen">
              <a:duotone>
                <a:srgbClr val="765FFF"/>
                <a:srgbClr val="FFFFFF"/>
              </a:duotone>
            </a:blip>
            <a:stretch>
              <a:fillRect/>
            </a:stretch>
          </p:blipFill>
          <p:spPr>
            <a:xfrm>
              <a:off x="3427913" y="910227"/>
              <a:ext cx="720000" cy="720000"/>
            </a:xfrm>
            <a:prstGeom prst="rect">
              <a:avLst/>
            </a:prstGeom>
          </p:spPr>
        </p:pic>
      </p:grpSp>
      <p:grpSp>
        <p:nvGrpSpPr>
          <p:cNvPr id="31" name="Group 30">
            <a:extLst>
              <a:ext uri="{FF2B5EF4-FFF2-40B4-BE49-F238E27FC236}">
                <a16:creationId xmlns:a16="http://schemas.microsoft.com/office/drawing/2014/main" id="{DDBE5AE8-21C0-DCE3-EC93-39D8772C137E}"/>
              </a:ext>
            </a:extLst>
          </p:cNvPr>
          <p:cNvGrpSpPr/>
          <p:nvPr/>
        </p:nvGrpSpPr>
        <p:grpSpPr>
          <a:xfrm>
            <a:off x="9500751" y="2770669"/>
            <a:ext cx="1676399" cy="1675803"/>
            <a:chOff x="5083959" y="1181773"/>
            <a:chExt cx="1257299" cy="1256852"/>
          </a:xfrm>
        </p:grpSpPr>
        <p:sp>
          <p:nvSpPr>
            <p:cNvPr id="32" name="Oval 31">
              <a:extLst>
                <a:ext uri="{FF2B5EF4-FFF2-40B4-BE49-F238E27FC236}">
                  <a16:creationId xmlns:a16="http://schemas.microsoft.com/office/drawing/2014/main" id="{AA5321D6-EFF4-AD10-A255-556E8867F501}"/>
                </a:ext>
              </a:extLst>
            </p:cNvPr>
            <p:cNvSpPr/>
            <p:nvPr/>
          </p:nvSpPr>
          <p:spPr>
            <a:xfrm>
              <a:off x="5301129" y="1181773"/>
              <a:ext cx="822960" cy="822960"/>
            </a:xfrm>
            <a:prstGeom prst="ellipse">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914377"/>
              <a:endParaRPr lang="en-US" b="1" spc="-25">
                <a:solidFill>
                  <a:srgbClr val="1D1D1D"/>
                </a:solidFill>
                <a:latin typeface="Segoe UI" pitchFamily="34" charset="0"/>
              </a:endParaRPr>
            </a:p>
          </p:txBody>
        </p:sp>
        <p:sp>
          <p:nvSpPr>
            <p:cNvPr id="33" name="TextBox 32">
              <a:extLst>
                <a:ext uri="{FF2B5EF4-FFF2-40B4-BE49-F238E27FC236}">
                  <a16:creationId xmlns:a16="http://schemas.microsoft.com/office/drawing/2014/main" id="{4B2BC884-AFB5-3E58-A625-2357023E9034}"/>
                </a:ext>
              </a:extLst>
            </p:cNvPr>
            <p:cNvSpPr txBox="1"/>
            <p:nvPr/>
          </p:nvSpPr>
          <p:spPr>
            <a:xfrm>
              <a:off x="5083959" y="2030725"/>
              <a:ext cx="1257299" cy="407900"/>
            </a:xfrm>
            <a:prstGeom prst="rect">
              <a:avLst/>
            </a:prstGeom>
            <a:noFill/>
          </p:spPr>
          <p:txBody>
            <a:bodyPr wrap="square" lIns="91440" tIns="45720" rIns="91440" bIns="45720">
              <a:spAutoFit/>
            </a:bodyPr>
            <a:lstStyle/>
            <a:p>
              <a:pPr algn="ctr" defTabSz="914377"/>
              <a:r>
                <a:rPr lang="en-US" sz="1467" spc="-10" dirty="0">
                  <a:solidFill>
                    <a:srgbClr val="1D1D1D"/>
                  </a:solidFill>
                  <a:latin typeface="Arial" pitchFamily="34" charset="0"/>
                  <a:ea typeface="Lato Light" panose="020F0502020204030203" pitchFamily="34" charset="0"/>
                  <a:cs typeface="Lato Light" panose="020F0502020204030203" pitchFamily="34" charset="0"/>
                </a:rPr>
                <a:t>Critical Roles Identification</a:t>
              </a:r>
            </a:p>
          </p:txBody>
        </p:sp>
        <p:pic>
          <p:nvPicPr>
            <p:cNvPr id="34" name="Picture 33">
              <a:extLst>
                <a:ext uri="{FF2B5EF4-FFF2-40B4-BE49-F238E27FC236}">
                  <a16:creationId xmlns:a16="http://schemas.microsoft.com/office/drawing/2014/main" id="{70441666-1FB4-BCA2-A892-36C3D6DFE43B}"/>
                </a:ext>
              </a:extLst>
            </p:cNvPr>
            <p:cNvPicPr>
              <a:picLocks noChangeAspect="1"/>
            </p:cNvPicPr>
            <p:nvPr/>
          </p:nvPicPr>
          <p:blipFill>
            <a:blip r:embed="rId8" cstate="screen">
              <a:duotone>
                <a:srgbClr val="765FFF"/>
                <a:srgbClr val="FFFFFF"/>
              </a:duotone>
            </a:blip>
            <a:stretch>
              <a:fillRect/>
            </a:stretch>
          </p:blipFill>
          <p:spPr>
            <a:xfrm>
              <a:off x="5445560" y="1329128"/>
              <a:ext cx="499602" cy="499602"/>
            </a:xfrm>
            <a:prstGeom prst="rect">
              <a:avLst/>
            </a:prstGeom>
          </p:spPr>
        </p:pic>
      </p:grpSp>
      <p:pic>
        <p:nvPicPr>
          <p:cNvPr id="35" name="Picture 34">
            <a:extLst>
              <a:ext uri="{FF2B5EF4-FFF2-40B4-BE49-F238E27FC236}">
                <a16:creationId xmlns:a16="http://schemas.microsoft.com/office/drawing/2014/main" id="{7A36F2A0-CDE6-D4CD-09CF-F04E0BA64443}"/>
              </a:ext>
            </a:extLst>
          </p:cNvPr>
          <p:cNvPicPr>
            <a:picLocks noChangeAspect="1"/>
          </p:cNvPicPr>
          <p:nvPr/>
        </p:nvPicPr>
        <p:blipFill>
          <a:blip r:embed="rId9">
            <a:duotone>
              <a:srgbClr val="765FFF"/>
              <a:srgbClr val="FFFFFF"/>
            </a:duotone>
          </a:blip>
          <a:srcRect l="323" r="323"/>
          <a:stretch/>
        </p:blipFill>
        <p:spPr>
          <a:xfrm>
            <a:off x="213641" y="1007404"/>
            <a:ext cx="1057529" cy="961391"/>
          </a:xfrm>
          <a:prstGeom prst="rect">
            <a:avLst/>
          </a:prstGeom>
        </p:spPr>
      </p:pic>
      <p:sp>
        <p:nvSpPr>
          <p:cNvPr id="36" name="TextBox 35">
            <a:extLst>
              <a:ext uri="{FF2B5EF4-FFF2-40B4-BE49-F238E27FC236}">
                <a16:creationId xmlns:a16="http://schemas.microsoft.com/office/drawing/2014/main" id="{499EDFBC-EC1C-213B-B99B-460337A45C00}"/>
              </a:ext>
            </a:extLst>
          </p:cNvPr>
          <p:cNvSpPr txBox="1"/>
          <p:nvPr/>
        </p:nvSpPr>
        <p:spPr>
          <a:xfrm>
            <a:off x="1419851" y="1160674"/>
            <a:ext cx="2123624" cy="646331"/>
          </a:xfrm>
          <a:prstGeom prst="rect">
            <a:avLst/>
          </a:prstGeom>
          <a:noFill/>
        </p:spPr>
        <p:txBody>
          <a:bodyPr wrap="square" lIns="91440" tIns="45720" rIns="91440" bIns="45720" rtlCol="0">
            <a:spAutoFit/>
          </a:bodyPr>
          <a:lstStyle/>
          <a:p>
            <a:pPr defTabSz="914377"/>
            <a:r>
              <a:rPr lang="en-US" i="1" spc="-10">
                <a:solidFill>
                  <a:srgbClr val="1D1D1D"/>
                </a:solidFill>
                <a:latin typeface="Arial" pitchFamily="34" charset="0"/>
                <a:ea typeface="Lato" panose="020F0502020204030203" pitchFamily="34" charset="0"/>
                <a:cs typeface="Lato" panose="020F0502020204030203" pitchFamily="34" charset="0"/>
              </a:rPr>
              <a:t>“Talent to Value helps answer…. </a:t>
            </a:r>
          </a:p>
        </p:txBody>
      </p:sp>
      <p:grpSp>
        <p:nvGrpSpPr>
          <p:cNvPr id="37" name="Group 36">
            <a:extLst>
              <a:ext uri="{FF2B5EF4-FFF2-40B4-BE49-F238E27FC236}">
                <a16:creationId xmlns:a16="http://schemas.microsoft.com/office/drawing/2014/main" id="{99605B35-0918-E31B-43A3-18480CD9838B}"/>
              </a:ext>
            </a:extLst>
          </p:cNvPr>
          <p:cNvGrpSpPr/>
          <p:nvPr/>
        </p:nvGrpSpPr>
        <p:grpSpPr>
          <a:xfrm>
            <a:off x="263164" y="2157036"/>
            <a:ext cx="3415117" cy="3999187"/>
            <a:chOff x="356479" y="1729316"/>
            <a:chExt cx="3639073" cy="3250958"/>
          </a:xfrm>
        </p:grpSpPr>
        <p:grpSp>
          <p:nvGrpSpPr>
            <p:cNvPr id="38" name="Group 37">
              <a:extLst>
                <a:ext uri="{FF2B5EF4-FFF2-40B4-BE49-F238E27FC236}">
                  <a16:creationId xmlns:a16="http://schemas.microsoft.com/office/drawing/2014/main" id="{426E6B16-76BE-AEB1-7D4C-02CCF35C6C5C}"/>
                </a:ext>
              </a:extLst>
            </p:cNvPr>
            <p:cNvGrpSpPr/>
            <p:nvPr/>
          </p:nvGrpSpPr>
          <p:grpSpPr>
            <a:xfrm>
              <a:off x="374462" y="1729316"/>
              <a:ext cx="3621090" cy="569353"/>
              <a:chOff x="167983" y="1729316"/>
              <a:chExt cx="3621090" cy="569353"/>
            </a:xfrm>
          </p:grpSpPr>
          <p:sp>
            <p:nvSpPr>
              <p:cNvPr id="55" name="TextBox 54">
                <a:extLst>
                  <a:ext uri="{FF2B5EF4-FFF2-40B4-BE49-F238E27FC236}">
                    <a16:creationId xmlns:a16="http://schemas.microsoft.com/office/drawing/2014/main" id="{925EDED4-9C5F-BBC3-8DFD-4DFB3F91A948}"/>
                  </a:ext>
                </a:extLst>
              </p:cNvPr>
              <p:cNvSpPr txBox="1"/>
              <p:nvPr/>
            </p:nvSpPr>
            <p:spPr>
              <a:xfrm>
                <a:off x="753400" y="1775511"/>
                <a:ext cx="3035673" cy="442112"/>
              </a:xfrm>
              <a:prstGeom prst="rect">
                <a:avLst/>
              </a:prstGeom>
              <a:noFill/>
            </p:spPr>
            <p:txBody>
              <a:bodyPr wrap="square" lIns="91440" tIns="45720" rIns="91440" bIns="45720" rtlCol="0">
                <a:spAutoFit/>
              </a:bodyPr>
              <a:lstStyle/>
              <a:p>
                <a:pPr defTabSz="1219170">
                  <a:defRPr/>
                </a:pPr>
                <a:r>
                  <a:rPr lang="en-US" sz="1467" spc="-10" dirty="0">
                    <a:solidFill>
                      <a:srgbClr val="585858"/>
                    </a:solidFill>
                    <a:latin typeface="Arial" pitchFamily="34" charset="0"/>
                    <a:cs typeface="Calibri Light" panose="020F0302020204030204" pitchFamily="34" charset="0"/>
                  </a:rPr>
                  <a:t>Do you have the right leadership team?</a:t>
                </a:r>
              </a:p>
            </p:txBody>
          </p:sp>
          <p:sp>
            <p:nvSpPr>
              <p:cNvPr id="56" name="TextBox 55">
                <a:extLst>
                  <a:ext uri="{FF2B5EF4-FFF2-40B4-BE49-F238E27FC236}">
                    <a16:creationId xmlns:a16="http://schemas.microsoft.com/office/drawing/2014/main" id="{BCDE3C35-51D2-4CF7-47B6-1CA1995499D6}"/>
                  </a:ext>
                </a:extLst>
              </p:cNvPr>
              <p:cNvSpPr txBox="1"/>
              <p:nvPr/>
            </p:nvSpPr>
            <p:spPr>
              <a:xfrm>
                <a:off x="167983" y="1729316"/>
                <a:ext cx="692132" cy="475367"/>
              </a:xfrm>
              <a:prstGeom prst="rect">
                <a:avLst/>
              </a:prstGeom>
              <a:noFill/>
            </p:spPr>
            <p:txBody>
              <a:bodyPr wrap="none" lIns="91440" tIns="45720" rIns="91440" bIns="45720" rtlCol="0">
                <a:spAutoFit/>
              </a:bodyPr>
              <a:lstStyle/>
              <a:p>
                <a:pPr defTabSz="1219170">
                  <a:defRPr/>
                </a:pPr>
                <a:r>
                  <a:rPr lang="en-IN" sz="3200" b="1" spc="-25" dirty="0">
                    <a:latin typeface="Segoe UI" pitchFamily="34" charset="0"/>
                    <a:cs typeface="Calibri Light" panose="020F0302020204030204" pitchFamily="34" charset="0"/>
                  </a:rPr>
                  <a:t>01</a:t>
                </a:r>
              </a:p>
            </p:txBody>
          </p:sp>
          <p:cxnSp>
            <p:nvCxnSpPr>
              <p:cNvPr id="57" name="Straight Connector 56">
                <a:extLst>
                  <a:ext uri="{FF2B5EF4-FFF2-40B4-BE49-F238E27FC236}">
                    <a16:creationId xmlns:a16="http://schemas.microsoft.com/office/drawing/2014/main" id="{0B387743-2398-D3F0-69E6-0BF45012CF96}"/>
                  </a:ext>
                </a:extLst>
              </p:cNvPr>
              <p:cNvCxnSpPr/>
              <p:nvPr/>
            </p:nvCxnSpPr>
            <p:spPr>
              <a:xfrm>
                <a:off x="268918" y="2298669"/>
                <a:ext cx="3520155" cy="0"/>
              </a:xfrm>
              <a:prstGeom prst="line">
                <a:avLst/>
              </a:prstGeom>
              <a:ln>
                <a:solidFill>
                  <a:srgbClr val="1D1D1D"/>
                </a:solidFill>
              </a:ln>
            </p:spPr>
            <p:style>
              <a:lnRef idx="1">
                <a:schemeClr val="accent1"/>
              </a:lnRef>
              <a:fillRef idx="0">
                <a:schemeClr val="accent1"/>
              </a:fillRef>
              <a:effectRef idx="0">
                <a:schemeClr val="accent1"/>
              </a:effectRef>
              <a:fontRef idx="minor">
                <a:schemeClr val="tx1"/>
              </a:fontRef>
            </p:style>
          </p:cxnSp>
        </p:grpSp>
        <p:grpSp>
          <p:nvGrpSpPr>
            <p:cNvPr id="39" name="Group 38">
              <a:extLst>
                <a:ext uri="{FF2B5EF4-FFF2-40B4-BE49-F238E27FC236}">
                  <a16:creationId xmlns:a16="http://schemas.microsoft.com/office/drawing/2014/main" id="{54D31E52-9262-8F68-18E1-6C12BB9E1019}"/>
                </a:ext>
              </a:extLst>
            </p:cNvPr>
            <p:cNvGrpSpPr/>
            <p:nvPr/>
          </p:nvGrpSpPr>
          <p:grpSpPr>
            <a:xfrm>
              <a:off x="356482" y="2367607"/>
              <a:ext cx="3639070" cy="700537"/>
              <a:chOff x="150003" y="1528982"/>
              <a:chExt cx="3639070" cy="700537"/>
            </a:xfrm>
          </p:grpSpPr>
          <p:sp>
            <p:nvSpPr>
              <p:cNvPr id="52" name="TextBox 51">
                <a:extLst>
                  <a:ext uri="{FF2B5EF4-FFF2-40B4-BE49-F238E27FC236}">
                    <a16:creationId xmlns:a16="http://schemas.microsoft.com/office/drawing/2014/main" id="{8D2421BE-1DCF-D6E1-3A9A-39162A09BDFA}"/>
                  </a:ext>
                </a:extLst>
              </p:cNvPr>
              <p:cNvSpPr txBox="1"/>
              <p:nvPr/>
            </p:nvSpPr>
            <p:spPr>
              <a:xfrm>
                <a:off x="753400" y="1564562"/>
                <a:ext cx="3035673" cy="625639"/>
              </a:xfrm>
              <a:prstGeom prst="rect">
                <a:avLst/>
              </a:prstGeom>
              <a:noFill/>
            </p:spPr>
            <p:txBody>
              <a:bodyPr wrap="square" lIns="91440" tIns="45720" rIns="91440" bIns="45720" rtlCol="0">
                <a:spAutoFit/>
              </a:bodyPr>
              <a:lstStyle/>
              <a:p>
                <a:pPr defTabSz="1219170">
                  <a:defRPr/>
                </a:pPr>
                <a:r>
                  <a:rPr lang="en-US" sz="1467" spc="-10">
                    <a:solidFill>
                      <a:srgbClr val="585858"/>
                    </a:solidFill>
                    <a:latin typeface="Arial" pitchFamily="34" charset="0"/>
                    <a:cs typeface="Calibri Light" panose="020F0302020204030204" pitchFamily="34" charset="0"/>
                  </a:rPr>
                  <a:t>Do you know the 20-30 critical roles across the organization that deliver 80% of value?</a:t>
                </a:r>
              </a:p>
            </p:txBody>
          </p:sp>
          <p:sp>
            <p:nvSpPr>
              <p:cNvPr id="53" name="TextBox 52">
                <a:extLst>
                  <a:ext uri="{FF2B5EF4-FFF2-40B4-BE49-F238E27FC236}">
                    <a16:creationId xmlns:a16="http://schemas.microsoft.com/office/drawing/2014/main" id="{541DEE8F-277C-9218-001F-952814E9D4DA}"/>
                  </a:ext>
                </a:extLst>
              </p:cNvPr>
              <p:cNvSpPr txBox="1"/>
              <p:nvPr/>
            </p:nvSpPr>
            <p:spPr>
              <a:xfrm>
                <a:off x="150003" y="1528982"/>
                <a:ext cx="692132" cy="475366"/>
              </a:xfrm>
              <a:prstGeom prst="rect">
                <a:avLst/>
              </a:prstGeom>
              <a:noFill/>
            </p:spPr>
            <p:txBody>
              <a:bodyPr wrap="none" lIns="91440" tIns="45720" rIns="91440" bIns="45720" rtlCol="0">
                <a:spAutoFit/>
              </a:bodyPr>
              <a:lstStyle/>
              <a:p>
                <a:pPr defTabSz="1219170">
                  <a:defRPr/>
                </a:pPr>
                <a:r>
                  <a:rPr lang="en-IN" sz="3200" b="1" spc="-25" dirty="0">
                    <a:latin typeface="Segoe UI" pitchFamily="34" charset="0"/>
                    <a:cs typeface="Calibri Light" panose="020F0302020204030204" pitchFamily="34" charset="0"/>
                  </a:rPr>
                  <a:t>02</a:t>
                </a:r>
              </a:p>
            </p:txBody>
          </p:sp>
          <p:cxnSp>
            <p:nvCxnSpPr>
              <p:cNvPr id="54" name="Straight Connector 53">
                <a:extLst>
                  <a:ext uri="{FF2B5EF4-FFF2-40B4-BE49-F238E27FC236}">
                    <a16:creationId xmlns:a16="http://schemas.microsoft.com/office/drawing/2014/main" id="{998A6A49-9F60-72A1-14C3-07C78749EFAB}"/>
                  </a:ext>
                </a:extLst>
              </p:cNvPr>
              <p:cNvCxnSpPr/>
              <p:nvPr/>
            </p:nvCxnSpPr>
            <p:spPr>
              <a:xfrm>
                <a:off x="268919" y="2229519"/>
                <a:ext cx="3520154" cy="0"/>
              </a:xfrm>
              <a:prstGeom prst="line">
                <a:avLst/>
              </a:prstGeom>
              <a:ln>
                <a:solidFill>
                  <a:srgbClr val="1D1D1D"/>
                </a:solidFill>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74035D84-D44C-DB85-DB64-9B65E52771AC}"/>
                </a:ext>
              </a:extLst>
            </p:cNvPr>
            <p:cNvGrpSpPr/>
            <p:nvPr/>
          </p:nvGrpSpPr>
          <p:grpSpPr>
            <a:xfrm>
              <a:off x="356481" y="3090738"/>
              <a:ext cx="3639071" cy="593226"/>
              <a:chOff x="150002" y="1413488"/>
              <a:chExt cx="3639071" cy="593226"/>
            </a:xfrm>
          </p:grpSpPr>
          <p:sp>
            <p:nvSpPr>
              <p:cNvPr id="49" name="TextBox 48">
                <a:extLst>
                  <a:ext uri="{FF2B5EF4-FFF2-40B4-BE49-F238E27FC236}">
                    <a16:creationId xmlns:a16="http://schemas.microsoft.com/office/drawing/2014/main" id="{5E7CBEA2-66CB-761C-79D6-447CF7429B78}"/>
                  </a:ext>
                </a:extLst>
              </p:cNvPr>
              <p:cNvSpPr txBox="1"/>
              <p:nvPr/>
            </p:nvSpPr>
            <p:spPr>
              <a:xfrm>
                <a:off x="753400" y="1472353"/>
                <a:ext cx="3035673" cy="442112"/>
              </a:xfrm>
              <a:prstGeom prst="rect">
                <a:avLst/>
              </a:prstGeom>
              <a:noFill/>
            </p:spPr>
            <p:txBody>
              <a:bodyPr wrap="square" lIns="91440" tIns="45720" rIns="91440" bIns="45720" rtlCol="0">
                <a:spAutoFit/>
              </a:bodyPr>
              <a:lstStyle/>
              <a:p>
                <a:pPr defTabSz="1219170">
                  <a:defRPr/>
                </a:pPr>
                <a:r>
                  <a:rPr lang="en-US" sz="1467" spc="-10" dirty="0">
                    <a:solidFill>
                      <a:srgbClr val="585858"/>
                    </a:solidFill>
                    <a:latin typeface="Arial" pitchFamily="34" charset="0"/>
                    <a:cs typeface="Calibri Light" panose="020F0302020204030204" pitchFamily="34" charset="0"/>
                  </a:rPr>
                  <a:t>Do you have a minimally invasive plan to win?</a:t>
                </a:r>
              </a:p>
            </p:txBody>
          </p:sp>
          <p:sp>
            <p:nvSpPr>
              <p:cNvPr id="50" name="TextBox 49">
                <a:extLst>
                  <a:ext uri="{FF2B5EF4-FFF2-40B4-BE49-F238E27FC236}">
                    <a16:creationId xmlns:a16="http://schemas.microsoft.com/office/drawing/2014/main" id="{07C2CFE4-87C3-84A8-5A14-6E6D7D303471}"/>
                  </a:ext>
                </a:extLst>
              </p:cNvPr>
              <p:cNvSpPr txBox="1"/>
              <p:nvPr/>
            </p:nvSpPr>
            <p:spPr>
              <a:xfrm>
                <a:off x="150002" y="1413488"/>
                <a:ext cx="692132" cy="475366"/>
              </a:xfrm>
              <a:prstGeom prst="rect">
                <a:avLst/>
              </a:prstGeom>
              <a:noFill/>
            </p:spPr>
            <p:txBody>
              <a:bodyPr wrap="none" lIns="91440" tIns="45720" rIns="91440" bIns="45720" rtlCol="0">
                <a:spAutoFit/>
              </a:bodyPr>
              <a:lstStyle/>
              <a:p>
                <a:pPr defTabSz="1219170">
                  <a:defRPr/>
                </a:pPr>
                <a:r>
                  <a:rPr lang="en-IN" sz="3200" b="1" spc="-25" dirty="0">
                    <a:latin typeface="Segoe UI" pitchFamily="34" charset="0"/>
                    <a:cs typeface="Calibri Light" panose="020F0302020204030204" pitchFamily="34" charset="0"/>
                  </a:rPr>
                  <a:t>03</a:t>
                </a:r>
              </a:p>
            </p:txBody>
          </p:sp>
          <p:cxnSp>
            <p:nvCxnSpPr>
              <p:cNvPr id="51" name="Straight Connector 50">
                <a:extLst>
                  <a:ext uri="{FF2B5EF4-FFF2-40B4-BE49-F238E27FC236}">
                    <a16:creationId xmlns:a16="http://schemas.microsoft.com/office/drawing/2014/main" id="{C500F652-DE86-E370-4CCC-9A836F73A250}"/>
                  </a:ext>
                </a:extLst>
              </p:cNvPr>
              <p:cNvCxnSpPr/>
              <p:nvPr/>
            </p:nvCxnSpPr>
            <p:spPr>
              <a:xfrm>
                <a:off x="268918" y="2006714"/>
                <a:ext cx="3520155" cy="0"/>
              </a:xfrm>
              <a:prstGeom prst="line">
                <a:avLst/>
              </a:prstGeom>
              <a:ln>
                <a:solidFill>
                  <a:srgbClr val="1D1D1D"/>
                </a:solidFill>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458B7F5E-4C4B-EA41-ED61-0C1CEB9C5EC3}"/>
                </a:ext>
              </a:extLst>
            </p:cNvPr>
            <p:cNvGrpSpPr/>
            <p:nvPr/>
          </p:nvGrpSpPr>
          <p:grpSpPr>
            <a:xfrm>
              <a:off x="356479" y="3752014"/>
              <a:ext cx="3639073" cy="550343"/>
              <a:chOff x="150000" y="1236139"/>
              <a:chExt cx="3639073" cy="550343"/>
            </a:xfrm>
          </p:grpSpPr>
          <p:sp>
            <p:nvSpPr>
              <p:cNvPr id="46" name="TextBox 45">
                <a:extLst>
                  <a:ext uri="{FF2B5EF4-FFF2-40B4-BE49-F238E27FC236}">
                    <a16:creationId xmlns:a16="http://schemas.microsoft.com/office/drawing/2014/main" id="{0ABE4CCD-A189-3664-B4DB-612EF017CFC4}"/>
                  </a:ext>
                </a:extLst>
              </p:cNvPr>
              <p:cNvSpPr txBox="1"/>
              <p:nvPr/>
            </p:nvSpPr>
            <p:spPr>
              <a:xfrm>
                <a:off x="753401" y="1256275"/>
                <a:ext cx="3035672" cy="442112"/>
              </a:xfrm>
              <a:prstGeom prst="rect">
                <a:avLst/>
              </a:prstGeom>
              <a:noFill/>
            </p:spPr>
            <p:txBody>
              <a:bodyPr wrap="square" lIns="91440" tIns="45720" rIns="91440" bIns="45720" rtlCol="0">
                <a:spAutoFit/>
              </a:bodyPr>
              <a:lstStyle/>
              <a:p>
                <a:pPr defTabSz="1219170">
                  <a:defRPr/>
                </a:pPr>
                <a:r>
                  <a:rPr lang="en-US" sz="1467" spc="-10" dirty="0">
                    <a:solidFill>
                      <a:srgbClr val="585858"/>
                    </a:solidFill>
                    <a:latin typeface="Arial" pitchFamily="34" charset="0"/>
                    <a:cs typeface="Calibri Light" panose="020F0302020204030204" pitchFamily="34" charset="0"/>
                  </a:rPr>
                  <a:t>Is the Organization Designed for Success?</a:t>
                </a:r>
              </a:p>
            </p:txBody>
          </p:sp>
          <p:sp>
            <p:nvSpPr>
              <p:cNvPr id="47" name="TextBox 46">
                <a:extLst>
                  <a:ext uri="{FF2B5EF4-FFF2-40B4-BE49-F238E27FC236}">
                    <a16:creationId xmlns:a16="http://schemas.microsoft.com/office/drawing/2014/main" id="{834BC823-F38B-B852-6CB0-85BFB06E6405}"/>
                  </a:ext>
                </a:extLst>
              </p:cNvPr>
              <p:cNvSpPr txBox="1"/>
              <p:nvPr/>
            </p:nvSpPr>
            <p:spPr>
              <a:xfrm>
                <a:off x="150000" y="1236139"/>
                <a:ext cx="692132" cy="475366"/>
              </a:xfrm>
              <a:prstGeom prst="rect">
                <a:avLst/>
              </a:prstGeom>
              <a:noFill/>
            </p:spPr>
            <p:txBody>
              <a:bodyPr wrap="none" lIns="91440" tIns="45720" rIns="91440" bIns="45720" rtlCol="0">
                <a:spAutoFit/>
              </a:bodyPr>
              <a:lstStyle/>
              <a:p>
                <a:pPr defTabSz="1219170">
                  <a:defRPr b="1" spc="-25">
                    <a:latin typeface="Segoe UI" pitchFamily="34" charset="0"/>
                  </a:defRPr>
                </a:pPr>
                <a:r>
                  <a:rPr lang="en-IN" sz="3200" b="1" spc="-25" dirty="0">
                    <a:latin typeface="Segoe UI" pitchFamily="34" charset="0"/>
                    <a:cs typeface="Calibri Light" panose="020F0302020204030204" pitchFamily="34" charset="0"/>
                  </a:rPr>
                  <a:t>04</a:t>
                </a:r>
              </a:p>
            </p:txBody>
          </p:sp>
          <p:cxnSp>
            <p:nvCxnSpPr>
              <p:cNvPr id="48" name="Straight Connector 47">
                <a:extLst>
                  <a:ext uri="{FF2B5EF4-FFF2-40B4-BE49-F238E27FC236}">
                    <a16:creationId xmlns:a16="http://schemas.microsoft.com/office/drawing/2014/main" id="{50658C38-CA42-E7E3-718C-547C4D8D2EB3}"/>
                  </a:ext>
                </a:extLst>
              </p:cNvPr>
              <p:cNvCxnSpPr/>
              <p:nvPr/>
            </p:nvCxnSpPr>
            <p:spPr>
              <a:xfrm>
                <a:off x="268918" y="1786482"/>
                <a:ext cx="3520155" cy="0"/>
              </a:xfrm>
              <a:prstGeom prst="line">
                <a:avLst/>
              </a:prstGeom>
              <a:ln>
                <a:solidFill>
                  <a:srgbClr val="1D1D1D"/>
                </a:solidFill>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FE1CAECB-1AB9-411E-91DC-DE2885B65259}"/>
                </a:ext>
              </a:extLst>
            </p:cNvPr>
            <p:cNvGrpSpPr/>
            <p:nvPr/>
          </p:nvGrpSpPr>
          <p:grpSpPr>
            <a:xfrm>
              <a:off x="374462" y="4328100"/>
              <a:ext cx="3621090" cy="652174"/>
              <a:chOff x="167983" y="973602"/>
              <a:chExt cx="3621090" cy="652174"/>
            </a:xfrm>
          </p:grpSpPr>
          <p:sp>
            <p:nvSpPr>
              <p:cNvPr id="43" name="TextBox 42">
                <a:extLst>
                  <a:ext uri="{FF2B5EF4-FFF2-40B4-BE49-F238E27FC236}">
                    <a16:creationId xmlns:a16="http://schemas.microsoft.com/office/drawing/2014/main" id="{784D9C16-1BF6-48D2-226B-2494A8097207}"/>
                  </a:ext>
                </a:extLst>
              </p:cNvPr>
              <p:cNvSpPr txBox="1"/>
              <p:nvPr/>
            </p:nvSpPr>
            <p:spPr>
              <a:xfrm>
                <a:off x="753400" y="1036365"/>
                <a:ext cx="3035673" cy="442112"/>
              </a:xfrm>
              <a:prstGeom prst="rect">
                <a:avLst/>
              </a:prstGeom>
              <a:noFill/>
            </p:spPr>
            <p:txBody>
              <a:bodyPr wrap="square" lIns="91440" tIns="45720" rIns="91440" bIns="45720" rtlCol="0">
                <a:spAutoFit/>
              </a:bodyPr>
              <a:lstStyle/>
              <a:p>
                <a:pPr defTabSz="1219170">
                  <a:defRPr/>
                </a:pPr>
                <a:r>
                  <a:rPr lang="en-US" sz="1467" spc="-10" dirty="0">
                    <a:solidFill>
                      <a:srgbClr val="585858"/>
                    </a:solidFill>
                    <a:latin typeface="Arial" pitchFamily="34" charset="0"/>
                    <a:cs typeface="Calibri Light" panose="020F0302020204030204" pitchFamily="34" charset="0"/>
                  </a:rPr>
                  <a:t>Is There Enough Capability to Deliver the Ambition?</a:t>
                </a:r>
              </a:p>
            </p:txBody>
          </p:sp>
          <p:sp>
            <p:nvSpPr>
              <p:cNvPr id="44" name="TextBox 43">
                <a:extLst>
                  <a:ext uri="{FF2B5EF4-FFF2-40B4-BE49-F238E27FC236}">
                    <a16:creationId xmlns:a16="http://schemas.microsoft.com/office/drawing/2014/main" id="{CD3236A2-9C3E-74D0-ACEB-A2509FF8D508}"/>
                  </a:ext>
                </a:extLst>
              </p:cNvPr>
              <p:cNvSpPr txBox="1"/>
              <p:nvPr/>
            </p:nvSpPr>
            <p:spPr>
              <a:xfrm>
                <a:off x="167983" y="973602"/>
                <a:ext cx="692132" cy="475366"/>
              </a:xfrm>
              <a:prstGeom prst="rect">
                <a:avLst/>
              </a:prstGeom>
              <a:noFill/>
            </p:spPr>
            <p:txBody>
              <a:bodyPr wrap="none" lIns="91440" tIns="45720" rIns="91440" bIns="45720" rtlCol="0">
                <a:spAutoFit/>
              </a:bodyPr>
              <a:lstStyle/>
              <a:p>
                <a:pPr defTabSz="1219170">
                  <a:defRPr b="1" spc="-25">
                    <a:latin typeface="Segoe UI" pitchFamily="34" charset="0"/>
                  </a:defRPr>
                </a:pPr>
                <a:r>
                  <a:rPr lang="en-IN" sz="3200" b="1" spc="-25" dirty="0">
                    <a:latin typeface="Segoe UI" pitchFamily="34" charset="0"/>
                    <a:cs typeface="Calibri Light" panose="020F0302020204030204" pitchFamily="34" charset="0"/>
                  </a:rPr>
                  <a:t>05</a:t>
                </a:r>
              </a:p>
            </p:txBody>
          </p:sp>
          <p:cxnSp>
            <p:nvCxnSpPr>
              <p:cNvPr id="45" name="Straight Connector 44">
                <a:extLst>
                  <a:ext uri="{FF2B5EF4-FFF2-40B4-BE49-F238E27FC236}">
                    <a16:creationId xmlns:a16="http://schemas.microsoft.com/office/drawing/2014/main" id="{B2752455-364C-87B2-7EDB-3ACE2037FE06}"/>
                  </a:ext>
                </a:extLst>
              </p:cNvPr>
              <p:cNvCxnSpPr/>
              <p:nvPr/>
            </p:nvCxnSpPr>
            <p:spPr>
              <a:xfrm>
                <a:off x="268917" y="1625776"/>
                <a:ext cx="3520156" cy="0"/>
              </a:xfrm>
              <a:prstGeom prst="line">
                <a:avLst/>
              </a:prstGeom>
              <a:ln>
                <a:solidFill>
                  <a:srgbClr val="1D1D1D"/>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7432240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A1B739C-D5EF-789D-B22D-2D7E48CF1688}"/>
              </a:ext>
            </a:extLst>
          </p:cNvPr>
          <p:cNvSpPr>
            <a:spLocks noGrp="1"/>
          </p:cNvSpPr>
          <p:nvPr>
            <p:ph type="sldNum" sz="quarter" idx="4"/>
          </p:nvPr>
        </p:nvSpPr>
        <p:spPr/>
        <p:txBody>
          <a:bodyPr/>
          <a:lstStyle/>
          <a:p>
            <a:pPr algn="ctr"/>
            <a:fld id="{1875A764-3B06-454E-8ABA-2F6ED0EB58E9}" type="slidenum">
              <a:rPr lang="en-US" smtClean="0"/>
              <a:t>15</a:t>
            </a:fld>
            <a:endParaRPr lang="en-US"/>
          </a:p>
        </p:txBody>
      </p:sp>
      <p:sp>
        <p:nvSpPr>
          <p:cNvPr id="3" name="Title 2">
            <a:extLst>
              <a:ext uri="{FF2B5EF4-FFF2-40B4-BE49-F238E27FC236}">
                <a16:creationId xmlns:a16="http://schemas.microsoft.com/office/drawing/2014/main" id="{E58D39BA-A26A-B209-3442-2463DB9ED0E2}"/>
              </a:ext>
            </a:extLst>
          </p:cNvPr>
          <p:cNvSpPr>
            <a:spLocks noGrp="1"/>
          </p:cNvSpPr>
          <p:nvPr>
            <p:ph type="title"/>
          </p:nvPr>
        </p:nvSpPr>
        <p:spPr/>
        <p:txBody>
          <a:bodyPr/>
          <a:lstStyle/>
          <a:p>
            <a:r>
              <a:rPr lang="en-US" spc="-25" dirty="0">
                <a:cs typeface="Segoe UI" panose="020B0502040204020203" pitchFamily="34" charset="0"/>
              </a:rPr>
              <a:t>Our </a:t>
            </a:r>
            <a:r>
              <a:rPr lang="en-US" spc="-25" dirty="0">
                <a:solidFill>
                  <a:srgbClr val="765FFF"/>
                </a:solidFill>
                <a:cs typeface="Segoe UI" panose="020B0502040204020203" pitchFamily="34" charset="0"/>
              </a:rPr>
              <a:t>Clients</a:t>
            </a:r>
            <a:endParaRPr lang="en-US" dirty="0"/>
          </a:p>
        </p:txBody>
      </p:sp>
      <p:sp>
        <p:nvSpPr>
          <p:cNvPr id="4" name="object 6">
            <a:extLst>
              <a:ext uri="{FF2B5EF4-FFF2-40B4-BE49-F238E27FC236}">
                <a16:creationId xmlns:a16="http://schemas.microsoft.com/office/drawing/2014/main" id="{AA76BB9D-AB24-77A0-5965-1AA3BF2E6E9D}"/>
              </a:ext>
            </a:extLst>
          </p:cNvPr>
          <p:cNvSpPr txBox="1"/>
          <p:nvPr/>
        </p:nvSpPr>
        <p:spPr>
          <a:xfrm>
            <a:off x="290512" y="693292"/>
            <a:ext cx="3324225" cy="1368965"/>
          </a:xfrm>
          <a:prstGeom prst="rect">
            <a:avLst/>
          </a:prstGeom>
          <a:ln w="12700">
            <a:solidFill>
              <a:srgbClr val="765FFF"/>
            </a:solidFill>
          </a:ln>
        </p:spPr>
        <p:txBody>
          <a:bodyPr vert="horz" wrap="square" lIns="0" tIns="75565" rIns="0" bIns="0" rtlCol="0">
            <a:spAutoFit/>
          </a:bodyPr>
          <a:lstStyle/>
          <a:p>
            <a:pPr marL="109220">
              <a:lnSpc>
                <a:spcPct val="100000"/>
              </a:lnSpc>
              <a:spcBef>
                <a:spcPts val="595"/>
              </a:spcBef>
            </a:pPr>
            <a:r>
              <a:rPr lang="en-US" sz="1200" b="1" spc="-25" dirty="0">
                <a:solidFill>
                  <a:srgbClr val="281A42"/>
                </a:solidFill>
                <a:latin typeface="Segoe UI" pitchFamily="34" charset="0"/>
                <a:cs typeface="Arial"/>
              </a:rPr>
              <a:t>PRIVATE EQUITY</a:t>
            </a:r>
            <a:br>
              <a:rPr lang="en-US" sz="1200" b="1" spc="-25" dirty="0">
                <a:solidFill>
                  <a:srgbClr val="281A42"/>
                </a:solidFill>
                <a:latin typeface="Segoe UI" pitchFamily="34" charset="0"/>
                <a:cs typeface="Arial"/>
              </a:rPr>
            </a:br>
            <a:br>
              <a:rPr lang="en-US" sz="1200" b="1" spc="-25" dirty="0">
                <a:solidFill>
                  <a:srgbClr val="281A42"/>
                </a:solidFill>
                <a:latin typeface="Segoe UI" pitchFamily="34" charset="0"/>
                <a:cs typeface="Arial"/>
              </a:rPr>
            </a:br>
            <a:br>
              <a:rPr lang="en-US" sz="1200" b="1" spc="-25" dirty="0">
                <a:solidFill>
                  <a:srgbClr val="281A42"/>
                </a:solidFill>
                <a:latin typeface="Segoe UI" pitchFamily="34" charset="0"/>
                <a:cs typeface="Arial"/>
              </a:rPr>
            </a:br>
            <a:br>
              <a:rPr lang="en-US" sz="1200" b="1" spc="-25" dirty="0">
                <a:solidFill>
                  <a:srgbClr val="281A42"/>
                </a:solidFill>
                <a:latin typeface="Segoe UI" pitchFamily="34" charset="0"/>
                <a:cs typeface="Arial"/>
              </a:rPr>
            </a:br>
            <a:br>
              <a:rPr lang="en-US" sz="1200" b="1" spc="-25" dirty="0">
                <a:solidFill>
                  <a:srgbClr val="281A42"/>
                </a:solidFill>
                <a:latin typeface="Segoe UI" pitchFamily="34" charset="0"/>
                <a:cs typeface="Arial"/>
              </a:rPr>
            </a:br>
            <a:br>
              <a:rPr lang="en-US" sz="1200" b="1" spc="-25" dirty="0">
                <a:solidFill>
                  <a:srgbClr val="281A42"/>
                </a:solidFill>
                <a:latin typeface="Segoe UI" pitchFamily="34" charset="0"/>
                <a:cs typeface="Arial"/>
              </a:rPr>
            </a:br>
            <a:endParaRPr lang="en-US" sz="1200" b="1" spc="-25" dirty="0">
              <a:latin typeface="Segoe UI" pitchFamily="34" charset="0"/>
              <a:cs typeface="Arial"/>
            </a:endParaRPr>
          </a:p>
        </p:txBody>
      </p:sp>
      <p:sp>
        <p:nvSpPr>
          <p:cNvPr id="5" name="object 21">
            <a:extLst>
              <a:ext uri="{FF2B5EF4-FFF2-40B4-BE49-F238E27FC236}">
                <a16:creationId xmlns:a16="http://schemas.microsoft.com/office/drawing/2014/main" id="{419EC629-8309-3556-8905-7B3843BF62A0}"/>
              </a:ext>
            </a:extLst>
          </p:cNvPr>
          <p:cNvSpPr/>
          <p:nvPr/>
        </p:nvSpPr>
        <p:spPr>
          <a:xfrm>
            <a:off x="3871976" y="693292"/>
            <a:ext cx="2295525" cy="1343025"/>
          </a:xfrm>
          <a:custGeom>
            <a:avLst/>
            <a:gdLst/>
            <a:ahLst/>
            <a:cxnLst/>
            <a:rect l="l" t="t" r="r" b="b"/>
            <a:pathLst>
              <a:path w="2295525" h="1343025">
                <a:moveTo>
                  <a:pt x="0" y="1343025"/>
                </a:moveTo>
                <a:lnTo>
                  <a:pt x="2295525" y="1343025"/>
                </a:lnTo>
                <a:lnTo>
                  <a:pt x="2295525" y="0"/>
                </a:lnTo>
                <a:lnTo>
                  <a:pt x="0" y="0"/>
                </a:lnTo>
                <a:lnTo>
                  <a:pt x="0" y="1343025"/>
                </a:lnTo>
                <a:close/>
              </a:path>
            </a:pathLst>
          </a:custGeom>
          <a:ln w="12700">
            <a:solidFill>
              <a:srgbClr val="765FFF"/>
            </a:solidFill>
          </a:ln>
        </p:spPr>
        <p:txBody>
          <a:bodyPr wrap="square" lIns="0" tIns="0" rIns="0" bIns="0" rtlCol="0"/>
          <a:lstStyle/>
          <a:p>
            <a:endParaRPr b="1" spc="-25" dirty="0">
              <a:latin typeface="Segoe UI" pitchFamily="34" charset="0"/>
            </a:endParaRPr>
          </a:p>
        </p:txBody>
      </p:sp>
      <p:sp>
        <p:nvSpPr>
          <p:cNvPr id="6" name="object 22">
            <a:extLst>
              <a:ext uri="{FF2B5EF4-FFF2-40B4-BE49-F238E27FC236}">
                <a16:creationId xmlns:a16="http://schemas.microsoft.com/office/drawing/2014/main" id="{21C44713-DF8F-B4BB-6730-D56CB06C0AE9}"/>
              </a:ext>
            </a:extLst>
          </p:cNvPr>
          <p:cNvSpPr txBox="1"/>
          <p:nvPr/>
        </p:nvSpPr>
        <p:spPr>
          <a:xfrm>
            <a:off x="3923919" y="773239"/>
            <a:ext cx="1879600" cy="197490"/>
          </a:xfrm>
          <a:prstGeom prst="rect">
            <a:avLst/>
          </a:prstGeom>
        </p:spPr>
        <p:txBody>
          <a:bodyPr vert="horz" wrap="square" lIns="0" tIns="12700" rIns="0" bIns="0" rtlCol="0">
            <a:spAutoFit/>
          </a:bodyPr>
          <a:lstStyle/>
          <a:p>
            <a:pPr marL="12700">
              <a:lnSpc>
                <a:spcPct val="100000"/>
              </a:lnSpc>
              <a:spcBef>
                <a:spcPts val="100"/>
              </a:spcBef>
            </a:pPr>
            <a:r>
              <a:rPr lang="en-US" sz="1200" b="1" spc="-25" dirty="0">
                <a:solidFill>
                  <a:srgbClr val="281A42"/>
                </a:solidFill>
                <a:latin typeface="Segoe UI" pitchFamily="34" charset="0"/>
                <a:cs typeface="Arial"/>
              </a:rPr>
              <a:t>PROFESSIONAL SERVICES</a:t>
            </a:r>
            <a:endParaRPr lang="en-US" sz="1200" b="1" spc="-25" dirty="0">
              <a:latin typeface="Segoe UI" pitchFamily="34" charset="0"/>
              <a:cs typeface="Arial"/>
            </a:endParaRPr>
          </a:p>
        </p:txBody>
      </p:sp>
      <p:sp>
        <p:nvSpPr>
          <p:cNvPr id="7" name="object 23">
            <a:extLst>
              <a:ext uri="{FF2B5EF4-FFF2-40B4-BE49-F238E27FC236}">
                <a16:creationId xmlns:a16="http://schemas.microsoft.com/office/drawing/2014/main" id="{6A13D9B8-57B2-F5A3-BA60-26178082DBDA}"/>
              </a:ext>
            </a:extLst>
          </p:cNvPr>
          <p:cNvSpPr txBox="1"/>
          <p:nvPr/>
        </p:nvSpPr>
        <p:spPr>
          <a:xfrm>
            <a:off x="6405626" y="3684079"/>
            <a:ext cx="5543550" cy="2762250"/>
          </a:xfrm>
          <a:prstGeom prst="rect">
            <a:avLst/>
          </a:prstGeom>
          <a:ln w="12700">
            <a:solidFill>
              <a:srgbClr val="765FFF"/>
            </a:solidFill>
          </a:ln>
        </p:spPr>
        <p:txBody>
          <a:bodyPr vert="horz" wrap="square" lIns="0" tIns="151130" rIns="0" bIns="0" rtlCol="0">
            <a:spAutoFit/>
          </a:bodyPr>
          <a:lstStyle/>
          <a:p>
            <a:pPr marL="120650">
              <a:lnSpc>
                <a:spcPct val="100000"/>
              </a:lnSpc>
              <a:spcBef>
                <a:spcPts val="1190"/>
              </a:spcBef>
            </a:pPr>
            <a:r>
              <a:rPr sz="1200" b="1" spc="-10" dirty="0">
                <a:solidFill>
                  <a:srgbClr val="281A42"/>
                </a:solidFill>
                <a:latin typeface="Segoe UI" pitchFamily="34" charset="0"/>
                <a:cs typeface="Arial"/>
              </a:rPr>
              <a:t>OTHER</a:t>
            </a:r>
            <a:endParaRPr sz="1200" spc="-10" dirty="0">
              <a:latin typeface="Arial" pitchFamily="34" charset="0"/>
              <a:cs typeface="Arial"/>
            </a:endParaRPr>
          </a:p>
        </p:txBody>
      </p:sp>
      <p:sp>
        <p:nvSpPr>
          <p:cNvPr id="8" name="object 24">
            <a:extLst>
              <a:ext uri="{FF2B5EF4-FFF2-40B4-BE49-F238E27FC236}">
                <a16:creationId xmlns:a16="http://schemas.microsoft.com/office/drawing/2014/main" id="{DD3CFE15-81A0-C0D3-9C80-B01CFB844BA5}"/>
              </a:ext>
            </a:extLst>
          </p:cNvPr>
          <p:cNvSpPr txBox="1"/>
          <p:nvPr/>
        </p:nvSpPr>
        <p:spPr>
          <a:xfrm>
            <a:off x="3871976" y="3684143"/>
            <a:ext cx="2295525" cy="1333500"/>
          </a:xfrm>
          <a:prstGeom prst="rect">
            <a:avLst/>
          </a:prstGeom>
          <a:ln w="12700">
            <a:solidFill>
              <a:srgbClr val="765FFF"/>
            </a:solidFill>
          </a:ln>
        </p:spPr>
        <p:txBody>
          <a:bodyPr vert="horz" wrap="square" lIns="0" tIns="97155" rIns="0" bIns="0" rtlCol="0">
            <a:spAutoFit/>
          </a:bodyPr>
          <a:lstStyle/>
          <a:p>
            <a:pPr marL="125730">
              <a:lnSpc>
                <a:spcPct val="100000"/>
              </a:lnSpc>
              <a:spcBef>
                <a:spcPts val="765"/>
              </a:spcBef>
            </a:pPr>
            <a:r>
              <a:rPr sz="1200" b="1" spc="-10" dirty="0">
                <a:solidFill>
                  <a:srgbClr val="281A42"/>
                </a:solidFill>
                <a:latin typeface="Segoe UI" pitchFamily="34" charset="0"/>
                <a:cs typeface="Arial"/>
              </a:rPr>
              <a:t>EDUCATION</a:t>
            </a:r>
            <a:endParaRPr sz="1200" spc="-10" dirty="0">
              <a:latin typeface="Arial" pitchFamily="34" charset="0"/>
              <a:cs typeface="Arial"/>
            </a:endParaRPr>
          </a:p>
        </p:txBody>
      </p:sp>
      <p:sp>
        <p:nvSpPr>
          <p:cNvPr id="9" name="object 25">
            <a:extLst>
              <a:ext uri="{FF2B5EF4-FFF2-40B4-BE49-F238E27FC236}">
                <a16:creationId xmlns:a16="http://schemas.microsoft.com/office/drawing/2014/main" id="{0AA9FF1F-0002-F1F4-40E2-D1705BDA4EEF}"/>
              </a:ext>
            </a:extLst>
          </p:cNvPr>
          <p:cNvSpPr txBox="1"/>
          <p:nvPr/>
        </p:nvSpPr>
        <p:spPr>
          <a:xfrm>
            <a:off x="290512" y="3674618"/>
            <a:ext cx="3324225" cy="1343025"/>
          </a:xfrm>
          <a:prstGeom prst="rect">
            <a:avLst/>
          </a:prstGeom>
          <a:ln w="12700">
            <a:solidFill>
              <a:srgbClr val="765FFF"/>
            </a:solidFill>
          </a:ln>
        </p:spPr>
        <p:txBody>
          <a:bodyPr vert="horz" wrap="square" lIns="0" tIns="106045" rIns="0" bIns="0" rtlCol="0">
            <a:spAutoFit/>
          </a:bodyPr>
          <a:lstStyle/>
          <a:p>
            <a:pPr marL="93980">
              <a:lnSpc>
                <a:spcPct val="100000"/>
              </a:lnSpc>
              <a:spcBef>
                <a:spcPts val="835"/>
              </a:spcBef>
            </a:pPr>
            <a:r>
              <a:rPr sz="1200" b="1" spc="-10" dirty="0">
                <a:solidFill>
                  <a:srgbClr val="281A42"/>
                </a:solidFill>
                <a:latin typeface="Segoe UI" pitchFamily="34" charset="0"/>
                <a:cs typeface="Arial"/>
              </a:rPr>
              <a:t>PHARMECEUTICALS AND LIFE SCIENCES</a:t>
            </a:r>
            <a:endParaRPr sz="1200" spc="-10" dirty="0">
              <a:latin typeface="Arial" pitchFamily="34" charset="0"/>
              <a:cs typeface="Arial"/>
            </a:endParaRPr>
          </a:p>
        </p:txBody>
      </p:sp>
      <p:sp>
        <p:nvSpPr>
          <p:cNvPr id="10" name="object 26">
            <a:extLst>
              <a:ext uri="{FF2B5EF4-FFF2-40B4-BE49-F238E27FC236}">
                <a16:creationId xmlns:a16="http://schemas.microsoft.com/office/drawing/2014/main" id="{D4C3E4CF-6724-B59B-C716-B3C3F5AED421}"/>
              </a:ext>
            </a:extLst>
          </p:cNvPr>
          <p:cNvSpPr txBox="1"/>
          <p:nvPr/>
        </p:nvSpPr>
        <p:spPr>
          <a:xfrm>
            <a:off x="6405626" y="693292"/>
            <a:ext cx="2686050" cy="1313180"/>
          </a:xfrm>
          <a:prstGeom prst="rect">
            <a:avLst/>
          </a:prstGeom>
          <a:ln w="12700">
            <a:solidFill>
              <a:srgbClr val="765FFF"/>
            </a:solidFill>
          </a:ln>
        </p:spPr>
        <p:txBody>
          <a:bodyPr vert="horz" wrap="square" lIns="0" tIns="81280" rIns="0" bIns="0" rtlCol="0">
            <a:spAutoFit/>
          </a:bodyPr>
          <a:lstStyle/>
          <a:p>
            <a:pPr marL="120650">
              <a:lnSpc>
                <a:spcPct val="100000"/>
              </a:lnSpc>
              <a:spcBef>
                <a:spcPts val="640"/>
              </a:spcBef>
            </a:pPr>
            <a:r>
              <a:rPr lang="en-US" sz="1200" b="1" spc="-25" dirty="0">
                <a:solidFill>
                  <a:srgbClr val="281A42"/>
                </a:solidFill>
                <a:latin typeface="Segoe UI" pitchFamily="34" charset="0"/>
                <a:cs typeface="Arial"/>
              </a:rPr>
              <a:t>RETAIL/ONLINE RETAIL FORUM</a:t>
            </a:r>
          </a:p>
          <a:p>
            <a:pPr marL="120650">
              <a:lnSpc>
                <a:spcPct val="100000"/>
              </a:lnSpc>
              <a:spcBef>
                <a:spcPts val="640"/>
              </a:spcBef>
            </a:pPr>
            <a:endParaRPr lang="en-US" sz="1200" b="1" spc="-25" dirty="0">
              <a:solidFill>
                <a:srgbClr val="281A42"/>
              </a:solidFill>
              <a:latin typeface="Segoe UI" pitchFamily="34" charset="0"/>
              <a:cs typeface="Arial"/>
            </a:endParaRPr>
          </a:p>
          <a:p>
            <a:pPr marL="120650">
              <a:lnSpc>
                <a:spcPct val="100000"/>
              </a:lnSpc>
              <a:spcBef>
                <a:spcPts val="640"/>
              </a:spcBef>
            </a:pPr>
            <a:endParaRPr lang="en-US" sz="1200" b="1" spc="-25" dirty="0">
              <a:solidFill>
                <a:srgbClr val="281A42"/>
              </a:solidFill>
              <a:latin typeface="Segoe UI" pitchFamily="34" charset="0"/>
              <a:cs typeface="Arial"/>
            </a:endParaRPr>
          </a:p>
          <a:p>
            <a:pPr marL="120650">
              <a:lnSpc>
                <a:spcPct val="100000"/>
              </a:lnSpc>
              <a:spcBef>
                <a:spcPts val="640"/>
              </a:spcBef>
            </a:pPr>
            <a:endParaRPr lang="en-US" sz="1200" b="1" spc="-25" dirty="0">
              <a:solidFill>
                <a:srgbClr val="281A42"/>
              </a:solidFill>
              <a:latin typeface="Segoe UI" pitchFamily="34" charset="0"/>
              <a:cs typeface="Arial"/>
            </a:endParaRPr>
          </a:p>
          <a:p>
            <a:pPr marL="120650">
              <a:lnSpc>
                <a:spcPct val="100000"/>
              </a:lnSpc>
              <a:spcBef>
                <a:spcPts val="640"/>
              </a:spcBef>
            </a:pPr>
            <a:endParaRPr lang="en-US" sz="1200" b="1" spc="-25" dirty="0">
              <a:solidFill>
                <a:srgbClr val="281A42"/>
              </a:solidFill>
              <a:latin typeface="Segoe UI" pitchFamily="34" charset="0"/>
              <a:cs typeface="Arial"/>
            </a:endParaRPr>
          </a:p>
        </p:txBody>
      </p:sp>
      <p:sp>
        <p:nvSpPr>
          <p:cNvPr id="11" name="object 27">
            <a:extLst>
              <a:ext uri="{FF2B5EF4-FFF2-40B4-BE49-F238E27FC236}">
                <a16:creationId xmlns:a16="http://schemas.microsoft.com/office/drawing/2014/main" id="{76548356-A2D7-DF19-A831-2BAE3977D3B8}"/>
              </a:ext>
            </a:extLst>
          </p:cNvPr>
          <p:cNvSpPr/>
          <p:nvPr/>
        </p:nvSpPr>
        <p:spPr>
          <a:xfrm>
            <a:off x="3871976" y="2179193"/>
            <a:ext cx="2286000" cy="1343025"/>
          </a:xfrm>
          <a:custGeom>
            <a:avLst/>
            <a:gdLst/>
            <a:ahLst/>
            <a:cxnLst/>
            <a:rect l="l" t="t" r="r" b="b"/>
            <a:pathLst>
              <a:path w="2286000" h="1343025">
                <a:moveTo>
                  <a:pt x="0" y="1343025"/>
                </a:moveTo>
                <a:lnTo>
                  <a:pt x="2286000" y="1343025"/>
                </a:lnTo>
                <a:lnTo>
                  <a:pt x="2286000" y="0"/>
                </a:lnTo>
                <a:lnTo>
                  <a:pt x="0" y="0"/>
                </a:lnTo>
                <a:lnTo>
                  <a:pt x="0" y="1343025"/>
                </a:lnTo>
                <a:close/>
              </a:path>
            </a:pathLst>
          </a:custGeom>
          <a:ln w="12700">
            <a:solidFill>
              <a:srgbClr val="765FFF"/>
            </a:solidFill>
          </a:ln>
        </p:spPr>
        <p:txBody>
          <a:bodyPr wrap="square" lIns="0" tIns="0" rIns="0" bIns="0" rtlCol="0"/>
          <a:lstStyle/>
          <a:p>
            <a:endParaRPr dirty="0"/>
          </a:p>
        </p:txBody>
      </p:sp>
      <p:sp>
        <p:nvSpPr>
          <p:cNvPr id="12" name="object 28">
            <a:extLst>
              <a:ext uri="{FF2B5EF4-FFF2-40B4-BE49-F238E27FC236}">
                <a16:creationId xmlns:a16="http://schemas.microsoft.com/office/drawing/2014/main" id="{0B1F75F8-B876-5522-D93E-D57C8E92EDE1}"/>
              </a:ext>
            </a:extLst>
          </p:cNvPr>
          <p:cNvSpPr txBox="1"/>
          <p:nvPr/>
        </p:nvSpPr>
        <p:spPr>
          <a:xfrm>
            <a:off x="3923919" y="2252789"/>
            <a:ext cx="1365885" cy="208915"/>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281A42"/>
                </a:solidFill>
                <a:latin typeface="Segoe UI" pitchFamily="34" charset="0"/>
                <a:cs typeface="Arial"/>
              </a:rPr>
              <a:t>MEDICAL DEVICES</a:t>
            </a:r>
            <a:endParaRPr sz="1200" spc="-10" dirty="0">
              <a:latin typeface="Arial" pitchFamily="34" charset="0"/>
              <a:cs typeface="Arial"/>
            </a:endParaRPr>
          </a:p>
        </p:txBody>
      </p:sp>
      <p:sp>
        <p:nvSpPr>
          <p:cNvPr id="13" name="object 29">
            <a:extLst>
              <a:ext uri="{FF2B5EF4-FFF2-40B4-BE49-F238E27FC236}">
                <a16:creationId xmlns:a16="http://schemas.microsoft.com/office/drawing/2014/main" id="{3277E3B4-5B50-1E6D-4B21-EF196DF99B8E}"/>
              </a:ext>
            </a:extLst>
          </p:cNvPr>
          <p:cNvSpPr txBox="1"/>
          <p:nvPr/>
        </p:nvSpPr>
        <p:spPr>
          <a:xfrm>
            <a:off x="300037" y="2188718"/>
            <a:ext cx="3324225" cy="1343025"/>
          </a:xfrm>
          <a:prstGeom prst="rect">
            <a:avLst/>
          </a:prstGeom>
          <a:ln w="12700">
            <a:solidFill>
              <a:srgbClr val="765FFF"/>
            </a:solidFill>
          </a:ln>
        </p:spPr>
        <p:txBody>
          <a:bodyPr vert="horz" wrap="square" lIns="0" tIns="99060" rIns="0" bIns="0" rtlCol="0">
            <a:spAutoFit/>
          </a:bodyPr>
          <a:lstStyle/>
          <a:p>
            <a:pPr marL="73025">
              <a:lnSpc>
                <a:spcPct val="100000"/>
              </a:lnSpc>
              <a:spcBef>
                <a:spcPts val="780"/>
              </a:spcBef>
            </a:pPr>
            <a:r>
              <a:rPr sz="1200" b="1" spc="-10" dirty="0">
                <a:solidFill>
                  <a:srgbClr val="281A42"/>
                </a:solidFill>
                <a:latin typeface="Segoe UI" pitchFamily="34" charset="0"/>
                <a:cs typeface="Arial"/>
              </a:rPr>
              <a:t>FINANCIAL SERVICES</a:t>
            </a:r>
            <a:endParaRPr sz="1200" spc="-10" dirty="0">
              <a:latin typeface="Arial" pitchFamily="34" charset="0"/>
              <a:cs typeface="Arial"/>
            </a:endParaRPr>
          </a:p>
        </p:txBody>
      </p:sp>
      <p:sp>
        <p:nvSpPr>
          <p:cNvPr id="14" name="object 30">
            <a:extLst>
              <a:ext uri="{FF2B5EF4-FFF2-40B4-BE49-F238E27FC236}">
                <a16:creationId xmlns:a16="http://schemas.microsoft.com/office/drawing/2014/main" id="{B2FE7652-E974-C31B-210E-19D9578F2EF8}"/>
              </a:ext>
            </a:extLst>
          </p:cNvPr>
          <p:cNvSpPr txBox="1"/>
          <p:nvPr/>
        </p:nvSpPr>
        <p:spPr>
          <a:xfrm>
            <a:off x="3871976" y="5103304"/>
            <a:ext cx="2295525" cy="1343025"/>
          </a:xfrm>
          <a:prstGeom prst="rect">
            <a:avLst/>
          </a:prstGeom>
          <a:ln w="12700">
            <a:solidFill>
              <a:srgbClr val="765FFF"/>
            </a:solidFill>
          </a:ln>
        </p:spPr>
        <p:txBody>
          <a:bodyPr vert="horz" wrap="square" lIns="0" tIns="154305" rIns="0" bIns="0" rtlCol="0">
            <a:spAutoFit/>
          </a:bodyPr>
          <a:lstStyle/>
          <a:p>
            <a:pPr marL="114300">
              <a:lnSpc>
                <a:spcPct val="100000"/>
              </a:lnSpc>
              <a:spcBef>
                <a:spcPts val="1215"/>
              </a:spcBef>
            </a:pPr>
            <a:r>
              <a:rPr sz="1200" b="1" spc="-10" dirty="0">
                <a:solidFill>
                  <a:srgbClr val="281A42"/>
                </a:solidFill>
                <a:latin typeface="Segoe UI" pitchFamily="34" charset="0"/>
                <a:cs typeface="Arial"/>
              </a:rPr>
              <a:t>INSURANCE</a:t>
            </a:r>
            <a:endParaRPr sz="1200" spc="-10" dirty="0">
              <a:latin typeface="Arial" pitchFamily="34" charset="0"/>
              <a:cs typeface="Arial"/>
            </a:endParaRPr>
          </a:p>
        </p:txBody>
      </p:sp>
      <p:sp>
        <p:nvSpPr>
          <p:cNvPr id="15" name="object 31">
            <a:extLst>
              <a:ext uri="{FF2B5EF4-FFF2-40B4-BE49-F238E27FC236}">
                <a16:creationId xmlns:a16="http://schemas.microsoft.com/office/drawing/2014/main" id="{2168DD63-6151-8DA8-EBD9-128E4EEC0F9F}"/>
              </a:ext>
            </a:extLst>
          </p:cNvPr>
          <p:cNvSpPr txBox="1"/>
          <p:nvPr/>
        </p:nvSpPr>
        <p:spPr>
          <a:xfrm>
            <a:off x="290512" y="5103304"/>
            <a:ext cx="3324225" cy="1343025"/>
          </a:xfrm>
          <a:prstGeom prst="rect">
            <a:avLst/>
          </a:prstGeom>
          <a:ln w="12700">
            <a:solidFill>
              <a:srgbClr val="765FFF"/>
            </a:solidFill>
          </a:ln>
        </p:spPr>
        <p:txBody>
          <a:bodyPr vert="horz" wrap="square" lIns="0" tIns="105410" rIns="0" bIns="0" rtlCol="0">
            <a:spAutoFit/>
          </a:bodyPr>
          <a:lstStyle/>
          <a:p>
            <a:pPr marL="93980">
              <a:lnSpc>
                <a:spcPct val="100000"/>
              </a:lnSpc>
              <a:spcBef>
                <a:spcPts val="830"/>
              </a:spcBef>
            </a:pPr>
            <a:r>
              <a:rPr sz="1200" b="1" spc="-10" dirty="0">
                <a:solidFill>
                  <a:srgbClr val="281A42"/>
                </a:solidFill>
                <a:latin typeface="Segoe UI" pitchFamily="34" charset="0"/>
                <a:cs typeface="Arial"/>
              </a:rPr>
              <a:t>CONSUMER PACKAGED GOODS</a:t>
            </a:r>
            <a:endParaRPr sz="1200" spc="-10" dirty="0">
              <a:latin typeface="Arial" pitchFamily="34" charset="0"/>
              <a:cs typeface="Arial"/>
            </a:endParaRPr>
          </a:p>
        </p:txBody>
      </p:sp>
      <p:sp>
        <p:nvSpPr>
          <p:cNvPr id="16" name="object 32">
            <a:extLst>
              <a:ext uri="{FF2B5EF4-FFF2-40B4-BE49-F238E27FC236}">
                <a16:creationId xmlns:a16="http://schemas.microsoft.com/office/drawing/2014/main" id="{AB19842F-7709-DAB3-5C5D-80333B664381}"/>
              </a:ext>
            </a:extLst>
          </p:cNvPr>
          <p:cNvSpPr txBox="1"/>
          <p:nvPr/>
        </p:nvSpPr>
        <p:spPr>
          <a:xfrm>
            <a:off x="9234551" y="693292"/>
            <a:ext cx="2714625" cy="1322157"/>
          </a:xfrm>
          <a:prstGeom prst="rect">
            <a:avLst/>
          </a:prstGeom>
          <a:ln w="12700">
            <a:solidFill>
              <a:srgbClr val="765FFF"/>
            </a:solidFill>
          </a:ln>
        </p:spPr>
        <p:txBody>
          <a:bodyPr vert="horz" wrap="square" lIns="0" tIns="13970" rIns="0" bIns="0" rtlCol="0">
            <a:spAutoFit/>
          </a:bodyPr>
          <a:lstStyle/>
          <a:p>
            <a:pPr marL="109220" marR="923925">
              <a:lnSpc>
                <a:spcPts val="1430"/>
              </a:lnSpc>
              <a:spcBef>
                <a:spcPts val="110"/>
              </a:spcBef>
            </a:pPr>
            <a:r>
              <a:rPr sz="1200" b="1" spc="-25" dirty="0">
                <a:solidFill>
                  <a:srgbClr val="281A42"/>
                </a:solidFill>
                <a:latin typeface="Segoe UI" pitchFamily="34" charset="0"/>
                <a:cs typeface="Arial"/>
              </a:rPr>
              <a:t>HEALTHCARE/HEALTH </a:t>
            </a:r>
            <a:r>
              <a:rPr lang="en-US" sz="1200" b="1" spc="-25" dirty="0">
                <a:solidFill>
                  <a:srgbClr val="281A42"/>
                </a:solidFill>
                <a:latin typeface="Segoe UI" pitchFamily="34" charset="0"/>
                <a:cs typeface="Arial"/>
              </a:rPr>
              <a:t>TECHNOLOGY</a:t>
            </a:r>
            <a:br>
              <a:rPr lang="en-US" sz="1200" b="1" spc="-25" dirty="0">
                <a:solidFill>
                  <a:srgbClr val="281A42"/>
                </a:solidFill>
                <a:latin typeface="Segoe UI" pitchFamily="34" charset="0"/>
                <a:cs typeface="Arial"/>
              </a:rPr>
            </a:br>
            <a:endParaRPr lang="en-US" sz="1200" b="1" spc="-25" dirty="0">
              <a:solidFill>
                <a:srgbClr val="281A42"/>
              </a:solidFill>
              <a:latin typeface="Segoe UI" pitchFamily="34" charset="0"/>
              <a:cs typeface="Arial"/>
            </a:endParaRPr>
          </a:p>
          <a:p>
            <a:pPr marL="109220" marR="923925">
              <a:lnSpc>
                <a:spcPts val="1430"/>
              </a:lnSpc>
              <a:spcBef>
                <a:spcPts val="110"/>
              </a:spcBef>
            </a:pPr>
            <a:endParaRPr lang="en-US" sz="1200" b="1" spc="-25" dirty="0">
              <a:solidFill>
                <a:srgbClr val="281A42"/>
              </a:solidFill>
              <a:latin typeface="Segoe UI" pitchFamily="34" charset="0"/>
              <a:cs typeface="Arial"/>
            </a:endParaRPr>
          </a:p>
          <a:p>
            <a:pPr marL="109220" marR="923925">
              <a:lnSpc>
                <a:spcPts val="1430"/>
              </a:lnSpc>
              <a:spcBef>
                <a:spcPts val="110"/>
              </a:spcBef>
            </a:pPr>
            <a:endParaRPr lang="en-US" sz="1200" b="1" spc="-25" dirty="0">
              <a:solidFill>
                <a:srgbClr val="281A42"/>
              </a:solidFill>
              <a:latin typeface="Segoe UI" pitchFamily="34" charset="0"/>
              <a:cs typeface="Arial"/>
            </a:endParaRPr>
          </a:p>
          <a:p>
            <a:pPr marL="109220" marR="923925">
              <a:lnSpc>
                <a:spcPts val="1430"/>
              </a:lnSpc>
              <a:spcBef>
                <a:spcPts val="110"/>
              </a:spcBef>
            </a:pPr>
            <a:endParaRPr lang="en-US" sz="1200" b="1" spc="-25" dirty="0">
              <a:solidFill>
                <a:srgbClr val="281A42"/>
              </a:solidFill>
              <a:latin typeface="Segoe UI" pitchFamily="34" charset="0"/>
              <a:cs typeface="Arial"/>
            </a:endParaRPr>
          </a:p>
          <a:p>
            <a:pPr marL="109220" marR="923925">
              <a:lnSpc>
                <a:spcPts val="1430"/>
              </a:lnSpc>
              <a:spcBef>
                <a:spcPts val="110"/>
              </a:spcBef>
            </a:pPr>
            <a:endParaRPr sz="1200" b="1" spc="-25" dirty="0">
              <a:latin typeface="Segoe UI" pitchFamily="34" charset="0"/>
              <a:cs typeface="Arial"/>
            </a:endParaRPr>
          </a:p>
        </p:txBody>
      </p:sp>
      <p:sp>
        <p:nvSpPr>
          <p:cNvPr id="17" name="object 128">
            <a:extLst>
              <a:ext uri="{FF2B5EF4-FFF2-40B4-BE49-F238E27FC236}">
                <a16:creationId xmlns:a16="http://schemas.microsoft.com/office/drawing/2014/main" id="{67E37F26-FDCE-6403-78E5-52E7FA8189CD}"/>
              </a:ext>
            </a:extLst>
          </p:cNvPr>
          <p:cNvSpPr txBox="1"/>
          <p:nvPr/>
        </p:nvSpPr>
        <p:spPr>
          <a:xfrm>
            <a:off x="6405626" y="2169668"/>
            <a:ext cx="2686050" cy="1343025"/>
          </a:xfrm>
          <a:prstGeom prst="rect">
            <a:avLst/>
          </a:prstGeom>
          <a:ln w="12700">
            <a:solidFill>
              <a:srgbClr val="765FFF"/>
            </a:solidFill>
          </a:ln>
        </p:spPr>
        <p:txBody>
          <a:bodyPr vert="horz" wrap="square" lIns="0" tIns="54610" rIns="0" bIns="0" rtlCol="0">
            <a:spAutoFit/>
          </a:bodyPr>
          <a:lstStyle/>
          <a:p>
            <a:pPr marL="92710">
              <a:lnSpc>
                <a:spcPct val="100000"/>
              </a:lnSpc>
              <a:spcBef>
                <a:spcPts val="430"/>
              </a:spcBef>
            </a:pPr>
            <a:r>
              <a:rPr sz="1200" b="1" spc="-10" dirty="0">
                <a:solidFill>
                  <a:srgbClr val="281A42"/>
                </a:solidFill>
                <a:latin typeface="Segoe UI" pitchFamily="34" charset="0"/>
                <a:cs typeface="Arial"/>
              </a:rPr>
              <a:t>ENERGY &amp; INDUSTRIAL</a:t>
            </a:r>
            <a:endParaRPr sz="1200" spc="-10" dirty="0">
              <a:latin typeface="Arial" pitchFamily="34" charset="0"/>
              <a:cs typeface="Arial"/>
            </a:endParaRPr>
          </a:p>
        </p:txBody>
      </p:sp>
      <p:sp>
        <p:nvSpPr>
          <p:cNvPr id="18" name="object 129">
            <a:extLst>
              <a:ext uri="{FF2B5EF4-FFF2-40B4-BE49-F238E27FC236}">
                <a16:creationId xmlns:a16="http://schemas.microsoft.com/office/drawing/2014/main" id="{E95CC63E-8293-3122-F1E8-9D8133C3E2F7}"/>
              </a:ext>
            </a:extLst>
          </p:cNvPr>
          <p:cNvSpPr txBox="1"/>
          <p:nvPr/>
        </p:nvSpPr>
        <p:spPr>
          <a:xfrm>
            <a:off x="9263126" y="2179193"/>
            <a:ext cx="2676525" cy="1343025"/>
          </a:xfrm>
          <a:prstGeom prst="rect">
            <a:avLst/>
          </a:prstGeom>
          <a:ln w="12700">
            <a:solidFill>
              <a:srgbClr val="765FFF"/>
            </a:solidFill>
          </a:ln>
        </p:spPr>
        <p:txBody>
          <a:bodyPr vert="horz" wrap="square" lIns="0" tIns="61594" rIns="0" bIns="0" rtlCol="0">
            <a:spAutoFit/>
          </a:bodyPr>
          <a:lstStyle/>
          <a:p>
            <a:pPr marL="80645">
              <a:lnSpc>
                <a:spcPct val="100000"/>
              </a:lnSpc>
              <a:spcBef>
                <a:spcPts val="484"/>
              </a:spcBef>
            </a:pPr>
            <a:r>
              <a:rPr sz="1200" b="1" spc="-10" dirty="0">
                <a:solidFill>
                  <a:srgbClr val="281A42"/>
                </a:solidFill>
                <a:latin typeface="Segoe UI" pitchFamily="34" charset="0"/>
                <a:cs typeface="Arial"/>
              </a:rPr>
              <a:t>IT SERVICES</a:t>
            </a:r>
            <a:endParaRPr sz="1200" spc="-10" dirty="0">
              <a:latin typeface="Arial" pitchFamily="34" charset="0"/>
              <a:cs typeface="Arial"/>
            </a:endParaRPr>
          </a:p>
        </p:txBody>
      </p:sp>
      <p:sp>
        <p:nvSpPr>
          <p:cNvPr id="19" name="object 2">
            <a:extLst>
              <a:ext uri="{FF2B5EF4-FFF2-40B4-BE49-F238E27FC236}">
                <a16:creationId xmlns:a16="http://schemas.microsoft.com/office/drawing/2014/main" id="{F98EB8EF-10F1-39F4-C2F8-2E118D3739B3}"/>
              </a:ext>
            </a:extLst>
          </p:cNvPr>
          <p:cNvSpPr/>
          <p:nvPr/>
        </p:nvSpPr>
        <p:spPr>
          <a:xfrm>
            <a:off x="6405626" y="3684079"/>
            <a:ext cx="5543550" cy="2762250"/>
          </a:xfrm>
          <a:custGeom>
            <a:avLst/>
            <a:gdLst/>
            <a:ahLst/>
            <a:cxnLst/>
            <a:rect l="l" t="t" r="r" b="b"/>
            <a:pathLst>
              <a:path w="5543550" h="2762250">
                <a:moveTo>
                  <a:pt x="5543550" y="0"/>
                </a:moveTo>
                <a:lnTo>
                  <a:pt x="0" y="0"/>
                </a:lnTo>
                <a:lnTo>
                  <a:pt x="0" y="2762250"/>
                </a:lnTo>
                <a:lnTo>
                  <a:pt x="5543550" y="2762250"/>
                </a:lnTo>
                <a:lnTo>
                  <a:pt x="5543550" y="0"/>
                </a:lnTo>
                <a:close/>
              </a:path>
            </a:pathLst>
          </a:custGeom>
          <a:solidFill>
            <a:srgbClr val="FFFFFF">
              <a:alpha val="0"/>
            </a:srgbClr>
          </a:solidFill>
        </p:spPr>
        <p:txBody>
          <a:bodyPr wrap="square" lIns="0" tIns="0" rIns="0" bIns="0" rtlCol="0"/>
          <a:lstStyle/>
          <a:p>
            <a:endParaRPr dirty="0"/>
          </a:p>
        </p:txBody>
      </p:sp>
      <p:pic>
        <p:nvPicPr>
          <p:cNvPr id="20" name="object 5">
            <a:extLst>
              <a:ext uri="{FF2B5EF4-FFF2-40B4-BE49-F238E27FC236}">
                <a16:creationId xmlns:a16="http://schemas.microsoft.com/office/drawing/2014/main" id="{7CB7957B-9578-E920-F340-99D895531B2A}"/>
              </a:ext>
            </a:extLst>
          </p:cNvPr>
          <p:cNvPicPr/>
          <p:nvPr/>
        </p:nvPicPr>
        <p:blipFill>
          <a:blip r:embed="rId2" cstate="print"/>
          <a:stretch>
            <a:fillRect/>
          </a:stretch>
        </p:blipFill>
        <p:spPr>
          <a:xfrm>
            <a:off x="4752975" y="5985297"/>
            <a:ext cx="586682" cy="183338"/>
          </a:xfrm>
          <a:prstGeom prst="rect">
            <a:avLst/>
          </a:prstGeom>
        </p:spPr>
      </p:pic>
      <p:pic>
        <p:nvPicPr>
          <p:cNvPr id="21" name="object 8">
            <a:extLst>
              <a:ext uri="{FF2B5EF4-FFF2-40B4-BE49-F238E27FC236}">
                <a16:creationId xmlns:a16="http://schemas.microsoft.com/office/drawing/2014/main" id="{6F910882-4DE1-3027-80DE-6EB6114045EC}"/>
              </a:ext>
            </a:extLst>
          </p:cNvPr>
          <p:cNvPicPr/>
          <p:nvPr/>
        </p:nvPicPr>
        <p:blipFill>
          <a:blip r:embed="rId3" cstate="print"/>
          <a:stretch>
            <a:fillRect/>
          </a:stretch>
        </p:blipFill>
        <p:spPr>
          <a:xfrm>
            <a:off x="1071355" y="1350042"/>
            <a:ext cx="695739" cy="263407"/>
          </a:xfrm>
          <a:prstGeom prst="rect">
            <a:avLst/>
          </a:prstGeom>
        </p:spPr>
      </p:pic>
      <p:pic>
        <p:nvPicPr>
          <p:cNvPr id="22" name="object 9">
            <a:extLst>
              <a:ext uri="{FF2B5EF4-FFF2-40B4-BE49-F238E27FC236}">
                <a16:creationId xmlns:a16="http://schemas.microsoft.com/office/drawing/2014/main" id="{F55E01C1-D95D-8E37-A6B9-45F2B5AD88F9}"/>
              </a:ext>
            </a:extLst>
          </p:cNvPr>
          <p:cNvPicPr/>
          <p:nvPr/>
        </p:nvPicPr>
        <p:blipFill>
          <a:blip r:embed="rId4" cstate="print"/>
          <a:stretch>
            <a:fillRect/>
          </a:stretch>
        </p:blipFill>
        <p:spPr>
          <a:xfrm>
            <a:off x="1704975" y="1374266"/>
            <a:ext cx="523875" cy="152400"/>
          </a:xfrm>
          <a:prstGeom prst="rect">
            <a:avLst/>
          </a:prstGeom>
        </p:spPr>
      </p:pic>
      <p:pic>
        <p:nvPicPr>
          <p:cNvPr id="23" name="object 10">
            <a:extLst>
              <a:ext uri="{FF2B5EF4-FFF2-40B4-BE49-F238E27FC236}">
                <a16:creationId xmlns:a16="http://schemas.microsoft.com/office/drawing/2014/main" id="{2C91E440-50CA-59EA-4222-8E54B8189033}"/>
              </a:ext>
            </a:extLst>
          </p:cNvPr>
          <p:cNvPicPr/>
          <p:nvPr/>
        </p:nvPicPr>
        <p:blipFill>
          <a:blip r:embed="rId5" cstate="print"/>
          <a:stretch>
            <a:fillRect/>
          </a:stretch>
        </p:blipFill>
        <p:spPr>
          <a:xfrm>
            <a:off x="3009900" y="1191430"/>
            <a:ext cx="566737" cy="316186"/>
          </a:xfrm>
          <a:prstGeom prst="rect">
            <a:avLst/>
          </a:prstGeom>
        </p:spPr>
      </p:pic>
      <p:pic>
        <p:nvPicPr>
          <p:cNvPr id="24" name="object 11">
            <a:extLst>
              <a:ext uri="{FF2B5EF4-FFF2-40B4-BE49-F238E27FC236}">
                <a16:creationId xmlns:a16="http://schemas.microsoft.com/office/drawing/2014/main" id="{0147E787-239D-1640-6F89-69A7FCA79CCE}"/>
              </a:ext>
            </a:extLst>
          </p:cNvPr>
          <p:cNvPicPr/>
          <p:nvPr/>
        </p:nvPicPr>
        <p:blipFill>
          <a:blip r:embed="rId6" cstate="print"/>
          <a:stretch>
            <a:fillRect/>
          </a:stretch>
        </p:blipFill>
        <p:spPr>
          <a:xfrm>
            <a:off x="1076325" y="1050417"/>
            <a:ext cx="771525" cy="180975"/>
          </a:xfrm>
          <a:prstGeom prst="rect">
            <a:avLst/>
          </a:prstGeom>
        </p:spPr>
      </p:pic>
      <p:pic>
        <p:nvPicPr>
          <p:cNvPr id="25" name="object 12">
            <a:extLst>
              <a:ext uri="{FF2B5EF4-FFF2-40B4-BE49-F238E27FC236}">
                <a16:creationId xmlns:a16="http://schemas.microsoft.com/office/drawing/2014/main" id="{F36FE63D-F78C-9EA7-169D-590CFD8DD918}"/>
              </a:ext>
            </a:extLst>
          </p:cNvPr>
          <p:cNvPicPr/>
          <p:nvPr/>
        </p:nvPicPr>
        <p:blipFill>
          <a:blip r:embed="rId7" cstate="print"/>
          <a:stretch>
            <a:fillRect/>
          </a:stretch>
        </p:blipFill>
        <p:spPr>
          <a:xfrm>
            <a:off x="3119269" y="1588411"/>
            <a:ext cx="381336" cy="381336"/>
          </a:xfrm>
          <a:prstGeom prst="rect">
            <a:avLst/>
          </a:prstGeom>
        </p:spPr>
      </p:pic>
      <p:pic>
        <p:nvPicPr>
          <p:cNvPr id="26" name="object 13">
            <a:extLst>
              <a:ext uri="{FF2B5EF4-FFF2-40B4-BE49-F238E27FC236}">
                <a16:creationId xmlns:a16="http://schemas.microsoft.com/office/drawing/2014/main" id="{0B1E459C-B6DD-C722-BAF3-0FA6BBEC8673}"/>
              </a:ext>
            </a:extLst>
          </p:cNvPr>
          <p:cNvPicPr/>
          <p:nvPr/>
        </p:nvPicPr>
        <p:blipFill>
          <a:blip r:embed="rId8" cstate="print"/>
          <a:stretch>
            <a:fillRect/>
          </a:stretch>
        </p:blipFill>
        <p:spPr>
          <a:xfrm>
            <a:off x="413738" y="1707642"/>
            <a:ext cx="620323" cy="195942"/>
          </a:xfrm>
          <a:prstGeom prst="rect">
            <a:avLst/>
          </a:prstGeom>
        </p:spPr>
      </p:pic>
      <p:pic>
        <p:nvPicPr>
          <p:cNvPr id="27" name="object 14">
            <a:extLst>
              <a:ext uri="{FF2B5EF4-FFF2-40B4-BE49-F238E27FC236}">
                <a16:creationId xmlns:a16="http://schemas.microsoft.com/office/drawing/2014/main" id="{31345D16-83D7-A455-8787-114BD28441EF}"/>
              </a:ext>
            </a:extLst>
          </p:cNvPr>
          <p:cNvPicPr/>
          <p:nvPr/>
        </p:nvPicPr>
        <p:blipFill>
          <a:blip r:embed="rId9" cstate="print"/>
          <a:stretch>
            <a:fillRect/>
          </a:stretch>
        </p:blipFill>
        <p:spPr>
          <a:xfrm>
            <a:off x="1438275" y="1717167"/>
            <a:ext cx="762000" cy="209550"/>
          </a:xfrm>
          <a:prstGeom prst="rect">
            <a:avLst/>
          </a:prstGeom>
        </p:spPr>
      </p:pic>
      <p:pic>
        <p:nvPicPr>
          <p:cNvPr id="28" name="object 15">
            <a:extLst>
              <a:ext uri="{FF2B5EF4-FFF2-40B4-BE49-F238E27FC236}">
                <a16:creationId xmlns:a16="http://schemas.microsoft.com/office/drawing/2014/main" id="{3CE9594F-A40C-65E1-EDF8-3167B3F13123}"/>
              </a:ext>
            </a:extLst>
          </p:cNvPr>
          <p:cNvPicPr/>
          <p:nvPr/>
        </p:nvPicPr>
        <p:blipFill>
          <a:blip r:embed="rId10" cstate="print"/>
          <a:stretch>
            <a:fillRect/>
          </a:stretch>
        </p:blipFill>
        <p:spPr>
          <a:xfrm>
            <a:off x="377677" y="1352759"/>
            <a:ext cx="496629" cy="223991"/>
          </a:xfrm>
          <a:prstGeom prst="rect">
            <a:avLst/>
          </a:prstGeom>
        </p:spPr>
      </p:pic>
      <p:pic>
        <p:nvPicPr>
          <p:cNvPr id="29" name="object 16">
            <a:extLst>
              <a:ext uri="{FF2B5EF4-FFF2-40B4-BE49-F238E27FC236}">
                <a16:creationId xmlns:a16="http://schemas.microsoft.com/office/drawing/2014/main" id="{77839718-939A-4584-BF72-D0ACCC1F78B2}"/>
              </a:ext>
            </a:extLst>
          </p:cNvPr>
          <p:cNvPicPr/>
          <p:nvPr/>
        </p:nvPicPr>
        <p:blipFill>
          <a:blip r:embed="rId11" cstate="print"/>
          <a:stretch>
            <a:fillRect/>
          </a:stretch>
        </p:blipFill>
        <p:spPr>
          <a:xfrm>
            <a:off x="409575" y="1031367"/>
            <a:ext cx="504825" cy="209550"/>
          </a:xfrm>
          <a:prstGeom prst="rect">
            <a:avLst/>
          </a:prstGeom>
        </p:spPr>
      </p:pic>
      <p:pic>
        <p:nvPicPr>
          <p:cNvPr id="30" name="object 18">
            <a:extLst>
              <a:ext uri="{FF2B5EF4-FFF2-40B4-BE49-F238E27FC236}">
                <a16:creationId xmlns:a16="http://schemas.microsoft.com/office/drawing/2014/main" id="{8A261B02-D910-A6C0-9263-42C6A70CACBA}"/>
              </a:ext>
            </a:extLst>
          </p:cNvPr>
          <p:cNvPicPr/>
          <p:nvPr/>
        </p:nvPicPr>
        <p:blipFill>
          <a:blip r:embed="rId12" cstate="print"/>
          <a:stretch>
            <a:fillRect/>
          </a:stretch>
        </p:blipFill>
        <p:spPr>
          <a:xfrm>
            <a:off x="2295525" y="1307592"/>
            <a:ext cx="638175" cy="228600"/>
          </a:xfrm>
          <a:prstGeom prst="rect">
            <a:avLst/>
          </a:prstGeom>
        </p:spPr>
      </p:pic>
      <p:pic>
        <p:nvPicPr>
          <p:cNvPr id="31" name="object 19">
            <a:extLst>
              <a:ext uri="{FF2B5EF4-FFF2-40B4-BE49-F238E27FC236}">
                <a16:creationId xmlns:a16="http://schemas.microsoft.com/office/drawing/2014/main" id="{8D64418D-B7F0-9BAF-3DFF-95E6CE741E0D}"/>
              </a:ext>
            </a:extLst>
          </p:cNvPr>
          <p:cNvPicPr/>
          <p:nvPr/>
        </p:nvPicPr>
        <p:blipFill>
          <a:blip r:embed="rId13" cstate="print"/>
          <a:stretch>
            <a:fillRect/>
          </a:stretch>
        </p:blipFill>
        <p:spPr>
          <a:xfrm>
            <a:off x="2494491" y="1568668"/>
            <a:ext cx="435680" cy="312144"/>
          </a:xfrm>
          <a:prstGeom prst="rect">
            <a:avLst/>
          </a:prstGeom>
        </p:spPr>
      </p:pic>
      <p:pic>
        <p:nvPicPr>
          <p:cNvPr id="32" name="object 20">
            <a:extLst>
              <a:ext uri="{FF2B5EF4-FFF2-40B4-BE49-F238E27FC236}">
                <a16:creationId xmlns:a16="http://schemas.microsoft.com/office/drawing/2014/main" id="{D5131852-ECCE-012B-9CAB-0D97461E05CF}"/>
              </a:ext>
            </a:extLst>
          </p:cNvPr>
          <p:cNvPicPr/>
          <p:nvPr/>
        </p:nvPicPr>
        <p:blipFill>
          <a:blip r:embed="rId14" cstate="print"/>
          <a:stretch>
            <a:fillRect/>
          </a:stretch>
        </p:blipFill>
        <p:spPr>
          <a:xfrm>
            <a:off x="2047875" y="898017"/>
            <a:ext cx="781050" cy="371475"/>
          </a:xfrm>
          <a:prstGeom prst="rect">
            <a:avLst/>
          </a:prstGeom>
        </p:spPr>
      </p:pic>
      <p:pic>
        <p:nvPicPr>
          <p:cNvPr id="33" name="object 34">
            <a:extLst>
              <a:ext uri="{FF2B5EF4-FFF2-40B4-BE49-F238E27FC236}">
                <a16:creationId xmlns:a16="http://schemas.microsoft.com/office/drawing/2014/main" id="{E470F91D-6E14-73E3-551A-5C9320FB1388}"/>
              </a:ext>
            </a:extLst>
          </p:cNvPr>
          <p:cNvPicPr/>
          <p:nvPr/>
        </p:nvPicPr>
        <p:blipFill>
          <a:blip r:embed="rId15" cstate="print"/>
          <a:stretch>
            <a:fillRect/>
          </a:stretch>
        </p:blipFill>
        <p:spPr>
          <a:xfrm>
            <a:off x="3962400" y="1183767"/>
            <a:ext cx="1114425" cy="171450"/>
          </a:xfrm>
          <a:prstGeom prst="rect">
            <a:avLst/>
          </a:prstGeom>
        </p:spPr>
      </p:pic>
      <p:pic>
        <p:nvPicPr>
          <p:cNvPr id="34" name="object 35">
            <a:extLst>
              <a:ext uri="{FF2B5EF4-FFF2-40B4-BE49-F238E27FC236}">
                <a16:creationId xmlns:a16="http://schemas.microsoft.com/office/drawing/2014/main" id="{F162E680-22B1-9856-CA71-D987B4349297}"/>
              </a:ext>
            </a:extLst>
          </p:cNvPr>
          <p:cNvPicPr/>
          <p:nvPr/>
        </p:nvPicPr>
        <p:blipFill>
          <a:blip r:embed="rId16" cstate="print"/>
          <a:stretch>
            <a:fillRect/>
          </a:stretch>
        </p:blipFill>
        <p:spPr>
          <a:xfrm>
            <a:off x="3952875" y="1536893"/>
            <a:ext cx="752475" cy="269507"/>
          </a:xfrm>
          <a:prstGeom prst="rect">
            <a:avLst/>
          </a:prstGeom>
        </p:spPr>
      </p:pic>
      <p:pic>
        <p:nvPicPr>
          <p:cNvPr id="35" name="object 36">
            <a:extLst>
              <a:ext uri="{FF2B5EF4-FFF2-40B4-BE49-F238E27FC236}">
                <a16:creationId xmlns:a16="http://schemas.microsoft.com/office/drawing/2014/main" id="{2FCDC8D3-38D4-51DA-14B0-D4BAF8497B13}"/>
              </a:ext>
            </a:extLst>
          </p:cNvPr>
          <p:cNvPicPr/>
          <p:nvPr/>
        </p:nvPicPr>
        <p:blipFill>
          <a:blip r:embed="rId17" cstate="print"/>
          <a:stretch>
            <a:fillRect/>
          </a:stretch>
        </p:blipFill>
        <p:spPr>
          <a:xfrm>
            <a:off x="5172075" y="1100763"/>
            <a:ext cx="809625" cy="263978"/>
          </a:xfrm>
          <a:prstGeom prst="rect">
            <a:avLst/>
          </a:prstGeom>
        </p:spPr>
      </p:pic>
      <p:pic>
        <p:nvPicPr>
          <p:cNvPr id="36" name="object 37">
            <a:extLst>
              <a:ext uri="{FF2B5EF4-FFF2-40B4-BE49-F238E27FC236}">
                <a16:creationId xmlns:a16="http://schemas.microsoft.com/office/drawing/2014/main" id="{03075367-F393-7342-5130-DF000C6B0B44}"/>
              </a:ext>
            </a:extLst>
          </p:cNvPr>
          <p:cNvPicPr/>
          <p:nvPr/>
        </p:nvPicPr>
        <p:blipFill>
          <a:blip r:embed="rId18" cstate="print"/>
          <a:stretch>
            <a:fillRect/>
          </a:stretch>
        </p:blipFill>
        <p:spPr>
          <a:xfrm>
            <a:off x="4778121" y="1593130"/>
            <a:ext cx="464057" cy="152357"/>
          </a:xfrm>
          <a:prstGeom prst="rect">
            <a:avLst/>
          </a:prstGeom>
        </p:spPr>
      </p:pic>
      <p:pic>
        <p:nvPicPr>
          <p:cNvPr id="37" name="object 38">
            <a:extLst>
              <a:ext uri="{FF2B5EF4-FFF2-40B4-BE49-F238E27FC236}">
                <a16:creationId xmlns:a16="http://schemas.microsoft.com/office/drawing/2014/main" id="{FC6E2403-CE26-CB28-8C9B-DA31E91F3956}"/>
              </a:ext>
            </a:extLst>
          </p:cNvPr>
          <p:cNvPicPr/>
          <p:nvPr/>
        </p:nvPicPr>
        <p:blipFill>
          <a:blip r:embed="rId19" cstate="print"/>
          <a:stretch>
            <a:fillRect/>
          </a:stretch>
        </p:blipFill>
        <p:spPr>
          <a:xfrm>
            <a:off x="4052680" y="2612953"/>
            <a:ext cx="832402" cy="335559"/>
          </a:xfrm>
          <a:prstGeom prst="rect">
            <a:avLst/>
          </a:prstGeom>
        </p:spPr>
      </p:pic>
      <p:pic>
        <p:nvPicPr>
          <p:cNvPr id="38" name="object 39">
            <a:extLst>
              <a:ext uri="{FF2B5EF4-FFF2-40B4-BE49-F238E27FC236}">
                <a16:creationId xmlns:a16="http://schemas.microsoft.com/office/drawing/2014/main" id="{F5CD5EAF-6B6B-D69C-5F31-E09CCBC92F8F}"/>
              </a:ext>
            </a:extLst>
          </p:cNvPr>
          <p:cNvPicPr/>
          <p:nvPr/>
        </p:nvPicPr>
        <p:blipFill>
          <a:blip r:embed="rId20" cstate="print"/>
          <a:stretch>
            <a:fillRect/>
          </a:stretch>
        </p:blipFill>
        <p:spPr>
          <a:xfrm>
            <a:off x="5038725" y="2660142"/>
            <a:ext cx="923925" cy="228600"/>
          </a:xfrm>
          <a:prstGeom prst="rect">
            <a:avLst/>
          </a:prstGeom>
        </p:spPr>
      </p:pic>
      <p:pic>
        <p:nvPicPr>
          <p:cNvPr id="39" name="object 40">
            <a:extLst>
              <a:ext uri="{FF2B5EF4-FFF2-40B4-BE49-F238E27FC236}">
                <a16:creationId xmlns:a16="http://schemas.microsoft.com/office/drawing/2014/main" id="{E16FF36A-81D9-DA87-3AAE-CF52046009F4}"/>
              </a:ext>
            </a:extLst>
          </p:cNvPr>
          <p:cNvPicPr/>
          <p:nvPr/>
        </p:nvPicPr>
        <p:blipFill>
          <a:blip r:embed="rId21" cstate="print"/>
          <a:stretch>
            <a:fillRect/>
          </a:stretch>
        </p:blipFill>
        <p:spPr>
          <a:xfrm>
            <a:off x="4038600" y="3081711"/>
            <a:ext cx="876300" cy="242711"/>
          </a:xfrm>
          <a:prstGeom prst="rect">
            <a:avLst/>
          </a:prstGeom>
        </p:spPr>
      </p:pic>
      <p:pic>
        <p:nvPicPr>
          <p:cNvPr id="40" name="object 41">
            <a:extLst>
              <a:ext uri="{FF2B5EF4-FFF2-40B4-BE49-F238E27FC236}">
                <a16:creationId xmlns:a16="http://schemas.microsoft.com/office/drawing/2014/main" id="{ECDD92C0-AFEA-8E58-0904-97010D0B43FA}"/>
              </a:ext>
            </a:extLst>
          </p:cNvPr>
          <p:cNvPicPr/>
          <p:nvPr/>
        </p:nvPicPr>
        <p:blipFill>
          <a:blip r:embed="rId22" cstate="print"/>
          <a:stretch>
            <a:fillRect/>
          </a:stretch>
        </p:blipFill>
        <p:spPr>
          <a:xfrm>
            <a:off x="5000625" y="1393317"/>
            <a:ext cx="1238250" cy="971550"/>
          </a:xfrm>
          <a:prstGeom prst="rect">
            <a:avLst/>
          </a:prstGeom>
        </p:spPr>
      </p:pic>
      <p:pic>
        <p:nvPicPr>
          <p:cNvPr id="41" name="object 42">
            <a:extLst>
              <a:ext uri="{FF2B5EF4-FFF2-40B4-BE49-F238E27FC236}">
                <a16:creationId xmlns:a16="http://schemas.microsoft.com/office/drawing/2014/main" id="{919E44DA-4432-5F5B-E1DC-DCD51B435A1C}"/>
              </a:ext>
            </a:extLst>
          </p:cNvPr>
          <p:cNvPicPr/>
          <p:nvPr/>
        </p:nvPicPr>
        <p:blipFill>
          <a:blip r:embed="rId23" cstate="print"/>
          <a:stretch>
            <a:fillRect/>
          </a:stretch>
        </p:blipFill>
        <p:spPr>
          <a:xfrm>
            <a:off x="4252738" y="4088892"/>
            <a:ext cx="433136" cy="529265"/>
          </a:xfrm>
          <a:prstGeom prst="rect">
            <a:avLst/>
          </a:prstGeom>
        </p:spPr>
      </p:pic>
      <p:pic>
        <p:nvPicPr>
          <p:cNvPr id="42" name="object 43">
            <a:extLst>
              <a:ext uri="{FF2B5EF4-FFF2-40B4-BE49-F238E27FC236}">
                <a16:creationId xmlns:a16="http://schemas.microsoft.com/office/drawing/2014/main" id="{DCD3714B-9B46-6F45-121A-88068F9DE398}"/>
              </a:ext>
            </a:extLst>
          </p:cNvPr>
          <p:cNvPicPr/>
          <p:nvPr/>
        </p:nvPicPr>
        <p:blipFill>
          <a:blip r:embed="rId24" cstate="print"/>
          <a:stretch>
            <a:fillRect/>
          </a:stretch>
        </p:blipFill>
        <p:spPr>
          <a:xfrm>
            <a:off x="4953000" y="4584192"/>
            <a:ext cx="952500" cy="266700"/>
          </a:xfrm>
          <a:prstGeom prst="rect">
            <a:avLst/>
          </a:prstGeom>
        </p:spPr>
      </p:pic>
      <p:pic>
        <p:nvPicPr>
          <p:cNvPr id="43" name="object 44">
            <a:extLst>
              <a:ext uri="{FF2B5EF4-FFF2-40B4-BE49-F238E27FC236}">
                <a16:creationId xmlns:a16="http://schemas.microsoft.com/office/drawing/2014/main" id="{3CD5F5AA-25D6-6F3B-432A-245ACF651069}"/>
              </a:ext>
            </a:extLst>
          </p:cNvPr>
          <p:cNvPicPr/>
          <p:nvPr/>
        </p:nvPicPr>
        <p:blipFill>
          <a:blip r:embed="rId25" cstate="print"/>
          <a:stretch>
            <a:fillRect/>
          </a:stretch>
        </p:blipFill>
        <p:spPr>
          <a:xfrm>
            <a:off x="4895850" y="3973849"/>
            <a:ext cx="1123950" cy="461523"/>
          </a:xfrm>
          <a:prstGeom prst="rect">
            <a:avLst/>
          </a:prstGeom>
        </p:spPr>
      </p:pic>
      <p:pic>
        <p:nvPicPr>
          <p:cNvPr id="44" name="object 45">
            <a:extLst>
              <a:ext uri="{FF2B5EF4-FFF2-40B4-BE49-F238E27FC236}">
                <a16:creationId xmlns:a16="http://schemas.microsoft.com/office/drawing/2014/main" id="{8C650749-EB1D-073B-EFEE-39A1660531EC}"/>
              </a:ext>
            </a:extLst>
          </p:cNvPr>
          <p:cNvPicPr/>
          <p:nvPr/>
        </p:nvPicPr>
        <p:blipFill>
          <a:blip r:embed="rId26" cstate="print"/>
          <a:stretch>
            <a:fillRect/>
          </a:stretch>
        </p:blipFill>
        <p:spPr>
          <a:xfrm>
            <a:off x="390525" y="2574417"/>
            <a:ext cx="904875" cy="361950"/>
          </a:xfrm>
          <a:prstGeom prst="rect">
            <a:avLst/>
          </a:prstGeom>
        </p:spPr>
      </p:pic>
      <p:pic>
        <p:nvPicPr>
          <p:cNvPr id="45" name="object 46">
            <a:extLst>
              <a:ext uri="{FF2B5EF4-FFF2-40B4-BE49-F238E27FC236}">
                <a16:creationId xmlns:a16="http://schemas.microsoft.com/office/drawing/2014/main" id="{E320FACC-56ED-CBD4-4420-F0CFABEFE179}"/>
              </a:ext>
            </a:extLst>
          </p:cNvPr>
          <p:cNvPicPr/>
          <p:nvPr/>
        </p:nvPicPr>
        <p:blipFill>
          <a:blip r:embed="rId27" cstate="print"/>
          <a:stretch>
            <a:fillRect/>
          </a:stretch>
        </p:blipFill>
        <p:spPr>
          <a:xfrm>
            <a:off x="447675" y="3003042"/>
            <a:ext cx="790575" cy="171450"/>
          </a:xfrm>
          <a:prstGeom prst="rect">
            <a:avLst/>
          </a:prstGeom>
        </p:spPr>
      </p:pic>
      <p:pic>
        <p:nvPicPr>
          <p:cNvPr id="46" name="object 47">
            <a:extLst>
              <a:ext uri="{FF2B5EF4-FFF2-40B4-BE49-F238E27FC236}">
                <a16:creationId xmlns:a16="http://schemas.microsoft.com/office/drawing/2014/main" id="{6E34EEAE-DBB5-CC83-F4D8-97AF12A34AF9}"/>
              </a:ext>
            </a:extLst>
          </p:cNvPr>
          <p:cNvPicPr/>
          <p:nvPr/>
        </p:nvPicPr>
        <p:blipFill>
          <a:blip r:embed="rId28" cstate="print"/>
          <a:stretch>
            <a:fillRect/>
          </a:stretch>
        </p:blipFill>
        <p:spPr>
          <a:xfrm>
            <a:off x="1419225" y="2546900"/>
            <a:ext cx="695325" cy="203200"/>
          </a:xfrm>
          <a:prstGeom prst="rect">
            <a:avLst/>
          </a:prstGeom>
        </p:spPr>
      </p:pic>
      <p:pic>
        <p:nvPicPr>
          <p:cNvPr id="47" name="object 48">
            <a:extLst>
              <a:ext uri="{FF2B5EF4-FFF2-40B4-BE49-F238E27FC236}">
                <a16:creationId xmlns:a16="http://schemas.microsoft.com/office/drawing/2014/main" id="{3E9CBB7C-A10D-28F0-2E33-178FC98338FA}"/>
              </a:ext>
            </a:extLst>
          </p:cNvPr>
          <p:cNvPicPr/>
          <p:nvPr/>
        </p:nvPicPr>
        <p:blipFill>
          <a:blip r:embed="rId29" cstate="print"/>
          <a:stretch>
            <a:fillRect/>
          </a:stretch>
        </p:blipFill>
        <p:spPr>
          <a:xfrm>
            <a:off x="1428750" y="2841117"/>
            <a:ext cx="666750" cy="171450"/>
          </a:xfrm>
          <a:prstGeom prst="rect">
            <a:avLst/>
          </a:prstGeom>
        </p:spPr>
      </p:pic>
      <p:pic>
        <p:nvPicPr>
          <p:cNvPr id="48" name="object 49">
            <a:extLst>
              <a:ext uri="{FF2B5EF4-FFF2-40B4-BE49-F238E27FC236}">
                <a16:creationId xmlns:a16="http://schemas.microsoft.com/office/drawing/2014/main" id="{8BFA4590-AAE4-8FDA-7B7F-57BACFBF59B3}"/>
              </a:ext>
            </a:extLst>
          </p:cNvPr>
          <p:cNvPicPr/>
          <p:nvPr/>
        </p:nvPicPr>
        <p:blipFill>
          <a:blip r:embed="rId30" cstate="print"/>
          <a:stretch>
            <a:fillRect/>
          </a:stretch>
        </p:blipFill>
        <p:spPr>
          <a:xfrm>
            <a:off x="1390650" y="3212592"/>
            <a:ext cx="609600" cy="171450"/>
          </a:xfrm>
          <a:prstGeom prst="rect">
            <a:avLst/>
          </a:prstGeom>
        </p:spPr>
      </p:pic>
      <p:pic>
        <p:nvPicPr>
          <p:cNvPr id="49" name="object 50">
            <a:extLst>
              <a:ext uri="{FF2B5EF4-FFF2-40B4-BE49-F238E27FC236}">
                <a16:creationId xmlns:a16="http://schemas.microsoft.com/office/drawing/2014/main" id="{A6967CD0-AEF1-9A75-213D-AE658A8E82B0}"/>
              </a:ext>
            </a:extLst>
          </p:cNvPr>
          <p:cNvPicPr/>
          <p:nvPr/>
        </p:nvPicPr>
        <p:blipFill>
          <a:blip r:embed="rId31" cstate="print"/>
          <a:stretch>
            <a:fillRect/>
          </a:stretch>
        </p:blipFill>
        <p:spPr>
          <a:xfrm>
            <a:off x="2390775" y="2441067"/>
            <a:ext cx="704850" cy="95250"/>
          </a:xfrm>
          <a:prstGeom prst="rect">
            <a:avLst/>
          </a:prstGeom>
        </p:spPr>
      </p:pic>
      <p:pic>
        <p:nvPicPr>
          <p:cNvPr id="50" name="object 51">
            <a:extLst>
              <a:ext uri="{FF2B5EF4-FFF2-40B4-BE49-F238E27FC236}">
                <a16:creationId xmlns:a16="http://schemas.microsoft.com/office/drawing/2014/main" id="{946BBA50-BA10-0846-5EDA-EB59BF0B8245}"/>
              </a:ext>
            </a:extLst>
          </p:cNvPr>
          <p:cNvPicPr/>
          <p:nvPr/>
        </p:nvPicPr>
        <p:blipFill>
          <a:blip r:embed="rId32" cstate="print"/>
          <a:stretch>
            <a:fillRect/>
          </a:stretch>
        </p:blipFill>
        <p:spPr>
          <a:xfrm>
            <a:off x="2495550" y="2612517"/>
            <a:ext cx="904875" cy="295275"/>
          </a:xfrm>
          <a:prstGeom prst="rect">
            <a:avLst/>
          </a:prstGeom>
        </p:spPr>
      </p:pic>
      <p:pic>
        <p:nvPicPr>
          <p:cNvPr id="51" name="object 52">
            <a:extLst>
              <a:ext uri="{FF2B5EF4-FFF2-40B4-BE49-F238E27FC236}">
                <a16:creationId xmlns:a16="http://schemas.microsoft.com/office/drawing/2014/main" id="{ED6C6FF8-C95B-927F-16B7-FFD50F8945C4}"/>
              </a:ext>
            </a:extLst>
          </p:cNvPr>
          <p:cNvPicPr/>
          <p:nvPr/>
        </p:nvPicPr>
        <p:blipFill>
          <a:blip r:embed="rId33" cstate="print"/>
          <a:stretch>
            <a:fillRect/>
          </a:stretch>
        </p:blipFill>
        <p:spPr>
          <a:xfrm>
            <a:off x="4857750" y="5489067"/>
            <a:ext cx="933450" cy="269965"/>
          </a:xfrm>
          <a:prstGeom prst="rect">
            <a:avLst/>
          </a:prstGeom>
        </p:spPr>
      </p:pic>
      <p:pic>
        <p:nvPicPr>
          <p:cNvPr id="52" name="object 53">
            <a:extLst>
              <a:ext uri="{FF2B5EF4-FFF2-40B4-BE49-F238E27FC236}">
                <a16:creationId xmlns:a16="http://schemas.microsoft.com/office/drawing/2014/main" id="{8221430E-567F-E0BA-DC48-E9CCF55DADDA}"/>
              </a:ext>
            </a:extLst>
          </p:cNvPr>
          <p:cNvPicPr/>
          <p:nvPr/>
        </p:nvPicPr>
        <p:blipFill>
          <a:blip r:embed="rId34" cstate="print"/>
          <a:stretch>
            <a:fillRect/>
          </a:stretch>
        </p:blipFill>
        <p:spPr>
          <a:xfrm>
            <a:off x="2867025" y="3227188"/>
            <a:ext cx="609600" cy="269174"/>
          </a:xfrm>
          <a:prstGeom prst="rect">
            <a:avLst/>
          </a:prstGeom>
        </p:spPr>
      </p:pic>
      <p:pic>
        <p:nvPicPr>
          <p:cNvPr id="53" name="object 54">
            <a:extLst>
              <a:ext uri="{FF2B5EF4-FFF2-40B4-BE49-F238E27FC236}">
                <a16:creationId xmlns:a16="http://schemas.microsoft.com/office/drawing/2014/main" id="{DF8591BE-07E8-A440-59E9-097B91E6FBF2}"/>
              </a:ext>
            </a:extLst>
          </p:cNvPr>
          <p:cNvPicPr/>
          <p:nvPr/>
        </p:nvPicPr>
        <p:blipFill>
          <a:blip r:embed="rId35" cstate="print"/>
          <a:stretch>
            <a:fillRect/>
          </a:stretch>
        </p:blipFill>
        <p:spPr>
          <a:xfrm>
            <a:off x="2833118" y="4060317"/>
            <a:ext cx="662556" cy="247650"/>
          </a:xfrm>
          <a:prstGeom prst="rect">
            <a:avLst/>
          </a:prstGeom>
        </p:spPr>
      </p:pic>
      <p:pic>
        <p:nvPicPr>
          <p:cNvPr id="54" name="object 56">
            <a:extLst>
              <a:ext uri="{FF2B5EF4-FFF2-40B4-BE49-F238E27FC236}">
                <a16:creationId xmlns:a16="http://schemas.microsoft.com/office/drawing/2014/main" id="{E71E57D3-4F51-C5DC-3CE8-DCDD507CE71A}"/>
              </a:ext>
            </a:extLst>
          </p:cNvPr>
          <p:cNvPicPr/>
          <p:nvPr/>
        </p:nvPicPr>
        <p:blipFill>
          <a:blip r:embed="rId36" cstate="print"/>
          <a:stretch>
            <a:fillRect/>
          </a:stretch>
        </p:blipFill>
        <p:spPr>
          <a:xfrm>
            <a:off x="6562725" y="4612767"/>
            <a:ext cx="676275" cy="676275"/>
          </a:xfrm>
          <a:prstGeom prst="rect">
            <a:avLst/>
          </a:prstGeom>
        </p:spPr>
      </p:pic>
      <p:pic>
        <p:nvPicPr>
          <p:cNvPr id="55" name="object 57">
            <a:extLst>
              <a:ext uri="{FF2B5EF4-FFF2-40B4-BE49-F238E27FC236}">
                <a16:creationId xmlns:a16="http://schemas.microsoft.com/office/drawing/2014/main" id="{A7A0F58E-3D45-AF3B-77B1-539B57A734E0}"/>
              </a:ext>
            </a:extLst>
          </p:cNvPr>
          <p:cNvPicPr/>
          <p:nvPr/>
        </p:nvPicPr>
        <p:blipFill>
          <a:blip r:embed="rId37" cstate="print"/>
          <a:stretch>
            <a:fillRect/>
          </a:stretch>
        </p:blipFill>
        <p:spPr>
          <a:xfrm>
            <a:off x="7924800" y="4346067"/>
            <a:ext cx="533400" cy="209550"/>
          </a:xfrm>
          <a:prstGeom prst="rect">
            <a:avLst/>
          </a:prstGeom>
        </p:spPr>
      </p:pic>
      <p:sp>
        <p:nvSpPr>
          <p:cNvPr id="56" name="object 58">
            <a:extLst>
              <a:ext uri="{FF2B5EF4-FFF2-40B4-BE49-F238E27FC236}">
                <a16:creationId xmlns:a16="http://schemas.microsoft.com/office/drawing/2014/main" id="{2C2CA94D-4459-4214-82C4-83DF32BBADFB}"/>
              </a:ext>
            </a:extLst>
          </p:cNvPr>
          <p:cNvSpPr/>
          <p:nvPr/>
        </p:nvSpPr>
        <p:spPr>
          <a:xfrm>
            <a:off x="9012568" y="4232633"/>
            <a:ext cx="62865" cy="127635"/>
          </a:xfrm>
          <a:custGeom>
            <a:avLst/>
            <a:gdLst/>
            <a:ahLst/>
            <a:cxnLst/>
            <a:rect l="l" t="t" r="r" b="b"/>
            <a:pathLst>
              <a:path w="62865" h="127635">
                <a:moveTo>
                  <a:pt x="55141" y="0"/>
                </a:moveTo>
                <a:lnTo>
                  <a:pt x="53052" y="161"/>
                </a:lnTo>
                <a:lnTo>
                  <a:pt x="1393" y="30427"/>
                </a:lnTo>
                <a:lnTo>
                  <a:pt x="0" y="33087"/>
                </a:lnTo>
                <a:lnTo>
                  <a:pt x="61" y="35827"/>
                </a:lnTo>
                <a:lnTo>
                  <a:pt x="53" y="117976"/>
                </a:lnTo>
                <a:lnTo>
                  <a:pt x="53" y="123897"/>
                </a:lnTo>
                <a:lnTo>
                  <a:pt x="6332" y="127601"/>
                </a:lnTo>
                <a:lnTo>
                  <a:pt x="60847" y="95661"/>
                </a:lnTo>
                <a:lnTo>
                  <a:pt x="62187" y="93424"/>
                </a:lnTo>
                <a:lnTo>
                  <a:pt x="62432" y="90778"/>
                </a:lnTo>
                <a:lnTo>
                  <a:pt x="62446" y="5453"/>
                </a:lnTo>
                <a:lnTo>
                  <a:pt x="61005" y="2910"/>
                </a:lnTo>
                <a:lnTo>
                  <a:pt x="57000" y="558"/>
                </a:lnTo>
                <a:lnTo>
                  <a:pt x="55141" y="0"/>
                </a:lnTo>
                <a:close/>
              </a:path>
            </a:pathLst>
          </a:custGeom>
          <a:solidFill>
            <a:srgbClr val="FFB571"/>
          </a:solidFill>
        </p:spPr>
        <p:txBody>
          <a:bodyPr wrap="square" lIns="0" tIns="0" rIns="0" bIns="0" rtlCol="0"/>
          <a:lstStyle/>
          <a:p>
            <a:endParaRPr dirty="0"/>
          </a:p>
        </p:txBody>
      </p:sp>
      <p:sp>
        <p:nvSpPr>
          <p:cNvPr id="57" name="object 59">
            <a:extLst>
              <a:ext uri="{FF2B5EF4-FFF2-40B4-BE49-F238E27FC236}">
                <a16:creationId xmlns:a16="http://schemas.microsoft.com/office/drawing/2014/main" id="{A2E633EA-C796-7A35-B96E-B9F26A9D9E5B}"/>
              </a:ext>
            </a:extLst>
          </p:cNvPr>
          <p:cNvSpPr/>
          <p:nvPr/>
        </p:nvSpPr>
        <p:spPr>
          <a:xfrm>
            <a:off x="8968604" y="4177585"/>
            <a:ext cx="106680" cy="154940"/>
          </a:xfrm>
          <a:custGeom>
            <a:avLst/>
            <a:gdLst/>
            <a:ahLst/>
            <a:cxnLst/>
            <a:rect l="l" t="t" r="r" b="b"/>
            <a:pathLst>
              <a:path w="106679" h="154939">
                <a:moveTo>
                  <a:pt x="6268" y="0"/>
                </a:moveTo>
                <a:lnTo>
                  <a:pt x="0" y="3704"/>
                </a:lnTo>
                <a:lnTo>
                  <a:pt x="0" y="94756"/>
                </a:lnTo>
                <a:lnTo>
                  <a:pt x="1449" y="97314"/>
                </a:lnTo>
                <a:lnTo>
                  <a:pt x="100143" y="154856"/>
                </a:lnTo>
                <a:lnTo>
                  <a:pt x="106395" y="151151"/>
                </a:lnTo>
                <a:lnTo>
                  <a:pt x="106395" y="145243"/>
                </a:lnTo>
                <a:lnTo>
                  <a:pt x="106395" y="60501"/>
                </a:lnTo>
                <a:lnTo>
                  <a:pt x="104969" y="57958"/>
                </a:lnTo>
                <a:lnTo>
                  <a:pt x="6268" y="0"/>
                </a:lnTo>
                <a:close/>
              </a:path>
            </a:pathLst>
          </a:custGeom>
          <a:solidFill>
            <a:srgbClr val="FF8300"/>
          </a:solidFill>
        </p:spPr>
        <p:txBody>
          <a:bodyPr wrap="square" lIns="0" tIns="0" rIns="0" bIns="0" rtlCol="0"/>
          <a:lstStyle/>
          <a:p>
            <a:endParaRPr dirty="0"/>
          </a:p>
        </p:txBody>
      </p:sp>
      <p:sp>
        <p:nvSpPr>
          <p:cNvPr id="58" name="object 60">
            <a:extLst>
              <a:ext uri="{FF2B5EF4-FFF2-40B4-BE49-F238E27FC236}">
                <a16:creationId xmlns:a16="http://schemas.microsoft.com/office/drawing/2014/main" id="{2753CCA8-009A-B8FD-F50F-7BEA8E02BDEE}"/>
              </a:ext>
            </a:extLst>
          </p:cNvPr>
          <p:cNvSpPr/>
          <p:nvPr/>
        </p:nvSpPr>
        <p:spPr>
          <a:xfrm>
            <a:off x="8881955" y="4227195"/>
            <a:ext cx="62865" cy="127635"/>
          </a:xfrm>
          <a:custGeom>
            <a:avLst/>
            <a:gdLst/>
            <a:ahLst/>
            <a:cxnLst/>
            <a:rect l="l" t="t" r="r" b="b"/>
            <a:pathLst>
              <a:path w="62865" h="127635">
                <a:moveTo>
                  <a:pt x="56118" y="0"/>
                </a:moveTo>
                <a:lnTo>
                  <a:pt x="1613" y="31941"/>
                </a:lnTo>
                <a:lnTo>
                  <a:pt x="273" y="34175"/>
                </a:lnTo>
                <a:lnTo>
                  <a:pt x="0" y="37085"/>
                </a:lnTo>
                <a:lnTo>
                  <a:pt x="0" y="122148"/>
                </a:lnTo>
                <a:lnTo>
                  <a:pt x="1450" y="124680"/>
                </a:lnTo>
                <a:lnTo>
                  <a:pt x="5456" y="127044"/>
                </a:lnTo>
                <a:lnTo>
                  <a:pt x="7307" y="127607"/>
                </a:lnTo>
                <a:lnTo>
                  <a:pt x="9402" y="127439"/>
                </a:lnTo>
                <a:lnTo>
                  <a:pt x="61057" y="97175"/>
                </a:lnTo>
                <a:lnTo>
                  <a:pt x="62453" y="94516"/>
                </a:lnTo>
                <a:lnTo>
                  <a:pt x="62388" y="91775"/>
                </a:lnTo>
                <a:lnTo>
                  <a:pt x="62397" y="9627"/>
                </a:lnTo>
                <a:lnTo>
                  <a:pt x="62397" y="3704"/>
                </a:lnTo>
                <a:lnTo>
                  <a:pt x="56118" y="0"/>
                </a:lnTo>
                <a:close/>
              </a:path>
            </a:pathLst>
          </a:custGeom>
          <a:solidFill>
            <a:srgbClr val="FFB571"/>
          </a:solidFill>
        </p:spPr>
        <p:txBody>
          <a:bodyPr wrap="square" lIns="0" tIns="0" rIns="0" bIns="0" rtlCol="0"/>
          <a:lstStyle/>
          <a:p>
            <a:endParaRPr dirty="0"/>
          </a:p>
        </p:txBody>
      </p:sp>
      <p:pic>
        <p:nvPicPr>
          <p:cNvPr id="59" name="object 61">
            <a:extLst>
              <a:ext uri="{FF2B5EF4-FFF2-40B4-BE49-F238E27FC236}">
                <a16:creationId xmlns:a16="http://schemas.microsoft.com/office/drawing/2014/main" id="{34A5FB8C-01CD-9A07-BDE8-1220FF6B4640}"/>
              </a:ext>
            </a:extLst>
          </p:cNvPr>
          <p:cNvPicPr/>
          <p:nvPr/>
        </p:nvPicPr>
        <p:blipFill>
          <a:blip r:embed="rId38" cstate="print"/>
          <a:stretch>
            <a:fillRect/>
          </a:stretch>
        </p:blipFill>
        <p:spPr>
          <a:xfrm>
            <a:off x="9131103" y="4235176"/>
            <a:ext cx="103316" cy="125367"/>
          </a:xfrm>
          <a:prstGeom prst="rect">
            <a:avLst/>
          </a:prstGeom>
        </p:spPr>
      </p:pic>
      <p:pic>
        <p:nvPicPr>
          <p:cNvPr id="60" name="object 62">
            <a:extLst>
              <a:ext uri="{FF2B5EF4-FFF2-40B4-BE49-F238E27FC236}">
                <a16:creationId xmlns:a16="http://schemas.microsoft.com/office/drawing/2014/main" id="{8FAC5832-5A8E-6C1B-C73A-5C0BF5819FA2}"/>
              </a:ext>
            </a:extLst>
          </p:cNvPr>
          <p:cNvPicPr/>
          <p:nvPr/>
        </p:nvPicPr>
        <p:blipFill>
          <a:blip r:embed="rId39" cstate="print"/>
          <a:stretch>
            <a:fillRect/>
          </a:stretch>
        </p:blipFill>
        <p:spPr>
          <a:xfrm>
            <a:off x="9255066" y="4228106"/>
            <a:ext cx="315252" cy="132424"/>
          </a:xfrm>
          <a:prstGeom prst="rect">
            <a:avLst/>
          </a:prstGeom>
        </p:spPr>
      </p:pic>
      <p:pic>
        <p:nvPicPr>
          <p:cNvPr id="61" name="object 63">
            <a:extLst>
              <a:ext uri="{FF2B5EF4-FFF2-40B4-BE49-F238E27FC236}">
                <a16:creationId xmlns:a16="http://schemas.microsoft.com/office/drawing/2014/main" id="{E03038F4-DC85-1110-5EB1-F1F762679473}"/>
              </a:ext>
            </a:extLst>
          </p:cNvPr>
          <p:cNvPicPr/>
          <p:nvPr/>
        </p:nvPicPr>
        <p:blipFill>
          <a:blip r:embed="rId40" cstate="print"/>
          <a:stretch>
            <a:fillRect/>
          </a:stretch>
        </p:blipFill>
        <p:spPr>
          <a:xfrm>
            <a:off x="9591843" y="4233412"/>
            <a:ext cx="264377" cy="127142"/>
          </a:xfrm>
          <a:prstGeom prst="rect">
            <a:avLst/>
          </a:prstGeom>
        </p:spPr>
      </p:pic>
      <p:pic>
        <p:nvPicPr>
          <p:cNvPr id="62" name="object 64">
            <a:extLst>
              <a:ext uri="{FF2B5EF4-FFF2-40B4-BE49-F238E27FC236}">
                <a16:creationId xmlns:a16="http://schemas.microsoft.com/office/drawing/2014/main" id="{582ECD8F-658A-DC2D-2E0C-7298E981D692}"/>
              </a:ext>
            </a:extLst>
          </p:cNvPr>
          <p:cNvPicPr/>
          <p:nvPr/>
        </p:nvPicPr>
        <p:blipFill>
          <a:blip r:embed="rId41" cstate="print"/>
          <a:stretch>
            <a:fillRect/>
          </a:stretch>
        </p:blipFill>
        <p:spPr>
          <a:xfrm>
            <a:off x="9879490" y="4241350"/>
            <a:ext cx="431449" cy="119193"/>
          </a:xfrm>
          <a:prstGeom prst="rect">
            <a:avLst/>
          </a:prstGeom>
        </p:spPr>
      </p:pic>
      <p:sp>
        <p:nvSpPr>
          <p:cNvPr id="63" name="object 65">
            <a:extLst>
              <a:ext uri="{FF2B5EF4-FFF2-40B4-BE49-F238E27FC236}">
                <a16:creationId xmlns:a16="http://schemas.microsoft.com/office/drawing/2014/main" id="{A4F6B05E-9866-D3F7-AFC8-D69723F6D1E8}"/>
              </a:ext>
            </a:extLst>
          </p:cNvPr>
          <p:cNvSpPr/>
          <p:nvPr/>
        </p:nvSpPr>
        <p:spPr>
          <a:xfrm>
            <a:off x="8881967" y="4254991"/>
            <a:ext cx="106680" cy="154940"/>
          </a:xfrm>
          <a:custGeom>
            <a:avLst/>
            <a:gdLst/>
            <a:ahLst/>
            <a:cxnLst/>
            <a:rect l="l" t="t" r="r" b="b"/>
            <a:pathLst>
              <a:path w="106679" h="154939">
                <a:moveTo>
                  <a:pt x="6257" y="0"/>
                </a:moveTo>
                <a:lnTo>
                  <a:pt x="0" y="3704"/>
                </a:lnTo>
                <a:lnTo>
                  <a:pt x="0" y="9613"/>
                </a:lnTo>
                <a:lnTo>
                  <a:pt x="0" y="94352"/>
                </a:lnTo>
                <a:lnTo>
                  <a:pt x="1437" y="96898"/>
                </a:lnTo>
                <a:lnTo>
                  <a:pt x="100135" y="154835"/>
                </a:lnTo>
                <a:lnTo>
                  <a:pt x="106401" y="151131"/>
                </a:lnTo>
                <a:lnTo>
                  <a:pt x="106401" y="60087"/>
                </a:lnTo>
                <a:lnTo>
                  <a:pt x="104954" y="57527"/>
                </a:lnTo>
                <a:lnTo>
                  <a:pt x="6257" y="0"/>
                </a:lnTo>
                <a:close/>
              </a:path>
            </a:pathLst>
          </a:custGeom>
          <a:solidFill>
            <a:srgbClr val="FF8300"/>
          </a:solidFill>
        </p:spPr>
        <p:txBody>
          <a:bodyPr wrap="square" lIns="0" tIns="0" rIns="0" bIns="0" rtlCol="0"/>
          <a:lstStyle/>
          <a:p>
            <a:endParaRPr dirty="0"/>
          </a:p>
        </p:txBody>
      </p:sp>
      <p:pic>
        <p:nvPicPr>
          <p:cNvPr id="64" name="object 66">
            <a:extLst>
              <a:ext uri="{FF2B5EF4-FFF2-40B4-BE49-F238E27FC236}">
                <a16:creationId xmlns:a16="http://schemas.microsoft.com/office/drawing/2014/main" id="{94C500C9-06EA-6DBA-465E-F880F4109F2B}"/>
              </a:ext>
            </a:extLst>
          </p:cNvPr>
          <p:cNvPicPr/>
          <p:nvPr/>
        </p:nvPicPr>
        <p:blipFill>
          <a:blip r:embed="rId42" cstate="print"/>
          <a:stretch>
            <a:fillRect/>
          </a:stretch>
        </p:blipFill>
        <p:spPr>
          <a:xfrm>
            <a:off x="7743825" y="5403342"/>
            <a:ext cx="1000125" cy="238125"/>
          </a:xfrm>
          <a:prstGeom prst="rect">
            <a:avLst/>
          </a:prstGeom>
        </p:spPr>
      </p:pic>
      <p:pic>
        <p:nvPicPr>
          <p:cNvPr id="65" name="object 67">
            <a:extLst>
              <a:ext uri="{FF2B5EF4-FFF2-40B4-BE49-F238E27FC236}">
                <a16:creationId xmlns:a16="http://schemas.microsoft.com/office/drawing/2014/main" id="{E5055AF8-8C2D-7360-F9D5-3B390BD32859}"/>
              </a:ext>
            </a:extLst>
          </p:cNvPr>
          <p:cNvPicPr/>
          <p:nvPr/>
        </p:nvPicPr>
        <p:blipFill>
          <a:blip r:embed="rId43" cstate="print"/>
          <a:stretch>
            <a:fillRect/>
          </a:stretch>
        </p:blipFill>
        <p:spPr>
          <a:xfrm>
            <a:off x="11049000" y="5393817"/>
            <a:ext cx="657225" cy="304800"/>
          </a:xfrm>
          <a:prstGeom prst="rect">
            <a:avLst/>
          </a:prstGeom>
        </p:spPr>
      </p:pic>
      <p:pic>
        <p:nvPicPr>
          <p:cNvPr id="66" name="object 68">
            <a:extLst>
              <a:ext uri="{FF2B5EF4-FFF2-40B4-BE49-F238E27FC236}">
                <a16:creationId xmlns:a16="http://schemas.microsoft.com/office/drawing/2014/main" id="{EB3EE47D-16F0-F9CE-B965-E9829DD374DB}"/>
              </a:ext>
            </a:extLst>
          </p:cNvPr>
          <p:cNvPicPr/>
          <p:nvPr/>
        </p:nvPicPr>
        <p:blipFill>
          <a:blip r:embed="rId44" cstate="print"/>
          <a:stretch>
            <a:fillRect/>
          </a:stretch>
        </p:blipFill>
        <p:spPr>
          <a:xfrm>
            <a:off x="7924800" y="4812792"/>
            <a:ext cx="581025" cy="276225"/>
          </a:xfrm>
          <a:prstGeom prst="rect">
            <a:avLst/>
          </a:prstGeom>
        </p:spPr>
      </p:pic>
      <p:pic>
        <p:nvPicPr>
          <p:cNvPr id="67" name="object 69">
            <a:extLst>
              <a:ext uri="{FF2B5EF4-FFF2-40B4-BE49-F238E27FC236}">
                <a16:creationId xmlns:a16="http://schemas.microsoft.com/office/drawing/2014/main" id="{90392F9F-2B89-9712-345C-C078290035D9}"/>
              </a:ext>
            </a:extLst>
          </p:cNvPr>
          <p:cNvPicPr/>
          <p:nvPr/>
        </p:nvPicPr>
        <p:blipFill>
          <a:blip r:embed="rId45" cstate="print"/>
          <a:stretch>
            <a:fillRect/>
          </a:stretch>
        </p:blipFill>
        <p:spPr>
          <a:xfrm>
            <a:off x="8924925" y="5127117"/>
            <a:ext cx="1104900" cy="133350"/>
          </a:xfrm>
          <a:prstGeom prst="rect">
            <a:avLst/>
          </a:prstGeom>
        </p:spPr>
      </p:pic>
      <p:pic>
        <p:nvPicPr>
          <p:cNvPr id="68" name="object 70">
            <a:extLst>
              <a:ext uri="{FF2B5EF4-FFF2-40B4-BE49-F238E27FC236}">
                <a16:creationId xmlns:a16="http://schemas.microsoft.com/office/drawing/2014/main" id="{4B5871A3-D780-3B3F-CB2D-1DD1F1C222C3}"/>
              </a:ext>
            </a:extLst>
          </p:cNvPr>
          <p:cNvPicPr/>
          <p:nvPr/>
        </p:nvPicPr>
        <p:blipFill>
          <a:blip r:embed="rId46" cstate="print"/>
          <a:stretch>
            <a:fillRect/>
          </a:stretch>
        </p:blipFill>
        <p:spPr>
          <a:xfrm>
            <a:off x="9010650" y="5450967"/>
            <a:ext cx="990600" cy="152400"/>
          </a:xfrm>
          <a:prstGeom prst="rect">
            <a:avLst/>
          </a:prstGeom>
        </p:spPr>
      </p:pic>
      <p:pic>
        <p:nvPicPr>
          <p:cNvPr id="69" name="object 71">
            <a:extLst>
              <a:ext uri="{FF2B5EF4-FFF2-40B4-BE49-F238E27FC236}">
                <a16:creationId xmlns:a16="http://schemas.microsoft.com/office/drawing/2014/main" id="{BF631B63-CDBB-58A8-FDCF-E2EE03F8F8A2}"/>
              </a:ext>
            </a:extLst>
          </p:cNvPr>
          <p:cNvPicPr/>
          <p:nvPr/>
        </p:nvPicPr>
        <p:blipFill>
          <a:blip r:embed="rId47" cstate="print"/>
          <a:stretch>
            <a:fillRect/>
          </a:stretch>
        </p:blipFill>
        <p:spPr>
          <a:xfrm>
            <a:off x="10744200" y="3917442"/>
            <a:ext cx="752475" cy="752475"/>
          </a:xfrm>
          <a:prstGeom prst="rect">
            <a:avLst/>
          </a:prstGeom>
        </p:spPr>
      </p:pic>
      <p:sp>
        <p:nvSpPr>
          <p:cNvPr id="70" name="object 72">
            <a:extLst>
              <a:ext uri="{FF2B5EF4-FFF2-40B4-BE49-F238E27FC236}">
                <a16:creationId xmlns:a16="http://schemas.microsoft.com/office/drawing/2014/main" id="{51F33194-AE9E-5405-9FD4-B650FC1CE9B6}"/>
              </a:ext>
            </a:extLst>
          </p:cNvPr>
          <p:cNvSpPr/>
          <p:nvPr/>
        </p:nvSpPr>
        <p:spPr>
          <a:xfrm>
            <a:off x="6790246" y="4407560"/>
            <a:ext cx="641985" cy="121285"/>
          </a:xfrm>
          <a:custGeom>
            <a:avLst/>
            <a:gdLst/>
            <a:ahLst/>
            <a:cxnLst/>
            <a:rect l="l" t="t" r="r" b="b"/>
            <a:pathLst>
              <a:path w="641984" h="121285">
                <a:moveTo>
                  <a:pt x="129095" y="118732"/>
                </a:moveTo>
                <a:lnTo>
                  <a:pt x="105029" y="0"/>
                </a:lnTo>
                <a:lnTo>
                  <a:pt x="64541" y="89725"/>
                </a:lnTo>
                <a:lnTo>
                  <a:pt x="24066" y="0"/>
                </a:lnTo>
                <a:lnTo>
                  <a:pt x="0" y="118732"/>
                </a:lnTo>
                <a:lnTo>
                  <a:pt x="15163" y="118732"/>
                </a:lnTo>
                <a:lnTo>
                  <a:pt x="28905" y="43510"/>
                </a:lnTo>
                <a:lnTo>
                  <a:pt x="29222" y="43510"/>
                </a:lnTo>
                <a:lnTo>
                  <a:pt x="64541" y="121158"/>
                </a:lnTo>
                <a:lnTo>
                  <a:pt x="99872" y="43510"/>
                </a:lnTo>
                <a:lnTo>
                  <a:pt x="100177" y="43510"/>
                </a:lnTo>
                <a:lnTo>
                  <a:pt x="113944" y="118732"/>
                </a:lnTo>
                <a:lnTo>
                  <a:pt x="129095" y="118732"/>
                </a:lnTo>
                <a:close/>
              </a:path>
              <a:path w="641984" h="121285">
                <a:moveTo>
                  <a:pt x="159473" y="3683"/>
                </a:moveTo>
                <a:lnTo>
                  <a:pt x="144284" y="3683"/>
                </a:lnTo>
                <a:lnTo>
                  <a:pt x="144284" y="117487"/>
                </a:lnTo>
                <a:lnTo>
                  <a:pt x="159473" y="117487"/>
                </a:lnTo>
                <a:lnTo>
                  <a:pt x="159473" y="3683"/>
                </a:lnTo>
                <a:close/>
              </a:path>
              <a:path w="641984" h="121285">
                <a:moveTo>
                  <a:pt x="246824" y="86029"/>
                </a:moveTo>
                <a:lnTo>
                  <a:pt x="218376" y="52108"/>
                </a:lnTo>
                <a:lnTo>
                  <a:pt x="202984" y="46278"/>
                </a:lnTo>
                <a:lnTo>
                  <a:pt x="194170" y="41656"/>
                </a:lnTo>
                <a:lnTo>
                  <a:pt x="194170" y="22961"/>
                </a:lnTo>
                <a:lnTo>
                  <a:pt x="204190" y="16840"/>
                </a:lnTo>
                <a:lnTo>
                  <a:pt x="222021" y="16840"/>
                </a:lnTo>
                <a:lnTo>
                  <a:pt x="227482" y="20421"/>
                </a:lnTo>
                <a:lnTo>
                  <a:pt x="231736" y="27457"/>
                </a:lnTo>
                <a:lnTo>
                  <a:pt x="243179" y="20726"/>
                </a:lnTo>
                <a:lnTo>
                  <a:pt x="237731" y="13449"/>
                </a:lnTo>
                <a:lnTo>
                  <a:pt x="230873" y="8102"/>
                </a:lnTo>
                <a:lnTo>
                  <a:pt x="222783" y="4800"/>
                </a:lnTo>
                <a:lnTo>
                  <a:pt x="213664" y="3683"/>
                </a:lnTo>
                <a:lnTo>
                  <a:pt x="201053" y="5664"/>
                </a:lnTo>
                <a:lnTo>
                  <a:pt x="190246" y="11417"/>
                </a:lnTo>
                <a:lnTo>
                  <a:pt x="182689" y="20574"/>
                </a:lnTo>
                <a:lnTo>
                  <a:pt x="179844" y="32816"/>
                </a:lnTo>
                <a:lnTo>
                  <a:pt x="181902" y="43116"/>
                </a:lnTo>
                <a:lnTo>
                  <a:pt x="187426" y="50901"/>
                </a:lnTo>
                <a:lnTo>
                  <a:pt x="195389" y="56769"/>
                </a:lnTo>
                <a:lnTo>
                  <a:pt x="204800" y="61366"/>
                </a:lnTo>
                <a:lnTo>
                  <a:pt x="212750" y="64643"/>
                </a:lnTo>
                <a:lnTo>
                  <a:pt x="220002" y="67995"/>
                </a:lnTo>
                <a:lnTo>
                  <a:pt x="226326" y="72313"/>
                </a:lnTo>
                <a:lnTo>
                  <a:pt x="230797" y="78143"/>
                </a:lnTo>
                <a:lnTo>
                  <a:pt x="232498" y="86017"/>
                </a:lnTo>
                <a:lnTo>
                  <a:pt x="230924" y="94437"/>
                </a:lnTo>
                <a:lnTo>
                  <a:pt x="226542" y="101434"/>
                </a:lnTo>
                <a:lnTo>
                  <a:pt x="219849" y="106210"/>
                </a:lnTo>
                <a:lnTo>
                  <a:pt x="211328" y="107988"/>
                </a:lnTo>
                <a:lnTo>
                  <a:pt x="202653" y="106387"/>
                </a:lnTo>
                <a:lnTo>
                  <a:pt x="195554" y="101955"/>
                </a:lnTo>
                <a:lnTo>
                  <a:pt x="190792" y="95186"/>
                </a:lnTo>
                <a:lnTo>
                  <a:pt x="189103" y="86614"/>
                </a:lnTo>
                <a:lnTo>
                  <a:pt x="174675" y="89611"/>
                </a:lnTo>
                <a:lnTo>
                  <a:pt x="178625" y="102171"/>
                </a:lnTo>
                <a:lnTo>
                  <a:pt x="186347" y="112166"/>
                </a:lnTo>
                <a:lnTo>
                  <a:pt x="197078" y="118770"/>
                </a:lnTo>
                <a:lnTo>
                  <a:pt x="210121" y="121158"/>
                </a:lnTo>
                <a:lnTo>
                  <a:pt x="224523" y="118541"/>
                </a:lnTo>
                <a:lnTo>
                  <a:pt x="236181" y="111277"/>
                </a:lnTo>
                <a:lnTo>
                  <a:pt x="243979" y="100152"/>
                </a:lnTo>
                <a:lnTo>
                  <a:pt x="246824" y="86029"/>
                </a:lnTo>
                <a:close/>
              </a:path>
              <a:path w="641984" h="121285">
                <a:moveTo>
                  <a:pt x="330365" y="3721"/>
                </a:moveTo>
                <a:lnTo>
                  <a:pt x="258216" y="3721"/>
                </a:lnTo>
                <a:lnTo>
                  <a:pt x="258216" y="16217"/>
                </a:lnTo>
                <a:lnTo>
                  <a:pt x="286766" y="16217"/>
                </a:lnTo>
                <a:lnTo>
                  <a:pt x="286766" y="117348"/>
                </a:lnTo>
                <a:lnTo>
                  <a:pt x="301752" y="117348"/>
                </a:lnTo>
                <a:lnTo>
                  <a:pt x="301752" y="16217"/>
                </a:lnTo>
                <a:lnTo>
                  <a:pt x="330365" y="16217"/>
                </a:lnTo>
                <a:lnTo>
                  <a:pt x="330365" y="3721"/>
                </a:lnTo>
                <a:close/>
              </a:path>
              <a:path w="641984" h="121285">
                <a:moveTo>
                  <a:pt x="410095" y="36576"/>
                </a:moveTo>
                <a:lnTo>
                  <a:pt x="407771" y="22656"/>
                </a:lnTo>
                <a:lnTo>
                  <a:pt x="402983" y="16357"/>
                </a:lnTo>
                <a:lnTo>
                  <a:pt x="399910" y="12319"/>
                </a:lnTo>
                <a:lnTo>
                  <a:pt x="396278" y="10731"/>
                </a:lnTo>
                <a:lnTo>
                  <a:pt x="396278" y="36283"/>
                </a:lnTo>
                <a:lnTo>
                  <a:pt x="393509" y="47167"/>
                </a:lnTo>
                <a:lnTo>
                  <a:pt x="386270" y="53479"/>
                </a:lnTo>
                <a:lnTo>
                  <a:pt x="376199" y="56388"/>
                </a:lnTo>
                <a:lnTo>
                  <a:pt x="364934" y="57099"/>
                </a:lnTo>
                <a:lnTo>
                  <a:pt x="360235" y="57099"/>
                </a:lnTo>
                <a:lnTo>
                  <a:pt x="360235" y="16357"/>
                </a:lnTo>
                <a:lnTo>
                  <a:pt x="364185" y="16357"/>
                </a:lnTo>
                <a:lnTo>
                  <a:pt x="375348" y="16967"/>
                </a:lnTo>
                <a:lnTo>
                  <a:pt x="385699" y="19634"/>
                </a:lnTo>
                <a:lnTo>
                  <a:pt x="393319" y="25654"/>
                </a:lnTo>
                <a:lnTo>
                  <a:pt x="396278" y="36283"/>
                </a:lnTo>
                <a:lnTo>
                  <a:pt x="396278" y="10731"/>
                </a:lnTo>
                <a:lnTo>
                  <a:pt x="385241" y="5892"/>
                </a:lnTo>
                <a:lnTo>
                  <a:pt x="362458" y="3683"/>
                </a:lnTo>
                <a:lnTo>
                  <a:pt x="345554" y="3683"/>
                </a:lnTo>
                <a:lnTo>
                  <a:pt x="345554" y="117487"/>
                </a:lnTo>
                <a:lnTo>
                  <a:pt x="360235" y="117487"/>
                </a:lnTo>
                <a:lnTo>
                  <a:pt x="360235" y="69786"/>
                </a:lnTo>
                <a:lnTo>
                  <a:pt x="368731" y="69786"/>
                </a:lnTo>
                <a:lnTo>
                  <a:pt x="384644" y="67970"/>
                </a:lnTo>
                <a:lnTo>
                  <a:pt x="397814" y="62179"/>
                </a:lnTo>
                <a:lnTo>
                  <a:pt x="402247" y="57099"/>
                </a:lnTo>
                <a:lnTo>
                  <a:pt x="406781" y="51892"/>
                </a:lnTo>
                <a:lnTo>
                  <a:pt x="410095" y="36576"/>
                </a:lnTo>
                <a:close/>
              </a:path>
              <a:path w="641984" h="121285">
                <a:moveTo>
                  <a:pt x="573379" y="117487"/>
                </a:moveTo>
                <a:lnTo>
                  <a:pt x="559765" y="89230"/>
                </a:lnTo>
                <a:lnTo>
                  <a:pt x="553567" y="76377"/>
                </a:lnTo>
                <a:lnTo>
                  <a:pt x="537832" y="43713"/>
                </a:lnTo>
                <a:lnTo>
                  <a:pt x="537832" y="76377"/>
                </a:lnTo>
                <a:lnTo>
                  <a:pt x="495668" y="76377"/>
                </a:lnTo>
                <a:lnTo>
                  <a:pt x="516775" y="30784"/>
                </a:lnTo>
                <a:lnTo>
                  <a:pt x="537832" y="76377"/>
                </a:lnTo>
                <a:lnTo>
                  <a:pt x="537832" y="43713"/>
                </a:lnTo>
                <a:lnTo>
                  <a:pt x="531609" y="30784"/>
                </a:lnTo>
                <a:lnTo>
                  <a:pt x="516775" y="0"/>
                </a:lnTo>
                <a:lnTo>
                  <a:pt x="466344" y="104622"/>
                </a:lnTo>
                <a:lnTo>
                  <a:pt x="440067" y="104622"/>
                </a:lnTo>
                <a:lnTo>
                  <a:pt x="440067" y="4775"/>
                </a:lnTo>
                <a:lnTo>
                  <a:pt x="425284" y="4775"/>
                </a:lnTo>
                <a:lnTo>
                  <a:pt x="425284" y="117487"/>
                </a:lnTo>
                <a:lnTo>
                  <a:pt x="476059" y="117487"/>
                </a:lnTo>
                <a:lnTo>
                  <a:pt x="482193" y="104622"/>
                </a:lnTo>
                <a:lnTo>
                  <a:pt x="489534" y="89230"/>
                </a:lnTo>
                <a:lnTo>
                  <a:pt x="543966" y="89230"/>
                </a:lnTo>
                <a:lnTo>
                  <a:pt x="557479" y="117487"/>
                </a:lnTo>
                <a:lnTo>
                  <a:pt x="573379" y="117487"/>
                </a:lnTo>
                <a:close/>
              </a:path>
              <a:path w="641984" h="121285">
                <a:moveTo>
                  <a:pt x="641731" y="3683"/>
                </a:moveTo>
                <a:lnTo>
                  <a:pt x="624916" y="3683"/>
                </a:lnTo>
                <a:lnTo>
                  <a:pt x="596163" y="52273"/>
                </a:lnTo>
                <a:lnTo>
                  <a:pt x="567397" y="3683"/>
                </a:lnTo>
                <a:lnTo>
                  <a:pt x="550595" y="3683"/>
                </a:lnTo>
                <a:lnTo>
                  <a:pt x="588822" y="67970"/>
                </a:lnTo>
                <a:lnTo>
                  <a:pt x="588822" y="117487"/>
                </a:lnTo>
                <a:lnTo>
                  <a:pt x="603453" y="117487"/>
                </a:lnTo>
                <a:lnTo>
                  <a:pt x="603453" y="67970"/>
                </a:lnTo>
                <a:lnTo>
                  <a:pt x="641731" y="3683"/>
                </a:lnTo>
                <a:close/>
              </a:path>
            </a:pathLst>
          </a:custGeom>
          <a:solidFill>
            <a:srgbClr val="181E37"/>
          </a:solidFill>
        </p:spPr>
        <p:txBody>
          <a:bodyPr wrap="square" lIns="0" tIns="0" rIns="0" bIns="0" rtlCol="0"/>
          <a:lstStyle/>
          <a:p>
            <a:endParaRPr dirty="0"/>
          </a:p>
        </p:txBody>
      </p:sp>
      <p:sp>
        <p:nvSpPr>
          <p:cNvPr id="71" name="object 73">
            <a:extLst>
              <a:ext uri="{FF2B5EF4-FFF2-40B4-BE49-F238E27FC236}">
                <a16:creationId xmlns:a16="http://schemas.microsoft.com/office/drawing/2014/main" id="{4EF2C3CB-39A1-E72F-1A1A-D12CD8A4711A}"/>
              </a:ext>
            </a:extLst>
          </p:cNvPr>
          <p:cNvSpPr/>
          <p:nvPr/>
        </p:nvSpPr>
        <p:spPr>
          <a:xfrm>
            <a:off x="6535827" y="4381868"/>
            <a:ext cx="197485" cy="176530"/>
          </a:xfrm>
          <a:custGeom>
            <a:avLst/>
            <a:gdLst/>
            <a:ahLst/>
            <a:cxnLst/>
            <a:rect l="l" t="t" r="r" b="b"/>
            <a:pathLst>
              <a:path w="197484" h="176529">
                <a:moveTo>
                  <a:pt x="34175" y="11049"/>
                </a:moveTo>
                <a:lnTo>
                  <a:pt x="26530" y="3670"/>
                </a:lnTo>
                <a:lnTo>
                  <a:pt x="7645" y="3670"/>
                </a:lnTo>
                <a:lnTo>
                  <a:pt x="0" y="11061"/>
                </a:lnTo>
                <a:lnTo>
                  <a:pt x="0" y="29311"/>
                </a:lnTo>
                <a:lnTo>
                  <a:pt x="7658" y="36715"/>
                </a:lnTo>
                <a:lnTo>
                  <a:pt x="17081" y="36715"/>
                </a:lnTo>
                <a:lnTo>
                  <a:pt x="26530" y="36715"/>
                </a:lnTo>
                <a:lnTo>
                  <a:pt x="34175" y="29311"/>
                </a:lnTo>
                <a:lnTo>
                  <a:pt x="34175" y="11049"/>
                </a:lnTo>
                <a:close/>
              </a:path>
              <a:path w="197484" h="176529">
                <a:moveTo>
                  <a:pt x="102527" y="148678"/>
                </a:moveTo>
                <a:lnTo>
                  <a:pt x="100291" y="137960"/>
                </a:lnTo>
                <a:lnTo>
                  <a:pt x="94183" y="129209"/>
                </a:lnTo>
                <a:lnTo>
                  <a:pt x="85140" y="123317"/>
                </a:lnTo>
                <a:lnTo>
                  <a:pt x="74053" y="121145"/>
                </a:lnTo>
                <a:lnTo>
                  <a:pt x="62966" y="123317"/>
                </a:lnTo>
                <a:lnTo>
                  <a:pt x="53924" y="129209"/>
                </a:lnTo>
                <a:lnTo>
                  <a:pt x="47815" y="137960"/>
                </a:lnTo>
                <a:lnTo>
                  <a:pt x="45567" y="148678"/>
                </a:lnTo>
                <a:lnTo>
                  <a:pt x="47815" y="159397"/>
                </a:lnTo>
                <a:lnTo>
                  <a:pt x="53911" y="168148"/>
                </a:lnTo>
                <a:lnTo>
                  <a:pt x="62966" y="174053"/>
                </a:lnTo>
                <a:lnTo>
                  <a:pt x="74053" y="176212"/>
                </a:lnTo>
                <a:lnTo>
                  <a:pt x="85140" y="174053"/>
                </a:lnTo>
                <a:lnTo>
                  <a:pt x="94183" y="168148"/>
                </a:lnTo>
                <a:lnTo>
                  <a:pt x="100291" y="159397"/>
                </a:lnTo>
                <a:lnTo>
                  <a:pt x="102527" y="148678"/>
                </a:lnTo>
                <a:close/>
              </a:path>
              <a:path w="197484" h="176529">
                <a:moveTo>
                  <a:pt x="102527" y="62407"/>
                </a:moveTo>
                <a:lnTo>
                  <a:pt x="100736" y="53835"/>
                </a:lnTo>
                <a:lnTo>
                  <a:pt x="95846" y="46837"/>
                </a:lnTo>
                <a:lnTo>
                  <a:pt x="88607" y="42113"/>
                </a:lnTo>
                <a:lnTo>
                  <a:pt x="79743" y="40386"/>
                </a:lnTo>
                <a:lnTo>
                  <a:pt x="70878" y="42113"/>
                </a:lnTo>
                <a:lnTo>
                  <a:pt x="63639" y="46837"/>
                </a:lnTo>
                <a:lnTo>
                  <a:pt x="58750" y="53835"/>
                </a:lnTo>
                <a:lnTo>
                  <a:pt x="56959" y="62407"/>
                </a:lnTo>
                <a:lnTo>
                  <a:pt x="58750" y="70980"/>
                </a:lnTo>
                <a:lnTo>
                  <a:pt x="63639" y="77990"/>
                </a:lnTo>
                <a:lnTo>
                  <a:pt x="70878" y="82702"/>
                </a:lnTo>
                <a:lnTo>
                  <a:pt x="79743" y="84442"/>
                </a:lnTo>
                <a:lnTo>
                  <a:pt x="88620" y="82702"/>
                </a:lnTo>
                <a:lnTo>
                  <a:pt x="95859" y="77978"/>
                </a:lnTo>
                <a:lnTo>
                  <a:pt x="100736" y="70980"/>
                </a:lnTo>
                <a:lnTo>
                  <a:pt x="102527" y="62407"/>
                </a:lnTo>
                <a:close/>
              </a:path>
              <a:path w="197484" h="176529">
                <a:moveTo>
                  <a:pt x="151892" y="91884"/>
                </a:moveTo>
                <a:lnTo>
                  <a:pt x="144246" y="84442"/>
                </a:lnTo>
                <a:lnTo>
                  <a:pt x="125361" y="84442"/>
                </a:lnTo>
                <a:lnTo>
                  <a:pt x="117716" y="91833"/>
                </a:lnTo>
                <a:lnTo>
                  <a:pt x="117716" y="110083"/>
                </a:lnTo>
                <a:lnTo>
                  <a:pt x="125361" y="117475"/>
                </a:lnTo>
                <a:lnTo>
                  <a:pt x="134797" y="117475"/>
                </a:lnTo>
                <a:lnTo>
                  <a:pt x="144246" y="117475"/>
                </a:lnTo>
                <a:lnTo>
                  <a:pt x="151892" y="110032"/>
                </a:lnTo>
                <a:lnTo>
                  <a:pt x="151892" y="91884"/>
                </a:lnTo>
                <a:close/>
              </a:path>
              <a:path w="197484" h="176529">
                <a:moveTo>
                  <a:pt x="151892" y="7391"/>
                </a:moveTo>
                <a:lnTo>
                  <a:pt x="144246" y="0"/>
                </a:lnTo>
                <a:lnTo>
                  <a:pt x="125361" y="0"/>
                </a:lnTo>
                <a:lnTo>
                  <a:pt x="117716" y="7391"/>
                </a:lnTo>
                <a:lnTo>
                  <a:pt x="117716" y="25641"/>
                </a:lnTo>
                <a:lnTo>
                  <a:pt x="125361" y="33045"/>
                </a:lnTo>
                <a:lnTo>
                  <a:pt x="134797" y="33045"/>
                </a:lnTo>
                <a:lnTo>
                  <a:pt x="144246" y="33045"/>
                </a:lnTo>
                <a:lnTo>
                  <a:pt x="151892" y="25641"/>
                </a:lnTo>
                <a:lnTo>
                  <a:pt x="151892" y="7391"/>
                </a:lnTo>
                <a:close/>
              </a:path>
              <a:path w="197484" h="176529">
                <a:moveTo>
                  <a:pt x="197459" y="47777"/>
                </a:moveTo>
                <a:lnTo>
                  <a:pt x="189814" y="40386"/>
                </a:lnTo>
                <a:lnTo>
                  <a:pt x="170916" y="40386"/>
                </a:lnTo>
                <a:lnTo>
                  <a:pt x="163283" y="47777"/>
                </a:lnTo>
                <a:lnTo>
                  <a:pt x="163283" y="66014"/>
                </a:lnTo>
                <a:lnTo>
                  <a:pt x="170929" y="73418"/>
                </a:lnTo>
                <a:lnTo>
                  <a:pt x="180365" y="73418"/>
                </a:lnTo>
                <a:lnTo>
                  <a:pt x="189814" y="73418"/>
                </a:lnTo>
                <a:lnTo>
                  <a:pt x="197459" y="66014"/>
                </a:lnTo>
                <a:lnTo>
                  <a:pt x="197459" y="47777"/>
                </a:lnTo>
                <a:close/>
              </a:path>
            </a:pathLst>
          </a:custGeom>
          <a:solidFill>
            <a:srgbClr val="00CFB5"/>
          </a:solidFill>
        </p:spPr>
        <p:txBody>
          <a:bodyPr wrap="square" lIns="0" tIns="0" rIns="0" bIns="0" rtlCol="0"/>
          <a:lstStyle/>
          <a:p>
            <a:endParaRPr dirty="0"/>
          </a:p>
        </p:txBody>
      </p:sp>
      <p:sp>
        <p:nvSpPr>
          <p:cNvPr id="72" name="object 74">
            <a:extLst>
              <a:ext uri="{FF2B5EF4-FFF2-40B4-BE49-F238E27FC236}">
                <a16:creationId xmlns:a16="http://schemas.microsoft.com/office/drawing/2014/main" id="{5AC93B49-3763-20ED-B279-B876888C3208}"/>
              </a:ext>
            </a:extLst>
          </p:cNvPr>
          <p:cNvSpPr/>
          <p:nvPr/>
        </p:nvSpPr>
        <p:spPr>
          <a:xfrm>
            <a:off x="7447166" y="4411243"/>
            <a:ext cx="38100" cy="36830"/>
          </a:xfrm>
          <a:custGeom>
            <a:avLst/>
            <a:gdLst/>
            <a:ahLst/>
            <a:cxnLst/>
            <a:rect l="l" t="t" r="r" b="b"/>
            <a:pathLst>
              <a:path w="38100" h="36829">
                <a:moveTo>
                  <a:pt x="26581" y="25692"/>
                </a:moveTo>
                <a:lnTo>
                  <a:pt x="22377" y="19989"/>
                </a:lnTo>
                <a:lnTo>
                  <a:pt x="21971" y="19431"/>
                </a:lnTo>
                <a:lnTo>
                  <a:pt x="23228" y="19024"/>
                </a:lnTo>
                <a:lnTo>
                  <a:pt x="24142" y="18516"/>
                </a:lnTo>
                <a:lnTo>
                  <a:pt x="24523" y="18110"/>
                </a:lnTo>
                <a:lnTo>
                  <a:pt x="25412" y="17157"/>
                </a:lnTo>
                <a:lnTo>
                  <a:pt x="25666" y="16548"/>
                </a:lnTo>
                <a:lnTo>
                  <a:pt x="25666" y="14224"/>
                </a:lnTo>
                <a:lnTo>
                  <a:pt x="25311" y="13652"/>
                </a:lnTo>
                <a:lnTo>
                  <a:pt x="25044" y="13157"/>
                </a:lnTo>
                <a:lnTo>
                  <a:pt x="24866" y="12941"/>
                </a:lnTo>
                <a:lnTo>
                  <a:pt x="24498" y="12585"/>
                </a:lnTo>
                <a:lnTo>
                  <a:pt x="23837" y="12179"/>
                </a:lnTo>
                <a:lnTo>
                  <a:pt x="22326" y="11379"/>
                </a:lnTo>
                <a:lnTo>
                  <a:pt x="22326" y="14846"/>
                </a:lnTo>
                <a:lnTo>
                  <a:pt x="22275" y="16319"/>
                </a:lnTo>
                <a:lnTo>
                  <a:pt x="19481" y="18110"/>
                </a:lnTo>
                <a:lnTo>
                  <a:pt x="14732" y="18110"/>
                </a:lnTo>
                <a:lnTo>
                  <a:pt x="14732" y="12941"/>
                </a:lnTo>
                <a:lnTo>
                  <a:pt x="19761" y="12941"/>
                </a:lnTo>
                <a:lnTo>
                  <a:pt x="22326" y="14846"/>
                </a:lnTo>
                <a:lnTo>
                  <a:pt x="22326" y="11379"/>
                </a:lnTo>
                <a:lnTo>
                  <a:pt x="20802" y="11023"/>
                </a:lnTo>
                <a:lnTo>
                  <a:pt x="11391" y="11023"/>
                </a:lnTo>
                <a:lnTo>
                  <a:pt x="11391" y="25692"/>
                </a:lnTo>
                <a:lnTo>
                  <a:pt x="14732" y="25692"/>
                </a:lnTo>
                <a:lnTo>
                  <a:pt x="14732" y="19989"/>
                </a:lnTo>
                <a:lnTo>
                  <a:pt x="18834" y="19989"/>
                </a:lnTo>
                <a:lnTo>
                  <a:pt x="22936" y="25692"/>
                </a:lnTo>
                <a:lnTo>
                  <a:pt x="26581" y="25692"/>
                </a:lnTo>
                <a:close/>
              </a:path>
              <a:path w="38100" h="36829">
                <a:moveTo>
                  <a:pt x="37960" y="13487"/>
                </a:moveTo>
                <a:lnTo>
                  <a:pt x="35941" y="8813"/>
                </a:lnTo>
                <a:lnTo>
                  <a:pt x="34772" y="7683"/>
                </a:lnTo>
                <a:lnTo>
                  <a:pt x="34772" y="14287"/>
                </a:lnTo>
                <a:lnTo>
                  <a:pt x="34772" y="22402"/>
                </a:lnTo>
                <a:lnTo>
                  <a:pt x="33108" y="26289"/>
                </a:lnTo>
                <a:lnTo>
                  <a:pt x="30175" y="29159"/>
                </a:lnTo>
                <a:lnTo>
                  <a:pt x="27178" y="32029"/>
                </a:lnTo>
                <a:lnTo>
                  <a:pt x="23177" y="33642"/>
                </a:lnTo>
                <a:lnTo>
                  <a:pt x="14782" y="33642"/>
                </a:lnTo>
                <a:lnTo>
                  <a:pt x="10731" y="32029"/>
                </a:lnTo>
                <a:lnTo>
                  <a:pt x="7797" y="29159"/>
                </a:lnTo>
                <a:lnTo>
                  <a:pt x="4800" y="26289"/>
                </a:lnTo>
                <a:lnTo>
                  <a:pt x="3136" y="22402"/>
                </a:lnTo>
                <a:lnTo>
                  <a:pt x="3136" y="14287"/>
                </a:lnTo>
                <a:lnTo>
                  <a:pt x="4800" y="10388"/>
                </a:lnTo>
                <a:lnTo>
                  <a:pt x="7747" y="7518"/>
                </a:lnTo>
                <a:lnTo>
                  <a:pt x="10731" y="4648"/>
                </a:lnTo>
                <a:lnTo>
                  <a:pt x="14782" y="3035"/>
                </a:lnTo>
                <a:lnTo>
                  <a:pt x="23177" y="3035"/>
                </a:lnTo>
                <a:lnTo>
                  <a:pt x="27178" y="4648"/>
                </a:lnTo>
                <a:lnTo>
                  <a:pt x="33159" y="10388"/>
                </a:lnTo>
                <a:lnTo>
                  <a:pt x="34772" y="14287"/>
                </a:lnTo>
                <a:lnTo>
                  <a:pt x="34772" y="7683"/>
                </a:lnTo>
                <a:lnTo>
                  <a:pt x="29984" y="3035"/>
                </a:lnTo>
                <a:lnTo>
                  <a:pt x="28854" y="1930"/>
                </a:lnTo>
                <a:lnTo>
                  <a:pt x="23990" y="0"/>
                </a:lnTo>
                <a:lnTo>
                  <a:pt x="13919" y="0"/>
                </a:lnTo>
                <a:lnTo>
                  <a:pt x="9105" y="1930"/>
                </a:lnTo>
                <a:lnTo>
                  <a:pt x="5511" y="5372"/>
                </a:lnTo>
                <a:lnTo>
                  <a:pt x="1968" y="8813"/>
                </a:lnTo>
                <a:lnTo>
                  <a:pt x="0" y="13487"/>
                </a:lnTo>
                <a:lnTo>
                  <a:pt x="0" y="23215"/>
                </a:lnTo>
                <a:lnTo>
                  <a:pt x="1968" y="27889"/>
                </a:lnTo>
                <a:lnTo>
                  <a:pt x="5511" y="31330"/>
                </a:lnTo>
                <a:lnTo>
                  <a:pt x="9105" y="34772"/>
                </a:lnTo>
                <a:lnTo>
                  <a:pt x="13919" y="36703"/>
                </a:lnTo>
                <a:lnTo>
                  <a:pt x="23990" y="36703"/>
                </a:lnTo>
                <a:lnTo>
                  <a:pt x="28854" y="34772"/>
                </a:lnTo>
                <a:lnTo>
                  <a:pt x="30022" y="33642"/>
                </a:lnTo>
                <a:lnTo>
                  <a:pt x="35941" y="27889"/>
                </a:lnTo>
                <a:lnTo>
                  <a:pt x="37960" y="23215"/>
                </a:lnTo>
                <a:lnTo>
                  <a:pt x="37960" y="13487"/>
                </a:lnTo>
                <a:close/>
              </a:path>
            </a:pathLst>
          </a:custGeom>
          <a:solidFill>
            <a:srgbClr val="181E37"/>
          </a:solidFill>
        </p:spPr>
        <p:txBody>
          <a:bodyPr wrap="square" lIns="0" tIns="0" rIns="0" bIns="0" rtlCol="0"/>
          <a:lstStyle/>
          <a:p>
            <a:endParaRPr dirty="0"/>
          </a:p>
        </p:txBody>
      </p:sp>
      <p:pic>
        <p:nvPicPr>
          <p:cNvPr id="73" name="object 75">
            <a:extLst>
              <a:ext uri="{FF2B5EF4-FFF2-40B4-BE49-F238E27FC236}">
                <a16:creationId xmlns:a16="http://schemas.microsoft.com/office/drawing/2014/main" id="{54CBD83F-9C01-FFA6-19FD-A22DFD25B10E}"/>
              </a:ext>
            </a:extLst>
          </p:cNvPr>
          <p:cNvPicPr/>
          <p:nvPr/>
        </p:nvPicPr>
        <p:blipFill>
          <a:blip r:embed="rId48" cstate="print"/>
          <a:stretch>
            <a:fillRect/>
          </a:stretch>
        </p:blipFill>
        <p:spPr>
          <a:xfrm>
            <a:off x="6648450" y="5965317"/>
            <a:ext cx="714375" cy="304800"/>
          </a:xfrm>
          <a:prstGeom prst="rect">
            <a:avLst/>
          </a:prstGeom>
        </p:spPr>
      </p:pic>
      <p:pic>
        <p:nvPicPr>
          <p:cNvPr id="74" name="object 76">
            <a:extLst>
              <a:ext uri="{FF2B5EF4-FFF2-40B4-BE49-F238E27FC236}">
                <a16:creationId xmlns:a16="http://schemas.microsoft.com/office/drawing/2014/main" id="{3A31ABEA-8E30-E682-CCFC-8D750AE4DCC0}"/>
              </a:ext>
            </a:extLst>
          </p:cNvPr>
          <p:cNvPicPr/>
          <p:nvPr/>
        </p:nvPicPr>
        <p:blipFill>
          <a:blip r:embed="rId49" cstate="print"/>
          <a:stretch>
            <a:fillRect/>
          </a:stretch>
        </p:blipFill>
        <p:spPr>
          <a:xfrm>
            <a:off x="10972800" y="4727067"/>
            <a:ext cx="628650" cy="400050"/>
          </a:xfrm>
          <a:prstGeom prst="rect">
            <a:avLst/>
          </a:prstGeom>
        </p:spPr>
      </p:pic>
      <p:pic>
        <p:nvPicPr>
          <p:cNvPr id="75" name="object 77">
            <a:extLst>
              <a:ext uri="{FF2B5EF4-FFF2-40B4-BE49-F238E27FC236}">
                <a16:creationId xmlns:a16="http://schemas.microsoft.com/office/drawing/2014/main" id="{BD1FD526-702B-D6EB-A7F1-47CAC582BE31}"/>
              </a:ext>
            </a:extLst>
          </p:cNvPr>
          <p:cNvPicPr/>
          <p:nvPr/>
        </p:nvPicPr>
        <p:blipFill>
          <a:blip r:embed="rId50" cstate="print"/>
          <a:stretch>
            <a:fillRect/>
          </a:stretch>
        </p:blipFill>
        <p:spPr>
          <a:xfrm>
            <a:off x="10296525" y="5317617"/>
            <a:ext cx="533400" cy="390525"/>
          </a:xfrm>
          <a:prstGeom prst="rect">
            <a:avLst/>
          </a:prstGeom>
        </p:spPr>
      </p:pic>
      <p:pic>
        <p:nvPicPr>
          <p:cNvPr id="76" name="object 78">
            <a:extLst>
              <a:ext uri="{FF2B5EF4-FFF2-40B4-BE49-F238E27FC236}">
                <a16:creationId xmlns:a16="http://schemas.microsoft.com/office/drawing/2014/main" id="{DE5AC120-D4D0-43ED-F005-5A4895C8E01B}"/>
              </a:ext>
            </a:extLst>
          </p:cNvPr>
          <p:cNvPicPr/>
          <p:nvPr/>
        </p:nvPicPr>
        <p:blipFill>
          <a:blip r:embed="rId51" cstate="print"/>
          <a:stretch>
            <a:fillRect/>
          </a:stretch>
        </p:blipFill>
        <p:spPr>
          <a:xfrm>
            <a:off x="7991475" y="6041517"/>
            <a:ext cx="571500" cy="152400"/>
          </a:xfrm>
          <a:prstGeom prst="rect">
            <a:avLst/>
          </a:prstGeom>
        </p:spPr>
      </p:pic>
      <p:pic>
        <p:nvPicPr>
          <p:cNvPr id="77" name="object 79">
            <a:extLst>
              <a:ext uri="{FF2B5EF4-FFF2-40B4-BE49-F238E27FC236}">
                <a16:creationId xmlns:a16="http://schemas.microsoft.com/office/drawing/2014/main" id="{3AE56C42-3A5E-76DB-43F2-4694A20E98C1}"/>
              </a:ext>
            </a:extLst>
          </p:cNvPr>
          <p:cNvPicPr/>
          <p:nvPr/>
        </p:nvPicPr>
        <p:blipFill>
          <a:blip r:embed="rId52" cstate="print"/>
          <a:stretch>
            <a:fillRect/>
          </a:stretch>
        </p:blipFill>
        <p:spPr>
          <a:xfrm>
            <a:off x="8924925" y="4584192"/>
            <a:ext cx="923925" cy="266700"/>
          </a:xfrm>
          <a:prstGeom prst="rect">
            <a:avLst/>
          </a:prstGeom>
        </p:spPr>
      </p:pic>
      <p:pic>
        <p:nvPicPr>
          <p:cNvPr id="78" name="object 80">
            <a:extLst>
              <a:ext uri="{FF2B5EF4-FFF2-40B4-BE49-F238E27FC236}">
                <a16:creationId xmlns:a16="http://schemas.microsoft.com/office/drawing/2014/main" id="{A118DE4F-D9F6-C7E0-A5B6-BE124E6C9840}"/>
              </a:ext>
            </a:extLst>
          </p:cNvPr>
          <p:cNvPicPr/>
          <p:nvPr/>
        </p:nvPicPr>
        <p:blipFill>
          <a:blip r:embed="rId53" cstate="print"/>
          <a:stretch>
            <a:fillRect/>
          </a:stretch>
        </p:blipFill>
        <p:spPr>
          <a:xfrm>
            <a:off x="9029700" y="5927217"/>
            <a:ext cx="438150" cy="247650"/>
          </a:xfrm>
          <a:prstGeom prst="rect">
            <a:avLst/>
          </a:prstGeom>
        </p:spPr>
      </p:pic>
      <p:pic>
        <p:nvPicPr>
          <p:cNvPr id="79" name="object 81">
            <a:extLst>
              <a:ext uri="{FF2B5EF4-FFF2-40B4-BE49-F238E27FC236}">
                <a16:creationId xmlns:a16="http://schemas.microsoft.com/office/drawing/2014/main" id="{AEC3864E-DC44-1671-F1CA-A04B8B61A83F}"/>
              </a:ext>
            </a:extLst>
          </p:cNvPr>
          <p:cNvPicPr/>
          <p:nvPr/>
        </p:nvPicPr>
        <p:blipFill>
          <a:blip r:embed="rId54" cstate="print"/>
          <a:stretch>
            <a:fillRect/>
          </a:stretch>
        </p:blipFill>
        <p:spPr>
          <a:xfrm>
            <a:off x="10306050" y="4650867"/>
            <a:ext cx="438150" cy="523875"/>
          </a:xfrm>
          <a:prstGeom prst="rect">
            <a:avLst/>
          </a:prstGeom>
        </p:spPr>
      </p:pic>
      <p:pic>
        <p:nvPicPr>
          <p:cNvPr id="80" name="object 82">
            <a:extLst>
              <a:ext uri="{FF2B5EF4-FFF2-40B4-BE49-F238E27FC236}">
                <a16:creationId xmlns:a16="http://schemas.microsoft.com/office/drawing/2014/main" id="{164FB379-96A9-4A5B-E153-EFC0FA3C77AD}"/>
              </a:ext>
            </a:extLst>
          </p:cNvPr>
          <p:cNvPicPr/>
          <p:nvPr/>
        </p:nvPicPr>
        <p:blipFill>
          <a:blip r:embed="rId55" cstate="print"/>
          <a:stretch>
            <a:fillRect/>
          </a:stretch>
        </p:blipFill>
        <p:spPr>
          <a:xfrm>
            <a:off x="9896475" y="5946267"/>
            <a:ext cx="809625" cy="323850"/>
          </a:xfrm>
          <a:prstGeom prst="rect">
            <a:avLst/>
          </a:prstGeom>
        </p:spPr>
      </p:pic>
      <p:pic>
        <p:nvPicPr>
          <p:cNvPr id="81" name="object 83">
            <a:extLst>
              <a:ext uri="{FF2B5EF4-FFF2-40B4-BE49-F238E27FC236}">
                <a16:creationId xmlns:a16="http://schemas.microsoft.com/office/drawing/2014/main" id="{AEC96282-9F3D-240B-5018-C400B8EE0C57}"/>
              </a:ext>
            </a:extLst>
          </p:cNvPr>
          <p:cNvPicPr/>
          <p:nvPr/>
        </p:nvPicPr>
        <p:blipFill>
          <a:blip r:embed="rId56" cstate="print"/>
          <a:stretch>
            <a:fillRect/>
          </a:stretch>
        </p:blipFill>
        <p:spPr>
          <a:xfrm>
            <a:off x="10829925" y="5898642"/>
            <a:ext cx="1133475" cy="361950"/>
          </a:xfrm>
          <a:prstGeom prst="rect">
            <a:avLst/>
          </a:prstGeom>
        </p:spPr>
      </p:pic>
      <p:pic>
        <p:nvPicPr>
          <p:cNvPr id="82" name="object 84">
            <a:extLst>
              <a:ext uri="{FF2B5EF4-FFF2-40B4-BE49-F238E27FC236}">
                <a16:creationId xmlns:a16="http://schemas.microsoft.com/office/drawing/2014/main" id="{27C18BFD-5821-855E-7038-7F15D9FC37C0}"/>
              </a:ext>
            </a:extLst>
          </p:cNvPr>
          <p:cNvPicPr/>
          <p:nvPr/>
        </p:nvPicPr>
        <p:blipFill>
          <a:blip r:embed="rId57" cstate="print"/>
          <a:stretch>
            <a:fillRect/>
          </a:stretch>
        </p:blipFill>
        <p:spPr>
          <a:xfrm>
            <a:off x="6562725" y="5346192"/>
            <a:ext cx="1028700" cy="333375"/>
          </a:xfrm>
          <a:prstGeom prst="rect">
            <a:avLst/>
          </a:prstGeom>
        </p:spPr>
      </p:pic>
      <p:pic>
        <p:nvPicPr>
          <p:cNvPr id="83" name="object 85">
            <a:extLst>
              <a:ext uri="{FF2B5EF4-FFF2-40B4-BE49-F238E27FC236}">
                <a16:creationId xmlns:a16="http://schemas.microsoft.com/office/drawing/2014/main" id="{C5B23659-378D-F2A4-76D3-A243D7A0C9DC}"/>
              </a:ext>
            </a:extLst>
          </p:cNvPr>
          <p:cNvPicPr/>
          <p:nvPr/>
        </p:nvPicPr>
        <p:blipFill>
          <a:blip r:embed="rId58" cstate="print"/>
          <a:stretch>
            <a:fillRect/>
          </a:stretch>
        </p:blipFill>
        <p:spPr>
          <a:xfrm>
            <a:off x="10680786" y="1102824"/>
            <a:ext cx="1171575" cy="228600"/>
          </a:xfrm>
          <a:prstGeom prst="rect">
            <a:avLst/>
          </a:prstGeom>
        </p:spPr>
      </p:pic>
      <p:pic>
        <p:nvPicPr>
          <p:cNvPr id="84" name="object 86">
            <a:extLst>
              <a:ext uri="{FF2B5EF4-FFF2-40B4-BE49-F238E27FC236}">
                <a16:creationId xmlns:a16="http://schemas.microsoft.com/office/drawing/2014/main" id="{8D6B71B2-9473-DA84-3892-E5AD1489E0C6}"/>
              </a:ext>
            </a:extLst>
          </p:cNvPr>
          <p:cNvPicPr/>
          <p:nvPr/>
        </p:nvPicPr>
        <p:blipFill>
          <a:blip r:embed="rId59" cstate="print"/>
          <a:stretch>
            <a:fillRect/>
          </a:stretch>
        </p:blipFill>
        <p:spPr>
          <a:xfrm>
            <a:off x="2347561" y="4572724"/>
            <a:ext cx="1027126" cy="187263"/>
          </a:xfrm>
          <a:prstGeom prst="rect">
            <a:avLst/>
          </a:prstGeom>
        </p:spPr>
      </p:pic>
      <p:pic>
        <p:nvPicPr>
          <p:cNvPr id="85" name="object 87">
            <a:extLst>
              <a:ext uri="{FF2B5EF4-FFF2-40B4-BE49-F238E27FC236}">
                <a16:creationId xmlns:a16="http://schemas.microsoft.com/office/drawing/2014/main" id="{52062B36-D3BD-731E-739F-52533E7212C0}"/>
              </a:ext>
            </a:extLst>
          </p:cNvPr>
          <p:cNvPicPr/>
          <p:nvPr/>
        </p:nvPicPr>
        <p:blipFill>
          <a:blip r:embed="rId60" cstate="print"/>
          <a:stretch>
            <a:fillRect/>
          </a:stretch>
        </p:blipFill>
        <p:spPr>
          <a:xfrm>
            <a:off x="1524000" y="4079367"/>
            <a:ext cx="971550" cy="323850"/>
          </a:xfrm>
          <a:prstGeom prst="rect">
            <a:avLst/>
          </a:prstGeom>
        </p:spPr>
      </p:pic>
      <p:pic>
        <p:nvPicPr>
          <p:cNvPr id="86" name="object 89">
            <a:extLst>
              <a:ext uri="{FF2B5EF4-FFF2-40B4-BE49-F238E27FC236}">
                <a16:creationId xmlns:a16="http://schemas.microsoft.com/office/drawing/2014/main" id="{E4427B72-507F-8FF3-84EB-1763C27ECA3F}"/>
              </a:ext>
            </a:extLst>
          </p:cNvPr>
          <p:cNvPicPr/>
          <p:nvPr/>
        </p:nvPicPr>
        <p:blipFill>
          <a:blip r:embed="rId61" cstate="print"/>
          <a:stretch>
            <a:fillRect/>
          </a:stretch>
        </p:blipFill>
        <p:spPr>
          <a:xfrm>
            <a:off x="390525" y="3774567"/>
            <a:ext cx="1000125" cy="733425"/>
          </a:xfrm>
          <a:prstGeom prst="rect">
            <a:avLst/>
          </a:prstGeom>
        </p:spPr>
      </p:pic>
      <p:pic>
        <p:nvPicPr>
          <p:cNvPr id="87" name="object 90">
            <a:extLst>
              <a:ext uri="{FF2B5EF4-FFF2-40B4-BE49-F238E27FC236}">
                <a16:creationId xmlns:a16="http://schemas.microsoft.com/office/drawing/2014/main" id="{13EF6423-BE63-1B44-79F1-3322F132F978}"/>
              </a:ext>
            </a:extLst>
          </p:cNvPr>
          <p:cNvPicPr/>
          <p:nvPr/>
        </p:nvPicPr>
        <p:blipFill>
          <a:blip r:embed="rId62" cstate="print"/>
          <a:stretch>
            <a:fillRect/>
          </a:stretch>
        </p:blipFill>
        <p:spPr>
          <a:xfrm>
            <a:off x="409575" y="4384167"/>
            <a:ext cx="514350" cy="523875"/>
          </a:xfrm>
          <a:prstGeom prst="rect">
            <a:avLst/>
          </a:prstGeom>
        </p:spPr>
      </p:pic>
      <p:pic>
        <p:nvPicPr>
          <p:cNvPr id="88" name="object 91">
            <a:extLst>
              <a:ext uri="{FF2B5EF4-FFF2-40B4-BE49-F238E27FC236}">
                <a16:creationId xmlns:a16="http://schemas.microsoft.com/office/drawing/2014/main" id="{DD9970C1-71CE-2A5D-7A1C-5E1E5F63E698}"/>
              </a:ext>
            </a:extLst>
          </p:cNvPr>
          <p:cNvPicPr/>
          <p:nvPr/>
        </p:nvPicPr>
        <p:blipFill>
          <a:blip r:embed="rId63" cstate="print"/>
          <a:stretch>
            <a:fillRect/>
          </a:stretch>
        </p:blipFill>
        <p:spPr>
          <a:xfrm>
            <a:off x="1076325" y="4469892"/>
            <a:ext cx="1085850" cy="371475"/>
          </a:xfrm>
          <a:prstGeom prst="rect">
            <a:avLst/>
          </a:prstGeom>
        </p:spPr>
      </p:pic>
      <p:pic>
        <p:nvPicPr>
          <p:cNvPr id="89" name="object 92">
            <a:extLst>
              <a:ext uri="{FF2B5EF4-FFF2-40B4-BE49-F238E27FC236}">
                <a16:creationId xmlns:a16="http://schemas.microsoft.com/office/drawing/2014/main" id="{94BCA309-5A74-E80C-D374-5873017A9ED6}"/>
              </a:ext>
            </a:extLst>
          </p:cNvPr>
          <p:cNvPicPr/>
          <p:nvPr/>
        </p:nvPicPr>
        <p:blipFill>
          <a:blip r:embed="rId64" cstate="print"/>
          <a:stretch>
            <a:fillRect/>
          </a:stretch>
        </p:blipFill>
        <p:spPr>
          <a:xfrm>
            <a:off x="390525" y="5489067"/>
            <a:ext cx="809625" cy="133350"/>
          </a:xfrm>
          <a:prstGeom prst="rect">
            <a:avLst/>
          </a:prstGeom>
        </p:spPr>
      </p:pic>
      <p:pic>
        <p:nvPicPr>
          <p:cNvPr id="90" name="object 93">
            <a:extLst>
              <a:ext uri="{FF2B5EF4-FFF2-40B4-BE49-F238E27FC236}">
                <a16:creationId xmlns:a16="http://schemas.microsoft.com/office/drawing/2014/main" id="{E78EBD15-51B3-D8DB-024B-59420B7C4EF9}"/>
              </a:ext>
            </a:extLst>
          </p:cNvPr>
          <p:cNvPicPr/>
          <p:nvPr/>
        </p:nvPicPr>
        <p:blipFill>
          <a:blip r:embed="rId65" cstate="print"/>
          <a:stretch>
            <a:fillRect/>
          </a:stretch>
        </p:blipFill>
        <p:spPr>
          <a:xfrm>
            <a:off x="1362075" y="5574792"/>
            <a:ext cx="819150" cy="257175"/>
          </a:xfrm>
          <a:prstGeom prst="rect">
            <a:avLst/>
          </a:prstGeom>
        </p:spPr>
      </p:pic>
      <p:pic>
        <p:nvPicPr>
          <p:cNvPr id="91" name="object 94">
            <a:extLst>
              <a:ext uri="{FF2B5EF4-FFF2-40B4-BE49-F238E27FC236}">
                <a16:creationId xmlns:a16="http://schemas.microsoft.com/office/drawing/2014/main" id="{BFC58805-C99E-AD37-5F58-47D54BEDC81D}"/>
              </a:ext>
            </a:extLst>
          </p:cNvPr>
          <p:cNvPicPr/>
          <p:nvPr/>
        </p:nvPicPr>
        <p:blipFill>
          <a:blip r:embed="rId66" cstate="print"/>
          <a:stretch>
            <a:fillRect/>
          </a:stretch>
        </p:blipFill>
        <p:spPr>
          <a:xfrm>
            <a:off x="409575" y="5812917"/>
            <a:ext cx="723900" cy="445072"/>
          </a:xfrm>
          <a:prstGeom prst="rect">
            <a:avLst/>
          </a:prstGeom>
        </p:spPr>
      </p:pic>
      <p:pic>
        <p:nvPicPr>
          <p:cNvPr id="92" name="object 95">
            <a:extLst>
              <a:ext uri="{FF2B5EF4-FFF2-40B4-BE49-F238E27FC236}">
                <a16:creationId xmlns:a16="http://schemas.microsoft.com/office/drawing/2014/main" id="{8D7FB657-CCD5-00E9-BDE0-862CF8E2E87B}"/>
              </a:ext>
            </a:extLst>
          </p:cNvPr>
          <p:cNvPicPr/>
          <p:nvPr/>
        </p:nvPicPr>
        <p:blipFill>
          <a:blip r:embed="rId67" cstate="print"/>
          <a:stretch>
            <a:fillRect/>
          </a:stretch>
        </p:blipFill>
        <p:spPr>
          <a:xfrm>
            <a:off x="2343150" y="5365242"/>
            <a:ext cx="838200" cy="438150"/>
          </a:xfrm>
          <a:prstGeom prst="rect">
            <a:avLst/>
          </a:prstGeom>
        </p:spPr>
      </p:pic>
      <p:pic>
        <p:nvPicPr>
          <p:cNvPr id="93" name="object 97">
            <a:extLst>
              <a:ext uri="{FF2B5EF4-FFF2-40B4-BE49-F238E27FC236}">
                <a16:creationId xmlns:a16="http://schemas.microsoft.com/office/drawing/2014/main" id="{40D46BF1-7DFD-EA9F-4998-7F1354CA4F63}"/>
              </a:ext>
            </a:extLst>
          </p:cNvPr>
          <p:cNvPicPr/>
          <p:nvPr/>
        </p:nvPicPr>
        <p:blipFill>
          <a:blip r:embed="rId68" cstate="print"/>
          <a:stretch>
            <a:fillRect/>
          </a:stretch>
        </p:blipFill>
        <p:spPr>
          <a:xfrm>
            <a:off x="1241686" y="6025408"/>
            <a:ext cx="1531982" cy="208009"/>
          </a:xfrm>
          <a:prstGeom prst="rect">
            <a:avLst/>
          </a:prstGeom>
        </p:spPr>
      </p:pic>
      <p:pic>
        <p:nvPicPr>
          <p:cNvPr id="94" name="object 98">
            <a:extLst>
              <a:ext uri="{FF2B5EF4-FFF2-40B4-BE49-F238E27FC236}">
                <a16:creationId xmlns:a16="http://schemas.microsoft.com/office/drawing/2014/main" id="{880220B2-3E23-2D7C-23E3-0FDCDFF04471}"/>
              </a:ext>
            </a:extLst>
          </p:cNvPr>
          <p:cNvPicPr/>
          <p:nvPr/>
        </p:nvPicPr>
        <p:blipFill>
          <a:blip r:embed="rId69" cstate="print"/>
          <a:stretch>
            <a:fillRect/>
          </a:stretch>
        </p:blipFill>
        <p:spPr>
          <a:xfrm>
            <a:off x="2752725" y="5917692"/>
            <a:ext cx="781050" cy="438150"/>
          </a:xfrm>
          <a:prstGeom prst="rect">
            <a:avLst/>
          </a:prstGeom>
        </p:spPr>
      </p:pic>
      <p:pic>
        <p:nvPicPr>
          <p:cNvPr id="95" name="object 99">
            <a:extLst>
              <a:ext uri="{FF2B5EF4-FFF2-40B4-BE49-F238E27FC236}">
                <a16:creationId xmlns:a16="http://schemas.microsoft.com/office/drawing/2014/main" id="{1EEF696B-8ED5-5730-AC94-C8CBE9214FDC}"/>
              </a:ext>
            </a:extLst>
          </p:cNvPr>
          <p:cNvPicPr/>
          <p:nvPr/>
        </p:nvPicPr>
        <p:blipFill>
          <a:blip r:embed="rId70" cstate="print"/>
          <a:stretch>
            <a:fillRect/>
          </a:stretch>
        </p:blipFill>
        <p:spPr>
          <a:xfrm>
            <a:off x="4200525" y="5508117"/>
            <a:ext cx="466725" cy="228600"/>
          </a:xfrm>
          <a:prstGeom prst="rect">
            <a:avLst/>
          </a:prstGeom>
        </p:spPr>
      </p:pic>
      <p:pic>
        <p:nvPicPr>
          <p:cNvPr id="96" name="object 100">
            <a:extLst>
              <a:ext uri="{FF2B5EF4-FFF2-40B4-BE49-F238E27FC236}">
                <a16:creationId xmlns:a16="http://schemas.microsoft.com/office/drawing/2014/main" id="{21361257-14C0-6F8A-6DA4-34EABF57F177}"/>
              </a:ext>
            </a:extLst>
          </p:cNvPr>
          <p:cNvPicPr/>
          <p:nvPr/>
        </p:nvPicPr>
        <p:blipFill>
          <a:blip r:embed="rId71" cstate="print"/>
          <a:stretch>
            <a:fillRect/>
          </a:stretch>
        </p:blipFill>
        <p:spPr>
          <a:xfrm>
            <a:off x="4038600" y="5927217"/>
            <a:ext cx="571500" cy="295275"/>
          </a:xfrm>
          <a:prstGeom prst="rect">
            <a:avLst/>
          </a:prstGeom>
        </p:spPr>
      </p:pic>
      <p:pic>
        <p:nvPicPr>
          <p:cNvPr id="97" name="object 101">
            <a:extLst>
              <a:ext uri="{FF2B5EF4-FFF2-40B4-BE49-F238E27FC236}">
                <a16:creationId xmlns:a16="http://schemas.microsoft.com/office/drawing/2014/main" id="{1A0C4B76-F389-6C92-0205-9E60A0DBD2B3}"/>
              </a:ext>
            </a:extLst>
          </p:cNvPr>
          <p:cNvPicPr/>
          <p:nvPr/>
        </p:nvPicPr>
        <p:blipFill>
          <a:blip r:embed="rId72" cstate="print"/>
          <a:stretch>
            <a:fillRect/>
          </a:stretch>
        </p:blipFill>
        <p:spPr>
          <a:xfrm>
            <a:off x="5543550" y="5889117"/>
            <a:ext cx="438150" cy="342900"/>
          </a:xfrm>
          <a:prstGeom prst="rect">
            <a:avLst/>
          </a:prstGeom>
        </p:spPr>
      </p:pic>
      <p:pic>
        <p:nvPicPr>
          <p:cNvPr id="98" name="object 102">
            <a:extLst>
              <a:ext uri="{FF2B5EF4-FFF2-40B4-BE49-F238E27FC236}">
                <a16:creationId xmlns:a16="http://schemas.microsoft.com/office/drawing/2014/main" id="{5E7E67A8-E0F2-6DEE-97AE-77D550F3AF38}"/>
              </a:ext>
            </a:extLst>
          </p:cNvPr>
          <p:cNvPicPr/>
          <p:nvPr/>
        </p:nvPicPr>
        <p:blipFill>
          <a:blip r:embed="rId73" cstate="print"/>
          <a:stretch>
            <a:fillRect/>
          </a:stretch>
        </p:blipFill>
        <p:spPr>
          <a:xfrm>
            <a:off x="6534517" y="1166296"/>
            <a:ext cx="504124" cy="502920"/>
          </a:xfrm>
          <a:prstGeom prst="rect">
            <a:avLst/>
          </a:prstGeom>
        </p:spPr>
      </p:pic>
      <p:pic>
        <p:nvPicPr>
          <p:cNvPr id="99" name="object 104">
            <a:extLst>
              <a:ext uri="{FF2B5EF4-FFF2-40B4-BE49-F238E27FC236}">
                <a16:creationId xmlns:a16="http://schemas.microsoft.com/office/drawing/2014/main" id="{4F7F7BE1-9A5D-7957-63B7-77A9B7C4950E}"/>
              </a:ext>
            </a:extLst>
          </p:cNvPr>
          <p:cNvPicPr/>
          <p:nvPr/>
        </p:nvPicPr>
        <p:blipFill>
          <a:blip r:embed="rId74" cstate="print"/>
          <a:stretch>
            <a:fillRect/>
          </a:stretch>
        </p:blipFill>
        <p:spPr>
          <a:xfrm>
            <a:off x="7191375" y="859917"/>
            <a:ext cx="1133475" cy="600075"/>
          </a:xfrm>
          <a:prstGeom prst="rect">
            <a:avLst/>
          </a:prstGeom>
        </p:spPr>
      </p:pic>
      <p:pic>
        <p:nvPicPr>
          <p:cNvPr id="100" name="object 105">
            <a:extLst>
              <a:ext uri="{FF2B5EF4-FFF2-40B4-BE49-F238E27FC236}">
                <a16:creationId xmlns:a16="http://schemas.microsoft.com/office/drawing/2014/main" id="{98C6B1F6-9F4C-7C15-A0E3-B0EED75A68B3}"/>
              </a:ext>
            </a:extLst>
          </p:cNvPr>
          <p:cNvPicPr/>
          <p:nvPr/>
        </p:nvPicPr>
        <p:blipFill>
          <a:blip r:embed="rId75" cstate="print"/>
          <a:stretch>
            <a:fillRect/>
          </a:stretch>
        </p:blipFill>
        <p:spPr>
          <a:xfrm>
            <a:off x="7143750" y="1440942"/>
            <a:ext cx="581025" cy="504825"/>
          </a:xfrm>
          <a:prstGeom prst="rect">
            <a:avLst/>
          </a:prstGeom>
        </p:spPr>
      </p:pic>
      <p:pic>
        <p:nvPicPr>
          <p:cNvPr id="101" name="object 106">
            <a:extLst>
              <a:ext uri="{FF2B5EF4-FFF2-40B4-BE49-F238E27FC236}">
                <a16:creationId xmlns:a16="http://schemas.microsoft.com/office/drawing/2014/main" id="{B5159AB3-5DE0-DE81-5838-63F32F57FBB0}"/>
              </a:ext>
            </a:extLst>
          </p:cNvPr>
          <p:cNvPicPr/>
          <p:nvPr/>
        </p:nvPicPr>
        <p:blipFill>
          <a:blip r:embed="rId76" cstate="print"/>
          <a:stretch>
            <a:fillRect/>
          </a:stretch>
        </p:blipFill>
        <p:spPr>
          <a:xfrm>
            <a:off x="7782829" y="1364976"/>
            <a:ext cx="1133414" cy="275860"/>
          </a:xfrm>
          <a:prstGeom prst="rect">
            <a:avLst/>
          </a:prstGeom>
        </p:spPr>
      </p:pic>
      <p:pic>
        <p:nvPicPr>
          <p:cNvPr id="102" name="object 107">
            <a:extLst>
              <a:ext uri="{FF2B5EF4-FFF2-40B4-BE49-F238E27FC236}">
                <a16:creationId xmlns:a16="http://schemas.microsoft.com/office/drawing/2014/main" id="{5EF2F917-B57C-5FB0-0FDA-AF1B1E8D2587}"/>
              </a:ext>
            </a:extLst>
          </p:cNvPr>
          <p:cNvPicPr/>
          <p:nvPr/>
        </p:nvPicPr>
        <p:blipFill>
          <a:blip r:embed="rId77" cstate="print"/>
          <a:stretch>
            <a:fillRect/>
          </a:stretch>
        </p:blipFill>
        <p:spPr>
          <a:xfrm>
            <a:off x="9487685" y="1100763"/>
            <a:ext cx="861027" cy="398206"/>
          </a:xfrm>
          <a:prstGeom prst="rect">
            <a:avLst/>
          </a:prstGeom>
        </p:spPr>
      </p:pic>
      <p:pic>
        <p:nvPicPr>
          <p:cNvPr id="103" name="object 109">
            <a:extLst>
              <a:ext uri="{FF2B5EF4-FFF2-40B4-BE49-F238E27FC236}">
                <a16:creationId xmlns:a16="http://schemas.microsoft.com/office/drawing/2014/main" id="{1D0536D6-C674-E89B-715D-0B74DD035A69}"/>
              </a:ext>
            </a:extLst>
          </p:cNvPr>
          <p:cNvPicPr/>
          <p:nvPr/>
        </p:nvPicPr>
        <p:blipFill>
          <a:blip r:embed="rId78" cstate="print"/>
          <a:stretch>
            <a:fillRect/>
          </a:stretch>
        </p:blipFill>
        <p:spPr>
          <a:xfrm>
            <a:off x="10732604" y="983981"/>
            <a:ext cx="1000125" cy="1000125"/>
          </a:xfrm>
          <a:prstGeom prst="rect">
            <a:avLst/>
          </a:prstGeom>
        </p:spPr>
      </p:pic>
      <p:pic>
        <p:nvPicPr>
          <p:cNvPr id="104" name="object 110">
            <a:extLst>
              <a:ext uri="{FF2B5EF4-FFF2-40B4-BE49-F238E27FC236}">
                <a16:creationId xmlns:a16="http://schemas.microsoft.com/office/drawing/2014/main" id="{E55E8DE5-C76E-7173-4042-03F6321C6A7D}"/>
              </a:ext>
            </a:extLst>
          </p:cNvPr>
          <p:cNvPicPr/>
          <p:nvPr/>
        </p:nvPicPr>
        <p:blipFill>
          <a:blip r:embed="rId79" cstate="print"/>
          <a:stretch>
            <a:fillRect/>
          </a:stretch>
        </p:blipFill>
        <p:spPr>
          <a:xfrm>
            <a:off x="10766146" y="1638925"/>
            <a:ext cx="1000125" cy="333375"/>
          </a:xfrm>
          <a:prstGeom prst="rect">
            <a:avLst/>
          </a:prstGeom>
        </p:spPr>
      </p:pic>
      <p:pic>
        <p:nvPicPr>
          <p:cNvPr id="105" name="object 112">
            <a:extLst>
              <a:ext uri="{FF2B5EF4-FFF2-40B4-BE49-F238E27FC236}">
                <a16:creationId xmlns:a16="http://schemas.microsoft.com/office/drawing/2014/main" id="{92A0D5A5-5C03-9D31-F0FC-860C49B97476}"/>
              </a:ext>
            </a:extLst>
          </p:cNvPr>
          <p:cNvPicPr/>
          <p:nvPr/>
        </p:nvPicPr>
        <p:blipFill>
          <a:blip r:embed="rId80" cstate="print"/>
          <a:stretch>
            <a:fillRect/>
          </a:stretch>
        </p:blipFill>
        <p:spPr>
          <a:xfrm>
            <a:off x="9472047" y="2884412"/>
            <a:ext cx="782180" cy="180109"/>
          </a:xfrm>
          <a:prstGeom prst="rect">
            <a:avLst/>
          </a:prstGeom>
        </p:spPr>
      </p:pic>
      <p:pic>
        <p:nvPicPr>
          <p:cNvPr id="106" name="object 113">
            <a:extLst>
              <a:ext uri="{FF2B5EF4-FFF2-40B4-BE49-F238E27FC236}">
                <a16:creationId xmlns:a16="http://schemas.microsoft.com/office/drawing/2014/main" id="{29C9A6F2-2A50-2311-8AE2-94B71AFD6204}"/>
              </a:ext>
            </a:extLst>
          </p:cNvPr>
          <p:cNvPicPr/>
          <p:nvPr/>
        </p:nvPicPr>
        <p:blipFill>
          <a:blip r:embed="rId81" cstate="print"/>
          <a:stretch>
            <a:fillRect/>
          </a:stretch>
        </p:blipFill>
        <p:spPr>
          <a:xfrm>
            <a:off x="10182224" y="2583942"/>
            <a:ext cx="857250" cy="361950"/>
          </a:xfrm>
          <a:prstGeom prst="rect">
            <a:avLst/>
          </a:prstGeom>
        </p:spPr>
      </p:pic>
      <p:pic>
        <p:nvPicPr>
          <p:cNvPr id="107" name="object 114">
            <a:extLst>
              <a:ext uri="{FF2B5EF4-FFF2-40B4-BE49-F238E27FC236}">
                <a16:creationId xmlns:a16="http://schemas.microsoft.com/office/drawing/2014/main" id="{06EB0419-8F08-7471-7F10-8BAB29D2CA4D}"/>
              </a:ext>
            </a:extLst>
          </p:cNvPr>
          <p:cNvPicPr/>
          <p:nvPr/>
        </p:nvPicPr>
        <p:blipFill>
          <a:blip r:embed="rId82" cstate="print"/>
          <a:stretch>
            <a:fillRect/>
          </a:stretch>
        </p:blipFill>
        <p:spPr>
          <a:xfrm>
            <a:off x="11072664" y="2569337"/>
            <a:ext cx="455168" cy="360341"/>
          </a:xfrm>
          <a:prstGeom prst="rect">
            <a:avLst/>
          </a:prstGeom>
        </p:spPr>
      </p:pic>
      <p:pic>
        <p:nvPicPr>
          <p:cNvPr id="108" name="object 115">
            <a:extLst>
              <a:ext uri="{FF2B5EF4-FFF2-40B4-BE49-F238E27FC236}">
                <a16:creationId xmlns:a16="http://schemas.microsoft.com/office/drawing/2014/main" id="{0800DC8A-44A4-1BDF-9B2C-94691BE8835D}"/>
              </a:ext>
            </a:extLst>
          </p:cNvPr>
          <p:cNvPicPr/>
          <p:nvPr/>
        </p:nvPicPr>
        <p:blipFill>
          <a:blip r:embed="rId83" cstate="print"/>
          <a:stretch>
            <a:fillRect/>
          </a:stretch>
        </p:blipFill>
        <p:spPr>
          <a:xfrm>
            <a:off x="11125896" y="3039984"/>
            <a:ext cx="468351" cy="294829"/>
          </a:xfrm>
          <a:prstGeom prst="rect">
            <a:avLst/>
          </a:prstGeom>
        </p:spPr>
      </p:pic>
      <p:pic>
        <p:nvPicPr>
          <p:cNvPr id="109" name="object 116">
            <a:extLst>
              <a:ext uri="{FF2B5EF4-FFF2-40B4-BE49-F238E27FC236}">
                <a16:creationId xmlns:a16="http://schemas.microsoft.com/office/drawing/2014/main" id="{181C9784-A4C1-483D-8F83-DCF7561F76FD}"/>
              </a:ext>
            </a:extLst>
          </p:cNvPr>
          <p:cNvPicPr/>
          <p:nvPr/>
        </p:nvPicPr>
        <p:blipFill>
          <a:blip r:embed="rId84" cstate="print"/>
          <a:stretch>
            <a:fillRect/>
          </a:stretch>
        </p:blipFill>
        <p:spPr>
          <a:xfrm>
            <a:off x="9417990" y="2643473"/>
            <a:ext cx="709319" cy="123641"/>
          </a:xfrm>
          <a:prstGeom prst="rect">
            <a:avLst/>
          </a:prstGeom>
        </p:spPr>
      </p:pic>
      <p:pic>
        <p:nvPicPr>
          <p:cNvPr id="110" name="object 117">
            <a:extLst>
              <a:ext uri="{FF2B5EF4-FFF2-40B4-BE49-F238E27FC236}">
                <a16:creationId xmlns:a16="http://schemas.microsoft.com/office/drawing/2014/main" id="{E92968F7-A7A9-2513-7841-C319FC730AA3}"/>
              </a:ext>
            </a:extLst>
          </p:cNvPr>
          <p:cNvPicPr/>
          <p:nvPr/>
        </p:nvPicPr>
        <p:blipFill>
          <a:blip r:embed="rId85" cstate="print"/>
          <a:stretch>
            <a:fillRect/>
          </a:stretch>
        </p:blipFill>
        <p:spPr>
          <a:xfrm>
            <a:off x="9896475" y="3117342"/>
            <a:ext cx="933450" cy="219075"/>
          </a:xfrm>
          <a:prstGeom prst="rect">
            <a:avLst/>
          </a:prstGeom>
        </p:spPr>
      </p:pic>
      <p:pic>
        <p:nvPicPr>
          <p:cNvPr id="111" name="object 118">
            <a:extLst>
              <a:ext uri="{FF2B5EF4-FFF2-40B4-BE49-F238E27FC236}">
                <a16:creationId xmlns:a16="http://schemas.microsoft.com/office/drawing/2014/main" id="{687C83D7-5783-B908-B105-5508AB4C712F}"/>
              </a:ext>
            </a:extLst>
          </p:cNvPr>
          <p:cNvPicPr/>
          <p:nvPr/>
        </p:nvPicPr>
        <p:blipFill>
          <a:blip r:embed="rId86" cstate="print"/>
          <a:stretch>
            <a:fillRect/>
          </a:stretch>
        </p:blipFill>
        <p:spPr>
          <a:xfrm>
            <a:off x="6491118" y="2474240"/>
            <a:ext cx="643106" cy="262101"/>
          </a:xfrm>
          <a:prstGeom prst="rect">
            <a:avLst/>
          </a:prstGeom>
        </p:spPr>
      </p:pic>
      <p:pic>
        <p:nvPicPr>
          <p:cNvPr id="112" name="object 120">
            <a:extLst>
              <a:ext uri="{FF2B5EF4-FFF2-40B4-BE49-F238E27FC236}">
                <a16:creationId xmlns:a16="http://schemas.microsoft.com/office/drawing/2014/main" id="{141FEDEB-67D4-4797-DB0E-66BE7C243186}"/>
              </a:ext>
            </a:extLst>
          </p:cNvPr>
          <p:cNvPicPr/>
          <p:nvPr/>
        </p:nvPicPr>
        <p:blipFill>
          <a:blip r:embed="rId87" cstate="print"/>
          <a:stretch>
            <a:fillRect/>
          </a:stretch>
        </p:blipFill>
        <p:spPr>
          <a:xfrm>
            <a:off x="6550231" y="2830107"/>
            <a:ext cx="952005" cy="256309"/>
          </a:xfrm>
          <a:prstGeom prst="rect">
            <a:avLst/>
          </a:prstGeom>
        </p:spPr>
      </p:pic>
      <p:pic>
        <p:nvPicPr>
          <p:cNvPr id="113" name="object 121">
            <a:extLst>
              <a:ext uri="{FF2B5EF4-FFF2-40B4-BE49-F238E27FC236}">
                <a16:creationId xmlns:a16="http://schemas.microsoft.com/office/drawing/2014/main" id="{9294E84E-3DD6-C7D1-77A5-675EE0646478}"/>
              </a:ext>
            </a:extLst>
          </p:cNvPr>
          <p:cNvPicPr/>
          <p:nvPr/>
        </p:nvPicPr>
        <p:blipFill>
          <a:blip r:embed="rId88" cstate="print"/>
          <a:stretch>
            <a:fillRect/>
          </a:stretch>
        </p:blipFill>
        <p:spPr>
          <a:xfrm>
            <a:off x="7515225" y="2641092"/>
            <a:ext cx="533400" cy="228600"/>
          </a:xfrm>
          <a:prstGeom prst="rect">
            <a:avLst/>
          </a:prstGeom>
        </p:spPr>
      </p:pic>
      <p:pic>
        <p:nvPicPr>
          <p:cNvPr id="114" name="object 122">
            <a:extLst>
              <a:ext uri="{FF2B5EF4-FFF2-40B4-BE49-F238E27FC236}">
                <a16:creationId xmlns:a16="http://schemas.microsoft.com/office/drawing/2014/main" id="{ADB61B17-E77E-B611-B81B-9259CDC614CE}"/>
              </a:ext>
            </a:extLst>
          </p:cNvPr>
          <p:cNvPicPr/>
          <p:nvPr/>
        </p:nvPicPr>
        <p:blipFill>
          <a:blip r:embed="rId89" cstate="print"/>
          <a:stretch>
            <a:fillRect/>
          </a:stretch>
        </p:blipFill>
        <p:spPr>
          <a:xfrm>
            <a:off x="7581900" y="2937248"/>
            <a:ext cx="933450" cy="335756"/>
          </a:xfrm>
          <a:prstGeom prst="rect">
            <a:avLst/>
          </a:prstGeom>
        </p:spPr>
      </p:pic>
      <p:pic>
        <p:nvPicPr>
          <p:cNvPr id="115" name="object 123">
            <a:extLst>
              <a:ext uri="{FF2B5EF4-FFF2-40B4-BE49-F238E27FC236}">
                <a16:creationId xmlns:a16="http://schemas.microsoft.com/office/drawing/2014/main" id="{460A7C14-A3CB-2E2F-7D04-B44561977F2B}"/>
              </a:ext>
            </a:extLst>
          </p:cNvPr>
          <p:cNvPicPr/>
          <p:nvPr/>
        </p:nvPicPr>
        <p:blipFill>
          <a:blip r:embed="rId90" cstate="print"/>
          <a:stretch>
            <a:fillRect/>
          </a:stretch>
        </p:blipFill>
        <p:spPr>
          <a:xfrm>
            <a:off x="8267700" y="2717292"/>
            <a:ext cx="866775" cy="285750"/>
          </a:xfrm>
          <a:prstGeom prst="rect">
            <a:avLst/>
          </a:prstGeom>
        </p:spPr>
      </p:pic>
      <p:pic>
        <p:nvPicPr>
          <p:cNvPr id="116" name="object 124">
            <a:extLst>
              <a:ext uri="{FF2B5EF4-FFF2-40B4-BE49-F238E27FC236}">
                <a16:creationId xmlns:a16="http://schemas.microsoft.com/office/drawing/2014/main" id="{E694763B-C1C5-0ECF-F8D6-2CCB7E4BDE52}"/>
              </a:ext>
            </a:extLst>
          </p:cNvPr>
          <p:cNvPicPr/>
          <p:nvPr/>
        </p:nvPicPr>
        <p:blipFill>
          <a:blip r:embed="rId91" cstate="print"/>
          <a:stretch>
            <a:fillRect/>
          </a:stretch>
        </p:blipFill>
        <p:spPr>
          <a:xfrm>
            <a:off x="6438900" y="3172841"/>
            <a:ext cx="619125" cy="195071"/>
          </a:xfrm>
          <a:prstGeom prst="rect">
            <a:avLst/>
          </a:prstGeom>
        </p:spPr>
      </p:pic>
      <p:pic>
        <p:nvPicPr>
          <p:cNvPr id="117" name="object 125">
            <a:extLst>
              <a:ext uri="{FF2B5EF4-FFF2-40B4-BE49-F238E27FC236}">
                <a16:creationId xmlns:a16="http://schemas.microsoft.com/office/drawing/2014/main" id="{ADF371ED-73C4-1B5D-3D75-61EC7F48AE11}"/>
              </a:ext>
            </a:extLst>
          </p:cNvPr>
          <p:cNvPicPr/>
          <p:nvPr/>
        </p:nvPicPr>
        <p:blipFill>
          <a:blip r:embed="rId92" cstate="print"/>
          <a:stretch>
            <a:fillRect/>
          </a:stretch>
        </p:blipFill>
        <p:spPr>
          <a:xfrm>
            <a:off x="7086600" y="3126867"/>
            <a:ext cx="504825" cy="342900"/>
          </a:xfrm>
          <a:prstGeom prst="rect">
            <a:avLst/>
          </a:prstGeom>
        </p:spPr>
      </p:pic>
      <p:pic>
        <p:nvPicPr>
          <p:cNvPr id="118" name="object 126">
            <a:extLst>
              <a:ext uri="{FF2B5EF4-FFF2-40B4-BE49-F238E27FC236}">
                <a16:creationId xmlns:a16="http://schemas.microsoft.com/office/drawing/2014/main" id="{F37032CB-3138-990C-3BF2-78711566BA54}"/>
              </a:ext>
            </a:extLst>
          </p:cNvPr>
          <p:cNvPicPr/>
          <p:nvPr/>
        </p:nvPicPr>
        <p:blipFill>
          <a:blip r:embed="rId93" cstate="print"/>
          <a:stretch>
            <a:fillRect/>
          </a:stretch>
        </p:blipFill>
        <p:spPr>
          <a:xfrm>
            <a:off x="8353425" y="3012567"/>
            <a:ext cx="819150" cy="476250"/>
          </a:xfrm>
          <a:prstGeom prst="rect">
            <a:avLst/>
          </a:prstGeom>
        </p:spPr>
      </p:pic>
      <p:pic>
        <p:nvPicPr>
          <p:cNvPr id="119" name="object 127">
            <a:extLst>
              <a:ext uri="{FF2B5EF4-FFF2-40B4-BE49-F238E27FC236}">
                <a16:creationId xmlns:a16="http://schemas.microsoft.com/office/drawing/2014/main" id="{EC6D9DCE-5D12-C046-B55E-40FBDAD5A0A9}"/>
              </a:ext>
            </a:extLst>
          </p:cNvPr>
          <p:cNvPicPr/>
          <p:nvPr/>
        </p:nvPicPr>
        <p:blipFill>
          <a:blip r:embed="rId94" cstate="print"/>
          <a:stretch>
            <a:fillRect/>
          </a:stretch>
        </p:blipFill>
        <p:spPr>
          <a:xfrm>
            <a:off x="8424655" y="2326767"/>
            <a:ext cx="496956" cy="327837"/>
          </a:xfrm>
          <a:prstGeom prst="rect">
            <a:avLst/>
          </a:prstGeom>
        </p:spPr>
      </p:pic>
      <p:pic>
        <p:nvPicPr>
          <p:cNvPr id="120" name="object 130">
            <a:extLst>
              <a:ext uri="{FF2B5EF4-FFF2-40B4-BE49-F238E27FC236}">
                <a16:creationId xmlns:a16="http://schemas.microsoft.com/office/drawing/2014/main" id="{29EB73C5-2A2E-3F84-4D07-EF99D0E9C91A}"/>
              </a:ext>
            </a:extLst>
          </p:cNvPr>
          <p:cNvPicPr/>
          <p:nvPr/>
        </p:nvPicPr>
        <p:blipFill>
          <a:blip r:embed="rId95" cstate="print"/>
          <a:stretch>
            <a:fillRect/>
          </a:stretch>
        </p:blipFill>
        <p:spPr>
          <a:xfrm>
            <a:off x="9313518" y="1587247"/>
            <a:ext cx="1085850" cy="283779"/>
          </a:xfrm>
          <a:prstGeom prst="rect">
            <a:avLst/>
          </a:prstGeom>
        </p:spPr>
      </p:pic>
    </p:spTree>
    <p:extLst>
      <p:ext uri="{BB962C8B-B14F-4D97-AF65-F5344CB8AC3E}">
        <p14:creationId xmlns:p14="http://schemas.microsoft.com/office/powerpoint/2010/main" val="2148293046"/>
      </p:ext>
    </p:extLst>
  </p:cSld>
  <p:clrMapOvr>
    <a:masterClrMapping/>
  </p:clrMapOvr>
</p:sld>
</file>

<file path=ppt/theme/theme1.xml><?xml version="1.0" encoding="utf-8"?>
<a:theme xmlns:a="http://schemas.openxmlformats.org/drawingml/2006/main" name="FQ_Theme">
  <a:themeElements>
    <a:clrScheme name="FQ_Colors">
      <a:dk1>
        <a:srgbClr val="1D1D1D"/>
      </a:dk1>
      <a:lt1>
        <a:srgbClr val="FFFFFF"/>
      </a:lt1>
      <a:dk2>
        <a:srgbClr val="281A42"/>
      </a:dk2>
      <a:lt2>
        <a:srgbClr val="F2F2F2"/>
      </a:lt2>
      <a:accent1>
        <a:srgbClr val="765FFF"/>
      </a:accent1>
      <a:accent2>
        <a:srgbClr val="AD9FFF"/>
      </a:accent2>
      <a:accent3>
        <a:srgbClr val="E9E4FF"/>
      </a:accent3>
      <a:accent4>
        <a:srgbClr val="00C27A"/>
      </a:accent4>
      <a:accent5>
        <a:srgbClr val="FFB547"/>
      </a:accent5>
      <a:accent6>
        <a:srgbClr val="FF2E88"/>
      </a:accent6>
      <a:hlink>
        <a:srgbClr val="60BDBC"/>
      </a:hlink>
      <a:folHlink>
        <a:srgbClr val="767676"/>
      </a:folHlink>
    </a:clrScheme>
    <a:fontScheme name="Office Theme">
      <a:majorFont>
        <a:latin typeface="Segoe UI" pitchFamily="34" charset="0"/>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itchFamily="34" charset="0"/>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1D1D1D">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Q_Theme" id="{D85766C4-788A-D240-9FED-64B6AEC1C3FC}" vid="{C559863A-A311-A74F-9685-52998E57B6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281A42"/>
      </a:dk2>
      <a:lt2>
        <a:srgbClr val="F2F2F2"/>
      </a:lt2>
      <a:accent1>
        <a:srgbClr val="765FFF"/>
      </a:accent1>
      <a:accent2>
        <a:srgbClr val="281A42"/>
      </a:accent2>
      <a:accent3>
        <a:srgbClr val="00C27A"/>
      </a:accent3>
      <a:accent4>
        <a:srgbClr val="60BDBC"/>
      </a:accent4>
      <a:accent5>
        <a:srgbClr val="FFB547"/>
      </a:accent5>
      <a:accent6>
        <a:srgbClr val="FF2E88"/>
      </a:accent6>
      <a:hlink>
        <a:srgbClr val="765FFF"/>
      </a:hlink>
      <a:folHlink>
        <a:srgbClr val="917F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1D1D1D">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147</TotalTime>
  <Words>2164</Words>
  <Application>Microsoft Macintosh PowerPoint</Application>
  <PresentationFormat>Widescreen</PresentationFormat>
  <Paragraphs>266</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Arial</vt:lpstr>
      <vt:lpstr>Helvetica Neue</vt:lpstr>
      <vt:lpstr>Helvetica Neue Light</vt:lpstr>
      <vt:lpstr>Lato</vt:lpstr>
      <vt:lpstr>Segoe UI</vt:lpstr>
      <vt:lpstr>FQ_Theme</vt:lpstr>
      <vt:lpstr>Team Effectiveness  </vt:lpstr>
      <vt:lpstr>We Start by Understanding the Company &amp; Speaking with the People</vt:lpstr>
      <vt:lpstr>We Align on the Company’s Strategic Pivots</vt:lpstr>
      <vt:lpstr>We First Define the Jobs to Be Done for Each Leader </vt:lpstr>
      <vt:lpstr>We Use These to Define the Shared JTBDs for the Leadership Team</vt:lpstr>
      <vt:lpstr>Energy spent versus energy required</vt:lpstr>
      <vt:lpstr>We Conduct Hogan Personality for Each Leader </vt:lpstr>
      <vt:lpstr>We Provide Insights for How the Leadership Team Works</vt:lpstr>
      <vt:lpstr>We Identify Team Dynamics</vt:lpstr>
      <vt:lpstr>We Facilitate Team Offsite </vt:lpstr>
      <vt:lpstr>During the Offsite, We Jointly Develop the High-performance Team Journey</vt:lpstr>
      <vt:lpstr>We Develop Enabling Plan for Each Leader to Support the Team </vt:lpstr>
      <vt:lpstr>PowerPoint Presentation</vt:lpstr>
      <vt:lpstr>What We Do</vt:lpstr>
      <vt:lpstr>Our Clients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 Kopitsas</dc:creator>
  <cp:lastModifiedBy>Zoe Ervolino</cp:lastModifiedBy>
  <cp:revision>14</cp:revision>
  <dcterms:created xsi:type="dcterms:W3CDTF">2026-02-06T11:29:24Z</dcterms:created>
  <dcterms:modified xsi:type="dcterms:W3CDTF">2026-04-01T17:09:51Z</dcterms:modified>
</cp:coreProperties>
</file>