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7" r:id="rId5"/>
    <p:sldId id="261" r:id="rId6"/>
    <p:sldId id="262" r:id="rId7"/>
    <p:sldId id="259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58" r:id="rId16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243E05-1E47-4B24-CEC5-07CE1EB55D0E}" name="Dhaval Bhagat" initials="DB" userId="S::dhaval@ceoworks.com::487f3ff1-ee6a-4cda-9ede-0b39cd77126d" providerId="AD"/>
  <p188:author id="{C9136C0C-A7BE-DE6C-A660-5E2870882CD8}" name="Cherilyn Vossberg" initials="CV" userId="S::cher@ceoworks.com::4f609c03-5523-4742-aa65-5c4653c0a6ea" providerId="AD"/>
  <p188:author id="{B61AED0F-E9CB-62E8-6E8F-91AE199B2055}" name="Mitul Brahmbhatt" initials="MB" userId="S::Mitul@ceoworks.com::a68ce095-0de8-43ca-9310-e70c30e51a70" providerId="AD"/>
  <p188:author id="{C2DBEC79-433C-4FD8-E557-34857F42A695}" name="Joydeep Mutsuddi" initials="" userId="S::joydeep@ceoworks.com::1cd81447-6d5d-4531-a06a-d62fd7d2503e" providerId="AD"/>
  <p188:author id="{A6536884-2DF1-2AD5-AFA7-B611C237DDCD}" name="Guest User" initials="GU" userId="S::urn:spo:tenantanon#62ef6379-7877-4537-943a-77cd28322adc::" providerId="AD"/>
  <p188:author id="{3C4652A7-5F23-49C1-F93C-113724533860}" name="Austin Riggs" initials="" userId="S::austin@ceoworks.com::f642aa58-dc2e-41a2-81a2-1e9ec2800e07" providerId="AD"/>
  <p188:author id="{9E3946C5-6EF1-1124-16E8-74CA762980E0}" name="Tim Burns" initials="TB" userId="S::tim@ceoworks.com::79fe5273-370b-40db-94f0-6fb0b344a738" providerId="AD"/>
  <p188:author id="{F3A190C6-F3FD-2B5F-5ABE-19548DD70150}" name="Sumeet Salwan" initials="SS" userId="S::sumeet@ceoworks.com::c2fcf9a2-8015-46f0-a67e-422e84d3f6de" providerId="AD"/>
  <p188:author id="{99822DE6-A23E-AB11-F0AB-17B0B6185285}" name="Megan Blouin" initials="MB" userId="S::megan@ceoworks.com::b968f027-9088-43f5-b615-c3434309617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7FFF"/>
    <a:srgbClr val="E9E4FF"/>
    <a:srgbClr val="C9C0FF"/>
    <a:srgbClr val="AEA0FF"/>
    <a:srgbClr val="3B3B3B"/>
    <a:srgbClr val="FFFFFF"/>
    <a:srgbClr val="0A4076"/>
    <a:srgbClr val="FFC000"/>
    <a:srgbClr val="BA0B2F"/>
    <a:srgbClr val="002A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99"/>
    <p:restoredTop sz="94548"/>
  </p:normalViewPr>
  <p:slideViewPr>
    <p:cSldViewPr snapToGrid="0">
      <p:cViewPr varScale="1">
        <p:scale>
          <a:sx n="96" d="100"/>
          <a:sy n="96" d="100"/>
        </p:scale>
        <p:origin x="86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-10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9AED1-48F7-17C9-A442-591C7E859F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9C1B9-D627-10EA-B909-A2B4F90F33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B74F9-4B03-4B21-8054-854B7F90E8E9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C2DA70-6B74-2A55-0061-06007E714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0E060-1ADA-CCEF-4772-BCA6D42262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D15D8-141A-4620-AC90-E633F1CA68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790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BCE94-7D27-C54E-9004-426142AC54AF}" type="datetimeFigureOut">
              <a:rPr lang="en-US" smtClean="0"/>
              <a:t>4/1/26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2B07C-5BA2-CA47-9B60-AC10A0FFC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851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37BA394B-6FC7-BA29-9C9F-C3C5996A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3C99-2183-B3DE-3AAA-1A32D4AE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3D04D9-FFC9-D3AA-13F8-C5614D78C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AED1153-695A-6B98-C47D-7ABC0B711F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1A7B4B7-2101-FCE7-D719-3D909068D2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0010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3ECDC62-748E-F1B0-07F3-0B62BB658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4E0F1-7D88-9142-CE87-C8B858F36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F3E59F-8EB2-1215-8D63-04505CE260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26690B-C7DF-D391-1831-1C87D9DCD5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3717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Phot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B6FC9E-8B11-5EE3-6E11-7061DFCA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AC7920E-1162-2D3C-5D4A-368EDE93E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AEBF6F5-2984-E005-E78A-9FBAEF517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D883554E-186B-D3A7-5712-0CB495E527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DDEF805-4139-818A-775A-9FE45C2467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7479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EA15675-8D93-AAAB-1CE7-1CC9B1E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A9E0-DC8A-A493-5950-929C39A48C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AE700-338E-3D3C-13CC-2B72D122613F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7" name="Picture 6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BC29EFF-AD40-7A30-0252-1003A1EED3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8" name="Picture 7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319C388-6E14-ACE1-7D72-E7A13C620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71F42-716A-CFFF-5061-88738F8A0C2D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85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6032B-B87F-A83D-7D7F-2F852CE6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6BA9A-4A6E-2750-5A58-9D290E2DE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C2F86-B0B8-0A3E-5886-1D0825E8D4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01EAF-6797-3F0F-E633-9F8C9325ED55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9F1471E-FB91-8DDF-5F1A-69B538D594D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76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4E9799-634E-7736-76B4-6220A70329AF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684A767D-3F86-D687-87F0-42E5F8F8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49A6899-080A-CB11-E001-0849EFA03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83557B-4935-7DE8-D7B5-DD3A59F0D9D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DB32DC9-CD14-7184-963C-A86EEEA32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1" name="Slide Number Placeholder 501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7DA59B58-B945-4B36-BC6B-9C26C933A008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3ABF44-7159-0310-8642-D658032AE35C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6" name="Picture 5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A256E40-4839-A002-DAE4-E92AC3621E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9790FCA-7576-E215-2F6F-5D710A40D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89C57F-9FD2-3D9E-C745-F36B0B48A6C5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2E08C-7819-8536-BD90-D963237DC2F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355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Dark_Sub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D88E1E-075F-16F9-E92B-5A17AA50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CC322-E05B-5FA0-F1FB-CE44C7DC4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DE916-4E68-47BE-7CCA-CE1BDDE69408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4" name="Slide Number Placeholder 504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907D951D-1967-483E-BB83-DA2FAF8BD3C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7E6407-B729-531A-E63B-931D38F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4657EC2-CEDF-D7F5-6742-63F0C8E33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9B128-F973-EEF6-EF03-D91D80373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599BF-0C95-F285-041D-E211D0EBCB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996EC1-CD86-C9E1-9600-D7F536EFF6C9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97606E-5522-2270-7E8E-8B301BF4754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59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39D7E-847E-7ECB-B5B3-78921924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225BBB-4B98-5FF7-84C1-7A330B9237C5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11399B78-A26E-C5D3-5977-F72D21DCEF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6" name="Picture 5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FD13B7C0-9011-B8D4-9EEE-6C853DFAF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EAC99F-5662-C339-9764-481B7B922392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209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95571-82E2-85D7-3B9C-56BA8B5A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C436-961B-D816-84DF-1F889D572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000C47-8281-C02D-16F9-EA7DC2C581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F91332-0918-0B47-73BF-CF5E1F4FE808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0947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7A6FE-7F15-37F5-2BCD-425A1BEB9F62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2" name="Slide Number Placeholder 502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63862CC-204F-4E50-8BF7-6EEE79EB8F36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016BD5-A56B-5BA3-F690-D9AFCC34CA02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F57B6DD7-1C29-5CD5-E825-1A67529410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B161965-9496-DC09-2773-B4928F83CC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0ABE36-5BB2-574A-E750-F948BA8DAE9A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66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1AD69-9691-1E32-5B19-EADB15933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889208-DB86-485A-C5EF-41C729FD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60D57-6649-C85B-C203-A5A47F87752B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5" name="Slide Number Placeholder 505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5B5F607B-51C9-463C-B8AC-22C4474A2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67700-E7B8-00A1-CA00-780B430A31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FD0E7-4FF1-D7DE-B8CF-6D3ADD3BC2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BC7B2-6B3B-DB21-E219-33C1F3A48CF1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999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4CFA25-03B5-0177-8AC1-33D467FC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15AE0B4-EBC9-F172-55AF-5CEADF6B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6E9556-28FF-C72E-9775-EC041E8A50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83F48-B9B5-250C-EC88-908B62BD3AFC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4D28D-5628-0FAB-BB37-9B5095BB1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C43E4-6A73-99D5-F9A3-E7D3D97EBF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A58DCA-200A-6AF9-E5F0-31C116120388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504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Cryst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915D0C-CB06-62F7-E67D-7F5B928F5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98847-E310-8470-FC39-FCD772C7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4F02A1-F26A-CCE0-8A13-B5F534431235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92799-6CFD-FC58-A1FC-8FAACB71FB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1AF492-0819-EC08-ED38-56959E5585DD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20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AD75B8-1961-0901-7197-778645E6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0B02FF-8604-586E-FCEA-F263078773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837DF-36CB-F9C7-2AF7-86255EDA0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200A60-B051-BEDC-E25C-CAC8A419D6D2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45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PivotPurple">
    <p:bg>
      <p:bgPr>
        <a:solidFill>
          <a:srgbClr val="7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DCE326-F1D6-8FF0-0CFD-1F01F428A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30B84A-CD15-A69D-7C0D-0A25B01CE3A9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2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7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.jpeg"/><Relationship Id="rId21" Type="http://schemas.openxmlformats.org/officeDocument/2006/relationships/image" Target="../media/image62.jpeg"/><Relationship Id="rId42" Type="http://schemas.openxmlformats.org/officeDocument/2006/relationships/image" Target="../media/image83.jpeg"/><Relationship Id="rId47" Type="http://schemas.openxmlformats.org/officeDocument/2006/relationships/image" Target="../media/image88.png"/><Relationship Id="rId63" Type="http://schemas.openxmlformats.org/officeDocument/2006/relationships/image" Target="../media/image104.png"/><Relationship Id="rId68" Type="http://schemas.openxmlformats.org/officeDocument/2006/relationships/image" Target="../media/image109.svg"/><Relationship Id="rId84" Type="http://schemas.openxmlformats.org/officeDocument/2006/relationships/image" Target="../media/image125.jpeg"/><Relationship Id="rId89" Type="http://schemas.openxmlformats.org/officeDocument/2006/relationships/image" Target="../media/image130.jpeg"/><Relationship Id="rId16" Type="http://schemas.openxmlformats.org/officeDocument/2006/relationships/image" Target="../media/image57.png"/><Relationship Id="rId11" Type="http://schemas.openxmlformats.org/officeDocument/2006/relationships/image" Target="../media/image52.png"/><Relationship Id="rId32" Type="http://schemas.openxmlformats.org/officeDocument/2006/relationships/image" Target="../media/image73.png"/><Relationship Id="rId37" Type="http://schemas.openxmlformats.org/officeDocument/2006/relationships/image" Target="../media/image78.png"/><Relationship Id="rId53" Type="http://schemas.openxmlformats.org/officeDocument/2006/relationships/image" Target="../media/image94.jpeg"/><Relationship Id="rId58" Type="http://schemas.openxmlformats.org/officeDocument/2006/relationships/image" Target="../media/image99.png"/><Relationship Id="rId74" Type="http://schemas.openxmlformats.org/officeDocument/2006/relationships/image" Target="../media/image115.svg"/><Relationship Id="rId79" Type="http://schemas.openxmlformats.org/officeDocument/2006/relationships/image" Target="../media/image120.jpeg"/><Relationship Id="rId5" Type="http://schemas.openxmlformats.org/officeDocument/2006/relationships/image" Target="../media/image46.jpeg"/><Relationship Id="rId90" Type="http://schemas.openxmlformats.org/officeDocument/2006/relationships/image" Target="../media/image131.png"/><Relationship Id="rId95" Type="http://schemas.openxmlformats.org/officeDocument/2006/relationships/image" Target="../media/image136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43" Type="http://schemas.openxmlformats.org/officeDocument/2006/relationships/image" Target="../media/image84.png"/><Relationship Id="rId48" Type="http://schemas.openxmlformats.org/officeDocument/2006/relationships/image" Target="../media/image89.jpeg"/><Relationship Id="rId64" Type="http://schemas.openxmlformats.org/officeDocument/2006/relationships/image" Target="../media/image105.png"/><Relationship Id="rId69" Type="http://schemas.openxmlformats.org/officeDocument/2006/relationships/image" Target="../media/image110.png"/><Relationship Id="rId8" Type="http://schemas.openxmlformats.org/officeDocument/2006/relationships/image" Target="../media/image49.png"/><Relationship Id="rId51" Type="http://schemas.openxmlformats.org/officeDocument/2006/relationships/image" Target="../media/image92.jpeg"/><Relationship Id="rId72" Type="http://schemas.openxmlformats.org/officeDocument/2006/relationships/image" Target="../media/image113.jpeg"/><Relationship Id="rId80" Type="http://schemas.openxmlformats.org/officeDocument/2006/relationships/image" Target="../media/image121.png"/><Relationship Id="rId85" Type="http://schemas.openxmlformats.org/officeDocument/2006/relationships/image" Target="../media/image126.jpeg"/><Relationship Id="rId93" Type="http://schemas.openxmlformats.org/officeDocument/2006/relationships/image" Target="../media/image134.png"/><Relationship Id="rId3" Type="http://schemas.openxmlformats.org/officeDocument/2006/relationships/image" Target="../media/image44.png"/><Relationship Id="rId12" Type="http://schemas.openxmlformats.org/officeDocument/2006/relationships/image" Target="../media/image53.png"/><Relationship Id="rId17" Type="http://schemas.openxmlformats.org/officeDocument/2006/relationships/image" Target="../media/image58.svg"/><Relationship Id="rId25" Type="http://schemas.openxmlformats.org/officeDocument/2006/relationships/image" Target="../media/image66.png"/><Relationship Id="rId33" Type="http://schemas.openxmlformats.org/officeDocument/2006/relationships/image" Target="../media/image74.png"/><Relationship Id="rId38" Type="http://schemas.openxmlformats.org/officeDocument/2006/relationships/image" Target="../media/image79.png"/><Relationship Id="rId46" Type="http://schemas.openxmlformats.org/officeDocument/2006/relationships/image" Target="../media/image87.png"/><Relationship Id="rId59" Type="http://schemas.openxmlformats.org/officeDocument/2006/relationships/image" Target="../media/image100.png"/><Relationship Id="rId67" Type="http://schemas.openxmlformats.org/officeDocument/2006/relationships/image" Target="../media/image108.png"/><Relationship Id="rId20" Type="http://schemas.openxmlformats.org/officeDocument/2006/relationships/image" Target="../media/image61.svg"/><Relationship Id="rId41" Type="http://schemas.openxmlformats.org/officeDocument/2006/relationships/image" Target="../media/image82.png"/><Relationship Id="rId54" Type="http://schemas.openxmlformats.org/officeDocument/2006/relationships/image" Target="../media/image95.jpeg"/><Relationship Id="rId62" Type="http://schemas.openxmlformats.org/officeDocument/2006/relationships/image" Target="../media/image103.jpeg"/><Relationship Id="rId70" Type="http://schemas.openxmlformats.org/officeDocument/2006/relationships/image" Target="../media/image111.png"/><Relationship Id="rId75" Type="http://schemas.openxmlformats.org/officeDocument/2006/relationships/image" Target="../media/image116.png"/><Relationship Id="rId83" Type="http://schemas.openxmlformats.org/officeDocument/2006/relationships/image" Target="../media/image124.png"/><Relationship Id="rId88" Type="http://schemas.openxmlformats.org/officeDocument/2006/relationships/image" Target="../media/image129.png"/><Relationship Id="rId91" Type="http://schemas.openxmlformats.org/officeDocument/2006/relationships/image" Target="../media/image13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15" Type="http://schemas.openxmlformats.org/officeDocument/2006/relationships/image" Target="../media/image56.png"/><Relationship Id="rId23" Type="http://schemas.openxmlformats.org/officeDocument/2006/relationships/image" Target="../media/image64.jpeg"/><Relationship Id="rId28" Type="http://schemas.openxmlformats.org/officeDocument/2006/relationships/image" Target="../media/image69.png"/><Relationship Id="rId36" Type="http://schemas.openxmlformats.org/officeDocument/2006/relationships/image" Target="../media/image77.jpeg"/><Relationship Id="rId49" Type="http://schemas.openxmlformats.org/officeDocument/2006/relationships/image" Target="../media/image90.png"/><Relationship Id="rId57" Type="http://schemas.openxmlformats.org/officeDocument/2006/relationships/image" Target="../media/image98.jpeg"/><Relationship Id="rId10" Type="http://schemas.openxmlformats.org/officeDocument/2006/relationships/image" Target="../media/image51.png"/><Relationship Id="rId31" Type="http://schemas.openxmlformats.org/officeDocument/2006/relationships/image" Target="../media/image72.jpeg"/><Relationship Id="rId44" Type="http://schemas.openxmlformats.org/officeDocument/2006/relationships/image" Target="../media/image85.jpeg"/><Relationship Id="rId52" Type="http://schemas.openxmlformats.org/officeDocument/2006/relationships/image" Target="../media/image93.png"/><Relationship Id="rId60" Type="http://schemas.openxmlformats.org/officeDocument/2006/relationships/image" Target="../media/image101.jpeg"/><Relationship Id="rId65" Type="http://schemas.openxmlformats.org/officeDocument/2006/relationships/image" Target="../media/image106.png"/><Relationship Id="rId73" Type="http://schemas.openxmlformats.org/officeDocument/2006/relationships/image" Target="../media/image114.png"/><Relationship Id="rId78" Type="http://schemas.openxmlformats.org/officeDocument/2006/relationships/image" Target="../media/image119.jpeg"/><Relationship Id="rId81" Type="http://schemas.openxmlformats.org/officeDocument/2006/relationships/image" Target="../media/image122.png"/><Relationship Id="rId86" Type="http://schemas.openxmlformats.org/officeDocument/2006/relationships/image" Target="../media/image127.png"/><Relationship Id="rId94" Type="http://schemas.openxmlformats.org/officeDocument/2006/relationships/image" Target="../media/image135.png"/><Relationship Id="rId4" Type="http://schemas.openxmlformats.org/officeDocument/2006/relationships/image" Target="../media/image45.jpeg"/><Relationship Id="rId9" Type="http://schemas.openxmlformats.org/officeDocument/2006/relationships/image" Target="../media/image50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39" Type="http://schemas.openxmlformats.org/officeDocument/2006/relationships/image" Target="../media/image80.jpeg"/><Relationship Id="rId34" Type="http://schemas.openxmlformats.org/officeDocument/2006/relationships/image" Target="../media/image75.png"/><Relationship Id="rId50" Type="http://schemas.openxmlformats.org/officeDocument/2006/relationships/image" Target="../media/image91.png"/><Relationship Id="rId55" Type="http://schemas.openxmlformats.org/officeDocument/2006/relationships/image" Target="../media/image96.png"/><Relationship Id="rId76" Type="http://schemas.openxmlformats.org/officeDocument/2006/relationships/image" Target="../media/image117.png"/><Relationship Id="rId7" Type="http://schemas.openxmlformats.org/officeDocument/2006/relationships/image" Target="../media/image48.png"/><Relationship Id="rId71" Type="http://schemas.openxmlformats.org/officeDocument/2006/relationships/image" Target="../media/image112.png"/><Relationship Id="rId92" Type="http://schemas.openxmlformats.org/officeDocument/2006/relationships/image" Target="../media/image133.jpeg"/><Relationship Id="rId2" Type="http://schemas.openxmlformats.org/officeDocument/2006/relationships/image" Target="../media/image43.jpeg"/><Relationship Id="rId29" Type="http://schemas.openxmlformats.org/officeDocument/2006/relationships/image" Target="../media/image70.png"/><Relationship Id="rId24" Type="http://schemas.openxmlformats.org/officeDocument/2006/relationships/image" Target="../media/image65.png"/><Relationship Id="rId40" Type="http://schemas.openxmlformats.org/officeDocument/2006/relationships/image" Target="../media/image81.png"/><Relationship Id="rId45" Type="http://schemas.openxmlformats.org/officeDocument/2006/relationships/image" Target="../media/image86.png"/><Relationship Id="rId66" Type="http://schemas.openxmlformats.org/officeDocument/2006/relationships/image" Target="../media/image107.png"/><Relationship Id="rId87" Type="http://schemas.openxmlformats.org/officeDocument/2006/relationships/image" Target="../media/image128.png"/><Relationship Id="rId61" Type="http://schemas.openxmlformats.org/officeDocument/2006/relationships/image" Target="../media/image102.png"/><Relationship Id="rId82" Type="http://schemas.openxmlformats.org/officeDocument/2006/relationships/image" Target="../media/image123.svg"/><Relationship Id="rId19" Type="http://schemas.openxmlformats.org/officeDocument/2006/relationships/image" Target="../media/image60.jpeg"/><Relationship Id="rId14" Type="http://schemas.openxmlformats.org/officeDocument/2006/relationships/image" Target="../media/image55.jpeg"/><Relationship Id="rId30" Type="http://schemas.openxmlformats.org/officeDocument/2006/relationships/image" Target="../media/image71.png"/><Relationship Id="rId35" Type="http://schemas.openxmlformats.org/officeDocument/2006/relationships/image" Target="../media/image76.png"/><Relationship Id="rId56" Type="http://schemas.openxmlformats.org/officeDocument/2006/relationships/image" Target="../media/image97.jpeg"/><Relationship Id="rId77" Type="http://schemas.openxmlformats.org/officeDocument/2006/relationships/image" Target="../media/image1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svg"/><Relationship Id="rId18" Type="http://schemas.openxmlformats.org/officeDocument/2006/relationships/image" Target="../media/image151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17" Type="http://schemas.microsoft.com/office/2007/relationships/hdphoto" Target="../media/hdphoto2.wdp"/><Relationship Id="rId2" Type="http://schemas.openxmlformats.org/officeDocument/2006/relationships/image" Target="../media/image137.png"/><Relationship Id="rId16" Type="http://schemas.openxmlformats.org/officeDocument/2006/relationships/image" Target="../media/image150.png"/><Relationship Id="rId20" Type="http://schemas.openxmlformats.org/officeDocument/2006/relationships/image" Target="../media/image152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5" Type="http://schemas.microsoft.com/office/2007/relationships/hdphoto" Target="../media/hdphoto1.wdp"/><Relationship Id="rId10" Type="http://schemas.openxmlformats.org/officeDocument/2006/relationships/image" Target="../media/image145.jpeg"/><Relationship Id="rId19" Type="http://schemas.microsoft.com/office/2007/relationships/hdphoto" Target="../media/hdphoto3.wdp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E46C21-BFFA-2F4C-8A9C-2862236391B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lIns="91440" tIns="45720" rIns="91440" bIns="45720" anchor="t"/>
          <a:lstStyle/>
          <a:p>
            <a:r>
              <a:rPr lang="en-US" dirty="0"/>
              <a:t>FulcrumQ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4AE83-10B3-C84F-83AA-1A3BC0EEF19A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noFill/>
        </p:spPr>
        <p:txBody>
          <a:bodyPr lIns="91440" tIns="45720" rIns="91440" bIns="45720" anchor="t"/>
          <a:lstStyle/>
          <a:p>
            <a:r>
              <a:rPr lang="en-US" dirty="0"/>
              <a:t>The Talent to Value company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9F84C-9CBE-25EC-9BEC-5542F25DDE2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32000" y="2441391"/>
            <a:ext cx="4297680" cy="98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51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BE33F2-2BED-496E-F695-BCF5EFB44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603D38F-6D56-C25C-958C-4B32C753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5" dirty="0" err="1">
                <a:ea typeface="Helvetica Neue" panose="02000503000000020004" pitchFamily="2" charset="0"/>
                <a:cs typeface="Helvetica Neue" panose="02000503000000020004" pitchFamily="2" charset="0"/>
              </a:rPr>
              <a:t>FulcrumQ</a:t>
            </a:r>
            <a:r>
              <a:rPr lang="en-US" spc="-25" dirty="0">
                <a:ea typeface="Helvetica Neue" panose="02000503000000020004" pitchFamily="2" charset="0"/>
                <a:cs typeface="Helvetica Neue" panose="02000503000000020004" pitchFamily="2" charset="0"/>
              </a:rPr>
              <a:t> – </a:t>
            </a:r>
            <a:r>
              <a:rPr lang="en-US" spc="-25" dirty="0">
                <a:solidFill>
                  <a:srgbClr val="281A42"/>
                </a:solidFill>
                <a:ea typeface="Helvetica Neue" panose="02000503000000020004" pitchFamily="2" charset="0"/>
                <a:cs typeface="Helvetica Neue" panose="02000503000000020004" pitchFamily="2" charset="0"/>
              </a:rPr>
              <a:t>The Talent to Value Company</a:t>
            </a:r>
            <a:endParaRPr lang="en-US" dirty="0"/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7399CCAF-80F8-8C61-B6AB-5679CC36DF41}"/>
              </a:ext>
            </a:extLst>
          </p:cNvPr>
          <p:cNvGrpSpPr/>
          <p:nvPr/>
        </p:nvGrpSpPr>
        <p:grpSpPr>
          <a:xfrm>
            <a:off x="1805940" y="2422271"/>
            <a:ext cx="8580120" cy="3010154"/>
            <a:chOff x="1805940" y="2763011"/>
            <a:chExt cx="8580120" cy="3010154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551AB9A5-61C4-9C05-E65B-89859D5A52A1}"/>
                </a:ext>
              </a:extLst>
            </p:cNvPr>
            <p:cNvSpPr/>
            <p:nvPr/>
          </p:nvSpPr>
          <p:spPr>
            <a:xfrm>
              <a:off x="1805940" y="3983735"/>
              <a:ext cx="8580120" cy="1789430"/>
            </a:xfrm>
            <a:custGeom>
              <a:avLst/>
              <a:gdLst/>
              <a:ahLst/>
              <a:cxnLst/>
              <a:rect l="l" t="t" r="r" b="b"/>
              <a:pathLst>
                <a:path w="8580120" h="1789429">
                  <a:moveTo>
                    <a:pt x="8580120" y="0"/>
                  </a:moveTo>
                  <a:lnTo>
                    <a:pt x="8359013" y="0"/>
                  </a:lnTo>
                  <a:lnTo>
                    <a:pt x="8359013" y="1576793"/>
                  </a:lnTo>
                  <a:lnTo>
                    <a:pt x="6601968" y="1576793"/>
                  </a:lnTo>
                  <a:lnTo>
                    <a:pt x="6601968" y="0"/>
                  </a:lnTo>
                  <a:lnTo>
                    <a:pt x="6236208" y="0"/>
                  </a:lnTo>
                  <a:lnTo>
                    <a:pt x="6236208" y="1576793"/>
                  </a:lnTo>
                  <a:lnTo>
                    <a:pt x="4483608" y="1576793"/>
                  </a:lnTo>
                  <a:lnTo>
                    <a:pt x="4483608" y="0"/>
                  </a:lnTo>
                  <a:lnTo>
                    <a:pt x="4117848" y="0"/>
                  </a:lnTo>
                  <a:lnTo>
                    <a:pt x="4117848" y="1576793"/>
                  </a:lnTo>
                  <a:lnTo>
                    <a:pt x="2365248" y="1576793"/>
                  </a:lnTo>
                  <a:lnTo>
                    <a:pt x="2365248" y="0"/>
                  </a:lnTo>
                  <a:lnTo>
                    <a:pt x="0" y="0"/>
                  </a:lnTo>
                  <a:lnTo>
                    <a:pt x="0" y="1576793"/>
                  </a:lnTo>
                  <a:lnTo>
                    <a:pt x="0" y="1788909"/>
                  </a:lnTo>
                  <a:lnTo>
                    <a:pt x="8580120" y="1788909"/>
                  </a:lnTo>
                  <a:lnTo>
                    <a:pt x="8580120" y="1576793"/>
                  </a:lnTo>
                  <a:lnTo>
                    <a:pt x="8580120" y="0"/>
                  </a:lnTo>
                  <a:close/>
                </a:path>
              </a:pathLst>
            </a:custGeom>
            <a:solidFill>
              <a:srgbClr val="D0D7D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515CE8A3-F873-5917-D67D-0D0D9A083667}"/>
                </a:ext>
              </a:extLst>
            </p:cNvPr>
            <p:cNvSpPr/>
            <p:nvPr/>
          </p:nvSpPr>
          <p:spPr>
            <a:xfrm>
              <a:off x="2054351" y="2763011"/>
              <a:ext cx="1752600" cy="2797810"/>
            </a:xfrm>
            <a:custGeom>
              <a:avLst/>
              <a:gdLst/>
              <a:ahLst/>
              <a:cxnLst/>
              <a:rect l="l" t="t" r="r" b="b"/>
              <a:pathLst>
                <a:path w="1752600" h="2797810">
                  <a:moveTo>
                    <a:pt x="1752600" y="0"/>
                  </a:moveTo>
                  <a:lnTo>
                    <a:pt x="0" y="0"/>
                  </a:lnTo>
                  <a:lnTo>
                    <a:pt x="0" y="2797505"/>
                  </a:lnTo>
                  <a:lnTo>
                    <a:pt x="1752600" y="2797505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312E19D1-C6BA-B7CF-BA5A-F83D76D0D258}"/>
                </a:ext>
              </a:extLst>
            </p:cNvPr>
            <p:cNvSpPr/>
            <p:nvPr/>
          </p:nvSpPr>
          <p:spPr>
            <a:xfrm>
              <a:off x="2054351" y="2763011"/>
              <a:ext cx="1752600" cy="2797810"/>
            </a:xfrm>
            <a:custGeom>
              <a:avLst/>
              <a:gdLst/>
              <a:ahLst/>
              <a:cxnLst/>
              <a:rect l="l" t="t" r="r" b="b"/>
              <a:pathLst>
                <a:path w="1752600" h="2797810">
                  <a:moveTo>
                    <a:pt x="0" y="0"/>
                  </a:moveTo>
                  <a:lnTo>
                    <a:pt x="1752600" y="0"/>
                  </a:lnTo>
                  <a:lnTo>
                    <a:pt x="1752600" y="2797505"/>
                  </a:lnTo>
                  <a:lnTo>
                    <a:pt x="0" y="279750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81A4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8" name="object 9">
              <a:extLst>
                <a:ext uri="{FF2B5EF4-FFF2-40B4-BE49-F238E27FC236}">
                  <a16:creationId xmlns:a16="http://schemas.microsoft.com/office/drawing/2014/main" id="{F75D9392-6C78-1C23-56C6-525D2A3926ED}"/>
                </a:ext>
              </a:extLst>
            </p:cNvPr>
            <p:cNvPicPr/>
            <p:nvPr/>
          </p:nvPicPr>
          <p:blipFill>
            <a:blip r:embed="rId2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2574804" y="4901932"/>
              <a:ext cx="726947" cy="726947"/>
            </a:xfrm>
            <a:prstGeom prst="rect">
              <a:avLst/>
            </a:prstGeom>
          </p:spPr>
        </p:pic>
      </p:grpSp>
      <p:sp>
        <p:nvSpPr>
          <p:cNvPr id="9" name="object 10">
            <a:extLst>
              <a:ext uri="{FF2B5EF4-FFF2-40B4-BE49-F238E27FC236}">
                <a16:creationId xmlns:a16="http://schemas.microsoft.com/office/drawing/2014/main" id="{94A0B5D7-B7E2-C06B-FCAE-041FD2DB50F7}"/>
              </a:ext>
            </a:extLst>
          </p:cNvPr>
          <p:cNvSpPr txBox="1"/>
          <p:nvPr/>
        </p:nvSpPr>
        <p:spPr>
          <a:xfrm>
            <a:off x="2396686" y="2530450"/>
            <a:ext cx="1068070" cy="47865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065" marR="5080" algn="ctr">
              <a:lnSpc>
                <a:spcPct val="102000"/>
              </a:lnSpc>
              <a:spcBef>
                <a:spcPts val="60"/>
              </a:spcBef>
            </a:pPr>
            <a:r>
              <a:rPr lang="en-US" sz="1550" b="1" spc="-10" dirty="0" err="1">
                <a:latin typeface="Segoe UI" pitchFamily="34" charset="0"/>
                <a:cs typeface="Arial"/>
              </a:rPr>
              <a:t>FulcrumQ</a:t>
            </a:r>
            <a:r>
              <a:rPr sz="1550" b="1" spc="-10" dirty="0">
                <a:latin typeface="Segoe UI" pitchFamily="34" charset="0"/>
                <a:cs typeface="Arial"/>
              </a:rPr>
              <a:t> </a:t>
            </a:r>
            <a:r>
              <a:rPr sz="1550" b="1" spc="-10" dirty="0">
                <a:solidFill>
                  <a:srgbClr val="765FFF"/>
                </a:solidFill>
                <a:latin typeface="Segoe UI" pitchFamily="34" charset="0"/>
                <a:cs typeface="Arial"/>
              </a:rPr>
              <a:t>ADVISORY</a:t>
            </a:r>
            <a:endParaRPr sz="1550" spc="-10" dirty="0">
              <a:latin typeface="Arial" pitchFamily="34" charset="0"/>
              <a:cs typeface="Arial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E4EB6833-7C75-1010-230A-58AD59AE7C49}"/>
              </a:ext>
            </a:extLst>
          </p:cNvPr>
          <p:cNvSpPr txBox="1"/>
          <p:nvPr/>
        </p:nvSpPr>
        <p:spPr>
          <a:xfrm>
            <a:off x="2096874" y="3789976"/>
            <a:ext cx="1645920" cy="182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spc="-10" dirty="0">
                <a:latin typeface="Arial" pitchFamily="34" charset="0"/>
                <a:cs typeface="Arial"/>
              </a:rPr>
              <a:t>Leadership Assessment</a:t>
            </a:r>
          </a:p>
        </p:txBody>
      </p:sp>
      <p:sp>
        <p:nvSpPr>
          <p:cNvPr id="11" name="object 13">
            <a:extLst>
              <a:ext uri="{FF2B5EF4-FFF2-40B4-BE49-F238E27FC236}">
                <a16:creationId xmlns:a16="http://schemas.microsoft.com/office/drawing/2014/main" id="{D3AA9893-8331-221C-90EE-439B505FD3F1}"/>
              </a:ext>
            </a:extLst>
          </p:cNvPr>
          <p:cNvSpPr txBox="1"/>
          <p:nvPr/>
        </p:nvSpPr>
        <p:spPr>
          <a:xfrm>
            <a:off x="2108621" y="4286157"/>
            <a:ext cx="1645920" cy="1828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9065" marR="5080" indent="-127000" algn="ctr">
              <a:lnSpc>
                <a:spcPct val="100000"/>
              </a:lnSpc>
              <a:spcBef>
                <a:spcPts val="100"/>
              </a:spcBef>
            </a:pPr>
            <a:r>
              <a:rPr lang="en-US" sz="1200" spc="-10" dirty="0">
                <a:latin typeface="Arial" pitchFamily="34" charset="0"/>
                <a:cs typeface="Arial"/>
              </a:rPr>
              <a:t>Org Design &amp; Op Model</a:t>
            </a:r>
            <a:endParaRPr lang="en-US" sz="1200" dirty="0"/>
          </a:p>
        </p:txBody>
      </p:sp>
      <p:grpSp>
        <p:nvGrpSpPr>
          <p:cNvPr id="12" name="object 14">
            <a:extLst>
              <a:ext uri="{FF2B5EF4-FFF2-40B4-BE49-F238E27FC236}">
                <a16:creationId xmlns:a16="http://schemas.microsoft.com/office/drawing/2014/main" id="{F5C3151C-AC76-88FD-1827-BA6B1C66347A}"/>
              </a:ext>
            </a:extLst>
          </p:cNvPr>
          <p:cNvGrpSpPr/>
          <p:nvPr/>
        </p:nvGrpSpPr>
        <p:grpSpPr>
          <a:xfrm>
            <a:off x="4171188" y="2422271"/>
            <a:ext cx="1752600" cy="2797810"/>
            <a:chOff x="4171188" y="2763011"/>
            <a:chExt cx="1752600" cy="2797810"/>
          </a:xfrm>
        </p:grpSpPr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8CC0E400-DC38-BDA2-C1C2-1D0EE1025AA1}"/>
                </a:ext>
              </a:extLst>
            </p:cNvPr>
            <p:cNvSpPr/>
            <p:nvPr/>
          </p:nvSpPr>
          <p:spPr>
            <a:xfrm>
              <a:off x="4171188" y="2763011"/>
              <a:ext cx="1752600" cy="2797810"/>
            </a:xfrm>
            <a:custGeom>
              <a:avLst/>
              <a:gdLst/>
              <a:ahLst/>
              <a:cxnLst/>
              <a:rect l="l" t="t" r="r" b="b"/>
              <a:pathLst>
                <a:path w="1752600" h="2797810">
                  <a:moveTo>
                    <a:pt x="0" y="0"/>
                  </a:moveTo>
                  <a:lnTo>
                    <a:pt x="1752600" y="0"/>
                  </a:lnTo>
                  <a:lnTo>
                    <a:pt x="1752600" y="2797505"/>
                  </a:lnTo>
                  <a:lnTo>
                    <a:pt x="0" y="279750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81A4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4" name="object 16">
              <a:extLst>
                <a:ext uri="{FF2B5EF4-FFF2-40B4-BE49-F238E27FC236}">
                  <a16:creationId xmlns:a16="http://schemas.microsoft.com/office/drawing/2014/main" id="{0D937075-0EB5-8482-CDB3-BE85DC114FE2}"/>
                </a:ext>
              </a:extLst>
            </p:cNvPr>
            <p:cNvPicPr/>
            <p:nvPr/>
          </p:nvPicPr>
          <p:blipFill>
            <a:blip r:embed="rId3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4741931" y="4964351"/>
              <a:ext cx="548639" cy="548639"/>
            </a:xfrm>
            <a:prstGeom prst="rect">
              <a:avLst/>
            </a:prstGeom>
          </p:spPr>
        </p:pic>
      </p:grpSp>
      <p:sp>
        <p:nvSpPr>
          <p:cNvPr id="15" name="object 17">
            <a:extLst>
              <a:ext uri="{FF2B5EF4-FFF2-40B4-BE49-F238E27FC236}">
                <a16:creationId xmlns:a16="http://schemas.microsoft.com/office/drawing/2014/main" id="{D55DC28D-0AE2-E237-A4BE-CC4AA4ED6A86}"/>
              </a:ext>
            </a:extLst>
          </p:cNvPr>
          <p:cNvSpPr txBox="1"/>
          <p:nvPr/>
        </p:nvSpPr>
        <p:spPr>
          <a:xfrm>
            <a:off x="4382453" y="2530449"/>
            <a:ext cx="1340485" cy="48768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00025" marR="5080" indent="-187960">
              <a:lnSpc>
                <a:spcPct val="102000"/>
              </a:lnSpc>
              <a:spcBef>
                <a:spcPts val="60"/>
              </a:spcBef>
            </a:pPr>
            <a:r>
              <a:rPr sz="1500" b="1" spc="-10" dirty="0">
                <a:latin typeface="Segoe UI" pitchFamily="34" charset="0"/>
                <a:cs typeface="Arial"/>
              </a:rPr>
              <a:t>Talent to Value </a:t>
            </a:r>
            <a:r>
              <a:rPr sz="1500" b="1" spc="-10" dirty="0">
                <a:solidFill>
                  <a:srgbClr val="765FFF"/>
                </a:solidFill>
                <a:latin typeface="Segoe UI" pitchFamily="34" charset="0"/>
                <a:cs typeface="Arial"/>
              </a:rPr>
              <a:t>ACADEMY</a:t>
            </a:r>
            <a:endParaRPr sz="1500" spc="-10" dirty="0">
              <a:latin typeface="Arial" pitchFamily="34" charset="0"/>
              <a:cs typeface="Arial"/>
            </a:endParaRPr>
          </a:p>
        </p:txBody>
      </p:sp>
      <p:sp>
        <p:nvSpPr>
          <p:cNvPr id="16" name="object 18">
            <a:extLst>
              <a:ext uri="{FF2B5EF4-FFF2-40B4-BE49-F238E27FC236}">
                <a16:creationId xmlns:a16="http://schemas.microsoft.com/office/drawing/2014/main" id="{97F425A0-9979-5508-FEC9-141B7940FCAD}"/>
              </a:ext>
            </a:extLst>
          </p:cNvPr>
          <p:cNvSpPr txBox="1"/>
          <p:nvPr/>
        </p:nvSpPr>
        <p:spPr>
          <a:xfrm>
            <a:off x="4397419" y="3085738"/>
            <a:ext cx="1313815" cy="148925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-1905" algn="ctr">
              <a:lnSpc>
                <a:spcPct val="98400"/>
              </a:lnSpc>
              <a:spcBef>
                <a:spcPts val="125"/>
              </a:spcBef>
            </a:pPr>
            <a:r>
              <a:rPr sz="1200" spc="-10" dirty="0">
                <a:latin typeface="Arial" pitchFamily="34" charset="0"/>
                <a:cs typeface="Arial"/>
              </a:rPr>
              <a:t>Enabling capability transfer to your </a:t>
            </a:r>
            <a:r>
              <a:rPr lang="en-US" sz="1200" spc="-10" dirty="0">
                <a:latin typeface="Arial" pitchFamily="34" charset="0"/>
                <a:cs typeface="Arial"/>
              </a:rPr>
              <a:t>organization</a:t>
            </a:r>
            <a:r>
              <a:rPr sz="1200" spc="-10" dirty="0">
                <a:latin typeface="Arial" pitchFamily="34" charset="0"/>
                <a:cs typeface="Arial"/>
              </a:rPr>
              <a:t> </a:t>
            </a:r>
            <a:endParaRPr lang="en-US" sz="1200" spc="-10" dirty="0">
              <a:latin typeface="Arial" pitchFamily="34" charset="0"/>
              <a:cs typeface="Arial"/>
            </a:endParaRPr>
          </a:p>
          <a:p>
            <a:pPr marL="12700" marR="5080" indent="-1905" algn="ctr">
              <a:lnSpc>
                <a:spcPct val="98400"/>
              </a:lnSpc>
              <a:spcBef>
                <a:spcPts val="125"/>
              </a:spcBef>
            </a:pPr>
            <a:endParaRPr lang="en-US" sz="1200" spc="-10" dirty="0">
              <a:latin typeface="Arial" pitchFamily="34" charset="0"/>
              <a:cs typeface="Arial"/>
            </a:endParaRPr>
          </a:p>
          <a:p>
            <a:pPr marL="12700" marR="5080" indent="-1905" algn="ctr">
              <a:lnSpc>
                <a:spcPct val="98400"/>
              </a:lnSpc>
              <a:spcBef>
                <a:spcPts val="125"/>
              </a:spcBef>
            </a:pPr>
            <a:r>
              <a:rPr lang="en-US" sz="1200" spc="-10" dirty="0">
                <a:latin typeface="Arial" pitchFamily="34" charset="0"/>
                <a:cs typeface="Arial"/>
              </a:rPr>
              <a:t>A</a:t>
            </a:r>
            <a:r>
              <a:rPr sz="1200" spc="-10" dirty="0">
                <a:latin typeface="Arial" pitchFamily="34" charset="0"/>
                <a:cs typeface="Arial"/>
              </a:rPr>
              <a:t> customized training and apprenticeship model</a:t>
            </a:r>
          </a:p>
        </p:txBody>
      </p:sp>
      <p:grpSp>
        <p:nvGrpSpPr>
          <p:cNvPr id="17" name="object 19">
            <a:extLst>
              <a:ext uri="{FF2B5EF4-FFF2-40B4-BE49-F238E27FC236}">
                <a16:creationId xmlns:a16="http://schemas.microsoft.com/office/drawing/2014/main" id="{F3F83226-A89F-6EA0-DDDD-26DEA6FF49E4}"/>
              </a:ext>
            </a:extLst>
          </p:cNvPr>
          <p:cNvGrpSpPr/>
          <p:nvPr/>
        </p:nvGrpSpPr>
        <p:grpSpPr>
          <a:xfrm>
            <a:off x="6284785" y="2417509"/>
            <a:ext cx="1762125" cy="2856230"/>
            <a:chOff x="6284785" y="2758249"/>
            <a:chExt cx="1762125" cy="2856230"/>
          </a:xfrm>
        </p:grpSpPr>
        <p:sp>
          <p:nvSpPr>
            <p:cNvPr id="18" name="object 20">
              <a:extLst>
                <a:ext uri="{FF2B5EF4-FFF2-40B4-BE49-F238E27FC236}">
                  <a16:creationId xmlns:a16="http://schemas.microsoft.com/office/drawing/2014/main" id="{5D1E3BD9-1CE7-28C5-A35F-CCDD362EE497}"/>
                </a:ext>
              </a:extLst>
            </p:cNvPr>
            <p:cNvSpPr/>
            <p:nvPr/>
          </p:nvSpPr>
          <p:spPr>
            <a:xfrm>
              <a:off x="6289547" y="2763011"/>
              <a:ext cx="1752600" cy="2797810"/>
            </a:xfrm>
            <a:custGeom>
              <a:avLst/>
              <a:gdLst/>
              <a:ahLst/>
              <a:cxnLst/>
              <a:rect l="l" t="t" r="r" b="b"/>
              <a:pathLst>
                <a:path w="1752600" h="2797810">
                  <a:moveTo>
                    <a:pt x="0" y="0"/>
                  </a:moveTo>
                  <a:lnTo>
                    <a:pt x="1752600" y="0"/>
                  </a:lnTo>
                  <a:lnTo>
                    <a:pt x="1752600" y="2797505"/>
                  </a:lnTo>
                  <a:lnTo>
                    <a:pt x="0" y="2797505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281A42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9" name="object 21">
              <a:extLst>
                <a:ext uri="{FF2B5EF4-FFF2-40B4-BE49-F238E27FC236}">
                  <a16:creationId xmlns:a16="http://schemas.microsoft.com/office/drawing/2014/main" id="{700837FD-DDDF-DA90-32B2-D2B5D57F01CB}"/>
                </a:ext>
              </a:extLst>
            </p:cNvPr>
            <p:cNvPicPr/>
            <p:nvPr/>
          </p:nvPicPr>
          <p:blipFill>
            <a:blip r:embed="rId4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6825995" y="4939283"/>
              <a:ext cx="675131" cy="675131"/>
            </a:xfrm>
            <a:prstGeom prst="rect">
              <a:avLst/>
            </a:prstGeom>
          </p:spPr>
        </p:pic>
      </p:grpSp>
      <p:sp>
        <p:nvSpPr>
          <p:cNvPr id="20" name="object 22">
            <a:extLst>
              <a:ext uri="{FF2B5EF4-FFF2-40B4-BE49-F238E27FC236}">
                <a16:creationId xmlns:a16="http://schemas.microsoft.com/office/drawing/2014/main" id="{899ED6FF-6887-CDC7-EFD2-FC3468D4E344}"/>
              </a:ext>
            </a:extLst>
          </p:cNvPr>
          <p:cNvSpPr txBox="1"/>
          <p:nvPr/>
        </p:nvSpPr>
        <p:spPr>
          <a:xfrm>
            <a:off x="6637967" y="2530450"/>
            <a:ext cx="1068070" cy="478593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55575" marR="5080" indent="-143510" algn="ctr">
              <a:lnSpc>
                <a:spcPct val="102000"/>
              </a:lnSpc>
              <a:spcBef>
                <a:spcPts val="60"/>
              </a:spcBef>
            </a:pPr>
            <a:r>
              <a:rPr lang="en-US" sz="1550" b="1" spc="-10" dirty="0" err="1">
                <a:latin typeface="Segoe UI" pitchFamily="34" charset="0"/>
                <a:cs typeface="Arial"/>
              </a:rPr>
              <a:t>FulcrumQ</a:t>
            </a:r>
            <a:r>
              <a:rPr sz="1550" b="1" spc="-10" dirty="0">
                <a:latin typeface="Segoe UI" pitchFamily="34" charset="0"/>
                <a:cs typeface="Arial"/>
              </a:rPr>
              <a:t> </a:t>
            </a:r>
            <a:r>
              <a:rPr sz="1550" b="1" spc="-10" dirty="0">
                <a:solidFill>
                  <a:srgbClr val="765FFF"/>
                </a:solidFill>
                <a:latin typeface="Segoe UI" pitchFamily="34" charset="0"/>
                <a:cs typeface="Arial"/>
              </a:rPr>
              <a:t>DIGITAL</a:t>
            </a:r>
            <a:endParaRPr sz="1550" spc="-10" dirty="0">
              <a:latin typeface="Arial" pitchFamily="34" charset="0"/>
              <a:cs typeface="Arial"/>
            </a:endParaRPr>
          </a:p>
        </p:txBody>
      </p:sp>
      <p:sp>
        <p:nvSpPr>
          <p:cNvPr id="21" name="object 23">
            <a:extLst>
              <a:ext uri="{FF2B5EF4-FFF2-40B4-BE49-F238E27FC236}">
                <a16:creationId xmlns:a16="http://schemas.microsoft.com/office/drawing/2014/main" id="{926F8A47-ABE6-0BE3-7350-BA025FD5EEAB}"/>
              </a:ext>
            </a:extLst>
          </p:cNvPr>
          <p:cNvSpPr txBox="1"/>
          <p:nvPr/>
        </p:nvSpPr>
        <p:spPr>
          <a:xfrm>
            <a:off x="6381935" y="3088786"/>
            <a:ext cx="1581785" cy="16862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ctr">
              <a:lnSpc>
                <a:spcPct val="98600"/>
              </a:lnSpc>
              <a:spcBef>
                <a:spcPts val="120"/>
              </a:spcBef>
            </a:pPr>
            <a:r>
              <a:rPr sz="1200" spc="-10" dirty="0">
                <a:latin typeface="Arial" pitchFamily="34" charset="0"/>
                <a:cs typeface="Arial"/>
              </a:rPr>
              <a:t>Mobilizing Talent to Value through a suite of digital tools and dashboards</a:t>
            </a:r>
            <a:endParaRPr lang="en-US" sz="1200" spc="-10" dirty="0">
              <a:latin typeface="Arial" pitchFamily="34" charset="0"/>
              <a:cs typeface="Arial"/>
            </a:endParaRPr>
          </a:p>
          <a:p>
            <a:pPr marL="12700" marR="5080" algn="ctr">
              <a:lnSpc>
                <a:spcPct val="98600"/>
              </a:lnSpc>
              <a:spcBef>
                <a:spcPts val="120"/>
              </a:spcBef>
            </a:pPr>
            <a:endParaRPr lang="en-US" sz="900" spc="-10" dirty="0">
              <a:latin typeface="Arial" pitchFamily="34" charset="0"/>
              <a:cs typeface="Arial"/>
            </a:endParaRPr>
          </a:p>
          <a:p>
            <a:pPr marL="12700" marR="5080" algn="ctr">
              <a:lnSpc>
                <a:spcPct val="98600"/>
              </a:lnSpc>
              <a:spcBef>
                <a:spcPts val="120"/>
              </a:spcBef>
            </a:pPr>
            <a:r>
              <a:rPr lang="en-US" sz="1200" spc="-10" dirty="0">
                <a:latin typeface="Arial" pitchFamily="34" charset="0"/>
                <a:cs typeface="Arial"/>
              </a:rPr>
              <a:t>Agentic AI based toolset to enhance client productivity and insights</a:t>
            </a:r>
          </a:p>
        </p:txBody>
      </p:sp>
      <p:sp>
        <p:nvSpPr>
          <p:cNvPr id="22" name="object 24">
            <a:extLst>
              <a:ext uri="{FF2B5EF4-FFF2-40B4-BE49-F238E27FC236}">
                <a16:creationId xmlns:a16="http://schemas.microsoft.com/office/drawing/2014/main" id="{795D2FCF-B6EC-DECE-924A-05677EC2DFD3}"/>
              </a:ext>
            </a:extLst>
          </p:cNvPr>
          <p:cNvSpPr/>
          <p:nvPr/>
        </p:nvSpPr>
        <p:spPr>
          <a:xfrm>
            <a:off x="8407907" y="2422271"/>
            <a:ext cx="1757045" cy="2797810"/>
          </a:xfrm>
          <a:custGeom>
            <a:avLst/>
            <a:gdLst/>
            <a:ahLst/>
            <a:cxnLst/>
            <a:rect l="l" t="t" r="r" b="b"/>
            <a:pathLst>
              <a:path w="1757045" h="2797810">
                <a:moveTo>
                  <a:pt x="0" y="0"/>
                </a:moveTo>
                <a:lnTo>
                  <a:pt x="1757045" y="0"/>
                </a:lnTo>
                <a:lnTo>
                  <a:pt x="1757045" y="2797505"/>
                </a:lnTo>
                <a:lnTo>
                  <a:pt x="0" y="279750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281A42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5">
            <a:extLst>
              <a:ext uri="{FF2B5EF4-FFF2-40B4-BE49-F238E27FC236}">
                <a16:creationId xmlns:a16="http://schemas.microsoft.com/office/drawing/2014/main" id="{70F9576D-0DE5-DCFF-1B47-89A66939660C}"/>
              </a:ext>
            </a:extLst>
          </p:cNvPr>
          <p:cNvSpPr txBox="1"/>
          <p:nvPr/>
        </p:nvSpPr>
        <p:spPr>
          <a:xfrm>
            <a:off x="8772545" y="2530450"/>
            <a:ext cx="1068070" cy="478593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37160" marR="5080" indent="-125095" algn="ctr">
              <a:lnSpc>
                <a:spcPct val="102000"/>
              </a:lnSpc>
              <a:spcBef>
                <a:spcPts val="60"/>
              </a:spcBef>
            </a:pPr>
            <a:r>
              <a:rPr lang="en-US" sz="1550" b="1" spc="-10" dirty="0" err="1">
                <a:latin typeface="Segoe UI" pitchFamily="34" charset="0"/>
                <a:cs typeface="Arial"/>
              </a:rPr>
              <a:t>FulcrumQ</a:t>
            </a:r>
            <a:br>
              <a:rPr lang="en-US" sz="1550" b="1" spc="-10" dirty="0">
                <a:latin typeface="Segoe UI" pitchFamily="34" charset="0"/>
                <a:cs typeface="Arial"/>
              </a:rPr>
            </a:br>
            <a:r>
              <a:rPr sz="1550" b="1" spc="-10" dirty="0">
                <a:solidFill>
                  <a:srgbClr val="765FFF"/>
                </a:solidFill>
                <a:latin typeface="Segoe UI" pitchFamily="34" charset="0"/>
                <a:cs typeface="Arial"/>
              </a:rPr>
              <a:t>CAPITAL</a:t>
            </a:r>
            <a:endParaRPr sz="1550" spc="-10" dirty="0">
              <a:latin typeface="Arial" pitchFamily="34" charset="0"/>
              <a:cs typeface="Arial"/>
            </a:endParaRPr>
          </a:p>
        </p:txBody>
      </p:sp>
      <p:sp>
        <p:nvSpPr>
          <p:cNvPr id="24" name="object 26">
            <a:extLst>
              <a:ext uri="{FF2B5EF4-FFF2-40B4-BE49-F238E27FC236}">
                <a16:creationId xmlns:a16="http://schemas.microsoft.com/office/drawing/2014/main" id="{70A0A8EA-D949-219E-8871-8FF71933C8E9}"/>
              </a:ext>
            </a:extLst>
          </p:cNvPr>
          <p:cNvSpPr txBox="1"/>
          <p:nvPr/>
        </p:nvSpPr>
        <p:spPr>
          <a:xfrm>
            <a:off x="8509130" y="3088786"/>
            <a:ext cx="1594485" cy="735842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065" marR="5080" indent="3175" algn="ctr">
              <a:lnSpc>
                <a:spcPct val="96500"/>
              </a:lnSpc>
              <a:spcBef>
                <a:spcPts val="150"/>
              </a:spcBef>
            </a:pPr>
            <a:r>
              <a:rPr sz="1200" spc="-10" dirty="0">
                <a:latin typeface="Arial" pitchFamily="34" charset="0"/>
                <a:cs typeface="Arial"/>
              </a:rPr>
              <a:t>Co-investing in Talent-led transformations at a Portfolio Company and/or fund-level</a:t>
            </a:r>
          </a:p>
        </p:txBody>
      </p:sp>
      <p:pic>
        <p:nvPicPr>
          <p:cNvPr id="25" name="object 27">
            <a:extLst>
              <a:ext uri="{FF2B5EF4-FFF2-40B4-BE49-F238E27FC236}">
                <a16:creationId xmlns:a16="http://schemas.microsoft.com/office/drawing/2014/main" id="{8EE154B5-6089-CB3E-D724-4C4C8A73649C}"/>
              </a:ext>
            </a:extLst>
          </p:cNvPr>
          <p:cNvPicPr/>
          <p:nvPr/>
        </p:nvPicPr>
        <p:blipFill>
          <a:blip r:embed="rId5" cstate="email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941306" y="4534536"/>
            <a:ext cx="722375" cy="722375"/>
          </a:xfrm>
          <a:prstGeom prst="rect">
            <a:avLst/>
          </a:prstGeom>
        </p:spPr>
      </p:pic>
      <p:sp>
        <p:nvSpPr>
          <p:cNvPr id="26" name="object 11">
            <a:extLst>
              <a:ext uri="{FF2B5EF4-FFF2-40B4-BE49-F238E27FC236}">
                <a16:creationId xmlns:a16="http://schemas.microsoft.com/office/drawing/2014/main" id="{F753146D-77CD-F41A-45B1-941EB1E2BD49}"/>
              </a:ext>
            </a:extLst>
          </p:cNvPr>
          <p:cNvSpPr txBox="1"/>
          <p:nvPr/>
        </p:nvSpPr>
        <p:spPr>
          <a:xfrm>
            <a:off x="2096874" y="3094520"/>
            <a:ext cx="16459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spc="-10" dirty="0">
                <a:latin typeface="Arial" pitchFamily="34" charset="0"/>
                <a:cs typeface="Arial"/>
              </a:rPr>
              <a:t>Human Capital Diligence</a:t>
            </a:r>
            <a:endParaRPr sz="1200" spc="-10" dirty="0">
              <a:latin typeface="Arial" pitchFamily="34" charset="0"/>
              <a:cs typeface="Arial"/>
            </a:endParaRPr>
          </a:p>
        </p:txBody>
      </p:sp>
      <p:sp>
        <p:nvSpPr>
          <p:cNvPr id="27" name="object 11">
            <a:extLst>
              <a:ext uri="{FF2B5EF4-FFF2-40B4-BE49-F238E27FC236}">
                <a16:creationId xmlns:a16="http://schemas.microsoft.com/office/drawing/2014/main" id="{3B19B866-26AF-33DD-88D8-77625436C458}"/>
              </a:ext>
            </a:extLst>
          </p:cNvPr>
          <p:cNvSpPr txBox="1"/>
          <p:nvPr/>
        </p:nvSpPr>
        <p:spPr>
          <a:xfrm>
            <a:off x="2096874" y="4030761"/>
            <a:ext cx="1645920" cy="1974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1200" spc="-10" dirty="0">
                <a:latin typeface="Arial" pitchFamily="34" charset="0"/>
                <a:cs typeface="Arial"/>
              </a:rPr>
              <a:t>Talent to Value Plans</a:t>
            </a:r>
          </a:p>
        </p:txBody>
      </p:sp>
      <p:sp>
        <p:nvSpPr>
          <p:cNvPr id="28" name="object 11">
            <a:extLst>
              <a:ext uri="{FF2B5EF4-FFF2-40B4-BE49-F238E27FC236}">
                <a16:creationId xmlns:a16="http://schemas.microsoft.com/office/drawing/2014/main" id="{84809397-564D-0B4C-4ACC-B619D5E0E470}"/>
              </a:ext>
            </a:extLst>
          </p:cNvPr>
          <p:cNvSpPr txBox="1"/>
          <p:nvPr/>
        </p:nvSpPr>
        <p:spPr>
          <a:xfrm>
            <a:off x="2096874" y="3534581"/>
            <a:ext cx="164592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spc="-10" dirty="0">
                <a:latin typeface="Arial" pitchFamily="34" charset="0"/>
                <a:cs typeface="Arial"/>
              </a:rPr>
              <a:t>C-Suite Selection</a:t>
            </a:r>
            <a:endParaRPr sz="1200" spc="-10" dirty="0">
              <a:latin typeface="Arial" pitchFamily="34" charset="0"/>
              <a:cs typeface="Arial"/>
            </a:endParaRPr>
          </a:p>
        </p:txBody>
      </p:sp>
      <p:sp>
        <p:nvSpPr>
          <p:cNvPr id="29" name="object 4">
            <a:extLst>
              <a:ext uri="{FF2B5EF4-FFF2-40B4-BE49-F238E27FC236}">
                <a16:creationId xmlns:a16="http://schemas.microsoft.com/office/drawing/2014/main" id="{B743ADDD-B267-5909-1451-B4D4BF8CEFD7}"/>
              </a:ext>
            </a:extLst>
          </p:cNvPr>
          <p:cNvSpPr txBox="1"/>
          <p:nvPr/>
        </p:nvSpPr>
        <p:spPr>
          <a:xfrm>
            <a:off x="1720850" y="1391207"/>
            <a:ext cx="87503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</a:pPr>
            <a:r>
              <a:rPr lang="en-US" sz="2000" b="1" spc="-10" dirty="0">
                <a:solidFill>
                  <a:srgbClr val="585858"/>
                </a:solidFill>
                <a:latin typeface="Segoe UI" pitchFamily="34" charset="0"/>
                <a:cs typeface="Arial"/>
              </a:rPr>
              <a:t>A </a:t>
            </a:r>
            <a:r>
              <a:rPr sz="2000" b="1" spc="-10" dirty="0">
                <a:solidFill>
                  <a:srgbClr val="585858"/>
                </a:solidFill>
                <a:latin typeface="Segoe UI" pitchFamily="34" charset="0"/>
                <a:cs typeface="Arial"/>
              </a:rPr>
              <a:t>Global Talent &amp; </a:t>
            </a:r>
            <a:r>
              <a:rPr lang="en-US" sz="2000" b="1" spc="-10" dirty="0">
                <a:solidFill>
                  <a:srgbClr val="585858"/>
                </a:solidFill>
                <a:latin typeface="Segoe UI" pitchFamily="34" charset="0"/>
                <a:cs typeface="Arial"/>
              </a:rPr>
              <a:t>Management</a:t>
            </a:r>
            <a:r>
              <a:rPr sz="2000" b="1" spc="-10" dirty="0">
                <a:solidFill>
                  <a:srgbClr val="585858"/>
                </a:solidFill>
                <a:latin typeface="Segoe UI" pitchFamily="34" charset="0"/>
                <a:cs typeface="Arial"/>
              </a:rPr>
              <a:t> Advisory</a:t>
            </a:r>
            <a:r>
              <a:rPr lang="en-US" sz="2000" b="1" spc="-10" dirty="0">
                <a:solidFill>
                  <a:srgbClr val="585858"/>
                </a:solidFill>
                <a:latin typeface="Segoe UI" pitchFamily="34" charset="0"/>
                <a:cs typeface="Arial"/>
              </a:rPr>
              <a:t> Firm</a:t>
            </a:r>
          </a:p>
          <a:p>
            <a:pPr marL="1270" algn="ctr">
              <a:lnSpc>
                <a:spcPct val="100000"/>
              </a:lnSpc>
            </a:pPr>
            <a:r>
              <a:rPr lang="en-US" sz="2000" b="1" spc="-10" dirty="0">
                <a:solidFill>
                  <a:srgbClr val="281A42"/>
                </a:solidFill>
                <a:latin typeface="Segoe UI" pitchFamily="34" charset="0"/>
                <a:cs typeface="Arial"/>
              </a:rPr>
              <a:t>Mobilizing Value</a:t>
            </a:r>
            <a:r>
              <a:rPr lang="en-US" sz="2000" b="1" spc="-10" dirty="0">
                <a:solidFill>
                  <a:srgbClr val="585858"/>
                </a:solidFill>
                <a:latin typeface="Segoe UI" pitchFamily="34" charset="0"/>
                <a:cs typeface="Arial"/>
              </a:rPr>
              <a:t> with a Talent Edge</a:t>
            </a:r>
            <a:endParaRPr sz="2000" spc="-10" dirty="0">
              <a:latin typeface="Arial" pitchFamily="34" charset="0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7041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26BB50-7C2D-0366-A355-864BC12CE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397D35-9D10-FD3D-5936-D6CA5FEBB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pc="-25" dirty="0">
                <a:ea typeface="Helvetica Neue" panose="02000503000000020004" pitchFamily="2" charset="0"/>
                <a:cs typeface="Helvetica Neue" panose="02000503000000020004" pitchFamily="2" charset="0"/>
              </a:rPr>
              <a:t>Talent to Value: </a:t>
            </a:r>
            <a:r>
              <a:rPr lang="en-GB" spc="-25" dirty="0">
                <a:solidFill>
                  <a:srgbClr val="281A42"/>
                </a:solidFill>
                <a:cs typeface="Helvetica Neue" panose="02000503000000020004" pitchFamily="2" charset="0"/>
              </a:rPr>
              <a:t>Gets the Strategy Moving Faster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4773857-A7F2-F75C-6DF9-95BB7F77AC28}"/>
              </a:ext>
            </a:extLst>
          </p:cNvPr>
          <p:cNvSpPr/>
          <p:nvPr/>
        </p:nvSpPr>
        <p:spPr>
          <a:xfrm>
            <a:off x="8103340" y="990228"/>
            <a:ext cx="1062066" cy="1033257"/>
          </a:xfrm>
          <a:prstGeom prst="ellipse">
            <a:avLst/>
          </a:prstGeom>
          <a:solidFill>
            <a:srgbClr val="F2F2F2"/>
          </a:solidFill>
          <a:ln>
            <a:solidFill>
              <a:srgbClr val="765FFF"/>
            </a:solidFill>
          </a:ln>
        </p:spPr>
        <p:txBody>
          <a:bodyPr vert="horz" lIns="54864" tIns="54864" rIns="45720" bIns="36576" rtlCol="0" anchor="ctr" anchorCtr="0">
            <a:noAutofit/>
          </a:bodyPr>
          <a:lstStyle/>
          <a:p>
            <a:pPr marL="0" marR="0" lvl="0" indent="0" algn="ctr" defTabSz="173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173736" algn="l"/>
                <a:tab pos="347472" algn="l"/>
                <a:tab pos="521208" algn="l"/>
                <a:tab pos="694944" algn="l"/>
              </a:tabLst>
              <a:defRPr b="1" spc="-25">
                <a:latin typeface="Segoe UI" pitchFamily="34" charset="0"/>
              </a:defRPr>
            </a:pPr>
            <a:endParaRPr kumimoji="0" lang="en-US" sz="1400" b="1" i="0" u="none" strike="noStrike" kern="1200" cap="none" spc="-25" normalizeH="0" baseline="0" noProof="0" err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Segoe UI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960CD2-5E74-A529-037B-71E949D99425}"/>
              </a:ext>
            </a:extLst>
          </p:cNvPr>
          <p:cNvSpPr/>
          <p:nvPr/>
        </p:nvSpPr>
        <p:spPr>
          <a:xfrm>
            <a:off x="5614979" y="2260647"/>
            <a:ext cx="1062066" cy="1033257"/>
          </a:xfrm>
          <a:prstGeom prst="ellipse">
            <a:avLst/>
          </a:prstGeom>
          <a:solidFill>
            <a:srgbClr val="F2F2F2"/>
          </a:solidFill>
          <a:ln>
            <a:solidFill>
              <a:srgbClr val="765FFF"/>
            </a:solidFill>
          </a:ln>
        </p:spPr>
        <p:txBody>
          <a:bodyPr vert="horz" lIns="54864" tIns="54864" rIns="45720" bIns="36576" rtlCol="0" anchor="ctr" anchorCtr="0">
            <a:noAutofit/>
          </a:bodyPr>
          <a:lstStyle/>
          <a:p>
            <a:pPr marL="0" marR="0" lvl="0" indent="0" algn="ctr" defTabSz="173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173736" algn="l"/>
                <a:tab pos="347472" algn="l"/>
                <a:tab pos="521208" algn="l"/>
                <a:tab pos="694944" algn="l"/>
              </a:tabLst>
              <a:defRPr/>
            </a:pPr>
            <a:endParaRPr kumimoji="0" lang="en-US" sz="1400" b="0" i="0" u="none" strike="noStrike" kern="1200" cap="none" spc="-10" normalizeH="0" baseline="0" noProof="0" err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Arial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B16CA4-DEE0-322A-8FC4-2E6638FD10DB}"/>
              </a:ext>
            </a:extLst>
          </p:cNvPr>
          <p:cNvSpPr/>
          <p:nvPr/>
        </p:nvSpPr>
        <p:spPr>
          <a:xfrm>
            <a:off x="3065916" y="988103"/>
            <a:ext cx="1062066" cy="1033257"/>
          </a:xfrm>
          <a:prstGeom prst="ellipse">
            <a:avLst/>
          </a:prstGeom>
          <a:solidFill>
            <a:srgbClr val="F2F2F2"/>
          </a:solidFill>
          <a:ln>
            <a:solidFill>
              <a:srgbClr val="765FFF"/>
            </a:solidFill>
          </a:ln>
        </p:spPr>
        <p:txBody>
          <a:bodyPr vert="horz" lIns="54864" tIns="54864" rIns="45720" bIns="36576" rtlCol="0" anchor="ctr" anchorCtr="0">
            <a:noAutofit/>
          </a:bodyPr>
          <a:lstStyle/>
          <a:p>
            <a:pPr marL="0" marR="0" lvl="0" indent="0" algn="ctr" defTabSz="1737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>
                <a:tab pos="173736" algn="l"/>
                <a:tab pos="347472" algn="l"/>
                <a:tab pos="521208" algn="l"/>
                <a:tab pos="694944" algn="l"/>
              </a:tabLst>
              <a:defRPr b="1" spc="-25">
                <a:latin typeface="Segoe UI" pitchFamily="34" charset="0"/>
              </a:defRPr>
            </a:pPr>
            <a:endParaRPr kumimoji="0" lang="en-US" sz="1400" b="1" i="0" u="none" strike="noStrike" kern="1200" cap="none" spc="-25" normalizeH="0" baseline="0" noProof="0" err="1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Segoe UI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 descr="Mobilize">
            <a:extLst>
              <a:ext uri="{FF2B5EF4-FFF2-40B4-BE49-F238E27FC236}">
                <a16:creationId xmlns:a16="http://schemas.microsoft.com/office/drawing/2014/main" id="{E8D59735-6986-ED4C-7D57-EB77A3929D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3158021" y="1065804"/>
            <a:ext cx="877855" cy="8778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F6F2C6-128F-0531-38DC-FEF0E7C41AB6}"/>
              </a:ext>
            </a:extLst>
          </p:cNvPr>
          <p:cNvSpPr txBox="1"/>
          <p:nvPr/>
        </p:nvSpPr>
        <p:spPr>
          <a:xfrm>
            <a:off x="2413522" y="2077231"/>
            <a:ext cx="2376746" cy="58477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>
                <a:ln>
                  <a:noFill/>
                </a:ln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Lato" panose="020F0502020204030203" pitchFamily="34" charset="0"/>
              </a:rPr>
              <a:t>Value Creating work 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“Jobs to be Done”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EE8922-7057-C9D3-EA10-2C86D564C2B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rcRect/>
          <a:stretch/>
        </p:blipFill>
        <p:spPr>
          <a:xfrm>
            <a:off x="8186542" y="1196494"/>
            <a:ext cx="895661" cy="6155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AFF354-6721-B876-4CEE-267BFB84E0A6}"/>
              </a:ext>
            </a:extLst>
          </p:cNvPr>
          <p:cNvSpPr txBox="1"/>
          <p:nvPr/>
        </p:nvSpPr>
        <p:spPr>
          <a:xfrm>
            <a:off x="5193499" y="3332366"/>
            <a:ext cx="1905027" cy="58477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Pinpoint Risks to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>
                <a:ln>
                  <a:noFill/>
                </a:ln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Critical Roles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757F04-74F5-1662-FA14-A2044730AA6E}"/>
              </a:ext>
            </a:extLst>
          </p:cNvPr>
          <p:cNvSpPr txBox="1"/>
          <p:nvPr/>
        </p:nvSpPr>
        <p:spPr>
          <a:xfrm>
            <a:off x="7608039" y="2053161"/>
            <a:ext cx="2052666" cy="58477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Success at points of Leverage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A145D4-E879-DC67-4390-BD0ABAA38FD5}"/>
              </a:ext>
            </a:extLst>
          </p:cNvPr>
          <p:cNvCxnSpPr/>
          <p:nvPr/>
        </p:nvCxnSpPr>
        <p:spPr>
          <a:xfrm flipV="1">
            <a:off x="4193381" y="1502844"/>
            <a:ext cx="3805237" cy="0"/>
          </a:xfrm>
          <a:prstGeom prst="straightConnector1">
            <a:avLst/>
          </a:prstGeom>
          <a:ln w="9525"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E3A49E-2093-472D-38BF-90B0F3C96019}"/>
              </a:ext>
            </a:extLst>
          </p:cNvPr>
          <p:cNvCxnSpPr>
            <a:cxnSpLocks/>
          </p:cNvCxnSpPr>
          <p:nvPr/>
        </p:nvCxnSpPr>
        <p:spPr>
          <a:xfrm flipV="1">
            <a:off x="6146012" y="1545707"/>
            <a:ext cx="0" cy="558148"/>
          </a:xfrm>
          <a:prstGeom prst="straightConnector1">
            <a:avLst/>
          </a:prstGeom>
          <a:ln w="9525"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The Code">
            <a:extLst>
              <a:ext uri="{FF2B5EF4-FFF2-40B4-BE49-F238E27FC236}">
                <a16:creationId xmlns:a16="http://schemas.microsoft.com/office/drawing/2014/main" id="{C97A2D76-7089-17B2-FDFB-F021B8D1F55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822012" y="2453275"/>
            <a:ext cx="648000" cy="64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5C8ABC-9A84-0E96-E06E-DF7498692CBA}"/>
              </a:ext>
            </a:extLst>
          </p:cNvPr>
          <p:cNvSpPr txBox="1"/>
          <p:nvPr/>
        </p:nvSpPr>
        <p:spPr>
          <a:xfrm>
            <a:off x="2619825" y="5716267"/>
            <a:ext cx="1859280" cy="64008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600" b="1"/>
              <a:t>Value is the unit of Measure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D20D50-2B11-22BF-42AC-CAB31D5457E7}"/>
              </a:ext>
            </a:extLst>
          </p:cNvPr>
          <p:cNvSpPr txBox="1"/>
          <p:nvPr/>
        </p:nvSpPr>
        <p:spPr>
          <a:xfrm>
            <a:off x="5210625" y="5621017"/>
            <a:ext cx="1859280" cy="83058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600" b="1"/>
              <a:t>Constrained by focus – not supply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352DAF-9DFF-B301-4F75-BD3E1B7F69D5}"/>
              </a:ext>
            </a:extLst>
          </p:cNvPr>
          <p:cNvSpPr txBox="1"/>
          <p:nvPr/>
        </p:nvSpPr>
        <p:spPr>
          <a:xfrm>
            <a:off x="7801425" y="5621017"/>
            <a:ext cx="1859280" cy="83058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600" b="1"/>
              <a:t>Talent at the same altitude as strategy</a:t>
            </a:r>
          </a:p>
        </p:txBody>
      </p:sp>
      <p:pic>
        <p:nvPicPr>
          <p:cNvPr id="18" name="Picture 17" descr="Mobilize">
            <a:extLst>
              <a:ext uri="{FF2B5EF4-FFF2-40B4-BE49-F238E27FC236}">
                <a16:creationId xmlns:a16="http://schemas.microsoft.com/office/drawing/2014/main" id="{7061FFDB-0C58-171A-9D67-9243BA8CD59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2929855" y="4416679"/>
            <a:ext cx="1259413" cy="12594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08ADADC-C647-0322-9C2C-7C8AAC913FA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rgbClr val="765FFF"/>
              <a:srgbClr val="FFFFFF"/>
            </a:duotone>
          </a:blip>
          <a:srcRect/>
          <a:stretch/>
        </p:blipFill>
        <p:spPr>
          <a:xfrm>
            <a:off x="5560106" y="4457758"/>
            <a:ext cx="1160318" cy="116031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AC30E2-E1C4-28CE-AE25-62F121F2614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096700" y="4349346"/>
            <a:ext cx="1268730" cy="1268730"/>
          </a:xfrm>
          <a:prstGeom prst="rect">
            <a:avLst/>
          </a:prstGeom>
        </p:spPr>
      </p:pic>
      <p:sp>
        <p:nvSpPr>
          <p:cNvPr id="21" name="Isosceles Triangle 48">
            <a:extLst>
              <a:ext uri="{FF2B5EF4-FFF2-40B4-BE49-F238E27FC236}">
                <a16:creationId xmlns:a16="http://schemas.microsoft.com/office/drawing/2014/main" id="{E6384679-677A-6C8F-3125-86E3C08CADA3}"/>
              </a:ext>
            </a:extLst>
          </p:cNvPr>
          <p:cNvSpPr/>
          <p:nvPr/>
        </p:nvSpPr>
        <p:spPr>
          <a:xfrm>
            <a:off x="3065916" y="4202513"/>
            <a:ext cx="6594789" cy="460927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9932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577673-2597-3215-CC4F-A16BF295FD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41D19A-B6D4-7C0F-CA23-8200AD550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5" dirty="0">
                <a:solidFill>
                  <a:srgbClr val="765FFF"/>
                </a:solidFill>
                <a:cs typeface="Helvetica Neue" panose="02000503000000020004" pitchFamily="2" charset="0"/>
              </a:rPr>
              <a:t>Why Talent to Value</a:t>
            </a:r>
            <a:r>
              <a:rPr lang="en-US" spc="-25" dirty="0"/>
              <a:t>: CEO Success</a:t>
            </a:r>
            <a:endParaRPr lang="en-US" dirty="0"/>
          </a:p>
        </p:txBody>
      </p:sp>
      <p:sp>
        <p:nvSpPr>
          <p:cNvPr id="4" name="object 52">
            <a:extLst>
              <a:ext uri="{FF2B5EF4-FFF2-40B4-BE49-F238E27FC236}">
                <a16:creationId xmlns:a16="http://schemas.microsoft.com/office/drawing/2014/main" id="{3FD05A23-C0C7-C0E8-7908-457F1828F571}"/>
              </a:ext>
            </a:extLst>
          </p:cNvPr>
          <p:cNvSpPr/>
          <p:nvPr/>
        </p:nvSpPr>
        <p:spPr>
          <a:xfrm>
            <a:off x="3634899" y="2910638"/>
            <a:ext cx="1821671" cy="1681247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67" b="0" i="0" u="none" strike="noStrike" kern="1200" cap="none" spc="-1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object 57">
            <a:extLst>
              <a:ext uri="{FF2B5EF4-FFF2-40B4-BE49-F238E27FC236}">
                <a16:creationId xmlns:a16="http://schemas.microsoft.com/office/drawing/2014/main" id="{5927E4C9-9FB8-E732-F15D-C5784E17E7DF}"/>
              </a:ext>
            </a:extLst>
          </p:cNvPr>
          <p:cNvSpPr txBox="1"/>
          <p:nvPr/>
        </p:nvSpPr>
        <p:spPr>
          <a:xfrm>
            <a:off x="3638125" y="3043699"/>
            <a:ext cx="1821671" cy="1248397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67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56%</a:t>
            </a:r>
            <a:endParaRPr kumimoji="0" lang="en-US" sz="1600" b="0" i="0" u="none" strike="noStrike" kern="1200" cap="none" spc="-1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Arial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-10" normalizeH="0" baseline="0" noProof="0" dirty="0">
              <a:ln>
                <a:noFill/>
              </a:ln>
              <a:solidFill>
                <a:srgbClr val="281A42"/>
              </a:solidFill>
              <a:effectLst/>
              <a:uLnTx/>
              <a:uFillTx/>
              <a:latin typeface="Arial" pitchFamily="34" charset="0"/>
              <a:ea typeface="+mn-ea"/>
              <a:cs typeface="Arial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1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0" i="0" u="none" strike="noStrike" kern="1200" cap="none" spc="-10" normalizeH="0" baseline="0" noProof="0" dirty="0">
              <a:ln>
                <a:noFill/>
              </a:ln>
              <a:solidFill>
                <a:srgbClr val="281A42"/>
              </a:solidFill>
              <a:effectLst/>
              <a:uLnTx/>
              <a:uFillTx/>
              <a:latin typeface="Arial" pitchFamily="34" charset="0"/>
              <a:ea typeface="+mn-ea"/>
              <a:cs typeface="Arial"/>
            </a:endParaRPr>
          </a:p>
        </p:txBody>
      </p:sp>
      <p:sp>
        <p:nvSpPr>
          <p:cNvPr id="6" name="object 52">
            <a:extLst>
              <a:ext uri="{FF2B5EF4-FFF2-40B4-BE49-F238E27FC236}">
                <a16:creationId xmlns:a16="http://schemas.microsoft.com/office/drawing/2014/main" id="{94B3577D-4F59-2B2B-EF12-04EF861BAED2}"/>
              </a:ext>
            </a:extLst>
          </p:cNvPr>
          <p:cNvSpPr/>
          <p:nvPr/>
        </p:nvSpPr>
        <p:spPr>
          <a:xfrm>
            <a:off x="1615873" y="2910638"/>
            <a:ext cx="1821671" cy="1681247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67" b="0" i="0" u="none" strike="noStrike" kern="1200" cap="none" spc="-1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object 57">
            <a:extLst>
              <a:ext uri="{FF2B5EF4-FFF2-40B4-BE49-F238E27FC236}">
                <a16:creationId xmlns:a16="http://schemas.microsoft.com/office/drawing/2014/main" id="{4FF416AF-3124-9D48-A793-6CFE7950DB40}"/>
              </a:ext>
            </a:extLst>
          </p:cNvPr>
          <p:cNvSpPr txBox="1"/>
          <p:nvPr/>
        </p:nvSpPr>
        <p:spPr>
          <a:xfrm>
            <a:off x="1606907" y="3043699"/>
            <a:ext cx="1821671" cy="11174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67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2.2</a:t>
            </a:r>
            <a:endParaRPr kumimoji="0" lang="en-US" sz="4267" b="0" i="0" u="none" strike="noStrike" kern="1200" cap="none" spc="-1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Arial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1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Years</a:t>
            </a:r>
          </a:p>
          <a:p>
            <a:pPr marL="206582" marR="206582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-10" normalizeH="0" baseline="0" noProof="0" dirty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itchFamily="34" charset="0"/>
              <a:ea typeface="+mn-e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2F5DBC-6BAD-2C74-7D8F-9DADA5E10BE0}"/>
              </a:ext>
            </a:extLst>
          </p:cNvPr>
          <p:cNvSpPr txBox="1"/>
          <p:nvPr/>
        </p:nvSpPr>
        <p:spPr>
          <a:xfrm>
            <a:off x="1696101" y="4002147"/>
            <a:ext cx="1661212" cy="5334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marL="431789" marR="435176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Average time </a:t>
            </a:r>
          </a:p>
          <a:p>
            <a:pPr marL="431789" marR="435176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to replacement</a:t>
            </a:r>
            <a:endParaRPr kumimoji="0" lang="en-US" sz="1333" b="0" i="0" u="none" strike="noStrike" kern="1200" cap="none" spc="-10" normalizeH="0" baseline="24691" noProof="0" dirty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D6134-6926-26B1-BAA1-3A11F395219A}"/>
              </a:ext>
            </a:extLst>
          </p:cNvPr>
          <p:cNvSpPr txBox="1"/>
          <p:nvPr/>
        </p:nvSpPr>
        <p:spPr>
          <a:xfrm>
            <a:off x="3729053" y="3940490"/>
            <a:ext cx="1661212" cy="32829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>
            <a:defPPr>
              <a:defRPr lang="en-US"/>
            </a:defPPr>
            <a:lvl1pPr marL="323850" marR="32639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1" i="0" u="none" strike="noStrike" cap="none" spc="-10" normalizeH="0" baseline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Segoe UI" pitchFamily="34" charset="0"/>
                <a:cs typeface="Arial"/>
              </a:defRPr>
            </a:lvl1pPr>
          </a:lstStyle>
          <a:p>
            <a:pPr marL="431789" marR="435176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Failure Rate</a:t>
            </a:r>
          </a:p>
        </p:txBody>
      </p:sp>
      <p:sp>
        <p:nvSpPr>
          <p:cNvPr id="10" name="object 33">
            <a:extLst>
              <a:ext uri="{FF2B5EF4-FFF2-40B4-BE49-F238E27FC236}">
                <a16:creationId xmlns:a16="http://schemas.microsoft.com/office/drawing/2014/main" id="{DCDC88BC-25F3-5123-4D30-16A1DD5C2518}"/>
              </a:ext>
            </a:extLst>
          </p:cNvPr>
          <p:cNvSpPr/>
          <p:nvPr/>
        </p:nvSpPr>
        <p:spPr>
          <a:xfrm>
            <a:off x="3608591" y="2145574"/>
            <a:ext cx="1964491" cy="621330"/>
          </a:xfrm>
          <a:custGeom>
            <a:avLst/>
            <a:gdLst/>
            <a:ahLst/>
            <a:cxnLst/>
            <a:rect l="l" t="t" r="r" b="b"/>
            <a:pathLst>
              <a:path w="3586479" h="723900">
                <a:moveTo>
                  <a:pt x="3585972" y="0"/>
                </a:moveTo>
                <a:lnTo>
                  <a:pt x="0" y="0"/>
                </a:lnTo>
                <a:lnTo>
                  <a:pt x="0" y="723900"/>
                </a:lnTo>
                <a:lnTo>
                  <a:pt x="3585972" y="723900"/>
                </a:lnTo>
                <a:lnTo>
                  <a:pt x="3585972" y="622414"/>
                </a:lnTo>
                <a:lnTo>
                  <a:pt x="2961741" y="622414"/>
                </a:lnTo>
                <a:lnTo>
                  <a:pt x="3109887" y="357492"/>
                </a:lnTo>
                <a:lnTo>
                  <a:pt x="2961741" y="92557"/>
                </a:lnTo>
                <a:lnTo>
                  <a:pt x="3585972" y="92557"/>
                </a:lnTo>
                <a:lnTo>
                  <a:pt x="3585972" y="0"/>
                </a:lnTo>
                <a:close/>
              </a:path>
              <a:path w="3586479" h="723900">
                <a:moveTo>
                  <a:pt x="3585972" y="92557"/>
                </a:moveTo>
                <a:lnTo>
                  <a:pt x="2961741" y="92557"/>
                </a:lnTo>
                <a:lnTo>
                  <a:pt x="3413137" y="357492"/>
                </a:lnTo>
                <a:lnTo>
                  <a:pt x="2961741" y="622414"/>
                </a:lnTo>
                <a:lnTo>
                  <a:pt x="3585972" y="622414"/>
                </a:lnTo>
                <a:lnTo>
                  <a:pt x="3585972" y="92557"/>
                </a:lnTo>
                <a:close/>
              </a:path>
            </a:pathLst>
          </a:custGeom>
          <a:solidFill>
            <a:srgbClr val="3B3B3B"/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endParaRPr kumimoji="0" sz="1333" b="1" i="0" u="none" strike="noStrike" kern="1200" cap="none" spc="-25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FAEFA8-EFB1-FF71-00A2-1611E69B2067}"/>
              </a:ext>
            </a:extLst>
          </p:cNvPr>
          <p:cNvGrpSpPr/>
          <p:nvPr/>
        </p:nvGrpSpPr>
        <p:grpSpPr>
          <a:xfrm>
            <a:off x="1520610" y="2145574"/>
            <a:ext cx="1964491" cy="621331"/>
            <a:chOff x="903151" y="1298873"/>
            <a:chExt cx="1473368" cy="465998"/>
          </a:xfrm>
          <a:solidFill>
            <a:srgbClr val="3B3B3B"/>
          </a:solidFill>
        </p:grpSpPr>
        <p:grpSp>
          <p:nvGrpSpPr>
            <p:cNvPr id="12" name="object 35">
              <a:extLst>
                <a:ext uri="{FF2B5EF4-FFF2-40B4-BE49-F238E27FC236}">
                  <a16:creationId xmlns:a16="http://schemas.microsoft.com/office/drawing/2014/main" id="{8F71C7FC-0473-B092-7FB1-CA4A7BF584E6}"/>
                </a:ext>
              </a:extLst>
            </p:cNvPr>
            <p:cNvGrpSpPr/>
            <p:nvPr/>
          </p:nvGrpSpPr>
          <p:grpSpPr>
            <a:xfrm>
              <a:off x="903151" y="1298873"/>
              <a:ext cx="1473368" cy="465998"/>
              <a:chOff x="2167125" y="1289302"/>
              <a:chExt cx="3586479" cy="723900"/>
            </a:xfrm>
            <a:grpFill/>
          </p:grpSpPr>
          <p:pic>
            <p:nvPicPr>
              <p:cNvPr id="14" name="object 37">
                <a:extLst>
                  <a:ext uri="{FF2B5EF4-FFF2-40B4-BE49-F238E27FC236}">
                    <a16:creationId xmlns:a16="http://schemas.microsoft.com/office/drawing/2014/main" id="{FB5362AE-E026-E3E8-09D9-DEF4D21F532A}"/>
                  </a:ext>
                </a:extLst>
              </p:cNvPr>
              <p:cNvPicPr/>
              <p:nvPr/>
            </p:nvPicPr>
            <p:blipFill>
              <a:blip r:embed="rId2" cstate="email">
                <a:duotone>
                  <a:srgbClr val="765FFF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750820" y="1464564"/>
                <a:ext cx="2470403" cy="480059"/>
              </a:xfrm>
              <a:prstGeom prst="rect">
                <a:avLst/>
              </a:prstGeom>
              <a:grpFill/>
            </p:spPr>
          </p:pic>
          <p:sp>
            <p:nvSpPr>
              <p:cNvPr id="15" name="object 38">
                <a:extLst>
                  <a:ext uri="{FF2B5EF4-FFF2-40B4-BE49-F238E27FC236}">
                    <a16:creationId xmlns:a16="http://schemas.microsoft.com/office/drawing/2014/main" id="{5ACEC75D-B171-BE49-324B-72ECC89D2A49}"/>
                  </a:ext>
                </a:extLst>
              </p:cNvPr>
              <p:cNvSpPr/>
              <p:nvPr/>
            </p:nvSpPr>
            <p:spPr>
              <a:xfrm>
                <a:off x="2167125" y="1289302"/>
                <a:ext cx="3586479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3586479" h="723900">
                    <a:moveTo>
                      <a:pt x="3585972" y="0"/>
                    </a:moveTo>
                    <a:lnTo>
                      <a:pt x="0" y="0"/>
                    </a:lnTo>
                    <a:lnTo>
                      <a:pt x="0" y="723900"/>
                    </a:lnTo>
                    <a:lnTo>
                      <a:pt x="3585972" y="723900"/>
                    </a:lnTo>
                    <a:lnTo>
                      <a:pt x="3585972" y="622414"/>
                    </a:lnTo>
                    <a:lnTo>
                      <a:pt x="624230" y="622414"/>
                    </a:lnTo>
                    <a:lnTo>
                      <a:pt x="172834" y="357492"/>
                    </a:lnTo>
                    <a:lnTo>
                      <a:pt x="624230" y="92557"/>
                    </a:lnTo>
                    <a:lnTo>
                      <a:pt x="3585972" y="92557"/>
                    </a:lnTo>
                    <a:lnTo>
                      <a:pt x="3585972" y="0"/>
                    </a:lnTo>
                    <a:close/>
                  </a:path>
                  <a:path w="3586479" h="723900">
                    <a:moveTo>
                      <a:pt x="3585972" y="92557"/>
                    </a:moveTo>
                    <a:lnTo>
                      <a:pt x="624230" y="92557"/>
                    </a:lnTo>
                    <a:lnTo>
                      <a:pt x="476084" y="357492"/>
                    </a:lnTo>
                    <a:lnTo>
                      <a:pt x="624230" y="622414"/>
                    </a:lnTo>
                    <a:lnTo>
                      <a:pt x="3585972" y="622414"/>
                    </a:lnTo>
                    <a:lnTo>
                      <a:pt x="3585972" y="92557"/>
                    </a:lnTo>
                    <a:close/>
                  </a:path>
                </a:pathLst>
              </a:custGeom>
              <a:grpFill/>
            </p:spPr>
            <p:txBody>
              <a:bodyPr wrap="square" lIns="0" tIns="0" rIns="0" bIns="0" rtlCol="0"/>
              <a:lstStyle/>
              <a:p>
                <a:pPr marL="0" marR="0" lvl="0" indent="0" algn="l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b="1" spc="-25">
                    <a:latin typeface="Segoe UI" pitchFamily="34" charset="0"/>
                  </a:defRPr>
                </a:pPr>
                <a:endParaRPr kumimoji="0" sz="1333" b="1" i="0" u="none" strike="noStrike" kern="1200" cap="none" spc="-25" normalizeH="0" baseline="0" noProof="0" dirty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3" name="object 39">
              <a:extLst>
                <a:ext uri="{FF2B5EF4-FFF2-40B4-BE49-F238E27FC236}">
                  <a16:creationId xmlns:a16="http://schemas.microsoft.com/office/drawing/2014/main" id="{2235B530-6364-5BCB-6190-FEF46DD068B8}"/>
                </a:ext>
              </a:extLst>
            </p:cNvPr>
            <p:cNvSpPr txBox="1"/>
            <p:nvPr/>
          </p:nvSpPr>
          <p:spPr>
            <a:xfrm>
              <a:off x="1313011" y="1364321"/>
              <a:ext cx="1014870" cy="336631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17780" rIns="0" bIns="0" rtlCol="0">
              <a:spAutoFit/>
            </a:bodyPr>
            <a:lstStyle/>
            <a:p>
              <a:pPr marL="16933" marR="0" lvl="0" indent="0" algn="r" defTabSz="1219170" rtl="0" eaLnBrk="1" fontAlgn="auto" latinLnBrk="0" hangingPunct="1">
                <a:lnSpc>
                  <a:spcPct val="100000"/>
                </a:lnSpc>
                <a:spcBef>
                  <a:spcPts val="14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b="1" spc="-25">
                  <a:latin typeface="Segoe UI" pitchFamily="34" charset="0"/>
                </a:defRPr>
              </a:pPr>
              <a:r>
                <a:rPr kumimoji="0" sz="1400" b="1" i="0" u="none" strike="noStrike" kern="1200" cap="none" spc="-25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itchFamily="34" charset="0"/>
                  <a:ea typeface="+mn-ea"/>
                  <a:cs typeface="Arial"/>
                </a:rPr>
                <a:t>80 Investments Backward</a:t>
              </a:r>
              <a:endParaRPr kumimoji="0" sz="1400" b="1" i="0" u="none" strike="noStrike" kern="1200" cap="none" spc="-25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+mn-ea"/>
                <a:cs typeface="Arial"/>
              </a:endParaRPr>
            </a:p>
          </p:txBody>
        </p:sp>
      </p:grpSp>
      <p:sp>
        <p:nvSpPr>
          <p:cNvPr id="16" name="object 39">
            <a:extLst>
              <a:ext uri="{FF2B5EF4-FFF2-40B4-BE49-F238E27FC236}">
                <a16:creationId xmlns:a16="http://schemas.microsoft.com/office/drawing/2014/main" id="{EB097892-58DC-F7CD-6754-7C54386F0BD7}"/>
              </a:ext>
            </a:extLst>
          </p:cNvPr>
          <p:cNvSpPr txBox="1"/>
          <p:nvPr/>
        </p:nvSpPr>
        <p:spPr>
          <a:xfrm>
            <a:off x="2298885" y="1910505"/>
            <a:ext cx="2460359" cy="2026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 marR="0" lvl="0" indent="0" algn="ctr" defTabSz="1219170" rtl="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WE LOOKED 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361595-17D7-1D20-03A5-22F8877B325B}"/>
              </a:ext>
            </a:extLst>
          </p:cNvPr>
          <p:cNvSpPr txBox="1"/>
          <p:nvPr/>
        </p:nvSpPr>
        <p:spPr>
          <a:xfrm>
            <a:off x="418351" y="5896716"/>
            <a:ext cx="3190240" cy="41110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* Equilar CEO Tenure Study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** Russell Reynolds Global CEO Turnover Index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spc="-10" dirty="0">
                <a:latin typeface="Arial" pitchFamily="34" charset="0"/>
              </a:rPr>
              <a:t>** World Economic Forum</a:t>
            </a:r>
            <a:endParaRPr kumimoji="0" lang="en-US" sz="800" b="0" i="1" u="none" strike="noStrike" kern="1200" cap="none" spc="-1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176A2B-9CB9-A149-86ED-A4DCD0FAA8B0}"/>
              </a:ext>
            </a:extLst>
          </p:cNvPr>
          <p:cNvSpPr txBox="1"/>
          <p:nvPr/>
        </p:nvSpPr>
        <p:spPr>
          <a:xfrm>
            <a:off x="2119289" y="1416329"/>
            <a:ext cx="2942275" cy="58690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In Private Equity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905D47-0C24-7BC1-B801-F7C3456CE6E3}"/>
              </a:ext>
            </a:extLst>
          </p:cNvPr>
          <p:cNvSpPr txBox="1"/>
          <p:nvPr/>
        </p:nvSpPr>
        <p:spPr>
          <a:xfrm>
            <a:off x="7404741" y="1424909"/>
            <a:ext cx="2942275" cy="58690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In S&amp;P500 Companies</a:t>
            </a:r>
          </a:p>
        </p:txBody>
      </p:sp>
      <p:sp>
        <p:nvSpPr>
          <p:cNvPr id="20" name="object 52">
            <a:extLst>
              <a:ext uri="{FF2B5EF4-FFF2-40B4-BE49-F238E27FC236}">
                <a16:creationId xmlns:a16="http://schemas.microsoft.com/office/drawing/2014/main" id="{7F1BD22F-A5A4-3427-7C10-0B64A6542B94}"/>
              </a:ext>
            </a:extLst>
          </p:cNvPr>
          <p:cNvSpPr/>
          <p:nvPr/>
        </p:nvSpPr>
        <p:spPr>
          <a:xfrm>
            <a:off x="8985126" y="2282346"/>
            <a:ext cx="1821671" cy="2293309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67" b="0" i="0" u="none" strike="noStrike" kern="1200" cap="none" spc="-1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1" name="object 57">
            <a:extLst>
              <a:ext uri="{FF2B5EF4-FFF2-40B4-BE49-F238E27FC236}">
                <a16:creationId xmlns:a16="http://schemas.microsoft.com/office/drawing/2014/main" id="{3ADE0A97-2411-2187-CAC1-44479E6159A0}"/>
              </a:ext>
            </a:extLst>
          </p:cNvPr>
          <p:cNvSpPr txBox="1"/>
          <p:nvPr/>
        </p:nvSpPr>
        <p:spPr>
          <a:xfrm>
            <a:off x="8964054" y="2606489"/>
            <a:ext cx="1821671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-10" normalizeH="0" baseline="0" noProof="0" dirty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2x</a:t>
            </a:r>
            <a:endParaRPr kumimoji="0" lang="en-US" sz="2133" b="0" i="0" u="none" strike="noStrike" kern="1200" cap="none" spc="-10" normalizeH="0" baseline="0" noProof="0" dirty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itchFamily="34" charset="0"/>
              <a:ea typeface="+mn-ea"/>
              <a:cs typeface="Arial"/>
            </a:endParaRPr>
          </a:p>
        </p:txBody>
      </p:sp>
      <p:sp>
        <p:nvSpPr>
          <p:cNvPr id="22" name="object 52">
            <a:extLst>
              <a:ext uri="{FF2B5EF4-FFF2-40B4-BE49-F238E27FC236}">
                <a16:creationId xmlns:a16="http://schemas.microsoft.com/office/drawing/2014/main" id="{E80CA956-06AB-9DCA-6FE4-01854EF017CB}"/>
              </a:ext>
            </a:extLst>
          </p:cNvPr>
          <p:cNvSpPr/>
          <p:nvPr/>
        </p:nvSpPr>
        <p:spPr>
          <a:xfrm>
            <a:off x="6966099" y="2282346"/>
            <a:ext cx="1821671" cy="2293309"/>
          </a:xfrm>
          <a:custGeom>
            <a:avLst/>
            <a:gdLst/>
            <a:ahLst/>
            <a:cxnLst/>
            <a:rect l="l" t="t" r="r" b="b"/>
            <a:pathLst>
              <a:path w="1804670" h="2390140">
                <a:moveTo>
                  <a:pt x="1804416" y="0"/>
                </a:moveTo>
                <a:lnTo>
                  <a:pt x="0" y="0"/>
                </a:lnTo>
                <a:lnTo>
                  <a:pt x="0" y="2389632"/>
                </a:lnTo>
                <a:lnTo>
                  <a:pt x="1804416" y="2389632"/>
                </a:lnTo>
                <a:lnTo>
                  <a:pt x="1804416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67" b="0" i="0" u="none" strike="noStrike" kern="1200" cap="none" spc="-1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762DA9-C4E0-3157-A127-0056EA777928}"/>
              </a:ext>
            </a:extLst>
          </p:cNvPr>
          <p:cNvSpPr txBox="1"/>
          <p:nvPr/>
        </p:nvSpPr>
        <p:spPr>
          <a:xfrm>
            <a:off x="7048462" y="3803607"/>
            <a:ext cx="1661212" cy="5334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marL="431789" marR="435176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20% decline in </a:t>
            </a:r>
          </a:p>
          <a:p>
            <a:pPr marL="431789" marR="435176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tenures*</a:t>
            </a:r>
            <a:endParaRPr kumimoji="0" lang="en-US" sz="1200" b="0" i="0" u="none" strike="noStrike" kern="1200" cap="none" spc="-10" normalizeH="0" baseline="24691" noProof="0" dirty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4ABC6B-B0DB-A9EE-3D29-04241B3EBB85}"/>
              </a:ext>
            </a:extLst>
          </p:cNvPr>
          <p:cNvSpPr txBox="1"/>
          <p:nvPr/>
        </p:nvSpPr>
        <p:spPr>
          <a:xfrm>
            <a:off x="9079282" y="3773059"/>
            <a:ext cx="1661212" cy="328295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>
            <a:defPPr>
              <a:defRPr lang="en-US"/>
            </a:defPPr>
            <a:lvl1pPr marL="323850" marR="32639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1" i="0" u="none" strike="noStrike" cap="none" spc="-10" normalizeH="0" baseline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Segoe UI" pitchFamily="34" charset="0"/>
                <a:cs typeface="Arial"/>
              </a:defRPr>
            </a:lvl1pPr>
          </a:lstStyle>
          <a:p>
            <a:pPr marL="431789" marR="435176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 CEO’s exited </a:t>
            </a:r>
          </a:p>
          <a:p>
            <a:pPr marL="431789" marR="435176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in the first 2 years</a:t>
            </a:r>
          </a:p>
          <a:p>
            <a:pPr marL="431789" marR="435176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2019 - 2024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C9ACF8-3A54-788E-6338-C99F5996BB38}"/>
              </a:ext>
            </a:extLst>
          </p:cNvPr>
          <p:cNvCxnSpPr/>
          <p:nvPr/>
        </p:nvCxnSpPr>
        <p:spPr>
          <a:xfrm flipV="1">
            <a:off x="7223849" y="2355383"/>
            <a:ext cx="0" cy="1171368"/>
          </a:xfrm>
          <a:prstGeom prst="straightConnector1">
            <a:avLst/>
          </a:prstGeom>
          <a:ln w="9525"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7680AA1-4893-6CE2-5A27-5C2A8D460535}"/>
              </a:ext>
            </a:extLst>
          </p:cNvPr>
          <p:cNvCxnSpPr>
            <a:cxnSpLocks/>
          </p:cNvCxnSpPr>
          <p:nvPr/>
        </p:nvCxnSpPr>
        <p:spPr>
          <a:xfrm>
            <a:off x="7223850" y="3526751"/>
            <a:ext cx="1374589" cy="0"/>
          </a:xfrm>
          <a:prstGeom prst="straightConnector1">
            <a:avLst/>
          </a:prstGeom>
          <a:ln w="9525"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85B179D-FF83-11E4-C722-62DBB8B2F76E}"/>
              </a:ext>
            </a:extLst>
          </p:cNvPr>
          <p:cNvSpPr/>
          <p:nvPr/>
        </p:nvSpPr>
        <p:spPr>
          <a:xfrm>
            <a:off x="7371611" y="2616252"/>
            <a:ext cx="367551" cy="910499"/>
          </a:xfrm>
          <a:prstGeom prst="rect">
            <a:avLst/>
          </a:prstGeom>
          <a:solidFill>
            <a:srgbClr val="281A42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marL="0" marR="0" lvl="0" indent="0" algn="ctr" defTabSz="2316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231642" algn="l"/>
                <a:tab pos="463284" algn="l"/>
                <a:tab pos="694927" algn="l"/>
                <a:tab pos="926569" algn="l"/>
              </a:tabLst>
              <a:defRPr>
                <a:solidFill>
                  <a:srgbClr val="FFFFFF"/>
                </a:solidFill>
              </a:defRPr>
            </a:pPr>
            <a:r>
              <a:rPr kumimoji="0" lang="en-US" sz="800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Arial" panose="020B0604020202020204" pitchFamily="34" charset="0"/>
              </a:rPr>
              <a:t>6 Yrs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A70BDF-4646-BE06-0821-6B8536E1B707}"/>
              </a:ext>
            </a:extLst>
          </p:cNvPr>
          <p:cNvSpPr/>
          <p:nvPr/>
        </p:nvSpPr>
        <p:spPr>
          <a:xfrm>
            <a:off x="7985025" y="2806323"/>
            <a:ext cx="367551" cy="718800"/>
          </a:xfrm>
          <a:prstGeom prst="rect">
            <a:avLst/>
          </a:prstGeom>
          <a:solidFill>
            <a:srgbClr val="281A42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marL="0" marR="0" lvl="0" indent="0" algn="ctr" defTabSz="2316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>
                <a:tab pos="231642" algn="l"/>
                <a:tab pos="463284" algn="l"/>
                <a:tab pos="694927" algn="l"/>
                <a:tab pos="926569" algn="l"/>
              </a:tabLst>
              <a:defRPr>
                <a:solidFill>
                  <a:srgbClr val="FFFFFF"/>
                </a:solidFill>
              </a:defRPr>
            </a:pPr>
            <a:r>
              <a:rPr kumimoji="0" lang="en-US" sz="800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Arial" panose="020B0604020202020204" pitchFamily="34" charset="0"/>
              </a:rPr>
              <a:t>4.8 Yrs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3FE652-22FE-563A-A5E3-6FB3907F0458}"/>
              </a:ext>
            </a:extLst>
          </p:cNvPr>
          <p:cNvSpPr txBox="1"/>
          <p:nvPr/>
        </p:nvSpPr>
        <p:spPr>
          <a:xfrm>
            <a:off x="7404742" y="3567882"/>
            <a:ext cx="301287" cy="15371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7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2013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08A193-9C0C-B368-FB25-6EC6AD62F56A}"/>
              </a:ext>
            </a:extLst>
          </p:cNvPr>
          <p:cNvSpPr txBox="1"/>
          <p:nvPr/>
        </p:nvSpPr>
        <p:spPr>
          <a:xfrm>
            <a:off x="8018757" y="3567882"/>
            <a:ext cx="301287" cy="15371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7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2023</a:t>
            </a:r>
          </a:p>
        </p:txBody>
      </p:sp>
      <p:sp>
        <p:nvSpPr>
          <p:cNvPr id="31" name="object 59">
            <a:extLst>
              <a:ext uri="{FF2B5EF4-FFF2-40B4-BE49-F238E27FC236}">
                <a16:creationId xmlns:a16="http://schemas.microsoft.com/office/drawing/2014/main" id="{67FA1DDE-586F-C032-8B16-DBF98700423E}"/>
              </a:ext>
            </a:extLst>
          </p:cNvPr>
          <p:cNvSpPr/>
          <p:nvPr/>
        </p:nvSpPr>
        <p:spPr>
          <a:xfrm>
            <a:off x="1615873" y="4882012"/>
            <a:ext cx="9225497" cy="668320"/>
          </a:xfrm>
          <a:custGeom>
            <a:avLst/>
            <a:gdLst/>
            <a:ahLst/>
            <a:cxnLst/>
            <a:rect l="l" t="t" r="r" b="b"/>
            <a:pathLst>
              <a:path w="1803400" h="2390140">
                <a:moveTo>
                  <a:pt x="1802892" y="0"/>
                </a:moveTo>
                <a:lnTo>
                  <a:pt x="0" y="0"/>
                </a:lnTo>
                <a:lnTo>
                  <a:pt x="0" y="2389632"/>
                </a:lnTo>
                <a:lnTo>
                  <a:pt x="1802892" y="2389632"/>
                </a:lnTo>
                <a:lnTo>
                  <a:pt x="1802892" y="0"/>
                </a:lnTo>
                <a:close/>
              </a:path>
            </a:pathLst>
          </a:custGeom>
          <a:solidFill>
            <a:srgbClr val="7A828D"/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67" b="0" i="0" u="none" strike="noStrike" kern="1200" cap="none" spc="-1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2" name="object 60">
            <a:extLst>
              <a:ext uri="{FF2B5EF4-FFF2-40B4-BE49-F238E27FC236}">
                <a16:creationId xmlns:a16="http://schemas.microsoft.com/office/drawing/2014/main" id="{2232CF8A-D13C-EE3D-26C4-0DDC1751E3F6}"/>
              </a:ext>
            </a:extLst>
          </p:cNvPr>
          <p:cNvSpPr txBox="1"/>
          <p:nvPr/>
        </p:nvSpPr>
        <p:spPr>
          <a:xfrm>
            <a:off x="1693391" y="4955050"/>
            <a:ext cx="1155136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1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80%</a:t>
            </a:r>
          </a:p>
        </p:txBody>
      </p:sp>
      <p:sp>
        <p:nvSpPr>
          <p:cNvPr id="33" name="object 61">
            <a:extLst>
              <a:ext uri="{FF2B5EF4-FFF2-40B4-BE49-F238E27FC236}">
                <a16:creationId xmlns:a16="http://schemas.microsoft.com/office/drawing/2014/main" id="{56A14789-685A-7F81-3C5A-8C01DAA19514}"/>
              </a:ext>
            </a:extLst>
          </p:cNvPr>
          <p:cNvSpPr txBox="1"/>
          <p:nvPr/>
        </p:nvSpPr>
        <p:spPr>
          <a:xfrm>
            <a:off x="2848527" y="5002502"/>
            <a:ext cx="2829645" cy="4273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0" lvl="0" indent="0" algn="l" defTabSz="1219170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Transformations on the new curve within first 12-18 Months</a:t>
            </a:r>
            <a:endParaRPr kumimoji="0" lang="en-US" sz="1333" b="0" i="0" u="none" strike="noStrike" kern="1200" cap="none" spc="-1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Arial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3F7E937-32E1-C50D-2C78-9F30F523172C}"/>
              </a:ext>
            </a:extLst>
          </p:cNvPr>
          <p:cNvCxnSpPr>
            <a:cxnSpLocks/>
          </p:cNvCxnSpPr>
          <p:nvPr/>
        </p:nvCxnSpPr>
        <p:spPr>
          <a:xfrm>
            <a:off x="6251333" y="1248677"/>
            <a:ext cx="0" cy="3286951"/>
          </a:xfrm>
          <a:prstGeom prst="line">
            <a:avLst/>
          </a:prstGeom>
          <a:ln w="9525"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bject 61">
            <a:extLst>
              <a:ext uri="{FF2B5EF4-FFF2-40B4-BE49-F238E27FC236}">
                <a16:creationId xmlns:a16="http://schemas.microsoft.com/office/drawing/2014/main" id="{9670C564-423C-3580-37D5-AED33FDA4732}"/>
              </a:ext>
            </a:extLst>
          </p:cNvPr>
          <p:cNvSpPr txBox="1"/>
          <p:nvPr/>
        </p:nvSpPr>
        <p:spPr>
          <a:xfrm>
            <a:off x="9079282" y="4977534"/>
            <a:ext cx="1627297" cy="42733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0" lvl="0" indent="0" algn="l" defTabSz="1219170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+mn-ea"/>
                <a:cs typeface="Arial"/>
              </a:rPr>
              <a:t>Exe</a:t>
            </a:r>
            <a:r>
              <a:rPr lang="en-US" sz="1333" spc="-10" dirty="0">
                <a:solidFill>
                  <a:srgbClr val="FFFFFF"/>
                </a:solidFill>
                <a:latin typeface="Arial" pitchFamily="34" charset="0"/>
                <a:cs typeface="Arial"/>
              </a:rPr>
              <a:t>cs say 2025 was harder than 2024</a:t>
            </a:r>
            <a:endParaRPr kumimoji="0" lang="en-US" sz="1333" i="0" u="none" strike="noStrike" kern="1200" cap="none" spc="-1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Arial"/>
            </a:endParaRPr>
          </a:p>
        </p:txBody>
      </p:sp>
      <p:sp>
        <p:nvSpPr>
          <p:cNvPr id="36" name="object 60">
            <a:extLst>
              <a:ext uri="{FF2B5EF4-FFF2-40B4-BE49-F238E27FC236}">
                <a16:creationId xmlns:a16="http://schemas.microsoft.com/office/drawing/2014/main" id="{ADA530D3-A535-F3D8-2F9F-A3384E5A16A9}"/>
              </a:ext>
            </a:extLst>
          </p:cNvPr>
          <p:cNvSpPr txBox="1"/>
          <p:nvPr/>
        </p:nvSpPr>
        <p:spPr>
          <a:xfrm>
            <a:off x="8018757" y="4926734"/>
            <a:ext cx="1155136" cy="50954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43%</a:t>
            </a:r>
          </a:p>
        </p:txBody>
      </p:sp>
      <p:sp>
        <p:nvSpPr>
          <p:cNvPr id="37" name="object 34">
            <a:extLst>
              <a:ext uri="{FF2B5EF4-FFF2-40B4-BE49-F238E27FC236}">
                <a16:creationId xmlns:a16="http://schemas.microsoft.com/office/drawing/2014/main" id="{8553F19D-2E54-1269-0BED-0FFD4246026D}"/>
              </a:ext>
            </a:extLst>
          </p:cNvPr>
          <p:cNvSpPr txBox="1"/>
          <p:nvPr/>
        </p:nvSpPr>
        <p:spPr>
          <a:xfrm>
            <a:off x="3673245" y="2242373"/>
            <a:ext cx="1563812" cy="44884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17780" rIns="0" bIns="0" rtlCol="0">
            <a:spAutoFit/>
          </a:bodyPr>
          <a:lstStyle/>
          <a:p>
            <a:pPr marL="16933" marR="0" lvl="0" indent="0" algn="l" defTabSz="1219170" rtl="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kumimoji="0" sz="1400" b="1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Arial"/>
              </a:rPr>
              <a:t>100 Investments Forward</a:t>
            </a:r>
          </a:p>
        </p:txBody>
      </p:sp>
    </p:spTree>
    <p:extLst>
      <p:ext uri="{BB962C8B-B14F-4D97-AF65-F5344CB8AC3E}">
        <p14:creationId xmlns:p14="http://schemas.microsoft.com/office/powerpoint/2010/main" val="1115486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FDA534-B194-0454-B05E-C53C68AB6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EC1B4E-6697-4B2F-D7B1-3B98C3AE3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5" dirty="0"/>
              <a:t>CEO Success Rates Are Low Due to </a:t>
            </a:r>
            <a:r>
              <a:rPr lang="en-US" spc="-25" dirty="0">
                <a:solidFill>
                  <a:srgbClr val="765FFF"/>
                </a:solidFill>
                <a:cs typeface="Helvetica Neue" panose="02000503000000020004" pitchFamily="2" charset="0"/>
              </a:rPr>
              <a:t>3 Key Derailers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A78D23-A029-A00F-0AEA-C174079EB927}"/>
              </a:ext>
            </a:extLst>
          </p:cNvPr>
          <p:cNvSpPr/>
          <p:nvPr/>
        </p:nvSpPr>
        <p:spPr>
          <a:xfrm>
            <a:off x="736124" y="1384980"/>
            <a:ext cx="3604161" cy="4775200"/>
          </a:xfrm>
          <a:prstGeom prst="roundRect">
            <a:avLst>
              <a:gd name="adj" fmla="val 7858"/>
            </a:avLst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FFFFFF">
                <a:lumMod val="9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0" cap="none" spc="-1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577E2EF-1AFB-319C-4A0F-D5F94CC591A1}"/>
              </a:ext>
            </a:extLst>
          </p:cNvPr>
          <p:cNvSpPr/>
          <p:nvPr/>
        </p:nvSpPr>
        <p:spPr>
          <a:xfrm>
            <a:off x="8232640" y="1384980"/>
            <a:ext cx="3604161" cy="4775200"/>
          </a:xfrm>
          <a:prstGeom prst="roundRect">
            <a:avLst>
              <a:gd name="adj" fmla="val 7858"/>
            </a:avLst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FFFFFF">
                <a:lumMod val="9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0" cap="none" spc="-1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126AD2-B532-77FC-1C1C-E36143A89F31}"/>
              </a:ext>
            </a:extLst>
          </p:cNvPr>
          <p:cNvSpPr/>
          <p:nvPr/>
        </p:nvSpPr>
        <p:spPr>
          <a:xfrm>
            <a:off x="4484382" y="1384980"/>
            <a:ext cx="3604161" cy="4775200"/>
          </a:xfrm>
          <a:prstGeom prst="roundRect">
            <a:avLst>
              <a:gd name="adj" fmla="val 7858"/>
            </a:avLst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FFFFFF">
                <a:lumMod val="95000"/>
              </a:srgbClr>
            </a:solidFill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7" b="0" i="0" u="none" strike="noStrike" kern="0" cap="none" spc="-10" normalizeH="0" baseline="0" noProof="0" dirty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84F50-E526-7C95-7279-178055A2730F}"/>
              </a:ext>
            </a:extLst>
          </p:cNvPr>
          <p:cNvSpPr txBox="1"/>
          <p:nvPr/>
        </p:nvSpPr>
        <p:spPr>
          <a:xfrm>
            <a:off x="1604195" y="1630530"/>
            <a:ext cx="1877245" cy="31810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DOING TOO MUCH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96699E-0C3B-5160-DF22-9FBE4C7C07CB}"/>
              </a:ext>
            </a:extLst>
          </p:cNvPr>
          <p:cNvSpPr txBox="1"/>
          <p:nvPr/>
        </p:nvSpPr>
        <p:spPr>
          <a:xfrm>
            <a:off x="4818756" y="1635808"/>
            <a:ext cx="2935419" cy="31810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Arial" panose="020B0604020202020204" pitchFamily="34" charset="0"/>
              </a:rPr>
              <a:t>PICKED THE WRONG PEOPLE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BCD7E9-B239-CD12-59BB-A3925FFB529D}"/>
              </a:ext>
            </a:extLst>
          </p:cNvPr>
          <p:cNvSpPr txBox="1"/>
          <p:nvPr/>
        </p:nvSpPr>
        <p:spPr>
          <a:xfrm>
            <a:off x="8699335" y="1630529"/>
            <a:ext cx="2670763" cy="54386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Arial" panose="020B0604020202020204" pitchFamily="34" charset="0"/>
              </a:rPr>
              <a:t>NOT ENOUGH TALENT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Arial" panose="020B0604020202020204" pitchFamily="34" charset="0"/>
              </a:rPr>
              <a:t>AT THE PROBLEM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DF9FEE-95B4-B474-C67C-BBF24B8493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641256" y="2370052"/>
            <a:ext cx="509232" cy="5092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0E9A9B-6684-A244-4DC1-A14B1389D880}"/>
              </a:ext>
            </a:extLst>
          </p:cNvPr>
          <p:cNvSpPr txBox="1"/>
          <p:nvPr/>
        </p:nvSpPr>
        <p:spPr>
          <a:xfrm>
            <a:off x="2294585" y="2336033"/>
            <a:ext cx="1059906" cy="46166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Arial" panose="020B0604020202020204" pitchFamily="34" charset="0"/>
              </a:rPr>
              <a:t>Think </a:t>
            </a:r>
            <a:r>
              <a:rPr kumimoji="0" lang="en-US" sz="2400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+mn-ea"/>
                <a:cs typeface="Arial" panose="020B0604020202020204" pitchFamily="34" charset="0"/>
              </a:rPr>
              <a:t>BIG</a:t>
            </a:r>
            <a:endParaRPr kumimoji="0" lang="en-US" sz="933" b="1" i="0" u="none" strike="noStrike" kern="1200" cap="none" spc="-10" normalizeH="0" baseline="0" noProof="0" dirty="0">
              <a:ln>
                <a:noFill/>
              </a:ln>
              <a:solidFill>
                <a:srgbClr val="281A42"/>
              </a:solidFill>
              <a:effectLst/>
              <a:uLnTx/>
              <a:uFillTx/>
              <a:latin typeface="Segoe UI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B7048D-8F6B-F0B3-2520-D1D6B7949F6C}"/>
              </a:ext>
            </a:extLst>
          </p:cNvPr>
          <p:cNvSpPr txBox="1"/>
          <p:nvPr/>
        </p:nvSpPr>
        <p:spPr>
          <a:xfrm>
            <a:off x="2294587" y="2938605"/>
            <a:ext cx="1019831" cy="461665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Arial" panose="020B0604020202020204" pitchFamily="34" charset="0"/>
              </a:rPr>
              <a:t>Start </a:t>
            </a:r>
            <a:r>
              <a:rPr kumimoji="0" lang="en-US" sz="2400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+mn-ea"/>
                <a:cs typeface="Arial" panose="020B0604020202020204" pitchFamily="34" charset="0"/>
              </a:rPr>
              <a:t>BIG</a:t>
            </a:r>
            <a:endParaRPr kumimoji="0" lang="en-US" sz="933" b="1" i="0" u="none" strike="noStrike" kern="1200" cap="none" spc="-10" normalizeH="0" baseline="0" noProof="0" dirty="0">
              <a:ln>
                <a:noFill/>
              </a:ln>
              <a:solidFill>
                <a:srgbClr val="281A42"/>
              </a:solidFill>
              <a:effectLst/>
              <a:uLnTx/>
              <a:uFillTx/>
              <a:latin typeface="Segoe UI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47A4D4-2D4C-35BA-A142-90ADD800479E}"/>
              </a:ext>
            </a:extLst>
          </p:cNvPr>
          <p:cNvSpPr txBox="1"/>
          <p:nvPr/>
        </p:nvSpPr>
        <p:spPr>
          <a:xfrm>
            <a:off x="1938495" y="3642743"/>
            <a:ext cx="2275875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3" b="0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+mn-ea"/>
                <a:cs typeface="Arial" panose="020B0604020202020204" pitchFamily="34" charset="0"/>
              </a:rPr>
              <a:t>Move </a:t>
            </a:r>
            <a:r>
              <a:rPr kumimoji="0" lang="en-US" sz="2400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+mn-ea"/>
                <a:cs typeface="Arial" panose="020B0604020202020204" pitchFamily="34" charset="0"/>
              </a:rPr>
              <a:t>s...l...o...w</a:t>
            </a:r>
            <a:endParaRPr kumimoji="0" lang="en-US" sz="933" b="1" i="0" u="none" strike="noStrike" kern="1200" cap="none" spc="-10" normalizeH="0" baseline="0" noProof="0" dirty="0">
              <a:ln>
                <a:noFill/>
              </a:ln>
              <a:solidFill>
                <a:srgbClr val="281A42"/>
              </a:solidFill>
              <a:effectLst/>
              <a:uLnTx/>
              <a:uFillTx/>
              <a:latin typeface="Segoe UI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FB9C736A-F89F-CEB8-F1FD-328CE6C91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rcRect/>
          <a:stretch/>
        </p:blipFill>
        <p:spPr bwMode="auto">
          <a:xfrm>
            <a:off x="1637220" y="3017037"/>
            <a:ext cx="464496" cy="571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805DC4-1FC2-3920-924A-32FB9CE6F94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032025" y="3523379"/>
            <a:ext cx="824652" cy="82465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E2F1C6-EBF0-CBF1-52E3-13DFCFD8B928}"/>
              </a:ext>
            </a:extLst>
          </p:cNvPr>
          <p:cNvSpPr txBox="1">
            <a:spLocks/>
          </p:cNvSpPr>
          <p:nvPr/>
        </p:nvSpPr>
        <p:spPr>
          <a:xfrm>
            <a:off x="1000722" y="4806042"/>
            <a:ext cx="299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44" indent="-285744" defTabSz="914377">
              <a:lnSpc>
                <a:spcPct val="100000"/>
              </a:lnSpc>
              <a:spcBef>
                <a:spcPts val="0"/>
              </a:spcBef>
              <a:buFont typeface="Arial" panose="020B0706020202030204" pitchFamily="34" charset="0"/>
              <a:buBlip>
                <a:blip r:embed="rId5"/>
              </a:buBlip>
              <a:defRPr/>
            </a:pPr>
            <a:r>
              <a:rPr lang="en-US" sz="1400" spc="-10">
                <a:solidFill>
                  <a:srgbClr val="1D1D1D"/>
                </a:solidFill>
                <a:latin typeface="Arial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Starting more initiatives than there is capacity</a:t>
            </a:r>
            <a:endParaRPr lang="en-US" sz="1400" spc="-10" dirty="0">
              <a:solidFill>
                <a:srgbClr val="1D1D1D"/>
              </a:solidFill>
              <a:latin typeface="Arial" pitchFamily="34" charset="0"/>
              <a:ea typeface="Lato Light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2AB14E4-4596-4808-FCD9-75272C5D031F}"/>
              </a:ext>
            </a:extLst>
          </p:cNvPr>
          <p:cNvSpPr/>
          <p:nvPr/>
        </p:nvSpPr>
        <p:spPr>
          <a:xfrm>
            <a:off x="634961" y="1296081"/>
            <a:ext cx="365760" cy="369332"/>
          </a:xfrm>
          <a:prstGeom prst="ellipse">
            <a:avLst/>
          </a:prstGeom>
          <a:solidFill>
            <a:srgbClr val="281A4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kumimoji="0" lang="en-US" sz="1467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F9C93EA-0FCF-13AA-360B-08E46DC4D4FA}"/>
              </a:ext>
            </a:extLst>
          </p:cNvPr>
          <p:cNvSpPr/>
          <p:nvPr/>
        </p:nvSpPr>
        <p:spPr>
          <a:xfrm>
            <a:off x="4395700" y="1296081"/>
            <a:ext cx="365760" cy="369332"/>
          </a:xfrm>
          <a:prstGeom prst="ellipse">
            <a:avLst/>
          </a:prstGeom>
          <a:solidFill>
            <a:srgbClr val="281A4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kumimoji="0" lang="en-US" sz="1467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BC12287-8EB1-B6D9-2772-BBF5605382CD}"/>
              </a:ext>
            </a:extLst>
          </p:cNvPr>
          <p:cNvSpPr/>
          <p:nvPr/>
        </p:nvSpPr>
        <p:spPr>
          <a:xfrm>
            <a:off x="8126312" y="1296081"/>
            <a:ext cx="365760" cy="369332"/>
          </a:xfrm>
          <a:prstGeom prst="ellipse">
            <a:avLst/>
          </a:prstGeom>
          <a:solidFill>
            <a:srgbClr val="281A4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spc="-25">
                <a:solidFill>
                  <a:srgbClr val="FFFFFF"/>
                </a:solidFill>
                <a:latin typeface="Segoe UI" pitchFamily="34" charset="0"/>
              </a:defRPr>
            </a:pPr>
            <a:r>
              <a:rPr kumimoji="0" lang="en-US" sz="1467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itchFamily="34" charset="0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D9165C-BD7E-DC88-E6EC-3AAACA160CB1}"/>
              </a:ext>
            </a:extLst>
          </p:cNvPr>
          <p:cNvSpPr txBox="1">
            <a:spLocks/>
          </p:cNvSpPr>
          <p:nvPr/>
        </p:nvSpPr>
        <p:spPr>
          <a:xfrm>
            <a:off x="4550528" y="2463039"/>
            <a:ext cx="1524776" cy="93346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7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b="1" spc="-10">
                <a:solidFill>
                  <a:srgbClr val="1D1D1D"/>
                </a:solidFill>
                <a:latin typeface="Segoe UI" pitchFamily="34" charset="0"/>
                <a:ea typeface="Lato" panose="020F0502020204030203" pitchFamily="34" charset="0"/>
                <a:cs typeface="Arial" panose="020B0604020202020204" pitchFamily="34" charset="0"/>
              </a:rPr>
              <a:t>Capital </a:t>
            </a:r>
          </a:p>
          <a:p>
            <a:pPr marL="0" indent="0" algn="ctr" defTabSz="914377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b="1" spc="-10">
                <a:solidFill>
                  <a:srgbClr val="1D1D1D"/>
                </a:solidFill>
                <a:latin typeface="Segoe UI" pitchFamily="34" charset="0"/>
                <a:ea typeface="Lato" panose="020F0502020204030203" pitchFamily="34" charset="0"/>
                <a:cs typeface="Arial" panose="020B0604020202020204" pitchFamily="34" charset="0"/>
              </a:rPr>
              <a:t>Investments  </a:t>
            </a:r>
          </a:p>
          <a:p>
            <a:pPr marL="0" indent="0" algn="ctr" defTabSz="914377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spc="-10">
                <a:solidFill>
                  <a:srgbClr val="1D1D1D"/>
                </a:solidFill>
                <a:latin typeface="Arial" pitchFamily="34" charset="0"/>
                <a:ea typeface="Lato" panose="020F0502020204030203" pitchFamily="34" charset="0"/>
                <a:cs typeface="Arial" panose="020B0604020202020204" pitchFamily="34" charset="0"/>
              </a:rPr>
              <a:t>= </a:t>
            </a:r>
          </a:p>
          <a:p>
            <a:pPr marL="285744" indent="-285744" defTabSz="914377">
              <a:lnSpc>
                <a:spcPct val="100000"/>
              </a:lnSpc>
              <a:spcBef>
                <a:spcPts val="0"/>
              </a:spcBef>
              <a:buFont typeface="Arial" panose="020B0706020202030204" pitchFamily="34" charset="0"/>
              <a:buBlip>
                <a:blip r:embed="rId5"/>
              </a:buBlip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Lato" panose="020F0502020204030203" pitchFamily="34" charset="0"/>
                <a:cs typeface="Arial" panose="020B0604020202020204" pitchFamily="34" charset="0"/>
              </a:rPr>
              <a:t>Evidence Based</a:t>
            </a:r>
          </a:p>
          <a:p>
            <a:pPr marL="285744" indent="-285744" defTabSz="914377">
              <a:lnSpc>
                <a:spcPct val="100000"/>
              </a:lnSpc>
              <a:spcBef>
                <a:spcPts val="0"/>
              </a:spcBef>
              <a:buFont typeface="Arial" panose="020B0706020202030204" pitchFamily="34" charset="0"/>
              <a:buBlip>
                <a:blip r:embed="rId5"/>
              </a:buBlip>
              <a:defRPr/>
            </a:pPr>
            <a:r>
              <a:rPr lang="en-US" sz="933" spc="-10">
                <a:solidFill>
                  <a:srgbClr val="1D1D1D"/>
                </a:solidFill>
                <a:latin typeface="Arial" pitchFamily="34" charset="0"/>
                <a:ea typeface="Lato" panose="020F0502020204030203" pitchFamily="34" charset="0"/>
                <a:cs typeface="Arial" panose="020B0604020202020204" pitchFamily="34" charset="0"/>
              </a:rPr>
              <a:t>Risk Aware</a:t>
            </a:r>
            <a:endParaRPr lang="en-US" sz="933" spc="-10" dirty="0">
              <a:solidFill>
                <a:srgbClr val="1D1D1D"/>
              </a:solidFill>
              <a:latin typeface="Arial" pitchFamily="34" charset="0"/>
              <a:ea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A68C98-3575-1001-AD30-91B3C2B462B0}"/>
              </a:ext>
            </a:extLst>
          </p:cNvPr>
          <p:cNvSpPr txBox="1"/>
          <p:nvPr/>
        </p:nvSpPr>
        <p:spPr>
          <a:xfrm>
            <a:off x="6541853" y="2463039"/>
            <a:ext cx="1486304" cy="93346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Arial" panose="020B0604020202020204" pitchFamily="34" charset="0"/>
              </a:rPr>
              <a:t>Talent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Arial" panose="020B0604020202020204" pitchFamily="34" charset="0"/>
              </a:rPr>
              <a:t>Investments  </a:t>
            </a:r>
          </a:p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Arial" panose="020B0604020202020204" pitchFamily="34" charset="0"/>
              </a:rPr>
              <a:t>= </a:t>
            </a:r>
          </a:p>
          <a:p>
            <a:pPr marL="285744" marR="0" lvl="0" indent="-285744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33" b="0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Arial" panose="020B0604020202020204" pitchFamily="34" charset="0"/>
              </a:rPr>
              <a:t>Opinion Based</a:t>
            </a:r>
          </a:p>
          <a:p>
            <a:pPr marL="285744" marR="0" lvl="0" indent="-285744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33" b="0" i="0" u="none" strike="noStrike" kern="1200" cap="none" spc="-10" normalizeH="0" baseline="0" noProof="0" dirty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itchFamily="34" charset="0"/>
                <a:ea typeface="Lato" panose="020F0502020204030203" pitchFamily="34" charset="0"/>
                <a:cs typeface="Arial" panose="020B0604020202020204" pitchFamily="34" charset="0"/>
              </a:rPr>
              <a:t>Risk Blind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C4E969-B9D8-2833-FD7B-F093F2CB323B}"/>
              </a:ext>
            </a:extLst>
          </p:cNvPr>
          <p:cNvSpPr txBox="1"/>
          <p:nvPr/>
        </p:nvSpPr>
        <p:spPr>
          <a:xfrm>
            <a:off x="5749672" y="2630827"/>
            <a:ext cx="1073577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Lato" panose="020F0502020204030203" pitchFamily="34" charset="0"/>
                <a:cs typeface="Arial" panose="020B0604020202020204" pitchFamily="34" charset="0"/>
              </a:rPr>
              <a:t>VS.</a:t>
            </a:r>
            <a:endParaRPr kumimoji="0" lang="en-US" sz="1467" b="0" i="0" u="none" strike="noStrike" kern="1200" cap="none" spc="-10" normalizeH="0" baseline="0" noProof="0" dirty="0">
              <a:ln>
                <a:noFill/>
              </a:ln>
              <a:solidFill>
                <a:srgbClr val="281A42"/>
              </a:solidFill>
              <a:effectLst/>
              <a:uLnTx/>
              <a:uFillTx/>
              <a:latin typeface="Arial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ED0D73-7FE0-3BDE-1F9E-B65E7D051195}"/>
              </a:ext>
            </a:extLst>
          </p:cNvPr>
          <p:cNvSpPr txBox="1"/>
          <p:nvPr/>
        </p:nvSpPr>
        <p:spPr>
          <a:xfrm>
            <a:off x="4527004" y="3611392"/>
            <a:ext cx="1571824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“Prove me wrong”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FBA55A-6804-F443-F70E-FB715E558EAD}"/>
              </a:ext>
            </a:extLst>
          </p:cNvPr>
          <p:cNvSpPr txBox="1"/>
          <p:nvPr/>
        </p:nvSpPr>
        <p:spPr>
          <a:xfrm>
            <a:off x="6499092" y="3611391"/>
            <a:ext cx="1571824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“Fall in Love”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C66FA4-7AB8-F595-3A85-9DBC065A7FE4}"/>
              </a:ext>
            </a:extLst>
          </p:cNvPr>
          <p:cNvSpPr txBox="1"/>
          <p:nvPr/>
        </p:nvSpPr>
        <p:spPr>
          <a:xfrm>
            <a:off x="4685907" y="4703450"/>
            <a:ext cx="3182413" cy="73866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285744" indent="-285744" defTabSz="914377">
              <a:buClrTx/>
              <a:buSzTx/>
              <a:buBlip>
                <a:blip r:embed="rId5"/>
              </a:buBlip>
              <a:defRPr/>
            </a:pPr>
            <a:r>
              <a:rPr lang="en-US" sz="1400" spc="-10" dirty="0">
                <a:solidFill>
                  <a:srgbClr val="1D1D1D"/>
                </a:solidFill>
                <a:latin typeface="Arial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Not aligning selection to value </a:t>
            </a:r>
          </a:p>
          <a:p>
            <a:pPr marL="285744" indent="-285744" defTabSz="914377">
              <a:buClrTx/>
              <a:buSzTx/>
              <a:buBlip>
                <a:blip r:embed="rId5"/>
              </a:buBlip>
              <a:defRPr/>
            </a:pPr>
            <a:r>
              <a:rPr lang="en-US" sz="1400" spc="-10" dirty="0">
                <a:solidFill>
                  <a:srgbClr val="1D1D1D"/>
                </a:solidFill>
                <a:latin typeface="Arial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Not factoring risks in role design and operating model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512C4AE-62F4-8D31-8C78-47E15B48A7B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8419462" y="2670458"/>
            <a:ext cx="3230513" cy="105922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796E6FB-DDA5-8BB5-2715-17606C6CBE97}"/>
              </a:ext>
            </a:extLst>
          </p:cNvPr>
          <p:cNvSpPr txBox="1"/>
          <p:nvPr/>
        </p:nvSpPr>
        <p:spPr>
          <a:xfrm>
            <a:off x="8489151" y="4703449"/>
            <a:ext cx="3091132" cy="95410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285744" marR="0" lvl="0" indent="-285744" defTabSz="91437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Blip>
                <a:blip r:embed="rId5"/>
              </a:buBlip>
              <a:tabLst/>
              <a:defRPr/>
            </a:pPr>
            <a:r>
              <a:rPr lang="en-US" sz="1400" spc="-10" dirty="0">
                <a:solidFill>
                  <a:srgbClr val="1D1D1D"/>
                </a:solidFill>
                <a:latin typeface="Arial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Focusing only on “top” roles </a:t>
            </a:r>
          </a:p>
          <a:p>
            <a:pPr marL="285744" marR="0" lvl="0" indent="-285744" defTabSz="91437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Blip>
                <a:blip r:embed="rId5"/>
              </a:buBlip>
              <a:tabLst/>
              <a:defRPr/>
            </a:pPr>
            <a:r>
              <a:rPr lang="en-US" sz="1400" spc="-10" dirty="0">
                <a:solidFill>
                  <a:srgbClr val="1D1D1D"/>
                </a:solidFill>
                <a:latin typeface="Arial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Not understanding and investing in (level-agnostic) roles critical to value creation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E81016-91C2-99A1-E44A-C1A22BF3A379}"/>
              </a:ext>
            </a:extLst>
          </p:cNvPr>
          <p:cNvSpPr txBox="1"/>
          <p:nvPr/>
        </p:nvSpPr>
        <p:spPr>
          <a:xfrm>
            <a:off x="8800462" y="3753395"/>
            <a:ext cx="840295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-10" normalizeH="0" baseline="0" noProof="0" dirty="0">
                <a:ln>
                  <a:noFill/>
                </a:ln>
                <a:solidFill>
                  <a:srgbClr val="1D1D1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Hierarchy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0B9543-C71B-AFAC-44E7-92397EA5492F}"/>
              </a:ext>
            </a:extLst>
          </p:cNvPr>
          <p:cNvSpPr txBox="1"/>
          <p:nvPr/>
        </p:nvSpPr>
        <p:spPr>
          <a:xfrm>
            <a:off x="10034717" y="3769689"/>
            <a:ext cx="1675236" cy="27699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-10" normalizeH="0" baseline="0" noProof="0" dirty="0">
                <a:ln>
                  <a:noFill/>
                </a:ln>
                <a:solidFill>
                  <a:srgbClr val="1D1D1D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itchFamily="34" charset="0"/>
                <a:ea typeface="Lato Light" panose="020F0502020204030203" pitchFamily="34" charset="0"/>
                <a:cs typeface="Arial" panose="020B0604020202020204" pitchFamily="34" charset="0"/>
              </a:rPr>
              <a:t>Connected to Value</a:t>
            </a:r>
          </a:p>
        </p:txBody>
      </p:sp>
    </p:spTree>
    <p:extLst>
      <p:ext uri="{BB962C8B-B14F-4D97-AF65-F5344CB8AC3E}">
        <p14:creationId xmlns:p14="http://schemas.microsoft.com/office/powerpoint/2010/main" val="301233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11" grpId="0"/>
      <p:bldP spid="12" grpId="0"/>
      <p:bldP spid="13" grpId="0"/>
      <p:bldP spid="16" grpId="0"/>
      <p:bldP spid="17" grpId="0" animBg="1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/>
      <p:bldP spid="27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7FB346-3973-09FB-7D10-3BBECE379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22160B-6B14-0BD3-46E7-58B8D0568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5" dirty="0">
                <a:ea typeface="Helvetica Neue" panose="02000503000000020004" pitchFamily="2" charset="0"/>
                <a:cs typeface="Helvetica Neue" panose="02000503000000020004" pitchFamily="2" charset="0"/>
              </a:rPr>
              <a:t>Our Approach </a:t>
            </a:r>
            <a:r>
              <a:rPr lang="en-US" spc="-25" dirty="0">
                <a:solidFill>
                  <a:srgbClr val="765FFF"/>
                </a:solidFill>
                <a:ea typeface="Helvetica Neue" panose="02000503000000020004" pitchFamily="2" charset="0"/>
                <a:cs typeface="Helvetica Neue" panose="02000503000000020004" pitchFamily="2" charset="0"/>
              </a:rPr>
              <a:t>Connects Talent Decisions to Value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3A0F7C-C7BE-26E6-D74D-50BE5AFE729B}"/>
              </a:ext>
            </a:extLst>
          </p:cNvPr>
          <p:cNvGrpSpPr/>
          <p:nvPr/>
        </p:nvGrpSpPr>
        <p:grpSpPr>
          <a:xfrm>
            <a:off x="319720" y="1656200"/>
            <a:ext cx="4425461" cy="4308989"/>
            <a:chOff x="589954" y="1498595"/>
            <a:chExt cx="3775646" cy="28245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E6F21D-576A-0D6F-CE9A-A5F086C21BF9}"/>
                </a:ext>
              </a:extLst>
            </p:cNvPr>
            <p:cNvSpPr txBox="1"/>
            <p:nvPr/>
          </p:nvSpPr>
          <p:spPr>
            <a:xfrm>
              <a:off x="1200358" y="1528519"/>
              <a:ext cx="3165242" cy="34296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54">
                <a:defRPr/>
              </a:pPr>
              <a:r>
                <a:rPr lang="en-US" sz="1400" spc="-10" dirty="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Are we </a:t>
              </a:r>
              <a:r>
                <a:rPr lang="en-US" sz="1400" b="1" spc="-10" dirty="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aligned </a:t>
              </a:r>
              <a:r>
                <a:rPr lang="en-US" sz="1400" spc="-10" dirty="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on the value pools and </a:t>
              </a:r>
              <a:r>
                <a:rPr lang="en-US" sz="1400" b="1" spc="-10" dirty="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big bets </a:t>
              </a:r>
              <a:r>
                <a:rPr lang="en-US" sz="1400" spc="-10" dirty="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which will drive value?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6EDA42-7CB9-C2F5-17A7-5429BA85E00C}"/>
                </a:ext>
              </a:extLst>
            </p:cNvPr>
            <p:cNvSpPr txBox="1"/>
            <p:nvPr/>
          </p:nvSpPr>
          <p:spPr>
            <a:xfrm>
              <a:off x="589954" y="1498595"/>
              <a:ext cx="508210" cy="342966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54">
                <a:defRPr/>
              </a:pPr>
              <a:r>
                <a:rPr lang="en-IN" sz="2800" b="1" spc="-10" dirty="0">
                  <a:solidFill>
                    <a:srgbClr val="3B3B3B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01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C86126-4B85-63ED-88B8-5F7D0FDA6AB6}"/>
                </a:ext>
              </a:extLst>
            </p:cNvPr>
            <p:cNvCxnSpPr>
              <a:cxnSpLocks/>
            </p:cNvCxnSpPr>
            <p:nvPr/>
          </p:nvCxnSpPr>
          <p:spPr>
            <a:xfrm>
              <a:off x="657271" y="1962575"/>
              <a:ext cx="3670403" cy="0"/>
            </a:xfrm>
            <a:prstGeom prst="line">
              <a:avLst/>
            </a:prstGeom>
            <a:noFill/>
            <a:ln w="6350" cap="flat" cmpd="sng" algn="ctr">
              <a:solidFill>
                <a:srgbClr val="765FFF"/>
              </a:solidFill>
              <a:prstDash val="solid"/>
              <a:miter lim="800000"/>
            </a:ln>
            <a:effectLst/>
          </p:spPr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F4FADE6-25CC-CEA2-BA37-43937C9201AA}"/>
                </a:ext>
              </a:extLst>
            </p:cNvPr>
            <p:cNvSpPr txBox="1"/>
            <p:nvPr/>
          </p:nvSpPr>
          <p:spPr>
            <a:xfrm>
              <a:off x="1200358" y="2120833"/>
              <a:ext cx="3165242" cy="34296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54">
                <a:defRPr/>
              </a:pPr>
              <a:r>
                <a:rPr lang="en-US" sz="1400" spc="-10" dirty="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Do we know </a:t>
              </a:r>
              <a:r>
                <a:rPr lang="en-US" sz="1400" b="1" spc="-10" dirty="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critical roles </a:t>
              </a:r>
              <a:r>
                <a:rPr lang="en-US" sz="1400" spc="-10" dirty="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that will deliver 80% of the value?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90221F2-D669-BB05-614B-DA53191FD7AD}"/>
                </a:ext>
              </a:extLst>
            </p:cNvPr>
            <p:cNvSpPr txBox="1"/>
            <p:nvPr/>
          </p:nvSpPr>
          <p:spPr>
            <a:xfrm>
              <a:off x="589954" y="2074654"/>
              <a:ext cx="508210" cy="342966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54">
                <a:defRPr/>
              </a:pPr>
              <a:r>
                <a:rPr lang="en-IN" sz="2800" b="1" spc="-10" dirty="0">
                  <a:solidFill>
                    <a:srgbClr val="3B3B3B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02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C166809-779E-B3E5-781E-AF850262ADB8}"/>
                </a:ext>
              </a:extLst>
            </p:cNvPr>
            <p:cNvCxnSpPr>
              <a:cxnSpLocks/>
            </p:cNvCxnSpPr>
            <p:nvPr/>
          </p:nvCxnSpPr>
          <p:spPr>
            <a:xfrm>
              <a:off x="657271" y="2588639"/>
              <a:ext cx="3670403" cy="0"/>
            </a:xfrm>
            <a:prstGeom prst="line">
              <a:avLst/>
            </a:prstGeom>
            <a:noFill/>
            <a:ln w="6350" cap="flat" cmpd="sng" algn="ctr">
              <a:solidFill>
                <a:srgbClr val="765FFF"/>
              </a:solidFill>
              <a:prstDash val="solid"/>
              <a:miter lim="800000"/>
            </a:ln>
            <a:effectLst/>
          </p:spPr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FFD105-C0DB-3B6C-F72F-6A92F8B722F3}"/>
                </a:ext>
              </a:extLst>
            </p:cNvPr>
            <p:cNvSpPr txBox="1"/>
            <p:nvPr/>
          </p:nvSpPr>
          <p:spPr>
            <a:xfrm>
              <a:off x="1200358" y="3362719"/>
              <a:ext cx="3165242" cy="34296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54">
                <a:defRPr/>
              </a:pPr>
              <a:r>
                <a:rPr lang="en-US" sz="1400" spc="-10" dirty="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What are the </a:t>
              </a:r>
              <a:r>
                <a:rPr lang="en-US" sz="1400" b="1" spc="-10" dirty="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few new capabilities </a:t>
              </a:r>
              <a:r>
                <a:rPr lang="en-US" sz="1400" spc="-10" dirty="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needed to enable value delivery?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E557CE-9AB0-CFA5-98A4-49E4648C77E1}"/>
                </a:ext>
              </a:extLst>
            </p:cNvPr>
            <p:cNvSpPr txBox="1"/>
            <p:nvPr/>
          </p:nvSpPr>
          <p:spPr>
            <a:xfrm>
              <a:off x="589954" y="2744155"/>
              <a:ext cx="508210" cy="342966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54">
                <a:defRPr/>
              </a:pPr>
              <a:r>
                <a:rPr lang="en-IN" sz="2800" b="1" spc="-10" dirty="0">
                  <a:solidFill>
                    <a:srgbClr val="3B3B3B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03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7B8452E-3F2B-69F1-9AB0-6B351F00C3EA}"/>
                </a:ext>
              </a:extLst>
            </p:cNvPr>
            <p:cNvCxnSpPr>
              <a:cxnSpLocks/>
            </p:cNvCxnSpPr>
            <p:nvPr/>
          </p:nvCxnSpPr>
          <p:spPr>
            <a:xfrm>
              <a:off x="657271" y="3232575"/>
              <a:ext cx="3670403" cy="0"/>
            </a:xfrm>
            <a:prstGeom prst="line">
              <a:avLst/>
            </a:prstGeom>
            <a:noFill/>
            <a:ln w="6350" cap="flat" cmpd="sng" algn="ctr">
              <a:solidFill>
                <a:srgbClr val="765FFF"/>
              </a:solidFill>
              <a:prstDash val="solid"/>
              <a:miter lim="800000"/>
            </a:ln>
            <a:effectLst/>
          </p:spPr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D9B4668-8C4E-7C8E-3A19-0AAAD21F3186}"/>
                </a:ext>
              </a:extLst>
            </p:cNvPr>
            <p:cNvSpPr txBox="1"/>
            <p:nvPr/>
          </p:nvSpPr>
          <p:spPr>
            <a:xfrm>
              <a:off x="1200358" y="2855861"/>
              <a:ext cx="3165242" cy="20174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54">
                <a:defRPr/>
              </a:pPr>
              <a:r>
                <a:rPr lang="en-US" sz="1400" spc="-10" dirty="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Is the organization </a:t>
              </a:r>
              <a:r>
                <a:rPr lang="en-US" sz="1400" b="1" spc="-10" dirty="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designed for success</a:t>
              </a:r>
              <a:r>
                <a:rPr lang="en-US" sz="1400" spc="-10" dirty="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?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F8B2AB7-15A2-1EA8-5247-BF7D7014DAD2}"/>
                </a:ext>
              </a:extLst>
            </p:cNvPr>
            <p:cNvSpPr txBox="1"/>
            <p:nvPr/>
          </p:nvSpPr>
          <p:spPr>
            <a:xfrm>
              <a:off x="589954" y="3346768"/>
              <a:ext cx="508210" cy="342966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54">
                <a:defRPr/>
              </a:pPr>
              <a:r>
                <a:rPr lang="en-IN" sz="2800" b="1" spc="-10" dirty="0">
                  <a:solidFill>
                    <a:srgbClr val="3B3B3B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04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746E80F-A990-84DB-8F06-810CD70502DC}"/>
                </a:ext>
              </a:extLst>
            </p:cNvPr>
            <p:cNvCxnSpPr>
              <a:cxnSpLocks/>
            </p:cNvCxnSpPr>
            <p:nvPr/>
          </p:nvCxnSpPr>
          <p:spPr>
            <a:xfrm>
              <a:off x="657271" y="3835189"/>
              <a:ext cx="3670403" cy="0"/>
            </a:xfrm>
            <a:prstGeom prst="line">
              <a:avLst/>
            </a:prstGeom>
            <a:noFill/>
            <a:ln w="6350" cap="flat" cmpd="sng" algn="ctr">
              <a:solidFill>
                <a:srgbClr val="765FFF"/>
              </a:solidFill>
              <a:prstDash val="solid"/>
              <a:miter lim="800000"/>
            </a:ln>
            <a:effectLst/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0CE71D0-D329-1CF8-0D77-23CF58458175}"/>
                </a:ext>
              </a:extLst>
            </p:cNvPr>
            <p:cNvSpPr txBox="1"/>
            <p:nvPr/>
          </p:nvSpPr>
          <p:spPr>
            <a:xfrm>
              <a:off x="589954" y="3970043"/>
              <a:ext cx="508210" cy="342966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54">
                <a:defRPr/>
              </a:pPr>
              <a:r>
                <a:rPr lang="en-IN" sz="2800" b="1" spc="-10" dirty="0">
                  <a:solidFill>
                    <a:srgbClr val="3B3B3B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05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C3F982-E8C6-C693-DECF-B72F221C92FD}"/>
                </a:ext>
              </a:extLst>
            </p:cNvPr>
            <p:cNvSpPr txBox="1"/>
            <p:nvPr/>
          </p:nvSpPr>
          <p:spPr>
            <a:xfrm>
              <a:off x="1130070" y="3980129"/>
              <a:ext cx="3165242" cy="34296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sp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rgbClr val="1D1D1D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14354">
                <a:defRPr/>
              </a:pPr>
              <a:r>
                <a:rPr lang="en-US" sz="1400" spc="-10" dirty="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Have we built a </a:t>
              </a:r>
              <a:r>
                <a:rPr lang="en-US" sz="1400" b="1" spc="-10" dirty="0">
                  <a:solidFill>
                    <a:srgbClr val="1D1D1D"/>
                  </a:solidFill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minimally invasive plan </a:t>
              </a:r>
              <a:r>
                <a:rPr lang="en-US" sz="1400" spc="-10" dirty="0">
                  <a:solidFill>
                    <a:srgbClr val="1D1D1D"/>
                  </a:solidFill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 enable success?</a:t>
              </a:r>
            </a:p>
          </p:txBody>
        </p:sp>
      </p:grpSp>
      <p:sp>
        <p:nvSpPr>
          <p:cNvPr id="19" name="Triangle 18">
            <a:extLst>
              <a:ext uri="{FF2B5EF4-FFF2-40B4-BE49-F238E27FC236}">
                <a16:creationId xmlns:a16="http://schemas.microsoft.com/office/drawing/2014/main" id="{DB7B8D20-3686-532A-8114-B0CA0DBA8AFC}"/>
              </a:ext>
            </a:extLst>
          </p:cNvPr>
          <p:cNvSpPr/>
          <p:nvPr/>
        </p:nvSpPr>
        <p:spPr>
          <a:xfrm rot="5400000">
            <a:off x="2765046" y="3650534"/>
            <a:ext cx="4343400" cy="365760"/>
          </a:xfrm>
          <a:prstGeom prst="triangle">
            <a:avLst>
              <a:gd name="adj" fmla="val 50074"/>
            </a:avLst>
          </a:prstGeom>
          <a:solidFill>
            <a:srgbClr val="D0D7DF"/>
          </a:solidFill>
        </p:spPr>
        <p:txBody>
          <a:bodyPr vert="horz" lIns="73152" tIns="73152" rIns="60960" bIns="48768" rtlCol="0" anchor="ctr" anchorCtr="0">
            <a:noAutofit/>
          </a:bodyPr>
          <a:lstStyle/>
          <a:p>
            <a:pPr algn="ctr" defTabSz="231642">
              <a:spcAft>
                <a:spcPts val="800"/>
              </a:spcAft>
              <a:tabLst>
                <a:tab pos="231642" algn="l"/>
                <a:tab pos="463284" algn="l"/>
                <a:tab pos="694927" algn="l"/>
                <a:tab pos="926569" algn="l"/>
              </a:tabLst>
            </a:pPr>
            <a:endParaRPr lang="en-US" sz="1867" dirty="0">
              <a:solidFill>
                <a:srgbClr val="281A42"/>
              </a:solidFill>
              <a:cs typeface="Arial" panose="020B0604020202020204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EEB8AB7-5817-EE49-97AE-A71F221A7F0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081323" y="2668656"/>
            <a:ext cx="7023100" cy="22987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56E5985-5449-41D3-8CCD-2C5D1219A0ED}"/>
              </a:ext>
            </a:extLst>
          </p:cNvPr>
          <p:cNvSpPr txBox="1"/>
          <p:nvPr/>
        </p:nvSpPr>
        <p:spPr>
          <a:xfrm>
            <a:off x="319720" y="1084858"/>
            <a:ext cx="4434146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800" b="1" spc="-25" dirty="0">
                <a:solidFill>
                  <a:srgbClr val="765FFF"/>
                </a:solidFill>
                <a:latin typeface="Segoe UI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We Ask Five Critical Talent Questions</a:t>
            </a:r>
            <a:endParaRPr lang="en-US" b="1" spc="-25" dirty="0">
              <a:solidFill>
                <a:srgbClr val="765FFF"/>
              </a:solidFill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481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DFF0A-0995-D066-720E-5B8DE8289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0D2437-C2A7-AD4A-CA8E-49500C5AE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5" dirty="0">
                <a:ea typeface="Helvetica Neue" panose="02000503000000020004" pitchFamily="2" charset="0"/>
                <a:cs typeface="Helvetica Neue" panose="02000503000000020004" pitchFamily="2" charset="0"/>
              </a:rPr>
              <a:t>IT Sounds Simple but </a:t>
            </a:r>
            <a:r>
              <a:rPr lang="en-US" spc="-25" dirty="0">
                <a:solidFill>
                  <a:srgbClr val="281A42"/>
                </a:solidFill>
                <a:ea typeface="Helvetica Neue" panose="02000503000000020004" pitchFamily="2" charset="0"/>
                <a:cs typeface="Helvetica Neue" panose="02000503000000020004" pitchFamily="2" charset="0"/>
              </a:rPr>
              <a:t>Most People Don’t Do IT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72E2E2-6D1B-29A9-84E5-9C95EECB484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8185"/>
          <a:stretch>
            <a:fillRect/>
          </a:stretch>
        </p:blipFill>
        <p:spPr>
          <a:xfrm>
            <a:off x="688242" y="1193043"/>
            <a:ext cx="11342178" cy="474476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A3B2D1B-2FAF-085A-4405-F6F5CFB5A35F}"/>
              </a:ext>
            </a:extLst>
          </p:cNvPr>
          <p:cNvSpPr/>
          <p:nvPr/>
        </p:nvSpPr>
        <p:spPr>
          <a:xfrm>
            <a:off x="4452714" y="3652679"/>
            <a:ext cx="3584448" cy="2185416"/>
          </a:xfrm>
          <a:prstGeom prst="rect">
            <a:avLst/>
          </a:prstGeom>
          <a:solidFill>
            <a:srgbClr val="917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5400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70%</a:t>
            </a:r>
          </a:p>
          <a:p>
            <a:endParaRPr lang="en-US" sz="600" spc="-10" dirty="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of execution risks sit beyond the talent skills</a:t>
            </a:r>
            <a:endParaRPr lang="en-US" spc="-10" baseline="30000" dirty="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BAE690-FB58-2D7A-7D06-950438104B54}"/>
              </a:ext>
            </a:extLst>
          </p:cNvPr>
          <p:cNvSpPr/>
          <p:nvPr/>
        </p:nvSpPr>
        <p:spPr>
          <a:xfrm>
            <a:off x="8143444" y="3652678"/>
            <a:ext cx="3584448" cy="2185416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5400" spc="-10" dirty="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71%</a:t>
            </a:r>
          </a:p>
          <a:p>
            <a:r>
              <a:rPr lang="en-US" spc="-10" dirty="0">
                <a:solidFill>
                  <a:srgbClr val="FFF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PE CEOs are replaced sometime during the hold period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C6F52E-1B10-F3A5-0592-4A96D876B0AD}"/>
              </a:ext>
            </a:extLst>
          </p:cNvPr>
          <p:cNvSpPr/>
          <p:nvPr/>
        </p:nvSpPr>
        <p:spPr>
          <a:xfrm>
            <a:off x="726541" y="3652678"/>
            <a:ext cx="3584448" cy="2185416"/>
          </a:xfrm>
          <a:prstGeom prst="rect">
            <a:avLst/>
          </a:prstGeom>
          <a:solidFill>
            <a:srgbClr val="AEA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5400" spc="-10" dirty="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50%</a:t>
            </a:r>
          </a:p>
          <a:p>
            <a:endParaRPr lang="en-US" sz="600" spc="-10" dirty="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pc="-10" dirty="0">
                <a:solidFill>
                  <a:srgbClr val="1D1D1D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of critical roles in organizations are not set-up to succeed</a:t>
            </a:r>
            <a:endParaRPr lang="en-US" spc="-10" baseline="30000" dirty="0">
              <a:solidFill>
                <a:srgbClr val="1D1D1D"/>
              </a:solidFill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82546-1625-1485-5290-CDC7DFB8FB6E}"/>
              </a:ext>
            </a:extLst>
          </p:cNvPr>
          <p:cNvSpPr txBox="1"/>
          <p:nvPr/>
        </p:nvSpPr>
        <p:spPr>
          <a:xfrm>
            <a:off x="8428101" y="5913355"/>
            <a:ext cx="3299791" cy="43088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100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2022 HBS</a:t>
            </a:r>
          </a:p>
          <a:p>
            <a:pPr algn="r"/>
            <a:r>
              <a:rPr lang="en-US" sz="1100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The Market for CEOs: Evidence from 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2675FD-8BAF-B3F9-E959-6822349BC6BF}"/>
              </a:ext>
            </a:extLst>
          </p:cNvPr>
          <p:cNvSpPr txBox="1"/>
          <p:nvPr/>
        </p:nvSpPr>
        <p:spPr>
          <a:xfrm>
            <a:off x="688242" y="5913355"/>
            <a:ext cx="5369459" cy="43088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100" spc="-10" dirty="0">
                <a:ea typeface="Helvetica Neue" panose="02000503000000020004" pitchFamily="2" charset="0"/>
                <a:cs typeface="Helvetica Neue" panose="02000503000000020004" pitchFamily="2" charset="0"/>
              </a:rPr>
              <a:t>1) Leading management consultancy interviews with 200+ PE CEOs (2020)</a:t>
            </a:r>
          </a:p>
          <a:p>
            <a:r>
              <a:rPr lang="en-US" sz="1100" spc="-10" dirty="0">
                <a:ea typeface="Helvetica Neue" panose="02000503000000020004" pitchFamily="2" charset="0"/>
                <a:cs typeface="Helvetica Neue" panose="02000503000000020004" pitchFamily="2" charset="0"/>
              </a:rPr>
              <a:t>2) The Mindsets and Practices of Excellent CEOs (2022)</a:t>
            </a:r>
            <a:endParaRPr lang="en-US" sz="1100" spc="-10" dirty="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697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DD9DC-7B0A-C177-4AA7-D786E6874D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F87F5A-AB13-C09B-EC7E-96D11052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pc="-25" dirty="0"/>
              <a:t>Consistent Excellence Delivers </a:t>
            </a:r>
            <a:r>
              <a:rPr lang="en-GB" spc="-25" dirty="0">
                <a:solidFill>
                  <a:srgbClr val="765FFF"/>
                </a:solidFill>
                <a:cs typeface="Helvetica Neue" panose="02000503000000020004" pitchFamily="2" charset="0"/>
              </a:rPr>
              <a:t>Outsized Outcomes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124CDF-28FB-134C-3232-41CA115843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5418280" y="832883"/>
            <a:ext cx="3666824" cy="3205944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1F7D2109-01DA-FDC6-6B9F-EBBCED0F348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alphaModFix amt="5849"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0" y="1523316"/>
            <a:ext cx="4107624" cy="4901027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6CE426-4DAB-C385-CF1D-DE4F59518FBD}"/>
              </a:ext>
            </a:extLst>
          </p:cNvPr>
          <p:cNvSpPr txBox="1"/>
          <p:nvPr/>
        </p:nvSpPr>
        <p:spPr>
          <a:xfrm>
            <a:off x="331231" y="1641360"/>
            <a:ext cx="5284086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800" spc="-10" dirty="0">
                <a:solidFill>
                  <a:srgbClr val="765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2X</a:t>
            </a:r>
            <a:endParaRPr lang="en-US" sz="500" spc="-10" dirty="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600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Better ROI for those that get talent right in the first year</a:t>
            </a:r>
            <a:endParaRPr lang="en-US" sz="1600" spc="-10" baseline="30000" dirty="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93FCD2-CD17-E10A-4187-C6FF3A374C93}"/>
              </a:ext>
            </a:extLst>
          </p:cNvPr>
          <p:cNvSpPr txBox="1"/>
          <p:nvPr/>
        </p:nvSpPr>
        <p:spPr>
          <a:xfrm>
            <a:off x="331231" y="3009437"/>
            <a:ext cx="5284086" cy="12464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800" spc="-10" dirty="0">
                <a:solidFill>
                  <a:srgbClr val="765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4X</a:t>
            </a:r>
            <a:endParaRPr lang="en-US" sz="500" spc="-10" dirty="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600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Return on An Exit, 6 years Partnership with us</a:t>
            </a:r>
            <a:br>
              <a:rPr lang="en-US" sz="1600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1100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 large European PE company</a:t>
            </a:r>
            <a:endParaRPr lang="en-US" sz="1600" spc="-10" dirty="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D67313-C1EF-8B23-7700-EFA6091E34D7}"/>
              </a:ext>
            </a:extLst>
          </p:cNvPr>
          <p:cNvSpPr txBox="1"/>
          <p:nvPr/>
        </p:nvSpPr>
        <p:spPr>
          <a:xfrm>
            <a:off x="331231" y="4530281"/>
            <a:ext cx="5284086" cy="12464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800" spc="-10" dirty="0">
                <a:solidFill>
                  <a:srgbClr val="765FFF"/>
                </a:solidFill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6X</a:t>
            </a:r>
            <a:endParaRPr lang="en-US" sz="500" spc="-10" dirty="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600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Return, Where Talent to Value Refreshed Every Year</a:t>
            </a:r>
          </a:p>
          <a:p>
            <a:r>
              <a:rPr lang="en-US" sz="1100" spc="-10" dirty="0">
                <a:latin typeface="Arial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A premier mid-market US PE company</a:t>
            </a:r>
            <a:endParaRPr lang="en-US" sz="1600" spc="-10" dirty="0">
              <a:latin typeface="Arial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E7F935A-094F-D956-5A4D-93D215502EE2}"/>
              </a:ext>
            </a:extLst>
          </p:cNvPr>
          <p:cNvGrpSpPr/>
          <p:nvPr/>
        </p:nvGrpSpPr>
        <p:grpSpPr>
          <a:xfrm>
            <a:off x="8673808" y="2565171"/>
            <a:ext cx="3356610" cy="3805102"/>
            <a:chOff x="8673808" y="2881263"/>
            <a:chExt cx="3356610" cy="380510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48B0ABF-93AE-CB4B-B4EC-A81965052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8673808" y="4279983"/>
              <a:ext cx="3314402" cy="151261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FF98F7F-07A8-632D-64C2-E6F2480D7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duotone>
                <a:srgbClr val="765FFF"/>
                <a:srgbClr val="FFFFFF"/>
              </a:duotone>
            </a:blip>
            <a:stretch>
              <a:fillRect/>
            </a:stretch>
          </p:blipFill>
          <p:spPr>
            <a:xfrm>
              <a:off x="8691965" y="2962194"/>
              <a:ext cx="3285022" cy="105120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A768758-3252-8FD0-7BAB-3A7D65E9E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duotone>
                <a:srgbClr val="765FFF"/>
                <a:srgbClr val="FFFFFF"/>
              </a:duotone>
            </a:blip>
            <a:srcRect/>
            <a:stretch>
              <a:fillRect/>
            </a:stretch>
          </p:blipFill>
          <p:spPr>
            <a:xfrm>
              <a:off x="8719621" y="6043372"/>
              <a:ext cx="3114018" cy="642993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EA2786D-BE79-3530-6905-C1AB6F3F1D2E}"/>
                </a:ext>
              </a:extLst>
            </p:cNvPr>
            <p:cNvGrpSpPr/>
            <p:nvPr/>
          </p:nvGrpSpPr>
          <p:grpSpPr>
            <a:xfrm>
              <a:off x="8683902" y="2881263"/>
              <a:ext cx="3346516" cy="3669494"/>
              <a:chOff x="1157095" y="1368782"/>
              <a:chExt cx="3346516" cy="366949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4604427-919D-D88A-6AAA-B98D0AF7A272}"/>
                  </a:ext>
                </a:extLst>
              </p:cNvPr>
              <p:cNvSpPr/>
              <p:nvPr/>
            </p:nvSpPr>
            <p:spPr>
              <a:xfrm>
                <a:off x="2685672" y="3953435"/>
                <a:ext cx="1722782" cy="261680"/>
              </a:xfrm>
              <a:prstGeom prst="rect">
                <a:avLst/>
              </a:prstGeom>
              <a:noFill/>
              <a:ln>
                <a:solidFill>
                  <a:srgbClr val="281A4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DB2AA75-B6B2-053A-7B00-30C63E394121}"/>
                  </a:ext>
                </a:extLst>
              </p:cNvPr>
              <p:cNvSpPr/>
              <p:nvPr/>
            </p:nvSpPr>
            <p:spPr>
              <a:xfrm>
                <a:off x="1157095" y="4113338"/>
                <a:ext cx="316029" cy="184290"/>
              </a:xfrm>
              <a:prstGeom prst="rect">
                <a:avLst/>
              </a:prstGeom>
              <a:noFill/>
              <a:ln>
                <a:solidFill>
                  <a:srgbClr val="281A4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885EB43-2C03-0F6D-FDEE-EBD773825F9D}"/>
                  </a:ext>
                </a:extLst>
              </p:cNvPr>
              <p:cNvSpPr/>
              <p:nvPr/>
            </p:nvSpPr>
            <p:spPr>
              <a:xfrm>
                <a:off x="1192813" y="3023164"/>
                <a:ext cx="645109" cy="30824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258E281-D3D1-6603-4063-DA6EB975B099}"/>
                  </a:ext>
                </a:extLst>
              </p:cNvPr>
              <p:cNvSpPr/>
              <p:nvPr/>
            </p:nvSpPr>
            <p:spPr>
              <a:xfrm>
                <a:off x="1782470" y="1892122"/>
                <a:ext cx="1253298" cy="17621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E8F16F8B-CC8E-D07B-3726-33398984DD8C}"/>
                  </a:ext>
                </a:extLst>
              </p:cNvPr>
              <p:cNvGrpSpPr/>
              <p:nvPr/>
            </p:nvGrpSpPr>
            <p:grpSpPr>
              <a:xfrm>
                <a:off x="1230909" y="4521271"/>
                <a:ext cx="2437135" cy="517005"/>
                <a:chOff x="1541529" y="5140107"/>
                <a:chExt cx="2468172" cy="523589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06F769B-A73C-5AB6-CB4F-624B90C53A14}"/>
                    </a:ext>
                  </a:extLst>
                </p:cNvPr>
                <p:cNvSpPr/>
                <p:nvPr/>
              </p:nvSpPr>
              <p:spPr>
                <a:xfrm>
                  <a:off x="1541529" y="5268131"/>
                  <a:ext cx="2468172" cy="181006"/>
                </a:xfrm>
                <a:prstGeom prst="rect">
                  <a:avLst/>
                </a:prstGeom>
                <a:noFill/>
                <a:ln>
                  <a:solidFill>
                    <a:srgbClr val="281A4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E8D880A-11C7-126F-C3A7-061B407BC86A}"/>
                    </a:ext>
                  </a:extLst>
                </p:cNvPr>
                <p:cNvSpPr/>
                <p:nvPr/>
              </p:nvSpPr>
              <p:spPr>
                <a:xfrm>
                  <a:off x="3629294" y="5140107"/>
                  <a:ext cx="228986" cy="12802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6624400-9FAB-ED7A-BBD2-B4809C2C6868}"/>
                    </a:ext>
                  </a:extLst>
                </p:cNvPr>
                <p:cNvSpPr/>
                <p:nvPr/>
              </p:nvSpPr>
              <p:spPr>
                <a:xfrm>
                  <a:off x="3636465" y="5535672"/>
                  <a:ext cx="189245" cy="12802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0F47C1-519B-55E9-1F59-C4F96DF8B9C2}"/>
                  </a:ext>
                </a:extLst>
              </p:cNvPr>
              <p:cNvSpPr txBox="1"/>
              <p:nvPr/>
            </p:nvSpPr>
            <p:spPr>
              <a:xfrm>
                <a:off x="3850868" y="1368782"/>
                <a:ext cx="652743" cy="36933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>
                <a:spAutoFit/>
              </a:bodyPr>
              <a:lstStyle/>
              <a:p>
                <a:r>
                  <a:rPr lang="en-US" b="1" spc="-25" dirty="0">
                    <a:solidFill>
                      <a:srgbClr val="F2F2F2"/>
                    </a:solidFill>
                    <a:latin typeface="Segoe UI" pitchFamily="34" charset="0"/>
                  </a:rPr>
                  <a:t>2025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63570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0921A0-4B3C-15C8-913C-55123A6C2B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Talent to Value in 4 Key Areas to Address CEO Questions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F3A264-9233-C0E6-27D1-6EADA8A15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9</a:t>
            </a:fld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7A9607A-05D9-E2AD-3150-49ABC6C2C685}"/>
              </a:ext>
            </a:extLst>
          </p:cNvPr>
          <p:cNvSpPr/>
          <p:nvPr/>
        </p:nvSpPr>
        <p:spPr>
          <a:xfrm>
            <a:off x="1193071" y="3257507"/>
            <a:ext cx="861294" cy="861294"/>
          </a:xfrm>
          <a:prstGeom prst="ellipse">
            <a:avLst/>
          </a:prstGeom>
          <a:solidFill>
            <a:srgbClr val="765FF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CA2BD3-7868-31D6-30BA-39BEAA98D171}"/>
              </a:ext>
            </a:extLst>
          </p:cNvPr>
          <p:cNvSpPr txBox="1"/>
          <p:nvPr/>
        </p:nvSpPr>
        <p:spPr>
          <a:xfrm>
            <a:off x="2140093" y="3500258"/>
            <a:ext cx="3264465" cy="64633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R="0" lvl="0">
              <a:spcAft>
                <a:spcPts val="0"/>
              </a:spcAft>
              <a:tabLst>
                <a:tab pos="457200" algn="l"/>
              </a:tabLst>
            </a:pPr>
            <a:r>
              <a:rPr lang="en-US" b="1" spc="-10" dirty="0">
                <a:effectLst/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Human Capital Due Diligence</a:t>
            </a:r>
          </a:p>
          <a:p>
            <a:pPr marR="0" lvl="0">
              <a:spcAft>
                <a:spcPts val="0"/>
              </a:spcAft>
              <a:tabLst>
                <a:tab pos="457200" algn="l"/>
              </a:tabLst>
            </a:pPr>
            <a:endParaRPr lang="en-US" i="1" spc="-10" dirty="0">
              <a:highlight>
                <a:srgbClr val="FFB547"/>
              </a:highlight>
              <a:latin typeface="Arial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7892A3B-815F-9208-DF2A-3CD456C0137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316163" y="3374317"/>
            <a:ext cx="648729" cy="648729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FA271F54-28EE-15AC-E2FA-4EBE30A16335}"/>
              </a:ext>
            </a:extLst>
          </p:cNvPr>
          <p:cNvSpPr/>
          <p:nvPr/>
        </p:nvSpPr>
        <p:spPr>
          <a:xfrm>
            <a:off x="1193071" y="4981337"/>
            <a:ext cx="861294" cy="861294"/>
          </a:xfrm>
          <a:prstGeom prst="ellipse">
            <a:avLst/>
          </a:prstGeom>
          <a:solidFill>
            <a:srgbClr val="765FF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BDC708-C8DA-AA67-C3BA-C49E46014497}"/>
              </a:ext>
            </a:extLst>
          </p:cNvPr>
          <p:cNvSpPr txBox="1"/>
          <p:nvPr/>
        </p:nvSpPr>
        <p:spPr>
          <a:xfrm>
            <a:off x="2096204" y="5079884"/>
            <a:ext cx="3308354" cy="64633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R="0" lvl="0">
              <a:spcAft>
                <a:spcPts val="0"/>
              </a:spcAft>
              <a:tabLst>
                <a:tab pos="457200" algn="l"/>
              </a:tabLst>
              <a:defRPr b="1" spc="-10">
                <a:effectLst/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C-Suite Selection and Leadership Assessment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21B135E-536D-B2EA-C6EB-F556D2A3A6F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1277699" y="5101577"/>
            <a:ext cx="695414" cy="695414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7208B218-4CF0-F884-F746-5013852446AD}"/>
              </a:ext>
            </a:extLst>
          </p:cNvPr>
          <p:cNvSpPr/>
          <p:nvPr/>
        </p:nvSpPr>
        <p:spPr>
          <a:xfrm>
            <a:off x="6782676" y="3260101"/>
            <a:ext cx="861294" cy="861294"/>
          </a:xfrm>
          <a:prstGeom prst="ellipse">
            <a:avLst/>
          </a:prstGeom>
          <a:solidFill>
            <a:srgbClr val="765FF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56A996-B467-5773-CB9E-AA00DBD5A528}"/>
              </a:ext>
            </a:extLst>
          </p:cNvPr>
          <p:cNvSpPr txBox="1"/>
          <p:nvPr/>
        </p:nvSpPr>
        <p:spPr>
          <a:xfrm>
            <a:off x="7729698" y="3364353"/>
            <a:ext cx="3264465" cy="92333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marR="0" lvl="0">
              <a:spcAft>
                <a:spcPts val="0"/>
              </a:spcAft>
              <a:tabLst>
                <a:tab pos="457200" algn="l"/>
              </a:tabLst>
            </a:pPr>
            <a:r>
              <a:rPr lang="en-US" b="1" spc="-10" dirty="0">
                <a:effectLst/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Talent to Value Plans fo</a:t>
            </a:r>
            <a:r>
              <a:rPr lang="en-US" b="1" spc="-10" dirty="0"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rPr>
              <a:t>r PortCos</a:t>
            </a:r>
            <a:endParaRPr lang="en-US" b="1" spc="-10" dirty="0">
              <a:effectLst/>
              <a:latin typeface="Segoe UI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>
              <a:spcAft>
                <a:spcPts val="0"/>
              </a:spcAft>
              <a:tabLst>
                <a:tab pos="457200" algn="l"/>
              </a:tabLst>
            </a:pPr>
            <a:endParaRPr lang="en-US" i="1" spc="-10" dirty="0">
              <a:highlight>
                <a:srgbClr val="FFB547"/>
              </a:highlight>
              <a:latin typeface="Arial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5529683-049C-E6DC-768C-F605A8E6671F}"/>
              </a:ext>
            </a:extLst>
          </p:cNvPr>
          <p:cNvSpPr/>
          <p:nvPr/>
        </p:nvSpPr>
        <p:spPr>
          <a:xfrm>
            <a:off x="6782676" y="4983931"/>
            <a:ext cx="861294" cy="861294"/>
          </a:xfrm>
          <a:prstGeom prst="ellipse">
            <a:avLst/>
          </a:prstGeom>
          <a:solidFill>
            <a:srgbClr val="765FF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2A63F0-228C-54B9-9260-28EE969E5EFA}"/>
              </a:ext>
            </a:extLst>
          </p:cNvPr>
          <p:cNvSpPr txBox="1"/>
          <p:nvPr/>
        </p:nvSpPr>
        <p:spPr>
          <a:xfrm>
            <a:off x="7685809" y="5082478"/>
            <a:ext cx="3308354" cy="64633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R="0" lvl="0">
              <a:spcAft>
                <a:spcPts val="0"/>
              </a:spcAft>
              <a:tabLst>
                <a:tab pos="457200" algn="l"/>
              </a:tabLst>
              <a:defRPr b="1" spc="-10">
                <a:effectLst/>
                <a:latin typeface="Segoe UI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Capability Building (CEOs, CXOs, PE Partners)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CF61478-ABF4-DE0C-CF8C-1B6546D82C4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/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953743" y="5132266"/>
            <a:ext cx="572343" cy="572343"/>
          </a:xfrm>
          <a:prstGeom prst="rect">
            <a:avLst/>
          </a:prstGeom>
        </p:spPr>
      </p:pic>
      <p:pic>
        <p:nvPicPr>
          <p:cNvPr id="38" name="Picture 37" descr="Mobilization">
            <a:extLst>
              <a:ext uri="{FF2B5EF4-FFF2-40B4-BE49-F238E27FC236}">
                <a16:creationId xmlns:a16="http://schemas.microsoft.com/office/drawing/2014/main" id="{E4D4C080-A98A-AF33-F0F3-D8D2BF32C076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6876024" y="3375046"/>
            <a:ext cx="648000" cy="648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AADA28B-0E46-6065-873A-1CBFD2A5004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duotone>
              <a:srgbClr val="765FFF"/>
              <a:srgbClr val="FFFFFF"/>
            </a:duotone>
          </a:blip>
          <a:stretch>
            <a:fillRect/>
          </a:stretch>
        </p:blipFill>
        <p:spPr>
          <a:xfrm>
            <a:off x="420000" y="239574"/>
            <a:ext cx="2808622" cy="42658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FDD3CD7-3B15-A704-3F24-82F887C79290}"/>
              </a:ext>
            </a:extLst>
          </p:cNvPr>
          <p:cNvSpPr txBox="1"/>
          <p:nvPr/>
        </p:nvSpPr>
        <p:spPr>
          <a:xfrm>
            <a:off x="516935" y="1859451"/>
            <a:ext cx="2072639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Where is the 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money?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48DFE3-8883-8B24-432C-A8CF33255B10}"/>
              </a:ext>
            </a:extLst>
          </p:cNvPr>
          <p:cNvSpPr txBox="1"/>
          <p:nvPr/>
        </p:nvSpPr>
        <p:spPr>
          <a:xfrm>
            <a:off x="2864689" y="185945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How do I want 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to</a:t>
            </a: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run the place?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960253-6676-4C90-ACA1-247B5B3925CA}"/>
              </a:ext>
            </a:extLst>
          </p:cNvPr>
          <p:cNvSpPr txBox="1"/>
          <p:nvPr/>
        </p:nvSpPr>
        <p:spPr>
          <a:xfrm>
            <a:off x="7560201" y="185945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Do we have 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enough talent 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at our critical roles?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6D40C2-CF40-9E54-376F-33246F77F68B}"/>
              </a:ext>
            </a:extLst>
          </p:cNvPr>
          <p:cNvSpPr txBox="1"/>
          <p:nvPr/>
        </p:nvSpPr>
        <p:spPr>
          <a:xfrm>
            <a:off x="9907956" y="185945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Are we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mobilizing for success?</a:t>
            </a:r>
            <a:endParaRPr kumimoji="0" lang="en-US" sz="1600" b="0" i="0" u="none" strike="noStrike" kern="1200" cap="none" spc="-1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41362B-EC3F-B99F-AC66-B20202225B86}"/>
              </a:ext>
            </a:extLst>
          </p:cNvPr>
          <p:cNvSpPr txBox="1"/>
          <p:nvPr/>
        </p:nvSpPr>
        <p:spPr>
          <a:xfrm>
            <a:off x="5212445" y="1859451"/>
            <a:ext cx="2072640" cy="8055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F2F2F2">
                    <a:lumMod val="50000"/>
                  </a:srgb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Is my leadership </a:t>
            </a:r>
            <a:r>
              <a:rPr kumimoji="0" lang="en-US" sz="1600" b="1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team ready</a:t>
            </a:r>
            <a:r>
              <a:rPr kumimoji="0" lang="en-US" sz="1600" b="0" i="0" u="none" strike="noStrike" kern="1200" cap="none" spc="-1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47862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FA61D0-F84F-EDB5-A896-DA37E1E345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2808A4-ADBE-0F3B-1F4A-C90E2483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5" dirty="0">
                <a:ea typeface="Lato" panose="020F0502020204030203" pitchFamily="34" charset="0"/>
                <a:cs typeface="Lato" panose="020F0502020204030203" pitchFamily="34" charset="0"/>
              </a:rPr>
              <a:t>Our </a:t>
            </a:r>
            <a:r>
              <a:rPr lang="en-US" spc="-25" dirty="0">
                <a:solidFill>
                  <a:schemeClr val="accent1"/>
                </a:solidFill>
                <a:ea typeface="Lato" panose="020F0502020204030203" pitchFamily="34" charset="0"/>
                <a:cs typeface="Lato" panose="020F0502020204030203" pitchFamily="34" charset="0"/>
              </a:rPr>
              <a:t>Clients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B075C-B897-D129-642D-43DF2CBA8B84}"/>
              </a:ext>
            </a:extLst>
          </p:cNvPr>
          <p:cNvSpPr txBox="1"/>
          <p:nvPr/>
        </p:nvSpPr>
        <p:spPr>
          <a:xfrm>
            <a:off x="451956" y="946849"/>
            <a:ext cx="3305908" cy="23247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rPr>
              <a:t>PRIVATE EQUITY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rPr>
              <a:t>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pic>
        <p:nvPicPr>
          <p:cNvPr id="5" name="Picture 4" descr="Korea&amp;#39;s NPS commits $268 mn in tech fund of Apax Partners - Pulse by Maeil  Business News Korea">
            <a:extLst>
              <a:ext uri="{FF2B5EF4-FFF2-40B4-BE49-F238E27FC236}">
                <a16:creationId xmlns:a16="http://schemas.microsoft.com/office/drawing/2014/main" id="{E5307DA9-4821-E661-33E2-B06C38499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231" y="1519139"/>
            <a:ext cx="763544" cy="337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KKR - EDF+Business">
            <a:extLst>
              <a:ext uri="{FF2B5EF4-FFF2-40B4-BE49-F238E27FC236}">
                <a16:creationId xmlns:a16="http://schemas.microsoft.com/office/drawing/2014/main" id="{3373D8A5-9A6B-B90C-FA82-6EA183AF6A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40" b="30491"/>
          <a:stretch/>
        </p:blipFill>
        <p:spPr bwMode="auto">
          <a:xfrm>
            <a:off x="1849058" y="1577431"/>
            <a:ext cx="524965" cy="14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tephane Etroy Joins Ares Management Corporation as Head of European  Private Equity | Business Wire">
            <a:extLst>
              <a:ext uri="{FF2B5EF4-FFF2-40B4-BE49-F238E27FC236}">
                <a16:creationId xmlns:a16="http://schemas.microsoft.com/office/drawing/2014/main" id="{B6AC0C7E-5B65-EE1B-2534-38DA0ED51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186" y="1432617"/>
            <a:ext cx="662736" cy="38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goldman-sachs-logo - First Tee - Greater Austin">
            <a:extLst>
              <a:ext uri="{FF2B5EF4-FFF2-40B4-BE49-F238E27FC236}">
                <a16:creationId xmlns:a16="http://schemas.microsoft.com/office/drawing/2014/main" id="{2B029F33-8CE3-CEA9-E7FE-29D48A0FA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830" y="1129163"/>
            <a:ext cx="823887" cy="445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Tony O&amp;#39;Carroll | Capital Creation 2021">
            <a:extLst>
              <a:ext uri="{FF2B5EF4-FFF2-40B4-BE49-F238E27FC236}">
                <a16:creationId xmlns:a16="http://schemas.microsoft.com/office/drawing/2014/main" id="{EA0595C7-104D-79F5-862E-3230C1FC1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507" y="1254650"/>
            <a:ext cx="775431" cy="184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Cofra Holding | iVentiv">
            <a:extLst>
              <a:ext uri="{FF2B5EF4-FFF2-40B4-BE49-F238E27FC236}">
                <a16:creationId xmlns:a16="http://schemas.microsoft.com/office/drawing/2014/main" id="{3CB25173-6E5F-460C-027B-D194145E5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499" y="1750183"/>
            <a:ext cx="498124" cy="38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LIVEKINDLY Collective Announces an Additional $135 Million Capital Raise -  private-equitynews.com">
            <a:extLst>
              <a:ext uri="{FF2B5EF4-FFF2-40B4-BE49-F238E27FC236}">
                <a16:creationId xmlns:a16="http://schemas.microsoft.com/office/drawing/2014/main" id="{F5D62919-AE6D-3763-6D21-65BE78E8E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007" y="1789764"/>
            <a:ext cx="394231" cy="39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16246D-474E-4E08-E9F0-C0E5EEB1D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66" y="1911933"/>
            <a:ext cx="628865" cy="202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7F51BCD0-3039-2109-7B9F-7369D28C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386" y="1919778"/>
            <a:ext cx="758639" cy="212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D6C85A-6B0C-8ECE-B6E9-3CF3702A7B4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113" y="1537215"/>
            <a:ext cx="537752" cy="2588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166A29-DD11-43F6-1173-D1443B9D991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273" y="1233957"/>
            <a:ext cx="507546" cy="20640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9F48BBD-447B-7215-298F-162421B60CEC}"/>
              </a:ext>
            </a:extLst>
          </p:cNvPr>
          <p:cNvSpPr/>
          <p:nvPr/>
        </p:nvSpPr>
        <p:spPr>
          <a:xfrm>
            <a:off x="428153" y="892112"/>
            <a:ext cx="3329711" cy="1340746"/>
          </a:xfrm>
          <a:prstGeom prst="rect">
            <a:avLst/>
          </a:prstGeom>
          <a:noFill/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43A6B8-31D2-80C6-7C96-26E8C2B9D904}"/>
              </a:ext>
            </a:extLst>
          </p:cNvPr>
          <p:cNvSpPr/>
          <p:nvPr/>
        </p:nvSpPr>
        <p:spPr>
          <a:xfrm>
            <a:off x="4012518" y="892112"/>
            <a:ext cx="2294804" cy="1340746"/>
          </a:xfrm>
          <a:prstGeom prst="rect">
            <a:avLst/>
          </a:prstGeom>
          <a:noFill/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AD0335-1AB3-6AA1-AEE8-CF94D28CE97C}"/>
              </a:ext>
            </a:extLst>
          </p:cNvPr>
          <p:cNvSpPr txBox="1"/>
          <p:nvPr/>
        </p:nvSpPr>
        <p:spPr>
          <a:xfrm>
            <a:off x="3985680" y="963758"/>
            <a:ext cx="3305908" cy="23247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rPr>
              <a:t>PROFESSIONAL SERVICES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rPr>
              <a:t> 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1DE69A-A52D-D814-903B-79C7571349F8}"/>
              </a:ext>
            </a:extLst>
          </p:cNvPr>
          <p:cNvSpPr/>
          <p:nvPr/>
        </p:nvSpPr>
        <p:spPr>
          <a:xfrm>
            <a:off x="6543553" y="891931"/>
            <a:ext cx="2682088" cy="1340746"/>
          </a:xfrm>
          <a:prstGeom prst="rect">
            <a:avLst/>
          </a:prstGeom>
          <a:noFill/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745A86-B526-E2D6-657C-7393F254441E}"/>
              </a:ext>
            </a:extLst>
          </p:cNvPr>
          <p:cNvSpPr txBox="1"/>
          <p:nvPr/>
        </p:nvSpPr>
        <p:spPr>
          <a:xfrm>
            <a:off x="6573877" y="952405"/>
            <a:ext cx="3305908" cy="23247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rPr>
              <a:t>RETAIL/ONLINE RETAIL FORUM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FB3447-A0D4-DEAE-7E8C-07F9EBF48830}"/>
              </a:ext>
            </a:extLst>
          </p:cNvPr>
          <p:cNvSpPr/>
          <p:nvPr/>
        </p:nvSpPr>
        <p:spPr>
          <a:xfrm>
            <a:off x="9377025" y="892420"/>
            <a:ext cx="2712061" cy="1340746"/>
          </a:xfrm>
          <a:prstGeom prst="rect">
            <a:avLst/>
          </a:prstGeom>
          <a:noFill/>
          <a:ln w="25400" cap="flat" cmpd="sng" algn="ctr">
            <a:solidFill>
              <a:schemeClr val="bg2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3D38CF-FA85-B605-6550-569B4D733AB7}"/>
              </a:ext>
            </a:extLst>
          </p:cNvPr>
          <p:cNvSpPr txBox="1"/>
          <p:nvPr/>
        </p:nvSpPr>
        <p:spPr>
          <a:xfrm>
            <a:off x="9388926" y="969345"/>
            <a:ext cx="2692673" cy="23247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rPr>
              <a:t>HEALTHCARE/HEALTH TECHNOLOGY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  <a:sym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0227906-388E-225F-3EF6-D60278204F7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01174" y="1385543"/>
            <a:ext cx="1117529" cy="17694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6D00934-2D18-D34A-3402-8AFAC9A4217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2349" y="1677056"/>
            <a:ext cx="757852" cy="39576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D4D7F01-F4EF-1FCF-1BE5-C3FC7D4B22C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15669" y="1302000"/>
            <a:ext cx="810895" cy="26489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B7E774B-FE44-FA2E-1330-7A2D9BD61E8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74227" y="1598149"/>
            <a:ext cx="557598" cy="557598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19F9A62C-B5FE-7C54-F7D4-1E49A85C65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74360" y="1369644"/>
            <a:ext cx="505557" cy="5055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58D391D-1E55-CF36-6BC8-5BEF224875E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34055" y="1064235"/>
            <a:ext cx="1136726" cy="5967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9FA6984-D49B-A332-3A5E-4848C9D40EF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91588" y="1647033"/>
            <a:ext cx="574017" cy="50555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CA546531-0473-BA56-4415-84622A53CB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902418" y="1570404"/>
            <a:ext cx="1166030" cy="34514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2A5189C-E30A-6AEA-A7A0-A622FECAC33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44862" y="1252368"/>
            <a:ext cx="986559" cy="51671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4E97966-EC60-3C3C-AF20-BFBF78A4852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809189" y="917460"/>
            <a:ext cx="998417" cy="99841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889628E-5FF4-E613-4D1C-0B90E6E687C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909872" y="1615971"/>
            <a:ext cx="998417" cy="33280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97FC527-E40D-0424-D6FD-6B6068EE917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88955" y="1105938"/>
            <a:ext cx="787871" cy="36511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C3890F5-4DDF-ACCC-3C00-7D28B581D75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46552" y="1601942"/>
            <a:ext cx="1231904" cy="963389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FCDDDD2E-A810-FA75-0A4F-2FD000C7EDB3}"/>
              </a:ext>
            </a:extLst>
          </p:cNvPr>
          <p:cNvGrpSpPr/>
          <p:nvPr/>
        </p:nvGrpSpPr>
        <p:grpSpPr>
          <a:xfrm>
            <a:off x="424966" y="2286867"/>
            <a:ext cx="12336368" cy="1340746"/>
            <a:chOff x="424966" y="2391371"/>
            <a:chExt cx="12336368" cy="134074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5CA70B5-7C0D-3A7B-5E56-69D2F84E908E}"/>
                </a:ext>
              </a:extLst>
            </p:cNvPr>
            <p:cNvSpPr/>
            <p:nvPr/>
          </p:nvSpPr>
          <p:spPr>
            <a:xfrm>
              <a:off x="4007427" y="2391371"/>
              <a:ext cx="2291198" cy="1340746"/>
            </a:xfrm>
            <a:prstGeom prst="rect">
              <a:avLst/>
            </a:prstGeom>
            <a:noFill/>
            <a:ln w="254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7A69080-CCB8-D4F5-330C-6EA569E5F32E}"/>
                </a:ext>
              </a:extLst>
            </p:cNvPr>
            <p:cNvSpPr txBox="1"/>
            <p:nvPr/>
          </p:nvSpPr>
          <p:spPr>
            <a:xfrm>
              <a:off x="3985680" y="2441370"/>
              <a:ext cx="3305908" cy="23247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 pitchFamily="34" charset="0"/>
                </a:rPr>
                <a:t>MEDICAL DEVICES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FB394FB-0C3C-0FE0-9C30-5E875BEC5D82}"/>
                </a:ext>
              </a:extLst>
            </p:cNvPr>
            <p:cNvSpPr/>
            <p:nvPr/>
          </p:nvSpPr>
          <p:spPr>
            <a:xfrm>
              <a:off x="435006" y="2391371"/>
              <a:ext cx="3329711" cy="1340746"/>
            </a:xfrm>
            <a:prstGeom prst="rect">
              <a:avLst/>
            </a:prstGeom>
            <a:noFill/>
            <a:ln w="254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54D92B8-B1E0-C66A-4A9A-61E9D605A9F5}"/>
                </a:ext>
              </a:extLst>
            </p:cNvPr>
            <p:cNvSpPr txBox="1"/>
            <p:nvPr/>
          </p:nvSpPr>
          <p:spPr>
            <a:xfrm>
              <a:off x="424966" y="2463243"/>
              <a:ext cx="3305908" cy="23247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 pitchFamily="34" charset="0"/>
                </a:rPr>
                <a:t>FINANCIAL SERVICES</a:t>
              </a: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 pitchFamily="34" charset="0"/>
                </a:rPr>
                <a:t> 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endParaRP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B3FEBB82-B651-EC07-CB5E-1E93232AE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063504" y="2753995"/>
              <a:ext cx="1051471" cy="45369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E0E442C7-53FB-156B-21DE-9012010F0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5180031" y="2859475"/>
              <a:ext cx="928560" cy="232140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1F8C8D25-DC3B-9FFB-F00A-B745F458F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4178494" y="3177487"/>
              <a:ext cx="884199" cy="462065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24D43E7-265E-A5C1-7488-D62BDFCBD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532900" y="2782655"/>
              <a:ext cx="906914" cy="355208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1460B254-77B5-4FFC-68FE-456973D4F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594534" y="3208974"/>
              <a:ext cx="783456" cy="167709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46F756E9-3B89-3FC1-F500-A27278610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560179" y="2687513"/>
              <a:ext cx="699180" cy="300849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FCC58536-4069-500F-4C57-1ADB6E85F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573156" y="3044461"/>
              <a:ext cx="662011" cy="167709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FFD1FAA6-F795-037F-B8B9-3A43F178C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530862" y="3416267"/>
              <a:ext cx="615132" cy="175752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D7619258-CD0C-70A8-9208-DB237C85C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2535910" y="2644703"/>
              <a:ext cx="1097359" cy="144028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5250D3D6-5D29-FD9F-F9DC-CDBB0F021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2635865" y="2813926"/>
              <a:ext cx="907082" cy="300849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B96146DA-71E9-AFCC-FC8F-2E76D5316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2558285" y="3156765"/>
              <a:ext cx="984662" cy="512845"/>
            </a:xfrm>
            <a:prstGeom prst="rect">
              <a:avLst/>
            </a:prstGeom>
          </p:spPr>
        </p:pic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5BD8D50-5482-AB0A-9A0C-C1E9077E06CC}"/>
                </a:ext>
              </a:extLst>
            </p:cNvPr>
            <p:cNvGrpSpPr/>
            <p:nvPr/>
          </p:nvGrpSpPr>
          <p:grpSpPr>
            <a:xfrm>
              <a:off x="9397596" y="2391371"/>
              <a:ext cx="2684003" cy="1340746"/>
              <a:chOff x="12640167" y="4297779"/>
              <a:chExt cx="2684003" cy="1340746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7B632C6E-A1BA-BD56-6ADC-9F00D7767F1F}"/>
                  </a:ext>
                </a:extLst>
              </p:cNvPr>
              <p:cNvSpPr/>
              <p:nvPr/>
            </p:nvSpPr>
            <p:spPr>
              <a:xfrm>
                <a:off x="12640167" y="4297779"/>
                <a:ext cx="2684003" cy="1340746"/>
              </a:xfrm>
              <a:prstGeom prst="rect">
                <a:avLst/>
              </a:prstGeom>
              <a:noFill/>
              <a:ln w="25400" cap="flat" cmpd="sng" algn="ctr">
                <a:solidFill>
                  <a:schemeClr val="bg2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D8ED964F-8750-4022-3865-F3C397C584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842275" y="4859830"/>
                <a:ext cx="815458" cy="453032"/>
              </a:xfrm>
              <a:prstGeom prst="rect">
                <a:avLst/>
              </a:prstGeom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E516A3FF-FBE7-289E-EAED-2F75FF06AC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2752132" y="4694283"/>
                <a:ext cx="815459" cy="241376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8AEE0BFB-75B3-6FB2-D46C-B224D5DC2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3567591" y="4694283"/>
                <a:ext cx="857255" cy="363143"/>
              </a:xfrm>
              <a:prstGeom prst="rect">
                <a:avLst/>
              </a:prstGeom>
            </p:spPr>
          </p:pic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FA0F5FCA-83AD-05D7-039A-AE12C8A17F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3283596" y="5225391"/>
                <a:ext cx="928560" cy="218019"/>
              </a:xfrm>
              <a:prstGeom prst="rect">
                <a:avLst/>
              </a:prstGeom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802486D8-3F6D-71AE-67BD-5F7AD60C96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4424846" y="4610032"/>
                <a:ext cx="533950" cy="533950"/>
              </a:xfrm>
              <a:prstGeom prst="rect">
                <a:avLst/>
              </a:prstGeom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98FEF874-0665-6781-B76D-4C66856EE7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4313541" y="5081668"/>
                <a:ext cx="853436" cy="444695"/>
              </a:xfrm>
              <a:prstGeom prst="rect">
                <a:avLst/>
              </a:prstGeom>
            </p:spPr>
          </p:pic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D7D8832D-B941-F1CB-17FD-5D56EBB7B846}"/>
                </a:ext>
              </a:extLst>
            </p:cNvPr>
            <p:cNvGrpSpPr/>
            <p:nvPr/>
          </p:nvGrpSpPr>
          <p:grpSpPr>
            <a:xfrm>
              <a:off x="6545403" y="2391371"/>
              <a:ext cx="2766364" cy="1340746"/>
              <a:chOff x="9210902" y="2493275"/>
              <a:chExt cx="2766364" cy="1340746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D5090B41-5DF0-ACBC-D91E-1C95D1167D69}"/>
                  </a:ext>
                </a:extLst>
              </p:cNvPr>
              <p:cNvSpPr/>
              <p:nvPr/>
            </p:nvSpPr>
            <p:spPr>
              <a:xfrm>
                <a:off x="9210902" y="2493275"/>
                <a:ext cx="2680238" cy="1340746"/>
              </a:xfrm>
              <a:prstGeom prst="rect">
                <a:avLst/>
              </a:prstGeom>
              <a:noFill/>
              <a:ln w="25400" cap="flat" cmpd="sng" algn="ctr">
                <a:solidFill>
                  <a:schemeClr val="bg2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/>
                  <a:ea typeface="+mn-ea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091A6731-AFA4-9750-4B05-B6549DE498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290785" y="2774803"/>
                <a:ext cx="648106" cy="268182"/>
              </a:xfrm>
              <a:prstGeom prst="rect">
                <a:avLst/>
              </a:prstGeom>
            </p:spPr>
          </p:pic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28C4B5EA-3B99-576C-0D85-327C8D1D48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284325" y="3097452"/>
                <a:ext cx="1057790" cy="358106"/>
              </a:xfrm>
              <a:prstGeom prst="rect">
                <a:avLst/>
              </a:prstGeom>
            </p:spPr>
          </p:pic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3AA56B8F-689E-B488-E3EA-D965D9C164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018445" y="2884559"/>
                <a:ext cx="536576" cy="230961"/>
              </a:xfrm>
              <a:prstGeom prst="rect">
                <a:avLst/>
              </a:prstGeom>
            </p:spPr>
          </p:pic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74DD917B-DAC7-8038-E534-60AB8A342E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389895" y="3186653"/>
                <a:ext cx="935847" cy="449206"/>
              </a:xfrm>
              <a:prstGeom prst="rect">
                <a:avLst/>
              </a:prstGeom>
            </p:spPr>
          </p:pic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03262516-E202-9E1F-8372-75DA2859CD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7"/>
              <a:srcRect t="26231" b="18916"/>
              <a:stretch/>
            </p:blipFill>
            <p:spPr>
              <a:xfrm>
                <a:off x="11073484" y="3020151"/>
                <a:ext cx="872178" cy="290466"/>
              </a:xfrm>
              <a:prstGeom prst="rect">
                <a:avLst/>
              </a:prstGeom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30DBBA02-25A6-DA7C-4D9D-90D04BFFA2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8"/>
              <a:srcRect t="23741" b="25783"/>
              <a:stretch/>
            </p:blipFill>
            <p:spPr>
              <a:xfrm>
                <a:off x="9245502" y="3409128"/>
                <a:ext cx="620533" cy="313222"/>
              </a:xfrm>
              <a:prstGeom prst="rect">
                <a:avLst/>
              </a:prstGeom>
            </p:spPr>
          </p:pic>
          <p:pic>
            <p:nvPicPr>
              <p:cNvPr id="64" name="Picture 63">
                <a:extLst>
                  <a:ext uri="{FF2B5EF4-FFF2-40B4-BE49-F238E27FC236}">
                    <a16:creationId xmlns:a16="http://schemas.microsoft.com/office/drawing/2014/main" id="{E14F53E7-7FF4-7D93-EDE0-32E8B09564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894204" y="3431445"/>
                <a:ext cx="502749" cy="340705"/>
              </a:xfrm>
              <a:prstGeom prst="rect">
                <a:avLst/>
              </a:prstGeom>
            </p:spPr>
          </p:pic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76C1A154-C38D-0A6F-55F3-A2EC5B1E3A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1165910" y="3319304"/>
                <a:ext cx="811356" cy="477739"/>
              </a:xfrm>
              <a:prstGeom prst="rect">
                <a:avLst/>
              </a:prstGeom>
            </p:spPr>
          </p:pic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06526341-2C2F-C3CB-D424-C9491E60FE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550096" y="2973837"/>
                <a:ext cx="572665" cy="358932"/>
              </a:xfrm>
              <a:prstGeom prst="rect">
                <a:avLst/>
              </a:prstGeom>
            </p:spPr>
          </p:pic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A1912A8-7D8A-81E1-CD2E-E13C7A1E913A}"/>
                  </a:ext>
                </a:extLst>
              </p:cNvPr>
              <p:cNvSpPr txBox="1"/>
              <p:nvPr/>
            </p:nvSpPr>
            <p:spPr>
              <a:xfrm>
                <a:off x="9210902" y="2502125"/>
                <a:ext cx="2684003" cy="232472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0" cap="none" spc="0" normalizeH="0" baseline="0" noProof="0">
                    <a:ln>
                      <a:noFill/>
                    </a:ln>
                    <a:solidFill>
                      <a:srgbClr val="281A42"/>
                    </a:solidFill>
                    <a:effectLst/>
                    <a:uLnTx/>
                    <a:uFillTx/>
                    <a:latin typeface="Segoe UI" panose="020B0502040204020203" pitchFamily="34" charset="0"/>
                    <a:ea typeface="+mn-ea"/>
                    <a:cs typeface="Segoe UI" panose="020B0502040204020203" pitchFamily="34" charset="0"/>
                    <a:sym typeface="Arial" panose="020B0604020202020204" pitchFamily="34" charset="0"/>
                  </a:rPr>
                  <a:t>ENERGY &amp; INDUSTRIAL</a:t>
                </a: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06702D9-EA1B-C882-A9C6-3251349453C5}"/>
                </a:ext>
              </a:extLst>
            </p:cNvPr>
            <p:cNvSpPr txBox="1"/>
            <p:nvPr/>
          </p:nvSpPr>
          <p:spPr>
            <a:xfrm>
              <a:off x="9455426" y="2416427"/>
              <a:ext cx="3305908" cy="23247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 pitchFamily="34" charset="0"/>
                </a:rPr>
                <a:t>IT SERVICES</a:t>
              </a: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 pitchFamily="34" charset="0"/>
                </a:rPr>
                <a:t> 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endParaRPr>
            </a:p>
          </p:txBody>
        </p:sp>
        <p:pic>
          <p:nvPicPr>
            <p:cNvPr id="55" name="Picture 2" descr="GE Vernova">
              <a:extLst>
                <a:ext uri="{FF2B5EF4-FFF2-40B4-BE49-F238E27FC236}">
                  <a16:creationId xmlns:a16="http://schemas.microsoft.com/office/drawing/2014/main" id="{A9E030C3-E252-DCC2-AF76-B959A45AA5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0986" y="2593174"/>
              <a:ext cx="1064655" cy="360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AutoShape 2" descr="GKN Aerospace - NIDV">
              <a:extLst>
                <a:ext uri="{FF2B5EF4-FFF2-40B4-BE49-F238E27FC236}">
                  <a16:creationId xmlns:a16="http://schemas.microsoft.com/office/drawing/2014/main" id="{6B613C1D-5D4F-2A06-2736-007B30D9E6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1834" y="2488013"/>
              <a:ext cx="45719" cy="45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BF9B043-40C6-9D37-0A8D-879B61C5A8CF}"/>
              </a:ext>
            </a:extLst>
          </p:cNvPr>
          <p:cNvGrpSpPr/>
          <p:nvPr/>
        </p:nvGrpSpPr>
        <p:grpSpPr>
          <a:xfrm>
            <a:off x="437530" y="3598293"/>
            <a:ext cx="11679348" cy="2833722"/>
            <a:chOff x="424467" y="3807301"/>
            <a:chExt cx="11679348" cy="2833722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BE9FF835-A237-DFC1-7739-CEEB413ED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4892033" y="5971516"/>
              <a:ext cx="611258" cy="611258"/>
            </a:xfrm>
            <a:prstGeom prst="rect">
              <a:avLst/>
            </a:prstGeom>
          </p:spPr>
        </p:pic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209F084-18DD-7BF3-F71F-8841DA526115}"/>
                </a:ext>
              </a:extLst>
            </p:cNvPr>
            <p:cNvSpPr/>
            <p:nvPr/>
          </p:nvSpPr>
          <p:spPr>
            <a:xfrm>
              <a:off x="6535372" y="3887663"/>
              <a:ext cx="5547448" cy="2753360"/>
            </a:xfrm>
            <a:prstGeom prst="rect">
              <a:avLst/>
            </a:prstGeom>
            <a:solidFill>
              <a:sysClr val="window" lastClr="FFFFFF"/>
            </a:solidFill>
            <a:ln w="254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86F2CD7-5C3B-56B9-1E18-9FAA8321BB6E}"/>
                </a:ext>
              </a:extLst>
            </p:cNvPr>
            <p:cNvSpPr txBox="1"/>
            <p:nvPr/>
          </p:nvSpPr>
          <p:spPr>
            <a:xfrm>
              <a:off x="6573876" y="3807301"/>
              <a:ext cx="5475783" cy="478623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 pitchFamily="34" charset="0"/>
                </a:rPr>
                <a:t>OTHER</a:t>
              </a:r>
              <a:r>
                <a: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 pitchFamily="34" charset="0"/>
                </a:rPr>
                <a:t> 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24947D0-2F84-B9BB-A6A4-935D86462149}"/>
                </a:ext>
              </a:extLst>
            </p:cNvPr>
            <p:cNvSpPr/>
            <p:nvPr/>
          </p:nvSpPr>
          <p:spPr>
            <a:xfrm>
              <a:off x="4007915" y="3882335"/>
              <a:ext cx="2294804" cy="1332751"/>
            </a:xfrm>
            <a:prstGeom prst="rect">
              <a:avLst/>
            </a:prstGeom>
            <a:noFill/>
            <a:ln w="254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9E9E608-1F8B-025E-1EEB-C09E14651FCB}"/>
                </a:ext>
              </a:extLst>
            </p:cNvPr>
            <p:cNvSpPr txBox="1"/>
            <p:nvPr/>
          </p:nvSpPr>
          <p:spPr>
            <a:xfrm>
              <a:off x="4047038" y="3954938"/>
              <a:ext cx="3305908" cy="23247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 pitchFamily="34" charset="0"/>
                </a:rPr>
                <a:t>EDUCATION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105B725-A187-AF42-9CA3-7A417F930F45}"/>
                </a:ext>
              </a:extLst>
            </p:cNvPr>
            <p:cNvSpPr/>
            <p:nvPr/>
          </p:nvSpPr>
          <p:spPr>
            <a:xfrm>
              <a:off x="424467" y="3874340"/>
              <a:ext cx="3329711" cy="1340746"/>
            </a:xfrm>
            <a:prstGeom prst="rect">
              <a:avLst/>
            </a:prstGeom>
            <a:noFill/>
            <a:ln w="254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0792BB2-D82B-1AE9-1767-3C05C1E6F67E}"/>
                </a:ext>
              </a:extLst>
            </p:cNvPr>
            <p:cNvSpPr txBox="1"/>
            <p:nvPr/>
          </p:nvSpPr>
          <p:spPr>
            <a:xfrm>
              <a:off x="436368" y="3954440"/>
              <a:ext cx="3305908" cy="23247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 pitchFamily="34" charset="0"/>
                </a:rPr>
                <a:t>PHARMECEUTICALS AND LIFE SCIENCES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67E1903-2320-A96C-DB29-8CEFA00BD53E}"/>
                </a:ext>
              </a:extLst>
            </p:cNvPr>
            <p:cNvSpPr/>
            <p:nvPr/>
          </p:nvSpPr>
          <p:spPr>
            <a:xfrm>
              <a:off x="4011521" y="5299885"/>
              <a:ext cx="2291198" cy="1341138"/>
            </a:xfrm>
            <a:prstGeom prst="rect">
              <a:avLst/>
            </a:prstGeom>
            <a:noFill/>
            <a:ln w="254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3F9B59C-D53F-8E78-B67C-BE75F314ADDE}"/>
                </a:ext>
              </a:extLst>
            </p:cNvPr>
            <p:cNvSpPr txBox="1"/>
            <p:nvPr/>
          </p:nvSpPr>
          <p:spPr>
            <a:xfrm>
              <a:off x="4035136" y="5429197"/>
              <a:ext cx="2290772" cy="23247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 pitchFamily="34" charset="0"/>
                </a:rPr>
                <a:t>INSURANCE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76C5817-484E-16C2-B70C-D5F965446900}"/>
                </a:ext>
              </a:extLst>
            </p:cNvPr>
            <p:cNvSpPr/>
            <p:nvPr/>
          </p:nvSpPr>
          <p:spPr>
            <a:xfrm>
              <a:off x="424467" y="5300277"/>
              <a:ext cx="3329711" cy="1340746"/>
            </a:xfrm>
            <a:prstGeom prst="rect">
              <a:avLst/>
            </a:prstGeom>
            <a:noFill/>
            <a:ln w="25400" cap="flat" cmpd="sng" algn="ctr">
              <a:solidFill>
                <a:schemeClr val="bg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B2495B6-F4DE-CA94-5E33-540D7258B10B}"/>
                </a:ext>
              </a:extLst>
            </p:cNvPr>
            <p:cNvSpPr txBox="1"/>
            <p:nvPr/>
          </p:nvSpPr>
          <p:spPr>
            <a:xfrm>
              <a:off x="436368" y="5380376"/>
              <a:ext cx="3305908" cy="23247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  <a:sym typeface="Arial" panose="020B0604020202020204" pitchFamily="34" charset="0"/>
                </a:rPr>
                <a:t>CONSUMER PACKAGED GOODS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  <a:sym typeface="Arial" panose="020B0604020202020204" pitchFamily="34" charset="0"/>
              </a:endParaRPr>
            </a:p>
          </p:txBody>
        </p: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108944A2-E41A-62E0-381C-AC83CBC54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4094510" y="4292223"/>
              <a:ext cx="1028314" cy="537951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2541EF1C-DF61-F1D0-565F-81491103A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5094753" y="4788334"/>
              <a:ext cx="952963" cy="266468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FE25F44E-092E-E401-C79A-F54A0343A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5042824" y="4108909"/>
              <a:ext cx="1117529" cy="585224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467B0885-E5CC-BD5B-DAA5-5711D4E82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5003106" y="5696719"/>
              <a:ext cx="928550" cy="289802"/>
            </a:xfrm>
            <a:prstGeom prst="rect">
              <a:avLst/>
            </a:prstGeom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AB60DD9B-F071-142D-0177-44B476DBE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534704" y="3983107"/>
              <a:ext cx="999964" cy="726224"/>
            </a:xfrm>
            <a:prstGeom prst="rect">
              <a:avLst/>
            </a:prstGeom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ECED26E2-4603-0319-308F-374032281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2976721" y="4266517"/>
              <a:ext cx="662285" cy="247253"/>
            </a:xfrm>
            <a:prstGeom prst="rect">
              <a:avLst/>
            </a:prstGeom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8DB53CE1-7F47-449B-E2F8-0FEA4A056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6708908" y="4816225"/>
              <a:ext cx="678101" cy="678101"/>
            </a:xfrm>
            <a:prstGeom prst="rect">
              <a:avLst/>
            </a:prstGeom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B2F4EED0-5449-BC32-802D-AF350011A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rcRect l="3200" t="22555" r="553" b="25173"/>
            <a:stretch/>
          </p:blipFill>
          <p:spPr>
            <a:xfrm>
              <a:off x="2360175" y="4558045"/>
              <a:ext cx="1257489" cy="381654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0F5DEBC4-BDDC-9AA4-EA3A-549FF58AE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1664439" y="4287760"/>
              <a:ext cx="972888" cy="318449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F1E90AFE-B0DE-12D7-AF2A-2B060EBFD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550878" y="4590663"/>
              <a:ext cx="521168" cy="521168"/>
            </a:xfrm>
            <a:prstGeom prst="rect">
              <a:avLst/>
            </a:prstGeom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D1A8FAC5-0F44-B849-678F-25BE015CC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532900" y="5692948"/>
              <a:ext cx="814129" cy="137384"/>
            </a:xfrm>
            <a:prstGeom prst="rect">
              <a:avLst/>
            </a:prstGeom>
          </p:spPr>
        </p:pic>
        <p:pic>
          <p:nvPicPr>
            <p:cNvPr id="98" name="Picture 97">
              <a:extLst>
                <a:ext uri="{FF2B5EF4-FFF2-40B4-BE49-F238E27FC236}">
                  <a16:creationId xmlns:a16="http://schemas.microsoft.com/office/drawing/2014/main" id="{E602CDB0-73A3-DDA6-13A5-2AA0B4FE5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>
              <a:off x="1509607" y="5782101"/>
              <a:ext cx="815873" cy="256235"/>
            </a:xfrm>
            <a:prstGeom prst="rect">
              <a:avLst/>
            </a:prstGeom>
          </p:spPr>
        </p:pic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B1998273-D5A1-0F64-5CD5-37C230F0A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555956" y="5910218"/>
              <a:ext cx="728438" cy="447469"/>
            </a:xfrm>
            <a:prstGeom prst="rect">
              <a:avLst/>
            </a:prstGeom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7E166562-379C-705F-5EC3-E9D014885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1348540" y="6168721"/>
              <a:ext cx="1613991" cy="310768"/>
            </a:xfrm>
            <a:prstGeom prst="rect">
              <a:avLst/>
            </a:prstGeom>
          </p:spPr>
        </p:pic>
        <p:pic>
          <p:nvPicPr>
            <p:cNvPr id="101" name="Graphic 100">
              <a:extLst>
                <a:ext uri="{FF2B5EF4-FFF2-40B4-BE49-F238E27FC236}">
                  <a16:creationId xmlns:a16="http://schemas.microsoft.com/office/drawing/2014/main" id="{8F336C5C-557A-7D57-4D5A-F1383572EB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2489423" y="5573533"/>
              <a:ext cx="839203" cy="433655"/>
            </a:xfrm>
            <a:prstGeom prst="rect">
              <a:avLst/>
            </a:prstGeom>
          </p:spPr>
        </p:pic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DE6554D0-171F-6460-A9A3-88B3F37F2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4348171" y="5713243"/>
              <a:ext cx="462490" cy="227391"/>
            </a:xfrm>
            <a:prstGeom prst="rect">
              <a:avLst/>
            </a:prstGeom>
          </p:spPr>
        </p:pic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9CAC1301-CFD7-1827-20B7-D9325601B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4178494" y="6131718"/>
              <a:ext cx="570922" cy="298782"/>
            </a:xfrm>
            <a:prstGeom prst="rect">
              <a:avLst/>
            </a:prstGeom>
          </p:spPr>
        </p:pic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C8DF4CB9-9D41-8FFF-3735-611689255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5686290" y="6090422"/>
              <a:ext cx="441573" cy="342955"/>
            </a:xfrm>
            <a:prstGeom prst="rect">
              <a:avLst/>
            </a:prstGeom>
          </p:spPr>
        </p:pic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7C2CB094-BE6C-85B1-3784-EBE5E3FCC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/>
            <a:stretch>
              <a:fillRect/>
            </a:stretch>
          </p:blipFill>
          <p:spPr>
            <a:xfrm>
              <a:off x="8125045" y="4711498"/>
              <a:ext cx="538642" cy="210070"/>
            </a:xfrm>
            <a:prstGeom prst="rect">
              <a:avLst/>
            </a:prstGeom>
          </p:spPr>
        </p:pic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6932351C-2D49-A56A-227F-83A2BFA4E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3"/>
            <a:stretch>
              <a:fillRect/>
            </a:stretch>
          </p:blipFill>
          <p:spPr>
            <a:xfrm>
              <a:off x="2893863" y="6123593"/>
              <a:ext cx="784209" cy="434809"/>
            </a:xfrm>
            <a:prstGeom prst="rect">
              <a:avLst/>
            </a:prstGeom>
          </p:spPr>
        </p:pic>
        <p:pic>
          <p:nvPicPr>
            <p:cNvPr id="107" name="Graphic 106">
              <a:extLst>
                <a:ext uri="{FF2B5EF4-FFF2-40B4-BE49-F238E27FC236}">
                  <a16:creationId xmlns:a16="http://schemas.microsoft.com/office/drawing/2014/main" id="{80DF98DA-B705-3ECA-3DD6-C17DE94B72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/>
            </a:stretch>
          </p:blipFill>
          <p:spPr>
            <a:xfrm>
              <a:off x="9163572" y="4401521"/>
              <a:ext cx="1432426" cy="231314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D228AD3F-8A60-AF74-4A34-246B7FA19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5"/>
            <a:stretch>
              <a:fillRect/>
            </a:stretch>
          </p:blipFill>
          <p:spPr>
            <a:xfrm>
              <a:off x="7883639" y="5608174"/>
              <a:ext cx="1006541" cy="239054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F75C73A3-919B-F44D-26D5-079CA0C16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1192282" y="5594719"/>
              <a:ext cx="658150" cy="306015"/>
            </a:xfrm>
            <a:prstGeom prst="rect">
              <a:avLst/>
            </a:prstGeom>
          </p:spPr>
        </p:pic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99A8406B-367B-80F3-BC00-99744050B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7"/>
            <a:stretch>
              <a:fillRect/>
            </a:stretch>
          </p:blipFill>
          <p:spPr>
            <a:xfrm>
              <a:off x="1222581" y="4673195"/>
              <a:ext cx="1079292" cy="369541"/>
            </a:xfrm>
            <a:prstGeom prst="rect">
              <a:avLst/>
            </a:prstGeom>
          </p:spPr>
        </p:pic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A19A5DD1-E83C-C3B5-1B34-0E1BA1F13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/>
            <a:stretch>
              <a:fillRect/>
            </a:stretch>
          </p:blipFill>
          <p:spPr>
            <a:xfrm>
              <a:off x="8115329" y="5030378"/>
              <a:ext cx="581369" cy="276330"/>
            </a:xfrm>
            <a:prstGeom prst="rect">
              <a:avLst/>
            </a:prstGeom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9104C04B-521C-0854-A5DC-259DE587E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9"/>
            <a:stretch>
              <a:fillRect/>
            </a:stretch>
          </p:blipFill>
          <p:spPr>
            <a:xfrm>
              <a:off x="9068448" y="5332737"/>
              <a:ext cx="1107573" cy="127576"/>
            </a:xfrm>
            <a:prstGeom prst="rect">
              <a:avLst/>
            </a:prstGeom>
          </p:spPr>
        </p:pic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6A7BEAA9-D52E-BA1C-948E-5496883E2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0"/>
            <a:stretch>
              <a:fillRect/>
            </a:stretch>
          </p:blipFill>
          <p:spPr>
            <a:xfrm>
              <a:off x="9149526" y="5654778"/>
              <a:ext cx="993725" cy="149937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D104AA21-2271-B8B1-A1B1-61C756EA2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81"/>
            <a:stretch>
              <a:fillRect/>
            </a:stretch>
          </p:blipFill>
          <p:spPr>
            <a:xfrm>
              <a:off x="10890585" y="4121455"/>
              <a:ext cx="753309" cy="753309"/>
            </a:xfrm>
            <a:prstGeom prst="rect">
              <a:avLst/>
            </a:prstGeom>
          </p:spPr>
        </p:pic>
        <p:pic>
          <p:nvPicPr>
            <p:cNvPr id="115" name="Graphic 114">
              <a:extLst>
                <a:ext uri="{FF2B5EF4-FFF2-40B4-BE49-F238E27FC236}">
                  <a16:creationId xmlns:a16="http://schemas.microsoft.com/office/drawing/2014/main" id="{B7FC51EF-0D11-F889-2168-1F70AF6E61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/>
            </a:stretch>
          </p:blipFill>
          <p:spPr>
            <a:xfrm>
              <a:off x="6609946" y="4647546"/>
              <a:ext cx="1139942" cy="309051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1C439D18-891D-5A12-1054-7D6684E14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3"/>
            <a:stretch>
              <a:fillRect/>
            </a:stretch>
          </p:blipFill>
          <p:spPr>
            <a:xfrm>
              <a:off x="6795510" y="6168721"/>
              <a:ext cx="711929" cy="305549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B9B6361C-5A1C-75BC-796F-E3A07C1BEE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/>
            <a:stretch>
              <a:fillRect/>
            </a:stretch>
          </p:blipFill>
          <p:spPr>
            <a:xfrm>
              <a:off x="11115093" y="4935179"/>
              <a:ext cx="626497" cy="393858"/>
            </a:xfrm>
            <a:prstGeom prst="rect">
              <a:avLst/>
            </a:prstGeom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853718DF-23A7-68B3-A68F-E0E31E9C0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10442414" y="5519517"/>
              <a:ext cx="526827" cy="395120"/>
            </a:xfrm>
            <a:prstGeom prst="rect">
              <a:avLst/>
            </a:prstGeom>
          </p:spPr>
        </p:pic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E0252BE7-1C99-D4DA-CF28-4BD6C68C8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/>
            <a:stretch>
              <a:fillRect/>
            </a:stretch>
          </p:blipFill>
          <p:spPr>
            <a:xfrm>
              <a:off x="8133446" y="6247328"/>
              <a:ext cx="571852" cy="153553"/>
            </a:xfrm>
            <a:prstGeom prst="rect">
              <a:avLst/>
            </a:prstGeom>
          </p:spPr>
        </p:pic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52048171-E3EC-57AA-891A-FC8BF21DA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7"/>
            <a:stretch>
              <a:fillRect/>
            </a:stretch>
          </p:blipFill>
          <p:spPr>
            <a:xfrm>
              <a:off x="9068448" y="4791917"/>
              <a:ext cx="922435" cy="259302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F4DF5B09-02E6-D82A-0EAE-9A69FE0E2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8"/>
            <a:stretch>
              <a:fillRect/>
            </a:stretch>
          </p:blipFill>
          <p:spPr>
            <a:xfrm>
              <a:off x="9441974" y="6131718"/>
              <a:ext cx="437811" cy="243228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6569F697-260E-89EA-B843-95D26EFEA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9"/>
            <a:stretch>
              <a:fillRect/>
            </a:stretch>
          </p:blipFill>
          <p:spPr>
            <a:xfrm>
              <a:off x="10444737" y="4858939"/>
              <a:ext cx="440160" cy="517673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740FBE12-A759-1EA9-D08F-BA08E4D25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0209164" y="6090422"/>
              <a:ext cx="807572" cy="330473"/>
            </a:xfrm>
            <a:prstGeom prst="rect">
              <a:avLst/>
            </a:prstGeom>
          </p:spPr>
        </p:pic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7021A474-D13F-696B-A459-98FCF74A6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91"/>
            <a:stretch>
              <a:fillRect/>
            </a:stretch>
          </p:blipFill>
          <p:spPr>
            <a:xfrm>
              <a:off x="10973078" y="6104938"/>
              <a:ext cx="1130737" cy="355691"/>
            </a:xfrm>
            <a:prstGeom prst="rect">
              <a:avLst/>
            </a:prstGeom>
          </p:spPr>
        </p:pic>
        <p:pic>
          <p:nvPicPr>
            <p:cNvPr id="125" name="Picture 2" descr="GreenCell Mobility gets Rs 3,000 cr debt funding for sustainable projects -  The Sunday Guardian Live">
              <a:extLst>
                <a:ext uri="{FF2B5EF4-FFF2-40B4-BE49-F238E27FC236}">
                  <a16:creationId xmlns:a16="http://schemas.microsoft.com/office/drawing/2014/main" id="{03B74618-4225-1495-6FB9-5A648F2AD7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99" t="32621" b="10283"/>
            <a:stretch/>
          </p:blipFill>
          <p:spPr bwMode="auto">
            <a:xfrm>
              <a:off x="6708908" y="5553087"/>
              <a:ext cx="1026680" cy="3313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6" name="Picture 4" descr="Sandoz">
              <a:extLst>
                <a:ext uri="{FF2B5EF4-FFF2-40B4-BE49-F238E27FC236}">
                  <a16:creationId xmlns:a16="http://schemas.microsoft.com/office/drawing/2014/main" id="{5A2CA3A0-D471-95D7-A80C-2F9CE3D674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6703" y="4889086"/>
              <a:ext cx="927793" cy="284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7" name="Picture 4" descr="GKN Aerospace - Third Wave Systems">
              <a:extLst>
                <a:ext uri="{FF2B5EF4-FFF2-40B4-BE49-F238E27FC236}">
                  <a16:creationId xmlns:a16="http://schemas.microsoft.com/office/drawing/2014/main" id="{F2FB65ED-8794-1B4A-8EEB-F9F59DCF8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9644" y="4230682"/>
              <a:ext cx="1545548" cy="530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8" name="Picture 4" descr="Cencora">
            <a:extLst>
              <a:ext uri="{FF2B5EF4-FFF2-40B4-BE49-F238E27FC236}">
                <a16:creationId xmlns:a16="http://schemas.microsoft.com/office/drawing/2014/main" id="{B7142339-A073-CAC5-EB94-732EEA704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1909" y="1768980"/>
            <a:ext cx="1106008" cy="36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59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6E6802-2ED3-06D7-7EDD-A57F69D68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1875A764-3B06-454E-8ABA-2F6ED0EB58E9}" type="slidenum">
              <a:rPr lang="en-US" smtClean="0"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65AA66-D4AF-2B80-1A83-BDEFEB6D7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25" dirty="0"/>
              <a:t>Our Practitioner-led Global Team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B74BEA-EDD2-080D-76CA-2FF2D07CA979}"/>
              </a:ext>
            </a:extLst>
          </p:cNvPr>
          <p:cNvSpPr txBox="1"/>
          <p:nvPr/>
        </p:nvSpPr>
        <p:spPr>
          <a:xfrm>
            <a:off x="1119540" y="6170353"/>
            <a:ext cx="88068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NEW YORK      |       AMSTERDAM      |        DUBAI       |        SINGAPORE </a:t>
            </a:r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|        MUMBAI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Lato" panose="020F050202020403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61897FB-7BAE-0EC6-0783-5BC67FB872B3}"/>
              </a:ext>
            </a:extLst>
          </p:cNvPr>
          <p:cNvGrpSpPr/>
          <p:nvPr/>
        </p:nvGrpSpPr>
        <p:grpSpPr>
          <a:xfrm>
            <a:off x="1143613" y="6145168"/>
            <a:ext cx="242343" cy="336504"/>
            <a:chOff x="1845463" y="881791"/>
            <a:chExt cx="296249" cy="40952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E50E056-2BC3-69F1-6C47-70D5AC7AC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463" y="881791"/>
              <a:ext cx="296249" cy="409522"/>
            </a:xfrm>
            <a:custGeom>
              <a:avLst/>
              <a:gdLst>
                <a:gd name="T0" fmla="*/ 56 w 112"/>
                <a:gd name="T1" fmla="*/ 156 h 156"/>
                <a:gd name="T2" fmla="*/ 0 w 112"/>
                <a:gd name="T3" fmla="*/ 56 h 156"/>
                <a:gd name="T4" fmla="*/ 56 w 112"/>
                <a:gd name="T5" fmla="*/ 0 h 156"/>
                <a:gd name="T6" fmla="*/ 112 w 112"/>
                <a:gd name="T7" fmla="*/ 56 h 156"/>
                <a:gd name="T8" fmla="*/ 56 w 112"/>
                <a:gd name="T9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156">
                  <a:moveTo>
                    <a:pt x="56" y="156"/>
                  </a:moveTo>
                  <a:cubicBezTo>
                    <a:pt x="56" y="156"/>
                    <a:pt x="0" y="104"/>
                    <a:pt x="0" y="56"/>
                  </a:cubicBezTo>
                  <a:cubicBezTo>
                    <a:pt x="0" y="25"/>
                    <a:pt x="25" y="0"/>
                    <a:pt x="56" y="0"/>
                  </a:cubicBezTo>
                  <a:cubicBezTo>
                    <a:pt x="87" y="0"/>
                    <a:pt x="112" y="25"/>
                    <a:pt x="112" y="56"/>
                  </a:cubicBezTo>
                  <a:cubicBezTo>
                    <a:pt x="112" y="104"/>
                    <a:pt x="56" y="156"/>
                    <a:pt x="56" y="156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28" tIns="45715" rIns="91428" bIns="4571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77133FD-0FE7-9F74-582A-81DA3D075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0417" y="965656"/>
              <a:ext cx="126341" cy="12525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8" tIns="45715" rIns="91428" bIns="45715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D422766B-87D6-4D70-D78C-6DA0B0018B70}"/>
              </a:ext>
            </a:extLst>
          </p:cNvPr>
          <p:cNvSpPr/>
          <p:nvPr/>
        </p:nvSpPr>
        <p:spPr>
          <a:xfrm>
            <a:off x="699155" y="950695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9FEAEB-15FC-18C7-CD3E-0D0EC68A8C31}"/>
              </a:ext>
            </a:extLst>
          </p:cNvPr>
          <p:cNvSpPr/>
          <p:nvPr/>
        </p:nvSpPr>
        <p:spPr>
          <a:xfrm>
            <a:off x="699155" y="4786979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199ABF-4C4D-2411-A7B2-1319C7DE854A}"/>
              </a:ext>
            </a:extLst>
          </p:cNvPr>
          <p:cNvSpPr/>
          <p:nvPr/>
        </p:nvSpPr>
        <p:spPr>
          <a:xfrm>
            <a:off x="699155" y="3508217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666C25-F0AB-3E8D-793E-DD78FD1CE7BD}"/>
              </a:ext>
            </a:extLst>
          </p:cNvPr>
          <p:cNvSpPr/>
          <p:nvPr/>
        </p:nvSpPr>
        <p:spPr>
          <a:xfrm>
            <a:off x="699155" y="2229456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293B7C-F4D7-7A16-2EC6-E82DD00B8739}"/>
              </a:ext>
            </a:extLst>
          </p:cNvPr>
          <p:cNvSpPr/>
          <p:nvPr/>
        </p:nvSpPr>
        <p:spPr>
          <a:xfrm>
            <a:off x="2070755" y="950695"/>
            <a:ext cx="1371600" cy="1280160"/>
          </a:xfrm>
          <a:prstGeom prst="rect">
            <a:avLst/>
          </a:prstGeom>
          <a:solidFill>
            <a:srgbClr val="D0D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C1D63B-8239-CD78-7C8E-CAA8F3B460E0}"/>
              </a:ext>
            </a:extLst>
          </p:cNvPr>
          <p:cNvSpPr/>
          <p:nvPr/>
        </p:nvSpPr>
        <p:spPr>
          <a:xfrm>
            <a:off x="2070755" y="4786979"/>
            <a:ext cx="1371600" cy="12801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9C0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2C5A02-233D-81E6-5D3B-A5E164CF571D}"/>
              </a:ext>
            </a:extLst>
          </p:cNvPr>
          <p:cNvSpPr/>
          <p:nvPr/>
        </p:nvSpPr>
        <p:spPr>
          <a:xfrm>
            <a:off x="2070755" y="3508217"/>
            <a:ext cx="1371600" cy="1280160"/>
          </a:xfrm>
          <a:prstGeom prst="rect">
            <a:avLst/>
          </a:prstGeom>
          <a:solidFill>
            <a:srgbClr val="D0D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51827D-5D3E-A3D6-23AE-620D5FC23111}"/>
              </a:ext>
            </a:extLst>
          </p:cNvPr>
          <p:cNvSpPr/>
          <p:nvPr/>
        </p:nvSpPr>
        <p:spPr>
          <a:xfrm>
            <a:off x="2070755" y="2229456"/>
            <a:ext cx="1371600" cy="12801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9C0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DDDA0B-431C-BF90-012D-B711888554DC}"/>
              </a:ext>
            </a:extLst>
          </p:cNvPr>
          <p:cNvSpPr/>
          <p:nvPr/>
        </p:nvSpPr>
        <p:spPr>
          <a:xfrm>
            <a:off x="3442355" y="950695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AF55FA-F22C-EF15-F381-965F644C163B}"/>
              </a:ext>
            </a:extLst>
          </p:cNvPr>
          <p:cNvSpPr/>
          <p:nvPr/>
        </p:nvSpPr>
        <p:spPr>
          <a:xfrm>
            <a:off x="3442355" y="4786979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E977D9-D438-1F32-543F-6A6858523BAC}"/>
              </a:ext>
            </a:extLst>
          </p:cNvPr>
          <p:cNvSpPr/>
          <p:nvPr/>
        </p:nvSpPr>
        <p:spPr>
          <a:xfrm>
            <a:off x="3442355" y="3508217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3427CB-21A5-0AF7-EDCB-1150E507C6BA}"/>
              </a:ext>
            </a:extLst>
          </p:cNvPr>
          <p:cNvSpPr/>
          <p:nvPr/>
        </p:nvSpPr>
        <p:spPr>
          <a:xfrm>
            <a:off x="3442355" y="2229456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D61AE3-3E9D-9773-4FC3-AB51D5D23227}"/>
              </a:ext>
            </a:extLst>
          </p:cNvPr>
          <p:cNvSpPr/>
          <p:nvPr/>
        </p:nvSpPr>
        <p:spPr>
          <a:xfrm>
            <a:off x="4813955" y="950695"/>
            <a:ext cx="1371600" cy="12801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9C0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A0609F-D3EC-3E47-FFD6-94F1AA3A184C}"/>
              </a:ext>
            </a:extLst>
          </p:cNvPr>
          <p:cNvSpPr/>
          <p:nvPr/>
        </p:nvSpPr>
        <p:spPr>
          <a:xfrm>
            <a:off x="4813955" y="4786979"/>
            <a:ext cx="1371600" cy="1280160"/>
          </a:xfrm>
          <a:prstGeom prst="rect">
            <a:avLst/>
          </a:prstGeom>
          <a:solidFill>
            <a:srgbClr val="D0D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018589-5B0E-CAF9-9B7C-538AEB1B8348}"/>
              </a:ext>
            </a:extLst>
          </p:cNvPr>
          <p:cNvSpPr/>
          <p:nvPr/>
        </p:nvSpPr>
        <p:spPr>
          <a:xfrm>
            <a:off x="4813955" y="3508217"/>
            <a:ext cx="1371600" cy="12801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9C0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DE5656-3AEA-E39E-1B7F-A9706EBFF632}"/>
              </a:ext>
            </a:extLst>
          </p:cNvPr>
          <p:cNvSpPr/>
          <p:nvPr/>
        </p:nvSpPr>
        <p:spPr>
          <a:xfrm>
            <a:off x="4813955" y="2229456"/>
            <a:ext cx="1371600" cy="1280160"/>
          </a:xfrm>
          <a:prstGeom prst="rect">
            <a:avLst/>
          </a:prstGeom>
          <a:solidFill>
            <a:srgbClr val="D0D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32E5B8-D607-E633-B97C-BDA6CC0D17FA}"/>
              </a:ext>
            </a:extLst>
          </p:cNvPr>
          <p:cNvSpPr/>
          <p:nvPr/>
        </p:nvSpPr>
        <p:spPr>
          <a:xfrm>
            <a:off x="6185555" y="950695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E843DF-2B42-F86A-528C-524CBB9371A8}"/>
              </a:ext>
            </a:extLst>
          </p:cNvPr>
          <p:cNvSpPr/>
          <p:nvPr/>
        </p:nvSpPr>
        <p:spPr>
          <a:xfrm>
            <a:off x="6185555" y="4786979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7430AAE-BA07-8127-8273-650DFE9F117C}"/>
              </a:ext>
            </a:extLst>
          </p:cNvPr>
          <p:cNvSpPr/>
          <p:nvPr/>
        </p:nvSpPr>
        <p:spPr>
          <a:xfrm>
            <a:off x="6185555" y="2229456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51E84A-0DEA-AC1B-03BB-9103DA32AB36}"/>
              </a:ext>
            </a:extLst>
          </p:cNvPr>
          <p:cNvSpPr/>
          <p:nvPr/>
        </p:nvSpPr>
        <p:spPr>
          <a:xfrm>
            <a:off x="7557155" y="950695"/>
            <a:ext cx="1371600" cy="1280160"/>
          </a:xfrm>
          <a:prstGeom prst="rect">
            <a:avLst/>
          </a:prstGeom>
          <a:solidFill>
            <a:srgbClr val="D0D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B9CE54-A34E-6C8C-22E5-7518618F3D36}"/>
              </a:ext>
            </a:extLst>
          </p:cNvPr>
          <p:cNvSpPr/>
          <p:nvPr/>
        </p:nvSpPr>
        <p:spPr>
          <a:xfrm>
            <a:off x="7557155" y="2229456"/>
            <a:ext cx="1371600" cy="12801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9C0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FB221B6-4CA1-8EEA-0C52-5D724D16888F}"/>
              </a:ext>
            </a:extLst>
          </p:cNvPr>
          <p:cNvSpPr/>
          <p:nvPr/>
        </p:nvSpPr>
        <p:spPr>
          <a:xfrm>
            <a:off x="6185555" y="3516942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CCBE05-D077-0392-84F9-2150E205F4E8}"/>
              </a:ext>
            </a:extLst>
          </p:cNvPr>
          <p:cNvSpPr/>
          <p:nvPr/>
        </p:nvSpPr>
        <p:spPr>
          <a:xfrm>
            <a:off x="6185555" y="4795703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B20C4A-F9A6-02D1-EB86-39DE42F5E7C7}"/>
              </a:ext>
            </a:extLst>
          </p:cNvPr>
          <p:cNvSpPr/>
          <p:nvPr/>
        </p:nvSpPr>
        <p:spPr>
          <a:xfrm>
            <a:off x="7566582" y="4786331"/>
            <a:ext cx="1371600" cy="12801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9C0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C71FB0-C811-9A8B-1EA8-CE82022B4D3B}"/>
              </a:ext>
            </a:extLst>
          </p:cNvPr>
          <p:cNvSpPr/>
          <p:nvPr/>
        </p:nvSpPr>
        <p:spPr>
          <a:xfrm>
            <a:off x="7565314" y="3494713"/>
            <a:ext cx="1371600" cy="1280160"/>
          </a:xfrm>
          <a:prstGeom prst="rect">
            <a:avLst/>
          </a:prstGeom>
          <a:solidFill>
            <a:srgbClr val="D0D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00B9F01-6C3A-A7C1-4D35-FBA29EF2022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35705" y="939237"/>
            <a:ext cx="1239448" cy="128016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3FEDE1D-6B49-1C05-6C18-FE1AE6293CD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24178" y="4809836"/>
            <a:ext cx="1262502" cy="123444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F95468F-FD22-3A8F-A9C8-A4D23482C3F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6292" y="963255"/>
            <a:ext cx="1262502" cy="126250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828CB96-BE97-82BE-E63F-7012850C6CB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42095" y="2305995"/>
            <a:ext cx="1262502" cy="120134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9D0ED3A-4EC3-D670-5AB8-BA939ED90ED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1192" y="2247215"/>
            <a:ext cx="1262502" cy="127565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1CF3BE9-0D8A-2987-DBF3-09B282F0239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10073" y="2240914"/>
            <a:ext cx="1262502" cy="127602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0A34BE1-1E75-7F3F-E162-A23EAE74B87E}"/>
              </a:ext>
            </a:extLst>
          </p:cNvPr>
          <p:cNvSpPr txBox="1"/>
          <p:nvPr/>
        </p:nvSpPr>
        <p:spPr>
          <a:xfrm>
            <a:off x="2106865" y="1348484"/>
            <a:ext cx="117051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Shefali Salwan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Co-Founder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19005D-DFC8-EF12-9E7D-202D20BD934D}"/>
              </a:ext>
            </a:extLst>
          </p:cNvPr>
          <p:cNvSpPr txBox="1"/>
          <p:nvPr/>
        </p:nvSpPr>
        <p:spPr>
          <a:xfrm>
            <a:off x="7508341" y="1347797"/>
            <a:ext cx="1462469" cy="4154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Joydeep Mutsuddi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Senior Partner, US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001D38-D69D-959B-0D78-145D12DD15AD}"/>
              </a:ext>
            </a:extLst>
          </p:cNvPr>
          <p:cNvSpPr txBox="1"/>
          <p:nvPr/>
        </p:nvSpPr>
        <p:spPr>
          <a:xfrm>
            <a:off x="2106865" y="5070647"/>
            <a:ext cx="13716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Vikram 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Ekambaram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Head of Digital </a:t>
            </a:r>
            <a:b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</a:b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Products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895E87-7AD4-F598-2C90-17334C6D8FDE}"/>
              </a:ext>
            </a:extLst>
          </p:cNvPr>
          <p:cNvSpPr txBox="1"/>
          <p:nvPr/>
        </p:nvSpPr>
        <p:spPr>
          <a:xfrm>
            <a:off x="4880030" y="1348484"/>
            <a:ext cx="121860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Sumeet Salwan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Co-Founder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32770F-3B3C-6D10-FA1D-532F5687E360}"/>
              </a:ext>
            </a:extLst>
          </p:cNvPr>
          <p:cNvSpPr txBox="1"/>
          <p:nvPr/>
        </p:nvSpPr>
        <p:spPr>
          <a:xfrm>
            <a:off x="7591477" y="5139897"/>
            <a:ext cx="1319592" cy="56938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Vandana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Vaidyanathan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Associate Partner, US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415298-531B-9D57-1DB0-6475FF9091F2}"/>
              </a:ext>
            </a:extLst>
          </p:cNvPr>
          <p:cNvSpPr txBox="1"/>
          <p:nvPr/>
        </p:nvSpPr>
        <p:spPr>
          <a:xfrm>
            <a:off x="4834910" y="5216841"/>
            <a:ext cx="1361270" cy="4154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Steve Courington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GM of Capability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CFF5AF-C3BC-8062-193C-9ADF9BE9A172}"/>
              </a:ext>
            </a:extLst>
          </p:cNvPr>
          <p:cNvSpPr txBox="1"/>
          <p:nvPr/>
        </p:nvSpPr>
        <p:spPr>
          <a:xfrm>
            <a:off x="7639654" y="2664743"/>
            <a:ext cx="1184940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Bill Allen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Senior Partner, US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B07D7D-0F6A-2C2D-5AE5-35E37909562F}"/>
              </a:ext>
            </a:extLst>
          </p:cNvPr>
          <p:cNvSpPr txBox="1"/>
          <p:nvPr/>
        </p:nvSpPr>
        <p:spPr>
          <a:xfrm>
            <a:off x="2168313" y="2693598"/>
            <a:ext cx="881973" cy="4154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Tim Burns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Partner, US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97A5F6-75B3-467D-F06B-33CCE99691D1}"/>
              </a:ext>
            </a:extLst>
          </p:cNvPr>
          <p:cNvSpPr txBox="1"/>
          <p:nvPr/>
        </p:nvSpPr>
        <p:spPr>
          <a:xfrm>
            <a:off x="4892772" y="2623024"/>
            <a:ext cx="1223412" cy="53860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Alex Kopitsas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Senior Partner,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Middle East &amp; Africa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7F6E2E0-3260-9618-E1F2-EDBE8AD4D8BC}"/>
              </a:ext>
            </a:extLst>
          </p:cNvPr>
          <p:cNvSpPr txBox="1"/>
          <p:nvPr/>
        </p:nvSpPr>
        <p:spPr>
          <a:xfrm>
            <a:off x="7632953" y="3912733"/>
            <a:ext cx="1165704" cy="4154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Dhaval Bhagat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Partner, US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8C55CEF-FBF8-2BAE-55AB-F72B494B78EC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644" y="3503572"/>
            <a:ext cx="1122947" cy="128016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4BE3378-BBD9-01BC-E2C2-2B204DA24280}"/>
              </a:ext>
            </a:extLst>
          </p:cNvPr>
          <p:cNvSpPr txBox="1"/>
          <p:nvPr/>
        </p:nvSpPr>
        <p:spPr>
          <a:xfrm>
            <a:off x="2143338" y="3842406"/>
            <a:ext cx="1152880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Rajev Shukla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Senior Partner,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Asia &amp; Middle East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21A3984-6F4E-EBEA-2B74-FD10D9AEB92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52599" y="948342"/>
            <a:ext cx="1262502" cy="125810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5C2501E-D9C9-80F0-2D4D-D7364622AA30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622"/>
          <a:stretch>
            <a:fillRect/>
          </a:stretch>
        </p:blipFill>
        <p:spPr>
          <a:xfrm>
            <a:off x="6249347" y="3522485"/>
            <a:ext cx="1263409" cy="123889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16795FF-5E32-2C83-0625-223CCC066DD4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07054" y="3534220"/>
            <a:ext cx="1262502" cy="1244205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94FAFE80-5490-97EC-33F2-5394B9BA9B49}"/>
              </a:ext>
            </a:extLst>
          </p:cNvPr>
          <p:cNvSpPr txBox="1"/>
          <p:nvPr/>
        </p:nvSpPr>
        <p:spPr>
          <a:xfrm>
            <a:off x="4894175" y="3964057"/>
            <a:ext cx="1117614" cy="4154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Prateek Sinha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Partner, Europe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92693E2-0B08-DF46-ABC7-C81BD2F6D957}"/>
              </a:ext>
            </a:extLst>
          </p:cNvPr>
          <p:cNvSpPr/>
          <p:nvPr/>
        </p:nvSpPr>
        <p:spPr>
          <a:xfrm>
            <a:off x="8930587" y="950695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0A964F3-B33B-CEC4-94E1-3CADF278631F}"/>
              </a:ext>
            </a:extLst>
          </p:cNvPr>
          <p:cNvSpPr/>
          <p:nvPr/>
        </p:nvSpPr>
        <p:spPr>
          <a:xfrm>
            <a:off x="8930587" y="2229456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B462AB8-5808-99C3-2806-F028D17858C7}"/>
              </a:ext>
            </a:extLst>
          </p:cNvPr>
          <p:cNvSpPr/>
          <p:nvPr/>
        </p:nvSpPr>
        <p:spPr>
          <a:xfrm>
            <a:off x="10302187" y="950695"/>
            <a:ext cx="1371600" cy="1280160"/>
          </a:xfrm>
          <a:prstGeom prst="rect">
            <a:avLst/>
          </a:prstGeom>
          <a:solidFill>
            <a:srgbClr val="D0D2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20607CC-A81E-CDA2-791A-9CB5B21E81BB}"/>
              </a:ext>
            </a:extLst>
          </p:cNvPr>
          <p:cNvSpPr/>
          <p:nvPr/>
        </p:nvSpPr>
        <p:spPr>
          <a:xfrm>
            <a:off x="10302187" y="2229456"/>
            <a:ext cx="1371600" cy="12801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9C0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4FEBEA-0494-A2F9-F27D-31635CB818EB}"/>
              </a:ext>
            </a:extLst>
          </p:cNvPr>
          <p:cNvSpPr txBox="1"/>
          <p:nvPr/>
        </p:nvSpPr>
        <p:spPr>
          <a:xfrm>
            <a:off x="10253373" y="1355491"/>
            <a:ext cx="146246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Jeroo Dalal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Partner, India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B6EBB8-3B7F-7192-2BE0-8BFF6F3B447B}"/>
              </a:ext>
            </a:extLst>
          </p:cNvPr>
          <p:cNvSpPr txBox="1"/>
          <p:nvPr/>
        </p:nvSpPr>
        <p:spPr>
          <a:xfrm>
            <a:off x="10384686" y="2664743"/>
            <a:ext cx="1261884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Jim Nolten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ato" panose="020F050202020403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Partner, Middle East 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E2CA9143-9940-A792-80D5-99A1F6E4F845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97631" y="949429"/>
            <a:ext cx="1262502" cy="1255927"/>
          </a:xfrm>
          <a:prstGeom prst="rect">
            <a:avLst/>
          </a:prstGeom>
        </p:spPr>
      </p:pic>
      <p:pic>
        <p:nvPicPr>
          <p:cNvPr id="62" name="Picture 1">
            <a:extLst>
              <a:ext uri="{FF2B5EF4-FFF2-40B4-BE49-F238E27FC236}">
                <a16:creationId xmlns:a16="http://schemas.microsoft.com/office/drawing/2014/main" id="{946667E9-4EA9-4478-372D-BD0F659E34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75421" t="50774" r="12961" b="24691"/>
          <a:stretch>
            <a:fillRect/>
          </a:stretch>
        </p:blipFill>
        <p:spPr>
          <a:xfrm>
            <a:off x="8998713" y="2225757"/>
            <a:ext cx="1285875" cy="1279979"/>
          </a:xfrm>
          <a:prstGeom prst="rect">
            <a:avLst/>
          </a:prstGeom>
        </p:spPr>
      </p:pic>
      <p:pic>
        <p:nvPicPr>
          <p:cNvPr id="63" name="Picture 4" descr="Profile photo of Vikram Ekambaram">
            <a:extLst>
              <a:ext uri="{FF2B5EF4-FFF2-40B4-BE49-F238E27FC236}">
                <a16:creationId xmlns:a16="http://schemas.microsoft.com/office/drawing/2014/main" id="{B6E2E5F1-DDFA-50EF-EAA0-B459B2C4D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7000" b="98250" l="8875" r="99875">
                        <a14:foregroundMark x1="56750" y1="10250" x2="56750" y2="10250"/>
                        <a14:foregroundMark x1="55125" y1="7250" x2="55125" y2="7250"/>
                        <a14:foregroundMark x1="35500" y1="92375" x2="35500" y2="92375"/>
                        <a14:foregroundMark x1="9000" y1="94625" x2="9000" y2="94625"/>
                        <a14:foregroundMark x1="8875" y1="95625" x2="8875" y2="95625"/>
                        <a14:foregroundMark x1="17375" y1="95250" x2="17375" y2="95250"/>
                        <a14:foregroundMark x1="125" y1="96500" x2="13375" y2="93500"/>
                        <a14:foregroundMark x1="13375" y1="93500" x2="26000" y2="86250"/>
                        <a14:foregroundMark x1="26000" y1="86250" x2="35875" y2="74500"/>
                        <a14:foregroundMark x1="35875" y1="74500" x2="49875" y2="74000"/>
                        <a14:foregroundMark x1="49875" y1="74000" x2="64375" y2="77000"/>
                        <a14:foregroundMark x1="64375" y1="77000" x2="95125" y2="96750"/>
                        <a14:foregroundMark x1="95125" y1="96750" x2="99875" y2="98250"/>
                        <a14:foregroundMark x1="68875" y1="90500" x2="68875" y2="90500"/>
                        <a14:foregroundMark x1="67500" y1="95125" x2="67500" y2="95125"/>
                        <a14:backgroundMark x1="43625" y1="7625" x2="43625" y2="7625"/>
                        <a14:backgroundMark x1="42125" y1="8750" x2="42125" y2="8750"/>
                        <a14:backgroundMark x1="32750" y1="16250" x2="32750" y2="16250"/>
                        <a14:backgroundMark x1="70500" y1="13625" x2="70500" y2="13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0756" y="4891771"/>
            <a:ext cx="1159314" cy="115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447DF4DC-6422-2E1D-4AFC-204D17AC986E}"/>
              </a:ext>
            </a:extLst>
          </p:cNvPr>
          <p:cNvSpPr/>
          <p:nvPr/>
        </p:nvSpPr>
        <p:spPr>
          <a:xfrm>
            <a:off x="8945073" y="4777809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5933241-5E22-8B0E-8162-356D7B340952}"/>
              </a:ext>
            </a:extLst>
          </p:cNvPr>
          <p:cNvSpPr/>
          <p:nvPr/>
        </p:nvSpPr>
        <p:spPr>
          <a:xfrm>
            <a:off x="8945073" y="3507772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A5C0A3F-B45F-90E4-BC39-35066D856121}"/>
              </a:ext>
            </a:extLst>
          </p:cNvPr>
          <p:cNvSpPr/>
          <p:nvPr/>
        </p:nvSpPr>
        <p:spPr>
          <a:xfrm>
            <a:off x="8945073" y="4786533"/>
            <a:ext cx="1371600" cy="1280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2C647FC-714E-2DE3-BD8B-FE13BB7398BF}"/>
              </a:ext>
            </a:extLst>
          </p:cNvPr>
          <p:cNvSpPr/>
          <p:nvPr/>
        </p:nvSpPr>
        <p:spPr>
          <a:xfrm>
            <a:off x="10326100" y="4777161"/>
            <a:ext cx="1371600" cy="12801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9C0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9E10873-FAD3-6406-00B3-9EA919C5790D}"/>
              </a:ext>
            </a:extLst>
          </p:cNvPr>
          <p:cNvSpPr txBox="1"/>
          <p:nvPr/>
        </p:nvSpPr>
        <p:spPr>
          <a:xfrm>
            <a:off x="10350995" y="5215365"/>
            <a:ext cx="131959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Austin Riggs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Associate Partner, US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0431FBD-69FA-D0C7-3E28-4F1DEF1D0692}"/>
              </a:ext>
            </a:extLst>
          </p:cNvPr>
          <p:cNvSpPr txBox="1"/>
          <p:nvPr/>
        </p:nvSpPr>
        <p:spPr>
          <a:xfrm>
            <a:off x="10392471" y="3911257"/>
            <a:ext cx="1319592" cy="4001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Daniella Patrick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ato Light" panose="020F0502020204030203" pitchFamily="34" charset="0"/>
                <a:cs typeface="Arial" panose="020B0604020202020204" pitchFamily="34" charset="0"/>
                <a:sym typeface="Arial" panose="020B0604020202020204" pitchFamily="34" charset="0"/>
              </a:rPr>
              <a:t>Associate Partner, US</a:t>
            </a:r>
            <a:endParaRPr kumimoji="0" lang="en-US" sz="14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ato Light" panose="020F0502020204030203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70" name="Picture 6" descr="Profile photo of Austin Riggs">
            <a:extLst>
              <a:ext uri="{FF2B5EF4-FFF2-40B4-BE49-F238E27FC236}">
                <a16:creationId xmlns:a16="http://schemas.microsoft.com/office/drawing/2014/main" id="{BF839935-B29C-B19F-EEFA-E7BF9C802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5250" b="99125" l="2250" r="99500">
                        <a14:foregroundMark x1="49500" y1="8375" x2="49500" y2="8375"/>
                        <a14:foregroundMark x1="44625" y1="6375" x2="44625" y2="6375"/>
                        <a14:foregroundMark x1="49000" y1="5250" x2="49000" y2="5250"/>
                        <a14:foregroundMark x1="44250" y1="8875" x2="44250" y2="8875"/>
                        <a14:foregroundMark x1="40750" y1="10250" x2="40750" y2="10250"/>
                        <a14:foregroundMark x1="0" y1="88125" x2="32875" y2="70250"/>
                        <a14:foregroundMark x1="18128" y1="76500" x2="17718" y2="76674"/>
                        <a14:foregroundMark x1="32875" y1="70250" x2="18128" y2="76500"/>
                        <a14:foregroundMark x1="12943" y1="79838" x2="11375" y2="81625"/>
                        <a14:foregroundMark x1="11375" y1="81625" x2="22000" y2="85500"/>
                        <a14:foregroundMark x1="22000" y1="85500" x2="27750" y2="91750"/>
                        <a14:foregroundMark x1="27750" y1="91750" x2="39875" y2="92875"/>
                        <a14:foregroundMark x1="39875" y1="92875" x2="55500" y2="91875"/>
                        <a14:foregroundMark x1="55500" y1="91875" x2="70000" y2="92625"/>
                        <a14:foregroundMark x1="70000" y1="92625" x2="83750" y2="86250"/>
                        <a14:foregroundMark x1="83750" y1="86250" x2="79875" y2="79500"/>
                        <a14:foregroundMark x1="79875" y1="79500" x2="72500" y2="72875"/>
                        <a14:foregroundMark x1="72500" y1="72875" x2="80875" y2="73500"/>
                        <a14:foregroundMark x1="80875" y1="73500" x2="96051" y2="81308"/>
                        <a14:foregroundMark x1="88000" y1="85750" x2="88000" y2="85750"/>
                        <a14:foregroundMark x1="88750" y1="90375" x2="88750" y2="90375"/>
                        <a14:foregroundMark x1="78875" y1="96625" x2="78875" y2="96625"/>
                        <a14:foregroundMark x1="91125" y1="94125" x2="91125" y2="94125"/>
                        <a14:foregroundMark x1="91125" y1="98000" x2="91125" y2="98000"/>
                        <a14:foregroundMark x1="57375" y1="98500" x2="57375" y2="98500"/>
                        <a14:foregroundMark x1="72250" y1="99125" x2="72250" y2="99125"/>
                        <a14:foregroundMark x1="10500" y1="98500" x2="10500" y2="98500"/>
                        <a14:foregroundMark x1="6625" y1="82250" x2="2250" y2="85500"/>
                        <a14:foregroundMark x1="34125" y1="78875" x2="34125" y2="78875"/>
                        <a14:foregroundMark x1="36500" y1="64875" x2="25000" y2="85375"/>
                        <a14:foregroundMark x1="40875" y1="82375" x2="40875" y2="82375"/>
                        <a14:backgroundMark x1="34875" y1="12625" x2="40125" y2="7375"/>
                        <a14:backgroundMark x1="40125" y1="7375" x2="43500" y2="5750"/>
                        <a14:backgroundMark x1="16625" y1="76500" x2="16625" y2="76500"/>
                        <a14:backgroundMark x1="15375" y1="76250" x2="15375" y2="76250"/>
                        <a14:backgroundMark x1="16500" y1="76125" x2="16500" y2="76125"/>
                        <a14:backgroundMark x1="15500" y1="76125" x2="15500" y2="76125"/>
                        <a14:backgroundMark x1="16625" y1="75500" x2="16625" y2="75500"/>
                        <a14:backgroundMark x1="16625" y1="75500" x2="6250" y2="81125"/>
                        <a14:backgroundMark x1="96250" y1="81125" x2="99875" y2="83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13121" y="4809836"/>
            <a:ext cx="1271467" cy="1271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8" descr="Profile photo of Daniella Patrick">
            <a:extLst>
              <a:ext uri="{FF2B5EF4-FFF2-40B4-BE49-F238E27FC236}">
                <a16:creationId xmlns:a16="http://schemas.microsoft.com/office/drawing/2014/main" id="{4388F0CA-F535-D312-5DC8-132E5C06A4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email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4792" b="100000" l="10000" r="90000">
                        <a14:foregroundMark x1="52375" y1="14792" x2="52375" y2="14792"/>
                        <a14:foregroundMark x1="62750" y1="97917" x2="62750" y2="97917"/>
                        <a14:foregroundMark x1="61125" y1="89167" x2="61125" y2="89167"/>
                        <a14:foregroundMark x1="64625" y1="95625" x2="64625" y2="95625"/>
                        <a14:foregroundMark x1="69500" y1="92292" x2="69500" y2="92292"/>
                        <a14:foregroundMark x1="70000" y1="96875" x2="70000" y2="96875"/>
                        <a14:foregroundMark x1="65125" y1="90208" x2="71250" y2="997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78343" y="3429000"/>
            <a:ext cx="2220961" cy="1332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10" descr="Profile photo of Vandana Vaidyanathan">
            <a:extLst>
              <a:ext uri="{FF2B5EF4-FFF2-40B4-BE49-F238E27FC236}">
                <a16:creationId xmlns:a16="http://schemas.microsoft.com/office/drawing/2014/main" id="{ECBC7C9C-9A74-EF34-D54C-FCBC24F1A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24147" y="4777161"/>
            <a:ext cx="1301230" cy="130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793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30A4F-14CE-ADD5-F567-AF111382A1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Number"/>
          <p:cNvSpPr>
            <a:spLocks noGrp="1"/>
          </p:cNvSpPr>
          <p:nvPr>
            <p:ph type="sldNum" idx="4294967295"/>
          </p:nvPr>
        </p:nvSpPr>
        <p:spPr>
          <a:xfrm>
            <a:off x="0" y="6564313"/>
            <a:ext cx="457200" cy="128587"/>
          </a:xfrm>
        </p:spPr>
        <p:txBody>
          <a:bodyPr vert="horz" wrap="square" anchor="ctr"/>
          <a:lstStyle>
            <a:lvl1pPr algn="l">
              <a:defRPr lang="en-US" sz="1000" spc="-10">
                <a:solidFill>
                  <a:srgbClr val="767676"/>
                </a:solidFill>
                <a:latin typeface="Arial" pitchFamily="34" charset="0"/>
              </a:defRPr>
            </a:lvl1pPr>
          </a:lstStyle>
          <a:p>
            <a:fld id="{ABE41B26-A27F-4FAD-829A-000F83081839}" type="slidenum">
              <a:r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41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FQ_Theme">
  <a:themeElements>
    <a:clrScheme name="FQ_Colors">
      <a:dk1>
        <a:srgbClr val="1D1D1D"/>
      </a:dk1>
      <a:lt1>
        <a:srgbClr val="FFFFFF"/>
      </a:lt1>
      <a:dk2>
        <a:srgbClr val="281A42"/>
      </a:dk2>
      <a:lt2>
        <a:srgbClr val="F2F2F2"/>
      </a:lt2>
      <a:accent1>
        <a:srgbClr val="765FFF"/>
      </a:accent1>
      <a:accent2>
        <a:srgbClr val="281A42"/>
      </a:accent2>
      <a:accent3>
        <a:srgbClr val="00C27A"/>
      </a:accent3>
      <a:accent4>
        <a:srgbClr val="60BDBC"/>
      </a:accent4>
      <a:accent5>
        <a:srgbClr val="FFB547"/>
      </a:accent5>
      <a:accent6>
        <a:srgbClr val="FF2E88"/>
      </a:accent6>
      <a:hlink>
        <a:srgbClr val="765FFF"/>
      </a:hlink>
      <a:folHlink>
        <a:srgbClr val="917FFF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1D1D1D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ulcrumQ Default Template" id="{8DA0E5EF-F260-734E-8758-5A5D32FE6210}" vid="{6D9E437C-8548-9346-908E-F626CF510D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C8D193B8900141BA90FF3069F9720A" ma:contentTypeVersion="18" ma:contentTypeDescription="Create a new document." ma:contentTypeScope="" ma:versionID="6613aa93a269ecb5eda8cf6bc2783cf7">
  <xsd:schema xmlns:xsd="http://www.w3.org/2001/XMLSchema" xmlns:xs="http://www.w3.org/2001/XMLSchema" xmlns:p="http://schemas.microsoft.com/office/2006/metadata/properties" xmlns:ns2="18f74f48-1418-4e28-b83e-919d446c4d52" xmlns:ns3="2f5fc2af-da31-4fdd-bfe9-7f4a7c4af24a" targetNamespace="http://schemas.microsoft.com/office/2006/metadata/properties" ma:root="true" ma:fieldsID="f0d6604ce8c6ca6ef983307d975f8a17" ns2:_="" ns3:_="">
    <xsd:import namespace="18f74f48-1418-4e28-b83e-919d446c4d52"/>
    <xsd:import namespace="2f5fc2af-da31-4fdd-bfe9-7f4a7c4af2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f74f48-1418-4e28-b83e-919d446c4d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ce777b1b-314e-4559-8ee3-bc85f5a6b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5fc2af-da31-4fdd-bfe9-7f4a7c4af24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e51befe-e26b-4975-8306-5cb5899a5c64}" ma:internalName="TaxCatchAll" ma:showField="CatchAllData" ma:web="2f5fc2af-da31-4fdd-bfe9-7f4a7c4af2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8f74f48-1418-4e28-b83e-919d446c4d52">
      <Terms xmlns="http://schemas.microsoft.com/office/infopath/2007/PartnerControls"/>
    </lcf76f155ced4ddcb4097134ff3c332f>
    <TaxCatchAll xmlns="2f5fc2af-da31-4fdd-bfe9-7f4a7c4af24a" xsi:nil="true"/>
  </documentManagement>
</p:properties>
</file>

<file path=customXml/itemProps1.xml><?xml version="1.0" encoding="utf-8"?>
<ds:datastoreItem xmlns:ds="http://schemas.openxmlformats.org/officeDocument/2006/customXml" ds:itemID="{172C3F67-3A3B-493D-8A83-9625F4F6E8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A05688-D9A4-4894-885F-344E943794DF}">
  <ds:schemaRefs>
    <ds:schemaRef ds:uri="18f74f48-1418-4e28-b83e-919d446c4d52"/>
    <ds:schemaRef ds:uri="2f5fc2af-da31-4fdd-bfe9-7f4a7c4af2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D8F6740-964B-4426-8799-0AF08AB6D76D}">
  <ds:schemaRefs>
    <ds:schemaRef ds:uri="2f5fc2af-da31-4fdd-bfe9-7f4a7c4af24a"/>
    <ds:schemaRef ds:uri="18f74f48-1418-4e28-b83e-919d446c4d52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5909</TotalTime>
  <Words>783</Words>
  <Application>Microsoft Macintosh PowerPoint</Application>
  <PresentationFormat>Widescreen</PresentationFormat>
  <Paragraphs>201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Helvetica Neue</vt:lpstr>
      <vt:lpstr>Lato</vt:lpstr>
      <vt:lpstr>Segoe UI</vt:lpstr>
      <vt:lpstr>FQ_Theme</vt:lpstr>
      <vt:lpstr>FulcrumQ Overview</vt:lpstr>
      <vt:lpstr>FulcrumQ – The Talent to Value Company</vt:lpstr>
      <vt:lpstr>Talent to Value: Gets the Strategy Moving Faster</vt:lpstr>
      <vt:lpstr>Why Talent to Value: CEO Success</vt:lpstr>
      <vt:lpstr>CEO Success Rates Are Low Due to 3 Key Derailers</vt:lpstr>
      <vt:lpstr>Our Approach Connects Talent Decisions to Value</vt:lpstr>
      <vt:lpstr>IT Sounds Simple but Most People Don’t Do IT</vt:lpstr>
      <vt:lpstr>Consistent Excellence Delivers Outsized Outcomes</vt:lpstr>
      <vt:lpstr>PowerPoint Presentation</vt:lpstr>
      <vt:lpstr>Our Clients</vt:lpstr>
      <vt:lpstr>Our Practitioner-led Global Team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ELT ROLE MOBILIZATION | INTERNAL WORK NEEDED BEFORE THE OFFSITE</dc:title>
  <dc:creator>Megan Blouin</dc:creator>
  <cp:lastModifiedBy>Zoe Ervolino</cp:lastModifiedBy>
  <cp:revision>20</cp:revision>
  <dcterms:created xsi:type="dcterms:W3CDTF">2023-09-05T22:35:42Z</dcterms:created>
  <dcterms:modified xsi:type="dcterms:W3CDTF">2026-04-01T17:30:15Z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0x01010092C8D193B8900141BA90FF3069F9720A</vt:lpwstr>
  </property>
</Properties>
</file>