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9"/>
  </p:notesMasterIdLst>
  <p:sldIdLst>
    <p:sldId id="362" r:id="rId5"/>
    <p:sldId id="260" r:id="rId6"/>
    <p:sldId id="270" r:id="rId7"/>
    <p:sldId id="278" r:id="rId8"/>
    <p:sldId id="279" r:id="rId9"/>
    <p:sldId id="280" r:id="rId10"/>
    <p:sldId id="375" r:id="rId11"/>
    <p:sldId id="271" r:id="rId12"/>
    <p:sldId id="2147483647" r:id="rId13"/>
    <p:sldId id="281" r:id="rId14"/>
    <p:sldId id="2147483644" r:id="rId15"/>
    <p:sldId id="284" r:id="rId16"/>
    <p:sldId id="259" r:id="rId17"/>
    <p:sldId id="261" r:id="rId18"/>
    <p:sldId id="277" r:id="rId19"/>
    <p:sldId id="263" r:id="rId20"/>
    <p:sldId id="264" r:id="rId21"/>
    <p:sldId id="285" r:id="rId22"/>
    <p:sldId id="286" r:id="rId23"/>
    <p:sldId id="378" r:id="rId24"/>
    <p:sldId id="287" r:id="rId25"/>
    <p:sldId id="272" r:id="rId26"/>
    <p:sldId id="273" r:id="rId27"/>
    <p:sldId id="282" r:id="rId28"/>
    <p:sldId id="2147483639" r:id="rId29"/>
    <p:sldId id="288" r:id="rId30"/>
    <p:sldId id="274" r:id="rId31"/>
    <p:sldId id="275" r:id="rId32"/>
    <p:sldId id="276" r:id="rId33"/>
    <p:sldId id="258" r:id="rId34"/>
    <p:sldId id="296" r:id="rId35"/>
    <p:sldId id="283" r:id="rId36"/>
    <p:sldId id="262" r:id="rId37"/>
    <p:sldId id="265" r:id="rId38"/>
    <p:sldId id="256" r:id="rId39"/>
    <p:sldId id="266" r:id="rId40"/>
    <p:sldId id="267" r:id="rId41"/>
    <p:sldId id="372" r:id="rId42"/>
    <p:sldId id="269" r:id="rId43"/>
    <p:sldId id="268" r:id="rId44"/>
    <p:sldId id="257" r:id="rId45"/>
    <p:sldId id="289" r:id="rId46"/>
    <p:sldId id="290" r:id="rId47"/>
    <p:sldId id="2147482635" r:id="rId4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3A6083-62F2-4742-B38E-62558A84E312}">
          <p14:sldIdLst>
            <p14:sldId id="362"/>
            <p14:sldId id="260"/>
            <p14:sldId id="270"/>
            <p14:sldId id="278"/>
            <p14:sldId id="279"/>
            <p14:sldId id="280"/>
            <p14:sldId id="375"/>
            <p14:sldId id="271"/>
            <p14:sldId id="2147483647"/>
            <p14:sldId id="281"/>
            <p14:sldId id="2147483644"/>
            <p14:sldId id="284"/>
            <p14:sldId id="259"/>
            <p14:sldId id="261"/>
            <p14:sldId id="277"/>
            <p14:sldId id="263"/>
            <p14:sldId id="264"/>
            <p14:sldId id="285"/>
            <p14:sldId id="286"/>
            <p14:sldId id="378"/>
            <p14:sldId id="287"/>
            <p14:sldId id="272"/>
            <p14:sldId id="273"/>
            <p14:sldId id="282"/>
            <p14:sldId id="2147483639"/>
            <p14:sldId id="288"/>
            <p14:sldId id="274"/>
            <p14:sldId id="275"/>
            <p14:sldId id="276"/>
            <p14:sldId id="258"/>
            <p14:sldId id="296"/>
            <p14:sldId id="283"/>
            <p14:sldId id="262"/>
            <p14:sldId id="265"/>
            <p14:sldId id="256"/>
            <p14:sldId id="266"/>
            <p14:sldId id="267"/>
            <p14:sldId id="372"/>
            <p14:sldId id="269"/>
            <p14:sldId id="268"/>
            <p14:sldId id="257"/>
            <p14:sldId id="289"/>
            <p14:sldId id="290"/>
            <p14:sldId id="214748263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1AED0F-E9CB-62E8-6E8F-91AE199B2055}" name="Mitul Brahmbhatt" initials="MB" userId="S::Mitul@ceoworks.com::a68ce095-0de8-43ca-9310-e70c30e51a70" providerId="AD"/>
  <p188:author id="{DA97DC2D-6585-9CB1-D5C7-F6F604017F9C}" name="Vandana Vaidyanathan" initials="VV" userId="S::vandana@ceoworks.com::e3685212-c72d-4c70-ba6c-c9d6625986a8" providerId="AD"/>
  <p188:author id="{882E5139-7F59-4FF3-1519-A6F860DBA01A}" name="Alex Kopitsas" initials="" userId="S::Alex@ceoworks.com::e70bdcd6-d5ce-4b8f-8c37-c6b6d6ceead3" providerId="AD"/>
  <p188:author id="{F25325AE-EB85-6CE7-4E2F-C266DB8ED5D0}" name="Shefali Salwan" initials="SS" userId="S::shefali@ceoworks.com::e4b2a792-48cd-4872-9320-a638c5a8db0f" providerId="AD"/>
  <p188:author id="{9E3946C5-6EF1-1124-16E8-74CA762980E0}" name="Tim Burns" initials="TB" userId="S::tim@ceoworks.com::79fe5273-370b-40db-94f0-6fb0b344a738" providerId="AD"/>
  <p188:author id="{A1EFD2DB-0424-D3AF-6732-90D4546F0AA3}" name="Prateek Sinha" initials="PS" userId="S::prateek@ceoworks.com::c66a1130-a33f-4c6d-a198-f0787721f69a" providerId="AD"/>
  <p188:author id="{547B06F2-4ECC-038C-6D60-EE0E60C8F512}" name="Vandana Vaidyanathan" initials="" userId="S::Vandana@ceoworks.com::e3685212-c72d-4c70-ba6c-c9d6625986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532"/>
    <a:srgbClr val="E8E4FD"/>
    <a:srgbClr val="00C27A"/>
    <a:srgbClr val="808080"/>
    <a:srgbClr val="461D96"/>
    <a:srgbClr val="000000"/>
    <a:srgbClr val="33CED9"/>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D3915-892C-442E-B305-1E300F78D4F2}" v="2" dt="2025-07-25T12:22:11.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75"/>
    <p:restoredTop sz="94684"/>
  </p:normalViewPr>
  <p:slideViewPr>
    <p:cSldViewPr snapToGrid="0">
      <p:cViewPr varScale="1">
        <p:scale>
          <a:sx n="104" d="100"/>
          <a:sy n="104" d="100"/>
        </p:scale>
        <p:origin x="416" y="496"/>
      </p:cViewPr>
      <p:guideLst/>
    </p:cSldViewPr>
  </p:slideViewPr>
  <p:notesTextViewPr>
    <p:cViewPr>
      <p:scale>
        <a:sx n="1" d="1"/>
        <a:sy n="1" d="1"/>
      </p:scale>
      <p:origin x="0" y="0"/>
    </p:cViewPr>
  </p:notesTextViewPr>
  <p:sorterViewPr>
    <p:cViewPr>
      <p:scale>
        <a:sx n="90" d="100"/>
        <a:sy n="90" d="100"/>
      </p:scale>
      <p:origin x="0" y="-167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F383-FE4E-9E16-C17963B16767}"/>
              </c:ext>
            </c:extLst>
          </c:dPt>
          <c:dPt>
            <c:idx val="1"/>
            <c:invertIfNegative val="0"/>
            <c:bubble3D val="0"/>
            <c:spPr>
              <a:solidFill>
                <a:srgbClr val="FFB547"/>
              </a:solidFill>
              <a:ln>
                <a:noFill/>
              </a:ln>
              <a:effectLst/>
            </c:spPr>
            <c:extLst>
              <c:ext xmlns:c16="http://schemas.microsoft.com/office/drawing/2014/chart" uri="{C3380CC4-5D6E-409C-BE32-E72D297353CC}">
                <c16:uniqueId val="{00000003-F383-FE4E-9E16-C17963B16767}"/>
              </c:ext>
            </c:extLst>
          </c:dPt>
          <c:dPt>
            <c:idx val="2"/>
            <c:invertIfNegative val="0"/>
            <c:bubble3D val="0"/>
            <c:spPr>
              <a:solidFill>
                <a:srgbClr val="D84532"/>
              </a:solidFill>
              <a:ln>
                <a:noFill/>
              </a:ln>
              <a:effectLst/>
            </c:spPr>
            <c:extLst>
              <c:ext xmlns:c16="http://schemas.microsoft.com/office/drawing/2014/chart" uri="{C3380CC4-5D6E-409C-BE32-E72D297353CC}">
                <c16:uniqueId val="{00000005-F383-FE4E-9E16-C17963B16767}"/>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F383-FE4E-9E16-C17963B16767}"/>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35</c:v>
                </c:pt>
                <c:pt idx="1">
                  <c:v>45</c:v>
                </c:pt>
                <c:pt idx="2">
                  <c:v>55</c:v>
                </c:pt>
              </c:numCache>
            </c:numRef>
          </c:val>
          <c:extLst>
            <c:ext xmlns:c16="http://schemas.microsoft.com/office/drawing/2014/chart" uri="{C3380CC4-5D6E-409C-BE32-E72D297353CC}">
              <c16:uniqueId val="{00000007-F383-FE4E-9E16-C17963B16767}"/>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6D39-334E-BAC1-B53E11117CFD}"/>
              </c:ext>
            </c:extLst>
          </c:dPt>
          <c:dPt>
            <c:idx val="1"/>
            <c:invertIfNegative val="0"/>
            <c:bubble3D val="0"/>
            <c:spPr>
              <a:solidFill>
                <a:srgbClr val="D84532"/>
              </a:solidFill>
              <a:ln>
                <a:noFill/>
              </a:ln>
              <a:effectLst/>
            </c:spPr>
            <c:extLst>
              <c:ext xmlns:c16="http://schemas.microsoft.com/office/drawing/2014/chart" uri="{C3380CC4-5D6E-409C-BE32-E72D297353CC}">
                <c16:uniqueId val="{00000003-6D39-334E-BAC1-B53E11117CFD}"/>
              </c:ext>
            </c:extLst>
          </c:dPt>
          <c:dPt>
            <c:idx val="2"/>
            <c:invertIfNegative val="0"/>
            <c:bubble3D val="0"/>
            <c:spPr>
              <a:solidFill>
                <a:srgbClr val="FFB547"/>
              </a:solidFill>
              <a:ln>
                <a:noFill/>
              </a:ln>
              <a:effectLst/>
            </c:spPr>
            <c:extLst>
              <c:ext xmlns:c16="http://schemas.microsoft.com/office/drawing/2014/chart" uri="{C3380CC4-5D6E-409C-BE32-E72D297353CC}">
                <c16:uniqueId val="{00000005-6D39-334E-BAC1-B53E11117CFD}"/>
              </c:ext>
            </c:extLst>
          </c:dPt>
          <c:dPt>
            <c:idx val="3"/>
            <c:invertIfNegative val="0"/>
            <c:bubble3D val="0"/>
            <c:spPr>
              <a:solidFill>
                <a:srgbClr val="D84532"/>
              </a:solidFill>
              <a:ln>
                <a:noFill/>
              </a:ln>
              <a:effectLst/>
            </c:spPr>
            <c:extLst>
              <c:ext xmlns:c16="http://schemas.microsoft.com/office/drawing/2014/chart" uri="{C3380CC4-5D6E-409C-BE32-E72D297353CC}">
                <c16:uniqueId val="{00000007-6D39-334E-BAC1-B53E11117CFD}"/>
              </c:ext>
            </c:extLst>
          </c:dPt>
          <c:cat>
            <c:strRef>
              <c:f>Sheet1!$A$2:$A$5</c:f>
              <c:strCache>
                <c:ptCount val="4"/>
                <c:pt idx="0">
                  <c:v>Competitive Intentsity</c:v>
                </c:pt>
                <c:pt idx="1">
                  <c:v>New work</c:v>
                </c:pt>
                <c:pt idx="2">
                  <c:v>Complexity</c:v>
                </c:pt>
                <c:pt idx="3">
                  <c:v>Alignment</c:v>
                </c:pt>
              </c:strCache>
            </c:strRef>
          </c:cat>
          <c:val>
            <c:numRef>
              <c:f>Sheet1!$B$2:$B$5</c:f>
              <c:numCache>
                <c:formatCode>General</c:formatCode>
                <c:ptCount val="4"/>
                <c:pt idx="0">
                  <c:v>55</c:v>
                </c:pt>
                <c:pt idx="1">
                  <c:v>30</c:v>
                </c:pt>
                <c:pt idx="2">
                  <c:v>55</c:v>
                </c:pt>
                <c:pt idx="3">
                  <c:v>40</c:v>
                </c:pt>
              </c:numCache>
            </c:numRef>
          </c:val>
          <c:extLst>
            <c:ext xmlns:c16="http://schemas.microsoft.com/office/drawing/2014/chart" uri="{C3380CC4-5D6E-409C-BE32-E72D297353CC}">
              <c16:uniqueId val="{00000008-6D39-334E-BAC1-B53E11117CFD}"/>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Competitive Intentsity</c:v>
                </c:pt>
                <c:pt idx="1">
                  <c:v>New work</c:v>
                </c:pt>
                <c:pt idx="2">
                  <c:v>Complexity</c:v>
                </c:pt>
                <c:pt idx="3">
                  <c:v>Alignment</c:v>
                </c:pt>
              </c:strCache>
            </c:strRef>
          </c:cat>
          <c:val>
            <c:numRef>
              <c:f>Sheet1!$C$2:$C$5</c:f>
              <c:numCache>
                <c:formatCode>General</c:formatCode>
                <c:ptCount val="4"/>
                <c:pt idx="0">
                  <c:v>45</c:v>
                </c:pt>
                <c:pt idx="1">
                  <c:v>70</c:v>
                </c:pt>
                <c:pt idx="2">
                  <c:v>45</c:v>
                </c:pt>
                <c:pt idx="3">
                  <c:v>60</c:v>
                </c:pt>
              </c:numCache>
            </c:numRef>
          </c:val>
          <c:extLst>
            <c:ext xmlns:c16="http://schemas.microsoft.com/office/drawing/2014/chart" uri="{C3380CC4-5D6E-409C-BE32-E72D297353CC}">
              <c16:uniqueId val="{00000009-6D39-334E-BAC1-B53E11117CFD}"/>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6904-3C4D-A719-4760518B9E45}"/>
              </c:ext>
            </c:extLst>
          </c:dPt>
          <c:dPt>
            <c:idx val="1"/>
            <c:invertIfNegative val="0"/>
            <c:bubble3D val="0"/>
            <c:spPr>
              <a:solidFill>
                <a:srgbClr val="FFB547"/>
              </a:solidFill>
              <a:ln>
                <a:noFill/>
              </a:ln>
              <a:effectLst/>
            </c:spPr>
            <c:extLst>
              <c:ext xmlns:c16="http://schemas.microsoft.com/office/drawing/2014/chart" uri="{C3380CC4-5D6E-409C-BE32-E72D297353CC}">
                <c16:uniqueId val="{00000003-6904-3C4D-A719-4760518B9E45}"/>
              </c:ext>
            </c:extLst>
          </c:dPt>
          <c:dPt>
            <c:idx val="2"/>
            <c:invertIfNegative val="0"/>
            <c:bubble3D val="0"/>
            <c:spPr>
              <a:solidFill>
                <a:srgbClr val="D84532"/>
              </a:solidFill>
              <a:ln>
                <a:noFill/>
              </a:ln>
              <a:effectLst/>
            </c:spPr>
            <c:extLst>
              <c:ext xmlns:c16="http://schemas.microsoft.com/office/drawing/2014/chart" uri="{C3380CC4-5D6E-409C-BE32-E72D297353CC}">
                <c16:uniqueId val="{00000005-6904-3C4D-A719-4760518B9E45}"/>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6904-3C4D-A719-4760518B9E45}"/>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30</c:v>
                </c:pt>
                <c:pt idx="1">
                  <c:v>45</c:v>
                </c:pt>
                <c:pt idx="2">
                  <c:v>55</c:v>
                </c:pt>
              </c:numCache>
            </c:numRef>
          </c:val>
          <c:extLst>
            <c:ext xmlns:c16="http://schemas.microsoft.com/office/drawing/2014/chart" uri="{C3380CC4-5D6E-409C-BE32-E72D297353CC}">
              <c16:uniqueId val="{00000007-6904-3C4D-A719-4760518B9E45}"/>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EE43-F140-AB33-1060B4CF0632}"/>
              </c:ext>
            </c:extLst>
          </c:dPt>
          <c:dPt>
            <c:idx val="1"/>
            <c:invertIfNegative val="0"/>
            <c:bubble3D val="0"/>
            <c:spPr>
              <a:solidFill>
                <a:srgbClr val="D84532"/>
              </a:solidFill>
              <a:ln>
                <a:noFill/>
              </a:ln>
              <a:effectLst/>
            </c:spPr>
            <c:extLst>
              <c:ext xmlns:c16="http://schemas.microsoft.com/office/drawing/2014/chart" uri="{C3380CC4-5D6E-409C-BE32-E72D297353CC}">
                <c16:uniqueId val="{00000003-EE43-F140-AB33-1060B4CF0632}"/>
              </c:ext>
            </c:extLst>
          </c:dPt>
          <c:dPt>
            <c:idx val="2"/>
            <c:invertIfNegative val="0"/>
            <c:bubble3D val="0"/>
            <c:spPr>
              <a:solidFill>
                <a:srgbClr val="D84532"/>
              </a:solidFill>
              <a:ln>
                <a:noFill/>
              </a:ln>
              <a:effectLst/>
            </c:spPr>
            <c:extLst>
              <c:ext xmlns:c16="http://schemas.microsoft.com/office/drawing/2014/chart" uri="{C3380CC4-5D6E-409C-BE32-E72D297353CC}">
                <c16:uniqueId val="{00000005-EE43-F140-AB33-1060B4CF0632}"/>
              </c:ext>
            </c:extLst>
          </c:dPt>
          <c:dPt>
            <c:idx val="3"/>
            <c:invertIfNegative val="0"/>
            <c:bubble3D val="0"/>
            <c:spPr>
              <a:solidFill>
                <a:srgbClr val="FFB547"/>
              </a:solidFill>
              <a:ln>
                <a:noFill/>
              </a:ln>
              <a:effectLst/>
            </c:spPr>
            <c:extLst>
              <c:ext xmlns:c16="http://schemas.microsoft.com/office/drawing/2014/chart" uri="{C3380CC4-5D6E-409C-BE32-E72D297353CC}">
                <c16:uniqueId val="{00000007-EE43-F140-AB33-1060B4CF0632}"/>
              </c:ext>
            </c:extLst>
          </c:dPt>
          <c:cat>
            <c:strRef>
              <c:f>Sheet1!$A$2:$A$5</c:f>
              <c:strCache>
                <c:ptCount val="4"/>
                <c:pt idx="0">
                  <c:v>Incentives</c:v>
                </c:pt>
                <c:pt idx="1">
                  <c:v>Resistance</c:v>
                </c:pt>
                <c:pt idx="2">
                  <c:v>Capacity</c:v>
                </c:pt>
                <c:pt idx="3">
                  <c:v>Authority</c:v>
                </c:pt>
              </c:strCache>
            </c:strRef>
          </c:cat>
          <c:val>
            <c:numRef>
              <c:f>Sheet1!$B$2:$B$5</c:f>
              <c:numCache>
                <c:formatCode>General</c:formatCode>
                <c:ptCount val="4"/>
                <c:pt idx="0">
                  <c:v>80</c:v>
                </c:pt>
                <c:pt idx="1">
                  <c:v>30</c:v>
                </c:pt>
                <c:pt idx="2">
                  <c:v>40</c:v>
                </c:pt>
                <c:pt idx="3">
                  <c:v>68</c:v>
                </c:pt>
              </c:numCache>
            </c:numRef>
          </c:val>
          <c:extLst>
            <c:ext xmlns:c16="http://schemas.microsoft.com/office/drawing/2014/chart" uri="{C3380CC4-5D6E-409C-BE32-E72D297353CC}">
              <c16:uniqueId val="{00000008-EE43-F140-AB33-1060B4CF0632}"/>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Incentives</c:v>
                </c:pt>
                <c:pt idx="1">
                  <c:v>Resistance</c:v>
                </c:pt>
                <c:pt idx="2">
                  <c:v>Capacity</c:v>
                </c:pt>
                <c:pt idx="3">
                  <c:v>Authority</c:v>
                </c:pt>
              </c:strCache>
            </c:strRef>
          </c:cat>
          <c:val>
            <c:numRef>
              <c:f>Sheet1!$C$2:$C$5</c:f>
              <c:numCache>
                <c:formatCode>General</c:formatCode>
                <c:ptCount val="4"/>
                <c:pt idx="0">
                  <c:v>20</c:v>
                </c:pt>
                <c:pt idx="1">
                  <c:v>70</c:v>
                </c:pt>
                <c:pt idx="2">
                  <c:v>60</c:v>
                </c:pt>
                <c:pt idx="3">
                  <c:v>32</c:v>
                </c:pt>
              </c:numCache>
            </c:numRef>
          </c:val>
          <c:extLst>
            <c:ext xmlns:c16="http://schemas.microsoft.com/office/drawing/2014/chart" uri="{C3380CC4-5D6E-409C-BE32-E72D297353CC}">
              <c16:uniqueId val="{00000009-EE43-F140-AB33-1060B4CF0632}"/>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E0B5-444F-9A1D-EA685960EC81}"/>
              </c:ext>
            </c:extLst>
          </c:dPt>
          <c:dPt>
            <c:idx val="1"/>
            <c:invertIfNegative val="0"/>
            <c:bubble3D val="0"/>
            <c:spPr>
              <a:solidFill>
                <a:srgbClr val="FFB547"/>
              </a:solidFill>
              <a:ln>
                <a:noFill/>
              </a:ln>
              <a:effectLst/>
            </c:spPr>
            <c:extLst>
              <c:ext xmlns:c16="http://schemas.microsoft.com/office/drawing/2014/chart" uri="{C3380CC4-5D6E-409C-BE32-E72D297353CC}">
                <c16:uniqueId val="{00000003-E0B5-444F-9A1D-EA685960EC81}"/>
              </c:ext>
            </c:extLst>
          </c:dPt>
          <c:dPt>
            <c:idx val="2"/>
            <c:invertIfNegative val="0"/>
            <c:bubble3D val="0"/>
            <c:spPr>
              <a:solidFill>
                <a:srgbClr val="D84532"/>
              </a:solidFill>
              <a:ln>
                <a:noFill/>
              </a:ln>
              <a:effectLst/>
            </c:spPr>
            <c:extLst>
              <c:ext xmlns:c16="http://schemas.microsoft.com/office/drawing/2014/chart" uri="{C3380CC4-5D6E-409C-BE32-E72D297353CC}">
                <c16:uniqueId val="{00000005-E0B5-444F-9A1D-EA685960EC81}"/>
              </c:ext>
            </c:extLst>
          </c:dPt>
          <c:dPt>
            <c:idx val="3"/>
            <c:invertIfNegative val="0"/>
            <c:bubble3D val="0"/>
            <c:spPr>
              <a:solidFill>
                <a:srgbClr val="FFB547"/>
              </a:solidFill>
              <a:ln>
                <a:noFill/>
              </a:ln>
              <a:effectLst/>
            </c:spPr>
            <c:extLst>
              <c:ext xmlns:c16="http://schemas.microsoft.com/office/drawing/2014/chart" uri="{C3380CC4-5D6E-409C-BE32-E72D297353CC}">
                <c16:uniqueId val="{00000007-E0B5-444F-9A1D-EA685960EC81}"/>
              </c:ext>
            </c:extLst>
          </c:dPt>
          <c:cat>
            <c:strRef>
              <c:f>Sheet1!$A$2:$A$5</c:f>
              <c:strCache>
                <c:ptCount val="4"/>
                <c:pt idx="0">
                  <c:v>Track Record</c:v>
                </c:pt>
                <c:pt idx="1">
                  <c:v>Two-way fit</c:v>
                </c:pt>
                <c:pt idx="2">
                  <c:v>SP Match</c:v>
                </c:pt>
                <c:pt idx="3">
                  <c:v>JTBD Match</c:v>
                </c:pt>
              </c:strCache>
            </c:strRef>
          </c:cat>
          <c:val>
            <c:numRef>
              <c:f>Sheet1!$B$2:$B$5</c:f>
              <c:numCache>
                <c:formatCode>General</c:formatCode>
                <c:ptCount val="4"/>
                <c:pt idx="0">
                  <c:v>85</c:v>
                </c:pt>
                <c:pt idx="1">
                  <c:v>65</c:v>
                </c:pt>
                <c:pt idx="2">
                  <c:v>45</c:v>
                </c:pt>
                <c:pt idx="3">
                  <c:v>65</c:v>
                </c:pt>
              </c:numCache>
            </c:numRef>
          </c:val>
          <c:extLst>
            <c:ext xmlns:c16="http://schemas.microsoft.com/office/drawing/2014/chart" uri="{C3380CC4-5D6E-409C-BE32-E72D297353CC}">
              <c16:uniqueId val="{00000008-E0B5-444F-9A1D-EA685960EC81}"/>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Track Record</c:v>
                </c:pt>
                <c:pt idx="1">
                  <c:v>Two-way fit</c:v>
                </c:pt>
                <c:pt idx="2">
                  <c:v>SP Match</c:v>
                </c:pt>
                <c:pt idx="3">
                  <c:v>JTBD Match</c:v>
                </c:pt>
              </c:strCache>
            </c:strRef>
          </c:cat>
          <c:val>
            <c:numRef>
              <c:f>Sheet1!$C$2:$C$5</c:f>
              <c:numCache>
                <c:formatCode>General</c:formatCode>
                <c:ptCount val="4"/>
                <c:pt idx="0">
                  <c:v>15</c:v>
                </c:pt>
                <c:pt idx="1">
                  <c:v>35</c:v>
                </c:pt>
                <c:pt idx="2">
                  <c:v>55</c:v>
                </c:pt>
                <c:pt idx="3">
                  <c:v>35</c:v>
                </c:pt>
              </c:numCache>
            </c:numRef>
          </c:val>
          <c:extLst>
            <c:ext xmlns:c16="http://schemas.microsoft.com/office/drawing/2014/chart" uri="{C3380CC4-5D6E-409C-BE32-E72D297353CC}">
              <c16:uniqueId val="{00000009-E0B5-444F-9A1D-EA685960EC81}"/>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9" tIns="48324" rIns="96649" bIns="48324" rtlCol="0"/>
          <a:lstStyle>
            <a:lvl1pPr algn="l">
              <a:defRPr sz="12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49" tIns="48324" rIns="96649" bIns="48324" rtlCol="0"/>
          <a:lstStyle>
            <a:lvl1pPr algn="r">
              <a:defRPr sz="1200"/>
            </a:lvl1pPr>
          </a:lstStyle>
          <a:p>
            <a:fld id="{D77BC24A-8A0F-4A06-8C93-13D538338693}" type="datetimeFigureOut">
              <a:rPr lang="en-US" smtClean="0"/>
              <a:t>4/1/26</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9" tIns="48324" rIns="96649" bIns="48324" rtlCol="0" anchor="ctr"/>
          <a:lstStyle/>
          <a:p>
            <a:endParaRPr lang="en-US" dirty="0"/>
          </a:p>
        </p:txBody>
      </p:sp>
      <p:sp>
        <p:nvSpPr>
          <p:cNvPr id="5" name="Notes Placeholder 4"/>
          <p:cNvSpPr>
            <a:spLocks noGrp="1"/>
          </p:cNvSpPr>
          <p:nvPr>
            <p:ph type="body" sz="quarter" idx="3"/>
          </p:nvPr>
        </p:nvSpPr>
        <p:spPr>
          <a:xfrm>
            <a:off x="731520" y="4620579"/>
            <a:ext cx="5852160" cy="3780472"/>
          </a:xfrm>
          <a:prstGeom prst="rect">
            <a:avLst/>
          </a:prstGeom>
        </p:spPr>
        <p:txBody>
          <a:bodyPr vert="horz" lIns="96649" tIns="48324" rIns="96649"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9" tIns="48324" rIns="96649" bIns="4832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9" tIns="48324" rIns="96649" bIns="48324" rtlCol="0" anchor="b"/>
          <a:lstStyle>
            <a:lvl1pPr algn="r">
              <a:defRPr sz="1200"/>
            </a:lvl1pPr>
          </a:lstStyle>
          <a:p>
            <a:fld id="{4483CBA0-B14C-4037-927E-CE5CEFB297DB}" type="slidenum">
              <a:rPr lang="en-US" smtClean="0"/>
              <a:t>‹#›</a:t>
            </a:fld>
            <a:endParaRPr lang="en-US" dirty="0"/>
          </a:p>
        </p:txBody>
      </p:sp>
    </p:spTree>
    <p:extLst>
      <p:ext uri="{BB962C8B-B14F-4D97-AF65-F5344CB8AC3E}">
        <p14:creationId xmlns:p14="http://schemas.microsoft.com/office/powerpoint/2010/main" val="116024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68AB78-53BF-4A80-B3FE-892FD33795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Header Placeholder 4">
            <a:extLst>
              <a:ext uri="{FF2B5EF4-FFF2-40B4-BE49-F238E27FC236}">
                <a16:creationId xmlns:a16="http://schemas.microsoft.com/office/drawing/2014/main" id="{8207666A-8B5F-7E0E-6C9E-2FBF25EDF8D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Confidential – Do not Circulate</a:t>
            </a:r>
          </a:p>
        </p:txBody>
      </p:sp>
    </p:spTree>
    <p:extLst>
      <p:ext uri="{BB962C8B-B14F-4D97-AF65-F5344CB8AC3E}">
        <p14:creationId xmlns:p14="http://schemas.microsoft.com/office/powerpoint/2010/main" val="35603045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black and white logo&#10;&#10;AI-generated content may be incorrect.">
            <a:extLst>
              <a:ext uri="{FF2B5EF4-FFF2-40B4-BE49-F238E27FC236}">
                <a16:creationId xmlns:a16="http://schemas.microsoft.com/office/drawing/2014/main" id="{37BA394B-6FC7-BA29-9C9F-C3C5996A08DF}"/>
              </a:ext>
            </a:extLst>
          </p:cNvPr>
          <p:cNvPicPr>
            <a:picLocks noChangeAspect="1"/>
          </p:cNvPicPr>
          <p:nvPr/>
        </p:nvPicPr>
        <p:blipFill>
          <a:blip r:embed="rId3"/>
          <a:stretch>
            <a:fillRect/>
          </a:stretch>
        </p:blipFill>
        <p:spPr>
          <a:xfrm>
            <a:off x="432000" y="6126480"/>
            <a:ext cx="2194560" cy="445223"/>
          </a:xfrm>
          <a:prstGeom prst="rect">
            <a:avLst/>
          </a:prstGeom>
        </p:spPr>
      </p:pic>
      <p:sp>
        <p:nvSpPr>
          <p:cNvPr id="2" name="Title 1">
            <a:extLst>
              <a:ext uri="{FF2B5EF4-FFF2-40B4-BE49-F238E27FC236}">
                <a16:creationId xmlns:a16="http://schemas.microsoft.com/office/drawing/2014/main" id="{73CE3C99-2183-B3DE-3AAA-1A32D4AE1C58}"/>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4" name="Text Placeholder 6">
            <a:extLst>
              <a:ext uri="{FF2B5EF4-FFF2-40B4-BE49-F238E27FC236}">
                <a16:creationId xmlns:a16="http://schemas.microsoft.com/office/drawing/2014/main" id="{4E3D04D9-FFC9-D3AA-13F8-C5614D78CB7B}"/>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3" name="Picture 2" descr="A black and white logo&#10;&#10;AI-generated content may be incorrect.">
            <a:extLst>
              <a:ext uri="{FF2B5EF4-FFF2-40B4-BE49-F238E27FC236}">
                <a16:creationId xmlns:a16="http://schemas.microsoft.com/office/drawing/2014/main" id="{1AED1153-695A-6B98-C47D-7ABC0B711F0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8" name="Text Placeholder 6">
            <a:extLst>
              <a:ext uri="{FF2B5EF4-FFF2-40B4-BE49-F238E27FC236}">
                <a16:creationId xmlns:a16="http://schemas.microsoft.com/office/drawing/2014/main" id="{21A7B4B7-2101-FCE7-D719-3D909068D257}"/>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370010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Dark">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4652" t="14597" r="4536" b="15507"/>
          <a:stretch>
            <a:fillRect/>
          </a:stretch>
        </p:blipFill>
        <p:spPr>
          <a:xfrm>
            <a:off x="435748" y="6113928"/>
            <a:ext cx="2159000" cy="454027"/>
          </a:xfrm>
          <a:prstGeom prst="rect">
            <a:avLst/>
          </a:prstGeom>
        </p:spPr>
      </p:pic>
      <p:pic>
        <p:nvPicPr>
          <p:cNvPr id="11" name="Picture 10"/>
          <p:cNvPicPr>
            <a:picLocks noChangeAspect="1"/>
          </p:cNvPicPr>
          <p:nvPr/>
        </p:nvPicPr>
        <p:blipFill>
          <a:blip r:embed="rId3"/>
          <a:srcRect/>
          <a:stretch/>
        </p:blipFill>
        <p:spPr>
          <a:xfrm>
            <a:off x="9165100" y="6191590"/>
            <a:ext cx="2437894" cy="364855"/>
          </a:xfrm>
          <a:prstGeom prst="rect">
            <a:avLst/>
          </a:prstGeom>
        </p:spPr>
      </p:pic>
      <p:sp>
        <p:nvSpPr>
          <p:cNvPr id="12" name="Title 1"/>
          <p:cNvSpPr>
            <a:spLocks noGrp="1"/>
          </p:cNvSpPr>
          <p:nvPr>
            <p:ph type="title"/>
          </p:nvPr>
        </p:nvSpPr>
        <p:spPr>
          <a:xfrm>
            <a:off x="432000" y="432000"/>
            <a:ext cx="11338560" cy="968175"/>
          </a:xfrm>
          <a:prstGeom prst="rect">
            <a:avLst/>
          </a:prstGeom>
        </p:spPr>
        <p:txBody>
          <a:bodyPr/>
          <a:lstStyle>
            <a:lvl1pPr>
              <a:defRPr sz="6000" b="1">
                <a:solidFill>
                  <a:schemeClr val="bg1"/>
                </a:solidFill>
                <a:latin typeface="Segoe UI" pitchFamily="34" charset="0"/>
              </a:defRPr>
            </a:lvl1pPr>
          </a:lstStyle>
          <a:p>
            <a:r>
              <a:rPr lang="en-US"/>
              <a:t>Click to edit Master title style</a:t>
            </a:r>
            <a:endParaRPr/>
          </a:p>
        </p:txBody>
      </p:sp>
      <p:sp>
        <p:nvSpPr>
          <p:cNvPr id="2" name="Text Placeholder 6">
            <a:extLst>
              <a:ext uri="{FF2B5EF4-FFF2-40B4-BE49-F238E27FC236}">
                <a16:creationId xmlns:a16="http://schemas.microsoft.com/office/drawing/2014/main" id="{03ECDC62-748E-F1B0-07F3-0B62BB658E25}"/>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E0B4E0F1-7D88-9142-CE87-C8B858F36A56}"/>
              </a:ext>
            </a:extLst>
          </p:cNvPr>
          <p:cNvPicPr>
            <a:picLocks noChangeAspect="1"/>
          </p:cNvPicPr>
          <p:nvPr userDrawn="1"/>
        </p:nvPicPr>
        <p:blipFill rotWithShape="1">
          <a:blip r:embed="rId2"/>
          <a:srcRect l="4652" t="14597" r="4536" b="15507"/>
          <a:stretch>
            <a:fillRect/>
          </a:stretch>
        </p:blipFill>
        <p:spPr>
          <a:xfrm>
            <a:off x="435748" y="6113928"/>
            <a:ext cx="2159000" cy="454027"/>
          </a:xfrm>
          <a:prstGeom prst="rect">
            <a:avLst/>
          </a:prstGeom>
        </p:spPr>
      </p:pic>
      <p:pic>
        <p:nvPicPr>
          <p:cNvPr id="4" name="Picture 3">
            <a:extLst>
              <a:ext uri="{FF2B5EF4-FFF2-40B4-BE49-F238E27FC236}">
                <a16:creationId xmlns:a16="http://schemas.microsoft.com/office/drawing/2014/main" id="{55F3E59F-8EB2-1215-8D63-04505CE260F7}"/>
              </a:ext>
            </a:extLst>
          </p:cNvPr>
          <p:cNvPicPr>
            <a:picLocks noChangeAspect="1"/>
          </p:cNvPicPr>
          <p:nvPr userDrawn="1"/>
        </p:nvPicPr>
        <p:blipFill>
          <a:blip r:embed="rId3"/>
          <a:srcRect/>
          <a:stretch/>
        </p:blipFill>
        <p:spPr>
          <a:xfrm>
            <a:off x="9165100" y="6191590"/>
            <a:ext cx="2437894" cy="364855"/>
          </a:xfrm>
          <a:prstGeom prst="rect">
            <a:avLst/>
          </a:prstGeom>
        </p:spPr>
      </p:pic>
      <p:sp>
        <p:nvSpPr>
          <p:cNvPr id="5" name="Text Placeholder 6">
            <a:extLst>
              <a:ext uri="{FF2B5EF4-FFF2-40B4-BE49-F238E27FC236}">
                <a16:creationId xmlns:a16="http://schemas.microsoft.com/office/drawing/2014/main" id="{9826690B-C7DF-D391-1831-1C87D9DCD54E}"/>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bg1"/>
                </a:solidFill>
                <a:latin typeface="+mj-lt"/>
              </a:defRPr>
            </a:lvl1pPr>
          </a:lstStyle>
          <a:p>
            <a:pPr lvl="0"/>
            <a:r>
              <a:rPr lang="en-US"/>
              <a:t>Date</a:t>
            </a:r>
          </a:p>
        </p:txBody>
      </p:sp>
    </p:spTree>
    <p:extLst>
      <p:ext uri="{BB962C8B-B14F-4D97-AF65-F5344CB8AC3E}">
        <p14:creationId xmlns:p14="http://schemas.microsoft.com/office/powerpoint/2010/main" val="243717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Photo">
    <p:bg>
      <p:bgPr>
        <a:blipFill>
          <a:blip r:embed="rId2"/>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2B6FC9E-8B11-5EE3-6E11-7061DFCA524F}"/>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6" name="Text Placeholder 6">
            <a:extLst>
              <a:ext uri="{FF2B5EF4-FFF2-40B4-BE49-F238E27FC236}">
                <a16:creationId xmlns:a16="http://schemas.microsoft.com/office/drawing/2014/main" id="{CAC7920E-1162-2D3C-5D4A-368EDE93E7DA}"/>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7" name="Picture 6" descr="A black and white logo&#10;&#10;AI-generated content may be incorrect.">
            <a:extLst>
              <a:ext uri="{FF2B5EF4-FFF2-40B4-BE49-F238E27FC236}">
                <a16:creationId xmlns:a16="http://schemas.microsoft.com/office/drawing/2014/main" id="{CAEBF6F5-2984-E005-E78A-9FBAEF51708C}"/>
              </a:ext>
            </a:extLst>
          </p:cNvPr>
          <p:cNvPicPr>
            <a:picLocks noChangeAspect="1"/>
          </p:cNvPicPr>
          <p:nvPr/>
        </p:nvPicPr>
        <p:blipFill>
          <a:blip r:embed="rId3"/>
          <a:stretch>
            <a:fillRect/>
          </a:stretch>
        </p:blipFill>
        <p:spPr>
          <a:xfrm>
            <a:off x="432000" y="6126480"/>
            <a:ext cx="2194560" cy="445223"/>
          </a:xfrm>
          <a:prstGeom prst="rect">
            <a:avLst/>
          </a:prstGeom>
        </p:spPr>
      </p:pic>
      <p:pic>
        <p:nvPicPr>
          <p:cNvPr id="2" name="Picture 1" descr="A black and white logo&#10;&#10;AI-generated content may be incorrect.">
            <a:extLst>
              <a:ext uri="{FF2B5EF4-FFF2-40B4-BE49-F238E27FC236}">
                <a16:creationId xmlns:a16="http://schemas.microsoft.com/office/drawing/2014/main" id="{D883554E-186B-D3A7-5712-0CB495E5273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3" name="Text Placeholder 6">
            <a:extLst>
              <a:ext uri="{FF2B5EF4-FFF2-40B4-BE49-F238E27FC236}">
                <a16:creationId xmlns:a16="http://schemas.microsoft.com/office/drawing/2014/main" id="{0DDEF805-4139-818A-775A-9FE45C246704}"/>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87479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Ligh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EA15675-8D93-AAAB-1CE7-1CC9B1E120FC}"/>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sp>
        <p:nvSpPr>
          <p:cNvPr id="3" name="Content Placeholder 2">
            <a:extLst>
              <a:ext uri="{FF2B5EF4-FFF2-40B4-BE49-F238E27FC236}">
                <a16:creationId xmlns:a16="http://schemas.microsoft.com/office/drawing/2014/main" id="{748FA9E0-DC8A-A493-5950-929C39A48C8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2"/>
              </a:buBlip>
              <a:defRPr sz="2000">
                <a:solidFill>
                  <a:schemeClr val="bg2">
                    <a:lumMod val="25000"/>
                  </a:schemeClr>
                </a:solidFill>
                <a:latin typeface="+mn-lt"/>
              </a:defRPr>
            </a:lvl1pPr>
            <a:lvl2pPr marL="742950" indent="-285750" algn="l">
              <a:lnSpc>
                <a:spcPts val="2020"/>
              </a:lnSpc>
              <a:buSzPct val="100000"/>
              <a:buFontTx/>
              <a:buBlip>
                <a:blip r:embed="rId2"/>
              </a:buBlip>
              <a:defRPr sz="1800">
                <a:solidFill>
                  <a:schemeClr val="bg2">
                    <a:lumMod val="25000"/>
                  </a:schemeClr>
                </a:solidFill>
                <a:latin typeface="+mn-lt"/>
              </a:defRPr>
            </a:lvl2pPr>
            <a:lvl3pPr marL="1200150" indent="-285750" algn="l">
              <a:lnSpc>
                <a:spcPts val="2020"/>
              </a:lnSpc>
              <a:buSzPct val="100000"/>
              <a:buFontTx/>
              <a:buBlip>
                <a:blip r:embed="rId2"/>
              </a:buBlip>
              <a:defRPr sz="1600">
                <a:solidFill>
                  <a:schemeClr val="bg2">
                    <a:lumMod val="25000"/>
                  </a:schemeClr>
                </a:solidFill>
                <a:latin typeface="+mn-lt"/>
              </a:defRPr>
            </a:lvl3pPr>
            <a:lvl4pPr marL="1657350" indent="-285750" algn="l">
              <a:lnSpc>
                <a:spcPts val="2020"/>
              </a:lnSpc>
              <a:buSzPct val="100000"/>
              <a:buFontTx/>
              <a:buBlip>
                <a:blip r:embed="rId2"/>
              </a:buBlip>
              <a:defRPr sz="1600">
                <a:solidFill>
                  <a:schemeClr val="bg2">
                    <a:lumMod val="25000"/>
                  </a:schemeClr>
                </a:solidFill>
                <a:latin typeface="+mn-lt"/>
              </a:defRPr>
            </a:lvl4pPr>
            <a:lvl5pPr marL="2114550" indent="-285750" algn="l">
              <a:lnSpc>
                <a:spcPts val="2020"/>
              </a:lnSpc>
              <a:buSzPct val="100000"/>
              <a:buFontTx/>
              <a:buBlip>
                <a:blip r:embed="rId2"/>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3"/>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4"/>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grpSp>
        <p:nvGrpSpPr>
          <p:cNvPr id="6" name="Group 5">
            <a:extLst>
              <a:ext uri="{FF2B5EF4-FFF2-40B4-BE49-F238E27FC236}">
                <a16:creationId xmlns:a16="http://schemas.microsoft.com/office/drawing/2014/main" id="{BAAAE700-338E-3D3C-13CC-2B72D122613F}"/>
              </a:ext>
            </a:extLst>
          </p:cNvPr>
          <p:cNvGrpSpPr/>
          <p:nvPr userDrawn="1"/>
        </p:nvGrpSpPr>
        <p:grpSpPr>
          <a:xfrm>
            <a:off x="335847" y="6525414"/>
            <a:ext cx="11424153" cy="274320"/>
            <a:chOff x="335847" y="6525414"/>
            <a:chExt cx="11424153" cy="274320"/>
          </a:xfrm>
        </p:grpSpPr>
        <p:pic>
          <p:nvPicPr>
            <p:cNvPr id="7" name="Picture 6" descr="A black screen with a purple border&#10;&#10;AI-generated content may be incorrect.">
              <a:extLst>
                <a:ext uri="{FF2B5EF4-FFF2-40B4-BE49-F238E27FC236}">
                  <a16:creationId xmlns:a16="http://schemas.microsoft.com/office/drawing/2014/main" id="{8BC29EFF-AD40-7A30-0252-1003A1EED3B8}"/>
                </a:ext>
              </a:extLst>
            </p:cNvPr>
            <p:cNvPicPr>
              <a:picLocks noChangeAspect="1"/>
            </p:cNvPicPr>
            <p:nvPr userDrawn="1"/>
          </p:nvPicPr>
          <p:blipFill>
            <a:blip r:embed="rId3"/>
            <a:stretch>
              <a:fillRect/>
            </a:stretch>
          </p:blipFill>
          <p:spPr>
            <a:xfrm>
              <a:off x="9868291" y="6525414"/>
              <a:ext cx="1891709" cy="274320"/>
            </a:xfrm>
            <a:prstGeom prst="rect">
              <a:avLst/>
            </a:prstGeom>
          </p:spPr>
        </p:pic>
        <p:pic>
          <p:nvPicPr>
            <p:cNvPr id="8" name="Picture 7" descr="A black and grey logo&#10;&#10;AI-generated content may be incorrect.">
              <a:extLst>
                <a:ext uri="{FF2B5EF4-FFF2-40B4-BE49-F238E27FC236}">
                  <a16:creationId xmlns:a16="http://schemas.microsoft.com/office/drawing/2014/main" id="{D319C388-6E14-ACE1-7D72-E7A13C6201FE}"/>
                </a:ext>
              </a:extLst>
            </p:cNvPr>
            <p:cNvPicPr>
              <a:picLocks noChangeAspect="1"/>
            </p:cNvPicPr>
            <p:nvPr userDrawn="1"/>
          </p:nvPicPr>
          <p:blipFill>
            <a:blip r:embed="rId4"/>
            <a:stretch>
              <a:fillRect/>
            </a:stretch>
          </p:blipFill>
          <p:spPr>
            <a:xfrm>
              <a:off x="335847" y="6525414"/>
              <a:ext cx="1344658" cy="274320"/>
            </a:xfrm>
            <a:prstGeom prst="rect">
              <a:avLst/>
            </a:prstGeom>
          </p:spPr>
        </p:pic>
        <p:sp>
          <p:nvSpPr>
            <p:cNvPr id="9" name="TextBox 8">
              <a:extLst>
                <a:ext uri="{FF2B5EF4-FFF2-40B4-BE49-F238E27FC236}">
                  <a16:creationId xmlns:a16="http://schemas.microsoft.com/office/drawing/2014/main" id="{D6871F42-716A-CFFF-5061-88738F8A0C2D}"/>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568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5EB6032B-B87F-A83D-7D7F-2F852CE634E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33F6BA9A-4A6E-2750-5A58-9D290E2DEEFE}"/>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FD1C2F86-B0B8-0A3E-5886-1D0825E8D49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9" name="TextBox 8">
            <a:extLst>
              <a:ext uri="{FF2B5EF4-FFF2-40B4-BE49-F238E27FC236}">
                <a16:creationId xmlns:a16="http://schemas.microsoft.com/office/drawing/2014/main" id="{7CC01EAF-6797-3F0F-E633-9F8C9325ED55}"/>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10" name="Content Placeholder 2">
            <a:extLst>
              <a:ext uri="{FF2B5EF4-FFF2-40B4-BE49-F238E27FC236}">
                <a16:creationId xmlns:a16="http://schemas.microsoft.com/office/drawing/2014/main" id="{A9F1471E-FB91-8DDF-5F1A-69B538D594D6}"/>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769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Light_Su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20000" y="228600"/>
            <a:ext cx="11338560" cy="425592"/>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2" name="Group 1">
            <a:extLst>
              <a:ext uri="{FF2B5EF4-FFF2-40B4-BE49-F238E27FC236}">
                <a16:creationId xmlns:a16="http://schemas.microsoft.com/office/drawing/2014/main" id="{194E9799-634E-7736-76B4-6220A70329AF}"/>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684A767D-3F86-D687-87F0-42E5F8F82CBC}"/>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E49A6899-080A-CB11-E001-0849EFA039BC}"/>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BD83557B-4935-7DE8-D7B5-DD3A59F0D9D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14" name="Text Placeholder 6">
            <a:extLst>
              <a:ext uri="{FF2B5EF4-FFF2-40B4-BE49-F238E27FC236}">
                <a16:creationId xmlns:a16="http://schemas.microsoft.com/office/drawing/2014/main" id="{2DB32DC9-CD14-7184-963C-A86EEEA32669}"/>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tx1"/>
                </a:solidFill>
                <a:latin typeface="+mj-lt"/>
              </a:defRPr>
            </a:lvl1pPr>
          </a:lstStyle>
          <a:p>
            <a:pPr lvl="0"/>
            <a:r>
              <a:rPr lang="en-US"/>
              <a:t>Click to edit Master text styles</a:t>
            </a:r>
          </a:p>
        </p:txBody>
      </p:sp>
      <p:sp>
        <p:nvSpPr>
          <p:cNvPr id="501" name="Slide Number Placeholder 501"/>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7DA59B58-B945-4B36-BC6B-9C26C933A008}" type="slidenum">
              <a:rPr lang="en-US" smtClean="0"/>
              <a:t>‹#›</a:t>
            </a:fld>
            <a:endParaRPr lang="en-US"/>
          </a:p>
        </p:txBody>
      </p:sp>
      <p:grpSp>
        <p:nvGrpSpPr>
          <p:cNvPr id="4" name="Group 3">
            <a:extLst>
              <a:ext uri="{FF2B5EF4-FFF2-40B4-BE49-F238E27FC236}">
                <a16:creationId xmlns:a16="http://schemas.microsoft.com/office/drawing/2014/main" id="{D13ABF44-7159-0310-8642-D658032AE35C}"/>
              </a:ext>
            </a:extLst>
          </p:cNvPr>
          <p:cNvGrpSpPr/>
          <p:nvPr userDrawn="1"/>
        </p:nvGrpSpPr>
        <p:grpSpPr>
          <a:xfrm>
            <a:off x="335847" y="6525414"/>
            <a:ext cx="11424153" cy="274320"/>
            <a:chOff x="335847" y="6525414"/>
            <a:chExt cx="11424153" cy="274320"/>
          </a:xfrm>
        </p:grpSpPr>
        <p:pic>
          <p:nvPicPr>
            <p:cNvPr id="6" name="Picture 5" descr="A black screen with a purple border&#10;&#10;AI-generated content may be incorrect.">
              <a:extLst>
                <a:ext uri="{FF2B5EF4-FFF2-40B4-BE49-F238E27FC236}">
                  <a16:creationId xmlns:a16="http://schemas.microsoft.com/office/drawing/2014/main" id="{DA256E40-4839-A002-DAE4-E92AC3621E44}"/>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D9790FCA-7576-E215-2F6F-5D710A40D684}"/>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8" name="TextBox 7">
              <a:extLst>
                <a:ext uri="{FF2B5EF4-FFF2-40B4-BE49-F238E27FC236}">
                  <a16:creationId xmlns:a16="http://schemas.microsoft.com/office/drawing/2014/main" id="{2B89C57F-9FD2-3D9E-C745-F36B0B48A6C5}"/>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3" name="Content Placeholder 2">
            <a:extLst>
              <a:ext uri="{FF2B5EF4-FFF2-40B4-BE49-F238E27FC236}">
                <a16:creationId xmlns:a16="http://schemas.microsoft.com/office/drawing/2014/main" id="{DBD2E08C-7819-8536-BD90-D963237DC2FA}"/>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2">
                    <a:lumMod val="25000"/>
                  </a:schemeClr>
                </a:solidFill>
                <a:latin typeface="+mn-lt"/>
              </a:defRPr>
            </a:lvl1pPr>
            <a:lvl2pPr marL="742950" indent="-285750" algn="l">
              <a:lnSpc>
                <a:spcPts val="2020"/>
              </a:lnSpc>
              <a:buSzPct val="100000"/>
              <a:buFontTx/>
              <a:buBlip>
                <a:blip r:embed="rId4"/>
              </a:buBlip>
              <a:defRPr sz="1800">
                <a:solidFill>
                  <a:schemeClr val="bg2">
                    <a:lumMod val="25000"/>
                  </a:schemeClr>
                </a:solidFill>
                <a:latin typeface="+mn-lt"/>
              </a:defRPr>
            </a:lvl2pPr>
            <a:lvl3pPr marL="1200150" indent="-285750" algn="l">
              <a:lnSpc>
                <a:spcPts val="2020"/>
              </a:lnSpc>
              <a:buSzPct val="100000"/>
              <a:buFontTx/>
              <a:buBlip>
                <a:blip r:embed="rId4"/>
              </a:buBlip>
              <a:defRPr sz="1600">
                <a:solidFill>
                  <a:schemeClr val="bg2">
                    <a:lumMod val="25000"/>
                  </a:schemeClr>
                </a:solidFill>
                <a:latin typeface="+mn-lt"/>
              </a:defRPr>
            </a:lvl3pPr>
            <a:lvl4pPr marL="1657350" indent="-285750" algn="l">
              <a:lnSpc>
                <a:spcPts val="2020"/>
              </a:lnSpc>
              <a:buSzPct val="100000"/>
              <a:buFontTx/>
              <a:buBlip>
                <a:blip r:embed="rId4"/>
              </a:buBlip>
              <a:defRPr sz="1600">
                <a:solidFill>
                  <a:schemeClr val="bg2">
                    <a:lumMod val="25000"/>
                  </a:schemeClr>
                </a:solidFill>
                <a:latin typeface="+mn-lt"/>
              </a:defRPr>
            </a:lvl4pPr>
            <a:lvl5pPr marL="2114550" indent="-285750" algn="l">
              <a:lnSpc>
                <a:spcPts val="2020"/>
              </a:lnSpc>
              <a:buSzPct val="100000"/>
              <a:buFontTx/>
              <a:buBlip>
                <a:blip r:embed="rId4"/>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355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Dark_Sub">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D88E1E-075F-16F9-E92B-5A17AA502768}"/>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E24CC322-E05B-5FA0-F1FB-CE44C7DC4AA2}"/>
              </a:ext>
            </a:extLst>
          </p:cNvPr>
          <p:cNvPicPr>
            <a:picLocks noChangeAspect="1"/>
          </p:cNvPicPr>
          <p:nvPr/>
        </p:nvPicPr>
        <p:blipFill>
          <a:blip r:embed="rId3"/>
          <a:srcRect/>
          <a:stretch/>
        </p:blipFill>
        <p:spPr>
          <a:xfrm>
            <a:off x="338835" y="6515152"/>
            <a:ext cx="1338681" cy="273100"/>
          </a:xfrm>
          <a:prstGeom prst="rect">
            <a:avLst/>
          </a:prstGeom>
        </p:spPr>
      </p:pic>
      <p:sp>
        <p:nvSpPr>
          <p:cNvPr id="4" name="TextBox 3">
            <a:extLst>
              <a:ext uri="{FF2B5EF4-FFF2-40B4-BE49-F238E27FC236}">
                <a16:creationId xmlns:a16="http://schemas.microsoft.com/office/drawing/2014/main" id="{A1FDE916-4E68-47BE-7CCA-CE1BDDE69408}"/>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4" name="Slide Number Placeholder 504"/>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907D951D-1967-483E-BB83-DA2FAF8BD3C5}" type="slidenum">
              <a:rPr lang="en-US" smtClean="0"/>
              <a:t>‹#›</a:t>
            </a:fld>
            <a:endParaRPr lang="en-US"/>
          </a:p>
        </p:txBody>
      </p:sp>
      <p:sp>
        <p:nvSpPr>
          <p:cNvPr id="7" name="Title 1">
            <a:extLst>
              <a:ext uri="{FF2B5EF4-FFF2-40B4-BE49-F238E27FC236}">
                <a16:creationId xmlns:a16="http://schemas.microsoft.com/office/drawing/2014/main" id="{3E7E6407-B729-531A-E63B-931D38FA1997}"/>
              </a:ext>
            </a:extLst>
          </p:cNvPr>
          <p:cNvSpPr>
            <a:spLocks noGrp="1"/>
          </p:cNvSpPr>
          <p:nvPr>
            <p:ph type="title"/>
          </p:nvPr>
        </p:nvSpPr>
        <p:spPr>
          <a:xfrm>
            <a:off x="420000" y="228600"/>
            <a:ext cx="11338560" cy="425592"/>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Text Placeholder 6">
            <a:extLst>
              <a:ext uri="{FF2B5EF4-FFF2-40B4-BE49-F238E27FC236}">
                <a16:creationId xmlns:a16="http://schemas.microsoft.com/office/drawing/2014/main" id="{84657EC2-CEDF-D7F5-6742-63F0C8E338CA}"/>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bg1"/>
                </a:solidFill>
                <a:latin typeface="+mj-lt"/>
              </a:defRPr>
            </a:lvl1pPr>
          </a:lstStyle>
          <a:p>
            <a:pPr lvl="0"/>
            <a:r>
              <a:rPr lang="en-US"/>
              <a:t>Click to edit Master text styles</a:t>
            </a:r>
          </a:p>
        </p:txBody>
      </p:sp>
      <p:pic>
        <p:nvPicPr>
          <p:cNvPr id="5" name="Picture 4">
            <a:extLst>
              <a:ext uri="{FF2B5EF4-FFF2-40B4-BE49-F238E27FC236}">
                <a16:creationId xmlns:a16="http://schemas.microsoft.com/office/drawing/2014/main" id="{C9B9B128-F973-EEF6-EF03-D91D80373494}"/>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9" name="Picture 8">
            <a:extLst>
              <a:ext uri="{FF2B5EF4-FFF2-40B4-BE49-F238E27FC236}">
                <a16:creationId xmlns:a16="http://schemas.microsoft.com/office/drawing/2014/main" id="{B76599BF-0C95-F285-041D-E211D0EBCB3E}"/>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10" name="TextBox 9">
            <a:extLst>
              <a:ext uri="{FF2B5EF4-FFF2-40B4-BE49-F238E27FC236}">
                <a16:creationId xmlns:a16="http://schemas.microsoft.com/office/drawing/2014/main" id="{79996EC1-CD86-C9E1-9600-D7F536EFF6C9}"/>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6" name="Content Placeholder 2">
            <a:extLst>
              <a:ext uri="{FF2B5EF4-FFF2-40B4-BE49-F238E27FC236}">
                <a16:creationId xmlns:a16="http://schemas.microsoft.com/office/drawing/2014/main" id="{9797606E-5522-2270-7E8E-8B301BF4754B}"/>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59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Only_Ligh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sp>
        <p:nvSpPr>
          <p:cNvPr id="2" name="Title 1">
            <a:extLst>
              <a:ext uri="{FF2B5EF4-FFF2-40B4-BE49-F238E27FC236}">
                <a16:creationId xmlns:a16="http://schemas.microsoft.com/office/drawing/2014/main" id="{24239D7E-847E-7ECB-B5B3-78921924BC62}"/>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3" name="Group 2">
            <a:extLst>
              <a:ext uri="{FF2B5EF4-FFF2-40B4-BE49-F238E27FC236}">
                <a16:creationId xmlns:a16="http://schemas.microsoft.com/office/drawing/2014/main" id="{EB225BBB-4B98-5FF7-84C1-7A330B9237C5}"/>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11399B78-A26E-C5D3-5977-F72D21DCEFAD}"/>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6" name="Picture 5" descr="A black and grey logo&#10;&#10;AI-generated content may be incorrect.">
              <a:extLst>
                <a:ext uri="{FF2B5EF4-FFF2-40B4-BE49-F238E27FC236}">
                  <a16:creationId xmlns:a16="http://schemas.microsoft.com/office/drawing/2014/main" id="{FD13B7C0-9011-B8D4-9EEE-6C853DFAFB6C}"/>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7" name="TextBox 6">
              <a:extLst>
                <a:ext uri="{FF2B5EF4-FFF2-40B4-BE49-F238E27FC236}">
                  <a16:creationId xmlns:a16="http://schemas.microsoft.com/office/drawing/2014/main" id="{78EAC99F-5662-C339-9764-481B7B922392}"/>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56209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A6F95571-82E2-85D7-3B9C-56BA8B5AD54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7F7BC436-961B-D816-84DF-1F889D57215D}"/>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000C47-8281-C02D-16F9-EA7DC2C581A4}"/>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D1F91332-0918-0B47-73BF-CF5E1F4FE808}"/>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909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_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77A6FE-7F15-37F5-2BCD-425A1BEB9F62}"/>
              </a:ext>
            </a:extLst>
          </p:cNvPr>
          <p:cNvGrpSpPr/>
          <p:nvPr/>
        </p:nvGrpSpPr>
        <p:grpSpPr>
          <a:xfrm>
            <a:off x="335847" y="6525414"/>
            <a:ext cx="11424153" cy="274320"/>
            <a:chOff x="335847" y="652541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2" name="Slide Number Placeholder 502"/>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63862CC-204F-4E50-8BF7-6EEE79EB8F36}" type="slidenum">
              <a:rPr lang="en-US" smtClean="0"/>
              <a:t>‹#›</a:t>
            </a:fld>
            <a:endParaRPr lang="en-US"/>
          </a:p>
        </p:txBody>
      </p:sp>
      <p:grpSp>
        <p:nvGrpSpPr>
          <p:cNvPr id="3" name="Group 2">
            <a:extLst>
              <a:ext uri="{FF2B5EF4-FFF2-40B4-BE49-F238E27FC236}">
                <a16:creationId xmlns:a16="http://schemas.microsoft.com/office/drawing/2014/main" id="{7F016BD5-A56B-5BA3-F690-D9AFCC34CA02}"/>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F57B6DD7-1C29-5CD5-E825-1A6752941061}"/>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EB161965-9496-DC09-2773-B4928F83CC1B}"/>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6" name="TextBox 5">
              <a:extLst>
                <a:ext uri="{FF2B5EF4-FFF2-40B4-BE49-F238E27FC236}">
                  <a16:creationId xmlns:a16="http://schemas.microsoft.com/office/drawing/2014/main" id="{CC0ABE36-5BB2-574A-E750-F948BA8DAE9A}"/>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90266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1AD69-9691-1E32-5B19-EADB15933819}"/>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1F889208-DB86-485A-C5EF-41C729FD141B}"/>
              </a:ext>
            </a:extLst>
          </p:cNvPr>
          <p:cNvPicPr>
            <a:picLocks noChangeAspect="1"/>
          </p:cNvPicPr>
          <p:nvPr/>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00960D57-6649-C85B-C203-A5A47F87752B}"/>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5" name="Slide Number Placeholder 505"/>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5B5F607B-51C9-463C-B8AC-22C4474A29A3}" type="slidenum">
              <a:rPr lang="en-US" smtClean="0"/>
              <a:t>‹#›</a:t>
            </a:fld>
            <a:endParaRPr lang="en-US"/>
          </a:p>
        </p:txBody>
      </p:sp>
      <p:pic>
        <p:nvPicPr>
          <p:cNvPr id="4" name="Picture 3">
            <a:extLst>
              <a:ext uri="{FF2B5EF4-FFF2-40B4-BE49-F238E27FC236}">
                <a16:creationId xmlns:a16="http://schemas.microsoft.com/office/drawing/2014/main" id="{44367700-E7B8-00A1-CA00-780B430A3123}"/>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FFD0E7-4FF1-D7DE-B8CF-6D3ADD3BC27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6A1BC7B2-6B3B-DB21-E219-33C1F3A48CF1}"/>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2399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09B0A9-4F98-C3F4-4E57-41FF83F30D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6" name="Picture 5">
            <a:extLst>
              <a:ext uri="{FF2B5EF4-FFF2-40B4-BE49-F238E27FC236}">
                <a16:creationId xmlns:a16="http://schemas.microsoft.com/office/drawing/2014/main" id="{CB4CFA25-03B5-0177-8AC1-33D467FC70EA}"/>
              </a:ext>
            </a:extLst>
          </p:cNvPr>
          <p:cNvPicPr>
            <a:picLocks noChangeAspect="1"/>
          </p:cNvPicPr>
          <p:nvPr/>
        </p:nvPicPr>
        <p:blipFill>
          <a:blip r:embed="rId3"/>
          <a:srcRect/>
          <a:stretch/>
        </p:blipFill>
        <p:spPr>
          <a:xfrm>
            <a:off x="9210430" y="6209865"/>
            <a:ext cx="2347233" cy="364855"/>
          </a:xfrm>
          <a:prstGeom prst="rect">
            <a:avLst/>
          </a:prstGeom>
        </p:spPr>
      </p:pic>
      <p:sp>
        <p:nvSpPr>
          <p:cNvPr id="8" name="Title 1">
            <a:extLst>
              <a:ext uri="{FF2B5EF4-FFF2-40B4-BE49-F238E27FC236}">
                <a16:creationId xmlns:a16="http://schemas.microsoft.com/office/drawing/2014/main" id="{D15AE0B4-EBC9-F172-55AF-5CEADF6BB87F}"/>
              </a:ext>
            </a:extLst>
          </p:cNvPr>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9" name="Text Placeholder 6">
            <a:extLst>
              <a:ext uri="{FF2B5EF4-FFF2-40B4-BE49-F238E27FC236}">
                <a16:creationId xmlns:a16="http://schemas.microsoft.com/office/drawing/2014/main" id="{5E6E9556-28FF-C72E-9775-EC041E8A5024}"/>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sp>
        <p:nvSpPr>
          <p:cNvPr id="2" name="Rectangle 1">
            <a:extLst>
              <a:ext uri="{FF2B5EF4-FFF2-40B4-BE49-F238E27FC236}">
                <a16:creationId xmlns:a16="http://schemas.microsoft.com/office/drawing/2014/main" id="{D1083F48-B9B5-250C-EC88-908B62BD3AFC}"/>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2AC4D28D-5628-0FAB-BB37-9B5095BB19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5" name="Picture 4">
            <a:extLst>
              <a:ext uri="{FF2B5EF4-FFF2-40B4-BE49-F238E27FC236}">
                <a16:creationId xmlns:a16="http://schemas.microsoft.com/office/drawing/2014/main" id="{B8EC43E4-6A73-99D5-F9A3-E7D3D97EBF1A}"/>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7" name="Rectangle 6">
            <a:extLst>
              <a:ext uri="{FF2B5EF4-FFF2-40B4-BE49-F238E27FC236}">
                <a16:creationId xmlns:a16="http://schemas.microsoft.com/office/drawing/2014/main" id="{D1A58DCA-200A-6AF9-E5F0-31C116120388}"/>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4504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_Crys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1"/>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2" name="Text Placeholder 6">
            <a:extLst>
              <a:ext uri="{FF2B5EF4-FFF2-40B4-BE49-F238E27FC236}">
                <a16:creationId xmlns:a16="http://schemas.microsoft.com/office/drawing/2014/main" id="{14915D0C-CB06-62F7-E67D-7F5B928F57E1}"/>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4B798847-E310-8470-FC39-FCD772C71B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5" name="Rectangle 4">
            <a:extLst>
              <a:ext uri="{FF2B5EF4-FFF2-40B4-BE49-F238E27FC236}">
                <a16:creationId xmlns:a16="http://schemas.microsoft.com/office/drawing/2014/main" id="{954F02A1-F26A-CCE0-8A13-B5F534431235}"/>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CF92799-6CFD-FC58-A1FC-8FAACB71FBF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6" name="Rectangle 5">
            <a:extLst>
              <a:ext uri="{FF2B5EF4-FFF2-40B4-BE49-F238E27FC236}">
                <a16:creationId xmlns:a16="http://schemas.microsoft.com/office/drawing/2014/main" id="{C71AF492-0819-EC08-ED38-56959E5585DD}"/>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320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ing_Dark">
    <p:bg>
      <p:bgPr>
        <a:solidFill>
          <a:srgbClr val="281A42"/>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FCAD75B8-1961-0901-7197-778645E6878F}"/>
              </a:ext>
            </a:extLst>
          </p:cNvPr>
          <p:cNvPicPr>
            <a:picLocks noChangeAspect="1"/>
          </p:cNvPicPr>
          <p:nvPr/>
        </p:nvPicPr>
        <p:blipFill>
          <a:blip r:embed="rId3"/>
          <a:srcRect/>
          <a:stretch/>
        </p:blipFill>
        <p:spPr>
          <a:xfrm>
            <a:off x="9210430" y="6209865"/>
            <a:ext cx="2347233" cy="364855"/>
          </a:xfrm>
          <a:prstGeom prst="rect">
            <a:avLst/>
          </a:prstGeom>
        </p:spPr>
      </p:pic>
      <p:pic>
        <p:nvPicPr>
          <p:cNvPr id="3" name="Picture 2">
            <a:extLst>
              <a:ext uri="{FF2B5EF4-FFF2-40B4-BE49-F238E27FC236}">
                <a16:creationId xmlns:a16="http://schemas.microsoft.com/office/drawing/2014/main" id="{EE0B02FF-8604-586E-FCEA-F2630787735E}"/>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pic>
        <p:nvPicPr>
          <p:cNvPr id="4" name="Picture 3">
            <a:extLst>
              <a:ext uri="{FF2B5EF4-FFF2-40B4-BE49-F238E27FC236}">
                <a16:creationId xmlns:a16="http://schemas.microsoft.com/office/drawing/2014/main" id="{929837DF-36CB-F9C7-2AF7-86255EDA03D9}"/>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5" name="TextBox 4">
            <a:extLst>
              <a:ext uri="{FF2B5EF4-FFF2-40B4-BE49-F238E27FC236}">
                <a16:creationId xmlns:a16="http://schemas.microsoft.com/office/drawing/2014/main" id="{0E200A60-B051-BEDC-E25C-CAC8A419D6D2}"/>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545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ing_PivotPurple">
    <p:bg>
      <p:bgPr>
        <a:solidFill>
          <a:srgbClr val="755FFF"/>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41DCE326-F1D6-8FF0-0CFD-1F01F428AF76}"/>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sp>
        <p:nvSpPr>
          <p:cNvPr id="3" name="TextBox 2">
            <a:extLst>
              <a:ext uri="{FF2B5EF4-FFF2-40B4-BE49-F238E27FC236}">
                <a16:creationId xmlns:a16="http://schemas.microsoft.com/office/drawing/2014/main" id="{CD30B84A-CD15-A69D-7C0D-0A25B01CE3A9}"/>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70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17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42" Type="http://schemas.openxmlformats.org/officeDocument/2006/relationships/image" Target="../media/image55.png"/><Relationship Id="rId47" Type="http://schemas.openxmlformats.org/officeDocument/2006/relationships/image" Target="../media/image60.png"/><Relationship Id="rId63" Type="http://schemas.openxmlformats.org/officeDocument/2006/relationships/image" Target="../media/image76.png"/><Relationship Id="rId68" Type="http://schemas.openxmlformats.org/officeDocument/2006/relationships/image" Target="../media/image81.png"/><Relationship Id="rId84" Type="http://schemas.openxmlformats.org/officeDocument/2006/relationships/image" Target="../media/image97.png"/><Relationship Id="rId89" Type="http://schemas.openxmlformats.org/officeDocument/2006/relationships/image" Target="../media/image102.png"/><Relationship Id="rId16" Type="http://schemas.openxmlformats.org/officeDocument/2006/relationships/image" Target="../media/image29.jpg"/><Relationship Id="rId11" Type="http://schemas.openxmlformats.org/officeDocument/2006/relationships/image" Target="../media/image24.png"/><Relationship Id="rId32" Type="http://schemas.openxmlformats.org/officeDocument/2006/relationships/image" Target="../media/image45.png"/><Relationship Id="rId37" Type="http://schemas.openxmlformats.org/officeDocument/2006/relationships/image" Target="../media/image50.jpg"/><Relationship Id="rId53" Type="http://schemas.openxmlformats.org/officeDocument/2006/relationships/image" Target="../media/image66.jpg"/><Relationship Id="rId58" Type="http://schemas.openxmlformats.org/officeDocument/2006/relationships/image" Target="../media/image71.jpg"/><Relationship Id="rId74" Type="http://schemas.openxmlformats.org/officeDocument/2006/relationships/image" Target="../media/image87.png"/><Relationship Id="rId79" Type="http://schemas.openxmlformats.org/officeDocument/2006/relationships/image" Target="../media/image92.jpg"/><Relationship Id="rId5" Type="http://schemas.openxmlformats.org/officeDocument/2006/relationships/image" Target="../media/image18.jpg"/><Relationship Id="rId90" Type="http://schemas.openxmlformats.org/officeDocument/2006/relationships/image" Target="../media/image103.png"/><Relationship Id="rId95" Type="http://schemas.openxmlformats.org/officeDocument/2006/relationships/image" Target="../media/image108.png"/><Relationship Id="rId22" Type="http://schemas.openxmlformats.org/officeDocument/2006/relationships/image" Target="../media/image35.png"/><Relationship Id="rId27" Type="http://schemas.openxmlformats.org/officeDocument/2006/relationships/image" Target="../media/image40.png"/><Relationship Id="rId43" Type="http://schemas.openxmlformats.org/officeDocument/2006/relationships/image" Target="../media/image56.png"/><Relationship Id="rId48" Type="http://schemas.openxmlformats.org/officeDocument/2006/relationships/image" Target="../media/image61.png"/><Relationship Id="rId64" Type="http://schemas.openxmlformats.org/officeDocument/2006/relationships/image" Target="../media/image77.png"/><Relationship Id="rId69" Type="http://schemas.openxmlformats.org/officeDocument/2006/relationships/image" Target="../media/image82.png"/><Relationship Id="rId8" Type="http://schemas.openxmlformats.org/officeDocument/2006/relationships/image" Target="../media/image21.png"/><Relationship Id="rId51" Type="http://schemas.openxmlformats.org/officeDocument/2006/relationships/image" Target="../media/image64.jpg"/><Relationship Id="rId72" Type="http://schemas.openxmlformats.org/officeDocument/2006/relationships/image" Target="../media/image85.png"/><Relationship Id="rId80" Type="http://schemas.openxmlformats.org/officeDocument/2006/relationships/image" Target="../media/image93.jpg"/><Relationship Id="rId85" Type="http://schemas.openxmlformats.org/officeDocument/2006/relationships/image" Target="../media/image98.png"/><Relationship Id="rId93" Type="http://schemas.openxmlformats.org/officeDocument/2006/relationships/image" Target="../media/image106.png"/><Relationship Id="rId3" Type="http://schemas.openxmlformats.org/officeDocument/2006/relationships/image" Target="../media/image16.jp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jpg"/><Relationship Id="rId33" Type="http://schemas.openxmlformats.org/officeDocument/2006/relationships/image" Target="../media/image46.jp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2.jpg"/><Relationship Id="rId67" Type="http://schemas.openxmlformats.org/officeDocument/2006/relationships/image" Target="../media/image80.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jpg"/><Relationship Id="rId62" Type="http://schemas.openxmlformats.org/officeDocument/2006/relationships/image" Target="../media/image75.png"/><Relationship Id="rId70" Type="http://schemas.openxmlformats.org/officeDocument/2006/relationships/image" Target="../media/image83.png"/><Relationship Id="rId75" Type="http://schemas.openxmlformats.org/officeDocument/2006/relationships/image" Target="../media/image88.jpg"/><Relationship Id="rId83" Type="http://schemas.openxmlformats.org/officeDocument/2006/relationships/image" Target="../media/image96.jpg"/><Relationship Id="rId88" Type="http://schemas.openxmlformats.org/officeDocument/2006/relationships/image" Target="../media/image101.png"/><Relationship Id="rId91" Type="http://schemas.openxmlformats.org/officeDocument/2006/relationships/image" Target="../media/image104.jpg"/><Relationship Id="rId1" Type="http://schemas.openxmlformats.org/officeDocument/2006/relationships/slideLayout" Target="../slideLayouts/slideLayout8.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jpg"/><Relationship Id="rId28" Type="http://schemas.openxmlformats.org/officeDocument/2006/relationships/image" Target="../media/image41.jpg"/><Relationship Id="rId36" Type="http://schemas.openxmlformats.org/officeDocument/2006/relationships/image" Target="../media/image49.jpg"/><Relationship Id="rId49" Type="http://schemas.openxmlformats.org/officeDocument/2006/relationships/image" Target="../media/image62.jpg"/><Relationship Id="rId57" Type="http://schemas.openxmlformats.org/officeDocument/2006/relationships/image" Target="../media/image70.jp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jpg"/><Relationship Id="rId52" Type="http://schemas.openxmlformats.org/officeDocument/2006/relationships/image" Target="../media/image65.png"/><Relationship Id="rId60" Type="http://schemas.openxmlformats.org/officeDocument/2006/relationships/image" Target="../media/image73.jpg"/><Relationship Id="rId65" Type="http://schemas.openxmlformats.org/officeDocument/2006/relationships/image" Target="../media/image78.png"/><Relationship Id="rId73" Type="http://schemas.openxmlformats.org/officeDocument/2006/relationships/image" Target="../media/image86.png"/><Relationship Id="rId78" Type="http://schemas.openxmlformats.org/officeDocument/2006/relationships/image" Target="../media/image91.png"/><Relationship Id="rId81" Type="http://schemas.openxmlformats.org/officeDocument/2006/relationships/image" Target="../media/image94.jpg"/><Relationship Id="rId86" Type="http://schemas.openxmlformats.org/officeDocument/2006/relationships/image" Target="../media/image99.png"/><Relationship Id="rId94" Type="http://schemas.openxmlformats.org/officeDocument/2006/relationships/image" Target="../media/image107.jpg"/><Relationship Id="rId4" Type="http://schemas.openxmlformats.org/officeDocument/2006/relationships/image" Target="../media/image17.png"/><Relationship Id="rId9" Type="http://schemas.openxmlformats.org/officeDocument/2006/relationships/image" Target="../media/image22.jp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 Id="rId34" Type="http://schemas.openxmlformats.org/officeDocument/2006/relationships/image" Target="../media/image47.jpg"/><Relationship Id="rId50" Type="http://schemas.openxmlformats.org/officeDocument/2006/relationships/image" Target="../media/image63.jpg"/><Relationship Id="rId55" Type="http://schemas.openxmlformats.org/officeDocument/2006/relationships/image" Target="../media/image68.png"/><Relationship Id="rId76" Type="http://schemas.openxmlformats.org/officeDocument/2006/relationships/image" Target="../media/image89.png"/><Relationship Id="rId7" Type="http://schemas.openxmlformats.org/officeDocument/2006/relationships/image" Target="../media/image20.jpg"/><Relationship Id="rId71" Type="http://schemas.openxmlformats.org/officeDocument/2006/relationships/image" Target="../media/image84.jpg"/><Relationship Id="rId92" Type="http://schemas.openxmlformats.org/officeDocument/2006/relationships/image" Target="../media/image105.png"/><Relationship Id="rId2" Type="http://schemas.openxmlformats.org/officeDocument/2006/relationships/image" Target="../media/image15.jpg"/><Relationship Id="rId29" Type="http://schemas.openxmlformats.org/officeDocument/2006/relationships/image" Target="../media/image42.png"/><Relationship Id="rId24" Type="http://schemas.openxmlformats.org/officeDocument/2006/relationships/image" Target="../media/image37.jpg"/><Relationship Id="rId40" Type="http://schemas.openxmlformats.org/officeDocument/2006/relationships/image" Target="../media/image53.png"/><Relationship Id="rId45" Type="http://schemas.openxmlformats.org/officeDocument/2006/relationships/image" Target="../media/image58.jpg"/><Relationship Id="rId66" Type="http://schemas.openxmlformats.org/officeDocument/2006/relationships/image" Target="../media/image79.png"/><Relationship Id="rId87" Type="http://schemas.openxmlformats.org/officeDocument/2006/relationships/image" Target="../media/image100.jpg"/><Relationship Id="rId61" Type="http://schemas.openxmlformats.org/officeDocument/2006/relationships/image" Target="../media/image74.png"/><Relationship Id="rId82" Type="http://schemas.openxmlformats.org/officeDocument/2006/relationships/image" Target="../media/image95.png"/><Relationship Id="rId19" Type="http://schemas.openxmlformats.org/officeDocument/2006/relationships/image" Target="../media/image32.jpg"/><Relationship Id="rId14" Type="http://schemas.openxmlformats.org/officeDocument/2006/relationships/image" Target="../media/image27.png"/><Relationship Id="rId30" Type="http://schemas.openxmlformats.org/officeDocument/2006/relationships/image" Target="../media/image43.png"/><Relationship Id="rId35" Type="http://schemas.openxmlformats.org/officeDocument/2006/relationships/image" Target="../media/image48.png"/><Relationship Id="rId56" Type="http://schemas.openxmlformats.org/officeDocument/2006/relationships/image" Target="../media/image69.png"/><Relationship Id="rId77" Type="http://schemas.openxmlformats.org/officeDocument/2006/relationships/image" Target="../media/image90.jpg"/></Relationships>
</file>

<file path=ppt/slides/_rels/slide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6.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6.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8.png"/><Relationship Id="rId3" Type="http://schemas.openxmlformats.org/officeDocument/2006/relationships/image" Target="../media/image121.png"/><Relationship Id="rId7" Type="http://schemas.openxmlformats.org/officeDocument/2006/relationships/image" Target="../media/image123.png"/><Relationship Id="rId12" Type="http://schemas.openxmlformats.org/officeDocument/2006/relationships/image" Target="../media/image127.png"/><Relationship Id="rId2" Type="http://schemas.openxmlformats.org/officeDocument/2006/relationships/slide" Target="slide6.xml"/><Relationship Id="rId1" Type="http://schemas.openxmlformats.org/officeDocument/2006/relationships/slideLayout" Target="../slideLayouts/slideLayout6.xml"/><Relationship Id="rId6" Type="http://schemas.openxmlformats.org/officeDocument/2006/relationships/slide" Target="slide38.xml"/><Relationship Id="rId11" Type="http://schemas.openxmlformats.org/officeDocument/2006/relationships/image" Target="../media/image126.png"/><Relationship Id="rId5" Type="http://schemas.openxmlformats.org/officeDocument/2006/relationships/slide" Target="slide31.xml"/><Relationship Id="rId10" Type="http://schemas.openxmlformats.org/officeDocument/2006/relationships/image" Target="../media/image117.png"/><Relationship Id="rId4" Type="http://schemas.openxmlformats.org/officeDocument/2006/relationships/image" Target="../media/image122.png"/><Relationship Id="rId9" Type="http://schemas.openxmlformats.org/officeDocument/2006/relationships/image" Target="../media/image125.png"/><Relationship Id="rId14" Type="http://schemas.openxmlformats.org/officeDocument/2006/relationships/image" Target="../media/image1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8.xml"/><Relationship Id="rId5" Type="http://schemas.openxmlformats.org/officeDocument/2006/relationships/image" Target="../media/image135.png"/><Relationship Id="rId4" Type="http://schemas.openxmlformats.org/officeDocument/2006/relationships/image" Target="../media/image134.png"/></Relationships>
</file>

<file path=ppt/slides/_rels/slide1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36.png"/><Relationship Id="rId1" Type="http://schemas.openxmlformats.org/officeDocument/2006/relationships/slideLayout" Target="../slideLayouts/slideLayout8.xml"/><Relationship Id="rId4" Type="http://schemas.openxmlformats.org/officeDocument/2006/relationships/image" Target="../media/image1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38.png"/><Relationship Id="rId1" Type="http://schemas.openxmlformats.org/officeDocument/2006/relationships/slideLayout" Target="../slideLayouts/slideLayout4.xml"/><Relationship Id="rId6" Type="http://schemas.openxmlformats.org/officeDocument/2006/relationships/image" Target="../media/image140.png"/><Relationship Id="rId5" Type="http://schemas.openxmlformats.org/officeDocument/2006/relationships/image" Target="../media/image117.png"/><Relationship Id="rId4" Type="http://schemas.openxmlformats.org/officeDocument/2006/relationships/image" Target="../media/image139.png"/></Relationships>
</file>

<file path=ppt/slides/_rels/slide1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image" Target="../media/image142.png"/><Relationship Id="rId1" Type="http://schemas.openxmlformats.org/officeDocument/2006/relationships/slideLayout" Target="../slideLayouts/slideLayout6.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4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49.emf"/><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png"/><Relationship Id="rId1" Type="http://schemas.openxmlformats.org/officeDocument/2006/relationships/slideLayout" Target="../slideLayouts/slideLayout8.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0.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8.xml"/><Relationship Id="rId4" Type="http://schemas.openxmlformats.org/officeDocument/2006/relationships/image" Target="../media/image160.png"/></Relationships>
</file>

<file path=ppt/slides/_rels/slide4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E3BF-A9DE-854B-1F47-E9CCA56C5E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146C6F-8C3C-BC15-2776-858725514D35}"/>
              </a:ext>
            </a:extLst>
          </p:cNvPr>
          <p:cNvSpPr>
            <a:spLocks noGrp="1"/>
          </p:cNvSpPr>
          <p:nvPr>
            <p:ph type="title"/>
          </p:nvPr>
        </p:nvSpPr>
        <p:spPr>
          <a:noFill/>
        </p:spPr>
        <p:txBody>
          <a:bodyPr/>
          <a:lstStyle/>
          <a:p>
            <a:r>
              <a:rPr lang="en-US" dirty="0"/>
              <a:t>Talent to Value Showcase</a:t>
            </a:r>
          </a:p>
        </p:txBody>
      </p:sp>
      <p:sp>
        <p:nvSpPr>
          <p:cNvPr id="3" name="Text Placeholder 2">
            <a:extLst>
              <a:ext uri="{FF2B5EF4-FFF2-40B4-BE49-F238E27FC236}">
                <a16:creationId xmlns:a16="http://schemas.microsoft.com/office/drawing/2014/main" id="{017C6133-95A2-E63A-671D-77A5BF675A2C}"/>
              </a:ext>
            </a:extLst>
          </p:cNvPr>
          <p:cNvSpPr>
            <a:spLocks noGrp="1"/>
          </p:cNvSpPr>
          <p:nvPr>
            <p:ph type="body" idx="12"/>
          </p:nvPr>
        </p:nvSpPr>
        <p:spPr>
          <a:noFill/>
        </p:spPr>
        <p:txBody>
          <a:bodyPr lIns="91440" tIns="45720" rIns="91440" bIns="45720" anchor="t"/>
          <a:lstStyle/>
          <a:p>
            <a:r>
              <a:rPr lang="en-US" dirty="0"/>
              <a:t>July 2025</a:t>
            </a:r>
          </a:p>
        </p:txBody>
      </p:sp>
    </p:spTree>
    <p:extLst>
      <p:ext uri="{BB962C8B-B14F-4D97-AF65-F5344CB8AC3E}">
        <p14:creationId xmlns:p14="http://schemas.microsoft.com/office/powerpoint/2010/main" val="1888171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9047D3-014E-9134-9A22-E0C993C3AC45}"/>
              </a:ext>
            </a:extLst>
          </p:cNvPr>
          <p:cNvSpPr>
            <a:spLocks noGrp="1"/>
          </p:cNvSpPr>
          <p:nvPr>
            <p:ph type="sldNum" sz="quarter" idx="4"/>
          </p:nvPr>
        </p:nvSpPr>
        <p:spPr/>
        <p:txBody>
          <a:bodyPr/>
          <a:lstStyle/>
          <a:p>
            <a:pPr algn="ctr"/>
            <a:fld id="{7DA59B58-B945-4B36-BC6B-9C26C933A008}" type="slidenum">
              <a:rPr lang="en-US" smtClean="0"/>
              <a:t>2</a:t>
            </a:fld>
            <a:endParaRPr lang="en-US"/>
          </a:p>
        </p:txBody>
      </p:sp>
      <p:sp>
        <p:nvSpPr>
          <p:cNvPr id="2" name="Title 1">
            <a:extLst>
              <a:ext uri="{FF2B5EF4-FFF2-40B4-BE49-F238E27FC236}">
                <a16:creationId xmlns:a16="http://schemas.microsoft.com/office/drawing/2014/main" id="{44056D7F-6592-AC6C-3780-680D933A691B}"/>
              </a:ext>
            </a:extLst>
          </p:cNvPr>
          <p:cNvSpPr>
            <a:spLocks noGrp="1"/>
          </p:cNvSpPr>
          <p:nvPr>
            <p:ph type="title"/>
          </p:nvPr>
        </p:nvSpPr>
        <p:spPr/>
        <p:txBody>
          <a:bodyPr/>
          <a:lstStyle/>
          <a:p>
            <a:r>
              <a:rPr lang="en-US" dirty="0"/>
              <a:t>Our </a:t>
            </a:r>
            <a:r>
              <a:rPr lang="en-US" dirty="0">
                <a:solidFill>
                  <a:schemeClr val="accent1"/>
                </a:solidFill>
              </a:rPr>
              <a:t>Clients</a:t>
            </a:r>
            <a:endParaRPr lang="en-US" dirty="0"/>
          </a:p>
        </p:txBody>
      </p:sp>
      <p:sp>
        <p:nvSpPr>
          <p:cNvPr id="6" name="object 6">
            <a:extLst>
              <a:ext uri="{FF2B5EF4-FFF2-40B4-BE49-F238E27FC236}">
                <a16:creationId xmlns:a16="http://schemas.microsoft.com/office/drawing/2014/main" id="{D9F984AB-94AE-0CEB-F0F2-F98B7ED76D0A}"/>
              </a:ext>
            </a:extLst>
          </p:cNvPr>
          <p:cNvSpPr txBox="1"/>
          <p:nvPr/>
        </p:nvSpPr>
        <p:spPr>
          <a:xfrm>
            <a:off x="290512" y="693292"/>
            <a:ext cx="3324225" cy="1368965"/>
          </a:xfrm>
          <a:prstGeom prst="rect">
            <a:avLst/>
          </a:prstGeom>
          <a:ln w="12700">
            <a:solidFill>
              <a:srgbClr val="765FFF"/>
            </a:solidFill>
          </a:ln>
        </p:spPr>
        <p:txBody>
          <a:bodyPr vert="horz" wrap="square" lIns="0" tIns="75565" rIns="0" bIns="0" rtlCol="0">
            <a:spAutoFit/>
          </a:bodyPr>
          <a:lstStyle/>
          <a:p>
            <a:pPr marL="109220">
              <a:lnSpc>
                <a:spcPct val="100000"/>
              </a:lnSpc>
              <a:spcBef>
                <a:spcPts val="595"/>
              </a:spcBef>
            </a:pPr>
            <a:r>
              <a:rPr lang="en-US" sz="1200" b="1" spc="-25" dirty="0">
                <a:solidFill>
                  <a:srgbClr val="281A42"/>
                </a:solidFill>
                <a:latin typeface="Segoe UI" pitchFamily="34" charset="0"/>
                <a:cs typeface="Arial"/>
              </a:rPr>
              <a:t>PRIVATE EQUITY</a:t>
            </a: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endParaRPr lang="en-US" sz="1200" b="1" spc="-25" dirty="0">
              <a:latin typeface="Segoe UI" pitchFamily="34" charset="0"/>
              <a:cs typeface="Arial"/>
            </a:endParaRPr>
          </a:p>
        </p:txBody>
      </p:sp>
      <p:sp>
        <p:nvSpPr>
          <p:cNvPr id="7" name="object 21">
            <a:extLst>
              <a:ext uri="{FF2B5EF4-FFF2-40B4-BE49-F238E27FC236}">
                <a16:creationId xmlns:a16="http://schemas.microsoft.com/office/drawing/2014/main" id="{F8689036-0894-A73B-79D3-5ABB9C375882}"/>
              </a:ext>
            </a:extLst>
          </p:cNvPr>
          <p:cNvSpPr/>
          <p:nvPr/>
        </p:nvSpPr>
        <p:spPr>
          <a:xfrm>
            <a:off x="3871976" y="693292"/>
            <a:ext cx="2295525" cy="1343025"/>
          </a:xfrm>
          <a:custGeom>
            <a:avLst/>
            <a:gdLst/>
            <a:ahLst/>
            <a:cxnLst/>
            <a:rect l="l" t="t" r="r" b="b"/>
            <a:pathLst>
              <a:path w="2295525" h="1343025">
                <a:moveTo>
                  <a:pt x="0" y="1343025"/>
                </a:moveTo>
                <a:lnTo>
                  <a:pt x="2295525" y="1343025"/>
                </a:lnTo>
                <a:lnTo>
                  <a:pt x="2295525" y="0"/>
                </a:lnTo>
                <a:lnTo>
                  <a:pt x="0" y="0"/>
                </a:lnTo>
                <a:lnTo>
                  <a:pt x="0" y="1343025"/>
                </a:lnTo>
                <a:close/>
              </a:path>
            </a:pathLst>
          </a:custGeom>
          <a:ln w="12700">
            <a:solidFill>
              <a:srgbClr val="765FFF"/>
            </a:solidFill>
          </a:ln>
        </p:spPr>
        <p:txBody>
          <a:bodyPr wrap="square" lIns="0" tIns="0" rIns="0" bIns="0" rtlCol="0"/>
          <a:lstStyle/>
          <a:p>
            <a:endParaRPr b="1" spc="-25" dirty="0">
              <a:latin typeface="Segoe UI" pitchFamily="34" charset="0"/>
            </a:endParaRPr>
          </a:p>
        </p:txBody>
      </p:sp>
      <p:sp>
        <p:nvSpPr>
          <p:cNvPr id="8" name="object 22">
            <a:extLst>
              <a:ext uri="{FF2B5EF4-FFF2-40B4-BE49-F238E27FC236}">
                <a16:creationId xmlns:a16="http://schemas.microsoft.com/office/drawing/2014/main" id="{B552AEC7-BAB0-8E10-D5CC-7C1D538F4676}"/>
              </a:ext>
            </a:extLst>
          </p:cNvPr>
          <p:cNvSpPr txBox="1"/>
          <p:nvPr/>
        </p:nvSpPr>
        <p:spPr>
          <a:xfrm>
            <a:off x="3923919" y="773239"/>
            <a:ext cx="1879600" cy="197490"/>
          </a:xfrm>
          <a:prstGeom prst="rect">
            <a:avLst/>
          </a:prstGeom>
        </p:spPr>
        <p:txBody>
          <a:bodyPr vert="horz" wrap="square" lIns="0" tIns="12700" rIns="0" bIns="0" rtlCol="0">
            <a:spAutoFit/>
          </a:bodyPr>
          <a:lstStyle/>
          <a:p>
            <a:pPr marL="12700">
              <a:lnSpc>
                <a:spcPct val="100000"/>
              </a:lnSpc>
              <a:spcBef>
                <a:spcPts val="100"/>
              </a:spcBef>
            </a:pPr>
            <a:r>
              <a:rPr lang="en-US" sz="1200" b="1" spc="-25" dirty="0">
                <a:solidFill>
                  <a:srgbClr val="281A42"/>
                </a:solidFill>
                <a:latin typeface="Segoe UI" pitchFamily="34" charset="0"/>
                <a:cs typeface="Arial"/>
              </a:rPr>
              <a:t>PROFESSIONAL SERVICES</a:t>
            </a:r>
            <a:endParaRPr lang="en-US" sz="1200" b="1" spc="-25" dirty="0">
              <a:latin typeface="Segoe UI" pitchFamily="34" charset="0"/>
              <a:cs typeface="Arial"/>
            </a:endParaRPr>
          </a:p>
        </p:txBody>
      </p:sp>
      <p:sp>
        <p:nvSpPr>
          <p:cNvPr id="9" name="object 23">
            <a:extLst>
              <a:ext uri="{FF2B5EF4-FFF2-40B4-BE49-F238E27FC236}">
                <a16:creationId xmlns:a16="http://schemas.microsoft.com/office/drawing/2014/main" id="{C6948A7A-1247-00B9-DC25-B1C6666CD567}"/>
              </a:ext>
            </a:extLst>
          </p:cNvPr>
          <p:cNvSpPr txBox="1"/>
          <p:nvPr/>
        </p:nvSpPr>
        <p:spPr>
          <a:xfrm>
            <a:off x="6405626" y="3684079"/>
            <a:ext cx="5543550" cy="2762250"/>
          </a:xfrm>
          <a:prstGeom prst="rect">
            <a:avLst/>
          </a:prstGeom>
          <a:ln w="12700">
            <a:solidFill>
              <a:srgbClr val="765FFF"/>
            </a:solidFill>
          </a:ln>
        </p:spPr>
        <p:txBody>
          <a:bodyPr vert="horz" wrap="square" lIns="0" tIns="151130" rIns="0" bIns="0" rtlCol="0">
            <a:spAutoFit/>
          </a:bodyPr>
          <a:lstStyle/>
          <a:p>
            <a:pPr marL="120650">
              <a:lnSpc>
                <a:spcPct val="100000"/>
              </a:lnSpc>
              <a:spcBef>
                <a:spcPts val="1190"/>
              </a:spcBef>
            </a:pPr>
            <a:r>
              <a:rPr sz="1200" b="1" spc="-10" dirty="0">
                <a:solidFill>
                  <a:srgbClr val="281A42"/>
                </a:solidFill>
                <a:latin typeface="Segoe UI" pitchFamily="34" charset="0"/>
                <a:cs typeface="Arial"/>
              </a:rPr>
              <a:t>OTHER</a:t>
            </a:r>
            <a:endParaRPr sz="1200" spc="-10" dirty="0">
              <a:latin typeface="Arial" pitchFamily="34" charset="0"/>
              <a:cs typeface="Arial"/>
            </a:endParaRPr>
          </a:p>
        </p:txBody>
      </p:sp>
      <p:sp>
        <p:nvSpPr>
          <p:cNvPr id="10" name="object 24">
            <a:extLst>
              <a:ext uri="{FF2B5EF4-FFF2-40B4-BE49-F238E27FC236}">
                <a16:creationId xmlns:a16="http://schemas.microsoft.com/office/drawing/2014/main" id="{AB0891E3-477A-ED44-4AA5-D78257ECB49F}"/>
              </a:ext>
            </a:extLst>
          </p:cNvPr>
          <p:cNvSpPr txBox="1"/>
          <p:nvPr/>
        </p:nvSpPr>
        <p:spPr>
          <a:xfrm>
            <a:off x="3871976" y="3684143"/>
            <a:ext cx="2295525" cy="1333500"/>
          </a:xfrm>
          <a:prstGeom prst="rect">
            <a:avLst/>
          </a:prstGeom>
          <a:ln w="12700">
            <a:solidFill>
              <a:srgbClr val="765FFF"/>
            </a:solidFill>
          </a:ln>
        </p:spPr>
        <p:txBody>
          <a:bodyPr vert="horz" wrap="square" lIns="0" tIns="97155" rIns="0" bIns="0" rtlCol="0">
            <a:spAutoFit/>
          </a:bodyPr>
          <a:lstStyle/>
          <a:p>
            <a:pPr marL="125730">
              <a:lnSpc>
                <a:spcPct val="100000"/>
              </a:lnSpc>
              <a:spcBef>
                <a:spcPts val="765"/>
              </a:spcBef>
            </a:pPr>
            <a:r>
              <a:rPr sz="1200" b="1" spc="-10" dirty="0">
                <a:solidFill>
                  <a:srgbClr val="281A42"/>
                </a:solidFill>
                <a:latin typeface="Segoe UI" pitchFamily="34" charset="0"/>
                <a:cs typeface="Arial"/>
              </a:rPr>
              <a:t>EDUCATION</a:t>
            </a:r>
            <a:endParaRPr sz="1200" spc="-10" dirty="0">
              <a:latin typeface="Arial" pitchFamily="34" charset="0"/>
              <a:cs typeface="Arial"/>
            </a:endParaRPr>
          </a:p>
        </p:txBody>
      </p:sp>
      <p:sp>
        <p:nvSpPr>
          <p:cNvPr id="11" name="object 25">
            <a:extLst>
              <a:ext uri="{FF2B5EF4-FFF2-40B4-BE49-F238E27FC236}">
                <a16:creationId xmlns:a16="http://schemas.microsoft.com/office/drawing/2014/main" id="{5A490BF0-2CAD-B52D-2F1E-9B1546946E3F}"/>
              </a:ext>
            </a:extLst>
          </p:cNvPr>
          <p:cNvSpPr txBox="1"/>
          <p:nvPr/>
        </p:nvSpPr>
        <p:spPr>
          <a:xfrm>
            <a:off x="290512" y="3674618"/>
            <a:ext cx="3324225" cy="1343025"/>
          </a:xfrm>
          <a:prstGeom prst="rect">
            <a:avLst/>
          </a:prstGeom>
          <a:ln w="12700">
            <a:solidFill>
              <a:srgbClr val="765FFF"/>
            </a:solidFill>
          </a:ln>
        </p:spPr>
        <p:txBody>
          <a:bodyPr vert="horz" wrap="square" lIns="0" tIns="106045" rIns="0" bIns="0" rtlCol="0">
            <a:spAutoFit/>
          </a:bodyPr>
          <a:lstStyle/>
          <a:p>
            <a:pPr marL="93980">
              <a:lnSpc>
                <a:spcPct val="100000"/>
              </a:lnSpc>
              <a:spcBef>
                <a:spcPts val="835"/>
              </a:spcBef>
            </a:pPr>
            <a:r>
              <a:rPr sz="1200" b="1" spc="-10" dirty="0">
                <a:solidFill>
                  <a:srgbClr val="281A42"/>
                </a:solidFill>
                <a:latin typeface="Segoe UI" pitchFamily="34" charset="0"/>
                <a:cs typeface="Arial"/>
              </a:rPr>
              <a:t>PHARMECEUTICALS AND LIFE SCIENCES</a:t>
            </a:r>
            <a:endParaRPr sz="1200" spc="-10" dirty="0">
              <a:latin typeface="Arial" pitchFamily="34" charset="0"/>
              <a:cs typeface="Arial"/>
            </a:endParaRPr>
          </a:p>
        </p:txBody>
      </p:sp>
      <p:sp>
        <p:nvSpPr>
          <p:cNvPr id="12" name="object 26">
            <a:extLst>
              <a:ext uri="{FF2B5EF4-FFF2-40B4-BE49-F238E27FC236}">
                <a16:creationId xmlns:a16="http://schemas.microsoft.com/office/drawing/2014/main" id="{2DCBEEA4-790A-14A3-DDD8-663E3E81DE17}"/>
              </a:ext>
            </a:extLst>
          </p:cNvPr>
          <p:cNvSpPr txBox="1"/>
          <p:nvPr/>
        </p:nvSpPr>
        <p:spPr>
          <a:xfrm>
            <a:off x="6405626" y="693292"/>
            <a:ext cx="2686050" cy="1313180"/>
          </a:xfrm>
          <a:prstGeom prst="rect">
            <a:avLst/>
          </a:prstGeom>
          <a:ln w="12700">
            <a:solidFill>
              <a:srgbClr val="765FFF"/>
            </a:solidFill>
          </a:ln>
        </p:spPr>
        <p:txBody>
          <a:bodyPr vert="horz" wrap="square" lIns="0" tIns="81280" rIns="0" bIns="0" rtlCol="0">
            <a:spAutoFit/>
          </a:bodyPr>
          <a:lstStyle/>
          <a:p>
            <a:pPr marL="120650">
              <a:lnSpc>
                <a:spcPct val="100000"/>
              </a:lnSpc>
              <a:spcBef>
                <a:spcPts val="640"/>
              </a:spcBef>
            </a:pPr>
            <a:r>
              <a:rPr lang="en-US" sz="1200" b="1" spc="-25" dirty="0">
                <a:solidFill>
                  <a:srgbClr val="281A42"/>
                </a:solidFill>
                <a:latin typeface="Segoe UI" pitchFamily="34" charset="0"/>
                <a:cs typeface="Arial"/>
              </a:rPr>
              <a:t>RETAIL/ONLINE RETAIL FORUM</a:t>
            </a: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p:txBody>
      </p:sp>
      <p:sp>
        <p:nvSpPr>
          <p:cNvPr id="13" name="object 27">
            <a:extLst>
              <a:ext uri="{FF2B5EF4-FFF2-40B4-BE49-F238E27FC236}">
                <a16:creationId xmlns:a16="http://schemas.microsoft.com/office/drawing/2014/main" id="{8C44C296-42CA-518D-A4FC-EFACB70BA041}"/>
              </a:ext>
            </a:extLst>
          </p:cNvPr>
          <p:cNvSpPr/>
          <p:nvPr/>
        </p:nvSpPr>
        <p:spPr>
          <a:xfrm>
            <a:off x="3871976" y="2179193"/>
            <a:ext cx="2286000" cy="1343025"/>
          </a:xfrm>
          <a:custGeom>
            <a:avLst/>
            <a:gdLst/>
            <a:ahLst/>
            <a:cxnLst/>
            <a:rect l="l" t="t" r="r" b="b"/>
            <a:pathLst>
              <a:path w="2286000" h="1343025">
                <a:moveTo>
                  <a:pt x="0" y="1343025"/>
                </a:moveTo>
                <a:lnTo>
                  <a:pt x="2286000" y="1343025"/>
                </a:lnTo>
                <a:lnTo>
                  <a:pt x="2286000" y="0"/>
                </a:lnTo>
                <a:lnTo>
                  <a:pt x="0" y="0"/>
                </a:lnTo>
                <a:lnTo>
                  <a:pt x="0" y="1343025"/>
                </a:lnTo>
                <a:close/>
              </a:path>
            </a:pathLst>
          </a:custGeom>
          <a:ln w="12700">
            <a:solidFill>
              <a:srgbClr val="765FFF"/>
            </a:solidFill>
          </a:ln>
        </p:spPr>
        <p:txBody>
          <a:bodyPr wrap="square" lIns="0" tIns="0" rIns="0" bIns="0" rtlCol="0"/>
          <a:lstStyle/>
          <a:p>
            <a:endParaRPr dirty="0"/>
          </a:p>
        </p:txBody>
      </p:sp>
      <p:sp>
        <p:nvSpPr>
          <p:cNvPr id="14" name="object 28">
            <a:extLst>
              <a:ext uri="{FF2B5EF4-FFF2-40B4-BE49-F238E27FC236}">
                <a16:creationId xmlns:a16="http://schemas.microsoft.com/office/drawing/2014/main" id="{813F6BCF-B2D1-FEEE-E147-0D300E4AF43F}"/>
              </a:ext>
            </a:extLst>
          </p:cNvPr>
          <p:cNvSpPr txBox="1"/>
          <p:nvPr/>
        </p:nvSpPr>
        <p:spPr>
          <a:xfrm>
            <a:off x="3923919" y="2252789"/>
            <a:ext cx="1365885"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81A42"/>
                </a:solidFill>
                <a:latin typeface="Segoe UI" pitchFamily="34" charset="0"/>
                <a:cs typeface="Arial"/>
              </a:rPr>
              <a:t>MEDICAL DEVICES</a:t>
            </a:r>
            <a:endParaRPr sz="1200" spc="-10" dirty="0">
              <a:latin typeface="Arial" pitchFamily="34" charset="0"/>
              <a:cs typeface="Arial"/>
            </a:endParaRPr>
          </a:p>
        </p:txBody>
      </p:sp>
      <p:sp>
        <p:nvSpPr>
          <p:cNvPr id="15" name="object 29">
            <a:extLst>
              <a:ext uri="{FF2B5EF4-FFF2-40B4-BE49-F238E27FC236}">
                <a16:creationId xmlns:a16="http://schemas.microsoft.com/office/drawing/2014/main" id="{60B5C131-66E0-E66F-DA5E-6D332C53A8ED}"/>
              </a:ext>
            </a:extLst>
          </p:cNvPr>
          <p:cNvSpPr txBox="1"/>
          <p:nvPr/>
        </p:nvSpPr>
        <p:spPr>
          <a:xfrm>
            <a:off x="300037" y="2188718"/>
            <a:ext cx="3324225" cy="1343025"/>
          </a:xfrm>
          <a:prstGeom prst="rect">
            <a:avLst/>
          </a:prstGeom>
          <a:ln w="12700">
            <a:solidFill>
              <a:srgbClr val="765FFF"/>
            </a:solidFill>
          </a:ln>
        </p:spPr>
        <p:txBody>
          <a:bodyPr vert="horz" wrap="square" lIns="0" tIns="99060" rIns="0" bIns="0" rtlCol="0">
            <a:spAutoFit/>
          </a:bodyPr>
          <a:lstStyle/>
          <a:p>
            <a:pPr marL="73025">
              <a:lnSpc>
                <a:spcPct val="100000"/>
              </a:lnSpc>
              <a:spcBef>
                <a:spcPts val="780"/>
              </a:spcBef>
            </a:pPr>
            <a:r>
              <a:rPr sz="1200" b="1" spc="-10" dirty="0">
                <a:solidFill>
                  <a:srgbClr val="281A42"/>
                </a:solidFill>
                <a:latin typeface="Segoe UI" pitchFamily="34" charset="0"/>
                <a:cs typeface="Arial"/>
              </a:rPr>
              <a:t>FINANCIAL SERVICES</a:t>
            </a:r>
            <a:endParaRPr sz="1200" spc="-10" dirty="0">
              <a:latin typeface="Arial" pitchFamily="34" charset="0"/>
              <a:cs typeface="Arial"/>
            </a:endParaRPr>
          </a:p>
        </p:txBody>
      </p:sp>
      <p:sp>
        <p:nvSpPr>
          <p:cNvPr id="16" name="object 30">
            <a:extLst>
              <a:ext uri="{FF2B5EF4-FFF2-40B4-BE49-F238E27FC236}">
                <a16:creationId xmlns:a16="http://schemas.microsoft.com/office/drawing/2014/main" id="{713E67D7-0894-DED8-747C-46A132BC01CD}"/>
              </a:ext>
            </a:extLst>
          </p:cNvPr>
          <p:cNvSpPr txBox="1"/>
          <p:nvPr/>
        </p:nvSpPr>
        <p:spPr>
          <a:xfrm>
            <a:off x="3871976" y="5103304"/>
            <a:ext cx="2295525" cy="1343025"/>
          </a:xfrm>
          <a:prstGeom prst="rect">
            <a:avLst/>
          </a:prstGeom>
          <a:ln w="12700">
            <a:solidFill>
              <a:srgbClr val="765FFF"/>
            </a:solidFill>
          </a:ln>
        </p:spPr>
        <p:txBody>
          <a:bodyPr vert="horz" wrap="square" lIns="0" tIns="154305" rIns="0" bIns="0" rtlCol="0">
            <a:spAutoFit/>
          </a:bodyPr>
          <a:lstStyle/>
          <a:p>
            <a:pPr marL="114300">
              <a:lnSpc>
                <a:spcPct val="100000"/>
              </a:lnSpc>
              <a:spcBef>
                <a:spcPts val="1215"/>
              </a:spcBef>
            </a:pPr>
            <a:r>
              <a:rPr sz="1200" b="1" spc="-10" dirty="0">
                <a:solidFill>
                  <a:srgbClr val="281A42"/>
                </a:solidFill>
                <a:latin typeface="Segoe UI" pitchFamily="34" charset="0"/>
                <a:cs typeface="Arial"/>
              </a:rPr>
              <a:t>INSURANCE</a:t>
            </a:r>
            <a:endParaRPr sz="1200" spc="-10" dirty="0">
              <a:latin typeface="Arial" pitchFamily="34" charset="0"/>
              <a:cs typeface="Arial"/>
            </a:endParaRPr>
          </a:p>
        </p:txBody>
      </p:sp>
      <p:sp>
        <p:nvSpPr>
          <p:cNvPr id="17" name="object 31">
            <a:extLst>
              <a:ext uri="{FF2B5EF4-FFF2-40B4-BE49-F238E27FC236}">
                <a16:creationId xmlns:a16="http://schemas.microsoft.com/office/drawing/2014/main" id="{9D819426-12FE-8DF0-114B-3B5AC0BE7198}"/>
              </a:ext>
            </a:extLst>
          </p:cNvPr>
          <p:cNvSpPr txBox="1"/>
          <p:nvPr/>
        </p:nvSpPr>
        <p:spPr>
          <a:xfrm>
            <a:off x="290512" y="5103304"/>
            <a:ext cx="3324225" cy="1343025"/>
          </a:xfrm>
          <a:prstGeom prst="rect">
            <a:avLst/>
          </a:prstGeom>
          <a:ln w="12700">
            <a:solidFill>
              <a:srgbClr val="765FFF"/>
            </a:solidFill>
          </a:ln>
        </p:spPr>
        <p:txBody>
          <a:bodyPr vert="horz" wrap="square" lIns="0" tIns="105410" rIns="0" bIns="0" rtlCol="0">
            <a:spAutoFit/>
          </a:bodyPr>
          <a:lstStyle/>
          <a:p>
            <a:pPr marL="93980">
              <a:lnSpc>
                <a:spcPct val="100000"/>
              </a:lnSpc>
              <a:spcBef>
                <a:spcPts val="830"/>
              </a:spcBef>
            </a:pPr>
            <a:r>
              <a:rPr sz="1200" b="1" spc="-10" dirty="0">
                <a:solidFill>
                  <a:srgbClr val="281A42"/>
                </a:solidFill>
                <a:latin typeface="Segoe UI" pitchFamily="34" charset="0"/>
                <a:cs typeface="Arial"/>
              </a:rPr>
              <a:t>CONSUMER PACKAGED GOODS</a:t>
            </a:r>
            <a:endParaRPr sz="1200" spc="-10" dirty="0">
              <a:latin typeface="Arial" pitchFamily="34" charset="0"/>
              <a:cs typeface="Arial"/>
            </a:endParaRPr>
          </a:p>
        </p:txBody>
      </p:sp>
      <p:sp>
        <p:nvSpPr>
          <p:cNvPr id="18" name="object 32">
            <a:extLst>
              <a:ext uri="{FF2B5EF4-FFF2-40B4-BE49-F238E27FC236}">
                <a16:creationId xmlns:a16="http://schemas.microsoft.com/office/drawing/2014/main" id="{DF7036EC-09C5-C161-E482-FC846AF6D0FB}"/>
              </a:ext>
            </a:extLst>
          </p:cNvPr>
          <p:cNvSpPr txBox="1"/>
          <p:nvPr/>
        </p:nvSpPr>
        <p:spPr>
          <a:xfrm>
            <a:off x="9234551" y="693292"/>
            <a:ext cx="2714625" cy="1322157"/>
          </a:xfrm>
          <a:prstGeom prst="rect">
            <a:avLst/>
          </a:prstGeom>
          <a:ln w="12700">
            <a:solidFill>
              <a:srgbClr val="765FFF"/>
            </a:solidFill>
          </a:ln>
        </p:spPr>
        <p:txBody>
          <a:bodyPr vert="horz" wrap="square" lIns="0" tIns="13970" rIns="0" bIns="0" rtlCol="0">
            <a:spAutoFit/>
          </a:bodyPr>
          <a:lstStyle/>
          <a:p>
            <a:pPr marL="109220" marR="923925">
              <a:lnSpc>
                <a:spcPts val="1430"/>
              </a:lnSpc>
              <a:spcBef>
                <a:spcPts val="110"/>
              </a:spcBef>
            </a:pPr>
            <a:r>
              <a:rPr sz="1200" b="1" spc="-25" dirty="0">
                <a:solidFill>
                  <a:srgbClr val="281A42"/>
                </a:solidFill>
                <a:latin typeface="Segoe UI" pitchFamily="34" charset="0"/>
                <a:cs typeface="Arial"/>
              </a:rPr>
              <a:t>HEALTHCARE/HEALTH </a:t>
            </a:r>
            <a:r>
              <a:rPr lang="en-US" sz="1200" b="1" spc="-25" dirty="0">
                <a:solidFill>
                  <a:srgbClr val="281A42"/>
                </a:solidFill>
                <a:latin typeface="Segoe UI" pitchFamily="34" charset="0"/>
                <a:cs typeface="Arial"/>
              </a:rPr>
              <a:t>TECHNOLOGY</a:t>
            </a:r>
            <a:br>
              <a:rPr lang="en-US" sz="1200" b="1" spc="-25" dirty="0">
                <a:solidFill>
                  <a:srgbClr val="281A42"/>
                </a:solidFill>
                <a:latin typeface="Segoe UI" pitchFamily="34" charset="0"/>
                <a:cs typeface="Arial"/>
              </a:rPr>
            </a:b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sz="1200" b="1" spc="-25" dirty="0">
              <a:latin typeface="Segoe UI" pitchFamily="34" charset="0"/>
              <a:cs typeface="Arial"/>
            </a:endParaRPr>
          </a:p>
        </p:txBody>
      </p:sp>
      <p:sp>
        <p:nvSpPr>
          <p:cNvPr id="19" name="object 128">
            <a:extLst>
              <a:ext uri="{FF2B5EF4-FFF2-40B4-BE49-F238E27FC236}">
                <a16:creationId xmlns:a16="http://schemas.microsoft.com/office/drawing/2014/main" id="{07FEBE6E-61C4-9B24-55DA-1F72D5654332}"/>
              </a:ext>
            </a:extLst>
          </p:cNvPr>
          <p:cNvSpPr txBox="1"/>
          <p:nvPr/>
        </p:nvSpPr>
        <p:spPr>
          <a:xfrm>
            <a:off x="6405626" y="2169668"/>
            <a:ext cx="2686050" cy="1343025"/>
          </a:xfrm>
          <a:prstGeom prst="rect">
            <a:avLst/>
          </a:prstGeom>
          <a:ln w="12700">
            <a:solidFill>
              <a:srgbClr val="765FFF"/>
            </a:solidFill>
          </a:ln>
        </p:spPr>
        <p:txBody>
          <a:bodyPr vert="horz" wrap="square" lIns="0" tIns="54610" rIns="0" bIns="0" rtlCol="0">
            <a:spAutoFit/>
          </a:bodyPr>
          <a:lstStyle/>
          <a:p>
            <a:pPr marL="92710">
              <a:lnSpc>
                <a:spcPct val="100000"/>
              </a:lnSpc>
              <a:spcBef>
                <a:spcPts val="430"/>
              </a:spcBef>
            </a:pPr>
            <a:r>
              <a:rPr sz="1200" b="1" spc="-10" dirty="0">
                <a:solidFill>
                  <a:srgbClr val="281A42"/>
                </a:solidFill>
                <a:latin typeface="Segoe UI" pitchFamily="34" charset="0"/>
                <a:cs typeface="Arial"/>
              </a:rPr>
              <a:t>ENERGY &amp; INDUSTRIAL</a:t>
            </a:r>
            <a:endParaRPr sz="1200" spc="-10" dirty="0">
              <a:latin typeface="Arial" pitchFamily="34" charset="0"/>
              <a:cs typeface="Arial"/>
            </a:endParaRPr>
          </a:p>
        </p:txBody>
      </p:sp>
      <p:sp>
        <p:nvSpPr>
          <p:cNvPr id="20" name="object 129">
            <a:extLst>
              <a:ext uri="{FF2B5EF4-FFF2-40B4-BE49-F238E27FC236}">
                <a16:creationId xmlns:a16="http://schemas.microsoft.com/office/drawing/2014/main" id="{263A9E63-42E2-99F9-7687-1DC9B24F2EA9}"/>
              </a:ext>
            </a:extLst>
          </p:cNvPr>
          <p:cNvSpPr txBox="1"/>
          <p:nvPr/>
        </p:nvSpPr>
        <p:spPr>
          <a:xfrm>
            <a:off x="9263126" y="2179193"/>
            <a:ext cx="2676525" cy="1343025"/>
          </a:xfrm>
          <a:prstGeom prst="rect">
            <a:avLst/>
          </a:prstGeom>
          <a:ln w="12700">
            <a:solidFill>
              <a:srgbClr val="765FFF"/>
            </a:solidFill>
          </a:ln>
        </p:spPr>
        <p:txBody>
          <a:bodyPr vert="horz" wrap="square" lIns="0" tIns="61594" rIns="0" bIns="0" rtlCol="0">
            <a:spAutoFit/>
          </a:bodyPr>
          <a:lstStyle/>
          <a:p>
            <a:pPr marL="80645">
              <a:lnSpc>
                <a:spcPct val="100000"/>
              </a:lnSpc>
              <a:spcBef>
                <a:spcPts val="484"/>
              </a:spcBef>
            </a:pPr>
            <a:r>
              <a:rPr sz="1200" b="1" spc="-10" dirty="0">
                <a:solidFill>
                  <a:srgbClr val="281A42"/>
                </a:solidFill>
                <a:latin typeface="Segoe UI" pitchFamily="34" charset="0"/>
                <a:cs typeface="Arial"/>
              </a:rPr>
              <a:t>IT SERVICES</a:t>
            </a:r>
            <a:endParaRPr sz="1200" spc="-10" dirty="0">
              <a:latin typeface="Arial" pitchFamily="34" charset="0"/>
              <a:cs typeface="Arial"/>
            </a:endParaRPr>
          </a:p>
        </p:txBody>
      </p:sp>
      <p:sp>
        <p:nvSpPr>
          <p:cNvPr id="21" name="object 2">
            <a:extLst>
              <a:ext uri="{FF2B5EF4-FFF2-40B4-BE49-F238E27FC236}">
                <a16:creationId xmlns:a16="http://schemas.microsoft.com/office/drawing/2014/main" id="{31B0CA85-C805-20A7-9E3E-59F45766FA62}"/>
              </a:ext>
            </a:extLst>
          </p:cNvPr>
          <p:cNvSpPr/>
          <p:nvPr/>
        </p:nvSpPr>
        <p:spPr>
          <a:xfrm>
            <a:off x="6405626" y="3684079"/>
            <a:ext cx="5543550" cy="2762250"/>
          </a:xfrm>
          <a:custGeom>
            <a:avLst/>
            <a:gdLst/>
            <a:ahLst/>
            <a:cxnLst/>
            <a:rect l="l" t="t" r="r" b="b"/>
            <a:pathLst>
              <a:path w="5543550" h="2762250">
                <a:moveTo>
                  <a:pt x="5543550" y="0"/>
                </a:moveTo>
                <a:lnTo>
                  <a:pt x="0" y="0"/>
                </a:lnTo>
                <a:lnTo>
                  <a:pt x="0" y="2762250"/>
                </a:lnTo>
                <a:lnTo>
                  <a:pt x="5543550" y="2762250"/>
                </a:lnTo>
                <a:lnTo>
                  <a:pt x="5543550" y="0"/>
                </a:lnTo>
                <a:close/>
              </a:path>
            </a:pathLst>
          </a:custGeom>
          <a:solidFill>
            <a:srgbClr val="FFFFFF">
              <a:alpha val="0"/>
            </a:srgbClr>
          </a:solidFill>
        </p:spPr>
        <p:txBody>
          <a:bodyPr wrap="square" lIns="0" tIns="0" rIns="0" bIns="0" rtlCol="0"/>
          <a:lstStyle/>
          <a:p>
            <a:endParaRPr dirty="0"/>
          </a:p>
        </p:txBody>
      </p:sp>
      <p:pic>
        <p:nvPicPr>
          <p:cNvPr id="22" name="object 5">
            <a:extLst>
              <a:ext uri="{FF2B5EF4-FFF2-40B4-BE49-F238E27FC236}">
                <a16:creationId xmlns:a16="http://schemas.microsoft.com/office/drawing/2014/main" id="{5AFDC964-2757-345B-EF00-FDCFF9A0BA01}"/>
              </a:ext>
            </a:extLst>
          </p:cNvPr>
          <p:cNvPicPr/>
          <p:nvPr/>
        </p:nvPicPr>
        <p:blipFill>
          <a:blip r:embed="rId2" cstate="print"/>
          <a:stretch>
            <a:fillRect/>
          </a:stretch>
        </p:blipFill>
        <p:spPr>
          <a:xfrm>
            <a:off x="4752975" y="5985297"/>
            <a:ext cx="586682" cy="183338"/>
          </a:xfrm>
          <a:prstGeom prst="rect">
            <a:avLst/>
          </a:prstGeom>
        </p:spPr>
      </p:pic>
      <p:pic>
        <p:nvPicPr>
          <p:cNvPr id="23" name="object 8">
            <a:extLst>
              <a:ext uri="{FF2B5EF4-FFF2-40B4-BE49-F238E27FC236}">
                <a16:creationId xmlns:a16="http://schemas.microsoft.com/office/drawing/2014/main" id="{4E719B3A-E66C-EC92-F339-201B8C3B3526}"/>
              </a:ext>
            </a:extLst>
          </p:cNvPr>
          <p:cNvPicPr/>
          <p:nvPr/>
        </p:nvPicPr>
        <p:blipFill>
          <a:blip r:embed="rId3" cstate="print"/>
          <a:stretch>
            <a:fillRect/>
          </a:stretch>
        </p:blipFill>
        <p:spPr>
          <a:xfrm>
            <a:off x="1071355" y="1350042"/>
            <a:ext cx="695739" cy="263407"/>
          </a:xfrm>
          <a:prstGeom prst="rect">
            <a:avLst/>
          </a:prstGeom>
        </p:spPr>
      </p:pic>
      <p:pic>
        <p:nvPicPr>
          <p:cNvPr id="24" name="object 9">
            <a:extLst>
              <a:ext uri="{FF2B5EF4-FFF2-40B4-BE49-F238E27FC236}">
                <a16:creationId xmlns:a16="http://schemas.microsoft.com/office/drawing/2014/main" id="{71CF4331-2992-35CA-2611-5E0E0E58E973}"/>
              </a:ext>
            </a:extLst>
          </p:cNvPr>
          <p:cNvPicPr/>
          <p:nvPr/>
        </p:nvPicPr>
        <p:blipFill>
          <a:blip r:embed="rId4" cstate="print"/>
          <a:stretch>
            <a:fillRect/>
          </a:stretch>
        </p:blipFill>
        <p:spPr>
          <a:xfrm>
            <a:off x="1704975" y="1374266"/>
            <a:ext cx="523875" cy="152400"/>
          </a:xfrm>
          <a:prstGeom prst="rect">
            <a:avLst/>
          </a:prstGeom>
        </p:spPr>
      </p:pic>
      <p:pic>
        <p:nvPicPr>
          <p:cNvPr id="25" name="object 10">
            <a:extLst>
              <a:ext uri="{FF2B5EF4-FFF2-40B4-BE49-F238E27FC236}">
                <a16:creationId xmlns:a16="http://schemas.microsoft.com/office/drawing/2014/main" id="{C74B280F-88C9-05E7-B274-411F6E25371D}"/>
              </a:ext>
            </a:extLst>
          </p:cNvPr>
          <p:cNvPicPr/>
          <p:nvPr/>
        </p:nvPicPr>
        <p:blipFill>
          <a:blip r:embed="rId5" cstate="print"/>
          <a:stretch>
            <a:fillRect/>
          </a:stretch>
        </p:blipFill>
        <p:spPr>
          <a:xfrm>
            <a:off x="3009900" y="1191430"/>
            <a:ext cx="566737" cy="316186"/>
          </a:xfrm>
          <a:prstGeom prst="rect">
            <a:avLst/>
          </a:prstGeom>
        </p:spPr>
      </p:pic>
      <p:pic>
        <p:nvPicPr>
          <p:cNvPr id="26" name="object 11">
            <a:extLst>
              <a:ext uri="{FF2B5EF4-FFF2-40B4-BE49-F238E27FC236}">
                <a16:creationId xmlns:a16="http://schemas.microsoft.com/office/drawing/2014/main" id="{DF22EA5E-DC0D-DA59-028D-BC42E7E228CE}"/>
              </a:ext>
            </a:extLst>
          </p:cNvPr>
          <p:cNvPicPr/>
          <p:nvPr/>
        </p:nvPicPr>
        <p:blipFill>
          <a:blip r:embed="rId6" cstate="print"/>
          <a:stretch>
            <a:fillRect/>
          </a:stretch>
        </p:blipFill>
        <p:spPr>
          <a:xfrm>
            <a:off x="1076325" y="1050417"/>
            <a:ext cx="771525" cy="180975"/>
          </a:xfrm>
          <a:prstGeom prst="rect">
            <a:avLst/>
          </a:prstGeom>
        </p:spPr>
      </p:pic>
      <p:pic>
        <p:nvPicPr>
          <p:cNvPr id="27" name="object 12">
            <a:extLst>
              <a:ext uri="{FF2B5EF4-FFF2-40B4-BE49-F238E27FC236}">
                <a16:creationId xmlns:a16="http://schemas.microsoft.com/office/drawing/2014/main" id="{7163E8AA-4186-F818-EF56-D9F4582182BC}"/>
              </a:ext>
            </a:extLst>
          </p:cNvPr>
          <p:cNvPicPr/>
          <p:nvPr/>
        </p:nvPicPr>
        <p:blipFill>
          <a:blip r:embed="rId7" cstate="print"/>
          <a:stretch>
            <a:fillRect/>
          </a:stretch>
        </p:blipFill>
        <p:spPr>
          <a:xfrm>
            <a:off x="3119269" y="1588411"/>
            <a:ext cx="381336" cy="381336"/>
          </a:xfrm>
          <a:prstGeom prst="rect">
            <a:avLst/>
          </a:prstGeom>
        </p:spPr>
      </p:pic>
      <p:pic>
        <p:nvPicPr>
          <p:cNvPr id="28" name="object 13">
            <a:extLst>
              <a:ext uri="{FF2B5EF4-FFF2-40B4-BE49-F238E27FC236}">
                <a16:creationId xmlns:a16="http://schemas.microsoft.com/office/drawing/2014/main" id="{F512E5F3-C818-9EA1-DB63-05B2245F7990}"/>
              </a:ext>
            </a:extLst>
          </p:cNvPr>
          <p:cNvPicPr/>
          <p:nvPr/>
        </p:nvPicPr>
        <p:blipFill>
          <a:blip r:embed="rId8" cstate="print"/>
          <a:stretch>
            <a:fillRect/>
          </a:stretch>
        </p:blipFill>
        <p:spPr>
          <a:xfrm>
            <a:off x="413738" y="1707642"/>
            <a:ext cx="620323" cy="195942"/>
          </a:xfrm>
          <a:prstGeom prst="rect">
            <a:avLst/>
          </a:prstGeom>
        </p:spPr>
      </p:pic>
      <p:pic>
        <p:nvPicPr>
          <p:cNvPr id="29" name="object 14">
            <a:extLst>
              <a:ext uri="{FF2B5EF4-FFF2-40B4-BE49-F238E27FC236}">
                <a16:creationId xmlns:a16="http://schemas.microsoft.com/office/drawing/2014/main" id="{B69CDA3B-7821-F72A-63E1-3307BAB65F80}"/>
              </a:ext>
            </a:extLst>
          </p:cNvPr>
          <p:cNvPicPr/>
          <p:nvPr/>
        </p:nvPicPr>
        <p:blipFill>
          <a:blip r:embed="rId9" cstate="print"/>
          <a:stretch>
            <a:fillRect/>
          </a:stretch>
        </p:blipFill>
        <p:spPr>
          <a:xfrm>
            <a:off x="1438275" y="1717167"/>
            <a:ext cx="762000" cy="209550"/>
          </a:xfrm>
          <a:prstGeom prst="rect">
            <a:avLst/>
          </a:prstGeom>
        </p:spPr>
      </p:pic>
      <p:pic>
        <p:nvPicPr>
          <p:cNvPr id="30" name="object 15">
            <a:extLst>
              <a:ext uri="{FF2B5EF4-FFF2-40B4-BE49-F238E27FC236}">
                <a16:creationId xmlns:a16="http://schemas.microsoft.com/office/drawing/2014/main" id="{463DBF31-2002-3FF1-360B-6BF8A99C35F1}"/>
              </a:ext>
            </a:extLst>
          </p:cNvPr>
          <p:cNvPicPr/>
          <p:nvPr/>
        </p:nvPicPr>
        <p:blipFill>
          <a:blip r:embed="rId10" cstate="print"/>
          <a:stretch>
            <a:fillRect/>
          </a:stretch>
        </p:blipFill>
        <p:spPr>
          <a:xfrm>
            <a:off x="377677" y="1352759"/>
            <a:ext cx="496629" cy="223991"/>
          </a:xfrm>
          <a:prstGeom prst="rect">
            <a:avLst/>
          </a:prstGeom>
        </p:spPr>
      </p:pic>
      <p:pic>
        <p:nvPicPr>
          <p:cNvPr id="31" name="object 16">
            <a:extLst>
              <a:ext uri="{FF2B5EF4-FFF2-40B4-BE49-F238E27FC236}">
                <a16:creationId xmlns:a16="http://schemas.microsoft.com/office/drawing/2014/main" id="{698EFDE6-CD5D-68B8-21DB-10247C7E27A8}"/>
              </a:ext>
            </a:extLst>
          </p:cNvPr>
          <p:cNvPicPr/>
          <p:nvPr/>
        </p:nvPicPr>
        <p:blipFill>
          <a:blip r:embed="rId11" cstate="print"/>
          <a:stretch>
            <a:fillRect/>
          </a:stretch>
        </p:blipFill>
        <p:spPr>
          <a:xfrm>
            <a:off x="409575" y="1031367"/>
            <a:ext cx="504825" cy="209550"/>
          </a:xfrm>
          <a:prstGeom prst="rect">
            <a:avLst/>
          </a:prstGeom>
        </p:spPr>
      </p:pic>
      <p:pic>
        <p:nvPicPr>
          <p:cNvPr id="32" name="object 18">
            <a:extLst>
              <a:ext uri="{FF2B5EF4-FFF2-40B4-BE49-F238E27FC236}">
                <a16:creationId xmlns:a16="http://schemas.microsoft.com/office/drawing/2014/main" id="{1D493F8F-946A-B656-C622-0F1E19CC4A57}"/>
              </a:ext>
            </a:extLst>
          </p:cNvPr>
          <p:cNvPicPr/>
          <p:nvPr/>
        </p:nvPicPr>
        <p:blipFill>
          <a:blip r:embed="rId12" cstate="print"/>
          <a:stretch>
            <a:fillRect/>
          </a:stretch>
        </p:blipFill>
        <p:spPr>
          <a:xfrm>
            <a:off x="2295525" y="1307592"/>
            <a:ext cx="638175" cy="228600"/>
          </a:xfrm>
          <a:prstGeom prst="rect">
            <a:avLst/>
          </a:prstGeom>
        </p:spPr>
      </p:pic>
      <p:pic>
        <p:nvPicPr>
          <p:cNvPr id="33" name="object 19">
            <a:extLst>
              <a:ext uri="{FF2B5EF4-FFF2-40B4-BE49-F238E27FC236}">
                <a16:creationId xmlns:a16="http://schemas.microsoft.com/office/drawing/2014/main" id="{35A265D8-5D33-2728-C733-90E9006024D4}"/>
              </a:ext>
            </a:extLst>
          </p:cNvPr>
          <p:cNvPicPr/>
          <p:nvPr/>
        </p:nvPicPr>
        <p:blipFill>
          <a:blip r:embed="rId13" cstate="print"/>
          <a:stretch>
            <a:fillRect/>
          </a:stretch>
        </p:blipFill>
        <p:spPr>
          <a:xfrm>
            <a:off x="2494491" y="1568668"/>
            <a:ext cx="435680" cy="312144"/>
          </a:xfrm>
          <a:prstGeom prst="rect">
            <a:avLst/>
          </a:prstGeom>
        </p:spPr>
      </p:pic>
      <p:pic>
        <p:nvPicPr>
          <p:cNvPr id="34" name="object 20">
            <a:extLst>
              <a:ext uri="{FF2B5EF4-FFF2-40B4-BE49-F238E27FC236}">
                <a16:creationId xmlns:a16="http://schemas.microsoft.com/office/drawing/2014/main" id="{62579DFF-AD6C-4F3C-79AF-59718D48C85F}"/>
              </a:ext>
            </a:extLst>
          </p:cNvPr>
          <p:cNvPicPr/>
          <p:nvPr/>
        </p:nvPicPr>
        <p:blipFill>
          <a:blip r:embed="rId14" cstate="print"/>
          <a:stretch>
            <a:fillRect/>
          </a:stretch>
        </p:blipFill>
        <p:spPr>
          <a:xfrm>
            <a:off x="2047875" y="898017"/>
            <a:ext cx="781050" cy="371475"/>
          </a:xfrm>
          <a:prstGeom prst="rect">
            <a:avLst/>
          </a:prstGeom>
        </p:spPr>
      </p:pic>
      <p:pic>
        <p:nvPicPr>
          <p:cNvPr id="35" name="object 34">
            <a:extLst>
              <a:ext uri="{FF2B5EF4-FFF2-40B4-BE49-F238E27FC236}">
                <a16:creationId xmlns:a16="http://schemas.microsoft.com/office/drawing/2014/main" id="{1669ACB8-F317-E1FC-D054-53E090D01594}"/>
              </a:ext>
            </a:extLst>
          </p:cNvPr>
          <p:cNvPicPr/>
          <p:nvPr/>
        </p:nvPicPr>
        <p:blipFill>
          <a:blip r:embed="rId15" cstate="print"/>
          <a:stretch>
            <a:fillRect/>
          </a:stretch>
        </p:blipFill>
        <p:spPr>
          <a:xfrm>
            <a:off x="3962400" y="1183767"/>
            <a:ext cx="1114425" cy="171450"/>
          </a:xfrm>
          <a:prstGeom prst="rect">
            <a:avLst/>
          </a:prstGeom>
        </p:spPr>
      </p:pic>
      <p:pic>
        <p:nvPicPr>
          <p:cNvPr id="36" name="object 35">
            <a:extLst>
              <a:ext uri="{FF2B5EF4-FFF2-40B4-BE49-F238E27FC236}">
                <a16:creationId xmlns:a16="http://schemas.microsoft.com/office/drawing/2014/main" id="{87F495FD-4D42-76FE-383C-515913CF1C68}"/>
              </a:ext>
            </a:extLst>
          </p:cNvPr>
          <p:cNvPicPr/>
          <p:nvPr/>
        </p:nvPicPr>
        <p:blipFill>
          <a:blip r:embed="rId16" cstate="print"/>
          <a:stretch>
            <a:fillRect/>
          </a:stretch>
        </p:blipFill>
        <p:spPr>
          <a:xfrm>
            <a:off x="3952875" y="1536893"/>
            <a:ext cx="752475" cy="269507"/>
          </a:xfrm>
          <a:prstGeom prst="rect">
            <a:avLst/>
          </a:prstGeom>
        </p:spPr>
      </p:pic>
      <p:pic>
        <p:nvPicPr>
          <p:cNvPr id="37" name="object 36">
            <a:extLst>
              <a:ext uri="{FF2B5EF4-FFF2-40B4-BE49-F238E27FC236}">
                <a16:creationId xmlns:a16="http://schemas.microsoft.com/office/drawing/2014/main" id="{F3E53935-366C-0567-391B-F4629DCBC560}"/>
              </a:ext>
            </a:extLst>
          </p:cNvPr>
          <p:cNvPicPr/>
          <p:nvPr/>
        </p:nvPicPr>
        <p:blipFill>
          <a:blip r:embed="rId17" cstate="print"/>
          <a:stretch>
            <a:fillRect/>
          </a:stretch>
        </p:blipFill>
        <p:spPr>
          <a:xfrm>
            <a:off x="5172075" y="1100763"/>
            <a:ext cx="809625" cy="263978"/>
          </a:xfrm>
          <a:prstGeom prst="rect">
            <a:avLst/>
          </a:prstGeom>
        </p:spPr>
      </p:pic>
      <p:pic>
        <p:nvPicPr>
          <p:cNvPr id="38" name="object 37">
            <a:extLst>
              <a:ext uri="{FF2B5EF4-FFF2-40B4-BE49-F238E27FC236}">
                <a16:creationId xmlns:a16="http://schemas.microsoft.com/office/drawing/2014/main" id="{1CFCCA66-2F82-2C1C-946D-734B37653044}"/>
              </a:ext>
            </a:extLst>
          </p:cNvPr>
          <p:cNvPicPr/>
          <p:nvPr/>
        </p:nvPicPr>
        <p:blipFill>
          <a:blip r:embed="rId18" cstate="print"/>
          <a:stretch>
            <a:fillRect/>
          </a:stretch>
        </p:blipFill>
        <p:spPr>
          <a:xfrm>
            <a:off x="4778121" y="1593130"/>
            <a:ext cx="464057" cy="152357"/>
          </a:xfrm>
          <a:prstGeom prst="rect">
            <a:avLst/>
          </a:prstGeom>
        </p:spPr>
      </p:pic>
      <p:pic>
        <p:nvPicPr>
          <p:cNvPr id="39" name="object 38">
            <a:extLst>
              <a:ext uri="{FF2B5EF4-FFF2-40B4-BE49-F238E27FC236}">
                <a16:creationId xmlns:a16="http://schemas.microsoft.com/office/drawing/2014/main" id="{D0B431D5-7F02-5851-AB3D-406942AEB753}"/>
              </a:ext>
            </a:extLst>
          </p:cNvPr>
          <p:cNvPicPr/>
          <p:nvPr/>
        </p:nvPicPr>
        <p:blipFill>
          <a:blip r:embed="rId19" cstate="print"/>
          <a:stretch>
            <a:fillRect/>
          </a:stretch>
        </p:blipFill>
        <p:spPr>
          <a:xfrm>
            <a:off x="4052680" y="2612953"/>
            <a:ext cx="832402" cy="335559"/>
          </a:xfrm>
          <a:prstGeom prst="rect">
            <a:avLst/>
          </a:prstGeom>
        </p:spPr>
      </p:pic>
      <p:pic>
        <p:nvPicPr>
          <p:cNvPr id="40" name="object 39">
            <a:extLst>
              <a:ext uri="{FF2B5EF4-FFF2-40B4-BE49-F238E27FC236}">
                <a16:creationId xmlns:a16="http://schemas.microsoft.com/office/drawing/2014/main" id="{48D7300C-06E9-0684-C693-597098FE43A9}"/>
              </a:ext>
            </a:extLst>
          </p:cNvPr>
          <p:cNvPicPr/>
          <p:nvPr/>
        </p:nvPicPr>
        <p:blipFill>
          <a:blip r:embed="rId20" cstate="print"/>
          <a:stretch>
            <a:fillRect/>
          </a:stretch>
        </p:blipFill>
        <p:spPr>
          <a:xfrm>
            <a:off x="5038725" y="2660142"/>
            <a:ext cx="923925" cy="228600"/>
          </a:xfrm>
          <a:prstGeom prst="rect">
            <a:avLst/>
          </a:prstGeom>
        </p:spPr>
      </p:pic>
      <p:pic>
        <p:nvPicPr>
          <p:cNvPr id="41" name="object 40">
            <a:extLst>
              <a:ext uri="{FF2B5EF4-FFF2-40B4-BE49-F238E27FC236}">
                <a16:creationId xmlns:a16="http://schemas.microsoft.com/office/drawing/2014/main" id="{DA4BE9A1-E922-E2BB-0603-C9BE00CC7994}"/>
              </a:ext>
            </a:extLst>
          </p:cNvPr>
          <p:cNvPicPr/>
          <p:nvPr/>
        </p:nvPicPr>
        <p:blipFill>
          <a:blip r:embed="rId21" cstate="print"/>
          <a:stretch>
            <a:fillRect/>
          </a:stretch>
        </p:blipFill>
        <p:spPr>
          <a:xfrm>
            <a:off x="4038600" y="3081711"/>
            <a:ext cx="876300" cy="242711"/>
          </a:xfrm>
          <a:prstGeom prst="rect">
            <a:avLst/>
          </a:prstGeom>
        </p:spPr>
      </p:pic>
      <p:pic>
        <p:nvPicPr>
          <p:cNvPr id="42" name="object 41">
            <a:extLst>
              <a:ext uri="{FF2B5EF4-FFF2-40B4-BE49-F238E27FC236}">
                <a16:creationId xmlns:a16="http://schemas.microsoft.com/office/drawing/2014/main" id="{AF2D1E3A-DC5A-C080-5752-04A351F84931}"/>
              </a:ext>
            </a:extLst>
          </p:cNvPr>
          <p:cNvPicPr/>
          <p:nvPr/>
        </p:nvPicPr>
        <p:blipFill>
          <a:blip r:embed="rId22" cstate="print"/>
          <a:stretch>
            <a:fillRect/>
          </a:stretch>
        </p:blipFill>
        <p:spPr>
          <a:xfrm>
            <a:off x="5000625" y="1393317"/>
            <a:ext cx="1238250" cy="971550"/>
          </a:xfrm>
          <a:prstGeom prst="rect">
            <a:avLst/>
          </a:prstGeom>
        </p:spPr>
      </p:pic>
      <p:pic>
        <p:nvPicPr>
          <p:cNvPr id="43" name="object 42">
            <a:extLst>
              <a:ext uri="{FF2B5EF4-FFF2-40B4-BE49-F238E27FC236}">
                <a16:creationId xmlns:a16="http://schemas.microsoft.com/office/drawing/2014/main" id="{B4E628B4-A3F1-D11E-1D59-0E7E602935E2}"/>
              </a:ext>
            </a:extLst>
          </p:cNvPr>
          <p:cNvPicPr/>
          <p:nvPr/>
        </p:nvPicPr>
        <p:blipFill>
          <a:blip r:embed="rId23" cstate="print"/>
          <a:stretch>
            <a:fillRect/>
          </a:stretch>
        </p:blipFill>
        <p:spPr>
          <a:xfrm>
            <a:off x="4252738" y="4088892"/>
            <a:ext cx="433136" cy="529265"/>
          </a:xfrm>
          <a:prstGeom prst="rect">
            <a:avLst/>
          </a:prstGeom>
        </p:spPr>
      </p:pic>
      <p:pic>
        <p:nvPicPr>
          <p:cNvPr id="44" name="object 43">
            <a:extLst>
              <a:ext uri="{FF2B5EF4-FFF2-40B4-BE49-F238E27FC236}">
                <a16:creationId xmlns:a16="http://schemas.microsoft.com/office/drawing/2014/main" id="{FCF7D4A9-7E87-C5FB-B2F9-929A6EAD713D}"/>
              </a:ext>
            </a:extLst>
          </p:cNvPr>
          <p:cNvPicPr/>
          <p:nvPr/>
        </p:nvPicPr>
        <p:blipFill>
          <a:blip r:embed="rId24" cstate="print"/>
          <a:stretch>
            <a:fillRect/>
          </a:stretch>
        </p:blipFill>
        <p:spPr>
          <a:xfrm>
            <a:off x="4953000" y="4584192"/>
            <a:ext cx="952500" cy="266700"/>
          </a:xfrm>
          <a:prstGeom prst="rect">
            <a:avLst/>
          </a:prstGeom>
        </p:spPr>
      </p:pic>
      <p:pic>
        <p:nvPicPr>
          <p:cNvPr id="45" name="object 44">
            <a:extLst>
              <a:ext uri="{FF2B5EF4-FFF2-40B4-BE49-F238E27FC236}">
                <a16:creationId xmlns:a16="http://schemas.microsoft.com/office/drawing/2014/main" id="{E06F791D-A4EA-7CA2-A904-06E5C3AE5105}"/>
              </a:ext>
            </a:extLst>
          </p:cNvPr>
          <p:cNvPicPr/>
          <p:nvPr/>
        </p:nvPicPr>
        <p:blipFill>
          <a:blip r:embed="rId25" cstate="print"/>
          <a:stretch>
            <a:fillRect/>
          </a:stretch>
        </p:blipFill>
        <p:spPr>
          <a:xfrm>
            <a:off x="4895850" y="3973849"/>
            <a:ext cx="1123950" cy="461523"/>
          </a:xfrm>
          <a:prstGeom prst="rect">
            <a:avLst/>
          </a:prstGeom>
        </p:spPr>
      </p:pic>
      <p:pic>
        <p:nvPicPr>
          <p:cNvPr id="46" name="object 45">
            <a:extLst>
              <a:ext uri="{FF2B5EF4-FFF2-40B4-BE49-F238E27FC236}">
                <a16:creationId xmlns:a16="http://schemas.microsoft.com/office/drawing/2014/main" id="{288A939C-0BEE-1D5E-88A1-89A6B1D9B08E}"/>
              </a:ext>
            </a:extLst>
          </p:cNvPr>
          <p:cNvPicPr/>
          <p:nvPr/>
        </p:nvPicPr>
        <p:blipFill>
          <a:blip r:embed="rId26" cstate="print"/>
          <a:stretch>
            <a:fillRect/>
          </a:stretch>
        </p:blipFill>
        <p:spPr>
          <a:xfrm>
            <a:off x="390525" y="2574417"/>
            <a:ext cx="904875" cy="361950"/>
          </a:xfrm>
          <a:prstGeom prst="rect">
            <a:avLst/>
          </a:prstGeom>
        </p:spPr>
      </p:pic>
      <p:pic>
        <p:nvPicPr>
          <p:cNvPr id="47" name="object 46">
            <a:extLst>
              <a:ext uri="{FF2B5EF4-FFF2-40B4-BE49-F238E27FC236}">
                <a16:creationId xmlns:a16="http://schemas.microsoft.com/office/drawing/2014/main" id="{6A1717D6-2C4D-0691-FAAD-CED52BE723C7}"/>
              </a:ext>
            </a:extLst>
          </p:cNvPr>
          <p:cNvPicPr/>
          <p:nvPr/>
        </p:nvPicPr>
        <p:blipFill>
          <a:blip r:embed="rId27" cstate="print"/>
          <a:stretch>
            <a:fillRect/>
          </a:stretch>
        </p:blipFill>
        <p:spPr>
          <a:xfrm>
            <a:off x="447675" y="3003042"/>
            <a:ext cx="790575" cy="171450"/>
          </a:xfrm>
          <a:prstGeom prst="rect">
            <a:avLst/>
          </a:prstGeom>
        </p:spPr>
      </p:pic>
      <p:pic>
        <p:nvPicPr>
          <p:cNvPr id="48" name="object 47">
            <a:extLst>
              <a:ext uri="{FF2B5EF4-FFF2-40B4-BE49-F238E27FC236}">
                <a16:creationId xmlns:a16="http://schemas.microsoft.com/office/drawing/2014/main" id="{42B066E5-BF05-BBE4-05A4-C7BD89EB94AD}"/>
              </a:ext>
            </a:extLst>
          </p:cNvPr>
          <p:cNvPicPr/>
          <p:nvPr/>
        </p:nvPicPr>
        <p:blipFill>
          <a:blip r:embed="rId28" cstate="print"/>
          <a:stretch>
            <a:fillRect/>
          </a:stretch>
        </p:blipFill>
        <p:spPr>
          <a:xfrm>
            <a:off x="1419225" y="2546900"/>
            <a:ext cx="695325" cy="203200"/>
          </a:xfrm>
          <a:prstGeom prst="rect">
            <a:avLst/>
          </a:prstGeom>
        </p:spPr>
      </p:pic>
      <p:pic>
        <p:nvPicPr>
          <p:cNvPr id="49" name="object 48">
            <a:extLst>
              <a:ext uri="{FF2B5EF4-FFF2-40B4-BE49-F238E27FC236}">
                <a16:creationId xmlns:a16="http://schemas.microsoft.com/office/drawing/2014/main" id="{1005C434-644A-8F81-76BE-325D202BEF5A}"/>
              </a:ext>
            </a:extLst>
          </p:cNvPr>
          <p:cNvPicPr/>
          <p:nvPr/>
        </p:nvPicPr>
        <p:blipFill>
          <a:blip r:embed="rId29" cstate="print"/>
          <a:stretch>
            <a:fillRect/>
          </a:stretch>
        </p:blipFill>
        <p:spPr>
          <a:xfrm>
            <a:off x="1428750" y="2841117"/>
            <a:ext cx="666750" cy="171450"/>
          </a:xfrm>
          <a:prstGeom prst="rect">
            <a:avLst/>
          </a:prstGeom>
        </p:spPr>
      </p:pic>
      <p:pic>
        <p:nvPicPr>
          <p:cNvPr id="50" name="object 49">
            <a:extLst>
              <a:ext uri="{FF2B5EF4-FFF2-40B4-BE49-F238E27FC236}">
                <a16:creationId xmlns:a16="http://schemas.microsoft.com/office/drawing/2014/main" id="{E0DF06FC-29DA-939D-4309-B553E3E4EC53}"/>
              </a:ext>
            </a:extLst>
          </p:cNvPr>
          <p:cNvPicPr/>
          <p:nvPr/>
        </p:nvPicPr>
        <p:blipFill>
          <a:blip r:embed="rId30" cstate="print"/>
          <a:stretch>
            <a:fillRect/>
          </a:stretch>
        </p:blipFill>
        <p:spPr>
          <a:xfrm>
            <a:off x="1390650" y="3212592"/>
            <a:ext cx="609600" cy="171450"/>
          </a:xfrm>
          <a:prstGeom prst="rect">
            <a:avLst/>
          </a:prstGeom>
        </p:spPr>
      </p:pic>
      <p:pic>
        <p:nvPicPr>
          <p:cNvPr id="51" name="object 50">
            <a:extLst>
              <a:ext uri="{FF2B5EF4-FFF2-40B4-BE49-F238E27FC236}">
                <a16:creationId xmlns:a16="http://schemas.microsoft.com/office/drawing/2014/main" id="{0F8304FA-584A-AC45-E182-2D9C7BD6F09A}"/>
              </a:ext>
            </a:extLst>
          </p:cNvPr>
          <p:cNvPicPr/>
          <p:nvPr/>
        </p:nvPicPr>
        <p:blipFill>
          <a:blip r:embed="rId31" cstate="print"/>
          <a:stretch>
            <a:fillRect/>
          </a:stretch>
        </p:blipFill>
        <p:spPr>
          <a:xfrm>
            <a:off x="2390775" y="2441067"/>
            <a:ext cx="704850" cy="95250"/>
          </a:xfrm>
          <a:prstGeom prst="rect">
            <a:avLst/>
          </a:prstGeom>
        </p:spPr>
      </p:pic>
      <p:pic>
        <p:nvPicPr>
          <p:cNvPr id="52" name="object 51">
            <a:extLst>
              <a:ext uri="{FF2B5EF4-FFF2-40B4-BE49-F238E27FC236}">
                <a16:creationId xmlns:a16="http://schemas.microsoft.com/office/drawing/2014/main" id="{340AF291-DACB-1658-483B-5BFE5F6A0007}"/>
              </a:ext>
            </a:extLst>
          </p:cNvPr>
          <p:cNvPicPr/>
          <p:nvPr/>
        </p:nvPicPr>
        <p:blipFill>
          <a:blip r:embed="rId32" cstate="print"/>
          <a:stretch>
            <a:fillRect/>
          </a:stretch>
        </p:blipFill>
        <p:spPr>
          <a:xfrm>
            <a:off x="2495550" y="2612517"/>
            <a:ext cx="904875" cy="295275"/>
          </a:xfrm>
          <a:prstGeom prst="rect">
            <a:avLst/>
          </a:prstGeom>
        </p:spPr>
      </p:pic>
      <p:pic>
        <p:nvPicPr>
          <p:cNvPr id="53" name="object 52">
            <a:extLst>
              <a:ext uri="{FF2B5EF4-FFF2-40B4-BE49-F238E27FC236}">
                <a16:creationId xmlns:a16="http://schemas.microsoft.com/office/drawing/2014/main" id="{1A37327F-4FC3-06D8-17C1-E073C7D442B1}"/>
              </a:ext>
            </a:extLst>
          </p:cNvPr>
          <p:cNvPicPr/>
          <p:nvPr/>
        </p:nvPicPr>
        <p:blipFill>
          <a:blip r:embed="rId33" cstate="print"/>
          <a:stretch>
            <a:fillRect/>
          </a:stretch>
        </p:blipFill>
        <p:spPr>
          <a:xfrm>
            <a:off x="4857750" y="5489067"/>
            <a:ext cx="933450" cy="269965"/>
          </a:xfrm>
          <a:prstGeom prst="rect">
            <a:avLst/>
          </a:prstGeom>
        </p:spPr>
      </p:pic>
      <p:pic>
        <p:nvPicPr>
          <p:cNvPr id="54" name="object 53">
            <a:extLst>
              <a:ext uri="{FF2B5EF4-FFF2-40B4-BE49-F238E27FC236}">
                <a16:creationId xmlns:a16="http://schemas.microsoft.com/office/drawing/2014/main" id="{5731DFBF-FCB1-7AB2-1797-6F71E9A6C3B9}"/>
              </a:ext>
            </a:extLst>
          </p:cNvPr>
          <p:cNvPicPr/>
          <p:nvPr/>
        </p:nvPicPr>
        <p:blipFill>
          <a:blip r:embed="rId34" cstate="print"/>
          <a:stretch>
            <a:fillRect/>
          </a:stretch>
        </p:blipFill>
        <p:spPr>
          <a:xfrm>
            <a:off x="2867025" y="3227188"/>
            <a:ext cx="609600" cy="269174"/>
          </a:xfrm>
          <a:prstGeom prst="rect">
            <a:avLst/>
          </a:prstGeom>
        </p:spPr>
      </p:pic>
      <p:pic>
        <p:nvPicPr>
          <p:cNvPr id="55" name="object 54">
            <a:extLst>
              <a:ext uri="{FF2B5EF4-FFF2-40B4-BE49-F238E27FC236}">
                <a16:creationId xmlns:a16="http://schemas.microsoft.com/office/drawing/2014/main" id="{D5E6A2A2-F1ED-06CA-4C6F-1B10A2BB097C}"/>
              </a:ext>
            </a:extLst>
          </p:cNvPr>
          <p:cNvPicPr/>
          <p:nvPr/>
        </p:nvPicPr>
        <p:blipFill>
          <a:blip r:embed="rId35" cstate="print"/>
          <a:stretch>
            <a:fillRect/>
          </a:stretch>
        </p:blipFill>
        <p:spPr>
          <a:xfrm>
            <a:off x="2833118" y="4060317"/>
            <a:ext cx="662556" cy="247650"/>
          </a:xfrm>
          <a:prstGeom prst="rect">
            <a:avLst/>
          </a:prstGeom>
        </p:spPr>
      </p:pic>
      <p:pic>
        <p:nvPicPr>
          <p:cNvPr id="56" name="object 56">
            <a:extLst>
              <a:ext uri="{FF2B5EF4-FFF2-40B4-BE49-F238E27FC236}">
                <a16:creationId xmlns:a16="http://schemas.microsoft.com/office/drawing/2014/main" id="{A390FECB-DC97-F98B-9B8D-5B61DF107C78}"/>
              </a:ext>
            </a:extLst>
          </p:cNvPr>
          <p:cNvPicPr/>
          <p:nvPr/>
        </p:nvPicPr>
        <p:blipFill>
          <a:blip r:embed="rId36" cstate="print"/>
          <a:stretch>
            <a:fillRect/>
          </a:stretch>
        </p:blipFill>
        <p:spPr>
          <a:xfrm>
            <a:off x="6562725" y="4612767"/>
            <a:ext cx="676275" cy="676275"/>
          </a:xfrm>
          <a:prstGeom prst="rect">
            <a:avLst/>
          </a:prstGeom>
        </p:spPr>
      </p:pic>
      <p:pic>
        <p:nvPicPr>
          <p:cNvPr id="57" name="object 57">
            <a:extLst>
              <a:ext uri="{FF2B5EF4-FFF2-40B4-BE49-F238E27FC236}">
                <a16:creationId xmlns:a16="http://schemas.microsoft.com/office/drawing/2014/main" id="{11F38CB8-C433-FEE0-9468-615B1C733A9C}"/>
              </a:ext>
            </a:extLst>
          </p:cNvPr>
          <p:cNvPicPr/>
          <p:nvPr/>
        </p:nvPicPr>
        <p:blipFill>
          <a:blip r:embed="rId37" cstate="print"/>
          <a:stretch>
            <a:fillRect/>
          </a:stretch>
        </p:blipFill>
        <p:spPr>
          <a:xfrm>
            <a:off x="7924800" y="4346067"/>
            <a:ext cx="533400" cy="209550"/>
          </a:xfrm>
          <a:prstGeom prst="rect">
            <a:avLst/>
          </a:prstGeom>
        </p:spPr>
      </p:pic>
      <p:sp>
        <p:nvSpPr>
          <p:cNvPr id="58" name="object 58">
            <a:extLst>
              <a:ext uri="{FF2B5EF4-FFF2-40B4-BE49-F238E27FC236}">
                <a16:creationId xmlns:a16="http://schemas.microsoft.com/office/drawing/2014/main" id="{9F0405B7-5CC3-AA33-7A3D-8C251A404F29}"/>
              </a:ext>
            </a:extLst>
          </p:cNvPr>
          <p:cNvSpPr/>
          <p:nvPr/>
        </p:nvSpPr>
        <p:spPr>
          <a:xfrm>
            <a:off x="9012568" y="4232633"/>
            <a:ext cx="62865" cy="127635"/>
          </a:xfrm>
          <a:custGeom>
            <a:avLst/>
            <a:gdLst/>
            <a:ahLst/>
            <a:cxnLst/>
            <a:rect l="l" t="t" r="r" b="b"/>
            <a:pathLst>
              <a:path w="62865" h="127635">
                <a:moveTo>
                  <a:pt x="55141" y="0"/>
                </a:moveTo>
                <a:lnTo>
                  <a:pt x="53052" y="161"/>
                </a:lnTo>
                <a:lnTo>
                  <a:pt x="1393" y="30427"/>
                </a:lnTo>
                <a:lnTo>
                  <a:pt x="0" y="33087"/>
                </a:lnTo>
                <a:lnTo>
                  <a:pt x="61" y="35827"/>
                </a:lnTo>
                <a:lnTo>
                  <a:pt x="53" y="117976"/>
                </a:lnTo>
                <a:lnTo>
                  <a:pt x="53" y="123897"/>
                </a:lnTo>
                <a:lnTo>
                  <a:pt x="6332" y="127601"/>
                </a:lnTo>
                <a:lnTo>
                  <a:pt x="60847" y="95661"/>
                </a:lnTo>
                <a:lnTo>
                  <a:pt x="62187" y="93424"/>
                </a:lnTo>
                <a:lnTo>
                  <a:pt x="62432" y="90778"/>
                </a:lnTo>
                <a:lnTo>
                  <a:pt x="62446" y="5453"/>
                </a:lnTo>
                <a:lnTo>
                  <a:pt x="61005" y="2910"/>
                </a:lnTo>
                <a:lnTo>
                  <a:pt x="57000" y="558"/>
                </a:lnTo>
                <a:lnTo>
                  <a:pt x="55141" y="0"/>
                </a:lnTo>
                <a:close/>
              </a:path>
            </a:pathLst>
          </a:custGeom>
          <a:solidFill>
            <a:srgbClr val="FFB571"/>
          </a:solidFill>
        </p:spPr>
        <p:txBody>
          <a:bodyPr wrap="square" lIns="0" tIns="0" rIns="0" bIns="0" rtlCol="0"/>
          <a:lstStyle/>
          <a:p>
            <a:endParaRPr dirty="0"/>
          </a:p>
        </p:txBody>
      </p:sp>
      <p:sp>
        <p:nvSpPr>
          <p:cNvPr id="59" name="object 59">
            <a:extLst>
              <a:ext uri="{FF2B5EF4-FFF2-40B4-BE49-F238E27FC236}">
                <a16:creationId xmlns:a16="http://schemas.microsoft.com/office/drawing/2014/main" id="{43059D5A-65E3-DE90-349C-03E382FA44F1}"/>
              </a:ext>
            </a:extLst>
          </p:cNvPr>
          <p:cNvSpPr/>
          <p:nvPr/>
        </p:nvSpPr>
        <p:spPr>
          <a:xfrm>
            <a:off x="8968604" y="4177585"/>
            <a:ext cx="106680" cy="154940"/>
          </a:xfrm>
          <a:custGeom>
            <a:avLst/>
            <a:gdLst/>
            <a:ahLst/>
            <a:cxnLst/>
            <a:rect l="l" t="t" r="r" b="b"/>
            <a:pathLst>
              <a:path w="106679" h="154939">
                <a:moveTo>
                  <a:pt x="6268" y="0"/>
                </a:moveTo>
                <a:lnTo>
                  <a:pt x="0" y="3704"/>
                </a:lnTo>
                <a:lnTo>
                  <a:pt x="0" y="94756"/>
                </a:lnTo>
                <a:lnTo>
                  <a:pt x="1449" y="97314"/>
                </a:lnTo>
                <a:lnTo>
                  <a:pt x="100143" y="154856"/>
                </a:lnTo>
                <a:lnTo>
                  <a:pt x="106395" y="151151"/>
                </a:lnTo>
                <a:lnTo>
                  <a:pt x="106395" y="145243"/>
                </a:lnTo>
                <a:lnTo>
                  <a:pt x="106395" y="60501"/>
                </a:lnTo>
                <a:lnTo>
                  <a:pt x="104969" y="57958"/>
                </a:lnTo>
                <a:lnTo>
                  <a:pt x="6268" y="0"/>
                </a:lnTo>
                <a:close/>
              </a:path>
            </a:pathLst>
          </a:custGeom>
          <a:solidFill>
            <a:srgbClr val="FF8300"/>
          </a:solidFill>
        </p:spPr>
        <p:txBody>
          <a:bodyPr wrap="square" lIns="0" tIns="0" rIns="0" bIns="0" rtlCol="0"/>
          <a:lstStyle/>
          <a:p>
            <a:endParaRPr dirty="0"/>
          </a:p>
        </p:txBody>
      </p:sp>
      <p:sp>
        <p:nvSpPr>
          <p:cNvPr id="60" name="object 60">
            <a:extLst>
              <a:ext uri="{FF2B5EF4-FFF2-40B4-BE49-F238E27FC236}">
                <a16:creationId xmlns:a16="http://schemas.microsoft.com/office/drawing/2014/main" id="{C6838460-406B-562B-D40E-AF81C2579409}"/>
              </a:ext>
            </a:extLst>
          </p:cNvPr>
          <p:cNvSpPr/>
          <p:nvPr/>
        </p:nvSpPr>
        <p:spPr>
          <a:xfrm>
            <a:off x="8881955" y="4227195"/>
            <a:ext cx="62865" cy="127635"/>
          </a:xfrm>
          <a:custGeom>
            <a:avLst/>
            <a:gdLst/>
            <a:ahLst/>
            <a:cxnLst/>
            <a:rect l="l" t="t" r="r" b="b"/>
            <a:pathLst>
              <a:path w="62865" h="127635">
                <a:moveTo>
                  <a:pt x="56118" y="0"/>
                </a:moveTo>
                <a:lnTo>
                  <a:pt x="1613" y="31941"/>
                </a:lnTo>
                <a:lnTo>
                  <a:pt x="273" y="34175"/>
                </a:lnTo>
                <a:lnTo>
                  <a:pt x="0" y="37085"/>
                </a:lnTo>
                <a:lnTo>
                  <a:pt x="0" y="122148"/>
                </a:lnTo>
                <a:lnTo>
                  <a:pt x="1450" y="124680"/>
                </a:lnTo>
                <a:lnTo>
                  <a:pt x="5456" y="127044"/>
                </a:lnTo>
                <a:lnTo>
                  <a:pt x="7307" y="127607"/>
                </a:lnTo>
                <a:lnTo>
                  <a:pt x="9402" y="127439"/>
                </a:lnTo>
                <a:lnTo>
                  <a:pt x="61057" y="97175"/>
                </a:lnTo>
                <a:lnTo>
                  <a:pt x="62453" y="94516"/>
                </a:lnTo>
                <a:lnTo>
                  <a:pt x="62388" y="91775"/>
                </a:lnTo>
                <a:lnTo>
                  <a:pt x="62397" y="9627"/>
                </a:lnTo>
                <a:lnTo>
                  <a:pt x="62397" y="3704"/>
                </a:lnTo>
                <a:lnTo>
                  <a:pt x="56118" y="0"/>
                </a:lnTo>
                <a:close/>
              </a:path>
            </a:pathLst>
          </a:custGeom>
          <a:solidFill>
            <a:srgbClr val="FFB571"/>
          </a:solidFill>
        </p:spPr>
        <p:txBody>
          <a:bodyPr wrap="square" lIns="0" tIns="0" rIns="0" bIns="0" rtlCol="0"/>
          <a:lstStyle/>
          <a:p>
            <a:endParaRPr dirty="0"/>
          </a:p>
        </p:txBody>
      </p:sp>
      <p:pic>
        <p:nvPicPr>
          <p:cNvPr id="61" name="object 61">
            <a:extLst>
              <a:ext uri="{FF2B5EF4-FFF2-40B4-BE49-F238E27FC236}">
                <a16:creationId xmlns:a16="http://schemas.microsoft.com/office/drawing/2014/main" id="{64B6032E-66DE-3523-AF79-1DE09FFEE6EF}"/>
              </a:ext>
            </a:extLst>
          </p:cNvPr>
          <p:cNvPicPr/>
          <p:nvPr/>
        </p:nvPicPr>
        <p:blipFill>
          <a:blip r:embed="rId38" cstate="print"/>
          <a:stretch>
            <a:fillRect/>
          </a:stretch>
        </p:blipFill>
        <p:spPr>
          <a:xfrm>
            <a:off x="9131103" y="4235176"/>
            <a:ext cx="103316" cy="125367"/>
          </a:xfrm>
          <a:prstGeom prst="rect">
            <a:avLst/>
          </a:prstGeom>
        </p:spPr>
      </p:pic>
      <p:pic>
        <p:nvPicPr>
          <p:cNvPr id="62" name="object 62">
            <a:extLst>
              <a:ext uri="{FF2B5EF4-FFF2-40B4-BE49-F238E27FC236}">
                <a16:creationId xmlns:a16="http://schemas.microsoft.com/office/drawing/2014/main" id="{812214C8-E79A-0A2D-BDA9-D5125EAA1C44}"/>
              </a:ext>
            </a:extLst>
          </p:cNvPr>
          <p:cNvPicPr/>
          <p:nvPr/>
        </p:nvPicPr>
        <p:blipFill>
          <a:blip r:embed="rId39" cstate="print"/>
          <a:stretch>
            <a:fillRect/>
          </a:stretch>
        </p:blipFill>
        <p:spPr>
          <a:xfrm>
            <a:off x="9255066" y="4228106"/>
            <a:ext cx="315252" cy="132424"/>
          </a:xfrm>
          <a:prstGeom prst="rect">
            <a:avLst/>
          </a:prstGeom>
        </p:spPr>
      </p:pic>
      <p:pic>
        <p:nvPicPr>
          <p:cNvPr id="63" name="object 63">
            <a:extLst>
              <a:ext uri="{FF2B5EF4-FFF2-40B4-BE49-F238E27FC236}">
                <a16:creationId xmlns:a16="http://schemas.microsoft.com/office/drawing/2014/main" id="{5AE9A9F2-1544-2CD1-F429-AEC5D62A259B}"/>
              </a:ext>
            </a:extLst>
          </p:cNvPr>
          <p:cNvPicPr/>
          <p:nvPr/>
        </p:nvPicPr>
        <p:blipFill>
          <a:blip r:embed="rId40" cstate="print"/>
          <a:stretch>
            <a:fillRect/>
          </a:stretch>
        </p:blipFill>
        <p:spPr>
          <a:xfrm>
            <a:off x="9591843" y="4233412"/>
            <a:ext cx="264377" cy="127142"/>
          </a:xfrm>
          <a:prstGeom prst="rect">
            <a:avLst/>
          </a:prstGeom>
        </p:spPr>
      </p:pic>
      <p:pic>
        <p:nvPicPr>
          <p:cNvPr id="64" name="object 64">
            <a:extLst>
              <a:ext uri="{FF2B5EF4-FFF2-40B4-BE49-F238E27FC236}">
                <a16:creationId xmlns:a16="http://schemas.microsoft.com/office/drawing/2014/main" id="{5123556E-5854-A46A-38AB-72294980697B}"/>
              </a:ext>
            </a:extLst>
          </p:cNvPr>
          <p:cNvPicPr/>
          <p:nvPr/>
        </p:nvPicPr>
        <p:blipFill>
          <a:blip r:embed="rId41" cstate="print"/>
          <a:stretch>
            <a:fillRect/>
          </a:stretch>
        </p:blipFill>
        <p:spPr>
          <a:xfrm>
            <a:off x="9879490" y="4241350"/>
            <a:ext cx="431449" cy="119193"/>
          </a:xfrm>
          <a:prstGeom prst="rect">
            <a:avLst/>
          </a:prstGeom>
        </p:spPr>
      </p:pic>
      <p:sp>
        <p:nvSpPr>
          <p:cNvPr id="65" name="object 65">
            <a:extLst>
              <a:ext uri="{FF2B5EF4-FFF2-40B4-BE49-F238E27FC236}">
                <a16:creationId xmlns:a16="http://schemas.microsoft.com/office/drawing/2014/main" id="{B2ABC6B3-051B-6C78-D3B1-FF9E0C83A03F}"/>
              </a:ext>
            </a:extLst>
          </p:cNvPr>
          <p:cNvSpPr/>
          <p:nvPr/>
        </p:nvSpPr>
        <p:spPr>
          <a:xfrm>
            <a:off x="8881967" y="4254991"/>
            <a:ext cx="106680" cy="154940"/>
          </a:xfrm>
          <a:custGeom>
            <a:avLst/>
            <a:gdLst/>
            <a:ahLst/>
            <a:cxnLst/>
            <a:rect l="l" t="t" r="r" b="b"/>
            <a:pathLst>
              <a:path w="106679" h="154939">
                <a:moveTo>
                  <a:pt x="6257" y="0"/>
                </a:moveTo>
                <a:lnTo>
                  <a:pt x="0" y="3704"/>
                </a:lnTo>
                <a:lnTo>
                  <a:pt x="0" y="9613"/>
                </a:lnTo>
                <a:lnTo>
                  <a:pt x="0" y="94352"/>
                </a:lnTo>
                <a:lnTo>
                  <a:pt x="1437" y="96898"/>
                </a:lnTo>
                <a:lnTo>
                  <a:pt x="100135" y="154835"/>
                </a:lnTo>
                <a:lnTo>
                  <a:pt x="106401" y="151131"/>
                </a:lnTo>
                <a:lnTo>
                  <a:pt x="106401" y="60087"/>
                </a:lnTo>
                <a:lnTo>
                  <a:pt x="104954" y="57527"/>
                </a:lnTo>
                <a:lnTo>
                  <a:pt x="6257" y="0"/>
                </a:lnTo>
                <a:close/>
              </a:path>
            </a:pathLst>
          </a:custGeom>
          <a:solidFill>
            <a:srgbClr val="FF8300"/>
          </a:solidFill>
        </p:spPr>
        <p:txBody>
          <a:bodyPr wrap="square" lIns="0" tIns="0" rIns="0" bIns="0" rtlCol="0"/>
          <a:lstStyle/>
          <a:p>
            <a:endParaRPr dirty="0"/>
          </a:p>
        </p:txBody>
      </p:sp>
      <p:pic>
        <p:nvPicPr>
          <p:cNvPr id="66" name="object 66">
            <a:extLst>
              <a:ext uri="{FF2B5EF4-FFF2-40B4-BE49-F238E27FC236}">
                <a16:creationId xmlns:a16="http://schemas.microsoft.com/office/drawing/2014/main" id="{EBF5ED62-091C-A391-0F26-169B0F9AFF88}"/>
              </a:ext>
            </a:extLst>
          </p:cNvPr>
          <p:cNvPicPr/>
          <p:nvPr/>
        </p:nvPicPr>
        <p:blipFill>
          <a:blip r:embed="rId42" cstate="print"/>
          <a:stretch>
            <a:fillRect/>
          </a:stretch>
        </p:blipFill>
        <p:spPr>
          <a:xfrm>
            <a:off x="7743825" y="5403342"/>
            <a:ext cx="1000125" cy="238125"/>
          </a:xfrm>
          <a:prstGeom prst="rect">
            <a:avLst/>
          </a:prstGeom>
        </p:spPr>
      </p:pic>
      <p:pic>
        <p:nvPicPr>
          <p:cNvPr id="67" name="object 67">
            <a:extLst>
              <a:ext uri="{FF2B5EF4-FFF2-40B4-BE49-F238E27FC236}">
                <a16:creationId xmlns:a16="http://schemas.microsoft.com/office/drawing/2014/main" id="{FE01C41F-54FA-3624-BB15-34B5B87C645D}"/>
              </a:ext>
            </a:extLst>
          </p:cNvPr>
          <p:cNvPicPr/>
          <p:nvPr/>
        </p:nvPicPr>
        <p:blipFill>
          <a:blip r:embed="rId43" cstate="print"/>
          <a:stretch>
            <a:fillRect/>
          </a:stretch>
        </p:blipFill>
        <p:spPr>
          <a:xfrm>
            <a:off x="11049000" y="5393817"/>
            <a:ext cx="657225" cy="304800"/>
          </a:xfrm>
          <a:prstGeom prst="rect">
            <a:avLst/>
          </a:prstGeom>
        </p:spPr>
      </p:pic>
      <p:pic>
        <p:nvPicPr>
          <p:cNvPr id="68" name="object 68">
            <a:extLst>
              <a:ext uri="{FF2B5EF4-FFF2-40B4-BE49-F238E27FC236}">
                <a16:creationId xmlns:a16="http://schemas.microsoft.com/office/drawing/2014/main" id="{817344D6-3622-8F1B-9297-5BF4AB7A2A1A}"/>
              </a:ext>
            </a:extLst>
          </p:cNvPr>
          <p:cNvPicPr/>
          <p:nvPr/>
        </p:nvPicPr>
        <p:blipFill>
          <a:blip r:embed="rId44" cstate="print"/>
          <a:stretch>
            <a:fillRect/>
          </a:stretch>
        </p:blipFill>
        <p:spPr>
          <a:xfrm>
            <a:off x="7924800" y="4812792"/>
            <a:ext cx="581025" cy="276225"/>
          </a:xfrm>
          <a:prstGeom prst="rect">
            <a:avLst/>
          </a:prstGeom>
        </p:spPr>
      </p:pic>
      <p:pic>
        <p:nvPicPr>
          <p:cNvPr id="69" name="object 69">
            <a:extLst>
              <a:ext uri="{FF2B5EF4-FFF2-40B4-BE49-F238E27FC236}">
                <a16:creationId xmlns:a16="http://schemas.microsoft.com/office/drawing/2014/main" id="{789EC0F3-F1C1-A7CE-7060-F4617CB00556}"/>
              </a:ext>
            </a:extLst>
          </p:cNvPr>
          <p:cNvPicPr/>
          <p:nvPr/>
        </p:nvPicPr>
        <p:blipFill>
          <a:blip r:embed="rId45" cstate="print"/>
          <a:stretch>
            <a:fillRect/>
          </a:stretch>
        </p:blipFill>
        <p:spPr>
          <a:xfrm>
            <a:off x="8924925" y="5127117"/>
            <a:ext cx="1104900" cy="133350"/>
          </a:xfrm>
          <a:prstGeom prst="rect">
            <a:avLst/>
          </a:prstGeom>
        </p:spPr>
      </p:pic>
      <p:pic>
        <p:nvPicPr>
          <p:cNvPr id="70" name="object 70">
            <a:extLst>
              <a:ext uri="{FF2B5EF4-FFF2-40B4-BE49-F238E27FC236}">
                <a16:creationId xmlns:a16="http://schemas.microsoft.com/office/drawing/2014/main" id="{F0710E32-3254-BB19-A1AB-6AD9218995B5}"/>
              </a:ext>
            </a:extLst>
          </p:cNvPr>
          <p:cNvPicPr/>
          <p:nvPr/>
        </p:nvPicPr>
        <p:blipFill>
          <a:blip r:embed="rId46" cstate="print"/>
          <a:stretch>
            <a:fillRect/>
          </a:stretch>
        </p:blipFill>
        <p:spPr>
          <a:xfrm>
            <a:off x="9010650" y="5450967"/>
            <a:ext cx="990600" cy="152400"/>
          </a:xfrm>
          <a:prstGeom prst="rect">
            <a:avLst/>
          </a:prstGeom>
        </p:spPr>
      </p:pic>
      <p:pic>
        <p:nvPicPr>
          <p:cNvPr id="71" name="object 71">
            <a:extLst>
              <a:ext uri="{FF2B5EF4-FFF2-40B4-BE49-F238E27FC236}">
                <a16:creationId xmlns:a16="http://schemas.microsoft.com/office/drawing/2014/main" id="{53EF033D-8E71-D4A9-72A6-3E28BEE00267}"/>
              </a:ext>
            </a:extLst>
          </p:cNvPr>
          <p:cNvPicPr/>
          <p:nvPr/>
        </p:nvPicPr>
        <p:blipFill>
          <a:blip r:embed="rId47" cstate="print"/>
          <a:stretch>
            <a:fillRect/>
          </a:stretch>
        </p:blipFill>
        <p:spPr>
          <a:xfrm>
            <a:off x="10744200" y="3917442"/>
            <a:ext cx="752475" cy="752475"/>
          </a:xfrm>
          <a:prstGeom prst="rect">
            <a:avLst/>
          </a:prstGeom>
        </p:spPr>
      </p:pic>
      <p:sp>
        <p:nvSpPr>
          <p:cNvPr id="72" name="object 72">
            <a:extLst>
              <a:ext uri="{FF2B5EF4-FFF2-40B4-BE49-F238E27FC236}">
                <a16:creationId xmlns:a16="http://schemas.microsoft.com/office/drawing/2014/main" id="{3D27E5E4-E656-3565-E980-6541BB5D3E85}"/>
              </a:ext>
            </a:extLst>
          </p:cNvPr>
          <p:cNvSpPr/>
          <p:nvPr/>
        </p:nvSpPr>
        <p:spPr>
          <a:xfrm>
            <a:off x="6790246" y="4407560"/>
            <a:ext cx="641985" cy="121285"/>
          </a:xfrm>
          <a:custGeom>
            <a:avLst/>
            <a:gdLst/>
            <a:ahLst/>
            <a:cxnLst/>
            <a:rect l="l" t="t" r="r" b="b"/>
            <a:pathLst>
              <a:path w="641984" h="121285">
                <a:moveTo>
                  <a:pt x="129095" y="118732"/>
                </a:moveTo>
                <a:lnTo>
                  <a:pt x="105029" y="0"/>
                </a:lnTo>
                <a:lnTo>
                  <a:pt x="64541" y="89725"/>
                </a:lnTo>
                <a:lnTo>
                  <a:pt x="24066" y="0"/>
                </a:lnTo>
                <a:lnTo>
                  <a:pt x="0" y="118732"/>
                </a:lnTo>
                <a:lnTo>
                  <a:pt x="15163" y="118732"/>
                </a:lnTo>
                <a:lnTo>
                  <a:pt x="28905" y="43510"/>
                </a:lnTo>
                <a:lnTo>
                  <a:pt x="29222" y="43510"/>
                </a:lnTo>
                <a:lnTo>
                  <a:pt x="64541" y="121158"/>
                </a:lnTo>
                <a:lnTo>
                  <a:pt x="99872" y="43510"/>
                </a:lnTo>
                <a:lnTo>
                  <a:pt x="100177" y="43510"/>
                </a:lnTo>
                <a:lnTo>
                  <a:pt x="113944" y="118732"/>
                </a:lnTo>
                <a:lnTo>
                  <a:pt x="129095" y="118732"/>
                </a:lnTo>
                <a:close/>
              </a:path>
              <a:path w="641984" h="121285">
                <a:moveTo>
                  <a:pt x="159473" y="3683"/>
                </a:moveTo>
                <a:lnTo>
                  <a:pt x="144284" y="3683"/>
                </a:lnTo>
                <a:lnTo>
                  <a:pt x="144284" y="117487"/>
                </a:lnTo>
                <a:lnTo>
                  <a:pt x="159473" y="117487"/>
                </a:lnTo>
                <a:lnTo>
                  <a:pt x="159473" y="3683"/>
                </a:lnTo>
                <a:close/>
              </a:path>
              <a:path w="641984" h="121285">
                <a:moveTo>
                  <a:pt x="246824" y="86029"/>
                </a:moveTo>
                <a:lnTo>
                  <a:pt x="218376" y="52108"/>
                </a:lnTo>
                <a:lnTo>
                  <a:pt x="202984" y="46278"/>
                </a:lnTo>
                <a:lnTo>
                  <a:pt x="194170" y="41656"/>
                </a:lnTo>
                <a:lnTo>
                  <a:pt x="194170" y="22961"/>
                </a:lnTo>
                <a:lnTo>
                  <a:pt x="204190" y="16840"/>
                </a:lnTo>
                <a:lnTo>
                  <a:pt x="222021" y="16840"/>
                </a:lnTo>
                <a:lnTo>
                  <a:pt x="227482" y="20421"/>
                </a:lnTo>
                <a:lnTo>
                  <a:pt x="231736" y="27457"/>
                </a:lnTo>
                <a:lnTo>
                  <a:pt x="243179" y="20726"/>
                </a:lnTo>
                <a:lnTo>
                  <a:pt x="237731" y="13449"/>
                </a:lnTo>
                <a:lnTo>
                  <a:pt x="230873" y="8102"/>
                </a:lnTo>
                <a:lnTo>
                  <a:pt x="222783" y="4800"/>
                </a:lnTo>
                <a:lnTo>
                  <a:pt x="213664" y="3683"/>
                </a:lnTo>
                <a:lnTo>
                  <a:pt x="201053" y="5664"/>
                </a:lnTo>
                <a:lnTo>
                  <a:pt x="190246" y="11417"/>
                </a:lnTo>
                <a:lnTo>
                  <a:pt x="182689" y="20574"/>
                </a:lnTo>
                <a:lnTo>
                  <a:pt x="179844" y="32816"/>
                </a:lnTo>
                <a:lnTo>
                  <a:pt x="181902" y="43116"/>
                </a:lnTo>
                <a:lnTo>
                  <a:pt x="187426" y="50901"/>
                </a:lnTo>
                <a:lnTo>
                  <a:pt x="195389" y="56769"/>
                </a:lnTo>
                <a:lnTo>
                  <a:pt x="204800" y="61366"/>
                </a:lnTo>
                <a:lnTo>
                  <a:pt x="212750" y="64643"/>
                </a:lnTo>
                <a:lnTo>
                  <a:pt x="220002" y="67995"/>
                </a:lnTo>
                <a:lnTo>
                  <a:pt x="226326" y="72313"/>
                </a:lnTo>
                <a:lnTo>
                  <a:pt x="230797" y="78143"/>
                </a:lnTo>
                <a:lnTo>
                  <a:pt x="232498" y="86017"/>
                </a:lnTo>
                <a:lnTo>
                  <a:pt x="230924" y="94437"/>
                </a:lnTo>
                <a:lnTo>
                  <a:pt x="226542" y="101434"/>
                </a:lnTo>
                <a:lnTo>
                  <a:pt x="219849" y="106210"/>
                </a:lnTo>
                <a:lnTo>
                  <a:pt x="211328" y="107988"/>
                </a:lnTo>
                <a:lnTo>
                  <a:pt x="202653" y="106387"/>
                </a:lnTo>
                <a:lnTo>
                  <a:pt x="195554" y="101955"/>
                </a:lnTo>
                <a:lnTo>
                  <a:pt x="190792" y="95186"/>
                </a:lnTo>
                <a:lnTo>
                  <a:pt x="189103" y="86614"/>
                </a:lnTo>
                <a:lnTo>
                  <a:pt x="174675" y="89611"/>
                </a:lnTo>
                <a:lnTo>
                  <a:pt x="178625" y="102171"/>
                </a:lnTo>
                <a:lnTo>
                  <a:pt x="186347" y="112166"/>
                </a:lnTo>
                <a:lnTo>
                  <a:pt x="197078" y="118770"/>
                </a:lnTo>
                <a:lnTo>
                  <a:pt x="210121" y="121158"/>
                </a:lnTo>
                <a:lnTo>
                  <a:pt x="224523" y="118541"/>
                </a:lnTo>
                <a:lnTo>
                  <a:pt x="236181" y="111277"/>
                </a:lnTo>
                <a:lnTo>
                  <a:pt x="243979" y="100152"/>
                </a:lnTo>
                <a:lnTo>
                  <a:pt x="246824" y="86029"/>
                </a:lnTo>
                <a:close/>
              </a:path>
              <a:path w="641984" h="121285">
                <a:moveTo>
                  <a:pt x="330365" y="3721"/>
                </a:moveTo>
                <a:lnTo>
                  <a:pt x="258216" y="3721"/>
                </a:lnTo>
                <a:lnTo>
                  <a:pt x="258216" y="16217"/>
                </a:lnTo>
                <a:lnTo>
                  <a:pt x="286766" y="16217"/>
                </a:lnTo>
                <a:lnTo>
                  <a:pt x="286766" y="117348"/>
                </a:lnTo>
                <a:lnTo>
                  <a:pt x="301752" y="117348"/>
                </a:lnTo>
                <a:lnTo>
                  <a:pt x="301752" y="16217"/>
                </a:lnTo>
                <a:lnTo>
                  <a:pt x="330365" y="16217"/>
                </a:lnTo>
                <a:lnTo>
                  <a:pt x="330365" y="3721"/>
                </a:lnTo>
                <a:close/>
              </a:path>
              <a:path w="641984" h="121285">
                <a:moveTo>
                  <a:pt x="410095" y="36576"/>
                </a:moveTo>
                <a:lnTo>
                  <a:pt x="407771" y="22656"/>
                </a:lnTo>
                <a:lnTo>
                  <a:pt x="402983" y="16357"/>
                </a:lnTo>
                <a:lnTo>
                  <a:pt x="399910" y="12319"/>
                </a:lnTo>
                <a:lnTo>
                  <a:pt x="396278" y="10731"/>
                </a:lnTo>
                <a:lnTo>
                  <a:pt x="396278" y="36283"/>
                </a:lnTo>
                <a:lnTo>
                  <a:pt x="393509" y="47167"/>
                </a:lnTo>
                <a:lnTo>
                  <a:pt x="386270" y="53479"/>
                </a:lnTo>
                <a:lnTo>
                  <a:pt x="376199" y="56388"/>
                </a:lnTo>
                <a:lnTo>
                  <a:pt x="364934" y="57099"/>
                </a:lnTo>
                <a:lnTo>
                  <a:pt x="360235" y="57099"/>
                </a:lnTo>
                <a:lnTo>
                  <a:pt x="360235" y="16357"/>
                </a:lnTo>
                <a:lnTo>
                  <a:pt x="364185" y="16357"/>
                </a:lnTo>
                <a:lnTo>
                  <a:pt x="375348" y="16967"/>
                </a:lnTo>
                <a:lnTo>
                  <a:pt x="385699" y="19634"/>
                </a:lnTo>
                <a:lnTo>
                  <a:pt x="393319" y="25654"/>
                </a:lnTo>
                <a:lnTo>
                  <a:pt x="396278" y="36283"/>
                </a:lnTo>
                <a:lnTo>
                  <a:pt x="396278" y="10731"/>
                </a:lnTo>
                <a:lnTo>
                  <a:pt x="385241" y="5892"/>
                </a:lnTo>
                <a:lnTo>
                  <a:pt x="362458" y="3683"/>
                </a:lnTo>
                <a:lnTo>
                  <a:pt x="345554" y="3683"/>
                </a:lnTo>
                <a:lnTo>
                  <a:pt x="345554" y="117487"/>
                </a:lnTo>
                <a:lnTo>
                  <a:pt x="360235" y="117487"/>
                </a:lnTo>
                <a:lnTo>
                  <a:pt x="360235" y="69786"/>
                </a:lnTo>
                <a:lnTo>
                  <a:pt x="368731" y="69786"/>
                </a:lnTo>
                <a:lnTo>
                  <a:pt x="384644" y="67970"/>
                </a:lnTo>
                <a:lnTo>
                  <a:pt x="397814" y="62179"/>
                </a:lnTo>
                <a:lnTo>
                  <a:pt x="402247" y="57099"/>
                </a:lnTo>
                <a:lnTo>
                  <a:pt x="406781" y="51892"/>
                </a:lnTo>
                <a:lnTo>
                  <a:pt x="410095" y="36576"/>
                </a:lnTo>
                <a:close/>
              </a:path>
              <a:path w="641984" h="121285">
                <a:moveTo>
                  <a:pt x="573379" y="117487"/>
                </a:moveTo>
                <a:lnTo>
                  <a:pt x="559765" y="89230"/>
                </a:lnTo>
                <a:lnTo>
                  <a:pt x="553567" y="76377"/>
                </a:lnTo>
                <a:lnTo>
                  <a:pt x="537832" y="43713"/>
                </a:lnTo>
                <a:lnTo>
                  <a:pt x="537832" y="76377"/>
                </a:lnTo>
                <a:lnTo>
                  <a:pt x="495668" y="76377"/>
                </a:lnTo>
                <a:lnTo>
                  <a:pt x="516775" y="30784"/>
                </a:lnTo>
                <a:lnTo>
                  <a:pt x="537832" y="76377"/>
                </a:lnTo>
                <a:lnTo>
                  <a:pt x="537832" y="43713"/>
                </a:lnTo>
                <a:lnTo>
                  <a:pt x="531609" y="30784"/>
                </a:lnTo>
                <a:lnTo>
                  <a:pt x="516775" y="0"/>
                </a:lnTo>
                <a:lnTo>
                  <a:pt x="466344" y="104622"/>
                </a:lnTo>
                <a:lnTo>
                  <a:pt x="440067" y="104622"/>
                </a:lnTo>
                <a:lnTo>
                  <a:pt x="440067" y="4775"/>
                </a:lnTo>
                <a:lnTo>
                  <a:pt x="425284" y="4775"/>
                </a:lnTo>
                <a:lnTo>
                  <a:pt x="425284" y="117487"/>
                </a:lnTo>
                <a:lnTo>
                  <a:pt x="476059" y="117487"/>
                </a:lnTo>
                <a:lnTo>
                  <a:pt x="482193" y="104622"/>
                </a:lnTo>
                <a:lnTo>
                  <a:pt x="489534" y="89230"/>
                </a:lnTo>
                <a:lnTo>
                  <a:pt x="543966" y="89230"/>
                </a:lnTo>
                <a:lnTo>
                  <a:pt x="557479" y="117487"/>
                </a:lnTo>
                <a:lnTo>
                  <a:pt x="573379" y="117487"/>
                </a:lnTo>
                <a:close/>
              </a:path>
              <a:path w="641984" h="121285">
                <a:moveTo>
                  <a:pt x="641731" y="3683"/>
                </a:moveTo>
                <a:lnTo>
                  <a:pt x="624916" y="3683"/>
                </a:lnTo>
                <a:lnTo>
                  <a:pt x="596163" y="52273"/>
                </a:lnTo>
                <a:lnTo>
                  <a:pt x="567397" y="3683"/>
                </a:lnTo>
                <a:lnTo>
                  <a:pt x="550595" y="3683"/>
                </a:lnTo>
                <a:lnTo>
                  <a:pt x="588822" y="67970"/>
                </a:lnTo>
                <a:lnTo>
                  <a:pt x="588822" y="117487"/>
                </a:lnTo>
                <a:lnTo>
                  <a:pt x="603453" y="117487"/>
                </a:lnTo>
                <a:lnTo>
                  <a:pt x="603453" y="67970"/>
                </a:lnTo>
                <a:lnTo>
                  <a:pt x="641731" y="3683"/>
                </a:lnTo>
                <a:close/>
              </a:path>
            </a:pathLst>
          </a:custGeom>
          <a:solidFill>
            <a:srgbClr val="181E37"/>
          </a:solidFill>
        </p:spPr>
        <p:txBody>
          <a:bodyPr wrap="square" lIns="0" tIns="0" rIns="0" bIns="0" rtlCol="0"/>
          <a:lstStyle/>
          <a:p>
            <a:endParaRPr dirty="0"/>
          </a:p>
        </p:txBody>
      </p:sp>
      <p:sp>
        <p:nvSpPr>
          <p:cNvPr id="73" name="object 73">
            <a:extLst>
              <a:ext uri="{FF2B5EF4-FFF2-40B4-BE49-F238E27FC236}">
                <a16:creationId xmlns:a16="http://schemas.microsoft.com/office/drawing/2014/main" id="{2C045C4B-FB34-D152-4B7E-3CC3240CEEA5}"/>
              </a:ext>
            </a:extLst>
          </p:cNvPr>
          <p:cNvSpPr/>
          <p:nvPr/>
        </p:nvSpPr>
        <p:spPr>
          <a:xfrm>
            <a:off x="6535827" y="4381868"/>
            <a:ext cx="197485" cy="176530"/>
          </a:xfrm>
          <a:custGeom>
            <a:avLst/>
            <a:gdLst/>
            <a:ahLst/>
            <a:cxnLst/>
            <a:rect l="l" t="t" r="r" b="b"/>
            <a:pathLst>
              <a:path w="197484" h="176529">
                <a:moveTo>
                  <a:pt x="34175" y="11049"/>
                </a:moveTo>
                <a:lnTo>
                  <a:pt x="26530" y="3670"/>
                </a:lnTo>
                <a:lnTo>
                  <a:pt x="7645" y="3670"/>
                </a:lnTo>
                <a:lnTo>
                  <a:pt x="0" y="11061"/>
                </a:lnTo>
                <a:lnTo>
                  <a:pt x="0" y="29311"/>
                </a:lnTo>
                <a:lnTo>
                  <a:pt x="7658" y="36715"/>
                </a:lnTo>
                <a:lnTo>
                  <a:pt x="17081" y="36715"/>
                </a:lnTo>
                <a:lnTo>
                  <a:pt x="26530" y="36715"/>
                </a:lnTo>
                <a:lnTo>
                  <a:pt x="34175" y="29311"/>
                </a:lnTo>
                <a:lnTo>
                  <a:pt x="34175" y="11049"/>
                </a:lnTo>
                <a:close/>
              </a:path>
              <a:path w="197484" h="176529">
                <a:moveTo>
                  <a:pt x="102527" y="148678"/>
                </a:moveTo>
                <a:lnTo>
                  <a:pt x="100291" y="137960"/>
                </a:lnTo>
                <a:lnTo>
                  <a:pt x="94183" y="129209"/>
                </a:lnTo>
                <a:lnTo>
                  <a:pt x="85140" y="123317"/>
                </a:lnTo>
                <a:lnTo>
                  <a:pt x="74053" y="121145"/>
                </a:lnTo>
                <a:lnTo>
                  <a:pt x="62966" y="123317"/>
                </a:lnTo>
                <a:lnTo>
                  <a:pt x="53924" y="129209"/>
                </a:lnTo>
                <a:lnTo>
                  <a:pt x="47815" y="137960"/>
                </a:lnTo>
                <a:lnTo>
                  <a:pt x="45567" y="148678"/>
                </a:lnTo>
                <a:lnTo>
                  <a:pt x="47815" y="159397"/>
                </a:lnTo>
                <a:lnTo>
                  <a:pt x="53911" y="168148"/>
                </a:lnTo>
                <a:lnTo>
                  <a:pt x="62966" y="174053"/>
                </a:lnTo>
                <a:lnTo>
                  <a:pt x="74053" y="176212"/>
                </a:lnTo>
                <a:lnTo>
                  <a:pt x="85140" y="174053"/>
                </a:lnTo>
                <a:lnTo>
                  <a:pt x="94183" y="168148"/>
                </a:lnTo>
                <a:lnTo>
                  <a:pt x="100291" y="159397"/>
                </a:lnTo>
                <a:lnTo>
                  <a:pt x="102527" y="148678"/>
                </a:lnTo>
                <a:close/>
              </a:path>
              <a:path w="197484" h="176529">
                <a:moveTo>
                  <a:pt x="102527" y="62407"/>
                </a:moveTo>
                <a:lnTo>
                  <a:pt x="100736" y="53835"/>
                </a:lnTo>
                <a:lnTo>
                  <a:pt x="95846" y="46837"/>
                </a:lnTo>
                <a:lnTo>
                  <a:pt x="88607" y="42113"/>
                </a:lnTo>
                <a:lnTo>
                  <a:pt x="79743" y="40386"/>
                </a:lnTo>
                <a:lnTo>
                  <a:pt x="70878" y="42113"/>
                </a:lnTo>
                <a:lnTo>
                  <a:pt x="63639" y="46837"/>
                </a:lnTo>
                <a:lnTo>
                  <a:pt x="58750" y="53835"/>
                </a:lnTo>
                <a:lnTo>
                  <a:pt x="56959" y="62407"/>
                </a:lnTo>
                <a:lnTo>
                  <a:pt x="58750" y="70980"/>
                </a:lnTo>
                <a:lnTo>
                  <a:pt x="63639" y="77990"/>
                </a:lnTo>
                <a:lnTo>
                  <a:pt x="70878" y="82702"/>
                </a:lnTo>
                <a:lnTo>
                  <a:pt x="79743" y="84442"/>
                </a:lnTo>
                <a:lnTo>
                  <a:pt x="88620" y="82702"/>
                </a:lnTo>
                <a:lnTo>
                  <a:pt x="95859" y="77978"/>
                </a:lnTo>
                <a:lnTo>
                  <a:pt x="100736" y="70980"/>
                </a:lnTo>
                <a:lnTo>
                  <a:pt x="102527" y="62407"/>
                </a:lnTo>
                <a:close/>
              </a:path>
              <a:path w="197484" h="176529">
                <a:moveTo>
                  <a:pt x="151892" y="91884"/>
                </a:moveTo>
                <a:lnTo>
                  <a:pt x="144246" y="84442"/>
                </a:lnTo>
                <a:lnTo>
                  <a:pt x="125361" y="84442"/>
                </a:lnTo>
                <a:lnTo>
                  <a:pt x="117716" y="91833"/>
                </a:lnTo>
                <a:lnTo>
                  <a:pt x="117716" y="110083"/>
                </a:lnTo>
                <a:lnTo>
                  <a:pt x="125361" y="117475"/>
                </a:lnTo>
                <a:lnTo>
                  <a:pt x="134797" y="117475"/>
                </a:lnTo>
                <a:lnTo>
                  <a:pt x="144246" y="117475"/>
                </a:lnTo>
                <a:lnTo>
                  <a:pt x="151892" y="110032"/>
                </a:lnTo>
                <a:lnTo>
                  <a:pt x="151892" y="91884"/>
                </a:lnTo>
                <a:close/>
              </a:path>
              <a:path w="197484" h="176529">
                <a:moveTo>
                  <a:pt x="151892" y="7391"/>
                </a:moveTo>
                <a:lnTo>
                  <a:pt x="144246" y="0"/>
                </a:lnTo>
                <a:lnTo>
                  <a:pt x="125361" y="0"/>
                </a:lnTo>
                <a:lnTo>
                  <a:pt x="117716" y="7391"/>
                </a:lnTo>
                <a:lnTo>
                  <a:pt x="117716" y="25641"/>
                </a:lnTo>
                <a:lnTo>
                  <a:pt x="125361" y="33045"/>
                </a:lnTo>
                <a:lnTo>
                  <a:pt x="134797" y="33045"/>
                </a:lnTo>
                <a:lnTo>
                  <a:pt x="144246" y="33045"/>
                </a:lnTo>
                <a:lnTo>
                  <a:pt x="151892" y="25641"/>
                </a:lnTo>
                <a:lnTo>
                  <a:pt x="151892" y="7391"/>
                </a:lnTo>
                <a:close/>
              </a:path>
              <a:path w="197484" h="176529">
                <a:moveTo>
                  <a:pt x="197459" y="47777"/>
                </a:moveTo>
                <a:lnTo>
                  <a:pt x="189814" y="40386"/>
                </a:lnTo>
                <a:lnTo>
                  <a:pt x="170916" y="40386"/>
                </a:lnTo>
                <a:lnTo>
                  <a:pt x="163283" y="47777"/>
                </a:lnTo>
                <a:lnTo>
                  <a:pt x="163283" y="66014"/>
                </a:lnTo>
                <a:lnTo>
                  <a:pt x="170929" y="73418"/>
                </a:lnTo>
                <a:lnTo>
                  <a:pt x="180365" y="73418"/>
                </a:lnTo>
                <a:lnTo>
                  <a:pt x="189814" y="73418"/>
                </a:lnTo>
                <a:lnTo>
                  <a:pt x="197459" y="66014"/>
                </a:lnTo>
                <a:lnTo>
                  <a:pt x="197459" y="47777"/>
                </a:lnTo>
                <a:close/>
              </a:path>
            </a:pathLst>
          </a:custGeom>
          <a:solidFill>
            <a:srgbClr val="00CFB5"/>
          </a:solidFill>
        </p:spPr>
        <p:txBody>
          <a:bodyPr wrap="square" lIns="0" tIns="0" rIns="0" bIns="0" rtlCol="0"/>
          <a:lstStyle/>
          <a:p>
            <a:endParaRPr dirty="0"/>
          </a:p>
        </p:txBody>
      </p:sp>
      <p:sp>
        <p:nvSpPr>
          <p:cNvPr id="74" name="object 74">
            <a:extLst>
              <a:ext uri="{FF2B5EF4-FFF2-40B4-BE49-F238E27FC236}">
                <a16:creationId xmlns:a16="http://schemas.microsoft.com/office/drawing/2014/main" id="{B89C620E-F57A-9A05-34A9-527DEF1A850E}"/>
              </a:ext>
            </a:extLst>
          </p:cNvPr>
          <p:cNvSpPr/>
          <p:nvPr/>
        </p:nvSpPr>
        <p:spPr>
          <a:xfrm>
            <a:off x="7447166" y="4411243"/>
            <a:ext cx="38100" cy="36830"/>
          </a:xfrm>
          <a:custGeom>
            <a:avLst/>
            <a:gdLst/>
            <a:ahLst/>
            <a:cxnLst/>
            <a:rect l="l" t="t" r="r" b="b"/>
            <a:pathLst>
              <a:path w="38100" h="36829">
                <a:moveTo>
                  <a:pt x="26581" y="25692"/>
                </a:moveTo>
                <a:lnTo>
                  <a:pt x="22377" y="19989"/>
                </a:lnTo>
                <a:lnTo>
                  <a:pt x="21971" y="19431"/>
                </a:lnTo>
                <a:lnTo>
                  <a:pt x="23228" y="19024"/>
                </a:lnTo>
                <a:lnTo>
                  <a:pt x="24142" y="18516"/>
                </a:lnTo>
                <a:lnTo>
                  <a:pt x="24523" y="18110"/>
                </a:lnTo>
                <a:lnTo>
                  <a:pt x="25412" y="17157"/>
                </a:lnTo>
                <a:lnTo>
                  <a:pt x="25666" y="16548"/>
                </a:lnTo>
                <a:lnTo>
                  <a:pt x="25666" y="14224"/>
                </a:lnTo>
                <a:lnTo>
                  <a:pt x="25311" y="13652"/>
                </a:lnTo>
                <a:lnTo>
                  <a:pt x="25044" y="13157"/>
                </a:lnTo>
                <a:lnTo>
                  <a:pt x="24866" y="12941"/>
                </a:lnTo>
                <a:lnTo>
                  <a:pt x="24498" y="12585"/>
                </a:lnTo>
                <a:lnTo>
                  <a:pt x="23837" y="12179"/>
                </a:lnTo>
                <a:lnTo>
                  <a:pt x="22326" y="11379"/>
                </a:lnTo>
                <a:lnTo>
                  <a:pt x="22326" y="14846"/>
                </a:lnTo>
                <a:lnTo>
                  <a:pt x="22275" y="16319"/>
                </a:lnTo>
                <a:lnTo>
                  <a:pt x="19481" y="18110"/>
                </a:lnTo>
                <a:lnTo>
                  <a:pt x="14732" y="18110"/>
                </a:lnTo>
                <a:lnTo>
                  <a:pt x="14732" y="12941"/>
                </a:lnTo>
                <a:lnTo>
                  <a:pt x="19761" y="12941"/>
                </a:lnTo>
                <a:lnTo>
                  <a:pt x="22326" y="14846"/>
                </a:lnTo>
                <a:lnTo>
                  <a:pt x="22326" y="11379"/>
                </a:lnTo>
                <a:lnTo>
                  <a:pt x="20802" y="11023"/>
                </a:lnTo>
                <a:lnTo>
                  <a:pt x="11391" y="11023"/>
                </a:lnTo>
                <a:lnTo>
                  <a:pt x="11391" y="25692"/>
                </a:lnTo>
                <a:lnTo>
                  <a:pt x="14732" y="25692"/>
                </a:lnTo>
                <a:lnTo>
                  <a:pt x="14732" y="19989"/>
                </a:lnTo>
                <a:lnTo>
                  <a:pt x="18834" y="19989"/>
                </a:lnTo>
                <a:lnTo>
                  <a:pt x="22936" y="25692"/>
                </a:lnTo>
                <a:lnTo>
                  <a:pt x="26581" y="25692"/>
                </a:lnTo>
                <a:close/>
              </a:path>
              <a:path w="38100" h="36829">
                <a:moveTo>
                  <a:pt x="37960" y="13487"/>
                </a:moveTo>
                <a:lnTo>
                  <a:pt x="35941" y="8813"/>
                </a:lnTo>
                <a:lnTo>
                  <a:pt x="34772" y="7683"/>
                </a:lnTo>
                <a:lnTo>
                  <a:pt x="34772" y="14287"/>
                </a:lnTo>
                <a:lnTo>
                  <a:pt x="34772" y="22402"/>
                </a:lnTo>
                <a:lnTo>
                  <a:pt x="33108" y="26289"/>
                </a:lnTo>
                <a:lnTo>
                  <a:pt x="30175" y="29159"/>
                </a:lnTo>
                <a:lnTo>
                  <a:pt x="27178" y="32029"/>
                </a:lnTo>
                <a:lnTo>
                  <a:pt x="23177" y="33642"/>
                </a:lnTo>
                <a:lnTo>
                  <a:pt x="14782" y="33642"/>
                </a:lnTo>
                <a:lnTo>
                  <a:pt x="10731" y="32029"/>
                </a:lnTo>
                <a:lnTo>
                  <a:pt x="7797" y="29159"/>
                </a:lnTo>
                <a:lnTo>
                  <a:pt x="4800" y="26289"/>
                </a:lnTo>
                <a:lnTo>
                  <a:pt x="3136" y="22402"/>
                </a:lnTo>
                <a:lnTo>
                  <a:pt x="3136" y="14287"/>
                </a:lnTo>
                <a:lnTo>
                  <a:pt x="4800" y="10388"/>
                </a:lnTo>
                <a:lnTo>
                  <a:pt x="7747" y="7518"/>
                </a:lnTo>
                <a:lnTo>
                  <a:pt x="10731" y="4648"/>
                </a:lnTo>
                <a:lnTo>
                  <a:pt x="14782" y="3035"/>
                </a:lnTo>
                <a:lnTo>
                  <a:pt x="23177" y="3035"/>
                </a:lnTo>
                <a:lnTo>
                  <a:pt x="27178" y="4648"/>
                </a:lnTo>
                <a:lnTo>
                  <a:pt x="33159" y="10388"/>
                </a:lnTo>
                <a:lnTo>
                  <a:pt x="34772" y="14287"/>
                </a:lnTo>
                <a:lnTo>
                  <a:pt x="34772" y="7683"/>
                </a:lnTo>
                <a:lnTo>
                  <a:pt x="29984" y="3035"/>
                </a:lnTo>
                <a:lnTo>
                  <a:pt x="28854" y="1930"/>
                </a:lnTo>
                <a:lnTo>
                  <a:pt x="23990" y="0"/>
                </a:lnTo>
                <a:lnTo>
                  <a:pt x="13919" y="0"/>
                </a:lnTo>
                <a:lnTo>
                  <a:pt x="9105" y="1930"/>
                </a:lnTo>
                <a:lnTo>
                  <a:pt x="5511" y="5372"/>
                </a:lnTo>
                <a:lnTo>
                  <a:pt x="1968" y="8813"/>
                </a:lnTo>
                <a:lnTo>
                  <a:pt x="0" y="13487"/>
                </a:lnTo>
                <a:lnTo>
                  <a:pt x="0" y="23215"/>
                </a:lnTo>
                <a:lnTo>
                  <a:pt x="1968" y="27889"/>
                </a:lnTo>
                <a:lnTo>
                  <a:pt x="5511" y="31330"/>
                </a:lnTo>
                <a:lnTo>
                  <a:pt x="9105" y="34772"/>
                </a:lnTo>
                <a:lnTo>
                  <a:pt x="13919" y="36703"/>
                </a:lnTo>
                <a:lnTo>
                  <a:pt x="23990" y="36703"/>
                </a:lnTo>
                <a:lnTo>
                  <a:pt x="28854" y="34772"/>
                </a:lnTo>
                <a:lnTo>
                  <a:pt x="30022" y="33642"/>
                </a:lnTo>
                <a:lnTo>
                  <a:pt x="35941" y="27889"/>
                </a:lnTo>
                <a:lnTo>
                  <a:pt x="37960" y="23215"/>
                </a:lnTo>
                <a:lnTo>
                  <a:pt x="37960" y="13487"/>
                </a:lnTo>
                <a:close/>
              </a:path>
            </a:pathLst>
          </a:custGeom>
          <a:solidFill>
            <a:srgbClr val="181E37"/>
          </a:solidFill>
        </p:spPr>
        <p:txBody>
          <a:bodyPr wrap="square" lIns="0" tIns="0" rIns="0" bIns="0" rtlCol="0"/>
          <a:lstStyle/>
          <a:p>
            <a:endParaRPr dirty="0"/>
          </a:p>
        </p:txBody>
      </p:sp>
      <p:pic>
        <p:nvPicPr>
          <p:cNvPr id="75" name="object 75">
            <a:extLst>
              <a:ext uri="{FF2B5EF4-FFF2-40B4-BE49-F238E27FC236}">
                <a16:creationId xmlns:a16="http://schemas.microsoft.com/office/drawing/2014/main" id="{4930EE65-AFE9-B8DC-0ECC-9EE3ABD8CA28}"/>
              </a:ext>
            </a:extLst>
          </p:cNvPr>
          <p:cNvPicPr/>
          <p:nvPr/>
        </p:nvPicPr>
        <p:blipFill>
          <a:blip r:embed="rId48" cstate="print"/>
          <a:stretch>
            <a:fillRect/>
          </a:stretch>
        </p:blipFill>
        <p:spPr>
          <a:xfrm>
            <a:off x="6648450" y="5965317"/>
            <a:ext cx="714375" cy="304800"/>
          </a:xfrm>
          <a:prstGeom prst="rect">
            <a:avLst/>
          </a:prstGeom>
        </p:spPr>
      </p:pic>
      <p:pic>
        <p:nvPicPr>
          <p:cNvPr id="76" name="object 76">
            <a:extLst>
              <a:ext uri="{FF2B5EF4-FFF2-40B4-BE49-F238E27FC236}">
                <a16:creationId xmlns:a16="http://schemas.microsoft.com/office/drawing/2014/main" id="{7D7A78A2-8BD8-CACF-D116-BCA005505065}"/>
              </a:ext>
            </a:extLst>
          </p:cNvPr>
          <p:cNvPicPr/>
          <p:nvPr/>
        </p:nvPicPr>
        <p:blipFill>
          <a:blip r:embed="rId49" cstate="print"/>
          <a:stretch>
            <a:fillRect/>
          </a:stretch>
        </p:blipFill>
        <p:spPr>
          <a:xfrm>
            <a:off x="10972800" y="4727067"/>
            <a:ext cx="628650" cy="400050"/>
          </a:xfrm>
          <a:prstGeom prst="rect">
            <a:avLst/>
          </a:prstGeom>
        </p:spPr>
      </p:pic>
      <p:pic>
        <p:nvPicPr>
          <p:cNvPr id="77" name="object 77">
            <a:extLst>
              <a:ext uri="{FF2B5EF4-FFF2-40B4-BE49-F238E27FC236}">
                <a16:creationId xmlns:a16="http://schemas.microsoft.com/office/drawing/2014/main" id="{0115AABC-00F7-6C72-B647-E50D520BBFDC}"/>
              </a:ext>
            </a:extLst>
          </p:cNvPr>
          <p:cNvPicPr/>
          <p:nvPr/>
        </p:nvPicPr>
        <p:blipFill>
          <a:blip r:embed="rId50" cstate="print"/>
          <a:stretch>
            <a:fillRect/>
          </a:stretch>
        </p:blipFill>
        <p:spPr>
          <a:xfrm>
            <a:off x="10296525" y="5317617"/>
            <a:ext cx="533400" cy="390525"/>
          </a:xfrm>
          <a:prstGeom prst="rect">
            <a:avLst/>
          </a:prstGeom>
        </p:spPr>
      </p:pic>
      <p:pic>
        <p:nvPicPr>
          <p:cNvPr id="78" name="object 78">
            <a:extLst>
              <a:ext uri="{FF2B5EF4-FFF2-40B4-BE49-F238E27FC236}">
                <a16:creationId xmlns:a16="http://schemas.microsoft.com/office/drawing/2014/main" id="{C5A2CE1B-426A-B070-2F0D-782F27EFAFC9}"/>
              </a:ext>
            </a:extLst>
          </p:cNvPr>
          <p:cNvPicPr/>
          <p:nvPr/>
        </p:nvPicPr>
        <p:blipFill>
          <a:blip r:embed="rId51" cstate="print"/>
          <a:stretch>
            <a:fillRect/>
          </a:stretch>
        </p:blipFill>
        <p:spPr>
          <a:xfrm>
            <a:off x="7991475" y="6041517"/>
            <a:ext cx="571500" cy="152400"/>
          </a:xfrm>
          <a:prstGeom prst="rect">
            <a:avLst/>
          </a:prstGeom>
        </p:spPr>
      </p:pic>
      <p:pic>
        <p:nvPicPr>
          <p:cNvPr id="79" name="object 79">
            <a:extLst>
              <a:ext uri="{FF2B5EF4-FFF2-40B4-BE49-F238E27FC236}">
                <a16:creationId xmlns:a16="http://schemas.microsoft.com/office/drawing/2014/main" id="{8953A183-609B-E3EF-E2CA-65AA205219D9}"/>
              </a:ext>
            </a:extLst>
          </p:cNvPr>
          <p:cNvPicPr/>
          <p:nvPr/>
        </p:nvPicPr>
        <p:blipFill>
          <a:blip r:embed="rId52" cstate="print"/>
          <a:stretch>
            <a:fillRect/>
          </a:stretch>
        </p:blipFill>
        <p:spPr>
          <a:xfrm>
            <a:off x="8924925" y="4584192"/>
            <a:ext cx="923925" cy="266700"/>
          </a:xfrm>
          <a:prstGeom prst="rect">
            <a:avLst/>
          </a:prstGeom>
        </p:spPr>
      </p:pic>
      <p:pic>
        <p:nvPicPr>
          <p:cNvPr id="80" name="object 80">
            <a:extLst>
              <a:ext uri="{FF2B5EF4-FFF2-40B4-BE49-F238E27FC236}">
                <a16:creationId xmlns:a16="http://schemas.microsoft.com/office/drawing/2014/main" id="{3AEFD451-206D-C3A1-B0EC-88D5A21DCB8A}"/>
              </a:ext>
            </a:extLst>
          </p:cNvPr>
          <p:cNvPicPr/>
          <p:nvPr/>
        </p:nvPicPr>
        <p:blipFill>
          <a:blip r:embed="rId53" cstate="print"/>
          <a:stretch>
            <a:fillRect/>
          </a:stretch>
        </p:blipFill>
        <p:spPr>
          <a:xfrm>
            <a:off x="9029700" y="5927217"/>
            <a:ext cx="438150" cy="247650"/>
          </a:xfrm>
          <a:prstGeom prst="rect">
            <a:avLst/>
          </a:prstGeom>
        </p:spPr>
      </p:pic>
      <p:pic>
        <p:nvPicPr>
          <p:cNvPr id="81" name="object 81">
            <a:extLst>
              <a:ext uri="{FF2B5EF4-FFF2-40B4-BE49-F238E27FC236}">
                <a16:creationId xmlns:a16="http://schemas.microsoft.com/office/drawing/2014/main" id="{6D2B7523-4832-E8C6-1740-197A1548664E}"/>
              </a:ext>
            </a:extLst>
          </p:cNvPr>
          <p:cNvPicPr/>
          <p:nvPr/>
        </p:nvPicPr>
        <p:blipFill>
          <a:blip r:embed="rId54" cstate="print"/>
          <a:stretch>
            <a:fillRect/>
          </a:stretch>
        </p:blipFill>
        <p:spPr>
          <a:xfrm>
            <a:off x="10306050" y="4650867"/>
            <a:ext cx="438150" cy="523875"/>
          </a:xfrm>
          <a:prstGeom prst="rect">
            <a:avLst/>
          </a:prstGeom>
        </p:spPr>
      </p:pic>
      <p:pic>
        <p:nvPicPr>
          <p:cNvPr id="82" name="object 82">
            <a:extLst>
              <a:ext uri="{FF2B5EF4-FFF2-40B4-BE49-F238E27FC236}">
                <a16:creationId xmlns:a16="http://schemas.microsoft.com/office/drawing/2014/main" id="{3B781F01-0442-4F7E-2CDD-B62237015302}"/>
              </a:ext>
            </a:extLst>
          </p:cNvPr>
          <p:cNvPicPr/>
          <p:nvPr/>
        </p:nvPicPr>
        <p:blipFill>
          <a:blip r:embed="rId55" cstate="print"/>
          <a:stretch>
            <a:fillRect/>
          </a:stretch>
        </p:blipFill>
        <p:spPr>
          <a:xfrm>
            <a:off x="9896475" y="5946267"/>
            <a:ext cx="809625" cy="323850"/>
          </a:xfrm>
          <a:prstGeom prst="rect">
            <a:avLst/>
          </a:prstGeom>
        </p:spPr>
      </p:pic>
      <p:pic>
        <p:nvPicPr>
          <p:cNvPr id="83" name="object 83">
            <a:extLst>
              <a:ext uri="{FF2B5EF4-FFF2-40B4-BE49-F238E27FC236}">
                <a16:creationId xmlns:a16="http://schemas.microsoft.com/office/drawing/2014/main" id="{838279FE-5FC3-3BAA-7EB9-D4E702A5E7E4}"/>
              </a:ext>
            </a:extLst>
          </p:cNvPr>
          <p:cNvPicPr/>
          <p:nvPr/>
        </p:nvPicPr>
        <p:blipFill>
          <a:blip r:embed="rId56" cstate="print"/>
          <a:stretch>
            <a:fillRect/>
          </a:stretch>
        </p:blipFill>
        <p:spPr>
          <a:xfrm>
            <a:off x="10829925" y="5898642"/>
            <a:ext cx="1133475" cy="361950"/>
          </a:xfrm>
          <a:prstGeom prst="rect">
            <a:avLst/>
          </a:prstGeom>
        </p:spPr>
      </p:pic>
      <p:pic>
        <p:nvPicPr>
          <p:cNvPr id="84" name="object 84">
            <a:extLst>
              <a:ext uri="{FF2B5EF4-FFF2-40B4-BE49-F238E27FC236}">
                <a16:creationId xmlns:a16="http://schemas.microsoft.com/office/drawing/2014/main" id="{D48BCDAF-F7B4-E4E0-5724-F6F2401820DC}"/>
              </a:ext>
            </a:extLst>
          </p:cNvPr>
          <p:cNvPicPr/>
          <p:nvPr/>
        </p:nvPicPr>
        <p:blipFill>
          <a:blip r:embed="rId57" cstate="print"/>
          <a:stretch>
            <a:fillRect/>
          </a:stretch>
        </p:blipFill>
        <p:spPr>
          <a:xfrm>
            <a:off x="6562725" y="5346192"/>
            <a:ext cx="1028700" cy="333375"/>
          </a:xfrm>
          <a:prstGeom prst="rect">
            <a:avLst/>
          </a:prstGeom>
        </p:spPr>
      </p:pic>
      <p:pic>
        <p:nvPicPr>
          <p:cNvPr id="85" name="object 85">
            <a:extLst>
              <a:ext uri="{FF2B5EF4-FFF2-40B4-BE49-F238E27FC236}">
                <a16:creationId xmlns:a16="http://schemas.microsoft.com/office/drawing/2014/main" id="{D87C3ED3-F0CE-CF00-1EB3-D092474F57C7}"/>
              </a:ext>
            </a:extLst>
          </p:cNvPr>
          <p:cNvPicPr/>
          <p:nvPr/>
        </p:nvPicPr>
        <p:blipFill>
          <a:blip r:embed="rId58" cstate="print"/>
          <a:stretch>
            <a:fillRect/>
          </a:stretch>
        </p:blipFill>
        <p:spPr>
          <a:xfrm>
            <a:off x="7439025" y="3984117"/>
            <a:ext cx="1171575" cy="228600"/>
          </a:xfrm>
          <a:prstGeom prst="rect">
            <a:avLst/>
          </a:prstGeom>
        </p:spPr>
      </p:pic>
      <p:pic>
        <p:nvPicPr>
          <p:cNvPr id="86" name="object 86">
            <a:extLst>
              <a:ext uri="{FF2B5EF4-FFF2-40B4-BE49-F238E27FC236}">
                <a16:creationId xmlns:a16="http://schemas.microsoft.com/office/drawing/2014/main" id="{9812A124-65E7-53EE-265B-E8A4CE38307E}"/>
              </a:ext>
            </a:extLst>
          </p:cNvPr>
          <p:cNvPicPr/>
          <p:nvPr/>
        </p:nvPicPr>
        <p:blipFill>
          <a:blip r:embed="rId59" cstate="print"/>
          <a:stretch>
            <a:fillRect/>
          </a:stretch>
        </p:blipFill>
        <p:spPr>
          <a:xfrm>
            <a:off x="2347561" y="4572724"/>
            <a:ext cx="1027126" cy="187263"/>
          </a:xfrm>
          <a:prstGeom prst="rect">
            <a:avLst/>
          </a:prstGeom>
        </p:spPr>
      </p:pic>
      <p:pic>
        <p:nvPicPr>
          <p:cNvPr id="87" name="object 87">
            <a:extLst>
              <a:ext uri="{FF2B5EF4-FFF2-40B4-BE49-F238E27FC236}">
                <a16:creationId xmlns:a16="http://schemas.microsoft.com/office/drawing/2014/main" id="{953EDB2C-27B6-35B8-28AF-33449DA3D49C}"/>
              </a:ext>
            </a:extLst>
          </p:cNvPr>
          <p:cNvPicPr/>
          <p:nvPr/>
        </p:nvPicPr>
        <p:blipFill>
          <a:blip r:embed="rId60" cstate="print"/>
          <a:stretch>
            <a:fillRect/>
          </a:stretch>
        </p:blipFill>
        <p:spPr>
          <a:xfrm>
            <a:off x="1524000" y="4079367"/>
            <a:ext cx="971550" cy="323850"/>
          </a:xfrm>
          <a:prstGeom prst="rect">
            <a:avLst/>
          </a:prstGeom>
        </p:spPr>
      </p:pic>
      <p:pic>
        <p:nvPicPr>
          <p:cNvPr id="88" name="object 89">
            <a:extLst>
              <a:ext uri="{FF2B5EF4-FFF2-40B4-BE49-F238E27FC236}">
                <a16:creationId xmlns:a16="http://schemas.microsoft.com/office/drawing/2014/main" id="{93CF476C-5F45-9F3F-88AF-9F8707D68418}"/>
              </a:ext>
            </a:extLst>
          </p:cNvPr>
          <p:cNvPicPr/>
          <p:nvPr/>
        </p:nvPicPr>
        <p:blipFill>
          <a:blip r:embed="rId61" cstate="print"/>
          <a:stretch>
            <a:fillRect/>
          </a:stretch>
        </p:blipFill>
        <p:spPr>
          <a:xfrm>
            <a:off x="390525" y="3774567"/>
            <a:ext cx="1000125" cy="733425"/>
          </a:xfrm>
          <a:prstGeom prst="rect">
            <a:avLst/>
          </a:prstGeom>
        </p:spPr>
      </p:pic>
      <p:pic>
        <p:nvPicPr>
          <p:cNvPr id="89" name="object 90">
            <a:extLst>
              <a:ext uri="{FF2B5EF4-FFF2-40B4-BE49-F238E27FC236}">
                <a16:creationId xmlns:a16="http://schemas.microsoft.com/office/drawing/2014/main" id="{BD702137-4B83-2067-6AB1-87E7A14F9057}"/>
              </a:ext>
            </a:extLst>
          </p:cNvPr>
          <p:cNvPicPr/>
          <p:nvPr/>
        </p:nvPicPr>
        <p:blipFill>
          <a:blip r:embed="rId62" cstate="print"/>
          <a:stretch>
            <a:fillRect/>
          </a:stretch>
        </p:blipFill>
        <p:spPr>
          <a:xfrm>
            <a:off x="409575" y="4384167"/>
            <a:ext cx="514350" cy="523875"/>
          </a:xfrm>
          <a:prstGeom prst="rect">
            <a:avLst/>
          </a:prstGeom>
        </p:spPr>
      </p:pic>
      <p:pic>
        <p:nvPicPr>
          <p:cNvPr id="90" name="object 91">
            <a:extLst>
              <a:ext uri="{FF2B5EF4-FFF2-40B4-BE49-F238E27FC236}">
                <a16:creationId xmlns:a16="http://schemas.microsoft.com/office/drawing/2014/main" id="{645F75CD-2A7F-6012-28C8-CBF85E1C8A40}"/>
              </a:ext>
            </a:extLst>
          </p:cNvPr>
          <p:cNvPicPr/>
          <p:nvPr/>
        </p:nvPicPr>
        <p:blipFill>
          <a:blip r:embed="rId63" cstate="print"/>
          <a:stretch>
            <a:fillRect/>
          </a:stretch>
        </p:blipFill>
        <p:spPr>
          <a:xfrm>
            <a:off x="1076325" y="4469892"/>
            <a:ext cx="1085850" cy="371475"/>
          </a:xfrm>
          <a:prstGeom prst="rect">
            <a:avLst/>
          </a:prstGeom>
        </p:spPr>
      </p:pic>
      <p:pic>
        <p:nvPicPr>
          <p:cNvPr id="91" name="object 92">
            <a:extLst>
              <a:ext uri="{FF2B5EF4-FFF2-40B4-BE49-F238E27FC236}">
                <a16:creationId xmlns:a16="http://schemas.microsoft.com/office/drawing/2014/main" id="{19884967-FA23-0735-1BAB-282756AFF3E8}"/>
              </a:ext>
            </a:extLst>
          </p:cNvPr>
          <p:cNvPicPr/>
          <p:nvPr/>
        </p:nvPicPr>
        <p:blipFill>
          <a:blip r:embed="rId64" cstate="print"/>
          <a:stretch>
            <a:fillRect/>
          </a:stretch>
        </p:blipFill>
        <p:spPr>
          <a:xfrm>
            <a:off x="390525" y="5489067"/>
            <a:ext cx="809625" cy="133350"/>
          </a:xfrm>
          <a:prstGeom prst="rect">
            <a:avLst/>
          </a:prstGeom>
        </p:spPr>
      </p:pic>
      <p:pic>
        <p:nvPicPr>
          <p:cNvPr id="92" name="object 93">
            <a:extLst>
              <a:ext uri="{FF2B5EF4-FFF2-40B4-BE49-F238E27FC236}">
                <a16:creationId xmlns:a16="http://schemas.microsoft.com/office/drawing/2014/main" id="{F212DCB6-D10A-AD6F-C9B2-BFF4792891CF}"/>
              </a:ext>
            </a:extLst>
          </p:cNvPr>
          <p:cNvPicPr/>
          <p:nvPr/>
        </p:nvPicPr>
        <p:blipFill>
          <a:blip r:embed="rId65" cstate="print"/>
          <a:stretch>
            <a:fillRect/>
          </a:stretch>
        </p:blipFill>
        <p:spPr>
          <a:xfrm>
            <a:off x="1362075" y="5574792"/>
            <a:ext cx="819150" cy="257175"/>
          </a:xfrm>
          <a:prstGeom prst="rect">
            <a:avLst/>
          </a:prstGeom>
        </p:spPr>
      </p:pic>
      <p:pic>
        <p:nvPicPr>
          <p:cNvPr id="93" name="object 94">
            <a:extLst>
              <a:ext uri="{FF2B5EF4-FFF2-40B4-BE49-F238E27FC236}">
                <a16:creationId xmlns:a16="http://schemas.microsoft.com/office/drawing/2014/main" id="{DF461250-8C6B-3605-0BCD-F490E45EF288}"/>
              </a:ext>
            </a:extLst>
          </p:cNvPr>
          <p:cNvPicPr/>
          <p:nvPr/>
        </p:nvPicPr>
        <p:blipFill>
          <a:blip r:embed="rId66" cstate="print"/>
          <a:stretch>
            <a:fillRect/>
          </a:stretch>
        </p:blipFill>
        <p:spPr>
          <a:xfrm>
            <a:off x="409575" y="5812917"/>
            <a:ext cx="723900" cy="445072"/>
          </a:xfrm>
          <a:prstGeom prst="rect">
            <a:avLst/>
          </a:prstGeom>
        </p:spPr>
      </p:pic>
      <p:pic>
        <p:nvPicPr>
          <p:cNvPr id="94" name="object 95">
            <a:extLst>
              <a:ext uri="{FF2B5EF4-FFF2-40B4-BE49-F238E27FC236}">
                <a16:creationId xmlns:a16="http://schemas.microsoft.com/office/drawing/2014/main" id="{500B8E5D-A4D2-BABF-F320-A97F217F6CCC}"/>
              </a:ext>
            </a:extLst>
          </p:cNvPr>
          <p:cNvPicPr/>
          <p:nvPr/>
        </p:nvPicPr>
        <p:blipFill>
          <a:blip r:embed="rId67" cstate="print"/>
          <a:stretch>
            <a:fillRect/>
          </a:stretch>
        </p:blipFill>
        <p:spPr>
          <a:xfrm>
            <a:off x="2343150" y="5365242"/>
            <a:ext cx="838200" cy="438150"/>
          </a:xfrm>
          <a:prstGeom prst="rect">
            <a:avLst/>
          </a:prstGeom>
        </p:spPr>
      </p:pic>
      <p:pic>
        <p:nvPicPr>
          <p:cNvPr id="95" name="object 97">
            <a:extLst>
              <a:ext uri="{FF2B5EF4-FFF2-40B4-BE49-F238E27FC236}">
                <a16:creationId xmlns:a16="http://schemas.microsoft.com/office/drawing/2014/main" id="{3E64D5A9-F0E3-F7D5-4E9A-6135FF9342C4}"/>
              </a:ext>
            </a:extLst>
          </p:cNvPr>
          <p:cNvPicPr/>
          <p:nvPr/>
        </p:nvPicPr>
        <p:blipFill>
          <a:blip r:embed="rId68" cstate="print"/>
          <a:stretch>
            <a:fillRect/>
          </a:stretch>
        </p:blipFill>
        <p:spPr>
          <a:xfrm>
            <a:off x="1241686" y="6025408"/>
            <a:ext cx="1531982" cy="208009"/>
          </a:xfrm>
          <a:prstGeom prst="rect">
            <a:avLst/>
          </a:prstGeom>
        </p:spPr>
      </p:pic>
      <p:pic>
        <p:nvPicPr>
          <p:cNvPr id="96" name="object 98">
            <a:extLst>
              <a:ext uri="{FF2B5EF4-FFF2-40B4-BE49-F238E27FC236}">
                <a16:creationId xmlns:a16="http://schemas.microsoft.com/office/drawing/2014/main" id="{AE57E8FA-6DA4-622B-90CA-EF98247CFF95}"/>
              </a:ext>
            </a:extLst>
          </p:cNvPr>
          <p:cNvPicPr/>
          <p:nvPr/>
        </p:nvPicPr>
        <p:blipFill>
          <a:blip r:embed="rId69" cstate="print"/>
          <a:stretch>
            <a:fillRect/>
          </a:stretch>
        </p:blipFill>
        <p:spPr>
          <a:xfrm>
            <a:off x="2752725" y="5917692"/>
            <a:ext cx="781050" cy="438150"/>
          </a:xfrm>
          <a:prstGeom prst="rect">
            <a:avLst/>
          </a:prstGeom>
        </p:spPr>
      </p:pic>
      <p:pic>
        <p:nvPicPr>
          <p:cNvPr id="97" name="object 99">
            <a:extLst>
              <a:ext uri="{FF2B5EF4-FFF2-40B4-BE49-F238E27FC236}">
                <a16:creationId xmlns:a16="http://schemas.microsoft.com/office/drawing/2014/main" id="{885750A2-1E5F-9D4E-60B9-97875667C077}"/>
              </a:ext>
            </a:extLst>
          </p:cNvPr>
          <p:cNvPicPr/>
          <p:nvPr/>
        </p:nvPicPr>
        <p:blipFill>
          <a:blip r:embed="rId70" cstate="print"/>
          <a:stretch>
            <a:fillRect/>
          </a:stretch>
        </p:blipFill>
        <p:spPr>
          <a:xfrm>
            <a:off x="4200525" y="5508117"/>
            <a:ext cx="466725" cy="228600"/>
          </a:xfrm>
          <a:prstGeom prst="rect">
            <a:avLst/>
          </a:prstGeom>
        </p:spPr>
      </p:pic>
      <p:pic>
        <p:nvPicPr>
          <p:cNvPr id="98" name="object 100">
            <a:extLst>
              <a:ext uri="{FF2B5EF4-FFF2-40B4-BE49-F238E27FC236}">
                <a16:creationId xmlns:a16="http://schemas.microsoft.com/office/drawing/2014/main" id="{E6D4EEA8-0E16-B058-0685-77B91055E859}"/>
              </a:ext>
            </a:extLst>
          </p:cNvPr>
          <p:cNvPicPr/>
          <p:nvPr/>
        </p:nvPicPr>
        <p:blipFill>
          <a:blip r:embed="rId71" cstate="print"/>
          <a:stretch>
            <a:fillRect/>
          </a:stretch>
        </p:blipFill>
        <p:spPr>
          <a:xfrm>
            <a:off x="4038600" y="5927217"/>
            <a:ext cx="571500" cy="295275"/>
          </a:xfrm>
          <a:prstGeom prst="rect">
            <a:avLst/>
          </a:prstGeom>
        </p:spPr>
      </p:pic>
      <p:pic>
        <p:nvPicPr>
          <p:cNvPr id="99" name="object 101">
            <a:extLst>
              <a:ext uri="{FF2B5EF4-FFF2-40B4-BE49-F238E27FC236}">
                <a16:creationId xmlns:a16="http://schemas.microsoft.com/office/drawing/2014/main" id="{78E043EF-1355-327B-FA0A-E155A967FF19}"/>
              </a:ext>
            </a:extLst>
          </p:cNvPr>
          <p:cNvPicPr/>
          <p:nvPr/>
        </p:nvPicPr>
        <p:blipFill>
          <a:blip r:embed="rId72" cstate="print"/>
          <a:stretch>
            <a:fillRect/>
          </a:stretch>
        </p:blipFill>
        <p:spPr>
          <a:xfrm>
            <a:off x="5543550" y="5889117"/>
            <a:ext cx="438150" cy="342900"/>
          </a:xfrm>
          <a:prstGeom prst="rect">
            <a:avLst/>
          </a:prstGeom>
        </p:spPr>
      </p:pic>
      <p:pic>
        <p:nvPicPr>
          <p:cNvPr id="100" name="object 102">
            <a:extLst>
              <a:ext uri="{FF2B5EF4-FFF2-40B4-BE49-F238E27FC236}">
                <a16:creationId xmlns:a16="http://schemas.microsoft.com/office/drawing/2014/main" id="{F11A6283-681A-3767-3763-3349F07038EE}"/>
              </a:ext>
            </a:extLst>
          </p:cNvPr>
          <p:cNvPicPr/>
          <p:nvPr/>
        </p:nvPicPr>
        <p:blipFill>
          <a:blip r:embed="rId73" cstate="print"/>
          <a:stretch>
            <a:fillRect/>
          </a:stretch>
        </p:blipFill>
        <p:spPr>
          <a:xfrm>
            <a:off x="6534517" y="1166296"/>
            <a:ext cx="504124" cy="502920"/>
          </a:xfrm>
          <a:prstGeom prst="rect">
            <a:avLst/>
          </a:prstGeom>
        </p:spPr>
      </p:pic>
      <p:pic>
        <p:nvPicPr>
          <p:cNvPr id="101" name="object 104">
            <a:extLst>
              <a:ext uri="{FF2B5EF4-FFF2-40B4-BE49-F238E27FC236}">
                <a16:creationId xmlns:a16="http://schemas.microsoft.com/office/drawing/2014/main" id="{C0C94FA3-5A9F-F050-99B2-3B697905FA1C}"/>
              </a:ext>
            </a:extLst>
          </p:cNvPr>
          <p:cNvPicPr/>
          <p:nvPr/>
        </p:nvPicPr>
        <p:blipFill>
          <a:blip r:embed="rId74" cstate="print"/>
          <a:stretch>
            <a:fillRect/>
          </a:stretch>
        </p:blipFill>
        <p:spPr>
          <a:xfrm>
            <a:off x="7191375" y="859917"/>
            <a:ext cx="1133475" cy="600075"/>
          </a:xfrm>
          <a:prstGeom prst="rect">
            <a:avLst/>
          </a:prstGeom>
        </p:spPr>
      </p:pic>
      <p:pic>
        <p:nvPicPr>
          <p:cNvPr id="102" name="object 105">
            <a:extLst>
              <a:ext uri="{FF2B5EF4-FFF2-40B4-BE49-F238E27FC236}">
                <a16:creationId xmlns:a16="http://schemas.microsoft.com/office/drawing/2014/main" id="{C194EA1C-BF78-BA17-0D87-B40D789D9B57}"/>
              </a:ext>
            </a:extLst>
          </p:cNvPr>
          <p:cNvPicPr/>
          <p:nvPr/>
        </p:nvPicPr>
        <p:blipFill>
          <a:blip r:embed="rId75" cstate="print"/>
          <a:stretch>
            <a:fillRect/>
          </a:stretch>
        </p:blipFill>
        <p:spPr>
          <a:xfrm>
            <a:off x="7143750" y="1440942"/>
            <a:ext cx="581025" cy="504825"/>
          </a:xfrm>
          <a:prstGeom prst="rect">
            <a:avLst/>
          </a:prstGeom>
        </p:spPr>
      </p:pic>
      <p:pic>
        <p:nvPicPr>
          <p:cNvPr id="103" name="object 106">
            <a:extLst>
              <a:ext uri="{FF2B5EF4-FFF2-40B4-BE49-F238E27FC236}">
                <a16:creationId xmlns:a16="http://schemas.microsoft.com/office/drawing/2014/main" id="{0B6354D0-072D-CC02-3E82-28E23E48AD6C}"/>
              </a:ext>
            </a:extLst>
          </p:cNvPr>
          <p:cNvPicPr/>
          <p:nvPr/>
        </p:nvPicPr>
        <p:blipFill>
          <a:blip r:embed="rId76" cstate="print"/>
          <a:stretch>
            <a:fillRect/>
          </a:stretch>
        </p:blipFill>
        <p:spPr>
          <a:xfrm>
            <a:off x="7782829" y="1364976"/>
            <a:ext cx="1133414" cy="275860"/>
          </a:xfrm>
          <a:prstGeom prst="rect">
            <a:avLst/>
          </a:prstGeom>
        </p:spPr>
      </p:pic>
      <p:pic>
        <p:nvPicPr>
          <p:cNvPr id="104" name="object 107">
            <a:extLst>
              <a:ext uri="{FF2B5EF4-FFF2-40B4-BE49-F238E27FC236}">
                <a16:creationId xmlns:a16="http://schemas.microsoft.com/office/drawing/2014/main" id="{936EFBEC-88E5-9334-8768-8F3F6ECE91C6}"/>
              </a:ext>
            </a:extLst>
          </p:cNvPr>
          <p:cNvPicPr/>
          <p:nvPr/>
        </p:nvPicPr>
        <p:blipFill>
          <a:blip r:embed="rId77" cstate="print"/>
          <a:stretch>
            <a:fillRect/>
          </a:stretch>
        </p:blipFill>
        <p:spPr>
          <a:xfrm>
            <a:off x="9486458" y="1192984"/>
            <a:ext cx="861027" cy="398206"/>
          </a:xfrm>
          <a:prstGeom prst="rect">
            <a:avLst/>
          </a:prstGeom>
        </p:spPr>
      </p:pic>
      <p:pic>
        <p:nvPicPr>
          <p:cNvPr id="105" name="object 109">
            <a:extLst>
              <a:ext uri="{FF2B5EF4-FFF2-40B4-BE49-F238E27FC236}">
                <a16:creationId xmlns:a16="http://schemas.microsoft.com/office/drawing/2014/main" id="{CD23D624-8F04-F8DA-1D8E-D2491D267910}"/>
              </a:ext>
            </a:extLst>
          </p:cNvPr>
          <p:cNvPicPr/>
          <p:nvPr/>
        </p:nvPicPr>
        <p:blipFill>
          <a:blip r:embed="rId78" cstate="print"/>
          <a:stretch>
            <a:fillRect/>
          </a:stretch>
        </p:blipFill>
        <p:spPr>
          <a:xfrm>
            <a:off x="10610850" y="745617"/>
            <a:ext cx="1000125" cy="1000125"/>
          </a:xfrm>
          <a:prstGeom prst="rect">
            <a:avLst/>
          </a:prstGeom>
        </p:spPr>
      </p:pic>
      <p:pic>
        <p:nvPicPr>
          <p:cNvPr id="106" name="object 110">
            <a:extLst>
              <a:ext uri="{FF2B5EF4-FFF2-40B4-BE49-F238E27FC236}">
                <a16:creationId xmlns:a16="http://schemas.microsoft.com/office/drawing/2014/main" id="{9E66EF7B-B2BA-7664-EF36-EE733A363333}"/>
              </a:ext>
            </a:extLst>
          </p:cNvPr>
          <p:cNvPicPr/>
          <p:nvPr/>
        </p:nvPicPr>
        <p:blipFill>
          <a:blip r:embed="rId79" cstate="print"/>
          <a:stretch>
            <a:fillRect/>
          </a:stretch>
        </p:blipFill>
        <p:spPr>
          <a:xfrm>
            <a:off x="10658475" y="1545717"/>
            <a:ext cx="1000125" cy="333375"/>
          </a:xfrm>
          <a:prstGeom prst="rect">
            <a:avLst/>
          </a:prstGeom>
        </p:spPr>
      </p:pic>
      <p:pic>
        <p:nvPicPr>
          <p:cNvPr id="107" name="object 112">
            <a:extLst>
              <a:ext uri="{FF2B5EF4-FFF2-40B4-BE49-F238E27FC236}">
                <a16:creationId xmlns:a16="http://schemas.microsoft.com/office/drawing/2014/main" id="{530CD264-545F-FDC1-E4E9-653F2C925AD7}"/>
              </a:ext>
            </a:extLst>
          </p:cNvPr>
          <p:cNvPicPr/>
          <p:nvPr/>
        </p:nvPicPr>
        <p:blipFill>
          <a:blip r:embed="rId80" cstate="print"/>
          <a:stretch>
            <a:fillRect/>
          </a:stretch>
        </p:blipFill>
        <p:spPr>
          <a:xfrm>
            <a:off x="9472047" y="2884412"/>
            <a:ext cx="782180" cy="180109"/>
          </a:xfrm>
          <a:prstGeom prst="rect">
            <a:avLst/>
          </a:prstGeom>
        </p:spPr>
      </p:pic>
      <p:pic>
        <p:nvPicPr>
          <p:cNvPr id="108" name="object 113">
            <a:extLst>
              <a:ext uri="{FF2B5EF4-FFF2-40B4-BE49-F238E27FC236}">
                <a16:creationId xmlns:a16="http://schemas.microsoft.com/office/drawing/2014/main" id="{499DA59B-06A4-4FC0-2831-2B3808550F12}"/>
              </a:ext>
            </a:extLst>
          </p:cNvPr>
          <p:cNvPicPr/>
          <p:nvPr/>
        </p:nvPicPr>
        <p:blipFill>
          <a:blip r:embed="rId81" cstate="print"/>
          <a:stretch>
            <a:fillRect/>
          </a:stretch>
        </p:blipFill>
        <p:spPr>
          <a:xfrm>
            <a:off x="10182224" y="2583942"/>
            <a:ext cx="857250" cy="361950"/>
          </a:xfrm>
          <a:prstGeom prst="rect">
            <a:avLst/>
          </a:prstGeom>
        </p:spPr>
      </p:pic>
      <p:pic>
        <p:nvPicPr>
          <p:cNvPr id="109" name="object 114">
            <a:extLst>
              <a:ext uri="{FF2B5EF4-FFF2-40B4-BE49-F238E27FC236}">
                <a16:creationId xmlns:a16="http://schemas.microsoft.com/office/drawing/2014/main" id="{A9A8500E-FBB0-59E2-4FDE-403298F01977}"/>
              </a:ext>
            </a:extLst>
          </p:cNvPr>
          <p:cNvPicPr/>
          <p:nvPr/>
        </p:nvPicPr>
        <p:blipFill>
          <a:blip r:embed="rId82" cstate="print"/>
          <a:stretch>
            <a:fillRect/>
          </a:stretch>
        </p:blipFill>
        <p:spPr>
          <a:xfrm>
            <a:off x="11072664" y="2569337"/>
            <a:ext cx="455168" cy="360341"/>
          </a:xfrm>
          <a:prstGeom prst="rect">
            <a:avLst/>
          </a:prstGeom>
        </p:spPr>
      </p:pic>
      <p:pic>
        <p:nvPicPr>
          <p:cNvPr id="110" name="object 115">
            <a:extLst>
              <a:ext uri="{FF2B5EF4-FFF2-40B4-BE49-F238E27FC236}">
                <a16:creationId xmlns:a16="http://schemas.microsoft.com/office/drawing/2014/main" id="{D6AAEC74-D2E8-E916-F9E9-0732443D4D8E}"/>
              </a:ext>
            </a:extLst>
          </p:cNvPr>
          <p:cNvPicPr/>
          <p:nvPr/>
        </p:nvPicPr>
        <p:blipFill>
          <a:blip r:embed="rId83" cstate="print"/>
          <a:stretch>
            <a:fillRect/>
          </a:stretch>
        </p:blipFill>
        <p:spPr>
          <a:xfrm>
            <a:off x="11125896" y="3039984"/>
            <a:ext cx="468351" cy="294829"/>
          </a:xfrm>
          <a:prstGeom prst="rect">
            <a:avLst/>
          </a:prstGeom>
        </p:spPr>
      </p:pic>
      <p:pic>
        <p:nvPicPr>
          <p:cNvPr id="111" name="object 116">
            <a:extLst>
              <a:ext uri="{FF2B5EF4-FFF2-40B4-BE49-F238E27FC236}">
                <a16:creationId xmlns:a16="http://schemas.microsoft.com/office/drawing/2014/main" id="{5E2C5D6A-78FF-4FFE-B8DF-E928A328D29E}"/>
              </a:ext>
            </a:extLst>
          </p:cNvPr>
          <p:cNvPicPr/>
          <p:nvPr/>
        </p:nvPicPr>
        <p:blipFill>
          <a:blip r:embed="rId84" cstate="print"/>
          <a:stretch>
            <a:fillRect/>
          </a:stretch>
        </p:blipFill>
        <p:spPr>
          <a:xfrm>
            <a:off x="9417990" y="2643473"/>
            <a:ext cx="709319" cy="123641"/>
          </a:xfrm>
          <a:prstGeom prst="rect">
            <a:avLst/>
          </a:prstGeom>
        </p:spPr>
      </p:pic>
      <p:pic>
        <p:nvPicPr>
          <p:cNvPr id="112" name="object 117">
            <a:extLst>
              <a:ext uri="{FF2B5EF4-FFF2-40B4-BE49-F238E27FC236}">
                <a16:creationId xmlns:a16="http://schemas.microsoft.com/office/drawing/2014/main" id="{84A86A34-8720-27FC-62F7-C44199C78B77}"/>
              </a:ext>
            </a:extLst>
          </p:cNvPr>
          <p:cNvPicPr/>
          <p:nvPr/>
        </p:nvPicPr>
        <p:blipFill>
          <a:blip r:embed="rId85" cstate="print"/>
          <a:stretch>
            <a:fillRect/>
          </a:stretch>
        </p:blipFill>
        <p:spPr>
          <a:xfrm>
            <a:off x="9896475" y="3117342"/>
            <a:ext cx="933450" cy="219075"/>
          </a:xfrm>
          <a:prstGeom prst="rect">
            <a:avLst/>
          </a:prstGeom>
        </p:spPr>
      </p:pic>
      <p:pic>
        <p:nvPicPr>
          <p:cNvPr id="113" name="object 118">
            <a:extLst>
              <a:ext uri="{FF2B5EF4-FFF2-40B4-BE49-F238E27FC236}">
                <a16:creationId xmlns:a16="http://schemas.microsoft.com/office/drawing/2014/main" id="{76E0AC12-77B3-6AC8-8A3A-D1C670B3DDEF}"/>
              </a:ext>
            </a:extLst>
          </p:cNvPr>
          <p:cNvPicPr/>
          <p:nvPr/>
        </p:nvPicPr>
        <p:blipFill>
          <a:blip r:embed="rId86" cstate="print"/>
          <a:stretch>
            <a:fillRect/>
          </a:stretch>
        </p:blipFill>
        <p:spPr>
          <a:xfrm>
            <a:off x="6491118" y="2474240"/>
            <a:ext cx="643106" cy="262101"/>
          </a:xfrm>
          <a:prstGeom prst="rect">
            <a:avLst/>
          </a:prstGeom>
        </p:spPr>
      </p:pic>
      <p:pic>
        <p:nvPicPr>
          <p:cNvPr id="114" name="object 120">
            <a:extLst>
              <a:ext uri="{FF2B5EF4-FFF2-40B4-BE49-F238E27FC236}">
                <a16:creationId xmlns:a16="http://schemas.microsoft.com/office/drawing/2014/main" id="{667E10FE-B834-6EDF-3721-6C9DD6A5A0FF}"/>
              </a:ext>
            </a:extLst>
          </p:cNvPr>
          <p:cNvPicPr/>
          <p:nvPr/>
        </p:nvPicPr>
        <p:blipFill>
          <a:blip r:embed="rId87" cstate="print"/>
          <a:stretch>
            <a:fillRect/>
          </a:stretch>
        </p:blipFill>
        <p:spPr>
          <a:xfrm>
            <a:off x="6550231" y="2830107"/>
            <a:ext cx="952005" cy="256309"/>
          </a:xfrm>
          <a:prstGeom prst="rect">
            <a:avLst/>
          </a:prstGeom>
        </p:spPr>
      </p:pic>
      <p:pic>
        <p:nvPicPr>
          <p:cNvPr id="115" name="object 121">
            <a:extLst>
              <a:ext uri="{FF2B5EF4-FFF2-40B4-BE49-F238E27FC236}">
                <a16:creationId xmlns:a16="http://schemas.microsoft.com/office/drawing/2014/main" id="{70EB1BF4-E0FF-38E8-935D-44D1828C8C7D}"/>
              </a:ext>
            </a:extLst>
          </p:cNvPr>
          <p:cNvPicPr/>
          <p:nvPr/>
        </p:nvPicPr>
        <p:blipFill>
          <a:blip r:embed="rId88" cstate="print"/>
          <a:stretch>
            <a:fillRect/>
          </a:stretch>
        </p:blipFill>
        <p:spPr>
          <a:xfrm>
            <a:off x="7515225" y="2641092"/>
            <a:ext cx="533400" cy="228600"/>
          </a:xfrm>
          <a:prstGeom prst="rect">
            <a:avLst/>
          </a:prstGeom>
        </p:spPr>
      </p:pic>
      <p:pic>
        <p:nvPicPr>
          <p:cNvPr id="116" name="object 122">
            <a:extLst>
              <a:ext uri="{FF2B5EF4-FFF2-40B4-BE49-F238E27FC236}">
                <a16:creationId xmlns:a16="http://schemas.microsoft.com/office/drawing/2014/main" id="{4F67CA71-0537-1849-5FB9-0638C29AD755}"/>
              </a:ext>
            </a:extLst>
          </p:cNvPr>
          <p:cNvPicPr/>
          <p:nvPr/>
        </p:nvPicPr>
        <p:blipFill>
          <a:blip r:embed="rId89" cstate="print"/>
          <a:stretch>
            <a:fillRect/>
          </a:stretch>
        </p:blipFill>
        <p:spPr>
          <a:xfrm>
            <a:off x="7581900" y="2937248"/>
            <a:ext cx="933450" cy="335756"/>
          </a:xfrm>
          <a:prstGeom prst="rect">
            <a:avLst/>
          </a:prstGeom>
        </p:spPr>
      </p:pic>
      <p:pic>
        <p:nvPicPr>
          <p:cNvPr id="117" name="object 123">
            <a:extLst>
              <a:ext uri="{FF2B5EF4-FFF2-40B4-BE49-F238E27FC236}">
                <a16:creationId xmlns:a16="http://schemas.microsoft.com/office/drawing/2014/main" id="{2A2F1575-8733-12CE-2B6D-91EAD3909049}"/>
              </a:ext>
            </a:extLst>
          </p:cNvPr>
          <p:cNvPicPr/>
          <p:nvPr/>
        </p:nvPicPr>
        <p:blipFill>
          <a:blip r:embed="rId90" cstate="print"/>
          <a:stretch>
            <a:fillRect/>
          </a:stretch>
        </p:blipFill>
        <p:spPr>
          <a:xfrm>
            <a:off x="8267700" y="2717292"/>
            <a:ext cx="866775" cy="285750"/>
          </a:xfrm>
          <a:prstGeom prst="rect">
            <a:avLst/>
          </a:prstGeom>
        </p:spPr>
      </p:pic>
      <p:pic>
        <p:nvPicPr>
          <p:cNvPr id="118" name="object 124">
            <a:extLst>
              <a:ext uri="{FF2B5EF4-FFF2-40B4-BE49-F238E27FC236}">
                <a16:creationId xmlns:a16="http://schemas.microsoft.com/office/drawing/2014/main" id="{58EBECDA-B1E4-50FE-819D-139DC1FC6BE3}"/>
              </a:ext>
            </a:extLst>
          </p:cNvPr>
          <p:cNvPicPr/>
          <p:nvPr/>
        </p:nvPicPr>
        <p:blipFill>
          <a:blip r:embed="rId91" cstate="print"/>
          <a:stretch>
            <a:fillRect/>
          </a:stretch>
        </p:blipFill>
        <p:spPr>
          <a:xfrm>
            <a:off x="6438900" y="3172841"/>
            <a:ext cx="619125" cy="195071"/>
          </a:xfrm>
          <a:prstGeom prst="rect">
            <a:avLst/>
          </a:prstGeom>
        </p:spPr>
      </p:pic>
      <p:pic>
        <p:nvPicPr>
          <p:cNvPr id="119" name="object 125">
            <a:extLst>
              <a:ext uri="{FF2B5EF4-FFF2-40B4-BE49-F238E27FC236}">
                <a16:creationId xmlns:a16="http://schemas.microsoft.com/office/drawing/2014/main" id="{9DBAAEBC-E790-C249-9C33-A617C12123BA}"/>
              </a:ext>
            </a:extLst>
          </p:cNvPr>
          <p:cNvPicPr/>
          <p:nvPr/>
        </p:nvPicPr>
        <p:blipFill>
          <a:blip r:embed="rId92" cstate="print"/>
          <a:stretch>
            <a:fillRect/>
          </a:stretch>
        </p:blipFill>
        <p:spPr>
          <a:xfrm>
            <a:off x="7086600" y="3126867"/>
            <a:ext cx="504825" cy="342900"/>
          </a:xfrm>
          <a:prstGeom prst="rect">
            <a:avLst/>
          </a:prstGeom>
        </p:spPr>
      </p:pic>
      <p:pic>
        <p:nvPicPr>
          <p:cNvPr id="120" name="object 126">
            <a:extLst>
              <a:ext uri="{FF2B5EF4-FFF2-40B4-BE49-F238E27FC236}">
                <a16:creationId xmlns:a16="http://schemas.microsoft.com/office/drawing/2014/main" id="{279C78D5-9828-0967-565A-A1CBBEDD7C73}"/>
              </a:ext>
            </a:extLst>
          </p:cNvPr>
          <p:cNvPicPr/>
          <p:nvPr/>
        </p:nvPicPr>
        <p:blipFill>
          <a:blip r:embed="rId93" cstate="print"/>
          <a:stretch>
            <a:fillRect/>
          </a:stretch>
        </p:blipFill>
        <p:spPr>
          <a:xfrm>
            <a:off x="8353425" y="3012567"/>
            <a:ext cx="819150" cy="476250"/>
          </a:xfrm>
          <a:prstGeom prst="rect">
            <a:avLst/>
          </a:prstGeom>
        </p:spPr>
      </p:pic>
      <p:pic>
        <p:nvPicPr>
          <p:cNvPr id="121" name="object 127">
            <a:extLst>
              <a:ext uri="{FF2B5EF4-FFF2-40B4-BE49-F238E27FC236}">
                <a16:creationId xmlns:a16="http://schemas.microsoft.com/office/drawing/2014/main" id="{C5363A3C-CF2F-3302-EDD8-116849F63AA2}"/>
              </a:ext>
            </a:extLst>
          </p:cNvPr>
          <p:cNvPicPr/>
          <p:nvPr/>
        </p:nvPicPr>
        <p:blipFill>
          <a:blip r:embed="rId94" cstate="print"/>
          <a:stretch>
            <a:fillRect/>
          </a:stretch>
        </p:blipFill>
        <p:spPr>
          <a:xfrm>
            <a:off x="8424655" y="2326767"/>
            <a:ext cx="496956" cy="327837"/>
          </a:xfrm>
          <a:prstGeom prst="rect">
            <a:avLst/>
          </a:prstGeom>
        </p:spPr>
      </p:pic>
      <p:pic>
        <p:nvPicPr>
          <p:cNvPr id="122" name="object 130">
            <a:extLst>
              <a:ext uri="{FF2B5EF4-FFF2-40B4-BE49-F238E27FC236}">
                <a16:creationId xmlns:a16="http://schemas.microsoft.com/office/drawing/2014/main" id="{4137F458-8FBA-773A-8ADF-2CE18918BE74}"/>
              </a:ext>
            </a:extLst>
          </p:cNvPr>
          <p:cNvPicPr/>
          <p:nvPr/>
        </p:nvPicPr>
        <p:blipFill>
          <a:blip r:embed="rId95" cstate="print"/>
          <a:stretch>
            <a:fillRect/>
          </a:stretch>
        </p:blipFill>
        <p:spPr>
          <a:xfrm>
            <a:off x="9315450" y="1665272"/>
            <a:ext cx="1085850" cy="283779"/>
          </a:xfrm>
          <a:prstGeom prst="rect">
            <a:avLst/>
          </a:prstGeom>
        </p:spPr>
      </p:pic>
      <p:sp>
        <p:nvSpPr>
          <p:cNvPr id="123" name="Rectangle 122">
            <a:extLst>
              <a:ext uri="{FF2B5EF4-FFF2-40B4-BE49-F238E27FC236}">
                <a16:creationId xmlns:a16="http://schemas.microsoft.com/office/drawing/2014/main" id="{9163DADF-A326-1AA6-F89D-150D928F3A69}"/>
              </a:ext>
            </a:extLst>
          </p:cNvPr>
          <p:cNvSpPr/>
          <p:nvPr/>
        </p:nvSpPr>
        <p:spPr>
          <a:xfrm>
            <a:off x="10602410" y="1031367"/>
            <a:ext cx="995423" cy="32139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Text Placeholder 1">
            <a:extLst>
              <a:ext uri="{FF2B5EF4-FFF2-40B4-BE49-F238E27FC236}">
                <a16:creationId xmlns:a16="http://schemas.microsoft.com/office/drawing/2014/main" id="{564ED432-B778-A8D8-0B06-AB6DE09A6F4D}"/>
              </a:ext>
            </a:extLst>
          </p:cNvPr>
          <p:cNvSpPr txBox="1">
            <a:spLocks/>
          </p:cNvSpPr>
          <p:nvPr/>
        </p:nvSpPr>
        <p:spPr>
          <a:xfrm>
            <a:off x="5242178" y="288992"/>
            <a:ext cx="6972598" cy="369945"/>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b="1" i="0" kern="1200" spc="-25">
                <a:solidFill>
                  <a:srgbClr val="1D1D1D"/>
                </a:solidFill>
                <a:latin typeface="Segoe UI"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D1D1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D1D1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b="1" spc="-25">
                <a:latin typeface="Segoe UI" pitchFamily="34" charset="0"/>
              </a:defRPr>
            </a:pPr>
            <a:r>
              <a:rPr kumimoji="0" lang="en-US" sz="2000" i="0" u="none" strike="noStrike" kern="1200" cap="none" spc="-25" normalizeH="0" baseline="0" noProof="0" dirty="0">
                <a:ln>
                  <a:noFill/>
                </a:ln>
                <a:solidFill>
                  <a:srgbClr val="765FFF"/>
                </a:solidFill>
                <a:effectLst/>
                <a:uLnTx/>
                <a:uFillTx/>
                <a:latin typeface="Segoe UI" pitchFamily="34" charset="0"/>
                <a:cs typeface="+mn-cs"/>
              </a:rPr>
              <a:t>ILLUSTRATIVE, NOT COMPREHENSIVE</a:t>
            </a:r>
          </a:p>
        </p:txBody>
      </p:sp>
      <p:sp>
        <p:nvSpPr>
          <p:cNvPr id="125" name="TextBox 124">
            <a:extLst>
              <a:ext uri="{FF2B5EF4-FFF2-40B4-BE49-F238E27FC236}">
                <a16:creationId xmlns:a16="http://schemas.microsoft.com/office/drawing/2014/main" id="{BEA013C4-1F45-C914-448F-F89AFADA7DC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998977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40C73-D2AE-F086-5281-419CDA57D868}"/>
              </a:ext>
            </a:extLst>
          </p:cNvPr>
          <p:cNvSpPr>
            <a:spLocks noGrp="1"/>
          </p:cNvSpPr>
          <p:nvPr>
            <p:ph type="title"/>
          </p:nvPr>
        </p:nvSpPr>
        <p:spPr/>
        <p:txBody>
          <a:bodyPr/>
          <a:lstStyle/>
          <a:p>
            <a:r>
              <a:rPr lang="en-US" dirty="0"/>
              <a:t>CEO-led Transformation</a:t>
            </a:r>
          </a:p>
        </p:txBody>
      </p:sp>
      <p:sp>
        <p:nvSpPr>
          <p:cNvPr id="3" name="Text Placeholder 2">
            <a:extLst>
              <a:ext uri="{FF2B5EF4-FFF2-40B4-BE49-F238E27FC236}">
                <a16:creationId xmlns:a16="http://schemas.microsoft.com/office/drawing/2014/main" id="{717261CC-51AE-00FF-3B9E-969145126C2D}"/>
              </a:ext>
            </a:extLst>
          </p:cNvPr>
          <p:cNvSpPr>
            <a:spLocks noGrp="1"/>
          </p:cNvSpPr>
          <p:nvPr>
            <p:ph type="body" sz="quarter" idx="12"/>
          </p:nvPr>
        </p:nvSpPr>
        <p:spPr/>
        <p:txBody>
          <a:bodyPr/>
          <a:lstStyle/>
          <a:p>
            <a:r>
              <a:rPr lang="en-US" dirty="0"/>
              <a:t>Derailers</a:t>
            </a:r>
          </a:p>
          <a:p>
            <a:endParaRPr lang="en-US" dirty="0"/>
          </a:p>
        </p:txBody>
      </p:sp>
      <p:sp>
        <p:nvSpPr>
          <p:cNvPr id="4" name="Slide Number Placeholder 3">
            <a:extLst>
              <a:ext uri="{FF2B5EF4-FFF2-40B4-BE49-F238E27FC236}">
                <a16:creationId xmlns:a16="http://schemas.microsoft.com/office/drawing/2014/main" id="{6B752E13-34ED-6998-19C4-6F07DBD1F6AB}"/>
              </a:ext>
            </a:extLst>
          </p:cNvPr>
          <p:cNvSpPr>
            <a:spLocks noGrp="1"/>
          </p:cNvSpPr>
          <p:nvPr>
            <p:ph type="sldNum" sz="quarter" idx="4"/>
          </p:nvPr>
        </p:nvSpPr>
        <p:spPr/>
        <p:txBody>
          <a:bodyPr/>
          <a:lstStyle/>
          <a:p>
            <a:pPr algn="ctr"/>
            <a:fld id="{7DA59B58-B945-4B36-BC6B-9C26C933A008}" type="slidenum">
              <a:rPr lang="en-US" smtClean="0"/>
              <a:t>3</a:t>
            </a:fld>
            <a:endParaRPr lang="en-US"/>
          </a:p>
        </p:txBody>
      </p:sp>
      <p:sp>
        <p:nvSpPr>
          <p:cNvPr id="6" name="Rectangle: Rounded Corners 3">
            <a:extLst>
              <a:ext uri="{FF2B5EF4-FFF2-40B4-BE49-F238E27FC236}">
                <a16:creationId xmlns:a16="http://schemas.microsoft.com/office/drawing/2014/main" id="{FAD6968C-0624-04DD-128C-2E3014AE3CCB}"/>
              </a:ext>
            </a:extLst>
          </p:cNvPr>
          <p:cNvSpPr/>
          <p:nvPr/>
        </p:nvSpPr>
        <p:spPr>
          <a:xfrm>
            <a:off x="736124"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7" name="Rectangle: Rounded Corners 4">
            <a:extLst>
              <a:ext uri="{FF2B5EF4-FFF2-40B4-BE49-F238E27FC236}">
                <a16:creationId xmlns:a16="http://schemas.microsoft.com/office/drawing/2014/main" id="{42FE1615-EA0E-2011-EFCF-3622784D62D1}"/>
              </a:ext>
            </a:extLst>
          </p:cNvPr>
          <p:cNvSpPr/>
          <p:nvPr/>
        </p:nvSpPr>
        <p:spPr>
          <a:xfrm>
            <a:off x="8232640"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8" name="Rectangle: Rounded Corners 5">
            <a:extLst>
              <a:ext uri="{FF2B5EF4-FFF2-40B4-BE49-F238E27FC236}">
                <a16:creationId xmlns:a16="http://schemas.microsoft.com/office/drawing/2014/main" id="{B1F24BF6-3C8B-A56B-7A86-F46799C5627B}"/>
              </a:ext>
            </a:extLst>
          </p:cNvPr>
          <p:cNvSpPr/>
          <p:nvPr/>
        </p:nvSpPr>
        <p:spPr>
          <a:xfrm>
            <a:off x="4484382"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60C8CA23-A154-695B-8507-472D8EC174D9}"/>
              </a:ext>
            </a:extLst>
          </p:cNvPr>
          <p:cNvSpPr txBox="1"/>
          <p:nvPr/>
        </p:nvSpPr>
        <p:spPr>
          <a:xfrm>
            <a:off x="1604195" y="1630530"/>
            <a:ext cx="1877245" cy="318100"/>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Light" panose="020F0502020204030203" pitchFamily="34" charset="0"/>
                <a:cs typeface="Arial" panose="020B0604020202020204" pitchFamily="34" charset="0"/>
              </a:rPr>
              <a:t>DOING TOO MUCH</a:t>
            </a:r>
          </a:p>
        </p:txBody>
      </p:sp>
      <p:sp>
        <p:nvSpPr>
          <p:cNvPr id="10" name="TextBox 9">
            <a:extLst>
              <a:ext uri="{FF2B5EF4-FFF2-40B4-BE49-F238E27FC236}">
                <a16:creationId xmlns:a16="http://schemas.microsoft.com/office/drawing/2014/main" id="{DDF6DA07-9591-17A9-5377-82BB05BBC2F1}"/>
              </a:ext>
            </a:extLst>
          </p:cNvPr>
          <p:cNvSpPr txBox="1"/>
          <p:nvPr/>
        </p:nvSpPr>
        <p:spPr>
          <a:xfrm>
            <a:off x="4818756" y="1635808"/>
            <a:ext cx="2935419" cy="318100"/>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PICKED THE WRONG PEOPLE</a:t>
            </a:r>
          </a:p>
        </p:txBody>
      </p:sp>
      <p:sp>
        <p:nvSpPr>
          <p:cNvPr id="11" name="TextBox 10">
            <a:extLst>
              <a:ext uri="{FF2B5EF4-FFF2-40B4-BE49-F238E27FC236}">
                <a16:creationId xmlns:a16="http://schemas.microsoft.com/office/drawing/2014/main" id="{A55A867D-B279-3936-0B9D-85101C3E6025}"/>
              </a:ext>
            </a:extLst>
          </p:cNvPr>
          <p:cNvSpPr txBox="1"/>
          <p:nvPr/>
        </p:nvSpPr>
        <p:spPr>
          <a:xfrm>
            <a:off x="8699335" y="1630529"/>
            <a:ext cx="2670763" cy="543867"/>
          </a:xfrm>
          <a:prstGeom prst="rect">
            <a:avLst/>
          </a:prstGeom>
          <a:noFill/>
        </p:spPr>
        <p:txBody>
          <a:bodyPr wrap="squar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NOT ENOUGH TALENT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AT THE PROBLEM</a:t>
            </a:r>
          </a:p>
        </p:txBody>
      </p:sp>
      <p:pic>
        <p:nvPicPr>
          <p:cNvPr id="12" name="Picture 11">
            <a:extLst>
              <a:ext uri="{FF2B5EF4-FFF2-40B4-BE49-F238E27FC236}">
                <a16:creationId xmlns:a16="http://schemas.microsoft.com/office/drawing/2014/main" id="{58FC9FCC-BAB8-2896-550E-D7F1E0DFD4B7}"/>
              </a:ext>
            </a:extLst>
          </p:cNvPr>
          <p:cNvPicPr>
            <a:picLocks noChangeAspect="1"/>
          </p:cNvPicPr>
          <p:nvPr/>
        </p:nvPicPr>
        <p:blipFill>
          <a:blip r:embed="rId2">
            <a:duotone>
              <a:srgbClr val="765FFF"/>
              <a:srgbClr val="FFFFFF"/>
            </a:duotone>
          </a:blip>
          <a:stretch>
            <a:fillRect/>
          </a:stretch>
        </p:blipFill>
        <p:spPr>
          <a:xfrm>
            <a:off x="1641256" y="2370052"/>
            <a:ext cx="509232" cy="509232"/>
          </a:xfrm>
          <a:prstGeom prst="rect">
            <a:avLst/>
          </a:prstGeom>
        </p:spPr>
      </p:pic>
      <p:sp>
        <p:nvSpPr>
          <p:cNvPr id="13" name="TextBox 12">
            <a:extLst>
              <a:ext uri="{FF2B5EF4-FFF2-40B4-BE49-F238E27FC236}">
                <a16:creationId xmlns:a16="http://schemas.microsoft.com/office/drawing/2014/main" id="{6758A5AB-8C81-F093-5132-3AA734773C55}"/>
              </a:ext>
            </a:extLst>
          </p:cNvPr>
          <p:cNvSpPr txBox="1"/>
          <p:nvPr/>
        </p:nvSpPr>
        <p:spPr>
          <a:xfrm>
            <a:off x="2294585" y="2336033"/>
            <a:ext cx="1059906" cy="461665"/>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Think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BIG</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sp>
        <p:nvSpPr>
          <p:cNvPr id="14" name="TextBox 13">
            <a:extLst>
              <a:ext uri="{FF2B5EF4-FFF2-40B4-BE49-F238E27FC236}">
                <a16:creationId xmlns:a16="http://schemas.microsoft.com/office/drawing/2014/main" id="{64A3B69E-FE8F-3DE3-8C7B-2CAD92B8C6E3}"/>
              </a:ext>
            </a:extLst>
          </p:cNvPr>
          <p:cNvSpPr txBox="1"/>
          <p:nvPr/>
        </p:nvSpPr>
        <p:spPr>
          <a:xfrm>
            <a:off x="2294587" y="2938605"/>
            <a:ext cx="1019831" cy="461665"/>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Start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BIG</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2AB0578B-FDC5-6D27-191A-1ED9659103B1}"/>
              </a:ext>
            </a:extLst>
          </p:cNvPr>
          <p:cNvSpPr txBox="1"/>
          <p:nvPr/>
        </p:nvSpPr>
        <p:spPr>
          <a:xfrm>
            <a:off x="1938495" y="3642743"/>
            <a:ext cx="2275875" cy="461665"/>
          </a:xfrm>
          <a:prstGeom prst="rect">
            <a:avLst/>
          </a:prstGeom>
          <a:noFill/>
        </p:spPr>
        <p:txBody>
          <a:bodyPr wrap="squar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Move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s...l...o...w</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pic>
        <p:nvPicPr>
          <p:cNvPr id="16" name="Picture 2">
            <a:extLst>
              <a:ext uri="{FF2B5EF4-FFF2-40B4-BE49-F238E27FC236}">
                <a16:creationId xmlns:a16="http://schemas.microsoft.com/office/drawing/2014/main" id="{3D921386-0DFA-872E-A568-C9C68231BB4A}"/>
              </a:ext>
            </a:extLst>
          </p:cNvPr>
          <p:cNvPicPr>
            <a:picLocks noChangeAspect="1" noChangeArrowheads="1"/>
          </p:cNvPicPr>
          <p:nvPr/>
        </p:nvPicPr>
        <p:blipFill>
          <a:blip r:embed="rId3">
            <a:duotone>
              <a:srgbClr val="765FFF"/>
              <a:srgbClr val="FFFFFF"/>
            </a:duotone>
          </a:blip>
          <a:srcRect/>
          <a:stretch/>
        </p:blipFill>
        <p:spPr bwMode="auto">
          <a:xfrm>
            <a:off x="1637220" y="3017037"/>
            <a:ext cx="464496" cy="5711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AA3CD45D-C0AF-8D2C-E8CC-37B9ACEE17B1}"/>
              </a:ext>
            </a:extLst>
          </p:cNvPr>
          <p:cNvPicPr>
            <a:picLocks noChangeAspect="1"/>
          </p:cNvPicPr>
          <p:nvPr/>
        </p:nvPicPr>
        <p:blipFill>
          <a:blip r:embed="rId4">
            <a:duotone>
              <a:srgbClr val="765FFF"/>
              <a:srgbClr val="FFFFFF"/>
            </a:duotone>
          </a:blip>
          <a:stretch>
            <a:fillRect/>
          </a:stretch>
        </p:blipFill>
        <p:spPr>
          <a:xfrm>
            <a:off x="1032025" y="3523379"/>
            <a:ext cx="824652" cy="824652"/>
          </a:xfrm>
          <a:prstGeom prst="rect">
            <a:avLst/>
          </a:prstGeom>
        </p:spPr>
      </p:pic>
      <p:sp>
        <p:nvSpPr>
          <p:cNvPr id="18" name="Oval 17">
            <a:extLst>
              <a:ext uri="{FF2B5EF4-FFF2-40B4-BE49-F238E27FC236}">
                <a16:creationId xmlns:a16="http://schemas.microsoft.com/office/drawing/2014/main" id="{84FB6B18-9662-C5EF-F03D-ED239C364060}"/>
              </a:ext>
            </a:extLst>
          </p:cNvPr>
          <p:cNvSpPr/>
          <p:nvPr/>
        </p:nvSpPr>
        <p:spPr>
          <a:xfrm>
            <a:off x="634961"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1</a:t>
            </a:r>
          </a:p>
        </p:txBody>
      </p:sp>
      <p:sp>
        <p:nvSpPr>
          <p:cNvPr id="19" name="Oval 18">
            <a:extLst>
              <a:ext uri="{FF2B5EF4-FFF2-40B4-BE49-F238E27FC236}">
                <a16:creationId xmlns:a16="http://schemas.microsoft.com/office/drawing/2014/main" id="{F02468F9-9ECA-70B3-5730-8E742BD11E71}"/>
              </a:ext>
            </a:extLst>
          </p:cNvPr>
          <p:cNvSpPr/>
          <p:nvPr/>
        </p:nvSpPr>
        <p:spPr>
          <a:xfrm>
            <a:off x="4395700"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2</a:t>
            </a:r>
          </a:p>
        </p:txBody>
      </p:sp>
      <p:sp>
        <p:nvSpPr>
          <p:cNvPr id="20" name="Oval 19">
            <a:extLst>
              <a:ext uri="{FF2B5EF4-FFF2-40B4-BE49-F238E27FC236}">
                <a16:creationId xmlns:a16="http://schemas.microsoft.com/office/drawing/2014/main" id="{D668A9BE-6FF6-06D8-EA0E-15ADF6513FBD}"/>
              </a:ext>
            </a:extLst>
          </p:cNvPr>
          <p:cNvSpPr/>
          <p:nvPr/>
        </p:nvSpPr>
        <p:spPr>
          <a:xfrm>
            <a:off x="8126312"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3</a:t>
            </a:r>
          </a:p>
        </p:txBody>
      </p:sp>
      <p:sp>
        <p:nvSpPr>
          <p:cNvPr id="21" name="TextBox 20">
            <a:extLst>
              <a:ext uri="{FF2B5EF4-FFF2-40B4-BE49-F238E27FC236}">
                <a16:creationId xmlns:a16="http://schemas.microsoft.com/office/drawing/2014/main" id="{6589F403-8AB8-9ACC-F3F2-A78C6B9D6FDB}"/>
              </a:ext>
            </a:extLst>
          </p:cNvPr>
          <p:cNvSpPr txBox="1"/>
          <p:nvPr/>
        </p:nvSpPr>
        <p:spPr>
          <a:xfrm>
            <a:off x="4550528" y="2463039"/>
            <a:ext cx="1524776" cy="933461"/>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Capital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Investments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Evidence Based</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Risk Aware</a:t>
            </a:r>
          </a:p>
        </p:txBody>
      </p:sp>
      <p:sp>
        <p:nvSpPr>
          <p:cNvPr id="22" name="TextBox 21">
            <a:extLst>
              <a:ext uri="{FF2B5EF4-FFF2-40B4-BE49-F238E27FC236}">
                <a16:creationId xmlns:a16="http://schemas.microsoft.com/office/drawing/2014/main" id="{7D7C722A-AF65-9415-B1E8-41CA2788E4E1}"/>
              </a:ext>
            </a:extLst>
          </p:cNvPr>
          <p:cNvSpPr txBox="1"/>
          <p:nvPr/>
        </p:nvSpPr>
        <p:spPr>
          <a:xfrm>
            <a:off x="6541853" y="2463039"/>
            <a:ext cx="1486304" cy="933461"/>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Talent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Investments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Opinion Based</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Risk Blind</a:t>
            </a:r>
          </a:p>
        </p:txBody>
      </p:sp>
      <p:sp>
        <p:nvSpPr>
          <p:cNvPr id="23" name="TextBox 22">
            <a:extLst>
              <a:ext uri="{FF2B5EF4-FFF2-40B4-BE49-F238E27FC236}">
                <a16:creationId xmlns:a16="http://schemas.microsoft.com/office/drawing/2014/main" id="{039AA37E-61D6-0650-D42D-8B118652CCF1}"/>
              </a:ext>
            </a:extLst>
          </p:cNvPr>
          <p:cNvSpPr txBox="1"/>
          <p:nvPr/>
        </p:nvSpPr>
        <p:spPr>
          <a:xfrm>
            <a:off x="5749672" y="2630827"/>
            <a:ext cx="1073577"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VS.</a:t>
            </a:r>
            <a:endParaRPr kumimoji="0" lang="en-US" sz="1467" b="0" i="0" u="none" strike="noStrike" kern="1200" cap="none" spc="-10" normalizeH="0" baseline="0" noProof="0" dirty="0">
              <a:ln>
                <a:noFill/>
              </a:ln>
              <a:solidFill>
                <a:srgbClr val="281A42"/>
              </a:solidFill>
              <a:effectLst/>
              <a:uLnTx/>
              <a:uFillTx/>
              <a:latin typeface="Arial"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4140E0E9-10E5-75B4-CF79-7E48232FC485}"/>
              </a:ext>
            </a:extLst>
          </p:cNvPr>
          <p:cNvSpPr txBox="1"/>
          <p:nvPr/>
        </p:nvSpPr>
        <p:spPr>
          <a:xfrm>
            <a:off x="4527004" y="3611392"/>
            <a:ext cx="1571824"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chemeClr val="accent1"/>
                </a:solidFill>
                <a:effectLst/>
                <a:uLnTx/>
                <a:uFillTx/>
                <a:latin typeface="Arial" pitchFamily="34" charset="0"/>
                <a:ea typeface="Lato Light" panose="020F0502020204030203" pitchFamily="34" charset="0"/>
                <a:cs typeface="Arial" panose="020B0604020202020204" pitchFamily="34" charset="0"/>
              </a:rPr>
              <a:t>“Prove me wrong”</a:t>
            </a:r>
          </a:p>
        </p:txBody>
      </p:sp>
      <p:sp>
        <p:nvSpPr>
          <p:cNvPr id="25" name="TextBox 24">
            <a:extLst>
              <a:ext uri="{FF2B5EF4-FFF2-40B4-BE49-F238E27FC236}">
                <a16:creationId xmlns:a16="http://schemas.microsoft.com/office/drawing/2014/main" id="{F1BB1FE0-9342-72FD-D889-3936FC6FE2A6}"/>
              </a:ext>
            </a:extLst>
          </p:cNvPr>
          <p:cNvSpPr txBox="1"/>
          <p:nvPr/>
        </p:nvSpPr>
        <p:spPr>
          <a:xfrm>
            <a:off x="6499092" y="3611391"/>
            <a:ext cx="1571824"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281A42"/>
                </a:solidFill>
                <a:effectLst/>
                <a:uLnTx/>
                <a:uFillTx/>
                <a:latin typeface="Arial" pitchFamily="34" charset="0"/>
                <a:ea typeface="Lato Light" panose="020F0502020204030203" pitchFamily="34" charset="0"/>
                <a:cs typeface="Arial" panose="020B0604020202020204" pitchFamily="34" charset="0"/>
              </a:rPr>
              <a:t>“Fall in Love”</a:t>
            </a:r>
          </a:p>
        </p:txBody>
      </p:sp>
      <p:sp>
        <p:nvSpPr>
          <p:cNvPr id="26" name="TextBox 25">
            <a:extLst>
              <a:ext uri="{FF2B5EF4-FFF2-40B4-BE49-F238E27FC236}">
                <a16:creationId xmlns:a16="http://schemas.microsoft.com/office/drawing/2014/main" id="{00561FFB-AC1B-C39F-7586-A020CD32888E}"/>
              </a:ext>
            </a:extLst>
          </p:cNvPr>
          <p:cNvSpPr txBox="1"/>
          <p:nvPr/>
        </p:nvSpPr>
        <p:spPr>
          <a:xfrm>
            <a:off x="4685907" y="4703449"/>
            <a:ext cx="3182413" cy="707694"/>
          </a:xfrm>
          <a:prstGeom prst="rect">
            <a:avLst/>
          </a:prstGeom>
          <a:noFill/>
        </p:spPr>
        <p:txBody>
          <a:bodyPr wrap="square" lIns="91440" tIns="45720" rIns="91440" bIns="45720" rtlCol="0">
            <a:spAutoFit/>
          </a:bodyPr>
          <a:lstStyle/>
          <a:p>
            <a:pPr marL="285744" indent="-285744" defTabSz="914377">
              <a:buClrTx/>
              <a:buSzTx/>
              <a:buBlip>
                <a:blip r:embed="rId5"/>
              </a:buBlip>
              <a:defRPr/>
            </a:pPr>
            <a:r>
              <a:rPr lang="en-US" sz="1333" spc="-10" dirty="0">
                <a:solidFill>
                  <a:srgbClr val="1D1D1D"/>
                </a:solidFill>
                <a:latin typeface="Arial" pitchFamily="34" charset="0"/>
                <a:ea typeface="Lato Light" panose="020F0502020204030203" pitchFamily="34" charset="0"/>
                <a:cs typeface="Arial" panose="020B0604020202020204" pitchFamily="34" charset="0"/>
              </a:rPr>
              <a:t>Not aligning selection to value </a:t>
            </a:r>
          </a:p>
          <a:p>
            <a:pPr marL="285744" indent="-285744" defTabSz="914377">
              <a:buClrTx/>
              <a:buSzTx/>
              <a:buBlip>
                <a:blip r:embed="rId5"/>
              </a:buBlip>
              <a:defRPr/>
            </a:pPr>
            <a:r>
              <a:rPr lang="en-US" sz="1333" spc="-10" dirty="0">
                <a:solidFill>
                  <a:srgbClr val="1D1D1D"/>
                </a:solidFill>
                <a:latin typeface="Arial" pitchFamily="34" charset="0"/>
                <a:ea typeface="Lato Light" panose="020F0502020204030203" pitchFamily="34" charset="0"/>
                <a:cs typeface="Arial" panose="020B0604020202020204" pitchFamily="34" charset="0"/>
              </a:rPr>
              <a:t>Not factoring risks in role design and operating model</a:t>
            </a:r>
          </a:p>
        </p:txBody>
      </p:sp>
      <p:pic>
        <p:nvPicPr>
          <p:cNvPr id="27" name="Picture 26">
            <a:extLst>
              <a:ext uri="{FF2B5EF4-FFF2-40B4-BE49-F238E27FC236}">
                <a16:creationId xmlns:a16="http://schemas.microsoft.com/office/drawing/2014/main" id="{EC93CCDC-ADFA-9F0B-DCE8-A825FDF58A76}"/>
              </a:ext>
            </a:extLst>
          </p:cNvPr>
          <p:cNvPicPr>
            <a:picLocks noChangeAspect="1"/>
          </p:cNvPicPr>
          <p:nvPr/>
        </p:nvPicPr>
        <p:blipFill>
          <a:blip r:embed="rId6">
            <a:duotone>
              <a:srgbClr val="765FFF"/>
              <a:srgbClr val="FFFFFF"/>
            </a:duotone>
          </a:blip>
          <a:stretch>
            <a:fillRect/>
          </a:stretch>
        </p:blipFill>
        <p:spPr>
          <a:xfrm>
            <a:off x="8419462" y="2670458"/>
            <a:ext cx="3230513" cy="1059225"/>
          </a:xfrm>
          <a:prstGeom prst="rect">
            <a:avLst/>
          </a:prstGeom>
        </p:spPr>
      </p:pic>
      <p:sp>
        <p:nvSpPr>
          <p:cNvPr id="28" name="TextBox 27">
            <a:extLst>
              <a:ext uri="{FF2B5EF4-FFF2-40B4-BE49-F238E27FC236}">
                <a16:creationId xmlns:a16="http://schemas.microsoft.com/office/drawing/2014/main" id="{9730FFBC-DE57-5A84-EAE4-249F0DFC7FE8}"/>
              </a:ext>
            </a:extLst>
          </p:cNvPr>
          <p:cNvSpPr txBox="1"/>
          <p:nvPr/>
        </p:nvSpPr>
        <p:spPr>
          <a:xfrm>
            <a:off x="8489151" y="4703449"/>
            <a:ext cx="3091132" cy="912814"/>
          </a:xfrm>
          <a:prstGeom prst="rect">
            <a:avLst/>
          </a:prstGeom>
          <a:noFill/>
        </p:spPr>
        <p:txBody>
          <a:bodyPr wrap="square" lIns="91440" tIns="45720" rIns="91440" bIns="45720" rtlCol="0">
            <a:spAutoFit/>
          </a:bodyPr>
          <a:lstStyle/>
          <a:p>
            <a:pPr marL="285744" marR="0" lvl="0" indent="-285744" defTabSz="914377" fontAlgn="auto">
              <a:lnSpc>
                <a:spcPct val="100000"/>
              </a:lnSpc>
              <a:spcBef>
                <a:spcPts val="0"/>
              </a:spcBef>
              <a:spcAft>
                <a:spcPts val="0"/>
              </a:spcAft>
              <a:buBlip>
                <a:blip r:embed="rId5"/>
              </a:buBlip>
              <a:tabLst/>
              <a:defRPr/>
            </a:pPr>
            <a:r>
              <a:rPr lang="en-US" sz="1333" spc="-10" dirty="0">
                <a:solidFill>
                  <a:srgbClr val="1D1D1D"/>
                </a:solidFill>
                <a:latin typeface="Arial" pitchFamily="34" charset="0"/>
                <a:ea typeface="Lato Light" panose="020F0502020204030203" pitchFamily="34" charset="0"/>
                <a:cs typeface="Arial" panose="020B0604020202020204" pitchFamily="34" charset="0"/>
              </a:rPr>
              <a:t>Focusing only on “top” roles </a:t>
            </a:r>
          </a:p>
          <a:p>
            <a:pPr marL="285744" marR="0" lvl="0" indent="-285744" defTabSz="914377" fontAlgn="auto">
              <a:lnSpc>
                <a:spcPct val="100000"/>
              </a:lnSpc>
              <a:spcBef>
                <a:spcPts val="0"/>
              </a:spcBef>
              <a:spcAft>
                <a:spcPts val="0"/>
              </a:spcAft>
              <a:buBlip>
                <a:blip r:embed="rId5"/>
              </a:buBlip>
              <a:tabLst/>
              <a:defRPr/>
            </a:pPr>
            <a:r>
              <a:rPr lang="en-US" sz="1333" spc="-10" dirty="0">
                <a:solidFill>
                  <a:srgbClr val="1D1D1D"/>
                </a:solidFill>
                <a:latin typeface="Arial" pitchFamily="34" charset="0"/>
                <a:ea typeface="Lato Light" panose="020F0502020204030203" pitchFamily="34" charset="0"/>
                <a:cs typeface="Arial" panose="020B0604020202020204" pitchFamily="34" charset="0"/>
              </a:rPr>
              <a:t>Not understanding and investing in (level-agnostic) roles critical to value creation</a:t>
            </a:r>
          </a:p>
        </p:txBody>
      </p:sp>
      <p:sp>
        <p:nvSpPr>
          <p:cNvPr id="29" name="TextBox 28">
            <a:extLst>
              <a:ext uri="{FF2B5EF4-FFF2-40B4-BE49-F238E27FC236}">
                <a16:creationId xmlns:a16="http://schemas.microsoft.com/office/drawing/2014/main" id="{3CF60703-377B-3DA3-FA32-D3306FB1AEC6}"/>
              </a:ext>
            </a:extLst>
          </p:cNvPr>
          <p:cNvSpPr txBox="1"/>
          <p:nvPr/>
        </p:nvSpPr>
        <p:spPr>
          <a:xfrm>
            <a:off x="8800462" y="3753395"/>
            <a:ext cx="840295" cy="276999"/>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1D1D1D">
                    <a:lumMod val="75000"/>
                    <a:lumOff val="25000"/>
                  </a:srgbClr>
                </a:solidFill>
                <a:effectLst/>
                <a:uLnTx/>
                <a:uFillTx/>
                <a:latin typeface="Arial" pitchFamily="34" charset="0"/>
                <a:ea typeface="Lato Light" panose="020F0502020204030203" pitchFamily="34" charset="0"/>
                <a:cs typeface="Arial" panose="020B0604020202020204" pitchFamily="34" charset="0"/>
              </a:rPr>
              <a:t>Hierarchy</a:t>
            </a:r>
          </a:p>
        </p:txBody>
      </p:sp>
      <p:sp>
        <p:nvSpPr>
          <p:cNvPr id="30" name="TextBox 29">
            <a:extLst>
              <a:ext uri="{FF2B5EF4-FFF2-40B4-BE49-F238E27FC236}">
                <a16:creationId xmlns:a16="http://schemas.microsoft.com/office/drawing/2014/main" id="{243D08A8-D012-407E-14DA-736181F7CFC8}"/>
              </a:ext>
            </a:extLst>
          </p:cNvPr>
          <p:cNvSpPr txBox="1"/>
          <p:nvPr/>
        </p:nvSpPr>
        <p:spPr>
          <a:xfrm>
            <a:off x="10034717" y="3769689"/>
            <a:ext cx="1675236" cy="276999"/>
          </a:xfrm>
          <a:prstGeom prst="rect">
            <a:avLst/>
          </a:prstGeom>
          <a:noFill/>
        </p:spPr>
        <p:txBody>
          <a:bodyPr wrap="squar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1D1D1D">
                    <a:lumMod val="75000"/>
                    <a:lumOff val="25000"/>
                  </a:srgbClr>
                </a:solidFill>
                <a:effectLst/>
                <a:uLnTx/>
                <a:uFillTx/>
                <a:latin typeface="Arial" pitchFamily="34" charset="0"/>
                <a:ea typeface="Lato Light" panose="020F0502020204030203" pitchFamily="34" charset="0"/>
                <a:cs typeface="Arial" panose="020B0604020202020204" pitchFamily="34" charset="0"/>
              </a:rPr>
              <a:t>Connected to Value</a:t>
            </a:r>
          </a:p>
        </p:txBody>
      </p:sp>
      <p:sp>
        <p:nvSpPr>
          <p:cNvPr id="31" name="TextBox 30">
            <a:extLst>
              <a:ext uri="{FF2B5EF4-FFF2-40B4-BE49-F238E27FC236}">
                <a16:creationId xmlns:a16="http://schemas.microsoft.com/office/drawing/2014/main" id="{FFF6BC30-818A-0D79-3789-80C9A0E1AFB4}"/>
              </a:ext>
            </a:extLst>
          </p:cNvPr>
          <p:cNvSpPr txBox="1"/>
          <p:nvPr/>
        </p:nvSpPr>
        <p:spPr>
          <a:xfrm>
            <a:off x="1000722" y="4703449"/>
            <a:ext cx="2992313" cy="502573"/>
          </a:xfrm>
          <a:prstGeom prst="rect">
            <a:avLst/>
          </a:prstGeom>
          <a:noFill/>
        </p:spPr>
        <p:txBody>
          <a:bodyPr wrap="square" rtlCol="0">
            <a:spAutoFit/>
          </a:bodyPr>
          <a:lstStyle/>
          <a:p>
            <a:pPr marL="285744" marR="0" lvl="0" indent="-285744" defTabSz="914377" fontAlgn="auto">
              <a:lnSpc>
                <a:spcPct val="100000"/>
              </a:lnSpc>
              <a:spcBef>
                <a:spcPts val="0"/>
              </a:spcBef>
              <a:spcAft>
                <a:spcPts val="0"/>
              </a:spcAft>
              <a:buBlip>
                <a:blip r:embed="rId5"/>
              </a:buBlip>
              <a:tabLst/>
              <a:defRPr/>
            </a:pPr>
            <a:r>
              <a:rPr lang="en-US" sz="1333" spc="-10" dirty="0">
                <a:solidFill>
                  <a:srgbClr val="1D1D1D"/>
                </a:solidFill>
                <a:latin typeface="Arial" pitchFamily="34" charset="0"/>
                <a:ea typeface="Lato Light" panose="020F0502020204030203" pitchFamily="34" charset="0"/>
                <a:cs typeface="Arial" panose="020B0604020202020204" pitchFamily="34" charset="0"/>
              </a:rPr>
              <a:t>Starting more initiatives than there is capacity</a:t>
            </a:r>
          </a:p>
        </p:txBody>
      </p:sp>
      <p:sp>
        <p:nvSpPr>
          <p:cNvPr id="32" name="TextBox 31">
            <a:extLst>
              <a:ext uri="{FF2B5EF4-FFF2-40B4-BE49-F238E27FC236}">
                <a16:creationId xmlns:a16="http://schemas.microsoft.com/office/drawing/2014/main" id="{59C83798-40D4-2008-5AF7-8EF28A768BA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67693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500"/>
                                        <p:tgtEl>
                                          <p:spTgt spid="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500"/>
                                        <p:tgtEl>
                                          <p:spTgt spid="1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p:bldP spid="13" grpId="0"/>
      <p:bldP spid="14" grpId="0"/>
      <p:bldP spid="15" grpId="0"/>
      <p:bldP spid="18" grpId="0" animBg="1"/>
      <p:bldP spid="19" grpId="0" animBg="1"/>
      <p:bldP spid="20" grpId="0" animBg="1"/>
      <p:bldP spid="21" grpId="0"/>
      <p:bldP spid="22" grpId="0"/>
      <p:bldP spid="23" grpId="0"/>
      <p:bldP spid="24" grpId="0"/>
      <p:bldP spid="25" grpId="0"/>
      <p:bldP spid="26" grpId="0"/>
      <p:bldP spid="28" grpId="0"/>
      <p:bldP spid="29" grpId="0"/>
      <p:bldP spid="30"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2BD15-21F1-7806-1B3D-FCB9C5377004}"/>
              </a:ext>
            </a:extLst>
          </p:cNvPr>
          <p:cNvSpPr>
            <a:spLocks noGrp="1"/>
          </p:cNvSpPr>
          <p:nvPr>
            <p:ph type="title"/>
          </p:nvPr>
        </p:nvSpPr>
        <p:spPr/>
        <p:txBody>
          <a:bodyPr/>
          <a:lstStyle/>
          <a:p>
            <a:r>
              <a:rPr lang="en-US" dirty="0">
                <a:solidFill>
                  <a:schemeClr val="accent1"/>
                </a:solidFill>
              </a:rPr>
              <a:t>Talent to Value</a:t>
            </a:r>
          </a:p>
        </p:txBody>
      </p:sp>
      <p:sp>
        <p:nvSpPr>
          <p:cNvPr id="3" name="Text Placeholder 2">
            <a:extLst>
              <a:ext uri="{FF2B5EF4-FFF2-40B4-BE49-F238E27FC236}">
                <a16:creationId xmlns:a16="http://schemas.microsoft.com/office/drawing/2014/main" id="{E724704D-6EC9-C21E-A7D0-2F91EB498C76}"/>
              </a:ext>
            </a:extLst>
          </p:cNvPr>
          <p:cNvSpPr>
            <a:spLocks noGrp="1"/>
          </p:cNvSpPr>
          <p:nvPr>
            <p:ph type="body" sz="quarter" idx="12"/>
          </p:nvPr>
        </p:nvSpPr>
        <p:spPr/>
        <p:txBody>
          <a:bodyPr/>
          <a:lstStyle/>
          <a:p>
            <a:r>
              <a:rPr lang="en-US" dirty="0"/>
              <a:t>CEO lens to address derailers</a:t>
            </a:r>
          </a:p>
          <a:p>
            <a:endParaRPr lang="en-US" dirty="0"/>
          </a:p>
        </p:txBody>
      </p:sp>
      <p:sp>
        <p:nvSpPr>
          <p:cNvPr id="4" name="Slide Number Placeholder 3">
            <a:extLst>
              <a:ext uri="{FF2B5EF4-FFF2-40B4-BE49-F238E27FC236}">
                <a16:creationId xmlns:a16="http://schemas.microsoft.com/office/drawing/2014/main" id="{340BC2FC-6E85-24D6-1922-124A64F1C806}"/>
              </a:ext>
            </a:extLst>
          </p:cNvPr>
          <p:cNvSpPr>
            <a:spLocks noGrp="1"/>
          </p:cNvSpPr>
          <p:nvPr>
            <p:ph type="sldNum" sz="quarter" idx="4"/>
          </p:nvPr>
        </p:nvSpPr>
        <p:spPr/>
        <p:txBody>
          <a:bodyPr/>
          <a:lstStyle/>
          <a:p>
            <a:pPr algn="ctr"/>
            <a:fld id="{7DA59B58-B945-4B36-BC6B-9C26C933A008}" type="slidenum">
              <a:rPr lang="en-US" smtClean="0"/>
              <a:t>4</a:t>
            </a:fld>
            <a:endParaRPr lang="en-US"/>
          </a:p>
        </p:txBody>
      </p:sp>
      <p:sp>
        <p:nvSpPr>
          <p:cNvPr id="6" name="TextBox 5">
            <a:extLst>
              <a:ext uri="{FF2B5EF4-FFF2-40B4-BE49-F238E27FC236}">
                <a16:creationId xmlns:a16="http://schemas.microsoft.com/office/drawing/2014/main" id="{FEBE386E-C0E8-11A0-3A64-13EED41708A9}"/>
              </a:ext>
            </a:extLst>
          </p:cNvPr>
          <p:cNvSpPr txBox="1"/>
          <p:nvPr/>
        </p:nvSpPr>
        <p:spPr>
          <a:xfrm>
            <a:off x="516935" y="1656251"/>
            <a:ext cx="2072639"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Where is the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money? </a:t>
            </a:r>
          </a:p>
        </p:txBody>
      </p:sp>
      <p:sp>
        <p:nvSpPr>
          <p:cNvPr id="7" name="TextBox 6">
            <a:extLst>
              <a:ext uri="{FF2B5EF4-FFF2-40B4-BE49-F238E27FC236}">
                <a16:creationId xmlns:a16="http://schemas.microsoft.com/office/drawing/2014/main" id="{EBC55CB2-E749-A2B0-B512-00EA391CE7C7}"/>
              </a:ext>
            </a:extLst>
          </p:cNvPr>
          <p:cNvSpPr txBox="1"/>
          <p:nvPr/>
        </p:nvSpPr>
        <p:spPr>
          <a:xfrm>
            <a:off x="2864689"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How do I want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to</a:t>
            </a: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 </a:t>
            </a:r>
            <a:r>
              <a:rPr kumimoji="0" lang="en-US" sz="1600" b="1" i="0" u="none" strike="noStrike" kern="1200" cap="none" spc="-10" normalizeH="0" baseline="0" noProof="0" dirty="0">
                <a:ln>
                  <a:noFill/>
                </a:ln>
                <a:solidFill>
                  <a:schemeClr val="tx2"/>
                </a:solidFill>
                <a:effectLst/>
                <a:uLnTx/>
                <a:uFillTx/>
                <a:latin typeface="Segoe UI" pitchFamily="34" charset="0"/>
                <a:ea typeface="+mn-ea"/>
                <a:cs typeface="+mn-cs"/>
              </a:rPr>
              <a:t>run the place? </a:t>
            </a:r>
          </a:p>
        </p:txBody>
      </p:sp>
      <p:sp>
        <p:nvSpPr>
          <p:cNvPr id="8" name="TextBox 7">
            <a:extLst>
              <a:ext uri="{FF2B5EF4-FFF2-40B4-BE49-F238E27FC236}">
                <a16:creationId xmlns:a16="http://schemas.microsoft.com/office/drawing/2014/main" id="{C8EE6EF9-B0F4-E1BF-C6BA-EA5D9E5E8DF4}"/>
              </a:ext>
            </a:extLst>
          </p:cNvPr>
          <p:cNvSpPr txBox="1"/>
          <p:nvPr/>
        </p:nvSpPr>
        <p:spPr>
          <a:xfrm>
            <a:off x="7560201"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Do we have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enough talent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at our critical roles?</a:t>
            </a:r>
          </a:p>
        </p:txBody>
      </p:sp>
      <p:sp>
        <p:nvSpPr>
          <p:cNvPr id="9" name="TextBox 8">
            <a:extLst>
              <a:ext uri="{FF2B5EF4-FFF2-40B4-BE49-F238E27FC236}">
                <a16:creationId xmlns:a16="http://schemas.microsoft.com/office/drawing/2014/main" id="{236F85CE-4892-9075-0E72-761F73DCE03C}"/>
              </a:ext>
            </a:extLst>
          </p:cNvPr>
          <p:cNvSpPr txBox="1"/>
          <p:nvPr/>
        </p:nvSpPr>
        <p:spPr>
          <a:xfrm>
            <a:off x="9907956"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Are we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chemeClr val="tx2"/>
                </a:solidFill>
                <a:effectLst/>
                <a:uLnTx/>
                <a:uFillTx/>
                <a:latin typeface="Segoe UI" pitchFamily="34" charset="0"/>
                <a:ea typeface="+mn-ea"/>
                <a:cs typeface="+mn-cs"/>
              </a:rPr>
              <a:t> mobilizing for success?</a:t>
            </a:r>
            <a:endParaRPr kumimoji="0" lang="en-US" sz="1600" b="0" i="0" u="none" strike="noStrike" kern="1200" cap="none" spc="-10" normalizeH="0" baseline="0" noProof="0" dirty="0">
              <a:ln>
                <a:noFill/>
              </a:ln>
              <a:solidFill>
                <a:schemeClr val="tx2"/>
              </a:solidFill>
              <a:effectLst/>
              <a:uLnTx/>
              <a:uFillTx/>
              <a:latin typeface="Arial" pitchFamily="34" charset="0"/>
              <a:ea typeface="+mn-ea"/>
              <a:cs typeface="+mn-cs"/>
            </a:endParaRPr>
          </a:p>
        </p:txBody>
      </p:sp>
      <p:sp>
        <p:nvSpPr>
          <p:cNvPr id="10" name="TextBox 9">
            <a:extLst>
              <a:ext uri="{FF2B5EF4-FFF2-40B4-BE49-F238E27FC236}">
                <a16:creationId xmlns:a16="http://schemas.microsoft.com/office/drawing/2014/main" id="{3C4AB994-B171-F1AD-6BE9-B9C575A1F5AE}"/>
              </a:ext>
            </a:extLst>
          </p:cNvPr>
          <p:cNvSpPr txBox="1"/>
          <p:nvPr/>
        </p:nvSpPr>
        <p:spPr>
          <a:xfrm>
            <a:off x="5212445"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Is my leadership </a:t>
            </a: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team ready</a:t>
            </a:r>
            <a:r>
              <a:rPr kumimoji="0" lang="en-US" sz="1600" b="0" i="0" u="none" strike="noStrike" kern="1200" cap="none" spc="-10" normalizeH="0" baseline="0" noProof="0" dirty="0">
                <a:ln>
                  <a:noFill/>
                </a:ln>
                <a:solidFill>
                  <a:srgbClr val="281A42"/>
                </a:solidFill>
                <a:effectLst/>
                <a:uLnTx/>
                <a:uFillTx/>
                <a:latin typeface="Arial" pitchFamily="34" charset="0"/>
                <a:ea typeface="+mn-ea"/>
                <a:cs typeface="+mn-cs"/>
              </a:rPr>
              <a:t>?</a:t>
            </a:r>
          </a:p>
        </p:txBody>
      </p:sp>
      <p:grpSp>
        <p:nvGrpSpPr>
          <p:cNvPr id="11" name="Group 10">
            <a:extLst>
              <a:ext uri="{FF2B5EF4-FFF2-40B4-BE49-F238E27FC236}">
                <a16:creationId xmlns:a16="http://schemas.microsoft.com/office/drawing/2014/main" id="{BAAEB8EB-48BF-7BAB-4861-FBB01C2D8C4F}"/>
              </a:ext>
            </a:extLst>
          </p:cNvPr>
          <p:cNvGrpSpPr/>
          <p:nvPr/>
        </p:nvGrpSpPr>
        <p:grpSpPr>
          <a:xfrm>
            <a:off x="2727133" y="1648524"/>
            <a:ext cx="7043264" cy="3352073"/>
            <a:chOff x="2045350" y="1200150"/>
            <a:chExt cx="5282448" cy="2743201"/>
          </a:xfrm>
        </p:grpSpPr>
        <p:cxnSp>
          <p:nvCxnSpPr>
            <p:cNvPr id="12" name="Straight Connector 11">
              <a:extLst>
                <a:ext uri="{FF2B5EF4-FFF2-40B4-BE49-F238E27FC236}">
                  <a16:creationId xmlns:a16="http://schemas.microsoft.com/office/drawing/2014/main" id="{88280A4E-09BD-D879-590E-0CCCE98C05CF}"/>
                </a:ext>
              </a:extLst>
            </p:cNvPr>
            <p:cNvCxnSpPr>
              <a:cxnSpLocks/>
            </p:cNvCxnSpPr>
            <p:nvPr/>
          </p:nvCxnSpPr>
          <p:spPr>
            <a:xfrm>
              <a:off x="2045350"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13" name="Straight Connector 12">
              <a:extLst>
                <a:ext uri="{FF2B5EF4-FFF2-40B4-BE49-F238E27FC236}">
                  <a16:creationId xmlns:a16="http://schemas.microsoft.com/office/drawing/2014/main" id="{20BCA1F5-A2DA-1AD1-64C7-CF4FCE4DE8F6}"/>
                </a:ext>
              </a:extLst>
            </p:cNvPr>
            <p:cNvCxnSpPr>
              <a:cxnSpLocks/>
            </p:cNvCxnSpPr>
            <p:nvPr/>
          </p:nvCxnSpPr>
          <p:spPr>
            <a:xfrm>
              <a:off x="3806166"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14" name="Straight Connector 13">
              <a:extLst>
                <a:ext uri="{FF2B5EF4-FFF2-40B4-BE49-F238E27FC236}">
                  <a16:creationId xmlns:a16="http://schemas.microsoft.com/office/drawing/2014/main" id="{2A4C5AFD-7C55-8003-7CFF-C4D3F633DDD1}"/>
                </a:ext>
              </a:extLst>
            </p:cNvPr>
            <p:cNvCxnSpPr>
              <a:cxnSpLocks/>
            </p:cNvCxnSpPr>
            <p:nvPr/>
          </p:nvCxnSpPr>
          <p:spPr>
            <a:xfrm>
              <a:off x="7327798"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15" name="Straight Connector 14">
              <a:extLst>
                <a:ext uri="{FF2B5EF4-FFF2-40B4-BE49-F238E27FC236}">
                  <a16:creationId xmlns:a16="http://schemas.microsoft.com/office/drawing/2014/main" id="{AE3BC7C1-C1B0-412D-CA61-305209C8B597}"/>
                </a:ext>
              </a:extLst>
            </p:cNvPr>
            <p:cNvCxnSpPr>
              <a:cxnSpLocks/>
            </p:cNvCxnSpPr>
            <p:nvPr/>
          </p:nvCxnSpPr>
          <p:spPr>
            <a:xfrm>
              <a:off x="5566982" y="1200150"/>
              <a:ext cx="0" cy="2743201"/>
            </a:xfrm>
            <a:prstGeom prst="line">
              <a:avLst/>
            </a:prstGeom>
            <a:noFill/>
            <a:ln w="6350" cap="flat" cmpd="sng" algn="ctr">
              <a:solidFill>
                <a:srgbClr val="281A42"/>
              </a:solidFill>
              <a:prstDash val="solid"/>
              <a:miter lim="800000"/>
              <a:headEnd w="med" len="sm"/>
              <a:tailEnd type="none" w="med" len="sm"/>
            </a:ln>
            <a:effectLst/>
          </p:spPr>
        </p:cxnSp>
      </p:grpSp>
      <p:sp>
        <p:nvSpPr>
          <p:cNvPr id="16" name="TextBox 15">
            <a:extLst>
              <a:ext uri="{FF2B5EF4-FFF2-40B4-BE49-F238E27FC236}">
                <a16:creationId xmlns:a16="http://schemas.microsoft.com/office/drawing/2014/main" id="{A3F9B19E-FFFB-1B4A-E96C-C1F44E5CDD8D}"/>
              </a:ext>
            </a:extLst>
          </p:cNvPr>
          <p:cNvSpPr txBox="1"/>
          <p:nvPr/>
        </p:nvSpPr>
        <p:spPr>
          <a:xfrm>
            <a:off x="638856" y="5064627"/>
            <a:ext cx="1828800" cy="498369"/>
          </a:xfrm>
          <a:prstGeom prst="roundRect">
            <a:avLst/>
          </a:prstGeom>
          <a:solidFill>
            <a:srgbClr val="7B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dirty="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Value Agenda</a:t>
            </a:r>
          </a:p>
        </p:txBody>
      </p:sp>
      <p:sp>
        <p:nvSpPr>
          <p:cNvPr id="17" name="TextBox 16">
            <a:extLst>
              <a:ext uri="{FF2B5EF4-FFF2-40B4-BE49-F238E27FC236}">
                <a16:creationId xmlns:a16="http://schemas.microsoft.com/office/drawing/2014/main" id="{7A488562-BADB-05D0-3862-10CF69EBAC40}"/>
              </a:ext>
            </a:extLst>
          </p:cNvPr>
          <p:cNvSpPr txBox="1"/>
          <p:nvPr/>
        </p:nvSpPr>
        <p:spPr>
          <a:xfrm>
            <a:off x="7682120" y="5064628"/>
            <a:ext cx="1828800" cy="498369"/>
          </a:xfrm>
          <a:prstGeom prst="roundRect">
            <a:avLst/>
          </a:prstGeom>
          <a:solidFill>
            <a:srgbClr val="7B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Talent Capital</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Balance Sheet</a:t>
            </a:r>
          </a:p>
        </p:txBody>
      </p:sp>
      <p:sp>
        <p:nvSpPr>
          <p:cNvPr id="18" name="TextBox 17">
            <a:extLst>
              <a:ext uri="{FF2B5EF4-FFF2-40B4-BE49-F238E27FC236}">
                <a16:creationId xmlns:a16="http://schemas.microsoft.com/office/drawing/2014/main" id="{FFD90A1B-0428-B209-B7D4-99365292BF9D}"/>
              </a:ext>
            </a:extLst>
          </p:cNvPr>
          <p:cNvSpPr txBox="1"/>
          <p:nvPr/>
        </p:nvSpPr>
        <p:spPr>
          <a:xfrm>
            <a:off x="10029876" y="5064627"/>
            <a:ext cx="1828800" cy="498369"/>
          </a:xfrm>
          <a:prstGeom prst="roundRect">
            <a:avLst/>
          </a:prstGeom>
          <a:solidFill>
            <a:srgbClr val="7B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Mobilize the Value</a:t>
            </a:r>
          </a:p>
        </p:txBody>
      </p:sp>
      <p:sp>
        <p:nvSpPr>
          <p:cNvPr id="19" name="TextBox 18">
            <a:extLst>
              <a:ext uri="{FF2B5EF4-FFF2-40B4-BE49-F238E27FC236}">
                <a16:creationId xmlns:a16="http://schemas.microsoft.com/office/drawing/2014/main" id="{AD00D1C5-B8B7-E71A-5149-B8CC0E06BBC1}"/>
              </a:ext>
            </a:extLst>
          </p:cNvPr>
          <p:cNvSpPr txBox="1"/>
          <p:nvPr/>
        </p:nvSpPr>
        <p:spPr>
          <a:xfrm>
            <a:off x="2986611" y="5064628"/>
            <a:ext cx="1828800" cy="498369"/>
          </a:xfrm>
          <a:prstGeom prst="roundRect">
            <a:avLst/>
          </a:prstGeom>
          <a:solidFill>
            <a:srgbClr val="7B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Operating Model</a:t>
            </a:r>
          </a:p>
        </p:txBody>
      </p:sp>
      <p:grpSp>
        <p:nvGrpSpPr>
          <p:cNvPr id="20" name="Group 19">
            <a:extLst>
              <a:ext uri="{FF2B5EF4-FFF2-40B4-BE49-F238E27FC236}">
                <a16:creationId xmlns:a16="http://schemas.microsoft.com/office/drawing/2014/main" id="{428CD264-ADFF-1FA2-E5F1-17687FC10080}"/>
              </a:ext>
            </a:extLst>
          </p:cNvPr>
          <p:cNvGrpSpPr/>
          <p:nvPr/>
        </p:nvGrpSpPr>
        <p:grpSpPr>
          <a:xfrm>
            <a:off x="3321074" y="3106484"/>
            <a:ext cx="1159875" cy="1226470"/>
            <a:chOff x="2447627" y="2571750"/>
            <a:chExt cx="869906" cy="919853"/>
          </a:xfrm>
        </p:grpSpPr>
        <p:pic>
          <p:nvPicPr>
            <p:cNvPr id="21" name="Picture 20">
              <a:extLst>
                <a:ext uri="{FF2B5EF4-FFF2-40B4-BE49-F238E27FC236}">
                  <a16:creationId xmlns:a16="http://schemas.microsoft.com/office/drawing/2014/main" id="{494F5D5F-02B4-12EA-ABAD-19D8C4A94013}"/>
                </a:ext>
              </a:extLst>
            </p:cNvPr>
            <p:cNvPicPr>
              <a:picLocks noChangeAspect="1"/>
            </p:cNvPicPr>
            <p:nvPr/>
          </p:nvPicPr>
          <p:blipFill>
            <a:blip r:embed="rId2">
              <a:clrChange>
                <a:clrFrom>
                  <a:srgbClr val="FFFFFF"/>
                </a:clrFrom>
                <a:clrTo>
                  <a:srgbClr val="FFFFFF">
                    <a:alpha val="0"/>
                  </a:srgbClr>
                </a:clrTo>
              </a:clrChange>
              <a:duotone>
                <a:srgbClr val="765FFF"/>
                <a:srgbClr val="FFFFFF"/>
              </a:duotone>
            </a:blip>
            <a:stretch>
              <a:fillRect/>
            </a:stretch>
          </p:blipFill>
          <p:spPr>
            <a:xfrm>
              <a:off x="2447627" y="2571750"/>
              <a:ext cx="869906" cy="919853"/>
            </a:xfrm>
            <a:prstGeom prst="rect">
              <a:avLst/>
            </a:prstGeom>
          </p:spPr>
        </p:pic>
        <p:sp>
          <p:nvSpPr>
            <p:cNvPr id="22" name="Rectangle: Rounded Corners 19">
              <a:extLst>
                <a:ext uri="{FF2B5EF4-FFF2-40B4-BE49-F238E27FC236}">
                  <a16:creationId xmlns:a16="http://schemas.microsoft.com/office/drawing/2014/main" id="{45072B92-52D2-9E22-5E64-53AB262B85D9}"/>
                </a:ext>
              </a:extLst>
            </p:cNvPr>
            <p:cNvSpPr/>
            <p:nvPr/>
          </p:nvSpPr>
          <p:spPr>
            <a:xfrm>
              <a:off x="2762385" y="2934628"/>
              <a:ext cx="238896" cy="194095"/>
            </a:xfrm>
            <a:prstGeom prst="roundRect">
              <a:avLst>
                <a:gd name="adj" fmla="val 16667"/>
              </a:avLst>
            </a:prstGeom>
            <a:solidFill>
              <a:schemeClr val="bg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22" descr="Talent to Value">
            <a:extLst>
              <a:ext uri="{FF2B5EF4-FFF2-40B4-BE49-F238E27FC236}">
                <a16:creationId xmlns:a16="http://schemas.microsoft.com/office/drawing/2014/main" id="{1D5A9E8F-6128-9F0E-9DAE-383343EE68BB}"/>
              </a:ext>
            </a:extLst>
          </p:cNvPr>
          <p:cNvPicPr>
            <a:picLocks noChangeAspect="1"/>
          </p:cNvPicPr>
          <p:nvPr/>
        </p:nvPicPr>
        <p:blipFill>
          <a:blip r:embed="rId3">
            <a:duotone>
              <a:srgbClr val="765FFF"/>
              <a:srgbClr val="FFFFFF"/>
            </a:duotone>
          </a:blip>
          <a:stretch>
            <a:fillRect/>
          </a:stretch>
        </p:blipFill>
        <p:spPr>
          <a:xfrm>
            <a:off x="10417248" y="3250999"/>
            <a:ext cx="1081955" cy="1081955"/>
          </a:xfrm>
          <a:prstGeom prst="rect">
            <a:avLst/>
          </a:prstGeom>
        </p:spPr>
      </p:pic>
      <p:pic>
        <p:nvPicPr>
          <p:cNvPr id="24" name="Picture 20" descr="Bend the Curve">
            <a:extLst>
              <a:ext uri="{FF2B5EF4-FFF2-40B4-BE49-F238E27FC236}">
                <a16:creationId xmlns:a16="http://schemas.microsoft.com/office/drawing/2014/main" id="{42AA86CE-66B2-5A14-F61C-6037BA2B16CD}"/>
              </a:ext>
            </a:extLst>
          </p:cNvPr>
          <p:cNvPicPr>
            <a:picLocks noChangeAspect="1" noChangeArrowheads="1"/>
          </p:cNvPicPr>
          <p:nvPr/>
        </p:nvPicPr>
        <p:blipFill>
          <a:blip r:embed="rId4">
            <a:duotone>
              <a:srgbClr val="765FFF"/>
              <a:srgbClr val="FFFFFF"/>
            </a:duotone>
          </a:blip>
          <a:srcRect/>
          <a:stretch>
            <a:fillRect/>
          </a:stretch>
        </p:blipFill>
        <p:spPr bwMode="auto">
          <a:xfrm>
            <a:off x="1155675" y="3206098"/>
            <a:ext cx="1115076" cy="107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pic>
      <p:pic>
        <p:nvPicPr>
          <p:cNvPr id="25" name="Picture 25" descr="The Code">
            <a:extLst>
              <a:ext uri="{FF2B5EF4-FFF2-40B4-BE49-F238E27FC236}">
                <a16:creationId xmlns:a16="http://schemas.microsoft.com/office/drawing/2014/main" id="{72E6AB2F-0474-9DD4-A297-F511340C2695}"/>
              </a:ext>
            </a:extLst>
          </p:cNvPr>
          <p:cNvPicPr>
            <a:picLocks noChangeAspect="1" noChangeArrowheads="1"/>
          </p:cNvPicPr>
          <p:nvPr/>
        </p:nvPicPr>
        <p:blipFill>
          <a:blip r:embed="rId5">
            <a:duotone>
              <a:srgbClr val="765FFF"/>
              <a:srgbClr val="FFFFFF"/>
            </a:duotone>
          </a:blip>
          <a:srcRect/>
          <a:stretch>
            <a:fillRect/>
          </a:stretch>
        </p:blipFill>
        <p:spPr bwMode="auto">
          <a:xfrm>
            <a:off x="7995217" y="3221454"/>
            <a:ext cx="1183454" cy="114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pic>
      <p:sp>
        <p:nvSpPr>
          <p:cNvPr id="26" name="Rectangle: Rounded Corners 14">
            <a:extLst>
              <a:ext uri="{FF2B5EF4-FFF2-40B4-BE49-F238E27FC236}">
                <a16:creationId xmlns:a16="http://schemas.microsoft.com/office/drawing/2014/main" id="{8EA36BE1-4977-348F-CE66-5024EA3A1617}"/>
              </a:ext>
            </a:extLst>
          </p:cNvPr>
          <p:cNvSpPr/>
          <p:nvPr/>
        </p:nvSpPr>
        <p:spPr>
          <a:xfrm>
            <a:off x="5212445" y="2834341"/>
            <a:ext cx="2072640" cy="2166257"/>
          </a:xfrm>
          <a:prstGeom prst="roundRect">
            <a:avLst/>
          </a:prstGeom>
          <a:solidFill>
            <a:schemeClr val="bg1"/>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TextBox 26">
            <a:extLst>
              <a:ext uri="{FF2B5EF4-FFF2-40B4-BE49-F238E27FC236}">
                <a16:creationId xmlns:a16="http://schemas.microsoft.com/office/drawing/2014/main" id="{10944B5A-AC78-F932-236F-26F3F0085A88}"/>
              </a:ext>
            </a:extLst>
          </p:cNvPr>
          <p:cNvSpPr txBox="1"/>
          <p:nvPr/>
        </p:nvSpPr>
        <p:spPr>
          <a:xfrm>
            <a:off x="5334365" y="5064628"/>
            <a:ext cx="1828800" cy="498369"/>
          </a:xfrm>
          <a:prstGeom prst="roundRect">
            <a:avLst/>
          </a:prstGeom>
          <a:solidFill>
            <a:srgbClr val="7B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dirty="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Top Team Mobilization</a:t>
            </a:r>
          </a:p>
        </p:txBody>
      </p:sp>
      <p:pic>
        <p:nvPicPr>
          <p:cNvPr id="28" name="Picture 27">
            <a:extLst>
              <a:ext uri="{FF2B5EF4-FFF2-40B4-BE49-F238E27FC236}">
                <a16:creationId xmlns:a16="http://schemas.microsoft.com/office/drawing/2014/main" id="{FD485F85-3AF1-CB76-CAD1-91167E3C1FA1}"/>
              </a:ext>
            </a:extLst>
          </p:cNvPr>
          <p:cNvPicPr>
            <a:picLocks noChangeAspect="1"/>
          </p:cNvPicPr>
          <p:nvPr/>
        </p:nvPicPr>
        <p:blipFill>
          <a:blip r:embed="rId6">
            <a:duotone>
              <a:srgbClr val="765FFF"/>
              <a:srgbClr val="FFFFFF"/>
            </a:duotone>
          </a:blip>
          <a:srcRect l="27313" r="27827"/>
          <a:stretch/>
        </p:blipFill>
        <p:spPr>
          <a:xfrm>
            <a:off x="5584181" y="2804346"/>
            <a:ext cx="1336454" cy="1591861"/>
          </a:xfrm>
          <a:prstGeom prst="rect">
            <a:avLst/>
          </a:prstGeom>
          <a:effectLst>
            <a:outerShdw blurRad="50800" dist="38100" dir="2700000" algn="tl" rotWithShape="0">
              <a:prstClr val="black">
                <a:alpha val="40000"/>
              </a:prstClr>
            </a:outerShdw>
          </a:effectLst>
        </p:spPr>
      </p:pic>
      <p:sp>
        <p:nvSpPr>
          <p:cNvPr id="29" name="TextBox 28">
            <a:extLst>
              <a:ext uri="{FF2B5EF4-FFF2-40B4-BE49-F238E27FC236}">
                <a16:creationId xmlns:a16="http://schemas.microsoft.com/office/drawing/2014/main" id="{730C6528-0EB9-1F78-EBA8-C08E4AE059BB}"/>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14913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FF8E4E-6D2F-5CB5-063B-F0DE68CF7D7B}"/>
              </a:ext>
            </a:extLst>
          </p:cNvPr>
          <p:cNvSpPr>
            <a:spLocks noGrp="1"/>
          </p:cNvSpPr>
          <p:nvPr>
            <p:ph type="sldNum" sz="quarter" idx="4"/>
          </p:nvPr>
        </p:nvSpPr>
        <p:spPr/>
        <p:txBody>
          <a:bodyPr/>
          <a:lstStyle/>
          <a:p>
            <a:pPr algn="ctr"/>
            <a:fld id="{7DA59B58-B945-4B36-BC6B-9C26C933A008}" type="slidenum">
              <a:rPr lang="en-US" smtClean="0"/>
              <a:t>5</a:t>
            </a:fld>
            <a:endParaRPr lang="en-US"/>
          </a:p>
        </p:txBody>
      </p:sp>
      <p:sp>
        <p:nvSpPr>
          <p:cNvPr id="6" name="Title 5">
            <a:extLst>
              <a:ext uri="{FF2B5EF4-FFF2-40B4-BE49-F238E27FC236}">
                <a16:creationId xmlns:a16="http://schemas.microsoft.com/office/drawing/2014/main" id="{FCF59987-7473-AC0E-846D-FFF9CE43D600}"/>
              </a:ext>
            </a:extLst>
          </p:cNvPr>
          <p:cNvSpPr>
            <a:spLocks noGrp="1"/>
          </p:cNvSpPr>
          <p:nvPr>
            <p:ph type="title"/>
          </p:nvPr>
        </p:nvSpPr>
        <p:spPr/>
        <p:txBody>
          <a:bodyPr/>
          <a:lstStyle/>
          <a:p>
            <a:r>
              <a:rPr lang="en-US" dirty="0" err="1"/>
              <a:t>FulcrumQ</a:t>
            </a:r>
            <a:r>
              <a:rPr lang="en-US" dirty="0"/>
              <a:t> Talent to Value IP</a:t>
            </a:r>
          </a:p>
        </p:txBody>
      </p:sp>
      <p:cxnSp>
        <p:nvCxnSpPr>
          <p:cNvPr id="7" name="Straight Connector 6">
            <a:extLst>
              <a:ext uri="{FF2B5EF4-FFF2-40B4-BE49-F238E27FC236}">
                <a16:creationId xmlns:a16="http://schemas.microsoft.com/office/drawing/2014/main" id="{03A9961A-C0D9-D63E-8D9B-824C1647B43B}"/>
              </a:ext>
            </a:extLst>
          </p:cNvPr>
          <p:cNvCxnSpPr>
            <a:cxnSpLocks/>
            <a:stCxn id="8" idx="1"/>
          </p:cNvCxnSpPr>
          <p:nvPr/>
        </p:nvCxnSpPr>
        <p:spPr>
          <a:xfrm>
            <a:off x="455698" y="2660057"/>
            <a:ext cx="7030471" cy="8379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EC022D4-9C2C-DE3E-2ABA-B7BDBE0A5F5D}"/>
              </a:ext>
            </a:extLst>
          </p:cNvPr>
          <p:cNvPicPr>
            <a:picLocks noChangeAspect="1"/>
          </p:cNvPicPr>
          <p:nvPr/>
        </p:nvPicPr>
        <p:blipFill>
          <a:blip r:embed="rId2" cstate="email">
            <a:duotone>
              <a:schemeClr val="accent1">
                <a:shade val="45000"/>
                <a:satMod val="135000"/>
              </a:schemeClr>
              <a:prstClr val="white"/>
            </a:duotone>
          </a:blip>
          <a:stretch>
            <a:fillRect/>
          </a:stretch>
        </p:blipFill>
        <p:spPr>
          <a:xfrm>
            <a:off x="455698" y="1650670"/>
            <a:ext cx="7363498" cy="2018774"/>
          </a:xfrm>
          <a:prstGeom prst="rect">
            <a:avLst/>
          </a:prstGeom>
          <a:ln>
            <a:noFill/>
          </a:ln>
        </p:spPr>
      </p:pic>
      <p:sp>
        <p:nvSpPr>
          <p:cNvPr id="9" name="Rectangle 8">
            <a:extLst>
              <a:ext uri="{FF2B5EF4-FFF2-40B4-BE49-F238E27FC236}">
                <a16:creationId xmlns:a16="http://schemas.microsoft.com/office/drawing/2014/main" id="{5AD18ED9-99F2-E09E-6696-A12F7BB3E62A}"/>
              </a:ext>
            </a:extLst>
          </p:cNvPr>
          <p:cNvSpPr/>
          <p:nvPr/>
        </p:nvSpPr>
        <p:spPr>
          <a:xfrm>
            <a:off x="8051473" y="1200733"/>
            <a:ext cx="3815275" cy="50514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chemeClr val="accent1"/>
                </a:solidFill>
                <a:effectLst/>
                <a:uLnTx/>
                <a:uFillTx/>
                <a:latin typeface="Segoe UI" pitchFamily="34" charset="0"/>
                <a:ea typeface="+mn-ea"/>
                <a:cs typeface="+mn-cs"/>
              </a:rPr>
              <a:t>FAST</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2 to 6 weeks+ depending on scope &amp; specific use case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chemeClr val="accent1"/>
                </a:solidFill>
                <a:effectLst/>
                <a:uLnTx/>
                <a:uFillTx/>
                <a:latin typeface="Segoe UI" pitchFamily="34" charset="0"/>
                <a:ea typeface="+mn-ea"/>
                <a:cs typeface="+mn-cs"/>
              </a:rPr>
              <a:t>LIGHT</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work with the CXO Team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5 – 6 hotspot owners</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chemeClr val="accent1"/>
                </a:solidFill>
                <a:effectLst/>
                <a:uLnTx/>
                <a:uFillTx/>
                <a:latin typeface="Segoe UI" pitchFamily="34" charset="0"/>
                <a:ea typeface="+mn-ea"/>
                <a:cs typeface="+mn-cs"/>
              </a:rPr>
              <a:t>MINIMALLY INVASIVE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few, precisely targeted,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sequenced interventions</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chemeClr val="accent1"/>
                </a:solidFill>
                <a:effectLst/>
                <a:uLnTx/>
                <a:uFillTx/>
                <a:latin typeface="Segoe UI" pitchFamily="34" charset="0"/>
                <a:ea typeface="+mn-ea"/>
                <a:cs typeface="+mn-cs"/>
              </a:rPr>
              <a:t>FLEXIBLE &amp; BESPOKE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anchored in Talent to Value IP</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1" u="none" strike="noStrike" kern="0" cap="none" spc="-25" normalizeH="0" baseline="0" noProof="0" dirty="0">
                <a:ln>
                  <a:noFill/>
                </a:ln>
                <a:solidFill>
                  <a:srgbClr val="1D1D1D"/>
                </a:solidFill>
                <a:effectLst/>
                <a:uLnTx/>
                <a:uFillTx/>
                <a:latin typeface="Segoe UI" pitchFamily="34" charset="0"/>
                <a:ea typeface="+mn-ea"/>
                <a:cs typeface="+mn-cs"/>
              </a:rPr>
              <a:t>but</a:t>
            </a: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solution mix specific to your context</a:t>
            </a:r>
          </a:p>
        </p:txBody>
      </p:sp>
      <p:pic>
        <p:nvPicPr>
          <p:cNvPr id="10" name="Picture 9">
            <a:extLst>
              <a:ext uri="{FF2B5EF4-FFF2-40B4-BE49-F238E27FC236}">
                <a16:creationId xmlns:a16="http://schemas.microsoft.com/office/drawing/2014/main" id="{6B497929-08EE-2BA6-4A20-6D5393FD20E8}"/>
              </a:ext>
            </a:extLst>
          </p:cNvPr>
          <p:cNvPicPr>
            <a:picLocks noChangeAspect="1"/>
          </p:cNvPicPr>
          <p:nvPr/>
        </p:nvPicPr>
        <p:blipFill>
          <a:blip r:embed="rId3">
            <a:duotone>
              <a:srgbClr val="765FFF"/>
              <a:srgbClr val="FFFFFF"/>
            </a:duotone>
          </a:blip>
          <a:stretch>
            <a:fillRect/>
          </a:stretch>
        </p:blipFill>
        <p:spPr>
          <a:xfrm>
            <a:off x="455698" y="3899826"/>
            <a:ext cx="7458346" cy="1558010"/>
          </a:xfrm>
          <a:prstGeom prst="rect">
            <a:avLst/>
          </a:prstGeom>
        </p:spPr>
      </p:pic>
      <p:cxnSp>
        <p:nvCxnSpPr>
          <p:cNvPr id="11" name="Straight Connector 10">
            <a:extLst>
              <a:ext uri="{FF2B5EF4-FFF2-40B4-BE49-F238E27FC236}">
                <a16:creationId xmlns:a16="http://schemas.microsoft.com/office/drawing/2014/main" id="{162F7BCE-A941-A3F5-40D0-C1B794EE1026}"/>
              </a:ext>
            </a:extLst>
          </p:cNvPr>
          <p:cNvCxnSpPr/>
          <p:nvPr/>
        </p:nvCxnSpPr>
        <p:spPr>
          <a:xfrm>
            <a:off x="7935337" y="1207994"/>
            <a:ext cx="0" cy="5044157"/>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3D2C1F7-B8E2-5E5E-500F-4F58C3D586C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070526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4B8DED-3847-F57B-DA33-9CEA93E2E6A8}"/>
              </a:ext>
            </a:extLst>
          </p:cNvPr>
          <p:cNvSpPr>
            <a:spLocks noGrp="1"/>
          </p:cNvSpPr>
          <p:nvPr>
            <p:ph type="title"/>
          </p:nvPr>
        </p:nvSpPr>
        <p:spPr/>
        <p:txBody>
          <a:bodyPr/>
          <a:lstStyle/>
          <a:p>
            <a:r>
              <a:rPr lang="en-US" dirty="0">
                <a:solidFill>
                  <a:schemeClr val="accent1"/>
                </a:solidFill>
              </a:rPr>
              <a:t>Talent to Value</a:t>
            </a:r>
            <a:endParaRPr lang="en-US" dirty="0"/>
          </a:p>
        </p:txBody>
      </p:sp>
      <p:sp>
        <p:nvSpPr>
          <p:cNvPr id="6" name="Text Placeholder 5">
            <a:extLst>
              <a:ext uri="{FF2B5EF4-FFF2-40B4-BE49-F238E27FC236}">
                <a16:creationId xmlns:a16="http://schemas.microsoft.com/office/drawing/2014/main" id="{7D8A8106-31D5-F7FF-77D8-221EA9128D62}"/>
              </a:ext>
            </a:extLst>
          </p:cNvPr>
          <p:cNvSpPr>
            <a:spLocks noGrp="1"/>
          </p:cNvSpPr>
          <p:nvPr>
            <p:ph type="body" sz="quarter" idx="12"/>
          </p:nvPr>
        </p:nvSpPr>
        <p:spPr/>
        <p:txBody>
          <a:bodyPr/>
          <a:lstStyle/>
          <a:p>
            <a:r>
              <a:rPr lang="en-US" dirty="0"/>
              <a:t>Showcase</a:t>
            </a:r>
          </a:p>
          <a:p>
            <a:endParaRPr lang="en-US" dirty="0"/>
          </a:p>
        </p:txBody>
      </p:sp>
      <p:sp>
        <p:nvSpPr>
          <p:cNvPr id="2" name="Slide Number Placeholder 1">
            <a:extLst>
              <a:ext uri="{FF2B5EF4-FFF2-40B4-BE49-F238E27FC236}">
                <a16:creationId xmlns:a16="http://schemas.microsoft.com/office/drawing/2014/main" id="{C27C1B9E-C916-88B4-7E85-B4475F413FAE}"/>
              </a:ext>
            </a:extLst>
          </p:cNvPr>
          <p:cNvSpPr>
            <a:spLocks noGrp="1"/>
          </p:cNvSpPr>
          <p:nvPr>
            <p:ph type="sldNum" sz="quarter" idx="4"/>
          </p:nvPr>
        </p:nvSpPr>
        <p:spPr/>
        <p:txBody>
          <a:bodyPr/>
          <a:lstStyle/>
          <a:p>
            <a:pPr algn="ctr"/>
            <a:fld id="{1875A764-3B06-454E-8ABA-2F6ED0EB58E9}" type="slidenum">
              <a:rPr lang="en-US" smtClean="0"/>
              <a:t>6</a:t>
            </a:fld>
            <a:endParaRPr lang="en-US"/>
          </a:p>
        </p:txBody>
      </p:sp>
      <p:grpSp>
        <p:nvGrpSpPr>
          <p:cNvPr id="7" name="Group 6">
            <a:extLst>
              <a:ext uri="{FF2B5EF4-FFF2-40B4-BE49-F238E27FC236}">
                <a16:creationId xmlns:a16="http://schemas.microsoft.com/office/drawing/2014/main" id="{85DB9C7A-A694-A12A-F10A-6EBD94D7C9BC}"/>
              </a:ext>
            </a:extLst>
          </p:cNvPr>
          <p:cNvGrpSpPr/>
          <p:nvPr/>
        </p:nvGrpSpPr>
        <p:grpSpPr>
          <a:xfrm>
            <a:off x="1350483" y="1329780"/>
            <a:ext cx="2549096" cy="1966639"/>
            <a:chOff x="3400216" y="1462361"/>
            <a:chExt cx="2549096" cy="1966639"/>
          </a:xfrm>
        </p:grpSpPr>
        <p:sp>
          <p:nvSpPr>
            <p:cNvPr id="8" name="TextBox 7">
              <a:extLst>
                <a:ext uri="{FF2B5EF4-FFF2-40B4-BE49-F238E27FC236}">
                  <a16:creationId xmlns:a16="http://schemas.microsoft.com/office/drawing/2014/main" id="{8C6A4B97-B7C0-4466-CF4F-46F2B78904AF}"/>
                </a:ext>
              </a:extLst>
            </p:cNvPr>
            <p:cNvSpPr txBox="1"/>
            <p:nvPr/>
          </p:nvSpPr>
          <p:spPr>
            <a:xfrm>
              <a:off x="3524968" y="3059668"/>
              <a:ext cx="2299604"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Strengthen Op Model </a:t>
              </a:r>
            </a:p>
          </p:txBody>
        </p:sp>
        <p:sp>
          <p:nvSpPr>
            <p:cNvPr id="9" name="Rectangle: Rounded Corners 16">
              <a:hlinkClick r:id="rId2" action="ppaction://hlinksldjump"/>
              <a:extLst>
                <a:ext uri="{FF2B5EF4-FFF2-40B4-BE49-F238E27FC236}">
                  <a16:creationId xmlns:a16="http://schemas.microsoft.com/office/drawing/2014/main" id="{DD85E033-B34E-1997-C7E6-BB0E68501918}"/>
                </a:ext>
              </a:extLst>
            </p:cNvPr>
            <p:cNvSpPr/>
            <p:nvPr/>
          </p:nvSpPr>
          <p:spPr>
            <a:xfrm>
              <a:off x="3400216" y="1462361"/>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10" name="Picture 9">
              <a:extLst>
                <a:ext uri="{FF2B5EF4-FFF2-40B4-BE49-F238E27FC236}">
                  <a16:creationId xmlns:a16="http://schemas.microsoft.com/office/drawing/2014/main" id="{9D5A60FD-85B4-C1E0-23BE-1D89CF4EA62E}"/>
                </a:ext>
              </a:extLst>
            </p:cNvPr>
            <p:cNvPicPr>
              <a:picLocks noChangeAspect="1"/>
            </p:cNvPicPr>
            <p:nvPr/>
          </p:nvPicPr>
          <p:blipFill>
            <a:blip r:embed="rId3">
              <a:duotone>
                <a:srgbClr val="765FFF"/>
                <a:srgbClr val="FFFFFF"/>
              </a:duotone>
            </a:blip>
            <a:stretch>
              <a:fillRect/>
            </a:stretch>
          </p:blipFill>
          <p:spPr>
            <a:xfrm>
              <a:off x="3813988" y="1899843"/>
              <a:ext cx="770166" cy="770166"/>
            </a:xfrm>
            <a:prstGeom prst="rect">
              <a:avLst/>
            </a:prstGeom>
          </p:spPr>
        </p:pic>
        <p:sp>
          <p:nvSpPr>
            <p:cNvPr id="11" name="TextBox 10">
              <a:extLst>
                <a:ext uri="{FF2B5EF4-FFF2-40B4-BE49-F238E27FC236}">
                  <a16:creationId xmlns:a16="http://schemas.microsoft.com/office/drawing/2014/main" id="{F8C442CD-2014-784D-AFAC-5CF579EA87B8}"/>
                </a:ext>
              </a:extLst>
            </p:cNvPr>
            <p:cNvSpPr txBox="1"/>
            <p:nvPr/>
          </p:nvSpPr>
          <p:spPr>
            <a:xfrm>
              <a:off x="3546146" y="1552052"/>
              <a:ext cx="2292416" cy="276999"/>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mn-cs"/>
                </a:rPr>
                <a:t>“Cut the Fat, Protect the Muscle”</a:t>
              </a:r>
            </a:p>
          </p:txBody>
        </p:sp>
        <p:pic>
          <p:nvPicPr>
            <p:cNvPr id="12" name="Picture 11">
              <a:extLst>
                <a:ext uri="{FF2B5EF4-FFF2-40B4-BE49-F238E27FC236}">
                  <a16:creationId xmlns:a16="http://schemas.microsoft.com/office/drawing/2014/main" id="{338DF387-8A2B-6D6D-5F88-0708081DF3AB}"/>
                </a:ext>
              </a:extLst>
            </p:cNvPr>
            <p:cNvPicPr>
              <a:picLocks noChangeAspect="1"/>
            </p:cNvPicPr>
            <p:nvPr/>
          </p:nvPicPr>
          <p:blipFill>
            <a:blip r:embed="rId4">
              <a:duotone>
                <a:srgbClr val="765FFF"/>
                <a:srgbClr val="FFFFFF"/>
              </a:duotone>
            </a:blip>
            <a:stretch>
              <a:fillRect/>
            </a:stretch>
          </p:blipFill>
          <p:spPr>
            <a:xfrm>
              <a:off x="4809069" y="1895189"/>
              <a:ext cx="858186" cy="858186"/>
            </a:xfrm>
            <a:prstGeom prst="rect">
              <a:avLst/>
            </a:prstGeom>
          </p:spPr>
        </p:pic>
      </p:grpSp>
      <p:sp>
        <p:nvSpPr>
          <p:cNvPr id="13" name="TextBox 12">
            <a:extLst>
              <a:ext uri="{FF2B5EF4-FFF2-40B4-BE49-F238E27FC236}">
                <a16:creationId xmlns:a16="http://schemas.microsoft.com/office/drawing/2014/main" id="{F2E849FF-F553-B0DE-B301-3ACE2F495551}"/>
              </a:ext>
            </a:extLst>
          </p:cNvPr>
          <p:cNvSpPr txBox="1"/>
          <p:nvPr/>
        </p:nvSpPr>
        <p:spPr>
          <a:xfrm>
            <a:off x="8281850" y="2927087"/>
            <a:ext cx="2245690"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HR Strategy to Value</a:t>
            </a:r>
          </a:p>
        </p:txBody>
      </p:sp>
      <p:sp>
        <p:nvSpPr>
          <p:cNvPr id="14" name="Rectangle: Rounded Corners 42">
            <a:hlinkClick r:id="rId5" action="ppaction://hlinksldjump"/>
            <a:extLst>
              <a:ext uri="{FF2B5EF4-FFF2-40B4-BE49-F238E27FC236}">
                <a16:creationId xmlns:a16="http://schemas.microsoft.com/office/drawing/2014/main" id="{BF3AE088-4E4D-77DD-FA18-F1A378026B24}"/>
              </a:ext>
            </a:extLst>
          </p:cNvPr>
          <p:cNvSpPr/>
          <p:nvPr/>
        </p:nvSpPr>
        <p:spPr>
          <a:xfrm>
            <a:off x="8016846" y="1329780"/>
            <a:ext cx="267377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15" name="TextBox 14">
            <a:extLst>
              <a:ext uri="{FF2B5EF4-FFF2-40B4-BE49-F238E27FC236}">
                <a16:creationId xmlns:a16="http://schemas.microsoft.com/office/drawing/2014/main" id="{4E64B0F3-EEE4-9642-4242-F80278764655}"/>
              </a:ext>
            </a:extLst>
          </p:cNvPr>
          <p:cNvSpPr txBox="1"/>
          <p:nvPr/>
        </p:nvSpPr>
        <p:spPr>
          <a:xfrm>
            <a:off x="8261012" y="5414541"/>
            <a:ext cx="2236388"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Succession Planning</a:t>
            </a:r>
          </a:p>
        </p:txBody>
      </p:sp>
      <p:sp>
        <p:nvSpPr>
          <p:cNvPr id="16" name="Rectangle: Rounded Corners 15">
            <a:hlinkClick r:id="rId6" action="ppaction://hlinksldjump"/>
            <a:extLst>
              <a:ext uri="{FF2B5EF4-FFF2-40B4-BE49-F238E27FC236}">
                <a16:creationId xmlns:a16="http://schemas.microsoft.com/office/drawing/2014/main" id="{5906C3F7-69C4-2ABC-D101-359F717B94FF}"/>
              </a:ext>
            </a:extLst>
          </p:cNvPr>
          <p:cNvSpPr/>
          <p:nvPr/>
        </p:nvSpPr>
        <p:spPr>
          <a:xfrm>
            <a:off x="8016846" y="3817234"/>
            <a:ext cx="2724721"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7" name="TextBox 16">
            <a:extLst>
              <a:ext uri="{FF2B5EF4-FFF2-40B4-BE49-F238E27FC236}">
                <a16:creationId xmlns:a16="http://schemas.microsoft.com/office/drawing/2014/main" id="{EC4EF8DA-70C6-19D4-2B62-E168F1E7701E}"/>
              </a:ext>
            </a:extLst>
          </p:cNvPr>
          <p:cNvSpPr txBox="1"/>
          <p:nvPr/>
        </p:nvSpPr>
        <p:spPr>
          <a:xfrm>
            <a:off x="8166530" y="3871490"/>
            <a:ext cx="2450357" cy="276999"/>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1200" cap="none" spc="-10" normalizeH="0" baseline="0" noProof="0" dirty="0">
                <a:ln>
                  <a:noFill/>
                </a:ln>
                <a:solidFill>
                  <a:srgbClr val="1D1D1D"/>
                </a:solidFill>
                <a:effectLst/>
                <a:uLnTx/>
                <a:uFillTx/>
                <a:latin typeface="Segoe UI" pitchFamily="34" charset="0"/>
                <a:ea typeface="+mn-ea"/>
                <a:cs typeface="+mn-cs"/>
              </a:rPr>
              <a:t>Build the Pipeline</a:t>
            </a:r>
          </a:p>
        </p:txBody>
      </p:sp>
      <p:sp>
        <p:nvSpPr>
          <p:cNvPr id="18" name="Rectangle 17">
            <a:extLst>
              <a:ext uri="{FF2B5EF4-FFF2-40B4-BE49-F238E27FC236}">
                <a16:creationId xmlns:a16="http://schemas.microsoft.com/office/drawing/2014/main" id="{8AD8750B-199C-278A-21CE-5292DB426765}"/>
              </a:ext>
            </a:extLst>
          </p:cNvPr>
          <p:cNvSpPr/>
          <p:nvPr/>
        </p:nvSpPr>
        <p:spPr>
          <a:xfrm>
            <a:off x="9561186" y="4207257"/>
            <a:ext cx="763800" cy="883487"/>
          </a:xfrm>
          <a:prstGeom prst="rect">
            <a:avLst/>
          </a:prstGeom>
          <a:noFill/>
          <a:ln w="3810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nvGrpSpPr>
          <p:cNvPr id="19" name="Group 18">
            <a:extLst>
              <a:ext uri="{FF2B5EF4-FFF2-40B4-BE49-F238E27FC236}">
                <a16:creationId xmlns:a16="http://schemas.microsoft.com/office/drawing/2014/main" id="{E6C112F3-052F-7896-FE20-F7AEDA05BB7D}"/>
              </a:ext>
            </a:extLst>
          </p:cNvPr>
          <p:cNvGrpSpPr/>
          <p:nvPr/>
        </p:nvGrpSpPr>
        <p:grpSpPr>
          <a:xfrm>
            <a:off x="9679219" y="4321797"/>
            <a:ext cx="493557" cy="375277"/>
            <a:chOff x="2112271" y="1966924"/>
            <a:chExt cx="461744" cy="375277"/>
          </a:xfrm>
          <a:solidFill>
            <a:schemeClr val="accent1"/>
          </a:solidFill>
        </p:grpSpPr>
        <p:sp>
          <p:nvSpPr>
            <p:cNvPr id="20" name="Rectangle 19">
              <a:extLst>
                <a:ext uri="{FF2B5EF4-FFF2-40B4-BE49-F238E27FC236}">
                  <a16:creationId xmlns:a16="http://schemas.microsoft.com/office/drawing/2014/main" id="{15BFE8A8-E39B-9EA4-CB75-AEDF41F3B4FF}"/>
                </a:ext>
              </a:extLst>
            </p:cNvPr>
            <p:cNvSpPr/>
            <p:nvPr/>
          </p:nvSpPr>
          <p:spPr>
            <a:xfrm>
              <a:off x="21122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1" name="Rectangle 20">
              <a:extLst>
                <a:ext uri="{FF2B5EF4-FFF2-40B4-BE49-F238E27FC236}">
                  <a16:creationId xmlns:a16="http://schemas.microsoft.com/office/drawing/2014/main" id="{61C7C9DD-4BCA-1C00-F275-C60B7D79BE90}"/>
                </a:ext>
              </a:extLst>
            </p:cNvPr>
            <p:cNvSpPr/>
            <p:nvPr/>
          </p:nvSpPr>
          <p:spPr>
            <a:xfrm>
              <a:off x="229822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2" name="Rectangle 21">
              <a:extLst>
                <a:ext uri="{FF2B5EF4-FFF2-40B4-BE49-F238E27FC236}">
                  <a16:creationId xmlns:a16="http://schemas.microsoft.com/office/drawing/2014/main" id="{296929D2-17C6-4E0A-70DF-3D46BE534689}"/>
                </a:ext>
              </a:extLst>
            </p:cNvPr>
            <p:cNvSpPr/>
            <p:nvPr/>
          </p:nvSpPr>
          <p:spPr>
            <a:xfrm>
              <a:off x="24841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3" name="Rectangle 22">
              <a:extLst>
                <a:ext uri="{FF2B5EF4-FFF2-40B4-BE49-F238E27FC236}">
                  <a16:creationId xmlns:a16="http://schemas.microsoft.com/office/drawing/2014/main" id="{36DA28F2-344C-AC34-88EB-3E533B5CE256}"/>
                </a:ext>
              </a:extLst>
            </p:cNvPr>
            <p:cNvSpPr/>
            <p:nvPr/>
          </p:nvSpPr>
          <p:spPr>
            <a:xfrm>
              <a:off x="21122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4" name="Rectangle 23">
              <a:extLst>
                <a:ext uri="{FF2B5EF4-FFF2-40B4-BE49-F238E27FC236}">
                  <a16:creationId xmlns:a16="http://schemas.microsoft.com/office/drawing/2014/main" id="{F8E8EE35-52D5-0003-7E95-D2F040F66AA0}"/>
                </a:ext>
              </a:extLst>
            </p:cNvPr>
            <p:cNvSpPr/>
            <p:nvPr/>
          </p:nvSpPr>
          <p:spPr>
            <a:xfrm>
              <a:off x="229822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5" name="Rectangle 24">
              <a:extLst>
                <a:ext uri="{FF2B5EF4-FFF2-40B4-BE49-F238E27FC236}">
                  <a16:creationId xmlns:a16="http://schemas.microsoft.com/office/drawing/2014/main" id="{631A6AC6-131F-0A45-7582-602CB5FBE36A}"/>
                </a:ext>
              </a:extLst>
            </p:cNvPr>
            <p:cNvSpPr/>
            <p:nvPr/>
          </p:nvSpPr>
          <p:spPr>
            <a:xfrm>
              <a:off x="24841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6" name="Rectangle 25">
              <a:extLst>
                <a:ext uri="{FF2B5EF4-FFF2-40B4-BE49-F238E27FC236}">
                  <a16:creationId xmlns:a16="http://schemas.microsoft.com/office/drawing/2014/main" id="{88600210-B6BF-5FF2-69DC-B1EC0B96DA6E}"/>
                </a:ext>
              </a:extLst>
            </p:cNvPr>
            <p:cNvSpPr/>
            <p:nvPr/>
          </p:nvSpPr>
          <p:spPr>
            <a:xfrm>
              <a:off x="211227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7" name="Rectangle 26">
              <a:extLst>
                <a:ext uri="{FF2B5EF4-FFF2-40B4-BE49-F238E27FC236}">
                  <a16:creationId xmlns:a16="http://schemas.microsoft.com/office/drawing/2014/main" id="{2F01F9E7-2100-C643-F0EB-76DF64220B70}"/>
                </a:ext>
              </a:extLst>
            </p:cNvPr>
            <p:cNvSpPr/>
            <p:nvPr/>
          </p:nvSpPr>
          <p:spPr>
            <a:xfrm>
              <a:off x="229822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28" name="Rectangle 27">
              <a:extLst>
                <a:ext uri="{FF2B5EF4-FFF2-40B4-BE49-F238E27FC236}">
                  <a16:creationId xmlns:a16="http://schemas.microsoft.com/office/drawing/2014/main" id="{5149BB65-300C-84DA-2F8D-7F3551592B41}"/>
                </a:ext>
              </a:extLst>
            </p:cNvPr>
            <p:cNvSpPr/>
            <p:nvPr/>
          </p:nvSpPr>
          <p:spPr>
            <a:xfrm>
              <a:off x="248417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grpSp>
        <p:nvGrpSpPr>
          <p:cNvPr id="29" name="Group 28">
            <a:extLst>
              <a:ext uri="{FF2B5EF4-FFF2-40B4-BE49-F238E27FC236}">
                <a16:creationId xmlns:a16="http://schemas.microsoft.com/office/drawing/2014/main" id="{44E4AC80-5573-D16E-0B38-CD7E945C644E}"/>
              </a:ext>
            </a:extLst>
          </p:cNvPr>
          <p:cNvGrpSpPr/>
          <p:nvPr/>
        </p:nvGrpSpPr>
        <p:grpSpPr>
          <a:xfrm>
            <a:off x="9680139" y="4752557"/>
            <a:ext cx="493557" cy="228354"/>
            <a:chOff x="2112271" y="1966924"/>
            <a:chExt cx="461744" cy="228354"/>
          </a:xfrm>
          <a:solidFill>
            <a:schemeClr val="accent1"/>
          </a:solidFill>
        </p:grpSpPr>
        <p:sp>
          <p:nvSpPr>
            <p:cNvPr id="30" name="Rectangle 29">
              <a:extLst>
                <a:ext uri="{FF2B5EF4-FFF2-40B4-BE49-F238E27FC236}">
                  <a16:creationId xmlns:a16="http://schemas.microsoft.com/office/drawing/2014/main" id="{0E402E0C-88B9-62ED-DD6E-EAED81738A5E}"/>
                </a:ext>
              </a:extLst>
            </p:cNvPr>
            <p:cNvSpPr/>
            <p:nvPr/>
          </p:nvSpPr>
          <p:spPr>
            <a:xfrm>
              <a:off x="21122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31" name="Rectangle 30">
              <a:extLst>
                <a:ext uri="{FF2B5EF4-FFF2-40B4-BE49-F238E27FC236}">
                  <a16:creationId xmlns:a16="http://schemas.microsoft.com/office/drawing/2014/main" id="{A59E068D-BAA4-0488-6171-AE7FF04CA134}"/>
                </a:ext>
              </a:extLst>
            </p:cNvPr>
            <p:cNvSpPr/>
            <p:nvPr/>
          </p:nvSpPr>
          <p:spPr>
            <a:xfrm>
              <a:off x="229822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32" name="Rectangle 31">
              <a:extLst>
                <a:ext uri="{FF2B5EF4-FFF2-40B4-BE49-F238E27FC236}">
                  <a16:creationId xmlns:a16="http://schemas.microsoft.com/office/drawing/2014/main" id="{50605659-4985-A332-E33A-7E22147E3AB3}"/>
                </a:ext>
              </a:extLst>
            </p:cNvPr>
            <p:cNvSpPr/>
            <p:nvPr/>
          </p:nvSpPr>
          <p:spPr>
            <a:xfrm>
              <a:off x="24841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33" name="Rectangle 32">
              <a:extLst>
                <a:ext uri="{FF2B5EF4-FFF2-40B4-BE49-F238E27FC236}">
                  <a16:creationId xmlns:a16="http://schemas.microsoft.com/office/drawing/2014/main" id="{047CDCDA-F2E3-EC8A-DB4D-31AF4B7F9C9A}"/>
                </a:ext>
              </a:extLst>
            </p:cNvPr>
            <p:cNvSpPr/>
            <p:nvPr/>
          </p:nvSpPr>
          <p:spPr>
            <a:xfrm>
              <a:off x="21122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34" name="Rectangle 33">
              <a:extLst>
                <a:ext uri="{FF2B5EF4-FFF2-40B4-BE49-F238E27FC236}">
                  <a16:creationId xmlns:a16="http://schemas.microsoft.com/office/drawing/2014/main" id="{2790FA0D-22C5-EAC2-1158-A33B61EFA8A2}"/>
                </a:ext>
              </a:extLst>
            </p:cNvPr>
            <p:cNvSpPr/>
            <p:nvPr/>
          </p:nvSpPr>
          <p:spPr>
            <a:xfrm>
              <a:off x="229822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35" name="Rectangle 34">
              <a:extLst>
                <a:ext uri="{FF2B5EF4-FFF2-40B4-BE49-F238E27FC236}">
                  <a16:creationId xmlns:a16="http://schemas.microsoft.com/office/drawing/2014/main" id="{115C7D1C-240E-0D1D-87F3-D65856684F23}"/>
                </a:ext>
              </a:extLst>
            </p:cNvPr>
            <p:cNvSpPr/>
            <p:nvPr/>
          </p:nvSpPr>
          <p:spPr>
            <a:xfrm>
              <a:off x="24841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pic>
        <p:nvPicPr>
          <p:cNvPr id="36" name="Picture 8" descr="Top quality emoticon. Raised eyebrow emoji. Skeptical emoticon. Yellow face  emoji. Popular element. 29892065 PNG">
            <a:extLst>
              <a:ext uri="{FF2B5EF4-FFF2-40B4-BE49-F238E27FC236}">
                <a16:creationId xmlns:a16="http://schemas.microsoft.com/office/drawing/2014/main" id="{64A7A023-205D-36E7-E57A-C2326FB530D8}"/>
              </a:ext>
            </a:extLst>
          </p:cNvPr>
          <p:cNvPicPr>
            <a:picLocks noChangeAspect="1" noChangeArrowheads="1"/>
          </p:cNvPicPr>
          <p:nvPr/>
        </p:nvPicPr>
        <p:blipFill>
          <a:blip r:embed="rId7">
            <a:duotone>
              <a:srgbClr val="765FFF"/>
              <a:srgbClr val="FFFFFF"/>
            </a:duotone>
          </a:blip>
          <a:srcRect/>
          <a:stretch>
            <a:fillRect/>
          </a:stretch>
        </p:blipFill>
        <p:spPr bwMode="auto">
          <a:xfrm>
            <a:off x="8393804" y="4218377"/>
            <a:ext cx="900913" cy="842844"/>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36">
            <a:extLst>
              <a:ext uri="{FF2B5EF4-FFF2-40B4-BE49-F238E27FC236}">
                <a16:creationId xmlns:a16="http://schemas.microsoft.com/office/drawing/2014/main" id="{31FABBF3-3CF0-3116-C09E-AC1219198D08}"/>
              </a:ext>
            </a:extLst>
          </p:cNvPr>
          <p:cNvGrpSpPr/>
          <p:nvPr/>
        </p:nvGrpSpPr>
        <p:grpSpPr>
          <a:xfrm>
            <a:off x="4728168" y="3817234"/>
            <a:ext cx="2549096" cy="2243638"/>
            <a:chOff x="557048" y="4049936"/>
            <a:chExt cx="2549096" cy="2243638"/>
          </a:xfrm>
        </p:grpSpPr>
        <p:sp>
          <p:nvSpPr>
            <p:cNvPr id="38" name="TextBox 37">
              <a:extLst>
                <a:ext uri="{FF2B5EF4-FFF2-40B4-BE49-F238E27FC236}">
                  <a16:creationId xmlns:a16="http://schemas.microsoft.com/office/drawing/2014/main" id="{A8A4022B-ECEF-E720-9386-52AB47428EA9}"/>
                </a:ext>
              </a:extLst>
            </p:cNvPr>
            <p:cNvSpPr txBox="1"/>
            <p:nvPr/>
          </p:nvSpPr>
          <p:spPr>
            <a:xfrm>
              <a:off x="578148" y="5647243"/>
              <a:ext cx="2519344" cy="646331"/>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Rapid Talent to Value @ </a:t>
              </a:r>
            </a:p>
            <a:p>
              <a:pPr lvl="0" algn="ctr">
                <a:defRPr>
                  <a:solidFill>
                    <a:srgbClr val="1D1D1D"/>
                  </a:solidFill>
                </a:defRPr>
              </a:pPr>
              <a:r>
                <a:rPr lang="en-US" b="1" dirty="0">
                  <a:solidFill>
                    <a:srgbClr val="1D1D1D"/>
                  </a:solidFill>
                </a:rPr>
                <a:t>BUs / </a:t>
              </a: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Markets / Funcs</a:t>
              </a:r>
            </a:p>
          </p:txBody>
        </p:sp>
        <p:sp>
          <p:nvSpPr>
            <p:cNvPr id="39" name="Rectangle: Rounded Corners 40">
              <a:hlinkClick r:id="" action="ppaction://noaction"/>
              <a:extLst>
                <a:ext uri="{FF2B5EF4-FFF2-40B4-BE49-F238E27FC236}">
                  <a16:creationId xmlns:a16="http://schemas.microsoft.com/office/drawing/2014/main" id="{4525426D-ED88-016B-1508-9D7AC00B2461}"/>
                </a:ext>
              </a:extLst>
            </p:cNvPr>
            <p:cNvSpPr/>
            <p:nvPr/>
          </p:nvSpPr>
          <p:spPr>
            <a:xfrm>
              <a:off x="557048" y="4049936"/>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40" name="TextBox 39">
              <a:extLst>
                <a:ext uri="{FF2B5EF4-FFF2-40B4-BE49-F238E27FC236}">
                  <a16:creationId xmlns:a16="http://schemas.microsoft.com/office/drawing/2014/main" id="{2AAFF9B5-AD60-DD7C-0131-98680E6EB7D4}"/>
                </a:ext>
              </a:extLst>
            </p:cNvPr>
            <p:cNvSpPr txBox="1"/>
            <p:nvPr/>
          </p:nvSpPr>
          <p:spPr>
            <a:xfrm>
              <a:off x="1804775" y="4511452"/>
              <a:ext cx="1164392" cy="646331"/>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mn-cs"/>
                </a:rPr>
                <a:t>Rapid Mobilization for Impact</a:t>
              </a:r>
            </a:p>
          </p:txBody>
        </p:sp>
        <p:pic>
          <p:nvPicPr>
            <p:cNvPr id="41" name="Picture 40" descr="Decide">
              <a:extLst>
                <a:ext uri="{FF2B5EF4-FFF2-40B4-BE49-F238E27FC236}">
                  <a16:creationId xmlns:a16="http://schemas.microsoft.com/office/drawing/2014/main" id="{08DE7B52-7CEB-3216-28F2-369B2455A874}"/>
                </a:ext>
              </a:extLst>
            </p:cNvPr>
            <p:cNvPicPr>
              <a:picLocks noChangeAspect="1"/>
            </p:cNvPicPr>
            <p:nvPr/>
          </p:nvPicPr>
          <p:blipFill>
            <a:blip r:embed="rId8">
              <a:duotone>
                <a:srgbClr val="765FFF"/>
                <a:srgbClr val="FFFFFF"/>
              </a:duotone>
            </a:blip>
            <a:stretch>
              <a:fillRect/>
            </a:stretch>
          </p:blipFill>
          <p:spPr>
            <a:xfrm>
              <a:off x="1042213" y="4403373"/>
              <a:ext cx="862488" cy="862488"/>
            </a:xfrm>
            <a:prstGeom prst="rect">
              <a:avLst/>
            </a:prstGeom>
          </p:spPr>
        </p:pic>
        <p:pic>
          <p:nvPicPr>
            <p:cNvPr id="42" name="Graphic 110" descr="Clock with solid fill">
              <a:extLst>
                <a:ext uri="{FF2B5EF4-FFF2-40B4-BE49-F238E27FC236}">
                  <a16:creationId xmlns:a16="http://schemas.microsoft.com/office/drawing/2014/main" id="{14FD29D3-4B7F-D4BA-62D6-E07D9FE7C764}"/>
                </a:ext>
              </a:extLst>
            </p:cNvPr>
            <p:cNvPicPr>
              <a:picLocks noChangeAspect="1"/>
            </p:cNvPicPr>
            <p:nvPr/>
          </p:nvPicPr>
          <p:blipFill>
            <a:blip r:embed="rId9">
              <a:duotone>
                <a:srgbClr val="765FFF"/>
                <a:srgbClr val="FFFFFF"/>
              </a:duotone>
            </a:blip>
            <a:stretch>
              <a:fillRect/>
            </a:stretch>
          </p:blipFill>
          <p:spPr>
            <a:xfrm>
              <a:off x="816444" y="4207270"/>
              <a:ext cx="567771" cy="567771"/>
            </a:xfrm>
            <a:prstGeom prst="rect">
              <a:avLst/>
            </a:prstGeom>
          </p:spPr>
        </p:pic>
      </p:grpSp>
      <p:grpSp>
        <p:nvGrpSpPr>
          <p:cNvPr id="43" name="Group 42">
            <a:extLst>
              <a:ext uri="{FF2B5EF4-FFF2-40B4-BE49-F238E27FC236}">
                <a16:creationId xmlns:a16="http://schemas.microsoft.com/office/drawing/2014/main" id="{85A5660F-ACED-A244-DB53-D2302C0BFFDD}"/>
              </a:ext>
            </a:extLst>
          </p:cNvPr>
          <p:cNvGrpSpPr/>
          <p:nvPr/>
        </p:nvGrpSpPr>
        <p:grpSpPr>
          <a:xfrm>
            <a:off x="1334046" y="3817234"/>
            <a:ext cx="2549096" cy="1966639"/>
            <a:chOff x="3400216" y="4049936"/>
            <a:chExt cx="2549096" cy="1966639"/>
          </a:xfrm>
        </p:grpSpPr>
        <p:sp>
          <p:nvSpPr>
            <p:cNvPr id="44" name="TextBox 43">
              <a:extLst>
                <a:ext uri="{FF2B5EF4-FFF2-40B4-BE49-F238E27FC236}">
                  <a16:creationId xmlns:a16="http://schemas.microsoft.com/office/drawing/2014/main" id="{094D52D6-1913-8F09-B066-35E94033337B}"/>
                </a:ext>
              </a:extLst>
            </p:cNvPr>
            <p:cNvSpPr txBox="1"/>
            <p:nvPr/>
          </p:nvSpPr>
          <p:spPr>
            <a:xfrm>
              <a:off x="3757085" y="5647243"/>
              <a:ext cx="1835374" cy="369332"/>
            </a:xfrm>
            <a:prstGeom prst="rect">
              <a:avLst/>
            </a:prstGeom>
            <a:noFill/>
          </p:spPr>
          <p:txBody>
            <a:bodyPr wrap="none" lIns="91440" tIns="45720" rIns="91440" bIns="45720" rtlCol="0">
              <a:spAutoFit/>
            </a:bodyPr>
            <a:lstStyle/>
            <a:p>
              <a:pPr lvl="0" algn="ctr">
                <a:defRPr>
                  <a:solidFill>
                    <a:srgbClr val="1D1D1D"/>
                  </a:solidFill>
                </a:defRPr>
              </a:pPr>
              <a:r>
                <a:rPr lang="en-US" b="1" dirty="0">
                  <a:solidFill>
                    <a:srgbClr val="1D1D1D"/>
                  </a:solidFill>
                </a:rPr>
                <a:t>CXO Enablement </a:t>
              </a:r>
            </a:p>
          </p:txBody>
        </p:sp>
        <p:sp>
          <p:nvSpPr>
            <p:cNvPr id="45" name="Rectangle: Rounded Corners 25">
              <a:hlinkClick r:id="" action="ppaction://noaction"/>
              <a:extLst>
                <a:ext uri="{FF2B5EF4-FFF2-40B4-BE49-F238E27FC236}">
                  <a16:creationId xmlns:a16="http://schemas.microsoft.com/office/drawing/2014/main" id="{16A0D767-7469-2127-5E7D-D86C9012BA5B}"/>
                </a:ext>
              </a:extLst>
            </p:cNvPr>
            <p:cNvSpPr/>
            <p:nvPr/>
          </p:nvSpPr>
          <p:spPr>
            <a:xfrm>
              <a:off x="3400216" y="4049936"/>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46" name="Picture 45" descr="The Code">
              <a:extLst>
                <a:ext uri="{FF2B5EF4-FFF2-40B4-BE49-F238E27FC236}">
                  <a16:creationId xmlns:a16="http://schemas.microsoft.com/office/drawing/2014/main" id="{17E106B3-BCE3-22BF-7D03-4192E8E93E33}"/>
                </a:ext>
              </a:extLst>
            </p:cNvPr>
            <p:cNvPicPr>
              <a:picLocks noChangeAspect="1"/>
            </p:cNvPicPr>
            <p:nvPr/>
          </p:nvPicPr>
          <p:blipFill>
            <a:blip r:embed="rId10">
              <a:duotone>
                <a:srgbClr val="765FFF"/>
                <a:srgbClr val="FFFFFF"/>
              </a:duotone>
            </a:blip>
            <a:stretch>
              <a:fillRect/>
            </a:stretch>
          </p:blipFill>
          <p:spPr>
            <a:xfrm>
              <a:off x="4367201" y="4417199"/>
              <a:ext cx="648000" cy="648000"/>
            </a:xfrm>
            <a:prstGeom prst="rect">
              <a:avLst/>
            </a:prstGeom>
          </p:spPr>
        </p:pic>
        <p:pic>
          <p:nvPicPr>
            <p:cNvPr id="47" name="Picture 46" descr="The List">
              <a:extLst>
                <a:ext uri="{FF2B5EF4-FFF2-40B4-BE49-F238E27FC236}">
                  <a16:creationId xmlns:a16="http://schemas.microsoft.com/office/drawing/2014/main" id="{3310DFC6-3695-731D-3988-2FDDD58B2690}"/>
                </a:ext>
              </a:extLst>
            </p:cNvPr>
            <p:cNvPicPr>
              <a:picLocks noChangeAspect="1"/>
            </p:cNvPicPr>
            <p:nvPr/>
          </p:nvPicPr>
          <p:blipFill>
            <a:blip r:embed="rId11">
              <a:duotone>
                <a:srgbClr val="765FFF"/>
                <a:srgbClr val="FFFFFF"/>
              </a:duotone>
            </a:blip>
            <a:stretch>
              <a:fillRect/>
            </a:stretch>
          </p:blipFill>
          <p:spPr>
            <a:xfrm>
              <a:off x="5147619" y="4403373"/>
              <a:ext cx="648000" cy="648000"/>
            </a:xfrm>
            <a:prstGeom prst="rect">
              <a:avLst/>
            </a:prstGeom>
          </p:spPr>
        </p:pic>
        <p:pic>
          <p:nvPicPr>
            <p:cNvPr id="48" name="Picture 47" descr="Mobilization">
              <a:extLst>
                <a:ext uri="{FF2B5EF4-FFF2-40B4-BE49-F238E27FC236}">
                  <a16:creationId xmlns:a16="http://schemas.microsoft.com/office/drawing/2014/main" id="{E1753AB1-0DD5-6A19-B914-DA94889F4097}"/>
                </a:ext>
              </a:extLst>
            </p:cNvPr>
            <p:cNvPicPr>
              <a:picLocks noChangeAspect="1"/>
            </p:cNvPicPr>
            <p:nvPr/>
          </p:nvPicPr>
          <p:blipFill>
            <a:blip r:embed="rId12">
              <a:duotone>
                <a:srgbClr val="765FFF"/>
                <a:srgbClr val="FFFFFF"/>
              </a:duotone>
            </a:blip>
            <a:stretch>
              <a:fillRect/>
            </a:stretch>
          </p:blipFill>
          <p:spPr>
            <a:xfrm>
              <a:off x="3580024" y="4403373"/>
              <a:ext cx="648000" cy="648000"/>
            </a:xfrm>
            <a:prstGeom prst="rect">
              <a:avLst/>
            </a:prstGeom>
          </p:spPr>
        </p:pic>
      </p:grpSp>
      <p:sp>
        <p:nvSpPr>
          <p:cNvPr id="49" name="Rectangle: Rounded Corners 7">
            <a:extLst>
              <a:ext uri="{FF2B5EF4-FFF2-40B4-BE49-F238E27FC236}">
                <a16:creationId xmlns:a16="http://schemas.microsoft.com/office/drawing/2014/main" id="{1375DEB4-F5CB-5DC9-93B2-3D651579AFED}"/>
              </a:ext>
            </a:extLst>
          </p:cNvPr>
          <p:cNvSpPr/>
          <p:nvPr/>
        </p:nvSpPr>
        <p:spPr>
          <a:xfrm>
            <a:off x="8680216" y="1486604"/>
            <a:ext cx="1121295" cy="57332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srgbClr val="1D1D1D"/>
                </a:solidFill>
              </a:rPr>
              <a:t>Enabling the Business </a:t>
            </a:r>
          </a:p>
        </p:txBody>
      </p:sp>
      <p:pic>
        <p:nvPicPr>
          <p:cNvPr id="50" name="Graphic 8" descr="Playbook outline">
            <a:extLst>
              <a:ext uri="{FF2B5EF4-FFF2-40B4-BE49-F238E27FC236}">
                <a16:creationId xmlns:a16="http://schemas.microsoft.com/office/drawing/2014/main" id="{A201081C-F4A4-3CDE-1C16-D137919B8359}"/>
              </a:ext>
            </a:extLst>
          </p:cNvPr>
          <p:cNvPicPr>
            <a:picLocks noChangeAspect="1"/>
          </p:cNvPicPr>
          <p:nvPr/>
        </p:nvPicPr>
        <p:blipFill>
          <a:blip r:embed="rId13">
            <a:duotone>
              <a:srgbClr val="765FFF"/>
              <a:srgbClr val="FFFFFF"/>
            </a:duotone>
          </a:blip>
          <a:stretch>
            <a:fillRect/>
          </a:stretch>
        </p:blipFill>
        <p:spPr>
          <a:xfrm>
            <a:off x="9803971" y="1710638"/>
            <a:ext cx="783856" cy="695634"/>
          </a:xfrm>
          <a:prstGeom prst="rect">
            <a:avLst/>
          </a:prstGeom>
        </p:spPr>
      </p:pic>
      <p:pic>
        <p:nvPicPr>
          <p:cNvPr id="51" name="Picture 50" descr="Mobilization">
            <a:extLst>
              <a:ext uri="{FF2B5EF4-FFF2-40B4-BE49-F238E27FC236}">
                <a16:creationId xmlns:a16="http://schemas.microsoft.com/office/drawing/2014/main" id="{9E83A71A-55A6-C586-A87A-578BEFA91D04}"/>
              </a:ext>
            </a:extLst>
          </p:cNvPr>
          <p:cNvPicPr>
            <a:picLocks noChangeAspect="1"/>
          </p:cNvPicPr>
          <p:nvPr/>
        </p:nvPicPr>
        <p:blipFill>
          <a:blip r:embed="rId12">
            <a:duotone>
              <a:srgbClr val="765FFF"/>
              <a:srgbClr val="FFFFFF"/>
            </a:duotone>
          </a:blip>
          <a:stretch>
            <a:fillRect/>
          </a:stretch>
        </p:blipFill>
        <p:spPr>
          <a:xfrm>
            <a:off x="8245339" y="1516772"/>
            <a:ext cx="498774" cy="498774"/>
          </a:xfrm>
          <a:prstGeom prst="rect">
            <a:avLst/>
          </a:prstGeom>
        </p:spPr>
      </p:pic>
      <p:pic>
        <p:nvPicPr>
          <p:cNvPr id="52" name="Picture 51" descr="The Code">
            <a:extLst>
              <a:ext uri="{FF2B5EF4-FFF2-40B4-BE49-F238E27FC236}">
                <a16:creationId xmlns:a16="http://schemas.microsoft.com/office/drawing/2014/main" id="{82737CA9-914B-447D-C92C-1E422C9D0EFC}"/>
              </a:ext>
            </a:extLst>
          </p:cNvPr>
          <p:cNvPicPr>
            <a:picLocks noChangeAspect="1"/>
          </p:cNvPicPr>
          <p:nvPr/>
        </p:nvPicPr>
        <p:blipFill>
          <a:blip r:embed="rId10">
            <a:duotone>
              <a:srgbClr val="765FFF"/>
              <a:srgbClr val="FFFFFF"/>
            </a:duotone>
          </a:blip>
          <a:stretch>
            <a:fillRect/>
          </a:stretch>
        </p:blipFill>
        <p:spPr>
          <a:xfrm>
            <a:off x="8235900" y="2135600"/>
            <a:ext cx="498774" cy="498774"/>
          </a:xfrm>
          <a:prstGeom prst="rect">
            <a:avLst/>
          </a:prstGeom>
        </p:spPr>
      </p:pic>
      <p:sp>
        <p:nvSpPr>
          <p:cNvPr id="53" name="Rectangle: Rounded Corners 14">
            <a:extLst>
              <a:ext uri="{FF2B5EF4-FFF2-40B4-BE49-F238E27FC236}">
                <a16:creationId xmlns:a16="http://schemas.microsoft.com/office/drawing/2014/main" id="{67833B5B-B495-C547-EE3F-3382C6EC87E4}"/>
              </a:ext>
            </a:extLst>
          </p:cNvPr>
          <p:cNvSpPr/>
          <p:nvPr/>
        </p:nvSpPr>
        <p:spPr>
          <a:xfrm>
            <a:off x="8673338" y="2118108"/>
            <a:ext cx="1373708" cy="57332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srgbClr val="1D1D1D"/>
                </a:solidFill>
              </a:rPr>
              <a:t>Strengthening Foundations </a:t>
            </a:r>
          </a:p>
        </p:txBody>
      </p:sp>
      <p:grpSp>
        <p:nvGrpSpPr>
          <p:cNvPr id="54" name="Group 53">
            <a:extLst>
              <a:ext uri="{FF2B5EF4-FFF2-40B4-BE49-F238E27FC236}">
                <a16:creationId xmlns:a16="http://schemas.microsoft.com/office/drawing/2014/main" id="{761CADB5-D676-852F-66BF-1D8D62AF20DF}"/>
              </a:ext>
            </a:extLst>
          </p:cNvPr>
          <p:cNvGrpSpPr/>
          <p:nvPr/>
        </p:nvGrpSpPr>
        <p:grpSpPr>
          <a:xfrm>
            <a:off x="4748155" y="1359775"/>
            <a:ext cx="2549096" cy="1966639"/>
            <a:chOff x="6243384" y="1462361"/>
            <a:chExt cx="2549096" cy="1966639"/>
          </a:xfrm>
        </p:grpSpPr>
        <p:sp>
          <p:nvSpPr>
            <p:cNvPr id="55" name="TextBox 54">
              <a:extLst>
                <a:ext uri="{FF2B5EF4-FFF2-40B4-BE49-F238E27FC236}">
                  <a16:creationId xmlns:a16="http://schemas.microsoft.com/office/drawing/2014/main" id="{487B344D-99D2-FA19-1288-8E9B0B39E048}"/>
                </a:ext>
              </a:extLst>
            </p:cNvPr>
            <p:cNvSpPr txBox="1"/>
            <p:nvPr/>
          </p:nvSpPr>
          <p:spPr>
            <a:xfrm>
              <a:off x="6754743" y="3059668"/>
              <a:ext cx="1549527"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Due Diligence</a:t>
              </a:r>
            </a:p>
          </p:txBody>
        </p:sp>
        <p:sp>
          <p:nvSpPr>
            <p:cNvPr id="56" name="Rectangle: Rounded Corners 19">
              <a:hlinkClick r:id="" action="ppaction://noaction"/>
              <a:extLst>
                <a:ext uri="{FF2B5EF4-FFF2-40B4-BE49-F238E27FC236}">
                  <a16:creationId xmlns:a16="http://schemas.microsoft.com/office/drawing/2014/main" id="{4E9F2679-B065-EE2B-75BC-A46542EC44DA}"/>
                </a:ext>
              </a:extLst>
            </p:cNvPr>
            <p:cNvSpPr/>
            <p:nvPr/>
          </p:nvSpPr>
          <p:spPr>
            <a:xfrm>
              <a:off x="6243384" y="1462361"/>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57" name="Picture 56">
              <a:extLst>
                <a:ext uri="{FF2B5EF4-FFF2-40B4-BE49-F238E27FC236}">
                  <a16:creationId xmlns:a16="http://schemas.microsoft.com/office/drawing/2014/main" id="{1430E769-8607-AE46-DAA4-3BCF7FB2A52F}"/>
                </a:ext>
              </a:extLst>
            </p:cNvPr>
            <p:cNvPicPr>
              <a:picLocks noChangeAspect="1"/>
            </p:cNvPicPr>
            <p:nvPr/>
          </p:nvPicPr>
          <p:blipFill>
            <a:blip r:embed="rId14">
              <a:duotone>
                <a:srgbClr val="765FFF"/>
                <a:srgbClr val="FFFFFF"/>
              </a:duotone>
            </a:blip>
            <a:stretch>
              <a:fillRect/>
            </a:stretch>
          </p:blipFill>
          <p:spPr>
            <a:xfrm rot="635590">
              <a:off x="6520132" y="1562758"/>
              <a:ext cx="1203869" cy="1203869"/>
            </a:xfrm>
            <a:prstGeom prst="rect">
              <a:avLst/>
            </a:prstGeom>
          </p:spPr>
        </p:pic>
        <p:sp>
          <p:nvSpPr>
            <p:cNvPr id="58" name="TextBox 57">
              <a:extLst>
                <a:ext uri="{FF2B5EF4-FFF2-40B4-BE49-F238E27FC236}">
                  <a16:creationId xmlns:a16="http://schemas.microsoft.com/office/drawing/2014/main" id="{DCEEBCD1-CD67-A369-0DC8-CFE9439F2EDF}"/>
                </a:ext>
              </a:extLst>
            </p:cNvPr>
            <p:cNvSpPr txBox="1"/>
            <p:nvPr/>
          </p:nvSpPr>
          <p:spPr>
            <a:xfrm>
              <a:off x="7775684" y="1978095"/>
              <a:ext cx="855543" cy="461665"/>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1200" cap="none" spc="-10" normalizeH="0" baseline="0" noProof="0" dirty="0">
                  <a:ln>
                    <a:noFill/>
                  </a:ln>
                  <a:solidFill>
                    <a:srgbClr val="1D1D1D"/>
                  </a:solidFill>
                  <a:effectLst/>
                  <a:uLnTx/>
                  <a:uFillTx/>
                  <a:latin typeface="Segoe UI" pitchFamily="34" charset="0"/>
                  <a:ea typeface="+mn-ea"/>
                  <a:cs typeface="+mn-cs"/>
                </a:rPr>
                <a:t>A Missing Piece</a:t>
              </a:r>
            </a:p>
          </p:txBody>
        </p:sp>
      </p:grpSp>
      <p:sp>
        <p:nvSpPr>
          <p:cNvPr id="59" name="TextBox 58">
            <a:extLst>
              <a:ext uri="{FF2B5EF4-FFF2-40B4-BE49-F238E27FC236}">
                <a16:creationId xmlns:a16="http://schemas.microsoft.com/office/drawing/2014/main" id="{15BB326C-DF28-75FB-5438-138D34C7C7B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804992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A46E8-B694-5D99-AE40-773FEB3492A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E41405F-D769-5556-D026-211E0B8094CC}"/>
              </a:ext>
            </a:extLst>
          </p:cNvPr>
          <p:cNvSpPr txBox="1">
            <a:spLocks noGrp="1"/>
          </p:cNvSpPr>
          <p:nvPr>
            <p:ph type="title"/>
          </p:nvPr>
        </p:nvSpPr>
        <p:spPr>
          <a:noFill/>
        </p:spPr>
        <p:txBody>
          <a:bodyPr/>
          <a:lstStyle/>
          <a:p>
            <a:pPr>
              <a:buNone/>
            </a:pPr>
            <a:r>
              <a:rPr lang="en-US" dirty="0"/>
              <a:t>Strengthen Operating Model</a:t>
            </a:r>
          </a:p>
        </p:txBody>
      </p:sp>
    </p:spTree>
    <p:extLst>
      <p:ext uri="{BB962C8B-B14F-4D97-AF65-F5344CB8AC3E}">
        <p14:creationId xmlns:p14="http://schemas.microsoft.com/office/powerpoint/2010/main" val="3433213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089B14-8CA0-CCD2-73E8-86A9219510BF}"/>
              </a:ext>
            </a:extLst>
          </p:cNvPr>
          <p:cNvSpPr>
            <a:spLocks noGrp="1"/>
          </p:cNvSpPr>
          <p:nvPr>
            <p:ph type="sldNum" sz="quarter" idx="4"/>
          </p:nvPr>
        </p:nvSpPr>
        <p:spPr/>
        <p:txBody>
          <a:bodyPr/>
          <a:lstStyle/>
          <a:p>
            <a:pPr algn="ctr"/>
            <a:fld id="{1875A764-3B06-454E-8ABA-2F6ED0EB58E9}" type="slidenum">
              <a:rPr lang="en-US" smtClean="0"/>
              <a:t>8</a:t>
            </a:fld>
            <a:endParaRPr lang="en-US"/>
          </a:p>
        </p:txBody>
      </p:sp>
      <p:sp>
        <p:nvSpPr>
          <p:cNvPr id="3" name="Title 2">
            <a:extLst>
              <a:ext uri="{FF2B5EF4-FFF2-40B4-BE49-F238E27FC236}">
                <a16:creationId xmlns:a16="http://schemas.microsoft.com/office/drawing/2014/main" id="{07761CBA-2F1E-E203-3FA3-F78FCA1DFCCD}"/>
              </a:ext>
            </a:extLst>
          </p:cNvPr>
          <p:cNvSpPr>
            <a:spLocks noGrp="1"/>
          </p:cNvSpPr>
          <p:nvPr>
            <p:ph type="title"/>
          </p:nvPr>
        </p:nvSpPr>
        <p:spPr/>
        <p:txBody>
          <a:bodyPr/>
          <a:lstStyle/>
          <a:p>
            <a:r>
              <a:rPr lang="en-US" dirty="0"/>
              <a:t>Strengthening the Op Model</a:t>
            </a:r>
          </a:p>
        </p:txBody>
      </p:sp>
      <p:sp>
        <p:nvSpPr>
          <p:cNvPr id="5" name="Rectangle: Rounded Corners 53">
            <a:extLst>
              <a:ext uri="{FF2B5EF4-FFF2-40B4-BE49-F238E27FC236}">
                <a16:creationId xmlns:a16="http://schemas.microsoft.com/office/drawing/2014/main" id="{416ACC4A-EC77-238A-9F26-7915D1AE5556}"/>
              </a:ext>
            </a:extLst>
          </p:cNvPr>
          <p:cNvSpPr/>
          <p:nvPr/>
        </p:nvSpPr>
        <p:spPr>
          <a:xfrm>
            <a:off x="1993989" y="1035275"/>
            <a:ext cx="2690030" cy="638153"/>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6" name="Rectangle: Rounded Corners 54">
            <a:extLst>
              <a:ext uri="{FF2B5EF4-FFF2-40B4-BE49-F238E27FC236}">
                <a16:creationId xmlns:a16="http://schemas.microsoft.com/office/drawing/2014/main" id="{985615C8-2857-40C9-E76B-E29F1C4FA86F}"/>
              </a:ext>
            </a:extLst>
          </p:cNvPr>
          <p:cNvSpPr/>
          <p:nvPr/>
        </p:nvSpPr>
        <p:spPr>
          <a:xfrm>
            <a:off x="7678264" y="1079717"/>
            <a:ext cx="2647243" cy="615841"/>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7" name="TextBox 6">
            <a:extLst>
              <a:ext uri="{FF2B5EF4-FFF2-40B4-BE49-F238E27FC236}">
                <a16:creationId xmlns:a16="http://schemas.microsoft.com/office/drawing/2014/main" id="{2208E058-F8E3-0B54-B350-B439CD1319E3}"/>
              </a:ext>
            </a:extLst>
          </p:cNvPr>
          <p:cNvSpPr txBox="1"/>
          <p:nvPr/>
        </p:nvSpPr>
        <p:spPr>
          <a:xfrm>
            <a:off x="2597180" y="1350437"/>
            <a:ext cx="161672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/VALUE</a:t>
            </a:r>
          </a:p>
        </p:txBody>
      </p:sp>
      <p:sp>
        <p:nvSpPr>
          <p:cNvPr id="8" name="TextBox 7">
            <a:extLst>
              <a:ext uri="{FF2B5EF4-FFF2-40B4-BE49-F238E27FC236}">
                <a16:creationId xmlns:a16="http://schemas.microsoft.com/office/drawing/2014/main" id="{897395DF-9CC0-B391-FC28-62B3E94EC119}"/>
              </a:ext>
            </a:extLst>
          </p:cNvPr>
          <p:cNvSpPr txBox="1"/>
          <p:nvPr/>
        </p:nvSpPr>
        <p:spPr>
          <a:xfrm>
            <a:off x="8052167" y="1354198"/>
            <a:ext cx="197429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/WORK PIVOTS</a:t>
            </a:r>
          </a:p>
        </p:txBody>
      </p:sp>
      <p:sp>
        <p:nvSpPr>
          <p:cNvPr id="9" name="TextBox 8">
            <a:extLst>
              <a:ext uri="{FF2B5EF4-FFF2-40B4-BE49-F238E27FC236}">
                <a16:creationId xmlns:a16="http://schemas.microsoft.com/office/drawing/2014/main" id="{A06DD366-A66B-1DDA-6810-380C570DE811}"/>
              </a:ext>
            </a:extLst>
          </p:cNvPr>
          <p:cNvSpPr txBox="1"/>
          <p:nvPr/>
        </p:nvSpPr>
        <p:spPr>
          <a:xfrm>
            <a:off x="2155802" y="1015186"/>
            <a:ext cx="2531992"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Where Is the Money?</a:t>
            </a:r>
          </a:p>
        </p:txBody>
      </p:sp>
      <p:sp>
        <p:nvSpPr>
          <p:cNvPr id="10" name="TextBox 9">
            <a:extLst>
              <a:ext uri="{FF2B5EF4-FFF2-40B4-BE49-F238E27FC236}">
                <a16:creationId xmlns:a16="http://schemas.microsoft.com/office/drawing/2014/main" id="{129FC2C9-59CF-F9CB-4E84-9FB6323A2563}"/>
              </a:ext>
            </a:extLst>
          </p:cNvPr>
          <p:cNvSpPr txBox="1"/>
          <p:nvPr/>
        </p:nvSpPr>
        <p:spPr>
          <a:xfrm>
            <a:off x="7679060" y="1054069"/>
            <a:ext cx="2658967"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What Needs to Change?</a:t>
            </a:r>
          </a:p>
        </p:txBody>
      </p:sp>
      <p:pic>
        <p:nvPicPr>
          <p:cNvPr id="11" name="Picture 10">
            <a:extLst>
              <a:ext uri="{FF2B5EF4-FFF2-40B4-BE49-F238E27FC236}">
                <a16:creationId xmlns:a16="http://schemas.microsoft.com/office/drawing/2014/main" id="{827B0F7A-240F-D2CE-9945-4B477953436B}"/>
              </a:ext>
            </a:extLst>
          </p:cNvPr>
          <p:cNvPicPr>
            <a:picLocks noChangeAspect="1"/>
          </p:cNvPicPr>
          <p:nvPr/>
        </p:nvPicPr>
        <p:blipFill>
          <a:blip r:embed="rId2">
            <a:duotone>
              <a:schemeClr val="accent1">
                <a:shade val="45000"/>
                <a:satMod val="135000"/>
              </a:schemeClr>
              <a:prstClr val="white"/>
            </a:duotone>
          </a:blip>
          <a:stretch>
            <a:fillRect/>
          </a:stretch>
        </p:blipFill>
        <p:spPr>
          <a:xfrm>
            <a:off x="121685" y="2086728"/>
            <a:ext cx="6140570" cy="3443897"/>
          </a:xfrm>
          <a:prstGeom prst="rect">
            <a:avLst/>
          </a:prstGeom>
        </p:spPr>
      </p:pic>
      <p:pic>
        <p:nvPicPr>
          <p:cNvPr id="12" name="Picture 11">
            <a:extLst>
              <a:ext uri="{FF2B5EF4-FFF2-40B4-BE49-F238E27FC236}">
                <a16:creationId xmlns:a16="http://schemas.microsoft.com/office/drawing/2014/main" id="{75F7C903-D290-E9B5-5327-1B3E4DE49FB7}"/>
              </a:ext>
            </a:extLst>
          </p:cNvPr>
          <p:cNvPicPr>
            <a:picLocks noChangeAspect="1"/>
          </p:cNvPicPr>
          <p:nvPr/>
        </p:nvPicPr>
        <p:blipFill>
          <a:blip r:embed="rId3">
            <a:duotone>
              <a:schemeClr val="accent1">
                <a:shade val="45000"/>
                <a:satMod val="135000"/>
              </a:schemeClr>
              <a:prstClr val="white"/>
            </a:duotone>
          </a:blip>
          <a:stretch>
            <a:fillRect/>
          </a:stretch>
        </p:blipFill>
        <p:spPr>
          <a:xfrm>
            <a:off x="6480697" y="2086728"/>
            <a:ext cx="5395086" cy="3450930"/>
          </a:xfrm>
          <a:prstGeom prst="rect">
            <a:avLst/>
          </a:prstGeom>
        </p:spPr>
      </p:pic>
      <p:sp>
        <p:nvSpPr>
          <p:cNvPr id="4" name="TextBox 3">
            <a:extLst>
              <a:ext uri="{FF2B5EF4-FFF2-40B4-BE49-F238E27FC236}">
                <a16:creationId xmlns:a16="http://schemas.microsoft.com/office/drawing/2014/main" id="{9C7170AB-DAB0-1767-8497-D5E0359E57D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128221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AA54E-FEA3-3FEB-1C99-EF8A5D823C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1A16B0-B183-828A-7B6C-2DD2E061E419}"/>
              </a:ext>
            </a:extLst>
          </p:cNvPr>
          <p:cNvSpPr>
            <a:spLocks noGrp="1"/>
          </p:cNvSpPr>
          <p:nvPr>
            <p:ph type="sldNum" sz="quarter" idx="4"/>
          </p:nvPr>
        </p:nvSpPr>
        <p:spPr/>
        <p:txBody>
          <a:bodyPr/>
          <a:lstStyle/>
          <a:p>
            <a:pPr algn="ctr"/>
            <a:fld id="{1875A764-3B06-454E-8ABA-2F6ED0EB58E9}" type="slidenum">
              <a:rPr lang="en-US" smtClean="0"/>
              <a:t>9</a:t>
            </a:fld>
            <a:endParaRPr lang="en-US"/>
          </a:p>
        </p:txBody>
      </p:sp>
      <p:sp>
        <p:nvSpPr>
          <p:cNvPr id="3" name="Title 2">
            <a:extLst>
              <a:ext uri="{FF2B5EF4-FFF2-40B4-BE49-F238E27FC236}">
                <a16:creationId xmlns:a16="http://schemas.microsoft.com/office/drawing/2014/main" id="{81D77383-2B90-2C85-23B2-700849DC7563}"/>
              </a:ext>
            </a:extLst>
          </p:cNvPr>
          <p:cNvSpPr>
            <a:spLocks noGrp="1"/>
          </p:cNvSpPr>
          <p:nvPr>
            <p:ph type="title"/>
          </p:nvPr>
        </p:nvSpPr>
        <p:spPr/>
        <p:txBody>
          <a:bodyPr/>
          <a:lstStyle/>
          <a:p>
            <a:r>
              <a:rPr lang="en-US" dirty="0"/>
              <a:t>Strengthening the Op Model</a:t>
            </a:r>
          </a:p>
        </p:txBody>
      </p:sp>
      <p:grpSp>
        <p:nvGrpSpPr>
          <p:cNvPr id="13" name="Group 12">
            <a:extLst>
              <a:ext uri="{FF2B5EF4-FFF2-40B4-BE49-F238E27FC236}">
                <a16:creationId xmlns:a16="http://schemas.microsoft.com/office/drawing/2014/main" id="{13A5D8BB-BE0E-68C5-DCF4-ABBEDF367E90}"/>
              </a:ext>
            </a:extLst>
          </p:cNvPr>
          <p:cNvGrpSpPr/>
          <p:nvPr/>
        </p:nvGrpSpPr>
        <p:grpSpPr>
          <a:xfrm>
            <a:off x="4733128" y="761698"/>
            <a:ext cx="2325291" cy="643333"/>
            <a:chOff x="4733128" y="1196038"/>
            <a:chExt cx="2325291" cy="643333"/>
          </a:xfrm>
        </p:grpSpPr>
        <p:sp>
          <p:nvSpPr>
            <p:cNvPr id="14" name="Rectangle: Rounded Corners 11">
              <a:extLst>
                <a:ext uri="{FF2B5EF4-FFF2-40B4-BE49-F238E27FC236}">
                  <a16:creationId xmlns:a16="http://schemas.microsoft.com/office/drawing/2014/main" id="{57F34195-6B74-5E5D-8708-96A37A0B98C6}"/>
                </a:ext>
              </a:extLst>
            </p:cNvPr>
            <p:cNvSpPr/>
            <p:nvPr/>
          </p:nvSpPr>
          <p:spPr>
            <a:xfrm>
              <a:off x="4794958" y="1224957"/>
              <a:ext cx="2263461" cy="61441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15" name="TextBox 14">
              <a:extLst>
                <a:ext uri="{FF2B5EF4-FFF2-40B4-BE49-F238E27FC236}">
                  <a16:creationId xmlns:a16="http://schemas.microsoft.com/office/drawing/2014/main" id="{9CDFDE28-6B9B-6850-3E7A-104FD3CB879F}"/>
                </a:ext>
              </a:extLst>
            </p:cNvPr>
            <p:cNvSpPr txBox="1"/>
            <p:nvPr/>
          </p:nvSpPr>
          <p:spPr>
            <a:xfrm>
              <a:off x="4989487" y="1517585"/>
              <a:ext cx="197429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dirty="0">
                  <a:ln>
                    <a:noFill/>
                  </a:ln>
                  <a:solidFill>
                    <a:schemeClr val="accent1"/>
                  </a:solidFill>
                  <a:effectLst/>
                  <a:uLnTx/>
                  <a:uFillTx/>
                  <a:latin typeface="Segoe UI" pitchFamily="34" charset="0"/>
                  <a:ea typeface="Lato" panose="020F0502020204030203" pitchFamily="34" charset="0"/>
                  <a:cs typeface="Lato" panose="020F0502020204030203" pitchFamily="34" charset="0"/>
                </a:rPr>
                <a:t>/OP MODEL PIVOTS</a:t>
              </a:r>
            </a:p>
          </p:txBody>
        </p:sp>
        <p:sp>
          <p:nvSpPr>
            <p:cNvPr id="16" name="TextBox 15">
              <a:extLst>
                <a:ext uri="{FF2B5EF4-FFF2-40B4-BE49-F238E27FC236}">
                  <a16:creationId xmlns:a16="http://schemas.microsoft.com/office/drawing/2014/main" id="{37826517-C5A2-AB54-01BF-3773701D53F4}"/>
                </a:ext>
              </a:extLst>
            </p:cNvPr>
            <p:cNvSpPr txBox="1"/>
            <p:nvPr/>
          </p:nvSpPr>
          <p:spPr>
            <a:xfrm>
              <a:off x="4733128" y="1196038"/>
              <a:ext cx="2314341"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How Do We Run the Place</a:t>
              </a:r>
            </a:p>
          </p:txBody>
        </p:sp>
      </p:grpSp>
      <p:pic>
        <p:nvPicPr>
          <p:cNvPr id="17" name="Picture 16">
            <a:extLst>
              <a:ext uri="{FF2B5EF4-FFF2-40B4-BE49-F238E27FC236}">
                <a16:creationId xmlns:a16="http://schemas.microsoft.com/office/drawing/2014/main" id="{8CCF2003-9334-3517-6931-8B48720B1CA5}"/>
              </a:ext>
            </a:extLst>
          </p:cNvPr>
          <p:cNvPicPr>
            <a:picLocks noChangeAspect="1"/>
          </p:cNvPicPr>
          <p:nvPr/>
        </p:nvPicPr>
        <p:blipFill>
          <a:blip r:embed="rId2">
            <a:duotone>
              <a:srgbClr val="765FFF"/>
              <a:srgbClr val="FFFFFF"/>
            </a:duotone>
          </a:blip>
          <a:stretch>
            <a:fillRect/>
          </a:stretch>
        </p:blipFill>
        <p:spPr>
          <a:xfrm>
            <a:off x="2120801" y="1213761"/>
            <a:ext cx="3321926" cy="2301784"/>
          </a:xfrm>
          <a:prstGeom prst="rect">
            <a:avLst/>
          </a:prstGeom>
        </p:spPr>
      </p:pic>
      <p:pic>
        <p:nvPicPr>
          <p:cNvPr id="18" name="Picture 17">
            <a:extLst>
              <a:ext uri="{FF2B5EF4-FFF2-40B4-BE49-F238E27FC236}">
                <a16:creationId xmlns:a16="http://schemas.microsoft.com/office/drawing/2014/main" id="{36F8DA04-08BA-2949-0592-CFED6707BC20}"/>
              </a:ext>
            </a:extLst>
          </p:cNvPr>
          <p:cNvPicPr>
            <a:picLocks noChangeAspect="1"/>
          </p:cNvPicPr>
          <p:nvPr/>
        </p:nvPicPr>
        <p:blipFill>
          <a:blip r:embed="rId3">
            <a:duotone>
              <a:srgbClr val="765FFF"/>
              <a:srgbClr val="FFFFFF"/>
            </a:duotone>
          </a:blip>
          <a:stretch>
            <a:fillRect/>
          </a:stretch>
        </p:blipFill>
        <p:spPr>
          <a:xfrm>
            <a:off x="6478309" y="1213761"/>
            <a:ext cx="3237712" cy="2243432"/>
          </a:xfrm>
          <a:prstGeom prst="rect">
            <a:avLst/>
          </a:prstGeom>
        </p:spPr>
      </p:pic>
      <p:pic>
        <p:nvPicPr>
          <p:cNvPr id="19" name="Picture 18">
            <a:extLst>
              <a:ext uri="{FF2B5EF4-FFF2-40B4-BE49-F238E27FC236}">
                <a16:creationId xmlns:a16="http://schemas.microsoft.com/office/drawing/2014/main" id="{0F9D4913-FC53-BD41-6EED-79EDDDA1F3EA}"/>
              </a:ext>
            </a:extLst>
          </p:cNvPr>
          <p:cNvPicPr>
            <a:picLocks noChangeAspect="1"/>
          </p:cNvPicPr>
          <p:nvPr/>
        </p:nvPicPr>
        <p:blipFill>
          <a:blip r:embed="rId4">
            <a:duotone>
              <a:srgbClr val="765FFF"/>
              <a:srgbClr val="FFFFFF"/>
            </a:duotone>
          </a:blip>
          <a:stretch>
            <a:fillRect/>
          </a:stretch>
        </p:blipFill>
        <p:spPr>
          <a:xfrm>
            <a:off x="287260" y="3407136"/>
            <a:ext cx="4936250" cy="3088018"/>
          </a:xfrm>
          <a:prstGeom prst="rect">
            <a:avLst/>
          </a:prstGeom>
        </p:spPr>
      </p:pic>
      <p:sp>
        <p:nvSpPr>
          <p:cNvPr id="20" name="TextBox 19">
            <a:extLst>
              <a:ext uri="{FF2B5EF4-FFF2-40B4-BE49-F238E27FC236}">
                <a16:creationId xmlns:a16="http://schemas.microsoft.com/office/drawing/2014/main" id="{F1FE0604-50C1-4929-BDA3-34FCF8E7964C}"/>
              </a:ext>
            </a:extLst>
          </p:cNvPr>
          <p:cNvSpPr txBox="1"/>
          <p:nvPr/>
        </p:nvSpPr>
        <p:spPr>
          <a:xfrm>
            <a:off x="1375768" y="3724367"/>
            <a:ext cx="2365513" cy="278296"/>
          </a:xfrm>
          <a:prstGeom prst="rect">
            <a:avLst/>
          </a:prstGeom>
        </p:spPr>
        <p:txBody>
          <a:bodyPr vert="horz" wrap="square" lIns="0" tIns="0" rIns="0" bIns="0" rtlCol="0" anchor="t" anchorCtr="0">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dirty="0">
                <a:ln>
                  <a:noFill/>
                </a:ln>
                <a:solidFill>
                  <a:srgbClr val="1D1D1D"/>
                </a:solidFill>
                <a:effectLst/>
                <a:uLnTx/>
                <a:uFillTx/>
                <a:latin typeface="Arial" pitchFamily="34" charset="0"/>
                <a:ea typeface="+mn-ea"/>
                <a:cs typeface="+mn-cs"/>
              </a:rPr>
              <a:t>Design Principles</a:t>
            </a:r>
          </a:p>
        </p:txBody>
      </p:sp>
      <p:sp>
        <p:nvSpPr>
          <p:cNvPr id="21" name="TextBox 20">
            <a:extLst>
              <a:ext uri="{FF2B5EF4-FFF2-40B4-BE49-F238E27FC236}">
                <a16:creationId xmlns:a16="http://schemas.microsoft.com/office/drawing/2014/main" id="{38C8AF30-9DF5-1A85-A158-1DC455D9D607}"/>
              </a:ext>
            </a:extLst>
          </p:cNvPr>
          <p:cNvSpPr txBox="1"/>
          <p:nvPr/>
        </p:nvSpPr>
        <p:spPr>
          <a:xfrm>
            <a:off x="7168335" y="3724367"/>
            <a:ext cx="2365513" cy="278296"/>
          </a:xfrm>
          <a:prstGeom prst="rect">
            <a:avLst/>
          </a:prstGeom>
        </p:spPr>
        <p:txBody>
          <a:bodyPr vert="horz" wrap="square" lIns="0" tIns="0" rIns="0" bIns="0" rtlCol="0" anchor="t" anchorCtr="0">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10" normalizeH="0" baseline="0" noProof="0" dirty="0">
                <a:ln>
                  <a:noFill/>
                </a:ln>
                <a:solidFill>
                  <a:srgbClr val="1D1D1D"/>
                </a:solidFill>
                <a:effectLst/>
                <a:uLnTx/>
                <a:uFillTx/>
                <a:latin typeface="Arial" pitchFamily="34" charset="0"/>
                <a:ea typeface="+mn-ea"/>
                <a:cs typeface="+mn-cs"/>
              </a:rPr>
              <a:t>Op Model </a:t>
            </a:r>
            <a:endParaRPr kumimoji="0" lang="en-US" sz="14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22" name="Picture 21">
            <a:extLst>
              <a:ext uri="{FF2B5EF4-FFF2-40B4-BE49-F238E27FC236}">
                <a16:creationId xmlns:a16="http://schemas.microsoft.com/office/drawing/2014/main" id="{AED1A5B8-CBB4-A2C5-810D-8BBC779610B0}"/>
              </a:ext>
            </a:extLst>
          </p:cNvPr>
          <p:cNvPicPr>
            <a:picLocks noChangeAspect="1"/>
          </p:cNvPicPr>
          <p:nvPr/>
        </p:nvPicPr>
        <p:blipFill>
          <a:blip r:embed="rId5">
            <a:duotone>
              <a:srgbClr val="765FFF"/>
              <a:srgbClr val="FFFFFF"/>
            </a:duotone>
          </a:blip>
          <a:stretch>
            <a:fillRect/>
          </a:stretch>
        </p:blipFill>
        <p:spPr>
          <a:xfrm>
            <a:off x="5890298" y="3628942"/>
            <a:ext cx="5286146" cy="2644405"/>
          </a:xfrm>
          <a:prstGeom prst="rect">
            <a:avLst/>
          </a:prstGeom>
        </p:spPr>
      </p:pic>
      <p:sp>
        <p:nvSpPr>
          <p:cNvPr id="4" name="TextBox 3">
            <a:extLst>
              <a:ext uri="{FF2B5EF4-FFF2-40B4-BE49-F238E27FC236}">
                <a16:creationId xmlns:a16="http://schemas.microsoft.com/office/drawing/2014/main" id="{4D2E83ED-D4B7-C01B-B822-290D7D4A8CE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9430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18A2A-C71C-BE9B-EA3F-13A52E759EB4}"/>
              </a:ext>
            </a:extLst>
          </p:cNvPr>
          <p:cNvSpPr>
            <a:spLocks noGrp="1"/>
          </p:cNvSpPr>
          <p:nvPr>
            <p:ph type="sldNum" sz="quarter" idx="4"/>
          </p:nvPr>
        </p:nvSpPr>
        <p:spPr/>
        <p:txBody>
          <a:bodyPr/>
          <a:lstStyle/>
          <a:p>
            <a:pPr algn="ctr"/>
            <a:fld id="{1875A764-3B06-454E-8ABA-2F6ED0EB58E9}" type="slidenum">
              <a:rPr lang="en-US" smtClean="0"/>
              <a:t>10</a:t>
            </a:fld>
            <a:endParaRPr lang="en-US"/>
          </a:p>
        </p:txBody>
      </p:sp>
      <p:sp>
        <p:nvSpPr>
          <p:cNvPr id="3" name="Title 2">
            <a:extLst>
              <a:ext uri="{FF2B5EF4-FFF2-40B4-BE49-F238E27FC236}">
                <a16:creationId xmlns:a16="http://schemas.microsoft.com/office/drawing/2014/main" id="{56A081CF-F549-83AE-665B-4628F01596CB}"/>
              </a:ext>
            </a:extLst>
          </p:cNvPr>
          <p:cNvSpPr>
            <a:spLocks noGrp="1"/>
          </p:cNvSpPr>
          <p:nvPr>
            <p:ph type="title"/>
          </p:nvPr>
        </p:nvSpPr>
        <p:spPr/>
        <p:txBody>
          <a:bodyPr/>
          <a:lstStyle/>
          <a:p>
            <a:r>
              <a:rPr lang="en-US" dirty="0"/>
              <a:t>Strengthening the Op Model</a:t>
            </a:r>
          </a:p>
        </p:txBody>
      </p:sp>
      <p:sp>
        <p:nvSpPr>
          <p:cNvPr id="4" name="Rectangle 3">
            <a:extLst>
              <a:ext uri="{FF2B5EF4-FFF2-40B4-BE49-F238E27FC236}">
                <a16:creationId xmlns:a16="http://schemas.microsoft.com/office/drawing/2014/main" id="{42126B26-F346-4857-364D-24149900FEBD}"/>
              </a:ext>
            </a:extLst>
          </p:cNvPr>
          <p:cNvSpPr/>
          <p:nvPr/>
        </p:nvSpPr>
        <p:spPr>
          <a:xfrm>
            <a:off x="1173977" y="2181204"/>
            <a:ext cx="3855223" cy="960961"/>
          </a:xfrm>
          <a:prstGeom prst="rect">
            <a:avLst/>
          </a:prstGeom>
          <a:noFill/>
        </p:spPr>
        <p:txBody>
          <a:bodyPr vert="horz" lIns="54864" tIns="54864" rIns="45720" bIns="36576" rtlCol="0" anchor="t" anchorCtr="0">
            <a:noAutofit/>
          </a:bodyPr>
          <a:lstStyle/>
          <a:p>
            <a:pPr marL="285750" marR="0" lvl="0" indent="-285750" algn="l" defTabSz="173728" rtl="0" eaLnBrk="1" fontAlgn="auto" latinLnBrk="0" hangingPunct="1">
              <a:lnSpc>
                <a:spcPct val="100000"/>
              </a:lnSpc>
              <a:spcBef>
                <a:spcPts val="0"/>
              </a:spcBef>
              <a:spcAft>
                <a:spcPts val="600"/>
              </a:spcAft>
              <a:buClrTx/>
              <a:buSzTx/>
              <a:buFont typeface="Arial" panose="020B0604020202020204" pitchFamily="34" charset="0"/>
              <a:buChar char="•"/>
              <a:tabLst>
                <a:tab pos="173728" algn="l"/>
                <a:tab pos="347454" algn="l"/>
                <a:tab pos="521182" algn="l"/>
                <a:tab pos="694909" algn="l"/>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Designing for  Interdependence </a:t>
            </a:r>
          </a:p>
          <a:p>
            <a:pPr marL="285750" marR="0" lvl="0" indent="-285750" algn="l" defTabSz="173728" rtl="0" eaLnBrk="1" fontAlgn="auto" latinLnBrk="0" hangingPunct="1">
              <a:lnSpc>
                <a:spcPct val="100000"/>
              </a:lnSpc>
              <a:spcBef>
                <a:spcPts val="0"/>
              </a:spcBef>
              <a:spcAft>
                <a:spcPts val="600"/>
              </a:spcAft>
              <a:buClrTx/>
              <a:buSzTx/>
              <a:buFont typeface="Arial" panose="020B0604020202020204" pitchFamily="34" charset="0"/>
              <a:buChar char="•"/>
              <a:tabLst>
                <a:tab pos="173728" algn="l"/>
                <a:tab pos="347454" algn="l"/>
                <a:tab pos="521182" algn="l"/>
                <a:tab pos="694909" algn="l"/>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Identify Critical Roles + Assess Risk </a:t>
            </a:r>
          </a:p>
        </p:txBody>
      </p:sp>
      <p:sp>
        <p:nvSpPr>
          <p:cNvPr id="5" name="Rectangle: Rounded Corners 55">
            <a:extLst>
              <a:ext uri="{FF2B5EF4-FFF2-40B4-BE49-F238E27FC236}">
                <a16:creationId xmlns:a16="http://schemas.microsoft.com/office/drawing/2014/main" id="{C05FC3CB-E6FA-4363-9E7B-2EACF157A2EA}"/>
              </a:ext>
            </a:extLst>
          </p:cNvPr>
          <p:cNvSpPr/>
          <p:nvPr/>
        </p:nvSpPr>
        <p:spPr>
          <a:xfrm>
            <a:off x="2063026" y="1236561"/>
            <a:ext cx="201168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6" name="Rectangle: Rounded Corners 17">
            <a:extLst>
              <a:ext uri="{FF2B5EF4-FFF2-40B4-BE49-F238E27FC236}">
                <a16:creationId xmlns:a16="http://schemas.microsoft.com/office/drawing/2014/main" id="{C6BA6092-2D80-87B1-F01D-2C3859C215BE}"/>
              </a:ext>
            </a:extLst>
          </p:cNvPr>
          <p:cNvSpPr/>
          <p:nvPr/>
        </p:nvSpPr>
        <p:spPr>
          <a:xfrm>
            <a:off x="7172236" y="1194202"/>
            <a:ext cx="201168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7" name="TextBox 6">
            <a:extLst>
              <a:ext uri="{FF2B5EF4-FFF2-40B4-BE49-F238E27FC236}">
                <a16:creationId xmlns:a16="http://schemas.microsoft.com/office/drawing/2014/main" id="{8C58FACE-6319-A8FF-85BB-90A511A59793}"/>
              </a:ext>
            </a:extLst>
          </p:cNvPr>
          <p:cNvSpPr txBox="1"/>
          <p:nvPr/>
        </p:nvSpPr>
        <p:spPr>
          <a:xfrm>
            <a:off x="2193890" y="1539457"/>
            <a:ext cx="1759263" cy="379656"/>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10"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/LIST</a:t>
            </a:r>
            <a:endParaRPr kumimoji="0" lang="en-US" sz="1333" b="0" i="0" u="none" strike="noStrike" kern="120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4AC3F489-BAD4-B25A-5AA9-B670CCE0688D}"/>
              </a:ext>
            </a:extLst>
          </p:cNvPr>
          <p:cNvSpPr txBox="1"/>
          <p:nvPr/>
        </p:nvSpPr>
        <p:spPr>
          <a:xfrm>
            <a:off x="7266552" y="1500054"/>
            <a:ext cx="1840936" cy="379656"/>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10"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/MOBILIZE</a:t>
            </a:r>
            <a:endParaRPr kumimoji="0" lang="en-US" sz="1867" b="0" i="0" u="none" strike="noStrike" kern="120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6DCB78F4-19B3-D470-71E9-DB45390BCCF8}"/>
              </a:ext>
            </a:extLst>
          </p:cNvPr>
          <p:cNvSpPr txBox="1"/>
          <p:nvPr/>
        </p:nvSpPr>
        <p:spPr>
          <a:xfrm>
            <a:off x="1982060" y="1264873"/>
            <a:ext cx="2200844" cy="276999"/>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2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What Are the Critical Roles?</a:t>
            </a:r>
          </a:p>
        </p:txBody>
      </p:sp>
      <p:sp>
        <p:nvSpPr>
          <p:cNvPr id="10" name="TextBox 9">
            <a:extLst>
              <a:ext uri="{FF2B5EF4-FFF2-40B4-BE49-F238E27FC236}">
                <a16:creationId xmlns:a16="http://schemas.microsoft.com/office/drawing/2014/main" id="{2114111A-5BCD-56A6-624A-19C0ED0BF5C9}"/>
              </a:ext>
            </a:extLst>
          </p:cNvPr>
          <p:cNvSpPr txBox="1"/>
          <p:nvPr/>
        </p:nvSpPr>
        <p:spPr>
          <a:xfrm>
            <a:off x="7185831" y="1222513"/>
            <a:ext cx="2056900" cy="276999"/>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2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Shortest Path to Value?</a:t>
            </a:r>
          </a:p>
        </p:txBody>
      </p:sp>
      <p:sp>
        <p:nvSpPr>
          <p:cNvPr id="11" name="Rectangle 10">
            <a:extLst>
              <a:ext uri="{FF2B5EF4-FFF2-40B4-BE49-F238E27FC236}">
                <a16:creationId xmlns:a16="http://schemas.microsoft.com/office/drawing/2014/main" id="{D81E95E6-4752-2FD8-7FEF-670DE55F3E8F}"/>
              </a:ext>
            </a:extLst>
          </p:cNvPr>
          <p:cNvSpPr/>
          <p:nvPr/>
        </p:nvSpPr>
        <p:spPr>
          <a:xfrm>
            <a:off x="6777990" y="2181204"/>
            <a:ext cx="3714750" cy="960961"/>
          </a:xfrm>
          <a:prstGeom prst="rect">
            <a:avLst/>
          </a:prstGeom>
          <a:noFill/>
        </p:spPr>
        <p:txBody>
          <a:bodyPr vert="horz" lIns="54864" tIns="54864" rIns="45720" bIns="36576" rtlCol="0" anchor="t" anchorCtr="0">
            <a:noAutofit/>
          </a:bodyPr>
          <a:lstStyle/>
          <a:p>
            <a:pPr marL="285750" indent="-285750" defTabSz="173728">
              <a:spcAft>
                <a:spcPts val="600"/>
              </a:spcAft>
              <a:buFont typeface="Arial" panose="020B0604020202020204" pitchFamily="34" charset="0"/>
              <a:buChar char="•"/>
              <a:tabLst>
                <a:tab pos="173728" algn="l"/>
                <a:tab pos="347454" algn="l"/>
                <a:tab pos="521182" algn="l"/>
                <a:tab pos="694909" algn="l"/>
              </a:tabLst>
            </a:pPr>
            <a:r>
              <a:rPr lang="en-US" sz="1200" spc="-10" dirty="0">
                <a:solidFill>
                  <a:srgbClr val="1D1D1D"/>
                </a:solidFill>
                <a:latin typeface="Arial" pitchFamily="34" charset="0"/>
                <a:cs typeface="Arial" panose="020B0604020202020204" pitchFamily="34" charset="0"/>
              </a:rPr>
              <a:t>Strengthening Plan at interfaces / critical roles</a:t>
            </a:r>
          </a:p>
          <a:p>
            <a:pPr marL="285750" indent="-285750" defTabSz="173728">
              <a:spcAft>
                <a:spcPts val="600"/>
              </a:spcAft>
              <a:buFont typeface="Arial" panose="020B0604020202020204" pitchFamily="34" charset="0"/>
              <a:buChar char="•"/>
              <a:tabLst>
                <a:tab pos="173728" algn="l"/>
                <a:tab pos="347454" algn="l"/>
                <a:tab pos="521182" algn="l"/>
                <a:tab pos="694909" algn="l"/>
              </a:tabLst>
            </a:pPr>
            <a:r>
              <a:rPr lang="en-US" sz="1200" spc="-10" dirty="0">
                <a:solidFill>
                  <a:srgbClr val="1D1D1D"/>
                </a:solidFill>
                <a:latin typeface="Arial" pitchFamily="34" charset="0"/>
                <a:cs typeface="Arial" panose="020B0604020202020204" pitchFamily="34" charset="0"/>
              </a:rPr>
              <a:t>Mobilizing Change </a:t>
            </a:r>
          </a:p>
        </p:txBody>
      </p:sp>
      <p:pic>
        <p:nvPicPr>
          <p:cNvPr id="12" name="Picture 11">
            <a:extLst>
              <a:ext uri="{FF2B5EF4-FFF2-40B4-BE49-F238E27FC236}">
                <a16:creationId xmlns:a16="http://schemas.microsoft.com/office/drawing/2014/main" id="{DEE8B326-3D6F-A7E3-116C-96A1E006693D}"/>
              </a:ext>
            </a:extLst>
          </p:cNvPr>
          <p:cNvPicPr>
            <a:picLocks noChangeAspect="1"/>
          </p:cNvPicPr>
          <p:nvPr/>
        </p:nvPicPr>
        <p:blipFill>
          <a:blip r:embed="rId2"/>
          <a:stretch>
            <a:fillRect/>
          </a:stretch>
        </p:blipFill>
        <p:spPr>
          <a:xfrm>
            <a:off x="842507" y="3345953"/>
            <a:ext cx="4102935" cy="1587042"/>
          </a:xfrm>
          <a:prstGeom prst="rect">
            <a:avLst/>
          </a:prstGeom>
        </p:spPr>
      </p:pic>
      <p:pic>
        <p:nvPicPr>
          <p:cNvPr id="13" name="Picture 12" descr="The Code">
            <a:extLst>
              <a:ext uri="{FF2B5EF4-FFF2-40B4-BE49-F238E27FC236}">
                <a16:creationId xmlns:a16="http://schemas.microsoft.com/office/drawing/2014/main" id="{37DC264E-4002-2E9B-3996-E4FB8DD7E38E}"/>
              </a:ext>
            </a:extLst>
          </p:cNvPr>
          <p:cNvPicPr>
            <a:picLocks noChangeAspect="1"/>
          </p:cNvPicPr>
          <p:nvPr/>
        </p:nvPicPr>
        <p:blipFill>
          <a:blip r:embed="rId3">
            <a:duotone>
              <a:srgbClr val="765FFF"/>
              <a:srgbClr val="FFFFFF"/>
            </a:duotone>
          </a:blip>
          <a:stretch>
            <a:fillRect/>
          </a:stretch>
        </p:blipFill>
        <p:spPr>
          <a:xfrm>
            <a:off x="2165786" y="5092830"/>
            <a:ext cx="1456375" cy="1456375"/>
          </a:xfrm>
          <a:prstGeom prst="rect">
            <a:avLst/>
          </a:prstGeom>
        </p:spPr>
      </p:pic>
      <p:pic>
        <p:nvPicPr>
          <p:cNvPr id="14" name="Picture 13">
            <a:extLst>
              <a:ext uri="{FF2B5EF4-FFF2-40B4-BE49-F238E27FC236}">
                <a16:creationId xmlns:a16="http://schemas.microsoft.com/office/drawing/2014/main" id="{EE22FF49-E1DC-E24D-F1B4-365CFC2AD489}"/>
              </a:ext>
            </a:extLst>
          </p:cNvPr>
          <p:cNvPicPr>
            <a:picLocks noChangeAspect="1"/>
          </p:cNvPicPr>
          <p:nvPr/>
        </p:nvPicPr>
        <p:blipFill>
          <a:blip r:embed="rId4">
            <a:duotone>
              <a:schemeClr val="accent1">
                <a:shade val="45000"/>
                <a:satMod val="135000"/>
              </a:schemeClr>
              <a:prstClr val="white"/>
            </a:duotone>
          </a:blip>
          <a:stretch>
            <a:fillRect/>
          </a:stretch>
        </p:blipFill>
        <p:spPr>
          <a:xfrm>
            <a:off x="5871411" y="2881918"/>
            <a:ext cx="4915762" cy="2939099"/>
          </a:xfrm>
          <a:prstGeom prst="rect">
            <a:avLst/>
          </a:prstGeom>
        </p:spPr>
      </p:pic>
      <p:sp>
        <p:nvSpPr>
          <p:cNvPr id="15" name="TextBox 14">
            <a:extLst>
              <a:ext uri="{FF2B5EF4-FFF2-40B4-BE49-F238E27FC236}">
                <a16:creationId xmlns:a16="http://schemas.microsoft.com/office/drawing/2014/main" id="{C6274AD2-A108-0AF4-601B-0B4B850412E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054091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E666-A74D-4678-014C-BE68A3BDD10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C3CB51A-C74B-1D1E-226C-2A39C452CB3C}"/>
              </a:ext>
            </a:extLst>
          </p:cNvPr>
          <p:cNvSpPr txBox="1">
            <a:spLocks noGrp="1"/>
          </p:cNvSpPr>
          <p:nvPr>
            <p:ph type="title"/>
          </p:nvPr>
        </p:nvSpPr>
        <p:spPr>
          <a:noFill/>
        </p:spPr>
        <p:txBody>
          <a:bodyPr/>
          <a:lstStyle/>
          <a:p>
            <a:pPr>
              <a:buNone/>
            </a:pPr>
            <a:r>
              <a:rPr lang="en-US" dirty="0"/>
              <a:t>CXO Enablement</a:t>
            </a:r>
          </a:p>
        </p:txBody>
      </p:sp>
    </p:spTree>
    <p:extLst>
      <p:ext uri="{BB962C8B-B14F-4D97-AF65-F5344CB8AC3E}">
        <p14:creationId xmlns:p14="http://schemas.microsoft.com/office/powerpoint/2010/main" val="1720326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6842F-F90D-A30D-703E-C231085829A3}"/>
              </a:ext>
            </a:extLst>
          </p:cNvPr>
          <p:cNvSpPr>
            <a:spLocks noGrp="1"/>
          </p:cNvSpPr>
          <p:nvPr>
            <p:ph type="title"/>
          </p:nvPr>
        </p:nvSpPr>
        <p:spPr/>
        <p:txBody>
          <a:bodyPr/>
          <a:lstStyle/>
          <a:p>
            <a:r>
              <a:rPr lang="en-GB" dirty="0">
                <a:ea typeface="Lato"/>
                <a:cs typeface="Segoe UI" panose="020B0502040204020203" pitchFamily="34" charset="0"/>
              </a:rPr>
              <a:t>4 Pillars Essential for CXO Success</a:t>
            </a:r>
            <a:endParaRPr lang="en-US" dirty="0"/>
          </a:p>
        </p:txBody>
      </p:sp>
      <p:sp>
        <p:nvSpPr>
          <p:cNvPr id="4" name="Slide Number Placeholder 3">
            <a:extLst>
              <a:ext uri="{FF2B5EF4-FFF2-40B4-BE49-F238E27FC236}">
                <a16:creationId xmlns:a16="http://schemas.microsoft.com/office/drawing/2014/main" id="{A4A28887-9CAB-8D8D-6275-F5953B53303F}"/>
              </a:ext>
            </a:extLst>
          </p:cNvPr>
          <p:cNvSpPr>
            <a:spLocks noGrp="1"/>
          </p:cNvSpPr>
          <p:nvPr>
            <p:ph type="sldNum" sz="quarter" idx="4"/>
          </p:nvPr>
        </p:nvSpPr>
        <p:spPr/>
        <p:txBody>
          <a:bodyPr/>
          <a:lstStyle/>
          <a:p>
            <a:pPr algn="ctr"/>
            <a:fld id="{1875A764-3B06-454E-8ABA-2F6ED0EB58E9}" type="slidenum">
              <a:rPr lang="en-US" smtClean="0"/>
              <a:t>12</a:t>
            </a:fld>
            <a:endParaRPr lang="en-US"/>
          </a:p>
        </p:txBody>
      </p:sp>
      <p:sp>
        <p:nvSpPr>
          <p:cNvPr id="5" name="Freeform: Shape 90">
            <a:extLst>
              <a:ext uri="{FF2B5EF4-FFF2-40B4-BE49-F238E27FC236}">
                <a16:creationId xmlns:a16="http://schemas.microsoft.com/office/drawing/2014/main" id="{6AEC9D0F-8CE6-0F7C-00D1-8E36C46CC850}"/>
              </a:ext>
            </a:extLst>
          </p:cNvPr>
          <p:cNvSpPr/>
          <p:nvPr/>
        </p:nvSpPr>
        <p:spPr>
          <a:xfrm>
            <a:off x="699257" y="3703228"/>
            <a:ext cx="5524500" cy="2755778"/>
          </a:xfrm>
          <a:custGeom>
            <a:avLst/>
            <a:gdLst>
              <a:gd name="connsiteX0" fmla="*/ 0 w 5524500"/>
              <a:gd name="connsiteY0" fmla="*/ 0 h 2755778"/>
              <a:gd name="connsiteX1" fmla="*/ 255897 w 5524500"/>
              <a:gd name="connsiteY1" fmla="*/ 0 h 2755778"/>
              <a:gd name="connsiteX2" fmla="*/ 255897 w 5524500"/>
              <a:gd name="connsiteY2" fmla="*/ 1 h 2755778"/>
              <a:gd name="connsiteX3" fmla="*/ 2359301 w 5524500"/>
              <a:gd name="connsiteY3" fmla="*/ 1 h 2755778"/>
              <a:gd name="connsiteX4" fmla="*/ 2346095 w 5524500"/>
              <a:gd name="connsiteY4" fmla="*/ 23873 h 2755778"/>
              <a:gd name="connsiteX5" fmla="*/ 2319647 w 5524500"/>
              <a:gd name="connsiteY5" fmla="*/ 152401 h 2755778"/>
              <a:gd name="connsiteX6" fmla="*/ 2656197 w 5524500"/>
              <a:gd name="connsiteY6" fmla="*/ 482601 h 2755778"/>
              <a:gd name="connsiteX7" fmla="*/ 2992747 w 5524500"/>
              <a:gd name="connsiteY7" fmla="*/ 152401 h 2755778"/>
              <a:gd name="connsiteX8" fmla="*/ 2966299 w 5524500"/>
              <a:gd name="connsiteY8" fmla="*/ 23873 h 2755778"/>
              <a:gd name="connsiteX9" fmla="*/ 2953093 w 5524500"/>
              <a:gd name="connsiteY9" fmla="*/ 1 h 2755778"/>
              <a:gd name="connsiteX10" fmla="*/ 5054600 w 5524500"/>
              <a:gd name="connsiteY10" fmla="*/ 1 h 2755778"/>
              <a:gd name="connsiteX11" fmla="*/ 5054600 w 5524500"/>
              <a:gd name="connsiteY11" fmla="*/ 885253 h 2755778"/>
              <a:gd name="connsiteX12" fmla="*/ 5056950 w 5524500"/>
              <a:gd name="connsiteY12" fmla="*/ 884002 h 2755778"/>
              <a:gd name="connsiteX13" fmla="*/ 5187950 w 5524500"/>
              <a:gd name="connsiteY13" fmla="*/ 858053 h 2755778"/>
              <a:gd name="connsiteX14" fmla="*/ 5524500 w 5524500"/>
              <a:gd name="connsiteY14" fmla="*/ 1188253 h 2755778"/>
              <a:gd name="connsiteX15" fmla="*/ 5187950 w 5524500"/>
              <a:gd name="connsiteY15" fmla="*/ 1518453 h 2755778"/>
              <a:gd name="connsiteX16" fmla="*/ 5056950 w 5524500"/>
              <a:gd name="connsiteY16" fmla="*/ 1492504 h 2755778"/>
              <a:gd name="connsiteX17" fmla="*/ 5054600 w 5524500"/>
              <a:gd name="connsiteY17" fmla="*/ 1491253 h 2755778"/>
              <a:gd name="connsiteX18" fmla="*/ 5054600 w 5524500"/>
              <a:gd name="connsiteY18" fmla="*/ 2219663 h 2755778"/>
              <a:gd name="connsiteX19" fmla="*/ 5054600 w 5524500"/>
              <a:gd name="connsiteY19" fmla="*/ 2549866 h 2755778"/>
              <a:gd name="connsiteX20" fmla="*/ 5054600 w 5524500"/>
              <a:gd name="connsiteY20" fmla="*/ 2755777 h 2755778"/>
              <a:gd name="connsiteX21" fmla="*/ 1426186 w 5524500"/>
              <a:gd name="connsiteY21" fmla="*/ 2755777 h 2755778"/>
              <a:gd name="connsiteX22" fmla="*/ 1426176 w 5524500"/>
              <a:gd name="connsiteY22" fmla="*/ 2755778 h 2755778"/>
              <a:gd name="connsiteX23" fmla="*/ 250224 w 5524500"/>
              <a:gd name="connsiteY23" fmla="*/ 2755778 h 2755778"/>
              <a:gd name="connsiteX24" fmla="*/ 0 w 5524500"/>
              <a:gd name="connsiteY24" fmla="*/ 2505554 h 2755778"/>
              <a:gd name="connsiteX25" fmla="*/ 0 w 5524500"/>
              <a:gd name="connsiteY25" fmla="*/ 1858270 h 275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24500" h="2755778">
                <a:moveTo>
                  <a:pt x="0" y="0"/>
                </a:moveTo>
                <a:lnTo>
                  <a:pt x="255897" y="0"/>
                </a:lnTo>
                <a:lnTo>
                  <a:pt x="255897" y="1"/>
                </a:lnTo>
                <a:lnTo>
                  <a:pt x="2359301" y="1"/>
                </a:lnTo>
                <a:lnTo>
                  <a:pt x="2346095" y="23873"/>
                </a:lnTo>
                <a:cubicBezTo>
                  <a:pt x="2329065" y="63377"/>
                  <a:pt x="2319647" y="106810"/>
                  <a:pt x="2319647" y="152401"/>
                </a:cubicBezTo>
                <a:cubicBezTo>
                  <a:pt x="2319647" y="334765"/>
                  <a:pt x="2470326" y="482601"/>
                  <a:pt x="2656197" y="482601"/>
                </a:cubicBezTo>
                <a:cubicBezTo>
                  <a:pt x="2842068" y="482601"/>
                  <a:pt x="2992747" y="334765"/>
                  <a:pt x="2992747" y="152401"/>
                </a:cubicBezTo>
                <a:cubicBezTo>
                  <a:pt x="2992747" y="106810"/>
                  <a:pt x="2983330" y="63377"/>
                  <a:pt x="2966299" y="23873"/>
                </a:cubicBezTo>
                <a:lnTo>
                  <a:pt x="2953093" y="1"/>
                </a:lnTo>
                <a:lnTo>
                  <a:pt x="5054600" y="1"/>
                </a:lnTo>
                <a:lnTo>
                  <a:pt x="5054600" y="885253"/>
                </a:lnTo>
                <a:lnTo>
                  <a:pt x="5056950" y="884002"/>
                </a:lnTo>
                <a:cubicBezTo>
                  <a:pt x="5097214" y="867293"/>
                  <a:pt x="5141483" y="858053"/>
                  <a:pt x="5187950" y="858053"/>
                </a:cubicBezTo>
                <a:cubicBezTo>
                  <a:pt x="5373821" y="858053"/>
                  <a:pt x="5524500" y="1005889"/>
                  <a:pt x="5524500" y="1188253"/>
                </a:cubicBezTo>
                <a:cubicBezTo>
                  <a:pt x="5524500" y="1370617"/>
                  <a:pt x="5373821" y="1518453"/>
                  <a:pt x="5187950" y="1518453"/>
                </a:cubicBezTo>
                <a:cubicBezTo>
                  <a:pt x="5141483" y="1518453"/>
                  <a:pt x="5097214" y="1509213"/>
                  <a:pt x="5056950" y="1492504"/>
                </a:cubicBezTo>
                <a:lnTo>
                  <a:pt x="5054600" y="1491253"/>
                </a:lnTo>
                <a:lnTo>
                  <a:pt x="5054600" y="2219663"/>
                </a:lnTo>
                <a:lnTo>
                  <a:pt x="5054600" y="2549866"/>
                </a:lnTo>
                <a:lnTo>
                  <a:pt x="5054600" y="2755777"/>
                </a:lnTo>
                <a:lnTo>
                  <a:pt x="1426186" y="2755777"/>
                </a:lnTo>
                <a:lnTo>
                  <a:pt x="1426176" y="2755778"/>
                </a:lnTo>
                <a:lnTo>
                  <a:pt x="250224" y="2755778"/>
                </a:lnTo>
                <a:cubicBezTo>
                  <a:pt x="112029" y="2755778"/>
                  <a:pt x="0" y="2643749"/>
                  <a:pt x="0" y="2505554"/>
                </a:cubicBezTo>
                <a:lnTo>
                  <a:pt x="0" y="1858270"/>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6" name="Freeform: Shape 94">
            <a:extLst>
              <a:ext uri="{FF2B5EF4-FFF2-40B4-BE49-F238E27FC236}">
                <a16:creationId xmlns:a16="http://schemas.microsoft.com/office/drawing/2014/main" id="{70EFCD7F-9157-2442-0DCC-29EC742BCD19}"/>
              </a:ext>
            </a:extLst>
          </p:cNvPr>
          <p:cNvSpPr/>
          <p:nvPr/>
        </p:nvSpPr>
        <p:spPr>
          <a:xfrm>
            <a:off x="5247754" y="906515"/>
            <a:ext cx="5564497" cy="2796714"/>
          </a:xfrm>
          <a:custGeom>
            <a:avLst/>
            <a:gdLst>
              <a:gd name="connsiteX0" fmla="*/ 508000 w 5564497"/>
              <a:gd name="connsiteY0" fmla="*/ 0 h 2796714"/>
              <a:gd name="connsiteX1" fmla="*/ 4136424 w 5564497"/>
              <a:gd name="connsiteY1" fmla="*/ 0 h 2796714"/>
              <a:gd name="connsiteX2" fmla="*/ 4484997 w 5564497"/>
              <a:gd name="connsiteY2" fmla="*/ 0 h 2796714"/>
              <a:gd name="connsiteX3" fmla="*/ 5312376 w 5564497"/>
              <a:gd name="connsiteY3" fmla="*/ 0 h 2796714"/>
              <a:gd name="connsiteX4" fmla="*/ 5562600 w 5564497"/>
              <a:gd name="connsiteY4" fmla="*/ 250224 h 2796714"/>
              <a:gd name="connsiteX5" fmla="*/ 5562600 w 5564497"/>
              <a:gd name="connsiteY5" fmla="*/ 938442 h 2796714"/>
              <a:gd name="connsiteX6" fmla="*/ 5564497 w 5564497"/>
              <a:gd name="connsiteY6" fmla="*/ 938442 h 2796714"/>
              <a:gd name="connsiteX7" fmla="*/ 5564497 w 5564497"/>
              <a:gd name="connsiteY7" fmla="*/ 2796713 h 2796714"/>
              <a:gd name="connsiteX8" fmla="*/ 5308600 w 5564497"/>
              <a:gd name="connsiteY8" fmla="*/ 2796713 h 2796714"/>
              <a:gd name="connsiteX9" fmla="*/ 4991100 w 5564497"/>
              <a:gd name="connsiteY9" fmla="*/ 2796713 h 2796714"/>
              <a:gd name="connsiteX10" fmla="*/ 4991100 w 5564497"/>
              <a:gd name="connsiteY10" fmla="*/ 2796714 h 2796714"/>
              <a:gd name="connsiteX11" fmla="*/ 3191144 w 5564497"/>
              <a:gd name="connsiteY11" fmla="*/ 2796714 h 2796714"/>
              <a:gd name="connsiteX12" fmla="*/ 3218402 w 5564497"/>
              <a:gd name="connsiteY12" fmla="*/ 2747442 h 2796714"/>
              <a:gd name="connsiteX13" fmla="*/ 3244850 w 5564497"/>
              <a:gd name="connsiteY13" fmla="*/ 2618914 h 2796714"/>
              <a:gd name="connsiteX14" fmla="*/ 2908300 w 5564497"/>
              <a:gd name="connsiteY14" fmla="*/ 2288714 h 2796714"/>
              <a:gd name="connsiteX15" fmla="*/ 2571750 w 5564497"/>
              <a:gd name="connsiteY15" fmla="*/ 2618914 h 2796714"/>
              <a:gd name="connsiteX16" fmla="*/ 2598198 w 5564497"/>
              <a:gd name="connsiteY16" fmla="*/ 2747442 h 2796714"/>
              <a:gd name="connsiteX17" fmla="*/ 2625456 w 5564497"/>
              <a:gd name="connsiteY17" fmla="*/ 2796714 h 2796714"/>
              <a:gd name="connsiteX18" fmla="*/ 508000 w 5564497"/>
              <a:gd name="connsiteY18" fmla="*/ 2796714 h 2796714"/>
              <a:gd name="connsiteX19" fmla="*/ 508000 w 5564497"/>
              <a:gd name="connsiteY19" fmla="*/ 1717811 h 2796714"/>
              <a:gd name="connsiteX20" fmla="*/ 467551 w 5564497"/>
              <a:gd name="connsiteY20" fmla="*/ 1739352 h 2796714"/>
              <a:gd name="connsiteX21" fmla="*/ 336550 w 5564497"/>
              <a:gd name="connsiteY21" fmla="*/ 1765301 h 2796714"/>
              <a:gd name="connsiteX22" fmla="*/ 0 w 5564497"/>
              <a:gd name="connsiteY22" fmla="*/ 1435101 h 2796714"/>
              <a:gd name="connsiteX23" fmla="*/ 336550 w 5564497"/>
              <a:gd name="connsiteY23" fmla="*/ 1104901 h 2796714"/>
              <a:gd name="connsiteX24" fmla="*/ 467551 w 5564497"/>
              <a:gd name="connsiteY24" fmla="*/ 1130850 h 2796714"/>
              <a:gd name="connsiteX25" fmla="*/ 508000 w 5564497"/>
              <a:gd name="connsiteY25" fmla="*/ 1152391 h 2796714"/>
              <a:gd name="connsiteX26" fmla="*/ 508000 w 5564497"/>
              <a:gd name="connsiteY26" fmla="*/ 536114 h 2796714"/>
              <a:gd name="connsiteX27" fmla="*/ 508000 w 5564497"/>
              <a:gd name="connsiteY27" fmla="*/ 246848 h 279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64497" h="2796714">
                <a:moveTo>
                  <a:pt x="508000" y="0"/>
                </a:moveTo>
                <a:lnTo>
                  <a:pt x="4136424" y="0"/>
                </a:lnTo>
                <a:lnTo>
                  <a:pt x="4484997" y="0"/>
                </a:lnTo>
                <a:lnTo>
                  <a:pt x="5312376" y="0"/>
                </a:lnTo>
                <a:cubicBezTo>
                  <a:pt x="5450571" y="0"/>
                  <a:pt x="5562600" y="112029"/>
                  <a:pt x="5562600" y="250224"/>
                </a:cubicBezTo>
                <a:lnTo>
                  <a:pt x="5562600" y="938442"/>
                </a:lnTo>
                <a:lnTo>
                  <a:pt x="5564497" y="938442"/>
                </a:lnTo>
                <a:lnTo>
                  <a:pt x="5564497" y="2796713"/>
                </a:lnTo>
                <a:lnTo>
                  <a:pt x="5308600" y="2796713"/>
                </a:lnTo>
                <a:lnTo>
                  <a:pt x="4991100" y="2796713"/>
                </a:lnTo>
                <a:lnTo>
                  <a:pt x="4991100" y="2796714"/>
                </a:lnTo>
                <a:lnTo>
                  <a:pt x="3191144" y="2796714"/>
                </a:lnTo>
                <a:lnTo>
                  <a:pt x="3218402" y="2747442"/>
                </a:lnTo>
                <a:cubicBezTo>
                  <a:pt x="3235433" y="2707938"/>
                  <a:pt x="3244850" y="2664505"/>
                  <a:pt x="3244850" y="2618914"/>
                </a:cubicBezTo>
                <a:cubicBezTo>
                  <a:pt x="3244850" y="2436550"/>
                  <a:pt x="3094171" y="2288714"/>
                  <a:pt x="2908300" y="2288714"/>
                </a:cubicBezTo>
                <a:cubicBezTo>
                  <a:pt x="2722429" y="2288714"/>
                  <a:pt x="2571750" y="2436550"/>
                  <a:pt x="2571750" y="2618914"/>
                </a:cubicBezTo>
                <a:cubicBezTo>
                  <a:pt x="2571750" y="2664505"/>
                  <a:pt x="2581167" y="2707938"/>
                  <a:pt x="2598198" y="2747442"/>
                </a:cubicBezTo>
                <a:lnTo>
                  <a:pt x="2625456" y="2796714"/>
                </a:lnTo>
                <a:lnTo>
                  <a:pt x="508000" y="2796714"/>
                </a:lnTo>
                <a:lnTo>
                  <a:pt x="508000" y="1717811"/>
                </a:lnTo>
                <a:lnTo>
                  <a:pt x="467551" y="1739352"/>
                </a:lnTo>
                <a:cubicBezTo>
                  <a:pt x="427286" y="1756061"/>
                  <a:pt x="383018" y="1765301"/>
                  <a:pt x="336550" y="1765301"/>
                </a:cubicBezTo>
                <a:cubicBezTo>
                  <a:pt x="150679" y="1765301"/>
                  <a:pt x="0" y="1617465"/>
                  <a:pt x="0" y="1435101"/>
                </a:cubicBezTo>
                <a:cubicBezTo>
                  <a:pt x="0" y="1252737"/>
                  <a:pt x="150679" y="1104901"/>
                  <a:pt x="336550" y="1104901"/>
                </a:cubicBezTo>
                <a:cubicBezTo>
                  <a:pt x="383018" y="1104901"/>
                  <a:pt x="427286" y="1114141"/>
                  <a:pt x="467551" y="1130850"/>
                </a:cubicBezTo>
                <a:lnTo>
                  <a:pt x="508000" y="1152391"/>
                </a:lnTo>
                <a:lnTo>
                  <a:pt x="508000" y="536114"/>
                </a:lnTo>
                <a:lnTo>
                  <a:pt x="508000" y="246848"/>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prstClr val="white"/>
              </a:solidFill>
              <a:effectLst/>
              <a:uLnTx/>
              <a:uFillTx/>
              <a:latin typeface="Segoe UI" pitchFamily="34" charset="0"/>
              <a:ea typeface="+mn-ea"/>
              <a:cs typeface="+mn-cs"/>
            </a:endParaRPr>
          </a:p>
        </p:txBody>
      </p:sp>
      <p:sp>
        <p:nvSpPr>
          <p:cNvPr id="7" name="Freeform: Shape 93">
            <a:extLst>
              <a:ext uri="{FF2B5EF4-FFF2-40B4-BE49-F238E27FC236}">
                <a16:creationId xmlns:a16="http://schemas.microsoft.com/office/drawing/2014/main" id="{F6EF2380-638F-55C7-AD85-894C2AF4B962}"/>
              </a:ext>
            </a:extLst>
          </p:cNvPr>
          <p:cNvSpPr/>
          <p:nvPr/>
        </p:nvSpPr>
        <p:spPr>
          <a:xfrm>
            <a:off x="5755754" y="3195229"/>
            <a:ext cx="5056497" cy="3263777"/>
          </a:xfrm>
          <a:custGeom>
            <a:avLst/>
            <a:gdLst>
              <a:gd name="connsiteX0" fmla="*/ 2400300 w 5056497"/>
              <a:gd name="connsiteY0" fmla="*/ 0 h 3263777"/>
              <a:gd name="connsiteX1" fmla="*/ 2736850 w 5056497"/>
              <a:gd name="connsiteY1" fmla="*/ 330200 h 3263777"/>
              <a:gd name="connsiteX2" fmla="*/ 2710402 w 5056497"/>
              <a:gd name="connsiteY2" fmla="*/ 458728 h 3263777"/>
              <a:gd name="connsiteX3" fmla="*/ 2683144 w 5056497"/>
              <a:gd name="connsiteY3" fmla="*/ 508000 h 3263777"/>
              <a:gd name="connsiteX4" fmla="*/ 4483100 w 5056497"/>
              <a:gd name="connsiteY4" fmla="*/ 508000 h 3263777"/>
              <a:gd name="connsiteX5" fmla="*/ 4483100 w 5056497"/>
              <a:gd name="connsiteY5" fmla="*/ 507999 h 3263777"/>
              <a:gd name="connsiteX6" fmla="*/ 5056497 w 5056497"/>
              <a:gd name="connsiteY6" fmla="*/ 507999 h 3263777"/>
              <a:gd name="connsiteX7" fmla="*/ 5056497 w 5056497"/>
              <a:gd name="connsiteY7" fmla="*/ 2366270 h 3263777"/>
              <a:gd name="connsiteX8" fmla="*/ 5054600 w 5056497"/>
              <a:gd name="connsiteY8" fmla="*/ 2366270 h 3263777"/>
              <a:gd name="connsiteX9" fmla="*/ 5054600 w 5056497"/>
              <a:gd name="connsiteY9" fmla="*/ 3013553 h 3263777"/>
              <a:gd name="connsiteX10" fmla="*/ 4804376 w 5056497"/>
              <a:gd name="connsiteY10" fmla="*/ 3263777 h 3263777"/>
              <a:gd name="connsiteX11" fmla="*/ 3976997 w 5056497"/>
              <a:gd name="connsiteY11" fmla="*/ 3263777 h 3263777"/>
              <a:gd name="connsiteX12" fmla="*/ 3628424 w 5056497"/>
              <a:gd name="connsiteY12" fmla="*/ 3263777 h 3263777"/>
              <a:gd name="connsiteX13" fmla="*/ 0 w 5056497"/>
              <a:gd name="connsiteY13" fmla="*/ 3263777 h 3263777"/>
              <a:gd name="connsiteX14" fmla="*/ 0 w 5056497"/>
              <a:gd name="connsiteY14" fmla="*/ 3057866 h 3263777"/>
              <a:gd name="connsiteX15" fmla="*/ 0 w 5056497"/>
              <a:gd name="connsiteY15" fmla="*/ 2727663 h 3263777"/>
              <a:gd name="connsiteX16" fmla="*/ 0 w 5056497"/>
              <a:gd name="connsiteY16" fmla="*/ 2000264 h 3263777"/>
              <a:gd name="connsiteX17" fmla="*/ 452 w 5056497"/>
              <a:gd name="connsiteY17" fmla="*/ 2000504 h 3263777"/>
              <a:gd name="connsiteX18" fmla="*/ 131452 w 5056497"/>
              <a:gd name="connsiteY18" fmla="*/ 2026453 h 3263777"/>
              <a:gd name="connsiteX19" fmla="*/ 468002 w 5056497"/>
              <a:gd name="connsiteY19" fmla="*/ 1696253 h 3263777"/>
              <a:gd name="connsiteX20" fmla="*/ 131452 w 5056497"/>
              <a:gd name="connsiteY20" fmla="*/ 1366053 h 3263777"/>
              <a:gd name="connsiteX21" fmla="*/ 452 w 5056497"/>
              <a:gd name="connsiteY21" fmla="*/ 1392002 h 3263777"/>
              <a:gd name="connsiteX22" fmla="*/ 0 w 5056497"/>
              <a:gd name="connsiteY22" fmla="*/ 1392243 h 3263777"/>
              <a:gd name="connsiteX23" fmla="*/ 0 w 5056497"/>
              <a:gd name="connsiteY23" fmla="*/ 508000 h 3263777"/>
              <a:gd name="connsiteX24" fmla="*/ 2117456 w 5056497"/>
              <a:gd name="connsiteY24" fmla="*/ 508000 h 3263777"/>
              <a:gd name="connsiteX25" fmla="*/ 2090198 w 5056497"/>
              <a:gd name="connsiteY25" fmla="*/ 458728 h 3263777"/>
              <a:gd name="connsiteX26" fmla="*/ 2063750 w 5056497"/>
              <a:gd name="connsiteY26" fmla="*/ 330200 h 3263777"/>
              <a:gd name="connsiteX27" fmla="*/ 2400300 w 5056497"/>
              <a:gd name="connsiteY27" fmla="*/ 0 h 32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56497" h="3263777">
                <a:moveTo>
                  <a:pt x="2400300" y="0"/>
                </a:moveTo>
                <a:cubicBezTo>
                  <a:pt x="2586171" y="0"/>
                  <a:pt x="2736850" y="147836"/>
                  <a:pt x="2736850" y="330200"/>
                </a:cubicBezTo>
                <a:cubicBezTo>
                  <a:pt x="2736850" y="375791"/>
                  <a:pt x="2727433" y="419224"/>
                  <a:pt x="2710402" y="458728"/>
                </a:cubicBezTo>
                <a:lnTo>
                  <a:pt x="2683144" y="508000"/>
                </a:lnTo>
                <a:lnTo>
                  <a:pt x="4483100" y="508000"/>
                </a:lnTo>
                <a:lnTo>
                  <a:pt x="4483100" y="507999"/>
                </a:lnTo>
                <a:lnTo>
                  <a:pt x="5056497" y="507999"/>
                </a:lnTo>
                <a:lnTo>
                  <a:pt x="5056497" y="2366270"/>
                </a:lnTo>
                <a:lnTo>
                  <a:pt x="5054600" y="2366270"/>
                </a:lnTo>
                <a:lnTo>
                  <a:pt x="5054600" y="3013553"/>
                </a:lnTo>
                <a:cubicBezTo>
                  <a:pt x="5054600" y="3151748"/>
                  <a:pt x="4942571" y="3263777"/>
                  <a:pt x="4804376" y="3263777"/>
                </a:cubicBezTo>
                <a:lnTo>
                  <a:pt x="3976997" y="3263777"/>
                </a:lnTo>
                <a:lnTo>
                  <a:pt x="3628424" y="3263777"/>
                </a:lnTo>
                <a:lnTo>
                  <a:pt x="0" y="3263777"/>
                </a:lnTo>
                <a:lnTo>
                  <a:pt x="0" y="3057866"/>
                </a:lnTo>
                <a:lnTo>
                  <a:pt x="0" y="2727663"/>
                </a:lnTo>
                <a:lnTo>
                  <a:pt x="0" y="2000264"/>
                </a:lnTo>
                <a:lnTo>
                  <a:pt x="452" y="2000504"/>
                </a:lnTo>
                <a:cubicBezTo>
                  <a:pt x="40716" y="2017213"/>
                  <a:pt x="84985" y="2026453"/>
                  <a:pt x="131452" y="2026453"/>
                </a:cubicBezTo>
                <a:cubicBezTo>
                  <a:pt x="317323" y="2026453"/>
                  <a:pt x="468002" y="1878617"/>
                  <a:pt x="468002" y="1696253"/>
                </a:cubicBezTo>
                <a:cubicBezTo>
                  <a:pt x="468002" y="1513889"/>
                  <a:pt x="317323" y="1366053"/>
                  <a:pt x="131452" y="1366053"/>
                </a:cubicBezTo>
                <a:cubicBezTo>
                  <a:pt x="84985" y="1366053"/>
                  <a:pt x="40716" y="1375293"/>
                  <a:pt x="452" y="1392002"/>
                </a:cubicBezTo>
                <a:lnTo>
                  <a:pt x="0" y="1392243"/>
                </a:lnTo>
                <a:lnTo>
                  <a:pt x="0" y="508000"/>
                </a:lnTo>
                <a:lnTo>
                  <a:pt x="2117456" y="508000"/>
                </a:lnTo>
                <a:lnTo>
                  <a:pt x="2090198" y="458728"/>
                </a:lnTo>
                <a:cubicBezTo>
                  <a:pt x="2073167" y="419224"/>
                  <a:pt x="2063750" y="375791"/>
                  <a:pt x="2063750" y="330200"/>
                </a:cubicBezTo>
                <a:cubicBezTo>
                  <a:pt x="2063750" y="147836"/>
                  <a:pt x="2214429" y="0"/>
                  <a:pt x="2400300" y="0"/>
                </a:cubicBez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8" name="Freeform: Shape 92">
            <a:extLst>
              <a:ext uri="{FF2B5EF4-FFF2-40B4-BE49-F238E27FC236}">
                <a16:creationId xmlns:a16="http://schemas.microsoft.com/office/drawing/2014/main" id="{F16C08F3-813D-76FB-05CB-A47CF214C661}"/>
              </a:ext>
            </a:extLst>
          </p:cNvPr>
          <p:cNvSpPr/>
          <p:nvPr/>
        </p:nvSpPr>
        <p:spPr>
          <a:xfrm>
            <a:off x="699257" y="906515"/>
            <a:ext cx="5056497" cy="3279314"/>
          </a:xfrm>
          <a:custGeom>
            <a:avLst/>
            <a:gdLst>
              <a:gd name="connsiteX0" fmla="*/ 1079500 w 5056497"/>
              <a:gd name="connsiteY0" fmla="*/ 0 h 3279314"/>
              <a:gd name="connsiteX1" fmla="*/ 5056497 w 5056497"/>
              <a:gd name="connsiteY1" fmla="*/ 0 h 3279314"/>
              <a:gd name="connsiteX2" fmla="*/ 5056497 w 5056497"/>
              <a:gd name="connsiteY2" fmla="*/ 246848 h 3279314"/>
              <a:gd name="connsiteX3" fmla="*/ 5056497 w 5056497"/>
              <a:gd name="connsiteY3" fmla="*/ 536114 h 3279314"/>
              <a:gd name="connsiteX4" fmla="*/ 5056497 w 5056497"/>
              <a:gd name="connsiteY4" fmla="*/ 1152391 h 3279314"/>
              <a:gd name="connsiteX5" fmla="*/ 5016048 w 5056497"/>
              <a:gd name="connsiteY5" fmla="*/ 1130850 h 3279314"/>
              <a:gd name="connsiteX6" fmla="*/ 4885047 w 5056497"/>
              <a:gd name="connsiteY6" fmla="*/ 1104901 h 3279314"/>
              <a:gd name="connsiteX7" fmla="*/ 4548497 w 5056497"/>
              <a:gd name="connsiteY7" fmla="*/ 1435101 h 3279314"/>
              <a:gd name="connsiteX8" fmla="*/ 4885047 w 5056497"/>
              <a:gd name="connsiteY8" fmla="*/ 1765301 h 3279314"/>
              <a:gd name="connsiteX9" fmla="*/ 5016048 w 5056497"/>
              <a:gd name="connsiteY9" fmla="*/ 1739352 h 3279314"/>
              <a:gd name="connsiteX10" fmla="*/ 5056497 w 5056497"/>
              <a:gd name="connsiteY10" fmla="*/ 1717811 h 3279314"/>
              <a:gd name="connsiteX11" fmla="*/ 5056497 w 5056497"/>
              <a:gd name="connsiteY11" fmla="*/ 2796714 h 3279314"/>
              <a:gd name="connsiteX12" fmla="*/ 2953093 w 5056497"/>
              <a:gd name="connsiteY12" fmla="*/ 2796714 h 3279314"/>
              <a:gd name="connsiteX13" fmla="*/ 2966299 w 5056497"/>
              <a:gd name="connsiteY13" fmla="*/ 2820586 h 3279314"/>
              <a:gd name="connsiteX14" fmla="*/ 2992747 w 5056497"/>
              <a:gd name="connsiteY14" fmla="*/ 2949114 h 3279314"/>
              <a:gd name="connsiteX15" fmla="*/ 2656197 w 5056497"/>
              <a:gd name="connsiteY15" fmla="*/ 3279314 h 3279314"/>
              <a:gd name="connsiteX16" fmla="*/ 2319647 w 5056497"/>
              <a:gd name="connsiteY16" fmla="*/ 2949114 h 3279314"/>
              <a:gd name="connsiteX17" fmla="*/ 2346095 w 5056497"/>
              <a:gd name="connsiteY17" fmla="*/ 2820586 h 3279314"/>
              <a:gd name="connsiteX18" fmla="*/ 2359301 w 5056497"/>
              <a:gd name="connsiteY18" fmla="*/ 2796714 h 3279314"/>
              <a:gd name="connsiteX19" fmla="*/ 255897 w 5056497"/>
              <a:gd name="connsiteY19" fmla="*/ 2796714 h 3279314"/>
              <a:gd name="connsiteX20" fmla="*/ 255897 w 5056497"/>
              <a:gd name="connsiteY20" fmla="*/ 2796713 h 3279314"/>
              <a:gd name="connsiteX21" fmla="*/ 0 w 5056497"/>
              <a:gd name="connsiteY21" fmla="*/ 2796713 h 3279314"/>
              <a:gd name="connsiteX22" fmla="*/ 0 w 5056497"/>
              <a:gd name="connsiteY22" fmla="*/ 938442 h 3279314"/>
              <a:gd name="connsiteX23" fmla="*/ 1897 w 5056497"/>
              <a:gd name="connsiteY23" fmla="*/ 938442 h 3279314"/>
              <a:gd name="connsiteX24" fmla="*/ 1897 w 5056497"/>
              <a:gd name="connsiteY24" fmla="*/ 250225 h 3279314"/>
              <a:gd name="connsiteX25" fmla="*/ 252121 w 5056497"/>
              <a:gd name="connsiteY25" fmla="*/ 1 h 3279314"/>
              <a:gd name="connsiteX26" fmla="*/ 1079500 w 5056497"/>
              <a:gd name="connsiteY26" fmla="*/ 1 h 3279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56497" h="3279314">
                <a:moveTo>
                  <a:pt x="1079500" y="0"/>
                </a:moveTo>
                <a:lnTo>
                  <a:pt x="5056497" y="0"/>
                </a:lnTo>
                <a:lnTo>
                  <a:pt x="5056497" y="246848"/>
                </a:lnTo>
                <a:lnTo>
                  <a:pt x="5056497" y="536114"/>
                </a:lnTo>
                <a:lnTo>
                  <a:pt x="5056497" y="1152391"/>
                </a:lnTo>
                <a:lnTo>
                  <a:pt x="5016048" y="1130850"/>
                </a:lnTo>
                <a:cubicBezTo>
                  <a:pt x="4975783" y="1114141"/>
                  <a:pt x="4931515" y="1104901"/>
                  <a:pt x="4885047" y="1104901"/>
                </a:cubicBezTo>
                <a:cubicBezTo>
                  <a:pt x="4699176" y="1104901"/>
                  <a:pt x="4548497" y="1252737"/>
                  <a:pt x="4548497" y="1435101"/>
                </a:cubicBezTo>
                <a:cubicBezTo>
                  <a:pt x="4548497" y="1617465"/>
                  <a:pt x="4699176" y="1765301"/>
                  <a:pt x="4885047" y="1765301"/>
                </a:cubicBezTo>
                <a:cubicBezTo>
                  <a:pt x="4931515" y="1765301"/>
                  <a:pt x="4975783" y="1756061"/>
                  <a:pt x="5016048" y="1739352"/>
                </a:cubicBezTo>
                <a:lnTo>
                  <a:pt x="5056497" y="1717811"/>
                </a:lnTo>
                <a:lnTo>
                  <a:pt x="5056497" y="2796714"/>
                </a:lnTo>
                <a:lnTo>
                  <a:pt x="2953093" y="2796714"/>
                </a:lnTo>
                <a:lnTo>
                  <a:pt x="2966299" y="2820586"/>
                </a:lnTo>
                <a:cubicBezTo>
                  <a:pt x="2983330" y="2860090"/>
                  <a:pt x="2992747" y="2903523"/>
                  <a:pt x="2992747" y="2949114"/>
                </a:cubicBezTo>
                <a:cubicBezTo>
                  <a:pt x="2992747" y="3131478"/>
                  <a:pt x="2842068" y="3279314"/>
                  <a:pt x="2656197" y="3279314"/>
                </a:cubicBezTo>
                <a:cubicBezTo>
                  <a:pt x="2470326" y="3279314"/>
                  <a:pt x="2319647" y="3131478"/>
                  <a:pt x="2319647" y="2949114"/>
                </a:cubicBezTo>
                <a:cubicBezTo>
                  <a:pt x="2319647" y="2903523"/>
                  <a:pt x="2329065" y="2860090"/>
                  <a:pt x="2346095" y="2820586"/>
                </a:cubicBezTo>
                <a:lnTo>
                  <a:pt x="2359301" y="2796714"/>
                </a:lnTo>
                <a:lnTo>
                  <a:pt x="255897" y="2796714"/>
                </a:lnTo>
                <a:lnTo>
                  <a:pt x="255897" y="2796713"/>
                </a:lnTo>
                <a:lnTo>
                  <a:pt x="0" y="2796713"/>
                </a:lnTo>
                <a:lnTo>
                  <a:pt x="0" y="938442"/>
                </a:lnTo>
                <a:lnTo>
                  <a:pt x="1897" y="938442"/>
                </a:lnTo>
                <a:lnTo>
                  <a:pt x="1897" y="250225"/>
                </a:lnTo>
                <a:cubicBezTo>
                  <a:pt x="1897" y="112030"/>
                  <a:pt x="113926" y="1"/>
                  <a:pt x="252121" y="1"/>
                </a:cubicBezTo>
                <a:lnTo>
                  <a:pt x="1079500" y="1"/>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prstClr val="white"/>
              </a:solidFill>
              <a:effectLst/>
              <a:uLnTx/>
              <a:uFillTx/>
              <a:latin typeface="Segoe UI" pitchFamily="34" charset="0"/>
              <a:ea typeface="+mn-ea"/>
              <a:cs typeface="+mn-cs"/>
            </a:endParaRPr>
          </a:p>
        </p:txBody>
      </p:sp>
      <p:grpSp>
        <p:nvGrpSpPr>
          <p:cNvPr id="9" name="Group 8">
            <a:extLst>
              <a:ext uri="{FF2B5EF4-FFF2-40B4-BE49-F238E27FC236}">
                <a16:creationId xmlns:a16="http://schemas.microsoft.com/office/drawing/2014/main" id="{B0C52050-DE9A-7DAF-BCB5-9DE5EB259005}"/>
              </a:ext>
            </a:extLst>
          </p:cNvPr>
          <p:cNvGrpSpPr/>
          <p:nvPr/>
        </p:nvGrpSpPr>
        <p:grpSpPr>
          <a:xfrm>
            <a:off x="2570365" y="1657060"/>
            <a:ext cx="1346844" cy="975727"/>
            <a:chOff x="1539865" y="2033847"/>
            <a:chExt cx="1346844" cy="975727"/>
          </a:xfrm>
        </p:grpSpPr>
        <p:pic>
          <p:nvPicPr>
            <p:cNvPr id="10" name="Graphic 18">
              <a:extLst>
                <a:ext uri="{FF2B5EF4-FFF2-40B4-BE49-F238E27FC236}">
                  <a16:creationId xmlns:a16="http://schemas.microsoft.com/office/drawing/2014/main" id="{52A96A13-7C08-5212-FB9E-8226F5D1C4F1}"/>
                </a:ext>
              </a:extLst>
            </p:cNvPr>
            <p:cNvPicPr>
              <a:picLocks noChangeAspect="1"/>
            </p:cNvPicPr>
            <p:nvPr/>
          </p:nvPicPr>
          <p:blipFill>
            <a:blip r:embed="rId2">
              <a:duotone>
                <a:srgbClr val="765FFF"/>
                <a:srgbClr val="FFFFFF"/>
              </a:duotone>
            </a:blip>
            <a:stretch>
              <a:fillRect/>
            </a:stretch>
          </p:blipFill>
          <p:spPr>
            <a:xfrm>
              <a:off x="1964951" y="2033847"/>
              <a:ext cx="527076" cy="527077"/>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31370098-D53F-8133-B805-5D480F6020F6}"/>
                </a:ext>
              </a:extLst>
            </p:cNvPr>
            <p:cNvSpPr txBox="1"/>
            <p:nvPr/>
          </p:nvSpPr>
          <p:spPr>
            <a:xfrm>
              <a:off x="1539865" y="2640242"/>
              <a:ext cx="1346844"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10" normalizeH="0" baseline="0" noProof="0" dirty="0">
                  <a:ln>
                    <a:noFill/>
                  </a:ln>
                  <a:solidFill>
                    <a:srgbClr val="281A42"/>
                  </a:solidFill>
                  <a:effectLst/>
                  <a:uLnTx/>
                  <a:uFillTx/>
                  <a:latin typeface="Segoe UI" pitchFamily="34" charset="0"/>
                  <a:ea typeface="+mn-ea"/>
                  <a:cs typeface="+mn-cs"/>
                </a:rPr>
                <a:t>CXO success</a:t>
              </a:r>
            </a:p>
          </p:txBody>
        </p:sp>
      </p:grpSp>
      <p:sp>
        <p:nvSpPr>
          <p:cNvPr id="12" name="TextBox 11">
            <a:extLst>
              <a:ext uri="{FF2B5EF4-FFF2-40B4-BE49-F238E27FC236}">
                <a16:creationId xmlns:a16="http://schemas.microsoft.com/office/drawing/2014/main" id="{A216DD93-6467-D0C2-332D-A9ED9120C4D8}"/>
              </a:ext>
            </a:extLst>
          </p:cNvPr>
          <p:cNvSpPr txBox="1"/>
          <p:nvPr/>
        </p:nvSpPr>
        <p:spPr>
          <a:xfrm>
            <a:off x="985482" y="3010287"/>
            <a:ext cx="4548068" cy="52322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 normalizeH="0" baseline="0" noProof="0" dirty="0">
                <a:ln>
                  <a:noFill/>
                </a:ln>
                <a:solidFill>
                  <a:prstClr val="black"/>
                </a:solidFill>
                <a:effectLst/>
                <a:uLnTx/>
                <a:uFillTx/>
                <a:latin typeface="Arial" pitchFamily="34" charset="0"/>
                <a:ea typeface="Lato" panose="020F0502020204030203" pitchFamily="34" charset="0"/>
                <a:cs typeface="Lato" panose="020F0502020204030203" pitchFamily="34" charset="0"/>
              </a:rPr>
              <a:t>“We Have a Brilliant CXO but do we have the Ecosystem for him to deliver?”</a:t>
            </a:r>
          </a:p>
        </p:txBody>
      </p:sp>
      <p:sp>
        <p:nvSpPr>
          <p:cNvPr id="13" name="TextBox 12">
            <a:extLst>
              <a:ext uri="{FF2B5EF4-FFF2-40B4-BE49-F238E27FC236}">
                <a16:creationId xmlns:a16="http://schemas.microsoft.com/office/drawing/2014/main" id="{50971D69-B411-ACA4-6A5E-F57C60E39EA3}"/>
              </a:ext>
            </a:extLst>
          </p:cNvPr>
          <p:cNvSpPr txBox="1"/>
          <p:nvPr/>
        </p:nvSpPr>
        <p:spPr>
          <a:xfrm>
            <a:off x="5909765" y="2485404"/>
            <a:ext cx="4714875"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WHAT ARE THE BIG BETS TO DELIVER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ARE THE STAKEHOLDERS ALIGNED TO THE BIG BETS? </a:t>
            </a:r>
          </a:p>
        </p:txBody>
      </p:sp>
      <p:sp>
        <p:nvSpPr>
          <p:cNvPr id="14" name="TextBox 13">
            <a:extLst>
              <a:ext uri="{FF2B5EF4-FFF2-40B4-BE49-F238E27FC236}">
                <a16:creationId xmlns:a16="http://schemas.microsoft.com/office/drawing/2014/main" id="{AF048DB5-91D8-955D-5485-4E8352431C2B}"/>
              </a:ext>
            </a:extLst>
          </p:cNvPr>
          <p:cNvSpPr txBox="1"/>
          <p:nvPr/>
        </p:nvSpPr>
        <p:spPr>
          <a:xfrm>
            <a:off x="5909765" y="5543727"/>
            <a:ext cx="5013326"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dirty="0">
                <a:ln/>
                <a:solidFill>
                  <a:srgbClr val="1D1D1D"/>
                </a:solidFill>
                <a:effectLst/>
                <a:uLnTx/>
                <a:uFillTx/>
                <a:latin typeface="Segoe UI" pitchFamily="34" charset="0"/>
                <a:ea typeface="Lato"/>
                <a:cs typeface="Lato"/>
                <a:sym typeface="Lato"/>
                <a:rtl val="0"/>
              </a:rPr>
              <a:t>ARE WE TALENTED ENOUGH AT THE POINTS OF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solidFill>
                  <a:srgbClr val="1D1D1D"/>
                </a:solidFill>
                <a:effectLst/>
                <a:uLnTx/>
                <a:uFillTx/>
                <a:latin typeface="Arial" pitchFamily="34" charset="0"/>
                <a:ea typeface="+mn-ea"/>
                <a:cs typeface="+mn-cs"/>
                <a:sym typeface="Lato"/>
                <a:rtl val="0"/>
              </a:rPr>
              <a:t>EXCEPTIONAL TALENT IN 20 – 30 CRITICAL ROLES</a:t>
            </a:r>
          </a:p>
        </p:txBody>
      </p:sp>
      <p:pic>
        <p:nvPicPr>
          <p:cNvPr id="15" name="Picture 14" descr="Bend the Curve">
            <a:extLst>
              <a:ext uri="{FF2B5EF4-FFF2-40B4-BE49-F238E27FC236}">
                <a16:creationId xmlns:a16="http://schemas.microsoft.com/office/drawing/2014/main" id="{3AA8A8E7-3056-9611-A9D2-C06628B94431}"/>
              </a:ext>
            </a:extLst>
          </p:cNvPr>
          <p:cNvPicPr>
            <a:picLocks noChangeAspect="1"/>
          </p:cNvPicPr>
          <p:nvPr/>
        </p:nvPicPr>
        <p:blipFill>
          <a:blip r:embed="rId3">
            <a:duotone>
              <a:srgbClr val="765FFF"/>
              <a:srgbClr val="FFFFFF"/>
            </a:duotone>
          </a:blip>
          <a:stretch>
            <a:fillRect/>
          </a:stretch>
        </p:blipFill>
        <p:spPr>
          <a:xfrm>
            <a:off x="7759721" y="1431243"/>
            <a:ext cx="862488" cy="862488"/>
          </a:xfrm>
          <a:prstGeom prst="rect">
            <a:avLst/>
          </a:prstGeom>
        </p:spPr>
      </p:pic>
      <p:sp>
        <p:nvSpPr>
          <p:cNvPr id="16" name="TextBox 15">
            <a:extLst>
              <a:ext uri="{FF2B5EF4-FFF2-40B4-BE49-F238E27FC236}">
                <a16:creationId xmlns:a16="http://schemas.microsoft.com/office/drawing/2014/main" id="{89D16EBA-C0E5-ED2B-FEA5-D57310C2E84F}"/>
              </a:ext>
            </a:extLst>
          </p:cNvPr>
          <p:cNvSpPr txBox="1"/>
          <p:nvPr/>
        </p:nvSpPr>
        <p:spPr>
          <a:xfrm>
            <a:off x="985482" y="5298840"/>
            <a:ext cx="4714875" cy="954107"/>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rPr>
            </a:br>
            <a:r>
              <a:rPr kumimoji="0" lang="en-US" sz="1400" b="1" i="0" u="none" strike="noStrike" kern="0" cap="none" spc="-10" normalizeH="0" baseline="0" noProof="0" dirty="0">
                <a:ln/>
                <a:solidFill>
                  <a:srgbClr val="1D1D1D"/>
                </a:solidFill>
                <a:effectLst/>
                <a:uLnTx/>
                <a:uFillTx/>
                <a:latin typeface="Segoe UI" pitchFamily="34" charset="0"/>
                <a:ea typeface="Lato"/>
                <a:cs typeface="Lato"/>
                <a:sym typeface="Lato"/>
                <a:rtl val="0"/>
              </a:rPr>
              <a:t>IS MY LEADERSHIP TEAM READY?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rPr>
              <a:t>CEO, COO, CFO, CTO, CHRO, BU PRESIDENTS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endParaRPr>
          </a:p>
        </p:txBody>
      </p:sp>
      <p:pic>
        <p:nvPicPr>
          <p:cNvPr id="17" name="Picture 16" descr="Identify critical roles">
            <a:extLst>
              <a:ext uri="{FF2B5EF4-FFF2-40B4-BE49-F238E27FC236}">
                <a16:creationId xmlns:a16="http://schemas.microsoft.com/office/drawing/2014/main" id="{7B399037-F617-501B-50CB-5FB766D60125}"/>
              </a:ext>
            </a:extLst>
          </p:cNvPr>
          <p:cNvPicPr>
            <a:picLocks noChangeAspect="1"/>
          </p:cNvPicPr>
          <p:nvPr/>
        </p:nvPicPr>
        <p:blipFill>
          <a:blip r:embed="rId4">
            <a:duotone>
              <a:srgbClr val="765FFF"/>
              <a:srgbClr val="FFFFFF"/>
            </a:duotone>
          </a:blip>
          <a:stretch>
            <a:fillRect/>
          </a:stretch>
        </p:blipFill>
        <p:spPr>
          <a:xfrm>
            <a:off x="2596427" y="4182957"/>
            <a:ext cx="1326178" cy="1326178"/>
          </a:xfrm>
          <a:prstGeom prst="rect">
            <a:avLst/>
          </a:prstGeom>
        </p:spPr>
      </p:pic>
      <p:pic>
        <p:nvPicPr>
          <p:cNvPr id="18" name="Picture 17" descr="The Code">
            <a:extLst>
              <a:ext uri="{FF2B5EF4-FFF2-40B4-BE49-F238E27FC236}">
                <a16:creationId xmlns:a16="http://schemas.microsoft.com/office/drawing/2014/main" id="{03BDB6F9-9735-D74C-5EFE-B73ED9D72F58}"/>
              </a:ext>
            </a:extLst>
          </p:cNvPr>
          <p:cNvPicPr>
            <a:picLocks noChangeAspect="1"/>
          </p:cNvPicPr>
          <p:nvPr/>
        </p:nvPicPr>
        <p:blipFill>
          <a:blip r:embed="rId5">
            <a:duotone>
              <a:srgbClr val="765FFF"/>
              <a:srgbClr val="FFFFFF"/>
            </a:duotone>
          </a:blip>
          <a:stretch>
            <a:fillRect/>
          </a:stretch>
        </p:blipFill>
        <p:spPr>
          <a:xfrm>
            <a:off x="7292660" y="4396046"/>
            <a:ext cx="900000" cy="900000"/>
          </a:xfrm>
          <a:prstGeom prst="rect">
            <a:avLst/>
          </a:prstGeom>
        </p:spPr>
      </p:pic>
      <p:pic>
        <p:nvPicPr>
          <p:cNvPr id="19" name="Picture 18" descr="Choose">
            <a:extLst>
              <a:ext uri="{FF2B5EF4-FFF2-40B4-BE49-F238E27FC236}">
                <a16:creationId xmlns:a16="http://schemas.microsoft.com/office/drawing/2014/main" id="{1587AE4A-C260-6DAC-60A3-1DC94695662E}"/>
              </a:ext>
            </a:extLst>
          </p:cNvPr>
          <p:cNvPicPr>
            <a:picLocks noChangeAspect="1"/>
          </p:cNvPicPr>
          <p:nvPr/>
        </p:nvPicPr>
        <p:blipFill>
          <a:blip r:embed="rId6">
            <a:duotone>
              <a:srgbClr val="765FFF"/>
              <a:srgbClr val="FFFFFF"/>
            </a:duotone>
          </a:blip>
          <a:stretch>
            <a:fillRect/>
          </a:stretch>
        </p:blipFill>
        <p:spPr>
          <a:xfrm>
            <a:off x="8305588" y="4452990"/>
            <a:ext cx="900000" cy="900000"/>
          </a:xfrm>
          <a:prstGeom prst="rect">
            <a:avLst/>
          </a:prstGeom>
        </p:spPr>
      </p:pic>
      <p:sp>
        <p:nvSpPr>
          <p:cNvPr id="20" name="TextBox 19">
            <a:extLst>
              <a:ext uri="{FF2B5EF4-FFF2-40B4-BE49-F238E27FC236}">
                <a16:creationId xmlns:a16="http://schemas.microsoft.com/office/drawing/2014/main" id="{C09B223C-15FA-C694-204F-88D2BD394B1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886083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CDA1C2-37A7-E9BE-EE5C-75E1D8B92FF6}"/>
              </a:ext>
            </a:extLst>
          </p:cNvPr>
          <p:cNvSpPr>
            <a:spLocks noGrp="1"/>
          </p:cNvSpPr>
          <p:nvPr>
            <p:ph type="sldNum" sz="quarter" idx="4"/>
          </p:nvPr>
        </p:nvSpPr>
        <p:spPr/>
        <p:txBody>
          <a:bodyPr/>
          <a:lstStyle/>
          <a:p>
            <a:pPr algn="ctr"/>
            <a:fld id="{1875A764-3B06-454E-8ABA-2F6ED0EB58E9}" type="slidenum">
              <a:rPr lang="en-US" smtClean="0"/>
              <a:t>13</a:t>
            </a:fld>
            <a:endParaRPr lang="en-US"/>
          </a:p>
        </p:txBody>
      </p:sp>
      <p:sp>
        <p:nvSpPr>
          <p:cNvPr id="3" name="Title 2">
            <a:extLst>
              <a:ext uri="{FF2B5EF4-FFF2-40B4-BE49-F238E27FC236}">
                <a16:creationId xmlns:a16="http://schemas.microsoft.com/office/drawing/2014/main" id="{0603337D-33B8-20FD-D1A0-94E9B8DC7532}"/>
              </a:ext>
            </a:extLst>
          </p:cNvPr>
          <p:cNvSpPr>
            <a:spLocks noGrp="1"/>
          </p:cNvSpPr>
          <p:nvPr>
            <p:ph type="title"/>
          </p:nvPr>
        </p:nvSpPr>
        <p:spPr/>
        <p:txBody>
          <a:bodyPr/>
          <a:lstStyle/>
          <a:p>
            <a:r>
              <a:rPr lang="en-US" dirty="0"/>
              <a:t>Going green &amp; global</a:t>
            </a:r>
          </a:p>
        </p:txBody>
      </p:sp>
      <p:sp>
        <p:nvSpPr>
          <p:cNvPr id="4" name="Rounded Rectangle 3">
            <a:extLst>
              <a:ext uri="{FF2B5EF4-FFF2-40B4-BE49-F238E27FC236}">
                <a16:creationId xmlns:a16="http://schemas.microsoft.com/office/drawing/2014/main" id="{ECFCBADB-4E88-0D6E-54B6-B64276FA40AA}"/>
              </a:ext>
            </a:extLst>
          </p:cNvPr>
          <p:cNvSpPr/>
          <p:nvPr/>
        </p:nvSpPr>
        <p:spPr>
          <a:xfrm>
            <a:off x="544712" y="850449"/>
            <a:ext cx="11062798" cy="1662325"/>
          </a:xfrm>
          <a:prstGeom prst="roundRect">
            <a:avLst>
              <a:gd name="adj" fmla="val 4915"/>
            </a:avLst>
          </a:prstGeom>
          <a:solidFill>
            <a:srgbClr val="E8E4FD"/>
          </a:solid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5" name="TextBox 34">
            <a:extLst>
              <a:ext uri="{FF2B5EF4-FFF2-40B4-BE49-F238E27FC236}">
                <a16:creationId xmlns:a16="http://schemas.microsoft.com/office/drawing/2014/main" id="{387D2F06-266E-5712-6B13-703185777D78}"/>
              </a:ext>
            </a:extLst>
          </p:cNvPr>
          <p:cNvSpPr txBox="1">
            <a:spLocks/>
          </p:cNvSpPr>
          <p:nvPr/>
        </p:nvSpPr>
        <p:spPr>
          <a:xfrm>
            <a:off x="928514" y="5083054"/>
            <a:ext cx="2751387" cy="1169551"/>
          </a:xfrm>
          <a:prstGeom prst="rect">
            <a:avLst/>
          </a:prstGeom>
          <a:noFill/>
        </p:spPr>
        <p:txBody>
          <a:bodyPr wrap="square" lIns="0" tIns="45720" rIns="91440" bIns="45720" numCol="1" spcCol="108000" anchor="t">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Driving performance over the last 17 years. </a:t>
            </a:r>
          </a:p>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Executing reverse merger with help of Board </a:t>
            </a:r>
          </a:p>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Strengthening financial foundations </a:t>
            </a:r>
            <a:endParaRPr lang="en-US" kern="0" spc="-10" dirty="0">
              <a:solidFill>
                <a:srgbClr val="1D1D1D"/>
              </a:solidFill>
              <a:latin typeface="Arial" pitchFamily="34" charset="0"/>
            </a:endParaRPr>
          </a:p>
        </p:txBody>
      </p:sp>
      <p:graphicFrame>
        <p:nvGraphicFramePr>
          <p:cNvPr id="6" name="Table 41">
            <a:extLst>
              <a:ext uri="{FF2B5EF4-FFF2-40B4-BE49-F238E27FC236}">
                <a16:creationId xmlns:a16="http://schemas.microsoft.com/office/drawing/2014/main" id="{C25994A0-8572-3947-3C0E-4C3889864D64}"/>
              </a:ext>
            </a:extLst>
          </p:cNvPr>
          <p:cNvGraphicFramePr>
            <a:graphicFrameLocks noGrp="1"/>
          </p:cNvGraphicFramePr>
          <p:nvPr>
            <p:extLst>
              <p:ext uri="{D42A27DB-BD31-4B8C-83A1-F6EECF244321}">
                <p14:modId xmlns:p14="http://schemas.microsoft.com/office/powerpoint/2010/main" val="2980942469"/>
              </p:ext>
            </p:extLst>
          </p:nvPr>
        </p:nvGraphicFramePr>
        <p:xfrm>
          <a:off x="584490" y="903228"/>
          <a:ext cx="11023021" cy="1578798"/>
        </p:xfrm>
        <a:graphic>
          <a:graphicData uri="http://schemas.openxmlformats.org/drawingml/2006/table">
            <a:tbl>
              <a:tblPr bandRow="1">
                <a:tableStyleId>{5C22544A-7EE6-4342-B048-85BDC9FD1C3A}</a:tableStyleId>
              </a:tblPr>
              <a:tblGrid>
                <a:gridCol w="5118144">
                  <a:extLst>
                    <a:ext uri="{9D8B030D-6E8A-4147-A177-3AD203B41FA5}">
                      <a16:colId xmlns:a16="http://schemas.microsoft.com/office/drawing/2014/main" val="4119152402"/>
                    </a:ext>
                  </a:extLst>
                </a:gridCol>
                <a:gridCol w="625353">
                  <a:extLst>
                    <a:ext uri="{9D8B030D-6E8A-4147-A177-3AD203B41FA5}">
                      <a16:colId xmlns:a16="http://schemas.microsoft.com/office/drawing/2014/main" val="2048534200"/>
                    </a:ext>
                  </a:extLst>
                </a:gridCol>
                <a:gridCol w="5279524">
                  <a:extLst>
                    <a:ext uri="{9D8B030D-6E8A-4147-A177-3AD203B41FA5}">
                      <a16:colId xmlns:a16="http://schemas.microsoft.com/office/drawing/2014/main" val="2057372679"/>
                    </a:ext>
                  </a:extLst>
                </a:gridCol>
              </a:tblGrid>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Regional centric business</a:t>
                      </a: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GB" sz="1600" b="0" dirty="0">
                          <a:solidFill>
                            <a:schemeClr val="tx2"/>
                          </a:solidFill>
                          <a:latin typeface="Arial" panose="020B0604020202020204" pitchFamily="34" charset="0"/>
                          <a:cs typeface="Arial" panose="020B0604020202020204" pitchFamily="34" charset="0"/>
                        </a:rPr>
                        <a:t>More balanced local &amp; international business &amp; JVs</a:t>
                      </a: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90220662"/>
                  </a:ext>
                </a:extLst>
              </a:tr>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Commoditized, low growth, low margin portfolio</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GB" sz="1600" b="0" kern="1200" dirty="0">
                          <a:solidFill>
                            <a:schemeClr val="tx2"/>
                          </a:solidFill>
                          <a:effectLst/>
                          <a:latin typeface="Arial" panose="020B0604020202020204" pitchFamily="34" charset="0"/>
                          <a:cs typeface="Arial" panose="020B0604020202020204" pitchFamily="34" charset="0"/>
                        </a:rPr>
                        <a:t>Differentiated, value-added product portfolio</a:t>
                      </a: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3546791840"/>
                  </a:ext>
                </a:extLst>
              </a:tr>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Meeting construction needs at lower costs </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Embracing sustainability and enabling green energy</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184803442"/>
                  </a:ext>
                </a:extLst>
              </a:tr>
            </a:tbl>
          </a:graphicData>
        </a:graphic>
      </p:graphicFrame>
      <p:sp>
        <p:nvSpPr>
          <p:cNvPr id="7" name="Triangle 73">
            <a:extLst>
              <a:ext uri="{FF2B5EF4-FFF2-40B4-BE49-F238E27FC236}">
                <a16:creationId xmlns:a16="http://schemas.microsoft.com/office/drawing/2014/main" id="{A8422A22-10A2-DBF7-ADA5-236A6197A03B}"/>
              </a:ext>
            </a:extLst>
          </p:cNvPr>
          <p:cNvSpPr/>
          <p:nvPr/>
        </p:nvSpPr>
        <p:spPr>
          <a:xfrm rot="5400000">
            <a:off x="5822130" y="1667152"/>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 name="Triangle 73">
            <a:extLst>
              <a:ext uri="{FF2B5EF4-FFF2-40B4-BE49-F238E27FC236}">
                <a16:creationId xmlns:a16="http://schemas.microsoft.com/office/drawing/2014/main" id="{B3808D55-DFCA-74A5-84BA-74808A2C346D}"/>
              </a:ext>
            </a:extLst>
          </p:cNvPr>
          <p:cNvSpPr/>
          <p:nvPr/>
        </p:nvSpPr>
        <p:spPr>
          <a:xfrm rot="5400000">
            <a:off x="5822576" y="108969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9" name="Triangle 73">
            <a:extLst>
              <a:ext uri="{FF2B5EF4-FFF2-40B4-BE49-F238E27FC236}">
                <a16:creationId xmlns:a16="http://schemas.microsoft.com/office/drawing/2014/main" id="{D84FBC4B-8A7F-CADD-7306-8587797D38AD}"/>
              </a:ext>
            </a:extLst>
          </p:cNvPr>
          <p:cNvSpPr/>
          <p:nvPr/>
        </p:nvSpPr>
        <p:spPr>
          <a:xfrm rot="5400000">
            <a:off x="5822130" y="2248436"/>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0" name="TextBox 9">
            <a:extLst>
              <a:ext uri="{FF2B5EF4-FFF2-40B4-BE49-F238E27FC236}">
                <a16:creationId xmlns:a16="http://schemas.microsoft.com/office/drawing/2014/main" id="{80E14B98-784C-D021-6202-1E0270F4A528}"/>
              </a:ext>
            </a:extLst>
          </p:cNvPr>
          <p:cNvSpPr txBox="1"/>
          <p:nvPr/>
        </p:nvSpPr>
        <p:spPr>
          <a:xfrm>
            <a:off x="544712" y="2649021"/>
            <a:ext cx="11062798" cy="354925"/>
          </a:xfrm>
          <a:prstGeom prst="roundRect">
            <a:avLst>
              <a:gd name="adj" fmla="val 8986"/>
            </a:avLst>
          </a:prstGeom>
          <a:solidFill>
            <a:srgbClr val="F2F2F2"/>
          </a:solidFill>
          <a:ln w="6350">
            <a:solidFill>
              <a:srgbClr val="281A42"/>
            </a:solidFill>
          </a:ln>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dirty="0">
                <a:ln>
                  <a:noFill/>
                </a:ln>
                <a:solidFill>
                  <a:srgbClr val="281A42"/>
                </a:solidFill>
                <a:effectLst/>
                <a:uLnTx/>
                <a:uFillTx/>
                <a:latin typeface="Segoe UI" pitchFamily="34" charset="0"/>
              </a:rPr>
              <a:t>(4x Volume, 5x Revenue, </a:t>
            </a:r>
            <a:r>
              <a:rPr lang="en-US" sz="1600" b="1" kern="0" spc="-10" dirty="0">
                <a:solidFill>
                  <a:srgbClr val="281A42"/>
                </a:solidFill>
                <a:latin typeface="Segoe UI" pitchFamily="34" charset="0"/>
              </a:rPr>
              <a:t>6</a:t>
            </a:r>
            <a:r>
              <a:rPr kumimoji="0" lang="en-US" sz="1600" b="1" i="0" u="none" strike="noStrike" kern="0" cap="none" spc="-10" normalizeH="0" baseline="0" noProof="0" dirty="0">
                <a:ln>
                  <a:noFill/>
                </a:ln>
                <a:solidFill>
                  <a:srgbClr val="281A42"/>
                </a:solidFill>
                <a:effectLst/>
                <a:uLnTx/>
                <a:uFillTx/>
                <a:latin typeface="Segoe UI" pitchFamily="34" charset="0"/>
              </a:rPr>
              <a:t>x EBITDA, 10x Net Income) </a:t>
            </a:r>
            <a:endParaRPr kumimoji="0" lang="en-GB" sz="1600" b="1" i="0" u="none" strike="noStrike" kern="0" cap="none" spc="-10" normalizeH="0" baseline="0" noProof="0" dirty="0">
              <a:ln>
                <a:noFill/>
              </a:ln>
              <a:solidFill>
                <a:srgbClr val="1D1D1D">
                  <a:lumMod val="50000"/>
                  <a:lumOff val="50000"/>
                </a:srgbClr>
              </a:solidFill>
              <a:effectLst/>
              <a:uLnTx/>
              <a:uFillTx/>
              <a:latin typeface="Segoe UI" pitchFamily="34" charset="0"/>
            </a:endParaRPr>
          </a:p>
        </p:txBody>
      </p:sp>
      <p:sp>
        <p:nvSpPr>
          <p:cNvPr id="11" name="object 14">
            <a:extLst>
              <a:ext uri="{FF2B5EF4-FFF2-40B4-BE49-F238E27FC236}">
                <a16:creationId xmlns:a16="http://schemas.microsoft.com/office/drawing/2014/main" id="{B7E16055-F034-2825-2A21-5496BB9C5D09}"/>
              </a:ext>
            </a:extLst>
          </p:cNvPr>
          <p:cNvSpPr/>
          <p:nvPr/>
        </p:nvSpPr>
        <p:spPr>
          <a:xfrm>
            <a:off x="928254" y="3921045"/>
            <a:ext cx="2192020" cy="1100923"/>
          </a:xfrm>
          <a:prstGeom prst="flowChartInputOutput">
            <a:avLst/>
          </a:prstGeom>
          <a:solidFill>
            <a:srgbClr val="F2F2F2"/>
          </a:solidFill>
          <a:ln w="12700">
            <a:solidFill>
              <a:srgbClr val="281A42"/>
            </a:solidFill>
          </a:ln>
        </p:spPr>
        <p:txBody>
          <a:bodyPr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0" cap="none" spc="-10" normalizeH="0" baseline="0" noProof="0" dirty="0">
                <a:ln>
                  <a:noFill/>
                </a:ln>
                <a:solidFill>
                  <a:schemeClr val="accent1"/>
                </a:solidFill>
                <a:effectLst/>
                <a:uLnTx/>
                <a:uFillTx/>
                <a:latin typeface="Arial" pitchFamily="34" charset="0"/>
                <a:ea typeface="+mn-ea"/>
                <a:cs typeface="Arial"/>
              </a:rPr>
              <a:t>RUN</a:t>
            </a:r>
          </a:p>
        </p:txBody>
      </p:sp>
      <p:sp>
        <p:nvSpPr>
          <p:cNvPr id="12" name="object 17">
            <a:extLst>
              <a:ext uri="{FF2B5EF4-FFF2-40B4-BE49-F238E27FC236}">
                <a16:creationId xmlns:a16="http://schemas.microsoft.com/office/drawing/2014/main" id="{AF581BE9-8788-ACD1-50EF-999FA7F4E608}"/>
              </a:ext>
            </a:extLst>
          </p:cNvPr>
          <p:cNvSpPr txBox="1"/>
          <p:nvPr/>
        </p:nvSpPr>
        <p:spPr>
          <a:xfrm>
            <a:off x="4957304" y="3921054"/>
            <a:ext cx="2029538" cy="1100924"/>
          </a:xfrm>
          <a:prstGeom prst="roundRect">
            <a:avLst>
              <a:gd name="adj" fmla="val 5904"/>
            </a:avLst>
          </a:prstGeom>
          <a:solidFill>
            <a:srgbClr val="F2F2F2"/>
          </a:solidFill>
          <a:ln w="12700">
            <a:solidFill>
              <a:srgbClr val="281A42"/>
            </a:solidFill>
          </a:ln>
        </p:spPr>
        <p:txBody>
          <a:bodyPr vert="horz" wrap="square" lIns="0" tIns="0" rIns="0" bIns="0" rtlCol="0" anchor="ctr">
            <a:noAutofit/>
          </a:bodyP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chemeClr val="accent1"/>
                </a:solidFill>
                <a:effectLst/>
                <a:uLnTx/>
                <a:uFillTx/>
                <a:latin typeface="Arial" pitchFamily="34" charset="0"/>
                <a:ea typeface="+mn-ea"/>
                <a:cs typeface="Arial"/>
              </a:rPr>
              <a:t>CHANGE</a:t>
            </a:r>
            <a:endParaRPr kumimoji="0" sz="1800" b="0" i="0" u="none" strike="noStrike" kern="0" cap="none" spc="-10" normalizeH="0" baseline="0" noProof="0" dirty="0">
              <a:ln>
                <a:noFill/>
              </a:ln>
              <a:solidFill>
                <a:schemeClr val="accent1"/>
              </a:solidFill>
              <a:effectLst/>
              <a:uLnTx/>
              <a:uFillTx/>
              <a:latin typeface="Arial" pitchFamily="34" charset="0"/>
              <a:ea typeface="+mn-ea"/>
              <a:cs typeface="Arial"/>
            </a:endParaRPr>
          </a:p>
        </p:txBody>
      </p:sp>
      <p:sp>
        <p:nvSpPr>
          <p:cNvPr id="13" name="object 24">
            <a:extLst>
              <a:ext uri="{FF2B5EF4-FFF2-40B4-BE49-F238E27FC236}">
                <a16:creationId xmlns:a16="http://schemas.microsoft.com/office/drawing/2014/main" id="{3AD729F7-C0C2-FEC0-5BEB-CFA4C4AB7723}"/>
              </a:ext>
            </a:extLst>
          </p:cNvPr>
          <p:cNvSpPr txBox="1"/>
          <p:nvPr/>
        </p:nvSpPr>
        <p:spPr>
          <a:xfrm>
            <a:off x="2925551" y="3054210"/>
            <a:ext cx="2468879"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1</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STRONG START</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endParaRPr kumimoji="0" sz="1400" b="1" i="0" u="none" strike="noStrike" kern="0" cap="none" spc="-10" normalizeH="0" baseline="0" noProof="0" dirty="0">
              <a:ln>
                <a:noFill/>
              </a:ln>
              <a:solidFill>
                <a:srgbClr val="1D1D1D"/>
              </a:solidFill>
              <a:effectLst/>
              <a:uLnTx/>
              <a:uFillTx/>
              <a:latin typeface="Segoe UI" pitchFamily="34" charset="0"/>
              <a:ea typeface="+mn-ea"/>
              <a:cs typeface="Tahoma"/>
            </a:endParaRPr>
          </a:p>
        </p:txBody>
      </p:sp>
      <p:sp>
        <p:nvSpPr>
          <p:cNvPr id="14" name="TextBox 13">
            <a:extLst>
              <a:ext uri="{FF2B5EF4-FFF2-40B4-BE49-F238E27FC236}">
                <a16:creationId xmlns:a16="http://schemas.microsoft.com/office/drawing/2014/main" id="{92321C93-8D68-402D-C8D2-E85BC4C5D52C}"/>
              </a:ext>
            </a:extLst>
          </p:cNvPr>
          <p:cNvSpPr txBox="1"/>
          <p:nvPr/>
        </p:nvSpPr>
        <p:spPr>
          <a:xfrm>
            <a:off x="4934612" y="5088614"/>
            <a:ext cx="2402663" cy="1061829"/>
          </a:xfrm>
          <a:prstGeom prst="rect">
            <a:avLst/>
          </a:prstGeom>
          <a:noFill/>
        </p:spPr>
        <p:txBody>
          <a:bodyPr wrap="square" lIns="0" tIns="45720" rIns="91440" bIns="45720" numCol="1" spcCol="108000" anchor="t">
            <a:spAutoFit/>
          </a:bodyPr>
          <a:lstStyle/>
          <a:p>
            <a:pPr marL="171450" indent="-171450">
              <a:spcAft>
                <a:spcPts val="600"/>
              </a:spcAft>
              <a:buClrTx/>
              <a:buSzTx/>
              <a:buBlip>
                <a:blip r:embed="rId2"/>
              </a:buBlip>
              <a:defRPr/>
            </a:pPr>
            <a:r>
              <a:rPr lang="en-US" sz="1200" kern="0" spc="-10" dirty="0">
                <a:solidFill>
                  <a:srgbClr val="1D1D1D"/>
                </a:solidFill>
                <a:latin typeface="Arial" pitchFamily="34" charset="0"/>
              </a:rPr>
              <a:t>New Operating Model </a:t>
            </a:r>
          </a:p>
          <a:p>
            <a:pPr marL="171450" indent="-171450">
              <a:spcAft>
                <a:spcPts val="600"/>
              </a:spcAft>
              <a:buClrTx/>
              <a:buSzTx/>
              <a:buBlip>
                <a:blip r:embed="rId2"/>
              </a:buBlip>
              <a:defRPr/>
            </a:pPr>
            <a:r>
              <a:rPr lang="en-US" sz="1200" kern="0" spc="-10" dirty="0">
                <a:solidFill>
                  <a:srgbClr val="1D1D1D"/>
                </a:solidFill>
                <a:latin typeface="Arial" pitchFamily="34" charset="0"/>
              </a:rPr>
              <a:t>Leadership team upgrades</a:t>
            </a:r>
          </a:p>
          <a:p>
            <a:pPr marL="171450" indent="-171450">
              <a:spcAft>
                <a:spcPts val="600"/>
              </a:spcAft>
              <a:buClrTx/>
              <a:buSzTx/>
              <a:buBlip>
                <a:blip r:embed="rId2"/>
              </a:buBlip>
              <a:defRPr/>
            </a:pPr>
            <a:r>
              <a:rPr lang="en-US" sz="1200" kern="0" spc="-10" dirty="0">
                <a:solidFill>
                  <a:srgbClr val="1D1D1D"/>
                </a:solidFill>
                <a:latin typeface="Arial" pitchFamily="34" charset="0"/>
              </a:rPr>
              <a:t>Culture of low accountability</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5" name="object 24">
            <a:extLst>
              <a:ext uri="{FF2B5EF4-FFF2-40B4-BE49-F238E27FC236}">
                <a16:creationId xmlns:a16="http://schemas.microsoft.com/office/drawing/2014/main" id="{97D4184D-679E-0A78-5A0B-31FDA18E1E79}"/>
              </a:ext>
            </a:extLst>
          </p:cNvPr>
          <p:cNvSpPr txBox="1"/>
          <p:nvPr/>
        </p:nvSpPr>
        <p:spPr>
          <a:xfrm>
            <a:off x="7685048" y="3054210"/>
            <a:ext cx="3466783"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2</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NEEDS TO EVOLVE</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p>
        </p:txBody>
      </p:sp>
      <p:sp>
        <p:nvSpPr>
          <p:cNvPr id="16" name="Oval 15">
            <a:extLst>
              <a:ext uri="{FF2B5EF4-FFF2-40B4-BE49-F238E27FC236}">
                <a16:creationId xmlns:a16="http://schemas.microsoft.com/office/drawing/2014/main" id="{1066D3B5-EC7A-B205-E416-C50E5FA10984}"/>
              </a:ext>
            </a:extLst>
          </p:cNvPr>
          <p:cNvSpPr/>
          <p:nvPr/>
        </p:nvSpPr>
        <p:spPr>
          <a:xfrm>
            <a:off x="8516217" y="3921054"/>
            <a:ext cx="1804447" cy="1100931"/>
          </a:xfrm>
          <a:prstGeom prst="ellipse">
            <a:avLst/>
          </a:prstGeom>
          <a:solidFill>
            <a:srgbClr val="F2F2F2"/>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chemeClr val="accent1"/>
                </a:solidFill>
                <a:effectLst/>
                <a:uLnTx/>
                <a:uFillTx/>
                <a:latin typeface="Arial" pitchFamily="34" charset="0"/>
                <a:ea typeface="+mn-ea"/>
                <a:cs typeface="Arial"/>
              </a:rPr>
              <a:t>GROW</a:t>
            </a:r>
            <a:r>
              <a:rPr kumimoji="0" lang="en-US" sz="1800" b="0" i="0" u="none" strike="noStrike" kern="0" cap="none" spc="-10" normalizeH="0" baseline="0" noProof="0" dirty="0">
                <a:ln>
                  <a:noFill/>
                </a:ln>
                <a:solidFill>
                  <a:srgbClr val="281A42"/>
                </a:solidFill>
                <a:effectLst/>
                <a:uLnTx/>
                <a:uFillTx/>
                <a:latin typeface="Arial" pitchFamily="34" charset="0"/>
                <a:ea typeface="+mn-ea"/>
                <a:cs typeface="Arial"/>
              </a:rPr>
              <a:t> </a:t>
            </a:r>
          </a:p>
        </p:txBody>
      </p:sp>
      <p:sp>
        <p:nvSpPr>
          <p:cNvPr id="17" name="TextBox 16">
            <a:extLst>
              <a:ext uri="{FF2B5EF4-FFF2-40B4-BE49-F238E27FC236}">
                <a16:creationId xmlns:a16="http://schemas.microsoft.com/office/drawing/2014/main" id="{0D08DD3B-6CDA-7862-8D8D-06F22470D209}"/>
              </a:ext>
            </a:extLst>
          </p:cNvPr>
          <p:cNvSpPr txBox="1"/>
          <p:nvPr/>
        </p:nvSpPr>
        <p:spPr>
          <a:xfrm>
            <a:off x="8375001" y="5083054"/>
            <a:ext cx="2966937" cy="1431161"/>
          </a:xfrm>
          <a:prstGeom prst="rect">
            <a:avLst/>
          </a:prstGeom>
          <a:noFill/>
        </p:spPr>
        <p:txBody>
          <a:bodyPr wrap="square" lIns="0" tIns="45720" rIns="91440" bIns="45720" numCol="1" spcCol="108000" anchor="t">
            <a:spAutoFit/>
          </a:bodyPr>
          <a:lstStyle/>
          <a:p>
            <a:pPr marL="171450" marR="0" lvl="0" indent="-171450" fontAlgn="auto">
              <a:lnSpc>
                <a:spcPct val="100000"/>
              </a:lnSpc>
              <a:spcBef>
                <a:spcPts val="0"/>
              </a:spcBef>
              <a:spcAft>
                <a:spcPts val="600"/>
              </a:spcAft>
              <a:buBlip>
                <a:blip r:embed="rId2"/>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personal support to </a:t>
            </a:r>
            <a:r>
              <a:rPr lang="en-US" sz="1200" kern="0" spc="-10" dirty="0">
                <a:solidFill>
                  <a:srgbClr val="1D1D1D"/>
                </a:solidFill>
                <a:latin typeface="Arial" pitchFamily="34" charset="0"/>
              </a:rPr>
              <a:t>shape/drive the growth narrative </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Make the operating model work </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Strengthen Leadership bench strength</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Define and detail an exciting growth narrative to Investors</a:t>
            </a:r>
          </a:p>
        </p:txBody>
      </p:sp>
      <p:sp>
        <p:nvSpPr>
          <p:cNvPr id="18" name="Rectangle: Rounded Corners 13">
            <a:extLst>
              <a:ext uri="{FF2B5EF4-FFF2-40B4-BE49-F238E27FC236}">
                <a16:creationId xmlns:a16="http://schemas.microsoft.com/office/drawing/2014/main" id="{58653B4F-4A15-77DA-EAB3-09836D94B6B4}"/>
              </a:ext>
            </a:extLst>
          </p:cNvPr>
          <p:cNvSpPr/>
          <p:nvPr/>
        </p:nvSpPr>
        <p:spPr>
          <a:xfrm>
            <a:off x="1654660" y="4085921"/>
            <a:ext cx="871810" cy="162740"/>
          </a:xfrm>
          <a:prstGeom prst="roundRect">
            <a:avLst/>
          </a:prstGeom>
          <a:solidFill>
            <a:srgbClr val="00C2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chemeClr val="accent3"/>
              </a:solidFill>
              <a:effectLst/>
              <a:uLnTx/>
              <a:uFillTx/>
              <a:latin typeface="Arial" pitchFamily="34" charset="0"/>
              <a:ea typeface="+mn-ea"/>
              <a:cs typeface="+mn-cs"/>
            </a:endParaRPr>
          </a:p>
        </p:txBody>
      </p:sp>
      <p:sp>
        <p:nvSpPr>
          <p:cNvPr id="19" name="Rectangle: Rounded Corners 13">
            <a:extLst>
              <a:ext uri="{FF2B5EF4-FFF2-40B4-BE49-F238E27FC236}">
                <a16:creationId xmlns:a16="http://schemas.microsoft.com/office/drawing/2014/main" id="{542C603D-8190-DB54-B577-F5EB3B70E1C0}"/>
              </a:ext>
            </a:extLst>
          </p:cNvPr>
          <p:cNvSpPr/>
          <p:nvPr/>
        </p:nvSpPr>
        <p:spPr>
          <a:xfrm>
            <a:off x="5507637" y="4081713"/>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chemeClr val="accent5"/>
              </a:solidFill>
              <a:effectLst/>
              <a:uLnTx/>
              <a:uFillTx/>
              <a:latin typeface="Arial" pitchFamily="34" charset="0"/>
              <a:ea typeface="+mn-ea"/>
              <a:cs typeface="+mn-cs"/>
            </a:endParaRPr>
          </a:p>
        </p:txBody>
      </p:sp>
      <p:sp>
        <p:nvSpPr>
          <p:cNvPr id="20" name="Rectangle: Rounded Corners 13">
            <a:extLst>
              <a:ext uri="{FF2B5EF4-FFF2-40B4-BE49-F238E27FC236}">
                <a16:creationId xmlns:a16="http://schemas.microsoft.com/office/drawing/2014/main" id="{FBE53015-726B-FC11-57EA-30F6B803DCFE}"/>
              </a:ext>
            </a:extLst>
          </p:cNvPr>
          <p:cNvSpPr/>
          <p:nvPr/>
        </p:nvSpPr>
        <p:spPr>
          <a:xfrm>
            <a:off x="8986660" y="4119807"/>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rgbClr val="FFFFFF"/>
              </a:solidFill>
              <a:effectLst/>
              <a:uLnTx/>
              <a:uFillTx/>
              <a:latin typeface="Arial" pitchFamily="34" charset="0"/>
              <a:ea typeface="+mn-ea"/>
              <a:cs typeface="+mn-cs"/>
            </a:endParaRPr>
          </a:p>
        </p:txBody>
      </p:sp>
      <p:sp>
        <p:nvSpPr>
          <p:cNvPr id="21" name="TextBox 20">
            <a:extLst>
              <a:ext uri="{FF2B5EF4-FFF2-40B4-BE49-F238E27FC236}">
                <a16:creationId xmlns:a16="http://schemas.microsoft.com/office/drawing/2014/main" id="{C36828A5-6685-87BF-57A1-C11D22E21A3B}"/>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137584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3015F2-7E8E-B122-D120-FEA8D76C09A6}"/>
              </a:ext>
            </a:extLst>
          </p:cNvPr>
          <p:cNvSpPr>
            <a:spLocks noGrp="1"/>
          </p:cNvSpPr>
          <p:nvPr>
            <p:ph type="sldNum" sz="quarter" idx="4"/>
          </p:nvPr>
        </p:nvSpPr>
        <p:spPr/>
        <p:txBody>
          <a:bodyPr/>
          <a:lstStyle/>
          <a:p>
            <a:pPr algn="ctr"/>
            <a:fld id="{1875A764-3B06-454E-8ABA-2F6ED0EB58E9}" type="slidenum">
              <a:rPr lang="en-US" smtClean="0"/>
              <a:t>14</a:t>
            </a:fld>
            <a:endParaRPr lang="en-US"/>
          </a:p>
        </p:txBody>
      </p:sp>
      <p:sp>
        <p:nvSpPr>
          <p:cNvPr id="3" name="Title 2">
            <a:extLst>
              <a:ext uri="{FF2B5EF4-FFF2-40B4-BE49-F238E27FC236}">
                <a16:creationId xmlns:a16="http://schemas.microsoft.com/office/drawing/2014/main" id="{2879554E-A933-9601-7EED-3CE53B879F25}"/>
              </a:ext>
            </a:extLst>
          </p:cNvPr>
          <p:cNvSpPr>
            <a:spLocks noGrp="1"/>
          </p:cNvSpPr>
          <p:nvPr>
            <p:ph type="title"/>
          </p:nvPr>
        </p:nvSpPr>
        <p:spPr/>
        <p:txBody>
          <a:bodyPr/>
          <a:lstStyle/>
          <a:p>
            <a:r>
              <a:rPr lang="en-US" dirty="0"/>
              <a:t>CXO </a:t>
            </a:r>
            <a:r>
              <a:rPr lang="en-US" dirty="0">
                <a:solidFill>
                  <a:schemeClr val="accent1"/>
                </a:solidFill>
              </a:rPr>
              <a:t>Value Ambition</a:t>
            </a:r>
          </a:p>
        </p:txBody>
      </p:sp>
      <p:sp>
        <p:nvSpPr>
          <p:cNvPr id="4" name="Google Shape;56;p3">
            <a:extLst>
              <a:ext uri="{FF2B5EF4-FFF2-40B4-BE49-F238E27FC236}">
                <a16:creationId xmlns:a16="http://schemas.microsoft.com/office/drawing/2014/main" id="{33C78084-7978-A78E-6E2F-E4815AA669FA}"/>
              </a:ext>
            </a:extLst>
          </p:cNvPr>
          <p:cNvSpPr/>
          <p:nvPr/>
        </p:nvSpPr>
        <p:spPr>
          <a:xfrm>
            <a:off x="2650547" y="770954"/>
            <a:ext cx="5653992" cy="5559799"/>
          </a:xfrm>
          <a:prstGeom prst="roundRect">
            <a:avLst>
              <a:gd name="adj" fmla="val 3709"/>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5" name="Google Shape;61;p3">
            <a:extLst>
              <a:ext uri="{FF2B5EF4-FFF2-40B4-BE49-F238E27FC236}">
                <a16:creationId xmlns:a16="http://schemas.microsoft.com/office/drawing/2014/main" id="{5549D320-E3C5-4F6F-617C-A2EC161ED327}"/>
              </a:ext>
            </a:extLst>
          </p:cNvPr>
          <p:cNvSpPr txBox="1"/>
          <p:nvPr/>
        </p:nvSpPr>
        <p:spPr>
          <a:xfrm>
            <a:off x="2762342" y="829494"/>
            <a:ext cx="471484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Jobs to Be Done</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6" name="Google Shape;103;p3">
            <a:extLst>
              <a:ext uri="{FF2B5EF4-FFF2-40B4-BE49-F238E27FC236}">
                <a16:creationId xmlns:a16="http://schemas.microsoft.com/office/drawing/2014/main" id="{3D2CC805-C65E-2990-CBB4-36097FE6A499}"/>
              </a:ext>
            </a:extLst>
          </p:cNvPr>
          <p:cNvSpPr/>
          <p:nvPr/>
        </p:nvSpPr>
        <p:spPr>
          <a:xfrm>
            <a:off x="8404288" y="772898"/>
            <a:ext cx="3266452" cy="5557856"/>
          </a:xfrm>
          <a:prstGeom prst="roundRect">
            <a:avLst>
              <a:gd name="adj" fmla="val 5388"/>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 name="Google Shape;96;p3">
            <a:extLst>
              <a:ext uri="{FF2B5EF4-FFF2-40B4-BE49-F238E27FC236}">
                <a16:creationId xmlns:a16="http://schemas.microsoft.com/office/drawing/2014/main" id="{4710DE5C-2903-CCDA-1A2C-1F8F567C52B1}"/>
              </a:ext>
            </a:extLst>
          </p:cNvPr>
          <p:cNvSpPr/>
          <p:nvPr/>
        </p:nvSpPr>
        <p:spPr>
          <a:xfrm>
            <a:off x="8614665" y="1011057"/>
            <a:ext cx="2902275" cy="2257794"/>
          </a:xfrm>
          <a:prstGeom prst="roundRect">
            <a:avLst>
              <a:gd name="adj" fmla="val 5598"/>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8" name="TextBox 7">
            <a:extLst>
              <a:ext uri="{FF2B5EF4-FFF2-40B4-BE49-F238E27FC236}">
                <a16:creationId xmlns:a16="http://schemas.microsoft.com/office/drawing/2014/main" id="{DDD4BB2A-7626-2759-B911-5E11FFF508CC}"/>
              </a:ext>
            </a:extLst>
          </p:cNvPr>
          <p:cNvSpPr txBox="1"/>
          <p:nvPr/>
        </p:nvSpPr>
        <p:spPr>
          <a:xfrm>
            <a:off x="8743627" y="1166637"/>
            <a:ext cx="2620684" cy="200054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SP1: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Inspirational leader with ability to excite new investors &amp; Board on growth agenda while sustaining operating results</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SP2: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Decisive, mature leader to motivate leadership team and organization to deliver strategic pivots (think globally, JVs, M&amp;A)</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sp>
        <p:nvSpPr>
          <p:cNvPr id="9" name="Google Shape;61;p3">
            <a:extLst>
              <a:ext uri="{FF2B5EF4-FFF2-40B4-BE49-F238E27FC236}">
                <a16:creationId xmlns:a16="http://schemas.microsoft.com/office/drawing/2014/main" id="{D5C758F8-4BF7-3D5B-D016-4F2D2B507271}"/>
              </a:ext>
            </a:extLst>
          </p:cNvPr>
          <p:cNvSpPr txBox="1"/>
          <p:nvPr/>
        </p:nvSpPr>
        <p:spPr>
          <a:xfrm>
            <a:off x="8586629" y="829494"/>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Superpowers</a:t>
            </a:r>
            <a:endParaRPr kumimoji="0" lang="en-US" sz="1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0" name="Google Shape;68;p3">
            <a:extLst>
              <a:ext uri="{FF2B5EF4-FFF2-40B4-BE49-F238E27FC236}">
                <a16:creationId xmlns:a16="http://schemas.microsoft.com/office/drawing/2014/main" id="{14A1848E-A16A-30D7-5807-69ACB3FCA97B}"/>
              </a:ext>
            </a:extLst>
          </p:cNvPr>
          <p:cNvSpPr/>
          <p:nvPr/>
        </p:nvSpPr>
        <p:spPr>
          <a:xfrm>
            <a:off x="2774531" y="1006530"/>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1" name="Google Shape;70;p3">
            <a:extLst>
              <a:ext uri="{FF2B5EF4-FFF2-40B4-BE49-F238E27FC236}">
                <a16:creationId xmlns:a16="http://schemas.microsoft.com/office/drawing/2014/main" id="{34B910FE-E309-6B53-0EAA-A40A17EF7EED}"/>
              </a:ext>
            </a:extLst>
          </p:cNvPr>
          <p:cNvSpPr txBox="1"/>
          <p:nvPr/>
        </p:nvSpPr>
        <p:spPr>
          <a:xfrm>
            <a:off x="2931051" y="1385911"/>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40%</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2" name="Google Shape;71;p3">
            <a:extLst>
              <a:ext uri="{FF2B5EF4-FFF2-40B4-BE49-F238E27FC236}">
                <a16:creationId xmlns:a16="http://schemas.microsoft.com/office/drawing/2014/main" id="{101892DF-3DAA-EB52-53D8-C425E4016391}"/>
              </a:ext>
            </a:extLst>
          </p:cNvPr>
          <p:cNvSpPr txBox="1"/>
          <p:nvPr/>
        </p:nvSpPr>
        <p:spPr>
          <a:xfrm>
            <a:off x="3046827" y="1202813"/>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1</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3" name="Google Shape;68;p3">
            <a:extLst>
              <a:ext uri="{FF2B5EF4-FFF2-40B4-BE49-F238E27FC236}">
                <a16:creationId xmlns:a16="http://schemas.microsoft.com/office/drawing/2014/main" id="{F5A7E58E-A0B0-3E58-CF0F-93E9B118DDCB}"/>
              </a:ext>
            </a:extLst>
          </p:cNvPr>
          <p:cNvSpPr/>
          <p:nvPr/>
        </p:nvSpPr>
        <p:spPr>
          <a:xfrm>
            <a:off x="2775420" y="2094636"/>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4" name="Google Shape;69;p3">
            <a:extLst>
              <a:ext uri="{FF2B5EF4-FFF2-40B4-BE49-F238E27FC236}">
                <a16:creationId xmlns:a16="http://schemas.microsoft.com/office/drawing/2014/main" id="{83C23A06-147B-DFE3-FC7B-EDEF18CC0994}"/>
              </a:ext>
            </a:extLst>
          </p:cNvPr>
          <p:cNvSpPr txBox="1"/>
          <p:nvPr/>
        </p:nvSpPr>
        <p:spPr>
          <a:xfrm>
            <a:off x="3788911" y="2262693"/>
            <a:ext cx="4362064" cy="7078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chemeClr val="accent1"/>
                </a:solidFill>
                <a:effectLst/>
                <a:uLnTx/>
                <a:uFillTx/>
                <a:latin typeface="Arial" pitchFamily="34" charset="0"/>
                <a:ea typeface="Lato" panose="020F0502020204030203" pitchFamily="34" charset="0"/>
                <a:cs typeface="Lato" panose="020F0502020204030203" pitchFamily="34" charset="0"/>
              </a:rPr>
              <a:t>Diversify Decarbonize Product Portfolio For Organic Growth </a:t>
            </a:r>
          </a:p>
          <a:p>
            <a:pPr marL="171450" indent="-171450">
              <a:buClrTx/>
              <a:buSzTx/>
              <a:buBlip>
                <a:blip r:embed="rId2"/>
              </a:buBlip>
              <a:defRPr/>
            </a:pPr>
            <a:r>
              <a:rPr lang="en-US" sz="900" kern="0" spc="-10" dirty="0">
                <a:solidFill>
                  <a:srgbClr val="1D1D1D"/>
                </a:solidFill>
                <a:latin typeface="Arial" pitchFamily="34" charset="0"/>
                <a:ea typeface="Lato"/>
                <a:cs typeface="Lato"/>
              </a:rPr>
              <a:t>Drive product portfolio for decarbonization</a:t>
            </a:r>
          </a:p>
          <a:p>
            <a:pPr marL="171450" indent="-171450">
              <a:buClrTx/>
              <a:buSzTx/>
              <a:buBlip>
                <a:blip r:embed="rId2"/>
              </a:buBlip>
              <a:defRPr/>
            </a:pPr>
            <a:r>
              <a:rPr lang="en-US" sz="900" kern="0" spc="-10" dirty="0">
                <a:solidFill>
                  <a:srgbClr val="1D1D1D"/>
                </a:solidFill>
                <a:latin typeface="Arial" pitchFamily="34" charset="0"/>
                <a:ea typeface="Lato"/>
                <a:cs typeface="Lato"/>
              </a:rPr>
              <a:t>Drive Greenfield development JV</a:t>
            </a:r>
          </a:p>
          <a:p>
            <a:pPr marL="171450" indent="-171450">
              <a:buClrTx/>
              <a:buSzTx/>
              <a:buBlip>
                <a:blip r:embed="rId2"/>
              </a:buBlip>
              <a:defRPr/>
            </a:pPr>
            <a:r>
              <a:rPr lang="en-US" sz="900" kern="0" spc="-10" dirty="0">
                <a:solidFill>
                  <a:srgbClr val="1D1D1D"/>
                </a:solidFill>
                <a:latin typeface="Arial" pitchFamily="34" charset="0"/>
                <a:ea typeface="Lato"/>
                <a:cs typeface="Lato"/>
              </a:rPr>
              <a:t>BU 2: Create comprehensive products, solutions, services portfolio for distributors, industrial clients, builders. </a:t>
            </a:r>
          </a:p>
        </p:txBody>
      </p:sp>
      <p:sp>
        <p:nvSpPr>
          <p:cNvPr id="15" name="Google Shape;70;p3">
            <a:extLst>
              <a:ext uri="{FF2B5EF4-FFF2-40B4-BE49-F238E27FC236}">
                <a16:creationId xmlns:a16="http://schemas.microsoft.com/office/drawing/2014/main" id="{C6CAECF1-5654-44B0-1C98-9A82D28A36D4}"/>
              </a:ext>
            </a:extLst>
          </p:cNvPr>
          <p:cNvSpPr txBox="1"/>
          <p:nvPr/>
        </p:nvSpPr>
        <p:spPr>
          <a:xfrm>
            <a:off x="2931051" y="2474016"/>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6" name="Google Shape;71;p3">
            <a:extLst>
              <a:ext uri="{FF2B5EF4-FFF2-40B4-BE49-F238E27FC236}">
                <a16:creationId xmlns:a16="http://schemas.microsoft.com/office/drawing/2014/main" id="{0DB73A61-6EE0-02EE-0D8E-FC848AD493BE}"/>
              </a:ext>
            </a:extLst>
          </p:cNvPr>
          <p:cNvSpPr txBox="1"/>
          <p:nvPr/>
        </p:nvSpPr>
        <p:spPr>
          <a:xfrm>
            <a:off x="3046827" y="2290919"/>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2</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7" name="Google Shape;68;p3">
            <a:extLst>
              <a:ext uri="{FF2B5EF4-FFF2-40B4-BE49-F238E27FC236}">
                <a16:creationId xmlns:a16="http://schemas.microsoft.com/office/drawing/2014/main" id="{C82F5B1F-0CE9-C8E9-F57F-FCCAA6C4A07D}"/>
              </a:ext>
            </a:extLst>
          </p:cNvPr>
          <p:cNvSpPr/>
          <p:nvPr/>
        </p:nvSpPr>
        <p:spPr>
          <a:xfrm>
            <a:off x="2775420" y="3170042"/>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8" name="Google Shape;69;p3">
            <a:extLst>
              <a:ext uri="{FF2B5EF4-FFF2-40B4-BE49-F238E27FC236}">
                <a16:creationId xmlns:a16="http://schemas.microsoft.com/office/drawing/2014/main" id="{403FC4F5-CB44-8E5C-8325-13769D2E4173}"/>
              </a:ext>
            </a:extLst>
          </p:cNvPr>
          <p:cNvSpPr txBox="1"/>
          <p:nvPr/>
        </p:nvSpPr>
        <p:spPr>
          <a:xfrm>
            <a:off x="3788911" y="3338100"/>
            <a:ext cx="4362064" cy="7078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Arial"/>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Build &amp; Deliver Investment Case To Drive Inorganic Growth</a:t>
            </a:r>
          </a:p>
          <a:p>
            <a:pPr marL="171450" marR="0" lvl="0" indent="-171450" fontAlgn="auto">
              <a:lnSpc>
                <a:spcPct val="100000"/>
              </a:lnSpc>
              <a:spcBef>
                <a:spcPts val="0"/>
              </a:spcBef>
              <a:spcAft>
                <a:spcPts val="0"/>
              </a:spcAft>
              <a:buBlip>
                <a:blip r:embed="rId2"/>
              </a:buBlip>
              <a:tabLst/>
              <a:defRPr/>
            </a:pP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Identify strategic targets for volume, revenue &amp; EBITDA growth to secure Board </a:t>
            </a:r>
            <a:r>
              <a:rPr lang="en-GB" sz="900" kern="0" spc="-10" dirty="0">
                <a:solidFill>
                  <a:srgbClr val="1D1D1D"/>
                </a:solidFill>
                <a:latin typeface="Arial" pitchFamily="34" charset="0"/>
                <a:ea typeface="Lato"/>
                <a:cs typeface="Lato"/>
              </a:rPr>
              <a:t>approval and create interest from international institutional investors. Close deals / integrate acquisitions seamlessly for value creation </a:t>
            </a:r>
          </a:p>
          <a:p>
            <a:pPr marL="171450" marR="0" lvl="0" indent="-171450" fontAlgn="auto">
              <a:lnSpc>
                <a:spcPct val="100000"/>
              </a:lnSpc>
              <a:spcBef>
                <a:spcPts val="0"/>
              </a:spcBef>
              <a:spcAft>
                <a:spcPts val="0"/>
              </a:spcAft>
              <a:buBlip>
                <a:blip r:embed="rId2"/>
              </a:buBlip>
              <a:tabLst/>
              <a:defRPr/>
            </a:pPr>
            <a:r>
              <a:rPr lang="en-GB" sz="900" kern="0" spc="-10" dirty="0">
                <a:solidFill>
                  <a:srgbClr val="1D1D1D"/>
                </a:solidFill>
                <a:latin typeface="Arial" pitchFamily="34" charset="0"/>
                <a:ea typeface="Lato"/>
                <a:cs typeface="Lato"/>
              </a:rPr>
              <a:t>Identify and build JVs / commercial </a:t>
            </a: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Partnerships</a:t>
            </a:r>
          </a:p>
        </p:txBody>
      </p:sp>
      <p:sp>
        <p:nvSpPr>
          <p:cNvPr id="19" name="Google Shape;70;p3">
            <a:extLst>
              <a:ext uri="{FF2B5EF4-FFF2-40B4-BE49-F238E27FC236}">
                <a16:creationId xmlns:a16="http://schemas.microsoft.com/office/drawing/2014/main" id="{7FA4A2FC-1FC8-CD9E-C3C8-80AEAFBB2A4C}"/>
              </a:ext>
            </a:extLst>
          </p:cNvPr>
          <p:cNvSpPr txBox="1"/>
          <p:nvPr/>
        </p:nvSpPr>
        <p:spPr>
          <a:xfrm>
            <a:off x="2931051" y="3549422"/>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0" name="Google Shape;71;p3">
            <a:extLst>
              <a:ext uri="{FF2B5EF4-FFF2-40B4-BE49-F238E27FC236}">
                <a16:creationId xmlns:a16="http://schemas.microsoft.com/office/drawing/2014/main" id="{5DB066A5-5F3F-57EF-4F0C-4D7C9721103E}"/>
              </a:ext>
            </a:extLst>
          </p:cNvPr>
          <p:cNvSpPr txBox="1"/>
          <p:nvPr/>
        </p:nvSpPr>
        <p:spPr>
          <a:xfrm>
            <a:off x="3046827" y="3366325"/>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3</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1" name="Google Shape;68;p3">
            <a:extLst>
              <a:ext uri="{FF2B5EF4-FFF2-40B4-BE49-F238E27FC236}">
                <a16:creationId xmlns:a16="http://schemas.microsoft.com/office/drawing/2014/main" id="{02CA37C0-6B89-3E15-8BDF-6058DDC017C7}"/>
              </a:ext>
            </a:extLst>
          </p:cNvPr>
          <p:cNvSpPr/>
          <p:nvPr/>
        </p:nvSpPr>
        <p:spPr>
          <a:xfrm>
            <a:off x="2774531" y="4258149"/>
            <a:ext cx="5454000" cy="879494"/>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2" name="Google Shape;69;p3">
            <a:extLst>
              <a:ext uri="{FF2B5EF4-FFF2-40B4-BE49-F238E27FC236}">
                <a16:creationId xmlns:a16="http://schemas.microsoft.com/office/drawing/2014/main" id="{E2A2D41D-2957-2CC8-BCD3-BDC7573C9664}"/>
              </a:ext>
            </a:extLst>
          </p:cNvPr>
          <p:cNvSpPr txBox="1"/>
          <p:nvPr/>
        </p:nvSpPr>
        <p:spPr>
          <a:xfrm>
            <a:off x="3788022" y="4416566"/>
            <a:ext cx="4362064" cy="6001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20000"/>
              </a:lnSpc>
              <a:spcBef>
                <a:spcPts val="0"/>
              </a:spcBef>
              <a:spcAft>
                <a:spcPts val="0"/>
              </a:spcAft>
              <a:buClr>
                <a:srgbClr val="1D1D1D"/>
              </a:buClr>
              <a:buSzPts val="2000"/>
              <a:buFontTx/>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Expand Geographic Footprint </a:t>
            </a:r>
          </a:p>
          <a:p>
            <a:pPr marL="171450" indent="-171450">
              <a:buClrTx/>
              <a:buSzTx/>
              <a:buBlip>
                <a:blip r:embed="rId2"/>
              </a:buBlip>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Enter new export markets for exports by capitalizing on demand for sustainable </a:t>
            </a:r>
            <a:r>
              <a:rPr lang="en-US" sz="900" kern="0" spc="-10" dirty="0">
                <a:solidFill>
                  <a:srgbClr val="1D1D1D"/>
                </a:solidFill>
                <a:latin typeface="Arial" pitchFamily="34" charset="0"/>
                <a:ea typeface="Lato"/>
                <a:cs typeface="Lato"/>
              </a:rPr>
              <a:t>building materials</a:t>
            </a:r>
          </a:p>
          <a:p>
            <a:pPr marL="171450" indent="-171450">
              <a:buClrTx/>
              <a:buSzTx/>
              <a:buBlip>
                <a:blip r:embed="rId2"/>
              </a:buBlip>
              <a:defRPr/>
            </a:pPr>
            <a:r>
              <a:rPr lang="en-US" sz="900" kern="0" spc="-10" dirty="0">
                <a:solidFill>
                  <a:srgbClr val="1D1D1D"/>
                </a:solidFill>
                <a:latin typeface="Arial" pitchFamily="34" charset="0"/>
                <a:ea typeface="Lato"/>
                <a:cs typeface="Lato"/>
              </a:rPr>
              <a:t>Explore opportunities to enhance </a:t>
            </a: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vertical Integration</a:t>
            </a:r>
          </a:p>
        </p:txBody>
      </p:sp>
      <p:sp>
        <p:nvSpPr>
          <p:cNvPr id="23" name="Google Shape;70;p3">
            <a:extLst>
              <a:ext uri="{FF2B5EF4-FFF2-40B4-BE49-F238E27FC236}">
                <a16:creationId xmlns:a16="http://schemas.microsoft.com/office/drawing/2014/main" id="{9BC0932E-2EBE-8E5C-33CC-AAA57F5280AA}"/>
              </a:ext>
            </a:extLst>
          </p:cNvPr>
          <p:cNvSpPr txBox="1"/>
          <p:nvPr/>
        </p:nvSpPr>
        <p:spPr>
          <a:xfrm>
            <a:off x="2931051" y="463752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4" name="Google Shape;71;p3">
            <a:extLst>
              <a:ext uri="{FF2B5EF4-FFF2-40B4-BE49-F238E27FC236}">
                <a16:creationId xmlns:a16="http://schemas.microsoft.com/office/drawing/2014/main" id="{7AD1373A-EE1E-CC0A-4E57-109259CC2E94}"/>
              </a:ext>
            </a:extLst>
          </p:cNvPr>
          <p:cNvSpPr txBox="1"/>
          <p:nvPr/>
        </p:nvSpPr>
        <p:spPr>
          <a:xfrm>
            <a:off x="3046827" y="445443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5" name="Google Shape;57;p3">
            <a:extLst>
              <a:ext uri="{FF2B5EF4-FFF2-40B4-BE49-F238E27FC236}">
                <a16:creationId xmlns:a16="http://schemas.microsoft.com/office/drawing/2014/main" id="{2CB217B6-088D-5EB2-7E8D-31CBF061019D}"/>
              </a:ext>
            </a:extLst>
          </p:cNvPr>
          <p:cNvSpPr/>
          <p:nvPr/>
        </p:nvSpPr>
        <p:spPr>
          <a:xfrm>
            <a:off x="563253" y="770954"/>
            <a:ext cx="1987063" cy="5559799"/>
          </a:xfrm>
          <a:prstGeom prst="roundRect">
            <a:avLst>
              <a:gd name="adj" fmla="val 5837"/>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6" name="Google Shape;72;p3">
            <a:extLst>
              <a:ext uri="{FF2B5EF4-FFF2-40B4-BE49-F238E27FC236}">
                <a16:creationId xmlns:a16="http://schemas.microsoft.com/office/drawing/2014/main" id="{4CA8C7CF-E979-FA0E-2274-214BE07A5325}"/>
              </a:ext>
            </a:extLst>
          </p:cNvPr>
          <p:cNvSpPr txBox="1"/>
          <p:nvPr/>
        </p:nvSpPr>
        <p:spPr>
          <a:xfrm>
            <a:off x="706570" y="829494"/>
            <a:ext cx="174438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Deliver Strategy</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7" name="Google Shape;57;p3">
            <a:extLst>
              <a:ext uri="{FF2B5EF4-FFF2-40B4-BE49-F238E27FC236}">
                <a16:creationId xmlns:a16="http://schemas.microsoft.com/office/drawing/2014/main" id="{36AB6839-88C4-422D-6C1C-6C1B515D34E3}"/>
              </a:ext>
            </a:extLst>
          </p:cNvPr>
          <p:cNvSpPr/>
          <p:nvPr/>
        </p:nvSpPr>
        <p:spPr>
          <a:xfrm>
            <a:off x="689953" y="3363008"/>
            <a:ext cx="1736380" cy="2844340"/>
          </a:xfrm>
          <a:prstGeom prst="roundRect">
            <a:avLst>
              <a:gd name="adj" fmla="val 5837"/>
            </a:avLst>
          </a:prstGeom>
          <a:solidFill>
            <a:srgbClr val="F2F2F2"/>
          </a:solidFill>
          <a:ln>
            <a:solidFill>
              <a:schemeClr val="accent1"/>
            </a:solid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mn-ea"/>
              <a:cs typeface="+mn-cs"/>
              <a:sym typeface="Lato"/>
            </a:endParaRPr>
          </a:p>
        </p:txBody>
      </p:sp>
      <p:sp>
        <p:nvSpPr>
          <p:cNvPr id="28" name="Google Shape;102;p3">
            <a:extLst>
              <a:ext uri="{FF2B5EF4-FFF2-40B4-BE49-F238E27FC236}">
                <a16:creationId xmlns:a16="http://schemas.microsoft.com/office/drawing/2014/main" id="{EE8304C3-B626-1EA5-A27A-3B6D2F5146AD}"/>
              </a:ext>
            </a:extLst>
          </p:cNvPr>
          <p:cNvSpPr txBox="1"/>
          <p:nvPr/>
        </p:nvSpPr>
        <p:spPr>
          <a:xfrm>
            <a:off x="824426" y="3516092"/>
            <a:ext cx="1601908" cy="230812"/>
          </a:xfrm>
          <a:prstGeom prst="rect">
            <a:avLst/>
          </a:prstGeom>
          <a:noFill/>
          <a:ln>
            <a:noFill/>
          </a:ln>
        </p:spPr>
        <p:txBody>
          <a:bodyPr spcFirstLastPara="1" wrap="square" lIns="22850" tIns="22850" rIns="22850" bIns="22850" anchor="b" anchorCtr="0">
            <a:spAutoFit/>
          </a:bodyPr>
          <a:lstStyle/>
          <a:p>
            <a:pPr marL="0" marR="0" lvl="0" indent="0"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EXPECTED VALUE</a:t>
            </a:r>
            <a:endParaRPr kumimoji="0" lang="en-US" sz="7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graphicFrame>
        <p:nvGraphicFramePr>
          <p:cNvPr id="29" name="Table 28">
            <a:extLst>
              <a:ext uri="{FF2B5EF4-FFF2-40B4-BE49-F238E27FC236}">
                <a16:creationId xmlns:a16="http://schemas.microsoft.com/office/drawing/2014/main" id="{1331806C-E105-C4D4-0E4C-49A2F9226C02}"/>
              </a:ext>
            </a:extLst>
          </p:cNvPr>
          <p:cNvGraphicFramePr>
            <a:graphicFrameLocks noGrp="1"/>
          </p:cNvGraphicFramePr>
          <p:nvPr>
            <p:extLst>
              <p:ext uri="{D42A27DB-BD31-4B8C-83A1-F6EECF244321}">
                <p14:modId xmlns:p14="http://schemas.microsoft.com/office/powerpoint/2010/main" val="197716559"/>
              </p:ext>
            </p:extLst>
          </p:nvPr>
        </p:nvGraphicFramePr>
        <p:xfrm>
          <a:off x="675060" y="1202813"/>
          <a:ext cx="1775897" cy="1783080"/>
        </p:xfrm>
        <a:graphic>
          <a:graphicData uri="http://schemas.openxmlformats.org/drawingml/2006/table">
            <a:tbl>
              <a:tblPr firstRow="1" bandRow="1">
                <a:tableStyleId>{5940675A-B579-460E-94D1-54222C63F5DA}</a:tableStyleId>
              </a:tblPr>
              <a:tblGrid>
                <a:gridCol w="1775897">
                  <a:extLst>
                    <a:ext uri="{9D8B030D-6E8A-4147-A177-3AD203B41FA5}">
                      <a16:colId xmlns:a16="http://schemas.microsoft.com/office/drawing/2014/main" val="2160030322"/>
                    </a:ext>
                  </a:extLst>
                </a:gridCol>
              </a:tblGrid>
              <a:tr h="181852">
                <a:tc>
                  <a:txBody>
                    <a:bodyPr/>
                    <a:lstStyle/>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Run core operations</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Grow organically &amp; inorganically </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Drive decarbonized value- added products </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Build team for future ready organization.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01001088"/>
                  </a:ext>
                </a:extLst>
              </a:tr>
            </a:tbl>
          </a:graphicData>
        </a:graphic>
      </p:graphicFrame>
      <p:sp>
        <p:nvSpPr>
          <p:cNvPr id="30" name="Google Shape;68;p3">
            <a:extLst>
              <a:ext uri="{FF2B5EF4-FFF2-40B4-BE49-F238E27FC236}">
                <a16:creationId xmlns:a16="http://schemas.microsoft.com/office/drawing/2014/main" id="{1FDB5D08-10A3-0F3F-AF3D-D48480684AD2}"/>
              </a:ext>
            </a:extLst>
          </p:cNvPr>
          <p:cNvSpPr/>
          <p:nvPr/>
        </p:nvSpPr>
        <p:spPr>
          <a:xfrm>
            <a:off x="2799337" y="5176979"/>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1" name="Google Shape;69;p3">
            <a:extLst>
              <a:ext uri="{FF2B5EF4-FFF2-40B4-BE49-F238E27FC236}">
                <a16:creationId xmlns:a16="http://schemas.microsoft.com/office/drawing/2014/main" id="{90D83699-F680-3DA3-0FE6-96AACD192F1F}"/>
              </a:ext>
            </a:extLst>
          </p:cNvPr>
          <p:cNvSpPr txBox="1"/>
          <p:nvPr/>
        </p:nvSpPr>
        <p:spPr>
          <a:xfrm>
            <a:off x="3812828" y="5206536"/>
            <a:ext cx="4362064" cy="984885"/>
          </a:xfrm>
          <a:prstGeom prst="rect">
            <a:avLst/>
          </a:prstGeom>
          <a:noFill/>
          <a:ln>
            <a:noFill/>
          </a:ln>
        </p:spPr>
        <p:txBody>
          <a:bodyPr spcFirstLastPara="1" wrap="square" lIns="0" tIns="0" rIns="0" bIns="0" anchor="ctr" anchorCtr="0">
            <a:spAutoFit/>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Organization &amp; Operating Model</a:t>
            </a:r>
          </a:p>
          <a:p>
            <a:pPr marL="171450" marR="0" lvl="0" indent="-171450" fontAlgn="auto">
              <a:lnSpc>
                <a:spcPct val="100000"/>
              </a:lnSpc>
              <a:spcBef>
                <a:spcPts val="0"/>
              </a:spcBef>
              <a:spcAft>
                <a:spcPts val="0"/>
              </a:spcAft>
              <a:buBlip>
                <a:blip r:embed="rId2"/>
              </a:buBlip>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Select new </a:t>
            </a:r>
            <a:r>
              <a:rPr lang="en-US" sz="900" kern="0" spc="-10" dirty="0">
                <a:solidFill>
                  <a:srgbClr val="1D1D1D"/>
                </a:solidFill>
                <a:latin typeface="Arial" pitchFamily="34" charset="0"/>
                <a:ea typeface="Lato"/>
                <a:cs typeface="Lato"/>
              </a:rPr>
              <a:t>leaders and (re)build leadership team for future ready organization, with high quality talent in critical roles </a:t>
            </a:r>
          </a:p>
          <a:p>
            <a:pPr marL="171450" marR="0" lvl="0" indent="-171450" fontAlgn="auto">
              <a:lnSpc>
                <a:spcPct val="100000"/>
              </a:lnSpc>
              <a:spcBef>
                <a:spcPts val="0"/>
              </a:spcBef>
              <a:spcAft>
                <a:spcPts val="0"/>
              </a:spcAft>
              <a:buBlip>
                <a:blip r:embed="rId2"/>
              </a:buBlip>
              <a:tabLst/>
              <a:defRPr/>
            </a:pPr>
            <a:r>
              <a:rPr lang="en-GB" sz="900" kern="0" spc="-10" dirty="0">
                <a:solidFill>
                  <a:srgbClr val="1D1D1D"/>
                </a:solidFill>
                <a:latin typeface="Arial" pitchFamily="34" charset="0"/>
                <a:ea typeface="Lato"/>
                <a:cs typeface="Lato"/>
              </a:rPr>
              <a:t>Strengthen new organization model and operating interfaces, </a:t>
            </a:r>
            <a:r>
              <a:rPr lang="en-US" sz="900" kern="0" spc="-10" dirty="0">
                <a:solidFill>
                  <a:srgbClr val="1D1D1D"/>
                </a:solidFill>
                <a:latin typeface="Arial" pitchFamily="34" charset="0"/>
                <a:ea typeface="Lato"/>
                <a:cs typeface="Lato"/>
              </a:rPr>
              <a:t>clarify decision rights and align objectives &amp; incentives</a:t>
            </a:r>
          </a:p>
          <a:p>
            <a:pPr marL="171450" marR="0" lvl="0" indent="-171450" fontAlgn="auto">
              <a:lnSpc>
                <a:spcPct val="100000"/>
              </a:lnSpc>
              <a:spcBef>
                <a:spcPts val="0"/>
              </a:spcBef>
              <a:spcAft>
                <a:spcPts val="0"/>
              </a:spcAft>
              <a:buBlip>
                <a:blip r:embed="rId2"/>
              </a:buBlip>
              <a:tabLst/>
              <a:defRPr/>
            </a:pPr>
            <a:r>
              <a:rPr lang="en-US" sz="900" kern="0" spc="-10" dirty="0">
                <a:solidFill>
                  <a:srgbClr val="1D1D1D"/>
                </a:solidFill>
                <a:latin typeface="Arial" pitchFamily="34" charset="0"/>
                <a:ea typeface="Lato"/>
                <a:cs typeface="Lato"/>
              </a:rPr>
              <a:t>Define strategy deployment plan, align and mobilize leadership team and communicate to </a:t>
            </a: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organization </a:t>
            </a:r>
            <a:endPar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sp>
        <p:nvSpPr>
          <p:cNvPr id="32" name="Google Shape;70;p3">
            <a:extLst>
              <a:ext uri="{FF2B5EF4-FFF2-40B4-BE49-F238E27FC236}">
                <a16:creationId xmlns:a16="http://schemas.microsoft.com/office/drawing/2014/main" id="{574D5465-94C2-8F18-AA68-2A1B328721DE}"/>
              </a:ext>
            </a:extLst>
          </p:cNvPr>
          <p:cNvSpPr txBox="1"/>
          <p:nvPr/>
        </p:nvSpPr>
        <p:spPr>
          <a:xfrm>
            <a:off x="2931051" y="555635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33" name="Google Shape;71;p3">
            <a:extLst>
              <a:ext uri="{FF2B5EF4-FFF2-40B4-BE49-F238E27FC236}">
                <a16:creationId xmlns:a16="http://schemas.microsoft.com/office/drawing/2014/main" id="{FA1509D5-8F25-EF1B-4C75-ACDF4A695045}"/>
              </a:ext>
            </a:extLst>
          </p:cNvPr>
          <p:cNvSpPr txBox="1"/>
          <p:nvPr/>
        </p:nvSpPr>
        <p:spPr>
          <a:xfrm>
            <a:off x="3046827" y="537326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34" name="TextBox 33">
            <a:extLst>
              <a:ext uri="{FF2B5EF4-FFF2-40B4-BE49-F238E27FC236}">
                <a16:creationId xmlns:a16="http://schemas.microsoft.com/office/drawing/2014/main" id="{A8DF68C7-6D9A-BBD9-ED8D-45CF00497002}"/>
              </a:ext>
            </a:extLst>
          </p:cNvPr>
          <p:cNvSpPr txBox="1"/>
          <p:nvPr/>
        </p:nvSpPr>
        <p:spPr>
          <a:xfrm>
            <a:off x="852555" y="4081138"/>
            <a:ext cx="1279046"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chemeClr val="accent6"/>
                </a:solidFill>
                <a:latin typeface="Arial" pitchFamily="34" charset="0"/>
              </a:rPr>
              <a:t>5</a:t>
            </a:r>
            <a:r>
              <a:rPr kumimoji="0" lang="en-US" sz="3600" b="0" i="0" u="none" strike="noStrike" kern="0" cap="none" spc="-10" normalizeH="0" baseline="0" noProof="0" dirty="0">
                <a:ln>
                  <a:noFill/>
                </a:ln>
                <a:solidFill>
                  <a:schemeClr val="accent6"/>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REVENUE</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5" name="TextBox 34">
            <a:extLst>
              <a:ext uri="{FF2B5EF4-FFF2-40B4-BE49-F238E27FC236}">
                <a16:creationId xmlns:a16="http://schemas.microsoft.com/office/drawing/2014/main" id="{2E0C98DC-94B0-C528-097E-B7890BB4C583}"/>
              </a:ext>
            </a:extLst>
          </p:cNvPr>
          <p:cNvSpPr txBox="1"/>
          <p:nvPr/>
        </p:nvSpPr>
        <p:spPr>
          <a:xfrm>
            <a:off x="826782" y="5216213"/>
            <a:ext cx="1480059"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chemeClr val="accent4"/>
                </a:solidFill>
                <a:latin typeface="Arial" pitchFamily="34" charset="0"/>
              </a:rPr>
              <a:t>2</a:t>
            </a:r>
            <a:r>
              <a:rPr kumimoji="0" lang="en-US" sz="3600" b="0" i="0" u="none" strike="noStrike" kern="0" cap="none" spc="-10" normalizeH="0" baseline="0" noProof="0" dirty="0">
                <a:ln>
                  <a:noFill/>
                </a:ln>
                <a:solidFill>
                  <a:schemeClr val="accent4"/>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EBIDTA</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6" name="Rounded Rectangle 35">
            <a:extLst>
              <a:ext uri="{FF2B5EF4-FFF2-40B4-BE49-F238E27FC236}">
                <a16:creationId xmlns:a16="http://schemas.microsoft.com/office/drawing/2014/main" id="{6A6B7BDF-5EC9-DCC5-087B-4569BCED3452}"/>
              </a:ext>
            </a:extLst>
          </p:cNvPr>
          <p:cNvSpPr/>
          <p:nvPr/>
        </p:nvSpPr>
        <p:spPr>
          <a:xfrm>
            <a:off x="824426" y="3870312"/>
            <a:ext cx="866254" cy="24872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dirty="0">
                <a:ln>
                  <a:noFill/>
                </a:ln>
                <a:solidFill>
                  <a:schemeClr val="tx2"/>
                </a:solidFill>
                <a:effectLst/>
                <a:uLnTx/>
                <a:uFillTx/>
                <a:latin typeface="Arial" pitchFamily="34" charset="0"/>
                <a:ea typeface="+mn-ea"/>
                <a:cs typeface="+mn-cs"/>
              </a:rPr>
              <a:t>BY 2028</a:t>
            </a:r>
            <a:endParaRPr kumimoji="0" lang="en-GB" sz="1200" b="0" i="0" u="none" strike="noStrike" kern="0" cap="none" spc="-10" normalizeH="0" baseline="30000" noProof="0" dirty="0">
              <a:ln>
                <a:noFill/>
              </a:ln>
              <a:solidFill>
                <a:schemeClr val="tx2"/>
              </a:solidFill>
              <a:effectLst/>
              <a:uLnTx/>
              <a:uFillTx/>
              <a:latin typeface="Arial" pitchFamily="34" charset="0"/>
              <a:ea typeface="+mn-ea"/>
              <a:cs typeface="+mn-cs"/>
            </a:endParaRPr>
          </a:p>
        </p:txBody>
      </p:sp>
      <p:cxnSp>
        <p:nvCxnSpPr>
          <p:cNvPr id="37" name="Straight Connector 36">
            <a:extLst>
              <a:ext uri="{FF2B5EF4-FFF2-40B4-BE49-F238E27FC236}">
                <a16:creationId xmlns:a16="http://schemas.microsoft.com/office/drawing/2014/main" id="{82292F99-A063-9F50-F6D2-4A462D61336F}"/>
              </a:ext>
            </a:extLst>
          </p:cNvPr>
          <p:cNvCxnSpPr>
            <a:cxnSpLocks/>
          </p:cNvCxnSpPr>
          <p:nvPr/>
        </p:nvCxnSpPr>
        <p:spPr>
          <a:xfrm flipH="1">
            <a:off x="824426" y="5177958"/>
            <a:ext cx="1482415" cy="0"/>
          </a:xfrm>
          <a:prstGeom prst="line">
            <a:avLst/>
          </a:prstGeom>
          <a:ln>
            <a:solidFill>
              <a:srgbClr val="281A42"/>
            </a:solidFill>
            <a:headEnd type="none" w="lg" len="med"/>
          </a:ln>
        </p:spPr>
        <p:style>
          <a:lnRef idx="1">
            <a:schemeClr val="accent1"/>
          </a:lnRef>
          <a:fillRef idx="0">
            <a:schemeClr val="accent1"/>
          </a:fillRef>
          <a:effectRef idx="0">
            <a:schemeClr val="accent1"/>
          </a:effectRef>
          <a:fontRef idx="minor">
            <a:schemeClr val="tx1"/>
          </a:fontRef>
        </p:style>
      </p:cxnSp>
      <p:grpSp>
        <p:nvGrpSpPr>
          <p:cNvPr id="38" name="Google Shape;195;p5">
            <a:extLst>
              <a:ext uri="{FF2B5EF4-FFF2-40B4-BE49-F238E27FC236}">
                <a16:creationId xmlns:a16="http://schemas.microsoft.com/office/drawing/2014/main" id="{4A507916-1630-D529-19C0-3FEF9D889E70}"/>
              </a:ext>
            </a:extLst>
          </p:cNvPr>
          <p:cNvGrpSpPr>
            <a:grpSpLocks noChangeAspect="1"/>
          </p:cNvGrpSpPr>
          <p:nvPr/>
        </p:nvGrpSpPr>
        <p:grpSpPr>
          <a:xfrm>
            <a:off x="9020984" y="3939458"/>
            <a:ext cx="2033060" cy="2160000"/>
            <a:chOff x="501276" y="-6468"/>
            <a:chExt cx="3521559" cy="3741437"/>
          </a:xfrm>
        </p:grpSpPr>
        <p:grpSp>
          <p:nvGrpSpPr>
            <p:cNvPr id="39" name="Google Shape;196;p5">
              <a:extLst>
                <a:ext uri="{FF2B5EF4-FFF2-40B4-BE49-F238E27FC236}">
                  <a16:creationId xmlns:a16="http://schemas.microsoft.com/office/drawing/2014/main" id="{B325303C-DCC5-52E3-9DC0-27787652D9A7}"/>
                </a:ext>
              </a:extLst>
            </p:cNvPr>
            <p:cNvGrpSpPr/>
            <p:nvPr/>
          </p:nvGrpSpPr>
          <p:grpSpPr>
            <a:xfrm>
              <a:off x="719169" y="448534"/>
              <a:ext cx="3239749" cy="2539768"/>
              <a:chOff x="-341400" y="0"/>
              <a:chExt cx="3239746" cy="2539768"/>
            </a:xfrm>
          </p:grpSpPr>
          <p:sp>
            <p:nvSpPr>
              <p:cNvPr id="46" name="Google Shape;197;p5">
                <a:extLst>
                  <a:ext uri="{FF2B5EF4-FFF2-40B4-BE49-F238E27FC236}">
                    <a16:creationId xmlns:a16="http://schemas.microsoft.com/office/drawing/2014/main" id="{0330F5AF-556F-9D1D-3651-9FBA5916451E}"/>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7" name="Google Shape;198;p5">
                <a:extLst>
                  <a:ext uri="{FF2B5EF4-FFF2-40B4-BE49-F238E27FC236}">
                    <a16:creationId xmlns:a16="http://schemas.microsoft.com/office/drawing/2014/main" id="{BAE22DDF-4343-FB0C-0FAE-577861E1B084}"/>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30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8" name="Google Shape;199;p5">
                <a:extLst>
                  <a:ext uri="{FF2B5EF4-FFF2-40B4-BE49-F238E27FC236}">
                    <a16:creationId xmlns:a16="http://schemas.microsoft.com/office/drawing/2014/main" id="{FAA2E27F-2DFC-F4DC-D2F6-91DE6DBEF7A1}"/>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40" name="Google Shape;200;p5">
              <a:extLst>
                <a:ext uri="{FF2B5EF4-FFF2-40B4-BE49-F238E27FC236}">
                  <a16:creationId xmlns:a16="http://schemas.microsoft.com/office/drawing/2014/main" id="{A8776B37-83F5-8379-CD18-4A72DA976DB3}"/>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1" name="Google Shape;201;p5">
              <a:extLst>
                <a:ext uri="{FF2B5EF4-FFF2-40B4-BE49-F238E27FC236}">
                  <a16:creationId xmlns:a16="http://schemas.microsoft.com/office/drawing/2014/main" id="{C3E0F2D9-9522-AB3C-EA94-F70D3179C88D}"/>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2" name="Google Shape;202;p5">
              <a:extLst>
                <a:ext uri="{FF2B5EF4-FFF2-40B4-BE49-F238E27FC236}">
                  <a16:creationId xmlns:a16="http://schemas.microsoft.com/office/drawing/2014/main" id="{2F001862-EA94-8297-7BA4-566C369776A9}"/>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43" name="Google Shape;203;p5">
              <a:extLst>
                <a:ext uri="{FF2B5EF4-FFF2-40B4-BE49-F238E27FC236}">
                  <a16:creationId xmlns:a16="http://schemas.microsoft.com/office/drawing/2014/main" id="{5F56B6D6-A527-DF94-189C-C897BF63EA12}"/>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4" name="Google Shape;204;p5">
              <a:extLst>
                <a:ext uri="{FF2B5EF4-FFF2-40B4-BE49-F238E27FC236}">
                  <a16:creationId xmlns:a16="http://schemas.microsoft.com/office/drawing/2014/main" id="{2FFB53DB-9DF5-BBCA-28E6-ECB0354E63FF}"/>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5" name="Google Shape;205;p5">
              <a:extLst>
                <a:ext uri="{FF2B5EF4-FFF2-40B4-BE49-F238E27FC236}">
                  <a16:creationId xmlns:a16="http://schemas.microsoft.com/office/drawing/2014/main" id="{97AF095F-6D7E-E742-E6F4-957E6384AEC2}"/>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49" name="Google Shape;61;p3">
            <a:extLst>
              <a:ext uri="{FF2B5EF4-FFF2-40B4-BE49-F238E27FC236}">
                <a16:creationId xmlns:a16="http://schemas.microsoft.com/office/drawing/2014/main" id="{EEF8A119-8680-9303-9111-0BCB98623A37}"/>
              </a:ext>
            </a:extLst>
          </p:cNvPr>
          <p:cNvSpPr txBox="1"/>
          <p:nvPr/>
        </p:nvSpPr>
        <p:spPr>
          <a:xfrm>
            <a:off x="8590172" y="3667273"/>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a:t>
            </a:r>
            <a:endParaRPr kumimoji="0" lang="en-US" sz="12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sp>
        <p:nvSpPr>
          <p:cNvPr id="50" name="TextBox 49">
            <a:extLst>
              <a:ext uri="{FF2B5EF4-FFF2-40B4-BE49-F238E27FC236}">
                <a16:creationId xmlns:a16="http://schemas.microsoft.com/office/drawing/2014/main" id="{4A531D7E-56B2-C0A5-3840-9103D0C6B22E}"/>
              </a:ext>
            </a:extLst>
          </p:cNvPr>
          <p:cNvSpPr txBox="1"/>
          <p:nvPr/>
        </p:nvSpPr>
        <p:spPr>
          <a:xfrm>
            <a:off x="8920977" y="6079224"/>
            <a:ext cx="2233075" cy="230832"/>
          </a:xfrm>
          <a:prstGeom prst="rect">
            <a:avLst/>
          </a:prstGeom>
          <a:noFill/>
        </p:spPr>
        <p:txBody>
          <a:bodyPr wrap="square" lIns="91440" tIns="45720" rIns="91440" bIns="45720">
            <a:spAutoFit/>
          </a:bodyPr>
          <a:lstStyle/>
          <a:p>
            <a:pPr algn="ctr" rtl="0">
              <a:defRPr/>
            </a:pPr>
            <a:r>
              <a:rPr lang="en-US" sz="900" i="1" kern="1200" spc="-10" dirty="0">
                <a:solidFill>
                  <a:srgbClr val="1D1D1D">
                    <a:lumMod val="85000"/>
                    <a:lumOff val="15000"/>
                  </a:srgbClr>
                </a:solidFill>
                <a:latin typeface="Arial" pitchFamily="34" charset="0"/>
                <a:ea typeface="Calibri" panose="020F0502020204030204" pitchFamily="34" charset="0"/>
                <a:cs typeface="Calibri" panose="020F0502020204030204" pitchFamily="34" charset="0"/>
                <a:sym typeface="Arial"/>
              </a:rPr>
              <a:t>Medium forecast of value delivery</a:t>
            </a:r>
          </a:p>
        </p:txBody>
      </p:sp>
      <p:sp>
        <p:nvSpPr>
          <p:cNvPr id="51" name="Google Shape;69;p3">
            <a:extLst>
              <a:ext uri="{FF2B5EF4-FFF2-40B4-BE49-F238E27FC236}">
                <a16:creationId xmlns:a16="http://schemas.microsoft.com/office/drawing/2014/main" id="{04C328BA-7C61-72BF-97D8-4721726604C2}"/>
              </a:ext>
            </a:extLst>
          </p:cNvPr>
          <p:cNvSpPr txBox="1">
            <a:spLocks/>
          </p:cNvSpPr>
          <p:nvPr/>
        </p:nvSpPr>
        <p:spPr>
          <a:xfrm>
            <a:off x="3788022" y="1105337"/>
            <a:ext cx="4362064" cy="846386"/>
          </a:xfrm>
          <a:prstGeom prst="rect">
            <a:avLst/>
          </a:prstGeom>
          <a:noFill/>
          <a:ln>
            <a:noFill/>
          </a:ln>
        </p:spPr>
        <p:txBody>
          <a:bodyPr spcFirstLastPara="1" wrap="square" lIns="0" tIns="0" rIns="0" bIns="0" anchor="ctr" anchorCtr="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n-US" sz="1000" kern="0" spc="-10">
                <a:solidFill>
                  <a:schemeClr val="accent1"/>
                </a:solidFill>
                <a:latin typeface="Arial" pitchFamily="34" charset="0"/>
                <a:ea typeface="Lato" panose="020F0502020204030203" pitchFamily="34" charset="0"/>
                <a:cs typeface="Lato" panose="020F0502020204030203" pitchFamily="34" charset="0"/>
              </a:rPr>
              <a:t>Protect Core While Enhancing Productivity </a:t>
            </a:r>
          </a:p>
          <a:p>
            <a:pPr marL="171450" indent="-171450">
              <a:lnSpc>
                <a:spcPct val="100000"/>
              </a:lnSpc>
              <a:spcBef>
                <a:spcPts val="0"/>
              </a:spcBef>
              <a:buFont typeface="Arial" panose="020B0706020202030204" pitchFamily="34" charset="0"/>
              <a:buBlip>
                <a:blip r:embed="rId2"/>
              </a:buBlip>
              <a:defRPr/>
            </a:pPr>
            <a:r>
              <a:rPr lang="en-US" sz="900" kern="0" spc="-10">
                <a:solidFill>
                  <a:srgbClr val="1D1D1D"/>
                </a:solidFill>
                <a:latin typeface="Arial" pitchFamily="34" charset="0"/>
                <a:ea typeface="Lato"/>
                <a:cs typeface="Lato"/>
              </a:rPr>
              <a:t>Strategic owner for delivering incremental revenue, through Asset Development, feedstock optimization, building materials, project implementation to protect market position &amp; financials</a:t>
            </a:r>
          </a:p>
          <a:p>
            <a:pPr marL="171450" indent="-171450">
              <a:lnSpc>
                <a:spcPct val="100000"/>
              </a:lnSpc>
              <a:spcBef>
                <a:spcPts val="0"/>
              </a:spcBef>
              <a:buFont typeface="Arial" panose="020B0706020202030204" pitchFamily="34" charset="0"/>
              <a:buBlip>
                <a:blip r:embed="rId2"/>
              </a:buBlip>
              <a:defRPr/>
            </a:pPr>
            <a:r>
              <a:rPr lang="en-US" sz="900" kern="0" spc="-10">
                <a:solidFill>
                  <a:srgbClr val="1D1D1D"/>
                </a:solidFill>
                <a:latin typeface="Arial" pitchFamily="34" charset="0"/>
                <a:ea typeface="Lato"/>
                <a:cs typeface="Lato"/>
              </a:rPr>
              <a:t>Extract cost/productivity synergies from Digital Transformation programs (Smart Mfg., IOT, AI) to generate fuel for growth optimization</a:t>
            </a:r>
            <a:endParaRPr lang="en-US" sz="900" kern="0" spc="-10" dirty="0">
              <a:solidFill>
                <a:srgbClr val="1D1D1D"/>
              </a:solidFill>
              <a:latin typeface="Arial" pitchFamily="34" charset="0"/>
              <a:ea typeface="Lato"/>
              <a:cs typeface="Lato"/>
            </a:endParaRPr>
          </a:p>
        </p:txBody>
      </p:sp>
      <p:sp>
        <p:nvSpPr>
          <p:cNvPr id="52" name="TextBox 51">
            <a:extLst>
              <a:ext uri="{FF2B5EF4-FFF2-40B4-BE49-F238E27FC236}">
                <a16:creationId xmlns:a16="http://schemas.microsoft.com/office/drawing/2014/main" id="{06697793-B09D-5379-E71B-CCCD4ACEF89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688857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9131BC-E543-C8C1-D758-3B6CC27DD0ED}"/>
              </a:ext>
            </a:extLst>
          </p:cNvPr>
          <p:cNvSpPr>
            <a:spLocks noGrp="1"/>
          </p:cNvSpPr>
          <p:nvPr>
            <p:ph type="sldNum" sz="quarter" idx="4"/>
          </p:nvPr>
        </p:nvSpPr>
        <p:spPr/>
        <p:txBody>
          <a:bodyPr/>
          <a:lstStyle/>
          <a:p>
            <a:pPr algn="ctr"/>
            <a:fld id="{1875A764-3B06-454E-8ABA-2F6ED0EB58E9}" type="slidenum">
              <a:rPr lang="en-US" smtClean="0"/>
              <a:t>15</a:t>
            </a:fld>
            <a:endParaRPr lang="en-US"/>
          </a:p>
        </p:txBody>
      </p:sp>
      <p:sp>
        <p:nvSpPr>
          <p:cNvPr id="3" name="Title 2">
            <a:extLst>
              <a:ext uri="{FF2B5EF4-FFF2-40B4-BE49-F238E27FC236}">
                <a16:creationId xmlns:a16="http://schemas.microsoft.com/office/drawing/2014/main" id="{61647DD2-FC8D-6874-8E80-A3479A93C65B}"/>
              </a:ext>
            </a:extLst>
          </p:cNvPr>
          <p:cNvSpPr>
            <a:spLocks noGrp="1"/>
          </p:cNvSpPr>
          <p:nvPr>
            <p:ph type="title"/>
          </p:nvPr>
        </p:nvSpPr>
        <p:spPr/>
        <p:txBody>
          <a:bodyPr/>
          <a:lstStyle/>
          <a:p>
            <a:r>
              <a:rPr lang="en-US" dirty="0"/>
              <a:t>CXO </a:t>
            </a:r>
            <a:r>
              <a:rPr lang="en-US" dirty="0">
                <a:solidFill>
                  <a:schemeClr val="accent1"/>
                </a:solidFill>
              </a:rPr>
              <a:t>Value Forecast</a:t>
            </a:r>
          </a:p>
        </p:txBody>
      </p:sp>
      <p:sp>
        <p:nvSpPr>
          <p:cNvPr id="4" name="Google Shape;103;p3">
            <a:extLst>
              <a:ext uri="{FF2B5EF4-FFF2-40B4-BE49-F238E27FC236}">
                <a16:creationId xmlns:a16="http://schemas.microsoft.com/office/drawing/2014/main" id="{3A33BF81-993E-AF55-0995-9C44453ACF32}"/>
              </a:ext>
            </a:extLst>
          </p:cNvPr>
          <p:cNvSpPr/>
          <p:nvPr/>
        </p:nvSpPr>
        <p:spPr>
          <a:xfrm>
            <a:off x="6096000" y="3643407"/>
            <a:ext cx="3608304" cy="2508959"/>
          </a:xfrm>
          <a:prstGeom prst="roundRect">
            <a:avLst>
              <a:gd name="adj" fmla="val 4596"/>
            </a:avLst>
          </a:prstGeom>
          <a:solidFill>
            <a:srgbClr val="00C27A"/>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solidFill>
                  <a:srgbClr val="FFFFFF"/>
                </a:solidFill>
              </a:defRPr>
            </a:pPr>
            <a:endParaRPr kumimoji="0" sz="2400" b="0" i="0" u="none" strike="noStrike" kern="0" cap="none" spc="-10" normalizeH="0" baseline="0" noProof="0" dirty="0">
              <a:ln>
                <a:noFill/>
              </a:ln>
              <a:solidFill>
                <a:srgbClr val="FFFFFF"/>
              </a:solidFill>
              <a:effectLst/>
              <a:uLnTx/>
              <a:uFillTx/>
              <a:latin typeface="Arial" pitchFamily="34" charset="0"/>
              <a:ea typeface="Lato"/>
              <a:cs typeface="Lato"/>
              <a:sym typeface="Lato"/>
            </a:endParaRPr>
          </a:p>
        </p:txBody>
      </p:sp>
      <p:sp>
        <p:nvSpPr>
          <p:cNvPr id="6" name="Google Shape;128;p4">
            <a:extLst>
              <a:ext uri="{FF2B5EF4-FFF2-40B4-BE49-F238E27FC236}">
                <a16:creationId xmlns:a16="http://schemas.microsoft.com/office/drawing/2014/main" id="{D10B69F6-3EDC-5F4F-5FF6-4434CC11D52B}"/>
              </a:ext>
            </a:extLst>
          </p:cNvPr>
          <p:cNvSpPr/>
          <p:nvPr/>
        </p:nvSpPr>
        <p:spPr>
          <a:xfrm>
            <a:off x="4251854" y="793396"/>
            <a:ext cx="7564753" cy="5428685"/>
          </a:xfrm>
          <a:prstGeom prst="roundRect">
            <a:avLst>
              <a:gd name="adj" fmla="val 267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 name="Google Shape;136;p4">
            <a:extLst>
              <a:ext uri="{FF2B5EF4-FFF2-40B4-BE49-F238E27FC236}">
                <a16:creationId xmlns:a16="http://schemas.microsoft.com/office/drawing/2014/main" id="{18A29FA2-F682-2288-EB40-6B0B2F40E687}"/>
              </a:ext>
            </a:extLst>
          </p:cNvPr>
          <p:cNvSpPr txBox="1"/>
          <p:nvPr/>
        </p:nvSpPr>
        <p:spPr>
          <a:xfrm>
            <a:off x="4445890" y="4218542"/>
            <a:ext cx="7208789" cy="1985139"/>
          </a:xfrm>
          <a:prstGeom prst="rect">
            <a:avLst/>
          </a:prstGeom>
          <a:noFill/>
          <a:ln>
            <a:noFill/>
          </a:ln>
        </p:spPr>
        <p:txBody>
          <a:bodyPr spcFirstLastPara="1" wrap="square" lIns="22850" tIns="22850" rIns="22850" bIns="22850" numCol="1" spcCol="180000" anchor="t" anchorCtr="0">
            <a:spAutoFit/>
          </a:bodyPr>
          <a:lstStyle/>
          <a:p>
            <a:pPr marL="142875" marR="0" lvl="0" indent="-142875" defTabSz="457200" fontAlgn="auto">
              <a:lnSpc>
                <a:spcPct val="100000"/>
              </a:lnSpc>
              <a:spcBef>
                <a:spcPts val="0"/>
              </a:spcBef>
              <a:spcAft>
                <a:spcPts val="0"/>
              </a:spcAft>
              <a:buBlip>
                <a:blip r:embed="rId2"/>
              </a:buBlip>
              <a:tabLst/>
              <a:defRPr/>
            </a:pPr>
            <a:r>
              <a:rPr kumimoji="0" lang="en-GB" sz="105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CXO has strong regional </a:t>
            </a:r>
            <a:r>
              <a:rPr lang="en-GB" sz="1050" kern="0" spc="-10" dirty="0">
                <a:solidFill>
                  <a:srgbClr val="1D1D1D"/>
                </a:solidFill>
                <a:latin typeface="Arial" pitchFamily="34" charset="0"/>
                <a:cs typeface="Calibri" panose="020F0502020204030204" pitchFamily="34" charset="0"/>
                <a:sym typeface="Arial"/>
              </a:rPr>
              <a:t>business experience with a solid operating track record. As a homegrown CEO and industry expert, he is well-regarded for his humility, empathy and ability to foster loyalty within the organization. Demonstrated learning agility in moving from operational to commercial roles, with support from strong mentor.</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Has created an Operating Model that positions him for success as Holdco CEO but needs a bi-focal focus on driving core performance and building future growth. This requires him to delegate responsibility while maintaining accountability to ensure effective execution and ensure balance between short-term performance and long-term expansion. </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Essential to have a more focused approach on fewer, prioritized strategic goals for greater impact. To do that, needs to enhance Board confidence by proactively detailing risk-aware investment &amp; growth opportunities</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Needs to complement his leadership team with global and M&amp;A experience to effectively communicate an exciting growth narrative and secure investor buy-in for deals and decarbonized products.</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May be perceived as "too nice," with a high affiliation style that can lead to avoidance of conflict and difficult conversations, particularly when needing to hold people to account </a:t>
            </a:r>
            <a:r>
              <a:rPr kumimoji="0" lang="en-GB" sz="105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for performance or making tough people decisions. </a:t>
            </a:r>
          </a:p>
        </p:txBody>
      </p:sp>
      <p:sp>
        <p:nvSpPr>
          <p:cNvPr id="8" name="Google Shape;136;p4">
            <a:extLst>
              <a:ext uri="{FF2B5EF4-FFF2-40B4-BE49-F238E27FC236}">
                <a16:creationId xmlns:a16="http://schemas.microsoft.com/office/drawing/2014/main" id="{DF22D51B-F18E-2C7B-EA3C-015D3314693A}"/>
              </a:ext>
            </a:extLst>
          </p:cNvPr>
          <p:cNvSpPr txBox="1"/>
          <p:nvPr/>
        </p:nvSpPr>
        <p:spPr>
          <a:xfrm>
            <a:off x="4443401" y="2146171"/>
            <a:ext cx="7203208" cy="1661973"/>
          </a:xfrm>
          <a:prstGeom prst="rect">
            <a:avLst/>
          </a:prstGeom>
          <a:noFill/>
          <a:ln>
            <a:noFill/>
          </a:ln>
        </p:spPr>
        <p:txBody>
          <a:bodyPr spcFirstLastPara="1" wrap="square" lIns="22850" tIns="22850" rIns="22850" bIns="22850" numCol="1" spcCol="180000" anchor="t" anchorCtr="0">
            <a:spAutoFit/>
          </a:bodyPr>
          <a:lstStyle/>
          <a:p>
            <a:pPr marL="142875" indent="-142875" defTabSz="457200">
              <a:buClrTx/>
              <a:buSzTx/>
              <a:buBlip>
                <a:blip r:embed="rId2"/>
              </a:buBlip>
              <a:defRPr/>
            </a:pPr>
            <a:r>
              <a:rPr kumimoji="0" lang="en-US" sz="1050" b="0" i="0" u="none" strike="noStrike" kern="0" cap="none" spc="-10" normalizeH="0" baseline="0" noProof="0" dirty="0">
                <a:ln>
                  <a:noFill/>
                </a:ln>
                <a:solidFill>
                  <a:srgbClr val="1D1D1D"/>
                </a:solidFill>
                <a:effectLst/>
                <a:uLnTx/>
                <a:uFillTx/>
                <a:latin typeface="Arial" pitchFamily="34" charset="0"/>
                <a:ea typeface="Lato"/>
                <a:cs typeface="Calibri"/>
                <a:sym typeface="Arial"/>
              </a:rPr>
              <a:t>The current </a:t>
            </a:r>
            <a:r>
              <a:rPr lang="en-US" sz="1050" kern="0" spc="-10" dirty="0">
                <a:solidFill>
                  <a:srgbClr val="1D1D1D"/>
                </a:solidFill>
                <a:latin typeface="Arial" pitchFamily="34" charset="0"/>
                <a:cs typeface="Calibri" panose="020F0502020204030204" pitchFamily="34" charset="0"/>
                <a:sym typeface="Arial"/>
              </a:rPr>
              <a:t>mandate is challenging due to lack of detail and stakeholder alignment in the new growth initiatives.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Role design supports the mandate, but capability gaps in growth areas create a significant risk, both in the organization and leadership.</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Operating model currently seems to prioritize functional needs over BU performance delivery, limiting effectiveness.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The Senior Leadership Team has some gaps (CEO BU 1). This requires him to step into operational details. </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In addition, there are insufficient capabilities in critical areas: M&amp;A, Corporate Finance, Investor Relations, Operations, S&amp;OP, Procurement, Sales, and BU Financial Controllers.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Existing culture of "business as usual" is resistant to change which creates siloed behavior and low accountability across levels.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Need to improve external communication </a:t>
            </a:r>
            <a:r>
              <a:rPr kumimoji="0" lang="en-US" sz="1050" b="0" i="0" u="none" strike="noStrike" kern="0" cap="none" spc="-10" normalizeH="0" baseline="0" noProof="0" dirty="0">
                <a:ln>
                  <a:noFill/>
                </a:ln>
                <a:solidFill>
                  <a:srgbClr val="1D1D1D"/>
                </a:solidFill>
                <a:effectLst/>
                <a:uLnTx/>
                <a:uFillTx/>
                <a:latin typeface="Arial" pitchFamily="34" charset="0"/>
                <a:ea typeface="Lato"/>
                <a:cs typeface="Calibri"/>
                <a:sym typeface="Arial"/>
              </a:rPr>
              <a:t>to effectively promote the growth story and attract investors.</a:t>
            </a:r>
          </a:p>
        </p:txBody>
      </p:sp>
      <p:cxnSp>
        <p:nvCxnSpPr>
          <p:cNvPr id="9" name="Google Shape;306;p6">
            <a:extLst>
              <a:ext uri="{FF2B5EF4-FFF2-40B4-BE49-F238E27FC236}">
                <a16:creationId xmlns:a16="http://schemas.microsoft.com/office/drawing/2014/main" id="{3609E132-56F5-2567-6408-98954E14BC77}"/>
              </a:ext>
            </a:extLst>
          </p:cNvPr>
          <p:cNvCxnSpPr>
            <a:cxnSpLocks/>
          </p:cNvCxnSpPr>
          <p:nvPr/>
        </p:nvCxnSpPr>
        <p:spPr>
          <a:xfrm>
            <a:off x="4445890" y="1838976"/>
            <a:ext cx="7040880" cy="0"/>
          </a:xfrm>
          <a:prstGeom prst="straightConnector1">
            <a:avLst/>
          </a:prstGeom>
          <a:noFill/>
          <a:ln w="12700" cap="flat" cmpd="sng">
            <a:solidFill>
              <a:schemeClr val="accent1"/>
            </a:solidFill>
            <a:prstDash val="solid"/>
            <a:miter lim="400000"/>
            <a:headEnd type="none" w="sm" len="sm"/>
            <a:tailEnd type="none" w="sm" len="sm"/>
          </a:ln>
        </p:spPr>
      </p:cxnSp>
      <p:cxnSp>
        <p:nvCxnSpPr>
          <p:cNvPr id="10" name="Google Shape;306;p6">
            <a:extLst>
              <a:ext uri="{FF2B5EF4-FFF2-40B4-BE49-F238E27FC236}">
                <a16:creationId xmlns:a16="http://schemas.microsoft.com/office/drawing/2014/main" id="{3A052CDD-1741-EA4A-E14E-602239B2F893}"/>
              </a:ext>
            </a:extLst>
          </p:cNvPr>
          <p:cNvCxnSpPr>
            <a:cxnSpLocks/>
          </p:cNvCxnSpPr>
          <p:nvPr/>
        </p:nvCxnSpPr>
        <p:spPr>
          <a:xfrm>
            <a:off x="4443401" y="3898237"/>
            <a:ext cx="7040880" cy="0"/>
          </a:xfrm>
          <a:prstGeom prst="straightConnector1">
            <a:avLst/>
          </a:prstGeom>
          <a:noFill/>
          <a:ln w="12700" cap="flat" cmpd="sng">
            <a:solidFill>
              <a:schemeClr val="accent1"/>
            </a:solidFill>
            <a:prstDash val="solid"/>
            <a:miter lim="400000"/>
            <a:headEnd type="none" w="sm" len="sm"/>
            <a:tailEnd type="none" w="sm" len="sm"/>
          </a:ln>
        </p:spPr>
      </p:cxnSp>
      <p:sp>
        <p:nvSpPr>
          <p:cNvPr id="11" name="TextBox 10">
            <a:extLst>
              <a:ext uri="{FF2B5EF4-FFF2-40B4-BE49-F238E27FC236}">
                <a16:creationId xmlns:a16="http://schemas.microsoft.com/office/drawing/2014/main" id="{27E540B3-5744-021C-EEC8-7A9353A0CEA8}"/>
              </a:ext>
            </a:extLst>
          </p:cNvPr>
          <p:cNvSpPr txBox="1"/>
          <p:nvPr/>
        </p:nvSpPr>
        <p:spPr>
          <a:xfrm>
            <a:off x="4499638" y="1949308"/>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IS THE ROLE/ORGANIZATION DESIGNED TO ENABLE VALUE DELIVERY?</a:t>
            </a:r>
          </a:p>
        </p:txBody>
      </p:sp>
      <p:sp>
        <p:nvSpPr>
          <p:cNvPr id="12" name="TextBox 11">
            <a:extLst>
              <a:ext uri="{FF2B5EF4-FFF2-40B4-BE49-F238E27FC236}">
                <a16:creationId xmlns:a16="http://schemas.microsoft.com/office/drawing/2014/main" id="{9CC63FBE-41C7-6DA7-2EF0-B2C43C6E0477}"/>
              </a:ext>
            </a:extLst>
          </p:cNvPr>
          <p:cNvSpPr txBox="1"/>
          <p:nvPr/>
        </p:nvSpPr>
        <p:spPr>
          <a:xfrm>
            <a:off x="4499638" y="4002904"/>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TALENT</a:t>
            </a:r>
          </a:p>
        </p:txBody>
      </p:sp>
      <p:sp>
        <p:nvSpPr>
          <p:cNvPr id="13" name="Google Shape;103;p3">
            <a:extLst>
              <a:ext uri="{FF2B5EF4-FFF2-40B4-BE49-F238E27FC236}">
                <a16:creationId xmlns:a16="http://schemas.microsoft.com/office/drawing/2014/main" id="{DE30CF66-4E09-C1C5-A84B-56C80D56D707}"/>
              </a:ext>
            </a:extLst>
          </p:cNvPr>
          <p:cNvSpPr/>
          <p:nvPr/>
        </p:nvSpPr>
        <p:spPr>
          <a:xfrm>
            <a:off x="537321" y="2444676"/>
            <a:ext cx="3608304" cy="2175790"/>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4" name="Google Shape;103;p3">
            <a:extLst>
              <a:ext uri="{FF2B5EF4-FFF2-40B4-BE49-F238E27FC236}">
                <a16:creationId xmlns:a16="http://schemas.microsoft.com/office/drawing/2014/main" id="{4AA89EF0-9091-ED9E-75B9-A5EACC1727F7}"/>
              </a:ext>
            </a:extLst>
          </p:cNvPr>
          <p:cNvSpPr/>
          <p:nvPr/>
        </p:nvSpPr>
        <p:spPr>
          <a:xfrm>
            <a:off x="537321" y="4684910"/>
            <a:ext cx="3608304" cy="153717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5" name="Google Shape;103;p3">
            <a:extLst>
              <a:ext uri="{FF2B5EF4-FFF2-40B4-BE49-F238E27FC236}">
                <a16:creationId xmlns:a16="http://schemas.microsoft.com/office/drawing/2014/main" id="{21A01DB6-073A-D3AB-DFFE-352E77C3EC1F}"/>
              </a:ext>
            </a:extLst>
          </p:cNvPr>
          <p:cNvSpPr/>
          <p:nvPr/>
        </p:nvSpPr>
        <p:spPr>
          <a:xfrm>
            <a:off x="537321" y="793396"/>
            <a:ext cx="3608304" cy="158471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grpSp>
        <p:nvGrpSpPr>
          <p:cNvPr id="16" name="Google Shape;105;p3">
            <a:extLst>
              <a:ext uri="{FF2B5EF4-FFF2-40B4-BE49-F238E27FC236}">
                <a16:creationId xmlns:a16="http://schemas.microsoft.com/office/drawing/2014/main" id="{F0FBCF56-282C-C2D5-1A3F-E5ED9109C57C}"/>
              </a:ext>
            </a:extLst>
          </p:cNvPr>
          <p:cNvGrpSpPr>
            <a:grpSpLocks noChangeAspect="1"/>
          </p:cNvGrpSpPr>
          <p:nvPr/>
        </p:nvGrpSpPr>
        <p:grpSpPr>
          <a:xfrm>
            <a:off x="623253" y="1164250"/>
            <a:ext cx="1084298" cy="1152000"/>
            <a:chOff x="501280" y="-6468"/>
            <a:chExt cx="3521557" cy="3741440"/>
          </a:xfrm>
        </p:grpSpPr>
        <p:grpSp>
          <p:nvGrpSpPr>
            <p:cNvPr id="17" name="Google Shape;106;p3">
              <a:extLst>
                <a:ext uri="{FF2B5EF4-FFF2-40B4-BE49-F238E27FC236}">
                  <a16:creationId xmlns:a16="http://schemas.microsoft.com/office/drawing/2014/main" id="{8DF45407-F666-E9F4-37EC-9D05498E1F9B}"/>
                </a:ext>
              </a:extLst>
            </p:cNvPr>
            <p:cNvGrpSpPr/>
            <p:nvPr/>
          </p:nvGrpSpPr>
          <p:grpSpPr>
            <a:xfrm>
              <a:off x="1060570" y="448533"/>
              <a:ext cx="2539764" cy="2539769"/>
              <a:chOff x="0" y="0"/>
              <a:chExt cx="2539762" cy="2539768"/>
            </a:xfrm>
          </p:grpSpPr>
          <p:sp>
            <p:nvSpPr>
              <p:cNvPr id="24" name="Google Shape;107;p3">
                <a:extLst>
                  <a:ext uri="{FF2B5EF4-FFF2-40B4-BE49-F238E27FC236}">
                    <a16:creationId xmlns:a16="http://schemas.microsoft.com/office/drawing/2014/main" id="{6E70FCD2-4FF3-34A3-6AFF-28C2E86BB4F1}"/>
                  </a:ext>
                </a:extLst>
              </p:cNvPr>
              <p:cNvSpPr/>
              <p:nvPr/>
            </p:nvSpPr>
            <p:spPr>
              <a:xfrm>
                <a:off x="0"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5" name="Google Shape;108;p3">
                <a:extLst>
                  <a:ext uri="{FF2B5EF4-FFF2-40B4-BE49-F238E27FC236}">
                    <a16:creationId xmlns:a16="http://schemas.microsoft.com/office/drawing/2014/main" id="{8E64DC7F-2655-0015-9055-B5B58EF47304}"/>
                  </a:ext>
                </a:extLst>
              </p:cNvPr>
              <p:cNvSpPr txBox="1"/>
              <p:nvPr/>
            </p:nvSpPr>
            <p:spPr>
              <a:xfrm>
                <a:off x="275567" y="480774"/>
                <a:ext cx="2031837" cy="1157609"/>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22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2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6" name="Google Shape;109;p3">
                <a:extLst>
                  <a:ext uri="{FF2B5EF4-FFF2-40B4-BE49-F238E27FC236}">
                    <a16:creationId xmlns:a16="http://schemas.microsoft.com/office/drawing/2014/main" id="{6D40EABD-D80F-0EBA-57B1-55C0F7EE4DFB}"/>
                  </a:ext>
                </a:extLst>
              </p:cNvPr>
              <p:cNvSpPr/>
              <p:nvPr/>
            </p:nvSpPr>
            <p:spPr>
              <a:xfrm>
                <a:off x="112893" y="1517176"/>
                <a:ext cx="2393317" cy="49972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8" name="Google Shape;110;p3">
              <a:extLst>
                <a:ext uri="{FF2B5EF4-FFF2-40B4-BE49-F238E27FC236}">
                  <a16:creationId xmlns:a16="http://schemas.microsoft.com/office/drawing/2014/main" id="{65B2F1AC-E0FA-0D27-1991-FDEE944C9AAA}"/>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9" name="Google Shape;111;p3">
              <a:extLst>
                <a:ext uri="{FF2B5EF4-FFF2-40B4-BE49-F238E27FC236}">
                  <a16:creationId xmlns:a16="http://schemas.microsoft.com/office/drawing/2014/main" id="{A162C465-4B8E-FFCE-1B97-5206F5E4E119}"/>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0" name="Google Shape;112;p3">
              <a:extLst>
                <a:ext uri="{FF2B5EF4-FFF2-40B4-BE49-F238E27FC236}">
                  <a16:creationId xmlns:a16="http://schemas.microsoft.com/office/drawing/2014/main" id="{8967A1D0-7C79-55EF-030B-0A85AEA5D1CD}"/>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1" name="Google Shape;113;p3">
              <a:extLst>
                <a:ext uri="{FF2B5EF4-FFF2-40B4-BE49-F238E27FC236}">
                  <a16:creationId xmlns:a16="http://schemas.microsoft.com/office/drawing/2014/main" id="{261DEC94-50FF-90F9-1D2C-A9AA2AB903E5}"/>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2" name="Google Shape;114;p3">
              <a:extLst>
                <a:ext uri="{FF2B5EF4-FFF2-40B4-BE49-F238E27FC236}">
                  <a16:creationId xmlns:a16="http://schemas.microsoft.com/office/drawing/2014/main" id="{43488D7A-5029-7517-6E01-132F8E1CC741}"/>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3" name="Google Shape;115;p3">
              <a:extLst>
                <a:ext uri="{FF2B5EF4-FFF2-40B4-BE49-F238E27FC236}">
                  <a16:creationId xmlns:a16="http://schemas.microsoft.com/office/drawing/2014/main" id="{57D0EEDC-EDCE-44AD-023D-D74ADD0575A0}"/>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10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7" name="Google Shape;121;p3">
            <a:extLst>
              <a:ext uri="{FF2B5EF4-FFF2-40B4-BE49-F238E27FC236}">
                <a16:creationId xmlns:a16="http://schemas.microsoft.com/office/drawing/2014/main" id="{B7E16898-5D70-59BE-B569-BF86A1F27581}"/>
              </a:ext>
            </a:extLst>
          </p:cNvPr>
          <p:cNvSpPr txBox="1"/>
          <p:nvPr/>
        </p:nvSpPr>
        <p:spPr>
          <a:xfrm>
            <a:off x="687345" y="871822"/>
            <a:ext cx="110503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281A42"/>
                </a:solidFill>
                <a:effectLst/>
                <a:uLnTx/>
                <a:uFillTx/>
                <a:latin typeface="Segoe UI" pitchFamily="34" charset="0"/>
                <a:ea typeface="Lato"/>
                <a:cs typeface="Lato"/>
                <a:sym typeface="Lato"/>
              </a:rPr>
              <a:t>Click </a:t>
            </a:r>
            <a:r>
              <a:rPr kumimoji="0" lang="en-US" sz="1200" b="1" i="0" u="none" strike="noStrike" kern="0" cap="none" spc="-25" normalizeH="0" baseline="0" noProof="0" dirty="0">
                <a:ln>
                  <a:noFill/>
                </a:ln>
                <a:solidFill>
                  <a:srgbClr val="281A42"/>
                </a:solidFill>
                <a:effectLst/>
                <a:uLnTx/>
                <a:uFillTx/>
                <a:latin typeface="Segoe UI" pitchFamily="34" charset="0"/>
                <a:ea typeface="Lato Light"/>
                <a:cs typeface="Lato Light"/>
                <a:sym typeface="Lato Light"/>
              </a:rPr>
              <a:t>Score</a:t>
            </a:r>
            <a:endParaRPr kumimoji="0" lang="en-US" sz="1200" b="1" i="0" u="none" strike="noStrike" kern="0" cap="none" spc="-25" normalizeH="0" baseline="0" noProof="0" dirty="0">
              <a:ln>
                <a:noFill/>
              </a:ln>
              <a:solidFill>
                <a:srgbClr val="281A42"/>
              </a:solidFill>
              <a:effectLst/>
              <a:uLnTx/>
              <a:uFillTx/>
              <a:latin typeface="Segoe UI" pitchFamily="34" charset="0"/>
              <a:ea typeface="+mn-ea"/>
              <a:cs typeface="Arial"/>
              <a:sym typeface="Arial"/>
            </a:endParaRPr>
          </a:p>
        </p:txBody>
      </p:sp>
      <p:grpSp>
        <p:nvGrpSpPr>
          <p:cNvPr id="28" name="Group 27">
            <a:extLst>
              <a:ext uri="{FF2B5EF4-FFF2-40B4-BE49-F238E27FC236}">
                <a16:creationId xmlns:a16="http://schemas.microsoft.com/office/drawing/2014/main" id="{978ABC98-C610-9D8B-4772-3207D41E9E4C}"/>
              </a:ext>
            </a:extLst>
          </p:cNvPr>
          <p:cNvGrpSpPr/>
          <p:nvPr/>
        </p:nvGrpSpPr>
        <p:grpSpPr>
          <a:xfrm>
            <a:off x="1923108" y="932793"/>
            <a:ext cx="2016499" cy="1542357"/>
            <a:chOff x="2851267" y="1598659"/>
            <a:chExt cx="1412157" cy="1522969"/>
          </a:xfrm>
        </p:grpSpPr>
        <p:graphicFrame>
          <p:nvGraphicFramePr>
            <p:cNvPr id="29" name="Chart 28">
              <a:extLst>
                <a:ext uri="{FF2B5EF4-FFF2-40B4-BE49-F238E27FC236}">
                  <a16:creationId xmlns:a16="http://schemas.microsoft.com/office/drawing/2014/main" id="{7427DCAA-66DB-BB89-313A-D76A351EDD6B}"/>
                </a:ext>
              </a:extLst>
            </p:cNvPr>
            <p:cNvGraphicFramePr/>
            <p:nvPr>
              <p:extLst>
                <p:ext uri="{D42A27DB-BD31-4B8C-83A1-F6EECF244321}">
                  <p14:modId xmlns:p14="http://schemas.microsoft.com/office/powerpoint/2010/main" val="3876858391"/>
                </p:ext>
              </p:extLst>
            </p:nvPr>
          </p:nvGraphicFramePr>
          <p:xfrm>
            <a:off x="2851267" y="1598659"/>
            <a:ext cx="1412157" cy="1522969"/>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7C448264-98C2-7AAF-A968-AE2960876093}"/>
                </a:ext>
              </a:extLst>
            </p:cNvPr>
            <p:cNvSpPr txBox="1"/>
            <p:nvPr/>
          </p:nvSpPr>
          <p:spPr>
            <a:xfrm>
              <a:off x="2903870" y="1610393"/>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59D3D248-E599-7B8F-19D0-0CD2BE382CBA}"/>
                </a:ext>
              </a:extLst>
            </p:cNvPr>
            <p:cNvSpPr txBox="1"/>
            <p:nvPr/>
          </p:nvSpPr>
          <p:spPr>
            <a:xfrm>
              <a:off x="2903870" y="2057148"/>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168CA2AB-1A82-A54C-C6B5-D118E3323B2A}"/>
                </a:ext>
              </a:extLst>
            </p:cNvPr>
            <p:cNvSpPr txBox="1"/>
            <p:nvPr/>
          </p:nvSpPr>
          <p:spPr>
            <a:xfrm>
              <a:off x="2903870" y="2466645"/>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sp>
        <p:nvSpPr>
          <p:cNvPr id="33" name="Google Shape;121;p3">
            <a:extLst>
              <a:ext uri="{FF2B5EF4-FFF2-40B4-BE49-F238E27FC236}">
                <a16:creationId xmlns:a16="http://schemas.microsoft.com/office/drawing/2014/main" id="{3DC2DACB-CC94-CBDE-4AD4-2BE70537CF7E}"/>
              </a:ext>
            </a:extLst>
          </p:cNvPr>
          <p:cNvSpPr txBox="1"/>
          <p:nvPr/>
        </p:nvSpPr>
        <p:spPr>
          <a:xfrm>
            <a:off x="687344" y="2507611"/>
            <a:ext cx="1764759" cy="230812"/>
          </a:xfrm>
          <a:prstGeom prst="rect">
            <a:avLst/>
          </a:prstGeom>
          <a:noFill/>
          <a:ln>
            <a:noFill/>
          </a:ln>
        </p:spPr>
        <p:txBody>
          <a:bodyPr spcFirstLastPara="1" wrap="square" lIns="22850" tIns="22850" rIns="22850" bIns="2285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281A42"/>
                </a:solidFill>
                <a:effectLst/>
                <a:uLnTx/>
                <a:uFillTx/>
                <a:latin typeface="Segoe UI" pitchFamily="34" charset="0"/>
                <a:ea typeface="Calibri" panose="020F0502020204030204" pitchFamily="34" charset="0"/>
                <a:cs typeface="Calibri" panose="020F0502020204030204" pitchFamily="34" charset="0"/>
              </a:rPr>
              <a:t>JOBS TO BE DONE</a:t>
            </a:r>
          </a:p>
        </p:txBody>
      </p:sp>
      <p:sp>
        <p:nvSpPr>
          <p:cNvPr id="34" name="Google Shape;121;p3">
            <a:extLst>
              <a:ext uri="{FF2B5EF4-FFF2-40B4-BE49-F238E27FC236}">
                <a16:creationId xmlns:a16="http://schemas.microsoft.com/office/drawing/2014/main" id="{931F7A9A-5DD8-FBB7-D141-15F50C88ED32}"/>
              </a:ext>
            </a:extLst>
          </p:cNvPr>
          <p:cNvSpPr txBox="1"/>
          <p:nvPr/>
        </p:nvSpPr>
        <p:spPr>
          <a:xfrm>
            <a:off x="687345" y="4732874"/>
            <a:ext cx="1769522"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Lato"/>
                <a:cs typeface="Lato"/>
                <a:sym typeface="Lato"/>
              </a:rPr>
              <a:t>SUPERPOWERS</a:t>
            </a:r>
          </a:p>
        </p:txBody>
      </p:sp>
      <p:sp>
        <p:nvSpPr>
          <p:cNvPr id="35" name="TextBox 34">
            <a:extLst>
              <a:ext uri="{FF2B5EF4-FFF2-40B4-BE49-F238E27FC236}">
                <a16:creationId xmlns:a16="http://schemas.microsoft.com/office/drawing/2014/main" id="{8805B1A5-BCC1-6A24-955A-3D6471B3924F}"/>
              </a:ext>
            </a:extLst>
          </p:cNvPr>
          <p:cNvSpPr txBox="1"/>
          <p:nvPr/>
        </p:nvSpPr>
        <p:spPr>
          <a:xfrm>
            <a:off x="1324741" y="4972780"/>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Inspirational leader with ability to excite new investors &amp; Board on growth agenda while sustaining operating results</a:t>
            </a:r>
            <a:endPar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8809A763-7497-A0FF-016A-B0F90DA8B636}"/>
              </a:ext>
            </a:extLst>
          </p:cNvPr>
          <p:cNvSpPr txBox="1"/>
          <p:nvPr/>
        </p:nvSpPr>
        <p:spPr>
          <a:xfrm>
            <a:off x="609542" y="5020200"/>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sp>
        <p:nvSpPr>
          <p:cNvPr id="37" name="TextBox 36">
            <a:extLst>
              <a:ext uri="{FF2B5EF4-FFF2-40B4-BE49-F238E27FC236}">
                <a16:creationId xmlns:a16="http://schemas.microsoft.com/office/drawing/2014/main" id="{18B62404-C35E-2A3A-DDA0-7C0096AD1E0E}"/>
              </a:ext>
            </a:extLst>
          </p:cNvPr>
          <p:cNvSpPr txBox="1"/>
          <p:nvPr/>
        </p:nvSpPr>
        <p:spPr>
          <a:xfrm>
            <a:off x="1324741" y="5536198"/>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Decisive, mature leader to motivate leadership team and organization to deliver strategic pivots (think globally, JVs, M&amp;A)</a:t>
            </a:r>
          </a:p>
        </p:txBody>
      </p:sp>
      <p:sp>
        <p:nvSpPr>
          <p:cNvPr id="38" name="TextBox 37">
            <a:extLst>
              <a:ext uri="{FF2B5EF4-FFF2-40B4-BE49-F238E27FC236}">
                <a16:creationId xmlns:a16="http://schemas.microsoft.com/office/drawing/2014/main" id="{B39D27BA-4646-8E48-58E7-948539331E17}"/>
              </a:ext>
            </a:extLst>
          </p:cNvPr>
          <p:cNvSpPr txBox="1"/>
          <p:nvPr/>
        </p:nvSpPr>
        <p:spPr>
          <a:xfrm>
            <a:off x="609542" y="5583618"/>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grpSp>
        <p:nvGrpSpPr>
          <p:cNvPr id="39" name="Group 38">
            <a:extLst>
              <a:ext uri="{FF2B5EF4-FFF2-40B4-BE49-F238E27FC236}">
                <a16:creationId xmlns:a16="http://schemas.microsoft.com/office/drawing/2014/main" id="{89060B08-0548-508F-9119-33CBA3A996D9}"/>
              </a:ext>
            </a:extLst>
          </p:cNvPr>
          <p:cNvGrpSpPr/>
          <p:nvPr/>
        </p:nvGrpSpPr>
        <p:grpSpPr>
          <a:xfrm>
            <a:off x="609542" y="2790191"/>
            <a:ext cx="3391192" cy="338554"/>
            <a:chOff x="441367" y="2951878"/>
            <a:chExt cx="3391192" cy="338554"/>
          </a:xfrm>
        </p:grpSpPr>
        <p:sp>
          <p:nvSpPr>
            <p:cNvPr id="40" name="TextBox 39">
              <a:extLst>
                <a:ext uri="{FF2B5EF4-FFF2-40B4-BE49-F238E27FC236}">
                  <a16:creationId xmlns:a16="http://schemas.microsoft.com/office/drawing/2014/main" id="{16EA3274-2D21-8433-4675-702017B36A5E}"/>
                </a:ext>
              </a:extLst>
            </p:cNvPr>
            <p:cNvSpPr txBox="1"/>
            <p:nvPr/>
          </p:nvSpPr>
          <p:spPr>
            <a:xfrm>
              <a:off x="1156566" y="3005739"/>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Protect &amp; grow core while enhancing productivity</a:t>
              </a:r>
            </a:p>
          </p:txBody>
        </p:sp>
        <p:sp>
          <p:nvSpPr>
            <p:cNvPr id="41" name="TextBox 40">
              <a:extLst>
                <a:ext uri="{FF2B5EF4-FFF2-40B4-BE49-F238E27FC236}">
                  <a16:creationId xmlns:a16="http://schemas.microsoft.com/office/drawing/2014/main" id="{94435722-17E4-418C-73B3-7E5205084F2E}"/>
                </a:ext>
              </a:extLst>
            </p:cNvPr>
            <p:cNvSpPr txBox="1"/>
            <p:nvPr/>
          </p:nvSpPr>
          <p:spPr>
            <a:xfrm>
              <a:off x="441367" y="2951878"/>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40%</a:t>
              </a:r>
            </a:p>
          </p:txBody>
        </p:sp>
      </p:grpSp>
      <p:grpSp>
        <p:nvGrpSpPr>
          <p:cNvPr id="42" name="Group 41">
            <a:extLst>
              <a:ext uri="{FF2B5EF4-FFF2-40B4-BE49-F238E27FC236}">
                <a16:creationId xmlns:a16="http://schemas.microsoft.com/office/drawing/2014/main" id="{B33BA546-CA17-D7C5-8F91-1547805FC7FB}"/>
              </a:ext>
            </a:extLst>
          </p:cNvPr>
          <p:cNvGrpSpPr/>
          <p:nvPr/>
        </p:nvGrpSpPr>
        <p:grpSpPr>
          <a:xfrm>
            <a:off x="609542" y="3144332"/>
            <a:ext cx="3391192" cy="338554"/>
            <a:chOff x="441367" y="3321332"/>
            <a:chExt cx="3391192" cy="338554"/>
          </a:xfrm>
        </p:grpSpPr>
        <p:sp>
          <p:nvSpPr>
            <p:cNvPr id="43" name="TextBox 42">
              <a:extLst>
                <a:ext uri="{FF2B5EF4-FFF2-40B4-BE49-F238E27FC236}">
                  <a16:creationId xmlns:a16="http://schemas.microsoft.com/office/drawing/2014/main" id="{0753D008-7F8E-DB1A-9829-72656F2F41DD}"/>
                </a:ext>
              </a:extLst>
            </p:cNvPr>
            <p:cNvSpPr txBox="1"/>
            <p:nvPr/>
          </p:nvSpPr>
          <p:spPr>
            <a:xfrm>
              <a:off x="1156566" y="337519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a:rPr>
                <a:t>Diversify &amp; decarbonize product portfolio</a:t>
              </a:r>
              <a:endPar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A61802FA-DB69-E127-23C8-B57917CED520}"/>
                </a:ext>
              </a:extLst>
            </p:cNvPr>
            <p:cNvSpPr txBox="1"/>
            <p:nvPr/>
          </p:nvSpPr>
          <p:spPr>
            <a:xfrm>
              <a:off x="441367" y="332133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45" name="Group 44">
            <a:extLst>
              <a:ext uri="{FF2B5EF4-FFF2-40B4-BE49-F238E27FC236}">
                <a16:creationId xmlns:a16="http://schemas.microsoft.com/office/drawing/2014/main" id="{D142681A-0F1E-9721-8E93-F0200308F2B9}"/>
              </a:ext>
            </a:extLst>
          </p:cNvPr>
          <p:cNvGrpSpPr/>
          <p:nvPr/>
        </p:nvGrpSpPr>
        <p:grpSpPr>
          <a:xfrm>
            <a:off x="609542" y="3498473"/>
            <a:ext cx="3391192" cy="369332"/>
            <a:chOff x="441367" y="3703976"/>
            <a:chExt cx="3391192" cy="369332"/>
          </a:xfrm>
        </p:grpSpPr>
        <p:sp>
          <p:nvSpPr>
            <p:cNvPr id="46" name="TextBox 45">
              <a:extLst>
                <a:ext uri="{FF2B5EF4-FFF2-40B4-BE49-F238E27FC236}">
                  <a16:creationId xmlns:a16="http://schemas.microsoft.com/office/drawing/2014/main" id="{1BC092A0-A92C-6B8D-E993-B462673143E6}"/>
                </a:ext>
              </a:extLst>
            </p:cNvPr>
            <p:cNvSpPr txBox="1"/>
            <p:nvPr/>
          </p:nvSpPr>
          <p:spPr>
            <a:xfrm>
              <a:off x="1156566" y="3703976"/>
              <a:ext cx="2675993" cy="3693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Build &amp; deliver investment case to drive </a:t>
              </a:r>
              <a:b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b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inorganic growth </a:t>
              </a:r>
            </a:p>
          </p:txBody>
        </p:sp>
        <p:sp>
          <p:nvSpPr>
            <p:cNvPr id="47" name="TextBox 46">
              <a:extLst>
                <a:ext uri="{FF2B5EF4-FFF2-40B4-BE49-F238E27FC236}">
                  <a16:creationId xmlns:a16="http://schemas.microsoft.com/office/drawing/2014/main" id="{025220AC-BD04-53FA-927D-2F23069F42E7}"/>
                </a:ext>
              </a:extLst>
            </p:cNvPr>
            <p:cNvSpPr txBox="1"/>
            <p:nvPr/>
          </p:nvSpPr>
          <p:spPr>
            <a:xfrm>
              <a:off x="441367" y="3719365"/>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48" name="Group 47">
            <a:extLst>
              <a:ext uri="{FF2B5EF4-FFF2-40B4-BE49-F238E27FC236}">
                <a16:creationId xmlns:a16="http://schemas.microsoft.com/office/drawing/2014/main" id="{FECF3CE1-B4B4-49F9-E2F3-2BF8A2C96977}"/>
              </a:ext>
            </a:extLst>
          </p:cNvPr>
          <p:cNvGrpSpPr/>
          <p:nvPr/>
        </p:nvGrpSpPr>
        <p:grpSpPr>
          <a:xfrm>
            <a:off x="609542" y="3883392"/>
            <a:ext cx="3391192" cy="338554"/>
            <a:chOff x="441367" y="4032533"/>
            <a:chExt cx="3391192" cy="338554"/>
          </a:xfrm>
        </p:grpSpPr>
        <p:sp>
          <p:nvSpPr>
            <p:cNvPr id="49" name="TextBox 48">
              <a:extLst>
                <a:ext uri="{FF2B5EF4-FFF2-40B4-BE49-F238E27FC236}">
                  <a16:creationId xmlns:a16="http://schemas.microsoft.com/office/drawing/2014/main" id="{6C387F19-B8CC-AF25-F8B1-2FB8B0E3FC41}"/>
                </a:ext>
              </a:extLst>
            </p:cNvPr>
            <p:cNvSpPr txBox="1"/>
            <p:nvPr/>
          </p:nvSpPr>
          <p:spPr>
            <a:xfrm>
              <a:off x="1156566" y="4086394"/>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Expand geographic footprint</a:t>
              </a:r>
            </a:p>
          </p:txBody>
        </p:sp>
        <p:sp>
          <p:nvSpPr>
            <p:cNvPr id="50" name="TextBox 49">
              <a:extLst>
                <a:ext uri="{FF2B5EF4-FFF2-40B4-BE49-F238E27FC236}">
                  <a16:creationId xmlns:a16="http://schemas.microsoft.com/office/drawing/2014/main" id="{1BC7D1E1-1841-1415-5B34-0D285AD45A4A}"/>
                </a:ext>
              </a:extLst>
            </p:cNvPr>
            <p:cNvSpPr txBox="1"/>
            <p:nvPr/>
          </p:nvSpPr>
          <p:spPr>
            <a:xfrm>
              <a:off x="441367" y="4032533"/>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51" name="Group 50">
            <a:extLst>
              <a:ext uri="{FF2B5EF4-FFF2-40B4-BE49-F238E27FC236}">
                <a16:creationId xmlns:a16="http://schemas.microsoft.com/office/drawing/2014/main" id="{2063BAAC-FB3C-4F95-4112-0475B98AE182}"/>
              </a:ext>
            </a:extLst>
          </p:cNvPr>
          <p:cNvGrpSpPr/>
          <p:nvPr/>
        </p:nvGrpSpPr>
        <p:grpSpPr>
          <a:xfrm>
            <a:off x="609542" y="4237533"/>
            <a:ext cx="3391192" cy="338554"/>
            <a:chOff x="441367" y="4365042"/>
            <a:chExt cx="3391192" cy="338554"/>
          </a:xfrm>
        </p:grpSpPr>
        <p:sp>
          <p:nvSpPr>
            <p:cNvPr id="52" name="TextBox 51">
              <a:extLst>
                <a:ext uri="{FF2B5EF4-FFF2-40B4-BE49-F238E27FC236}">
                  <a16:creationId xmlns:a16="http://schemas.microsoft.com/office/drawing/2014/main" id="{7DBD7D9F-191D-C360-A518-7432A5159072}"/>
                </a:ext>
              </a:extLst>
            </p:cNvPr>
            <p:cNvSpPr txBox="1"/>
            <p:nvPr/>
          </p:nvSpPr>
          <p:spPr>
            <a:xfrm>
              <a:off x="1156566" y="441890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Organization &amp; operating model</a:t>
              </a:r>
            </a:p>
          </p:txBody>
        </p:sp>
        <p:sp>
          <p:nvSpPr>
            <p:cNvPr id="53" name="TextBox 52">
              <a:extLst>
                <a:ext uri="{FF2B5EF4-FFF2-40B4-BE49-F238E27FC236}">
                  <a16:creationId xmlns:a16="http://schemas.microsoft.com/office/drawing/2014/main" id="{AAEAC4DF-D4E5-9A55-6778-E9CFCB21C6BA}"/>
                </a:ext>
              </a:extLst>
            </p:cNvPr>
            <p:cNvSpPr txBox="1"/>
            <p:nvPr/>
          </p:nvSpPr>
          <p:spPr>
            <a:xfrm>
              <a:off x="441367" y="436504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cxnSp>
        <p:nvCxnSpPr>
          <p:cNvPr id="54" name="Straight Connector 53">
            <a:extLst>
              <a:ext uri="{FF2B5EF4-FFF2-40B4-BE49-F238E27FC236}">
                <a16:creationId xmlns:a16="http://schemas.microsoft.com/office/drawing/2014/main" id="{702DE454-338A-27F5-21BD-62BAC7818A0F}"/>
              </a:ext>
            </a:extLst>
          </p:cNvPr>
          <p:cNvCxnSpPr/>
          <p:nvPr/>
        </p:nvCxnSpPr>
        <p:spPr>
          <a:xfrm>
            <a:off x="666324" y="3139255"/>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887AEBC-1755-83C0-5A42-B2BDEA08041B}"/>
              </a:ext>
            </a:extLst>
          </p:cNvPr>
          <p:cNvCxnSpPr/>
          <p:nvPr/>
        </p:nvCxnSpPr>
        <p:spPr>
          <a:xfrm>
            <a:off x="666324" y="3496606"/>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87DC64E-84E4-1C9A-8D6A-A69D2644FCA5}"/>
              </a:ext>
            </a:extLst>
          </p:cNvPr>
          <p:cNvCxnSpPr/>
          <p:nvPr/>
        </p:nvCxnSpPr>
        <p:spPr>
          <a:xfrm>
            <a:off x="666324" y="3874978"/>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B3A2122-2846-095C-395D-1C80A04D3F10}"/>
              </a:ext>
            </a:extLst>
          </p:cNvPr>
          <p:cNvCxnSpPr/>
          <p:nvPr/>
        </p:nvCxnSpPr>
        <p:spPr>
          <a:xfrm>
            <a:off x="666324" y="4221819"/>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FF59108-AE4A-3F5A-22C4-222A9CE9087E}"/>
              </a:ext>
            </a:extLst>
          </p:cNvPr>
          <p:cNvCxnSpPr/>
          <p:nvPr/>
        </p:nvCxnSpPr>
        <p:spPr>
          <a:xfrm>
            <a:off x="666324" y="5514592"/>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59" name="Rectangle: Rounded Corners 27">
            <a:extLst>
              <a:ext uri="{FF2B5EF4-FFF2-40B4-BE49-F238E27FC236}">
                <a16:creationId xmlns:a16="http://schemas.microsoft.com/office/drawing/2014/main" id="{7813D859-9F42-FEAA-A267-E8C101FED5F0}"/>
              </a:ext>
            </a:extLst>
          </p:cNvPr>
          <p:cNvSpPr/>
          <p:nvPr/>
        </p:nvSpPr>
        <p:spPr>
          <a:xfrm>
            <a:off x="1350532" y="6342997"/>
            <a:ext cx="232562" cy="98899"/>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rgbClr val="FFFFFF"/>
                </a:solidFill>
                <a:effectLst/>
                <a:uLnTx/>
                <a:uFillTx/>
                <a:latin typeface="Lato" panose="020F0502020204030203" pitchFamily="34" charset="77"/>
                <a:ea typeface="+mn-ea"/>
                <a:cs typeface="+mn-cs"/>
                <a:sym typeface="Arial"/>
              </a:rPr>
              <a:t>70+</a:t>
            </a:r>
          </a:p>
        </p:txBody>
      </p:sp>
      <p:sp>
        <p:nvSpPr>
          <p:cNvPr id="60" name="Rectangle: Rounded Corners 28">
            <a:extLst>
              <a:ext uri="{FF2B5EF4-FFF2-40B4-BE49-F238E27FC236}">
                <a16:creationId xmlns:a16="http://schemas.microsoft.com/office/drawing/2014/main" id="{2CD4D0BC-53A1-EAE1-0B4E-D59F02D7F8FE}"/>
              </a:ext>
            </a:extLst>
          </p:cNvPr>
          <p:cNvSpPr/>
          <p:nvPr/>
        </p:nvSpPr>
        <p:spPr>
          <a:xfrm>
            <a:off x="2224305" y="6342997"/>
            <a:ext cx="232562" cy="98899"/>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chemeClr val="bg1"/>
                </a:solidFill>
                <a:effectLst/>
                <a:uLnTx/>
                <a:uFillTx/>
                <a:latin typeface="Lato" panose="020F0502020204030203" pitchFamily="34" charset="77"/>
                <a:ea typeface="+mn-ea"/>
                <a:cs typeface="+mn-cs"/>
                <a:sym typeface="Arial"/>
              </a:rPr>
              <a:t>56-70</a:t>
            </a:r>
          </a:p>
        </p:txBody>
      </p:sp>
      <p:sp>
        <p:nvSpPr>
          <p:cNvPr id="61" name="Rectangle: Rounded Corners 30">
            <a:extLst>
              <a:ext uri="{FF2B5EF4-FFF2-40B4-BE49-F238E27FC236}">
                <a16:creationId xmlns:a16="http://schemas.microsoft.com/office/drawing/2014/main" id="{9908685D-2A84-AEE9-CFE0-F148D070174B}"/>
              </a:ext>
            </a:extLst>
          </p:cNvPr>
          <p:cNvSpPr/>
          <p:nvPr/>
        </p:nvSpPr>
        <p:spPr>
          <a:xfrm>
            <a:off x="3228484" y="6342997"/>
            <a:ext cx="232562" cy="98899"/>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chemeClr val="bg1"/>
                </a:solidFill>
                <a:effectLst/>
                <a:uLnTx/>
                <a:uFillTx/>
                <a:latin typeface="Lato" panose="020F0502020204030203" pitchFamily="34" charset="77"/>
                <a:ea typeface="+mn-ea"/>
                <a:cs typeface="+mn-cs"/>
                <a:sym typeface="Arial"/>
              </a:rPr>
              <a:t>&lt;55</a:t>
            </a:r>
          </a:p>
        </p:txBody>
      </p:sp>
      <p:sp>
        <p:nvSpPr>
          <p:cNvPr id="62" name="TextBox 61">
            <a:extLst>
              <a:ext uri="{FF2B5EF4-FFF2-40B4-BE49-F238E27FC236}">
                <a16:creationId xmlns:a16="http://schemas.microsoft.com/office/drawing/2014/main" id="{11BBD689-7CAD-E782-84E3-E5745FF6D179}"/>
              </a:ext>
            </a:extLst>
          </p:cNvPr>
          <p:cNvSpPr txBox="1"/>
          <p:nvPr/>
        </p:nvSpPr>
        <p:spPr>
          <a:xfrm>
            <a:off x="1559387" y="6292419"/>
            <a:ext cx="348172"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Low</a:t>
            </a:r>
          </a:p>
        </p:txBody>
      </p:sp>
      <p:sp>
        <p:nvSpPr>
          <p:cNvPr id="63" name="TextBox 62">
            <a:extLst>
              <a:ext uri="{FF2B5EF4-FFF2-40B4-BE49-F238E27FC236}">
                <a16:creationId xmlns:a16="http://schemas.microsoft.com/office/drawing/2014/main" id="{247D1E61-8C75-3A28-A615-62E4160267B0}"/>
              </a:ext>
            </a:extLst>
          </p:cNvPr>
          <p:cNvSpPr txBox="1"/>
          <p:nvPr/>
        </p:nvSpPr>
        <p:spPr>
          <a:xfrm>
            <a:off x="2448225" y="6292419"/>
            <a:ext cx="575799"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Moderate</a:t>
            </a:r>
          </a:p>
        </p:txBody>
      </p:sp>
      <p:sp>
        <p:nvSpPr>
          <p:cNvPr id="64" name="TextBox 63">
            <a:extLst>
              <a:ext uri="{FF2B5EF4-FFF2-40B4-BE49-F238E27FC236}">
                <a16:creationId xmlns:a16="http://schemas.microsoft.com/office/drawing/2014/main" id="{98E6A6D4-65EC-4352-744B-47DD2E15D4E2}"/>
              </a:ext>
            </a:extLst>
          </p:cNvPr>
          <p:cNvSpPr txBox="1"/>
          <p:nvPr/>
        </p:nvSpPr>
        <p:spPr>
          <a:xfrm>
            <a:off x="3457959" y="6292419"/>
            <a:ext cx="367408"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High</a:t>
            </a:r>
          </a:p>
        </p:txBody>
      </p:sp>
      <p:sp>
        <p:nvSpPr>
          <p:cNvPr id="65" name="TextBox 64">
            <a:extLst>
              <a:ext uri="{FF2B5EF4-FFF2-40B4-BE49-F238E27FC236}">
                <a16:creationId xmlns:a16="http://schemas.microsoft.com/office/drawing/2014/main" id="{03C80849-ADF6-BEAB-7BFA-5913DA7858B7}"/>
              </a:ext>
            </a:extLst>
          </p:cNvPr>
          <p:cNvSpPr txBox="1"/>
          <p:nvPr/>
        </p:nvSpPr>
        <p:spPr>
          <a:xfrm>
            <a:off x="537321" y="6292419"/>
            <a:ext cx="694800" cy="20005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Risk Level:</a:t>
            </a:r>
          </a:p>
        </p:txBody>
      </p:sp>
      <p:sp>
        <p:nvSpPr>
          <p:cNvPr id="67" name="Google Shape;136;p4">
            <a:extLst>
              <a:ext uri="{FF2B5EF4-FFF2-40B4-BE49-F238E27FC236}">
                <a16:creationId xmlns:a16="http://schemas.microsoft.com/office/drawing/2014/main" id="{F294478D-CDF0-97A8-FBC8-5BC39C518E52}"/>
              </a:ext>
            </a:extLst>
          </p:cNvPr>
          <p:cNvSpPr txBox="1">
            <a:spLocks/>
          </p:cNvSpPr>
          <p:nvPr/>
        </p:nvSpPr>
        <p:spPr>
          <a:xfrm>
            <a:off x="4482013" y="1008967"/>
            <a:ext cx="7155041" cy="715560"/>
          </a:xfrm>
          <a:prstGeom prst="rect">
            <a:avLst/>
          </a:prstGeom>
          <a:noFill/>
          <a:ln>
            <a:noFill/>
          </a:ln>
        </p:spPr>
        <p:txBody>
          <a:bodyPr spcFirstLastPara="1" wrap="square" lIns="22850" tIns="22850" rIns="22850" bIns="22850" anchor="t" anchorCtr="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defTabSz="457200">
              <a:lnSpc>
                <a:spcPct val="100000"/>
              </a:lnSpc>
              <a:spcBef>
                <a:spcPts val="0"/>
              </a:spcBef>
              <a:buClr>
                <a:srgbClr val="765FFF"/>
              </a:buClr>
              <a:buSzPts val="3600"/>
              <a:buFont typeface="Arial" panose="020B0706020202030204" pitchFamily="34" charset="0"/>
              <a:buNone/>
              <a:defRPr/>
            </a:pPr>
            <a:r>
              <a:rPr lang="en-US" b="1" kern="0" spc="-10">
                <a:solidFill>
                  <a:srgbClr val="281A42"/>
                </a:solidFill>
                <a:latin typeface="Segoe UI" pitchFamily="34" charset="0"/>
                <a:sym typeface="Lato"/>
              </a:rPr>
              <a:t>WHAT’S THE PIVOTAL WORK?</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Translate growth ambitions into organic and inorganic detailed execution plans + Build Board alignment</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Build new organizational capabilities to deliver growth &amp; decarbonization aspirations </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Strengthen Operating Model and culture of accountability </a:t>
            </a:r>
            <a:endParaRPr lang="en-US" sz="1050" kern="0" spc="-10" dirty="0">
              <a:solidFill>
                <a:srgbClr val="1D1D1D"/>
              </a:solidFill>
              <a:latin typeface="Arial" pitchFamily="34" charset="0"/>
              <a:cs typeface="Calibri" panose="020F0502020204030204" pitchFamily="34" charset="0"/>
              <a:sym typeface="Arial"/>
            </a:endParaRPr>
          </a:p>
        </p:txBody>
      </p:sp>
      <p:sp>
        <p:nvSpPr>
          <p:cNvPr id="68" name="TextBox 67">
            <a:extLst>
              <a:ext uri="{FF2B5EF4-FFF2-40B4-BE49-F238E27FC236}">
                <a16:creationId xmlns:a16="http://schemas.microsoft.com/office/drawing/2014/main" id="{228C53F2-54D3-70D0-A8B2-0AB4918B4E8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711163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231704-77D3-33BA-F0C6-3EB107159DE7}"/>
              </a:ext>
            </a:extLst>
          </p:cNvPr>
          <p:cNvSpPr>
            <a:spLocks noGrp="1"/>
          </p:cNvSpPr>
          <p:nvPr>
            <p:ph type="title"/>
          </p:nvPr>
        </p:nvSpPr>
        <p:spPr/>
        <p:txBody>
          <a:bodyPr/>
          <a:lstStyle/>
          <a:p>
            <a:r>
              <a:rPr lang="en-US" dirty="0"/>
              <a:t>CXO </a:t>
            </a:r>
            <a:r>
              <a:rPr lang="en-US" dirty="0">
                <a:solidFill>
                  <a:schemeClr val="accent1"/>
                </a:solidFill>
              </a:rPr>
              <a:t>Value Forecast</a:t>
            </a:r>
            <a:br>
              <a:rPr lang="en-US" dirty="0">
                <a:solidFill>
                  <a:schemeClr val="accent1"/>
                </a:solidFill>
              </a:rPr>
            </a:br>
            <a:endParaRPr lang="en-US" dirty="0">
              <a:solidFill>
                <a:schemeClr val="accent1"/>
              </a:solidFill>
            </a:endParaRPr>
          </a:p>
        </p:txBody>
      </p:sp>
      <p:sp>
        <p:nvSpPr>
          <p:cNvPr id="7" name="Text Placeholder 6">
            <a:extLst>
              <a:ext uri="{FF2B5EF4-FFF2-40B4-BE49-F238E27FC236}">
                <a16:creationId xmlns:a16="http://schemas.microsoft.com/office/drawing/2014/main" id="{1BB25ED6-6EA8-0D0A-5BFE-CCADF18A9F17}"/>
              </a:ext>
            </a:extLst>
          </p:cNvPr>
          <p:cNvSpPr>
            <a:spLocks noGrp="1"/>
          </p:cNvSpPr>
          <p:nvPr>
            <p:ph type="body" sz="quarter" idx="12"/>
          </p:nvPr>
        </p:nvSpPr>
        <p:spPr/>
        <p:txBody>
          <a:bodyPr/>
          <a:lstStyle/>
          <a:p>
            <a:r>
              <a:rPr lang="en-US" dirty="0"/>
              <a:t>Click Score</a:t>
            </a:r>
          </a:p>
        </p:txBody>
      </p:sp>
      <p:sp>
        <p:nvSpPr>
          <p:cNvPr id="4" name="Slide Number Placeholder 3">
            <a:extLst>
              <a:ext uri="{FF2B5EF4-FFF2-40B4-BE49-F238E27FC236}">
                <a16:creationId xmlns:a16="http://schemas.microsoft.com/office/drawing/2014/main" id="{1974010F-A2E2-7322-762D-D2C57E17BEC8}"/>
              </a:ext>
            </a:extLst>
          </p:cNvPr>
          <p:cNvSpPr>
            <a:spLocks noGrp="1"/>
          </p:cNvSpPr>
          <p:nvPr>
            <p:ph type="sldNum" sz="quarter" idx="4"/>
          </p:nvPr>
        </p:nvSpPr>
        <p:spPr/>
        <p:txBody>
          <a:bodyPr/>
          <a:lstStyle/>
          <a:p>
            <a:pPr algn="ctr"/>
            <a:fld id="{1875A764-3B06-454E-8ABA-2F6ED0EB58E9}" type="slidenum">
              <a:rPr lang="en-US" smtClean="0"/>
              <a:t>16</a:t>
            </a:fld>
            <a:endParaRPr lang="en-US" dirty="0"/>
          </a:p>
        </p:txBody>
      </p:sp>
      <p:sp>
        <p:nvSpPr>
          <p:cNvPr id="8" name="Rounded Rectangle 5">
            <a:extLst>
              <a:ext uri="{FF2B5EF4-FFF2-40B4-BE49-F238E27FC236}">
                <a16:creationId xmlns:a16="http://schemas.microsoft.com/office/drawing/2014/main" id="{A30D73F3-BCA0-AB0F-2737-756D45CD8BAA}"/>
              </a:ext>
            </a:extLst>
          </p:cNvPr>
          <p:cNvSpPr/>
          <p:nvPr/>
        </p:nvSpPr>
        <p:spPr>
          <a:xfrm>
            <a:off x="5481964" y="11235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pSp>
        <p:nvGrpSpPr>
          <p:cNvPr id="9" name="Group 8">
            <a:extLst>
              <a:ext uri="{FF2B5EF4-FFF2-40B4-BE49-F238E27FC236}">
                <a16:creationId xmlns:a16="http://schemas.microsoft.com/office/drawing/2014/main" id="{EDC59D12-A33F-9C09-0E84-A78ADDB0C7E7}"/>
              </a:ext>
            </a:extLst>
          </p:cNvPr>
          <p:cNvGrpSpPr/>
          <p:nvPr/>
        </p:nvGrpSpPr>
        <p:grpSpPr>
          <a:xfrm>
            <a:off x="1592081" y="5818368"/>
            <a:ext cx="2828005" cy="612104"/>
            <a:chOff x="6663500" y="7817282"/>
            <a:chExt cx="5656010" cy="1224208"/>
          </a:xfrm>
        </p:grpSpPr>
        <p:sp>
          <p:nvSpPr>
            <p:cNvPr id="10" name="Rounded Rectangle 46">
              <a:extLst>
                <a:ext uri="{FF2B5EF4-FFF2-40B4-BE49-F238E27FC236}">
                  <a16:creationId xmlns:a16="http://schemas.microsoft.com/office/drawing/2014/main" id="{DE803AC1-F634-CCDA-7C93-936BC2DE5FF6}"/>
                </a:ext>
              </a:extLst>
            </p:cNvPr>
            <p:cNvSpPr/>
            <p:nvPr/>
          </p:nvSpPr>
          <p:spPr>
            <a:xfrm>
              <a:off x="7232926" y="7817282"/>
              <a:ext cx="5086584" cy="122420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&lt;50 – L</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ower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50-69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Medium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70+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Higher forecast of value delivery</a:t>
              </a:r>
            </a:p>
          </p:txBody>
        </p:sp>
        <p:sp>
          <p:nvSpPr>
            <p:cNvPr id="11" name="Rectangle 10">
              <a:extLst>
                <a:ext uri="{FF2B5EF4-FFF2-40B4-BE49-F238E27FC236}">
                  <a16:creationId xmlns:a16="http://schemas.microsoft.com/office/drawing/2014/main" id="{869D4FD3-0C09-292B-9465-F18F5B695A0D}"/>
                </a:ext>
              </a:extLst>
            </p:cNvPr>
            <p:cNvSpPr/>
            <p:nvPr/>
          </p:nvSpPr>
          <p:spPr>
            <a:xfrm>
              <a:off x="6666830" y="8042764"/>
              <a:ext cx="573464" cy="219326"/>
            </a:xfrm>
            <a:prstGeom prst="rect">
              <a:avLst/>
            </a:prstGeom>
            <a:solidFill>
              <a:srgbClr val="D8453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sp>
          <p:nvSpPr>
            <p:cNvPr id="12" name="Rectangle 11">
              <a:extLst>
                <a:ext uri="{FF2B5EF4-FFF2-40B4-BE49-F238E27FC236}">
                  <a16:creationId xmlns:a16="http://schemas.microsoft.com/office/drawing/2014/main" id="{1CE6DCF6-E4AC-150D-9F0B-8B5E600AE7E1}"/>
                </a:ext>
              </a:extLst>
            </p:cNvPr>
            <p:cNvSpPr/>
            <p:nvPr/>
          </p:nvSpPr>
          <p:spPr>
            <a:xfrm>
              <a:off x="6666830" y="8335332"/>
              <a:ext cx="573464" cy="2193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3" name="Rectangle 12">
              <a:extLst>
                <a:ext uri="{FF2B5EF4-FFF2-40B4-BE49-F238E27FC236}">
                  <a16:creationId xmlns:a16="http://schemas.microsoft.com/office/drawing/2014/main" id="{FFFB416D-1E68-4668-694A-1EB883BC6031}"/>
                </a:ext>
              </a:extLst>
            </p:cNvPr>
            <p:cNvSpPr/>
            <p:nvPr/>
          </p:nvSpPr>
          <p:spPr>
            <a:xfrm>
              <a:off x="6663500" y="8625136"/>
              <a:ext cx="573464" cy="219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grpSp>
      <p:sp>
        <p:nvSpPr>
          <p:cNvPr id="14" name="TextBox 13">
            <a:extLst>
              <a:ext uri="{FF2B5EF4-FFF2-40B4-BE49-F238E27FC236}">
                <a16:creationId xmlns:a16="http://schemas.microsoft.com/office/drawing/2014/main" id="{E8B2CC1D-9D6F-8196-CAA3-6D40A3F86109}"/>
              </a:ext>
            </a:extLst>
          </p:cNvPr>
          <p:cNvSpPr txBox="1"/>
          <p:nvPr/>
        </p:nvSpPr>
        <p:spPr>
          <a:xfrm>
            <a:off x="5557001" y="11409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rPr>
              <a:t>Work</a:t>
            </a:r>
            <a:r>
              <a:rPr kumimoji="0" lang="en-US" sz="105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 Score</a:t>
            </a:r>
            <a:endParaRPr kumimoji="0" lang="en-US" sz="14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graphicFrame>
        <p:nvGraphicFramePr>
          <p:cNvPr id="15" name="Chart 14">
            <a:extLst>
              <a:ext uri="{FF2B5EF4-FFF2-40B4-BE49-F238E27FC236}">
                <a16:creationId xmlns:a16="http://schemas.microsoft.com/office/drawing/2014/main" id="{4740FBBE-E065-E179-8EF3-6667793A1DEC}"/>
              </a:ext>
            </a:extLst>
          </p:cNvPr>
          <p:cNvGraphicFramePr/>
          <p:nvPr>
            <p:extLst>
              <p:ext uri="{D42A27DB-BD31-4B8C-83A1-F6EECF244321}">
                <p14:modId xmlns:p14="http://schemas.microsoft.com/office/powerpoint/2010/main" val="3149818253"/>
              </p:ext>
            </p:extLst>
          </p:nvPr>
        </p:nvGraphicFramePr>
        <p:xfrm>
          <a:off x="6953889" y="1250933"/>
          <a:ext cx="3284162" cy="1580682"/>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07B3686A-3FF3-87EE-D641-3C4557C6B0A6}"/>
              </a:ext>
            </a:extLst>
          </p:cNvPr>
          <p:cNvSpPr txBox="1"/>
          <p:nvPr/>
        </p:nvSpPr>
        <p:spPr>
          <a:xfrm>
            <a:off x="5564952" y="14126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00" b="1" i="0" u="none" strike="noStrike" kern="1200" cap="none" spc="-25" normalizeH="0" baseline="0" noProof="0" dirty="0">
                <a:ln>
                  <a:noFill/>
                </a:ln>
                <a:solidFill>
                  <a:srgbClr val="1D1D1D"/>
                </a:solidFill>
                <a:effectLst/>
                <a:uLnTx/>
                <a:uFillTx/>
                <a:latin typeface="Segoe UI" pitchFamily="34" charset="0"/>
                <a:ea typeface="+mn-ea"/>
                <a:cs typeface="+mn-cs"/>
              </a:rPr>
              <a:t>Alignment</a:t>
            </a:r>
            <a:endParaRPr kumimoji="0" lang="en-US" sz="10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A3DEE90-2A8E-8C3F-6F87-31C3D0EE5CCF}"/>
              </a:ext>
            </a:extLst>
          </p:cNvPr>
          <p:cNvSpPr txBox="1"/>
          <p:nvPr/>
        </p:nvSpPr>
        <p:spPr>
          <a:xfrm>
            <a:off x="5564952" y="17459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Complexity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761496CE-4665-5738-D826-8FFFF8DECDB2}"/>
              </a:ext>
            </a:extLst>
          </p:cNvPr>
          <p:cNvSpPr txBox="1"/>
          <p:nvPr/>
        </p:nvSpPr>
        <p:spPr>
          <a:xfrm>
            <a:off x="5564952" y="20737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New Work</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FF987BEE-ADE3-E3BB-18F2-6AD0B9660731}"/>
              </a:ext>
            </a:extLst>
          </p:cNvPr>
          <p:cNvSpPr txBox="1"/>
          <p:nvPr/>
        </p:nvSpPr>
        <p:spPr>
          <a:xfrm>
            <a:off x="5564952" y="24095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Competitive Intensity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nvGrpSpPr>
          <p:cNvPr id="20" name="Group 19">
            <a:extLst>
              <a:ext uri="{FF2B5EF4-FFF2-40B4-BE49-F238E27FC236}">
                <a16:creationId xmlns:a16="http://schemas.microsoft.com/office/drawing/2014/main" id="{D84D5D12-721F-3FFC-C4AD-74D52D808F6C}"/>
              </a:ext>
            </a:extLst>
          </p:cNvPr>
          <p:cNvGrpSpPr/>
          <p:nvPr/>
        </p:nvGrpSpPr>
        <p:grpSpPr>
          <a:xfrm>
            <a:off x="1294774" y="1123507"/>
            <a:ext cx="3391712" cy="4645886"/>
            <a:chOff x="1294774" y="1260249"/>
            <a:chExt cx="3391712" cy="4645886"/>
          </a:xfrm>
        </p:grpSpPr>
        <p:sp>
          <p:nvSpPr>
            <p:cNvPr id="21" name="Rounded Rectangle 5">
              <a:extLst>
                <a:ext uri="{FF2B5EF4-FFF2-40B4-BE49-F238E27FC236}">
                  <a16:creationId xmlns:a16="http://schemas.microsoft.com/office/drawing/2014/main" id="{313DD65A-11E8-D21D-E90A-02E8CB7AB797}"/>
                </a:ext>
              </a:extLst>
            </p:cNvPr>
            <p:cNvSpPr/>
            <p:nvPr/>
          </p:nvSpPr>
          <p:spPr>
            <a:xfrm>
              <a:off x="1294774" y="1260249"/>
              <a:ext cx="3391712" cy="4638918"/>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22" name="TextBox 21">
              <a:extLst>
                <a:ext uri="{FF2B5EF4-FFF2-40B4-BE49-F238E27FC236}">
                  <a16:creationId xmlns:a16="http://schemas.microsoft.com/office/drawing/2014/main" id="{68269341-DBB0-DB83-3940-1EE07DA90E5B}"/>
                </a:ext>
              </a:extLst>
            </p:cNvPr>
            <p:cNvSpPr txBox="1"/>
            <p:nvPr/>
          </p:nvSpPr>
          <p:spPr>
            <a:xfrm>
              <a:off x="1294774" y="1377484"/>
              <a:ext cx="3391710" cy="307777"/>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effectLst/>
                  <a:uLnTx/>
                  <a:uFillTx/>
                  <a:latin typeface="Segoe UI" pitchFamily="34" charset="0"/>
                  <a:ea typeface="Calibri" panose="020F0502020204030204" pitchFamily="34" charset="0"/>
                  <a:cs typeface="Calibri" panose="020F0502020204030204" pitchFamily="34" charset="0"/>
                </a:rPr>
                <a:t>CXO</a:t>
              </a:r>
            </a:p>
          </p:txBody>
        </p:sp>
        <p:grpSp>
          <p:nvGrpSpPr>
            <p:cNvPr id="23" name="Google Shape;195;p5">
              <a:extLst>
                <a:ext uri="{FF2B5EF4-FFF2-40B4-BE49-F238E27FC236}">
                  <a16:creationId xmlns:a16="http://schemas.microsoft.com/office/drawing/2014/main" id="{55DD9FD0-7E7A-9A11-7B86-89B70CE189DA}"/>
                </a:ext>
              </a:extLst>
            </p:cNvPr>
            <p:cNvGrpSpPr>
              <a:grpSpLocks noChangeAspect="1"/>
            </p:cNvGrpSpPr>
            <p:nvPr/>
          </p:nvGrpSpPr>
          <p:grpSpPr>
            <a:xfrm>
              <a:off x="1972467" y="1844665"/>
              <a:ext cx="2033060" cy="2160000"/>
              <a:chOff x="501276" y="-6468"/>
              <a:chExt cx="3521559" cy="3741437"/>
            </a:xfrm>
          </p:grpSpPr>
          <p:grpSp>
            <p:nvGrpSpPr>
              <p:cNvPr id="28" name="Google Shape;196;p5">
                <a:extLst>
                  <a:ext uri="{FF2B5EF4-FFF2-40B4-BE49-F238E27FC236}">
                    <a16:creationId xmlns:a16="http://schemas.microsoft.com/office/drawing/2014/main" id="{26936D1E-7FA6-DB8B-BE48-E42861666E18}"/>
                  </a:ext>
                </a:extLst>
              </p:cNvPr>
              <p:cNvGrpSpPr/>
              <p:nvPr/>
            </p:nvGrpSpPr>
            <p:grpSpPr>
              <a:xfrm>
                <a:off x="719169" y="448534"/>
                <a:ext cx="3239749" cy="2539768"/>
                <a:chOff x="-341400" y="0"/>
                <a:chExt cx="3239746" cy="2539768"/>
              </a:xfrm>
            </p:grpSpPr>
            <p:sp>
              <p:nvSpPr>
                <p:cNvPr id="35" name="Google Shape;197;p5">
                  <a:extLst>
                    <a:ext uri="{FF2B5EF4-FFF2-40B4-BE49-F238E27FC236}">
                      <a16:creationId xmlns:a16="http://schemas.microsoft.com/office/drawing/2014/main" id="{1B418C66-C531-EE22-BF92-AECBCDE8959B}"/>
                    </a:ext>
                  </a:extLst>
                </p:cNvPr>
                <p:cNvSpPr/>
                <p:nvPr/>
              </p:nvSpPr>
              <p:spPr>
                <a:xfrm>
                  <a:off x="1" y="0"/>
                  <a:ext cx="2539762" cy="2539768"/>
                </a:xfrm>
                <a:prstGeom prst="ellipse">
                  <a:avLst/>
                </a:prstGeom>
                <a:solidFill>
                  <a:srgbClr val="FFC000"/>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6" name="Google Shape;198;p5">
                  <a:extLst>
                    <a:ext uri="{FF2B5EF4-FFF2-40B4-BE49-F238E27FC236}">
                      <a16:creationId xmlns:a16="http://schemas.microsoft.com/office/drawing/2014/main" id="{F94A914F-6A03-6866-07EB-4FD4C2EAF6AC}"/>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latin typeface="Segoe UI" pitchFamily="34" charset="0"/>
                    </a:defRPr>
                  </a:pPr>
                  <a:r>
                    <a:rPr kumimoji="0" lang="en-US" sz="3000" b="1" i="0" u="none" strike="noStrike" kern="0" cap="none" spc="-25" normalizeH="0" baseline="0" noProof="0" dirty="0">
                      <a:ln>
                        <a:noFill/>
                      </a:ln>
                      <a:solidFill>
                        <a:srgbClr val="FFFFFF"/>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7" name="Google Shape;199;p5">
                  <a:extLst>
                    <a:ext uri="{FF2B5EF4-FFF2-40B4-BE49-F238E27FC236}">
                      <a16:creationId xmlns:a16="http://schemas.microsoft.com/office/drawing/2014/main" id="{87709FCE-FD9B-5F6E-E82B-6FE2CC72E915}"/>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9" name="Google Shape;200;p5">
                <a:extLst>
                  <a:ext uri="{FF2B5EF4-FFF2-40B4-BE49-F238E27FC236}">
                    <a16:creationId xmlns:a16="http://schemas.microsoft.com/office/drawing/2014/main" id="{D68DF27D-9B5F-6769-235C-08490D9D8C59}"/>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0" name="Google Shape;201;p5">
                <a:extLst>
                  <a:ext uri="{FF2B5EF4-FFF2-40B4-BE49-F238E27FC236}">
                    <a16:creationId xmlns:a16="http://schemas.microsoft.com/office/drawing/2014/main" id="{D29874F8-7841-4F0A-39B1-28F16452004F}"/>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1" name="Google Shape;202;p5">
                <a:extLst>
                  <a:ext uri="{FF2B5EF4-FFF2-40B4-BE49-F238E27FC236}">
                    <a16:creationId xmlns:a16="http://schemas.microsoft.com/office/drawing/2014/main" id="{28295FDB-60FB-B6C7-0158-2BC2C9EF88BF}"/>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2" name="Google Shape;203;p5">
                <a:extLst>
                  <a:ext uri="{FF2B5EF4-FFF2-40B4-BE49-F238E27FC236}">
                    <a16:creationId xmlns:a16="http://schemas.microsoft.com/office/drawing/2014/main" id="{37E6D8B0-1ACB-4018-0793-63FA6C3C56C4}"/>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3" name="Google Shape;204;p5">
                <a:extLst>
                  <a:ext uri="{FF2B5EF4-FFF2-40B4-BE49-F238E27FC236}">
                    <a16:creationId xmlns:a16="http://schemas.microsoft.com/office/drawing/2014/main" id="{1DCBEAAC-3860-095F-5798-A963D5B2357B}"/>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4" name="Google Shape;205;p5">
                <a:extLst>
                  <a:ext uri="{FF2B5EF4-FFF2-40B4-BE49-F238E27FC236}">
                    <a16:creationId xmlns:a16="http://schemas.microsoft.com/office/drawing/2014/main" id="{356880B9-732E-0186-598E-5B88F43A2836}"/>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aphicFrame>
          <p:nvGraphicFramePr>
            <p:cNvPr id="24" name="Chart 23">
              <a:extLst>
                <a:ext uri="{FF2B5EF4-FFF2-40B4-BE49-F238E27FC236}">
                  <a16:creationId xmlns:a16="http://schemas.microsoft.com/office/drawing/2014/main" id="{AC790D41-DB6D-F3D1-2DB4-FFED8515A9D7}"/>
                </a:ext>
              </a:extLst>
            </p:cNvPr>
            <p:cNvGraphicFramePr/>
            <p:nvPr>
              <p:extLst>
                <p:ext uri="{D42A27DB-BD31-4B8C-83A1-F6EECF244321}">
                  <p14:modId xmlns:p14="http://schemas.microsoft.com/office/powerpoint/2010/main" val="3949181847"/>
                </p:ext>
              </p:extLst>
            </p:nvPr>
          </p:nvGraphicFramePr>
          <p:xfrm>
            <a:off x="1345274" y="3998135"/>
            <a:ext cx="3284162" cy="190800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D2E1BF5E-8E34-843F-DA1C-85BEB3EDE645}"/>
                </a:ext>
              </a:extLst>
            </p:cNvPr>
            <p:cNvSpPr txBox="1"/>
            <p:nvPr/>
          </p:nvSpPr>
          <p:spPr>
            <a:xfrm>
              <a:off x="1413254" y="4585513"/>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9E98697E-2121-BA43-309F-B3AE8482BA77}"/>
                </a:ext>
              </a:extLst>
            </p:cNvPr>
            <p:cNvSpPr txBox="1"/>
            <p:nvPr/>
          </p:nvSpPr>
          <p:spPr>
            <a:xfrm>
              <a:off x="1413254" y="5141644"/>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3E0686C2-9333-53A5-A66D-E76E88610C51}"/>
                </a:ext>
              </a:extLst>
            </p:cNvPr>
            <p:cNvSpPr txBox="1"/>
            <p:nvPr/>
          </p:nvSpPr>
          <p:spPr>
            <a:xfrm>
              <a:off x="1415154" y="4013183"/>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sp>
        <p:nvSpPr>
          <p:cNvPr id="38" name="Rounded Rectangle 5">
            <a:extLst>
              <a:ext uri="{FF2B5EF4-FFF2-40B4-BE49-F238E27FC236}">
                <a16:creationId xmlns:a16="http://schemas.microsoft.com/office/drawing/2014/main" id="{0AFA7C0B-8A8D-ABB5-BF24-5EF065C9B910}"/>
              </a:ext>
            </a:extLst>
          </p:cNvPr>
          <p:cNvSpPr/>
          <p:nvPr/>
        </p:nvSpPr>
        <p:spPr>
          <a:xfrm>
            <a:off x="5494664" y="29269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9" name="TextBox 38">
            <a:extLst>
              <a:ext uri="{FF2B5EF4-FFF2-40B4-BE49-F238E27FC236}">
                <a16:creationId xmlns:a16="http://schemas.microsoft.com/office/drawing/2014/main" id="{EBE08E01-E847-8F63-32EC-92924259AF02}"/>
              </a:ext>
            </a:extLst>
          </p:cNvPr>
          <p:cNvSpPr txBox="1"/>
          <p:nvPr/>
        </p:nvSpPr>
        <p:spPr>
          <a:xfrm>
            <a:off x="5569701" y="29443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Role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40" name="Chart 39">
            <a:extLst>
              <a:ext uri="{FF2B5EF4-FFF2-40B4-BE49-F238E27FC236}">
                <a16:creationId xmlns:a16="http://schemas.microsoft.com/office/drawing/2014/main" id="{F5B8E603-14AC-D92E-2EDE-1EDAC9F1C711}"/>
              </a:ext>
            </a:extLst>
          </p:cNvPr>
          <p:cNvGraphicFramePr/>
          <p:nvPr>
            <p:extLst>
              <p:ext uri="{D42A27DB-BD31-4B8C-83A1-F6EECF244321}">
                <p14:modId xmlns:p14="http://schemas.microsoft.com/office/powerpoint/2010/main" val="76048769"/>
              </p:ext>
            </p:extLst>
          </p:nvPr>
        </p:nvGraphicFramePr>
        <p:xfrm>
          <a:off x="6966589" y="3054333"/>
          <a:ext cx="3284162" cy="1580682"/>
        </p:xfrm>
        <a:graphic>
          <a:graphicData uri="http://schemas.openxmlformats.org/drawingml/2006/chart">
            <c:chart xmlns:c="http://schemas.openxmlformats.org/drawingml/2006/chart" xmlns:r="http://schemas.openxmlformats.org/officeDocument/2006/relationships" r:id="rId4"/>
          </a:graphicData>
        </a:graphic>
      </p:graphicFrame>
      <p:sp>
        <p:nvSpPr>
          <p:cNvPr id="41" name="TextBox 40">
            <a:extLst>
              <a:ext uri="{FF2B5EF4-FFF2-40B4-BE49-F238E27FC236}">
                <a16:creationId xmlns:a16="http://schemas.microsoft.com/office/drawing/2014/main" id="{CD00F40C-73C2-97FF-FC3C-E8815FE4F380}"/>
              </a:ext>
            </a:extLst>
          </p:cNvPr>
          <p:cNvSpPr txBox="1"/>
          <p:nvPr/>
        </p:nvSpPr>
        <p:spPr>
          <a:xfrm>
            <a:off x="5577652" y="32160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Authority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22415BE3-8BC3-1FB2-3EF3-AAE6D1C4484B}"/>
              </a:ext>
            </a:extLst>
          </p:cNvPr>
          <p:cNvSpPr txBox="1"/>
          <p:nvPr/>
        </p:nvSpPr>
        <p:spPr>
          <a:xfrm>
            <a:off x="5577652" y="35493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Capacity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8ADFD122-7100-362C-36CD-603A43ED1D14}"/>
              </a:ext>
            </a:extLst>
          </p:cNvPr>
          <p:cNvSpPr txBox="1"/>
          <p:nvPr/>
        </p:nvSpPr>
        <p:spPr>
          <a:xfrm>
            <a:off x="5577652" y="38771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Resistance</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B2296D47-C7E9-77F7-EE0C-BDFB66D7C675}"/>
              </a:ext>
            </a:extLst>
          </p:cNvPr>
          <p:cNvSpPr txBox="1"/>
          <p:nvPr/>
        </p:nvSpPr>
        <p:spPr>
          <a:xfrm>
            <a:off x="5577652" y="42129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Incentives</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5" name="Rounded Rectangle 5">
            <a:extLst>
              <a:ext uri="{FF2B5EF4-FFF2-40B4-BE49-F238E27FC236}">
                <a16:creationId xmlns:a16="http://schemas.microsoft.com/office/drawing/2014/main" id="{B6C7295A-9924-072D-A58F-E453CB01C372}"/>
              </a:ext>
            </a:extLst>
          </p:cNvPr>
          <p:cNvSpPr/>
          <p:nvPr/>
        </p:nvSpPr>
        <p:spPr>
          <a:xfrm>
            <a:off x="5507364" y="47430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46" name="TextBox 45">
            <a:extLst>
              <a:ext uri="{FF2B5EF4-FFF2-40B4-BE49-F238E27FC236}">
                <a16:creationId xmlns:a16="http://schemas.microsoft.com/office/drawing/2014/main" id="{4B82C609-C87B-957F-A5C2-22822ABB8C6F}"/>
              </a:ext>
            </a:extLst>
          </p:cNvPr>
          <p:cNvSpPr txBox="1"/>
          <p:nvPr/>
        </p:nvSpPr>
        <p:spPr>
          <a:xfrm>
            <a:off x="5582401" y="47604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Talent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42CB4876-48E9-6BE1-6454-A0C7016716B0}"/>
              </a:ext>
            </a:extLst>
          </p:cNvPr>
          <p:cNvSpPr txBox="1"/>
          <p:nvPr/>
        </p:nvSpPr>
        <p:spPr>
          <a:xfrm>
            <a:off x="5590352" y="50321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JTBD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0BF3D5BA-DB77-7356-C058-2287E2695009}"/>
              </a:ext>
            </a:extLst>
          </p:cNvPr>
          <p:cNvSpPr txBox="1"/>
          <p:nvPr/>
        </p:nvSpPr>
        <p:spPr>
          <a:xfrm>
            <a:off x="5590352" y="53654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Superpower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A8B64445-B287-39AA-227F-F4468B729797}"/>
              </a:ext>
            </a:extLst>
          </p:cNvPr>
          <p:cNvSpPr txBox="1"/>
          <p:nvPr/>
        </p:nvSpPr>
        <p:spPr>
          <a:xfrm>
            <a:off x="5590352" y="56932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Two-way fit</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025721FB-76E2-F0E3-A481-74AB78700B2B}"/>
              </a:ext>
            </a:extLst>
          </p:cNvPr>
          <p:cNvSpPr txBox="1"/>
          <p:nvPr/>
        </p:nvSpPr>
        <p:spPr>
          <a:xfrm>
            <a:off x="5590352" y="60290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Track Record</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51" name="Chart 50">
            <a:extLst>
              <a:ext uri="{FF2B5EF4-FFF2-40B4-BE49-F238E27FC236}">
                <a16:creationId xmlns:a16="http://schemas.microsoft.com/office/drawing/2014/main" id="{E6BFE461-7B74-805D-E257-BD35ED507F40}"/>
              </a:ext>
            </a:extLst>
          </p:cNvPr>
          <p:cNvGraphicFramePr/>
          <p:nvPr>
            <p:extLst>
              <p:ext uri="{D42A27DB-BD31-4B8C-83A1-F6EECF244321}">
                <p14:modId xmlns:p14="http://schemas.microsoft.com/office/powerpoint/2010/main" val="470866444"/>
              </p:ext>
            </p:extLst>
          </p:nvPr>
        </p:nvGraphicFramePr>
        <p:xfrm>
          <a:off x="6979289" y="4870433"/>
          <a:ext cx="3284162" cy="1580682"/>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C5622918-9E5D-45D6-8D79-6A54969BB8B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045766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692026-432B-5D7C-A3F8-95A91510499A}"/>
              </a:ext>
            </a:extLst>
          </p:cNvPr>
          <p:cNvSpPr>
            <a:spLocks noGrp="1"/>
          </p:cNvSpPr>
          <p:nvPr>
            <p:ph type="sldNum" sz="quarter" idx="4"/>
          </p:nvPr>
        </p:nvSpPr>
        <p:spPr/>
        <p:txBody>
          <a:bodyPr/>
          <a:lstStyle/>
          <a:p>
            <a:pPr algn="ctr"/>
            <a:fld id="{7DA59B58-B945-4B36-BC6B-9C26C933A008}" type="slidenum">
              <a:rPr lang="en-US" smtClean="0"/>
              <a:t>17</a:t>
            </a:fld>
            <a:endParaRPr lang="en-US"/>
          </a:p>
        </p:txBody>
      </p:sp>
      <p:sp>
        <p:nvSpPr>
          <p:cNvPr id="6" name="Title 5">
            <a:extLst>
              <a:ext uri="{FF2B5EF4-FFF2-40B4-BE49-F238E27FC236}">
                <a16:creationId xmlns:a16="http://schemas.microsoft.com/office/drawing/2014/main" id="{419EB90A-8763-6126-6644-2323D6091EBF}"/>
              </a:ext>
            </a:extLst>
          </p:cNvPr>
          <p:cNvSpPr>
            <a:spLocks noGrp="1"/>
          </p:cNvSpPr>
          <p:nvPr>
            <p:ph type="title"/>
          </p:nvPr>
        </p:nvSpPr>
        <p:spPr/>
        <p:txBody>
          <a:bodyPr/>
          <a:lstStyle/>
          <a:p>
            <a:r>
              <a:rPr lang="en-US" dirty="0"/>
              <a:t>Hogan Assessment </a:t>
            </a:r>
            <a:r>
              <a:rPr lang="en-US" dirty="0">
                <a:solidFill>
                  <a:schemeClr val="accent1"/>
                </a:solidFill>
              </a:rPr>
              <a:t>Summary</a:t>
            </a:r>
            <a:endParaRPr lang="en-US" dirty="0"/>
          </a:p>
        </p:txBody>
      </p:sp>
      <p:sp>
        <p:nvSpPr>
          <p:cNvPr id="7" name="Rectangle 6">
            <a:extLst>
              <a:ext uri="{FF2B5EF4-FFF2-40B4-BE49-F238E27FC236}">
                <a16:creationId xmlns:a16="http://schemas.microsoft.com/office/drawing/2014/main" id="{9DABA79D-1C8A-59AB-0BAD-130F5E31F589}"/>
              </a:ext>
            </a:extLst>
          </p:cNvPr>
          <p:cNvSpPr/>
          <p:nvPr/>
        </p:nvSpPr>
        <p:spPr>
          <a:xfrm>
            <a:off x="6981826" y="13413"/>
            <a:ext cx="5210174" cy="6858000"/>
          </a:xfrm>
          <a:prstGeom prst="rect">
            <a:avLst/>
          </a:prstGeom>
          <a:solidFill>
            <a:srgbClr val="F2F2F2"/>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sym typeface="Arial"/>
            </a:endParaRPr>
          </a:p>
        </p:txBody>
      </p:sp>
      <p:cxnSp>
        <p:nvCxnSpPr>
          <p:cNvPr id="8" name="Straight Connector 7">
            <a:extLst>
              <a:ext uri="{FF2B5EF4-FFF2-40B4-BE49-F238E27FC236}">
                <a16:creationId xmlns:a16="http://schemas.microsoft.com/office/drawing/2014/main" id="{BED2630C-3515-B7B6-56F8-99B6B7C2FAB9}"/>
              </a:ext>
            </a:extLst>
          </p:cNvPr>
          <p:cNvCxnSpPr>
            <a:cxnSpLocks/>
          </p:cNvCxnSpPr>
          <p:nvPr/>
        </p:nvCxnSpPr>
        <p:spPr>
          <a:xfrm>
            <a:off x="322002" y="919129"/>
            <a:ext cx="6192678"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99FAE50-DA02-8088-0D67-3E8D7182515D}"/>
              </a:ext>
            </a:extLst>
          </p:cNvPr>
          <p:cNvSpPr txBox="1"/>
          <p:nvPr/>
        </p:nvSpPr>
        <p:spPr>
          <a:xfrm>
            <a:off x="437616" y="6078749"/>
            <a:ext cx="4633919" cy="313636"/>
          </a:xfrm>
          <a:prstGeom prst="rect">
            <a:avLst/>
          </a:prstGeom>
          <a:noFill/>
        </p:spPr>
        <p:txBody>
          <a:bodyPr wrap="square" lIns="91440" tIns="45720" rIns="91440" bIns="45720" rtlCol="0" anchor="b">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10" normalizeH="0" baseline="0" noProof="0" dirty="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sym typeface="Arial"/>
              </a:rPr>
              <a:t>* Hogan insights should be read in conjunction with the detailed Hogan Report </a:t>
            </a:r>
          </a:p>
        </p:txBody>
      </p:sp>
      <p:sp>
        <p:nvSpPr>
          <p:cNvPr id="10" name="TextBox 3">
            <a:extLst>
              <a:ext uri="{FF2B5EF4-FFF2-40B4-BE49-F238E27FC236}">
                <a16:creationId xmlns:a16="http://schemas.microsoft.com/office/drawing/2014/main" id="{3D6D8FB4-EE28-6955-BA52-49E7517907F3}"/>
              </a:ext>
            </a:extLst>
          </p:cNvPr>
          <p:cNvSpPr txBox="1">
            <a:spLocks/>
          </p:cNvSpPr>
          <p:nvPr/>
        </p:nvSpPr>
        <p:spPr>
          <a:xfrm>
            <a:off x="322002" y="964741"/>
            <a:ext cx="6388100" cy="4471988"/>
          </a:xfrm>
          <a:prstGeom prst="rect">
            <a:avLst/>
          </a:prstGeom>
          <a:noFill/>
        </p:spPr>
        <p:txBody>
          <a:bodyPr wrap="square" lIns="91440" tIns="45720" rIns="91440" bIns="4572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defRPr/>
            </a:pPr>
            <a:endParaRPr lang="en-US" sz="1400" kern="0" spc="-10">
              <a:solidFill>
                <a:srgbClr val="281A42"/>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r>
              <a:rPr lang="en-US" sz="1400" b="1" kern="0" spc="-10">
                <a:solidFill>
                  <a:schemeClr val="tx1"/>
                </a:solidFill>
                <a:latin typeface="Arial" pitchFamily="34" charset="0"/>
                <a:ea typeface="Lato Light"/>
                <a:cs typeface="Lato Light"/>
                <a:sym typeface="Arial"/>
              </a:rPr>
              <a:t>Role · Talent Match</a:t>
            </a:r>
            <a:br>
              <a:rPr lang="en-US" sz="1400" b="1" kern="0" spc="-10">
                <a:solidFill>
                  <a:schemeClr val="tx1"/>
                </a:solidFill>
                <a:latin typeface="Arial" pitchFamily="34" charset="0"/>
                <a:ea typeface="Lato Light" panose="020F0502020204030203" pitchFamily="34" charset="0"/>
                <a:cs typeface="Lato Light" panose="020F0502020204030203" pitchFamily="34" charset="0"/>
              </a:rPr>
            </a:br>
            <a:endParaRPr lang="en-US" sz="1400" b="1" kern="0" spc="-10">
              <a:solidFill>
                <a:schemeClr val="tx1"/>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CXO has strong drivers related to creating impact and being seen and recognized as doing so. (High Power, High Recognition) .  Additionally, his Ambition and drive points to his desire to lead and deliver results.</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r>
              <a:rPr lang="en-US" sz="1400" b="1" kern="0" spc="-10">
                <a:solidFill>
                  <a:schemeClr val="tx1"/>
                </a:solidFill>
                <a:latin typeface="Arial" pitchFamily="34" charset="0"/>
                <a:sym typeface="Arial"/>
              </a:rPr>
              <a:t>Potential Derailers </a:t>
            </a:r>
            <a:br>
              <a:rPr lang="en-US" sz="1400" kern="0" spc="-10">
                <a:solidFill>
                  <a:sysClr val="windowText" lastClr="000000"/>
                </a:solidFill>
                <a:latin typeface="Arial" pitchFamily="34" charset="0"/>
                <a:ea typeface="Lato Light" panose="020F0502020204030203" pitchFamily="34" charset="0"/>
                <a:cs typeface="Lato Light" panose="020F0502020204030203" pitchFamily="34" charset="0"/>
              </a:rPr>
            </a:br>
            <a:endParaRPr lang="en-US" sz="1400" kern="0" spc="-10">
              <a:solidFill>
                <a:srgbClr val="281A42"/>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The profile suggests that this may not be a natural fit against transformative JTBDS related to expansion and diversification and that some complementing could help on these JTBDs.   </a:t>
            </a:r>
            <a:r>
              <a:rPr lang="en-US" sz="1400" spc="-10">
                <a:solidFill>
                  <a:srgbClr val="3B3B3B"/>
                </a:solidFill>
                <a:latin typeface="Arial" pitchFamily="34" charset="0"/>
                <a:ea typeface="Lato Light"/>
                <a:cs typeface="Lato Light"/>
                <a:sym typeface="Arial"/>
              </a:rPr>
              <a:t>He </a:t>
            </a:r>
            <a:r>
              <a:rPr lang="en-US" sz="1400" kern="0" spc="-10">
                <a:solidFill>
                  <a:srgbClr val="3B3B3B"/>
                </a:solidFill>
                <a:latin typeface="Arial" pitchFamily="34" charset="0"/>
                <a:ea typeface="Lato Light"/>
                <a:cs typeface="Lato Light"/>
                <a:sym typeface="Arial"/>
              </a:rPr>
              <a:t>tends to be pragmatic, a </a:t>
            </a:r>
            <a:r>
              <a:rPr lang="en-US" sz="1400" spc="-10">
                <a:solidFill>
                  <a:srgbClr val="3B3B3B"/>
                </a:solidFill>
                <a:latin typeface="Arial" pitchFamily="34" charset="0"/>
                <a:ea typeface="Lato Light"/>
                <a:cs typeface="Lato Light"/>
                <a:sym typeface="Arial"/>
              </a:rPr>
              <a:t>low-risk</a:t>
            </a:r>
            <a:r>
              <a:rPr lang="en-US" sz="1400" kern="0" spc="-10">
                <a:solidFill>
                  <a:srgbClr val="3B3B3B"/>
                </a:solidFill>
                <a:latin typeface="Arial" pitchFamily="34" charset="0"/>
                <a:ea typeface="Lato Light"/>
                <a:cs typeface="Lato Light"/>
                <a:sym typeface="Arial"/>
              </a:rPr>
              <a:t> taker, focused on the tangible what is, rather than the unpredictability of what can be.   (High Cautious,  High Tradition, Pragmatic Learning Approach).</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The profile also suggests that under stress, he can be seen as somewhat disconnected and uncommunicative which might impact the ability to engage and align the organization.  </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171450" indent="-171450">
              <a:lnSpc>
                <a:spcPct val="100000"/>
              </a:lnSpc>
              <a:spcBef>
                <a:spcPts val="0"/>
              </a:spcBef>
              <a:buFont typeface="Arial" panose="020B0706020202030204" pitchFamily="34" charset="0"/>
              <a:buBlip>
                <a:blip r:embed="rId2"/>
              </a:buBlip>
              <a:defRPr/>
            </a:pPr>
            <a:endParaRPr lang="en-US" sz="1400" kern="0" spc="-10" dirty="0">
              <a:solidFill>
                <a:srgbClr val="3B3B3B"/>
              </a:solidFill>
              <a:latin typeface="Arial" pitchFamily="34" charset="0"/>
              <a:ea typeface="Lato Light" panose="020F0502020204030203" pitchFamily="34" charset="0"/>
              <a:cs typeface="Lato Light" panose="020F0502020204030203" pitchFamily="34" charset="0"/>
              <a:sym typeface="Arial"/>
            </a:endParaRPr>
          </a:p>
        </p:txBody>
      </p:sp>
      <p:pic>
        <p:nvPicPr>
          <p:cNvPr id="11" name="Picture 10">
            <a:extLst>
              <a:ext uri="{FF2B5EF4-FFF2-40B4-BE49-F238E27FC236}">
                <a16:creationId xmlns:a16="http://schemas.microsoft.com/office/drawing/2014/main" id="{D2B23C3C-F053-9904-D2D2-F32A78BDE40E}"/>
              </a:ext>
            </a:extLst>
          </p:cNvPr>
          <p:cNvPicPr>
            <a:picLocks noChangeAspect="1"/>
          </p:cNvPicPr>
          <p:nvPr/>
        </p:nvPicPr>
        <p:blipFill>
          <a:blip r:embed="rId3"/>
          <a:stretch>
            <a:fillRect/>
          </a:stretch>
        </p:blipFill>
        <p:spPr>
          <a:xfrm>
            <a:off x="7053805" y="321189"/>
            <a:ext cx="5066215" cy="6248487"/>
          </a:xfrm>
          <a:prstGeom prst="rect">
            <a:avLst/>
          </a:prstGeom>
        </p:spPr>
      </p:pic>
      <p:sp>
        <p:nvSpPr>
          <p:cNvPr id="12" name="TextBox 11">
            <a:extLst>
              <a:ext uri="{FF2B5EF4-FFF2-40B4-BE49-F238E27FC236}">
                <a16:creationId xmlns:a16="http://schemas.microsoft.com/office/drawing/2014/main" id="{D63FAC39-C31D-F536-8D70-06405A38C8A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853114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54E53-40DA-6694-9CAF-6241B83B0A7C}"/>
              </a:ext>
            </a:extLst>
          </p:cNvPr>
          <p:cNvSpPr>
            <a:spLocks noGrp="1"/>
          </p:cNvSpPr>
          <p:nvPr>
            <p:ph type="sldNum" sz="quarter" idx="4"/>
          </p:nvPr>
        </p:nvSpPr>
        <p:spPr/>
        <p:txBody>
          <a:bodyPr/>
          <a:lstStyle/>
          <a:p>
            <a:pPr algn="ctr"/>
            <a:fld id="{1875A764-3B06-454E-8ABA-2F6ED0EB58E9}" type="slidenum">
              <a:rPr lang="en-US" smtClean="0"/>
              <a:t>18</a:t>
            </a:fld>
            <a:endParaRPr lang="en-US"/>
          </a:p>
        </p:txBody>
      </p:sp>
      <p:sp>
        <p:nvSpPr>
          <p:cNvPr id="3" name="Title 2">
            <a:extLst>
              <a:ext uri="{FF2B5EF4-FFF2-40B4-BE49-F238E27FC236}">
                <a16:creationId xmlns:a16="http://schemas.microsoft.com/office/drawing/2014/main" id="{8FADD05E-0934-62B7-AC56-F74AD54AA927}"/>
              </a:ext>
            </a:extLst>
          </p:cNvPr>
          <p:cNvSpPr>
            <a:spLocks noGrp="1"/>
          </p:cNvSpPr>
          <p:nvPr>
            <p:ph type="title"/>
          </p:nvPr>
        </p:nvSpPr>
        <p:spPr/>
        <p:txBody>
          <a:bodyPr/>
          <a:lstStyle/>
          <a:p>
            <a:r>
              <a:rPr lang="en-US" dirty="0"/>
              <a:t>The 4 Pillars Essential for CXO Success: Summary</a:t>
            </a:r>
          </a:p>
        </p:txBody>
      </p:sp>
      <p:sp>
        <p:nvSpPr>
          <p:cNvPr id="4" name="TextBox 3">
            <a:extLst>
              <a:ext uri="{FF2B5EF4-FFF2-40B4-BE49-F238E27FC236}">
                <a16:creationId xmlns:a16="http://schemas.microsoft.com/office/drawing/2014/main" id="{AC14BB40-2E66-9980-0AC5-A1F6FFB7D84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5" name="Rounded Rectangle 4">
            <a:extLst>
              <a:ext uri="{FF2B5EF4-FFF2-40B4-BE49-F238E27FC236}">
                <a16:creationId xmlns:a16="http://schemas.microsoft.com/office/drawing/2014/main" id="{69B350B3-9341-1E17-6852-43335C3DE67F}"/>
              </a:ext>
            </a:extLst>
          </p:cNvPr>
          <p:cNvSpPr/>
          <p:nvPr/>
        </p:nvSpPr>
        <p:spPr>
          <a:xfrm>
            <a:off x="559098" y="3066940"/>
            <a:ext cx="8110800" cy="3401738"/>
          </a:xfrm>
          <a:prstGeom prst="roundRect">
            <a:avLst>
              <a:gd name="adj" fmla="val 602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6" name="Rounded Rectangle 5">
            <a:extLst>
              <a:ext uri="{FF2B5EF4-FFF2-40B4-BE49-F238E27FC236}">
                <a16:creationId xmlns:a16="http://schemas.microsoft.com/office/drawing/2014/main" id="{BAB9A362-4826-82D9-DAAE-09FA7F5E584E}"/>
              </a:ext>
            </a:extLst>
          </p:cNvPr>
          <p:cNvSpPr/>
          <p:nvPr/>
        </p:nvSpPr>
        <p:spPr>
          <a:xfrm>
            <a:off x="563253" y="663172"/>
            <a:ext cx="4039483" cy="2320025"/>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7" name="Rounded Rectangle 6">
            <a:extLst>
              <a:ext uri="{FF2B5EF4-FFF2-40B4-BE49-F238E27FC236}">
                <a16:creationId xmlns:a16="http://schemas.microsoft.com/office/drawing/2014/main" id="{217A04FB-BA98-7014-C51D-69C338963023}"/>
              </a:ext>
            </a:extLst>
          </p:cNvPr>
          <p:cNvSpPr/>
          <p:nvPr/>
        </p:nvSpPr>
        <p:spPr>
          <a:xfrm>
            <a:off x="4703549" y="663172"/>
            <a:ext cx="7307101" cy="2320025"/>
          </a:xfrm>
          <a:prstGeom prst="roundRect">
            <a:avLst>
              <a:gd name="adj" fmla="val 6590"/>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8" name="Rounded Rectangle 7">
            <a:extLst>
              <a:ext uri="{FF2B5EF4-FFF2-40B4-BE49-F238E27FC236}">
                <a16:creationId xmlns:a16="http://schemas.microsoft.com/office/drawing/2014/main" id="{5BDE65A5-DF63-1D5D-CBC0-B7ED4291D7C7}"/>
              </a:ext>
            </a:extLst>
          </p:cNvPr>
          <p:cNvSpPr/>
          <p:nvPr/>
        </p:nvSpPr>
        <p:spPr>
          <a:xfrm>
            <a:off x="8766887" y="3066941"/>
            <a:ext cx="3243763" cy="3401738"/>
          </a:xfrm>
          <a:prstGeom prst="roundRect">
            <a:avLst>
              <a:gd name="adj" fmla="val 505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9" name="TextBox 8">
            <a:extLst>
              <a:ext uri="{FF2B5EF4-FFF2-40B4-BE49-F238E27FC236}">
                <a16:creationId xmlns:a16="http://schemas.microsoft.com/office/drawing/2014/main" id="{AC1A1A7A-7715-3A6E-5D3D-FA6714AEC7B4}"/>
              </a:ext>
            </a:extLst>
          </p:cNvPr>
          <p:cNvSpPr txBox="1"/>
          <p:nvPr/>
        </p:nvSpPr>
        <p:spPr>
          <a:xfrm>
            <a:off x="772753" y="663339"/>
            <a:ext cx="3059202"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Clarity and Alignment on Mandate</a:t>
            </a:r>
            <a:endParaRPr kumimoji="0" lang="en-US" sz="1400" b="1" i="0" u="none" strike="noStrike" kern="0" cap="none" spc="-25" normalizeH="0" baseline="0" noProof="0" dirty="0">
              <a:ln>
                <a:noFill/>
              </a:ln>
              <a:solidFill>
                <a:srgbClr val="281A42"/>
              </a:solidFill>
              <a:effectLst/>
              <a:uLnTx/>
              <a:uFillTx/>
              <a:latin typeface="Segoe UI" pitchFamily="34" charset="0"/>
              <a:cs typeface="Calibri" panose="020F0502020204030204" pitchFamily="34" charset="0"/>
            </a:endParaRPr>
          </a:p>
        </p:txBody>
      </p:sp>
      <p:sp>
        <p:nvSpPr>
          <p:cNvPr id="10" name="TextBox 38">
            <a:extLst>
              <a:ext uri="{FF2B5EF4-FFF2-40B4-BE49-F238E27FC236}">
                <a16:creationId xmlns:a16="http://schemas.microsoft.com/office/drawing/2014/main" id="{B726C96B-0788-410A-72C9-95B50B67D7C9}"/>
              </a:ext>
            </a:extLst>
          </p:cNvPr>
          <p:cNvSpPr txBox="1">
            <a:spLocks/>
          </p:cNvSpPr>
          <p:nvPr/>
        </p:nvSpPr>
        <p:spPr>
          <a:xfrm>
            <a:off x="773632" y="1206517"/>
            <a:ext cx="3763966" cy="1140313"/>
          </a:xfrm>
          <a:prstGeom prst="rect">
            <a:avLst/>
          </a:prstGeom>
          <a:noFill/>
        </p:spPr>
        <p:txBody>
          <a:bodyPr wrap="square" lIns="0" tIns="45720" rIns="91440" bIns="4572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Lack of clarity and insufficient alignment on mandate between stakeholders (Board, CEO, ExCo). </a:t>
            </a:r>
          </a:p>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The vison has not been translated into specific and clear plans. </a:t>
            </a:r>
          </a:p>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Low confidence among the Board and leadership team members regarding the achievability of these ambitions. </a:t>
            </a:r>
            <a:endParaRPr lang="en-US" kern="0" spc="-10" dirty="0">
              <a:solidFill>
                <a:srgbClr val="1D1D1D"/>
              </a:solidFill>
              <a:latin typeface="Arial" pitchFamily="34" charset="0"/>
            </a:endParaRPr>
          </a:p>
        </p:txBody>
      </p:sp>
      <p:sp>
        <p:nvSpPr>
          <p:cNvPr id="11" name="TextBox 10">
            <a:extLst>
              <a:ext uri="{FF2B5EF4-FFF2-40B4-BE49-F238E27FC236}">
                <a16:creationId xmlns:a16="http://schemas.microsoft.com/office/drawing/2014/main" id="{337728E2-F40F-1C84-E0B9-8F8C775992BB}"/>
              </a:ext>
            </a:extLst>
          </p:cNvPr>
          <p:cNvSpPr txBox="1"/>
          <p:nvPr/>
        </p:nvSpPr>
        <p:spPr>
          <a:xfrm>
            <a:off x="4906781" y="663172"/>
            <a:ext cx="3020083" cy="558665"/>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Click between CXO Jobs + Ambition</a:t>
            </a:r>
          </a:p>
        </p:txBody>
      </p:sp>
      <p:sp>
        <p:nvSpPr>
          <p:cNvPr id="12" name="TextBox 11">
            <a:extLst>
              <a:ext uri="{FF2B5EF4-FFF2-40B4-BE49-F238E27FC236}">
                <a16:creationId xmlns:a16="http://schemas.microsoft.com/office/drawing/2014/main" id="{1C27B91A-5A4D-F157-52F8-ECF37A3B6CDD}"/>
              </a:ext>
            </a:extLst>
          </p:cNvPr>
          <p:cNvSpPr txBox="1"/>
          <p:nvPr/>
        </p:nvSpPr>
        <p:spPr>
          <a:xfrm>
            <a:off x="4933354" y="1119367"/>
            <a:ext cx="6695393" cy="1854649"/>
          </a:xfrm>
          <a:prstGeom prst="rect">
            <a:avLst/>
          </a:prstGeom>
          <a:noFill/>
        </p:spPr>
        <p:txBody>
          <a:bodyPr wrap="square" lIns="0" tIns="45720" rIns="91440" bIns="45720" numCol="3" spcCol="108000" anchor="t">
            <a:noAutofit/>
          </a:bodyPr>
          <a:lstStyle/>
          <a:p>
            <a:pPr marL="171450" indent="-171450">
              <a:spcAft>
                <a:spcPts val="800"/>
              </a:spcAft>
              <a:buBlip>
                <a:blip r:embed="rId2"/>
              </a:buBlip>
              <a:tabLst>
                <a:tab pos="2054225" algn="l"/>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Strong regional and </a:t>
            </a:r>
            <a:r>
              <a:rPr lang="en-US" sz="1200" kern="0" spc="-10" dirty="0">
                <a:solidFill>
                  <a:srgbClr val="1D1D1D"/>
                </a:solidFill>
                <a:latin typeface="Arial" pitchFamily="34" charset="0"/>
              </a:rPr>
              <a:t>operational background capable of running the business.</a:t>
            </a:r>
          </a:p>
          <a:p>
            <a:pPr marL="171450" indent="-171450">
              <a:spcAft>
                <a:spcPts val="800"/>
              </a:spcAft>
              <a:buBlip>
                <a:blip r:embed="rId2"/>
              </a:buBlip>
              <a:tabLst>
                <a:tab pos="2054225" algn="l"/>
              </a:tabLst>
              <a:defRPr/>
            </a:pPr>
            <a:r>
              <a:rPr lang="en-US" sz="1200" kern="0" spc="-10" dirty="0">
                <a:solidFill>
                  <a:srgbClr val="1D1D1D"/>
                </a:solidFill>
                <a:latin typeface="Arial" pitchFamily="34" charset="0"/>
              </a:rPr>
              <a:t>However, his Jobs-to-be done readiness is ~50% (VA portfolio, inorganic growth, geographic expansion, operating model).</a:t>
            </a:r>
          </a:p>
          <a:p>
            <a:pPr marL="171450" indent="-171450">
              <a:spcAft>
                <a:spcPts val="800"/>
              </a:spcAft>
              <a:buBlip>
                <a:blip r:embed="rId2"/>
              </a:buBlip>
              <a:defRPr/>
            </a:pPr>
            <a:r>
              <a:rPr lang="en-US" sz="1200" kern="0" spc="-10" dirty="0">
                <a:solidFill>
                  <a:srgbClr val="1D1D1D"/>
                </a:solidFill>
                <a:latin typeface="Arial" pitchFamily="34" charset="0"/>
              </a:rPr>
              <a:t>Relies heavily on Board’s guidance and lacks initiative for new growth opportunities. </a:t>
            </a:r>
          </a:p>
          <a:p>
            <a:pPr marL="171450" indent="-171450">
              <a:spcAft>
                <a:spcPts val="800"/>
              </a:spcAft>
              <a:buClrTx/>
              <a:buSzTx/>
              <a:buBlip>
                <a:blip r:embed="rId2"/>
              </a:buBlip>
              <a:defRPr/>
            </a:pPr>
            <a:r>
              <a:rPr lang="en-US" sz="1200" kern="0" spc="-10" dirty="0">
                <a:solidFill>
                  <a:srgbClr val="1D1D1D"/>
                </a:solidFill>
                <a:latin typeface="Arial" pitchFamily="34" charset="0"/>
              </a:rPr>
              <a:t>Gap in defining and detailing an exciting growth narrative to build investor commitment &amp; confidence to deliver deals.</a:t>
            </a:r>
          </a:p>
          <a:p>
            <a:pPr marL="171450" indent="-171450">
              <a:spcAft>
                <a:spcPts val="800"/>
              </a:spcAft>
              <a:buBlip>
                <a:blip r:embed="rId2"/>
              </a:buBlip>
              <a:defRPr/>
            </a:pPr>
            <a:endParaRPr lang="en-US" sz="1200" kern="0" spc="-10" dirty="0">
              <a:solidFill>
                <a:srgbClr val="1D1D1D"/>
              </a:solidFill>
              <a:latin typeface="Arial" pitchFamily="34" charset="0"/>
            </a:endParaRPr>
          </a:p>
          <a:p>
            <a:pPr marL="171450" indent="-171450">
              <a:spcAft>
                <a:spcPts val="800"/>
              </a:spcAft>
              <a:buBlip>
                <a:blip r:embed="rId2"/>
              </a:buBlip>
              <a:defRPr/>
            </a:pPr>
            <a:r>
              <a:rPr lang="en-US" sz="1200" kern="0" spc="-10" dirty="0">
                <a:solidFill>
                  <a:srgbClr val="1D1D1D"/>
                </a:solidFill>
                <a:latin typeface="Arial" pitchFamily="34" charset="0"/>
              </a:rPr>
              <a:t>Hesitant to make bold decisions and is corroborated with his Hogan.</a:t>
            </a:r>
          </a:p>
          <a:p>
            <a:pPr marL="171450" indent="-171450">
              <a:spcAft>
                <a:spcPts val="800"/>
              </a:spcAft>
              <a:buClrTx/>
              <a:buSzTx/>
              <a:buBlip>
                <a:blip r:embed="rId2"/>
              </a:buBlip>
              <a:defRPr/>
            </a:pPr>
            <a:r>
              <a:rPr lang="en-US" sz="1200" kern="0" spc="-10" dirty="0">
                <a:solidFill>
                  <a:srgbClr val="1D1D1D"/>
                </a:solidFill>
                <a:latin typeface="Arial" pitchFamily="34" charset="0"/>
              </a:rPr>
              <a:t>Does not hold his team accountable for performance. </a:t>
            </a:r>
          </a:p>
          <a:p>
            <a:pPr marL="171450" marR="0" lvl="0" indent="-171450" defTabSz="91440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3" name="TextBox 12">
            <a:extLst>
              <a:ext uri="{FF2B5EF4-FFF2-40B4-BE49-F238E27FC236}">
                <a16:creationId xmlns:a16="http://schemas.microsoft.com/office/drawing/2014/main" id="{B47DAC5A-BFA0-1157-6319-F91B0F8EB339}"/>
              </a:ext>
            </a:extLst>
          </p:cNvPr>
          <p:cNvSpPr txBox="1"/>
          <p:nvPr/>
        </p:nvSpPr>
        <p:spPr>
          <a:xfrm>
            <a:off x="750773" y="3071132"/>
            <a:ext cx="4011477" cy="456453"/>
          </a:xfrm>
          <a:prstGeom prst="rect">
            <a:avLst/>
          </a:prstGeom>
          <a:noFill/>
        </p:spPr>
        <p:txBody>
          <a:bodyPr wrap="square" lIns="0" tIns="45720" rIns="91440" bIns="45720" anchor="t">
            <a:noAutofit/>
          </a:bodyPr>
          <a:lstStyle/>
          <a:p>
            <a:pPr>
              <a:defRPr/>
            </a:pPr>
            <a:r>
              <a:rPr kumimoji="0" lang="en-US" sz="1400" b="1" i="0" u="none" strike="noStrike" kern="0" cap="none" spc="0" normalizeH="0" baseline="0" noProof="0" dirty="0">
                <a:ln>
                  <a:noFill/>
                </a:ln>
                <a:solidFill>
                  <a:srgbClr val="281A42"/>
                </a:solidFill>
                <a:effectLst/>
                <a:uLnTx/>
                <a:uFillTx/>
                <a:latin typeface="Lato Black"/>
                <a:ea typeface="Lato Black"/>
                <a:cs typeface="Calibri"/>
              </a:rPr>
              <a:t>LT capability to deliver strategy</a:t>
            </a:r>
            <a:r>
              <a:rPr lang="en-US" sz="1400" b="1" dirty="0">
                <a:solidFill>
                  <a:srgbClr val="281A42"/>
                </a:solidFill>
                <a:latin typeface="Lato Black"/>
                <a:ea typeface="Lato Black"/>
                <a:cs typeface="Calibri"/>
              </a:rPr>
              <a:t> </a:t>
            </a: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14" name="TextBox 13">
            <a:extLst>
              <a:ext uri="{FF2B5EF4-FFF2-40B4-BE49-F238E27FC236}">
                <a16:creationId xmlns:a16="http://schemas.microsoft.com/office/drawing/2014/main" id="{468FF03D-7E7E-E9E1-F9BF-83D3F5B770C1}"/>
              </a:ext>
            </a:extLst>
          </p:cNvPr>
          <p:cNvSpPr txBox="1"/>
          <p:nvPr/>
        </p:nvSpPr>
        <p:spPr>
          <a:xfrm>
            <a:off x="8953168" y="3025825"/>
            <a:ext cx="2157198"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rPr>
              <a:t>Organization capabilities &amp; critical roles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15" name="Rounded Rectangle 14">
            <a:extLst>
              <a:ext uri="{FF2B5EF4-FFF2-40B4-BE49-F238E27FC236}">
                <a16:creationId xmlns:a16="http://schemas.microsoft.com/office/drawing/2014/main" id="{74F6FC46-32FB-FE80-1DD0-A41F646DAB67}"/>
              </a:ext>
            </a:extLst>
          </p:cNvPr>
          <p:cNvSpPr/>
          <p:nvPr/>
        </p:nvSpPr>
        <p:spPr>
          <a:xfrm>
            <a:off x="772752" y="3869689"/>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6" name="Rounded Rectangle 15">
            <a:extLst>
              <a:ext uri="{FF2B5EF4-FFF2-40B4-BE49-F238E27FC236}">
                <a16:creationId xmlns:a16="http://schemas.microsoft.com/office/drawing/2014/main" id="{A9129016-F451-3D23-9B1D-15A58290B355}"/>
              </a:ext>
            </a:extLst>
          </p:cNvPr>
          <p:cNvSpPr/>
          <p:nvPr/>
        </p:nvSpPr>
        <p:spPr>
          <a:xfrm>
            <a:off x="2675242" y="3869689"/>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17" name="Rounded Rectangle 16">
            <a:extLst>
              <a:ext uri="{FF2B5EF4-FFF2-40B4-BE49-F238E27FC236}">
                <a16:creationId xmlns:a16="http://schemas.microsoft.com/office/drawing/2014/main" id="{E822B8A2-4FBD-4D57-30E3-34464BE808C4}"/>
              </a:ext>
            </a:extLst>
          </p:cNvPr>
          <p:cNvSpPr/>
          <p:nvPr/>
        </p:nvSpPr>
        <p:spPr>
          <a:xfrm>
            <a:off x="3642064"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8" name="Rounded Rectangle 17">
            <a:extLst>
              <a:ext uri="{FF2B5EF4-FFF2-40B4-BE49-F238E27FC236}">
                <a16:creationId xmlns:a16="http://schemas.microsoft.com/office/drawing/2014/main" id="{99C2904B-C0EA-FFE5-4BD2-BC61F4545E4E}"/>
              </a:ext>
            </a:extLst>
          </p:cNvPr>
          <p:cNvSpPr/>
          <p:nvPr/>
        </p:nvSpPr>
        <p:spPr>
          <a:xfrm>
            <a:off x="4608885"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9" name="Rounded Rectangle 18">
            <a:extLst>
              <a:ext uri="{FF2B5EF4-FFF2-40B4-BE49-F238E27FC236}">
                <a16:creationId xmlns:a16="http://schemas.microsoft.com/office/drawing/2014/main" id="{06F34F76-006F-E4DC-F755-678CC30A600C}"/>
              </a:ext>
            </a:extLst>
          </p:cNvPr>
          <p:cNvSpPr/>
          <p:nvPr/>
        </p:nvSpPr>
        <p:spPr>
          <a:xfrm>
            <a:off x="5575707" y="3869689"/>
            <a:ext cx="908538" cy="1566303"/>
          </a:xfrm>
          <a:prstGeom prst="roundRect">
            <a:avLst>
              <a:gd name="adj" fmla="val 7595"/>
            </a:avLst>
          </a:prstGeom>
          <a:solidFill>
            <a:schemeClr val="accent6">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20" name="Rounded Rectangle 19">
            <a:extLst>
              <a:ext uri="{FF2B5EF4-FFF2-40B4-BE49-F238E27FC236}">
                <a16:creationId xmlns:a16="http://schemas.microsoft.com/office/drawing/2014/main" id="{BC0460AC-42AC-0C7B-9FCC-31D165817E61}"/>
              </a:ext>
            </a:extLst>
          </p:cNvPr>
          <p:cNvSpPr/>
          <p:nvPr/>
        </p:nvSpPr>
        <p:spPr>
          <a:xfrm>
            <a:off x="6542529" y="3869689"/>
            <a:ext cx="908538" cy="1566303"/>
          </a:xfrm>
          <a:prstGeom prst="roundRect">
            <a:avLst>
              <a:gd name="adj" fmla="val 7595"/>
            </a:avLst>
          </a:prstGeom>
          <a:solidFill>
            <a:srgbClr val="281A4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1" name="Rounded Rectangle 20">
            <a:extLst>
              <a:ext uri="{FF2B5EF4-FFF2-40B4-BE49-F238E27FC236}">
                <a16:creationId xmlns:a16="http://schemas.microsoft.com/office/drawing/2014/main" id="{456F8040-F7B9-79EF-02CC-206374D01D4B}"/>
              </a:ext>
            </a:extLst>
          </p:cNvPr>
          <p:cNvSpPr/>
          <p:nvPr/>
        </p:nvSpPr>
        <p:spPr>
          <a:xfrm>
            <a:off x="7509351"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22" name="Rounded Rectangle 21">
            <a:extLst>
              <a:ext uri="{FF2B5EF4-FFF2-40B4-BE49-F238E27FC236}">
                <a16:creationId xmlns:a16="http://schemas.microsoft.com/office/drawing/2014/main" id="{170D45BE-37EF-713B-20A9-9C90E3482685}"/>
              </a:ext>
            </a:extLst>
          </p:cNvPr>
          <p:cNvSpPr/>
          <p:nvPr/>
        </p:nvSpPr>
        <p:spPr>
          <a:xfrm>
            <a:off x="1717026" y="3869623"/>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3" name="TextBox 22">
            <a:extLst>
              <a:ext uri="{FF2B5EF4-FFF2-40B4-BE49-F238E27FC236}">
                <a16:creationId xmlns:a16="http://schemas.microsoft.com/office/drawing/2014/main" id="{A507E8CF-4BC5-2992-F95D-17B61D6050EE}"/>
              </a:ext>
            </a:extLst>
          </p:cNvPr>
          <p:cNvSpPr txBox="1"/>
          <p:nvPr/>
        </p:nvSpPr>
        <p:spPr>
          <a:xfrm>
            <a:off x="7580575" y="3891296"/>
            <a:ext cx="653833"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CFO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4" name="TextBox 23">
            <a:extLst>
              <a:ext uri="{FF2B5EF4-FFF2-40B4-BE49-F238E27FC236}">
                <a16:creationId xmlns:a16="http://schemas.microsoft.com/office/drawing/2014/main" id="{275F12C8-B17F-64CA-7C65-EDB41DAE66AF}"/>
              </a:ext>
            </a:extLst>
          </p:cNvPr>
          <p:cNvSpPr txBox="1"/>
          <p:nvPr/>
        </p:nvSpPr>
        <p:spPr>
          <a:xfrm>
            <a:off x="2722554" y="3891296"/>
            <a:ext cx="73387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CHRO</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5" name="TextBox 24">
            <a:extLst>
              <a:ext uri="{FF2B5EF4-FFF2-40B4-BE49-F238E27FC236}">
                <a16:creationId xmlns:a16="http://schemas.microsoft.com/office/drawing/2014/main" id="{DCD1534F-C375-5BB3-C18B-CC47AAD4D7F9}"/>
              </a:ext>
            </a:extLst>
          </p:cNvPr>
          <p:cNvSpPr txBox="1"/>
          <p:nvPr/>
        </p:nvSpPr>
        <p:spPr>
          <a:xfrm>
            <a:off x="3711875" y="3891296"/>
            <a:ext cx="778490"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Technology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6" name="TextBox 25">
            <a:extLst>
              <a:ext uri="{FF2B5EF4-FFF2-40B4-BE49-F238E27FC236}">
                <a16:creationId xmlns:a16="http://schemas.microsoft.com/office/drawing/2014/main" id="{CA56CCA4-A8AE-AFAC-BD02-A8FC2D368968}"/>
              </a:ext>
            </a:extLst>
          </p:cNvPr>
          <p:cNvSpPr txBox="1"/>
          <p:nvPr/>
        </p:nvSpPr>
        <p:spPr>
          <a:xfrm>
            <a:off x="4670387" y="3891296"/>
            <a:ext cx="778490"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Projects 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7" name="TextBox 26">
            <a:extLst>
              <a:ext uri="{FF2B5EF4-FFF2-40B4-BE49-F238E27FC236}">
                <a16:creationId xmlns:a16="http://schemas.microsoft.com/office/drawing/2014/main" id="{A80D4ACC-16EF-B574-CF84-3AE8EA5B4CAF}"/>
              </a:ext>
            </a:extLst>
          </p:cNvPr>
          <p:cNvSpPr txBox="1"/>
          <p:nvPr/>
        </p:nvSpPr>
        <p:spPr>
          <a:xfrm>
            <a:off x="5615463" y="3891296"/>
            <a:ext cx="97075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PMO &amp; Transformation</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8" name="TextBox 27">
            <a:extLst>
              <a:ext uri="{FF2B5EF4-FFF2-40B4-BE49-F238E27FC236}">
                <a16:creationId xmlns:a16="http://schemas.microsoft.com/office/drawing/2014/main" id="{B0290FEA-2692-EDE1-AE8A-7619049FA3CE}"/>
              </a:ext>
            </a:extLst>
          </p:cNvPr>
          <p:cNvSpPr txBox="1"/>
          <p:nvPr/>
        </p:nvSpPr>
        <p:spPr>
          <a:xfrm>
            <a:off x="6603401" y="3891296"/>
            <a:ext cx="788089"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Growth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lang="en-US" sz="900" spc="-10" dirty="0">
              <a:solidFill>
                <a:srgbClr val="FFFFFF"/>
              </a:solidFill>
              <a:latin typeface="Arial" pitchFamily="34" charset="0"/>
              <a:ea typeface="+mn-ea"/>
              <a:cs typeface="+mn-cs"/>
            </a:endParaRPr>
          </a:p>
        </p:txBody>
      </p:sp>
      <p:sp>
        <p:nvSpPr>
          <p:cNvPr id="29" name="TextBox 28">
            <a:extLst>
              <a:ext uri="{FF2B5EF4-FFF2-40B4-BE49-F238E27FC236}">
                <a16:creationId xmlns:a16="http://schemas.microsoft.com/office/drawing/2014/main" id="{1D5CAE4F-7346-165A-448E-B6B0289FC664}"/>
              </a:ext>
            </a:extLst>
          </p:cNvPr>
          <p:cNvSpPr txBox="1"/>
          <p:nvPr/>
        </p:nvSpPr>
        <p:spPr>
          <a:xfrm>
            <a:off x="860830" y="3891296"/>
            <a:ext cx="73782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lang="en-US" sz="900" b="1" spc="-10" dirty="0">
                <a:solidFill>
                  <a:srgbClr val="FFFFFF"/>
                </a:solidFill>
                <a:latin typeface="Segoe UI" pitchFamily="34" charset="0"/>
                <a:ea typeface="+mn-ea"/>
                <a:cs typeface="+mn-cs"/>
              </a:rPr>
              <a:t>CEO </a:t>
            </a: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BU 1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p:txBody>
      </p:sp>
      <p:sp>
        <p:nvSpPr>
          <p:cNvPr id="30" name="TextBox 29">
            <a:extLst>
              <a:ext uri="{FF2B5EF4-FFF2-40B4-BE49-F238E27FC236}">
                <a16:creationId xmlns:a16="http://schemas.microsoft.com/office/drawing/2014/main" id="{1A0C5C45-6389-B3FC-DF9D-27DC2E751514}"/>
              </a:ext>
            </a:extLst>
          </p:cNvPr>
          <p:cNvSpPr txBox="1"/>
          <p:nvPr/>
        </p:nvSpPr>
        <p:spPr>
          <a:xfrm>
            <a:off x="1777090" y="3891296"/>
            <a:ext cx="78947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CEO BU 2</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cxnSp>
        <p:nvCxnSpPr>
          <p:cNvPr id="31" name="Straight Connector 30">
            <a:extLst>
              <a:ext uri="{FF2B5EF4-FFF2-40B4-BE49-F238E27FC236}">
                <a16:creationId xmlns:a16="http://schemas.microsoft.com/office/drawing/2014/main" id="{E2CFD2A5-CB32-19D7-7120-220ED6E7B2F5}"/>
              </a:ext>
            </a:extLst>
          </p:cNvPr>
          <p:cNvCxnSpPr>
            <a:cxnSpLocks/>
          </p:cNvCxnSpPr>
          <p:nvPr/>
        </p:nvCxnSpPr>
        <p:spPr>
          <a:xfrm>
            <a:off x="772752" y="4584616"/>
            <a:ext cx="767629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32" name="Triangle 73">
            <a:extLst>
              <a:ext uri="{FF2B5EF4-FFF2-40B4-BE49-F238E27FC236}">
                <a16:creationId xmlns:a16="http://schemas.microsoft.com/office/drawing/2014/main" id="{165BA487-9CBF-4986-1A51-DE8E44B18355}"/>
              </a:ext>
            </a:extLst>
          </p:cNvPr>
          <p:cNvSpPr/>
          <p:nvPr/>
        </p:nvSpPr>
        <p:spPr>
          <a:xfrm rot="5400000">
            <a:off x="3460592"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3" name="Triangle 73">
            <a:extLst>
              <a:ext uri="{FF2B5EF4-FFF2-40B4-BE49-F238E27FC236}">
                <a16:creationId xmlns:a16="http://schemas.microsoft.com/office/drawing/2014/main" id="{D744C069-F3C1-F7EC-5C8C-971048F746A7}"/>
              </a:ext>
            </a:extLst>
          </p:cNvPr>
          <p:cNvSpPr/>
          <p:nvPr/>
        </p:nvSpPr>
        <p:spPr>
          <a:xfrm rot="5400000">
            <a:off x="4430030"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4" name="Triangle 73">
            <a:extLst>
              <a:ext uri="{FF2B5EF4-FFF2-40B4-BE49-F238E27FC236}">
                <a16:creationId xmlns:a16="http://schemas.microsoft.com/office/drawing/2014/main" id="{CD4BB915-A4C6-5D3A-AE85-8547092AD83E}"/>
              </a:ext>
            </a:extLst>
          </p:cNvPr>
          <p:cNvSpPr/>
          <p:nvPr/>
        </p:nvSpPr>
        <p:spPr>
          <a:xfrm rot="5400000">
            <a:off x="5391407"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5" name="Triangle 73">
            <a:extLst>
              <a:ext uri="{FF2B5EF4-FFF2-40B4-BE49-F238E27FC236}">
                <a16:creationId xmlns:a16="http://schemas.microsoft.com/office/drawing/2014/main" id="{7BFB0486-9701-E21E-D25C-C8F19574BEA5}"/>
              </a:ext>
            </a:extLst>
          </p:cNvPr>
          <p:cNvSpPr/>
          <p:nvPr/>
        </p:nvSpPr>
        <p:spPr>
          <a:xfrm rot="5400000">
            <a:off x="6365666"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6" name="Triangle 73">
            <a:extLst>
              <a:ext uri="{FF2B5EF4-FFF2-40B4-BE49-F238E27FC236}">
                <a16:creationId xmlns:a16="http://schemas.microsoft.com/office/drawing/2014/main" id="{D2C80D40-DBBA-7068-F4B2-514B41876514}"/>
              </a:ext>
            </a:extLst>
          </p:cNvPr>
          <p:cNvSpPr/>
          <p:nvPr/>
        </p:nvSpPr>
        <p:spPr>
          <a:xfrm rot="5400000">
            <a:off x="7327043"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7" name="Triangle 73">
            <a:extLst>
              <a:ext uri="{FF2B5EF4-FFF2-40B4-BE49-F238E27FC236}">
                <a16:creationId xmlns:a16="http://schemas.microsoft.com/office/drawing/2014/main" id="{92BB1147-DD45-CA3E-C6A2-5AD997E3ABE9}"/>
              </a:ext>
            </a:extLst>
          </p:cNvPr>
          <p:cNvSpPr/>
          <p:nvPr/>
        </p:nvSpPr>
        <p:spPr>
          <a:xfrm rot="5400000">
            <a:off x="8309622"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graphicFrame>
        <p:nvGraphicFramePr>
          <p:cNvPr id="38" name="Table 37">
            <a:extLst>
              <a:ext uri="{FF2B5EF4-FFF2-40B4-BE49-F238E27FC236}">
                <a16:creationId xmlns:a16="http://schemas.microsoft.com/office/drawing/2014/main" id="{D52E4D5A-4A8E-2A13-BBEF-AFAC72540969}"/>
              </a:ext>
            </a:extLst>
          </p:cNvPr>
          <p:cNvGraphicFramePr>
            <a:graphicFrameLocks noGrp="1"/>
          </p:cNvGraphicFramePr>
          <p:nvPr>
            <p:extLst>
              <p:ext uri="{D42A27DB-BD31-4B8C-83A1-F6EECF244321}">
                <p14:modId xmlns:p14="http://schemas.microsoft.com/office/powerpoint/2010/main" val="2650270091"/>
              </p:ext>
            </p:extLst>
          </p:nvPr>
        </p:nvGraphicFramePr>
        <p:xfrm>
          <a:off x="8953167" y="3802242"/>
          <a:ext cx="2885481" cy="2560320"/>
        </p:xfrm>
        <a:graphic>
          <a:graphicData uri="http://schemas.openxmlformats.org/drawingml/2006/table">
            <a:tbl>
              <a:tblPr firstRow="1" bandRow="1">
                <a:tableStyleId>{5C22544A-7EE6-4342-B048-85BDC9FD1C3A}</a:tableStyleId>
              </a:tblPr>
              <a:tblGrid>
                <a:gridCol w="407674">
                  <a:extLst>
                    <a:ext uri="{9D8B030D-6E8A-4147-A177-3AD203B41FA5}">
                      <a16:colId xmlns:a16="http://schemas.microsoft.com/office/drawing/2014/main" val="3010852878"/>
                    </a:ext>
                  </a:extLst>
                </a:gridCol>
                <a:gridCol w="1911364">
                  <a:extLst>
                    <a:ext uri="{9D8B030D-6E8A-4147-A177-3AD203B41FA5}">
                      <a16:colId xmlns:a16="http://schemas.microsoft.com/office/drawing/2014/main" val="3098370671"/>
                    </a:ext>
                  </a:extLst>
                </a:gridCol>
                <a:gridCol w="566443">
                  <a:extLst>
                    <a:ext uri="{9D8B030D-6E8A-4147-A177-3AD203B41FA5}">
                      <a16:colId xmlns:a16="http://schemas.microsoft.com/office/drawing/2014/main" val="2420660461"/>
                    </a:ext>
                  </a:extLst>
                </a:gridCol>
              </a:tblGrid>
              <a:tr h="163256">
                <a:tc>
                  <a:txBody>
                    <a:bodyPr/>
                    <a:lstStyle/>
                    <a:p>
                      <a:r>
                        <a:rPr lang="en-US" sz="800" b="1" i="0" dirty="0">
                          <a:solidFill>
                            <a:srgbClr val="FFFFFF"/>
                          </a:solidFill>
                          <a:latin typeface="Arial" pitchFamily="34" charset="0"/>
                        </a:rPr>
                        <a:t>#</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Role</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Level</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894251591"/>
                  </a:ext>
                </a:extLst>
              </a:tr>
              <a:tr h="163256">
                <a:tc>
                  <a:txBody>
                    <a:bodyPr/>
                    <a:lstStyle/>
                    <a:p>
                      <a:r>
                        <a:rPr lang="en-US" sz="800" b="0" i="0" dirty="0">
                          <a:solidFill>
                            <a:srgbClr val="1D1D1D"/>
                          </a:solidFill>
                          <a:latin typeface="Arial" pitchFamily="34" charset="0"/>
                        </a:rPr>
                        <a:t>1</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Director BD and M&amp;A</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267919836"/>
                  </a:ext>
                </a:extLst>
              </a:tr>
              <a:tr h="163256">
                <a:tc>
                  <a:txBody>
                    <a:bodyPr/>
                    <a:lstStyle/>
                    <a:p>
                      <a:r>
                        <a:rPr lang="en-US" sz="800" b="0" i="0" dirty="0">
                          <a:solidFill>
                            <a:srgbClr val="FFFFFF"/>
                          </a:solidFill>
                          <a:latin typeface="Arial" pitchFamily="34" charset="0"/>
                        </a:rPr>
                        <a:t>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Financial Planning &amp; Control</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796677586"/>
                  </a:ext>
                </a:extLst>
              </a:tr>
              <a:tr h="163256">
                <a:tc>
                  <a:txBody>
                    <a:bodyPr/>
                    <a:lstStyle/>
                    <a:p>
                      <a:r>
                        <a:rPr lang="en-US" sz="800" b="0" i="0" dirty="0">
                          <a:solidFill>
                            <a:srgbClr val="1D1D1D"/>
                          </a:solidFill>
                          <a:latin typeface="Arial" pitchFamily="34" charset="0"/>
                        </a:rPr>
                        <a:t>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Director of Investor Relations</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9674476"/>
                  </a:ext>
                </a:extLst>
              </a:tr>
              <a:tr h="163256">
                <a:tc>
                  <a:txBody>
                    <a:bodyPr/>
                    <a:lstStyle/>
                    <a:p>
                      <a:r>
                        <a:rPr lang="en-US" sz="800" b="0" i="0" dirty="0">
                          <a:solidFill>
                            <a:srgbClr val="FFFFFF"/>
                          </a:solidFill>
                          <a:latin typeface="Arial" pitchFamily="34" charset="0"/>
                        </a:rPr>
                        <a:t>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Industrial Automation (IOT)</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14057405"/>
                  </a:ext>
                </a:extLst>
              </a:tr>
              <a:tr h="163256">
                <a:tc>
                  <a:txBody>
                    <a:bodyPr/>
                    <a:lstStyle/>
                    <a:p>
                      <a:r>
                        <a:rPr lang="en-US" sz="800" b="0" i="0" dirty="0">
                          <a:solidFill>
                            <a:srgbClr val="1D1D1D"/>
                          </a:solidFill>
                          <a:latin typeface="Arial" pitchFamily="34" charset="0"/>
                        </a:rPr>
                        <a:t>5</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Project Director</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17193018"/>
                  </a:ext>
                </a:extLst>
              </a:tr>
              <a:tr h="163256">
                <a:tc>
                  <a:txBody>
                    <a:bodyPr/>
                    <a:lstStyle/>
                    <a:p>
                      <a:r>
                        <a:rPr lang="en-US" sz="800" b="0" i="0" dirty="0">
                          <a:solidFill>
                            <a:srgbClr val="FFFFFF"/>
                          </a:solidFill>
                          <a:latin typeface="Arial" pitchFamily="34" charset="0"/>
                        </a:rPr>
                        <a:t>6</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800" b="0" i="0" dirty="0">
                          <a:solidFill>
                            <a:srgbClr val="FFFFFF"/>
                          </a:solidFill>
                          <a:latin typeface="Arial" pitchFamily="34" charset="0"/>
                        </a:rPr>
                        <a:t>Head of Integration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268977802"/>
                  </a:ext>
                </a:extLst>
              </a:tr>
              <a:tr h="163256">
                <a:tc>
                  <a:txBody>
                    <a:bodyPr/>
                    <a:lstStyle/>
                    <a:p>
                      <a:r>
                        <a:rPr lang="en-US" sz="800" b="0" i="0" dirty="0">
                          <a:solidFill>
                            <a:srgbClr val="1D1D1D"/>
                          </a:solidFill>
                          <a:latin typeface="Arial" pitchFamily="34" charset="0"/>
                        </a:rPr>
                        <a:t>7</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Head of Due Diligence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068769190"/>
                  </a:ext>
                </a:extLst>
              </a:tr>
              <a:tr h="163256">
                <a:tc>
                  <a:txBody>
                    <a:bodyPr/>
                    <a:lstStyle/>
                    <a:p>
                      <a:r>
                        <a:rPr lang="en-US" sz="800" b="0" i="0" dirty="0">
                          <a:solidFill>
                            <a:srgbClr val="FFFFFF"/>
                          </a:solidFill>
                          <a:latin typeface="Arial" pitchFamily="34" charset="0"/>
                        </a:rPr>
                        <a:t>8</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Head of Corp. Comms</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323437889"/>
                  </a:ext>
                </a:extLst>
              </a:tr>
              <a:tr h="163256">
                <a:tc>
                  <a:txBody>
                    <a:bodyPr/>
                    <a:lstStyle/>
                    <a:p>
                      <a:r>
                        <a:rPr lang="en-US" sz="800" b="0" i="0" dirty="0">
                          <a:solidFill>
                            <a:srgbClr val="1D1D1D"/>
                          </a:solidFill>
                          <a:latin typeface="Arial" pitchFamily="34" charset="0"/>
                        </a:rPr>
                        <a:t>9</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COO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85099102"/>
                  </a:ext>
                </a:extLst>
              </a:tr>
              <a:tr h="163256">
                <a:tc>
                  <a:txBody>
                    <a:bodyPr/>
                    <a:lstStyle/>
                    <a:p>
                      <a:r>
                        <a:rPr lang="en-US" sz="800" b="0" i="0" kern="1200" dirty="0">
                          <a:solidFill>
                            <a:srgbClr val="1D1D1D"/>
                          </a:solidFill>
                          <a:latin typeface="Arial" pitchFamily="34" charset="0"/>
                          <a:ea typeface="+mn-ea"/>
                          <a:cs typeface="+mn-cs"/>
                        </a:rPr>
                        <a:t>10</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CCO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extLst>
                  <a:ext uri="{0D108BD9-81ED-4DB2-BD59-A6C34878D82A}">
                    <a16:rowId xmlns:a16="http://schemas.microsoft.com/office/drawing/2014/main" val="2647851601"/>
                  </a:ext>
                </a:extLst>
              </a:tr>
              <a:tr h="163256">
                <a:tc>
                  <a:txBody>
                    <a:bodyPr/>
                    <a:lstStyle/>
                    <a:p>
                      <a:r>
                        <a:rPr lang="en-US" sz="800" b="0" i="0" dirty="0">
                          <a:solidFill>
                            <a:srgbClr val="1D1D1D"/>
                          </a:solidFill>
                          <a:latin typeface="Arial" pitchFamily="34" charset="0"/>
                        </a:rPr>
                        <a:t>11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VP Commercial BU 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03646143"/>
                  </a:ext>
                </a:extLst>
              </a:tr>
            </a:tbl>
          </a:graphicData>
        </a:graphic>
      </p:graphicFrame>
      <p:sp>
        <p:nvSpPr>
          <p:cNvPr id="39" name="Rounded Rectangle 38">
            <a:extLst>
              <a:ext uri="{FF2B5EF4-FFF2-40B4-BE49-F238E27FC236}">
                <a16:creationId xmlns:a16="http://schemas.microsoft.com/office/drawing/2014/main" id="{8575B19C-910A-15C8-E741-3CE4B843317F}"/>
              </a:ext>
            </a:extLst>
          </p:cNvPr>
          <p:cNvSpPr/>
          <p:nvPr/>
        </p:nvSpPr>
        <p:spPr>
          <a:xfrm>
            <a:off x="4184612" y="766993"/>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anose="020B0502040204020203" pitchFamily="34" charset="0"/>
                <a:cs typeface="Segoe UI" panose="020B0502040204020203" pitchFamily="34" charset="0"/>
              </a:rPr>
              <a:t>1</a:t>
            </a:r>
          </a:p>
        </p:txBody>
      </p:sp>
      <p:sp>
        <p:nvSpPr>
          <p:cNvPr id="40" name="Rounded Rectangle 39">
            <a:extLst>
              <a:ext uri="{FF2B5EF4-FFF2-40B4-BE49-F238E27FC236}">
                <a16:creationId xmlns:a16="http://schemas.microsoft.com/office/drawing/2014/main" id="{D385EB24-131C-966A-59C5-6B32E1D0C479}"/>
              </a:ext>
            </a:extLst>
          </p:cNvPr>
          <p:cNvSpPr/>
          <p:nvPr/>
        </p:nvSpPr>
        <p:spPr>
          <a:xfrm>
            <a:off x="11539203" y="766993"/>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anose="020B0502040204020203" pitchFamily="34" charset="0"/>
                <a:cs typeface="Segoe UI" panose="020B0502040204020203" pitchFamily="34" charset="0"/>
              </a:rPr>
              <a:t>2</a:t>
            </a:r>
          </a:p>
        </p:txBody>
      </p:sp>
      <p:sp>
        <p:nvSpPr>
          <p:cNvPr id="41" name="Rounded Rectangle 40">
            <a:extLst>
              <a:ext uri="{FF2B5EF4-FFF2-40B4-BE49-F238E27FC236}">
                <a16:creationId xmlns:a16="http://schemas.microsoft.com/office/drawing/2014/main" id="{F5B6A89A-9F68-500A-CAB4-7CE88B0B2EB1}"/>
              </a:ext>
            </a:extLst>
          </p:cNvPr>
          <p:cNvSpPr/>
          <p:nvPr/>
        </p:nvSpPr>
        <p:spPr>
          <a:xfrm>
            <a:off x="8224579" y="3135540"/>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anose="020B0502040204020203" pitchFamily="34" charset="0"/>
                <a:cs typeface="Segoe UI" panose="020B0502040204020203" pitchFamily="34" charset="0"/>
              </a:rPr>
              <a:t>3</a:t>
            </a:r>
          </a:p>
        </p:txBody>
      </p:sp>
      <p:sp>
        <p:nvSpPr>
          <p:cNvPr id="42" name="Rounded Rectangle 41">
            <a:extLst>
              <a:ext uri="{FF2B5EF4-FFF2-40B4-BE49-F238E27FC236}">
                <a16:creationId xmlns:a16="http://schemas.microsoft.com/office/drawing/2014/main" id="{20716C72-1B71-B300-70FC-9F35BEB369F2}"/>
              </a:ext>
            </a:extLst>
          </p:cNvPr>
          <p:cNvSpPr/>
          <p:nvPr/>
        </p:nvSpPr>
        <p:spPr>
          <a:xfrm>
            <a:off x="11539203" y="3135540"/>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anose="020B0502040204020203" pitchFamily="34" charset="0"/>
                <a:cs typeface="Segoe UI" panose="020B0502040204020203" pitchFamily="34" charset="0"/>
              </a:rPr>
              <a:t>4</a:t>
            </a:r>
          </a:p>
        </p:txBody>
      </p:sp>
      <p:sp>
        <p:nvSpPr>
          <p:cNvPr id="43" name="Rectangle: Rounded Corners 11">
            <a:extLst>
              <a:ext uri="{FF2B5EF4-FFF2-40B4-BE49-F238E27FC236}">
                <a16:creationId xmlns:a16="http://schemas.microsoft.com/office/drawing/2014/main" id="{B064EE9A-FD00-7CFB-647A-61B67A6181FA}"/>
              </a:ext>
            </a:extLst>
          </p:cNvPr>
          <p:cNvSpPr/>
          <p:nvPr/>
        </p:nvSpPr>
        <p:spPr>
          <a:xfrm>
            <a:off x="956930" y="982530"/>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solidFill>
                <a:srgbClr val="FFFFFF"/>
              </a:solidFill>
              <a:latin typeface="Segoe UI" pitchFamily="34" charset="0"/>
            </a:endParaRPr>
          </a:p>
        </p:txBody>
      </p:sp>
      <p:sp>
        <p:nvSpPr>
          <p:cNvPr id="44" name="Rectangle: Rounded Corners 12">
            <a:extLst>
              <a:ext uri="{FF2B5EF4-FFF2-40B4-BE49-F238E27FC236}">
                <a16:creationId xmlns:a16="http://schemas.microsoft.com/office/drawing/2014/main" id="{0315C5DC-81ED-AF6C-5CA3-EC396D9942DE}"/>
              </a:ext>
            </a:extLst>
          </p:cNvPr>
          <p:cNvSpPr/>
          <p:nvPr/>
        </p:nvSpPr>
        <p:spPr>
          <a:xfrm>
            <a:off x="5117815" y="996703"/>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latin typeface="Segoe UI" pitchFamily="34" charset="0"/>
            </a:endParaRPr>
          </a:p>
        </p:txBody>
      </p:sp>
      <p:sp>
        <p:nvSpPr>
          <p:cNvPr id="45" name="Rectangle: Rounded Corners 13">
            <a:extLst>
              <a:ext uri="{FF2B5EF4-FFF2-40B4-BE49-F238E27FC236}">
                <a16:creationId xmlns:a16="http://schemas.microsoft.com/office/drawing/2014/main" id="{089C1E96-1159-060E-6FF4-45DC26E7AEC6}"/>
              </a:ext>
            </a:extLst>
          </p:cNvPr>
          <p:cNvSpPr/>
          <p:nvPr/>
        </p:nvSpPr>
        <p:spPr>
          <a:xfrm>
            <a:off x="971103" y="3454782"/>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p>
        </p:txBody>
      </p:sp>
      <p:sp>
        <p:nvSpPr>
          <p:cNvPr id="46" name="Rectangle: Rounded Corners 14">
            <a:extLst>
              <a:ext uri="{FF2B5EF4-FFF2-40B4-BE49-F238E27FC236}">
                <a16:creationId xmlns:a16="http://schemas.microsoft.com/office/drawing/2014/main" id="{A2D60165-2982-4625-D46B-4441E7D9560A}"/>
              </a:ext>
            </a:extLst>
          </p:cNvPr>
          <p:cNvSpPr/>
          <p:nvPr/>
        </p:nvSpPr>
        <p:spPr>
          <a:xfrm>
            <a:off x="8949094" y="3547217"/>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solidFill>
                <a:srgbClr val="FFFFFF"/>
              </a:solidFill>
            </a:endParaRPr>
          </a:p>
        </p:txBody>
      </p:sp>
      <p:sp>
        <p:nvSpPr>
          <p:cNvPr id="47" name="Triangle 73">
            <a:extLst>
              <a:ext uri="{FF2B5EF4-FFF2-40B4-BE49-F238E27FC236}">
                <a16:creationId xmlns:a16="http://schemas.microsoft.com/office/drawing/2014/main" id="{800FB61B-3B96-4FBE-81D5-725511D7EEEA}"/>
              </a:ext>
            </a:extLst>
          </p:cNvPr>
          <p:cNvSpPr/>
          <p:nvPr/>
        </p:nvSpPr>
        <p:spPr>
          <a:xfrm rot="5400000">
            <a:off x="1573586" y="4565003"/>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48" name="Triangle 73">
            <a:extLst>
              <a:ext uri="{FF2B5EF4-FFF2-40B4-BE49-F238E27FC236}">
                <a16:creationId xmlns:a16="http://schemas.microsoft.com/office/drawing/2014/main" id="{236132D4-E264-FC66-4998-2B59AB9BA83B}"/>
              </a:ext>
            </a:extLst>
          </p:cNvPr>
          <p:cNvSpPr/>
          <p:nvPr/>
        </p:nvSpPr>
        <p:spPr>
          <a:xfrm rot="5400000">
            <a:off x="2486381" y="4553778"/>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Tree>
    <p:extLst>
      <p:ext uri="{BB962C8B-B14F-4D97-AF65-F5344CB8AC3E}">
        <p14:creationId xmlns:p14="http://schemas.microsoft.com/office/powerpoint/2010/main" val="1813131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E9CF4-1F85-5F64-AC26-5C3D5252B4B3}"/>
              </a:ext>
            </a:extLst>
          </p:cNvPr>
          <p:cNvSpPr>
            <a:spLocks noGrp="1"/>
          </p:cNvSpPr>
          <p:nvPr>
            <p:ph type="sldNum" sz="quarter" idx="4"/>
          </p:nvPr>
        </p:nvSpPr>
        <p:spPr/>
        <p:txBody>
          <a:bodyPr/>
          <a:lstStyle/>
          <a:p>
            <a:pPr algn="ctr"/>
            <a:fld id="{1875A764-3B06-454E-8ABA-2F6ED0EB58E9}" type="slidenum">
              <a:rPr lang="en-US" smtClean="0"/>
              <a:t>19</a:t>
            </a:fld>
            <a:endParaRPr lang="en-US"/>
          </a:p>
        </p:txBody>
      </p:sp>
      <p:sp>
        <p:nvSpPr>
          <p:cNvPr id="3" name="Title 2">
            <a:extLst>
              <a:ext uri="{FF2B5EF4-FFF2-40B4-BE49-F238E27FC236}">
                <a16:creationId xmlns:a16="http://schemas.microsoft.com/office/drawing/2014/main" id="{CCAA3B4C-880B-C0C7-9061-110B37A34DEE}"/>
              </a:ext>
            </a:extLst>
          </p:cNvPr>
          <p:cNvSpPr>
            <a:spLocks noGrp="1"/>
          </p:cNvSpPr>
          <p:nvPr>
            <p:ph type="title"/>
          </p:nvPr>
        </p:nvSpPr>
        <p:spPr/>
        <p:txBody>
          <a:bodyPr/>
          <a:lstStyle/>
          <a:p>
            <a:r>
              <a:rPr lang="en-GB" dirty="0">
                <a:solidFill>
                  <a:srgbClr val="281A42"/>
                </a:solidFill>
              </a:rPr>
              <a:t>CXO Enabling Success Plan</a:t>
            </a:r>
            <a:endParaRPr lang="en-US" dirty="0"/>
          </a:p>
        </p:txBody>
      </p:sp>
      <p:sp>
        <p:nvSpPr>
          <p:cNvPr id="4" name="Google Shape;128;p4">
            <a:extLst>
              <a:ext uri="{FF2B5EF4-FFF2-40B4-BE49-F238E27FC236}">
                <a16:creationId xmlns:a16="http://schemas.microsoft.com/office/drawing/2014/main" id="{30994994-8906-B33D-1E6A-9A9EF7368F2C}"/>
              </a:ext>
            </a:extLst>
          </p:cNvPr>
          <p:cNvSpPr/>
          <p:nvPr/>
        </p:nvSpPr>
        <p:spPr>
          <a:xfrm>
            <a:off x="787692" y="2154888"/>
            <a:ext cx="11046345" cy="4052230"/>
          </a:xfrm>
          <a:prstGeom prst="roundRect">
            <a:avLst>
              <a:gd name="adj" fmla="val 4298"/>
            </a:avLst>
          </a:prstGeom>
          <a:solidFill>
            <a:schemeClr val="bg2"/>
          </a:solidFill>
          <a:ln w="9525" cap="flat" cmpd="sng">
            <a:solidFill>
              <a:schemeClr val="accent1"/>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dirty="0">
              <a:ln>
                <a:noFill/>
              </a:ln>
              <a:solidFill>
                <a:srgbClr val="000000"/>
              </a:solidFill>
              <a:effectLst/>
              <a:uLnTx/>
              <a:uFillTx/>
              <a:latin typeface="Lato" panose="020F0502020204030203" pitchFamily="34" charset="77"/>
              <a:ea typeface="Lato"/>
              <a:cs typeface="Lato"/>
              <a:sym typeface="Lato"/>
            </a:endParaRPr>
          </a:p>
        </p:txBody>
      </p:sp>
      <p:sp>
        <p:nvSpPr>
          <p:cNvPr id="5" name="Google Shape;180;p5">
            <a:extLst>
              <a:ext uri="{FF2B5EF4-FFF2-40B4-BE49-F238E27FC236}">
                <a16:creationId xmlns:a16="http://schemas.microsoft.com/office/drawing/2014/main" id="{232792CA-0D7D-B878-C732-A956BB04493C}"/>
              </a:ext>
            </a:extLst>
          </p:cNvPr>
          <p:cNvSpPr/>
          <p:nvPr/>
        </p:nvSpPr>
        <p:spPr>
          <a:xfrm>
            <a:off x="787693" y="862424"/>
            <a:ext cx="11046345" cy="1214762"/>
          </a:xfrm>
          <a:prstGeom prst="roundRect">
            <a:avLst>
              <a:gd name="adj" fmla="val 13273"/>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NL" sz="2400" b="1" i="0" u="none" strike="noStrike" kern="0" cap="none" spc="-25"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82;p5">
            <a:extLst>
              <a:ext uri="{FF2B5EF4-FFF2-40B4-BE49-F238E27FC236}">
                <a16:creationId xmlns:a16="http://schemas.microsoft.com/office/drawing/2014/main" id="{BB3CF663-334F-AD0E-5843-51EFA92F5735}"/>
              </a:ext>
            </a:extLst>
          </p:cNvPr>
          <p:cNvSpPr txBox="1"/>
          <p:nvPr/>
        </p:nvSpPr>
        <p:spPr>
          <a:xfrm>
            <a:off x="1065511" y="1142589"/>
            <a:ext cx="10226265" cy="892532"/>
          </a:xfrm>
          <a:prstGeom prst="rect">
            <a:avLst/>
          </a:prstGeom>
          <a:noFill/>
          <a:ln>
            <a:noFill/>
          </a:ln>
        </p:spPr>
        <p:txBody>
          <a:bodyPr spcFirstLastPara="1" wrap="square" lIns="22850" tIns="22850" rIns="22850" bIns="22850" numCol="1" anchor="t" anchorCtr="0">
            <a:spAutoFit/>
          </a:bodyPr>
          <a:lstStyle/>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Clarity on Mandate and Board Confidence in CXO to Deliver Mandate</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Create CXO Capacity to Have Bifocal Focus on Balancing Core Performance &amp; Growth</a:t>
            </a:r>
            <a:endPar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endParaRP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Making New Operating Model Work with an Effective &amp; Aligned Leadership Team</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Building New Capabilities</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Strengthen Culture: Drive Culture of Accountability and Performance (internally) and Communicate the Growth Story to Attract Investors (externally).</a:t>
            </a:r>
          </a:p>
        </p:txBody>
      </p:sp>
      <p:sp>
        <p:nvSpPr>
          <p:cNvPr id="7" name="Google Shape;143;p4">
            <a:extLst>
              <a:ext uri="{FF2B5EF4-FFF2-40B4-BE49-F238E27FC236}">
                <a16:creationId xmlns:a16="http://schemas.microsoft.com/office/drawing/2014/main" id="{87F0A412-53DD-471C-6CBE-EBE1F7BC9FCB}"/>
              </a:ext>
            </a:extLst>
          </p:cNvPr>
          <p:cNvSpPr txBox="1"/>
          <p:nvPr/>
        </p:nvSpPr>
        <p:spPr>
          <a:xfrm>
            <a:off x="1065513" y="882413"/>
            <a:ext cx="500241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What Are We Solving For?</a:t>
            </a:r>
          </a:p>
        </p:txBody>
      </p:sp>
      <p:sp>
        <p:nvSpPr>
          <p:cNvPr id="8" name="Google Shape;143;p4">
            <a:extLst>
              <a:ext uri="{FF2B5EF4-FFF2-40B4-BE49-F238E27FC236}">
                <a16:creationId xmlns:a16="http://schemas.microsoft.com/office/drawing/2014/main" id="{ED4C30DA-1337-DBD3-A4D6-FE16BDE95B34}"/>
              </a:ext>
            </a:extLst>
          </p:cNvPr>
          <p:cNvSpPr txBox="1"/>
          <p:nvPr/>
        </p:nvSpPr>
        <p:spPr>
          <a:xfrm>
            <a:off x="1065513" y="2191108"/>
            <a:ext cx="612562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WHAT IS THE ENABLING CEO SUCCESS PLAN? </a:t>
            </a:r>
          </a:p>
        </p:txBody>
      </p:sp>
      <p:sp>
        <p:nvSpPr>
          <p:cNvPr id="9" name="Google Shape;136;p4">
            <a:extLst>
              <a:ext uri="{FF2B5EF4-FFF2-40B4-BE49-F238E27FC236}">
                <a16:creationId xmlns:a16="http://schemas.microsoft.com/office/drawing/2014/main" id="{3423D6F4-4C27-C39A-D3CC-ED072B7C9C9E}"/>
              </a:ext>
            </a:extLst>
          </p:cNvPr>
          <p:cNvSpPr txBox="1">
            <a:spLocks/>
          </p:cNvSpPr>
          <p:nvPr/>
        </p:nvSpPr>
        <p:spPr>
          <a:xfrm>
            <a:off x="1065512" y="2478581"/>
            <a:ext cx="10546540" cy="3740961"/>
          </a:xfrm>
          <a:prstGeom prst="rect">
            <a:avLst/>
          </a:prstGeom>
          <a:noFill/>
          <a:ln>
            <a:noFill/>
          </a:ln>
        </p:spPr>
        <p:txBody>
          <a:bodyPr spcFirstLastPara="1" wrap="square" lIns="22850" tIns="22850" rIns="22850" bIns="22850" anchor="t" anchorCtr="0">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defRPr/>
            </a:pPr>
            <a:r>
              <a:rPr lang="en-US" sz="1000" b="1" kern="0" spc="-10">
                <a:solidFill>
                  <a:sysClr val="windowText" lastClr="000000"/>
                </a:solidFill>
                <a:latin typeface="Segoe UI" pitchFamily="34" charset="0"/>
                <a:ea typeface="Lato"/>
                <a:cs typeface="Lato"/>
              </a:rPr>
              <a:t>1. Clarity on MANDATE and board confidence in CXO to deliver mandate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Precise Jobs To Be Done for CXO for the next 12 months. Make sharp choices, and co-create between CXO &amp; Board</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Strengthen relationships with Board members</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Explore Advisors with specific inorganic growth experience (M&amp;A, global)</a:t>
            </a:r>
          </a:p>
          <a:p>
            <a:pPr marL="0" indent="0">
              <a:lnSpc>
                <a:spcPct val="100000"/>
              </a:lnSpc>
              <a:spcBef>
                <a:spcPts val="0"/>
              </a:spcBef>
              <a:buFontTx/>
              <a:buNone/>
              <a:defRPr/>
            </a:pPr>
            <a:endParaRPr lang="en-US" sz="1000" b="1" kern="0" spc="-10">
              <a:solidFill>
                <a:sysClr val="windowText" lastClr="000000"/>
              </a:solidFill>
              <a:latin typeface="Segoe UI" pitchFamily="34" charset="0"/>
              <a:ea typeface="Lato"/>
              <a:cs typeface="Lato"/>
            </a:endParaRPr>
          </a:p>
          <a:p>
            <a:pPr marL="0" indent="0">
              <a:lnSpc>
                <a:spcPct val="100000"/>
              </a:lnSpc>
              <a:spcBef>
                <a:spcPts val="0"/>
              </a:spcBef>
              <a:buFontTx/>
              <a:buNone/>
              <a:defRPr/>
            </a:pPr>
            <a:r>
              <a:rPr lang="en-US" sz="1000" b="1" kern="0" spc="-10">
                <a:solidFill>
                  <a:sysClr val="windowText" lastClr="000000"/>
                </a:solidFill>
                <a:latin typeface="Segoe UI" pitchFamily="34" charset="0"/>
                <a:ea typeface="Lato"/>
                <a:cs typeface="Lato"/>
              </a:rPr>
              <a:t>2. Create CXO Capacity to have BIFOCAL focus on Balancing core performance &amp; growth </a:t>
            </a:r>
            <a:endParaRPr lang="en-US" sz="1000" b="1" kern="0" spc="-10">
              <a:solidFill>
                <a:sysClr val="windowText" lastClr="000000"/>
              </a:solidFill>
              <a:latin typeface="Segoe UI" pitchFamily="34" charset="0"/>
              <a:ea typeface="Lato" panose="020F0502020204030203" pitchFamily="34" charset="0"/>
              <a:cs typeface="Lato" panose="020F0502020204030203" pitchFamily="34" charset="0"/>
            </a:endParaRP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Release Personal Capacity from “Running” BU1. Upgrade BU1 leadership.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the number of strategic initiatives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Leverage the CFO and the CEO BU2 as a sounding board within the ELT</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Clarify role and remit of the Advisor (Government Affairs to drive organic growth &amp; Board relationships)</a:t>
            </a:r>
          </a:p>
          <a:p>
            <a:pPr marL="0" indent="0">
              <a:lnSpc>
                <a:spcPct val="100000"/>
              </a:lnSpc>
              <a:spcBef>
                <a:spcPts val="0"/>
              </a:spcBef>
              <a:buFontTx/>
              <a:buNone/>
              <a:defRPr/>
            </a:pPr>
            <a:endParaRPr lang="en-US" sz="1000" b="1" kern="0" spc="-10">
              <a:solidFill>
                <a:sysClr val="windowText" lastClr="000000"/>
              </a:solidFill>
              <a:latin typeface="Segoe UI" pitchFamily="34" charset="0"/>
              <a:ea typeface="Lato" panose="020F0502020204030203" pitchFamily="34" charset="0"/>
              <a:cs typeface="Lato" panose="020F0502020204030203" pitchFamily="34" charset="0"/>
            </a:endParaRPr>
          </a:p>
          <a:p>
            <a:pPr marL="0" indent="0">
              <a:lnSpc>
                <a:spcPct val="100000"/>
              </a:lnSpc>
              <a:spcBef>
                <a:spcPts val="0"/>
              </a:spcBef>
              <a:buFontTx/>
              <a:buNone/>
              <a:defRPr/>
            </a:pPr>
            <a:r>
              <a:rPr lang="en-US" sz="1000" b="1" kern="0" spc="-10">
                <a:solidFill>
                  <a:prstClr val="black"/>
                </a:solidFill>
                <a:latin typeface="Segoe UI" pitchFamily="34" charset="0"/>
                <a:ea typeface="Lato"/>
                <a:cs typeface="Lato"/>
              </a:rPr>
              <a:t>3. Make Operating Model work</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panose="020F0502020204030203" pitchFamily="34" charset="0"/>
                <a:cs typeface="Lato" panose="020F0502020204030203" pitchFamily="34" charset="0"/>
              </a:rPr>
              <a:t>Quick Wins (BU Finance support)</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a:cs typeface="Lato"/>
              </a:rPr>
              <a:t>Define role of Corporate Centre to drive Enterprise priorities and what can be pushed down to BU CEO remit (incl. functions). </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sysClr val="windowText" lastClr="000000"/>
                </a:solidFill>
                <a:latin typeface="Arial" pitchFamily="34" charset="0"/>
                <a:ea typeface="Lato" panose="020F0502020204030203" pitchFamily="34" charset="0"/>
                <a:cs typeface="Lato" panose="020F0502020204030203" pitchFamily="34" charset="0"/>
              </a:rPr>
              <a:t>Drive x-function collaboration </a:t>
            </a:r>
            <a:endParaRPr lang="en-US" sz="1000" kern="0" spc="-10">
              <a:solidFill>
                <a:prstClr val="black"/>
              </a:solidFill>
              <a:latin typeface="Arial" pitchFamily="34" charset="0"/>
              <a:ea typeface="Lato"/>
              <a:cs typeface="Lato"/>
            </a:endParaRPr>
          </a:p>
          <a:p>
            <a:pPr marL="0" indent="0" defTabSz="914377">
              <a:lnSpc>
                <a:spcPct val="100000"/>
              </a:lnSpc>
              <a:spcBef>
                <a:spcPts val="0"/>
              </a:spcBef>
              <a:buFontTx/>
              <a:buNone/>
              <a:defRPr/>
            </a:pPr>
            <a:endParaRPr lang="en-US" sz="1000" b="1" kern="0" spc="-10">
              <a:solidFill>
                <a:sysClr val="windowText" lastClr="000000"/>
              </a:solidFill>
              <a:latin typeface="Segoe UI" pitchFamily="34" charset="0"/>
              <a:ea typeface="Lato"/>
              <a:cs typeface="Lato"/>
            </a:endParaRPr>
          </a:p>
          <a:p>
            <a:pPr marL="0" indent="0" defTabSz="914377">
              <a:lnSpc>
                <a:spcPct val="100000"/>
              </a:lnSpc>
              <a:spcBef>
                <a:spcPts val="0"/>
              </a:spcBef>
              <a:buFontTx/>
              <a:buNone/>
              <a:defRPr/>
            </a:pPr>
            <a:r>
              <a:rPr lang="en-US" sz="1000" b="1" kern="0" spc="-10">
                <a:solidFill>
                  <a:sysClr val="windowText" lastClr="000000"/>
                </a:solidFill>
                <a:latin typeface="Segoe UI" pitchFamily="34" charset="0"/>
                <a:ea typeface="Lato"/>
                <a:cs typeface="Lato"/>
              </a:rPr>
              <a:t>4. Build new capabilities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and Build capabilities in M&amp;A, Corporate Finance, Inv. Relations, Operations, S&amp;OP, Procurement, Sales, BU Financial Controllers, HR</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Identify critical roles, assess risks and build risk mitigation plans (incl. succession planning)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and Proactively Build Bench @ BUs (over next 12 months).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Assess, address and strengthen N-2 capacity in BU1 Leadership team</a:t>
            </a:r>
          </a:p>
          <a:p>
            <a:pPr marL="447675" lvl="1" indent="-179070" defTabSz="914377">
              <a:lnSpc>
                <a:spcPct val="100000"/>
              </a:lnSpc>
              <a:spcBef>
                <a:spcPts val="0"/>
              </a:spcBef>
              <a:buFont typeface="Arial" panose="020B0706020202030204" pitchFamily="34" charset="0"/>
              <a:buBlip>
                <a:blip r:embed="rId2"/>
              </a:buBlip>
              <a:defRPr/>
            </a:pPr>
            <a:endParaRPr lang="en-US" sz="1000" b="1" kern="0" spc="-10">
              <a:solidFill>
                <a:prstClr val="black"/>
              </a:solidFill>
              <a:latin typeface="Segoe UI" pitchFamily="34" charset="0"/>
              <a:ea typeface="Lato" panose="020F0502020204030203" pitchFamily="34" charset="0"/>
              <a:cs typeface="Lato" panose="020F0502020204030203" pitchFamily="34" charset="0"/>
            </a:endParaRPr>
          </a:p>
          <a:p>
            <a:pPr>
              <a:lnSpc>
                <a:spcPct val="100000"/>
              </a:lnSpc>
              <a:spcBef>
                <a:spcPts val="0"/>
              </a:spcBef>
              <a:buFontTx/>
              <a:buAutoNum type="arabicPeriod" startAt="5"/>
              <a:defRPr/>
            </a:pPr>
            <a:r>
              <a:rPr lang="en-US" sz="1000" b="1" kern="0" spc="-10">
                <a:solidFill>
                  <a:prstClr val="black"/>
                </a:solidFill>
                <a:latin typeface="Segoe UI" pitchFamily="34" charset="0"/>
                <a:ea typeface="Lato"/>
                <a:cs typeface="Lato"/>
              </a:rPr>
              <a:t>Strengthen Culture</a:t>
            </a:r>
            <a:endParaRPr lang="en-US" sz="1000" kern="0" spc="-10">
              <a:solidFill>
                <a:prstClr val="black"/>
              </a:solidFill>
              <a:latin typeface="Arial" pitchFamily="34" charset="0"/>
              <a:ea typeface="Lato"/>
              <a:cs typeface="Lato"/>
            </a:endParaRP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a:cs typeface="Lato"/>
              </a:rPr>
              <a:t>Reinforce desired mindset of </a:t>
            </a:r>
            <a:r>
              <a:rPr lang="en-US" sz="1000" b="1" kern="0" spc="-10">
                <a:solidFill>
                  <a:prstClr val="black"/>
                </a:solidFill>
                <a:latin typeface="Segoe UI" pitchFamily="34" charset="0"/>
                <a:ea typeface="Lato"/>
                <a:cs typeface="Lato"/>
              </a:rPr>
              <a:t>accountability and performance</a:t>
            </a:r>
            <a:r>
              <a:rPr lang="en-US" sz="1000" kern="0" spc="-10">
                <a:solidFill>
                  <a:prstClr val="black"/>
                </a:solidFill>
                <a:latin typeface="Arial" pitchFamily="34" charset="0"/>
                <a:ea typeface="Lato"/>
                <a:cs typeface="Lato"/>
              </a:rPr>
              <a:t>. Hold BU LTs accountable for performance</a:t>
            </a:r>
            <a:endParaRPr lang="en-US" sz="1000" kern="0" spc="-10" dirty="0">
              <a:solidFill>
                <a:prstClr val="black"/>
              </a:solidFill>
              <a:latin typeface="Arial" pitchFamily="34" charset="0"/>
              <a:ea typeface="Lato"/>
              <a:cs typeface="Lato"/>
            </a:endParaRPr>
          </a:p>
        </p:txBody>
      </p:sp>
      <p:sp>
        <p:nvSpPr>
          <p:cNvPr id="10" name="Google Shape;143;p4">
            <a:extLst>
              <a:ext uri="{FF2B5EF4-FFF2-40B4-BE49-F238E27FC236}">
                <a16:creationId xmlns:a16="http://schemas.microsoft.com/office/drawing/2014/main" id="{37D80BF8-CC43-78C9-C453-0587B96CAFAC}"/>
              </a:ext>
            </a:extLst>
          </p:cNvPr>
          <p:cNvSpPr txBox="1"/>
          <p:nvPr/>
        </p:nvSpPr>
        <p:spPr>
          <a:xfrm>
            <a:off x="10244663" y="2255886"/>
            <a:ext cx="1184730" cy="553978"/>
          </a:xfrm>
          <a:prstGeom prst="rect">
            <a:avLst/>
          </a:pr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POTENTIAL FOR </a:t>
            </a:r>
          </a:p>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IMPROVEMENT</a:t>
            </a:r>
          </a:p>
        </p:txBody>
      </p:sp>
      <p:grpSp>
        <p:nvGrpSpPr>
          <p:cNvPr id="11" name="Google Shape;195;p5">
            <a:extLst>
              <a:ext uri="{FF2B5EF4-FFF2-40B4-BE49-F238E27FC236}">
                <a16:creationId xmlns:a16="http://schemas.microsoft.com/office/drawing/2014/main" id="{FBCBD306-059A-93CE-E4B0-48CE1D95ACC8}"/>
              </a:ext>
            </a:extLst>
          </p:cNvPr>
          <p:cNvGrpSpPr/>
          <p:nvPr/>
        </p:nvGrpSpPr>
        <p:grpSpPr>
          <a:xfrm>
            <a:off x="10209937" y="2944866"/>
            <a:ext cx="1068814" cy="1199653"/>
            <a:chOff x="501280" y="-6468"/>
            <a:chExt cx="3521557" cy="3741440"/>
          </a:xfrm>
        </p:grpSpPr>
        <p:grpSp>
          <p:nvGrpSpPr>
            <p:cNvPr id="12" name="Google Shape;196;p5">
              <a:extLst>
                <a:ext uri="{FF2B5EF4-FFF2-40B4-BE49-F238E27FC236}">
                  <a16:creationId xmlns:a16="http://schemas.microsoft.com/office/drawing/2014/main" id="{AB7F8427-5C10-1712-5E4D-51E7283A017A}"/>
                </a:ext>
              </a:extLst>
            </p:cNvPr>
            <p:cNvGrpSpPr/>
            <p:nvPr/>
          </p:nvGrpSpPr>
          <p:grpSpPr>
            <a:xfrm>
              <a:off x="1060571" y="448533"/>
              <a:ext cx="2539764" cy="2539769"/>
              <a:chOff x="1" y="0"/>
              <a:chExt cx="2539762" cy="2539768"/>
            </a:xfrm>
          </p:grpSpPr>
          <p:sp>
            <p:nvSpPr>
              <p:cNvPr id="19" name="Google Shape;197;p5">
                <a:extLst>
                  <a:ext uri="{FF2B5EF4-FFF2-40B4-BE49-F238E27FC236}">
                    <a16:creationId xmlns:a16="http://schemas.microsoft.com/office/drawing/2014/main" id="{D00D298B-E0A3-D838-BC96-C82933D00F10}"/>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0" name="Google Shape;198;p5">
                <a:extLst>
                  <a:ext uri="{FF2B5EF4-FFF2-40B4-BE49-F238E27FC236}">
                    <a16:creationId xmlns:a16="http://schemas.microsoft.com/office/drawing/2014/main" id="{CC3412F5-A29B-DB7F-FA91-52ABAFF995C1}"/>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lang="en-US" b="1" spc="-25" dirty="0">
                    <a:solidFill>
                      <a:srgbClr val="1D1D1D"/>
                    </a:solidFill>
                    <a:latin typeface="Segoe UI" pitchFamily="34" charset="0"/>
                    <a:ea typeface="Lato"/>
                    <a:cs typeface="Lato"/>
                    <a:sym typeface="Lato"/>
                  </a:rPr>
                  <a:t>56</a:t>
                </a:r>
                <a:endParaRPr kumimoji="0" sz="1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1" name="Google Shape;199;p5">
                <a:extLst>
                  <a:ext uri="{FF2B5EF4-FFF2-40B4-BE49-F238E27FC236}">
                    <a16:creationId xmlns:a16="http://schemas.microsoft.com/office/drawing/2014/main" id="{D4A180CD-7873-7D0D-562B-51D8C28CDCD4}"/>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6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3" name="Google Shape;200;p5">
              <a:extLst>
                <a:ext uri="{FF2B5EF4-FFF2-40B4-BE49-F238E27FC236}">
                  <a16:creationId xmlns:a16="http://schemas.microsoft.com/office/drawing/2014/main" id="{3D325237-A102-0F8A-7152-C1AA70F386FD}"/>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4" name="Google Shape;201;p5">
              <a:extLst>
                <a:ext uri="{FF2B5EF4-FFF2-40B4-BE49-F238E27FC236}">
                  <a16:creationId xmlns:a16="http://schemas.microsoft.com/office/drawing/2014/main" id="{8AB531A8-9728-105B-F023-7F9529905EAE}"/>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5" name="Google Shape;202;p5">
              <a:extLst>
                <a:ext uri="{FF2B5EF4-FFF2-40B4-BE49-F238E27FC236}">
                  <a16:creationId xmlns:a16="http://schemas.microsoft.com/office/drawing/2014/main" id="{451A840D-8E47-D683-D4A8-B4D8CF95372E}"/>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6" name="Google Shape;203;p5">
              <a:extLst>
                <a:ext uri="{FF2B5EF4-FFF2-40B4-BE49-F238E27FC236}">
                  <a16:creationId xmlns:a16="http://schemas.microsoft.com/office/drawing/2014/main" id="{02AC8197-07E6-0F3F-AFC5-A19E7D43DF46}"/>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7" name="Google Shape;204;p5">
              <a:extLst>
                <a:ext uri="{FF2B5EF4-FFF2-40B4-BE49-F238E27FC236}">
                  <a16:creationId xmlns:a16="http://schemas.microsoft.com/office/drawing/2014/main" id="{B34CC723-7A40-BFC0-D118-040C436808DC}"/>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8" name="Google Shape;205;p5">
              <a:extLst>
                <a:ext uri="{FF2B5EF4-FFF2-40B4-BE49-F238E27FC236}">
                  <a16:creationId xmlns:a16="http://schemas.microsoft.com/office/drawing/2014/main" id="{5250ED63-F26C-B670-61B7-84CC43F8D725}"/>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pSp>
        <p:nvGrpSpPr>
          <p:cNvPr id="22" name="Google Shape;195;p5">
            <a:extLst>
              <a:ext uri="{FF2B5EF4-FFF2-40B4-BE49-F238E27FC236}">
                <a16:creationId xmlns:a16="http://schemas.microsoft.com/office/drawing/2014/main" id="{B7C35348-CFE2-44AB-4E1B-D57BA9BFCBF7}"/>
              </a:ext>
            </a:extLst>
          </p:cNvPr>
          <p:cNvGrpSpPr/>
          <p:nvPr/>
        </p:nvGrpSpPr>
        <p:grpSpPr>
          <a:xfrm>
            <a:off x="10235337" y="4710166"/>
            <a:ext cx="1068814" cy="1199653"/>
            <a:chOff x="501280" y="-6468"/>
            <a:chExt cx="3521557" cy="3741440"/>
          </a:xfrm>
        </p:grpSpPr>
        <p:grpSp>
          <p:nvGrpSpPr>
            <p:cNvPr id="23" name="Google Shape;196;p5">
              <a:extLst>
                <a:ext uri="{FF2B5EF4-FFF2-40B4-BE49-F238E27FC236}">
                  <a16:creationId xmlns:a16="http://schemas.microsoft.com/office/drawing/2014/main" id="{56C98AA7-807D-6010-3560-5C2C4C94C081}"/>
                </a:ext>
              </a:extLst>
            </p:cNvPr>
            <p:cNvGrpSpPr/>
            <p:nvPr/>
          </p:nvGrpSpPr>
          <p:grpSpPr>
            <a:xfrm>
              <a:off x="1060571" y="448533"/>
              <a:ext cx="2539764" cy="2539769"/>
              <a:chOff x="1" y="0"/>
              <a:chExt cx="2539762" cy="2539768"/>
            </a:xfrm>
          </p:grpSpPr>
          <p:sp>
            <p:nvSpPr>
              <p:cNvPr id="30" name="Google Shape;197;p5">
                <a:extLst>
                  <a:ext uri="{FF2B5EF4-FFF2-40B4-BE49-F238E27FC236}">
                    <a16:creationId xmlns:a16="http://schemas.microsoft.com/office/drawing/2014/main" id="{54EE2A28-1127-FA5E-E015-31121F4E0B49}"/>
                  </a:ext>
                </a:extLst>
              </p:cNvPr>
              <p:cNvSpPr/>
              <p:nvPr/>
            </p:nvSpPr>
            <p:spPr>
              <a:xfrm>
                <a:off x="1" y="0"/>
                <a:ext cx="2539762" cy="2539768"/>
              </a:xfrm>
              <a:prstGeom prst="ellipse">
                <a:avLst/>
              </a:prstGeom>
              <a:solidFill>
                <a:srgbClr val="00C27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solidFill>
                      <a:srgbClr val="FFFFFF"/>
                    </a:solidFill>
                    <a:latin typeface="Segoe UI" pitchFamily="34" charset="0"/>
                  </a:defRPr>
                </a:pPr>
                <a:endParaRPr kumimoji="0" sz="2000" b="1" i="0" u="none" strike="noStrike" kern="0" cap="none" spc="-25" normalizeH="0" baseline="0" noProof="0" dirty="0">
                  <a:ln>
                    <a:noFill/>
                  </a:ln>
                  <a:solidFill>
                    <a:srgbClr val="FFFFFF"/>
                  </a:solidFill>
                  <a:effectLst/>
                  <a:uLnTx/>
                  <a:uFillTx/>
                  <a:latin typeface="Segoe UI" pitchFamily="34" charset="0"/>
                  <a:ea typeface="Lato"/>
                  <a:cs typeface="Lato"/>
                  <a:sym typeface="Lato"/>
                </a:endParaRPr>
              </a:p>
            </p:txBody>
          </p:sp>
          <p:sp>
            <p:nvSpPr>
              <p:cNvPr id="31" name="Google Shape;198;p5">
                <a:extLst>
                  <a:ext uri="{FF2B5EF4-FFF2-40B4-BE49-F238E27FC236}">
                    <a16:creationId xmlns:a16="http://schemas.microsoft.com/office/drawing/2014/main" id="{399C29BB-2FE5-C0E6-E413-E76F956BFE63}"/>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FFFFFF"/>
                    </a:solidFill>
                    <a:latin typeface="Segoe UI" pitchFamily="34" charset="0"/>
                  </a:defRPr>
                </a:pPr>
                <a:r>
                  <a:rPr lang="en-US" b="1" spc="-25" dirty="0">
                    <a:solidFill>
                      <a:srgbClr val="FFFFFF"/>
                    </a:solidFill>
                    <a:latin typeface="Segoe UI" pitchFamily="34" charset="0"/>
                    <a:ea typeface="Lato"/>
                    <a:cs typeface="Lato"/>
                    <a:sym typeface="Lato"/>
                  </a:rPr>
                  <a:t>70</a:t>
                </a:r>
                <a:endParaRPr kumimoji="0" sz="100" b="1" i="0" u="none" strike="noStrike" kern="0" cap="none" spc="-25" normalizeH="0" baseline="0" noProof="0" dirty="0">
                  <a:ln>
                    <a:noFill/>
                  </a:ln>
                  <a:solidFill>
                    <a:srgbClr val="FFFFFF"/>
                  </a:solidFill>
                  <a:effectLst/>
                  <a:uLnTx/>
                  <a:uFillTx/>
                  <a:latin typeface="Segoe UI" pitchFamily="34" charset="0"/>
                  <a:ea typeface="+mn-ea"/>
                  <a:cs typeface="Arial"/>
                  <a:sym typeface="Arial"/>
                </a:endParaRPr>
              </a:p>
            </p:txBody>
          </p:sp>
          <p:sp>
            <p:nvSpPr>
              <p:cNvPr id="32" name="Google Shape;199;p5">
                <a:extLst>
                  <a:ext uri="{FF2B5EF4-FFF2-40B4-BE49-F238E27FC236}">
                    <a16:creationId xmlns:a16="http://schemas.microsoft.com/office/drawing/2014/main" id="{5A4B5E0B-F8C8-82A5-3285-FAF6B068C51B}"/>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FFFFFF"/>
                    </a:solidFill>
                  </a:defRPr>
                </a:pPr>
                <a:r>
                  <a:rPr kumimoji="0" lang="en-US" sz="600" b="0" i="0" u="none" strike="noStrike" kern="0" cap="none" spc="-10" normalizeH="0" baseline="0" noProof="0" dirty="0">
                    <a:ln>
                      <a:noFill/>
                    </a:ln>
                    <a:solidFill>
                      <a:srgbClr val="FFFFFF"/>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FFFFFF"/>
                  </a:solidFill>
                  <a:effectLst/>
                  <a:uLnTx/>
                  <a:uFillTx/>
                  <a:latin typeface="Arial" pitchFamily="34" charset="0"/>
                  <a:ea typeface="+mn-ea"/>
                  <a:cs typeface="Arial"/>
                  <a:sym typeface="Arial"/>
                </a:endParaRPr>
              </a:p>
            </p:txBody>
          </p:sp>
        </p:grpSp>
        <p:sp>
          <p:nvSpPr>
            <p:cNvPr id="24" name="Google Shape;200;p5">
              <a:extLst>
                <a:ext uri="{FF2B5EF4-FFF2-40B4-BE49-F238E27FC236}">
                  <a16:creationId xmlns:a16="http://schemas.microsoft.com/office/drawing/2014/main" id="{ABBCD6C7-C019-6E39-AEDA-7ABE5F9D9CE3}"/>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5" name="Google Shape;201;p5">
              <a:extLst>
                <a:ext uri="{FF2B5EF4-FFF2-40B4-BE49-F238E27FC236}">
                  <a16:creationId xmlns:a16="http://schemas.microsoft.com/office/drawing/2014/main" id="{3526F69E-98E5-9518-EA9C-F2C789B56931}"/>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6" name="Google Shape;202;p5">
              <a:extLst>
                <a:ext uri="{FF2B5EF4-FFF2-40B4-BE49-F238E27FC236}">
                  <a16:creationId xmlns:a16="http://schemas.microsoft.com/office/drawing/2014/main" id="{03A3BBE7-DD24-CFA1-F5B6-9E1C37E0F177}"/>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7" name="Google Shape;203;p5">
              <a:extLst>
                <a:ext uri="{FF2B5EF4-FFF2-40B4-BE49-F238E27FC236}">
                  <a16:creationId xmlns:a16="http://schemas.microsoft.com/office/drawing/2014/main" id="{C6721D84-EE21-3E2D-F18F-DF3AED07DE8D}"/>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8" name="Google Shape;204;p5">
              <a:extLst>
                <a:ext uri="{FF2B5EF4-FFF2-40B4-BE49-F238E27FC236}">
                  <a16:creationId xmlns:a16="http://schemas.microsoft.com/office/drawing/2014/main" id="{45D080FF-9134-43BF-268B-6A87A3D18085}"/>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9" name="Google Shape;205;p5">
              <a:extLst>
                <a:ext uri="{FF2B5EF4-FFF2-40B4-BE49-F238E27FC236}">
                  <a16:creationId xmlns:a16="http://schemas.microsoft.com/office/drawing/2014/main" id="{8583D782-5F35-119A-BD36-A148940ECA29}"/>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33" name="TextBox 32">
            <a:extLst>
              <a:ext uri="{FF2B5EF4-FFF2-40B4-BE49-F238E27FC236}">
                <a16:creationId xmlns:a16="http://schemas.microsoft.com/office/drawing/2014/main" id="{491419CC-337C-DE6D-B59D-DDA4E6346DF8}"/>
              </a:ext>
            </a:extLst>
          </p:cNvPr>
          <p:cNvSpPr txBox="1"/>
          <p:nvPr/>
        </p:nvSpPr>
        <p:spPr>
          <a:xfrm>
            <a:off x="1463420" y="6263779"/>
            <a:ext cx="4206601" cy="253916"/>
          </a:xfrm>
          <a:prstGeom prst="rect">
            <a:avLst/>
          </a:prstGeom>
          <a:noFill/>
          <a:ln>
            <a:noFill/>
          </a:ln>
        </p:spPr>
        <p:txBody>
          <a:bodyPr spcFirstLastPara="1" wrap="square" lIns="22850" tIns="22850" rIns="22850" bIns="22850" anchor="t" anchorCtr="0">
            <a:noAutofit/>
          </a:bodyPr>
          <a:lstStyle>
            <a:defPPr>
              <a:defRPr kern="0"/>
            </a:defPPr>
            <a:lvl1pPr marR="0" lvl="0" defTabSz="914400" eaLnBrk="1" fontAlgn="auto" latinLnBrk="0" hangingPunct="1">
              <a:lnSpc>
                <a:spcPct val="100000"/>
              </a:lnSpc>
              <a:spcBef>
                <a:spcPts val="0"/>
              </a:spcBef>
              <a:spcAft>
                <a:spcPts val="0"/>
              </a:spcAft>
              <a:buClrTx/>
              <a:buSzTx/>
              <a:tabLst/>
              <a:defRPr sz="1050" b="1" spc="-10">
                <a:latin typeface="Segoe UI" pitchFamily="34" charset="0"/>
                <a:ea typeface="Lato" panose="020F0502020204030203" pitchFamily="34" charset="0"/>
                <a:cs typeface="Lato" panose="020F0502020204030203" pitchFamily="34" charset="0"/>
              </a:defRPr>
            </a:lvl1pPr>
            <a:lvl2pPr marL="476250" lvl="1" indent="-228600">
              <a:buFont typeface="Arial" panose="020B0604020202020204" pitchFamily="34" charset="0"/>
              <a:buChar char="•"/>
              <a:defRPr sz="1050" kern="1200" spc="-10">
                <a:solidFill>
                  <a:prstClr val="black"/>
                </a:solidFill>
                <a:latin typeface="Arial" pitchFamily="34" charset="0"/>
                <a:ea typeface="Lato" panose="020F0502020204030203" pitchFamily="34" charset="0"/>
                <a:cs typeface="Lato" panose="020F0502020204030203" pitchFamily="34" charset="0"/>
              </a:defRPr>
            </a:lvl2pPr>
          </a:lstStyle>
          <a:p>
            <a:r>
              <a:rPr lang="en-GB" i="1" dirty="0"/>
              <a:t>Note: Success Plan actions are listed in order of relative importance</a:t>
            </a:r>
            <a:endParaRPr lang="LID4096" i="1"/>
          </a:p>
        </p:txBody>
      </p:sp>
      <p:sp>
        <p:nvSpPr>
          <p:cNvPr id="34" name="TextBox 33">
            <a:extLst>
              <a:ext uri="{FF2B5EF4-FFF2-40B4-BE49-F238E27FC236}">
                <a16:creationId xmlns:a16="http://schemas.microsoft.com/office/drawing/2014/main" id="{A1999601-48A7-72EF-7E8A-4A7C35354EC2}"/>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995483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62A1-9CA4-82FE-EA57-1B4DEEFA65C2}"/>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F2620B4-D5D6-8703-6676-CA7FFC203CB0}"/>
              </a:ext>
            </a:extLst>
          </p:cNvPr>
          <p:cNvSpPr txBox="1">
            <a:spLocks noGrp="1"/>
          </p:cNvSpPr>
          <p:nvPr>
            <p:ph type="title"/>
          </p:nvPr>
        </p:nvSpPr>
        <p:spPr>
          <a:noFill/>
        </p:spPr>
        <p:txBody>
          <a:bodyPr/>
          <a:lstStyle/>
          <a:p>
            <a:pPr>
              <a:buNone/>
            </a:pPr>
            <a:r>
              <a:rPr lang="en-US" dirty="0"/>
              <a:t>PE / Due Diligence</a:t>
            </a:r>
          </a:p>
        </p:txBody>
      </p:sp>
    </p:spTree>
    <p:extLst>
      <p:ext uri="{BB962C8B-B14F-4D97-AF65-F5344CB8AC3E}">
        <p14:creationId xmlns:p14="http://schemas.microsoft.com/office/powerpoint/2010/main" val="2779481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7323-7C4C-E5EC-C04F-F6F0F8CB7268}"/>
              </a:ext>
            </a:extLst>
          </p:cNvPr>
          <p:cNvSpPr>
            <a:spLocks noGrp="1"/>
          </p:cNvSpPr>
          <p:nvPr>
            <p:ph type="title"/>
          </p:nvPr>
        </p:nvSpPr>
        <p:spPr/>
        <p:txBody>
          <a:bodyPr/>
          <a:lstStyle/>
          <a:p>
            <a:r>
              <a:rPr lang="en-US" spc="-25" dirty="0"/>
              <a:t>Talent to Value across </a:t>
            </a:r>
            <a:r>
              <a:rPr lang="en-US" spc="-25" dirty="0">
                <a:solidFill>
                  <a:srgbClr val="765FFF"/>
                </a:solidFill>
              </a:rPr>
              <a:t>the Deal Lifecycle</a:t>
            </a:r>
            <a:endParaRPr lang="en-US" dirty="0"/>
          </a:p>
        </p:txBody>
      </p:sp>
      <p:sp>
        <p:nvSpPr>
          <p:cNvPr id="4" name="Slide Number Placeholder 3">
            <a:extLst>
              <a:ext uri="{FF2B5EF4-FFF2-40B4-BE49-F238E27FC236}">
                <a16:creationId xmlns:a16="http://schemas.microsoft.com/office/drawing/2014/main" id="{B39FF2EC-FFD3-CC05-4FB2-DED60F01290B}"/>
              </a:ext>
            </a:extLst>
          </p:cNvPr>
          <p:cNvSpPr>
            <a:spLocks noGrp="1"/>
          </p:cNvSpPr>
          <p:nvPr>
            <p:ph type="sldNum" sz="quarter" idx="4"/>
          </p:nvPr>
        </p:nvSpPr>
        <p:spPr/>
        <p:txBody>
          <a:bodyPr/>
          <a:lstStyle/>
          <a:p>
            <a:pPr algn="ctr"/>
            <a:fld id="{1875A764-3B06-454E-8ABA-2F6ED0EB58E9}" type="slidenum">
              <a:rPr lang="en-US" smtClean="0"/>
              <a:t>21</a:t>
            </a:fld>
            <a:endParaRPr lang="en-US"/>
          </a:p>
        </p:txBody>
      </p:sp>
      <p:sp>
        <p:nvSpPr>
          <p:cNvPr id="5" name="object 7">
            <a:extLst>
              <a:ext uri="{FF2B5EF4-FFF2-40B4-BE49-F238E27FC236}">
                <a16:creationId xmlns:a16="http://schemas.microsoft.com/office/drawing/2014/main" id="{3D2A4EDA-335E-ED79-5970-8794CAD68C72}"/>
              </a:ext>
            </a:extLst>
          </p:cNvPr>
          <p:cNvSpPr/>
          <p:nvPr/>
        </p:nvSpPr>
        <p:spPr>
          <a:xfrm>
            <a:off x="2560320" y="1551541"/>
            <a:ext cx="7266586" cy="868680"/>
          </a:xfrm>
          <a:custGeom>
            <a:avLst/>
            <a:gdLst/>
            <a:ahLst/>
            <a:cxnLst/>
            <a:rect l="l" t="t" r="r" b="b"/>
            <a:pathLst>
              <a:path w="7071359" h="868680">
                <a:moveTo>
                  <a:pt x="0" y="868679"/>
                </a:moveTo>
                <a:lnTo>
                  <a:pt x="7071359" y="868679"/>
                </a:lnTo>
                <a:lnTo>
                  <a:pt x="7071359" y="0"/>
                </a:lnTo>
                <a:lnTo>
                  <a:pt x="0" y="0"/>
                </a:lnTo>
                <a:lnTo>
                  <a:pt x="0" y="868679"/>
                </a:lnTo>
                <a:close/>
              </a:path>
            </a:pathLst>
          </a:custGeom>
          <a:ln w="25400">
            <a:solidFill>
              <a:srgbClr val="F2F2F2"/>
            </a:solidFill>
          </a:ln>
        </p:spPr>
        <p:txBody>
          <a:bodyPr wrap="square" lIns="0" tIns="0" rIns="0" bIns="0" rtlCol="0"/>
          <a:lstStyle/>
          <a:p>
            <a:endParaRPr dirty="0">
              <a:solidFill>
                <a:srgbClr val="281A42"/>
              </a:solidFill>
            </a:endParaRPr>
          </a:p>
        </p:txBody>
      </p:sp>
      <p:sp>
        <p:nvSpPr>
          <p:cNvPr id="6" name="object 8">
            <a:extLst>
              <a:ext uri="{FF2B5EF4-FFF2-40B4-BE49-F238E27FC236}">
                <a16:creationId xmlns:a16="http://schemas.microsoft.com/office/drawing/2014/main" id="{740FD02F-6837-F2FB-1722-F87B7BBF5A21}"/>
              </a:ext>
            </a:extLst>
          </p:cNvPr>
          <p:cNvSpPr txBox="1"/>
          <p:nvPr/>
        </p:nvSpPr>
        <p:spPr>
          <a:xfrm>
            <a:off x="3084195" y="1702470"/>
            <a:ext cx="5498465" cy="566822"/>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PRE-DEAL</a:t>
            </a:r>
            <a:r>
              <a:rPr lang="en-US" sz="1800" b="1" spc="-10" dirty="0">
                <a:latin typeface="Segoe UI" pitchFamily="34" charset="0"/>
                <a:cs typeface="Calibri"/>
              </a:rPr>
              <a:t> DILIGENCE</a:t>
            </a:r>
            <a:br>
              <a:rPr lang="en-US" sz="1800" b="1" spc="-10" dirty="0">
                <a:latin typeface="Segoe UI" pitchFamily="34" charset="0"/>
                <a:cs typeface="Calibri"/>
              </a:rPr>
            </a:br>
            <a:r>
              <a:rPr lang="en-US" sz="1800" spc="-10" dirty="0">
                <a:solidFill>
                  <a:srgbClr val="765FFF"/>
                </a:solidFill>
                <a:latin typeface="Arial" pitchFamily="34" charset="0"/>
                <a:cs typeface="Calibri"/>
              </a:rPr>
              <a:t>what are leadership, transition risks?</a:t>
            </a:r>
            <a:r>
              <a:rPr lang="en-US" sz="1800" spc="-10" dirty="0">
                <a:latin typeface="Arial" pitchFamily="34" charset="0"/>
                <a:cs typeface="Calibri"/>
              </a:rPr>
              <a:t> </a:t>
            </a:r>
            <a:endParaRPr sz="1800" spc="-10" dirty="0">
              <a:latin typeface="Arial" pitchFamily="34" charset="0"/>
              <a:cs typeface="Calibri"/>
            </a:endParaRPr>
          </a:p>
        </p:txBody>
      </p:sp>
      <p:grpSp>
        <p:nvGrpSpPr>
          <p:cNvPr id="7" name="object 9">
            <a:extLst>
              <a:ext uri="{FF2B5EF4-FFF2-40B4-BE49-F238E27FC236}">
                <a16:creationId xmlns:a16="http://schemas.microsoft.com/office/drawing/2014/main" id="{3F71A709-61F6-FE3B-8C01-33F7610941B5}"/>
              </a:ext>
            </a:extLst>
          </p:cNvPr>
          <p:cNvGrpSpPr/>
          <p:nvPr/>
        </p:nvGrpSpPr>
        <p:grpSpPr>
          <a:xfrm>
            <a:off x="2113280" y="1538841"/>
            <a:ext cx="886460" cy="894080"/>
            <a:chOff x="2421889" y="1347469"/>
            <a:chExt cx="886460" cy="894080"/>
          </a:xfrm>
          <a:solidFill>
            <a:srgbClr val="1D1D1D"/>
          </a:solidFill>
        </p:grpSpPr>
        <p:sp>
          <p:nvSpPr>
            <p:cNvPr id="8" name="object 10">
              <a:extLst>
                <a:ext uri="{FF2B5EF4-FFF2-40B4-BE49-F238E27FC236}">
                  <a16:creationId xmlns:a16="http://schemas.microsoft.com/office/drawing/2014/main" id="{050AAAF4-3E7C-6B8A-1358-84B4FFA00F61}"/>
                </a:ext>
              </a:extLst>
            </p:cNvPr>
            <p:cNvSpPr/>
            <p:nvPr/>
          </p:nvSpPr>
          <p:spPr>
            <a:xfrm>
              <a:off x="2434589" y="1360169"/>
              <a:ext cx="861060" cy="868680"/>
            </a:xfrm>
            <a:custGeom>
              <a:avLst/>
              <a:gdLst/>
              <a:ahLst/>
              <a:cxnLst/>
              <a:rect l="l" t="t" r="r" b="b"/>
              <a:pathLst>
                <a:path w="861060" h="868680">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b="1" spc="-25" dirty="0">
                <a:latin typeface="Segoe UI" pitchFamily="34" charset="0"/>
              </a:endParaRPr>
            </a:p>
          </p:txBody>
        </p:sp>
        <p:sp>
          <p:nvSpPr>
            <p:cNvPr id="9" name="object 11">
              <a:extLst>
                <a:ext uri="{FF2B5EF4-FFF2-40B4-BE49-F238E27FC236}">
                  <a16:creationId xmlns:a16="http://schemas.microsoft.com/office/drawing/2014/main" id="{B0964477-301E-9F2D-0AE4-1083B4B32D35}"/>
                </a:ext>
              </a:extLst>
            </p:cNvPr>
            <p:cNvSpPr/>
            <p:nvPr/>
          </p:nvSpPr>
          <p:spPr>
            <a:xfrm>
              <a:off x="2434589" y="1360169"/>
              <a:ext cx="861060" cy="868680"/>
            </a:xfrm>
            <a:custGeom>
              <a:avLst/>
              <a:gdLst/>
              <a:ahLst/>
              <a:cxnLst/>
              <a:rect l="l" t="t" r="r" b="b"/>
              <a:pathLst>
                <a:path w="861060" h="868680">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b="1" spc="-25" dirty="0">
                <a:latin typeface="Segoe UI" pitchFamily="34" charset="0"/>
              </a:endParaRPr>
            </a:p>
          </p:txBody>
        </p:sp>
      </p:grpSp>
      <p:sp>
        <p:nvSpPr>
          <p:cNvPr id="10" name="object 12">
            <a:extLst>
              <a:ext uri="{FF2B5EF4-FFF2-40B4-BE49-F238E27FC236}">
                <a16:creationId xmlns:a16="http://schemas.microsoft.com/office/drawing/2014/main" id="{13BBCB31-19FD-CA23-910A-8E1C5A73133A}"/>
              </a:ext>
            </a:extLst>
          </p:cNvPr>
          <p:cNvSpPr txBox="1"/>
          <p:nvPr/>
        </p:nvSpPr>
        <p:spPr>
          <a:xfrm>
            <a:off x="2458086" y="1767759"/>
            <a:ext cx="1955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1</a:t>
            </a:r>
            <a:endParaRPr sz="2400" spc="-10" dirty="0">
              <a:latin typeface="Arial" pitchFamily="34" charset="0"/>
              <a:cs typeface="Calibri"/>
            </a:endParaRPr>
          </a:p>
        </p:txBody>
      </p:sp>
      <p:sp>
        <p:nvSpPr>
          <p:cNvPr id="11" name="object 13">
            <a:extLst>
              <a:ext uri="{FF2B5EF4-FFF2-40B4-BE49-F238E27FC236}">
                <a16:creationId xmlns:a16="http://schemas.microsoft.com/office/drawing/2014/main" id="{1650A3B4-4310-E62D-BAC7-D4D462A34FF2}"/>
              </a:ext>
            </a:extLst>
          </p:cNvPr>
          <p:cNvSpPr/>
          <p:nvPr/>
        </p:nvSpPr>
        <p:spPr>
          <a:xfrm>
            <a:off x="2560320" y="2595482"/>
            <a:ext cx="7266586" cy="868680"/>
          </a:xfrm>
          <a:custGeom>
            <a:avLst/>
            <a:gdLst/>
            <a:ahLst/>
            <a:cxnLst/>
            <a:rect l="l" t="t" r="r" b="b"/>
            <a:pathLst>
              <a:path w="7071359" h="868679">
                <a:moveTo>
                  <a:pt x="0" y="868680"/>
                </a:moveTo>
                <a:lnTo>
                  <a:pt x="7071359" y="868680"/>
                </a:lnTo>
                <a:lnTo>
                  <a:pt x="7071359" y="0"/>
                </a:lnTo>
                <a:lnTo>
                  <a:pt x="0" y="0"/>
                </a:lnTo>
                <a:lnTo>
                  <a:pt x="0" y="868680"/>
                </a:lnTo>
                <a:close/>
              </a:path>
            </a:pathLst>
          </a:custGeom>
          <a:ln w="25400">
            <a:solidFill>
              <a:srgbClr val="F2F2F2"/>
            </a:solidFill>
          </a:ln>
        </p:spPr>
        <p:txBody>
          <a:bodyPr wrap="square" lIns="0" tIns="0" rIns="0" bIns="0" rtlCol="0"/>
          <a:lstStyle/>
          <a:p>
            <a:endParaRPr dirty="0"/>
          </a:p>
        </p:txBody>
      </p:sp>
      <p:sp>
        <p:nvSpPr>
          <p:cNvPr id="12" name="object 14">
            <a:extLst>
              <a:ext uri="{FF2B5EF4-FFF2-40B4-BE49-F238E27FC236}">
                <a16:creationId xmlns:a16="http://schemas.microsoft.com/office/drawing/2014/main" id="{BC715574-544B-DD52-6D04-8DCEE993E022}"/>
              </a:ext>
            </a:extLst>
          </p:cNvPr>
          <p:cNvSpPr txBox="1"/>
          <p:nvPr/>
        </p:nvSpPr>
        <p:spPr>
          <a:xfrm>
            <a:off x="3084195" y="2746411"/>
            <a:ext cx="6547484" cy="566822"/>
          </a:xfrm>
          <a:prstGeom prst="rect">
            <a:avLst/>
          </a:prstGeom>
        </p:spPr>
        <p:txBody>
          <a:bodyPr vert="horz" wrap="square" lIns="0" tIns="12700" rIns="0" bIns="0" rtlCol="0">
            <a:spAutoFit/>
          </a:bodyPr>
          <a:lstStyle/>
          <a:p>
            <a:pPr marL="12700">
              <a:lnSpc>
                <a:spcPct val="100000"/>
              </a:lnSpc>
              <a:spcBef>
                <a:spcPts val="100"/>
              </a:spcBef>
            </a:pPr>
            <a:r>
              <a:rPr b="1" spc="-10" dirty="0">
                <a:latin typeface="Segoe UI" pitchFamily="34" charset="0"/>
                <a:cs typeface="Calibri"/>
              </a:rPr>
              <a:t>DEAL CLOSE</a:t>
            </a:r>
            <a:br>
              <a:rPr lang="en-US" b="1" spc="-10" dirty="0">
                <a:latin typeface="Segoe UI" pitchFamily="34" charset="0"/>
                <a:cs typeface="Calibri"/>
              </a:rPr>
            </a:br>
            <a:r>
              <a:rPr lang="en-US" spc="-10" dirty="0">
                <a:solidFill>
                  <a:srgbClr val="765FFF"/>
                </a:solidFill>
                <a:latin typeface="Arial" pitchFamily="34" charset="0"/>
                <a:cs typeface="Calibri"/>
              </a:rPr>
              <a:t>do we have the right leader and a winning leadership team?</a:t>
            </a:r>
            <a:endParaRPr spc="-10" dirty="0">
              <a:solidFill>
                <a:srgbClr val="765FFF"/>
              </a:solidFill>
              <a:latin typeface="Arial" pitchFamily="34" charset="0"/>
              <a:cs typeface="Calibri"/>
            </a:endParaRPr>
          </a:p>
        </p:txBody>
      </p:sp>
      <p:grpSp>
        <p:nvGrpSpPr>
          <p:cNvPr id="13" name="object 15">
            <a:extLst>
              <a:ext uri="{FF2B5EF4-FFF2-40B4-BE49-F238E27FC236}">
                <a16:creationId xmlns:a16="http://schemas.microsoft.com/office/drawing/2014/main" id="{3D456EEB-8436-D671-A3D0-61CDFAF52411}"/>
              </a:ext>
            </a:extLst>
          </p:cNvPr>
          <p:cNvGrpSpPr/>
          <p:nvPr/>
        </p:nvGrpSpPr>
        <p:grpSpPr>
          <a:xfrm>
            <a:off x="2113280" y="2582782"/>
            <a:ext cx="886460" cy="894080"/>
            <a:chOff x="2421889" y="2391410"/>
            <a:chExt cx="886460" cy="894080"/>
          </a:xfrm>
          <a:solidFill>
            <a:srgbClr val="1D1D1D"/>
          </a:solidFill>
        </p:grpSpPr>
        <p:sp>
          <p:nvSpPr>
            <p:cNvPr id="14" name="object 16">
              <a:extLst>
                <a:ext uri="{FF2B5EF4-FFF2-40B4-BE49-F238E27FC236}">
                  <a16:creationId xmlns:a16="http://schemas.microsoft.com/office/drawing/2014/main" id="{CA13CD95-2F96-3FB3-47C8-18F6C7C928A3}"/>
                </a:ext>
              </a:extLst>
            </p:cNvPr>
            <p:cNvSpPr/>
            <p:nvPr/>
          </p:nvSpPr>
          <p:spPr>
            <a:xfrm>
              <a:off x="2434589" y="2404110"/>
              <a:ext cx="861060" cy="868680"/>
            </a:xfrm>
            <a:custGeom>
              <a:avLst/>
              <a:gdLst/>
              <a:ahLst/>
              <a:cxnLst/>
              <a:rect l="l" t="t" r="r" b="b"/>
              <a:pathLst>
                <a:path w="861060" h="868679">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dirty="0">
                <a:solidFill>
                  <a:srgbClr val="FFFFFF"/>
                </a:solidFill>
              </a:endParaRPr>
            </a:p>
          </p:txBody>
        </p:sp>
        <p:sp>
          <p:nvSpPr>
            <p:cNvPr id="15" name="object 17">
              <a:extLst>
                <a:ext uri="{FF2B5EF4-FFF2-40B4-BE49-F238E27FC236}">
                  <a16:creationId xmlns:a16="http://schemas.microsoft.com/office/drawing/2014/main" id="{685C224C-D29E-7089-0C3E-63BD6DD65146}"/>
                </a:ext>
              </a:extLst>
            </p:cNvPr>
            <p:cNvSpPr/>
            <p:nvPr/>
          </p:nvSpPr>
          <p:spPr>
            <a:xfrm>
              <a:off x="2434589" y="2404110"/>
              <a:ext cx="861060" cy="868680"/>
            </a:xfrm>
            <a:custGeom>
              <a:avLst/>
              <a:gdLst/>
              <a:ahLst/>
              <a:cxnLst/>
              <a:rect l="l" t="t" r="r" b="b"/>
              <a:pathLst>
                <a:path w="861060" h="868679">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16" name="object 18">
            <a:extLst>
              <a:ext uri="{FF2B5EF4-FFF2-40B4-BE49-F238E27FC236}">
                <a16:creationId xmlns:a16="http://schemas.microsoft.com/office/drawing/2014/main" id="{51912813-BDCE-1EB0-613C-51B8BBD65D73}"/>
              </a:ext>
            </a:extLst>
          </p:cNvPr>
          <p:cNvSpPr txBox="1"/>
          <p:nvPr/>
        </p:nvSpPr>
        <p:spPr>
          <a:xfrm>
            <a:off x="2458086" y="2809413"/>
            <a:ext cx="195580" cy="382156"/>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2</a:t>
            </a:r>
            <a:r>
              <a:rPr lang="en-US" sz="2400" b="1" spc="-10" dirty="0">
                <a:solidFill>
                  <a:srgbClr val="FFFFFF"/>
                </a:solidFill>
                <a:latin typeface="Segoe UI" pitchFamily="34" charset="0"/>
                <a:cs typeface="Calibri"/>
              </a:rPr>
              <a:t> </a:t>
            </a:r>
            <a:endParaRPr sz="2400" spc="-10" dirty="0">
              <a:solidFill>
                <a:srgbClr val="FFFFFF"/>
              </a:solidFill>
              <a:latin typeface="Arial" pitchFamily="34" charset="0"/>
              <a:cs typeface="Calibri"/>
            </a:endParaRPr>
          </a:p>
        </p:txBody>
      </p:sp>
      <p:sp>
        <p:nvSpPr>
          <p:cNvPr id="17" name="object 19">
            <a:extLst>
              <a:ext uri="{FF2B5EF4-FFF2-40B4-BE49-F238E27FC236}">
                <a16:creationId xmlns:a16="http://schemas.microsoft.com/office/drawing/2014/main" id="{52971148-E1A3-A153-2CF1-12E5E49E08E0}"/>
              </a:ext>
            </a:extLst>
          </p:cNvPr>
          <p:cNvSpPr/>
          <p:nvPr/>
        </p:nvSpPr>
        <p:spPr>
          <a:xfrm>
            <a:off x="2560320" y="3639422"/>
            <a:ext cx="7266586" cy="861060"/>
          </a:xfrm>
          <a:custGeom>
            <a:avLst/>
            <a:gdLst/>
            <a:ahLst/>
            <a:cxnLst/>
            <a:rect l="l" t="t" r="r" b="b"/>
            <a:pathLst>
              <a:path w="7071359" h="861060">
                <a:moveTo>
                  <a:pt x="0" y="861060"/>
                </a:moveTo>
                <a:lnTo>
                  <a:pt x="7071359" y="861060"/>
                </a:lnTo>
                <a:lnTo>
                  <a:pt x="7071359" y="0"/>
                </a:lnTo>
                <a:lnTo>
                  <a:pt x="0" y="0"/>
                </a:lnTo>
                <a:lnTo>
                  <a:pt x="0" y="861060"/>
                </a:lnTo>
                <a:close/>
              </a:path>
            </a:pathLst>
          </a:custGeom>
          <a:ln w="25399">
            <a:solidFill>
              <a:srgbClr val="F2F2F2"/>
            </a:solidFill>
          </a:ln>
        </p:spPr>
        <p:txBody>
          <a:bodyPr wrap="square" lIns="0" tIns="0" rIns="0" bIns="0" rtlCol="0"/>
          <a:lstStyle/>
          <a:p>
            <a:endParaRPr dirty="0"/>
          </a:p>
        </p:txBody>
      </p:sp>
      <p:sp>
        <p:nvSpPr>
          <p:cNvPr id="18" name="object 20">
            <a:extLst>
              <a:ext uri="{FF2B5EF4-FFF2-40B4-BE49-F238E27FC236}">
                <a16:creationId xmlns:a16="http://schemas.microsoft.com/office/drawing/2014/main" id="{DC3DCCE9-20BE-67A3-3EE0-25E0AA890EAA}"/>
              </a:ext>
            </a:extLst>
          </p:cNvPr>
          <p:cNvSpPr txBox="1"/>
          <p:nvPr/>
        </p:nvSpPr>
        <p:spPr>
          <a:xfrm>
            <a:off x="3084195" y="3780129"/>
            <a:ext cx="6547484" cy="579646"/>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HOLD PERIOD</a:t>
            </a:r>
            <a:endParaRPr lang="en-US" b="1" spc="-10" dirty="0">
              <a:latin typeface="Segoe UI" pitchFamily="34" charset="0"/>
              <a:cs typeface="Calibri"/>
            </a:endParaRPr>
          </a:p>
          <a:p>
            <a:pPr marL="12700">
              <a:lnSpc>
                <a:spcPct val="100000"/>
              </a:lnSpc>
              <a:spcBef>
                <a:spcPts val="100"/>
              </a:spcBef>
            </a:pPr>
            <a:r>
              <a:rPr lang="en-US" spc="-10" dirty="0">
                <a:solidFill>
                  <a:srgbClr val="765FFF"/>
                </a:solidFill>
                <a:latin typeface="Arial" pitchFamily="34" charset="0"/>
                <a:cs typeface="Calibri"/>
              </a:rPr>
              <a:t>h</a:t>
            </a:r>
            <a:r>
              <a:rPr lang="en-US" sz="1800" spc="-10" dirty="0">
                <a:solidFill>
                  <a:srgbClr val="765FFF"/>
                </a:solidFill>
                <a:latin typeface="Arial" pitchFamily="34" charset="0"/>
                <a:cs typeface="Calibri"/>
              </a:rPr>
              <a:t>ow can we accelerate time to value? reduce volatility of returns?</a:t>
            </a:r>
            <a:endParaRPr sz="1800" spc="-10" dirty="0">
              <a:solidFill>
                <a:srgbClr val="765FFF"/>
              </a:solidFill>
              <a:latin typeface="Arial" pitchFamily="34" charset="0"/>
              <a:cs typeface="Calibri"/>
            </a:endParaRPr>
          </a:p>
        </p:txBody>
      </p:sp>
      <p:grpSp>
        <p:nvGrpSpPr>
          <p:cNvPr id="19" name="object 21">
            <a:extLst>
              <a:ext uri="{FF2B5EF4-FFF2-40B4-BE49-F238E27FC236}">
                <a16:creationId xmlns:a16="http://schemas.microsoft.com/office/drawing/2014/main" id="{6F632850-52E6-04B4-5101-C7E6044BC0B4}"/>
              </a:ext>
            </a:extLst>
          </p:cNvPr>
          <p:cNvGrpSpPr/>
          <p:nvPr/>
        </p:nvGrpSpPr>
        <p:grpSpPr>
          <a:xfrm>
            <a:off x="2113280" y="3626722"/>
            <a:ext cx="886460" cy="886460"/>
            <a:chOff x="2421889" y="3435350"/>
            <a:chExt cx="886460" cy="886460"/>
          </a:xfrm>
          <a:solidFill>
            <a:srgbClr val="1D1D1D"/>
          </a:solidFill>
        </p:grpSpPr>
        <p:sp>
          <p:nvSpPr>
            <p:cNvPr id="20" name="object 22">
              <a:extLst>
                <a:ext uri="{FF2B5EF4-FFF2-40B4-BE49-F238E27FC236}">
                  <a16:creationId xmlns:a16="http://schemas.microsoft.com/office/drawing/2014/main" id="{4486D1D0-BC02-8C04-6135-F30285B60CA3}"/>
                </a:ext>
              </a:extLst>
            </p:cNvPr>
            <p:cNvSpPr/>
            <p:nvPr/>
          </p:nvSpPr>
          <p:spPr>
            <a:xfrm>
              <a:off x="2434589" y="3448050"/>
              <a:ext cx="861060" cy="861060"/>
            </a:xfrm>
            <a:custGeom>
              <a:avLst/>
              <a:gdLst/>
              <a:ahLst/>
              <a:cxnLst/>
              <a:rect l="l" t="t" r="r" b="b"/>
              <a:pathLst>
                <a:path w="861060" h="861060">
                  <a:moveTo>
                    <a:pt x="430530" y="0"/>
                  </a:moveTo>
                  <a:lnTo>
                    <a:pt x="383624" y="2526"/>
                  </a:lnTo>
                  <a:lnTo>
                    <a:pt x="338180" y="9931"/>
                  </a:lnTo>
                  <a:lnTo>
                    <a:pt x="294461" y="21951"/>
                  </a:lnTo>
                  <a:lnTo>
                    <a:pt x="252729" y="38324"/>
                  </a:lnTo>
                  <a:lnTo>
                    <a:pt x="213247" y="58786"/>
                  </a:lnTo>
                  <a:lnTo>
                    <a:pt x="176278" y="83076"/>
                  </a:lnTo>
                  <a:lnTo>
                    <a:pt x="142084" y="110929"/>
                  </a:lnTo>
                  <a:lnTo>
                    <a:pt x="110929" y="142084"/>
                  </a:lnTo>
                  <a:lnTo>
                    <a:pt x="83076" y="176278"/>
                  </a:lnTo>
                  <a:lnTo>
                    <a:pt x="58786" y="213247"/>
                  </a:lnTo>
                  <a:lnTo>
                    <a:pt x="38324" y="252729"/>
                  </a:lnTo>
                  <a:lnTo>
                    <a:pt x="21951" y="294461"/>
                  </a:lnTo>
                  <a:lnTo>
                    <a:pt x="9931" y="338180"/>
                  </a:lnTo>
                  <a:lnTo>
                    <a:pt x="2526" y="383624"/>
                  </a:lnTo>
                  <a:lnTo>
                    <a:pt x="0" y="430530"/>
                  </a:lnTo>
                  <a:lnTo>
                    <a:pt x="2526" y="477435"/>
                  </a:lnTo>
                  <a:lnTo>
                    <a:pt x="9931" y="522879"/>
                  </a:lnTo>
                  <a:lnTo>
                    <a:pt x="21951" y="566598"/>
                  </a:lnTo>
                  <a:lnTo>
                    <a:pt x="38324" y="608330"/>
                  </a:lnTo>
                  <a:lnTo>
                    <a:pt x="58786" y="647812"/>
                  </a:lnTo>
                  <a:lnTo>
                    <a:pt x="83076" y="684781"/>
                  </a:lnTo>
                  <a:lnTo>
                    <a:pt x="110929" y="718975"/>
                  </a:lnTo>
                  <a:lnTo>
                    <a:pt x="142084" y="750130"/>
                  </a:lnTo>
                  <a:lnTo>
                    <a:pt x="176278" y="777983"/>
                  </a:lnTo>
                  <a:lnTo>
                    <a:pt x="213247" y="802273"/>
                  </a:lnTo>
                  <a:lnTo>
                    <a:pt x="252729" y="822735"/>
                  </a:lnTo>
                  <a:lnTo>
                    <a:pt x="294461" y="839108"/>
                  </a:lnTo>
                  <a:lnTo>
                    <a:pt x="338180" y="851128"/>
                  </a:lnTo>
                  <a:lnTo>
                    <a:pt x="383624" y="858533"/>
                  </a:lnTo>
                  <a:lnTo>
                    <a:pt x="430530" y="861060"/>
                  </a:lnTo>
                  <a:lnTo>
                    <a:pt x="477435" y="858533"/>
                  </a:lnTo>
                  <a:lnTo>
                    <a:pt x="522879" y="851128"/>
                  </a:lnTo>
                  <a:lnTo>
                    <a:pt x="566598" y="839108"/>
                  </a:lnTo>
                  <a:lnTo>
                    <a:pt x="608330" y="822735"/>
                  </a:lnTo>
                  <a:lnTo>
                    <a:pt x="647812" y="802273"/>
                  </a:lnTo>
                  <a:lnTo>
                    <a:pt x="684781" y="777983"/>
                  </a:lnTo>
                  <a:lnTo>
                    <a:pt x="718975" y="750130"/>
                  </a:lnTo>
                  <a:lnTo>
                    <a:pt x="750130" y="718975"/>
                  </a:lnTo>
                  <a:lnTo>
                    <a:pt x="777983" y="684781"/>
                  </a:lnTo>
                  <a:lnTo>
                    <a:pt x="802273" y="647812"/>
                  </a:lnTo>
                  <a:lnTo>
                    <a:pt x="822735" y="608330"/>
                  </a:lnTo>
                  <a:lnTo>
                    <a:pt x="839108" y="566598"/>
                  </a:lnTo>
                  <a:lnTo>
                    <a:pt x="851128" y="522879"/>
                  </a:lnTo>
                  <a:lnTo>
                    <a:pt x="858533" y="477435"/>
                  </a:lnTo>
                  <a:lnTo>
                    <a:pt x="861060" y="430530"/>
                  </a:lnTo>
                  <a:lnTo>
                    <a:pt x="858533" y="383624"/>
                  </a:lnTo>
                  <a:lnTo>
                    <a:pt x="851128" y="338180"/>
                  </a:lnTo>
                  <a:lnTo>
                    <a:pt x="839108" y="294461"/>
                  </a:lnTo>
                  <a:lnTo>
                    <a:pt x="822735" y="252729"/>
                  </a:lnTo>
                  <a:lnTo>
                    <a:pt x="802273" y="213247"/>
                  </a:lnTo>
                  <a:lnTo>
                    <a:pt x="777983" y="176278"/>
                  </a:lnTo>
                  <a:lnTo>
                    <a:pt x="750130" y="142084"/>
                  </a:lnTo>
                  <a:lnTo>
                    <a:pt x="718975" y="110929"/>
                  </a:lnTo>
                  <a:lnTo>
                    <a:pt x="684781" y="83076"/>
                  </a:lnTo>
                  <a:lnTo>
                    <a:pt x="647812" y="58786"/>
                  </a:lnTo>
                  <a:lnTo>
                    <a:pt x="608330" y="38324"/>
                  </a:lnTo>
                  <a:lnTo>
                    <a:pt x="566598" y="21951"/>
                  </a:lnTo>
                  <a:lnTo>
                    <a:pt x="522879" y="9931"/>
                  </a:lnTo>
                  <a:lnTo>
                    <a:pt x="477435" y="2526"/>
                  </a:lnTo>
                  <a:lnTo>
                    <a:pt x="430530" y="0"/>
                  </a:lnTo>
                  <a:close/>
                </a:path>
              </a:pathLst>
            </a:custGeom>
            <a:grpFill/>
          </p:spPr>
          <p:txBody>
            <a:bodyPr wrap="square" lIns="0" tIns="0" rIns="0" bIns="0" rtlCol="0"/>
            <a:lstStyle/>
            <a:p>
              <a:endParaRPr dirty="0">
                <a:solidFill>
                  <a:srgbClr val="FFFFFF"/>
                </a:solidFill>
              </a:endParaRPr>
            </a:p>
          </p:txBody>
        </p:sp>
        <p:sp>
          <p:nvSpPr>
            <p:cNvPr id="21" name="object 23">
              <a:extLst>
                <a:ext uri="{FF2B5EF4-FFF2-40B4-BE49-F238E27FC236}">
                  <a16:creationId xmlns:a16="http://schemas.microsoft.com/office/drawing/2014/main" id="{107DCA3D-4AE7-9EE5-5B2C-01A691273362}"/>
                </a:ext>
              </a:extLst>
            </p:cNvPr>
            <p:cNvSpPr/>
            <p:nvPr/>
          </p:nvSpPr>
          <p:spPr>
            <a:xfrm>
              <a:off x="2434589" y="3448050"/>
              <a:ext cx="861060" cy="861060"/>
            </a:xfrm>
            <a:custGeom>
              <a:avLst/>
              <a:gdLst/>
              <a:ahLst/>
              <a:cxnLst/>
              <a:rect l="l" t="t" r="r" b="b"/>
              <a:pathLst>
                <a:path w="861060" h="861060">
                  <a:moveTo>
                    <a:pt x="0" y="430530"/>
                  </a:moveTo>
                  <a:lnTo>
                    <a:pt x="2526" y="383624"/>
                  </a:lnTo>
                  <a:lnTo>
                    <a:pt x="9931" y="338180"/>
                  </a:lnTo>
                  <a:lnTo>
                    <a:pt x="21951" y="294461"/>
                  </a:lnTo>
                  <a:lnTo>
                    <a:pt x="38324" y="252729"/>
                  </a:lnTo>
                  <a:lnTo>
                    <a:pt x="58786" y="213247"/>
                  </a:lnTo>
                  <a:lnTo>
                    <a:pt x="83076" y="176278"/>
                  </a:lnTo>
                  <a:lnTo>
                    <a:pt x="110929" y="142084"/>
                  </a:lnTo>
                  <a:lnTo>
                    <a:pt x="142084" y="110929"/>
                  </a:lnTo>
                  <a:lnTo>
                    <a:pt x="176278" y="83076"/>
                  </a:lnTo>
                  <a:lnTo>
                    <a:pt x="213247" y="58786"/>
                  </a:lnTo>
                  <a:lnTo>
                    <a:pt x="252729" y="38324"/>
                  </a:lnTo>
                  <a:lnTo>
                    <a:pt x="294461" y="21951"/>
                  </a:lnTo>
                  <a:lnTo>
                    <a:pt x="338180" y="9931"/>
                  </a:lnTo>
                  <a:lnTo>
                    <a:pt x="383624" y="2526"/>
                  </a:lnTo>
                  <a:lnTo>
                    <a:pt x="430530" y="0"/>
                  </a:lnTo>
                  <a:lnTo>
                    <a:pt x="477435" y="2526"/>
                  </a:lnTo>
                  <a:lnTo>
                    <a:pt x="522879" y="9931"/>
                  </a:lnTo>
                  <a:lnTo>
                    <a:pt x="566598" y="21951"/>
                  </a:lnTo>
                  <a:lnTo>
                    <a:pt x="608330" y="38324"/>
                  </a:lnTo>
                  <a:lnTo>
                    <a:pt x="647812" y="58786"/>
                  </a:lnTo>
                  <a:lnTo>
                    <a:pt x="684781" y="83076"/>
                  </a:lnTo>
                  <a:lnTo>
                    <a:pt x="718975" y="110929"/>
                  </a:lnTo>
                  <a:lnTo>
                    <a:pt x="750130" y="142084"/>
                  </a:lnTo>
                  <a:lnTo>
                    <a:pt x="777983" y="176278"/>
                  </a:lnTo>
                  <a:lnTo>
                    <a:pt x="802273" y="213247"/>
                  </a:lnTo>
                  <a:lnTo>
                    <a:pt x="822735" y="252729"/>
                  </a:lnTo>
                  <a:lnTo>
                    <a:pt x="839108" y="294461"/>
                  </a:lnTo>
                  <a:lnTo>
                    <a:pt x="851128" y="338180"/>
                  </a:lnTo>
                  <a:lnTo>
                    <a:pt x="858533" y="383624"/>
                  </a:lnTo>
                  <a:lnTo>
                    <a:pt x="861060" y="430530"/>
                  </a:lnTo>
                  <a:lnTo>
                    <a:pt x="858533" y="477435"/>
                  </a:lnTo>
                  <a:lnTo>
                    <a:pt x="851128" y="522879"/>
                  </a:lnTo>
                  <a:lnTo>
                    <a:pt x="839108" y="566598"/>
                  </a:lnTo>
                  <a:lnTo>
                    <a:pt x="822735" y="608330"/>
                  </a:lnTo>
                  <a:lnTo>
                    <a:pt x="802273" y="647812"/>
                  </a:lnTo>
                  <a:lnTo>
                    <a:pt x="777983" y="684781"/>
                  </a:lnTo>
                  <a:lnTo>
                    <a:pt x="750130" y="718975"/>
                  </a:lnTo>
                  <a:lnTo>
                    <a:pt x="718975" y="750130"/>
                  </a:lnTo>
                  <a:lnTo>
                    <a:pt x="684781" y="777983"/>
                  </a:lnTo>
                  <a:lnTo>
                    <a:pt x="647812" y="802273"/>
                  </a:lnTo>
                  <a:lnTo>
                    <a:pt x="608330" y="822735"/>
                  </a:lnTo>
                  <a:lnTo>
                    <a:pt x="566598" y="839108"/>
                  </a:lnTo>
                  <a:lnTo>
                    <a:pt x="522879" y="851128"/>
                  </a:lnTo>
                  <a:lnTo>
                    <a:pt x="477435" y="858533"/>
                  </a:lnTo>
                  <a:lnTo>
                    <a:pt x="430530" y="861060"/>
                  </a:lnTo>
                  <a:lnTo>
                    <a:pt x="383624" y="858533"/>
                  </a:lnTo>
                  <a:lnTo>
                    <a:pt x="338180" y="851128"/>
                  </a:lnTo>
                  <a:lnTo>
                    <a:pt x="294461" y="839108"/>
                  </a:lnTo>
                  <a:lnTo>
                    <a:pt x="252729" y="822735"/>
                  </a:lnTo>
                  <a:lnTo>
                    <a:pt x="213247" y="802273"/>
                  </a:lnTo>
                  <a:lnTo>
                    <a:pt x="176278" y="777983"/>
                  </a:lnTo>
                  <a:lnTo>
                    <a:pt x="142084" y="750130"/>
                  </a:lnTo>
                  <a:lnTo>
                    <a:pt x="110929" y="718975"/>
                  </a:lnTo>
                  <a:lnTo>
                    <a:pt x="83076" y="684781"/>
                  </a:lnTo>
                  <a:lnTo>
                    <a:pt x="58786" y="647812"/>
                  </a:lnTo>
                  <a:lnTo>
                    <a:pt x="38324" y="608330"/>
                  </a:lnTo>
                  <a:lnTo>
                    <a:pt x="21951" y="566598"/>
                  </a:lnTo>
                  <a:lnTo>
                    <a:pt x="9931" y="522879"/>
                  </a:lnTo>
                  <a:lnTo>
                    <a:pt x="2526" y="477435"/>
                  </a:lnTo>
                  <a:lnTo>
                    <a:pt x="0" y="430530"/>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22" name="object 24">
            <a:extLst>
              <a:ext uri="{FF2B5EF4-FFF2-40B4-BE49-F238E27FC236}">
                <a16:creationId xmlns:a16="http://schemas.microsoft.com/office/drawing/2014/main" id="{20434B16-7136-9A90-C692-E10266077879}"/>
              </a:ext>
            </a:extLst>
          </p:cNvPr>
          <p:cNvSpPr txBox="1"/>
          <p:nvPr/>
        </p:nvSpPr>
        <p:spPr>
          <a:xfrm>
            <a:off x="2458086" y="3851448"/>
            <a:ext cx="195580" cy="391795"/>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3</a:t>
            </a:r>
            <a:endParaRPr sz="2400" spc="-10" dirty="0">
              <a:solidFill>
                <a:srgbClr val="FFFFFF"/>
              </a:solidFill>
              <a:latin typeface="Arial" pitchFamily="34" charset="0"/>
              <a:cs typeface="Calibri"/>
            </a:endParaRPr>
          </a:p>
        </p:txBody>
      </p:sp>
      <p:sp>
        <p:nvSpPr>
          <p:cNvPr id="23" name="object 25">
            <a:extLst>
              <a:ext uri="{FF2B5EF4-FFF2-40B4-BE49-F238E27FC236}">
                <a16:creationId xmlns:a16="http://schemas.microsoft.com/office/drawing/2014/main" id="{CE64C2C4-48F8-95DD-BED0-E4D0C6AC0758}"/>
              </a:ext>
            </a:extLst>
          </p:cNvPr>
          <p:cNvSpPr/>
          <p:nvPr/>
        </p:nvSpPr>
        <p:spPr>
          <a:xfrm>
            <a:off x="2560320" y="4675742"/>
            <a:ext cx="7266586" cy="868680"/>
          </a:xfrm>
          <a:custGeom>
            <a:avLst/>
            <a:gdLst/>
            <a:ahLst/>
            <a:cxnLst/>
            <a:rect l="l" t="t" r="r" b="b"/>
            <a:pathLst>
              <a:path w="7071359" h="868679">
                <a:moveTo>
                  <a:pt x="0" y="868679"/>
                </a:moveTo>
                <a:lnTo>
                  <a:pt x="7071359" y="868679"/>
                </a:lnTo>
                <a:lnTo>
                  <a:pt x="7071359" y="0"/>
                </a:lnTo>
                <a:lnTo>
                  <a:pt x="0" y="0"/>
                </a:lnTo>
                <a:lnTo>
                  <a:pt x="0" y="868679"/>
                </a:lnTo>
                <a:close/>
              </a:path>
            </a:pathLst>
          </a:custGeom>
          <a:ln w="25400">
            <a:solidFill>
              <a:srgbClr val="F2F2F2"/>
            </a:solidFill>
          </a:ln>
        </p:spPr>
        <p:txBody>
          <a:bodyPr wrap="square" lIns="0" tIns="0" rIns="0" bIns="0" rtlCol="0"/>
          <a:lstStyle/>
          <a:p>
            <a:endParaRPr dirty="0"/>
          </a:p>
        </p:txBody>
      </p:sp>
      <p:sp>
        <p:nvSpPr>
          <p:cNvPr id="24" name="object 26">
            <a:extLst>
              <a:ext uri="{FF2B5EF4-FFF2-40B4-BE49-F238E27FC236}">
                <a16:creationId xmlns:a16="http://schemas.microsoft.com/office/drawing/2014/main" id="{B9B1E0AD-86B4-F259-438A-D583CFFB71DB}"/>
              </a:ext>
            </a:extLst>
          </p:cNvPr>
          <p:cNvSpPr txBox="1"/>
          <p:nvPr/>
        </p:nvSpPr>
        <p:spPr>
          <a:xfrm>
            <a:off x="3084195" y="4805715"/>
            <a:ext cx="4962525" cy="566822"/>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EXIT</a:t>
            </a:r>
            <a:r>
              <a:rPr lang="en-US" sz="1800" b="1" spc="-10" dirty="0">
                <a:latin typeface="Segoe UI" pitchFamily="34" charset="0"/>
                <a:cs typeface="Calibri"/>
              </a:rPr>
              <a:t> VENDOR DUE DILIGENCE</a:t>
            </a:r>
            <a:br>
              <a:rPr lang="en-US" b="1" spc="-10" dirty="0">
                <a:latin typeface="Segoe UI" pitchFamily="34" charset="0"/>
                <a:cs typeface="Calibri"/>
              </a:rPr>
            </a:br>
            <a:r>
              <a:rPr lang="en-US" spc="-10" dirty="0">
                <a:solidFill>
                  <a:srgbClr val="765FFF"/>
                </a:solidFill>
                <a:latin typeface="Arial" pitchFamily="34" charset="0"/>
                <a:cs typeface="Calibri"/>
              </a:rPr>
              <a:t>how can we </a:t>
            </a:r>
            <a:r>
              <a:rPr lang="en-US" sz="1800" spc="-10" dirty="0">
                <a:solidFill>
                  <a:srgbClr val="765FFF"/>
                </a:solidFill>
                <a:latin typeface="Arial" pitchFamily="34" charset="0"/>
                <a:cs typeface="Calibri"/>
              </a:rPr>
              <a:t>improve our value realization?</a:t>
            </a:r>
            <a:endParaRPr sz="1800" spc="-10" dirty="0">
              <a:solidFill>
                <a:srgbClr val="765FFF"/>
              </a:solidFill>
              <a:latin typeface="Arial" pitchFamily="34" charset="0"/>
              <a:cs typeface="Calibri"/>
            </a:endParaRPr>
          </a:p>
        </p:txBody>
      </p:sp>
      <p:grpSp>
        <p:nvGrpSpPr>
          <p:cNvPr id="25" name="object 27">
            <a:extLst>
              <a:ext uri="{FF2B5EF4-FFF2-40B4-BE49-F238E27FC236}">
                <a16:creationId xmlns:a16="http://schemas.microsoft.com/office/drawing/2014/main" id="{1DA57A73-2DB4-E6F1-17FD-BA1B572CE705}"/>
              </a:ext>
            </a:extLst>
          </p:cNvPr>
          <p:cNvGrpSpPr/>
          <p:nvPr/>
        </p:nvGrpSpPr>
        <p:grpSpPr>
          <a:xfrm>
            <a:off x="2113280" y="4663042"/>
            <a:ext cx="886460" cy="894080"/>
            <a:chOff x="2421889" y="4471670"/>
            <a:chExt cx="886460" cy="894080"/>
          </a:xfrm>
          <a:solidFill>
            <a:srgbClr val="1D1D1D"/>
          </a:solidFill>
        </p:grpSpPr>
        <p:sp>
          <p:nvSpPr>
            <p:cNvPr id="26" name="object 28">
              <a:extLst>
                <a:ext uri="{FF2B5EF4-FFF2-40B4-BE49-F238E27FC236}">
                  <a16:creationId xmlns:a16="http://schemas.microsoft.com/office/drawing/2014/main" id="{CB3F7B79-6DB9-40CE-A955-66AFC9260A8C}"/>
                </a:ext>
              </a:extLst>
            </p:cNvPr>
            <p:cNvSpPr/>
            <p:nvPr/>
          </p:nvSpPr>
          <p:spPr>
            <a:xfrm>
              <a:off x="2434589" y="4484370"/>
              <a:ext cx="861060" cy="868680"/>
            </a:xfrm>
            <a:custGeom>
              <a:avLst/>
              <a:gdLst/>
              <a:ahLst/>
              <a:cxnLst/>
              <a:rect l="l" t="t" r="r" b="b"/>
              <a:pathLst>
                <a:path w="861060" h="868679">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dirty="0">
                <a:solidFill>
                  <a:srgbClr val="FFFFFF"/>
                </a:solidFill>
              </a:endParaRPr>
            </a:p>
          </p:txBody>
        </p:sp>
        <p:sp>
          <p:nvSpPr>
            <p:cNvPr id="27" name="object 29">
              <a:extLst>
                <a:ext uri="{FF2B5EF4-FFF2-40B4-BE49-F238E27FC236}">
                  <a16:creationId xmlns:a16="http://schemas.microsoft.com/office/drawing/2014/main" id="{6B42F5EF-8C0F-D4FB-8D0D-1FFB07E77C43}"/>
                </a:ext>
              </a:extLst>
            </p:cNvPr>
            <p:cNvSpPr/>
            <p:nvPr/>
          </p:nvSpPr>
          <p:spPr>
            <a:xfrm>
              <a:off x="2434589" y="4484370"/>
              <a:ext cx="861060" cy="868680"/>
            </a:xfrm>
            <a:custGeom>
              <a:avLst/>
              <a:gdLst/>
              <a:ahLst/>
              <a:cxnLst/>
              <a:rect l="l" t="t" r="r" b="b"/>
              <a:pathLst>
                <a:path w="861060" h="868679">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28" name="object 30">
            <a:extLst>
              <a:ext uri="{FF2B5EF4-FFF2-40B4-BE49-F238E27FC236}">
                <a16:creationId xmlns:a16="http://schemas.microsoft.com/office/drawing/2014/main" id="{118C2DC2-BA74-08F6-3246-C1F1655A0DD2}"/>
              </a:ext>
            </a:extLst>
          </p:cNvPr>
          <p:cNvSpPr txBox="1"/>
          <p:nvPr/>
        </p:nvSpPr>
        <p:spPr>
          <a:xfrm>
            <a:off x="2458086" y="4893229"/>
            <a:ext cx="195580" cy="391795"/>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4</a:t>
            </a:r>
            <a:endParaRPr sz="2400" spc="-10" dirty="0">
              <a:solidFill>
                <a:srgbClr val="FFFFFF"/>
              </a:solidFill>
              <a:latin typeface="Arial" pitchFamily="34" charset="0"/>
              <a:cs typeface="Calibri"/>
            </a:endParaRPr>
          </a:p>
        </p:txBody>
      </p:sp>
      <p:sp>
        <p:nvSpPr>
          <p:cNvPr id="29" name="TextBox 28">
            <a:extLst>
              <a:ext uri="{FF2B5EF4-FFF2-40B4-BE49-F238E27FC236}">
                <a16:creationId xmlns:a16="http://schemas.microsoft.com/office/drawing/2014/main" id="{63526625-D85A-CC37-3A2A-CB52BEB9AEB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478556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82BC55-F4AD-BE9F-8E83-BAA19D34BBB4}"/>
              </a:ext>
            </a:extLst>
          </p:cNvPr>
          <p:cNvSpPr>
            <a:spLocks noGrp="1"/>
          </p:cNvSpPr>
          <p:nvPr>
            <p:ph type="title"/>
          </p:nvPr>
        </p:nvSpPr>
        <p:spPr/>
        <p:txBody>
          <a:bodyPr/>
          <a:lstStyle/>
          <a:p>
            <a:r>
              <a:rPr lang="en-US" dirty="0"/>
              <a:t>Pre-Deal Diligence</a:t>
            </a:r>
          </a:p>
        </p:txBody>
      </p:sp>
      <p:sp>
        <p:nvSpPr>
          <p:cNvPr id="7" name="Text Placeholder 6">
            <a:extLst>
              <a:ext uri="{FF2B5EF4-FFF2-40B4-BE49-F238E27FC236}">
                <a16:creationId xmlns:a16="http://schemas.microsoft.com/office/drawing/2014/main" id="{ADDBBA98-F9FA-3990-761C-90CEB745B50E}"/>
              </a:ext>
            </a:extLst>
          </p:cNvPr>
          <p:cNvSpPr>
            <a:spLocks noGrp="1"/>
          </p:cNvSpPr>
          <p:nvPr>
            <p:ph type="body" sz="quarter" idx="12"/>
          </p:nvPr>
        </p:nvSpPr>
        <p:spPr/>
        <p:txBody>
          <a:bodyPr/>
          <a:lstStyle/>
          <a:p>
            <a:r>
              <a:rPr lang="en-US" dirty="0"/>
              <a:t>Talent2Value Approach</a:t>
            </a:r>
          </a:p>
          <a:p>
            <a:endParaRPr lang="en-US" dirty="0"/>
          </a:p>
        </p:txBody>
      </p:sp>
      <p:sp>
        <p:nvSpPr>
          <p:cNvPr id="4" name="Slide Number Placeholder 3">
            <a:extLst>
              <a:ext uri="{FF2B5EF4-FFF2-40B4-BE49-F238E27FC236}">
                <a16:creationId xmlns:a16="http://schemas.microsoft.com/office/drawing/2014/main" id="{1E0D1C01-2454-D81F-C167-4677DF9F9AE1}"/>
              </a:ext>
            </a:extLst>
          </p:cNvPr>
          <p:cNvSpPr>
            <a:spLocks noGrp="1"/>
          </p:cNvSpPr>
          <p:nvPr>
            <p:ph type="sldNum" sz="quarter" idx="4"/>
          </p:nvPr>
        </p:nvSpPr>
        <p:spPr/>
        <p:txBody>
          <a:bodyPr/>
          <a:lstStyle/>
          <a:p>
            <a:pPr algn="ctr"/>
            <a:fld id="{1875A764-3B06-454E-8ABA-2F6ED0EB58E9}" type="slidenum">
              <a:rPr lang="en-US" smtClean="0"/>
              <a:t>22</a:t>
            </a:fld>
            <a:endParaRPr lang="en-US"/>
          </a:p>
        </p:txBody>
      </p:sp>
      <p:grpSp>
        <p:nvGrpSpPr>
          <p:cNvPr id="8" name="object 2">
            <a:extLst>
              <a:ext uri="{FF2B5EF4-FFF2-40B4-BE49-F238E27FC236}">
                <a16:creationId xmlns:a16="http://schemas.microsoft.com/office/drawing/2014/main" id="{3B7B88C7-DE7D-D887-B77D-6B3EF031F4A5}"/>
              </a:ext>
            </a:extLst>
          </p:cNvPr>
          <p:cNvGrpSpPr/>
          <p:nvPr/>
        </p:nvGrpSpPr>
        <p:grpSpPr>
          <a:xfrm>
            <a:off x="263906" y="1548764"/>
            <a:ext cx="11652250" cy="519430"/>
            <a:chOff x="263906" y="1548764"/>
            <a:chExt cx="11652250" cy="519430"/>
          </a:xfrm>
        </p:grpSpPr>
        <p:sp>
          <p:nvSpPr>
            <p:cNvPr id="9" name="object 3">
              <a:extLst>
                <a:ext uri="{FF2B5EF4-FFF2-40B4-BE49-F238E27FC236}">
                  <a16:creationId xmlns:a16="http://schemas.microsoft.com/office/drawing/2014/main" id="{7C300FB3-437C-63F8-03CC-E02D92671615}"/>
                </a:ext>
              </a:extLst>
            </p:cNvPr>
            <p:cNvSpPr/>
            <p:nvPr/>
          </p:nvSpPr>
          <p:spPr>
            <a:xfrm>
              <a:off x="640842" y="1558289"/>
              <a:ext cx="0" cy="312420"/>
            </a:xfrm>
            <a:custGeom>
              <a:avLst/>
              <a:gdLst/>
              <a:ahLst/>
              <a:cxnLst/>
              <a:rect l="l" t="t" r="r" b="b"/>
              <a:pathLst>
                <a:path h="312419">
                  <a:moveTo>
                    <a:pt x="0" y="0"/>
                  </a:moveTo>
                  <a:lnTo>
                    <a:pt x="0" y="312293"/>
                  </a:lnTo>
                </a:path>
              </a:pathLst>
            </a:custGeom>
            <a:ln w="19050">
              <a:solidFill>
                <a:srgbClr val="765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4">
              <a:extLst>
                <a:ext uri="{FF2B5EF4-FFF2-40B4-BE49-F238E27FC236}">
                  <a16:creationId xmlns:a16="http://schemas.microsoft.com/office/drawing/2014/main" id="{CE1EC852-B068-EB5B-1114-2E8C936A5592}"/>
                </a:ext>
              </a:extLst>
            </p:cNvPr>
            <p:cNvSpPr/>
            <p:nvPr/>
          </p:nvSpPr>
          <p:spPr>
            <a:xfrm>
              <a:off x="276606" y="1741169"/>
              <a:ext cx="11626850" cy="292735"/>
            </a:xfrm>
            <a:custGeom>
              <a:avLst/>
              <a:gdLst/>
              <a:ahLst/>
              <a:cxnLst/>
              <a:rect l="l" t="t" r="r" b="b"/>
              <a:pathLst>
                <a:path w="11626850" h="292735">
                  <a:moveTo>
                    <a:pt x="11480292" y="0"/>
                  </a:moveTo>
                  <a:lnTo>
                    <a:pt x="11480292" y="73151"/>
                  </a:lnTo>
                  <a:lnTo>
                    <a:pt x="0" y="73151"/>
                  </a:lnTo>
                  <a:lnTo>
                    <a:pt x="0" y="219455"/>
                  </a:lnTo>
                  <a:lnTo>
                    <a:pt x="11480292" y="219455"/>
                  </a:lnTo>
                  <a:lnTo>
                    <a:pt x="11480292" y="292607"/>
                  </a:lnTo>
                  <a:lnTo>
                    <a:pt x="11626596" y="146303"/>
                  </a:lnTo>
                  <a:lnTo>
                    <a:pt x="11480292" y="0"/>
                  </a:lnTo>
                  <a:close/>
                </a:path>
              </a:pathLst>
            </a:custGeom>
            <a:solidFill>
              <a:srgbClr val="76767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5">
              <a:extLst>
                <a:ext uri="{FF2B5EF4-FFF2-40B4-BE49-F238E27FC236}">
                  <a16:creationId xmlns:a16="http://schemas.microsoft.com/office/drawing/2014/main" id="{D3A4D768-78D7-050A-A7A2-80544782DCD6}"/>
                </a:ext>
              </a:extLst>
            </p:cNvPr>
            <p:cNvSpPr/>
            <p:nvPr/>
          </p:nvSpPr>
          <p:spPr>
            <a:xfrm>
              <a:off x="276606" y="1741169"/>
              <a:ext cx="11626850" cy="292735"/>
            </a:xfrm>
            <a:custGeom>
              <a:avLst/>
              <a:gdLst/>
              <a:ahLst/>
              <a:cxnLst/>
              <a:rect l="l" t="t" r="r" b="b"/>
              <a:pathLst>
                <a:path w="11626850" h="292735">
                  <a:moveTo>
                    <a:pt x="0" y="73151"/>
                  </a:moveTo>
                  <a:lnTo>
                    <a:pt x="11480292" y="73151"/>
                  </a:lnTo>
                  <a:lnTo>
                    <a:pt x="11480292" y="0"/>
                  </a:lnTo>
                  <a:lnTo>
                    <a:pt x="11626596" y="146303"/>
                  </a:lnTo>
                  <a:lnTo>
                    <a:pt x="11480292" y="292607"/>
                  </a:lnTo>
                  <a:lnTo>
                    <a:pt x="11480292" y="219455"/>
                  </a:lnTo>
                  <a:lnTo>
                    <a:pt x="0" y="219455"/>
                  </a:lnTo>
                  <a:lnTo>
                    <a:pt x="0" y="73151"/>
                  </a:lnTo>
                  <a:close/>
                </a:path>
              </a:pathLst>
            </a:custGeom>
            <a:ln w="25400">
              <a:solidFill>
                <a:srgbClr val="76767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6">
              <a:extLst>
                <a:ext uri="{FF2B5EF4-FFF2-40B4-BE49-F238E27FC236}">
                  <a16:creationId xmlns:a16="http://schemas.microsoft.com/office/drawing/2014/main" id="{1190CAEA-BDB8-A04A-BDFE-9C0E2BF3A643}"/>
                </a:ext>
              </a:extLst>
            </p:cNvPr>
            <p:cNvSpPr/>
            <p:nvPr/>
          </p:nvSpPr>
          <p:spPr>
            <a:xfrm>
              <a:off x="470154" y="1684781"/>
              <a:ext cx="341630" cy="341630"/>
            </a:xfrm>
            <a:custGeom>
              <a:avLst/>
              <a:gdLst/>
              <a:ahLst/>
              <a:cxnLst/>
              <a:rect l="l" t="t" r="r" b="b"/>
              <a:pathLst>
                <a:path w="341630" h="341630">
                  <a:moveTo>
                    <a:pt x="170687" y="0"/>
                  </a:moveTo>
                  <a:lnTo>
                    <a:pt x="125311" y="6099"/>
                  </a:lnTo>
                  <a:lnTo>
                    <a:pt x="84536" y="23311"/>
                  </a:lnTo>
                  <a:lnTo>
                    <a:pt x="49991" y="50006"/>
                  </a:lnTo>
                  <a:lnTo>
                    <a:pt x="23303" y="84553"/>
                  </a:lnTo>
                  <a:lnTo>
                    <a:pt x="6096" y="125324"/>
                  </a:lnTo>
                  <a:lnTo>
                    <a:pt x="0" y="170687"/>
                  </a:lnTo>
                  <a:lnTo>
                    <a:pt x="6096" y="216051"/>
                  </a:lnTo>
                  <a:lnTo>
                    <a:pt x="23303" y="256822"/>
                  </a:lnTo>
                  <a:lnTo>
                    <a:pt x="49991" y="291369"/>
                  </a:lnTo>
                  <a:lnTo>
                    <a:pt x="84536" y="318064"/>
                  </a:lnTo>
                  <a:lnTo>
                    <a:pt x="125311" y="335276"/>
                  </a:lnTo>
                  <a:lnTo>
                    <a:pt x="170687" y="341375"/>
                  </a:lnTo>
                  <a:lnTo>
                    <a:pt x="216064" y="335276"/>
                  </a:lnTo>
                  <a:lnTo>
                    <a:pt x="256839" y="318064"/>
                  </a:lnTo>
                  <a:lnTo>
                    <a:pt x="291384" y="291369"/>
                  </a:lnTo>
                  <a:lnTo>
                    <a:pt x="318072" y="256822"/>
                  </a:lnTo>
                  <a:lnTo>
                    <a:pt x="335279" y="216051"/>
                  </a:lnTo>
                  <a:lnTo>
                    <a:pt x="341375" y="170687"/>
                  </a:lnTo>
                  <a:lnTo>
                    <a:pt x="335279" y="125324"/>
                  </a:lnTo>
                  <a:lnTo>
                    <a:pt x="318072" y="84553"/>
                  </a:lnTo>
                  <a:lnTo>
                    <a:pt x="291384" y="50006"/>
                  </a:lnTo>
                  <a:lnTo>
                    <a:pt x="256839" y="23311"/>
                  </a:lnTo>
                  <a:lnTo>
                    <a:pt x="216064" y="6099"/>
                  </a:lnTo>
                  <a:lnTo>
                    <a:pt x="170687" y="0"/>
                  </a:lnTo>
                  <a:close/>
                </a:path>
              </a:pathLst>
            </a:custGeom>
            <a:solidFill>
              <a:srgbClr val="765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7">
              <a:extLst>
                <a:ext uri="{FF2B5EF4-FFF2-40B4-BE49-F238E27FC236}">
                  <a16:creationId xmlns:a16="http://schemas.microsoft.com/office/drawing/2014/main" id="{71CFD83F-03F6-D828-EEA2-7BD6573F5478}"/>
                </a:ext>
              </a:extLst>
            </p:cNvPr>
            <p:cNvSpPr/>
            <p:nvPr/>
          </p:nvSpPr>
          <p:spPr>
            <a:xfrm>
              <a:off x="470154" y="1684781"/>
              <a:ext cx="341630" cy="341630"/>
            </a:xfrm>
            <a:custGeom>
              <a:avLst/>
              <a:gdLst/>
              <a:ahLst/>
              <a:cxnLst/>
              <a:rect l="l" t="t" r="r" b="b"/>
              <a:pathLst>
                <a:path w="341630" h="341630">
                  <a:moveTo>
                    <a:pt x="0" y="170687"/>
                  </a:moveTo>
                  <a:lnTo>
                    <a:pt x="6096" y="125324"/>
                  </a:lnTo>
                  <a:lnTo>
                    <a:pt x="23303" y="84553"/>
                  </a:lnTo>
                  <a:lnTo>
                    <a:pt x="49991" y="50006"/>
                  </a:lnTo>
                  <a:lnTo>
                    <a:pt x="84536" y="23311"/>
                  </a:lnTo>
                  <a:lnTo>
                    <a:pt x="125311" y="6099"/>
                  </a:lnTo>
                  <a:lnTo>
                    <a:pt x="170687" y="0"/>
                  </a:lnTo>
                  <a:lnTo>
                    <a:pt x="216064" y="6099"/>
                  </a:lnTo>
                  <a:lnTo>
                    <a:pt x="256839" y="23311"/>
                  </a:lnTo>
                  <a:lnTo>
                    <a:pt x="291384" y="50006"/>
                  </a:lnTo>
                  <a:lnTo>
                    <a:pt x="318072" y="84553"/>
                  </a:lnTo>
                  <a:lnTo>
                    <a:pt x="335279" y="125324"/>
                  </a:lnTo>
                  <a:lnTo>
                    <a:pt x="341375" y="170687"/>
                  </a:lnTo>
                  <a:lnTo>
                    <a:pt x="335279" y="216051"/>
                  </a:lnTo>
                  <a:lnTo>
                    <a:pt x="318072" y="256822"/>
                  </a:lnTo>
                  <a:lnTo>
                    <a:pt x="291384" y="291369"/>
                  </a:lnTo>
                  <a:lnTo>
                    <a:pt x="256839" y="318064"/>
                  </a:lnTo>
                  <a:lnTo>
                    <a:pt x="216064" y="335276"/>
                  </a:lnTo>
                  <a:lnTo>
                    <a:pt x="170687" y="341375"/>
                  </a:lnTo>
                  <a:lnTo>
                    <a:pt x="125311" y="335276"/>
                  </a:lnTo>
                  <a:lnTo>
                    <a:pt x="84536" y="318064"/>
                  </a:lnTo>
                  <a:lnTo>
                    <a:pt x="49991" y="291369"/>
                  </a:lnTo>
                  <a:lnTo>
                    <a:pt x="23303" y="256822"/>
                  </a:lnTo>
                  <a:lnTo>
                    <a:pt x="6096" y="216051"/>
                  </a:lnTo>
                  <a:lnTo>
                    <a:pt x="0" y="170687"/>
                  </a:lnTo>
                  <a:close/>
                </a:path>
              </a:pathLst>
            </a:custGeom>
            <a:ln w="25400">
              <a:solidFill>
                <a:srgbClr val="765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8">
              <a:extLst>
                <a:ext uri="{FF2B5EF4-FFF2-40B4-BE49-F238E27FC236}">
                  <a16:creationId xmlns:a16="http://schemas.microsoft.com/office/drawing/2014/main" id="{25EA304E-1DF7-BC51-AF5C-FBEC77C3771C}"/>
                </a:ext>
              </a:extLst>
            </p:cNvPr>
            <p:cNvSpPr/>
            <p:nvPr/>
          </p:nvSpPr>
          <p:spPr>
            <a:xfrm>
              <a:off x="1144523" y="1697735"/>
              <a:ext cx="1286510" cy="370840"/>
            </a:xfrm>
            <a:custGeom>
              <a:avLst/>
              <a:gdLst/>
              <a:ahLst/>
              <a:cxnLst/>
              <a:rect l="l" t="t" r="r" b="b"/>
              <a:pathLst>
                <a:path w="1286510" h="370839">
                  <a:moveTo>
                    <a:pt x="1286256" y="0"/>
                  </a:moveTo>
                  <a:lnTo>
                    <a:pt x="0" y="0"/>
                  </a:lnTo>
                  <a:lnTo>
                    <a:pt x="0" y="370332"/>
                  </a:lnTo>
                  <a:lnTo>
                    <a:pt x="1286256" y="370332"/>
                  </a:lnTo>
                  <a:lnTo>
                    <a:pt x="128625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grpSp>
      <p:sp>
        <p:nvSpPr>
          <p:cNvPr id="15" name="object 11">
            <a:extLst>
              <a:ext uri="{FF2B5EF4-FFF2-40B4-BE49-F238E27FC236}">
                <a16:creationId xmlns:a16="http://schemas.microsoft.com/office/drawing/2014/main" id="{2A5388F2-F952-F89D-C49B-BC22C7AF52D1}"/>
              </a:ext>
            </a:extLst>
          </p:cNvPr>
          <p:cNvSpPr txBox="1"/>
          <p:nvPr/>
        </p:nvSpPr>
        <p:spPr>
          <a:xfrm>
            <a:off x="283565" y="1213865"/>
            <a:ext cx="710565" cy="2590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600" b="1" i="0" u="none" strike="noStrike" kern="0" cap="none" spc="-25" normalizeH="0" baseline="0" noProof="0" dirty="0">
                <a:ln>
                  <a:noFill/>
                </a:ln>
                <a:solidFill>
                  <a:sysClr val="windowText" lastClr="000000"/>
                </a:solidFill>
                <a:effectLst/>
                <a:uLnTx/>
                <a:uFillTx/>
                <a:latin typeface="Segoe UI" pitchFamily="34" charset="0"/>
                <a:cs typeface="Arial"/>
              </a:rPr>
              <a:t>Kickoff</a:t>
            </a:r>
            <a:endParaRPr kumimoji="0" sz="1800" b="1" i="0" u="none" strike="noStrike" kern="0" cap="none" spc="-25" normalizeH="0" baseline="0" noProof="0" dirty="0">
              <a:ln>
                <a:noFill/>
              </a:ln>
              <a:solidFill>
                <a:sysClr val="windowText" lastClr="000000"/>
              </a:solidFill>
              <a:effectLst/>
              <a:uLnTx/>
              <a:uFillTx/>
              <a:latin typeface="Segoe UI" pitchFamily="34" charset="0"/>
              <a:cs typeface="Arial"/>
            </a:endParaRPr>
          </a:p>
        </p:txBody>
      </p:sp>
      <p:sp>
        <p:nvSpPr>
          <p:cNvPr id="16" name="object 12">
            <a:extLst>
              <a:ext uri="{FF2B5EF4-FFF2-40B4-BE49-F238E27FC236}">
                <a16:creationId xmlns:a16="http://schemas.microsoft.com/office/drawing/2014/main" id="{8D553BE9-0C93-6E45-26EE-7E5DCE0BA4D0}"/>
              </a:ext>
            </a:extLst>
          </p:cNvPr>
          <p:cNvSpPr txBox="1"/>
          <p:nvPr/>
        </p:nvSpPr>
        <p:spPr>
          <a:xfrm>
            <a:off x="1380871"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1</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17" name="object 13">
            <a:extLst>
              <a:ext uri="{FF2B5EF4-FFF2-40B4-BE49-F238E27FC236}">
                <a16:creationId xmlns:a16="http://schemas.microsoft.com/office/drawing/2014/main" id="{ED58851F-7448-DECD-DFB0-F5FA8F3362A0}"/>
              </a:ext>
            </a:extLst>
          </p:cNvPr>
          <p:cNvSpPr/>
          <p:nvPr/>
        </p:nvSpPr>
        <p:spPr>
          <a:xfrm>
            <a:off x="3845052" y="1697735"/>
            <a:ext cx="1286510" cy="370840"/>
          </a:xfrm>
          <a:custGeom>
            <a:avLst/>
            <a:gdLst/>
            <a:ahLst/>
            <a:cxnLst/>
            <a:rect l="l" t="t" r="r" b="b"/>
            <a:pathLst>
              <a:path w="1286510"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18" name="object 14">
            <a:extLst>
              <a:ext uri="{FF2B5EF4-FFF2-40B4-BE49-F238E27FC236}">
                <a16:creationId xmlns:a16="http://schemas.microsoft.com/office/drawing/2014/main" id="{C79298AB-9D4D-6536-2BF3-2CDA8E2B49CF}"/>
              </a:ext>
            </a:extLst>
          </p:cNvPr>
          <p:cNvSpPr txBox="1"/>
          <p:nvPr/>
        </p:nvSpPr>
        <p:spPr>
          <a:xfrm>
            <a:off x="4082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2</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19" name="object 15">
            <a:extLst>
              <a:ext uri="{FF2B5EF4-FFF2-40B4-BE49-F238E27FC236}">
                <a16:creationId xmlns:a16="http://schemas.microsoft.com/office/drawing/2014/main" id="{FF0658BA-D80D-F7F1-5363-1769F9178945}"/>
              </a:ext>
            </a:extLst>
          </p:cNvPr>
          <p:cNvSpPr/>
          <p:nvPr/>
        </p:nvSpPr>
        <p:spPr>
          <a:xfrm>
            <a:off x="6512052" y="1697735"/>
            <a:ext cx="1286510" cy="370840"/>
          </a:xfrm>
          <a:custGeom>
            <a:avLst/>
            <a:gdLst/>
            <a:ahLst/>
            <a:cxnLst/>
            <a:rect l="l" t="t" r="r" b="b"/>
            <a:pathLst>
              <a:path w="1286509"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20" name="object 16">
            <a:extLst>
              <a:ext uri="{FF2B5EF4-FFF2-40B4-BE49-F238E27FC236}">
                <a16:creationId xmlns:a16="http://schemas.microsoft.com/office/drawing/2014/main" id="{937AAF89-73FF-7521-1972-347932206A91}"/>
              </a:ext>
            </a:extLst>
          </p:cNvPr>
          <p:cNvSpPr txBox="1"/>
          <p:nvPr/>
        </p:nvSpPr>
        <p:spPr>
          <a:xfrm>
            <a:off x="6749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3</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21" name="object 17">
            <a:extLst>
              <a:ext uri="{FF2B5EF4-FFF2-40B4-BE49-F238E27FC236}">
                <a16:creationId xmlns:a16="http://schemas.microsoft.com/office/drawing/2014/main" id="{F4CDC97C-C003-32F0-2288-37D7A102ED3E}"/>
              </a:ext>
            </a:extLst>
          </p:cNvPr>
          <p:cNvSpPr/>
          <p:nvPr/>
        </p:nvSpPr>
        <p:spPr>
          <a:xfrm>
            <a:off x="9179052" y="1697735"/>
            <a:ext cx="1286510" cy="370840"/>
          </a:xfrm>
          <a:custGeom>
            <a:avLst/>
            <a:gdLst/>
            <a:ahLst/>
            <a:cxnLst/>
            <a:rect l="l" t="t" r="r" b="b"/>
            <a:pathLst>
              <a:path w="1286509"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22" name="object 18">
            <a:extLst>
              <a:ext uri="{FF2B5EF4-FFF2-40B4-BE49-F238E27FC236}">
                <a16:creationId xmlns:a16="http://schemas.microsoft.com/office/drawing/2014/main" id="{D40378BF-1C78-1E7D-08A9-4BA816E9F927}"/>
              </a:ext>
            </a:extLst>
          </p:cNvPr>
          <p:cNvSpPr txBox="1"/>
          <p:nvPr/>
        </p:nvSpPr>
        <p:spPr>
          <a:xfrm>
            <a:off x="9416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4</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graphicFrame>
        <p:nvGraphicFramePr>
          <p:cNvPr id="23" name="object 19">
            <a:extLst>
              <a:ext uri="{FF2B5EF4-FFF2-40B4-BE49-F238E27FC236}">
                <a16:creationId xmlns:a16="http://schemas.microsoft.com/office/drawing/2014/main" id="{E2CDD840-C53D-D747-6D16-8D45B3CF2777}"/>
              </a:ext>
            </a:extLst>
          </p:cNvPr>
          <p:cNvGraphicFramePr>
            <a:graphicFrameLocks noGrp="1"/>
          </p:cNvGraphicFramePr>
          <p:nvPr>
            <p:extLst>
              <p:ext uri="{D42A27DB-BD31-4B8C-83A1-F6EECF244321}">
                <p14:modId xmlns:p14="http://schemas.microsoft.com/office/powerpoint/2010/main" val="1404350271"/>
              </p:ext>
            </p:extLst>
          </p:nvPr>
        </p:nvGraphicFramePr>
        <p:xfrm>
          <a:off x="810590" y="2272410"/>
          <a:ext cx="10625197" cy="3686777"/>
        </p:xfrm>
        <a:graphic>
          <a:graphicData uri="http://schemas.openxmlformats.org/drawingml/2006/table">
            <a:tbl>
              <a:tblPr firstRow="1" bandRow="1">
                <a:tableStyleId>{2D5ABB26-0587-4C30-8999-92F81FD0307C}</a:tableStyleId>
              </a:tblPr>
              <a:tblGrid>
                <a:gridCol w="2579991">
                  <a:extLst>
                    <a:ext uri="{9D8B030D-6E8A-4147-A177-3AD203B41FA5}">
                      <a16:colId xmlns:a16="http://schemas.microsoft.com/office/drawing/2014/main" val="20000"/>
                    </a:ext>
                  </a:extLst>
                </a:gridCol>
                <a:gridCol w="2683417">
                  <a:extLst>
                    <a:ext uri="{9D8B030D-6E8A-4147-A177-3AD203B41FA5}">
                      <a16:colId xmlns:a16="http://schemas.microsoft.com/office/drawing/2014/main" val="20001"/>
                    </a:ext>
                  </a:extLst>
                </a:gridCol>
                <a:gridCol w="2700444">
                  <a:extLst>
                    <a:ext uri="{9D8B030D-6E8A-4147-A177-3AD203B41FA5}">
                      <a16:colId xmlns:a16="http://schemas.microsoft.com/office/drawing/2014/main" val="20002"/>
                    </a:ext>
                  </a:extLst>
                </a:gridCol>
                <a:gridCol w="2661345">
                  <a:extLst>
                    <a:ext uri="{9D8B030D-6E8A-4147-A177-3AD203B41FA5}">
                      <a16:colId xmlns:a16="http://schemas.microsoft.com/office/drawing/2014/main" val="20003"/>
                    </a:ext>
                  </a:extLst>
                </a:gridCol>
              </a:tblGrid>
              <a:tr h="1358535">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Management/Banker Presentation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Management Financial Model</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Draft Thesis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VDD/Interim DD in Data Room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Listen into Management sessions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(with DD Partners)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90 min discussion with Deal Team + Ops Team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Attend Management Presentation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Pre-meeting comfort building with seller, brief to Management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Leader meetings in person or virtual (1 to 2-hour 1:1s)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Collate evidence data from outside-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in references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DD sessions with </a:t>
                      </a:r>
                      <a:r>
                        <a:rPr lang="en-US" sz="1200" b="0" kern="0" dirty="0" err="1">
                          <a:solidFill>
                            <a:schemeClr val="tx1"/>
                          </a:solidFill>
                          <a:latin typeface="Arial" panose="020B0604020202020204" pitchFamily="34" charset="0"/>
                          <a:ea typeface="+mn-ea"/>
                          <a:cs typeface="Arial" panose="020B0604020202020204" pitchFamily="34" charset="0"/>
                        </a:rPr>
                        <a:t>Mgmt</a:t>
                      </a:r>
                      <a:r>
                        <a:rPr lang="en-US" sz="1200" b="0" kern="0" dirty="0">
                          <a:solidFill>
                            <a:schemeClr val="tx1"/>
                          </a:solidFill>
                          <a:latin typeface="Arial" panose="020B0604020202020204" pitchFamily="34" charset="0"/>
                          <a:ea typeface="+mn-ea"/>
                          <a:cs typeface="Arial" panose="020B0604020202020204" pitchFamily="34" charset="0"/>
                        </a:rPr>
                        <a:t> and 1:1 conversations with leaders</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0"/>
                  </a:ext>
                </a:extLst>
              </a:tr>
              <a:tr h="1163784">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Understand the business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Intake &amp; document/data review</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Q&amp;A with Deal + Ops team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Align on hypothesis on value, key</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pivots for value to arrive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Roles proximate to work</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Relaxed discussion on work, risks,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team, org (NOT an assessment)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Updating hypothesis based on discussions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Synthesize and build the evidence mosaic for the key diligence questions, and Leadership Talent</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1"/>
                  </a:ext>
                </a:extLst>
              </a:tr>
              <a:tr h="1164458">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‘Strawman’ Value Agenda &amp; List of</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Critical Roles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Value Hotspots, Critical Roles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Brief partners for outside-in low</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touch talent data</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Evidence on value, work pivots, risks,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talent in the team</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Human data – identity, beliefs, motivations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1" kern="0" dirty="0">
                          <a:solidFill>
                            <a:schemeClr val="accent1"/>
                          </a:solidFill>
                          <a:latin typeface="Arial" panose="020B0604020202020204" pitchFamily="34" charset="0"/>
                          <a:ea typeface="+mn-ea"/>
                          <a:cs typeface="Arial" panose="020B0604020202020204" pitchFamily="34" charset="0"/>
                        </a:rPr>
                        <a:t>2 Page Executive Summary for IC</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1" kern="0" dirty="0">
                          <a:solidFill>
                            <a:schemeClr val="accent1"/>
                          </a:solidFill>
                          <a:latin typeface="Arial" panose="020B0604020202020204" pitchFamily="34" charset="0"/>
                          <a:ea typeface="+mn-ea"/>
                          <a:cs typeface="Arial" panose="020B0604020202020204" pitchFamily="34" charset="0"/>
                        </a:rPr>
                        <a:t>Detailed readout for the deal team</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2"/>
                  </a:ext>
                </a:extLst>
              </a:tr>
            </a:tbl>
          </a:graphicData>
        </a:graphic>
      </p:graphicFrame>
      <p:sp>
        <p:nvSpPr>
          <p:cNvPr id="24" name="object 20">
            <a:extLst>
              <a:ext uri="{FF2B5EF4-FFF2-40B4-BE49-F238E27FC236}">
                <a16:creationId xmlns:a16="http://schemas.microsoft.com/office/drawing/2014/main" id="{03647066-694B-60DF-CF59-511F930AFD06}"/>
              </a:ext>
            </a:extLst>
          </p:cNvPr>
          <p:cNvSpPr txBox="1"/>
          <p:nvPr/>
        </p:nvSpPr>
        <p:spPr>
          <a:xfrm>
            <a:off x="452438" y="2508059"/>
            <a:ext cx="269304" cy="64770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a:ln>
                  <a:noFill/>
                </a:ln>
                <a:solidFill>
                  <a:schemeClr val="accent1"/>
                </a:solidFill>
                <a:effectLst/>
                <a:uLnTx/>
                <a:uFillTx/>
                <a:latin typeface="Arial" pitchFamily="34" charset="0"/>
                <a:cs typeface="Arial"/>
              </a:rPr>
              <a:t>Inputs</a:t>
            </a:r>
          </a:p>
        </p:txBody>
      </p:sp>
      <p:sp>
        <p:nvSpPr>
          <p:cNvPr id="25" name="object 21">
            <a:extLst>
              <a:ext uri="{FF2B5EF4-FFF2-40B4-BE49-F238E27FC236}">
                <a16:creationId xmlns:a16="http://schemas.microsoft.com/office/drawing/2014/main" id="{5F911828-2924-2930-807F-59337F523113}"/>
              </a:ext>
            </a:extLst>
          </p:cNvPr>
          <p:cNvSpPr txBox="1"/>
          <p:nvPr/>
        </p:nvSpPr>
        <p:spPr>
          <a:xfrm>
            <a:off x="453962" y="3778797"/>
            <a:ext cx="269304" cy="55880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a:ln>
                  <a:noFill/>
                </a:ln>
                <a:solidFill>
                  <a:schemeClr val="accent1"/>
                </a:solidFill>
                <a:effectLst/>
                <a:uLnTx/>
                <a:uFillTx/>
                <a:latin typeface="Arial" pitchFamily="34" charset="0"/>
                <a:cs typeface="Arial"/>
              </a:rPr>
              <a:t>Work</a:t>
            </a:r>
          </a:p>
        </p:txBody>
      </p:sp>
      <p:sp>
        <p:nvSpPr>
          <p:cNvPr id="26" name="object 22">
            <a:extLst>
              <a:ext uri="{FF2B5EF4-FFF2-40B4-BE49-F238E27FC236}">
                <a16:creationId xmlns:a16="http://schemas.microsoft.com/office/drawing/2014/main" id="{47D0846E-5F3A-8435-B384-FA47CEA0D8BC}"/>
              </a:ext>
            </a:extLst>
          </p:cNvPr>
          <p:cNvSpPr txBox="1"/>
          <p:nvPr/>
        </p:nvSpPr>
        <p:spPr>
          <a:xfrm>
            <a:off x="433540" y="4908076"/>
            <a:ext cx="269304" cy="71247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dirty="0">
                <a:ln>
                  <a:noFill/>
                </a:ln>
                <a:solidFill>
                  <a:schemeClr val="accent1"/>
                </a:solidFill>
                <a:effectLst/>
                <a:uLnTx/>
                <a:uFillTx/>
                <a:latin typeface="Arial" pitchFamily="34" charset="0"/>
                <a:cs typeface="Arial"/>
              </a:rPr>
              <a:t>Output</a:t>
            </a:r>
          </a:p>
        </p:txBody>
      </p:sp>
      <p:sp>
        <p:nvSpPr>
          <p:cNvPr id="2" name="TextBox 1">
            <a:extLst>
              <a:ext uri="{FF2B5EF4-FFF2-40B4-BE49-F238E27FC236}">
                <a16:creationId xmlns:a16="http://schemas.microsoft.com/office/drawing/2014/main" id="{5C274156-A259-0DE4-9BD2-E2F94893855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634080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DEF9-96EA-E3FE-82C2-EF57726481B7}"/>
              </a:ext>
            </a:extLst>
          </p:cNvPr>
          <p:cNvSpPr>
            <a:spLocks noGrp="1"/>
          </p:cNvSpPr>
          <p:nvPr>
            <p:ph type="title"/>
          </p:nvPr>
        </p:nvSpPr>
        <p:spPr/>
        <p:txBody>
          <a:bodyPr/>
          <a:lstStyle/>
          <a:p>
            <a:r>
              <a:rPr lang="en-US" dirty="0"/>
              <a:t>Pre-Deal Diligence Case Study</a:t>
            </a:r>
          </a:p>
        </p:txBody>
      </p:sp>
      <p:sp>
        <p:nvSpPr>
          <p:cNvPr id="3" name="Text Placeholder 2">
            <a:extLst>
              <a:ext uri="{FF2B5EF4-FFF2-40B4-BE49-F238E27FC236}">
                <a16:creationId xmlns:a16="http://schemas.microsoft.com/office/drawing/2014/main" id="{C17C96B1-37AA-E2AD-7C8A-035ACFD57696}"/>
              </a:ext>
            </a:extLst>
          </p:cNvPr>
          <p:cNvSpPr>
            <a:spLocks noGrp="1"/>
          </p:cNvSpPr>
          <p:nvPr>
            <p:ph type="body" sz="quarter" idx="12"/>
          </p:nvPr>
        </p:nvSpPr>
        <p:spPr/>
        <p:txBody>
          <a:bodyPr/>
          <a:lstStyle/>
          <a:p>
            <a:r>
              <a:rPr lang="en-US" dirty="0"/>
              <a:t>Four Week Sprint – Leadership Talent Dd Adjacent to Finance, Legal, Operational DD</a:t>
            </a:r>
          </a:p>
          <a:p>
            <a:endParaRPr lang="en-US" dirty="0"/>
          </a:p>
        </p:txBody>
      </p:sp>
      <p:sp>
        <p:nvSpPr>
          <p:cNvPr id="4" name="Slide Number Placeholder 3">
            <a:extLst>
              <a:ext uri="{FF2B5EF4-FFF2-40B4-BE49-F238E27FC236}">
                <a16:creationId xmlns:a16="http://schemas.microsoft.com/office/drawing/2014/main" id="{6CC4930F-1FC5-CA63-4BF2-56717D4B560A}"/>
              </a:ext>
            </a:extLst>
          </p:cNvPr>
          <p:cNvSpPr>
            <a:spLocks noGrp="1"/>
          </p:cNvSpPr>
          <p:nvPr>
            <p:ph type="sldNum" sz="quarter" idx="4"/>
          </p:nvPr>
        </p:nvSpPr>
        <p:spPr/>
        <p:txBody>
          <a:bodyPr/>
          <a:lstStyle/>
          <a:p>
            <a:pPr algn="ctr"/>
            <a:fld id="{7DA59B58-B945-4B36-BC6B-9C26C933A008}" type="slidenum">
              <a:rPr lang="en-US" smtClean="0"/>
              <a:t>23</a:t>
            </a:fld>
            <a:endParaRPr lang="en-US"/>
          </a:p>
        </p:txBody>
      </p:sp>
      <p:sp>
        <p:nvSpPr>
          <p:cNvPr id="7" name="Rectangle 6">
            <a:extLst>
              <a:ext uri="{FF2B5EF4-FFF2-40B4-BE49-F238E27FC236}">
                <a16:creationId xmlns:a16="http://schemas.microsoft.com/office/drawing/2014/main" id="{45F22580-FBCD-464B-D344-5363D5523A13}"/>
              </a:ext>
            </a:extLst>
          </p:cNvPr>
          <p:cNvSpPr/>
          <p:nvPr/>
        </p:nvSpPr>
        <p:spPr>
          <a:xfrm>
            <a:off x="5536559" y="1507773"/>
            <a:ext cx="6357632" cy="4797865"/>
          </a:xfrm>
          <a:prstGeom prst="rect">
            <a:avLst/>
          </a:prstGeom>
          <a:no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gn="l">
              <a:buFont typeface="Arial" panose="020B0604020202020204" pitchFamily="34" charset="0"/>
              <a:buChar char="•"/>
            </a:pPr>
            <a:endParaRPr lang="en-US" sz="1400" spc="-10" dirty="0">
              <a:solidFill>
                <a:srgbClr val="765FFF"/>
              </a:solidFill>
              <a:latin typeface="Arial" pitchFamily="34" charset="0"/>
            </a:endParaRPr>
          </a:p>
          <a:p>
            <a:pPr marL="342900" indent="-342900" algn="l">
              <a:buFont typeface="Arial" panose="020B0604020202020204" pitchFamily="34" charset="0"/>
              <a:buChar char="•"/>
            </a:pPr>
            <a:r>
              <a:rPr lang="en-US" sz="1400" spc="-10" dirty="0">
                <a:solidFill>
                  <a:srgbClr val="765FFF"/>
                </a:solidFill>
                <a:latin typeface="Arial" pitchFamily="34" charset="0"/>
              </a:rPr>
              <a:t>LEADERSHIP TALENT</a:t>
            </a:r>
            <a:r>
              <a:rPr lang="en-US" sz="1400" spc="-10" dirty="0">
                <a:solidFill>
                  <a:srgbClr val="1D1D1D"/>
                </a:solidFill>
                <a:latin typeface="Arial" pitchFamily="34" charset="0"/>
              </a:rPr>
              <a:t> : How strong are the CEO &amp; Leadership Team?</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61950" indent="-361950" algn="l">
              <a:buFont typeface="Arial" panose="020B0604020202020204" pitchFamily="34" charset="0"/>
              <a:buChar char="•"/>
            </a:pPr>
            <a:r>
              <a:rPr lang="en-US" sz="1400" spc="-10" dirty="0">
                <a:solidFill>
                  <a:srgbClr val="765FFF"/>
                </a:solidFill>
                <a:latin typeface="Arial" pitchFamily="34" charset="0"/>
              </a:rPr>
              <a:t>LEADERSHIP TEAM RISKS</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542925" lvl="5" indent="-180975" algn="l">
              <a:buFont typeface="Arial" panose="020B0604020202020204" pitchFamily="34" charset="0"/>
              <a:buChar char="•"/>
            </a:pPr>
            <a:r>
              <a:rPr lang="en-US" sz="1400" spc="-10" dirty="0">
                <a:solidFill>
                  <a:srgbClr val="1D1D1D"/>
                </a:solidFill>
                <a:latin typeface="Arial" pitchFamily="34" charset="0"/>
              </a:rPr>
              <a:t>Motivations of the CEO and Leadership Team to stay on</a:t>
            </a:r>
          </a:p>
          <a:p>
            <a:pPr marL="542925" lvl="5" indent="-180975" algn="l">
              <a:buFont typeface="Arial" panose="020B0604020202020204" pitchFamily="34" charset="0"/>
              <a:buChar char="•"/>
            </a:pPr>
            <a:r>
              <a:rPr lang="en-US" sz="1400" spc="-10" dirty="0">
                <a:solidFill>
                  <a:srgbClr val="1D1D1D"/>
                </a:solidFill>
                <a:latin typeface="Arial" pitchFamily="34" charset="0"/>
              </a:rPr>
              <a:t>Capacity, Capability and Fit for CEO and Leadership Team for the thesis </a:t>
            </a:r>
          </a:p>
          <a:p>
            <a:pPr marL="285750" indent="-285750" algn="l">
              <a:buFont typeface="Arial" panose="020B0604020202020204" pitchFamily="34" charset="0"/>
              <a:buChar char="•"/>
            </a:pPr>
            <a:endParaRPr lang="en-US" sz="1400" spc="-10" dirty="0">
              <a:solidFill>
                <a:srgbClr val="1D1D1D"/>
              </a:solidFill>
              <a:latin typeface="Arial" pitchFamily="34" charset="0"/>
            </a:endParaRPr>
          </a:p>
          <a:p>
            <a:pPr marL="361950" indent="-361950" algn="l">
              <a:buFont typeface="Arial" panose="020B0604020202020204" pitchFamily="34" charset="0"/>
              <a:buChar char="•"/>
            </a:pPr>
            <a:r>
              <a:rPr lang="en-US" sz="1400" spc="-10" dirty="0">
                <a:solidFill>
                  <a:srgbClr val="765FFF"/>
                </a:solidFill>
                <a:latin typeface="Arial" pitchFamily="34" charset="0"/>
              </a:rPr>
              <a:t>BENCH-STRENGTH</a:t>
            </a:r>
            <a:br>
              <a:rPr lang="en-US" sz="1400" spc="-10" dirty="0">
                <a:solidFill>
                  <a:srgbClr val="765FFF"/>
                </a:solidFill>
                <a:latin typeface="Arial" pitchFamily="34" charset="0"/>
              </a:rPr>
            </a:br>
            <a:endParaRPr lang="en-US" sz="1400" spc="-10" dirty="0">
              <a:solidFill>
                <a:srgbClr val="1D1D1D"/>
              </a:solidFill>
              <a:latin typeface="Arial" pitchFamily="34" charset="0"/>
            </a:endParaRPr>
          </a:p>
          <a:p>
            <a:pPr marL="542925" lvl="5" indent="-180975" algn="l">
              <a:buFont typeface="Arial" panose="020B0604020202020204" pitchFamily="34" charset="0"/>
              <a:buChar char="•"/>
            </a:pPr>
            <a:r>
              <a:rPr lang="en-US" sz="1400" spc="-10" dirty="0">
                <a:solidFill>
                  <a:srgbClr val="1D1D1D"/>
                </a:solidFill>
                <a:latin typeface="Arial" pitchFamily="34" charset="0"/>
              </a:rPr>
              <a:t>Succession planning &amp; bench-strength for CEO’s direct reports</a:t>
            </a:r>
          </a:p>
          <a:p>
            <a:pPr marL="542925" lvl="5" indent="-180975" algn="l">
              <a:buFont typeface="Arial" panose="020B0604020202020204" pitchFamily="34" charset="0"/>
              <a:buChar char="•"/>
            </a:pPr>
            <a:r>
              <a:rPr lang="en-US" sz="1400" spc="-10" dirty="0">
                <a:solidFill>
                  <a:srgbClr val="1D1D1D"/>
                </a:solidFill>
                <a:latin typeface="Arial" pitchFamily="34" charset="0"/>
              </a:rPr>
              <a:t>Indicative Critical Roles and view on bench-strength deeper in the Org.</a:t>
            </a:r>
          </a:p>
          <a:p>
            <a:pPr marL="285750" indent="-285750" algn="l">
              <a:buFont typeface="Arial" panose="020B0604020202020204" pitchFamily="34" charset="0"/>
              <a:buChar char="•"/>
            </a:pPr>
            <a:endParaRPr lang="en-US" sz="1400" spc="-10" dirty="0">
              <a:solidFill>
                <a:srgbClr val="1D1D1D"/>
              </a:solidFill>
              <a:latin typeface="Arial" pitchFamily="34" charset="0"/>
            </a:endParaRPr>
          </a:p>
          <a:p>
            <a:pPr marL="285750" indent="-285750" algn="l">
              <a:buFont typeface="Arial" panose="020B0604020202020204" pitchFamily="34" charset="0"/>
              <a:buChar char="•"/>
            </a:pPr>
            <a:r>
              <a:rPr lang="en-US" sz="1400" spc="-10" dirty="0">
                <a:solidFill>
                  <a:srgbClr val="765FFF"/>
                </a:solidFill>
                <a:latin typeface="Arial" pitchFamily="34" charset="0"/>
              </a:rPr>
              <a:t>MANAGEMENT GAPS vs THESIS: </a:t>
            </a:r>
            <a:r>
              <a:rPr lang="en-US" sz="1400" spc="-10" dirty="0">
                <a:solidFill>
                  <a:srgbClr val="1D1D1D"/>
                </a:solidFill>
                <a:latin typeface="Arial" pitchFamily="34" charset="0"/>
              </a:rPr>
              <a:t>Gaps in Management, Org. Capability/Structure vs. Pivots required to deliver the thesis. </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285750" indent="-285750" algn="l">
              <a:buFont typeface="Arial" panose="020B0604020202020204" pitchFamily="34" charset="0"/>
              <a:buChar char="•"/>
            </a:pPr>
            <a:r>
              <a:rPr lang="en-US" sz="1400" spc="-10" dirty="0">
                <a:solidFill>
                  <a:srgbClr val="281A42"/>
                </a:solidFill>
                <a:latin typeface="Arial" pitchFamily="34" charset="0"/>
              </a:rPr>
              <a:t>DATA INSIGHTS: </a:t>
            </a:r>
            <a:r>
              <a:rPr lang="en-US" sz="1400" spc="-10" dirty="0">
                <a:solidFill>
                  <a:srgbClr val="1D1D1D"/>
                </a:solidFill>
                <a:latin typeface="Arial" pitchFamily="34" charset="0"/>
              </a:rPr>
              <a:t>Key insights from Employee / Engagement Survey and Attrition Data as made available by the target.</a:t>
            </a:r>
          </a:p>
        </p:txBody>
      </p:sp>
      <p:sp>
        <p:nvSpPr>
          <p:cNvPr id="8" name="Rectangle 7">
            <a:extLst>
              <a:ext uri="{FF2B5EF4-FFF2-40B4-BE49-F238E27FC236}">
                <a16:creationId xmlns:a16="http://schemas.microsoft.com/office/drawing/2014/main" id="{105AA2CE-D322-8073-3DC3-85D14E0A7C44}"/>
              </a:ext>
            </a:extLst>
          </p:cNvPr>
          <p:cNvSpPr/>
          <p:nvPr/>
        </p:nvSpPr>
        <p:spPr>
          <a:xfrm>
            <a:off x="297809" y="1858805"/>
            <a:ext cx="4883791" cy="4026209"/>
          </a:xfrm>
          <a:prstGeom prst="rect">
            <a:avLst/>
          </a:prstGeom>
          <a:no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lgn="l">
              <a:buFont typeface="Arial" panose="020B0604020202020204" pitchFamily="34" charset="0"/>
              <a:buChar char="•"/>
            </a:pPr>
            <a:endParaRPr lang="en-US" sz="1400" spc="-10" dirty="0">
              <a:solidFill>
                <a:srgbClr val="1D1D1D"/>
              </a:solidFill>
              <a:latin typeface="Arial" pitchFamily="34" charset="0"/>
            </a:endParaRPr>
          </a:p>
          <a:p>
            <a:pPr marL="342900" indent="-342900" algn="l">
              <a:buFont typeface="Arial" panose="020B0604020202020204" pitchFamily="34" charset="0"/>
              <a:buChar char="•"/>
            </a:pPr>
            <a:endParaRPr lang="en-US" sz="1400" spc="-10" dirty="0">
              <a:solidFill>
                <a:srgbClr val="1D1D1D"/>
              </a:solidFill>
              <a:latin typeface="Arial" pitchFamily="34" charset="0"/>
            </a:endParaRPr>
          </a:p>
          <a:p>
            <a:pPr marL="342900" indent="-342900" algn="l">
              <a:buFont typeface="Arial" panose="020B0604020202020204" pitchFamily="34" charset="0"/>
              <a:buChar char="•"/>
            </a:pPr>
            <a:r>
              <a:rPr lang="en-US" sz="1400" spc="-10" dirty="0">
                <a:solidFill>
                  <a:srgbClr val="1D1D1D"/>
                </a:solidFill>
                <a:latin typeface="Arial" pitchFamily="34" charset="0"/>
              </a:rPr>
              <a:t>Financial sponsor evaluating buyout of privately held Global Consumer Services Business.</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Font typeface="Arial" panose="020B0604020202020204" pitchFamily="34" charset="0"/>
              <a:buChar char="•"/>
            </a:pPr>
            <a:r>
              <a:rPr lang="en-US" sz="1400" spc="-10" dirty="0">
                <a:solidFill>
                  <a:srgbClr val="1D1D1D"/>
                </a:solidFill>
                <a:latin typeface="Arial" pitchFamily="34" charset="0"/>
              </a:rPr>
              <a:t>Leadership Team comprising of CEO, 8 Direct Reports and 2 Obviously Critical Roles not formally a part of the Executive Leadership Team.</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Font typeface="Arial" panose="020B0604020202020204" pitchFamily="34" charset="0"/>
              <a:buChar char="•"/>
            </a:pPr>
            <a:r>
              <a:rPr lang="en-US" sz="1400" spc="-10" dirty="0">
                <a:solidFill>
                  <a:srgbClr val="1D1D1D"/>
                </a:solidFill>
                <a:latin typeface="Arial" pitchFamily="34" charset="0"/>
              </a:rPr>
              <a:t>Team executed a tough turnaround under current shareholder. Future thesis hinges on pivoting to growth.</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Font typeface="Arial" panose="020B0604020202020204" pitchFamily="34" charset="0"/>
              <a:buChar char="•"/>
            </a:pPr>
            <a:r>
              <a:rPr lang="en-US" sz="1400" spc="-10" dirty="0">
                <a:solidFill>
                  <a:srgbClr val="1D1D1D"/>
                </a:solidFill>
                <a:latin typeface="Arial" pitchFamily="34" charset="0"/>
              </a:rPr>
              <a:t>Large core business with leading positions in the Companies categories in key markets, with limited growth potential. </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Font typeface="Arial" panose="020B0604020202020204" pitchFamily="34" charset="0"/>
              <a:buChar char="•"/>
            </a:pPr>
            <a:r>
              <a:rPr lang="en-US" sz="1400" spc="-10" dirty="0">
                <a:solidFill>
                  <a:srgbClr val="1D1D1D"/>
                </a:solidFill>
                <a:latin typeface="Arial" pitchFamily="34" charset="0"/>
              </a:rPr>
              <a:t>Significant attractive organic and inorganic growth optionality but limited in-market evidence.</a:t>
            </a:r>
          </a:p>
        </p:txBody>
      </p:sp>
      <p:sp>
        <p:nvSpPr>
          <p:cNvPr id="9" name="Rectangle 8">
            <a:extLst>
              <a:ext uri="{FF2B5EF4-FFF2-40B4-BE49-F238E27FC236}">
                <a16:creationId xmlns:a16="http://schemas.microsoft.com/office/drawing/2014/main" id="{41FF2D1B-ABC3-19E7-2485-8210893B45D9}"/>
              </a:ext>
            </a:extLst>
          </p:cNvPr>
          <p:cNvSpPr/>
          <p:nvPr/>
        </p:nvSpPr>
        <p:spPr>
          <a:xfrm>
            <a:off x="687959" y="1608290"/>
            <a:ext cx="4179316" cy="4970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Deal Context</a:t>
            </a:r>
            <a:endParaRPr lang="en-GB" b="1" dirty="0"/>
          </a:p>
        </p:txBody>
      </p:sp>
      <p:sp>
        <p:nvSpPr>
          <p:cNvPr id="10" name="Rectangle 9">
            <a:extLst>
              <a:ext uri="{FF2B5EF4-FFF2-40B4-BE49-F238E27FC236}">
                <a16:creationId xmlns:a16="http://schemas.microsoft.com/office/drawing/2014/main" id="{02DF57AC-DE81-A78B-350B-6D4A2D8A33A6}"/>
              </a:ext>
            </a:extLst>
          </p:cNvPr>
          <p:cNvSpPr/>
          <p:nvPr/>
        </p:nvSpPr>
        <p:spPr>
          <a:xfrm>
            <a:off x="6625717" y="1259242"/>
            <a:ext cx="4179316" cy="4970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spc="-25" dirty="0">
                <a:latin typeface="Segoe UI" pitchFamily="34" charset="0"/>
              </a:rPr>
              <a:t>Diligence Key Questions</a:t>
            </a:r>
            <a:endParaRPr lang="en-GB" b="1" spc="-25" dirty="0">
              <a:latin typeface="Segoe UI" pitchFamily="34" charset="0"/>
            </a:endParaRPr>
          </a:p>
        </p:txBody>
      </p:sp>
      <p:sp>
        <p:nvSpPr>
          <p:cNvPr id="5" name="TextBox 4">
            <a:extLst>
              <a:ext uri="{FF2B5EF4-FFF2-40B4-BE49-F238E27FC236}">
                <a16:creationId xmlns:a16="http://schemas.microsoft.com/office/drawing/2014/main" id="{7D75195B-FB08-B33B-F258-045FD31EB72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545826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5BE1-A916-670D-0B90-6172AF1A2806}"/>
              </a:ext>
            </a:extLst>
          </p:cNvPr>
          <p:cNvSpPr>
            <a:spLocks noGrp="1"/>
          </p:cNvSpPr>
          <p:nvPr>
            <p:ph type="title"/>
          </p:nvPr>
        </p:nvSpPr>
        <p:spPr/>
        <p:txBody>
          <a:bodyPr/>
          <a:lstStyle/>
          <a:p>
            <a:r>
              <a:rPr lang="en-US" dirty="0"/>
              <a:t>Pre-deal Diligence Output: Readout Summary</a:t>
            </a:r>
          </a:p>
        </p:txBody>
      </p:sp>
      <p:sp>
        <p:nvSpPr>
          <p:cNvPr id="3" name="Text Placeholder 2">
            <a:extLst>
              <a:ext uri="{FF2B5EF4-FFF2-40B4-BE49-F238E27FC236}">
                <a16:creationId xmlns:a16="http://schemas.microsoft.com/office/drawing/2014/main" id="{24D844DF-87A8-E17D-9248-F06B9D41B7A1}"/>
              </a:ext>
            </a:extLst>
          </p:cNvPr>
          <p:cNvSpPr>
            <a:spLocks noGrp="1"/>
          </p:cNvSpPr>
          <p:nvPr>
            <p:ph type="body" sz="quarter" idx="12"/>
          </p:nvPr>
        </p:nvSpPr>
        <p:spPr/>
        <p:txBody>
          <a:bodyPr/>
          <a:lstStyle/>
          <a:p>
            <a:r>
              <a:rPr lang="en-US" dirty="0"/>
              <a:t>Pragmatic, Actionable Input, Enabling Sponsor to Underwrite Talent Risks Better</a:t>
            </a:r>
          </a:p>
          <a:p>
            <a:endParaRPr lang="en-US" dirty="0"/>
          </a:p>
        </p:txBody>
      </p:sp>
      <p:sp>
        <p:nvSpPr>
          <p:cNvPr id="4" name="Slide Number Placeholder 3">
            <a:extLst>
              <a:ext uri="{FF2B5EF4-FFF2-40B4-BE49-F238E27FC236}">
                <a16:creationId xmlns:a16="http://schemas.microsoft.com/office/drawing/2014/main" id="{EA7A1EE7-20BD-6127-7DAF-768B94F3D0BB}"/>
              </a:ext>
            </a:extLst>
          </p:cNvPr>
          <p:cNvSpPr>
            <a:spLocks noGrp="1"/>
          </p:cNvSpPr>
          <p:nvPr>
            <p:ph type="sldNum" sz="quarter" idx="4"/>
          </p:nvPr>
        </p:nvSpPr>
        <p:spPr/>
        <p:txBody>
          <a:bodyPr/>
          <a:lstStyle/>
          <a:p>
            <a:pPr algn="ctr"/>
            <a:fld id="{7DA59B58-B945-4B36-BC6B-9C26C933A008}" type="slidenum">
              <a:rPr lang="en-US" smtClean="0"/>
              <a:t>24</a:t>
            </a:fld>
            <a:endParaRPr lang="en-US"/>
          </a:p>
        </p:txBody>
      </p:sp>
      <p:grpSp>
        <p:nvGrpSpPr>
          <p:cNvPr id="6" name="object 2">
            <a:extLst>
              <a:ext uri="{FF2B5EF4-FFF2-40B4-BE49-F238E27FC236}">
                <a16:creationId xmlns:a16="http://schemas.microsoft.com/office/drawing/2014/main" id="{4C809E47-15DF-5AB3-3479-AEC578712FC1}"/>
              </a:ext>
            </a:extLst>
          </p:cNvPr>
          <p:cNvGrpSpPr/>
          <p:nvPr/>
        </p:nvGrpSpPr>
        <p:grpSpPr>
          <a:xfrm>
            <a:off x="439073" y="4345821"/>
            <a:ext cx="3338829" cy="2066289"/>
            <a:chOff x="97535" y="4238244"/>
            <a:chExt cx="3273425" cy="2122170"/>
          </a:xfrm>
        </p:grpSpPr>
        <p:pic>
          <p:nvPicPr>
            <p:cNvPr id="7" name="object 3">
              <a:extLst>
                <a:ext uri="{FF2B5EF4-FFF2-40B4-BE49-F238E27FC236}">
                  <a16:creationId xmlns:a16="http://schemas.microsoft.com/office/drawing/2014/main" id="{567062A7-97A7-EB20-02FC-F39A9E7F0CB7}"/>
                </a:ext>
              </a:extLst>
            </p:cNvPr>
            <p:cNvPicPr/>
            <p:nvPr/>
          </p:nvPicPr>
          <p:blipFill>
            <a:blip r:embed="rId2" cstate="email">
              <a:duotone>
                <a:srgbClr val="765FFF"/>
                <a:srgbClr val="FFFFFF"/>
              </a:duotone>
            </a:blip>
            <a:stretch>
              <a:fillRect/>
            </a:stretch>
          </p:blipFill>
          <p:spPr>
            <a:xfrm>
              <a:off x="525744" y="4605175"/>
              <a:ext cx="2844618" cy="1713047"/>
            </a:xfrm>
            <a:prstGeom prst="rect">
              <a:avLst/>
            </a:prstGeom>
          </p:spPr>
        </p:pic>
        <p:pic>
          <p:nvPicPr>
            <p:cNvPr id="8" name="object 4">
              <a:extLst>
                <a:ext uri="{FF2B5EF4-FFF2-40B4-BE49-F238E27FC236}">
                  <a16:creationId xmlns:a16="http://schemas.microsoft.com/office/drawing/2014/main" id="{EB8ADDDF-8374-98B5-9285-72B4DE4C7FE3}"/>
                </a:ext>
              </a:extLst>
            </p:cNvPr>
            <p:cNvPicPr/>
            <p:nvPr/>
          </p:nvPicPr>
          <p:blipFill>
            <a:blip r:embed="rId3" cstate="email">
              <a:duotone>
                <a:srgbClr val="765FFF"/>
                <a:srgbClr val="FFFFFF"/>
              </a:duotone>
            </a:blip>
            <a:stretch>
              <a:fillRect/>
            </a:stretch>
          </p:blipFill>
          <p:spPr>
            <a:xfrm>
              <a:off x="374903" y="4408932"/>
              <a:ext cx="2899410" cy="1951482"/>
            </a:xfrm>
            <a:prstGeom prst="rect">
              <a:avLst/>
            </a:prstGeom>
          </p:spPr>
        </p:pic>
        <p:pic>
          <p:nvPicPr>
            <p:cNvPr id="9" name="object 5">
              <a:extLst>
                <a:ext uri="{FF2B5EF4-FFF2-40B4-BE49-F238E27FC236}">
                  <a16:creationId xmlns:a16="http://schemas.microsoft.com/office/drawing/2014/main" id="{B8F20546-27C7-DF9F-548B-FDF876A5B76C}"/>
                </a:ext>
              </a:extLst>
            </p:cNvPr>
            <p:cNvPicPr/>
            <p:nvPr/>
          </p:nvPicPr>
          <p:blipFill>
            <a:blip r:embed="rId4" cstate="email">
              <a:duotone>
                <a:srgbClr val="765FFF"/>
                <a:srgbClr val="FFFFFF"/>
              </a:duotone>
            </a:blip>
            <a:stretch>
              <a:fillRect/>
            </a:stretch>
          </p:blipFill>
          <p:spPr>
            <a:xfrm>
              <a:off x="251459" y="4323588"/>
              <a:ext cx="2899410" cy="1951482"/>
            </a:xfrm>
            <a:prstGeom prst="rect">
              <a:avLst/>
            </a:prstGeom>
          </p:spPr>
        </p:pic>
        <p:pic>
          <p:nvPicPr>
            <p:cNvPr id="10" name="object 6">
              <a:extLst>
                <a:ext uri="{FF2B5EF4-FFF2-40B4-BE49-F238E27FC236}">
                  <a16:creationId xmlns:a16="http://schemas.microsoft.com/office/drawing/2014/main" id="{E58EFE52-AE09-7678-DCBC-69C591D6732B}"/>
                </a:ext>
              </a:extLst>
            </p:cNvPr>
            <p:cNvPicPr/>
            <p:nvPr/>
          </p:nvPicPr>
          <p:blipFill>
            <a:blip r:embed="rId5" cstate="email">
              <a:duotone>
                <a:srgbClr val="765FFF"/>
                <a:srgbClr val="FFFFFF"/>
              </a:duotone>
            </a:blip>
            <a:stretch>
              <a:fillRect/>
            </a:stretch>
          </p:blipFill>
          <p:spPr>
            <a:xfrm>
              <a:off x="97535" y="4238244"/>
              <a:ext cx="2899410" cy="1949958"/>
            </a:xfrm>
            <a:prstGeom prst="rect">
              <a:avLst/>
            </a:prstGeom>
          </p:spPr>
        </p:pic>
      </p:grpSp>
      <p:grpSp>
        <p:nvGrpSpPr>
          <p:cNvPr id="11" name="object 9">
            <a:extLst>
              <a:ext uri="{FF2B5EF4-FFF2-40B4-BE49-F238E27FC236}">
                <a16:creationId xmlns:a16="http://schemas.microsoft.com/office/drawing/2014/main" id="{976163CF-0F0C-7D9F-D7FB-59FBC3686715}"/>
              </a:ext>
            </a:extLst>
          </p:cNvPr>
          <p:cNvGrpSpPr/>
          <p:nvPr/>
        </p:nvGrpSpPr>
        <p:grpSpPr>
          <a:xfrm>
            <a:off x="439073" y="1752057"/>
            <a:ext cx="3338829" cy="2066289"/>
            <a:chOff x="188940" y="1740133"/>
            <a:chExt cx="3338829" cy="2066289"/>
          </a:xfrm>
        </p:grpSpPr>
        <p:pic>
          <p:nvPicPr>
            <p:cNvPr id="12" name="object 10">
              <a:extLst>
                <a:ext uri="{FF2B5EF4-FFF2-40B4-BE49-F238E27FC236}">
                  <a16:creationId xmlns:a16="http://schemas.microsoft.com/office/drawing/2014/main" id="{DF5C9D10-D0A7-8B94-9853-4F7257050089}"/>
                </a:ext>
              </a:extLst>
            </p:cNvPr>
            <p:cNvPicPr/>
            <p:nvPr/>
          </p:nvPicPr>
          <p:blipFill>
            <a:blip r:embed="rId6" cstate="email">
              <a:duotone>
                <a:srgbClr val="765FFF"/>
                <a:srgbClr val="FFFFFF"/>
              </a:duotone>
            </a:blip>
            <a:stretch>
              <a:fillRect/>
            </a:stretch>
          </p:blipFill>
          <p:spPr>
            <a:xfrm>
              <a:off x="188940" y="1740133"/>
              <a:ext cx="2844618" cy="1714386"/>
            </a:xfrm>
            <a:prstGeom prst="rect">
              <a:avLst/>
            </a:prstGeom>
          </p:spPr>
        </p:pic>
        <p:pic>
          <p:nvPicPr>
            <p:cNvPr id="13" name="object 11">
              <a:extLst>
                <a:ext uri="{FF2B5EF4-FFF2-40B4-BE49-F238E27FC236}">
                  <a16:creationId xmlns:a16="http://schemas.microsoft.com/office/drawing/2014/main" id="{15EFF68F-76FE-9B2C-2CFF-4FA697E30B3D}"/>
                </a:ext>
              </a:extLst>
            </p:cNvPr>
            <p:cNvPicPr/>
            <p:nvPr/>
          </p:nvPicPr>
          <p:blipFill>
            <a:blip r:embed="rId7" cstate="email">
              <a:duotone>
                <a:srgbClr val="765FFF"/>
                <a:srgbClr val="FFFFFF"/>
              </a:duotone>
            </a:blip>
            <a:stretch>
              <a:fillRect/>
            </a:stretch>
          </p:blipFill>
          <p:spPr>
            <a:xfrm>
              <a:off x="629412" y="1854708"/>
              <a:ext cx="2897886" cy="1951482"/>
            </a:xfrm>
            <a:prstGeom prst="rect">
              <a:avLst/>
            </a:prstGeom>
          </p:spPr>
        </p:pic>
      </p:grpSp>
      <p:sp>
        <p:nvSpPr>
          <p:cNvPr id="14" name="object 12">
            <a:extLst>
              <a:ext uri="{FF2B5EF4-FFF2-40B4-BE49-F238E27FC236}">
                <a16:creationId xmlns:a16="http://schemas.microsoft.com/office/drawing/2014/main" id="{2FE0236C-F89B-D245-EA22-D2A31FDAA7C2}"/>
              </a:ext>
            </a:extLst>
          </p:cNvPr>
          <p:cNvSpPr txBox="1"/>
          <p:nvPr/>
        </p:nvSpPr>
        <p:spPr>
          <a:xfrm>
            <a:off x="533985" y="1338460"/>
            <a:ext cx="3126740" cy="566822"/>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800" b="1" i="0" u="none" strike="noStrike" kern="0" cap="none" spc="-25" normalizeH="0" baseline="0" noProof="0" dirty="0">
                <a:ln>
                  <a:noFill/>
                </a:ln>
                <a:solidFill>
                  <a:sysClr val="windowText" lastClr="000000"/>
                </a:solidFill>
                <a:effectLst/>
                <a:uLnTx/>
                <a:uFillTx/>
                <a:latin typeface="Segoe UI" pitchFamily="34" charset="0"/>
                <a:cs typeface="Calibri"/>
              </a:rPr>
              <a:t>2 Page </a:t>
            </a:r>
            <a:r>
              <a:rPr kumimoji="0" sz="1800" b="1" i="0" u="none" strike="noStrike" kern="0" cap="none" spc="-25" normalizeH="0" baseline="0" noProof="0" dirty="0">
                <a:ln>
                  <a:noFill/>
                </a:ln>
                <a:solidFill>
                  <a:srgbClr val="765FFF"/>
                </a:solidFill>
                <a:effectLst/>
                <a:uLnTx/>
                <a:uFillTx/>
                <a:latin typeface="Segoe UI" pitchFamily="34" charset="0"/>
                <a:cs typeface="Calibri"/>
              </a:rPr>
              <a:t>Executive Summary for </a:t>
            </a:r>
            <a:r>
              <a:rPr kumimoji="0" lang="en-US" sz="1800" b="1" i="0" u="none" strike="noStrike" kern="0" cap="none" spc="-25" normalizeH="0" baseline="0" noProof="0" dirty="0">
                <a:ln>
                  <a:noFill/>
                </a:ln>
                <a:solidFill>
                  <a:srgbClr val="765FFF"/>
                </a:solidFill>
                <a:effectLst/>
                <a:uLnTx/>
                <a:uFillTx/>
                <a:latin typeface="Segoe UI" pitchFamily="34" charset="0"/>
                <a:cs typeface="Calibri"/>
              </a:rPr>
              <a:t>IC</a:t>
            </a:r>
            <a:endParaRPr kumimoji="0" sz="1800" b="1" i="0" u="none" strike="noStrike" kern="0" cap="none" spc="-25" normalizeH="0" baseline="0" noProof="0" dirty="0">
              <a:ln>
                <a:noFill/>
              </a:ln>
              <a:solidFill>
                <a:sysClr val="windowText" lastClr="000000"/>
              </a:solidFill>
              <a:effectLst/>
              <a:uLnTx/>
              <a:uFillTx/>
              <a:latin typeface="Segoe UI" pitchFamily="34" charset="0"/>
              <a:cs typeface="Calibri"/>
            </a:endParaRPr>
          </a:p>
        </p:txBody>
      </p:sp>
      <p:sp>
        <p:nvSpPr>
          <p:cNvPr id="15" name="object 13">
            <a:extLst>
              <a:ext uri="{FF2B5EF4-FFF2-40B4-BE49-F238E27FC236}">
                <a16:creationId xmlns:a16="http://schemas.microsoft.com/office/drawing/2014/main" id="{36D49A01-AD25-144C-F099-65A644F3940D}"/>
              </a:ext>
            </a:extLst>
          </p:cNvPr>
          <p:cNvSpPr txBox="1"/>
          <p:nvPr/>
        </p:nvSpPr>
        <p:spPr>
          <a:xfrm>
            <a:off x="456871" y="3932223"/>
            <a:ext cx="338518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ysClr val="windowText" lastClr="000000"/>
                </a:solidFill>
                <a:effectLst/>
                <a:uLnTx/>
                <a:uFillTx/>
                <a:latin typeface="Segoe UI" pitchFamily="34" charset="0"/>
                <a:cs typeface="Calibri"/>
              </a:rPr>
              <a:t>Detailed readout for the </a:t>
            </a:r>
            <a:r>
              <a:rPr kumimoji="0" sz="1800" b="1" i="0" u="none" strike="noStrike" kern="0" cap="none" spc="-10" normalizeH="0" baseline="0" noProof="0" dirty="0">
                <a:ln>
                  <a:noFill/>
                </a:ln>
                <a:solidFill>
                  <a:srgbClr val="765FFF"/>
                </a:solidFill>
                <a:effectLst/>
                <a:uLnTx/>
                <a:uFillTx/>
                <a:latin typeface="Segoe UI" pitchFamily="34" charset="0"/>
                <a:cs typeface="Calibri"/>
              </a:rPr>
              <a:t>Deal Team</a:t>
            </a:r>
            <a:endParaRPr kumimoji="0" sz="1800" b="0" i="0" u="none" strike="noStrike" kern="0" cap="none" spc="-10" normalizeH="0" baseline="0" noProof="0" dirty="0">
              <a:ln>
                <a:noFill/>
              </a:ln>
              <a:solidFill>
                <a:sysClr val="windowText" lastClr="000000"/>
              </a:solidFill>
              <a:effectLst/>
              <a:uLnTx/>
              <a:uFillTx/>
              <a:latin typeface="Arial" pitchFamily="34" charset="0"/>
              <a:cs typeface="Calibri"/>
            </a:endParaRPr>
          </a:p>
        </p:txBody>
      </p:sp>
      <p:graphicFrame>
        <p:nvGraphicFramePr>
          <p:cNvPr id="16" name="object 14">
            <a:extLst>
              <a:ext uri="{FF2B5EF4-FFF2-40B4-BE49-F238E27FC236}">
                <a16:creationId xmlns:a16="http://schemas.microsoft.com/office/drawing/2014/main" id="{BFA1A421-5F58-1126-F1BC-A28B266AEEEA}"/>
              </a:ext>
            </a:extLst>
          </p:cNvPr>
          <p:cNvGraphicFramePr>
            <a:graphicFrameLocks noGrp="1"/>
          </p:cNvGraphicFramePr>
          <p:nvPr>
            <p:extLst>
              <p:ext uri="{D42A27DB-BD31-4B8C-83A1-F6EECF244321}">
                <p14:modId xmlns:p14="http://schemas.microsoft.com/office/powerpoint/2010/main" val="786272301"/>
              </p:ext>
            </p:extLst>
          </p:nvPr>
        </p:nvGraphicFramePr>
        <p:xfrm>
          <a:off x="4259274" y="1508619"/>
          <a:ext cx="7475855" cy="4990464"/>
        </p:xfrm>
        <a:graphic>
          <a:graphicData uri="http://schemas.openxmlformats.org/drawingml/2006/table">
            <a:tbl>
              <a:tblPr firstRow="1" bandRow="1">
                <a:tableStyleId>{69012ECD-51FC-41F1-AA8D-1B2483CD663E}</a:tableStyleId>
              </a:tblPr>
              <a:tblGrid>
                <a:gridCol w="2963161">
                  <a:extLst>
                    <a:ext uri="{9D8B030D-6E8A-4147-A177-3AD203B41FA5}">
                      <a16:colId xmlns:a16="http://schemas.microsoft.com/office/drawing/2014/main" val="20000"/>
                    </a:ext>
                  </a:extLst>
                </a:gridCol>
                <a:gridCol w="4512694">
                  <a:extLst>
                    <a:ext uri="{9D8B030D-6E8A-4147-A177-3AD203B41FA5}">
                      <a16:colId xmlns:a16="http://schemas.microsoft.com/office/drawing/2014/main" val="20001"/>
                    </a:ext>
                  </a:extLst>
                </a:gridCol>
              </a:tblGrid>
              <a:tr h="307975">
                <a:tc>
                  <a:txBody>
                    <a:bodyPr/>
                    <a:lstStyle/>
                    <a:p>
                      <a:pPr marL="91440">
                        <a:lnSpc>
                          <a:spcPct val="100000"/>
                        </a:lnSpc>
                        <a:spcBef>
                          <a:spcPts val="484"/>
                        </a:spcBef>
                      </a:pPr>
                      <a:r>
                        <a:rPr sz="1100" b="1" dirty="0">
                          <a:solidFill>
                            <a:srgbClr val="FFFFFF"/>
                          </a:solidFill>
                        </a:rPr>
                        <a:t>TYPICAL</a:t>
                      </a:r>
                      <a:r>
                        <a:rPr sz="1100" b="1" spc="-40" dirty="0">
                          <a:solidFill>
                            <a:srgbClr val="FFFFFF"/>
                          </a:solidFill>
                        </a:rPr>
                        <a:t> </a:t>
                      </a:r>
                      <a:r>
                        <a:rPr sz="1100" b="1" spc="-10" dirty="0">
                          <a:solidFill>
                            <a:srgbClr val="FFFFFF"/>
                          </a:solidFill>
                        </a:rPr>
                        <a:t>OUTPUTS</a:t>
                      </a:r>
                      <a:endParaRPr sz="1100" dirty="0">
                        <a:solidFill>
                          <a:srgbClr val="FFFFFF"/>
                        </a:solidFill>
                        <a:latin typeface="Arial" pitchFamily="34" charset="0"/>
                        <a:cs typeface="Calibri"/>
                      </a:endParaRPr>
                    </a:p>
                  </a:txBody>
                  <a:tcPr marL="0" marR="0" marT="61594" marB="0">
                    <a:lnL w="12700" cap="flat" cmpd="sng" algn="ctr">
                      <a:noFill/>
                      <a:prstDash val="solid"/>
                      <a:miter lim="800000"/>
                    </a:lnL>
                    <a:lnR w="12700" cap="flat" cmpd="sng" algn="ctr">
                      <a:noFill/>
                      <a:prstDash val="solid"/>
                      <a:round/>
                      <a:headEnd type="none" w="med" len="med"/>
                      <a:tailEnd type="none" w="med" len="med"/>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tc>
                  <a:txBody>
                    <a:bodyPr/>
                    <a:lstStyle/>
                    <a:p>
                      <a:pPr marL="137160">
                        <a:lnSpc>
                          <a:spcPct val="100000"/>
                        </a:lnSpc>
                        <a:spcBef>
                          <a:spcPts val="484"/>
                        </a:spcBef>
                      </a:pPr>
                      <a:r>
                        <a:rPr sz="1100" b="1" dirty="0">
                          <a:solidFill>
                            <a:srgbClr val="FFFFFF"/>
                          </a:solidFill>
                        </a:rPr>
                        <a:t>ILLUSTRATIVE</a:t>
                      </a:r>
                      <a:r>
                        <a:rPr sz="1100" b="1" spc="-60" dirty="0">
                          <a:solidFill>
                            <a:srgbClr val="FFFFFF"/>
                          </a:solidFill>
                        </a:rPr>
                        <a:t> </a:t>
                      </a:r>
                      <a:r>
                        <a:rPr sz="1100" b="1" spc="-10" dirty="0">
                          <a:solidFill>
                            <a:srgbClr val="FFFFFF"/>
                          </a:solidFill>
                        </a:rPr>
                        <a:t>HEADLINES</a:t>
                      </a:r>
                      <a:endParaRPr sz="1100" dirty="0">
                        <a:solidFill>
                          <a:srgbClr val="FFFFFF"/>
                        </a:solidFill>
                        <a:latin typeface="Arial" pitchFamily="34" charset="0"/>
                        <a:cs typeface="Calibri"/>
                      </a:endParaRPr>
                    </a:p>
                  </a:txBody>
                  <a:tcPr marL="0" marR="0" marT="61594" marB="0">
                    <a:lnL w="12700" cap="flat" cmpd="sng" algn="ctr">
                      <a:noFill/>
                      <a:prstDash val="solid"/>
                      <a:round/>
                      <a:headEnd type="none" w="med" len="med"/>
                      <a:tailEnd type="none" w="med" len="med"/>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30630">
                <a:tc>
                  <a:txBody>
                    <a:bodyPr/>
                    <a:lstStyle/>
                    <a:p>
                      <a:pPr marL="91440">
                        <a:lnSpc>
                          <a:spcPct val="100000"/>
                        </a:lnSpc>
                        <a:spcBef>
                          <a:spcPts val="254"/>
                        </a:spcBef>
                      </a:pPr>
                      <a:r>
                        <a:rPr sz="1100" b="1" dirty="0">
                          <a:solidFill>
                            <a:srgbClr val="808080"/>
                          </a:solidFill>
                        </a:rPr>
                        <a:t>Top</a:t>
                      </a:r>
                      <a:r>
                        <a:rPr sz="1100" b="1" spc="-20" dirty="0">
                          <a:solidFill>
                            <a:srgbClr val="808080"/>
                          </a:solidFill>
                        </a:rPr>
                        <a:t> </a:t>
                      </a:r>
                      <a:r>
                        <a:rPr sz="1100" b="1" dirty="0">
                          <a:solidFill>
                            <a:srgbClr val="808080"/>
                          </a:solidFill>
                        </a:rPr>
                        <a:t>Team</a:t>
                      </a:r>
                      <a:r>
                        <a:rPr sz="1100" b="1" spc="-20" dirty="0">
                          <a:solidFill>
                            <a:srgbClr val="808080"/>
                          </a:solidFill>
                        </a:rPr>
                        <a:t> </a:t>
                      </a:r>
                      <a:r>
                        <a:rPr sz="1100" b="1" spc="-10" dirty="0">
                          <a:solidFill>
                            <a:srgbClr val="808080"/>
                          </a:solidFill>
                        </a:rPr>
                        <a:t>Assessment</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CEO</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Leadership Talent &amp; Leadership as a team</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Risks in transition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Bench strength for leadership</a:t>
                      </a:r>
                    </a:p>
                  </a:txBody>
                  <a:tcPr marL="0" marR="0" marT="32384" marB="0">
                    <a:lnR w="12700" cap="flat" cmpd="sng" algn="ctr">
                      <a:solidFill>
                        <a:schemeClr val="bg2"/>
                      </a:solidFill>
                      <a:prstDash val="solid"/>
                      <a:round/>
                      <a:headEnd type="none" w="med" len="med"/>
                      <a:tailEnd type="none" w="med" len="med"/>
                    </a:lnR>
                    <a:lnT w="12700" cap="flat" cmpd="sng" algn="ctr">
                      <a:noFill/>
                      <a:prstDash val="solid"/>
                      <a:miter lim="800000"/>
                    </a:lnT>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CEO not recommended for thesis: blind spots in thinking strategically for a sustainable org, capabilities; Bias to short term thinking</a:t>
                      </a:r>
                    </a:p>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Winning turnaround team that is driven top down, complements with CEO, 	and works well with each other</a:t>
                      </a:r>
                    </a:p>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Ready and keen internal successor available for CEO in transition.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3 Roles (and 1 advisory role) critical for continuity in transition; medium risk of attrition. Balance talent fungible.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Leadership succession weak, work in progress.</a:t>
                      </a:r>
                    </a:p>
                  </a:txBody>
                  <a:tcPr marL="0" marR="0" marT="32384" marB="0">
                    <a:lnL w="12700" cap="flat" cmpd="sng" algn="ctr">
                      <a:solidFill>
                        <a:schemeClr val="bg2"/>
                      </a:solidFill>
                      <a:prstDash val="solid"/>
                      <a:round/>
                      <a:headEnd type="none" w="med" len="med"/>
                      <a:tailEnd type="none" w="med" len="med"/>
                    </a:lnL>
                    <a:lnT w="12700" cap="flat" cmpd="sng" algn="ctr">
                      <a:noFill/>
                      <a:prstDash val="solid"/>
                      <a:miter lim="800000"/>
                    </a:lnT>
                  </a:tcPr>
                </a:tc>
                <a:extLst>
                  <a:ext uri="{0D108BD9-81ED-4DB2-BD59-A6C34878D82A}">
                    <a16:rowId xmlns:a16="http://schemas.microsoft.com/office/drawing/2014/main" val="10001"/>
                  </a:ext>
                </a:extLst>
              </a:tr>
              <a:tr h="774065">
                <a:tc>
                  <a:txBody>
                    <a:bodyPr/>
                    <a:lstStyle/>
                    <a:p>
                      <a:pPr marL="91440">
                        <a:lnSpc>
                          <a:spcPct val="100000"/>
                        </a:lnSpc>
                        <a:spcBef>
                          <a:spcPts val="295"/>
                        </a:spcBef>
                      </a:pPr>
                      <a:r>
                        <a:rPr sz="1100" b="1" dirty="0">
                          <a:solidFill>
                            <a:srgbClr val="808080"/>
                          </a:solidFill>
                        </a:rPr>
                        <a:t>List:</a:t>
                      </a:r>
                      <a:r>
                        <a:rPr sz="1100" b="1" spc="-30" dirty="0">
                          <a:solidFill>
                            <a:srgbClr val="808080"/>
                          </a:solidFill>
                        </a:rPr>
                        <a:t> </a:t>
                      </a:r>
                      <a:r>
                        <a:rPr sz="1100" b="1" dirty="0">
                          <a:solidFill>
                            <a:srgbClr val="808080"/>
                          </a:solidFill>
                        </a:rPr>
                        <a:t>41</a:t>
                      </a:r>
                      <a:r>
                        <a:rPr sz="1100" b="1" spc="-5" dirty="0">
                          <a:solidFill>
                            <a:srgbClr val="808080"/>
                          </a:solidFill>
                        </a:rPr>
                        <a:t> </a:t>
                      </a:r>
                      <a:r>
                        <a:rPr sz="1100" b="1" dirty="0">
                          <a:solidFill>
                            <a:srgbClr val="808080"/>
                          </a:solidFill>
                        </a:rPr>
                        <a:t>Critical</a:t>
                      </a:r>
                      <a:r>
                        <a:rPr sz="1100" b="1" spc="-35" dirty="0">
                          <a:solidFill>
                            <a:srgbClr val="808080"/>
                          </a:solidFill>
                        </a:rPr>
                        <a:t> </a:t>
                      </a:r>
                      <a:r>
                        <a:rPr sz="1100" b="1" spc="-20" dirty="0">
                          <a:solidFill>
                            <a:srgbClr val="808080"/>
                          </a:solidFill>
                        </a:rPr>
                        <a:t>Roles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Talent beyond CEO &amp; Direct Reports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Bench strength at Critical Roles</a:t>
                      </a:r>
                    </a:p>
                  </a:txBody>
                  <a:tcPr marL="0" marR="0" marT="37465"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List of Critical Roles across hierarchy and functions (going down to N-3)</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View on role talent match at Critical Roles (per company view), and brief commentary on risks </a:t>
                      </a:r>
                    </a:p>
                  </a:txBody>
                  <a:tcPr marL="0" marR="0" marT="37465"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2"/>
                  </a:ext>
                </a:extLst>
              </a:tr>
              <a:tr h="878205">
                <a:tc>
                  <a:txBody>
                    <a:bodyPr/>
                    <a:lstStyle/>
                    <a:p>
                      <a:pPr marL="91440">
                        <a:lnSpc>
                          <a:spcPct val="100000"/>
                        </a:lnSpc>
                        <a:spcBef>
                          <a:spcPts val="295"/>
                        </a:spcBef>
                      </a:pPr>
                      <a:r>
                        <a:rPr sz="1100" b="1" spc="-10" dirty="0">
                          <a:solidFill>
                            <a:srgbClr val="808080"/>
                          </a:solidFill>
                        </a:rPr>
                        <a:t>Organizational</a:t>
                      </a:r>
                      <a:r>
                        <a:rPr sz="1100" b="1" spc="-20" dirty="0">
                          <a:solidFill>
                            <a:srgbClr val="808080"/>
                          </a:solidFill>
                        </a:rPr>
                        <a:t> </a:t>
                      </a:r>
                      <a:r>
                        <a:rPr sz="1100" b="1" dirty="0">
                          <a:solidFill>
                            <a:srgbClr val="808080"/>
                          </a:solidFill>
                        </a:rPr>
                        <a:t>Beliefs</a:t>
                      </a:r>
                      <a:r>
                        <a:rPr sz="1100" b="1" spc="-20" dirty="0">
                          <a:solidFill>
                            <a:srgbClr val="808080"/>
                          </a:solidFill>
                        </a:rPr>
                        <a:t> </a:t>
                      </a:r>
                      <a:r>
                        <a:rPr sz="1100" b="1" dirty="0">
                          <a:solidFill>
                            <a:srgbClr val="808080"/>
                          </a:solidFill>
                        </a:rPr>
                        <a:t>and Capability</a:t>
                      </a:r>
                      <a:r>
                        <a:rPr sz="1100" b="1" spc="-5" dirty="0">
                          <a:solidFill>
                            <a:srgbClr val="808080"/>
                          </a:solidFill>
                        </a:rPr>
                        <a:t> </a:t>
                      </a:r>
                      <a:r>
                        <a:rPr sz="1100" b="1" spc="-20" dirty="0">
                          <a:solidFill>
                            <a:srgbClr val="808080"/>
                          </a:solidFill>
                        </a:rPr>
                        <a:t>Risks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Areas of high &amp; low belief in the thesis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Function / Capability strengths and gaps</a:t>
                      </a:r>
                    </a:p>
                  </a:txBody>
                  <a:tcPr marL="0" marR="0" marT="37465"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Belief in ___ parts of the thesis inconsistent; internal misalignment around 	path forward on ___ key initiative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Organization gaps translate into adjusted in EBIDTA, with estimates of costs 	to elevate to required capability (8-10 net new roles, adjust EBIT by $x Mn)</a:t>
                      </a:r>
                    </a:p>
                  </a:txBody>
                  <a:tcPr marL="0" marR="0" marT="37465"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3"/>
                  </a:ext>
                </a:extLst>
              </a:tr>
              <a:tr h="762000">
                <a:tc>
                  <a:txBody>
                    <a:bodyPr/>
                    <a:lstStyle/>
                    <a:p>
                      <a:pPr marL="91440">
                        <a:lnSpc>
                          <a:spcPct val="100000"/>
                        </a:lnSpc>
                        <a:spcBef>
                          <a:spcPts val="300"/>
                        </a:spcBef>
                      </a:pPr>
                      <a:r>
                        <a:rPr sz="1100" b="1" dirty="0">
                          <a:solidFill>
                            <a:srgbClr val="808080"/>
                          </a:solidFill>
                        </a:rPr>
                        <a:t>Engagement</a:t>
                      </a:r>
                      <a:r>
                        <a:rPr sz="1100" b="1" spc="-30" dirty="0">
                          <a:solidFill>
                            <a:srgbClr val="808080"/>
                          </a:solidFill>
                        </a:rPr>
                        <a:t> </a:t>
                      </a:r>
                      <a:r>
                        <a:rPr sz="1100" b="1" dirty="0">
                          <a:solidFill>
                            <a:srgbClr val="808080"/>
                          </a:solidFill>
                        </a:rPr>
                        <a:t>&amp;</a:t>
                      </a:r>
                      <a:r>
                        <a:rPr sz="1100" b="1" spc="-25" dirty="0">
                          <a:solidFill>
                            <a:srgbClr val="808080"/>
                          </a:solidFill>
                        </a:rPr>
                        <a:t> </a:t>
                      </a:r>
                      <a:r>
                        <a:rPr sz="1100" b="1" dirty="0">
                          <a:solidFill>
                            <a:srgbClr val="808080"/>
                          </a:solidFill>
                        </a:rPr>
                        <a:t>Culture</a:t>
                      </a:r>
                      <a:r>
                        <a:rPr sz="1100" b="1" spc="-30" dirty="0">
                          <a:solidFill>
                            <a:srgbClr val="808080"/>
                          </a:solidFill>
                        </a:rPr>
                        <a:t> </a:t>
                      </a:r>
                      <a:r>
                        <a:rPr sz="1100" b="1" spc="-10" dirty="0">
                          <a:solidFill>
                            <a:srgbClr val="808080"/>
                          </a:solidFill>
                        </a:rPr>
                        <a:t>Analysis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Data driven insights on attrition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Engagement Surveys</a:t>
                      </a:r>
                    </a:p>
                  </a:txBody>
                  <a:tcPr marL="0" marR="0" marT="38100"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High goal clarity, low loyalty, high burnout, disengagement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Hotspots in engagement, attrition in … key levers to deploy</a:t>
                      </a:r>
                    </a:p>
                  </a:txBody>
                  <a:tcPr marL="0" marR="0" marT="38100"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4"/>
                  </a:ext>
                </a:extLst>
              </a:tr>
              <a:tr h="666115">
                <a:tc>
                  <a:txBody>
                    <a:bodyPr/>
                    <a:lstStyle/>
                    <a:p>
                      <a:pPr marL="91440">
                        <a:lnSpc>
                          <a:spcPct val="100000"/>
                        </a:lnSpc>
                        <a:spcBef>
                          <a:spcPts val="300"/>
                        </a:spcBef>
                      </a:pPr>
                      <a:r>
                        <a:rPr sz="1100" b="1" dirty="0">
                          <a:solidFill>
                            <a:srgbClr val="808080"/>
                          </a:solidFill>
                        </a:rPr>
                        <a:t>Top</a:t>
                      </a:r>
                      <a:r>
                        <a:rPr sz="1100" b="1" spc="-20" dirty="0">
                          <a:solidFill>
                            <a:srgbClr val="808080"/>
                          </a:solidFill>
                        </a:rPr>
                        <a:t> </a:t>
                      </a:r>
                      <a:r>
                        <a:rPr sz="1100" b="1" dirty="0">
                          <a:solidFill>
                            <a:srgbClr val="808080"/>
                          </a:solidFill>
                        </a:rPr>
                        <a:t>5</a:t>
                      </a:r>
                      <a:r>
                        <a:rPr sz="1100" b="1" spc="-20" dirty="0">
                          <a:solidFill>
                            <a:srgbClr val="808080"/>
                          </a:solidFill>
                        </a:rPr>
                        <a:t> </a:t>
                      </a:r>
                      <a:r>
                        <a:rPr sz="1100" b="1" dirty="0">
                          <a:solidFill>
                            <a:srgbClr val="808080"/>
                          </a:solidFill>
                        </a:rPr>
                        <a:t>Watchouts</a:t>
                      </a:r>
                      <a:r>
                        <a:rPr sz="1100" b="1" spc="-15" dirty="0">
                          <a:solidFill>
                            <a:srgbClr val="808080"/>
                          </a:solidFill>
                        </a:rPr>
                        <a:t> </a:t>
                      </a:r>
                      <a:r>
                        <a:rPr sz="1100" b="1" dirty="0">
                          <a:solidFill>
                            <a:srgbClr val="808080"/>
                          </a:solidFill>
                        </a:rPr>
                        <a:t>&amp;</a:t>
                      </a:r>
                      <a:r>
                        <a:rPr sz="1100" b="1" spc="-25" dirty="0">
                          <a:solidFill>
                            <a:srgbClr val="808080"/>
                          </a:solidFill>
                        </a:rPr>
                        <a:t> </a:t>
                      </a:r>
                      <a:r>
                        <a:rPr sz="1100" b="1" spc="-10" dirty="0">
                          <a:solidFill>
                            <a:srgbClr val="808080"/>
                          </a:solidFill>
                        </a:rPr>
                        <a:t>Recommendations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Post transaction value creating moves</a:t>
                      </a:r>
                    </a:p>
                  </a:txBody>
                  <a:tcPr marL="0" marR="0" marT="38100"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Stabilize and consolidate structure/processes,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Rebalance resourcing in ABC areas, </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Management construct for transition – 3 Scenarios</a:t>
                      </a:r>
                    </a:p>
                  </a:txBody>
                  <a:tcPr marL="0" marR="0" marT="38100"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17" name="TextBox 16">
            <a:extLst>
              <a:ext uri="{FF2B5EF4-FFF2-40B4-BE49-F238E27FC236}">
                <a16:creationId xmlns:a16="http://schemas.microsoft.com/office/drawing/2014/main" id="{5BC31AFA-BFD9-9A76-6B12-D107E233807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532053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519F-DAE9-AD49-97FA-B1BC08DF663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6C99BF11-EF3A-8446-1C71-1DFEFE550CFD}"/>
              </a:ext>
            </a:extLst>
          </p:cNvPr>
          <p:cNvSpPr txBox="1">
            <a:spLocks noGrp="1"/>
          </p:cNvSpPr>
          <p:nvPr>
            <p:ph type="title"/>
          </p:nvPr>
        </p:nvSpPr>
        <p:spPr>
          <a:noFill/>
        </p:spPr>
        <p:txBody>
          <a:bodyPr/>
          <a:lstStyle/>
          <a:p>
            <a:pPr>
              <a:buNone/>
            </a:pPr>
            <a:r>
              <a:rPr lang="en-US" dirty="0"/>
              <a:t>Rapid TALENT2VALUE @ BU / Market / Func</a:t>
            </a:r>
          </a:p>
        </p:txBody>
      </p:sp>
    </p:spTree>
    <p:extLst>
      <p:ext uri="{BB962C8B-B14F-4D97-AF65-F5344CB8AC3E}">
        <p14:creationId xmlns:p14="http://schemas.microsoft.com/office/powerpoint/2010/main" val="2245883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7FE09A-C912-BA00-93E9-EBC32C32B0E8}"/>
              </a:ext>
            </a:extLst>
          </p:cNvPr>
          <p:cNvSpPr>
            <a:spLocks noGrp="1"/>
          </p:cNvSpPr>
          <p:nvPr>
            <p:ph type="sldNum" sz="quarter" idx="4"/>
          </p:nvPr>
        </p:nvSpPr>
        <p:spPr/>
        <p:txBody>
          <a:bodyPr/>
          <a:lstStyle/>
          <a:p>
            <a:pPr algn="ctr"/>
            <a:fld id="{1875A764-3B06-454E-8ABA-2F6ED0EB58E9}" type="slidenum">
              <a:rPr lang="en-US" smtClean="0"/>
              <a:t>26</a:t>
            </a:fld>
            <a:endParaRPr lang="en-US"/>
          </a:p>
        </p:txBody>
      </p:sp>
      <p:sp>
        <p:nvSpPr>
          <p:cNvPr id="2" name="Title 1">
            <a:extLst>
              <a:ext uri="{FF2B5EF4-FFF2-40B4-BE49-F238E27FC236}">
                <a16:creationId xmlns:a16="http://schemas.microsoft.com/office/drawing/2014/main" id="{334EA143-13F4-29B7-B2C3-6E2CD1ACBB49}"/>
              </a:ext>
            </a:extLst>
          </p:cNvPr>
          <p:cNvSpPr>
            <a:spLocks noGrp="1"/>
          </p:cNvSpPr>
          <p:nvPr>
            <p:ph type="title"/>
          </p:nvPr>
        </p:nvSpPr>
        <p:spPr/>
        <p:txBody>
          <a:bodyPr/>
          <a:lstStyle/>
          <a:p>
            <a:r>
              <a:rPr lang="en-US" dirty="0">
                <a:solidFill>
                  <a:srgbClr val="281A42"/>
                </a:solidFill>
                <a:cs typeface="Segoe UI" panose="020B0502040204020203" pitchFamily="34" charset="0"/>
              </a:rPr>
              <a:t>Rapid TALENT2VALUE</a:t>
            </a:r>
            <a:endParaRPr lang="en-US" dirty="0"/>
          </a:p>
        </p:txBody>
      </p:sp>
      <p:cxnSp>
        <p:nvCxnSpPr>
          <p:cNvPr id="5" name="Straight Connector 4">
            <a:extLst>
              <a:ext uri="{FF2B5EF4-FFF2-40B4-BE49-F238E27FC236}">
                <a16:creationId xmlns:a16="http://schemas.microsoft.com/office/drawing/2014/main" id="{8FC59E80-718D-8246-3F38-02D290B19B12}"/>
              </a:ext>
            </a:extLst>
          </p:cNvPr>
          <p:cNvCxnSpPr>
            <a:stCxn id="6" idx="1"/>
            <a:endCxn id="6" idx="3"/>
          </p:cNvCxnSpPr>
          <p:nvPr/>
        </p:nvCxnSpPr>
        <p:spPr>
          <a:xfrm>
            <a:off x="3047778" y="1918960"/>
            <a:ext cx="5543550"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4">
            <a:extLst>
              <a:ext uri="{FF2B5EF4-FFF2-40B4-BE49-F238E27FC236}">
                <a16:creationId xmlns:a16="http://schemas.microsoft.com/office/drawing/2014/main" id="{44FAA954-B5E8-274C-4DF4-6A9308AA2DE9}"/>
              </a:ext>
            </a:extLst>
          </p:cNvPr>
          <p:cNvPicPr>
            <a:picLocks noChangeAspect="1" noChangeArrowheads="1"/>
          </p:cNvPicPr>
          <p:nvPr/>
        </p:nvPicPr>
        <p:blipFill>
          <a:blip r:embed="rId2">
            <a:duotone>
              <a:srgbClr val="765FFF"/>
              <a:srgbClr val="FFFFFF"/>
            </a:duotone>
          </a:blip>
          <a:srcRect/>
          <a:stretch>
            <a:fillRect/>
          </a:stretch>
        </p:blipFill>
        <p:spPr bwMode="auto">
          <a:xfrm>
            <a:off x="3047778" y="1152197"/>
            <a:ext cx="5543550" cy="1533525"/>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12">
            <a:extLst>
              <a:ext uri="{FF2B5EF4-FFF2-40B4-BE49-F238E27FC236}">
                <a16:creationId xmlns:a16="http://schemas.microsoft.com/office/drawing/2014/main" id="{103A237D-8EC0-D8B2-55D1-6CFCBB0EE263}"/>
              </a:ext>
            </a:extLst>
          </p:cNvPr>
          <p:cNvSpPr txBox="1">
            <a:spLocks/>
          </p:cNvSpPr>
          <p:nvPr/>
        </p:nvSpPr>
        <p:spPr>
          <a:xfrm>
            <a:off x="1274134" y="3866465"/>
            <a:ext cx="2650166" cy="2385275"/>
          </a:xfrm>
          <a:prstGeom prst="rect">
            <a:avLst/>
          </a:prstGeom>
        </p:spPr>
        <p:txBody>
          <a:bodyPr vert="horz" wrap="square" lIns="0" tIns="12700" rIns="0" bIns="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298450" indent="-285750">
              <a:lnSpc>
                <a:spcPct val="100000"/>
              </a:lnSpc>
              <a:spcBef>
                <a:spcPts val="100"/>
              </a:spcBef>
              <a:buFont typeface="Arial" panose="020B0706020202030204" pitchFamily="34" charset="0"/>
              <a:buBlip>
                <a:blip r:embed="rId3"/>
              </a:buBlip>
              <a:defRPr/>
            </a:pPr>
            <a:r>
              <a:rPr lang="en-US" kern="0">
                <a:solidFill>
                  <a:sysClr val="windowText" lastClr="000000"/>
                </a:solidFill>
                <a:latin typeface="Arial" panose="020B0604020202020204" pitchFamily="34" charset="0"/>
                <a:cs typeface="Arial" panose="020B0604020202020204" pitchFamily="34" charset="0"/>
              </a:rPr>
              <a:t>Document Review (Strategy, Business Plan, results) + 2-3 Intake interviews (CEO, CFO, CHRO, Strategy) on </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Where is the Money</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What are the Strategic Pivots </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What are the 3-5 critical bets to drive value (or risks to value)</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Choices (if any) on operating model &amp; organization </a:t>
            </a:r>
            <a:endParaRPr lang="en-US" sz="1200" kern="0" dirty="0">
              <a:latin typeface="Arial" panose="020B0604020202020204" pitchFamily="34" charset="0"/>
              <a:cs typeface="Arial" panose="020B0604020202020204" pitchFamily="34" charset="0"/>
            </a:endParaRPr>
          </a:p>
        </p:txBody>
      </p:sp>
      <p:grpSp>
        <p:nvGrpSpPr>
          <p:cNvPr id="8" name="object 11">
            <a:extLst>
              <a:ext uri="{FF2B5EF4-FFF2-40B4-BE49-F238E27FC236}">
                <a16:creationId xmlns:a16="http://schemas.microsoft.com/office/drawing/2014/main" id="{453AC815-57FF-B3FB-559B-2FAC9BA4CAC0}"/>
              </a:ext>
            </a:extLst>
          </p:cNvPr>
          <p:cNvGrpSpPr/>
          <p:nvPr/>
        </p:nvGrpSpPr>
        <p:grpSpPr>
          <a:xfrm>
            <a:off x="4101087" y="4394894"/>
            <a:ext cx="221066" cy="256053"/>
            <a:chOff x="2988310" y="3163570"/>
            <a:chExt cx="297815" cy="820419"/>
          </a:xfrm>
        </p:grpSpPr>
        <p:sp>
          <p:nvSpPr>
            <p:cNvPr id="9" name="object 12">
              <a:extLst>
                <a:ext uri="{FF2B5EF4-FFF2-40B4-BE49-F238E27FC236}">
                  <a16:creationId xmlns:a16="http://schemas.microsoft.com/office/drawing/2014/main" id="{05483998-1232-8BD9-EC38-C8FA573A0689}"/>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10" name="object 13">
              <a:extLst>
                <a:ext uri="{FF2B5EF4-FFF2-40B4-BE49-F238E27FC236}">
                  <a16:creationId xmlns:a16="http://schemas.microsoft.com/office/drawing/2014/main" id="{2EF771BA-3A0A-225D-62E2-3F6DF7EBC758}"/>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cxnSp>
        <p:nvCxnSpPr>
          <p:cNvPr id="11" name="Straight Connector 10">
            <a:extLst>
              <a:ext uri="{FF2B5EF4-FFF2-40B4-BE49-F238E27FC236}">
                <a16:creationId xmlns:a16="http://schemas.microsoft.com/office/drawing/2014/main" id="{35050056-D57F-50AD-8488-8C3C813829C0}"/>
              </a:ext>
            </a:extLst>
          </p:cNvPr>
          <p:cNvCxnSpPr>
            <a:cxnSpLocks/>
          </p:cNvCxnSpPr>
          <p:nvPr/>
        </p:nvCxnSpPr>
        <p:spPr>
          <a:xfrm>
            <a:off x="1516301" y="3105805"/>
            <a:ext cx="8380248" cy="0"/>
          </a:xfrm>
          <a:prstGeom prst="line">
            <a:avLst/>
          </a:prstGeom>
          <a:ln w="9525">
            <a:solidFill>
              <a:schemeClr val="accent1"/>
            </a:solidFill>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2" name="Rectangle: Rounded Corners 34">
            <a:extLst>
              <a:ext uri="{FF2B5EF4-FFF2-40B4-BE49-F238E27FC236}">
                <a16:creationId xmlns:a16="http://schemas.microsoft.com/office/drawing/2014/main" id="{1E70B9CD-34B3-E661-6139-3D0CE0FBF88D}"/>
              </a:ext>
            </a:extLst>
          </p:cNvPr>
          <p:cNvSpPr/>
          <p:nvPr/>
        </p:nvSpPr>
        <p:spPr>
          <a:xfrm>
            <a:off x="4433381" y="2961437"/>
            <a:ext cx="2546088" cy="312055"/>
          </a:xfrm>
          <a:prstGeom prst="round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pPr>
            <a:r>
              <a:rPr lang="en-US" sz="1100" b="1" dirty="0">
                <a:solidFill>
                  <a:schemeClr val="accent1"/>
                </a:solidFill>
              </a:rPr>
              <a:t>CONNECTING TALENT TO VALUE</a:t>
            </a:r>
          </a:p>
        </p:txBody>
      </p:sp>
      <p:sp>
        <p:nvSpPr>
          <p:cNvPr id="13" name="Rectangle: Rounded Corners 44">
            <a:extLst>
              <a:ext uri="{FF2B5EF4-FFF2-40B4-BE49-F238E27FC236}">
                <a16:creationId xmlns:a16="http://schemas.microsoft.com/office/drawing/2014/main" id="{5D38EB71-0790-8FDE-FF7C-B19E22288EF1}"/>
              </a:ext>
            </a:extLst>
          </p:cNvPr>
          <p:cNvSpPr/>
          <p:nvPr/>
        </p:nvSpPr>
        <p:spPr>
          <a:xfrm>
            <a:off x="1350335" y="3360142"/>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Diagnostics</a:t>
            </a:r>
            <a:endParaRPr lang="LID4096" sz="1600" dirty="0"/>
          </a:p>
        </p:txBody>
      </p:sp>
      <p:sp>
        <p:nvSpPr>
          <p:cNvPr id="14" name="Rectangle: Rounded Corners 67">
            <a:extLst>
              <a:ext uri="{FF2B5EF4-FFF2-40B4-BE49-F238E27FC236}">
                <a16:creationId xmlns:a16="http://schemas.microsoft.com/office/drawing/2014/main" id="{470A322B-AEBA-5643-8839-CBE6394DD874}"/>
              </a:ext>
            </a:extLst>
          </p:cNvPr>
          <p:cNvSpPr/>
          <p:nvPr/>
        </p:nvSpPr>
        <p:spPr>
          <a:xfrm>
            <a:off x="4648684" y="3384358"/>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Working Session(s)</a:t>
            </a:r>
            <a:endParaRPr lang="LID4096" sz="1600" dirty="0"/>
          </a:p>
        </p:txBody>
      </p:sp>
      <p:sp>
        <p:nvSpPr>
          <p:cNvPr id="15" name="Rectangle: Rounded Corners 70">
            <a:extLst>
              <a:ext uri="{FF2B5EF4-FFF2-40B4-BE49-F238E27FC236}">
                <a16:creationId xmlns:a16="http://schemas.microsoft.com/office/drawing/2014/main" id="{AAF278E6-1217-0704-FBA9-34D5F9EE094F}"/>
              </a:ext>
            </a:extLst>
          </p:cNvPr>
          <p:cNvSpPr/>
          <p:nvPr/>
        </p:nvSpPr>
        <p:spPr>
          <a:xfrm>
            <a:off x="8101304" y="3356173"/>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Wrap-up</a:t>
            </a:r>
            <a:endParaRPr lang="LID4096" sz="1600" dirty="0"/>
          </a:p>
        </p:txBody>
      </p:sp>
      <p:sp>
        <p:nvSpPr>
          <p:cNvPr id="16" name="object 12">
            <a:extLst>
              <a:ext uri="{FF2B5EF4-FFF2-40B4-BE49-F238E27FC236}">
                <a16:creationId xmlns:a16="http://schemas.microsoft.com/office/drawing/2014/main" id="{7164FA94-03B6-9852-144E-79247C8A7CE4}"/>
              </a:ext>
            </a:extLst>
          </p:cNvPr>
          <p:cNvSpPr txBox="1"/>
          <p:nvPr/>
        </p:nvSpPr>
        <p:spPr>
          <a:xfrm>
            <a:off x="4648684" y="3866466"/>
            <a:ext cx="2489833" cy="1588328"/>
          </a:xfrm>
          <a:prstGeom prst="rect">
            <a:avLst/>
          </a:prstGeom>
        </p:spPr>
        <p:txBody>
          <a:bodyPr vert="horz" wrap="square" lIns="0" tIns="12700" rIns="0" bIns="0" rtlCol="0" anchor="t">
            <a:noAutofit/>
          </a:bodyPr>
          <a:lstStyle/>
          <a:p>
            <a:pPr marL="298450" marR="0" lvl="0" indent="-285750" fontAlgn="auto">
              <a:spcBef>
                <a:spcPts val="100"/>
              </a:spcBef>
              <a:spcAft>
                <a:spcPts val="0"/>
              </a:spcAft>
              <a:buBlip>
                <a:blip r:embed="rId3"/>
              </a:buBlip>
              <a:tabLst/>
              <a:defRPr/>
            </a:pPr>
            <a:r>
              <a:rPr kumimoji="0" lang="en-US" sz="1200" b="0" i="0" u="none" strike="noStrike" kern="0" cap="none" spc="0" normalizeH="0" baseline="0" noProof="0" dirty="0">
                <a:ln>
                  <a:noFill/>
                </a:ln>
                <a:solidFill>
                  <a:srgbClr val="1D1D1D"/>
                </a:solidFill>
                <a:effectLst/>
                <a:uLnTx/>
                <a:uFillTx/>
                <a:latin typeface="Arial" panose="020B0604020202020204" pitchFamily="34" charset="0"/>
                <a:cs typeface="Arial" panose="020B0604020202020204" pitchFamily="34" charset="0"/>
              </a:rPr>
              <a:t>Working Session 1 to align on pivots, value hotspots, work </a:t>
            </a:r>
            <a:r>
              <a:rPr lang="en-US" sz="1200" kern="0" dirty="0">
                <a:latin typeface="Arial" panose="020B0604020202020204" pitchFamily="34" charset="0"/>
                <a:cs typeface="Arial" panose="020B0604020202020204" pitchFamily="34" charset="0"/>
              </a:rPr>
              <a:t>headlines</a:t>
            </a:r>
          </a:p>
          <a:p>
            <a:pPr marL="298450" marR="0" lvl="0" indent="-285750" fontAlgn="auto">
              <a:spcBef>
                <a:spcPts val="100"/>
              </a:spcBef>
              <a:spcAft>
                <a:spcPts val="0"/>
              </a:spcAft>
              <a:buBlip>
                <a:blip r:embed="rId3"/>
              </a:buBlip>
              <a:tabLst/>
              <a:defRPr/>
            </a:pPr>
            <a:r>
              <a:rPr lang="en-US" sz="1200" kern="0" dirty="0">
                <a:latin typeface="Arial" panose="020B0604020202020204" pitchFamily="34" charset="0"/>
                <a:cs typeface="Arial" panose="020B0604020202020204" pitchFamily="34" charset="0"/>
              </a:rPr>
              <a:t>Working Session 2 to identify </a:t>
            </a:r>
            <a:r>
              <a:rPr lang="en-GB" sz="1200" kern="0" dirty="0">
                <a:latin typeface="Arial" panose="020B0604020202020204" pitchFamily="34" charset="0"/>
                <a:cs typeface="Arial" panose="020B0604020202020204" pitchFamily="34" charset="0"/>
              </a:rPr>
              <a:t>, critical roles across the hierarchy &amp; </a:t>
            </a:r>
            <a:r>
              <a:rPr lang="en-US" sz="1200" kern="0" dirty="0">
                <a:latin typeface="Arial" panose="020B0604020202020204" pitchFamily="34" charset="0"/>
                <a:cs typeface="Arial" panose="020B0604020202020204" pitchFamily="34" charset="0"/>
              </a:rPr>
              <a:t>risks ((Talent Capital Balance Sheet)</a:t>
            </a:r>
          </a:p>
          <a:p>
            <a:pPr marL="298450" marR="0" lvl="0" indent="-285750" fontAlgn="auto">
              <a:spcBef>
                <a:spcPts val="100"/>
              </a:spcBef>
              <a:spcAft>
                <a:spcPts val="0"/>
              </a:spcAft>
              <a:buBlip>
                <a:blip r:embed="rId3"/>
              </a:buBlip>
              <a:tabLst/>
              <a:defRPr/>
            </a:pPr>
            <a:r>
              <a:rPr lang="en-US" sz="1200" kern="0" dirty="0">
                <a:latin typeface="Arial" panose="020B0604020202020204" pitchFamily="34" charset="0"/>
                <a:cs typeface="Arial" panose="020B0604020202020204" pitchFamily="34" charset="0"/>
              </a:rPr>
              <a:t>Working Session 3 to identify risk patterns and high-level interventions (org level and for critical roles)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sz="1200" b="0" i="0"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17" name="object 11">
            <a:extLst>
              <a:ext uri="{FF2B5EF4-FFF2-40B4-BE49-F238E27FC236}">
                <a16:creationId xmlns:a16="http://schemas.microsoft.com/office/drawing/2014/main" id="{765D1AF5-D16C-19A3-D80B-06F3F9CE8BEF}"/>
              </a:ext>
            </a:extLst>
          </p:cNvPr>
          <p:cNvGrpSpPr/>
          <p:nvPr/>
        </p:nvGrpSpPr>
        <p:grpSpPr>
          <a:xfrm>
            <a:off x="7547615" y="4392913"/>
            <a:ext cx="221066" cy="256053"/>
            <a:chOff x="2988310" y="3163570"/>
            <a:chExt cx="297815" cy="820419"/>
          </a:xfrm>
        </p:grpSpPr>
        <p:sp>
          <p:nvSpPr>
            <p:cNvPr id="18" name="object 12">
              <a:extLst>
                <a:ext uri="{FF2B5EF4-FFF2-40B4-BE49-F238E27FC236}">
                  <a16:creationId xmlns:a16="http://schemas.microsoft.com/office/drawing/2014/main" id="{9DC4BBA1-65F4-A864-24AD-EC0A4E9EAD1A}"/>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19" name="object 13">
              <a:extLst>
                <a:ext uri="{FF2B5EF4-FFF2-40B4-BE49-F238E27FC236}">
                  <a16:creationId xmlns:a16="http://schemas.microsoft.com/office/drawing/2014/main" id="{00DA0383-F78D-CAFB-5565-20B7A04BC26E}"/>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sp>
        <p:nvSpPr>
          <p:cNvPr id="20" name="object 12">
            <a:extLst>
              <a:ext uri="{FF2B5EF4-FFF2-40B4-BE49-F238E27FC236}">
                <a16:creationId xmlns:a16="http://schemas.microsoft.com/office/drawing/2014/main" id="{FE289DA8-6964-F381-375C-BEA3F9B6EEB6}"/>
              </a:ext>
            </a:extLst>
          </p:cNvPr>
          <p:cNvSpPr txBox="1"/>
          <p:nvPr/>
        </p:nvSpPr>
        <p:spPr>
          <a:xfrm>
            <a:off x="8101304" y="3957993"/>
            <a:ext cx="2319911" cy="1588328"/>
          </a:xfrm>
          <a:prstGeom prst="rect">
            <a:avLst/>
          </a:prstGeom>
        </p:spPr>
        <p:txBody>
          <a:bodyPr vert="horz" wrap="square" lIns="0" tIns="12700" rIns="0" bIns="0" rtlCol="0" anchor="t">
            <a:noAutofit/>
          </a:bodyPr>
          <a:lstStyle/>
          <a:p>
            <a:pPr marL="298450" indent="-285750">
              <a:lnSpc>
                <a:spcPct val="100000"/>
              </a:lnSpc>
              <a:spcBef>
                <a:spcPts val="100"/>
              </a:spcBef>
              <a:buClrTx/>
              <a:buSzTx/>
              <a:buBlip>
                <a:blip r:embed="rId3"/>
              </a:buBlip>
              <a:defRPr/>
            </a:pPr>
            <a:r>
              <a:rPr kumimoji="0" lang="en-GB" sz="1200" b="0" i="0" u="none" strike="noStrike" kern="0" cap="none" spc="0" normalizeH="0" baseline="0" noProof="0" dirty="0">
                <a:ln>
                  <a:noFill/>
                </a:ln>
                <a:solidFill>
                  <a:srgbClr val="1D1D1D"/>
                </a:solidFill>
                <a:effectLst/>
                <a:uLnTx/>
                <a:uFillTx/>
                <a:latin typeface="Arial" panose="020B0604020202020204" pitchFamily="34" charset="0"/>
                <a:cs typeface="Arial" panose="020B0604020202020204" pitchFamily="34" charset="0"/>
              </a:rPr>
              <a:t>Read-out with CEO/</a:t>
            </a:r>
            <a:r>
              <a:rPr lang="en-GB" sz="1200" kern="0" dirty="0">
                <a:latin typeface="Arial" panose="020B0604020202020204" pitchFamily="34" charset="0"/>
                <a:cs typeface="Arial" panose="020B0604020202020204" pitchFamily="34" charset="0"/>
              </a:rPr>
              <a:t>CHRO on Mobilization actions across pillars essential for CEO success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lang="en-GB" sz="1200" b="0" i="0"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13A635C-9179-DAFF-382B-93BB83E5E43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830917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5F312F-A1B4-22AE-EC65-7DA2EC968648}"/>
              </a:ext>
            </a:extLst>
          </p:cNvPr>
          <p:cNvSpPr>
            <a:spLocks noGrp="1"/>
          </p:cNvSpPr>
          <p:nvPr>
            <p:ph type="sldNum" sz="quarter" idx="4"/>
          </p:nvPr>
        </p:nvSpPr>
        <p:spPr/>
        <p:txBody>
          <a:bodyPr/>
          <a:lstStyle/>
          <a:p>
            <a:pPr algn="ctr"/>
            <a:fld id="{1875A764-3B06-454E-8ABA-2F6ED0EB58E9}" type="slidenum">
              <a:rPr lang="en-US" smtClean="0"/>
              <a:t>27</a:t>
            </a:fld>
            <a:endParaRPr lang="en-US"/>
          </a:p>
        </p:txBody>
      </p:sp>
      <p:sp>
        <p:nvSpPr>
          <p:cNvPr id="3" name="Title 2">
            <a:extLst>
              <a:ext uri="{FF2B5EF4-FFF2-40B4-BE49-F238E27FC236}">
                <a16:creationId xmlns:a16="http://schemas.microsoft.com/office/drawing/2014/main" id="{2550B595-8D2C-D284-A8E7-B50449BCF510}"/>
              </a:ext>
            </a:extLst>
          </p:cNvPr>
          <p:cNvSpPr>
            <a:spLocks noGrp="1"/>
          </p:cNvSpPr>
          <p:nvPr>
            <p:ph type="title"/>
          </p:nvPr>
        </p:nvSpPr>
        <p:spPr/>
        <p:txBody>
          <a:bodyPr/>
          <a:lstStyle/>
          <a:p>
            <a:r>
              <a:rPr lang="en-GB" dirty="0">
                <a:solidFill>
                  <a:srgbClr val="281A42"/>
                </a:solidFill>
                <a:ea typeface="Lato"/>
                <a:cs typeface="Segoe UI" panose="020B0502040204020203" pitchFamily="34" charset="0"/>
              </a:rPr>
              <a:t>Strategic Pivots </a:t>
            </a:r>
            <a:r>
              <a:rPr lang="en-GB" dirty="0">
                <a:solidFill>
                  <a:srgbClr val="281A42"/>
                </a:solidFill>
                <a:ea typeface="Lato"/>
                <a:cs typeface="Segoe UI" panose="020B0502040204020203" pitchFamily="34" charset="0"/>
                <a:sym typeface="Wingdings" panose="05000000000000000000" pitchFamily="2" charset="2"/>
              </a:rPr>
              <a:t> Value Hotspots  Work Headlines</a:t>
            </a:r>
            <a:endParaRPr lang="en-US" dirty="0"/>
          </a:p>
        </p:txBody>
      </p:sp>
      <p:sp>
        <p:nvSpPr>
          <p:cNvPr id="4" name="Rounded Rectangle 1">
            <a:extLst>
              <a:ext uri="{FF2B5EF4-FFF2-40B4-BE49-F238E27FC236}">
                <a16:creationId xmlns:a16="http://schemas.microsoft.com/office/drawing/2014/main" id="{7F020BD9-58CD-4E93-1AAA-F68A32F23BED}"/>
              </a:ext>
            </a:extLst>
          </p:cNvPr>
          <p:cNvSpPr/>
          <p:nvPr/>
        </p:nvSpPr>
        <p:spPr>
          <a:xfrm>
            <a:off x="1186901" y="1004544"/>
            <a:ext cx="10255799" cy="1164850"/>
          </a:xfrm>
          <a:prstGeom prst="roundRect">
            <a:avLst>
              <a:gd name="adj" fmla="val 4915"/>
            </a:avLst>
          </a:prstGeom>
          <a:solidFill>
            <a:srgbClr val="E8E4FD">
              <a:alpha val="31000"/>
            </a:srgb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aphicFrame>
        <p:nvGraphicFramePr>
          <p:cNvPr id="5" name="Table 41">
            <a:extLst>
              <a:ext uri="{FF2B5EF4-FFF2-40B4-BE49-F238E27FC236}">
                <a16:creationId xmlns:a16="http://schemas.microsoft.com/office/drawing/2014/main" id="{925AB8F5-5110-7692-E944-CD6A8F35DFAA}"/>
              </a:ext>
            </a:extLst>
          </p:cNvPr>
          <p:cNvGraphicFramePr>
            <a:graphicFrameLocks noGrp="1"/>
          </p:cNvGraphicFramePr>
          <p:nvPr/>
        </p:nvGraphicFramePr>
        <p:xfrm>
          <a:off x="1348840" y="977140"/>
          <a:ext cx="9903361" cy="1132502"/>
        </p:xfrm>
        <a:graphic>
          <a:graphicData uri="http://schemas.openxmlformats.org/drawingml/2006/table">
            <a:tbl>
              <a:tblPr firstRow="1" bandRow="1">
                <a:tableStyleId>{2D5ABB26-0587-4C30-8999-92F81FD0307C}</a:tableStyleId>
              </a:tblPr>
              <a:tblGrid>
                <a:gridCol w="3174539">
                  <a:extLst>
                    <a:ext uri="{9D8B030D-6E8A-4147-A177-3AD203B41FA5}">
                      <a16:colId xmlns:a16="http://schemas.microsoft.com/office/drawing/2014/main" val="4119152402"/>
                    </a:ext>
                  </a:extLst>
                </a:gridCol>
                <a:gridCol w="941676">
                  <a:extLst>
                    <a:ext uri="{9D8B030D-6E8A-4147-A177-3AD203B41FA5}">
                      <a16:colId xmlns:a16="http://schemas.microsoft.com/office/drawing/2014/main" val="2048534200"/>
                    </a:ext>
                  </a:extLst>
                </a:gridCol>
                <a:gridCol w="5787146">
                  <a:extLst>
                    <a:ext uri="{9D8B030D-6E8A-4147-A177-3AD203B41FA5}">
                      <a16:colId xmlns:a16="http://schemas.microsoft.com/office/drawing/2014/main" val="2057372679"/>
                    </a:ext>
                  </a:extLst>
                </a:gridCol>
              </a:tblGrid>
              <a:tr h="404936">
                <a:tc>
                  <a:txBody>
                    <a:bodyPr/>
                    <a:lstStyle/>
                    <a:p>
                      <a:pPr marL="0" indent="0" algn="r" hangingPunct="0">
                        <a:buFont typeface="Arial" panose="020B0604020202020204" pitchFamily="34" charset="0"/>
                        <a:buNone/>
                      </a:pPr>
                      <a:r>
                        <a:rPr lang="en-US" sz="1200" b="0" dirty="0">
                          <a:solidFill>
                            <a:schemeClr val="tx2"/>
                          </a:solidFill>
                        </a:rPr>
                        <a:t>Food security mandate</a:t>
                      </a:r>
                      <a:endParaRPr lang="en-US" sz="1200" b="0" dirty="0">
                        <a:solidFill>
                          <a:schemeClr val="tx2"/>
                        </a:solidFill>
                        <a:latin typeface="Arial" pitchFamily="34" charset="0"/>
                      </a:endParaRPr>
                    </a:p>
                  </a:txBody>
                  <a:tcPr anchor="ctr">
                    <a:lnB w="12700" cap="flat" cmpd="sng" algn="ctr">
                      <a:solidFill>
                        <a:schemeClr val="accent1"/>
                      </a:solidFill>
                      <a:prstDash val="solid"/>
                      <a:round/>
                      <a:headEnd type="none" w="med" len="med"/>
                      <a:tailEnd type="none" w="med" len="med"/>
                    </a:lnB>
                  </a:tcPr>
                </a:tc>
                <a:tc>
                  <a:txBody>
                    <a:bodyPr/>
                    <a:lstStyle/>
                    <a:p>
                      <a:pPr marL="0" indent="0" hangingPunct="0">
                        <a:buFont typeface="Arial" panose="020B0604020202020204" pitchFamily="34" charset="0"/>
                        <a:buNone/>
                      </a:pPr>
                      <a:endParaRPr lang="en-US" sz="1200" b="0" dirty="0">
                        <a:solidFill>
                          <a:schemeClr val="tx2"/>
                        </a:solidFill>
                        <a:latin typeface="Arial" pitchFamily="34" charset="0"/>
                      </a:endParaRPr>
                    </a:p>
                  </a:txBody>
                  <a:tcPr anchor="ctr">
                    <a:lnB w="12700" cap="flat" cmpd="sng" algn="ctr">
                      <a:solidFill>
                        <a:schemeClr val="accent1"/>
                      </a:solidFill>
                      <a:prstDash val="solid"/>
                      <a:round/>
                      <a:headEnd type="none" w="med" len="med"/>
                      <a:tailEnd type="none" w="med" len="med"/>
                    </a:lnB>
                  </a:tcPr>
                </a:tc>
                <a:tc>
                  <a:txBody>
                    <a:bodyPr/>
                    <a:lstStyle/>
                    <a:p>
                      <a:pPr algn="l">
                        <a:spcAft>
                          <a:spcPts val="360"/>
                        </a:spcAft>
                      </a:pPr>
                      <a:r>
                        <a:rPr lang="en-US" sz="1200" b="0" u="none" strike="noStrike" dirty="0">
                          <a:solidFill>
                            <a:schemeClr val="tx2"/>
                          </a:solidFill>
                          <a:effectLst/>
                        </a:rPr>
                        <a:t>Integrated food distribution company</a:t>
                      </a:r>
                      <a:endParaRPr lang="en-US" sz="1200" b="0" i="0" u="none" strike="noStrike" dirty="0">
                        <a:solidFill>
                          <a:schemeClr val="tx2"/>
                        </a:solidFill>
                        <a:effectLst/>
                        <a:latin typeface="Arial" pitchFamily="34" charset="0"/>
                        <a:ea typeface="Lato" panose="020F0502020204030203" pitchFamily="34" charset="0"/>
                        <a:cs typeface="Lato" panose="020F0502020204030203" pitchFamily="34" charset="0"/>
                      </a:endParaRPr>
                    </a:p>
                  </a:txBody>
                  <a:tcPr anchor="ct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0220662"/>
                  </a:ext>
                </a:extLst>
              </a:tr>
              <a:tr h="408059">
                <a:tc>
                  <a:txBody>
                    <a:bodyPr/>
                    <a:lstStyle/>
                    <a:p>
                      <a:pPr marL="0" indent="0" algn="r" hangingPunct="0">
                        <a:buFont typeface="Arial" panose="020B0604020202020204" pitchFamily="34" charset="0"/>
                        <a:buNone/>
                      </a:pPr>
                      <a:r>
                        <a:rPr lang="en-US" sz="1200" b="0" dirty="0">
                          <a:solidFill>
                            <a:schemeClr val="tx2"/>
                          </a:solidFill>
                        </a:rPr>
                        <a:t>Management of contract farming</a:t>
                      </a:r>
                      <a:endParaRPr lang="en-US" sz="1200" b="0"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rgbClr val="7B828D"/>
                      </a:solidFill>
                      <a:prstDash val="solid"/>
                      <a:round/>
                      <a:headEnd type="none" w="med" len="med"/>
                      <a:tailEnd type="none" w="med" len="med"/>
                    </a:lnB>
                  </a:tcPr>
                </a:tc>
                <a:tc>
                  <a:txBody>
                    <a:bodyPr/>
                    <a:lstStyle/>
                    <a:p>
                      <a:pPr marL="0" indent="0" hangingPunct="0">
                        <a:buFont typeface="Arial" panose="020B0604020202020204" pitchFamily="34" charset="0"/>
                        <a:buNone/>
                      </a:pPr>
                      <a:endParaRPr lang="en-US" sz="1200" b="0" u="none"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rgbClr val="7B828D"/>
                      </a:solidFill>
                      <a:prstDash val="solid"/>
                      <a:round/>
                      <a:headEnd type="none" w="med" len="med"/>
                      <a:tailEnd type="none" w="med" len="med"/>
                    </a:lnB>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GB" sz="1200" b="0" kern="1200" dirty="0">
                          <a:solidFill>
                            <a:schemeClr val="tx2"/>
                          </a:solidFill>
                          <a:effectLst/>
                        </a:rPr>
                        <a:t>Innovation driver in Agri-tech</a:t>
                      </a:r>
                      <a:endParaRPr lang="en-GB" sz="1200" b="0" kern="1200" dirty="0">
                        <a:solidFill>
                          <a:schemeClr val="tx2"/>
                        </a:solidFill>
                        <a:effectLst/>
                        <a:latin typeface="Arial" pitchFamily="34" charset="0"/>
                        <a:ea typeface="Lato" panose="020F0502020204030203" pitchFamily="34" charset="0"/>
                        <a:cs typeface="Lato" panose="020F0502020204030203"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rgbClr val="7B828D"/>
                      </a:solidFill>
                      <a:prstDash val="solid"/>
                      <a:round/>
                      <a:headEnd type="none" w="med" len="med"/>
                      <a:tailEnd type="none" w="med" len="med"/>
                    </a:lnB>
                  </a:tcPr>
                </a:tc>
                <a:extLst>
                  <a:ext uri="{0D108BD9-81ED-4DB2-BD59-A6C34878D82A}">
                    <a16:rowId xmlns:a16="http://schemas.microsoft.com/office/drawing/2014/main" val="184803442"/>
                  </a:ext>
                </a:extLst>
              </a:tr>
              <a:tr h="319507">
                <a:tc>
                  <a:txBody>
                    <a:bodyPr/>
                    <a:lstStyle/>
                    <a:p>
                      <a:pPr marL="0" marR="0" lvl="0" indent="0" algn="r"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200" b="0" dirty="0">
                          <a:solidFill>
                            <a:schemeClr val="tx2"/>
                          </a:solidFill>
                        </a:rPr>
                        <a:t>Grants dependent &amp; sub-scale entities</a:t>
                      </a:r>
                      <a:endParaRPr lang="en-US" sz="1200" b="0" dirty="0">
                        <a:solidFill>
                          <a:schemeClr val="tx2"/>
                        </a:solidFill>
                        <a:latin typeface="Arial" pitchFamily="34" charset="0"/>
                      </a:endParaRPr>
                    </a:p>
                  </a:txBody>
                  <a:tcPr anchor="ctr">
                    <a:lnT w="12700" cap="flat" cmpd="sng" algn="ctr">
                      <a:solidFill>
                        <a:srgbClr val="7B828D"/>
                      </a:solidFill>
                      <a:prstDash val="solid"/>
                      <a:round/>
                      <a:headEnd type="none" w="med" len="med"/>
                      <a:tailEnd type="none" w="med" len="med"/>
                    </a:lnT>
                  </a:tcPr>
                </a:tc>
                <a:tc>
                  <a:txBody>
                    <a:bodyPr/>
                    <a:lstStyle/>
                    <a:p>
                      <a:pPr marL="0" indent="0" hangingPunct="0">
                        <a:buFont typeface="Arial" panose="020B0604020202020204" pitchFamily="34" charset="0"/>
                        <a:buNone/>
                      </a:pPr>
                      <a:endParaRPr lang="en-US" sz="1200" b="0" u="none" dirty="0">
                        <a:solidFill>
                          <a:schemeClr val="tx2"/>
                        </a:solidFill>
                        <a:latin typeface="Arial" pitchFamily="34" charset="0"/>
                      </a:endParaRPr>
                    </a:p>
                  </a:txBody>
                  <a:tcPr anchor="ctr">
                    <a:lnT w="12700" cap="flat" cmpd="sng" algn="ctr">
                      <a:solidFill>
                        <a:srgbClr val="7B828D"/>
                      </a:solidFill>
                      <a:prstDash val="solid"/>
                      <a:round/>
                      <a:headEnd type="none" w="med" len="med"/>
                      <a:tailEnd type="none" w="med" len="med"/>
                    </a:lnT>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200" b="0" u="none" strike="noStrike" dirty="0">
                          <a:solidFill>
                            <a:schemeClr val="tx2"/>
                          </a:solidFill>
                          <a:effectLst/>
                        </a:rPr>
                        <a:t>Commercially sustainable, profitable &amp; independent company</a:t>
                      </a:r>
                      <a:endParaRPr lang="en-US" sz="1200" b="0" i="0" u="none" strike="noStrike" dirty="0">
                        <a:solidFill>
                          <a:schemeClr val="tx2"/>
                        </a:solidFill>
                        <a:effectLst/>
                        <a:latin typeface="Arial" pitchFamily="34" charset="0"/>
                        <a:ea typeface="Lato" panose="020F0502020204030203" pitchFamily="34" charset="0"/>
                        <a:cs typeface="Lato" panose="020F0502020204030203" pitchFamily="34" charset="0"/>
                      </a:endParaRPr>
                    </a:p>
                  </a:txBody>
                  <a:tcPr anchor="ctr">
                    <a:lnT w="12700" cap="flat" cmpd="sng" algn="ctr">
                      <a:solidFill>
                        <a:srgbClr val="7B828D"/>
                      </a:solidFill>
                      <a:prstDash val="solid"/>
                      <a:round/>
                      <a:headEnd type="none" w="med" len="med"/>
                      <a:tailEnd type="none" w="med" len="med"/>
                    </a:lnT>
                  </a:tcPr>
                </a:tc>
                <a:extLst>
                  <a:ext uri="{0D108BD9-81ED-4DB2-BD59-A6C34878D82A}">
                    <a16:rowId xmlns:a16="http://schemas.microsoft.com/office/drawing/2014/main" val="2680669488"/>
                  </a:ext>
                </a:extLst>
              </a:tr>
            </a:tbl>
          </a:graphicData>
        </a:graphic>
      </p:graphicFrame>
      <p:sp>
        <p:nvSpPr>
          <p:cNvPr id="6" name="Triangle 73">
            <a:extLst>
              <a:ext uri="{FF2B5EF4-FFF2-40B4-BE49-F238E27FC236}">
                <a16:creationId xmlns:a16="http://schemas.microsoft.com/office/drawing/2014/main" id="{AD3E4F4C-030F-9516-1098-1E9973C04758}"/>
              </a:ext>
            </a:extLst>
          </p:cNvPr>
          <p:cNvSpPr/>
          <p:nvPr/>
        </p:nvSpPr>
        <p:spPr>
          <a:xfrm rot="5400000">
            <a:off x="5230510" y="1535689"/>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 name="Triangle 73">
            <a:extLst>
              <a:ext uri="{FF2B5EF4-FFF2-40B4-BE49-F238E27FC236}">
                <a16:creationId xmlns:a16="http://schemas.microsoft.com/office/drawing/2014/main" id="{453C01EF-2AA7-D266-1264-CFCAF1CAA51C}"/>
              </a:ext>
            </a:extLst>
          </p:cNvPr>
          <p:cNvSpPr/>
          <p:nvPr/>
        </p:nvSpPr>
        <p:spPr>
          <a:xfrm rot="5400000">
            <a:off x="5230207" y="1131773"/>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8" name="Triangle 73">
            <a:extLst>
              <a:ext uri="{FF2B5EF4-FFF2-40B4-BE49-F238E27FC236}">
                <a16:creationId xmlns:a16="http://schemas.microsoft.com/office/drawing/2014/main" id="{E98F72AF-A632-F015-694D-E7DA52680DCE}"/>
              </a:ext>
            </a:extLst>
          </p:cNvPr>
          <p:cNvSpPr/>
          <p:nvPr/>
        </p:nvSpPr>
        <p:spPr>
          <a:xfrm rot="5400000">
            <a:off x="5230207" y="193687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9" name="Rectangle: Rounded Corners 45">
            <a:extLst>
              <a:ext uri="{FF2B5EF4-FFF2-40B4-BE49-F238E27FC236}">
                <a16:creationId xmlns:a16="http://schemas.microsoft.com/office/drawing/2014/main" id="{96E2FDB0-8F41-85CB-EF2E-4D3633371194}"/>
              </a:ext>
            </a:extLst>
          </p:cNvPr>
          <p:cNvSpPr/>
          <p:nvPr/>
        </p:nvSpPr>
        <p:spPr>
          <a:xfrm>
            <a:off x="3024525"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000" kern="1200" spc="-10" dirty="0">
                <a:solidFill>
                  <a:schemeClr val="tx1"/>
                </a:solidFill>
                <a:latin typeface="Arial" pitchFamily="34" charset="0"/>
              </a:rPr>
              <a:t>STRATEGY </a:t>
            </a:r>
            <a:endParaRPr kumimoji="0" lang="en-US" sz="1000" b="0" i="0" u="none" strike="noStrike" kern="1200" cap="none" spc="-10" normalizeH="0" baseline="0" noProof="0" dirty="0">
              <a:ln>
                <a:noFill/>
              </a:ln>
              <a:solidFill>
                <a:schemeClr val="tx1"/>
              </a:solidFill>
              <a:effectLst/>
              <a:uLnTx/>
              <a:uFillTx/>
              <a:latin typeface="Arial" pitchFamily="34" charset="0"/>
            </a:endParaRPr>
          </a:p>
        </p:txBody>
      </p:sp>
      <p:sp>
        <p:nvSpPr>
          <p:cNvPr id="10" name="Rectangle: Rounded Corners 47">
            <a:extLst>
              <a:ext uri="{FF2B5EF4-FFF2-40B4-BE49-F238E27FC236}">
                <a16:creationId xmlns:a16="http://schemas.microsoft.com/office/drawing/2014/main" id="{531422B9-0A59-432C-0CDB-CF42399A607E}"/>
              </a:ext>
            </a:extLst>
          </p:cNvPr>
          <p:cNvSpPr/>
          <p:nvPr/>
        </p:nvSpPr>
        <p:spPr>
          <a:xfrm>
            <a:off x="7497769"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IT FOUNDATIONS </a:t>
            </a:r>
          </a:p>
        </p:txBody>
      </p:sp>
      <p:sp>
        <p:nvSpPr>
          <p:cNvPr id="11" name="Rectangle: Rounded Corners 48">
            <a:extLst>
              <a:ext uri="{FF2B5EF4-FFF2-40B4-BE49-F238E27FC236}">
                <a16:creationId xmlns:a16="http://schemas.microsoft.com/office/drawing/2014/main" id="{99FDEE34-1D42-D998-C1E6-23DB21A7E259}"/>
              </a:ext>
            </a:extLst>
          </p:cNvPr>
          <p:cNvSpPr/>
          <p:nvPr/>
        </p:nvSpPr>
        <p:spPr>
          <a:xfrm>
            <a:off x="9734392"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HUMAN CAPITAL &amp; CULTURE</a:t>
            </a:r>
          </a:p>
        </p:txBody>
      </p:sp>
      <p:cxnSp>
        <p:nvCxnSpPr>
          <p:cNvPr id="12" name="Straight Arrow Connector 11">
            <a:extLst>
              <a:ext uri="{FF2B5EF4-FFF2-40B4-BE49-F238E27FC236}">
                <a16:creationId xmlns:a16="http://schemas.microsoft.com/office/drawing/2014/main" id="{EBC7E874-0771-7853-EABC-3B5BFA6D275A}"/>
              </a:ext>
            </a:extLst>
          </p:cNvPr>
          <p:cNvCxnSpPr>
            <a:cxnSpLocks/>
          </p:cNvCxnSpPr>
          <p:nvPr/>
        </p:nvCxnSpPr>
        <p:spPr>
          <a:xfrm>
            <a:off x="787903" y="5607289"/>
            <a:ext cx="10926490" cy="0"/>
          </a:xfrm>
          <a:prstGeom prst="straightConnector1">
            <a:avLst/>
          </a:prstGeom>
          <a:ln>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53">
            <a:extLst>
              <a:ext uri="{FF2B5EF4-FFF2-40B4-BE49-F238E27FC236}">
                <a16:creationId xmlns:a16="http://schemas.microsoft.com/office/drawing/2014/main" id="{EAA0763A-3B68-3BDF-D4F0-96B09E970E13}"/>
              </a:ext>
            </a:extLst>
          </p:cNvPr>
          <p:cNvSpPr/>
          <p:nvPr/>
        </p:nvSpPr>
        <p:spPr>
          <a:xfrm>
            <a:off x="5261147"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ESG </a:t>
            </a:r>
          </a:p>
        </p:txBody>
      </p:sp>
      <p:sp>
        <p:nvSpPr>
          <p:cNvPr id="14" name="Rectangle: Rounded Corners 45">
            <a:extLst>
              <a:ext uri="{FF2B5EF4-FFF2-40B4-BE49-F238E27FC236}">
                <a16:creationId xmlns:a16="http://schemas.microsoft.com/office/drawing/2014/main" id="{BEEEE0CF-BB86-3A05-EDF2-28AB19E3488F}"/>
              </a:ext>
            </a:extLst>
          </p:cNvPr>
          <p:cNvSpPr/>
          <p:nvPr/>
        </p:nvSpPr>
        <p:spPr>
          <a:xfrm>
            <a:off x="787903"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FINANCIAL ACUMEN </a:t>
            </a:r>
          </a:p>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&amp; RISK MANAGEMENT</a:t>
            </a:r>
          </a:p>
        </p:txBody>
      </p:sp>
      <p:sp>
        <p:nvSpPr>
          <p:cNvPr id="15" name="Rounded Rectangle 18">
            <a:extLst>
              <a:ext uri="{FF2B5EF4-FFF2-40B4-BE49-F238E27FC236}">
                <a16:creationId xmlns:a16="http://schemas.microsoft.com/office/drawing/2014/main" id="{73B6FFB5-D353-79C2-D98D-0336154417EE}"/>
              </a:ext>
            </a:extLst>
          </p:cNvPr>
          <p:cNvSpPr/>
          <p:nvPr/>
        </p:nvSpPr>
        <p:spPr>
          <a:xfrm>
            <a:off x="5011251" y="5420003"/>
            <a:ext cx="2479794" cy="359997"/>
          </a:xfrm>
          <a:prstGeom prst="roundRect">
            <a:avLst/>
          </a:prstGeom>
          <a:solidFill>
            <a:srgbClr val="91929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en-US" sz="1200" b="1" kern="0" spc="-10" dirty="0">
                <a:solidFill>
                  <a:schemeClr val="bg1"/>
                </a:solidFill>
                <a:latin typeface="Segoe UI" pitchFamily="34" charset="0"/>
                <a:ea typeface="Lato" panose="020F0502020204030203" pitchFamily="34" charset="0"/>
                <a:cs typeface="Lato" panose="020F0502020204030203" pitchFamily="34" charset="0"/>
              </a:rPr>
              <a:t>ENABLERS </a:t>
            </a:r>
            <a:r>
              <a:rPr lang="en-US" sz="2000" b="1" kern="0" spc="-10" dirty="0">
                <a:solidFill>
                  <a:schemeClr val="bg1"/>
                </a:solidFill>
                <a:latin typeface="Segoe UI" pitchFamily="34" charset="0"/>
                <a:ea typeface="Lato" panose="020F0502020204030203" pitchFamily="34" charset="0"/>
                <a:cs typeface="Lato" panose="020F0502020204030203" pitchFamily="34" charset="0"/>
              </a:rPr>
              <a:t>15%</a:t>
            </a:r>
            <a:endParaRPr lang="en-US" sz="1200" b="1" kern="0" spc="-10" dirty="0">
              <a:solidFill>
                <a:schemeClr val="bg1"/>
              </a:solidFill>
              <a:latin typeface="Segoe UI" pitchFamily="34" charset="0"/>
              <a:ea typeface="Lato" panose="020F0502020204030203" pitchFamily="34" charset="0"/>
              <a:cs typeface="Lato" panose="020F0502020204030203" pitchFamily="34" charset="0"/>
            </a:endParaRPr>
          </a:p>
        </p:txBody>
      </p:sp>
      <p:sp>
        <p:nvSpPr>
          <p:cNvPr id="16" name="Rounded Rectangle 19">
            <a:extLst>
              <a:ext uri="{FF2B5EF4-FFF2-40B4-BE49-F238E27FC236}">
                <a16:creationId xmlns:a16="http://schemas.microsoft.com/office/drawing/2014/main" id="{74BE88D7-1FCF-8435-D221-B05A87C531D2}"/>
              </a:ext>
            </a:extLst>
          </p:cNvPr>
          <p:cNvSpPr/>
          <p:nvPr/>
        </p:nvSpPr>
        <p:spPr>
          <a:xfrm>
            <a:off x="632755" y="3451892"/>
            <a:ext cx="2044344" cy="1955041"/>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Complete Integration</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of new acquisition X into HoldCo</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Leverage new capabilities to accelerate organic growth</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by </a:t>
            </a: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increasing customer base &amp; value-added services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 Country 1 &amp; 2</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Expand offering to win ‘center of plate’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beyond core F&amp;V portfolio – proteins, key staples and value add products / solutions</a:t>
            </a:r>
          </a:p>
          <a:p>
            <a:pPr marL="180975" indent="-180975" algn="l" rtl="0">
              <a:buFont typeface="Arial" panose="020B0604020202020204" pitchFamily="34" charset="0"/>
              <a:buChar char="•"/>
              <a:defRPr/>
            </a:pP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Unlock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subsidiary synergies to grow pest controls and services</a:t>
            </a:r>
          </a:p>
          <a:p>
            <a:pPr marL="180975" indent="-180975" algn="l" rtl="0">
              <a:buFont typeface="Arial" panose="020B0604020202020204" pitchFamily="34" charset="0"/>
              <a:buChar char="•"/>
              <a:defRPr/>
            </a:pP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Grow </a:t>
            </a:r>
            <a:r>
              <a:rPr lang="en-US" sz="900" b="1" spc="-10" dirty="0">
                <a:solidFill>
                  <a:schemeClr val="tx2"/>
                </a:solidFill>
                <a:latin typeface="Arial" panose="020B0604020202020204" pitchFamily="34" charset="0"/>
                <a:ea typeface="Lato" panose="020F0502020204030203" pitchFamily="34" charset="0"/>
                <a:cs typeface="Arial" panose="020B0604020202020204" pitchFamily="34" charset="0"/>
              </a:rPr>
              <a:t>commodity distribution </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17" name="Rounded Rectangle 20">
            <a:extLst>
              <a:ext uri="{FF2B5EF4-FFF2-40B4-BE49-F238E27FC236}">
                <a16:creationId xmlns:a16="http://schemas.microsoft.com/office/drawing/2014/main" id="{71EFA62B-D0EA-F023-68FB-EC2C002029D0}"/>
              </a:ext>
            </a:extLst>
          </p:cNvPr>
          <p:cNvSpPr/>
          <p:nvPr/>
        </p:nvSpPr>
        <p:spPr>
          <a:xfrm>
            <a:off x="7342621" y="3421071"/>
            <a:ext cx="1980000" cy="1900932"/>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Expand product categories </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with a focus on integrated red meat, seafood, rice, and pulses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Integrate upstream and downstream value chains, </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including production, manufacturing, processing, packaging, and market routes (e.g., B2B wholesale)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Form joint ventures, strategic partnerships</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and pursue opportunistic M&amp;A to grow business in select markets</a:t>
            </a:r>
          </a:p>
        </p:txBody>
      </p:sp>
      <p:sp>
        <p:nvSpPr>
          <p:cNvPr id="18" name="Rounded Rectangle 21">
            <a:extLst>
              <a:ext uri="{FF2B5EF4-FFF2-40B4-BE49-F238E27FC236}">
                <a16:creationId xmlns:a16="http://schemas.microsoft.com/office/drawing/2014/main" id="{E0CE06CE-3F74-7AC3-4110-5EFFC98C1562}"/>
              </a:ext>
            </a:extLst>
          </p:cNvPr>
          <p:cNvSpPr/>
          <p:nvPr/>
        </p:nvSpPr>
        <p:spPr>
          <a:xfrm>
            <a:off x="9579245" y="3451893"/>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lang="en-US" sz="900" b="1" spc="-10" dirty="0">
                <a:solidFill>
                  <a:schemeClr val="tx2"/>
                </a:solidFill>
                <a:latin typeface="Arial" panose="020B0604020202020204" pitchFamily="34" charset="0"/>
                <a:ea typeface="Lato" panose="020F0502020204030203" pitchFamily="34" charset="0"/>
                <a:cs typeface="Arial" panose="020B0604020202020204" pitchFamily="34" charset="0"/>
              </a:rPr>
              <a:t>Develop a Digital Strategy &amp; roadmap </a:t>
            </a: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to drive innovation in agriculture and food value chains</a:t>
            </a:r>
            <a:endParaRPr kumimoji="0" lang="en-GB"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19" name="Rounded Rectangle 22">
            <a:extLst>
              <a:ext uri="{FF2B5EF4-FFF2-40B4-BE49-F238E27FC236}">
                <a16:creationId xmlns:a16="http://schemas.microsoft.com/office/drawing/2014/main" id="{FC0C12FA-C3C7-38C6-E74C-2717117B10ED}"/>
              </a:ext>
            </a:extLst>
          </p:cNvPr>
          <p:cNvSpPr/>
          <p:nvPr/>
        </p:nvSpPr>
        <p:spPr>
          <a:xfrm>
            <a:off x="5105999" y="3451893"/>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Build R&amp;D capabilities to enhance farmer eco-system, &amp; provide local farmer support </a:t>
            </a: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(improving yield, novel crops)</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Optimize management of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strategic food reserves through food security intelligence </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Strengthen crisis management</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capabilities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Manage risk, continue rotation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of commodities (esp. sugar)</a:t>
            </a:r>
          </a:p>
        </p:txBody>
      </p:sp>
      <p:sp>
        <p:nvSpPr>
          <p:cNvPr id="20" name="Rounded Rectangle 23">
            <a:extLst>
              <a:ext uri="{FF2B5EF4-FFF2-40B4-BE49-F238E27FC236}">
                <a16:creationId xmlns:a16="http://schemas.microsoft.com/office/drawing/2014/main" id="{3977174B-1BAD-1EA2-6F07-7EABE8DF74B9}"/>
              </a:ext>
            </a:extLst>
          </p:cNvPr>
          <p:cNvSpPr/>
          <p:nvPr/>
        </p:nvSpPr>
        <p:spPr>
          <a:xfrm>
            <a:off x="2869377" y="3451631"/>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Integrate F&amp;V Retail and Wholesale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channels with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AA</a:t>
            </a: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Extract synergies, restructure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F&amp;V BU</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right-sizing commercial and operations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Leverage capabilities to accelerate organic </a:t>
            </a: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growth by growing and expanding into new product categories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across in key markets</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in Country 1, Country 2, Region A</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21" name="Round Same-side Corner of Rectangle 14">
            <a:extLst>
              <a:ext uri="{FF2B5EF4-FFF2-40B4-BE49-F238E27FC236}">
                <a16:creationId xmlns:a16="http://schemas.microsoft.com/office/drawing/2014/main" id="{77094762-B9B0-08F8-8D01-C82BFBBDBB3F}"/>
              </a:ext>
            </a:extLst>
          </p:cNvPr>
          <p:cNvSpPr/>
          <p:nvPr/>
        </p:nvSpPr>
        <p:spPr>
          <a:xfrm>
            <a:off x="3024525" y="2523453"/>
            <a:ext cx="1728000" cy="768632"/>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20%</a:t>
            </a:r>
          </a:p>
        </p:txBody>
      </p:sp>
      <p:sp>
        <p:nvSpPr>
          <p:cNvPr id="22" name="Round Same-side Corner of Rectangle 15">
            <a:extLst>
              <a:ext uri="{FF2B5EF4-FFF2-40B4-BE49-F238E27FC236}">
                <a16:creationId xmlns:a16="http://schemas.microsoft.com/office/drawing/2014/main" id="{503F21BB-C30E-B502-8142-932C78B4F3AD}"/>
              </a:ext>
            </a:extLst>
          </p:cNvPr>
          <p:cNvSpPr/>
          <p:nvPr/>
        </p:nvSpPr>
        <p:spPr>
          <a:xfrm>
            <a:off x="5231999" y="2523453"/>
            <a:ext cx="1728000" cy="768632"/>
          </a:xfrm>
          <a:prstGeom prst="round2SameRect">
            <a:avLst>
              <a:gd name="adj1" fmla="val 6396"/>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20%</a:t>
            </a:r>
          </a:p>
        </p:txBody>
      </p:sp>
      <p:sp>
        <p:nvSpPr>
          <p:cNvPr id="23" name="Round Same-side Corner of Rectangle 16">
            <a:extLst>
              <a:ext uri="{FF2B5EF4-FFF2-40B4-BE49-F238E27FC236}">
                <a16:creationId xmlns:a16="http://schemas.microsoft.com/office/drawing/2014/main" id="{F9981C48-ABE2-B68A-3F53-599517FE0702}"/>
              </a:ext>
            </a:extLst>
          </p:cNvPr>
          <p:cNvSpPr/>
          <p:nvPr/>
        </p:nvSpPr>
        <p:spPr>
          <a:xfrm>
            <a:off x="7371769" y="2523452"/>
            <a:ext cx="1728000" cy="775995"/>
          </a:xfrm>
          <a:prstGeom prst="round2SameRect">
            <a:avLst>
              <a:gd name="adj1" fmla="val 8450"/>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a:solidFill>
                  <a:srgbClr val="FFFFFF"/>
                </a:solidFill>
              </a:defRPr>
            </a:pPr>
            <a:r>
              <a:rPr lang="en-US" sz="2000" b="1" spc="-10" dirty="0">
                <a:solidFill>
                  <a:schemeClr val="bg1"/>
                </a:solidFill>
                <a:latin typeface="Segoe UI" pitchFamily="34" charset="0"/>
              </a:rPr>
              <a:t>10%</a:t>
            </a:r>
          </a:p>
        </p:txBody>
      </p:sp>
      <p:sp>
        <p:nvSpPr>
          <p:cNvPr id="24" name="Round Same-side Corner of Rectangle 17">
            <a:extLst>
              <a:ext uri="{FF2B5EF4-FFF2-40B4-BE49-F238E27FC236}">
                <a16:creationId xmlns:a16="http://schemas.microsoft.com/office/drawing/2014/main" id="{157516B5-5540-9D48-B26F-046EF577D225}"/>
              </a:ext>
            </a:extLst>
          </p:cNvPr>
          <p:cNvSpPr/>
          <p:nvPr/>
        </p:nvSpPr>
        <p:spPr>
          <a:xfrm>
            <a:off x="9676097" y="2523453"/>
            <a:ext cx="1728000" cy="768632"/>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DIGITAL </a:t>
            </a:r>
            <a:endParaRPr lang="en-US" sz="1200" b="1" spc="-10" dirty="0">
              <a:solidFill>
                <a:schemeClr val="bg1"/>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lang="en-US" sz="1200" b="1" spc="-10" dirty="0">
              <a:solidFill>
                <a:schemeClr val="bg1"/>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2000" b="1" spc="-10" dirty="0">
                <a:solidFill>
                  <a:schemeClr val="bg1"/>
                </a:solidFill>
                <a:latin typeface="Segoe UI" pitchFamily="34" charset="0"/>
              </a:rPr>
              <a:t>5%</a:t>
            </a:r>
          </a:p>
        </p:txBody>
      </p:sp>
      <p:sp>
        <p:nvSpPr>
          <p:cNvPr id="25" name="Round Same-side Corner of Rectangle 14">
            <a:extLst>
              <a:ext uri="{FF2B5EF4-FFF2-40B4-BE49-F238E27FC236}">
                <a16:creationId xmlns:a16="http://schemas.microsoft.com/office/drawing/2014/main" id="{3A935110-0D5B-A75F-12FE-6FB20A62D92E}"/>
              </a:ext>
            </a:extLst>
          </p:cNvPr>
          <p:cNvSpPr/>
          <p:nvPr/>
        </p:nvSpPr>
        <p:spPr>
          <a:xfrm>
            <a:off x="787903" y="2510550"/>
            <a:ext cx="1728000" cy="768632"/>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200" b="1" spc="-10" dirty="0">
                <a:solidFill>
                  <a:schemeClr val="bg1"/>
                </a:solidFill>
                <a:latin typeface="Segoe UI" pitchFamily="34" charset="0"/>
                <a:ea typeface="Lato" panose="020F0502020204030203" pitchFamily="34" charset="0"/>
                <a:cs typeface="Lato" panose="020F0502020204030203" pitchFamily="34" charset="0"/>
              </a:rPr>
              <a:t>FOODSERVICE</a:t>
            </a: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30%</a:t>
            </a:r>
          </a:p>
        </p:txBody>
      </p:sp>
      <p:sp>
        <p:nvSpPr>
          <p:cNvPr id="26" name="Rectangle: Rounded Corners 5">
            <a:extLst>
              <a:ext uri="{FF2B5EF4-FFF2-40B4-BE49-F238E27FC236}">
                <a16:creationId xmlns:a16="http://schemas.microsoft.com/office/drawing/2014/main" id="{1475D5BB-F959-8EC9-C014-2A24501E2B96}"/>
              </a:ext>
            </a:extLst>
          </p:cNvPr>
          <p:cNvSpPr/>
          <p:nvPr/>
        </p:nvSpPr>
        <p:spPr>
          <a:xfrm rot="16200000">
            <a:off x="-206496" y="1330144"/>
            <a:ext cx="1192256"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spc="-25" dirty="0">
                <a:solidFill>
                  <a:srgbClr val="1D1D1D"/>
                </a:solidFill>
                <a:latin typeface="Arial" panose="020B0604020202020204" pitchFamily="34" charset="0"/>
                <a:cs typeface="Arial" panose="020B0604020202020204" pitchFamily="34" charset="0"/>
              </a:rPr>
              <a:t>STRATEGIC PIVOTS</a:t>
            </a:r>
            <a:endParaRPr lang="LID4096" sz="1400" spc="-25" dirty="0">
              <a:solidFill>
                <a:srgbClr val="1D1D1D"/>
              </a:solidFill>
              <a:latin typeface="Arial" panose="020B0604020202020204" pitchFamily="34" charset="0"/>
              <a:cs typeface="Arial" panose="020B0604020202020204" pitchFamily="34" charset="0"/>
            </a:endParaRPr>
          </a:p>
        </p:txBody>
      </p:sp>
      <p:sp>
        <p:nvSpPr>
          <p:cNvPr id="27" name="Rectangle: Rounded Corners 6">
            <a:extLst>
              <a:ext uri="{FF2B5EF4-FFF2-40B4-BE49-F238E27FC236}">
                <a16:creationId xmlns:a16="http://schemas.microsoft.com/office/drawing/2014/main" id="{2AE5E6E1-23CD-2349-B0D3-4B4F4886A754}"/>
              </a:ext>
            </a:extLst>
          </p:cNvPr>
          <p:cNvSpPr/>
          <p:nvPr/>
        </p:nvSpPr>
        <p:spPr>
          <a:xfrm rot="16200000">
            <a:off x="-287658" y="2649556"/>
            <a:ext cx="1354580"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rgbClr val="1D1D1D"/>
                </a:solidFill>
                <a:latin typeface="Arial" panose="020B0604020202020204" pitchFamily="34" charset="0"/>
                <a:cs typeface="Arial" panose="020B0604020202020204" pitchFamily="34" charset="0"/>
              </a:rPr>
              <a:t>VALUE HOTSPOTS</a:t>
            </a:r>
            <a:endParaRPr lang="LID4096" sz="1400" dirty="0">
              <a:solidFill>
                <a:srgbClr val="1D1D1D"/>
              </a:solidFill>
              <a:latin typeface="Arial" panose="020B0604020202020204" pitchFamily="34" charset="0"/>
              <a:cs typeface="Arial" panose="020B0604020202020204" pitchFamily="34" charset="0"/>
            </a:endParaRPr>
          </a:p>
        </p:txBody>
      </p:sp>
      <p:sp>
        <p:nvSpPr>
          <p:cNvPr id="28" name="Rectangle: Rounded Corners 7">
            <a:extLst>
              <a:ext uri="{FF2B5EF4-FFF2-40B4-BE49-F238E27FC236}">
                <a16:creationId xmlns:a16="http://schemas.microsoft.com/office/drawing/2014/main" id="{E6C24EBF-F4F4-6B03-44CB-1F4A124CF4A1}"/>
              </a:ext>
            </a:extLst>
          </p:cNvPr>
          <p:cNvSpPr/>
          <p:nvPr/>
        </p:nvSpPr>
        <p:spPr>
          <a:xfrm rot="16200000">
            <a:off x="-287658" y="4059256"/>
            <a:ext cx="1354580"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rgbClr val="1D1D1D"/>
                </a:solidFill>
                <a:latin typeface="Arial" panose="020B0604020202020204" pitchFamily="34" charset="0"/>
                <a:cs typeface="Arial" panose="020B0604020202020204" pitchFamily="34" charset="0"/>
              </a:rPr>
              <a:t>WORK HEADLINES </a:t>
            </a:r>
            <a:endParaRPr lang="LID4096" sz="1400" dirty="0">
              <a:solidFill>
                <a:srgbClr val="1D1D1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0210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10306D-0ED4-5849-C48D-49336C6042CA}"/>
              </a:ext>
            </a:extLst>
          </p:cNvPr>
          <p:cNvSpPr>
            <a:spLocks noGrp="1"/>
          </p:cNvSpPr>
          <p:nvPr>
            <p:ph type="sldNum" sz="quarter" idx="4"/>
          </p:nvPr>
        </p:nvSpPr>
        <p:spPr/>
        <p:txBody>
          <a:bodyPr/>
          <a:lstStyle/>
          <a:p>
            <a:pPr algn="ctr"/>
            <a:fld id="{1875A764-3B06-454E-8ABA-2F6ED0EB58E9}" type="slidenum">
              <a:rPr lang="en-US" smtClean="0"/>
              <a:t>28</a:t>
            </a:fld>
            <a:endParaRPr lang="en-US"/>
          </a:p>
        </p:txBody>
      </p:sp>
      <p:sp>
        <p:nvSpPr>
          <p:cNvPr id="3" name="Title 2">
            <a:extLst>
              <a:ext uri="{FF2B5EF4-FFF2-40B4-BE49-F238E27FC236}">
                <a16:creationId xmlns:a16="http://schemas.microsoft.com/office/drawing/2014/main" id="{B49B02D4-9904-1C3A-6A7D-069FA1074E0F}"/>
              </a:ext>
            </a:extLst>
          </p:cNvPr>
          <p:cNvSpPr>
            <a:spLocks noGrp="1"/>
          </p:cNvSpPr>
          <p:nvPr>
            <p:ph type="title"/>
          </p:nvPr>
        </p:nvSpPr>
        <p:spPr/>
        <p:txBody>
          <a:bodyPr/>
          <a:lstStyle/>
          <a:p>
            <a:r>
              <a:rPr lang="en-GB" dirty="0">
                <a:solidFill>
                  <a:srgbClr val="765FFF"/>
                </a:solidFill>
                <a:ea typeface="Lato"/>
                <a:cs typeface="Segoe UI" panose="020B0502040204020203" pitchFamily="34" charset="0"/>
              </a:rPr>
              <a:t>Critical Roles and Risks @</a:t>
            </a:r>
            <a:r>
              <a:rPr lang="en-GB" dirty="0">
                <a:ea typeface="Lato"/>
                <a:cs typeface="Segoe UI" panose="020B0502040204020203" pitchFamily="34" charset="0"/>
              </a:rPr>
              <a:t> Value Hotspots</a:t>
            </a:r>
            <a:endParaRPr lang="en-US" dirty="0"/>
          </a:p>
        </p:txBody>
      </p:sp>
      <p:sp>
        <p:nvSpPr>
          <p:cNvPr id="4" name="Rectangle 3">
            <a:extLst>
              <a:ext uri="{FF2B5EF4-FFF2-40B4-BE49-F238E27FC236}">
                <a16:creationId xmlns:a16="http://schemas.microsoft.com/office/drawing/2014/main" id="{326530DA-584D-A98A-4446-CA5A8B2A83BD}"/>
              </a:ext>
            </a:extLst>
          </p:cNvPr>
          <p:cNvSpPr/>
          <p:nvPr/>
        </p:nvSpPr>
        <p:spPr>
          <a:xfrm>
            <a:off x="600672" y="1771754"/>
            <a:ext cx="1677751"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$990M</a:t>
            </a:r>
          </a:p>
        </p:txBody>
      </p:sp>
      <p:sp>
        <p:nvSpPr>
          <p:cNvPr id="5" name="Rectangle 4">
            <a:extLst>
              <a:ext uri="{FF2B5EF4-FFF2-40B4-BE49-F238E27FC236}">
                <a16:creationId xmlns:a16="http://schemas.microsoft.com/office/drawing/2014/main" id="{7AC82A8D-448F-B17A-104B-E70A91373BCF}"/>
              </a:ext>
            </a:extLst>
          </p:cNvPr>
          <p:cNvSpPr/>
          <p:nvPr/>
        </p:nvSpPr>
        <p:spPr>
          <a:xfrm>
            <a:off x="2503622" y="1771754"/>
            <a:ext cx="1677750"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6" name="Rectangle 5">
            <a:extLst>
              <a:ext uri="{FF2B5EF4-FFF2-40B4-BE49-F238E27FC236}">
                <a16:creationId xmlns:a16="http://schemas.microsoft.com/office/drawing/2014/main" id="{65438697-4FEC-C201-03F9-335D704E3FE7}"/>
              </a:ext>
            </a:extLst>
          </p:cNvPr>
          <p:cNvSpPr/>
          <p:nvPr/>
        </p:nvSpPr>
        <p:spPr>
          <a:xfrm>
            <a:off x="4398822" y="1771754"/>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7" name="Rectangle 6">
            <a:extLst>
              <a:ext uri="{FF2B5EF4-FFF2-40B4-BE49-F238E27FC236}">
                <a16:creationId xmlns:a16="http://schemas.microsoft.com/office/drawing/2014/main" id="{BF473AB8-42D9-8ACE-7FFF-7E82C831D0D8}"/>
              </a:ext>
            </a:extLst>
          </p:cNvPr>
          <p:cNvSpPr/>
          <p:nvPr/>
        </p:nvSpPr>
        <p:spPr>
          <a:xfrm>
            <a:off x="6294015" y="1769700"/>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$330M</a:t>
            </a:r>
          </a:p>
        </p:txBody>
      </p:sp>
      <p:sp>
        <p:nvSpPr>
          <p:cNvPr id="8" name="Rectangle 7">
            <a:extLst>
              <a:ext uri="{FF2B5EF4-FFF2-40B4-BE49-F238E27FC236}">
                <a16:creationId xmlns:a16="http://schemas.microsoft.com/office/drawing/2014/main" id="{39FE151A-EA26-CEB0-11D6-A43D79F9F4DD}"/>
              </a:ext>
            </a:extLst>
          </p:cNvPr>
          <p:cNvSpPr/>
          <p:nvPr/>
        </p:nvSpPr>
        <p:spPr>
          <a:xfrm>
            <a:off x="8189199"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$165M</a:t>
            </a:r>
          </a:p>
        </p:txBody>
      </p:sp>
      <p:sp>
        <p:nvSpPr>
          <p:cNvPr id="9" name="Round Same-side Corner of Rectangle 13">
            <a:extLst>
              <a:ext uri="{FF2B5EF4-FFF2-40B4-BE49-F238E27FC236}">
                <a16:creationId xmlns:a16="http://schemas.microsoft.com/office/drawing/2014/main" id="{DCC9EC43-911F-25DF-6E10-F956F44E192B}"/>
              </a:ext>
            </a:extLst>
          </p:cNvPr>
          <p:cNvSpPr/>
          <p:nvPr/>
        </p:nvSpPr>
        <p:spPr>
          <a:xfrm>
            <a:off x="608421" y="1062232"/>
            <a:ext cx="1728000" cy="784324"/>
          </a:xfrm>
          <a:prstGeom prst="round2SameRect">
            <a:avLst>
              <a:gd name="adj1" fmla="val 9477"/>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Foodservice</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ea typeface="Lato" panose="020F0502020204030203" pitchFamily="34" charset="0"/>
                <a:cs typeface="Lato" panose="020F0502020204030203" pitchFamily="34" charset="0"/>
              </a:rPr>
              <a:t>30</a:t>
            </a:r>
            <a:r>
              <a:rPr kumimoji="0" lang="en-US" sz="20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a:t>
            </a:r>
          </a:p>
        </p:txBody>
      </p:sp>
      <p:sp>
        <p:nvSpPr>
          <p:cNvPr id="10" name="Round Same-side Corner of Rectangle 14">
            <a:extLst>
              <a:ext uri="{FF2B5EF4-FFF2-40B4-BE49-F238E27FC236}">
                <a16:creationId xmlns:a16="http://schemas.microsoft.com/office/drawing/2014/main" id="{090DA586-CA0A-2263-FA8A-9552ED5BFFAB}"/>
              </a:ext>
            </a:extLst>
          </p:cNvPr>
          <p:cNvSpPr/>
          <p:nvPr/>
        </p:nvSpPr>
        <p:spPr>
          <a:xfrm>
            <a:off x="2492965" y="1062232"/>
            <a:ext cx="1728000" cy="776883"/>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11" name="Round Same-side Corner of Rectangle 15">
            <a:extLst>
              <a:ext uri="{FF2B5EF4-FFF2-40B4-BE49-F238E27FC236}">
                <a16:creationId xmlns:a16="http://schemas.microsoft.com/office/drawing/2014/main" id="{3D29BA5D-2495-E6EF-3D93-8136A07CFC94}"/>
              </a:ext>
            </a:extLst>
          </p:cNvPr>
          <p:cNvSpPr/>
          <p:nvPr/>
        </p:nvSpPr>
        <p:spPr>
          <a:xfrm>
            <a:off x="4377509" y="1062232"/>
            <a:ext cx="1728000" cy="776883"/>
          </a:xfrm>
          <a:prstGeom prst="round2SameRect">
            <a:avLst>
              <a:gd name="adj1" fmla="val 6396"/>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12" name="Round Same-side Corner of Rectangle 16">
            <a:extLst>
              <a:ext uri="{FF2B5EF4-FFF2-40B4-BE49-F238E27FC236}">
                <a16:creationId xmlns:a16="http://schemas.microsoft.com/office/drawing/2014/main" id="{C147C0CA-EA9C-3486-02B3-A850AFF31C62}"/>
              </a:ext>
            </a:extLst>
          </p:cNvPr>
          <p:cNvSpPr/>
          <p:nvPr/>
        </p:nvSpPr>
        <p:spPr>
          <a:xfrm>
            <a:off x="6262053" y="1063754"/>
            <a:ext cx="1728000" cy="784324"/>
          </a:xfrm>
          <a:prstGeom prst="round2SameRect">
            <a:avLst>
              <a:gd name="adj1" fmla="val 8450"/>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b="1" spc="-25">
                <a:solidFill>
                  <a:srgbClr val="FFFFFF"/>
                </a:solidFill>
                <a:latin typeface="Segoe UI" pitchFamily="34" charset="0"/>
              </a:defRPr>
            </a:pPr>
            <a:r>
              <a:rPr lang="en-US" sz="2000" b="1" spc="-25" dirty="0">
                <a:solidFill>
                  <a:srgbClr val="F2F2F2"/>
                </a:solidFill>
                <a:latin typeface="Segoe UI" pitchFamily="34" charset="0"/>
              </a:rPr>
              <a:t>10%</a:t>
            </a:r>
          </a:p>
        </p:txBody>
      </p:sp>
      <p:sp>
        <p:nvSpPr>
          <p:cNvPr id="13" name="Round Same-side Corner of Rectangle 17">
            <a:extLst>
              <a:ext uri="{FF2B5EF4-FFF2-40B4-BE49-F238E27FC236}">
                <a16:creationId xmlns:a16="http://schemas.microsoft.com/office/drawing/2014/main" id="{8DA9CC2B-4288-B7F3-3BD6-FBAD2A888255}"/>
              </a:ext>
            </a:extLst>
          </p:cNvPr>
          <p:cNvSpPr/>
          <p:nvPr/>
        </p:nvSpPr>
        <p:spPr>
          <a:xfrm>
            <a:off x="8146597" y="1063754"/>
            <a:ext cx="1728000" cy="776883"/>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Digital</a:t>
            </a: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2000" b="1" spc="-25" dirty="0">
                <a:solidFill>
                  <a:srgbClr val="F2F2F2"/>
                </a:solidFill>
                <a:latin typeface="Segoe UI" pitchFamily="34" charset="0"/>
              </a:rPr>
              <a:t>5%</a:t>
            </a:r>
          </a:p>
        </p:txBody>
      </p:sp>
      <p:sp>
        <p:nvSpPr>
          <p:cNvPr id="14" name="Round Same-side Corner of Rectangle 18">
            <a:extLst>
              <a:ext uri="{FF2B5EF4-FFF2-40B4-BE49-F238E27FC236}">
                <a16:creationId xmlns:a16="http://schemas.microsoft.com/office/drawing/2014/main" id="{930604D8-E214-09D4-7AD7-1A4109E1DB09}"/>
              </a:ext>
            </a:extLst>
          </p:cNvPr>
          <p:cNvSpPr/>
          <p:nvPr/>
        </p:nvSpPr>
        <p:spPr>
          <a:xfrm>
            <a:off x="10031141" y="1063753"/>
            <a:ext cx="1728000" cy="776883"/>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Enablers</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15%</a:t>
            </a:r>
          </a:p>
        </p:txBody>
      </p:sp>
      <p:sp>
        <p:nvSpPr>
          <p:cNvPr id="15" name="Rectangle 14">
            <a:extLst>
              <a:ext uri="{FF2B5EF4-FFF2-40B4-BE49-F238E27FC236}">
                <a16:creationId xmlns:a16="http://schemas.microsoft.com/office/drawing/2014/main" id="{CBC9628C-459A-0ADB-4993-E827E967228D}"/>
              </a:ext>
            </a:extLst>
          </p:cNvPr>
          <p:cNvSpPr/>
          <p:nvPr/>
        </p:nvSpPr>
        <p:spPr>
          <a:xfrm>
            <a:off x="10081967"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FFFFFF"/>
                </a:solidFill>
                <a:latin typeface="Arial" pitchFamily="34" charset="0"/>
              </a:rPr>
              <a:t>$495M</a:t>
            </a:r>
          </a:p>
        </p:txBody>
      </p:sp>
      <p:sp>
        <p:nvSpPr>
          <p:cNvPr id="16" name="TextBox 15">
            <a:extLst>
              <a:ext uri="{FF2B5EF4-FFF2-40B4-BE49-F238E27FC236}">
                <a16:creationId xmlns:a16="http://schemas.microsoft.com/office/drawing/2014/main" id="{0019A16F-E9F5-119E-9BD4-49A94E707893}"/>
              </a:ext>
            </a:extLst>
          </p:cNvPr>
          <p:cNvSpPr txBox="1"/>
          <p:nvPr/>
        </p:nvSpPr>
        <p:spPr>
          <a:xfrm>
            <a:off x="619134" y="2169517"/>
            <a:ext cx="11140625" cy="306467"/>
          </a:xfrm>
          <a:prstGeom prst="roundRect">
            <a:avLst/>
          </a:prstGeom>
          <a:solidFill>
            <a:schemeClr val="accent4"/>
          </a:solid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10" normalizeH="0" baseline="0" noProof="0" dirty="0">
                <a:ln>
                  <a:noFill/>
                </a:ln>
                <a:solidFill>
                  <a:schemeClr val="bg1"/>
                </a:solidFill>
                <a:effectLst/>
                <a:uLnTx/>
                <a:uFillTx/>
                <a:latin typeface="Segoe UI" pitchFamily="34" charset="0"/>
              </a:rPr>
              <a:t>CRITICAL ROLES @ EACH </a:t>
            </a:r>
            <a:r>
              <a:rPr lang="en-US" sz="1200" b="1" spc="-10" dirty="0">
                <a:solidFill>
                  <a:schemeClr val="bg1"/>
                </a:solidFill>
                <a:latin typeface="Segoe UI" pitchFamily="34" charset="0"/>
              </a:rPr>
              <a:t>HOTSPOT</a:t>
            </a:r>
            <a:endParaRPr kumimoji="0" lang="en-GB" sz="1200" b="1" u="none" strike="noStrike" kern="0" cap="none" spc="-10" normalizeH="0" baseline="0" noProof="0" dirty="0">
              <a:ln>
                <a:noFill/>
              </a:ln>
              <a:solidFill>
                <a:schemeClr val="bg1"/>
              </a:solidFill>
              <a:effectLst/>
              <a:uLnTx/>
              <a:uFillTx/>
              <a:latin typeface="Segoe UI" pitchFamily="34" charset="0"/>
            </a:endParaRPr>
          </a:p>
        </p:txBody>
      </p:sp>
      <p:graphicFrame>
        <p:nvGraphicFramePr>
          <p:cNvPr id="17" name="Table 16">
            <a:extLst>
              <a:ext uri="{FF2B5EF4-FFF2-40B4-BE49-F238E27FC236}">
                <a16:creationId xmlns:a16="http://schemas.microsoft.com/office/drawing/2014/main" id="{4880FF7D-16EC-8343-9253-72860E4A0659}"/>
              </a:ext>
            </a:extLst>
          </p:cNvPr>
          <p:cNvGraphicFramePr>
            <a:graphicFrameLocks noGrp="1"/>
          </p:cNvGraphicFramePr>
          <p:nvPr>
            <p:extLst>
              <p:ext uri="{D42A27DB-BD31-4B8C-83A1-F6EECF244321}">
                <p14:modId xmlns:p14="http://schemas.microsoft.com/office/powerpoint/2010/main" val="2898745009"/>
              </p:ext>
            </p:extLst>
          </p:nvPr>
        </p:nvGraphicFramePr>
        <p:xfrm>
          <a:off x="608421" y="2527604"/>
          <a:ext cx="1728000" cy="2705407"/>
        </p:xfrm>
        <a:graphic>
          <a:graphicData uri="http://schemas.openxmlformats.org/drawingml/2006/table">
            <a:tbl>
              <a:tblPr firstRow="1">
                <a:tableStyleId>{69012ECD-51FC-41F1-AA8D-1B2483CD663E}</a:tableStyleId>
              </a:tblPr>
              <a:tblGrid>
                <a:gridCol w="849318">
                  <a:extLst>
                    <a:ext uri="{9D8B030D-6E8A-4147-A177-3AD203B41FA5}">
                      <a16:colId xmlns:a16="http://schemas.microsoft.com/office/drawing/2014/main" val="1769993756"/>
                    </a:ext>
                  </a:extLst>
                </a:gridCol>
                <a:gridCol w="382636">
                  <a:extLst>
                    <a:ext uri="{9D8B030D-6E8A-4147-A177-3AD203B41FA5}">
                      <a16:colId xmlns:a16="http://schemas.microsoft.com/office/drawing/2014/main" val="1181255485"/>
                    </a:ext>
                  </a:extLst>
                </a:gridCol>
                <a:gridCol w="496046">
                  <a:extLst>
                    <a:ext uri="{9D8B030D-6E8A-4147-A177-3AD203B41FA5}">
                      <a16:colId xmlns:a16="http://schemas.microsoft.com/office/drawing/2014/main" val="4171049878"/>
                    </a:ext>
                  </a:extLst>
                </a:gridCol>
              </a:tblGrid>
              <a:tr h="0">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2505662647"/>
                  </a:ext>
                </a:extLst>
              </a:tr>
              <a:tr h="138699">
                <a:tc>
                  <a:txBody>
                    <a:bodyPr/>
                    <a:lstStyle/>
                    <a:p>
                      <a:pPr algn="l" fontAlgn="ctr"/>
                      <a:r>
                        <a:rPr lang="en-US" sz="800" b="0" u="none" strike="noStrike" dirty="0">
                          <a:solidFill>
                            <a:srgbClr val="1D1D1D"/>
                          </a:solidFill>
                          <a:effectLst/>
                        </a:rPr>
                        <a:t>Chief Commercial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683556057"/>
                  </a:ext>
                </a:extLst>
              </a:tr>
              <a:tr h="146857">
                <a:tc>
                  <a:txBody>
                    <a:bodyPr/>
                    <a:lstStyle/>
                    <a:p>
                      <a:pPr algn="l" rtl="0" fontAlgn="ctr"/>
                      <a:r>
                        <a:rPr lang="en-US" sz="800" b="0" u="none" strike="noStrike" dirty="0">
                          <a:solidFill>
                            <a:srgbClr val="1D1D1D"/>
                          </a:solidFill>
                          <a:effectLst/>
                        </a:rPr>
                        <a:t>Chief Operations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31058211"/>
                  </a:ext>
                </a:extLst>
              </a:tr>
              <a:tr h="198805">
                <a:tc>
                  <a:txBody>
                    <a:bodyPr/>
                    <a:lstStyle/>
                    <a:p>
                      <a:pPr algn="l" rtl="0" fontAlgn="b"/>
                      <a:r>
                        <a:rPr lang="en-US" sz="800" b="0" u="none" strike="noStrike" kern="1200" dirty="0">
                          <a:solidFill>
                            <a:srgbClr val="00C27A"/>
                          </a:solidFill>
                          <a:effectLst/>
                        </a:rPr>
                        <a:t>Head - Market  Intelligence</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99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419970704"/>
                  </a:ext>
                </a:extLst>
              </a:tr>
              <a:tr h="159095">
                <a:tc>
                  <a:txBody>
                    <a:bodyPr/>
                    <a:lstStyle/>
                    <a:p>
                      <a:pPr algn="l" rtl="0" fontAlgn="ctr"/>
                      <a:r>
                        <a:rPr lang="en-US" sz="800" b="0" u="none" strike="noStrike" dirty="0">
                          <a:solidFill>
                            <a:srgbClr val="1D1D1D"/>
                          </a:solidFill>
                          <a:effectLst/>
                        </a:rPr>
                        <a:t>Category Head 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97397957"/>
                  </a:ext>
                </a:extLst>
              </a:tr>
              <a:tr h="138699">
                <a:tc>
                  <a:txBody>
                    <a:bodyPr/>
                    <a:lstStyle/>
                    <a:p>
                      <a:pPr algn="l" rtl="0" fontAlgn="ctr"/>
                      <a:r>
                        <a:rPr lang="en-US" sz="800" b="0" u="none" strike="noStrike" dirty="0">
                          <a:solidFill>
                            <a:srgbClr val="1D1D1D"/>
                          </a:solidFill>
                          <a:effectLst/>
                        </a:rPr>
                        <a:t>Category Head 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415468497"/>
                  </a:ext>
                </a:extLst>
              </a:tr>
              <a:tr h="134619">
                <a:tc>
                  <a:txBody>
                    <a:bodyPr/>
                    <a:lstStyle/>
                    <a:p>
                      <a:pPr algn="l" rtl="0" fontAlgn="ctr"/>
                      <a:r>
                        <a:rPr lang="en-US" sz="800" b="0" u="none" strike="noStrike" dirty="0">
                          <a:solidFill>
                            <a:srgbClr val="1D1D1D"/>
                          </a:solidFill>
                          <a:effectLst/>
                        </a:rPr>
                        <a:t>Category Head 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650661333"/>
                  </a:ext>
                </a:extLst>
              </a:tr>
              <a:tr h="159095">
                <a:tc>
                  <a:txBody>
                    <a:bodyPr/>
                    <a:lstStyle/>
                    <a:p>
                      <a:pPr algn="l" rtl="0" fontAlgn="ctr"/>
                      <a:r>
                        <a:rPr lang="en-US" sz="800" b="0" u="none" strike="noStrike" dirty="0">
                          <a:solidFill>
                            <a:srgbClr val="1D1D1D"/>
                          </a:solidFill>
                          <a:effectLst/>
                        </a:rPr>
                        <a:t>Head of Export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077357638"/>
                  </a:ext>
                </a:extLst>
              </a:tr>
              <a:tr h="138699">
                <a:tc>
                  <a:txBody>
                    <a:bodyPr/>
                    <a:lstStyle/>
                    <a:p>
                      <a:pPr algn="l" rtl="0" fontAlgn="ctr"/>
                      <a:r>
                        <a:rPr lang="en-US" sz="800" b="0" u="none" strike="noStrike" dirty="0">
                          <a:solidFill>
                            <a:srgbClr val="1D1D1D"/>
                          </a:solidFill>
                          <a:effectLst/>
                        </a:rPr>
                        <a:t>Head of Local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394211120"/>
                  </a:ext>
                </a:extLst>
              </a:tr>
              <a:tr h="242040">
                <a:tc>
                  <a:txBody>
                    <a:bodyPr/>
                    <a:lstStyle/>
                    <a:p>
                      <a:pPr marL="0" algn="l" defTabSz="914400" rtl="0" eaLnBrk="1" fontAlgn="b" latinLnBrk="0" hangingPunct="1"/>
                      <a:r>
                        <a:rPr lang="en-US" sz="800" b="0" u="none" strike="noStrike" kern="1200" dirty="0">
                          <a:solidFill>
                            <a:srgbClr val="00C27A"/>
                          </a:solidFill>
                          <a:effectLst/>
                        </a:rPr>
                        <a:t>Strategy Lead X</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50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232903105"/>
                  </a:ext>
                </a:extLst>
              </a:tr>
              <a:tr h="138699">
                <a:tc>
                  <a:txBody>
                    <a:bodyPr/>
                    <a:lstStyle/>
                    <a:p>
                      <a:pPr algn="l" rtl="0" fontAlgn="ctr"/>
                      <a:r>
                        <a:rPr lang="en-US" sz="800" b="0" u="none" strike="noStrike" kern="1200" dirty="0">
                          <a:solidFill>
                            <a:srgbClr val="00C27A"/>
                          </a:solidFill>
                          <a:effectLst/>
                        </a:rPr>
                        <a:t>Head of Integration</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50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206576866"/>
                  </a:ext>
                </a:extLst>
              </a:tr>
              <a:tr h="138699">
                <a:tc>
                  <a:txBody>
                    <a:bodyPr/>
                    <a:lstStyle/>
                    <a:p>
                      <a:pPr algn="l" fontAlgn="ctr"/>
                      <a:r>
                        <a:rPr lang="en-US" sz="800" b="0" u="none" strike="noStrike" kern="1200" dirty="0">
                          <a:solidFill>
                            <a:srgbClr val="00C27A"/>
                          </a:solidFill>
                          <a:effectLst/>
                        </a:rPr>
                        <a:t>MD (acquired entity)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50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25779303"/>
                  </a:ext>
                </a:extLst>
              </a:tr>
              <a:tr h="76202">
                <a:tc>
                  <a:txBody>
                    <a:bodyPr/>
                    <a:lstStyle/>
                    <a:p>
                      <a:pPr marL="0" algn="l" defTabSz="914400" rtl="0" eaLnBrk="1" fontAlgn="b" latinLnBrk="0" hangingPunct="1"/>
                      <a:r>
                        <a:rPr lang="en-US" sz="800" b="0" u="none" strike="noStrike" kern="1200" dirty="0">
                          <a:solidFill>
                            <a:srgbClr val="00C27A"/>
                          </a:solidFill>
                          <a:effectLst/>
                        </a:rPr>
                        <a:t>MD 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4%</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40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958454393"/>
                  </a:ext>
                </a:extLst>
              </a:tr>
            </a:tbl>
          </a:graphicData>
        </a:graphic>
      </p:graphicFrame>
      <p:graphicFrame>
        <p:nvGraphicFramePr>
          <p:cNvPr id="18" name="Table 17">
            <a:extLst>
              <a:ext uri="{FF2B5EF4-FFF2-40B4-BE49-F238E27FC236}">
                <a16:creationId xmlns:a16="http://schemas.microsoft.com/office/drawing/2014/main" id="{F5FD31A0-BE7D-F77A-9603-6E8CDE30C8A7}"/>
              </a:ext>
            </a:extLst>
          </p:cNvPr>
          <p:cNvGraphicFramePr>
            <a:graphicFrameLocks noGrp="1"/>
          </p:cNvGraphicFramePr>
          <p:nvPr>
            <p:extLst>
              <p:ext uri="{D42A27DB-BD31-4B8C-83A1-F6EECF244321}">
                <p14:modId xmlns:p14="http://schemas.microsoft.com/office/powerpoint/2010/main" val="3392202498"/>
              </p:ext>
            </p:extLst>
          </p:nvPr>
        </p:nvGraphicFramePr>
        <p:xfrm>
          <a:off x="2489372" y="2517352"/>
          <a:ext cx="1728000" cy="1950983"/>
        </p:xfrm>
        <a:graphic>
          <a:graphicData uri="http://schemas.openxmlformats.org/drawingml/2006/table">
            <a:tbl>
              <a:tblPr firstRow="1">
                <a:tableStyleId>{69012ECD-51FC-41F1-AA8D-1B2483CD663E}</a:tableStyleId>
              </a:tblPr>
              <a:tblGrid>
                <a:gridCol w="836924">
                  <a:extLst>
                    <a:ext uri="{9D8B030D-6E8A-4147-A177-3AD203B41FA5}">
                      <a16:colId xmlns:a16="http://schemas.microsoft.com/office/drawing/2014/main" val="1185073739"/>
                    </a:ext>
                  </a:extLst>
                </a:gridCol>
                <a:gridCol w="459076">
                  <a:extLst>
                    <a:ext uri="{9D8B030D-6E8A-4147-A177-3AD203B41FA5}">
                      <a16:colId xmlns:a16="http://schemas.microsoft.com/office/drawing/2014/main" val="3387738534"/>
                    </a:ext>
                  </a:extLst>
                </a:gridCol>
                <a:gridCol w="432000">
                  <a:extLst>
                    <a:ext uri="{9D8B030D-6E8A-4147-A177-3AD203B41FA5}">
                      <a16:colId xmlns:a16="http://schemas.microsoft.com/office/drawing/2014/main" val="3087892608"/>
                    </a:ext>
                  </a:extLst>
                </a:gridCol>
              </a:tblGrid>
              <a:tr h="422116">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2579543699"/>
                  </a:ext>
                </a:extLst>
              </a:tr>
              <a:tr h="294398">
                <a:tc>
                  <a:txBody>
                    <a:bodyPr/>
                    <a:lstStyle/>
                    <a:p>
                      <a:pPr algn="l" rtl="0" fontAlgn="ctr"/>
                      <a:r>
                        <a:rPr lang="en-US" sz="800" b="0" u="none" strike="noStrike" dirty="0">
                          <a:solidFill>
                            <a:srgbClr val="1D1D1D"/>
                          </a:solidFill>
                          <a:effectLst/>
                        </a:rPr>
                        <a:t>Chief Operating officer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40%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264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059164679"/>
                  </a:ext>
                </a:extLst>
              </a:tr>
              <a:tr h="157993">
                <a:tc>
                  <a:txBody>
                    <a:bodyPr/>
                    <a:lstStyle/>
                    <a:p>
                      <a:pPr algn="l" fontAlgn="ctr"/>
                      <a:r>
                        <a:rPr lang="en-US" sz="800" b="0" u="none" strike="noStrike" dirty="0">
                          <a:solidFill>
                            <a:srgbClr val="1D1D1D"/>
                          </a:solidFill>
                          <a:effectLst/>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132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998666557"/>
                  </a:ext>
                </a:extLst>
              </a:tr>
              <a:tr h="294398">
                <a:tc>
                  <a:txBody>
                    <a:bodyPr/>
                    <a:lstStyle/>
                    <a:p>
                      <a:pPr algn="l" rtl="0" fontAlgn="b"/>
                      <a:r>
                        <a:rPr lang="en-US" sz="800" b="0" u="none" strike="noStrike" kern="1200" dirty="0">
                          <a:solidFill>
                            <a:srgbClr val="00C27A"/>
                          </a:solidFill>
                          <a:effectLst/>
                        </a:rPr>
                        <a:t>Chief Commercial Officer AA</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kern="1200" dirty="0">
                          <a:solidFill>
                            <a:srgbClr val="00C27A"/>
                          </a:solidFill>
                          <a:effectLst/>
                        </a:rPr>
                        <a:t>15%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99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867612585"/>
                  </a:ext>
                </a:extLst>
              </a:tr>
              <a:tr h="149215">
                <a:tc>
                  <a:txBody>
                    <a:bodyPr/>
                    <a:lstStyle/>
                    <a:p>
                      <a:pPr marL="0" algn="l" defTabSz="914400" rtl="0" eaLnBrk="1" fontAlgn="b" latinLnBrk="0" hangingPunct="1"/>
                      <a:r>
                        <a:rPr lang="en-US" sz="800" b="0" u="none" strike="noStrike" kern="1200" dirty="0">
                          <a:solidFill>
                            <a:srgbClr val="00C27A"/>
                          </a:solidFill>
                          <a:effectLst/>
                        </a:rPr>
                        <a:t>Head of Integration</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66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02364983"/>
                  </a:ext>
                </a:extLst>
              </a:tr>
              <a:tr h="149215">
                <a:tc>
                  <a:txBody>
                    <a:bodyPr/>
                    <a:lstStyle/>
                    <a:p>
                      <a:pPr marL="0" algn="l" defTabSz="914400" rtl="0" eaLnBrk="1" fontAlgn="b" latinLnBrk="0" hangingPunct="1"/>
                      <a:r>
                        <a:rPr lang="en-US" sz="800" b="0" u="none" strike="noStrike" kern="1200" dirty="0">
                          <a:solidFill>
                            <a:srgbClr val="00C27A"/>
                          </a:solidFill>
                          <a:effectLst/>
                        </a:rPr>
                        <a:t>MD (acquired entity)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66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70203580"/>
                  </a:ext>
                </a:extLst>
              </a:tr>
              <a:tr h="294398">
                <a:tc>
                  <a:txBody>
                    <a:bodyPr/>
                    <a:lstStyle/>
                    <a:p>
                      <a:pPr marL="0" algn="l" defTabSz="914400" rtl="0" eaLnBrk="1" fontAlgn="b" latinLnBrk="0" hangingPunct="1"/>
                      <a:r>
                        <a:rPr lang="en-US" sz="800" b="0" u="none" strike="noStrike" kern="1200" dirty="0">
                          <a:solidFill>
                            <a:srgbClr val="00C27A"/>
                          </a:solidFill>
                          <a:effectLst/>
                        </a:rPr>
                        <a:t>Head - Market  Intelligence</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marL="0" algn="ctr" defTabSz="914400" rtl="0" eaLnBrk="1" fontAlgn="b" latinLnBrk="0" hangingPunct="1"/>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33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789636566"/>
                  </a:ext>
                </a:extLst>
              </a:tr>
            </a:tbl>
          </a:graphicData>
        </a:graphic>
      </p:graphicFrame>
      <p:graphicFrame>
        <p:nvGraphicFramePr>
          <p:cNvPr id="19" name="Table 18">
            <a:extLst>
              <a:ext uri="{FF2B5EF4-FFF2-40B4-BE49-F238E27FC236}">
                <a16:creationId xmlns:a16="http://schemas.microsoft.com/office/drawing/2014/main" id="{54692221-5E10-2636-4E8F-C90C701E8DA0}"/>
              </a:ext>
            </a:extLst>
          </p:cNvPr>
          <p:cNvGraphicFramePr>
            <a:graphicFrameLocks noGrp="1"/>
          </p:cNvGraphicFramePr>
          <p:nvPr>
            <p:extLst>
              <p:ext uri="{D42A27DB-BD31-4B8C-83A1-F6EECF244321}">
                <p14:modId xmlns:p14="http://schemas.microsoft.com/office/powerpoint/2010/main" val="1355585865"/>
              </p:ext>
            </p:extLst>
          </p:nvPr>
        </p:nvGraphicFramePr>
        <p:xfrm>
          <a:off x="4377509" y="2520897"/>
          <a:ext cx="1728000" cy="1648444"/>
        </p:xfrm>
        <a:graphic>
          <a:graphicData uri="http://schemas.openxmlformats.org/drawingml/2006/table">
            <a:tbl>
              <a:tblPr firstRow="1">
                <a:tableStyleId>{69012ECD-51FC-41F1-AA8D-1B2483CD663E}</a:tableStyleId>
              </a:tblPr>
              <a:tblGrid>
                <a:gridCol w="883604">
                  <a:extLst>
                    <a:ext uri="{9D8B030D-6E8A-4147-A177-3AD203B41FA5}">
                      <a16:colId xmlns:a16="http://schemas.microsoft.com/office/drawing/2014/main" val="3619773331"/>
                    </a:ext>
                  </a:extLst>
                </a:gridCol>
                <a:gridCol w="412396">
                  <a:extLst>
                    <a:ext uri="{9D8B030D-6E8A-4147-A177-3AD203B41FA5}">
                      <a16:colId xmlns:a16="http://schemas.microsoft.com/office/drawing/2014/main" val="3533799037"/>
                    </a:ext>
                  </a:extLst>
                </a:gridCol>
                <a:gridCol w="432000">
                  <a:extLst>
                    <a:ext uri="{9D8B030D-6E8A-4147-A177-3AD203B41FA5}">
                      <a16:colId xmlns:a16="http://schemas.microsoft.com/office/drawing/2014/main" val="1795593249"/>
                    </a:ext>
                  </a:extLst>
                </a:gridCol>
              </a:tblGrid>
              <a:tr h="159124">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4203797260"/>
                  </a:ext>
                </a:extLst>
              </a:tr>
              <a:tr h="159124">
                <a:tc>
                  <a:txBody>
                    <a:bodyPr/>
                    <a:lstStyle/>
                    <a:p>
                      <a:pPr algn="l" rtl="0" fontAlgn="ctr"/>
                      <a:r>
                        <a:rPr lang="en-US" sz="800" b="0" u="none" strike="noStrike" dirty="0">
                          <a:solidFill>
                            <a:srgbClr val="1D1D1D"/>
                          </a:solidFill>
                          <a:effectLst/>
                        </a:rPr>
                        <a:t>Head of AgTech</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20982108"/>
                  </a:ext>
                </a:extLst>
              </a:tr>
              <a:tr h="159124">
                <a:tc>
                  <a:txBody>
                    <a:bodyPr/>
                    <a:lstStyle/>
                    <a:p>
                      <a:pPr algn="l" rtl="0" fontAlgn="ctr"/>
                      <a:r>
                        <a:rPr lang="en-US" sz="800" b="0" u="none" strike="noStrike" dirty="0">
                          <a:solidFill>
                            <a:srgbClr val="1D1D1D"/>
                          </a:solidFill>
                          <a:effectLst/>
                        </a:rPr>
                        <a:t>Chief Farming Officer</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165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578004048"/>
                  </a:ext>
                </a:extLst>
              </a:tr>
              <a:tr h="168484">
                <a:tc>
                  <a:txBody>
                    <a:bodyPr/>
                    <a:lstStyle/>
                    <a:p>
                      <a:pPr algn="l" rtl="0" fontAlgn="ctr"/>
                      <a:r>
                        <a:rPr lang="en-US" sz="800" b="0" u="none" strike="noStrike" dirty="0">
                          <a:solidFill>
                            <a:srgbClr val="1D1D1D"/>
                          </a:solidFill>
                          <a:effectLst/>
                        </a:rPr>
                        <a:t>Head of Strategic Reserves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132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30703275"/>
                  </a:ext>
                </a:extLst>
              </a:tr>
              <a:tr h="159124">
                <a:tc>
                  <a:txBody>
                    <a:bodyPr/>
                    <a:lstStyle/>
                    <a:p>
                      <a:pPr algn="l" rtl="0" fontAlgn="ctr"/>
                      <a:r>
                        <a:rPr lang="en-US" sz="800" b="0" u="none" strike="noStrike" dirty="0">
                          <a:solidFill>
                            <a:srgbClr val="00C27A"/>
                          </a:solidFill>
                          <a:effectLst/>
                        </a:rPr>
                        <a:t>Head of Innovation (Distr/Food Svcs)</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15%</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99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79873330"/>
                  </a:ext>
                </a:extLst>
              </a:tr>
              <a:tr h="308888">
                <a:tc>
                  <a:txBody>
                    <a:bodyPr/>
                    <a:lstStyle/>
                    <a:p>
                      <a:pPr algn="l" rtl="0" fontAlgn="b"/>
                      <a:r>
                        <a:rPr lang="en-US" sz="800" b="0" u="none" strike="noStrike" dirty="0">
                          <a:solidFill>
                            <a:srgbClr val="00C27A"/>
                          </a:solidFill>
                          <a:effectLst/>
                        </a:rPr>
                        <a:t>Business Development Head (R&amp;D)</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dirty="0">
                          <a:solidFill>
                            <a:srgbClr val="00C27A"/>
                          </a:solidFill>
                          <a:effectLst/>
                        </a:rPr>
                        <a:t>10%</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 66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084081352"/>
                  </a:ext>
                </a:extLst>
              </a:tr>
            </a:tbl>
          </a:graphicData>
        </a:graphic>
      </p:graphicFrame>
      <p:graphicFrame>
        <p:nvGraphicFramePr>
          <p:cNvPr id="20" name="Table 19">
            <a:extLst>
              <a:ext uri="{FF2B5EF4-FFF2-40B4-BE49-F238E27FC236}">
                <a16:creationId xmlns:a16="http://schemas.microsoft.com/office/drawing/2014/main" id="{31A13D5C-2234-7D11-9F5F-96FDB80960AF}"/>
              </a:ext>
            </a:extLst>
          </p:cNvPr>
          <p:cNvGraphicFramePr>
            <a:graphicFrameLocks noGrp="1"/>
          </p:cNvGraphicFramePr>
          <p:nvPr>
            <p:extLst>
              <p:ext uri="{D42A27DB-BD31-4B8C-83A1-F6EECF244321}">
                <p14:modId xmlns:p14="http://schemas.microsoft.com/office/powerpoint/2010/main" val="3147822934"/>
              </p:ext>
            </p:extLst>
          </p:nvPr>
        </p:nvGraphicFramePr>
        <p:xfrm>
          <a:off x="6262053" y="2524059"/>
          <a:ext cx="1728000" cy="1462152"/>
        </p:xfrm>
        <a:graphic>
          <a:graphicData uri="http://schemas.openxmlformats.org/drawingml/2006/table">
            <a:tbl>
              <a:tblPr firstRow="1">
                <a:tableStyleId>{69012ECD-51FC-41F1-AA8D-1B2483CD663E}</a:tableStyleId>
              </a:tblPr>
              <a:tblGrid>
                <a:gridCol w="721843">
                  <a:extLst>
                    <a:ext uri="{9D8B030D-6E8A-4147-A177-3AD203B41FA5}">
                      <a16:colId xmlns:a16="http://schemas.microsoft.com/office/drawing/2014/main" val="691513741"/>
                    </a:ext>
                  </a:extLst>
                </a:gridCol>
                <a:gridCol w="446018">
                  <a:extLst>
                    <a:ext uri="{9D8B030D-6E8A-4147-A177-3AD203B41FA5}">
                      <a16:colId xmlns:a16="http://schemas.microsoft.com/office/drawing/2014/main" val="1047493885"/>
                    </a:ext>
                  </a:extLst>
                </a:gridCol>
                <a:gridCol w="560139">
                  <a:extLst>
                    <a:ext uri="{9D8B030D-6E8A-4147-A177-3AD203B41FA5}">
                      <a16:colId xmlns:a16="http://schemas.microsoft.com/office/drawing/2014/main" val="2728748207"/>
                    </a:ext>
                  </a:extLst>
                </a:gridCol>
              </a:tblGrid>
              <a:tr h="148390">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3013936349"/>
                  </a:ext>
                </a:extLst>
              </a:tr>
              <a:tr h="157665">
                <a:tc>
                  <a:txBody>
                    <a:bodyPr/>
                    <a:lstStyle/>
                    <a:p>
                      <a:pPr algn="l" rtl="0" fontAlgn="ctr"/>
                      <a:r>
                        <a:rPr lang="en-US" sz="800" b="0" u="none" strike="noStrike" dirty="0">
                          <a:solidFill>
                            <a:srgbClr val="1D1D1D"/>
                          </a:solidFill>
                          <a:effectLst/>
                        </a:rPr>
                        <a:t>Director of M&amp;A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40%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132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3861918"/>
                  </a:ext>
                </a:extLst>
              </a:tr>
              <a:tr h="166939">
                <a:tc>
                  <a:txBody>
                    <a:bodyPr/>
                    <a:lstStyle/>
                    <a:p>
                      <a:pPr algn="l" rtl="0" fontAlgn="ctr"/>
                      <a:r>
                        <a:rPr lang="en-US" sz="800" b="0" u="none" strike="noStrike" dirty="0">
                          <a:solidFill>
                            <a:srgbClr val="00C27A"/>
                          </a:solidFill>
                          <a:effectLst/>
                        </a:rPr>
                        <a:t>Head of Integration</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25%</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83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003568642"/>
                  </a:ext>
                </a:extLst>
              </a:tr>
              <a:tr h="157665">
                <a:tc>
                  <a:txBody>
                    <a:bodyPr/>
                    <a:lstStyle/>
                    <a:p>
                      <a:pPr algn="l" rtl="0" fontAlgn="ctr"/>
                      <a:r>
                        <a:rPr lang="en-US" sz="800" b="0" u="none" strike="noStrike" dirty="0">
                          <a:solidFill>
                            <a:srgbClr val="1D1D1D"/>
                          </a:solidFill>
                          <a:effectLst/>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71092670"/>
                  </a:ext>
                </a:extLst>
              </a:tr>
              <a:tr h="157665">
                <a:tc>
                  <a:txBody>
                    <a:bodyPr/>
                    <a:lstStyle/>
                    <a:p>
                      <a:pPr algn="l" fontAlgn="ctr"/>
                      <a:r>
                        <a:rPr lang="en-US" sz="800" b="0" u="none" strike="noStrike" dirty="0">
                          <a:solidFill>
                            <a:srgbClr val="1D1D1D"/>
                          </a:solidFill>
                          <a:effectLst/>
                        </a:rPr>
                        <a:t>Head of Local –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33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462351984"/>
                  </a:ext>
                </a:extLst>
              </a:tr>
              <a:tr h="267102">
                <a:tc>
                  <a:txBody>
                    <a:bodyPr/>
                    <a:lstStyle/>
                    <a:p>
                      <a:pPr algn="l" rtl="0" fontAlgn="b"/>
                      <a:r>
                        <a:rPr lang="en-US" sz="800" b="0" u="none" strike="noStrike" dirty="0">
                          <a:solidFill>
                            <a:srgbClr val="1D1D1D"/>
                          </a:solidFill>
                          <a:effectLst/>
                        </a:rPr>
                        <a:t>Head of Strategy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33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93447971"/>
                  </a:ext>
                </a:extLst>
              </a:tr>
            </a:tbl>
          </a:graphicData>
        </a:graphic>
      </p:graphicFrame>
      <p:graphicFrame>
        <p:nvGraphicFramePr>
          <p:cNvPr id="21" name="Table 20">
            <a:extLst>
              <a:ext uri="{FF2B5EF4-FFF2-40B4-BE49-F238E27FC236}">
                <a16:creationId xmlns:a16="http://schemas.microsoft.com/office/drawing/2014/main" id="{18812E39-A8E2-2959-551A-9F7A8C55BA40}"/>
              </a:ext>
            </a:extLst>
          </p:cNvPr>
          <p:cNvGraphicFramePr>
            <a:graphicFrameLocks noGrp="1"/>
          </p:cNvGraphicFramePr>
          <p:nvPr>
            <p:extLst>
              <p:ext uri="{D42A27DB-BD31-4B8C-83A1-F6EECF244321}">
                <p14:modId xmlns:p14="http://schemas.microsoft.com/office/powerpoint/2010/main" val="1702482719"/>
              </p:ext>
            </p:extLst>
          </p:nvPr>
        </p:nvGraphicFramePr>
        <p:xfrm>
          <a:off x="8146597" y="2524059"/>
          <a:ext cx="1728000" cy="2220840"/>
        </p:xfrm>
        <a:graphic>
          <a:graphicData uri="http://schemas.openxmlformats.org/drawingml/2006/table">
            <a:tbl>
              <a:tblPr firstRow="1">
                <a:tableStyleId>{69012ECD-51FC-41F1-AA8D-1B2483CD663E}</a:tableStyleId>
              </a:tblPr>
              <a:tblGrid>
                <a:gridCol w="825125">
                  <a:extLst>
                    <a:ext uri="{9D8B030D-6E8A-4147-A177-3AD203B41FA5}">
                      <a16:colId xmlns:a16="http://schemas.microsoft.com/office/drawing/2014/main" val="2008388853"/>
                    </a:ext>
                  </a:extLst>
                </a:gridCol>
                <a:gridCol w="470875">
                  <a:extLst>
                    <a:ext uri="{9D8B030D-6E8A-4147-A177-3AD203B41FA5}">
                      <a16:colId xmlns:a16="http://schemas.microsoft.com/office/drawing/2014/main" val="3799900447"/>
                    </a:ext>
                  </a:extLst>
                </a:gridCol>
                <a:gridCol w="432000">
                  <a:extLst>
                    <a:ext uri="{9D8B030D-6E8A-4147-A177-3AD203B41FA5}">
                      <a16:colId xmlns:a16="http://schemas.microsoft.com/office/drawing/2014/main" val="2807346443"/>
                    </a:ext>
                  </a:extLst>
                </a:gridCol>
              </a:tblGrid>
              <a:tr h="153864">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ndParaRPr>
                    </a:p>
                  </a:txBody>
                  <a:tcPr marL="36000" marR="36000" marT="36000" marB="36000" anchor="ctr"/>
                </a:tc>
                <a:extLst>
                  <a:ext uri="{0D108BD9-81ED-4DB2-BD59-A6C34878D82A}">
                    <a16:rowId xmlns:a16="http://schemas.microsoft.com/office/drawing/2014/main" val="248211374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78793377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4048172198"/>
                  </a:ext>
                </a:extLst>
              </a:tr>
              <a:tr h="173097">
                <a:tc>
                  <a:txBody>
                    <a:bodyPr/>
                    <a:lstStyle/>
                    <a:p>
                      <a:pPr algn="l" rtl="0" fontAlgn="b"/>
                      <a:endParaRPr lang="en-US" sz="600" b="0" i="0" u="none" strike="noStrike" dirty="0">
                        <a:solidFill>
                          <a:srgbClr val="1D1D1D"/>
                        </a:solidFill>
                        <a:effectLst/>
                        <a:latin typeface="Arial" pitchFamily="34" charset="0"/>
                      </a:endParaRPr>
                    </a:p>
                  </a:txBody>
                  <a:tcPr marL="45720" marR="45720" anchor="b"/>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2647250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3983185301"/>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3353516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61045207"/>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189082384"/>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91170619"/>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709902184"/>
                  </a:ext>
                </a:extLst>
              </a:tr>
              <a:tr h="163480">
                <a:tc>
                  <a:txBody>
                    <a:bodyPr/>
                    <a:lstStyle/>
                    <a:p>
                      <a:pPr algn="l" fontAlgn="ctr"/>
                      <a:endParaRPr lang="en-US" sz="600" b="1" i="0" u="none" strike="noStrike" dirty="0">
                        <a:solidFill>
                          <a:srgbClr val="3B3B3B"/>
                        </a:solidFill>
                        <a:effectLst/>
                        <a:latin typeface="Arial" pitchFamily="34" charset="0"/>
                      </a:endParaRPr>
                    </a:p>
                  </a:txBody>
                  <a:tcPr marL="45720" marR="45720" anchor="ctr"/>
                </a:tc>
                <a:tc>
                  <a:txBody>
                    <a:bodyPr/>
                    <a:lstStyle/>
                    <a:p>
                      <a:pPr algn="r" fontAlgn="ctr"/>
                      <a:endParaRPr lang="en-US" sz="600" b="1" i="0" u="none" strike="noStrike" dirty="0">
                        <a:solidFill>
                          <a:srgbClr val="3B3B3B"/>
                        </a:solidFill>
                        <a:effectLst/>
                        <a:latin typeface="Arial" pitchFamily="34" charset="0"/>
                      </a:endParaRPr>
                    </a:p>
                  </a:txBody>
                  <a:tcPr marL="45720" marR="45720" anchor="ctr"/>
                </a:tc>
                <a:tc>
                  <a:txBody>
                    <a:bodyPr/>
                    <a:lstStyle/>
                    <a:p>
                      <a:pPr algn="r" fontAlgn="ctr"/>
                      <a:endParaRPr lang="en-US" sz="600" b="1" i="0" u="none" strike="noStrike" dirty="0">
                        <a:solidFill>
                          <a:srgbClr val="585858"/>
                        </a:solidFill>
                        <a:effectLst/>
                        <a:latin typeface="Arial" pitchFamily="34" charset="0"/>
                      </a:endParaRPr>
                    </a:p>
                  </a:txBody>
                  <a:tcPr marL="45720" marR="45720" anchor="ctr"/>
                </a:tc>
                <a:extLst>
                  <a:ext uri="{0D108BD9-81ED-4DB2-BD59-A6C34878D82A}">
                    <a16:rowId xmlns:a16="http://schemas.microsoft.com/office/drawing/2014/main" val="3965296016"/>
                  </a:ext>
                </a:extLst>
              </a:tr>
            </a:tbl>
          </a:graphicData>
        </a:graphic>
      </p:graphicFrame>
      <p:graphicFrame>
        <p:nvGraphicFramePr>
          <p:cNvPr id="22" name="Table 21">
            <a:extLst>
              <a:ext uri="{FF2B5EF4-FFF2-40B4-BE49-F238E27FC236}">
                <a16:creationId xmlns:a16="http://schemas.microsoft.com/office/drawing/2014/main" id="{DCA89301-0FF7-9921-AF41-250604BCB5C2}"/>
              </a:ext>
            </a:extLst>
          </p:cNvPr>
          <p:cNvGraphicFramePr>
            <a:graphicFrameLocks noGrp="1"/>
          </p:cNvGraphicFramePr>
          <p:nvPr>
            <p:extLst>
              <p:ext uri="{D42A27DB-BD31-4B8C-83A1-F6EECF244321}">
                <p14:modId xmlns:p14="http://schemas.microsoft.com/office/powerpoint/2010/main" val="2991492508"/>
              </p:ext>
            </p:extLst>
          </p:nvPr>
        </p:nvGraphicFramePr>
        <p:xfrm>
          <a:off x="10031141" y="2527604"/>
          <a:ext cx="1728000" cy="2700602"/>
        </p:xfrm>
        <a:graphic>
          <a:graphicData uri="http://schemas.openxmlformats.org/drawingml/2006/table">
            <a:tbl>
              <a:tblPr firstRow="1">
                <a:tableStyleId>{69012ECD-51FC-41F1-AA8D-1B2483CD663E}</a:tableStyleId>
              </a:tblPr>
              <a:tblGrid>
                <a:gridCol w="809137">
                  <a:extLst>
                    <a:ext uri="{9D8B030D-6E8A-4147-A177-3AD203B41FA5}">
                      <a16:colId xmlns:a16="http://schemas.microsoft.com/office/drawing/2014/main" val="1004205274"/>
                    </a:ext>
                  </a:extLst>
                </a:gridCol>
                <a:gridCol w="486863">
                  <a:extLst>
                    <a:ext uri="{9D8B030D-6E8A-4147-A177-3AD203B41FA5}">
                      <a16:colId xmlns:a16="http://schemas.microsoft.com/office/drawing/2014/main" val="1216075518"/>
                    </a:ext>
                  </a:extLst>
                </a:gridCol>
                <a:gridCol w="432000">
                  <a:extLst>
                    <a:ext uri="{9D8B030D-6E8A-4147-A177-3AD203B41FA5}">
                      <a16:colId xmlns:a16="http://schemas.microsoft.com/office/drawing/2014/main" val="3887552197"/>
                    </a:ext>
                  </a:extLst>
                </a:gridCol>
              </a:tblGrid>
              <a:tr h="179065">
                <a:tc>
                  <a:txBody>
                    <a:bodyPr/>
                    <a:lstStyle/>
                    <a:p>
                      <a:pPr algn="l" fontAlgn="b"/>
                      <a:r>
                        <a:rPr lang="en-US" sz="700" b="1" u="none" strike="noStrike" dirty="0">
                          <a:solidFill>
                            <a:srgbClr val="FFFFFF"/>
                          </a:solidFill>
                          <a:effectLst/>
                        </a:rPr>
                        <a:t>CRITICAL ROLE</a:t>
                      </a:r>
                      <a:endParaRPr lang="en-US" sz="7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700" b="1" u="none" strike="noStrike" dirty="0">
                          <a:solidFill>
                            <a:srgbClr val="FFFFFF"/>
                          </a:solidFill>
                          <a:effectLst/>
                        </a:rPr>
                        <a:t>VALUE (%)</a:t>
                      </a:r>
                      <a:endParaRPr lang="en-US" sz="7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700" b="1" u="none" strike="noStrike" dirty="0">
                          <a:solidFill>
                            <a:srgbClr val="FFFFFF"/>
                          </a:solidFill>
                          <a:effectLst/>
                        </a:rPr>
                        <a:t> ROLE VALUE </a:t>
                      </a:r>
                    </a:p>
                    <a:p>
                      <a:pPr algn="ctr" fontAlgn="b"/>
                      <a:r>
                        <a:rPr lang="en-US" sz="700" b="1" u="none" strike="noStrike" dirty="0">
                          <a:solidFill>
                            <a:srgbClr val="FFFFFF"/>
                          </a:solidFill>
                          <a:effectLst/>
                        </a:rPr>
                        <a:t>(USD)</a:t>
                      </a:r>
                      <a:endParaRPr lang="en-US" sz="700" b="1" i="0" u="none" strike="noStrike" dirty="0">
                        <a:solidFill>
                          <a:srgbClr val="FFFFFF"/>
                        </a:solidFill>
                        <a:effectLst/>
                        <a:latin typeface="Arial" pitchFamily="34" charset="0"/>
                      </a:endParaRPr>
                    </a:p>
                  </a:txBody>
                  <a:tcPr marL="36000" marR="36000" marT="36000" marB="36000" anchor="ctr"/>
                </a:tc>
                <a:extLst>
                  <a:ext uri="{0D108BD9-81ED-4DB2-BD59-A6C34878D82A}">
                    <a16:rowId xmlns:a16="http://schemas.microsoft.com/office/drawing/2014/main" val="3257219610"/>
                  </a:ext>
                </a:extLst>
              </a:tr>
              <a:tr h="175874">
                <a:tc>
                  <a:txBody>
                    <a:bodyPr/>
                    <a:lstStyle/>
                    <a:p>
                      <a:pPr algn="l" rtl="0" fontAlgn="ctr"/>
                      <a:r>
                        <a:rPr lang="en-US" sz="800" b="0" u="none" strike="noStrike" dirty="0">
                          <a:solidFill>
                            <a:srgbClr val="1D1D1D"/>
                          </a:solidFill>
                          <a:effectLst/>
                        </a:rPr>
                        <a:t>Head of FP&amp;A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99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685616431"/>
                  </a:ext>
                </a:extLst>
              </a:tr>
              <a:tr h="179065">
                <a:tc>
                  <a:txBody>
                    <a:bodyPr/>
                    <a:lstStyle/>
                    <a:p>
                      <a:pPr algn="l" rtl="0" fontAlgn="ctr"/>
                      <a:r>
                        <a:rPr lang="en-US" sz="800" b="0" u="none" strike="noStrike" dirty="0">
                          <a:solidFill>
                            <a:srgbClr val="1D1D1D"/>
                          </a:solidFill>
                          <a:effectLst/>
                        </a:rPr>
                        <a:t>Director IT (Digital Foundations)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74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218840644"/>
                  </a:ext>
                </a:extLst>
              </a:tr>
              <a:tr h="189598">
                <a:tc>
                  <a:txBody>
                    <a:bodyPr/>
                    <a:lstStyle/>
                    <a:p>
                      <a:pPr algn="l" fontAlgn="ctr"/>
                      <a:r>
                        <a:rPr lang="en-US" sz="800" b="0" u="none" strike="noStrike" dirty="0">
                          <a:solidFill>
                            <a:srgbClr val="7A828D"/>
                          </a:solidFill>
                          <a:effectLst/>
                        </a:rPr>
                        <a:t>VP Treasury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7A828D"/>
                          </a:solidFill>
                          <a:effectLst/>
                        </a:rPr>
                        <a:t>15%</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7A828D"/>
                          </a:solidFill>
                          <a:effectLst/>
                        </a:rPr>
                        <a:t>74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876434280"/>
                  </a:ext>
                </a:extLst>
              </a:tr>
              <a:tr h="179065">
                <a:tc>
                  <a:txBody>
                    <a:bodyPr/>
                    <a:lstStyle/>
                    <a:p>
                      <a:pPr algn="l" fontAlgn="ctr"/>
                      <a:r>
                        <a:rPr lang="en-US" sz="800" b="0" u="none" strike="noStrike" dirty="0">
                          <a:solidFill>
                            <a:srgbClr val="1D1D1D"/>
                          </a:solidFill>
                          <a:effectLst/>
                        </a:rPr>
                        <a:t>Head of Finance (cost control)</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166081252"/>
                  </a:ext>
                </a:extLst>
              </a:tr>
              <a:tr h="179065">
                <a:tc>
                  <a:txBody>
                    <a:bodyPr/>
                    <a:lstStyle/>
                    <a:p>
                      <a:pPr algn="l" rtl="0" fontAlgn="b"/>
                      <a:r>
                        <a:rPr lang="en-US" sz="800" b="0" u="none" strike="noStrike" dirty="0">
                          <a:solidFill>
                            <a:srgbClr val="1D1D1D"/>
                          </a:solidFill>
                          <a:effectLst/>
                        </a:rPr>
                        <a:t>Head of Governance (Finance)</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670187858"/>
                  </a:ext>
                </a:extLst>
              </a:tr>
              <a:tr h="179065">
                <a:tc>
                  <a:txBody>
                    <a:bodyPr/>
                    <a:lstStyle/>
                    <a:p>
                      <a:pPr algn="l" rtl="0" fontAlgn="ctr"/>
                      <a:r>
                        <a:rPr lang="en-US" sz="800" b="0" u="none" strike="noStrike" dirty="0">
                          <a:solidFill>
                            <a:srgbClr val="1D1D1D"/>
                          </a:solidFill>
                          <a:effectLst/>
                        </a:rPr>
                        <a:t>Director ESG</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800460099"/>
                  </a:ext>
                </a:extLst>
              </a:tr>
              <a:tr h="179065">
                <a:tc>
                  <a:txBody>
                    <a:bodyPr/>
                    <a:lstStyle/>
                    <a:p>
                      <a:pPr algn="l" rtl="0" fontAlgn="ctr"/>
                      <a:r>
                        <a:rPr lang="en-US" sz="800" b="0" u="none" strike="noStrike" dirty="0">
                          <a:solidFill>
                            <a:srgbClr val="1D1D1D"/>
                          </a:solidFill>
                          <a:effectLst/>
                        </a:rPr>
                        <a:t>Head of Talent Acquisition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391581013"/>
                  </a:ext>
                </a:extLst>
              </a:tr>
              <a:tr h="179065">
                <a:tc>
                  <a:txBody>
                    <a:bodyPr/>
                    <a:lstStyle/>
                    <a:p>
                      <a:pPr algn="l" rtl="0" fontAlgn="ctr"/>
                      <a:r>
                        <a:rPr lang="en-US" sz="800" b="0" u="none" strike="noStrike" dirty="0">
                          <a:solidFill>
                            <a:srgbClr val="1D1D1D"/>
                          </a:solidFill>
                          <a:effectLst/>
                        </a:rPr>
                        <a:t>Head of Workforce Planning &amp; OD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25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07497915"/>
                  </a:ext>
                </a:extLst>
              </a:tr>
              <a:tr h="179065">
                <a:tc>
                  <a:txBody>
                    <a:bodyPr/>
                    <a:lstStyle/>
                    <a:p>
                      <a:pPr algn="l" rtl="0" fontAlgn="ctr"/>
                      <a:r>
                        <a:rPr lang="en-US" sz="800" b="0" u="none" strike="noStrike" dirty="0">
                          <a:solidFill>
                            <a:srgbClr val="1D1D1D"/>
                          </a:solidFill>
                          <a:effectLst/>
                        </a:rPr>
                        <a:t>Head of Strategy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25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34249607"/>
                  </a:ext>
                </a:extLst>
              </a:tr>
            </a:tbl>
          </a:graphicData>
        </a:graphic>
      </p:graphicFrame>
      <p:sp>
        <p:nvSpPr>
          <p:cNvPr id="23" name="Rectangle: Rounded Corners 50">
            <a:extLst>
              <a:ext uri="{FF2B5EF4-FFF2-40B4-BE49-F238E27FC236}">
                <a16:creationId xmlns:a16="http://schemas.microsoft.com/office/drawing/2014/main" id="{8281FAE8-F97E-DD68-5146-3FB54EB96D6E}"/>
              </a:ext>
            </a:extLst>
          </p:cNvPr>
          <p:cNvSpPr/>
          <p:nvPr/>
        </p:nvSpPr>
        <p:spPr>
          <a:xfrm>
            <a:off x="2724396" y="5103192"/>
            <a:ext cx="6918769" cy="1342521"/>
          </a:xfrm>
          <a:prstGeom prst="roundRect">
            <a:avLst>
              <a:gd name="adj" fmla="val 5743"/>
            </a:avLst>
          </a:prstGeom>
          <a:noFill/>
          <a:ln>
            <a:solidFill>
              <a:schemeClr val="accent1"/>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000" b="1" kern="1200" spc="-10" dirty="0">
                <a:solidFill>
                  <a:srgbClr val="281A42"/>
                </a:solidFill>
                <a:latin typeface="Segoe UI" pitchFamily="34" charset="0"/>
              </a:rPr>
              <a:t> Emerging Hotspot Risks</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FOODSERVICE: Top 2 roles assessed as “Red” and 5 new roles. Significant value creation will come from identified X roles (~35-40%) which have not been assessed.</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F&amp;V: Top 2 roles require assessment, and the remaining roles are new</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FARMING &amp; FOOD: Top 2 roles are “amber” and the third role needs to be broadened. The remaining roles are new</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INORGANIC GROWTH: Top role is “amber” and the second role is new and may be under-resourced</a:t>
            </a:r>
          </a:p>
        </p:txBody>
      </p:sp>
      <p:grpSp>
        <p:nvGrpSpPr>
          <p:cNvPr id="24" name="Group 23">
            <a:extLst>
              <a:ext uri="{FF2B5EF4-FFF2-40B4-BE49-F238E27FC236}">
                <a16:creationId xmlns:a16="http://schemas.microsoft.com/office/drawing/2014/main" id="{1BAFC2DA-F2A5-3E1F-7D20-7A901808BA2E}"/>
              </a:ext>
            </a:extLst>
          </p:cNvPr>
          <p:cNvGrpSpPr/>
          <p:nvPr/>
        </p:nvGrpSpPr>
        <p:grpSpPr>
          <a:xfrm>
            <a:off x="1073773" y="6046323"/>
            <a:ext cx="797296" cy="180000"/>
            <a:chOff x="5456868" y="6365965"/>
            <a:chExt cx="797296" cy="180000"/>
          </a:xfrm>
        </p:grpSpPr>
        <p:sp>
          <p:nvSpPr>
            <p:cNvPr id="25" name="TextBox 24">
              <a:extLst>
                <a:ext uri="{FF2B5EF4-FFF2-40B4-BE49-F238E27FC236}">
                  <a16:creationId xmlns:a16="http://schemas.microsoft.com/office/drawing/2014/main" id="{E89D3836-96E7-6CC3-2C86-C093D7B7D279}"/>
                </a:ext>
              </a:extLst>
            </p:cNvPr>
            <p:cNvSpPr txBox="1">
              <a:spLocks/>
            </p:cNvSpPr>
            <p:nvPr/>
          </p:nvSpPr>
          <p:spPr>
            <a:xfrm>
              <a:off x="5690868" y="6394409"/>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R="0" lvl="0" algn="l" defTabSz="914400" rtl="0" eaLnBrk="1" fontAlgn="auto" latinLnBrk="0" hangingPunct="1">
                <a:lnSpc>
                  <a:spcPct val="100000"/>
                </a:lnSpc>
                <a:spcBef>
                  <a:spcPts val="0"/>
                </a:spcBef>
                <a:spcAft>
                  <a:spcPts val="0"/>
                </a:spcAft>
                <a:buClrTx/>
                <a:buSzTx/>
                <a:tabLst/>
                <a:defRPr>
                  <a:solidFill>
                    <a:srgbClr val="1D1D1D"/>
                  </a:solidFill>
                </a:defRPr>
              </a:pPr>
              <a:r>
                <a:rPr kumimoji="0" lang="en-US" sz="800" u="none" strike="noStrike" kern="1200" cap="none" spc="-10" normalizeH="0" baseline="0" noProof="0" dirty="0">
                  <a:ln>
                    <a:noFill/>
                  </a:ln>
                  <a:solidFill>
                    <a:srgbClr val="1D1D1D"/>
                  </a:solidFill>
                  <a:effectLst/>
                  <a:uLnTx/>
                  <a:uFillTx/>
                  <a:latin typeface="Arial" pitchFamily="34" charset="0"/>
                  <a:ea typeface="+mn-ea"/>
                  <a:cs typeface="+mn-cs"/>
                </a:rPr>
                <a:t>New Role</a:t>
              </a:r>
            </a:p>
          </p:txBody>
        </p:sp>
        <p:sp>
          <p:nvSpPr>
            <p:cNvPr id="26" name="TextBox 25">
              <a:extLst>
                <a:ext uri="{FF2B5EF4-FFF2-40B4-BE49-F238E27FC236}">
                  <a16:creationId xmlns:a16="http://schemas.microsoft.com/office/drawing/2014/main" id="{85A07468-5FDD-5A53-2D2B-F8C3B2457154}"/>
                </a:ext>
              </a:extLst>
            </p:cNvPr>
            <p:cNvSpPr txBox="1">
              <a:spLocks/>
            </p:cNvSpPr>
            <p:nvPr/>
          </p:nvSpPr>
          <p:spPr>
            <a:xfrm>
              <a:off x="5456868" y="6365965"/>
              <a:ext cx="180000" cy="180000"/>
            </a:xfrm>
            <a:prstGeom prst="rect">
              <a:avLst/>
            </a:prstGeom>
            <a:solidFill>
              <a:srgbClr val="00C27A"/>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80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sp>
        <p:nvSpPr>
          <p:cNvPr id="27" name="TextBox 26">
            <a:extLst>
              <a:ext uri="{FF2B5EF4-FFF2-40B4-BE49-F238E27FC236}">
                <a16:creationId xmlns:a16="http://schemas.microsoft.com/office/drawing/2014/main" id="{080A2A8C-355E-7DBF-0564-E7265575A7A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7494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9A4903-2215-A9C1-999D-086ECD3634B9}"/>
              </a:ext>
            </a:extLst>
          </p:cNvPr>
          <p:cNvSpPr>
            <a:spLocks noGrp="1"/>
          </p:cNvSpPr>
          <p:nvPr>
            <p:ph type="sldNum" sz="quarter" idx="4"/>
          </p:nvPr>
        </p:nvSpPr>
        <p:spPr/>
        <p:txBody>
          <a:bodyPr/>
          <a:lstStyle/>
          <a:p>
            <a:pPr algn="ctr"/>
            <a:fld id="{1875A764-3B06-454E-8ABA-2F6ED0EB58E9}" type="slidenum">
              <a:rPr lang="en-US" smtClean="0"/>
              <a:t>29</a:t>
            </a:fld>
            <a:endParaRPr lang="en-US"/>
          </a:p>
        </p:txBody>
      </p:sp>
      <p:sp>
        <p:nvSpPr>
          <p:cNvPr id="3" name="Title 2">
            <a:extLst>
              <a:ext uri="{FF2B5EF4-FFF2-40B4-BE49-F238E27FC236}">
                <a16:creationId xmlns:a16="http://schemas.microsoft.com/office/drawing/2014/main" id="{06E9A2E5-02BB-48CE-DE44-A988D1AAB2BF}"/>
              </a:ext>
            </a:extLst>
          </p:cNvPr>
          <p:cNvSpPr>
            <a:spLocks noGrp="1"/>
          </p:cNvSpPr>
          <p:nvPr>
            <p:ph type="title"/>
          </p:nvPr>
        </p:nvSpPr>
        <p:spPr/>
        <p:txBody>
          <a:bodyPr/>
          <a:lstStyle/>
          <a:p>
            <a:r>
              <a:rPr lang="en-GB" dirty="0">
                <a:solidFill>
                  <a:srgbClr val="765FFF"/>
                </a:solidFill>
                <a:ea typeface="Lato"/>
                <a:cs typeface="Segoe UI" panose="020B0502040204020203" pitchFamily="34" charset="0"/>
              </a:rPr>
              <a:t>Value Ranked List </a:t>
            </a:r>
            <a:r>
              <a:rPr lang="en-GB" dirty="0">
                <a:ea typeface="Lato"/>
                <a:cs typeface="Segoe UI" panose="020B0502040204020203" pitchFamily="34" charset="0"/>
              </a:rPr>
              <a:t>of Critical Roles</a:t>
            </a:r>
            <a:endParaRPr lang="en-US" dirty="0"/>
          </a:p>
        </p:txBody>
      </p:sp>
      <p:sp>
        <p:nvSpPr>
          <p:cNvPr id="4" name="Title 2">
            <a:extLst>
              <a:ext uri="{FF2B5EF4-FFF2-40B4-BE49-F238E27FC236}">
                <a16:creationId xmlns:a16="http://schemas.microsoft.com/office/drawing/2014/main" id="{EB667AF6-8764-4640-1C1B-DFFE21823805}"/>
              </a:ext>
            </a:extLst>
          </p:cNvPr>
          <p:cNvSpPr txBox="1">
            <a:spLocks/>
          </p:cNvSpPr>
          <p:nvPr/>
        </p:nvSpPr>
        <p:spPr>
          <a:xfrm>
            <a:off x="5061362" y="1588564"/>
            <a:ext cx="3913336" cy="184666"/>
          </a:xfrm>
          <a:prstGeom prst="rect">
            <a:avLst/>
          </a:prstGeom>
          <a:noFill/>
        </p:spPr>
        <p:txBody>
          <a:bodyPr vert="horz" wrap="square"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BOTTOM </a:t>
            </a:r>
            <a:r>
              <a:rPr lang="en-US" sz="1200" b="1" spc="-10" dirty="0">
                <a:solidFill>
                  <a:schemeClr val="accent1"/>
                </a:solidFill>
                <a:latin typeface="Segoe UI" pitchFamily="34" charset="0"/>
              </a:rPr>
              <a:t>15</a:t>
            </a: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CRITICAL ROLES DRIVE 27% VALUE </a:t>
            </a:r>
          </a:p>
        </p:txBody>
      </p:sp>
      <p:sp>
        <p:nvSpPr>
          <p:cNvPr id="5" name="Title 2">
            <a:extLst>
              <a:ext uri="{FF2B5EF4-FFF2-40B4-BE49-F238E27FC236}">
                <a16:creationId xmlns:a16="http://schemas.microsoft.com/office/drawing/2014/main" id="{EE15172B-A639-C1AD-B4A1-1D9FF7E2D2CA}"/>
              </a:ext>
            </a:extLst>
          </p:cNvPr>
          <p:cNvSpPr txBox="1">
            <a:spLocks/>
          </p:cNvSpPr>
          <p:nvPr/>
        </p:nvSpPr>
        <p:spPr>
          <a:xfrm>
            <a:off x="638422" y="1588564"/>
            <a:ext cx="3480573" cy="184666"/>
          </a:xfrm>
          <a:prstGeom prst="rect">
            <a:avLst/>
          </a:prstGeom>
          <a:noFill/>
        </p:spPr>
        <p:txBody>
          <a:bodyPr vert="horz"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TOP </a:t>
            </a:r>
            <a:r>
              <a:rPr lang="en-US" sz="1200" b="1" spc="-10" dirty="0">
                <a:solidFill>
                  <a:schemeClr val="accent1"/>
                </a:solidFill>
                <a:latin typeface="Segoe UI" pitchFamily="34" charset="0"/>
              </a:rPr>
              <a:t>15</a:t>
            </a: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ROLES DRIVE 73% OF THE VALUE</a:t>
            </a:r>
          </a:p>
        </p:txBody>
      </p:sp>
      <p:sp>
        <p:nvSpPr>
          <p:cNvPr id="6" name="Rectangle 5">
            <a:extLst>
              <a:ext uri="{FF2B5EF4-FFF2-40B4-BE49-F238E27FC236}">
                <a16:creationId xmlns:a16="http://schemas.microsoft.com/office/drawing/2014/main" id="{FE49F526-AA28-C8D3-514D-947E830C2C23}"/>
              </a:ext>
            </a:extLst>
          </p:cNvPr>
          <p:cNvSpPr/>
          <p:nvPr/>
        </p:nvSpPr>
        <p:spPr>
          <a:xfrm>
            <a:off x="9900819" y="1045631"/>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1200" b="1" spc="-25" dirty="0">
                <a:solidFill>
                  <a:srgbClr val="F2F2F2"/>
                </a:solidFill>
                <a:latin typeface="Segoe UI" pitchFamily="34" charset="0"/>
                <a:cs typeface="Arial"/>
              </a:rPr>
              <a:t>9 </a:t>
            </a:r>
            <a:r>
              <a:rPr kumimoji="0" lang="en-US" sz="1200" b="1" i="0" u="none" strike="noStrike" kern="0" cap="none" spc="-25" normalizeH="0" baseline="0" noProof="0" dirty="0">
                <a:ln>
                  <a:noFill/>
                </a:ln>
                <a:solidFill>
                  <a:srgbClr val="F2F2F2"/>
                </a:solidFill>
                <a:effectLst/>
                <a:uLnTx/>
                <a:uFillTx/>
                <a:latin typeface="Segoe UI" pitchFamily="34" charset="0"/>
                <a:ea typeface="+mn-ea"/>
                <a:cs typeface="Arial"/>
              </a:rPr>
              <a:t>New Roles Will Generate 25% of Future Value</a:t>
            </a:r>
          </a:p>
        </p:txBody>
      </p:sp>
      <p:sp>
        <p:nvSpPr>
          <p:cNvPr id="7" name="Rectangle 6">
            <a:extLst>
              <a:ext uri="{FF2B5EF4-FFF2-40B4-BE49-F238E27FC236}">
                <a16:creationId xmlns:a16="http://schemas.microsoft.com/office/drawing/2014/main" id="{A4E840BE-622F-E837-28BF-A0F9D194D284}"/>
              </a:ext>
            </a:extLst>
          </p:cNvPr>
          <p:cNvSpPr/>
          <p:nvPr/>
        </p:nvSpPr>
        <p:spPr>
          <a:xfrm>
            <a:off x="9897500" y="3876533"/>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Digital &amp; R&amp;D requires further detailing </a:t>
            </a:r>
          </a:p>
        </p:txBody>
      </p:sp>
      <p:sp>
        <p:nvSpPr>
          <p:cNvPr id="8" name="Rectangle 7">
            <a:extLst>
              <a:ext uri="{FF2B5EF4-FFF2-40B4-BE49-F238E27FC236}">
                <a16:creationId xmlns:a16="http://schemas.microsoft.com/office/drawing/2014/main" id="{0A7CDD88-AB4A-F374-4B27-6817DDE88D46}"/>
              </a:ext>
            </a:extLst>
          </p:cNvPr>
          <p:cNvSpPr/>
          <p:nvPr/>
        </p:nvSpPr>
        <p:spPr>
          <a:xfrm>
            <a:off x="9921325" y="2179099"/>
            <a:ext cx="1521632" cy="1521632"/>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30% (9/30) roles in X &amp; AA. Will need to determine location of roles, </a:t>
            </a:r>
            <a:r>
              <a:rPr lang="en-GB" sz="1200" spc="-10" dirty="0">
                <a:solidFill>
                  <a:srgbClr val="F2F2F2"/>
                </a:solidFill>
                <a:latin typeface="Arial" pitchFamily="34" charset="0"/>
                <a:cs typeface="Arial"/>
              </a:rPr>
              <a:t>and assess need to merge / eliminate / create new roles post integration</a:t>
            </a:r>
            <a:endParaRPr lang="en-US" sz="1200" spc="-10" dirty="0">
              <a:solidFill>
                <a:srgbClr val="F2F2F2"/>
              </a:solidFill>
              <a:latin typeface="Arial" pitchFamily="34" charset="0"/>
              <a:cs typeface="Arial"/>
            </a:endParaRPr>
          </a:p>
        </p:txBody>
      </p:sp>
      <p:graphicFrame>
        <p:nvGraphicFramePr>
          <p:cNvPr id="9" name="Table 8">
            <a:extLst>
              <a:ext uri="{FF2B5EF4-FFF2-40B4-BE49-F238E27FC236}">
                <a16:creationId xmlns:a16="http://schemas.microsoft.com/office/drawing/2014/main" id="{C228636B-E3D9-B4AE-598C-014224024070}"/>
              </a:ext>
            </a:extLst>
          </p:cNvPr>
          <p:cNvGraphicFramePr>
            <a:graphicFrameLocks noGrp="1"/>
          </p:cNvGraphicFramePr>
          <p:nvPr/>
        </p:nvGraphicFramePr>
        <p:xfrm>
          <a:off x="525629" y="2051728"/>
          <a:ext cx="4103184" cy="3621256"/>
        </p:xfrm>
        <a:graphic>
          <a:graphicData uri="http://schemas.openxmlformats.org/drawingml/2006/table">
            <a:tbl>
              <a:tblPr>
                <a:tableStyleId>{5C22544A-7EE6-4342-B048-85BDC9FD1C3A}</a:tableStyleId>
              </a:tblPr>
              <a:tblGrid>
                <a:gridCol w="538827">
                  <a:extLst>
                    <a:ext uri="{9D8B030D-6E8A-4147-A177-3AD203B41FA5}">
                      <a16:colId xmlns:a16="http://schemas.microsoft.com/office/drawing/2014/main" val="3658240485"/>
                    </a:ext>
                  </a:extLst>
                </a:gridCol>
                <a:gridCol w="1831508">
                  <a:extLst>
                    <a:ext uri="{9D8B030D-6E8A-4147-A177-3AD203B41FA5}">
                      <a16:colId xmlns:a16="http://schemas.microsoft.com/office/drawing/2014/main" val="828746394"/>
                    </a:ext>
                  </a:extLst>
                </a:gridCol>
                <a:gridCol w="1024531">
                  <a:extLst>
                    <a:ext uri="{9D8B030D-6E8A-4147-A177-3AD203B41FA5}">
                      <a16:colId xmlns:a16="http://schemas.microsoft.com/office/drawing/2014/main" val="3594722947"/>
                    </a:ext>
                  </a:extLst>
                </a:gridCol>
                <a:gridCol w="708318">
                  <a:extLst>
                    <a:ext uri="{9D8B030D-6E8A-4147-A177-3AD203B41FA5}">
                      <a16:colId xmlns:a16="http://schemas.microsoft.com/office/drawing/2014/main" val="1568904609"/>
                    </a:ext>
                  </a:extLst>
                </a:gridCol>
              </a:tblGrid>
              <a:tr h="233718">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l"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2549660478"/>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Operating officer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264</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116600521"/>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AgTech</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668569768"/>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Commercial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21%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140734235"/>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Integration</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05136062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Operations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1950992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344052241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Farming Officer</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165</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743751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Director of M&amp;A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114193717"/>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9</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 Market  Intelligence</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53%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066263423"/>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Strategic Reserves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57%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074566529"/>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MD (acquired entity)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116</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081890348"/>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12</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Chief Commercial Officer AA</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232548400"/>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Innovation (Distr/Food Svcs)</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37813718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FP&amp;A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284360152"/>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Local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83</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267939690"/>
                  </a:ext>
                </a:extLst>
              </a:tr>
            </a:tbl>
          </a:graphicData>
        </a:graphic>
      </p:graphicFrame>
      <p:graphicFrame>
        <p:nvGraphicFramePr>
          <p:cNvPr id="10" name="Table 9">
            <a:extLst>
              <a:ext uri="{FF2B5EF4-FFF2-40B4-BE49-F238E27FC236}">
                <a16:creationId xmlns:a16="http://schemas.microsoft.com/office/drawing/2014/main" id="{80E21ABA-024D-1437-FE50-BD5A8BA78936}"/>
              </a:ext>
            </a:extLst>
          </p:cNvPr>
          <p:cNvGraphicFramePr>
            <a:graphicFrameLocks noGrp="1"/>
          </p:cNvGraphicFramePr>
          <p:nvPr>
            <p:extLst>
              <p:ext uri="{D42A27DB-BD31-4B8C-83A1-F6EECF244321}">
                <p14:modId xmlns:p14="http://schemas.microsoft.com/office/powerpoint/2010/main" val="310746476"/>
              </p:ext>
            </p:extLst>
          </p:nvPr>
        </p:nvGraphicFramePr>
        <p:xfrm>
          <a:off x="4964899" y="2051727"/>
          <a:ext cx="3931810" cy="3655614"/>
        </p:xfrm>
        <a:graphic>
          <a:graphicData uri="http://schemas.openxmlformats.org/drawingml/2006/table">
            <a:tbl>
              <a:tblPr>
                <a:tableStyleId>{5C22544A-7EE6-4342-B048-85BDC9FD1C3A}</a:tableStyleId>
              </a:tblPr>
              <a:tblGrid>
                <a:gridCol w="516323">
                  <a:extLst>
                    <a:ext uri="{9D8B030D-6E8A-4147-A177-3AD203B41FA5}">
                      <a16:colId xmlns:a16="http://schemas.microsoft.com/office/drawing/2014/main" val="417373094"/>
                    </a:ext>
                  </a:extLst>
                </a:gridCol>
                <a:gridCol w="1755013">
                  <a:extLst>
                    <a:ext uri="{9D8B030D-6E8A-4147-A177-3AD203B41FA5}">
                      <a16:colId xmlns:a16="http://schemas.microsoft.com/office/drawing/2014/main" val="4219093523"/>
                    </a:ext>
                  </a:extLst>
                </a:gridCol>
                <a:gridCol w="904465">
                  <a:extLst>
                    <a:ext uri="{9D8B030D-6E8A-4147-A177-3AD203B41FA5}">
                      <a16:colId xmlns:a16="http://schemas.microsoft.com/office/drawing/2014/main" val="3035953052"/>
                    </a:ext>
                  </a:extLst>
                </a:gridCol>
                <a:gridCol w="756009">
                  <a:extLst>
                    <a:ext uri="{9D8B030D-6E8A-4147-A177-3AD203B41FA5}">
                      <a16:colId xmlns:a16="http://schemas.microsoft.com/office/drawing/2014/main" val="4249880168"/>
                    </a:ext>
                  </a:extLst>
                </a:gridCol>
              </a:tblGrid>
              <a:tr h="238837">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1437998721"/>
                  </a:ext>
                </a:extLst>
              </a:tr>
              <a:tr h="269745">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16</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VP Treasury </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76%</a:t>
                      </a:r>
                    </a:p>
                  </a:txBody>
                  <a:tcPr marL="0" marR="0" marT="0" marB="0" anchor="b">
                    <a:solidFill>
                      <a:srgbClr val="F2F2F2"/>
                    </a:solidFill>
                  </a:tcPr>
                </a:tc>
                <a:extLst>
                  <a:ext uri="{0D108BD9-81ED-4DB2-BD59-A6C34878D82A}">
                    <a16:rowId xmlns:a16="http://schemas.microsoft.com/office/drawing/2014/main" val="2878496489"/>
                  </a:ext>
                </a:extLst>
              </a:tr>
              <a:tr h="224788">
                <a:tc>
                  <a:txBody>
                    <a:bodyPr/>
                    <a:lstStyle/>
                    <a:p>
                      <a:pPr algn="ctr" fontAlgn="b"/>
                      <a:r>
                        <a:rPr lang="en-US" sz="800" u="none" strike="noStrike" dirty="0">
                          <a:solidFill>
                            <a:srgbClr val="1D1D1D"/>
                          </a:solidFill>
                          <a:effectLst/>
                          <a:latin typeface="Arial" pitchFamily="34" charset="0"/>
                          <a:ea typeface="Lato" panose="020F0502020204030203" pitchFamily="34" charset="0"/>
                          <a:cs typeface="Lato" panose="020F0502020204030203" pitchFamily="34" charset="0"/>
                        </a:rPr>
                        <a:t>17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IT (Digital Foundations)</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78%</a:t>
                      </a:r>
                    </a:p>
                  </a:txBody>
                  <a:tcPr marL="0" marR="0" marT="0" marB="0" anchor="b">
                    <a:solidFill>
                      <a:srgbClr val="FFFFFF"/>
                    </a:solidFill>
                  </a:tcPr>
                </a:tc>
                <a:extLst>
                  <a:ext uri="{0D108BD9-81ED-4DB2-BD59-A6C34878D82A}">
                    <a16:rowId xmlns:a16="http://schemas.microsoft.com/office/drawing/2014/main" val="2103037242"/>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1</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80%</a:t>
                      </a:r>
                    </a:p>
                  </a:txBody>
                  <a:tcPr marL="0" marR="0" marT="0" marB="0" anchor="b">
                    <a:solidFill>
                      <a:srgbClr val="F2F2F2"/>
                    </a:solidFill>
                  </a:tcPr>
                </a:tc>
                <a:extLst>
                  <a:ext uri="{0D108BD9-81ED-4DB2-BD59-A6C34878D82A}">
                    <a16:rowId xmlns:a16="http://schemas.microsoft.com/office/drawing/2014/main" val="2608260324"/>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2</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82%</a:t>
                      </a:r>
                    </a:p>
                  </a:txBody>
                  <a:tcPr marL="0" marR="0" marT="0" marB="0" anchor="b">
                    <a:solidFill>
                      <a:srgbClr val="FFFFFF"/>
                    </a:solidFill>
                  </a:tcPr>
                </a:tc>
                <a:extLst>
                  <a:ext uri="{0D108BD9-81ED-4DB2-BD59-A6C34878D82A}">
                    <a16:rowId xmlns:a16="http://schemas.microsoft.com/office/drawing/2014/main" val="1733557753"/>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3</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85%</a:t>
                      </a:r>
                    </a:p>
                  </a:txBody>
                  <a:tcPr marL="0" marR="0" marT="0" marB="0" anchor="b">
                    <a:solidFill>
                      <a:srgbClr val="F2F2F2"/>
                    </a:solidFill>
                  </a:tcPr>
                </a:tc>
                <a:extLst>
                  <a:ext uri="{0D108BD9-81ED-4DB2-BD59-A6C34878D82A}">
                    <a16:rowId xmlns:a16="http://schemas.microsoft.com/office/drawing/2014/main" val="200061347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21</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Business Development Head (R&amp;D)</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66</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87%</a:t>
                      </a:r>
                    </a:p>
                  </a:txBody>
                  <a:tcPr marL="0" marR="0" marT="0" marB="0" anchor="b">
                    <a:solidFill>
                      <a:srgbClr val="FFFFFF"/>
                    </a:solidFill>
                  </a:tcPr>
                </a:tc>
                <a:extLst>
                  <a:ext uri="{0D108BD9-81ED-4DB2-BD59-A6C34878D82A}">
                    <a16:rowId xmlns:a16="http://schemas.microsoft.com/office/drawing/2014/main" val="772095976"/>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22</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Strategy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58</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88%</a:t>
                      </a:r>
                    </a:p>
                  </a:txBody>
                  <a:tcPr marL="0" marR="0" marT="0" marB="0" anchor="b">
                    <a:solidFill>
                      <a:srgbClr val="F2F2F2"/>
                    </a:solidFill>
                  </a:tcPr>
                </a:tc>
                <a:extLst>
                  <a:ext uri="{0D108BD9-81ED-4DB2-BD59-A6C34878D82A}">
                    <a16:rowId xmlns:a16="http://schemas.microsoft.com/office/drawing/2014/main" val="55144968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23</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Strategy Lead X</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90%</a:t>
                      </a:r>
                    </a:p>
                  </a:txBody>
                  <a:tcPr marL="0" marR="0" marT="0" marB="0" anchor="b">
                    <a:solidFill>
                      <a:srgbClr val="FFFFFF"/>
                    </a:solidFill>
                  </a:tcPr>
                </a:tc>
                <a:extLst>
                  <a:ext uri="{0D108BD9-81ED-4DB2-BD59-A6C34878D82A}">
                    <a16:rowId xmlns:a16="http://schemas.microsoft.com/office/drawing/2014/main" val="941669396"/>
                  </a:ext>
                </a:extLst>
              </a:tr>
              <a:tr h="224788">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Export X</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92%</a:t>
                      </a:r>
                    </a:p>
                  </a:txBody>
                  <a:tcPr marL="0" marR="0" marT="0" marB="0" anchor="b">
                    <a:solidFill>
                      <a:srgbClr val="F2F2F2"/>
                    </a:solidFill>
                  </a:tcPr>
                </a:tc>
                <a:extLst>
                  <a:ext uri="{0D108BD9-81ED-4DB2-BD59-A6C34878D82A}">
                    <a16:rowId xmlns:a16="http://schemas.microsoft.com/office/drawing/2014/main" val="390120029"/>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Governance (Finance)</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93%</a:t>
                      </a:r>
                    </a:p>
                  </a:txBody>
                  <a:tcPr marL="0" marR="0" marT="0" marB="0" anchor="b">
                    <a:solidFill>
                      <a:srgbClr val="FFFFFF"/>
                    </a:solidFill>
                  </a:tcPr>
                </a:tc>
                <a:extLst>
                  <a:ext uri="{0D108BD9-81ED-4DB2-BD59-A6C34878D82A}">
                    <a16:rowId xmlns:a16="http://schemas.microsoft.com/office/drawing/2014/main" val="198897179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ESG</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95%</a:t>
                      </a:r>
                    </a:p>
                  </a:txBody>
                  <a:tcPr marL="0" marR="0" marT="0" marB="0" anchor="b">
                    <a:solidFill>
                      <a:srgbClr val="F2F2F2"/>
                    </a:solidFill>
                  </a:tcPr>
                </a:tc>
                <a:extLst>
                  <a:ext uri="{0D108BD9-81ED-4DB2-BD59-A6C34878D82A}">
                    <a16:rowId xmlns:a16="http://schemas.microsoft.com/office/drawing/2014/main" val="620242563"/>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Finance (cost control)</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96%</a:t>
                      </a:r>
                    </a:p>
                  </a:txBody>
                  <a:tcPr marL="0" marR="0" marT="0" marB="0" anchor="b">
                    <a:solidFill>
                      <a:srgbClr val="FFFFFF"/>
                    </a:solidFill>
                  </a:tcPr>
                </a:tc>
                <a:extLst>
                  <a:ext uri="{0D108BD9-81ED-4DB2-BD59-A6C34878D82A}">
                    <a16:rowId xmlns:a16="http://schemas.microsoft.com/office/drawing/2014/main" val="25658912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Talent Acquisition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98%</a:t>
                      </a:r>
                    </a:p>
                  </a:txBody>
                  <a:tcPr marL="0" marR="0" marT="0" marB="0" anchor="b">
                    <a:solidFill>
                      <a:srgbClr val="F2F2F2"/>
                    </a:solidFill>
                  </a:tcPr>
                </a:tc>
                <a:extLst>
                  <a:ext uri="{0D108BD9-81ED-4DB2-BD59-A6C34878D82A}">
                    <a16:rowId xmlns:a16="http://schemas.microsoft.com/office/drawing/2014/main" val="2169159436"/>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29</a:t>
                      </a:r>
                    </a:p>
                  </a:txBody>
                  <a:tcPr marL="0" marR="0" marT="0" marB="0" anchor="b">
                    <a:solidFill>
                      <a:srgbClr val="FFFFFF"/>
                    </a:solidFill>
                  </a:tcPr>
                </a:tc>
                <a:tc>
                  <a:txBody>
                    <a:bodyPr/>
                    <a:lstStyle/>
                    <a:p>
                      <a:pPr algn="l"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MD Y</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40</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extLst>
                  <a:ext uri="{0D108BD9-81ED-4DB2-BD59-A6C34878D82A}">
                    <a16:rowId xmlns:a16="http://schemas.microsoft.com/office/drawing/2014/main" val="2192557938"/>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30</a:t>
                      </a:r>
                    </a:p>
                  </a:txBody>
                  <a:tcPr marL="0" marR="0" marT="0" marB="0" anchor="b">
                    <a:solidFill>
                      <a:srgbClr val="F2F2F2"/>
                    </a:solidFill>
                  </a:tcPr>
                </a:tc>
                <a:tc>
                  <a:txBody>
                    <a:bodyPr/>
                    <a:lstStyle/>
                    <a:p>
                      <a:pPr algn="l"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Head of Workforce Planning &amp; OD </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100%</a:t>
                      </a:r>
                    </a:p>
                  </a:txBody>
                  <a:tcPr marL="0" marR="0" marT="0" marB="0" anchor="b">
                    <a:solidFill>
                      <a:srgbClr val="F2F2F2"/>
                    </a:solidFill>
                  </a:tcPr>
                </a:tc>
                <a:extLst>
                  <a:ext uri="{0D108BD9-81ED-4DB2-BD59-A6C34878D82A}">
                    <a16:rowId xmlns:a16="http://schemas.microsoft.com/office/drawing/2014/main" val="113842929"/>
                  </a:ext>
                </a:extLst>
              </a:tr>
            </a:tbl>
          </a:graphicData>
        </a:graphic>
      </p:graphicFrame>
      <p:sp>
        <p:nvSpPr>
          <p:cNvPr id="11" name="Rectangle 10">
            <a:extLst>
              <a:ext uri="{FF2B5EF4-FFF2-40B4-BE49-F238E27FC236}">
                <a16:creationId xmlns:a16="http://schemas.microsoft.com/office/drawing/2014/main" id="{0378A7B0-C4DD-7D13-07D5-00BC814A6100}"/>
              </a:ext>
            </a:extLst>
          </p:cNvPr>
          <p:cNvSpPr/>
          <p:nvPr/>
        </p:nvSpPr>
        <p:spPr>
          <a:xfrm>
            <a:off x="9897500" y="5018265"/>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Head of Integration timing TBD</a:t>
            </a:r>
          </a:p>
        </p:txBody>
      </p:sp>
      <p:sp>
        <p:nvSpPr>
          <p:cNvPr id="12" name="TextBox 11">
            <a:extLst>
              <a:ext uri="{FF2B5EF4-FFF2-40B4-BE49-F238E27FC236}">
                <a16:creationId xmlns:a16="http://schemas.microsoft.com/office/drawing/2014/main" id="{E5391A3E-2C41-70CE-F446-9347C44FCD0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232291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0C5F6D-9981-66E1-85B5-373B3D6429D4}"/>
              </a:ext>
            </a:extLst>
          </p:cNvPr>
          <p:cNvSpPr>
            <a:spLocks noGrp="1"/>
          </p:cNvSpPr>
          <p:nvPr>
            <p:ph type="sldNum" sz="quarter" idx="4"/>
          </p:nvPr>
        </p:nvSpPr>
        <p:spPr/>
        <p:txBody>
          <a:bodyPr/>
          <a:lstStyle/>
          <a:p>
            <a:pPr algn="ctr"/>
            <a:fld id="{1875A764-3B06-454E-8ABA-2F6ED0EB58E9}" type="slidenum">
              <a:rPr lang="en-US" smtClean="0"/>
              <a:t>30</a:t>
            </a:fld>
            <a:endParaRPr lang="en-US"/>
          </a:p>
        </p:txBody>
      </p:sp>
      <p:sp>
        <p:nvSpPr>
          <p:cNvPr id="3" name="Title 2">
            <a:extLst>
              <a:ext uri="{FF2B5EF4-FFF2-40B4-BE49-F238E27FC236}">
                <a16:creationId xmlns:a16="http://schemas.microsoft.com/office/drawing/2014/main" id="{C93F2B9A-E389-1DF6-45D1-D0DFB2487834}"/>
              </a:ext>
            </a:extLst>
          </p:cNvPr>
          <p:cNvSpPr>
            <a:spLocks noGrp="1"/>
          </p:cNvSpPr>
          <p:nvPr>
            <p:ph type="title"/>
          </p:nvPr>
        </p:nvSpPr>
        <p:spPr/>
        <p:txBody>
          <a:bodyPr/>
          <a:lstStyle/>
          <a:p>
            <a:r>
              <a:rPr lang="en-GB" dirty="0">
                <a:solidFill>
                  <a:srgbClr val="281A42"/>
                </a:solidFill>
                <a:ea typeface="Lato"/>
                <a:cs typeface="Segoe UI" panose="020B0502040204020203" pitchFamily="34" charset="0"/>
              </a:rPr>
              <a:t>Human Capital Balance Sheet</a:t>
            </a:r>
            <a:endParaRPr lang="en-US" dirty="0"/>
          </a:p>
        </p:txBody>
      </p:sp>
      <p:sp>
        <p:nvSpPr>
          <p:cNvPr id="4" name="Rectangle: Rounded Corners 147">
            <a:extLst>
              <a:ext uri="{FF2B5EF4-FFF2-40B4-BE49-F238E27FC236}">
                <a16:creationId xmlns:a16="http://schemas.microsoft.com/office/drawing/2014/main" id="{F4BC9E8F-691E-E1B6-04B7-3EAA20BF4C30}"/>
              </a:ext>
            </a:extLst>
          </p:cNvPr>
          <p:cNvSpPr/>
          <p:nvPr/>
        </p:nvSpPr>
        <p:spPr>
          <a:xfrm>
            <a:off x="7692912" y="866727"/>
            <a:ext cx="4320496" cy="4769446"/>
          </a:xfrm>
          <a:prstGeom prst="roundRect">
            <a:avLst>
              <a:gd name="adj" fmla="val 5743"/>
            </a:avLst>
          </a:prstGeom>
          <a:noFill/>
          <a:ln>
            <a:solidFill>
              <a:schemeClr val="accent1"/>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12700">
              <a:spcBef>
                <a:spcPts val="100"/>
              </a:spcBef>
              <a:buClrTx/>
              <a:buSzTx/>
              <a:defRPr/>
            </a:pPr>
            <a:r>
              <a:rPr lang="en-US" sz="1100" b="1" kern="0" dirty="0">
                <a:solidFill>
                  <a:schemeClr val="tx1"/>
                </a:solidFill>
                <a:latin typeface="Arial" panose="020B0604020202020204" pitchFamily="34" charset="0"/>
                <a:cs typeface="Arial" panose="020B0604020202020204" pitchFamily="34" charset="0"/>
              </a:rPr>
              <a:t>Human Capital Insights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All N-1 Roles Remain Accountable for Value Creation, Though Not Explicitly Labeled Critical. the CHRO and CFO Roles Were Discussed, but the Critical Roles Identified Were at the N-2 Level Based on Required Work</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Majority of Roles Appear to Be Set up for Success (authority, Team Capability)</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Need to Assess and Address Talent Risks (starting with COO Aa, CCO X, COO X, CEO Aa)</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Due to Recent Acquisitions, Details on Key Roles in </a:t>
            </a:r>
            <a:r>
              <a:rPr lang="en-GB" sz="1050" kern="0" dirty="0">
                <a:solidFill>
                  <a:schemeClr val="tx1"/>
                </a:solidFill>
                <a:latin typeface="Arial" panose="020B0604020202020204" pitchFamily="34" charset="0"/>
                <a:cs typeface="Arial" panose="020B0604020202020204" pitchFamily="34" charset="0"/>
              </a:rPr>
              <a:t>X </a:t>
            </a:r>
            <a:r>
              <a:rPr lang="en-US" sz="1050" kern="0" dirty="0">
                <a:solidFill>
                  <a:schemeClr val="tx1"/>
                </a:solidFill>
                <a:latin typeface="Arial" panose="020B0604020202020204" pitchFamily="34" charset="0"/>
                <a:cs typeface="Arial" panose="020B0604020202020204" pitchFamily="34" charset="0"/>
              </a:rPr>
              <a:t>&amp; Aa Are Limited. Synergies and Talent May Exist, Especially in Commercial and Operations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Within HoldCo, Further Effort Required to Define the Work &amp; Roles in Digital and R&amp;D/Innovation</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Ability to Scale Assessment Requires Further Detailing</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Succession Plan for Critical Roles Appears Limited</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The Timing for Filling New Roles Needs Review Potentially Starting with Three Key Positions: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Head of Integration – Given Criticality of Integration to Extract Synergies and Drive Organic Growth, Handling This under the Strategy Officer May Not Be Optimal</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Broadening Strategic Reserves Role to Include (proactive) Food Security Intelligence &amp; Crisis Management Seems Critical to Meet Stakeholder Needs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Head of Market Intelligence Seems Critical to Forecast Trends, Identify Growth Opportunities Using R&amp;D &amp; Drive Stronger Partnerships with Acquired Entities &amp; Geographies</a:t>
            </a:r>
          </a:p>
        </p:txBody>
      </p:sp>
      <p:grpSp>
        <p:nvGrpSpPr>
          <p:cNvPr id="5" name="Group 4">
            <a:extLst>
              <a:ext uri="{FF2B5EF4-FFF2-40B4-BE49-F238E27FC236}">
                <a16:creationId xmlns:a16="http://schemas.microsoft.com/office/drawing/2014/main" id="{894AF6DC-43EE-0E9E-8A90-DDCC1CFE0201}"/>
              </a:ext>
            </a:extLst>
          </p:cNvPr>
          <p:cNvGrpSpPr/>
          <p:nvPr/>
        </p:nvGrpSpPr>
        <p:grpSpPr>
          <a:xfrm>
            <a:off x="7957018" y="5696932"/>
            <a:ext cx="4080575" cy="755629"/>
            <a:chOff x="7663543" y="5753185"/>
            <a:chExt cx="4080575" cy="755629"/>
          </a:xfrm>
        </p:grpSpPr>
        <p:sp>
          <p:nvSpPr>
            <p:cNvPr id="6" name="Rectangle: Rounded Corners 166">
              <a:extLst>
                <a:ext uri="{FF2B5EF4-FFF2-40B4-BE49-F238E27FC236}">
                  <a16:creationId xmlns:a16="http://schemas.microsoft.com/office/drawing/2014/main" id="{25CE9065-B250-3417-9BF4-6BF518D55D74}"/>
                </a:ext>
              </a:extLst>
            </p:cNvPr>
            <p:cNvSpPr/>
            <p:nvPr/>
          </p:nvSpPr>
          <p:spPr>
            <a:xfrm>
              <a:off x="7663543" y="5753185"/>
              <a:ext cx="4080575" cy="755629"/>
            </a:xfrm>
            <a:prstGeom prst="roundRect">
              <a:avLst>
                <a:gd name="adj" fmla="val 10980"/>
              </a:avLst>
            </a:prstGeom>
            <a:solidFill>
              <a:srgbClr val="919291"/>
            </a:solidFill>
            <a:ln w="3175">
              <a:solidFill>
                <a:srgbClr val="00C27A">
                  <a:alpha val="10000"/>
                </a:srgbClr>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100" i="0" u="none" strike="noStrike" kern="1200" cap="none" spc="-10" normalizeH="0" baseline="0" noProof="0" dirty="0">
                  <a:ln>
                    <a:noFill/>
                  </a:ln>
                  <a:solidFill>
                    <a:schemeClr val="bg1"/>
                  </a:solidFill>
                  <a:effectLst/>
                  <a:uLnTx/>
                  <a:uFillTx/>
                  <a:latin typeface="Arial" pitchFamily="34" charset="0"/>
                  <a:ea typeface="+mn-ea"/>
                  <a:cs typeface="+mn-cs"/>
                </a:rPr>
                <a:t>Legend</a:t>
              </a:r>
            </a:p>
          </p:txBody>
        </p:sp>
        <p:sp>
          <p:nvSpPr>
            <p:cNvPr id="7" name="TextBox 6">
              <a:extLst>
                <a:ext uri="{FF2B5EF4-FFF2-40B4-BE49-F238E27FC236}">
                  <a16:creationId xmlns:a16="http://schemas.microsoft.com/office/drawing/2014/main" id="{3AA85577-9903-11BB-E7CE-6B3A9DEB3CFC}"/>
                </a:ext>
              </a:extLst>
            </p:cNvPr>
            <p:cNvSpPr txBox="1"/>
            <p:nvPr/>
          </p:nvSpPr>
          <p:spPr>
            <a:xfrm>
              <a:off x="9267759" y="6255737"/>
              <a:ext cx="2452174" cy="222825"/>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Significant Execution Risk, Intervention Required</a:t>
              </a:r>
            </a:p>
          </p:txBody>
        </p:sp>
        <p:sp>
          <p:nvSpPr>
            <p:cNvPr id="8" name="Rectangle: Rounded Corners 168">
              <a:extLst>
                <a:ext uri="{FF2B5EF4-FFF2-40B4-BE49-F238E27FC236}">
                  <a16:creationId xmlns:a16="http://schemas.microsoft.com/office/drawing/2014/main" id="{6F4F9D36-C7D6-F535-854E-234A762B4E99}"/>
                </a:ext>
              </a:extLst>
            </p:cNvPr>
            <p:cNvSpPr/>
            <p:nvPr/>
          </p:nvSpPr>
          <p:spPr>
            <a:xfrm>
              <a:off x="9172469" y="6299803"/>
              <a:ext cx="116662" cy="99585"/>
            </a:xfrm>
            <a:prstGeom prst="roundRect">
              <a:avLst>
                <a:gd name="adj" fmla="val 0"/>
              </a:avLst>
            </a:prstGeom>
            <a:solidFill>
              <a:srgbClr val="BA0B2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 name="TextBox 8">
              <a:extLst>
                <a:ext uri="{FF2B5EF4-FFF2-40B4-BE49-F238E27FC236}">
                  <a16:creationId xmlns:a16="http://schemas.microsoft.com/office/drawing/2014/main" id="{7414B0FB-5C12-0E3E-A973-0DBA4F3FC9C4}"/>
                </a:ext>
              </a:extLst>
            </p:cNvPr>
            <p:cNvSpPr txBox="1"/>
            <p:nvPr/>
          </p:nvSpPr>
          <p:spPr>
            <a:xfrm>
              <a:off x="9267758" y="6083717"/>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Some Execution Risk, Intervention Suggested</a:t>
              </a:r>
            </a:p>
          </p:txBody>
        </p:sp>
        <p:sp>
          <p:nvSpPr>
            <p:cNvPr id="10" name="Rectangle: Rounded Corners 170">
              <a:extLst>
                <a:ext uri="{FF2B5EF4-FFF2-40B4-BE49-F238E27FC236}">
                  <a16:creationId xmlns:a16="http://schemas.microsoft.com/office/drawing/2014/main" id="{7F7E03F1-3995-36FC-4150-D9AEE549B6E9}"/>
                </a:ext>
              </a:extLst>
            </p:cNvPr>
            <p:cNvSpPr/>
            <p:nvPr/>
          </p:nvSpPr>
          <p:spPr>
            <a:xfrm>
              <a:off x="9172469" y="6127782"/>
              <a:ext cx="116662" cy="99585"/>
            </a:xfrm>
            <a:prstGeom prst="roundRect">
              <a:avLst>
                <a:gd name="adj" fmla="val 0"/>
              </a:avLst>
            </a:prstGeom>
            <a:solidFill>
              <a:srgbClr val="FFB54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1" name="TextBox 10">
              <a:extLst>
                <a:ext uri="{FF2B5EF4-FFF2-40B4-BE49-F238E27FC236}">
                  <a16:creationId xmlns:a16="http://schemas.microsoft.com/office/drawing/2014/main" id="{44D498CD-E36A-FAD1-5682-E6432ED764D9}"/>
                </a:ext>
              </a:extLst>
            </p:cNvPr>
            <p:cNvSpPr txBox="1"/>
            <p:nvPr/>
          </p:nvSpPr>
          <p:spPr>
            <a:xfrm>
              <a:off x="9267758" y="5904315"/>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No Significant Execution Risk</a:t>
              </a:r>
            </a:p>
          </p:txBody>
        </p:sp>
        <p:sp>
          <p:nvSpPr>
            <p:cNvPr id="12" name="Rectangle: Rounded Corners 172">
              <a:extLst>
                <a:ext uri="{FF2B5EF4-FFF2-40B4-BE49-F238E27FC236}">
                  <a16:creationId xmlns:a16="http://schemas.microsoft.com/office/drawing/2014/main" id="{EF056018-99FE-D7E7-1C8A-A7BAECEF2EBB}"/>
                </a:ext>
              </a:extLst>
            </p:cNvPr>
            <p:cNvSpPr/>
            <p:nvPr/>
          </p:nvSpPr>
          <p:spPr>
            <a:xfrm>
              <a:off x="9172469" y="5967438"/>
              <a:ext cx="116662" cy="99585"/>
            </a:xfrm>
            <a:prstGeom prst="rect">
              <a:avLst/>
            </a:prstGeom>
            <a:solidFill>
              <a:srgbClr val="00C27A">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nvGrpSpPr>
            <p:cNvPr id="13" name="Group 12">
              <a:extLst>
                <a:ext uri="{FF2B5EF4-FFF2-40B4-BE49-F238E27FC236}">
                  <a16:creationId xmlns:a16="http://schemas.microsoft.com/office/drawing/2014/main" id="{143518C0-402D-A7B8-1F4F-8091A1CDC293}"/>
                </a:ext>
              </a:extLst>
            </p:cNvPr>
            <p:cNvGrpSpPr/>
            <p:nvPr/>
          </p:nvGrpSpPr>
          <p:grpSpPr>
            <a:xfrm>
              <a:off x="7785358" y="6270717"/>
              <a:ext cx="797296" cy="180000"/>
              <a:chOff x="5444055" y="6242994"/>
              <a:chExt cx="797296" cy="180000"/>
            </a:xfrm>
          </p:grpSpPr>
          <p:sp>
            <p:nvSpPr>
              <p:cNvPr id="14" name="TextBox 13">
                <a:extLst>
                  <a:ext uri="{FF2B5EF4-FFF2-40B4-BE49-F238E27FC236}">
                    <a16:creationId xmlns:a16="http://schemas.microsoft.com/office/drawing/2014/main" id="{7B3A53D2-2CED-9250-C292-251B20AD33F7}"/>
                  </a:ext>
                </a:extLst>
              </p:cNvPr>
              <p:cNvSpPr txBox="1">
                <a:spLocks/>
              </p:cNvSpPr>
              <p:nvPr/>
            </p:nvSpPr>
            <p:spPr>
              <a:xfrm>
                <a:off x="5678055" y="6271438"/>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800" b="0" i="0" u="none" strike="noStrike" kern="1200" cap="none" spc="-10" normalizeH="0" baseline="0" noProof="0" dirty="0">
                    <a:ln>
                      <a:noFill/>
                    </a:ln>
                    <a:solidFill>
                      <a:schemeClr val="bg1"/>
                    </a:solidFill>
                    <a:effectLst/>
                    <a:uLnTx/>
                    <a:uFillTx/>
                    <a:latin typeface="Arial" pitchFamily="34" charset="0"/>
                    <a:ea typeface="+mn-ea"/>
                    <a:cs typeface="+mn-cs"/>
                  </a:rPr>
                  <a:t>New Role</a:t>
                </a:r>
              </a:p>
            </p:txBody>
          </p:sp>
          <p:sp>
            <p:nvSpPr>
              <p:cNvPr id="15" name="TextBox 14">
                <a:extLst>
                  <a:ext uri="{FF2B5EF4-FFF2-40B4-BE49-F238E27FC236}">
                    <a16:creationId xmlns:a16="http://schemas.microsoft.com/office/drawing/2014/main" id="{78B54F3D-A7F1-A7D6-2B20-3C8DF18101F5}"/>
                  </a:ext>
                </a:extLst>
              </p:cNvPr>
              <p:cNvSpPr txBox="1">
                <a:spLocks/>
              </p:cNvSpPr>
              <p:nvPr/>
            </p:nvSpPr>
            <p:spPr>
              <a:xfrm>
                <a:off x="5444055" y="6242994"/>
                <a:ext cx="180000" cy="180000"/>
              </a:xfrm>
              <a:prstGeom prst="rect">
                <a:avLst/>
              </a:prstGeom>
              <a:solidFill>
                <a:srgbClr val="60BDBC">
                  <a:alpha val="49804"/>
                </a:srgbClr>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grpSp>
      <p:sp>
        <p:nvSpPr>
          <p:cNvPr id="16" name="Title 1">
            <a:extLst>
              <a:ext uri="{FF2B5EF4-FFF2-40B4-BE49-F238E27FC236}">
                <a16:creationId xmlns:a16="http://schemas.microsoft.com/office/drawing/2014/main" id="{6F12D505-D983-906B-DA61-FB5C075BF0B5}"/>
              </a:ext>
            </a:extLst>
          </p:cNvPr>
          <p:cNvSpPr txBox="1">
            <a:spLocks/>
          </p:cNvSpPr>
          <p:nvPr/>
        </p:nvSpPr>
        <p:spPr>
          <a:xfrm>
            <a:off x="577069" y="5643228"/>
            <a:ext cx="7115843" cy="411539"/>
          </a:xfrm>
          <a:prstGeom prst="rect">
            <a:avLst/>
          </a:prstGeom>
          <a:noFill/>
        </p:spPr>
        <p:txBody>
          <a:bodyPr vert="horz" lIns="91440" tIns="45720" rIns="91440" bIns="45720" rtlCol="0" anchor="ctr">
            <a:noAutofit/>
          </a:bodyPr>
          <a:lstStyle>
            <a:lvl1pP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Human Capital Balance sheet represents the </a:t>
            </a:r>
            <a:r>
              <a:rPr kumimoji="0" lang="en-US" sz="1200" b="0" i="1"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business view </a:t>
            </a: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of overall talent risk (red-amber-green)</a:t>
            </a:r>
          </a:p>
        </p:txBody>
      </p:sp>
      <p:pic>
        <p:nvPicPr>
          <p:cNvPr id="17" name="Picture 16">
            <a:extLst>
              <a:ext uri="{FF2B5EF4-FFF2-40B4-BE49-F238E27FC236}">
                <a16:creationId xmlns:a16="http://schemas.microsoft.com/office/drawing/2014/main" id="{F0F81A5B-AFCD-0E37-B7BE-9E40DD7E352C}"/>
              </a:ext>
            </a:extLst>
          </p:cNvPr>
          <p:cNvPicPr>
            <a:picLocks noChangeAspect="1"/>
          </p:cNvPicPr>
          <p:nvPr/>
        </p:nvPicPr>
        <p:blipFill>
          <a:blip r:embed="rId3"/>
          <a:stretch>
            <a:fillRect/>
          </a:stretch>
        </p:blipFill>
        <p:spPr>
          <a:xfrm>
            <a:off x="525041" y="952496"/>
            <a:ext cx="7822692" cy="4597908"/>
          </a:xfrm>
          <a:prstGeom prst="rect">
            <a:avLst/>
          </a:prstGeom>
        </p:spPr>
      </p:pic>
      <p:sp>
        <p:nvSpPr>
          <p:cNvPr id="18" name="TextBox 17">
            <a:extLst>
              <a:ext uri="{FF2B5EF4-FFF2-40B4-BE49-F238E27FC236}">
                <a16:creationId xmlns:a16="http://schemas.microsoft.com/office/drawing/2014/main" id="{88DA790E-554E-CBA4-EE46-6F6857D3656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857560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2150-9C4C-B477-A6A7-9D8846317917}"/>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DC06DE47-5968-5E1F-9E5B-3234EF709D8F}"/>
              </a:ext>
            </a:extLst>
          </p:cNvPr>
          <p:cNvSpPr txBox="1">
            <a:spLocks noGrp="1"/>
          </p:cNvSpPr>
          <p:nvPr>
            <p:ph type="title"/>
          </p:nvPr>
        </p:nvSpPr>
        <p:spPr>
          <a:noFill/>
        </p:spPr>
        <p:txBody>
          <a:bodyPr anchor="ctr"/>
          <a:lstStyle/>
          <a:p>
            <a:pPr>
              <a:buNone/>
            </a:pPr>
            <a:r>
              <a:rPr lang="en-US" dirty="0"/>
              <a:t>HR Strategy to Value</a:t>
            </a:r>
          </a:p>
        </p:txBody>
      </p:sp>
    </p:spTree>
    <p:extLst>
      <p:ext uri="{BB962C8B-B14F-4D97-AF65-F5344CB8AC3E}">
        <p14:creationId xmlns:p14="http://schemas.microsoft.com/office/powerpoint/2010/main" val="162898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DA5149-1A98-3EDB-6494-CB3461ED13A1}"/>
              </a:ext>
            </a:extLst>
          </p:cNvPr>
          <p:cNvSpPr>
            <a:spLocks noGrp="1"/>
          </p:cNvSpPr>
          <p:nvPr>
            <p:ph type="sldNum" sz="quarter" idx="4"/>
          </p:nvPr>
        </p:nvSpPr>
        <p:spPr/>
        <p:txBody>
          <a:bodyPr/>
          <a:lstStyle/>
          <a:p>
            <a:pPr algn="ctr"/>
            <a:fld id="{1875A764-3B06-454E-8ABA-2F6ED0EB58E9}" type="slidenum">
              <a:rPr lang="en-US" smtClean="0"/>
              <a:t>32</a:t>
            </a:fld>
            <a:endParaRPr lang="en-US"/>
          </a:p>
        </p:txBody>
      </p:sp>
      <p:sp>
        <p:nvSpPr>
          <p:cNvPr id="3" name="Title 2">
            <a:extLst>
              <a:ext uri="{FF2B5EF4-FFF2-40B4-BE49-F238E27FC236}">
                <a16:creationId xmlns:a16="http://schemas.microsoft.com/office/drawing/2014/main" id="{38D9BD99-AB77-3699-4108-521493F41729}"/>
              </a:ext>
            </a:extLst>
          </p:cNvPr>
          <p:cNvSpPr>
            <a:spLocks noGrp="1"/>
          </p:cNvSpPr>
          <p:nvPr>
            <p:ph type="title"/>
          </p:nvPr>
        </p:nvSpPr>
        <p:spPr/>
        <p:txBody>
          <a:bodyPr/>
          <a:lstStyle/>
          <a:p>
            <a:r>
              <a:rPr lang="en-US" dirty="0">
                <a:solidFill>
                  <a:schemeClr val="accent1"/>
                </a:solidFill>
              </a:rPr>
              <a:t>Talent to Value </a:t>
            </a:r>
            <a:r>
              <a:rPr lang="en-US" dirty="0"/>
              <a:t>HR strategy</a:t>
            </a:r>
          </a:p>
        </p:txBody>
      </p:sp>
      <p:sp>
        <p:nvSpPr>
          <p:cNvPr id="4" name="Oval 3">
            <a:extLst>
              <a:ext uri="{FF2B5EF4-FFF2-40B4-BE49-F238E27FC236}">
                <a16:creationId xmlns:a16="http://schemas.microsoft.com/office/drawing/2014/main" id="{503A58CF-46F4-0174-AA60-31AE5B960520}"/>
              </a:ext>
            </a:extLst>
          </p:cNvPr>
          <p:cNvSpPr/>
          <p:nvPr/>
        </p:nvSpPr>
        <p:spPr>
          <a:xfrm>
            <a:off x="2683326" y="2246972"/>
            <a:ext cx="2669017" cy="2533049"/>
          </a:xfrm>
          <a:prstGeom prst="ellipse">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2133" b="1" spc="-10" dirty="0">
                <a:solidFill>
                  <a:srgbClr val="281A42"/>
                </a:solidFill>
                <a:latin typeface="Segoe UI" pitchFamily="34" charset="0"/>
              </a:rPr>
              <a:t>TALENT </a:t>
            </a:r>
            <a:br>
              <a:rPr lang="en-US" sz="2133" b="1" spc="-10" dirty="0">
                <a:solidFill>
                  <a:srgbClr val="281A42"/>
                </a:solidFill>
                <a:latin typeface="Segoe UI" pitchFamily="34" charset="0"/>
              </a:rPr>
            </a:br>
            <a:r>
              <a:rPr lang="en-US" sz="2133" b="1" spc="-10" dirty="0">
                <a:solidFill>
                  <a:srgbClr val="281A42"/>
                </a:solidFill>
                <a:latin typeface="Segoe UI" pitchFamily="34" charset="0"/>
              </a:rPr>
              <a:t>TO </a:t>
            </a:r>
            <a:br>
              <a:rPr lang="en-US" sz="2133" b="1" spc="-10" dirty="0">
                <a:solidFill>
                  <a:srgbClr val="281A42"/>
                </a:solidFill>
                <a:latin typeface="Segoe UI" pitchFamily="34" charset="0"/>
              </a:rPr>
            </a:br>
            <a:r>
              <a:rPr lang="en-US" sz="2133" b="1" spc="-10" dirty="0">
                <a:solidFill>
                  <a:srgbClr val="281A42"/>
                </a:solidFill>
                <a:latin typeface="Segoe UI" pitchFamily="34" charset="0"/>
              </a:rPr>
              <a:t>VALUE</a:t>
            </a:r>
          </a:p>
        </p:txBody>
      </p:sp>
      <p:sp>
        <p:nvSpPr>
          <p:cNvPr id="5" name="Rectangle: Rounded Corners 9">
            <a:extLst>
              <a:ext uri="{FF2B5EF4-FFF2-40B4-BE49-F238E27FC236}">
                <a16:creationId xmlns:a16="http://schemas.microsoft.com/office/drawing/2014/main" id="{AA5D69B8-148C-F3F9-A001-BAAD077AC98C}"/>
              </a:ext>
            </a:extLst>
          </p:cNvPr>
          <p:cNvSpPr/>
          <p:nvPr/>
        </p:nvSpPr>
        <p:spPr>
          <a:xfrm>
            <a:off x="6096000" y="2853694"/>
            <a:ext cx="3677539" cy="1232637"/>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333" b="1" spc="-10" dirty="0">
                <a:solidFill>
                  <a:srgbClr val="281A42"/>
                </a:solidFill>
                <a:latin typeface="Segoe UI" pitchFamily="34" charset="0"/>
              </a:rPr>
              <a:t>                 </a:t>
            </a:r>
            <a:r>
              <a:rPr lang="en-US" sz="1600" b="1" spc="-10" dirty="0">
                <a:solidFill>
                  <a:srgbClr val="281A42"/>
                </a:solidFill>
                <a:latin typeface="Segoe UI" pitchFamily="34" charset="0"/>
              </a:rPr>
              <a:t>HR STRATEGY TO VALUE</a:t>
            </a:r>
          </a:p>
        </p:txBody>
      </p:sp>
      <p:sp>
        <p:nvSpPr>
          <p:cNvPr id="6" name="Isosceles Triangle 11">
            <a:extLst>
              <a:ext uri="{FF2B5EF4-FFF2-40B4-BE49-F238E27FC236}">
                <a16:creationId xmlns:a16="http://schemas.microsoft.com/office/drawing/2014/main" id="{ED0DDF75-F4BE-78DC-8B0B-9CF1D36CB622}"/>
              </a:ext>
            </a:extLst>
          </p:cNvPr>
          <p:cNvSpPr/>
          <p:nvPr/>
        </p:nvSpPr>
        <p:spPr>
          <a:xfrm>
            <a:off x="3859933" y="1796972"/>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7" name="Isosceles Triangle 12">
            <a:extLst>
              <a:ext uri="{FF2B5EF4-FFF2-40B4-BE49-F238E27FC236}">
                <a16:creationId xmlns:a16="http://schemas.microsoft.com/office/drawing/2014/main" id="{5C0F8E39-0EF1-225B-8C76-84C0AFADA54D}"/>
              </a:ext>
            </a:extLst>
          </p:cNvPr>
          <p:cNvSpPr/>
          <p:nvPr/>
        </p:nvSpPr>
        <p:spPr>
          <a:xfrm flipV="1">
            <a:off x="3865028" y="4957780"/>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8" name="Isosceles Triangle 13">
            <a:extLst>
              <a:ext uri="{FF2B5EF4-FFF2-40B4-BE49-F238E27FC236}">
                <a16:creationId xmlns:a16="http://schemas.microsoft.com/office/drawing/2014/main" id="{C6B42A75-1127-5A54-9F0A-46820435C664}"/>
              </a:ext>
            </a:extLst>
          </p:cNvPr>
          <p:cNvSpPr/>
          <p:nvPr/>
        </p:nvSpPr>
        <p:spPr>
          <a:xfrm rot="16200000" flipV="1">
            <a:off x="5525523" y="3377374"/>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9" name="Isosceles Triangle 14">
            <a:extLst>
              <a:ext uri="{FF2B5EF4-FFF2-40B4-BE49-F238E27FC236}">
                <a16:creationId xmlns:a16="http://schemas.microsoft.com/office/drawing/2014/main" id="{A030700A-400B-5DD2-9C31-F087288A4291}"/>
              </a:ext>
            </a:extLst>
          </p:cNvPr>
          <p:cNvSpPr/>
          <p:nvPr/>
        </p:nvSpPr>
        <p:spPr>
          <a:xfrm rot="5400000" flipH="1" flipV="1">
            <a:off x="2194345" y="3377374"/>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0" name="Isosceles Triangle 15">
            <a:extLst>
              <a:ext uri="{FF2B5EF4-FFF2-40B4-BE49-F238E27FC236}">
                <a16:creationId xmlns:a16="http://schemas.microsoft.com/office/drawing/2014/main" id="{70060DED-B4B9-E078-C261-4BE426CF983B}"/>
              </a:ext>
            </a:extLst>
          </p:cNvPr>
          <p:cNvSpPr/>
          <p:nvPr/>
        </p:nvSpPr>
        <p:spPr>
          <a:xfrm rot="14104401" flipV="1">
            <a:off x="5116599" y="2304025"/>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1" name="Isosceles Triangle 16">
            <a:extLst>
              <a:ext uri="{FF2B5EF4-FFF2-40B4-BE49-F238E27FC236}">
                <a16:creationId xmlns:a16="http://schemas.microsoft.com/office/drawing/2014/main" id="{9B59723A-4D49-25BC-DD8A-269E6414489F}"/>
              </a:ext>
            </a:extLst>
          </p:cNvPr>
          <p:cNvSpPr/>
          <p:nvPr/>
        </p:nvSpPr>
        <p:spPr>
          <a:xfrm rot="3011388" flipH="1" flipV="1">
            <a:off x="2606921" y="4460773"/>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grpSp>
        <p:nvGrpSpPr>
          <p:cNvPr id="12" name="Group 11">
            <a:extLst>
              <a:ext uri="{FF2B5EF4-FFF2-40B4-BE49-F238E27FC236}">
                <a16:creationId xmlns:a16="http://schemas.microsoft.com/office/drawing/2014/main" id="{9790547C-8E51-7E85-C3C5-074038710424}"/>
              </a:ext>
            </a:extLst>
          </p:cNvPr>
          <p:cNvGrpSpPr/>
          <p:nvPr/>
        </p:nvGrpSpPr>
        <p:grpSpPr>
          <a:xfrm flipV="1">
            <a:off x="2577729" y="2298903"/>
            <a:ext cx="2781919" cy="2472547"/>
            <a:chOff x="4456560" y="2353424"/>
            <a:chExt cx="2774521" cy="2465972"/>
          </a:xfrm>
          <a:solidFill>
            <a:srgbClr val="F2F2F2"/>
          </a:solidFill>
        </p:grpSpPr>
        <p:sp>
          <p:nvSpPr>
            <p:cNvPr id="13" name="Isosceles Triangle 18">
              <a:extLst>
                <a:ext uri="{FF2B5EF4-FFF2-40B4-BE49-F238E27FC236}">
                  <a16:creationId xmlns:a16="http://schemas.microsoft.com/office/drawing/2014/main" id="{C3D3BD68-467D-4D0F-6366-37AFC6E3EA46}"/>
                </a:ext>
              </a:extLst>
            </p:cNvPr>
            <p:cNvSpPr/>
            <p:nvPr/>
          </p:nvSpPr>
          <p:spPr>
            <a:xfrm rot="14104401" flipV="1">
              <a:off x="6937843" y="2375145"/>
              <a:ext cx="314960" cy="2715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sp>
          <p:nvSpPr>
            <p:cNvPr id="14" name="Isosceles Triangle 19">
              <a:extLst>
                <a:ext uri="{FF2B5EF4-FFF2-40B4-BE49-F238E27FC236}">
                  <a16:creationId xmlns:a16="http://schemas.microsoft.com/office/drawing/2014/main" id="{B7441F3C-F89E-BCAC-F059-DD825DD9ABCF}"/>
                </a:ext>
              </a:extLst>
            </p:cNvPr>
            <p:cNvSpPr/>
            <p:nvPr/>
          </p:nvSpPr>
          <p:spPr>
            <a:xfrm rot="3011388" flipH="1" flipV="1">
              <a:off x="4434839" y="4526157"/>
              <a:ext cx="314960" cy="2715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grpSp>
      <p:pic>
        <p:nvPicPr>
          <p:cNvPr id="15" name="Graphic 20" descr="Playbook outline">
            <a:extLst>
              <a:ext uri="{FF2B5EF4-FFF2-40B4-BE49-F238E27FC236}">
                <a16:creationId xmlns:a16="http://schemas.microsoft.com/office/drawing/2014/main" id="{3BB39045-CA8B-7DEA-5755-0C5D5080FA68}"/>
              </a:ext>
            </a:extLst>
          </p:cNvPr>
          <p:cNvPicPr>
            <a:picLocks noChangeAspect="1"/>
          </p:cNvPicPr>
          <p:nvPr/>
        </p:nvPicPr>
        <p:blipFill>
          <a:blip r:embed="rId2">
            <a:duotone>
              <a:srgbClr val="765FFF"/>
              <a:srgbClr val="FFFFFF"/>
            </a:duotone>
          </a:blip>
          <a:stretch>
            <a:fillRect/>
          </a:stretch>
        </p:blipFill>
        <p:spPr>
          <a:xfrm>
            <a:off x="6096000" y="3006257"/>
            <a:ext cx="1045141" cy="927512"/>
          </a:xfrm>
          <a:prstGeom prst="rect">
            <a:avLst/>
          </a:prstGeom>
        </p:spPr>
      </p:pic>
      <p:sp>
        <p:nvSpPr>
          <p:cNvPr id="16" name="Isosceles Triangle 21">
            <a:extLst>
              <a:ext uri="{FF2B5EF4-FFF2-40B4-BE49-F238E27FC236}">
                <a16:creationId xmlns:a16="http://schemas.microsoft.com/office/drawing/2014/main" id="{D73BE62C-AB50-1396-11ED-CEBD1F2E47C5}"/>
              </a:ext>
            </a:extLst>
          </p:cNvPr>
          <p:cNvSpPr/>
          <p:nvPr/>
        </p:nvSpPr>
        <p:spPr>
          <a:xfrm flipV="1">
            <a:off x="7776869" y="2320682"/>
            <a:ext cx="315800" cy="272241"/>
          </a:xfrm>
          <a:prstGeom prst="triangle">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2F2F2">
                  <a:lumMod val="25000"/>
                </a:srgbClr>
              </a:solidFill>
              <a:latin typeface="Arial" pitchFamily="34" charset="0"/>
            </a:endParaRPr>
          </a:p>
        </p:txBody>
      </p:sp>
      <p:sp>
        <p:nvSpPr>
          <p:cNvPr id="17" name="Isosceles Triangle 22">
            <a:extLst>
              <a:ext uri="{FF2B5EF4-FFF2-40B4-BE49-F238E27FC236}">
                <a16:creationId xmlns:a16="http://schemas.microsoft.com/office/drawing/2014/main" id="{B90883FE-DE6E-2C72-E9A7-F593024A3B53}"/>
              </a:ext>
            </a:extLst>
          </p:cNvPr>
          <p:cNvSpPr/>
          <p:nvPr/>
        </p:nvSpPr>
        <p:spPr>
          <a:xfrm>
            <a:off x="7776869" y="4341308"/>
            <a:ext cx="315800" cy="272241"/>
          </a:xfrm>
          <a:prstGeom prst="triangle">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sp>
        <p:nvSpPr>
          <p:cNvPr id="18" name="Rectangle: Rounded Corners 23">
            <a:extLst>
              <a:ext uri="{FF2B5EF4-FFF2-40B4-BE49-F238E27FC236}">
                <a16:creationId xmlns:a16="http://schemas.microsoft.com/office/drawing/2014/main" id="{85169D93-E3E8-20CB-551A-D7C648857FCF}"/>
              </a:ext>
            </a:extLst>
          </p:cNvPr>
          <p:cNvSpPr/>
          <p:nvPr/>
        </p:nvSpPr>
        <p:spPr>
          <a:xfrm>
            <a:off x="6096000" y="4957780"/>
            <a:ext cx="3677539" cy="72047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867" spc="-10" dirty="0">
                <a:solidFill>
                  <a:srgbClr val="3B3B3B"/>
                </a:solidFill>
                <a:latin typeface="Arial" pitchFamily="34" charset="0"/>
              </a:rPr>
              <a:t>Data driven; evidence based</a:t>
            </a:r>
            <a:br>
              <a:rPr lang="en-US" sz="1867" spc="-10" dirty="0">
                <a:solidFill>
                  <a:srgbClr val="3B3B3B"/>
                </a:solidFill>
                <a:latin typeface="Arial" pitchFamily="34" charset="0"/>
              </a:rPr>
            </a:br>
            <a:r>
              <a:rPr lang="en-US" sz="1867" spc="-10" dirty="0">
                <a:solidFill>
                  <a:srgbClr val="3B3B3B"/>
                </a:solidFill>
                <a:latin typeface="Arial" pitchFamily="34" charset="0"/>
              </a:rPr>
              <a:t>Human Capital Insights </a:t>
            </a:r>
          </a:p>
        </p:txBody>
      </p:sp>
      <p:sp>
        <p:nvSpPr>
          <p:cNvPr id="19" name="Rectangle: Rounded Corners 24">
            <a:extLst>
              <a:ext uri="{FF2B5EF4-FFF2-40B4-BE49-F238E27FC236}">
                <a16:creationId xmlns:a16="http://schemas.microsoft.com/office/drawing/2014/main" id="{AFC129CC-1A0B-78F7-A9E3-D3F79C6F4D69}"/>
              </a:ext>
            </a:extLst>
          </p:cNvPr>
          <p:cNvSpPr/>
          <p:nvPr/>
        </p:nvSpPr>
        <p:spPr>
          <a:xfrm>
            <a:off x="6096000" y="1345233"/>
            <a:ext cx="3677539" cy="72047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867" b="1" spc="-25" dirty="0">
                <a:solidFill>
                  <a:srgbClr val="3B3B3B"/>
                </a:solidFill>
                <a:latin typeface="Segoe UI" pitchFamily="34" charset="0"/>
              </a:rPr>
              <a:t>Connected to Business Value &amp; </a:t>
            </a:r>
            <a:br>
              <a:rPr lang="en-US" sz="1867" b="1" spc="-25" dirty="0">
                <a:solidFill>
                  <a:srgbClr val="3B3B3B"/>
                </a:solidFill>
                <a:latin typeface="Segoe UI" pitchFamily="34" charset="0"/>
              </a:rPr>
            </a:br>
            <a:r>
              <a:rPr lang="en-US" sz="1867" b="1" spc="-25" dirty="0">
                <a:solidFill>
                  <a:srgbClr val="3B3B3B"/>
                </a:solidFill>
                <a:latin typeface="Segoe UI" pitchFamily="34" charset="0"/>
              </a:rPr>
              <a:t>Jobs to Be Done</a:t>
            </a:r>
          </a:p>
        </p:txBody>
      </p:sp>
      <p:sp>
        <p:nvSpPr>
          <p:cNvPr id="20" name="TextBox 19">
            <a:extLst>
              <a:ext uri="{FF2B5EF4-FFF2-40B4-BE49-F238E27FC236}">
                <a16:creationId xmlns:a16="http://schemas.microsoft.com/office/drawing/2014/main" id="{320A0C2D-5AAE-4669-F55B-AE7837B0B4B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456331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4503E0-E049-50C8-9E01-60C51C286F4B}"/>
              </a:ext>
            </a:extLst>
          </p:cNvPr>
          <p:cNvSpPr>
            <a:spLocks noGrp="1"/>
          </p:cNvSpPr>
          <p:nvPr>
            <p:ph type="sldNum" sz="quarter" idx="4"/>
          </p:nvPr>
        </p:nvSpPr>
        <p:spPr/>
        <p:txBody>
          <a:bodyPr/>
          <a:lstStyle/>
          <a:p>
            <a:pPr algn="ctr"/>
            <a:fld id="{1875A764-3B06-454E-8ABA-2F6ED0EB58E9}" type="slidenum">
              <a:rPr lang="en-US" smtClean="0"/>
              <a:t>33</a:t>
            </a:fld>
            <a:endParaRPr lang="en-US"/>
          </a:p>
        </p:txBody>
      </p:sp>
      <p:sp>
        <p:nvSpPr>
          <p:cNvPr id="3" name="Title 2">
            <a:extLst>
              <a:ext uri="{FF2B5EF4-FFF2-40B4-BE49-F238E27FC236}">
                <a16:creationId xmlns:a16="http://schemas.microsoft.com/office/drawing/2014/main" id="{BC0E90BB-EEC8-9B23-23FD-59F9B26925CD}"/>
              </a:ext>
            </a:extLst>
          </p:cNvPr>
          <p:cNvSpPr>
            <a:spLocks noGrp="1"/>
          </p:cNvSpPr>
          <p:nvPr>
            <p:ph type="title"/>
          </p:nvPr>
        </p:nvSpPr>
        <p:spPr/>
        <p:txBody>
          <a:bodyPr/>
          <a:lstStyle/>
          <a:p>
            <a:r>
              <a:rPr lang="en-US" dirty="0"/>
              <a:t>HR Strategy Connected to Business Value</a:t>
            </a:r>
          </a:p>
        </p:txBody>
      </p:sp>
      <p:graphicFrame>
        <p:nvGraphicFramePr>
          <p:cNvPr id="4" name="Table 3">
            <a:extLst>
              <a:ext uri="{FF2B5EF4-FFF2-40B4-BE49-F238E27FC236}">
                <a16:creationId xmlns:a16="http://schemas.microsoft.com/office/drawing/2014/main" id="{350489BA-CB00-4CC3-5C0B-C568A7A82C23}"/>
              </a:ext>
            </a:extLst>
          </p:cNvPr>
          <p:cNvGraphicFramePr>
            <a:graphicFrameLocks noGrp="1"/>
          </p:cNvGraphicFramePr>
          <p:nvPr>
            <p:extLst>
              <p:ext uri="{D42A27DB-BD31-4B8C-83A1-F6EECF244321}">
                <p14:modId xmlns:p14="http://schemas.microsoft.com/office/powerpoint/2010/main" val="4089749371"/>
              </p:ext>
            </p:extLst>
          </p:nvPr>
        </p:nvGraphicFramePr>
        <p:xfrm>
          <a:off x="557048" y="2637308"/>
          <a:ext cx="5297652" cy="3055620"/>
        </p:xfrm>
        <a:graphic>
          <a:graphicData uri="http://schemas.openxmlformats.org/drawingml/2006/table">
            <a:tbl>
              <a:tblPr firstRow="1" bandRow="1">
                <a:tableStyleId>{2D5ABB26-0587-4C30-8999-92F81FD0307C}</a:tableStyleId>
              </a:tblPr>
              <a:tblGrid>
                <a:gridCol w="5297652">
                  <a:extLst>
                    <a:ext uri="{9D8B030D-6E8A-4147-A177-3AD203B41FA5}">
                      <a16:colId xmlns:a16="http://schemas.microsoft.com/office/drawing/2014/main" val="3622027885"/>
                    </a:ext>
                  </a:extLst>
                </a:gridCol>
              </a:tblGrid>
              <a:tr h="2764226">
                <a:tc>
                  <a:txBody>
                    <a:bodyPr/>
                    <a:lstStyle>
                      <a:lvl1pPr marL="0" algn="l" defTabSz="914400" rtl="0" eaLnBrk="1" latinLnBrk="0" hangingPunct="1">
                        <a:defRPr sz="1200" b="1" kern="1200">
                          <a:solidFill>
                            <a:srgbClr val="FFFFFF"/>
                          </a:solidFill>
                          <a:latin typeface="Arial" pitchFamily="34" charset="0"/>
                        </a:defRPr>
                      </a:lvl1pPr>
                      <a:lvl2pPr marL="457200" algn="l" defTabSz="914400" rtl="0" eaLnBrk="1" latinLnBrk="0" hangingPunct="1">
                        <a:defRPr sz="1200" b="1" kern="1200">
                          <a:solidFill>
                            <a:srgbClr val="FFFFFF"/>
                          </a:solidFill>
                          <a:latin typeface="Arial" pitchFamily="34" charset="0"/>
                        </a:defRPr>
                      </a:lvl2pPr>
                      <a:lvl3pPr marL="914400" algn="l" defTabSz="914400" rtl="0" eaLnBrk="1" latinLnBrk="0" hangingPunct="1">
                        <a:defRPr sz="1200" b="1" kern="1200">
                          <a:solidFill>
                            <a:srgbClr val="FFFFFF"/>
                          </a:solidFill>
                          <a:latin typeface="Arial" pitchFamily="34" charset="0"/>
                        </a:defRPr>
                      </a:lvl3pPr>
                      <a:lvl4pPr marL="1371600" algn="l" defTabSz="914400" rtl="0" eaLnBrk="1" latinLnBrk="0" hangingPunct="1">
                        <a:defRPr sz="1200" b="1" kern="1200">
                          <a:solidFill>
                            <a:srgbClr val="FFFFFF"/>
                          </a:solidFill>
                          <a:latin typeface="Arial" pitchFamily="34" charset="0"/>
                        </a:defRPr>
                      </a:lvl4pPr>
                      <a:lvl5pPr marL="1828800" algn="l" defTabSz="914400" rtl="0" eaLnBrk="1" latinLnBrk="0" hangingPunct="1">
                        <a:defRPr sz="1200" b="1" kern="1200">
                          <a:solidFill>
                            <a:srgbClr val="FFFFFF"/>
                          </a:solidFill>
                          <a:latin typeface="Arial" pitchFamily="34" charset="0"/>
                        </a:defRPr>
                      </a:lvl5pPr>
                      <a:lvl6pPr marL="2286000" algn="l" defTabSz="914400" rtl="0" eaLnBrk="1" latinLnBrk="0" hangingPunct="1">
                        <a:defRPr sz="1200" b="1" kern="1200">
                          <a:solidFill>
                            <a:srgbClr val="FFFFFF"/>
                          </a:solidFill>
                          <a:latin typeface="Arial" pitchFamily="34" charset="0"/>
                        </a:defRPr>
                      </a:lvl6pPr>
                      <a:lvl7pPr marL="2743200" algn="l" defTabSz="914400" rtl="0" eaLnBrk="1" latinLnBrk="0" hangingPunct="1">
                        <a:defRPr sz="1200" b="1" kern="1200">
                          <a:solidFill>
                            <a:srgbClr val="FFFFFF"/>
                          </a:solidFill>
                          <a:latin typeface="Arial" pitchFamily="34" charset="0"/>
                        </a:defRPr>
                      </a:lvl7pPr>
                      <a:lvl8pPr marL="3200400" algn="l" defTabSz="914400" rtl="0" eaLnBrk="1" latinLnBrk="0" hangingPunct="1">
                        <a:defRPr sz="1200" b="1" kern="1200">
                          <a:solidFill>
                            <a:srgbClr val="FFFFFF"/>
                          </a:solidFill>
                          <a:latin typeface="Arial" pitchFamily="34" charset="0"/>
                        </a:defRPr>
                      </a:lvl8pPr>
                      <a:lvl9pPr marL="3657600" algn="l" defTabSz="914400" rtl="0" eaLnBrk="1" latinLnBrk="0" hangingPunct="1">
                        <a:defRPr sz="1200" b="1" kern="1200">
                          <a:solidFill>
                            <a:srgbClr val="FFFFFF"/>
                          </a:solidFill>
                          <a:latin typeface="Arial" pitchFamily="34" charset="0"/>
                        </a:defRPr>
                      </a:lvl9pPr>
                    </a:lstStyle>
                    <a:p>
                      <a:pPr marL="228600" indent="-228600">
                        <a:spcAft>
                          <a:spcPts val="300"/>
                        </a:spcAft>
                        <a:buFont typeface="+mj-lt"/>
                        <a:buAutoNum type="arabicPeriod"/>
                      </a:pPr>
                      <a:r>
                        <a:rPr lang="en-US" sz="1400" b="0" dirty="0">
                          <a:solidFill>
                            <a:schemeClr val="tx1"/>
                          </a:solidFill>
                        </a:rPr>
                        <a:t>Protect and strengthen core business, in core citadels of North America, West Europe, North Europe </a:t>
                      </a:r>
                    </a:p>
                    <a:p>
                      <a:pPr marL="228600" indent="-228600">
                        <a:spcAft>
                          <a:spcPts val="300"/>
                        </a:spcAft>
                        <a:buFont typeface="+mj-lt"/>
                        <a:buAutoNum type="arabicPeriod"/>
                      </a:pPr>
                      <a:r>
                        <a:rPr lang="en-US" sz="1400" b="0" dirty="0">
                          <a:solidFill>
                            <a:schemeClr val="tx1"/>
                          </a:solidFill>
                        </a:rPr>
                        <a:t>Expand services, whitespaces – High growth high margin service lines </a:t>
                      </a:r>
                    </a:p>
                    <a:p>
                      <a:pPr marL="228600" indent="-228600">
                        <a:spcAft>
                          <a:spcPts val="300"/>
                        </a:spcAft>
                        <a:buFont typeface="+mj-lt"/>
                        <a:buAutoNum type="arabicPeriod"/>
                      </a:pPr>
                      <a:r>
                        <a:rPr lang="en-US" sz="1400" b="0" dirty="0">
                          <a:solidFill>
                            <a:schemeClr val="tx1"/>
                          </a:solidFill>
                        </a:rPr>
                        <a:t>Pivot from operational focus to commercial excellence strengthen capabilities in sales, pricing and customer (engagement, service, experience)</a:t>
                      </a:r>
                    </a:p>
                    <a:p>
                      <a:pPr marL="228600" indent="-228600">
                        <a:spcAft>
                          <a:spcPts val="300"/>
                        </a:spcAft>
                        <a:buFont typeface="+mj-lt"/>
                        <a:buAutoNum type="arabicPeriod"/>
                      </a:pPr>
                      <a:r>
                        <a:rPr lang="en-US" sz="1400" b="0" dirty="0">
                          <a:solidFill>
                            <a:schemeClr val="tx1"/>
                          </a:solidFill>
                        </a:rPr>
                        <a:t>Innovate and differentiate to build a portfolio of fit for purpose, strong value propositions for a portfolio of service offerings.</a:t>
                      </a:r>
                    </a:p>
                    <a:p>
                      <a:pPr marL="228600" indent="-228600">
                        <a:spcAft>
                          <a:spcPts val="300"/>
                        </a:spcAft>
                        <a:buFont typeface="+mj-lt"/>
                        <a:buAutoNum type="arabicPeriod"/>
                      </a:pPr>
                      <a:r>
                        <a:rPr lang="en-US" sz="1400" b="0" dirty="0">
                          <a:solidFill>
                            <a:schemeClr val="tx1"/>
                          </a:solidFill>
                        </a:rPr>
                        <a:t>Deliver globally integrated, tech enabled, scalable operations and quality excellence.</a:t>
                      </a:r>
                    </a:p>
                    <a:p>
                      <a:pPr marL="228600" indent="-228600">
                        <a:spcAft>
                          <a:spcPts val="300"/>
                        </a:spcAft>
                        <a:buFont typeface="+mj-lt"/>
                        <a:buAutoNum type="arabicPeriod"/>
                      </a:pPr>
                      <a:r>
                        <a:rPr lang="en-US" sz="1400" b="0" dirty="0">
                          <a:solidFill>
                            <a:schemeClr val="tx1"/>
                          </a:solidFill>
                        </a:rPr>
                        <a:t>Optimize cost to serve – simplification, strategic outsourcing and Procurement</a:t>
                      </a:r>
                      <a:endParaRPr lang="en-US" sz="1600" b="0" dirty="0">
                        <a:solidFill>
                          <a:schemeClr val="tx1"/>
                        </a:solidFill>
                        <a:latin typeface="Arial" pitchFamily="34" charset="0"/>
                        <a:ea typeface="Lato Light" panose="020F0502020204030203" pitchFamily="34" charset="0"/>
                        <a:cs typeface="Lato Light" panose="020F0502020204030203" pitchFamily="34" charset="0"/>
                      </a:endParaRPr>
                    </a:p>
                  </a:txBody>
                  <a:tcPr>
                    <a:noFill/>
                  </a:tcPr>
                </a:tc>
                <a:extLst>
                  <a:ext uri="{0D108BD9-81ED-4DB2-BD59-A6C34878D82A}">
                    <a16:rowId xmlns:a16="http://schemas.microsoft.com/office/drawing/2014/main" val="490919776"/>
                  </a:ext>
                </a:extLst>
              </a:tr>
            </a:tbl>
          </a:graphicData>
        </a:graphic>
      </p:graphicFrame>
      <p:grpSp>
        <p:nvGrpSpPr>
          <p:cNvPr id="5" name="Group 4">
            <a:extLst>
              <a:ext uri="{FF2B5EF4-FFF2-40B4-BE49-F238E27FC236}">
                <a16:creationId xmlns:a16="http://schemas.microsoft.com/office/drawing/2014/main" id="{D01AB441-77FE-C3DD-2715-9D6CEC26D8F2}"/>
              </a:ext>
            </a:extLst>
          </p:cNvPr>
          <p:cNvGrpSpPr/>
          <p:nvPr/>
        </p:nvGrpSpPr>
        <p:grpSpPr>
          <a:xfrm>
            <a:off x="1130300" y="1029891"/>
            <a:ext cx="3403600" cy="853149"/>
            <a:chOff x="1130300" y="1029891"/>
            <a:chExt cx="3403600" cy="853149"/>
          </a:xfrm>
        </p:grpSpPr>
        <p:sp>
          <p:nvSpPr>
            <p:cNvPr id="6" name="Rectangle: Rounded Corners 17">
              <a:extLst>
                <a:ext uri="{FF2B5EF4-FFF2-40B4-BE49-F238E27FC236}">
                  <a16:creationId xmlns:a16="http://schemas.microsoft.com/office/drawing/2014/main" id="{A96C6F00-E703-0B88-2C26-59C1B60FF7D0}"/>
                </a:ext>
              </a:extLst>
            </p:cNvPr>
            <p:cNvSpPr/>
            <p:nvPr/>
          </p:nvSpPr>
          <p:spPr>
            <a:xfrm>
              <a:off x="1130300" y="1029891"/>
              <a:ext cx="3403600" cy="853149"/>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7" name="TextBox 6">
              <a:extLst>
                <a:ext uri="{FF2B5EF4-FFF2-40B4-BE49-F238E27FC236}">
                  <a16:creationId xmlns:a16="http://schemas.microsoft.com/office/drawing/2014/main" id="{7F4373D9-5ED7-F9EE-1CF8-8E46EB33A1D7}"/>
                </a:ext>
              </a:extLst>
            </p:cNvPr>
            <p:cNvSpPr txBox="1"/>
            <p:nvPr/>
          </p:nvSpPr>
          <p:spPr>
            <a:xfrm>
              <a:off x="1803650" y="1133299"/>
              <a:ext cx="2056900" cy="646331"/>
            </a:xfrm>
            <a:prstGeom prst="rect">
              <a:avLst/>
            </a:prstGeom>
            <a:noFill/>
            <a:ln>
              <a:noFill/>
            </a:ln>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Business</a:t>
              </a:r>
            </a:p>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Jobs to Be Done</a:t>
              </a:r>
            </a:p>
          </p:txBody>
        </p:sp>
      </p:grpSp>
      <p:grpSp>
        <p:nvGrpSpPr>
          <p:cNvPr id="8" name="Group 7">
            <a:extLst>
              <a:ext uri="{FF2B5EF4-FFF2-40B4-BE49-F238E27FC236}">
                <a16:creationId xmlns:a16="http://schemas.microsoft.com/office/drawing/2014/main" id="{43A17459-F647-FC62-11BF-D86AB98FF224}"/>
              </a:ext>
            </a:extLst>
          </p:cNvPr>
          <p:cNvGrpSpPr/>
          <p:nvPr/>
        </p:nvGrpSpPr>
        <p:grpSpPr>
          <a:xfrm>
            <a:off x="7302500" y="1018997"/>
            <a:ext cx="3403600" cy="923330"/>
            <a:chOff x="1130300" y="1018999"/>
            <a:chExt cx="3403600" cy="923330"/>
          </a:xfrm>
        </p:grpSpPr>
        <p:sp>
          <p:nvSpPr>
            <p:cNvPr id="9" name="Rectangle: Rounded Corners 17">
              <a:extLst>
                <a:ext uri="{FF2B5EF4-FFF2-40B4-BE49-F238E27FC236}">
                  <a16:creationId xmlns:a16="http://schemas.microsoft.com/office/drawing/2014/main" id="{244BD5E0-724C-5993-F49D-75D616EA9815}"/>
                </a:ext>
              </a:extLst>
            </p:cNvPr>
            <p:cNvSpPr/>
            <p:nvPr/>
          </p:nvSpPr>
          <p:spPr>
            <a:xfrm>
              <a:off x="1130300" y="1029891"/>
              <a:ext cx="3403600" cy="853149"/>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10" name="TextBox 9">
              <a:extLst>
                <a:ext uri="{FF2B5EF4-FFF2-40B4-BE49-F238E27FC236}">
                  <a16:creationId xmlns:a16="http://schemas.microsoft.com/office/drawing/2014/main" id="{C7A63046-45C3-B6F5-5E27-C888845F0929}"/>
                </a:ext>
              </a:extLst>
            </p:cNvPr>
            <p:cNvSpPr txBox="1"/>
            <p:nvPr/>
          </p:nvSpPr>
          <p:spPr>
            <a:xfrm>
              <a:off x="1803650" y="1018999"/>
              <a:ext cx="2056900" cy="923330"/>
            </a:xfrm>
            <a:prstGeom prst="rect">
              <a:avLst/>
            </a:prstGeom>
            <a:noFill/>
            <a:ln>
              <a:noFill/>
            </a:ln>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Strategic</a:t>
              </a:r>
            </a:p>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Human Capital Considerations</a:t>
              </a:r>
            </a:p>
          </p:txBody>
        </p:sp>
      </p:grpSp>
      <p:sp>
        <p:nvSpPr>
          <p:cNvPr id="11" name="TextBox 10">
            <a:extLst>
              <a:ext uri="{FF2B5EF4-FFF2-40B4-BE49-F238E27FC236}">
                <a16:creationId xmlns:a16="http://schemas.microsoft.com/office/drawing/2014/main" id="{59134FCF-82A6-83B5-2EEE-BC9EA14A38EA}"/>
              </a:ext>
            </a:extLst>
          </p:cNvPr>
          <p:cNvSpPr txBox="1"/>
          <p:nvPr/>
        </p:nvSpPr>
        <p:spPr>
          <a:xfrm>
            <a:off x="6978650" y="2637308"/>
            <a:ext cx="5048250" cy="2831544"/>
          </a:xfrm>
          <a:prstGeom prst="rect">
            <a:avLst/>
          </a:prstGeom>
          <a:noFill/>
        </p:spPr>
        <p:txBody>
          <a:bodyPr wrap="square" lIns="91440" tIns="45720" rIns="91440" bIns="45720">
            <a:spAutoFit/>
          </a:bodyPr>
          <a:lstStyle/>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CEO – Commercial, driven but new, impatient, under pressure and driving a lot of change in an org and LT where maturity could be low. </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Leadership Team – Relatively new with 10/12 &lt; 1 year tenure, 1 new addition and 3 changes planned. Managing top team dynamics is important. </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Country managers – long tenured, comfortable, likely source of most resistance to transformation.</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Capacity at N-1 &amp; capability to manage change to drive the pivot from independent to interdependent</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Significant simplification / strategic outsourcing opportunity – sequence? owner?</a:t>
            </a:r>
          </a:p>
        </p:txBody>
      </p:sp>
      <p:sp>
        <p:nvSpPr>
          <p:cNvPr id="12" name="TextBox 11">
            <a:extLst>
              <a:ext uri="{FF2B5EF4-FFF2-40B4-BE49-F238E27FC236}">
                <a16:creationId xmlns:a16="http://schemas.microsoft.com/office/drawing/2014/main" id="{993AEEC2-EBC9-C985-440A-CC8BEC194B3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443136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E943AC-6373-C011-6E48-F1A051E74D5C}"/>
              </a:ext>
            </a:extLst>
          </p:cNvPr>
          <p:cNvSpPr>
            <a:spLocks noGrp="1"/>
          </p:cNvSpPr>
          <p:nvPr>
            <p:ph type="sldNum" sz="quarter" idx="4"/>
          </p:nvPr>
        </p:nvSpPr>
        <p:spPr/>
        <p:txBody>
          <a:bodyPr/>
          <a:lstStyle/>
          <a:p>
            <a:pPr algn="ctr"/>
            <a:fld id="{1875A764-3B06-454E-8ABA-2F6ED0EB58E9}" type="slidenum">
              <a:rPr lang="en-US" smtClean="0"/>
              <a:t>34</a:t>
            </a:fld>
            <a:endParaRPr lang="en-US"/>
          </a:p>
        </p:txBody>
      </p:sp>
      <p:sp>
        <p:nvSpPr>
          <p:cNvPr id="3" name="Title 2">
            <a:extLst>
              <a:ext uri="{FF2B5EF4-FFF2-40B4-BE49-F238E27FC236}">
                <a16:creationId xmlns:a16="http://schemas.microsoft.com/office/drawing/2014/main" id="{96A1AA48-D64F-5BC6-A1B2-59B457A882A8}"/>
              </a:ext>
            </a:extLst>
          </p:cNvPr>
          <p:cNvSpPr>
            <a:spLocks noGrp="1"/>
          </p:cNvSpPr>
          <p:nvPr>
            <p:ph type="title"/>
          </p:nvPr>
        </p:nvSpPr>
        <p:spPr/>
        <p:txBody>
          <a:bodyPr/>
          <a:lstStyle/>
          <a:p>
            <a:r>
              <a:rPr lang="en-US" dirty="0">
                <a:solidFill>
                  <a:srgbClr val="281A42"/>
                </a:solidFill>
              </a:rPr>
              <a:t>HR Strategy </a:t>
            </a:r>
            <a:r>
              <a:rPr lang="en-US" dirty="0"/>
              <a:t>Data Driven Human Capital Insights</a:t>
            </a:r>
          </a:p>
        </p:txBody>
      </p:sp>
      <p:sp>
        <p:nvSpPr>
          <p:cNvPr id="4" name="object 4">
            <a:extLst>
              <a:ext uri="{FF2B5EF4-FFF2-40B4-BE49-F238E27FC236}">
                <a16:creationId xmlns:a16="http://schemas.microsoft.com/office/drawing/2014/main" id="{98AAEF8B-74D5-EF9A-B7C0-9AE9460341F0}"/>
              </a:ext>
            </a:extLst>
          </p:cNvPr>
          <p:cNvSpPr/>
          <p:nvPr/>
        </p:nvSpPr>
        <p:spPr>
          <a:xfrm>
            <a:off x="1160921" y="4759813"/>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ORGANIZATION</a:t>
            </a:r>
            <a:endParaRPr spc="-10" dirty="0">
              <a:solidFill>
                <a:srgbClr val="F2F2F2"/>
              </a:solidFill>
              <a:latin typeface="Arial" pitchFamily="34" charset="0"/>
            </a:endParaRPr>
          </a:p>
        </p:txBody>
      </p:sp>
      <p:sp>
        <p:nvSpPr>
          <p:cNvPr id="5" name="object 6">
            <a:extLst>
              <a:ext uri="{FF2B5EF4-FFF2-40B4-BE49-F238E27FC236}">
                <a16:creationId xmlns:a16="http://schemas.microsoft.com/office/drawing/2014/main" id="{A3425746-30D5-A87F-9886-2C691AE4EE2C}"/>
              </a:ext>
            </a:extLst>
          </p:cNvPr>
          <p:cNvSpPr/>
          <p:nvPr/>
        </p:nvSpPr>
        <p:spPr>
          <a:xfrm>
            <a:off x="1160924" y="2207475"/>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ACQUISITION</a:t>
            </a:r>
            <a:endParaRPr spc="-10" dirty="0">
              <a:solidFill>
                <a:srgbClr val="F2F2F2"/>
              </a:solidFill>
              <a:latin typeface="Arial" pitchFamily="34" charset="0"/>
            </a:endParaRPr>
          </a:p>
        </p:txBody>
      </p:sp>
      <p:sp>
        <p:nvSpPr>
          <p:cNvPr id="6" name="object 14">
            <a:extLst>
              <a:ext uri="{FF2B5EF4-FFF2-40B4-BE49-F238E27FC236}">
                <a16:creationId xmlns:a16="http://schemas.microsoft.com/office/drawing/2014/main" id="{DED7E0ED-A1BD-5053-8C33-CBDAEF99F2BE}"/>
              </a:ext>
            </a:extLst>
          </p:cNvPr>
          <p:cNvSpPr/>
          <p:nvPr/>
        </p:nvSpPr>
        <p:spPr>
          <a:xfrm>
            <a:off x="1169073" y="2845560"/>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RETENTION</a:t>
            </a:r>
            <a:endParaRPr spc="-10" dirty="0">
              <a:solidFill>
                <a:srgbClr val="F2F2F2"/>
              </a:solidFill>
              <a:latin typeface="Arial" pitchFamily="34" charset="0"/>
            </a:endParaRPr>
          </a:p>
        </p:txBody>
      </p:sp>
      <p:sp>
        <p:nvSpPr>
          <p:cNvPr id="7" name="object 18">
            <a:extLst>
              <a:ext uri="{FF2B5EF4-FFF2-40B4-BE49-F238E27FC236}">
                <a16:creationId xmlns:a16="http://schemas.microsoft.com/office/drawing/2014/main" id="{C1A9E792-D0B8-A2F0-4148-80DE429617A9}"/>
              </a:ext>
            </a:extLst>
          </p:cNvPr>
          <p:cNvSpPr/>
          <p:nvPr/>
        </p:nvSpPr>
        <p:spPr>
          <a:xfrm>
            <a:off x="1169073" y="3483645"/>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DEVELOPMENT</a:t>
            </a:r>
            <a:endParaRPr spc="-10" dirty="0">
              <a:solidFill>
                <a:srgbClr val="F2F2F2"/>
              </a:solidFill>
              <a:latin typeface="Arial" pitchFamily="34" charset="0"/>
            </a:endParaRPr>
          </a:p>
        </p:txBody>
      </p:sp>
      <p:sp>
        <p:nvSpPr>
          <p:cNvPr id="8" name="object 22">
            <a:extLst>
              <a:ext uri="{FF2B5EF4-FFF2-40B4-BE49-F238E27FC236}">
                <a16:creationId xmlns:a16="http://schemas.microsoft.com/office/drawing/2014/main" id="{07A00B1D-9AF3-263E-C01C-C3CBE995A0D2}"/>
              </a:ext>
            </a:extLst>
          </p:cNvPr>
          <p:cNvSpPr/>
          <p:nvPr/>
        </p:nvSpPr>
        <p:spPr>
          <a:xfrm>
            <a:off x="1169073" y="4121731"/>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PERFORMANCE &amp; REWARD</a:t>
            </a:r>
            <a:endParaRPr spc="-10" dirty="0">
              <a:solidFill>
                <a:srgbClr val="F2F2F2"/>
              </a:solidFill>
              <a:latin typeface="Arial" pitchFamily="34" charset="0"/>
            </a:endParaRPr>
          </a:p>
        </p:txBody>
      </p:sp>
      <p:sp>
        <p:nvSpPr>
          <p:cNvPr id="9" name="object 26">
            <a:extLst>
              <a:ext uri="{FF2B5EF4-FFF2-40B4-BE49-F238E27FC236}">
                <a16:creationId xmlns:a16="http://schemas.microsoft.com/office/drawing/2014/main" id="{CC5E6290-1E57-E367-A35E-5995BD2B3EFA}"/>
              </a:ext>
            </a:extLst>
          </p:cNvPr>
          <p:cNvSpPr/>
          <p:nvPr/>
        </p:nvSpPr>
        <p:spPr>
          <a:xfrm>
            <a:off x="1160920" y="1569389"/>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CULTURE &amp; ENGAGEMENT</a:t>
            </a:r>
            <a:endParaRPr spc="-10" dirty="0">
              <a:solidFill>
                <a:srgbClr val="F2F2F2"/>
              </a:solidFill>
              <a:latin typeface="Arial" pitchFamily="34" charset="0"/>
            </a:endParaRPr>
          </a:p>
        </p:txBody>
      </p:sp>
      <p:sp>
        <p:nvSpPr>
          <p:cNvPr id="10" name="Rectangle 9">
            <a:extLst>
              <a:ext uri="{FF2B5EF4-FFF2-40B4-BE49-F238E27FC236}">
                <a16:creationId xmlns:a16="http://schemas.microsoft.com/office/drawing/2014/main" id="{3A4D1C7B-5A08-36B9-9C43-E598C5B083BC}"/>
              </a:ext>
            </a:extLst>
          </p:cNvPr>
          <p:cNvSpPr/>
          <p:nvPr/>
        </p:nvSpPr>
        <p:spPr>
          <a:xfrm>
            <a:off x="4971561" y="694205"/>
            <a:ext cx="6623539" cy="5706595"/>
          </a:xfrm>
          <a:prstGeom prst="rect">
            <a:avLst/>
          </a:prstGeom>
          <a:solidFill>
            <a:schemeClr val="bg1">
              <a:lumMod val="75000"/>
            </a:schemeClr>
          </a:solidFill>
        </p:spPr>
        <p:txBody>
          <a:bodyPr vert="horz" lIns="73152" tIns="73152" rIns="60960" bIns="48768" rtlCol="0" anchor="t" anchorCtr="0">
            <a:noAutofit/>
          </a:bodyPr>
          <a:lstStyle/>
          <a:p>
            <a:pPr defTabSz="609585">
              <a:defRPr/>
            </a:pPr>
            <a:r>
              <a:rPr lang="en-SG" sz="1400" b="1" dirty="0">
                <a:solidFill>
                  <a:schemeClr val="accent1"/>
                </a:solidFill>
                <a:latin typeface="Arial"/>
              </a:rPr>
              <a:t>CULTURE</a:t>
            </a:r>
          </a:p>
          <a:p>
            <a:pPr defTabSz="609585">
              <a:defRPr/>
            </a:pPr>
            <a:r>
              <a:rPr lang="en-US" sz="1400" dirty="0">
                <a:solidFill>
                  <a:srgbClr val="FFFFFF"/>
                </a:solidFill>
                <a:latin typeface="Arial"/>
              </a:rPr>
              <a:t>consistent themes on trust in leadership, managing change, morale / optimism for the future</a:t>
            </a:r>
            <a:br>
              <a:rPr lang="en-US" sz="1400" dirty="0">
                <a:solidFill>
                  <a:srgbClr val="FFFFFF"/>
                </a:solidFill>
                <a:latin typeface="Arial"/>
              </a:rPr>
            </a:br>
            <a:br>
              <a:rPr lang="en-US" sz="1400" dirty="0">
                <a:solidFill>
                  <a:srgbClr val="FFFFFF"/>
                </a:solidFill>
                <a:latin typeface="Arial"/>
              </a:rPr>
            </a:br>
            <a:r>
              <a:rPr lang="en-US" sz="1400" b="1" dirty="0">
                <a:solidFill>
                  <a:schemeClr val="accent1"/>
                </a:solidFill>
                <a:latin typeface="Arial"/>
              </a:rPr>
              <a:t>TALENT ACQUISITION</a:t>
            </a:r>
            <a:br>
              <a:rPr lang="en-US" sz="1400" dirty="0">
                <a:solidFill>
                  <a:srgbClr val="FFFFFF"/>
                </a:solidFill>
                <a:latin typeface="Arial"/>
              </a:rPr>
            </a:br>
            <a:r>
              <a:rPr lang="en-US" sz="1400" dirty="0">
                <a:solidFill>
                  <a:srgbClr val="FFFFFF"/>
                </a:solidFill>
                <a:latin typeface="Arial"/>
              </a:rPr>
              <a:t>largely internal pool, slow for senior roles (&gt; 90 days), local for high volume roles, inconsistent and local in FR, NL, TR</a:t>
            </a:r>
            <a:br>
              <a:rPr lang="en-US" sz="1400" dirty="0">
                <a:solidFill>
                  <a:srgbClr val="FFFFFF"/>
                </a:solidFill>
                <a:latin typeface="Arial"/>
              </a:rPr>
            </a:br>
            <a:br>
              <a:rPr lang="en-US" sz="1400" dirty="0">
                <a:solidFill>
                  <a:srgbClr val="FFFFFF"/>
                </a:solidFill>
                <a:latin typeface="Arial"/>
              </a:rPr>
            </a:br>
            <a:r>
              <a:rPr lang="en-US" sz="1400" b="1" dirty="0">
                <a:solidFill>
                  <a:schemeClr val="accent1"/>
                </a:solidFill>
                <a:latin typeface="Arial"/>
              </a:rPr>
              <a:t>TALENT RETENTION</a:t>
            </a:r>
            <a:br>
              <a:rPr lang="en-US" sz="1400" dirty="0">
                <a:solidFill>
                  <a:srgbClr val="FFFFFF"/>
                </a:solidFill>
                <a:latin typeface="Arial"/>
              </a:rPr>
            </a:br>
            <a:r>
              <a:rPr lang="en-US" sz="1400" dirty="0">
                <a:solidFill>
                  <a:srgbClr val="FFFFFF"/>
                </a:solidFill>
                <a:latin typeface="Arial"/>
              </a:rPr>
              <a:t>higher in BU1 (35%) vs. other BUs, with hotspots in NL, Turkey and Norway. Turkey has high churn (42% &lt; 2 years). High frontline churn (25%)</a:t>
            </a:r>
            <a:br>
              <a:rPr lang="en-US" sz="1400" dirty="0">
                <a:solidFill>
                  <a:srgbClr val="FFFFFF"/>
                </a:solidFill>
                <a:latin typeface="Arial"/>
              </a:rPr>
            </a:br>
            <a:br>
              <a:rPr lang="en-US" sz="1400" dirty="0">
                <a:solidFill>
                  <a:srgbClr val="FFFFFF"/>
                </a:solidFill>
                <a:latin typeface="Arial"/>
              </a:rPr>
            </a:br>
            <a:r>
              <a:rPr lang="en-US" sz="1400" b="1" dirty="0">
                <a:solidFill>
                  <a:schemeClr val="accent1"/>
                </a:solidFill>
                <a:latin typeface="Arial"/>
              </a:rPr>
              <a:t>TALENT SUCCESSION &amp; DEVELOPMENT</a:t>
            </a:r>
          </a:p>
          <a:p>
            <a:pPr defTabSz="609585">
              <a:defRPr/>
            </a:pPr>
            <a:r>
              <a:rPr lang="en-US" sz="1400" dirty="0">
                <a:solidFill>
                  <a:srgbClr val="FFFFFF"/>
                </a:solidFill>
                <a:latin typeface="Arial"/>
              </a:rPr>
              <a:t>Internally focused and biased to finance. Limited to no visibility outside BU and seemingly absent approach to talent mobility. Weak ready now bench. Inconsistent approach to talent development across regions</a:t>
            </a:r>
            <a:br>
              <a:rPr lang="en-US" sz="1400" dirty="0">
                <a:solidFill>
                  <a:srgbClr val="FFFFFF"/>
                </a:solidFill>
                <a:latin typeface="Arial"/>
              </a:rPr>
            </a:br>
            <a:endParaRPr lang="en-US" sz="1400" dirty="0">
              <a:solidFill>
                <a:srgbClr val="FFFFFF"/>
              </a:solidFill>
              <a:latin typeface="Arial"/>
            </a:endParaRPr>
          </a:p>
          <a:p>
            <a:pPr defTabSz="609585">
              <a:defRPr/>
            </a:pPr>
            <a:r>
              <a:rPr lang="en-US" sz="1400" b="1" dirty="0">
                <a:solidFill>
                  <a:schemeClr val="accent1"/>
                </a:solidFill>
                <a:latin typeface="Arial"/>
              </a:rPr>
              <a:t>PERFORMANCE &amp; REWARD</a:t>
            </a:r>
          </a:p>
          <a:p>
            <a:pPr defTabSz="609585">
              <a:defRPr/>
            </a:pPr>
            <a:r>
              <a:rPr lang="en-US" sz="1400" dirty="0">
                <a:solidFill>
                  <a:srgbClr val="FFFFFF"/>
                </a:solidFill>
                <a:latin typeface="Arial"/>
              </a:rPr>
              <a:t>Performance differentiation is low (likely linked to goal setting). Compensation and reward not consistent or harmonized across BUs, regions or even within countries. Comp levelling likely biased to tenure than potential or performance.</a:t>
            </a:r>
            <a:br>
              <a:rPr lang="en-US" sz="1400" dirty="0">
                <a:solidFill>
                  <a:srgbClr val="FFFFFF"/>
                </a:solidFill>
                <a:latin typeface="Arial"/>
              </a:rPr>
            </a:br>
            <a:endParaRPr lang="en-US" sz="1400" dirty="0">
              <a:solidFill>
                <a:schemeClr val="accent1"/>
              </a:solidFill>
              <a:latin typeface="Arial"/>
            </a:endParaRPr>
          </a:p>
          <a:p>
            <a:pPr defTabSz="609585">
              <a:defRPr/>
            </a:pPr>
            <a:r>
              <a:rPr lang="en-US" sz="1400" b="1" dirty="0">
                <a:solidFill>
                  <a:schemeClr val="accent1"/>
                </a:solidFill>
                <a:latin typeface="Arial"/>
              </a:rPr>
              <a:t>ORGANIZATION</a:t>
            </a:r>
            <a:br>
              <a:rPr lang="en-US" sz="1400" dirty="0">
                <a:solidFill>
                  <a:schemeClr val="accent1"/>
                </a:solidFill>
                <a:latin typeface="Arial"/>
              </a:rPr>
            </a:br>
            <a:r>
              <a:rPr lang="en-US" sz="1400" dirty="0">
                <a:solidFill>
                  <a:srgbClr val="FFFFFF"/>
                </a:solidFill>
                <a:latin typeface="Arial"/>
              </a:rPr>
              <a:t>Legacy of local, organic evolution as opposed to strategic design. Overlayered and inconsistent in levels, layers and spans across regions / countries. Significant de-duplication, shared services opportunity. </a:t>
            </a:r>
            <a:endParaRPr lang="en-SG" sz="1400" dirty="0">
              <a:solidFill>
                <a:srgbClr val="FFFFFF"/>
              </a:solidFill>
              <a:latin typeface="Arial"/>
            </a:endParaRPr>
          </a:p>
        </p:txBody>
      </p:sp>
      <p:sp>
        <p:nvSpPr>
          <p:cNvPr id="11" name="TextBox 10">
            <a:extLst>
              <a:ext uri="{FF2B5EF4-FFF2-40B4-BE49-F238E27FC236}">
                <a16:creationId xmlns:a16="http://schemas.microsoft.com/office/drawing/2014/main" id="{505B1AE5-5A88-FBD2-A39A-045BDA4E285D}"/>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337829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1B6018-D488-2DB5-A162-413310817A35}"/>
              </a:ext>
            </a:extLst>
          </p:cNvPr>
          <p:cNvSpPr>
            <a:spLocks noGrp="1"/>
          </p:cNvSpPr>
          <p:nvPr>
            <p:ph type="sldNum" sz="quarter" idx="4"/>
          </p:nvPr>
        </p:nvSpPr>
        <p:spPr/>
        <p:txBody>
          <a:bodyPr/>
          <a:lstStyle/>
          <a:p>
            <a:pPr algn="ctr"/>
            <a:fld id="{1875A764-3B06-454E-8ABA-2F6ED0EB58E9}" type="slidenum">
              <a:rPr lang="en-US" smtClean="0"/>
              <a:t>35</a:t>
            </a:fld>
            <a:endParaRPr lang="en-US"/>
          </a:p>
        </p:txBody>
      </p:sp>
      <p:sp>
        <p:nvSpPr>
          <p:cNvPr id="3" name="Title 2">
            <a:extLst>
              <a:ext uri="{FF2B5EF4-FFF2-40B4-BE49-F238E27FC236}">
                <a16:creationId xmlns:a16="http://schemas.microsoft.com/office/drawing/2014/main" id="{131FA598-D614-BCEB-9053-8253F03ACE84}"/>
              </a:ext>
            </a:extLst>
          </p:cNvPr>
          <p:cNvSpPr>
            <a:spLocks noGrp="1"/>
          </p:cNvSpPr>
          <p:nvPr>
            <p:ph type="title"/>
          </p:nvPr>
        </p:nvSpPr>
        <p:spPr/>
        <p:txBody>
          <a:bodyPr/>
          <a:lstStyle/>
          <a:p>
            <a:r>
              <a:rPr lang="en-US" dirty="0">
                <a:solidFill>
                  <a:srgbClr val="281A42"/>
                </a:solidFill>
              </a:rPr>
              <a:t>HR Strategy </a:t>
            </a:r>
            <a:r>
              <a:rPr lang="en-US" dirty="0"/>
              <a:t>Bringing IT Together</a:t>
            </a:r>
          </a:p>
        </p:txBody>
      </p:sp>
      <p:grpSp>
        <p:nvGrpSpPr>
          <p:cNvPr id="4" name="Group 3">
            <a:extLst>
              <a:ext uri="{FF2B5EF4-FFF2-40B4-BE49-F238E27FC236}">
                <a16:creationId xmlns:a16="http://schemas.microsoft.com/office/drawing/2014/main" id="{E3E34CA4-3777-8D8B-57A2-85DFDF7B20D3}"/>
              </a:ext>
            </a:extLst>
          </p:cNvPr>
          <p:cNvGrpSpPr/>
          <p:nvPr/>
        </p:nvGrpSpPr>
        <p:grpSpPr>
          <a:xfrm>
            <a:off x="1084860" y="1943527"/>
            <a:ext cx="2437808" cy="3966324"/>
            <a:chOff x="726539" y="1182098"/>
            <a:chExt cx="2713652" cy="5189456"/>
          </a:xfrm>
        </p:grpSpPr>
        <p:sp>
          <p:nvSpPr>
            <p:cNvPr id="5" name="Rounded Rectangle 4">
              <a:extLst>
                <a:ext uri="{FF2B5EF4-FFF2-40B4-BE49-F238E27FC236}">
                  <a16:creationId xmlns:a16="http://schemas.microsoft.com/office/drawing/2014/main" id="{BC0B34AA-0D8E-8368-1CA4-10608A1EA85C}"/>
                </a:ext>
              </a:extLst>
            </p:cNvPr>
            <p:cNvSpPr/>
            <p:nvPr/>
          </p:nvSpPr>
          <p:spPr>
            <a:xfrm>
              <a:off x="726539" y="1182098"/>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b="1" spc="-25" dirty="0">
                <a:solidFill>
                  <a:schemeClr val="bg2"/>
                </a:solidFill>
                <a:effectLst/>
                <a:latin typeface="Segoe UI" pitchFamily="34" charset="0"/>
              </a:endParaRPr>
            </a:p>
          </p:txBody>
        </p:sp>
        <p:sp>
          <p:nvSpPr>
            <p:cNvPr id="6" name="Rounded Rectangle 4">
              <a:extLst>
                <a:ext uri="{FF2B5EF4-FFF2-40B4-BE49-F238E27FC236}">
                  <a16:creationId xmlns:a16="http://schemas.microsoft.com/office/drawing/2014/main" id="{D02AF158-3AF4-F61F-5DC1-10783F12DF48}"/>
                </a:ext>
              </a:extLst>
            </p:cNvPr>
            <p:cNvSpPr/>
            <p:nvPr/>
          </p:nvSpPr>
          <p:spPr>
            <a:xfrm>
              <a:off x="726539" y="2525980"/>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chemeClr val="bg2"/>
                </a:solidFill>
                <a:effectLst/>
              </a:endParaRPr>
            </a:p>
          </p:txBody>
        </p:sp>
        <p:sp>
          <p:nvSpPr>
            <p:cNvPr id="7" name="Rounded Rectangle 4">
              <a:extLst>
                <a:ext uri="{FF2B5EF4-FFF2-40B4-BE49-F238E27FC236}">
                  <a16:creationId xmlns:a16="http://schemas.microsoft.com/office/drawing/2014/main" id="{AA2924AC-CEF8-8BFC-303F-8A9E6C403713}"/>
                </a:ext>
              </a:extLst>
            </p:cNvPr>
            <p:cNvSpPr/>
            <p:nvPr/>
          </p:nvSpPr>
          <p:spPr>
            <a:xfrm>
              <a:off x="726539" y="5213744"/>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chemeClr val="bg2"/>
                </a:solidFill>
              </a:endParaRPr>
            </a:p>
          </p:txBody>
        </p:sp>
        <p:sp>
          <p:nvSpPr>
            <p:cNvPr id="8" name="Rounded Rectangle 4">
              <a:extLst>
                <a:ext uri="{FF2B5EF4-FFF2-40B4-BE49-F238E27FC236}">
                  <a16:creationId xmlns:a16="http://schemas.microsoft.com/office/drawing/2014/main" id="{53AC49C6-71FB-4D42-730E-568732B5AFB8}"/>
                </a:ext>
              </a:extLst>
            </p:cNvPr>
            <p:cNvSpPr/>
            <p:nvPr/>
          </p:nvSpPr>
          <p:spPr>
            <a:xfrm>
              <a:off x="726539" y="3869862"/>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chemeClr val="bg2"/>
                </a:solidFill>
                <a:effectLst/>
              </a:endParaRPr>
            </a:p>
          </p:txBody>
        </p:sp>
      </p:grpSp>
      <p:sp>
        <p:nvSpPr>
          <p:cNvPr id="9" name="Trapezoid 8">
            <a:extLst>
              <a:ext uri="{FF2B5EF4-FFF2-40B4-BE49-F238E27FC236}">
                <a16:creationId xmlns:a16="http://schemas.microsoft.com/office/drawing/2014/main" id="{3553ED0B-2BC2-B750-EEFA-30FC59CB7B95}"/>
              </a:ext>
            </a:extLst>
          </p:cNvPr>
          <p:cNvSpPr/>
          <p:nvPr/>
        </p:nvSpPr>
        <p:spPr>
          <a:xfrm rot="5400000">
            <a:off x="2083724" y="3606790"/>
            <a:ext cx="3643886" cy="635866"/>
          </a:xfrm>
          <a:prstGeom prst="trapezoid">
            <a:avLst>
              <a:gd name="adj" fmla="val 15639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grpSp>
        <p:nvGrpSpPr>
          <p:cNvPr id="10" name="Group 9">
            <a:extLst>
              <a:ext uri="{FF2B5EF4-FFF2-40B4-BE49-F238E27FC236}">
                <a16:creationId xmlns:a16="http://schemas.microsoft.com/office/drawing/2014/main" id="{876510FE-ED57-E81A-2D6C-F029A580D3AB}"/>
              </a:ext>
            </a:extLst>
          </p:cNvPr>
          <p:cNvGrpSpPr/>
          <p:nvPr/>
        </p:nvGrpSpPr>
        <p:grpSpPr>
          <a:xfrm>
            <a:off x="8661991" y="1959742"/>
            <a:ext cx="2437808" cy="3802846"/>
            <a:chOff x="9161042" y="1673127"/>
            <a:chExt cx="2713652" cy="4112037"/>
          </a:xfrm>
          <a:solidFill>
            <a:srgbClr val="F2F2F2"/>
          </a:solidFill>
        </p:grpSpPr>
        <p:sp>
          <p:nvSpPr>
            <p:cNvPr id="11" name="Rounded Rectangle 4">
              <a:extLst>
                <a:ext uri="{FF2B5EF4-FFF2-40B4-BE49-F238E27FC236}">
                  <a16:creationId xmlns:a16="http://schemas.microsoft.com/office/drawing/2014/main" id="{EA99A655-CE7E-A275-B925-1D056AF5195A}"/>
                </a:ext>
              </a:extLst>
            </p:cNvPr>
            <p:cNvSpPr/>
            <p:nvPr/>
          </p:nvSpPr>
          <p:spPr>
            <a:xfrm>
              <a:off x="9161042" y="1673127"/>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ffectLst/>
                <a:ea typeface="Lato" panose="020F0502020204030203" pitchFamily="34" charset="0"/>
                <a:cs typeface="Lato" panose="020F0502020204030203" pitchFamily="34" charset="0"/>
              </a:endParaRPr>
            </a:p>
          </p:txBody>
        </p:sp>
        <p:sp>
          <p:nvSpPr>
            <p:cNvPr id="12" name="Rounded Rectangle 4">
              <a:extLst>
                <a:ext uri="{FF2B5EF4-FFF2-40B4-BE49-F238E27FC236}">
                  <a16:creationId xmlns:a16="http://schemas.microsoft.com/office/drawing/2014/main" id="{25D036F5-4260-2F65-1FCA-6CBF2DCC8A0E}"/>
                </a:ext>
              </a:extLst>
            </p:cNvPr>
            <p:cNvSpPr/>
            <p:nvPr/>
          </p:nvSpPr>
          <p:spPr>
            <a:xfrm>
              <a:off x="9161042" y="2747906"/>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ffectLst/>
                <a:ea typeface="Lato" panose="020F0502020204030203" pitchFamily="34" charset="0"/>
                <a:cs typeface="Lato" panose="020F0502020204030203" pitchFamily="34" charset="0"/>
              </a:endParaRPr>
            </a:p>
          </p:txBody>
        </p:sp>
        <p:sp>
          <p:nvSpPr>
            <p:cNvPr id="13" name="Rounded Rectangle 4">
              <a:extLst>
                <a:ext uri="{FF2B5EF4-FFF2-40B4-BE49-F238E27FC236}">
                  <a16:creationId xmlns:a16="http://schemas.microsoft.com/office/drawing/2014/main" id="{3F65A8B2-9F5F-47B8-E83A-7BEFB455FD2C}"/>
                </a:ext>
              </a:extLst>
            </p:cNvPr>
            <p:cNvSpPr/>
            <p:nvPr/>
          </p:nvSpPr>
          <p:spPr>
            <a:xfrm>
              <a:off x="9161042" y="4897464"/>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a typeface="Lato" panose="020F0502020204030203" pitchFamily="34" charset="0"/>
                <a:cs typeface="Lato" panose="020F0502020204030203" pitchFamily="34" charset="0"/>
              </a:endParaRPr>
            </a:p>
          </p:txBody>
        </p:sp>
        <p:sp>
          <p:nvSpPr>
            <p:cNvPr id="14" name="Rounded Rectangle 4">
              <a:extLst>
                <a:ext uri="{FF2B5EF4-FFF2-40B4-BE49-F238E27FC236}">
                  <a16:creationId xmlns:a16="http://schemas.microsoft.com/office/drawing/2014/main" id="{512AAD70-A3FF-AAE8-91BD-EE22A88F2139}"/>
                </a:ext>
              </a:extLst>
            </p:cNvPr>
            <p:cNvSpPr/>
            <p:nvPr/>
          </p:nvSpPr>
          <p:spPr>
            <a:xfrm>
              <a:off x="9161042" y="3822685"/>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a typeface="Lato" panose="020F0502020204030203" pitchFamily="34" charset="0"/>
                <a:cs typeface="Lato" panose="020F0502020204030203" pitchFamily="34" charset="0"/>
              </a:endParaRPr>
            </a:p>
          </p:txBody>
        </p:sp>
      </p:grpSp>
      <p:sp>
        <p:nvSpPr>
          <p:cNvPr id="15" name="Trapezoid 14">
            <a:extLst>
              <a:ext uri="{FF2B5EF4-FFF2-40B4-BE49-F238E27FC236}">
                <a16:creationId xmlns:a16="http://schemas.microsoft.com/office/drawing/2014/main" id="{FB0CF513-270E-DD99-2CB7-7AE73B32F2A9}"/>
              </a:ext>
            </a:extLst>
          </p:cNvPr>
          <p:cNvSpPr/>
          <p:nvPr/>
        </p:nvSpPr>
        <p:spPr>
          <a:xfrm rot="16200000" flipH="1">
            <a:off x="6442000" y="3537648"/>
            <a:ext cx="3643886" cy="635866"/>
          </a:xfrm>
          <a:prstGeom prst="trapezoid">
            <a:avLst>
              <a:gd name="adj" fmla="val 15639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grpSp>
        <p:nvGrpSpPr>
          <p:cNvPr id="16" name="Group 15">
            <a:extLst>
              <a:ext uri="{FF2B5EF4-FFF2-40B4-BE49-F238E27FC236}">
                <a16:creationId xmlns:a16="http://schemas.microsoft.com/office/drawing/2014/main" id="{BD452E6E-8BB1-6E30-F951-3320790B26F0}"/>
              </a:ext>
            </a:extLst>
          </p:cNvPr>
          <p:cNvGrpSpPr/>
          <p:nvPr/>
        </p:nvGrpSpPr>
        <p:grpSpPr>
          <a:xfrm>
            <a:off x="4201568" y="1823244"/>
            <a:ext cx="3766474" cy="4107656"/>
            <a:chOff x="4386486" y="1719618"/>
            <a:chExt cx="3811509" cy="4037845"/>
          </a:xfrm>
        </p:grpSpPr>
        <p:sp>
          <p:nvSpPr>
            <p:cNvPr id="17" name="Rectangle: Rounded Corners 63">
              <a:extLst>
                <a:ext uri="{FF2B5EF4-FFF2-40B4-BE49-F238E27FC236}">
                  <a16:creationId xmlns:a16="http://schemas.microsoft.com/office/drawing/2014/main" id="{1EAF6FB8-27EB-1796-47E0-78C2F05E1051}"/>
                </a:ext>
              </a:extLst>
            </p:cNvPr>
            <p:cNvSpPr/>
            <p:nvPr/>
          </p:nvSpPr>
          <p:spPr>
            <a:xfrm>
              <a:off x="4386486" y="1887566"/>
              <a:ext cx="3811509" cy="3869897"/>
            </a:xfrm>
            <a:prstGeom prst="roundRect">
              <a:avLst>
                <a:gd name="adj" fmla="val 2396"/>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sp>
          <p:nvSpPr>
            <p:cNvPr id="18" name="Rectangle: Rounded Corners 64">
              <a:extLst>
                <a:ext uri="{FF2B5EF4-FFF2-40B4-BE49-F238E27FC236}">
                  <a16:creationId xmlns:a16="http://schemas.microsoft.com/office/drawing/2014/main" id="{9880BAD0-41B4-D280-E3E2-9D4727E3145E}"/>
                </a:ext>
              </a:extLst>
            </p:cNvPr>
            <p:cNvSpPr/>
            <p:nvPr/>
          </p:nvSpPr>
          <p:spPr>
            <a:xfrm>
              <a:off x="4386486" y="1719618"/>
              <a:ext cx="3811509" cy="3358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solidFill>
                    <a:schemeClr val="bg2"/>
                  </a:solidFill>
                </a:rPr>
                <a:t>HR JOBS TO BE DONE</a:t>
              </a:r>
            </a:p>
          </p:txBody>
        </p:sp>
      </p:grpSp>
      <p:sp>
        <p:nvSpPr>
          <p:cNvPr id="19" name="TextBox 18">
            <a:extLst>
              <a:ext uri="{FF2B5EF4-FFF2-40B4-BE49-F238E27FC236}">
                <a16:creationId xmlns:a16="http://schemas.microsoft.com/office/drawing/2014/main" id="{054218FC-3C6C-4B93-C1DF-50C953613D2A}"/>
              </a:ext>
            </a:extLst>
          </p:cNvPr>
          <p:cNvSpPr txBox="1"/>
          <p:nvPr/>
        </p:nvSpPr>
        <p:spPr>
          <a:xfrm>
            <a:off x="1376034" y="1581916"/>
            <a:ext cx="1460656" cy="338554"/>
          </a:xfrm>
          <a:prstGeom prst="rect">
            <a:avLst/>
          </a:prstGeom>
          <a:noFill/>
        </p:spPr>
        <p:txBody>
          <a:bodyPr wrap="none" lIns="91440" tIns="45720" rIns="91440" bIns="45720" rtlCol="0">
            <a:spAutoFit/>
          </a:bodyPr>
          <a:lstStyle/>
          <a:p>
            <a:r>
              <a:rPr lang="en-US" sz="1600" b="1" dirty="0"/>
              <a:t>Business JTBDs</a:t>
            </a:r>
          </a:p>
        </p:txBody>
      </p:sp>
      <p:sp>
        <p:nvSpPr>
          <p:cNvPr id="20" name="TextBox 19">
            <a:extLst>
              <a:ext uri="{FF2B5EF4-FFF2-40B4-BE49-F238E27FC236}">
                <a16:creationId xmlns:a16="http://schemas.microsoft.com/office/drawing/2014/main" id="{A423CA98-C674-57CA-206A-5C7131C9E394}"/>
              </a:ext>
            </a:extLst>
          </p:cNvPr>
          <p:cNvSpPr txBox="1"/>
          <p:nvPr/>
        </p:nvSpPr>
        <p:spPr>
          <a:xfrm>
            <a:off x="8837123" y="1616011"/>
            <a:ext cx="2072683" cy="338554"/>
          </a:xfrm>
          <a:prstGeom prst="rect">
            <a:avLst/>
          </a:prstGeom>
          <a:noFill/>
        </p:spPr>
        <p:txBody>
          <a:bodyPr wrap="none" lIns="91440" tIns="45720" rIns="91440" bIns="45720" rtlCol="0">
            <a:spAutoFit/>
          </a:bodyPr>
          <a:lstStyle/>
          <a:p>
            <a:r>
              <a:rPr lang="en-US" sz="1600" b="1" dirty="0"/>
              <a:t>HR Functional Insights</a:t>
            </a:r>
          </a:p>
        </p:txBody>
      </p:sp>
      <p:sp>
        <p:nvSpPr>
          <p:cNvPr id="21" name="TextBox 20">
            <a:extLst>
              <a:ext uri="{FF2B5EF4-FFF2-40B4-BE49-F238E27FC236}">
                <a16:creationId xmlns:a16="http://schemas.microsoft.com/office/drawing/2014/main" id="{9C5B71F7-F23E-653D-CE16-2EBEF1EC8C29}"/>
              </a:ext>
            </a:extLst>
          </p:cNvPr>
          <p:cNvSpPr txBox="1"/>
          <p:nvPr/>
        </p:nvSpPr>
        <p:spPr>
          <a:xfrm>
            <a:off x="4904006" y="3297986"/>
            <a:ext cx="2383986" cy="338554"/>
          </a:xfrm>
          <a:prstGeom prst="rect">
            <a:avLst/>
          </a:prstGeom>
          <a:noFill/>
        </p:spPr>
        <p:txBody>
          <a:bodyPr wrap="none" lIns="91440" tIns="45720" rIns="91440" bIns="45720" rtlCol="0">
            <a:spAutoFit/>
          </a:bodyPr>
          <a:lstStyle/>
          <a:p>
            <a:pPr algn="ctr"/>
            <a:r>
              <a:rPr lang="en-US" sz="1600" b="1" dirty="0"/>
              <a:t>Enabling the Business</a:t>
            </a:r>
          </a:p>
        </p:txBody>
      </p:sp>
      <p:sp>
        <p:nvSpPr>
          <p:cNvPr id="22" name="TextBox 21">
            <a:extLst>
              <a:ext uri="{FF2B5EF4-FFF2-40B4-BE49-F238E27FC236}">
                <a16:creationId xmlns:a16="http://schemas.microsoft.com/office/drawing/2014/main" id="{F71C47B4-2BB9-A35D-3A82-F9DBFC6EA6EC}"/>
              </a:ext>
            </a:extLst>
          </p:cNvPr>
          <p:cNvSpPr txBox="1"/>
          <p:nvPr/>
        </p:nvSpPr>
        <p:spPr>
          <a:xfrm>
            <a:off x="4829475" y="3826479"/>
            <a:ext cx="2533066" cy="338554"/>
          </a:xfrm>
          <a:prstGeom prst="rect">
            <a:avLst/>
          </a:prstGeom>
          <a:noFill/>
        </p:spPr>
        <p:txBody>
          <a:bodyPr wrap="none" lIns="91440" tIns="45720" rIns="91440" bIns="45720" rtlCol="0">
            <a:spAutoFit/>
          </a:bodyPr>
          <a:lstStyle/>
          <a:p>
            <a:pPr algn="ctr"/>
            <a:r>
              <a:rPr lang="en-US" sz="1600" b="1" dirty="0"/>
              <a:t>Enterprise HR Enablers </a:t>
            </a:r>
          </a:p>
        </p:txBody>
      </p:sp>
      <p:sp>
        <p:nvSpPr>
          <p:cNvPr id="23" name="TextBox 22">
            <a:extLst>
              <a:ext uri="{FF2B5EF4-FFF2-40B4-BE49-F238E27FC236}">
                <a16:creationId xmlns:a16="http://schemas.microsoft.com/office/drawing/2014/main" id="{E00782C7-1D27-D3CC-860D-788B06A2F785}"/>
              </a:ext>
            </a:extLst>
          </p:cNvPr>
          <p:cNvSpPr txBox="1"/>
          <p:nvPr/>
        </p:nvSpPr>
        <p:spPr>
          <a:xfrm>
            <a:off x="4625084" y="4385279"/>
            <a:ext cx="2941831" cy="338554"/>
          </a:xfrm>
          <a:prstGeom prst="rect">
            <a:avLst/>
          </a:prstGeom>
          <a:noFill/>
        </p:spPr>
        <p:txBody>
          <a:bodyPr wrap="none" lIns="91440" tIns="45720" rIns="91440" bIns="45720" rtlCol="0">
            <a:spAutoFit/>
          </a:bodyPr>
          <a:lstStyle/>
          <a:p>
            <a:pPr algn="ctr"/>
            <a:r>
              <a:rPr lang="en-US" sz="1600" b="1" dirty="0"/>
              <a:t>Foundational HR Excellence</a:t>
            </a:r>
          </a:p>
        </p:txBody>
      </p:sp>
      <p:sp>
        <p:nvSpPr>
          <p:cNvPr id="24" name="TextBox 23">
            <a:extLst>
              <a:ext uri="{FF2B5EF4-FFF2-40B4-BE49-F238E27FC236}">
                <a16:creationId xmlns:a16="http://schemas.microsoft.com/office/drawing/2014/main" id="{BA3AF784-9A7A-D209-DE57-AB59536B262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032518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B17CAA-5B99-3C7A-88A5-0E37BF0FE8D7}"/>
              </a:ext>
            </a:extLst>
          </p:cNvPr>
          <p:cNvSpPr>
            <a:spLocks noGrp="1"/>
          </p:cNvSpPr>
          <p:nvPr>
            <p:ph type="sldNum" sz="quarter" idx="4"/>
          </p:nvPr>
        </p:nvSpPr>
        <p:spPr/>
        <p:txBody>
          <a:bodyPr/>
          <a:lstStyle/>
          <a:p>
            <a:pPr algn="ctr"/>
            <a:fld id="{1875A764-3B06-454E-8ABA-2F6ED0EB58E9}" type="slidenum">
              <a:rPr lang="en-US" smtClean="0"/>
              <a:t>36</a:t>
            </a:fld>
            <a:endParaRPr lang="en-US"/>
          </a:p>
        </p:txBody>
      </p:sp>
      <p:sp>
        <p:nvSpPr>
          <p:cNvPr id="3" name="Title 2">
            <a:extLst>
              <a:ext uri="{FF2B5EF4-FFF2-40B4-BE49-F238E27FC236}">
                <a16:creationId xmlns:a16="http://schemas.microsoft.com/office/drawing/2014/main" id="{4162565F-D477-98A2-82ED-C1F256FF91EF}"/>
              </a:ext>
            </a:extLst>
          </p:cNvPr>
          <p:cNvSpPr>
            <a:spLocks noGrp="1"/>
          </p:cNvSpPr>
          <p:nvPr>
            <p:ph type="title"/>
          </p:nvPr>
        </p:nvSpPr>
        <p:spPr/>
        <p:txBody>
          <a:bodyPr/>
          <a:lstStyle/>
          <a:p>
            <a:r>
              <a:rPr lang="en-US" dirty="0">
                <a:solidFill>
                  <a:srgbClr val="281A42"/>
                </a:solidFill>
              </a:rPr>
              <a:t>HR Strategy HR Jobs to Be Done</a:t>
            </a:r>
            <a:endParaRPr lang="en-US" dirty="0"/>
          </a:p>
        </p:txBody>
      </p:sp>
      <p:sp>
        <p:nvSpPr>
          <p:cNvPr id="4" name="Rectangle 3">
            <a:extLst>
              <a:ext uri="{FF2B5EF4-FFF2-40B4-BE49-F238E27FC236}">
                <a16:creationId xmlns:a16="http://schemas.microsoft.com/office/drawing/2014/main" id="{52851FC0-2EC6-FE4A-DDEF-BDE05709C2EA}"/>
              </a:ext>
            </a:extLst>
          </p:cNvPr>
          <p:cNvSpPr/>
          <p:nvPr/>
        </p:nvSpPr>
        <p:spPr>
          <a:xfrm>
            <a:off x="961390" y="5115939"/>
            <a:ext cx="10113838" cy="1055249"/>
          </a:xfrm>
          <a:prstGeom prst="rect">
            <a:avLst/>
          </a:prstGeom>
          <a:noFill/>
          <a:ln>
            <a:noFill/>
          </a:ln>
        </p:spPr>
        <p:txBody>
          <a:bodyPr vert="horz" lIns="54864" tIns="54864" rIns="45720" bIns="36576" rtlCol="0" anchor="ctr" anchorCtr="0">
            <a:noAutofit/>
          </a:bodyPr>
          <a:lstStyle/>
          <a:p>
            <a:pPr marL="228600" indent="-228600" defTabSz="685800">
              <a:lnSpc>
                <a:spcPct val="90000"/>
              </a:lnSpc>
              <a:spcBef>
                <a:spcPts val="1000"/>
              </a:spcBef>
              <a:spcAft>
                <a:spcPts val="300"/>
              </a:spcAft>
              <a:buBlip>
                <a:blip r:embed="rId2"/>
              </a:buBlip>
              <a:tabLst>
                <a:tab pos="114300" algn="l"/>
                <a:tab pos="346075" algn="l"/>
                <a:tab pos="520700" algn="l"/>
                <a:tab pos="693738" algn="l"/>
              </a:tabLst>
              <a:defRPr/>
            </a:pPr>
            <a:r>
              <a:rPr lang="en-US" sz="1200" spc="-10" dirty="0">
                <a:solidFill>
                  <a:srgbClr val="3B3B3B"/>
                </a:solidFill>
                <a:latin typeface="Arial" pitchFamily="34" charset="0"/>
                <a:ea typeface="Lato Light" panose="020F0502020204030203" pitchFamily="34" charset="0"/>
                <a:cs typeface="Lato Light" panose="020F0502020204030203" pitchFamily="34" charset="0"/>
                <a:sym typeface="Wingdings" panose="05000000000000000000" pitchFamily="2" charset="2"/>
              </a:rPr>
              <a:t>World class </a:t>
            </a:r>
            <a:r>
              <a:rPr lang="en-US" sz="1200" spc="-10" dirty="0">
                <a:latin typeface="Arial" pitchFamily="34" charset="0"/>
                <a:sym typeface="Wingdings" panose="05000000000000000000" pitchFamily="2" charset="2"/>
              </a:rPr>
              <a:t>people analytics to support data driven insights to inform and shape business decisions</a:t>
            </a:r>
          </a:p>
          <a:p>
            <a:pPr marL="228600" indent="-228600" defTabSz="685800">
              <a:lnSpc>
                <a:spcPct val="90000"/>
              </a:lnSpc>
              <a:spcBef>
                <a:spcPts val="1000"/>
              </a:spcBef>
              <a:spcAft>
                <a:spcPts val="300"/>
              </a:spcAft>
              <a:buBlip>
                <a:blip r:embed="rId2"/>
              </a:buBlip>
              <a:tabLst>
                <a:tab pos="114300" algn="l"/>
                <a:tab pos="346075" algn="l"/>
                <a:tab pos="520700" algn="l"/>
                <a:tab pos="693738" algn="l"/>
              </a:tabLst>
              <a:defRPr/>
            </a:pPr>
            <a:r>
              <a:rPr lang="en-US" sz="1200" spc="-10" dirty="0">
                <a:latin typeface="Arial" pitchFamily="34" charset="0"/>
                <a:sym typeface="Wingdings" panose="05000000000000000000" pitchFamily="2" charset="2"/>
              </a:rPr>
              <a:t>Strengthen HR foundations with a focus on talent excellence – selection, succession / bench strength, training and development, goal setting and performance management  </a:t>
            </a:r>
          </a:p>
        </p:txBody>
      </p:sp>
      <p:sp>
        <p:nvSpPr>
          <p:cNvPr id="5" name="object 683">
            <a:extLst>
              <a:ext uri="{FF2B5EF4-FFF2-40B4-BE49-F238E27FC236}">
                <a16:creationId xmlns:a16="http://schemas.microsoft.com/office/drawing/2014/main" id="{5AED04DC-2C97-F537-0442-DBA0E46EDBC8}"/>
              </a:ext>
            </a:extLst>
          </p:cNvPr>
          <p:cNvSpPr txBox="1">
            <a:spLocks/>
          </p:cNvSpPr>
          <p:nvPr/>
        </p:nvSpPr>
        <p:spPr>
          <a:xfrm>
            <a:off x="995680" y="1329143"/>
            <a:ext cx="10168001" cy="1054776"/>
          </a:xfrm>
          <a:prstGeom prst="rect">
            <a:avLst/>
          </a:prstGeom>
        </p:spPr>
        <p:txBody>
          <a:bodyPr vert="horz" wrap="square" lIns="0" tIns="15875" rIns="0" bIns="0"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a:spcAft>
                <a:spcPts val="300"/>
              </a:spcAft>
              <a:buFont typeface="Arial" panose="020B0706020202030204" pitchFamily="34" charset="0"/>
              <a:buBlip>
                <a:blip r:embed="rId2"/>
              </a:buBlip>
            </a:pPr>
            <a:r>
              <a:rPr lang="en-US" spc="-10">
                <a:solidFill>
                  <a:sysClr val="windowText" lastClr="000000"/>
                </a:solidFill>
                <a:latin typeface="Arial" pitchFamily="34" charset="0"/>
                <a:ea typeface="Lato Light" panose="020F0502020204030203" pitchFamily="34" charset="0"/>
                <a:cs typeface="Lato Light" panose="020F0502020204030203" pitchFamily="34" charset="0"/>
              </a:rPr>
              <a:t>Drive the Strategic operating model pivot enabling a commercially focused, operationally consistent, future ready, interdependent business .</a:t>
            </a:r>
          </a:p>
          <a:p>
            <a:pPr defTabSz="685800">
              <a:spcAft>
                <a:spcPts val="300"/>
              </a:spcAft>
              <a:buFont typeface="Arial" panose="020B0706020202030204" pitchFamily="34" charset="0"/>
              <a:buBlip>
                <a:blip r:embed="rId2"/>
              </a:buBlip>
              <a:defRPr/>
            </a:pPr>
            <a:r>
              <a:rPr lang="en-US" spc="-10">
                <a:solidFill>
                  <a:sysClr val="windowText" lastClr="000000"/>
                </a:solidFill>
                <a:latin typeface="Arial" pitchFamily="34" charset="0"/>
                <a:ea typeface="Lato Light" panose="020F0502020204030203" pitchFamily="34" charset="0"/>
                <a:cs typeface="Lato Light" panose="020F0502020204030203" pitchFamily="34" charset="0"/>
              </a:rPr>
              <a:t>Build capacity and capability (talent, skills, knowledge) at (N-2) to deliver commercial excellence, innovation and operational excellence, quality and customer service.</a:t>
            </a:r>
          </a:p>
          <a:p>
            <a:pPr defTabSz="685800">
              <a:spcAft>
                <a:spcPts val="300"/>
              </a:spcAft>
              <a:buFont typeface="Arial" panose="020B0706020202030204" pitchFamily="34" charset="0"/>
              <a:buBlip>
                <a:blip r:embed="rId2"/>
              </a:buBlip>
              <a:defRPr/>
            </a:pPr>
            <a:r>
              <a:rPr lang="en-US" spc="-10">
                <a:solidFill>
                  <a:sysClr val="windowText" lastClr="000000"/>
                </a:solidFill>
                <a:latin typeface="Arial" pitchFamily="34" charset="0"/>
                <a:ea typeface="Lato Light" panose="020F0502020204030203" pitchFamily="34" charset="0"/>
                <a:cs typeface="Lato Light" panose="020F0502020204030203" pitchFamily="34" charset="0"/>
              </a:rPr>
              <a:t>Build change management capability to enable the operating model pivot with a “bias for action” and to a Enterprise mindset </a:t>
            </a:r>
          </a:p>
          <a:p>
            <a:pPr defTabSz="685800">
              <a:spcAft>
                <a:spcPts val="300"/>
              </a:spcAft>
              <a:buFont typeface="Arial" panose="020B0706020202030204" pitchFamily="34" charset="0"/>
              <a:buBlip>
                <a:blip r:embed="rId2"/>
              </a:buBlip>
              <a:defRPr/>
            </a:pPr>
            <a:r>
              <a:rPr lang="en-US" spc="-10">
                <a:solidFill>
                  <a:sysClr val="windowText" lastClr="000000"/>
                </a:solidFill>
                <a:latin typeface="Arial" pitchFamily="34" charset="0"/>
                <a:ea typeface="Lato Light" panose="020F0502020204030203" pitchFamily="34" charset="0"/>
                <a:cs typeface="Lato Light" panose="020F0502020204030203" pitchFamily="34" charset="0"/>
              </a:rPr>
              <a:t>Optimize costs through organizational simplification, de-duplication and execution of Shared Services / offshoring strategy.</a:t>
            </a:r>
            <a:endParaRPr lang="en-US" spc="-10" dirty="0">
              <a:solidFill>
                <a:sysClr val="windowText" lastClr="000000"/>
              </a:solidFill>
              <a:latin typeface="Arial" pitchFamily="34" charset="0"/>
              <a:ea typeface="Lato Light" panose="020F0502020204030203" pitchFamily="34" charset="0"/>
              <a:cs typeface="Lato Light" panose="020F0502020204030203" pitchFamily="34" charset="0"/>
            </a:endParaRPr>
          </a:p>
        </p:txBody>
      </p:sp>
      <p:sp>
        <p:nvSpPr>
          <p:cNvPr id="6" name="object 685">
            <a:extLst>
              <a:ext uri="{FF2B5EF4-FFF2-40B4-BE49-F238E27FC236}">
                <a16:creationId xmlns:a16="http://schemas.microsoft.com/office/drawing/2014/main" id="{D9D85250-7AAE-FAF9-4289-A12686BFFBD3}"/>
              </a:ext>
            </a:extLst>
          </p:cNvPr>
          <p:cNvSpPr txBox="1"/>
          <p:nvPr/>
        </p:nvSpPr>
        <p:spPr>
          <a:xfrm>
            <a:off x="886613" y="778977"/>
            <a:ext cx="10188615" cy="511409"/>
          </a:xfrm>
          <a:prstGeom prst="rect">
            <a:avLst/>
          </a:prstGeom>
          <a:solidFill>
            <a:schemeClr val="bg2"/>
          </a:solidFill>
        </p:spPr>
        <p:txBody>
          <a:bodyPr vert="horz" wrap="square" lIns="0" tIns="153035" rIns="0" bIns="0" rtlCol="0">
            <a:noAutofit/>
          </a:bodyPr>
          <a:lstStyle/>
          <a:p>
            <a:pPr marL="261620">
              <a:spcBef>
                <a:spcPts val="1205"/>
              </a:spcBef>
            </a:pPr>
            <a:r>
              <a:rPr lang="en-US" sz="1600" b="1" spc="-25" dirty="0">
                <a:solidFill>
                  <a:schemeClr val="accent1"/>
                </a:solidFill>
                <a:cs typeface="Arial" panose="020B0604020202020204" pitchFamily="34" charset="0"/>
              </a:rPr>
              <a:t>ENABLING THE BUSINESS (STRATEGIC BUSINESS PARTNER)</a:t>
            </a:r>
          </a:p>
        </p:txBody>
      </p:sp>
      <p:sp>
        <p:nvSpPr>
          <p:cNvPr id="7" name="object 691">
            <a:extLst>
              <a:ext uri="{FF2B5EF4-FFF2-40B4-BE49-F238E27FC236}">
                <a16:creationId xmlns:a16="http://schemas.microsoft.com/office/drawing/2014/main" id="{815F13FA-7829-DD09-36C8-3AE613E50428}"/>
              </a:ext>
            </a:extLst>
          </p:cNvPr>
          <p:cNvSpPr txBox="1"/>
          <p:nvPr/>
        </p:nvSpPr>
        <p:spPr>
          <a:xfrm>
            <a:off x="1017270" y="3086417"/>
            <a:ext cx="10077831" cy="1846275"/>
          </a:xfrm>
          <a:prstGeom prst="rect">
            <a:avLst/>
          </a:prstGeom>
        </p:spPr>
        <p:txBody>
          <a:bodyPr vert="horz" wrap="square" lIns="0" tIns="15875" rIns="0" bIns="0" rtlCol="0">
            <a:spAutoFit/>
          </a:bodyPr>
          <a:lstStyle/>
          <a:p>
            <a:pPr marL="228600" indent="-228600" defTabSz="685800">
              <a:lnSpc>
                <a:spcPct val="90000"/>
              </a:lnSpc>
              <a:spcBef>
                <a:spcPts val="1000"/>
              </a:spcBef>
              <a:spcAft>
                <a:spcPts val="300"/>
              </a:spcAft>
              <a:buBlip>
                <a:blip r:embed="rId2"/>
              </a:buBlip>
              <a:defRPr/>
            </a:pPr>
            <a:r>
              <a:rPr lang="en-US" sz="1200" spc="-10" dirty="0">
                <a:latin typeface="Arial" pitchFamily="34" charset="0"/>
                <a:ea typeface="Lato Light" panose="020F0502020204030203" pitchFamily="34" charset="0"/>
                <a:cs typeface="Lato Light" panose="020F0502020204030203" pitchFamily="34" charset="0"/>
              </a:rPr>
              <a:t>Own HR Strategy Development for talent mobility, compensation, goal setting and performance management – working seamlessly with global functions </a:t>
            </a:r>
            <a:r>
              <a:rPr lang="en-US" sz="1200" spc="-10" dirty="0">
                <a:latin typeface="Arial" pitchFamily="34" charset="0"/>
              </a:rPr>
              <a:t>AND optimized for specific BU context. Support operating business HR leaders to translate to their businesses. </a:t>
            </a:r>
          </a:p>
          <a:p>
            <a:pPr marL="228600" indent="-228600" defTabSz="685800">
              <a:lnSpc>
                <a:spcPct val="90000"/>
              </a:lnSpc>
              <a:spcBef>
                <a:spcPts val="1000"/>
              </a:spcBef>
              <a:spcAft>
                <a:spcPts val="300"/>
              </a:spcAft>
              <a:buBlip>
                <a:blip r:embed="rId2"/>
              </a:buBlip>
              <a:defRPr/>
            </a:pPr>
            <a:r>
              <a:rPr lang="en-US" sz="1200" spc="-10" dirty="0">
                <a:latin typeface="Arial" pitchFamily="34" charset="0"/>
              </a:rPr>
              <a:t>Business Leadership and Critical Roles selection, succession, bench and team effectiveness for each operating business.</a:t>
            </a:r>
          </a:p>
          <a:p>
            <a:pPr marL="228600" indent="-228600" defTabSz="685800">
              <a:lnSpc>
                <a:spcPct val="90000"/>
              </a:lnSpc>
              <a:spcBef>
                <a:spcPts val="1000"/>
              </a:spcBef>
              <a:spcAft>
                <a:spcPts val="300"/>
              </a:spcAft>
              <a:buBlip>
                <a:blip r:embed="rId2"/>
              </a:buBlip>
              <a:defRPr/>
            </a:pPr>
            <a:r>
              <a:rPr lang="en-US" sz="1200" spc="-10" dirty="0">
                <a:latin typeface="Arial" pitchFamily="34" charset="0"/>
              </a:rPr>
              <a:t>Strengthen HR leadership at Critical Roles, define and implement appropriate functional operating model and build capabilities required to build robust functional foundations AND pivot the function from transactional basics to a strategic business partner</a:t>
            </a:r>
          </a:p>
          <a:p>
            <a:pPr marL="228600" indent="-228600" defTabSz="685800">
              <a:lnSpc>
                <a:spcPct val="90000"/>
              </a:lnSpc>
              <a:spcBef>
                <a:spcPts val="1000"/>
              </a:spcBef>
              <a:spcAft>
                <a:spcPts val="300"/>
              </a:spcAft>
              <a:buBlip>
                <a:blip r:embed="rId2"/>
              </a:buBlip>
              <a:defRPr/>
            </a:pPr>
            <a:r>
              <a:rPr lang="en-US" sz="1200" spc="-10" dirty="0">
                <a:latin typeface="Arial" pitchFamily="34" charset="0"/>
              </a:rPr>
              <a:t>Build and execute the HR shared services model</a:t>
            </a:r>
          </a:p>
          <a:p>
            <a:pPr marL="228600" indent="-228600" defTabSz="685800">
              <a:lnSpc>
                <a:spcPct val="90000"/>
              </a:lnSpc>
              <a:spcBef>
                <a:spcPts val="1000"/>
              </a:spcBef>
              <a:spcAft>
                <a:spcPts val="300"/>
              </a:spcAft>
              <a:buBlip>
                <a:blip r:embed="rId2"/>
              </a:buBlip>
              <a:defRPr/>
            </a:pPr>
            <a:r>
              <a:rPr lang="en-US" sz="1200" spc="-10" dirty="0">
                <a:latin typeface="Arial" pitchFamily="34" charset="0"/>
              </a:rPr>
              <a:t>Develop and execute </a:t>
            </a:r>
            <a:r>
              <a:rPr lang="en-US" sz="1200" spc="-10" dirty="0">
                <a:latin typeface="Arial" pitchFamily="34" charset="0"/>
                <a:ea typeface="Lato Light" panose="020F0502020204030203" pitchFamily="34" charset="0"/>
                <a:cs typeface="Lato Light" panose="020F0502020204030203" pitchFamily="34" charset="0"/>
              </a:rPr>
              <a:t>the program for Offshoring Strategy and Organizational Optimization (simplification, de-duplication, consistency) across BUs</a:t>
            </a:r>
          </a:p>
        </p:txBody>
      </p:sp>
      <p:sp>
        <p:nvSpPr>
          <p:cNvPr id="8" name="object 685">
            <a:extLst>
              <a:ext uri="{FF2B5EF4-FFF2-40B4-BE49-F238E27FC236}">
                <a16:creationId xmlns:a16="http://schemas.microsoft.com/office/drawing/2014/main" id="{34211058-8338-6AAD-FB31-163839E2B3FE}"/>
              </a:ext>
            </a:extLst>
          </p:cNvPr>
          <p:cNvSpPr txBox="1"/>
          <p:nvPr/>
        </p:nvSpPr>
        <p:spPr>
          <a:xfrm>
            <a:off x="912013" y="2516337"/>
            <a:ext cx="10163215" cy="511409"/>
          </a:xfrm>
          <a:prstGeom prst="rect">
            <a:avLst/>
          </a:prstGeom>
          <a:solidFill>
            <a:schemeClr val="bg2"/>
          </a:solidFill>
        </p:spPr>
        <p:txBody>
          <a:bodyPr vert="horz" wrap="square" lIns="0" tIns="153035" rIns="0" bIns="0" rtlCol="0">
            <a:noAutofit/>
          </a:bodyPr>
          <a:lstStyle/>
          <a:p>
            <a:pPr marL="261620">
              <a:spcBef>
                <a:spcPts val="1205"/>
              </a:spcBef>
            </a:pPr>
            <a:r>
              <a:rPr lang="en-US" sz="1600" b="1" dirty="0">
                <a:solidFill>
                  <a:schemeClr val="accent1"/>
                </a:solidFill>
                <a:cs typeface="Arial" panose="020B0604020202020204" pitchFamily="34" charset="0"/>
              </a:rPr>
              <a:t>ENTERPRISE HR ENABLERS </a:t>
            </a:r>
          </a:p>
        </p:txBody>
      </p:sp>
      <p:sp>
        <p:nvSpPr>
          <p:cNvPr id="9" name="object 685">
            <a:extLst>
              <a:ext uri="{FF2B5EF4-FFF2-40B4-BE49-F238E27FC236}">
                <a16:creationId xmlns:a16="http://schemas.microsoft.com/office/drawing/2014/main" id="{F5C8E9A8-96E4-52AC-8DB8-57588799219A}"/>
              </a:ext>
            </a:extLst>
          </p:cNvPr>
          <p:cNvSpPr txBox="1"/>
          <p:nvPr/>
        </p:nvSpPr>
        <p:spPr>
          <a:xfrm>
            <a:off x="912013" y="4649937"/>
            <a:ext cx="10163215" cy="511409"/>
          </a:xfrm>
          <a:prstGeom prst="rect">
            <a:avLst/>
          </a:prstGeom>
          <a:solidFill>
            <a:schemeClr val="bg2"/>
          </a:solidFill>
        </p:spPr>
        <p:txBody>
          <a:bodyPr vert="horz" wrap="square" lIns="0" tIns="153035" rIns="0" bIns="0" rtlCol="0">
            <a:noAutofit/>
          </a:bodyPr>
          <a:lstStyle/>
          <a:p>
            <a:pPr marL="261620">
              <a:spcBef>
                <a:spcPts val="1205"/>
              </a:spcBef>
            </a:pPr>
            <a:r>
              <a:rPr lang="en-US" sz="1600" b="1" dirty="0">
                <a:solidFill>
                  <a:schemeClr val="accent1"/>
                </a:solidFill>
                <a:cs typeface="Arial" panose="020B0604020202020204" pitchFamily="34" charset="0"/>
              </a:rPr>
              <a:t>FOUNDATIONAL HR EXCELLENCE</a:t>
            </a:r>
          </a:p>
        </p:txBody>
      </p:sp>
      <p:sp>
        <p:nvSpPr>
          <p:cNvPr id="10" name="TextBox 9">
            <a:extLst>
              <a:ext uri="{FF2B5EF4-FFF2-40B4-BE49-F238E27FC236}">
                <a16:creationId xmlns:a16="http://schemas.microsoft.com/office/drawing/2014/main" id="{15AE565F-C2D5-5BC4-B50F-697210FDE01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7081557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2EFF5-4AF7-E07B-62BE-D2595353EA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CDFE05-E03A-F4FA-2185-FF88598D0B2B}"/>
              </a:ext>
            </a:extLst>
          </p:cNvPr>
          <p:cNvSpPr>
            <a:spLocks noGrp="1"/>
          </p:cNvSpPr>
          <p:nvPr>
            <p:ph type="sldNum" sz="quarter" idx="4"/>
          </p:nvPr>
        </p:nvSpPr>
        <p:spPr/>
        <p:txBody>
          <a:bodyPr/>
          <a:lstStyle/>
          <a:p>
            <a:pPr algn="ctr"/>
            <a:fld id="{1875A764-3B06-454E-8ABA-2F6ED0EB58E9}" type="slidenum">
              <a:rPr lang="en-US" smtClean="0"/>
              <a:t>37</a:t>
            </a:fld>
            <a:endParaRPr lang="en-US"/>
          </a:p>
        </p:txBody>
      </p:sp>
      <p:sp>
        <p:nvSpPr>
          <p:cNvPr id="3" name="Title 2">
            <a:extLst>
              <a:ext uri="{FF2B5EF4-FFF2-40B4-BE49-F238E27FC236}">
                <a16:creationId xmlns:a16="http://schemas.microsoft.com/office/drawing/2014/main" id="{BD6C7CD3-BF5F-A150-4112-EF238E071FE2}"/>
              </a:ext>
            </a:extLst>
          </p:cNvPr>
          <p:cNvSpPr>
            <a:spLocks noGrp="1"/>
          </p:cNvSpPr>
          <p:nvPr>
            <p:ph type="title"/>
          </p:nvPr>
        </p:nvSpPr>
        <p:spPr/>
        <p:txBody>
          <a:bodyPr/>
          <a:lstStyle/>
          <a:p>
            <a:r>
              <a:rPr lang="en-US" dirty="0">
                <a:solidFill>
                  <a:srgbClr val="281A42"/>
                </a:solidFill>
              </a:rPr>
              <a:t>HR Strategy Getting Started</a:t>
            </a:r>
            <a:endParaRPr lang="en-US" dirty="0"/>
          </a:p>
        </p:txBody>
      </p:sp>
      <p:sp>
        <p:nvSpPr>
          <p:cNvPr id="10" name="TextBox 9">
            <a:extLst>
              <a:ext uri="{FF2B5EF4-FFF2-40B4-BE49-F238E27FC236}">
                <a16:creationId xmlns:a16="http://schemas.microsoft.com/office/drawing/2014/main" id="{2C756E45-0C8A-99D9-8964-4A5C549B1E3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1" name="Rectangle 10">
            <a:extLst>
              <a:ext uri="{FF2B5EF4-FFF2-40B4-BE49-F238E27FC236}">
                <a16:creationId xmlns:a16="http://schemas.microsoft.com/office/drawing/2014/main" id="{8CDDFD6C-3E0D-41F1-3A73-F82BAA2B27B6}"/>
              </a:ext>
            </a:extLst>
          </p:cNvPr>
          <p:cNvSpPr/>
          <p:nvPr/>
        </p:nvSpPr>
        <p:spPr>
          <a:xfrm>
            <a:off x="1113790" y="5451219"/>
            <a:ext cx="10113838" cy="1055249"/>
          </a:xfrm>
          <a:prstGeom prst="rect">
            <a:avLst/>
          </a:prstGeom>
          <a:noFill/>
          <a:ln>
            <a:noFill/>
          </a:ln>
        </p:spPr>
        <p:txBody>
          <a:bodyPr vert="horz" lIns="54864" tIns="54864" rIns="45720" bIns="36576" rtlCol="0" anchor="ctr" anchorCtr="0">
            <a:noAutofit/>
          </a:bodyPr>
          <a:lstStyle/>
          <a:p>
            <a:pPr marL="228600" marR="0" lvl="0" indent="-228600" fontAlgn="auto">
              <a:lnSpc>
                <a:spcPct val="100000"/>
              </a:lnSpc>
              <a:spcBef>
                <a:spcPts val="0"/>
              </a:spcBef>
              <a:spcAft>
                <a:spcPts val="300"/>
              </a:spcAft>
              <a:buBlip>
                <a:blip r:embed="rId2"/>
              </a:buBlip>
              <a:tabLst>
                <a:tab pos="114300" algn="l"/>
                <a:tab pos="346075" algn="l"/>
                <a:tab pos="520700" algn="l"/>
                <a:tab pos="693738" algn="l"/>
              </a:tabLst>
              <a:defRPr/>
            </a:pPr>
            <a:r>
              <a:rPr kumimoji="0" lang="en-US" sz="1200" i="0" u="none" strike="noStrike" kern="120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Wingdings" panose="05000000000000000000" pitchFamily="2" charset="2"/>
              </a:rPr>
              <a:t>Build </a:t>
            </a:r>
            <a:r>
              <a:rPr lang="en-US" sz="1200" spc="-10" dirty="0">
                <a:solidFill>
                  <a:srgbClr val="1D1D1D"/>
                </a:solidFill>
                <a:latin typeface="Arial" pitchFamily="34" charset="0"/>
                <a:sym typeface="Wingdings" panose="05000000000000000000" pitchFamily="2" charset="2"/>
              </a:rPr>
              <a:t>people analytics capabilities to support data driven insights to inform and shape business decisions</a:t>
            </a:r>
          </a:p>
          <a:p>
            <a:pPr marL="228600" indent="-228600">
              <a:spcAft>
                <a:spcPts val="300"/>
              </a:spcAft>
              <a:buBlip>
                <a:blip r:embed="rId2"/>
              </a:buBlip>
              <a:tabLst>
                <a:tab pos="114300" algn="l"/>
                <a:tab pos="346075" algn="l"/>
                <a:tab pos="520700" algn="l"/>
                <a:tab pos="693738" algn="l"/>
              </a:tabLst>
              <a:defRPr/>
            </a:pPr>
            <a:r>
              <a:rPr lang="en-US" sz="1200" spc="-10" dirty="0">
                <a:solidFill>
                  <a:srgbClr val="1D1D1D"/>
                </a:solidFill>
                <a:latin typeface="Arial" pitchFamily="34" charset="0"/>
              </a:rPr>
              <a:t>Build and execute the HR shared services model</a:t>
            </a:r>
          </a:p>
          <a:p>
            <a:pPr marL="228600" lvl="0" indent="-228600">
              <a:spcAft>
                <a:spcPts val="300"/>
              </a:spcAft>
              <a:buBlip>
                <a:blip r:embed="rId2"/>
              </a:buBlip>
              <a:defRPr/>
            </a:pPr>
            <a:r>
              <a:rPr lang="en-US" sz="1200" spc="-10" dirty="0">
                <a:solidFill>
                  <a:srgbClr val="1D1D1D"/>
                </a:solidFill>
                <a:latin typeface="Arial" pitchFamily="34" charset="0"/>
              </a:rPr>
              <a:t>Identify and strengthen HR critical </a:t>
            </a:r>
            <a:r>
              <a:rPr lang="en-US" sz="1200" spc="-10" dirty="0">
                <a:solidFill>
                  <a:srgbClr val="1D1D1D"/>
                </a:solidFill>
                <a:latin typeface="Arial" pitchFamily="34" charset="0"/>
                <a:ea typeface="Lato Light" panose="020F0502020204030203" pitchFamily="34" charset="0"/>
                <a:cs typeface="Lato Light" panose="020F0502020204030203" pitchFamily="34" charset="0"/>
              </a:rPr>
              <a:t>roles </a:t>
            </a:r>
          </a:p>
        </p:txBody>
      </p:sp>
      <p:sp>
        <p:nvSpPr>
          <p:cNvPr id="12" name="object 683">
            <a:extLst>
              <a:ext uri="{FF2B5EF4-FFF2-40B4-BE49-F238E27FC236}">
                <a16:creationId xmlns:a16="http://schemas.microsoft.com/office/drawing/2014/main" id="{4EEC8656-0502-786F-9D2B-A6DDCDCE6FC6}"/>
              </a:ext>
            </a:extLst>
          </p:cNvPr>
          <p:cNvSpPr txBox="1">
            <a:spLocks/>
          </p:cNvSpPr>
          <p:nvPr/>
        </p:nvSpPr>
        <p:spPr>
          <a:xfrm>
            <a:off x="1148080" y="1481543"/>
            <a:ext cx="10168001" cy="1985800"/>
          </a:xfrm>
          <a:prstGeom prst="rect">
            <a:avLst/>
          </a:prstGeom>
        </p:spPr>
        <p:txBody>
          <a:bodyPr vert="horz" wrap="square" lIns="0" tIns="15875" rIns="0" bIns="0"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a:lnSpc>
                <a:spcPct val="100000"/>
              </a:lnSpc>
              <a:spcBef>
                <a:spcPts val="0"/>
              </a:spcBef>
              <a:spcAft>
                <a:spcPts val="300"/>
              </a:spcAft>
              <a:buFont typeface="Arial" panose="020B0706020202030204" pitchFamily="34" charset="0"/>
              <a:buBlip>
                <a:blip r:embed="rId2"/>
              </a:buBlip>
              <a:defRPr/>
            </a:pPr>
            <a:r>
              <a:rPr lang="en-GB" spc="-10">
                <a:solidFill>
                  <a:srgbClr val="1D1D1D"/>
                </a:solidFill>
                <a:latin typeface="Arial" pitchFamily="34" charset="0"/>
                <a:ea typeface="Lato Light" panose="020F0502020204030203" pitchFamily="34" charset="0"/>
                <a:cs typeface="Lato Light" panose="020F0502020204030203" pitchFamily="34" charset="0"/>
              </a:rPr>
              <a:t>Design &amp; implement operating model shifts – organization design, change narrative, PMO, change leaders</a:t>
            </a:r>
          </a:p>
          <a:p>
            <a:pPr>
              <a:lnSpc>
                <a:spcPct val="100000"/>
              </a:lnSpc>
              <a:spcBef>
                <a:spcPts val="0"/>
              </a:spcBef>
              <a:spcAft>
                <a:spcPts val="300"/>
              </a:spcAft>
              <a:buFont typeface="Arial" panose="020B0706020202030204" pitchFamily="34" charset="0"/>
              <a:buBlip>
                <a:blip r:embed="rId2"/>
              </a:buBlip>
              <a:defRPr/>
            </a:pPr>
            <a:r>
              <a:rPr lang="en-GB" spc="-10">
                <a:solidFill>
                  <a:srgbClr val="1D1D1D"/>
                </a:solidFill>
                <a:latin typeface="Arial" pitchFamily="34" charset="0"/>
                <a:ea typeface="Lato Light" panose="020F0502020204030203" pitchFamily="34" charset="0"/>
                <a:cs typeface="Lato Light" panose="020F0502020204030203" pitchFamily="34" charset="0"/>
              </a:rPr>
              <a:t>Design &amp; deploy a  regular program to drive high performance in the top team with a focus on onboarding / replacing new LT members</a:t>
            </a:r>
          </a:p>
          <a:p>
            <a:pPr>
              <a:lnSpc>
                <a:spcPct val="100000"/>
              </a:lnSpc>
              <a:spcBef>
                <a:spcPts val="0"/>
              </a:spcBef>
              <a:spcAft>
                <a:spcPts val="300"/>
              </a:spcAft>
              <a:buFont typeface="Arial" panose="020B0706020202030204" pitchFamily="34" charset="0"/>
              <a:buBlip>
                <a:blip r:embed="rId2"/>
              </a:buBlip>
              <a:defRPr/>
            </a:pPr>
            <a:r>
              <a:rPr lang="en-GB" spc="-10">
                <a:solidFill>
                  <a:srgbClr val="1D1D1D"/>
                </a:solidFill>
                <a:latin typeface="Arial" pitchFamily="34" charset="0"/>
                <a:ea typeface="Lato Light" panose="020F0502020204030203" pitchFamily="34" charset="0"/>
                <a:cs typeface="Lato Light" panose="020F0502020204030203" pitchFamily="34" charset="0"/>
              </a:rPr>
              <a:t>Talent acquisition in Service Lines &amp; Sales</a:t>
            </a:r>
          </a:p>
          <a:p>
            <a:pPr>
              <a:lnSpc>
                <a:spcPct val="100000"/>
              </a:lnSpc>
              <a:spcBef>
                <a:spcPts val="0"/>
              </a:spcBef>
              <a:spcAft>
                <a:spcPts val="300"/>
              </a:spcAft>
              <a:buFont typeface="Arial" panose="020B0706020202030204" pitchFamily="34" charset="0"/>
              <a:buBlip>
                <a:blip r:embed="rId2"/>
              </a:buBlip>
              <a:defRPr/>
            </a:pPr>
            <a:r>
              <a:rPr lang="en-GB" spc="-10">
                <a:solidFill>
                  <a:srgbClr val="1D1D1D"/>
                </a:solidFill>
                <a:latin typeface="Arial" pitchFamily="34" charset="0"/>
                <a:ea typeface="Lato Light" panose="020F0502020204030203" pitchFamily="34" charset="0"/>
                <a:cs typeface="Lato Light" panose="020F0502020204030203" pitchFamily="34" charset="0"/>
              </a:rPr>
              <a:t>Simplify organization &amp; reduce costs</a:t>
            </a:r>
          </a:p>
          <a:p>
            <a:pPr lvl="1">
              <a:spcAft>
                <a:spcPts val="300"/>
              </a:spcAft>
              <a:buFont typeface="Arial" panose="020B0706020202030204" pitchFamily="34" charset="0"/>
              <a:buBlip>
                <a:blip r:embed="rId2"/>
              </a:buBlip>
            </a:pPr>
            <a:r>
              <a:rPr lang="en-GB" sz="1200" spc="-10">
                <a:solidFill>
                  <a:srgbClr val="1D1D1D"/>
                </a:solidFill>
                <a:latin typeface="Arial" pitchFamily="34" charset="0"/>
                <a:ea typeface="Lato Light" panose="020F0502020204030203" pitchFamily="34" charset="0"/>
                <a:cs typeface="Lato Light" panose="020F0502020204030203" pitchFamily="34" charset="0"/>
              </a:rPr>
              <a:t>Customer Services roles at lower job levels in 4 high-cost countries (US, UK, Switzerland, Germany)</a:t>
            </a:r>
          </a:p>
          <a:p>
            <a:pPr lvl="1">
              <a:spcAft>
                <a:spcPts val="300"/>
              </a:spcAft>
              <a:buFont typeface="Arial" panose="020B0706020202030204" pitchFamily="34" charset="0"/>
              <a:buBlip>
                <a:blip r:embed="rId2"/>
              </a:buBlip>
            </a:pPr>
            <a:r>
              <a:rPr lang="en-GB" sz="1200" spc="-10">
                <a:solidFill>
                  <a:srgbClr val="1D1D1D"/>
                </a:solidFill>
                <a:latin typeface="Arial" pitchFamily="34" charset="0"/>
                <a:ea typeface="Lato Light" panose="020F0502020204030203" pitchFamily="34" charset="0"/>
                <a:cs typeface="Lato Light" panose="020F0502020204030203" pitchFamily="34" charset="0"/>
              </a:rPr>
              <a:t>US structure with a focus on large, senior-heavy sales force at mid-level job levels</a:t>
            </a:r>
          </a:p>
          <a:p>
            <a:pPr lvl="1">
              <a:spcAft>
                <a:spcPts val="300"/>
              </a:spcAft>
              <a:buFont typeface="Arial" panose="020B0706020202030204" pitchFamily="34" charset="0"/>
              <a:buBlip>
                <a:blip r:embed="rId2"/>
              </a:buBlip>
            </a:pPr>
            <a:r>
              <a:rPr lang="en-GB" sz="1200" spc="-10">
                <a:solidFill>
                  <a:srgbClr val="1D1D1D"/>
                </a:solidFill>
                <a:latin typeface="Arial" pitchFamily="34" charset="0"/>
                <a:ea typeface="Lato Light" panose="020F0502020204030203" pitchFamily="34" charset="0"/>
                <a:cs typeface="Lato Light" panose="020F0502020204030203" pitchFamily="34" charset="0"/>
              </a:rPr>
              <a:t>People leaders at lower job levels with 1-3 direct reports in 4 High-cost Countries (Canada, UK, Spain, Switzerland) </a:t>
            </a:r>
          </a:p>
          <a:p>
            <a:pPr>
              <a:lnSpc>
                <a:spcPct val="100000"/>
              </a:lnSpc>
              <a:spcBef>
                <a:spcPts val="0"/>
              </a:spcBef>
              <a:spcAft>
                <a:spcPts val="300"/>
              </a:spcAft>
              <a:buFont typeface="Arial" panose="020B0706020202030204" pitchFamily="34" charset="0"/>
              <a:buBlip>
                <a:blip r:embed="rId2"/>
              </a:buBlip>
              <a:defRPr/>
            </a:pPr>
            <a:endParaRPr lang="en-GB" spc="-10">
              <a:solidFill>
                <a:srgbClr val="1D1D1D"/>
              </a:solidFill>
              <a:latin typeface="Arial" pitchFamily="34" charset="0"/>
              <a:ea typeface="Lato Light" panose="020F0502020204030203" pitchFamily="34" charset="0"/>
              <a:cs typeface="Lato Light" panose="020F0502020204030203" pitchFamily="34" charset="0"/>
            </a:endParaRPr>
          </a:p>
          <a:p>
            <a:pPr>
              <a:lnSpc>
                <a:spcPct val="100000"/>
              </a:lnSpc>
              <a:spcBef>
                <a:spcPts val="0"/>
              </a:spcBef>
              <a:spcAft>
                <a:spcPts val="300"/>
              </a:spcAft>
              <a:buFont typeface="Arial" panose="020B0706020202030204" pitchFamily="34" charset="0"/>
              <a:buBlip>
                <a:blip r:embed="rId2"/>
              </a:buBlip>
              <a:defRPr/>
            </a:pPr>
            <a:endParaRPr lang="en-GB" spc="-10" dirty="0">
              <a:solidFill>
                <a:srgbClr val="1D1D1D"/>
              </a:solidFill>
              <a:latin typeface="Arial" pitchFamily="34" charset="0"/>
              <a:ea typeface="Lato Light" panose="020F0502020204030203" pitchFamily="34" charset="0"/>
              <a:cs typeface="Lato Light" panose="020F0502020204030203" pitchFamily="34" charset="0"/>
            </a:endParaRPr>
          </a:p>
        </p:txBody>
      </p:sp>
      <p:sp>
        <p:nvSpPr>
          <p:cNvPr id="13" name="object 685">
            <a:extLst>
              <a:ext uri="{FF2B5EF4-FFF2-40B4-BE49-F238E27FC236}">
                <a16:creationId xmlns:a16="http://schemas.microsoft.com/office/drawing/2014/main" id="{33036643-11F9-912D-F440-AA9B730E6A9D}"/>
              </a:ext>
            </a:extLst>
          </p:cNvPr>
          <p:cNvSpPr txBox="1"/>
          <p:nvPr/>
        </p:nvSpPr>
        <p:spPr>
          <a:xfrm>
            <a:off x="1039013" y="931377"/>
            <a:ext cx="10188615" cy="511409"/>
          </a:xfrm>
          <a:prstGeom prst="rect">
            <a:avLst/>
          </a:prstGeom>
          <a:solidFill>
            <a:schemeClr val="bg2"/>
          </a:solidFill>
        </p:spPr>
        <p:txBody>
          <a:bodyPr vert="horz" wrap="square" lIns="0" tIns="153035" rIns="0" bIns="0" rtlCol="0">
            <a:noAutofit/>
          </a:bodyPr>
          <a:lstStyle/>
          <a:p>
            <a:pPr marL="261620" marR="0" lvl="0" indent="0" algn="l" defTabSz="914400" rtl="0" eaLnBrk="1" fontAlgn="auto" latinLnBrk="0" hangingPunct="1">
              <a:lnSpc>
                <a:spcPct val="100000"/>
              </a:lnSpc>
              <a:spcBef>
                <a:spcPts val="1205"/>
              </a:spcBef>
              <a:spcAft>
                <a:spcPts val="0"/>
              </a:spcAft>
              <a:buClrTx/>
              <a:buSzTx/>
              <a:buFontTx/>
              <a:buNone/>
              <a:tabLst/>
              <a:defRPr b="1" spc="-25">
                <a:solidFill>
                  <a:srgbClr val="FFFFFF"/>
                </a:solidFill>
                <a:latin typeface="Segoe UI" pitchFamily="34" charset="0"/>
              </a:defRPr>
            </a:pPr>
            <a:r>
              <a:rPr kumimoji="0" lang="en-US" sz="1600" b="1" i="0" u="none" strike="noStrike" kern="1200" cap="none" spc="-25" normalizeH="0" baseline="0" noProof="0" dirty="0">
                <a:ln>
                  <a:noFill/>
                </a:ln>
                <a:solidFill>
                  <a:schemeClr val="accent1"/>
                </a:solidFill>
                <a:effectLst/>
                <a:uLnTx/>
                <a:uFillTx/>
                <a:latin typeface="Arial" panose="020B0604020202020204" pitchFamily="34" charset="0"/>
                <a:cs typeface="Arial" panose="020B0604020202020204" pitchFamily="34" charset="0"/>
              </a:rPr>
              <a:t>ENABLING THE BUSINESS (STRATEGIC BUSINESS PARTNER)</a:t>
            </a:r>
          </a:p>
        </p:txBody>
      </p:sp>
      <p:sp>
        <p:nvSpPr>
          <p:cNvPr id="14" name="object 691">
            <a:extLst>
              <a:ext uri="{FF2B5EF4-FFF2-40B4-BE49-F238E27FC236}">
                <a16:creationId xmlns:a16="http://schemas.microsoft.com/office/drawing/2014/main" id="{5FF4B0A4-FD81-F4D8-AAB4-C9E55AEC2351}"/>
              </a:ext>
            </a:extLst>
          </p:cNvPr>
          <p:cNvSpPr txBox="1"/>
          <p:nvPr/>
        </p:nvSpPr>
        <p:spPr>
          <a:xfrm>
            <a:off x="1169670" y="3753167"/>
            <a:ext cx="10077831" cy="1054776"/>
          </a:xfrm>
          <a:prstGeom prst="rect">
            <a:avLst/>
          </a:prstGeom>
        </p:spPr>
        <p:txBody>
          <a:bodyPr vert="horz" wrap="square" lIns="0" tIns="15875" rIns="0" bIns="0" rtlCol="0">
            <a:spAutoFit/>
          </a:bodyPr>
          <a:lstStyle/>
          <a:p>
            <a:pPr marL="228600" indent="-228600">
              <a:spcAft>
                <a:spcPts val="300"/>
              </a:spcAft>
              <a:buClrTx/>
              <a:buSzTx/>
              <a:buBlip>
                <a:blip r:embed="rId2"/>
              </a:buBlip>
              <a:defRPr/>
            </a:pPr>
            <a:r>
              <a:rPr lang="en-US" sz="1200" spc="-10" dirty="0">
                <a:solidFill>
                  <a:srgbClr val="1D1D1D"/>
                </a:solidFill>
                <a:latin typeface="Arial" pitchFamily="34" charset="0"/>
                <a:ea typeface="Lato Light" panose="020F0502020204030203" pitchFamily="34" charset="0"/>
                <a:cs typeface="Lato Light" panose="020F0502020204030203" pitchFamily="34" charset="0"/>
              </a:rPr>
              <a:t>Build CoE </a:t>
            </a:r>
            <a:r>
              <a:rPr lang="en-US" sz="1200" spc="-10" dirty="0">
                <a:solidFill>
                  <a:srgbClr val="1D1D1D"/>
                </a:solidFill>
                <a:latin typeface="Arial" pitchFamily="34" charset="0"/>
              </a:rPr>
              <a:t>alignment for Enterprise HR Strategy </a:t>
            </a:r>
            <a:r>
              <a:rPr lang="en-GB" sz="1200" spc="-10" dirty="0">
                <a:solidFill>
                  <a:srgbClr val="1D1D1D"/>
                </a:solidFill>
                <a:latin typeface="Arial" pitchFamily="34" charset="0"/>
              </a:rPr>
              <a:t>with a focus on </a:t>
            </a:r>
            <a:r>
              <a:rPr lang="en-US" sz="1200" spc="-10" dirty="0">
                <a:solidFill>
                  <a:srgbClr val="1D1D1D"/>
                </a:solidFill>
                <a:latin typeface="Arial" pitchFamily="34" charset="0"/>
              </a:rPr>
              <a:t>talent mobility, compensation, goal setting and performance management</a:t>
            </a:r>
          </a:p>
          <a:p>
            <a:pPr marL="228600" indent="-228600">
              <a:spcAft>
                <a:spcPts val="300"/>
              </a:spcAft>
              <a:buClrTx/>
              <a:buSzTx/>
              <a:buBlip>
                <a:blip r:embed="rId2"/>
              </a:buBlip>
              <a:defRPr/>
            </a:pPr>
            <a:r>
              <a:rPr lang="en-US" sz="1200" spc="-10" dirty="0">
                <a:solidFill>
                  <a:srgbClr val="1D1D1D"/>
                </a:solidFill>
                <a:latin typeface="Arial" pitchFamily="34" charset="0"/>
              </a:rPr>
              <a:t>Identify critical roles across the BUs </a:t>
            </a:r>
          </a:p>
          <a:p>
            <a:pPr marL="228600" indent="-228600">
              <a:spcAft>
                <a:spcPts val="300"/>
              </a:spcAft>
              <a:buClrTx/>
              <a:buSzTx/>
              <a:buBlip>
                <a:blip r:embed="rId2"/>
              </a:buBlip>
              <a:defRPr/>
            </a:pPr>
            <a:r>
              <a:rPr lang="en-US" sz="1200" spc="-10" dirty="0">
                <a:solidFill>
                  <a:srgbClr val="1D1D1D"/>
                </a:solidFill>
                <a:latin typeface="Arial" pitchFamily="34" charset="0"/>
              </a:rPr>
              <a:t>Assess succession readiness at LT-1 and critical roles across BUs Business Leadership and Critical Roles selection, succession, bench and team effectiveness for each operating business.</a:t>
            </a:r>
          </a:p>
          <a:p>
            <a:pPr marL="228600" indent="-228600">
              <a:spcAft>
                <a:spcPts val="300"/>
              </a:spcAft>
              <a:buClrTx/>
              <a:buSzTx/>
              <a:buBlip>
                <a:blip r:embed="rId2"/>
              </a:buBlip>
              <a:defRPr/>
            </a:pPr>
            <a:r>
              <a:rPr lang="en-US" sz="1200" spc="-10" dirty="0">
                <a:solidFill>
                  <a:srgbClr val="1D1D1D"/>
                </a:solidFill>
                <a:latin typeface="Arial" pitchFamily="34" charset="0"/>
              </a:rPr>
              <a:t>Determine Enterprise approach for </a:t>
            </a: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strategic offshoring across BUs</a:t>
            </a:r>
          </a:p>
        </p:txBody>
      </p:sp>
      <p:sp>
        <p:nvSpPr>
          <p:cNvPr id="15" name="object 685">
            <a:extLst>
              <a:ext uri="{FF2B5EF4-FFF2-40B4-BE49-F238E27FC236}">
                <a16:creationId xmlns:a16="http://schemas.microsoft.com/office/drawing/2014/main" id="{BE1F3E48-4D05-1002-B2EC-1FD5A469DA06}"/>
              </a:ext>
            </a:extLst>
          </p:cNvPr>
          <p:cNvSpPr txBox="1"/>
          <p:nvPr/>
        </p:nvSpPr>
        <p:spPr>
          <a:xfrm>
            <a:off x="1064413" y="3183087"/>
            <a:ext cx="10163215" cy="511409"/>
          </a:xfrm>
          <a:prstGeom prst="rect">
            <a:avLst/>
          </a:prstGeom>
          <a:solidFill>
            <a:schemeClr val="bg2"/>
          </a:solidFill>
        </p:spPr>
        <p:txBody>
          <a:bodyPr vert="horz" wrap="square" lIns="0" tIns="153035" rIns="0" bIns="0" rtlCol="0">
            <a:noAutofit/>
          </a:bodyPr>
          <a:lstStyle/>
          <a:p>
            <a:pPr marL="261620" marR="0" lvl="0" indent="0" algn="l" defTabSz="914400" rtl="0" eaLnBrk="1" fontAlgn="auto" latinLnBrk="0" hangingPunct="1">
              <a:lnSpc>
                <a:spcPct val="100000"/>
              </a:lnSpc>
              <a:spcBef>
                <a:spcPts val="1205"/>
              </a:spcBef>
              <a:spcAft>
                <a:spcPts val="0"/>
              </a:spcAft>
              <a:buClrTx/>
              <a:buSzTx/>
              <a:buFontTx/>
              <a:buNone/>
              <a:tabLst/>
              <a:defRPr>
                <a:solidFill>
                  <a:srgbClr val="FFFFFF"/>
                </a:solidFill>
              </a:defRPr>
            </a:pPr>
            <a:r>
              <a:rPr kumimoji="0" lang="en-US" sz="1600" b="1" i="0" u="none" strike="noStrike" kern="1200" cap="none" spc="-10" normalizeH="0" baseline="0" noProof="0" dirty="0">
                <a:ln>
                  <a:noFill/>
                </a:ln>
                <a:solidFill>
                  <a:schemeClr val="accent1"/>
                </a:solidFill>
                <a:effectLst/>
                <a:uLnTx/>
                <a:uFillTx/>
                <a:latin typeface="Arial" panose="020B0604020202020204" pitchFamily="34" charset="0"/>
                <a:cs typeface="Arial" panose="020B0604020202020204" pitchFamily="34" charset="0"/>
              </a:rPr>
              <a:t>ENTERPRISE HR SUPPORT</a:t>
            </a:r>
          </a:p>
        </p:txBody>
      </p:sp>
      <p:sp>
        <p:nvSpPr>
          <p:cNvPr id="16" name="object 685">
            <a:extLst>
              <a:ext uri="{FF2B5EF4-FFF2-40B4-BE49-F238E27FC236}">
                <a16:creationId xmlns:a16="http://schemas.microsoft.com/office/drawing/2014/main" id="{85A5B71C-3521-7133-F237-2C2795A1908A}"/>
              </a:ext>
            </a:extLst>
          </p:cNvPr>
          <p:cNvSpPr txBox="1"/>
          <p:nvPr/>
        </p:nvSpPr>
        <p:spPr>
          <a:xfrm>
            <a:off x="1064413" y="4985217"/>
            <a:ext cx="10163215" cy="511409"/>
          </a:xfrm>
          <a:prstGeom prst="rect">
            <a:avLst/>
          </a:prstGeom>
          <a:solidFill>
            <a:schemeClr val="bg2"/>
          </a:solidFill>
        </p:spPr>
        <p:txBody>
          <a:bodyPr vert="horz" wrap="square" lIns="0" tIns="153035" rIns="0" bIns="0" rtlCol="0">
            <a:noAutofit/>
          </a:bodyPr>
          <a:lstStyle/>
          <a:p>
            <a:pPr marL="261620">
              <a:spcBef>
                <a:spcPts val="1205"/>
              </a:spcBef>
            </a:pPr>
            <a:r>
              <a:rPr lang="en-US" sz="1600" b="1" dirty="0">
                <a:solidFill>
                  <a:schemeClr val="accent1"/>
                </a:solidFill>
                <a:latin typeface="Arial" panose="020B0604020202020204" pitchFamily="34" charset="0"/>
                <a:cs typeface="Arial" panose="020B0604020202020204" pitchFamily="34" charset="0"/>
              </a:rPr>
              <a:t>FOUNDATIONAL HR EXCELLENCE</a:t>
            </a:r>
          </a:p>
        </p:txBody>
      </p:sp>
    </p:spTree>
    <p:extLst>
      <p:ext uri="{BB962C8B-B14F-4D97-AF65-F5344CB8AC3E}">
        <p14:creationId xmlns:p14="http://schemas.microsoft.com/office/powerpoint/2010/main" val="2684453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27356-BF48-D346-C4BD-B2F64296A95E}"/>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2A0C249-43E2-511C-1342-B52ABEE4DB7A}"/>
              </a:ext>
            </a:extLst>
          </p:cNvPr>
          <p:cNvSpPr txBox="1">
            <a:spLocks noGrp="1"/>
          </p:cNvSpPr>
          <p:nvPr>
            <p:ph type="title"/>
          </p:nvPr>
        </p:nvSpPr>
        <p:spPr>
          <a:noFill/>
        </p:spPr>
        <p:txBody>
          <a:bodyPr/>
          <a:lstStyle/>
          <a:p>
            <a:pPr>
              <a:buNone/>
            </a:pPr>
            <a:r>
              <a:rPr lang="en-US" dirty="0"/>
              <a:t>Succession Planning</a:t>
            </a:r>
          </a:p>
        </p:txBody>
      </p:sp>
    </p:spTree>
    <p:extLst>
      <p:ext uri="{BB962C8B-B14F-4D97-AF65-F5344CB8AC3E}">
        <p14:creationId xmlns:p14="http://schemas.microsoft.com/office/powerpoint/2010/main" val="1351004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CD5ADA-BD7E-E40F-000C-ED805F406376}"/>
              </a:ext>
            </a:extLst>
          </p:cNvPr>
          <p:cNvSpPr>
            <a:spLocks noGrp="1"/>
          </p:cNvSpPr>
          <p:nvPr>
            <p:ph type="sldNum" sz="quarter" idx="4"/>
          </p:nvPr>
        </p:nvSpPr>
        <p:spPr/>
        <p:txBody>
          <a:bodyPr/>
          <a:lstStyle/>
          <a:p>
            <a:pPr algn="ctr"/>
            <a:fld id="{1875A764-3B06-454E-8ABA-2F6ED0EB58E9}" type="slidenum">
              <a:rPr lang="en-US" smtClean="0"/>
              <a:t>39</a:t>
            </a:fld>
            <a:endParaRPr lang="en-US"/>
          </a:p>
        </p:txBody>
      </p:sp>
      <p:sp>
        <p:nvSpPr>
          <p:cNvPr id="5" name="Title 4">
            <a:extLst>
              <a:ext uri="{FF2B5EF4-FFF2-40B4-BE49-F238E27FC236}">
                <a16:creationId xmlns:a16="http://schemas.microsoft.com/office/drawing/2014/main" id="{92F9CD33-0758-F129-217E-1EC411E36FB9}"/>
              </a:ext>
            </a:extLst>
          </p:cNvPr>
          <p:cNvSpPr>
            <a:spLocks noGrp="1"/>
          </p:cNvSpPr>
          <p:nvPr>
            <p:ph type="title"/>
          </p:nvPr>
        </p:nvSpPr>
        <p:spPr/>
        <p:txBody>
          <a:bodyPr/>
          <a:lstStyle/>
          <a:p>
            <a:r>
              <a:rPr lang="en-US" dirty="0">
                <a:solidFill>
                  <a:srgbClr val="281A42"/>
                </a:solidFill>
              </a:rPr>
              <a:t>Succession Planning </a:t>
            </a:r>
            <a:r>
              <a:rPr lang="en-US" dirty="0">
                <a:solidFill>
                  <a:srgbClr val="281A42"/>
                </a:solidFill>
                <a:sym typeface="Wingdings" panose="05000000000000000000" pitchFamily="2" charset="2"/>
              </a:rPr>
              <a:t> </a:t>
            </a:r>
            <a:r>
              <a:rPr lang="en-US" spc="-25" dirty="0">
                <a:solidFill>
                  <a:schemeClr val="accent1"/>
                </a:solidFill>
              </a:rPr>
              <a:t>Succession Readiness</a:t>
            </a:r>
            <a:endParaRPr lang="en-US" dirty="0"/>
          </a:p>
        </p:txBody>
      </p:sp>
      <p:grpSp>
        <p:nvGrpSpPr>
          <p:cNvPr id="6" name="Group 5">
            <a:extLst>
              <a:ext uri="{FF2B5EF4-FFF2-40B4-BE49-F238E27FC236}">
                <a16:creationId xmlns:a16="http://schemas.microsoft.com/office/drawing/2014/main" id="{5055C0AF-0A5B-D4FF-70A2-8A1E14F60006}"/>
              </a:ext>
            </a:extLst>
          </p:cNvPr>
          <p:cNvGrpSpPr/>
          <p:nvPr/>
        </p:nvGrpSpPr>
        <p:grpSpPr>
          <a:xfrm>
            <a:off x="917458" y="4148001"/>
            <a:ext cx="10296015" cy="923645"/>
            <a:chOff x="1509796" y="3383841"/>
            <a:chExt cx="7139147" cy="692734"/>
          </a:xfrm>
        </p:grpSpPr>
        <p:sp>
          <p:nvSpPr>
            <p:cNvPr id="7" name="Rounded Rectangle 48">
              <a:extLst>
                <a:ext uri="{FF2B5EF4-FFF2-40B4-BE49-F238E27FC236}">
                  <a16:creationId xmlns:a16="http://schemas.microsoft.com/office/drawing/2014/main" id="{4D8E15A5-9AD3-723E-7B36-D7384451BED8}"/>
                </a:ext>
              </a:extLst>
            </p:cNvPr>
            <p:cNvSpPr/>
            <p:nvPr/>
          </p:nvSpPr>
          <p:spPr>
            <a:xfrm>
              <a:off x="1509796" y="3383841"/>
              <a:ext cx="1724652"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0" i="0" u="none" strike="noStrike" kern="0" cap="none" spc="-10" normalizeH="0" baseline="0" noProof="0" dirty="0">
                  <a:ln>
                    <a:noFill/>
                  </a:ln>
                  <a:solidFill>
                    <a:srgbClr val="1D1D1D"/>
                  </a:solidFill>
                  <a:effectLst/>
                  <a:uLnTx/>
                  <a:uFillTx/>
                  <a:latin typeface="Arial" pitchFamily="34" charset="0"/>
                  <a:ea typeface="+mn-ea"/>
                  <a:cs typeface="+mn-cs"/>
                </a:rPr>
                <a:t>Anchored in </a:t>
              </a:r>
            </a:p>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Jobs to be Done</a:t>
              </a:r>
            </a:p>
          </p:txBody>
        </p:sp>
        <p:sp>
          <p:nvSpPr>
            <p:cNvPr id="8" name="Rounded Rectangle 49">
              <a:extLst>
                <a:ext uri="{FF2B5EF4-FFF2-40B4-BE49-F238E27FC236}">
                  <a16:creationId xmlns:a16="http://schemas.microsoft.com/office/drawing/2014/main" id="{91C936D8-6AD4-A1F2-68EC-D85276D31F6B}"/>
                </a:ext>
              </a:extLst>
            </p:cNvPr>
            <p:cNvSpPr/>
            <p:nvPr/>
          </p:nvSpPr>
          <p:spPr>
            <a:xfrm>
              <a:off x="3343860" y="3383841"/>
              <a:ext cx="1701407"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 Externally Validated </a:t>
              </a:r>
              <a:r>
                <a:rPr kumimoji="0" lang="en-US" sz="1400" b="0" i="0" u="none" strike="noStrike" kern="0" cap="none" spc="-10" normalizeH="0" baseline="0" noProof="0" dirty="0">
                  <a:ln>
                    <a:noFill/>
                  </a:ln>
                  <a:solidFill>
                    <a:srgbClr val="1D1D1D"/>
                  </a:solidFill>
                  <a:effectLst/>
                  <a:uLnTx/>
                  <a:uFillTx/>
                  <a:latin typeface="Arial" pitchFamily="34" charset="0"/>
                  <a:ea typeface="+mn-ea"/>
                  <a:cs typeface="+mn-cs"/>
                </a:rPr>
                <a:t>Assessment</a:t>
              </a:r>
            </a:p>
          </p:txBody>
        </p:sp>
        <p:sp>
          <p:nvSpPr>
            <p:cNvPr id="9" name="Rounded Rectangle 50">
              <a:extLst>
                <a:ext uri="{FF2B5EF4-FFF2-40B4-BE49-F238E27FC236}">
                  <a16:creationId xmlns:a16="http://schemas.microsoft.com/office/drawing/2014/main" id="{189770B0-0156-0921-5557-945A8A3694B6}"/>
                </a:ext>
              </a:extLst>
            </p:cNvPr>
            <p:cNvSpPr/>
            <p:nvPr/>
          </p:nvSpPr>
          <p:spPr>
            <a:xfrm>
              <a:off x="5154680" y="3383841"/>
              <a:ext cx="1701407"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0" i="0"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Succession</a:t>
              </a:r>
              <a: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 </a:t>
              </a:r>
              <a:b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br>
              <a: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Mobilization Plans</a:t>
              </a:r>
            </a:p>
          </p:txBody>
        </p:sp>
        <p:sp>
          <p:nvSpPr>
            <p:cNvPr id="10" name="Rounded Rectangle 51">
              <a:extLst>
                <a:ext uri="{FF2B5EF4-FFF2-40B4-BE49-F238E27FC236}">
                  <a16:creationId xmlns:a16="http://schemas.microsoft.com/office/drawing/2014/main" id="{92622A24-481C-6C54-D87D-C2F0C980FE89}"/>
                </a:ext>
              </a:extLst>
            </p:cNvPr>
            <p:cNvSpPr/>
            <p:nvPr/>
          </p:nvSpPr>
          <p:spPr>
            <a:xfrm>
              <a:off x="6962053" y="3383841"/>
              <a:ext cx="1686890"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1219108"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Continuous </a:t>
              </a:r>
              <a:br>
                <a:rPr kumimoji="0" lang="en-US" sz="1400"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br>
              <a:r>
                <a:rPr kumimoji="0" lang="en-US" sz="1400" b="0" i="0"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Succession Readiness</a:t>
              </a:r>
              <a:endParaRPr kumimoji="0" lang="en-US" sz="1400" b="0" i="0" u="none" strike="noStrike" kern="0" cap="none" spc="-10" normalizeH="0" baseline="0" noProof="0" dirty="0">
                <a:ln>
                  <a:noFill/>
                </a:ln>
                <a:solidFill>
                  <a:srgbClr val="1D1D1D"/>
                </a:solidFill>
                <a:effectLst/>
                <a:uLnTx/>
                <a:uFillTx/>
                <a:latin typeface="Arial" pitchFamily="34" charset="0"/>
                <a:ea typeface="+mn-ea"/>
                <a:cs typeface="+mn-cs"/>
              </a:endParaRPr>
            </a:p>
          </p:txBody>
        </p:sp>
      </p:grpSp>
      <p:sp>
        <p:nvSpPr>
          <p:cNvPr id="11" name="Left Bracket 10">
            <a:extLst>
              <a:ext uri="{FF2B5EF4-FFF2-40B4-BE49-F238E27FC236}">
                <a16:creationId xmlns:a16="http://schemas.microsoft.com/office/drawing/2014/main" id="{8F126214-FB2E-25EA-B53D-8FFE469C21C3}"/>
              </a:ext>
            </a:extLst>
          </p:cNvPr>
          <p:cNvSpPr/>
          <p:nvPr/>
        </p:nvSpPr>
        <p:spPr>
          <a:xfrm rot="16200000">
            <a:off x="5959409" y="81959"/>
            <a:ext cx="199528" cy="10283428"/>
          </a:xfrm>
          <a:prstGeom prst="leftBracket">
            <a:avLst/>
          </a:prstGeom>
          <a:ln w="38100"/>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12" name="Rectangle: Rounded Corners 69">
            <a:extLst>
              <a:ext uri="{FF2B5EF4-FFF2-40B4-BE49-F238E27FC236}">
                <a16:creationId xmlns:a16="http://schemas.microsoft.com/office/drawing/2014/main" id="{22096C24-85F4-FE42-DAAB-FF9EC68D76A8}"/>
              </a:ext>
            </a:extLst>
          </p:cNvPr>
          <p:cNvSpPr/>
          <p:nvPr/>
        </p:nvSpPr>
        <p:spPr>
          <a:xfrm>
            <a:off x="4701766" y="5205388"/>
            <a:ext cx="2788468" cy="19952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FFFFFF"/>
                </a:solidFill>
                <a:effectLst/>
                <a:uLnTx/>
                <a:uFillTx/>
                <a:latin typeface="Segoe UI" pitchFamily="34" charset="0"/>
                <a:ea typeface="+mn-ea"/>
                <a:cs typeface="+mn-cs"/>
              </a:rPr>
              <a:t>Points of Departure</a:t>
            </a:r>
          </a:p>
        </p:txBody>
      </p:sp>
      <p:grpSp>
        <p:nvGrpSpPr>
          <p:cNvPr id="13" name="Group 12">
            <a:extLst>
              <a:ext uri="{FF2B5EF4-FFF2-40B4-BE49-F238E27FC236}">
                <a16:creationId xmlns:a16="http://schemas.microsoft.com/office/drawing/2014/main" id="{38D49C63-80F3-8960-433B-15650C5EB3FF}"/>
              </a:ext>
            </a:extLst>
          </p:cNvPr>
          <p:cNvGrpSpPr/>
          <p:nvPr/>
        </p:nvGrpSpPr>
        <p:grpSpPr>
          <a:xfrm>
            <a:off x="930045" y="1619340"/>
            <a:ext cx="10682753" cy="2380468"/>
            <a:chOff x="930045" y="1619340"/>
            <a:chExt cx="10682753" cy="2380468"/>
          </a:xfrm>
        </p:grpSpPr>
        <p:grpSp>
          <p:nvGrpSpPr>
            <p:cNvPr id="14" name="Group 13">
              <a:extLst>
                <a:ext uri="{FF2B5EF4-FFF2-40B4-BE49-F238E27FC236}">
                  <a16:creationId xmlns:a16="http://schemas.microsoft.com/office/drawing/2014/main" id="{D550F6EE-3E14-83C7-8CCC-77944B6EB234}"/>
                </a:ext>
              </a:extLst>
            </p:cNvPr>
            <p:cNvGrpSpPr/>
            <p:nvPr/>
          </p:nvGrpSpPr>
          <p:grpSpPr>
            <a:xfrm>
              <a:off x="930045" y="1619340"/>
              <a:ext cx="10682753" cy="2380468"/>
              <a:chOff x="626400" y="1424486"/>
              <a:chExt cx="7283696" cy="1475497"/>
            </a:xfrm>
          </p:grpSpPr>
          <p:sp>
            <p:nvSpPr>
              <p:cNvPr id="19" name="Arrow: Pentagon 46">
                <a:extLst>
                  <a:ext uri="{FF2B5EF4-FFF2-40B4-BE49-F238E27FC236}">
                    <a16:creationId xmlns:a16="http://schemas.microsoft.com/office/drawing/2014/main" id="{301F681A-6394-D85D-EF36-C6864E8863F3}"/>
                  </a:ext>
                </a:extLst>
              </p:cNvPr>
              <p:cNvSpPr/>
              <p:nvPr/>
            </p:nvSpPr>
            <p:spPr>
              <a:xfrm>
                <a:off x="633268" y="1424487"/>
                <a:ext cx="1945282" cy="537035"/>
              </a:xfrm>
              <a:prstGeom prst="homePlate">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/LIST</a:t>
                </a:r>
                <a:b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Critical</a:t>
                </a: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 </a:t>
                </a:r>
                <a:r>
                  <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Roles for Succession</a:t>
                </a:r>
              </a:p>
            </p:txBody>
          </p:sp>
          <p:sp>
            <p:nvSpPr>
              <p:cNvPr id="20" name="Arrow: Chevron 47">
                <a:extLst>
                  <a:ext uri="{FF2B5EF4-FFF2-40B4-BE49-F238E27FC236}">
                    <a16:creationId xmlns:a16="http://schemas.microsoft.com/office/drawing/2014/main" id="{1D7E42C2-627E-4211-CD73-236EA9421147}"/>
                  </a:ext>
                </a:extLst>
              </p:cNvPr>
              <p:cNvSpPr/>
              <p:nvPr/>
            </p:nvSpPr>
            <p:spPr>
              <a:xfrm>
                <a:off x="2408161" y="1424487"/>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/CLICK  </a:t>
                </a:r>
                <a:b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Readiness</a:t>
                </a:r>
              </a:p>
            </p:txBody>
          </p:sp>
          <p:sp>
            <p:nvSpPr>
              <p:cNvPr id="21" name="Arrow: Chevron 48">
                <a:extLst>
                  <a:ext uri="{FF2B5EF4-FFF2-40B4-BE49-F238E27FC236}">
                    <a16:creationId xmlns:a16="http://schemas.microsoft.com/office/drawing/2014/main" id="{30799E78-EA1F-8108-34FA-10CC228629FF}"/>
                  </a:ext>
                </a:extLst>
              </p:cNvPr>
              <p:cNvSpPr/>
              <p:nvPr/>
            </p:nvSpPr>
            <p:spPr>
              <a:xfrm>
                <a:off x="4189923" y="1424486"/>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ENABLING</a:t>
                </a:r>
                <a:b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a:t>
                </a: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s</a:t>
                </a:r>
                <a:endPar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CC32ED23-8C6F-5E3A-7FDA-6D067B37BD5E}"/>
                  </a:ext>
                </a:extLst>
              </p:cNvPr>
              <p:cNvSpPr/>
              <p:nvPr/>
            </p:nvSpPr>
            <p:spPr>
              <a:xfrm>
                <a:off x="2408161" y="1961522"/>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A120F8E6-C03C-8D84-D169-052AC8FB7281}"/>
                  </a:ext>
                </a:extLst>
              </p:cNvPr>
              <p:cNvSpPr/>
              <p:nvPr/>
            </p:nvSpPr>
            <p:spPr>
              <a:xfrm>
                <a:off x="4189923" y="1961522"/>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24" name="Arrow: Chevron 51">
                <a:extLst>
                  <a:ext uri="{FF2B5EF4-FFF2-40B4-BE49-F238E27FC236}">
                    <a16:creationId xmlns:a16="http://schemas.microsoft.com/office/drawing/2014/main" id="{7C3E359F-94DF-8227-FF82-A23C95869CED}"/>
                  </a:ext>
                </a:extLst>
              </p:cNvPr>
              <p:cNvSpPr/>
              <p:nvPr/>
            </p:nvSpPr>
            <p:spPr>
              <a:xfrm>
                <a:off x="5964814" y="1424486"/>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/CLICKING </a:t>
                </a:r>
                <a:br>
                  <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6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Readiness</a:t>
                </a:r>
                <a:endParaRPr kumimoji="0" lang="en-US" sz="16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endParaRPr>
              </a:p>
            </p:txBody>
          </p:sp>
          <p:sp>
            <p:nvSpPr>
              <p:cNvPr id="25" name="Rectangle 24">
                <a:extLst>
                  <a:ext uri="{FF2B5EF4-FFF2-40B4-BE49-F238E27FC236}">
                    <a16:creationId xmlns:a16="http://schemas.microsoft.com/office/drawing/2014/main" id="{C15367DB-8748-6AA3-C0B2-7AED9E0C43AE}"/>
                  </a:ext>
                </a:extLst>
              </p:cNvPr>
              <p:cNvSpPr/>
              <p:nvPr/>
            </p:nvSpPr>
            <p:spPr>
              <a:xfrm>
                <a:off x="5964814" y="1961521"/>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26" name="Rectangle 25">
                <a:extLst>
                  <a:ext uri="{FF2B5EF4-FFF2-40B4-BE49-F238E27FC236}">
                    <a16:creationId xmlns:a16="http://schemas.microsoft.com/office/drawing/2014/main" id="{58F5A8D2-E671-9578-D19A-02C0F89BD73D}"/>
                  </a:ext>
                </a:extLst>
              </p:cNvPr>
              <p:cNvSpPr/>
              <p:nvPr/>
            </p:nvSpPr>
            <p:spPr>
              <a:xfrm>
                <a:off x="626400" y="1965809"/>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pic>
            <p:nvPicPr>
              <p:cNvPr id="27" name="Picture 26">
                <a:extLst>
                  <a:ext uri="{FF2B5EF4-FFF2-40B4-BE49-F238E27FC236}">
                    <a16:creationId xmlns:a16="http://schemas.microsoft.com/office/drawing/2014/main" id="{EEBD4962-1208-1281-8E9E-D15F465A8D60}"/>
                  </a:ext>
                </a:extLst>
              </p:cNvPr>
              <p:cNvPicPr>
                <a:picLocks noChangeAspect="1"/>
              </p:cNvPicPr>
              <p:nvPr/>
            </p:nvPicPr>
            <p:blipFill>
              <a:blip r:embed="rId2">
                <a:duotone>
                  <a:srgbClr val="765FFF"/>
                  <a:srgbClr val="FFFFFF"/>
                </a:duotone>
              </a:blip>
              <a:stretch>
                <a:fillRect/>
              </a:stretch>
            </p:blipFill>
            <p:spPr>
              <a:xfrm>
                <a:off x="716751" y="2159182"/>
                <a:ext cx="1512420" cy="557783"/>
              </a:xfrm>
              <a:prstGeom prst="rect">
                <a:avLst/>
              </a:prstGeom>
              <a:effectLst>
                <a:outerShdw blurRad="50800" dist="38100" dir="2700000" algn="tl" rotWithShape="0">
                  <a:prstClr val="black">
                    <a:alpha val="40000"/>
                  </a:prstClr>
                </a:outerShdw>
              </a:effectLst>
            </p:spPr>
          </p:pic>
          <p:pic>
            <p:nvPicPr>
              <p:cNvPr id="28" name="Picture 27">
                <a:extLst>
                  <a:ext uri="{FF2B5EF4-FFF2-40B4-BE49-F238E27FC236}">
                    <a16:creationId xmlns:a16="http://schemas.microsoft.com/office/drawing/2014/main" id="{07C41697-D6B4-69DB-72A3-59574B6EA7CC}"/>
                  </a:ext>
                </a:extLst>
              </p:cNvPr>
              <p:cNvPicPr>
                <a:picLocks noChangeAspect="1"/>
              </p:cNvPicPr>
              <p:nvPr/>
            </p:nvPicPr>
            <p:blipFill>
              <a:blip r:embed="rId3">
                <a:duotone>
                  <a:srgbClr val="765FFF"/>
                  <a:srgbClr val="FFFFFF"/>
                </a:duotone>
              </a:blip>
              <a:stretch>
                <a:fillRect/>
              </a:stretch>
            </p:blipFill>
            <p:spPr>
              <a:xfrm>
                <a:off x="2632644" y="2148486"/>
                <a:ext cx="1165365" cy="607834"/>
              </a:xfrm>
              <a:prstGeom prst="rect">
                <a:avLst/>
              </a:prstGeom>
              <a:effectLst>
                <a:outerShdw blurRad="50800" dist="38100" dir="2700000" algn="tl" rotWithShape="0">
                  <a:prstClr val="black">
                    <a:alpha val="40000"/>
                  </a:prstClr>
                </a:outerShdw>
              </a:effectLst>
            </p:spPr>
          </p:pic>
          <p:grpSp>
            <p:nvGrpSpPr>
              <p:cNvPr id="29" name="Group 28">
                <a:extLst>
                  <a:ext uri="{FF2B5EF4-FFF2-40B4-BE49-F238E27FC236}">
                    <a16:creationId xmlns:a16="http://schemas.microsoft.com/office/drawing/2014/main" id="{ADD5B373-F37A-8E37-35EB-12AB46C4A657}"/>
                  </a:ext>
                </a:extLst>
              </p:cNvPr>
              <p:cNvGrpSpPr/>
              <p:nvPr/>
            </p:nvGrpSpPr>
            <p:grpSpPr>
              <a:xfrm>
                <a:off x="6322782" y="2063426"/>
                <a:ext cx="955500" cy="658234"/>
                <a:chOff x="7128048" y="1868618"/>
                <a:chExt cx="868638" cy="598395"/>
              </a:xfrm>
            </p:grpSpPr>
            <p:pic>
              <p:nvPicPr>
                <p:cNvPr id="31" name="Picture 30">
                  <a:extLst>
                    <a:ext uri="{FF2B5EF4-FFF2-40B4-BE49-F238E27FC236}">
                      <a16:creationId xmlns:a16="http://schemas.microsoft.com/office/drawing/2014/main" id="{78EB650F-6861-52F5-B6A1-6A772777FD97}"/>
                    </a:ext>
                  </a:extLst>
                </p:cNvPr>
                <p:cNvPicPr>
                  <a:picLocks noChangeAspect="1"/>
                </p:cNvPicPr>
                <p:nvPr/>
              </p:nvPicPr>
              <p:blipFill>
                <a:blip r:embed="rId4">
                  <a:duotone>
                    <a:srgbClr val="765FFF"/>
                    <a:srgbClr val="FFFFFF"/>
                  </a:duotone>
                </a:blip>
                <a:srcRect/>
                <a:stretch/>
              </p:blipFill>
              <p:spPr>
                <a:xfrm>
                  <a:off x="7128048" y="1868618"/>
                  <a:ext cx="525739" cy="215263"/>
                </a:xfrm>
                <a:prstGeom prst="rect">
                  <a:avLst/>
                </a:prstGeom>
                <a:effectLst>
                  <a:outerShdw blurRad="50800" dist="38100" dir="2700000" algn="tl" rotWithShape="0">
                    <a:prstClr val="black">
                      <a:alpha val="40000"/>
                    </a:prstClr>
                  </a:outerShdw>
                </a:effectLst>
              </p:spPr>
            </p:pic>
            <p:pic>
              <p:nvPicPr>
                <p:cNvPr id="32" name="Picture 31">
                  <a:extLst>
                    <a:ext uri="{FF2B5EF4-FFF2-40B4-BE49-F238E27FC236}">
                      <a16:creationId xmlns:a16="http://schemas.microsoft.com/office/drawing/2014/main" id="{F87BFA9B-E671-3151-4114-BFFA04C6794C}"/>
                    </a:ext>
                  </a:extLst>
                </p:cNvPr>
                <p:cNvPicPr>
                  <a:picLocks noChangeAspect="1"/>
                </p:cNvPicPr>
                <p:nvPr/>
              </p:nvPicPr>
              <p:blipFill>
                <a:blip r:embed="rId5">
                  <a:duotone>
                    <a:srgbClr val="765FFF"/>
                    <a:srgbClr val="FFFFFF"/>
                  </a:duotone>
                </a:blip>
                <a:srcRect/>
                <a:stretch/>
              </p:blipFill>
              <p:spPr>
                <a:xfrm>
                  <a:off x="7245033" y="1942683"/>
                  <a:ext cx="520367" cy="295728"/>
                </a:xfrm>
                <a:prstGeom prst="rect">
                  <a:avLst/>
                </a:prstGeom>
                <a:effectLst>
                  <a:outerShdw blurRad="50800" dist="38100" dir="2700000" algn="tl" rotWithShape="0">
                    <a:prstClr val="black">
                      <a:alpha val="40000"/>
                    </a:prstClr>
                  </a:outerShdw>
                </a:effectLst>
              </p:spPr>
            </p:pic>
            <p:pic>
              <p:nvPicPr>
                <p:cNvPr id="33" name="Picture 32">
                  <a:extLst>
                    <a:ext uri="{FF2B5EF4-FFF2-40B4-BE49-F238E27FC236}">
                      <a16:creationId xmlns:a16="http://schemas.microsoft.com/office/drawing/2014/main" id="{ED6CC951-E49F-83EA-A982-E0036C4863CE}"/>
                    </a:ext>
                  </a:extLst>
                </p:cNvPr>
                <p:cNvPicPr>
                  <a:picLocks noChangeAspect="1"/>
                </p:cNvPicPr>
                <p:nvPr/>
              </p:nvPicPr>
              <p:blipFill>
                <a:blip r:embed="rId6">
                  <a:duotone>
                    <a:srgbClr val="765FFF"/>
                    <a:srgbClr val="FFFFFF"/>
                  </a:duotone>
                </a:blip>
                <a:srcRect/>
                <a:stretch/>
              </p:blipFill>
              <p:spPr>
                <a:xfrm>
                  <a:off x="7374973" y="2056986"/>
                  <a:ext cx="489088" cy="295728"/>
                </a:xfrm>
                <a:prstGeom prst="rect">
                  <a:avLst/>
                </a:prstGeom>
                <a:effectLst>
                  <a:outerShdw blurRad="50800" dist="38100" dir="2700000" algn="tl" rotWithShape="0">
                    <a:prstClr val="black">
                      <a:alpha val="40000"/>
                    </a:prstClr>
                  </a:outerShdw>
                </a:effectLst>
              </p:spPr>
            </p:pic>
            <p:pic>
              <p:nvPicPr>
                <p:cNvPr id="34" name="Picture 33">
                  <a:extLst>
                    <a:ext uri="{FF2B5EF4-FFF2-40B4-BE49-F238E27FC236}">
                      <a16:creationId xmlns:a16="http://schemas.microsoft.com/office/drawing/2014/main" id="{E771CBF0-6945-E279-641D-B439C875E1B5}"/>
                    </a:ext>
                  </a:extLst>
                </p:cNvPr>
                <p:cNvPicPr>
                  <a:picLocks noChangeAspect="1"/>
                </p:cNvPicPr>
                <p:nvPr/>
              </p:nvPicPr>
              <p:blipFill>
                <a:blip r:embed="rId7">
                  <a:duotone>
                    <a:srgbClr val="765FFF"/>
                    <a:srgbClr val="FFFFFF"/>
                  </a:duotone>
                </a:blip>
                <a:srcRect/>
                <a:stretch/>
              </p:blipFill>
              <p:spPr>
                <a:xfrm>
                  <a:off x="7470948" y="2171285"/>
                  <a:ext cx="525738" cy="295728"/>
                </a:xfrm>
                <a:prstGeom prst="rect">
                  <a:avLst/>
                </a:prstGeom>
                <a:effectLst>
                  <a:outerShdw blurRad="50800" dist="38100" dir="2700000" algn="tl" rotWithShape="0">
                    <a:prstClr val="black">
                      <a:alpha val="40000"/>
                    </a:prstClr>
                  </a:outerShdw>
                </a:effectLst>
              </p:spPr>
            </p:pic>
          </p:grpSp>
          <p:pic>
            <p:nvPicPr>
              <p:cNvPr id="30" name="Picture 29">
                <a:extLst>
                  <a:ext uri="{FF2B5EF4-FFF2-40B4-BE49-F238E27FC236}">
                    <a16:creationId xmlns:a16="http://schemas.microsoft.com/office/drawing/2014/main" id="{91A17E37-F0D9-63C4-F0FD-6853D2178A29}"/>
                  </a:ext>
                </a:extLst>
              </p:cNvPr>
              <p:cNvPicPr>
                <a:picLocks noChangeAspect="1"/>
              </p:cNvPicPr>
              <p:nvPr/>
            </p:nvPicPr>
            <p:blipFill>
              <a:blip r:embed="rId8">
                <a:duotone>
                  <a:srgbClr val="765FFF"/>
                  <a:srgbClr val="FFFFFF"/>
                </a:duotone>
              </a:blip>
              <a:stretch>
                <a:fillRect/>
              </a:stretch>
            </p:blipFill>
            <p:spPr>
              <a:xfrm>
                <a:off x="4490642" y="2146379"/>
                <a:ext cx="1096209" cy="616618"/>
              </a:xfrm>
              <a:prstGeom prst="rect">
                <a:avLst/>
              </a:prstGeom>
              <a:effectLst>
                <a:outerShdw blurRad="50800" dist="38100" dir="2700000" algn="tl" rotWithShape="0">
                  <a:prstClr val="black">
                    <a:alpha val="40000"/>
                  </a:prstClr>
                </a:outerShdw>
              </a:effectLst>
            </p:spPr>
          </p:pic>
        </p:grpSp>
        <p:sp>
          <p:nvSpPr>
            <p:cNvPr id="15" name="Rectangle 14">
              <a:extLst>
                <a:ext uri="{FF2B5EF4-FFF2-40B4-BE49-F238E27FC236}">
                  <a16:creationId xmlns:a16="http://schemas.microsoft.com/office/drawing/2014/main" id="{F608C7B6-E19F-D194-61FE-1FD7644C9D5A}"/>
                </a:ext>
              </a:extLst>
            </p:cNvPr>
            <p:cNvSpPr/>
            <p:nvPr/>
          </p:nvSpPr>
          <p:spPr>
            <a:xfrm>
              <a:off x="6610190" y="2837329"/>
              <a:ext cx="59551" cy="14712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6" name="Rectangle 15">
              <a:extLst>
                <a:ext uri="{FF2B5EF4-FFF2-40B4-BE49-F238E27FC236}">
                  <a16:creationId xmlns:a16="http://schemas.microsoft.com/office/drawing/2014/main" id="{265CE184-6208-B511-A466-C9D2AADE29B5}"/>
                </a:ext>
              </a:extLst>
            </p:cNvPr>
            <p:cNvSpPr/>
            <p:nvPr/>
          </p:nvSpPr>
          <p:spPr>
            <a:xfrm>
              <a:off x="9706474" y="3012235"/>
              <a:ext cx="31227" cy="9215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7" name="Rectangle 16">
              <a:extLst>
                <a:ext uri="{FF2B5EF4-FFF2-40B4-BE49-F238E27FC236}">
                  <a16:creationId xmlns:a16="http://schemas.microsoft.com/office/drawing/2014/main" id="{42608D5E-EB2C-2ECA-5C50-074B86A714D7}"/>
                </a:ext>
              </a:extLst>
            </p:cNvPr>
            <p:cNvSpPr/>
            <p:nvPr/>
          </p:nvSpPr>
          <p:spPr>
            <a:xfrm>
              <a:off x="9843712" y="3213164"/>
              <a:ext cx="31227" cy="9215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8" name="Rectangle 17">
              <a:extLst>
                <a:ext uri="{FF2B5EF4-FFF2-40B4-BE49-F238E27FC236}">
                  <a16:creationId xmlns:a16="http://schemas.microsoft.com/office/drawing/2014/main" id="{2FD4E279-0123-FCF0-2817-7B7C136A4213}"/>
                </a:ext>
              </a:extLst>
            </p:cNvPr>
            <p:cNvSpPr/>
            <p:nvPr/>
          </p:nvSpPr>
          <p:spPr>
            <a:xfrm>
              <a:off x="10111373" y="3431688"/>
              <a:ext cx="201624"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sp>
        <p:nvSpPr>
          <p:cNvPr id="35" name="TextBox 34">
            <a:extLst>
              <a:ext uri="{FF2B5EF4-FFF2-40B4-BE49-F238E27FC236}">
                <a16:creationId xmlns:a16="http://schemas.microsoft.com/office/drawing/2014/main" id="{C0805A6A-8ACD-344C-1F49-97860E466F4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257192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FFC4B7-2687-A7C4-C5C0-C26FC4C030D0}"/>
              </a:ext>
            </a:extLst>
          </p:cNvPr>
          <p:cNvSpPr>
            <a:spLocks noGrp="1"/>
          </p:cNvSpPr>
          <p:nvPr>
            <p:ph type="sldNum" sz="quarter" idx="4"/>
          </p:nvPr>
        </p:nvSpPr>
        <p:spPr/>
        <p:txBody>
          <a:bodyPr/>
          <a:lstStyle/>
          <a:p>
            <a:pPr algn="ctr"/>
            <a:fld id="{1875A764-3B06-454E-8ABA-2F6ED0EB58E9}" type="slidenum">
              <a:rPr lang="en-US" smtClean="0"/>
              <a:t>40</a:t>
            </a:fld>
            <a:endParaRPr lang="en-US"/>
          </a:p>
        </p:txBody>
      </p:sp>
      <p:sp>
        <p:nvSpPr>
          <p:cNvPr id="3" name="Title 2">
            <a:extLst>
              <a:ext uri="{FF2B5EF4-FFF2-40B4-BE49-F238E27FC236}">
                <a16:creationId xmlns:a16="http://schemas.microsoft.com/office/drawing/2014/main" id="{F98C8F52-6107-1C48-8A40-EFC62E888722}"/>
              </a:ext>
            </a:extLst>
          </p:cNvPr>
          <p:cNvSpPr>
            <a:spLocks noGrp="1"/>
          </p:cNvSpPr>
          <p:nvPr>
            <p:ph type="title"/>
          </p:nvPr>
        </p:nvSpPr>
        <p:spPr/>
        <p:txBody>
          <a:bodyPr/>
          <a:lstStyle/>
          <a:p>
            <a:r>
              <a:rPr lang="en-US" spc="-25" dirty="0">
                <a:solidFill>
                  <a:srgbClr val="281A42"/>
                </a:solidFill>
              </a:rPr>
              <a:t>Create </a:t>
            </a:r>
            <a:r>
              <a:rPr lang="en-US" spc="-25" dirty="0" err="1">
                <a:solidFill>
                  <a:srgbClr val="281A42"/>
                </a:solidFill>
              </a:rPr>
              <a:t>ExCo</a:t>
            </a:r>
            <a:r>
              <a:rPr lang="en-US" spc="-25" dirty="0">
                <a:solidFill>
                  <a:srgbClr val="281A42"/>
                </a:solidFill>
              </a:rPr>
              <a:t> Role Profiles | Define Future Jobs To Be Done </a:t>
            </a:r>
            <a:endParaRPr lang="en-US" dirty="0"/>
          </a:p>
        </p:txBody>
      </p:sp>
      <p:pic>
        <p:nvPicPr>
          <p:cNvPr id="4" name="Picture 3">
            <a:extLst>
              <a:ext uri="{FF2B5EF4-FFF2-40B4-BE49-F238E27FC236}">
                <a16:creationId xmlns:a16="http://schemas.microsoft.com/office/drawing/2014/main" id="{D328196A-09C3-DA23-AF8F-6609D1C573E7}"/>
              </a:ext>
            </a:extLst>
          </p:cNvPr>
          <p:cNvPicPr>
            <a:picLocks noChangeAspect="1"/>
          </p:cNvPicPr>
          <p:nvPr/>
        </p:nvPicPr>
        <p:blipFill>
          <a:blip r:embed="rId2">
            <a:duotone>
              <a:schemeClr val="accent1">
                <a:shade val="45000"/>
                <a:satMod val="135000"/>
              </a:schemeClr>
              <a:prstClr val="white"/>
            </a:duotone>
          </a:blip>
          <a:stretch>
            <a:fillRect/>
          </a:stretch>
        </p:blipFill>
        <p:spPr>
          <a:xfrm>
            <a:off x="4732421" y="1789138"/>
            <a:ext cx="6642912" cy="3279723"/>
          </a:xfrm>
          <a:prstGeom prst="rect">
            <a:avLst/>
          </a:prstGeom>
        </p:spPr>
      </p:pic>
      <p:sp>
        <p:nvSpPr>
          <p:cNvPr id="5" name="TextBox 19">
            <a:extLst>
              <a:ext uri="{FF2B5EF4-FFF2-40B4-BE49-F238E27FC236}">
                <a16:creationId xmlns:a16="http://schemas.microsoft.com/office/drawing/2014/main" id="{A25C6568-265B-3ACF-68AD-412D7E662E4D}"/>
              </a:ext>
            </a:extLst>
          </p:cNvPr>
          <p:cNvSpPr txBox="1">
            <a:spLocks/>
          </p:cNvSpPr>
          <p:nvPr/>
        </p:nvSpPr>
        <p:spPr>
          <a:xfrm>
            <a:off x="726539" y="2074782"/>
            <a:ext cx="3196921" cy="330039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a:buClr>
                <a:schemeClr val="accent1"/>
              </a:buClr>
              <a:buFont typeface="Wingdings" pitchFamily="2" charset="2"/>
              <a:buChar char="ü"/>
            </a:pPr>
            <a:r>
              <a:rPr lang="en-US" sz="1600">
                <a:solidFill>
                  <a:sysClr val="windowText" lastClr="000000"/>
                </a:solidFill>
                <a:cs typeface="Arial"/>
              </a:rPr>
              <a:t>Co-author Future Jobs To Be Done (JTBD) for each ExCo leader considering strategy and long-term strategic plan</a:t>
            </a:r>
            <a:endParaRPr lang="en-US" sz="2400">
              <a:solidFill>
                <a:sysClr val="windowText" lastClr="000000"/>
              </a:solidFill>
              <a:cs typeface="Arial"/>
            </a:endParaRPr>
          </a:p>
          <a:p>
            <a:pPr>
              <a:buClr>
                <a:schemeClr val="accent1"/>
              </a:buClr>
              <a:buFont typeface="Wingdings" pitchFamily="2" charset="2"/>
              <a:buChar char="ü"/>
            </a:pPr>
            <a:endParaRPr lang="en-US" sz="1600">
              <a:solidFill>
                <a:sysClr val="windowText" lastClr="000000"/>
              </a:solidFill>
              <a:cs typeface="Arial"/>
            </a:endParaRPr>
          </a:p>
          <a:p>
            <a:pPr>
              <a:buClr>
                <a:schemeClr val="accent1"/>
              </a:buClr>
              <a:buFont typeface="Wingdings" pitchFamily="2" charset="2"/>
              <a:buChar char="ü"/>
            </a:pPr>
            <a:r>
              <a:rPr lang="en-US" sz="1600">
                <a:solidFill>
                  <a:sysClr val="windowText" lastClr="000000"/>
                </a:solidFill>
                <a:cs typeface="Arial"/>
              </a:rPr>
              <a:t>Facilitate ExCo peer feedback loop to enhance JTBDs &amp; build alignment </a:t>
            </a:r>
            <a:endParaRPr lang="en-US" sz="2400">
              <a:solidFill>
                <a:sysClr val="windowText" lastClr="000000"/>
              </a:solidFill>
              <a:cs typeface="Arial"/>
            </a:endParaRPr>
          </a:p>
          <a:p>
            <a:pPr>
              <a:buClr>
                <a:schemeClr val="accent1"/>
              </a:buClr>
              <a:buFont typeface="Wingdings" pitchFamily="2" charset="2"/>
              <a:buChar char="ü"/>
            </a:pPr>
            <a:endParaRPr lang="en-US" sz="1600">
              <a:solidFill>
                <a:sysClr val="windowText" lastClr="000000"/>
              </a:solidFill>
              <a:cs typeface="Arial"/>
            </a:endParaRPr>
          </a:p>
          <a:p>
            <a:pPr>
              <a:buClr>
                <a:schemeClr val="accent1"/>
              </a:buClr>
              <a:buFont typeface="Wingdings" pitchFamily="2" charset="2"/>
              <a:buChar char="ü"/>
            </a:pPr>
            <a:r>
              <a:rPr lang="en-US" sz="1600">
                <a:solidFill>
                  <a:sysClr val="windowText" lastClr="000000"/>
                </a:solidFill>
                <a:cs typeface="Arial"/>
              </a:rPr>
              <a:t>Consider future pivots that may impact JTBD for each role </a:t>
            </a:r>
          </a:p>
          <a:p>
            <a:pPr>
              <a:buClr>
                <a:schemeClr val="accent1"/>
              </a:buClr>
              <a:buFont typeface="Wingdings" pitchFamily="2" charset="2"/>
              <a:buChar char="ü"/>
            </a:pPr>
            <a:endParaRPr lang="en-US" sz="1600" dirty="0">
              <a:solidFill>
                <a:sysClr val="windowText" lastClr="000000"/>
              </a:solidFill>
              <a:cs typeface="Arial"/>
            </a:endParaRPr>
          </a:p>
        </p:txBody>
      </p:sp>
      <p:sp>
        <p:nvSpPr>
          <p:cNvPr id="6" name="TextBox 5">
            <a:extLst>
              <a:ext uri="{FF2B5EF4-FFF2-40B4-BE49-F238E27FC236}">
                <a16:creationId xmlns:a16="http://schemas.microsoft.com/office/drawing/2014/main" id="{2E4D99EF-5A8B-3703-527F-619576D56C4C}"/>
              </a:ext>
            </a:extLst>
          </p:cNvPr>
          <p:cNvSpPr txBox="1"/>
          <p:nvPr/>
        </p:nvSpPr>
        <p:spPr>
          <a:xfrm>
            <a:off x="4743450" y="1419806"/>
            <a:ext cx="6565900" cy="369332"/>
          </a:xfrm>
          <a:prstGeom prst="rect">
            <a:avLst/>
          </a:prstGeom>
          <a:noFill/>
        </p:spPr>
        <p:txBody>
          <a:bodyPr wrap="square" lIns="91440" tIns="45720" rIns="91440" bIns="45720">
            <a:spAutoFit/>
          </a:bodyPr>
          <a:lstStyle/>
          <a:p>
            <a:pPr algn="ctr" defTabSz="914377">
              <a:defRPr/>
            </a:pPr>
            <a:r>
              <a:rPr lang="en-US" sz="1800" b="1" kern="0" dirty="0">
                <a:solidFill>
                  <a:srgbClr val="1D1D1D"/>
                </a:solidFill>
                <a:cs typeface="Arial" panose="020B0604020202020204" pitchFamily="34" charset="0"/>
              </a:rPr>
              <a:t>EVP Chief Financial Officer </a:t>
            </a:r>
          </a:p>
        </p:txBody>
      </p:sp>
      <p:sp>
        <p:nvSpPr>
          <p:cNvPr id="7" name="TextBox 6">
            <a:extLst>
              <a:ext uri="{FF2B5EF4-FFF2-40B4-BE49-F238E27FC236}">
                <a16:creationId xmlns:a16="http://schemas.microsoft.com/office/drawing/2014/main" id="{17180E00-39C7-F3D3-E4B9-2464A77E6A5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060477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03ADA5-6F0B-5F8E-E6D4-BAD25BC41D32}"/>
              </a:ext>
            </a:extLst>
          </p:cNvPr>
          <p:cNvSpPr>
            <a:spLocks noGrp="1"/>
          </p:cNvSpPr>
          <p:nvPr>
            <p:ph type="sldNum" sz="quarter" idx="4"/>
          </p:nvPr>
        </p:nvSpPr>
        <p:spPr/>
        <p:txBody>
          <a:bodyPr/>
          <a:lstStyle/>
          <a:p>
            <a:pPr algn="ctr"/>
            <a:fld id="{1875A764-3B06-454E-8ABA-2F6ED0EB58E9}" type="slidenum">
              <a:rPr lang="en-US" smtClean="0"/>
              <a:t>41</a:t>
            </a:fld>
            <a:endParaRPr lang="en-US"/>
          </a:p>
        </p:txBody>
      </p:sp>
      <p:sp>
        <p:nvSpPr>
          <p:cNvPr id="3" name="Title 2">
            <a:extLst>
              <a:ext uri="{FF2B5EF4-FFF2-40B4-BE49-F238E27FC236}">
                <a16:creationId xmlns:a16="http://schemas.microsoft.com/office/drawing/2014/main" id="{0E3F1184-7D81-6C4A-B3EE-759A469514A5}"/>
              </a:ext>
            </a:extLst>
          </p:cNvPr>
          <p:cNvSpPr>
            <a:spLocks noGrp="1"/>
          </p:cNvSpPr>
          <p:nvPr>
            <p:ph type="title"/>
          </p:nvPr>
        </p:nvSpPr>
        <p:spPr/>
        <p:txBody>
          <a:bodyPr/>
          <a:lstStyle/>
          <a:p>
            <a:r>
              <a:rPr lang="en-US" spc="-25" dirty="0">
                <a:solidFill>
                  <a:srgbClr val="281A42"/>
                </a:solidFill>
              </a:rPr>
              <a:t>Identify &amp; Assess Succession Candidates Future JTBDs</a:t>
            </a:r>
            <a:endParaRPr lang="en-US" dirty="0"/>
          </a:p>
        </p:txBody>
      </p:sp>
      <p:sp>
        <p:nvSpPr>
          <p:cNvPr id="4" name="Rectangle: Rounded Corners 78">
            <a:extLst>
              <a:ext uri="{FF2B5EF4-FFF2-40B4-BE49-F238E27FC236}">
                <a16:creationId xmlns:a16="http://schemas.microsoft.com/office/drawing/2014/main" id="{5555108D-1A23-FA84-C7AD-50343AFF7729}"/>
              </a:ext>
            </a:extLst>
          </p:cNvPr>
          <p:cNvSpPr/>
          <p:nvPr/>
        </p:nvSpPr>
        <p:spPr>
          <a:xfrm>
            <a:off x="705087" y="1103898"/>
            <a:ext cx="5338064" cy="5314951"/>
          </a:xfrm>
          <a:prstGeom prst="roundRect">
            <a:avLst>
              <a:gd name="adj" fmla="val 5174"/>
            </a:avLst>
          </a:prstGeom>
          <a:solidFill>
            <a:srgbClr val="E8E4FD"/>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latin typeface="Segoe UI" pitchFamily="34" charset="0"/>
              </a:defRPr>
            </a:pPr>
            <a:endParaRPr lang="en-US" sz="1600" b="1" kern="0" spc="-25" dirty="0">
              <a:solidFill>
                <a:srgbClr val="1D1D1D"/>
              </a:solidFill>
              <a:latin typeface="Segoe UI" pitchFamily="34" charset="0"/>
              <a:cs typeface="Arial" panose="020B0604020202020204" pitchFamily="34" charset="0"/>
            </a:endParaRPr>
          </a:p>
        </p:txBody>
      </p:sp>
      <p:grpSp>
        <p:nvGrpSpPr>
          <p:cNvPr id="5" name="Group 4">
            <a:extLst>
              <a:ext uri="{FF2B5EF4-FFF2-40B4-BE49-F238E27FC236}">
                <a16:creationId xmlns:a16="http://schemas.microsoft.com/office/drawing/2014/main" id="{EF56EA63-D1D8-C7BB-492C-8D7B665AEE6E}"/>
              </a:ext>
            </a:extLst>
          </p:cNvPr>
          <p:cNvGrpSpPr/>
          <p:nvPr/>
        </p:nvGrpSpPr>
        <p:grpSpPr>
          <a:xfrm>
            <a:off x="1318399" y="6181246"/>
            <a:ext cx="660524" cy="130841"/>
            <a:chOff x="6357938" y="5548236"/>
            <a:chExt cx="1544228" cy="305892"/>
          </a:xfrm>
        </p:grpSpPr>
        <p:sp>
          <p:nvSpPr>
            <p:cNvPr id="6" name="Rectangle: Rounded Corners 72">
              <a:extLst>
                <a:ext uri="{FF2B5EF4-FFF2-40B4-BE49-F238E27FC236}">
                  <a16:creationId xmlns:a16="http://schemas.microsoft.com/office/drawing/2014/main" id="{04FCCF2F-33CD-D7D3-B20F-E00C7A38D29B}"/>
                </a:ext>
              </a:extLst>
            </p:cNvPr>
            <p:cNvSpPr/>
            <p:nvPr/>
          </p:nvSpPr>
          <p:spPr>
            <a:xfrm>
              <a:off x="6357938" y="5548236"/>
              <a:ext cx="333301" cy="305892"/>
            </a:xfrm>
            <a:prstGeom prst="roundRect">
              <a:avLst/>
            </a:prstGeom>
            <a:solidFill>
              <a:srgbClr val="00C27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200" kern="0" spc="-10" dirty="0">
                <a:latin typeface="Arial" pitchFamily="34" charset="0"/>
                <a:cs typeface="Arial" panose="020B0604020202020204" pitchFamily="34" charset="0"/>
              </a:endParaRPr>
            </a:p>
          </p:txBody>
        </p:sp>
        <p:sp>
          <p:nvSpPr>
            <p:cNvPr id="7" name="TextBox 6">
              <a:extLst>
                <a:ext uri="{FF2B5EF4-FFF2-40B4-BE49-F238E27FC236}">
                  <a16:creationId xmlns:a16="http://schemas.microsoft.com/office/drawing/2014/main" id="{32F013D9-E862-3451-8CCA-304F9F7ED274}"/>
                </a:ext>
              </a:extLst>
            </p:cNvPr>
            <p:cNvSpPr txBox="1"/>
            <p:nvPr/>
          </p:nvSpPr>
          <p:spPr>
            <a:xfrm>
              <a:off x="6800850" y="5551389"/>
              <a:ext cx="1101316" cy="301396"/>
            </a:xfrm>
            <a:prstGeom prst="rect">
              <a:avLst/>
            </a:prstGeom>
            <a:solidFill>
              <a:srgbClr val="E8E4FD"/>
            </a:solidFill>
            <a:ln w="6350">
              <a:noFill/>
              <a:miter lim="800000"/>
            </a:ln>
          </p:spPr>
          <p:txBody>
            <a:bodyPr vert="horz" wrap="none" lIns="0" tIns="0" rIns="0" bIns="0" rtlCol="0" anchor="ctr">
              <a:noAutofit/>
            </a:bodyPr>
            <a:lstStyle/>
            <a:p>
              <a:pPr defTabSz="914377">
                <a:spcBef>
                  <a:spcPts val="300"/>
                </a:spcBef>
                <a:spcAft>
                  <a:spcPts val="300"/>
                </a:spcAft>
                <a:defRPr>
                  <a:solidFill>
                    <a:srgbClr val="1D1D1D"/>
                  </a:solidFill>
                </a:defRPr>
              </a:pPr>
              <a:r>
                <a:rPr lang="en-US" sz="800" kern="0" dirty="0">
                  <a:cs typeface="Arial" panose="020B0604020202020204" pitchFamily="34" charset="0"/>
                </a:rPr>
                <a:t>Ready Now</a:t>
              </a:r>
            </a:p>
          </p:txBody>
        </p:sp>
      </p:grpSp>
      <p:grpSp>
        <p:nvGrpSpPr>
          <p:cNvPr id="8" name="Group 7">
            <a:extLst>
              <a:ext uri="{FF2B5EF4-FFF2-40B4-BE49-F238E27FC236}">
                <a16:creationId xmlns:a16="http://schemas.microsoft.com/office/drawing/2014/main" id="{9D623A50-98AF-DE63-8D44-34E8E0749D8A}"/>
              </a:ext>
            </a:extLst>
          </p:cNvPr>
          <p:cNvGrpSpPr/>
          <p:nvPr/>
        </p:nvGrpSpPr>
        <p:grpSpPr>
          <a:xfrm>
            <a:off x="2640197" y="6179904"/>
            <a:ext cx="660524" cy="130841"/>
            <a:chOff x="6357938" y="5548236"/>
            <a:chExt cx="1544228" cy="305892"/>
          </a:xfrm>
        </p:grpSpPr>
        <p:sp>
          <p:nvSpPr>
            <p:cNvPr id="9" name="Rectangle: Rounded Corners 76">
              <a:extLst>
                <a:ext uri="{FF2B5EF4-FFF2-40B4-BE49-F238E27FC236}">
                  <a16:creationId xmlns:a16="http://schemas.microsoft.com/office/drawing/2014/main" id="{A530FDE0-2E59-6909-A307-924DDD54B62F}"/>
                </a:ext>
              </a:extLst>
            </p:cNvPr>
            <p:cNvSpPr/>
            <p:nvPr/>
          </p:nvSpPr>
          <p:spPr>
            <a:xfrm>
              <a:off x="6357938" y="5548236"/>
              <a:ext cx="333301" cy="305892"/>
            </a:xfrm>
            <a:prstGeom prst="roundRect">
              <a:avLst/>
            </a:prstGeom>
            <a:solidFill>
              <a:srgbClr val="FFB547"/>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200" kern="0" spc="-10" dirty="0">
                <a:latin typeface="Arial" pitchFamily="34" charset="0"/>
                <a:cs typeface="Arial" panose="020B0604020202020204" pitchFamily="34" charset="0"/>
              </a:endParaRPr>
            </a:p>
          </p:txBody>
        </p:sp>
        <p:sp>
          <p:nvSpPr>
            <p:cNvPr id="10" name="TextBox 9">
              <a:extLst>
                <a:ext uri="{FF2B5EF4-FFF2-40B4-BE49-F238E27FC236}">
                  <a16:creationId xmlns:a16="http://schemas.microsoft.com/office/drawing/2014/main" id="{146B36D9-DB49-B522-3D19-8DFA5855D437}"/>
                </a:ext>
              </a:extLst>
            </p:cNvPr>
            <p:cNvSpPr txBox="1"/>
            <p:nvPr/>
          </p:nvSpPr>
          <p:spPr>
            <a:xfrm>
              <a:off x="6800850" y="5551389"/>
              <a:ext cx="1101316" cy="3013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defRPr>
                  <a:solidFill>
                    <a:srgbClr val="1D1D1D"/>
                  </a:solidFill>
                </a:defRPr>
              </a:pPr>
              <a:r>
                <a:rPr lang="en-US" sz="800" kern="0" dirty="0">
                  <a:cs typeface="Arial" panose="020B0604020202020204" pitchFamily="34" charset="0"/>
                </a:rPr>
                <a:t>Ready in 1-2 Years</a:t>
              </a:r>
            </a:p>
          </p:txBody>
        </p:sp>
      </p:grpSp>
      <p:grpSp>
        <p:nvGrpSpPr>
          <p:cNvPr id="11" name="Group 10">
            <a:extLst>
              <a:ext uri="{FF2B5EF4-FFF2-40B4-BE49-F238E27FC236}">
                <a16:creationId xmlns:a16="http://schemas.microsoft.com/office/drawing/2014/main" id="{1BDAC0C6-EDDB-BC5A-097F-42E10B165436}"/>
              </a:ext>
            </a:extLst>
          </p:cNvPr>
          <p:cNvGrpSpPr/>
          <p:nvPr/>
        </p:nvGrpSpPr>
        <p:grpSpPr>
          <a:xfrm>
            <a:off x="4319073" y="6179904"/>
            <a:ext cx="660524" cy="130841"/>
            <a:chOff x="6357938" y="5548236"/>
            <a:chExt cx="1544228" cy="305892"/>
          </a:xfrm>
        </p:grpSpPr>
        <p:sp>
          <p:nvSpPr>
            <p:cNvPr id="12" name="Rectangle: Rounded Corners 79">
              <a:extLst>
                <a:ext uri="{FF2B5EF4-FFF2-40B4-BE49-F238E27FC236}">
                  <a16:creationId xmlns:a16="http://schemas.microsoft.com/office/drawing/2014/main" id="{81A87094-2BED-1ACC-41C6-32D1A8885B82}"/>
                </a:ext>
              </a:extLst>
            </p:cNvPr>
            <p:cNvSpPr/>
            <p:nvPr/>
          </p:nvSpPr>
          <p:spPr>
            <a:xfrm>
              <a:off x="6357938" y="5548236"/>
              <a:ext cx="333301" cy="305892"/>
            </a:xfrm>
            <a:prstGeom prst="roundRect">
              <a:avLst/>
            </a:prstGeom>
            <a:solidFill>
              <a:srgbClr val="D8453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200" kern="0" spc="-10" dirty="0">
                <a:latin typeface="Arial" pitchFamily="34" charset="0"/>
                <a:cs typeface="Arial" panose="020B0604020202020204" pitchFamily="34" charset="0"/>
              </a:endParaRPr>
            </a:p>
          </p:txBody>
        </p:sp>
        <p:sp>
          <p:nvSpPr>
            <p:cNvPr id="13" name="TextBox 12">
              <a:extLst>
                <a:ext uri="{FF2B5EF4-FFF2-40B4-BE49-F238E27FC236}">
                  <a16:creationId xmlns:a16="http://schemas.microsoft.com/office/drawing/2014/main" id="{5E36D36B-99AE-B278-D83C-EE63E07884C1}"/>
                </a:ext>
              </a:extLst>
            </p:cNvPr>
            <p:cNvSpPr txBox="1"/>
            <p:nvPr/>
          </p:nvSpPr>
          <p:spPr>
            <a:xfrm>
              <a:off x="6800850" y="5551389"/>
              <a:ext cx="1101316" cy="3013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defRPr>
                  <a:solidFill>
                    <a:srgbClr val="1D1D1D"/>
                  </a:solidFill>
                </a:defRPr>
              </a:pPr>
              <a:r>
                <a:rPr lang="en-US" sz="800" kern="0" dirty="0">
                  <a:cs typeface="Arial" panose="020B0604020202020204" pitchFamily="34" charset="0"/>
                </a:rPr>
                <a:t>Ready in 3-5 Years</a:t>
              </a:r>
            </a:p>
          </p:txBody>
        </p:sp>
      </p:grpSp>
      <p:grpSp>
        <p:nvGrpSpPr>
          <p:cNvPr id="14" name="Group 13">
            <a:extLst>
              <a:ext uri="{FF2B5EF4-FFF2-40B4-BE49-F238E27FC236}">
                <a16:creationId xmlns:a16="http://schemas.microsoft.com/office/drawing/2014/main" id="{C16CCDD3-5E5D-F3F8-EF62-2BE843CBEC17}"/>
              </a:ext>
            </a:extLst>
          </p:cNvPr>
          <p:cNvGrpSpPr/>
          <p:nvPr/>
        </p:nvGrpSpPr>
        <p:grpSpPr>
          <a:xfrm>
            <a:off x="835672" y="1449060"/>
            <a:ext cx="4929800" cy="4627384"/>
            <a:chOff x="548230" y="936864"/>
            <a:chExt cx="5422781" cy="5090122"/>
          </a:xfrm>
        </p:grpSpPr>
        <p:sp>
          <p:nvSpPr>
            <p:cNvPr id="15" name="Rectangle: Rounded Corners 29">
              <a:extLst>
                <a:ext uri="{FF2B5EF4-FFF2-40B4-BE49-F238E27FC236}">
                  <a16:creationId xmlns:a16="http://schemas.microsoft.com/office/drawing/2014/main" id="{159B42B7-0C18-1940-DFD5-96A469BA5A23}"/>
                </a:ext>
              </a:extLst>
            </p:cNvPr>
            <p:cNvSpPr/>
            <p:nvPr/>
          </p:nvSpPr>
          <p:spPr>
            <a:xfrm>
              <a:off x="4180312" y="936864"/>
              <a:ext cx="1790699" cy="5090122"/>
            </a:xfrm>
            <a:prstGeom prst="roundRect">
              <a:avLst/>
            </a:prstGeom>
            <a:solidFill>
              <a:srgbClr val="FFFFFF">
                <a:lumMod val="9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latin typeface="Segoe UI" pitchFamily="34" charset="0"/>
                </a:defRPr>
              </a:pPr>
              <a:endParaRPr lang="en-US" sz="1400" b="1" kern="0" spc="-25" dirty="0">
                <a:solidFill>
                  <a:srgbClr val="1D1D1D"/>
                </a:solidFill>
                <a:latin typeface="Segoe UI" pitchFamily="34" charset="0"/>
                <a:cs typeface="Arial" panose="020B0604020202020204" pitchFamily="34" charset="0"/>
              </a:endParaRPr>
            </a:p>
          </p:txBody>
        </p:sp>
        <p:sp>
          <p:nvSpPr>
            <p:cNvPr id="16" name="TextBox 15">
              <a:extLst>
                <a:ext uri="{FF2B5EF4-FFF2-40B4-BE49-F238E27FC236}">
                  <a16:creationId xmlns:a16="http://schemas.microsoft.com/office/drawing/2014/main" id="{2C4B3EAA-46F1-4554-1A2E-87EC44A16FF8}"/>
                </a:ext>
              </a:extLst>
            </p:cNvPr>
            <p:cNvSpPr txBox="1"/>
            <p:nvPr/>
          </p:nvSpPr>
          <p:spPr>
            <a:xfrm>
              <a:off x="548230" y="1384346"/>
              <a:ext cx="3555563" cy="375948"/>
            </a:xfrm>
            <a:prstGeom prst="rect">
              <a:avLst/>
            </a:prstGeom>
          </p:spPr>
          <p:txBody>
            <a:bodyPr vert="horz" wrap="square" lIns="0" tIns="0" rIns="0" bIns="0" rtlCol="0" anchor="ctr" anchorCtr="0">
              <a:noAutofit/>
            </a:bodyPr>
            <a:lstStyle/>
            <a:p>
              <a:pPr algn="ctr" defTabSz="914377">
                <a:defRPr>
                  <a:solidFill>
                    <a:srgbClr val="1D1D1D"/>
                  </a:solidFill>
                </a:defRPr>
              </a:pPr>
              <a:r>
                <a:rPr lang="en-US" sz="1600" b="1" kern="0" dirty="0">
                  <a:solidFill>
                    <a:srgbClr val="1D1D1D"/>
                  </a:solidFill>
                  <a:cs typeface="Arial" panose="020B0604020202020204" pitchFamily="34" charset="0"/>
                </a:rPr>
                <a:t>EVP Chief Financial Officer </a:t>
              </a:r>
            </a:p>
          </p:txBody>
        </p:sp>
        <p:cxnSp>
          <p:nvCxnSpPr>
            <p:cNvPr id="17" name="Straight Connector 16">
              <a:extLst>
                <a:ext uri="{FF2B5EF4-FFF2-40B4-BE49-F238E27FC236}">
                  <a16:creationId xmlns:a16="http://schemas.microsoft.com/office/drawing/2014/main" id="{3DC790B8-0269-38B2-B899-9F34453F6E5D}"/>
                </a:ext>
              </a:extLst>
            </p:cNvPr>
            <p:cNvCxnSpPr>
              <a:cxnSpLocks/>
            </p:cNvCxnSpPr>
            <p:nvPr/>
          </p:nvCxnSpPr>
          <p:spPr>
            <a:xfrm>
              <a:off x="575226" y="5471848"/>
              <a:ext cx="5394960" cy="0"/>
            </a:xfrm>
            <a:prstGeom prst="line">
              <a:avLst/>
            </a:prstGeom>
            <a:noFill/>
            <a:ln w="6350" cap="flat" cmpd="sng" algn="ctr">
              <a:solidFill>
                <a:srgbClr val="FFFFFF">
                  <a:lumMod val="85000"/>
                </a:srgbClr>
              </a:solidFill>
              <a:prstDash val="solid"/>
              <a:miter lim="800000"/>
              <a:tailEnd type="none"/>
            </a:ln>
            <a:effectLst/>
          </p:spPr>
        </p:cxnSp>
        <p:sp>
          <p:nvSpPr>
            <p:cNvPr id="18" name="TextBox 17">
              <a:extLst>
                <a:ext uri="{FF2B5EF4-FFF2-40B4-BE49-F238E27FC236}">
                  <a16:creationId xmlns:a16="http://schemas.microsoft.com/office/drawing/2014/main" id="{1C6C1080-197A-28C4-203A-90BB62B0E0F6}"/>
                </a:ext>
              </a:extLst>
            </p:cNvPr>
            <p:cNvSpPr txBox="1"/>
            <p:nvPr/>
          </p:nvSpPr>
          <p:spPr>
            <a:xfrm>
              <a:off x="1635533" y="2195175"/>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Maximize Value Creation in partnership with CEO &amp; ELT </a:t>
              </a:r>
              <a:endParaRPr lang="en-US" sz="900" b="1" kern="0" dirty="0">
                <a:solidFill>
                  <a:srgbClr val="1D1D1D"/>
                </a:solidFill>
                <a:ea typeface="Lato" panose="020F0502020204030203" pitchFamily="34" charset="0"/>
                <a:cs typeface="Arial" panose="020B0604020202020204" pitchFamily="34" charset="0"/>
              </a:endParaRPr>
            </a:p>
          </p:txBody>
        </p:sp>
        <p:sp>
          <p:nvSpPr>
            <p:cNvPr id="19" name="TextBox 18">
              <a:extLst>
                <a:ext uri="{FF2B5EF4-FFF2-40B4-BE49-F238E27FC236}">
                  <a16:creationId xmlns:a16="http://schemas.microsoft.com/office/drawing/2014/main" id="{3ACDF323-4C89-579A-37C2-0EC6C82E0029}"/>
                </a:ext>
              </a:extLst>
            </p:cNvPr>
            <p:cNvSpPr txBox="1"/>
            <p:nvPr/>
          </p:nvSpPr>
          <p:spPr>
            <a:xfrm>
              <a:off x="1635533" y="2755588"/>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100" dirty="0">
                  <a:solidFill>
                    <a:srgbClr val="1D1D1D"/>
                  </a:solidFill>
                  <a:ea typeface="Lato" panose="020F0502020204030203" pitchFamily="34" charset="0"/>
                  <a:cs typeface="Arial" panose="020B0604020202020204" pitchFamily="34" charset="0"/>
                </a:rPr>
                <a:t>Translate strategy into effective capital deployment decisions </a:t>
              </a:r>
            </a:p>
          </p:txBody>
        </p:sp>
        <p:sp>
          <p:nvSpPr>
            <p:cNvPr id="20" name="TextBox 19">
              <a:extLst>
                <a:ext uri="{FF2B5EF4-FFF2-40B4-BE49-F238E27FC236}">
                  <a16:creationId xmlns:a16="http://schemas.microsoft.com/office/drawing/2014/main" id="{60D82433-A2A9-CEEC-DF94-5C55ABDC4E79}"/>
                </a:ext>
              </a:extLst>
            </p:cNvPr>
            <p:cNvSpPr txBox="1"/>
            <p:nvPr/>
          </p:nvSpPr>
          <p:spPr>
            <a:xfrm>
              <a:off x="1635533" y="3324970"/>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Lead and deliver enterprise productivity goal &gt;$xxB annually</a:t>
              </a:r>
              <a:endParaRPr lang="en-US" sz="900" b="1" kern="100" dirty="0">
                <a:solidFill>
                  <a:srgbClr val="1D1D1D"/>
                </a:solidFill>
                <a:ea typeface="Lato" panose="020F050202020403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6BF40B4B-B8C8-2CD4-D1DF-A583D7AAC92D}"/>
                </a:ext>
              </a:extLst>
            </p:cNvPr>
            <p:cNvSpPr txBox="1"/>
            <p:nvPr/>
          </p:nvSpPr>
          <p:spPr>
            <a:xfrm>
              <a:off x="990408" y="2271350"/>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25%</a:t>
              </a:r>
            </a:p>
          </p:txBody>
        </p:sp>
        <p:sp>
          <p:nvSpPr>
            <p:cNvPr id="22" name="TextBox 21">
              <a:extLst>
                <a:ext uri="{FF2B5EF4-FFF2-40B4-BE49-F238E27FC236}">
                  <a16:creationId xmlns:a16="http://schemas.microsoft.com/office/drawing/2014/main" id="{5B820407-3ACC-AE87-D427-AF14C690ABE9}"/>
                </a:ext>
              </a:extLst>
            </p:cNvPr>
            <p:cNvSpPr txBox="1"/>
            <p:nvPr/>
          </p:nvSpPr>
          <p:spPr>
            <a:xfrm>
              <a:off x="990408" y="2831767"/>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25%</a:t>
              </a:r>
            </a:p>
          </p:txBody>
        </p:sp>
        <p:sp>
          <p:nvSpPr>
            <p:cNvPr id="23" name="TextBox 22">
              <a:extLst>
                <a:ext uri="{FF2B5EF4-FFF2-40B4-BE49-F238E27FC236}">
                  <a16:creationId xmlns:a16="http://schemas.microsoft.com/office/drawing/2014/main" id="{D7245D72-E4C2-D307-DBE6-E4C1BCD11924}"/>
                </a:ext>
              </a:extLst>
            </p:cNvPr>
            <p:cNvSpPr txBox="1"/>
            <p:nvPr/>
          </p:nvSpPr>
          <p:spPr>
            <a:xfrm>
              <a:off x="990408" y="3401142"/>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15%</a:t>
              </a:r>
            </a:p>
          </p:txBody>
        </p:sp>
        <p:sp>
          <p:nvSpPr>
            <p:cNvPr id="24" name="TextBox 23">
              <a:extLst>
                <a:ext uri="{FF2B5EF4-FFF2-40B4-BE49-F238E27FC236}">
                  <a16:creationId xmlns:a16="http://schemas.microsoft.com/office/drawing/2014/main" id="{24F41C57-74C5-017B-A8DE-92404FAFEAA3}"/>
                </a:ext>
              </a:extLst>
            </p:cNvPr>
            <p:cNvSpPr txBox="1"/>
            <p:nvPr/>
          </p:nvSpPr>
          <p:spPr>
            <a:xfrm>
              <a:off x="661380" y="2258584"/>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1</a:t>
              </a:r>
            </a:p>
          </p:txBody>
        </p:sp>
        <p:sp>
          <p:nvSpPr>
            <p:cNvPr id="25" name="TextBox 24">
              <a:extLst>
                <a:ext uri="{FF2B5EF4-FFF2-40B4-BE49-F238E27FC236}">
                  <a16:creationId xmlns:a16="http://schemas.microsoft.com/office/drawing/2014/main" id="{53534857-3BD8-ECB6-866B-F85F4E66B07B}"/>
                </a:ext>
              </a:extLst>
            </p:cNvPr>
            <p:cNvSpPr txBox="1"/>
            <p:nvPr/>
          </p:nvSpPr>
          <p:spPr>
            <a:xfrm>
              <a:off x="661380" y="2818999"/>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2</a:t>
              </a:r>
            </a:p>
          </p:txBody>
        </p:sp>
        <p:sp>
          <p:nvSpPr>
            <p:cNvPr id="26" name="TextBox 25">
              <a:extLst>
                <a:ext uri="{FF2B5EF4-FFF2-40B4-BE49-F238E27FC236}">
                  <a16:creationId xmlns:a16="http://schemas.microsoft.com/office/drawing/2014/main" id="{63730CFE-41E9-7B71-9C51-AFEEEFEB456F}"/>
                </a:ext>
              </a:extLst>
            </p:cNvPr>
            <p:cNvSpPr txBox="1"/>
            <p:nvPr/>
          </p:nvSpPr>
          <p:spPr>
            <a:xfrm>
              <a:off x="661380" y="3388375"/>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3</a:t>
              </a:r>
            </a:p>
          </p:txBody>
        </p:sp>
        <p:sp>
          <p:nvSpPr>
            <p:cNvPr id="27" name="TextBox 26">
              <a:extLst>
                <a:ext uri="{FF2B5EF4-FFF2-40B4-BE49-F238E27FC236}">
                  <a16:creationId xmlns:a16="http://schemas.microsoft.com/office/drawing/2014/main" id="{7C9D4D05-AD67-76F4-BE39-8248EA9D8A7D}"/>
                </a:ext>
              </a:extLst>
            </p:cNvPr>
            <p:cNvSpPr txBox="1"/>
            <p:nvPr/>
          </p:nvSpPr>
          <p:spPr>
            <a:xfrm>
              <a:off x="623279" y="5055157"/>
              <a:ext cx="605357"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SP1</a:t>
              </a:r>
            </a:p>
          </p:txBody>
        </p:sp>
        <p:sp>
          <p:nvSpPr>
            <p:cNvPr id="28" name="TextBox 27">
              <a:extLst>
                <a:ext uri="{FF2B5EF4-FFF2-40B4-BE49-F238E27FC236}">
                  <a16:creationId xmlns:a16="http://schemas.microsoft.com/office/drawing/2014/main" id="{52850B06-41F2-5BAC-0096-E6AD2E999341}"/>
                </a:ext>
              </a:extLst>
            </p:cNvPr>
            <p:cNvSpPr txBox="1"/>
            <p:nvPr/>
          </p:nvSpPr>
          <p:spPr>
            <a:xfrm>
              <a:off x="623279" y="5624534"/>
              <a:ext cx="605357"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SP2</a:t>
              </a:r>
            </a:p>
          </p:txBody>
        </p:sp>
        <p:sp>
          <p:nvSpPr>
            <p:cNvPr id="29" name="TextBox 28">
              <a:extLst>
                <a:ext uri="{FF2B5EF4-FFF2-40B4-BE49-F238E27FC236}">
                  <a16:creationId xmlns:a16="http://schemas.microsoft.com/office/drawing/2014/main" id="{9E1BCE94-5139-909B-F108-E0BFF6268D89}"/>
                </a:ext>
              </a:extLst>
            </p:cNvPr>
            <p:cNvSpPr txBox="1"/>
            <p:nvPr/>
          </p:nvSpPr>
          <p:spPr>
            <a:xfrm>
              <a:off x="1102657" y="5065973"/>
              <a:ext cx="3010468" cy="338555"/>
            </a:xfrm>
            <a:prstGeom prst="rect">
              <a:avLst/>
            </a:prstGeom>
            <a:noFill/>
            <a:ln w="6350">
              <a:noFill/>
              <a:miter lim="800000"/>
            </a:ln>
          </p:spPr>
          <p:txBody>
            <a:bodyPr wrap="square" lIns="91440" tIns="45720" rIns="91440" bIns="45720">
              <a:spAutoFit/>
            </a:bodyPr>
            <a:lstStyle/>
            <a:p>
              <a:pPr defTabSz="2926007">
                <a:defRPr>
                  <a:solidFill>
                    <a:srgbClr val="1D1D1D"/>
                  </a:solidFill>
                </a:defRPr>
              </a:pPr>
              <a:r>
                <a:rPr lang="en-US" sz="700" kern="0" dirty="0">
                  <a:solidFill>
                    <a:srgbClr val="1D1D1D"/>
                  </a:solidFill>
                  <a:ea typeface="Lato" panose="020F0502020204030203" pitchFamily="34" charset="0"/>
                  <a:cs typeface="Arial" panose="020B0604020202020204" pitchFamily="34" charset="0"/>
                </a:rPr>
                <a:t>Exceptional track-record of bridging an organization’s strategic intent with high-impact capital deployment execution.</a:t>
              </a:r>
            </a:p>
          </p:txBody>
        </p:sp>
        <p:sp>
          <p:nvSpPr>
            <p:cNvPr id="30" name="Rectangle 29">
              <a:extLst>
                <a:ext uri="{FF2B5EF4-FFF2-40B4-BE49-F238E27FC236}">
                  <a16:creationId xmlns:a16="http://schemas.microsoft.com/office/drawing/2014/main" id="{07AC9B13-76C8-ADBB-A854-2F497A20E2A9}"/>
                </a:ext>
              </a:extLst>
            </p:cNvPr>
            <p:cNvSpPr/>
            <p:nvPr/>
          </p:nvSpPr>
          <p:spPr>
            <a:xfrm>
              <a:off x="4330907" y="2370497"/>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31" name="Rectangle 30">
              <a:extLst>
                <a:ext uri="{FF2B5EF4-FFF2-40B4-BE49-F238E27FC236}">
                  <a16:creationId xmlns:a16="http://schemas.microsoft.com/office/drawing/2014/main" id="{2C9052D0-AFB6-090F-B846-D7F0397DF0FC}"/>
                </a:ext>
              </a:extLst>
            </p:cNvPr>
            <p:cNvSpPr/>
            <p:nvPr/>
          </p:nvSpPr>
          <p:spPr>
            <a:xfrm>
              <a:off x="4330907" y="2930911"/>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32" name="Rectangle 31">
              <a:extLst>
                <a:ext uri="{FF2B5EF4-FFF2-40B4-BE49-F238E27FC236}">
                  <a16:creationId xmlns:a16="http://schemas.microsoft.com/office/drawing/2014/main" id="{9AC68BF2-FE30-86F5-36F1-4AC0F7F51C5C}"/>
                </a:ext>
              </a:extLst>
            </p:cNvPr>
            <p:cNvSpPr/>
            <p:nvPr/>
          </p:nvSpPr>
          <p:spPr>
            <a:xfrm>
              <a:off x="4330907" y="3500289"/>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33" name="Rectangle 32">
              <a:extLst>
                <a:ext uri="{FF2B5EF4-FFF2-40B4-BE49-F238E27FC236}">
                  <a16:creationId xmlns:a16="http://schemas.microsoft.com/office/drawing/2014/main" id="{B8074D41-6737-904D-256E-AC141B11AD82}"/>
                </a:ext>
              </a:extLst>
            </p:cNvPr>
            <p:cNvSpPr/>
            <p:nvPr/>
          </p:nvSpPr>
          <p:spPr>
            <a:xfrm>
              <a:off x="4330907" y="5159907"/>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34" name="Rectangle 33">
              <a:extLst>
                <a:ext uri="{FF2B5EF4-FFF2-40B4-BE49-F238E27FC236}">
                  <a16:creationId xmlns:a16="http://schemas.microsoft.com/office/drawing/2014/main" id="{EB5DACB4-7C0C-DEEB-D279-0B82AB5D6D16}"/>
                </a:ext>
              </a:extLst>
            </p:cNvPr>
            <p:cNvSpPr/>
            <p:nvPr/>
          </p:nvSpPr>
          <p:spPr>
            <a:xfrm>
              <a:off x="4330907" y="5744046"/>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35" name="TextBox 34">
              <a:extLst>
                <a:ext uri="{FF2B5EF4-FFF2-40B4-BE49-F238E27FC236}">
                  <a16:creationId xmlns:a16="http://schemas.microsoft.com/office/drawing/2014/main" id="{5E534D12-33A3-D7EA-50C9-090EFCE3F85F}"/>
                </a:ext>
              </a:extLst>
            </p:cNvPr>
            <p:cNvSpPr txBox="1"/>
            <p:nvPr/>
          </p:nvSpPr>
          <p:spPr>
            <a:xfrm>
              <a:off x="4580202" y="1429063"/>
              <a:ext cx="914400" cy="301396"/>
            </a:xfrm>
            <a:prstGeom prst="rect">
              <a:avLst/>
            </a:prstGeom>
            <a:ln w="6350">
              <a:noFill/>
              <a:miter lim="800000"/>
            </a:ln>
          </p:spPr>
          <p:txBody>
            <a:bodyPr vert="horz" wrap="none" lIns="0" tIns="0" rIns="0" bIns="0" rtlCol="0">
              <a:noAutofit/>
            </a:bodyPr>
            <a:lstStyle/>
            <a:p>
              <a:pPr algn="ctr" defTabSz="914377">
                <a:spcBef>
                  <a:spcPts val="300"/>
                </a:spcBef>
                <a:spcAft>
                  <a:spcPts val="300"/>
                </a:spcAft>
                <a:defRPr>
                  <a:solidFill>
                    <a:srgbClr val="1D1D1D"/>
                  </a:solidFill>
                </a:defRPr>
              </a:pPr>
              <a:r>
                <a:rPr lang="en-US" sz="1000" i="1" kern="0" dirty="0">
                  <a:solidFill>
                    <a:srgbClr val="1D1D1D"/>
                  </a:solidFill>
                  <a:cs typeface="Arial" panose="020B0604020202020204" pitchFamily="34" charset="0"/>
                </a:rPr>
                <a:t>Readiness</a:t>
              </a:r>
            </a:p>
          </p:txBody>
        </p:sp>
        <p:sp>
          <p:nvSpPr>
            <p:cNvPr id="36" name="Oval 35">
              <a:extLst>
                <a:ext uri="{FF2B5EF4-FFF2-40B4-BE49-F238E27FC236}">
                  <a16:creationId xmlns:a16="http://schemas.microsoft.com/office/drawing/2014/main" id="{1045E75C-0F0B-B8E8-A04D-16E0686A3C15}"/>
                </a:ext>
              </a:extLst>
            </p:cNvPr>
            <p:cNvSpPr/>
            <p:nvPr/>
          </p:nvSpPr>
          <p:spPr>
            <a:xfrm>
              <a:off x="4982393" y="2341332"/>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37" name="Oval 36">
              <a:extLst>
                <a:ext uri="{FF2B5EF4-FFF2-40B4-BE49-F238E27FC236}">
                  <a16:creationId xmlns:a16="http://schemas.microsoft.com/office/drawing/2014/main" id="{7A842E5E-0D8D-7020-DCE3-EE4AF237BE4A}"/>
                </a:ext>
              </a:extLst>
            </p:cNvPr>
            <p:cNvSpPr/>
            <p:nvPr/>
          </p:nvSpPr>
          <p:spPr>
            <a:xfrm>
              <a:off x="4444211" y="2894075"/>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38" name="Oval 37">
              <a:extLst>
                <a:ext uri="{FF2B5EF4-FFF2-40B4-BE49-F238E27FC236}">
                  <a16:creationId xmlns:a16="http://schemas.microsoft.com/office/drawing/2014/main" id="{043A80FE-9CCE-0931-EB02-D5A9AD988435}"/>
                </a:ext>
              </a:extLst>
            </p:cNvPr>
            <p:cNvSpPr/>
            <p:nvPr/>
          </p:nvSpPr>
          <p:spPr>
            <a:xfrm>
              <a:off x="5510944" y="3463453"/>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39" name="TextBox 38">
              <a:extLst>
                <a:ext uri="{FF2B5EF4-FFF2-40B4-BE49-F238E27FC236}">
                  <a16:creationId xmlns:a16="http://schemas.microsoft.com/office/drawing/2014/main" id="{56FF5395-9E19-8F45-AFEA-ECF7EEF5DB42}"/>
                </a:ext>
              </a:extLst>
            </p:cNvPr>
            <p:cNvSpPr txBox="1"/>
            <p:nvPr/>
          </p:nvSpPr>
          <p:spPr>
            <a:xfrm>
              <a:off x="1635533" y="3979487"/>
              <a:ext cx="2450971"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Proactive Financial Risk Management</a:t>
              </a:r>
              <a:endParaRPr lang="en-US" sz="900" b="1" kern="100" dirty="0">
                <a:solidFill>
                  <a:srgbClr val="1D1D1D"/>
                </a:solidFill>
                <a:ea typeface="Lato" panose="020F0502020204030203" pitchFamily="34" charset="0"/>
                <a:cs typeface="Arial" panose="020B0604020202020204" pitchFamily="34" charset="0"/>
              </a:endParaRPr>
            </a:p>
          </p:txBody>
        </p:sp>
        <p:sp>
          <p:nvSpPr>
            <p:cNvPr id="40" name="TextBox 39">
              <a:extLst>
                <a:ext uri="{FF2B5EF4-FFF2-40B4-BE49-F238E27FC236}">
                  <a16:creationId xmlns:a16="http://schemas.microsoft.com/office/drawing/2014/main" id="{ADC78B27-396E-F8A0-B134-9882BFC6D82C}"/>
                </a:ext>
              </a:extLst>
            </p:cNvPr>
            <p:cNvSpPr txBox="1"/>
            <p:nvPr/>
          </p:nvSpPr>
          <p:spPr>
            <a:xfrm>
              <a:off x="990408" y="3979487"/>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15%</a:t>
              </a:r>
            </a:p>
          </p:txBody>
        </p:sp>
        <p:sp>
          <p:nvSpPr>
            <p:cNvPr id="41" name="TextBox 40">
              <a:extLst>
                <a:ext uri="{FF2B5EF4-FFF2-40B4-BE49-F238E27FC236}">
                  <a16:creationId xmlns:a16="http://schemas.microsoft.com/office/drawing/2014/main" id="{390AAD34-F2F8-43FE-F187-C0A1191DFA1D}"/>
                </a:ext>
              </a:extLst>
            </p:cNvPr>
            <p:cNvSpPr txBox="1"/>
            <p:nvPr/>
          </p:nvSpPr>
          <p:spPr>
            <a:xfrm>
              <a:off x="661380" y="3966720"/>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4</a:t>
              </a:r>
            </a:p>
          </p:txBody>
        </p:sp>
        <p:sp>
          <p:nvSpPr>
            <p:cNvPr id="42" name="Rectangle 41">
              <a:extLst>
                <a:ext uri="{FF2B5EF4-FFF2-40B4-BE49-F238E27FC236}">
                  <a16:creationId xmlns:a16="http://schemas.microsoft.com/office/drawing/2014/main" id="{2F563846-BFB3-8645-16C7-13BC617F658C}"/>
                </a:ext>
              </a:extLst>
            </p:cNvPr>
            <p:cNvSpPr/>
            <p:nvPr/>
          </p:nvSpPr>
          <p:spPr>
            <a:xfrm>
              <a:off x="4330907" y="4078633"/>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43" name="Oval 42">
              <a:extLst>
                <a:ext uri="{FF2B5EF4-FFF2-40B4-BE49-F238E27FC236}">
                  <a16:creationId xmlns:a16="http://schemas.microsoft.com/office/drawing/2014/main" id="{36B455F3-466A-023D-2F9E-A54097607554}"/>
                </a:ext>
              </a:extLst>
            </p:cNvPr>
            <p:cNvSpPr/>
            <p:nvPr/>
          </p:nvSpPr>
          <p:spPr>
            <a:xfrm>
              <a:off x="4982393" y="4037786"/>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44" name="Oval 43">
              <a:extLst>
                <a:ext uri="{FF2B5EF4-FFF2-40B4-BE49-F238E27FC236}">
                  <a16:creationId xmlns:a16="http://schemas.microsoft.com/office/drawing/2014/main" id="{FA27FBB9-4E3B-D659-E0D6-EFAC28195024}"/>
                </a:ext>
              </a:extLst>
            </p:cNvPr>
            <p:cNvSpPr/>
            <p:nvPr/>
          </p:nvSpPr>
          <p:spPr>
            <a:xfrm>
              <a:off x="4444211" y="5125925"/>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45" name="Oval 44">
              <a:extLst>
                <a:ext uri="{FF2B5EF4-FFF2-40B4-BE49-F238E27FC236}">
                  <a16:creationId xmlns:a16="http://schemas.microsoft.com/office/drawing/2014/main" id="{A3F3E6EE-887C-75CF-4002-BC9F545744E2}"/>
                </a:ext>
              </a:extLst>
            </p:cNvPr>
            <p:cNvSpPr/>
            <p:nvPr/>
          </p:nvSpPr>
          <p:spPr>
            <a:xfrm>
              <a:off x="4982393" y="5709207"/>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46" name="Rectangle: Rounded Corners 115">
              <a:extLst>
                <a:ext uri="{FF2B5EF4-FFF2-40B4-BE49-F238E27FC236}">
                  <a16:creationId xmlns:a16="http://schemas.microsoft.com/office/drawing/2014/main" id="{F7A8AF6B-E15B-D70C-18A8-8563D6C534F0}"/>
                </a:ext>
              </a:extLst>
            </p:cNvPr>
            <p:cNvSpPr/>
            <p:nvPr/>
          </p:nvSpPr>
          <p:spPr>
            <a:xfrm>
              <a:off x="4746889" y="1760294"/>
              <a:ext cx="581025" cy="305892"/>
            </a:xfrm>
            <a:prstGeom prst="roundRect">
              <a:avLst/>
            </a:prstGeom>
            <a:solidFill>
              <a:srgbClr val="FFFFFF">
                <a:lumMod val="7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cxnSp>
          <p:nvCxnSpPr>
            <p:cNvPr id="47" name="Straight Connector 46">
              <a:extLst>
                <a:ext uri="{FF2B5EF4-FFF2-40B4-BE49-F238E27FC236}">
                  <a16:creationId xmlns:a16="http://schemas.microsoft.com/office/drawing/2014/main" id="{48A12BF5-35EB-3945-2367-832520FF3624}"/>
                </a:ext>
              </a:extLst>
            </p:cNvPr>
            <p:cNvCxnSpPr>
              <a:cxnSpLocks/>
            </p:cNvCxnSpPr>
            <p:nvPr/>
          </p:nvCxnSpPr>
          <p:spPr>
            <a:xfrm>
              <a:off x="575226" y="2160840"/>
              <a:ext cx="5394960" cy="0"/>
            </a:xfrm>
            <a:prstGeom prst="line">
              <a:avLst/>
            </a:prstGeom>
            <a:noFill/>
            <a:ln w="9525" cap="flat" cmpd="sng" algn="ctr">
              <a:solidFill>
                <a:srgbClr val="281A42"/>
              </a:solidFill>
              <a:prstDash val="solid"/>
              <a:miter lim="800000"/>
              <a:tailEnd type="none"/>
            </a:ln>
            <a:effectLst/>
          </p:spPr>
        </p:cxnSp>
        <p:cxnSp>
          <p:nvCxnSpPr>
            <p:cNvPr id="48" name="Straight Connector 47">
              <a:extLst>
                <a:ext uri="{FF2B5EF4-FFF2-40B4-BE49-F238E27FC236}">
                  <a16:creationId xmlns:a16="http://schemas.microsoft.com/office/drawing/2014/main" id="{4316AEBB-C805-8757-545A-AE5A18C45719}"/>
                </a:ext>
              </a:extLst>
            </p:cNvPr>
            <p:cNvCxnSpPr>
              <a:cxnSpLocks/>
            </p:cNvCxnSpPr>
            <p:nvPr/>
          </p:nvCxnSpPr>
          <p:spPr>
            <a:xfrm>
              <a:off x="575226" y="4975700"/>
              <a:ext cx="5394960" cy="0"/>
            </a:xfrm>
            <a:prstGeom prst="line">
              <a:avLst/>
            </a:prstGeom>
            <a:noFill/>
            <a:ln w="9525" cap="flat" cmpd="sng" algn="ctr">
              <a:solidFill>
                <a:srgbClr val="281A42"/>
              </a:solidFill>
              <a:prstDash val="solid"/>
              <a:miter lim="800000"/>
              <a:tailEnd type="none"/>
            </a:ln>
            <a:effectLst/>
          </p:spPr>
        </p:cxnSp>
        <p:cxnSp>
          <p:nvCxnSpPr>
            <p:cNvPr id="49" name="Straight Connector 48">
              <a:extLst>
                <a:ext uri="{FF2B5EF4-FFF2-40B4-BE49-F238E27FC236}">
                  <a16:creationId xmlns:a16="http://schemas.microsoft.com/office/drawing/2014/main" id="{59917C9D-D5D7-A92D-68FA-F14305C9FC4F}"/>
                </a:ext>
              </a:extLst>
            </p:cNvPr>
            <p:cNvCxnSpPr>
              <a:cxnSpLocks/>
            </p:cNvCxnSpPr>
            <p:nvPr/>
          </p:nvCxnSpPr>
          <p:spPr>
            <a:xfrm>
              <a:off x="575226" y="6026986"/>
              <a:ext cx="5394960" cy="0"/>
            </a:xfrm>
            <a:prstGeom prst="line">
              <a:avLst/>
            </a:prstGeom>
            <a:noFill/>
            <a:ln w="9525" cap="flat" cmpd="sng" algn="ctr">
              <a:solidFill>
                <a:srgbClr val="281A42"/>
              </a:solidFill>
              <a:prstDash val="solid"/>
              <a:miter lim="800000"/>
              <a:tailEnd type="none"/>
            </a:ln>
            <a:effectLst/>
          </p:spPr>
        </p:cxnSp>
        <p:sp>
          <p:nvSpPr>
            <p:cNvPr id="50" name="TextBox 49">
              <a:extLst>
                <a:ext uri="{FF2B5EF4-FFF2-40B4-BE49-F238E27FC236}">
                  <a16:creationId xmlns:a16="http://schemas.microsoft.com/office/drawing/2014/main" id="{BF081536-43D5-703B-E081-9D67EF59CF67}"/>
                </a:ext>
              </a:extLst>
            </p:cNvPr>
            <p:cNvSpPr txBox="1"/>
            <p:nvPr/>
          </p:nvSpPr>
          <p:spPr>
            <a:xfrm>
              <a:off x="4322140" y="1026410"/>
              <a:ext cx="1472650" cy="301396"/>
            </a:xfrm>
            <a:prstGeom prst="rect">
              <a:avLst/>
            </a:prstGeom>
            <a:ln w="6350">
              <a:noFill/>
              <a:miter lim="800000"/>
            </a:ln>
          </p:spPr>
          <p:txBody>
            <a:bodyPr vert="horz" wrap="none" lIns="0" tIns="0" rIns="0" bIns="0" rtlCol="0" anchor="ctr">
              <a:noAutofit/>
            </a:bodyPr>
            <a:lstStyle/>
            <a:p>
              <a:pPr algn="ctr" defTabSz="914377">
                <a:spcBef>
                  <a:spcPts val="300"/>
                </a:spcBef>
                <a:spcAft>
                  <a:spcPts val="300"/>
                </a:spcAft>
                <a:defRPr b="1" spc="-25">
                  <a:solidFill>
                    <a:srgbClr val="1D1D1D"/>
                  </a:solidFill>
                  <a:latin typeface="Segoe UI" pitchFamily="34" charset="0"/>
                </a:defRPr>
              </a:pPr>
              <a:r>
                <a:rPr lang="en-US" sz="1067" b="1" i="1" kern="0" spc="-25" dirty="0">
                  <a:solidFill>
                    <a:srgbClr val="1D1D1D"/>
                  </a:solidFill>
                  <a:cs typeface="Arial"/>
                </a:rPr>
                <a:t>Candidate</a:t>
              </a:r>
              <a:endParaRPr lang="en-US" sz="2400" b="1" kern="0" spc="-25" dirty="0">
                <a:solidFill>
                  <a:srgbClr val="1D1D1D"/>
                </a:solidFill>
                <a:latin typeface="Segoe UI" pitchFamily="34" charset="0"/>
              </a:endParaRPr>
            </a:p>
          </p:txBody>
        </p:sp>
        <p:cxnSp>
          <p:nvCxnSpPr>
            <p:cNvPr id="51" name="Straight Connector 50">
              <a:extLst>
                <a:ext uri="{FF2B5EF4-FFF2-40B4-BE49-F238E27FC236}">
                  <a16:creationId xmlns:a16="http://schemas.microsoft.com/office/drawing/2014/main" id="{4D958058-BC29-6ED0-9C90-EE87F66D78EC}"/>
                </a:ext>
              </a:extLst>
            </p:cNvPr>
            <p:cNvCxnSpPr>
              <a:cxnSpLocks/>
            </p:cNvCxnSpPr>
            <p:nvPr/>
          </p:nvCxnSpPr>
          <p:spPr>
            <a:xfrm>
              <a:off x="575226" y="4336839"/>
              <a:ext cx="5394960" cy="0"/>
            </a:xfrm>
            <a:prstGeom prst="line">
              <a:avLst/>
            </a:prstGeom>
            <a:noFill/>
            <a:ln w="6350" cap="flat" cmpd="sng" algn="ctr">
              <a:solidFill>
                <a:srgbClr val="FFFFFF">
                  <a:lumMod val="85000"/>
                </a:srgbClr>
              </a:solidFill>
              <a:prstDash val="solid"/>
              <a:miter lim="800000"/>
              <a:tailEnd type="none"/>
            </a:ln>
            <a:effectLst/>
          </p:spPr>
        </p:cxnSp>
        <p:sp>
          <p:nvSpPr>
            <p:cNvPr id="52" name="TextBox 51">
              <a:extLst>
                <a:ext uri="{FF2B5EF4-FFF2-40B4-BE49-F238E27FC236}">
                  <a16:creationId xmlns:a16="http://schemas.microsoft.com/office/drawing/2014/main" id="{BA6970B6-8207-2DAA-D79B-F567979DCE5B}"/>
                </a:ext>
              </a:extLst>
            </p:cNvPr>
            <p:cNvSpPr txBox="1"/>
            <p:nvPr/>
          </p:nvSpPr>
          <p:spPr>
            <a:xfrm>
              <a:off x="1616420" y="4459125"/>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Drive Finance Talent &amp; Culture Transformation</a:t>
              </a:r>
              <a:endParaRPr lang="en-US" sz="900" b="1" kern="0" dirty="0">
                <a:solidFill>
                  <a:srgbClr val="1D1D1D"/>
                </a:solidFill>
                <a:ea typeface="Lato" panose="020F0502020204030203" pitchFamily="34" charset="0"/>
                <a:cs typeface="Arial" panose="020B0604020202020204" pitchFamily="34" charset="0"/>
              </a:endParaRPr>
            </a:p>
          </p:txBody>
        </p:sp>
        <p:sp>
          <p:nvSpPr>
            <p:cNvPr id="53" name="TextBox 52">
              <a:extLst>
                <a:ext uri="{FF2B5EF4-FFF2-40B4-BE49-F238E27FC236}">
                  <a16:creationId xmlns:a16="http://schemas.microsoft.com/office/drawing/2014/main" id="{0F610144-031A-4ECD-DCBD-00DAE85BDA46}"/>
                </a:ext>
              </a:extLst>
            </p:cNvPr>
            <p:cNvSpPr txBox="1"/>
            <p:nvPr/>
          </p:nvSpPr>
          <p:spPr>
            <a:xfrm>
              <a:off x="985489" y="4535302"/>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20%</a:t>
              </a:r>
            </a:p>
          </p:txBody>
        </p:sp>
        <p:sp>
          <p:nvSpPr>
            <p:cNvPr id="54" name="TextBox 53">
              <a:extLst>
                <a:ext uri="{FF2B5EF4-FFF2-40B4-BE49-F238E27FC236}">
                  <a16:creationId xmlns:a16="http://schemas.microsoft.com/office/drawing/2014/main" id="{052B660B-9388-611D-78E6-7A5AE829507E}"/>
                </a:ext>
              </a:extLst>
            </p:cNvPr>
            <p:cNvSpPr txBox="1"/>
            <p:nvPr/>
          </p:nvSpPr>
          <p:spPr>
            <a:xfrm>
              <a:off x="687731" y="4522532"/>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5</a:t>
              </a:r>
            </a:p>
          </p:txBody>
        </p:sp>
        <p:sp>
          <p:nvSpPr>
            <p:cNvPr id="55" name="Rectangle 54">
              <a:extLst>
                <a:ext uri="{FF2B5EF4-FFF2-40B4-BE49-F238E27FC236}">
                  <a16:creationId xmlns:a16="http://schemas.microsoft.com/office/drawing/2014/main" id="{732EF20A-9057-C580-395A-530C7DD6C68B}"/>
                </a:ext>
              </a:extLst>
            </p:cNvPr>
            <p:cNvSpPr/>
            <p:nvPr/>
          </p:nvSpPr>
          <p:spPr>
            <a:xfrm>
              <a:off x="4325988" y="4634446"/>
              <a:ext cx="1419277" cy="55623"/>
            </a:xfrm>
            <a:prstGeom prst="rect">
              <a:avLst/>
            </a:prstGeom>
            <a:gradFill flip="none" rotWithShape="1">
              <a:gsLst>
                <a:gs pos="100000">
                  <a:srgbClr val="00C27A"/>
                </a:gs>
                <a:gs pos="52000">
                  <a:srgbClr val="FFB547"/>
                </a:gs>
                <a:gs pos="0">
                  <a:srgbClr val="D8453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56" name="Oval 55">
              <a:extLst>
                <a:ext uri="{FF2B5EF4-FFF2-40B4-BE49-F238E27FC236}">
                  <a16:creationId xmlns:a16="http://schemas.microsoft.com/office/drawing/2014/main" id="{3C77D8AE-7AC8-78C7-7379-BF4702BD24A9}"/>
                </a:ext>
              </a:extLst>
            </p:cNvPr>
            <p:cNvSpPr/>
            <p:nvPr/>
          </p:nvSpPr>
          <p:spPr>
            <a:xfrm>
              <a:off x="5494602" y="4590529"/>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cxnSp>
          <p:nvCxnSpPr>
            <p:cNvPr id="57" name="Straight Connector 56">
              <a:extLst>
                <a:ext uri="{FF2B5EF4-FFF2-40B4-BE49-F238E27FC236}">
                  <a16:creationId xmlns:a16="http://schemas.microsoft.com/office/drawing/2014/main" id="{A5BD2A76-A070-4924-5245-783AAA874267}"/>
                </a:ext>
              </a:extLst>
            </p:cNvPr>
            <p:cNvCxnSpPr>
              <a:cxnSpLocks/>
            </p:cNvCxnSpPr>
            <p:nvPr/>
          </p:nvCxnSpPr>
          <p:spPr>
            <a:xfrm>
              <a:off x="575226" y="3810814"/>
              <a:ext cx="5394960" cy="0"/>
            </a:xfrm>
            <a:prstGeom prst="line">
              <a:avLst/>
            </a:prstGeom>
            <a:noFill/>
            <a:ln w="6350" cap="flat" cmpd="sng" algn="ctr">
              <a:solidFill>
                <a:srgbClr val="FFFFFF">
                  <a:lumMod val="85000"/>
                </a:srgbClr>
              </a:solidFill>
              <a:prstDash val="solid"/>
              <a:miter lim="800000"/>
              <a:tailEnd type="none"/>
            </a:ln>
            <a:effectLst/>
          </p:spPr>
        </p:cxnSp>
        <p:cxnSp>
          <p:nvCxnSpPr>
            <p:cNvPr id="58" name="Straight Connector 57">
              <a:extLst>
                <a:ext uri="{FF2B5EF4-FFF2-40B4-BE49-F238E27FC236}">
                  <a16:creationId xmlns:a16="http://schemas.microsoft.com/office/drawing/2014/main" id="{7B5A71B6-78DF-69AA-6E60-57FCA44D4AEC}"/>
                </a:ext>
              </a:extLst>
            </p:cNvPr>
            <p:cNvCxnSpPr>
              <a:cxnSpLocks/>
            </p:cNvCxnSpPr>
            <p:nvPr/>
          </p:nvCxnSpPr>
          <p:spPr>
            <a:xfrm>
              <a:off x="575226" y="3237014"/>
              <a:ext cx="5394960" cy="0"/>
            </a:xfrm>
            <a:prstGeom prst="line">
              <a:avLst/>
            </a:prstGeom>
            <a:noFill/>
            <a:ln w="6350" cap="flat" cmpd="sng" algn="ctr">
              <a:solidFill>
                <a:srgbClr val="FFFFFF">
                  <a:lumMod val="85000"/>
                </a:srgbClr>
              </a:solidFill>
              <a:prstDash val="solid"/>
              <a:miter lim="800000"/>
              <a:tailEnd type="none"/>
            </a:ln>
            <a:effectLst/>
          </p:spPr>
        </p:cxnSp>
        <p:cxnSp>
          <p:nvCxnSpPr>
            <p:cNvPr id="59" name="Straight Connector 58">
              <a:extLst>
                <a:ext uri="{FF2B5EF4-FFF2-40B4-BE49-F238E27FC236}">
                  <a16:creationId xmlns:a16="http://schemas.microsoft.com/office/drawing/2014/main" id="{B90F9333-DB72-484E-8657-6C7AD84F5281}"/>
                </a:ext>
              </a:extLst>
            </p:cNvPr>
            <p:cNvCxnSpPr>
              <a:cxnSpLocks/>
            </p:cNvCxnSpPr>
            <p:nvPr/>
          </p:nvCxnSpPr>
          <p:spPr>
            <a:xfrm>
              <a:off x="575226" y="2663214"/>
              <a:ext cx="5394960" cy="0"/>
            </a:xfrm>
            <a:prstGeom prst="line">
              <a:avLst/>
            </a:prstGeom>
            <a:noFill/>
            <a:ln w="6350" cap="flat" cmpd="sng" algn="ctr">
              <a:solidFill>
                <a:srgbClr val="FFFFFF">
                  <a:lumMod val="85000"/>
                </a:srgbClr>
              </a:solidFill>
              <a:prstDash val="solid"/>
              <a:miter lim="800000"/>
              <a:tailEnd type="none"/>
            </a:ln>
            <a:effectLst/>
          </p:spPr>
        </p:cxnSp>
        <p:sp>
          <p:nvSpPr>
            <p:cNvPr id="60" name="TextBox 59">
              <a:extLst>
                <a:ext uri="{FF2B5EF4-FFF2-40B4-BE49-F238E27FC236}">
                  <a16:creationId xmlns:a16="http://schemas.microsoft.com/office/drawing/2014/main" id="{4D74E920-3421-3077-D1DD-700AD23CB572}"/>
                </a:ext>
              </a:extLst>
            </p:cNvPr>
            <p:cNvSpPr txBox="1"/>
            <p:nvPr/>
          </p:nvSpPr>
          <p:spPr>
            <a:xfrm>
              <a:off x="1102657" y="5567148"/>
              <a:ext cx="2867838" cy="338555"/>
            </a:xfrm>
            <a:prstGeom prst="rect">
              <a:avLst/>
            </a:prstGeom>
            <a:noFill/>
            <a:ln w="6350">
              <a:noFill/>
              <a:miter lim="800000"/>
            </a:ln>
          </p:spPr>
          <p:txBody>
            <a:bodyPr wrap="square" lIns="91440" tIns="45720" rIns="91440" bIns="45720">
              <a:spAutoFit/>
            </a:bodyPr>
            <a:lstStyle/>
            <a:p>
              <a:pPr defTabSz="2926007">
                <a:defRPr>
                  <a:solidFill>
                    <a:srgbClr val="1D1D1D"/>
                  </a:solidFill>
                </a:defRPr>
              </a:pPr>
              <a:r>
                <a:rPr lang="en-US" sz="700" kern="0" dirty="0">
                  <a:solidFill>
                    <a:srgbClr val="1D1D1D"/>
                  </a:solidFill>
                  <a:ea typeface="Lato" panose="020F0502020204030203" pitchFamily="34" charset="0"/>
                  <a:cs typeface="Arial" panose="020B0604020202020204" pitchFamily="34" charset="0"/>
                </a:rPr>
                <a:t>Proven organization builder with the ability to design, scale, and futureproof the finance function</a:t>
              </a:r>
            </a:p>
          </p:txBody>
        </p:sp>
      </p:grpSp>
      <p:sp>
        <p:nvSpPr>
          <p:cNvPr id="61" name="Rectangle: Rounded Corners 135">
            <a:extLst>
              <a:ext uri="{FF2B5EF4-FFF2-40B4-BE49-F238E27FC236}">
                <a16:creationId xmlns:a16="http://schemas.microsoft.com/office/drawing/2014/main" id="{56350410-79CF-C4C3-AA4C-398DF818A75B}"/>
              </a:ext>
            </a:extLst>
          </p:cNvPr>
          <p:cNvSpPr/>
          <p:nvPr/>
        </p:nvSpPr>
        <p:spPr>
          <a:xfrm>
            <a:off x="1783505" y="959702"/>
            <a:ext cx="3226767" cy="321897"/>
          </a:xfrm>
          <a:prstGeom prst="roundRect">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solidFill>
                  <a:srgbClr val="FFFFFF"/>
                </a:solidFill>
                <a:latin typeface="Segoe UI" pitchFamily="34" charset="0"/>
              </a:defRPr>
            </a:pPr>
            <a:r>
              <a:rPr lang="en-US" sz="1600" b="1" kern="0" spc="-25" dirty="0">
                <a:solidFill>
                  <a:srgbClr val="FFFFFF"/>
                </a:solidFill>
                <a:latin typeface="Segoe UI" pitchFamily="34" charset="0"/>
                <a:cs typeface="Arial"/>
              </a:rPr>
              <a:t>Initial Assessment by ExCo</a:t>
            </a:r>
          </a:p>
        </p:txBody>
      </p:sp>
      <p:sp>
        <p:nvSpPr>
          <p:cNvPr id="62" name="Plus Sign 136">
            <a:extLst>
              <a:ext uri="{FF2B5EF4-FFF2-40B4-BE49-F238E27FC236}">
                <a16:creationId xmlns:a16="http://schemas.microsoft.com/office/drawing/2014/main" id="{2BD4F0CC-4B99-697B-A39A-76C693747FFD}"/>
              </a:ext>
            </a:extLst>
          </p:cNvPr>
          <p:cNvSpPr/>
          <p:nvPr/>
        </p:nvSpPr>
        <p:spPr>
          <a:xfrm>
            <a:off x="6223001" y="3331773"/>
            <a:ext cx="637412" cy="615671"/>
          </a:xfrm>
          <a:prstGeom prst="mathPlus">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600" kern="0" spc="-10" dirty="0">
              <a:solidFill>
                <a:srgbClr val="FFFFFF"/>
              </a:solidFill>
              <a:latin typeface="Arial" pitchFamily="34" charset="0"/>
              <a:cs typeface="Arial" panose="020B0604020202020204" pitchFamily="34" charset="0"/>
            </a:endParaRPr>
          </a:p>
        </p:txBody>
      </p:sp>
      <p:sp>
        <p:nvSpPr>
          <p:cNvPr id="63" name="Oval 62">
            <a:extLst>
              <a:ext uri="{FF2B5EF4-FFF2-40B4-BE49-F238E27FC236}">
                <a16:creationId xmlns:a16="http://schemas.microsoft.com/office/drawing/2014/main" id="{07D4E894-B255-1BC5-0897-711742CFE3F0}"/>
              </a:ext>
            </a:extLst>
          </p:cNvPr>
          <p:cNvSpPr/>
          <p:nvPr/>
        </p:nvSpPr>
        <p:spPr>
          <a:xfrm>
            <a:off x="7171509" y="4767912"/>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64" name="Oval 63">
            <a:extLst>
              <a:ext uri="{FF2B5EF4-FFF2-40B4-BE49-F238E27FC236}">
                <a16:creationId xmlns:a16="http://schemas.microsoft.com/office/drawing/2014/main" id="{E9A3F3A5-D8CF-9D93-6B20-E1AF46626493}"/>
              </a:ext>
            </a:extLst>
          </p:cNvPr>
          <p:cNvSpPr/>
          <p:nvPr/>
        </p:nvSpPr>
        <p:spPr>
          <a:xfrm>
            <a:off x="7171509" y="3187585"/>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65" name="TextBox 64">
            <a:extLst>
              <a:ext uri="{FF2B5EF4-FFF2-40B4-BE49-F238E27FC236}">
                <a16:creationId xmlns:a16="http://schemas.microsoft.com/office/drawing/2014/main" id="{89E5B5A0-FFAD-9E0B-94FD-C071D3E1AC33}"/>
              </a:ext>
            </a:extLst>
          </p:cNvPr>
          <p:cNvSpPr txBox="1"/>
          <p:nvPr/>
        </p:nvSpPr>
        <p:spPr>
          <a:xfrm>
            <a:off x="8494863" y="5224588"/>
            <a:ext cx="3163189" cy="323851"/>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Prior performance feedback</a:t>
            </a:r>
          </a:p>
        </p:txBody>
      </p:sp>
      <p:sp>
        <p:nvSpPr>
          <p:cNvPr id="66" name="TextBox 65">
            <a:extLst>
              <a:ext uri="{FF2B5EF4-FFF2-40B4-BE49-F238E27FC236}">
                <a16:creationId xmlns:a16="http://schemas.microsoft.com/office/drawing/2014/main" id="{ACECE71B-AC88-ECE5-C499-6B61871CFB9C}"/>
              </a:ext>
            </a:extLst>
          </p:cNvPr>
          <p:cNvSpPr txBox="1"/>
          <p:nvPr/>
        </p:nvSpPr>
        <p:spPr>
          <a:xfrm>
            <a:off x="8494863" y="3660048"/>
            <a:ext cx="3163189" cy="323851"/>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Hogan Personality Inventory &amp;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Active Learning / Active Leading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assessment</a:t>
            </a:r>
          </a:p>
        </p:txBody>
      </p:sp>
      <p:pic>
        <p:nvPicPr>
          <p:cNvPr id="67" name="Picture 66">
            <a:extLst>
              <a:ext uri="{FF2B5EF4-FFF2-40B4-BE49-F238E27FC236}">
                <a16:creationId xmlns:a16="http://schemas.microsoft.com/office/drawing/2014/main" id="{5723BFBE-905D-9E73-2C85-63C4C7E92EE8}"/>
              </a:ext>
            </a:extLst>
          </p:cNvPr>
          <p:cNvPicPr>
            <a:picLocks noChangeAspect="1"/>
          </p:cNvPicPr>
          <p:nvPr/>
        </p:nvPicPr>
        <p:blipFill>
          <a:blip r:embed="rId2">
            <a:duotone>
              <a:srgbClr val="765FFF"/>
              <a:srgbClr val="FFFFFF"/>
            </a:duotone>
          </a:blip>
          <a:stretch>
            <a:fillRect/>
          </a:stretch>
        </p:blipFill>
        <p:spPr>
          <a:xfrm>
            <a:off x="7308914" y="4905315"/>
            <a:ext cx="913911" cy="913911"/>
          </a:xfrm>
          <a:prstGeom prst="rect">
            <a:avLst/>
          </a:prstGeom>
        </p:spPr>
      </p:pic>
      <p:sp>
        <p:nvSpPr>
          <p:cNvPr id="68" name="Oval 67">
            <a:extLst>
              <a:ext uri="{FF2B5EF4-FFF2-40B4-BE49-F238E27FC236}">
                <a16:creationId xmlns:a16="http://schemas.microsoft.com/office/drawing/2014/main" id="{706F619E-4A67-D5C7-C79B-A8E57DEF6B51}"/>
              </a:ext>
            </a:extLst>
          </p:cNvPr>
          <p:cNvSpPr/>
          <p:nvPr/>
        </p:nvSpPr>
        <p:spPr>
          <a:xfrm>
            <a:off x="7171509" y="1617248"/>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69" name="TextBox 68">
            <a:extLst>
              <a:ext uri="{FF2B5EF4-FFF2-40B4-BE49-F238E27FC236}">
                <a16:creationId xmlns:a16="http://schemas.microsoft.com/office/drawing/2014/main" id="{C08F0F33-F8BE-B776-67C2-4628D35EDE9F}"/>
              </a:ext>
            </a:extLst>
          </p:cNvPr>
          <p:cNvSpPr txBox="1"/>
          <p:nvPr/>
        </p:nvSpPr>
        <p:spPr>
          <a:xfrm>
            <a:off x="8494863" y="1909283"/>
            <a:ext cx="3163189" cy="6310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Structured interview by external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partner</a:t>
            </a:r>
          </a:p>
        </p:txBody>
      </p:sp>
      <p:pic>
        <p:nvPicPr>
          <p:cNvPr id="70" name="Picture 69">
            <a:extLst>
              <a:ext uri="{FF2B5EF4-FFF2-40B4-BE49-F238E27FC236}">
                <a16:creationId xmlns:a16="http://schemas.microsoft.com/office/drawing/2014/main" id="{5F6093A2-7AB4-B0B8-3080-BEBD01D9715E}"/>
              </a:ext>
            </a:extLst>
          </p:cNvPr>
          <p:cNvPicPr>
            <a:picLocks noChangeAspect="1"/>
          </p:cNvPicPr>
          <p:nvPr/>
        </p:nvPicPr>
        <p:blipFill>
          <a:blip r:embed="rId3">
            <a:duotone>
              <a:srgbClr val="765FFF"/>
              <a:srgbClr val="FFFFFF"/>
            </a:duotone>
          </a:blip>
          <a:stretch>
            <a:fillRect/>
          </a:stretch>
        </p:blipFill>
        <p:spPr>
          <a:xfrm>
            <a:off x="7246612" y="1722875"/>
            <a:ext cx="1038515" cy="1038515"/>
          </a:xfrm>
          <a:prstGeom prst="rect">
            <a:avLst/>
          </a:prstGeom>
        </p:spPr>
      </p:pic>
      <p:sp>
        <p:nvSpPr>
          <p:cNvPr id="71" name="Rectangle: Rounded Corners 146">
            <a:extLst>
              <a:ext uri="{FF2B5EF4-FFF2-40B4-BE49-F238E27FC236}">
                <a16:creationId xmlns:a16="http://schemas.microsoft.com/office/drawing/2014/main" id="{8BA5648A-2705-F2B9-193B-3246C5800B36}"/>
              </a:ext>
            </a:extLst>
          </p:cNvPr>
          <p:cNvSpPr/>
          <p:nvPr/>
        </p:nvSpPr>
        <p:spPr>
          <a:xfrm>
            <a:off x="8233289" y="959702"/>
            <a:ext cx="3226767" cy="321897"/>
          </a:xfrm>
          <a:prstGeom prst="roundRect">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solidFill>
                  <a:srgbClr val="FFFFFF"/>
                </a:solidFill>
                <a:latin typeface="Segoe UI" pitchFamily="34" charset="0"/>
              </a:defRPr>
            </a:pPr>
            <a:r>
              <a:rPr lang="en-US" sz="1600" b="1" kern="0" spc="-25" dirty="0">
                <a:solidFill>
                  <a:srgbClr val="FFFFFF"/>
                </a:solidFill>
                <a:latin typeface="Segoe UI" pitchFamily="34" charset="0"/>
                <a:cs typeface="Arial"/>
              </a:rPr>
              <a:t>Validated Assessment</a:t>
            </a:r>
            <a:endParaRPr lang="en-US" sz="2400" b="1" kern="0" spc="-25" dirty="0">
              <a:solidFill>
                <a:srgbClr val="FFFFFF"/>
              </a:solidFill>
              <a:latin typeface="Segoe UI" pitchFamily="34" charset="0"/>
            </a:endParaRPr>
          </a:p>
        </p:txBody>
      </p:sp>
      <p:pic>
        <p:nvPicPr>
          <p:cNvPr id="72" name="Picture 71">
            <a:extLst>
              <a:ext uri="{FF2B5EF4-FFF2-40B4-BE49-F238E27FC236}">
                <a16:creationId xmlns:a16="http://schemas.microsoft.com/office/drawing/2014/main" id="{EDC04C05-E6FC-C613-BC7F-A1F6EC09516F}"/>
              </a:ext>
            </a:extLst>
          </p:cNvPr>
          <p:cNvPicPr>
            <a:picLocks noChangeAspect="1"/>
          </p:cNvPicPr>
          <p:nvPr/>
        </p:nvPicPr>
        <p:blipFill>
          <a:blip r:embed="rId4">
            <a:duotone>
              <a:srgbClr val="765FFF"/>
              <a:srgbClr val="FFFFFF"/>
            </a:duotone>
          </a:blip>
          <a:stretch>
            <a:fillRect/>
          </a:stretch>
        </p:blipFill>
        <p:spPr>
          <a:xfrm>
            <a:off x="7105527" y="3109647"/>
            <a:ext cx="1343999" cy="1343999"/>
          </a:xfrm>
          <a:prstGeom prst="rect">
            <a:avLst/>
          </a:prstGeom>
        </p:spPr>
      </p:pic>
      <p:sp>
        <p:nvSpPr>
          <p:cNvPr id="73" name="TextBox 72">
            <a:extLst>
              <a:ext uri="{FF2B5EF4-FFF2-40B4-BE49-F238E27FC236}">
                <a16:creationId xmlns:a16="http://schemas.microsoft.com/office/drawing/2014/main" id="{8FA31F3F-6EE7-2A10-56AB-2801FE62703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159267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1F4515-CBF3-CCA4-73AD-BAC9347E4579}"/>
              </a:ext>
            </a:extLst>
          </p:cNvPr>
          <p:cNvSpPr>
            <a:spLocks noGrp="1"/>
          </p:cNvSpPr>
          <p:nvPr>
            <p:ph type="sldNum" sz="quarter" idx="4"/>
          </p:nvPr>
        </p:nvSpPr>
        <p:spPr/>
        <p:txBody>
          <a:bodyPr/>
          <a:lstStyle/>
          <a:p>
            <a:pPr algn="ctr"/>
            <a:fld id="{1875A764-3B06-454E-8ABA-2F6ED0EB58E9}" type="slidenum">
              <a:rPr lang="en-US" smtClean="0"/>
              <a:t>42</a:t>
            </a:fld>
            <a:endParaRPr lang="en-US"/>
          </a:p>
        </p:txBody>
      </p:sp>
      <p:sp>
        <p:nvSpPr>
          <p:cNvPr id="3" name="Title 2">
            <a:extLst>
              <a:ext uri="{FF2B5EF4-FFF2-40B4-BE49-F238E27FC236}">
                <a16:creationId xmlns:a16="http://schemas.microsoft.com/office/drawing/2014/main" id="{9F61766D-146E-F37C-638C-241E7A8E1BF1}"/>
              </a:ext>
            </a:extLst>
          </p:cNvPr>
          <p:cNvSpPr>
            <a:spLocks noGrp="1"/>
          </p:cNvSpPr>
          <p:nvPr>
            <p:ph type="title"/>
          </p:nvPr>
        </p:nvSpPr>
        <p:spPr/>
        <p:txBody>
          <a:bodyPr/>
          <a:lstStyle/>
          <a:p>
            <a:r>
              <a:rPr lang="en-GB" spc="-25" dirty="0">
                <a:solidFill>
                  <a:srgbClr val="281A42"/>
                </a:solidFill>
              </a:rPr>
              <a:t>Activate Meaningful Development Plans and Manage Talent Risks</a:t>
            </a:r>
            <a:endParaRPr lang="en-US" dirty="0"/>
          </a:p>
        </p:txBody>
      </p:sp>
      <p:sp>
        <p:nvSpPr>
          <p:cNvPr id="4" name="Rectangle: Rounded Corners 12">
            <a:extLst>
              <a:ext uri="{FF2B5EF4-FFF2-40B4-BE49-F238E27FC236}">
                <a16:creationId xmlns:a16="http://schemas.microsoft.com/office/drawing/2014/main" id="{C0554745-4707-B30F-707B-B28287282CDC}"/>
              </a:ext>
            </a:extLst>
          </p:cNvPr>
          <p:cNvSpPr/>
          <p:nvPr/>
        </p:nvSpPr>
        <p:spPr>
          <a:xfrm>
            <a:off x="1057432" y="1577368"/>
            <a:ext cx="4556301" cy="774701"/>
          </a:xfrm>
          <a:prstGeom prst="roundRect">
            <a:avLst/>
          </a:prstGeom>
          <a:solidFill>
            <a:srgbClr val="FFFFFF">
              <a:lumMod val="95000"/>
            </a:srgbClr>
          </a:solidFill>
          <a:ln w="9525" cap="sq" cmpd="sng" algn="ctr">
            <a:solidFill>
              <a:srgbClr val="281A42"/>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r>
              <a:rPr lang="en-US" sz="1600" b="1" kern="0" spc="-10" dirty="0">
                <a:solidFill>
                  <a:schemeClr val="accent1"/>
                </a:solidFill>
                <a:latin typeface="Segoe UI" pitchFamily="34" charset="0"/>
                <a:cs typeface="Arial"/>
              </a:rPr>
              <a:t>Detailed assessment</a:t>
            </a:r>
            <a:br>
              <a:rPr lang="en-US" sz="1600" b="1" kern="0" spc="-10" dirty="0">
                <a:solidFill>
                  <a:schemeClr val="accent1"/>
                </a:solidFill>
                <a:latin typeface="Segoe UI" pitchFamily="34" charset="0"/>
                <a:cs typeface="Arial"/>
              </a:rPr>
            </a:br>
            <a:r>
              <a:rPr lang="en-US" sz="1600" b="1" kern="0" spc="-10" dirty="0">
                <a:solidFill>
                  <a:schemeClr val="accent1"/>
                </a:solidFill>
                <a:latin typeface="Segoe UI" pitchFamily="34" charset="0"/>
                <a:cs typeface="Arial"/>
              </a:rPr>
              <a:t>of candidate readiness</a:t>
            </a:r>
          </a:p>
        </p:txBody>
      </p:sp>
      <p:sp>
        <p:nvSpPr>
          <p:cNvPr id="5" name="Rectangle: Rounded Corners 13">
            <a:extLst>
              <a:ext uri="{FF2B5EF4-FFF2-40B4-BE49-F238E27FC236}">
                <a16:creationId xmlns:a16="http://schemas.microsoft.com/office/drawing/2014/main" id="{B6EE7625-10AE-AE37-7F8F-38853830C660}"/>
              </a:ext>
            </a:extLst>
          </p:cNvPr>
          <p:cNvSpPr/>
          <p:nvPr/>
        </p:nvSpPr>
        <p:spPr>
          <a:xfrm>
            <a:off x="6767126" y="1577368"/>
            <a:ext cx="4556301" cy="774699"/>
          </a:xfrm>
          <a:prstGeom prst="roundRect">
            <a:avLst/>
          </a:prstGeom>
          <a:solidFill>
            <a:srgbClr val="FFFFFF">
              <a:lumMod val="95000"/>
            </a:srgbClr>
          </a:solidFill>
          <a:ln w="9525" cap="sq" cmpd="sng" algn="ctr">
            <a:solidFill>
              <a:srgbClr val="281A42"/>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r>
              <a:rPr lang="en-US" sz="1600" b="1" kern="0" spc="-10" dirty="0">
                <a:solidFill>
                  <a:schemeClr val="accent1"/>
                </a:solidFill>
                <a:latin typeface="Segoe UI" pitchFamily="34" charset="0"/>
                <a:cs typeface="Arial"/>
              </a:rPr>
              <a:t>Development plans for candidates anchored in Jobs to be Done readiness</a:t>
            </a:r>
          </a:p>
        </p:txBody>
      </p:sp>
      <p:sp>
        <p:nvSpPr>
          <p:cNvPr id="6" name="Trapezoid 5">
            <a:extLst>
              <a:ext uri="{FF2B5EF4-FFF2-40B4-BE49-F238E27FC236}">
                <a16:creationId xmlns:a16="http://schemas.microsoft.com/office/drawing/2014/main" id="{6FB941D8-F494-9518-EFDC-C83C70A3631E}"/>
              </a:ext>
            </a:extLst>
          </p:cNvPr>
          <p:cNvSpPr/>
          <p:nvPr/>
        </p:nvSpPr>
        <p:spPr>
          <a:xfrm rot="5280000">
            <a:off x="5985788" y="3235200"/>
            <a:ext cx="529005" cy="244805"/>
          </a:xfrm>
          <a:prstGeom prst="trapezoid">
            <a:avLst>
              <a:gd name="adj" fmla="val 429621"/>
            </a:avLst>
          </a:prstGeom>
          <a:solidFill>
            <a:schemeClr val="accent1"/>
          </a:solidFill>
          <a:ln w="12700" cap="flat" cmpd="sng" algn="ctr">
            <a:noFill/>
            <a:prstDash val="solid"/>
            <a:miter lim="800000"/>
          </a:ln>
          <a:effectLst/>
        </p:spPr>
        <p:txBody>
          <a:bodyPr lIns="91440" tIns="45720" rIns="91440" bIns="45720" rtlCol="0" anchor="ctr"/>
          <a:lstStyle/>
          <a:p>
            <a:pPr algn="ctr" defTabSz="914377">
              <a:defRPr>
                <a:solidFill>
                  <a:srgbClr val="FFFFFF"/>
                </a:solidFill>
              </a:defRPr>
            </a:pPr>
            <a:endParaRPr lang="en-US" kern="0" dirty="0">
              <a:solidFill>
                <a:srgbClr val="FFFFFF"/>
              </a:solidFill>
              <a:ea typeface="Roboto" panose="02000000000000000000" pitchFamily="2" charset="0"/>
              <a:cs typeface="Arial" panose="020B0604020202020204" pitchFamily="34" charset="0"/>
            </a:endParaRPr>
          </a:p>
        </p:txBody>
      </p:sp>
      <p:grpSp>
        <p:nvGrpSpPr>
          <p:cNvPr id="7" name="Group 6">
            <a:extLst>
              <a:ext uri="{FF2B5EF4-FFF2-40B4-BE49-F238E27FC236}">
                <a16:creationId xmlns:a16="http://schemas.microsoft.com/office/drawing/2014/main" id="{6960E135-2388-85C4-8A72-8244993193A6}"/>
              </a:ext>
            </a:extLst>
          </p:cNvPr>
          <p:cNvGrpSpPr/>
          <p:nvPr/>
        </p:nvGrpSpPr>
        <p:grpSpPr>
          <a:xfrm>
            <a:off x="876173" y="2436181"/>
            <a:ext cx="4842673" cy="2747751"/>
            <a:chOff x="672369" y="2007135"/>
            <a:chExt cx="3632005" cy="2060813"/>
          </a:xfrm>
        </p:grpSpPr>
        <p:pic>
          <p:nvPicPr>
            <p:cNvPr id="8" name="Picture 7">
              <a:extLst>
                <a:ext uri="{FF2B5EF4-FFF2-40B4-BE49-F238E27FC236}">
                  <a16:creationId xmlns:a16="http://schemas.microsoft.com/office/drawing/2014/main" id="{49DBE6C2-63B8-5F7C-03B2-9EF9214D878F}"/>
                </a:ext>
              </a:extLst>
            </p:cNvPr>
            <p:cNvPicPr>
              <a:picLocks noChangeAspect="1"/>
            </p:cNvPicPr>
            <p:nvPr/>
          </p:nvPicPr>
          <p:blipFill>
            <a:blip r:embed="rId2"/>
            <a:srcRect/>
            <a:stretch/>
          </p:blipFill>
          <p:spPr>
            <a:xfrm>
              <a:off x="672369" y="2007135"/>
              <a:ext cx="3632005" cy="2060813"/>
            </a:xfrm>
            <a:prstGeom prst="rect">
              <a:avLst/>
            </a:prstGeom>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E27041AB-EB15-5DA9-00CA-2AC75B01D388}"/>
                </a:ext>
              </a:extLst>
            </p:cNvPr>
            <p:cNvSpPr/>
            <p:nvPr/>
          </p:nvSpPr>
          <p:spPr>
            <a:xfrm>
              <a:off x="1687551" y="3858322"/>
              <a:ext cx="1791629" cy="189803"/>
            </a:xfrm>
            <a:prstGeom prst="rect">
              <a:avLst/>
            </a:prstGeom>
            <a:solidFill>
              <a:srgbClr val="FFFFFF"/>
            </a:solidFill>
            <a:ln w="6350" cap="sq"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endParaRPr lang="en-US" sz="2133" kern="0" spc="-10" dirty="0">
                <a:solidFill>
                  <a:srgbClr val="1D1D1D"/>
                </a:solidFill>
                <a:latin typeface="Arial" pitchFamily="34" charset="0"/>
              </a:endParaRPr>
            </a:p>
          </p:txBody>
        </p:sp>
      </p:grpSp>
      <p:grpSp>
        <p:nvGrpSpPr>
          <p:cNvPr id="10" name="Group 9">
            <a:extLst>
              <a:ext uri="{FF2B5EF4-FFF2-40B4-BE49-F238E27FC236}">
                <a16:creationId xmlns:a16="http://schemas.microsoft.com/office/drawing/2014/main" id="{C9DC6203-FD2F-A066-22DB-0492657D6B2E}"/>
              </a:ext>
            </a:extLst>
          </p:cNvPr>
          <p:cNvGrpSpPr/>
          <p:nvPr/>
        </p:nvGrpSpPr>
        <p:grpSpPr>
          <a:xfrm>
            <a:off x="6781736" y="2436179"/>
            <a:ext cx="4541691" cy="2747751"/>
            <a:chOff x="5101542" y="2007134"/>
            <a:chExt cx="3406268" cy="2060813"/>
          </a:xfrm>
        </p:grpSpPr>
        <p:pic>
          <p:nvPicPr>
            <p:cNvPr id="11" name="Picture 10">
              <a:extLst>
                <a:ext uri="{FF2B5EF4-FFF2-40B4-BE49-F238E27FC236}">
                  <a16:creationId xmlns:a16="http://schemas.microsoft.com/office/drawing/2014/main" id="{B1829866-6826-5B0D-81E0-2C849F0D45B7}"/>
                </a:ext>
              </a:extLst>
            </p:cNvPr>
            <p:cNvPicPr>
              <a:picLocks noChangeAspect="1"/>
            </p:cNvPicPr>
            <p:nvPr/>
          </p:nvPicPr>
          <p:blipFill>
            <a:blip r:embed="rId3"/>
            <a:stretch>
              <a:fillRect/>
            </a:stretch>
          </p:blipFill>
          <p:spPr>
            <a:xfrm>
              <a:off x="5101542" y="2007134"/>
              <a:ext cx="3406268" cy="2060813"/>
            </a:xfrm>
            <a:prstGeom prst="rect">
              <a:avLst/>
            </a:prstGeom>
            <a:effectLst>
              <a:outerShdw blurRad="50800" dist="38100" dir="2700000" algn="tl" rotWithShape="0">
                <a:prstClr val="black">
                  <a:alpha val="40000"/>
                </a:prstClr>
              </a:outerShdw>
            </a:effectLst>
          </p:spPr>
        </p:pic>
        <p:sp>
          <p:nvSpPr>
            <p:cNvPr id="12" name="Rectangle 11">
              <a:extLst>
                <a:ext uri="{FF2B5EF4-FFF2-40B4-BE49-F238E27FC236}">
                  <a16:creationId xmlns:a16="http://schemas.microsoft.com/office/drawing/2014/main" id="{64A0D284-7ED5-81DD-9F10-F5EA6E92A570}"/>
                </a:ext>
              </a:extLst>
            </p:cNvPr>
            <p:cNvSpPr/>
            <p:nvPr/>
          </p:nvSpPr>
          <p:spPr>
            <a:xfrm>
              <a:off x="5973336" y="3859791"/>
              <a:ext cx="1791629" cy="189803"/>
            </a:xfrm>
            <a:prstGeom prst="rect">
              <a:avLst/>
            </a:prstGeom>
            <a:solidFill>
              <a:srgbClr val="FFFFFF"/>
            </a:solidFill>
            <a:ln w="6350" cap="sq"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endParaRPr lang="en-US" sz="2133" kern="0" spc="-10" dirty="0">
                <a:solidFill>
                  <a:srgbClr val="1D1D1D"/>
                </a:solidFill>
                <a:latin typeface="Arial" pitchFamily="34" charset="0"/>
              </a:endParaRPr>
            </a:p>
          </p:txBody>
        </p:sp>
      </p:grpSp>
      <p:sp>
        <p:nvSpPr>
          <p:cNvPr id="13" name="Arrow: Right 25">
            <a:extLst>
              <a:ext uri="{FF2B5EF4-FFF2-40B4-BE49-F238E27FC236}">
                <a16:creationId xmlns:a16="http://schemas.microsoft.com/office/drawing/2014/main" id="{5EA1644E-BE6F-3E83-337D-934A321123CC}"/>
              </a:ext>
            </a:extLst>
          </p:cNvPr>
          <p:cNvSpPr/>
          <p:nvPr/>
        </p:nvSpPr>
        <p:spPr>
          <a:xfrm>
            <a:off x="1347563" y="5555460"/>
            <a:ext cx="9634653" cy="384577"/>
          </a:xfrm>
          <a:prstGeom prst="roundRect">
            <a:avLst/>
          </a:prstGeom>
          <a:solidFill>
            <a:schemeClr val="accent1"/>
          </a:solidFill>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r>
              <a:rPr lang="en-US" sz="1467" b="1" dirty="0">
                <a:solidFill>
                  <a:schemeClr val="bg1"/>
                </a:solidFill>
                <a:cs typeface="Arial"/>
              </a:rPr>
              <a:t>Disciplined pull through of the process with quarterly ELT development plan </a:t>
            </a:r>
            <a:endParaRPr lang="en-US" sz="2400" dirty="0">
              <a:solidFill>
                <a:schemeClr val="bg1"/>
              </a:solidFill>
            </a:endParaRPr>
          </a:p>
        </p:txBody>
      </p:sp>
      <p:sp>
        <p:nvSpPr>
          <p:cNvPr id="14" name="TextBox 13">
            <a:extLst>
              <a:ext uri="{FF2B5EF4-FFF2-40B4-BE49-F238E27FC236}">
                <a16:creationId xmlns:a16="http://schemas.microsoft.com/office/drawing/2014/main" id="{7BEC1EB4-2B4B-B801-4A4D-20CF4FCF057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606408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DB7850-EAA1-4CC9-8B11-28AFE225B7B1}"/>
              </a:ext>
            </a:extLst>
          </p:cNvPr>
          <p:cNvSpPr>
            <a:spLocks noGrp="1"/>
          </p:cNvSpPr>
          <p:nvPr>
            <p:ph type="sldNum" sz="quarter" idx="4"/>
          </p:nvPr>
        </p:nvSpPr>
        <p:spPr/>
        <p:txBody>
          <a:bodyPr/>
          <a:lstStyle/>
          <a:p>
            <a:pPr algn="ctr"/>
            <a:fld id="{1875A764-3B06-454E-8ABA-2F6ED0EB58E9}" type="slidenum">
              <a:rPr lang="en-US" smtClean="0"/>
              <a:t>43</a:t>
            </a:fld>
            <a:endParaRPr lang="en-US"/>
          </a:p>
        </p:txBody>
      </p:sp>
      <p:sp>
        <p:nvSpPr>
          <p:cNvPr id="3" name="Title 2">
            <a:extLst>
              <a:ext uri="{FF2B5EF4-FFF2-40B4-BE49-F238E27FC236}">
                <a16:creationId xmlns:a16="http://schemas.microsoft.com/office/drawing/2014/main" id="{F8671CDA-A958-0633-E536-05BBFCD25B95}"/>
              </a:ext>
            </a:extLst>
          </p:cNvPr>
          <p:cNvSpPr>
            <a:spLocks noGrp="1"/>
          </p:cNvSpPr>
          <p:nvPr>
            <p:ph type="title"/>
          </p:nvPr>
        </p:nvSpPr>
        <p:spPr/>
        <p:txBody>
          <a:bodyPr/>
          <a:lstStyle/>
          <a:p>
            <a:r>
              <a:rPr lang="en-GB" dirty="0">
                <a:ea typeface="Lato"/>
                <a:cs typeface="Segoe UI" panose="020B0502040204020203" pitchFamily="34" charset="0"/>
              </a:rPr>
              <a:t>Mobilization Plan to Cultivate Succession Pipeline</a:t>
            </a:r>
            <a:endParaRPr lang="en-US" dirty="0"/>
          </a:p>
        </p:txBody>
      </p:sp>
      <p:grpSp>
        <p:nvGrpSpPr>
          <p:cNvPr id="4" name="Group 3">
            <a:extLst>
              <a:ext uri="{FF2B5EF4-FFF2-40B4-BE49-F238E27FC236}">
                <a16:creationId xmlns:a16="http://schemas.microsoft.com/office/drawing/2014/main" id="{F3554650-11C0-7D8E-F63D-2A30F6B7A2AD}"/>
              </a:ext>
            </a:extLst>
          </p:cNvPr>
          <p:cNvGrpSpPr/>
          <p:nvPr/>
        </p:nvGrpSpPr>
        <p:grpSpPr>
          <a:xfrm>
            <a:off x="987749" y="1276051"/>
            <a:ext cx="10408980" cy="4569523"/>
            <a:chOff x="740811" y="957038"/>
            <a:chExt cx="7806735" cy="3427142"/>
          </a:xfrm>
        </p:grpSpPr>
        <p:grpSp>
          <p:nvGrpSpPr>
            <p:cNvPr id="5" name="Group 4">
              <a:extLst>
                <a:ext uri="{FF2B5EF4-FFF2-40B4-BE49-F238E27FC236}">
                  <a16:creationId xmlns:a16="http://schemas.microsoft.com/office/drawing/2014/main" id="{2A76E03E-A717-4297-15C9-CDC4B46DF4C3}"/>
                </a:ext>
              </a:extLst>
            </p:cNvPr>
            <p:cNvGrpSpPr/>
            <p:nvPr/>
          </p:nvGrpSpPr>
          <p:grpSpPr>
            <a:xfrm>
              <a:off x="740811" y="957038"/>
              <a:ext cx="7806735" cy="3427142"/>
              <a:chOff x="729436" y="957038"/>
              <a:chExt cx="7806735" cy="3427142"/>
            </a:xfrm>
          </p:grpSpPr>
          <p:grpSp>
            <p:nvGrpSpPr>
              <p:cNvPr id="10" name="Group 9">
                <a:extLst>
                  <a:ext uri="{FF2B5EF4-FFF2-40B4-BE49-F238E27FC236}">
                    <a16:creationId xmlns:a16="http://schemas.microsoft.com/office/drawing/2014/main" id="{1E6D07A9-4EAD-1DC2-8872-130290EDAB2D}"/>
                  </a:ext>
                </a:extLst>
              </p:cNvPr>
              <p:cNvGrpSpPr/>
              <p:nvPr/>
            </p:nvGrpSpPr>
            <p:grpSpPr>
              <a:xfrm>
                <a:off x="729436" y="957038"/>
                <a:ext cx="1849323" cy="3427142"/>
                <a:chOff x="692265" y="1100254"/>
                <a:chExt cx="1849323" cy="3427142"/>
              </a:xfrm>
            </p:grpSpPr>
            <p:sp>
              <p:nvSpPr>
                <p:cNvPr id="26" name="Rectangle: Rounded Corners 58">
                  <a:extLst>
                    <a:ext uri="{FF2B5EF4-FFF2-40B4-BE49-F238E27FC236}">
                      <a16:creationId xmlns:a16="http://schemas.microsoft.com/office/drawing/2014/main" id="{1DD17BD0-2564-8D1D-2E24-B50A12FEB805}"/>
                    </a:ext>
                  </a:extLst>
                </p:cNvPr>
                <p:cNvSpPr/>
                <p:nvPr/>
              </p:nvSpPr>
              <p:spPr>
                <a:xfrm>
                  <a:off x="692267" y="1100254"/>
                  <a:ext cx="1849321" cy="3427142"/>
                </a:xfrm>
                <a:prstGeom prst="roundRect">
                  <a:avLst>
                    <a:gd name="adj" fmla="val 8068"/>
                  </a:avLst>
                </a:prstGeom>
                <a:solidFill>
                  <a:srgbClr val="E8E4FD"/>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27" name="TextBox 26">
                  <a:extLst>
                    <a:ext uri="{FF2B5EF4-FFF2-40B4-BE49-F238E27FC236}">
                      <a16:creationId xmlns:a16="http://schemas.microsoft.com/office/drawing/2014/main" id="{9E2A57D3-6FB2-F959-0B0D-D10F493A1631}"/>
                    </a:ext>
                  </a:extLst>
                </p:cNvPr>
                <p:cNvSpPr txBox="1"/>
                <p:nvPr/>
              </p:nvSpPr>
              <p:spPr>
                <a:xfrm>
                  <a:off x="692267" y="2798597"/>
                  <a:ext cx="1849321" cy="977191"/>
                </a:xfrm>
                <a:prstGeom prst="rect">
                  <a:avLst/>
                </a:prstGeom>
                <a:noFill/>
              </p:spPr>
              <p:txBody>
                <a:bodyPr wrap="square" lIns="121920" tIns="60960" rIns="121920" bIns="60960" anchor="ctr">
                  <a:spAutoFit/>
                </a:bodyPr>
                <a:lstStyle/>
                <a:p>
                  <a:pPr marL="285750" indent="-285750">
                    <a:spcAft>
                      <a:spcPts val="800"/>
                    </a:spcAft>
                    <a:buBlip>
                      <a:blip r:embed="rId2"/>
                    </a:buBlip>
                  </a:pPr>
                  <a:r>
                    <a:rPr lang="en-US" sz="1400" spc="-10" dirty="0">
                      <a:solidFill>
                        <a:srgbClr val="1D1D1D"/>
                      </a:solidFill>
                      <a:latin typeface="Arial" pitchFamily="34" charset="0"/>
                      <a:cs typeface="Arial"/>
                    </a:rPr>
                    <a:t>Validating</a:t>
                  </a:r>
                  <a:r>
                    <a:rPr lang="en-US" sz="1400" b="1" spc="-10" dirty="0">
                      <a:solidFill>
                        <a:srgbClr val="1D1D1D"/>
                      </a:solidFill>
                      <a:latin typeface="Segoe UI" pitchFamily="34" charset="0"/>
                      <a:cs typeface="Arial"/>
                    </a:rPr>
                    <a:t> succession readiness</a:t>
                  </a:r>
                </a:p>
                <a:p>
                  <a:pPr marL="285750" indent="-285750">
                    <a:spcAft>
                      <a:spcPts val="800"/>
                    </a:spcAft>
                    <a:buBlip>
                      <a:blip r:embed="rId2"/>
                    </a:buBlip>
                  </a:pPr>
                  <a:r>
                    <a:rPr lang="en-US" sz="1400" spc="-10" dirty="0">
                      <a:solidFill>
                        <a:srgbClr val="1D1D1D"/>
                      </a:solidFill>
                      <a:latin typeface="Arial" pitchFamily="34" charset="0"/>
                      <a:cs typeface="Arial"/>
                    </a:rPr>
                    <a:t>Co-creating meaningful </a:t>
                  </a:r>
                  <a:r>
                    <a:rPr lang="en-US" sz="1400" b="1" spc="-10" dirty="0">
                      <a:solidFill>
                        <a:srgbClr val="1D1D1D"/>
                      </a:solidFill>
                      <a:latin typeface="Segoe UI" pitchFamily="34" charset="0"/>
                      <a:cs typeface="Arial"/>
                    </a:rPr>
                    <a:t>development and mentorship</a:t>
                  </a:r>
                  <a:r>
                    <a:rPr lang="en-US" sz="1400" spc="-10" dirty="0">
                      <a:solidFill>
                        <a:srgbClr val="1D1D1D"/>
                      </a:solidFill>
                      <a:latin typeface="Arial" pitchFamily="34" charset="0"/>
                      <a:cs typeface="Arial"/>
                    </a:rPr>
                    <a:t> </a:t>
                  </a:r>
                  <a:endParaRPr lang="en-US" sz="1400" spc="-10" dirty="0">
                    <a:solidFill>
                      <a:srgbClr val="1D1D1D"/>
                    </a:solidFill>
                    <a:latin typeface="Arial" pitchFamily="34" charset="0"/>
                    <a:cs typeface="Arial" panose="020B0604020202020204" pitchFamily="34" charset="0"/>
                  </a:endParaRPr>
                </a:p>
              </p:txBody>
            </p:sp>
            <p:sp>
              <p:nvSpPr>
                <p:cNvPr id="28" name="TextBox 27">
                  <a:extLst>
                    <a:ext uri="{FF2B5EF4-FFF2-40B4-BE49-F238E27FC236}">
                      <a16:creationId xmlns:a16="http://schemas.microsoft.com/office/drawing/2014/main" id="{AF29D539-3767-4145-FB21-C234AAE33A4F}"/>
                    </a:ext>
                  </a:extLst>
                </p:cNvPr>
                <p:cNvSpPr txBox="1"/>
                <p:nvPr/>
              </p:nvSpPr>
              <p:spPr>
                <a:xfrm>
                  <a:off x="692265" y="2164090"/>
                  <a:ext cx="1849321" cy="438581"/>
                </a:xfrm>
                <a:prstGeom prst="rect">
                  <a:avLst/>
                </a:prstGeom>
                <a:noFill/>
              </p:spPr>
              <p:txBody>
                <a:bodyPr wrap="square" lIns="91440" tIns="45720" rIns="91440" bIns="45720">
                  <a:spAutoFit/>
                </a:bodyPr>
                <a:lstStyle/>
                <a:p>
                  <a:pPr algn="ctr">
                    <a:spcAft>
                      <a:spcPts val="800"/>
                    </a:spcAft>
                  </a:pPr>
                  <a:r>
                    <a:rPr lang="en-US" sz="1600" b="1" spc="-10" dirty="0">
                      <a:solidFill>
                        <a:srgbClr val="1D1D1D"/>
                      </a:solidFill>
                      <a:latin typeface="Segoe UI" pitchFamily="34" charset="0"/>
                      <a:cs typeface="Arial"/>
                    </a:rPr>
                    <a:t>ExCo ownership of development</a:t>
                  </a:r>
                </a:p>
              </p:txBody>
            </p:sp>
            <p:sp>
              <p:nvSpPr>
                <p:cNvPr id="29" name="Oval 28">
                  <a:extLst>
                    <a:ext uri="{FF2B5EF4-FFF2-40B4-BE49-F238E27FC236}">
                      <a16:creationId xmlns:a16="http://schemas.microsoft.com/office/drawing/2014/main" id="{343A97D7-A09D-B15A-7AFA-BE6FD811C52F}"/>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11" name="Group 10">
                <a:extLst>
                  <a:ext uri="{FF2B5EF4-FFF2-40B4-BE49-F238E27FC236}">
                    <a16:creationId xmlns:a16="http://schemas.microsoft.com/office/drawing/2014/main" id="{58F1163E-9E25-7A5A-ED80-248D1563B773}"/>
                  </a:ext>
                </a:extLst>
              </p:cNvPr>
              <p:cNvGrpSpPr/>
              <p:nvPr/>
            </p:nvGrpSpPr>
            <p:grpSpPr>
              <a:xfrm>
                <a:off x="2715240" y="957038"/>
                <a:ext cx="1849323" cy="3427142"/>
                <a:chOff x="692265" y="1100254"/>
                <a:chExt cx="1849323" cy="3427142"/>
              </a:xfrm>
            </p:grpSpPr>
            <p:sp>
              <p:nvSpPr>
                <p:cNvPr id="22" name="Rectangle: Rounded Corners 54">
                  <a:extLst>
                    <a:ext uri="{FF2B5EF4-FFF2-40B4-BE49-F238E27FC236}">
                      <a16:creationId xmlns:a16="http://schemas.microsoft.com/office/drawing/2014/main" id="{77268BFB-598C-B95A-C89F-17AD72C2DCC3}"/>
                    </a:ext>
                  </a:extLst>
                </p:cNvPr>
                <p:cNvSpPr/>
                <p:nvPr/>
              </p:nvSpPr>
              <p:spPr>
                <a:xfrm>
                  <a:off x="692267" y="1100254"/>
                  <a:ext cx="1849321" cy="3427142"/>
                </a:xfrm>
                <a:prstGeom prst="roundRect">
                  <a:avLst>
                    <a:gd name="adj" fmla="val 8068"/>
                  </a:avLst>
                </a:prstGeom>
                <a:solidFill>
                  <a:srgbClr val="E8E4FD"/>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23" name="TextBox 22">
                  <a:extLst>
                    <a:ext uri="{FF2B5EF4-FFF2-40B4-BE49-F238E27FC236}">
                      <a16:creationId xmlns:a16="http://schemas.microsoft.com/office/drawing/2014/main" id="{094406BF-92E7-A7C1-A268-1931EC368AF8}"/>
                    </a:ext>
                  </a:extLst>
                </p:cNvPr>
                <p:cNvSpPr txBox="1"/>
                <p:nvPr/>
              </p:nvSpPr>
              <p:spPr>
                <a:xfrm>
                  <a:off x="692267" y="2798597"/>
                  <a:ext cx="1849321" cy="1461939"/>
                </a:xfrm>
                <a:prstGeom prst="rect">
                  <a:avLst/>
                </a:prstGeom>
                <a:noFill/>
              </p:spPr>
              <p:txBody>
                <a:bodyPr wrap="square" lIns="121920" tIns="60960" rIns="121920" bIns="60960" anchor="ctr">
                  <a:spAutoFit/>
                </a:bodyPr>
                <a:lstStyle/>
                <a:p>
                  <a:pPr marL="285750" indent="-285750">
                    <a:spcAft>
                      <a:spcPts val="800"/>
                    </a:spcAft>
                    <a:buBlip>
                      <a:blip r:embed="rId2"/>
                    </a:buBlip>
                  </a:pPr>
                  <a:r>
                    <a:rPr lang="en-US" sz="1400" spc="-10" dirty="0">
                      <a:solidFill>
                        <a:srgbClr val="1D1D1D"/>
                      </a:solidFill>
                      <a:latin typeface="Arial" pitchFamily="34" charset="0"/>
                      <a:cs typeface="Arial" panose="020B0604020202020204" pitchFamily="34" charset="0"/>
                    </a:rPr>
                    <a:t>Strategically opening and creating </a:t>
                  </a:r>
                  <a:r>
                    <a:rPr lang="en-US" sz="1400" b="1" spc="-10" dirty="0">
                      <a:solidFill>
                        <a:srgbClr val="1D1D1D"/>
                      </a:solidFill>
                      <a:latin typeface="Segoe UI" pitchFamily="34" charset="0"/>
                      <a:cs typeface="Arial" panose="020B0604020202020204" pitchFamily="34" charset="0"/>
                    </a:rPr>
                    <a:t>new roles</a:t>
                  </a:r>
                  <a:r>
                    <a:rPr lang="en-US" sz="1400" spc="-10" dirty="0">
                      <a:solidFill>
                        <a:srgbClr val="1D1D1D"/>
                      </a:solidFill>
                      <a:latin typeface="Arial" pitchFamily="34" charset="0"/>
                      <a:cs typeface="Arial" panose="020B0604020202020204" pitchFamily="34" charset="0"/>
                    </a:rPr>
                    <a:t> as a platform for development </a:t>
                  </a:r>
                </a:p>
                <a:p>
                  <a:pPr marL="285750" indent="-285750">
                    <a:spcAft>
                      <a:spcPts val="800"/>
                    </a:spcAft>
                    <a:buBlip>
                      <a:blip r:embed="rId2"/>
                    </a:buBlip>
                  </a:pPr>
                  <a:r>
                    <a:rPr lang="en-US" sz="1400" spc="-10" dirty="0">
                      <a:solidFill>
                        <a:srgbClr val="1D1D1D"/>
                      </a:solidFill>
                      <a:latin typeface="Arial" pitchFamily="34" charset="0"/>
                      <a:cs typeface="Arial" panose="020B0604020202020204" pitchFamily="34" charset="0"/>
                    </a:rPr>
                    <a:t>New Enterprise Forum to </a:t>
                  </a:r>
                  <a:r>
                    <a:rPr lang="en-US" sz="1400" b="1" spc="-10" dirty="0">
                      <a:solidFill>
                        <a:srgbClr val="1D1D1D"/>
                      </a:solidFill>
                      <a:latin typeface="Segoe UI" pitchFamily="34" charset="0"/>
                      <a:cs typeface="Arial" panose="020B0604020202020204" pitchFamily="34" charset="0"/>
                    </a:rPr>
                    <a:t>accelerate development </a:t>
                  </a:r>
                  <a:r>
                    <a:rPr lang="en-US" sz="1400" spc="-10" dirty="0">
                      <a:solidFill>
                        <a:srgbClr val="1D1D1D"/>
                      </a:solidFill>
                      <a:latin typeface="Arial" pitchFamily="34" charset="0"/>
                      <a:cs typeface="Arial" panose="020B0604020202020204" pitchFamily="34" charset="0"/>
                    </a:rPr>
                    <a:t>of next gen leaders</a:t>
                  </a:r>
                </a:p>
              </p:txBody>
            </p:sp>
            <p:sp>
              <p:nvSpPr>
                <p:cNvPr id="24" name="TextBox 23">
                  <a:extLst>
                    <a:ext uri="{FF2B5EF4-FFF2-40B4-BE49-F238E27FC236}">
                      <a16:creationId xmlns:a16="http://schemas.microsoft.com/office/drawing/2014/main" id="{66223AC8-F550-4F68-3DB2-5265A9F6161B}"/>
                    </a:ext>
                  </a:extLst>
                </p:cNvPr>
                <p:cNvSpPr txBox="1"/>
                <p:nvPr/>
              </p:nvSpPr>
              <p:spPr>
                <a:xfrm>
                  <a:off x="692265" y="2164090"/>
                  <a:ext cx="1849321" cy="438581"/>
                </a:xfrm>
                <a:prstGeom prst="rect">
                  <a:avLst/>
                </a:prstGeom>
                <a:noFill/>
              </p:spPr>
              <p:txBody>
                <a:bodyPr wrap="square" lIns="0" rIns="0">
                  <a:spAutoFit/>
                </a:bodyPr>
                <a:lstStyle/>
                <a:p>
                  <a:pPr algn="ctr">
                    <a:spcAft>
                      <a:spcPts val="800"/>
                    </a:spcAft>
                  </a:pPr>
                  <a:r>
                    <a:rPr lang="en-US" sz="1600" b="1" spc="-10" dirty="0">
                      <a:solidFill>
                        <a:srgbClr val="1D1D1D"/>
                      </a:solidFill>
                      <a:latin typeface="Segoe UI" pitchFamily="34" charset="0"/>
                      <a:cs typeface="Arial" panose="020B0604020202020204" pitchFamily="34" charset="0"/>
                    </a:rPr>
                    <a:t>New roles to accelerate development</a:t>
                  </a:r>
                  <a:endParaRPr lang="en-US" sz="1600" b="1" spc="-10" dirty="0">
                    <a:solidFill>
                      <a:srgbClr val="1D1D1D"/>
                    </a:solidFill>
                    <a:latin typeface="Segoe UI" pitchFamily="34" charset="0"/>
                    <a:cs typeface="Arial"/>
                  </a:endParaRPr>
                </a:p>
              </p:txBody>
            </p:sp>
            <p:sp>
              <p:nvSpPr>
                <p:cNvPr id="25" name="Oval 24">
                  <a:extLst>
                    <a:ext uri="{FF2B5EF4-FFF2-40B4-BE49-F238E27FC236}">
                      <a16:creationId xmlns:a16="http://schemas.microsoft.com/office/drawing/2014/main" id="{98C6E81C-F42A-6F17-72F3-FF24D82AD9BD}"/>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12" name="Group 11">
                <a:extLst>
                  <a:ext uri="{FF2B5EF4-FFF2-40B4-BE49-F238E27FC236}">
                    <a16:creationId xmlns:a16="http://schemas.microsoft.com/office/drawing/2014/main" id="{9A61C884-2AF5-D815-C78B-BE2BF56F3C8A}"/>
                  </a:ext>
                </a:extLst>
              </p:cNvPr>
              <p:cNvGrpSpPr/>
              <p:nvPr/>
            </p:nvGrpSpPr>
            <p:grpSpPr>
              <a:xfrm>
                <a:off x="4701044" y="957038"/>
                <a:ext cx="1849323" cy="3427142"/>
                <a:chOff x="692265" y="1100254"/>
                <a:chExt cx="1849323" cy="3427142"/>
              </a:xfrm>
            </p:grpSpPr>
            <p:sp>
              <p:nvSpPr>
                <p:cNvPr id="18" name="Rectangle: Rounded Corners 50">
                  <a:extLst>
                    <a:ext uri="{FF2B5EF4-FFF2-40B4-BE49-F238E27FC236}">
                      <a16:creationId xmlns:a16="http://schemas.microsoft.com/office/drawing/2014/main" id="{A9D94AB6-78EF-6732-ECD9-CA02BD10F5DF}"/>
                    </a:ext>
                  </a:extLst>
                </p:cNvPr>
                <p:cNvSpPr/>
                <p:nvPr/>
              </p:nvSpPr>
              <p:spPr>
                <a:xfrm>
                  <a:off x="692267" y="1100254"/>
                  <a:ext cx="1849321" cy="3427142"/>
                </a:xfrm>
                <a:prstGeom prst="roundRect">
                  <a:avLst>
                    <a:gd name="adj" fmla="val 8068"/>
                  </a:avLst>
                </a:prstGeom>
                <a:solidFill>
                  <a:srgbClr val="E8E4FD"/>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19" name="TextBox 18">
                  <a:extLst>
                    <a:ext uri="{FF2B5EF4-FFF2-40B4-BE49-F238E27FC236}">
                      <a16:creationId xmlns:a16="http://schemas.microsoft.com/office/drawing/2014/main" id="{E26C8D11-8E2C-F828-1BCA-BD9C97173F97}"/>
                    </a:ext>
                  </a:extLst>
                </p:cNvPr>
                <p:cNvSpPr txBox="1"/>
                <p:nvPr/>
              </p:nvSpPr>
              <p:spPr>
                <a:xfrm>
                  <a:off x="692267" y="2798597"/>
                  <a:ext cx="1849321" cy="1138773"/>
                </a:xfrm>
                <a:prstGeom prst="rect">
                  <a:avLst/>
                </a:prstGeom>
                <a:noFill/>
              </p:spPr>
              <p:txBody>
                <a:bodyPr wrap="square" lIns="121920" tIns="60960" rIns="121920" bIns="60960" anchor="ctr">
                  <a:spAutoFit/>
                </a:bodyPr>
                <a:lstStyle/>
                <a:p>
                  <a:pPr marL="285750" indent="-285750">
                    <a:spcAft>
                      <a:spcPts val="800"/>
                    </a:spcAft>
                    <a:buBlip>
                      <a:blip r:embed="rId2"/>
                    </a:buBlip>
                  </a:pPr>
                  <a:r>
                    <a:rPr lang="en-US" sz="1400" spc="-10" dirty="0">
                      <a:solidFill>
                        <a:srgbClr val="1D1D1D"/>
                      </a:solidFill>
                      <a:latin typeface="Arial" pitchFamily="34" charset="0"/>
                      <a:cs typeface="Arial"/>
                    </a:rPr>
                    <a:t>Actively managing </a:t>
                  </a:r>
                  <a:r>
                    <a:rPr lang="en-US" sz="1400" b="1" spc="-10" dirty="0">
                      <a:solidFill>
                        <a:srgbClr val="1D1D1D"/>
                      </a:solidFill>
                      <a:latin typeface="Segoe UI" pitchFamily="34" charset="0"/>
                      <a:cs typeface="Arial"/>
                    </a:rPr>
                    <a:t>retention risk on critical roles and talent </a:t>
                  </a:r>
                </a:p>
                <a:p>
                  <a:pPr marL="285750" indent="-285750">
                    <a:spcAft>
                      <a:spcPts val="800"/>
                    </a:spcAft>
                    <a:buBlip>
                      <a:blip r:embed="rId2"/>
                    </a:buBlip>
                  </a:pPr>
                  <a:r>
                    <a:rPr lang="en-US" sz="1400" spc="-10" dirty="0">
                      <a:solidFill>
                        <a:srgbClr val="1D1D1D"/>
                      </a:solidFill>
                      <a:latin typeface="Arial" pitchFamily="34" charset="0"/>
                      <a:cs typeface="Arial"/>
                    </a:rPr>
                    <a:t>Proactively building </a:t>
                  </a:r>
                  <a:r>
                    <a:rPr lang="en-US" sz="1400" b="1" spc="-10" dirty="0">
                      <a:solidFill>
                        <a:srgbClr val="1D1D1D"/>
                      </a:solidFill>
                      <a:latin typeface="Segoe UI" pitchFamily="34" charset="0"/>
                      <a:cs typeface="Arial"/>
                    </a:rPr>
                    <a:t>external succession pipeline</a:t>
                  </a:r>
                </a:p>
              </p:txBody>
            </p:sp>
            <p:sp>
              <p:nvSpPr>
                <p:cNvPr id="20" name="TextBox 19">
                  <a:extLst>
                    <a:ext uri="{FF2B5EF4-FFF2-40B4-BE49-F238E27FC236}">
                      <a16:creationId xmlns:a16="http://schemas.microsoft.com/office/drawing/2014/main" id="{3C8A9B5F-5EE7-FB49-52F8-AFE802281B1E}"/>
                    </a:ext>
                  </a:extLst>
                </p:cNvPr>
                <p:cNvSpPr txBox="1"/>
                <p:nvPr/>
              </p:nvSpPr>
              <p:spPr>
                <a:xfrm>
                  <a:off x="692265" y="2164090"/>
                  <a:ext cx="1849321" cy="276999"/>
                </a:xfrm>
                <a:prstGeom prst="rect">
                  <a:avLst/>
                </a:prstGeom>
                <a:noFill/>
              </p:spPr>
              <p:txBody>
                <a:bodyPr wrap="square" lIns="121920" tIns="60960" rIns="121920" bIns="60960" anchor="t">
                  <a:spAutoFit/>
                </a:bodyPr>
                <a:lstStyle/>
                <a:p>
                  <a:pPr algn="ctr">
                    <a:spcAft>
                      <a:spcPts val="800"/>
                    </a:spcAft>
                  </a:pPr>
                  <a:r>
                    <a:rPr lang="en-US" sz="1600" b="1" spc="-10" dirty="0">
                      <a:solidFill>
                        <a:srgbClr val="1D1D1D"/>
                      </a:solidFill>
                      <a:latin typeface="Segoe UI" pitchFamily="34" charset="0"/>
                      <a:cs typeface="Arial"/>
                    </a:rPr>
                    <a:t>Talent risk mitigation</a:t>
                  </a:r>
                </a:p>
              </p:txBody>
            </p:sp>
            <p:sp>
              <p:nvSpPr>
                <p:cNvPr id="21" name="Oval 20">
                  <a:extLst>
                    <a:ext uri="{FF2B5EF4-FFF2-40B4-BE49-F238E27FC236}">
                      <a16:creationId xmlns:a16="http://schemas.microsoft.com/office/drawing/2014/main" id="{75D386A2-5468-A08F-7361-861518EA8C23}"/>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13" name="Group 12">
                <a:extLst>
                  <a:ext uri="{FF2B5EF4-FFF2-40B4-BE49-F238E27FC236}">
                    <a16:creationId xmlns:a16="http://schemas.microsoft.com/office/drawing/2014/main" id="{BBDA918F-12D9-0F2C-3C53-D61A2DCC2657}"/>
                  </a:ext>
                </a:extLst>
              </p:cNvPr>
              <p:cNvGrpSpPr/>
              <p:nvPr/>
            </p:nvGrpSpPr>
            <p:grpSpPr>
              <a:xfrm>
                <a:off x="6686848" y="957038"/>
                <a:ext cx="1849323" cy="3427142"/>
                <a:chOff x="692265" y="1100254"/>
                <a:chExt cx="1849323" cy="3427142"/>
              </a:xfrm>
            </p:grpSpPr>
            <p:sp>
              <p:nvSpPr>
                <p:cNvPr id="14" name="Rectangle: Rounded Corners 46">
                  <a:extLst>
                    <a:ext uri="{FF2B5EF4-FFF2-40B4-BE49-F238E27FC236}">
                      <a16:creationId xmlns:a16="http://schemas.microsoft.com/office/drawing/2014/main" id="{F43A6B3A-6481-2E77-B5DA-1677C3BAA4E5}"/>
                    </a:ext>
                  </a:extLst>
                </p:cNvPr>
                <p:cNvSpPr/>
                <p:nvPr/>
              </p:nvSpPr>
              <p:spPr>
                <a:xfrm>
                  <a:off x="692267" y="1100254"/>
                  <a:ext cx="1849321" cy="3427142"/>
                </a:xfrm>
                <a:prstGeom prst="roundRect">
                  <a:avLst>
                    <a:gd name="adj" fmla="val 8068"/>
                  </a:avLst>
                </a:prstGeom>
                <a:solidFill>
                  <a:srgbClr val="E8E4FD"/>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15" name="TextBox 14">
                  <a:extLst>
                    <a:ext uri="{FF2B5EF4-FFF2-40B4-BE49-F238E27FC236}">
                      <a16:creationId xmlns:a16="http://schemas.microsoft.com/office/drawing/2014/main" id="{7AA75EBB-D425-68D2-4897-6351BDAC8D81}"/>
                    </a:ext>
                  </a:extLst>
                </p:cNvPr>
                <p:cNvSpPr txBox="1"/>
                <p:nvPr/>
              </p:nvSpPr>
              <p:spPr>
                <a:xfrm>
                  <a:off x="692267" y="2798597"/>
                  <a:ext cx="1849321" cy="1300356"/>
                </a:xfrm>
                <a:prstGeom prst="rect">
                  <a:avLst/>
                </a:prstGeom>
                <a:noFill/>
              </p:spPr>
              <p:txBody>
                <a:bodyPr wrap="square" lIns="121920" tIns="60960" rIns="121920" bIns="60960" anchor="ctr">
                  <a:spAutoFit/>
                </a:bodyPr>
                <a:lstStyle/>
                <a:p>
                  <a:pPr marL="285750" indent="-285750">
                    <a:spcAft>
                      <a:spcPts val="800"/>
                    </a:spcAft>
                    <a:buBlip>
                      <a:blip r:embed="rId2"/>
                    </a:buBlip>
                  </a:pPr>
                  <a:r>
                    <a:rPr lang="en-US" sz="1400" spc="-10" dirty="0">
                      <a:solidFill>
                        <a:srgbClr val="1D1D1D"/>
                      </a:solidFill>
                      <a:latin typeface="Arial" pitchFamily="34" charset="0"/>
                      <a:cs typeface="Arial"/>
                    </a:rPr>
                    <a:t>Elevating focus on </a:t>
                  </a:r>
                  <a:r>
                    <a:rPr lang="en-US" sz="1400" b="1" spc="-10" dirty="0">
                      <a:solidFill>
                        <a:srgbClr val="1D1D1D"/>
                      </a:solidFill>
                      <a:latin typeface="Segoe UI" pitchFamily="34" charset="0"/>
                      <a:cs typeface="Arial"/>
                    </a:rPr>
                    <a:t>VP and below talent pipeline</a:t>
                  </a:r>
                </a:p>
                <a:p>
                  <a:pPr marL="285750" indent="-285750">
                    <a:spcAft>
                      <a:spcPts val="800"/>
                    </a:spcAft>
                    <a:buBlip>
                      <a:blip r:embed="rId2"/>
                    </a:buBlip>
                  </a:pPr>
                  <a:r>
                    <a:rPr lang="en-US" sz="1400" spc="-10" dirty="0">
                      <a:solidFill>
                        <a:srgbClr val="1D1D1D"/>
                      </a:solidFill>
                      <a:latin typeface="Arial" pitchFamily="34" charset="0"/>
                      <a:cs typeface="Arial"/>
                    </a:rPr>
                    <a:t>Activating </a:t>
                  </a:r>
                  <a:r>
                    <a:rPr lang="en-US" sz="1400" b="1" spc="-10" dirty="0">
                      <a:solidFill>
                        <a:srgbClr val="1D1D1D"/>
                      </a:solidFill>
                      <a:latin typeface="Segoe UI" pitchFamily="34" charset="0"/>
                      <a:cs typeface="Arial"/>
                    </a:rPr>
                    <a:t>culture of continuous development </a:t>
                  </a:r>
                  <a:r>
                    <a:rPr lang="en-US" sz="1400" spc="-10" dirty="0">
                      <a:solidFill>
                        <a:srgbClr val="1D1D1D"/>
                      </a:solidFill>
                      <a:latin typeface="Arial" pitchFamily="34" charset="0"/>
                      <a:cs typeface="Arial"/>
                    </a:rPr>
                    <a:t>and intentional talent rotation</a:t>
                  </a:r>
                  <a:endParaRPr lang="en-US" sz="1400" b="1" spc="-10" dirty="0">
                    <a:solidFill>
                      <a:srgbClr val="1D1D1D"/>
                    </a:solidFill>
                    <a:latin typeface="Segoe UI" pitchFamily="34" charset="0"/>
                    <a:cs typeface="Arial"/>
                  </a:endParaRPr>
                </a:p>
              </p:txBody>
            </p:sp>
            <p:sp>
              <p:nvSpPr>
                <p:cNvPr id="16" name="TextBox 15">
                  <a:extLst>
                    <a:ext uri="{FF2B5EF4-FFF2-40B4-BE49-F238E27FC236}">
                      <a16:creationId xmlns:a16="http://schemas.microsoft.com/office/drawing/2014/main" id="{6E9BDB03-7EA4-24A0-FEA1-7F5D77EC321F}"/>
                    </a:ext>
                  </a:extLst>
                </p:cNvPr>
                <p:cNvSpPr txBox="1"/>
                <p:nvPr/>
              </p:nvSpPr>
              <p:spPr>
                <a:xfrm>
                  <a:off x="692265" y="2164090"/>
                  <a:ext cx="1849321" cy="438581"/>
                </a:xfrm>
                <a:prstGeom prst="rect">
                  <a:avLst/>
                </a:prstGeom>
                <a:noFill/>
              </p:spPr>
              <p:txBody>
                <a:bodyPr wrap="square" lIns="91440" tIns="45720" rIns="91440" bIns="45720">
                  <a:spAutoFit/>
                </a:bodyPr>
                <a:lstStyle/>
                <a:p>
                  <a:pPr algn="ctr">
                    <a:spcAft>
                      <a:spcPts val="800"/>
                    </a:spcAft>
                  </a:pPr>
                  <a:r>
                    <a:rPr lang="en-US" sz="1600" b="1" spc="-10" dirty="0">
                      <a:solidFill>
                        <a:srgbClr val="1D1D1D"/>
                      </a:solidFill>
                      <a:latin typeface="Segoe UI" pitchFamily="34" charset="0"/>
                      <a:cs typeface="Arial"/>
                    </a:rPr>
                    <a:t>Cultivate next generation</a:t>
                  </a:r>
                </a:p>
              </p:txBody>
            </p:sp>
            <p:sp>
              <p:nvSpPr>
                <p:cNvPr id="17" name="Oval 16">
                  <a:extLst>
                    <a:ext uri="{FF2B5EF4-FFF2-40B4-BE49-F238E27FC236}">
                      <a16:creationId xmlns:a16="http://schemas.microsoft.com/office/drawing/2014/main" id="{E80447F2-C52C-5470-4579-1CF7B1D1D45A}"/>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pic>
          <p:nvPicPr>
            <p:cNvPr id="6" name="Picture 5">
              <a:extLst>
                <a:ext uri="{FF2B5EF4-FFF2-40B4-BE49-F238E27FC236}">
                  <a16:creationId xmlns:a16="http://schemas.microsoft.com/office/drawing/2014/main" id="{6DB5DF03-8B70-89E4-1CE0-09F249B510E0}"/>
                </a:ext>
              </a:extLst>
            </p:cNvPr>
            <p:cNvPicPr>
              <a:picLocks noChangeAspect="1"/>
            </p:cNvPicPr>
            <p:nvPr/>
          </p:nvPicPr>
          <p:blipFill>
            <a:blip r:embed="rId3">
              <a:duotone>
                <a:srgbClr val="765FFF"/>
                <a:srgbClr val="FFFFFF"/>
              </a:duotone>
            </a:blip>
            <a:stretch>
              <a:fillRect/>
            </a:stretch>
          </p:blipFill>
          <p:spPr>
            <a:xfrm>
              <a:off x="1422417" y="1267888"/>
              <a:ext cx="536705" cy="536705"/>
            </a:xfrm>
            <a:prstGeom prst="rect">
              <a:avLst/>
            </a:prstGeom>
          </p:spPr>
        </p:pic>
        <p:pic>
          <p:nvPicPr>
            <p:cNvPr id="7" name="Picture 6">
              <a:extLst>
                <a:ext uri="{FF2B5EF4-FFF2-40B4-BE49-F238E27FC236}">
                  <a16:creationId xmlns:a16="http://schemas.microsoft.com/office/drawing/2014/main" id="{CC34CB67-0ECF-9422-2A55-DA42E4322CBE}"/>
                </a:ext>
              </a:extLst>
            </p:cNvPr>
            <p:cNvPicPr>
              <a:picLocks noChangeAspect="1"/>
            </p:cNvPicPr>
            <p:nvPr/>
          </p:nvPicPr>
          <p:blipFill>
            <a:blip r:embed="rId4">
              <a:duotone>
                <a:srgbClr val="765FFF"/>
                <a:srgbClr val="FFFFFF"/>
              </a:duotone>
            </a:blip>
            <a:stretch>
              <a:fillRect/>
            </a:stretch>
          </p:blipFill>
          <p:spPr>
            <a:xfrm>
              <a:off x="3411491" y="1302298"/>
              <a:ext cx="467887" cy="467887"/>
            </a:xfrm>
            <a:prstGeom prst="rect">
              <a:avLst/>
            </a:prstGeom>
          </p:spPr>
        </p:pic>
        <p:pic>
          <p:nvPicPr>
            <p:cNvPr id="8" name="Picture 7">
              <a:extLst>
                <a:ext uri="{FF2B5EF4-FFF2-40B4-BE49-F238E27FC236}">
                  <a16:creationId xmlns:a16="http://schemas.microsoft.com/office/drawing/2014/main" id="{FB79AB97-88FF-493C-0D5B-D2C267D30A06}"/>
                </a:ext>
              </a:extLst>
            </p:cNvPr>
            <p:cNvPicPr>
              <a:picLocks noChangeAspect="1"/>
            </p:cNvPicPr>
            <p:nvPr/>
          </p:nvPicPr>
          <p:blipFill>
            <a:blip r:embed="rId5">
              <a:duotone>
                <a:srgbClr val="765FFF"/>
                <a:srgbClr val="FFFFFF"/>
              </a:duotone>
            </a:blip>
            <a:stretch>
              <a:fillRect/>
            </a:stretch>
          </p:blipFill>
          <p:spPr>
            <a:xfrm>
              <a:off x="5326935" y="1241289"/>
              <a:ext cx="620288" cy="620288"/>
            </a:xfrm>
            <a:prstGeom prst="rect">
              <a:avLst/>
            </a:prstGeom>
          </p:spPr>
        </p:pic>
        <p:pic>
          <p:nvPicPr>
            <p:cNvPr id="9" name="Picture 8">
              <a:extLst>
                <a:ext uri="{FF2B5EF4-FFF2-40B4-BE49-F238E27FC236}">
                  <a16:creationId xmlns:a16="http://schemas.microsoft.com/office/drawing/2014/main" id="{76B256A5-F005-52C0-857C-CCE33C09513E}"/>
                </a:ext>
              </a:extLst>
            </p:cNvPr>
            <p:cNvPicPr>
              <a:picLocks noChangeAspect="1"/>
            </p:cNvPicPr>
            <p:nvPr/>
          </p:nvPicPr>
          <p:blipFill>
            <a:blip r:embed="rId6">
              <a:duotone>
                <a:srgbClr val="765FFF"/>
                <a:srgbClr val="FFFFFF"/>
              </a:duotone>
            </a:blip>
            <a:stretch>
              <a:fillRect/>
            </a:stretch>
          </p:blipFill>
          <p:spPr>
            <a:xfrm>
              <a:off x="7376642" y="1247974"/>
              <a:ext cx="508570" cy="508570"/>
            </a:xfrm>
            <a:prstGeom prst="rect">
              <a:avLst/>
            </a:prstGeom>
          </p:spPr>
        </p:pic>
      </p:grpSp>
      <p:sp>
        <p:nvSpPr>
          <p:cNvPr id="30" name="TextBox 29">
            <a:extLst>
              <a:ext uri="{FF2B5EF4-FFF2-40B4-BE49-F238E27FC236}">
                <a16:creationId xmlns:a16="http://schemas.microsoft.com/office/drawing/2014/main" id="{189A349B-2A47-DDDA-3E8E-71DA23639AC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971207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Number"/>
          <p:cNvSpPr>
            <a:spLocks noGrp="1"/>
          </p:cNvSpPr>
          <p:nvPr>
            <p:ph type="sldNum" idx="4294967295"/>
          </p:nvPr>
        </p:nvSpPr>
        <p:spPr>
          <a:xfrm>
            <a:off x="0" y="6564313"/>
            <a:ext cx="457200" cy="128587"/>
          </a:xfrm>
        </p:spPr>
        <p:txBody>
          <a:bodyPr vert="horz" wrap="square" anchor="ctr"/>
          <a:lstStyle>
            <a:lvl1pPr algn="l">
              <a:defRPr lang="en-US" sz="1000">
                <a:solidFill>
                  <a:srgbClr val="767676"/>
                </a:solidFill>
                <a:latin typeface="Arial" pitchFamily="34" charset="0"/>
              </a:defRPr>
            </a:lvl1pPr>
          </a:lstStyle>
          <a:p>
            <a:fld id="{D25243CC-43B0-49C1-85B3-9A316B7936E2}" type="slidenum">
              <a:rPr/>
              <a:t>44</a:t>
            </a:fld>
            <a:endParaRPr lang="en-US"/>
          </a:p>
        </p:txBody>
      </p:sp>
      <p:sp>
        <p:nvSpPr>
          <p:cNvPr id="9" name="Text Placeholder 8">
            <a:extLst>
              <a:ext uri="{FF2B5EF4-FFF2-40B4-BE49-F238E27FC236}">
                <a16:creationId xmlns:a16="http://schemas.microsoft.com/office/drawing/2014/main" id="{EB140477-6895-6972-EF2A-5A6FB36961CF}"/>
              </a:ext>
            </a:extLst>
          </p:cNvPr>
          <p:cNvSpPr>
            <a:spLocks noGrp="1"/>
          </p:cNvSpPr>
          <p:nvPr>
            <p:ph type="body" sz="quarter" idx="12"/>
          </p:nvPr>
        </p:nvSpPr>
        <p:spPr/>
        <p:txBody>
          <a:bodyPr/>
          <a:lstStyle/>
          <a:p>
            <a:r>
              <a:rPr lang="en-US" dirty="0"/>
              <a:t>July 2025</a:t>
            </a:r>
          </a:p>
        </p:txBody>
      </p:sp>
    </p:spTree>
    <p:extLst>
      <p:ext uri="{BB962C8B-B14F-4D97-AF65-F5344CB8AC3E}">
        <p14:creationId xmlns:p14="http://schemas.microsoft.com/office/powerpoint/2010/main" val="3700448802"/>
      </p:ext>
    </p:extLst>
  </p:cSld>
  <p:clrMapOvr>
    <a:masterClrMapping/>
  </p:clrMapOvr>
</p:sld>
</file>

<file path=ppt/theme/theme1.xml><?xml version="1.0" encoding="utf-8"?>
<a:theme xmlns:a="http://schemas.openxmlformats.org/drawingml/2006/main" name="FQ_Theme">
  <a:themeElements>
    <a:clrScheme name="FQ_Colors">
      <a:dk1>
        <a:srgbClr val="1D1D1D"/>
      </a:dk1>
      <a:lt1>
        <a:srgbClr val="FFFFFF"/>
      </a:lt1>
      <a:dk2>
        <a:srgbClr val="281A42"/>
      </a:dk2>
      <a:lt2>
        <a:srgbClr val="F2F2F2"/>
      </a:lt2>
      <a:accent1>
        <a:srgbClr val="765FFF"/>
      </a:accent1>
      <a:accent2>
        <a:srgbClr val="281A42"/>
      </a:accent2>
      <a:accent3>
        <a:srgbClr val="00C27A"/>
      </a:accent3>
      <a:accent4>
        <a:srgbClr val="60BDBC"/>
      </a:accent4>
      <a:accent5>
        <a:srgbClr val="FFB547"/>
      </a:accent5>
      <a:accent6>
        <a:srgbClr val="FF2E88"/>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ulcrumQ Default Template" id="{8DA0E5EF-F260-734E-8758-5A5D32FE6210}" vid="{6D9E437C-8548-9346-908E-F626CF510D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977117CE46874F819AA605A149CE74" ma:contentTypeVersion="12" ma:contentTypeDescription="Create a new document." ma:contentTypeScope="" ma:versionID="45f26dd0c9bf70f15440abd71d92b840">
  <xsd:schema xmlns:xsd="http://www.w3.org/2001/XMLSchema" xmlns:xs="http://www.w3.org/2001/XMLSchema" xmlns:p="http://schemas.microsoft.com/office/2006/metadata/properties" xmlns:ns2="2fcd16aa-ef5a-4633-986d-4ec0408bbcca" xmlns:ns3="c8aa3896-a966-4ba9-825f-32a687ea5083" targetNamespace="http://schemas.microsoft.com/office/2006/metadata/properties" ma:root="true" ma:fieldsID="1c4613e8b1f8df8ee1bae259cb52ed8e" ns2:_="" ns3:_="">
    <xsd:import namespace="2fcd16aa-ef5a-4633-986d-4ec0408bbcca"/>
    <xsd:import namespace="c8aa3896-a966-4ba9-825f-32a687ea50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d16aa-ef5a-4633-986d-4ec0408bb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8aa3896-a966-4ba9-825f-32a687ea508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4646341-70d0-4c7c-b8e3-f5b55222820a}" ma:internalName="TaxCatchAll" ma:showField="CatchAllData" ma:web="c8aa3896-a966-4ba9-825f-32a687ea50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8aa3896-a966-4ba9-825f-32a687ea5083" xsi:nil="true"/>
    <lcf76f155ced4ddcb4097134ff3c332f xmlns="2fcd16aa-ef5a-4633-986d-4ec0408bbcc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27A600-14D5-4F31-84D9-89CBCECFB2C0}">
  <ds:schemaRefs>
    <ds:schemaRef ds:uri="2fcd16aa-ef5a-4633-986d-4ec0408bbcca"/>
    <ds:schemaRef ds:uri="c8aa3896-a966-4ba9-825f-32a687ea50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F24D93D-416B-47E3-A45B-793DA2F16CBF}">
  <ds:schemaRefs>
    <ds:schemaRef ds:uri="http://purl.org/dc/dcmitype/"/>
    <ds:schemaRef ds:uri="http://schemas.microsoft.com/office/2006/documentManagement/types"/>
    <ds:schemaRef ds:uri="http://purl.org/dc/terms/"/>
    <ds:schemaRef ds:uri="2fcd16aa-ef5a-4633-986d-4ec0408bbcca"/>
    <ds:schemaRef ds:uri="http://www.w3.org/XML/1998/namespace"/>
    <ds:schemaRef ds:uri="c8aa3896-a966-4ba9-825f-32a687ea5083"/>
    <ds:schemaRef ds:uri="http://schemas.openxmlformats.org/package/2006/metadata/core-properties"/>
    <ds:schemaRef ds:uri="http://schemas.microsoft.com/office/2006/metadata/properties"/>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08EA190F-0918-4EB4-96A1-1C1C20B015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7283</TotalTime>
  <Words>6286</Words>
  <Application>Microsoft Macintosh PowerPoint</Application>
  <PresentationFormat>Widescreen</PresentationFormat>
  <Paragraphs>1118</Paragraphs>
  <Slides>44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Aptos</vt:lpstr>
      <vt:lpstr>Arial</vt:lpstr>
      <vt:lpstr>Calibri</vt:lpstr>
      <vt:lpstr>Lato</vt:lpstr>
      <vt:lpstr>Lato Black</vt:lpstr>
      <vt:lpstr>Roboto</vt:lpstr>
      <vt:lpstr>Segoe UI</vt:lpstr>
      <vt:lpstr>Wingdings</vt:lpstr>
      <vt:lpstr>FQ_Theme</vt:lpstr>
      <vt:lpstr>Talent to Value Showcase</vt:lpstr>
      <vt:lpstr>Our Clients</vt:lpstr>
      <vt:lpstr>CEO-led Transformation</vt:lpstr>
      <vt:lpstr>Talent to Value</vt:lpstr>
      <vt:lpstr>FulcrumQ Talent to Value IP</vt:lpstr>
      <vt:lpstr>Talent to Value</vt:lpstr>
      <vt:lpstr>Strengthen Operating Model</vt:lpstr>
      <vt:lpstr>Strengthening the Op Model</vt:lpstr>
      <vt:lpstr>Strengthening the Op Model</vt:lpstr>
      <vt:lpstr>Strengthening the Op Model</vt:lpstr>
      <vt:lpstr>CXO Enablement</vt:lpstr>
      <vt:lpstr>4 Pillars Essential for CXO Success</vt:lpstr>
      <vt:lpstr>Going green &amp; global</vt:lpstr>
      <vt:lpstr>CXO Value Ambition</vt:lpstr>
      <vt:lpstr>CXO Value Forecast</vt:lpstr>
      <vt:lpstr>CXO Value Forecast </vt:lpstr>
      <vt:lpstr>Hogan Assessment Summary</vt:lpstr>
      <vt:lpstr>The 4 Pillars Essential for CXO Success: Summary</vt:lpstr>
      <vt:lpstr>CXO Enabling Success Plan</vt:lpstr>
      <vt:lpstr>PE / Due Diligence</vt:lpstr>
      <vt:lpstr>Talent to Value across the Deal Lifecycle</vt:lpstr>
      <vt:lpstr>Pre-Deal Diligence</vt:lpstr>
      <vt:lpstr>Pre-Deal Diligence Case Study</vt:lpstr>
      <vt:lpstr>Pre-deal Diligence Output: Readout Summary</vt:lpstr>
      <vt:lpstr>Rapid TALENT2VALUE @ BU / Market / Func</vt:lpstr>
      <vt:lpstr>Rapid TALENT2VALUE</vt:lpstr>
      <vt:lpstr>Strategic Pivots  Value Hotspots  Work Headlines</vt:lpstr>
      <vt:lpstr>Critical Roles and Risks @ Value Hotspots</vt:lpstr>
      <vt:lpstr>Value Ranked List of Critical Roles</vt:lpstr>
      <vt:lpstr>Human Capital Balance Sheet</vt:lpstr>
      <vt:lpstr>HR Strategy to Value</vt:lpstr>
      <vt:lpstr>Talent to Value HR strategy</vt:lpstr>
      <vt:lpstr>HR Strategy Connected to Business Value</vt:lpstr>
      <vt:lpstr>HR Strategy Data Driven Human Capital Insights</vt:lpstr>
      <vt:lpstr>HR Strategy Bringing IT Together</vt:lpstr>
      <vt:lpstr>HR Strategy HR Jobs to Be Done</vt:lpstr>
      <vt:lpstr>HR Strategy Getting Started</vt:lpstr>
      <vt:lpstr>Succession Planning</vt:lpstr>
      <vt:lpstr>Succession Planning  Succession Readiness</vt:lpstr>
      <vt:lpstr>Create ExCo Role Profiles | Define Future Jobs To Be Done </vt:lpstr>
      <vt:lpstr>Identify &amp; Assess Succession Candidates Future JTBDs</vt:lpstr>
      <vt:lpstr>Activate Meaningful Development Plans and Manage Talent Risks</vt:lpstr>
      <vt:lpstr>Mobilization Plan to Cultivate Succession Pipeline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Mitul Brahmbhatt</dc:creator>
  <cp:lastModifiedBy>Zoe Ervolino</cp:lastModifiedBy>
  <cp:revision>12</cp:revision>
  <dcterms:created xsi:type="dcterms:W3CDTF">2025-02-21T14:23:01Z</dcterms:created>
  <dcterms:modified xsi:type="dcterms:W3CDTF">2026-04-01T17:03:50Z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0x0101000F977117CE46874F819AA605A149CE74</vt:lpwstr>
  </property>
  <property fmtid="{D5CDD505-2E9C-101B-9397-08002B2CF9AE}" pid="3" name="MediaServiceImageTags">
    <vt:lpwstr/>
  </property>
</Properties>
</file>