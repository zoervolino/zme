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6"/>
  </p:notesMasterIdLst>
  <p:sldIdLst>
    <p:sldId id="2145707193" r:id="rId5"/>
  </p:sldIdLst>
  <p:sldSz cx="12192000" cy="6858000"/>
  <p:notesSz cx="12192000" cy="6858000"/>
  <p:embeddedFontLst>
    <p:embeddedFont>
      <p:font typeface="Segoe UI" panose="020B0502040204020203" pitchFamily="34" charset="0"/>
      <p:regular r:id="rId7"/>
      <p:bold r:id="rId8"/>
      <p:italic r:id="rId9"/>
      <p:boldItalic r:id="rId10"/>
    </p:embeddedFont>
  </p:embeddedFontLst>
  <p:custDataLst>
    <p:tags r:id="rId11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BA0B2F"/>
    <a:srgbClr val="008000"/>
    <a:srgbClr val="F878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37"/>
    <p:restoredTop sz="96963"/>
  </p:normalViewPr>
  <p:slideViewPr>
    <p:cSldViewPr snapToGrid="0">
      <p:cViewPr varScale="1">
        <p:scale>
          <a:sx n="117" d="100"/>
          <a:sy n="117" d="100"/>
        </p:scale>
        <p:origin x="912" y="16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361C4D-C149-4750-9DE9-4D79F619CCA5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54985-E8E0-419E-9F72-6254153D3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01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37BA394B-6FC7-BA29-9C9F-C3C5996A0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E3C99-2183-B3DE-3AAA-1A32D4AE1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tx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E3D04D9-FFC9-D3AA-13F8-C5614D78CB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1AED1153-695A-6B98-C47D-7ABC0B711F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1A7B4B7-2101-FCE7-D719-3D909068D2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70010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4652" t="14597" r="4536" b="15507"/>
          <a:stretch>
            <a:fillRect/>
          </a:stretch>
        </p:blipFill>
        <p:spPr>
          <a:xfrm>
            <a:off x="435748" y="6113928"/>
            <a:ext cx="2159000" cy="45402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65100" y="6191590"/>
            <a:ext cx="2437894" cy="36485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3ECDC62-748E-F1B0-07F3-0B62BB658E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B4E0F1-7D88-9142-CE87-C8B858F36A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652" t="14597" r="4536" b="15507"/>
          <a:stretch>
            <a:fillRect/>
          </a:stretch>
        </p:blipFill>
        <p:spPr>
          <a:xfrm>
            <a:off x="435748" y="6113928"/>
            <a:ext cx="2159000" cy="4540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F3E59F-8EB2-1215-8D63-04505CE260F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165100" y="6191590"/>
            <a:ext cx="2437894" cy="364855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826690B-C7DF-D391-1831-1C87D9DCD5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3717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Photo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B6FC9E-8B11-5EE3-6E11-7061DFCA5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tx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AC7920E-1162-2D3C-5D4A-368EDE93E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CAEBF6F5-2984-E005-E78A-9FBAEF517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D883554E-186B-D3A7-5712-0CB495E527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DDEF805-4139-818A-775A-9FE45C2467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874798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EA15675-8D93-AAAB-1CE7-1CC9B1E12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FA9E0-DC8A-A493-5950-929C39A48C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35D7D86-FBBE-7F7A-B7FF-0D7DFE0BAD46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5BAEB00A-12B2-8C80-05C3-953E8EF87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A5EE5FB5-040C-44E2-4B16-D6D63863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7B2ED7-8640-ADBE-297E-5F8489AA98B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0" name="Slide Number Placeholder 500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AAE700-338E-3D3C-13CC-2B72D122613F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7" name="Picture 6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8BC29EFF-AD40-7A30-0252-1003A1EED3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8" name="Picture 7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D319C388-6E14-ACE1-7D72-E7A13C6201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6871F42-716A-CFFF-5061-88738F8A0C2D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8569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55D8E-7C99-F04C-568A-F3D00C3F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47C13-ABA9-A848-6895-50FBF0B2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F3394-203F-9BB3-143F-1A80C14393A6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3" name="Slide Number Placeholder 503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07E56B2-1050-4901-A86F-E2774496114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6032B-B87F-A83D-7D7F-2F852CE6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F6BA9A-4A6E-2750-5A58-9D290E2DEE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1C2F86-B0B8-0A3E-5886-1D0825E8D4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C01EAF-6797-3F0F-E633-9F8C9325ED55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9F1471E-FB91-8DDF-5F1A-69B538D594D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1"/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1"/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7693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_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4E9799-634E-7736-76B4-6220A70329AF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684A767D-3F86-D687-87F0-42E5F8F82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E49A6899-080A-CB11-E001-0849EFA03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83557B-4935-7DE8-D7B5-DD3A59F0D9D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2DB32DC9-CD14-7184-963C-A86EEEA326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1" name="Slide Number Placeholder 501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7DA59B58-B945-4B36-BC6B-9C26C933A008}" type="slidenum">
              <a:rPr lang="en-US" smtClean="0"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13ABF44-7159-0310-8642-D658032AE35C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6" name="Picture 5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DA256E40-4839-A002-DAE4-E92AC3621E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7" name="Picture 6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D9790FCA-7576-E215-2F6F-5D710A40D6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89C57F-9FD2-3D9E-C745-F36B0B48A6C5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2E08C-7819-8536-BD90-D963237DC2F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3552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Dark_Sub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D88E1E-075F-16F9-E92B-5A17AA5027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4CC322-E05B-5FA0-F1FB-CE44C7DC4A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FDE916-4E68-47BE-7CCA-CE1BDDE69408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4" name="Slide Number Placeholder 504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907D951D-1967-483E-BB83-DA2FAF8BD3C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7E6407-B729-531A-E63B-931D38FA1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4657EC2-CEDF-D7F5-6742-63F0C8E338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9B128-F973-EEF6-EF03-D91D803734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6599BF-0C95-F285-041D-E211D0EBCB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996EC1-CD86-C9E1-9600-D7F536EFF6C9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797606E-5522-2270-7E8E-8B301BF4754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1"/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1"/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595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35D7D86-FBBE-7F7A-B7FF-0D7DFE0BAD46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5BAEB00A-12B2-8C80-05C3-953E8EF87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A5EE5FB5-040C-44E2-4B16-D6D63863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7B2ED7-8640-ADBE-297E-5F8489AA98B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0" name="Slide Number Placeholder 500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39D7E-847E-7ECB-B5B3-78921924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B225BBB-4B98-5FF7-84C1-7A330B9237C5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11399B78-A26E-C5D3-5977-F72D21DCEFA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6" name="Picture 5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FD13B7C0-9011-B8D4-9EEE-6C853DFAFB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EAC99F-5662-C339-9764-481B7B922392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2099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55D8E-7C99-F04C-568A-F3D00C3F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47C13-ABA9-A848-6895-50FBF0B2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F3394-203F-9BB3-143F-1A80C14393A6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3" name="Slide Number Placeholder 503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07E56B2-1050-4901-A86F-E2774496114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F95571-82E2-85D7-3B9C-56BA8B5AD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7BC436-961B-D816-84DF-1F889D5721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000C47-8281-C02D-16F9-EA7DC2C581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F91332-0918-0B47-73BF-CF5E1F4FE808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909476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577A6FE-7F15-37F5-2BCD-425A1BEB9F62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0" name="Picture 9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A7DCDAA-3778-05BB-466E-B7777E2F6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1" name="Picture 10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BA1AC551-0CBB-D6A0-1DDE-10B661503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953271-E885-522F-49C6-F0F1BBE5AEE8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2" name="Slide Number Placeholder 502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63862CC-204F-4E50-8BF7-6EEE79EB8F36}" type="slidenum">
              <a:rPr lang="en-US" smtClean="0"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016BD5-A56B-5BA3-F690-D9AFCC34CA02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F57B6DD7-1C29-5CD5-E825-1A67529410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5" name="Picture 4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EB161965-9496-DC09-2773-B4928F83CC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C0ABE36-5BB2-574A-E750-F948BA8DAE9A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266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01AD69-9691-1E32-5B19-EADB159338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889208-DB86-485A-C5EF-41C729FD14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960D57-6649-C85B-C203-A5A47F87752B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5" name="Slide Number Placeholder 505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5B5F607B-51C9-463C-B8AC-22C4474A29A3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367700-E7B8-00A1-CA00-780B430A31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FFD0E7-4FF1-D7DE-B8CF-6D3ADD3BC2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1BC7B2-6B3B-DB21-E219-33C1F3A48CF1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3999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09B0A9-4F98-C3F4-4E57-41FF83F30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4CFA25-03B5-0177-8AC1-33D467FC70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15AE0B4-EBC9-F172-55AF-5CEADF6BB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E6E9556-28FF-C72E-9775-EC041E8A50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083F48-B9B5-250C-EC88-908B62BD3AFC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4D28D-5628-0FAB-BB37-9B5095BB19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EC43E4-6A73-99D5-F9A3-E7D3D97EBF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1A58DCA-200A-6AF9-E5F0-31C116120388}"/>
              </a:ext>
            </a:extLst>
          </p:cNvPr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45047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Cryst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4915D0C-CB06-62F7-E67D-7F5B928F57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798847-E310-8470-FC39-FCD772C71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4F02A1-F26A-CCE0-8A13-B5F534431235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92799-6CFD-FC58-A1FC-8FAACB71FB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1AF492-0819-EC08-ED38-56959E5585DD}"/>
              </a:ext>
            </a:extLst>
          </p:cNvPr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320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71750F-A212-2A66-6A12-40A9211C5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CFE30-8773-227E-903F-B1430892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CAD75B8-1961-0901-7197-778645E687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0B02FF-8604-586E-FCEA-F263078773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9837DF-36CB-F9C7-2AF7-86255EDA03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200A60-B051-BEDC-E25C-CAC8A419D6D2}"/>
              </a:ext>
            </a:extLst>
          </p:cNvPr>
          <p:cNvSpPr txBox="1"/>
          <p:nvPr userDrawn="1"/>
        </p:nvSpPr>
        <p:spPr>
          <a:xfrm>
            <a:off x="432000" y="2044808"/>
            <a:ext cx="11338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chemeClr val="bg1"/>
                </a:solidFill>
              </a:rPr>
              <a:t>Thank you</a:t>
            </a:r>
            <a:endParaRPr lang="en-US" sz="66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457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_PivotPurple">
    <p:bg>
      <p:bgPr>
        <a:solidFill>
          <a:srgbClr val="755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71750F-A212-2A66-6A12-40A9211C5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CFE30-8773-227E-903F-B1430892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DCE326-F1D6-8FF0-0CFD-1F01F428AF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30B84A-CD15-A69D-7C0D-0A25B01CE3A9}"/>
              </a:ext>
            </a:extLst>
          </p:cNvPr>
          <p:cNvSpPr txBox="1"/>
          <p:nvPr userDrawn="1"/>
        </p:nvSpPr>
        <p:spPr>
          <a:xfrm>
            <a:off x="432000" y="2044808"/>
            <a:ext cx="11338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chemeClr val="bg1"/>
                </a:solidFill>
              </a:rPr>
              <a:t>Thank you</a:t>
            </a:r>
            <a:endParaRPr lang="en-US" sz="66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026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71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b="1" kern="1200"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6020202030204" pitchFamily="34" charset="0"/>
        <a:buChar char="•"/>
        <a:defRPr lang="en-US" sz="1200" b="0" kern="1200"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lang="en-US" sz="1000" b="0" kern="1200"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E7945F-90B3-E596-9D58-C7AD6E87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1875A764-3B06-454E-8ABA-2F6ED0EB58E9}" type="slidenum">
              <a:rPr lang="en-US" smtClean="0"/>
              <a:t>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8368A6-B18F-8D61-4ED9-FB036C300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Organizational Efficiency: Process &amp; Design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B3E6DE-CFE9-2730-3DF3-B88AB171A88D}"/>
              </a:ext>
            </a:extLst>
          </p:cNvPr>
          <p:cNvSpPr/>
          <p:nvPr/>
        </p:nvSpPr>
        <p:spPr>
          <a:xfrm>
            <a:off x="316556" y="1024496"/>
            <a:ext cx="11548760" cy="813695"/>
          </a:xfrm>
          <a:prstGeom prst="rect">
            <a:avLst/>
          </a:prstGeom>
          <a:solidFill>
            <a:srgbClr val="7A828D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200" b="1" spc="-25">
              <a:latin typeface="Segoe UI" pitchFamily="34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F7DC3470-46DE-B84D-C0B0-E9ADD4322465}"/>
              </a:ext>
            </a:extLst>
          </p:cNvPr>
          <p:cNvSpPr txBox="1"/>
          <p:nvPr/>
        </p:nvSpPr>
        <p:spPr>
          <a:xfrm>
            <a:off x="438749" y="1098896"/>
            <a:ext cx="11301061" cy="657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Aft>
                <a:spcPts val="600"/>
              </a:spcAft>
            </a:pPr>
            <a:r>
              <a:rPr lang="en-US" sz="1200" b="1" spc="-25" dirty="0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SAMPLE CPG COMPANY CASE: Together with the CEO and other key leaders selected for roles in the future organization, </a:t>
            </a:r>
            <a:r>
              <a:rPr lang="en-US" sz="1200" b="1" spc="-25" dirty="0" err="1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FulcrumQ</a:t>
            </a:r>
            <a:r>
              <a:rPr lang="en-US" sz="1200" b="1" spc="-25" dirty="0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guided the creation of a new operating model to drive the value ambition. By challenging status quo, ensuring strong adherence to the co-created design principles (aligned to value creation), and surfacing inconsistencies in the future design, </a:t>
            </a:r>
            <a:r>
              <a:rPr lang="en-US" sz="1200" b="1" spc="-25" dirty="0" err="1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FulcrumQ</a:t>
            </a:r>
            <a:r>
              <a:rPr lang="en-US" sz="1200" b="1" spc="-25" dirty="0">
                <a:solidFill>
                  <a:srgbClr val="F2F2F2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 helped the client create a future state plan that had high internal confidence and was board-ready.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5B41A9EC-1860-F4B6-5282-10245A0E637F}"/>
              </a:ext>
            </a:extLst>
          </p:cNvPr>
          <p:cNvSpPr/>
          <p:nvPr/>
        </p:nvSpPr>
        <p:spPr>
          <a:xfrm>
            <a:off x="5917722" y="2368782"/>
            <a:ext cx="5621136" cy="3421445"/>
          </a:xfrm>
          <a:custGeom>
            <a:avLst/>
            <a:gdLst/>
            <a:ahLst/>
            <a:cxnLst/>
            <a:rect l="l" t="t" r="r" b="b"/>
            <a:pathLst>
              <a:path w="7141209" h="4464050">
                <a:moveTo>
                  <a:pt x="7140778" y="0"/>
                </a:moveTo>
                <a:lnTo>
                  <a:pt x="0" y="0"/>
                </a:lnTo>
                <a:lnTo>
                  <a:pt x="0" y="4463999"/>
                </a:lnTo>
                <a:lnTo>
                  <a:pt x="7140778" y="4463999"/>
                </a:lnTo>
                <a:lnTo>
                  <a:pt x="7140778" y="0"/>
                </a:lnTo>
                <a:close/>
              </a:path>
            </a:pathLst>
          </a:custGeom>
          <a:solidFill>
            <a:srgbClr val="585858"/>
          </a:solidFill>
          <a:ln>
            <a:solidFill>
              <a:srgbClr val="1D1D1D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5DF086-BAB9-BBF1-6DB3-48B2DDC1C24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rcRect b="6962"/>
          <a:stretch>
            <a:fillRect/>
          </a:stretch>
        </p:blipFill>
        <p:spPr>
          <a:xfrm>
            <a:off x="6185016" y="2616009"/>
            <a:ext cx="5123619" cy="274819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1D1D1D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B2BBCA"/>
            </a:contourClr>
          </a:sp3d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6EA929B-DCE3-4B3F-2138-ED1CE2557D1D}"/>
              </a:ext>
            </a:extLst>
          </p:cNvPr>
          <p:cNvGrpSpPr/>
          <p:nvPr/>
        </p:nvGrpSpPr>
        <p:grpSpPr>
          <a:xfrm>
            <a:off x="349105" y="2161953"/>
            <a:ext cx="2263806" cy="590186"/>
            <a:chOff x="207938" y="1221596"/>
            <a:chExt cx="2263806" cy="590186"/>
          </a:xfrm>
        </p:grpSpPr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24BC8066-7343-39CC-F152-63300AF19540}"/>
                </a:ext>
              </a:extLst>
            </p:cNvPr>
            <p:cNvSpPr txBox="1"/>
            <p:nvPr/>
          </p:nvSpPr>
          <p:spPr>
            <a:xfrm>
              <a:off x="624784" y="1244960"/>
              <a:ext cx="1846960" cy="5668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41275">
                <a:lnSpc>
                  <a:spcPct val="100000"/>
                </a:lnSpc>
                <a:spcAft>
                  <a:spcPts val="1200"/>
                </a:spcAft>
              </a:pPr>
              <a:r>
                <a:rPr lang="en-US" sz="1200" b="1" spc="-25" dirty="0" err="1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FulcrumQ</a:t>
              </a:r>
              <a:r>
                <a:rPr lang="en-US" sz="1200" b="1" spc="-25" dirty="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Set Foundational Alignment with CEO</a:t>
              </a:r>
              <a:endParaRPr sz="1200" b="1" spc="-25" dirty="0">
                <a:solidFill>
                  <a:srgbClr val="1D1D1D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9FDC79B-392B-8C8E-60CD-71289B9FF559}"/>
                </a:ext>
              </a:extLst>
            </p:cNvPr>
            <p:cNvSpPr/>
            <p:nvPr/>
          </p:nvSpPr>
          <p:spPr>
            <a:xfrm>
              <a:off x="207938" y="1221596"/>
              <a:ext cx="346428" cy="334066"/>
            </a:xfrm>
            <a:prstGeom prst="ellipse">
              <a:avLst/>
            </a:prstGeom>
            <a:solidFill>
              <a:srgbClr val="281A42"/>
            </a:solidFill>
            <a:ln>
              <a:solidFill>
                <a:srgbClr val="281A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600" b="1" spc="-25" dirty="0">
                  <a:solidFill>
                    <a:srgbClr val="FFFFFF"/>
                  </a:solidFill>
                  <a:latin typeface="Segoe UI" pitchFamily="34" charset="0"/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1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B4F282-9403-8F3E-955B-BE6CE2903462}"/>
              </a:ext>
            </a:extLst>
          </p:cNvPr>
          <p:cNvGrpSpPr/>
          <p:nvPr/>
        </p:nvGrpSpPr>
        <p:grpSpPr>
          <a:xfrm>
            <a:off x="2811658" y="2161953"/>
            <a:ext cx="2263806" cy="595669"/>
            <a:chOff x="2702664" y="6075371"/>
            <a:chExt cx="2263806" cy="595669"/>
          </a:xfrm>
        </p:grpSpPr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96660A72-B472-0FD8-3680-472E8FBC968B}"/>
                </a:ext>
              </a:extLst>
            </p:cNvPr>
            <p:cNvSpPr txBox="1"/>
            <p:nvPr/>
          </p:nvSpPr>
          <p:spPr>
            <a:xfrm>
              <a:off x="3119510" y="6104218"/>
              <a:ext cx="1846960" cy="5668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41275">
                <a:lnSpc>
                  <a:spcPct val="100000"/>
                </a:lnSpc>
                <a:spcAft>
                  <a:spcPts val="1200"/>
                </a:spcAft>
              </a:pPr>
              <a:r>
                <a:rPr lang="en-US" sz="1200" b="1" spc="-10" dirty="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Executives and </a:t>
              </a:r>
              <a:r>
                <a:rPr lang="en-US" sz="1200" b="1" spc="-10" dirty="0" err="1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FulcrumQ</a:t>
              </a:r>
              <a:r>
                <a:rPr lang="en-US" sz="1200" b="1" spc="-10" dirty="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Co-Created Savings Plan</a:t>
              </a:r>
              <a:endParaRPr sz="1200" spc="-10" dirty="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0EFDC23-E976-7701-F9FB-EB0809DBA2B6}"/>
                </a:ext>
              </a:extLst>
            </p:cNvPr>
            <p:cNvSpPr/>
            <p:nvPr/>
          </p:nvSpPr>
          <p:spPr>
            <a:xfrm>
              <a:off x="2702664" y="6075371"/>
              <a:ext cx="346428" cy="334066"/>
            </a:xfrm>
            <a:prstGeom prst="ellipse">
              <a:avLst/>
            </a:prstGeom>
            <a:solidFill>
              <a:srgbClr val="281A42"/>
            </a:solidFill>
            <a:ln>
              <a:solidFill>
                <a:srgbClr val="281A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600" b="1" spc="-10" dirty="0">
                  <a:solidFill>
                    <a:srgbClr val="FFFFFF"/>
                  </a:solidFill>
                  <a:latin typeface="Arial" pitchFamily="34" charset="0"/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2</a:t>
              </a:r>
            </a:p>
          </p:txBody>
        </p:sp>
      </p:grpSp>
      <p:sp>
        <p:nvSpPr>
          <p:cNvPr id="14" name="Rounded Rectangle 88">
            <a:extLst>
              <a:ext uri="{FF2B5EF4-FFF2-40B4-BE49-F238E27FC236}">
                <a16:creationId xmlns:a16="http://schemas.microsoft.com/office/drawing/2014/main" id="{9866EDF6-C98B-3710-5D89-7B165B9B50CC}"/>
              </a:ext>
            </a:extLst>
          </p:cNvPr>
          <p:cNvSpPr/>
          <p:nvPr/>
        </p:nvSpPr>
        <p:spPr>
          <a:xfrm>
            <a:off x="399400" y="2794368"/>
            <a:ext cx="1846960" cy="2874831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lIns="25400" tIns="25400" rIns="25400" bIns="25400" anchor="ctr"/>
          <a:lstStyle/>
          <a:p>
            <a:pPr eaLnBrk="0" fontAlgn="base">
              <a:spcBef>
                <a:spcPct val="0"/>
              </a:spcBef>
              <a:spcAft>
                <a:spcPct val="0"/>
              </a:spcAft>
            </a:pPr>
            <a:endParaRPr lang="en-US" sz="1100" spc="-10">
              <a:solidFill>
                <a:srgbClr val="1D1D1D"/>
              </a:solidFill>
              <a:latin typeface="Arial" pitchFamily="34" charset="0"/>
            </a:endParaRP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0660369A-2DA2-359C-5D2A-D28BF4ED3D4F}"/>
              </a:ext>
            </a:extLst>
          </p:cNvPr>
          <p:cNvSpPr>
            <a:spLocks/>
          </p:cNvSpPr>
          <p:nvPr/>
        </p:nvSpPr>
        <p:spPr bwMode="auto">
          <a:xfrm>
            <a:off x="512247" y="3882566"/>
            <a:ext cx="1631411" cy="469747"/>
          </a:xfrm>
          <a:prstGeom prst="roundRect">
            <a:avLst>
              <a:gd name="adj" fmla="val 0"/>
            </a:avLst>
          </a:prstGeom>
          <a:solidFill>
            <a:srgbClr val="585858"/>
          </a:solidFill>
          <a:ln>
            <a:solidFill>
              <a:srgbClr val="1D1D1D"/>
            </a:solidFill>
          </a:ln>
          <a:effectLst/>
        </p:spPr>
        <p:txBody>
          <a:bodyPr lIns="25400" tIns="25400" rIns="25400" bIns="25400" anchor="ctr"/>
          <a:lstStyle/>
          <a:p>
            <a:pPr algn="ctr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</a:defRPr>
            </a:pPr>
            <a:r>
              <a:rPr lang="en-US" altLang="x-none" sz="900" spc="-10" dirty="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 charset="0"/>
              </a:rPr>
              <a:t>1-on-1 meetings with divisional and functional leaders </a:t>
            </a:r>
            <a:endParaRPr lang="x-none" altLang="x-none" sz="900" spc="-10" dirty="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Helvetica Light" charset="0"/>
            </a:endParaRPr>
          </a:p>
        </p:txBody>
      </p:sp>
      <p:sp>
        <p:nvSpPr>
          <p:cNvPr id="16" name="AutoShape 3">
            <a:extLst>
              <a:ext uri="{FF2B5EF4-FFF2-40B4-BE49-F238E27FC236}">
                <a16:creationId xmlns:a16="http://schemas.microsoft.com/office/drawing/2014/main" id="{6870A90B-E412-9B7E-0AD1-A86274FD3117}"/>
              </a:ext>
            </a:extLst>
          </p:cNvPr>
          <p:cNvSpPr>
            <a:spLocks/>
          </p:cNvSpPr>
          <p:nvPr/>
        </p:nvSpPr>
        <p:spPr bwMode="auto">
          <a:xfrm>
            <a:off x="520514" y="4883224"/>
            <a:ext cx="1631411" cy="732370"/>
          </a:xfrm>
          <a:prstGeom prst="roundRect">
            <a:avLst>
              <a:gd name="adj" fmla="val 0"/>
            </a:avLst>
          </a:prstGeom>
          <a:solidFill>
            <a:srgbClr val="585858"/>
          </a:solidFill>
          <a:ln>
            <a:solidFill>
              <a:srgbClr val="1D1D1D"/>
            </a:solidFill>
          </a:ln>
          <a:effectLst/>
        </p:spPr>
        <p:txBody>
          <a:bodyPr lIns="25400" tIns="25400" rIns="25400" bIns="25400" anchor="ctr"/>
          <a:lstStyle/>
          <a:p>
            <a:pPr algn="ctr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</a:defRPr>
            </a:pPr>
            <a:r>
              <a:rPr lang="en-US" altLang="x-none" sz="900" b="1" spc="-10" dirty="0">
                <a:solidFill>
                  <a:srgbClr val="FFF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 charset="0"/>
              </a:rPr>
              <a:t>ALIGNMENT:</a:t>
            </a:r>
          </a:p>
          <a:p>
            <a:pPr algn="ctr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</a:defRPr>
            </a:pPr>
            <a:r>
              <a:rPr lang="en-US" altLang="x-none" sz="900" spc="-10" dirty="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 charset="0"/>
              </a:rPr>
              <a:t>Value Agenda</a:t>
            </a:r>
          </a:p>
          <a:p>
            <a:pPr algn="ctr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</a:defRPr>
            </a:pPr>
            <a:r>
              <a:rPr lang="en-US" altLang="x-none" sz="900" spc="-10" dirty="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 charset="0"/>
              </a:rPr>
              <a:t>Design Principles</a:t>
            </a:r>
            <a:endParaRPr lang="x-none" altLang="x-none" sz="900" spc="-10" dirty="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Helvetica Light" charset="0"/>
            </a:endParaRPr>
          </a:p>
        </p:txBody>
      </p:sp>
      <p:sp>
        <p:nvSpPr>
          <p:cNvPr id="17" name="AutoShape 3">
            <a:extLst>
              <a:ext uri="{FF2B5EF4-FFF2-40B4-BE49-F238E27FC236}">
                <a16:creationId xmlns:a16="http://schemas.microsoft.com/office/drawing/2014/main" id="{6ECEACA9-FD31-D2E6-FA77-3056FBDC8A90}"/>
              </a:ext>
            </a:extLst>
          </p:cNvPr>
          <p:cNvSpPr>
            <a:spLocks/>
          </p:cNvSpPr>
          <p:nvPr/>
        </p:nvSpPr>
        <p:spPr bwMode="auto">
          <a:xfrm>
            <a:off x="512246" y="2875999"/>
            <a:ext cx="1631411" cy="465925"/>
          </a:xfrm>
          <a:prstGeom prst="roundRect">
            <a:avLst>
              <a:gd name="adj" fmla="val 0"/>
            </a:avLst>
          </a:prstGeom>
          <a:solidFill>
            <a:srgbClr val="585858"/>
          </a:solidFill>
          <a:ln>
            <a:solidFill>
              <a:srgbClr val="1D1D1D"/>
            </a:solidFill>
          </a:ln>
          <a:effectLst/>
        </p:spPr>
        <p:txBody>
          <a:bodyPr lIns="25400" tIns="25400" rIns="25400" bIns="25400" anchor="ctr"/>
          <a:lstStyle/>
          <a:p>
            <a:pPr algn="ctr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</a:defRPr>
            </a:pPr>
            <a:r>
              <a:rPr lang="en-US" altLang="x-none" sz="900" spc="-10" dirty="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 charset="0"/>
              </a:rPr>
              <a:t>Discovery </a:t>
            </a:r>
            <a:endParaRPr lang="x-none" altLang="x-none" sz="900" spc="-10" dirty="0">
              <a:solidFill>
                <a:srgbClr val="FFFFFF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  <a:sym typeface="Helvetica Light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C71C709-35CD-786D-04D6-216475A104A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849246" y="2910093"/>
            <a:ext cx="2640378" cy="168619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1D1D1D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B2BBCA"/>
            </a:contourClr>
          </a:sp3d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E684D20F-AE0B-4349-DCE0-2EE064F803A3}"/>
              </a:ext>
            </a:extLst>
          </p:cNvPr>
          <p:cNvSpPr/>
          <p:nvPr/>
        </p:nvSpPr>
        <p:spPr>
          <a:xfrm>
            <a:off x="5744508" y="2184141"/>
            <a:ext cx="346428" cy="334066"/>
          </a:xfrm>
          <a:prstGeom prst="ellipse">
            <a:avLst/>
          </a:prstGeom>
          <a:solidFill>
            <a:srgbClr val="281A42"/>
          </a:solidFill>
          <a:ln>
            <a:solidFill>
              <a:srgbClr val="281A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spc="-10" dirty="0">
                <a:solidFill>
                  <a:srgbClr val="F2F2F2"/>
                </a:solidFill>
                <a:latin typeface="Arial" pitchFamily="34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3</a:t>
            </a:r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1C0C92DA-A4C8-AD4F-9266-C75AC295BE68}"/>
              </a:ext>
            </a:extLst>
          </p:cNvPr>
          <p:cNvSpPr/>
          <p:nvPr/>
        </p:nvSpPr>
        <p:spPr>
          <a:xfrm>
            <a:off x="606284" y="6044220"/>
            <a:ext cx="10979432" cy="377670"/>
          </a:xfrm>
          <a:custGeom>
            <a:avLst/>
            <a:gdLst/>
            <a:ahLst/>
            <a:cxnLst/>
            <a:rect l="l" t="t" r="r" b="b"/>
            <a:pathLst>
              <a:path w="7141209" h="4464050">
                <a:moveTo>
                  <a:pt x="7140778" y="0"/>
                </a:moveTo>
                <a:lnTo>
                  <a:pt x="0" y="0"/>
                </a:lnTo>
                <a:lnTo>
                  <a:pt x="0" y="4463999"/>
                </a:lnTo>
                <a:lnTo>
                  <a:pt x="7140778" y="4463999"/>
                </a:lnTo>
                <a:lnTo>
                  <a:pt x="7140778" y="0"/>
                </a:lnTo>
                <a:close/>
              </a:path>
            </a:pathLst>
          </a:cu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schemeClr val="accent6"/>
              </a:solidFill>
            </a:endParaRP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1B7025C4-77E9-4B4C-90E0-6743EBA49088}"/>
              </a:ext>
            </a:extLst>
          </p:cNvPr>
          <p:cNvSpPr txBox="1"/>
          <p:nvPr/>
        </p:nvSpPr>
        <p:spPr>
          <a:xfrm>
            <a:off x="638982" y="6107509"/>
            <a:ext cx="10979432" cy="251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/>
            <a:r>
              <a:rPr lang="en-US" sz="1400" spc="-10" dirty="0">
                <a:solidFill>
                  <a:srgbClr val="F2F2F2"/>
                </a:solidFill>
                <a:latin typeface="Arial" pitchFamily="34" charset="0"/>
                <a:ea typeface="Roboto" panose="02000000000000000000" pitchFamily="2" charset="0"/>
                <a:cs typeface="Roboto" panose="02000000000000000000" pitchFamily="2" charset="0"/>
              </a:rPr>
              <a:t>Underpinned by </a:t>
            </a:r>
            <a:r>
              <a:rPr lang="en-US" sz="1400" b="1" spc="-10" dirty="0">
                <a:solidFill>
                  <a:srgbClr val="281A42"/>
                </a:solidFill>
                <a:latin typeface="Segoe UI" pitchFamily="34" charset="0"/>
                <a:ea typeface="Roboto" panose="02000000000000000000" pitchFamily="2" charset="0"/>
                <a:cs typeface="Roboto" panose="02000000000000000000" pitchFamily="2" charset="0"/>
              </a:rPr>
              <a:t>79 Critical Roles </a:t>
            </a:r>
            <a:r>
              <a:rPr lang="en-US" sz="1400" spc="-10" dirty="0">
                <a:solidFill>
                  <a:srgbClr val="F2F2F2"/>
                </a:solidFill>
                <a:latin typeface="Arial" pitchFamily="34" charset="0"/>
                <a:ea typeface="Roboto" panose="02000000000000000000" pitchFamily="2" charset="0"/>
                <a:cs typeface="Roboto" panose="02000000000000000000" pitchFamily="2" charset="0"/>
              </a:rPr>
              <a:t>Identified &amp; Prioritized for Value protection &amp; generation</a:t>
            </a:r>
          </a:p>
        </p:txBody>
      </p:sp>
      <p:graphicFrame>
        <p:nvGraphicFramePr>
          <p:cNvPr id="22" name="Table 12">
            <a:extLst>
              <a:ext uri="{FF2B5EF4-FFF2-40B4-BE49-F238E27FC236}">
                <a16:creationId xmlns:a16="http://schemas.microsoft.com/office/drawing/2014/main" id="{8BEA2BE4-294A-8B5E-F910-3EEC0EF10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803728"/>
              </p:ext>
            </p:extLst>
          </p:nvPr>
        </p:nvGraphicFramePr>
        <p:xfrm>
          <a:off x="2700167" y="4785587"/>
          <a:ext cx="2938633" cy="62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335">
                  <a:extLst>
                    <a:ext uri="{9D8B030D-6E8A-4147-A177-3AD203B41FA5}">
                      <a16:colId xmlns:a16="http://schemas.microsoft.com/office/drawing/2014/main" val="2937467617"/>
                    </a:ext>
                  </a:extLst>
                </a:gridCol>
                <a:gridCol w="880401">
                  <a:extLst>
                    <a:ext uri="{9D8B030D-6E8A-4147-A177-3AD203B41FA5}">
                      <a16:colId xmlns:a16="http://schemas.microsoft.com/office/drawing/2014/main" val="2878937378"/>
                    </a:ext>
                  </a:extLst>
                </a:gridCol>
                <a:gridCol w="1107897">
                  <a:extLst>
                    <a:ext uri="{9D8B030D-6E8A-4147-A177-3AD203B41FA5}">
                      <a16:colId xmlns:a16="http://schemas.microsoft.com/office/drawing/2014/main" val="3665562736"/>
                    </a:ext>
                  </a:extLst>
                </a:gridCol>
              </a:tblGrid>
              <a:tr h="264218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Current (#)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Future (#)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</a:rPr>
                        <a:t>Reduction (%)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079664"/>
                  </a:ext>
                </a:extLst>
              </a:tr>
              <a:tr h="345236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1D1D1D"/>
                          </a:solidFill>
                        </a:rPr>
                        <a:t>9250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1D1D1D"/>
                          </a:solidFill>
                        </a:rPr>
                        <a:t>7775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1D1D1D"/>
                          </a:solidFill>
                        </a:rPr>
                        <a:t>16%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rgbClr val="1D1D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695480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A476159C-EB55-FF20-D454-9157CFCCE90C}"/>
              </a:ext>
            </a:extLst>
          </p:cNvPr>
          <p:cNvSpPr txBox="1"/>
          <p:nvPr/>
        </p:nvSpPr>
        <p:spPr>
          <a:xfrm>
            <a:off x="2700167" y="5515553"/>
            <a:ext cx="2857015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6"/>
                </a:solidFill>
              </a:rPr>
              <a:t>$236M in Potential Savings</a:t>
            </a:r>
          </a:p>
        </p:txBody>
      </p:sp>
    </p:spTree>
    <p:extLst>
      <p:ext uri="{BB962C8B-B14F-4D97-AF65-F5344CB8AC3E}">
        <p14:creationId xmlns:p14="http://schemas.microsoft.com/office/powerpoint/2010/main" val="3776575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FQ_Theme">
  <a:themeElements>
    <a:clrScheme name="FQ_Colors">
      <a:dk1>
        <a:srgbClr val="1D1D1D"/>
      </a:dk1>
      <a:lt1>
        <a:srgbClr val="FFFFFF"/>
      </a:lt1>
      <a:dk2>
        <a:srgbClr val="281A42"/>
      </a:dk2>
      <a:lt2>
        <a:srgbClr val="F2F2F2"/>
      </a:lt2>
      <a:accent1>
        <a:srgbClr val="765FFF"/>
      </a:accent1>
      <a:accent2>
        <a:srgbClr val="281A42"/>
      </a:accent2>
      <a:accent3>
        <a:srgbClr val="00C27A"/>
      </a:accent3>
      <a:accent4>
        <a:srgbClr val="60BDBC"/>
      </a:accent4>
      <a:accent5>
        <a:srgbClr val="FFB547"/>
      </a:accent5>
      <a:accent6>
        <a:srgbClr val="FF2E88"/>
      </a:accent6>
      <a:hlink>
        <a:srgbClr val="765FFF"/>
      </a:hlink>
      <a:folHlink>
        <a:srgbClr val="917FFF"/>
      </a:folHlink>
    </a:clrScheme>
    <a:fontScheme name="Office Theme">
      <a:majorFont>
        <a:latin typeface="Segoe UI" pitchFamily="34" charset="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34" charset="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1D1D1D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ulcrumQ Default Template" id="{8DA0E5EF-F260-734E-8758-5A5D32FE6210}" vid="{6D9E437C-8548-9346-908E-F626CF510D9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06885110A43B41904F5A1B7606ED26" ma:contentTypeVersion="14" ma:contentTypeDescription="Create a new document." ma:contentTypeScope="" ma:versionID="054f336e8e7104333c5183aae504c221">
  <xsd:schema xmlns:xsd="http://www.w3.org/2001/XMLSchema" xmlns:xs="http://www.w3.org/2001/XMLSchema" xmlns:p="http://schemas.microsoft.com/office/2006/metadata/properties" xmlns:ns2="02a6b923-811c-4f57-8cf3-8e04f73c5f51" xmlns:ns3="64e039f4-51b5-4e2b-8eb0-5be9506eefcc" targetNamespace="http://schemas.microsoft.com/office/2006/metadata/properties" ma:root="true" ma:fieldsID="b4949caba3522dc1334578937f1765d1" ns2:_="" ns3:_="">
    <xsd:import namespace="02a6b923-811c-4f57-8cf3-8e04f73c5f51"/>
    <xsd:import namespace="64e039f4-51b5-4e2b-8eb0-5be9506eef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c89218323f0f405ca190bc6681295dd9" minOccurs="0"/>
                <xsd:element ref="ns3:TaxCatchAll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Action" minOccurs="0"/>
                <xsd:element ref="ns2:Client" minOccurs="0"/>
                <xsd:element ref="ns2:b9cb722f48604da2a4ed9855a06673f6" minOccurs="0"/>
                <xsd:element ref="ns2:Indust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a6b923-811c-4f57-8cf3-8e04f73c5f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c89218323f0f405ca190bc6681295dd9" ma:index="12" nillable="true" ma:taxonomy="true" ma:internalName="c89218323f0f405ca190bc6681295dd9" ma:taxonomyFieldName="Tags" ma:displayName="Tags" ma:default="" ma:fieldId="{c8921832-3f0f-405c-a190-bc6681295dd9}" ma:sspId="ce777b1b-314e-4559-8ee3-bc85f5a6b9bc" ma:termSetId="8bd020a8-cf4e-4aeb-95f5-a7346536cc6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ction" ma:index="17" nillable="true" ma:displayName="Product Lines" ma:format="Dropdown" ma:internalName="Action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Talent to Value"/>
                    <xsd:enumeration value="Assessments"/>
                    <xsd:enumeration value="Talent as a Service"/>
                    <xsd:enumeration value="Capability"/>
                    <xsd:enumeration value="Digital / SaaS"/>
                    <xsd:enumeration value="Test999"/>
                  </xsd:restriction>
                </xsd:simpleType>
              </xsd:element>
            </xsd:sequence>
          </xsd:extension>
        </xsd:complexContent>
      </xsd:complexType>
    </xsd:element>
    <xsd:element name="Client" ma:index="18" nillable="true" ma:displayName="Client" ma:format="Dropdown" ma:internalName="Client">
      <xsd:simpleType>
        <xsd:restriction base="dms:Text">
          <xsd:maxLength value="255"/>
        </xsd:restriction>
      </xsd:simpleType>
    </xsd:element>
    <xsd:element name="b9cb722f48604da2a4ed9855a06673f6" ma:index="20" nillable="true" ma:taxonomy="true" ma:internalName="b9cb722f48604da2a4ed9855a06673f6" ma:taxonomyFieldName="Tag_x0020_2" ma:displayName="Tag 2" ma:default="" ma:fieldId="{b9cb722f-4860-4da2-a4ed-9855a06673f6}" ma:taxonomyMulti="true" ma:sspId="ce777b1b-314e-4559-8ee3-bc85f5a6b9bc" ma:termSetId="88ca64d9-6aee-45e8-bacb-3a7ce8712e73" ma:anchorId="916e8b57-5cee-41aa-99ea-899a090aac89" ma:open="false" ma:isKeyword="false">
      <xsd:complexType>
        <xsd:sequence>
          <xsd:element ref="pc:Terms" minOccurs="0" maxOccurs="1"/>
        </xsd:sequence>
      </xsd:complexType>
    </xsd:element>
    <xsd:element name="Industry" ma:index="21" nillable="true" ma:displayName="Industry" ma:format="Dropdown" ma:internalName="Industry">
      <xsd:simpleType>
        <xsd:restriction base="dms:Choice">
          <xsd:enumeration value="Energy"/>
          <xsd:enumeration value="Industricals"/>
          <xsd:enumeration value="CPG"/>
          <xsd:enumeration value="Financial Services"/>
          <xsd:enumeration value="Health Care"/>
          <xsd:enumeration value="Pharma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e039f4-51b5-4e2b-8eb0-5be9506eefcc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b7dcb756-3dce-4c71-8438-c93d66de9381}" ma:internalName="TaxCatchAll" ma:showField="CatchAllData" ma:web="64e039f4-51b5-4e2b-8eb0-5be9506eef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e039f4-51b5-4e2b-8eb0-5be9506eefcc">
      <Value>92</Value>
    </TaxCatchAll>
    <c89218323f0f405ca190bc6681295dd9 xmlns="02a6b923-811c-4f57-8cf3-8e04f73c5f51">
      <Terms xmlns="http://schemas.microsoft.com/office/infopath/2007/PartnerControls">
        <TermInfo xmlns="http://schemas.microsoft.com/office/infopath/2007/PartnerControls">
          <TermName xmlns="http://schemas.microsoft.com/office/infopath/2007/PartnerControls">Safe to Share</TermName>
          <TermId xmlns="http://schemas.microsoft.com/office/infopath/2007/PartnerControls">4a306f7e-8181-4f1b-81ea-83f49b41c2cf</TermId>
        </TermInfo>
      </Terms>
    </c89218323f0f405ca190bc6681295dd9>
    <Action xmlns="02a6b923-811c-4f57-8cf3-8e04f73c5f51" xsi:nil="true"/>
    <Client xmlns="02a6b923-811c-4f57-8cf3-8e04f73c5f51" xsi:nil="true"/>
    <b9cb722f48604da2a4ed9855a06673f6 xmlns="02a6b923-811c-4f57-8cf3-8e04f73c5f51">
      <Terms xmlns="http://schemas.microsoft.com/office/infopath/2007/PartnerControls"/>
    </b9cb722f48604da2a4ed9855a06673f6>
    <Industry xmlns="02a6b923-811c-4f57-8cf3-8e04f73c5f51" xsi:nil="true"/>
  </documentManagement>
</p:properties>
</file>

<file path=customXml/itemProps1.xml><?xml version="1.0" encoding="utf-8"?>
<ds:datastoreItem xmlns:ds="http://schemas.openxmlformats.org/officeDocument/2006/customXml" ds:itemID="{95F6F8D7-41F3-4844-92DA-D2689CCC83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a6b923-811c-4f57-8cf3-8e04f73c5f51"/>
    <ds:schemaRef ds:uri="64e039f4-51b5-4e2b-8eb0-5be9506eef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F542ACF-65CC-4C7D-875C-E1973B8D72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CE5378-904A-43F8-AD5C-BD818EB87329}">
  <ds:schemaRefs>
    <ds:schemaRef ds:uri="http://purl.org/dc/elements/1.1/"/>
    <ds:schemaRef ds:uri="http://purl.org/dc/dcmitype/"/>
    <ds:schemaRef ds:uri="http://www.w3.org/XML/1998/namespace"/>
    <ds:schemaRef ds:uri="18f74f48-1418-4e28-b83e-919d446c4d52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2f5fc2af-da31-4fdd-bfe9-7f4a7c4af24a"/>
    <ds:schemaRef ds:uri="http://schemas.microsoft.com/office/2006/documentManagement/types"/>
    <ds:schemaRef ds:uri="http://purl.org/dc/terms/"/>
    <ds:schemaRef ds:uri="64e039f4-51b5-4e2b-8eb0-5be9506eefcc"/>
    <ds:schemaRef ds:uri="02a6b923-811c-4f57-8cf3-8e04f73c5f5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2924</TotalTime>
  <Words>145</Words>
  <Application>Microsoft Macintosh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Aptos</vt:lpstr>
      <vt:lpstr>Segoe UI</vt:lpstr>
      <vt:lpstr>FQ_Theme</vt:lpstr>
      <vt:lpstr>Organizational Efficiency: Process &amp;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CEO.works</dc:creator>
  <cp:lastModifiedBy>Zoe Ervolino</cp:lastModifiedBy>
  <cp:revision>29</cp:revision>
  <dcterms:created xsi:type="dcterms:W3CDTF">2022-06-17T16:06:13Z</dcterms:created>
  <dcterms:modified xsi:type="dcterms:W3CDTF">2026-04-01T17:40:34Z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2022-06-05T00:00:00Z</vt:filetime>
  </property>
  <property fmtid="{D5CDD505-2E9C-101B-9397-08002B2CF9AE}" pid="3" name="Creator">
    <vt:lpwstr>Acrobat PDFMaker 22 for PowerPoint</vt:lpwstr>
  </property>
  <property fmtid="{D5CDD505-2E9C-101B-9397-08002B2CF9AE}" pid="4" name="LastSaved">
    <vt:filetime>2022-06-17T00:00:00Z</vt:filetime>
  </property>
  <property fmtid="{D5CDD505-2E9C-101B-9397-08002B2CF9AE}" pid="5" name="ContentTypeId">
    <vt:lpwstr>0x0101003306885110A43B41904F5A1B7606ED26</vt:lpwstr>
  </property>
  <property fmtid="{D5CDD505-2E9C-101B-9397-08002B2CF9AE}" pid="6" name="MediaServiceImageTags">
    <vt:lpwstr/>
  </property>
  <property fmtid="{D5CDD505-2E9C-101B-9397-08002B2CF9AE}" pid="7" name="Tags">
    <vt:lpwstr>92;#Safe to Share|4a306f7e-8181-4f1b-81ea-83f49b41c2cf</vt:lpwstr>
  </property>
  <property fmtid="{D5CDD505-2E9C-101B-9397-08002B2CF9AE}" pid="8" name="Tag_x0020_2">
    <vt:lpwstr/>
  </property>
  <property fmtid="{D5CDD505-2E9C-101B-9397-08002B2CF9AE}" pid="9" name="Tag 2">
    <vt:lpwstr/>
  </property>
</Properties>
</file>