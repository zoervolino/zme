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105_3110C1A4.xml" ContentType="application/vnd.ms-powerpoint.comments+xml"/>
  <Override PartName="/ppt/notesSlides/notesSlide5.xml" ContentType="application/vnd.openxmlformats-officedocument.presentationml.notesSlide+xml"/>
  <Override PartName="/ppt/comments/modernComment_104_774A9F7F.xml" ContentType="application/vnd.ms-powerpoint.comments+xml"/>
  <Override PartName="/ppt/notesSlides/notesSlide6.xml" ContentType="application/vnd.openxmlformats-officedocument.presentationml.notesSlide+xml"/>
  <Override PartName="/ppt/comments/modernComment_101_96CCBD15.xml" ContentType="application/vnd.ms-powerpoint.comments+xml"/>
  <Override PartName="/ppt/notesSlides/notesSlide7.xml" ContentType="application/vnd.openxmlformats-officedocument.presentationml.notesSlide+xml"/>
  <Override PartName="/ppt/comments/modernComment_116_F05C3FA9.xml" ContentType="application/vnd.ms-powerpoint.comments+xml"/>
  <Override PartName="/ppt/notesSlides/notesSlide8.xml" ContentType="application/vnd.openxmlformats-officedocument.presentationml.notesSlide+xml"/>
  <Override PartName="/ppt/comments/modernComment_10F_1D9B2223.xml" ContentType="application/vnd.ms-powerpoint.comments+xml"/>
  <Override PartName="/ppt/notesSlides/notesSlide9.xml" ContentType="application/vnd.openxmlformats-officedocument.presentationml.notesSlide+xml"/>
  <Override PartName="/ppt/comments/modernComment_7FFFFFCE_E2B15C94.xml" ContentType="application/vnd.ms-powerpoint.comments+xml"/>
  <Override PartName="/ppt/notesSlides/notesSlide10.xml" ContentType="application/vnd.openxmlformats-officedocument.presentationml.notesSlide+xml"/>
  <Override PartName="/ppt/comments/modernComment_7FFFFFCF_E15A4C6.xml" ContentType="application/vnd.ms-powerpoint.comments+xml"/>
  <Override PartName="/ppt/notesSlides/notesSlide11.xml" ContentType="application/vnd.openxmlformats-officedocument.presentationml.notesSlide+xml"/>
  <Override PartName="/ppt/comments/modernComment_12D_E0095D58.xml" ContentType="application/vnd.ms-powerpoint.comments+xml"/>
  <Override PartName="/ppt/notesSlides/notesSlide12.xml" ContentType="application/vnd.openxmlformats-officedocument.presentationml.notesSlide+xml"/>
  <Override PartName="/ppt/comments/modernComment_7FFFFFD0_1208D47E.xml" ContentType="application/vnd.ms-powerpoint.comments+xml"/>
  <Override PartName="/ppt/notesSlides/notesSlide13.xml" ContentType="application/vnd.openxmlformats-officedocument.presentationml.notesSlide+xml"/>
  <Override PartName="/ppt/comments/modernComment_107_A0C1CD6F.xml" ContentType="application/vnd.ms-powerpoint.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omments/modernComment_13A_30C8F6F7.xml" ContentType="application/vnd.ms-powerpoint.comment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omments/modernComment_122_B235B4C6.xml" ContentType="application/vnd.ms-powerpoint.comments+xml"/>
  <Override PartName="/ppt/notesSlides/notesSlide18.xml" ContentType="application/vnd.openxmlformats-officedocument.presentationml.notesSlide+xml"/>
  <Override PartName="/ppt/comments/modernComment_7FE4E4C3_762C651F.xml" ContentType="application/vnd.ms-powerpoint.comments+xml"/>
  <Override PartName="/ppt/notesSlides/notesSlide19.xml" ContentType="application/vnd.openxmlformats-officedocument.presentationml.notesSlide+xml"/>
  <Override PartName="/ppt/comments/modernComment_114_D4C82F17.xml" ContentType="application/vnd.ms-powerpoint.comments+xml"/>
  <Override PartName="/ppt/notesSlides/notesSlide20.xml" ContentType="application/vnd.openxmlformats-officedocument.presentationml.notesSlide+xml"/>
  <Override PartName="/ppt/comments/modernComment_108_5B16CBB2.xml" ContentType="application/vnd.ms-powerpoint.comments+xml"/>
  <Override PartName="/ppt/notesSlides/notesSlide21.xml" ContentType="application/vnd.openxmlformats-officedocument.presentationml.notesSlide+xml"/>
  <Override PartName="/ppt/comments/modernComment_117_87235414.xml" ContentType="application/vnd.ms-powerpoint.comments+xml"/>
  <Override PartName="/ppt/notesSlides/notesSlide22.xml" ContentType="application/vnd.openxmlformats-officedocument.presentationml.notesSlide+xml"/>
  <Override PartName="/ppt/comments/modernComment_137_80EF9951.xml" ContentType="application/vnd.ms-powerpoint.comment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omments/modernComment_100_37935309.xml" ContentType="application/vnd.ms-powerpoint.comments+xml"/>
  <Override PartName="/ppt/notesSlides/notesSlide26.xml" ContentType="application/vnd.openxmlformats-officedocument.presentationml.notesSlide+xml"/>
  <Override PartName="/ppt/comments/modernComment_132_6F90B60F.xml" ContentType="application/vnd.ms-powerpoint.comments+xml"/>
  <Override PartName="/ppt/notesSlides/notesSlide27.xml" ContentType="application/vnd.openxmlformats-officedocument.presentationml.notesSlide+xml"/>
  <Override PartName="/ppt/comments/modernComment_13E_52FC25D5.xml" ContentType="application/vnd.ms-powerpoint.comments+xml"/>
  <Override PartName="/ppt/comments/modernComment_14B_791CC526.xml" ContentType="application/vnd.ms-powerpoint.comments+xml"/>
  <Override PartName="/ppt/comments/modernComment_124_A5CC3003.xml" ContentType="application/vnd.ms-powerpoint.comments+xml"/>
  <Override PartName="/ppt/notesSlides/notesSlide28.xml" ContentType="application/vnd.openxmlformats-officedocument.presentationml.notesSlide+xml"/>
  <Override PartName="/ppt/comments/modernComment_14A_230567D8.xml" ContentType="application/vnd.ms-powerpoint.comments+xml"/>
  <Override PartName="/ppt/notesSlides/notesSlide29.xml" ContentType="application/vnd.openxmlformats-officedocument.presentationml.notesSlide+xml"/>
  <Override PartName="/ppt/comments/modernComment_109_27844BE4.xml" ContentType="application/vnd.ms-powerpoint.comments+xml"/>
  <Override PartName="/ppt/notesSlides/notesSlide30.xml" ContentType="application/vnd.openxmlformats-officedocument.presentationml.notesSlide+xml"/>
  <Override PartName="/ppt/comments/modernComment_102_5A76B57.xml" ContentType="application/vnd.ms-powerpoint.comments+xml"/>
  <Override PartName="/ppt/notesSlides/notesSlide31.xml" ContentType="application/vnd.openxmlformats-officedocument.presentationml.notesSlide+xml"/>
  <Override PartName="/ppt/comments/modernComment_130_F1591830.xml" ContentType="application/vnd.ms-powerpoint.comments+xml"/>
  <Override PartName="/ppt/notesSlides/notesSlide32.xml" ContentType="application/vnd.openxmlformats-officedocument.presentationml.notesSlide+xml"/>
  <Override PartName="/ppt/comments/modernComment_13C_294C0C78.xml" ContentType="application/vnd.ms-powerpoint.comments+xml"/>
  <Override PartName="/ppt/notesSlides/notesSlide33.xml" ContentType="application/vnd.openxmlformats-officedocument.presentationml.notesSlide+xml"/>
  <Override PartName="/ppt/comments/modernComment_129_98BF1127.xml" ContentType="application/vnd.ms-powerpoint.comments+xml"/>
  <Override PartName="/ppt/notesSlides/notesSlide34.xml" ContentType="application/vnd.openxmlformats-officedocument.presentationml.notesSlide+xml"/>
  <Override PartName="/ppt/comments/modernComment_103_D9A77D7F.xml" ContentType="application/vnd.ms-powerpoint.comments+xml"/>
  <Override PartName="/ppt/notesSlides/notesSlide35.xml" ContentType="application/vnd.openxmlformats-officedocument.presentationml.notesSlide+xml"/>
  <Override PartName="/ppt/comments/modernComment_112_5B89AF64.xml" ContentType="application/vnd.ms-powerpoint.comments+xml"/>
  <Override PartName="/ppt/tags/tag1.xml" ContentType="application/vnd.openxmlformats-officedocument.presentationml.tags+xml"/>
  <Override PartName="/ppt/notesSlides/notesSlide36.xml" ContentType="application/vnd.openxmlformats-officedocument.presentationml.notesSlide+xml"/>
  <Override PartName="/ppt/comments/modernComment_484_2246442.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2.xml" ContentType="application/vnd.openxmlformats-officedocument.presentationml.tags+xml"/>
  <Override PartName="/ppt/notesSlides/notesSlide37.xml" ContentType="application/vnd.openxmlformats-officedocument.presentationml.notesSlide+xml"/>
  <Override PartName="/ppt/comments/modernComment_10A_56AEF546.xml" ContentType="application/vnd.ms-powerpoint.comments+xml"/>
  <Override PartName="/ppt/notesSlides/notesSlide38.xml" ContentType="application/vnd.openxmlformats-officedocument.presentationml.notesSlide+xml"/>
  <Override PartName="/ppt/comments/modernComment_119_335443BF.xml" ContentType="application/vnd.ms-powerpoint.comments+xml"/>
  <Override PartName="/ppt/notesSlides/notesSlide39.xml" ContentType="application/vnd.openxmlformats-officedocument.presentationml.notesSlide+xml"/>
  <Override PartName="/ppt/comments/modernComment_140_9AAB999A.xml" ContentType="application/vnd.ms-powerpoint.comments+xml"/>
  <Override PartName="/ppt/notesSlides/notesSlide40.xml" ContentType="application/vnd.openxmlformats-officedocument.presentationml.notesSlide+xml"/>
  <Override PartName="/ppt/comments/modernComment_10B_ADBA9559.xml" ContentType="application/vnd.ms-powerpoint.comments+xml"/>
  <Override PartName="/ppt/notesSlides/notesSlide41.xml" ContentType="application/vnd.openxmlformats-officedocument.presentationml.notesSlide+xml"/>
  <Override PartName="/ppt/comments/modernComment_10D_4E9BF18B.xml" ContentType="application/vnd.ms-powerpoint.comments+xml"/>
  <Override PartName="/ppt/tags/tag3.xml" ContentType="application/vnd.openxmlformats-officedocument.presentationml.tags+xml"/>
  <Override PartName="/ppt/notesSlides/notesSlide42.xml" ContentType="application/vnd.openxmlformats-officedocument.presentationml.notesSlide+xml"/>
  <Override PartName="/ppt/tags/tag4.xml" ContentType="application/vnd.openxmlformats-officedocument.presentationml.tags+xml"/>
  <Override PartName="/ppt/notesSlides/notesSlide43.xml" ContentType="application/vnd.openxmlformats-officedocument.presentationml.notesSlide+xml"/>
  <Override PartName="/ppt/comments/modernComment_131_65DEED07.xml" ContentType="application/vnd.ms-powerpoint.comments+xml"/>
  <Override PartName="/ppt/comments/modernComment_11C_47927AEA.xml" ContentType="application/vnd.ms-powerpoint.comments+xml"/>
  <Override PartName="/ppt/notesSlides/notesSlide44.xml" ContentType="application/vnd.openxmlformats-officedocument.presentationml.notesSlide+xml"/>
  <Override PartName="/ppt/comments/modernComment_7FFFFFFF_FF8C565F.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3648" r:id="rId4"/>
  </p:sldMasterIdLst>
  <p:notesMasterIdLst>
    <p:notesMasterId r:id="rId68"/>
  </p:notesMasterIdLst>
  <p:sldIdLst>
    <p:sldId id="2147483640" r:id="rId5"/>
    <p:sldId id="2147483632" r:id="rId6"/>
    <p:sldId id="2147483638" r:id="rId7"/>
    <p:sldId id="288" r:id="rId8"/>
    <p:sldId id="2147483644" r:id="rId9"/>
    <p:sldId id="261" r:id="rId10"/>
    <p:sldId id="260" r:id="rId11"/>
    <p:sldId id="257" r:id="rId12"/>
    <p:sldId id="377" r:id="rId13"/>
    <p:sldId id="278" r:id="rId14"/>
    <p:sldId id="272" r:id="rId15"/>
    <p:sldId id="271" r:id="rId16"/>
    <p:sldId id="2147483598" r:id="rId17"/>
    <p:sldId id="2147483599" r:id="rId18"/>
    <p:sldId id="301" r:id="rId19"/>
    <p:sldId id="2147483600" r:id="rId20"/>
    <p:sldId id="263" r:id="rId21"/>
    <p:sldId id="280" r:id="rId22"/>
    <p:sldId id="268" r:id="rId23"/>
    <p:sldId id="300" r:id="rId24"/>
    <p:sldId id="314" r:id="rId25"/>
    <p:sldId id="2145707219" r:id="rId26"/>
    <p:sldId id="290" r:id="rId27"/>
    <p:sldId id="2147483603" r:id="rId28"/>
    <p:sldId id="2145707203" r:id="rId29"/>
    <p:sldId id="276" r:id="rId30"/>
    <p:sldId id="264" r:id="rId31"/>
    <p:sldId id="279" r:id="rId32"/>
    <p:sldId id="277" r:id="rId33"/>
    <p:sldId id="311" r:id="rId34"/>
    <p:sldId id="326" r:id="rId35"/>
    <p:sldId id="262" r:id="rId36"/>
    <p:sldId id="273" r:id="rId37"/>
    <p:sldId id="256" r:id="rId38"/>
    <p:sldId id="306" r:id="rId39"/>
    <p:sldId id="318" r:id="rId40"/>
    <p:sldId id="331" r:id="rId41"/>
    <p:sldId id="292" r:id="rId42"/>
    <p:sldId id="294" r:id="rId43"/>
    <p:sldId id="293" r:id="rId44"/>
    <p:sldId id="295" r:id="rId45"/>
    <p:sldId id="330" r:id="rId46"/>
    <p:sldId id="265" r:id="rId47"/>
    <p:sldId id="258" r:id="rId48"/>
    <p:sldId id="304" r:id="rId49"/>
    <p:sldId id="316" r:id="rId50"/>
    <p:sldId id="297" r:id="rId51"/>
    <p:sldId id="275" r:id="rId52"/>
    <p:sldId id="259" r:id="rId53"/>
    <p:sldId id="274" r:id="rId54"/>
    <p:sldId id="1156" r:id="rId55"/>
    <p:sldId id="266" r:id="rId56"/>
    <p:sldId id="281" r:id="rId57"/>
    <p:sldId id="320" r:id="rId58"/>
    <p:sldId id="267" r:id="rId59"/>
    <p:sldId id="269" r:id="rId60"/>
    <p:sldId id="270" r:id="rId61"/>
    <p:sldId id="305" r:id="rId62"/>
    <p:sldId id="282" r:id="rId63"/>
    <p:sldId id="284" r:id="rId64"/>
    <p:sldId id="285" r:id="rId65"/>
    <p:sldId id="286" r:id="rId66"/>
    <p:sldId id="2147483647"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1 - Opening" id="{AA8E5117-A8E5-EA42-97A8-7AA19E867E1C}">
          <p14:sldIdLst>
            <p14:sldId id="2147483640"/>
            <p14:sldId id="2147483632"/>
            <p14:sldId id="2147483638"/>
            <p14:sldId id="288"/>
          </p14:sldIdLst>
        </p14:section>
        <p14:section name="Section 2 - Succession Planning Pivots" id="{9F036871-CF31-8B43-8EA8-4C05BCC8A395}">
          <p14:sldIdLst>
            <p14:sldId id="2147483644"/>
            <p14:sldId id="261"/>
            <p14:sldId id="260"/>
            <p14:sldId id="257"/>
          </p14:sldIdLst>
        </p14:section>
        <p14:section name="Section 3 - Succession Planning Overview" id="{5EC207DF-4A36-4554-8677-D98580E56719}">
          <p14:sldIdLst>
            <p14:sldId id="377"/>
            <p14:sldId id="278"/>
          </p14:sldIdLst>
        </p14:section>
        <p14:section name="Section 4 - Phase 1" id="{C6FB9006-FE49-4028-AAD4-163EA81A3272}">
          <p14:sldIdLst>
            <p14:sldId id="272"/>
            <p14:sldId id="271"/>
            <p14:sldId id="2147483598"/>
            <p14:sldId id="2147483599"/>
            <p14:sldId id="301"/>
            <p14:sldId id="2147483600"/>
            <p14:sldId id="263"/>
            <p14:sldId id="280"/>
            <p14:sldId id="268"/>
            <p14:sldId id="300"/>
            <p14:sldId id="314"/>
            <p14:sldId id="2145707219"/>
            <p14:sldId id="290"/>
            <p14:sldId id="2147483603"/>
            <p14:sldId id="2145707203"/>
            <p14:sldId id="276"/>
            <p14:sldId id="264"/>
            <p14:sldId id="279"/>
            <p14:sldId id="277"/>
            <p14:sldId id="311"/>
            <p14:sldId id="326"/>
            <p14:sldId id="262"/>
          </p14:sldIdLst>
        </p14:section>
        <p14:section name="Section 5 - Phase 2" id="{BAB20926-BB9D-BC4E-84B6-B5CD4D59D4BF}">
          <p14:sldIdLst>
            <p14:sldId id="273"/>
            <p14:sldId id="256"/>
            <p14:sldId id="306"/>
            <p14:sldId id="318"/>
            <p14:sldId id="331"/>
            <p14:sldId id="292"/>
            <p14:sldId id="294"/>
            <p14:sldId id="293"/>
            <p14:sldId id="295"/>
            <p14:sldId id="330"/>
            <p14:sldId id="265"/>
            <p14:sldId id="258"/>
            <p14:sldId id="304"/>
            <p14:sldId id="316"/>
            <p14:sldId id="297"/>
          </p14:sldIdLst>
        </p14:section>
        <p14:section name="Section 6 - Phase 3" id="{1D6CF5D0-6A47-6F41-8FFF-F232F6A2B39A}">
          <p14:sldIdLst>
            <p14:sldId id="275"/>
            <p14:sldId id="259"/>
            <p14:sldId id="274"/>
            <p14:sldId id="1156"/>
            <p14:sldId id="266"/>
            <p14:sldId id="281"/>
            <p14:sldId id="320"/>
            <p14:sldId id="267"/>
            <p14:sldId id="269"/>
            <p14:sldId id="270"/>
            <p14:sldId id="305"/>
          </p14:sldIdLst>
        </p14:section>
        <p14:section name="Section 8 - Wrap-Up" id="{C53E67AB-C447-43BD-9999-439CE51B2779}">
          <p14:sldIdLst>
            <p14:sldId id="282"/>
            <p14:sldId id="284"/>
            <p14:sldId id="285"/>
            <p14:sldId id="286"/>
          </p14:sldIdLst>
        </p14:section>
        <p14:section name="Appendix" id="{EFC5C95E-6FEE-E04C-A5A3-B7ABE68137C2}">
          <p14:sldIdLst>
            <p14:sldId id="2147483647"/>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243E05-1E47-4B24-CEC5-07CE1EB55D0E}" name="Dhaval Bhagat" initials="DB" userId="S::dhaval@ceoworks.com::487f3ff1-ee6a-4cda-9ede-0b39cd77126d" providerId="AD"/>
  <p188:author id="{78A03B09-F465-7A3C-9FB7-65502FD24C99}" name="Ming Yang" initials="MY" userId="S::ming@ceoworks.com::49d28a4d-faa4-44df-a76a-3b93b695eb67" providerId="AD"/>
  <p188:author id="{8C1ABC11-B797-681D-522A-FD231CA4246B}" name="Sean Waters" initials="SW" userId="aac63366e93d0e60" providerId="Windows Live"/>
  <p188:author id="{6F64F820-1379-D452-456D-9C65B93E65B1}" name="Steve Courington" initials="SC" userId="S::steve@ceoworks.com::de04d6d9-dadf-401b-ba80-a508ce3a350b" providerId="AD"/>
  <p188:author id="{C4595C21-3252-3ADF-1678-431F272F947A}" name="Sean Waters" initials="SW" userId="S::sean.waters@roundtablelearning.com::964490a6-5cdb-455f-a3d3-7793a9eb0e4d" providerId="AD"/>
  <p188:author id="{F57AB982-E33B-84F8-1519-36B5D2B193D8}" name="Zoe Ervolino" initials="ZE" userId="S::zoe@ceoworks.com::fb7381a2-9e4d-4eb4-8479-13fa6cf49a1f" providerId="AD"/>
  <p188:author id="{7790658E-A00C-5D70-2FD4-A6EEB6224A20}" name="Steve Courington" initials="SC" userId="S::Steve@ceoworks.com::de04d6d9-dadf-401b-ba80-a508ce3a350b" providerId="AD"/>
  <p188:author id="{7D34B4A8-B4B7-82EE-236A-7EF34514F863}" name="Guest User" initials="GU" userId="S::urn:spo:tenantanon#9b48749b-1b9b-4ffc-86a3-4ceb745754ee::" providerId="AD"/>
  <p188:author id="{9E3946C5-6EF1-1124-16E8-74CA762980E0}" name="Tim Burns" initials="TB" userId="S::tim@ceoworks.com::79fe5273-370b-40db-94f0-6fb0b344a738" providerId="AD"/>
  <p188:author id="{A3528DF5-E3F8-2906-E689-62E9D003D1CA}" name="Kaitie Conrad" initials="KC" userId="S::kaitie.conrad@roundtablelearning.com::c7fdfdbd-a50c-422b-a94d-54c2f91c877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B3B3B"/>
    <a:srgbClr val="FFB546"/>
    <a:srgbClr val="02C27A"/>
    <a:srgbClr val="60BDBC"/>
    <a:srgbClr val="C8BFFF"/>
    <a:srgbClr val="1D1D1D"/>
    <a:srgbClr val="281A42"/>
    <a:srgbClr val="D1D7DE"/>
    <a:srgbClr val="281942"/>
    <a:srgbClr val="917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449"/>
    <p:restoredTop sz="94692"/>
  </p:normalViewPr>
  <p:slideViewPr>
    <p:cSldViewPr snapToGrid="0">
      <p:cViewPr varScale="1">
        <p:scale>
          <a:sx n="96" d="100"/>
          <a:sy n="96" d="100"/>
        </p:scale>
        <p:origin x="416" y="4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theme" Target="theme/theme1.xml"/></Relationships>
</file>

<file path=ppt/comments/modernComment_7FE4E4C3_762C651F.xml><?xml version="1.0" encoding="utf-8"?>
<p188:cmLst xmlns:a="http://schemas.openxmlformats.org/drawingml/2006/main" xmlns:r="http://schemas.openxmlformats.org/officeDocument/2006/relationships" xmlns:p188="http://schemas.microsoft.com/office/powerpoint/2018/8/main">
  <p188:cm id="{EAA66221-9DA6-D540-9049-CBB932582E7E}" authorId="{78A03B09-F465-7A3C-9FB7-65502FD24C99}" status="resolved" created="2025-10-22T15:13:03.130" complete="100000">
    <pc:sldMkLst xmlns:pc="http://schemas.microsoft.com/office/powerpoint/2013/main/command">
      <pc:docMk/>
      <pc:sldMk cId="1982620959" sldId="2145707203"/>
    </pc:sldMkLst>
    <p188:replyLst>
      <p188:reply id="{2EDF0ABC-752B-E047-AC58-173447A806AC}" authorId="{78A03B09-F465-7A3C-9FB7-65502FD24C99}" created="2025-10-27T05:04:12.726">
        <p188:txBody>
          <a:bodyPr/>
          <a:lstStyle/>
          <a:p>
            <a:r>
              <a:rPr lang="en-US"/>
              <a:t>Strong improvement mindset  vs.
Continuous improvement mindset with an ability to foresee and have insights on end markets.</a:t>
            </a:r>
          </a:p>
        </p188:txBody>
      </p188:reply>
      <p188:reply id="{AAFC0953-3631-4BCB-A1D6-F7292A0F0FD7}" authorId="{8C1ABC11-B797-681D-522A-FD231CA4246B}" created="2025-11-04T16:35:26.972">
        <p188:txBody>
          <a:bodyPr/>
          <a:lstStyle/>
          <a:p>
            <a:r>
              <a:rPr lang="en-US"/>
              <a:t>updated</a:t>
            </a:r>
          </a:p>
        </p188:txBody>
      </p188:reply>
    </p188:replyLst>
    <p188:txBody>
      <a:bodyPr/>
      <a:lstStyle/>
      <a:p>
        <a:r>
          <a:rPr lang="en-US"/>
          <a:t>[CEO Works] to provide a new superpower.
Ming to find some good options from Cencora work. Better related to the JTBD example.</a:t>
        </a:r>
      </a:p>
    </p188:txBody>
  </p188:cm>
  <p188:cm id="{18D60FB1-855A-E440-834F-AEF9CEC243CA}" authorId="{78A03B09-F465-7A3C-9FB7-65502FD24C99}" status="resolved" created="2026-01-06T14:23:25.727" complete="100000">
    <pc:sldMkLst xmlns:pc="http://schemas.microsoft.com/office/powerpoint/2013/main/command">
      <pc:docMk/>
      <pc:sldMk cId="1982620959" sldId="2145707203"/>
    </pc:sldMkLst>
    <p188:txBody>
      <a:bodyPr/>
      <a:lstStyle/>
      <a:p>
        <a:r>
          <a:rPr lang="en-US"/>
          <a:t>Need to be more tangible, need to be more specific</a:t>
        </a:r>
      </a:p>
    </p188:txBody>
  </p188:cm>
</p188:cmLst>
</file>

<file path=ppt/comments/modernComment_7FFFFFCE_E2B15C94.xml><?xml version="1.0" encoding="utf-8"?>
<p188:cmLst xmlns:a="http://schemas.openxmlformats.org/drawingml/2006/main" xmlns:r="http://schemas.openxmlformats.org/officeDocument/2006/relationships" xmlns:p188="http://schemas.microsoft.com/office/powerpoint/2018/8/main">
  <p188:cm id="{AF0AE4D1-6BB4-8447-BEE6-E6913C8F4FC3}" authorId="{78A03B09-F465-7A3C-9FB7-65502FD24C99}" status="resolved" created="2025-10-22T15:00:56.279" complete="100000">
    <pc:sldMkLst xmlns:pc="http://schemas.microsoft.com/office/powerpoint/2013/main/command">
      <pc:docMk/>
      <pc:sldMk cId="3803274388" sldId="2147483598"/>
    </pc:sldMkLst>
    <p188:replyLst>
      <p188:reply id="{7185B2F7-25C9-4933-8BE8-F8D882019424}" authorId="{8C1ABC11-B797-681D-522A-FD231CA4246B}" created="2025-10-28T19:34:27.153">
        <p188:txBody>
          <a:bodyPr/>
          <a:lstStyle/>
          <a:p>
            <a:r>
              <a:rPr lang="en-US"/>
              <a:t>Additional slide looking at strategy/role pivots</a:t>
            </a:r>
          </a:p>
        </p188:txBody>
      </p188:reply>
      <p188:reply id="{E6D11B49-D40A-4DA3-A972-339D63B00787}" authorId="{8C1ABC11-B797-681D-522A-FD231CA4246B}" created="2025-10-28T19:39:50.591">
        <p188:txBody>
          <a:bodyPr/>
          <a:lstStyle/>
          <a:p>
            <a:r>
              <a:rPr lang="en-US"/>
              <a:t>US vs. global, brick &amp; mortar vs. incorporating digital</a:t>
            </a:r>
          </a:p>
        </p188:txBody>
      </p188:reply>
      <p188:reply id="{C9803558-1183-470F-BB96-04B88D180150}" authorId="{8C1ABC11-B797-681D-522A-FD231CA4246B}" created="2025-11-04T16:22:08.243">
        <p188:txBody>
          <a:bodyPr/>
          <a:lstStyle/>
          <a:p>
            <a:r>
              <a:rPr lang="en-US"/>
              <a:t>Added slide prior to this one (18)</a:t>
            </a:r>
          </a:p>
        </p188:txBody>
      </p188:reply>
    </p188:replyLst>
    <p188:txBody>
      <a:bodyPr/>
      <a:lstStyle/>
      <a:p>
        <a:r>
          <a:rPr lang="en-US"/>
          <a:t>Because we talk about "future focus" a lot...Before getting into JTBD, we need to talk about the importance of understanding the strategy, how pivots/transformation will change expectations of a role, and hence how we plan succession...
[RTL] Please help create one page that delivers this message. Does not need to be text-heavy.</a:t>
        </a:r>
      </a:p>
    </p188:txBody>
  </p188:cm>
</p188:cmLst>
</file>

<file path=ppt/comments/modernComment_7FFFFFCF_E15A4C6.xml><?xml version="1.0" encoding="utf-8"?>
<p188:cmLst xmlns:a="http://schemas.openxmlformats.org/drawingml/2006/main" xmlns:r="http://schemas.openxmlformats.org/officeDocument/2006/relationships" xmlns:p188="http://schemas.microsoft.com/office/powerpoint/2018/8/main">
  <p188:cm id="{CDF2C661-9AA5-9A47-8FC5-2529F79282F0}" authorId="{78A03B09-F465-7A3C-9FB7-65502FD24C99}" status="resolved" created="2025-10-22T14:30:28.620" complete="100000">
    <ac:txMkLst xmlns:ac="http://schemas.microsoft.com/office/drawing/2013/main/command">
      <pc:docMk xmlns:pc="http://schemas.microsoft.com/office/powerpoint/2013/main/command"/>
      <pc:sldMk xmlns:pc="http://schemas.microsoft.com/office/powerpoint/2013/main/command" cId="236299462" sldId="2147483599"/>
      <ac:spMk id="78" creationId="{1AC90A96-865C-F957-086F-2F0ADD3DB222}"/>
      <ac:txMk cp="16">
        <ac:context len="77" hash="4079669155"/>
      </ac:txMk>
    </ac:txMkLst>
    <p188:pos x="1337357" y="585831"/>
    <p188:txBody>
      <a:bodyPr/>
      <a:lstStyle/>
      <a:p>
        <a:r>
          <a:rPr lang="en-US"/>
          <a:t>We need to align on the number across the deck. Should it be 3-5 or 5-7?</a:t>
        </a:r>
      </a:p>
    </p188:txBody>
  </p188:cm>
  <p188:cm id="{10AC5000-B794-A74A-84BF-60D69959EE46}" authorId="{78A03B09-F465-7A3C-9FB7-65502FD24C99}" status="resolved" created="2025-10-22T15:02:17.124" complete="100000">
    <ac:txMkLst xmlns:ac="http://schemas.microsoft.com/office/drawing/2013/main/command">
      <pc:docMk xmlns:pc="http://schemas.microsoft.com/office/powerpoint/2013/main/command"/>
      <pc:sldMk xmlns:pc="http://schemas.microsoft.com/office/powerpoint/2013/main/command" cId="236299462" sldId="2147483599"/>
      <ac:spMk id="56" creationId="{750EC9E4-3E68-644E-0B9C-47E53CCE85FD}"/>
      <ac:txMk cp="7" len="16">
        <ac:context len="138" hash="1789269679"/>
      </ac:txMk>
    </ac:txMkLst>
    <p188:pos x="2015723" y="2110252"/>
    <p188:txBody>
      <a:bodyPr/>
      <a:lstStyle/>
      <a:p>
        <a:r>
          <a:rPr lang="en-US"/>
          <a:t>Future JOBS TO BE DONE.
And have some subtitles that highlighting "pivots"...
"Organizational goals and strategy (pivots, expansion, acquisition)
"</a:t>
        </a:r>
      </a:p>
    </p188:txBody>
  </p188:cm>
</p188:cmLst>
</file>

<file path=ppt/comments/modernComment_7FFFFFD0_1208D47E.xml><?xml version="1.0" encoding="utf-8"?>
<p188:cmLst xmlns:a="http://schemas.openxmlformats.org/drawingml/2006/main" xmlns:r="http://schemas.openxmlformats.org/officeDocument/2006/relationships" xmlns:p188="http://schemas.microsoft.com/office/powerpoint/2018/8/main">
  <p188:cm id="{CAA14A76-552F-4097-A90C-F321CDF62DCB}" authorId="{8C1ABC11-B797-681D-522A-FD231CA4246B}" status="resolved" created="2025-10-13T19:08:49.018" complete="100000">
    <pc:sldMkLst xmlns:pc="http://schemas.microsoft.com/office/powerpoint/2013/main/command">
      <pc:docMk/>
      <pc:sldMk cId="302568574" sldId="2147483600"/>
    </pc:sldMkLst>
    <p188:replyLst>
      <p188:reply id="{45929B7F-4D5C-D943-9CA2-F3F3F18CF279}" authorId="{78A03B09-F465-7A3C-9FB7-65502FD24C99}" created="2025-10-22T15:10:21.962">
        <p188:txBody>
          <a:bodyPr/>
          <a:lstStyle/>
          <a:p>
            <a:r>
              <a:rPr lang="en-US"/>
              <a:t>[Ming] Provide a high-level pivot context (from...to..) - (from de-centralized branding management to scaled, efficient, centralized mega branding strategy)</a:t>
            </a:r>
          </a:p>
        </p188:txBody>
      </p188:reply>
      <p188:reply id="{49C6C556-9081-3645-8F6B-DC1A06AD29BB}" authorId="{78A03B09-F465-7A3C-9FB7-65502FD24C99}" created="2025-10-22T21:03:21.679">
        <p188:txBody>
          <a:bodyPr/>
          <a:lstStyle/>
          <a:p>
            <a:r>
              <a:rPr lang="en-US"/>
              <a:t>Pivots need review</a:t>
            </a:r>
          </a:p>
        </p188:txBody>
      </p188:reply>
      <p188:reply id="{63685ECE-41DC-A341-9298-2490E7ECC06C}" authorId="{78A03B09-F465-7A3C-9FB7-65502FD24C99}" created="2025-11-10T20:49:51.573">
        <p188:txBody>
          <a:bodyPr/>
          <a:lstStyle/>
          <a:p>
            <a:r>
              <a:rPr lang="en-US"/>
              <a:t>reviewed</a:t>
            </a:r>
          </a:p>
        </p188:txBody>
      </p188:reply>
    </p188:replyLst>
    <p188:txBody>
      <a:bodyPr/>
      <a:lstStyle/>
      <a:p>
        <a:r>
          <a:rPr lang="en-US"/>
          <a:t>Does this example need to be adjusted to be “future-focused?”</a:t>
        </a:r>
      </a:p>
    </p188:txBody>
  </p188:cm>
</p188:cmLst>
</file>

<file path=ppt/comments/modernComment_7FFFFFFF_FF8C565F.xml><?xml version="1.0" encoding="utf-8"?>
<p188:cmLst xmlns:a="http://schemas.openxmlformats.org/drawingml/2006/main" xmlns:r="http://schemas.openxmlformats.org/officeDocument/2006/relationships" xmlns:p188="http://schemas.microsoft.com/office/powerpoint/2018/8/main">
  <p188:cm id="{1E4660D1-7841-0C4F-928B-15FE28423343}" authorId="{78A03B09-F465-7A3C-9FB7-65502FD24C99}" status="resolved" created="2026-01-12T19:59:22.895" complete="100000">
    <ac:deMkLst xmlns:ac="http://schemas.microsoft.com/office/drawing/2013/main/command">
      <pc:docMk xmlns:pc="http://schemas.microsoft.com/office/powerpoint/2013/main/command"/>
      <pc:sldMk xmlns:pc="http://schemas.microsoft.com/office/powerpoint/2013/main/command" cId="4287387231" sldId="2147483647"/>
      <ac:graphicFrameMk id="3" creationId="{639F0B30-4F76-79B3-F50B-731182EC4E6F}"/>
    </ac:deMkLst>
    <p188:replyLst>
      <p188:reply id="{B497638D-05EE-5549-A074-9FC3EBB0A553}" authorId="{78A03B09-F465-7A3C-9FB7-65502FD24C99}" created="2026-01-14T18:49:19.116">
        <p188:txBody>
          <a:bodyPr/>
          <a:lstStyle/>
          <a:p>
            <a:r>
              <a:rPr lang="en-US"/>
              <a:t>Done, please review</a:t>
            </a:r>
          </a:p>
        </p188:txBody>
      </p188:reply>
    </p188:replyLst>
    <p188:txBody>
      <a:bodyPr/>
      <a:lstStyle/>
      <a:p>
        <a:r>
          <a:rPr lang="en-US"/>
          <a:t>Need to simplify, animation with sentence-style.</a:t>
        </a:r>
      </a:p>
    </p188:txBody>
  </p188:cm>
</p188:cmLst>
</file>

<file path=ppt/comments/modernComment_10A_56AEF546.xml><?xml version="1.0" encoding="utf-8"?>
<p188:cmLst xmlns:a="http://schemas.openxmlformats.org/drawingml/2006/main" xmlns:r="http://schemas.openxmlformats.org/officeDocument/2006/relationships" xmlns:p188="http://schemas.microsoft.com/office/powerpoint/2018/8/main">
  <p188:cm id="{33DCF1AB-0DA0-E34E-A70F-1600AD6BAAC6}" authorId="{78A03B09-F465-7A3C-9FB7-65502FD24C99}" status="resolved" created="2025-11-07T17:33:03.076">
    <pc:sldMkLst xmlns:pc="http://schemas.microsoft.com/office/powerpoint/2013/main/command">
      <pc:docMk/>
      <pc:sldMk cId="691124526" sldId="305"/>
    </pc:sldMkLst>
    <p188:replyLst>
      <p188:reply id="{2BF892FC-1C35-7D4A-9396-3F981F8507D8}" authorId="{78A03B09-F465-7A3C-9FB7-65502FD24C99}" created="2025-11-13T17:02:17.002">
        <p188:txBody>
          <a:bodyPr/>
          <a:lstStyle/>
          <a:p>
            <a:r>
              <a:rPr lang="en-US"/>
              <a:t>Internal review to decide on the standard template.</a:t>
            </a:r>
          </a:p>
        </p188:txBody>
      </p188:reply>
      <p188:reply id="{D794159C-698C-7646-9218-5A6CA0CE11E1}" authorId="{78A03B09-F465-7A3C-9FB7-65502FD24C99}" created="2025-11-18T16:46:50.107">
        <p188:txBody>
          <a:bodyPr/>
          <a:lstStyle/>
          <a:p>
            <a:r>
              <a:rPr lang="en-US"/>
              <a:t>Use this template for now, re-write the content for the digital role example. _Ming to do</a:t>
            </a:r>
          </a:p>
        </p188:txBody>
      </p188:reply>
      <p188:reply id="{D573275E-EBF7-DA4C-8C6B-25E410024CD0}" authorId="{78A03B09-F465-7A3C-9FB7-65502FD24C99}" created="2026-01-06T00:18:52.213">
        <p188:txBody>
          <a:bodyPr/>
          <a:lstStyle/>
          <a:p>
            <a:r>
              <a:rPr lang="en-US"/>
              <a:t>done, need team review</a:t>
            </a:r>
          </a:p>
        </p188:txBody>
      </p188:reply>
      <p188:reply id="{8A8B94E1-7FC7-0048-B4CB-D5EBAA8F664D}" authorId="{78A03B09-F465-7A3C-9FB7-65502FD24C99}" created="2026-01-06T15:14:54.859">
        <p188:txBody>
          <a:bodyPr/>
          <a:lstStyle/>
          <a:p>
            <a:r>
              <a:rPr lang="en-US"/>
              <a:t>need to simplify</a:t>
            </a:r>
          </a:p>
        </p188:txBody>
      </p188:reply>
    </p188:replyLst>
    <p188:txBody>
      <a:bodyPr/>
      <a:lstStyle/>
      <a:p>
        <a:r>
          <a:rPr lang="en-US"/>
          <a:t>We need to confirm this template. And then I will create content for Digital role</a:t>
        </a:r>
      </a:p>
    </p188:txBody>
  </p188:cm>
</p188:cmLst>
</file>

<file path=ppt/comments/modernComment_10B_ADBA9559.xml><?xml version="1.0" encoding="utf-8"?>
<p188:cmLst xmlns:a="http://schemas.openxmlformats.org/drawingml/2006/main" xmlns:r="http://schemas.openxmlformats.org/officeDocument/2006/relationships" xmlns:p188="http://schemas.microsoft.com/office/powerpoint/2018/8/main">
  <p188:cm id="{591F3037-E78F-F649-8F22-AA1C4C3469F7}" authorId="{78A03B09-F465-7A3C-9FB7-65502FD24C99}" created="2026-01-13T22:39:39.612">
    <pc:sldMkLst xmlns:pc="http://schemas.microsoft.com/office/powerpoint/2013/main/command">
      <pc:docMk/>
      <pc:sldMk cId="2914686297" sldId="267"/>
    </pc:sldMkLst>
    <p188:txBody>
      <a:bodyPr/>
      <a:lstStyle/>
      <a:p>
        <a:r>
          <a:rPr lang="en-US"/>
          <a:t>Built for Sarah, please review</a:t>
        </a:r>
      </a:p>
    </p188:txBody>
  </p188:cm>
</p188:cmLst>
</file>

<file path=ppt/comments/modernComment_10D_4E9BF18B.xml><?xml version="1.0" encoding="utf-8"?>
<p188:cmLst xmlns:a="http://schemas.openxmlformats.org/drawingml/2006/main" xmlns:r="http://schemas.openxmlformats.org/officeDocument/2006/relationships" xmlns:p188="http://schemas.microsoft.com/office/powerpoint/2018/8/main">
  <p188:cm id="{C0BD9490-2D40-E94A-BEBC-408D95B0367B}" authorId="{78A03B09-F465-7A3C-9FB7-65502FD24C99}" created="2026-01-13T20:10:45.997">
    <pc:sldMkLst xmlns:pc="http://schemas.microsoft.com/office/powerpoint/2013/main/command">
      <pc:docMk/>
      <pc:sldMk cId="94858071" sldId="258"/>
    </pc:sldMkLst>
    <p188:txBody>
      <a:bodyPr/>
      <a:lstStyle/>
      <a:p>
        <a:r>
          <a:rPr lang="en-US"/>
          <a:t>Built for Sarah, please review</a:t>
        </a:r>
      </a:p>
    </p188:txBody>
  </p188:cm>
</p188:cmLst>
</file>

<file path=ppt/comments/modernComment_10F_1D9B2223.xml><?xml version="1.0" encoding="utf-8"?>
<p188:cmLst xmlns:a="http://schemas.openxmlformats.org/drawingml/2006/main" xmlns:r="http://schemas.openxmlformats.org/officeDocument/2006/relationships" xmlns:p188="http://schemas.microsoft.com/office/powerpoint/2018/8/main">
  <p188:cm id="{B77964B7-D4FC-5640-A67A-093D48130586}" authorId="{78A03B09-F465-7A3C-9FB7-65502FD24C99}" status="resolved" created="2025-10-21T21:17:28.230">
    <pc:sldMkLst xmlns:pc="http://schemas.microsoft.com/office/powerpoint/2013/main/command">
      <pc:docMk/>
      <pc:sldMk cId="4032577449" sldId="278"/>
    </pc:sldMkLst>
    <p188:replyLst>
      <p188:reply id="{F1DA5EB9-DD1E-2D4D-B110-254EC1AF11AA}" authorId="{78A03B09-F465-7A3C-9FB7-65502FD24C99}" created="2025-10-22T14:49:57.613">
        <p188:txBody>
          <a:bodyPr/>
          <a:lstStyle/>
          <a:p>
            <a:r>
              <a:rPr lang="en-US"/>
              <a:t>Phase names:
/DEFINE
/ASSESS
/MOBILIZE</a:t>
            </a:r>
          </a:p>
        </p188:txBody>
      </p188:reply>
      <p188:reply id="{43C5541A-00BF-2943-8B1B-5F939915CD1C}" authorId="{78A03B09-F465-7A3C-9FB7-65502FD24C99}" created="2025-10-22T14:52:44.985">
        <p188:txBody>
          <a:bodyPr/>
          <a:lstStyle/>
          <a:p>
            <a:r>
              <a:rPr lang="en-US"/>
              <a:t>Need to add some output samples at the bottom. </a:t>
            </a:r>
          </a:p>
        </p188:txBody>
      </p188:reply>
    </p188:replyLst>
    <p188:txBody>
      <a:bodyPr/>
      <a:lstStyle/>
      <a:p>
        <a:r>
          <a:rPr lang="en-US"/>
          <a:t>Phase 1: JTBD, Risk, Superpower
Phase 2: Evidence Mosaic, Readiness summary, Pipeline health snapshot
Phase 3: Developmeny Plan and Mobilization Plan</a:t>
        </a:r>
      </a:p>
    </p188:txBody>
  </p188:cm>
  <p188:cm id="{94EE35CB-E466-6949-A845-4F220511B116}" authorId="{BB243E05-1E47-4B24-CEC5-07CE1EB55D0E}" status="resolved" created="2025-11-10T19:25:31.082">
    <ac:txMkLst xmlns:ac="http://schemas.microsoft.com/office/drawing/2013/main/command">
      <pc:docMk xmlns:pc="http://schemas.microsoft.com/office/powerpoint/2013/main/command"/>
      <pc:sldMk xmlns:pc="http://schemas.microsoft.com/office/powerpoint/2013/main/command" cId="4032577449" sldId="278"/>
      <ac:spMk id="11" creationId="{4A7F25F0-5964-718E-5C45-8662B3CE4792}"/>
      <ac:txMk cp="37" len="15">
        <ac:context len="65" hash="4145857387"/>
      </ac:txMk>
    </ac:txMkLst>
    <p188:txBody>
      <a:bodyPr/>
      <a:lstStyle/>
      <a:p>
        <a:r>
          <a:rPr lang="en-US"/>
          <a:t>Role?</a:t>
        </a:r>
      </a:p>
    </p188:txBody>
  </p188:cm>
  <p188:cm id="{9E5E8C70-EDAA-8841-8A75-0F014D6ECA1C}" authorId="{BB243E05-1E47-4B24-CEC5-07CE1EB55D0E}" status="resolved" created="2025-11-10T19:26:06.936">
    <ac:txMkLst xmlns:ac="http://schemas.microsoft.com/office/drawing/2013/main/command">
      <pc:docMk xmlns:pc="http://schemas.microsoft.com/office/powerpoint/2013/main/command"/>
      <pc:sldMk xmlns:pc="http://schemas.microsoft.com/office/powerpoint/2013/main/command" cId="4032577449" sldId="278"/>
      <ac:spMk id="25" creationId="{A7FC9EB8-7537-6618-E3FC-05C14443DE85}"/>
      <ac:txMk cp="21" len="15">
        <ac:context len="82" hash="2864659793"/>
      </ac:txMk>
    </ac:txMkLst>
    <p188:txBody>
      <a:bodyPr/>
      <a:lstStyle/>
      <a:p>
        <a:r>
          <a:rPr lang="en-US"/>
          <a:t>Multi-point evidence mosaic on each succession candidate</a:t>
        </a:r>
      </a:p>
    </p188:txBody>
  </p188:cm>
  <p188:cm id="{5451EEBE-A54C-9C47-93A0-B70FD000572C}" authorId="{BB243E05-1E47-4B24-CEC5-07CE1EB55D0E}" status="resolved" created="2025-11-10T19:26:39.981">
    <ac:txMkLst xmlns:ac="http://schemas.microsoft.com/office/drawing/2013/main/command">
      <pc:docMk xmlns:pc="http://schemas.microsoft.com/office/powerpoint/2013/main/command"/>
      <pc:sldMk xmlns:pc="http://schemas.microsoft.com/office/powerpoint/2013/main/command" cId="4032577449" sldId="278"/>
      <ac:spMk id="31" creationId="{E629D5C7-566F-2D17-1B5C-16A5499C2B8A}"/>
      <ac:txMk cp="9" len="36">
        <ac:context len="46" hash="806339301"/>
      </ac:txMk>
    </ac:txMkLst>
    <p188:txBody>
      <a:bodyPr/>
      <a:lstStyle/>
      <a:p>
        <a:r>
          <a:rPr lang="en-US"/>
          <a:t>What is the difference between the two in this context?</a:t>
        </a:r>
      </a:p>
    </p188:txBody>
  </p188:cm>
</p188:cmLst>
</file>

<file path=ppt/comments/modernComment_11C_47927AEA.xml><?xml version="1.0" encoding="utf-8"?>
<p188:cmLst xmlns:a="http://schemas.openxmlformats.org/drawingml/2006/main" xmlns:r="http://schemas.openxmlformats.org/officeDocument/2006/relationships" xmlns:p188="http://schemas.microsoft.com/office/powerpoint/2018/8/main">
  <p188:cm id="{1803B16D-86E0-4D46-8532-6E83D00805DA}" authorId="{78A03B09-F465-7A3C-9FB7-65502FD24C99}" status="resolved" created="2025-10-27T16:02:53.784" complete="100000">
    <pc:sldMkLst xmlns:pc="http://schemas.microsoft.com/office/powerpoint/2013/main/command">
      <pc:docMk/>
      <pc:sldMk cId="1200782058" sldId="284"/>
    </pc:sldMkLst>
    <p188:txBody>
      <a:bodyPr/>
      <a:lstStyle/>
      <a:p>
        <a:r>
          <a:rPr lang="en-US"/>
          <a:t>Review after previous sections are finalized.</a:t>
        </a:r>
      </a:p>
    </p188:txBody>
  </p188:cm>
</p188:cmLst>
</file>

<file path=ppt/comments/modernComment_12D_E0095D58.xml><?xml version="1.0" encoding="utf-8"?>
<p188:cmLst xmlns:a="http://schemas.openxmlformats.org/drawingml/2006/main" xmlns:r="http://schemas.openxmlformats.org/officeDocument/2006/relationships" xmlns:p188="http://schemas.microsoft.com/office/powerpoint/2018/8/main">
  <p188:cm id="{23B2DB3D-F022-4DC0-B981-FE3E1AA3EE3D}" authorId="{8C1ABC11-B797-681D-522A-FD231CA4246B}" status="resolved" created="2025-11-04T16:19:04.385" complete="100000">
    <pc:sldMkLst xmlns:pc="http://schemas.microsoft.com/office/powerpoint/2013/main/command">
      <pc:docMk/>
      <pc:sldMk cId="3758710104" sldId="301"/>
    </pc:sldMkLst>
    <p188:txBody>
      <a:bodyPr/>
      <a:lstStyle/>
      <a:p>
        <a:r>
          <a:rPr lang="en-US"/>
          <a:t>I added some of the pivots we discussed, let me know if we want additional/different ones</a:t>
        </a:r>
      </a:p>
    </p188:txBody>
  </p188:cm>
  <p188:cm id="{C06EB5FB-4915-8840-B461-335C01FADF5E}" authorId="{78A03B09-F465-7A3C-9FB7-65502FD24C99}" status="resolved" created="2025-11-10T20:43:17.426" complete="100000">
    <pc:sldMkLst xmlns:pc="http://schemas.microsoft.com/office/powerpoint/2013/main/command">
      <pc:docMk/>
      <pc:sldMk cId="3758710104" sldId="301"/>
    </pc:sldMkLst>
    <p188:txBody>
      <a:bodyPr/>
      <a:lstStyle/>
      <a:p>
        <a:r>
          <a:rPr lang="en-US"/>
          <a:t>Please make the boxes the same size</a:t>
        </a:r>
      </a:p>
    </p188:txBody>
  </p188:cm>
</p188:cmLst>
</file>

<file path=ppt/comments/modernComment_13A_30C8F6F7.xml><?xml version="1.0" encoding="utf-8"?>
<p188:cmLst xmlns:a="http://schemas.openxmlformats.org/drawingml/2006/main" xmlns:r="http://schemas.openxmlformats.org/officeDocument/2006/relationships" xmlns:p188="http://schemas.microsoft.com/office/powerpoint/2018/8/main">
  <p188:cm id="{5CAFE815-D719-C34C-A4AF-5CB768357445}" authorId="{78A03B09-F465-7A3C-9FB7-65502FD24C99}" status="resolved" created="2025-10-22T15:11:37.300" complete="100000">
    <pc:sldMkLst xmlns:pc="http://schemas.microsoft.com/office/powerpoint/2013/main/command">
      <pc:docMk/>
      <pc:sldMk cId="818476791" sldId="314"/>
    </pc:sldMkLst>
    <p188:txBody>
      <a:bodyPr/>
      <a:lstStyle/>
      <a:p>
        <a:r>
          <a:rPr lang="en-US"/>
          <a:t>Remove the Insights box.</a:t>
        </a:r>
      </a:p>
    </p188:txBody>
  </p188:cm>
  <p188:cm id="{D79B9C5E-C4BD-104D-BAAE-680400FD091C}" authorId="{78A03B09-F465-7A3C-9FB7-65502FD24C99}" status="resolved" created="2025-10-22T15:12:02.712" complete="100000">
    <pc:sldMkLst xmlns:pc="http://schemas.microsoft.com/office/powerpoint/2013/main/command">
      <pc:docMk/>
      <pc:sldMk cId="818476791" sldId="314"/>
    </pc:sldMkLst>
    <p188:txBody>
      <a:bodyPr/>
      <a:lstStyle/>
      <a:p>
        <a:r>
          <a:rPr lang="en-US"/>
          <a:t>[RTL] Please add: Making sure strategic pivots are backed into the JTBDs.</a:t>
        </a:r>
      </a:p>
    </p188:txBody>
  </p188:cm>
  <p188:cm id="{D205A76D-E5F1-9444-AB38-015D31FD48DE}" authorId="{78A03B09-F465-7A3C-9FB7-65502FD24C99}" status="resolved" created="2025-11-10T21:01:40.570" complete="100000">
    <ac:txMkLst xmlns:ac="http://schemas.microsoft.com/office/drawing/2013/main/command">
      <pc:docMk xmlns:pc="http://schemas.microsoft.com/office/powerpoint/2013/main/command"/>
      <pc:sldMk xmlns:pc="http://schemas.microsoft.com/office/powerpoint/2013/main/command" cId="818476791" sldId="314"/>
      <ac:spMk id="29" creationId="{EBD71E2A-EE0E-D6F0-3C0E-251C9108D110}"/>
      <ac:txMk cp="0" len="53">
        <ac:context len="54" hash="2223190600"/>
      </ac:txMk>
    </ac:txMkLst>
    <p188:pos x="6164712" y="855919"/>
    <p188:txBody>
      <a:bodyPr/>
      <a:lstStyle/>
      <a:p>
        <a:r>
          <a:rPr lang="en-US"/>
          <a:t>Need further discussion</a:t>
        </a:r>
      </a:p>
    </p188:txBody>
  </p188:cm>
</p188:cmLst>
</file>

<file path=ppt/comments/modernComment_13C_294C0C78.xml><?xml version="1.0" encoding="utf-8"?>
<p188:cmLst xmlns:a="http://schemas.openxmlformats.org/drawingml/2006/main" xmlns:r="http://schemas.openxmlformats.org/officeDocument/2006/relationships" xmlns:p188="http://schemas.microsoft.com/office/powerpoint/2018/8/main">
  <p188:cm id="{A42B442B-164D-9647-83BD-BFE89BF2A28A}" authorId="{78A03B09-F465-7A3C-9FB7-65502FD24C99}" status="resolved" created="2025-11-18T16:40:38.313" complete="100000">
    <pc:sldMkLst xmlns:pc="http://schemas.microsoft.com/office/powerpoint/2013/main/command">
      <pc:docMk/>
      <pc:sldMk cId="692849784" sldId="316"/>
    </pc:sldMkLst>
    <p188:replyLst>
      <p188:reply id="{657A46B3-E2AC-1545-9A6C-AF4548D6B68A}" authorId="{78A03B09-F465-7A3C-9FB7-65502FD24C99}" created="2025-11-20T22:02:28.900">
        <p188:txBody>
          <a:bodyPr/>
          <a:lstStyle/>
          <a:p>
            <a:r>
              <a:rPr lang="en-US"/>
              <a:t>Needs to update names, ratings (hypothetical, showcase only)</a:t>
            </a:r>
          </a:p>
        </p188:txBody>
      </p188:reply>
      <p188:reply id="{D9390790-88C5-E048-932F-BBEC39A57FE5}" authorId="{78A03B09-F465-7A3C-9FB7-65502FD24C99}" created="2026-01-05T23:58:44.718">
        <p188:txBody>
          <a:bodyPr/>
          <a:lstStyle/>
          <a:p>
            <a:r>
              <a:rPr lang="en-US"/>
              <a:t>done, need team review</a:t>
            </a:r>
          </a:p>
        </p188:txBody>
      </p188:reply>
    </p188:replyLst>
    <p188:txBody>
      <a:bodyPr/>
      <a:lstStyle/>
      <a:p>
        <a:r>
          <a:rPr lang="en-US"/>
          <a:t>Find a visual example from Cencora project - Ming to do</a:t>
        </a:r>
      </a:p>
    </p188:txBody>
  </p188:cm>
  <p188:cm id="{BA26820C-5669-EC48-A3F7-15158016F30B}" authorId="{78A03B09-F465-7A3C-9FB7-65502FD24C99}" status="resolved" created="2026-01-09T14:50:50.093" complete="100000">
    <pc:sldMkLst xmlns:pc="http://schemas.microsoft.com/office/powerpoint/2013/main/command">
      <pc:docMk/>
      <pc:sldMk cId="692849784" sldId="316"/>
    </pc:sldMkLst>
    <p188:txBody>
      <a:bodyPr/>
      <a:lstStyle/>
      <a:p>
        <a:r>
          <a:rPr lang="en-US"/>
          <a:t>Review ratings, Marcus &amp; Sofia</a:t>
        </a:r>
      </a:p>
    </p188:txBody>
  </p188:cm>
</p188:cmLst>
</file>

<file path=ppt/comments/modernComment_13E_52FC25D5.xml><?xml version="1.0" encoding="utf-8"?>
<p188:cmLst xmlns:a="http://schemas.openxmlformats.org/drawingml/2006/main" xmlns:r="http://schemas.openxmlformats.org/officeDocument/2006/relationships" xmlns:p188="http://schemas.microsoft.com/office/powerpoint/2018/8/main">
  <p188:cm id="{251AB140-33D7-AA47-9D3F-9E0C69B6E828}" authorId="{78A03B09-F465-7A3C-9FB7-65502FD24C99}" status="resolved" created="2025-11-11T20:32:05.748" complete="100000">
    <pc:sldMkLst xmlns:pc="http://schemas.microsoft.com/office/powerpoint/2013/main/command">
      <pc:docMk/>
      <pc:sldMk cId="1392256469" sldId="318"/>
    </pc:sldMkLst>
    <p188:txBody>
      <a:bodyPr/>
      <a:lstStyle/>
      <a:p>
        <a:r>
          <a:rPr lang="en-US"/>
          <a:t>RTL please help create the left part to match the following components</a:t>
        </a:r>
      </a:p>
    </p188:txBody>
  </p188:cm>
  <p188:cm id="{4DF6FE85-8E95-634E-9796-181B6C7CDA96}" authorId="{78A03B09-F465-7A3C-9FB7-65502FD24C99}" status="resolved" created="2026-01-06T14:43:16.275" complete="100000">
    <pc:sldMkLst xmlns:pc="http://schemas.microsoft.com/office/powerpoint/2013/main/command">
      <pc:docMk/>
      <pc:sldMk cId="1392256469" sldId="318"/>
    </pc:sldMkLst>
    <p188:txBody>
      <a:bodyPr/>
      <a:lstStyle/>
      <a:p>
        <a:r>
          <a:rPr lang="en-US"/>
          <a:t>check order or the following slides to match this master wheel
Also match the icons</a:t>
        </a:r>
      </a:p>
    </p188:txBody>
  </p188:cm>
</p188:cmLst>
</file>

<file path=ppt/comments/modernComment_14A_230567D8.xml><?xml version="1.0" encoding="utf-8"?>
<p188:cmLst xmlns:a="http://schemas.openxmlformats.org/drawingml/2006/main" xmlns:r="http://schemas.openxmlformats.org/officeDocument/2006/relationships" xmlns:p188="http://schemas.microsoft.com/office/powerpoint/2018/8/main">
  <p188:cm id="{CFF8CBA8-4E96-A74E-85A6-AC7B136E6254}" authorId="{78A03B09-F465-7A3C-9FB7-65502FD24C99}" status="resolved" created="2025-11-04T16:19:00.143" complete="100000">
    <pc:sldMkLst xmlns:pc="http://schemas.microsoft.com/office/powerpoint/2013/main/command">
      <pc:docMk/>
      <pc:sldMk cId="587556824" sldId="330"/>
    </pc:sldMkLst>
    <p188:txBody>
      <a:bodyPr/>
      <a:lstStyle/>
      <a:p>
        <a:r>
          <a:rPr lang="en-US"/>
          <a:t>Do we have other performance review examples?</a:t>
        </a:r>
      </a:p>
    </p188:txBody>
  </p188:cm>
</p188:cmLst>
</file>

<file path=ppt/comments/modernComment_14B_791CC526.xml><?xml version="1.0" encoding="utf-8"?>
<p188:cmLst xmlns:a="http://schemas.openxmlformats.org/drawingml/2006/main" xmlns:r="http://schemas.openxmlformats.org/officeDocument/2006/relationships" xmlns:p188="http://schemas.microsoft.com/office/powerpoint/2018/8/main">
  <p188:cm id="{EFBE4842-F1C9-4AAB-99C3-1F434F4BDC69}" authorId="{6F64F820-1379-D452-456D-9C65B93E65B1}" created="2026-01-18T01:05:53.457" startDate="2026-01-18T01:05:53.457" dueDate="2026-01-18T01:05:53.457" assignedTo="{78A03B09-F465-7A3C-9FB7-65502FD24C99}" title="@Ming Yang you need to create a page for each item on page 33...organize in order and if you don't have content, then tag us and we'll add few bullets">
    <pc:sldMkLst xmlns:pc="http://schemas.microsoft.com/office/powerpoint/2013/main/command">
      <pc:docMk/>
      <pc:sldMk cId="2031928614" sldId="331"/>
    </pc:sldMkLst>
    <p188:replyLst>
      <p188:reply id="{3E1C3FB8-DD56-B141-A2EC-4ADFEAAC6633}" authorId="{78A03B09-F465-7A3C-9FB7-65502FD24C99}" created="2026-01-18T04:02:13.125">
        <p188:txBody>
          <a:bodyPr/>
          <a:lstStyle/>
          <a:p>
            <a:r>
              <a:rPr lang="en-US"/>
              <a:t>Sorry I didn't understand, we have slide 34-39 for the 6 items listed on slide 33, right?</a:t>
            </a:r>
          </a:p>
        </p188:txBody>
      </p188:reply>
    </p188:replyLst>
    <p188:txBody>
      <a:bodyPr/>
      <a:lstStyle/>
      <a:p>
        <a:r>
          <a:rPr lang="en-US"/>
          <a:t>[@Ming Yang] you need to create a page for each item on page 33...organize in order and if you don't have content, then tag us and we'll add few bullets</a:t>
        </a:r>
      </a:p>
    </p188:txBody>
    <p188:extLst>
      <p:ext xmlns:p="http://schemas.openxmlformats.org/presentationml/2006/main" uri="{5BB2D875-25FF-4072-B9AC-8F64D62656EB}">
        <p228:taskDetails xmlns:p228="http://schemas.microsoft.com/office/powerpoint/2022/08/main">
          <p228:history>
            <p228:event time="2026-01-18T01:05:53.457" id="{5F89F3CF-29CD-429B-9E98-21A9ACBE7BA3}">
              <p228:atrbtn authorId="{6F64F820-1379-D452-456D-9C65B93E65B1}"/>
              <p228:anchr>
                <p228:comment id="{EFBE4842-F1C9-4AAB-99C3-1F434F4BDC69}"/>
              </p228:anchr>
              <p228:add/>
            </p228:event>
            <p228:event time="2026-01-18T01:05:53.457" id="{F3C677B0-97F8-407A-9BCA-AF1F2BC6811A}">
              <p228:atrbtn authorId="{6F64F820-1379-D452-456D-9C65B93E65B1}"/>
              <p228:anchr>
                <p228:comment id="{EFBE4842-F1C9-4AAB-99C3-1F434F4BDC69}"/>
              </p228:anchr>
              <p228:asgn authorId="{78A03B09-F465-7A3C-9FB7-65502FD24C99}"/>
            </p228:event>
            <p228:event time="2026-01-18T01:05:53.457" id="{D0E24CFD-61F5-4001-8F95-B8F1AB26BB01}">
              <p228:atrbtn authorId="{6F64F820-1379-D452-456D-9C65B93E65B1}"/>
              <p228:anchr>
                <p228:comment id="{EFBE4842-F1C9-4AAB-99C3-1F434F4BDC69}"/>
              </p228:anchr>
              <p228:title val="@Ming Yang you need to create a page for each item on page 33...organize in order and if you don't have content, then tag us and we'll add few bullets"/>
            </p228:event>
            <p228:event time="2026-01-18T01:05:53.457" id="{BB80F1C0-D3BE-4773-B21A-0C27624B4445}">
              <p228:atrbtn authorId="{6F64F820-1379-D452-456D-9C65B93E65B1}"/>
              <p228:anchr>
                <p228:comment id="{EFBE4842-F1C9-4AAB-99C3-1F434F4BDC69}"/>
              </p228:anchr>
              <p228:date stDt="2026-01-18T01:05:53.457" endDt="2026-01-18T01:05:53.457"/>
            </p228:event>
          </p228:history>
        </p228:taskDetails>
      </p:ext>
    </p188:extLst>
  </p188:cm>
</p188:cmLst>
</file>

<file path=ppt/comments/modernComment_100_37935309.xml><?xml version="1.0" encoding="utf-8"?>
<p188:cmLst xmlns:a="http://schemas.openxmlformats.org/drawingml/2006/main" xmlns:r="http://schemas.openxmlformats.org/officeDocument/2006/relationships" xmlns:p188="http://schemas.microsoft.com/office/powerpoint/2018/8/main">
  <p188:cm id="{E85267BD-FB9D-B64F-B364-7AED4B76D359}" authorId="{78A03B09-F465-7A3C-9FB7-65502FD24C99}" status="resolved" created="2025-10-21T21:17:28.230">
    <pc:sldMkLst xmlns:pc="http://schemas.microsoft.com/office/powerpoint/2013/main/command">
      <pc:docMk/>
      <pc:sldMk cId="4032577449" sldId="278"/>
    </pc:sldMkLst>
    <p188:replyLst>
      <p188:reply id="{F1DA5EB9-DD1E-2D4D-B110-254EC1AF11AA}" authorId="{78A03B09-F465-7A3C-9FB7-65502FD24C99}" created="2025-10-22T14:49:57.613">
        <p188:txBody>
          <a:bodyPr/>
          <a:lstStyle/>
          <a:p>
            <a:r>
              <a:rPr lang="en-US"/>
              <a:t>Phase names:
/DEFINE
/ASSESS
/MOBILIZE</a:t>
            </a:r>
          </a:p>
        </p188:txBody>
      </p188:reply>
      <p188:reply id="{43C5541A-00BF-2943-8B1B-5F939915CD1C}" authorId="{78A03B09-F465-7A3C-9FB7-65502FD24C99}" created="2025-10-22T14:52:44.985">
        <p188:txBody>
          <a:bodyPr/>
          <a:lstStyle/>
          <a:p>
            <a:r>
              <a:rPr lang="en-US"/>
              <a:t>Need to add some output samples at the bottom. </a:t>
            </a:r>
          </a:p>
        </p188:txBody>
      </p188:reply>
    </p188:replyLst>
    <p188:txBody>
      <a:bodyPr/>
      <a:lstStyle/>
      <a:p>
        <a:r>
          <a:rPr lang="en-US"/>
          <a:t>Phase 1: JTBD, Risk, Superpower
Phase 2: Evidence Mosaic, Readiness summary, Pipeline health snapshot
Phase 3: Developmeny Plan and Mobilization Plan</a:t>
        </a:r>
      </a:p>
    </p188:txBody>
  </p188:cm>
  <p188:cm id="{61006E72-4E9C-4241-8D24-762D11CCEEF1}" authorId="{BB243E05-1E47-4B24-CEC5-07CE1EB55D0E}" status="resolved" created="2025-11-10T19:25:31.082">
    <ac:txMkLst xmlns:ac="http://schemas.microsoft.com/office/drawing/2013/main/command">
      <pc:docMk xmlns:pc="http://schemas.microsoft.com/office/powerpoint/2013/main/command"/>
      <pc:sldMk xmlns:pc="http://schemas.microsoft.com/office/powerpoint/2013/main/command" cId="4032577449" sldId="278"/>
      <ac:spMk id="11" creationId="{4A7F25F0-5964-718E-5C45-8662B3CE4792}"/>
      <ac:txMk cp="37" len="15">
        <ac:context len="65" hash="4145857387"/>
      </ac:txMk>
    </ac:txMkLst>
    <p188:txBody>
      <a:bodyPr/>
      <a:lstStyle/>
      <a:p>
        <a:r>
          <a:rPr lang="en-US"/>
          <a:t>Role?</a:t>
        </a:r>
      </a:p>
    </p188:txBody>
  </p188:cm>
  <p188:cm id="{F3EFD7FC-64A3-F841-82A8-EDB04C1F11B6}" authorId="{BB243E05-1E47-4B24-CEC5-07CE1EB55D0E}" status="resolved" created="2025-11-10T19:26:06.936">
    <ac:txMkLst xmlns:ac="http://schemas.microsoft.com/office/drawing/2013/main/command">
      <pc:docMk xmlns:pc="http://schemas.microsoft.com/office/powerpoint/2013/main/command"/>
      <pc:sldMk xmlns:pc="http://schemas.microsoft.com/office/powerpoint/2013/main/command" cId="4032577449" sldId="278"/>
      <ac:spMk id="25" creationId="{A7FC9EB8-7537-6618-E3FC-05C14443DE85}"/>
      <ac:txMk cp="21" len="15">
        <ac:context len="82" hash="2864659793"/>
      </ac:txMk>
    </ac:txMkLst>
    <p188:txBody>
      <a:bodyPr/>
      <a:lstStyle/>
      <a:p>
        <a:r>
          <a:rPr lang="en-US"/>
          <a:t>Multi-point evidence mosaic on each succession candidate</a:t>
        </a:r>
      </a:p>
    </p188:txBody>
  </p188:cm>
  <p188:cm id="{ED4C0873-11C5-CB43-932A-06CB36488A26}" authorId="{BB243E05-1E47-4B24-CEC5-07CE1EB55D0E}" status="resolved" created="2025-11-10T19:26:39.981">
    <ac:txMkLst xmlns:ac="http://schemas.microsoft.com/office/drawing/2013/main/command">
      <pc:docMk xmlns:pc="http://schemas.microsoft.com/office/powerpoint/2013/main/command"/>
      <pc:sldMk xmlns:pc="http://schemas.microsoft.com/office/powerpoint/2013/main/command" cId="4032577449" sldId="278"/>
      <ac:spMk id="31" creationId="{E629D5C7-566F-2D17-1B5C-16A5499C2B8A}"/>
      <ac:txMk cp="9" len="36">
        <ac:context len="46" hash="806339301"/>
      </ac:txMk>
    </ac:txMkLst>
    <p188:txBody>
      <a:bodyPr/>
      <a:lstStyle/>
      <a:p>
        <a:r>
          <a:rPr lang="en-US"/>
          <a:t>What is the difference between the two in this context?</a:t>
        </a:r>
      </a:p>
    </p188:txBody>
  </p188:cm>
</p188:cmLst>
</file>

<file path=ppt/comments/modernComment_101_96CCBD15.xml><?xml version="1.0" encoding="utf-8"?>
<p188:cmLst xmlns:a="http://schemas.openxmlformats.org/drawingml/2006/main" xmlns:r="http://schemas.openxmlformats.org/officeDocument/2006/relationships" xmlns:p188="http://schemas.microsoft.com/office/powerpoint/2018/8/main">
  <p188:cm id="{33849997-99F0-FE4F-AEBB-9266D64BEC34}" authorId="{78A03B09-F465-7A3C-9FB7-65502FD24C99}" status="resolved" created="2025-10-21T21:15:16.970" complete="100000">
    <ac:txMkLst xmlns:ac="http://schemas.microsoft.com/office/drawing/2013/main/command">
      <pc:docMk xmlns:pc="http://schemas.microsoft.com/office/powerpoint/2013/main/command"/>
      <pc:sldMk xmlns:pc="http://schemas.microsoft.com/office/powerpoint/2013/main/command" cId="2530000149" sldId="257"/>
      <ac:spMk id="45" creationId="{2FE764F8-F507-1EF2-8271-D527ADA5E3AF}"/>
      <ac:txMk cp="36">
        <ac:context len="115" hash="2079390330"/>
      </ac:txMk>
    </ac:txMkLst>
    <p188:pos x="8742281" y="1056782"/>
    <p188:replyLst>
      <p188:reply id="{C5301B00-6EEE-C94F-A574-CC25B573CF23}" authorId="{78A03B09-F465-7A3C-9FB7-65502FD24C99}" created="2025-10-22T14:46:48.874">
        <p188:txBody>
          <a:bodyPr/>
          <a:lstStyle/>
          <a:p>
            <a:r>
              <a:rPr lang="en-US"/>
              <a:t>- Money and resource wasted. Months of reviewing meetings... But very limited results. ROI.</a:t>
            </a:r>
          </a:p>
        </p188:txBody>
      </p188:reply>
      <p188:reply id="{028AAD0F-76B9-4D47-9C30-0FFA25BCB9E0}" authorId="{78A03B09-F465-7A3C-9FB7-65502FD24C99}" created="2025-10-22T19:08:31.327">
        <p188:txBody>
          <a:bodyPr/>
          <a:lstStyle/>
          <a:p>
            <a:r>
              <a:rPr lang="en-US"/>
              <a:t>Content added. Need future review.</a:t>
            </a:r>
          </a:p>
        </p188:txBody>
      </p188:reply>
    </p188:replyLst>
    <p188:txBody>
      <a:bodyPr/>
      <a:lstStyle/>
      <a:p>
        <a:r>
          <a:rPr lang="en-US"/>
          <a:t>"Preparing the candidate for outdated expectations"?
[CEO Works] need future review for language.</a:t>
        </a:r>
      </a:p>
    </p188:txBody>
  </p188:cm>
  <p188:cm id="{09ED0E12-427A-0946-8D97-9A075D2702DB}" authorId="{BB243E05-1E47-4B24-CEC5-07CE1EB55D0E}" status="resolved" created="2025-11-10T19:24:43.545" complete="100000">
    <pc:sldMkLst xmlns:pc="http://schemas.microsoft.com/office/powerpoint/2013/main/command">
      <pc:docMk/>
      <pc:sldMk cId="2530000149" sldId="257"/>
    </pc:sldMkLst>
    <p188:replyLst>
      <p188:reply id="{1AC886AA-45E1-8147-B711-F0C95B40C3E3}" authorId="{78A03B09-F465-7A3C-9FB7-65502FD24C99}" created="2025-11-10T20:32:04.740">
        <p188:txBody>
          <a:bodyPr/>
          <a:lstStyle/>
          <a:p>
            <a:r>
              <a:rPr lang="en-US"/>
              <a:t>Hide it for now.</a:t>
            </a:r>
          </a:p>
        </p188:txBody>
      </p188:reply>
    </p188:replyLst>
    <p188:txBody>
      <a:bodyPr/>
      <a:lstStyle/>
      <a:p>
        <a:r>
          <a:rPr lang="en-US"/>
          <a:t>Is this needed? We already discussed some version of this earlier</a:t>
        </a:r>
      </a:p>
    </p188:txBody>
  </p188:cm>
</p188:cmLst>
</file>

<file path=ppt/comments/modernComment_102_5A76B57.xml><?xml version="1.0" encoding="utf-8"?>
<p188:cmLst xmlns:a="http://schemas.openxmlformats.org/drawingml/2006/main" xmlns:r="http://schemas.openxmlformats.org/officeDocument/2006/relationships" xmlns:p188="http://schemas.microsoft.com/office/powerpoint/2018/8/main">
  <p188:cm id="{D21E4F5C-4642-CC47-AECF-8D62490A8BD2}" authorId="{78A03B09-F465-7A3C-9FB7-65502FD24C99}" status="resolved" created="2025-11-07T16:36:32.484" complete="100000">
    <pc:sldMkLst xmlns:pc="http://schemas.microsoft.com/office/powerpoint/2013/main/command">
      <pc:docMk/>
      <pc:sldMk cId="94858071" sldId="258"/>
    </pc:sldMkLst>
    <p188:txBody>
      <a:bodyPr/>
      <a:lstStyle/>
      <a:p>
        <a:r>
          <a:rPr lang="en-US"/>
          <a:t>use the digital role as "what good looks like" throughout</a:t>
        </a:r>
      </a:p>
    </p188:txBody>
  </p188:cm>
  <p188:cm id="{40E2119E-4D65-C746-ACB8-D2A9FE170D6C}" authorId="{78A03B09-F465-7A3C-9FB7-65502FD24C99}" status="resolved" created="2025-11-20T21:51:30.672" complete="100000">
    <pc:sldMkLst xmlns:pc="http://schemas.microsoft.com/office/powerpoint/2013/main/command">
      <pc:docMk/>
      <pc:sldMk cId="94858071" sldId="258"/>
    </pc:sldMkLst>
    <p188:replyLst>
      <p188:reply id="{5D5FCD8F-6E31-D845-80B7-32A74ED64216}" authorId="{78A03B09-F465-7A3C-9FB7-65502FD24C99}" created="2026-01-05T23:48:02.447">
        <p188:txBody>
          <a:bodyPr/>
          <a:lstStyle/>
          <a:p>
            <a:r>
              <a:rPr lang="en-US"/>
              <a:t>done, need team review</a:t>
            </a:r>
          </a:p>
        </p188:txBody>
      </p188:reply>
    </p188:replyLst>
    <p188:txBody>
      <a:bodyPr/>
      <a:lstStyle/>
      <a:p>
        <a:r>
          <a:rPr lang="en-US"/>
          <a:t>Need to re-create candidate profile to be internal candidates.</a:t>
        </a:r>
      </a:p>
    </p188:txBody>
  </p188:cm>
  <p188:cm id="{EA6728FA-8B8D-5246-B170-1C0079732039}" authorId="{78A03B09-F465-7A3C-9FB7-65502FD24C99}" status="resolved" created="2026-01-09T14:39:19.031" complete="100000">
    <ac:deMkLst xmlns:ac="http://schemas.microsoft.com/office/drawing/2013/main/command">
      <pc:docMk xmlns:pc="http://schemas.microsoft.com/office/powerpoint/2013/main/command"/>
      <pc:sldMk xmlns:pc="http://schemas.microsoft.com/office/powerpoint/2013/main/command" cId="94858071" sldId="258"/>
      <ac:graphicFrameMk id="4" creationId="{B4F3587C-3564-9385-AE5B-F8350BD74B35}"/>
    </ac:deMkLst>
    <p188:txBody>
      <a:bodyPr/>
      <a:lstStyle/>
      <a:p>
        <a:r>
          <a:rPr lang="en-US"/>
          <a:t>Change bar location: column between titles and evidence</a:t>
        </a:r>
      </a:p>
    </p188:txBody>
  </p188:cm>
  <p188:cm id="{1A4A45B9-6DBD-5348-A422-68A17180C36C}" authorId="{78A03B09-F465-7A3C-9FB7-65502FD24C99}" status="resolved" created="2026-01-13T20:10:45.997" complete="100000">
    <pc:sldMkLst xmlns:pc="http://schemas.microsoft.com/office/powerpoint/2013/main/command">
      <pc:docMk/>
      <pc:sldMk cId="94858071" sldId="258"/>
    </pc:sldMkLst>
    <p188:txBody>
      <a:bodyPr/>
      <a:lstStyle/>
      <a:p>
        <a:r>
          <a:rPr lang="en-US"/>
          <a:t>Rebuilt to fit Frontier, please review</a:t>
        </a:r>
      </a:p>
    </p188:txBody>
  </p188:cm>
</p188:cmLst>
</file>

<file path=ppt/comments/modernComment_103_D9A77D7F.xml><?xml version="1.0" encoding="utf-8"?>
<p188:cmLst xmlns:a="http://schemas.openxmlformats.org/drawingml/2006/main" xmlns:r="http://schemas.openxmlformats.org/officeDocument/2006/relationships" xmlns:p188="http://schemas.microsoft.com/office/powerpoint/2018/8/main">
  <p188:cm id="{B1DDA772-FF13-B94A-A48E-A5853F4FD765}" authorId="{78A03B09-F465-7A3C-9FB7-65502FD24C99}" status="resolved" created="2025-10-21T21:17:28.230">
    <pc:sldMkLst xmlns:pc="http://schemas.microsoft.com/office/powerpoint/2013/main/command">
      <pc:docMk/>
      <pc:sldMk cId="4032577449" sldId="278"/>
    </pc:sldMkLst>
    <p188:replyLst>
      <p188:reply id="{F1DA5EB9-DD1E-2D4D-B110-254EC1AF11AA}" authorId="{78A03B09-F465-7A3C-9FB7-65502FD24C99}" created="2025-10-22T14:49:57.613">
        <p188:txBody>
          <a:bodyPr/>
          <a:lstStyle/>
          <a:p>
            <a:r>
              <a:rPr lang="en-US"/>
              <a:t>Phase names:
/DEFINE
/ASSESS
/MOBILIZE</a:t>
            </a:r>
          </a:p>
        </p188:txBody>
      </p188:reply>
      <p188:reply id="{43C5541A-00BF-2943-8B1B-5F939915CD1C}" authorId="{78A03B09-F465-7A3C-9FB7-65502FD24C99}" created="2025-10-22T14:52:44.985">
        <p188:txBody>
          <a:bodyPr/>
          <a:lstStyle/>
          <a:p>
            <a:r>
              <a:rPr lang="en-US"/>
              <a:t>Need to add some output samples at the bottom. </a:t>
            </a:r>
          </a:p>
        </p188:txBody>
      </p188:reply>
    </p188:replyLst>
    <p188:txBody>
      <a:bodyPr/>
      <a:lstStyle/>
      <a:p>
        <a:r>
          <a:rPr lang="en-US"/>
          <a:t>Phase 1: JTBD, Risk, Superpower
Phase 2: Evidence Mosaic, Readiness summary, Pipeline health snapshot
Phase 3: Developmeny Plan and Mobilization Plan</a:t>
        </a:r>
      </a:p>
    </p188:txBody>
  </p188:cm>
  <p188:cm id="{A788F988-A63F-8548-B2C2-798B40101E27}" authorId="{BB243E05-1E47-4B24-CEC5-07CE1EB55D0E}" status="resolved" created="2025-11-10T19:25:31.082">
    <ac:txMkLst xmlns:ac="http://schemas.microsoft.com/office/drawing/2013/main/command">
      <pc:docMk xmlns:pc="http://schemas.microsoft.com/office/powerpoint/2013/main/command"/>
      <pc:sldMk xmlns:pc="http://schemas.microsoft.com/office/powerpoint/2013/main/command" cId="3651632511" sldId="259"/>
      <ac:spMk id="11" creationId="{0EF96223-4C78-3B6C-6337-FB69D5327133}"/>
      <ac:txMk cp="37" len="15">
        <ac:context len="1" hash="13"/>
      </ac:txMk>
    </ac:txMkLst>
    <p188:txBody>
      <a:bodyPr/>
      <a:lstStyle/>
      <a:p>
        <a:r>
          <a:rPr lang="en-US"/>
          <a:t>Role?</a:t>
        </a:r>
      </a:p>
    </p188:txBody>
  </p188:cm>
  <p188:cm id="{B3CEC531-9A25-A442-BE8B-140738CC695B}" authorId="{BB243E05-1E47-4B24-CEC5-07CE1EB55D0E}" status="resolved" created="2025-11-10T19:26:06.936">
    <ac:txMkLst xmlns:ac="http://schemas.microsoft.com/office/drawing/2013/main/command">
      <pc:docMk xmlns:pc="http://schemas.microsoft.com/office/powerpoint/2013/main/command"/>
      <pc:sldMk xmlns:pc="http://schemas.microsoft.com/office/powerpoint/2013/main/command" cId="3651632511" sldId="259"/>
      <ac:spMk id="25" creationId="{A7502D42-77A3-3F21-C207-2DD0B75E44C8}"/>
      <ac:txMk cp="21" len="15">
        <ac:context len="1" hash="13"/>
      </ac:txMk>
    </ac:txMkLst>
    <p188:txBody>
      <a:bodyPr/>
      <a:lstStyle/>
      <a:p>
        <a:r>
          <a:rPr lang="en-US"/>
          <a:t>Multi-point evidence mosaic on each succession candidate</a:t>
        </a:r>
      </a:p>
    </p188:txBody>
  </p188:cm>
  <p188:cm id="{F1A3524C-768B-E440-85DE-5BA3430851BE}" authorId="{BB243E05-1E47-4B24-CEC5-07CE1EB55D0E}" status="resolved" created="2025-11-10T19:26:39.981">
    <ac:txMkLst xmlns:ac="http://schemas.microsoft.com/office/drawing/2013/main/command">
      <pc:docMk xmlns:pc="http://schemas.microsoft.com/office/powerpoint/2013/main/command"/>
      <pc:sldMk xmlns:pc="http://schemas.microsoft.com/office/powerpoint/2013/main/command" cId="3651632511" sldId="259"/>
      <ac:spMk id="31" creationId="{8150B949-A86C-D57F-CF06-4DE331C265D5}"/>
      <ac:txMk cp="9" len="36">
        <ac:context len="8" hash="3007373902"/>
      </ac:txMk>
    </ac:txMkLst>
    <p188:txBody>
      <a:bodyPr/>
      <a:lstStyle/>
      <a:p>
        <a:r>
          <a:rPr lang="en-US"/>
          <a:t>What is the difference between the two in this context?</a:t>
        </a:r>
      </a:p>
    </p188:txBody>
  </p188:cm>
</p188:cmLst>
</file>

<file path=ppt/comments/modernComment_104_774A9F7F.xml><?xml version="1.0" encoding="utf-8"?>
<p188:cmLst xmlns:a="http://schemas.openxmlformats.org/drawingml/2006/main" xmlns:r="http://schemas.openxmlformats.org/officeDocument/2006/relationships" xmlns:p188="http://schemas.microsoft.com/office/powerpoint/2018/8/main">
  <p188:cm id="{B7B6135F-BFB7-406E-AA49-1DCA7E65E453}" authorId="{6F64F820-1379-D452-456D-9C65B93E65B1}" status="resolved" created="2026-01-18T01:01:19.189" startDate="2026-01-18T01:01:19.189" dueDate="2026-01-18T01:01:19.189" assignedTo="{78A03B09-F465-7A3C-9FB7-65502FD24C99}" complete="100000" title="@Ming Yang we discussed animating this as a role vs. each item. please update">
    <pc:sldMkLst xmlns:pc="http://schemas.microsoft.com/office/powerpoint/2013/main/command">
      <pc:docMk/>
      <pc:sldMk cId="2001379199" sldId="260"/>
    </pc:sldMkLst>
    <p188:txBody>
      <a:bodyPr/>
      <a:lstStyle/>
      <a:p>
        <a:r>
          <a:rPr lang="en-US"/>
          <a:t>[@Ming Yang] we discussed animating this as a role vs. each item. please update</a:t>
        </a:r>
      </a:p>
    </p188:txBody>
    <p188:extLst>
      <p:ext xmlns:p="http://schemas.openxmlformats.org/presentationml/2006/main" uri="{5BB2D875-25FF-4072-B9AC-8F64D62656EB}">
        <p228:taskDetails xmlns:p228="http://schemas.microsoft.com/office/powerpoint/2022/08/main">
          <p228:history>
            <p228:event time="2026-01-18T01:01:19.189" id="{7A8212DC-DBE2-4CD9-B666-0F11932E44E0}">
              <p228:atrbtn authorId="{6F64F820-1379-D452-456D-9C65B93E65B1}"/>
              <p228:anchr>
                <p228:comment id="{B7B6135F-BFB7-406E-AA49-1DCA7E65E453}"/>
              </p228:anchr>
              <p228:add/>
            </p228:event>
            <p228:event time="2026-01-18T01:01:19.189" id="{3AA3720F-B1EF-44A7-B9A4-D22ACBFAD4DD}">
              <p228:atrbtn authorId="{6F64F820-1379-D452-456D-9C65B93E65B1}"/>
              <p228:anchr>
                <p228:comment id="{B7B6135F-BFB7-406E-AA49-1DCA7E65E453}"/>
              </p228:anchr>
              <p228:asgn authorId="{78A03B09-F465-7A3C-9FB7-65502FD24C99}"/>
            </p228:event>
            <p228:event time="2026-01-18T01:01:19.189" id="{9D8422BB-9919-471D-A8CE-AADD57137F15}">
              <p228:atrbtn authorId="{6F64F820-1379-D452-456D-9C65B93E65B1}"/>
              <p228:anchr>
                <p228:comment id="{B7B6135F-BFB7-406E-AA49-1DCA7E65E453}"/>
              </p228:anchr>
              <p228:title val="@Ming Yang we discussed animating this as a role vs. each item. please update"/>
            </p228:event>
            <p228:event time="2026-01-18T01:01:19.189" id="{A9113322-6870-423A-A169-0EA3991EED8C}">
              <p228:atrbtn authorId="{6F64F820-1379-D452-456D-9C65B93E65B1}"/>
              <p228:anchr>
                <p228:comment id="{B7B6135F-BFB7-406E-AA49-1DCA7E65E453}"/>
              </p228:anchr>
              <p228:date stDt="2026-01-18T01:01:19.189" endDt="2026-01-18T01:01:19.189"/>
            </p228:event>
            <p228:event time="2026-01-18T04:00:08.551" id="{E36BF3CB-8DDC-6C43-8D7F-EE67348C23D1}">
              <p228:atrbtn authorId="{78A03B09-F465-7A3C-9FB7-65502FD24C99}"/>
              <p228:anchr>
                <p228:comment id="{00000000-0000-0000-0000-000000000000}"/>
              </p228:anchr>
              <p228:pcntCmplt val="100000"/>
            </p228:event>
          </p228:history>
        </p228:taskDetails>
      </p:ext>
    </p188:extLst>
  </p188:cm>
</p188:cmLst>
</file>

<file path=ppt/comments/modernComment_105_3110C1A4.xml><?xml version="1.0" encoding="utf-8"?>
<p188:cmLst xmlns:a="http://schemas.openxmlformats.org/drawingml/2006/main" xmlns:r="http://schemas.openxmlformats.org/officeDocument/2006/relationships" xmlns:p188="http://schemas.microsoft.com/office/powerpoint/2018/8/main">
  <p188:cm id="{3888E213-9082-0542-AA93-D2ECE6833821}" authorId="{78A03B09-F465-7A3C-9FB7-65502FD24C99}" status="resolved" created="2025-10-21T21:11:41.701">
    <ac:txMkLst xmlns:ac="http://schemas.microsoft.com/office/drawing/2013/main/command">
      <pc:docMk xmlns:pc="http://schemas.microsoft.com/office/powerpoint/2013/main/command"/>
      <pc:sldMk xmlns:pc="http://schemas.microsoft.com/office/powerpoint/2013/main/command" cId="823181732" sldId="261"/>
      <ac:spMk id="21" creationId="{F7C02333-F6E5-7B8A-88B4-07047E3B3D3B}"/>
      <ac:txMk cp="50" len="15">
        <ac:context len="124" hash="1626920586"/>
      </ac:txMk>
    </ac:txMkLst>
    <p188:replyLst>
      <p188:reply id="{4B2D6AB6-047F-6E43-B51D-6073634627C2}" authorId="{78A03B09-F465-7A3C-9FB7-65502FD24C99}" created="2025-10-22T14:35:59.611">
        <p188:txBody>
          <a:bodyPr/>
          <a:lstStyle/>
          <a:p>
            <a:r>
              <a:rPr lang="en-US"/>
              <a:t>Need internal review</a:t>
            </a:r>
          </a:p>
        </p188:txBody>
      </p188:reply>
    </p188:replyLst>
    <p188:txBody>
      <a:bodyPr/>
      <a:lstStyle/>
      <a:p>
        <a:r>
          <a:rPr lang="en-US"/>
          <a:t>Highlight "towards future". And maybe not use the phrase "JTBD" until we teach this part.</a:t>
        </a:r>
      </a:p>
    </p188:txBody>
  </p188:cm>
</p188:cmLst>
</file>

<file path=ppt/comments/modernComment_107_A0C1CD6F.xml><?xml version="1.0" encoding="utf-8"?>
<p188:cmLst xmlns:a="http://schemas.openxmlformats.org/drawingml/2006/main" xmlns:r="http://schemas.openxmlformats.org/officeDocument/2006/relationships" xmlns:p188="http://schemas.microsoft.com/office/powerpoint/2018/8/main">
  <p188:cm id="{75EAA5E2-1DEF-A847-A9CF-ABB3E1D0269F}" authorId="{78A03B09-F465-7A3C-9FB7-65502FD24C99}" status="resolved" created="2025-11-04T15:26:38.649">
    <pc:sldMkLst xmlns:pc="http://schemas.microsoft.com/office/powerpoint/2013/main/command">
      <pc:docMk/>
      <pc:sldMk cId="406872856" sldId="275"/>
    </pc:sldMkLst>
    <p188:txBody>
      <a:bodyPr/>
      <a:lstStyle/>
      <a:p>
        <a:r>
          <a:rPr lang="en-US"/>
          <a:t>Use the digital role as &lt;what good looks like&gt; throughout</a:t>
        </a:r>
      </a:p>
    </p188:txBody>
  </p188:cm>
  <p188:cm id="{C6BE172D-4DC8-A94F-B85E-97F83862A217}" authorId="{78A03B09-F465-7A3C-9FB7-65502FD24C99}" status="resolved" created="2026-01-06T14:22:01.877">
    <pc:sldMkLst xmlns:pc="http://schemas.microsoft.com/office/powerpoint/2013/main/command">
      <pc:docMk/>
      <pc:sldMk cId="105343824" sldId="302"/>
    </pc:sldMkLst>
    <p188:replyLst>
      <p188:reply id="{299F5E29-05A7-3547-B83F-0622941FCA89}" authorId="{78A03B09-F465-7A3C-9FB7-65502FD24C99}" created="2026-01-09T14:26:45.670">
        <p188:txBody>
          <a:bodyPr/>
          <a:lstStyle/>
          <a:p>
            <a:r>
              <a:rPr lang="en-US"/>
              <a:t>New format, final outcome with animation</a:t>
            </a:r>
          </a:p>
        </p188:txBody>
      </p188:reply>
    </p188:replyLst>
    <p188:txBody>
      <a:bodyPr/>
      <a:lstStyle/>
      <a:p>
        <a:r>
          <a:rPr lang="en-US"/>
          <a:t>Line spacing, text color</a:t>
        </a:r>
      </a:p>
    </p188:txBody>
  </p188:cm>
  <p188:cm id="{714B349A-EF09-F447-8F3C-84B57E9AB1AD}" authorId="{78A03B09-F465-7A3C-9FB7-65502FD24C99}" status="resolved" created="2026-01-12T15:13:15.078" complete="100000">
    <pc:sldMkLst xmlns:pc="http://schemas.microsoft.com/office/powerpoint/2013/main/command">
      <pc:docMk/>
      <pc:sldMk cId="2197320587" sldId="262"/>
    </pc:sldMkLst>
    <p188:replyLst>
      <p188:reply id="{A6F7C640-FC50-8D4C-BD8D-39EDAE3F4AC1}" authorId="{78A03B09-F465-7A3C-9FB7-65502FD24C99}" created="2026-01-13T19:53:53.224">
        <p188:txBody>
          <a:bodyPr/>
          <a:lstStyle/>
          <a:p>
            <a:r>
              <a:rPr lang="en-US"/>
              <a:t>Done, please review</a:t>
            </a:r>
          </a:p>
        </p188:txBody>
      </p188:reply>
    </p188:replyLst>
    <p188:txBody>
      <a:bodyPr/>
      <a:lstStyle/>
      <a:p>
        <a:r>
          <a:rPr lang="en-US"/>
          <a:t>Need to update for Frontier case</a:t>
        </a:r>
      </a:p>
    </p188:txBody>
  </p188:cm>
</p188:cmLst>
</file>

<file path=ppt/comments/modernComment_108_5B16CBB2.xml><?xml version="1.0" encoding="utf-8"?>
<p188:cmLst xmlns:a="http://schemas.openxmlformats.org/drawingml/2006/main" xmlns:r="http://schemas.openxmlformats.org/officeDocument/2006/relationships" xmlns:p188="http://schemas.microsoft.com/office/powerpoint/2018/8/main">
  <p188:cm id="{6530AF88-9935-1A42-A7EF-679C5B8ED3AB}" authorId="{78A03B09-F465-7A3C-9FB7-65502FD24C99}" status="resolved" created="2025-11-07T16:29:23.827">
    <pc:sldMkLst xmlns:pc="http://schemas.microsoft.com/office/powerpoint/2013/main/command">
      <pc:docMk/>
      <pc:sldMk cId="1340747385" sldId="299"/>
    </pc:sldMkLst>
    <p188:txBody>
      <a:bodyPr/>
      <a:lstStyle/>
      <a:p>
        <a:r>
          <a:rPr lang="en-US"/>
          <a:t>use the digital role as "what good looks like" throughout</a:t>
        </a:r>
      </a:p>
    </p188:txBody>
  </p188:cm>
  <p188:cm id="{0B3AD3C9-53ED-A04F-8578-1FB10A16F3E4}" authorId="{78A03B09-F465-7A3C-9FB7-65502FD24C99}" status="resolved" created="2026-01-09T14:31:18.460" complete="100000">
    <pc:sldMkLst xmlns:pc="http://schemas.microsoft.com/office/powerpoint/2013/main/command">
      <pc:docMk/>
      <pc:sldMk cId="1340747385" sldId="299"/>
    </pc:sldMkLst>
    <p188:txBody>
      <a:bodyPr/>
      <a:lstStyle/>
      <a:p>
        <a:r>
          <a:rPr lang="en-US"/>
          <a:t>reformat to match slide 36</a:t>
        </a:r>
      </a:p>
    </p188:txBody>
  </p188:cm>
  <p188:cm id="{34368510-2DC8-CC41-A514-2D4ED788185D}" authorId="{78A03B09-F465-7A3C-9FB7-65502FD24C99}" status="resolved" created="2026-01-12T15:14:33.228" complete="100000">
    <ac:deMkLst xmlns:ac="http://schemas.microsoft.com/office/drawing/2013/main/command">
      <pc:docMk xmlns:pc="http://schemas.microsoft.com/office/powerpoint/2013/main/command"/>
      <pc:sldMk xmlns:pc="http://schemas.microsoft.com/office/powerpoint/2013/main/command" cId="1528220594" sldId="264"/>
      <ac:spMk id="7" creationId="{82886E60-85A5-75BC-5301-FAF4E191046F}"/>
    </ac:deMkLst>
    <p188:replyLst>
      <p188:reply id="{1483F97D-FE66-6F4F-AB3D-C9E3EC5BE1BC}" authorId="{78A03B09-F465-7A3C-9FB7-65502FD24C99}" created="2026-01-13T20:01:18.449">
        <p188:txBody>
          <a:bodyPr/>
          <a:lstStyle/>
          <a:p>
            <a:r>
              <a:rPr lang="en-US"/>
              <a:t>done, please review</a:t>
            </a:r>
          </a:p>
        </p188:txBody>
      </p188:reply>
    </p188:replyLst>
    <p188:txBody>
      <a:bodyPr/>
      <a:lstStyle/>
      <a:p>
        <a:r>
          <a:rPr lang="en-US"/>
          <a:t>Need to update for Frontier case</a:t>
        </a:r>
      </a:p>
    </p188:txBody>
  </p188:cm>
</p188:cmLst>
</file>

<file path=ppt/comments/modernComment_109_27844BE4.xml><?xml version="1.0" encoding="utf-8"?>
<p188:cmLst xmlns:a="http://schemas.openxmlformats.org/drawingml/2006/main" xmlns:r="http://schemas.openxmlformats.org/officeDocument/2006/relationships" xmlns:p188="http://schemas.microsoft.com/office/powerpoint/2018/8/main">
  <p188:cm id="{DF5E20A4-A95F-CF41-AE5F-00AE80968AEF}" authorId="{78A03B09-F465-7A3C-9FB7-65502FD24C99}" status="resolved" created="2026-01-13T20:22:19.992" complete="100000">
    <pc:sldMkLst xmlns:pc="http://schemas.microsoft.com/office/powerpoint/2013/main/command">
      <pc:docMk/>
      <pc:sldMk cId="662981604" sldId="265"/>
    </pc:sldMkLst>
    <p188:txBody>
      <a:bodyPr/>
      <a:lstStyle/>
      <a:p>
        <a:r>
          <a:rPr lang="en-US"/>
          <a:t>Rebuilt for frontier, please review</a:t>
        </a:r>
      </a:p>
    </p188:txBody>
  </p188:cm>
</p188:cmLst>
</file>

<file path=ppt/comments/modernComment_112_5B89AF64.xml><?xml version="1.0" encoding="utf-8"?>
<p188:cmLst xmlns:a="http://schemas.openxmlformats.org/drawingml/2006/main" xmlns:r="http://schemas.openxmlformats.org/officeDocument/2006/relationships" xmlns:p188="http://schemas.microsoft.com/office/powerpoint/2018/8/main">
  <p188:cm id="{C7B18820-B405-194F-9A54-4D2D07D66483}" authorId="{78A03B09-F465-7A3C-9FB7-65502FD24C99}" status="resolved" created="2025-10-27T15:30:08.273" complete="100000">
    <pc:sldMkLst xmlns:pc="http://schemas.microsoft.com/office/powerpoint/2013/main/command">
      <pc:docMk/>
      <pc:sldMk cId="1535749988" sldId="274"/>
    </pc:sldMkLst>
    <p188:replyLst>
      <p188:reply id="{004433DC-9B96-0C49-B154-26981E63B956}" authorId="{78A03B09-F465-7A3C-9FB7-65502FD24C99}" created="2025-10-27T15:31:47.487">
        <p188:txBody>
          <a:bodyPr/>
          <a:lstStyle/>
          <a:p>
            <a:r>
              <a:rPr lang="en-US"/>
              <a:t>This slide should be "Closing the Gap".
[RTL] Please help visualize.</a:t>
            </a:r>
          </a:p>
        </p188:txBody>
      </p188:reply>
      <p188:reply id="{61C90028-1140-4E93-A5CC-47AFFBFA3276}" authorId="{8C1ABC11-B797-681D-522A-FD231CA4246B}" created="2025-10-28T19:52:39.253">
        <p188:txBody>
          <a:bodyPr/>
          <a:lstStyle/>
          <a:p>
            <a:r>
              <a:rPr lang="en-US"/>
              <a:t>Need to reassess risks when ready to fill the role to determine if anything has changed</a:t>
            </a:r>
          </a:p>
        </p188:txBody>
      </p188:reply>
    </p188:replyLst>
    <p188:txBody>
      <a:bodyPr/>
      <a:lstStyle/>
      <a:p>
        <a:r>
          <a:rPr lang="en-US"/>
          <a:t>Two components of MOBILIZE:
1. Closing the Gap (development focus) - Develop people who are "one move away", what's the plan for this "ONE MOVE"?
2. Succession in Action (support focus) - After the person get into the job, how do I make sure they are successful in the role?
[RTL] Please help to create the visualized slide.</a:t>
        </a:r>
      </a:p>
    </p188:txBody>
  </p188:cm>
</p188:cmLst>
</file>

<file path=ppt/comments/modernComment_114_D4C82F17.xml><?xml version="1.0" encoding="utf-8"?>
<p188:cmLst xmlns:a="http://schemas.openxmlformats.org/drawingml/2006/main" xmlns:r="http://schemas.openxmlformats.org/officeDocument/2006/relationships" xmlns:p188="http://schemas.microsoft.com/office/powerpoint/2018/8/main">
  <p188:cm id="{9CB51738-78E8-40E2-BDE3-68D1F67CDCB5}" authorId="{8C1ABC11-B797-681D-522A-FD231CA4246B}" status="resolved" created="2025-10-17T14:27:47.441" complete="100000">
    <pc:sldMkLst xmlns:pc="http://schemas.microsoft.com/office/powerpoint/2013/main/command">
      <pc:docMk/>
      <pc:sldMk cId="3569889047" sldId="276"/>
    </pc:sldMkLst>
    <p188:replyLst>
      <p188:reply id="{25CA5903-E1B4-E44F-9412-22AB3AAC8684}" authorId="{78A03B09-F465-7A3C-9FB7-65502FD24C99}" created="2025-10-22T15:17:32.227">
        <p188:txBody>
          <a:bodyPr/>
          <a:lstStyle/>
          <a:p>
            <a:r>
              <a:rPr lang="en-US"/>
              <a:t>This page should be talking about &lt;How to identify impactful superpowers&gt;
Superpower has to be something you can assess/rate and ask questions about. It should be something you can gather evidence for. What are the data/evidence you can refer to when assessing superpowers?
[RTL] Please help create this slide.</a:t>
            </a:r>
          </a:p>
        </p188:txBody>
      </p188:reply>
      <p188:reply id="{1E1B84CE-6E41-423C-B863-727B3C1D08E9}" authorId="{8C1ABC11-B797-681D-522A-FD231CA4246B}" created="2025-10-28T19:45:01.342">
        <p188:txBody>
          <a:bodyPr/>
          <a:lstStyle/>
          <a:p>
            <a:r>
              <a:rPr lang="en-US"/>
              <a:t>Assess work/role risks, interview leader, what are the pivots and what does someone need to deliver in the role</a:t>
            </a:r>
          </a:p>
        </p188:txBody>
      </p188:reply>
      <p188:reply id="{476E9CE6-2076-403E-9D59-03F7FA2EFC09}" authorId="{8C1ABC11-B797-681D-522A-FD231CA4246B}" created="2025-11-04T16:36:31.630">
        <p188:txBody>
          <a:bodyPr/>
          <a:lstStyle/>
          <a:p>
            <a:r>
              <a:rPr lang="en-US"/>
              <a:t>I made some adjustments, but I think there’s opportunity to do more with this slide</a:t>
            </a:r>
          </a:p>
        </p188:txBody>
      </p188:reply>
    </p188:replyLst>
    <p188:txBody>
      <a:bodyPr/>
      <a:lstStyle/>
      <a:p>
        <a:r>
          <a:rPr lang="en-US"/>
          <a:t>This is where we discuss the “how” of identifying superpowers; I added some information, but more will be needed to flesh this out</a:t>
        </a:r>
      </a:p>
    </p188:txBody>
  </p188:cm>
  <p188:cm id="{F64CB2AB-2351-9041-8CD4-8E3B31BDFC39}" authorId="{78A03B09-F465-7A3C-9FB7-65502FD24C99}" status="resolved" created="2025-11-10T21:18:44.093" complete="100000">
    <pc:sldMkLst xmlns:pc="http://schemas.microsoft.com/office/powerpoint/2013/main/command">
      <pc:docMk/>
      <pc:sldMk cId="3569889047" sldId="276"/>
    </pc:sldMkLst>
    <p188:txBody>
      <a:bodyPr/>
      <a:lstStyle/>
      <a:p>
        <a:r>
          <a:rPr lang="en-US"/>
          <a:t>RTL please refine the visual.</a:t>
        </a:r>
      </a:p>
    </p188:txBody>
  </p188:cm>
</p188:cmLst>
</file>

<file path=ppt/comments/modernComment_116_F05C3FA9.xml><?xml version="1.0" encoding="utf-8"?>
<p188:cmLst xmlns:a="http://schemas.openxmlformats.org/drawingml/2006/main" xmlns:r="http://schemas.openxmlformats.org/officeDocument/2006/relationships" xmlns:p188="http://schemas.microsoft.com/office/powerpoint/2018/8/main">
  <p188:cm id="{E885A994-625D-9543-8542-89C8301525FA}" authorId="{78A03B09-F465-7A3C-9FB7-65502FD24C99}" status="resolved" created="2025-10-21T21:17:28.230" complete="100000">
    <pc:sldMkLst xmlns:pc="http://schemas.microsoft.com/office/powerpoint/2013/main/command">
      <pc:docMk/>
      <pc:sldMk cId="4032577449" sldId="278"/>
    </pc:sldMkLst>
    <p188:replyLst>
      <p188:reply id="{F1DA5EB9-DD1E-2D4D-B110-254EC1AF11AA}" authorId="{78A03B09-F465-7A3C-9FB7-65502FD24C99}" created="2025-10-22T14:49:57.613">
        <p188:txBody>
          <a:bodyPr/>
          <a:lstStyle/>
          <a:p>
            <a:r>
              <a:rPr lang="en-US"/>
              <a:t>Phase names:
/DEFINE
/ASSESS
/MOBILIZE</a:t>
            </a:r>
          </a:p>
        </p188:txBody>
      </p188:reply>
      <p188:reply id="{43C5541A-00BF-2943-8B1B-5F939915CD1C}" authorId="{78A03B09-F465-7A3C-9FB7-65502FD24C99}" created="2025-10-22T14:52:44.985">
        <p188:txBody>
          <a:bodyPr/>
          <a:lstStyle/>
          <a:p>
            <a:r>
              <a:rPr lang="en-US"/>
              <a:t>Need to add some output samples at the bottom. </a:t>
            </a:r>
          </a:p>
        </p188:txBody>
      </p188:reply>
    </p188:replyLst>
    <p188:txBody>
      <a:bodyPr/>
      <a:lstStyle/>
      <a:p>
        <a:r>
          <a:rPr lang="en-US"/>
          <a:t>Phase 1: JTBD, Risk, Superpower
Phase 2: Evidence Mosaic, Readiness summary, Pipeline health snapshot
Phase 3: Developmeny Plan and Mobilization Plan</a:t>
        </a:r>
      </a:p>
    </p188:txBody>
  </p188:cm>
  <p188:cm id="{3C83AA47-A68E-7B4F-9FEA-9A3A9ED4B7A5}" authorId="{BB243E05-1E47-4B24-CEC5-07CE1EB55D0E}" status="resolved" created="2025-11-10T19:25:31.082" complete="100000">
    <ac:txMkLst xmlns:ac="http://schemas.microsoft.com/office/drawing/2013/main/command">
      <pc:docMk xmlns:pc="http://schemas.microsoft.com/office/powerpoint/2013/main/command"/>
      <pc:sldMk xmlns:pc="http://schemas.microsoft.com/office/powerpoint/2013/main/command" cId="4032577449" sldId="278"/>
      <ac:spMk id="11" creationId="{4A7F25F0-5964-718E-5C45-8662B3CE4792}"/>
      <ac:txMk cp="37" len="15">
        <ac:context len="65" hash="4145857387"/>
      </ac:txMk>
    </ac:txMkLst>
    <p188:txBody>
      <a:bodyPr/>
      <a:lstStyle/>
      <a:p>
        <a:r>
          <a:rPr lang="en-US"/>
          <a:t>Role?</a:t>
        </a:r>
      </a:p>
    </p188:txBody>
  </p188:cm>
  <p188:cm id="{4D6A443E-7EDE-BF4D-8205-56C2F22FDFD5}" authorId="{BB243E05-1E47-4B24-CEC5-07CE1EB55D0E}" status="resolved" created="2025-11-10T19:26:06.936" complete="100000">
    <ac:txMkLst xmlns:ac="http://schemas.microsoft.com/office/drawing/2013/main/command">
      <pc:docMk xmlns:pc="http://schemas.microsoft.com/office/powerpoint/2013/main/command"/>
      <pc:sldMk xmlns:pc="http://schemas.microsoft.com/office/powerpoint/2013/main/command" cId="4032577449" sldId="278"/>
      <ac:spMk id="25" creationId="{A7FC9EB8-7537-6618-E3FC-05C14443DE85}"/>
      <ac:txMk cp="21" len="15">
        <ac:context len="82" hash="2864659793"/>
      </ac:txMk>
    </ac:txMkLst>
    <p188:txBody>
      <a:bodyPr/>
      <a:lstStyle/>
      <a:p>
        <a:r>
          <a:rPr lang="en-US"/>
          <a:t>Multi-point evidence mosaic on each succession candidate</a:t>
        </a:r>
      </a:p>
    </p188:txBody>
  </p188:cm>
  <p188:cm id="{1E0350FA-038C-D74E-A64A-50CC0D8C2296}" authorId="{BB243E05-1E47-4B24-CEC5-07CE1EB55D0E}" status="resolved" created="2025-11-10T19:26:39.981" complete="100000">
    <ac:txMkLst xmlns:ac="http://schemas.microsoft.com/office/drawing/2013/main/command">
      <pc:docMk xmlns:pc="http://schemas.microsoft.com/office/powerpoint/2013/main/command"/>
      <pc:sldMk xmlns:pc="http://schemas.microsoft.com/office/powerpoint/2013/main/command" cId="4032577449" sldId="278"/>
      <ac:spMk id="31" creationId="{E629D5C7-566F-2D17-1B5C-16A5499C2B8A}"/>
      <ac:txMk cp="9" len="36">
        <ac:context len="46" hash="806339301"/>
      </ac:txMk>
    </ac:txMkLst>
    <p188:txBody>
      <a:bodyPr/>
      <a:lstStyle/>
      <a:p>
        <a:r>
          <a:rPr lang="en-US"/>
          <a:t>What is the difference between the two in this context?</a:t>
        </a:r>
      </a:p>
    </p188:txBody>
  </p188:cm>
</p188:cmLst>
</file>

<file path=ppt/comments/modernComment_117_87235414.xml><?xml version="1.0" encoding="utf-8"?>
<p188:cmLst xmlns:a="http://schemas.openxmlformats.org/drawingml/2006/main" xmlns:r="http://schemas.openxmlformats.org/officeDocument/2006/relationships" xmlns:p188="http://schemas.microsoft.com/office/powerpoint/2018/8/main">
  <p188:cm id="{0318FA46-F4DC-A448-9C98-0905AE346930}" authorId="{78A03B09-F465-7A3C-9FB7-65502FD24C99}" status="resolved" created="2025-10-22T15:18:41.977" complete="100000">
    <pc:sldMkLst xmlns:pc="http://schemas.microsoft.com/office/powerpoint/2013/main/command">
      <pc:docMk/>
      <pc:sldMk cId="2267239444" sldId="279"/>
    </pc:sldMkLst>
    <p188:txBody>
      <a:bodyPr/>
      <a:lstStyle/>
      <a:p>
        <a:r>
          <a:rPr lang="en-US"/>
          <a:t>Remove Insights box</a:t>
        </a:r>
      </a:p>
    </p188:txBody>
  </p188:cm>
  <p188:cm id="{AF39C855-3332-AA48-9D5F-8A41ED96EC78}" authorId="{78A03B09-F465-7A3C-9FB7-65502FD24C99}" status="resolved" created="2025-10-22T15:19:24.390" complete="100000">
    <ac:txMkLst xmlns:ac="http://schemas.microsoft.com/office/drawing/2013/main/command">
      <pc:docMk xmlns:pc="http://schemas.microsoft.com/office/powerpoint/2013/main/command"/>
      <pc:sldMk xmlns:pc="http://schemas.microsoft.com/office/powerpoint/2013/main/command" cId="2267239444" sldId="279"/>
      <ac:spMk id="18" creationId="{5F97BC63-0326-9C29-6FF2-74E21DF2D896}"/>
      <ac:txMk cp="51" len="1">
        <ac:context len="82" hash="2210114994"/>
      </ac:txMk>
    </ac:txMkLst>
    <p188:pos x="9487611" y="658151"/>
    <p188:txBody>
      <a:bodyPr/>
      <a:lstStyle/>
      <a:p>
        <a:r>
          <a:rPr lang="en-US"/>
          <a:t>"that you can assess successors against them"</a:t>
        </a:r>
      </a:p>
    </p188:txBody>
  </p188:cm>
</p188:cmLst>
</file>

<file path=ppt/comments/modernComment_119_335443BF.xml><?xml version="1.0" encoding="utf-8"?>
<p188:cmLst xmlns:a="http://schemas.openxmlformats.org/drawingml/2006/main" xmlns:r="http://schemas.openxmlformats.org/officeDocument/2006/relationships" xmlns:p188="http://schemas.microsoft.com/office/powerpoint/2018/8/main">
  <p188:cm id="{4B5AFFAE-61A4-A248-BA93-BCD1F4A21C7A}" authorId="{78A03B09-F465-7A3C-9FB7-65502FD24C99}" status="resolved" created="2025-10-27T15:52:42.764" complete="100000">
    <pc:sldMkLst xmlns:pc="http://schemas.microsoft.com/office/powerpoint/2013/main/command">
      <pc:docMk/>
      <pc:sldMk cId="861160383" sldId="281"/>
    </pc:sldMkLst>
    <p188:replyLst>
      <p188:reply id="{AAF705ED-8E99-184C-8C76-D734FA7BA069}" authorId="{78A03B09-F465-7A3C-9FB7-65502FD24C99}" created="2025-10-27T15:53:18.983">
        <p188:txBody>
          <a:bodyPr/>
          <a:lstStyle/>
          <a:p>
            <a:r>
              <a:rPr lang="en-US"/>
              <a:t>Succession readiness is in two places: 1. Closing the gap to strengthen the pipeline; 2.Support the successors to deliver value.</a:t>
            </a:r>
          </a:p>
        </p188:txBody>
      </p188:reply>
    </p188:replyLst>
    <p188:txBody>
      <a:bodyPr/>
      <a:lstStyle/>
      <a:p>
        <a:r>
          <a:rPr lang="en-US"/>
          <a:t>Texts need review.</a:t>
        </a:r>
      </a:p>
    </p188:txBody>
  </p188:cm>
</p188:cmLst>
</file>

<file path=ppt/comments/modernComment_122_B235B4C6.xml><?xml version="1.0" encoding="utf-8"?>
<p188:cmLst xmlns:a="http://schemas.openxmlformats.org/drawingml/2006/main" xmlns:r="http://schemas.openxmlformats.org/officeDocument/2006/relationships" xmlns:p188="http://schemas.microsoft.com/office/powerpoint/2018/8/main">
  <p188:cm id="{7CBF1057-E110-0C49-BC65-3FCF0C023DDB}" authorId="{78A03B09-F465-7A3C-9FB7-65502FD24C99}" status="resolved" created="2026-01-09T14:30:11.662" complete="100000">
    <pc:sldMkLst xmlns:pc="http://schemas.microsoft.com/office/powerpoint/2013/main/command">
      <pc:docMk/>
      <pc:sldMk cId="2989864134" sldId="290"/>
    </pc:sldMkLst>
    <p188:txBody>
      <a:bodyPr/>
      <a:lstStyle/>
      <a:p>
        <a:r>
          <a:rPr lang="en-US"/>
          <a:t>Alex may have a simpler version</a:t>
        </a:r>
      </a:p>
    </p188:txBody>
  </p188:cm>
</p188:cmLst>
</file>

<file path=ppt/comments/modernComment_124_A5CC3003.xml><?xml version="1.0" encoding="utf-8"?>
<p188:cmLst xmlns:a="http://schemas.openxmlformats.org/drawingml/2006/main" xmlns:r="http://schemas.openxmlformats.org/officeDocument/2006/relationships" xmlns:p188="http://schemas.microsoft.com/office/powerpoint/2018/8/main">
  <p188:cm id="{A30ACD2D-B7B4-FC4A-B917-B047E9FEED77}" authorId="{78A03B09-F465-7A3C-9FB7-65502FD24C99}" status="resolved" created="2025-10-22T15:34:02.287" complete="100000">
    <ac:txMkLst xmlns:ac="http://schemas.microsoft.com/office/drawing/2013/main/command">
      <pc:docMk xmlns:pc="http://schemas.microsoft.com/office/powerpoint/2013/main/command"/>
      <pc:sldMk xmlns:pc="http://schemas.microsoft.com/office/powerpoint/2013/main/command" cId="2781622275" sldId="292"/>
      <ac:spMk id="64" creationId="{BE1D128E-B100-4837-BB35-471449D4FF23}"/>
      <ac:txMk cp="0">
        <ac:context len="323" hash="3903850450"/>
      </ac:txMk>
    </ac:txMkLst>
    <p188:pos x="4297452" y="1414012"/>
    <p188:txBody>
      <a:bodyPr/>
      <a:lstStyle/>
      <a:p>
        <a:r>
          <a:rPr lang="en-US"/>
          <a:t>Change needed: Stakeholder perspectives and calibrations.</a:t>
        </a:r>
      </a:p>
    </p188:txBody>
  </p188:cm>
</p188:cmLst>
</file>

<file path=ppt/comments/modernComment_129_98BF1127.xml><?xml version="1.0" encoding="utf-8"?>
<p188:cmLst xmlns:a="http://schemas.openxmlformats.org/drawingml/2006/main" xmlns:r="http://schemas.openxmlformats.org/officeDocument/2006/relationships" xmlns:p188="http://schemas.microsoft.com/office/powerpoint/2018/8/main">
  <p188:cm id="{9195DBFB-518C-AF4B-921A-BD5EB18905FA}" authorId="{78A03B09-F465-7A3C-9FB7-65502FD24C99}" status="resolved" created="2025-11-13T16:44:11.538" complete="100000">
    <pc:sldMkLst xmlns:pc="http://schemas.microsoft.com/office/powerpoint/2013/main/command">
      <pc:docMk/>
      <pc:sldMk cId="2562658599" sldId="297"/>
    </pc:sldMkLst>
    <p188:txBody>
      <a:bodyPr/>
      <a:lstStyle/>
      <a:p>
        <a:r>
          <a:rPr lang="en-US"/>
          <a:t>further review internally</a:t>
        </a:r>
      </a:p>
    </p188:txBody>
  </p188:cm>
</p188:cmLst>
</file>

<file path=ppt/comments/modernComment_130_F1591830.xml><?xml version="1.0" encoding="utf-8"?>
<p188:cmLst xmlns:a="http://schemas.openxmlformats.org/drawingml/2006/main" xmlns:r="http://schemas.openxmlformats.org/officeDocument/2006/relationships" xmlns:p188="http://schemas.microsoft.com/office/powerpoint/2018/8/main">
  <p188:cm id="{8E01C892-2C15-324E-8CF6-BDFF12ACAD20}" authorId="{78A03B09-F465-7A3C-9FB7-65502FD24C99}" status="resolved" created="2025-11-10T21:26:55.984" complete="100000">
    <pc:sldMkLst xmlns:pc="http://schemas.microsoft.com/office/powerpoint/2013/main/command">
      <pc:docMk/>
      <pc:sldMk cId="4049147952" sldId="304"/>
    </pc:sldMkLst>
    <p188:txBody>
      <a:bodyPr/>
      <a:lstStyle/>
      <a:p>
        <a:r>
          <a:rPr lang="en-US"/>
          <a:t>For internal further discussion:
Ready Now
Ready in the Future
Not a candidate</a:t>
        </a:r>
      </a:p>
    </p188:txBody>
  </p188:cm>
</p188:cmLst>
</file>

<file path=ppt/comments/modernComment_131_65DEED07.xml><?xml version="1.0" encoding="utf-8"?>
<p188:cmLst xmlns:a="http://schemas.openxmlformats.org/drawingml/2006/main" xmlns:r="http://schemas.openxmlformats.org/officeDocument/2006/relationships" xmlns:p188="http://schemas.microsoft.com/office/powerpoint/2018/8/main">
  <p188:cm id="{0F2DA790-2E3D-5946-86A0-7AC3D35E2C1F}" authorId="{78A03B09-F465-7A3C-9FB7-65502FD24C99}" status="resolved" created="2025-11-07T17:33:03.076">
    <pc:sldMkLst xmlns:pc="http://schemas.microsoft.com/office/powerpoint/2013/main/command">
      <pc:docMk/>
      <pc:sldMk cId="691124526" sldId="305"/>
    </pc:sldMkLst>
    <p188:replyLst>
      <p188:reply id="{2BF892FC-1C35-7D4A-9396-3F981F8507D8}" authorId="{78A03B09-F465-7A3C-9FB7-65502FD24C99}" created="2025-11-13T17:02:17.002">
        <p188:txBody>
          <a:bodyPr/>
          <a:lstStyle/>
          <a:p>
            <a:r>
              <a:rPr lang="en-US"/>
              <a:t>Internal review to decide on the standard template.</a:t>
            </a:r>
          </a:p>
        </p188:txBody>
      </p188:reply>
      <p188:reply id="{D794159C-698C-7646-9218-5A6CA0CE11E1}" authorId="{78A03B09-F465-7A3C-9FB7-65502FD24C99}" created="2025-11-18T16:46:50.107">
        <p188:txBody>
          <a:bodyPr/>
          <a:lstStyle/>
          <a:p>
            <a:r>
              <a:rPr lang="en-US"/>
              <a:t>Use this template for now, re-write the content for the digital role example. _Ming to do</a:t>
            </a:r>
          </a:p>
        </p188:txBody>
      </p188:reply>
      <p188:reply id="{D573275E-EBF7-DA4C-8C6B-25E410024CD0}" authorId="{78A03B09-F465-7A3C-9FB7-65502FD24C99}" created="2026-01-06T00:18:52.213">
        <p188:txBody>
          <a:bodyPr/>
          <a:lstStyle/>
          <a:p>
            <a:r>
              <a:rPr lang="en-US"/>
              <a:t>done, need team review</a:t>
            </a:r>
          </a:p>
        </p188:txBody>
      </p188:reply>
      <p188:reply id="{8A8B94E1-7FC7-0048-B4CB-D5EBAA8F664D}" authorId="{78A03B09-F465-7A3C-9FB7-65502FD24C99}" created="2026-01-06T15:14:54.859">
        <p188:txBody>
          <a:bodyPr/>
          <a:lstStyle/>
          <a:p>
            <a:r>
              <a:rPr lang="en-US"/>
              <a:t>need to simplify</a:t>
            </a:r>
          </a:p>
        </p188:txBody>
      </p188:reply>
    </p188:replyLst>
    <p188:txBody>
      <a:bodyPr/>
      <a:lstStyle/>
      <a:p>
        <a:r>
          <a:rPr lang="en-US"/>
          <a:t>We need to confirm this template. And then I will create content for Digital role</a:t>
        </a:r>
      </a:p>
    </p188:txBody>
  </p188:cm>
  <p188:cm id="{F829F760-CC3C-494C-8B65-9F1D87E4F3C3}" authorId="{78A03B09-F465-7A3C-9FB7-65502FD24C99}" created="2026-01-13T20:27:12.728">
    <pc:sldMkLst xmlns:pc="http://schemas.microsoft.com/office/powerpoint/2013/main/command">
      <pc:docMk/>
      <pc:sldMk cId="1709108487" sldId="305"/>
    </pc:sldMkLst>
    <p188:txBody>
      <a:bodyPr/>
      <a:lstStyle/>
      <a:p>
        <a:r>
          <a:rPr lang="en-US"/>
          <a:t>Build answer key for Sarah, please review</a:t>
        </a:r>
      </a:p>
    </p188:txBody>
  </p188:cm>
</p188:cmLst>
</file>

<file path=ppt/comments/modernComment_132_6F90B60F.xml><?xml version="1.0" encoding="utf-8"?>
<p188:cmLst xmlns:a="http://schemas.openxmlformats.org/drawingml/2006/main" xmlns:r="http://schemas.openxmlformats.org/officeDocument/2006/relationships" xmlns:p188="http://schemas.microsoft.com/office/powerpoint/2018/8/main">
  <p188:cm id="{74E120C8-FEE2-CB49-945A-AAB7ECF969CA}" authorId="{78A03B09-F465-7A3C-9FB7-65502FD24C99}" status="resolved" created="2026-01-09T14:35:54.216" complete="100000">
    <pc:sldMkLst xmlns:pc="http://schemas.microsoft.com/office/powerpoint/2013/main/command">
      <pc:docMk/>
      <pc:sldMk cId="1871754767" sldId="306"/>
    </pc:sldMkLst>
    <p188:txBody>
      <a:bodyPr/>
      <a:lstStyle/>
      <a:p>
        <a:r>
          <a:rPr lang="en-US"/>
          <a:t>Take the new visual from ADQ slides</a:t>
        </a:r>
      </a:p>
    </p188:txBody>
  </p188:cm>
</p188:cmLst>
</file>

<file path=ppt/comments/modernComment_137_80EF9951.xml><?xml version="1.0" encoding="utf-8"?>
<p188:cmLst xmlns:a="http://schemas.openxmlformats.org/drawingml/2006/main" xmlns:r="http://schemas.openxmlformats.org/officeDocument/2006/relationships" xmlns:p188="http://schemas.microsoft.com/office/powerpoint/2018/8/main">
  <p188:cm id="{4A99BF77-F5A2-7145-9C28-CAE13C13EE04}" authorId="{78A03B09-F465-7A3C-9FB7-65502FD24C99}" status="resolved" created="2025-10-22T15:21:29.659" complete="100000">
    <ac:deMkLst xmlns:ac="http://schemas.microsoft.com/office/drawing/2013/main/command">
      <pc:docMk xmlns:pc="http://schemas.microsoft.com/office/powerpoint/2013/main/command"/>
      <pc:sldMk xmlns:pc="http://schemas.microsoft.com/office/powerpoint/2013/main/command" cId="2163186001" sldId="311"/>
      <ac:spMk id="16" creationId="{266E308A-3097-DB2F-F3A9-B22116771F8F}"/>
    </ac:deMkLst>
    <p188:replyLst>
      <p188:reply id="{9F8C4F50-B623-48C3-B142-5D6A1B4C3224}" authorId="{8C1ABC11-B797-681D-522A-FD231CA4246B}" created="2025-10-28T19:46:08.904">
        <p188:txBody>
          <a:bodyPr/>
          <a:lstStyle/>
          <a:p>
            <a:r>
              <a:rPr lang="en-US"/>
              <a:t>Whoever knows the most about the role - person in the role, person the role reports to, etc.</a:t>
            </a:r>
          </a:p>
        </p188:txBody>
      </p188:reply>
      <p188:reply id="{D8AEBBE2-5505-440C-B155-F3FC2F78D8CF}" authorId="{8C1ABC11-B797-681D-522A-FD231CA4246B}" created="2025-11-04T16:48:03.820">
        <p188:txBody>
          <a:bodyPr/>
          <a:lstStyle/>
          <a:p>
            <a:r>
              <a:rPr lang="en-US"/>
              <a:t>Adjusted activity to incorporate the interview - let me know if the language works</a:t>
            </a:r>
          </a:p>
        </p188:txBody>
      </p188:reply>
    </p188:replyLst>
    <p188:txBody>
      <a:bodyPr/>
      <a:lstStyle/>
      <a:p>
        <a:r>
          <a:rPr lang="en-US"/>
          <a:t>Use simulated role-succession interview (played by the facilitator) for this activity.</a:t>
        </a:r>
      </a:p>
    </p188:txBody>
  </p188:cm>
</p188:cmLst>
</file>

<file path=ppt/comments/modernComment_140_9AAB999A.xml><?xml version="1.0" encoding="utf-8"?>
<p188:cmLst xmlns:a="http://schemas.openxmlformats.org/drawingml/2006/main" xmlns:r="http://schemas.openxmlformats.org/officeDocument/2006/relationships" xmlns:p188="http://schemas.microsoft.com/office/powerpoint/2018/8/main">
  <p188:cm id="{38B9EB1F-5106-454E-9E09-9F0DE3E10A1B}" authorId="{78A03B09-F465-7A3C-9FB7-65502FD24C99}" status="resolved" created="2025-10-27T15:54:46.698" complete="100000">
    <pc:sldMkLst xmlns:pc="http://schemas.microsoft.com/office/powerpoint/2013/main/command">
      <pc:docMk/>
      <pc:sldMk cId="2594937242" sldId="320"/>
    </pc:sldMkLst>
    <p188:txBody>
      <a:bodyPr/>
      <a:lstStyle/>
      <a:p>
        <a:r>
          <a:rPr lang="en-US"/>
          <a:t>Two Activities for Mobilize:
1. Activity for development (closing the gap)
2. Activity for mobilization (succession in action)</a:t>
        </a:r>
      </a:p>
    </p188:txBody>
  </p188:cm>
</p188:cmLst>
</file>

<file path=ppt/comments/modernComment_484_2246442.xml><?xml version="1.0" encoding="utf-8"?>
<p188:cmLst xmlns:a="http://schemas.openxmlformats.org/drawingml/2006/main" xmlns:r="http://schemas.openxmlformats.org/officeDocument/2006/relationships" xmlns:p188="http://schemas.microsoft.com/office/powerpoint/2018/8/main">
  <p188:cm id="{A81605AC-9AEE-8440-8579-15B80FF5792B}" authorId="{78A03B09-F465-7A3C-9FB7-65502FD24C99}" status="resolved" created="2025-10-27T15:36:59.260" complete="100000">
    <pc:sldMkLst xmlns:pc="http://schemas.microsoft.com/office/powerpoint/2013/main/command">
      <pc:docMk/>
      <pc:sldMk cId="35939394" sldId="1156"/>
    </pc:sldMkLst>
    <p188:txBody>
      <a:bodyPr/>
      <a:lstStyle/>
      <a:p>
        <a:r>
          <a:rPr lang="en-US"/>
          <a:t>3E or 4C?
3E: "closing the gap", development focus. To avoid overloading frameworks, we don't introduce this as "3E" here. Only keep "Now - Next - Later", and the texts under 3E.
4C: more focused on "mobilizing in the moment", and "mitigating risks".</a:t>
        </a:r>
      </a:p>
    </p188:txBody>
  </p188:cm>
  <p188:cm id="{F19F6670-9453-BE49-89AA-F0C6608567A5}" authorId="{78A03B09-F465-7A3C-9FB7-65502FD24C99}" status="resolved" created="2025-10-27T15:43:06.746" complete="100000">
    <pc:sldMkLst xmlns:pc="http://schemas.microsoft.com/office/powerpoint/2013/main/command">
      <pc:docMk/>
      <pc:sldMk cId="35939394" sldId="1156"/>
    </pc:sldMkLst>
    <p188:replyLst>
      <p188:reply id="{37DF4D6E-270E-9C42-986D-A47B16C3C047}" authorId="{78A03B09-F465-7A3C-9FB7-65502FD24C99}" created="2025-10-27T15:46:14.949">
        <p188:txBody>
          <a:bodyPr/>
          <a:lstStyle/>
          <a:p>
            <a:r>
              <a:rPr lang="en-US"/>
              <a:t>Now: Stretch and develop them in their current job.
Next and Later: sequenced actions to prepare them for the future.
[RTL] Please help re-create this slide based on the above comments.</a:t>
            </a:r>
          </a:p>
        </p188:txBody>
      </p188:reply>
    </p188:replyLst>
    <p188:txBody>
      <a:bodyPr/>
      <a:lstStyle/>
      <a:p>
        <a:r>
          <a:rPr lang="en-US"/>
          <a:t>Some organizations play with people's strengths and let them keep doing the same things they are good with. 
But they don't try to fix "gaps", that's what we want to focus on and solve here. We need to address those gaps so people are prepared for bigger missions and expanded responsibilities.</a:t>
        </a:r>
      </a:p>
    </p188:txBody>
  </p188:cm>
  <p188:cm id="{357F0990-C1F5-4E07-B76D-EFB435CC5CB0}" authorId="{8C1ABC11-B797-681D-522A-FD231CA4246B}" status="resolved" created="2025-10-28T19:55:25.360" complete="100000">
    <pc:sldMkLst xmlns:pc="http://schemas.microsoft.com/office/powerpoint/2013/main/command">
      <pc:docMk/>
      <pc:sldMk cId="35939394" sldId="1156"/>
    </pc:sldMkLst>
    <p188:replyLst>
      <p188:reply id="{8587F90E-793C-4F5E-A614-42F9B1043DEE}" authorId="{8C1ABC11-B797-681D-522A-FD231CA4246B}" created="2025-10-28T19:56:27.106">
        <p188:txBody>
          <a:bodyPr/>
          <a:lstStyle/>
          <a:p>
            <a:r>
              <a:rPr lang="en-US"/>
              <a:t>Multi-dimensional approach - look at variables, timing, etc.</a:t>
            </a:r>
          </a:p>
        </p188:txBody>
      </p188:reply>
    </p188:replyLst>
    <p188:txBody>
      <a:bodyPr/>
      <a:lstStyle/>
      <a:p>
        <a:r>
          <a:rPr lang="en-US"/>
          <a:t>Factors: time in role, time in development (may need to move someone faster due to compressed timeframe)</a:t>
        </a:r>
      </a:p>
    </p188:txBody>
  </p188:cm>
  <p188:cm id="{88D0A13F-2D1D-0746-8EA1-A477F9784576}" authorId="{78A03B09-F465-7A3C-9FB7-65502FD24C99}" status="resolved" created="2025-11-13T16:57:51.389" complete="100000">
    <ac:txMkLst xmlns:ac="http://schemas.microsoft.com/office/drawing/2013/main/command">
      <pc:docMk xmlns:pc="http://schemas.microsoft.com/office/powerpoint/2013/main/command"/>
      <pc:sldMk xmlns:pc="http://schemas.microsoft.com/office/powerpoint/2013/main/command" cId="35939394" sldId="1156"/>
      <ac:spMk id="8" creationId="{0FC84DA5-5AC6-E21B-7E5A-234126C01BC7}"/>
      <ac:txMk cp="44" len="1">
        <ac:context len="64" hash="3209959951"/>
      </ac:txMk>
    </ac:txMkLst>
    <p188:pos x="5422900" y="629256"/>
    <p188:txBody>
      <a:bodyPr/>
      <a:lstStyle/>
      <a:p>
        <a:r>
          <a:rPr lang="en-US"/>
          <a:t>Need to fit our T2V language. For example, JTBD...</a:t>
        </a:r>
      </a:p>
    </p188:txBody>
  </p188:cm>
</p188: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2B4E429-FCA0-4841-A9BC-1B0D88095AF4}"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n-US"/>
        </a:p>
      </dgm:t>
    </dgm:pt>
    <dgm:pt modelId="{E673FA0C-DF8F-4C35-90E8-3BA036F87103}">
      <dgm:prSet phldrT="[Text]" phldr="0"/>
      <dgm:spPr>
        <a:ln w="28575">
          <a:solidFill>
            <a:schemeClr val="bg1"/>
          </a:solidFill>
        </a:ln>
      </dgm:spPr>
      <dgm:t>
        <a:bodyPr/>
        <a:lstStyle/>
        <a:p>
          <a:r>
            <a:rPr lang="en-US"/>
            <a:t>Now</a:t>
          </a:r>
        </a:p>
      </dgm:t>
    </dgm:pt>
    <dgm:pt modelId="{C676D648-C1B6-4D0A-A41F-D9558DE379A8}" type="parTrans" cxnId="{ED85A640-41DB-4B2E-A30C-85F081E44768}">
      <dgm:prSet/>
      <dgm:spPr/>
      <dgm:t>
        <a:bodyPr/>
        <a:lstStyle/>
        <a:p>
          <a:endParaRPr lang="en-US"/>
        </a:p>
      </dgm:t>
    </dgm:pt>
    <dgm:pt modelId="{EA674356-F8A4-4DDA-A319-CABDDF52A632}" type="sibTrans" cxnId="{ED85A640-41DB-4B2E-A30C-85F081E44768}">
      <dgm:prSet/>
      <dgm:spPr/>
      <dgm:t>
        <a:bodyPr/>
        <a:lstStyle/>
        <a:p>
          <a:endParaRPr lang="en-US"/>
        </a:p>
      </dgm:t>
    </dgm:pt>
    <dgm:pt modelId="{008DD221-8626-4CE1-8327-3D104940B6B8}">
      <dgm:prSet phldrT="[Text]" phldr="0"/>
      <dgm:spPr>
        <a:ln w="28575">
          <a:solidFill>
            <a:schemeClr val="bg1"/>
          </a:solidFill>
        </a:ln>
      </dgm:spPr>
      <dgm:t>
        <a:bodyPr/>
        <a:lstStyle/>
        <a:p>
          <a:r>
            <a:rPr lang="en-US"/>
            <a:t>Next</a:t>
          </a:r>
        </a:p>
      </dgm:t>
    </dgm:pt>
    <dgm:pt modelId="{73B5DF1B-C3A5-493E-A755-B2B723BFDE00}" type="parTrans" cxnId="{C300F48F-6B09-4D76-B501-3FD09E5BF784}">
      <dgm:prSet/>
      <dgm:spPr/>
      <dgm:t>
        <a:bodyPr/>
        <a:lstStyle/>
        <a:p>
          <a:endParaRPr lang="en-US"/>
        </a:p>
      </dgm:t>
    </dgm:pt>
    <dgm:pt modelId="{B2A33A3B-E985-41B6-A9B7-9839F5DA1947}" type="sibTrans" cxnId="{C300F48F-6B09-4D76-B501-3FD09E5BF784}">
      <dgm:prSet/>
      <dgm:spPr/>
      <dgm:t>
        <a:bodyPr/>
        <a:lstStyle/>
        <a:p>
          <a:endParaRPr lang="en-US"/>
        </a:p>
      </dgm:t>
    </dgm:pt>
    <dgm:pt modelId="{94AA1B3F-307A-4F05-9ECA-02D4A25DF38B}">
      <dgm:prSet phldrT="[Text]" phldr="0"/>
      <dgm:spPr>
        <a:ln w="28575">
          <a:solidFill>
            <a:schemeClr val="bg1"/>
          </a:solidFill>
        </a:ln>
      </dgm:spPr>
      <dgm:t>
        <a:bodyPr/>
        <a:lstStyle/>
        <a:p>
          <a:r>
            <a:rPr lang="en-US"/>
            <a:t>Later</a:t>
          </a:r>
        </a:p>
      </dgm:t>
    </dgm:pt>
    <dgm:pt modelId="{65281697-001C-4E81-9A70-90A1C0611A09}" type="parTrans" cxnId="{C3456417-4E76-4697-A8E0-51CA33D1E853}">
      <dgm:prSet/>
      <dgm:spPr/>
      <dgm:t>
        <a:bodyPr/>
        <a:lstStyle/>
        <a:p>
          <a:endParaRPr lang="en-US"/>
        </a:p>
      </dgm:t>
    </dgm:pt>
    <dgm:pt modelId="{14F6E52D-F1EA-41AD-97A4-6F890A12868F}" type="sibTrans" cxnId="{C3456417-4E76-4697-A8E0-51CA33D1E853}">
      <dgm:prSet/>
      <dgm:spPr/>
      <dgm:t>
        <a:bodyPr/>
        <a:lstStyle/>
        <a:p>
          <a:endParaRPr lang="en-US"/>
        </a:p>
      </dgm:t>
    </dgm:pt>
    <dgm:pt modelId="{173E7687-08A5-4A8C-8BEE-0D79B296DDF3}" type="pres">
      <dgm:prSet presAssocID="{92B4E429-FCA0-4841-A9BC-1B0D88095AF4}" presName="CompostProcess" presStyleCnt="0">
        <dgm:presLayoutVars>
          <dgm:dir/>
          <dgm:resizeHandles val="exact"/>
        </dgm:presLayoutVars>
      </dgm:prSet>
      <dgm:spPr/>
    </dgm:pt>
    <dgm:pt modelId="{23EFCF0E-A5E1-45DC-942D-EA1D56108402}" type="pres">
      <dgm:prSet presAssocID="{92B4E429-FCA0-4841-A9BC-1B0D88095AF4}" presName="arrow" presStyleLbl="bgShp" presStyleIdx="0" presStyleCnt="1"/>
      <dgm:spPr>
        <a:solidFill>
          <a:srgbClr val="000000">
            <a:alpha val="20000"/>
          </a:srgbClr>
        </a:solidFill>
      </dgm:spPr>
    </dgm:pt>
    <dgm:pt modelId="{4CD09730-FD71-4264-B655-81AF2E875D85}" type="pres">
      <dgm:prSet presAssocID="{92B4E429-FCA0-4841-A9BC-1B0D88095AF4}" presName="linearProcess" presStyleCnt="0"/>
      <dgm:spPr/>
    </dgm:pt>
    <dgm:pt modelId="{F1B9BA13-6068-4B1E-8735-C4D2A3AC611F}" type="pres">
      <dgm:prSet presAssocID="{E673FA0C-DF8F-4C35-90E8-3BA036F87103}" presName="textNode" presStyleLbl="node1" presStyleIdx="0" presStyleCnt="3">
        <dgm:presLayoutVars>
          <dgm:bulletEnabled val="1"/>
        </dgm:presLayoutVars>
      </dgm:prSet>
      <dgm:spPr/>
    </dgm:pt>
    <dgm:pt modelId="{0FF491FC-2BC8-4A94-A6A5-EA2FAB53959C}" type="pres">
      <dgm:prSet presAssocID="{EA674356-F8A4-4DDA-A319-CABDDF52A632}" presName="sibTrans" presStyleCnt="0"/>
      <dgm:spPr/>
    </dgm:pt>
    <dgm:pt modelId="{0D5953AD-0D60-4619-9938-1D434DAE4163}" type="pres">
      <dgm:prSet presAssocID="{008DD221-8626-4CE1-8327-3D104940B6B8}" presName="textNode" presStyleLbl="node1" presStyleIdx="1" presStyleCnt="3">
        <dgm:presLayoutVars>
          <dgm:bulletEnabled val="1"/>
        </dgm:presLayoutVars>
      </dgm:prSet>
      <dgm:spPr/>
    </dgm:pt>
    <dgm:pt modelId="{BC764A75-202E-497F-BCAE-AA79830C6DA7}" type="pres">
      <dgm:prSet presAssocID="{B2A33A3B-E985-41B6-A9B7-9839F5DA1947}" presName="sibTrans" presStyleCnt="0"/>
      <dgm:spPr/>
    </dgm:pt>
    <dgm:pt modelId="{5CD7AF96-F36C-4983-9DEA-365B6F2A42FB}" type="pres">
      <dgm:prSet presAssocID="{94AA1B3F-307A-4F05-9ECA-02D4A25DF38B}" presName="textNode" presStyleLbl="node1" presStyleIdx="2" presStyleCnt="3">
        <dgm:presLayoutVars>
          <dgm:bulletEnabled val="1"/>
        </dgm:presLayoutVars>
      </dgm:prSet>
      <dgm:spPr/>
    </dgm:pt>
  </dgm:ptLst>
  <dgm:cxnLst>
    <dgm:cxn modelId="{52B20101-F770-417D-8319-CCF7C17C4F56}" type="presOf" srcId="{92B4E429-FCA0-4841-A9BC-1B0D88095AF4}" destId="{173E7687-08A5-4A8C-8BEE-0D79B296DDF3}" srcOrd="0" destOrd="0" presId="urn:microsoft.com/office/officeart/2005/8/layout/hProcess9"/>
    <dgm:cxn modelId="{C3456417-4E76-4697-A8E0-51CA33D1E853}" srcId="{92B4E429-FCA0-4841-A9BC-1B0D88095AF4}" destId="{94AA1B3F-307A-4F05-9ECA-02D4A25DF38B}" srcOrd="2" destOrd="0" parTransId="{65281697-001C-4E81-9A70-90A1C0611A09}" sibTransId="{14F6E52D-F1EA-41AD-97A4-6F890A12868F}"/>
    <dgm:cxn modelId="{F882B61A-B161-4667-800C-9D895D487477}" type="presOf" srcId="{E673FA0C-DF8F-4C35-90E8-3BA036F87103}" destId="{F1B9BA13-6068-4B1E-8735-C4D2A3AC611F}" srcOrd="0" destOrd="0" presId="urn:microsoft.com/office/officeart/2005/8/layout/hProcess9"/>
    <dgm:cxn modelId="{ECB87B25-31F1-4AD6-A30D-D2116F71E254}" type="presOf" srcId="{94AA1B3F-307A-4F05-9ECA-02D4A25DF38B}" destId="{5CD7AF96-F36C-4983-9DEA-365B6F2A42FB}" srcOrd="0" destOrd="0" presId="urn:microsoft.com/office/officeart/2005/8/layout/hProcess9"/>
    <dgm:cxn modelId="{ED85A640-41DB-4B2E-A30C-85F081E44768}" srcId="{92B4E429-FCA0-4841-A9BC-1B0D88095AF4}" destId="{E673FA0C-DF8F-4C35-90E8-3BA036F87103}" srcOrd="0" destOrd="0" parTransId="{C676D648-C1B6-4D0A-A41F-D9558DE379A8}" sibTransId="{EA674356-F8A4-4DDA-A319-CABDDF52A632}"/>
    <dgm:cxn modelId="{B2FE4689-129F-4952-A522-A498737AF2BE}" type="presOf" srcId="{008DD221-8626-4CE1-8327-3D104940B6B8}" destId="{0D5953AD-0D60-4619-9938-1D434DAE4163}" srcOrd="0" destOrd="0" presId="urn:microsoft.com/office/officeart/2005/8/layout/hProcess9"/>
    <dgm:cxn modelId="{C300F48F-6B09-4D76-B501-3FD09E5BF784}" srcId="{92B4E429-FCA0-4841-A9BC-1B0D88095AF4}" destId="{008DD221-8626-4CE1-8327-3D104940B6B8}" srcOrd="1" destOrd="0" parTransId="{73B5DF1B-C3A5-493E-A755-B2B723BFDE00}" sibTransId="{B2A33A3B-E985-41B6-A9B7-9839F5DA1947}"/>
    <dgm:cxn modelId="{971A4398-7188-4AED-8DFA-F91FA2DACEF4}" type="presParOf" srcId="{173E7687-08A5-4A8C-8BEE-0D79B296DDF3}" destId="{23EFCF0E-A5E1-45DC-942D-EA1D56108402}" srcOrd="0" destOrd="0" presId="urn:microsoft.com/office/officeart/2005/8/layout/hProcess9"/>
    <dgm:cxn modelId="{88A672E0-F46A-4FA7-9E8D-E9FF7961B714}" type="presParOf" srcId="{173E7687-08A5-4A8C-8BEE-0D79B296DDF3}" destId="{4CD09730-FD71-4264-B655-81AF2E875D85}" srcOrd="1" destOrd="0" presId="urn:microsoft.com/office/officeart/2005/8/layout/hProcess9"/>
    <dgm:cxn modelId="{2FCF6FD8-F829-4CE9-988C-8DB3DA1C03F7}" type="presParOf" srcId="{4CD09730-FD71-4264-B655-81AF2E875D85}" destId="{F1B9BA13-6068-4B1E-8735-C4D2A3AC611F}" srcOrd="0" destOrd="0" presId="urn:microsoft.com/office/officeart/2005/8/layout/hProcess9"/>
    <dgm:cxn modelId="{052974AE-AE07-4D65-8A66-840DCD771EE3}" type="presParOf" srcId="{4CD09730-FD71-4264-B655-81AF2E875D85}" destId="{0FF491FC-2BC8-4A94-A6A5-EA2FAB53959C}" srcOrd="1" destOrd="0" presId="urn:microsoft.com/office/officeart/2005/8/layout/hProcess9"/>
    <dgm:cxn modelId="{D7E6BA2A-CA5F-4E85-B117-71273041573B}" type="presParOf" srcId="{4CD09730-FD71-4264-B655-81AF2E875D85}" destId="{0D5953AD-0D60-4619-9938-1D434DAE4163}" srcOrd="2" destOrd="0" presId="urn:microsoft.com/office/officeart/2005/8/layout/hProcess9"/>
    <dgm:cxn modelId="{7A8FEA85-67F0-46B6-9F64-5A75BD92B33C}" type="presParOf" srcId="{4CD09730-FD71-4264-B655-81AF2E875D85}" destId="{BC764A75-202E-497F-BCAE-AA79830C6DA7}" srcOrd="3" destOrd="0" presId="urn:microsoft.com/office/officeart/2005/8/layout/hProcess9"/>
    <dgm:cxn modelId="{298862F0-B32A-4264-B714-1D047E69354D}" type="presParOf" srcId="{4CD09730-FD71-4264-B655-81AF2E875D85}" destId="{5CD7AF96-F36C-4983-9DEA-365B6F2A42FB}" srcOrd="4" destOrd="0" presId="urn:microsoft.com/office/officeart/2005/8/layout/hProcess9"/>
  </dgm:cxnLst>
  <dgm:bg/>
  <dgm:whole/>
  <dgm:extLst>
    <a:ext uri="http://schemas.microsoft.com/office/drawing/2008/diagram">
      <dsp:dataModelExt xmlns:dsp="http://schemas.microsoft.com/office/drawing/2008/diagram" relId="rId11"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EFCF0E-A5E1-45DC-942D-EA1D56108402}">
      <dsp:nvSpPr>
        <dsp:cNvPr id="0" name=""/>
        <dsp:cNvSpPr/>
      </dsp:nvSpPr>
      <dsp:spPr>
        <a:xfrm>
          <a:off x="666247" y="0"/>
          <a:ext cx="7550804" cy="3837546"/>
        </a:xfrm>
        <a:prstGeom prst="rightArrow">
          <a:avLst/>
        </a:prstGeom>
        <a:solidFill>
          <a:srgbClr val="000000">
            <a:alpha val="20000"/>
          </a:srgbClr>
        </a:solidFill>
        <a:ln>
          <a:noFill/>
        </a:ln>
        <a:effectLst/>
      </dsp:spPr>
      <dsp:style>
        <a:lnRef idx="0">
          <a:scrgbClr r="0" g="0" b="0"/>
        </a:lnRef>
        <a:fillRef idx="1">
          <a:scrgbClr r="0" g="0" b="0"/>
        </a:fillRef>
        <a:effectRef idx="0">
          <a:scrgbClr r="0" g="0" b="0"/>
        </a:effectRef>
        <a:fontRef idx="minor"/>
      </dsp:style>
    </dsp:sp>
    <dsp:sp modelId="{F1B9BA13-6068-4B1E-8735-C4D2A3AC611F}">
      <dsp:nvSpPr>
        <dsp:cNvPr id="0" name=""/>
        <dsp:cNvSpPr/>
      </dsp:nvSpPr>
      <dsp:spPr>
        <a:xfrm>
          <a:off x="0" y="1151263"/>
          <a:ext cx="2664989" cy="1535018"/>
        </a:xfrm>
        <a:prstGeom prst="roundRect">
          <a:avLst/>
        </a:prstGeom>
        <a:solidFill>
          <a:schemeClr val="accent1">
            <a:hueOff val="0"/>
            <a:satOff val="0"/>
            <a:lumOff val="0"/>
            <a:alphaOff val="0"/>
          </a:schemeClr>
        </a:solidFill>
        <a:ln w="28575"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US" sz="6500" kern="1200"/>
            <a:t>Now</a:t>
          </a:r>
        </a:p>
      </dsp:txBody>
      <dsp:txXfrm>
        <a:off x="74933" y="1226196"/>
        <a:ext cx="2515123" cy="1385152"/>
      </dsp:txXfrm>
    </dsp:sp>
    <dsp:sp modelId="{0D5953AD-0D60-4619-9938-1D434DAE4163}">
      <dsp:nvSpPr>
        <dsp:cNvPr id="0" name=""/>
        <dsp:cNvSpPr/>
      </dsp:nvSpPr>
      <dsp:spPr>
        <a:xfrm>
          <a:off x="3109154" y="1151263"/>
          <a:ext cx="2664989" cy="1535018"/>
        </a:xfrm>
        <a:prstGeom prst="roundRect">
          <a:avLst/>
        </a:prstGeom>
        <a:solidFill>
          <a:schemeClr val="accent1">
            <a:hueOff val="0"/>
            <a:satOff val="0"/>
            <a:lumOff val="0"/>
            <a:alphaOff val="0"/>
          </a:schemeClr>
        </a:solidFill>
        <a:ln w="28575"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US" sz="6500" kern="1200"/>
            <a:t>Next</a:t>
          </a:r>
        </a:p>
      </dsp:txBody>
      <dsp:txXfrm>
        <a:off x="3184087" y="1226196"/>
        <a:ext cx="2515123" cy="1385152"/>
      </dsp:txXfrm>
    </dsp:sp>
    <dsp:sp modelId="{5CD7AF96-F36C-4983-9DEA-365B6F2A42FB}">
      <dsp:nvSpPr>
        <dsp:cNvPr id="0" name=""/>
        <dsp:cNvSpPr/>
      </dsp:nvSpPr>
      <dsp:spPr>
        <a:xfrm>
          <a:off x="6218309" y="1151263"/>
          <a:ext cx="2664989" cy="1535018"/>
        </a:xfrm>
        <a:prstGeom prst="roundRect">
          <a:avLst/>
        </a:prstGeom>
        <a:solidFill>
          <a:schemeClr val="accent1">
            <a:hueOff val="0"/>
            <a:satOff val="0"/>
            <a:lumOff val="0"/>
            <a:alphaOff val="0"/>
          </a:schemeClr>
        </a:solidFill>
        <a:ln w="28575"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US" sz="6500" kern="1200"/>
            <a:t>Later</a:t>
          </a:r>
        </a:p>
      </dsp:txBody>
      <dsp:txXfrm>
        <a:off x="6293242" y="1226196"/>
        <a:ext cx="2515123" cy="1385152"/>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B044CF-7A78-E94D-A4C8-204EBDFE0FB2}" type="datetimeFigureOut">
              <a:rPr lang="en-US" smtClean="0"/>
              <a:t>3/24/26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92994E-CF76-014E-B371-45E99DB7A439}" type="slidenum">
              <a:rPr lang="en-US" smtClean="0"/>
              <a:t>‹#›</a:t>
            </a:fld>
            <a:endParaRPr lang="en-US"/>
          </a:p>
        </p:txBody>
      </p:sp>
    </p:spTree>
    <p:extLst>
      <p:ext uri="{BB962C8B-B14F-4D97-AF65-F5344CB8AC3E}">
        <p14:creationId xmlns:p14="http://schemas.microsoft.com/office/powerpoint/2010/main" val="4640115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BD9D6-3009-F845-509A-EFE65A5FB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340B4B-97D4-07F4-7F72-23EF2DF6A7A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B59B1EC-A945-3271-C726-D5CD11669FF7}"/>
              </a:ext>
            </a:extLst>
          </p:cNvPr>
          <p:cNvSpPr>
            <a:spLocks noGrp="1"/>
          </p:cNvSpPr>
          <p:nvPr>
            <p:ph type="body" idx="1"/>
          </p:nvPr>
        </p:nvSpPr>
        <p:spPr/>
        <p:txBody>
          <a:bodyPr/>
          <a:lstStyle/>
          <a:p>
            <a:endParaRPr lang="en-US">
              <a:cs typeface="Calibri"/>
            </a:endParaRPr>
          </a:p>
        </p:txBody>
      </p:sp>
      <p:sp>
        <p:nvSpPr>
          <p:cNvPr id="4" name="Slide Number Placeholder 3">
            <a:extLst>
              <a:ext uri="{FF2B5EF4-FFF2-40B4-BE49-F238E27FC236}">
                <a16:creationId xmlns:a16="http://schemas.microsoft.com/office/drawing/2014/main" id="{E56DC01F-9733-4A6B-04AC-7E1CC8A6A6B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48C1E1-F8DB-0945-8F22-C9A50E270EB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96550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2</a:t>
            </a:fld>
            <a:endParaRPr lang="en-US"/>
          </a:p>
        </p:txBody>
      </p:sp>
    </p:spTree>
    <p:extLst>
      <p:ext uri="{BB962C8B-B14F-4D97-AF65-F5344CB8AC3E}">
        <p14:creationId xmlns:p14="http://schemas.microsoft.com/office/powerpoint/2010/main" val="11660304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C9C94-472E-0FB5-0002-0A815C59FC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30A591-44F1-112F-4511-B986C565C56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6B49CA1-A1DE-BD0A-29B8-A86E2691ED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7C8DA4E-1679-5B65-F1B2-3432923694BB}"/>
              </a:ext>
            </a:extLst>
          </p:cNvPr>
          <p:cNvSpPr>
            <a:spLocks noGrp="1"/>
          </p:cNvSpPr>
          <p:nvPr>
            <p:ph type="sldNum" sz="quarter" idx="5"/>
          </p:nvPr>
        </p:nvSpPr>
        <p:spPr/>
        <p:txBody>
          <a:bodyPr/>
          <a:lstStyle/>
          <a:p>
            <a:fld id="{B092994E-CF76-014E-B371-45E99DB7A439}" type="slidenum">
              <a:rPr lang="en-US" smtClean="0"/>
              <a:t>3</a:t>
            </a:fld>
            <a:endParaRPr lang="en-US"/>
          </a:p>
        </p:txBody>
      </p:sp>
    </p:spTree>
    <p:extLst>
      <p:ext uri="{BB962C8B-B14F-4D97-AF65-F5344CB8AC3E}">
        <p14:creationId xmlns:p14="http://schemas.microsoft.com/office/powerpoint/2010/main" val="2435610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66C48-4189-C5B0-487A-78346704E2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7A2E4E-8C00-8610-4C46-62EE8C0593E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C06E574-DD36-D298-9514-CA1733FF7CD1}"/>
              </a:ext>
            </a:extLst>
          </p:cNvPr>
          <p:cNvSpPr>
            <a:spLocks noGrp="1"/>
          </p:cNvSpPr>
          <p:nvPr>
            <p:ph type="body" idx="1"/>
          </p:nvPr>
        </p:nvSpPr>
        <p:spPr/>
        <p:txBody>
          <a:bodyPr/>
          <a:lstStyle/>
          <a:p>
            <a:endParaRPr lang="en-US">
              <a:cs typeface="Calibri"/>
            </a:endParaRPr>
          </a:p>
        </p:txBody>
      </p:sp>
      <p:sp>
        <p:nvSpPr>
          <p:cNvPr id="4" name="Slide Number Placeholder 3">
            <a:extLst>
              <a:ext uri="{FF2B5EF4-FFF2-40B4-BE49-F238E27FC236}">
                <a16:creationId xmlns:a16="http://schemas.microsoft.com/office/drawing/2014/main" id="{554CDCB2-D625-C258-6FF5-4A11BE26BA5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48C1E1-F8DB-0945-8F22-C9A50E270EB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425025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3FE59-8D6B-6B88-0648-0D75B31424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A384D5-CB7A-B036-2EC9-A2458B40576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63B77EB-7F5D-3ED5-3CF9-BA987A3FB6FE}"/>
              </a:ext>
            </a:extLst>
          </p:cNvPr>
          <p:cNvSpPr>
            <a:spLocks noGrp="1"/>
          </p:cNvSpPr>
          <p:nvPr>
            <p:ph type="body" idx="1"/>
          </p:nvPr>
        </p:nvSpPr>
        <p:spPr/>
        <p:txBody>
          <a:bodyPr/>
          <a:lstStyle/>
          <a:p>
            <a:r>
              <a:rPr lang="en-US" dirty="0"/>
              <a:t>Animated</a:t>
            </a:r>
          </a:p>
          <a:p>
            <a:endParaRPr lang="en-US" dirty="0"/>
          </a:p>
        </p:txBody>
      </p:sp>
      <p:sp>
        <p:nvSpPr>
          <p:cNvPr id="4" name="Slide Number Placeholder 3">
            <a:extLst>
              <a:ext uri="{FF2B5EF4-FFF2-40B4-BE49-F238E27FC236}">
                <a16:creationId xmlns:a16="http://schemas.microsoft.com/office/drawing/2014/main" id="{2A4D3E38-9066-8860-4F58-BBFF099E7E18}"/>
              </a:ext>
            </a:extLst>
          </p:cNvPr>
          <p:cNvSpPr>
            <a:spLocks noGrp="1"/>
          </p:cNvSpPr>
          <p:nvPr>
            <p:ph type="sldNum" sz="quarter" idx="5"/>
          </p:nvPr>
        </p:nvSpPr>
        <p:spPr/>
        <p:txBody>
          <a:bodyPr/>
          <a:lstStyle/>
          <a:p>
            <a:fld id="{B092994E-CF76-014E-B371-45E99DB7A439}" type="slidenum">
              <a:rPr lang="en-US" smtClean="0"/>
              <a:t>6</a:t>
            </a:fld>
            <a:endParaRPr lang="en-US"/>
          </a:p>
        </p:txBody>
      </p:sp>
    </p:spTree>
    <p:extLst>
      <p:ext uri="{BB962C8B-B14F-4D97-AF65-F5344CB8AC3E}">
        <p14:creationId xmlns:p14="http://schemas.microsoft.com/office/powerpoint/2010/main" val="39391786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1D003-FA84-F14B-CD8C-F752D66005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EC1F68-9A55-3411-B2C4-758E7C31B43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7BB17F4-9B8E-AC24-1603-F92164A1397D}"/>
              </a:ext>
            </a:extLst>
          </p:cNvPr>
          <p:cNvSpPr>
            <a:spLocks noGrp="1"/>
          </p:cNvSpPr>
          <p:nvPr>
            <p:ph type="body" idx="1"/>
          </p:nvPr>
        </p:nvSpPr>
        <p:spPr/>
        <p:txBody>
          <a:bodyPr/>
          <a:lstStyle/>
          <a:p>
            <a:endParaRPr lang="en-US" dirty="0"/>
          </a:p>
          <a:p>
            <a:endParaRPr lang="en-US" dirty="0"/>
          </a:p>
        </p:txBody>
      </p:sp>
      <p:sp>
        <p:nvSpPr>
          <p:cNvPr id="4" name="Slide Number Placeholder 3">
            <a:extLst>
              <a:ext uri="{FF2B5EF4-FFF2-40B4-BE49-F238E27FC236}">
                <a16:creationId xmlns:a16="http://schemas.microsoft.com/office/drawing/2014/main" id="{38EFDDEF-E59A-5892-4252-36E8EC994D7B}"/>
              </a:ext>
            </a:extLst>
          </p:cNvPr>
          <p:cNvSpPr>
            <a:spLocks noGrp="1"/>
          </p:cNvSpPr>
          <p:nvPr>
            <p:ph type="sldNum" sz="quarter" idx="5"/>
          </p:nvPr>
        </p:nvSpPr>
        <p:spPr/>
        <p:txBody>
          <a:bodyPr/>
          <a:lstStyle/>
          <a:p>
            <a:fld id="{B092994E-CF76-014E-B371-45E99DB7A439}" type="slidenum">
              <a:rPr lang="en-US" smtClean="0"/>
              <a:t>7</a:t>
            </a:fld>
            <a:endParaRPr lang="en-US"/>
          </a:p>
        </p:txBody>
      </p:sp>
    </p:spTree>
    <p:extLst>
      <p:ext uri="{BB962C8B-B14F-4D97-AF65-F5344CB8AC3E}">
        <p14:creationId xmlns:p14="http://schemas.microsoft.com/office/powerpoint/2010/main" val="30490928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389CA-0CDC-D98A-8FF1-60C6AB39DB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F69F2B-30BF-B77C-FE7D-3C5B4312030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8109071-3A69-D361-C7E7-B12DAB28FE7D}"/>
              </a:ext>
            </a:extLst>
          </p:cNvPr>
          <p:cNvSpPr>
            <a:spLocks noGrp="1"/>
          </p:cNvSpPr>
          <p:nvPr>
            <p:ph type="body" idx="1"/>
          </p:nvPr>
        </p:nvSpPr>
        <p:spPr/>
        <p:txBody>
          <a:bodyPr/>
          <a:lstStyle/>
          <a:p>
            <a:r>
              <a:rPr lang="en-US"/>
              <a:t>Swap icons w/16</a:t>
            </a:r>
          </a:p>
        </p:txBody>
      </p:sp>
      <p:sp>
        <p:nvSpPr>
          <p:cNvPr id="4" name="Slide Number Placeholder 3">
            <a:extLst>
              <a:ext uri="{FF2B5EF4-FFF2-40B4-BE49-F238E27FC236}">
                <a16:creationId xmlns:a16="http://schemas.microsoft.com/office/drawing/2014/main" id="{B6B34D9E-041A-C9EE-4233-94C00E5FEA2F}"/>
              </a:ext>
            </a:extLst>
          </p:cNvPr>
          <p:cNvSpPr>
            <a:spLocks noGrp="1"/>
          </p:cNvSpPr>
          <p:nvPr>
            <p:ph type="sldNum" sz="quarter" idx="5"/>
          </p:nvPr>
        </p:nvSpPr>
        <p:spPr/>
        <p:txBody>
          <a:bodyPr/>
          <a:lstStyle/>
          <a:p>
            <a:fld id="{B092994E-CF76-014E-B371-45E99DB7A439}" type="slidenum">
              <a:rPr lang="en-US" smtClean="0"/>
              <a:t>9</a:t>
            </a:fld>
            <a:endParaRPr lang="en-US"/>
          </a:p>
        </p:txBody>
      </p:sp>
    </p:spTree>
    <p:extLst>
      <p:ext uri="{BB962C8B-B14F-4D97-AF65-F5344CB8AC3E}">
        <p14:creationId xmlns:p14="http://schemas.microsoft.com/office/powerpoint/2010/main" val="8830665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0E8AD-11B2-3B77-5D1C-8B3E4C6B6B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9A9043-2EB5-D8D4-7E40-6C9A22CF566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DBBB01B-0735-CE21-6D54-67FE5C866404}"/>
              </a:ext>
            </a:extLst>
          </p:cNvPr>
          <p:cNvSpPr>
            <a:spLocks noGrp="1"/>
          </p:cNvSpPr>
          <p:nvPr>
            <p:ph type="body" idx="1"/>
          </p:nvPr>
        </p:nvSpPr>
        <p:spPr/>
        <p:txBody>
          <a:bodyPr/>
          <a:lstStyle/>
          <a:p>
            <a:r>
              <a:rPr lang="en-US"/>
              <a:t>Swap icons w/16</a:t>
            </a:r>
          </a:p>
        </p:txBody>
      </p:sp>
      <p:sp>
        <p:nvSpPr>
          <p:cNvPr id="4" name="Slide Number Placeholder 3">
            <a:extLst>
              <a:ext uri="{FF2B5EF4-FFF2-40B4-BE49-F238E27FC236}">
                <a16:creationId xmlns:a16="http://schemas.microsoft.com/office/drawing/2014/main" id="{88FDE605-8F2B-E392-864A-D692DFD05FF2}"/>
              </a:ext>
            </a:extLst>
          </p:cNvPr>
          <p:cNvSpPr>
            <a:spLocks noGrp="1"/>
          </p:cNvSpPr>
          <p:nvPr>
            <p:ph type="sldNum" sz="quarter" idx="5"/>
          </p:nvPr>
        </p:nvSpPr>
        <p:spPr/>
        <p:txBody>
          <a:bodyPr/>
          <a:lstStyle/>
          <a:p>
            <a:fld id="{B092994E-CF76-014E-B371-45E99DB7A439}" type="slidenum">
              <a:rPr lang="en-US" smtClean="0"/>
              <a:t>11</a:t>
            </a:fld>
            <a:endParaRPr lang="en-US"/>
          </a:p>
        </p:txBody>
      </p:sp>
    </p:spTree>
    <p:extLst>
      <p:ext uri="{BB962C8B-B14F-4D97-AF65-F5344CB8AC3E}">
        <p14:creationId xmlns:p14="http://schemas.microsoft.com/office/powerpoint/2010/main" val="20941380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F48C1E1-F8DB-0945-8F22-C9A50E270EB3}" type="slidenum">
              <a:rPr lang="en-US" smtClean="0"/>
              <a:t>12</a:t>
            </a:fld>
            <a:endParaRPr lang="en-US"/>
          </a:p>
        </p:txBody>
      </p:sp>
    </p:spTree>
    <p:extLst>
      <p:ext uri="{BB962C8B-B14F-4D97-AF65-F5344CB8AC3E}">
        <p14:creationId xmlns:p14="http://schemas.microsoft.com/office/powerpoint/2010/main" val="5563091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092994E-CF76-014E-B371-45E99DB7A439}" type="slidenum">
              <a:rPr lang="en-US" smtClean="0"/>
              <a:t>13</a:t>
            </a:fld>
            <a:endParaRPr lang="en-US"/>
          </a:p>
        </p:txBody>
      </p:sp>
    </p:spTree>
    <p:extLst>
      <p:ext uri="{BB962C8B-B14F-4D97-AF65-F5344CB8AC3E}">
        <p14:creationId xmlns:p14="http://schemas.microsoft.com/office/powerpoint/2010/main" val="24801061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5C129-98E8-44B2-9E9C-899989A9CB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E3F121-F3A6-47A0-BAEA-2479D3097F5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EEBF09D-C92A-B542-022B-A7D6C5C64EA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DE73653-81DD-A6BF-E0B6-51271A1C9BB3}"/>
              </a:ext>
            </a:extLst>
          </p:cNvPr>
          <p:cNvSpPr>
            <a:spLocks noGrp="1"/>
          </p:cNvSpPr>
          <p:nvPr>
            <p:ph type="sldNum" sz="quarter" idx="5"/>
          </p:nvPr>
        </p:nvSpPr>
        <p:spPr/>
        <p:txBody>
          <a:bodyPr/>
          <a:lstStyle/>
          <a:p>
            <a:fld id="{6F48C1E1-F8DB-0945-8F22-C9A50E270EB3}" type="slidenum">
              <a:rPr lang="en-US" smtClean="0"/>
              <a:t>14</a:t>
            </a:fld>
            <a:endParaRPr lang="en-US"/>
          </a:p>
        </p:txBody>
      </p:sp>
    </p:spTree>
    <p:extLst>
      <p:ext uri="{BB962C8B-B14F-4D97-AF65-F5344CB8AC3E}">
        <p14:creationId xmlns:p14="http://schemas.microsoft.com/office/powerpoint/2010/main" val="38753545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15</a:t>
            </a:fld>
            <a:endParaRPr lang="en-US"/>
          </a:p>
        </p:txBody>
      </p:sp>
    </p:spTree>
    <p:extLst>
      <p:ext uri="{BB962C8B-B14F-4D97-AF65-F5344CB8AC3E}">
        <p14:creationId xmlns:p14="http://schemas.microsoft.com/office/powerpoint/2010/main" val="13085746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092994E-CF76-014E-B371-45E99DB7A439}" type="slidenum">
              <a:rPr lang="en-US" smtClean="0"/>
              <a:t>16</a:t>
            </a:fld>
            <a:endParaRPr lang="en-US"/>
          </a:p>
        </p:txBody>
      </p:sp>
    </p:spTree>
    <p:extLst>
      <p:ext uri="{BB962C8B-B14F-4D97-AF65-F5344CB8AC3E}">
        <p14:creationId xmlns:p14="http://schemas.microsoft.com/office/powerpoint/2010/main" val="32159703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93D69-03A6-1DC2-5A4B-38F8D59339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235D62-B31D-1C3D-4308-586CD6C399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C187CD-78A2-8DAE-429A-421EB9D5FC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6DAAC7-2A48-097C-12AB-54A9E4E1BAA1}"/>
              </a:ext>
            </a:extLst>
          </p:cNvPr>
          <p:cNvSpPr>
            <a:spLocks noGrp="1"/>
          </p:cNvSpPr>
          <p:nvPr>
            <p:ph type="sldNum" sz="quarter" idx="5"/>
          </p:nvPr>
        </p:nvSpPr>
        <p:spPr/>
        <p:txBody>
          <a:bodyPr/>
          <a:lstStyle/>
          <a:p>
            <a:fld id="{B092994E-CF76-014E-B371-45E99DB7A439}" type="slidenum">
              <a:rPr lang="en-US" smtClean="0"/>
              <a:t>17</a:t>
            </a:fld>
            <a:endParaRPr lang="en-US"/>
          </a:p>
        </p:txBody>
      </p:sp>
    </p:spTree>
    <p:extLst>
      <p:ext uri="{BB962C8B-B14F-4D97-AF65-F5344CB8AC3E}">
        <p14:creationId xmlns:p14="http://schemas.microsoft.com/office/powerpoint/2010/main" val="10373940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17CFE-F818-62EE-3DA2-3326C8061E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CC219D-2F83-7D4A-5B00-011A5C16DBE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9A64951-0926-FAAE-785E-F65B71F11661}"/>
              </a:ext>
            </a:extLst>
          </p:cNvPr>
          <p:cNvSpPr>
            <a:spLocks noGrp="1"/>
          </p:cNvSpPr>
          <p:nvPr>
            <p:ph type="body" idx="1"/>
          </p:nvPr>
        </p:nvSpPr>
        <p:spPr/>
        <p:txBody>
          <a:bodyPr/>
          <a:lstStyle/>
          <a:p>
            <a:r>
              <a:rPr lang="en-US"/>
              <a:t>QR code placeholder – lower right</a:t>
            </a:r>
          </a:p>
        </p:txBody>
      </p:sp>
      <p:sp>
        <p:nvSpPr>
          <p:cNvPr id="4" name="Slide Number Placeholder 3">
            <a:extLst>
              <a:ext uri="{FF2B5EF4-FFF2-40B4-BE49-F238E27FC236}">
                <a16:creationId xmlns:a16="http://schemas.microsoft.com/office/drawing/2014/main" id="{9A19C7B7-3FA2-F3C0-4967-5AE4168BC0C8}"/>
              </a:ext>
            </a:extLst>
          </p:cNvPr>
          <p:cNvSpPr>
            <a:spLocks noGrp="1"/>
          </p:cNvSpPr>
          <p:nvPr>
            <p:ph type="sldNum" sz="quarter" idx="5"/>
          </p:nvPr>
        </p:nvSpPr>
        <p:spPr/>
        <p:txBody>
          <a:bodyPr/>
          <a:lstStyle/>
          <a:p>
            <a:fld id="{759F84CD-8C2B-4894-9286-56FBA06645E3}" type="slidenum">
              <a:rPr lang="en-US" smtClean="0"/>
              <a:t>19</a:t>
            </a:fld>
            <a:endParaRPr lang="en-US"/>
          </a:p>
        </p:txBody>
      </p:sp>
    </p:spTree>
    <p:extLst>
      <p:ext uri="{BB962C8B-B14F-4D97-AF65-F5344CB8AC3E}">
        <p14:creationId xmlns:p14="http://schemas.microsoft.com/office/powerpoint/2010/main" val="21564362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F48C1E1-F8DB-0945-8F22-C9A50E270EB3}" type="slidenum">
              <a:rPr lang="en-US" smtClean="0"/>
              <a:t>21</a:t>
            </a:fld>
            <a:endParaRPr lang="en-US"/>
          </a:p>
        </p:txBody>
      </p:sp>
    </p:spTree>
    <p:extLst>
      <p:ext uri="{BB962C8B-B14F-4D97-AF65-F5344CB8AC3E}">
        <p14:creationId xmlns:p14="http://schemas.microsoft.com/office/powerpoint/2010/main" val="37133340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Animate one column @ a time (on click)</a:t>
            </a:r>
          </a:p>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22</a:t>
            </a:fld>
            <a:endParaRPr lang="en-US"/>
          </a:p>
        </p:txBody>
      </p:sp>
    </p:spTree>
    <p:extLst>
      <p:ext uri="{BB962C8B-B14F-4D97-AF65-F5344CB8AC3E}">
        <p14:creationId xmlns:p14="http://schemas.microsoft.com/office/powerpoint/2010/main" val="29711749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48C1E1-F8DB-0945-8F22-C9A50E270EB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796381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25</a:t>
            </a:fld>
            <a:endParaRPr lang="en-US"/>
          </a:p>
        </p:txBody>
      </p:sp>
    </p:spTree>
    <p:extLst>
      <p:ext uri="{BB962C8B-B14F-4D97-AF65-F5344CB8AC3E}">
        <p14:creationId xmlns:p14="http://schemas.microsoft.com/office/powerpoint/2010/main" val="17580575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F2BD3-B178-8923-6C3E-4E89103104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5D022B-2878-D538-726A-C3EB59DBE6F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6888199-0DC2-F776-2309-ED3E86E43B4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2BF68F7-B096-67F5-BFD9-1569AC4DFE5F}"/>
              </a:ext>
            </a:extLst>
          </p:cNvPr>
          <p:cNvSpPr>
            <a:spLocks noGrp="1"/>
          </p:cNvSpPr>
          <p:nvPr>
            <p:ph type="sldNum" sz="quarter" idx="5"/>
          </p:nvPr>
        </p:nvSpPr>
        <p:spPr/>
        <p:txBody>
          <a:bodyPr/>
          <a:lstStyle/>
          <a:p>
            <a:fld id="{759F84CD-8C2B-4894-9286-56FBA06645E3}" type="slidenum">
              <a:rPr lang="en-US" smtClean="0"/>
              <a:t>26</a:t>
            </a:fld>
            <a:endParaRPr lang="en-US"/>
          </a:p>
        </p:txBody>
      </p:sp>
    </p:spTree>
    <p:extLst>
      <p:ext uri="{BB962C8B-B14F-4D97-AF65-F5344CB8AC3E}">
        <p14:creationId xmlns:p14="http://schemas.microsoft.com/office/powerpoint/2010/main" val="36764770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27</a:t>
            </a:fld>
            <a:endParaRPr lang="en-US"/>
          </a:p>
        </p:txBody>
      </p:sp>
    </p:spTree>
    <p:extLst>
      <p:ext uri="{BB962C8B-B14F-4D97-AF65-F5344CB8AC3E}">
        <p14:creationId xmlns:p14="http://schemas.microsoft.com/office/powerpoint/2010/main" val="21715134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84CB5-6E02-2E93-727D-35B3F37F35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0DC302-1ABC-082D-D842-734BED9BA43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032B3E7-6E6F-A35C-6A14-C67A79F1B802}"/>
              </a:ext>
            </a:extLst>
          </p:cNvPr>
          <p:cNvSpPr>
            <a:spLocks noGrp="1"/>
          </p:cNvSpPr>
          <p:nvPr>
            <p:ph type="body" idx="1"/>
          </p:nvPr>
        </p:nvSpPr>
        <p:spPr/>
        <p:txBody>
          <a:bodyPr/>
          <a:lstStyle/>
          <a:p>
            <a:r>
              <a:rPr lang="en-US"/>
              <a:t>QR code placeholder – lower right</a:t>
            </a:r>
          </a:p>
        </p:txBody>
      </p:sp>
      <p:sp>
        <p:nvSpPr>
          <p:cNvPr id="4" name="Slide Number Placeholder 3">
            <a:extLst>
              <a:ext uri="{FF2B5EF4-FFF2-40B4-BE49-F238E27FC236}">
                <a16:creationId xmlns:a16="http://schemas.microsoft.com/office/drawing/2014/main" id="{1E082216-C1C3-A779-F084-0C32D0D71462}"/>
              </a:ext>
            </a:extLst>
          </p:cNvPr>
          <p:cNvSpPr>
            <a:spLocks noGrp="1"/>
          </p:cNvSpPr>
          <p:nvPr>
            <p:ph type="sldNum" sz="quarter" idx="5"/>
          </p:nvPr>
        </p:nvSpPr>
        <p:spPr/>
        <p:txBody>
          <a:bodyPr/>
          <a:lstStyle/>
          <a:p>
            <a:fld id="{759F84CD-8C2B-4894-9286-56FBA06645E3}" type="slidenum">
              <a:rPr lang="en-US" smtClean="0"/>
              <a:t>29</a:t>
            </a:fld>
            <a:endParaRPr lang="en-US"/>
          </a:p>
        </p:txBody>
      </p:sp>
    </p:spTree>
    <p:extLst>
      <p:ext uri="{BB962C8B-B14F-4D97-AF65-F5344CB8AC3E}">
        <p14:creationId xmlns:p14="http://schemas.microsoft.com/office/powerpoint/2010/main" val="7658900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64FDA-FDBA-F3C2-FB39-ED464726AC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FD2959-24DF-6918-8351-4D97E43AA3A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EE60DFC-E904-AB5D-82DB-3FBA1649EA1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76CB2CA-5337-768F-B07F-8266D24D9E9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59F84CD-8C2B-4894-9286-56FBA06645E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843306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0AD12-A64B-2A60-D1F3-1C83BFF09D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453D5D-E9EA-0B5C-DF90-7C3A473E1EE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29EEA97-5EBB-BF56-BB8D-6D3D72B6DB2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2EA2FDA-7B9B-BDB8-9065-E5118801896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59F84CD-8C2B-4894-9286-56FBA06645E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329150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322CB-2DCA-01F8-8EC4-7ED645ABAD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C4485E-A628-78F8-EF20-63B592439C8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1AA7C5D-F96F-710B-5D01-C5419083C58A}"/>
              </a:ext>
            </a:extLst>
          </p:cNvPr>
          <p:cNvSpPr>
            <a:spLocks noGrp="1"/>
          </p:cNvSpPr>
          <p:nvPr>
            <p:ph type="body" idx="1"/>
          </p:nvPr>
        </p:nvSpPr>
        <p:spPr/>
        <p:txBody>
          <a:bodyPr/>
          <a:lstStyle/>
          <a:p>
            <a:r>
              <a:rPr lang="en-US"/>
              <a:t>Swap icons w/16</a:t>
            </a:r>
          </a:p>
        </p:txBody>
      </p:sp>
      <p:sp>
        <p:nvSpPr>
          <p:cNvPr id="4" name="Slide Number Placeholder 3">
            <a:extLst>
              <a:ext uri="{FF2B5EF4-FFF2-40B4-BE49-F238E27FC236}">
                <a16:creationId xmlns:a16="http://schemas.microsoft.com/office/drawing/2014/main" id="{36F37994-F64A-00E0-F611-0EC1ADBFEFFB}"/>
              </a:ext>
            </a:extLst>
          </p:cNvPr>
          <p:cNvSpPr>
            <a:spLocks noGrp="1"/>
          </p:cNvSpPr>
          <p:nvPr>
            <p:ph type="sldNum" sz="quarter" idx="5"/>
          </p:nvPr>
        </p:nvSpPr>
        <p:spPr/>
        <p:txBody>
          <a:bodyPr/>
          <a:lstStyle/>
          <a:p>
            <a:fld id="{B092994E-CF76-014E-B371-45E99DB7A439}" type="slidenum">
              <a:rPr lang="en-US" smtClean="0"/>
              <a:t>33</a:t>
            </a:fld>
            <a:endParaRPr lang="en-US"/>
          </a:p>
        </p:txBody>
      </p:sp>
    </p:spTree>
    <p:extLst>
      <p:ext uri="{BB962C8B-B14F-4D97-AF65-F5344CB8AC3E}">
        <p14:creationId xmlns:p14="http://schemas.microsoft.com/office/powerpoint/2010/main" val="219241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DA68C-7347-6EE5-1FB4-5B7520D40B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97AF63-C087-C8B3-C9BB-83C56180442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6348C32-31D2-BD29-8FDA-CA7868866551}"/>
              </a:ext>
            </a:extLst>
          </p:cNvPr>
          <p:cNvSpPr>
            <a:spLocks noGrp="1"/>
          </p:cNvSpPr>
          <p:nvPr>
            <p:ph type="body" idx="1"/>
          </p:nvPr>
        </p:nvSpPr>
        <p:spPr/>
        <p:txBody>
          <a:bodyPr/>
          <a:lstStyle/>
          <a:p>
            <a:r>
              <a:rPr lang="en-US"/>
              <a:t>Animate one column @ a time (on click)</a:t>
            </a:r>
          </a:p>
          <a:p>
            <a:endParaRPr lang="en-US"/>
          </a:p>
        </p:txBody>
      </p:sp>
      <p:sp>
        <p:nvSpPr>
          <p:cNvPr id="4" name="Slide Number Placeholder 3">
            <a:extLst>
              <a:ext uri="{FF2B5EF4-FFF2-40B4-BE49-F238E27FC236}">
                <a16:creationId xmlns:a16="http://schemas.microsoft.com/office/drawing/2014/main" id="{B4F8A759-356D-C698-08D8-97EBB6E43FFE}"/>
              </a:ext>
            </a:extLst>
          </p:cNvPr>
          <p:cNvSpPr>
            <a:spLocks noGrp="1"/>
          </p:cNvSpPr>
          <p:nvPr>
            <p:ph type="sldNum" sz="quarter" idx="5"/>
          </p:nvPr>
        </p:nvSpPr>
        <p:spPr/>
        <p:txBody>
          <a:bodyPr/>
          <a:lstStyle/>
          <a:p>
            <a:fld id="{B092994E-CF76-014E-B371-45E99DB7A439}" type="slidenum">
              <a:rPr lang="en-US" smtClean="0"/>
              <a:t>34</a:t>
            </a:fld>
            <a:endParaRPr lang="en-US"/>
          </a:p>
        </p:txBody>
      </p:sp>
    </p:spTree>
    <p:extLst>
      <p:ext uri="{BB962C8B-B14F-4D97-AF65-F5344CB8AC3E}">
        <p14:creationId xmlns:p14="http://schemas.microsoft.com/office/powerpoint/2010/main" val="25404335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35</a:t>
            </a:fld>
            <a:endParaRPr lang="en-US"/>
          </a:p>
        </p:txBody>
      </p:sp>
    </p:spTree>
    <p:extLst>
      <p:ext uri="{BB962C8B-B14F-4D97-AF65-F5344CB8AC3E}">
        <p14:creationId xmlns:p14="http://schemas.microsoft.com/office/powerpoint/2010/main" val="14028879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40</a:t>
            </a:fld>
            <a:endParaRPr lang="en-US"/>
          </a:p>
        </p:txBody>
      </p:sp>
    </p:spTree>
    <p:extLst>
      <p:ext uri="{BB962C8B-B14F-4D97-AF65-F5344CB8AC3E}">
        <p14:creationId xmlns:p14="http://schemas.microsoft.com/office/powerpoint/2010/main" val="234019582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C79B0-2B28-71B2-0226-1E04F14E0A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5B415C-E218-24B2-50FE-EA66683F1A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C131DB-3BBC-D07F-0074-ABD79A74A7F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1A78431-4D52-25B6-3CFB-F602CAF91D37}"/>
              </a:ext>
            </a:extLst>
          </p:cNvPr>
          <p:cNvSpPr>
            <a:spLocks noGrp="1"/>
          </p:cNvSpPr>
          <p:nvPr>
            <p:ph type="sldNum" sz="quarter" idx="5"/>
          </p:nvPr>
        </p:nvSpPr>
        <p:spPr/>
        <p:txBody>
          <a:bodyPr/>
          <a:lstStyle/>
          <a:p>
            <a:fld id="{B092994E-CF76-014E-B371-45E99DB7A439}" type="slidenum">
              <a:rPr lang="en-US" smtClean="0"/>
              <a:t>42</a:t>
            </a:fld>
            <a:endParaRPr lang="en-US"/>
          </a:p>
        </p:txBody>
      </p:sp>
    </p:spTree>
    <p:extLst>
      <p:ext uri="{BB962C8B-B14F-4D97-AF65-F5344CB8AC3E}">
        <p14:creationId xmlns:p14="http://schemas.microsoft.com/office/powerpoint/2010/main" val="513052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42893-C635-3B1B-35B5-7CF641499E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B1E7E8-FD21-5BD2-92A1-3000D64A5B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D2820A-1D6B-7961-B22F-4141267F12F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2B90185-1815-493C-FC83-46FD074140B5}"/>
              </a:ext>
            </a:extLst>
          </p:cNvPr>
          <p:cNvSpPr>
            <a:spLocks noGrp="1"/>
          </p:cNvSpPr>
          <p:nvPr>
            <p:ph type="sldNum" sz="quarter" idx="5"/>
          </p:nvPr>
        </p:nvSpPr>
        <p:spPr/>
        <p:txBody>
          <a:bodyPr/>
          <a:lstStyle/>
          <a:p>
            <a:fld id="{B092994E-CF76-014E-B371-45E99DB7A439}" type="slidenum">
              <a:rPr lang="en-US" smtClean="0"/>
              <a:t>43</a:t>
            </a:fld>
            <a:endParaRPr lang="en-US"/>
          </a:p>
        </p:txBody>
      </p:sp>
    </p:spTree>
    <p:extLst>
      <p:ext uri="{BB962C8B-B14F-4D97-AF65-F5344CB8AC3E}">
        <p14:creationId xmlns:p14="http://schemas.microsoft.com/office/powerpoint/2010/main" val="290058555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44</a:t>
            </a:fld>
            <a:endParaRPr lang="en-US"/>
          </a:p>
        </p:txBody>
      </p:sp>
    </p:spTree>
    <p:extLst>
      <p:ext uri="{BB962C8B-B14F-4D97-AF65-F5344CB8AC3E}">
        <p14:creationId xmlns:p14="http://schemas.microsoft.com/office/powerpoint/2010/main" val="161454457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45</a:t>
            </a:fld>
            <a:endParaRPr lang="en-US"/>
          </a:p>
        </p:txBody>
      </p:sp>
    </p:spTree>
    <p:extLst>
      <p:ext uri="{BB962C8B-B14F-4D97-AF65-F5344CB8AC3E}">
        <p14:creationId xmlns:p14="http://schemas.microsoft.com/office/powerpoint/2010/main" val="23668023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46</a:t>
            </a:fld>
            <a:endParaRPr lang="en-US"/>
          </a:p>
        </p:txBody>
      </p:sp>
    </p:spTree>
    <p:extLst>
      <p:ext uri="{BB962C8B-B14F-4D97-AF65-F5344CB8AC3E}">
        <p14:creationId xmlns:p14="http://schemas.microsoft.com/office/powerpoint/2010/main" val="330071297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4EC27-3175-13C9-74DB-D704FF655C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61863A-CE99-53DD-8633-DDA28E8BC3B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ED95B41-D057-946C-A7B2-1CFB375D4C40}"/>
              </a:ext>
            </a:extLst>
          </p:cNvPr>
          <p:cNvSpPr>
            <a:spLocks noGrp="1"/>
          </p:cNvSpPr>
          <p:nvPr>
            <p:ph type="body" idx="1"/>
          </p:nvPr>
        </p:nvSpPr>
        <p:spPr/>
        <p:txBody>
          <a:bodyPr/>
          <a:lstStyle/>
          <a:p>
            <a:r>
              <a:rPr lang="en-US"/>
              <a:t>Swap icons w/16</a:t>
            </a:r>
          </a:p>
        </p:txBody>
      </p:sp>
      <p:sp>
        <p:nvSpPr>
          <p:cNvPr id="4" name="Slide Number Placeholder 3">
            <a:extLst>
              <a:ext uri="{FF2B5EF4-FFF2-40B4-BE49-F238E27FC236}">
                <a16:creationId xmlns:a16="http://schemas.microsoft.com/office/drawing/2014/main" id="{671AB710-B365-E1C0-0255-FAAB7BFAF02A}"/>
              </a:ext>
            </a:extLst>
          </p:cNvPr>
          <p:cNvSpPr>
            <a:spLocks noGrp="1"/>
          </p:cNvSpPr>
          <p:nvPr>
            <p:ph type="sldNum" sz="quarter" idx="5"/>
          </p:nvPr>
        </p:nvSpPr>
        <p:spPr/>
        <p:txBody>
          <a:bodyPr/>
          <a:lstStyle/>
          <a:p>
            <a:fld id="{B092994E-CF76-014E-B371-45E99DB7A439}" type="slidenum">
              <a:rPr lang="en-US" smtClean="0"/>
              <a:t>48</a:t>
            </a:fld>
            <a:endParaRPr lang="en-US"/>
          </a:p>
        </p:txBody>
      </p:sp>
    </p:spTree>
    <p:extLst>
      <p:ext uri="{BB962C8B-B14F-4D97-AF65-F5344CB8AC3E}">
        <p14:creationId xmlns:p14="http://schemas.microsoft.com/office/powerpoint/2010/main" val="244699625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05B3E-0445-B4A2-8687-191530895D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761EF2-3044-ED0E-6247-73AA3D8616F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80C0858-B154-E8A1-D087-554C876BB23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ECE6DA4-239A-B9A2-195E-682E32707832}"/>
              </a:ext>
            </a:extLst>
          </p:cNvPr>
          <p:cNvSpPr>
            <a:spLocks noGrp="1"/>
          </p:cNvSpPr>
          <p:nvPr>
            <p:ph type="sldNum" sz="quarter" idx="5"/>
          </p:nvPr>
        </p:nvSpPr>
        <p:spPr/>
        <p:txBody>
          <a:bodyPr/>
          <a:lstStyle/>
          <a:p>
            <a:fld id="{B092994E-CF76-014E-B371-45E99DB7A439}" type="slidenum">
              <a:rPr lang="en-US" smtClean="0"/>
              <a:t>49</a:t>
            </a:fld>
            <a:endParaRPr lang="en-US"/>
          </a:p>
        </p:txBody>
      </p:sp>
    </p:spTree>
    <p:extLst>
      <p:ext uri="{BB962C8B-B14F-4D97-AF65-F5344CB8AC3E}">
        <p14:creationId xmlns:p14="http://schemas.microsoft.com/office/powerpoint/2010/main" val="427868278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Review formatting</a:t>
            </a:r>
          </a:p>
        </p:txBody>
      </p:sp>
      <p:sp>
        <p:nvSpPr>
          <p:cNvPr id="4" name="Slide Number Placeholder 3"/>
          <p:cNvSpPr>
            <a:spLocks noGrp="1"/>
          </p:cNvSpPr>
          <p:nvPr>
            <p:ph type="sldNum" sz="quarter" idx="5"/>
          </p:nvPr>
        </p:nvSpPr>
        <p:spPr/>
        <p:txBody>
          <a:bodyPr/>
          <a:lstStyle/>
          <a:p>
            <a:fld id="{B092994E-CF76-014E-B371-45E99DB7A439}" type="slidenum">
              <a:rPr lang="en-US" smtClean="0"/>
              <a:t>50</a:t>
            </a:fld>
            <a:endParaRPr lang="en-US"/>
          </a:p>
        </p:txBody>
      </p:sp>
    </p:spTree>
    <p:extLst>
      <p:ext uri="{BB962C8B-B14F-4D97-AF65-F5344CB8AC3E}">
        <p14:creationId xmlns:p14="http://schemas.microsoft.com/office/powerpoint/2010/main" val="233706596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AD236-D250-841C-2797-FE954906DB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33AE3F-4040-D959-B4E9-EE3EEB0D190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1698905-4858-FD2F-0E3B-1480C42601E5}"/>
              </a:ext>
            </a:extLst>
          </p:cNvPr>
          <p:cNvSpPr>
            <a:spLocks noGrp="1"/>
          </p:cNvSpPr>
          <p:nvPr>
            <p:ph type="body" idx="1"/>
          </p:nvPr>
        </p:nvSpPr>
        <p:spPr/>
        <p:txBody>
          <a:bodyPr/>
          <a:lstStyle/>
          <a:p>
            <a:r>
              <a:rPr lang="en-US"/>
              <a:t>Review formatting</a:t>
            </a:r>
          </a:p>
        </p:txBody>
      </p:sp>
      <p:sp>
        <p:nvSpPr>
          <p:cNvPr id="4" name="Slide Number Placeholder 3">
            <a:extLst>
              <a:ext uri="{FF2B5EF4-FFF2-40B4-BE49-F238E27FC236}">
                <a16:creationId xmlns:a16="http://schemas.microsoft.com/office/drawing/2014/main" id="{5295E183-42B7-2C59-B213-8006328470E1}"/>
              </a:ext>
            </a:extLst>
          </p:cNvPr>
          <p:cNvSpPr>
            <a:spLocks noGrp="1"/>
          </p:cNvSpPr>
          <p:nvPr>
            <p:ph type="sldNum" sz="quarter" idx="5"/>
          </p:nvPr>
        </p:nvSpPr>
        <p:spPr/>
        <p:txBody>
          <a:bodyPr/>
          <a:lstStyle/>
          <a:p>
            <a:fld id="{B092994E-CF76-014E-B371-45E99DB7A439}" type="slidenum">
              <a:rPr lang="en-US" smtClean="0"/>
              <a:t>51</a:t>
            </a:fld>
            <a:endParaRPr lang="en-US"/>
          </a:p>
        </p:txBody>
      </p:sp>
    </p:spTree>
    <p:extLst>
      <p:ext uri="{BB962C8B-B14F-4D97-AF65-F5344CB8AC3E}">
        <p14:creationId xmlns:p14="http://schemas.microsoft.com/office/powerpoint/2010/main" val="254443237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0CFD9-AC12-DCFB-E387-5284F178BA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9B137-22B7-1887-5E03-90B18D2637B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67D09F8-706C-0519-B4B4-38709CBD50BB}"/>
              </a:ext>
            </a:extLst>
          </p:cNvPr>
          <p:cNvSpPr>
            <a:spLocks noGrp="1"/>
          </p:cNvSpPr>
          <p:nvPr>
            <p:ph type="body" idx="1"/>
          </p:nvPr>
        </p:nvSpPr>
        <p:spPr/>
        <p:txBody>
          <a:bodyPr/>
          <a:lstStyle/>
          <a:p>
            <a:r>
              <a:rPr lang="en-US"/>
              <a:t>Replace w/summary points from Ming’s comment</a:t>
            </a:r>
          </a:p>
        </p:txBody>
      </p:sp>
      <p:sp>
        <p:nvSpPr>
          <p:cNvPr id="4" name="Slide Number Placeholder 3">
            <a:extLst>
              <a:ext uri="{FF2B5EF4-FFF2-40B4-BE49-F238E27FC236}">
                <a16:creationId xmlns:a16="http://schemas.microsoft.com/office/drawing/2014/main" id="{EFD0B67B-6FF9-62B2-7502-DDB52758CE6F}"/>
              </a:ext>
            </a:extLst>
          </p:cNvPr>
          <p:cNvSpPr>
            <a:spLocks noGrp="1"/>
          </p:cNvSpPr>
          <p:nvPr>
            <p:ph type="sldNum" sz="quarter" idx="5"/>
          </p:nvPr>
        </p:nvSpPr>
        <p:spPr/>
        <p:txBody>
          <a:bodyPr/>
          <a:lstStyle/>
          <a:p>
            <a:fld id="{B092994E-CF76-014E-B371-45E99DB7A439}" type="slidenum">
              <a:rPr lang="en-US" smtClean="0"/>
              <a:t>52</a:t>
            </a:fld>
            <a:endParaRPr lang="en-US"/>
          </a:p>
        </p:txBody>
      </p:sp>
    </p:spTree>
    <p:extLst>
      <p:ext uri="{BB962C8B-B14F-4D97-AF65-F5344CB8AC3E}">
        <p14:creationId xmlns:p14="http://schemas.microsoft.com/office/powerpoint/2010/main" val="319349960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FABD5-3CF4-5632-0161-B9A86C736E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48E89F-ABDD-9AF2-DDF1-99681A0C5EB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5BCCC44-2992-DE6D-4EF1-B10D44E95A7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73AED6-C51F-000C-C625-DB4BDD8726CB}"/>
              </a:ext>
            </a:extLst>
          </p:cNvPr>
          <p:cNvSpPr>
            <a:spLocks noGrp="1"/>
          </p:cNvSpPr>
          <p:nvPr>
            <p:ph type="sldNum" sz="quarter" idx="5"/>
          </p:nvPr>
        </p:nvSpPr>
        <p:spPr/>
        <p:txBody>
          <a:bodyPr/>
          <a:lstStyle/>
          <a:p>
            <a:fld id="{B092994E-CF76-014E-B371-45E99DB7A439}" type="slidenum">
              <a:rPr lang="en-US" smtClean="0"/>
              <a:t>53</a:t>
            </a:fld>
            <a:endParaRPr lang="en-US"/>
          </a:p>
        </p:txBody>
      </p:sp>
    </p:spTree>
    <p:extLst>
      <p:ext uri="{BB962C8B-B14F-4D97-AF65-F5344CB8AC3E}">
        <p14:creationId xmlns:p14="http://schemas.microsoft.com/office/powerpoint/2010/main" val="297492839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B5433-47E9-A374-D8FB-9741F3A225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B5F18E-19E7-AF78-A3F3-47F70236F9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C1D186-35B7-33D2-76E4-E4E87B624AF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841FCEC-FD68-2D5A-DC76-1D0DD79E38BD}"/>
              </a:ext>
            </a:extLst>
          </p:cNvPr>
          <p:cNvSpPr>
            <a:spLocks noGrp="1"/>
          </p:cNvSpPr>
          <p:nvPr>
            <p:ph type="sldNum" sz="quarter" idx="5"/>
          </p:nvPr>
        </p:nvSpPr>
        <p:spPr/>
        <p:txBody>
          <a:bodyPr/>
          <a:lstStyle/>
          <a:p>
            <a:fld id="{B092994E-CF76-014E-B371-45E99DB7A439}" type="slidenum">
              <a:rPr lang="en-US" smtClean="0"/>
              <a:t>54</a:t>
            </a:fld>
            <a:endParaRPr lang="en-US"/>
          </a:p>
        </p:txBody>
      </p:sp>
    </p:spTree>
    <p:extLst>
      <p:ext uri="{BB962C8B-B14F-4D97-AF65-F5344CB8AC3E}">
        <p14:creationId xmlns:p14="http://schemas.microsoft.com/office/powerpoint/2010/main" val="167783927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7F809-2308-CD0F-EABF-52140ACAEF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02BD81-B769-3890-AFB3-0C04D3D732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A9E844-2709-D179-D765-90B6BA3FF7A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0151680-2BBF-A76B-9B31-5C2EFEBA5571}"/>
              </a:ext>
            </a:extLst>
          </p:cNvPr>
          <p:cNvSpPr>
            <a:spLocks noGrp="1"/>
          </p:cNvSpPr>
          <p:nvPr>
            <p:ph type="sldNum" sz="quarter" idx="5"/>
          </p:nvPr>
        </p:nvSpPr>
        <p:spPr/>
        <p:txBody>
          <a:bodyPr/>
          <a:lstStyle/>
          <a:p>
            <a:fld id="{B092994E-CF76-014E-B371-45E99DB7A439}" type="slidenum">
              <a:rPr lang="en-US" smtClean="0"/>
              <a:t>55</a:t>
            </a:fld>
            <a:endParaRPr lang="en-US"/>
          </a:p>
        </p:txBody>
      </p:sp>
    </p:spTree>
    <p:extLst>
      <p:ext uri="{BB962C8B-B14F-4D97-AF65-F5344CB8AC3E}">
        <p14:creationId xmlns:p14="http://schemas.microsoft.com/office/powerpoint/2010/main" val="8797534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EEB25-1220-21B2-6AE0-BA618B4656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663F53-2B69-1403-7B5F-AC4486746BE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F394FAE-E515-D272-22C8-4C9EB62E952D}"/>
              </a:ext>
            </a:extLst>
          </p:cNvPr>
          <p:cNvSpPr>
            <a:spLocks noGrp="1"/>
          </p:cNvSpPr>
          <p:nvPr>
            <p:ph type="body" idx="1"/>
          </p:nvPr>
        </p:nvSpPr>
        <p:spPr/>
        <p:txBody>
          <a:bodyPr/>
          <a:lstStyle/>
          <a:p>
            <a:r>
              <a:rPr lang="en-US"/>
              <a:t>Review formatting</a:t>
            </a:r>
          </a:p>
        </p:txBody>
      </p:sp>
      <p:sp>
        <p:nvSpPr>
          <p:cNvPr id="4" name="Slide Number Placeholder 3">
            <a:extLst>
              <a:ext uri="{FF2B5EF4-FFF2-40B4-BE49-F238E27FC236}">
                <a16:creationId xmlns:a16="http://schemas.microsoft.com/office/drawing/2014/main" id="{DAA9AF77-4E6E-E86C-C446-C5797A05A038}"/>
              </a:ext>
            </a:extLst>
          </p:cNvPr>
          <p:cNvSpPr>
            <a:spLocks noGrp="1"/>
          </p:cNvSpPr>
          <p:nvPr>
            <p:ph type="sldNum" sz="quarter" idx="5"/>
          </p:nvPr>
        </p:nvSpPr>
        <p:spPr/>
        <p:txBody>
          <a:bodyPr/>
          <a:lstStyle/>
          <a:p>
            <a:fld id="{B092994E-CF76-014E-B371-45E99DB7A439}" type="slidenum">
              <a:rPr lang="en-US" smtClean="0"/>
              <a:t>56</a:t>
            </a:fld>
            <a:endParaRPr lang="en-US"/>
          </a:p>
        </p:txBody>
      </p:sp>
    </p:spTree>
    <p:extLst>
      <p:ext uri="{BB962C8B-B14F-4D97-AF65-F5344CB8AC3E}">
        <p14:creationId xmlns:p14="http://schemas.microsoft.com/office/powerpoint/2010/main" val="258597916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E9C7E-F46B-C6F4-8F55-F1FD0A53DD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35AF9D-2923-83C2-8323-0B107F0AE7A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6B62466-32BB-7D2F-BEA5-4AFCF3BF9E06}"/>
              </a:ext>
            </a:extLst>
          </p:cNvPr>
          <p:cNvSpPr>
            <a:spLocks noGrp="1"/>
          </p:cNvSpPr>
          <p:nvPr>
            <p:ph type="body" idx="1"/>
          </p:nvPr>
        </p:nvSpPr>
        <p:spPr/>
        <p:txBody>
          <a:bodyPr/>
          <a:lstStyle/>
          <a:p>
            <a:r>
              <a:rPr lang="en-US"/>
              <a:t>Review formatting</a:t>
            </a:r>
          </a:p>
        </p:txBody>
      </p:sp>
      <p:sp>
        <p:nvSpPr>
          <p:cNvPr id="4" name="Slide Number Placeholder 3">
            <a:extLst>
              <a:ext uri="{FF2B5EF4-FFF2-40B4-BE49-F238E27FC236}">
                <a16:creationId xmlns:a16="http://schemas.microsoft.com/office/drawing/2014/main" id="{D2CA2309-E6AD-2CDB-A378-71782EFA7373}"/>
              </a:ext>
            </a:extLst>
          </p:cNvPr>
          <p:cNvSpPr>
            <a:spLocks noGrp="1"/>
          </p:cNvSpPr>
          <p:nvPr>
            <p:ph type="sldNum" sz="quarter" idx="5"/>
          </p:nvPr>
        </p:nvSpPr>
        <p:spPr/>
        <p:txBody>
          <a:bodyPr/>
          <a:lstStyle/>
          <a:p>
            <a:fld id="{B092994E-CF76-014E-B371-45E99DB7A439}" type="slidenum">
              <a:rPr lang="en-US" smtClean="0"/>
              <a:t>57</a:t>
            </a:fld>
            <a:endParaRPr lang="en-US"/>
          </a:p>
        </p:txBody>
      </p:sp>
    </p:spTree>
    <p:extLst>
      <p:ext uri="{BB962C8B-B14F-4D97-AF65-F5344CB8AC3E}">
        <p14:creationId xmlns:p14="http://schemas.microsoft.com/office/powerpoint/2010/main" val="389575502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42893-731E-EC26-0665-3A898F4A27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9BB468-64F4-93D7-4120-84E03474411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111E390-DBF5-07EB-5DFD-BFD9099C1C52}"/>
              </a:ext>
            </a:extLst>
          </p:cNvPr>
          <p:cNvSpPr>
            <a:spLocks noGrp="1"/>
          </p:cNvSpPr>
          <p:nvPr>
            <p:ph type="body" idx="1"/>
          </p:nvPr>
        </p:nvSpPr>
        <p:spPr/>
        <p:txBody>
          <a:bodyPr/>
          <a:lstStyle/>
          <a:p>
            <a:r>
              <a:rPr lang="en-US"/>
              <a:t>The CDIO Example</a:t>
            </a:r>
          </a:p>
        </p:txBody>
      </p:sp>
      <p:sp>
        <p:nvSpPr>
          <p:cNvPr id="4" name="Slide Number Placeholder 3">
            <a:extLst>
              <a:ext uri="{FF2B5EF4-FFF2-40B4-BE49-F238E27FC236}">
                <a16:creationId xmlns:a16="http://schemas.microsoft.com/office/drawing/2014/main" id="{1F1CF54C-4DD9-EE82-3DA5-F7C384E0DEB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092994E-CF76-014E-B371-45E99DB7A43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776542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mp; Supporting Tex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6F0300B-935C-8414-45CA-914146389CC2}"/>
              </a:ext>
            </a:extLst>
          </p:cNvPr>
          <p:cNvSpPr>
            <a:spLocks noGrp="1"/>
          </p:cNvSpPr>
          <p:nvPr>
            <p:ph type="title"/>
          </p:nvPr>
        </p:nvSpPr>
        <p:spPr>
          <a:xfrm>
            <a:off x="432000" y="432001"/>
            <a:ext cx="11328000" cy="736400"/>
          </a:xfrm>
          <a:prstGeom prst="rect">
            <a:avLst/>
          </a:prstGeom>
        </p:spPr>
        <p:txBody>
          <a:bodyPr/>
          <a:lstStyle>
            <a:lvl1pPr>
              <a:defRPr sz="4000" b="1">
                <a:solidFill>
                  <a:srgbClr val="1D1D1D"/>
                </a:solidFill>
                <a:latin typeface="Segoe UI" pitchFamily="34" charset="0"/>
              </a:defRPr>
            </a:lvl1pPr>
          </a:lstStyle>
          <a:p>
            <a:endParaRPr dirty="0"/>
          </a:p>
        </p:txBody>
      </p:sp>
      <p:sp>
        <p:nvSpPr>
          <p:cNvPr id="2" name="Content Placeholder 2">
            <a:extLst>
              <a:ext uri="{FF2B5EF4-FFF2-40B4-BE49-F238E27FC236}">
                <a16:creationId xmlns:a16="http://schemas.microsoft.com/office/drawing/2014/main" id="{96BCB939-40D0-7C6B-E581-24B9E400A901}"/>
              </a:ext>
            </a:extLst>
          </p:cNvPr>
          <p:cNvSpPr>
            <a:spLocks noGrp="1"/>
          </p:cNvSpPr>
          <p:nvPr>
            <p:ph sz="quarter" idx="11"/>
          </p:nvPr>
        </p:nvSpPr>
        <p:spPr>
          <a:xfrm>
            <a:off x="426000" y="1432560"/>
            <a:ext cx="11340000" cy="4734559"/>
          </a:xfrm>
          <a:prstGeom prst="rect">
            <a:avLst/>
          </a:prstGeom>
        </p:spPr>
        <p:txBody>
          <a:bodyPr tIns="108000" anchor="t"/>
          <a:lstStyle>
            <a:lvl1pPr marL="285750" indent="-285750" algn="l">
              <a:lnSpc>
                <a:spcPts val="2020"/>
              </a:lnSpc>
              <a:buSzPct val="70000"/>
              <a:buFontTx/>
              <a:buBlip>
                <a:blip r:embed="rId2"/>
              </a:buBlip>
              <a:defRPr sz="2000">
                <a:solidFill>
                  <a:schemeClr val="bg2">
                    <a:lumMod val="25000"/>
                  </a:schemeClr>
                </a:solidFill>
                <a:latin typeface="Arial" pitchFamily="34" charset="0"/>
              </a:defRPr>
            </a:lvl1pPr>
            <a:lvl2pPr marL="742950" indent="-285750" algn="l">
              <a:lnSpc>
                <a:spcPts val="2020"/>
              </a:lnSpc>
              <a:buSzPct val="70000"/>
              <a:buFontTx/>
              <a:buBlip>
                <a:blip r:embed="rId2"/>
              </a:buBlip>
              <a:defRPr sz="1800">
                <a:solidFill>
                  <a:schemeClr val="bg2">
                    <a:lumMod val="25000"/>
                  </a:schemeClr>
                </a:solidFill>
                <a:latin typeface="Arial" pitchFamily="34" charset="0"/>
              </a:defRPr>
            </a:lvl2pPr>
            <a:lvl3pPr marL="1200150" indent="-285750" algn="l">
              <a:lnSpc>
                <a:spcPts val="2020"/>
              </a:lnSpc>
              <a:buSzPct val="70000"/>
              <a:buFontTx/>
              <a:buBlip>
                <a:blip r:embed="rId2"/>
              </a:buBlip>
              <a:defRPr sz="1800">
                <a:solidFill>
                  <a:schemeClr val="bg2">
                    <a:lumMod val="25000"/>
                  </a:schemeClr>
                </a:solidFill>
                <a:latin typeface="Arial" pitchFamily="34" charset="0"/>
              </a:defRPr>
            </a:lvl3pPr>
            <a:lvl4pPr marL="1657350" indent="-285750" algn="l">
              <a:lnSpc>
                <a:spcPts val="2020"/>
              </a:lnSpc>
              <a:buSzPct val="70000"/>
              <a:buFontTx/>
              <a:buBlip>
                <a:blip r:embed="rId2"/>
              </a:buBlip>
              <a:defRPr sz="1800">
                <a:solidFill>
                  <a:schemeClr val="bg2">
                    <a:lumMod val="25000"/>
                  </a:schemeClr>
                </a:solidFill>
                <a:latin typeface="Arial" pitchFamily="34" charset="0"/>
              </a:defRPr>
            </a:lvl4pPr>
            <a:lvl5pPr marL="2114550" indent="-285750" algn="l">
              <a:lnSpc>
                <a:spcPts val="2020"/>
              </a:lnSpc>
              <a:buSzPct val="70000"/>
              <a:buFontTx/>
              <a:buBlip>
                <a:blip r:embed="rId2"/>
              </a:buBlip>
              <a:defRPr sz="1800">
                <a:solidFill>
                  <a:schemeClr val="bg2">
                    <a:lumMod val="25000"/>
                  </a:schemeClr>
                </a:solidFill>
                <a:latin typeface="Arial" pitchFamily="34" charset="0"/>
              </a:defRPr>
            </a:lvl5pPr>
          </a:lstStyle>
          <a:p>
            <a:pPr lvl="0"/>
            <a:endParaRPr dirty="0"/>
          </a:p>
          <a:p>
            <a:pPr lvl="1"/>
            <a:endParaRPr dirty="0"/>
          </a:p>
          <a:p>
            <a:pPr lvl="2"/>
            <a:endParaRPr dirty="0"/>
          </a:p>
          <a:p>
            <a:pPr lvl="3"/>
            <a:endParaRPr dirty="0"/>
          </a:p>
          <a:p>
            <a:pPr lvl="4"/>
            <a:endParaRPr lang="en-US" dirty="0"/>
          </a:p>
        </p:txBody>
      </p:sp>
      <p:grpSp>
        <p:nvGrpSpPr>
          <p:cNvPr id="8" name="Group 7">
            <a:extLst>
              <a:ext uri="{FF2B5EF4-FFF2-40B4-BE49-F238E27FC236}">
                <a16:creationId xmlns:a16="http://schemas.microsoft.com/office/drawing/2014/main" id="{EAF71117-4146-780D-BB34-90F43C814938}"/>
              </a:ext>
            </a:extLst>
          </p:cNvPr>
          <p:cNvGrpSpPr/>
          <p:nvPr userDrawn="1"/>
        </p:nvGrpSpPr>
        <p:grpSpPr>
          <a:xfrm>
            <a:off x="335847" y="6491124"/>
            <a:ext cx="11424153" cy="274320"/>
            <a:chOff x="335847" y="6491124"/>
            <a:chExt cx="11424153" cy="274320"/>
          </a:xfrm>
        </p:grpSpPr>
        <p:pic>
          <p:nvPicPr>
            <p:cNvPr id="4" name="Picture 3" descr="A black screen with a purple border&#10;&#10;AI-generated content may be incorrect.">
              <a:extLst>
                <a:ext uri="{FF2B5EF4-FFF2-40B4-BE49-F238E27FC236}">
                  <a16:creationId xmlns:a16="http://schemas.microsoft.com/office/drawing/2014/main" id="{7A855D8E-7C99-F04C-568A-F3D00C3F9DC1}"/>
                </a:ext>
              </a:extLst>
            </p:cNvPr>
            <p:cNvPicPr>
              <a:picLocks noChangeAspect="1"/>
            </p:cNvPicPr>
            <p:nvPr userDrawn="1"/>
          </p:nvPicPr>
          <p:blipFill>
            <a:blip r:embed="rId3"/>
            <a:stretch>
              <a:fillRect/>
            </a:stretch>
          </p:blipFill>
          <p:spPr>
            <a:xfrm>
              <a:off x="9868291" y="6491124"/>
              <a:ext cx="1891709" cy="274320"/>
            </a:xfrm>
            <a:prstGeom prst="rect">
              <a:avLst/>
            </a:prstGeom>
          </p:spPr>
        </p:pic>
        <p:pic>
          <p:nvPicPr>
            <p:cNvPr id="7" name="Picture 6" descr="A black and grey logo&#10;&#10;AI-generated content may be incorrect.">
              <a:extLst>
                <a:ext uri="{FF2B5EF4-FFF2-40B4-BE49-F238E27FC236}">
                  <a16:creationId xmlns:a16="http://schemas.microsoft.com/office/drawing/2014/main" id="{47C47C13-ABA9-A848-6895-50FBF0B20733}"/>
                </a:ext>
              </a:extLst>
            </p:cNvPr>
            <p:cNvPicPr>
              <a:picLocks noChangeAspect="1"/>
            </p:cNvPicPr>
            <p:nvPr userDrawn="1"/>
          </p:nvPicPr>
          <p:blipFill>
            <a:blip r:embed="rId4"/>
            <a:stretch>
              <a:fillRect/>
            </a:stretch>
          </p:blipFill>
          <p:spPr>
            <a:xfrm>
              <a:off x="335847" y="6491124"/>
              <a:ext cx="1344658" cy="274320"/>
            </a:xfrm>
            <a:prstGeom prst="rect">
              <a:avLst/>
            </a:prstGeom>
          </p:spPr>
        </p:pic>
        <p:sp>
          <p:nvSpPr>
            <p:cNvPr id="6" name="TextBox 5">
              <a:extLst>
                <a:ext uri="{FF2B5EF4-FFF2-40B4-BE49-F238E27FC236}">
                  <a16:creationId xmlns:a16="http://schemas.microsoft.com/office/drawing/2014/main" id="{240F3394-203F-9BB3-143F-1A80C14393A6}"/>
                </a:ext>
              </a:extLst>
            </p:cNvPr>
            <p:cNvSpPr txBox="1"/>
            <p:nvPr userDrawn="1"/>
          </p:nvSpPr>
          <p:spPr>
            <a:xfrm>
              <a:off x="1832436" y="6520562"/>
              <a:ext cx="1508746" cy="215444"/>
            </a:xfrm>
            <a:prstGeom prst="rect">
              <a:avLst/>
            </a:prstGeom>
            <a:noFill/>
          </p:spPr>
          <p:txBody>
            <a:bodyPr wrap="none" rtlCol="0">
              <a:spAutoFit/>
            </a:bodyPr>
            <a:lstStyle/>
            <a:p>
              <a:r>
                <a:rPr lang="en-US" sz="800" dirty="0">
                  <a:solidFill>
                    <a:srgbClr val="B3BBCA"/>
                  </a:solidFill>
                  <a:latin typeface="Arial" panose="020B0604020202020204" pitchFamily="34" charset="0"/>
                  <a:cs typeface="Arial" panose="020B0604020202020204" pitchFamily="34" charset="0"/>
                </a:rPr>
                <a:t>© 2026 | All Rights Reserved</a:t>
              </a:r>
            </a:p>
          </p:txBody>
        </p:sp>
      </p:grpSp>
      <p:sp>
        <p:nvSpPr>
          <p:cNvPr id="9" name="Slide Number Placeholder 8">
            <a:extLst>
              <a:ext uri="{FF2B5EF4-FFF2-40B4-BE49-F238E27FC236}">
                <a16:creationId xmlns:a16="http://schemas.microsoft.com/office/drawing/2014/main" id="{712DE5FF-8504-B0D1-F092-65F46BD05AC7}"/>
              </a:ext>
            </a:extLst>
          </p:cNvPr>
          <p:cNvSpPr>
            <a:spLocks noGrp="1"/>
          </p:cNvSpPr>
          <p:nvPr>
            <p:ph type="sldNum" sz="quarter" idx="12"/>
          </p:nvPr>
        </p:nvSpPr>
        <p:spPr/>
        <p:txBody>
          <a:bodyPr/>
          <a:lstStyle/>
          <a:p>
            <a:pPr algn="ctr"/>
            <a:fld id="{FF0DA51E-4F4E-F44B-92F4-A8A938217E48}" type="slidenum">
              <a:rPr lang="en-US" smtClean="0"/>
              <a:pPr/>
              <a:t>‹#›</a:t>
            </a:fld>
            <a:endParaRPr lang="en-US"/>
          </a:p>
        </p:txBody>
      </p:sp>
    </p:spTree>
    <p:extLst>
      <p:ext uri="{BB962C8B-B14F-4D97-AF65-F5344CB8AC3E}">
        <p14:creationId xmlns:p14="http://schemas.microsoft.com/office/powerpoint/2010/main" val="2569863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mp; Supporting Text With Subtitle">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6F0300B-935C-8414-45CA-914146389CC2}"/>
              </a:ext>
            </a:extLst>
          </p:cNvPr>
          <p:cNvSpPr>
            <a:spLocks noGrp="1"/>
          </p:cNvSpPr>
          <p:nvPr>
            <p:ph type="title"/>
          </p:nvPr>
        </p:nvSpPr>
        <p:spPr>
          <a:xfrm>
            <a:off x="432000" y="432001"/>
            <a:ext cx="11328000" cy="736400"/>
          </a:xfrm>
          <a:prstGeom prst="rect">
            <a:avLst/>
          </a:prstGeom>
        </p:spPr>
        <p:txBody>
          <a:bodyPr/>
          <a:lstStyle>
            <a:lvl1pPr>
              <a:defRPr sz="4000" b="1">
                <a:solidFill>
                  <a:srgbClr val="1D1D1D"/>
                </a:solidFill>
                <a:latin typeface="Segoe UI" pitchFamily="34" charset="0"/>
              </a:defRPr>
            </a:lvl1pPr>
          </a:lstStyle>
          <a:p>
            <a:endParaRPr dirty="0"/>
          </a:p>
        </p:txBody>
      </p:sp>
      <p:sp>
        <p:nvSpPr>
          <p:cNvPr id="6" name="Content Placeholder 2">
            <a:extLst>
              <a:ext uri="{FF2B5EF4-FFF2-40B4-BE49-F238E27FC236}">
                <a16:creationId xmlns:a16="http://schemas.microsoft.com/office/drawing/2014/main" id="{9AEA2C12-706D-CA8B-562A-F839F787ACC6}"/>
              </a:ext>
            </a:extLst>
          </p:cNvPr>
          <p:cNvSpPr>
            <a:spLocks noGrp="1"/>
          </p:cNvSpPr>
          <p:nvPr>
            <p:ph sz="quarter" idx="11"/>
          </p:nvPr>
        </p:nvSpPr>
        <p:spPr>
          <a:xfrm>
            <a:off x="426000" y="1896035"/>
            <a:ext cx="11340000" cy="4271084"/>
          </a:xfrm>
          <a:prstGeom prst="rect">
            <a:avLst/>
          </a:prstGeom>
        </p:spPr>
        <p:txBody>
          <a:bodyPr tIns="108000" anchor="t"/>
          <a:lstStyle>
            <a:lvl1pPr marL="285750" indent="-285750" algn="l">
              <a:lnSpc>
                <a:spcPts val="2020"/>
              </a:lnSpc>
              <a:buSzPct val="70000"/>
              <a:buFontTx/>
              <a:buBlip>
                <a:blip r:embed="rId2"/>
              </a:buBlip>
              <a:defRPr sz="2000">
                <a:solidFill>
                  <a:schemeClr val="bg2">
                    <a:lumMod val="25000"/>
                  </a:schemeClr>
                </a:solidFill>
                <a:latin typeface="+mn-lt"/>
              </a:defRPr>
            </a:lvl1pPr>
            <a:lvl2pPr marL="742950" indent="-285750" algn="l">
              <a:lnSpc>
                <a:spcPts val="2020"/>
              </a:lnSpc>
              <a:buSzPct val="70000"/>
              <a:buFontTx/>
              <a:buBlip>
                <a:blip r:embed="rId2"/>
              </a:buBlip>
              <a:defRPr sz="1800">
                <a:solidFill>
                  <a:schemeClr val="bg2">
                    <a:lumMod val="25000"/>
                  </a:schemeClr>
                </a:solidFill>
                <a:latin typeface="+mn-lt"/>
              </a:defRPr>
            </a:lvl2pPr>
            <a:lvl3pPr marL="1200150" indent="-285750" algn="l">
              <a:lnSpc>
                <a:spcPts val="2020"/>
              </a:lnSpc>
              <a:buSzPct val="70000"/>
              <a:buFontTx/>
              <a:buBlip>
                <a:blip r:embed="rId2"/>
              </a:buBlip>
              <a:defRPr sz="1800">
                <a:solidFill>
                  <a:schemeClr val="bg2">
                    <a:lumMod val="25000"/>
                  </a:schemeClr>
                </a:solidFill>
                <a:latin typeface="+mn-lt"/>
              </a:defRPr>
            </a:lvl3pPr>
            <a:lvl4pPr marL="1657350" indent="-285750" algn="l">
              <a:lnSpc>
                <a:spcPts val="2020"/>
              </a:lnSpc>
              <a:buSzPct val="70000"/>
              <a:buFontTx/>
              <a:buBlip>
                <a:blip r:embed="rId2"/>
              </a:buBlip>
              <a:defRPr sz="1800">
                <a:solidFill>
                  <a:schemeClr val="bg2">
                    <a:lumMod val="25000"/>
                  </a:schemeClr>
                </a:solidFill>
                <a:latin typeface="+mn-lt"/>
              </a:defRPr>
            </a:lvl4pPr>
            <a:lvl5pPr marL="2114550" indent="-285750" algn="l">
              <a:lnSpc>
                <a:spcPts val="2020"/>
              </a:lnSpc>
              <a:buSzPct val="70000"/>
              <a:buFontTx/>
              <a:buBlip>
                <a:blip r:embed="rId2"/>
              </a:buBlip>
              <a:defRPr sz="1800">
                <a:solidFill>
                  <a:schemeClr val="bg2">
                    <a:lumMod val="25000"/>
                  </a:schemeClr>
                </a:solidFill>
                <a:latin typeface="+mn-lt"/>
              </a:defRPr>
            </a:lvl5pPr>
          </a:lstStyle>
          <a:p>
            <a:pPr lvl="0"/>
            <a:endParaRPr/>
          </a:p>
          <a:p>
            <a:pPr lvl="1"/>
            <a:endParaRPr/>
          </a:p>
          <a:p>
            <a:pPr lvl="2"/>
            <a:endParaRPr/>
          </a:p>
          <a:p>
            <a:pPr lvl="3"/>
            <a:endParaRPr/>
          </a:p>
          <a:p>
            <a:pPr lvl="4"/>
            <a:endParaRPr lang="en-US" dirty="0"/>
          </a:p>
        </p:txBody>
      </p:sp>
      <p:sp>
        <p:nvSpPr>
          <p:cNvPr id="7" name="Text Placeholder 6">
            <a:extLst>
              <a:ext uri="{FF2B5EF4-FFF2-40B4-BE49-F238E27FC236}">
                <a16:creationId xmlns:a16="http://schemas.microsoft.com/office/drawing/2014/main" id="{DB31B712-A7C7-7F29-930C-FE7EB84DFEFD}"/>
              </a:ext>
            </a:extLst>
          </p:cNvPr>
          <p:cNvSpPr>
            <a:spLocks noGrp="1"/>
          </p:cNvSpPr>
          <p:nvPr>
            <p:ph type="body" sz="quarter" idx="12"/>
          </p:nvPr>
        </p:nvSpPr>
        <p:spPr>
          <a:xfrm>
            <a:off x="420000" y="1319422"/>
            <a:ext cx="11340000" cy="425592"/>
          </a:xfrm>
          <a:prstGeom prst="rect">
            <a:avLst/>
          </a:prstGeom>
        </p:spPr>
        <p:txBody>
          <a:bodyPr/>
          <a:lstStyle>
            <a:lvl1pPr>
              <a:buNone/>
              <a:defRPr sz="3000">
                <a:solidFill>
                  <a:schemeClr val="accent1"/>
                </a:solidFill>
                <a:latin typeface="+mj-lt"/>
              </a:defRPr>
            </a:lvl1pPr>
          </a:lstStyle>
          <a:p>
            <a:pPr lvl="0"/>
            <a:endParaRPr dirty="0"/>
          </a:p>
        </p:txBody>
      </p:sp>
      <p:sp>
        <p:nvSpPr>
          <p:cNvPr id="3" name="Slide Number Placeholder 2">
            <a:extLst>
              <a:ext uri="{FF2B5EF4-FFF2-40B4-BE49-F238E27FC236}">
                <a16:creationId xmlns:a16="http://schemas.microsoft.com/office/drawing/2014/main" id="{932D3D95-65CE-9FBD-239E-01AA9A4D9582}"/>
              </a:ext>
            </a:extLst>
          </p:cNvPr>
          <p:cNvSpPr>
            <a:spLocks noGrp="1"/>
          </p:cNvSpPr>
          <p:nvPr>
            <p:ph type="sldNum" sz="quarter" idx="13"/>
          </p:nvPr>
        </p:nvSpPr>
        <p:spPr/>
        <p:txBody>
          <a:bodyPr/>
          <a:lstStyle/>
          <a:p>
            <a:pPr algn="ctr"/>
            <a:fld id="{FF0DA51E-4F4E-F44B-92F4-A8A938217E48}" type="slidenum">
              <a:rPr lang="en-US" smtClean="0"/>
              <a:pPr/>
              <a:t>‹#›</a:t>
            </a:fld>
            <a:endParaRPr lang="en-US"/>
          </a:p>
        </p:txBody>
      </p:sp>
      <p:grpSp>
        <p:nvGrpSpPr>
          <p:cNvPr id="4" name="Group 3">
            <a:extLst>
              <a:ext uri="{FF2B5EF4-FFF2-40B4-BE49-F238E27FC236}">
                <a16:creationId xmlns:a16="http://schemas.microsoft.com/office/drawing/2014/main" id="{B18C3ACC-5762-07AE-11FB-8D1E7248EB64}"/>
              </a:ext>
            </a:extLst>
          </p:cNvPr>
          <p:cNvGrpSpPr/>
          <p:nvPr userDrawn="1"/>
        </p:nvGrpSpPr>
        <p:grpSpPr>
          <a:xfrm>
            <a:off x="335847" y="6491124"/>
            <a:ext cx="11424153" cy="274320"/>
            <a:chOff x="335847" y="6491124"/>
            <a:chExt cx="11424153" cy="274320"/>
          </a:xfrm>
        </p:grpSpPr>
        <p:pic>
          <p:nvPicPr>
            <p:cNvPr id="8" name="Picture 7" descr="A black screen with a purple border&#10;&#10;AI-generated content may be incorrect.">
              <a:extLst>
                <a:ext uri="{FF2B5EF4-FFF2-40B4-BE49-F238E27FC236}">
                  <a16:creationId xmlns:a16="http://schemas.microsoft.com/office/drawing/2014/main" id="{8A98BFA3-2F20-10B7-C5AC-DE794E18178B}"/>
                </a:ext>
              </a:extLst>
            </p:cNvPr>
            <p:cNvPicPr>
              <a:picLocks noChangeAspect="1"/>
            </p:cNvPicPr>
            <p:nvPr userDrawn="1"/>
          </p:nvPicPr>
          <p:blipFill>
            <a:blip r:embed="rId3"/>
            <a:stretch>
              <a:fillRect/>
            </a:stretch>
          </p:blipFill>
          <p:spPr>
            <a:xfrm>
              <a:off x="9868291" y="6491124"/>
              <a:ext cx="1891709" cy="274320"/>
            </a:xfrm>
            <a:prstGeom prst="rect">
              <a:avLst/>
            </a:prstGeom>
          </p:spPr>
        </p:pic>
        <p:pic>
          <p:nvPicPr>
            <p:cNvPr id="9" name="Picture 8" descr="A black and grey logo&#10;&#10;AI-generated content may be incorrect.">
              <a:extLst>
                <a:ext uri="{FF2B5EF4-FFF2-40B4-BE49-F238E27FC236}">
                  <a16:creationId xmlns:a16="http://schemas.microsoft.com/office/drawing/2014/main" id="{6F1A5EFE-B2A0-264F-CAF8-7444E7A9E356}"/>
                </a:ext>
              </a:extLst>
            </p:cNvPr>
            <p:cNvPicPr>
              <a:picLocks noChangeAspect="1"/>
            </p:cNvPicPr>
            <p:nvPr userDrawn="1"/>
          </p:nvPicPr>
          <p:blipFill>
            <a:blip r:embed="rId4"/>
            <a:stretch>
              <a:fillRect/>
            </a:stretch>
          </p:blipFill>
          <p:spPr>
            <a:xfrm>
              <a:off x="335847" y="6491124"/>
              <a:ext cx="1344658" cy="274320"/>
            </a:xfrm>
            <a:prstGeom prst="rect">
              <a:avLst/>
            </a:prstGeom>
          </p:spPr>
        </p:pic>
        <p:sp>
          <p:nvSpPr>
            <p:cNvPr id="10" name="TextBox 9">
              <a:extLst>
                <a:ext uri="{FF2B5EF4-FFF2-40B4-BE49-F238E27FC236}">
                  <a16:creationId xmlns:a16="http://schemas.microsoft.com/office/drawing/2014/main" id="{AC21CA53-B20E-B756-2CC4-0117F5D26C91}"/>
                </a:ext>
              </a:extLst>
            </p:cNvPr>
            <p:cNvSpPr txBox="1"/>
            <p:nvPr userDrawn="1"/>
          </p:nvSpPr>
          <p:spPr>
            <a:xfrm>
              <a:off x="1832436" y="6520562"/>
              <a:ext cx="1508746" cy="215444"/>
            </a:xfrm>
            <a:prstGeom prst="rect">
              <a:avLst/>
            </a:prstGeom>
            <a:noFill/>
          </p:spPr>
          <p:txBody>
            <a:bodyPr wrap="none" rtlCol="0">
              <a:spAutoFit/>
            </a:bodyPr>
            <a:lstStyle/>
            <a:p>
              <a:r>
                <a:rPr lang="en-US" sz="800" dirty="0">
                  <a:solidFill>
                    <a:srgbClr val="B3BBCA"/>
                  </a:solidFill>
                  <a:latin typeface="Arial" panose="020B0604020202020204" pitchFamily="34" charset="0"/>
                  <a:cs typeface="Arial" panose="020B0604020202020204" pitchFamily="34" charset="0"/>
                </a:rPr>
                <a:t>© 2026 | All Rights Reserved</a:t>
              </a:r>
            </a:p>
          </p:txBody>
        </p:sp>
      </p:grpSp>
    </p:spTree>
    <p:extLst>
      <p:ext uri="{BB962C8B-B14F-4D97-AF65-F5344CB8AC3E}">
        <p14:creationId xmlns:p14="http://schemas.microsoft.com/office/powerpoint/2010/main" val="39126212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 Normal Fon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4BA038C-8E37-C45A-8BB9-959FC12A511B}"/>
              </a:ext>
            </a:extLst>
          </p:cNvPr>
          <p:cNvSpPr>
            <a:spLocks noGrp="1"/>
          </p:cNvSpPr>
          <p:nvPr>
            <p:ph type="sldNum" sz="quarter" idx="10"/>
          </p:nvPr>
        </p:nvSpPr>
        <p:spPr/>
        <p:txBody>
          <a:bodyPr/>
          <a:lstStyle/>
          <a:p>
            <a:pPr algn="ctr"/>
            <a:fld id="{FF0DA51E-4F4E-F44B-92F4-A8A938217E48}" type="slidenum">
              <a:rPr lang="en-US" smtClean="0"/>
              <a:pPr/>
              <a:t>‹#›</a:t>
            </a:fld>
            <a:endParaRPr lang="en-US"/>
          </a:p>
        </p:txBody>
      </p:sp>
      <p:grpSp>
        <p:nvGrpSpPr>
          <p:cNvPr id="8" name="Group 7">
            <a:extLst>
              <a:ext uri="{FF2B5EF4-FFF2-40B4-BE49-F238E27FC236}">
                <a16:creationId xmlns:a16="http://schemas.microsoft.com/office/drawing/2014/main" id="{EC77C29D-3988-5EC2-AB41-30A695E787DE}"/>
              </a:ext>
            </a:extLst>
          </p:cNvPr>
          <p:cNvGrpSpPr/>
          <p:nvPr userDrawn="1"/>
        </p:nvGrpSpPr>
        <p:grpSpPr>
          <a:xfrm>
            <a:off x="335847" y="6491124"/>
            <a:ext cx="11424153" cy="274320"/>
            <a:chOff x="335847" y="6491124"/>
            <a:chExt cx="11424153" cy="274320"/>
          </a:xfrm>
        </p:grpSpPr>
        <p:pic>
          <p:nvPicPr>
            <p:cNvPr id="10" name="Picture 9" descr="A black screen with a purple border&#10;&#10;AI-generated content may be incorrect.">
              <a:extLst>
                <a:ext uri="{FF2B5EF4-FFF2-40B4-BE49-F238E27FC236}">
                  <a16:creationId xmlns:a16="http://schemas.microsoft.com/office/drawing/2014/main" id="{2A7DCDAA-3778-05BB-466E-B7777E2F692F}"/>
                </a:ext>
              </a:extLst>
            </p:cNvPr>
            <p:cNvPicPr>
              <a:picLocks noChangeAspect="1"/>
            </p:cNvPicPr>
            <p:nvPr userDrawn="1"/>
          </p:nvPicPr>
          <p:blipFill>
            <a:blip r:embed="rId2"/>
            <a:stretch>
              <a:fillRect/>
            </a:stretch>
          </p:blipFill>
          <p:spPr>
            <a:xfrm>
              <a:off x="9868291" y="6491124"/>
              <a:ext cx="1891709" cy="274320"/>
            </a:xfrm>
            <a:prstGeom prst="rect">
              <a:avLst/>
            </a:prstGeom>
          </p:spPr>
        </p:pic>
        <p:pic>
          <p:nvPicPr>
            <p:cNvPr id="11" name="Picture 10" descr="A black and grey logo&#10;&#10;AI-generated content may be incorrect.">
              <a:extLst>
                <a:ext uri="{FF2B5EF4-FFF2-40B4-BE49-F238E27FC236}">
                  <a16:creationId xmlns:a16="http://schemas.microsoft.com/office/drawing/2014/main" id="{BA1AC551-0CBB-D6A0-1DDE-10B661503F24}"/>
                </a:ext>
              </a:extLst>
            </p:cNvPr>
            <p:cNvPicPr>
              <a:picLocks noChangeAspect="1"/>
            </p:cNvPicPr>
            <p:nvPr userDrawn="1"/>
          </p:nvPicPr>
          <p:blipFill>
            <a:blip r:embed="rId3"/>
            <a:stretch>
              <a:fillRect/>
            </a:stretch>
          </p:blipFill>
          <p:spPr>
            <a:xfrm>
              <a:off x="335847" y="6491124"/>
              <a:ext cx="1344658" cy="274320"/>
            </a:xfrm>
            <a:prstGeom prst="rect">
              <a:avLst/>
            </a:prstGeom>
          </p:spPr>
        </p:pic>
        <p:sp>
          <p:nvSpPr>
            <p:cNvPr id="12" name="TextBox 11">
              <a:extLst>
                <a:ext uri="{FF2B5EF4-FFF2-40B4-BE49-F238E27FC236}">
                  <a16:creationId xmlns:a16="http://schemas.microsoft.com/office/drawing/2014/main" id="{63953271-E885-522F-49C6-F0F1BBE5AEE8}"/>
                </a:ext>
              </a:extLst>
            </p:cNvPr>
            <p:cNvSpPr txBox="1"/>
            <p:nvPr userDrawn="1"/>
          </p:nvSpPr>
          <p:spPr>
            <a:xfrm>
              <a:off x="1832436" y="6520562"/>
              <a:ext cx="1508746" cy="215444"/>
            </a:xfrm>
            <a:prstGeom prst="rect">
              <a:avLst/>
            </a:prstGeom>
            <a:noFill/>
          </p:spPr>
          <p:txBody>
            <a:bodyPr wrap="none" rtlCol="0">
              <a:spAutoFit/>
            </a:bodyPr>
            <a:lstStyle/>
            <a:p>
              <a:r>
                <a:rPr lang="en-US" sz="800" dirty="0">
                  <a:solidFill>
                    <a:srgbClr val="B3BBCA"/>
                  </a:solidFill>
                  <a:latin typeface="Arial" panose="020B0604020202020204" pitchFamily="34" charset="0"/>
                  <a:cs typeface="Arial" panose="020B0604020202020204" pitchFamily="34" charset="0"/>
                </a:rPr>
                <a:t>© 2026 | All Rights Reserved</a:t>
              </a:r>
            </a:p>
          </p:txBody>
        </p:sp>
      </p:grpSp>
      <p:sp>
        <p:nvSpPr>
          <p:cNvPr id="13" name="Title 1">
            <a:extLst>
              <a:ext uri="{FF2B5EF4-FFF2-40B4-BE49-F238E27FC236}">
                <a16:creationId xmlns:a16="http://schemas.microsoft.com/office/drawing/2014/main" id="{22D03D40-7915-C9C1-B0FF-7A948ADB3A94}"/>
              </a:ext>
            </a:extLst>
          </p:cNvPr>
          <p:cNvSpPr>
            <a:spLocks noGrp="1"/>
          </p:cNvSpPr>
          <p:nvPr>
            <p:ph type="title"/>
          </p:nvPr>
        </p:nvSpPr>
        <p:spPr>
          <a:xfrm>
            <a:off x="432000" y="432001"/>
            <a:ext cx="11328000" cy="736400"/>
          </a:xfrm>
          <a:prstGeom prst="rect">
            <a:avLst/>
          </a:prstGeom>
        </p:spPr>
        <p:txBody>
          <a:bodyPr/>
          <a:lstStyle>
            <a:lvl1pPr>
              <a:defRPr sz="4000" b="1">
                <a:solidFill>
                  <a:srgbClr val="1D1D1D"/>
                </a:solidFill>
                <a:latin typeface="Segoe UI" pitchFamily="34" charset="0"/>
              </a:defRPr>
            </a:lvl1pPr>
          </a:lstStyle>
          <a:p>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Two Column">
    <p:bg>
      <p:bgPr>
        <a:solidFill>
          <a:srgbClr val="FFFFFF"/>
        </a:solidFill>
        <a:effectLst/>
      </p:bgPr>
    </p:bg>
    <p:spTree>
      <p:nvGrpSpPr>
        <p:cNvPr id="1" name=""/>
        <p:cNvGrpSpPr/>
        <p:nvPr/>
      </p:nvGrpSpPr>
      <p:grpSpPr>
        <a:xfrm>
          <a:off x="0" y="0"/>
          <a:ext cx="0" cy="0"/>
          <a:chOff x="0" y="0"/>
          <a:chExt cx="0" cy="0"/>
        </a:xfrm>
      </p:grpSpPr>
      <p:sp>
        <p:nvSpPr>
          <p:cNvPr id="11" name="Left Content 2"/>
          <p:cNvSpPr>
            <a:spLocks noGrp="1"/>
          </p:cNvSpPr>
          <p:nvPr>
            <p:ph idx="1"/>
          </p:nvPr>
        </p:nvSpPr>
        <p:spPr>
          <a:xfrm>
            <a:off x="449884" y="1757563"/>
            <a:ext cx="5532116" cy="4300338"/>
          </a:xfrm>
        </p:spPr>
        <p:txBody>
          <a:bodyPr wrap="square" anchor="t">
            <a:normAutofit/>
          </a:bodyPr>
          <a:lstStyle>
            <a:lvl1pPr algn="l">
              <a:buNone/>
              <a:defRPr lang="en-US" sz="1200" b="0" dirty="0">
                <a:solidFill>
                  <a:srgbClr val="1D1D1D"/>
                </a:solidFill>
                <a:latin typeface="Arial" pitchFamily="34" charset="0"/>
              </a:defRPr>
            </a:lvl1pPr>
          </a:lstStyle>
          <a:p>
            <a:endParaRPr lang="en-US" dirty="0"/>
          </a:p>
        </p:txBody>
      </p:sp>
      <p:sp>
        <p:nvSpPr>
          <p:cNvPr id="12" name="Right Content 3"/>
          <p:cNvSpPr>
            <a:spLocks noGrp="1"/>
          </p:cNvSpPr>
          <p:nvPr>
            <p:ph idx="2"/>
          </p:nvPr>
        </p:nvSpPr>
        <p:spPr>
          <a:xfrm>
            <a:off x="6210116" y="1757563"/>
            <a:ext cx="5532232" cy="4300338"/>
          </a:xfrm>
        </p:spPr>
        <p:txBody>
          <a:bodyPr wrap="square" anchor="t">
            <a:normAutofit/>
          </a:bodyPr>
          <a:lstStyle>
            <a:lvl1pPr algn="l">
              <a:defRPr lang="en-US" sz="1200" b="0" dirty="0">
                <a:solidFill>
                  <a:srgbClr val="1D1D1D"/>
                </a:solidFill>
                <a:latin typeface="Arial" pitchFamily="34" charset="0"/>
              </a:defRPr>
            </a:lvl1pPr>
          </a:lstStyle>
          <a:p>
            <a:endParaRPr lang="en-US" dirty="0"/>
          </a:p>
        </p:txBody>
      </p:sp>
      <p:grpSp>
        <p:nvGrpSpPr>
          <p:cNvPr id="3" name="Group 2">
            <a:extLst>
              <a:ext uri="{FF2B5EF4-FFF2-40B4-BE49-F238E27FC236}">
                <a16:creationId xmlns:a16="http://schemas.microsoft.com/office/drawing/2014/main" id="{742E978E-0C78-1190-5275-F8171088B46C}"/>
              </a:ext>
            </a:extLst>
          </p:cNvPr>
          <p:cNvGrpSpPr/>
          <p:nvPr userDrawn="1"/>
        </p:nvGrpSpPr>
        <p:grpSpPr>
          <a:xfrm>
            <a:off x="335847" y="6491124"/>
            <a:ext cx="11424153" cy="274320"/>
            <a:chOff x="335847" y="6491124"/>
            <a:chExt cx="11424153" cy="274320"/>
          </a:xfrm>
        </p:grpSpPr>
        <p:pic>
          <p:nvPicPr>
            <p:cNvPr id="4" name="Picture 3" descr="A black screen with a purple border&#10;&#10;AI-generated content may be incorrect.">
              <a:extLst>
                <a:ext uri="{FF2B5EF4-FFF2-40B4-BE49-F238E27FC236}">
                  <a16:creationId xmlns:a16="http://schemas.microsoft.com/office/drawing/2014/main" id="{23F1F1AA-4F36-C7F5-7E5E-B40C6A7D7504}"/>
                </a:ext>
              </a:extLst>
            </p:cNvPr>
            <p:cNvPicPr>
              <a:picLocks noChangeAspect="1"/>
            </p:cNvPicPr>
            <p:nvPr userDrawn="1"/>
          </p:nvPicPr>
          <p:blipFill>
            <a:blip r:embed="rId2"/>
            <a:stretch>
              <a:fillRect/>
            </a:stretch>
          </p:blipFill>
          <p:spPr>
            <a:xfrm>
              <a:off x="9868291" y="6491124"/>
              <a:ext cx="1891709" cy="274320"/>
            </a:xfrm>
            <a:prstGeom prst="rect">
              <a:avLst/>
            </a:prstGeom>
          </p:spPr>
        </p:pic>
        <p:pic>
          <p:nvPicPr>
            <p:cNvPr id="5" name="Picture 4" descr="A black and grey logo&#10;&#10;AI-generated content may be incorrect.">
              <a:extLst>
                <a:ext uri="{FF2B5EF4-FFF2-40B4-BE49-F238E27FC236}">
                  <a16:creationId xmlns:a16="http://schemas.microsoft.com/office/drawing/2014/main" id="{0F087F54-05E0-A67F-BAF3-C1DE9C4D92E1}"/>
                </a:ext>
              </a:extLst>
            </p:cNvPr>
            <p:cNvPicPr>
              <a:picLocks noChangeAspect="1"/>
            </p:cNvPicPr>
            <p:nvPr userDrawn="1"/>
          </p:nvPicPr>
          <p:blipFill>
            <a:blip r:embed="rId3"/>
            <a:stretch>
              <a:fillRect/>
            </a:stretch>
          </p:blipFill>
          <p:spPr>
            <a:xfrm>
              <a:off x="335847" y="6491124"/>
              <a:ext cx="1344658" cy="274320"/>
            </a:xfrm>
            <a:prstGeom prst="rect">
              <a:avLst/>
            </a:prstGeom>
          </p:spPr>
        </p:pic>
        <p:sp>
          <p:nvSpPr>
            <p:cNvPr id="7" name="TextBox 6">
              <a:extLst>
                <a:ext uri="{FF2B5EF4-FFF2-40B4-BE49-F238E27FC236}">
                  <a16:creationId xmlns:a16="http://schemas.microsoft.com/office/drawing/2014/main" id="{F35BFBAC-9F48-0030-D806-6BA015C0DC89}"/>
                </a:ext>
              </a:extLst>
            </p:cNvPr>
            <p:cNvSpPr txBox="1"/>
            <p:nvPr userDrawn="1"/>
          </p:nvSpPr>
          <p:spPr>
            <a:xfrm>
              <a:off x="1832436" y="6520562"/>
              <a:ext cx="1508746" cy="215444"/>
            </a:xfrm>
            <a:prstGeom prst="rect">
              <a:avLst/>
            </a:prstGeom>
            <a:noFill/>
          </p:spPr>
          <p:txBody>
            <a:bodyPr wrap="none" rtlCol="0">
              <a:spAutoFit/>
            </a:bodyPr>
            <a:lstStyle/>
            <a:p>
              <a:r>
                <a:rPr lang="en-US" sz="800" dirty="0">
                  <a:solidFill>
                    <a:srgbClr val="B3BBCA"/>
                  </a:solidFill>
                  <a:latin typeface="Arial" panose="020B0604020202020204" pitchFamily="34" charset="0"/>
                  <a:cs typeface="Arial" panose="020B0604020202020204" pitchFamily="34" charset="0"/>
                </a:rPr>
                <a:t>© 2026 | All Rights Reserved</a:t>
              </a:r>
            </a:p>
          </p:txBody>
        </p:sp>
      </p:grpSp>
      <p:sp>
        <p:nvSpPr>
          <p:cNvPr id="8" name="Slide Number Placeholder 2">
            <a:extLst>
              <a:ext uri="{FF2B5EF4-FFF2-40B4-BE49-F238E27FC236}">
                <a16:creationId xmlns:a16="http://schemas.microsoft.com/office/drawing/2014/main" id="{C3499149-967A-2257-B0F3-306164A296D3}"/>
              </a:ext>
            </a:extLst>
          </p:cNvPr>
          <p:cNvSpPr>
            <a:spLocks noGrp="1"/>
          </p:cNvSpPr>
          <p:nvPr>
            <p:ph type="sldNum" sz="quarter" idx="10"/>
          </p:nvPr>
        </p:nvSpPr>
        <p:spPr>
          <a:xfrm>
            <a:off x="4724400" y="6356350"/>
            <a:ext cx="2743200" cy="365125"/>
          </a:xfrm>
        </p:spPr>
        <p:txBody>
          <a:bodyPr/>
          <a:lstStyle/>
          <a:p>
            <a:pPr algn="ctr"/>
            <a:fld id="{FF0DA51E-4F4E-F44B-92F4-A8A938217E48}" type="slidenum">
              <a:rPr lang="en-US" smtClean="0"/>
              <a:pPr/>
              <a:t>‹#›</a:t>
            </a:fld>
            <a:endParaRPr lang="en-US" dirty="0"/>
          </a:p>
        </p:txBody>
      </p:sp>
      <p:sp>
        <p:nvSpPr>
          <p:cNvPr id="9" name="Title 1">
            <a:extLst>
              <a:ext uri="{FF2B5EF4-FFF2-40B4-BE49-F238E27FC236}">
                <a16:creationId xmlns:a16="http://schemas.microsoft.com/office/drawing/2014/main" id="{3AA7D766-6CF5-681E-F33D-6F907563BCFF}"/>
              </a:ext>
            </a:extLst>
          </p:cNvPr>
          <p:cNvSpPr>
            <a:spLocks noGrp="1"/>
          </p:cNvSpPr>
          <p:nvPr>
            <p:ph type="title"/>
          </p:nvPr>
        </p:nvSpPr>
        <p:spPr>
          <a:xfrm>
            <a:off x="432000" y="432001"/>
            <a:ext cx="11328000" cy="736400"/>
          </a:xfrm>
          <a:prstGeom prst="rect">
            <a:avLst/>
          </a:prstGeom>
        </p:spPr>
        <p:txBody>
          <a:bodyPr/>
          <a:lstStyle>
            <a:lvl1pPr>
              <a:defRPr sz="4000" b="1">
                <a:solidFill>
                  <a:srgbClr val="1D1D1D"/>
                </a:solidFill>
                <a:latin typeface="Segoe UI" pitchFamily="34" charset="0"/>
              </a:defRPr>
            </a:lvl1pPr>
          </a:lstStyle>
          <a:p>
            <a:endParaRPr dirty="0"/>
          </a:p>
        </p:txBody>
      </p:sp>
    </p:spTree>
    <p:extLst>
      <p:ext uri="{BB962C8B-B14F-4D97-AF65-F5344CB8AC3E}">
        <p14:creationId xmlns:p14="http://schemas.microsoft.com/office/powerpoint/2010/main" val="20715815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511190A-B74E-E487-1DC2-72F58BE4606C}"/>
              </a:ext>
            </a:extLst>
          </p:cNvPr>
          <p:cNvSpPr>
            <a:spLocks noGrp="1"/>
          </p:cNvSpPr>
          <p:nvPr>
            <p:ph type="sldNum" sz="quarter" idx="10"/>
          </p:nvPr>
        </p:nvSpPr>
        <p:spPr/>
        <p:txBody>
          <a:bodyPr/>
          <a:lstStyle/>
          <a:p>
            <a:pPr algn="ctr"/>
            <a:fld id="{FF0DA51E-4F4E-F44B-92F4-A8A938217E48}" type="slidenum">
              <a:rPr lang="en-US" smtClean="0"/>
              <a:pPr/>
              <a:t>‹#›</a:t>
            </a:fld>
            <a:endParaRPr lang="en-US" dirty="0"/>
          </a:p>
        </p:txBody>
      </p:sp>
      <p:grpSp>
        <p:nvGrpSpPr>
          <p:cNvPr id="4" name="Group 3">
            <a:extLst>
              <a:ext uri="{FF2B5EF4-FFF2-40B4-BE49-F238E27FC236}">
                <a16:creationId xmlns:a16="http://schemas.microsoft.com/office/drawing/2014/main" id="{4FF0BC8C-3485-21E7-02FF-9026F617B760}"/>
              </a:ext>
            </a:extLst>
          </p:cNvPr>
          <p:cNvGrpSpPr/>
          <p:nvPr userDrawn="1"/>
        </p:nvGrpSpPr>
        <p:grpSpPr>
          <a:xfrm>
            <a:off x="335847" y="6491124"/>
            <a:ext cx="11424153" cy="274320"/>
            <a:chOff x="335847" y="6491124"/>
            <a:chExt cx="11424153" cy="274320"/>
          </a:xfrm>
        </p:grpSpPr>
        <p:pic>
          <p:nvPicPr>
            <p:cNvPr id="5" name="Picture 4" descr="A black screen with a purple border&#10;&#10;AI-generated content may be incorrect.">
              <a:extLst>
                <a:ext uri="{FF2B5EF4-FFF2-40B4-BE49-F238E27FC236}">
                  <a16:creationId xmlns:a16="http://schemas.microsoft.com/office/drawing/2014/main" id="{D3F37C0F-12F3-DE90-249D-5396F51F253B}"/>
                </a:ext>
              </a:extLst>
            </p:cNvPr>
            <p:cNvPicPr>
              <a:picLocks noChangeAspect="1"/>
            </p:cNvPicPr>
            <p:nvPr userDrawn="1"/>
          </p:nvPicPr>
          <p:blipFill>
            <a:blip r:embed="rId2"/>
            <a:stretch>
              <a:fillRect/>
            </a:stretch>
          </p:blipFill>
          <p:spPr>
            <a:xfrm>
              <a:off x="9868291" y="6491124"/>
              <a:ext cx="1891709" cy="274320"/>
            </a:xfrm>
            <a:prstGeom prst="rect">
              <a:avLst/>
            </a:prstGeom>
          </p:spPr>
        </p:pic>
        <p:pic>
          <p:nvPicPr>
            <p:cNvPr id="10" name="Picture 9" descr="A black and grey logo&#10;&#10;AI-generated content may be incorrect.">
              <a:extLst>
                <a:ext uri="{FF2B5EF4-FFF2-40B4-BE49-F238E27FC236}">
                  <a16:creationId xmlns:a16="http://schemas.microsoft.com/office/drawing/2014/main" id="{7A149E02-E49A-2448-0216-4F611C54AF97}"/>
                </a:ext>
              </a:extLst>
            </p:cNvPr>
            <p:cNvPicPr>
              <a:picLocks noChangeAspect="1"/>
            </p:cNvPicPr>
            <p:nvPr userDrawn="1"/>
          </p:nvPicPr>
          <p:blipFill>
            <a:blip r:embed="rId3"/>
            <a:stretch>
              <a:fillRect/>
            </a:stretch>
          </p:blipFill>
          <p:spPr>
            <a:xfrm>
              <a:off x="335847" y="6491124"/>
              <a:ext cx="1344658" cy="274320"/>
            </a:xfrm>
            <a:prstGeom prst="rect">
              <a:avLst/>
            </a:prstGeom>
          </p:spPr>
        </p:pic>
        <p:sp>
          <p:nvSpPr>
            <p:cNvPr id="11" name="TextBox 10">
              <a:extLst>
                <a:ext uri="{FF2B5EF4-FFF2-40B4-BE49-F238E27FC236}">
                  <a16:creationId xmlns:a16="http://schemas.microsoft.com/office/drawing/2014/main" id="{92FA2E98-F16C-84DA-2B87-5E500F22D69A}"/>
                </a:ext>
              </a:extLst>
            </p:cNvPr>
            <p:cNvSpPr txBox="1"/>
            <p:nvPr userDrawn="1"/>
          </p:nvSpPr>
          <p:spPr>
            <a:xfrm>
              <a:off x="1832436" y="6520562"/>
              <a:ext cx="1508746" cy="215444"/>
            </a:xfrm>
            <a:prstGeom prst="rect">
              <a:avLst/>
            </a:prstGeom>
            <a:noFill/>
          </p:spPr>
          <p:txBody>
            <a:bodyPr wrap="none" rtlCol="0">
              <a:spAutoFit/>
            </a:bodyPr>
            <a:lstStyle/>
            <a:p>
              <a:r>
                <a:rPr lang="en-US" sz="800" dirty="0">
                  <a:solidFill>
                    <a:srgbClr val="B3BBCA"/>
                  </a:solidFill>
                  <a:latin typeface="Arial" panose="020B0604020202020204" pitchFamily="34" charset="0"/>
                  <a:cs typeface="Arial" panose="020B0604020202020204" pitchFamily="34" charset="0"/>
                </a:rPr>
                <a:t>© 2026 | All Rights Reserved</a:t>
              </a:r>
            </a:p>
          </p:txBody>
        </p:sp>
      </p:grpSp>
    </p:spTree>
    <p:extLst>
      <p:ext uri="{BB962C8B-B14F-4D97-AF65-F5344CB8AC3E}">
        <p14:creationId xmlns:p14="http://schemas.microsoft.com/office/powerpoint/2010/main" val="26322014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Full-Width Image &amp; Title ">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9B6A421C-37B1-BF93-AA9B-A9990BA6658F}"/>
              </a:ext>
            </a:extLst>
          </p:cNvPr>
          <p:cNvSpPr>
            <a:spLocks noGrp="1"/>
          </p:cNvSpPr>
          <p:nvPr>
            <p:ph type="pic" sz="quarter" idx="10"/>
          </p:nvPr>
        </p:nvSpPr>
        <p:spPr>
          <a:xfrm>
            <a:off x="0" y="0"/>
            <a:ext cx="12192000" cy="6858000"/>
          </a:xfrm>
          <a:prstGeom prst="rect">
            <a:avLst/>
          </a:prstGeom>
        </p:spPr>
        <p:txBody>
          <a:bodyPr/>
          <a:lstStyle/>
          <a:p>
            <a:endParaRPr lang="en-US" dirty="0"/>
          </a:p>
        </p:txBody>
      </p:sp>
      <p:sp>
        <p:nvSpPr>
          <p:cNvPr id="9" name="Slide Number Placeholder 8">
            <a:extLst>
              <a:ext uri="{FF2B5EF4-FFF2-40B4-BE49-F238E27FC236}">
                <a16:creationId xmlns:a16="http://schemas.microsoft.com/office/drawing/2014/main" id="{23AD99FB-E696-F0E7-9EBF-6826B08B946B}"/>
              </a:ext>
            </a:extLst>
          </p:cNvPr>
          <p:cNvSpPr>
            <a:spLocks noGrp="1"/>
          </p:cNvSpPr>
          <p:nvPr>
            <p:ph type="sldNum" sz="quarter" idx="11"/>
          </p:nvPr>
        </p:nvSpPr>
        <p:spPr/>
        <p:txBody>
          <a:bodyPr/>
          <a:lstStyle/>
          <a:p>
            <a:pPr algn="ctr"/>
            <a:fld id="{FF0DA51E-4F4E-F44B-92F4-A8A938217E48}" type="slidenum">
              <a:rPr lang="en-US" smtClean="0"/>
              <a:pPr/>
              <a:t>‹#›</a:t>
            </a:fld>
            <a:endParaRPr lang="en-US"/>
          </a:p>
        </p:txBody>
      </p:sp>
      <p:grpSp>
        <p:nvGrpSpPr>
          <p:cNvPr id="10" name="Group 9">
            <a:extLst>
              <a:ext uri="{FF2B5EF4-FFF2-40B4-BE49-F238E27FC236}">
                <a16:creationId xmlns:a16="http://schemas.microsoft.com/office/drawing/2014/main" id="{42FB038F-6A1A-9FB9-2C1B-26E79800F9D1}"/>
              </a:ext>
            </a:extLst>
          </p:cNvPr>
          <p:cNvGrpSpPr/>
          <p:nvPr userDrawn="1"/>
        </p:nvGrpSpPr>
        <p:grpSpPr>
          <a:xfrm>
            <a:off x="335847" y="6491124"/>
            <a:ext cx="11424153" cy="274320"/>
            <a:chOff x="335847" y="6491124"/>
            <a:chExt cx="11424153" cy="274320"/>
          </a:xfrm>
        </p:grpSpPr>
        <p:pic>
          <p:nvPicPr>
            <p:cNvPr id="11" name="Picture 10" descr="A black screen with a purple border&#10;&#10;AI-generated content may be incorrect.">
              <a:extLst>
                <a:ext uri="{FF2B5EF4-FFF2-40B4-BE49-F238E27FC236}">
                  <a16:creationId xmlns:a16="http://schemas.microsoft.com/office/drawing/2014/main" id="{C022F3AB-4CCD-BBD3-CCAD-E05ADC04927C}"/>
                </a:ext>
              </a:extLst>
            </p:cNvPr>
            <p:cNvPicPr>
              <a:picLocks noChangeAspect="1"/>
            </p:cNvPicPr>
            <p:nvPr userDrawn="1"/>
          </p:nvPicPr>
          <p:blipFill>
            <a:blip r:embed="rId2"/>
            <a:stretch>
              <a:fillRect/>
            </a:stretch>
          </p:blipFill>
          <p:spPr>
            <a:xfrm>
              <a:off x="9868291" y="6491124"/>
              <a:ext cx="1891709" cy="274320"/>
            </a:xfrm>
            <a:prstGeom prst="rect">
              <a:avLst/>
            </a:prstGeom>
          </p:spPr>
        </p:pic>
        <p:pic>
          <p:nvPicPr>
            <p:cNvPr id="12" name="Picture 11" descr="A black and grey logo&#10;&#10;AI-generated content may be incorrect.">
              <a:extLst>
                <a:ext uri="{FF2B5EF4-FFF2-40B4-BE49-F238E27FC236}">
                  <a16:creationId xmlns:a16="http://schemas.microsoft.com/office/drawing/2014/main" id="{0166C6D1-783F-1170-9F73-0646E2BF5F23}"/>
                </a:ext>
              </a:extLst>
            </p:cNvPr>
            <p:cNvPicPr>
              <a:picLocks noChangeAspect="1"/>
            </p:cNvPicPr>
            <p:nvPr userDrawn="1"/>
          </p:nvPicPr>
          <p:blipFill>
            <a:blip r:embed="rId3"/>
            <a:stretch>
              <a:fillRect/>
            </a:stretch>
          </p:blipFill>
          <p:spPr>
            <a:xfrm>
              <a:off x="335847" y="6491124"/>
              <a:ext cx="1344658" cy="274320"/>
            </a:xfrm>
            <a:prstGeom prst="rect">
              <a:avLst/>
            </a:prstGeom>
          </p:spPr>
        </p:pic>
        <p:sp>
          <p:nvSpPr>
            <p:cNvPr id="13" name="TextBox 12">
              <a:extLst>
                <a:ext uri="{FF2B5EF4-FFF2-40B4-BE49-F238E27FC236}">
                  <a16:creationId xmlns:a16="http://schemas.microsoft.com/office/drawing/2014/main" id="{BA65DBAA-BED8-3142-B761-AB5A83D4EA85}"/>
                </a:ext>
              </a:extLst>
            </p:cNvPr>
            <p:cNvSpPr txBox="1"/>
            <p:nvPr userDrawn="1"/>
          </p:nvSpPr>
          <p:spPr>
            <a:xfrm>
              <a:off x="1832436" y="6520562"/>
              <a:ext cx="1508746" cy="215444"/>
            </a:xfrm>
            <a:prstGeom prst="rect">
              <a:avLst/>
            </a:prstGeom>
            <a:noFill/>
          </p:spPr>
          <p:txBody>
            <a:bodyPr wrap="none" rtlCol="0">
              <a:spAutoFit/>
            </a:bodyPr>
            <a:lstStyle/>
            <a:p>
              <a:r>
                <a:rPr lang="en-US" sz="800" dirty="0">
                  <a:solidFill>
                    <a:srgbClr val="B3BBCA"/>
                  </a:solidFill>
                  <a:latin typeface="Arial" panose="020B0604020202020204" pitchFamily="34" charset="0"/>
                  <a:cs typeface="Arial" panose="020B0604020202020204" pitchFamily="34" charset="0"/>
                </a:rPr>
                <a:t>© 2026 | All Rights Reserved</a:t>
              </a:r>
            </a:p>
          </p:txBody>
        </p:sp>
      </p:grpSp>
      <p:sp>
        <p:nvSpPr>
          <p:cNvPr id="14" name="Title 1">
            <a:extLst>
              <a:ext uri="{FF2B5EF4-FFF2-40B4-BE49-F238E27FC236}">
                <a16:creationId xmlns:a16="http://schemas.microsoft.com/office/drawing/2014/main" id="{54F2A19E-5FFA-D35A-51DA-A59745E63949}"/>
              </a:ext>
            </a:extLst>
          </p:cNvPr>
          <p:cNvSpPr>
            <a:spLocks noGrp="1"/>
          </p:cNvSpPr>
          <p:nvPr>
            <p:ph type="title"/>
          </p:nvPr>
        </p:nvSpPr>
        <p:spPr>
          <a:xfrm>
            <a:off x="432000" y="432001"/>
            <a:ext cx="11328000" cy="736400"/>
          </a:xfrm>
          <a:prstGeom prst="rect">
            <a:avLst/>
          </a:prstGeom>
        </p:spPr>
        <p:txBody>
          <a:bodyPr/>
          <a:lstStyle>
            <a:lvl1pPr>
              <a:defRPr sz="4000" b="1">
                <a:solidFill>
                  <a:srgbClr val="1D1D1D"/>
                </a:solidFill>
                <a:latin typeface="Segoe UI" pitchFamily="34" charset="0"/>
              </a:defRPr>
            </a:lvl1pPr>
          </a:lstStyle>
          <a:p>
            <a:endParaRPr dirty="0"/>
          </a:p>
        </p:txBody>
      </p:sp>
    </p:spTree>
    <p:extLst>
      <p:ext uri="{BB962C8B-B14F-4D97-AF65-F5344CB8AC3E}">
        <p14:creationId xmlns:p14="http://schemas.microsoft.com/office/powerpoint/2010/main" val="10939958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Minimal 1">
    <p:spTree>
      <p:nvGrpSpPr>
        <p:cNvPr id="1" name=""/>
        <p:cNvGrpSpPr/>
        <p:nvPr/>
      </p:nvGrpSpPr>
      <p:grpSpPr>
        <a:xfrm>
          <a:off x="0" y="0"/>
          <a:ext cx="0" cy="0"/>
          <a:chOff x="0" y="0"/>
          <a:chExt cx="0" cy="0"/>
        </a:xfrm>
      </p:grpSpPr>
      <p:pic>
        <p:nvPicPr>
          <p:cNvPr id="10" name="Picture 9" descr="A black and white logo&#10;&#10;AI-generated content may be incorrect."/>
          <p:cNvPicPr>
            <a:picLocks noChangeAspect="1"/>
          </p:cNvPicPr>
          <p:nvPr userDrawn="1"/>
        </p:nvPicPr>
        <p:blipFill>
          <a:blip r:embed="rId2"/>
          <a:stretch>
            <a:fillRect/>
          </a:stretch>
        </p:blipFill>
        <p:spPr>
          <a:xfrm>
            <a:off x="432000" y="6091333"/>
            <a:ext cx="2163449" cy="438912"/>
          </a:xfrm>
          <a:prstGeom prst="rect">
            <a:avLst/>
          </a:prstGeom>
        </p:spPr>
      </p:pic>
      <p:pic>
        <p:nvPicPr>
          <p:cNvPr id="11" name="Picture 10" descr="A black screen with a purple border&#10;&#10;AI-generated content may be incorrect."/>
          <p:cNvPicPr>
            <a:picLocks noChangeAspect="1"/>
          </p:cNvPicPr>
          <p:nvPr userDrawn="1"/>
        </p:nvPicPr>
        <p:blipFill>
          <a:blip r:embed="rId3"/>
          <a:stretch>
            <a:fillRect/>
          </a:stretch>
        </p:blipFill>
        <p:spPr>
          <a:xfrm>
            <a:off x="9243962" y="6209865"/>
            <a:ext cx="2516038" cy="364855"/>
          </a:xfrm>
          <a:prstGeom prst="rect">
            <a:avLst/>
          </a:prstGeom>
        </p:spPr>
      </p:pic>
      <p:sp>
        <p:nvSpPr>
          <p:cNvPr id="3" name="Title 1">
            <a:extLst>
              <a:ext uri="{FF2B5EF4-FFF2-40B4-BE49-F238E27FC236}">
                <a16:creationId xmlns:a16="http://schemas.microsoft.com/office/drawing/2014/main" id="{122DE936-EA9D-39D1-AE1D-26C6AD6A15C5}"/>
              </a:ext>
            </a:extLst>
          </p:cNvPr>
          <p:cNvSpPr>
            <a:spLocks noGrp="1"/>
          </p:cNvSpPr>
          <p:nvPr>
            <p:ph type="title"/>
          </p:nvPr>
        </p:nvSpPr>
        <p:spPr>
          <a:xfrm>
            <a:off x="432000" y="432001"/>
            <a:ext cx="11328000" cy="736400"/>
          </a:xfrm>
          <a:prstGeom prst="rect">
            <a:avLst/>
          </a:prstGeom>
        </p:spPr>
        <p:txBody>
          <a:bodyPr/>
          <a:lstStyle>
            <a:lvl1pPr>
              <a:defRPr sz="4000" b="1">
                <a:solidFill>
                  <a:srgbClr val="1D1D1D"/>
                </a:solidFill>
                <a:latin typeface="Segoe UI" pitchFamily="34" charset="0"/>
              </a:defRPr>
            </a:lvl1pPr>
          </a:lstStyle>
          <a:p>
            <a:endParaRPr dirty="0"/>
          </a:p>
        </p:txBody>
      </p:sp>
      <p:sp>
        <p:nvSpPr>
          <p:cNvPr id="5" name="Text Placeholder 6">
            <a:extLst>
              <a:ext uri="{FF2B5EF4-FFF2-40B4-BE49-F238E27FC236}">
                <a16:creationId xmlns:a16="http://schemas.microsoft.com/office/drawing/2014/main" id="{3027020D-9A8D-38EE-18AF-E77D7126CA98}"/>
              </a:ext>
            </a:extLst>
          </p:cNvPr>
          <p:cNvSpPr>
            <a:spLocks noGrp="1"/>
          </p:cNvSpPr>
          <p:nvPr>
            <p:ph type="body" sz="quarter" idx="12"/>
          </p:nvPr>
        </p:nvSpPr>
        <p:spPr>
          <a:xfrm>
            <a:off x="420000" y="1319422"/>
            <a:ext cx="11340000" cy="425592"/>
          </a:xfrm>
          <a:prstGeom prst="rect">
            <a:avLst/>
          </a:prstGeom>
        </p:spPr>
        <p:txBody>
          <a:bodyPr/>
          <a:lstStyle>
            <a:lvl1pPr>
              <a:buNone/>
              <a:defRPr sz="3000">
                <a:solidFill>
                  <a:schemeClr val="accent1"/>
                </a:solidFill>
                <a:latin typeface="+mj-lt"/>
              </a:defRPr>
            </a:lvl1pPr>
          </a:lstStyle>
          <a:p>
            <a:pPr lvl="0"/>
            <a:endParaRPr dirty="0"/>
          </a:p>
        </p:txBody>
      </p:sp>
    </p:spTree>
    <p:extLst>
      <p:ext uri="{BB962C8B-B14F-4D97-AF65-F5344CB8AC3E}">
        <p14:creationId xmlns:p14="http://schemas.microsoft.com/office/powerpoint/2010/main" val="9005915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Minimal 2">
    <p:bg>
      <p:bgPr>
        <a:solidFill>
          <a:srgbClr val="281A42"/>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rcRect/>
          <a:stretch/>
        </p:blipFill>
        <p:spPr>
          <a:xfrm>
            <a:off x="432000" y="6008469"/>
            <a:ext cx="2377440" cy="649574"/>
          </a:xfrm>
          <a:prstGeom prst="rect">
            <a:avLst/>
          </a:prstGeom>
        </p:spPr>
      </p:pic>
      <p:pic>
        <p:nvPicPr>
          <p:cNvPr id="11" name="Picture 10" descr="A black screen with a purple border&#10;&#10;AI-generated content may be incorrect."/>
          <p:cNvPicPr>
            <a:picLocks noChangeAspect="1"/>
          </p:cNvPicPr>
          <p:nvPr userDrawn="1"/>
        </p:nvPicPr>
        <p:blipFill>
          <a:blip r:embed="rId3"/>
          <a:stretch>
            <a:fillRect/>
          </a:stretch>
        </p:blipFill>
        <p:spPr>
          <a:xfrm>
            <a:off x="9126028" y="6191590"/>
            <a:ext cx="2516038" cy="364855"/>
          </a:xfrm>
          <a:prstGeom prst="rect">
            <a:avLst/>
          </a:prstGeom>
        </p:spPr>
      </p:pic>
      <p:sp>
        <p:nvSpPr>
          <p:cNvPr id="12" name="Title 1"/>
          <p:cNvSpPr>
            <a:spLocks noGrp="1"/>
          </p:cNvSpPr>
          <p:nvPr>
            <p:ph type="title"/>
          </p:nvPr>
        </p:nvSpPr>
        <p:spPr>
          <a:xfrm>
            <a:off x="432000" y="432000"/>
            <a:ext cx="11328000" cy="968175"/>
          </a:xfrm>
          <a:prstGeom prst="rect">
            <a:avLst/>
          </a:prstGeom>
        </p:spPr>
        <p:txBody>
          <a:bodyPr/>
          <a:lstStyle>
            <a:lvl1pPr>
              <a:defRPr sz="6600" b="1">
                <a:solidFill>
                  <a:schemeClr val="bg1"/>
                </a:solidFill>
                <a:latin typeface="Segoe UI" pitchFamily="34" charset="0"/>
              </a:defRPr>
            </a:lvl1pPr>
          </a:lstStyle>
          <a:p>
            <a:endParaRPr dirty="0"/>
          </a:p>
        </p:txBody>
      </p:sp>
    </p:spTree>
    <p:extLst>
      <p:ext uri="{BB962C8B-B14F-4D97-AF65-F5344CB8AC3E}">
        <p14:creationId xmlns:p14="http://schemas.microsoft.com/office/powerpoint/2010/main" val="35999130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6153714-7E88-0A1E-77F8-5CFA5432AF81}"/>
              </a:ext>
            </a:extLst>
          </p:cNvPr>
          <p:cNvSpPr/>
          <p:nvPr userDrawn="1"/>
        </p:nvSpPr>
        <p:spPr>
          <a:xfrm>
            <a:off x="0" y="0"/>
            <a:ext cx="12192000" cy="6858000"/>
          </a:xfrm>
          <a:prstGeom prst="rect">
            <a:avLst/>
          </a:prstGeom>
          <a:solidFill>
            <a:srgbClr val="1D1D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FF09B0A9-4F98-C3F4-4E57-41FF83F30DD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49936" y="5944623"/>
            <a:ext cx="1847486" cy="363440"/>
          </a:xfrm>
          <a:prstGeom prst="rect">
            <a:avLst/>
          </a:prstGeom>
        </p:spPr>
      </p:pic>
      <p:sp>
        <p:nvSpPr>
          <p:cNvPr id="2" name="Title 1">
            <a:extLst>
              <a:ext uri="{FF2B5EF4-FFF2-40B4-BE49-F238E27FC236}">
                <a16:creationId xmlns:a16="http://schemas.microsoft.com/office/drawing/2014/main" id="{C71F94B0-322D-E03B-8CB1-00179193530D}"/>
              </a:ext>
            </a:extLst>
          </p:cNvPr>
          <p:cNvSpPr>
            <a:spLocks noGrp="1"/>
          </p:cNvSpPr>
          <p:nvPr>
            <p:ph type="title"/>
          </p:nvPr>
        </p:nvSpPr>
        <p:spPr>
          <a:xfrm>
            <a:off x="432000" y="3060800"/>
            <a:ext cx="11328000" cy="736400"/>
          </a:xfrm>
          <a:prstGeom prst="rect">
            <a:avLst/>
          </a:prstGeom>
        </p:spPr>
        <p:txBody>
          <a:bodyPr/>
          <a:lstStyle>
            <a:lvl1pPr>
              <a:defRPr sz="4800" b="1">
                <a:solidFill>
                  <a:schemeClr val="bg1"/>
                </a:solidFill>
                <a:latin typeface="Segoe UI" pitchFamily="34" charset="0"/>
              </a:defRPr>
            </a:lvl1pPr>
          </a:lstStyle>
          <a:p>
            <a:endParaRPr dirty="0"/>
          </a:p>
        </p:txBody>
      </p:sp>
    </p:spTree>
    <p:extLst>
      <p:ext uri="{BB962C8B-B14F-4D97-AF65-F5344CB8AC3E}">
        <p14:creationId xmlns:p14="http://schemas.microsoft.com/office/powerpoint/2010/main" val="40306828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D22CDED-1082-96BE-134C-FC563EBD4FC5}"/>
              </a:ext>
            </a:extLst>
          </p:cNvPr>
          <p:cNvSpPr>
            <a:spLocks noGrp="1"/>
          </p:cNvSpPr>
          <p:nvPr>
            <p:ph type="sldNum" sz="quarter" idx="4"/>
          </p:nvPr>
        </p:nvSpPr>
        <p:spPr>
          <a:xfrm>
            <a:off x="4724400" y="6356350"/>
            <a:ext cx="27432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pPr algn="ctr"/>
            <a:fld id="{FF0DA51E-4F4E-F44B-92F4-A8A938217E4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99" r:id="rId1"/>
    <p:sldLayoutId id="2147483700" r:id="rId2"/>
    <p:sldLayoutId id="2147483654" r:id="rId3"/>
    <p:sldLayoutId id="2147483704" r:id="rId4"/>
    <p:sldLayoutId id="2147483681" r:id="rId5"/>
    <p:sldLayoutId id="2147483661" r:id="rId6"/>
    <p:sldLayoutId id="2147483702" r:id="rId7"/>
    <p:sldLayoutId id="2147483701" r:id="rId8"/>
    <p:sldLayoutId id="2147483703" r:id="rId9"/>
  </p:sldLayoutIdLst>
  <p:hf hdr="0" ftr="0" dt="0"/>
  <p:txStyles>
    <p:titleStyle>
      <a:lvl1pPr algn="l" defTabSz="914400" rtl="0" eaLnBrk="1" latinLnBrk="0" hangingPunct="1">
        <a:lnSpc>
          <a:spcPct val="90000"/>
        </a:lnSpc>
        <a:spcBef>
          <a:spcPct val="0"/>
        </a:spcBef>
        <a:buNone/>
        <a:defRPr lang="en-US" sz="2800" b="1" kern="1200">
          <a:ea typeface="+mj-ea"/>
          <a:cs typeface="+mj-cs"/>
        </a:defRPr>
      </a:lvl1pPr>
    </p:titleStyle>
    <p:bodyStyle>
      <a:lvl1pPr marL="228600" indent="-228600" algn="l" defTabSz="914400" rtl="0" eaLnBrk="1" latinLnBrk="0" hangingPunct="1">
        <a:lnSpc>
          <a:spcPct val="90000"/>
        </a:lnSpc>
        <a:spcBef>
          <a:spcPts val="1000"/>
        </a:spcBef>
        <a:buFont typeface="Arial" panose="020B0706020202030204" pitchFamily="34" charset="0"/>
        <a:buChar char="•"/>
        <a:defRPr lang="en-US" sz="1200" b="0" kern="1200">
          <a:ea typeface="+mn-ea"/>
          <a:cs typeface="+mn-cs"/>
        </a:defRPr>
      </a:lvl1pPr>
      <a:lvl2pPr marL="685800" indent="-228600" algn="l" defTabSz="914400" rtl="0" eaLnBrk="1" latinLnBrk="0" hangingPunct="1">
        <a:lnSpc>
          <a:spcPct val="90000"/>
        </a:lnSpc>
        <a:spcBef>
          <a:spcPts val="500"/>
        </a:spcBef>
        <a:buFont typeface="Arial" panose="020B070602020203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602020203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lang="en-US" sz="1000" b="0" kern="120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microsoft.com/office/2018/10/relationships/comments" Target="../comments/modernComment_105_3110C1A4.xm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microsoft.com/office/2018/10/relationships/comments" Target="../comments/modernComment_104_774A9F7F.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microsoft.com/office/2018/10/relationships/comments" Target="../comments/modernComment_101_96CCBD15.xm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microsoft.com/office/2018/10/relationships/comments" Target="../comments/modernComment_116_F05C3FA9.xm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20.png"/><Relationship Id="rId3" Type="http://schemas.microsoft.com/office/2018/10/relationships/comments" Target="../comments/modernComment_10F_1D9B2223.xml"/><Relationship Id="rId7" Type="http://schemas.openxmlformats.org/officeDocument/2006/relationships/image" Target="../media/image25.sv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svg"/><Relationship Id="rId9" Type="http://schemas.openxmlformats.org/officeDocument/2006/relationships/image" Target="../media/image21.png"/></Relationships>
</file>

<file path=ppt/slides/_rels/slide13.xml.rels><?xml version="1.0" encoding="UTF-8" standalone="yes"?>
<Relationships xmlns="http://schemas.openxmlformats.org/package/2006/relationships"><Relationship Id="rId8" Type="http://schemas.openxmlformats.org/officeDocument/2006/relationships/image" Target="../media/image21.png"/><Relationship Id="rId3" Type="http://schemas.microsoft.com/office/2018/10/relationships/comments" Target="../comments/modernComment_7FFFFFCE_E2B15C94.xml"/><Relationship Id="rId7"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5.svg"/><Relationship Id="rId5" Type="http://schemas.openxmlformats.org/officeDocument/2006/relationships/image" Target="../media/image27.jpe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8" Type="http://schemas.openxmlformats.org/officeDocument/2006/relationships/image" Target="../media/image20.png"/><Relationship Id="rId3" Type="http://schemas.microsoft.com/office/2018/10/relationships/comments" Target="../comments/modernComment_7FFFFFCF_E15A4C6.xml"/><Relationship Id="rId7" Type="http://schemas.openxmlformats.org/officeDocument/2006/relationships/image" Target="../media/image25.sv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 Id="rId9"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microsoft.com/office/2018/10/relationships/comments" Target="../comments/modernComment_12D_E0095D58.xml"/><Relationship Id="rId7"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25.svg"/><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microsoft.com/office/2018/10/relationships/comments" Target="../comments/modernComment_7FFFFFD0_1208D47E.xm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5.svg"/></Relationships>
</file>

<file path=ppt/slides/_rels/slide17.xml.rels><?xml version="1.0" encoding="UTF-8" standalone="yes"?>
<Relationships xmlns="http://schemas.openxmlformats.org/package/2006/relationships"><Relationship Id="rId3" Type="http://schemas.microsoft.com/office/2018/10/relationships/comments" Target="../comments/modernComment_107_A0C1CD6F.xm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5.svg"/></Relationships>
</file>

<file path=ppt/slides/_rels/slide18.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5.sv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5.svg"/></Relationships>
</file>

<file path=ppt/slides/_rels/slide21.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33.png"/><Relationship Id="rId7" Type="http://schemas.openxmlformats.org/officeDocument/2006/relationships/image" Target="../media/image20.png"/><Relationship Id="rId2" Type="http://schemas.microsoft.com/office/2018/10/relationships/comments" Target="../comments/modernComment_13A_30C8F6F7.xml"/><Relationship Id="rId1" Type="http://schemas.openxmlformats.org/officeDocument/2006/relationships/slideLayout" Target="../slideLayouts/slideLayout1.xml"/><Relationship Id="rId6" Type="http://schemas.openxmlformats.org/officeDocument/2006/relationships/image" Target="../media/image25.svg"/><Relationship Id="rId5" Type="http://schemas.openxmlformats.org/officeDocument/2006/relationships/image" Target="../media/image35.png"/><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25.svg"/><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3" Type="http://schemas.microsoft.com/office/2018/10/relationships/comments" Target="../comments/modernComment_122_B235B4C6.xm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5.svg"/></Relationships>
</file>

<file path=ppt/slides/_rels/slide24.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png"/><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5.svg"/></Relationships>
</file>

<file path=ppt/slides/_rels/slide25.xml.rels><?xml version="1.0" encoding="UTF-8" standalone="yes"?>
<Relationships xmlns="http://schemas.openxmlformats.org/package/2006/relationships"><Relationship Id="rId3" Type="http://schemas.microsoft.com/office/2018/10/relationships/comments" Target="../comments/modernComment_7FE4E4C3_762C651F.xml"/><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5.svg"/></Relationships>
</file>

<file path=ppt/slides/_rels/slide26.xml.rels><?xml version="1.0" encoding="UTF-8" standalone="yes"?>
<Relationships xmlns="http://schemas.openxmlformats.org/package/2006/relationships"><Relationship Id="rId3" Type="http://schemas.microsoft.com/office/2018/10/relationships/comments" Target="../comments/modernComment_114_D4C82F17.xml"/><Relationship Id="rId7"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25.svg"/><Relationship Id="rId4" Type="http://schemas.openxmlformats.org/officeDocument/2006/relationships/image" Target="../media/image40.png"/></Relationships>
</file>

<file path=ppt/slides/_rels/slide27.xml.rels><?xml version="1.0" encoding="UTF-8" standalone="yes"?>
<Relationships xmlns="http://schemas.openxmlformats.org/package/2006/relationships"><Relationship Id="rId3" Type="http://schemas.microsoft.com/office/2018/10/relationships/comments" Target="../comments/modernComment_108_5B16CBB2.xml"/><Relationship Id="rId7"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25.svg"/><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8" Type="http://schemas.openxmlformats.org/officeDocument/2006/relationships/image" Target="../media/image20.png"/><Relationship Id="rId3" Type="http://schemas.microsoft.com/office/2018/10/relationships/comments" Target="../comments/modernComment_117_87235414.xml"/><Relationship Id="rId7" Type="http://schemas.openxmlformats.org/officeDocument/2006/relationships/image" Target="../media/image25.sv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 Id="rId9" Type="http://schemas.openxmlformats.org/officeDocument/2006/relationships/image" Target="../media/image21.png"/></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5.sv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3" Type="http://schemas.microsoft.com/office/2018/10/relationships/comments" Target="../comments/modernComment_137_80EF9951.xml"/><Relationship Id="rId7"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25.svg"/><Relationship Id="rId4" Type="http://schemas.openxmlformats.org/officeDocument/2006/relationships/image" Target="../media/image32.png"/></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5.svg"/></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5.sv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8" Type="http://schemas.openxmlformats.org/officeDocument/2006/relationships/image" Target="../media/image20.png"/><Relationship Id="rId3" Type="http://schemas.microsoft.com/office/2018/10/relationships/comments" Target="../comments/modernComment_100_37935309.xml"/><Relationship Id="rId7" Type="http://schemas.openxmlformats.org/officeDocument/2006/relationships/image" Target="../media/image25.sv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45.png"/><Relationship Id="rId4" Type="http://schemas.openxmlformats.org/officeDocument/2006/relationships/image" Target="../media/image44.svg"/></Relationships>
</file>

<file path=ppt/slides/_rels/slide35.xml.rels><?xml version="1.0" encoding="UTF-8" standalone="yes"?>
<Relationships xmlns="http://schemas.openxmlformats.org/package/2006/relationships"><Relationship Id="rId3" Type="http://schemas.microsoft.com/office/2018/10/relationships/comments" Target="../comments/modernComment_132_6F90B60F.xml"/><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5.svg"/></Relationships>
</file>

<file path=ppt/slides/_rels/slide36.xml.rels><?xml version="1.0" encoding="UTF-8" standalone="yes"?>
<Relationships xmlns="http://schemas.openxmlformats.org/package/2006/relationships"><Relationship Id="rId8" Type="http://schemas.openxmlformats.org/officeDocument/2006/relationships/image" Target="../media/image50.png"/><Relationship Id="rId3" Type="http://schemas.microsoft.com/office/2018/10/relationships/comments" Target="../comments/modernComment_13E_52FC25D5.xml"/><Relationship Id="rId7" Type="http://schemas.openxmlformats.org/officeDocument/2006/relationships/image" Target="../media/image49.png"/><Relationship Id="rId12"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48.png"/><Relationship Id="rId11" Type="http://schemas.openxmlformats.org/officeDocument/2006/relationships/image" Target="../media/image20.png"/><Relationship Id="rId5" Type="http://schemas.openxmlformats.org/officeDocument/2006/relationships/image" Target="../media/image47.png"/><Relationship Id="rId10" Type="http://schemas.openxmlformats.org/officeDocument/2006/relationships/image" Target="../media/image25.svg"/><Relationship Id="rId4" Type="http://schemas.openxmlformats.org/officeDocument/2006/relationships/image" Target="../media/image46.png"/><Relationship Id="rId9" Type="http://schemas.openxmlformats.org/officeDocument/2006/relationships/image" Target="../media/image51.png"/></Relationships>
</file>

<file path=ppt/slides/_rels/slide37.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21.png"/><Relationship Id="rId2" Type="http://schemas.microsoft.com/office/2018/10/relationships/comments" Target="../comments/modernComment_14B_791CC526.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25.svg"/><Relationship Id="rId4" Type="http://schemas.openxmlformats.org/officeDocument/2006/relationships/image" Target="../media/image53.png"/></Relationships>
</file>

<file path=ppt/slides/_rels/slide3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54.png"/><Relationship Id="rId7" Type="http://schemas.openxmlformats.org/officeDocument/2006/relationships/image" Target="../media/image20.png"/><Relationship Id="rId2" Type="http://schemas.microsoft.com/office/2018/10/relationships/comments" Target="../comments/modernComment_124_A5CC3003.xml"/><Relationship Id="rId1" Type="http://schemas.openxmlformats.org/officeDocument/2006/relationships/slideLayout" Target="../slideLayouts/slideLayout1.xml"/><Relationship Id="rId6" Type="http://schemas.openxmlformats.org/officeDocument/2006/relationships/image" Target="../media/image25.svg"/><Relationship Id="rId5" Type="http://schemas.openxmlformats.org/officeDocument/2006/relationships/image" Target="../media/image56.png"/><Relationship Id="rId4" Type="http://schemas.openxmlformats.org/officeDocument/2006/relationships/image" Target="../media/image55.png"/></Relationships>
</file>

<file path=ppt/slides/_rels/slide39.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57.png"/><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40.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58.png"/><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4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5.svg"/></Relationships>
</file>

<file path=ppt/slides/_rels/slide42.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21.png"/><Relationship Id="rId2" Type="http://schemas.microsoft.com/office/2018/10/relationships/comments" Target="../comments/modernComment_14A_230567D8.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25.svg"/><Relationship Id="rId4" Type="http://schemas.openxmlformats.org/officeDocument/2006/relationships/image" Target="../media/image61.png"/></Relationships>
</file>

<file path=ppt/slides/_rels/slide43.xml.rels><?xml version="1.0" encoding="UTF-8" standalone="yes"?>
<Relationships xmlns="http://schemas.openxmlformats.org/package/2006/relationships"><Relationship Id="rId3" Type="http://schemas.microsoft.com/office/2018/10/relationships/comments" Target="../comments/modernComment_109_27844BE4.xml"/><Relationship Id="rId7"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25.svg"/><Relationship Id="rId4" Type="http://schemas.openxmlformats.org/officeDocument/2006/relationships/image" Target="../media/image32.png"/></Relationships>
</file>

<file path=ppt/slides/_rels/slide44.xml.rels><?xml version="1.0" encoding="UTF-8" standalone="yes"?>
<Relationships xmlns="http://schemas.openxmlformats.org/package/2006/relationships"><Relationship Id="rId3" Type="http://schemas.microsoft.com/office/2018/10/relationships/comments" Target="../comments/modernComment_102_5A76B57.xml"/><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5.svg"/></Relationships>
</file>

<file path=ppt/slides/_rels/slide45.xml.rels><?xml version="1.0" encoding="UTF-8" standalone="yes"?>
<Relationships xmlns="http://schemas.openxmlformats.org/package/2006/relationships"><Relationship Id="rId3" Type="http://schemas.microsoft.com/office/2018/10/relationships/comments" Target="../comments/modernComment_130_F1591830.xml"/><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62.svg"/></Relationships>
</file>

<file path=ppt/slides/_rels/slide46.xml.rels><?xml version="1.0" encoding="UTF-8" standalone="yes"?>
<Relationships xmlns="http://schemas.openxmlformats.org/package/2006/relationships"><Relationship Id="rId3" Type="http://schemas.microsoft.com/office/2018/10/relationships/comments" Target="../comments/modernComment_13C_294C0C78.xml"/><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62.svg"/></Relationships>
</file>

<file path=ppt/slides/_rels/slide47.xml.rels><?xml version="1.0" encoding="UTF-8" standalone="yes"?>
<Relationships xmlns="http://schemas.openxmlformats.org/package/2006/relationships"><Relationship Id="rId8" Type="http://schemas.openxmlformats.org/officeDocument/2006/relationships/image" Target="../media/image20.png"/><Relationship Id="rId3" Type="http://schemas.microsoft.com/office/2018/10/relationships/comments" Target="../comments/modernComment_129_98BF1127.xml"/><Relationship Id="rId7" Type="http://schemas.openxmlformats.org/officeDocument/2006/relationships/image" Target="../media/image62.sv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 Id="rId9" Type="http://schemas.openxmlformats.org/officeDocument/2006/relationships/image" Target="../media/image2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8" Type="http://schemas.openxmlformats.org/officeDocument/2006/relationships/image" Target="../media/image21.png"/><Relationship Id="rId3" Type="http://schemas.microsoft.com/office/2018/10/relationships/comments" Target="../comments/modernComment_103_D9A77D7F.xml"/><Relationship Id="rId7" Type="http://schemas.openxmlformats.org/officeDocument/2006/relationships/image" Target="../media/image66.sv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0.png"/><Relationship Id="rId4" Type="http://schemas.openxmlformats.org/officeDocument/2006/relationships/image" Target="../media/image44.svg"/></Relationships>
</file>

<file path=ppt/slides/_rels/slide50.xml.rels><?xml version="1.0" encoding="UTF-8" standalone="yes"?>
<Relationships xmlns="http://schemas.openxmlformats.org/package/2006/relationships"><Relationship Id="rId8" Type="http://schemas.openxmlformats.org/officeDocument/2006/relationships/image" Target="../media/image20.png"/><Relationship Id="rId3" Type="http://schemas.microsoft.com/office/2018/10/relationships/comments" Target="../comments/modernComment_112_5B89AF64.xml"/><Relationship Id="rId7" Type="http://schemas.openxmlformats.org/officeDocument/2006/relationships/image" Target="../media/image66.sv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32.png"/><Relationship Id="rId9" Type="http://schemas.openxmlformats.org/officeDocument/2006/relationships/image" Target="../media/image21.png"/></Relationships>
</file>

<file path=ppt/slides/_rels/slide51.xml.rels><?xml version="1.0" encoding="UTF-8" standalone="yes"?>
<Relationships xmlns="http://schemas.openxmlformats.org/package/2006/relationships"><Relationship Id="rId8" Type="http://schemas.openxmlformats.org/officeDocument/2006/relationships/diagramLayout" Target="../diagrams/layout1.xml"/><Relationship Id="rId13" Type="http://schemas.openxmlformats.org/officeDocument/2006/relationships/image" Target="../media/image20.png"/><Relationship Id="rId3" Type="http://schemas.openxmlformats.org/officeDocument/2006/relationships/notesSlide" Target="../notesSlides/notesSlide36.xml"/><Relationship Id="rId7" Type="http://schemas.openxmlformats.org/officeDocument/2006/relationships/diagramData" Target="../diagrams/data1.xml"/><Relationship Id="rId12" Type="http://schemas.openxmlformats.org/officeDocument/2006/relationships/image" Target="../media/image66.svg"/><Relationship Id="rId2" Type="http://schemas.openxmlformats.org/officeDocument/2006/relationships/slideLayout" Target="../slideLayouts/slideLayout1.xml"/><Relationship Id="rId1" Type="http://schemas.openxmlformats.org/officeDocument/2006/relationships/tags" Target="../tags/tag1.xml"/><Relationship Id="rId6" Type="http://schemas.openxmlformats.org/officeDocument/2006/relationships/image" Target="../media/image69.emf"/><Relationship Id="rId11" Type="http://schemas.microsoft.com/office/2007/relationships/diagramDrawing" Target="../diagrams/drawing1.xml"/><Relationship Id="rId5" Type="http://schemas.openxmlformats.org/officeDocument/2006/relationships/oleObject" Target="../embeddings/oleObject1.bin"/><Relationship Id="rId10" Type="http://schemas.openxmlformats.org/officeDocument/2006/relationships/diagramColors" Target="../diagrams/colors1.xml"/><Relationship Id="rId4" Type="http://schemas.microsoft.com/office/2018/10/relationships/comments" Target="../comments/modernComment_484_2246442.xml"/><Relationship Id="rId9" Type="http://schemas.openxmlformats.org/officeDocument/2006/relationships/diagramQuickStyle" Target="../diagrams/quickStyle1.xml"/><Relationship Id="rId14" Type="http://schemas.openxmlformats.org/officeDocument/2006/relationships/image" Target="../media/image21.png"/></Relationships>
</file>

<file path=ppt/slides/_rels/slide52.xml.rels><?xml version="1.0" encoding="UTF-8" standalone="yes"?>
<Relationships xmlns="http://schemas.openxmlformats.org/package/2006/relationships"><Relationship Id="rId8" Type="http://schemas.openxmlformats.org/officeDocument/2006/relationships/image" Target="../media/image66.svg"/><Relationship Id="rId3" Type="http://schemas.openxmlformats.org/officeDocument/2006/relationships/notesSlide" Target="../notesSlides/notesSlide37.xml"/><Relationship Id="rId7" Type="http://schemas.openxmlformats.org/officeDocument/2006/relationships/image" Target="../media/image32.png"/><Relationship Id="rId2" Type="http://schemas.openxmlformats.org/officeDocument/2006/relationships/slideLayout" Target="../slideLayouts/slideLayout1.xml"/><Relationship Id="rId1" Type="http://schemas.openxmlformats.org/officeDocument/2006/relationships/tags" Target="../tags/tag2.xml"/><Relationship Id="rId6" Type="http://schemas.openxmlformats.org/officeDocument/2006/relationships/image" Target="../media/image69.emf"/><Relationship Id="rId5" Type="http://schemas.openxmlformats.org/officeDocument/2006/relationships/oleObject" Target="../embeddings/oleObject1.bin"/><Relationship Id="rId10" Type="http://schemas.openxmlformats.org/officeDocument/2006/relationships/image" Target="../media/image21.png"/><Relationship Id="rId4" Type="http://schemas.microsoft.com/office/2018/10/relationships/comments" Target="../comments/modernComment_10A_56AEF546.xml"/><Relationship Id="rId9" Type="http://schemas.openxmlformats.org/officeDocument/2006/relationships/image" Target="../media/image20.png"/></Relationships>
</file>

<file path=ppt/slides/_rels/slide53.xml.rels><?xml version="1.0" encoding="UTF-8" standalone="yes"?>
<Relationships xmlns="http://schemas.openxmlformats.org/package/2006/relationships"><Relationship Id="rId3" Type="http://schemas.microsoft.com/office/2018/10/relationships/comments" Target="../comments/modernComment_119_335443BF.xml"/><Relationship Id="rId7" Type="http://schemas.openxmlformats.org/officeDocument/2006/relationships/image" Target="../media/image21.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66.svg"/><Relationship Id="rId4" Type="http://schemas.openxmlformats.org/officeDocument/2006/relationships/image" Target="../media/image70.png"/></Relationships>
</file>

<file path=ppt/slides/_rels/slide54.xml.rels><?xml version="1.0" encoding="UTF-8" standalone="yes"?>
<Relationships xmlns="http://schemas.openxmlformats.org/package/2006/relationships"><Relationship Id="rId3" Type="http://schemas.microsoft.com/office/2018/10/relationships/comments" Target="../comments/modernComment_140_9AAB999A.xml"/><Relationship Id="rId7" Type="http://schemas.openxmlformats.org/officeDocument/2006/relationships/image" Target="../media/image21.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66.svg"/><Relationship Id="rId4" Type="http://schemas.openxmlformats.org/officeDocument/2006/relationships/image" Target="../media/image32.png"/></Relationships>
</file>

<file path=ppt/slides/_rels/slide55.xml.rels><?xml version="1.0" encoding="UTF-8" standalone="yes"?>
<Relationships xmlns="http://schemas.openxmlformats.org/package/2006/relationships"><Relationship Id="rId3" Type="http://schemas.microsoft.com/office/2018/10/relationships/comments" Target="../comments/modernComment_10B_ADBA9559.xml"/><Relationship Id="rId7" Type="http://schemas.openxmlformats.org/officeDocument/2006/relationships/image" Target="../media/image21.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66.svg"/><Relationship Id="rId4" Type="http://schemas.openxmlformats.org/officeDocument/2006/relationships/image" Target="../media/image32.png"/></Relationships>
</file>

<file path=ppt/slides/_rels/slide56.xml.rels><?xml version="1.0" encoding="UTF-8" standalone="yes"?>
<Relationships xmlns="http://schemas.openxmlformats.org/package/2006/relationships"><Relationship Id="rId3" Type="http://schemas.microsoft.com/office/2018/10/relationships/comments" Target="../comments/modernComment_10D_4E9BF18B.xml"/><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62.svg"/></Relationships>
</file>

<file path=ppt/slides/_rels/slide5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notesSlide" Target="../notesSlides/notesSlide42.xml"/><Relationship Id="rId7" Type="http://schemas.openxmlformats.org/officeDocument/2006/relationships/image" Target="../media/image20.png"/><Relationship Id="rId2" Type="http://schemas.openxmlformats.org/officeDocument/2006/relationships/slideLayout" Target="../slideLayouts/slideLayout1.xml"/><Relationship Id="rId1" Type="http://schemas.openxmlformats.org/officeDocument/2006/relationships/tags" Target="../tags/tag3.xml"/><Relationship Id="rId6" Type="http://schemas.openxmlformats.org/officeDocument/2006/relationships/image" Target="../media/image62.svg"/><Relationship Id="rId5" Type="http://schemas.openxmlformats.org/officeDocument/2006/relationships/image" Target="../media/image69.emf"/><Relationship Id="rId4" Type="http://schemas.openxmlformats.org/officeDocument/2006/relationships/oleObject" Target="../embeddings/oleObject1.bin"/></Relationships>
</file>

<file path=ppt/slides/_rels/slide5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notesSlide" Target="../notesSlides/notesSlide43.xml"/><Relationship Id="rId7" Type="http://schemas.openxmlformats.org/officeDocument/2006/relationships/image" Target="../media/image62.svg"/><Relationship Id="rId2" Type="http://schemas.openxmlformats.org/officeDocument/2006/relationships/slideLayout" Target="../slideLayouts/slideLayout1.xml"/><Relationship Id="rId1" Type="http://schemas.openxmlformats.org/officeDocument/2006/relationships/tags" Target="../tags/tag4.xml"/><Relationship Id="rId6" Type="http://schemas.openxmlformats.org/officeDocument/2006/relationships/image" Target="../media/image69.emf"/><Relationship Id="rId5" Type="http://schemas.openxmlformats.org/officeDocument/2006/relationships/oleObject" Target="../embeddings/oleObject1.bin"/><Relationship Id="rId4" Type="http://schemas.microsoft.com/office/2018/10/relationships/comments" Target="../comments/modernComment_131_65DEED07.xml"/><Relationship Id="rId9" Type="http://schemas.openxmlformats.org/officeDocument/2006/relationships/image" Target="../media/image2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microsoft.com/office/2018/10/relationships/comments" Target="../comments/modernComment_11C_47927AEA.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1.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microsoft.com/office/2018/10/relationships/comments" Target="../comments/modernComment_7FFFFFFF_FF8C565F.xml"/><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71267C6-2BC1-4B31-15BF-DF87C40815AD}"/>
              </a:ext>
            </a:extLst>
          </p:cNvPr>
          <p:cNvSpPr>
            <a:spLocks noGrp="1"/>
          </p:cNvSpPr>
          <p:nvPr>
            <p:ph type="title" sz="quarter"/>
          </p:nvPr>
        </p:nvSpPr>
        <p:spPr/>
        <p:txBody>
          <a:bodyPr/>
          <a:lstStyle/>
          <a:p>
            <a:r>
              <a:rPr lang="en-US" spc="-25" dirty="0">
                <a:solidFill>
                  <a:schemeClr val="accent1"/>
                </a:solidFill>
                <a:ea typeface="Helvetica Neue" panose="02000503000000020004" pitchFamily="2" charset="0"/>
                <a:cs typeface="Helvetica Neue" panose="02000503000000020004" pitchFamily="2" charset="0"/>
              </a:rPr>
              <a:t>Succession to Value™</a:t>
            </a:r>
            <a:endParaRPr lang="en-US" sz="4000" b="1" spc="-25" dirty="0">
              <a:latin typeface="Segoe UI" pitchFamily="34" charset="0"/>
            </a:endParaRPr>
          </a:p>
          <a:p>
            <a:r>
              <a:rPr lang="en-US" sz="2400" b="1" spc="-25" dirty="0">
                <a:latin typeface="Segoe UI" pitchFamily="34" charset="0"/>
              </a:rPr>
              <a:t>Dubai, January 2026</a:t>
            </a:r>
            <a:endParaRPr lang="en-US" sz="4000" b="1" spc="-25" dirty="0">
              <a:latin typeface="Segoe UI" pitchFamily="34" charset="0"/>
            </a:endParaRPr>
          </a:p>
        </p:txBody>
      </p:sp>
      <p:pic>
        <p:nvPicPr>
          <p:cNvPr id="3" name="Picture 2" descr="VEON Stock Price Target | VEON Analyst Ratings">
            <a:extLst>
              <a:ext uri="{FF2B5EF4-FFF2-40B4-BE49-F238E27FC236}">
                <a16:creationId xmlns:a16="http://schemas.microsoft.com/office/drawing/2014/main" id="{9FF32A3B-0B70-4473-C2BF-D037C05EDF66}"/>
              </a:ext>
            </a:extLst>
          </p:cNvPr>
          <p:cNvPicPr>
            <a:picLocks noChangeAspect="1" noChangeArrowheads="1"/>
          </p:cNvPicPr>
          <p:nvPr/>
        </p:nvPicPr>
        <p:blipFill>
          <a:blip r:embed="rId2">
            <a:duotone>
              <a:srgbClr val="765FFF"/>
              <a:srgbClr val="FFFFFF"/>
            </a:duotone>
          </a:blip>
          <a:srcRect/>
          <a:stretch>
            <a:fillRect/>
          </a:stretch>
        </p:blipFill>
        <p:spPr bwMode="auto">
          <a:xfrm>
            <a:off x="7280966" y="450575"/>
            <a:ext cx="1535510" cy="5537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1889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D5848-D853-6FAA-F00E-9B7A8BC28DB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742E293-CF83-55DE-4983-5068966108FB}"/>
              </a:ext>
            </a:extLst>
          </p:cNvPr>
          <p:cNvSpPr>
            <a:spLocks noGrp="1"/>
          </p:cNvSpPr>
          <p:nvPr>
            <p:ph type="title" sz="quarter"/>
          </p:nvPr>
        </p:nvSpPr>
        <p:spPr/>
        <p:txBody>
          <a:bodyPr/>
          <a:lstStyle/>
          <a:p>
            <a:r>
              <a:rPr lang="en-US" spc="-25" dirty="0">
                <a:solidFill>
                  <a:schemeClr val="accent1"/>
                </a:solidFill>
                <a:ea typeface="Helvetica Neue" panose="02000503000000020004" pitchFamily="2" charset="0"/>
                <a:cs typeface="Helvetica Neue" panose="02000503000000020004" pitchFamily="2" charset="0"/>
              </a:rPr>
              <a:t>Succession to Value™ </a:t>
            </a:r>
            <a:r>
              <a:rPr lang="en-US" b="1" spc="-25" dirty="0">
                <a:latin typeface="Segoe UI" pitchFamily="34" charset="0"/>
              </a:rPr>
              <a:t>learning objectives</a:t>
            </a:r>
            <a:endParaRPr lang="en-US" b="1" spc="-25" dirty="0">
              <a:solidFill>
                <a:srgbClr val="765FFF"/>
              </a:solidFill>
              <a:latin typeface="Segoe UI" pitchFamily="34" charset="0"/>
            </a:endParaRPr>
          </a:p>
        </p:txBody>
      </p:sp>
      <p:sp>
        <p:nvSpPr>
          <p:cNvPr id="15" name="TextBox 14">
            <a:extLst>
              <a:ext uri="{FF2B5EF4-FFF2-40B4-BE49-F238E27FC236}">
                <a16:creationId xmlns:a16="http://schemas.microsoft.com/office/drawing/2014/main" id="{FF05CAF4-9D2F-B3D8-09BF-74BF0747E091}"/>
              </a:ext>
            </a:extLst>
          </p:cNvPr>
          <p:cNvSpPr txBox="1"/>
          <p:nvPr/>
        </p:nvSpPr>
        <p:spPr>
          <a:xfrm>
            <a:off x="954660" y="1178446"/>
            <a:ext cx="10847636" cy="400110"/>
          </a:xfrm>
          <a:prstGeom prst="rect">
            <a:avLst/>
          </a:prstGeom>
          <a:noFill/>
        </p:spPr>
        <p:txBody>
          <a:bodyPr wrap="square" lIns="121920" tIns="60960" rIns="121920" bIns="60960" rtlCol="0" anchor="t">
            <a:spAutoFit/>
          </a:bodyPr>
          <a:lstStyle/>
          <a:p>
            <a:r>
              <a:rPr lang="en-US" spc="-10" dirty="0">
                <a:solidFill>
                  <a:srgbClr val="1D1D1D"/>
                </a:solidFill>
                <a:latin typeface="Arial" pitchFamily="34" charset="0"/>
                <a:ea typeface="Lato"/>
                <a:cs typeface="Lato"/>
              </a:rPr>
              <a:t>At the end of this program, participants will:</a:t>
            </a:r>
            <a:endParaRPr lang="en-US" b="1" spc="-10" dirty="0">
              <a:solidFill>
                <a:srgbClr val="1D1D1D"/>
              </a:solidFill>
              <a:latin typeface="Segoe UI" pitchFamily="34" charset="0"/>
              <a:ea typeface="Lato"/>
              <a:cs typeface="Lato"/>
            </a:endParaRPr>
          </a:p>
        </p:txBody>
      </p:sp>
      <p:grpSp>
        <p:nvGrpSpPr>
          <p:cNvPr id="43" name="Group 42">
            <a:extLst>
              <a:ext uri="{FF2B5EF4-FFF2-40B4-BE49-F238E27FC236}">
                <a16:creationId xmlns:a16="http://schemas.microsoft.com/office/drawing/2014/main" id="{BA3D492D-2D49-211E-7D62-303D9AD8C2E5}"/>
              </a:ext>
            </a:extLst>
          </p:cNvPr>
          <p:cNvGrpSpPr/>
          <p:nvPr/>
        </p:nvGrpSpPr>
        <p:grpSpPr>
          <a:xfrm>
            <a:off x="1032931" y="1876150"/>
            <a:ext cx="10126137" cy="709283"/>
            <a:chOff x="1032931" y="1876150"/>
            <a:chExt cx="10126137" cy="709283"/>
          </a:xfrm>
        </p:grpSpPr>
        <p:sp>
          <p:nvSpPr>
            <p:cNvPr id="4" name="Rectangle 3">
              <a:extLst>
                <a:ext uri="{FF2B5EF4-FFF2-40B4-BE49-F238E27FC236}">
                  <a16:creationId xmlns:a16="http://schemas.microsoft.com/office/drawing/2014/main" id="{2C6BE79F-DDED-93F1-6D60-1233EB9C148A}"/>
                </a:ext>
              </a:extLst>
            </p:cNvPr>
            <p:cNvSpPr/>
            <p:nvPr/>
          </p:nvSpPr>
          <p:spPr>
            <a:xfrm>
              <a:off x="1032931" y="1876150"/>
              <a:ext cx="660400" cy="709283"/>
            </a:xfrm>
            <a:prstGeom prst="rect">
              <a:avLst/>
            </a:prstGeom>
            <a:ln>
              <a:solidFill>
                <a:schemeClr val="bg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913C9D3A-186B-E369-4A61-43FDF84C8B63}"/>
                </a:ext>
              </a:extLst>
            </p:cNvPr>
            <p:cNvSpPr/>
            <p:nvPr/>
          </p:nvSpPr>
          <p:spPr>
            <a:xfrm>
              <a:off x="1693333" y="1876150"/>
              <a:ext cx="9465735" cy="709283"/>
            </a:xfrm>
            <a:prstGeom prst="rect">
              <a:avLst/>
            </a:prstGeom>
            <a:noFill/>
            <a:ln>
              <a:solidFill>
                <a:schemeClr val="bg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EB7BCB3D-2B21-743C-FAF2-FA0F50C83BEB}"/>
                </a:ext>
              </a:extLst>
            </p:cNvPr>
            <p:cNvSpPr txBox="1"/>
            <p:nvPr/>
          </p:nvSpPr>
          <p:spPr>
            <a:xfrm>
              <a:off x="1828799" y="1900613"/>
              <a:ext cx="8669868" cy="646331"/>
            </a:xfrm>
            <a:prstGeom prst="rect">
              <a:avLst/>
            </a:prstGeom>
            <a:noFill/>
            <a:ln>
              <a:noFill/>
            </a:ln>
          </p:spPr>
          <p:txBody>
            <a:bodyPr wrap="square" lIns="91440" tIns="45720" rIns="91440" bIns="45720" anchor="t">
              <a:spAutoFit/>
            </a:bodyPr>
            <a:lstStyle/>
            <a:p>
              <a:r>
                <a:rPr lang="en-US" spc="-10" dirty="0">
                  <a:solidFill>
                    <a:srgbClr val="1D1D1D"/>
                  </a:solidFill>
                  <a:latin typeface="Arial" panose="020B0604020202020204" pitchFamily="34" charset="0"/>
                  <a:ea typeface="Lato"/>
                  <a:cs typeface="Arial" panose="020B0604020202020204" pitchFamily="34" charset="0"/>
                </a:rPr>
                <a:t>Explain the differences between traditional succession planning approaches and the T2V Succession Planning process</a:t>
              </a:r>
            </a:p>
          </p:txBody>
        </p:sp>
        <p:pic>
          <p:nvPicPr>
            <p:cNvPr id="23" name="Picture 22" descr="A white star in a circle with a magnifying glass&#10;&#10;AI-generated content may be incorrect.">
              <a:extLst>
                <a:ext uri="{FF2B5EF4-FFF2-40B4-BE49-F238E27FC236}">
                  <a16:creationId xmlns:a16="http://schemas.microsoft.com/office/drawing/2014/main" id="{9D346D2E-2A44-3BE1-21FD-8C47202E5E71}"/>
                </a:ext>
              </a:extLst>
            </p:cNvPr>
            <p:cNvPicPr>
              <a:picLocks noChangeAspect="1"/>
            </p:cNvPicPr>
            <p:nvPr/>
          </p:nvPicPr>
          <p:blipFill>
            <a:blip r:embed="rId3">
              <a:duotone>
                <a:srgbClr val="765FFF"/>
                <a:srgbClr val="FFFFFF"/>
              </a:duotone>
            </a:blip>
            <a:stretch>
              <a:fillRect/>
            </a:stretch>
          </p:blipFill>
          <p:spPr>
            <a:xfrm>
              <a:off x="1142462" y="2012505"/>
              <a:ext cx="439735" cy="436813"/>
            </a:xfrm>
            <a:prstGeom prst="rect">
              <a:avLst/>
            </a:prstGeom>
            <a:ln>
              <a:noFill/>
            </a:ln>
          </p:spPr>
        </p:pic>
      </p:grpSp>
      <p:grpSp>
        <p:nvGrpSpPr>
          <p:cNvPr id="44" name="Group 43">
            <a:extLst>
              <a:ext uri="{FF2B5EF4-FFF2-40B4-BE49-F238E27FC236}">
                <a16:creationId xmlns:a16="http://schemas.microsoft.com/office/drawing/2014/main" id="{B3B85EDF-A3D0-653B-54E1-600C9D8AB41F}"/>
              </a:ext>
            </a:extLst>
          </p:cNvPr>
          <p:cNvGrpSpPr/>
          <p:nvPr/>
        </p:nvGrpSpPr>
        <p:grpSpPr>
          <a:xfrm>
            <a:off x="1032931" y="2707483"/>
            <a:ext cx="10126137" cy="709283"/>
            <a:chOff x="1032931" y="2707483"/>
            <a:chExt cx="10126137" cy="709283"/>
          </a:xfrm>
        </p:grpSpPr>
        <p:sp>
          <p:nvSpPr>
            <p:cNvPr id="9" name="Rectangle 8">
              <a:extLst>
                <a:ext uri="{FF2B5EF4-FFF2-40B4-BE49-F238E27FC236}">
                  <a16:creationId xmlns:a16="http://schemas.microsoft.com/office/drawing/2014/main" id="{1FE82F48-2644-9F81-5A65-31134F1FA0FE}"/>
                </a:ext>
              </a:extLst>
            </p:cNvPr>
            <p:cNvSpPr/>
            <p:nvPr/>
          </p:nvSpPr>
          <p:spPr>
            <a:xfrm>
              <a:off x="1032931" y="2707483"/>
              <a:ext cx="660400" cy="709283"/>
            </a:xfrm>
            <a:prstGeom prst="rect">
              <a:avLst/>
            </a:prstGeom>
            <a:ln>
              <a:solidFill>
                <a:schemeClr val="bg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anose="020B06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A5935FF9-4992-1086-EA7D-E92F1DCB4E0F}"/>
                </a:ext>
              </a:extLst>
            </p:cNvPr>
            <p:cNvSpPr/>
            <p:nvPr/>
          </p:nvSpPr>
          <p:spPr>
            <a:xfrm>
              <a:off x="1693333" y="2707483"/>
              <a:ext cx="9465735" cy="709283"/>
            </a:xfrm>
            <a:prstGeom prst="rect">
              <a:avLst/>
            </a:prstGeom>
            <a:noFill/>
            <a:ln>
              <a:solidFill>
                <a:schemeClr val="bg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C999E6E6-DF52-4F5E-EDD2-4A2792047360}"/>
                </a:ext>
              </a:extLst>
            </p:cNvPr>
            <p:cNvSpPr txBox="1"/>
            <p:nvPr/>
          </p:nvSpPr>
          <p:spPr>
            <a:xfrm>
              <a:off x="1828796" y="2740337"/>
              <a:ext cx="8315665" cy="646331"/>
            </a:xfrm>
            <a:prstGeom prst="rect">
              <a:avLst/>
            </a:prstGeom>
            <a:noFill/>
            <a:ln>
              <a:noFill/>
            </a:ln>
          </p:spPr>
          <p:txBody>
            <a:bodyPr wrap="square" lIns="91440" tIns="45720" rIns="91440" bIns="45720">
              <a:spAutoFit/>
            </a:bodyPr>
            <a:lstStyle/>
            <a:p>
              <a:r>
                <a:rPr lang="en-US" spc="-10" dirty="0">
                  <a:latin typeface="Arial" panose="020B0604020202020204" pitchFamily="34" charset="0"/>
                  <a:ea typeface="Lato"/>
                  <a:cs typeface="Arial" panose="020B0604020202020204" pitchFamily="34" charset="0"/>
                </a:rPr>
                <a:t>Identify future-focused Jobs to be Done for key roles to assist in selecting the best successors</a:t>
              </a:r>
            </a:p>
          </p:txBody>
        </p:sp>
        <p:pic>
          <p:nvPicPr>
            <p:cNvPr id="26" name="Graphic 25" descr="Checklist with solid fill">
              <a:extLst>
                <a:ext uri="{FF2B5EF4-FFF2-40B4-BE49-F238E27FC236}">
                  <a16:creationId xmlns:a16="http://schemas.microsoft.com/office/drawing/2014/main" id="{B18EEAAB-68C6-8331-C951-F1A1FCDE7328}"/>
                </a:ext>
              </a:extLst>
            </p:cNvPr>
            <p:cNvPicPr>
              <a:picLocks noChangeAspect="1"/>
            </p:cNvPicPr>
            <p:nvPr/>
          </p:nvPicPr>
          <p:blipFill>
            <a:blip r:embed="rId4">
              <a:duotone>
                <a:srgbClr val="765FFF"/>
                <a:srgbClr val="FFFFFF"/>
              </a:duotone>
            </a:blip>
            <a:stretch>
              <a:fillRect/>
            </a:stretch>
          </p:blipFill>
          <p:spPr>
            <a:xfrm>
              <a:off x="1094560" y="2797345"/>
              <a:ext cx="534028" cy="534028"/>
            </a:xfrm>
            <a:prstGeom prst="rect">
              <a:avLst/>
            </a:prstGeom>
            <a:ln>
              <a:noFill/>
            </a:ln>
          </p:spPr>
        </p:pic>
      </p:grpSp>
      <p:grpSp>
        <p:nvGrpSpPr>
          <p:cNvPr id="45" name="Group 44">
            <a:extLst>
              <a:ext uri="{FF2B5EF4-FFF2-40B4-BE49-F238E27FC236}">
                <a16:creationId xmlns:a16="http://schemas.microsoft.com/office/drawing/2014/main" id="{D3F09CA9-DDDA-6A0E-6ACF-51B85A598C87}"/>
              </a:ext>
            </a:extLst>
          </p:cNvPr>
          <p:cNvGrpSpPr/>
          <p:nvPr/>
        </p:nvGrpSpPr>
        <p:grpSpPr>
          <a:xfrm>
            <a:off x="1032931" y="3580732"/>
            <a:ext cx="10126136" cy="709283"/>
            <a:chOff x="1032931" y="3580732"/>
            <a:chExt cx="10126136" cy="709283"/>
          </a:xfrm>
        </p:grpSpPr>
        <p:sp>
          <p:nvSpPr>
            <p:cNvPr id="12" name="Rectangle 11">
              <a:extLst>
                <a:ext uri="{FF2B5EF4-FFF2-40B4-BE49-F238E27FC236}">
                  <a16:creationId xmlns:a16="http://schemas.microsoft.com/office/drawing/2014/main" id="{060DF02D-3F93-18B9-AFA8-860B78AB854C}"/>
                </a:ext>
              </a:extLst>
            </p:cNvPr>
            <p:cNvSpPr/>
            <p:nvPr/>
          </p:nvSpPr>
          <p:spPr>
            <a:xfrm>
              <a:off x="1032931" y="3580732"/>
              <a:ext cx="660400" cy="709283"/>
            </a:xfrm>
            <a:prstGeom prst="rect">
              <a:avLst/>
            </a:prstGeom>
            <a:ln>
              <a:solidFill>
                <a:schemeClr val="bg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2B9912AC-7F14-C02C-9A71-0791731EEF2F}"/>
                </a:ext>
              </a:extLst>
            </p:cNvPr>
            <p:cNvSpPr/>
            <p:nvPr/>
          </p:nvSpPr>
          <p:spPr>
            <a:xfrm>
              <a:off x="1693332" y="3580732"/>
              <a:ext cx="9465735" cy="709283"/>
            </a:xfrm>
            <a:prstGeom prst="rect">
              <a:avLst/>
            </a:prstGeom>
            <a:noFill/>
            <a:ln>
              <a:solidFill>
                <a:schemeClr val="bg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ED3C54ED-14FE-59F5-491F-C91CFC38CC82}"/>
                </a:ext>
              </a:extLst>
            </p:cNvPr>
            <p:cNvSpPr txBox="1"/>
            <p:nvPr/>
          </p:nvSpPr>
          <p:spPr>
            <a:xfrm>
              <a:off x="1828798" y="3614823"/>
              <a:ext cx="9133369" cy="646331"/>
            </a:xfrm>
            <a:prstGeom prst="rect">
              <a:avLst/>
            </a:prstGeom>
            <a:noFill/>
            <a:ln>
              <a:noFill/>
            </a:ln>
          </p:spPr>
          <p:txBody>
            <a:bodyPr wrap="square" lIns="91440" tIns="45720" rIns="91440" bIns="45720">
              <a:spAutoFit/>
            </a:bodyPr>
            <a:lstStyle/>
            <a:p>
              <a:r>
                <a:rPr lang="en-US" spc="-10" dirty="0">
                  <a:latin typeface="Arial" panose="020B0604020202020204" pitchFamily="34" charset="0"/>
                  <a:ea typeface="Lato"/>
                  <a:cs typeface="Arial" panose="020B0604020202020204" pitchFamily="34" charset="0"/>
                </a:rPr>
                <a:t>Complete a risk assessment and identify superpowers needed to deliver value from critical roles</a:t>
              </a:r>
            </a:p>
          </p:txBody>
        </p:sp>
        <p:pic>
          <p:nvPicPr>
            <p:cNvPr id="30" name="Graphic 29" descr="Chat with solid fill">
              <a:extLst>
                <a:ext uri="{FF2B5EF4-FFF2-40B4-BE49-F238E27FC236}">
                  <a16:creationId xmlns:a16="http://schemas.microsoft.com/office/drawing/2014/main" id="{E89DF7A8-F358-A7CA-EB1C-B98FC0D25CB0}"/>
                </a:ext>
              </a:extLst>
            </p:cNvPr>
            <p:cNvPicPr>
              <a:picLocks noChangeAspect="1"/>
            </p:cNvPicPr>
            <p:nvPr/>
          </p:nvPicPr>
          <p:blipFill>
            <a:blip r:embed="rId5">
              <a:duotone>
                <a:srgbClr val="765FFF"/>
                <a:srgbClr val="FFFFFF"/>
              </a:duotone>
            </a:blip>
            <a:stretch>
              <a:fillRect/>
            </a:stretch>
          </p:blipFill>
          <p:spPr>
            <a:xfrm>
              <a:off x="1081056" y="3676964"/>
              <a:ext cx="569952" cy="569952"/>
            </a:xfrm>
            <a:prstGeom prst="rect">
              <a:avLst/>
            </a:prstGeom>
            <a:ln>
              <a:noFill/>
            </a:ln>
          </p:spPr>
        </p:pic>
      </p:grpSp>
      <p:grpSp>
        <p:nvGrpSpPr>
          <p:cNvPr id="46" name="Group 45">
            <a:extLst>
              <a:ext uri="{FF2B5EF4-FFF2-40B4-BE49-F238E27FC236}">
                <a16:creationId xmlns:a16="http://schemas.microsoft.com/office/drawing/2014/main" id="{F5EFF206-AF13-9CE9-71C9-2232BC03332B}"/>
              </a:ext>
            </a:extLst>
          </p:cNvPr>
          <p:cNvGrpSpPr/>
          <p:nvPr/>
        </p:nvGrpSpPr>
        <p:grpSpPr>
          <a:xfrm>
            <a:off x="1693331" y="4453980"/>
            <a:ext cx="9465735" cy="709283"/>
            <a:chOff x="1693331" y="4453980"/>
            <a:chExt cx="9465735" cy="709283"/>
          </a:xfrm>
        </p:grpSpPr>
        <p:sp>
          <p:nvSpPr>
            <p:cNvPr id="17" name="Rectangle 16">
              <a:extLst>
                <a:ext uri="{FF2B5EF4-FFF2-40B4-BE49-F238E27FC236}">
                  <a16:creationId xmlns:a16="http://schemas.microsoft.com/office/drawing/2014/main" id="{DC8D72BA-C4B1-E5A6-1D2A-99110E978BCB}"/>
                </a:ext>
              </a:extLst>
            </p:cNvPr>
            <p:cNvSpPr/>
            <p:nvPr/>
          </p:nvSpPr>
          <p:spPr>
            <a:xfrm>
              <a:off x="1693331" y="4453980"/>
              <a:ext cx="9465735" cy="709283"/>
            </a:xfrm>
            <a:prstGeom prst="rect">
              <a:avLst/>
            </a:prstGeom>
            <a:noFill/>
            <a:ln>
              <a:solidFill>
                <a:schemeClr val="bg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0726F3C0-2DBA-EFF8-AA53-160D1D436935}"/>
                </a:ext>
              </a:extLst>
            </p:cNvPr>
            <p:cNvSpPr txBox="1"/>
            <p:nvPr/>
          </p:nvSpPr>
          <p:spPr>
            <a:xfrm>
              <a:off x="1828797" y="4485456"/>
              <a:ext cx="9330268" cy="646331"/>
            </a:xfrm>
            <a:prstGeom prst="rect">
              <a:avLst/>
            </a:prstGeom>
            <a:noFill/>
            <a:ln>
              <a:noFill/>
            </a:ln>
          </p:spPr>
          <p:txBody>
            <a:bodyPr wrap="square" lIns="91440" tIns="45720" rIns="91440" bIns="45720">
              <a:spAutoFit/>
            </a:bodyPr>
            <a:lstStyle/>
            <a:p>
              <a:r>
                <a:rPr lang="en-US" spc="-10" dirty="0">
                  <a:latin typeface="Arial" panose="020B0604020202020204" pitchFamily="34" charset="0"/>
                  <a:ea typeface="Lato"/>
                  <a:cs typeface="Arial" panose="020B0604020202020204" pitchFamily="34" charset="0"/>
                </a:rPr>
                <a:t>Prepare outputs (succession readiness assessment, role health snapshots, externally-benchmarked readiness assessments, Hogan report) to assist with successor selection</a:t>
              </a:r>
            </a:p>
          </p:txBody>
        </p:sp>
      </p:grpSp>
      <p:grpSp>
        <p:nvGrpSpPr>
          <p:cNvPr id="47" name="Group 46">
            <a:extLst>
              <a:ext uri="{FF2B5EF4-FFF2-40B4-BE49-F238E27FC236}">
                <a16:creationId xmlns:a16="http://schemas.microsoft.com/office/drawing/2014/main" id="{0A925F72-CD64-14E4-8273-DE50D359F50B}"/>
              </a:ext>
            </a:extLst>
          </p:cNvPr>
          <p:cNvGrpSpPr/>
          <p:nvPr/>
        </p:nvGrpSpPr>
        <p:grpSpPr>
          <a:xfrm>
            <a:off x="1032931" y="5315980"/>
            <a:ext cx="10126134" cy="709283"/>
            <a:chOff x="1032931" y="5315980"/>
            <a:chExt cx="10126134" cy="709283"/>
          </a:xfrm>
        </p:grpSpPr>
        <p:sp>
          <p:nvSpPr>
            <p:cNvPr id="19" name="Rectangle 18">
              <a:extLst>
                <a:ext uri="{FF2B5EF4-FFF2-40B4-BE49-F238E27FC236}">
                  <a16:creationId xmlns:a16="http://schemas.microsoft.com/office/drawing/2014/main" id="{1DE02495-E0A1-EDC5-620C-32D31C34C9D8}"/>
                </a:ext>
              </a:extLst>
            </p:cNvPr>
            <p:cNvSpPr/>
            <p:nvPr/>
          </p:nvSpPr>
          <p:spPr>
            <a:xfrm>
              <a:off x="1032931" y="5315980"/>
              <a:ext cx="660400" cy="709283"/>
            </a:xfrm>
            <a:prstGeom prst="rect">
              <a:avLst/>
            </a:prstGeom>
            <a:ln>
              <a:solidFill>
                <a:schemeClr val="bg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anose="020B0604020202020204" pitchFamily="34" charset="0"/>
                <a:cs typeface="Arial" panose="020B0604020202020204" pitchFamily="34" charset="0"/>
              </a:endParaRPr>
            </a:p>
          </p:txBody>
        </p:sp>
        <p:sp>
          <p:nvSpPr>
            <p:cNvPr id="20" name="Rectangle 19">
              <a:extLst>
                <a:ext uri="{FF2B5EF4-FFF2-40B4-BE49-F238E27FC236}">
                  <a16:creationId xmlns:a16="http://schemas.microsoft.com/office/drawing/2014/main" id="{299BEB8B-A171-9669-ED3C-6D3C1282F9F2}"/>
                </a:ext>
              </a:extLst>
            </p:cNvPr>
            <p:cNvSpPr/>
            <p:nvPr/>
          </p:nvSpPr>
          <p:spPr>
            <a:xfrm>
              <a:off x="1693330" y="5315980"/>
              <a:ext cx="9465735" cy="709283"/>
            </a:xfrm>
            <a:prstGeom prst="rect">
              <a:avLst/>
            </a:prstGeom>
            <a:noFill/>
            <a:ln>
              <a:solidFill>
                <a:schemeClr val="bg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A66EF2A1-C2AC-05EE-E236-F3571F096329}"/>
                </a:ext>
              </a:extLst>
            </p:cNvPr>
            <p:cNvSpPr txBox="1"/>
            <p:nvPr/>
          </p:nvSpPr>
          <p:spPr>
            <a:xfrm>
              <a:off x="1828796" y="5492967"/>
              <a:ext cx="9288308" cy="369332"/>
            </a:xfrm>
            <a:prstGeom prst="rect">
              <a:avLst/>
            </a:prstGeom>
            <a:noFill/>
            <a:ln>
              <a:noFill/>
            </a:ln>
          </p:spPr>
          <p:txBody>
            <a:bodyPr wrap="square" lIns="91440" tIns="45720" rIns="91440" bIns="45720">
              <a:spAutoFit/>
            </a:bodyPr>
            <a:lstStyle/>
            <a:p>
              <a:r>
                <a:rPr lang="en-US" spc="-10" dirty="0">
                  <a:latin typeface="Arial" panose="020B0604020202020204" pitchFamily="34" charset="0"/>
                  <a:ea typeface="Lato"/>
                  <a:cs typeface="Arial" panose="020B0604020202020204" pitchFamily="34" charset="0"/>
                </a:rPr>
                <a:t>Build targeted succession mobilization plans</a:t>
              </a:r>
            </a:p>
          </p:txBody>
        </p:sp>
        <p:pic>
          <p:nvPicPr>
            <p:cNvPr id="42" name="Graphic 41" descr="Beginning with solid fill">
              <a:extLst>
                <a:ext uri="{FF2B5EF4-FFF2-40B4-BE49-F238E27FC236}">
                  <a16:creationId xmlns:a16="http://schemas.microsoft.com/office/drawing/2014/main" id="{C2F50282-6378-F506-6253-D81BEA255B48}"/>
                </a:ext>
              </a:extLst>
            </p:cNvPr>
            <p:cNvPicPr>
              <a:picLocks noChangeAspect="1"/>
            </p:cNvPicPr>
            <p:nvPr/>
          </p:nvPicPr>
          <p:blipFill>
            <a:blip r:embed="rId6">
              <a:duotone>
                <a:srgbClr val="765FFF"/>
                <a:srgbClr val="FFFFFF"/>
              </a:duotone>
            </a:blip>
            <a:stretch>
              <a:fillRect/>
            </a:stretch>
          </p:blipFill>
          <p:spPr>
            <a:xfrm rot="10800000">
              <a:off x="1074896" y="5379335"/>
              <a:ext cx="586988" cy="586988"/>
            </a:xfrm>
            <a:prstGeom prst="rect">
              <a:avLst/>
            </a:prstGeom>
            <a:ln>
              <a:noFill/>
            </a:ln>
          </p:spPr>
        </p:pic>
      </p:grpSp>
      <p:sp>
        <p:nvSpPr>
          <p:cNvPr id="3" name="Rectangle 2">
            <a:extLst>
              <a:ext uri="{FF2B5EF4-FFF2-40B4-BE49-F238E27FC236}">
                <a16:creationId xmlns:a16="http://schemas.microsoft.com/office/drawing/2014/main" id="{A50232BA-53FF-EC11-77B3-B86A4D238EA7}"/>
              </a:ext>
            </a:extLst>
          </p:cNvPr>
          <p:cNvSpPr/>
          <p:nvPr/>
        </p:nvSpPr>
        <p:spPr>
          <a:xfrm>
            <a:off x="1027834" y="4453980"/>
            <a:ext cx="660400" cy="709283"/>
          </a:xfrm>
          <a:prstGeom prst="rect">
            <a:avLst/>
          </a:prstGeom>
          <a:ln>
            <a:solidFill>
              <a:schemeClr val="bg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pic>
        <p:nvPicPr>
          <p:cNvPr id="35" name="Picture 34">
            <a:extLst>
              <a:ext uri="{FF2B5EF4-FFF2-40B4-BE49-F238E27FC236}">
                <a16:creationId xmlns:a16="http://schemas.microsoft.com/office/drawing/2014/main" id="{4FF4BA2E-86F2-697B-CFF9-FA453CE51BEB}"/>
              </a:ext>
            </a:extLst>
          </p:cNvPr>
          <p:cNvPicPr>
            <a:picLocks noChangeAspect="1"/>
          </p:cNvPicPr>
          <p:nvPr/>
        </p:nvPicPr>
        <p:blipFill>
          <a:blip r:embed="rId7">
            <a:duotone>
              <a:srgbClr val="765FFF"/>
              <a:srgbClr val="FFFFFF"/>
            </a:duotone>
          </a:blip>
          <a:srcRect l="12941" r="14712"/>
          <a:stretch>
            <a:fillRect/>
          </a:stretch>
        </p:blipFill>
        <p:spPr>
          <a:xfrm>
            <a:off x="1063373" y="4607273"/>
            <a:ext cx="584443" cy="411480"/>
          </a:xfrm>
          <a:prstGeom prst="rect">
            <a:avLst/>
          </a:prstGeom>
        </p:spPr>
      </p:pic>
      <p:sp>
        <p:nvSpPr>
          <p:cNvPr id="48"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1</a:t>
            </a:fld>
            <a:endParaRPr lang="en-US"/>
          </a:p>
        </p:txBody>
      </p:sp>
    </p:spTree>
    <p:extLst>
      <p:ext uri="{BB962C8B-B14F-4D97-AF65-F5344CB8AC3E}">
        <p14:creationId xmlns:p14="http://schemas.microsoft.com/office/powerpoint/2010/main" val="1593726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6A0F570-476E-AD2A-6E24-C24EE9A1CECF}"/>
              </a:ext>
            </a:extLst>
          </p:cNvPr>
          <p:cNvSpPr>
            <a:spLocks noGrp="1"/>
          </p:cNvSpPr>
          <p:nvPr>
            <p:ph type="title" sz="quarter"/>
          </p:nvPr>
        </p:nvSpPr>
        <p:spPr/>
        <p:txBody>
          <a:bodyPr/>
          <a:lstStyle/>
          <a:p>
            <a:r>
              <a:rPr lang="en-US" b="1" spc="-25">
                <a:latin typeface="Segoe UI" pitchFamily="34" charset="0"/>
              </a:rPr>
              <a:t>Agenda</a:t>
            </a:r>
          </a:p>
        </p:txBody>
      </p:sp>
      <p:graphicFrame>
        <p:nvGraphicFramePr>
          <p:cNvPr id="2" name="Table 1">
            <a:extLst>
              <a:ext uri="{FF2B5EF4-FFF2-40B4-BE49-F238E27FC236}">
                <a16:creationId xmlns:a16="http://schemas.microsoft.com/office/drawing/2014/main" id="{BB36B113-ED2F-B881-332C-4D85A18AC7BF}"/>
              </a:ext>
            </a:extLst>
          </p:cNvPr>
          <p:cNvGraphicFramePr>
            <a:graphicFrameLocks noGrp="1"/>
          </p:cNvGraphicFramePr>
          <p:nvPr>
            <p:extLst>
              <p:ext uri="{D42A27DB-BD31-4B8C-83A1-F6EECF244321}">
                <p14:modId xmlns:p14="http://schemas.microsoft.com/office/powerpoint/2010/main" val="1726700198"/>
              </p:ext>
            </p:extLst>
          </p:nvPr>
        </p:nvGraphicFramePr>
        <p:xfrm>
          <a:off x="455272" y="2155239"/>
          <a:ext cx="5486400" cy="2914066"/>
        </p:xfrm>
        <a:graphic>
          <a:graphicData uri="http://schemas.openxmlformats.org/drawingml/2006/table">
            <a:tbl>
              <a:tblPr firstRow="1" bandRow="1">
                <a:tableStyleId>{5C22544A-7EE6-4342-B048-85BDC9FD1C3A}</a:tableStyleId>
              </a:tblPr>
              <a:tblGrid>
                <a:gridCol w="1093493">
                  <a:extLst>
                    <a:ext uri="{9D8B030D-6E8A-4147-A177-3AD203B41FA5}">
                      <a16:colId xmlns:a16="http://schemas.microsoft.com/office/drawing/2014/main" val="2620132034"/>
                    </a:ext>
                  </a:extLst>
                </a:gridCol>
                <a:gridCol w="4392907">
                  <a:extLst>
                    <a:ext uri="{9D8B030D-6E8A-4147-A177-3AD203B41FA5}">
                      <a16:colId xmlns:a16="http://schemas.microsoft.com/office/drawing/2014/main" val="949313474"/>
                    </a:ext>
                  </a:extLst>
                </a:gridCol>
              </a:tblGrid>
              <a:tr h="2914066">
                <a:tc>
                  <a:txBody>
                    <a:bodyPr/>
                    <a:lstStyle/>
                    <a:p>
                      <a:pPr marL="0" indent="0" algn="ctr">
                        <a:buFont typeface="Arial" panose="020B0604020202020204" pitchFamily="34" charset="0"/>
                        <a:buNone/>
                      </a:pPr>
                      <a:r>
                        <a:rPr lang="en-US" sz="2000" b="1" dirty="0">
                          <a:solidFill>
                            <a:schemeClr val="bg1"/>
                          </a:solidFill>
                          <a:latin typeface="Arial" pitchFamily="34" charset="0"/>
                        </a:rPr>
                        <a:t>AM</a:t>
                      </a:r>
                    </a:p>
                  </a:txBody>
                  <a:tcPr anchor="ctr"/>
                </a:tc>
                <a:tc>
                  <a:txBody>
                    <a:bodyPr/>
                    <a:lstStyle/>
                    <a:p>
                      <a:pPr marL="0" indent="0" algn="l" defTabSz="914400" rtl="0" eaLnBrk="1" latinLnBrk="0" hangingPunct="1">
                        <a:spcBef>
                          <a:spcPts val="300"/>
                        </a:spcBef>
                        <a:spcAft>
                          <a:spcPts val="600"/>
                        </a:spcAft>
                        <a:buClr>
                          <a:schemeClr val="tx1"/>
                        </a:buClr>
                        <a:buSzPct val="70000"/>
                        <a:buFont typeface="Arial" panose="020B0604020202020204" pitchFamily="34" charset="0"/>
                        <a:buNone/>
                      </a:pPr>
                      <a:r>
                        <a:rPr lang="en-US" sz="2400" kern="1200" dirty="0">
                          <a:solidFill>
                            <a:srgbClr val="60BDBC"/>
                          </a:solidFill>
                          <a:latin typeface="Segoe UI" panose="020B0502040204020203" pitchFamily="34" charset="0"/>
                          <a:ea typeface="+mn-ea"/>
                          <a:cs typeface="Segoe UI" panose="020B0502040204020203" pitchFamily="34" charset="0"/>
                        </a:rPr>
                        <a:t>/</a:t>
                      </a:r>
                      <a:r>
                        <a:rPr lang="en-US" sz="2400" b="1" kern="1200" dirty="0">
                          <a:solidFill>
                            <a:srgbClr val="60BDBC"/>
                          </a:solidFill>
                          <a:latin typeface="Segoe UI" panose="020B0502040204020203" pitchFamily="34" charset="0"/>
                          <a:ea typeface="+mn-ea"/>
                          <a:cs typeface="Segoe UI" panose="020B0502040204020203" pitchFamily="34" charset="0"/>
                        </a:rPr>
                        <a:t>DEFINE</a:t>
                      </a:r>
                    </a:p>
                    <a:p>
                      <a:pPr marL="285750" lvl="1" indent="-285750" algn="l" defTabSz="914400" rtl="0" eaLnBrk="1" latinLnBrk="0" hangingPunct="1">
                        <a:spcBef>
                          <a:spcPts val="300"/>
                        </a:spcBef>
                        <a:spcAft>
                          <a:spcPts val="600"/>
                        </a:spcAft>
                        <a:buClr>
                          <a:schemeClr val="tx1"/>
                        </a:buClr>
                        <a:buSzPct val="70000"/>
                        <a:buFont typeface="Wingdings" pitchFamily="2" charset="2"/>
                        <a:buBlip>
                          <a:blip r:embed="rId3"/>
                        </a:buBlip>
                      </a:pPr>
                      <a:r>
                        <a:rPr lang="en-US" sz="1800" b="1" kern="1200" dirty="0">
                          <a:solidFill>
                            <a:schemeClr val="bg2">
                              <a:lumMod val="25000"/>
                            </a:schemeClr>
                          </a:solidFill>
                          <a:latin typeface="Arial" pitchFamily="34" charset="0"/>
                          <a:ea typeface="+mn-ea"/>
                          <a:cs typeface="+mn-cs"/>
                        </a:rPr>
                        <a:t>Future Jobs to Be Done (Activity)</a:t>
                      </a:r>
                    </a:p>
                    <a:p>
                      <a:pPr marL="285750" lvl="1" indent="-285750" algn="l" defTabSz="914400" rtl="0" eaLnBrk="1" latinLnBrk="0" hangingPunct="1">
                        <a:spcBef>
                          <a:spcPts val="300"/>
                        </a:spcBef>
                        <a:spcAft>
                          <a:spcPts val="600"/>
                        </a:spcAft>
                        <a:buClr>
                          <a:schemeClr val="tx1"/>
                        </a:buClr>
                        <a:buSzPct val="70000"/>
                        <a:buFont typeface="Wingdings" pitchFamily="2" charset="2"/>
                        <a:buBlip>
                          <a:blip r:embed="rId3"/>
                        </a:buBlip>
                      </a:pPr>
                      <a:r>
                        <a:rPr lang="en-US" sz="1800" b="1" kern="1200" dirty="0">
                          <a:solidFill>
                            <a:schemeClr val="bg2">
                              <a:lumMod val="25000"/>
                            </a:schemeClr>
                          </a:solidFill>
                          <a:latin typeface="Arial" pitchFamily="34" charset="0"/>
                          <a:ea typeface="+mn-ea"/>
                          <a:cs typeface="+mn-cs"/>
                        </a:rPr>
                        <a:t>Risks and Superpowers (Activity</a:t>
                      </a:r>
                      <a:r>
                        <a:rPr lang="en-US" sz="2000" b="1" dirty="0">
                          <a:solidFill>
                            <a:schemeClr val="tx1"/>
                          </a:solidFill>
                          <a:latin typeface="+mn-lt"/>
                        </a:rPr>
                        <a:t>)</a:t>
                      </a:r>
                      <a:endParaRPr lang="en-US" sz="2000" b="1" dirty="0">
                        <a:solidFill>
                          <a:schemeClr val="tx1"/>
                        </a:solidFill>
                        <a:latin typeface="Arial" pitchFamily="34" charset="0"/>
                      </a:endParaRPr>
                    </a:p>
                  </a:txBody>
                  <a:tcPr marL="137160" marR="137160" marT="137160" marB="137160" anchor="ctr">
                    <a:solidFill>
                      <a:schemeClr val="bg2">
                        <a:lumMod val="20000"/>
                        <a:lumOff val="80000"/>
                      </a:schemeClr>
                    </a:solidFill>
                  </a:tcPr>
                </a:tc>
                <a:extLst>
                  <a:ext uri="{0D108BD9-81ED-4DB2-BD59-A6C34878D82A}">
                    <a16:rowId xmlns:a16="http://schemas.microsoft.com/office/drawing/2014/main" val="1135887960"/>
                  </a:ext>
                </a:extLst>
              </a:tr>
            </a:tbl>
          </a:graphicData>
        </a:graphic>
      </p:graphicFrame>
      <p:graphicFrame>
        <p:nvGraphicFramePr>
          <p:cNvPr id="6" name="Table 5">
            <a:extLst>
              <a:ext uri="{FF2B5EF4-FFF2-40B4-BE49-F238E27FC236}">
                <a16:creationId xmlns:a16="http://schemas.microsoft.com/office/drawing/2014/main" id="{976EFDB0-8338-B472-8D62-A67821DA7FF2}"/>
              </a:ext>
            </a:extLst>
          </p:cNvPr>
          <p:cNvGraphicFramePr>
            <a:graphicFrameLocks noGrp="1"/>
          </p:cNvGraphicFramePr>
          <p:nvPr>
            <p:extLst>
              <p:ext uri="{D42A27DB-BD31-4B8C-83A1-F6EECF244321}">
                <p14:modId xmlns:p14="http://schemas.microsoft.com/office/powerpoint/2010/main" val="2463069708"/>
              </p:ext>
            </p:extLst>
          </p:nvPr>
        </p:nvGraphicFramePr>
        <p:xfrm>
          <a:off x="6224338" y="2155238"/>
          <a:ext cx="5486400" cy="2914066"/>
        </p:xfrm>
        <a:graphic>
          <a:graphicData uri="http://schemas.openxmlformats.org/drawingml/2006/table">
            <a:tbl>
              <a:tblPr firstRow="1" bandRow="1">
                <a:tableStyleId>{5C22544A-7EE6-4342-B048-85BDC9FD1C3A}</a:tableStyleId>
              </a:tblPr>
              <a:tblGrid>
                <a:gridCol w="1093491">
                  <a:extLst>
                    <a:ext uri="{9D8B030D-6E8A-4147-A177-3AD203B41FA5}">
                      <a16:colId xmlns:a16="http://schemas.microsoft.com/office/drawing/2014/main" val="2620132034"/>
                    </a:ext>
                  </a:extLst>
                </a:gridCol>
                <a:gridCol w="4392909">
                  <a:extLst>
                    <a:ext uri="{9D8B030D-6E8A-4147-A177-3AD203B41FA5}">
                      <a16:colId xmlns:a16="http://schemas.microsoft.com/office/drawing/2014/main" val="949313474"/>
                    </a:ext>
                  </a:extLst>
                </a:gridCol>
              </a:tblGrid>
              <a:tr h="2914066">
                <a:tc>
                  <a:txBody>
                    <a:bodyPr/>
                    <a:lstStyle/>
                    <a:p>
                      <a:pPr marL="0" indent="0" algn="ctr" defTabSz="914400" rtl="0" eaLnBrk="1" latinLnBrk="0" hangingPunct="1">
                        <a:spcBef>
                          <a:spcPts val="300"/>
                        </a:spcBef>
                        <a:spcAft>
                          <a:spcPts val="600"/>
                        </a:spcAft>
                        <a:buClr>
                          <a:schemeClr val="tx1"/>
                        </a:buClr>
                        <a:buSzPct val="70000"/>
                        <a:buFont typeface="Arial" panose="020B0604020202020204" pitchFamily="34" charset="0"/>
                        <a:buNone/>
                      </a:pPr>
                      <a:r>
                        <a:rPr lang="en-US" sz="2000" b="1" kern="1200" dirty="0">
                          <a:solidFill>
                            <a:srgbClr val="281A42"/>
                          </a:solidFill>
                          <a:latin typeface="Arial" pitchFamily="34" charset="0"/>
                          <a:ea typeface="+mn-ea"/>
                          <a:cs typeface="+mn-cs"/>
                        </a:rPr>
                        <a:t>PM</a:t>
                      </a:r>
                      <a:endParaRPr lang="en-US" sz="1800" b="1" kern="1200" dirty="0">
                        <a:solidFill>
                          <a:srgbClr val="281A42"/>
                        </a:solidFill>
                        <a:latin typeface="Arial" pitchFamily="34" charset="0"/>
                        <a:ea typeface="+mn-ea"/>
                        <a:cs typeface="+mn-cs"/>
                      </a:endParaRPr>
                    </a:p>
                  </a:txBody>
                  <a:tcPr anchor="ctr"/>
                </a:tc>
                <a:tc>
                  <a:txBody>
                    <a:bodyPr/>
                    <a:lstStyle/>
                    <a:p>
                      <a:pPr marL="0" marR="0" lvl="0" indent="0" algn="l" defTabSz="914400" rtl="0" eaLnBrk="1" fontAlgn="auto" latinLnBrk="0" hangingPunct="1">
                        <a:lnSpc>
                          <a:spcPct val="100000"/>
                        </a:lnSpc>
                        <a:spcBef>
                          <a:spcPts val="300"/>
                        </a:spcBef>
                        <a:spcAft>
                          <a:spcPts val="600"/>
                        </a:spcAft>
                        <a:buClr>
                          <a:schemeClr val="tx1"/>
                        </a:buClr>
                        <a:buSzPct val="70000"/>
                        <a:buFont typeface="Arial" panose="020B0604020202020204" pitchFamily="34" charset="0"/>
                        <a:buNone/>
                        <a:tabLst/>
                        <a:defRPr/>
                      </a:pPr>
                      <a:r>
                        <a:rPr lang="en-US" sz="2400" b="1" kern="1200" dirty="0">
                          <a:solidFill>
                            <a:srgbClr val="60BDBC"/>
                          </a:solidFill>
                          <a:latin typeface="Segoe UI" panose="020B0502040204020203" pitchFamily="34" charset="0"/>
                          <a:ea typeface="+mn-ea"/>
                          <a:cs typeface="Segoe UI" panose="020B0502040204020203" pitchFamily="34" charset="0"/>
                        </a:rPr>
                        <a:t>/ASSESS</a:t>
                      </a:r>
                    </a:p>
                    <a:p>
                      <a:pPr marL="285750" marR="0" lvl="1" indent="-285750" algn="l" defTabSz="914400" rtl="0" eaLnBrk="1" fontAlgn="auto" latinLnBrk="0" hangingPunct="1">
                        <a:lnSpc>
                          <a:spcPct val="100000"/>
                        </a:lnSpc>
                        <a:spcBef>
                          <a:spcPts val="300"/>
                        </a:spcBef>
                        <a:spcAft>
                          <a:spcPts val="600"/>
                        </a:spcAft>
                        <a:buClr>
                          <a:schemeClr val="tx1"/>
                        </a:buClr>
                        <a:buSzPct val="70000"/>
                        <a:buFont typeface="Wingdings" pitchFamily="2" charset="2"/>
                        <a:buBlip>
                          <a:blip r:embed="rId3"/>
                        </a:buBlip>
                        <a:tabLst/>
                        <a:defRPr/>
                      </a:pPr>
                      <a:r>
                        <a:rPr lang="en-US" sz="1800" b="1" kern="1200" noProof="0" dirty="0">
                          <a:solidFill>
                            <a:schemeClr val="bg2">
                              <a:lumMod val="25000"/>
                            </a:schemeClr>
                          </a:solidFill>
                          <a:latin typeface="Arial" pitchFamily="34" charset="0"/>
                          <a:ea typeface="+mn-ea"/>
                          <a:cs typeface="+mn-cs"/>
                        </a:rPr>
                        <a:t>Multi-Point Evidence Mosaic (Fact-based)</a:t>
                      </a:r>
                    </a:p>
                    <a:p>
                      <a:pPr marL="285750" marR="0" lvl="1" indent="-285750" algn="l" defTabSz="914400" rtl="0" eaLnBrk="1" fontAlgn="auto" latinLnBrk="0" hangingPunct="1">
                        <a:lnSpc>
                          <a:spcPct val="100000"/>
                        </a:lnSpc>
                        <a:spcBef>
                          <a:spcPts val="300"/>
                        </a:spcBef>
                        <a:spcAft>
                          <a:spcPts val="1200"/>
                        </a:spcAft>
                        <a:buClr>
                          <a:schemeClr val="tx1"/>
                        </a:buClr>
                        <a:buSzPct val="70000"/>
                        <a:buFont typeface="Wingdings" pitchFamily="2" charset="2"/>
                        <a:buBlip>
                          <a:blip r:embed="rId3"/>
                        </a:buBlip>
                        <a:tabLst/>
                        <a:defRPr/>
                      </a:pPr>
                      <a:r>
                        <a:rPr lang="en-US" sz="1800" b="1" kern="1200" noProof="0" dirty="0">
                          <a:solidFill>
                            <a:schemeClr val="bg2">
                              <a:lumMod val="25000"/>
                            </a:schemeClr>
                          </a:solidFill>
                          <a:latin typeface="Arial" pitchFamily="34" charset="0"/>
                          <a:ea typeface="+mn-ea"/>
                          <a:cs typeface="+mn-cs"/>
                        </a:rPr>
                        <a:t>Determine Succession Readiness</a:t>
                      </a:r>
                      <a:endParaRPr lang="en-US" sz="1800" b="1" kern="1200" dirty="0">
                        <a:solidFill>
                          <a:schemeClr val="bg2">
                            <a:lumMod val="25000"/>
                          </a:schemeClr>
                        </a:solidFill>
                        <a:latin typeface="Arial" pitchFamily="34" charset="0"/>
                        <a:ea typeface="+mn-ea"/>
                        <a:cs typeface="+mn-cs"/>
                      </a:endParaRPr>
                    </a:p>
                    <a:p>
                      <a:pPr marL="0" marR="0" lvl="0" indent="0" algn="l" defTabSz="914400" rtl="0" eaLnBrk="1" fontAlgn="auto" latinLnBrk="0" hangingPunct="1">
                        <a:lnSpc>
                          <a:spcPct val="100000"/>
                        </a:lnSpc>
                        <a:spcBef>
                          <a:spcPts val="300"/>
                        </a:spcBef>
                        <a:spcAft>
                          <a:spcPts val="600"/>
                        </a:spcAft>
                        <a:buClr>
                          <a:schemeClr val="tx1"/>
                        </a:buClr>
                        <a:buSzPct val="70000"/>
                        <a:buFont typeface="Arial" panose="020B0604020202020204" pitchFamily="34" charset="0"/>
                        <a:buNone/>
                        <a:tabLst/>
                        <a:defRPr/>
                      </a:pPr>
                      <a:r>
                        <a:rPr lang="en-US" sz="2400" b="1" kern="1200" dirty="0">
                          <a:solidFill>
                            <a:srgbClr val="60BDBC"/>
                          </a:solidFill>
                          <a:latin typeface="Segoe UI" panose="020B0502040204020203" pitchFamily="34" charset="0"/>
                          <a:ea typeface="+mn-ea"/>
                          <a:cs typeface="Segoe UI" panose="020B0502040204020203" pitchFamily="34" charset="0"/>
                        </a:rPr>
                        <a:t>/MOBILIZE</a:t>
                      </a:r>
                    </a:p>
                    <a:p>
                      <a:pPr marL="285750" lvl="1" indent="-285750" algn="l" defTabSz="914400" rtl="0" eaLnBrk="1" latinLnBrk="0" hangingPunct="1">
                        <a:spcBef>
                          <a:spcPts val="300"/>
                        </a:spcBef>
                        <a:spcAft>
                          <a:spcPts val="600"/>
                        </a:spcAft>
                        <a:buClr>
                          <a:schemeClr val="tx1"/>
                        </a:buClr>
                        <a:buSzPct val="70000"/>
                        <a:buFont typeface="Wingdings" pitchFamily="2" charset="2"/>
                        <a:buBlip>
                          <a:blip r:embed="rId3"/>
                        </a:buBlip>
                      </a:pPr>
                      <a:r>
                        <a:rPr lang="en-US" sz="1800" b="1" kern="1200" noProof="0" dirty="0">
                          <a:solidFill>
                            <a:schemeClr val="bg2">
                              <a:lumMod val="25000"/>
                            </a:schemeClr>
                          </a:solidFill>
                          <a:latin typeface="Arial" pitchFamily="34" charset="0"/>
                          <a:ea typeface="+mn-ea"/>
                          <a:cs typeface="+mn-cs"/>
                        </a:rPr>
                        <a:t>Succession Development Plan (Activity)</a:t>
                      </a:r>
                      <a:endParaRPr lang="en-US" sz="1800" b="1" kern="1200" dirty="0">
                        <a:solidFill>
                          <a:schemeClr val="bg2">
                            <a:lumMod val="25000"/>
                          </a:schemeClr>
                        </a:solidFill>
                        <a:latin typeface="Arial" pitchFamily="34" charset="0"/>
                        <a:ea typeface="+mn-ea"/>
                        <a:cs typeface="+mn-cs"/>
                      </a:endParaRPr>
                    </a:p>
                  </a:txBody>
                  <a:tcPr marL="137160" marR="137160" marT="137160" marB="137160" anchor="ctr">
                    <a:solidFill>
                      <a:schemeClr val="bg2">
                        <a:lumMod val="20000"/>
                        <a:lumOff val="80000"/>
                      </a:schemeClr>
                    </a:solidFill>
                  </a:tcPr>
                </a:tc>
                <a:extLst>
                  <a:ext uri="{0D108BD9-81ED-4DB2-BD59-A6C34878D82A}">
                    <a16:rowId xmlns:a16="http://schemas.microsoft.com/office/drawing/2014/main" val="1135887960"/>
                  </a:ext>
                </a:extLst>
              </a:tr>
            </a:tbl>
          </a:graphicData>
        </a:graphic>
      </p:graphicFrame>
      <p:sp>
        <p:nvSpPr>
          <p:cNvPr id="7"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2</a:t>
            </a:fld>
            <a:endParaRPr lang="en-US"/>
          </a:p>
        </p:txBody>
      </p:sp>
    </p:spTree>
    <p:extLst>
      <p:ext uri="{BB962C8B-B14F-4D97-AF65-F5344CB8AC3E}">
        <p14:creationId xmlns:p14="http://schemas.microsoft.com/office/powerpoint/2010/main" val="3673842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24220-D7D8-AB91-2865-A4940BB86D3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061650C-5421-3B71-4954-2F58BA12C0C0}"/>
              </a:ext>
            </a:extLst>
          </p:cNvPr>
          <p:cNvSpPr>
            <a:spLocks noGrp="1"/>
          </p:cNvSpPr>
          <p:nvPr>
            <p:ph type="title" sz="quarter"/>
          </p:nvPr>
        </p:nvSpPr>
        <p:spPr/>
        <p:txBody>
          <a:bodyPr/>
          <a:lstStyle/>
          <a:p>
            <a:r>
              <a:rPr lang="en-US" b="1" spc="-25" dirty="0">
                <a:latin typeface="Segoe UI" pitchFamily="34" charset="0"/>
                <a:ea typeface="Helvetica Neue" panose="02000503000000020004" pitchFamily="2" charset="0"/>
                <a:cs typeface="Helvetica Neue" panose="02000503000000020004" pitchFamily="2" charset="0"/>
              </a:rPr>
              <a:t>The business case for </a:t>
            </a:r>
            <a:r>
              <a:rPr lang="en-US" spc="-25" dirty="0">
                <a:solidFill>
                  <a:schemeClr val="accent1"/>
                </a:solidFill>
                <a:ea typeface="Helvetica Neue" panose="02000503000000020004" pitchFamily="2" charset="0"/>
                <a:cs typeface="Helvetica Neue" panose="02000503000000020004" pitchFamily="2" charset="0"/>
              </a:rPr>
              <a:t>T</a:t>
            </a:r>
            <a:r>
              <a:rPr lang="en-US" b="1" spc="-25" dirty="0">
                <a:solidFill>
                  <a:schemeClr val="accent1"/>
                </a:solidFill>
                <a:latin typeface="Segoe UI" pitchFamily="34" charset="0"/>
                <a:ea typeface="Helvetica Neue" panose="02000503000000020004" pitchFamily="2" charset="0"/>
                <a:cs typeface="Helvetica Neue" panose="02000503000000020004" pitchFamily="2" charset="0"/>
              </a:rPr>
              <a:t>alent to Value™</a:t>
            </a:r>
          </a:p>
        </p:txBody>
      </p:sp>
      <p:grpSp>
        <p:nvGrpSpPr>
          <p:cNvPr id="30" name="Group 29">
            <a:extLst>
              <a:ext uri="{FF2B5EF4-FFF2-40B4-BE49-F238E27FC236}">
                <a16:creationId xmlns:a16="http://schemas.microsoft.com/office/drawing/2014/main" id="{83B29312-1CCA-065C-68EF-8D4D03A31171}"/>
              </a:ext>
            </a:extLst>
          </p:cNvPr>
          <p:cNvGrpSpPr/>
          <p:nvPr/>
        </p:nvGrpSpPr>
        <p:grpSpPr>
          <a:xfrm>
            <a:off x="1006764" y="1413163"/>
            <a:ext cx="4664363" cy="4765964"/>
            <a:chOff x="1006764" y="1413163"/>
            <a:chExt cx="4664363" cy="4765964"/>
          </a:xfrm>
        </p:grpSpPr>
        <p:sp>
          <p:nvSpPr>
            <p:cNvPr id="19" name="Rectangle: Rounded Corners 18">
              <a:extLst>
                <a:ext uri="{FF2B5EF4-FFF2-40B4-BE49-F238E27FC236}">
                  <a16:creationId xmlns:a16="http://schemas.microsoft.com/office/drawing/2014/main" id="{7B6AEE5E-9A2C-1285-0B25-4076785575E8}"/>
                </a:ext>
              </a:extLst>
            </p:cNvPr>
            <p:cNvSpPr/>
            <p:nvPr/>
          </p:nvSpPr>
          <p:spPr>
            <a:xfrm>
              <a:off x="1006764" y="1413163"/>
              <a:ext cx="4664363" cy="4765964"/>
            </a:xfrm>
            <a:prstGeom prst="roundRect">
              <a:avLst>
                <a:gd name="adj" fmla="val 10330"/>
              </a:avLst>
            </a:prstGeom>
            <a:solidFill>
              <a:schemeClr val="bg1"/>
            </a:solidFill>
            <a:ln w="38100" cmpd="dbl">
              <a:solidFill>
                <a:srgbClr val="2B3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10" name="TextBox 9">
              <a:extLst>
                <a:ext uri="{FF2B5EF4-FFF2-40B4-BE49-F238E27FC236}">
                  <a16:creationId xmlns:a16="http://schemas.microsoft.com/office/drawing/2014/main" id="{CDB5C64D-F84E-586F-B93D-5754C85ABE60}"/>
                </a:ext>
              </a:extLst>
            </p:cNvPr>
            <p:cNvSpPr txBox="1"/>
            <p:nvPr/>
          </p:nvSpPr>
          <p:spPr>
            <a:xfrm>
              <a:off x="1313872" y="1571762"/>
              <a:ext cx="4050146" cy="400110"/>
            </a:xfrm>
            <a:prstGeom prst="rect">
              <a:avLst/>
            </a:prstGeom>
            <a:noFill/>
          </p:spPr>
          <p:txBody>
            <a:bodyPr wrap="square" lIns="91440" tIns="45720" rIns="91440" bIns="45720" rtlCol="0">
              <a:spAutoFit/>
            </a:bodyPr>
            <a:lstStyle/>
            <a:p>
              <a:pPr algn="ctr"/>
              <a:r>
                <a:rPr lang="en-US" sz="2000" b="1" spc="-10" dirty="0">
                  <a:solidFill>
                    <a:schemeClr val="accent1"/>
                  </a:solidFill>
                  <a:latin typeface="Segoe UI" pitchFamily="34" charset="0"/>
                </a:rPr>
                <a:t>WHAT</a:t>
              </a:r>
              <a:r>
                <a:rPr lang="en-US" sz="2000" spc="-10" dirty="0">
                  <a:latin typeface="Arial" pitchFamily="34" charset="0"/>
                </a:rPr>
                <a:t> are the challenges?</a:t>
              </a:r>
            </a:p>
          </p:txBody>
        </p:sp>
        <p:pic>
          <p:nvPicPr>
            <p:cNvPr id="24" name="Graphic 23" descr="Hurdle outline">
              <a:extLst>
                <a:ext uri="{FF2B5EF4-FFF2-40B4-BE49-F238E27FC236}">
                  <a16:creationId xmlns:a16="http://schemas.microsoft.com/office/drawing/2014/main" id="{25153FF4-4DAB-2315-EA39-50BC0097C9CD}"/>
                </a:ext>
              </a:extLst>
            </p:cNvPr>
            <p:cNvPicPr>
              <a:picLocks noChangeAspect="1"/>
            </p:cNvPicPr>
            <p:nvPr/>
          </p:nvPicPr>
          <p:blipFill>
            <a:blip r:embed="rId3">
              <a:duotone>
                <a:srgbClr val="765FFF"/>
                <a:srgbClr val="FFFFFF"/>
              </a:duotone>
            </a:blip>
            <a:stretch>
              <a:fillRect/>
            </a:stretch>
          </p:blipFill>
          <p:spPr>
            <a:xfrm>
              <a:off x="3018905" y="2234713"/>
              <a:ext cx="640080" cy="640080"/>
            </a:xfrm>
            <a:prstGeom prst="rect">
              <a:avLst/>
            </a:prstGeom>
          </p:spPr>
        </p:pic>
        <p:sp>
          <p:nvSpPr>
            <p:cNvPr id="28" name="TextBox 27">
              <a:extLst>
                <a:ext uri="{FF2B5EF4-FFF2-40B4-BE49-F238E27FC236}">
                  <a16:creationId xmlns:a16="http://schemas.microsoft.com/office/drawing/2014/main" id="{D0CAD95C-4365-038F-141E-6DFF049F936E}"/>
                </a:ext>
              </a:extLst>
            </p:cNvPr>
            <p:cNvSpPr txBox="1"/>
            <p:nvPr/>
          </p:nvSpPr>
          <p:spPr>
            <a:xfrm>
              <a:off x="1313872" y="3088640"/>
              <a:ext cx="4233488" cy="1423467"/>
            </a:xfrm>
            <a:prstGeom prst="rect">
              <a:avLst/>
            </a:prstGeom>
            <a:noFill/>
          </p:spPr>
          <p:txBody>
            <a:bodyPr wrap="square" lIns="91440" tIns="45720" rIns="91440" bIns="45720" rtlCol="0">
              <a:spAutoFit/>
            </a:bodyPr>
            <a:lstStyle/>
            <a:p>
              <a:pPr marL="285750" indent="-285750">
                <a:spcBef>
                  <a:spcPts val="300"/>
                </a:spcBef>
                <a:spcAft>
                  <a:spcPts val="600"/>
                </a:spcAft>
                <a:buSzPct val="70000"/>
                <a:buBlip>
                  <a:blip r:embed="rId4"/>
                </a:buBlip>
              </a:pPr>
              <a:r>
                <a:rPr lang="en-US" sz="1600" dirty="0">
                  <a:solidFill>
                    <a:schemeClr val="bg2">
                      <a:lumMod val="25000"/>
                    </a:schemeClr>
                  </a:solidFill>
                  <a:latin typeface="Arial" pitchFamily="34" charset="0"/>
                </a:rPr>
                <a:t>Unsuccessful transformations</a:t>
              </a:r>
            </a:p>
            <a:p>
              <a:pPr marL="285750" indent="-285750">
                <a:spcBef>
                  <a:spcPts val="300"/>
                </a:spcBef>
                <a:spcAft>
                  <a:spcPts val="600"/>
                </a:spcAft>
                <a:buSzPct val="70000"/>
                <a:buBlip>
                  <a:blip r:embed="rId4"/>
                </a:buBlip>
              </a:pPr>
              <a:r>
                <a:rPr lang="en-US" sz="1600" dirty="0">
                  <a:solidFill>
                    <a:schemeClr val="bg2">
                      <a:lumMod val="25000"/>
                    </a:schemeClr>
                  </a:solidFill>
                  <a:latin typeface="Arial" pitchFamily="34" charset="0"/>
                </a:rPr>
                <a:t>Risks with moving too fast</a:t>
              </a:r>
            </a:p>
            <a:p>
              <a:pPr marL="285750" indent="-285750">
                <a:spcBef>
                  <a:spcPts val="300"/>
                </a:spcBef>
                <a:spcAft>
                  <a:spcPts val="600"/>
                </a:spcAft>
                <a:buSzPct val="70000"/>
                <a:buBlip>
                  <a:blip r:embed="rId4"/>
                </a:buBlip>
              </a:pPr>
              <a:r>
                <a:rPr lang="en-US" sz="1600" dirty="0">
                  <a:solidFill>
                    <a:schemeClr val="bg2">
                      <a:lumMod val="25000"/>
                    </a:schemeClr>
                  </a:solidFill>
                  <a:latin typeface="Arial" pitchFamily="34" charset="0"/>
                </a:rPr>
                <a:t>“My organization is not talented enough”</a:t>
              </a:r>
            </a:p>
            <a:p>
              <a:pPr marL="285750" indent="-285750">
                <a:spcBef>
                  <a:spcPts val="300"/>
                </a:spcBef>
                <a:spcAft>
                  <a:spcPts val="600"/>
                </a:spcAft>
                <a:buFont typeface="Arial" panose="020B0604020202020204" pitchFamily="34" charset="0"/>
                <a:buChar char="•"/>
              </a:pPr>
              <a:endParaRPr lang="en-US" sz="1600" spc="-10" dirty="0">
                <a:latin typeface="Arial" pitchFamily="34" charset="0"/>
              </a:endParaRPr>
            </a:p>
          </p:txBody>
        </p:sp>
      </p:grpSp>
      <p:grpSp>
        <p:nvGrpSpPr>
          <p:cNvPr id="31" name="Group 30">
            <a:extLst>
              <a:ext uri="{FF2B5EF4-FFF2-40B4-BE49-F238E27FC236}">
                <a16:creationId xmlns:a16="http://schemas.microsoft.com/office/drawing/2014/main" id="{958910C8-F629-1795-470A-C0A469E6BFC4}"/>
              </a:ext>
            </a:extLst>
          </p:cNvPr>
          <p:cNvGrpSpPr/>
          <p:nvPr/>
        </p:nvGrpSpPr>
        <p:grpSpPr>
          <a:xfrm>
            <a:off x="5929745" y="1364386"/>
            <a:ext cx="4664363" cy="4765964"/>
            <a:chOff x="5929745" y="1364386"/>
            <a:chExt cx="4664363" cy="4765964"/>
          </a:xfrm>
        </p:grpSpPr>
        <p:sp>
          <p:nvSpPr>
            <p:cNvPr id="20" name="Rectangle: Rounded Corners 19">
              <a:extLst>
                <a:ext uri="{FF2B5EF4-FFF2-40B4-BE49-F238E27FC236}">
                  <a16:creationId xmlns:a16="http://schemas.microsoft.com/office/drawing/2014/main" id="{A68F7379-8E4C-71CF-FF50-72514CE4AA32}"/>
                </a:ext>
              </a:extLst>
            </p:cNvPr>
            <p:cNvSpPr/>
            <p:nvPr/>
          </p:nvSpPr>
          <p:spPr>
            <a:xfrm>
              <a:off x="5929745" y="1364386"/>
              <a:ext cx="4664363" cy="4765964"/>
            </a:xfrm>
            <a:prstGeom prst="roundRect">
              <a:avLst>
                <a:gd name="adj" fmla="val 10330"/>
              </a:avLst>
            </a:prstGeom>
            <a:solidFill>
              <a:schemeClr val="bg1"/>
            </a:solidFill>
            <a:ln w="38100" cmpd="dbl">
              <a:solidFill>
                <a:srgbClr val="2B3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9" name="TextBox 8">
              <a:extLst>
                <a:ext uri="{FF2B5EF4-FFF2-40B4-BE49-F238E27FC236}">
                  <a16:creationId xmlns:a16="http://schemas.microsoft.com/office/drawing/2014/main" id="{FE96E58C-5BC7-7456-6411-6C3E35E83709}"/>
                </a:ext>
              </a:extLst>
            </p:cNvPr>
            <p:cNvSpPr txBox="1"/>
            <p:nvPr/>
          </p:nvSpPr>
          <p:spPr>
            <a:xfrm>
              <a:off x="6156035" y="1571762"/>
              <a:ext cx="4211782" cy="646331"/>
            </a:xfrm>
            <a:prstGeom prst="rect">
              <a:avLst/>
            </a:prstGeom>
            <a:noFill/>
          </p:spPr>
          <p:txBody>
            <a:bodyPr wrap="square" lIns="91440" tIns="45720" rIns="91440" bIns="45720" rtlCol="0">
              <a:spAutoFit/>
            </a:bodyPr>
            <a:lstStyle/>
            <a:p>
              <a:pPr algn="ctr"/>
              <a:r>
                <a:rPr lang="en-US" b="1" spc="-10">
                  <a:solidFill>
                    <a:schemeClr val="accent1"/>
                  </a:solidFill>
                  <a:latin typeface="Segoe UI" pitchFamily="34" charset="0"/>
                </a:rPr>
                <a:t>WHY</a:t>
              </a:r>
              <a:r>
                <a:rPr lang="en-US" spc="-10">
                  <a:latin typeface="Arial" pitchFamily="34" charset="0"/>
                </a:rPr>
                <a:t> is the Talent to Value concept important in today’s business context? </a:t>
              </a:r>
            </a:p>
          </p:txBody>
        </p:sp>
        <p:pic>
          <p:nvPicPr>
            <p:cNvPr id="27" name="Picture 26" descr="Bend the Curve">
              <a:extLst>
                <a:ext uri="{FF2B5EF4-FFF2-40B4-BE49-F238E27FC236}">
                  <a16:creationId xmlns:a16="http://schemas.microsoft.com/office/drawing/2014/main" id="{E3C72741-5DEC-E0A7-261D-A8A81E6DA03B}"/>
                </a:ext>
              </a:extLst>
            </p:cNvPr>
            <p:cNvPicPr>
              <a:picLocks noChangeAspect="1"/>
            </p:cNvPicPr>
            <p:nvPr/>
          </p:nvPicPr>
          <p:blipFill>
            <a:blip r:embed="rId5">
              <a:duotone>
                <a:srgbClr val="765FFF"/>
                <a:srgbClr val="FFFFFF"/>
              </a:duotone>
            </a:blip>
            <a:stretch>
              <a:fillRect/>
            </a:stretch>
          </p:blipFill>
          <p:spPr>
            <a:xfrm>
              <a:off x="7940169" y="2232996"/>
              <a:ext cx="643514" cy="643514"/>
            </a:xfrm>
            <a:prstGeom prst="rect">
              <a:avLst/>
            </a:prstGeom>
          </p:spPr>
        </p:pic>
        <p:sp>
          <p:nvSpPr>
            <p:cNvPr id="29" name="TextBox 28">
              <a:extLst>
                <a:ext uri="{FF2B5EF4-FFF2-40B4-BE49-F238E27FC236}">
                  <a16:creationId xmlns:a16="http://schemas.microsoft.com/office/drawing/2014/main" id="{8245A7A2-72DD-4BC0-6136-895820DE61B9}"/>
                </a:ext>
              </a:extLst>
            </p:cNvPr>
            <p:cNvSpPr txBox="1"/>
            <p:nvPr/>
          </p:nvSpPr>
          <p:spPr>
            <a:xfrm>
              <a:off x="6156034" y="3101025"/>
              <a:ext cx="4438073" cy="2639184"/>
            </a:xfrm>
            <a:prstGeom prst="rect">
              <a:avLst/>
            </a:prstGeom>
            <a:noFill/>
          </p:spPr>
          <p:txBody>
            <a:bodyPr wrap="square" lIns="91440" tIns="45720" rIns="91440" bIns="45720" rtlCol="0">
              <a:spAutoFit/>
            </a:bodyPr>
            <a:lstStyle/>
            <a:p>
              <a:pPr marL="285750" indent="-285750">
                <a:spcBef>
                  <a:spcPts val="300"/>
                </a:spcBef>
                <a:spcAft>
                  <a:spcPts val="600"/>
                </a:spcAft>
                <a:buSzPct val="70000"/>
                <a:buBlip>
                  <a:blip r:embed="rId4"/>
                </a:buBlip>
              </a:pPr>
              <a:r>
                <a:rPr lang="en-US" sz="1600" dirty="0">
                  <a:solidFill>
                    <a:schemeClr val="bg2">
                      <a:lumMod val="25000"/>
                    </a:schemeClr>
                  </a:solidFill>
                  <a:latin typeface="Arial" pitchFamily="34" charset="0"/>
                </a:rPr>
                <a:t>Faster delivery of business strategy </a:t>
              </a:r>
            </a:p>
            <a:p>
              <a:pPr marL="285750" indent="-285750">
                <a:spcBef>
                  <a:spcPts val="300"/>
                </a:spcBef>
                <a:spcAft>
                  <a:spcPts val="600"/>
                </a:spcAft>
                <a:buSzPct val="70000"/>
                <a:buBlip>
                  <a:blip r:embed="rId4"/>
                </a:buBlip>
              </a:pPr>
              <a:r>
                <a:rPr lang="en-US" sz="1600" dirty="0">
                  <a:solidFill>
                    <a:schemeClr val="bg2">
                      <a:lumMod val="25000"/>
                    </a:schemeClr>
                  </a:solidFill>
                  <a:latin typeface="Arial" pitchFamily="34" charset="0"/>
                </a:rPr>
                <a:t>Greater alignment of senior team </a:t>
              </a:r>
            </a:p>
            <a:p>
              <a:pPr marL="285750" indent="-285750">
                <a:spcBef>
                  <a:spcPts val="300"/>
                </a:spcBef>
                <a:spcAft>
                  <a:spcPts val="600"/>
                </a:spcAft>
                <a:buSzPct val="70000"/>
                <a:buBlip>
                  <a:blip r:embed="rId4"/>
                </a:buBlip>
              </a:pPr>
              <a:r>
                <a:rPr lang="en-US" sz="1600" dirty="0">
                  <a:solidFill>
                    <a:schemeClr val="bg2">
                      <a:lumMod val="25000"/>
                    </a:schemeClr>
                  </a:solidFill>
                  <a:latin typeface="Arial" pitchFamily="34" charset="0"/>
                </a:rPr>
                <a:t>Clarity and accountability </a:t>
              </a:r>
            </a:p>
            <a:p>
              <a:pPr marL="285750" indent="-285750">
                <a:spcBef>
                  <a:spcPts val="300"/>
                </a:spcBef>
                <a:spcAft>
                  <a:spcPts val="600"/>
                </a:spcAft>
                <a:buSzPct val="70000"/>
                <a:buBlip>
                  <a:blip r:embed="rId4"/>
                </a:buBlip>
              </a:pPr>
              <a:r>
                <a:rPr lang="en-US" sz="1600" dirty="0">
                  <a:solidFill>
                    <a:schemeClr val="bg2">
                      <a:lumMod val="25000"/>
                    </a:schemeClr>
                  </a:solidFill>
                  <a:latin typeface="Arial" pitchFamily="34" charset="0"/>
                </a:rPr>
                <a:t>Ensuring Talent is set up for success</a:t>
              </a:r>
            </a:p>
            <a:p>
              <a:pPr marL="285750" indent="-285750">
                <a:spcBef>
                  <a:spcPts val="300"/>
                </a:spcBef>
                <a:spcAft>
                  <a:spcPts val="600"/>
                </a:spcAft>
                <a:buSzPct val="70000"/>
                <a:buBlip>
                  <a:blip r:embed="rId4"/>
                </a:buBlip>
              </a:pPr>
              <a:r>
                <a:rPr lang="en-US" sz="1600" dirty="0">
                  <a:solidFill>
                    <a:schemeClr val="bg2">
                      <a:lumMod val="25000"/>
                    </a:schemeClr>
                  </a:solidFill>
                  <a:latin typeface="Arial" pitchFamily="34" charset="0"/>
                </a:rPr>
                <a:t>Differentiated routines and focus on work and roles that matter the most</a:t>
              </a:r>
            </a:p>
            <a:p>
              <a:pPr marL="285750" indent="-285750">
                <a:spcBef>
                  <a:spcPts val="300"/>
                </a:spcBef>
                <a:spcAft>
                  <a:spcPts val="600"/>
                </a:spcAft>
                <a:buSzPct val="70000"/>
                <a:buBlip>
                  <a:blip r:embed="rId4"/>
                </a:buBlip>
              </a:pPr>
              <a:r>
                <a:rPr lang="en-US" sz="1600" dirty="0">
                  <a:solidFill>
                    <a:schemeClr val="bg2">
                      <a:lumMod val="25000"/>
                    </a:schemeClr>
                  </a:solidFill>
                  <a:latin typeface="Arial" pitchFamily="34" charset="0"/>
                </a:rPr>
                <a:t>Emphasizes risk-seeking to help identify the best fit for the future needs of the role</a:t>
              </a:r>
            </a:p>
          </p:txBody>
        </p:sp>
      </p:grpSp>
      <p:sp>
        <p:nvSpPr>
          <p:cNvPr id="32"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3</a:t>
            </a:fld>
            <a:endParaRPr lang="en-US"/>
          </a:p>
        </p:txBody>
      </p:sp>
    </p:spTree>
    <p:extLst>
      <p:ext uri="{BB962C8B-B14F-4D97-AF65-F5344CB8AC3E}">
        <p14:creationId xmlns:p14="http://schemas.microsoft.com/office/powerpoint/2010/main" val="2392088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FC95E-7820-59F4-118A-99FF1B0D8A1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50C8DAF-9E11-86AA-6965-609A62B2E0CD}"/>
              </a:ext>
            </a:extLst>
          </p:cNvPr>
          <p:cNvSpPr/>
          <p:nvPr/>
        </p:nvSpPr>
        <p:spPr>
          <a:xfrm>
            <a:off x="-2" y="1733455"/>
            <a:ext cx="8624455" cy="310533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1"/>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 name="Text Placeholder 1">
            <a:extLst>
              <a:ext uri="{FF2B5EF4-FFF2-40B4-BE49-F238E27FC236}">
                <a16:creationId xmlns:a16="http://schemas.microsoft.com/office/drawing/2014/main" id="{71759733-7A54-4325-D6FD-D01A00584B02}"/>
              </a:ext>
            </a:extLst>
          </p:cNvPr>
          <p:cNvSpPr txBox="1">
            <a:spLocks/>
          </p:cNvSpPr>
          <p:nvPr/>
        </p:nvSpPr>
        <p:spPr>
          <a:xfrm>
            <a:off x="206589" y="2393349"/>
            <a:ext cx="8211271" cy="1785550"/>
          </a:xfrm>
          <a:prstGeom prst="rect">
            <a:avLst/>
          </a:prstGeom>
        </p:spPr>
        <p:txBody>
          <a:bodyPr lIns="91440" tIns="45720" rIns="91440" bIns="45720"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spc="-10">
                <a:solidFill>
                  <a:schemeClr val="tx1"/>
                </a:solidFill>
                <a:latin typeface="Arial" pitchFamily="34"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spc="-10">
                <a:solidFill>
                  <a:schemeClr val="tx1"/>
                </a:solidFill>
                <a:latin typeface="Arial" pitchFamily="34"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10">
                <a:solidFill>
                  <a:schemeClr val="tx1"/>
                </a:solidFill>
                <a:latin typeface="Arial" pitchFamily="34"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defRPr/>
            </a:pPr>
            <a:r>
              <a:rPr lang="en-US" sz="6000" b="1" spc="-10">
                <a:solidFill>
                  <a:schemeClr val="bg1"/>
                </a:solidFill>
                <a:latin typeface="Segoe UI" pitchFamily="34" charset="0"/>
                <a:ea typeface="Lato ExtraLight" panose="020B0604020202020204" pitchFamily="34" charset="0"/>
                <a:cs typeface="Lato ExtraLight" panose="020B0604020202020204" pitchFamily="34" charset="0"/>
              </a:rPr>
              <a:t>Succession to Value™</a:t>
            </a:r>
          </a:p>
        </p:txBody>
      </p:sp>
      <p:sp>
        <p:nvSpPr>
          <p:cNvPr id="4"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4</a:t>
            </a:fld>
            <a:endParaRPr lang="en-US"/>
          </a:p>
        </p:txBody>
      </p:sp>
    </p:spTree>
    <p:extLst>
      <p:ext uri="{BB962C8B-B14F-4D97-AF65-F5344CB8AC3E}">
        <p14:creationId xmlns:p14="http://schemas.microsoft.com/office/powerpoint/2010/main" val="1424982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D817B-8034-AB51-F3F4-1D0D88C2144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3F69CDB-A2B7-8C6B-3327-2E14199FE64B}"/>
              </a:ext>
            </a:extLst>
          </p:cNvPr>
          <p:cNvSpPr>
            <a:spLocks noGrp="1"/>
          </p:cNvSpPr>
          <p:nvPr>
            <p:ph type="title" sz="quarter"/>
          </p:nvPr>
        </p:nvSpPr>
        <p:spPr/>
        <p:txBody>
          <a:bodyPr/>
          <a:lstStyle/>
          <a:p>
            <a:r>
              <a:rPr lang="en-US" spc="-25">
                <a:solidFill>
                  <a:schemeClr val="accent1"/>
                </a:solidFill>
                <a:ea typeface="Helvetica Neue" panose="02000503000000020004" pitchFamily="2" charset="0"/>
                <a:cs typeface="Helvetica Neue" panose="02000503000000020004" pitchFamily="2" charset="0"/>
              </a:rPr>
              <a:t>Succession to Value™</a:t>
            </a:r>
            <a:endParaRPr lang="en-US" b="1" dirty="0">
              <a:solidFill>
                <a:srgbClr val="2B3A42"/>
              </a:solidFill>
              <a:latin typeface="+mn-lt"/>
            </a:endParaRPr>
          </a:p>
        </p:txBody>
      </p:sp>
      <p:sp>
        <p:nvSpPr>
          <p:cNvPr id="3" name="Rectangle 2">
            <a:extLst>
              <a:ext uri="{FF2B5EF4-FFF2-40B4-BE49-F238E27FC236}">
                <a16:creationId xmlns:a16="http://schemas.microsoft.com/office/drawing/2014/main" id="{7FC888F5-2C8C-EA4D-D528-86B956BE5FF3}"/>
              </a:ext>
            </a:extLst>
          </p:cNvPr>
          <p:cNvSpPr/>
          <p:nvPr/>
        </p:nvSpPr>
        <p:spPr>
          <a:xfrm>
            <a:off x="563253" y="1243584"/>
            <a:ext cx="2465175" cy="2185416"/>
          </a:xfrm>
          <a:prstGeom prst="rect">
            <a:avLst/>
          </a:prstGeom>
          <a:solidFill>
            <a:srgbClr val="281942"/>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4000" dirty="0">
                <a:ea typeface="Helvetica Neue" panose="02000503000000020004" pitchFamily="2" charset="0"/>
                <a:cs typeface="Helvetica Neue" panose="02000503000000020004" pitchFamily="2" charset="0"/>
              </a:rPr>
              <a:t>40%</a:t>
            </a:r>
          </a:p>
          <a:p>
            <a:endParaRPr lang="en-US" sz="1400" dirty="0">
              <a:ea typeface="Helvetica Neue" panose="02000503000000020004" pitchFamily="2" charset="0"/>
              <a:cs typeface="Helvetica Neue" panose="02000503000000020004" pitchFamily="2" charset="0"/>
            </a:endParaRPr>
          </a:p>
          <a:p>
            <a:r>
              <a:rPr lang="en-US" sz="1400" dirty="0">
                <a:solidFill>
                  <a:schemeClr val="bg1"/>
                </a:solidFill>
              </a:rPr>
              <a:t>of external executive hires </a:t>
            </a:r>
            <a:r>
              <a:rPr lang="en-US" sz="1600" b="1" dirty="0">
                <a:solidFill>
                  <a:schemeClr val="bg1"/>
                </a:solidFill>
              </a:rPr>
              <a:t>fail</a:t>
            </a:r>
            <a:r>
              <a:rPr lang="en-US" sz="1400" dirty="0">
                <a:solidFill>
                  <a:schemeClr val="bg1"/>
                </a:solidFill>
              </a:rPr>
              <a:t> within the first </a:t>
            </a:r>
            <a:r>
              <a:rPr lang="en-US" sz="1600" b="1" dirty="0">
                <a:solidFill>
                  <a:schemeClr val="bg1"/>
                </a:solidFill>
              </a:rPr>
              <a:t>18</a:t>
            </a:r>
            <a:r>
              <a:rPr lang="en-US" sz="1400" dirty="0">
                <a:solidFill>
                  <a:schemeClr val="bg1"/>
                </a:solidFill>
              </a:rPr>
              <a:t> months </a:t>
            </a:r>
            <a:r>
              <a:rPr lang="en-US" sz="1400" baseline="30000" dirty="0">
                <a:solidFill>
                  <a:schemeClr val="bg1"/>
                </a:solidFill>
              </a:rPr>
              <a:t>1</a:t>
            </a:r>
            <a:endParaRPr lang="en-US" sz="1400" baseline="30000" dirty="0">
              <a:solidFill>
                <a:schemeClr val="bg1"/>
              </a:solidFill>
              <a:ea typeface="Helvetica Neue" panose="02000503000000020004" pitchFamily="2" charset="0"/>
              <a:cs typeface="Helvetica Neue" panose="02000503000000020004" pitchFamily="2" charset="0"/>
            </a:endParaRPr>
          </a:p>
        </p:txBody>
      </p:sp>
      <p:sp>
        <p:nvSpPr>
          <p:cNvPr id="4" name="Rectangle 3">
            <a:extLst>
              <a:ext uri="{FF2B5EF4-FFF2-40B4-BE49-F238E27FC236}">
                <a16:creationId xmlns:a16="http://schemas.microsoft.com/office/drawing/2014/main" id="{3FCB6E75-ED61-D993-3F18-AB51BAD26C9A}"/>
              </a:ext>
            </a:extLst>
          </p:cNvPr>
          <p:cNvSpPr/>
          <p:nvPr/>
        </p:nvSpPr>
        <p:spPr>
          <a:xfrm>
            <a:off x="6389831" y="3961045"/>
            <a:ext cx="2465175" cy="2185416"/>
          </a:xfrm>
          <a:prstGeom prst="rect">
            <a:avLst/>
          </a:prstGeom>
          <a:solidFill>
            <a:srgbClr val="60BDBC"/>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4000">
                <a:ea typeface="Helvetica Neue" panose="02000503000000020004" pitchFamily="2" charset="0"/>
                <a:cs typeface="Helvetica Neue" panose="02000503000000020004" pitchFamily="2" charset="0"/>
              </a:rPr>
              <a:t>2-10X</a:t>
            </a:r>
          </a:p>
          <a:p>
            <a:endParaRPr lang="en-US" sz="1400"/>
          </a:p>
          <a:p>
            <a:r>
              <a:rPr lang="en-US" sz="1400"/>
              <a:t>the annual salary can be the cost of a failed VP or CEO hire </a:t>
            </a:r>
            <a:r>
              <a:rPr lang="en-US" sz="1400" baseline="30000"/>
              <a:t>1</a:t>
            </a:r>
            <a:endParaRPr lang="en-US" sz="1400" baseline="30000">
              <a:solidFill>
                <a:schemeClr val="bg1"/>
              </a:solidFill>
              <a:ea typeface="Helvetica Neue" panose="02000503000000020004" pitchFamily="2" charset="0"/>
              <a:cs typeface="Helvetica Neue" panose="02000503000000020004" pitchFamily="2" charset="0"/>
            </a:endParaRPr>
          </a:p>
        </p:txBody>
      </p:sp>
      <p:sp>
        <p:nvSpPr>
          <p:cNvPr id="6" name="Rectangle 5">
            <a:extLst>
              <a:ext uri="{FF2B5EF4-FFF2-40B4-BE49-F238E27FC236}">
                <a16:creationId xmlns:a16="http://schemas.microsoft.com/office/drawing/2014/main" id="{28F0A8C5-521A-0A60-84BA-BBE7D2AF3985}"/>
              </a:ext>
            </a:extLst>
          </p:cNvPr>
          <p:cNvSpPr/>
          <p:nvPr/>
        </p:nvSpPr>
        <p:spPr>
          <a:xfrm>
            <a:off x="3476542" y="1243584"/>
            <a:ext cx="2465175" cy="2185416"/>
          </a:xfrm>
          <a:prstGeom prst="rect">
            <a:avLst/>
          </a:prstGeom>
          <a:solidFill>
            <a:srgbClr val="60BDBC"/>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4000" dirty="0">
                <a:ea typeface="Helvetica Neue" panose="02000503000000020004" pitchFamily="2" charset="0"/>
                <a:cs typeface="Helvetica Neue" panose="02000503000000020004" pitchFamily="2" charset="0"/>
              </a:rPr>
              <a:t>66%</a:t>
            </a:r>
          </a:p>
          <a:p>
            <a:endParaRPr lang="en-US" sz="1400" dirty="0">
              <a:ea typeface="Helvetica Neue" panose="02000503000000020004" pitchFamily="2" charset="0"/>
              <a:cs typeface="Helvetica Neue" panose="02000503000000020004" pitchFamily="2" charset="0"/>
            </a:endParaRPr>
          </a:p>
          <a:p>
            <a:r>
              <a:rPr lang="en-US" sz="1400" dirty="0">
                <a:solidFill>
                  <a:schemeClr val="bg1"/>
                </a:solidFill>
              </a:rPr>
              <a:t>of executives say that hires are </a:t>
            </a:r>
            <a:r>
              <a:rPr lang="en-US" sz="1600" b="1" dirty="0">
                <a:solidFill>
                  <a:schemeClr val="bg1"/>
                </a:solidFill>
              </a:rPr>
              <a:t>not fully prepared </a:t>
            </a:r>
            <a:r>
              <a:rPr lang="en-US" sz="1400" baseline="30000" dirty="0">
                <a:solidFill>
                  <a:schemeClr val="bg1"/>
                </a:solidFill>
              </a:rPr>
              <a:t>2</a:t>
            </a:r>
            <a:r>
              <a:rPr lang="en-US" sz="1400" dirty="0">
                <a:solidFill>
                  <a:schemeClr val="bg1"/>
                </a:solidFill>
              </a:rPr>
              <a:t> </a:t>
            </a:r>
          </a:p>
        </p:txBody>
      </p:sp>
      <p:sp>
        <p:nvSpPr>
          <p:cNvPr id="7" name="Rectangle 6">
            <a:extLst>
              <a:ext uri="{FF2B5EF4-FFF2-40B4-BE49-F238E27FC236}">
                <a16:creationId xmlns:a16="http://schemas.microsoft.com/office/drawing/2014/main" id="{B2BBE19B-2DFE-A054-19CA-836BF46FF2F7}"/>
              </a:ext>
            </a:extLst>
          </p:cNvPr>
          <p:cNvSpPr/>
          <p:nvPr/>
        </p:nvSpPr>
        <p:spPr>
          <a:xfrm>
            <a:off x="6389831" y="1243584"/>
            <a:ext cx="2465175" cy="2185416"/>
          </a:xfrm>
          <a:prstGeom prst="rect">
            <a:avLst/>
          </a:prstGeom>
          <a:solidFill>
            <a:srgbClr val="FCB546"/>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4000" dirty="0">
                <a:ea typeface="Helvetica Neue" panose="02000503000000020004" pitchFamily="2" charset="0"/>
                <a:cs typeface="Helvetica Neue" panose="02000503000000020004" pitchFamily="2" charset="0"/>
              </a:rPr>
              <a:t>71%</a:t>
            </a:r>
            <a:endParaRPr lang="en-US" sz="1400" dirty="0"/>
          </a:p>
          <a:p>
            <a:endParaRPr lang="en-US" sz="1400" dirty="0"/>
          </a:p>
          <a:p>
            <a:r>
              <a:rPr lang="en-US" sz="1400" dirty="0"/>
              <a:t>PE </a:t>
            </a:r>
            <a:r>
              <a:rPr lang="en-US" sz="1600" b="1" dirty="0"/>
              <a:t>CEOs are replaced </a:t>
            </a:r>
            <a:r>
              <a:rPr lang="en-US" sz="1400" dirty="0"/>
              <a:t>sometime during the hold period </a:t>
            </a:r>
            <a:r>
              <a:rPr lang="en-US" sz="1400" baseline="30000" dirty="0"/>
              <a:t>3</a:t>
            </a:r>
          </a:p>
        </p:txBody>
      </p:sp>
      <p:pic>
        <p:nvPicPr>
          <p:cNvPr id="8" name="Picture 7">
            <a:extLst>
              <a:ext uri="{FF2B5EF4-FFF2-40B4-BE49-F238E27FC236}">
                <a16:creationId xmlns:a16="http://schemas.microsoft.com/office/drawing/2014/main" id="{82717A17-1366-70B4-5076-2F08BADE5DA8}"/>
              </a:ext>
            </a:extLst>
          </p:cNvPr>
          <p:cNvPicPr>
            <a:picLocks noChangeAspect="1"/>
          </p:cNvPicPr>
          <p:nvPr/>
        </p:nvPicPr>
        <p:blipFill>
          <a:blip r:embed="rId4">
            <a:duotone>
              <a:srgbClr val="765FFF"/>
              <a:srgbClr val="FFFFFF"/>
            </a:duotone>
          </a:blip>
          <a:srcRect t="34984" b="3886"/>
          <a:stretch>
            <a:fillRect/>
          </a:stretch>
        </p:blipFill>
        <p:spPr>
          <a:xfrm>
            <a:off x="0" y="3984009"/>
            <a:ext cx="4958500" cy="2185416"/>
          </a:xfrm>
          <a:prstGeom prst="rect">
            <a:avLst/>
          </a:prstGeom>
        </p:spPr>
      </p:pic>
      <p:sp>
        <p:nvSpPr>
          <p:cNvPr id="9" name="Rectangle 8">
            <a:extLst>
              <a:ext uri="{FF2B5EF4-FFF2-40B4-BE49-F238E27FC236}">
                <a16:creationId xmlns:a16="http://schemas.microsoft.com/office/drawing/2014/main" id="{2448D26C-A042-14F6-4196-0F2E978C4685}"/>
              </a:ext>
            </a:extLst>
          </p:cNvPr>
          <p:cNvSpPr/>
          <p:nvPr/>
        </p:nvSpPr>
        <p:spPr>
          <a:xfrm>
            <a:off x="9303119" y="1243584"/>
            <a:ext cx="2465175" cy="2185416"/>
          </a:xfrm>
          <a:prstGeom prst="rect">
            <a:avLst/>
          </a:prstGeom>
          <a:solidFill>
            <a:srgbClr val="28194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4000">
                <a:ea typeface="Helvetica Neue" panose="02000503000000020004" pitchFamily="2" charset="0"/>
                <a:cs typeface="Helvetica Neue" panose="02000503000000020004" pitchFamily="2" charset="0"/>
              </a:rPr>
              <a:t>86%</a:t>
            </a:r>
          </a:p>
          <a:p>
            <a:endParaRPr lang="en-US" sz="1400">
              <a:ea typeface="Helvetica Neue" panose="02000503000000020004" pitchFamily="2" charset="0"/>
              <a:cs typeface="Helvetica Neue" panose="02000503000000020004" pitchFamily="2" charset="0"/>
            </a:endParaRPr>
          </a:p>
          <a:p>
            <a:r>
              <a:rPr lang="en-US" sz="1400">
                <a:solidFill>
                  <a:schemeClr val="bg1"/>
                </a:solidFill>
              </a:rPr>
              <a:t>of leaders </a:t>
            </a:r>
            <a:r>
              <a:rPr lang="en-US" sz="1600" b="1">
                <a:solidFill>
                  <a:schemeClr val="bg1"/>
                </a:solidFill>
              </a:rPr>
              <a:t>do not feel confident </a:t>
            </a:r>
            <a:r>
              <a:rPr lang="en-US" sz="1400">
                <a:solidFill>
                  <a:schemeClr val="bg1"/>
                </a:solidFill>
              </a:rPr>
              <a:t>in their succession plans</a:t>
            </a:r>
            <a:r>
              <a:rPr lang="en-US" sz="1400" baseline="30000">
                <a:solidFill>
                  <a:schemeClr val="bg1"/>
                </a:solidFill>
              </a:rPr>
              <a:t> 4</a:t>
            </a:r>
          </a:p>
        </p:txBody>
      </p:sp>
      <p:sp>
        <p:nvSpPr>
          <p:cNvPr id="10" name="TextBox 9">
            <a:extLst>
              <a:ext uri="{FF2B5EF4-FFF2-40B4-BE49-F238E27FC236}">
                <a16:creationId xmlns:a16="http://schemas.microsoft.com/office/drawing/2014/main" id="{7ED176FB-D25A-A860-ACE8-0A0205639510}"/>
              </a:ext>
            </a:extLst>
          </p:cNvPr>
          <p:cNvSpPr txBox="1"/>
          <p:nvPr/>
        </p:nvSpPr>
        <p:spPr>
          <a:xfrm>
            <a:off x="10257183" y="5269179"/>
            <a:ext cx="1934817" cy="900246"/>
          </a:xfrm>
          <a:prstGeom prst="rect">
            <a:avLst/>
          </a:prstGeom>
          <a:noFill/>
        </p:spPr>
        <p:txBody>
          <a:bodyPr wrap="square" lIns="91440" tIns="45720" rIns="91440" bIns="45720">
            <a:spAutoFit/>
          </a:bodyPr>
          <a:lstStyle/>
          <a:p>
            <a:r>
              <a:rPr lang="en-US" sz="1050" i="1">
                <a:solidFill>
                  <a:schemeClr val="tx1">
                    <a:lumMod val="65000"/>
                    <a:lumOff val="35000"/>
                  </a:schemeClr>
                </a:solidFill>
              </a:rPr>
              <a:t>Data source:</a:t>
            </a:r>
          </a:p>
          <a:p>
            <a:pPr marL="228600" indent="-228600">
              <a:buAutoNum type="arabicPeriod"/>
            </a:pPr>
            <a:r>
              <a:rPr lang="en-US" sz="1050" i="1">
                <a:solidFill>
                  <a:schemeClr val="tx1">
                    <a:lumMod val="65000"/>
                    <a:lumOff val="35000"/>
                  </a:schemeClr>
                </a:solidFill>
              </a:rPr>
              <a:t>Millman Search, 2025</a:t>
            </a:r>
          </a:p>
          <a:p>
            <a:pPr marL="228600" indent="-228600">
              <a:buAutoNum type="arabicPeriod"/>
            </a:pPr>
            <a:r>
              <a:rPr lang="en-US" sz="1050" i="1">
                <a:solidFill>
                  <a:schemeClr val="tx1">
                    <a:lumMod val="65000"/>
                    <a:lumOff val="35000"/>
                  </a:schemeClr>
                </a:solidFill>
              </a:rPr>
              <a:t>Deloitte, 2025</a:t>
            </a:r>
          </a:p>
          <a:p>
            <a:pPr marL="228600" indent="-228600">
              <a:buFontTx/>
              <a:buAutoNum type="arabicPeriod"/>
            </a:pPr>
            <a:r>
              <a:rPr lang="en-US" sz="1050" i="1">
                <a:solidFill>
                  <a:schemeClr val="tx1">
                    <a:lumMod val="65000"/>
                    <a:lumOff val="35000"/>
                  </a:schemeClr>
                </a:solidFill>
              </a:rPr>
              <a:t>HBS, 2022</a:t>
            </a:r>
          </a:p>
          <a:p>
            <a:pPr marL="228600" indent="-228600">
              <a:buFontTx/>
              <a:buAutoNum type="arabicPeriod"/>
            </a:pPr>
            <a:r>
              <a:rPr lang="en-US" sz="1050" i="1">
                <a:solidFill>
                  <a:schemeClr val="tx1">
                    <a:lumMod val="65000"/>
                    <a:lumOff val="35000"/>
                  </a:schemeClr>
                </a:solidFill>
              </a:rPr>
              <a:t>Deloitte, 2018</a:t>
            </a:r>
          </a:p>
        </p:txBody>
      </p:sp>
      <p:sp>
        <p:nvSpPr>
          <p:cNvPr id="11"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5</a:t>
            </a:fld>
            <a:endParaRPr lang="en-US"/>
          </a:p>
        </p:txBody>
      </p:sp>
    </p:spTree>
    <p:extLst>
      <p:ext uri="{BB962C8B-B14F-4D97-AF65-F5344CB8AC3E}">
        <p14:creationId xmlns:p14="http://schemas.microsoft.com/office/powerpoint/2010/main" val="823181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43777-AF2F-15DD-AF07-CA2F23AACDC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BE9CEBE-D7BD-0E20-6D99-4DB09710DD79}"/>
              </a:ext>
            </a:extLst>
          </p:cNvPr>
          <p:cNvSpPr>
            <a:spLocks noGrp="1"/>
          </p:cNvSpPr>
          <p:nvPr>
            <p:ph type="title" sz="quarter"/>
          </p:nvPr>
        </p:nvSpPr>
        <p:spPr/>
        <p:txBody>
          <a:bodyPr lIns="91440" tIns="45720" rIns="91440" bIns="45720" anchor="t"/>
          <a:lstStyle/>
          <a:p>
            <a:r>
              <a:rPr lang="en-US" spc="-25" dirty="0">
                <a:solidFill>
                  <a:schemeClr val="accent1"/>
                </a:solidFill>
                <a:ea typeface="Helvetica Neue" panose="02000503000000020004" pitchFamily="2" charset="0"/>
                <a:cs typeface="Helvetica Neue" panose="02000503000000020004" pitchFamily="2" charset="0"/>
              </a:rPr>
              <a:t>Succession to Value™ </a:t>
            </a:r>
            <a:r>
              <a:rPr lang="en-US" b="1" spc="-25" dirty="0">
                <a:latin typeface="Segoe UI" pitchFamily="34" charset="0"/>
                <a:ea typeface="Helvetica Neue" panose="02000503000000020004" pitchFamily="2" charset="0"/>
                <a:cs typeface="Helvetica Neue" panose="02000503000000020004" pitchFamily="2" charset="0"/>
              </a:rPr>
              <a:t>pivots</a:t>
            </a:r>
          </a:p>
        </p:txBody>
      </p:sp>
      <p:sp>
        <p:nvSpPr>
          <p:cNvPr id="4" name="TextBox 3">
            <a:extLst>
              <a:ext uri="{FF2B5EF4-FFF2-40B4-BE49-F238E27FC236}">
                <a16:creationId xmlns:a16="http://schemas.microsoft.com/office/drawing/2014/main" id="{69E4DFED-1319-5D88-B4F1-FEBE48759552}"/>
              </a:ext>
            </a:extLst>
          </p:cNvPr>
          <p:cNvSpPr txBox="1"/>
          <p:nvPr/>
        </p:nvSpPr>
        <p:spPr>
          <a:xfrm>
            <a:off x="464336" y="1336906"/>
            <a:ext cx="5105169" cy="400110"/>
          </a:xfrm>
          <a:prstGeom prst="rect">
            <a:avLst/>
          </a:prstGeom>
          <a:noFill/>
        </p:spPr>
        <p:txBody>
          <a:bodyPr wrap="square" lIns="91440" tIns="45720" rIns="91440" bIns="45720" rtlCol="0">
            <a:spAutoFit/>
          </a:bodyPr>
          <a:lstStyle/>
          <a:p>
            <a:pPr lvl="0" algn="ctr">
              <a:defRPr/>
            </a:pPr>
            <a:r>
              <a:rPr kumimoji="0" lang="en-US" sz="2000" b="1" i="0" u="none" strike="noStrike" kern="1200" cap="none" spc="-10" normalizeH="0" baseline="0" noProof="0">
                <a:ln>
                  <a:noFill/>
                </a:ln>
                <a:solidFill>
                  <a:srgbClr val="1D1D1D"/>
                </a:solidFill>
                <a:effectLst/>
                <a:uLnTx/>
                <a:uFillTx/>
                <a:latin typeface="Segoe UI" pitchFamily="34" charset="0"/>
                <a:ea typeface="+mn-ea"/>
                <a:cs typeface="+mn-cs"/>
              </a:rPr>
              <a:t>Traditional </a:t>
            </a:r>
            <a:r>
              <a:rPr lang="en-US" sz="2000" b="1" spc="-10">
                <a:solidFill>
                  <a:srgbClr val="1D1D1D"/>
                </a:solidFill>
                <a:latin typeface="Segoe UI" pitchFamily="34" charset="0"/>
              </a:rPr>
              <a:t>Approach</a:t>
            </a:r>
            <a:endParaRPr kumimoji="0" lang="en-US" sz="2000" b="1" i="0" u="none" strike="noStrike" kern="1200" cap="none" spc="-10" normalizeH="0" baseline="0" noProof="0">
              <a:ln>
                <a:noFill/>
              </a:ln>
              <a:solidFill>
                <a:srgbClr val="1D1D1D"/>
              </a:solidFill>
              <a:effectLst/>
              <a:uLnTx/>
              <a:uFillTx/>
              <a:latin typeface="Segoe UI" pitchFamily="34" charset="0"/>
              <a:ea typeface="+mn-ea"/>
              <a:cs typeface="+mn-cs"/>
            </a:endParaRPr>
          </a:p>
        </p:txBody>
      </p:sp>
      <p:sp>
        <p:nvSpPr>
          <p:cNvPr id="6" name="TextBox 5">
            <a:extLst>
              <a:ext uri="{FF2B5EF4-FFF2-40B4-BE49-F238E27FC236}">
                <a16:creationId xmlns:a16="http://schemas.microsoft.com/office/drawing/2014/main" id="{2073D497-E571-A99B-191B-20849A95A4FD}"/>
              </a:ext>
            </a:extLst>
          </p:cNvPr>
          <p:cNvSpPr txBox="1"/>
          <p:nvPr/>
        </p:nvSpPr>
        <p:spPr>
          <a:xfrm>
            <a:off x="6671923" y="1336906"/>
            <a:ext cx="5105169" cy="400110"/>
          </a:xfrm>
          <a:prstGeom prst="rect">
            <a:avLst/>
          </a:prstGeom>
          <a:noFill/>
        </p:spPr>
        <p:txBody>
          <a:bodyPr wrap="square" lIns="91440" tIns="45720" rIns="91440" bIns="45720" rtlCol="0">
            <a:spAutoFit/>
          </a:bodyPr>
          <a:lstStyle/>
          <a:p>
            <a:pPr lvl="0" algn="ctr">
              <a:defRPr/>
            </a:pPr>
            <a:r>
              <a:rPr lang="en-US" sz="2000" b="1" spc="-10" dirty="0">
                <a:solidFill>
                  <a:schemeClr val="accent1"/>
                </a:solidFill>
                <a:latin typeface="Segoe UI" pitchFamily="34" charset="0"/>
              </a:rPr>
              <a:t>Succession to </a:t>
            </a:r>
            <a:r>
              <a:rPr lang="en-US" sz="2000" b="1" spc="-10" dirty="0" err="1">
                <a:solidFill>
                  <a:schemeClr val="accent1"/>
                </a:solidFill>
                <a:latin typeface="Segoe UI" pitchFamily="34" charset="0"/>
              </a:rPr>
              <a:t>Value</a:t>
            </a:r>
            <a:r>
              <a:rPr lang="en-US" sz="2000" b="1" spc="-10" baseline="30000" dirty="0" err="1">
                <a:solidFill>
                  <a:schemeClr val="accent1"/>
                </a:solidFill>
                <a:latin typeface="Segoe UI" pitchFamily="34" charset="0"/>
              </a:rPr>
              <a:t>TM</a:t>
            </a:r>
            <a:r>
              <a:rPr lang="en-US" sz="2000" b="1" spc="-10" dirty="0">
                <a:solidFill>
                  <a:schemeClr val="accent1"/>
                </a:solidFill>
                <a:latin typeface="Segoe UI" pitchFamily="34" charset="0"/>
              </a:rPr>
              <a:t> </a:t>
            </a:r>
            <a:r>
              <a:rPr lang="en-US" sz="2000" b="1" spc="-10" dirty="0">
                <a:solidFill>
                  <a:srgbClr val="1D1D1D"/>
                </a:solidFill>
                <a:latin typeface="Segoe UI" pitchFamily="34" charset="0"/>
              </a:rPr>
              <a:t>Pivot</a:t>
            </a:r>
          </a:p>
        </p:txBody>
      </p:sp>
      <p:grpSp>
        <p:nvGrpSpPr>
          <p:cNvPr id="7" name="Group 6">
            <a:extLst>
              <a:ext uri="{FF2B5EF4-FFF2-40B4-BE49-F238E27FC236}">
                <a16:creationId xmlns:a16="http://schemas.microsoft.com/office/drawing/2014/main" id="{CA865B5D-9E1B-827D-8D52-5A2D8DA783F5}"/>
              </a:ext>
            </a:extLst>
          </p:cNvPr>
          <p:cNvGrpSpPr/>
          <p:nvPr/>
        </p:nvGrpSpPr>
        <p:grpSpPr>
          <a:xfrm>
            <a:off x="464336" y="2805327"/>
            <a:ext cx="4756593" cy="914400"/>
            <a:chOff x="700411" y="2090019"/>
            <a:chExt cx="5029200" cy="1244347"/>
          </a:xfrm>
        </p:grpSpPr>
        <p:sp>
          <p:nvSpPr>
            <p:cNvPr id="8" name="Rectangle: Rounded Corners 9">
              <a:extLst>
                <a:ext uri="{FF2B5EF4-FFF2-40B4-BE49-F238E27FC236}">
                  <a16:creationId xmlns:a16="http://schemas.microsoft.com/office/drawing/2014/main" id="{05B000EB-5991-3AAB-46C6-9AA11339F681}"/>
                </a:ext>
              </a:extLst>
            </p:cNvPr>
            <p:cNvSpPr/>
            <p:nvPr/>
          </p:nvSpPr>
          <p:spPr>
            <a:xfrm>
              <a:off x="700411" y="2090353"/>
              <a:ext cx="5029200" cy="1244013"/>
            </a:xfrm>
            <a:prstGeom prst="roundRect">
              <a:avLst/>
            </a:prstGeom>
            <a:solidFill>
              <a:srgbClr val="281A42"/>
            </a:solidFill>
            <a:ln w="19050" cmpd="sng">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10" normalizeH="0" baseline="0" noProof="0">
                <a:ln>
                  <a:noFill/>
                </a:ln>
                <a:solidFill>
                  <a:schemeClr val="bg1"/>
                </a:solidFill>
                <a:effectLst/>
                <a:uLnTx/>
                <a:uFillTx/>
                <a:latin typeface="Arial" pitchFamily="34" charset="0"/>
                <a:ea typeface="Lato" panose="020F0502020204030203" pitchFamily="34" charset="0"/>
                <a:cs typeface="Lato" panose="020F0502020204030203" pitchFamily="34" charset="0"/>
              </a:endParaRPr>
            </a:p>
          </p:txBody>
        </p:sp>
        <p:sp>
          <p:nvSpPr>
            <p:cNvPr id="9" name="Rectangle 8">
              <a:extLst>
                <a:ext uri="{FF2B5EF4-FFF2-40B4-BE49-F238E27FC236}">
                  <a16:creationId xmlns:a16="http://schemas.microsoft.com/office/drawing/2014/main" id="{A9CCC85C-94DD-E337-62FC-E07DCD7024C8}"/>
                </a:ext>
              </a:extLst>
            </p:cNvPr>
            <p:cNvSpPr/>
            <p:nvPr/>
          </p:nvSpPr>
          <p:spPr>
            <a:xfrm>
              <a:off x="700413" y="2090019"/>
              <a:ext cx="5029198" cy="1244013"/>
            </a:xfrm>
            <a:prstGeom prst="rect">
              <a:avLst/>
            </a:prstGeom>
            <a:noFill/>
            <a:ln w="38100" cmpd="dbl">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10" normalizeH="0" baseline="0" noProof="0" dirty="0">
                  <a:ln>
                    <a:noFill/>
                  </a:ln>
                  <a:solidFill>
                    <a:schemeClr val="bg1"/>
                  </a:solidFill>
                  <a:effectLst/>
                  <a:uLnTx/>
                  <a:uFillTx/>
                  <a:latin typeface="Segoe UI" pitchFamily="34" charset="0"/>
                  <a:ea typeface="Lato" panose="020F0502020204030203" pitchFamily="34" charset="0"/>
                  <a:cs typeface="Lato" panose="020F0502020204030203" pitchFamily="34" charset="0"/>
                </a:rPr>
                <a:t>Competencies</a:t>
              </a:r>
              <a:endParaRPr kumimoji="0" lang="en-US" sz="1800" b="1" i="0" u="none" strike="noStrike" kern="1200" cap="none" spc="-10" normalizeH="0" baseline="0" noProof="0" dirty="0">
                <a:ln>
                  <a:noFill/>
                </a:ln>
                <a:solidFill>
                  <a:schemeClr val="bg1"/>
                </a:solidFill>
                <a:effectLst/>
                <a:uLnTx/>
                <a:uFillTx/>
                <a:latin typeface="Segoe UI" pitchFamily="34" charset="0"/>
                <a:ea typeface="Lato" panose="020F0502020204030203" pitchFamily="34" charset="0"/>
                <a:cs typeface="Lato" panose="020F0502020204030203" pitchFamily="34" charset="0"/>
              </a:endParaRPr>
            </a:p>
            <a:p>
              <a:pPr algn="ctr">
                <a:spcBef>
                  <a:spcPts val="600"/>
                </a:spcBef>
                <a:spcAft>
                  <a:spcPts val="800"/>
                </a:spcAft>
                <a:defRPr/>
              </a:pPr>
              <a:r>
                <a:rPr lang="en-US" sz="1400" spc="-10" dirty="0">
                  <a:solidFill>
                    <a:schemeClr val="bg1"/>
                  </a:solidFill>
                  <a:latin typeface="Arial" pitchFamily="34" charset="0"/>
                  <a:ea typeface="Lato" panose="020F0502020204030203" pitchFamily="34" charset="0"/>
                  <a:cs typeface="Lato" panose="020F0502020204030203" pitchFamily="34" charset="0"/>
                </a:rPr>
                <a:t>Assess/Project how successors will perform in generic leadership competences without </a:t>
              </a:r>
              <a:r>
                <a:rPr kumimoji="0" lang="en-US" sz="1400" b="0" i="0" u="none" strike="noStrike" kern="1200" cap="none" spc="-10" normalizeH="0" baseline="0" noProof="0" dirty="0">
                  <a:ln>
                    <a:noFill/>
                  </a:ln>
                  <a:solidFill>
                    <a:schemeClr val="bg1"/>
                  </a:solidFill>
                  <a:effectLst/>
                  <a:uLnTx/>
                  <a:uFillTx/>
                  <a:latin typeface="Arial" pitchFamily="34" charset="0"/>
                  <a:ea typeface="Lato" panose="020F0502020204030203" pitchFamily="34" charset="0"/>
                  <a:cs typeface="Lato" panose="020F0502020204030203" pitchFamily="34" charset="0"/>
                </a:rPr>
                <a:t>business context</a:t>
              </a:r>
            </a:p>
          </p:txBody>
        </p:sp>
      </p:grpSp>
      <p:grpSp>
        <p:nvGrpSpPr>
          <p:cNvPr id="11" name="Group 10">
            <a:extLst>
              <a:ext uri="{FF2B5EF4-FFF2-40B4-BE49-F238E27FC236}">
                <a16:creationId xmlns:a16="http://schemas.microsoft.com/office/drawing/2014/main" id="{08F1C382-11CD-4CF0-D2FE-C70836943052}"/>
              </a:ext>
            </a:extLst>
          </p:cNvPr>
          <p:cNvGrpSpPr/>
          <p:nvPr/>
        </p:nvGrpSpPr>
        <p:grpSpPr>
          <a:xfrm>
            <a:off x="464336" y="1772849"/>
            <a:ext cx="4756593" cy="914400"/>
            <a:chOff x="700413" y="3523635"/>
            <a:chExt cx="4297680" cy="1244013"/>
          </a:xfrm>
        </p:grpSpPr>
        <p:sp>
          <p:nvSpPr>
            <p:cNvPr id="12" name="Rectangle: Rounded Corners 13">
              <a:extLst>
                <a:ext uri="{FF2B5EF4-FFF2-40B4-BE49-F238E27FC236}">
                  <a16:creationId xmlns:a16="http://schemas.microsoft.com/office/drawing/2014/main" id="{3BCE8279-F9D0-2FA5-533A-6EAA045C455F}"/>
                </a:ext>
              </a:extLst>
            </p:cNvPr>
            <p:cNvSpPr/>
            <p:nvPr/>
          </p:nvSpPr>
          <p:spPr>
            <a:xfrm>
              <a:off x="700413" y="3523635"/>
              <a:ext cx="4297680" cy="1244013"/>
            </a:xfrm>
            <a:prstGeom prst="roundRect">
              <a:avLst/>
            </a:prstGeom>
            <a:solidFill>
              <a:srgbClr val="281A42"/>
            </a:solidFill>
            <a:ln w="19050" cmpd="sng">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Lato" panose="020F0502020204030203" pitchFamily="34" charset="0"/>
                <a:cs typeface="Lato" panose="020F0502020204030203" pitchFamily="34" charset="0"/>
              </a:endParaRPr>
            </a:p>
          </p:txBody>
        </p:sp>
        <p:sp>
          <p:nvSpPr>
            <p:cNvPr id="18" name="Rectangle 17">
              <a:extLst>
                <a:ext uri="{FF2B5EF4-FFF2-40B4-BE49-F238E27FC236}">
                  <a16:creationId xmlns:a16="http://schemas.microsoft.com/office/drawing/2014/main" id="{5B601CB4-223C-9DA1-8551-C27242DE0275}"/>
                </a:ext>
              </a:extLst>
            </p:cNvPr>
            <p:cNvSpPr/>
            <p:nvPr/>
          </p:nvSpPr>
          <p:spPr>
            <a:xfrm>
              <a:off x="700413" y="3523635"/>
              <a:ext cx="4297680" cy="1244013"/>
            </a:xfrm>
            <a:prstGeom prst="rect">
              <a:avLst/>
            </a:prstGeom>
            <a:noFill/>
            <a:ln w="38100" cmpd="dbl">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0" normalizeH="0" baseline="0" noProof="0" dirty="0">
                  <a:ln>
                    <a:noFill/>
                  </a:ln>
                  <a:solidFill>
                    <a:schemeClr val="bg1"/>
                  </a:solidFill>
                  <a:effectLst/>
                  <a:uLnTx/>
                  <a:uFillTx/>
                  <a:latin typeface="Segoe UI" pitchFamily="34" charset="0"/>
                  <a:ea typeface="Lato" panose="020F0502020204030203" pitchFamily="34" charset="0"/>
                  <a:cs typeface="Lato" panose="020F0502020204030203" pitchFamily="34" charset="0"/>
                </a:rPr>
                <a:t>Succession for Status Quo</a:t>
              </a:r>
            </a:p>
            <a:p>
              <a:pPr lvl="0" algn="ctr">
                <a:spcBef>
                  <a:spcPts val="600"/>
                </a:spcBef>
                <a:defRPr/>
              </a:pPr>
              <a:r>
                <a:rPr lang="en-US" sz="1400" spc="-10" dirty="0">
                  <a:solidFill>
                    <a:schemeClr val="bg1"/>
                  </a:solidFill>
                  <a:latin typeface="Arial" pitchFamily="34" charset="0"/>
                  <a:ea typeface="Lato" panose="020F0502020204030203" pitchFamily="34" charset="0"/>
                  <a:cs typeface="Lato" panose="020F0502020204030203" pitchFamily="34" charset="0"/>
                </a:rPr>
                <a:t>Assume today’s role &amp; results are valid for the future</a:t>
              </a:r>
              <a:endParaRPr kumimoji="0" lang="en-US" sz="1400" i="0" u="none" strike="noStrike" kern="1200" cap="none" spc="-10" normalizeH="0" baseline="0" noProof="0" dirty="0">
                <a:ln>
                  <a:noFill/>
                </a:ln>
                <a:solidFill>
                  <a:schemeClr val="bg1"/>
                </a:solidFill>
                <a:effectLst/>
                <a:uLnTx/>
                <a:uFillTx/>
                <a:latin typeface="Arial" pitchFamily="34" charset="0"/>
                <a:ea typeface="Lato" panose="020F0502020204030203" pitchFamily="34" charset="0"/>
                <a:cs typeface="Lato" panose="020F0502020204030203" pitchFamily="34" charset="0"/>
              </a:endParaRPr>
            </a:p>
          </p:txBody>
        </p:sp>
      </p:grpSp>
      <p:grpSp>
        <p:nvGrpSpPr>
          <p:cNvPr id="29" name="Group 28">
            <a:extLst>
              <a:ext uri="{FF2B5EF4-FFF2-40B4-BE49-F238E27FC236}">
                <a16:creationId xmlns:a16="http://schemas.microsoft.com/office/drawing/2014/main" id="{8026EFBE-5EED-1F82-933C-4CA40547C9C8}"/>
              </a:ext>
            </a:extLst>
          </p:cNvPr>
          <p:cNvGrpSpPr/>
          <p:nvPr/>
        </p:nvGrpSpPr>
        <p:grpSpPr>
          <a:xfrm>
            <a:off x="464336" y="4894093"/>
            <a:ext cx="4756593" cy="914400"/>
            <a:chOff x="726539" y="4956916"/>
            <a:chExt cx="4297680" cy="1244348"/>
          </a:xfrm>
        </p:grpSpPr>
        <p:sp>
          <p:nvSpPr>
            <p:cNvPr id="30" name="Rectangle: Rounded Corners 15">
              <a:extLst>
                <a:ext uri="{FF2B5EF4-FFF2-40B4-BE49-F238E27FC236}">
                  <a16:creationId xmlns:a16="http://schemas.microsoft.com/office/drawing/2014/main" id="{10534AB5-E95A-E079-67CC-38AA7412C305}"/>
                </a:ext>
              </a:extLst>
            </p:cNvPr>
            <p:cNvSpPr/>
            <p:nvPr/>
          </p:nvSpPr>
          <p:spPr>
            <a:xfrm>
              <a:off x="726539" y="4957251"/>
              <a:ext cx="4297680" cy="1244013"/>
            </a:xfrm>
            <a:prstGeom prst="roundRect">
              <a:avLst/>
            </a:prstGeom>
            <a:solidFill>
              <a:srgbClr val="281A42"/>
            </a:solidFill>
            <a:ln w="19050" cmpd="sng">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10" normalizeH="0" baseline="0" noProof="0">
                <a:ln>
                  <a:noFill/>
                </a:ln>
                <a:solidFill>
                  <a:schemeClr val="bg1"/>
                </a:solidFill>
                <a:effectLst/>
                <a:uLnTx/>
                <a:uFillTx/>
                <a:latin typeface="Arial" pitchFamily="34" charset="0"/>
                <a:ea typeface="Lato" panose="020F0502020204030203" pitchFamily="34" charset="0"/>
                <a:cs typeface="Lato" panose="020F0502020204030203" pitchFamily="34" charset="0"/>
              </a:endParaRPr>
            </a:p>
          </p:txBody>
        </p:sp>
        <p:sp>
          <p:nvSpPr>
            <p:cNvPr id="31" name="Rectangle 30">
              <a:extLst>
                <a:ext uri="{FF2B5EF4-FFF2-40B4-BE49-F238E27FC236}">
                  <a16:creationId xmlns:a16="http://schemas.microsoft.com/office/drawing/2014/main" id="{CEA3E57F-99FA-B73C-AA2F-141E29345038}"/>
                </a:ext>
              </a:extLst>
            </p:cNvPr>
            <p:cNvSpPr/>
            <p:nvPr/>
          </p:nvSpPr>
          <p:spPr>
            <a:xfrm>
              <a:off x="726539" y="4956916"/>
              <a:ext cx="4297680" cy="1244013"/>
            </a:xfrm>
            <a:prstGeom prst="rect">
              <a:avLst/>
            </a:prstGeom>
            <a:noFill/>
            <a:ln w="38100" cmpd="dbl">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r>
                <a:rPr lang="en-US" sz="1600" b="1" spc="-10" dirty="0">
                  <a:solidFill>
                    <a:schemeClr val="bg1"/>
                  </a:solidFill>
                  <a:latin typeface="Segoe UI" pitchFamily="34" charset="0"/>
                  <a:ea typeface="Lato" panose="020F0502020204030203" pitchFamily="34" charset="0"/>
                  <a:cs typeface="Lato" panose="020F0502020204030203" pitchFamily="34" charset="0"/>
                </a:rPr>
                <a:t>Development Builds Better Leaders</a:t>
              </a:r>
              <a:endParaRPr kumimoji="0" lang="en-US" sz="1600" b="1" i="0" u="none" strike="noStrike" kern="1200" cap="none" spc="-10" normalizeH="0" baseline="0" noProof="0" dirty="0">
                <a:ln>
                  <a:noFill/>
                </a:ln>
                <a:solidFill>
                  <a:schemeClr val="bg1"/>
                </a:solidFill>
                <a:effectLst/>
                <a:uLnTx/>
                <a:uFillTx/>
                <a:latin typeface="Segoe UI" pitchFamily="34" charset="0"/>
                <a:ea typeface="Lato" panose="020F0502020204030203" pitchFamily="34" charset="0"/>
                <a:cs typeface="Lato" panose="020F0502020204030203" pitchFamily="34" charset="0"/>
              </a:endParaRPr>
            </a:p>
            <a:p>
              <a:pPr algn="ctr">
                <a:spcBef>
                  <a:spcPts val="600"/>
                </a:spcBef>
                <a:spcAft>
                  <a:spcPts val="800"/>
                </a:spcAft>
                <a:defRPr/>
              </a:pPr>
              <a:r>
                <a:rPr lang="en-US" sz="1400" spc="-10" dirty="0">
                  <a:solidFill>
                    <a:schemeClr val="bg1"/>
                  </a:solidFill>
                  <a:latin typeface="Arial" pitchFamily="34" charset="0"/>
                  <a:ea typeface="Lato" panose="020F0502020204030203" pitchFamily="34" charset="0"/>
                  <a:cs typeface="Lato" panose="020F0502020204030203" pitchFamily="34" charset="0"/>
                </a:rPr>
                <a:t>Plans include activities and resources to build overall leadership competencies connected to many roles</a:t>
              </a:r>
              <a:endParaRPr kumimoji="0" lang="en-US" sz="1400" b="0" i="0" u="none" strike="noStrike" kern="1200" cap="none" spc="-10" normalizeH="0" baseline="0" noProof="0" dirty="0">
                <a:ln>
                  <a:noFill/>
                </a:ln>
                <a:solidFill>
                  <a:schemeClr val="bg1"/>
                </a:solidFill>
                <a:effectLst/>
                <a:uLnTx/>
                <a:uFillTx/>
                <a:latin typeface="Arial" pitchFamily="34" charset="0"/>
                <a:ea typeface="Lato" panose="020F0502020204030203" pitchFamily="34" charset="0"/>
                <a:cs typeface="Lato" panose="020F0502020204030203" pitchFamily="34" charset="0"/>
              </a:endParaRPr>
            </a:p>
          </p:txBody>
        </p:sp>
      </p:grpSp>
      <p:grpSp>
        <p:nvGrpSpPr>
          <p:cNvPr id="32" name="Group 31">
            <a:extLst>
              <a:ext uri="{FF2B5EF4-FFF2-40B4-BE49-F238E27FC236}">
                <a16:creationId xmlns:a16="http://schemas.microsoft.com/office/drawing/2014/main" id="{C9EE6F55-55FF-3778-7FD7-F2D44B4C1712}"/>
              </a:ext>
            </a:extLst>
          </p:cNvPr>
          <p:cNvGrpSpPr/>
          <p:nvPr/>
        </p:nvGrpSpPr>
        <p:grpSpPr>
          <a:xfrm>
            <a:off x="5997675" y="2806913"/>
            <a:ext cx="5821015" cy="914400"/>
            <a:chOff x="6697787" y="1559389"/>
            <a:chExt cx="4890221" cy="1463041"/>
          </a:xfrm>
        </p:grpSpPr>
        <p:sp>
          <p:nvSpPr>
            <p:cNvPr id="33" name="Rectangle: Rounded Corners 16">
              <a:extLst>
                <a:ext uri="{FF2B5EF4-FFF2-40B4-BE49-F238E27FC236}">
                  <a16:creationId xmlns:a16="http://schemas.microsoft.com/office/drawing/2014/main" id="{A7E0CBAB-EF57-C31D-77DF-1D76F5D0DE02}"/>
                </a:ext>
              </a:extLst>
            </p:cNvPr>
            <p:cNvSpPr/>
            <p:nvPr/>
          </p:nvSpPr>
          <p:spPr>
            <a:xfrm>
              <a:off x="6697787" y="1559389"/>
              <a:ext cx="4890221" cy="1463039"/>
            </a:xfrm>
            <a:prstGeom prst="roundRect">
              <a:avLst/>
            </a:prstGeom>
            <a:solidFill>
              <a:srgbClr val="C8BFFF"/>
            </a:solidFill>
            <a:ln w="19050" cmpd="sng">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1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endParaRPr>
            </a:p>
          </p:txBody>
        </p:sp>
        <p:sp>
          <p:nvSpPr>
            <p:cNvPr id="34" name="Rectangle 33">
              <a:extLst>
                <a:ext uri="{FF2B5EF4-FFF2-40B4-BE49-F238E27FC236}">
                  <a16:creationId xmlns:a16="http://schemas.microsoft.com/office/drawing/2014/main" id="{5DC58ADB-9107-DCC7-F1F8-0938B0163E95}"/>
                </a:ext>
              </a:extLst>
            </p:cNvPr>
            <p:cNvSpPr/>
            <p:nvPr/>
          </p:nvSpPr>
          <p:spPr>
            <a:xfrm>
              <a:off x="6708360" y="1559391"/>
              <a:ext cx="4874750" cy="1463039"/>
            </a:xfrm>
            <a:prstGeom prst="rect">
              <a:avLst/>
            </a:prstGeom>
            <a:noFill/>
            <a:ln w="38100" cmpd="dbl">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10"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rPr>
                <a:t>Superpowers</a:t>
              </a:r>
            </a:p>
            <a:p>
              <a:pPr algn="ctr">
                <a:spcBef>
                  <a:spcPts val="600"/>
                </a:spcBef>
                <a:spcAft>
                  <a:spcPts val="800"/>
                </a:spcAft>
                <a:defRPr/>
              </a:pPr>
              <a:r>
                <a:rPr kumimoji="0" lang="en-US" sz="1400" b="0" i="0" u="none" strike="noStrike" kern="1200" cap="none" spc="-10" normalizeH="0" baseline="0" noProof="0" dirty="0">
                  <a:ln>
                    <a:noFill/>
                  </a:ln>
                  <a:solidFill>
                    <a:srgbClr val="1D1D1D"/>
                  </a:solidFill>
                  <a:effectLst/>
                  <a:uLnTx/>
                  <a:uFillTx/>
                  <a:latin typeface="Arial" pitchFamily="34" charset="0"/>
                  <a:ea typeface="Lato" panose="020F0502020204030203" pitchFamily="34" charset="0"/>
                  <a:cs typeface="Lato" panose="020F0502020204030203" pitchFamily="34" charset="0"/>
                </a:rPr>
                <a:t>Identify few critical </a:t>
              </a:r>
              <a:r>
                <a:rPr lang="en-US" sz="1400" spc="-10" dirty="0">
                  <a:solidFill>
                    <a:srgbClr val="1D1D1D"/>
                  </a:solidFill>
                  <a:latin typeface="Arial" pitchFamily="34" charset="0"/>
                  <a:ea typeface="Lato" panose="020F0502020204030203" pitchFamily="34" charset="0"/>
                  <a:cs typeface="Lato" panose="020F0502020204030203" pitchFamily="34" charset="0"/>
                </a:rPr>
                <a:t>superpowers </a:t>
              </a:r>
              <a:r>
                <a:rPr kumimoji="0" lang="en-US" sz="1400" b="0" i="0" u="none" strike="noStrike" kern="1200" cap="none" spc="-10" normalizeH="0" baseline="0" noProof="0" dirty="0">
                  <a:ln>
                    <a:noFill/>
                  </a:ln>
                  <a:solidFill>
                    <a:srgbClr val="1D1D1D"/>
                  </a:solidFill>
                  <a:effectLst/>
                  <a:uLnTx/>
                  <a:uFillTx/>
                  <a:latin typeface="Arial" pitchFamily="34" charset="0"/>
                  <a:ea typeface="Lato" panose="020F0502020204030203" pitchFamily="34" charset="0"/>
                  <a:cs typeface="Lato" panose="020F0502020204030203" pitchFamily="34" charset="0"/>
                </a:rPr>
                <a:t>in overcoming risk, and assess for evidence that shows the candidate can deliver</a:t>
              </a:r>
              <a:r>
                <a:rPr lang="en-US" sz="1400" spc="-10" dirty="0">
                  <a:solidFill>
                    <a:srgbClr val="1D1D1D"/>
                  </a:solidFill>
                  <a:latin typeface="Arial" pitchFamily="34" charset="0"/>
                  <a:ea typeface="Lato" panose="020F0502020204030203" pitchFamily="34" charset="0"/>
                  <a:cs typeface="Lato" panose="020F0502020204030203" pitchFamily="34" charset="0"/>
                </a:rPr>
                <a:t> value</a:t>
              </a:r>
              <a:endParaRPr kumimoji="0" lang="en-US" sz="1400" b="0" i="0" u="none" strike="noStrike" kern="1200" cap="none" spc="-10" normalizeH="0" baseline="0" noProof="0" dirty="0">
                <a:ln>
                  <a:noFill/>
                </a:ln>
                <a:solidFill>
                  <a:srgbClr val="1D1D1D"/>
                </a:solidFill>
                <a:effectLst/>
                <a:uLnTx/>
                <a:uFillTx/>
                <a:latin typeface="Arial" pitchFamily="34" charset="0"/>
                <a:ea typeface="Lato" panose="020F0502020204030203" pitchFamily="34" charset="0"/>
                <a:cs typeface="Lato" panose="020F0502020204030203" pitchFamily="34" charset="0"/>
              </a:endParaRPr>
            </a:p>
          </p:txBody>
        </p:sp>
      </p:grpSp>
      <p:grpSp>
        <p:nvGrpSpPr>
          <p:cNvPr id="35" name="Group 34">
            <a:extLst>
              <a:ext uri="{FF2B5EF4-FFF2-40B4-BE49-F238E27FC236}">
                <a16:creationId xmlns:a16="http://schemas.microsoft.com/office/drawing/2014/main" id="{FDDE3A02-E660-42CA-379F-328482E3069D}"/>
              </a:ext>
            </a:extLst>
          </p:cNvPr>
          <p:cNvGrpSpPr/>
          <p:nvPr/>
        </p:nvGrpSpPr>
        <p:grpSpPr>
          <a:xfrm>
            <a:off x="5997675" y="1775556"/>
            <a:ext cx="5821016" cy="914400"/>
            <a:chOff x="6723912" y="3230092"/>
            <a:chExt cx="4890221" cy="1374526"/>
          </a:xfrm>
        </p:grpSpPr>
        <p:sp>
          <p:nvSpPr>
            <p:cNvPr id="36" name="Rectangle: Rounded Corners 22">
              <a:extLst>
                <a:ext uri="{FF2B5EF4-FFF2-40B4-BE49-F238E27FC236}">
                  <a16:creationId xmlns:a16="http://schemas.microsoft.com/office/drawing/2014/main" id="{5E8AFC36-B22A-4068-12C2-5F9DAAA7EC4F}"/>
                </a:ext>
              </a:extLst>
            </p:cNvPr>
            <p:cNvSpPr/>
            <p:nvPr/>
          </p:nvSpPr>
          <p:spPr>
            <a:xfrm>
              <a:off x="6723913" y="3233019"/>
              <a:ext cx="4874749" cy="1371599"/>
            </a:xfrm>
            <a:prstGeom prst="roundRect">
              <a:avLst/>
            </a:prstGeom>
            <a:solidFill>
              <a:srgbClr val="C8BFFF"/>
            </a:solidFill>
            <a:ln w="19050" cmpd="sng">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10" normalizeH="0" baseline="0" noProof="0" dirty="0">
                <a:ln>
                  <a:noFill/>
                </a:ln>
                <a:solidFill>
                  <a:srgbClr val="1D1D1D"/>
                </a:solidFill>
                <a:effectLst/>
                <a:uLnTx/>
                <a:uFillTx/>
                <a:latin typeface="Arial" pitchFamily="34" charset="0"/>
                <a:ea typeface="Lato" panose="020F0502020204030203" pitchFamily="34" charset="0"/>
                <a:cs typeface="Lato" panose="020F0502020204030203" pitchFamily="34" charset="0"/>
              </a:endParaRPr>
            </a:p>
          </p:txBody>
        </p:sp>
        <p:sp>
          <p:nvSpPr>
            <p:cNvPr id="37" name="Rectangle 36">
              <a:extLst>
                <a:ext uri="{FF2B5EF4-FFF2-40B4-BE49-F238E27FC236}">
                  <a16:creationId xmlns:a16="http://schemas.microsoft.com/office/drawing/2014/main" id="{570E3ABF-82B5-A8AA-CA94-CFF7C2FFE40D}"/>
                </a:ext>
              </a:extLst>
            </p:cNvPr>
            <p:cNvSpPr/>
            <p:nvPr/>
          </p:nvSpPr>
          <p:spPr>
            <a:xfrm>
              <a:off x="6723912" y="3230092"/>
              <a:ext cx="4890221" cy="1371599"/>
            </a:xfrm>
            <a:prstGeom prst="rect">
              <a:avLst/>
            </a:prstGeom>
            <a:noFill/>
            <a:ln w="38100" cmpd="dbl">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0"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rPr>
                <a:t>Future-Focused Outcomes (Jobs to be Done)</a:t>
              </a:r>
            </a:p>
            <a:p>
              <a:pPr algn="ctr">
                <a:spcBef>
                  <a:spcPts val="600"/>
                </a:spcBef>
              </a:pPr>
              <a:r>
                <a:rPr lang="en-US" sz="1400" spc="-10" dirty="0">
                  <a:solidFill>
                    <a:srgbClr val="1D1D1D"/>
                  </a:solidFill>
                  <a:latin typeface="Arial" pitchFamily="34" charset="0"/>
                  <a:ea typeface="Lato" panose="020F0502020204030203" pitchFamily="34" charset="0"/>
                  <a:cs typeface="Lato" panose="020F0502020204030203" pitchFamily="34" charset="0"/>
                </a:rPr>
                <a:t>Alignment on specific, future-focused outcomes successor must deliver</a:t>
              </a:r>
            </a:p>
          </p:txBody>
        </p:sp>
      </p:grpSp>
      <p:grpSp>
        <p:nvGrpSpPr>
          <p:cNvPr id="38" name="Group 37">
            <a:extLst>
              <a:ext uri="{FF2B5EF4-FFF2-40B4-BE49-F238E27FC236}">
                <a16:creationId xmlns:a16="http://schemas.microsoft.com/office/drawing/2014/main" id="{E2722AE6-B91B-8C48-1BDC-019B863F3D0E}"/>
              </a:ext>
            </a:extLst>
          </p:cNvPr>
          <p:cNvGrpSpPr/>
          <p:nvPr/>
        </p:nvGrpSpPr>
        <p:grpSpPr>
          <a:xfrm>
            <a:off x="5997673" y="4892316"/>
            <a:ext cx="5831673" cy="914400"/>
            <a:chOff x="6493493" y="4752402"/>
            <a:chExt cx="5120641" cy="1465966"/>
          </a:xfrm>
        </p:grpSpPr>
        <p:sp>
          <p:nvSpPr>
            <p:cNvPr id="39" name="Rectangle: Rounded Corners 23">
              <a:extLst>
                <a:ext uri="{FF2B5EF4-FFF2-40B4-BE49-F238E27FC236}">
                  <a16:creationId xmlns:a16="http://schemas.microsoft.com/office/drawing/2014/main" id="{B23BE304-6064-CFC5-40E2-826253C6844D}"/>
                </a:ext>
              </a:extLst>
            </p:cNvPr>
            <p:cNvSpPr/>
            <p:nvPr/>
          </p:nvSpPr>
          <p:spPr>
            <a:xfrm>
              <a:off x="6493494" y="4755328"/>
              <a:ext cx="5120640" cy="1463040"/>
            </a:xfrm>
            <a:prstGeom prst="roundRect">
              <a:avLst/>
            </a:prstGeom>
            <a:solidFill>
              <a:srgbClr val="C8BFFF"/>
            </a:solidFill>
            <a:ln w="19050" cmpd="sng">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10" normalizeH="0" baseline="0" noProof="0" dirty="0">
                <a:ln>
                  <a:noFill/>
                </a:ln>
                <a:solidFill>
                  <a:srgbClr val="FFFFFF"/>
                </a:solidFill>
                <a:effectLst/>
                <a:uLnTx/>
                <a:uFillTx/>
                <a:latin typeface="Arial" pitchFamily="34" charset="0"/>
                <a:ea typeface="Lato" panose="020F0502020204030203" pitchFamily="34" charset="0"/>
                <a:cs typeface="Lato" panose="020F0502020204030203" pitchFamily="34" charset="0"/>
              </a:endParaRPr>
            </a:p>
          </p:txBody>
        </p:sp>
        <p:sp>
          <p:nvSpPr>
            <p:cNvPr id="40" name="Rectangle 39">
              <a:extLst>
                <a:ext uri="{FF2B5EF4-FFF2-40B4-BE49-F238E27FC236}">
                  <a16:creationId xmlns:a16="http://schemas.microsoft.com/office/drawing/2014/main" id="{839E735C-641D-F98F-094B-634122EE67CB}"/>
                </a:ext>
              </a:extLst>
            </p:cNvPr>
            <p:cNvSpPr/>
            <p:nvPr/>
          </p:nvSpPr>
          <p:spPr>
            <a:xfrm>
              <a:off x="6493493" y="4752402"/>
              <a:ext cx="5120640" cy="1463040"/>
            </a:xfrm>
            <a:prstGeom prst="rect">
              <a:avLst/>
            </a:prstGeom>
            <a:noFill/>
            <a:ln w="38100" cmpd="dbl">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10"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rPr>
                <a:t>Targeted Development Closes Readiness</a:t>
              </a:r>
            </a:p>
            <a:p>
              <a:pPr lvl="0" algn="ctr">
                <a:spcBef>
                  <a:spcPts val="600"/>
                </a:spcBef>
                <a:spcAft>
                  <a:spcPts val="800"/>
                </a:spcAft>
                <a:defRPr/>
              </a:pPr>
              <a:r>
                <a:rPr lang="en-US" sz="1400" spc="-10" dirty="0">
                  <a:solidFill>
                    <a:srgbClr val="1D1D1D"/>
                  </a:solidFill>
                  <a:latin typeface="Arial" pitchFamily="34" charset="0"/>
                  <a:ea typeface="Lato" panose="020F0502020204030203" pitchFamily="34" charset="0"/>
                  <a:cs typeface="Lato" panose="020F0502020204030203" pitchFamily="34" charset="0"/>
                </a:rPr>
                <a:t>A personalized development plan that prepares successor to perform against future outcomes in a target role @ specific time </a:t>
              </a:r>
              <a:endParaRPr kumimoji="0" lang="en-US" sz="1400" i="0" u="none" strike="noStrike" kern="1200" cap="none" spc="-10" normalizeH="0" baseline="0" noProof="0" dirty="0">
                <a:ln>
                  <a:noFill/>
                </a:ln>
                <a:solidFill>
                  <a:srgbClr val="1D1D1D"/>
                </a:solidFill>
                <a:effectLst/>
                <a:uLnTx/>
                <a:uFillTx/>
                <a:latin typeface="Arial" pitchFamily="34" charset="0"/>
                <a:ea typeface="Lato" panose="020F0502020204030203" pitchFamily="34" charset="0"/>
                <a:cs typeface="Lato" panose="020F0502020204030203" pitchFamily="34" charset="0"/>
              </a:endParaRPr>
            </a:p>
          </p:txBody>
        </p:sp>
      </p:grpSp>
      <p:grpSp>
        <p:nvGrpSpPr>
          <p:cNvPr id="45" name="Group 44">
            <a:extLst>
              <a:ext uri="{FF2B5EF4-FFF2-40B4-BE49-F238E27FC236}">
                <a16:creationId xmlns:a16="http://schemas.microsoft.com/office/drawing/2014/main" id="{D82A8ADC-C76F-D4E2-E1A1-CF1033C5DF3C}"/>
              </a:ext>
            </a:extLst>
          </p:cNvPr>
          <p:cNvGrpSpPr/>
          <p:nvPr/>
        </p:nvGrpSpPr>
        <p:grpSpPr>
          <a:xfrm>
            <a:off x="464336" y="3852188"/>
            <a:ext cx="4756593" cy="914400"/>
            <a:chOff x="726539" y="4956917"/>
            <a:chExt cx="4297680" cy="1244347"/>
          </a:xfrm>
        </p:grpSpPr>
        <p:sp>
          <p:nvSpPr>
            <p:cNvPr id="46" name="Rectangle: Rounded Corners 15">
              <a:extLst>
                <a:ext uri="{FF2B5EF4-FFF2-40B4-BE49-F238E27FC236}">
                  <a16:creationId xmlns:a16="http://schemas.microsoft.com/office/drawing/2014/main" id="{CAEAB9F5-F770-F3DD-C224-8132ADF31429}"/>
                </a:ext>
              </a:extLst>
            </p:cNvPr>
            <p:cNvSpPr/>
            <p:nvPr/>
          </p:nvSpPr>
          <p:spPr>
            <a:xfrm>
              <a:off x="726539" y="4957251"/>
              <a:ext cx="4297680" cy="1244013"/>
            </a:xfrm>
            <a:prstGeom prst="roundRect">
              <a:avLst/>
            </a:prstGeom>
            <a:solidFill>
              <a:srgbClr val="281A42"/>
            </a:solidFill>
            <a:ln w="19050" cmpd="sng">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10" normalizeH="0" baseline="0" noProof="0">
                <a:ln>
                  <a:noFill/>
                </a:ln>
                <a:solidFill>
                  <a:schemeClr val="bg1"/>
                </a:solidFill>
                <a:effectLst/>
                <a:uLnTx/>
                <a:uFillTx/>
                <a:latin typeface="Arial" pitchFamily="34" charset="0"/>
                <a:ea typeface="Lato" panose="020F0502020204030203" pitchFamily="34" charset="0"/>
                <a:cs typeface="Lato" panose="020F0502020204030203" pitchFamily="34" charset="0"/>
              </a:endParaRPr>
            </a:p>
          </p:txBody>
        </p:sp>
        <p:sp>
          <p:nvSpPr>
            <p:cNvPr id="47" name="Rectangle 46">
              <a:extLst>
                <a:ext uri="{FF2B5EF4-FFF2-40B4-BE49-F238E27FC236}">
                  <a16:creationId xmlns:a16="http://schemas.microsoft.com/office/drawing/2014/main" id="{6FE1E617-6389-0633-5218-754519B94EF4}"/>
                </a:ext>
              </a:extLst>
            </p:cNvPr>
            <p:cNvSpPr/>
            <p:nvPr/>
          </p:nvSpPr>
          <p:spPr>
            <a:xfrm>
              <a:off x="726539" y="4956917"/>
              <a:ext cx="4297680" cy="1244013"/>
            </a:xfrm>
            <a:prstGeom prst="rect">
              <a:avLst/>
            </a:prstGeom>
            <a:noFill/>
            <a:ln w="38100" cmpd="dbl">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10" normalizeH="0" baseline="0" noProof="0" dirty="0">
                  <a:ln>
                    <a:noFill/>
                  </a:ln>
                  <a:solidFill>
                    <a:schemeClr val="bg1"/>
                  </a:solidFill>
                  <a:effectLst/>
                  <a:uLnTx/>
                  <a:uFillTx/>
                  <a:latin typeface="Segoe UI" pitchFamily="34" charset="0"/>
                  <a:ea typeface="Lato" panose="020F0502020204030203" pitchFamily="34" charset="0"/>
                  <a:cs typeface="Lato" panose="020F0502020204030203" pitchFamily="34" charset="0"/>
                </a:rPr>
                <a:t>Succession Readiness Is Broad</a:t>
              </a:r>
            </a:p>
            <a:p>
              <a:pPr lvl="0" algn="ctr">
                <a:spcBef>
                  <a:spcPts val="600"/>
                </a:spcBef>
                <a:spcAft>
                  <a:spcPts val="800"/>
                </a:spcAft>
                <a:defRPr/>
              </a:pPr>
              <a:r>
                <a:rPr lang="en-US" sz="1400" spc="-10" dirty="0">
                  <a:solidFill>
                    <a:schemeClr val="bg1"/>
                  </a:solidFill>
                  <a:latin typeface="Arial" pitchFamily="34" charset="0"/>
                  <a:ea typeface="Lato" panose="020F0502020204030203" pitchFamily="34" charset="0"/>
                  <a:cs typeface="Lato" panose="020F0502020204030203" pitchFamily="34" charset="0"/>
                </a:rPr>
                <a:t>Static view of the job &amp; development over many years promotes a greater number of successors</a:t>
              </a:r>
              <a:endParaRPr kumimoji="0" lang="en-US" sz="1400" i="0" u="none" strike="noStrike" kern="1200" cap="none" spc="-10" normalizeH="0" baseline="0" noProof="0" dirty="0">
                <a:ln>
                  <a:noFill/>
                </a:ln>
                <a:solidFill>
                  <a:schemeClr val="bg1"/>
                </a:solidFill>
                <a:effectLst/>
                <a:uLnTx/>
                <a:uFillTx/>
                <a:latin typeface="Arial" pitchFamily="34" charset="0"/>
                <a:ea typeface="Lato" panose="020F0502020204030203" pitchFamily="34" charset="0"/>
                <a:cs typeface="Lato" panose="020F0502020204030203" pitchFamily="34" charset="0"/>
              </a:endParaRPr>
            </a:p>
          </p:txBody>
        </p:sp>
      </p:grpSp>
      <p:grpSp>
        <p:nvGrpSpPr>
          <p:cNvPr id="48" name="Group 47">
            <a:extLst>
              <a:ext uri="{FF2B5EF4-FFF2-40B4-BE49-F238E27FC236}">
                <a16:creationId xmlns:a16="http://schemas.microsoft.com/office/drawing/2014/main" id="{E8BCFDCD-39FC-3ECC-37D8-0DA6E63AEF89}"/>
              </a:ext>
            </a:extLst>
          </p:cNvPr>
          <p:cNvGrpSpPr/>
          <p:nvPr/>
        </p:nvGrpSpPr>
        <p:grpSpPr>
          <a:xfrm>
            <a:off x="5997674" y="3851532"/>
            <a:ext cx="5831671" cy="914400"/>
            <a:chOff x="6493493" y="4752402"/>
            <a:chExt cx="5120640" cy="1465966"/>
          </a:xfrm>
        </p:grpSpPr>
        <p:sp>
          <p:nvSpPr>
            <p:cNvPr id="49" name="Rectangle: Rounded Corners 23">
              <a:extLst>
                <a:ext uri="{FF2B5EF4-FFF2-40B4-BE49-F238E27FC236}">
                  <a16:creationId xmlns:a16="http://schemas.microsoft.com/office/drawing/2014/main" id="{6F17B2B8-B215-F0D9-B3FA-C908039B7B4A}"/>
                </a:ext>
              </a:extLst>
            </p:cNvPr>
            <p:cNvSpPr/>
            <p:nvPr/>
          </p:nvSpPr>
          <p:spPr>
            <a:xfrm>
              <a:off x="6493493" y="4755328"/>
              <a:ext cx="5120640" cy="1463040"/>
            </a:xfrm>
            <a:prstGeom prst="roundRect">
              <a:avLst/>
            </a:prstGeom>
            <a:solidFill>
              <a:srgbClr val="C8BFFF"/>
            </a:solidFill>
            <a:ln w="19050" cmpd="sng">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1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endParaRPr>
            </a:p>
          </p:txBody>
        </p:sp>
        <p:sp>
          <p:nvSpPr>
            <p:cNvPr id="50" name="Rectangle 49">
              <a:extLst>
                <a:ext uri="{FF2B5EF4-FFF2-40B4-BE49-F238E27FC236}">
                  <a16:creationId xmlns:a16="http://schemas.microsoft.com/office/drawing/2014/main" id="{68898B8F-F1B4-EF9E-BD55-B056A647E1CA}"/>
                </a:ext>
              </a:extLst>
            </p:cNvPr>
            <p:cNvSpPr/>
            <p:nvPr/>
          </p:nvSpPr>
          <p:spPr>
            <a:xfrm>
              <a:off x="6524601" y="4752402"/>
              <a:ext cx="5089532" cy="1463040"/>
            </a:xfrm>
            <a:prstGeom prst="rect">
              <a:avLst/>
            </a:prstGeom>
            <a:noFill/>
            <a:ln w="38100" cmpd="dbl">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10"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rPr>
                <a:t>Succession Readiness More Precise </a:t>
              </a:r>
            </a:p>
            <a:p>
              <a:pPr marR="0" lvl="0" indent="0" algn="ctr" defTabSz="914400" rtl="0" eaLnBrk="1" fontAlgn="auto" latinLnBrk="0" hangingPunct="1">
                <a:lnSpc>
                  <a:spcPct val="100000"/>
                </a:lnSpc>
                <a:spcBef>
                  <a:spcPts val="600"/>
                </a:spcBef>
                <a:spcAft>
                  <a:spcPts val="0"/>
                </a:spcAft>
                <a:buClrTx/>
                <a:buSzTx/>
                <a:buFontTx/>
                <a:buNone/>
                <a:tabLst/>
                <a:defRPr/>
              </a:pPr>
              <a:r>
                <a:rPr lang="en-US" sz="1400" spc="-10" dirty="0">
                  <a:solidFill>
                    <a:srgbClr val="1D1D1D"/>
                  </a:solidFill>
                  <a:latin typeface="Arial" pitchFamily="34" charset="0"/>
                  <a:ea typeface="Lato" panose="020F0502020204030203" pitchFamily="34" charset="0"/>
                  <a:cs typeface="Lato" panose="020F0502020204030203" pitchFamily="34" charset="0"/>
                </a:rPr>
                <a:t>Given time-bound outcomes, succession readiness limited to those ready-now or those ready with short-term development</a:t>
              </a:r>
            </a:p>
          </p:txBody>
        </p:sp>
      </p:grpSp>
      <p:sp>
        <p:nvSpPr>
          <p:cNvPr id="51"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6</a:t>
            </a:fld>
            <a:endParaRPr lang="en-US"/>
          </a:p>
        </p:txBody>
      </p:sp>
    </p:spTree>
    <p:extLst>
      <p:ext uri="{BB962C8B-B14F-4D97-AF65-F5344CB8AC3E}">
        <p14:creationId xmlns:p14="http://schemas.microsoft.com/office/powerpoint/2010/main" val="2001379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839C2-CDAB-7459-84A4-E23F958E6BCF}"/>
            </a:ext>
          </a:extLst>
        </p:cNvPr>
        <p:cNvGrpSpPr/>
        <p:nvPr/>
      </p:nvGrpSpPr>
      <p:grpSpPr>
        <a:xfrm>
          <a:off x="0" y="0"/>
          <a:ext cx="0" cy="0"/>
          <a:chOff x="0" y="0"/>
          <a:chExt cx="0" cy="0"/>
        </a:xfrm>
      </p:grpSpPr>
      <p:sp>
        <p:nvSpPr>
          <p:cNvPr id="50" name="Rectangle 49">
            <a:extLst>
              <a:ext uri="{FF2B5EF4-FFF2-40B4-BE49-F238E27FC236}">
                <a16:creationId xmlns:a16="http://schemas.microsoft.com/office/drawing/2014/main" id="{1F331402-420B-AC59-492B-1C66990555E6}"/>
              </a:ext>
            </a:extLst>
          </p:cNvPr>
          <p:cNvSpPr/>
          <p:nvPr/>
        </p:nvSpPr>
        <p:spPr>
          <a:xfrm>
            <a:off x="454765" y="3429000"/>
            <a:ext cx="1058104" cy="1215065"/>
          </a:xfrm>
          <a:prstGeom prst="rect">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2000"/>
          </a:p>
        </p:txBody>
      </p:sp>
      <p:sp>
        <p:nvSpPr>
          <p:cNvPr id="2" name="Text Placeholder 1">
            <a:extLst>
              <a:ext uri="{FF2B5EF4-FFF2-40B4-BE49-F238E27FC236}">
                <a16:creationId xmlns:a16="http://schemas.microsoft.com/office/drawing/2014/main" id="{47E69E69-40FE-CDB9-D3EC-5FD123AFA5E2}"/>
              </a:ext>
            </a:extLst>
          </p:cNvPr>
          <p:cNvSpPr>
            <a:spLocks noGrp="1"/>
          </p:cNvSpPr>
          <p:nvPr>
            <p:ph type="title" sz="quarter"/>
          </p:nvPr>
        </p:nvSpPr>
        <p:spPr/>
        <p:txBody>
          <a:bodyPr/>
          <a:lstStyle/>
          <a:p>
            <a:r>
              <a:rPr lang="en-US" b="1" spc="-25" dirty="0">
                <a:solidFill>
                  <a:schemeClr val="accent1"/>
                </a:solidFill>
                <a:ea typeface="Helvetica Neue" panose="02000503000000020004" pitchFamily="2" charset="0"/>
                <a:cs typeface="Helvetica Neue" panose="02000503000000020004" pitchFamily="2" charset="0"/>
              </a:rPr>
              <a:t>Succession to </a:t>
            </a:r>
            <a:r>
              <a:rPr lang="en-US" spc="-25" dirty="0">
                <a:solidFill>
                  <a:schemeClr val="accent1"/>
                </a:solidFill>
                <a:ea typeface="Helvetica Neue" panose="02000503000000020004" pitchFamily="2" charset="0"/>
                <a:cs typeface="Helvetica Neue" panose="02000503000000020004" pitchFamily="2" charset="0"/>
              </a:rPr>
              <a:t>V</a:t>
            </a:r>
            <a:r>
              <a:rPr lang="en-US" b="1" spc="-25" dirty="0">
                <a:solidFill>
                  <a:schemeClr val="accent1"/>
                </a:solidFill>
                <a:ea typeface="Helvetica Neue" panose="02000503000000020004" pitchFamily="2" charset="0"/>
                <a:cs typeface="Helvetica Neue" panose="02000503000000020004" pitchFamily="2" charset="0"/>
              </a:rPr>
              <a:t>alue™</a:t>
            </a:r>
          </a:p>
        </p:txBody>
      </p:sp>
      <p:sp>
        <p:nvSpPr>
          <p:cNvPr id="25" name="TextBox 24">
            <a:extLst>
              <a:ext uri="{FF2B5EF4-FFF2-40B4-BE49-F238E27FC236}">
                <a16:creationId xmlns:a16="http://schemas.microsoft.com/office/drawing/2014/main" id="{6D6F65C1-D18F-6004-1687-85AF9A36A23D}"/>
              </a:ext>
            </a:extLst>
          </p:cNvPr>
          <p:cNvSpPr txBox="1"/>
          <p:nvPr/>
        </p:nvSpPr>
        <p:spPr>
          <a:xfrm>
            <a:off x="3182698" y="982632"/>
            <a:ext cx="5423647" cy="646331"/>
          </a:xfrm>
          <a:prstGeom prst="rect">
            <a:avLst/>
          </a:prstGeom>
          <a:noFill/>
        </p:spPr>
        <p:txBody>
          <a:bodyPr wrap="square" lIns="91440" tIns="45720" rIns="91440" bIns="45720" rtlCol="0">
            <a:spAutoFit/>
          </a:bodyPr>
          <a:lstStyle/>
          <a:p>
            <a:pPr algn="ctr"/>
            <a:r>
              <a:rPr lang="en-US" sz="3600" b="1" spc="-10" dirty="0">
                <a:latin typeface="Segoe UI" pitchFamily="34" charset="0"/>
              </a:rPr>
              <a:t>Why does this matter?</a:t>
            </a:r>
          </a:p>
        </p:txBody>
      </p:sp>
      <p:sp>
        <p:nvSpPr>
          <p:cNvPr id="38" name="TextBox 37">
            <a:extLst>
              <a:ext uri="{FF2B5EF4-FFF2-40B4-BE49-F238E27FC236}">
                <a16:creationId xmlns:a16="http://schemas.microsoft.com/office/drawing/2014/main" id="{1EBDBBF7-10CD-DCEB-5346-AD38BE74DEE8}"/>
              </a:ext>
            </a:extLst>
          </p:cNvPr>
          <p:cNvSpPr txBox="1"/>
          <p:nvPr/>
        </p:nvSpPr>
        <p:spPr>
          <a:xfrm>
            <a:off x="1512869" y="1825353"/>
            <a:ext cx="10241280" cy="1215065"/>
          </a:xfrm>
          <a:prstGeom prst="rect">
            <a:avLst/>
          </a:prstGeom>
          <a:solidFill>
            <a:srgbClr val="281942"/>
          </a:solidFill>
          <a:ln>
            <a:noFill/>
          </a:ln>
          <a:effectLst/>
        </p:spPr>
        <p:txBody>
          <a:bodyPr wrap="square" lIns="182880" tIns="0" rIns="91440" bIns="0" rtlCol="0" anchor="ctr">
            <a:noAutofit/>
          </a:bodyPr>
          <a:lstStyle/>
          <a:p>
            <a:r>
              <a:rPr lang="en-US" sz="2000" spc="-10">
                <a:solidFill>
                  <a:schemeClr val="bg1"/>
                </a:solidFill>
                <a:latin typeface="Arial" pitchFamily="34" charset="0"/>
                <a:ea typeface="Lato"/>
                <a:cs typeface="Lato"/>
              </a:rPr>
              <a:t>Selecting the wrong person has negative downstream impacts</a:t>
            </a:r>
          </a:p>
        </p:txBody>
      </p:sp>
      <p:sp>
        <p:nvSpPr>
          <p:cNvPr id="45" name="TextBox 44">
            <a:extLst>
              <a:ext uri="{FF2B5EF4-FFF2-40B4-BE49-F238E27FC236}">
                <a16:creationId xmlns:a16="http://schemas.microsoft.com/office/drawing/2014/main" id="{2FE764F8-F507-1EF2-8271-D527ADA5E3AF}"/>
              </a:ext>
            </a:extLst>
          </p:cNvPr>
          <p:cNvSpPr txBox="1"/>
          <p:nvPr/>
        </p:nvSpPr>
        <p:spPr>
          <a:xfrm>
            <a:off x="1512869" y="3429000"/>
            <a:ext cx="10241280" cy="1215065"/>
          </a:xfrm>
          <a:prstGeom prst="rect">
            <a:avLst/>
          </a:prstGeom>
          <a:solidFill>
            <a:srgbClr val="281942"/>
          </a:solidFill>
          <a:ln>
            <a:noFill/>
          </a:ln>
          <a:effectLst/>
        </p:spPr>
        <p:txBody>
          <a:bodyPr wrap="square" lIns="182880" tIns="0" bIns="0" rtlCol="0" anchor="ctr">
            <a:noAutofit/>
          </a:bodyPr>
          <a:lstStyle/>
          <a:p>
            <a:r>
              <a:rPr lang="en-US" sz="2000" spc="-10">
                <a:solidFill>
                  <a:schemeClr val="bg1"/>
                </a:solidFill>
                <a:latin typeface="Arial" pitchFamily="34" charset="0"/>
              </a:rPr>
              <a:t>Job of the future ≠ NOT today’s job </a:t>
            </a:r>
          </a:p>
          <a:p>
            <a:r>
              <a:rPr lang="en-US" sz="2000" spc="-10">
                <a:solidFill>
                  <a:schemeClr val="bg1"/>
                </a:solidFill>
                <a:latin typeface="Arial" pitchFamily="34" charset="0"/>
              </a:rPr>
              <a:t>Organizations cannot afford preparing the candidate for outdated expectations</a:t>
            </a:r>
          </a:p>
        </p:txBody>
      </p:sp>
      <p:pic>
        <p:nvPicPr>
          <p:cNvPr id="49" name="Graphic 48" descr="Weights Uneven with solid fill">
            <a:extLst>
              <a:ext uri="{FF2B5EF4-FFF2-40B4-BE49-F238E27FC236}">
                <a16:creationId xmlns:a16="http://schemas.microsoft.com/office/drawing/2014/main" id="{E0C715F6-A69A-177A-F0C2-B884E9E6E4B3}"/>
              </a:ext>
            </a:extLst>
          </p:cNvPr>
          <p:cNvPicPr>
            <a:picLocks noChangeAspect="1"/>
          </p:cNvPicPr>
          <p:nvPr/>
        </p:nvPicPr>
        <p:blipFill>
          <a:blip r:embed="rId4">
            <a:alphaModFix/>
            <a:lum bright="70000" contrast="-70000"/>
          </a:blip>
          <a:stretch>
            <a:fillRect/>
          </a:stretch>
        </p:blipFill>
        <p:spPr>
          <a:xfrm>
            <a:off x="547675" y="3715880"/>
            <a:ext cx="872285" cy="738685"/>
          </a:xfrm>
          <a:prstGeom prst="rect">
            <a:avLst/>
          </a:prstGeom>
        </p:spPr>
      </p:pic>
      <p:sp>
        <p:nvSpPr>
          <p:cNvPr id="51" name="Rectangle 50">
            <a:extLst>
              <a:ext uri="{FF2B5EF4-FFF2-40B4-BE49-F238E27FC236}">
                <a16:creationId xmlns:a16="http://schemas.microsoft.com/office/drawing/2014/main" id="{C4EBB411-1424-5E1E-63EF-4B240652D8F3}"/>
              </a:ext>
            </a:extLst>
          </p:cNvPr>
          <p:cNvSpPr/>
          <p:nvPr/>
        </p:nvSpPr>
        <p:spPr>
          <a:xfrm>
            <a:off x="454765" y="1825353"/>
            <a:ext cx="1058104" cy="1215065"/>
          </a:xfrm>
          <a:prstGeom prst="rect">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2000"/>
          </a:p>
        </p:txBody>
      </p:sp>
      <p:pic>
        <p:nvPicPr>
          <p:cNvPr id="53" name="Graphic 52" descr="Downward trend graph with solid fill">
            <a:extLst>
              <a:ext uri="{FF2B5EF4-FFF2-40B4-BE49-F238E27FC236}">
                <a16:creationId xmlns:a16="http://schemas.microsoft.com/office/drawing/2014/main" id="{F196144B-432E-B91A-6471-075006732965}"/>
              </a:ext>
            </a:extLst>
          </p:cNvPr>
          <p:cNvPicPr>
            <a:picLocks noChangeAspect="1"/>
          </p:cNvPicPr>
          <p:nvPr/>
        </p:nvPicPr>
        <p:blipFill>
          <a:blip r:embed="rId5">
            <a:alphaModFix/>
            <a:lum bright="70000" contrast="-70000"/>
          </a:blip>
          <a:stretch>
            <a:fillRect/>
          </a:stretch>
        </p:blipFill>
        <p:spPr>
          <a:xfrm>
            <a:off x="547675" y="2047764"/>
            <a:ext cx="914400" cy="838625"/>
          </a:xfrm>
          <a:prstGeom prst="rect">
            <a:avLst/>
          </a:prstGeom>
        </p:spPr>
      </p:pic>
      <p:sp>
        <p:nvSpPr>
          <p:cNvPr id="3" name="Rectangle 2">
            <a:extLst>
              <a:ext uri="{FF2B5EF4-FFF2-40B4-BE49-F238E27FC236}">
                <a16:creationId xmlns:a16="http://schemas.microsoft.com/office/drawing/2014/main" id="{840FE415-6C69-06BB-0378-5209655F2EDB}"/>
              </a:ext>
            </a:extLst>
          </p:cNvPr>
          <p:cNvSpPr/>
          <p:nvPr/>
        </p:nvSpPr>
        <p:spPr>
          <a:xfrm>
            <a:off x="454765" y="5032647"/>
            <a:ext cx="1058104" cy="1215065"/>
          </a:xfrm>
          <a:prstGeom prst="rect">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2000"/>
          </a:p>
        </p:txBody>
      </p:sp>
      <p:sp>
        <p:nvSpPr>
          <p:cNvPr id="4" name="TextBox 3">
            <a:extLst>
              <a:ext uri="{FF2B5EF4-FFF2-40B4-BE49-F238E27FC236}">
                <a16:creationId xmlns:a16="http://schemas.microsoft.com/office/drawing/2014/main" id="{3F27D4AA-83E0-7742-F57A-26136B60C01C}"/>
              </a:ext>
            </a:extLst>
          </p:cNvPr>
          <p:cNvSpPr txBox="1"/>
          <p:nvPr/>
        </p:nvSpPr>
        <p:spPr>
          <a:xfrm>
            <a:off x="1512869" y="5036844"/>
            <a:ext cx="10241280" cy="1215065"/>
          </a:xfrm>
          <a:prstGeom prst="rect">
            <a:avLst/>
          </a:prstGeom>
          <a:solidFill>
            <a:srgbClr val="281942"/>
          </a:solidFill>
          <a:ln>
            <a:noFill/>
          </a:ln>
          <a:effectLst/>
        </p:spPr>
        <p:txBody>
          <a:bodyPr wrap="square" lIns="182880" tIns="0" rIns="91440" bIns="0" rtlCol="0" anchor="ctr">
            <a:noAutofit/>
          </a:bodyPr>
          <a:lstStyle/>
          <a:p>
            <a:r>
              <a:rPr lang="en-US" sz="2000" spc="-10">
                <a:solidFill>
                  <a:schemeClr val="bg1"/>
                </a:solidFill>
                <a:latin typeface="Arial" pitchFamily="34" charset="0"/>
                <a:ea typeface="Lato"/>
                <a:cs typeface="Lato"/>
              </a:rPr>
              <a:t>Unsuccessful succession planning often wastes massive resources with months of review meetings, with very limited measurable results</a:t>
            </a:r>
          </a:p>
        </p:txBody>
      </p:sp>
      <p:pic>
        <p:nvPicPr>
          <p:cNvPr id="7" name="Graphic 6" descr="Board Of Directors with solid fill">
            <a:extLst>
              <a:ext uri="{FF2B5EF4-FFF2-40B4-BE49-F238E27FC236}">
                <a16:creationId xmlns:a16="http://schemas.microsoft.com/office/drawing/2014/main" id="{3C82FF2C-8D74-BE0C-3279-D60C6A04267E}"/>
              </a:ext>
            </a:extLst>
          </p:cNvPr>
          <p:cNvPicPr>
            <a:picLocks noChangeAspect="1"/>
          </p:cNvPicPr>
          <p:nvPr/>
        </p:nvPicPr>
        <p:blipFill>
          <a:blip r:embed="rId6">
            <a:alphaModFix/>
            <a:lum bright="70000" contrast="-70000"/>
          </a:blip>
          <a:stretch>
            <a:fillRect/>
          </a:stretch>
        </p:blipFill>
        <p:spPr>
          <a:xfrm>
            <a:off x="598469" y="5182979"/>
            <a:ext cx="845288" cy="845288"/>
          </a:xfrm>
          <a:prstGeom prst="rect">
            <a:avLst/>
          </a:prstGeom>
        </p:spPr>
      </p:pic>
      <p:sp>
        <p:nvSpPr>
          <p:cNvPr id="54"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7</a:t>
            </a:fld>
            <a:endParaRPr lang="en-US"/>
          </a:p>
        </p:txBody>
      </p:sp>
    </p:spTree>
    <p:extLst>
      <p:ext uri="{BB962C8B-B14F-4D97-AF65-F5344CB8AC3E}">
        <p14:creationId xmlns:p14="http://schemas.microsoft.com/office/powerpoint/2010/main" val="2530000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1D44E-DF90-9794-09B0-8F6530B127E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6ECCCF3-CB65-ABE8-8464-5E5237994258}"/>
              </a:ext>
            </a:extLst>
          </p:cNvPr>
          <p:cNvSpPr/>
          <p:nvPr/>
        </p:nvSpPr>
        <p:spPr>
          <a:xfrm>
            <a:off x="-1" y="1705070"/>
            <a:ext cx="8951119" cy="3413030"/>
          </a:xfrm>
          <a:prstGeom prst="rect">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 name="Rectangle 1">
            <a:extLst>
              <a:ext uri="{FF2B5EF4-FFF2-40B4-BE49-F238E27FC236}">
                <a16:creationId xmlns:a16="http://schemas.microsoft.com/office/drawing/2014/main" id="{60B936C9-1E56-08AA-4017-7C54604D8A80}"/>
              </a:ext>
            </a:extLst>
          </p:cNvPr>
          <p:cNvSpPr/>
          <p:nvPr/>
        </p:nvSpPr>
        <p:spPr>
          <a:xfrm>
            <a:off x="0" y="2174970"/>
            <a:ext cx="6388100" cy="24605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 name="Text Placeholder 1">
            <a:extLst>
              <a:ext uri="{FF2B5EF4-FFF2-40B4-BE49-F238E27FC236}">
                <a16:creationId xmlns:a16="http://schemas.microsoft.com/office/drawing/2014/main" id="{539F6EA4-B5F1-B7A9-CA4E-D2B36890A0B3}"/>
              </a:ext>
            </a:extLst>
          </p:cNvPr>
          <p:cNvSpPr txBox="1">
            <a:spLocks/>
          </p:cNvSpPr>
          <p:nvPr/>
        </p:nvSpPr>
        <p:spPr>
          <a:xfrm>
            <a:off x="283392" y="2032000"/>
            <a:ext cx="8467702" cy="2806700"/>
          </a:xfrm>
          <a:prstGeom prst="rect">
            <a:avLst/>
          </a:prstGeom>
        </p:spPr>
        <p:txBody>
          <a:bodyPr lIns="91440" tIns="45720" rIns="91440" bIns="45720"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spc="-10">
                <a:solidFill>
                  <a:schemeClr val="tx1"/>
                </a:solidFill>
                <a:latin typeface="Arial" pitchFamily="34"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spc="-10">
                <a:solidFill>
                  <a:schemeClr val="tx1"/>
                </a:solidFill>
                <a:latin typeface="Arial" pitchFamily="34"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10">
                <a:solidFill>
                  <a:schemeClr val="tx1"/>
                </a:solidFill>
                <a:latin typeface="Arial" pitchFamily="34"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defRPr/>
            </a:pPr>
            <a:r>
              <a:rPr lang="en-US" sz="6000" b="1" spc="-25" dirty="0">
                <a:solidFill>
                  <a:schemeClr val="accent1"/>
                </a:solidFill>
                <a:latin typeface="Segoe UI" panose="020B0502040204020203" pitchFamily="34" charset="0"/>
                <a:cs typeface="Segoe UI" panose="020B0502040204020203" pitchFamily="34" charset="0"/>
              </a:rPr>
              <a:t>Succession to Value™</a:t>
            </a:r>
          </a:p>
          <a:p>
            <a:pPr marL="0" lvl="0" indent="0">
              <a:buNone/>
              <a:defRPr/>
            </a:pPr>
            <a:r>
              <a:rPr lang="en-US" sz="6000" b="1" spc="-10" dirty="0">
                <a:solidFill>
                  <a:schemeClr val="bg1"/>
                </a:solidFill>
                <a:latin typeface="Segoe UI" panose="020B0502040204020203" pitchFamily="34" charset="0"/>
                <a:ea typeface="Lato ExtraLight" panose="020B0604020202020204" pitchFamily="34" charset="0"/>
                <a:cs typeface="Segoe UI" panose="020B0502040204020203" pitchFamily="34" charset="0"/>
              </a:rPr>
              <a:t>Overview</a:t>
            </a:r>
          </a:p>
        </p:txBody>
      </p:sp>
      <p:sp>
        <p:nvSpPr>
          <p:cNvPr id="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8</a:t>
            </a:fld>
            <a:endParaRPr lang="en-US"/>
          </a:p>
        </p:txBody>
      </p:sp>
    </p:spTree>
    <p:extLst>
      <p:ext uri="{BB962C8B-B14F-4D97-AF65-F5344CB8AC3E}">
        <p14:creationId xmlns:p14="http://schemas.microsoft.com/office/powerpoint/2010/main" val="2268790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551F7-30C2-845F-220D-36F7172CD21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415C064-8AC3-2467-B3F9-D1004921B29D}"/>
              </a:ext>
            </a:extLst>
          </p:cNvPr>
          <p:cNvSpPr>
            <a:spLocks noGrp="1"/>
          </p:cNvSpPr>
          <p:nvPr>
            <p:ph type="title" sz="quarter"/>
          </p:nvPr>
        </p:nvSpPr>
        <p:spPr/>
        <p:txBody>
          <a:bodyPr/>
          <a:lstStyle/>
          <a:p>
            <a:r>
              <a:rPr lang="en-US" spc="-25" dirty="0">
                <a:solidFill>
                  <a:schemeClr val="accent1"/>
                </a:solidFill>
                <a:ea typeface="Helvetica Neue" panose="02000503000000020004" pitchFamily="2" charset="0"/>
                <a:cs typeface="Helvetica Neue" panose="02000503000000020004" pitchFamily="2" charset="0"/>
              </a:rPr>
              <a:t>Succession to Value™ </a:t>
            </a:r>
            <a:r>
              <a:rPr lang="en-US" b="1" spc="-25" dirty="0">
                <a:ea typeface="Helvetica Neue" panose="02000503000000020004" pitchFamily="2" charset="0"/>
                <a:cs typeface="Helvetica Neue" panose="02000503000000020004" pitchFamily="2" charset="0"/>
              </a:rPr>
              <a:t>methodology</a:t>
            </a:r>
          </a:p>
        </p:txBody>
      </p:sp>
      <p:sp>
        <p:nvSpPr>
          <p:cNvPr id="16" name="TextBox 15">
            <a:extLst>
              <a:ext uri="{FF2B5EF4-FFF2-40B4-BE49-F238E27FC236}">
                <a16:creationId xmlns:a16="http://schemas.microsoft.com/office/drawing/2014/main" id="{9237DE18-1498-BFAC-F11E-FBA791722BDC}"/>
              </a:ext>
            </a:extLst>
          </p:cNvPr>
          <p:cNvSpPr txBox="1"/>
          <p:nvPr/>
        </p:nvSpPr>
        <p:spPr>
          <a:xfrm>
            <a:off x="1295935" y="4872860"/>
            <a:ext cx="2236467" cy="1224132"/>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10" normalizeH="0" baseline="0" noProof="0" dirty="0">
                <a:ln>
                  <a:noFill/>
                </a:ln>
                <a:effectLst/>
                <a:uLnTx/>
                <a:uFillTx/>
                <a:latin typeface="Segoe UI"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10" normalizeH="0" baseline="0" noProof="0" dirty="0">
                <a:ln>
                  <a:noFill/>
                </a:ln>
                <a:effectLst/>
                <a:uLnTx/>
                <a:uFillTx/>
                <a:latin typeface="Arial" pitchFamily="34" charset="0"/>
                <a:ea typeface="Helvetica Neue" panose="02000503000000020004" pitchFamily="2" charset="0"/>
                <a:cs typeface="Helvetica Neue" panose="02000503000000020004" pitchFamily="2" charset="0"/>
              </a:rPr>
              <a:t>Future Jobs to be Done</a:t>
            </a:r>
          </a:p>
          <a:p>
            <a:pPr marL="0" marR="0" lvl="0" indent="0" algn="ctr" defTabSz="914377" rtl="0" eaLnBrk="1" fontAlgn="auto" latinLnBrk="0" hangingPunct="1">
              <a:spcAft>
                <a:spcPts val="600"/>
              </a:spcAft>
              <a:buClrTx/>
              <a:buSzTx/>
              <a:buFontTx/>
              <a:buNone/>
              <a:tabLst/>
              <a:defRPr/>
            </a:pPr>
            <a:r>
              <a:rPr lang="en-US" sz="1400" spc="-10" dirty="0">
                <a:latin typeface="Arial" pitchFamily="34" charset="0"/>
                <a:ea typeface="Helvetica Neue" panose="02000503000000020004" pitchFamily="2" charset="0"/>
                <a:cs typeface="Helvetica Neue" panose="02000503000000020004" pitchFamily="2" charset="0"/>
              </a:rPr>
              <a:t>Risk Assessment</a:t>
            </a:r>
          </a:p>
          <a:p>
            <a:pPr marL="0" marR="0" lvl="0" indent="0" algn="ctr" defTabSz="914377" rtl="0" eaLnBrk="1" fontAlgn="auto" latinLnBrk="0" hangingPunct="1">
              <a:spcAft>
                <a:spcPts val="600"/>
              </a:spcAft>
              <a:buClrTx/>
              <a:buSzTx/>
              <a:buFontTx/>
              <a:buNone/>
              <a:tabLst/>
              <a:defRPr/>
            </a:pPr>
            <a:r>
              <a:rPr lang="en-US" sz="1400" i="0" u="none" strike="noStrike" kern="1200" cap="none" spc="-10" normalizeH="0" baseline="0" noProof="0" dirty="0">
                <a:ln>
                  <a:noFill/>
                </a:ln>
                <a:effectLst/>
                <a:uLnTx/>
                <a:uFillTx/>
                <a:latin typeface="Arial" pitchFamily="34" charset="0"/>
                <a:ea typeface="Lato"/>
                <a:cs typeface="Lato"/>
              </a:rPr>
              <a:t>Superpowers</a:t>
            </a:r>
          </a:p>
        </p:txBody>
      </p:sp>
      <p:sp>
        <p:nvSpPr>
          <p:cNvPr id="17" name="TextBox 16">
            <a:extLst>
              <a:ext uri="{FF2B5EF4-FFF2-40B4-BE49-F238E27FC236}">
                <a16:creationId xmlns:a16="http://schemas.microsoft.com/office/drawing/2014/main" id="{316C6B12-5C74-19A3-8F8C-9BED87E5D39C}"/>
              </a:ext>
            </a:extLst>
          </p:cNvPr>
          <p:cNvSpPr txBox="1"/>
          <p:nvPr/>
        </p:nvSpPr>
        <p:spPr>
          <a:xfrm>
            <a:off x="1327065" y="1530777"/>
            <a:ext cx="2189619" cy="688342"/>
          </a:xfrm>
          <a:prstGeom prst="rect">
            <a:avLst/>
          </a:prstGeom>
          <a:noFill/>
        </p:spPr>
        <p:txBody>
          <a:bodyPr wrap="square" lIns="91440" tIns="45720" rIns="91440" bIns="45720" anchor="t">
            <a:noAutofit/>
          </a:bodyPr>
          <a:lstStyle/>
          <a:p>
            <a:pPr algn="ctr" defTabSz="914377">
              <a:lnSpc>
                <a:spcPct val="120000"/>
              </a:lnSpc>
              <a:defRPr/>
            </a:pPr>
            <a:r>
              <a:rPr lang="en-US" sz="2000" b="1" spc="-10" dirty="0">
                <a:solidFill>
                  <a:srgbClr val="60BDBC"/>
                </a:solidFill>
                <a:latin typeface="Segoe UI" pitchFamily="34" charset="0"/>
                <a:ea typeface="Helvetica Neue" panose="02000503000000020004" pitchFamily="2" charset="0"/>
                <a:cs typeface="Helvetica Neue" panose="02000503000000020004" pitchFamily="2" charset="0"/>
              </a:rPr>
              <a:t>/DEFINE</a:t>
            </a:r>
            <a:endParaRPr kumimoji="0" lang="en-US" b="1" i="0" u="none" strike="noStrike" kern="1200" cap="none" spc="-10" normalizeH="0" baseline="0" noProof="0" dirty="0">
              <a:ln>
                <a:noFill/>
              </a:ln>
              <a:solidFill>
                <a:srgbClr val="60BDBC"/>
              </a:solidFill>
              <a:effectLst/>
              <a:uLnTx/>
              <a:uFillTx/>
              <a:latin typeface="Segoe UI" pitchFamily="34" charset="0"/>
              <a:ea typeface="Helvetica Neue" panose="02000503000000020004" pitchFamily="2" charset="0"/>
              <a:cs typeface="Helvetica Neue" panose="02000503000000020004" pitchFamily="2" charset="0"/>
            </a:endParaRPr>
          </a:p>
        </p:txBody>
      </p:sp>
      <p:grpSp>
        <p:nvGrpSpPr>
          <p:cNvPr id="18" name="Group 17">
            <a:extLst>
              <a:ext uri="{FF2B5EF4-FFF2-40B4-BE49-F238E27FC236}">
                <a16:creationId xmlns:a16="http://schemas.microsoft.com/office/drawing/2014/main" id="{EC8EB205-1132-071C-950B-B66A751C5704}"/>
              </a:ext>
            </a:extLst>
          </p:cNvPr>
          <p:cNvGrpSpPr/>
          <p:nvPr/>
        </p:nvGrpSpPr>
        <p:grpSpPr>
          <a:xfrm>
            <a:off x="1621288" y="2979243"/>
            <a:ext cx="1591098" cy="1591098"/>
            <a:chOff x="3506617" y="2730959"/>
            <a:chExt cx="1591098" cy="1591098"/>
          </a:xfrm>
        </p:grpSpPr>
        <p:sp>
          <p:nvSpPr>
            <p:cNvPr id="19" name="Rectangle: Rounded Corners 39">
              <a:extLst>
                <a:ext uri="{FF2B5EF4-FFF2-40B4-BE49-F238E27FC236}">
                  <a16:creationId xmlns:a16="http://schemas.microsoft.com/office/drawing/2014/main" id="{42A2AEDA-C8CA-7745-A48D-34F479FA77A6}"/>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0" name="Rectangle: Rounded Corners 54">
              <a:extLst>
                <a:ext uri="{FF2B5EF4-FFF2-40B4-BE49-F238E27FC236}">
                  <a16:creationId xmlns:a16="http://schemas.microsoft.com/office/drawing/2014/main" id="{CBAB6B36-7CCE-6E29-7082-9A1CC00EE01C}"/>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1" name="Freeform 56" descr="Clipboard Partially Checked with solid fill">
              <a:extLst>
                <a:ext uri="{FF2B5EF4-FFF2-40B4-BE49-F238E27FC236}">
                  <a16:creationId xmlns:a16="http://schemas.microsoft.com/office/drawing/2014/main" id="{049FDBB6-7356-391E-836F-65D17828C185}"/>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sp>
        <p:nvSpPr>
          <p:cNvPr id="28" name="TextBox 27">
            <a:extLst>
              <a:ext uri="{FF2B5EF4-FFF2-40B4-BE49-F238E27FC236}">
                <a16:creationId xmlns:a16="http://schemas.microsoft.com/office/drawing/2014/main" id="{CBCB3B7C-FB84-4EB4-8D88-ACA356A5ECEF}"/>
              </a:ext>
            </a:extLst>
          </p:cNvPr>
          <p:cNvSpPr txBox="1"/>
          <p:nvPr/>
        </p:nvSpPr>
        <p:spPr>
          <a:xfrm>
            <a:off x="8545175" y="4872858"/>
            <a:ext cx="2236467" cy="1224133"/>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10" normalizeH="0" baseline="0" noProof="0">
                <a:ln>
                  <a:noFill/>
                </a:ln>
                <a:effectLst/>
                <a:uLnTx/>
                <a:uFillTx/>
                <a:latin typeface="Segoe UI"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rPr>
              <a:t>Development Plan</a:t>
            </a:r>
            <a:br>
              <a:rPr lang="en-US" sz="1400" spc="-10">
                <a:latin typeface="Arial" pitchFamily="34" charset="0"/>
                <a:ea typeface="Lato"/>
                <a:cs typeface="Lato"/>
              </a:rPr>
            </a:br>
            <a:endParaRPr lang="en-US" sz="1400" i="0" u="none" strike="noStrike" kern="1200" cap="none" spc="-10" normalizeH="0" baseline="0" noProof="0">
              <a:ln>
                <a:noFill/>
              </a:ln>
              <a:effectLst/>
              <a:uLnTx/>
              <a:uFillTx/>
              <a:latin typeface="Arial" pitchFamily="34" charset="0"/>
              <a:ea typeface="Lato"/>
              <a:cs typeface="Lato"/>
            </a:endParaRPr>
          </a:p>
        </p:txBody>
      </p:sp>
      <p:sp>
        <p:nvSpPr>
          <p:cNvPr id="29" name="TextBox 28">
            <a:extLst>
              <a:ext uri="{FF2B5EF4-FFF2-40B4-BE49-F238E27FC236}">
                <a16:creationId xmlns:a16="http://schemas.microsoft.com/office/drawing/2014/main" id="{99688534-7785-431D-F569-6CF522199614}"/>
              </a:ext>
            </a:extLst>
          </p:cNvPr>
          <p:cNvSpPr txBox="1"/>
          <p:nvPr/>
        </p:nvSpPr>
        <p:spPr>
          <a:xfrm>
            <a:off x="8572377" y="1543164"/>
            <a:ext cx="2189619" cy="688342"/>
          </a:xfrm>
          <a:prstGeom prst="rect">
            <a:avLst/>
          </a:prstGeom>
          <a:noFill/>
        </p:spPr>
        <p:txBody>
          <a:bodyPr wrap="square" lIns="91440" tIns="45720" rIns="91440" bIns="45720" anchor="t">
            <a:noAutofit/>
          </a:bodyPr>
          <a:lstStyle/>
          <a:p>
            <a:pPr algn="ctr" defTabSz="914377">
              <a:lnSpc>
                <a:spcPct val="120000"/>
              </a:lnSpc>
              <a:defRPr/>
            </a:pPr>
            <a:r>
              <a:rPr kumimoji="0" lang="en-US" sz="2000" b="1" i="0" u="none" strike="noStrike" kern="1200" cap="none" spc="-10" normalizeH="0" baseline="0" noProof="0" dirty="0">
                <a:ln>
                  <a:noFill/>
                </a:ln>
                <a:solidFill>
                  <a:srgbClr val="60BDBC"/>
                </a:solidFill>
                <a:effectLst/>
                <a:uLnTx/>
                <a:uFillTx/>
                <a:latin typeface="Segoe UI" pitchFamily="34" charset="0"/>
                <a:ea typeface="Helvetica Neue" panose="02000503000000020004" pitchFamily="2" charset="0"/>
                <a:cs typeface="Helvetica Neue" panose="02000503000000020004" pitchFamily="2" charset="0"/>
              </a:rPr>
              <a:t>/MOBILIZE</a:t>
            </a:r>
            <a:endParaRPr kumimoji="0" lang="en-US" b="1" i="0" u="none" strike="noStrike" kern="1200" cap="none" spc="-10" normalizeH="0" baseline="0" noProof="0" dirty="0">
              <a:ln>
                <a:noFill/>
              </a:ln>
              <a:solidFill>
                <a:srgbClr val="60BDBC"/>
              </a:solidFill>
              <a:effectLst/>
              <a:uLnTx/>
              <a:uFillTx/>
              <a:latin typeface="Segoe UI" pitchFamily="34" charset="0"/>
              <a:ea typeface="Helvetica Neue" panose="02000503000000020004" pitchFamily="2" charset="0"/>
              <a:cs typeface="Helvetica Neue" panose="02000503000000020004" pitchFamily="2" charset="0"/>
            </a:endParaRPr>
          </a:p>
        </p:txBody>
      </p:sp>
      <p:grpSp>
        <p:nvGrpSpPr>
          <p:cNvPr id="24" name="Group 23">
            <a:extLst>
              <a:ext uri="{FF2B5EF4-FFF2-40B4-BE49-F238E27FC236}">
                <a16:creationId xmlns:a16="http://schemas.microsoft.com/office/drawing/2014/main" id="{3EDB874A-4ED1-ABD7-A60D-2911B59E108E}"/>
              </a:ext>
            </a:extLst>
          </p:cNvPr>
          <p:cNvGrpSpPr/>
          <p:nvPr/>
        </p:nvGrpSpPr>
        <p:grpSpPr>
          <a:xfrm>
            <a:off x="8874309" y="3009260"/>
            <a:ext cx="1591098" cy="1591098"/>
            <a:chOff x="8874309" y="3009260"/>
            <a:chExt cx="1591098" cy="1591098"/>
          </a:xfrm>
        </p:grpSpPr>
        <p:grpSp>
          <p:nvGrpSpPr>
            <p:cNvPr id="33" name="Group 32">
              <a:extLst>
                <a:ext uri="{FF2B5EF4-FFF2-40B4-BE49-F238E27FC236}">
                  <a16:creationId xmlns:a16="http://schemas.microsoft.com/office/drawing/2014/main" id="{ABF4D596-6976-F16F-BDC7-D8F44FA97082}"/>
                </a:ext>
              </a:extLst>
            </p:cNvPr>
            <p:cNvGrpSpPr/>
            <p:nvPr/>
          </p:nvGrpSpPr>
          <p:grpSpPr>
            <a:xfrm>
              <a:off x="8874309" y="3009260"/>
              <a:ext cx="1591098" cy="1591098"/>
              <a:chOff x="9350370" y="2760976"/>
              <a:chExt cx="1591098" cy="1591098"/>
            </a:xfrm>
          </p:grpSpPr>
          <p:sp>
            <p:nvSpPr>
              <p:cNvPr id="37" name="Rectangle: Rounded Corners 39">
                <a:extLst>
                  <a:ext uri="{FF2B5EF4-FFF2-40B4-BE49-F238E27FC236}">
                    <a16:creationId xmlns:a16="http://schemas.microsoft.com/office/drawing/2014/main" id="{05193629-5C2D-E38D-FD89-8CE87B478C04}"/>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8" name="Rectangle: Rounded Corners 54">
                <a:extLst>
                  <a:ext uri="{FF2B5EF4-FFF2-40B4-BE49-F238E27FC236}">
                    <a16:creationId xmlns:a16="http://schemas.microsoft.com/office/drawing/2014/main" id="{DD29458C-1B36-BA78-3AF6-C9EBAA99C8D1}"/>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4" name="Picture 51" descr="Map with pin with solid fill">
              <a:extLst>
                <a:ext uri="{FF2B5EF4-FFF2-40B4-BE49-F238E27FC236}">
                  <a16:creationId xmlns:a16="http://schemas.microsoft.com/office/drawing/2014/main" id="{DA4E7C83-9EBF-0F10-7096-6677BCB5E0F3}"/>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sp>
        <p:nvSpPr>
          <p:cNvPr id="40" name="TextBox 39">
            <a:extLst>
              <a:ext uri="{FF2B5EF4-FFF2-40B4-BE49-F238E27FC236}">
                <a16:creationId xmlns:a16="http://schemas.microsoft.com/office/drawing/2014/main" id="{D3E7D00D-21FD-F3B3-3250-DB558137D41B}"/>
              </a:ext>
            </a:extLst>
          </p:cNvPr>
          <p:cNvSpPr txBox="1"/>
          <p:nvPr/>
        </p:nvSpPr>
        <p:spPr>
          <a:xfrm>
            <a:off x="4851197" y="4872859"/>
            <a:ext cx="2497872" cy="1224133"/>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10" normalizeH="0" baseline="0" noProof="0">
                <a:ln>
                  <a:noFill/>
                </a:ln>
                <a:effectLst/>
                <a:uLnTx/>
                <a:uFillTx/>
                <a:latin typeface="Segoe UI"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rPr>
              <a:t>Multi-point Evidence Mosaic</a:t>
            </a:r>
          </a:p>
          <a:p>
            <a:pPr marL="0" marR="0" lvl="0" indent="0" algn="ctr" defTabSz="914377" rtl="0" eaLnBrk="1" fontAlgn="auto" latinLnBrk="0" hangingPunct="1">
              <a:spcAft>
                <a:spcPts val="600"/>
              </a:spcAft>
              <a:buClrTx/>
              <a:buSzTx/>
              <a:buFontTx/>
              <a:buNone/>
              <a:tabLst/>
              <a:defRPr/>
            </a:pPr>
            <a:r>
              <a:rPr lang="en-US" sz="1400" spc="-10">
                <a:latin typeface="Arial" pitchFamily="34" charset="0"/>
                <a:ea typeface="Lato"/>
                <a:cs typeface="Lato"/>
              </a:rPr>
              <a:t>Readiness Summary</a:t>
            </a:r>
          </a:p>
          <a:p>
            <a:pPr marL="0" marR="0" lvl="0" indent="0" algn="ctr" defTabSz="914377" rtl="0" eaLnBrk="1" fontAlgn="auto" latinLnBrk="0" hangingPunct="1">
              <a:spcAft>
                <a:spcPts val="600"/>
              </a:spcAft>
              <a:buClrTx/>
              <a:buSzTx/>
              <a:buFontTx/>
              <a:buNone/>
              <a:tabLst/>
              <a:defRPr/>
            </a:pPr>
            <a:r>
              <a:rPr lang="en-US" sz="1400" spc="-10">
                <a:latin typeface="Arial" pitchFamily="34" charset="0"/>
                <a:ea typeface="Lato"/>
                <a:cs typeface="Lato"/>
              </a:rPr>
              <a:t>Pipeline Health Snapshot</a:t>
            </a:r>
            <a:br>
              <a:rPr lang="en-US" sz="1400" spc="-10">
                <a:latin typeface="Arial" pitchFamily="34" charset="0"/>
                <a:ea typeface="Lato"/>
                <a:cs typeface="Lato"/>
              </a:rPr>
            </a:br>
            <a:br>
              <a:rPr lang="en-US" sz="1400" spc="-10">
                <a:latin typeface="Arial" pitchFamily="34" charset="0"/>
                <a:ea typeface="Lato"/>
                <a:cs typeface="Lato"/>
              </a:rPr>
            </a:br>
            <a:endParaRPr lang="en-US" sz="1400" i="0" u="none" strike="noStrike" kern="1200" cap="none" spc="-10" normalizeH="0" baseline="0" noProof="0">
              <a:ln>
                <a:noFill/>
              </a:ln>
              <a:effectLst/>
              <a:uLnTx/>
              <a:uFillTx/>
              <a:latin typeface="Arial" pitchFamily="34" charset="0"/>
              <a:ea typeface="Lato"/>
              <a:cs typeface="Lato"/>
            </a:endParaRPr>
          </a:p>
        </p:txBody>
      </p:sp>
      <p:sp>
        <p:nvSpPr>
          <p:cNvPr id="41" name="TextBox 40">
            <a:extLst>
              <a:ext uri="{FF2B5EF4-FFF2-40B4-BE49-F238E27FC236}">
                <a16:creationId xmlns:a16="http://schemas.microsoft.com/office/drawing/2014/main" id="{E04C3F95-1E48-A700-3B20-806758E5C76B}"/>
              </a:ext>
            </a:extLst>
          </p:cNvPr>
          <p:cNvSpPr txBox="1"/>
          <p:nvPr/>
        </p:nvSpPr>
        <p:spPr>
          <a:xfrm>
            <a:off x="5010086" y="1549435"/>
            <a:ext cx="2189619" cy="647889"/>
          </a:xfrm>
          <a:prstGeom prst="rect">
            <a:avLst/>
          </a:prstGeom>
          <a:noFill/>
        </p:spPr>
        <p:txBody>
          <a:bodyPr wrap="square" lIns="91440" tIns="45720" rIns="91440" bIns="45720" anchor="t">
            <a:noAutofit/>
          </a:bodyPr>
          <a:lstStyle/>
          <a:p>
            <a:pPr algn="ctr" defTabSz="914377">
              <a:lnSpc>
                <a:spcPct val="120000"/>
              </a:lnSpc>
              <a:defRPr/>
            </a:pPr>
            <a:r>
              <a:rPr kumimoji="0" lang="en-US" sz="2000" b="1" i="0" u="none" strike="noStrike" kern="1200" cap="none" spc="-10" normalizeH="0" baseline="0" noProof="0" dirty="0">
                <a:ln>
                  <a:noFill/>
                </a:ln>
                <a:solidFill>
                  <a:srgbClr val="60BDBC"/>
                </a:solidFill>
                <a:effectLst/>
                <a:uLnTx/>
                <a:uFillTx/>
                <a:latin typeface="Segoe UI" pitchFamily="34" charset="0"/>
                <a:ea typeface="Helvetica Neue" panose="02000503000000020004" pitchFamily="2" charset="0"/>
                <a:cs typeface="Helvetica Neue" panose="02000503000000020004" pitchFamily="2" charset="0"/>
              </a:rPr>
              <a:t>/ASSESS</a:t>
            </a:r>
            <a:endParaRPr kumimoji="0" lang="en-US" b="1" i="0" u="none" strike="noStrike" kern="1200" cap="none" spc="-10" normalizeH="0" baseline="0" noProof="0" dirty="0">
              <a:ln>
                <a:noFill/>
              </a:ln>
              <a:solidFill>
                <a:srgbClr val="60BDBC"/>
              </a:solidFill>
              <a:effectLst/>
              <a:uLnTx/>
              <a:uFillTx/>
              <a:latin typeface="Segoe UI" pitchFamily="34" charset="0"/>
              <a:ea typeface="Helvetica Neue" panose="02000503000000020004" pitchFamily="2" charset="0"/>
              <a:cs typeface="Helvetica Neue" panose="02000503000000020004" pitchFamily="2" charset="0"/>
            </a:endParaRPr>
          </a:p>
        </p:txBody>
      </p:sp>
      <p:grpSp>
        <p:nvGrpSpPr>
          <p:cNvPr id="22" name="Group 21">
            <a:extLst>
              <a:ext uri="{FF2B5EF4-FFF2-40B4-BE49-F238E27FC236}">
                <a16:creationId xmlns:a16="http://schemas.microsoft.com/office/drawing/2014/main" id="{C587953E-58E1-7543-329F-06E3D9609E72}"/>
              </a:ext>
            </a:extLst>
          </p:cNvPr>
          <p:cNvGrpSpPr/>
          <p:nvPr/>
        </p:nvGrpSpPr>
        <p:grpSpPr>
          <a:xfrm>
            <a:off x="5303120" y="3009260"/>
            <a:ext cx="1591098" cy="1591098"/>
            <a:chOff x="5303120" y="3009260"/>
            <a:chExt cx="1591098" cy="1591098"/>
          </a:xfrm>
        </p:grpSpPr>
        <p:grpSp>
          <p:nvGrpSpPr>
            <p:cNvPr id="42" name="Group 41">
              <a:extLst>
                <a:ext uri="{FF2B5EF4-FFF2-40B4-BE49-F238E27FC236}">
                  <a16:creationId xmlns:a16="http://schemas.microsoft.com/office/drawing/2014/main" id="{B544EB01-A3F6-7EE9-7CDC-A19A452C0B1A}"/>
                </a:ext>
              </a:extLst>
            </p:cNvPr>
            <p:cNvGrpSpPr/>
            <p:nvPr/>
          </p:nvGrpSpPr>
          <p:grpSpPr>
            <a:xfrm>
              <a:off x="5303120" y="3009260"/>
              <a:ext cx="1591098" cy="1591098"/>
              <a:chOff x="6428492" y="2760976"/>
              <a:chExt cx="1591098" cy="1591098"/>
            </a:xfrm>
          </p:grpSpPr>
          <p:sp>
            <p:nvSpPr>
              <p:cNvPr id="44" name="Rectangle: Rounded Corners 39">
                <a:extLst>
                  <a:ext uri="{FF2B5EF4-FFF2-40B4-BE49-F238E27FC236}">
                    <a16:creationId xmlns:a16="http://schemas.microsoft.com/office/drawing/2014/main" id="{F443ED95-AB1C-F508-8678-D322FAC1972B}"/>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7" name="Rectangle: Rounded Corners 54">
                <a:extLst>
                  <a:ext uri="{FF2B5EF4-FFF2-40B4-BE49-F238E27FC236}">
                    <a16:creationId xmlns:a16="http://schemas.microsoft.com/office/drawing/2014/main" id="{68A08EC1-E80F-4E34-AF6D-0997393AB161}"/>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3" name="Graphic 42" descr="Target Audience with solid fill">
              <a:extLst>
                <a:ext uri="{FF2B5EF4-FFF2-40B4-BE49-F238E27FC236}">
                  <a16:creationId xmlns:a16="http://schemas.microsoft.com/office/drawing/2014/main" id="{6673FD7D-98E5-34E9-C180-D8EB4125E396}"/>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50" name="TextBox 49">
            <a:extLst>
              <a:ext uri="{FF2B5EF4-FFF2-40B4-BE49-F238E27FC236}">
                <a16:creationId xmlns:a16="http://schemas.microsoft.com/office/drawing/2014/main" id="{8D73704B-BF9E-3BF0-95DA-114E3742AA99}"/>
              </a:ext>
            </a:extLst>
          </p:cNvPr>
          <p:cNvSpPr txBox="1"/>
          <p:nvPr/>
        </p:nvSpPr>
        <p:spPr>
          <a:xfrm>
            <a:off x="1111580" y="2280481"/>
            <a:ext cx="2559209" cy="613443"/>
          </a:xfrm>
          <a:prstGeom prst="rect">
            <a:avLst/>
          </a:prstGeom>
          <a:noFill/>
        </p:spPr>
        <p:txBody>
          <a:bodyPr wrap="square" lIns="91440" tIns="45720" rIns="91440" bIns="45720" anchor="t">
            <a:noAutofit/>
          </a:bodyPr>
          <a:lstStyle/>
          <a:p>
            <a:pPr algn="ctr" defTabSz="914377">
              <a:lnSpc>
                <a:spcPct val="120000"/>
              </a:lnSpc>
              <a:defRPr/>
            </a:pPr>
            <a:r>
              <a:rPr lang="en-US" sz="1400" spc="-10">
                <a:solidFill>
                  <a:srgbClr val="1D1D1D"/>
                </a:solidFill>
                <a:latin typeface="Arial" pitchFamily="34" charset="0"/>
                <a:ea typeface="Helvetica Neue" panose="02000503000000020004" pitchFamily="2" charset="0"/>
                <a:cs typeface="Helvetica Neue" panose="02000503000000020004" pitchFamily="2" charset="0"/>
              </a:rPr>
              <a:t>What needs to be true in the future for the role to succeed?</a:t>
            </a:r>
            <a:endParaRPr kumimoji="0" lang="en-US" sz="140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3" name="TextBox 52">
            <a:extLst>
              <a:ext uri="{FF2B5EF4-FFF2-40B4-BE49-F238E27FC236}">
                <a16:creationId xmlns:a16="http://schemas.microsoft.com/office/drawing/2014/main" id="{FF4D099A-F951-E2F3-324C-145E65D672AB}"/>
              </a:ext>
            </a:extLst>
          </p:cNvPr>
          <p:cNvSpPr txBox="1"/>
          <p:nvPr/>
        </p:nvSpPr>
        <p:spPr>
          <a:xfrm>
            <a:off x="4651629" y="2289376"/>
            <a:ext cx="2815130" cy="613443"/>
          </a:xfrm>
          <a:prstGeom prst="rect">
            <a:avLst/>
          </a:prstGeom>
          <a:noFill/>
        </p:spPr>
        <p:txBody>
          <a:bodyPr wrap="square" lIns="91440" tIns="45720" rIns="91440" bIns="45720" anchor="t">
            <a:noAutofit/>
          </a:bodyPr>
          <a:lstStyle/>
          <a:p>
            <a:pPr algn="ctr" defTabSz="914377">
              <a:lnSpc>
                <a:spcPct val="120000"/>
              </a:lnSpc>
              <a:defRPr/>
            </a:pPr>
            <a:r>
              <a:rPr lang="en-US" sz="1400" spc="-10">
                <a:solidFill>
                  <a:srgbClr val="1D1D1D"/>
                </a:solidFill>
                <a:latin typeface="Arial" pitchFamily="34" charset="0"/>
                <a:ea typeface="Helvetica Neue" panose="02000503000000020004" pitchFamily="2" charset="0"/>
                <a:cs typeface="Helvetica Neue" panose="02000503000000020004" pitchFamily="2" charset="0"/>
              </a:rPr>
              <a:t>Are successors ready for the job? How ready are they?</a:t>
            </a:r>
            <a:endParaRPr kumimoji="0" lang="en-US" sz="140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4" name="TextBox 53">
            <a:extLst>
              <a:ext uri="{FF2B5EF4-FFF2-40B4-BE49-F238E27FC236}">
                <a16:creationId xmlns:a16="http://schemas.microsoft.com/office/drawing/2014/main" id="{27CE35FD-9908-9474-14C7-78A7C1924544}"/>
              </a:ext>
            </a:extLst>
          </p:cNvPr>
          <p:cNvSpPr txBox="1"/>
          <p:nvPr/>
        </p:nvSpPr>
        <p:spPr>
          <a:xfrm>
            <a:off x="8383805" y="2272888"/>
            <a:ext cx="2559209" cy="642212"/>
          </a:xfrm>
          <a:prstGeom prst="rect">
            <a:avLst/>
          </a:prstGeom>
          <a:noFill/>
        </p:spPr>
        <p:txBody>
          <a:bodyPr wrap="square" lIns="91440" tIns="45720" rIns="91440" bIns="45720" anchor="t">
            <a:noAutofit/>
          </a:bodyPr>
          <a:lstStyle/>
          <a:p>
            <a:pPr algn="ctr" defTabSz="914377">
              <a:lnSpc>
                <a:spcPct val="120000"/>
              </a:lnSpc>
              <a:defRPr/>
            </a:pPr>
            <a:r>
              <a:rPr lang="en-US" sz="1400" spc="-10">
                <a:solidFill>
                  <a:srgbClr val="1D1D1D"/>
                </a:solidFill>
                <a:latin typeface="Arial" pitchFamily="34" charset="0"/>
                <a:ea typeface="Helvetica Neue" panose="02000503000000020004" pitchFamily="2" charset="0"/>
                <a:cs typeface="Helvetica Neue" panose="02000503000000020004" pitchFamily="2" charset="0"/>
              </a:rPr>
              <a:t>How do we prepare and support the successor?</a:t>
            </a:r>
            <a:endParaRPr kumimoji="0" lang="en-US" sz="140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9</a:t>
            </a:fld>
            <a:endParaRPr lang="en-US"/>
          </a:p>
        </p:txBody>
      </p:sp>
    </p:spTree>
    <p:extLst>
      <p:ext uri="{BB962C8B-B14F-4D97-AF65-F5344CB8AC3E}">
        <p14:creationId xmlns:p14="http://schemas.microsoft.com/office/powerpoint/2010/main" val="4032577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92F99-009D-A0D2-6EB0-A9B62B97384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D8FAC3E-6207-0D54-12AA-FEBA253A577D}"/>
              </a:ext>
            </a:extLst>
          </p:cNvPr>
          <p:cNvSpPr/>
          <p:nvPr/>
        </p:nvSpPr>
        <p:spPr>
          <a:xfrm>
            <a:off x="-1" y="1705070"/>
            <a:ext cx="8951119" cy="3413030"/>
          </a:xfrm>
          <a:prstGeom prst="rect">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 name="Rectangle 1">
            <a:extLst>
              <a:ext uri="{FF2B5EF4-FFF2-40B4-BE49-F238E27FC236}">
                <a16:creationId xmlns:a16="http://schemas.microsoft.com/office/drawing/2014/main" id="{CA7D73C8-09AE-04A9-78CD-669E8FDDAB1F}"/>
              </a:ext>
            </a:extLst>
          </p:cNvPr>
          <p:cNvSpPr/>
          <p:nvPr/>
        </p:nvSpPr>
        <p:spPr>
          <a:xfrm>
            <a:off x="0" y="2174970"/>
            <a:ext cx="6388100" cy="24605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 name="Text Placeholder 1">
            <a:extLst>
              <a:ext uri="{FF2B5EF4-FFF2-40B4-BE49-F238E27FC236}">
                <a16:creationId xmlns:a16="http://schemas.microsoft.com/office/drawing/2014/main" id="{6BD67BFA-80F9-95B1-B222-FC477B51691B}"/>
              </a:ext>
            </a:extLst>
          </p:cNvPr>
          <p:cNvSpPr txBox="1">
            <a:spLocks/>
          </p:cNvSpPr>
          <p:nvPr/>
        </p:nvSpPr>
        <p:spPr>
          <a:xfrm>
            <a:off x="283392" y="2032000"/>
            <a:ext cx="8467702" cy="2806700"/>
          </a:xfrm>
          <a:prstGeom prst="rect">
            <a:avLst/>
          </a:prstGeom>
        </p:spPr>
        <p:txBody>
          <a:bodyPr lIns="91440" tIns="45720" rIns="91440" bIns="45720"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spc="-10">
                <a:solidFill>
                  <a:schemeClr val="tx1"/>
                </a:solidFill>
                <a:latin typeface="Arial" pitchFamily="34"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spc="-10">
                <a:solidFill>
                  <a:schemeClr val="tx1"/>
                </a:solidFill>
                <a:latin typeface="Arial" pitchFamily="34"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10">
                <a:solidFill>
                  <a:schemeClr val="tx1"/>
                </a:solidFill>
                <a:latin typeface="Arial" pitchFamily="34"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defRPr/>
            </a:pPr>
            <a:r>
              <a:rPr lang="en-US" sz="6000" b="1" spc="-25" dirty="0">
                <a:solidFill>
                  <a:schemeClr val="accent1"/>
                </a:solidFill>
                <a:latin typeface="Segoe UI" panose="020B0502040204020203" pitchFamily="34" charset="0"/>
                <a:cs typeface="Segoe UI" panose="020B0502040204020203" pitchFamily="34" charset="0"/>
              </a:rPr>
              <a:t>Succession to Value™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6000" b="1" spc="-10" dirty="0">
                <a:solidFill>
                  <a:schemeClr val="bg1"/>
                </a:solidFill>
                <a:latin typeface="Segoe UI" pitchFamily="34" charset="0"/>
                <a:ea typeface="Lato ExtraLight"/>
                <a:cs typeface="Lato ExtraLight"/>
              </a:rPr>
              <a:t>/DEFINE</a:t>
            </a:r>
            <a:endParaRPr lang="en-US" sz="6000" b="1" spc="-10" dirty="0">
              <a:solidFill>
                <a:schemeClr val="bg1"/>
              </a:solidFill>
              <a:latin typeface="Segoe UI" pitchFamily="34" charset="0"/>
              <a:ea typeface="Lato ExtraLight" panose="020B0604020202020204" pitchFamily="34" charset="0"/>
              <a:cs typeface="Lato ExtraLight" panose="020B0604020202020204" pitchFamily="34" charset="0"/>
            </a:endParaRPr>
          </a:p>
        </p:txBody>
      </p:sp>
      <p:sp>
        <p:nvSpPr>
          <p:cNvPr id="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10</a:t>
            </a:fld>
            <a:endParaRPr lang="en-US"/>
          </a:p>
        </p:txBody>
      </p:sp>
    </p:spTree>
    <p:extLst>
      <p:ext uri="{BB962C8B-B14F-4D97-AF65-F5344CB8AC3E}">
        <p14:creationId xmlns:p14="http://schemas.microsoft.com/office/powerpoint/2010/main" val="40313630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ADF59-8A9F-18A3-02A5-077778BFD90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3EC118A-9756-1707-24A8-48D6B3DAE5C4}"/>
              </a:ext>
            </a:extLst>
          </p:cNvPr>
          <p:cNvSpPr>
            <a:spLocks noGrp="1"/>
          </p:cNvSpPr>
          <p:nvPr>
            <p:ph type="title" sz="quarter"/>
          </p:nvPr>
        </p:nvSpPr>
        <p:spPr/>
        <p:txBody>
          <a:bodyPr/>
          <a:lstStyle/>
          <a:p>
            <a:r>
              <a:rPr lang="en-US" b="1" spc="-25" dirty="0">
                <a:solidFill>
                  <a:schemeClr val="accent1"/>
                </a:solidFill>
                <a:ea typeface="Helvetica Neue" panose="02000503000000020004" pitchFamily="2" charset="0"/>
                <a:cs typeface="Helvetica Neue" panose="02000503000000020004" pitchFamily="2" charset="0"/>
              </a:rPr>
              <a:t>Succession to Value™ </a:t>
            </a:r>
            <a:r>
              <a:rPr lang="en-US" b="1" spc="-25" dirty="0">
                <a:ea typeface="Helvetica Neue" panose="02000503000000020004" pitchFamily="2" charset="0"/>
                <a:cs typeface="Helvetica Neue" panose="02000503000000020004" pitchFamily="2" charset="0"/>
              </a:rPr>
              <a:t>methodology</a:t>
            </a:r>
          </a:p>
        </p:txBody>
      </p:sp>
      <p:sp>
        <p:nvSpPr>
          <p:cNvPr id="16" name="TextBox 15">
            <a:extLst>
              <a:ext uri="{FF2B5EF4-FFF2-40B4-BE49-F238E27FC236}">
                <a16:creationId xmlns:a16="http://schemas.microsoft.com/office/drawing/2014/main" id="{DEAE92B4-0607-746C-DAA2-497A45FD804A}"/>
              </a:ext>
            </a:extLst>
          </p:cNvPr>
          <p:cNvSpPr txBox="1"/>
          <p:nvPr/>
        </p:nvSpPr>
        <p:spPr>
          <a:xfrm>
            <a:off x="1295935" y="4872860"/>
            <a:ext cx="2236467" cy="1224132"/>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10" normalizeH="0" baseline="0" noProof="0" dirty="0">
                <a:ln>
                  <a:noFill/>
                </a:ln>
                <a:effectLst/>
                <a:uLnTx/>
                <a:uFillTx/>
                <a:latin typeface="Segoe UI"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10" normalizeH="0" baseline="0" noProof="0" dirty="0">
                <a:ln>
                  <a:noFill/>
                </a:ln>
                <a:effectLst/>
                <a:uLnTx/>
                <a:uFillTx/>
                <a:latin typeface="Arial" pitchFamily="34" charset="0"/>
                <a:ea typeface="Helvetica Neue" panose="02000503000000020004" pitchFamily="2" charset="0"/>
                <a:cs typeface="Helvetica Neue" panose="02000503000000020004" pitchFamily="2" charset="0"/>
              </a:rPr>
              <a:t>Future Jobs to be Done</a:t>
            </a:r>
          </a:p>
          <a:p>
            <a:pPr marL="0" marR="0" lvl="0" indent="0" algn="ctr" defTabSz="914377" rtl="0" eaLnBrk="1" fontAlgn="auto" latinLnBrk="0" hangingPunct="1">
              <a:spcAft>
                <a:spcPts val="600"/>
              </a:spcAft>
              <a:buClrTx/>
              <a:buSzTx/>
              <a:buFontTx/>
              <a:buNone/>
              <a:tabLst/>
              <a:defRPr/>
            </a:pPr>
            <a:r>
              <a:rPr lang="en-US" sz="1400" spc="-10" dirty="0">
                <a:latin typeface="Arial" pitchFamily="34" charset="0"/>
                <a:ea typeface="Helvetica Neue" panose="02000503000000020004" pitchFamily="2" charset="0"/>
                <a:cs typeface="Helvetica Neue" panose="02000503000000020004" pitchFamily="2" charset="0"/>
              </a:rPr>
              <a:t>Risk Assessment</a:t>
            </a:r>
          </a:p>
          <a:p>
            <a:pPr marL="0" marR="0" lvl="0" indent="0" algn="ctr" defTabSz="914377" rtl="0" eaLnBrk="1" fontAlgn="auto" latinLnBrk="0" hangingPunct="1">
              <a:spcAft>
                <a:spcPts val="600"/>
              </a:spcAft>
              <a:buClrTx/>
              <a:buSzTx/>
              <a:buFontTx/>
              <a:buNone/>
              <a:tabLst/>
              <a:defRPr/>
            </a:pPr>
            <a:r>
              <a:rPr lang="en-US" sz="1400" i="0" u="none" strike="noStrike" kern="1200" cap="none" spc="-10" normalizeH="0" baseline="0" noProof="0" dirty="0">
                <a:ln>
                  <a:noFill/>
                </a:ln>
                <a:effectLst/>
                <a:uLnTx/>
                <a:uFillTx/>
                <a:latin typeface="Arial" pitchFamily="34" charset="0"/>
                <a:ea typeface="Lato"/>
                <a:cs typeface="Lato"/>
              </a:rPr>
              <a:t>Superpowers</a:t>
            </a:r>
          </a:p>
        </p:txBody>
      </p:sp>
      <p:sp>
        <p:nvSpPr>
          <p:cNvPr id="17" name="TextBox 16">
            <a:extLst>
              <a:ext uri="{FF2B5EF4-FFF2-40B4-BE49-F238E27FC236}">
                <a16:creationId xmlns:a16="http://schemas.microsoft.com/office/drawing/2014/main" id="{E5C1814B-1A31-9C30-783E-5688A44147D8}"/>
              </a:ext>
            </a:extLst>
          </p:cNvPr>
          <p:cNvSpPr txBox="1"/>
          <p:nvPr/>
        </p:nvSpPr>
        <p:spPr>
          <a:xfrm>
            <a:off x="1327065" y="1530777"/>
            <a:ext cx="2189619" cy="688342"/>
          </a:xfrm>
          <a:prstGeom prst="rect">
            <a:avLst/>
          </a:prstGeom>
          <a:noFill/>
        </p:spPr>
        <p:txBody>
          <a:bodyPr wrap="square" lIns="91440" tIns="45720" rIns="91440" bIns="45720" anchor="t">
            <a:noAutofit/>
          </a:bodyPr>
          <a:lstStyle/>
          <a:p>
            <a:pPr algn="ctr" defTabSz="914377">
              <a:lnSpc>
                <a:spcPct val="120000"/>
              </a:lnSpc>
              <a:defRPr/>
            </a:pPr>
            <a:r>
              <a:rPr lang="en-US" sz="2000" b="1" spc="-10">
                <a:solidFill>
                  <a:srgbClr val="2B3A42"/>
                </a:solidFill>
                <a:latin typeface="Segoe UI" pitchFamily="34" charset="0"/>
                <a:ea typeface="Helvetica Neue" panose="02000503000000020004" pitchFamily="2" charset="0"/>
                <a:cs typeface="Helvetica Neue" panose="02000503000000020004" pitchFamily="2" charset="0"/>
              </a:rPr>
              <a:t>/DEFINE</a:t>
            </a:r>
            <a:endParaRPr kumimoji="0" lang="en-US" b="1" i="0" u="none" strike="noStrike" kern="120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endParaRPr>
          </a:p>
        </p:txBody>
      </p:sp>
      <p:grpSp>
        <p:nvGrpSpPr>
          <p:cNvPr id="18" name="Group 17">
            <a:extLst>
              <a:ext uri="{FF2B5EF4-FFF2-40B4-BE49-F238E27FC236}">
                <a16:creationId xmlns:a16="http://schemas.microsoft.com/office/drawing/2014/main" id="{4935112C-06AD-6791-23C0-86A9067DDBC3}"/>
              </a:ext>
            </a:extLst>
          </p:cNvPr>
          <p:cNvGrpSpPr/>
          <p:nvPr/>
        </p:nvGrpSpPr>
        <p:grpSpPr>
          <a:xfrm>
            <a:off x="1621288" y="2979243"/>
            <a:ext cx="1591098" cy="1591098"/>
            <a:chOff x="3506617" y="2730959"/>
            <a:chExt cx="1591098" cy="1591098"/>
          </a:xfrm>
        </p:grpSpPr>
        <p:sp>
          <p:nvSpPr>
            <p:cNvPr id="19" name="Rectangle: Rounded Corners 39">
              <a:extLst>
                <a:ext uri="{FF2B5EF4-FFF2-40B4-BE49-F238E27FC236}">
                  <a16:creationId xmlns:a16="http://schemas.microsoft.com/office/drawing/2014/main" id="{76C4EC2B-7355-2465-DAD0-8D2EFD879A87}"/>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0" name="Rectangle: Rounded Corners 54">
              <a:extLst>
                <a:ext uri="{FF2B5EF4-FFF2-40B4-BE49-F238E27FC236}">
                  <a16:creationId xmlns:a16="http://schemas.microsoft.com/office/drawing/2014/main" id="{47385733-FC95-576C-5487-AF28FB17583F}"/>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1" name="Freeform 56" descr="Clipboard Partially Checked with solid fill">
              <a:extLst>
                <a:ext uri="{FF2B5EF4-FFF2-40B4-BE49-F238E27FC236}">
                  <a16:creationId xmlns:a16="http://schemas.microsoft.com/office/drawing/2014/main" id="{2A5ADADC-30F1-8195-F45D-BEF1B8BF7496}"/>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dirty="0">
                <a:latin typeface="Arial" pitchFamily="34" charset="0"/>
                <a:ea typeface="Helvetica Neue" panose="02000503000000020004" pitchFamily="2" charset="0"/>
                <a:cs typeface="Helvetica Neue" panose="02000503000000020004" pitchFamily="2" charset="0"/>
              </a:endParaRPr>
            </a:p>
          </p:txBody>
        </p:sp>
      </p:grpSp>
      <p:sp>
        <p:nvSpPr>
          <p:cNvPr id="50" name="TextBox 49">
            <a:extLst>
              <a:ext uri="{FF2B5EF4-FFF2-40B4-BE49-F238E27FC236}">
                <a16:creationId xmlns:a16="http://schemas.microsoft.com/office/drawing/2014/main" id="{5705643C-C315-5090-6E16-E9997072E9FC}"/>
              </a:ext>
            </a:extLst>
          </p:cNvPr>
          <p:cNvSpPr txBox="1"/>
          <p:nvPr/>
        </p:nvSpPr>
        <p:spPr>
          <a:xfrm>
            <a:off x="1111580" y="2280481"/>
            <a:ext cx="2559209" cy="613443"/>
          </a:xfrm>
          <a:prstGeom prst="rect">
            <a:avLst/>
          </a:prstGeom>
          <a:noFill/>
        </p:spPr>
        <p:txBody>
          <a:bodyPr wrap="square" lIns="91440" tIns="45720" rIns="91440" bIns="45720" anchor="t">
            <a:noAutofit/>
          </a:bodyPr>
          <a:lstStyle/>
          <a:p>
            <a:pPr algn="ctr" defTabSz="914377">
              <a:lnSpc>
                <a:spcPct val="120000"/>
              </a:lnSpc>
              <a:defRPr/>
            </a:pPr>
            <a:r>
              <a:rPr lang="en-US" sz="1400" spc="-10">
                <a:solidFill>
                  <a:srgbClr val="1D1D1D"/>
                </a:solidFill>
                <a:latin typeface="Arial" pitchFamily="34" charset="0"/>
                <a:ea typeface="Helvetica Neue" panose="02000503000000020004" pitchFamily="2" charset="0"/>
                <a:cs typeface="Helvetica Neue" panose="02000503000000020004" pitchFamily="2" charset="0"/>
              </a:rPr>
              <a:t>What needs to be true in the future for the role to succeed?</a:t>
            </a:r>
            <a:endParaRPr kumimoji="0" lang="en-US" sz="140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grpSp>
        <p:nvGrpSpPr>
          <p:cNvPr id="4" name="Group 3">
            <a:extLst>
              <a:ext uri="{FF2B5EF4-FFF2-40B4-BE49-F238E27FC236}">
                <a16:creationId xmlns:a16="http://schemas.microsoft.com/office/drawing/2014/main" id="{E614D447-07B2-4D97-AEC2-5276E6F332D8}"/>
              </a:ext>
            </a:extLst>
          </p:cNvPr>
          <p:cNvGrpSpPr/>
          <p:nvPr/>
        </p:nvGrpSpPr>
        <p:grpSpPr>
          <a:xfrm>
            <a:off x="4651629" y="1549435"/>
            <a:ext cx="2815130" cy="4547557"/>
            <a:chOff x="4651629" y="1549435"/>
            <a:chExt cx="2815130" cy="4547557"/>
          </a:xfrm>
        </p:grpSpPr>
        <p:sp>
          <p:nvSpPr>
            <p:cNvPr id="40" name="TextBox 39">
              <a:extLst>
                <a:ext uri="{FF2B5EF4-FFF2-40B4-BE49-F238E27FC236}">
                  <a16:creationId xmlns:a16="http://schemas.microsoft.com/office/drawing/2014/main" id="{2DEBAC90-F531-C4C2-0A4A-CBE02F454DAD}"/>
                </a:ext>
              </a:extLst>
            </p:cNvPr>
            <p:cNvSpPr txBox="1"/>
            <p:nvPr/>
          </p:nvSpPr>
          <p:spPr>
            <a:xfrm>
              <a:off x="4851197" y="4872859"/>
              <a:ext cx="2497872" cy="1224133"/>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rPr>
                <a:t>Multi-point Evidence Mosaic</a:t>
              </a:r>
            </a:p>
            <a:p>
              <a:pPr marL="0" marR="0" lvl="0" indent="0" algn="ctr" defTabSz="914377" rtl="0" eaLnBrk="1" fontAlgn="auto" latinLnBrk="0" hangingPunct="1">
                <a:spcAft>
                  <a:spcPts val="600"/>
                </a:spcAft>
                <a:buClrTx/>
                <a:buSzTx/>
                <a:buFontTx/>
                <a:buNone/>
                <a:tabLst/>
                <a:defRPr/>
              </a:pPr>
              <a:r>
                <a:rPr lang="en-US" sz="1400" spc="-10">
                  <a:solidFill>
                    <a:schemeClr val="tx1">
                      <a:lumMod val="50000"/>
                      <a:lumOff val="50000"/>
                    </a:schemeClr>
                  </a:solidFill>
                  <a:latin typeface="Arial" pitchFamily="34" charset="0"/>
                  <a:ea typeface="Lato"/>
                  <a:cs typeface="Lato"/>
                </a:rPr>
                <a:t>Readiness Summary</a:t>
              </a:r>
            </a:p>
            <a:p>
              <a:pPr marL="0" marR="0" lvl="0" indent="0" algn="ctr" defTabSz="914377" rtl="0" eaLnBrk="1" fontAlgn="auto" latinLnBrk="0" hangingPunct="1">
                <a:spcAft>
                  <a:spcPts val="600"/>
                </a:spcAft>
                <a:buClrTx/>
                <a:buSzTx/>
                <a:buFontTx/>
                <a:buNone/>
                <a:tabLst/>
                <a:defRPr/>
              </a:pPr>
              <a:r>
                <a:rPr lang="en-US" sz="1400" spc="-10">
                  <a:solidFill>
                    <a:schemeClr val="tx1">
                      <a:lumMod val="50000"/>
                      <a:lumOff val="50000"/>
                    </a:schemeClr>
                  </a:solidFill>
                  <a:latin typeface="Arial" pitchFamily="34" charset="0"/>
                  <a:ea typeface="Lato"/>
                  <a:cs typeface="Lato"/>
                </a:rPr>
                <a:t>Pipeline Health Snapshot</a:t>
              </a:r>
              <a:br>
                <a:rPr lang="en-US" sz="1400" spc="-10">
                  <a:solidFill>
                    <a:schemeClr val="tx1">
                      <a:lumMod val="50000"/>
                      <a:lumOff val="50000"/>
                    </a:schemeClr>
                  </a:solidFill>
                  <a:latin typeface="Arial" pitchFamily="34" charset="0"/>
                  <a:ea typeface="Lato"/>
                  <a:cs typeface="Lato"/>
                </a:rPr>
              </a:br>
              <a:br>
                <a:rPr lang="en-US" sz="1400" spc="-10">
                  <a:solidFill>
                    <a:schemeClr val="tx1">
                      <a:lumMod val="50000"/>
                      <a:lumOff val="50000"/>
                    </a:schemeClr>
                  </a:solidFill>
                  <a:latin typeface="Arial" pitchFamily="34" charset="0"/>
                  <a:ea typeface="Lato"/>
                  <a:cs typeface="Lato"/>
                </a:rPr>
              </a:br>
              <a:endParaRPr lang="en-US" sz="1400" i="0" u="none" strike="noStrike" kern="1200" cap="none" spc="-10" normalizeH="0" baseline="0" noProof="0">
                <a:ln>
                  <a:noFill/>
                </a:ln>
                <a:solidFill>
                  <a:schemeClr val="tx1">
                    <a:lumMod val="50000"/>
                    <a:lumOff val="50000"/>
                  </a:schemeClr>
                </a:solidFill>
                <a:effectLst/>
                <a:uLnTx/>
                <a:uFillTx/>
                <a:latin typeface="Arial" pitchFamily="34" charset="0"/>
                <a:ea typeface="Lato"/>
                <a:cs typeface="Lato"/>
              </a:endParaRPr>
            </a:p>
          </p:txBody>
        </p:sp>
        <p:sp>
          <p:nvSpPr>
            <p:cNvPr id="41" name="TextBox 40">
              <a:extLst>
                <a:ext uri="{FF2B5EF4-FFF2-40B4-BE49-F238E27FC236}">
                  <a16:creationId xmlns:a16="http://schemas.microsoft.com/office/drawing/2014/main" id="{334E4D8A-A1E7-3438-C92F-5A2D9B6FCD4F}"/>
                </a:ext>
              </a:extLst>
            </p:cNvPr>
            <p:cNvSpPr txBox="1"/>
            <p:nvPr/>
          </p:nvSpPr>
          <p:spPr>
            <a:xfrm>
              <a:off x="5010086" y="1549435"/>
              <a:ext cx="2189619" cy="647889"/>
            </a:xfrm>
            <a:prstGeom prst="rect">
              <a:avLst/>
            </a:prstGeom>
            <a:noFill/>
          </p:spPr>
          <p:txBody>
            <a:bodyPr wrap="square" lIns="91440" tIns="45720" rIns="91440" bIns="45720" anchor="t">
              <a:noAutofit/>
            </a:bodyPr>
            <a:lstStyle/>
            <a:p>
              <a:pPr algn="ctr" defTabSz="914377">
                <a:lnSpc>
                  <a:spcPct val="120000"/>
                </a:lnSpc>
                <a:defRPr/>
              </a:pPr>
              <a:r>
                <a:rPr kumimoji="0" lang="en-US" sz="2000"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rPr>
                <a:t>/ASSESS</a:t>
              </a:r>
              <a:endParaRPr kumimoji="0" lang="en-US"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endParaRPr>
            </a:p>
          </p:txBody>
        </p:sp>
        <p:grpSp>
          <p:nvGrpSpPr>
            <p:cNvPr id="42" name="Group 41">
              <a:extLst>
                <a:ext uri="{FF2B5EF4-FFF2-40B4-BE49-F238E27FC236}">
                  <a16:creationId xmlns:a16="http://schemas.microsoft.com/office/drawing/2014/main" id="{24C9204F-81C6-9295-2DF7-FF21785CD011}"/>
                </a:ext>
              </a:extLst>
            </p:cNvPr>
            <p:cNvGrpSpPr/>
            <p:nvPr/>
          </p:nvGrpSpPr>
          <p:grpSpPr>
            <a:xfrm>
              <a:off x="5303120" y="3009260"/>
              <a:ext cx="1591098" cy="1591098"/>
              <a:chOff x="6428492" y="2760976"/>
              <a:chExt cx="1591098" cy="1591098"/>
            </a:xfrm>
          </p:grpSpPr>
          <p:sp>
            <p:nvSpPr>
              <p:cNvPr id="44" name="Rectangle: Rounded Corners 39">
                <a:extLst>
                  <a:ext uri="{FF2B5EF4-FFF2-40B4-BE49-F238E27FC236}">
                    <a16:creationId xmlns:a16="http://schemas.microsoft.com/office/drawing/2014/main" id="{7435A549-08E3-B4DB-84C9-1964667E03F0}"/>
                  </a:ext>
                </a:extLst>
              </p:cNvPr>
              <p:cNvSpPr/>
              <p:nvPr/>
            </p:nvSpPr>
            <p:spPr>
              <a:xfrm>
                <a:off x="6428492" y="2760976"/>
                <a:ext cx="1591098" cy="1591098"/>
              </a:xfrm>
              <a:prstGeom prst="roundRect">
                <a:avLst>
                  <a:gd name="adj" fmla="val 18019"/>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7" name="Rectangle: Rounded Corners 54">
                <a:extLst>
                  <a:ext uri="{FF2B5EF4-FFF2-40B4-BE49-F238E27FC236}">
                    <a16:creationId xmlns:a16="http://schemas.microsoft.com/office/drawing/2014/main" id="{13DFF86D-483D-5D6B-91F0-A0D74A2B0D36}"/>
                  </a:ext>
                </a:extLst>
              </p:cNvPr>
              <p:cNvSpPr/>
              <p:nvPr/>
            </p:nvSpPr>
            <p:spPr>
              <a:xfrm>
                <a:off x="6489852" y="2812424"/>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3" name="Graphic 42" descr="Target Audience with solid fill">
              <a:extLst>
                <a:ext uri="{FF2B5EF4-FFF2-40B4-BE49-F238E27FC236}">
                  <a16:creationId xmlns:a16="http://schemas.microsoft.com/office/drawing/2014/main" id="{62B2E4E5-FCFE-41FF-1DE7-451C069F1D50}"/>
                </a:ext>
              </a:extLst>
            </p:cNvPr>
            <p:cNvPicPr>
              <a:picLocks noChangeAspect="1"/>
            </p:cNvPicPr>
            <p:nvPr/>
          </p:nvPicPr>
          <p:blipFill>
            <a:blip r:embed="rId5">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sp>
          <p:nvSpPr>
            <p:cNvPr id="53" name="TextBox 52">
              <a:extLst>
                <a:ext uri="{FF2B5EF4-FFF2-40B4-BE49-F238E27FC236}">
                  <a16:creationId xmlns:a16="http://schemas.microsoft.com/office/drawing/2014/main" id="{63405911-73EF-1777-828E-2BE5A23885EA}"/>
                </a:ext>
              </a:extLst>
            </p:cNvPr>
            <p:cNvSpPr txBox="1"/>
            <p:nvPr/>
          </p:nvSpPr>
          <p:spPr>
            <a:xfrm>
              <a:off x="4651629" y="2289376"/>
              <a:ext cx="2815130" cy="613443"/>
            </a:xfrm>
            <a:prstGeom prst="rect">
              <a:avLst/>
            </a:prstGeom>
            <a:noFill/>
          </p:spPr>
          <p:txBody>
            <a:bodyPr wrap="square" lIns="91440" tIns="45720" rIns="91440" bIns="45720" anchor="t">
              <a:noAutofit/>
            </a:bodyPr>
            <a:lstStyle/>
            <a:p>
              <a:pPr algn="ctr" defTabSz="914377">
                <a:lnSpc>
                  <a:spcPct val="120000"/>
                </a:lnSpc>
                <a:defRPr/>
              </a:pPr>
              <a:r>
                <a:rPr lang="en-US" sz="1400" spc="-10">
                  <a:solidFill>
                    <a:schemeClr val="tx1">
                      <a:lumMod val="50000"/>
                      <a:lumOff val="50000"/>
                    </a:schemeClr>
                  </a:solidFill>
                  <a:latin typeface="Arial" pitchFamily="34" charset="0"/>
                  <a:ea typeface="Helvetica Neue" panose="02000503000000020004" pitchFamily="2" charset="0"/>
                  <a:cs typeface="Helvetica Neue" panose="02000503000000020004" pitchFamily="2" charset="0"/>
                </a:rPr>
                <a:t>Are successors ready for the job? </a:t>
              </a:r>
              <a:r>
                <a:rPr lang="en-US" sz="1400" spc="-10">
                  <a:solidFill>
                    <a:schemeClr val="tx1">
                      <a:lumMod val="50000"/>
                      <a:lumOff val="50000"/>
                    </a:schemeClr>
                  </a:solidFill>
                  <a:latin typeface="Arial" pitchFamily="34" charset="0"/>
                  <a:ea typeface="Lato"/>
                  <a:cs typeface="Lato"/>
                </a:rPr>
                <a:t>How ready are they?</a:t>
              </a:r>
              <a:br>
                <a:rPr lang="en-US" sz="1400" spc="-10">
                  <a:solidFill>
                    <a:schemeClr val="tx1">
                      <a:lumMod val="50000"/>
                      <a:lumOff val="50000"/>
                    </a:schemeClr>
                  </a:solidFill>
                  <a:latin typeface="Arial" pitchFamily="34" charset="0"/>
                  <a:ea typeface="Lato"/>
                  <a:cs typeface="Lato"/>
                </a:rPr>
              </a:br>
              <a:endParaRPr lang="en-US" sz="1400" spc="-10">
                <a:solidFill>
                  <a:schemeClr val="tx1">
                    <a:lumMod val="50000"/>
                    <a:lumOff val="50000"/>
                  </a:schemeClr>
                </a:solidFill>
                <a:latin typeface="Arial" pitchFamily="34" charset="0"/>
                <a:ea typeface="Lato"/>
                <a:cs typeface="Lato"/>
              </a:endParaRPr>
            </a:p>
            <a:p>
              <a:pPr algn="ctr" defTabSz="914377">
                <a:lnSpc>
                  <a:spcPct val="120000"/>
                </a:lnSpc>
                <a:defRPr/>
              </a:pPr>
              <a:endParaRPr lang="en-US" sz="1400" i="0" u="none" strike="noStrike" kern="1200" cap="none" spc="-10" normalizeH="0" baseline="0" noProof="0">
                <a:ln>
                  <a:noFill/>
                </a:ln>
                <a:solidFill>
                  <a:schemeClr val="tx1">
                    <a:lumMod val="50000"/>
                    <a:lumOff val="50000"/>
                  </a:schemeClr>
                </a:solidFill>
                <a:effectLst/>
                <a:uLnTx/>
                <a:uFillTx/>
                <a:latin typeface="Arial" pitchFamily="34" charset="0"/>
                <a:ea typeface="Lato"/>
                <a:cs typeface="Lato"/>
              </a:endParaRPr>
            </a:p>
          </p:txBody>
        </p:sp>
      </p:grpSp>
      <p:grpSp>
        <p:nvGrpSpPr>
          <p:cNvPr id="5" name="Group 4">
            <a:extLst>
              <a:ext uri="{FF2B5EF4-FFF2-40B4-BE49-F238E27FC236}">
                <a16:creationId xmlns:a16="http://schemas.microsoft.com/office/drawing/2014/main" id="{50EB28C9-C091-E605-C454-4704512930E3}"/>
              </a:ext>
            </a:extLst>
          </p:cNvPr>
          <p:cNvGrpSpPr/>
          <p:nvPr/>
        </p:nvGrpSpPr>
        <p:grpSpPr>
          <a:xfrm>
            <a:off x="8383805" y="1543164"/>
            <a:ext cx="2559209" cy="4553827"/>
            <a:chOff x="8383805" y="1543164"/>
            <a:chExt cx="2559209" cy="4553827"/>
          </a:xfrm>
        </p:grpSpPr>
        <p:sp>
          <p:nvSpPr>
            <p:cNvPr id="28" name="TextBox 27">
              <a:extLst>
                <a:ext uri="{FF2B5EF4-FFF2-40B4-BE49-F238E27FC236}">
                  <a16:creationId xmlns:a16="http://schemas.microsoft.com/office/drawing/2014/main" id="{BD5FF77D-5D05-9272-7B02-71AA67B31E9E}"/>
                </a:ext>
              </a:extLst>
            </p:cNvPr>
            <p:cNvSpPr txBox="1"/>
            <p:nvPr/>
          </p:nvSpPr>
          <p:spPr>
            <a:xfrm>
              <a:off x="8545175" y="4872858"/>
              <a:ext cx="2236467" cy="1224133"/>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rPr>
                <a:t>Development Plan</a:t>
              </a:r>
              <a:br>
                <a:rPr lang="en-US" sz="1400" spc="-10">
                  <a:solidFill>
                    <a:schemeClr val="tx1">
                      <a:lumMod val="50000"/>
                      <a:lumOff val="50000"/>
                    </a:schemeClr>
                  </a:solidFill>
                  <a:latin typeface="Arial" pitchFamily="34" charset="0"/>
                  <a:ea typeface="Lato"/>
                  <a:cs typeface="Lato"/>
                </a:rPr>
              </a:br>
              <a:endParaRPr lang="en-US" sz="1400" i="0" u="none" strike="noStrike" kern="1200" cap="none" spc="-10" normalizeH="0" baseline="0" noProof="0">
                <a:ln>
                  <a:noFill/>
                </a:ln>
                <a:solidFill>
                  <a:schemeClr val="tx1">
                    <a:lumMod val="50000"/>
                    <a:lumOff val="50000"/>
                  </a:schemeClr>
                </a:solidFill>
                <a:effectLst/>
                <a:uLnTx/>
                <a:uFillTx/>
                <a:latin typeface="Arial" pitchFamily="34" charset="0"/>
                <a:ea typeface="Lato"/>
                <a:cs typeface="Lato"/>
              </a:endParaRPr>
            </a:p>
          </p:txBody>
        </p:sp>
        <p:sp>
          <p:nvSpPr>
            <p:cNvPr id="29" name="TextBox 28">
              <a:extLst>
                <a:ext uri="{FF2B5EF4-FFF2-40B4-BE49-F238E27FC236}">
                  <a16:creationId xmlns:a16="http://schemas.microsoft.com/office/drawing/2014/main" id="{4EA091B0-84F2-76DC-5106-610B804D8BDE}"/>
                </a:ext>
              </a:extLst>
            </p:cNvPr>
            <p:cNvSpPr txBox="1"/>
            <p:nvPr/>
          </p:nvSpPr>
          <p:spPr>
            <a:xfrm>
              <a:off x="8572377" y="1543164"/>
              <a:ext cx="2189619" cy="688342"/>
            </a:xfrm>
            <a:prstGeom prst="rect">
              <a:avLst/>
            </a:prstGeom>
            <a:noFill/>
          </p:spPr>
          <p:txBody>
            <a:bodyPr wrap="square" lIns="91440" tIns="45720" rIns="91440" bIns="45720" anchor="t">
              <a:noAutofit/>
            </a:bodyPr>
            <a:lstStyle/>
            <a:p>
              <a:pPr algn="ctr" defTabSz="914377">
                <a:lnSpc>
                  <a:spcPct val="120000"/>
                </a:lnSpc>
                <a:defRPr/>
              </a:pPr>
              <a:r>
                <a:rPr kumimoji="0" lang="en-US" sz="2000"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rPr>
                <a:t>/MOBILIZE</a:t>
              </a:r>
              <a:endParaRPr kumimoji="0" lang="en-US"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endParaRPr>
            </a:p>
          </p:txBody>
        </p:sp>
        <p:grpSp>
          <p:nvGrpSpPr>
            <p:cNvPr id="33" name="Group 32">
              <a:extLst>
                <a:ext uri="{FF2B5EF4-FFF2-40B4-BE49-F238E27FC236}">
                  <a16:creationId xmlns:a16="http://schemas.microsoft.com/office/drawing/2014/main" id="{71DCE536-BDD0-DE9A-BC64-5E3D3DC3F651}"/>
                </a:ext>
              </a:extLst>
            </p:cNvPr>
            <p:cNvGrpSpPr/>
            <p:nvPr/>
          </p:nvGrpSpPr>
          <p:grpSpPr>
            <a:xfrm>
              <a:off x="8874309" y="3009260"/>
              <a:ext cx="1591098" cy="1591098"/>
              <a:chOff x="9350370" y="2760976"/>
              <a:chExt cx="1591098" cy="1591098"/>
            </a:xfrm>
          </p:grpSpPr>
          <p:sp>
            <p:nvSpPr>
              <p:cNvPr id="37" name="Rectangle: Rounded Corners 39">
                <a:extLst>
                  <a:ext uri="{FF2B5EF4-FFF2-40B4-BE49-F238E27FC236}">
                    <a16:creationId xmlns:a16="http://schemas.microsoft.com/office/drawing/2014/main" id="{78000A28-E958-6C0E-4A0C-9CC4021E4E95}"/>
                  </a:ext>
                </a:extLst>
              </p:cNvPr>
              <p:cNvSpPr/>
              <p:nvPr/>
            </p:nvSpPr>
            <p:spPr>
              <a:xfrm>
                <a:off x="9350370" y="2760976"/>
                <a:ext cx="1591098" cy="1591098"/>
              </a:xfrm>
              <a:prstGeom prst="roundRect">
                <a:avLst>
                  <a:gd name="adj" fmla="val 18019"/>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8" name="Rectangle: Rounded Corners 54">
                <a:extLst>
                  <a:ext uri="{FF2B5EF4-FFF2-40B4-BE49-F238E27FC236}">
                    <a16:creationId xmlns:a16="http://schemas.microsoft.com/office/drawing/2014/main" id="{D5BC80AB-8637-359F-5185-669AB2357066}"/>
                  </a:ext>
                </a:extLst>
              </p:cNvPr>
              <p:cNvSpPr/>
              <p:nvPr/>
            </p:nvSpPr>
            <p:spPr>
              <a:xfrm>
                <a:off x="9407949" y="2825005"/>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4" name="Picture 51" descr="Map with pin with solid fill">
              <a:extLst>
                <a:ext uri="{FF2B5EF4-FFF2-40B4-BE49-F238E27FC236}">
                  <a16:creationId xmlns:a16="http://schemas.microsoft.com/office/drawing/2014/main" id="{3AAE3724-20F2-A3A3-A410-2957E57BBB8B}"/>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sp>
          <p:nvSpPr>
            <p:cNvPr id="54" name="TextBox 53">
              <a:extLst>
                <a:ext uri="{FF2B5EF4-FFF2-40B4-BE49-F238E27FC236}">
                  <a16:creationId xmlns:a16="http://schemas.microsoft.com/office/drawing/2014/main" id="{00C6E724-67DC-BFB8-F18F-5EF0D37ADA88}"/>
                </a:ext>
              </a:extLst>
            </p:cNvPr>
            <p:cNvSpPr txBox="1"/>
            <p:nvPr/>
          </p:nvSpPr>
          <p:spPr>
            <a:xfrm>
              <a:off x="8383805" y="2272888"/>
              <a:ext cx="2559209" cy="642212"/>
            </a:xfrm>
            <a:prstGeom prst="rect">
              <a:avLst/>
            </a:prstGeom>
            <a:noFill/>
          </p:spPr>
          <p:txBody>
            <a:bodyPr wrap="square" lIns="91440" tIns="45720" rIns="91440" bIns="45720" anchor="t">
              <a:noAutofit/>
            </a:bodyPr>
            <a:lstStyle/>
            <a:p>
              <a:pPr algn="ctr" defTabSz="914377">
                <a:lnSpc>
                  <a:spcPct val="120000"/>
                </a:lnSpc>
                <a:defRPr/>
              </a:pPr>
              <a:r>
                <a:rPr lang="en-US" sz="1400" spc="-10">
                  <a:solidFill>
                    <a:schemeClr val="tx1">
                      <a:lumMod val="50000"/>
                      <a:lumOff val="50000"/>
                    </a:schemeClr>
                  </a:solidFill>
                  <a:latin typeface="Arial" pitchFamily="34" charset="0"/>
                  <a:ea typeface="Helvetica Neue" panose="02000503000000020004" pitchFamily="2" charset="0"/>
                  <a:cs typeface="Helvetica Neue" panose="02000503000000020004" pitchFamily="2" charset="0"/>
                </a:rPr>
                <a:t>How do we prepare and support the successor?</a:t>
              </a:r>
              <a:endParaRPr kumimoji="0" lang="en-US" sz="140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grpSp>
      <p:sp>
        <p:nvSpPr>
          <p:cNvPr id="5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11</a:t>
            </a:fld>
            <a:endParaRPr lang="en-US"/>
          </a:p>
        </p:txBody>
      </p:sp>
      <p:grpSp>
        <p:nvGrpSpPr>
          <p:cNvPr id="3" name="Group 2">
            <a:extLst>
              <a:ext uri="{FF2B5EF4-FFF2-40B4-BE49-F238E27FC236}">
                <a16:creationId xmlns:a16="http://schemas.microsoft.com/office/drawing/2014/main" id="{C572DC5D-B1FC-8ECD-7289-DD959D392BDB}"/>
              </a:ext>
            </a:extLst>
          </p:cNvPr>
          <p:cNvGrpSpPr/>
          <p:nvPr/>
        </p:nvGrpSpPr>
        <p:grpSpPr>
          <a:xfrm>
            <a:off x="10403235" y="201614"/>
            <a:ext cx="410690" cy="410700"/>
            <a:chOff x="3506617" y="2730959"/>
            <a:chExt cx="1591098" cy="1591098"/>
          </a:xfrm>
        </p:grpSpPr>
        <p:sp>
          <p:nvSpPr>
            <p:cNvPr id="12" name="Rectangle: Rounded Corners 39">
              <a:extLst>
                <a:ext uri="{FF2B5EF4-FFF2-40B4-BE49-F238E27FC236}">
                  <a16:creationId xmlns:a16="http://schemas.microsoft.com/office/drawing/2014/main" id="{DDBB74AE-D40A-8619-D964-084B94D3B52D}"/>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4" name="Rectangle: Rounded Corners 54">
              <a:extLst>
                <a:ext uri="{FF2B5EF4-FFF2-40B4-BE49-F238E27FC236}">
                  <a16:creationId xmlns:a16="http://schemas.microsoft.com/office/drawing/2014/main" id="{60855E81-D7CA-3156-E5DB-D96E389C60A5}"/>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3" name="Freeform 56" descr="Clipboard Partially Checked with solid fill">
              <a:extLst>
                <a:ext uri="{FF2B5EF4-FFF2-40B4-BE49-F238E27FC236}">
                  <a16:creationId xmlns:a16="http://schemas.microsoft.com/office/drawing/2014/main" id="{5EE1EA59-6E02-616B-3F01-C44339D5ADCB}"/>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7"/>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39" name="Group 38">
            <a:extLst>
              <a:ext uri="{FF2B5EF4-FFF2-40B4-BE49-F238E27FC236}">
                <a16:creationId xmlns:a16="http://schemas.microsoft.com/office/drawing/2014/main" id="{925E373D-9425-31E9-74A5-D934502343A5}"/>
              </a:ext>
            </a:extLst>
          </p:cNvPr>
          <p:cNvGrpSpPr/>
          <p:nvPr/>
        </p:nvGrpSpPr>
        <p:grpSpPr>
          <a:xfrm>
            <a:off x="11557682" y="191038"/>
            <a:ext cx="410690" cy="410700"/>
            <a:chOff x="8874309" y="3009260"/>
            <a:chExt cx="1591098" cy="1591098"/>
          </a:xfrm>
        </p:grpSpPr>
        <p:grpSp>
          <p:nvGrpSpPr>
            <p:cNvPr id="45" name="Group 44">
              <a:extLst>
                <a:ext uri="{FF2B5EF4-FFF2-40B4-BE49-F238E27FC236}">
                  <a16:creationId xmlns:a16="http://schemas.microsoft.com/office/drawing/2014/main" id="{B387FBCF-BBD4-B80E-13CD-8F4FA0B50DC0}"/>
                </a:ext>
              </a:extLst>
            </p:cNvPr>
            <p:cNvGrpSpPr/>
            <p:nvPr/>
          </p:nvGrpSpPr>
          <p:grpSpPr>
            <a:xfrm>
              <a:off x="8874309" y="3009260"/>
              <a:ext cx="1591098" cy="1591098"/>
              <a:chOff x="9350370" y="2760976"/>
              <a:chExt cx="1591098" cy="1591098"/>
            </a:xfrm>
          </p:grpSpPr>
          <p:sp>
            <p:nvSpPr>
              <p:cNvPr id="48" name="Rectangle: Rounded Corners 39">
                <a:extLst>
                  <a:ext uri="{FF2B5EF4-FFF2-40B4-BE49-F238E27FC236}">
                    <a16:creationId xmlns:a16="http://schemas.microsoft.com/office/drawing/2014/main" id="{D74A075E-26D8-4892-73E9-4E2E7B9A4D92}"/>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9" name="Rectangle: Rounded Corners 54">
                <a:extLst>
                  <a:ext uri="{FF2B5EF4-FFF2-40B4-BE49-F238E27FC236}">
                    <a16:creationId xmlns:a16="http://schemas.microsoft.com/office/drawing/2014/main" id="{5541BD2B-F2B2-5B24-754F-FDF2C3D70526}"/>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6" name="Picture 51" descr="Map with pin with solid fill">
              <a:extLst>
                <a:ext uri="{FF2B5EF4-FFF2-40B4-BE49-F238E27FC236}">
                  <a16:creationId xmlns:a16="http://schemas.microsoft.com/office/drawing/2014/main" id="{70E3AA38-5500-06CB-42EA-DB2E883FDBA9}"/>
                </a:ext>
              </a:extLst>
            </p:cNvPr>
            <p:cNvPicPr>
              <a:picLocks noChangeAspect="1"/>
            </p:cNvPicPr>
            <p:nvPr/>
          </p:nvPicPr>
          <p:blipFill>
            <a:blip r:embed="rId8">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51" name="Group 50">
            <a:extLst>
              <a:ext uri="{FF2B5EF4-FFF2-40B4-BE49-F238E27FC236}">
                <a16:creationId xmlns:a16="http://schemas.microsoft.com/office/drawing/2014/main" id="{80AA4875-5C39-2532-CD74-7C2CBAACE575}"/>
              </a:ext>
            </a:extLst>
          </p:cNvPr>
          <p:cNvGrpSpPr/>
          <p:nvPr/>
        </p:nvGrpSpPr>
        <p:grpSpPr>
          <a:xfrm>
            <a:off x="10997361" y="200955"/>
            <a:ext cx="410690" cy="410700"/>
            <a:chOff x="5303120" y="3009260"/>
            <a:chExt cx="1591098" cy="1591098"/>
          </a:xfrm>
        </p:grpSpPr>
        <p:grpSp>
          <p:nvGrpSpPr>
            <p:cNvPr id="52" name="Group 51">
              <a:extLst>
                <a:ext uri="{FF2B5EF4-FFF2-40B4-BE49-F238E27FC236}">
                  <a16:creationId xmlns:a16="http://schemas.microsoft.com/office/drawing/2014/main" id="{B2257ED7-9F77-712B-CFEE-CB1B5182F6DF}"/>
                </a:ext>
              </a:extLst>
            </p:cNvPr>
            <p:cNvGrpSpPr/>
            <p:nvPr/>
          </p:nvGrpSpPr>
          <p:grpSpPr>
            <a:xfrm>
              <a:off x="5303120" y="3009260"/>
              <a:ext cx="1591098" cy="1591098"/>
              <a:chOff x="6428492" y="2760976"/>
              <a:chExt cx="1591098" cy="1591098"/>
            </a:xfrm>
          </p:grpSpPr>
          <p:sp>
            <p:nvSpPr>
              <p:cNvPr id="57" name="Rectangle: Rounded Corners 39">
                <a:extLst>
                  <a:ext uri="{FF2B5EF4-FFF2-40B4-BE49-F238E27FC236}">
                    <a16:creationId xmlns:a16="http://schemas.microsoft.com/office/drawing/2014/main" id="{9CD20F1F-349C-2358-CA3F-332973DCACD5}"/>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8" name="Rectangle: Rounded Corners 54">
                <a:extLst>
                  <a:ext uri="{FF2B5EF4-FFF2-40B4-BE49-F238E27FC236}">
                    <a16:creationId xmlns:a16="http://schemas.microsoft.com/office/drawing/2014/main" id="{278A0AC6-B993-85A6-C342-6E49711D55AD}"/>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56" name="Graphic 27" descr="Target Audience with solid fill">
              <a:extLst>
                <a:ext uri="{FF2B5EF4-FFF2-40B4-BE49-F238E27FC236}">
                  <a16:creationId xmlns:a16="http://schemas.microsoft.com/office/drawing/2014/main" id="{AF9811AF-A8B1-FF4C-4F5E-B1AEA078D3C5}"/>
                </a:ext>
              </a:extLst>
            </p:cNvPr>
            <p:cNvPicPr>
              <a:picLocks noChangeAspect="1"/>
            </p:cNvPicPr>
            <p:nvPr/>
          </p:nvPicPr>
          <p:blipFill>
            <a:blip r:embed="rId9">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59" name="TextBox 58">
            <a:extLst>
              <a:ext uri="{FF2B5EF4-FFF2-40B4-BE49-F238E27FC236}">
                <a16:creationId xmlns:a16="http://schemas.microsoft.com/office/drawing/2014/main" id="{D69D4C31-F5FE-9853-4F47-428C221C3DE1}"/>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60" name="TextBox 59">
            <a:extLst>
              <a:ext uri="{FF2B5EF4-FFF2-40B4-BE49-F238E27FC236}">
                <a16:creationId xmlns:a16="http://schemas.microsoft.com/office/drawing/2014/main" id="{9CE2F9FB-1B31-8FCA-2B88-03FBA15A63A7}"/>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61" name="TextBox 60">
            <a:extLst>
              <a:ext uri="{FF2B5EF4-FFF2-40B4-BE49-F238E27FC236}">
                <a16:creationId xmlns:a16="http://schemas.microsoft.com/office/drawing/2014/main" id="{BACD6FC4-E220-7201-4906-905F42B3B1F4}"/>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62" name="Rectangle 61">
            <a:extLst>
              <a:ext uri="{FF2B5EF4-FFF2-40B4-BE49-F238E27FC236}">
                <a16:creationId xmlns:a16="http://schemas.microsoft.com/office/drawing/2014/main" id="{F042896F-BC69-2AE5-D3A5-2F89650BD3D8}"/>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496706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AF9B9B-C4C8-7943-B505-896C518168CB}"/>
              </a:ext>
            </a:extLst>
          </p:cNvPr>
          <p:cNvSpPr>
            <a:spLocks noGrp="1"/>
          </p:cNvSpPr>
          <p:nvPr>
            <p:ph type="title" sz="quarter"/>
          </p:nvPr>
        </p:nvSpPr>
        <p:spPr/>
        <p:txBody>
          <a:bodyPr lIns="121920" tIns="60960" rIns="121920" bIns="60960" anchor="t"/>
          <a:lstStyle/>
          <a:p>
            <a:r>
              <a:rPr lang="en-US" sz="2650" b="1" spc="-25" dirty="0">
                <a:latin typeface="Segoe UI" pitchFamily="34" charset="0"/>
                <a:ea typeface="Helvetica Neue" panose="02000503000000020004" pitchFamily="2" charset="0"/>
                <a:cs typeface="Helvetica Neue" panose="02000503000000020004" pitchFamily="2" charset="0"/>
              </a:rPr>
              <a:t>Job </a:t>
            </a:r>
            <a:r>
              <a:rPr lang="en-US" sz="2650" b="1" spc="-25" dirty="0">
                <a:solidFill>
                  <a:schemeClr val="accent1"/>
                </a:solidFill>
                <a:latin typeface="Segoe UI" pitchFamily="34" charset="0"/>
                <a:ea typeface="Helvetica Neue" panose="02000503000000020004" pitchFamily="2" charset="0"/>
                <a:cs typeface="Helvetica Neue" panose="02000503000000020004" pitchFamily="2" charset="0"/>
              </a:rPr>
              <a:t>descriptions</a:t>
            </a:r>
            <a:r>
              <a:rPr lang="en-US" sz="2650" b="1" spc="-25" dirty="0">
                <a:latin typeface="Segoe UI" pitchFamily="34" charset="0"/>
                <a:ea typeface="Helvetica Neue" panose="02000503000000020004" pitchFamily="2" charset="0"/>
                <a:cs typeface="Helvetica Neue" panose="02000503000000020004" pitchFamily="2" charset="0"/>
              </a:rPr>
              <a:t> vs </a:t>
            </a:r>
            <a:r>
              <a:rPr lang="en-US" sz="2650" spc="-25" dirty="0">
                <a:solidFill>
                  <a:schemeClr val="accent1"/>
                </a:solidFill>
                <a:ea typeface="Helvetica Neue" panose="02000503000000020004" pitchFamily="2" charset="0"/>
                <a:cs typeface="Helvetica Neue" panose="02000503000000020004" pitchFamily="2" charset="0"/>
              </a:rPr>
              <a:t>J</a:t>
            </a:r>
            <a:r>
              <a:rPr lang="en-US" sz="2650" b="1" spc="-25" dirty="0">
                <a:solidFill>
                  <a:schemeClr val="accent1"/>
                </a:solidFill>
                <a:latin typeface="Segoe UI" pitchFamily="34" charset="0"/>
                <a:ea typeface="Helvetica Neue" panose="02000503000000020004" pitchFamily="2" charset="0"/>
                <a:cs typeface="Helvetica Neue" panose="02000503000000020004" pitchFamily="2" charset="0"/>
              </a:rPr>
              <a:t>obs to be Done</a:t>
            </a:r>
          </a:p>
        </p:txBody>
      </p:sp>
      <p:grpSp>
        <p:nvGrpSpPr>
          <p:cNvPr id="3" name="Group 2">
            <a:extLst>
              <a:ext uri="{FF2B5EF4-FFF2-40B4-BE49-F238E27FC236}">
                <a16:creationId xmlns:a16="http://schemas.microsoft.com/office/drawing/2014/main" id="{8E568E27-6DC7-2647-A7C3-77A63AFF231E}"/>
              </a:ext>
            </a:extLst>
          </p:cNvPr>
          <p:cNvGrpSpPr/>
          <p:nvPr/>
        </p:nvGrpSpPr>
        <p:grpSpPr>
          <a:xfrm>
            <a:off x="1359794" y="1498420"/>
            <a:ext cx="9472410" cy="3861159"/>
            <a:chOff x="1154361" y="1480964"/>
            <a:chExt cx="9472410" cy="3861160"/>
          </a:xfrm>
        </p:grpSpPr>
        <p:sp>
          <p:nvSpPr>
            <p:cNvPr id="4" name="Rectangle 3">
              <a:extLst>
                <a:ext uri="{FF2B5EF4-FFF2-40B4-BE49-F238E27FC236}">
                  <a16:creationId xmlns:a16="http://schemas.microsoft.com/office/drawing/2014/main" id="{43058638-7C58-EB44-9108-88FBCA0B6049}"/>
                </a:ext>
              </a:extLst>
            </p:cNvPr>
            <p:cNvSpPr/>
            <p:nvPr/>
          </p:nvSpPr>
          <p:spPr>
            <a:xfrm>
              <a:off x="1154361" y="1992882"/>
              <a:ext cx="6223000" cy="3136791"/>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endParaRPr lang="en-US" spc="-10">
                <a:solidFill>
                  <a:srgbClr val="FFFFFF"/>
                </a:solidFill>
                <a:latin typeface="Arial" pitchFamily="34" charset="0"/>
                <a:ea typeface="Helvetica Neue" panose="02000503000000020004" pitchFamily="2" charset="0"/>
                <a:cs typeface="Helvetica Neue" panose="02000503000000020004" pitchFamily="2" charset="0"/>
              </a:endParaRPr>
            </a:p>
          </p:txBody>
        </p:sp>
        <p:pic>
          <p:nvPicPr>
            <p:cNvPr id="5" name="Picture 4">
              <a:extLst>
                <a:ext uri="{FF2B5EF4-FFF2-40B4-BE49-F238E27FC236}">
                  <a16:creationId xmlns:a16="http://schemas.microsoft.com/office/drawing/2014/main" id="{AC173312-0916-C947-A1C9-3991C9225600}"/>
                </a:ext>
              </a:extLst>
            </p:cNvPr>
            <p:cNvPicPr>
              <a:picLocks noChangeAspect="1"/>
            </p:cNvPicPr>
            <p:nvPr/>
          </p:nvPicPr>
          <p:blipFill>
            <a:blip r:embed="rId4" cstate="screen">
              <a:duotone>
                <a:srgbClr val="765FFF"/>
                <a:srgbClr val="FFFFFF"/>
              </a:duotone>
            </a:blip>
            <a:stretch>
              <a:fillRect/>
            </a:stretch>
          </p:blipFill>
          <p:spPr>
            <a:xfrm>
              <a:off x="1358699" y="1865354"/>
              <a:ext cx="3894667" cy="2807406"/>
            </a:xfrm>
            <a:prstGeom prst="rect">
              <a:avLst/>
            </a:prstGeom>
          </p:spPr>
        </p:pic>
        <p:sp>
          <p:nvSpPr>
            <p:cNvPr id="6" name="TextBox 5">
              <a:extLst>
                <a:ext uri="{FF2B5EF4-FFF2-40B4-BE49-F238E27FC236}">
                  <a16:creationId xmlns:a16="http://schemas.microsoft.com/office/drawing/2014/main" id="{2F86DBFD-D79A-9246-BF14-88A945CAA444}"/>
                </a:ext>
              </a:extLst>
            </p:cNvPr>
            <p:cNvSpPr txBox="1"/>
            <p:nvPr/>
          </p:nvSpPr>
          <p:spPr>
            <a:xfrm>
              <a:off x="2306439" y="1532855"/>
              <a:ext cx="2124299" cy="400110"/>
            </a:xfrm>
            <a:prstGeom prst="rect">
              <a:avLst/>
            </a:prstGeom>
            <a:noFill/>
          </p:spPr>
          <p:txBody>
            <a:bodyPr wrap="none" lIns="91440" tIns="45720" rIns="91440" bIns="45720" rtlCol="0">
              <a:spAutoFit/>
            </a:bodyPr>
            <a:lstStyle/>
            <a:p>
              <a:pPr>
                <a:defRPr/>
              </a:pPr>
              <a:r>
                <a:rPr lang="en-US" sz="2000" spc="-10">
                  <a:solidFill>
                    <a:srgbClr val="1D1D1D">
                      <a:lumMod val="75000"/>
                      <a:lumOff val="25000"/>
                    </a:srgbClr>
                  </a:solidFill>
                  <a:latin typeface="Arial" pitchFamily="34" charset="0"/>
                  <a:ea typeface="Helvetica Neue" panose="02000503000000020004" pitchFamily="2" charset="0"/>
                  <a:cs typeface="Helvetica Neue" panose="02000503000000020004" pitchFamily="2" charset="0"/>
                </a:rPr>
                <a:t>Job Descriptions</a:t>
              </a:r>
            </a:p>
          </p:txBody>
        </p:sp>
        <p:sp>
          <p:nvSpPr>
            <p:cNvPr id="7" name="TextBox 6">
              <a:extLst>
                <a:ext uri="{FF2B5EF4-FFF2-40B4-BE49-F238E27FC236}">
                  <a16:creationId xmlns:a16="http://schemas.microsoft.com/office/drawing/2014/main" id="{3966A6CA-1211-0E4A-8981-4B6C700B00A8}"/>
                </a:ext>
              </a:extLst>
            </p:cNvPr>
            <p:cNvSpPr txBox="1"/>
            <p:nvPr/>
          </p:nvSpPr>
          <p:spPr>
            <a:xfrm>
              <a:off x="1158716" y="4757349"/>
              <a:ext cx="4307699" cy="584775"/>
            </a:xfrm>
            <a:prstGeom prst="rect">
              <a:avLst/>
            </a:prstGeom>
            <a:solidFill>
              <a:schemeClr val="bg1"/>
            </a:solidFill>
          </p:spPr>
          <p:txBody>
            <a:bodyPr wrap="square" lIns="91440" tIns="45720" rIns="91440" bIns="45720" rtlCol="0">
              <a:spAutoFit/>
            </a:bodyPr>
            <a:lstStyle/>
            <a:p>
              <a:pPr algn="ctr">
                <a:defRPr/>
              </a:pPr>
              <a:r>
                <a:rPr lang="en-US" sz="1600" spc="-10">
                  <a:solidFill>
                    <a:srgbClr val="1D1D1D">
                      <a:lumMod val="75000"/>
                      <a:lumOff val="25000"/>
                    </a:srgbClr>
                  </a:solidFill>
                  <a:latin typeface="Arial" pitchFamily="34" charset="0"/>
                  <a:ea typeface="Helvetica Neue" panose="02000503000000020004" pitchFamily="2" charset="0"/>
                  <a:cs typeface="Helvetica Neue" panose="02000503000000020004" pitchFamily="2" charset="0"/>
                </a:rPr>
                <a:t>Describes Responsibilities</a:t>
              </a:r>
            </a:p>
            <a:p>
              <a:pPr algn="ctr">
                <a:defRPr/>
              </a:pPr>
              <a:r>
                <a:rPr lang="en-US" sz="1600" spc="-10">
                  <a:solidFill>
                    <a:srgbClr val="1D1D1D">
                      <a:lumMod val="75000"/>
                      <a:lumOff val="25000"/>
                    </a:srgbClr>
                  </a:solidFill>
                  <a:latin typeface="Arial" pitchFamily="34" charset="0"/>
                  <a:ea typeface="Helvetica Neue" panose="02000503000000020004" pitchFamily="2" charset="0"/>
                  <a:cs typeface="Helvetica Neue" panose="02000503000000020004" pitchFamily="2" charset="0"/>
                </a:rPr>
                <a:t>No Context</a:t>
              </a:r>
            </a:p>
          </p:txBody>
        </p:sp>
        <p:grpSp>
          <p:nvGrpSpPr>
            <p:cNvPr id="8" name="Group 7">
              <a:extLst>
                <a:ext uri="{FF2B5EF4-FFF2-40B4-BE49-F238E27FC236}">
                  <a16:creationId xmlns:a16="http://schemas.microsoft.com/office/drawing/2014/main" id="{2F69C4E0-1968-1049-A7D6-16F163450BDD}"/>
                </a:ext>
              </a:extLst>
            </p:cNvPr>
            <p:cNvGrpSpPr/>
            <p:nvPr/>
          </p:nvGrpSpPr>
          <p:grpSpPr>
            <a:xfrm>
              <a:off x="5462059" y="1480964"/>
              <a:ext cx="5164712" cy="3848919"/>
              <a:chOff x="5462059" y="1480964"/>
              <a:chExt cx="5164712" cy="3848919"/>
            </a:xfrm>
          </p:grpSpPr>
          <p:grpSp>
            <p:nvGrpSpPr>
              <p:cNvPr id="9" name="Group 8">
                <a:extLst>
                  <a:ext uri="{FF2B5EF4-FFF2-40B4-BE49-F238E27FC236}">
                    <a16:creationId xmlns:a16="http://schemas.microsoft.com/office/drawing/2014/main" id="{9FB377E9-87C9-7748-BBEB-D694E1D3DECE}"/>
                  </a:ext>
                </a:extLst>
              </p:cNvPr>
              <p:cNvGrpSpPr/>
              <p:nvPr/>
            </p:nvGrpSpPr>
            <p:grpSpPr>
              <a:xfrm>
                <a:off x="5462059" y="1480964"/>
                <a:ext cx="5164711" cy="3831243"/>
                <a:chOff x="5145898" y="1797375"/>
                <a:chExt cx="5164711" cy="3831243"/>
              </a:xfrm>
            </p:grpSpPr>
            <p:pic>
              <p:nvPicPr>
                <p:cNvPr id="13" name="Picture 12" descr="A picture containing person, outdoor, woman, holding&#10;&#10;Description automatically generated">
                  <a:extLst>
                    <a:ext uri="{FF2B5EF4-FFF2-40B4-BE49-F238E27FC236}">
                      <a16:creationId xmlns:a16="http://schemas.microsoft.com/office/drawing/2014/main" id="{289F7116-2097-8B4B-A847-E61B2FB75416}"/>
                    </a:ext>
                  </a:extLst>
                </p:cNvPr>
                <p:cNvPicPr>
                  <a:picLocks noChangeAspect="1"/>
                </p:cNvPicPr>
                <p:nvPr/>
              </p:nvPicPr>
              <p:blipFill rotWithShape="1">
                <a:blip r:embed="rId5" cstate="screen">
                  <a:duotone>
                    <a:srgbClr val="765FFF"/>
                    <a:srgbClr val="FFFFFF"/>
                  </a:duotone>
                </a:blip>
                <a:srcRect r="10161"/>
                <a:stretch/>
              </p:blipFill>
              <p:spPr>
                <a:xfrm>
                  <a:off x="5145898" y="1797375"/>
                  <a:ext cx="5160356" cy="3831243"/>
                </a:xfrm>
                <a:prstGeom prst="rect">
                  <a:avLst/>
                </a:prstGeom>
                <a:effectLst>
                  <a:outerShdw blurRad="88900" dist="152400" dir="8100000" algn="tr" rotWithShape="0">
                    <a:prstClr val="black">
                      <a:alpha val="40000"/>
                    </a:prstClr>
                  </a:outerShdw>
                </a:effectLst>
              </p:spPr>
            </p:pic>
            <p:sp>
              <p:nvSpPr>
                <p:cNvPr id="14" name="Oval 13">
                  <a:extLst>
                    <a:ext uri="{FF2B5EF4-FFF2-40B4-BE49-F238E27FC236}">
                      <a16:creationId xmlns:a16="http://schemas.microsoft.com/office/drawing/2014/main" id="{FC4A8667-FE56-C84D-B8F8-E26BB278ADEA}"/>
                    </a:ext>
                  </a:extLst>
                </p:cNvPr>
                <p:cNvSpPr/>
                <p:nvPr/>
              </p:nvSpPr>
              <p:spPr>
                <a:xfrm>
                  <a:off x="8956271" y="3451393"/>
                  <a:ext cx="222365" cy="222365"/>
                </a:xfrm>
                <a:prstGeom prst="ellipse">
                  <a:avLst/>
                </a:prstGeom>
                <a:solidFill>
                  <a:srgbClr val="281A42"/>
                </a:solidFill>
                <a:ln>
                  <a:solidFill>
                    <a:srgbClr val="2B3A42"/>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endParaRPr lang="en-US" spc="-10">
                    <a:solidFill>
                      <a:srgbClr val="FFFFFF"/>
                    </a:solidFill>
                    <a:latin typeface="Arial" pitchFamily="34" charset="0"/>
                    <a:ea typeface="Helvetica Neue" panose="02000503000000020004" pitchFamily="2" charset="0"/>
                    <a:cs typeface="Helvetica Neue" panose="02000503000000020004" pitchFamily="2" charset="0"/>
                  </a:endParaRPr>
                </a:p>
              </p:txBody>
            </p:sp>
            <p:sp>
              <p:nvSpPr>
                <p:cNvPr id="15" name="Oval 14">
                  <a:extLst>
                    <a:ext uri="{FF2B5EF4-FFF2-40B4-BE49-F238E27FC236}">
                      <a16:creationId xmlns:a16="http://schemas.microsoft.com/office/drawing/2014/main" id="{0D13B3BD-D3EB-B843-B273-69B6C1647B2B}"/>
                    </a:ext>
                  </a:extLst>
                </p:cNvPr>
                <p:cNvSpPr/>
                <p:nvPr/>
              </p:nvSpPr>
              <p:spPr>
                <a:xfrm>
                  <a:off x="10006881" y="3429000"/>
                  <a:ext cx="303728" cy="303728"/>
                </a:xfrm>
                <a:prstGeom prst="ellipse">
                  <a:avLst/>
                </a:prstGeom>
                <a:solidFill>
                  <a:srgbClr val="281A42"/>
                </a:solidFill>
                <a:ln>
                  <a:solidFill>
                    <a:srgbClr val="2B3A42"/>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endParaRPr lang="en-US" spc="-10">
                    <a:solidFill>
                      <a:srgbClr val="FFFFFF"/>
                    </a:solidFill>
                    <a:latin typeface="Arial" pitchFamily="34" charset="0"/>
                    <a:ea typeface="Helvetica Neue" panose="02000503000000020004" pitchFamily="2" charset="0"/>
                    <a:cs typeface="Helvetica Neue" panose="02000503000000020004" pitchFamily="2" charset="0"/>
                  </a:endParaRPr>
                </a:p>
              </p:txBody>
            </p:sp>
            <p:sp>
              <p:nvSpPr>
                <p:cNvPr id="16" name="Oval 15">
                  <a:extLst>
                    <a:ext uri="{FF2B5EF4-FFF2-40B4-BE49-F238E27FC236}">
                      <a16:creationId xmlns:a16="http://schemas.microsoft.com/office/drawing/2014/main" id="{65AB5155-2A65-0B40-8219-E01D4C8A25CC}"/>
                    </a:ext>
                  </a:extLst>
                </p:cNvPr>
                <p:cNvSpPr/>
                <p:nvPr/>
              </p:nvSpPr>
              <p:spPr>
                <a:xfrm>
                  <a:off x="8090619" y="3710940"/>
                  <a:ext cx="162560" cy="162560"/>
                </a:xfrm>
                <a:prstGeom prst="ellipse">
                  <a:avLst/>
                </a:prstGeom>
                <a:solidFill>
                  <a:srgbClr val="281A42"/>
                </a:solidFill>
                <a:ln>
                  <a:solidFill>
                    <a:srgbClr val="2B3A42"/>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endParaRPr lang="en-US" spc="-10">
                    <a:solidFill>
                      <a:srgbClr val="FFFFFF"/>
                    </a:solidFill>
                    <a:latin typeface="Arial" pitchFamily="34" charset="0"/>
                    <a:ea typeface="Helvetica Neue" panose="02000503000000020004" pitchFamily="2" charset="0"/>
                    <a:cs typeface="Helvetica Neue" panose="02000503000000020004" pitchFamily="2" charset="0"/>
                  </a:endParaRPr>
                </a:p>
              </p:txBody>
            </p:sp>
          </p:grpSp>
          <p:sp>
            <p:nvSpPr>
              <p:cNvPr id="10" name="Rectangle 9">
                <a:extLst>
                  <a:ext uri="{FF2B5EF4-FFF2-40B4-BE49-F238E27FC236}">
                    <a16:creationId xmlns:a16="http://schemas.microsoft.com/office/drawing/2014/main" id="{2209C525-07D4-EC41-8AAB-3929C4807F7E}"/>
                  </a:ext>
                </a:extLst>
              </p:cNvPr>
              <p:cNvSpPr/>
              <p:nvPr/>
            </p:nvSpPr>
            <p:spPr>
              <a:xfrm>
                <a:off x="5466415" y="1480964"/>
                <a:ext cx="5160356" cy="584774"/>
              </a:xfrm>
              <a:prstGeom prst="rect">
                <a:avLst/>
              </a:prstGeom>
              <a:solidFill>
                <a:srgbClr val="281A4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endParaRPr lang="en-US" spc="-10">
                  <a:solidFill>
                    <a:srgbClr val="FFFFFF"/>
                  </a:solidFill>
                  <a:latin typeface="Arial" pitchFamily="34" charset="0"/>
                  <a:ea typeface="Helvetica Neue" panose="02000503000000020004" pitchFamily="2" charset="0"/>
                  <a:cs typeface="Helvetica Neue" panose="02000503000000020004" pitchFamily="2" charset="0"/>
                </a:endParaRPr>
              </a:p>
            </p:txBody>
          </p:sp>
          <p:sp>
            <p:nvSpPr>
              <p:cNvPr id="11" name="TextBox 10">
                <a:extLst>
                  <a:ext uri="{FF2B5EF4-FFF2-40B4-BE49-F238E27FC236}">
                    <a16:creationId xmlns:a16="http://schemas.microsoft.com/office/drawing/2014/main" id="{AEBF2AF4-D644-6944-83DB-C55C8DEC9816}"/>
                  </a:ext>
                </a:extLst>
              </p:cNvPr>
              <p:cNvSpPr txBox="1"/>
              <p:nvPr/>
            </p:nvSpPr>
            <p:spPr>
              <a:xfrm>
                <a:off x="6162130" y="1588685"/>
                <a:ext cx="3366627" cy="400110"/>
              </a:xfrm>
              <a:prstGeom prst="rect">
                <a:avLst/>
              </a:prstGeom>
              <a:noFill/>
            </p:spPr>
            <p:txBody>
              <a:bodyPr wrap="none" lIns="91440" tIns="45720" rIns="91440" bIns="45720" rtlCol="0" anchor="t">
                <a:spAutoFit/>
              </a:bodyPr>
              <a:lstStyle/>
              <a:p>
                <a:pPr algn="r">
                  <a:defRPr/>
                </a:pPr>
                <a:r>
                  <a:rPr lang="en-US" sz="2000" b="1" spc="-10" dirty="0">
                    <a:solidFill>
                      <a:srgbClr val="FFFFFF"/>
                    </a:solidFill>
                    <a:latin typeface="Segoe UI" pitchFamily="34" charset="0"/>
                    <a:ea typeface="Helvetica Neue" panose="02000503000000020004" pitchFamily="2" charset="0"/>
                    <a:cs typeface="Helvetica Neue" panose="02000503000000020004" pitchFamily="2" charset="0"/>
                  </a:rPr>
                  <a:t>JOBS TO BE DONE (JTBDs)</a:t>
                </a:r>
              </a:p>
            </p:txBody>
          </p:sp>
          <p:sp>
            <p:nvSpPr>
              <p:cNvPr id="12" name="TextBox 11">
                <a:extLst>
                  <a:ext uri="{FF2B5EF4-FFF2-40B4-BE49-F238E27FC236}">
                    <a16:creationId xmlns:a16="http://schemas.microsoft.com/office/drawing/2014/main" id="{AB2B9C1C-3427-1C48-B8B6-168CC3368425}"/>
                  </a:ext>
                </a:extLst>
              </p:cNvPr>
              <p:cNvSpPr txBox="1"/>
              <p:nvPr/>
            </p:nvSpPr>
            <p:spPr>
              <a:xfrm>
                <a:off x="5462059" y="4745108"/>
                <a:ext cx="5160356" cy="584775"/>
              </a:xfrm>
              <a:prstGeom prst="rect">
                <a:avLst/>
              </a:prstGeom>
              <a:solidFill>
                <a:schemeClr val="tx1">
                  <a:lumMod val="75000"/>
                  <a:lumOff val="25000"/>
                  <a:alpha val="75000"/>
                </a:schemeClr>
              </a:solidFill>
            </p:spPr>
            <p:txBody>
              <a:bodyPr wrap="square" lIns="91440" tIns="45720" rIns="91440" bIns="45720" rtlCol="0">
                <a:spAutoFit/>
              </a:bodyPr>
              <a:lstStyle/>
              <a:p>
                <a:pPr algn="ctr">
                  <a:defRPr/>
                </a:pPr>
                <a:r>
                  <a:rPr lang="en-US" sz="1600" spc="-10">
                    <a:solidFill>
                      <a:srgbClr val="FFFFFF"/>
                    </a:solidFill>
                    <a:latin typeface="Arial" pitchFamily="34" charset="0"/>
                    <a:ea typeface="Helvetica Neue" panose="02000503000000020004" pitchFamily="2" charset="0"/>
                    <a:cs typeface="Helvetica Neue" panose="02000503000000020004" pitchFamily="2" charset="0"/>
                  </a:rPr>
                  <a:t>Actions and Outcomes</a:t>
                </a:r>
              </a:p>
              <a:p>
                <a:pPr algn="ctr">
                  <a:defRPr/>
                </a:pPr>
                <a:r>
                  <a:rPr lang="en-US" sz="1600" spc="-10">
                    <a:solidFill>
                      <a:srgbClr val="FFFFFF"/>
                    </a:solidFill>
                    <a:latin typeface="Arial" pitchFamily="34" charset="0"/>
                    <a:ea typeface="Helvetica Neue" panose="02000503000000020004" pitchFamily="2" charset="0"/>
                    <a:cs typeface="Helvetica Neue" panose="02000503000000020004" pitchFamily="2" charset="0"/>
                  </a:rPr>
                  <a:t>Linked to context and strategy</a:t>
                </a:r>
              </a:p>
            </p:txBody>
          </p:sp>
        </p:grpSp>
      </p:grpSp>
      <p:sp>
        <p:nvSpPr>
          <p:cNvPr id="66" name="TextBox 65">
            <a:extLst>
              <a:ext uri="{FF2B5EF4-FFF2-40B4-BE49-F238E27FC236}">
                <a16:creationId xmlns:a16="http://schemas.microsoft.com/office/drawing/2014/main" id="{1DE48268-54CB-541D-1607-3C6972582A83}"/>
              </a:ext>
            </a:extLst>
          </p:cNvPr>
          <p:cNvSpPr txBox="1"/>
          <p:nvPr/>
        </p:nvSpPr>
        <p:spPr>
          <a:xfrm>
            <a:off x="1405665" y="5798783"/>
            <a:ext cx="9380669" cy="510778"/>
          </a:xfrm>
          <a:prstGeom prst="roundRect">
            <a:avLst/>
          </a:prstGeom>
          <a:solidFill>
            <a:srgbClr val="281A42"/>
          </a:solidFill>
          <a:ln w="19050">
            <a:solidFill>
              <a:srgbClr val="2B3A42"/>
            </a:solidFill>
          </a:ln>
          <a:effectLst>
            <a:outerShdw blurRad="50800" dist="38100" dir="8100000" algn="tr" rotWithShape="0">
              <a:prstClr val="black">
                <a:alpha val="40000"/>
              </a:prstClr>
            </a:outerShdw>
          </a:effectLst>
        </p:spPr>
        <p:txBody>
          <a:bodyPr wrap="square" lIns="91440" tIns="45720" rIns="91440" bIns="45720" rtlCol="0">
            <a:spAutoFit/>
          </a:bodyPr>
          <a:lstStyle/>
          <a:p>
            <a:pPr algn="ctr"/>
            <a:r>
              <a:rPr lang="en-US" sz="2400" dirty="0">
                <a:solidFill>
                  <a:schemeClr val="bg1"/>
                </a:solidFill>
              </a:rPr>
              <a:t>The Succession Planning process requires </a:t>
            </a:r>
            <a:r>
              <a:rPr lang="en-US" sz="2400" b="1" dirty="0">
                <a:solidFill>
                  <a:schemeClr val="accent5"/>
                </a:solidFill>
              </a:rPr>
              <a:t>future-focused</a:t>
            </a:r>
            <a:r>
              <a:rPr lang="en-US" sz="2400" dirty="0">
                <a:solidFill>
                  <a:schemeClr val="bg1"/>
                </a:solidFill>
              </a:rPr>
              <a:t> JTBDs</a:t>
            </a:r>
          </a:p>
        </p:txBody>
      </p:sp>
      <p:sp>
        <p:nvSpPr>
          <p:cNvPr id="67"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12</a:t>
            </a:fld>
            <a:endParaRPr lang="en-US"/>
          </a:p>
        </p:txBody>
      </p:sp>
      <p:grpSp>
        <p:nvGrpSpPr>
          <p:cNvPr id="17" name="Group 16">
            <a:extLst>
              <a:ext uri="{FF2B5EF4-FFF2-40B4-BE49-F238E27FC236}">
                <a16:creationId xmlns:a16="http://schemas.microsoft.com/office/drawing/2014/main" id="{D9FFE93B-D1B4-9902-6EE5-D815CF0D7CE2}"/>
              </a:ext>
            </a:extLst>
          </p:cNvPr>
          <p:cNvGrpSpPr/>
          <p:nvPr/>
        </p:nvGrpSpPr>
        <p:grpSpPr>
          <a:xfrm>
            <a:off x="10403235" y="201614"/>
            <a:ext cx="410690" cy="410700"/>
            <a:chOff x="3506617" y="2730959"/>
            <a:chExt cx="1591098" cy="1591098"/>
          </a:xfrm>
        </p:grpSpPr>
        <p:sp>
          <p:nvSpPr>
            <p:cNvPr id="18" name="Rectangle: Rounded Corners 39">
              <a:extLst>
                <a:ext uri="{FF2B5EF4-FFF2-40B4-BE49-F238E27FC236}">
                  <a16:creationId xmlns:a16="http://schemas.microsoft.com/office/drawing/2014/main" id="{C5B845C3-133B-A6B3-7959-D23F577ACA59}"/>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9" name="Rectangle: Rounded Corners 54">
              <a:extLst>
                <a:ext uri="{FF2B5EF4-FFF2-40B4-BE49-F238E27FC236}">
                  <a16:creationId xmlns:a16="http://schemas.microsoft.com/office/drawing/2014/main" id="{650B0742-EDA0-48E9-1C3F-A96B17994051}"/>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0" name="Freeform 56" descr="Clipboard Partially Checked with solid fill">
              <a:extLst>
                <a:ext uri="{FF2B5EF4-FFF2-40B4-BE49-F238E27FC236}">
                  <a16:creationId xmlns:a16="http://schemas.microsoft.com/office/drawing/2014/main" id="{54ED8CDC-AC5A-DB62-81B8-3C72A35FA7D6}"/>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6"/>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21" name="Group 20">
            <a:extLst>
              <a:ext uri="{FF2B5EF4-FFF2-40B4-BE49-F238E27FC236}">
                <a16:creationId xmlns:a16="http://schemas.microsoft.com/office/drawing/2014/main" id="{866A7486-B0FF-A96A-09D2-1FE202AFAAB7}"/>
              </a:ext>
            </a:extLst>
          </p:cNvPr>
          <p:cNvGrpSpPr/>
          <p:nvPr/>
        </p:nvGrpSpPr>
        <p:grpSpPr>
          <a:xfrm>
            <a:off x="11557682" y="191038"/>
            <a:ext cx="410690" cy="410700"/>
            <a:chOff x="8874309" y="3009260"/>
            <a:chExt cx="1591098" cy="1591098"/>
          </a:xfrm>
        </p:grpSpPr>
        <p:grpSp>
          <p:nvGrpSpPr>
            <p:cNvPr id="22" name="Group 21">
              <a:extLst>
                <a:ext uri="{FF2B5EF4-FFF2-40B4-BE49-F238E27FC236}">
                  <a16:creationId xmlns:a16="http://schemas.microsoft.com/office/drawing/2014/main" id="{603A577A-83CA-F6BF-8C1F-FA18B70A49E8}"/>
                </a:ext>
              </a:extLst>
            </p:cNvPr>
            <p:cNvGrpSpPr/>
            <p:nvPr/>
          </p:nvGrpSpPr>
          <p:grpSpPr>
            <a:xfrm>
              <a:off x="8874309" y="3009260"/>
              <a:ext cx="1591098" cy="1591098"/>
              <a:chOff x="9350370" y="2760976"/>
              <a:chExt cx="1591098" cy="1591098"/>
            </a:xfrm>
          </p:grpSpPr>
          <p:sp>
            <p:nvSpPr>
              <p:cNvPr id="24" name="Rectangle: Rounded Corners 39">
                <a:extLst>
                  <a:ext uri="{FF2B5EF4-FFF2-40B4-BE49-F238E27FC236}">
                    <a16:creationId xmlns:a16="http://schemas.microsoft.com/office/drawing/2014/main" id="{163D1CA3-7764-77A9-5608-0B0BDF6969A8}"/>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5" name="Rectangle: Rounded Corners 54">
                <a:extLst>
                  <a:ext uri="{FF2B5EF4-FFF2-40B4-BE49-F238E27FC236}">
                    <a16:creationId xmlns:a16="http://schemas.microsoft.com/office/drawing/2014/main" id="{1E9FF8F2-B32A-374C-31D3-B64911520B65}"/>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3" name="Picture 51" descr="Map with pin with solid fill">
              <a:extLst>
                <a:ext uri="{FF2B5EF4-FFF2-40B4-BE49-F238E27FC236}">
                  <a16:creationId xmlns:a16="http://schemas.microsoft.com/office/drawing/2014/main" id="{0F10571E-9C90-CE80-3E06-BF9F85265D5A}"/>
                </a:ext>
              </a:extLst>
            </p:cNvPr>
            <p:cNvPicPr>
              <a:picLocks noChangeAspect="1"/>
            </p:cNvPicPr>
            <p:nvPr/>
          </p:nvPicPr>
          <p:blipFill>
            <a:blip r:embed="rId7">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6" name="Group 25">
            <a:extLst>
              <a:ext uri="{FF2B5EF4-FFF2-40B4-BE49-F238E27FC236}">
                <a16:creationId xmlns:a16="http://schemas.microsoft.com/office/drawing/2014/main" id="{18BA996A-07B7-3721-D959-D34D6A256562}"/>
              </a:ext>
            </a:extLst>
          </p:cNvPr>
          <p:cNvGrpSpPr/>
          <p:nvPr/>
        </p:nvGrpSpPr>
        <p:grpSpPr>
          <a:xfrm>
            <a:off x="10997361" y="200955"/>
            <a:ext cx="410690" cy="410700"/>
            <a:chOff x="5303120" y="3009260"/>
            <a:chExt cx="1591098" cy="1591098"/>
          </a:xfrm>
        </p:grpSpPr>
        <p:grpSp>
          <p:nvGrpSpPr>
            <p:cNvPr id="27" name="Group 26">
              <a:extLst>
                <a:ext uri="{FF2B5EF4-FFF2-40B4-BE49-F238E27FC236}">
                  <a16:creationId xmlns:a16="http://schemas.microsoft.com/office/drawing/2014/main" id="{4927C14A-3C40-4FE6-406B-3CBA81480F3B}"/>
                </a:ext>
              </a:extLst>
            </p:cNvPr>
            <p:cNvGrpSpPr/>
            <p:nvPr/>
          </p:nvGrpSpPr>
          <p:grpSpPr>
            <a:xfrm>
              <a:off x="5303120" y="3009260"/>
              <a:ext cx="1591098" cy="1591098"/>
              <a:chOff x="6428492" y="2760976"/>
              <a:chExt cx="1591098" cy="1591098"/>
            </a:xfrm>
          </p:grpSpPr>
          <p:sp>
            <p:nvSpPr>
              <p:cNvPr id="47" name="Rectangle: Rounded Corners 39">
                <a:extLst>
                  <a:ext uri="{FF2B5EF4-FFF2-40B4-BE49-F238E27FC236}">
                    <a16:creationId xmlns:a16="http://schemas.microsoft.com/office/drawing/2014/main" id="{DE9FB972-8CDD-22C8-4B03-B7AD7E27A0F8}"/>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8" name="Rectangle: Rounded Corners 54">
                <a:extLst>
                  <a:ext uri="{FF2B5EF4-FFF2-40B4-BE49-F238E27FC236}">
                    <a16:creationId xmlns:a16="http://schemas.microsoft.com/office/drawing/2014/main" id="{9562B84F-9F81-11C0-5FE3-377E81A46D1F}"/>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2" name="Graphic 27" descr="Target Audience with solid fill">
              <a:extLst>
                <a:ext uri="{FF2B5EF4-FFF2-40B4-BE49-F238E27FC236}">
                  <a16:creationId xmlns:a16="http://schemas.microsoft.com/office/drawing/2014/main" id="{99D08AAE-4C84-2A07-C9CC-FAAF62011004}"/>
                </a:ext>
              </a:extLst>
            </p:cNvPr>
            <p:cNvPicPr>
              <a:picLocks noChangeAspect="1"/>
            </p:cNvPicPr>
            <p:nvPr/>
          </p:nvPicPr>
          <p:blipFill>
            <a:blip r:embed="rId8">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9" name="TextBox 48">
            <a:extLst>
              <a:ext uri="{FF2B5EF4-FFF2-40B4-BE49-F238E27FC236}">
                <a16:creationId xmlns:a16="http://schemas.microsoft.com/office/drawing/2014/main" id="{22838BA1-56DA-EC9E-E0BB-2B776FC6BFC1}"/>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0" name="TextBox 49">
            <a:extLst>
              <a:ext uri="{FF2B5EF4-FFF2-40B4-BE49-F238E27FC236}">
                <a16:creationId xmlns:a16="http://schemas.microsoft.com/office/drawing/2014/main" id="{FF84D026-6D33-A37B-B152-2767E00C6AB5}"/>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1" name="TextBox 50">
            <a:extLst>
              <a:ext uri="{FF2B5EF4-FFF2-40B4-BE49-F238E27FC236}">
                <a16:creationId xmlns:a16="http://schemas.microsoft.com/office/drawing/2014/main" id="{2E4C291E-959D-D8B0-83DD-DDB2DA3B7964}"/>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2" name="Rectangle 51">
            <a:extLst>
              <a:ext uri="{FF2B5EF4-FFF2-40B4-BE49-F238E27FC236}">
                <a16:creationId xmlns:a16="http://schemas.microsoft.com/office/drawing/2014/main" id="{251A3F40-E6A5-1F44-E402-559ADC321170}"/>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3803274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C387067-BAEE-4346-9485-AE63BA783C93}"/>
              </a:ext>
            </a:extLst>
          </p:cNvPr>
          <p:cNvSpPr>
            <a:spLocks noGrp="1"/>
          </p:cNvSpPr>
          <p:nvPr>
            <p:ph type="title" sz="quarter"/>
          </p:nvPr>
        </p:nvSpPr>
        <p:spPr/>
        <p:txBody>
          <a:bodyPr/>
          <a:lstStyle/>
          <a:p>
            <a:r>
              <a:rPr lang="en-US" b="1" spc="-25" dirty="0">
                <a:latin typeface="Segoe UI" pitchFamily="34" charset="0"/>
                <a:ea typeface="Helvetica Neue" panose="02000503000000020004" pitchFamily="2" charset="0"/>
                <a:cs typeface="Helvetica Neue" panose="02000503000000020004" pitchFamily="2" charset="0"/>
              </a:rPr>
              <a:t>Building future </a:t>
            </a:r>
            <a:r>
              <a:rPr lang="en-US" spc="-25" dirty="0">
                <a:solidFill>
                  <a:srgbClr val="00C27A"/>
                </a:solidFill>
                <a:ea typeface="Helvetica Neue" panose="02000503000000020004" pitchFamily="2" charset="0"/>
                <a:cs typeface="Helvetica Neue" panose="02000503000000020004" pitchFamily="2" charset="0"/>
              </a:rPr>
              <a:t>J</a:t>
            </a:r>
            <a:r>
              <a:rPr lang="en-US" b="1" spc="-25" dirty="0">
                <a:solidFill>
                  <a:srgbClr val="00C27A"/>
                </a:solidFill>
                <a:latin typeface="Segoe UI" pitchFamily="34" charset="0"/>
                <a:ea typeface="Helvetica Neue" panose="02000503000000020004" pitchFamily="2" charset="0"/>
                <a:cs typeface="Helvetica Neue" panose="02000503000000020004" pitchFamily="2" charset="0"/>
              </a:rPr>
              <a:t>obs to be Done</a:t>
            </a:r>
          </a:p>
        </p:txBody>
      </p:sp>
      <p:grpSp>
        <p:nvGrpSpPr>
          <p:cNvPr id="55" name="Group 54">
            <a:extLst>
              <a:ext uri="{FF2B5EF4-FFF2-40B4-BE49-F238E27FC236}">
                <a16:creationId xmlns:a16="http://schemas.microsoft.com/office/drawing/2014/main" id="{69711E7C-9B51-17B3-564E-F7A3E3D2F7A6}"/>
              </a:ext>
            </a:extLst>
          </p:cNvPr>
          <p:cNvGrpSpPr/>
          <p:nvPr/>
        </p:nvGrpSpPr>
        <p:grpSpPr>
          <a:xfrm>
            <a:off x="335591" y="1167141"/>
            <a:ext cx="11302196" cy="4738325"/>
            <a:chOff x="243123" y="1652916"/>
            <a:chExt cx="11302194" cy="4738325"/>
          </a:xfrm>
        </p:grpSpPr>
        <p:sp>
          <p:nvSpPr>
            <p:cNvPr id="56" name="Rectangle 55">
              <a:extLst>
                <a:ext uri="{FF2B5EF4-FFF2-40B4-BE49-F238E27FC236}">
                  <a16:creationId xmlns:a16="http://schemas.microsoft.com/office/drawing/2014/main" id="{750EC9E4-3E68-644E-0B9C-47E53CCE85FD}"/>
                </a:ext>
              </a:extLst>
            </p:cNvPr>
            <p:cNvSpPr/>
            <p:nvPr/>
          </p:nvSpPr>
          <p:spPr>
            <a:xfrm>
              <a:off x="243123" y="2105694"/>
              <a:ext cx="2349001" cy="4285547"/>
            </a:xfrm>
            <a:prstGeom prst="rect">
              <a:avLst/>
            </a:prstGeom>
            <a:solidFill>
              <a:schemeClr val="bg2"/>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en-US" sz="2000" b="1" spc="-10" dirty="0">
                  <a:solidFill>
                    <a:schemeClr val="tx1"/>
                  </a:solidFill>
                  <a:latin typeface="Segoe UI" pitchFamily="34" charset="0"/>
                  <a:ea typeface="Helvetica Neue" panose="02000503000000020004" pitchFamily="2" charset="0"/>
                  <a:cs typeface="Helvetica Neue" panose="02000503000000020004" pitchFamily="2" charset="0"/>
                </a:rPr>
                <a:t>FUTURE JOBS TO BE </a:t>
              </a:r>
              <a:r>
                <a:rPr lang="en-US" sz="2000" b="1" spc="-10" dirty="0">
                  <a:solidFill>
                    <a:schemeClr val="accent1"/>
                  </a:solidFill>
                  <a:latin typeface="Segoe UI" pitchFamily="34" charset="0"/>
                  <a:ea typeface="Helvetica Neue" panose="02000503000000020004" pitchFamily="2" charset="0"/>
                  <a:cs typeface="Helvetica Neue" panose="02000503000000020004" pitchFamily="2" charset="0"/>
                </a:rPr>
                <a:t>DONE</a:t>
              </a:r>
              <a:r>
                <a:rPr lang="en-US" sz="2000" b="1" spc="-10" dirty="0">
                  <a:solidFill>
                    <a:prstClr val="white"/>
                  </a:solidFill>
                  <a:latin typeface="Segoe UI" pitchFamily="34" charset="0"/>
                  <a:ea typeface="Helvetica Neue" panose="02000503000000020004" pitchFamily="2" charset="0"/>
                  <a:cs typeface="Helvetica Neue" panose="02000503000000020004" pitchFamily="2" charset="0"/>
                </a:rPr>
                <a:t> </a:t>
              </a:r>
              <a:br>
                <a:rPr lang="en-US" spc="-10" dirty="0">
                  <a:solidFill>
                    <a:prstClr val="white"/>
                  </a:solidFill>
                  <a:latin typeface="Arial" pitchFamily="34" charset="0"/>
                  <a:ea typeface="Helvetica Neue" panose="02000503000000020004" pitchFamily="2" charset="0"/>
                  <a:cs typeface="Helvetica Neue" panose="02000503000000020004" pitchFamily="2" charset="0"/>
                </a:rPr>
              </a:br>
              <a:endParaRPr lang="en-US" spc="-10" dirty="0">
                <a:solidFill>
                  <a:prstClr val="white"/>
                </a:solidFill>
                <a:latin typeface="Arial" pitchFamily="34" charset="0"/>
                <a:ea typeface="Helvetica Neue" panose="02000503000000020004" pitchFamily="2" charset="0"/>
                <a:cs typeface="Helvetica Neue" panose="02000503000000020004" pitchFamily="2" charset="0"/>
              </a:endParaRPr>
            </a:p>
            <a:p>
              <a:pPr>
                <a:defRPr/>
              </a:pPr>
              <a:r>
                <a:rPr lang="en-US" sz="1600" i="1" spc="-10" dirty="0">
                  <a:solidFill>
                    <a:schemeClr val="tx1"/>
                  </a:solidFill>
                  <a:latin typeface="Arial" pitchFamily="34" charset="0"/>
                  <a:ea typeface="Helvetica Neue" panose="02000503000000020004" pitchFamily="2" charset="0"/>
                  <a:cs typeface="Helvetica Neue" panose="02000503000000020004" pitchFamily="2" charset="0"/>
                </a:rPr>
                <a:t>That reflect:</a:t>
              </a:r>
            </a:p>
            <a:p>
              <a:pPr marL="285750" indent="-285750">
                <a:buFont typeface="Arial" panose="020B0604020202020204" pitchFamily="34" charset="0"/>
                <a:buChar char="•"/>
                <a:defRPr/>
              </a:pPr>
              <a:r>
                <a:rPr lang="en-US" sz="1600" i="1" spc="-10" dirty="0">
                  <a:solidFill>
                    <a:schemeClr val="tx1"/>
                  </a:solidFill>
                  <a:latin typeface="Arial" pitchFamily="34" charset="0"/>
                  <a:ea typeface="Helvetica Neue" panose="02000503000000020004" pitchFamily="2" charset="0"/>
                  <a:cs typeface="Helvetica Neue" panose="02000503000000020004" pitchFamily="2" charset="0"/>
                </a:rPr>
                <a:t>Organizational goals in the near future</a:t>
              </a:r>
            </a:p>
            <a:p>
              <a:pPr marL="285750" indent="-285750">
                <a:buFont typeface="Arial" panose="020B0604020202020204" pitchFamily="34" charset="0"/>
                <a:buChar char="•"/>
                <a:defRPr/>
              </a:pPr>
              <a:r>
                <a:rPr lang="en-US" sz="1600" i="1" spc="-10" dirty="0">
                  <a:solidFill>
                    <a:schemeClr val="tx1"/>
                  </a:solidFill>
                  <a:latin typeface="Arial" pitchFamily="34" charset="0"/>
                  <a:ea typeface="Helvetica Neue" panose="02000503000000020004" pitchFamily="2" charset="0"/>
                  <a:cs typeface="Helvetica Neue" panose="02000503000000020004" pitchFamily="2" charset="0"/>
                </a:rPr>
                <a:t>Strategic pivots (expansion, acquisition, transformation)</a:t>
              </a:r>
            </a:p>
            <a:p>
              <a:pPr algn="ctr">
                <a:defRPr/>
              </a:pPr>
              <a:endParaRPr lang="en-US" sz="1400" spc="-10" dirty="0">
                <a:solidFill>
                  <a:schemeClr val="tx1"/>
                </a:solidFill>
                <a:latin typeface="Arial" pitchFamily="34" charset="0"/>
                <a:ea typeface="Helvetica Neue" panose="02000503000000020004" pitchFamily="2" charset="0"/>
                <a:cs typeface="Helvetica Neue" panose="02000503000000020004" pitchFamily="2" charset="0"/>
              </a:endParaRPr>
            </a:p>
          </p:txBody>
        </p:sp>
        <p:grpSp>
          <p:nvGrpSpPr>
            <p:cNvPr id="57" name="Group 56">
              <a:extLst>
                <a:ext uri="{FF2B5EF4-FFF2-40B4-BE49-F238E27FC236}">
                  <a16:creationId xmlns:a16="http://schemas.microsoft.com/office/drawing/2014/main" id="{F0E5E528-6408-5DCD-6AF2-F31F46D79916}"/>
                </a:ext>
              </a:extLst>
            </p:cNvPr>
            <p:cNvGrpSpPr/>
            <p:nvPr/>
          </p:nvGrpSpPr>
          <p:grpSpPr>
            <a:xfrm>
              <a:off x="2880530" y="1652916"/>
              <a:ext cx="8664787" cy="3993764"/>
              <a:chOff x="2880530" y="1652916"/>
              <a:chExt cx="8664787" cy="3993764"/>
            </a:xfrm>
          </p:grpSpPr>
          <p:sp>
            <p:nvSpPr>
              <p:cNvPr id="58" name="Rectangle 57">
                <a:extLst>
                  <a:ext uri="{FF2B5EF4-FFF2-40B4-BE49-F238E27FC236}">
                    <a16:creationId xmlns:a16="http://schemas.microsoft.com/office/drawing/2014/main" id="{13C58468-2694-63D6-A1C7-6D0D14EA0D84}"/>
                  </a:ext>
                </a:extLst>
              </p:cNvPr>
              <p:cNvSpPr/>
              <p:nvPr/>
            </p:nvSpPr>
            <p:spPr>
              <a:xfrm>
                <a:off x="3184659" y="4979215"/>
                <a:ext cx="1767258" cy="667465"/>
              </a:xfrm>
              <a:prstGeom prst="rect">
                <a:avLst/>
              </a:prstGeom>
              <a:solidFill>
                <a:schemeClr val="bg1">
                  <a:lumMod val="50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spc="-10">
                    <a:solidFill>
                      <a:schemeClr val="bg1"/>
                    </a:solidFill>
                    <a:latin typeface="Segoe UI" pitchFamily="34" charset="0"/>
                    <a:ea typeface="Helvetica Neue" panose="02000503000000020004" pitchFamily="2" charset="0"/>
                    <a:cs typeface="Helvetica Neue" panose="02000503000000020004" pitchFamily="2" charset="0"/>
                  </a:rPr>
                  <a:t>What</a:t>
                </a:r>
              </a:p>
            </p:txBody>
          </p:sp>
          <p:sp>
            <p:nvSpPr>
              <p:cNvPr id="59" name="Rectangle 58">
                <a:extLst>
                  <a:ext uri="{FF2B5EF4-FFF2-40B4-BE49-F238E27FC236}">
                    <a16:creationId xmlns:a16="http://schemas.microsoft.com/office/drawing/2014/main" id="{07706F4B-D003-8941-32CC-0C4B5E5AE7B9}"/>
                  </a:ext>
                </a:extLst>
              </p:cNvPr>
              <p:cNvSpPr/>
              <p:nvPr/>
            </p:nvSpPr>
            <p:spPr>
              <a:xfrm>
                <a:off x="5966756" y="4979214"/>
                <a:ext cx="1767258" cy="667465"/>
              </a:xfrm>
              <a:prstGeom prst="rect">
                <a:avLst/>
              </a:prstGeom>
              <a:solidFill>
                <a:schemeClr val="bg1">
                  <a:lumMod val="50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spc="-10">
                    <a:solidFill>
                      <a:schemeClr val="bg1"/>
                    </a:solidFill>
                    <a:latin typeface="Segoe UI" pitchFamily="34" charset="0"/>
                    <a:ea typeface="Helvetica Neue" panose="02000503000000020004" pitchFamily="2" charset="0"/>
                    <a:cs typeface="Helvetica Neue" panose="02000503000000020004" pitchFamily="2" charset="0"/>
                  </a:rPr>
                  <a:t>How</a:t>
                </a:r>
              </a:p>
            </p:txBody>
          </p:sp>
          <p:sp>
            <p:nvSpPr>
              <p:cNvPr id="60" name="Rectangle 59">
                <a:extLst>
                  <a:ext uri="{FF2B5EF4-FFF2-40B4-BE49-F238E27FC236}">
                    <a16:creationId xmlns:a16="http://schemas.microsoft.com/office/drawing/2014/main" id="{D88B55B3-6A15-DD92-0957-97D714357C16}"/>
                  </a:ext>
                </a:extLst>
              </p:cNvPr>
              <p:cNvSpPr/>
              <p:nvPr/>
            </p:nvSpPr>
            <p:spPr>
              <a:xfrm>
                <a:off x="8789949" y="4979213"/>
                <a:ext cx="1767258" cy="667465"/>
              </a:xfrm>
              <a:prstGeom prst="rect">
                <a:avLst/>
              </a:prstGeom>
              <a:solidFill>
                <a:schemeClr val="bg1">
                  <a:lumMod val="50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spc="-10">
                    <a:solidFill>
                      <a:schemeClr val="bg1"/>
                    </a:solidFill>
                    <a:latin typeface="Segoe UI" pitchFamily="34" charset="0"/>
                    <a:ea typeface="Helvetica Neue" panose="02000503000000020004" pitchFamily="2" charset="0"/>
                    <a:cs typeface="Helvetica Neue" panose="02000503000000020004" pitchFamily="2" charset="0"/>
                  </a:rPr>
                  <a:t>How Much &amp;</a:t>
                </a:r>
              </a:p>
              <a:p>
                <a:pPr algn="ctr"/>
                <a:r>
                  <a:rPr lang="en-US" sz="1400" b="1" spc="-10">
                    <a:solidFill>
                      <a:schemeClr val="bg1"/>
                    </a:solidFill>
                    <a:latin typeface="Segoe UI" pitchFamily="34" charset="0"/>
                    <a:ea typeface="Helvetica Neue" panose="02000503000000020004" pitchFamily="2" charset="0"/>
                    <a:cs typeface="Helvetica Neue" panose="02000503000000020004" pitchFamily="2" charset="0"/>
                  </a:rPr>
                  <a:t> By When</a:t>
                </a:r>
              </a:p>
            </p:txBody>
          </p:sp>
          <p:cxnSp>
            <p:nvCxnSpPr>
              <p:cNvPr id="61" name="Straight Connector 60">
                <a:extLst>
                  <a:ext uri="{FF2B5EF4-FFF2-40B4-BE49-F238E27FC236}">
                    <a16:creationId xmlns:a16="http://schemas.microsoft.com/office/drawing/2014/main" id="{BB87C9C4-52EE-1666-53B1-DE03EA8DC8C7}"/>
                  </a:ext>
                </a:extLst>
              </p:cNvPr>
              <p:cNvCxnSpPr>
                <a:cxnSpLocks/>
              </p:cNvCxnSpPr>
              <p:nvPr/>
            </p:nvCxnSpPr>
            <p:spPr>
              <a:xfrm>
                <a:off x="4068288" y="4198462"/>
                <a:ext cx="0" cy="756535"/>
              </a:xfrm>
              <a:prstGeom prst="line">
                <a:avLst/>
              </a:prstGeom>
              <a:ln>
                <a:solidFill>
                  <a:schemeClr val="tx1">
                    <a:lumMod val="75000"/>
                    <a:lumOff val="2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F239E0A3-A961-416A-B051-D7EF45BF4659}"/>
                  </a:ext>
                </a:extLst>
              </p:cNvPr>
              <p:cNvCxnSpPr>
                <a:cxnSpLocks/>
              </p:cNvCxnSpPr>
              <p:nvPr/>
            </p:nvCxnSpPr>
            <p:spPr>
              <a:xfrm>
                <a:off x="6850385" y="4198462"/>
                <a:ext cx="0" cy="756535"/>
              </a:xfrm>
              <a:prstGeom prst="line">
                <a:avLst/>
              </a:prstGeom>
              <a:ln>
                <a:solidFill>
                  <a:schemeClr val="tx1">
                    <a:lumMod val="75000"/>
                    <a:lumOff val="2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B694187D-5086-80AF-1D90-6DC6F189554C}"/>
                  </a:ext>
                </a:extLst>
              </p:cNvPr>
              <p:cNvCxnSpPr>
                <a:cxnSpLocks/>
              </p:cNvCxnSpPr>
              <p:nvPr/>
            </p:nvCxnSpPr>
            <p:spPr>
              <a:xfrm>
                <a:off x="9673578" y="4198461"/>
                <a:ext cx="0" cy="756535"/>
              </a:xfrm>
              <a:prstGeom prst="line">
                <a:avLst/>
              </a:prstGeom>
              <a:ln>
                <a:solidFill>
                  <a:schemeClr val="tx1">
                    <a:lumMod val="75000"/>
                    <a:lumOff val="25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64" name="Group 63">
                <a:extLst>
                  <a:ext uri="{FF2B5EF4-FFF2-40B4-BE49-F238E27FC236}">
                    <a16:creationId xmlns:a16="http://schemas.microsoft.com/office/drawing/2014/main" id="{E9AD94E0-115B-9AC8-EA8A-FDFA0C161D41}"/>
                  </a:ext>
                </a:extLst>
              </p:cNvPr>
              <p:cNvGrpSpPr/>
              <p:nvPr/>
            </p:nvGrpSpPr>
            <p:grpSpPr>
              <a:xfrm>
                <a:off x="2880530" y="1652916"/>
                <a:ext cx="8664787" cy="2545547"/>
                <a:chOff x="2880530" y="1652916"/>
                <a:chExt cx="8664787" cy="2545547"/>
              </a:xfrm>
            </p:grpSpPr>
            <p:grpSp>
              <p:nvGrpSpPr>
                <p:cNvPr id="65" name="Group 64">
                  <a:extLst>
                    <a:ext uri="{FF2B5EF4-FFF2-40B4-BE49-F238E27FC236}">
                      <a16:creationId xmlns:a16="http://schemas.microsoft.com/office/drawing/2014/main" id="{8DE76CFA-B85C-B5F2-288B-5A1515DAC4EC}"/>
                    </a:ext>
                  </a:extLst>
                </p:cNvPr>
                <p:cNvGrpSpPr/>
                <p:nvPr/>
              </p:nvGrpSpPr>
              <p:grpSpPr>
                <a:xfrm>
                  <a:off x="2880530" y="3156583"/>
                  <a:ext cx="8664787" cy="1041880"/>
                  <a:chOff x="2880530" y="3156583"/>
                  <a:chExt cx="8664787" cy="1041880"/>
                </a:xfrm>
              </p:grpSpPr>
              <p:sp>
                <p:nvSpPr>
                  <p:cNvPr id="75" name="Arrow: Pentagon 21">
                    <a:extLst>
                      <a:ext uri="{FF2B5EF4-FFF2-40B4-BE49-F238E27FC236}">
                        <a16:creationId xmlns:a16="http://schemas.microsoft.com/office/drawing/2014/main" id="{9AFACE40-3BF3-3A6E-4366-490B0A028ECC}"/>
                      </a:ext>
                    </a:extLst>
                  </p:cNvPr>
                  <p:cNvSpPr/>
                  <p:nvPr/>
                </p:nvSpPr>
                <p:spPr>
                  <a:xfrm>
                    <a:off x="2880530" y="3156583"/>
                    <a:ext cx="2875133" cy="1041879"/>
                  </a:xfrm>
                  <a:prstGeom prst="homePlate">
                    <a:avLst/>
                  </a:prstGeom>
                  <a:solidFill>
                    <a:srgbClr val="281A42"/>
                  </a:solidFill>
                  <a:ln w="9525">
                    <a:solidFill>
                      <a:srgbClr val="2B3A4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spc="-10" dirty="0">
                        <a:solidFill>
                          <a:schemeClr val="bg1"/>
                        </a:solidFill>
                        <a:latin typeface="Arial" pitchFamily="34" charset="0"/>
                        <a:ea typeface="Helvetica Neue" panose="02000503000000020004" pitchFamily="2" charset="0"/>
                        <a:cs typeface="Helvetica Neue" panose="02000503000000020004" pitchFamily="2" charset="0"/>
                      </a:rPr>
                      <a:t>OUTCOMES</a:t>
                    </a:r>
                  </a:p>
                </p:txBody>
              </p:sp>
              <p:sp>
                <p:nvSpPr>
                  <p:cNvPr id="76" name="Arrow: Chevron 22">
                    <a:extLst>
                      <a:ext uri="{FF2B5EF4-FFF2-40B4-BE49-F238E27FC236}">
                        <a16:creationId xmlns:a16="http://schemas.microsoft.com/office/drawing/2014/main" id="{B90A48EF-C207-4305-8711-292E90DE15BB}"/>
                      </a:ext>
                    </a:extLst>
                  </p:cNvPr>
                  <p:cNvSpPr/>
                  <p:nvPr/>
                </p:nvSpPr>
                <p:spPr>
                  <a:xfrm>
                    <a:off x="5413860" y="3156584"/>
                    <a:ext cx="3236518" cy="1041879"/>
                  </a:xfrm>
                  <a:prstGeom prst="chevron">
                    <a:avLst/>
                  </a:prstGeom>
                  <a:solidFill>
                    <a:srgbClr val="281A42"/>
                  </a:solidFill>
                  <a:ln w="9525">
                    <a:solidFill>
                      <a:srgbClr val="2B3A4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spc="-10">
                        <a:solidFill>
                          <a:schemeClr val="bg1"/>
                        </a:solidFill>
                        <a:latin typeface="Arial" pitchFamily="34" charset="0"/>
                        <a:ea typeface="Helvetica Neue" panose="02000503000000020004" pitchFamily="2" charset="0"/>
                        <a:cs typeface="Helvetica Neue" panose="02000503000000020004" pitchFamily="2" charset="0"/>
                      </a:rPr>
                      <a:t>KEY WORK</a:t>
                    </a:r>
                  </a:p>
                </p:txBody>
              </p:sp>
              <p:sp>
                <p:nvSpPr>
                  <p:cNvPr id="77" name="Arrow: Chevron 23">
                    <a:extLst>
                      <a:ext uri="{FF2B5EF4-FFF2-40B4-BE49-F238E27FC236}">
                        <a16:creationId xmlns:a16="http://schemas.microsoft.com/office/drawing/2014/main" id="{8E7B61AC-B8B1-7CC4-65E3-6509529C584C}"/>
                      </a:ext>
                    </a:extLst>
                  </p:cNvPr>
                  <p:cNvSpPr/>
                  <p:nvPr/>
                </p:nvSpPr>
                <p:spPr>
                  <a:xfrm>
                    <a:off x="8308799" y="3156584"/>
                    <a:ext cx="3236518" cy="1041879"/>
                  </a:xfrm>
                  <a:prstGeom prst="chevron">
                    <a:avLst/>
                  </a:prstGeom>
                  <a:solidFill>
                    <a:srgbClr val="281A42"/>
                  </a:solidFill>
                  <a:ln w="9525">
                    <a:solidFill>
                      <a:srgbClr val="2B3A4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spc="-10">
                        <a:solidFill>
                          <a:schemeClr val="bg1"/>
                        </a:solidFill>
                        <a:latin typeface="Arial" pitchFamily="34" charset="0"/>
                        <a:ea typeface="Helvetica Neue" panose="02000503000000020004" pitchFamily="2" charset="0"/>
                        <a:cs typeface="Helvetica Neue" panose="02000503000000020004" pitchFamily="2" charset="0"/>
                      </a:rPr>
                      <a:t>MEASURES</a:t>
                    </a:r>
                    <a:endParaRPr lang="en-US" sz="1600" spc="-10">
                      <a:solidFill>
                        <a:schemeClr val="bg1"/>
                      </a:solidFill>
                      <a:latin typeface="Arial" pitchFamily="34" charset="0"/>
                      <a:ea typeface="Helvetica Neue" panose="02000503000000020004" pitchFamily="2" charset="0"/>
                      <a:cs typeface="Helvetica Neue" panose="02000503000000020004" pitchFamily="2" charset="0"/>
                    </a:endParaRPr>
                  </a:p>
                </p:txBody>
              </p:sp>
            </p:grpSp>
            <p:pic>
              <p:nvPicPr>
                <p:cNvPr id="66" name="Graphic 65" descr="Bullseye with solid fill">
                  <a:extLst>
                    <a:ext uri="{FF2B5EF4-FFF2-40B4-BE49-F238E27FC236}">
                      <a16:creationId xmlns:a16="http://schemas.microsoft.com/office/drawing/2014/main" id="{ECE5C85D-01E5-E6B7-A5FE-A4C5CEB6F256}"/>
                    </a:ext>
                  </a:extLst>
                </p:cNvPr>
                <p:cNvPicPr>
                  <a:picLocks noChangeAspect="1"/>
                </p:cNvPicPr>
                <p:nvPr/>
              </p:nvPicPr>
              <p:blipFill>
                <a:blip r:embed="rId4">
                  <a:duotone>
                    <a:srgbClr val="765FFF"/>
                    <a:srgbClr val="FFFFFF"/>
                  </a:duotone>
                </a:blip>
                <a:stretch>
                  <a:fillRect/>
                </a:stretch>
              </p:blipFill>
              <p:spPr>
                <a:xfrm>
                  <a:off x="3390495" y="1652916"/>
                  <a:ext cx="1226662" cy="1226662"/>
                </a:xfrm>
                <a:prstGeom prst="rect">
                  <a:avLst/>
                </a:prstGeom>
              </p:spPr>
            </p:pic>
            <p:sp>
              <p:nvSpPr>
                <p:cNvPr id="67" name="Freeform 66">
                  <a:extLst>
                    <a:ext uri="{FF2B5EF4-FFF2-40B4-BE49-F238E27FC236}">
                      <a16:creationId xmlns:a16="http://schemas.microsoft.com/office/drawing/2014/main" id="{E0E98F65-64A0-EC0D-7631-1B93BBE28190}"/>
                    </a:ext>
                  </a:extLst>
                </p:cNvPr>
                <p:cNvSpPr>
                  <a:spLocks noEditPoints="1"/>
                </p:cNvSpPr>
                <p:nvPr/>
              </p:nvSpPr>
              <p:spPr bwMode="auto">
                <a:xfrm>
                  <a:off x="6382460" y="1762499"/>
                  <a:ext cx="935849" cy="992756"/>
                </a:xfrm>
                <a:custGeom>
                  <a:avLst/>
                  <a:gdLst>
                    <a:gd name="T0" fmla="*/ 203 w 203"/>
                    <a:gd name="T1" fmla="*/ 121 h 204"/>
                    <a:gd name="T2" fmla="*/ 203 w 203"/>
                    <a:gd name="T3" fmla="*/ 83 h 204"/>
                    <a:gd name="T4" fmla="*/ 177 w 203"/>
                    <a:gd name="T5" fmla="*/ 79 h 204"/>
                    <a:gd name="T6" fmla="*/ 171 w 203"/>
                    <a:gd name="T7" fmla="*/ 66 h 204"/>
                    <a:gd name="T8" fmla="*/ 187 w 203"/>
                    <a:gd name="T9" fmla="*/ 44 h 204"/>
                    <a:gd name="T10" fmla="*/ 160 w 203"/>
                    <a:gd name="T11" fmla="*/ 17 h 204"/>
                    <a:gd name="T12" fmla="*/ 138 w 203"/>
                    <a:gd name="T13" fmla="*/ 32 h 204"/>
                    <a:gd name="T14" fmla="*/ 125 w 203"/>
                    <a:gd name="T15" fmla="*/ 27 h 204"/>
                    <a:gd name="T16" fmla="*/ 120 w 203"/>
                    <a:gd name="T17" fmla="*/ 0 h 204"/>
                    <a:gd name="T18" fmla="*/ 83 w 203"/>
                    <a:gd name="T19" fmla="*/ 0 h 204"/>
                    <a:gd name="T20" fmla="*/ 78 w 203"/>
                    <a:gd name="T21" fmla="*/ 27 h 204"/>
                    <a:gd name="T22" fmla="*/ 65 w 203"/>
                    <a:gd name="T23" fmla="*/ 32 h 204"/>
                    <a:gd name="T24" fmla="*/ 43 w 203"/>
                    <a:gd name="T25" fmla="*/ 17 h 204"/>
                    <a:gd name="T26" fmla="*/ 16 w 203"/>
                    <a:gd name="T27" fmla="*/ 44 h 204"/>
                    <a:gd name="T28" fmla="*/ 32 w 203"/>
                    <a:gd name="T29" fmla="*/ 66 h 204"/>
                    <a:gd name="T30" fmla="*/ 27 w 203"/>
                    <a:gd name="T31" fmla="*/ 79 h 204"/>
                    <a:gd name="T32" fmla="*/ 0 w 203"/>
                    <a:gd name="T33" fmla="*/ 83 h 204"/>
                    <a:gd name="T34" fmla="*/ 0 w 203"/>
                    <a:gd name="T35" fmla="*/ 121 h 204"/>
                    <a:gd name="T36" fmla="*/ 27 w 203"/>
                    <a:gd name="T37" fmla="*/ 125 h 204"/>
                    <a:gd name="T38" fmla="*/ 32 w 203"/>
                    <a:gd name="T39" fmla="*/ 139 h 204"/>
                    <a:gd name="T40" fmla="*/ 16 w 203"/>
                    <a:gd name="T41" fmla="*/ 161 h 204"/>
                    <a:gd name="T42" fmla="*/ 43 w 203"/>
                    <a:gd name="T43" fmla="*/ 187 h 204"/>
                    <a:gd name="T44" fmla="*/ 65 w 203"/>
                    <a:gd name="T45" fmla="*/ 172 h 204"/>
                    <a:gd name="T46" fmla="*/ 78 w 203"/>
                    <a:gd name="T47" fmla="*/ 177 h 204"/>
                    <a:gd name="T48" fmla="*/ 83 w 203"/>
                    <a:gd name="T49" fmla="*/ 204 h 204"/>
                    <a:gd name="T50" fmla="*/ 120 w 203"/>
                    <a:gd name="T51" fmla="*/ 204 h 204"/>
                    <a:gd name="T52" fmla="*/ 125 w 203"/>
                    <a:gd name="T53" fmla="*/ 177 h 204"/>
                    <a:gd name="T54" fmla="*/ 138 w 203"/>
                    <a:gd name="T55" fmla="*/ 172 h 204"/>
                    <a:gd name="T56" fmla="*/ 160 w 203"/>
                    <a:gd name="T57" fmla="*/ 187 h 204"/>
                    <a:gd name="T58" fmla="*/ 187 w 203"/>
                    <a:gd name="T59" fmla="*/ 161 h 204"/>
                    <a:gd name="T60" fmla="*/ 171 w 203"/>
                    <a:gd name="T61" fmla="*/ 139 h 204"/>
                    <a:gd name="T62" fmla="*/ 177 w 203"/>
                    <a:gd name="T63" fmla="*/ 125 h 204"/>
                    <a:gd name="T64" fmla="*/ 203 w 203"/>
                    <a:gd name="T65" fmla="*/ 121 h 204"/>
                    <a:gd name="T66" fmla="*/ 102 w 203"/>
                    <a:gd name="T67" fmla="*/ 136 h 204"/>
                    <a:gd name="T68" fmla="*/ 68 w 203"/>
                    <a:gd name="T69" fmla="*/ 102 h 204"/>
                    <a:gd name="T70" fmla="*/ 102 w 203"/>
                    <a:gd name="T71" fmla="*/ 69 h 204"/>
                    <a:gd name="T72" fmla="*/ 135 w 203"/>
                    <a:gd name="T73" fmla="*/ 102 h 204"/>
                    <a:gd name="T74" fmla="*/ 102 w 203"/>
                    <a:gd name="T75" fmla="*/ 136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03" h="204">
                      <a:moveTo>
                        <a:pt x="203" y="121"/>
                      </a:moveTo>
                      <a:cubicBezTo>
                        <a:pt x="203" y="83"/>
                        <a:pt x="203" y="83"/>
                        <a:pt x="203" y="83"/>
                      </a:cubicBezTo>
                      <a:cubicBezTo>
                        <a:pt x="177" y="79"/>
                        <a:pt x="177" y="79"/>
                        <a:pt x="177" y="79"/>
                      </a:cubicBezTo>
                      <a:cubicBezTo>
                        <a:pt x="175" y="74"/>
                        <a:pt x="173" y="70"/>
                        <a:pt x="171" y="66"/>
                      </a:cubicBezTo>
                      <a:cubicBezTo>
                        <a:pt x="187" y="44"/>
                        <a:pt x="187" y="44"/>
                        <a:pt x="187" y="44"/>
                      </a:cubicBezTo>
                      <a:cubicBezTo>
                        <a:pt x="160" y="17"/>
                        <a:pt x="160" y="17"/>
                        <a:pt x="160" y="17"/>
                      </a:cubicBezTo>
                      <a:cubicBezTo>
                        <a:pt x="138" y="32"/>
                        <a:pt x="138" y="32"/>
                        <a:pt x="138" y="32"/>
                      </a:cubicBezTo>
                      <a:cubicBezTo>
                        <a:pt x="134" y="30"/>
                        <a:pt x="130" y="28"/>
                        <a:pt x="125" y="27"/>
                      </a:cubicBezTo>
                      <a:cubicBezTo>
                        <a:pt x="120" y="0"/>
                        <a:pt x="120" y="0"/>
                        <a:pt x="120" y="0"/>
                      </a:cubicBezTo>
                      <a:cubicBezTo>
                        <a:pt x="83" y="0"/>
                        <a:pt x="83" y="0"/>
                        <a:pt x="83" y="0"/>
                      </a:cubicBezTo>
                      <a:cubicBezTo>
                        <a:pt x="78" y="27"/>
                        <a:pt x="78" y="27"/>
                        <a:pt x="78" y="27"/>
                      </a:cubicBezTo>
                      <a:cubicBezTo>
                        <a:pt x="74" y="28"/>
                        <a:pt x="69" y="30"/>
                        <a:pt x="65" y="32"/>
                      </a:cubicBezTo>
                      <a:cubicBezTo>
                        <a:pt x="43" y="17"/>
                        <a:pt x="43" y="17"/>
                        <a:pt x="43" y="17"/>
                      </a:cubicBezTo>
                      <a:cubicBezTo>
                        <a:pt x="16" y="44"/>
                        <a:pt x="16" y="44"/>
                        <a:pt x="16" y="44"/>
                      </a:cubicBezTo>
                      <a:cubicBezTo>
                        <a:pt x="32" y="66"/>
                        <a:pt x="32" y="66"/>
                        <a:pt x="32" y="66"/>
                      </a:cubicBezTo>
                      <a:cubicBezTo>
                        <a:pt x="30" y="70"/>
                        <a:pt x="28" y="74"/>
                        <a:pt x="27" y="79"/>
                      </a:cubicBezTo>
                      <a:cubicBezTo>
                        <a:pt x="0" y="83"/>
                        <a:pt x="0" y="83"/>
                        <a:pt x="0" y="83"/>
                      </a:cubicBezTo>
                      <a:cubicBezTo>
                        <a:pt x="0" y="121"/>
                        <a:pt x="0" y="121"/>
                        <a:pt x="0" y="121"/>
                      </a:cubicBezTo>
                      <a:cubicBezTo>
                        <a:pt x="27" y="125"/>
                        <a:pt x="27" y="125"/>
                        <a:pt x="27" y="125"/>
                      </a:cubicBezTo>
                      <a:cubicBezTo>
                        <a:pt x="28" y="130"/>
                        <a:pt x="30" y="134"/>
                        <a:pt x="32" y="139"/>
                      </a:cubicBezTo>
                      <a:cubicBezTo>
                        <a:pt x="16" y="161"/>
                        <a:pt x="16" y="161"/>
                        <a:pt x="16" y="161"/>
                      </a:cubicBezTo>
                      <a:cubicBezTo>
                        <a:pt x="43" y="187"/>
                        <a:pt x="43" y="187"/>
                        <a:pt x="43" y="187"/>
                      </a:cubicBezTo>
                      <a:cubicBezTo>
                        <a:pt x="65" y="172"/>
                        <a:pt x="65" y="172"/>
                        <a:pt x="65" y="172"/>
                      </a:cubicBezTo>
                      <a:cubicBezTo>
                        <a:pt x="69" y="174"/>
                        <a:pt x="74" y="176"/>
                        <a:pt x="78" y="177"/>
                      </a:cubicBezTo>
                      <a:cubicBezTo>
                        <a:pt x="83" y="204"/>
                        <a:pt x="83" y="204"/>
                        <a:pt x="83" y="204"/>
                      </a:cubicBezTo>
                      <a:cubicBezTo>
                        <a:pt x="120" y="204"/>
                        <a:pt x="120" y="204"/>
                        <a:pt x="120" y="204"/>
                      </a:cubicBezTo>
                      <a:cubicBezTo>
                        <a:pt x="125" y="177"/>
                        <a:pt x="125" y="177"/>
                        <a:pt x="125" y="177"/>
                      </a:cubicBezTo>
                      <a:cubicBezTo>
                        <a:pt x="130" y="176"/>
                        <a:pt x="134" y="174"/>
                        <a:pt x="138" y="172"/>
                      </a:cubicBezTo>
                      <a:cubicBezTo>
                        <a:pt x="160" y="187"/>
                        <a:pt x="160" y="187"/>
                        <a:pt x="160" y="187"/>
                      </a:cubicBezTo>
                      <a:cubicBezTo>
                        <a:pt x="187" y="161"/>
                        <a:pt x="187" y="161"/>
                        <a:pt x="187" y="161"/>
                      </a:cubicBezTo>
                      <a:cubicBezTo>
                        <a:pt x="171" y="139"/>
                        <a:pt x="171" y="139"/>
                        <a:pt x="171" y="139"/>
                      </a:cubicBezTo>
                      <a:cubicBezTo>
                        <a:pt x="173" y="134"/>
                        <a:pt x="175" y="130"/>
                        <a:pt x="177" y="125"/>
                      </a:cubicBezTo>
                      <a:lnTo>
                        <a:pt x="203" y="121"/>
                      </a:lnTo>
                      <a:close/>
                      <a:moveTo>
                        <a:pt x="102" y="136"/>
                      </a:moveTo>
                      <a:cubicBezTo>
                        <a:pt x="83" y="136"/>
                        <a:pt x="68" y="121"/>
                        <a:pt x="68" y="102"/>
                      </a:cubicBezTo>
                      <a:cubicBezTo>
                        <a:pt x="68" y="84"/>
                        <a:pt x="83" y="69"/>
                        <a:pt x="102" y="69"/>
                      </a:cubicBezTo>
                      <a:cubicBezTo>
                        <a:pt x="120" y="69"/>
                        <a:pt x="135" y="84"/>
                        <a:pt x="135" y="102"/>
                      </a:cubicBezTo>
                      <a:cubicBezTo>
                        <a:pt x="135" y="121"/>
                        <a:pt x="120" y="136"/>
                        <a:pt x="102" y="136"/>
                      </a:cubicBezTo>
                      <a:close/>
                    </a:path>
                  </a:pathLst>
                </a:custGeom>
                <a:solidFill>
                  <a:schemeClr val="accent1"/>
                </a:solidFill>
                <a:ln>
                  <a:noFill/>
                </a:ln>
                <a:extLst>
                  <a:ext uri="{91240B29-F687-4F45-9708-019B960494DF}">
                    <a14:hiddenLine xmlns:a14="http://schemas.microsoft.com/office/drawing/2010/main" w="9525">
                      <a:solidFill>
                        <a:srgbClr val="1D1D1D"/>
                      </a:solidFill>
                      <a:round/>
                      <a:headEnd/>
                      <a:tailEnd/>
                    </a14:hiddenLine>
                  </a:ext>
                </a:extLst>
              </p:spPr>
              <p:txBody>
                <a:bodyPr vert="horz" wrap="square" lIns="93297" tIns="46649" rIns="93297" bIns="46649" numCol="1" anchor="t" anchorCtr="0" compatLnSpc="1">
                  <a:prstTxWarp prst="textNoShape">
                    <a:avLst/>
                  </a:prstTxWarp>
                </a:bodyPr>
                <a:lstStyle/>
                <a:p>
                  <a:endParaRPr lang="de-DE" sz="1837" spc="-10">
                    <a:latin typeface="Arial" pitchFamily="34" charset="0"/>
                    <a:ea typeface="Helvetica Neue" panose="02000503000000020004" pitchFamily="2" charset="0"/>
                    <a:cs typeface="Helvetica Neue" panose="02000503000000020004" pitchFamily="2" charset="0"/>
                  </a:endParaRPr>
                </a:p>
              </p:txBody>
            </p:sp>
            <p:grpSp>
              <p:nvGrpSpPr>
                <p:cNvPr id="68" name="Group 67">
                  <a:extLst>
                    <a:ext uri="{FF2B5EF4-FFF2-40B4-BE49-F238E27FC236}">
                      <a16:creationId xmlns:a16="http://schemas.microsoft.com/office/drawing/2014/main" id="{ED22FF52-984F-B59D-7E9A-49A2A8EC4DE4}"/>
                    </a:ext>
                  </a:extLst>
                </p:cNvPr>
                <p:cNvGrpSpPr/>
                <p:nvPr/>
              </p:nvGrpSpPr>
              <p:grpSpPr>
                <a:xfrm>
                  <a:off x="9083334" y="1652916"/>
                  <a:ext cx="1204334" cy="1204334"/>
                  <a:chOff x="8949772" y="1652916"/>
                  <a:chExt cx="1204334" cy="1204334"/>
                </a:xfrm>
              </p:grpSpPr>
              <p:grpSp>
                <p:nvGrpSpPr>
                  <p:cNvPr id="69" name="Group 68">
                    <a:extLst>
                      <a:ext uri="{FF2B5EF4-FFF2-40B4-BE49-F238E27FC236}">
                        <a16:creationId xmlns:a16="http://schemas.microsoft.com/office/drawing/2014/main" id="{4411DAE4-A06D-26C1-7E44-917B98062221}"/>
                      </a:ext>
                    </a:extLst>
                  </p:cNvPr>
                  <p:cNvGrpSpPr/>
                  <p:nvPr/>
                </p:nvGrpSpPr>
                <p:grpSpPr>
                  <a:xfrm>
                    <a:off x="8949772" y="1652916"/>
                    <a:ext cx="1204334" cy="1204334"/>
                    <a:chOff x="8949772" y="1652916"/>
                    <a:chExt cx="1204334" cy="1204334"/>
                  </a:xfrm>
                </p:grpSpPr>
                <p:pic>
                  <p:nvPicPr>
                    <p:cNvPr id="71" name="Graphic 70" descr="Linear Graph with solid fill">
                      <a:extLst>
                        <a:ext uri="{FF2B5EF4-FFF2-40B4-BE49-F238E27FC236}">
                          <a16:creationId xmlns:a16="http://schemas.microsoft.com/office/drawing/2014/main" id="{5906B5F9-5710-D47A-EF4D-F7BF79555A6F}"/>
                        </a:ext>
                      </a:extLst>
                    </p:cNvPr>
                    <p:cNvPicPr>
                      <a:picLocks noChangeAspect="1"/>
                    </p:cNvPicPr>
                    <p:nvPr/>
                  </p:nvPicPr>
                  <p:blipFill>
                    <a:blip r:embed="rId5">
                      <a:duotone>
                        <a:srgbClr val="765FFF"/>
                        <a:srgbClr val="FFFFFF"/>
                      </a:duotone>
                    </a:blip>
                    <a:stretch>
                      <a:fillRect/>
                    </a:stretch>
                  </p:blipFill>
                  <p:spPr>
                    <a:xfrm>
                      <a:off x="8949772" y="1652916"/>
                      <a:ext cx="1204334" cy="1204334"/>
                    </a:xfrm>
                    <a:prstGeom prst="rect">
                      <a:avLst/>
                    </a:prstGeom>
                  </p:spPr>
                </p:pic>
                <p:grpSp>
                  <p:nvGrpSpPr>
                    <p:cNvPr id="72" name="Group 71">
                      <a:extLst>
                        <a:ext uri="{FF2B5EF4-FFF2-40B4-BE49-F238E27FC236}">
                          <a16:creationId xmlns:a16="http://schemas.microsoft.com/office/drawing/2014/main" id="{19677A3E-8E16-9CDE-7645-EC90467AE4AA}"/>
                        </a:ext>
                      </a:extLst>
                    </p:cNvPr>
                    <p:cNvGrpSpPr/>
                    <p:nvPr/>
                  </p:nvGrpSpPr>
                  <p:grpSpPr>
                    <a:xfrm>
                      <a:off x="9154769" y="1762499"/>
                      <a:ext cx="881284" cy="525513"/>
                      <a:chOff x="9154769" y="1762499"/>
                      <a:chExt cx="881284" cy="525513"/>
                    </a:xfrm>
                  </p:grpSpPr>
                  <p:sp>
                    <p:nvSpPr>
                      <p:cNvPr id="73" name="TextBox 72">
                        <a:extLst>
                          <a:ext uri="{FF2B5EF4-FFF2-40B4-BE49-F238E27FC236}">
                            <a16:creationId xmlns:a16="http://schemas.microsoft.com/office/drawing/2014/main" id="{4459E72C-1692-F50D-F5B6-A2A762323161}"/>
                          </a:ext>
                        </a:extLst>
                      </p:cNvPr>
                      <p:cNvSpPr txBox="1"/>
                      <p:nvPr/>
                    </p:nvSpPr>
                    <p:spPr>
                      <a:xfrm rot="18926376">
                        <a:off x="9154769" y="2169027"/>
                        <a:ext cx="881284" cy="118985"/>
                      </a:xfrm>
                      <a:prstGeom prst="rect">
                        <a:avLst/>
                      </a:prstGeom>
                      <a:solidFill>
                        <a:schemeClr val="bg1"/>
                      </a:solidFill>
                    </p:spPr>
                    <p:txBody>
                      <a:bodyPr wrap="none" lIns="91440" tIns="45720" rIns="91440" bIns="45720" rtlCol="0">
                        <a:noAutofit/>
                      </a:bodyPr>
                      <a:lstStyle/>
                      <a:p>
                        <a:pPr algn="l"/>
                        <a:endParaRPr lang="en-US" sz="1600" spc="-10">
                          <a:latin typeface="Arial" pitchFamily="34" charset="0"/>
                          <a:ea typeface="Helvetica Neue" panose="02000503000000020004" pitchFamily="2" charset="0"/>
                          <a:cs typeface="Helvetica Neue" panose="02000503000000020004" pitchFamily="2" charset="0"/>
                        </a:endParaRPr>
                      </a:p>
                    </p:txBody>
                  </p:sp>
                  <p:sp>
                    <p:nvSpPr>
                      <p:cNvPr id="74" name="TextBox 73">
                        <a:extLst>
                          <a:ext uri="{FF2B5EF4-FFF2-40B4-BE49-F238E27FC236}">
                            <a16:creationId xmlns:a16="http://schemas.microsoft.com/office/drawing/2014/main" id="{5186B621-5295-1FB0-A8B9-EF4E092C32EE}"/>
                          </a:ext>
                        </a:extLst>
                      </p:cNvPr>
                      <p:cNvSpPr txBox="1"/>
                      <p:nvPr/>
                    </p:nvSpPr>
                    <p:spPr>
                      <a:xfrm>
                        <a:off x="9673578" y="1762499"/>
                        <a:ext cx="277539" cy="312881"/>
                      </a:xfrm>
                      <a:prstGeom prst="rect">
                        <a:avLst/>
                      </a:prstGeom>
                      <a:solidFill>
                        <a:schemeClr val="bg1"/>
                      </a:solidFill>
                    </p:spPr>
                    <p:txBody>
                      <a:bodyPr wrap="none" lIns="91440" tIns="45720" rIns="91440" bIns="45720" rtlCol="0">
                        <a:noAutofit/>
                      </a:bodyPr>
                      <a:lstStyle/>
                      <a:p>
                        <a:pPr algn="l"/>
                        <a:endParaRPr lang="en-US" sz="1600" spc="-10">
                          <a:latin typeface="Arial" pitchFamily="34" charset="0"/>
                          <a:ea typeface="Helvetica Neue" panose="02000503000000020004" pitchFamily="2" charset="0"/>
                          <a:cs typeface="Helvetica Neue" panose="02000503000000020004" pitchFamily="2" charset="0"/>
                        </a:endParaRPr>
                      </a:p>
                    </p:txBody>
                  </p:sp>
                </p:grpSp>
              </p:grpSp>
              <p:pic>
                <p:nvPicPr>
                  <p:cNvPr id="70" name="Graphic 69" descr="Ruler outline">
                    <a:extLst>
                      <a:ext uri="{FF2B5EF4-FFF2-40B4-BE49-F238E27FC236}">
                        <a16:creationId xmlns:a16="http://schemas.microsoft.com/office/drawing/2014/main" id="{87C496D6-D608-F08D-6C56-50F4B8429AF1}"/>
                      </a:ext>
                    </a:extLst>
                  </p:cNvPr>
                  <p:cNvPicPr>
                    <a:picLocks noChangeAspect="1"/>
                  </p:cNvPicPr>
                  <p:nvPr/>
                </p:nvPicPr>
                <p:blipFill>
                  <a:blip r:embed="rId6">
                    <a:duotone>
                      <a:srgbClr val="765FFF"/>
                      <a:srgbClr val="FFFFFF"/>
                    </a:duotone>
                  </a:blip>
                  <a:stretch>
                    <a:fillRect/>
                  </a:stretch>
                </p:blipFill>
                <p:spPr>
                  <a:xfrm>
                    <a:off x="9192161" y="1868483"/>
                    <a:ext cx="758956" cy="758956"/>
                  </a:xfrm>
                  <a:prstGeom prst="rect">
                    <a:avLst/>
                  </a:prstGeom>
                </p:spPr>
              </p:pic>
            </p:grpSp>
          </p:grpSp>
        </p:grpSp>
      </p:grpSp>
      <p:sp>
        <p:nvSpPr>
          <p:cNvPr id="78" name="TextBox 77">
            <a:extLst>
              <a:ext uri="{FF2B5EF4-FFF2-40B4-BE49-F238E27FC236}">
                <a16:creationId xmlns:a16="http://schemas.microsoft.com/office/drawing/2014/main" id="{1AC90A96-865C-F957-086F-2F0ADD3DB222}"/>
              </a:ext>
            </a:extLst>
          </p:cNvPr>
          <p:cNvSpPr txBox="1"/>
          <p:nvPr/>
        </p:nvSpPr>
        <p:spPr>
          <a:xfrm>
            <a:off x="2934840" y="5305303"/>
            <a:ext cx="2845224" cy="461665"/>
          </a:xfrm>
          <a:prstGeom prst="rect">
            <a:avLst/>
          </a:prstGeom>
          <a:noFill/>
        </p:spPr>
        <p:txBody>
          <a:bodyPr wrap="square" lIns="91440" tIns="45720" rIns="91440" bIns="45720" rtlCol="0">
            <a:spAutoFit/>
          </a:bodyPr>
          <a:lstStyle/>
          <a:p>
            <a:pPr>
              <a:defRPr/>
            </a:pPr>
            <a:r>
              <a:rPr lang="en-US" sz="1200" spc="-10">
                <a:latin typeface="Arial" pitchFamily="34" charset="0"/>
                <a:ea typeface="Helvetica Neue" panose="02000503000000020004" pitchFamily="2" charset="0"/>
                <a:cs typeface="Helvetica Neue" panose="02000503000000020004" pitchFamily="2" charset="0"/>
              </a:rPr>
              <a:t>What are the 3-5 things that would </a:t>
            </a:r>
          </a:p>
          <a:p>
            <a:pPr>
              <a:defRPr/>
            </a:pPr>
            <a:r>
              <a:rPr lang="en-US" sz="1200" spc="-10">
                <a:latin typeface="Arial" pitchFamily="34" charset="0"/>
                <a:ea typeface="Helvetica Neue" panose="02000503000000020004" pitchFamily="2" charset="0"/>
                <a:cs typeface="Helvetica Neue" panose="02000503000000020004" pitchFamily="2" charset="0"/>
              </a:rPr>
              <a:t>have to be true for the value to arrive?</a:t>
            </a:r>
          </a:p>
        </p:txBody>
      </p:sp>
      <p:sp>
        <p:nvSpPr>
          <p:cNvPr id="79" name="TextBox 78">
            <a:extLst>
              <a:ext uri="{FF2B5EF4-FFF2-40B4-BE49-F238E27FC236}">
                <a16:creationId xmlns:a16="http://schemas.microsoft.com/office/drawing/2014/main" id="{ABD3013D-EA1F-AF11-D4E3-AEDCA74904E0}"/>
              </a:ext>
            </a:extLst>
          </p:cNvPr>
          <p:cNvSpPr txBox="1"/>
          <p:nvPr/>
        </p:nvSpPr>
        <p:spPr>
          <a:xfrm>
            <a:off x="5848130" y="5305303"/>
            <a:ext cx="2678828" cy="677108"/>
          </a:xfrm>
          <a:prstGeom prst="rect">
            <a:avLst/>
          </a:prstGeom>
          <a:noFill/>
        </p:spPr>
        <p:txBody>
          <a:bodyPr wrap="square" lIns="121920" tIns="60960" rIns="121920" bIns="60960" rtlCol="0" anchor="t">
            <a:spAutoFit/>
          </a:bodyPr>
          <a:lstStyle/>
          <a:p>
            <a:pPr>
              <a:defRPr/>
            </a:pPr>
            <a:r>
              <a:rPr lang="en-US" sz="1200" spc="-10">
                <a:latin typeface="Arial" pitchFamily="34" charset="0"/>
                <a:ea typeface="Helvetica Neue" panose="02000503000000020004" pitchFamily="2" charset="0"/>
                <a:cs typeface="Helvetica Neue" panose="02000503000000020004" pitchFamily="2" charset="0"/>
              </a:rPr>
              <a:t>What are the critical actions for each JTBD to answer, “What should be done?”</a:t>
            </a:r>
            <a:endParaRPr lang="en-US" sz="2400" spc="-10">
              <a:latin typeface="Arial" pitchFamily="34" charset="0"/>
              <a:ea typeface="Helvetica Neue" panose="02000503000000020004" pitchFamily="2" charset="0"/>
              <a:cs typeface="Helvetica Neue" panose="02000503000000020004" pitchFamily="2" charset="0"/>
            </a:endParaRPr>
          </a:p>
        </p:txBody>
      </p:sp>
      <p:sp>
        <p:nvSpPr>
          <p:cNvPr id="80" name="TextBox 79">
            <a:extLst>
              <a:ext uri="{FF2B5EF4-FFF2-40B4-BE49-F238E27FC236}">
                <a16:creationId xmlns:a16="http://schemas.microsoft.com/office/drawing/2014/main" id="{8C6845D5-D71E-325F-A5CA-4B96E275A647}"/>
              </a:ext>
            </a:extLst>
          </p:cNvPr>
          <p:cNvSpPr txBox="1"/>
          <p:nvPr/>
        </p:nvSpPr>
        <p:spPr>
          <a:xfrm>
            <a:off x="8629561" y="5305302"/>
            <a:ext cx="3359061" cy="1200329"/>
          </a:xfrm>
          <a:prstGeom prst="rect">
            <a:avLst/>
          </a:prstGeom>
          <a:noFill/>
        </p:spPr>
        <p:txBody>
          <a:bodyPr wrap="none" lIns="91440" tIns="45720" rIns="91440" bIns="45720" rtlCol="0" anchor="t">
            <a:spAutoFit/>
          </a:bodyPr>
          <a:lstStyle/>
          <a:p>
            <a:pPr>
              <a:defRPr/>
            </a:pPr>
            <a:r>
              <a:rPr lang="en-US" sz="1200" spc="-10">
                <a:latin typeface="Arial" pitchFamily="34" charset="0"/>
                <a:ea typeface="Helvetica Neue" panose="02000503000000020004" pitchFamily="2" charset="0"/>
                <a:cs typeface="Helvetica Neue" panose="02000503000000020004" pitchFamily="2" charset="0"/>
              </a:rPr>
              <a:t>What are the critical outcomes for each JTBD </a:t>
            </a:r>
          </a:p>
          <a:p>
            <a:pPr>
              <a:defRPr/>
            </a:pPr>
            <a:r>
              <a:rPr lang="en-US" sz="1200" spc="-10">
                <a:latin typeface="Arial" pitchFamily="34" charset="0"/>
                <a:ea typeface="Helvetica Neue" panose="02000503000000020004" pitchFamily="2" charset="0"/>
                <a:cs typeface="Helvetica Neue" panose="02000503000000020004" pitchFamily="2" charset="0"/>
              </a:rPr>
              <a:t>to answer, “How to measure the success?” </a:t>
            </a:r>
          </a:p>
          <a:p>
            <a:pPr>
              <a:defRPr/>
            </a:pPr>
            <a:endParaRPr lang="en-US" sz="1200" spc="-10">
              <a:latin typeface="Arial" pitchFamily="34" charset="0"/>
              <a:ea typeface="Helvetica Neue" panose="02000503000000020004" pitchFamily="2" charset="0"/>
              <a:cs typeface="Helvetica Neue" panose="02000503000000020004" pitchFamily="2" charset="0"/>
            </a:endParaRPr>
          </a:p>
          <a:p>
            <a:pPr>
              <a:defRPr/>
            </a:pPr>
            <a:r>
              <a:rPr lang="en-US" sz="1200" spc="-10">
                <a:latin typeface="Arial" pitchFamily="34" charset="0"/>
                <a:ea typeface="Helvetica Neue" panose="02000503000000020004" pitchFamily="2" charset="0"/>
                <a:cs typeface="Helvetica Neue" panose="02000503000000020004" pitchFamily="2" charset="0"/>
              </a:rPr>
              <a:t>When must the JTBD be achieved for </a:t>
            </a:r>
          </a:p>
          <a:p>
            <a:pPr>
              <a:defRPr/>
            </a:pPr>
            <a:r>
              <a:rPr lang="en-US" sz="1200" spc="-10">
                <a:latin typeface="Arial" pitchFamily="34" charset="0"/>
                <a:ea typeface="Helvetica Neue" panose="02000503000000020004" pitchFamily="2" charset="0"/>
                <a:cs typeface="Helvetica Neue" panose="02000503000000020004" pitchFamily="2" charset="0"/>
              </a:rPr>
              <a:t>the value to arrive?</a:t>
            </a:r>
          </a:p>
          <a:p>
            <a:pPr>
              <a:defRPr/>
            </a:pPr>
            <a:endParaRPr lang="en-US" sz="1200" spc="-10">
              <a:latin typeface="Arial" pitchFamily="34" charset="0"/>
              <a:ea typeface="Helvetica Neue" panose="02000503000000020004" pitchFamily="2" charset="0"/>
              <a:cs typeface="Helvetica Neue" panose="02000503000000020004" pitchFamily="2" charset="0"/>
            </a:endParaRPr>
          </a:p>
        </p:txBody>
      </p:sp>
      <p:sp>
        <p:nvSpPr>
          <p:cNvPr id="81"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13</a:t>
            </a:fld>
            <a:endParaRPr lang="en-US"/>
          </a:p>
        </p:txBody>
      </p:sp>
      <p:grpSp>
        <p:nvGrpSpPr>
          <p:cNvPr id="3" name="Group 2">
            <a:extLst>
              <a:ext uri="{FF2B5EF4-FFF2-40B4-BE49-F238E27FC236}">
                <a16:creationId xmlns:a16="http://schemas.microsoft.com/office/drawing/2014/main" id="{6C4BF5DB-A55C-1692-C2E4-3D2510C81E03}"/>
              </a:ext>
            </a:extLst>
          </p:cNvPr>
          <p:cNvGrpSpPr/>
          <p:nvPr/>
        </p:nvGrpSpPr>
        <p:grpSpPr>
          <a:xfrm>
            <a:off x="10403235" y="201614"/>
            <a:ext cx="410690" cy="410700"/>
            <a:chOff x="3506617" y="2730959"/>
            <a:chExt cx="1591098" cy="1591098"/>
          </a:xfrm>
        </p:grpSpPr>
        <p:sp>
          <p:nvSpPr>
            <p:cNvPr id="14" name="Rectangle: Rounded Corners 39">
              <a:extLst>
                <a:ext uri="{FF2B5EF4-FFF2-40B4-BE49-F238E27FC236}">
                  <a16:creationId xmlns:a16="http://schemas.microsoft.com/office/drawing/2014/main" id="{A3601C90-5530-A99D-1C37-4157E8E03919}"/>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5" name="Rectangle: Rounded Corners 54">
              <a:extLst>
                <a:ext uri="{FF2B5EF4-FFF2-40B4-BE49-F238E27FC236}">
                  <a16:creationId xmlns:a16="http://schemas.microsoft.com/office/drawing/2014/main" id="{9D4936A0-D6B2-0B9E-89CD-8D8984772A8F}"/>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6" name="Freeform 56" descr="Clipboard Partially Checked with solid fill">
              <a:extLst>
                <a:ext uri="{FF2B5EF4-FFF2-40B4-BE49-F238E27FC236}">
                  <a16:creationId xmlns:a16="http://schemas.microsoft.com/office/drawing/2014/main" id="{820CE009-C69F-10E9-9C8C-C3679F35189C}"/>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7"/>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17" name="Group 16">
            <a:extLst>
              <a:ext uri="{FF2B5EF4-FFF2-40B4-BE49-F238E27FC236}">
                <a16:creationId xmlns:a16="http://schemas.microsoft.com/office/drawing/2014/main" id="{31C1F4A6-EBDF-3804-1F5A-4AE7F282DDA4}"/>
              </a:ext>
            </a:extLst>
          </p:cNvPr>
          <p:cNvGrpSpPr/>
          <p:nvPr/>
        </p:nvGrpSpPr>
        <p:grpSpPr>
          <a:xfrm>
            <a:off x="11557682" y="191038"/>
            <a:ext cx="410690" cy="410700"/>
            <a:chOff x="8874309" y="3009260"/>
            <a:chExt cx="1591098" cy="1591098"/>
          </a:xfrm>
        </p:grpSpPr>
        <p:grpSp>
          <p:nvGrpSpPr>
            <p:cNvPr id="18" name="Group 17">
              <a:extLst>
                <a:ext uri="{FF2B5EF4-FFF2-40B4-BE49-F238E27FC236}">
                  <a16:creationId xmlns:a16="http://schemas.microsoft.com/office/drawing/2014/main" id="{EB75EE28-3E1D-A63E-BB7A-872485DE245D}"/>
                </a:ext>
              </a:extLst>
            </p:cNvPr>
            <p:cNvGrpSpPr/>
            <p:nvPr/>
          </p:nvGrpSpPr>
          <p:grpSpPr>
            <a:xfrm>
              <a:off x="8874309" y="3009260"/>
              <a:ext cx="1591098" cy="1591098"/>
              <a:chOff x="9350370" y="2760976"/>
              <a:chExt cx="1591098" cy="1591098"/>
            </a:xfrm>
          </p:grpSpPr>
          <p:sp>
            <p:nvSpPr>
              <p:cNvPr id="20" name="Rectangle: Rounded Corners 39">
                <a:extLst>
                  <a:ext uri="{FF2B5EF4-FFF2-40B4-BE49-F238E27FC236}">
                    <a16:creationId xmlns:a16="http://schemas.microsoft.com/office/drawing/2014/main" id="{7AC9380E-FC92-18F8-B0EF-0EC1EB20CCFE}"/>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1" name="Rectangle: Rounded Corners 54">
                <a:extLst>
                  <a:ext uri="{FF2B5EF4-FFF2-40B4-BE49-F238E27FC236}">
                    <a16:creationId xmlns:a16="http://schemas.microsoft.com/office/drawing/2014/main" id="{DD2AF204-475F-A41A-606D-D6F65DF0A9E2}"/>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9" name="Picture 51" descr="Map with pin with solid fill">
              <a:extLst>
                <a:ext uri="{FF2B5EF4-FFF2-40B4-BE49-F238E27FC236}">
                  <a16:creationId xmlns:a16="http://schemas.microsoft.com/office/drawing/2014/main" id="{3B649094-BF7C-444D-3AC8-4002E7ACEBDC}"/>
                </a:ext>
              </a:extLst>
            </p:cNvPr>
            <p:cNvPicPr>
              <a:picLocks noChangeAspect="1"/>
            </p:cNvPicPr>
            <p:nvPr/>
          </p:nvPicPr>
          <p:blipFill>
            <a:blip r:embed="rId8">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2" name="Group 21">
            <a:extLst>
              <a:ext uri="{FF2B5EF4-FFF2-40B4-BE49-F238E27FC236}">
                <a16:creationId xmlns:a16="http://schemas.microsoft.com/office/drawing/2014/main" id="{D96D4E5F-75FB-6D0A-D4FB-B1774ED89DF2}"/>
              </a:ext>
            </a:extLst>
          </p:cNvPr>
          <p:cNvGrpSpPr/>
          <p:nvPr/>
        </p:nvGrpSpPr>
        <p:grpSpPr>
          <a:xfrm>
            <a:off x="10997361" y="200955"/>
            <a:ext cx="410690" cy="410700"/>
            <a:chOff x="5303120" y="3009260"/>
            <a:chExt cx="1591098" cy="1591098"/>
          </a:xfrm>
        </p:grpSpPr>
        <p:grpSp>
          <p:nvGrpSpPr>
            <p:cNvPr id="23" name="Group 22">
              <a:extLst>
                <a:ext uri="{FF2B5EF4-FFF2-40B4-BE49-F238E27FC236}">
                  <a16:creationId xmlns:a16="http://schemas.microsoft.com/office/drawing/2014/main" id="{C6CCECF7-210E-4EF9-30DE-073D6276DB6F}"/>
                </a:ext>
              </a:extLst>
            </p:cNvPr>
            <p:cNvGrpSpPr/>
            <p:nvPr/>
          </p:nvGrpSpPr>
          <p:grpSpPr>
            <a:xfrm>
              <a:off x="5303120" y="3009260"/>
              <a:ext cx="1591098" cy="1591098"/>
              <a:chOff x="6428492" y="2760976"/>
              <a:chExt cx="1591098" cy="1591098"/>
            </a:xfrm>
          </p:grpSpPr>
          <p:sp>
            <p:nvSpPr>
              <p:cNvPr id="33" name="Rectangle: Rounded Corners 39">
                <a:extLst>
                  <a:ext uri="{FF2B5EF4-FFF2-40B4-BE49-F238E27FC236}">
                    <a16:creationId xmlns:a16="http://schemas.microsoft.com/office/drawing/2014/main" id="{5735F3DC-B5A3-377F-819B-10323FD295A7}"/>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4" name="Rectangle: Rounded Corners 54">
                <a:extLst>
                  <a:ext uri="{FF2B5EF4-FFF2-40B4-BE49-F238E27FC236}">
                    <a16:creationId xmlns:a16="http://schemas.microsoft.com/office/drawing/2014/main" id="{E35541C8-25A0-6211-08AB-5BB76EE2C52F}"/>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6" name="Graphic 27" descr="Target Audience with solid fill">
              <a:extLst>
                <a:ext uri="{FF2B5EF4-FFF2-40B4-BE49-F238E27FC236}">
                  <a16:creationId xmlns:a16="http://schemas.microsoft.com/office/drawing/2014/main" id="{FB164B21-2C07-D7E7-5F57-DEFE14AA0E80}"/>
                </a:ext>
              </a:extLst>
            </p:cNvPr>
            <p:cNvPicPr>
              <a:picLocks noChangeAspect="1"/>
            </p:cNvPicPr>
            <p:nvPr/>
          </p:nvPicPr>
          <p:blipFill>
            <a:blip r:embed="rId9">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5" name="TextBox 34">
            <a:extLst>
              <a:ext uri="{FF2B5EF4-FFF2-40B4-BE49-F238E27FC236}">
                <a16:creationId xmlns:a16="http://schemas.microsoft.com/office/drawing/2014/main" id="{E6E7A6C4-97F0-19AF-6345-DD6B6A1318E0}"/>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6" name="TextBox 35">
            <a:extLst>
              <a:ext uri="{FF2B5EF4-FFF2-40B4-BE49-F238E27FC236}">
                <a16:creationId xmlns:a16="http://schemas.microsoft.com/office/drawing/2014/main" id="{C963EC02-2DFE-32AE-452F-019283B32B7D}"/>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7" name="TextBox 36">
            <a:extLst>
              <a:ext uri="{FF2B5EF4-FFF2-40B4-BE49-F238E27FC236}">
                <a16:creationId xmlns:a16="http://schemas.microsoft.com/office/drawing/2014/main" id="{1CBCC666-F861-E147-95E7-B794ECF006EC}"/>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8" name="Rectangle 37">
            <a:extLst>
              <a:ext uri="{FF2B5EF4-FFF2-40B4-BE49-F238E27FC236}">
                <a16:creationId xmlns:a16="http://schemas.microsoft.com/office/drawing/2014/main" id="{98DDAD79-3027-EAE1-5FBE-E7B128D489D5}"/>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236299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D526A-70BF-A82C-9FFC-C874AF95B11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9E1AB82-C5B2-FF66-9609-72B80E4E6538}"/>
              </a:ext>
            </a:extLst>
          </p:cNvPr>
          <p:cNvSpPr>
            <a:spLocks noGrp="1"/>
          </p:cNvSpPr>
          <p:nvPr>
            <p:ph type="title" sz="quarter"/>
          </p:nvPr>
        </p:nvSpPr>
        <p:spPr/>
        <p:txBody>
          <a:bodyPr lIns="121920" tIns="60960" rIns="121920" bIns="60960" anchor="t"/>
          <a:lstStyle/>
          <a:p>
            <a:r>
              <a:rPr lang="en-US" b="1" spc="-25" dirty="0">
                <a:solidFill>
                  <a:srgbClr val="00C27A"/>
                </a:solidFill>
                <a:latin typeface="Segoe UI" pitchFamily="34" charset="0"/>
                <a:ea typeface="Helvetica Neue" panose="02000503000000020004" pitchFamily="2" charset="0"/>
                <a:cs typeface="Helvetica Neue" panose="02000503000000020004" pitchFamily="2" charset="0"/>
              </a:rPr>
              <a:t>Future-focused</a:t>
            </a:r>
            <a:r>
              <a:rPr lang="en-US" b="1" spc="-25" dirty="0">
                <a:latin typeface="Segoe UI" pitchFamily="34" charset="0"/>
                <a:ea typeface="Helvetica Neue" panose="02000503000000020004" pitchFamily="2" charset="0"/>
                <a:cs typeface="Helvetica Neue" panose="02000503000000020004" pitchFamily="2" charset="0"/>
              </a:rPr>
              <a:t> jobs to be done</a:t>
            </a:r>
          </a:p>
        </p:txBody>
      </p:sp>
      <p:sp>
        <p:nvSpPr>
          <p:cNvPr id="66" name="TextBox 65">
            <a:extLst>
              <a:ext uri="{FF2B5EF4-FFF2-40B4-BE49-F238E27FC236}">
                <a16:creationId xmlns:a16="http://schemas.microsoft.com/office/drawing/2014/main" id="{BC697CE6-5BB1-D795-6B02-0F05170AAE38}"/>
              </a:ext>
            </a:extLst>
          </p:cNvPr>
          <p:cNvSpPr txBox="1"/>
          <p:nvPr/>
        </p:nvSpPr>
        <p:spPr>
          <a:xfrm>
            <a:off x="943388" y="1304504"/>
            <a:ext cx="9349880" cy="919401"/>
          </a:xfrm>
          <a:prstGeom prst="roundRect">
            <a:avLst/>
          </a:prstGeom>
          <a:noFill/>
          <a:ln w="19050">
            <a:noFill/>
          </a:ln>
          <a:effectLst/>
        </p:spPr>
        <p:txBody>
          <a:bodyPr wrap="square" lIns="91440" tIns="45720" rIns="91440" bIns="45720" rtlCol="0">
            <a:spAutoFit/>
          </a:bodyPr>
          <a:lstStyle/>
          <a:p>
            <a:r>
              <a:rPr lang="en-US" sz="2400" b="1"/>
              <a:t>Succession Planning requires </a:t>
            </a:r>
            <a:r>
              <a:rPr lang="en-US" sz="2400" b="1">
                <a:solidFill>
                  <a:srgbClr val="00C27A"/>
                </a:solidFill>
              </a:rPr>
              <a:t>future focus </a:t>
            </a:r>
            <a:r>
              <a:rPr lang="en-US" sz="2400" b="1">
                <a:solidFill>
                  <a:srgbClr val="1D1D1D"/>
                </a:solidFill>
              </a:rPr>
              <a:t>and an understanding of </a:t>
            </a:r>
            <a:r>
              <a:rPr lang="en-US" sz="2400" b="1">
                <a:solidFill>
                  <a:srgbClr val="00C27A"/>
                </a:solidFill>
              </a:rPr>
              <a:t>organizational strategy </a:t>
            </a:r>
            <a:r>
              <a:rPr lang="en-US" sz="2400" b="1">
                <a:solidFill>
                  <a:srgbClr val="1D1D1D"/>
                </a:solidFill>
              </a:rPr>
              <a:t>and</a:t>
            </a:r>
            <a:r>
              <a:rPr lang="en-US" sz="2400" b="1">
                <a:solidFill>
                  <a:srgbClr val="00C27A"/>
                </a:solidFill>
              </a:rPr>
              <a:t> pivots</a:t>
            </a:r>
            <a:endParaRPr lang="en-US" sz="2400" b="1"/>
          </a:p>
        </p:txBody>
      </p:sp>
      <p:grpSp>
        <p:nvGrpSpPr>
          <p:cNvPr id="20" name="Group 19">
            <a:extLst>
              <a:ext uri="{FF2B5EF4-FFF2-40B4-BE49-F238E27FC236}">
                <a16:creationId xmlns:a16="http://schemas.microsoft.com/office/drawing/2014/main" id="{F249F55A-EAB3-E582-3BD5-53C42D94B2DC}"/>
              </a:ext>
            </a:extLst>
          </p:cNvPr>
          <p:cNvGrpSpPr/>
          <p:nvPr/>
        </p:nvGrpSpPr>
        <p:grpSpPr>
          <a:xfrm>
            <a:off x="1123453" y="2646334"/>
            <a:ext cx="4722124" cy="1272724"/>
            <a:chOff x="294143" y="1350733"/>
            <a:chExt cx="4911223" cy="1272724"/>
          </a:xfrm>
        </p:grpSpPr>
        <p:sp>
          <p:nvSpPr>
            <p:cNvPr id="28" name="TextBox 27">
              <a:extLst>
                <a:ext uri="{FF2B5EF4-FFF2-40B4-BE49-F238E27FC236}">
                  <a16:creationId xmlns:a16="http://schemas.microsoft.com/office/drawing/2014/main" id="{C60FE728-3A39-1C29-C9D2-EAC098B57196}"/>
                </a:ext>
              </a:extLst>
            </p:cNvPr>
            <p:cNvSpPr txBox="1"/>
            <p:nvPr/>
          </p:nvSpPr>
          <p:spPr>
            <a:xfrm>
              <a:off x="294143" y="1350733"/>
              <a:ext cx="4911223" cy="1272724"/>
            </a:xfrm>
            <a:prstGeom prst="roundRect">
              <a:avLst>
                <a:gd name="adj" fmla="val 16726"/>
              </a:avLst>
            </a:prstGeom>
            <a:solidFill>
              <a:srgbClr val="281A42"/>
            </a:solidFill>
            <a:ln w="19050">
              <a:solidFill>
                <a:srgbClr val="2B3A42"/>
              </a:solidFill>
            </a:ln>
            <a:effectLst>
              <a:outerShdw blurRad="50800" dist="38100" dir="8100000" algn="tr" rotWithShape="0">
                <a:prstClr val="black">
                  <a:alpha val="40000"/>
                </a:prstClr>
              </a:outerShdw>
            </a:effectLst>
          </p:spPr>
          <p:txBody>
            <a:bodyPr wrap="square" lIns="91440" tIns="45720" rIns="91440" bIns="45720" rtlCol="0" anchor="t">
              <a:noAutofit/>
            </a:bodyPr>
            <a:lstStyle/>
            <a:p>
              <a:pPr algn="ctr"/>
              <a:r>
                <a:rPr lang="en-US" sz="2800" b="1" dirty="0">
                  <a:solidFill>
                    <a:schemeClr val="bg1"/>
                  </a:solidFill>
                </a:rPr>
                <a:t>Geographic pivots</a:t>
              </a:r>
            </a:p>
          </p:txBody>
        </p:sp>
        <p:sp>
          <p:nvSpPr>
            <p:cNvPr id="13" name="TextBox 12">
              <a:extLst>
                <a:ext uri="{FF2B5EF4-FFF2-40B4-BE49-F238E27FC236}">
                  <a16:creationId xmlns:a16="http://schemas.microsoft.com/office/drawing/2014/main" id="{8578B916-865E-D0D0-7022-C48055D7246D}"/>
                </a:ext>
              </a:extLst>
            </p:cNvPr>
            <p:cNvSpPr txBox="1"/>
            <p:nvPr/>
          </p:nvSpPr>
          <p:spPr>
            <a:xfrm>
              <a:off x="1099457" y="2011232"/>
              <a:ext cx="999886" cy="461665"/>
            </a:xfrm>
            <a:prstGeom prst="rect">
              <a:avLst/>
            </a:prstGeom>
            <a:noFill/>
          </p:spPr>
          <p:txBody>
            <a:bodyPr wrap="square" lIns="91440" tIns="45720" rIns="91440" bIns="45720" rtlCol="0">
              <a:spAutoFit/>
            </a:bodyPr>
            <a:lstStyle/>
            <a:p>
              <a:pPr algn="r"/>
              <a:r>
                <a:rPr lang="en-US" sz="2400">
                  <a:solidFill>
                    <a:schemeClr val="bg1"/>
                  </a:solidFill>
                </a:rPr>
                <a:t>US</a:t>
              </a:r>
            </a:p>
          </p:txBody>
        </p:sp>
        <p:sp>
          <p:nvSpPr>
            <p:cNvPr id="14" name="TextBox 13">
              <a:extLst>
                <a:ext uri="{FF2B5EF4-FFF2-40B4-BE49-F238E27FC236}">
                  <a16:creationId xmlns:a16="http://schemas.microsoft.com/office/drawing/2014/main" id="{4833A68F-9330-8262-B6E5-AEE3470346DD}"/>
                </a:ext>
              </a:extLst>
            </p:cNvPr>
            <p:cNvSpPr txBox="1"/>
            <p:nvPr/>
          </p:nvSpPr>
          <p:spPr>
            <a:xfrm>
              <a:off x="2709339" y="2011232"/>
              <a:ext cx="1329262" cy="461665"/>
            </a:xfrm>
            <a:prstGeom prst="rect">
              <a:avLst/>
            </a:prstGeom>
            <a:noFill/>
          </p:spPr>
          <p:txBody>
            <a:bodyPr wrap="square" lIns="91440" tIns="45720" rIns="91440" bIns="45720" rtlCol="0">
              <a:spAutoFit/>
            </a:bodyPr>
            <a:lstStyle/>
            <a:p>
              <a:r>
                <a:rPr lang="en-US" sz="2400">
                  <a:solidFill>
                    <a:schemeClr val="bg1"/>
                  </a:solidFill>
                </a:rPr>
                <a:t>Global</a:t>
              </a:r>
            </a:p>
          </p:txBody>
        </p:sp>
        <p:pic>
          <p:nvPicPr>
            <p:cNvPr id="16" name="Graphic 15" descr="Fast Forward with solid fill">
              <a:extLst>
                <a:ext uri="{FF2B5EF4-FFF2-40B4-BE49-F238E27FC236}">
                  <a16:creationId xmlns:a16="http://schemas.microsoft.com/office/drawing/2014/main" id="{FB266A0E-D3F9-F3D1-707C-D9FDD53F6714}"/>
                </a:ext>
              </a:extLst>
            </p:cNvPr>
            <p:cNvPicPr>
              <a:picLocks/>
            </p:cNvPicPr>
            <p:nvPr/>
          </p:nvPicPr>
          <p:blipFill>
            <a:blip r:embed="rId4">
              <a:duotone>
                <a:srgbClr val="765FFF"/>
                <a:srgbClr val="FFFFFF"/>
              </a:duotone>
            </a:blip>
            <a:stretch>
              <a:fillRect/>
            </a:stretch>
          </p:blipFill>
          <p:spPr>
            <a:xfrm>
              <a:off x="2099342" y="1937066"/>
              <a:ext cx="637182" cy="612648"/>
            </a:xfrm>
            <a:prstGeom prst="rect">
              <a:avLst/>
            </a:prstGeom>
          </p:spPr>
        </p:pic>
      </p:grpSp>
      <p:grpSp>
        <p:nvGrpSpPr>
          <p:cNvPr id="48" name="Group 47">
            <a:extLst>
              <a:ext uri="{FF2B5EF4-FFF2-40B4-BE49-F238E27FC236}">
                <a16:creationId xmlns:a16="http://schemas.microsoft.com/office/drawing/2014/main" id="{AF5B70E2-AA81-0634-5709-B04B3187A7B6}"/>
              </a:ext>
            </a:extLst>
          </p:cNvPr>
          <p:cNvGrpSpPr/>
          <p:nvPr/>
        </p:nvGrpSpPr>
        <p:grpSpPr>
          <a:xfrm>
            <a:off x="6346423" y="2641181"/>
            <a:ext cx="4722124" cy="1272724"/>
            <a:chOff x="7779448" y="1374870"/>
            <a:chExt cx="3849298" cy="1272724"/>
          </a:xfrm>
        </p:grpSpPr>
        <p:grpSp>
          <p:nvGrpSpPr>
            <p:cNvPr id="26" name="Group 25">
              <a:extLst>
                <a:ext uri="{FF2B5EF4-FFF2-40B4-BE49-F238E27FC236}">
                  <a16:creationId xmlns:a16="http://schemas.microsoft.com/office/drawing/2014/main" id="{5DAF1D83-5245-BC69-7A7A-7BFCE8F9D0DA}"/>
                </a:ext>
              </a:extLst>
            </p:cNvPr>
            <p:cNvGrpSpPr/>
            <p:nvPr/>
          </p:nvGrpSpPr>
          <p:grpSpPr>
            <a:xfrm>
              <a:off x="7779448" y="1374870"/>
              <a:ext cx="3849298" cy="1272724"/>
              <a:chOff x="6571829" y="1374870"/>
              <a:chExt cx="4090909" cy="1272724"/>
            </a:xfrm>
          </p:grpSpPr>
          <p:sp>
            <p:nvSpPr>
              <p:cNvPr id="22" name="TextBox 21">
                <a:extLst>
                  <a:ext uri="{FF2B5EF4-FFF2-40B4-BE49-F238E27FC236}">
                    <a16:creationId xmlns:a16="http://schemas.microsoft.com/office/drawing/2014/main" id="{C5A7F958-AD81-67A8-0C8B-65215382C4F2}"/>
                  </a:ext>
                </a:extLst>
              </p:cNvPr>
              <p:cNvSpPr txBox="1"/>
              <p:nvPr/>
            </p:nvSpPr>
            <p:spPr>
              <a:xfrm>
                <a:off x="6571829" y="1374870"/>
                <a:ext cx="4090909" cy="1272724"/>
              </a:xfrm>
              <a:prstGeom prst="roundRect">
                <a:avLst>
                  <a:gd name="adj" fmla="val 16726"/>
                </a:avLst>
              </a:prstGeom>
              <a:solidFill>
                <a:srgbClr val="281A42"/>
              </a:solidFill>
              <a:ln w="19050">
                <a:solidFill>
                  <a:srgbClr val="2B3A42"/>
                </a:solidFill>
              </a:ln>
              <a:effectLst>
                <a:outerShdw blurRad="50800" dist="38100" dir="8100000" algn="tr" rotWithShape="0">
                  <a:prstClr val="black">
                    <a:alpha val="40000"/>
                  </a:prstClr>
                </a:outerShdw>
              </a:effectLst>
            </p:spPr>
            <p:txBody>
              <a:bodyPr wrap="square" lIns="91440" tIns="45720" rIns="91440" bIns="45720" rtlCol="0" anchor="t">
                <a:noAutofit/>
              </a:bodyPr>
              <a:lstStyle/>
              <a:p>
                <a:pPr algn="ctr"/>
                <a:r>
                  <a:rPr lang="en-US" sz="2800" b="1">
                    <a:solidFill>
                      <a:schemeClr val="bg1"/>
                    </a:solidFill>
                  </a:rPr>
                  <a:t>Presence pivots</a:t>
                </a:r>
              </a:p>
            </p:txBody>
          </p:sp>
          <p:sp>
            <p:nvSpPr>
              <p:cNvPr id="23" name="TextBox 22">
                <a:extLst>
                  <a:ext uri="{FF2B5EF4-FFF2-40B4-BE49-F238E27FC236}">
                    <a16:creationId xmlns:a16="http://schemas.microsoft.com/office/drawing/2014/main" id="{814406B4-31A8-2AE5-EE98-DA5AC2EA66FC}"/>
                  </a:ext>
                </a:extLst>
              </p:cNvPr>
              <p:cNvSpPr txBox="1"/>
              <p:nvPr/>
            </p:nvSpPr>
            <p:spPr>
              <a:xfrm>
                <a:off x="6850101" y="2013979"/>
                <a:ext cx="1036088" cy="461665"/>
              </a:xfrm>
              <a:prstGeom prst="rect">
                <a:avLst/>
              </a:prstGeom>
              <a:noFill/>
            </p:spPr>
            <p:txBody>
              <a:bodyPr wrap="square" lIns="91440" tIns="45720" rIns="91440" bIns="45720" rtlCol="0">
                <a:spAutoFit/>
              </a:bodyPr>
              <a:lstStyle/>
              <a:p>
                <a:pPr algn="r"/>
                <a:r>
                  <a:rPr lang="en-US" sz="2400">
                    <a:solidFill>
                      <a:schemeClr val="bg1"/>
                    </a:solidFill>
                  </a:rPr>
                  <a:t>B&amp;M </a:t>
                </a:r>
              </a:p>
            </p:txBody>
          </p:sp>
          <p:sp>
            <p:nvSpPr>
              <p:cNvPr id="24" name="TextBox 23">
                <a:extLst>
                  <a:ext uri="{FF2B5EF4-FFF2-40B4-BE49-F238E27FC236}">
                    <a16:creationId xmlns:a16="http://schemas.microsoft.com/office/drawing/2014/main" id="{C5D0BE27-B09D-81DA-3DA9-BB61EAB552AD}"/>
                  </a:ext>
                </a:extLst>
              </p:cNvPr>
              <p:cNvSpPr txBox="1"/>
              <p:nvPr/>
            </p:nvSpPr>
            <p:spPr>
              <a:xfrm>
                <a:off x="8463016" y="2013979"/>
                <a:ext cx="1914635" cy="461665"/>
              </a:xfrm>
              <a:prstGeom prst="rect">
                <a:avLst/>
              </a:prstGeom>
              <a:noFill/>
            </p:spPr>
            <p:txBody>
              <a:bodyPr wrap="square" lIns="91440" tIns="45720" rIns="91440" bIns="45720" rtlCol="0">
                <a:spAutoFit/>
              </a:bodyPr>
              <a:lstStyle/>
              <a:p>
                <a:r>
                  <a:rPr lang="en-US" sz="2400">
                    <a:solidFill>
                      <a:schemeClr val="bg1"/>
                    </a:solidFill>
                  </a:rPr>
                  <a:t>Hybrid/digital</a:t>
                </a:r>
              </a:p>
            </p:txBody>
          </p:sp>
        </p:grpSp>
        <p:pic>
          <p:nvPicPr>
            <p:cNvPr id="25" name="Graphic 24" descr="Fast Forward with solid fill">
              <a:extLst>
                <a:ext uri="{FF2B5EF4-FFF2-40B4-BE49-F238E27FC236}">
                  <a16:creationId xmlns:a16="http://schemas.microsoft.com/office/drawing/2014/main" id="{4364B8AA-A7C0-B556-DE0F-9EAC7761698D}"/>
                </a:ext>
              </a:extLst>
            </p:cNvPr>
            <p:cNvPicPr>
              <a:picLocks/>
            </p:cNvPicPr>
            <p:nvPr/>
          </p:nvPicPr>
          <p:blipFill>
            <a:blip r:embed="rId4">
              <a:duotone>
                <a:srgbClr val="765FFF"/>
                <a:srgbClr val="FFFFFF"/>
              </a:duotone>
            </a:blip>
            <a:stretch>
              <a:fillRect/>
            </a:stretch>
          </p:blipFill>
          <p:spPr>
            <a:xfrm>
              <a:off x="9047419" y="1938487"/>
              <a:ext cx="499408" cy="612648"/>
            </a:xfrm>
            <a:prstGeom prst="rect">
              <a:avLst/>
            </a:prstGeom>
          </p:spPr>
        </p:pic>
      </p:grpSp>
      <p:grpSp>
        <p:nvGrpSpPr>
          <p:cNvPr id="27" name="Group 26">
            <a:extLst>
              <a:ext uri="{FF2B5EF4-FFF2-40B4-BE49-F238E27FC236}">
                <a16:creationId xmlns:a16="http://schemas.microsoft.com/office/drawing/2014/main" id="{F940B054-0EDC-25A0-6A2A-4028ADF4C24C}"/>
              </a:ext>
            </a:extLst>
          </p:cNvPr>
          <p:cNvGrpSpPr/>
          <p:nvPr/>
        </p:nvGrpSpPr>
        <p:grpSpPr>
          <a:xfrm>
            <a:off x="6346423" y="4328057"/>
            <a:ext cx="4722124" cy="1272724"/>
            <a:chOff x="625213" y="1350733"/>
            <a:chExt cx="3899890" cy="1272724"/>
          </a:xfrm>
        </p:grpSpPr>
        <p:sp>
          <p:nvSpPr>
            <p:cNvPr id="34" name="TextBox 33">
              <a:extLst>
                <a:ext uri="{FF2B5EF4-FFF2-40B4-BE49-F238E27FC236}">
                  <a16:creationId xmlns:a16="http://schemas.microsoft.com/office/drawing/2014/main" id="{9BD69126-96FD-405A-4783-419A6C2733E8}"/>
                </a:ext>
              </a:extLst>
            </p:cNvPr>
            <p:cNvSpPr txBox="1"/>
            <p:nvPr/>
          </p:nvSpPr>
          <p:spPr>
            <a:xfrm>
              <a:off x="625213" y="1350733"/>
              <a:ext cx="3899890" cy="1272724"/>
            </a:xfrm>
            <a:prstGeom prst="roundRect">
              <a:avLst>
                <a:gd name="adj" fmla="val 16726"/>
              </a:avLst>
            </a:prstGeom>
            <a:solidFill>
              <a:srgbClr val="281A42"/>
            </a:solidFill>
            <a:ln w="19050">
              <a:solidFill>
                <a:srgbClr val="2B3A42"/>
              </a:solidFill>
            </a:ln>
            <a:effectLst>
              <a:outerShdw blurRad="50800" dist="38100" dir="8100000" algn="tr" rotWithShape="0">
                <a:prstClr val="black">
                  <a:alpha val="40000"/>
                </a:prstClr>
              </a:outerShdw>
            </a:effectLst>
          </p:spPr>
          <p:txBody>
            <a:bodyPr wrap="square" lIns="91440" tIns="45720" rIns="91440" bIns="45720" rtlCol="0" anchor="t">
              <a:noAutofit/>
            </a:bodyPr>
            <a:lstStyle/>
            <a:p>
              <a:pPr algn="ctr"/>
              <a:r>
                <a:rPr lang="en-US" sz="2800" b="1">
                  <a:solidFill>
                    <a:schemeClr val="bg1"/>
                  </a:solidFill>
                </a:rPr>
                <a:t>Structural pivots</a:t>
              </a:r>
            </a:p>
          </p:txBody>
        </p:sp>
        <p:sp>
          <p:nvSpPr>
            <p:cNvPr id="35" name="TextBox 34">
              <a:extLst>
                <a:ext uri="{FF2B5EF4-FFF2-40B4-BE49-F238E27FC236}">
                  <a16:creationId xmlns:a16="http://schemas.microsoft.com/office/drawing/2014/main" id="{E619AFC3-4AEE-7916-0182-ACA98FA42133}"/>
                </a:ext>
              </a:extLst>
            </p:cNvPr>
            <p:cNvSpPr txBox="1"/>
            <p:nvPr/>
          </p:nvSpPr>
          <p:spPr>
            <a:xfrm>
              <a:off x="1137504" y="2011232"/>
              <a:ext cx="999886" cy="461665"/>
            </a:xfrm>
            <a:prstGeom prst="rect">
              <a:avLst/>
            </a:prstGeom>
            <a:noFill/>
          </p:spPr>
          <p:txBody>
            <a:bodyPr wrap="square" lIns="91440" tIns="45720" rIns="91440" bIns="45720" rtlCol="0">
              <a:spAutoFit/>
            </a:bodyPr>
            <a:lstStyle/>
            <a:p>
              <a:pPr algn="r"/>
              <a:r>
                <a:rPr lang="en-US" sz="2400">
                  <a:solidFill>
                    <a:schemeClr val="bg1"/>
                  </a:solidFill>
                </a:rPr>
                <a:t>BU</a:t>
              </a:r>
            </a:p>
          </p:txBody>
        </p:sp>
        <p:sp>
          <p:nvSpPr>
            <p:cNvPr id="36" name="TextBox 35">
              <a:extLst>
                <a:ext uri="{FF2B5EF4-FFF2-40B4-BE49-F238E27FC236}">
                  <a16:creationId xmlns:a16="http://schemas.microsoft.com/office/drawing/2014/main" id="{6C0D3607-6765-4469-ECBC-7C1260CBC95B}"/>
                </a:ext>
              </a:extLst>
            </p:cNvPr>
            <p:cNvSpPr txBox="1"/>
            <p:nvPr/>
          </p:nvSpPr>
          <p:spPr>
            <a:xfrm>
              <a:off x="2671292" y="2011232"/>
              <a:ext cx="1708971" cy="461665"/>
            </a:xfrm>
            <a:prstGeom prst="rect">
              <a:avLst/>
            </a:prstGeom>
            <a:noFill/>
          </p:spPr>
          <p:txBody>
            <a:bodyPr wrap="square" lIns="91440" tIns="45720" rIns="91440" bIns="45720" rtlCol="0">
              <a:spAutoFit/>
            </a:bodyPr>
            <a:lstStyle/>
            <a:p>
              <a:r>
                <a:rPr lang="en-US" sz="2400">
                  <a:solidFill>
                    <a:schemeClr val="bg1"/>
                  </a:solidFill>
                </a:rPr>
                <a:t>Product</a:t>
              </a:r>
            </a:p>
          </p:txBody>
        </p:sp>
        <p:pic>
          <p:nvPicPr>
            <p:cNvPr id="37" name="Graphic 36" descr="Fast Forward with solid fill">
              <a:extLst>
                <a:ext uri="{FF2B5EF4-FFF2-40B4-BE49-F238E27FC236}">
                  <a16:creationId xmlns:a16="http://schemas.microsoft.com/office/drawing/2014/main" id="{8DBBE60F-318B-536C-DCF2-90F04D4715DA}"/>
                </a:ext>
              </a:extLst>
            </p:cNvPr>
            <p:cNvPicPr>
              <a:picLocks/>
            </p:cNvPicPr>
            <p:nvPr/>
          </p:nvPicPr>
          <p:blipFill>
            <a:blip r:embed="rId4">
              <a:duotone>
                <a:srgbClr val="765FFF"/>
                <a:srgbClr val="FFFFFF"/>
              </a:duotone>
            </a:blip>
            <a:stretch>
              <a:fillRect/>
            </a:stretch>
          </p:blipFill>
          <p:spPr>
            <a:xfrm>
              <a:off x="2170503" y="1935740"/>
              <a:ext cx="505971" cy="612648"/>
            </a:xfrm>
            <a:prstGeom prst="rect">
              <a:avLst/>
            </a:prstGeom>
          </p:spPr>
        </p:pic>
      </p:grpSp>
      <p:grpSp>
        <p:nvGrpSpPr>
          <p:cNvPr id="3" name="Group 2">
            <a:extLst>
              <a:ext uri="{FF2B5EF4-FFF2-40B4-BE49-F238E27FC236}">
                <a16:creationId xmlns:a16="http://schemas.microsoft.com/office/drawing/2014/main" id="{8C8E0481-BD27-5681-039C-86DFD482C489}"/>
              </a:ext>
            </a:extLst>
          </p:cNvPr>
          <p:cNvGrpSpPr/>
          <p:nvPr/>
        </p:nvGrpSpPr>
        <p:grpSpPr>
          <a:xfrm>
            <a:off x="1123453" y="4352990"/>
            <a:ext cx="4722124" cy="1272724"/>
            <a:chOff x="1162312" y="4491521"/>
            <a:chExt cx="4722124" cy="1272724"/>
          </a:xfrm>
        </p:grpSpPr>
        <p:grpSp>
          <p:nvGrpSpPr>
            <p:cNvPr id="43" name="Group 42">
              <a:extLst>
                <a:ext uri="{FF2B5EF4-FFF2-40B4-BE49-F238E27FC236}">
                  <a16:creationId xmlns:a16="http://schemas.microsoft.com/office/drawing/2014/main" id="{3BE153EC-05E5-EA90-046A-270BF1D6B4DB}"/>
                </a:ext>
              </a:extLst>
            </p:cNvPr>
            <p:cNvGrpSpPr/>
            <p:nvPr/>
          </p:nvGrpSpPr>
          <p:grpSpPr>
            <a:xfrm>
              <a:off x="1162312" y="4491521"/>
              <a:ext cx="4722124" cy="1272724"/>
              <a:chOff x="5029345" y="1374870"/>
              <a:chExt cx="5633394" cy="1272724"/>
            </a:xfrm>
          </p:grpSpPr>
          <p:sp>
            <p:nvSpPr>
              <p:cNvPr id="44" name="TextBox 43">
                <a:extLst>
                  <a:ext uri="{FF2B5EF4-FFF2-40B4-BE49-F238E27FC236}">
                    <a16:creationId xmlns:a16="http://schemas.microsoft.com/office/drawing/2014/main" id="{7919756A-ED1F-52D5-ED00-DDBE901546D2}"/>
                  </a:ext>
                </a:extLst>
              </p:cNvPr>
              <p:cNvSpPr txBox="1"/>
              <p:nvPr/>
            </p:nvSpPr>
            <p:spPr>
              <a:xfrm>
                <a:off x="5029345" y="1374870"/>
                <a:ext cx="5633394" cy="1272724"/>
              </a:xfrm>
              <a:prstGeom prst="roundRect">
                <a:avLst>
                  <a:gd name="adj" fmla="val 16726"/>
                </a:avLst>
              </a:prstGeom>
              <a:solidFill>
                <a:srgbClr val="281A42"/>
              </a:solidFill>
              <a:ln w="19050">
                <a:solidFill>
                  <a:srgbClr val="2B3A42"/>
                </a:solidFill>
              </a:ln>
              <a:effectLst>
                <a:outerShdw blurRad="50800" dist="38100" dir="8100000" algn="tr" rotWithShape="0">
                  <a:prstClr val="black">
                    <a:alpha val="40000"/>
                  </a:prstClr>
                </a:outerShdw>
              </a:effectLst>
            </p:spPr>
            <p:txBody>
              <a:bodyPr wrap="square" lIns="91440" tIns="45720" rIns="91440" bIns="45720" rtlCol="0" anchor="t">
                <a:noAutofit/>
              </a:bodyPr>
              <a:lstStyle/>
              <a:p>
                <a:pPr algn="ctr"/>
                <a:r>
                  <a:rPr lang="en-US" sz="2800" b="1">
                    <a:solidFill>
                      <a:schemeClr val="bg1"/>
                    </a:solidFill>
                  </a:rPr>
                  <a:t>Growth pivots</a:t>
                </a:r>
              </a:p>
            </p:txBody>
          </p:sp>
          <p:sp>
            <p:nvSpPr>
              <p:cNvPr id="45" name="TextBox 44">
                <a:extLst>
                  <a:ext uri="{FF2B5EF4-FFF2-40B4-BE49-F238E27FC236}">
                    <a16:creationId xmlns:a16="http://schemas.microsoft.com/office/drawing/2014/main" id="{1629286A-F021-F3FF-AA8A-E96B18761EC0}"/>
                  </a:ext>
                </a:extLst>
              </p:cNvPr>
              <p:cNvSpPr txBox="1"/>
              <p:nvPr/>
            </p:nvSpPr>
            <p:spPr>
              <a:xfrm>
                <a:off x="5338026" y="2013338"/>
                <a:ext cx="2359534" cy="461665"/>
              </a:xfrm>
              <a:prstGeom prst="rect">
                <a:avLst/>
              </a:prstGeom>
              <a:noFill/>
            </p:spPr>
            <p:txBody>
              <a:bodyPr wrap="square" lIns="91440" tIns="45720" rIns="91440" bIns="45720" rtlCol="0">
                <a:spAutoFit/>
              </a:bodyPr>
              <a:lstStyle/>
              <a:p>
                <a:pPr algn="r"/>
                <a:r>
                  <a:rPr lang="en-US" sz="2400">
                    <a:solidFill>
                      <a:schemeClr val="bg1"/>
                    </a:solidFill>
                  </a:rPr>
                  <a:t>Organic</a:t>
                </a:r>
              </a:p>
            </p:txBody>
          </p:sp>
          <p:sp>
            <p:nvSpPr>
              <p:cNvPr id="46" name="TextBox 45">
                <a:extLst>
                  <a:ext uri="{FF2B5EF4-FFF2-40B4-BE49-F238E27FC236}">
                    <a16:creationId xmlns:a16="http://schemas.microsoft.com/office/drawing/2014/main" id="{96414299-D6EA-F94A-5BFC-B43E6C7E050C}"/>
                  </a:ext>
                </a:extLst>
              </p:cNvPr>
              <p:cNvSpPr txBox="1"/>
              <p:nvPr/>
            </p:nvSpPr>
            <p:spPr>
              <a:xfrm>
                <a:off x="8268183" y="2035369"/>
                <a:ext cx="2330535" cy="461665"/>
              </a:xfrm>
              <a:prstGeom prst="rect">
                <a:avLst/>
              </a:prstGeom>
              <a:noFill/>
            </p:spPr>
            <p:txBody>
              <a:bodyPr wrap="square" lIns="91440" tIns="45720" rIns="91440" bIns="45720" rtlCol="0">
                <a:spAutoFit/>
              </a:bodyPr>
              <a:lstStyle/>
              <a:p>
                <a:r>
                  <a:rPr lang="en-US" sz="2400">
                    <a:solidFill>
                      <a:schemeClr val="bg1"/>
                    </a:solidFill>
                  </a:rPr>
                  <a:t>M&amp;A</a:t>
                </a:r>
              </a:p>
            </p:txBody>
          </p:sp>
        </p:grpSp>
        <p:pic>
          <p:nvPicPr>
            <p:cNvPr id="47" name="Graphic 46" descr="Fast Forward with solid fill">
              <a:extLst>
                <a:ext uri="{FF2B5EF4-FFF2-40B4-BE49-F238E27FC236}">
                  <a16:creationId xmlns:a16="http://schemas.microsoft.com/office/drawing/2014/main" id="{88F73778-FF6B-3A4D-DF57-28D35FE2DA4C}"/>
                </a:ext>
              </a:extLst>
            </p:cNvPr>
            <p:cNvPicPr>
              <a:picLocks noChangeAspect="1"/>
            </p:cNvPicPr>
            <p:nvPr/>
          </p:nvPicPr>
          <p:blipFill>
            <a:blip r:embed="rId4">
              <a:duotone>
                <a:srgbClr val="765FFF"/>
                <a:srgbClr val="FFFFFF"/>
              </a:duotone>
            </a:blip>
            <a:stretch>
              <a:fillRect/>
            </a:stretch>
          </p:blipFill>
          <p:spPr>
            <a:xfrm>
              <a:off x="3346422" y="5073532"/>
              <a:ext cx="612649" cy="597244"/>
            </a:xfrm>
            <a:prstGeom prst="rect">
              <a:avLst/>
            </a:prstGeom>
          </p:spPr>
        </p:pic>
      </p:grpSp>
      <p:sp>
        <p:nvSpPr>
          <p:cNvPr id="4" name="TextBox 3">
            <a:extLst>
              <a:ext uri="{FF2B5EF4-FFF2-40B4-BE49-F238E27FC236}">
                <a16:creationId xmlns:a16="http://schemas.microsoft.com/office/drawing/2014/main" id="{9A7D187F-C5B5-F022-587C-D96758969714}"/>
              </a:ext>
            </a:extLst>
          </p:cNvPr>
          <p:cNvSpPr txBox="1"/>
          <p:nvPr/>
        </p:nvSpPr>
        <p:spPr>
          <a:xfrm>
            <a:off x="4919486" y="5944340"/>
            <a:ext cx="2448106" cy="523220"/>
          </a:xfrm>
          <a:prstGeom prst="rect">
            <a:avLst/>
          </a:prstGeom>
          <a:noFill/>
        </p:spPr>
        <p:txBody>
          <a:bodyPr wrap="none" lIns="91440" tIns="45720" rIns="91440" bIns="45720" rtlCol="0">
            <a:spAutoFit/>
          </a:bodyPr>
          <a:lstStyle/>
          <a:p>
            <a:r>
              <a:rPr lang="en-US" sz="2800" i="1"/>
              <a:t>Pivot Examples</a:t>
            </a:r>
          </a:p>
        </p:txBody>
      </p:sp>
      <p:sp>
        <p:nvSpPr>
          <p:cNvPr id="67"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14</a:t>
            </a:fld>
            <a:endParaRPr lang="en-US"/>
          </a:p>
        </p:txBody>
      </p:sp>
      <p:grpSp>
        <p:nvGrpSpPr>
          <p:cNvPr id="15" name="Group 14">
            <a:extLst>
              <a:ext uri="{FF2B5EF4-FFF2-40B4-BE49-F238E27FC236}">
                <a16:creationId xmlns:a16="http://schemas.microsoft.com/office/drawing/2014/main" id="{368F40AF-5868-D034-3A0F-D9A146C84A0D}"/>
              </a:ext>
            </a:extLst>
          </p:cNvPr>
          <p:cNvGrpSpPr/>
          <p:nvPr/>
        </p:nvGrpSpPr>
        <p:grpSpPr>
          <a:xfrm>
            <a:off x="10403235" y="201614"/>
            <a:ext cx="410690" cy="410700"/>
            <a:chOff x="3506617" y="2730959"/>
            <a:chExt cx="1591098" cy="1591098"/>
          </a:xfrm>
        </p:grpSpPr>
        <p:sp>
          <p:nvSpPr>
            <p:cNvPr id="17" name="Rectangle: Rounded Corners 39">
              <a:extLst>
                <a:ext uri="{FF2B5EF4-FFF2-40B4-BE49-F238E27FC236}">
                  <a16:creationId xmlns:a16="http://schemas.microsoft.com/office/drawing/2014/main" id="{BBD2314C-D1A1-DE8D-A73D-5595B04EB512}"/>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8" name="Rectangle: Rounded Corners 54">
              <a:extLst>
                <a:ext uri="{FF2B5EF4-FFF2-40B4-BE49-F238E27FC236}">
                  <a16:creationId xmlns:a16="http://schemas.microsoft.com/office/drawing/2014/main" id="{738626EB-17E1-A715-FAF5-FA0B50119BA4}"/>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9" name="Freeform 56" descr="Clipboard Partially Checked with solid fill">
              <a:extLst>
                <a:ext uri="{FF2B5EF4-FFF2-40B4-BE49-F238E27FC236}">
                  <a16:creationId xmlns:a16="http://schemas.microsoft.com/office/drawing/2014/main" id="{8F43E971-E7A5-9B1F-0360-6EE62EB74FBA}"/>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21" name="Group 20">
            <a:extLst>
              <a:ext uri="{FF2B5EF4-FFF2-40B4-BE49-F238E27FC236}">
                <a16:creationId xmlns:a16="http://schemas.microsoft.com/office/drawing/2014/main" id="{8843A0F2-76C0-729E-4165-636B20E0B8F0}"/>
              </a:ext>
            </a:extLst>
          </p:cNvPr>
          <p:cNvGrpSpPr/>
          <p:nvPr/>
        </p:nvGrpSpPr>
        <p:grpSpPr>
          <a:xfrm>
            <a:off x="11557682" y="191038"/>
            <a:ext cx="410690" cy="410700"/>
            <a:chOff x="8874309" y="3009260"/>
            <a:chExt cx="1591098" cy="1591098"/>
          </a:xfrm>
        </p:grpSpPr>
        <p:grpSp>
          <p:nvGrpSpPr>
            <p:cNvPr id="29" name="Group 28">
              <a:extLst>
                <a:ext uri="{FF2B5EF4-FFF2-40B4-BE49-F238E27FC236}">
                  <a16:creationId xmlns:a16="http://schemas.microsoft.com/office/drawing/2014/main" id="{0262E132-420E-02E2-CC33-685364AC7C21}"/>
                </a:ext>
              </a:extLst>
            </p:cNvPr>
            <p:cNvGrpSpPr/>
            <p:nvPr/>
          </p:nvGrpSpPr>
          <p:grpSpPr>
            <a:xfrm>
              <a:off x="8874309" y="3009260"/>
              <a:ext cx="1591098" cy="1591098"/>
              <a:chOff x="9350370" y="2760976"/>
              <a:chExt cx="1591098" cy="1591098"/>
            </a:xfrm>
          </p:grpSpPr>
          <p:sp>
            <p:nvSpPr>
              <p:cNvPr id="31" name="Rectangle: Rounded Corners 39">
                <a:extLst>
                  <a:ext uri="{FF2B5EF4-FFF2-40B4-BE49-F238E27FC236}">
                    <a16:creationId xmlns:a16="http://schemas.microsoft.com/office/drawing/2014/main" id="{DD62F9BB-0325-1584-BEAD-F02BA3E3D28A}"/>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2" name="Rectangle: Rounded Corners 54">
                <a:extLst>
                  <a:ext uri="{FF2B5EF4-FFF2-40B4-BE49-F238E27FC236}">
                    <a16:creationId xmlns:a16="http://schemas.microsoft.com/office/drawing/2014/main" id="{8AE8FDDD-E20A-FE46-677A-E10C8646C4FB}"/>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0" name="Picture 51" descr="Map with pin with solid fill">
              <a:extLst>
                <a:ext uri="{FF2B5EF4-FFF2-40B4-BE49-F238E27FC236}">
                  <a16:creationId xmlns:a16="http://schemas.microsoft.com/office/drawing/2014/main" id="{0F1B5226-1DF5-9A3E-EBD6-962CB5FD0501}"/>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3" name="Group 32">
            <a:extLst>
              <a:ext uri="{FF2B5EF4-FFF2-40B4-BE49-F238E27FC236}">
                <a16:creationId xmlns:a16="http://schemas.microsoft.com/office/drawing/2014/main" id="{FCF6844E-BDDB-FA91-DA92-FBAF446BFB5C}"/>
              </a:ext>
            </a:extLst>
          </p:cNvPr>
          <p:cNvGrpSpPr/>
          <p:nvPr/>
        </p:nvGrpSpPr>
        <p:grpSpPr>
          <a:xfrm>
            <a:off x="10997361" y="200955"/>
            <a:ext cx="410690" cy="410700"/>
            <a:chOff x="5303120" y="3009260"/>
            <a:chExt cx="1591098" cy="1591098"/>
          </a:xfrm>
        </p:grpSpPr>
        <p:grpSp>
          <p:nvGrpSpPr>
            <p:cNvPr id="38" name="Group 37">
              <a:extLst>
                <a:ext uri="{FF2B5EF4-FFF2-40B4-BE49-F238E27FC236}">
                  <a16:creationId xmlns:a16="http://schemas.microsoft.com/office/drawing/2014/main" id="{5035B581-5DA2-A5F1-6B3F-4D0DDD4E200D}"/>
                </a:ext>
              </a:extLst>
            </p:cNvPr>
            <p:cNvGrpSpPr/>
            <p:nvPr/>
          </p:nvGrpSpPr>
          <p:grpSpPr>
            <a:xfrm>
              <a:off x="5303120" y="3009260"/>
              <a:ext cx="1591098" cy="1591098"/>
              <a:chOff x="6428492" y="2760976"/>
              <a:chExt cx="1591098" cy="1591098"/>
            </a:xfrm>
          </p:grpSpPr>
          <p:sp>
            <p:nvSpPr>
              <p:cNvPr id="56" name="Rectangle: Rounded Corners 39">
                <a:extLst>
                  <a:ext uri="{FF2B5EF4-FFF2-40B4-BE49-F238E27FC236}">
                    <a16:creationId xmlns:a16="http://schemas.microsoft.com/office/drawing/2014/main" id="{D69023AE-A9D4-FDE0-8E70-C5989E781DB9}"/>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7" name="Rectangle: Rounded Corners 54">
                <a:extLst>
                  <a:ext uri="{FF2B5EF4-FFF2-40B4-BE49-F238E27FC236}">
                    <a16:creationId xmlns:a16="http://schemas.microsoft.com/office/drawing/2014/main" id="{594BBADE-EF9A-DC66-A869-47C46A7113BD}"/>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9" name="Graphic 27" descr="Target Audience with solid fill">
              <a:extLst>
                <a:ext uri="{FF2B5EF4-FFF2-40B4-BE49-F238E27FC236}">
                  <a16:creationId xmlns:a16="http://schemas.microsoft.com/office/drawing/2014/main" id="{6B483806-CEC1-C860-7947-A891B4FB9BA0}"/>
                </a:ext>
              </a:extLst>
            </p:cNvPr>
            <p:cNvPicPr>
              <a:picLocks noChangeAspect="1"/>
            </p:cNvPicPr>
            <p:nvPr/>
          </p:nvPicPr>
          <p:blipFill>
            <a:blip r:embed="rId7">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58" name="TextBox 57">
            <a:extLst>
              <a:ext uri="{FF2B5EF4-FFF2-40B4-BE49-F238E27FC236}">
                <a16:creationId xmlns:a16="http://schemas.microsoft.com/office/drawing/2014/main" id="{7B8FF401-89B8-4F2D-E29F-1F6D29408FEB}"/>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9" name="TextBox 58">
            <a:extLst>
              <a:ext uri="{FF2B5EF4-FFF2-40B4-BE49-F238E27FC236}">
                <a16:creationId xmlns:a16="http://schemas.microsoft.com/office/drawing/2014/main" id="{CAA3A210-C542-31F8-A71C-A268E86E25CE}"/>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60" name="TextBox 59">
            <a:extLst>
              <a:ext uri="{FF2B5EF4-FFF2-40B4-BE49-F238E27FC236}">
                <a16:creationId xmlns:a16="http://schemas.microsoft.com/office/drawing/2014/main" id="{C13C3EB0-161A-A03F-C5B2-D76440EBA4FF}"/>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61" name="Rectangle 60">
            <a:extLst>
              <a:ext uri="{FF2B5EF4-FFF2-40B4-BE49-F238E27FC236}">
                <a16:creationId xmlns:a16="http://schemas.microsoft.com/office/drawing/2014/main" id="{4BF3CA30-D0C0-1202-274A-9FE642FB3D25}"/>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3758710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C387067-BAEE-4346-9485-AE63BA783C93}"/>
              </a:ext>
            </a:extLst>
          </p:cNvPr>
          <p:cNvSpPr>
            <a:spLocks noGrp="1"/>
          </p:cNvSpPr>
          <p:nvPr>
            <p:ph type="title" sz="quarter"/>
          </p:nvPr>
        </p:nvSpPr>
        <p:spPr/>
        <p:txBody>
          <a:bodyPr lIns="121920" tIns="60960" rIns="121920" bIns="60960" anchor="t"/>
          <a:lstStyle/>
          <a:p>
            <a:pPr>
              <a:defRPr b="1" spc="-25">
                <a:latin typeface="Segoe UI" pitchFamily="34" charset="0"/>
              </a:defRPr>
            </a:pPr>
            <a:r>
              <a:rPr lang="en-US" b="1" spc="-25" dirty="0">
                <a:solidFill>
                  <a:srgbClr val="00C27A"/>
                </a:solidFill>
                <a:latin typeface="Segoe UI" pitchFamily="34" charset="0"/>
                <a:ea typeface="Helvetica Neue" panose="02000503000000020004" pitchFamily="2" charset="0"/>
                <a:cs typeface="Helvetica Neue" panose="02000503000000020004" pitchFamily="2" charset="0"/>
              </a:rPr>
              <a:t>Example </a:t>
            </a:r>
            <a:r>
              <a:rPr lang="en-US" b="1" spc="-25" dirty="0">
                <a:latin typeface="Segoe UI" pitchFamily="34" charset="0"/>
                <a:ea typeface="Helvetica Neue" panose="02000503000000020004" pitchFamily="2" charset="0"/>
                <a:cs typeface="Helvetica Neue" panose="02000503000000020004" pitchFamily="2" charset="0"/>
              </a:rPr>
              <a:t>-</a:t>
            </a:r>
            <a:r>
              <a:rPr lang="en-US" b="1" spc="-25" dirty="0">
                <a:solidFill>
                  <a:srgbClr val="1D1D1D"/>
                </a:solidFill>
                <a:latin typeface="Segoe UI" pitchFamily="34" charset="0"/>
                <a:ea typeface="Helvetica Neue" panose="02000503000000020004" pitchFamily="2" charset="0"/>
                <a:cs typeface="Helvetica Neue" panose="02000503000000020004" pitchFamily="2" charset="0"/>
              </a:rPr>
              <a:t> future jobs to be done</a:t>
            </a:r>
            <a:endParaRPr lang="en-US" b="1" spc="-25" dirty="0">
              <a:latin typeface="Segoe UI" pitchFamily="34" charset="0"/>
              <a:ea typeface="Helvetica Neue" panose="02000503000000020004" pitchFamily="2" charset="0"/>
              <a:cs typeface="Helvetica Neue" panose="02000503000000020004" pitchFamily="2" charset="0"/>
            </a:endParaRPr>
          </a:p>
        </p:txBody>
      </p:sp>
      <p:sp>
        <p:nvSpPr>
          <p:cNvPr id="19" name="Rectangle 18">
            <a:extLst>
              <a:ext uri="{FF2B5EF4-FFF2-40B4-BE49-F238E27FC236}">
                <a16:creationId xmlns:a16="http://schemas.microsoft.com/office/drawing/2014/main" id="{1F971EF4-D6F8-444D-CF65-01FF8991C0F3}"/>
              </a:ext>
            </a:extLst>
          </p:cNvPr>
          <p:cNvSpPr>
            <a:spLocks noChangeAspect="1"/>
          </p:cNvSpPr>
          <p:nvPr/>
        </p:nvSpPr>
        <p:spPr>
          <a:xfrm>
            <a:off x="1862565" y="3115475"/>
            <a:ext cx="8880305" cy="531244"/>
          </a:xfrm>
          <a:prstGeom prst="rect">
            <a:avLst/>
          </a:prstGeom>
          <a:solidFill>
            <a:schemeClr val="tx1">
              <a:lumMod val="50000"/>
              <a:lumOff val="50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r>
              <a:rPr lang="en-US" sz="2000" spc="-10" dirty="0">
                <a:solidFill>
                  <a:schemeClr val="bg1"/>
                </a:solidFill>
                <a:latin typeface="Arial" pitchFamily="34" charset="0"/>
                <a:cs typeface="Arial" panose="020B0604020202020204" pitchFamily="34" charset="0"/>
              </a:rPr>
              <a:t>FUTURE JOBS TO BE DONE</a:t>
            </a:r>
          </a:p>
        </p:txBody>
      </p:sp>
      <p:sp>
        <p:nvSpPr>
          <p:cNvPr id="21" name="Rectangle 20">
            <a:extLst>
              <a:ext uri="{FF2B5EF4-FFF2-40B4-BE49-F238E27FC236}">
                <a16:creationId xmlns:a16="http://schemas.microsoft.com/office/drawing/2014/main" id="{E367EDD9-E972-228F-A2E3-663F4E82B2D5}"/>
              </a:ext>
            </a:extLst>
          </p:cNvPr>
          <p:cNvSpPr/>
          <p:nvPr/>
        </p:nvSpPr>
        <p:spPr>
          <a:xfrm>
            <a:off x="1862564" y="3920943"/>
            <a:ext cx="8880308" cy="2289193"/>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t">
            <a:noAutofit/>
          </a:bodyPr>
          <a:lstStyle/>
          <a:p>
            <a:pPr>
              <a:spcAft>
                <a:spcPts val="300"/>
              </a:spcAft>
            </a:pPr>
            <a:r>
              <a:rPr lang="en-US" sz="2000" b="1" spc="-10">
                <a:solidFill>
                  <a:schemeClr val="tx1">
                    <a:lumMod val="75000"/>
                    <a:lumOff val="25000"/>
                  </a:schemeClr>
                </a:solidFill>
                <a:latin typeface="Segoe UI" pitchFamily="34" charset="0"/>
                <a:cs typeface="Arial" panose="020B0604020202020204" pitchFamily="34" charset="0"/>
              </a:rPr>
              <a:t>Drive Big Brand Scale Up to generate an additional $150M </a:t>
            </a:r>
            <a:r>
              <a:rPr lang="en-US" sz="2000" spc="-10">
                <a:solidFill>
                  <a:schemeClr val="tx1">
                    <a:lumMod val="75000"/>
                    <a:lumOff val="25000"/>
                  </a:schemeClr>
                </a:solidFill>
                <a:latin typeface="Arial" pitchFamily="34" charset="0"/>
                <a:cs typeface="Arial" panose="020B0604020202020204" pitchFamily="34" charset="0"/>
              </a:rPr>
              <a:t>by</a:t>
            </a:r>
          </a:p>
          <a:p>
            <a:pPr marL="171450" indent="-171450">
              <a:buFont typeface="Arial" panose="020B0604020202020204" pitchFamily="34" charset="0"/>
              <a:buChar char="•"/>
            </a:pPr>
            <a:r>
              <a:rPr lang="en-US" sz="2000" spc="-10">
                <a:solidFill>
                  <a:schemeClr val="tx1">
                    <a:lumMod val="75000"/>
                    <a:lumOff val="25000"/>
                  </a:schemeClr>
                </a:solidFill>
                <a:latin typeface="Arial" pitchFamily="34" charset="0"/>
                <a:cs typeface="Arial" panose="020B0604020202020204" pitchFamily="34" charset="0"/>
              </a:rPr>
              <a:t>Creating four new mega brands and doubling the $25M+ brands by 2027</a:t>
            </a:r>
          </a:p>
          <a:p>
            <a:pPr marL="628650" lvl="1" indent="-171450">
              <a:buFont typeface="Arial" panose="020B0604020202020204" pitchFamily="34" charset="0"/>
              <a:buChar char="•"/>
            </a:pPr>
            <a:r>
              <a:rPr lang="en-US" sz="2000" spc="-10">
                <a:solidFill>
                  <a:schemeClr val="tx1">
                    <a:lumMod val="75000"/>
                    <a:lumOff val="25000"/>
                  </a:schemeClr>
                </a:solidFill>
                <a:latin typeface="Arial" pitchFamily="34" charset="0"/>
                <a:cs typeface="Arial" panose="020B0604020202020204" pitchFamily="34" charset="0"/>
              </a:rPr>
              <a:t>Better therapeutic insights</a:t>
            </a:r>
          </a:p>
          <a:p>
            <a:pPr marL="628650" lvl="1" indent="-171450">
              <a:buFont typeface="Arial" panose="020B0604020202020204" pitchFamily="34" charset="0"/>
              <a:buChar char="•"/>
            </a:pPr>
            <a:r>
              <a:rPr lang="en-US" sz="2000" spc="-10">
                <a:solidFill>
                  <a:schemeClr val="tx1">
                    <a:lumMod val="75000"/>
                    <a:lumOff val="25000"/>
                  </a:schemeClr>
                </a:solidFill>
                <a:latin typeface="Arial" pitchFamily="34" charset="0"/>
                <a:cs typeface="Arial" panose="020B0604020202020204" pitchFamily="34" charset="0"/>
              </a:rPr>
              <a:t>PLC management of Big Brands</a:t>
            </a:r>
          </a:p>
          <a:p>
            <a:pPr marL="628650" lvl="1" indent="-171450">
              <a:buFont typeface="Arial" panose="020B0604020202020204" pitchFamily="34" charset="0"/>
              <a:buChar char="•"/>
            </a:pPr>
            <a:r>
              <a:rPr lang="en-US" sz="2000" spc="-10">
                <a:solidFill>
                  <a:schemeClr val="tx1">
                    <a:lumMod val="75000"/>
                    <a:lumOff val="25000"/>
                  </a:schemeClr>
                </a:solidFill>
                <a:latin typeface="Arial" pitchFamily="34" charset="0"/>
                <a:cs typeface="Arial" panose="020B0604020202020204" pitchFamily="34" charset="0"/>
              </a:rPr>
              <a:t>Strengthen the branding process by expanding digital insight capabilities beyond the current Rx capabilities</a:t>
            </a:r>
          </a:p>
          <a:p>
            <a:pPr marL="171450" indent="-171450">
              <a:buFont typeface="Arial" panose="020B0604020202020204" pitchFamily="34" charset="0"/>
              <a:buChar char="•"/>
            </a:pPr>
            <a:r>
              <a:rPr lang="en-US" sz="2000" spc="-10">
                <a:solidFill>
                  <a:schemeClr val="tx1">
                    <a:lumMod val="75000"/>
                    <a:lumOff val="25000"/>
                  </a:schemeClr>
                </a:solidFill>
                <a:latin typeface="Arial" pitchFamily="34" charset="0"/>
                <a:cs typeface="Arial" panose="020B0604020202020204" pitchFamily="34" charset="0"/>
              </a:rPr>
              <a:t>Reducing A&amp;P spend on the base portfolio by 2%</a:t>
            </a:r>
          </a:p>
        </p:txBody>
      </p:sp>
      <p:cxnSp>
        <p:nvCxnSpPr>
          <p:cNvPr id="22" name="Straight Connector 21">
            <a:extLst>
              <a:ext uri="{FF2B5EF4-FFF2-40B4-BE49-F238E27FC236}">
                <a16:creationId xmlns:a16="http://schemas.microsoft.com/office/drawing/2014/main" id="{9C1EFD26-F6A4-788C-67F4-6344CFF7A9E6}"/>
              </a:ext>
            </a:extLst>
          </p:cNvPr>
          <p:cNvCxnSpPr>
            <a:cxnSpLocks/>
          </p:cNvCxnSpPr>
          <p:nvPr/>
        </p:nvCxnSpPr>
        <p:spPr>
          <a:xfrm>
            <a:off x="1555070" y="4113385"/>
            <a:ext cx="382125" cy="0"/>
          </a:xfrm>
          <a:prstGeom prst="line">
            <a:avLst/>
          </a:prstGeom>
        </p:spPr>
        <p:style>
          <a:lnRef idx="1">
            <a:schemeClr val="accent2"/>
          </a:lnRef>
          <a:fillRef idx="0">
            <a:schemeClr val="accent2"/>
          </a:fillRef>
          <a:effectRef idx="0">
            <a:schemeClr val="accent2"/>
          </a:effectRef>
          <a:fontRef idx="minor">
            <a:schemeClr val="tx1"/>
          </a:fontRef>
        </p:style>
      </p:cxnSp>
      <p:sp>
        <p:nvSpPr>
          <p:cNvPr id="23" name="TextBox 22">
            <a:extLst>
              <a:ext uri="{FF2B5EF4-FFF2-40B4-BE49-F238E27FC236}">
                <a16:creationId xmlns:a16="http://schemas.microsoft.com/office/drawing/2014/main" id="{9279804F-1C88-0002-DF7C-71E8C81FF88F}"/>
              </a:ext>
            </a:extLst>
          </p:cNvPr>
          <p:cNvSpPr txBox="1"/>
          <p:nvPr/>
        </p:nvSpPr>
        <p:spPr>
          <a:xfrm>
            <a:off x="805901" y="3957111"/>
            <a:ext cx="1056663" cy="266146"/>
          </a:xfrm>
          <a:prstGeom prst="rect">
            <a:avLst/>
          </a:prstGeom>
          <a:noFill/>
        </p:spPr>
        <p:txBody>
          <a:bodyPr wrap="none" lIns="91440" tIns="45720" rIns="91440" bIns="45720" rtlCol="0">
            <a:noAutofit/>
          </a:bodyPr>
          <a:lstStyle/>
          <a:p>
            <a:pPr algn="l"/>
            <a:r>
              <a:rPr lang="en-US" sz="1600" spc="-10">
                <a:latin typeface="Arial" pitchFamily="34" charset="0"/>
                <a:cs typeface="Lato Light" panose="020F0402020204030203" pitchFamily="34" charset="0"/>
              </a:rPr>
              <a:t>WHAT</a:t>
            </a:r>
          </a:p>
        </p:txBody>
      </p:sp>
      <p:sp>
        <p:nvSpPr>
          <p:cNvPr id="24" name="Rectangle: Rounded Corners 26">
            <a:extLst>
              <a:ext uri="{FF2B5EF4-FFF2-40B4-BE49-F238E27FC236}">
                <a16:creationId xmlns:a16="http://schemas.microsoft.com/office/drawing/2014/main" id="{90D37DF9-6BC0-C171-A738-6F29035D852A}"/>
              </a:ext>
            </a:extLst>
          </p:cNvPr>
          <p:cNvSpPr/>
          <p:nvPr/>
        </p:nvSpPr>
        <p:spPr>
          <a:xfrm>
            <a:off x="1937195" y="3975360"/>
            <a:ext cx="7502735" cy="287311"/>
          </a:xfrm>
          <a:prstGeom prst="roundRect">
            <a:avLst/>
          </a:prstGeom>
          <a:noFill/>
          <a:ln w="9525">
            <a:solidFill>
              <a:srgbClr val="2B3A4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25" name="Rectangle: Rounded Corners 26">
            <a:extLst>
              <a:ext uri="{FF2B5EF4-FFF2-40B4-BE49-F238E27FC236}">
                <a16:creationId xmlns:a16="http://schemas.microsoft.com/office/drawing/2014/main" id="{901B80B7-3E9D-F15E-2606-9BB205FEF2C1}"/>
              </a:ext>
            </a:extLst>
          </p:cNvPr>
          <p:cNvSpPr/>
          <p:nvPr/>
        </p:nvSpPr>
        <p:spPr>
          <a:xfrm>
            <a:off x="1937194" y="4324388"/>
            <a:ext cx="8550965" cy="1890147"/>
          </a:xfrm>
          <a:prstGeom prst="roundRect">
            <a:avLst>
              <a:gd name="adj" fmla="val 2444"/>
            </a:avLst>
          </a:prstGeom>
          <a:noFill/>
          <a:ln w="9525">
            <a:solidFill>
              <a:srgbClr val="2B3A4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cxnSp>
        <p:nvCxnSpPr>
          <p:cNvPr id="29" name="Straight Connector 28">
            <a:extLst>
              <a:ext uri="{FF2B5EF4-FFF2-40B4-BE49-F238E27FC236}">
                <a16:creationId xmlns:a16="http://schemas.microsoft.com/office/drawing/2014/main" id="{1777AD08-CFAE-B9AA-0DC4-1C90C76D2BCE}"/>
              </a:ext>
            </a:extLst>
          </p:cNvPr>
          <p:cNvCxnSpPr>
            <a:cxnSpLocks/>
          </p:cNvCxnSpPr>
          <p:nvPr/>
        </p:nvCxnSpPr>
        <p:spPr>
          <a:xfrm>
            <a:off x="1555070" y="4683326"/>
            <a:ext cx="382125" cy="0"/>
          </a:xfrm>
          <a:prstGeom prst="line">
            <a:avLst/>
          </a:prstGeom>
        </p:spPr>
        <p:style>
          <a:lnRef idx="1">
            <a:schemeClr val="accent2"/>
          </a:lnRef>
          <a:fillRef idx="0">
            <a:schemeClr val="accent2"/>
          </a:fillRef>
          <a:effectRef idx="0">
            <a:schemeClr val="accent2"/>
          </a:effectRef>
          <a:fontRef idx="minor">
            <a:schemeClr val="tx1"/>
          </a:fontRef>
        </p:style>
      </p:cxnSp>
      <p:sp>
        <p:nvSpPr>
          <p:cNvPr id="30" name="TextBox 29">
            <a:extLst>
              <a:ext uri="{FF2B5EF4-FFF2-40B4-BE49-F238E27FC236}">
                <a16:creationId xmlns:a16="http://schemas.microsoft.com/office/drawing/2014/main" id="{8549BA0D-C3DD-BFB8-70B5-9D2D0963FF32}"/>
              </a:ext>
            </a:extLst>
          </p:cNvPr>
          <p:cNvSpPr txBox="1"/>
          <p:nvPr/>
        </p:nvSpPr>
        <p:spPr>
          <a:xfrm>
            <a:off x="805901" y="4527052"/>
            <a:ext cx="1056663" cy="266146"/>
          </a:xfrm>
          <a:prstGeom prst="rect">
            <a:avLst/>
          </a:prstGeom>
          <a:noFill/>
        </p:spPr>
        <p:txBody>
          <a:bodyPr wrap="none" lIns="91440" tIns="45720" rIns="91440" bIns="45720" rtlCol="0">
            <a:noAutofit/>
          </a:bodyPr>
          <a:lstStyle/>
          <a:p>
            <a:pPr algn="l"/>
            <a:r>
              <a:rPr lang="en-US" sz="1600" spc="-10">
                <a:latin typeface="Arial" pitchFamily="34" charset="0"/>
                <a:cs typeface="Lato Light" panose="020F0402020204030203" pitchFamily="34" charset="0"/>
              </a:rPr>
              <a:t>HOW</a:t>
            </a:r>
          </a:p>
        </p:txBody>
      </p:sp>
      <p:cxnSp>
        <p:nvCxnSpPr>
          <p:cNvPr id="31" name="Straight Connector 30">
            <a:extLst>
              <a:ext uri="{FF2B5EF4-FFF2-40B4-BE49-F238E27FC236}">
                <a16:creationId xmlns:a16="http://schemas.microsoft.com/office/drawing/2014/main" id="{D5DFB616-4A0D-080F-B68C-B7E705CFE930}"/>
              </a:ext>
            </a:extLst>
          </p:cNvPr>
          <p:cNvCxnSpPr>
            <a:cxnSpLocks/>
          </p:cNvCxnSpPr>
          <p:nvPr/>
        </p:nvCxnSpPr>
        <p:spPr>
          <a:xfrm>
            <a:off x="10551808" y="4434019"/>
            <a:ext cx="382125" cy="0"/>
          </a:xfrm>
          <a:prstGeom prst="line">
            <a:avLst/>
          </a:prstGeom>
        </p:spPr>
        <p:style>
          <a:lnRef idx="1">
            <a:schemeClr val="accent2"/>
          </a:lnRef>
          <a:fillRef idx="0">
            <a:schemeClr val="accent2"/>
          </a:fillRef>
          <a:effectRef idx="0">
            <a:schemeClr val="accent2"/>
          </a:effectRef>
          <a:fontRef idx="minor">
            <a:schemeClr val="tx1"/>
          </a:fontRef>
        </p:style>
      </p:cxnSp>
      <p:sp>
        <p:nvSpPr>
          <p:cNvPr id="32" name="TextBox 31">
            <a:extLst>
              <a:ext uri="{FF2B5EF4-FFF2-40B4-BE49-F238E27FC236}">
                <a16:creationId xmlns:a16="http://schemas.microsoft.com/office/drawing/2014/main" id="{A87395B2-CA87-2980-B15F-6E9F6AF0EAD8}"/>
              </a:ext>
            </a:extLst>
          </p:cNvPr>
          <p:cNvSpPr txBox="1"/>
          <p:nvPr/>
        </p:nvSpPr>
        <p:spPr>
          <a:xfrm>
            <a:off x="10861457" y="4277603"/>
            <a:ext cx="1056663" cy="266146"/>
          </a:xfrm>
          <a:prstGeom prst="rect">
            <a:avLst/>
          </a:prstGeom>
          <a:noFill/>
        </p:spPr>
        <p:txBody>
          <a:bodyPr wrap="none" lIns="91440" tIns="45720" rIns="91440" bIns="45720" rtlCol="0">
            <a:noAutofit/>
          </a:bodyPr>
          <a:lstStyle/>
          <a:p>
            <a:pPr algn="l"/>
            <a:r>
              <a:rPr lang="en-US" sz="1600" spc="-10">
                <a:latin typeface="Arial" pitchFamily="34" charset="0"/>
                <a:cs typeface="Lato Light" panose="020F0402020204030203" pitchFamily="34" charset="0"/>
              </a:rPr>
              <a:t>BY WHEN</a:t>
            </a:r>
          </a:p>
        </p:txBody>
      </p:sp>
      <p:sp>
        <p:nvSpPr>
          <p:cNvPr id="33" name="Rectangle: Rounded Corners 26">
            <a:extLst>
              <a:ext uri="{FF2B5EF4-FFF2-40B4-BE49-F238E27FC236}">
                <a16:creationId xmlns:a16="http://schemas.microsoft.com/office/drawing/2014/main" id="{7F2DE66A-DA99-2B71-8D4F-E71E043288C8}"/>
              </a:ext>
            </a:extLst>
          </p:cNvPr>
          <p:cNvSpPr/>
          <p:nvPr/>
        </p:nvSpPr>
        <p:spPr>
          <a:xfrm>
            <a:off x="9777823" y="4331527"/>
            <a:ext cx="655400" cy="266146"/>
          </a:xfrm>
          <a:prstGeom prst="roundRect">
            <a:avLst/>
          </a:prstGeom>
          <a:noFill/>
          <a:ln w="9525">
            <a:solidFill>
              <a:srgbClr val="2B3A4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34" name="Rectangle: Rounded Corners 26">
            <a:extLst>
              <a:ext uri="{FF2B5EF4-FFF2-40B4-BE49-F238E27FC236}">
                <a16:creationId xmlns:a16="http://schemas.microsoft.com/office/drawing/2014/main" id="{8759E950-FA5A-69B8-E346-24970D576A58}"/>
              </a:ext>
            </a:extLst>
          </p:cNvPr>
          <p:cNvSpPr/>
          <p:nvPr/>
        </p:nvSpPr>
        <p:spPr>
          <a:xfrm>
            <a:off x="8231224" y="3972460"/>
            <a:ext cx="816292" cy="292608"/>
          </a:xfrm>
          <a:prstGeom prst="roundRect">
            <a:avLst/>
          </a:prstGeom>
          <a:noFill/>
          <a:ln w="9525">
            <a:solidFill>
              <a:srgbClr val="2B3A4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cxnSp>
        <p:nvCxnSpPr>
          <p:cNvPr id="35" name="Straight Connector 34">
            <a:extLst>
              <a:ext uri="{FF2B5EF4-FFF2-40B4-BE49-F238E27FC236}">
                <a16:creationId xmlns:a16="http://schemas.microsoft.com/office/drawing/2014/main" id="{49AA61F5-7036-1C0A-B24E-BE8BF5B76B66}"/>
              </a:ext>
            </a:extLst>
          </p:cNvPr>
          <p:cNvCxnSpPr>
            <a:cxnSpLocks/>
          </p:cNvCxnSpPr>
          <p:nvPr/>
        </p:nvCxnSpPr>
        <p:spPr>
          <a:xfrm flipV="1">
            <a:off x="8707547" y="3789235"/>
            <a:ext cx="922124" cy="161249"/>
          </a:xfrm>
          <a:prstGeom prst="line">
            <a:avLst/>
          </a:prstGeom>
        </p:spPr>
        <p:style>
          <a:lnRef idx="1">
            <a:schemeClr val="accent2"/>
          </a:lnRef>
          <a:fillRef idx="0">
            <a:schemeClr val="accent2"/>
          </a:fillRef>
          <a:effectRef idx="0">
            <a:schemeClr val="accent2"/>
          </a:effectRef>
          <a:fontRef idx="minor">
            <a:schemeClr val="tx1"/>
          </a:fontRef>
        </p:style>
      </p:cxnSp>
      <p:sp>
        <p:nvSpPr>
          <p:cNvPr id="36" name="TextBox 35">
            <a:extLst>
              <a:ext uri="{FF2B5EF4-FFF2-40B4-BE49-F238E27FC236}">
                <a16:creationId xmlns:a16="http://schemas.microsoft.com/office/drawing/2014/main" id="{1DCDB69C-0E68-3DF1-2FEB-7AE5389FFCFD}"/>
              </a:ext>
            </a:extLst>
          </p:cNvPr>
          <p:cNvSpPr txBox="1"/>
          <p:nvPr/>
        </p:nvSpPr>
        <p:spPr>
          <a:xfrm>
            <a:off x="9629671" y="3712576"/>
            <a:ext cx="1354608" cy="339783"/>
          </a:xfrm>
          <a:prstGeom prst="rect">
            <a:avLst/>
          </a:prstGeom>
          <a:noFill/>
        </p:spPr>
        <p:txBody>
          <a:bodyPr wrap="none" lIns="91440" tIns="45720" rIns="91440" bIns="45720" rtlCol="0">
            <a:noAutofit/>
          </a:bodyPr>
          <a:lstStyle/>
          <a:p>
            <a:pPr algn="l"/>
            <a:r>
              <a:rPr lang="en-US" sz="1600" spc="-10">
                <a:latin typeface="Arial" pitchFamily="34" charset="0"/>
                <a:cs typeface="Lato Light" panose="020F0402020204030203" pitchFamily="34" charset="0"/>
              </a:rPr>
              <a:t>HOW MUCH</a:t>
            </a:r>
          </a:p>
        </p:txBody>
      </p:sp>
      <p:sp>
        <p:nvSpPr>
          <p:cNvPr id="17" name="TextBox 16">
            <a:extLst>
              <a:ext uri="{FF2B5EF4-FFF2-40B4-BE49-F238E27FC236}">
                <a16:creationId xmlns:a16="http://schemas.microsoft.com/office/drawing/2014/main" id="{072EE008-0B76-8FBF-5CB5-0CEB34DFF6F1}"/>
              </a:ext>
            </a:extLst>
          </p:cNvPr>
          <p:cNvSpPr txBox="1"/>
          <p:nvPr/>
        </p:nvSpPr>
        <p:spPr>
          <a:xfrm>
            <a:off x="1756106" y="1522775"/>
            <a:ext cx="4031568" cy="365760"/>
          </a:xfrm>
          <a:prstGeom prst="rect">
            <a:avLst/>
          </a:prstGeom>
          <a:noFill/>
          <a:ln>
            <a:solidFill>
              <a:srgbClr val="2B3A42"/>
            </a:solidFill>
          </a:ln>
        </p:spPr>
        <p:txBody>
          <a:bodyPr wrap="square" lIns="91440" tIns="45720" rIns="91440" bIns="45720">
            <a:spAutoFit/>
          </a:bodyPr>
          <a:lstStyle/>
          <a:p>
            <a:pPr algn="ctr"/>
            <a:r>
              <a:rPr lang="en-US" spc="-10">
                <a:solidFill>
                  <a:srgbClr val="262626"/>
                </a:solidFill>
                <a:latin typeface="Arial" pitchFamily="34" charset="0"/>
              </a:rPr>
              <a:t>D</a:t>
            </a:r>
            <a:r>
              <a:rPr lang="en-US" b="0" i="0" spc="-10">
                <a:solidFill>
                  <a:srgbClr val="262626"/>
                </a:solidFill>
                <a:effectLst/>
                <a:latin typeface="Arial" pitchFamily="34" charset="0"/>
              </a:rPr>
              <a:t>ecentralized portfolio maintenance</a:t>
            </a:r>
          </a:p>
        </p:txBody>
      </p:sp>
      <p:sp>
        <p:nvSpPr>
          <p:cNvPr id="28" name="TextBox 27">
            <a:extLst>
              <a:ext uri="{FF2B5EF4-FFF2-40B4-BE49-F238E27FC236}">
                <a16:creationId xmlns:a16="http://schemas.microsoft.com/office/drawing/2014/main" id="{3C67FD7B-AA50-2E5F-DED4-376DF2C8E8AF}"/>
              </a:ext>
            </a:extLst>
          </p:cNvPr>
          <p:cNvSpPr txBox="1"/>
          <p:nvPr/>
        </p:nvSpPr>
        <p:spPr>
          <a:xfrm>
            <a:off x="6472330" y="1522402"/>
            <a:ext cx="4852730" cy="369332"/>
          </a:xfrm>
          <a:prstGeom prst="rect">
            <a:avLst/>
          </a:prstGeom>
          <a:noFill/>
          <a:ln>
            <a:solidFill>
              <a:srgbClr val="2B3A42"/>
            </a:solidFill>
          </a:ln>
        </p:spPr>
        <p:txBody>
          <a:bodyPr wrap="square" lIns="91440" tIns="45720" rIns="91440" bIns="45720">
            <a:spAutoFit/>
          </a:bodyPr>
          <a:lstStyle/>
          <a:p>
            <a:pPr algn="ctr"/>
            <a:r>
              <a:rPr lang="en-US" spc="-10">
                <a:solidFill>
                  <a:srgbClr val="262626"/>
                </a:solidFill>
                <a:latin typeface="Arial" pitchFamily="34" charset="0"/>
              </a:rPr>
              <a:t>C</a:t>
            </a:r>
            <a:r>
              <a:rPr lang="en-US" b="0" i="0" spc="-10">
                <a:solidFill>
                  <a:srgbClr val="262626"/>
                </a:solidFill>
                <a:effectLst/>
                <a:latin typeface="Arial" pitchFamily="34" charset="0"/>
              </a:rPr>
              <a:t>entralized portfolio management</a:t>
            </a:r>
            <a:endParaRPr lang="en-US"/>
          </a:p>
        </p:txBody>
      </p:sp>
      <p:sp>
        <p:nvSpPr>
          <p:cNvPr id="40" name="TextBox 39">
            <a:extLst>
              <a:ext uri="{FF2B5EF4-FFF2-40B4-BE49-F238E27FC236}">
                <a16:creationId xmlns:a16="http://schemas.microsoft.com/office/drawing/2014/main" id="{B0C5FEDD-5617-4EA8-4499-D3AEC88B9345}"/>
              </a:ext>
            </a:extLst>
          </p:cNvPr>
          <p:cNvSpPr txBox="1"/>
          <p:nvPr/>
        </p:nvSpPr>
        <p:spPr>
          <a:xfrm>
            <a:off x="1756107" y="1951051"/>
            <a:ext cx="4031568" cy="365760"/>
          </a:xfrm>
          <a:prstGeom prst="rect">
            <a:avLst/>
          </a:prstGeom>
          <a:noFill/>
          <a:ln>
            <a:solidFill>
              <a:srgbClr val="2B3A42"/>
            </a:solidFill>
          </a:ln>
        </p:spPr>
        <p:txBody>
          <a:bodyPr wrap="square" lIns="91440" tIns="45720" rIns="91440" bIns="45720">
            <a:spAutoFit/>
          </a:bodyPr>
          <a:lstStyle/>
          <a:p>
            <a:pPr algn="ctr"/>
            <a:r>
              <a:rPr lang="en-US"/>
              <a:t>Siloed, Rx‑centric analytics </a:t>
            </a:r>
          </a:p>
        </p:txBody>
      </p:sp>
      <p:sp>
        <p:nvSpPr>
          <p:cNvPr id="42" name="TextBox 41">
            <a:extLst>
              <a:ext uri="{FF2B5EF4-FFF2-40B4-BE49-F238E27FC236}">
                <a16:creationId xmlns:a16="http://schemas.microsoft.com/office/drawing/2014/main" id="{1E131A16-CF2D-B83B-14E0-07AE3186A42C}"/>
              </a:ext>
            </a:extLst>
          </p:cNvPr>
          <p:cNvSpPr txBox="1"/>
          <p:nvPr/>
        </p:nvSpPr>
        <p:spPr>
          <a:xfrm>
            <a:off x="6472330" y="1951055"/>
            <a:ext cx="4852730" cy="369332"/>
          </a:xfrm>
          <a:prstGeom prst="rect">
            <a:avLst/>
          </a:prstGeom>
          <a:noFill/>
          <a:ln>
            <a:solidFill>
              <a:srgbClr val="2B3A42"/>
            </a:solidFill>
          </a:ln>
        </p:spPr>
        <p:txBody>
          <a:bodyPr wrap="square" lIns="91440" tIns="45720" rIns="91440" bIns="45720">
            <a:spAutoFit/>
          </a:bodyPr>
          <a:lstStyle/>
          <a:p>
            <a:pPr algn="ctr"/>
            <a:r>
              <a:rPr lang="en-US"/>
              <a:t>Integrated therapeutic insights</a:t>
            </a:r>
          </a:p>
        </p:txBody>
      </p:sp>
      <p:sp>
        <p:nvSpPr>
          <p:cNvPr id="44" name="TextBox 43">
            <a:extLst>
              <a:ext uri="{FF2B5EF4-FFF2-40B4-BE49-F238E27FC236}">
                <a16:creationId xmlns:a16="http://schemas.microsoft.com/office/drawing/2014/main" id="{005F36C5-F795-2139-8E7B-09ED3CC511CC}"/>
              </a:ext>
            </a:extLst>
          </p:cNvPr>
          <p:cNvSpPr txBox="1"/>
          <p:nvPr/>
        </p:nvSpPr>
        <p:spPr>
          <a:xfrm>
            <a:off x="1756106" y="2407952"/>
            <a:ext cx="4031568" cy="365760"/>
          </a:xfrm>
          <a:prstGeom prst="rect">
            <a:avLst/>
          </a:prstGeom>
          <a:noFill/>
          <a:ln>
            <a:solidFill>
              <a:srgbClr val="2B3A42"/>
            </a:solidFill>
          </a:ln>
        </p:spPr>
        <p:txBody>
          <a:bodyPr wrap="square" lIns="91440" tIns="45720" rIns="91440" bIns="45720">
            <a:spAutoFit/>
          </a:bodyPr>
          <a:lstStyle/>
          <a:p>
            <a:pPr algn="ctr"/>
            <a:r>
              <a:rPr lang="en-US" spc="-10">
                <a:solidFill>
                  <a:srgbClr val="262626"/>
                </a:solidFill>
                <a:latin typeface="Arial" pitchFamily="34" charset="0"/>
              </a:rPr>
              <a:t>Traditional marketing</a:t>
            </a:r>
            <a:endParaRPr lang="en-US"/>
          </a:p>
        </p:txBody>
      </p:sp>
      <p:sp>
        <p:nvSpPr>
          <p:cNvPr id="46" name="TextBox 45">
            <a:extLst>
              <a:ext uri="{FF2B5EF4-FFF2-40B4-BE49-F238E27FC236}">
                <a16:creationId xmlns:a16="http://schemas.microsoft.com/office/drawing/2014/main" id="{F55912C7-671D-AA88-92AB-BDE0B3E23497}"/>
              </a:ext>
            </a:extLst>
          </p:cNvPr>
          <p:cNvSpPr txBox="1"/>
          <p:nvPr/>
        </p:nvSpPr>
        <p:spPr>
          <a:xfrm>
            <a:off x="6472330" y="2407955"/>
            <a:ext cx="4852730" cy="369332"/>
          </a:xfrm>
          <a:prstGeom prst="rect">
            <a:avLst/>
          </a:prstGeom>
          <a:noFill/>
          <a:ln>
            <a:solidFill>
              <a:srgbClr val="2B3A42"/>
            </a:solidFill>
          </a:ln>
        </p:spPr>
        <p:txBody>
          <a:bodyPr wrap="square" lIns="91440" tIns="45720" rIns="91440" bIns="45720">
            <a:spAutoFit/>
          </a:bodyPr>
          <a:lstStyle/>
          <a:p>
            <a:pPr algn="ctr"/>
            <a:r>
              <a:rPr lang="en-US" spc="-10">
                <a:solidFill>
                  <a:srgbClr val="262626"/>
                </a:solidFill>
                <a:latin typeface="Arial" pitchFamily="34" charset="0"/>
              </a:rPr>
              <a:t>U</a:t>
            </a:r>
            <a:r>
              <a:rPr lang="en-US" b="0" i="0" spc="-10">
                <a:solidFill>
                  <a:srgbClr val="262626"/>
                </a:solidFill>
                <a:effectLst/>
                <a:latin typeface="Arial" pitchFamily="34" charset="0"/>
              </a:rPr>
              <a:t>nified digital insight-and-activation engine</a:t>
            </a:r>
            <a:endParaRPr lang="en-US"/>
          </a:p>
        </p:txBody>
      </p:sp>
      <p:sp>
        <p:nvSpPr>
          <p:cNvPr id="51" name="TextBox 50">
            <a:extLst>
              <a:ext uri="{FF2B5EF4-FFF2-40B4-BE49-F238E27FC236}">
                <a16:creationId xmlns:a16="http://schemas.microsoft.com/office/drawing/2014/main" id="{F9460810-A7B7-9BE8-1200-467FE33AFEBE}"/>
              </a:ext>
            </a:extLst>
          </p:cNvPr>
          <p:cNvSpPr txBox="1"/>
          <p:nvPr/>
        </p:nvSpPr>
        <p:spPr>
          <a:xfrm>
            <a:off x="284729" y="1639341"/>
            <a:ext cx="1276311" cy="369332"/>
          </a:xfrm>
          <a:prstGeom prst="rect">
            <a:avLst/>
          </a:prstGeom>
          <a:noFill/>
        </p:spPr>
        <p:txBody>
          <a:bodyPr wrap="none" lIns="91440" tIns="45720" rIns="91440" bIns="45720" rtlCol="0">
            <a:spAutoFit/>
          </a:bodyPr>
          <a:lstStyle/>
          <a:p>
            <a:r>
              <a:rPr lang="en-US" b="1"/>
              <a:t>The Pivots</a:t>
            </a:r>
          </a:p>
        </p:txBody>
      </p:sp>
      <p:sp>
        <p:nvSpPr>
          <p:cNvPr id="57"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15</a:t>
            </a:fld>
            <a:endParaRPr lang="en-US"/>
          </a:p>
        </p:txBody>
      </p:sp>
      <p:grpSp>
        <p:nvGrpSpPr>
          <p:cNvPr id="4" name="Group 3">
            <a:extLst>
              <a:ext uri="{FF2B5EF4-FFF2-40B4-BE49-F238E27FC236}">
                <a16:creationId xmlns:a16="http://schemas.microsoft.com/office/drawing/2014/main" id="{37891D42-7182-6210-D895-CE4081AD4935}"/>
              </a:ext>
            </a:extLst>
          </p:cNvPr>
          <p:cNvGrpSpPr/>
          <p:nvPr/>
        </p:nvGrpSpPr>
        <p:grpSpPr>
          <a:xfrm>
            <a:off x="10403235" y="201614"/>
            <a:ext cx="410690" cy="410700"/>
            <a:chOff x="3506617" y="2730959"/>
            <a:chExt cx="1591098" cy="1591098"/>
          </a:xfrm>
        </p:grpSpPr>
        <p:sp>
          <p:nvSpPr>
            <p:cNvPr id="5" name="Rectangle: Rounded Corners 39">
              <a:extLst>
                <a:ext uri="{FF2B5EF4-FFF2-40B4-BE49-F238E27FC236}">
                  <a16:creationId xmlns:a16="http://schemas.microsoft.com/office/drawing/2014/main" id="{4E65E05F-3E8D-2F2D-601B-5E18AB59F762}"/>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 name="Rectangle: Rounded Corners 54">
              <a:extLst>
                <a:ext uri="{FF2B5EF4-FFF2-40B4-BE49-F238E27FC236}">
                  <a16:creationId xmlns:a16="http://schemas.microsoft.com/office/drawing/2014/main" id="{734BA9FC-E93B-9EAD-3D77-F283AAA3F376}"/>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7" name="Freeform 56" descr="Clipboard Partially Checked with solid fill">
              <a:extLst>
                <a:ext uri="{FF2B5EF4-FFF2-40B4-BE49-F238E27FC236}">
                  <a16:creationId xmlns:a16="http://schemas.microsoft.com/office/drawing/2014/main" id="{1DCE2700-9B68-E1EF-1E6F-0DBEF4038AFB}"/>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8" name="Group 7">
            <a:extLst>
              <a:ext uri="{FF2B5EF4-FFF2-40B4-BE49-F238E27FC236}">
                <a16:creationId xmlns:a16="http://schemas.microsoft.com/office/drawing/2014/main" id="{AB16DE59-286E-2129-8F64-988F6C9203F9}"/>
              </a:ext>
            </a:extLst>
          </p:cNvPr>
          <p:cNvGrpSpPr/>
          <p:nvPr/>
        </p:nvGrpSpPr>
        <p:grpSpPr>
          <a:xfrm>
            <a:off x="11557682" y="191038"/>
            <a:ext cx="410690" cy="410700"/>
            <a:chOff x="8874309" y="3009260"/>
            <a:chExt cx="1591098" cy="1591098"/>
          </a:xfrm>
        </p:grpSpPr>
        <p:grpSp>
          <p:nvGrpSpPr>
            <p:cNvPr id="9" name="Group 8">
              <a:extLst>
                <a:ext uri="{FF2B5EF4-FFF2-40B4-BE49-F238E27FC236}">
                  <a16:creationId xmlns:a16="http://schemas.microsoft.com/office/drawing/2014/main" id="{2D787FF5-754E-6F86-7ADF-F06A3AD71D5C}"/>
                </a:ext>
              </a:extLst>
            </p:cNvPr>
            <p:cNvGrpSpPr/>
            <p:nvPr/>
          </p:nvGrpSpPr>
          <p:grpSpPr>
            <a:xfrm>
              <a:off x="8874309" y="3009260"/>
              <a:ext cx="1591098" cy="1591098"/>
              <a:chOff x="9350370" y="2760976"/>
              <a:chExt cx="1591098" cy="1591098"/>
            </a:xfrm>
          </p:grpSpPr>
          <p:sp>
            <p:nvSpPr>
              <p:cNvPr id="11" name="Rectangle: Rounded Corners 39">
                <a:extLst>
                  <a:ext uri="{FF2B5EF4-FFF2-40B4-BE49-F238E27FC236}">
                    <a16:creationId xmlns:a16="http://schemas.microsoft.com/office/drawing/2014/main" id="{34175339-CB41-5EE0-05AB-48559E468547}"/>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2" name="Rectangle: Rounded Corners 54">
                <a:extLst>
                  <a:ext uri="{FF2B5EF4-FFF2-40B4-BE49-F238E27FC236}">
                    <a16:creationId xmlns:a16="http://schemas.microsoft.com/office/drawing/2014/main" id="{E760D8B2-49B1-8D8B-E0F0-44602115DD31}"/>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0" name="Picture 51" descr="Map with pin with solid fill">
              <a:extLst>
                <a:ext uri="{FF2B5EF4-FFF2-40B4-BE49-F238E27FC236}">
                  <a16:creationId xmlns:a16="http://schemas.microsoft.com/office/drawing/2014/main" id="{E6FA1AA8-635B-DDD6-172A-3F3DF49C063C}"/>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3" name="Group 12">
            <a:extLst>
              <a:ext uri="{FF2B5EF4-FFF2-40B4-BE49-F238E27FC236}">
                <a16:creationId xmlns:a16="http://schemas.microsoft.com/office/drawing/2014/main" id="{3606F0C5-BAA3-3E70-B961-8484740C258A}"/>
              </a:ext>
            </a:extLst>
          </p:cNvPr>
          <p:cNvGrpSpPr/>
          <p:nvPr/>
        </p:nvGrpSpPr>
        <p:grpSpPr>
          <a:xfrm>
            <a:off x="10997361" y="200955"/>
            <a:ext cx="410690" cy="410700"/>
            <a:chOff x="5303120" y="3009260"/>
            <a:chExt cx="1591098" cy="1591098"/>
          </a:xfrm>
        </p:grpSpPr>
        <p:grpSp>
          <p:nvGrpSpPr>
            <p:cNvPr id="20" name="Group 19">
              <a:extLst>
                <a:ext uri="{FF2B5EF4-FFF2-40B4-BE49-F238E27FC236}">
                  <a16:creationId xmlns:a16="http://schemas.microsoft.com/office/drawing/2014/main" id="{228E5D1F-6F6B-A75B-F4F2-793A3F36D7D9}"/>
                </a:ext>
              </a:extLst>
            </p:cNvPr>
            <p:cNvGrpSpPr/>
            <p:nvPr/>
          </p:nvGrpSpPr>
          <p:grpSpPr>
            <a:xfrm>
              <a:off x="5303120" y="3009260"/>
              <a:ext cx="1591098" cy="1591098"/>
              <a:chOff x="6428492" y="2760976"/>
              <a:chExt cx="1591098" cy="1591098"/>
            </a:xfrm>
          </p:grpSpPr>
          <p:sp>
            <p:nvSpPr>
              <p:cNvPr id="48" name="Rectangle: Rounded Corners 39">
                <a:extLst>
                  <a:ext uri="{FF2B5EF4-FFF2-40B4-BE49-F238E27FC236}">
                    <a16:creationId xmlns:a16="http://schemas.microsoft.com/office/drawing/2014/main" id="{3D5A0060-B4DA-7AE5-3F81-B1AA29110C17}"/>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9" name="Rectangle: Rounded Corners 54">
                <a:extLst>
                  <a:ext uri="{FF2B5EF4-FFF2-40B4-BE49-F238E27FC236}">
                    <a16:creationId xmlns:a16="http://schemas.microsoft.com/office/drawing/2014/main" id="{93507A32-9516-32E4-DEC6-F910917798C5}"/>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6" name="Graphic 27" descr="Target Audience with solid fill">
              <a:extLst>
                <a:ext uri="{FF2B5EF4-FFF2-40B4-BE49-F238E27FC236}">
                  <a16:creationId xmlns:a16="http://schemas.microsoft.com/office/drawing/2014/main" id="{322B4209-7393-558E-0D7B-257E502D9AE9}"/>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50" name="TextBox 49">
            <a:extLst>
              <a:ext uri="{FF2B5EF4-FFF2-40B4-BE49-F238E27FC236}">
                <a16:creationId xmlns:a16="http://schemas.microsoft.com/office/drawing/2014/main" id="{8EBCED69-8C4F-1EC2-ECD5-F7BACF1B84C0}"/>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8" name="TextBox 57">
            <a:extLst>
              <a:ext uri="{FF2B5EF4-FFF2-40B4-BE49-F238E27FC236}">
                <a16:creationId xmlns:a16="http://schemas.microsoft.com/office/drawing/2014/main" id="{D411574C-CED8-6944-7B41-2F19EDAFB0A9}"/>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9" name="TextBox 58">
            <a:extLst>
              <a:ext uri="{FF2B5EF4-FFF2-40B4-BE49-F238E27FC236}">
                <a16:creationId xmlns:a16="http://schemas.microsoft.com/office/drawing/2014/main" id="{1E032161-416D-8978-E0C8-47A8C7A923D5}"/>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60" name="Rectangle 59">
            <a:extLst>
              <a:ext uri="{FF2B5EF4-FFF2-40B4-BE49-F238E27FC236}">
                <a16:creationId xmlns:a16="http://schemas.microsoft.com/office/drawing/2014/main" id="{2464AE28-071C-E917-D003-C35E3A0DD456}"/>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302568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6DA39-8452-7864-392B-90E577E96B1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7170F47-CC55-5BA4-F792-E47B6CD5DE8C}"/>
              </a:ext>
            </a:extLst>
          </p:cNvPr>
          <p:cNvSpPr>
            <a:spLocks noGrp="1"/>
          </p:cNvSpPr>
          <p:nvPr>
            <p:ph type="title" sz="quarter"/>
          </p:nvPr>
        </p:nvSpPr>
        <p:spPr/>
        <p:txBody>
          <a:bodyPr lIns="91440" tIns="45720" rIns="91440" bIns="45720" anchor="t"/>
          <a:lstStyle/>
          <a:p>
            <a:r>
              <a:rPr lang="en-US" b="1" spc="-25">
                <a:solidFill>
                  <a:srgbClr val="00C27A"/>
                </a:solidFill>
                <a:latin typeface="Segoe UI" pitchFamily="34" charset="0"/>
                <a:ea typeface="Lato"/>
                <a:cs typeface="Lato"/>
              </a:rPr>
              <a:t>Example</a:t>
            </a:r>
            <a:r>
              <a:rPr lang="en-US" b="1" spc="-25">
                <a:latin typeface="Segoe UI" pitchFamily="34" charset="0"/>
                <a:ea typeface="Lato"/>
                <a:cs typeface="Lato"/>
              </a:rPr>
              <a:t> – what does good look like</a:t>
            </a:r>
          </a:p>
        </p:txBody>
      </p:sp>
      <p:sp>
        <p:nvSpPr>
          <p:cNvPr id="52" name="TextBox 51">
            <a:extLst>
              <a:ext uri="{FF2B5EF4-FFF2-40B4-BE49-F238E27FC236}">
                <a16:creationId xmlns:a16="http://schemas.microsoft.com/office/drawing/2014/main" id="{4117CF2E-DF96-5970-D0F8-CAF1A653D605}"/>
              </a:ext>
            </a:extLst>
          </p:cNvPr>
          <p:cNvSpPr txBox="1"/>
          <p:nvPr/>
        </p:nvSpPr>
        <p:spPr>
          <a:xfrm>
            <a:off x="563253" y="927322"/>
            <a:ext cx="678184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spc="-10">
                <a:latin typeface="Segoe UI" pitchFamily="34" charset="0"/>
                <a:ea typeface="Lato" panose="020F0502020204030203" pitchFamily="34" charset="0"/>
                <a:cs typeface="Lato" panose="020F0502020204030203" pitchFamily="34" charset="0"/>
              </a:rPr>
              <a:t>Role: Head of Digital Solutions &amp; Data</a:t>
            </a:r>
          </a:p>
        </p:txBody>
      </p:sp>
      <p:graphicFrame>
        <p:nvGraphicFramePr>
          <p:cNvPr id="48" name="Google Shape;302;p6">
            <a:extLst>
              <a:ext uri="{FF2B5EF4-FFF2-40B4-BE49-F238E27FC236}">
                <a16:creationId xmlns:a16="http://schemas.microsoft.com/office/drawing/2014/main" id="{F6B79428-EACB-BC1E-0458-A5C348003CD9}"/>
              </a:ext>
            </a:extLst>
          </p:cNvPr>
          <p:cNvGraphicFramePr/>
          <p:nvPr>
            <p:extLst>
              <p:ext uri="{D42A27DB-BD31-4B8C-83A1-F6EECF244321}">
                <p14:modId xmlns:p14="http://schemas.microsoft.com/office/powerpoint/2010/main" val="878236125"/>
              </p:ext>
            </p:extLst>
          </p:nvPr>
        </p:nvGraphicFramePr>
        <p:xfrm>
          <a:off x="726539" y="1241976"/>
          <a:ext cx="10917274" cy="5078752"/>
        </p:xfrm>
        <a:graphic>
          <a:graphicData uri="http://schemas.openxmlformats.org/drawingml/2006/table">
            <a:tbl>
              <a:tblPr firstRow="1" bandRow="1">
                <a:noFill/>
              </a:tblPr>
              <a:tblGrid>
                <a:gridCol w="265252">
                  <a:extLst>
                    <a:ext uri="{9D8B030D-6E8A-4147-A177-3AD203B41FA5}">
                      <a16:colId xmlns:a16="http://schemas.microsoft.com/office/drawing/2014/main" val="20000"/>
                    </a:ext>
                  </a:extLst>
                </a:gridCol>
                <a:gridCol w="577843">
                  <a:extLst>
                    <a:ext uri="{9D8B030D-6E8A-4147-A177-3AD203B41FA5}">
                      <a16:colId xmlns:a16="http://schemas.microsoft.com/office/drawing/2014/main" val="20001"/>
                    </a:ext>
                  </a:extLst>
                </a:gridCol>
                <a:gridCol w="2216994">
                  <a:extLst>
                    <a:ext uri="{9D8B030D-6E8A-4147-A177-3AD203B41FA5}">
                      <a16:colId xmlns:a16="http://schemas.microsoft.com/office/drawing/2014/main" val="20002"/>
                    </a:ext>
                  </a:extLst>
                </a:gridCol>
                <a:gridCol w="7857185">
                  <a:extLst>
                    <a:ext uri="{9D8B030D-6E8A-4147-A177-3AD203B41FA5}">
                      <a16:colId xmlns:a16="http://schemas.microsoft.com/office/drawing/2014/main" val="3624379767"/>
                    </a:ext>
                  </a:extLst>
                </a:gridCol>
              </a:tblGrid>
              <a:tr h="383942">
                <a:tc>
                  <a:txBody>
                    <a:bodyPr/>
                    <a:lstStyle/>
                    <a:p>
                      <a:pPr marL="0" marR="0" lvl="0" indent="0" algn="l" rtl="0">
                        <a:lnSpc>
                          <a:spcPct val="100000"/>
                        </a:lnSpc>
                        <a:spcBef>
                          <a:spcPts val="0"/>
                        </a:spcBef>
                        <a:spcAft>
                          <a:spcPts val="0"/>
                        </a:spcAft>
                        <a:buClr>
                          <a:srgbClr val="BA0C2F"/>
                        </a:buClr>
                        <a:buSzPts val="2400"/>
                        <a:buFont typeface="Lato"/>
                        <a:buNone/>
                      </a:pPr>
                      <a:r>
                        <a:rPr lang="en-US" sz="1600" b="1" u="none" strike="noStrike" cap="none" dirty="0">
                          <a:solidFill>
                            <a:schemeClr val="accent1"/>
                          </a:solidFill>
                          <a:latin typeface="Arial" pitchFamily="34" charset="0"/>
                          <a:ea typeface="Lato" panose="020F0502020204030203" pitchFamily="34" charset="0"/>
                          <a:cs typeface="Lato" panose="020F0502020204030203" pitchFamily="34" charset="0"/>
                          <a:sym typeface="Lato"/>
                        </a:rPr>
                        <a:t>#</a:t>
                      </a:r>
                      <a:endParaRPr sz="1050" b="1" dirty="0">
                        <a:solidFill>
                          <a:schemeClr val="accent1"/>
                        </a:solidFill>
                        <a:latin typeface="Arial" pitchFamily="34" charset="0"/>
                        <a:ea typeface="Lato" panose="020F0502020204030203" pitchFamily="34" charset="0"/>
                        <a:cs typeface="Lato" panose="020F0502020204030203" pitchFamily="34" charset="0"/>
                      </a:endParaRPr>
                    </a:p>
                  </a:txBody>
                  <a:tcPr marL="23400" marR="23400" marT="72000" marB="72000" anchor="ctr">
                    <a:lnL w="9525" cap="flat" cmpd="sng">
                      <a:solidFill>
                        <a:srgbClr val="1D1D1D">
                          <a:alpha val="0"/>
                        </a:srgbClr>
                      </a:solidFill>
                      <a:prstDash val="solid"/>
                      <a:round/>
                      <a:headEnd type="none" w="sm" len="sm"/>
                      <a:tailEnd type="none" w="sm" len="sm"/>
                    </a:lnL>
                    <a:lnR w="9525" cap="flat" cmpd="sng">
                      <a:solidFill>
                        <a:srgbClr val="1D1D1D">
                          <a:alpha val="0"/>
                        </a:srgbClr>
                      </a:solidFill>
                      <a:prstDash val="solid"/>
                      <a:round/>
                      <a:headEnd type="none" w="sm" len="sm"/>
                      <a:tailEnd type="none" w="sm" len="sm"/>
                    </a:lnR>
                    <a:lnT w="9525" cap="flat" cmpd="sng">
                      <a:solidFill>
                        <a:srgbClr val="1D1D1D">
                          <a:alpha val="0"/>
                        </a:srgbClr>
                      </a:solidFill>
                      <a:prstDash val="solid"/>
                      <a:round/>
                      <a:headEnd type="none" w="sm" len="sm"/>
                      <a:tailEnd type="none" w="sm" len="sm"/>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BA0C2F"/>
                        </a:buClr>
                        <a:buSzPts val="2400"/>
                        <a:buFont typeface="Lato"/>
                        <a:buNone/>
                      </a:pPr>
                      <a:r>
                        <a:rPr lang="en-US" sz="1600" b="1" u="none" strike="noStrike" cap="none" dirty="0" err="1">
                          <a:solidFill>
                            <a:schemeClr val="accent1"/>
                          </a:solidFill>
                          <a:latin typeface="Arial" pitchFamily="34" charset="0"/>
                          <a:ea typeface="Lato" panose="020F0502020204030203" pitchFamily="34" charset="0"/>
                          <a:cs typeface="Lato" panose="020F0502020204030203" pitchFamily="34" charset="0"/>
                          <a:sym typeface="Lato"/>
                        </a:rPr>
                        <a:t>Wt</a:t>
                      </a:r>
                      <a:r>
                        <a:rPr lang="en-US" sz="1600" b="1" u="none" strike="noStrike" cap="none" dirty="0">
                          <a:solidFill>
                            <a:schemeClr val="accent1"/>
                          </a:solidFill>
                          <a:latin typeface="Arial" pitchFamily="34" charset="0"/>
                          <a:ea typeface="Lato" panose="020F0502020204030203" pitchFamily="34" charset="0"/>
                          <a:cs typeface="Lato" panose="020F0502020204030203" pitchFamily="34" charset="0"/>
                          <a:sym typeface="Lato"/>
                        </a:rPr>
                        <a:t>%</a:t>
                      </a:r>
                      <a:endParaRPr lang="en-US" sz="1050" b="1" dirty="0">
                        <a:solidFill>
                          <a:schemeClr val="accent1"/>
                        </a:solidFill>
                        <a:latin typeface="Arial" pitchFamily="34" charset="0"/>
                        <a:ea typeface="Lato" panose="020F0502020204030203" pitchFamily="34" charset="0"/>
                        <a:cs typeface="Lato" panose="020F0502020204030203" pitchFamily="34" charset="0"/>
                      </a:endParaRPr>
                    </a:p>
                  </a:txBody>
                  <a:tcPr marL="23400" marR="23400" marT="72000" marB="72000" anchor="ctr">
                    <a:lnL w="9525" cap="flat" cmpd="sng">
                      <a:solidFill>
                        <a:srgbClr val="1D1D1D">
                          <a:alpha val="0"/>
                        </a:srgbClr>
                      </a:solidFill>
                      <a:prstDash val="solid"/>
                      <a:round/>
                      <a:headEnd type="none" w="sm" len="sm"/>
                      <a:tailEnd type="none" w="sm" len="sm"/>
                    </a:lnL>
                    <a:lnR w="9525" cap="flat" cmpd="sng">
                      <a:solidFill>
                        <a:srgbClr val="1D1D1D">
                          <a:alpha val="0"/>
                        </a:srgbClr>
                      </a:solidFill>
                      <a:prstDash val="solid"/>
                      <a:round/>
                      <a:headEnd type="none" w="sm" len="sm"/>
                      <a:tailEnd type="none" w="sm" len="sm"/>
                    </a:lnR>
                    <a:lnT w="9525" cap="flat" cmpd="sng">
                      <a:solidFill>
                        <a:srgbClr val="1D1D1D">
                          <a:alpha val="0"/>
                        </a:srgbClr>
                      </a:solidFill>
                      <a:prstDash val="solid"/>
                      <a:round/>
                      <a:headEnd type="none" w="sm" len="sm"/>
                      <a:tailEnd type="none" w="sm" len="sm"/>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BA0C2F"/>
                        </a:buClr>
                        <a:buSzPts val="2400"/>
                        <a:buFont typeface="Lato"/>
                        <a:buNone/>
                      </a:pPr>
                      <a:r>
                        <a:rPr lang="en-US" sz="1600" b="1" u="none" strike="noStrike" cap="none" dirty="0">
                          <a:solidFill>
                            <a:schemeClr val="accent1"/>
                          </a:solidFill>
                          <a:latin typeface="Arial" pitchFamily="34" charset="0"/>
                          <a:ea typeface="Lato" panose="020F0502020204030203" pitchFamily="34" charset="0"/>
                          <a:cs typeface="Lato" panose="020F0502020204030203" pitchFamily="34" charset="0"/>
                          <a:sym typeface="Lato"/>
                        </a:rPr>
                        <a:t>Outcome</a:t>
                      </a:r>
                      <a:endParaRPr lang="en-US" sz="1050" b="1" dirty="0">
                        <a:solidFill>
                          <a:schemeClr val="accent1"/>
                        </a:solidFill>
                        <a:latin typeface="Arial" pitchFamily="34" charset="0"/>
                        <a:ea typeface="Lato" panose="020F0502020204030203" pitchFamily="34" charset="0"/>
                        <a:cs typeface="Lato" panose="020F0502020204030203" pitchFamily="34" charset="0"/>
                      </a:endParaRPr>
                    </a:p>
                  </a:txBody>
                  <a:tcPr marL="23400" marR="23400" marT="72000" marB="7200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9525" cap="flat" cmpd="sng">
                      <a:solidFill>
                        <a:srgbClr val="1D1D1D">
                          <a:alpha val="0"/>
                        </a:srgbClr>
                      </a:solidFill>
                      <a:prstDash val="solid"/>
                      <a:round/>
                      <a:headEnd type="none" w="sm" len="sm"/>
                      <a:tailEnd type="none" w="sm" len="sm"/>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BA0C2F"/>
                        </a:buClr>
                        <a:buSzPts val="2400"/>
                        <a:buFont typeface="Lato"/>
                        <a:buNone/>
                      </a:pPr>
                      <a:r>
                        <a:rPr lang="en-US" sz="1600" b="1" u="none" strike="noStrike" kern="1200" cap="none" dirty="0">
                          <a:solidFill>
                            <a:schemeClr val="accent1"/>
                          </a:solidFill>
                          <a:latin typeface="Arial" pitchFamily="34" charset="0"/>
                          <a:ea typeface="Lato" panose="020F0502020204030203" pitchFamily="34" charset="0"/>
                          <a:cs typeface="Lato" panose="020F0502020204030203" pitchFamily="34" charset="0"/>
                        </a:rPr>
                        <a:t>Priority Work</a:t>
                      </a:r>
                    </a:p>
                  </a:txBody>
                  <a:tcPr marL="23400" marR="23400" marT="72000" marB="7200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9525" cap="flat" cmpd="sng">
                      <a:solidFill>
                        <a:srgbClr val="1D1D1D">
                          <a:alpha val="0"/>
                        </a:srgbClr>
                      </a:solidFill>
                      <a:prstDash val="solid"/>
                      <a:round/>
                      <a:headEnd type="none" w="sm" len="sm"/>
                      <a:tailEnd type="none" w="sm" len="sm"/>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0"/>
                  </a:ext>
                </a:extLst>
              </a:tr>
              <a:tr h="1124752">
                <a:tc>
                  <a:txBody>
                    <a:bodyPr/>
                    <a:lstStyle/>
                    <a:p>
                      <a:r>
                        <a:rPr lang="en-US" sz="1100">
                          <a:latin typeface="Arial" pitchFamily="34" charset="0"/>
                          <a:ea typeface="Lato" panose="020F0502020204030203" pitchFamily="34" charset="0"/>
                          <a:cs typeface="Lato" panose="020F0502020204030203" pitchFamily="34" charset="0"/>
                        </a:rPr>
                        <a:t>1</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r>
                        <a:rPr lang="en-US" sz="1100">
                          <a:latin typeface="Arial" pitchFamily="34" charset="0"/>
                          <a:ea typeface="Lato" panose="020F0502020204030203" pitchFamily="34" charset="0"/>
                          <a:cs typeface="Lato" panose="020F0502020204030203" pitchFamily="34" charset="0"/>
                        </a:rPr>
                        <a:t>30%</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dirty="0">
                          <a:solidFill>
                            <a:srgbClr val="1D1D1D"/>
                          </a:solidFill>
                          <a:latin typeface="Arial" pitchFamily="34" charset="0"/>
                          <a:ea typeface="Lato" panose="020F0502020204030203" pitchFamily="34" charset="0"/>
                          <a:cs typeface="Lato" panose="020F0502020204030203" pitchFamily="34" charset="0"/>
                        </a:rPr>
                        <a:t>Continuous Improvement of Infrastructure</a:t>
                      </a:r>
                      <a:endParaRPr kumimoji="0" lang="en-US" sz="1200" b="1" i="0" u="none" strike="noStrike" kern="1200" cap="none" spc="0" normalizeH="0" baseline="0" noProof="0" dirty="0">
                        <a:ln>
                          <a:noFill/>
                        </a:ln>
                        <a:solidFill>
                          <a:srgbClr val="1D1D1D"/>
                        </a:solidFill>
                        <a:effectLst/>
                        <a:uLnTx/>
                        <a:uFillTx/>
                        <a:latin typeface="Arial" pitchFamily="34" charset="0"/>
                        <a:ea typeface="Lato" panose="020F0502020204030203" pitchFamily="34" charset="0"/>
                        <a:cs typeface="Lato" panose="020F0502020204030203" pitchFamily="34" charset="0"/>
                      </a:endParaRPr>
                    </a:p>
                  </a:txBody>
                  <a:tcPr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a:spcAft>
                          <a:spcPts val="600"/>
                        </a:spcAft>
                      </a:pPr>
                      <a:r>
                        <a:rPr lang="en-US" sz="1100" b="1" dirty="0"/>
                        <a:t>What: </a:t>
                      </a:r>
                      <a:r>
                        <a:rPr lang="en-US" sz="1100" b="0" dirty="0"/>
                        <a:t>Strengthen digital/data infrastructure so </a:t>
                      </a:r>
                      <a:r>
                        <a:rPr lang="en-US" sz="1100" b="0" dirty="0" err="1"/>
                        <a:t>SuperApps</a:t>
                      </a:r>
                      <a:r>
                        <a:rPr lang="en-US" sz="1100" b="0" dirty="0"/>
                        <a:t>, payments, and vertical platforms run reliably across five markets.</a:t>
                      </a:r>
                      <a:br>
                        <a:rPr lang="en-US" sz="1100" b="0" dirty="0"/>
                      </a:br>
                      <a:r>
                        <a:rPr lang="en-US" sz="1100" b="1" dirty="0"/>
                        <a:t>How: </a:t>
                      </a:r>
                      <a:r>
                        <a:rPr lang="en-US" sz="1100" b="0" dirty="0"/>
                        <a:t>Modernize Tier‑1 stacks; deploy SRE/AIOps, SIEM/SOAR, and standardized incident/change playbooks; enforce data residency, payments, and privacy controls; automate capacity and release validation.</a:t>
                      </a:r>
                      <a:br>
                        <a:rPr lang="en-US" sz="1100" b="0" dirty="0"/>
                      </a:br>
                      <a:r>
                        <a:rPr lang="en-US" sz="1100" b="1" dirty="0"/>
                        <a:t>How much: </a:t>
                      </a:r>
                      <a:r>
                        <a:rPr lang="en-US" sz="1100" b="0" dirty="0"/>
                        <a:t>Full compliance on audited systems; reduce unplanned downtime by 50%.</a:t>
                      </a:r>
                      <a:br>
                        <a:rPr lang="en-US" sz="1100" b="0" dirty="0"/>
                      </a:br>
                      <a:r>
                        <a:rPr lang="en-US" sz="1100" b="1" dirty="0"/>
                        <a:t>By when: </a:t>
                      </a:r>
                      <a:r>
                        <a:rPr lang="en-US" sz="1100" b="0" dirty="0"/>
                        <a:t>31 Dec 2027.</a:t>
                      </a:r>
                    </a:p>
                  </a:txBody>
                  <a:tcPr marT="91440" marB="9144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1"/>
                  </a:ext>
                </a:extLst>
              </a:tr>
              <a:tr h="1010818">
                <a:tc>
                  <a:txBody>
                    <a:bodyPr/>
                    <a:lstStyle/>
                    <a:p>
                      <a:r>
                        <a:rPr lang="en-US" sz="1100">
                          <a:latin typeface="Arial" pitchFamily="34" charset="0"/>
                          <a:ea typeface="Lato" panose="020F0502020204030203" pitchFamily="34" charset="0"/>
                          <a:cs typeface="Lato" panose="020F0502020204030203" pitchFamily="34" charset="0"/>
                        </a:rPr>
                        <a:t>2</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r>
                        <a:rPr lang="en-US" sz="1100">
                          <a:latin typeface="Arial" pitchFamily="34" charset="0"/>
                          <a:ea typeface="Lato" panose="020F0502020204030203" pitchFamily="34" charset="0"/>
                          <a:cs typeface="Lato" panose="020F0502020204030203" pitchFamily="34" charset="0"/>
                        </a:rPr>
                        <a:t>35%</a:t>
                      </a:r>
                    </a:p>
                  </a:txBody>
                  <a:tcPr marL="25977" marR="25977" marT="14288" marB="14288"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rPr>
                        <a:t>Digital Transformation of Core Processes</a:t>
                      </a:r>
                    </a:p>
                  </a:txBody>
                  <a:tcPr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a:spcAft>
                          <a:spcPts val="600"/>
                        </a:spcAft>
                      </a:pPr>
                      <a:r>
                        <a:rPr lang="en-US" sz="1100" b="1" dirty="0"/>
                        <a:t>What: </a:t>
                      </a:r>
                      <a:r>
                        <a:rPr lang="en-US" sz="1100" b="0" dirty="0"/>
                        <a:t>Reengineer core workflows (onboarding, payments, merchant/agent networks, clinical flows) to remove manual handoffs and speed delivery.</a:t>
                      </a:r>
                      <a:br>
                        <a:rPr lang="en-US" sz="1100" b="0" dirty="0"/>
                      </a:br>
                      <a:r>
                        <a:rPr lang="en-US" sz="1100" b="1" dirty="0"/>
                        <a:t>How: </a:t>
                      </a:r>
                      <a:r>
                        <a:rPr lang="en-US" sz="1100" b="0" dirty="0"/>
                        <a:t>Implement API-first, event-driven integrations, RPA for repeatable tasks, standardized data contracts, and automated reconciliation and observability.</a:t>
                      </a:r>
                      <a:br>
                        <a:rPr lang="en-US" sz="1100" b="0" dirty="0"/>
                      </a:br>
                      <a:r>
                        <a:rPr lang="en-US" sz="1100" b="1" dirty="0"/>
                        <a:t>How much: </a:t>
                      </a:r>
                      <a:r>
                        <a:rPr lang="en-US" sz="1100" b="0" dirty="0"/>
                        <a:t>$100M+ efficiency gains; digitize ≥70% of critical workflows.</a:t>
                      </a:r>
                      <a:br>
                        <a:rPr lang="en-US" sz="1100" b="0" dirty="0"/>
                      </a:br>
                      <a:r>
                        <a:rPr lang="en-US" sz="1100" b="1" dirty="0"/>
                        <a:t>By when: </a:t>
                      </a:r>
                      <a:r>
                        <a:rPr lang="en-US" sz="1100" b="0" dirty="0"/>
                        <a:t>31 Dec 2028.</a:t>
                      </a:r>
                    </a:p>
                  </a:txBody>
                  <a:tcPr marT="91440" marB="91440"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062063259"/>
                  </a:ext>
                </a:extLst>
              </a:tr>
              <a:tr h="888078">
                <a:tc>
                  <a:txBody>
                    <a:bodyPr/>
                    <a:lstStyle/>
                    <a:p>
                      <a:r>
                        <a:rPr lang="en-US" sz="1100">
                          <a:latin typeface="Arial" pitchFamily="34" charset="0"/>
                          <a:ea typeface="Lato" panose="020F0502020204030203" pitchFamily="34" charset="0"/>
                          <a:cs typeface="Lato" panose="020F0502020204030203" pitchFamily="34" charset="0"/>
                        </a:rPr>
                        <a:t>3</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r>
                        <a:rPr lang="en-US" sz="1100">
                          <a:latin typeface="Arial" pitchFamily="34" charset="0"/>
                          <a:ea typeface="Lato" panose="020F0502020204030203" pitchFamily="34" charset="0"/>
                          <a:cs typeface="Lato" panose="020F0502020204030203" pitchFamily="34" charset="0"/>
                        </a:rPr>
                        <a:t>15%</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rPr>
                        <a:t>Digital Innovation for New Products, Services, and Revenue Streams</a:t>
                      </a:r>
                    </a:p>
                  </a:txBody>
                  <a:tcPr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a:spcAft>
                          <a:spcPts val="600"/>
                        </a:spcAft>
                      </a:pPr>
                      <a:r>
                        <a:rPr lang="en-US" sz="1100" b="1" dirty="0"/>
                        <a:t>What: </a:t>
                      </a:r>
                      <a:r>
                        <a:rPr lang="en-US" sz="1100" b="0" dirty="0"/>
                        <a:t>Productize AI1440 and data capabilities into revenue-generating products across fintech, entertainment, healthcare, and education.</a:t>
                      </a:r>
                      <a:br>
                        <a:rPr lang="en-US" sz="1100" b="0" dirty="0"/>
                      </a:br>
                      <a:r>
                        <a:rPr lang="en-US" sz="1100" b="1" dirty="0"/>
                        <a:t>How: </a:t>
                      </a:r>
                      <a:r>
                        <a:rPr lang="en-US" sz="1100" b="0" dirty="0"/>
                        <a:t>Co-design with vertical and country teams, build compliant </a:t>
                      </a:r>
                      <a:r>
                        <a:rPr lang="en-US" sz="1100" b="0" dirty="0" err="1"/>
                        <a:t>MLOps</a:t>
                      </a:r>
                      <a:r>
                        <a:rPr lang="en-US" sz="1100" b="0" dirty="0"/>
                        <a:t> and data pipelines, localize LLMs, and scale pilots through product management and measurable monetization metrics.</a:t>
                      </a:r>
                      <a:br>
                        <a:rPr lang="en-US" sz="1100" b="0" dirty="0"/>
                      </a:br>
                      <a:r>
                        <a:rPr lang="en-US" sz="1100" b="1" dirty="0"/>
                        <a:t>How much: </a:t>
                      </a:r>
                      <a:r>
                        <a:rPr lang="en-US" sz="1100" b="0" dirty="0"/>
                        <a:t>Enable $50M+ new revenue; launch ≥10 products.</a:t>
                      </a:r>
                      <a:br>
                        <a:rPr lang="en-US" sz="1100" b="0" dirty="0"/>
                      </a:br>
                      <a:r>
                        <a:rPr lang="en-US" sz="1100" b="1" dirty="0"/>
                        <a:t>By when: </a:t>
                      </a:r>
                      <a:r>
                        <a:rPr lang="en-US" sz="1100" b="0" dirty="0"/>
                        <a:t>Revenue by 31 Dec 2028; launches by 31 Dec 2029.</a:t>
                      </a:r>
                    </a:p>
                  </a:txBody>
                  <a:tcPr marT="91440" marB="9144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2"/>
                  </a:ext>
                </a:extLst>
              </a:tr>
              <a:tr h="844862">
                <a:tc>
                  <a:txBody>
                    <a:bodyPr/>
                    <a:lstStyle/>
                    <a:p>
                      <a:r>
                        <a:rPr lang="en-US" sz="1100">
                          <a:latin typeface="Arial" pitchFamily="34" charset="0"/>
                          <a:ea typeface="Lato" panose="020F0502020204030203" pitchFamily="34" charset="0"/>
                          <a:cs typeface="Lato" panose="020F0502020204030203" pitchFamily="34" charset="0"/>
                        </a:rPr>
                        <a:t>4</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r>
                        <a:rPr lang="en-US" sz="1100">
                          <a:latin typeface="Arial" pitchFamily="34" charset="0"/>
                          <a:ea typeface="Lato" panose="020F0502020204030203" pitchFamily="34" charset="0"/>
                          <a:cs typeface="Lato" panose="020F0502020204030203" pitchFamily="34" charset="0"/>
                        </a:rPr>
                        <a:t>20%</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rPr>
                        <a:t>Major Platform &amp; Technology Upgrade</a:t>
                      </a:r>
                    </a:p>
                  </a:txBody>
                  <a:tcPr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a:spcAft>
                          <a:spcPts val="600"/>
                        </a:spcAft>
                      </a:pPr>
                      <a:r>
                        <a:rPr lang="en-US" sz="1100" b="1" dirty="0"/>
                        <a:t>What: </a:t>
                      </a:r>
                      <a:r>
                        <a:rPr lang="en-US" sz="1100" b="0" dirty="0"/>
                        <a:t>Deliver major platform upgrades (</a:t>
                      </a:r>
                      <a:r>
                        <a:rPr lang="en-US" sz="1100" b="0" dirty="0" err="1"/>
                        <a:t>SuperApp</a:t>
                      </a:r>
                      <a:r>
                        <a:rPr lang="en-US" sz="1100" b="0" dirty="0"/>
                        <a:t> core, payments hub, identity, health stores) without disrupting customers or compliance.</a:t>
                      </a:r>
                      <a:br>
                        <a:rPr lang="en-US" sz="1100" b="0" dirty="0"/>
                      </a:br>
                      <a:r>
                        <a:rPr lang="en-US" sz="1100" b="1" dirty="0"/>
                        <a:t>How: </a:t>
                      </a:r>
                      <a:r>
                        <a:rPr lang="en-US" sz="1100" b="0" dirty="0"/>
                        <a:t>Use phased migrations, canary releases, validation testing, and disciplined change governance balancing central standards and local needs.</a:t>
                      </a:r>
                      <a:br>
                        <a:rPr lang="en-US" sz="1100" b="0" dirty="0"/>
                      </a:br>
                      <a:r>
                        <a:rPr lang="en-US" sz="1100" b="1" dirty="0"/>
                        <a:t>How much: </a:t>
                      </a:r>
                      <a:r>
                        <a:rPr lang="en-US" sz="1100" b="0" dirty="0"/>
                        <a:t>Complete 3 major upgrades with ≥95% on-time/on-budget delivery and &lt;5% transition disruption.</a:t>
                      </a:r>
                      <a:br>
                        <a:rPr lang="en-US" sz="1100" b="0" dirty="0"/>
                      </a:br>
                      <a:r>
                        <a:rPr lang="en-US" sz="1100" b="1" dirty="0"/>
                        <a:t>By when: </a:t>
                      </a:r>
                      <a:r>
                        <a:rPr lang="en-US" sz="1100" b="0" dirty="0"/>
                        <a:t>31 Dec 2028.</a:t>
                      </a:r>
                    </a:p>
                  </a:txBody>
                  <a:tcPr marT="91440" marB="9144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aphicFrame>
        <p:nvGraphicFramePr>
          <p:cNvPr id="49" name="Table 48">
            <a:extLst>
              <a:ext uri="{FF2B5EF4-FFF2-40B4-BE49-F238E27FC236}">
                <a16:creationId xmlns:a16="http://schemas.microsoft.com/office/drawing/2014/main" id="{D1ED365D-2769-55A2-1DEA-4128D0BA5124}"/>
              </a:ext>
            </a:extLst>
          </p:cNvPr>
          <p:cNvGraphicFramePr>
            <a:graphicFrameLocks noGrp="1"/>
          </p:cNvGraphicFramePr>
          <p:nvPr>
            <p:extLst>
              <p:ext uri="{D42A27DB-BD31-4B8C-83A1-F6EECF244321}">
                <p14:modId xmlns:p14="http://schemas.microsoft.com/office/powerpoint/2010/main" val="3874246573"/>
              </p:ext>
            </p:extLst>
          </p:nvPr>
        </p:nvGraphicFramePr>
        <p:xfrm>
          <a:off x="3781256" y="1624817"/>
          <a:ext cx="7857185" cy="4695911"/>
        </p:xfrm>
        <a:graphic>
          <a:graphicData uri="http://schemas.openxmlformats.org/drawingml/2006/table">
            <a:tbl>
              <a:tblPr firstRow="1" bandRow="1">
                <a:noFill/>
              </a:tblPr>
              <a:tblGrid>
                <a:gridCol w="7857185">
                  <a:extLst>
                    <a:ext uri="{9D8B030D-6E8A-4147-A177-3AD203B41FA5}">
                      <a16:colId xmlns:a16="http://schemas.microsoft.com/office/drawing/2014/main" val="2441990487"/>
                    </a:ext>
                  </a:extLst>
                </a:gridCol>
              </a:tblGrid>
              <a:tr h="1127963">
                <a:tc>
                  <a:txBody>
                    <a:bodyPr/>
                    <a:lstStyle/>
                    <a:p>
                      <a:pPr>
                        <a:spcAft>
                          <a:spcPts val="600"/>
                        </a:spcAft>
                      </a:pPr>
                      <a:r>
                        <a:rPr lang="en-US" sz="1200" b="0" i="0" dirty="0">
                          <a:solidFill>
                            <a:schemeClr val="tx1"/>
                          </a:solidFill>
                          <a:effectLst/>
                          <a:latin typeface="Arial" pitchFamily="34" charset="0"/>
                          <a:ea typeface="Lato" panose="020F0502020204030203" pitchFamily="34" charset="0"/>
                          <a:cs typeface="Lato" panose="020F0502020204030203" pitchFamily="34" charset="0"/>
                        </a:rPr>
                        <a:t>Ensure </a:t>
                      </a:r>
                      <a:r>
                        <a:rPr lang="en-US" sz="1200" b="0" i="0" dirty="0" err="1">
                          <a:solidFill>
                            <a:schemeClr val="tx1"/>
                          </a:solidFill>
                          <a:effectLst/>
                          <a:latin typeface="Arial" pitchFamily="34" charset="0"/>
                          <a:ea typeface="Lato" panose="020F0502020204030203" pitchFamily="34" charset="0"/>
                          <a:cs typeface="Lato" panose="020F0502020204030203" pitchFamily="34" charset="0"/>
                        </a:rPr>
                        <a:t>SuperApps</a:t>
                      </a:r>
                      <a:r>
                        <a:rPr lang="en-US" sz="1200" b="0" i="0" dirty="0">
                          <a:solidFill>
                            <a:schemeClr val="tx1"/>
                          </a:solidFill>
                          <a:effectLst/>
                          <a:latin typeface="Arial" pitchFamily="34" charset="0"/>
                          <a:ea typeface="Lato" panose="020F0502020204030203" pitchFamily="34" charset="0"/>
                          <a:cs typeface="Lato" panose="020F0502020204030203" pitchFamily="34" charset="0"/>
                        </a:rPr>
                        <a:t>, payments, and vertical platforms run reliably across five markets by strengthening digital and data infrastructure. Modernize Tier‑1 stacks and deploy SRE/AIOps, SIEM/SOAR, and standardized incident/change playbooks while enforcing data residency, payments, and privacy controls and automating capacity and release validation. Achieve full compliance on audited systems and reduce unplanned downtime by 50% by 31 Dec 2027.</a:t>
                      </a:r>
                      <a:endParaRPr lang="en-US" sz="1200" dirty="0">
                        <a:latin typeface="Arial" pitchFamily="34" charset="0"/>
                        <a:ea typeface="Lato" panose="020F0502020204030203" pitchFamily="34" charset="0"/>
                        <a:cs typeface="Lato" panose="020F0502020204030203" pitchFamily="34" charset="0"/>
                      </a:endParaRPr>
                    </a:p>
                  </a:txBody>
                  <a:tcPr marT="91440" marB="9144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67545765"/>
                  </a:ext>
                </a:extLst>
              </a:tr>
              <a:tr h="1194555">
                <a:tc>
                  <a:txBody>
                    <a:bodyPr/>
                    <a:lstStyle/>
                    <a:p>
                      <a:pPr>
                        <a:spcAft>
                          <a:spcPts val="600"/>
                        </a:spcAft>
                      </a:pPr>
                      <a:r>
                        <a:rPr lang="en-US" sz="1200" b="0" i="0">
                          <a:solidFill>
                            <a:schemeClr val="tx1"/>
                          </a:solidFill>
                          <a:effectLst/>
                          <a:latin typeface="Arial" pitchFamily="34" charset="0"/>
                          <a:ea typeface="Lato" panose="020F0502020204030203" pitchFamily="34" charset="0"/>
                          <a:cs typeface="Lato" panose="020F0502020204030203" pitchFamily="34" charset="0"/>
                        </a:rPr>
                        <a:t>Reengineer core workflows—onboarding, payments, merchant/agent networks, and clinical flows—to remove manual handoffs and accelerate delivery. Implement API-first, event-driven integrations, RPA for repeatable tasks, standardized data contracts, and automated reconciliation and observability to drive change. Deliver $100M+ in efficiency gains and digitize ≥70% of critical workflows by 31 Dec 2028.</a:t>
                      </a:r>
                      <a:endParaRPr lang="en-US" sz="1200">
                        <a:latin typeface="Arial" pitchFamily="34" charset="0"/>
                        <a:ea typeface="Lato" panose="020F0502020204030203" pitchFamily="34" charset="0"/>
                        <a:cs typeface="Lato" panose="020F0502020204030203" pitchFamily="34" charset="0"/>
                      </a:endParaRPr>
                    </a:p>
                  </a:txBody>
                  <a:tcPr marT="91440" marB="91440"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07236152"/>
                  </a:ext>
                </a:extLst>
              </a:tr>
              <a:tr h="1194555">
                <a:tc>
                  <a:txBody>
                    <a:bodyPr/>
                    <a:lstStyle/>
                    <a:p>
                      <a:pPr>
                        <a:spcAft>
                          <a:spcPts val="600"/>
                        </a:spcAft>
                      </a:pPr>
                      <a:r>
                        <a:rPr lang="en-US" sz="1200" b="0" i="0">
                          <a:solidFill>
                            <a:schemeClr val="tx1"/>
                          </a:solidFill>
                          <a:effectLst/>
                          <a:latin typeface="Arial" pitchFamily="34" charset="0"/>
                          <a:ea typeface="Lato" panose="020F0502020204030203" pitchFamily="34" charset="0"/>
                          <a:cs typeface="Lato" panose="020F0502020204030203" pitchFamily="34" charset="0"/>
                        </a:rPr>
                        <a:t>Productize AI1440 and data capabilities into revenue-generating products across fintech, entertainment, healthcare, and education by co-designing with vertical and country teams, building compliant </a:t>
                      </a:r>
                      <a:r>
                        <a:rPr lang="en-US" sz="1200" b="0" i="0" err="1">
                          <a:solidFill>
                            <a:schemeClr val="tx1"/>
                          </a:solidFill>
                          <a:effectLst/>
                          <a:latin typeface="Arial" pitchFamily="34" charset="0"/>
                          <a:ea typeface="Lato" panose="020F0502020204030203" pitchFamily="34" charset="0"/>
                          <a:cs typeface="Lato" panose="020F0502020204030203" pitchFamily="34" charset="0"/>
                        </a:rPr>
                        <a:t>MLOps</a:t>
                      </a:r>
                      <a:r>
                        <a:rPr lang="en-US" sz="1200" b="0" i="0">
                          <a:solidFill>
                            <a:schemeClr val="tx1"/>
                          </a:solidFill>
                          <a:effectLst/>
                          <a:latin typeface="Arial" pitchFamily="34" charset="0"/>
                          <a:ea typeface="Lato" panose="020F0502020204030203" pitchFamily="34" charset="0"/>
                          <a:cs typeface="Lato" panose="020F0502020204030203" pitchFamily="34" charset="0"/>
                        </a:rPr>
                        <a:t> and data pipelines, localizing LLMs, and scaling pilots through product management and monetization metrics. Enable $50M+ of new revenue and launch ≥10 products, with revenue by 31 Dec 2028 and launches by 31 Dec 2029.</a:t>
                      </a:r>
                      <a:endParaRPr lang="en-US" sz="1200">
                        <a:latin typeface="Arial" pitchFamily="34" charset="0"/>
                        <a:ea typeface="Lato" panose="020F0502020204030203" pitchFamily="34" charset="0"/>
                        <a:cs typeface="Lato" panose="020F0502020204030203" pitchFamily="34" charset="0"/>
                      </a:endParaRPr>
                    </a:p>
                  </a:txBody>
                  <a:tcPr marT="91440" marB="9144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28265736"/>
                  </a:ext>
                </a:extLst>
              </a:tr>
              <a:tr h="1178838">
                <a:tc>
                  <a:txBody>
                    <a:bodyPr/>
                    <a:lstStyle/>
                    <a:p>
                      <a:r>
                        <a:rPr lang="en-US" sz="1200" b="0" i="0" dirty="0">
                          <a:solidFill>
                            <a:schemeClr val="tx1"/>
                          </a:solidFill>
                          <a:effectLst/>
                          <a:latin typeface="Arial" pitchFamily="34" charset="0"/>
                          <a:ea typeface="Lato" panose="020F0502020204030203" pitchFamily="34" charset="0"/>
                          <a:cs typeface="Lato" panose="020F0502020204030203" pitchFamily="34" charset="0"/>
                        </a:rPr>
                        <a:t>Deliver major platform upgrades (</a:t>
                      </a:r>
                      <a:r>
                        <a:rPr lang="en-US" sz="1200" b="0" i="0" dirty="0" err="1">
                          <a:solidFill>
                            <a:schemeClr val="tx1"/>
                          </a:solidFill>
                          <a:effectLst/>
                          <a:latin typeface="Arial" pitchFamily="34" charset="0"/>
                          <a:ea typeface="Lato" panose="020F0502020204030203" pitchFamily="34" charset="0"/>
                          <a:cs typeface="Lato" panose="020F0502020204030203" pitchFamily="34" charset="0"/>
                        </a:rPr>
                        <a:t>SuperApp</a:t>
                      </a:r>
                      <a:r>
                        <a:rPr lang="en-US" sz="1200" b="0" i="0" dirty="0">
                          <a:solidFill>
                            <a:schemeClr val="tx1"/>
                          </a:solidFill>
                          <a:effectLst/>
                          <a:latin typeface="Arial" pitchFamily="34" charset="0"/>
                          <a:ea typeface="Lato" panose="020F0502020204030203" pitchFamily="34" charset="0"/>
                          <a:cs typeface="Lato" panose="020F0502020204030203" pitchFamily="34" charset="0"/>
                        </a:rPr>
                        <a:t> core, payments hub, identity, health stores) without disrupting customers or compliance by using phased migrations, canary releases, validation testing, and disciplined change governance that balances central standards with local needs. Complete 3 major upgrades with ≥95% on-time/on-budget delivery and &lt;5% transition disruption by 31 Dec 2028.</a:t>
                      </a:r>
                    </a:p>
                  </a:txBody>
                  <a:tcPr marT="91440" marB="9144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703636"/>
                  </a:ext>
                </a:extLst>
              </a:tr>
            </a:tbl>
          </a:graphicData>
        </a:graphic>
      </p:graphicFrame>
      <p:sp>
        <p:nvSpPr>
          <p:cNvPr id="53"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16</a:t>
            </a:fld>
            <a:endParaRPr lang="en-US"/>
          </a:p>
        </p:txBody>
      </p:sp>
      <p:grpSp>
        <p:nvGrpSpPr>
          <p:cNvPr id="4" name="Group 3">
            <a:extLst>
              <a:ext uri="{FF2B5EF4-FFF2-40B4-BE49-F238E27FC236}">
                <a16:creationId xmlns:a16="http://schemas.microsoft.com/office/drawing/2014/main" id="{14DFB8CA-3A1E-7224-F8C5-E7E37F77821A}"/>
              </a:ext>
            </a:extLst>
          </p:cNvPr>
          <p:cNvGrpSpPr/>
          <p:nvPr/>
        </p:nvGrpSpPr>
        <p:grpSpPr>
          <a:xfrm>
            <a:off x="10403235" y="201614"/>
            <a:ext cx="410690" cy="410700"/>
            <a:chOff x="3506617" y="2730959"/>
            <a:chExt cx="1591098" cy="1591098"/>
          </a:xfrm>
        </p:grpSpPr>
        <p:sp>
          <p:nvSpPr>
            <p:cNvPr id="5" name="Rectangle: Rounded Corners 39">
              <a:extLst>
                <a:ext uri="{FF2B5EF4-FFF2-40B4-BE49-F238E27FC236}">
                  <a16:creationId xmlns:a16="http://schemas.microsoft.com/office/drawing/2014/main" id="{09A553BC-26B7-0BA2-A9F9-663D948813E8}"/>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3" name="Rectangle: Rounded Corners 54">
              <a:extLst>
                <a:ext uri="{FF2B5EF4-FFF2-40B4-BE49-F238E27FC236}">
                  <a16:creationId xmlns:a16="http://schemas.microsoft.com/office/drawing/2014/main" id="{9B6153E9-656E-9DA5-34C8-BD5A464D1AA4}"/>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4" name="Freeform 56" descr="Clipboard Partially Checked with solid fill">
              <a:extLst>
                <a:ext uri="{FF2B5EF4-FFF2-40B4-BE49-F238E27FC236}">
                  <a16:creationId xmlns:a16="http://schemas.microsoft.com/office/drawing/2014/main" id="{E8E005AB-986C-ABC4-AFEA-7A6E907F50AC}"/>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25" name="Group 24">
            <a:extLst>
              <a:ext uri="{FF2B5EF4-FFF2-40B4-BE49-F238E27FC236}">
                <a16:creationId xmlns:a16="http://schemas.microsoft.com/office/drawing/2014/main" id="{F26753EE-3C21-4DA0-18C1-B40205F08878}"/>
              </a:ext>
            </a:extLst>
          </p:cNvPr>
          <p:cNvGrpSpPr/>
          <p:nvPr/>
        </p:nvGrpSpPr>
        <p:grpSpPr>
          <a:xfrm>
            <a:off x="11557682" y="191038"/>
            <a:ext cx="410690" cy="410700"/>
            <a:chOff x="8874309" y="3009260"/>
            <a:chExt cx="1591098" cy="1591098"/>
          </a:xfrm>
        </p:grpSpPr>
        <p:grpSp>
          <p:nvGrpSpPr>
            <p:cNvPr id="26" name="Group 25">
              <a:extLst>
                <a:ext uri="{FF2B5EF4-FFF2-40B4-BE49-F238E27FC236}">
                  <a16:creationId xmlns:a16="http://schemas.microsoft.com/office/drawing/2014/main" id="{506EA61F-41C4-7CDA-E087-71062A4BD4D1}"/>
                </a:ext>
              </a:extLst>
            </p:cNvPr>
            <p:cNvGrpSpPr/>
            <p:nvPr/>
          </p:nvGrpSpPr>
          <p:grpSpPr>
            <a:xfrm>
              <a:off x="8874309" y="3009260"/>
              <a:ext cx="1591098" cy="1591098"/>
              <a:chOff x="9350370" y="2760976"/>
              <a:chExt cx="1591098" cy="1591098"/>
            </a:xfrm>
          </p:grpSpPr>
          <p:sp>
            <p:nvSpPr>
              <p:cNvPr id="28" name="Rectangle: Rounded Corners 39">
                <a:extLst>
                  <a:ext uri="{FF2B5EF4-FFF2-40B4-BE49-F238E27FC236}">
                    <a16:creationId xmlns:a16="http://schemas.microsoft.com/office/drawing/2014/main" id="{9B09EAF2-E778-86FD-483A-752CB535A9D4}"/>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9" name="Rectangle: Rounded Corners 54">
                <a:extLst>
                  <a:ext uri="{FF2B5EF4-FFF2-40B4-BE49-F238E27FC236}">
                    <a16:creationId xmlns:a16="http://schemas.microsoft.com/office/drawing/2014/main" id="{A66CE1D5-C42B-A1E1-794F-0CD11448F819}"/>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7" name="Picture 51" descr="Map with pin with solid fill">
              <a:extLst>
                <a:ext uri="{FF2B5EF4-FFF2-40B4-BE49-F238E27FC236}">
                  <a16:creationId xmlns:a16="http://schemas.microsoft.com/office/drawing/2014/main" id="{B53BCD3C-67DF-F036-CBED-F3D8240A1995}"/>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0" name="Group 29">
            <a:extLst>
              <a:ext uri="{FF2B5EF4-FFF2-40B4-BE49-F238E27FC236}">
                <a16:creationId xmlns:a16="http://schemas.microsoft.com/office/drawing/2014/main" id="{FEF2FAEC-8262-CB45-26E6-CFB11E568D48}"/>
              </a:ext>
            </a:extLst>
          </p:cNvPr>
          <p:cNvGrpSpPr/>
          <p:nvPr/>
        </p:nvGrpSpPr>
        <p:grpSpPr>
          <a:xfrm>
            <a:off x="10997361" y="200955"/>
            <a:ext cx="410690" cy="410700"/>
            <a:chOff x="5303120" y="3009260"/>
            <a:chExt cx="1591098" cy="1591098"/>
          </a:xfrm>
        </p:grpSpPr>
        <p:grpSp>
          <p:nvGrpSpPr>
            <p:cNvPr id="31" name="Group 30">
              <a:extLst>
                <a:ext uri="{FF2B5EF4-FFF2-40B4-BE49-F238E27FC236}">
                  <a16:creationId xmlns:a16="http://schemas.microsoft.com/office/drawing/2014/main" id="{78E627A2-581C-B1AA-A526-EF5A699E649B}"/>
                </a:ext>
              </a:extLst>
            </p:cNvPr>
            <p:cNvGrpSpPr/>
            <p:nvPr/>
          </p:nvGrpSpPr>
          <p:grpSpPr>
            <a:xfrm>
              <a:off x="5303120" y="3009260"/>
              <a:ext cx="1591098" cy="1591098"/>
              <a:chOff x="6428492" y="2760976"/>
              <a:chExt cx="1591098" cy="1591098"/>
            </a:xfrm>
          </p:grpSpPr>
          <p:sp>
            <p:nvSpPr>
              <p:cNvPr id="33" name="Rectangle: Rounded Corners 39">
                <a:extLst>
                  <a:ext uri="{FF2B5EF4-FFF2-40B4-BE49-F238E27FC236}">
                    <a16:creationId xmlns:a16="http://schemas.microsoft.com/office/drawing/2014/main" id="{3B4AE6EC-0A74-F947-B14E-C79CDBD5A357}"/>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4" name="Rectangle: Rounded Corners 54">
                <a:extLst>
                  <a:ext uri="{FF2B5EF4-FFF2-40B4-BE49-F238E27FC236}">
                    <a16:creationId xmlns:a16="http://schemas.microsoft.com/office/drawing/2014/main" id="{6ED80131-03BC-F96A-7239-512E00723920}"/>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2" name="Graphic 27" descr="Target Audience with solid fill">
              <a:extLst>
                <a:ext uri="{FF2B5EF4-FFF2-40B4-BE49-F238E27FC236}">
                  <a16:creationId xmlns:a16="http://schemas.microsoft.com/office/drawing/2014/main" id="{827FBC9C-04AA-BDC1-F9A9-A79509F8F644}"/>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5" name="TextBox 34">
            <a:extLst>
              <a:ext uri="{FF2B5EF4-FFF2-40B4-BE49-F238E27FC236}">
                <a16:creationId xmlns:a16="http://schemas.microsoft.com/office/drawing/2014/main" id="{0DC7785E-F0D8-C8D8-2829-07A45C36492C}"/>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6" name="TextBox 35">
            <a:extLst>
              <a:ext uri="{FF2B5EF4-FFF2-40B4-BE49-F238E27FC236}">
                <a16:creationId xmlns:a16="http://schemas.microsoft.com/office/drawing/2014/main" id="{DABE78A8-6176-28A2-907E-961B3F6A6787}"/>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7" name="TextBox 36">
            <a:extLst>
              <a:ext uri="{FF2B5EF4-FFF2-40B4-BE49-F238E27FC236}">
                <a16:creationId xmlns:a16="http://schemas.microsoft.com/office/drawing/2014/main" id="{2EEEF2FD-9F5D-D219-7230-821294D66B22}"/>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8" name="Rectangle 37">
            <a:extLst>
              <a:ext uri="{FF2B5EF4-FFF2-40B4-BE49-F238E27FC236}">
                <a16:creationId xmlns:a16="http://schemas.microsoft.com/office/drawing/2014/main" id="{124107C0-F429-6F98-E667-5EF353184C45}"/>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2697055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dissolve">
                                      <p:cBhvr>
                                        <p:cTn id="7"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CC342-8DF8-BDF0-1924-E41D7DF9C6B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20A0E74-8C3F-627C-BD21-1E20C3B05D0C}"/>
              </a:ext>
            </a:extLst>
          </p:cNvPr>
          <p:cNvSpPr>
            <a:spLocks noGrp="1"/>
          </p:cNvSpPr>
          <p:nvPr>
            <p:ph type="title" sz="quarter"/>
          </p:nvPr>
        </p:nvSpPr>
        <p:spPr/>
        <p:txBody>
          <a:bodyPr lIns="91440" tIns="45720" rIns="91440" bIns="45720" anchor="t"/>
          <a:lstStyle/>
          <a:p>
            <a:r>
              <a:rPr lang="en-US" b="1" spc="-25">
                <a:solidFill>
                  <a:srgbClr val="00C27A"/>
                </a:solidFill>
                <a:latin typeface="Segoe UI" pitchFamily="34" charset="0"/>
                <a:ea typeface="Lato"/>
                <a:cs typeface="Lato"/>
              </a:rPr>
              <a:t>Example</a:t>
            </a:r>
            <a:r>
              <a:rPr lang="en-US" b="1" spc="-25">
                <a:latin typeface="Segoe UI" pitchFamily="34" charset="0"/>
                <a:ea typeface="Lato"/>
                <a:cs typeface="Lato"/>
              </a:rPr>
              <a:t> – what does good look like</a:t>
            </a:r>
          </a:p>
        </p:txBody>
      </p:sp>
      <p:sp>
        <p:nvSpPr>
          <p:cNvPr id="52" name="TextBox 51">
            <a:extLst>
              <a:ext uri="{FF2B5EF4-FFF2-40B4-BE49-F238E27FC236}">
                <a16:creationId xmlns:a16="http://schemas.microsoft.com/office/drawing/2014/main" id="{466EBBE8-6ACD-D149-07D4-52C146DAF210}"/>
              </a:ext>
            </a:extLst>
          </p:cNvPr>
          <p:cNvSpPr txBox="1"/>
          <p:nvPr/>
        </p:nvSpPr>
        <p:spPr>
          <a:xfrm>
            <a:off x="563253" y="927322"/>
            <a:ext cx="678184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spc="-10">
                <a:latin typeface="Segoe UI" pitchFamily="34" charset="0"/>
                <a:ea typeface="Lato" panose="020F0502020204030203" pitchFamily="34" charset="0"/>
                <a:cs typeface="Lato" panose="020F0502020204030203" pitchFamily="34" charset="0"/>
              </a:rPr>
              <a:t>Role: Head of Digital Solutions &amp; Data</a:t>
            </a:r>
          </a:p>
        </p:txBody>
      </p:sp>
      <p:graphicFrame>
        <p:nvGraphicFramePr>
          <p:cNvPr id="48" name="Google Shape;302;p6">
            <a:extLst>
              <a:ext uri="{FF2B5EF4-FFF2-40B4-BE49-F238E27FC236}">
                <a16:creationId xmlns:a16="http://schemas.microsoft.com/office/drawing/2014/main" id="{34DBC78B-AA03-D24E-61CC-4C7B4A181078}"/>
              </a:ext>
            </a:extLst>
          </p:cNvPr>
          <p:cNvGraphicFramePr/>
          <p:nvPr>
            <p:extLst>
              <p:ext uri="{D42A27DB-BD31-4B8C-83A1-F6EECF244321}">
                <p14:modId xmlns:p14="http://schemas.microsoft.com/office/powerpoint/2010/main" val="751151226"/>
              </p:ext>
            </p:extLst>
          </p:nvPr>
        </p:nvGraphicFramePr>
        <p:xfrm>
          <a:off x="726539" y="1241976"/>
          <a:ext cx="10917274" cy="5078752"/>
        </p:xfrm>
        <a:graphic>
          <a:graphicData uri="http://schemas.openxmlformats.org/drawingml/2006/table">
            <a:tbl>
              <a:tblPr firstRow="1" bandRow="1">
                <a:noFill/>
              </a:tblPr>
              <a:tblGrid>
                <a:gridCol w="265252">
                  <a:extLst>
                    <a:ext uri="{9D8B030D-6E8A-4147-A177-3AD203B41FA5}">
                      <a16:colId xmlns:a16="http://schemas.microsoft.com/office/drawing/2014/main" val="20000"/>
                    </a:ext>
                  </a:extLst>
                </a:gridCol>
                <a:gridCol w="577843">
                  <a:extLst>
                    <a:ext uri="{9D8B030D-6E8A-4147-A177-3AD203B41FA5}">
                      <a16:colId xmlns:a16="http://schemas.microsoft.com/office/drawing/2014/main" val="20001"/>
                    </a:ext>
                  </a:extLst>
                </a:gridCol>
                <a:gridCol w="2216994">
                  <a:extLst>
                    <a:ext uri="{9D8B030D-6E8A-4147-A177-3AD203B41FA5}">
                      <a16:colId xmlns:a16="http://schemas.microsoft.com/office/drawing/2014/main" val="20002"/>
                    </a:ext>
                  </a:extLst>
                </a:gridCol>
                <a:gridCol w="7857185">
                  <a:extLst>
                    <a:ext uri="{9D8B030D-6E8A-4147-A177-3AD203B41FA5}">
                      <a16:colId xmlns:a16="http://schemas.microsoft.com/office/drawing/2014/main" val="3624379767"/>
                    </a:ext>
                  </a:extLst>
                </a:gridCol>
              </a:tblGrid>
              <a:tr h="383942">
                <a:tc>
                  <a:txBody>
                    <a:bodyPr/>
                    <a:lstStyle/>
                    <a:p>
                      <a:pPr marL="0" marR="0" lvl="0" indent="0" algn="l" rtl="0">
                        <a:lnSpc>
                          <a:spcPct val="100000"/>
                        </a:lnSpc>
                        <a:spcBef>
                          <a:spcPts val="0"/>
                        </a:spcBef>
                        <a:spcAft>
                          <a:spcPts val="0"/>
                        </a:spcAft>
                        <a:buClr>
                          <a:srgbClr val="BA0C2F"/>
                        </a:buClr>
                        <a:buSzPts val="2400"/>
                        <a:buFont typeface="Lato"/>
                        <a:buNone/>
                      </a:pPr>
                      <a:r>
                        <a:rPr lang="en-US" sz="1600" b="1" u="none" strike="noStrike" cap="none" dirty="0">
                          <a:solidFill>
                            <a:schemeClr val="accent1"/>
                          </a:solidFill>
                          <a:latin typeface="Arial" pitchFamily="34" charset="0"/>
                          <a:ea typeface="Lato" panose="020F0502020204030203" pitchFamily="34" charset="0"/>
                          <a:cs typeface="Lato" panose="020F0502020204030203" pitchFamily="34" charset="0"/>
                          <a:sym typeface="Lato"/>
                        </a:rPr>
                        <a:t>#</a:t>
                      </a:r>
                      <a:endParaRPr sz="1050" b="1" dirty="0">
                        <a:solidFill>
                          <a:schemeClr val="accent1"/>
                        </a:solidFill>
                        <a:latin typeface="Arial" pitchFamily="34" charset="0"/>
                        <a:ea typeface="Lato" panose="020F0502020204030203" pitchFamily="34" charset="0"/>
                        <a:cs typeface="Lato" panose="020F0502020204030203" pitchFamily="34" charset="0"/>
                      </a:endParaRPr>
                    </a:p>
                  </a:txBody>
                  <a:tcPr marL="23400" marR="23400" marT="72000" marB="72000" anchor="ctr">
                    <a:lnL w="9525" cap="flat" cmpd="sng">
                      <a:solidFill>
                        <a:srgbClr val="1D1D1D">
                          <a:alpha val="0"/>
                        </a:srgbClr>
                      </a:solidFill>
                      <a:prstDash val="solid"/>
                      <a:round/>
                      <a:headEnd type="none" w="sm" len="sm"/>
                      <a:tailEnd type="none" w="sm" len="sm"/>
                    </a:lnL>
                    <a:lnR w="9525" cap="flat" cmpd="sng">
                      <a:solidFill>
                        <a:srgbClr val="1D1D1D">
                          <a:alpha val="0"/>
                        </a:srgbClr>
                      </a:solidFill>
                      <a:prstDash val="solid"/>
                      <a:round/>
                      <a:headEnd type="none" w="sm" len="sm"/>
                      <a:tailEnd type="none" w="sm" len="sm"/>
                    </a:lnR>
                    <a:lnT w="9525" cap="flat" cmpd="sng">
                      <a:solidFill>
                        <a:srgbClr val="1D1D1D">
                          <a:alpha val="0"/>
                        </a:srgbClr>
                      </a:solidFill>
                      <a:prstDash val="solid"/>
                      <a:round/>
                      <a:headEnd type="none" w="sm" len="sm"/>
                      <a:tailEnd type="none" w="sm" len="sm"/>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BA0C2F"/>
                        </a:buClr>
                        <a:buSzPts val="2400"/>
                        <a:buFont typeface="Lato"/>
                        <a:buNone/>
                      </a:pPr>
                      <a:r>
                        <a:rPr lang="en-US" sz="1600" b="1" u="none" strike="noStrike" cap="none" dirty="0" err="1">
                          <a:solidFill>
                            <a:schemeClr val="accent1"/>
                          </a:solidFill>
                          <a:latin typeface="Arial" pitchFamily="34" charset="0"/>
                          <a:ea typeface="Lato" panose="020F0502020204030203" pitchFamily="34" charset="0"/>
                          <a:cs typeface="Lato" panose="020F0502020204030203" pitchFamily="34" charset="0"/>
                          <a:sym typeface="Lato"/>
                        </a:rPr>
                        <a:t>Wt</a:t>
                      </a:r>
                      <a:r>
                        <a:rPr lang="en-US" sz="1600" b="1" u="none" strike="noStrike" cap="none" dirty="0">
                          <a:solidFill>
                            <a:schemeClr val="accent1"/>
                          </a:solidFill>
                          <a:latin typeface="Arial" pitchFamily="34" charset="0"/>
                          <a:ea typeface="Lato" panose="020F0502020204030203" pitchFamily="34" charset="0"/>
                          <a:cs typeface="Lato" panose="020F0502020204030203" pitchFamily="34" charset="0"/>
                          <a:sym typeface="Lato"/>
                        </a:rPr>
                        <a:t>%</a:t>
                      </a:r>
                      <a:endParaRPr lang="en-US" sz="1050" b="1" dirty="0">
                        <a:solidFill>
                          <a:schemeClr val="accent1"/>
                        </a:solidFill>
                        <a:latin typeface="Arial" pitchFamily="34" charset="0"/>
                        <a:ea typeface="Lato" panose="020F0502020204030203" pitchFamily="34" charset="0"/>
                        <a:cs typeface="Lato" panose="020F0502020204030203" pitchFamily="34" charset="0"/>
                      </a:endParaRPr>
                    </a:p>
                  </a:txBody>
                  <a:tcPr marL="23400" marR="23400" marT="72000" marB="72000" anchor="ctr">
                    <a:lnL w="9525" cap="flat" cmpd="sng">
                      <a:solidFill>
                        <a:srgbClr val="1D1D1D">
                          <a:alpha val="0"/>
                        </a:srgbClr>
                      </a:solidFill>
                      <a:prstDash val="solid"/>
                      <a:round/>
                      <a:headEnd type="none" w="sm" len="sm"/>
                      <a:tailEnd type="none" w="sm" len="sm"/>
                    </a:lnL>
                    <a:lnR w="9525" cap="flat" cmpd="sng">
                      <a:solidFill>
                        <a:srgbClr val="1D1D1D">
                          <a:alpha val="0"/>
                        </a:srgbClr>
                      </a:solidFill>
                      <a:prstDash val="solid"/>
                      <a:round/>
                      <a:headEnd type="none" w="sm" len="sm"/>
                      <a:tailEnd type="none" w="sm" len="sm"/>
                    </a:lnR>
                    <a:lnT w="9525" cap="flat" cmpd="sng">
                      <a:solidFill>
                        <a:srgbClr val="1D1D1D">
                          <a:alpha val="0"/>
                        </a:srgbClr>
                      </a:solidFill>
                      <a:prstDash val="solid"/>
                      <a:round/>
                      <a:headEnd type="none" w="sm" len="sm"/>
                      <a:tailEnd type="none" w="sm" len="sm"/>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BA0C2F"/>
                        </a:buClr>
                        <a:buSzPts val="2400"/>
                        <a:buFont typeface="Lato"/>
                        <a:buNone/>
                      </a:pPr>
                      <a:r>
                        <a:rPr lang="en-US" sz="1600" b="1" u="none" strike="noStrike" cap="none" dirty="0">
                          <a:solidFill>
                            <a:schemeClr val="accent1"/>
                          </a:solidFill>
                          <a:latin typeface="Arial" pitchFamily="34" charset="0"/>
                          <a:ea typeface="Lato" panose="020F0502020204030203" pitchFamily="34" charset="0"/>
                          <a:cs typeface="Lato" panose="020F0502020204030203" pitchFamily="34" charset="0"/>
                          <a:sym typeface="Lato"/>
                        </a:rPr>
                        <a:t>Outcome</a:t>
                      </a:r>
                      <a:endParaRPr lang="en-US" sz="1050" b="1" dirty="0">
                        <a:solidFill>
                          <a:schemeClr val="accent1"/>
                        </a:solidFill>
                        <a:latin typeface="Arial" pitchFamily="34" charset="0"/>
                        <a:ea typeface="Lato" panose="020F0502020204030203" pitchFamily="34" charset="0"/>
                        <a:cs typeface="Lato" panose="020F0502020204030203" pitchFamily="34" charset="0"/>
                      </a:endParaRPr>
                    </a:p>
                  </a:txBody>
                  <a:tcPr marL="23400" marR="23400" marT="72000" marB="7200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9525" cap="flat" cmpd="sng">
                      <a:solidFill>
                        <a:srgbClr val="1D1D1D">
                          <a:alpha val="0"/>
                        </a:srgbClr>
                      </a:solidFill>
                      <a:prstDash val="solid"/>
                      <a:round/>
                      <a:headEnd type="none" w="sm" len="sm"/>
                      <a:tailEnd type="none" w="sm" len="sm"/>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BA0C2F"/>
                        </a:buClr>
                        <a:buSzPts val="2400"/>
                        <a:buFont typeface="Lato"/>
                        <a:buNone/>
                      </a:pPr>
                      <a:r>
                        <a:rPr lang="en-US" sz="1600" b="1" u="none" strike="noStrike" kern="1200" cap="none" dirty="0">
                          <a:solidFill>
                            <a:schemeClr val="accent1"/>
                          </a:solidFill>
                          <a:latin typeface="Arial" pitchFamily="34" charset="0"/>
                          <a:ea typeface="Lato" panose="020F0502020204030203" pitchFamily="34" charset="0"/>
                          <a:cs typeface="Lato" panose="020F0502020204030203" pitchFamily="34" charset="0"/>
                        </a:rPr>
                        <a:t>Priority Work</a:t>
                      </a:r>
                    </a:p>
                  </a:txBody>
                  <a:tcPr marL="23400" marR="23400" marT="72000" marB="7200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9525" cap="flat" cmpd="sng">
                      <a:solidFill>
                        <a:srgbClr val="1D1D1D">
                          <a:alpha val="0"/>
                        </a:srgbClr>
                      </a:solidFill>
                      <a:prstDash val="solid"/>
                      <a:round/>
                      <a:headEnd type="none" w="sm" len="sm"/>
                      <a:tailEnd type="none" w="sm" len="sm"/>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0"/>
                  </a:ext>
                </a:extLst>
              </a:tr>
              <a:tr h="1124752">
                <a:tc>
                  <a:txBody>
                    <a:bodyPr/>
                    <a:lstStyle/>
                    <a:p>
                      <a:r>
                        <a:rPr lang="en-US" sz="1100">
                          <a:latin typeface="Arial" pitchFamily="34" charset="0"/>
                          <a:ea typeface="Lato" panose="020F0502020204030203" pitchFamily="34" charset="0"/>
                          <a:cs typeface="Lato" panose="020F0502020204030203" pitchFamily="34" charset="0"/>
                        </a:rPr>
                        <a:t>1</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r>
                        <a:rPr lang="en-US" sz="1100">
                          <a:latin typeface="Arial" pitchFamily="34" charset="0"/>
                          <a:ea typeface="Lato" panose="020F0502020204030203" pitchFamily="34" charset="0"/>
                          <a:cs typeface="Lato" panose="020F0502020204030203" pitchFamily="34" charset="0"/>
                        </a:rPr>
                        <a:t>30%</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dirty="0">
                          <a:solidFill>
                            <a:srgbClr val="1D1D1D"/>
                          </a:solidFill>
                          <a:latin typeface="Arial" pitchFamily="34" charset="0"/>
                          <a:ea typeface="Lato" panose="020F0502020204030203" pitchFamily="34" charset="0"/>
                          <a:cs typeface="Lato" panose="020F0502020204030203" pitchFamily="34" charset="0"/>
                        </a:rPr>
                        <a:t>Continuous Improvement of Infrastructure</a:t>
                      </a:r>
                      <a:endParaRPr kumimoji="0" lang="en-US" sz="1200" b="1" i="0" u="none" strike="noStrike" kern="1200" cap="none" spc="0" normalizeH="0" baseline="0" noProof="0" dirty="0">
                        <a:ln>
                          <a:noFill/>
                        </a:ln>
                        <a:solidFill>
                          <a:srgbClr val="1D1D1D"/>
                        </a:solidFill>
                        <a:effectLst/>
                        <a:uLnTx/>
                        <a:uFillTx/>
                        <a:latin typeface="Arial" pitchFamily="34" charset="0"/>
                        <a:ea typeface="Lato" panose="020F0502020204030203" pitchFamily="34" charset="0"/>
                        <a:cs typeface="Lato" panose="020F0502020204030203" pitchFamily="34" charset="0"/>
                      </a:endParaRPr>
                    </a:p>
                  </a:txBody>
                  <a:tcPr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a:spcAft>
                          <a:spcPts val="600"/>
                        </a:spcAft>
                      </a:pPr>
                      <a:r>
                        <a:rPr lang="en-US" sz="1100" b="1" dirty="0"/>
                        <a:t>What: </a:t>
                      </a:r>
                      <a:r>
                        <a:rPr lang="en-US" sz="1100" b="0" dirty="0"/>
                        <a:t>Strengthen digital/data infrastructure so </a:t>
                      </a:r>
                      <a:r>
                        <a:rPr lang="en-US" sz="1100" b="0" dirty="0" err="1"/>
                        <a:t>SuperApps</a:t>
                      </a:r>
                      <a:r>
                        <a:rPr lang="en-US" sz="1100" b="0" dirty="0"/>
                        <a:t>, payments, and vertical platforms run reliably across five markets.</a:t>
                      </a:r>
                      <a:br>
                        <a:rPr lang="en-US" sz="1100" b="0" dirty="0"/>
                      </a:br>
                      <a:r>
                        <a:rPr lang="en-US" sz="1100" b="1" dirty="0"/>
                        <a:t>How: </a:t>
                      </a:r>
                      <a:r>
                        <a:rPr lang="en-US" sz="1100" b="0" dirty="0"/>
                        <a:t>Modernize Tier‑1 stacks; deploy SRE/AIOps, SIEM/SOAR, and standardized incident/change playbooks; enforce data residency, payments, and privacy controls; automate capacity and release validation.</a:t>
                      </a:r>
                      <a:br>
                        <a:rPr lang="en-US" sz="1100" b="0" dirty="0"/>
                      </a:br>
                      <a:r>
                        <a:rPr lang="en-US" sz="1100" b="1" dirty="0"/>
                        <a:t>How much: </a:t>
                      </a:r>
                      <a:r>
                        <a:rPr lang="en-US" sz="1100" b="0" dirty="0"/>
                        <a:t>Full compliance on audited systems; reduce unplanned downtime by 50%.</a:t>
                      </a:r>
                      <a:br>
                        <a:rPr lang="en-US" sz="1100" b="0" dirty="0"/>
                      </a:br>
                      <a:r>
                        <a:rPr lang="en-US" sz="1100" b="1" dirty="0"/>
                        <a:t>By when: </a:t>
                      </a:r>
                      <a:r>
                        <a:rPr lang="en-US" sz="1100" b="0" dirty="0"/>
                        <a:t>31 Dec 2027.</a:t>
                      </a:r>
                    </a:p>
                  </a:txBody>
                  <a:tcPr marT="91440" marB="9144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1"/>
                  </a:ext>
                </a:extLst>
              </a:tr>
              <a:tr h="1010818">
                <a:tc>
                  <a:txBody>
                    <a:bodyPr/>
                    <a:lstStyle/>
                    <a:p>
                      <a:r>
                        <a:rPr lang="en-US" sz="1100">
                          <a:latin typeface="Arial" pitchFamily="34" charset="0"/>
                          <a:ea typeface="Lato" panose="020F0502020204030203" pitchFamily="34" charset="0"/>
                          <a:cs typeface="Lato" panose="020F0502020204030203" pitchFamily="34" charset="0"/>
                        </a:rPr>
                        <a:t>2</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r>
                        <a:rPr lang="en-US" sz="1100">
                          <a:latin typeface="Arial" pitchFamily="34" charset="0"/>
                          <a:ea typeface="Lato" panose="020F0502020204030203" pitchFamily="34" charset="0"/>
                          <a:cs typeface="Lato" panose="020F0502020204030203" pitchFamily="34" charset="0"/>
                        </a:rPr>
                        <a:t>35%</a:t>
                      </a:r>
                    </a:p>
                  </a:txBody>
                  <a:tcPr marL="25977" marR="25977" marT="14288" marB="14288"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rPr>
                        <a:t>Digital Transformation of Core Processes</a:t>
                      </a:r>
                    </a:p>
                  </a:txBody>
                  <a:tcPr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a:spcAft>
                          <a:spcPts val="600"/>
                        </a:spcAft>
                      </a:pPr>
                      <a:r>
                        <a:rPr lang="en-US" sz="1100" b="1" dirty="0"/>
                        <a:t>What: </a:t>
                      </a:r>
                      <a:r>
                        <a:rPr lang="en-US" sz="1100" b="0" dirty="0"/>
                        <a:t>Reengineer core workflows (onboarding, payments, merchant/agent networks, clinical flows) to remove manual handoffs and speed delivery.</a:t>
                      </a:r>
                      <a:br>
                        <a:rPr lang="en-US" sz="1100" b="0" dirty="0"/>
                      </a:br>
                      <a:r>
                        <a:rPr lang="en-US" sz="1100" b="1" dirty="0"/>
                        <a:t>How: </a:t>
                      </a:r>
                      <a:r>
                        <a:rPr lang="en-US" sz="1100" b="0" dirty="0"/>
                        <a:t>Implement API-first, event-driven integrations, RPA for repeatable tasks, standardized data contracts, and automated reconciliation and observability.</a:t>
                      </a:r>
                      <a:br>
                        <a:rPr lang="en-US" sz="1100" b="0" dirty="0"/>
                      </a:br>
                      <a:r>
                        <a:rPr lang="en-US" sz="1100" b="1" dirty="0"/>
                        <a:t>How much: </a:t>
                      </a:r>
                      <a:r>
                        <a:rPr lang="en-US" sz="1100" b="0" dirty="0"/>
                        <a:t>$100M+ efficiency gains; digitize ≥70% of critical workflows.</a:t>
                      </a:r>
                      <a:br>
                        <a:rPr lang="en-US" sz="1100" b="0" dirty="0"/>
                      </a:br>
                      <a:r>
                        <a:rPr lang="en-US" sz="1100" b="1" dirty="0"/>
                        <a:t>By when: </a:t>
                      </a:r>
                      <a:r>
                        <a:rPr lang="en-US" sz="1100" b="0" dirty="0"/>
                        <a:t>31 Dec 2028.</a:t>
                      </a:r>
                    </a:p>
                  </a:txBody>
                  <a:tcPr marT="91440" marB="91440"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062063259"/>
                  </a:ext>
                </a:extLst>
              </a:tr>
              <a:tr h="888078">
                <a:tc>
                  <a:txBody>
                    <a:bodyPr/>
                    <a:lstStyle/>
                    <a:p>
                      <a:r>
                        <a:rPr lang="en-US" sz="1100">
                          <a:latin typeface="Arial" pitchFamily="34" charset="0"/>
                          <a:ea typeface="Lato" panose="020F0502020204030203" pitchFamily="34" charset="0"/>
                          <a:cs typeface="Lato" panose="020F0502020204030203" pitchFamily="34" charset="0"/>
                        </a:rPr>
                        <a:t>3</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r>
                        <a:rPr lang="en-US" sz="1100">
                          <a:latin typeface="Arial" pitchFamily="34" charset="0"/>
                          <a:ea typeface="Lato" panose="020F0502020204030203" pitchFamily="34" charset="0"/>
                          <a:cs typeface="Lato" panose="020F0502020204030203" pitchFamily="34" charset="0"/>
                        </a:rPr>
                        <a:t>15%</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rPr>
                        <a:t>Digital Innovation for New Products, Services, and Revenue Streams</a:t>
                      </a:r>
                    </a:p>
                  </a:txBody>
                  <a:tcPr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a:spcAft>
                          <a:spcPts val="600"/>
                        </a:spcAft>
                      </a:pPr>
                      <a:r>
                        <a:rPr lang="en-US" sz="1100" b="1" dirty="0"/>
                        <a:t>What: </a:t>
                      </a:r>
                      <a:r>
                        <a:rPr lang="en-US" sz="1100" b="0" dirty="0"/>
                        <a:t>Productize AI1440 and data capabilities into revenue-generating products across fintech, entertainment, healthcare, and education.</a:t>
                      </a:r>
                      <a:br>
                        <a:rPr lang="en-US" sz="1100" b="0" dirty="0"/>
                      </a:br>
                      <a:r>
                        <a:rPr lang="en-US" sz="1100" b="1" dirty="0"/>
                        <a:t>How: </a:t>
                      </a:r>
                      <a:r>
                        <a:rPr lang="en-US" sz="1100" b="0" dirty="0"/>
                        <a:t>Co-design with vertical and country teams, build compliant </a:t>
                      </a:r>
                      <a:r>
                        <a:rPr lang="en-US" sz="1100" b="0" dirty="0" err="1"/>
                        <a:t>MLOps</a:t>
                      </a:r>
                      <a:r>
                        <a:rPr lang="en-US" sz="1100" b="0" dirty="0"/>
                        <a:t> and data pipelines, localize LLMs, and scale pilots through product management and measurable monetization metrics.</a:t>
                      </a:r>
                      <a:br>
                        <a:rPr lang="en-US" sz="1100" b="0" dirty="0"/>
                      </a:br>
                      <a:r>
                        <a:rPr lang="en-US" sz="1100" b="1" dirty="0"/>
                        <a:t>How much: </a:t>
                      </a:r>
                      <a:r>
                        <a:rPr lang="en-US" sz="1100" b="0" dirty="0"/>
                        <a:t>Enable $50M+ new revenue; launch ≥10 products.</a:t>
                      </a:r>
                      <a:br>
                        <a:rPr lang="en-US" sz="1100" b="0" dirty="0"/>
                      </a:br>
                      <a:r>
                        <a:rPr lang="en-US" sz="1100" b="1" dirty="0"/>
                        <a:t>By when: </a:t>
                      </a:r>
                      <a:r>
                        <a:rPr lang="en-US" sz="1100" b="0" dirty="0"/>
                        <a:t>Revenue by 31 Dec 2028; launches by 31 Dec 2029.</a:t>
                      </a:r>
                    </a:p>
                  </a:txBody>
                  <a:tcPr marT="91440" marB="9144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2"/>
                  </a:ext>
                </a:extLst>
              </a:tr>
              <a:tr h="844862">
                <a:tc>
                  <a:txBody>
                    <a:bodyPr/>
                    <a:lstStyle/>
                    <a:p>
                      <a:r>
                        <a:rPr lang="en-US" sz="1100">
                          <a:latin typeface="Arial" pitchFamily="34" charset="0"/>
                          <a:ea typeface="Lato" panose="020F0502020204030203" pitchFamily="34" charset="0"/>
                          <a:cs typeface="Lato" panose="020F0502020204030203" pitchFamily="34" charset="0"/>
                        </a:rPr>
                        <a:t>4</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r>
                        <a:rPr lang="en-US" sz="1100">
                          <a:latin typeface="Arial" pitchFamily="34" charset="0"/>
                          <a:ea typeface="Lato" panose="020F0502020204030203" pitchFamily="34" charset="0"/>
                          <a:cs typeface="Lato" panose="020F0502020204030203" pitchFamily="34" charset="0"/>
                        </a:rPr>
                        <a:t>20%</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rPr>
                        <a:t>Major Platform &amp; Technology Upgrade</a:t>
                      </a:r>
                    </a:p>
                  </a:txBody>
                  <a:tcPr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a:spcAft>
                          <a:spcPts val="600"/>
                        </a:spcAft>
                      </a:pPr>
                      <a:r>
                        <a:rPr lang="en-US" sz="1100" b="1" dirty="0"/>
                        <a:t>What: </a:t>
                      </a:r>
                      <a:r>
                        <a:rPr lang="en-US" sz="1100" b="0" dirty="0"/>
                        <a:t>Deliver major platform upgrades (</a:t>
                      </a:r>
                      <a:r>
                        <a:rPr lang="en-US" sz="1100" b="0" dirty="0" err="1"/>
                        <a:t>SuperApp</a:t>
                      </a:r>
                      <a:r>
                        <a:rPr lang="en-US" sz="1100" b="0" dirty="0"/>
                        <a:t> core, payments hub, identity, health stores) without disrupting customers or compliance.</a:t>
                      </a:r>
                      <a:br>
                        <a:rPr lang="en-US" sz="1100" b="0" dirty="0"/>
                      </a:br>
                      <a:r>
                        <a:rPr lang="en-US" sz="1100" b="1" dirty="0"/>
                        <a:t>How: </a:t>
                      </a:r>
                      <a:r>
                        <a:rPr lang="en-US" sz="1100" b="0" dirty="0"/>
                        <a:t>Use phased migrations, canary releases, validation testing, and disciplined change governance balancing central standards and local needs.</a:t>
                      </a:r>
                      <a:br>
                        <a:rPr lang="en-US" sz="1100" b="0" dirty="0"/>
                      </a:br>
                      <a:r>
                        <a:rPr lang="en-US" sz="1100" b="1" dirty="0"/>
                        <a:t>How much: </a:t>
                      </a:r>
                      <a:r>
                        <a:rPr lang="en-US" sz="1100" b="0" dirty="0"/>
                        <a:t>Complete 3 major upgrades with ≥95% on-time/on-budget delivery and &lt;5% transition disruption.</a:t>
                      </a:r>
                      <a:br>
                        <a:rPr lang="en-US" sz="1100" b="0" dirty="0"/>
                      </a:br>
                      <a:r>
                        <a:rPr lang="en-US" sz="1100" b="1" dirty="0"/>
                        <a:t>By when: </a:t>
                      </a:r>
                      <a:r>
                        <a:rPr lang="en-US" sz="1100" b="0" dirty="0"/>
                        <a:t>31 Dec 2028.</a:t>
                      </a:r>
                    </a:p>
                  </a:txBody>
                  <a:tcPr marT="91440" marB="9144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aphicFrame>
        <p:nvGraphicFramePr>
          <p:cNvPr id="49" name="Table 48">
            <a:extLst>
              <a:ext uri="{FF2B5EF4-FFF2-40B4-BE49-F238E27FC236}">
                <a16:creationId xmlns:a16="http://schemas.microsoft.com/office/drawing/2014/main" id="{066E5C8F-8A66-4F87-CFC6-15F1073D4823}"/>
              </a:ext>
            </a:extLst>
          </p:cNvPr>
          <p:cNvGraphicFramePr>
            <a:graphicFrameLocks noGrp="1"/>
          </p:cNvGraphicFramePr>
          <p:nvPr/>
        </p:nvGraphicFramePr>
        <p:xfrm>
          <a:off x="3781256" y="1624817"/>
          <a:ext cx="7857185" cy="4695911"/>
        </p:xfrm>
        <a:graphic>
          <a:graphicData uri="http://schemas.openxmlformats.org/drawingml/2006/table">
            <a:tbl>
              <a:tblPr firstRow="1" bandRow="1">
                <a:noFill/>
              </a:tblPr>
              <a:tblGrid>
                <a:gridCol w="7857185">
                  <a:extLst>
                    <a:ext uri="{9D8B030D-6E8A-4147-A177-3AD203B41FA5}">
                      <a16:colId xmlns:a16="http://schemas.microsoft.com/office/drawing/2014/main" val="2441990487"/>
                    </a:ext>
                  </a:extLst>
                </a:gridCol>
              </a:tblGrid>
              <a:tr h="1127963">
                <a:tc>
                  <a:txBody>
                    <a:bodyPr/>
                    <a:lstStyle/>
                    <a:p>
                      <a:pPr>
                        <a:spcAft>
                          <a:spcPts val="600"/>
                        </a:spcAft>
                      </a:pPr>
                      <a:r>
                        <a:rPr lang="en-US" sz="1200" b="0" i="0" dirty="0">
                          <a:solidFill>
                            <a:schemeClr val="tx1"/>
                          </a:solidFill>
                          <a:effectLst/>
                          <a:latin typeface="Arial" pitchFamily="34" charset="0"/>
                          <a:ea typeface="Lato" panose="020F0502020204030203" pitchFamily="34" charset="0"/>
                          <a:cs typeface="Lato" panose="020F0502020204030203" pitchFamily="34" charset="0"/>
                        </a:rPr>
                        <a:t>Ensure </a:t>
                      </a:r>
                      <a:r>
                        <a:rPr lang="en-US" sz="1200" b="0" i="0" dirty="0" err="1">
                          <a:solidFill>
                            <a:schemeClr val="tx1"/>
                          </a:solidFill>
                          <a:effectLst/>
                          <a:latin typeface="Arial" pitchFamily="34" charset="0"/>
                          <a:ea typeface="Lato" panose="020F0502020204030203" pitchFamily="34" charset="0"/>
                          <a:cs typeface="Lato" panose="020F0502020204030203" pitchFamily="34" charset="0"/>
                        </a:rPr>
                        <a:t>SuperApps</a:t>
                      </a:r>
                      <a:r>
                        <a:rPr lang="en-US" sz="1200" b="0" i="0" dirty="0">
                          <a:solidFill>
                            <a:schemeClr val="tx1"/>
                          </a:solidFill>
                          <a:effectLst/>
                          <a:latin typeface="Arial" pitchFamily="34" charset="0"/>
                          <a:ea typeface="Lato" panose="020F0502020204030203" pitchFamily="34" charset="0"/>
                          <a:cs typeface="Lato" panose="020F0502020204030203" pitchFamily="34" charset="0"/>
                        </a:rPr>
                        <a:t>, payments, and vertical platforms run reliably across five markets by strengthening digital and data infrastructure. Modernize Tier‑1 stacks and deploy SRE/AIOps, SIEM/SOAR, and standardized incident/change playbooks while enforcing data residency, payments, and privacy controls and automating capacity and release validation. Achieve full compliance on audited systems and reduce unplanned downtime by 50% by 31 Dec 2027.</a:t>
                      </a:r>
                      <a:endParaRPr lang="en-US" sz="1200" dirty="0">
                        <a:latin typeface="Arial" pitchFamily="34" charset="0"/>
                        <a:ea typeface="Lato" panose="020F0502020204030203" pitchFamily="34" charset="0"/>
                        <a:cs typeface="Lato" panose="020F0502020204030203" pitchFamily="34" charset="0"/>
                      </a:endParaRPr>
                    </a:p>
                  </a:txBody>
                  <a:tcPr marT="91440" marB="9144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67545765"/>
                  </a:ext>
                </a:extLst>
              </a:tr>
              <a:tr h="1194555">
                <a:tc>
                  <a:txBody>
                    <a:bodyPr/>
                    <a:lstStyle/>
                    <a:p>
                      <a:pPr>
                        <a:spcAft>
                          <a:spcPts val="600"/>
                        </a:spcAft>
                      </a:pPr>
                      <a:r>
                        <a:rPr lang="en-US" sz="1200" b="0" i="0">
                          <a:solidFill>
                            <a:schemeClr val="tx1"/>
                          </a:solidFill>
                          <a:effectLst/>
                          <a:latin typeface="Arial" pitchFamily="34" charset="0"/>
                          <a:ea typeface="Lato" panose="020F0502020204030203" pitchFamily="34" charset="0"/>
                          <a:cs typeface="Lato" panose="020F0502020204030203" pitchFamily="34" charset="0"/>
                        </a:rPr>
                        <a:t>Reengineer core workflows—onboarding, payments, merchant/agent networks, and clinical flows—to remove manual handoffs and accelerate delivery. Implement API-first, event-driven integrations, RPA for repeatable tasks, standardized data contracts, and automated reconciliation and observability to drive change. Deliver $100M+ in efficiency gains and digitize ≥70% of critical workflows by 31 Dec 2028.</a:t>
                      </a:r>
                      <a:endParaRPr lang="en-US" sz="1200">
                        <a:latin typeface="Arial" pitchFamily="34" charset="0"/>
                        <a:ea typeface="Lato" panose="020F0502020204030203" pitchFamily="34" charset="0"/>
                        <a:cs typeface="Lato" panose="020F0502020204030203" pitchFamily="34" charset="0"/>
                      </a:endParaRPr>
                    </a:p>
                  </a:txBody>
                  <a:tcPr marT="91440" marB="91440"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07236152"/>
                  </a:ext>
                </a:extLst>
              </a:tr>
              <a:tr h="1194555">
                <a:tc>
                  <a:txBody>
                    <a:bodyPr/>
                    <a:lstStyle/>
                    <a:p>
                      <a:pPr>
                        <a:spcAft>
                          <a:spcPts val="600"/>
                        </a:spcAft>
                      </a:pPr>
                      <a:r>
                        <a:rPr lang="en-US" sz="1200" b="0" i="0">
                          <a:solidFill>
                            <a:schemeClr val="tx1"/>
                          </a:solidFill>
                          <a:effectLst/>
                          <a:latin typeface="Arial" pitchFamily="34" charset="0"/>
                          <a:ea typeface="Lato" panose="020F0502020204030203" pitchFamily="34" charset="0"/>
                          <a:cs typeface="Lato" panose="020F0502020204030203" pitchFamily="34" charset="0"/>
                        </a:rPr>
                        <a:t>Productize AI1440 and data capabilities into revenue-generating products across fintech, entertainment, healthcare, and education by co-designing with vertical and country teams, building compliant </a:t>
                      </a:r>
                      <a:r>
                        <a:rPr lang="en-US" sz="1200" b="0" i="0" err="1">
                          <a:solidFill>
                            <a:schemeClr val="tx1"/>
                          </a:solidFill>
                          <a:effectLst/>
                          <a:latin typeface="Arial" pitchFamily="34" charset="0"/>
                          <a:ea typeface="Lato" panose="020F0502020204030203" pitchFamily="34" charset="0"/>
                          <a:cs typeface="Lato" panose="020F0502020204030203" pitchFamily="34" charset="0"/>
                        </a:rPr>
                        <a:t>MLOps</a:t>
                      </a:r>
                      <a:r>
                        <a:rPr lang="en-US" sz="1200" b="0" i="0">
                          <a:solidFill>
                            <a:schemeClr val="tx1"/>
                          </a:solidFill>
                          <a:effectLst/>
                          <a:latin typeface="Arial" pitchFamily="34" charset="0"/>
                          <a:ea typeface="Lato" panose="020F0502020204030203" pitchFamily="34" charset="0"/>
                          <a:cs typeface="Lato" panose="020F0502020204030203" pitchFamily="34" charset="0"/>
                        </a:rPr>
                        <a:t> and data pipelines, localizing LLMs, and scaling pilots through product management and monetization metrics. Enable $50M+ of new revenue and launch ≥10 products, with revenue by 31 Dec 2028 and launches by 31 Dec 2029.</a:t>
                      </a:r>
                      <a:endParaRPr lang="en-US" sz="1200">
                        <a:latin typeface="Arial" pitchFamily="34" charset="0"/>
                        <a:ea typeface="Lato" panose="020F0502020204030203" pitchFamily="34" charset="0"/>
                        <a:cs typeface="Lato" panose="020F0502020204030203" pitchFamily="34" charset="0"/>
                      </a:endParaRPr>
                    </a:p>
                  </a:txBody>
                  <a:tcPr marT="91440" marB="9144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28265736"/>
                  </a:ext>
                </a:extLst>
              </a:tr>
              <a:tr h="1178838">
                <a:tc>
                  <a:txBody>
                    <a:bodyPr/>
                    <a:lstStyle/>
                    <a:p>
                      <a:r>
                        <a:rPr lang="en-US" sz="1200" b="0" i="0" dirty="0">
                          <a:solidFill>
                            <a:schemeClr val="tx1"/>
                          </a:solidFill>
                          <a:effectLst/>
                          <a:latin typeface="Arial" pitchFamily="34" charset="0"/>
                          <a:ea typeface="Lato" panose="020F0502020204030203" pitchFamily="34" charset="0"/>
                          <a:cs typeface="Lato" panose="020F0502020204030203" pitchFamily="34" charset="0"/>
                        </a:rPr>
                        <a:t>Deliver major platform upgrades (</a:t>
                      </a:r>
                      <a:r>
                        <a:rPr lang="en-US" sz="1200" b="0" i="0" dirty="0" err="1">
                          <a:solidFill>
                            <a:schemeClr val="tx1"/>
                          </a:solidFill>
                          <a:effectLst/>
                          <a:latin typeface="Arial" pitchFamily="34" charset="0"/>
                          <a:ea typeface="Lato" panose="020F0502020204030203" pitchFamily="34" charset="0"/>
                          <a:cs typeface="Lato" panose="020F0502020204030203" pitchFamily="34" charset="0"/>
                        </a:rPr>
                        <a:t>SuperApp</a:t>
                      </a:r>
                      <a:r>
                        <a:rPr lang="en-US" sz="1200" b="0" i="0" dirty="0">
                          <a:solidFill>
                            <a:schemeClr val="tx1"/>
                          </a:solidFill>
                          <a:effectLst/>
                          <a:latin typeface="Arial" pitchFamily="34" charset="0"/>
                          <a:ea typeface="Lato" panose="020F0502020204030203" pitchFamily="34" charset="0"/>
                          <a:cs typeface="Lato" panose="020F0502020204030203" pitchFamily="34" charset="0"/>
                        </a:rPr>
                        <a:t> core, payments hub, identity, health stores) without disrupting customers or compliance by using phased migrations, canary releases, validation testing, and disciplined change governance that balances central standards with local needs. Complete 3 major upgrades with ≥95% on-time/on-budget delivery and &lt;5% transition disruption by 31 Dec 2028.</a:t>
                      </a:r>
                    </a:p>
                  </a:txBody>
                  <a:tcPr marT="91440" marB="9144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703636"/>
                  </a:ext>
                </a:extLst>
              </a:tr>
            </a:tbl>
          </a:graphicData>
        </a:graphic>
      </p:graphicFrame>
      <p:sp>
        <p:nvSpPr>
          <p:cNvPr id="53" name="SlideNumber">
            <a:extLst>
              <a:ext uri="{FF2B5EF4-FFF2-40B4-BE49-F238E27FC236}">
                <a16:creationId xmlns:a16="http://schemas.microsoft.com/office/drawing/2014/main" id="{154C176F-4CE8-FF78-18E3-D10580BF1EDF}"/>
              </a:ext>
            </a:extLst>
          </p:cNvP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17</a:t>
            </a:fld>
            <a:endParaRPr lang="en-US"/>
          </a:p>
        </p:txBody>
      </p:sp>
      <p:grpSp>
        <p:nvGrpSpPr>
          <p:cNvPr id="4" name="Group 3">
            <a:extLst>
              <a:ext uri="{FF2B5EF4-FFF2-40B4-BE49-F238E27FC236}">
                <a16:creationId xmlns:a16="http://schemas.microsoft.com/office/drawing/2014/main" id="{4F74F77F-C592-25FD-7776-E5DD097434D6}"/>
              </a:ext>
            </a:extLst>
          </p:cNvPr>
          <p:cNvGrpSpPr/>
          <p:nvPr/>
        </p:nvGrpSpPr>
        <p:grpSpPr>
          <a:xfrm>
            <a:off x="10403235" y="201614"/>
            <a:ext cx="410690" cy="410700"/>
            <a:chOff x="3506617" y="2730959"/>
            <a:chExt cx="1591098" cy="1591098"/>
          </a:xfrm>
        </p:grpSpPr>
        <p:sp>
          <p:nvSpPr>
            <p:cNvPr id="5" name="Rectangle: Rounded Corners 39">
              <a:extLst>
                <a:ext uri="{FF2B5EF4-FFF2-40B4-BE49-F238E27FC236}">
                  <a16:creationId xmlns:a16="http://schemas.microsoft.com/office/drawing/2014/main" id="{3795ADBA-B362-998C-EEC2-00DC1595C6E8}"/>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3" name="Rectangle: Rounded Corners 54">
              <a:extLst>
                <a:ext uri="{FF2B5EF4-FFF2-40B4-BE49-F238E27FC236}">
                  <a16:creationId xmlns:a16="http://schemas.microsoft.com/office/drawing/2014/main" id="{6D9CD50B-7AC7-0914-F68E-D07794ECF0C1}"/>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4" name="Freeform 56" descr="Clipboard Partially Checked with solid fill">
              <a:extLst>
                <a:ext uri="{FF2B5EF4-FFF2-40B4-BE49-F238E27FC236}">
                  <a16:creationId xmlns:a16="http://schemas.microsoft.com/office/drawing/2014/main" id="{CBE3C730-2A61-043F-2994-763FE99C4E20}"/>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3"/>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25" name="Group 24">
            <a:extLst>
              <a:ext uri="{FF2B5EF4-FFF2-40B4-BE49-F238E27FC236}">
                <a16:creationId xmlns:a16="http://schemas.microsoft.com/office/drawing/2014/main" id="{189390E2-C45F-785A-BF10-60062DC0A7BD}"/>
              </a:ext>
            </a:extLst>
          </p:cNvPr>
          <p:cNvGrpSpPr/>
          <p:nvPr/>
        </p:nvGrpSpPr>
        <p:grpSpPr>
          <a:xfrm>
            <a:off x="11557682" y="191038"/>
            <a:ext cx="410690" cy="410700"/>
            <a:chOff x="8874309" y="3009260"/>
            <a:chExt cx="1591098" cy="1591098"/>
          </a:xfrm>
        </p:grpSpPr>
        <p:grpSp>
          <p:nvGrpSpPr>
            <p:cNvPr id="26" name="Group 25">
              <a:extLst>
                <a:ext uri="{FF2B5EF4-FFF2-40B4-BE49-F238E27FC236}">
                  <a16:creationId xmlns:a16="http://schemas.microsoft.com/office/drawing/2014/main" id="{99EDD4E1-9C5B-1CF3-43C5-20FFA2940C6C}"/>
                </a:ext>
              </a:extLst>
            </p:cNvPr>
            <p:cNvGrpSpPr/>
            <p:nvPr/>
          </p:nvGrpSpPr>
          <p:grpSpPr>
            <a:xfrm>
              <a:off x="8874309" y="3009260"/>
              <a:ext cx="1591098" cy="1591098"/>
              <a:chOff x="9350370" y="2760976"/>
              <a:chExt cx="1591098" cy="1591098"/>
            </a:xfrm>
          </p:grpSpPr>
          <p:sp>
            <p:nvSpPr>
              <p:cNvPr id="28" name="Rectangle: Rounded Corners 39">
                <a:extLst>
                  <a:ext uri="{FF2B5EF4-FFF2-40B4-BE49-F238E27FC236}">
                    <a16:creationId xmlns:a16="http://schemas.microsoft.com/office/drawing/2014/main" id="{C85EA942-FCE4-30EC-E445-B9FD55A81E10}"/>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9" name="Rectangle: Rounded Corners 54">
                <a:extLst>
                  <a:ext uri="{FF2B5EF4-FFF2-40B4-BE49-F238E27FC236}">
                    <a16:creationId xmlns:a16="http://schemas.microsoft.com/office/drawing/2014/main" id="{534E8E07-BBCF-C0C5-6AE1-6F10E6A5ABDE}"/>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7" name="Picture 51" descr="Map with pin with solid fill">
              <a:extLst>
                <a:ext uri="{FF2B5EF4-FFF2-40B4-BE49-F238E27FC236}">
                  <a16:creationId xmlns:a16="http://schemas.microsoft.com/office/drawing/2014/main" id="{A13E00FC-5BA4-D8C5-C677-149E2E1BF8E6}"/>
                </a:ext>
              </a:extLst>
            </p:cNvPr>
            <p:cNvPicPr>
              <a:picLocks noChangeAspect="1"/>
            </p:cNvPicPr>
            <p:nvPr/>
          </p:nvPicPr>
          <p:blipFill>
            <a:blip r:embed="rId4">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0" name="Group 29">
            <a:extLst>
              <a:ext uri="{FF2B5EF4-FFF2-40B4-BE49-F238E27FC236}">
                <a16:creationId xmlns:a16="http://schemas.microsoft.com/office/drawing/2014/main" id="{F4E2A06F-D0F2-A33C-C246-107C92945A23}"/>
              </a:ext>
            </a:extLst>
          </p:cNvPr>
          <p:cNvGrpSpPr/>
          <p:nvPr/>
        </p:nvGrpSpPr>
        <p:grpSpPr>
          <a:xfrm>
            <a:off x="10997361" y="200955"/>
            <a:ext cx="410690" cy="410700"/>
            <a:chOff x="5303120" y="3009260"/>
            <a:chExt cx="1591098" cy="1591098"/>
          </a:xfrm>
        </p:grpSpPr>
        <p:grpSp>
          <p:nvGrpSpPr>
            <p:cNvPr id="31" name="Group 30">
              <a:extLst>
                <a:ext uri="{FF2B5EF4-FFF2-40B4-BE49-F238E27FC236}">
                  <a16:creationId xmlns:a16="http://schemas.microsoft.com/office/drawing/2014/main" id="{BA40E829-1570-5352-D14D-14B3E52E10D9}"/>
                </a:ext>
              </a:extLst>
            </p:cNvPr>
            <p:cNvGrpSpPr/>
            <p:nvPr/>
          </p:nvGrpSpPr>
          <p:grpSpPr>
            <a:xfrm>
              <a:off x="5303120" y="3009260"/>
              <a:ext cx="1591098" cy="1591098"/>
              <a:chOff x="6428492" y="2760976"/>
              <a:chExt cx="1591098" cy="1591098"/>
            </a:xfrm>
          </p:grpSpPr>
          <p:sp>
            <p:nvSpPr>
              <p:cNvPr id="33" name="Rectangle: Rounded Corners 39">
                <a:extLst>
                  <a:ext uri="{FF2B5EF4-FFF2-40B4-BE49-F238E27FC236}">
                    <a16:creationId xmlns:a16="http://schemas.microsoft.com/office/drawing/2014/main" id="{DB6E77B4-F513-2530-861C-CED23A48D0A7}"/>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4" name="Rectangle: Rounded Corners 54">
                <a:extLst>
                  <a:ext uri="{FF2B5EF4-FFF2-40B4-BE49-F238E27FC236}">
                    <a16:creationId xmlns:a16="http://schemas.microsoft.com/office/drawing/2014/main" id="{7D4B7692-D297-0B24-54A4-0E3DC3FD0B0D}"/>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2" name="Graphic 27" descr="Target Audience with solid fill">
              <a:extLst>
                <a:ext uri="{FF2B5EF4-FFF2-40B4-BE49-F238E27FC236}">
                  <a16:creationId xmlns:a16="http://schemas.microsoft.com/office/drawing/2014/main" id="{A12C4440-0603-FC02-ACC4-EC8E94FD2D10}"/>
                </a:ext>
              </a:extLst>
            </p:cNvPr>
            <p:cNvPicPr>
              <a:picLocks noChangeAspect="1"/>
            </p:cNvPicPr>
            <p:nvPr/>
          </p:nvPicPr>
          <p:blipFill>
            <a:blip r:embed="rId5">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5" name="TextBox 34">
            <a:extLst>
              <a:ext uri="{FF2B5EF4-FFF2-40B4-BE49-F238E27FC236}">
                <a16:creationId xmlns:a16="http://schemas.microsoft.com/office/drawing/2014/main" id="{C6043058-E66D-B709-E88F-62F25628E731}"/>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6" name="TextBox 35">
            <a:extLst>
              <a:ext uri="{FF2B5EF4-FFF2-40B4-BE49-F238E27FC236}">
                <a16:creationId xmlns:a16="http://schemas.microsoft.com/office/drawing/2014/main" id="{A6176630-4C8F-8CE6-CF8D-25AD6002D2F2}"/>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7" name="TextBox 36">
            <a:extLst>
              <a:ext uri="{FF2B5EF4-FFF2-40B4-BE49-F238E27FC236}">
                <a16:creationId xmlns:a16="http://schemas.microsoft.com/office/drawing/2014/main" id="{FE3AD1DA-3459-C6CD-F76A-C7A48EB19DF6}"/>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8" name="Rectangle 37">
            <a:extLst>
              <a:ext uri="{FF2B5EF4-FFF2-40B4-BE49-F238E27FC236}">
                <a16:creationId xmlns:a16="http://schemas.microsoft.com/office/drawing/2014/main" id="{05DC7A4A-78FD-EA25-8FED-93EBAF594CAB}"/>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1687747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dissolve">
                                      <p:cBhvr>
                                        <p:cTn id="7"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BC975-F0D9-19C4-C4E3-844F5EEAEE6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200DC37-C2A9-9EB9-7D75-DA87C869F132}"/>
              </a:ext>
            </a:extLst>
          </p:cNvPr>
          <p:cNvSpPr/>
          <p:nvPr/>
        </p:nvSpPr>
        <p:spPr>
          <a:xfrm>
            <a:off x="0" y="1692998"/>
            <a:ext cx="8464990" cy="310533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 name="Text Placeholder 1">
            <a:extLst>
              <a:ext uri="{FF2B5EF4-FFF2-40B4-BE49-F238E27FC236}">
                <a16:creationId xmlns:a16="http://schemas.microsoft.com/office/drawing/2014/main" id="{9826B04F-4104-C531-5E07-6DB542BEBCD5}"/>
              </a:ext>
            </a:extLst>
          </p:cNvPr>
          <p:cNvSpPr txBox="1">
            <a:spLocks/>
          </p:cNvSpPr>
          <p:nvPr/>
        </p:nvSpPr>
        <p:spPr>
          <a:xfrm>
            <a:off x="340447" y="2555784"/>
            <a:ext cx="7898206" cy="1493705"/>
          </a:xfrm>
          <a:prstGeom prst="rect">
            <a:avLst/>
          </a:prstGeom>
        </p:spPr>
        <p:txBody>
          <a:bodyPr lIns="91440" tIns="45720" rIns="91440" bIns="45720"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spc="-10">
                <a:solidFill>
                  <a:schemeClr val="tx1"/>
                </a:solidFill>
                <a:latin typeface="Arial" pitchFamily="34"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spc="-10">
                <a:solidFill>
                  <a:schemeClr val="tx1"/>
                </a:solidFill>
                <a:latin typeface="Arial" pitchFamily="34"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10">
                <a:solidFill>
                  <a:schemeClr val="tx1"/>
                </a:solidFill>
                <a:latin typeface="Arial" pitchFamily="34"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800" b="1" i="0" u="none" strike="noStrike" kern="1200" cap="none" spc="-10" normalizeH="0" baseline="0" noProof="0">
                <a:ln>
                  <a:noFill/>
                </a:ln>
                <a:solidFill>
                  <a:srgbClr val="FFFFFF"/>
                </a:solidFill>
                <a:effectLst/>
                <a:uLnTx/>
                <a:uFillTx/>
                <a:latin typeface="Segoe UI" pitchFamily="34" charset="0"/>
                <a:ea typeface="Lato ExtraLight" panose="020B0604020202020204" pitchFamily="34" charset="0"/>
                <a:cs typeface="Lato ExtraLight" panose="020B0604020202020204" pitchFamily="34" charset="0"/>
              </a:rPr>
              <a:t>/DEFINE Activity</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4800" b="1" spc="-10">
                <a:solidFill>
                  <a:srgbClr val="FFFFFF"/>
                </a:solidFill>
                <a:latin typeface="Segoe UI" pitchFamily="34" charset="0"/>
                <a:ea typeface="Lato ExtraLight" panose="020B0604020202020204" pitchFamily="34" charset="0"/>
                <a:cs typeface="Lato ExtraLight" panose="020B0604020202020204" pitchFamily="34" charset="0"/>
              </a:rPr>
              <a:t>Case study - JTBDs</a:t>
            </a:r>
            <a:endParaRPr kumimoji="0" lang="en-US" sz="4800" b="1" i="0" u="none" strike="noStrike" kern="1200" cap="none" spc="-10" normalizeH="0" baseline="0" noProof="0">
              <a:ln>
                <a:noFill/>
              </a:ln>
              <a:solidFill>
                <a:srgbClr val="FFFFFF"/>
              </a:solidFill>
              <a:effectLst/>
              <a:uLnTx/>
              <a:uFillTx/>
              <a:latin typeface="Segoe UI" pitchFamily="34" charset="0"/>
              <a:ea typeface="Lato ExtraLight" panose="020B0604020202020204" pitchFamily="34" charset="0"/>
              <a:cs typeface="Lato ExtraLight" panose="020B0604020202020204" pitchFamily="34" charset="0"/>
            </a:endParaRPr>
          </a:p>
        </p:txBody>
      </p:sp>
      <p:sp>
        <p:nvSpPr>
          <p:cNvPr id="33"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18</a:t>
            </a:fld>
            <a:endParaRPr lang="en-US"/>
          </a:p>
        </p:txBody>
      </p:sp>
      <p:grpSp>
        <p:nvGrpSpPr>
          <p:cNvPr id="4" name="Group 3">
            <a:extLst>
              <a:ext uri="{FF2B5EF4-FFF2-40B4-BE49-F238E27FC236}">
                <a16:creationId xmlns:a16="http://schemas.microsoft.com/office/drawing/2014/main" id="{5874BD31-72FD-2A6C-6683-BBE70F86B893}"/>
              </a:ext>
            </a:extLst>
          </p:cNvPr>
          <p:cNvGrpSpPr/>
          <p:nvPr/>
        </p:nvGrpSpPr>
        <p:grpSpPr>
          <a:xfrm>
            <a:off x="10403235" y="201614"/>
            <a:ext cx="410690" cy="410700"/>
            <a:chOff x="3506617" y="2730959"/>
            <a:chExt cx="1591098" cy="1591098"/>
          </a:xfrm>
        </p:grpSpPr>
        <p:sp>
          <p:nvSpPr>
            <p:cNvPr id="5" name="Rectangle: Rounded Corners 39">
              <a:extLst>
                <a:ext uri="{FF2B5EF4-FFF2-40B4-BE49-F238E27FC236}">
                  <a16:creationId xmlns:a16="http://schemas.microsoft.com/office/drawing/2014/main" id="{FE4F368D-55E8-F48F-9F86-05E9409342CE}"/>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 name="Rectangle: Rounded Corners 54">
              <a:extLst>
                <a:ext uri="{FF2B5EF4-FFF2-40B4-BE49-F238E27FC236}">
                  <a16:creationId xmlns:a16="http://schemas.microsoft.com/office/drawing/2014/main" id="{4F42A7E6-7B32-9E80-208F-E2D2FCDF2FA4}"/>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7" name="Freeform 56" descr="Clipboard Partially Checked with solid fill">
              <a:extLst>
                <a:ext uri="{FF2B5EF4-FFF2-40B4-BE49-F238E27FC236}">
                  <a16:creationId xmlns:a16="http://schemas.microsoft.com/office/drawing/2014/main" id="{791ACEF3-D998-1728-0E12-923C79FB9809}"/>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2"/>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8" name="Group 7">
            <a:extLst>
              <a:ext uri="{FF2B5EF4-FFF2-40B4-BE49-F238E27FC236}">
                <a16:creationId xmlns:a16="http://schemas.microsoft.com/office/drawing/2014/main" id="{DDA84CA7-1D0A-5E97-1A16-CD174DC993C1}"/>
              </a:ext>
            </a:extLst>
          </p:cNvPr>
          <p:cNvGrpSpPr/>
          <p:nvPr/>
        </p:nvGrpSpPr>
        <p:grpSpPr>
          <a:xfrm>
            <a:off x="11557682" y="191038"/>
            <a:ext cx="410690" cy="410700"/>
            <a:chOff x="8874309" y="3009260"/>
            <a:chExt cx="1591098" cy="1591098"/>
          </a:xfrm>
        </p:grpSpPr>
        <p:grpSp>
          <p:nvGrpSpPr>
            <p:cNvPr id="9" name="Group 8">
              <a:extLst>
                <a:ext uri="{FF2B5EF4-FFF2-40B4-BE49-F238E27FC236}">
                  <a16:creationId xmlns:a16="http://schemas.microsoft.com/office/drawing/2014/main" id="{71163A8F-4A81-738A-A176-E1FE7C263572}"/>
                </a:ext>
              </a:extLst>
            </p:cNvPr>
            <p:cNvGrpSpPr/>
            <p:nvPr/>
          </p:nvGrpSpPr>
          <p:grpSpPr>
            <a:xfrm>
              <a:off x="8874309" y="3009260"/>
              <a:ext cx="1591098" cy="1591098"/>
              <a:chOff x="9350370" y="2760976"/>
              <a:chExt cx="1591098" cy="1591098"/>
            </a:xfrm>
          </p:grpSpPr>
          <p:sp>
            <p:nvSpPr>
              <p:cNvPr id="11" name="Rectangle: Rounded Corners 39">
                <a:extLst>
                  <a:ext uri="{FF2B5EF4-FFF2-40B4-BE49-F238E27FC236}">
                    <a16:creationId xmlns:a16="http://schemas.microsoft.com/office/drawing/2014/main" id="{3C598021-2798-C720-C3D8-A5C261674375}"/>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2" name="Rectangle: Rounded Corners 54">
                <a:extLst>
                  <a:ext uri="{FF2B5EF4-FFF2-40B4-BE49-F238E27FC236}">
                    <a16:creationId xmlns:a16="http://schemas.microsoft.com/office/drawing/2014/main" id="{3C8DE48A-50E6-CD1D-3270-B6844F4E8743}"/>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0" name="Picture 51" descr="Map with pin with solid fill">
              <a:extLst>
                <a:ext uri="{FF2B5EF4-FFF2-40B4-BE49-F238E27FC236}">
                  <a16:creationId xmlns:a16="http://schemas.microsoft.com/office/drawing/2014/main" id="{BA0734A8-0263-E852-61A1-198CB9600F08}"/>
                </a:ext>
              </a:extLst>
            </p:cNvPr>
            <p:cNvPicPr>
              <a:picLocks noChangeAspect="1"/>
            </p:cNvPicPr>
            <p:nvPr/>
          </p:nvPicPr>
          <p:blipFill>
            <a:blip r:embed="rId3">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3" name="Group 12">
            <a:extLst>
              <a:ext uri="{FF2B5EF4-FFF2-40B4-BE49-F238E27FC236}">
                <a16:creationId xmlns:a16="http://schemas.microsoft.com/office/drawing/2014/main" id="{F2B096FA-7CC6-5C88-8F58-CF0889D84EDE}"/>
              </a:ext>
            </a:extLst>
          </p:cNvPr>
          <p:cNvGrpSpPr/>
          <p:nvPr/>
        </p:nvGrpSpPr>
        <p:grpSpPr>
          <a:xfrm>
            <a:off x="10997361" y="200955"/>
            <a:ext cx="410690" cy="410700"/>
            <a:chOff x="5303120" y="3009260"/>
            <a:chExt cx="1591098" cy="1591098"/>
          </a:xfrm>
        </p:grpSpPr>
        <p:grpSp>
          <p:nvGrpSpPr>
            <p:cNvPr id="14" name="Group 13">
              <a:extLst>
                <a:ext uri="{FF2B5EF4-FFF2-40B4-BE49-F238E27FC236}">
                  <a16:creationId xmlns:a16="http://schemas.microsoft.com/office/drawing/2014/main" id="{CDCE149B-80B6-3416-4B60-E77645FFEF68}"/>
                </a:ext>
              </a:extLst>
            </p:cNvPr>
            <p:cNvGrpSpPr/>
            <p:nvPr/>
          </p:nvGrpSpPr>
          <p:grpSpPr>
            <a:xfrm>
              <a:off x="5303120" y="3009260"/>
              <a:ext cx="1591098" cy="1591098"/>
              <a:chOff x="6428492" y="2760976"/>
              <a:chExt cx="1591098" cy="1591098"/>
            </a:xfrm>
          </p:grpSpPr>
          <p:sp>
            <p:nvSpPr>
              <p:cNvPr id="35" name="Rectangle: Rounded Corners 39">
                <a:extLst>
                  <a:ext uri="{FF2B5EF4-FFF2-40B4-BE49-F238E27FC236}">
                    <a16:creationId xmlns:a16="http://schemas.microsoft.com/office/drawing/2014/main" id="{BB5011FC-CB6B-EAC9-34DB-64949791B164}"/>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6" name="Rectangle: Rounded Corners 54">
                <a:extLst>
                  <a:ext uri="{FF2B5EF4-FFF2-40B4-BE49-F238E27FC236}">
                    <a16:creationId xmlns:a16="http://schemas.microsoft.com/office/drawing/2014/main" id="{5E8C819E-C775-0D30-DCE8-5ECBCECCCC46}"/>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4" name="Graphic 27" descr="Target Audience with solid fill">
              <a:extLst>
                <a:ext uri="{FF2B5EF4-FFF2-40B4-BE49-F238E27FC236}">
                  <a16:creationId xmlns:a16="http://schemas.microsoft.com/office/drawing/2014/main" id="{29CA3326-6DE5-C43B-D9CC-CAD0425CA990}"/>
                </a:ext>
              </a:extLst>
            </p:cNvPr>
            <p:cNvPicPr>
              <a:picLocks noChangeAspect="1"/>
            </p:cNvPicPr>
            <p:nvPr/>
          </p:nvPicPr>
          <p:blipFill>
            <a:blip r:embed="rId4">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7" name="TextBox 36">
            <a:extLst>
              <a:ext uri="{FF2B5EF4-FFF2-40B4-BE49-F238E27FC236}">
                <a16:creationId xmlns:a16="http://schemas.microsoft.com/office/drawing/2014/main" id="{61E80BA7-EF06-E061-7C82-FCA1E3329D66}"/>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8" name="TextBox 37">
            <a:extLst>
              <a:ext uri="{FF2B5EF4-FFF2-40B4-BE49-F238E27FC236}">
                <a16:creationId xmlns:a16="http://schemas.microsoft.com/office/drawing/2014/main" id="{1A161022-FEBC-38BE-41E5-713C14417EE5}"/>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9" name="TextBox 38">
            <a:extLst>
              <a:ext uri="{FF2B5EF4-FFF2-40B4-BE49-F238E27FC236}">
                <a16:creationId xmlns:a16="http://schemas.microsoft.com/office/drawing/2014/main" id="{876D5262-31A4-F1E7-39AB-0B6179733FB5}"/>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0" name="Rectangle 39">
            <a:extLst>
              <a:ext uri="{FF2B5EF4-FFF2-40B4-BE49-F238E27FC236}">
                <a16:creationId xmlns:a16="http://schemas.microsoft.com/office/drawing/2014/main" id="{28B3022C-6148-9E54-C591-8024F691CB20}"/>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6555314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16808-95CE-BFCB-2A7D-F1D4746E799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5CD21A5-F0D7-E793-C676-90480B87BF79}"/>
              </a:ext>
            </a:extLst>
          </p:cNvPr>
          <p:cNvSpPr>
            <a:spLocks noGrp="1"/>
          </p:cNvSpPr>
          <p:nvPr>
            <p:ph type="title" sz="quarter"/>
          </p:nvPr>
        </p:nvSpPr>
        <p:spPr/>
        <p:txBody>
          <a:bodyPr lIns="121920" tIns="60960" rIns="121920" bIns="60960" anchor="t"/>
          <a:lstStyle/>
          <a:p>
            <a:pPr>
              <a:defRPr b="1" spc="-25">
                <a:latin typeface="Segoe UI" pitchFamily="34" charset="0"/>
              </a:defRPr>
            </a:pPr>
            <a:r>
              <a:rPr lang="en-US" b="1" spc="-25" dirty="0">
                <a:solidFill>
                  <a:srgbClr val="1D1D1D"/>
                </a:solidFill>
                <a:latin typeface="Segoe UI" pitchFamily="34" charset="0"/>
                <a:ea typeface="Helvetica Neue" panose="02000503000000020004" pitchFamily="2" charset="0"/>
                <a:cs typeface="Helvetica Neue" panose="02000503000000020004" pitchFamily="2" charset="0"/>
              </a:rPr>
              <a:t>Case study – future jobs to be done</a:t>
            </a:r>
          </a:p>
          <a:p>
            <a:pPr marL="0" marR="0" lvl="0" indent="0" algn="l" defTabSz="914400" rtl="0" eaLnBrk="1" fontAlgn="auto" latinLnBrk="0" hangingPunct="1">
              <a:lnSpc>
                <a:spcPct val="90000"/>
              </a:lnSpc>
              <a:spcBef>
                <a:spcPts val="1000"/>
              </a:spcBef>
              <a:spcAft>
                <a:spcPts val="0"/>
              </a:spcAft>
              <a:tabLst/>
              <a:defRPr b="1" spc="-25">
                <a:latin typeface="Segoe UI" pitchFamily="34" charset="0"/>
              </a:defRPr>
            </a:pPr>
            <a:r>
              <a:rPr kumimoji="0" lang="en-US" sz="2000" b="1" i="0" u="none" strike="noStrike" kern="1200" cap="none" spc="-25" normalizeH="0" baseline="0" noProof="0" dirty="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VP of digital marketing &amp; growth</a:t>
            </a:r>
          </a:p>
        </p:txBody>
      </p:sp>
      <p:sp>
        <p:nvSpPr>
          <p:cNvPr id="4" name="TextBox 3">
            <a:extLst>
              <a:ext uri="{FF2B5EF4-FFF2-40B4-BE49-F238E27FC236}">
                <a16:creationId xmlns:a16="http://schemas.microsoft.com/office/drawing/2014/main" id="{ACD06430-AC98-9AE0-D3B4-DC66FC3951B8}"/>
              </a:ext>
            </a:extLst>
          </p:cNvPr>
          <p:cNvSpPr>
            <a:spLocks noGrp="1"/>
          </p:cNvSpPr>
          <p:nvPr>
            <p:ph idx="1"/>
          </p:nvPr>
        </p:nvSpPr>
        <p:spPr>
          <a:xfrm>
            <a:off x="1190745" y="2663726"/>
            <a:ext cx="9822455" cy="2127634"/>
          </a:xfrm>
          <a:prstGeom prst="rect">
            <a:avLst/>
          </a:prstGeom>
          <a:noFill/>
        </p:spPr>
        <p:txBody>
          <a:bodyPr wrap="square" lIns="91440" tIns="45720" rIns="91440" bIns="45720" rtlCol="0" anchor="t">
            <a:spAutoFit/>
          </a:bodyPr>
          <a:lstStyle/>
          <a:p>
            <a:pPr marL="285750" indent="-285750">
              <a:lnSpc>
                <a:spcPct val="120000"/>
              </a:lnSpc>
              <a:spcAft>
                <a:spcPts val="1200"/>
              </a:spcAft>
              <a:buBlip>
                <a:blip r:embed="rId3"/>
              </a:buBlip>
            </a:pPr>
            <a:r>
              <a:rPr lang="en-US" sz="2400" spc="-10">
                <a:latin typeface="Arial" pitchFamily="34" charset="0"/>
                <a:ea typeface="Lato"/>
                <a:cs typeface="Lato"/>
              </a:rPr>
              <a:t>Review the case study for </a:t>
            </a:r>
            <a:r>
              <a:rPr lang="en-US" sz="2400" spc="-10" err="1">
                <a:latin typeface="Arial" pitchFamily="34" charset="0"/>
                <a:ea typeface="Lato"/>
                <a:cs typeface="Lato"/>
              </a:rPr>
              <a:t>FrontierDigitalCo's</a:t>
            </a:r>
            <a:r>
              <a:rPr lang="en-US" sz="2400" spc="-10">
                <a:latin typeface="Arial" pitchFamily="34" charset="0"/>
                <a:ea typeface="Lato"/>
                <a:cs typeface="Lato"/>
              </a:rPr>
              <a:t> 2030 ambition and the critical role identified for succession planning.</a:t>
            </a:r>
            <a:endParaRPr lang="en-US">
              <a:ea typeface="Calibri" panose="020F0502020204030204"/>
              <a:cs typeface="Calibri" panose="020F0502020204030204"/>
            </a:endParaRPr>
          </a:p>
          <a:p>
            <a:pPr marL="285750" indent="-285750">
              <a:lnSpc>
                <a:spcPct val="120000"/>
              </a:lnSpc>
              <a:spcAft>
                <a:spcPts val="1200"/>
              </a:spcAft>
              <a:buBlip>
                <a:blip r:embed="rId3"/>
              </a:buBlip>
            </a:pPr>
            <a:r>
              <a:rPr lang="en-US" sz="2400" spc="-10">
                <a:latin typeface="Arial" pitchFamily="34" charset="0"/>
                <a:ea typeface="Lato"/>
                <a:cs typeface="Lato"/>
              </a:rPr>
              <a:t>Write 1 future-focused JTBD per assigned to group</a:t>
            </a:r>
            <a:endParaRPr lang="en-US"/>
          </a:p>
          <a:p>
            <a:pPr marL="285750" indent="-285750">
              <a:lnSpc>
                <a:spcPct val="120000"/>
              </a:lnSpc>
              <a:spcAft>
                <a:spcPts val="1200"/>
              </a:spcAft>
              <a:buBlip>
                <a:blip r:embed="rId3"/>
              </a:buBlip>
            </a:pPr>
            <a:r>
              <a:rPr lang="en-US" sz="2400">
                <a:ea typeface="Lato"/>
                <a:cs typeface="Lato"/>
              </a:rPr>
              <a:t>Debrief in large group discussion</a:t>
            </a:r>
          </a:p>
        </p:txBody>
      </p:sp>
      <p:sp>
        <p:nvSpPr>
          <p:cNvPr id="53"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19</a:t>
            </a:fld>
            <a:endParaRPr lang="en-US"/>
          </a:p>
        </p:txBody>
      </p:sp>
      <p:grpSp>
        <p:nvGrpSpPr>
          <p:cNvPr id="3" name="Group 2">
            <a:extLst>
              <a:ext uri="{FF2B5EF4-FFF2-40B4-BE49-F238E27FC236}">
                <a16:creationId xmlns:a16="http://schemas.microsoft.com/office/drawing/2014/main" id="{5C6AC26E-8AB9-64B9-F219-E8F4F37F5DD8}"/>
              </a:ext>
            </a:extLst>
          </p:cNvPr>
          <p:cNvGrpSpPr/>
          <p:nvPr/>
        </p:nvGrpSpPr>
        <p:grpSpPr>
          <a:xfrm>
            <a:off x="10403235" y="201614"/>
            <a:ext cx="410690" cy="410700"/>
            <a:chOff x="3506617" y="2730959"/>
            <a:chExt cx="1591098" cy="1591098"/>
          </a:xfrm>
        </p:grpSpPr>
        <p:sp>
          <p:nvSpPr>
            <p:cNvPr id="5" name="Rectangle: Rounded Corners 39">
              <a:extLst>
                <a:ext uri="{FF2B5EF4-FFF2-40B4-BE49-F238E27FC236}">
                  <a16:creationId xmlns:a16="http://schemas.microsoft.com/office/drawing/2014/main" id="{52F7E170-65C0-6D7B-42CE-58FA6B44F931}"/>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 name="Rectangle: Rounded Corners 54">
              <a:extLst>
                <a:ext uri="{FF2B5EF4-FFF2-40B4-BE49-F238E27FC236}">
                  <a16:creationId xmlns:a16="http://schemas.microsoft.com/office/drawing/2014/main" id="{E2AD4FBF-9C73-877E-6CA1-0C207984AA44}"/>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7" name="Freeform 56" descr="Clipboard Partially Checked with solid fill">
              <a:extLst>
                <a:ext uri="{FF2B5EF4-FFF2-40B4-BE49-F238E27FC236}">
                  <a16:creationId xmlns:a16="http://schemas.microsoft.com/office/drawing/2014/main" id="{313F750A-46A3-E08F-893E-18881B2D9215}"/>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8" name="Group 7">
            <a:extLst>
              <a:ext uri="{FF2B5EF4-FFF2-40B4-BE49-F238E27FC236}">
                <a16:creationId xmlns:a16="http://schemas.microsoft.com/office/drawing/2014/main" id="{DAF81B7C-A26D-9962-7705-4FEA12B2D047}"/>
              </a:ext>
            </a:extLst>
          </p:cNvPr>
          <p:cNvGrpSpPr/>
          <p:nvPr/>
        </p:nvGrpSpPr>
        <p:grpSpPr>
          <a:xfrm>
            <a:off x="11557682" y="191038"/>
            <a:ext cx="410690" cy="410700"/>
            <a:chOff x="8874309" y="3009260"/>
            <a:chExt cx="1591098" cy="1591098"/>
          </a:xfrm>
        </p:grpSpPr>
        <p:grpSp>
          <p:nvGrpSpPr>
            <p:cNvPr id="9" name="Group 8">
              <a:extLst>
                <a:ext uri="{FF2B5EF4-FFF2-40B4-BE49-F238E27FC236}">
                  <a16:creationId xmlns:a16="http://schemas.microsoft.com/office/drawing/2014/main" id="{55070E41-352F-41E8-8E7B-1D28EF922513}"/>
                </a:ext>
              </a:extLst>
            </p:cNvPr>
            <p:cNvGrpSpPr/>
            <p:nvPr/>
          </p:nvGrpSpPr>
          <p:grpSpPr>
            <a:xfrm>
              <a:off x="8874309" y="3009260"/>
              <a:ext cx="1591098" cy="1591098"/>
              <a:chOff x="9350370" y="2760976"/>
              <a:chExt cx="1591098" cy="1591098"/>
            </a:xfrm>
          </p:grpSpPr>
          <p:sp>
            <p:nvSpPr>
              <p:cNvPr id="11" name="Rectangle: Rounded Corners 39">
                <a:extLst>
                  <a:ext uri="{FF2B5EF4-FFF2-40B4-BE49-F238E27FC236}">
                    <a16:creationId xmlns:a16="http://schemas.microsoft.com/office/drawing/2014/main" id="{451DD047-5A9E-4032-042D-F10D767B4346}"/>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2" name="Rectangle: Rounded Corners 54">
                <a:extLst>
                  <a:ext uri="{FF2B5EF4-FFF2-40B4-BE49-F238E27FC236}">
                    <a16:creationId xmlns:a16="http://schemas.microsoft.com/office/drawing/2014/main" id="{C953B33F-D989-91F0-98D0-E8E6EC26B809}"/>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0" name="Picture 51" descr="Map with pin with solid fill">
              <a:extLst>
                <a:ext uri="{FF2B5EF4-FFF2-40B4-BE49-F238E27FC236}">
                  <a16:creationId xmlns:a16="http://schemas.microsoft.com/office/drawing/2014/main" id="{B4AB33A8-E1CD-322D-2E63-DB041AB5CD2A}"/>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3" name="Group 12">
            <a:extLst>
              <a:ext uri="{FF2B5EF4-FFF2-40B4-BE49-F238E27FC236}">
                <a16:creationId xmlns:a16="http://schemas.microsoft.com/office/drawing/2014/main" id="{A114D3FD-EC3A-EA99-5A92-085C91371C8A}"/>
              </a:ext>
            </a:extLst>
          </p:cNvPr>
          <p:cNvGrpSpPr/>
          <p:nvPr/>
        </p:nvGrpSpPr>
        <p:grpSpPr>
          <a:xfrm>
            <a:off x="10997361" y="200955"/>
            <a:ext cx="410690" cy="410700"/>
            <a:chOff x="5303120" y="3009260"/>
            <a:chExt cx="1591098" cy="1591098"/>
          </a:xfrm>
        </p:grpSpPr>
        <p:grpSp>
          <p:nvGrpSpPr>
            <p:cNvPr id="14" name="Group 13">
              <a:extLst>
                <a:ext uri="{FF2B5EF4-FFF2-40B4-BE49-F238E27FC236}">
                  <a16:creationId xmlns:a16="http://schemas.microsoft.com/office/drawing/2014/main" id="{CC7C43F5-9F4C-8D84-DCCA-BEDFAB350D3F}"/>
                </a:ext>
              </a:extLst>
            </p:cNvPr>
            <p:cNvGrpSpPr/>
            <p:nvPr/>
          </p:nvGrpSpPr>
          <p:grpSpPr>
            <a:xfrm>
              <a:off x="5303120" y="3009260"/>
              <a:ext cx="1591098" cy="1591098"/>
              <a:chOff x="6428492" y="2760976"/>
              <a:chExt cx="1591098" cy="1591098"/>
            </a:xfrm>
          </p:grpSpPr>
          <p:sp>
            <p:nvSpPr>
              <p:cNvPr id="16" name="Rectangle: Rounded Corners 39">
                <a:extLst>
                  <a:ext uri="{FF2B5EF4-FFF2-40B4-BE49-F238E27FC236}">
                    <a16:creationId xmlns:a16="http://schemas.microsoft.com/office/drawing/2014/main" id="{EBD6F920-C721-453A-CE29-7321C72430D7}"/>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7" name="Rectangle: Rounded Corners 54">
                <a:extLst>
                  <a:ext uri="{FF2B5EF4-FFF2-40B4-BE49-F238E27FC236}">
                    <a16:creationId xmlns:a16="http://schemas.microsoft.com/office/drawing/2014/main" id="{18A1B61C-BC92-D6BE-EE34-F43E211352D2}"/>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5" name="Graphic 27" descr="Target Audience with solid fill">
              <a:extLst>
                <a:ext uri="{FF2B5EF4-FFF2-40B4-BE49-F238E27FC236}">
                  <a16:creationId xmlns:a16="http://schemas.microsoft.com/office/drawing/2014/main" id="{5A6EE625-4CB8-3A43-279C-3F276B8C81FC}"/>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18" name="TextBox 17">
            <a:extLst>
              <a:ext uri="{FF2B5EF4-FFF2-40B4-BE49-F238E27FC236}">
                <a16:creationId xmlns:a16="http://schemas.microsoft.com/office/drawing/2014/main" id="{E1BD8FAC-4427-A8CE-A0AD-8773B6357803}"/>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19" name="TextBox 18">
            <a:extLst>
              <a:ext uri="{FF2B5EF4-FFF2-40B4-BE49-F238E27FC236}">
                <a16:creationId xmlns:a16="http://schemas.microsoft.com/office/drawing/2014/main" id="{E3F5DDFA-218D-2CA6-BC42-F209F8F28A8A}"/>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20" name="TextBox 19">
            <a:extLst>
              <a:ext uri="{FF2B5EF4-FFF2-40B4-BE49-F238E27FC236}">
                <a16:creationId xmlns:a16="http://schemas.microsoft.com/office/drawing/2014/main" id="{072AB433-8D32-7E9A-8448-6D7A2C90E459}"/>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21" name="Rectangle 20">
            <a:extLst>
              <a:ext uri="{FF2B5EF4-FFF2-40B4-BE49-F238E27FC236}">
                <a16:creationId xmlns:a16="http://schemas.microsoft.com/office/drawing/2014/main" id="{F0556C24-A601-D5B4-BB59-6EA2308F337B}"/>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4200529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2171A63-156D-37FD-9DB8-E50B633772E5}"/>
              </a:ext>
            </a:extLst>
          </p:cNvPr>
          <p:cNvSpPr>
            <a:spLocks noGrp="1"/>
          </p:cNvSpPr>
          <p:nvPr>
            <p:ph type="title" sz="quarter"/>
          </p:nvPr>
        </p:nvSpPr>
        <p:spPr/>
        <p:txBody>
          <a:bodyPr/>
          <a:lstStyle/>
          <a:p>
            <a:r>
              <a:rPr lang="en-US" b="1" spc="-25" dirty="0">
                <a:latin typeface="Segoe UI" pitchFamily="34" charset="0"/>
              </a:rPr>
              <a:t>Jobs to be done summary</a:t>
            </a:r>
          </a:p>
        </p:txBody>
      </p:sp>
      <p:sp>
        <p:nvSpPr>
          <p:cNvPr id="8" name="Text Placeholder 2">
            <a:extLst>
              <a:ext uri="{FF2B5EF4-FFF2-40B4-BE49-F238E27FC236}">
                <a16:creationId xmlns:a16="http://schemas.microsoft.com/office/drawing/2014/main" id="{60D01244-A48C-A444-FD2D-FCD53FD1D25C}"/>
              </a:ext>
            </a:extLst>
          </p:cNvPr>
          <p:cNvSpPr txBox="1">
            <a:spLocks/>
          </p:cNvSpPr>
          <p:nvPr/>
        </p:nvSpPr>
        <p:spPr>
          <a:xfrm>
            <a:off x="680818" y="1273431"/>
            <a:ext cx="3632563" cy="1308533"/>
          </a:xfrm>
          <a:prstGeom prst="roundRect">
            <a:avLst/>
          </a:prstGeom>
          <a:solidFill>
            <a:srgbClr val="281A42"/>
          </a:solidFill>
        </p:spPr>
        <p:txBody>
          <a:bodyPr lIns="91440" tIns="45720" rIns="91440" bIns="4572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b="1" spc="-10">
                <a:solidFill>
                  <a:schemeClr val="bg1"/>
                </a:solidFill>
                <a:latin typeface="Segoe UI" pitchFamily="34" charset="0"/>
              </a:rPr>
              <a:t>Key Points</a:t>
            </a:r>
            <a:endParaRPr lang="en-US" sz="3200" spc="-10">
              <a:solidFill>
                <a:schemeClr val="bg1"/>
              </a:solidFill>
              <a:latin typeface="Arial" pitchFamily="34" charset="0"/>
            </a:endParaRPr>
          </a:p>
        </p:txBody>
      </p:sp>
      <p:grpSp>
        <p:nvGrpSpPr>
          <p:cNvPr id="12" name="Group 11">
            <a:extLst>
              <a:ext uri="{FF2B5EF4-FFF2-40B4-BE49-F238E27FC236}">
                <a16:creationId xmlns:a16="http://schemas.microsoft.com/office/drawing/2014/main" id="{A2400250-C68A-F44E-FA5A-DA1C8073C417}"/>
              </a:ext>
            </a:extLst>
          </p:cNvPr>
          <p:cNvGrpSpPr/>
          <p:nvPr/>
        </p:nvGrpSpPr>
        <p:grpSpPr>
          <a:xfrm>
            <a:off x="679030" y="2920214"/>
            <a:ext cx="9917902" cy="831975"/>
            <a:chOff x="680818" y="3955997"/>
            <a:chExt cx="8114806" cy="640080"/>
          </a:xfrm>
        </p:grpSpPr>
        <p:sp>
          <p:nvSpPr>
            <p:cNvPr id="29" name="Text Placeholder 2">
              <a:extLst>
                <a:ext uri="{FF2B5EF4-FFF2-40B4-BE49-F238E27FC236}">
                  <a16:creationId xmlns:a16="http://schemas.microsoft.com/office/drawing/2014/main" id="{EBD71E2A-EE0E-D6F0-3C0E-251C9108D110}"/>
                </a:ext>
              </a:extLst>
            </p:cNvPr>
            <p:cNvSpPr txBox="1">
              <a:spLocks/>
            </p:cNvSpPr>
            <p:nvPr/>
          </p:nvSpPr>
          <p:spPr>
            <a:xfrm>
              <a:off x="1288241" y="3955997"/>
              <a:ext cx="7507383" cy="640080"/>
            </a:xfrm>
            <a:prstGeom prst="rect">
              <a:avLst/>
            </a:prstGeom>
            <a:solidFill>
              <a:srgbClr val="281A42"/>
            </a:solidFill>
          </p:spPr>
          <p:txBody>
            <a:bodyPr lIns="18288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spc="-10" dirty="0">
                  <a:solidFill>
                    <a:schemeClr val="bg1"/>
                  </a:solidFill>
                  <a:latin typeface="Arial" pitchFamily="34" charset="0"/>
                </a:rPr>
                <a:t>Strategic pivots drive successful succession planning</a:t>
              </a:r>
              <a:endParaRPr lang="en-US" sz="1600" spc="-10" dirty="0">
                <a:solidFill>
                  <a:schemeClr val="bg1"/>
                </a:solidFill>
                <a:latin typeface="Arial" pitchFamily="34" charset="0"/>
              </a:endParaRPr>
            </a:p>
          </p:txBody>
        </p:sp>
        <p:sp>
          <p:nvSpPr>
            <p:cNvPr id="30" name="Rectangle 29">
              <a:extLst>
                <a:ext uri="{FF2B5EF4-FFF2-40B4-BE49-F238E27FC236}">
                  <a16:creationId xmlns:a16="http://schemas.microsoft.com/office/drawing/2014/main" id="{921946CA-5F31-BE49-6363-DB59068C387F}"/>
                </a:ext>
              </a:extLst>
            </p:cNvPr>
            <p:cNvSpPr/>
            <p:nvPr/>
          </p:nvSpPr>
          <p:spPr>
            <a:xfrm>
              <a:off x="683743" y="3955997"/>
              <a:ext cx="607423" cy="64008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solidFill>
                  <a:schemeClr val="bg1"/>
                </a:solidFill>
                <a:latin typeface="Arial" pitchFamily="34" charset="0"/>
              </a:endParaRPr>
            </a:p>
          </p:txBody>
        </p:sp>
        <p:pic>
          <p:nvPicPr>
            <p:cNvPr id="31" name="Graphic 30" descr="Merger with solid fill">
              <a:extLst>
                <a:ext uri="{FF2B5EF4-FFF2-40B4-BE49-F238E27FC236}">
                  <a16:creationId xmlns:a16="http://schemas.microsoft.com/office/drawing/2014/main" id="{CBED222F-DDC5-DA82-BF26-C848666D4CC9}"/>
                </a:ext>
              </a:extLst>
            </p:cNvPr>
            <p:cNvPicPr>
              <a:picLocks noChangeAspect="1"/>
            </p:cNvPicPr>
            <p:nvPr/>
          </p:nvPicPr>
          <p:blipFill>
            <a:blip r:embed="rId3">
              <a:duotone>
                <a:srgbClr val="765FFF"/>
                <a:srgbClr val="FFFFFF"/>
              </a:duotone>
            </a:blip>
            <a:stretch>
              <a:fillRect/>
            </a:stretch>
          </p:blipFill>
          <p:spPr>
            <a:xfrm>
              <a:off x="680818" y="3955997"/>
              <a:ext cx="640080" cy="640080"/>
            </a:xfrm>
            <a:prstGeom prst="rect">
              <a:avLst/>
            </a:prstGeom>
          </p:spPr>
        </p:pic>
      </p:grpSp>
      <p:grpSp>
        <p:nvGrpSpPr>
          <p:cNvPr id="14" name="Group 13">
            <a:extLst>
              <a:ext uri="{FF2B5EF4-FFF2-40B4-BE49-F238E27FC236}">
                <a16:creationId xmlns:a16="http://schemas.microsoft.com/office/drawing/2014/main" id="{D06C615F-55CD-793A-3C35-33AC57DE2919}"/>
              </a:ext>
            </a:extLst>
          </p:cNvPr>
          <p:cNvGrpSpPr/>
          <p:nvPr/>
        </p:nvGrpSpPr>
        <p:grpSpPr>
          <a:xfrm>
            <a:off x="682605" y="5348692"/>
            <a:ext cx="9914327" cy="831975"/>
            <a:chOff x="683743" y="4832099"/>
            <a:chExt cx="8111881" cy="640080"/>
          </a:xfrm>
        </p:grpSpPr>
        <p:sp>
          <p:nvSpPr>
            <p:cNvPr id="24" name="Text Placeholder 2">
              <a:extLst>
                <a:ext uri="{FF2B5EF4-FFF2-40B4-BE49-F238E27FC236}">
                  <a16:creationId xmlns:a16="http://schemas.microsoft.com/office/drawing/2014/main" id="{4939B5FB-265D-73AD-CDAE-F03AE65B0A06}"/>
                </a:ext>
              </a:extLst>
            </p:cNvPr>
            <p:cNvSpPr txBox="1">
              <a:spLocks/>
            </p:cNvSpPr>
            <p:nvPr/>
          </p:nvSpPr>
          <p:spPr>
            <a:xfrm>
              <a:off x="1288241" y="4832099"/>
              <a:ext cx="7507383" cy="640080"/>
            </a:xfrm>
            <a:prstGeom prst="rect">
              <a:avLst/>
            </a:prstGeom>
            <a:solidFill>
              <a:srgbClr val="281A42"/>
            </a:solidFill>
          </p:spPr>
          <p:txBody>
            <a:bodyPr lIns="18288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spc="-10">
                  <a:solidFill>
                    <a:schemeClr val="bg1"/>
                  </a:solidFill>
                  <a:latin typeface="Arial" pitchFamily="34" charset="0"/>
                </a:rPr>
                <a:t>Focus on “what, how, how much, and by when”</a:t>
              </a:r>
              <a:endParaRPr lang="en-US" sz="1600" spc="-10">
                <a:solidFill>
                  <a:schemeClr val="bg1"/>
                </a:solidFill>
                <a:latin typeface="Arial" pitchFamily="34" charset="0"/>
              </a:endParaRPr>
            </a:p>
          </p:txBody>
        </p:sp>
        <p:sp>
          <p:nvSpPr>
            <p:cNvPr id="25" name="Rectangle 24">
              <a:extLst>
                <a:ext uri="{FF2B5EF4-FFF2-40B4-BE49-F238E27FC236}">
                  <a16:creationId xmlns:a16="http://schemas.microsoft.com/office/drawing/2014/main" id="{7912C2F5-5769-1B3C-325D-BFC9F997AE1D}"/>
                </a:ext>
              </a:extLst>
            </p:cNvPr>
            <p:cNvSpPr/>
            <p:nvPr/>
          </p:nvSpPr>
          <p:spPr>
            <a:xfrm>
              <a:off x="683743" y="4832099"/>
              <a:ext cx="607423" cy="64008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solidFill>
                  <a:schemeClr val="bg1"/>
                </a:solidFill>
                <a:latin typeface="Arial" pitchFamily="34" charset="0"/>
              </a:endParaRPr>
            </a:p>
          </p:txBody>
        </p:sp>
        <p:pic>
          <p:nvPicPr>
            <p:cNvPr id="28" name="Graphic 27" descr="List with solid fill">
              <a:extLst>
                <a:ext uri="{FF2B5EF4-FFF2-40B4-BE49-F238E27FC236}">
                  <a16:creationId xmlns:a16="http://schemas.microsoft.com/office/drawing/2014/main" id="{A4275AFD-2A02-318B-52AD-7F95E96EFE08}"/>
                </a:ext>
              </a:extLst>
            </p:cNvPr>
            <p:cNvPicPr>
              <a:picLocks noChangeAspect="1"/>
            </p:cNvPicPr>
            <p:nvPr/>
          </p:nvPicPr>
          <p:blipFill>
            <a:blip r:embed="rId4">
              <a:duotone>
                <a:srgbClr val="765FFF"/>
                <a:srgbClr val="FFFFFF"/>
              </a:duotone>
            </a:blip>
            <a:stretch>
              <a:fillRect/>
            </a:stretch>
          </p:blipFill>
          <p:spPr>
            <a:xfrm>
              <a:off x="709091" y="4868323"/>
              <a:ext cx="567632" cy="567632"/>
            </a:xfrm>
            <a:prstGeom prst="rect">
              <a:avLst/>
            </a:prstGeom>
          </p:spPr>
        </p:pic>
      </p:grpSp>
      <p:grpSp>
        <p:nvGrpSpPr>
          <p:cNvPr id="15" name="Group 14">
            <a:extLst>
              <a:ext uri="{FF2B5EF4-FFF2-40B4-BE49-F238E27FC236}">
                <a16:creationId xmlns:a16="http://schemas.microsoft.com/office/drawing/2014/main" id="{7616ACD3-DD2F-F4B5-44CF-F812F04E1282}"/>
              </a:ext>
            </a:extLst>
          </p:cNvPr>
          <p:cNvGrpSpPr/>
          <p:nvPr/>
        </p:nvGrpSpPr>
        <p:grpSpPr>
          <a:xfrm>
            <a:off x="679030" y="4134455"/>
            <a:ext cx="9914327" cy="1019452"/>
            <a:chOff x="683743" y="3108960"/>
            <a:chExt cx="8111881" cy="756809"/>
          </a:xfrm>
        </p:grpSpPr>
        <p:sp>
          <p:nvSpPr>
            <p:cNvPr id="18" name="Text Placeholder 2">
              <a:extLst>
                <a:ext uri="{FF2B5EF4-FFF2-40B4-BE49-F238E27FC236}">
                  <a16:creationId xmlns:a16="http://schemas.microsoft.com/office/drawing/2014/main" id="{56846CF0-C32A-823F-421B-F39EAE2332FD}"/>
                </a:ext>
              </a:extLst>
            </p:cNvPr>
            <p:cNvSpPr txBox="1">
              <a:spLocks/>
            </p:cNvSpPr>
            <p:nvPr/>
          </p:nvSpPr>
          <p:spPr>
            <a:xfrm>
              <a:off x="1288242" y="3108960"/>
              <a:ext cx="7507382" cy="756809"/>
            </a:xfrm>
            <a:prstGeom prst="rect">
              <a:avLst/>
            </a:prstGeom>
            <a:solidFill>
              <a:srgbClr val="281A42"/>
            </a:solidFill>
          </p:spPr>
          <p:txBody>
            <a:bodyPr lIns="182880" tIns="45720" rIns="91440" bIns="4572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spc="-10">
                  <a:solidFill>
                    <a:schemeClr val="bg1"/>
                  </a:solidFill>
                  <a:latin typeface="Arial" pitchFamily="34" charset="0"/>
                  <a:cs typeface="Lato"/>
                </a:rPr>
                <a:t>JTBD are the </a:t>
              </a:r>
              <a:r>
                <a:rPr lang="en-US" sz="2000" b="1" spc="-10">
                  <a:solidFill>
                    <a:schemeClr val="bg1"/>
                  </a:solidFill>
                  <a:latin typeface="Segoe UI" pitchFamily="34" charset="0"/>
                  <a:cs typeface="Lato"/>
                </a:rPr>
                <a:t>3-5 </a:t>
              </a:r>
              <a:r>
                <a:rPr lang="en-US" sz="2000" spc="-10">
                  <a:solidFill>
                    <a:schemeClr val="bg1"/>
                  </a:solidFill>
                  <a:latin typeface="Arial" pitchFamily="34" charset="0"/>
                  <a:cs typeface="Lato"/>
                </a:rPr>
                <a:t>value-creating outcomes for the role and </a:t>
              </a:r>
              <a:r>
                <a:rPr lang="en-US" sz="2000" spc="-10">
                  <a:solidFill>
                    <a:schemeClr val="bg1"/>
                  </a:solidFill>
                  <a:latin typeface="Arial" pitchFamily="34" charset="0"/>
                  <a:ea typeface="Lato"/>
                  <a:cs typeface="Lato"/>
                </a:rPr>
                <a:t>must be </a:t>
              </a:r>
              <a:r>
                <a:rPr lang="en-US" sz="2000" b="1" spc="-10">
                  <a:solidFill>
                    <a:schemeClr val="bg1"/>
                  </a:solidFill>
                  <a:latin typeface="Segoe UI" pitchFamily="34" charset="0"/>
                  <a:ea typeface="Lato"/>
                  <a:cs typeface="Lato"/>
                </a:rPr>
                <a:t>future-focused </a:t>
              </a:r>
              <a:r>
                <a:rPr lang="en-US" sz="2000" spc="-10">
                  <a:solidFill>
                    <a:schemeClr val="bg1"/>
                  </a:solidFill>
                  <a:latin typeface="Arial" pitchFamily="34" charset="0"/>
                  <a:ea typeface="Lato"/>
                  <a:cs typeface="Lato"/>
                </a:rPr>
                <a:t>– otherwise we risk selecting status quo successors who may not be prepared to deliver in the years ahead</a:t>
              </a:r>
            </a:p>
          </p:txBody>
        </p:sp>
        <p:sp>
          <p:nvSpPr>
            <p:cNvPr id="19" name="Rectangle 18">
              <a:extLst>
                <a:ext uri="{FF2B5EF4-FFF2-40B4-BE49-F238E27FC236}">
                  <a16:creationId xmlns:a16="http://schemas.microsoft.com/office/drawing/2014/main" id="{3917D590-0893-2A04-757B-72E39D3B0F09}"/>
                </a:ext>
              </a:extLst>
            </p:cNvPr>
            <p:cNvSpPr/>
            <p:nvPr/>
          </p:nvSpPr>
          <p:spPr>
            <a:xfrm>
              <a:off x="683743" y="3108960"/>
              <a:ext cx="607423" cy="75680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solidFill>
                  <a:schemeClr val="bg1"/>
                </a:solidFill>
                <a:latin typeface="Arial" pitchFamily="34" charset="0"/>
              </a:endParaRPr>
            </a:p>
          </p:txBody>
        </p:sp>
        <p:pic>
          <p:nvPicPr>
            <p:cNvPr id="22" name="Graphic 21" descr="Bullseye with solid fill">
              <a:extLst>
                <a:ext uri="{FF2B5EF4-FFF2-40B4-BE49-F238E27FC236}">
                  <a16:creationId xmlns:a16="http://schemas.microsoft.com/office/drawing/2014/main" id="{A03D87FF-BA8E-E2C8-3AF3-651620573E91}"/>
                </a:ext>
              </a:extLst>
            </p:cNvPr>
            <p:cNvPicPr>
              <a:picLocks/>
            </p:cNvPicPr>
            <p:nvPr/>
          </p:nvPicPr>
          <p:blipFill>
            <a:blip r:embed="rId5">
              <a:duotone>
                <a:srgbClr val="765FFF"/>
                <a:srgbClr val="FFFFFF"/>
              </a:duotone>
            </a:blip>
            <a:stretch>
              <a:fillRect/>
            </a:stretch>
          </p:blipFill>
          <p:spPr>
            <a:xfrm>
              <a:off x="765987" y="3281953"/>
              <a:ext cx="463859" cy="436166"/>
            </a:xfrm>
            <a:prstGeom prst="rect">
              <a:avLst/>
            </a:prstGeom>
          </p:spPr>
        </p:pic>
      </p:grpSp>
      <p:sp>
        <p:nvSpPr>
          <p:cNvPr id="4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20</a:t>
            </a:fld>
            <a:endParaRPr lang="en-US"/>
          </a:p>
        </p:txBody>
      </p:sp>
      <p:grpSp>
        <p:nvGrpSpPr>
          <p:cNvPr id="4" name="Group 3">
            <a:extLst>
              <a:ext uri="{FF2B5EF4-FFF2-40B4-BE49-F238E27FC236}">
                <a16:creationId xmlns:a16="http://schemas.microsoft.com/office/drawing/2014/main" id="{DCD8FB7A-D949-4788-E012-B54247E1A7CC}"/>
              </a:ext>
            </a:extLst>
          </p:cNvPr>
          <p:cNvGrpSpPr/>
          <p:nvPr/>
        </p:nvGrpSpPr>
        <p:grpSpPr>
          <a:xfrm>
            <a:off x="10403235" y="201614"/>
            <a:ext cx="410690" cy="410700"/>
            <a:chOff x="3506617" y="2730959"/>
            <a:chExt cx="1591098" cy="1591098"/>
          </a:xfrm>
        </p:grpSpPr>
        <p:sp>
          <p:nvSpPr>
            <p:cNvPr id="21" name="Rectangle: Rounded Corners 39">
              <a:extLst>
                <a:ext uri="{FF2B5EF4-FFF2-40B4-BE49-F238E27FC236}">
                  <a16:creationId xmlns:a16="http://schemas.microsoft.com/office/drawing/2014/main" id="{4C4A77C1-11E2-CB9B-FBB8-727CD3DB6B4D}"/>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3" name="Rectangle: Rounded Corners 54">
              <a:extLst>
                <a:ext uri="{FF2B5EF4-FFF2-40B4-BE49-F238E27FC236}">
                  <a16:creationId xmlns:a16="http://schemas.microsoft.com/office/drawing/2014/main" id="{0166DADC-FBD9-DD1D-97C4-42A4E680028D}"/>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6" name="Freeform 56" descr="Clipboard Partially Checked with solid fill">
              <a:extLst>
                <a:ext uri="{FF2B5EF4-FFF2-40B4-BE49-F238E27FC236}">
                  <a16:creationId xmlns:a16="http://schemas.microsoft.com/office/drawing/2014/main" id="{02E37EB6-DF07-1B83-9FFE-0269531804A1}"/>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6"/>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27" name="Group 26">
            <a:extLst>
              <a:ext uri="{FF2B5EF4-FFF2-40B4-BE49-F238E27FC236}">
                <a16:creationId xmlns:a16="http://schemas.microsoft.com/office/drawing/2014/main" id="{CB6B2AFF-3CE2-451A-746D-0A8518685B64}"/>
              </a:ext>
            </a:extLst>
          </p:cNvPr>
          <p:cNvGrpSpPr/>
          <p:nvPr/>
        </p:nvGrpSpPr>
        <p:grpSpPr>
          <a:xfrm>
            <a:off x="11557682" y="191038"/>
            <a:ext cx="410690" cy="410700"/>
            <a:chOff x="8874309" y="3009260"/>
            <a:chExt cx="1591098" cy="1591098"/>
          </a:xfrm>
        </p:grpSpPr>
        <p:grpSp>
          <p:nvGrpSpPr>
            <p:cNvPr id="32" name="Group 31">
              <a:extLst>
                <a:ext uri="{FF2B5EF4-FFF2-40B4-BE49-F238E27FC236}">
                  <a16:creationId xmlns:a16="http://schemas.microsoft.com/office/drawing/2014/main" id="{C7036849-3909-16F5-EC0F-809A46C512D0}"/>
                </a:ext>
              </a:extLst>
            </p:cNvPr>
            <p:cNvGrpSpPr/>
            <p:nvPr/>
          </p:nvGrpSpPr>
          <p:grpSpPr>
            <a:xfrm>
              <a:off x="8874309" y="3009260"/>
              <a:ext cx="1591098" cy="1591098"/>
              <a:chOff x="9350370" y="2760976"/>
              <a:chExt cx="1591098" cy="1591098"/>
            </a:xfrm>
          </p:grpSpPr>
          <p:sp>
            <p:nvSpPr>
              <p:cNvPr id="34" name="Rectangle: Rounded Corners 39">
                <a:extLst>
                  <a:ext uri="{FF2B5EF4-FFF2-40B4-BE49-F238E27FC236}">
                    <a16:creationId xmlns:a16="http://schemas.microsoft.com/office/drawing/2014/main" id="{317E0CC2-ADA9-E326-CD9F-43D16DB24252}"/>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5" name="Rectangle: Rounded Corners 54">
                <a:extLst>
                  <a:ext uri="{FF2B5EF4-FFF2-40B4-BE49-F238E27FC236}">
                    <a16:creationId xmlns:a16="http://schemas.microsoft.com/office/drawing/2014/main" id="{B030918C-A7E7-7E80-49D2-B443BF2F73C3}"/>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3" name="Picture 51" descr="Map with pin with solid fill">
              <a:extLst>
                <a:ext uri="{FF2B5EF4-FFF2-40B4-BE49-F238E27FC236}">
                  <a16:creationId xmlns:a16="http://schemas.microsoft.com/office/drawing/2014/main" id="{B28876DC-9EB3-92C3-7F4E-FA61A63BBD26}"/>
                </a:ext>
              </a:extLst>
            </p:cNvPr>
            <p:cNvPicPr>
              <a:picLocks noChangeAspect="1"/>
            </p:cNvPicPr>
            <p:nvPr/>
          </p:nvPicPr>
          <p:blipFill>
            <a:blip r:embed="rId7">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6" name="Group 35">
            <a:extLst>
              <a:ext uri="{FF2B5EF4-FFF2-40B4-BE49-F238E27FC236}">
                <a16:creationId xmlns:a16="http://schemas.microsoft.com/office/drawing/2014/main" id="{DE799AE9-AB6E-E1CF-DE72-ABEF8D2C90D1}"/>
              </a:ext>
            </a:extLst>
          </p:cNvPr>
          <p:cNvGrpSpPr/>
          <p:nvPr/>
        </p:nvGrpSpPr>
        <p:grpSpPr>
          <a:xfrm>
            <a:off x="10997361" y="200955"/>
            <a:ext cx="410690" cy="410700"/>
            <a:chOff x="5303120" y="3009260"/>
            <a:chExt cx="1591098" cy="1591098"/>
          </a:xfrm>
        </p:grpSpPr>
        <p:grpSp>
          <p:nvGrpSpPr>
            <p:cNvPr id="37" name="Group 36">
              <a:extLst>
                <a:ext uri="{FF2B5EF4-FFF2-40B4-BE49-F238E27FC236}">
                  <a16:creationId xmlns:a16="http://schemas.microsoft.com/office/drawing/2014/main" id="{FAA71308-05F8-94F0-2158-50EC39B391D7}"/>
                </a:ext>
              </a:extLst>
            </p:cNvPr>
            <p:cNvGrpSpPr/>
            <p:nvPr/>
          </p:nvGrpSpPr>
          <p:grpSpPr>
            <a:xfrm>
              <a:off x="5303120" y="3009260"/>
              <a:ext cx="1591098" cy="1591098"/>
              <a:chOff x="6428492" y="2760976"/>
              <a:chExt cx="1591098" cy="1591098"/>
            </a:xfrm>
          </p:grpSpPr>
          <p:sp>
            <p:nvSpPr>
              <p:cNvPr id="47" name="Rectangle: Rounded Corners 39">
                <a:extLst>
                  <a:ext uri="{FF2B5EF4-FFF2-40B4-BE49-F238E27FC236}">
                    <a16:creationId xmlns:a16="http://schemas.microsoft.com/office/drawing/2014/main" id="{6849C023-959F-330B-40BD-5886C8FA5307}"/>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8" name="Rectangle: Rounded Corners 54">
                <a:extLst>
                  <a:ext uri="{FF2B5EF4-FFF2-40B4-BE49-F238E27FC236}">
                    <a16:creationId xmlns:a16="http://schemas.microsoft.com/office/drawing/2014/main" id="{7D10CDD5-E1F3-12DB-20E7-6A4DE9B99634}"/>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6" name="Graphic 27" descr="Target Audience with solid fill">
              <a:extLst>
                <a:ext uri="{FF2B5EF4-FFF2-40B4-BE49-F238E27FC236}">
                  <a16:creationId xmlns:a16="http://schemas.microsoft.com/office/drawing/2014/main" id="{FC9A9518-8108-5683-6E65-4263FDC65635}"/>
                </a:ext>
              </a:extLst>
            </p:cNvPr>
            <p:cNvPicPr>
              <a:picLocks noChangeAspect="1"/>
            </p:cNvPicPr>
            <p:nvPr/>
          </p:nvPicPr>
          <p:blipFill>
            <a:blip r:embed="rId8">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9" name="TextBox 48">
            <a:extLst>
              <a:ext uri="{FF2B5EF4-FFF2-40B4-BE49-F238E27FC236}">
                <a16:creationId xmlns:a16="http://schemas.microsoft.com/office/drawing/2014/main" id="{0208A3CA-4DF3-D4B6-B9D3-1B2C9A2301B4}"/>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0" name="TextBox 49">
            <a:extLst>
              <a:ext uri="{FF2B5EF4-FFF2-40B4-BE49-F238E27FC236}">
                <a16:creationId xmlns:a16="http://schemas.microsoft.com/office/drawing/2014/main" id="{645586DE-FB31-A187-0B20-38DCA255B650}"/>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1" name="TextBox 50">
            <a:extLst>
              <a:ext uri="{FF2B5EF4-FFF2-40B4-BE49-F238E27FC236}">
                <a16:creationId xmlns:a16="http://schemas.microsoft.com/office/drawing/2014/main" id="{2CB8651A-18B0-AB82-9704-637F6C8EDF8E}"/>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2" name="Rectangle 51">
            <a:extLst>
              <a:ext uri="{FF2B5EF4-FFF2-40B4-BE49-F238E27FC236}">
                <a16:creationId xmlns:a16="http://schemas.microsoft.com/office/drawing/2014/main" id="{7634593A-E72C-9341-702E-CDC6F8E60BE0}"/>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818476791"/>
      </p:ext>
    </p:extLst>
  </p:cSld>
  <p:clrMapOvr>
    <a:masterClrMapping/>
  </p:clrMapOvr>
  <p:extLst>
    <p:ext uri="{6950BFC3-D8DA-4A85-94F7-54DA5524770B}">
      <p188:commentRel xmlns:p188="http://schemas.microsoft.com/office/powerpoint/2018/8/main" r:id="rId2"/>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C387067-BAEE-4346-9485-AE63BA783C93}"/>
              </a:ext>
            </a:extLst>
          </p:cNvPr>
          <p:cNvSpPr>
            <a:spLocks noGrp="1"/>
          </p:cNvSpPr>
          <p:nvPr>
            <p:ph type="title" sz="quarter"/>
          </p:nvPr>
        </p:nvSpPr>
        <p:spPr/>
        <p:txBody>
          <a:bodyPr/>
          <a:lstStyle/>
          <a:p>
            <a:r>
              <a:rPr lang="en-US" b="1" spc="-25" dirty="0">
                <a:solidFill>
                  <a:srgbClr val="1D1D1D"/>
                </a:solidFill>
                <a:ea typeface="Helvetica Neue" panose="02000503000000020004" pitchFamily="2" charset="0"/>
                <a:cs typeface="Helvetica Neue" panose="02000503000000020004" pitchFamily="2" charset="0"/>
              </a:rPr>
              <a:t>Work, role, talent risks</a:t>
            </a:r>
          </a:p>
        </p:txBody>
      </p:sp>
      <p:grpSp>
        <p:nvGrpSpPr>
          <p:cNvPr id="54" name="Group 53">
            <a:extLst>
              <a:ext uri="{FF2B5EF4-FFF2-40B4-BE49-F238E27FC236}">
                <a16:creationId xmlns:a16="http://schemas.microsoft.com/office/drawing/2014/main" id="{D020E8A7-DA48-8FC9-BD52-097B2DD23867}"/>
              </a:ext>
            </a:extLst>
          </p:cNvPr>
          <p:cNvGrpSpPr/>
          <p:nvPr/>
        </p:nvGrpSpPr>
        <p:grpSpPr>
          <a:xfrm>
            <a:off x="724052" y="1396934"/>
            <a:ext cx="10743896" cy="3385445"/>
            <a:chOff x="543039" y="1047700"/>
            <a:chExt cx="8057922" cy="2539084"/>
          </a:xfrm>
        </p:grpSpPr>
        <p:sp>
          <p:nvSpPr>
            <p:cNvPr id="55" name="Rectangle 54">
              <a:extLst>
                <a:ext uri="{FF2B5EF4-FFF2-40B4-BE49-F238E27FC236}">
                  <a16:creationId xmlns:a16="http://schemas.microsoft.com/office/drawing/2014/main" id="{61469B2E-BCC8-1847-EE65-90669638137B}"/>
                </a:ext>
              </a:extLst>
            </p:cNvPr>
            <p:cNvSpPr/>
            <p:nvPr/>
          </p:nvSpPr>
          <p:spPr>
            <a:xfrm>
              <a:off x="543039" y="2154417"/>
              <a:ext cx="8057922" cy="1432367"/>
            </a:xfrm>
            <a:prstGeom prst="rect">
              <a:avLst/>
            </a:prstGeom>
            <a:solidFill>
              <a:schemeClr val="bg1">
                <a:lumMod val="8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600" spc="-10">
                <a:latin typeface="Arial" pitchFamily="34" charset="0"/>
                <a:ea typeface="Helvetica Neue" panose="02000503000000020004" pitchFamily="2" charset="0"/>
                <a:cs typeface="Helvetica Neue" panose="02000503000000020004" pitchFamily="2" charset="0"/>
              </a:endParaRPr>
            </a:p>
          </p:txBody>
        </p:sp>
        <p:sp>
          <p:nvSpPr>
            <p:cNvPr id="56" name="Rectangle 55">
              <a:extLst>
                <a:ext uri="{FF2B5EF4-FFF2-40B4-BE49-F238E27FC236}">
                  <a16:creationId xmlns:a16="http://schemas.microsoft.com/office/drawing/2014/main" id="{84E69D9A-FFCD-0E6C-87DB-A4804C8E8992}"/>
                </a:ext>
              </a:extLst>
            </p:cNvPr>
            <p:cNvSpPr/>
            <p:nvPr/>
          </p:nvSpPr>
          <p:spPr>
            <a:xfrm>
              <a:off x="3666219" y="1459013"/>
              <a:ext cx="1802602" cy="1935459"/>
            </a:xfrm>
            <a:prstGeom prst="rect">
              <a:avLst/>
            </a:prstGeom>
            <a:solidFill>
              <a:schemeClr val="tx1">
                <a:lumMod val="50000"/>
                <a:lumOff val="50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ctr"/>
              <a:r>
                <a:rPr lang="en-US" sz="1400" spc="-10" dirty="0">
                  <a:solidFill>
                    <a:schemeClr val="bg1"/>
                  </a:solidFill>
                  <a:latin typeface="Arial" pitchFamily="34" charset="0"/>
                  <a:ea typeface="Helvetica Neue" panose="02000503000000020004" pitchFamily="2" charset="0"/>
                  <a:cs typeface="Helvetica Neue" panose="02000503000000020004" pitchFamily="2" charset="0"/>
                </a:rPr>
                <a:t>FUTURE JOBS TO </a:t>
              </a:r>
            </a:p>
            <a:p>
              <a:pPr algn="ctr"/>
              <a:r>
                <a:rPr lang="en-US" sz="1400" spc="-10" dirty="0">
                  <a:solidFill>
                    <a:schemeClr val="bg1"/>
                  </a:solidFill>
                  <a:latin typeface="Arial" pitchFamily="34" charset="0"/>
                  <a:ea typeface="Helvetica Neue" panose="02000503000000020004" pitchFamily="2" charset="0"/>
                  <a:cs typeface="Helvetica Neue" panose="02000503000000020004" pitchFamily="2" charset="0"/>
                </a:rPr>
                <a:t>BE </a:t>
              </a:r>
              <a:r>
                <a:rPr lang="en-US" sz="1400" b="1" spc="-10" dirty="0">
                  <a:solidFill>
                    <a:srgbClr val="1D1D1D"/>
                  </a:solidFill>
                  <a:latin typeface="Segoe UI" pitchFamily="34" charset="0"/>
                  <a:ea typeface="Helvetica Neue" panose="02000503000000020004" pitchFamily="2" charset="0"/>
                  <a:cs typeface="Helvetica Neue" panose="02000503000000020004" pitchFamily="2" charset="0"/>
                </a:rPr>
                <a:t>DONE</a:t>
              </a:r>
              <a:r>
                <a:rPr lang="en-US" sz="1400" spc="-10" dirty="0">
                  <a:solidFill>
                    <a:schemeClr val="bg1"/>
                  </a:solidFill>
                  <a:latin typeface="Arial" pitchFamily="34" charset="0"/>
                  <a:ea typeface="Helvetica Neue" panose="02000503000000020004" pitchFamily="2" charset="0"/>
                  <a:cs typeface="Helvetica Neue" panose="02000503000000020004" pitchFamily="2" charset="0"/>
                </a:rPr>
                <a:t> </a:t>
              </a:r>
              <a:br>
                <a:rPr lang="en-US" sz="1400" spc="-10" dirty="0">
                  <a:solidFill>
                    <a:schemeClr val="bg1"/>
                  </a:solidFill>
                  <a:latin typeface="Arial" pitchFamily="34" charset="0"/>
                  <a:ea typeface="Helvetica Neue" panose="02000503000000020004" pitchFamily="2" charset="0"/>
                  <a:cs typeface="Helvetica Neue" panose="02000503000000020004" pitchFamily="2" charset="0"/>
                </a:rPr>
              </a:br>
              <a:r>
                <a:rPr lang="en-US" sz="1400" spc="-10" dirty="0">
                  <a:solidFill>
                    <a:schemeClr val="bg1"/>
                  </a:solidFill>
                  <a:latin typeface="Arial" pitchFamily="34" charset="0"/>
                  <a:ea typeface="Helvetica Neue" panose="02000503000000020004" pitchFamily="2" charset="0"/>
                  <a:cs typeface="Helvetica Neue" panose="02000503000000020004" pitchFamily="2" charset="0"/>
                </a:rPr>
                <a:t>(JTBD)</a:t>
              </a:r>
            </a:p>
            <a:p>
              <a:pPr algn="ctr"/>
              <a:endParaRPr lang="en-US" sz="1200" spc="-10" dirty="0">
                <a:solidFill>
                  <a:schemeClr val="bg1"/>
                </a:solidFill>
                <a:latin typeface="Arial" pitchFamily="34" charset="0"/>
                <a:ea typeface="Helvetica Neue" panose="02000503000000020004" pitchFamily="2" charset="0"/>
                <a:cs typeface="Helvetica Neue" panose="02000503000000020004" pitchFamily="2" charset="0"/>
              </a:endParaRPr>
            </a:p>
            <a:p>
              <a:pPr algn="ctr"/>
              <a:r>
                <a:rPr lang="en-US" sz="1600" spc="-10" dirty="0">
                  <a:solidFill>
                    <a:schemeClr val="bg1"/>
                  </a:solidFill>
                  <a:latin typeface="Arial" pitchFamily="34" charset="0"/>
                  <a:ea typeface="Helvetica Neue" panose="02000503000000020004" pitchFamily="2" charset="0"/>
                  <a:cs typeface="Helvetica Neue" panose="02000503000000020004" pitchFamily="2" charset="0"/>
                </a:rPr>
                <a:t>The three to five key actions and outcomes that must be delivered by the ROLE</a:t>
              </a:r>
              <a:r>
                <a:rPr lang="en-US" sz="1600" spc="-10" dirty="0">
                  <a:solidFill>
                    <a:srgbClr val="00C27A"/>
                  </a:solidFill>
                  <a:latin typeface="Arial" pitchFamily="34" charset="0"/>
                  <a:ea typeface="Helvetica Neue" panose="02000503000000020004" pitchFamily="2" charset="0"/>
                  <a:cs typeface="Helvetica Neue" panose="02000503000000020004" pitchFamily="2" charset="0"/>
                </a:rPr>
                <a:t>•</a:t>
              </a:r>
              <a:r>
                <a:rPr lang="en-US" sz="1600" spc="-10" dirty="0">
                  <a:solidFill>
                    <a:schemeClr val="bg1"/>
                  </a:solidFill>
                  <a:latin typeface="Arial" pitchFamily="34" charset="0"/>
                  <a:ea typeface="Helvetica Neue" panose="02000503000000020004" pitchFamily="2" charset="0"/>
                  <a:cs typeface="Helvetica Neue" panose="02000503000000020004" pitchFamily="2" charset="0"/>
                </a:rPr>
                <a:t>TALENT combination</a:t>
              </a:r>
            </a:p>
          </p:txBody>
        </p:sp>
        <p:grpSp>
          <p:nvGrpSpPr>
            <p:cNvPr id="57" name="Group 56">
              <a:extLst>
                <a:ext uri="{FF2B5EF4-FFF2-40B4-BE49-F238E27FC236}">
                  <a16:creationId xmlns:a16="http://schemas.microsoft.com/office/drawing/2014/main" id="{832BD268-BF92-D0FB-6136-DBD995614196}"/>
                </a:ext>
              </a:extLst>
            </p:cNvPr>
            <p:cNvGrpSpPr/>
            <p:nvPr/>
          </p:nvGrpSpPr>
          <p:grpSpPr>
            <a:xfrm>
              <a:off x="5785522" y="1459015"/>
              <a:ext cx="2670395" cy="1935458"/>
              <a:chOff x="6570202" y="3050809"/>
              <a:chExt cx="3560527" cy="2580610"/>
            </a:xfrm>
          </p:grpSpPr>
          <p:sp>
            <p:nvSpPr>
              <p:cNvPr id="67" name="Rectangle 66">
                <a:extLst>
                  <a:ext uri="{FF2B5EF4-FFF2-40B4-BE49-F238E27FC236}">
                    <a16:creationId xmlns:a16="http://schemas.microsoft.com/office/drawing/2014/main" id="{163E2543-EE8E-B1FD-1FAC-332696FB7A72}"/>
                  </a:ext>
                </a:extLst>
              </p:cNvPr>
              <p:cNvSpPr/>
              <p:nvPr/>
            </p:nvSpPr>
            <p:spPr>
              <a:xfrm>
                <a:off x="6570202" y="3050809"/>
                <a:ext cx="3560527" cy="2580610"/>
              </a:xfrm>
              <a:prstGeom prst="rect">
                <a:avLst/>
              </a:prstGeom>
              <a:solidFill>
                <a:schemeClr val="bg1"/>
              </a:solidFill>
              <a:ln w="9525" cap="rnd">
                <a:noFill/>
                <a:prstDash val="solid"/>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400" spc="-10">
                  <a:latin typeface="Arial" pitchFamily="34" charset="0"/>
                  <a:ea typeface="Helvetica Neue" panose="02000503000000020004" pitchFamily="2" charset="0"/>
                  <a:cs typeface="Helvetica Neue" panose="02000503000000020004" pitchFamily="2" charset="0"/>
                </a:endParaRPr>
              </a:p>
            </p:txBody>
          </p:sp>
          <p:sp>
            <p:nvSpPr>
              <p:cNvPr id="68" name="TextBox 67">
                <a:extLst>
                  <a:ext uri="{FF2B5EF4-FFF2-40B4-BE49-F238E27FC236}">
                    <a16:creationId xmlns:a16="http://schemas.microsoft.com/office/drawing/2014/main" id="{7B9E4135-B5AE-14E9-6E9C-E741976D5756}"/>
                  </a:ext>
                </a:extLst>
              </p:cNvPr>
              <p:cNvSpPr txBox="1"/>
              <p:nvPr/>
            </p:nvSpPr>
            <p:spPr>
              <a:xfrm>
                <a:off x="7490312" y="3278509"/>
                <a:ext cx="2286000" cy="2125210"/>
              </a:xfrm>
              <a:prstGeom prst="rect">
                <a:avLst/>
              </a:prstGeom>
              <a:noFill/>
            </p:spPr>
            <p:txBody>
              <a:bodyPr wrap="square" lIns="91440" tIns="45720" rIns="91440" bIns="45720" rtlCol="0" anchor="ctr">
                <a:noAutofit/>
              </a:bodyPr>
              <a:lstStyle/>
              <a:p>
                <a:r>
                  <a:rPr lang="en-US" sz="1400" spc="-10" dirty="0">
                    <a:solidFill>
                      <a:schemeClr val="tx1">
                        <a:lumMod val="75000"/>
                        <a:lumOff val="25000"/>
                      </a:schemeClr>
                    </a:solidFill>
                    <a:latin typeface="Arial" pitchFamily="34" charset="0"/>
                    <a:ea typeface="Helvetica Neue" panose="02000503000000020004" pitchFamily="2" charset="0"/>
                    <a:cs typeface="Helvetica Neue" panose="02000503000000020004" pitchFamily="2" charset="0"/>
                  </a:rPr>
                  <a:t>TALENT</a:t>
                </a:r>
                <a:r>
                  <a:rPr lang="en-US" sz="1400" spc="-10" dirty="0">
                    <a:solidFill>
                      <a:srgbClr val="00C27A"/>
                    </a:solidFill>
                    <a:latin typeface="Arial" pitchFamily="34" charset="0"/>
                    <a:ea typeface="Helvetica Neue" panose="02000503000000020004" pitchFamily="2" charset="0"/>
                    <a:cs typeface="Helvetica Neue" panose="02000503000000020004" pitchFamily="2" charset="0"/>
                  </a:rPr>
                  <a:t> </a:t>
                </a:r>
                <a:r>
                  <a:rPr lang="en-US" sz="1400" spc="-10" dirty="0">
                    <a:solidFill>
                      <a:schemeClr val="tx1">
                        <a:lumMod val="75000"/>
                        <a:lumOff val="25000"/>
                      </a:schemeClr>
                    </a:solidFill>
                    <a:latin typeface="Arial" pitchFamily="34" charset="0"/>
                    <a:ea typeface="Helvetica Neue" panose="02000503000000020004" pitchFamily="2" charset="0"/>
                    <a:cs typeface="Helvetica Neue" panose="02000503000000020004" pitchFamily="2" charset="0"/>
                  </a:rPr>
                  <a:t>RISKS</a:t>
                </a:r>
              </a:p>
              <a:p>
                <a:r>
                  <a:rPr lang="en-US" sz="1600" spc="-10" dirty="0">
                    <a:solidFill>
                      <a:schemeClr val="tx1">
                        <a:lumMod val="75000"/>
                        <a:lumOff val="25000"/>
                      </a:schemeClr>
                    </a:solidFill>
                    <a:latin typeface="Arial" pitchFamily="34" charset="0"/>
                    <a:ea typeface="Helvetica Neue" panose="02000503000000020004" pitchFamily="2" charset="0"/>
                    <a:cs typeface="Helvetica Neue" panose="02000503000000020004" pitchFamily="2" charset="0"/>
                  </a:rPr>
                  <a:t>Evidence collected on four talent features filtered through the lens of the future Jobs to Be </a:t>
                </a:r>
                <a:r>
                  <a:rPr lang="en-US" sz="1600" spc="-10" dirty="0">
                    <a:solidFill>
                      <a:schemeClr val="accent1"/>
                    </a:solidFill>
                    <a:latin typeface="Arial" pitchFamily="34" charset="0"/>
                    <a:ea typeface="Helvetica Neue" panose="02000503000000020004" pitchFamily="2" charset="0"/>
                    <a:cs typeface="Helvetica Neue" panose="02000503000000020004" pitchFamily="2" charset="0"/>
                  </a:rPr>
                  <a:t>Done</a:t>
                </a:r>
                <a:endParaRPr lang="en-US" sz="1200" spc="-10" dirty="0">
                  <a:solidFill>
                    <a:schemeClr val="accent1"/>
                  </a:solidFill>
                  <a:latin typeface="Arial" pitchFamily="34" charset="0"/>
                  <a:ea typeface="Helvetica Neue" panose="02000503000000020004" pitchFamily="2" charset="0"/>
                  <a:cs typeface="Helvetica Neue" panose="02000503000000020004" pitchFamily="2" charset="0"/>
                </a:endParaRPr>
              </a:p>
            </p:txBody>
          </p:sp>
        </p:grpSp>
        <p:sp>
          <p:nvSpPr>
            <p:cNvPr id="58" name="Rectangle 57">
              <a:extLst>
                <a:ext uri="{FF2B5EF4-FFF2-40B4-BE49-F238E27FC236}">
                  <a16:creationId xmlns:a16="http://schemas.microsoft.com/office/drawing/2014/main" id="{2AAABC4B-EA9F-7A8D-6CE6-619B77BBDB22}"/>
                </a:ext>
              </a:extLst>
            </p:cNvPr>
            <p:cNvSpPr/>
            <p:nvPr/>
          </p:nvSpPr>
          <p:spPr>
            <a:xfrm>
              <a:off x="688084" y="1459015"/>
              <a:ext cx="2670395" cy="1935459"/>
            </a:xfrm>
            <a:prstGeom prst="rect">
              <a:avLst/>
            </a:prstGeom>
            <a:solidFill>
              <a:schemeClr val="bg1"/>
            </a:solidFill>
            <a:ln w="9525" cap="rnd">
              <a:noFill/>
              <a:prstDash val="solid"/>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400" spc="-10">
                <a:latin typeface="Arial" pitchFamily="34" charset="0"/>
                <a:ea typeface="Helvetica Neue" panose="02000503000000020004" pitchFamily="2" charset="0"/>
                <a:cs typeface="Helvetica Neue" panose="02000503000000020004" pitchFamily="2" charset="0"/>
              </a:endParaRPr>
            </a:p>
          </p:txBody>
        </p:sp>
        <p:sp>
          <p:nvSpPr>
            <p:cNvPr id="59" name="TextBox 58">
              <a:extLst>
                <a:ext uri="{FF2B5EF4-FFF2-40B4-BE49-F238E27FC236}">
                  <a16:creationId xmlns:a16="http://schemas.microsoft.com/office/drawing/2014/main" id="{31E07CC9-A372-41FB-9EB0-566917FB1C28}"/>
                </a:ext>
              </a:extLst>
            </p:cNvPr>
            <p:cNvSpPr txBox="1"/>
            <p:nvPr/>
          </p:nvSpPr>
          <p:spPr>
            <a:xfrm>
              <a:off x="741167" y="1629792"/>
              <a:ext cx="1714500" cy="1593907"/>
            </a:xfrm>
            <a:prstGeom prst="rect">
              <a:avLst/>
            </a:prstGeom>
            <a:noFill/>
          </p:spPr>
          <p:txBody>
            <a:bodyPr wrap="square" lIns="91440" tIns="45720" rIns="91440" bIns="45720" rtlCol="0" anchor="ctr">
              <a:noAutofit/>
            </a:bodyPr>
            <a:lstStyle/>
            <a:p>
              <a:pPr algn="r"/>
              <a:r>
                <a:rPr lang="en-US" sz="1400" spc="-10" dirty="0">
                  <a:solidFill>
                    <a:srgbClr val="00C27A"/>
                  </a:solidFill>
                  <a:latin typeface="Arial" pitchFamily="34" charset="0"/>
                  <a:ea typeface="Helvetica Neue" panose="02000503000000020004" pitchFamily="2" charset="0"/>
                  <a:cs typeface="Helvetica Neue" panose="02000503000000020004" pitchFamily="2" charset="0"/>
                </a:rPr>
                <a:t>ROLE </a:t>
              </a:r>
              <a:r>
                <a:rPr lang="en-US" sz="1400" spc="-10" dirty="0">
                  <a:solidFill>
                    <a:schemeClr val="tx1">
                      <a:lumMod val="75000"/>
                      <a:lumOff val="25000"/>
                    </a:schemeClr>
                  </a:solidFill>
                  <a:latin typeface="Arial" pitchFamily="34" charset="0"/>
                  <a:ea typeface="Helvetica Neue" panose="02000503000000020004" pitchFamily="2" charset="0"/>
                  <a:cs typeface="Helvetica Neue" panose="02000503000000020004" pitchFamily="2" charset="0"/>
                </a:rPr>
                <a:t>RISKS</a:t>
              </a:r>
            </a:p>
            <a:p>
              <a:pPr algn="r"/>
              <a:r>
                <a:rPr lang="en-US" sz="1600" spc="-10" dirty="0">
                  <a:solidFill>
                    <a:schemeClr val="tx1">
                      <a:lumMod val="75000"/>
                      <a:lumOff val="25000"/>
                    </a:schemeClr>
                  </a:solidFill>
                  <a:latin typeface="Arial" pitchFamily="34" charset="0"/>
                  <a:ea typeface="Helvetica Neue" panose="02000503000000020004" pitchFamily="2" charset="0"/>
                  <a:cs typeface="Helvetica Neue" panose="02000503000000020004" pitchFamily="2" charset="0"/>
                </a:rPr>
                <a:t>Evidence collected on four role design features filtered through the lens of the future Jobs to Be Done</a:t>
              </a:r>
              <a:endParaRPr lang="en-US" sz="1400" spc="-10" dirty="0">
                <a:solidFill>
                  <a:schemeClr val="tx1">
                    <a:lumMod val="75000"/>
                    <a:lumOff val="25000"/>
                  </a:schemeClr>
                </a:solidFill>
                <a:latin typeface="Arial" pitchFamily="34" charset="0"/>
                <a:ea typeface="Helvetica Neue" panose="02000503000000020004" pitchFamily="2" charset="0"/>
                <a:cs typeface="Helvetica Neue" panose="02000503000000020004" pitchFamily="2" charset="0"/>
              </a:endParaRPr>
            </a:p>
          </p:txBody>
        </p:sp>
        <p:sp>
          <p:nvSpPr>
            <p:cNvPr id="60" name="Triangle 59">
              <a:extLst>
                <a:ext uri="{FF2B5EF4-FFF2-40B4-BE49-F238E27FC236}">
                  <a16:creationId xmlns:a16="http://schemas.microsoft.com/office/drawing/2014/main" id="{9FF6EEDC-BDDC-178B-7F9D-03DA3F6D0711}"/>
                </a:ext>
              </a:extLst>
            </p:cNvPr>
            <p:cNvSpPr/>
            <p:nvPr/>
          </p:nvSpPr>
          <p:spPr>
            <a:xfrm rot="5400000">
              <a:off x="3368462" y="2351285"/>
              <a:ext cx="324000" cy="162000"/>
            </a:xfrm>
            <a:prstGeom prst="triangle">
              <a:avLst/>
            </a:prstGeom>
            <a:solidFill>
              <a:srgbClr val="281A42"/>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600" spc="-10">
                <a:latin typeface="Arial" pitchFamily="34" charset="0"/>
                <a:ea typeface="Helvetica Neue" panose="02000503000000020004" pitchFamily="2" charset="0"/>
                <a:cs typeface="Helvetica Neue" panose="02000503000000020004" pitchFamily="2" charset="0"/>
              </a:endParaRPr>
            </a:p>
          </p:txBody>
        </p:sp>
        <p:sp>
          <p:nvSpPr>
            <p:cNvPr id="61" name="Triangle 60">
              <a:extLst>
                <a:ext uri="{FF2B5EF4-FFF2-40B4-BE49-F238E27FC236}">
                  <a16:creationId xmlns:a16="http://schemas.microsoft.com/office/drawing/2014/main" id="{9CE5603C-12A0-92A9-B18F-4EBB1CDD15B8}"/>
                </a:ext>
              </a:extLst>
            </p:cNvPr>
            <p:cNvSpPr/>
            <p:nvPr/>
          </p:nvSpPr>
          <p:spPr>
            <a:xfrm rot="16200000">
              <a:off x="5456598" y="2341431"/>
              <a:ext cx="324000" cy="172123"/>
            </a:xfrm>
            <a:prstGeom prst="triangle">
              <a:avLst/>
            </a:prstGeom>
            <a:solidFill>
              <a:schemeClr val="tx1">
                <a:lumMod val="75000"/>
                <a:lumOff val="2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600" spc="-10">
                <a:latin typeface="Arial" pitchFamily="34" charset="0"/>
                <a:ea typeface="Helvetica Neue" panose="02000503000000020004" pitchFamily="2" charset="0"/>
                <a:cs typeface="Helvetica Neue" panose="02000503000000020004" pitchFamily="2" charset="0"/>
              </a:endParaRPr>
            </a:p>
          </p:txBody>
        </p:sp>
        <p:sp>
          <p:nvSpPr>
            <p:cNvPr id="62" name="Rectangle 61">
              <a:extLst>
                <a:ext uri="{FF2B5EF4-FFF2-40B4-BE49-F238E27FC236}">
                  <a16:creationId xmlns:a16="http://schemas.microsoft.com/office/drawing/2014/main" id="{BC4107B4-2933-DAD9-6837-D34C9F3727A5}"/>
                </a:ext>
              </a:extLst>
            </p:cNvPr>
            <p:cNvSpPr/>
            <p:nvPr/>
          </p:nvSpPr>
          <p:spPr>
            <a:xfrm>
              <a:off x="688084" y="1050389"/>
              <a:ext cx="2670395" cy="302060"/>
            </a:xfrm>
            <a:prstGeom prst="rect">
              <a:avLst/>
            </a:prstGeom>
            <a:solidFill>
              <a:srgbClr val="281A42"/>
            </a:solidFill>
            <a:ln w="9525">
              <a:solidFill>
                <a:srgbClr val="2B3A4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spc="-10">
                  <a:latin typeface="Segoe UI" pitchFamily="34" charset="0"/>
                  <a:ea typeface="Helvetica Neue" panose="02000503000000020004" pitchFamily="2" charset="0"/>
                  <a:cs typeface="Helvetica Neue" panose="02000503000000020004" pitchFamily="2" charset="0"/>
                </a:rPr>
                <a:t>THE ROLE</a:t>
              </a:r>
            </a:p>
          </p:txBody>
        </p:sp>
        <p:sp>
          <p:nvSpPr>
            <p:cNvPr id="63" name="Rectangle 62">
              <a:extLst>
                <a:ext uri="{FF2B5EF4-FFF2-40B4-BE49-F238E27FC236}">
                  <a16:creationId xmlns:a16="http://schemas.microsoft.com/office/drawing/2014/main" id="{66DFF01F-2458-6D2A-F0E1-CAA622CE69B6}"/>
                </a:ext>
              </a:extLst>
            </p:cNvPr>
            <p:cNvSpPr/>
            <p:nvPr/>
          </p:nvSpPr>
          <p:spPr>
            <a:xfrm>
              <a:off x="3666219" y="1047700"/>
              <a:ext cx="1802602" cy="302060"/>
            </a:xfrm>
            <a:prstGeom prst="rect">
              <a:avLst/>
            </a:prstGeom>
            <a:solidFill>
              <a:schemeClr val="tx1">
                <a:lumMod val="50000"/>
                <a:lumOff val="50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spc="-10">
                  <a:latin typeface="Segoe UI" pitchFamily="34" charset="0"/>
                  <a:ea typeface="Helvetica Neue" panose="02000503000000020004" pitchFamily="2" charset="0"/>
                  <a:cs typeface="Helvetica Neue" panose="02000503000000020004" pitchFamily="2" charset="0"/>
                </a:rPr>
                <a:t>THE WORK</a:t>
              </a:r>
            </a:p>
          </p:txBody>
        </p:sp>
        <p:sp>
          <p:nvSpPr>
            <p:cNvPr id="64" name="Rectangle 63">
              <a:extLst>
                <a:ext uri="{FF2B5EF4-FFF2-40B4-BE49-F238E27FC236}">
                  <a16:creationId xmlns:a16="http://schemas.microsoft.com/office/drawing/2014/main" id="{6671426B-C6E0-682A-AC7D-D6DC9ED7EBD0}"/>
                </a:ext>
              </a:extLst>
            </p:cNvPr>
            <p:cNvSpPr/>
            <p:nvPr/>
          </p:nvSpPr>
          <p:spPr>
            <a:xfrm>
              <a:off x="5785522" y="1047700"/>
              <a:ext cx="2670395" cy="302060"/>
            </a:xfrm>
            <a:prstGeom prst="rect">
              <a:avLst/>
            </a:prstGeom>
            <a:solidFill>
              <a:schemeClr val="tx1">
                <a:lumMod val="75000"/>
                <a:lumOff val="25000"/>
              </a:schemeClr>
            </a:solidFill>
            <a:ln w="95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spc="-10">
                  <a:latin typeface="Segoe UI" pitchFamily="34" charset="0"/>
                  <a:ea typeface="Helvetica Neue" panose="02000503000000020004" pitchFamily="2" charset="0"/>
                  <a:cs typeface="Helvetica Neue" panose="02000503000000020004" pitchFamily="2" charset="0"/>
                </a:rPr>
                <a:t>THE TALENT</a:t>
              </a:r>
            </a:p>
          </p:txBody>
        </p:sp>
        <p:pic>
          <p:nvPicPr>
            <p:cNvPr id="65" name="Picture 64" descr="Role, talent, red">
              <a:extLst>
                <a:ext uri="{FF2B5EF4-FFF2-40B4-BE49-F238E27FC236}">
                  <a16:creationId xmlns:a16="http://schemas.microsoft.com/office/drawing/2014/main" id="{0E3660C4-4F87-3DD3-9F3C-48E84CBDD797}"/>
                </a:ext>
              </a:extLst>
            </p:cNvPr>
            <p:cNvPicPr>
              <a:picLocks noChangeAspect="1"/>
            </p:cNvPicPr>
            <p:nvPr/>
          </p:nvPicPr>
          <p:blipFill>
            <a:blip r:embed="rId3">
              <a:duotone>
                <a:srgbClr val="765FFF"/>
                <a:srgbClr val="FFFFFF"/>
              </a:duotone>
            </a:blip>
            <a:stretch>
              <a:fillRect/>
            </a:stretch>
          </p:blipFill>
          <p:spPr>
            <a:xfrm>
              <a:off x="2467526" y="2021742"/>
              <a:ext cx="810000" cy="810000"/>
            </a:xfrm>
            <a:prstGeom prst="rect">
              <a:avLst/>
            </a:prstGeom>
          </p:spPr>
        </p:pic>
        <p:pic>
          <p:nvPicPr>
            <p:cNvPr id="66" name="Picture 65" descr="Harnold, grey role">
              <a:extLst>
                <a:ext uri="{FF2B5EF4-FFF2-40B4-BE49-F238E27FC236}">
                  <a16:creationId xmlns:a16="http://schemas.microsoft.com/office/drawing/2014/main" id="{EB67E3D0-98D4-1646-543F-FC5C431BF8BB}"/>
                </a:ext>
              </a:extLst>
            </p:cNvPr>
            <p:cNvPicPr>
              <a:picLocks noChangeAspect="1"/>
            </p:cNvPicPr>
            <p:nvPr/>
          </p:nvPicPr>
          <p:blipFill>
            <a:blip r:embed="rId4">
              <a:duotone>
                <a:srgbClr val="765FFF"/>
                <a:srgbClr val="FFFFFF"/>
              </a:duotone>
            </a:blip>
            <a:stretch>
              <a:fillRect/>
            </a:stretch>
          </p:blipFill>
          <p:spPr>
            <a:xfrm>
              <a:off x="5823134" y="2089242"/>
              <a:ext cx="675000" cy="675000"/>
            </a:xfrm>
            <a:prstGeom prst="rect">
              <a:avLst/>
            </a:prstGeom>
          </p:spPr>
        </p:pic>
      </p:grpSp>
      <p:grpSp>
        <p:nvGrpSpPr>
          <p:cNvPr id="69" name="Group 68">
            <a:extLst>
              <a:ext uri="{FF2B5EF4-FFF2-40B4-BE49-F238E27FC236}">
                <a16:creationId xmlns:a16="http://schemas.microsoft.com/office/drawing/2014/main" id="{84F045DE-282F-2E94-90CB-96A2DD3A865A}"/>
              </a:ext>
            </a:extLst>
          </p:cNvPr>
          <p:cNvGrpSpPr/>
          <p:nvPr/>
        </p:nvGrpSpPr>
        <p:grpSpPr>
          <a:xfrm>
            <a:off x="1525558" y="4959280"/>
            <a:ext cx="9128935" cy="1352904"/>
            <a:chOff x="978568" y="1384422"/>
            <a:chExt cx="10245988" cy="2324947"/>
          </a:xfrm>
        </p:grpSpPr>
        <p:sp>
          <p:nvSpPr>
            <p:cNvPr id="70" name="Rectangle 69">
              <a:extLst>
                <a:ext uri="{FF2B5EF4-FFF2-40B4-BE49-F238E27FC236}">
                  <a16:creationId xmlns:a16="http://schemas.microsoft.com/office/drawing/2014/main" id="{06713C68-132A-5C90-A6C6-11428AC2C181}"/>
                </a:ext>
              </a:extLst>
            </p:cNvPr>
            <p:cNvSpPr/>
            <p:nvPr/>
          </p:nvSpPr>
          <p:spPr>
            <a:xfrm>
              <a:off x="978568" y="1384422"/>
              <a:ext cx="10245988" cy="2324947"/>
            </a:xfrm>
            <a:prstGeom prst="rect">
              <a:avLst/>
            </a:prstGeom>
            <a:solidFill>
              <a:schemeClr val="bg1">
                <a:lumMod val="8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400" spc="-10">
                <a:latin typeface="Arial" pitchFamily="34" charset="0"/>
                <a:ea typeface="Helvetica Neue" panose="02000503000000020004" pitchFamily="2" charset="0"/>
                <a:cs typeface="Helvetica Neue" panose="02000503000000020004" pitchFamily="2" charset="0"/>
              </a:endParaRPr>
            </a:p>
          </p:txBody>
        </p:sp>
        <p:grpSp>
          <p:nvGrpSpPr>
            <p:cNvPr id="71" name="Group 70">
              <a:extLst>
                <a:ext uri="{FF2B5EF4-FFF2-40B4-BE49-F238E27FC236}">
                  <a16:creationId xmlns:a16="http://schemas.microsoft.com/office/drawing/2014/main" id="{23F8DB73-9693-04DF-02B0-5657E3A5D529}"/>
                </a:ext>
              </a:extLst>
            </p:cNvPr>
            <p:cNvGrpSpPr/>
            <p:nvPr/>
          </p:nvGrpSpPr>
          <p:grpSpPr>
            <a:xfrm>
              <a:off x="1226390" y="1512332"/>
              <a:ext cx="9739219" cy="2177375"/>
              <a:chOff x="1226390" y="2488645"/>
              <a:chExt cx="9739219" cy="2177375"/>
            </a:xfrm>
          </p:grpSpPr>
          <p:grpSp>
            <p:nvGrpSpPr>
              <p:cNvPr id="72" name="Group 71">
                <a:extLst>
                  <a:ext uri="{FF2B5EF4-FFF2-40B4-BE49-F238E27FC236}">
                    <a16:creationId xmlns:a16="http://schemas.microsoft.com/office/drawing/2014/main" id="{25AAF57C-1D12-E5C9-C9A9-5CB40D31C277}"/>
                  </a:ext>
                </a:extLst>
              </p:cNvPr>
              <p:cNvGrpSpPr/>
              <p:nvPr/>
            </p:nvGrpSpPr>
            <p:grpSpPr>
              <a:xfrm>
                <a:off x="1226390" y="3256751"/>
                <a:ext cx="9739219" cy="614093"/>
                <a:chOff x="1299715" y="3544232"/>
                <a:chExt cx="2780795" cy="115333"/>
              </a:xfrm>
            </p:grpSpPr>
            <p:sp>
              <p:nvSpPr>
                <p:cNvPr id="77" name="Rectangle">
                  <a:extLst>
                    <a:ext uri="{FF2B5EF4-FFF2-40B4-BE49-F238E27FC236}">
                      <a16:creationId xmlns:a16="http://schemas.microsoft.com/office/drawing/2014/main" id="{E0CD9997-DBA0-3B27-26BA-AD8D0EFBD635}"/>
                    </a:ext>
                  </a:extLst>
                </p:cNvPr>
                <p:cNvSpPr/>
                <p:nvPr/>
              </p:nvSpPr>
              <p:spPr>
                <a:xfrm>
                  <a:off x="1299716" y="3544232"/>
                  <a:ext cx="2780794" cy="115333"/>
                </a:xfrm>
                <a:prstGeom prst="rect">
                  <a:avLst/>
                </a:prstGeom>
                <a:pattFill prst="ltUpDiag">
                  <a:fgClr>
                    <a:srgbClr val="E51A2D"/>
                  </a:fgClr>
                  <a:bgClr>
                    <a:schemeClr val="bg1"/>
                  </a:bgClr>
                </a:pattFill>
                <a:ln w="9525">
                  <a:solidFill>
                    <a:schemeClr val="tx1">
                      <a:lumMod val="75000"/>
                      <a:lumOff val="25000"/>
                    </a:schemeClr>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spc="-10">
                    <a:solidFill>
                      <a:srgbClr val="FFFFFF"/>
                    </a:solidFill>
                    <a:latin typeface="Arial" pitchFamily="34" charset="0"/>
                    <a:ea typeface="Helvetica Neue" panose="02000503000000020004" pitchFamily="2" charset="0"/>
                    <a:cs typeface="Helvetica Neue" panose="02000503000000020004" pitchFamily="2" charset="0"/>
                    <a:sym typeface="Helvetica Neue Medium"/>
                  </a:endParaRPr>
                </a:p>
              </p:txBody>
            </p:sp>
            <p:sp>
              <p:nvSpPr>
                <p:cNvPr id="78" name="Rectangle">
                  <a:extLst>
                    <a:ext uri="{FF2B5EF4-FFF2-40B4-BE49-F238E27FC236}">
                      <a16:creationId xmlns:a16="http://schemas.microsoft.com/office/drawing/2014/main" id="{1AF224BF-0FA3-13F3-0C74-442163867B3E}"/>
                    </a:ext>
                  </a:extLst>
                </p:cNvPr>
                <p:cNvSpPr/>
                <p:nvPr/>
              </p:nvSpPr>
              <p:spPr>
                <a:xfrm>
                  <a:off x="1299715" y="3544232"/>
                  <a:ext cx="1962297" cy="115333"/>
                </a:xfrm>
                <a:prstGeom prst="rect">
                  <a:avLst/>
                </a:prstGeom>
                <a:solidFill>
                  <a:srgbClr val="281A42"/>
                </a:solidFill>
                <a:ln w="9525">
                  <a:solidFill>
                    <a:srgbClr val="2B3A42"/>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spc="-10">
                    <a:solidFill>
                      <a:srgbClr val="E51A2D"/>
                    </a:solidFill>
                    <a:latin typeface="Arial" pitchFamily="34" charset="0"/>
                    <a:ea typeface="Helvetica Neue" panose="02000503000000020004" pitchFamily="2" charset="0"/>
                    <a:cs typeface="Helvetica Neue" panose="02000503000000020004" pitchFamily="2" charset="0"/>
                    <a:sym typeface="Helvetica Neue Medium"/>
                  </a:endParaRPr>
                </a:p>
              </p:txBody>
            </p:sp>
          </p:grpSp>
          <p:sp>
            <p:nvSpPr>
              <p:cNvPr id="73" name="Rectangle 72">
                <a:extLst>
                  <a:ext uri="{FF2B5EF4-FFF2-40B4-BE49-F238E27FC236}">
                    <a16:creationId xmlns:a16="http://schemas.microsoft.com/office/drawing/2014/main" id="{82F23109-07C2-A8ED-86EB-C936FA6ADE38}"/>
                  </a:ext>
                </a:extLst>
              </p:cNvPr>
              <p:cNvSpPr/>
              <p:nvPr/>
            </p:nvSpPr>
            <p:spPr>
              <a:xfrm>
                <a:off x="1235892" y="2488645"/>
                <a:ext cx="6213505" cy="725158"/>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sz="1400" b="1" spc="-10">
                    <a:solidFill>
                      <a:schemeClr val="tx1"/>
                    </a:solidFill>
                    <a:latin typeface="Segoe UI" pitchFamily="34" charset="0"/>
                    <a:ea typeface="Helvetica Neue" panose="02000503000000020004" pitchFamily="2" charset="0"/>
                    <a:cs typeface="Helvetica Neue" panose="02000503000000020004" pitchFamily="2" charset="0"/>
                  </a:rPr>
                  <a:t>ROLE</a:t>
                </a:r>
                <a:r>
                  <a:rPr lang="en-US" sz="1400" b="1" spc="-10">
                    <a:solidFill>
                      <a:schemeClr val="tx1">
                        <a:lumMod val="75000"/>
                        <a:lumOff val="25000"/>
                      </a:schemeClr>
                    </a:solidFill>
                    <a:latin typeface="Segoe UI" pitchFamily="34" charset="0"/>
                    <a:ea typeface="Helvetica Neue" panose="02000503000000020004" pitchFamily="2" charset="0"/>
                    <a:cs typeface="Helvetica Neue" panose="02000503000000020004" pitchFamily="2" charset="0"/>
                  </a:rPr>
                  <a:t> RISK</a:t>
                </a:r>
                <a:br>
                  <a:rPr lang="en-US" sz="1400" spc="-10">
                    <a:solidFill>
                      <a:schemeClr val="tx1">
                        <a:lumMod val="75000"/>
                        <a:lumOff val="25000"/>
                      </a:schemeClr>
                    </a:solidFill>
                    <a:latin typeface="Arial" pitchFamily="34" charset="0"/>
                    <a:ea typeface="Helvetica Neue" panose="02000503000000020004" pitchFamily="2" charset="0"/>
                    <a:cs typeface="Helvetica Neue" panose="02000503000000020004" pitchFamily="2" charset="0"/>
                  </a:rPr>
                </a:br>
                <a:r>
                  <a:rPr lang="en-US" sz="1200" spc="-10">
                    <a:solidFill>
                      <a:schemeClr val="tx1">
                        <a:lumMod val="75000"/>
                        <a:lumOff val="25000"/>
                      </a:schemeClr>
                    </a:solidFill>
                    <a:latin typeface="Arial" pitchFamily="34" charset="0"/>
                    <a:ea typeface="Helvetica Neue" panose="02000503000000020004" pitchFamily="2" charset="0"/>
                    <a:cs typeface="Helvetica Neue" panose="02000503000000020004" pitchFamily="2" charset="0"/>
                  </a:rPr>
                  <a:t>Critical - Red and Amber</a:t>
                </a:r>
              </a:p>
            </p:txBody>
          </p:sp>
          <p:sp>
            <p:nvSpPr>
              <p:cNvPr id="74" name="Rectangle 73">
                <a:extLst>
                  <a:ext uri="{FF2B5EF4-FFF2-40B4-BE49-F238E27FC236}">
                    <a16:creationId xmlns:a16="http://schemas.microsoft.com/office/drawing/2014/main" id="{B04FA793-04AF-3D06-D3BC-463FAFEAAA23}"/>
                  </a:ext>
                </a:extLst>
              </p:cNvPr>
              <p:cNvSpPr/>
              <p:nvPr/>
            </p:nvSpPr>
            <p:spPr>
              <a:xfrm>
                <a:off x="4097467" y="3337871"/>
                <a:ext cx="1130424" cy="449343"/>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spc="-10">
                    <a:solidFill>
                      <a:schemeClr val="bg1"/>
                    </a:solidFill>
                    <a:latin typeface="Segoe UI" pitchFamily="34" charset="0"/>
                    <a:ea typeface="Helvetica Neue" panose="02000503000000020004" pitchFamily="2" charset="0"/>
                    <a:cs typeface="Helvetica Neue" panose="02000503000000020004" pitchFamily="2" charset="0"/>
                  </a:rPr>
                  <a:t>70%</a:t>
                </a:r>
                <a:endParaRPr lang="en-US" sz="1400" b="1" spc="-10">
                  <a:solidFill>
                    <a:schemeClr val="bg1"/>
                  </a:solidFill>
                  <a:latin typeface="Segoe UI" pitchFamily="34" charset="0"/>
                  <a:ea typeface="Helvetica Neue" panose="02000503000000020004" pitchFamily="2" charset="0"/>
                  <a:cs typeface="Helvetica Neue" panose="02000503000000020004" pitchFamily="2" charset="0"/>
                </a:endParaRPr>
              </a:p>
            </p:txBody>
          </p:sp>
          <p:sp>
            <p:nvSpPr>
              <p:cNvPr id="75" name="Rectangle 74">
                <a:extLst>
                  <a:ext uri="{FF2B5EF4-FFF2-40B4-BE49-F238E27FC236}">
                    <a16:creationId xmlns:a16="http://schemas.microsoft.com/office/drawing/2014/main" id="{F100E60C-D4F4-FC88-3784-0050478569B2}"/>
                  </a:ext>
                </a:extLst>
              </p:cNvPr>
              <p:cNvSpPr/>
              <p:nvPr/>
            </p:nvSpPr>
            <p:spPr>
              <a:xfrm>
                <a:off x="4752095" y="3940862"/>
                <a:ext cx="6213505" cy="725158"/>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r"/>
                <a:r>
                  <a:rPr lang="en-US" sz="1400" spc="-10">
                    <a:solidFill>
                      <a:srgbClr val="00C27A"/>
                    </a:solidFill>
                    <a:latin typeface="Arial" pitchFamily="34" charset="0"/>
                    <a:ea typeface="Helvetica Neue" panose="02000503000000020004" pitchFamily="2" charset="0"/>
                    <a:cs typeface="Helvetica Neue" panose="02000503000000020004" pitchFamily="2" charset="0"/>
                  </a:rPr>
                  <a:t>TALENT</a:t>
                </a:r>
                <a:r>
                  <a:rPr lang="en-US" sz="1400" spc="-10">
                    <a:solidFill>
                      <a:schemeClr val="tx1">
                        <a:lumMod val="75000"/>
                        <a:lumOff val="25000"/>
                      </a:schemeClr>
                    </a:solidFill>
                    <a:latin typeface="Arial" pitchFamily="34" charset="0"/>
                    <a:ea typeface="Helvetica Neue" panose="02000503000000020004" pitchFamily="2" charset="0"/>
                    <a:cs typeface="Helvetica Neue" panose="02000503000000020004" pitchFamily="2" charset="0"/>
                  </a:rPr>
                  <a:t> RISK </a:t>
                </a:r>
                <a:br>
                  <a:rPr lang="en-US" sz="1400" spc="-10">
                    <a:solidFill>
                      <a:schemeClr val="tx1">
                        <a:lumMod val="75000"/>
                        <a:lumOff val="25000"/>
                      </a:schemeClr>
                    </a:solidFill>
                    <a:latin typeface="Arial" pitchFamily="34" charset="0"/>
                    <a:ea typeface="Helvetica Neue" panose="02000503000000020004" pitchFamily="2" charset="0"/>
                    <a:cs typeface="Helvetica Neue" panose="02000503000000020004" pitchFamily="2" charset="0"/>
                  </a:rPr>
                </a:br>
                <a:r>
                  <a:rPr lang="en-US" sz="1200" spc="-10">
                    <a:solidFill>
                      <a:schemeClr val="tx1">
                        <a:lumMod val="75000"/>
                        <a:lumOff val="25000"/>
                      </a:schemeClr>
                    </a:solidFill>
                    <a:latin typeface="Arial" pitchFamily="34" charset="0"/>
                    <a:ea typeface="Helvetica Neue" panose="02000503000000020004" pitchFamily="2" charset="0"/>
                    <a:cs typeface="Helvetica Neue" panose="02000503000000020004" pitchFamily="2" charset="0"/>
                  </a:rPr>
                  <a:t>Critical - Red and Amber</a:t>
                </a:r>
              </a:p>
            </p:txBody>
          </p:sp>
          <p:sp>
            <p:nvSpPr>
              <p:cNvPr id="76" name="Rectangle 75">
                <a:extLst>
                  <a:ext uri="{FF2B5EF4-FFF2-40B4-BE49-F238E27FC236}">
                    <a16:creationId xmlns:a16="http://schemas.microsoft.com/office/drawing/2014/main" id="{8697B197-ED63-0976-06E9-297EE7646502}"/>
                  </a:ext>
                </a:extLst>
              </p:cNvPr>
              <p:cNvSpPr/>
              <p:nvPr/>
            </p:nvSpPr>
            <p:spPr>
              <a:xfrm>
                <a:off x="8967078" y="3337871"/>
                <a:ext cx="1130424" cy="449343"/>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spc="-10">
                    <a:solidFill>
                      <a:schemeClr val="tx1"/>
                    </a:solidFill>
                    <a:latin typeface="Segoe UI" pitchFamily="34" charset="0"/>
                    <a:ea typeface="Helvetica Neue" panose="02000503000000020004" pitchFamily="2" charset="0"/>
                    <a:cs typeface="Helvetica Neue" panose="02000503000000020004" pitchFamily="2" charset="0"/>
                  </a:rPr>
                  <a:t>30%</a:t>
                </a:r>
                <a:endParaRPr lang="en-US" sz="1400" b="1" spc="-10">
                  <a:solidFill>
                    <a:schemeClr val="tx1"/>
                  </a:solidFill>
                  <a:latin typeface="Segoe UI" pitchFamily="34" charset="0"/>
                  <a:ea typeface="Helvetica Neue" panose="02000503000000020004" pitchFamily="2" charset="0"/>
                  <a:cs typeface="Helvetica Neue" panose="02000503000000020004" pitchFamily="2" charset="0"/>
                </a:endParaRPr>
              </a:p>
            </p:txBody>
          </p:sp>
        </p:grpSp>
      </p:grpSp>
      <p:grpSp>
        <p:nvGrpSpPr>
          <p:cNvPr id="14" name="Group 13">
            <a:extLst>
              <a:ext uri="{FF2B5EF4-FFF2-40B4-BE49-F238E27FC236}">
                <a16:creationId xmlns:a16="http://schemas.microsoft.com/office/drawing/2014/main" id="{A8B41374-6510-5C4D-18F5-F9215D2BA6EA}"/>
              </a:ext>
            </a:extLst>
          </p:cNvPr>
          <p:cNvGrpSpPr/>
          <p:nvPr/>
        </p:nvGrpSpPr>
        <p:grpSpPr>
          <a:xfrm>
            <a:off x="10403235" y="201614"/>
            <a:ext cx="410690" cy="410700"/>
            <a:chOff x="3506617" y="2730959"/>
            <a:chExt cx="1591098" cy="1591098"/>
          </a:xfrm>
        </p:grpSpPr>
        <p:sp>
          <p:nvSpPr>
            <p:cNvPr id="15" name="Rectangle: Rounded Corners 39">
              <a:extLst>
                <a:ext uri="{FF2B5EF4-FFF2-40B4-BE49-F238E27FC236}">
                  <a16:creationId xmlns:a16="http://schemas.microsoft.com/office/drawing/2014/main" id="{DFA66042-4E92-19C4-0F87-76FFC68BEF71}"/>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6" name="Rectangle: Rounded Corners 54">
              <a:extLst>
                <a:ext uri="{FF2B5EF4-FFF2-40B4-BE49-F238E27FC236}">
                  <a16:creationId xmlns:a16="http://schemas.microsoft.com/office/drawing/2014/main" id="{3A9956C6-EE6F-1889-D47C-AB4D05529DA6}"/>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8" name="Freeform 56" descr="Clipboard Partially Checked with solid fill">
              <a:extLst>
                <a:ext uri="{FF2B5EF4-FFF2-40B4-BE49-F238E27FC236}">
                  <a16:creationId xmlns:a16="http://schemas.microsoft.com/office/drawing/2014/main" id="{D71EF51B-C86E-0C5C-DFB7-DAC3C14794EF}"/>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19" name="Group 18">
            <a:extLst>
              <a:ext uri="{FF2B5EF4-FFF2-40B4-BE49-F238E27FC236}">
                <a16:creationId xmlns:a16="http://schemas.microsoft.com/office/drawing/2014/main" id="{7B244C56-A94C-3FF5-DF9F-54626ACA9A29}"/>
              </a:ext>
            </a:extLst>
          </p:cNvPr>
          <p:cNvGrpSpPr/>
          <p:nvPr/>
        </p:nvGrpSpPr>
        <p:grpSpPr>
          <a:xfrm>
            <a:off x="11557682" y="191038"/>
            <a:ext cx="410690" cy="410700"/>
            <a:chOff x="8874309" y="3009260"/>
            <a:chExt cx="1591098" cy="1591098"/>
          </a:xfrm>
        </p:grpSpPr>
        <p:grpSp>
          <p:nvGrpSpPr>
            <p:cNvPr id="20" name="Group 19">
              <a:extLst>
                <a:ext uri="{FF2B5EF4-FFF2-40B4-BE49-F238E27FC236}">
                  <a16:creationId xmlns:a16="http://schemas.microsoft.com/office/drawing/2014/main" id="{E4D5DCE0-9734-CEEF-A7F8-EE8ACA31FAAC}"/>
                </a:ext>
              </a:extLst>
            </p:cNvPr>
            <p:cNvGrpSpPr/>
            <p:nvPr/>
          </p:nvGrpSpPr>
          <p:grpSpPr>
            <a:xfrm>
              <a:off x="8874309" y="3009260"/>
              <a:ext cx="1591098" cy="1591098"/>
              <a:chOff x="9350370" y="2760976"/>
              <a:chExt cx="1591098" cy="1591098"/>
            </a:xfrm>
          </p:grpSpPr>
          <p:sp>
            <p:nvSpPr>
              <p:cNvPr id="22" name="Rectangle: Rounded Corners 39">
                <a:extLst>
                  <a:ext uri="{FF2B5EF4-FFF2-40B4-BE49-F238E27FC236}">
                    <a16:creationId xmlns:a16="http://schemas.microsoft.com/office/drawing/2014/main" id="{0DABEF78-862F-0D37-0207-CA91606A8042}"/>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3" name="Rectangle: Rounded Corners 54">
                <a:extLst>
                  <a:ext uri="{FF2B5EF4-FFF2-40B4-BE49-F238E27FC236}">
                    <a16:creationId xmlns:a16="http://schemas.microsoft.com/office/drawing/2014/main" id="{AF5CA292-AB4D-5003-80DF-7005F59E39FB}"/>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1" name="Picture 51" descr="Map with pin with solid fill">
              <a:extLst>
                <a:ext uri="{FF2B5EF4-FFF2-40B4-BE49-F238E27FC236}">
                  <a16:creationId xmlns:a16="http://schemas.microsoft.com/office/drawing/2014/main" id="{2DEB3785-7305-9E36-47F4-2A49278FC608}"/>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4" name="Group 23">
            <a:extLst>
              <a:ext uri="{FF2B5EF4-FFF2-40B4-BE49-F238E27FC236}">
                <a16:creationId xmlns:a16="http://schemas.microsoft.com/office/drawing/2014/main" id="{25441A8F-0070-81BE-DE7D-46AB56931795}"/>
              </a:ext>
            </a:extLst>
          </p:cNvPr>
          <p:cNvGrpSpPr/>
          <p:nvPr/>
        </p:nvGrpSpPr>
        <p:grpSpPr>
          <a:xfrm>
            <a:off x="10997361" y="200955"/>
            <a:ext cx="410690" cy="410700"/>
            <a:chOff x="5303120" y="3009260"/>
            <a:chExt cx="1591098" cy="1591098"/>
          </a:xfrm>
        </p:grpSpPr>
        <p:grpSp>
          <p:nvGrpSpPr>
            <p:cNvPr id="25" name="Group 24">
              <a:extLst>
                <a:ext uri="{FF2B5EF4-FFF2-40B4-BE49-F238E27FC236}">
                  <a16:creationId xmlns:a16="http://schemas.microsoft.com/office/drawing/2014/main" id="{B44BAD47-6219-ACA9-500B-9722FF06D091}"/>
                </a:ext>
              </a:extLst>
            </p:cNvPr>
            <p:cNvGrpSpPr/>
            <p:nvPr/>
          </p:nvGrpSpPr>
          <p:grpSpPr>
            <a:xfrm>
              <a:off x="5303120" y="3009260"/>
              <a:ext cx="1591098" cy="1591098"/>
              <a:chOff x="6428492" y="2760976"/>
              <a:chExt cx="1591098" cy="1591098"/>
            </a:xfrm>
          </p:grpSpPr>
          <p:sp>
            <p:nvSpPr>
              <p:cNvPr id="27" name="Rectangle: Rounded Corners 39">
                <a:extLst>
                  <a:ext uri="{FF2B5EF4-FFF2-40B4-BE49-F238E27FC236}">
                    <a16:creationId xmlns:a16="http://schemas.microsoft.com/office/drawing/2014/main" id="{DEFCAEF0-3D3C-CB2D-4AE8-2CA58198825D}"/>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8" name="Rectangle: Rounded Corners 54">
                <a:extLst>
                  <a:ext uri="{FF2B5EF4-FFF2-40B4-BE49-F238E27FC236}">
                    <a16:creationId xmlns:a16="http://schemas.microsoft.com/office/drawing/2014/main" id="{A80A34E3-7EEB-19D7-DCEE-6EE5550640FD}"/>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6" name="Graphic 25" descr="Target Audience with solid fill">
              <a:extLst>
                <a:ext uri="{FF2B5EF4-FFF2-40B4-BE49-F238E27FC236}">
                  <a16:creationId xmlns:a16="http://schemas.microsoft.com/office/drawing/2014/main" id="{84B0160B-CCA6-2117-AE78-FF23B94271C8}"/>
                </a:ext>
              </a:extLst>
            </p:cNvPr>
            <p:cNvPicPr>
              <a:picLocks noChangeAspect="1"/>
            </p:cNvPicPr>
            <p:nvPr/>
          </p:nvPicPr>
          <p:blipFill>
            <a:blip r:embed="rId7">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29" name="TextBox 28">
            <a:extLst>
              <a:ext uri="{FF2B5EF4-FFF2-40B4-BE49-F238E27FC236}">
                <a16:creationId xmlns:a16="http://schemas.microsoft.com/office/drawing/2014/main" id="{9113D753-D72A-D46C-5F29-29D94CA54B9E}"/>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0" name="TextBox 29">
            <a:extLst>
              <a:ext uri="{FF2B5EF4-FFF2-40B4-BE49-F238E27FC236}">
                <a16:creationId xmlns:a16="http://schemas.microsoft.com/office/drawing/2014/main" id="{EFD43E12-E639-FFBB-C432-26B1D02074BA}"/>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1" name="TextBox 30">
            <a:extLst>
              <a:ext uri="{FF2B5EF4-FFF2-40B4-BE49-F238E27FC236}">
                <a16:creationId xmlns:a16="http://schemas.microsoft.com/office/drawing/2014/main" id="{EDE77327-20C1-9720-CCD3-560523A88B80}"/>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2" name="Rectangle 31">
            <a:extLst>
              <a:ext uri="{FF2B5EF4-FFF2-40B4-BE49-F238E27FC236}">
                <a16:creationId xmlns:a16="http://schemas.microsoft.com/office/drawing/2014/main" id="{BE1CCF9A-B026-2065-F59A-E0D811E94BDF}"/>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
        <p:nvSpPr>
          <p:cNvPr id="79"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21</a:t>
            </a:fld>
            <a:endParaRPr lang="en-US"/>
          </a:p>
        </p:txBody>
      </p:sp>
    </p:spTree>
    <p:extLst>
      <p:ext uri="{BB962C8B-B14F-4D97-AF65-F5344CB8AC3E}">
        <p14:creationId xmlns:p14="http://schemas.microsoft.com/office/powerpoint/2010/main" val="2735024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FAF7D-17E0-3C10-5A32-007A829D0E5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38A6612-67A6-9AFC-8B10-82A75B8F3162}"/>
              </a:ext>
            </a:extLst>
          </p:cNvPr>
          <p:cNvSpPr>
            <a:spLocks noGrp="1"/>
          </p:cNvSpPr>
          <p:nvPr>
            <p:ph type="title" sz="quarter"/>
          </p:nvPr>
        </p:nvSpPr>
        <p:spPr/>
        <p:txBody>
          <a:bodyPr lIns="91440" tIns="45720" rIns="91440" bIns="45720" anchor="t"/>
          <a:lstStyle/>
          <a:p>
            <a:r>
              <a:rPr lang="en-US" b="1" spc="-25">
                <a:solidFill>
                  <a:srgbClr val="1D1D1D"/>
                </a:solidFill>
                <a:latin typeface="Segoe UI" pitchFamily="34" charset="0"/>
                <a:ea typeface="Helvetica Neue" panose="02000503000000020004" pitchFamily="2" charset="0"/>
                <a:cs typeface="Helvetica Neue" panose="02000503000000020004" pitchFamily="2" charset="0"/>
              </a:rPr>
              <a:t>Execution risks</a:t>
            </a:r>
          </a:p>
        </p:txBody>
      </p:sp>
      <p:grpSp>
        <p:nvGrpSpPr>
          <p:cNvPr id="3" name="Group 2">
            <a:extLst>
              <a:ext uri="{FF2B5EF4-FFF2-40B4-BE49-F238E27FC236}">
                <a16:creationId xmlns:a16="http://schemas.microsoft.com/office/drawing/2014/main" id="{F6EF7920-8146-428C-A9CC-BA6C6CAA9CF9}"/>
              </a:ext>
            </a:extLst>
          </p:cNvPr>
          <p:cNvGrpSpPr/>
          <p:nvPr/>
        </p:nvGrpSpPr>
        <p:grpSpPr>
          <a:xfrm>
            <a:off x="563253" y="1128713"/>
            <a:ext cx="3615119" cy="5200405"/>
            <a:chOff x="563253" y="1128713"/>
            <a:chExt cx="3615119" cy="5200405"/>
          </a:xfrm>
        </p:grpSpPr>
        <p:grpSp>
          <p:nvGrpSpPr>
            <p:cNvPr id="61" name="Group 60">
              <a:extLst>
                <a:ext uri="{FF2B5EF4-FFF2-40B4-BE49-F238E27FC236}">
                  <a16:creationId xmlns:a16="http://schemas.microsoft.com/office/drawing/2014/main" id="{9FB6107C-9546-1D44-5DA8-F3A7A3C3A39F}"/>
                </a:ext>
              </a:extLst>
            </p:cNvPr>
            <p:cNvGrpSpPr/>
            <p:nvPr/>
          </p:nvGrpSpPr>
          <p:grpSpPr>
            <a:xfrm>
              <a:off x="563253" y="2146819"/>
              <a:ext cx="3615119" cy="4182299"/>
              <a:chOff x="299262" y="1677880"/>
              <a:chExt cx="2826932" cy="3093900"/>
            </a:xfrm>
          </p:grpSpPr>
          <p:sp>
            <p:nvSpPr>
              <p:cNvPr id="62" name="Rectangle 61">
                <a:extLst>
                  <a:ext uri="{FF2B5EF4-FFF2-40B4-BE49-F238E27FC236}">
                    <a16:creationId xmlns:a16="http://schemas.microsoft.com/office/drawing/2014/main" id="{BD5B8AEB-5D95-89CD-90B1-189B4A9E30A6}"/>
                  </a:ext>
                </a:extLst>
              </p:cNvPr>
              <p:cNvSpPr/>
              <p:nvPr/>
            </p:nvSpPr>
            <p:spPr>
              <a:xfrm>
                <a:off x="299262" y="1677880"/>
                <a:ext cx="2743200" cy="681498"/>
              </a:xfrm>
              <a:prstGeom prst="rect">
                <a:avLst/>
              </a:prstGeom>
              <a:noFill/>
              <a:ln w="9525" cap="flat" cmpd="sng" algn="ctr">
                <a:solidFill>
                  <a:srgbClr val="FFFFFF">
                    <a:lumMod val="75000"/>
                  </a:srgbClr>
                </a:solidFill>
                <a:prstDash val="solid"/>
                <a:miter lim="800000"/>
              </a:ln>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63" name="TextBox 62">
                <a:extLst>
                  <a:ext uri="{FF2B5EF4-FFF2-40B4-BE49-F238E27FC236}">
                    <a16:creationId xmlns:a16="http://schemas.microsoft.com/office/drawing/2014/main" id="{4D10D0F8-A96D-EB54-8B2B-40D0F6FB06BB}"/>
                  </a:ext>
                </a:extLst>
              </p:cNvPr>
              <p:cNvSpPr txBox="1"/>
              <p:nvPr/>
            </p:nvSpPr>
            <p:spPr>
              <a:xfrm>
                <a:off x="299262" y="1677880"/>
                <a:ext cx="2656743" cy="409826"/>
              </a:xfrm>
              <a:prstGeom prst="rect">
                <a:avLst/>
              </a:prstGeom>
              <a:noFill/>
            </p:spPr>
            <p:txBody>
              <a:bodyPr wrap="square" lIns="91440" tIns="45720" rIns="9144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rPr>
                  <a:t>Alignment: </a:t>
                </a:r>
                <a:r>
                  <a:rPr kumimoji="0" lang="en-US" sz="1400"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Is there alignment across stakeholders on the JTBDs?</a:t>
                </a:r>
                <a:endParaRPr kumimoji="0" lang="en-US" sz="1600" b="0" i="0" u="none" strike="noStrike" kern="0" cap="none" spc="-10" normalizeH="0" baseline="0" noProof="0">
                  <a:ln>
                    <a:noFill/>
                  </a:ln>
                  <a:solidFill>
                    <a:srgbClr val="1D1D1D">
                      <a:lumMod val="95000"/>
                      <a:lumOff val="5000"/>
                    </a:srgb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4" name="Rectangle 63">
                <a:extLst>
                  <a:ext uri="{FF2B5EF4-FFF2-40B4-BE49-F238E27FC236}">
                    <a16:creationId xmlns:a16="http://schemas.microsoft.com/office/drawing/2014/main" id="{0E4DB30D-34B3-144F-3F81-193F4ACE66D3}"/>
                  </a:ext>
                </a:extLst>
              </p:cNvPr>
              <p:cNvSpPr/>
              <p:nvPr/>
            </p:nvSpPr>
            <p:spPr>
              <a:xfrm>
                <a:off x="299262" y="2482013"/>
                <a:ext cx="2743200" cy="681498"/>
              </a:xfrm>
              <a:prstGeom prst="rect">
                <a:avLst/>
              </a:prstGeom>
              <a:noFill/>
              <a:ln w="9525" cap="flat" cmpd="sng" algn="ctr">
                <a:solidFill>
                  <a:srgbClr val="FFFFFF">
                    <a:lumMod val="75000"/>
                  </a:srgbClr>
                </a:solidFill>
                <a:prstDash val="solid"/>
                <a:miter lim="800000"/>
              </a:ln>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65" name="TextBox 64">
                <a:extLst>
                  <a:ext uri="{FF2B5EF4-FFF2-40B4-BE49-F238E27FC236}">
                    <a16:creationId xmlns:a16="http://schemas.microsoft.com/office/drawing/2014/main" id="{018F5E01-DA86-9C79-49CC-252838AA05F1}"/>
                  </a:ext>
                </a:extLst>
              </p:cNvPr>
              <p:cNvSpPr txBox="1"/>
              <p:nvPr/>
            </p:nvSpPr>
            <p:spPr>
              <a:xfrm>
                <a:off x="299262" y="2482013"/>
                <a:ext cx="2826932" cy="409826"/>
              </a:xfrm>
              <a:prstGeom prst="rect">
                <a:avLst/>
              </a:prstGeom>
              <a:noFill/>
            </p:spPr>
            <p:txBody>
              <a:bodyPr wrap="square" lIns="91440" tIns="45720" rIns="9144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rPr>
                  <a:t>Complexity: </a:t>
                </a:r>
                <a:r>
                  <a:rPr kumimoji="0" lang="en-US" sz="1400" b="0" i="0" u="none" strike="noStrike" kern="0" cap="none" spc="-10" normalizeH="0" baseline="0" noProof="0">
                    <a:ln>
                      <a:noFill/>
                    </a:ln>
                    <a:solidFill>
                      <a:srgbClr val="1D1D1D">
                        <a:lumMod val="95000"/>
                        <a:lumOff val="5000"/>
                      </a:srgbClr>
                    </a:solidFill>
                    <a:effectLst/>
                    <a:uLnTx/>
                    <a:uFillTx/>
                    <a:latin typeface="Arial" pitchFamily="34" charset="0"/>
                    <a:ea typeface="Helvetica Neue" panose="02000503000000020004" pitchFamily="2" charset="0"/>
                    <a:cs typeface="Helvetica Neue" panose="02000503000000020004" pitchFamily="2" charset="0"/>
                  </a:rPr>
                  <a:t>Is this an exceptionally complex task to deliver?</a:t>
                </a:r>
                <a:endParaRPr kumimoji="0" lang="en-US" sz="1600" b="0" i="0" u="none" strike="noStrike" kern="0" cap="none" spc="-10" normalizeH="0" baseline="0" noProof="0">
                  <a:ln>
                    <a:noFill/>
                  </a:ln>
                  <a:solidFill>
                    <a:srgbClr val="1D1D1D">
                      <a:lumMod val="95000"/>
                      <a:lumOff val="5000"/>
                    </a:srgb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6" name="Rectangle 65">
                <a:extLst>
                  <a:ext uri="{FF2B5EF4-FFF2-40B4-BE49-F238E27FC236}">
                    <a16:creationId xmlns:a16="http://schemas.microsoft.com/office/drawing/2014/main" id="{861119F7-3892-76EE-005E-868B4DC70D3E}"/>
                  </a:ext>
                </a:extLst>
              </p:cNvPr>
              <p:cNvSpPr/>
              <p:nvPr/>
            </p:nvSpPr>
            <p:spPr>
              <a:xfrm>
                <a:off x="299262" y="3286147"/>
                <a:ext cx="2743200" cy="681498"/>
              </a:xfrm>
              <a:prstGeom prst="rect">
                <a:avLst/>
              </a:prstGeom>
              <a:noFill/>
              <a:ln w="9525" cap="flat" cmpd="sng" algn="ctr">
                <a:solidFill>
                  <a:srgbClr val="FFFFFF">
                    <a:lumMod val="75000"/>
                  </a:srgbClr>
                </a:solidFill>
                <a:prstDash val="solid"/>
                <a:miter lim="800000"/>
              </a:ln>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67" name="TextBox 66">
                <a:extLst>
                  <a:ext uri="{FF2B5EF4-FFF2-40B4-BE49-F238E27FC236}">
                    <a16:creationId xmlns:a16="http://schemas.microsoft.com/office/drawing/2014/main" id="{97A678AE-0CE6-7853-7673-FA583685E04C}"/>
                  </a:ext>
                </a:extLst>
              </p:cNvPr>
              <p:cNvSpPr txBox="1"/>
              <p:nvPr/>
            </p:nvSpPr>
            <p:spPr>
              <a:xfrm>
                <a:off x="299262" y="3286147"/>
                <a:ext cx="2826932" cy="409826"/>
              </a:xfrm>
              <a:prstGeom prst="rect">
                <a:avLst/>
              </a:prstGeom>
              <a:noFill/>
            </p:spPr>
            <p:txBody>
              <a:bodyPr wrap="square" lIns="91440" tIns="45720" rIns="9144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rPr>
                  <a:t>New Work: </a:t>
                </a:r>
                <a:r>
                  <a:rPr kumimoji="0" lang="en-US" sz="1400"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Is the work new to the role, team, or organization?</a:t>
                </a:r>
                <a:endParaRPr kumimoji="0" lang="en-US" sz="1600" b="0" i="0" u="none" strike="noStrike" kern="0" cap="none" spc="-10" normalizeH="0" baseline="0" noProof="0">
                  <a:ln>
                    <a:noFill/>
                  </a:ln>
                  <a:solidFill>
                    <a:srgbClr val="1D1D1D">
                      <a:lumMod val="95000"/>
                      <a:lumOff val="5000"/>
                    </a:srgb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8" name="Rectangle 67">
                <a:extLst>
                  <a:ext uri="{FF2B5EF4-FFF2-40B4-BE49-F238E27FC236}">
                    <a16:creationId xmlns:a16="http://schemas.microsoft.com/office/drawing/2014/main" id="{7763921C-4F9E-154B-069E-42EA238BF3EA}"/>
                  </a:ext>
                </a:extLst>
              </p:cNvPr>
              <p:cNvSpPr/>
              <p:nvPr/>
            </p:nvSpPr>
            <p:spPr>
              <a:xfrm>
                <a:off x="299262" y="4090282"/>
                <a:ext cx="2743200" cy="681498"/>
              </a:xfrm>
              <a:prstGeom prst="rect">
                <a:avLst/>
              </a:prstGeom>
              <a:noFill/>
              <a:ln w="9525" cap="flat" cmpd="sng" algn="ctr">
                <a:solidFill>
                  <a:srgbClr val="FFFFFF">
                    <a:lumMod val="75000"/>
                  </a:srgbClr>
                </a:solidFill>
                <a:prstDash val="solid"/>
                <a:miter lim="800000"/>
              </a:ln>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69" name="TextBox 68">
                <a:extLst>
                  <a:ext uri="{FF2B5EF4-FFF2-40B4-BE49-F238E27FC236}">
                    <a16:creationId xmlns:a16="http://schemas.microsoft.com/office/drawing/2014/main" id="{A3DEBA25-DB3B-AF2C-C313-916003712EDF}"/>
                  </a:ext>
                </a:extLst>
              </p:cNvPr>
              <p:cNvSpPr txBox="1"/>
              <p:nvPr/>
            </p:nvSpPr>
            <p:spPr>
              <a:xfrm>
                <a:off x="299262" y="4090283"/>
                <a:ext cx="2826932" cy="569202"/>
              </a:xfrm>
              <a:prstGeom prst="rect">
                <a:avLst/>
              </a:prstGeom>
              <a:noFill/>
            </p:spPr>
            <p:txBody>
              <a:bodyPr wrap="square" lIns="91440" tIns="45720" rIns="9144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rPr>
                  <a:t>Competitive Intensity: </a:t>
                </a:r>
                <a:r>
                  <a:rPr kumimoji="0" lang="en-US" sz="1400" b="0" i="0" u="none" strike="noStrike" kern="0" cap="none" spc="-10" normalizeH="0" baseline="0" noProof="0">
                    <a:ln>
                      <a:noFill/>
                    </a:ln>
                    <a:solidFill>
                      <a:srgbClr val="1D1D1D">
                        <a:lumMod val="95000"/>
                        <a:lumOff val="5000"/>
                      </a:srgbClr>
                    </a:solidFill>
                    <a:effectLst/>
                    <a:uLnTx/>
                    <a:uFillTx/>
                    <a:latin typeface="Arial" pitchFamily="34" charset="0"/>
                    <a:ea typeface="Helvetica Neue" panose="02000503000000020004" pitchFamily="2" charset="0"/>
                    <a:cs typeface="Helvetica Neue" panose="02000503000000020004" pitchFamily="2" charset="0"/>
                  </a:rPr>
                  <a:t>Is there significant external competitive pressure that impacts delivery?</a:t>
                </a:r>
                <a:endParaRPr kumimoji="0" lang="en-US" sz="1600" b="0" i="0" u="none" strike="noStrike" kern="0" cap="none" spc="-10" normalizeH="0" baseline="0" noProof="0">
                  <a:ln>
                    <a:noFill/>
                  </a:ln>
                  <a:solidFill>
                    <a:srgbClr val="1D1D1D">
                      <a:lumMod val="95000"/>
                      <a:lumOff val="5000"/>
                    </a:srgbClr>
                  </a:solidFill>
                  <a:effectLst/>
                  <a:uLnTx/>
                  <a:uFillTx/>
                  <a:latin typeface="Arial" pitchFamily="34" charset="0"/>
                  <a:ea typeface="Helvetica Neue" panose="02000503000000020004" pitchFamily="2" charset="0"/>
                  <a:cs typeface="Helvetica Neue" panose="02000503000000020004" pitchFamily="2" charset="0"/>
                </a:endParaRPr>
              </a:p>
            </p:txBody>
          </p:sp>
        </p:grpSp>
        <p:sp>
          <p:nvSpPr>
            <p:cNvPr id="89" name="Rectangle 88">
              <a:extLst>
                <a:ext uri="{FF2B5EF4-FFF2-40B4-BE49-F238E27FC236}">
                  <a16:creationId xmlns:a16="http://schemas.microsoft.com/office/drawing/2014/main" id="{442EF970-CF1A-0D02-7F61-DB97575DC2FF}"/>
                </a:ext>
              </a:extLst>
            </p:cNvPr>
            <p:cNvSpPr/>
            <p:nvPr/>
          </p:nvSpPr>
          <p:spPr>
            <a:xfrm>
              <a:off x="574899" y="1128713"/>
              <a:ext cx="3508042" cy="577272"/>
            </a:xfrm>
            <a:prstGeom prst="rect">
              <a:avLst/>
            </a:prstGeom>
            <a:solidFill>
              <a:srgbClr val="2B3A42"/>
            </a:solidFill>
            <a:ln w="9525" cap="flat" cmpd="sng" algn="ctr">
              <a:solidFill>
                <a:srgbClr val="FFFFFF"/>
              </a:solidFill>
              <a:prstDash val="solid"/>
              <a:miter lim="800000"/>
            </a:ln>
            <a:effectLst>
              <a:outerShdw blurRad="50800" dist="38100" dir="2700000" algn="tl" rotWithShape="0">
                <a:prstClr val="black">
                  <a:alpha val="40000"/>
                </a:prstClr>
              </a:outerShdw>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4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90" name="TextBox 89">
              <a:extLst>
                <a:ext uri="{FF2B5EF4-FFF2-40B4-BE49-F238E27FC236}">
                  <a16:creationId xmlns:a16="http://schemas.microsoft.com/office/drawing/2014/main" id="{7626DF52-8CB9-BD9A-269E-BF5430D23512}"/>
                </a:ext>
              </a:extLst>
            </p:cNvPr>
            <p:cNvSpPr txBox="1"/>
            <p:nvPr/>
          </p:nvSpPr>
          <p:spPr>
            <a:xfrm>
              <a:off x="586931" y="1206323"/>
              <a:ext cx="3484363" cy="307777"/>
            </a:xfrm>
            <a:prstGeom prst="rect">
              <a:avLst/>
            </a:prstGeom>
            <a:solidFill>
              <a:srgbClr val="2B3A42"/>
            </a:solidFill>
          </p:spPr>
          <p:txBody>
            <a:bodyPr wrap="square" lIns="91440" tIns="45720" rIns="91440" bIns="45720">
              <a:spAutoFit/>
            </a:body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1400" b="1" i="0" u="none" strike="noStrike" kern="0" cap="none" spc="-10" normalizeH="0" baseline="0" noProof="0">
                  <a:ln>
                    <a:noFill/>
                  </a:ln>
                  <a:solidFill>
                    <a:srgbClr val="FFFFFF"/>
                  </a:solidFill>
                  <a:effectLst/>
                  <a:uLnTx/>
                  <a:uFillTx/>
                  <a:latin typeface="Segoe UI" pitchFamily="34" charset="0"/>
                  <a:ea typeface="Helvetica Neue" panose="02000503000000020004" pitchFamily="2" charset="0"/>
                  <a:cs typeface="Helvetica Neue" panose="02000503000000020004" pitchFamily="2" charset="0"/>
                </a:rPr>
                <a:t>WORK</a:t>
              </a:r>
              <a:endParaRPr kumimoji="0" lang="en-US" sz="14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cxnSp>
          <p:nvCxnSpPr>
            <p:cNvPr id="91" name="Straight Connector 90">
              <a:extLst>
                <a:ext uri="{FF2B5EF4-FFF2-40B4-BE49-F238E27FC236}">
                  <a16:creationId xmlns:a16="http://schemas.microsoft.com/office/drawing/2014/main" id="{01C5AEBA-867C-BCE5-C747-72B6DA3711F4}"/>
                </a:ext>
              </a:extLst>
            </p:cNvPr>
            <p:cNvCxnSpPr>
              <a:cxnSpLocks/>
            </p:cNvCxnSpPr>
            <p:nvPr/>
          </p:nvCxnSpPr>
          <p:spPr>
            <a:xfrm>
              <a:off x="1778305" y="1610343"/>
              <a:ext cx="1101230" cy="0"/>
            </a:xfrm>
            <a:prstGeom prst="line">
              <a:avLst/>
            </a:prstGeom>
            <a:solidFill>
              <a:schemeClr val="accent1"/>
            </a:solidFill>
            <a:ln w="19050" cap="flat" cmpd="sng" algn="ctr">
              <a:solidFill>
                <a:srgbClr val="FFFFFF"/>
              </a:solidFill>
              <a:prstDash val="solid"/>
              <a:miter lim="800000"/>
            </a:ln>
            <a:effectLst/>
          </p:spPr>
        </p:cxnSp>
        <p:cxnSp>
          <p:nvCxnSpPr>
            <p:cNvPr id="92" name="Straight Connector 91">
              <a:extLst>
                <a:ext uri="{FF2B5EF4-FFF2-40B4-BE49-F238E27FC236}">
                  <a16:creationId xmlns:a16="http://schemas.microsoft.com/office/drawing/2014/main" id="{6C37A0DB-B865-F434-1847-E37B42836380}"/>
                </a:ext>
              </a:extLst>
            </p:cNvPr>
            <p:cNvCxnSpPr>
              <a:cxnSpLocks/>
            </p:cNvCxnSpPr>
            <p:nvPr/>
          </p:nvCxnSpPr>
          <p:spPr>
            <a:xfrm>
              <a:off x="732191" y="1888360"/>
              <a:ext cx="3170167" cy="0"/>
            </a:xfrm>
            <a:prstGeom prst="line">
              <a:avLst/>
            </a:prstGeom>
            <a:solidFill>
              <a:schemeClr val="accent1"/>
            </a:solidFill>
            <a:ln w="28575" cap="flat" cmpd="sng" algn="ctr">
              <a:solidFill>
                <a:schemeClr val="accent1"/>
              </a:solidFill>
              <a:prstDash val="solid"/>
              <a:miter lim="800000"/>
            </a:ln>
            <a:effectLst/>
          </p:spPr>
        </p:cxnSp>
      </p:grpSp>
      <p:grpSp>
        <p:nvGrpSpPr>
          <p:cNvPr id="18" name="Group 17">
            <a:extLst>
              <a:ext uri="{FF2B5EF4-FFF2-40B4-BE49-F238E27FC236}">
                <a16:creationId xmlns:a16="http://schemas.microsoft.com/office/drawing/2014/main" id="{D1C8BEE2-1DB4-68E2-43F3-AF28B210CDDD}"/>
              </a:ext>
            </a:extLst>
          </p:cNvPr>
          <p:cNvGrpSpPr/>
          <p:nvPr/>
        </p:nvGrpSpPr>
        <p:grpSpPr>
          <a:xfrm>
            <a:off x="4269200" y="1132556"/>
            <a:ext cx="3615118" cy="5196562"/>
            <a:chOff x="4269200" y="1132556"/>
            <a:chExt cx="3615118" cy="5196562"/>
          </a:xfrm>
        </p:grpSpPr>
        <p:grpSp>
          <p:nvGrpSpPr>
            <p:cNvPr id="70" name="Group 69">
              <a:extLst>
                <a:ext uri="{FF2B5EF4-FFF2-40B4-BE49-F238E27FC236}">
                  <a16:creationId xmlns:a16="http://schemas.microsoft.com/office/drawing/2014/main" id="{720D7485-CD99-A94C-A96F-E08D3AEAA1A1}"/>
                </a:ext>
              </a:extLst>
            </p:cNvPr>
            <p:cNvGrpSpPr/>
            <p:nvPr/>
          </p:nvGrpSpPr>
          <p:grpSpPr>
            <a:xfrm>
              <a:off x="4269200" y="2146819"/>
              <a:ext cx="3615118" cy="4182299"/>
              <a:chOff x="3197219" y="1677880"/>
              <a:chExt cx="2826931" cy="3093900"/>
            </a:xfrm>
          </p:grpSpPr>
          <p:sp>
            <p:nvSpPr>
              <p:cNvPr id="71" name="Rectangle 70">
                <a:extLst>
                  <a:ext uri="{FF2B5EF4-FFF2-40B4-BE49-F238E27FC236}">
                    <a16:creationId xmlns:a16="http://schemas.microsoft.com/office/drawing/2014/main" id="{F7F4D745-3B5B-6BA0-39B2-93E389CBE335}"/>
                  </a:ext>
                </a:extLst>
              </p:cNvPr>
              <p:cNvSpPr/>
              <p:nvPr/>
            </p:nvSpPr>
            <p:spPr>
              <a:xfrm>
                <a:off x="3197219" y="1677880"/>
                <a:ext cx="2743200" cy="681498"/>
              </a:xfrm>
              <a:prstGeom prst="rect">
                <a:avLst/>
              </a:prstGeom>
              <a:noFill/>
              <a:ln w="9525" cap="flat" cmpd="sng" algn="ctr">
                <a:solidFill>
                  <a:srgbClr val="FFFFFF">
                    <a:lumMod val="75000"/>
                  </a:srgbClr>
                </a:solidFill>
                <a:prstDash val="solid"/>
                <a:miter lim="800000"/>
              </a:ln>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72" name="TextBox 71">
                <a:extLst>
                  <a:ext uri="{FF2B5EF4-FFF2-40B4-BE49-F238E27FC236}">
                    <a16:creationId xmlns:a16="http://schemas.microsoft.com/office/drawing/2014/main" id="{5A4C8359-6252-A83C-A510-9D1F086A89D7}"/>
                  </a:ext>
                </a:extLst>
              </p:cNvPr>
              <p:cNvSpPr txBox="1"/>
              <p:nvPr/>
            </p:nvSpPr>
            <p:spPr>
              <a:xfrm>
                <a:off x="3197219" y="1677880"/>
                <a:ext cx="2826931" cy="409826"/>
              </a:xfrm>
              <a:prstGeom prst="rect">
                <a:avLst/>
              </a:prstGeom>
              <a:noFill/>
            </p:spPr>
            <p:txBody>
              <a:bodyPr wrap="square" lIns="91440" tIns="45720" rIns="9144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rPr>
                  <a:t>Authority: </a:t>
                </a:r>
                <a:r>
                  <a:rPr kumimoji="0" lang="en-US" sz="1400"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Does the role have appropriate decision rights to deliver the JTBDs</a:t>
                </a:r>
                <a:r>
                  <a:rPr kumimoji="0" lang="en-US" sz="1400" b="0" i="0" u="none" strike="noStrike" kern="0" cap="none" spc="-10" normalizeH="0" baseline="0" noProof="0">
                    <a:ln>
                      <a:noFill/>
                    </a:ln>
                    <a:solidFill>
                      <a:srgbClr val="1D1D1D">
                        <a:lumMod val="95000"/>
                        <a:lumOff val="5000"/>
                      </a:srgbClr>
                    </a:solidFill>
                    <a:effectLst/>
                    <a:uLnTx/>
                    <a:uFillTx/>
                    <a:latin typeface="Arial" pitchFamily="34" charset="0"/>
                    <a:ea typeface="Helvetica Neue" panose="02000503000000020004" pitchFamily="2" charset="0"/>
                    <a:cs typeface="Helvetica Neue" panose="02000503000000020004" pitchFamily="2" charset="0"/>
                  </a:rPr>
                  <a:t>? </a:t>
                </a:r>
                <a:endParaRPr kumimoji="0" lang="en-US" sz="1600" b="0" i="0" u="none" strike="noStrike" kern="0" cap="none" spc="-10" normalizeH="0" baseline="0" noProof="0">
                  <a:ln>
                    <a:noFill/>
                  </a:ln>
                  <a:solidFill>
                    <a:srgbClr val="1D1D1D">
                      <a:lumMod val="95000"/>
                      <a:lumOff val="5000"/>
                    </a:srgb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73" name="Rectangle 72">
                <a:extLst>
                  <a:ext uri="{FF2B5EF4-FFF2-40B4-BE49-F238E27FC236}">
                    <a16:creationId xmlns:a16="http://schemas.microsoft.com/office/drawing/2014/main" id="{377C37BE-4F67-5F7C-5948-D40562155CB8}"/>
                  </a:ext>
                </a:extLst>
              </p:cNvPr>
              <p:cNvSpPr/>
              <p:nvPr/>
            </p:nvSpPr>
            <p:spPr>
              <a:xfrm>
                <a:off x="3197219" y="2482013"/>
                <a:ext cx="2743200" cy="681498"/>
              </a:xfrm>
              <a:prstGeom prst="rect">
                <a:avLst/>
              </a:prstGeom>
              <a:noFill/>
              <a:ln w="9525" cap="flat" cmpd="sng" algn="ctr">
                <a:solidFill>
                  <a:srgbClr val="FFFFFF">
                    <a:lumMod val="75000"/>
                  </a:srgbClr>
                </a:solidFill>
                <a:prstDash val="solid"/>
                <a:miter lim="800000"/>
              </a:ln>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74" name="TextBox 73">
                <a:extLst>
                  <a:ext uri="{FF2B5EF4-FFF2-40B4-BE49-F238E27FC236}">
                    <a16:creationId xmlns:a16="http://schemas.microsoft.com/office/drawing/2014/main" id="{7BE604C6-D4F4-FCE6-066D-4902EF1E3313}"/>
                  </a:ext>
                </a:extLst>
              </p:cNvPr>
              <p:cNvSpPr txBox="1"/>
              <p:nvPr/>
            </p:nvSpPr>
            <p:spPr>
              <a:xfrm>
                <a:off x="3197219" y="2482013"/>
                <a:ext cx="2826931" cy="409826"/>
              </a:xfrm>
              <a:prstGeom prst="rect">
                <a:avLst/>
              </a:prstGeom>
              <a:noFill/>
            </p:spPr>
            <p:txBody>
              <a:bodyPr wrap="square" lIns="91440" tIns="45720" rIns="9144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rPr>
                  <a:t>Capacity: </a:t>
                </a:r>
                <a:r>
                  <a:rPr kumimoji="0" lang="en-US" sz="1400"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Are there adequate resources / team capabilities to deliver the JTBDs?</a:t>
                </a:r>
                <a:endParaRPr kumimoji="0" lang="en-US" sz="1600" b="0" i="0" u="none" strike="noStrike" kern="0" cap="none" spc="-10" normalizeH="0" baseline="0" noProof="0">
                  <a:ln>
                    <a:noFill/>
                  </a:ln>
                  <a:solidFill>
                    <a:srgbClr val="1D1D1D">
                      <a:lumMod val="95000"/>
                      <a:lumOff val="5000"/>
                    </a:srgb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75" name="Rectangle 74">
                <a:extLst>
                  <a:ext uri="{FF2B5EF4-FFF2-40B4-BE49-F238E27FC236}">
                    <a16:creationId xmlns:a16="http://schemas.microsoft.com/office/drawing/2014/main" id="{9C9ED459-BAB2-D716-8EEB-BF1B2F358B9E}"/>
                  </a:ext>
                </a:extLst>
              </p:cNvPr>
              <p:cNvSpPr/>
              <p:nvPr/>
            </p:nvSpPr>
            <p:spPr>
              <a:xfrm>
                <a:off x="3197219" y="3286147"/>
                <a:ext cx="2743200" cy="681498"/>
              </a:xfrm>
              <a:prstGeom prst="rect">
                <a:avLst/>
              </a:prstGeom>
              <a:noFill/>
              <a:ln w="9525" cap="flat" cmpd="sng" algn="ctr">
                <a:solidFill>
                  <a:srgbClr val="FFFFFF">
                    <a:lumMod val="75000"/>
                  </a:srgbClr>
                </a:solidFill>
                <a:prstDash val="solid"/>
                <a:miter lim="800000"/>
              </a:ln>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76" name="TextBox 75">
                <a:extLst>
                  <a:ext uri="{FF2B5EF4-FFF2-40B4-BE49-F238E27FC236}">
                    <a16:creationId xmlns:a16="http://schemas.microsoft.com/office/drawing/2014/main" id="{F48A087C-F231-81C8-3427-0F8F441D23C0}"/>
                  </a:ext>
                </a:extLst>
              </p:cNvPr>
              <p:cNvSpPr txBox="1"/>
              <p:nvPr/>
            </p:nvSpPr>
            <p:spPr>
              <a:xfrm>
                <a:off x="3197219" y="3286147"/>
                <a:ext cx="2826931" cy="569202"/>
              </a:xfrm>
              <a:prstGeom prst="rect">
                <a:avLst/>
              </a:prstGeom>
              <a:noFill/>
            </p:spPr>
            <p:txBody>
              <a:bodyPr wrap="square" lIns="91440" tIns="45720" rIns="9144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rPr>
                  <a:t>Resistance: </a:t>
                </a:r>
                <a:r>
                  <a:rPr kumimoji="0" lang="en-US" sz="1400"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Does the role face any internal or external resistance to deliver the JTBDs?</a:t>
                </a:r>
                <a:endParaRPr kumimoji="0" lang="en-US" sz="1600" b="0" i="0" u="none" strike="noStrike" kern="0" cap="none" spc="-10" normalizeH="0" baseline="0" noProof="0">
                  <a:ln>
                    <a:noFill/>
                  </a:ln>
                  <a:solidFill>
                    <a:srgbClr val="1D1D1D">
                      <a:lumMod val="95000"/>
                      <a:lumOff val="5000"/>
                    </a:srgb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77" name="Rectangle 76">
                <a:extLst>
                  <a:ext uri="{FF2B5EF4-FFF2-40B4-BE49-F238E27FC236}">
                    <a16:creationId xmlns:a16="http://schemas.microsoft.com/office/drawing/2014/main" id="{0D4F88F0-6E0B-44D1-016C-B0A178B63BA0}"/>
                  </a:ext>
                </a:extLst>
              </p:cNvPr>
              <p:cNvSpPr/>
              <p:nvPr/>
            </p:nvSpPr>
            <p:spPr>
              <a:xfrm>
                <a:off x="3197219" y="4090282"/>
                <a:ext cx="2743200" cy="681498"/>
              </a:xfrm>
              <a:prstGeom prst="rect">
                <a:avLst/>
              </a:prstGeom>
              <a:noFill/>
              <a:ln w="9525" cap="flat" cmpd="sng" algn="ctr">
                <a:solidFill>
                  <a:srgbClr val="FFFFFF">
                    <a:lumMod val="75000"/>
                  </a:srgbClr>
                </a:solidFill>
                <a:prstDash val="solid"/>
                <a:miter lim="800000"/>
              </a:ln>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78" name="TextBox 77">
                <a:extLst>
                  <a:ext uri="{FF2B5EF4-FFF2-40B4-BE49-F238E27FC236}">
                    <a16:creationId xmlns:a16="http://schemas.microsoft.com/office/drawing/2014/main" id="{D5FE6A82-911F-CDB3-B738-70D7D1AF70D9}"/>
                  </a:ext>
                </a:extLst>
              </p:cNvPr>
              <p:cNvSpPr txBox="1"/>
              <p:nvPr/>
            </p:nvSpPr>
            <p:spPr>
              <a:xfrm>
                <a:off x="3197219" y="4090283"/>
                <a:ext cx="2826931" cy="569202"/>
              </a:xfrm>
              <a:prstGeom prst="rect">
                <a:avLst/>
              </a:prstGeom>
              <a:noFill/>
            </p:spPr>
            <p:txBody>
              <a:bodyPr wrap="square" lIns="91440" tIns="45720" rIns="9144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rPr>
                  <a:t>Incentives: </a:t>
                </a:r>
                <a:r>
                  <a:rPr kumimoji="0" lang="en-US" sz="1400"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Are the incentives appropriately aligned to the scope of the work expected to deliver? </a:t>
                </a:r>
                <a:endParaRPr kumimoji="0" lang="en-US" sz="1600" b="0" i="0" u="none" strike="noStrike" kern="0" cap="none" spc="-10" normalizeH="0" baseline="0" noProof="0">
                  <a:ln>
                    <a:noFill/>
                  </a:ln>
                  <a:solidFill>
                    <a:srgbClr val="1D1D1D">
                      <a:lumMod val="95000"/>
                      <a:lumOff val="5000"/>
                    </a:srgbClr>
                  </a:solidFill>
                  <a:effectLst/>
                  <a:uLnTx/>
                  <a:uFillTx/>
                  <a:latin typeface="Arial" pitchFamily="34" charset="0"/>
                  <a:ea typeface="Helvetica Neue" panose="02000503000000020004" pitchFamily="2" charset="0"/>
                  <a:cs typeface="Helvetica Neue" panose="02000503000000020004" pitchFamily="2" charset="0"/>
                </a:endParaRPr>
              </a:p>
            </p:txBody>
          </p:sp>
        </p:grpSp>
        <p:sp>
          <p:nvSpPr>
            <p:cNvPr id="94" name="Rectangle 93">
              <a:extLst>
                <a:ext uri="{FF2B5EF4-FFF2-40B4-BE49-F238E27FC236}">
                  <a16:creationId xmlns:a16="http://schemas.microsoft.com/office/drawing/2014/main" id="{099751F6-E299-F3A1-ACF1-63DC158CAD91}"/>
                </a:ext>
              </a:extLst>
            </p:cNvPr>
            <p:cNvSpPr/>
            <p:nvPr/>
          </p:nvSpPr>
          <p:spPr>
            <a:xfrm>
              <a:off x="4270251" y="1132556"/>
              <a:ext cx="3508042" cy="577272"/>
            </a:xfrm>
            <a:prstGeom prst="rect">
              <a:avLst/>
            </a:prstGeom>
            <a:solidFill>
              <a:srgbClr val="2B3A42"/>
            </a:solidFill>
            <a:ln w="9525" cap="flat" cmpd="sng" algn="ctr">
              <a:solidFill>
                <a:srgbClr val="FFFFFF"/>
              </a:solidFill>
              <a:prstDash val="solid"/>
              <a:miter lim="800000"/>
            </a:ln>
            <a:effectLst>
              <a:outerShdw blurRad="50800" dist="38100" dir="2700000" algn="tl" rotWithShape="0">
                <a:prstClr val="black">
                  <a:alpha val="40000"/>
                </a:prstClr>
              </a:outerShdw>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4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95" name="TextBox 94">
              <a:extLst>
                <a:ext uri="{FF2B5EF4-FFF2-40B4-BE49-F238E27FC236}">
                  <a16:creationId xmlns:a16="http://schemas.microsoft.com/office/drawing/2014/main" id="{01193647-9AC1-5055-D144-D91B42B03271}"/>
                </a:ext>
              </a:extLst>
            </p:cNvPr>
            <p:cNvSpPr txBox="1"/>
            <p:nvPr/>
          </p:nvSpPr>
          <p:spPr>
            <a:xfrm>
              <a:off x="4407206" y="1210166"/>
              <a:ext cx="3339105" cy="307777"/>
            </a:xfrm>
            <a:prstGeom prst="rect">
              <a:avLst/>
            </a:prstGeom>
            <a:solidFill>
              <a:srgbClr val="2B3A42"/>
            </a:solidFill>
          </p:spPr>
          <p:txBody>
            <a:bodyPr wrap="square" lIns="91440" tIns="45720" rIns="91440" bIns="45720">
              <a:spAutoFit/>
            </a:body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1400" b="1" i="0" u="none" strike="noStrike" kern="0" cap="none" spc="-10" normalizeH="0" baseline="0" noProof="0">
                  <a:ln>
                    <a:noFill/>
                  </a:ln>
                  <a:solidFill>
                    <a:srgbClr val="FFFFFF"/>
                  </a:solidFill>
                  <a:effectLst/>
                  <a:uLnTx/>
                  <a:uFillTx/>
                  <a:latin typeface="Segoe UI" pitchFamily="34" charset="0"/>
                  <a:ea typeface="Helvetica Neue" panose="02000503000000020004" pitchFamily="2" charset="0"/>
                  <a:cs typeface="Helvetica Neue" panose="02000503000000020004" pitchFamily="2" charset="0"/>
                </a:rPr>
                <a:t>ROLE</a:t>
              </a:r>
              <a:endParaRPr kumimoji="0" lang="en-US" sz="14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cxnSp>
          <p:nvCxnSpPr>
            <p:cNvPr id="96" name="Straight Connector 95">
              <a:extLst>
                <a:ext uri="{FF2B5EF4-FFF2-40B4-BE49-F238E27FC236}">
                  <a16:creationId xmlns:a16="http://schemas.microsoft.com/office/drawing/2014/main" id="{097FEB34-A4B3-CA04-5368-99EB0F97D0C7}"/>
                </a:ext>
              </a:extLst>
            </p:cNvPr>
            <p:cNvCxnSpPr>
              <a:cxnSpLocks/>
            </p:cNvCxnSpPr>
            <p:nvPr/>
          </p:nvCxnSpPr>
          <p:spPr>
            <a:xfrm>
              <a:off x="5473657" y="1610343"/>
              <a:ext cx="1101230" cy="0"/>
            </a:xfrm>
            <a:prstGeom prst="line">
              <a:avLst/>
            </a:prstGeom>
            <a:solidFill>
              <a:schemeClr val="accent1"/>
            </a:solidFill>
            <a:ln w="19050" cap="flat" cmpd="sng" algn="ctr">
              <a:solidFill>
                <a:srgbClr val="FFFFFF"/>
              </a:solidFill>
              <a:prstDash val="solid"/>
              <a:miter lim="800000"/>
            </a:ln>
            <a:effectLst/>
          </p:spPr>
        </p:cxnSp>
        <p:cxnSp>
          <p:nvCxnSpPr>
            <p:cNvPr id="97" name="Straight Connector 96">
              <a:extLst>
                <a:ext uri="{FF2B5EF4-FFF2-40B4-BE49-F238E27FC236}">
                  <a16:creationId xmlns:a16="http://schemas.microsoft.com/office/drawing/2014/main" id="{58348328-48BB-8E2A-5E0A-5F29860CE6C4}"/>
                </a:ext>
              </a:extLst>
            </p:cNvPr>
            <p:cNvCxnSpPr>
              <a:cxnSpLocks/>
            </p:cNvCxnSpPr>
            <p:nvPr/>
          </p:nvCxnSpPr>
          <p:spPr>
            <a:xfrm>
              <a:off x="4438138" y="1888360"/>
              <a:ext cx="3170167" cy="0"/>
            </a:xfrm>
            <a:prstGeom prst="line">
              <a:avLst/>
            </a:prstGeom>
            <a:solidFill>
              <a:schemeClr val="accent1"/>
            </a:solidFill>
            <a:ln w="28575" cap="flat" cmpd="sng" algn="ctr">
              <a:solidFill>
                <a:schemeClr val="accent1"/>
              </a:solidFill>
              <a:prstDash val="solid"/>
              <a:miter lim="800000"/>
            </a:ln>
            <a:effectLst/>
          </p:spPr>
        </p:cxnSp>
      </p:grpSp>
      <p:grpSp>
        <p:nvGrpSpPr>
          <p:cNvPr id="79" name="Group 78">
            <a:extLst>
              <a:ext uri="{FF2B5EF4-FFF2-40B4-BE49-F238E27FC236}">
                <a16:creationId xmlns:a16="http://schemas.microsoft.com/office/drawing/2014/main" id="{BFCE96C3-CD79-5B35-7B85-9A76E4156512}"/>
              </a:ext>
            </a:extLst>
          </p:cNvPr>
          <p:cNvGrpSpPr/>
          <p:nvPr/>
        </p:nvGrpSpPr>
        <p:grpSpPr>
          <a:xfrm>
            <a:off x="7970587" y="2146819"/>
            <a:ext cx="3509092" cy="4182299"/>
            <a:chOff x="6091610" y="1677880"/>
            <a:chExt cx="2744021" cy="3093900"/>
          </a:xfrm>
        </p:grpSpPr>
        <p:sp>
          <p:nvSpPr>
            <p:cNvPr id="80" name="Rectangle 79">
              <a:extLst>
                <a:ext uri="{FF2B5EF4-FFF2-40B4-BE49-F238E27FC236}">
                  <a16:creationId xmlns:a16="http://schemas.microsoft.com/office/drawing/2014/main" id="{1B652A13-867C-4CD7-8265-20AC9E548EE1}"/>
                </a:ext>
              </a:extLst>
            </p:cNvPr>
            <p:cNvSpPr/>
            <p:nvPr/>
          </p:nvSpPr>
          <p:spPr>
            <a:xfrm>
              <a:off x="6091610" y="1677880"/>
              <a:ext cx="2743200" cy="681498"/>
            </a:xfrm>
            <a:prstGeom prst="rect">
              <a:avLst/>
            </a:prstGeom>
            <a:noFill/>
            <a:ln w="9525" cap="flat" cmpd="sng" algn="ctr">
              <a:solidFill>
                <a:srgbClr val="FFFFFF">
                  <a:lumMod val="75000"/>
                </a:srgbClr>
              </a:solidFill>
              <a:prstDash val="solid"/>
              <a:miter lim="800000"/>
            </a:ln>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solidFill>
                  <a:schemeClr val="bg1">
                    <a:lumMod val="65000"/>
                  </a:schemeClr>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81" name="TextBox 80">
              <a:extLst>
                <a:ext uri="{FF2B5EF4-FFF2-40B4-BE49-F238E27FC236}">
                  <a16:creationId xmlns:a16="http://schemas.microsoft.com/office/drawing/2014/main" id="{121AAC5E-CF03-7FC3-197C-BE692868F748}"/>
                </a:ext>
              </a:extLst>
            </p:cNvPr>
            <p:cNvSpPr txBox="1"/>
            <p:nvPr/>
          </p:nvSpPr>
          <p:spPr>
            <a:xfrm>
              <a:off x="6091610" y="1677880"/>
              <a:ext cx="2529344" cy="569202"/>
            </a:xfrm>
            <a:prstGeom prst="rect">
              <a:avLst/>
            </a:prstGeom>
            <a:noFill/>
          </p:spPr>
          <p:txBody>
            <a:bodyPr wrap="square" lIns="91440" tIns="45720" rIns="9144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solidFill>
                    <a:schemeClr val="bg1">
                      <a:lumMod val="65000"/>
                    </a:schemeClr>
                  </a:solidFill>
                  <a:effectLst/>
                  <a:uLnTx/>
                  <a:uFillTx/>
                  <a:latin typeface="Segoe UI" pitchFamily="34" charset="0"/>
                  <a:ea typeface="Helvetica Neue" panose="02000503000000020004" pitchFamily="2" charset="0"/>
                  <a:cs typeface="Helvetica Neue" panose="02000503000000020004" pitchFamily="2" charset="0"/>
                </a:rPr>
                <a:t>JTBD Match: </a:t>
              </a:r>
              <a:r>
                <a:rPr kumimoji="0" lang="en-US" sz="1400" b="0" i="0" u="none" strike="noStrike" kern="0" cap="none" spc="-10" normalizeH="0" baseline="0" noProof="0">
                  <a:ln>
                    <a:noFill/>
                  </a:ln>
                  <a:solidFill>
                    <a:schemeClr val="bg1">
                      <a:lumMod val="65000"/>
                    </a:schemeClr>
                  </a:solidFill>
                  <a:effectLst/>
                  <a:uLnTx/>
                  <a:uFillTx/>
                  <a:latin typeface="Arial" pitchFamily="34" charset="0"/>
                  <a:ea typeface="Helvetica Neue" panose="02000503000000020004" pitchFamily="2" charset="0"/>
                  <a:cs typeface="Helvetica Neue" panose="02000503000000020004" pitchFamily="2" charset="0"/>
                </a:rPr>
                <a:t>Is there a strong match of skills and experiences to do the JTBDs?  </a:t>
              </a:r>
              <a:endParaRPr kumimoji="0" lang="en-US" sz="1600" b="0" i="0" u="none" strike="noStrike" kern="0" cap="none" spc="-10" normalizeH="0" baseline="0" noProof="0">
                <a:ln>
                  <a:noFill/>
                </a:ln>
                <a:solidFill>
                  <a:schemeClr val="bg1">
                    <a:lumMod val="65000"/>
                  </a:scheme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82" name="Rectangle 81">
              <a:extLst>
                <a:ext uri="{FF2B5EF4-FFF2-40B4-BE49-F238E27FC236}">
                  <a16:creationId xmlns:a16="http://schemas.microsoft.com/office/drawing/2014/main" id="{B5CBFFDD-375B-0478-0ED3-B53846B9BED5}"/>
                </a:ext>
              </a:extLst>
            </p:cNvPr>
            <p:cNvSpPr/>
            <p:nvPr/>
          </p:nvSpPr>
          <p:spPr>
            <a:xfrm>
              <a:off x="6091610" y="2482013"/>
              <a:ext cx="2743200" cy="681498"/>
            </a:xfrm>
            <a:prstGeom prst="rect">
              <a:avLst/>
            </a:prstGeom>
            <a:noFill/>
            <a:ln w="9525" cap="flat" cmpd="sng" algn="ctr">
              <a:solidFill>
                <a:srgbClr val="FFFFFF">
                  <a:lumMod val="75000"/>
                </a:srgbClr>
              </a:solidFill>
              <a:prstDash val="solid"/>
              <a:miter lim="800000"/>
            </a:ln>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solidFill>
                  <a:schemeClr val="bg1">
                    <a:lumMod val="65000"/>
                  </a:schemeClr>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83" name="TextBox 82">
              <a:extLst>
                <a:ext uri="{FF2B5EF4-FFF2-40B4-BE49-F238E27FC236}">
                  <a16:creationId xmlns:a16="http://schemas.microsoft.com/office/drawing/2014/main" id="{324277BF-FA61-6140-BDF8-12EB73D3D362}"/>
                </a:ext>
              </a:extLst>
            </p:cNvPr>
            <p:cNvSpPr txBox="1"/>
            <p:nvPr/>
          </p:nvSpPr>
          <p:spPr>
            <a:xfrm>
              <a:off x="6091610" y="2482013"/>
              <a:ext cx="2529344" cy="569202"/>
            </a:xfrm>
            <a:prstGeom prst="rect">
              <a:avLst/>
            </a:prstGeom>
            <a:noFill/>
          </p:spPr>
          <p:txBody>
            <a:bodyPr wrap="square" lIns="91440" tIns="45720" rIns="9144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solidFill>
                    <a:schemeClr val="bg1">
                      <a:lumMod val="65000"/>
                    </a:schemeClr>
                  </a:solidFill>
                  <a:effectLst/>
                  <a:uLnTx/>
                  <a:uFillTx/>
                  <a:latin typeface="Segoe UI" pitchFamily="34" charset="0"/>
                  <a:ea typeface="Helvetica Neue" panose="02000503000000020004" pitchFamily="2" charset="0"/>
                  <a:cs typeface="Helvetica Neue" panose="02000503000000020004" pitchFamily="2" charset="0"/>
                </a:rPr>
                <a:t>Superpower Match: </a:t>
              </a:r>
              <a:r>
                <a:rPr kumimoji="0" lang="en-US" sz="1400" b="0" i="0" u="none" strike="noStrike" kern="0" cap="none" spc="-10" normalizeH="0" baseline="0" noProof="0">
                  <a:ln>
                    <a:noFill/>
                  </a:ln>
                  <a:solidFill>
                    <a:schemeClr val="bg1">
                      <a:lumMod val="65000"/>
                    </a:schemeClr>
                  </a:solidFill>
                  <a:effectLst/>
                  <a:uLnTx/>
                  <a:uFillTx/>
                  <a:latin typeface="Arial" pitchFamily="34" charset="0"/>
                  <a:ea typeface="Helvetica Neue" panose="02000503000000020004" pitchFamily="2" charset="0"/>
                  <a:cs typeface="Helvetica Neue" panose="02000503000000020004" pitchFamily="2" charset="0"/>
                </a:rPr>
                <a:t>How well matched is the talent to the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400" b="0" i="0" u="none" strike="noStrike" kern="0" cap="none" spc="-10" normalizeH="0" baseline="0" noProof="0">
                  <a:ln>
                    <a:noFill/>
                  </a:ln>
                  <a:solidFill>
                    <a:schemeClr val="bg1">
                      <a:lumMod val="65000"/>
                    </a:schemeClr>
                  </a:solidFill>
                  <a:effectLst/>
                  <a:uLnTx/>
                  <a:uFillTx/>
                  <a:latin typeface="Arial" pitchFamily="34" charset="0"/>
                  <a:ea typeface="Helvetica Neue" panose="02000503000000020004" pitchFamily="2" charset="0"/>
                  <a:cs typeface="Helvetica Neue" panose="02000503000000020004" pitchFamily="2" charset="0"/>
                </a:rPr>
                <a:t>identified superpowers?</a:t>
              </a:r>
              <a:endParaRPr kumimoji="0" lang="en-US" sz="1600" b="0" i="0" u="none" strike="noStrike" kern="0" cap="none" spc="-10" normalizeH="0" baseline="0" noProof="0">
                <a:ln>
                  <a:noFill/>
                </a:ln>
                <a:solidFill>
                  <a:schemeClr val="bg1">
                    <a:lumMod val="65000"/>
                  </a:scheme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84" name="Rectangle 83">
              <a:extLst>
                <a:ext uri="{FF2B5EF4-FFF2-40B4-BE49-F238E27FC236}">
                  <a16:creationId xmlns:a16="http://schemas.microsoft.com/office/drawing/2014/main" id="{6E871E64-8812-659B-03E7-ECB0241040CE}"/>
                </a:ext>
              </a:extLst>
            </p:cNvPr>
            <p:cNvSpPr/>
            <p:nvPr/>
          </p:nvSpPr>
          <p:spPr>
            <a:xfrm>
              <a:off x="6091610" y="4090282"/>
              <a:ext cx="2743200" cy="681498"/>
            </a:xfrm>
            <a:prstGeom prst="rect">
              <a:avLst/>
            </a:prstGeom>
            <a:noFill/>
            <a:ln w="9525" cap="flat" cmpd="sng" algn="ctr">
              <a:solidFill>
                <a:srgbClr val="FFFFFF">
                  <a:lumMod val="75000"/>
                </a:srgbClr>
              </a:solidFill>
              <a:prstDash val="solid"/>
              <a:miter lim="800000"/>
            </a:ln>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solidFill>
                  <a:schemeClr val="bg1">
                    <a:lumMod val="65000"/>
                  </a:schemeClr>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85" name="TextBox 84">
              <a:extLst>
                <a:ext uri="{FF2B5EF4-FFF2-40B4-BE49-F238E27FC236}">
                  <a16:creationId xmlns:a16="http://schemas.microsoft.com/office/drawing/2014/main" id="{FD0B1F49-5F80-9CBB-919C-5006F59492C1}"/>
                </a:ext>
              </a:extLst>
            </p:cNvPr>
            <p:cNvSpPr txBox="1"/>
            <p:nvPr/>
          </p:nvSpPr>
          <p:spPr>
            <a:xfrm>
              <a:off x="6091610" y="4090283"/>
              <a:ext cx="2638525" cy="569202"/>
            </a:xfrm>
            <a:prstGeom prst="rect">
              <a:avLst/>
            </a:prstGeom>
            <a:noFill/>
          </p:spPr>
          <p:txBody>
            <a:bodyPr wrap="square" lIns="91440" tIns="45720" rIns="9144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solidFill>
                    <a:schemeClr val="bg1">
                      <a:lumMod val="65000"/>
                    </a:schemeClr>
                  </a:solidFill>
                  <a:effectLst/>
                  <a:uLnTx/>
                  <a:uFillTx/>
                  <a:latin typeface="Segoe UI" pitchFamily="34" charset="0"/>
                  <a:ea typeface="Helvetica Neue" panose="02000503000000020004" pitchFamily="2" charset="0"/>
                  <a:cs typeface="Helvetica Neue" panose="02000503000000020004" pitchFamily="2" charset="0"/>
                </a:rPr>
                <a:t>Two-Way Fit: </a:t>
              </a:r>
              <a:r>
                <a:rPr kumimoji="0" lang="en-US" sz="1400" b="0" i="0" u="none" strike="noStrike" kern="0" cap="none" spc="-10" normalizeH="0" baseline="0" noProof="0">
                  <a:ln>
                    <a:noFill/>
                  </a:ln>
                  <a:solidFill>
                    <a:schemeClr val="bg1">
                      <a:lumMod val="65000"/>
                    </a:schemeClr>
                  </a:solidFill>
                  <a:effectLst/>
                  <a:uLnTx/>
                  <a:uFillTx/>
                  <a:latin typeface="Arial" pitchFamily="34" charset="0"/>
                  <a:ea typeface="Helvetica Neue" panose="02000503000000020004" pitchFamily="2" charset="0"/>
                  <a:cs typeface="Helvetica Neue" panose="02000503000000020004" pitchFamily="2" charset="0"/>
                </a:rPr>
                <a:t>Is there alignment between the individual and org culture, operating environment?</a:t>
              </a:r>
              <a:endParaRPr kumimoji="0" lang="en-US" sz="1600" b="0" i="0" u="none" strike="noStrike" kern="0" cap="none" spc="-10" normalizeH="0" baseline="0" noProof="0">
                <a:ln>
                  <a:noFill/>
                </a:ln>
                <a:solidFill>
                  <a:schemeClr val="bg1">
                    <a:lumMod val="65000"/>
                  </a:scheme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86" name="Rectangle 85">
              <a:extLst>
                <a:ext uri="{FF2B5EF4-FFF2-40B4-BE49-F238E27FC236}">
                  <a16:creationId xmlns:a16="http://schemas.microsoft.com/office/drawing/2014/main" id="{3A497818-BC6E-5947-7E8C-D08C835DBC32}"/>
                </a:ext>
              </a:extLst>
            </p:cNvPr>
            <p:cNvSpPr/>
            <p:nvPr/>
          </p:nvSpPr>
          <p:spPr>
            <a:xfrm>
              <a:off x="6091610" y="3286147"/>
              <a:ext cx="2743200" cy="681498"/>
            </a:xfrm>
            <a:prstGeom prst="rect">
              <a:avLst/>
            </a:prstGeom>
            <a:noFill/>
            <a:ln w="9525" cap="flat" cmpd="sng" algn="ctr">
              <a:solidFill>
                <a:srgbClr val="FFFFFF">
                  <a:lumMod val="75000"/>
                </a:srgbClr>
              </a:solidFill>
              <a:prstDash val="solid"/>
              <a:miter lim="800000"/>
            </a:ln>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solidFill>
                  <a:schemeClr val="bg1">
                    <a:lumMod val="65000"/>
                  </a:schemeClr>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87" name="TextBox 86">
              <a:extLst>
                <a:ext uri="{FF2B5EF4-FFF2-40B4-BE49-F238E27FC236}">
                  <a16:creationId xmlns:a16="http://schemas.microsoft.com/office/drawing/2014/main" id="{736E592C-E4E5-C409-D112-12192D04845E}"/>
                </a:ext>
              </a:extLst>
            </p:cNvPr>
            <p:cNvSpPr txBox="1"/>
            <p:nvPr/>
          </p:nvSpPr>
          <p:spPr>
            <a:xfrm>
              <a:off x="6091610" y="3286147"/>
              <a:ext cx="2744021" cy="569202"/>
            </a:xfrm>
            <a:prstGeom prst="rect">
              <a:avLst/>
            </a:prstGeom>
            <a:noFill/>
          </p:spPr>
          <p:txBody>
            <a:bodyPr wrap="square" lIns="91440" tIns="45720" rIns="9144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solidFill>
                    <a:schemeClr val="bg1">
                      <a:lumMod val="65000"/>
                    </a:schemeClr>
                  </a:solidFill>
                  <a:effectLst/>
                  <a:uLnTx/>
                  <a:uFillTx/>
                  <a:latin typeface="Segoe UI" pitchFamily="34" charset="0"/>
                  <a:ea typeface="Helvetica Neue" panose="02000503000000020004" pitchFamily="2" charset="0"/>
                  <a:cs typeface="Helvetica Neue" panose="02000503000000020004" pitchFamily="2" charset="0"/>
                </a:rPr>
                <a:t>Winning Track Record: </a:t>
              </a:r>
              <a:r>
                <a:rPr kumimoji="0" lang="en-US" sz="1400" b="0" i="0" u="none" strike="noStrike" kern="0" cap="none" spc="-10" normalizeH="0" baseline="0" noProof="0">
                  <a:ln>
                    <a:noFill/>
                  </a:ln>
                  <a:solidFill>
                    <a:schemeClr val="bg1">
                      <a:lumMod val="65000"/>
                    </a:schemeClr>
                  </a:solidFill>
                  <a:effectLst/>
                  <a:uLnTx/>
                  <a:uFillTx/>
                  <a:latin typeface="Arial" pitchFamily="34" charset="0"/>
                  <a:ea typeface="Helvetica Neue" panose="02000503000000020004" pitchFamily="2" charset="0"/>
                  <a:cs typeface="Helvetica Neue" panose="02000503000000020004" pitchFamily="2" charset="0"/>
                </a:rPr>
                <a:t>Does the person have a consistent track record of persisting and finding a way to win? </a:t>
              </a:r>
              <a:endParaRPr kumimoji="0" lang="en-US" sz="1600" b="0" i="0" u="none" strike="noStrike" kern="0" cap="none" spc="-10" normalizeH="0" baseline="0" noProof="0">
                <a:ln>
                  <a:noFill/>
                </a:ln>
                <a:solidFill>
                  <a:schemeClr val="bg1">
                    <a:lumMod val="65000"/>
                  </a:schemeClr>
                </a:solidFill>
                <a:effectLst/>
                <a:uLnTx/>
                <a:uFillTx/>
                <a:latin typeface="Arial" pitchFamily="34" charset="0"/>
                <a:ea typeface="Helvetica Neue" panose="02000503000000020004" pitchFamily="2" charset="0"/>
                <a:cs typeface="Helvetica Neue" panose="02000503000000020004" pitchFamily="2" charset="0"/>
              </a:endParaRPr>
            </a:p>
          </p:txBody>
        </p:sp>
      </p:grpSp>
      <p:sp>
        <p:nvSpPr>
          <p:cNvPr id="99" name="Rectangle 98">
            <a:extLst>
              <a:ext uri="{FF2B5EF4-FFF2-40B4-BE49-F238E27FC236}">
                <a16:creationId xmlns:a16="http://schemas.microsoft.com/office/drawing/2014/main" id="{A7E82502-F0B5-95F1-9EB6-91C25CC9AAD5}"/>
              </a:ext>
            </a:extLst>
          </p:cNvPr>
          <p:cNvSpPr/>
          <p:nvPr/>
        </p:nvSpPr>
        <p:spPr>
          <a:xfrm>
            <a:off x="7971637" y="1132556"/>
            <a:ext cx="3508042" cy="577272"/>
          </a:xfrm>
          <a:prstGeom prst="rect">
            <a:avLst/>
          </a:prstGeom>
          <a:solidFill>
            <a:schemeClr val="bg1">
              <a:lumMod val="50000"/>
            </a:schemeClr>
          </a:solidFill>
          <a:ln w="9525" cap="flat" cmpd="sng" algn="ctr">
            <a:solidFill>
              <a:srgbClr val="FFFFFF"/>
            </a:solidFill>
            <a:prstDash val="solid"/>
            <a:miter lim="800000"/>
          </a:ln>
          <a:effectLst>
            <a:outerShdw blurRad="50800" dist="38100" dir="2700000" algn="tl" rotWithShape="0">
              <a:prstClr val="black">
                <a:alpha val="40000"/>
              </a:prstClr>
            </a:outerShdw>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4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100" name="TextBox 99">
            <a:extLst>
              <a:ext uri="{FF2B5EF4-FFF2-40B4-BE49-F238E27FC236}">
                <a16:creationId xmlns:a16="http://schemas.microsoft.com/office/drawing/2014/main" id="{30FF126C-2060-FCB1-2080-7DE49934857E}"/>
              </a:ext>
            </a:extLst>
          </p:cNvPr>
          <p:cNvSpPr txBox="1"/>
          <p:nvPr/>
        </p:nvSpPr>
        <p:spPr>
          <a:xfrm>
            <a:off x="8105497" y="1210166"/>
            <a:ext cx="3340449" cy="307777"/>
          </a:xfrm>
          <a:prstGeom prst="rect">
            <a:avLst/>
          </a:prstGeom>
          <a:solidFill>
            <a:schemeClr val="bg1">
              <a:lumMod val="50000"/>
            </a:schemeClr>
          </a:solidFill>
        </p:spPr>
        <p:txBody>
          <a:bodyPr wrap="square" lIns="91440" tIns="45720" rIns="91440" bIns="45720">
            <a:spAutoFit/>
          </a:body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1400" b="1" i="0" u="none" strike="noStrike" kern="0" cap="none" spc="-10" normalizeH="0" baseline="0" noProof="0">
                <a:ln>
                  <a:noFill/>
                </a:ln>
                <a:solidFill>
                  <a:srgbClr val="FFFFFF"/>
                </a:solidFill>
                <a:effectLst/>
                <a:uLnTx/>
                <a:uFillTx/>
                <a:latin typeface="Segoe UI" pitchFamily="34" charset="0"/>
                <a:ea typeface="Helvetica Neue" panose="02000503000000020004" pitchFamily="2" charset="0"/>
                <a:cs typeface="Helvetica Neue" panose="02000503000000020004" pitchFamily="2" charset="0"/>
              </a:rPr>
              <a:t>TALENT</a:t>
            </a:r>
            <a:endParaRPr kumimoji="0" lang="en-US" sz="14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cxnSp>
        <p:nvCxnSpPr>
          <p:cNvPr id="101" name="Straight Connector 100">
            <a:extLst>
              <a:ext uri="{FF2B5EF4-FFF2-40B4-BE49-F238E27FC236}">
                <a16:creationId xmlns:a16="http://schemas.microsoft.com/office/drawing/2014/main" id="{171E7B26-BA8E-3647-8F86-3048138735B5}"/>
              </a:ext>
            </a:extLst>
          </p:cNvPr>
          <p:cNvCxnSpPr>
            <a:cxnSpLocks/>
          </p:cNvCxnSpPr>
          <p:nvPr/>
        </p:nvCxnSpPr>
        <p:spPr>
          <a:xfrm>
            <a:off x="9175043" y="1610343"/>
            <a:ext cx="1101230" cy="0"/>
          </a:xfrm>
          <a:prstGeom prst="line">
            <a:avLst/>
          </a:prstGeom>
          <a:solidFill>
            <a:schemeClr val="accent1"/>
          </a:solidFill>
          <a:ln w="19050" cap="flat" cmpd="sng" algn="ctr">
            <a:solidFill>
              <a:srgbClr val="FFFFFF"/>
            </a:solidFill>
            <a:prstDash val="solid"/>
            <a:miter lim="800000"/>
          </a:ln>
          <a:effectLst/>
        </p:spPr>
      </p:cxnSp>
      <p:cxnSp>
        <p:nvCxnSpPr>
          <p:cNvPr id="102" name="Straight Connector 101">
            <a:extLst>
              <a:ext uri="{FF2B5EF4-FFF2-40B4-BE49-F238E27FC236}">
                <a16:creationId xmlns:a16="http://schemas.microsoft.com/office/drawing/2014/main" id="{3283C829-56CA-41CE-5583-2435852785AC}"/>
              </a:ext>
            </a:extLst>
          </p:cNvPr>
          <p:cNvCxnSpPr>
            <a:cxnSpLocks/>
          </p:cNvCxnSpPr>
          <p:nvPr/>
        </p:nvCxnSpPr>
        <p:spPr>
          <a:xfrm>
            <a:off x="8139525" y="1888360"/>
            <a:ext cx="3170167" cy="0"/>
          </a:xfrm>
          <a:prstGeom prst="line">
            <a:avLst/>
          </a:prstGeom>
          <a:solidFill>
            <a:schemeClr val="accent1"/>
          </a:solidFill>
          <a:ln w="28575" cap="flat" cmpd="sng" algn="ctr">
            <a:solidFill>
              <a:schemeClr val="bg2"/>
            </a:solidFill>
            <a:prstDash val="solid"/>
            <a:miter lim="800000"/>
          </a:ln>
          <a:effectLst/>
        </p:spPr>
      </p:cxnSp>
      <p:grpSp>
        <p:nvGrpSpPr>
          <p:cNvPr id="15" name="Group 14">
            <a:extLst>
              <a:ext uri="{FF2B5EF4-FFF2-40B4-BE49-F238E27FC236}">
                <a16:creationId xmlns:a16="http://schemas.microsoft.com/office/drawing/2014/main" id="{FDA354E8-A842-DB6B-ED9A-4829AD1C6CAA}"/>
              </a:ext>
            </a:extLst>
          </p:cNvPr>
          <p:cNvGrpSpPr/>
          <p:nvPr/>
        </p:nvGrpSpPr>
        <p:grpSpPr>
          <a:xfrm>
            <a:off x="10403235" y="201614"/>
            <a:ext cx="410690" cy="410700"/>
            <a:chOff x="3506617" y="2730959"/>
            <a:chExt cx="1591098" cy="1591098"/>
          </a:xfrm>
        </p:grpSpPr>
        <p:sp>
          <p:nvSpPr>
            <p:cNvPr id="16" name="Rectangle: Rounded Corners 39">
              <a:extLst>
                <a:ext uri="{FF2B5EF4-FFF2-40B4-BE49-F238E27FC236}">
                  <a16:creationId xmlns:a16="http://schemas.microsoft.com/office/drawing/2014/main" id="{3AB64EB1-95CF-372B-72C4-FB0680371965}"/>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7" name="Rectangle: Rounded Corners 54">
              <a:extLst>
                <a:ext uri="{FF2B5EF4-FFF2-40B4-BE49-F238E27FC236}">
                  <a16:creationId xmlns:a16="http://schemas.microsoft.com/office/drawing/2014/main" id="{6130514F-C48D-EAD4-4317-DFCFAA2BACC8}"/>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9" name="Freeform 56" descr="Clipboard Partially Checked with solid fill">
              <a:extLst>
                <a:ext uri="{FF2B5EF4-FFF2-40B4-BE49-F238E27FC236}">
                  <a16:creationId xmlns:a16="http://schemas.microsoft.com/office/drawing/2014/main" id="{154F875A-BA6C-64AE-AB34-5BE7035D86C6}"/>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21" name="Group 20">
            <a:extLst>
              <a:ext uri="{FF2B5EF4-FFF2-40B4-BE49-F238E27FC236}">
                <a16:creationId xmlns:a16="http://schemas.microsoft.com/office/drawing/2014/main" id="{0D5521A1-966A-6E80-42C8-271D5EA5EBF1}"/>
              </a:ext>
            </a:extLst>
          </p:cNvPr>
          <p:cNvGrpSpPr/>
          <p:nvPr/>
        </p:nvGrpSpPr>
        <p:grpSpPr>
          <a:xfrm>
            <a:off x="11557682" y="191038"/>
            <a:ext cx="410690" cy="410700"/>
            <a:chOff x="8874309" y="3009260"/>
            <a:chExt cx="1591098" cy="1591098"/>
          </a:xfrm>
        </p:grpSpPr>
        <p:grpSp>
          <p:nvGrpSpPr>
            <p:cNvPr id="22" name="Group 21">
              <a:extLst>
                <a:ext uri="{FF2B5EF4-FFF2-40B4-BE49-F238E27FC236}">
                  <a16:creationId xmlns:a16="http://schemas.microsoft.com/office/drawing/2014/main" id="{FA54DAA4-DD5E-9A7D-E967-A3018C93B0A6}"/>
                </a:ext>
              </a:extLst>
            </p:cNvPr>
            <p:cNvGrpSpPr/>
            <p:nvPr/>
          </p:nvGrpSpPr>
          <p:grpSpPr>
            <a:xfrm>
              <a:off x="8874309" y="3009260"/>
              <a:ext cx="1591098" cy="1591098"/>
              <a:chOff x="9350370" y="2760976"/>
              <a:chExt cx="1591098" cy="1591098"/>
            </a:xfrm>
          </p:grpSpPr>
          <p:sp>
            <p:nvSpPr>
              <p:cNvPr id="24" name="Rectangle: Rounded Corners 39">
                <a:extLst>
                  <a:ext uri="{FF2B5EF4-FFF2-40B4-BE49-F238E27FC236}">
                    <a16:creationId xmlns:a16="http://schemas.microsoft.com/office/drawing/2014/main" id="{B34790CE-CABE-2F70-014E-84A07BC3F67C}"/>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5" name="Rectangle: Rounded Corners 54">
                <a:extLst>
                  <a:ext uri="{FF2B5EF4-FFF2-40B4-BE49-F238E27FC236}">
                    <a16:creationId xmlns:a16="http://schemas.microsoft.com/office/drawing/2014/main" id="{B1C6F091-9297-8CEB-E8D9-071B20604089}"/>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3" name="Picture 51" descr="Map with pin with solid fill">
              <a:extLst>
                <a:ext uri="{FF2B5EF4-FFF2-40B4-BE49-F238E27FC236}">
                  <a16:creationId xmlns:a16="http://schemas.microsoft.com/office/drawing/2014/main" id="{26F38CBD-589A-B904-D1B6-B7A1B44DFE3A}"/>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6" name="Group 25">
            <a:extLst>
              <a:ext uri="{FF2B5EF4-FFF2-40B4-BE49-F238E27FC236}">
                <a16:creationId xmlns:a16="http://schemas.microsoft.com/office/drawing/2014/main" id="{4D7DEBA0-F546-C2B0-6FC3-C03C5D5D98B7}"/>
              </a:ext>
            </a:extLst>
          </p:cNvPr>
          <p:cNvGrpSpPr/>
          <p:nvPr/>
        </p:nvGrpSpPr>
        <p:grpSpPr>
          <a:xfrm>
            <a:off x="10997361" y="200955"/>
            <a:ext cx="410690" cy="410700"/>
            <a:chOff x="5303120" y="3009260"/>
            <a:chExt cx="1591098" cy="1591098"/>
          </a:xfrm>
        </p:grpSpPr>
        <p:grpSp>
          <p:nvGrpSpPr>
            <p:cNvPr id="27" name="Group 26">
              <a:extLst>
                <a:ext uri="{FF2B5EF4-FFF2-40B4-BE49-F238E27FC236}">
                  <a16:creationId xmlns:a16="http://schemas.microsoft.com/office/drawing/2014/main" id="{093FEDE2-5954-1AC0-B241-7CDA346051BF}"/>
                </a:ext>
              </a:extLst>
            </p:cNvPr>
            <p:cNvGrpSpPr/>
            <p:nvPr/>
          </p:nvGrpSpPr>
          <p:grpSpPr>
            <a:xfrm>
              <a:off x="5303120" y="3009260"/>
              <a:ext cx="1591098" cy="1591098"/>
              <a:chOff x="6428492" y="2760976"/>
              <a:chExt cx="1591098" cy="1591098"/>
            </a:xfrm>
          </p:grpSpPr>
          <p:sp>
            <p:nvSpPr>
              <p:cNvPr id="29" name="Rectangle: Rounded Corners 39">
                <a:extLst>
                  <a:ext uri="{FF2B5EF4-FFF2-40B4-BE49-F238E27FC236}">
                    <a16:creationId xmlns:a16="http://schemas.microsoft.com/office/drawing/2014/main" id="{4AE380B8-AF55-2169-89EC-465B4BAEEE49}"/>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0" name="Rectangle: Rounded Corners 54">
                <a:extLst>
                  <a:ext uri="{FF2B5EF4-FFF2-40B4-BE49-F238E27FC236}">
                    <a16:creationId xmlns:a16="http://schemas.microsoft.com/office/drawing/2014/main" id="{F33E2480-0C7E-C3A4-55B1-4B99D2F36121}"/>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8" name="Graphic 27" descr="Target Audience with solid fill">
              <a:extLst>
                <a:ext uri="{FF2B5EF4-FFF2-40B4-BE49-F238E27FC236}">
                  <a16:creationId xmlns:a16="http://schemas.microsoft.com/office/drawing/2014/main" id="{0F5F9CD5-0CD3-7E8D-C321-7C16CBB4DDC3}"/>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1" name="TextBox 30">
            <a:extLst>
              <a:ext uri="{FF2B5EF4-FFF2-40B4-BE49-F238E27FC236}">
                <a16:creationId xmlns:a16="http://schemas.microsoft.com/office/drawing/2014/main" id="{F7970EBA-BF33-1732-7F7C-A0E4AB3AD2B5}"/>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2" name="TextBox 31">
            <a:extLst>
              <a:ext uri="{FF2B5EF4-FFF2-40B4-BE49-F238E27FC236}">
                <a16:creationId xmlns:a16="http://schemas.microsoft.com/office/drawing/2014/main" id="{A665CD79-3444-51DC-06C1-23983395A1D0}"/>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3" name="TextBox 32">
            <a:extLst>
              <a:ext uri="{FF2B5EF4-FFF2-40B4-BE49-F238E27FC236}">
                <a16:creationId xmlns:a16="http://schemas.microsoft.com/office/drawing/2014/main" id="{C9A8BB59-E214-AAD5-6D10-261BFC93F56C}"/>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4" name="Rectangle 33">
            <a:extLst>
              <a:ext uri="{FF2B5EF4-FFF2-40B4-BE49-F238E27FC236}">
                <a16:creationId xmlns:a16="http://schemas.microsoft.com/office/drawing/2014/main" id="{48FF3A6E-4995-48D5-16DC-08532D761BFA}"/>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
        <p:nvSpPr>
          <p:cNvPr id="103"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22</a:t>
            </a:fld>
            <a:endParaRPr lang="en-US"/>
          </a:p>
        </p:txBody>
      </p:sp>
    </p:spTree>
    <p:extLst>
      <p:ext uri="{BB962C8B-B14F-4D97-AF65-F5344CB8AC3E}">
        <p14:creationId xmlns:p14="http://schemas.microsoft.com/office/powerpoint/2010/main" val="2989864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79"/>
                                        </p:tgtEl>
                                        <p:attrNameLst>
                                          <p:attrName>style.visibility</p:attrName>
                                        </p:attrNameLst>
                                      </p:cBhvr>
                                      <p:to>
                                        <p:strVal val="visible"/>
                                      </p:to>
                                    </p:set>
                                    <p:animEffect transition="in" filter="dissolve">
                                      <p:cBhvr>
                                        <p:cTn id="17" dur="500"/>
                                        <p:tgtEl>
                                          <p:spTgt spid="79"/>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99"/>
                                        </p:tgtEl>
                                        <p:attrNameLst>
                                          <p:attrName>style.visibility</p:attrName>
                                        </p:attrNameLst>
                                      </p:cBhvr>
                                      <p:to>
                                        <p:strVal val="visible"/>
                                      </p:to>
                                    </p:set>
                                    <p:animEffect transition="in" filter="dissolve">
                                      <p:cBhvr>
                                        <p:cTn id="20" dur="500"/>
                                        <p:tgtEl>
                                          <p:spTgt spid="99"/>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100"/>
                                        </p:tgtEl>
                                        <p:attrNameLst>
                                          <p:attrName>style.visibility</p:attrName>
                                        </p:attrNameLst>
                                      </p:cBhvr>
                                      <p:to>
                                        <p:strVal val="visible"/>
                                      </p:to>
                                    </p:set>
                                    <p:animEffect transition="in" filter="dissolve">
                                      <p:cBhvr>
                                        <p:cTn id="23" dur="500"/>
                                        <p:tgtEl>
                                          <p:spTgt spid="100"/>
                                        </p:tgtEl>
                                      </p:cBhvr>
                                    </p:animEffect>
                                  </p:childTnLst>
                                </p:cTn>
                              </p:par>
                              <p:par>
                                <p:cTn id="24" presetID="9" presetClass="entr" presetSubtype="0" fill="hold" nodeType="withEffect">
                                  <p:stCondLst>
                                    <p:cond delay="0"/>
                                  </p:stCondLst>
                                  <p:childTnLst>
                                    <p:set>
                                      <p:cBhvr>
                                        <p:cTn id="25" dur="1" fill="hold">
                                          <p:stCondLst>
                                            <p:cond delay="0"/>
                                          </p:stCondLst>
                                        </p:cTn>
                                        <p:tgtEl>
                                          <p:spTgt spid="101"/>
                                        </p:tgtEl>
                                        <p:attrNameLst>
                                          <p:attrName>style.visibility</p:attrName>
                                        </p:attrNameLst>
                                      </p:cBhvr>
                                      <p:to>
                                        <p:strVal val="visible"/>
                                      </p:to>
                                    </p:set>
                                    <p:animEffect transition="in" filter="dissolve">
                                      <p:cBhvr>
                                        <p:cTn id="26" dur="500"/>
                                        <p:tgtEl>
                                          <p:spTgt spid="101"/>
                                        </p:tgtEl>
                                      </p:cBhvr>
                                    </p:animEffect>
                                  </p:childTnLst>
                                </p:cTn>
                              </p:par>
                              <p:par>
                                <p:cTn id="27" presetID="9" presetClass="entr" presetSubtype="0" fill="hold" nodeType="withEffect">
                                  <p:stCondLst>
                                    <p:cond delay="0"/>
                                  </p:stCondLst>
                                  <p:childTnLst>
                                    <p:set>
                                      <p:cBhvr>
                                        <p:cTn id="28" dur="1" fill="hold">
                                          <p:stCondLst>
                                            <p:cond delay="0"/>
                                          </p:stCondLst>
                                        </p:cTn>
                                        <p:tgtEl>
                                          <p:spTgt spid="102"/>
                                        </p:tgtEl>
                                        <p:attrNameLst>
                                          <p:attrName>style.visibility</p:attrName>
                                        </p:attrNameLst>
                                      </p:cBhvr>
                                      <p:to>
                                        <p:strVal val="visible"/>
                                      </p:to>
                                    </p:set>
                                    <p:animEffect transition="in" filter="dissolve">
                                      <p:cBhvr>
                                        <p:cTn id="29" dur="500"/>
                                        <p:tgtEl>
                                          <p:spTgt spid="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100" grpId="0" animBg="1"/>
    </p:bldLst>
  </p:timing>
  <p:extLst>
    <p:ext uri="{6950BFC3-D8DA-4A85-94F7-54DA5524770B}">
      <p188:commentRel xmlns:p188="http://schemas.microsoft.com/office/powerpoint/2018/8/main" r:id="rId3"/>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C387067-BAEE-4346-9485-AE63BA783C93}"/>
              </a:ext>
            </a:extLst>
          </p:cNvPr>
          <p:cNvSpPr>
            <a:spLocks noGrp="1"/>
          </p:cNvSpPr>
          <p:nvPr>
            <p:ph type="title" sz="quarter"/>
          </p:nvPr>
        </p:nvSpPr>
        <p:spPr/>
        <p:txBody>
          <a:bodyPr/>
          <a:lstStyle/>
          <a:p>
            <a:r>
              <a:rPr lang="en-US" b="1" spc="-25">
                <a:solidFill>
                  <a:srgbClr val="1D1D1D"/>
                </a:solidFill>
                <a:latin typeface="Segoe UI" pitchFamily="34" charset="0"/>
                <a:ea typeface="Helvetica Neue" panose="02000503000000020004" pitchFamily="2" charset="0"/>
                <a:cs typeface="Helvetica Neue" panose="02000503000000020004" pitchFamily="2" charset="0"/>
              </a:rPr>
              <a:t>Superpowers</a:t>
            </a:r>
          </a:p>
        </p:txBody>
      </p:sp>
      <p:grpSp>
        <p:nvGrpSpPr>
          <p:cNvPr id="26" name="Group 25">
            <a:extLst>
              <a:ext uri="{FF2B5EF4-FFF2-40B4-BE49-F238E27FC236}">
                <a16:creationId xmlns:a16="http://schemas.microsoft.com/office/drawing/2014/main" id="{D296B0F8-EAA7-4C74-B292-BCFDF7761EBA}"/>
              </a:ext>
            </a:extLst>
          </p:cNvPr>
          <p:cNvGrpSpPr/>
          <p:nvPr/>
        </p:nvGrpSpPr>
        <p:grpSpPr>
          <a:xfrm>
            <a:off x="1083678" y="1983098"/>
            <a:ext cx="2580944" cy="3409801"/>
            <a:chOff x="1083677" y="2174152"/>
            <a:chExt cx="2580944" cy="3409801"/>
          </a:xfrm>
        </p:grpSpPr>
        <p:sp>
          <p:nvSpPr>
            <p:cNvPr id="36" name="TextBox 35">
              <a:extLst>
                <a:ext uri="{FF2B5EF4-FFF2-40B4-BE49-F238E27FC236}">
                  <a16:creationId xmlns:a16="http://schemas.microsoft.com/office/drawing/2014/main" id="{A2D4C07E-2E70-45C0-9662-B17D15587FFD}"/>
                </a:ext>
              </a:extLst>
            </p:cNvPr>
            <p:cNvSpPr txBox="1"/>
            <p:nvPr/>
          </p:nvSpPr>
          <p:spPr>
            <a:xfrm>
              <a:off x="1083677" y="4983509"/>
              <a:ext cx="2580944" cy="600444"/>
            </a:xfrm>
            <a:prstGeom prst="rect">
              <a:avLst/>
            </a:prstGeom>
            <a:noFill/>
          </p:spPr>
          <p:txBody>
            <a:bodyPr wrap="square" lIns="91440" tIns="45720" rIns="91440" bIns="45720" rtlCol="0" anchor="ctr">
              <a:noAutofit/>
            </a:bodyPr>
            <a:lstStyle/>
            <a:p>
              <a:pPr algn="ctr">
                <a:defRPr/>
              </a:pPr>
              <a:r>
                <a:rPr lang="en-US" sz="1600" spc="-10">
                  <a:solidFill>
                    <a:srgbClr val="1D1D1D">
                      <a:lumMod val="75000"/>
                      <a:lumOff val="25000"/>
                    </a:srgbClr>
                  </a:solidFill>
                  <a:latin typeface="Arial" pitchFamily="34" charset="0"/>
                  <a:ea typeface="Helvetica Neue" panose="02000503000000020004" pitchFamily="2" charset="0"/>
                  <a:cs typeface="Helvetica Neue" panose="02000503000000020004" pitchFamily="2" charset="0"/>
                </a:rPr>
                <a:t>GENERIC FIT CRITERIA</a:t>
              </a:r>
            </a:p>
          </p:txBody>
        </p:sp>
        <p:pic>
          <p:nvPicPr>
            <p:cNvPr id="37" name="Picture 36">
              <a:extLst>
                <a:ext uri="{FF2B5EF4-FFF2-40B4-BE49-F238E27FC236}">
                  <a16:creationId xmlns:a16="http://schemas.microsoft.com/office/drawing/2014/main" id="{00C5D9FB-E8E6-499D-9901-A94350CC26EC}"/>
                </a:ext>
              </a:extLst>
            </p:cNvPr>
            <p:cNvPicPr>
              <a:picLocks noChangeAspect="1"/>
            </p:cNvPicPr>
            <p:nvPr/>
          </p:nvPicPr>
          <p:blipFill>
            <a:blip r:embed="rId2">
              <a:duotone>
                <a:srgbClr val="765FFF"/>
                <a:srgbClr val="FFFFFF"/>
              </a:duotone>
            </a:blip>
            <a:stretch>
              <a:fillRect/>
            </a:stretch>
          </p:blipFill>
          <p:spPr>
            <a:xfrm>
              <a:off x="1097947" y="2174152"/>
              <a:ext cx="2552404" cy="2552404"/>
            </a:xfrm>
            <a:prstGeom prst="rect">
              <a:avLst/>
            </a:prstGeom>
            <a:solidFill>
              <a:schemeClr val="bg1"/>
            </a:solidFill>
          </p:spPr>
        </p:pic>
      </p:grpSp>
      <p:sp>
        <p:nvSpPr>
          <p:cNvPr id="29" name="TextBox 28">
            <a:extLst>
              <a:ext uri="{FF2B5EF4-FFF2-40B4-BE49-F238E27FC236}">
                <a16:creationId xmlns:a16="http://schemas.microsoft.com/office/drawing/2014/main" id="{3F505492-BC7C-49AA-AF68-20A0D08FA7A9}"/>
              </a:ext>
            </a:extLst>
          </p:cNvPr>
          <p:cNvSpPr txBox="1"/>
          <p:nvPr/>
        </p:nvSpPr>
        <p:spPr>
          <a:xfrm>
            <a:off x="7635597" y="4872744"/>
            <a:ext cx="2820698" cy="439866"/>
          </a:xfrm>
          <a:prstGeom prst="rect">
            <a:avLst/>
          </a:prstGeom>
          <a:noFill/>
        </p:spPr>
        <p:txBody>
          <a:bodyPr wrap="square" lIns="91440" tIns="45720" rIns="91440" bIns="45720" rtlCol="0" anchor="ctr">
            <a:noAutofit/>
          </a:bodyPr>
          <a:lstStyle/>
          <a:p>
            <a:pPr algn="ctr">
              <a:defRPr/>
            </a:pPr>
            <a:r>
              <a:rPr lang="en-US" sz="1600" spc="-10">
                <a:solidFill>
                  <a:srgbClr val="1D1D1D">
                    <a:lumMod val="75000"/>
                    <a:lumOff val="25000"/>
                  </a:srgbClr>
                </a:solidFill>
                <a:latin typeface="Arial" pitchFamily="34" charset="0"/>
                <a:ea typeface="Helvetica Neue" panose="02000503000000020004" pitchFamily="2" charset="0"/>
                <a:cs typeface="Helvetica Neue" panose="02000503000000020004" pitchFamily="2" charset="0"/>
              </a:rPr>
              <a:t>SUPERPOWERS</a:t>
            </a:r>
          </a:p>
        </p:txBody>
      </p:sp>
      <p:sp>
        <p:nvSpPr>
          <p:cNvPr id="31" name="Rectangle 30">
            <a:extLst>
              <a:ext uri="{FF2B5EF4-FFF2-40B4-BE49-F238E27FC236}">
                <a16:creationId xmlns:a16="http://schemas.microsoft.com/office/drawing/2014/main" id="{B164D4C7-AACE-44D0-B33F-A4A0060622FE}"/>
              </a:ext>
            </a:extLst>
          </p:cNvPr>
          <p:cNvSpPr/>
          <p:nvPr/>
        </p:nvSpPr>
        <p:spPr>
          <a:xfrm>
            <a:off x="5950781" y="1983098"/>
            <a:ext cx="5273776" cy="2552404"/>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endParaRPr lang="en-US" spc="-10">
              <a:solidFill>
                <a:srgbClr val="FFFFFF"/>
              </a:solidFill>
              <a:latin typeface="Arial" pitchFamily="34" charset="0"/>
              <a:ea typeface="Helvetica Neue" panose="02000503000000020004" pitchFamily="2" charset="0"/>
              <a:cs typeface="Helvetica Neue" panose="02000503000000020004" pitchFamily="2" charset="0"/>
            </a:endParaRPr>
          </a:p>
        </p:txBody>
      </p:sp>
      <p:pic>
        <p:nvPicPr>
          <p:cNvPr id="32" name="Picture 31">
            <a:extLst>
              <a:ext uri="{FF2B5EF4-FFF2-40B4-BE49-F238E27FC236}">
                <a16:creationId xmlns:a16="http://schemas.microsoft.com/office/drawing/2014/main" id="{7359FACF-9730-4272-9864-71D38B012958}"/>
              </a:ext>
            </a:extLst>
          </p:cNvPr>
          <p:cNvPicPr>
            <a:picLocks noChangeAspect="1"/>
          </p:cNvPicPr>
          <p:nvPr/>
        </p:nvPicPr>
        <p:blipFill rotWithShape="1">
          <a:blip r:embed="rId3" cstate="screen">
            <a:duotone>
              <a:srgbClr val="765FFF"/>
              <a:srgbClr val="FFFFFF"/>
            </a:duotone>
          </a:blip>
          <a:srcRect/>
          <a:stretch/>
        </p:blipFill>
        <p:spPr>
          <a:xfrm>
            <a:off x="4864405" y="2107541"/>
            <a:ext cx="2261465" cy="2286231"/>
          </a:xfrm>
          <a:prstGeom prst="rect">
            <a:avLst/>
          </a:prstGeom>
        </p:spPr>
      </p:pic>
      <p:grpSp>
        <p:nvGrpSpPr>
          <p:cNvPr id="47" name="Group 46">
            <a:extLst>
              <a:ext uri="{FF2B5EF4-FFF2-40B4-BE49-F238E27FC236}">
                <a16:creationId xmlns:a16="http://schemas.microsoft.com/office/drawing/2014/main" id="{5CBD7784-7217-8A71-E11E-9C80B43FC169}"/>
              </a:ext>
            </a:extLst>
          </p:cNvPr>
          <p:cNvGrpSpPr/>
          <p:nvPr/>
        </p:nvGrpSpPr>
        <p:grpSpPr>
          <a:xfrm>
            <a:off x="7364539" y="2762029"/>
            <a:ext cx="3612088" cy="1251138"/>
            <a:chOff x="7460791" y="2762029"/>
            <a:chExt cx="3612088" cy="1251138"/>
          </a:xfrm>
        </p:grpSpPr>
        <p:grpSp>
          <p:nvGrpSpPr>
            <p:cNvPr id="45" name="Group 44">
              <a:extLst>
                <a:ext uri="{FF2B5EF4-FFF2-40B4-BE49-F238E27FC236}">
                  <a16:creationId xmlns:a16="http://schemas.microsoft.com/office/drawing/2014/main" id="{63C459B7-43EA-0A30-FF90-633B473A69F3}"/>
                </a:ext>
              </a:extLst>
            </p:cNvPr>
            <p:cNvGrpSpPr/>
            <p:nvPr/>
          </p:nvGrpSpPr>
          <p:grpSpPr>
            <a:xfrm>
              <a:off x="7460791" y="2762029"/>
              <a:ext cx="3612088" cy="1251138"/>
              <a:chOff x="7460791" y="2762029"/>
              <a:chExt cx="3612088" cy="1251138"/>
            </a:xfrm>
          </p:grpSpPr>
          <p:sp>
            <p:nvSpPr>
              <p:cNvPr id="44" name="Rounded Rectangle 43">
                <a:extLst>
                  <a:ext uri="{FF2B5EF4-FFF2-40B4-BE49-F238E27FC236}">
                    <a16:creationId xmlns:a16="http://schemas.microsoft.com/office/drawing/2014/main" id="{D50B6BB7-6803-1258-9422-2029969A91C0}"/>
                  </a:ext>
                </a:extLst>
              </p:cNvPr>
              <p:cNvSpPr/>
              <p:nvPr/>
            </p:nvSpPr>
            <p:spPr>
              <a:xfrm>
                <a:off x="9314615" y="2762029"/>
                <a:ext cx="1758264" cy="1251138"/>
              </a:xfrm>
              <a:prstGeom prst="roundRect">
                <a:avLst>
                  <a:gd name="adj" fmla="val 9340"/>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a typeface="Helvetica Neue" panose="02000503000000020004" pitchFamily="2" charset="0"/>
                  <a:cs typeface="Helvetica Neue" panose="02000503000000020004" pitchFamily="2" charset="0"/>
                </a:endParaRPr>
              </a:p>
            </p:txBody>
          </p:sp>
          <p:sp>
            <p:nvSpPr>
              <p:cNvPr id="43" name="Rounded Rectangle 42">
                <a:extLst>
                  <a:ext uri="{FF2B5EF4-FFF2-40B4-BE49-F238E27FC236}">
                    <a16:creationId xmlns:a16="http://schemas.microsoft.com/office/drawing/2014/main" id="{87ADFE81-73E7-17A7-B70E-7D95C5F3CD92}"/>
                  </a:ext>
                </a:extLst>
              </p:cNvPr>
              <p:cNvSpPr/>
              <p:nvPr/>
            </p:nvSpPr>
            <p:spPr>
              <a:xfrm>
                <a:off x="7460791" y="2762029"/>
                <a:ext cx="1758264" cy="1251138"/>
              </a:xfrm>
              <a:prstGeom prst="roundRect">
                <a:avLst>
                  <a:gd name="adj" fmla="val 9340"/>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a typeface="Helvetica Neue" panose="02000503000000020004" pitchFamily="2" charset="0"/>
                  <a:cs typeface="Helvetica Neue" panose="02000503000000020004" pitchFamily="2" charset="0"/>
                </a:endParaRPr>
              </a:p>
            </p:txBody>
          </p:sp>
        </p:grpSp>
        <p:sp>
          <p:nvSpPr>
            <p:cNvPr id="33" name="Rectangle 32">
              <a:extLst>
                <a:ext uri="{FF2B5EF4-FFF2-40B4-BE49-F238E27FC236}">
                  <a16:creationId xmlns:a16="http://schemas.microsoft.com/office/drawing/2014/main" id="{AB683F9C-FE8E-4870-AC14-F4FC4412DD18}"/>
                </a:ext>
              </a:extLst>
            </p:cNvPr>
            <p:cNvSpPr/>
            <p:nvPr/>
          </p:nvSpPr>
          <p:spPr>
            <a:xfrm>
              <a:off x="7535233" y="2841696"/>
              <a:ext cx="1609380" cy="1081399"/>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en-US" spc="-10" dirty="0">
                  <a:solidFill>
                    <a:srgbClr val="FFFFFF"/>
                  </a:solidFill>
                  <a:latin typeface="Arial" pitchFamily="34" charset="0"/>
                  <a:ea typeface="Helvetica Neue" panose="02000503000000020004" pitchFamily="2" charset="0"/>
                  <a:cs typeface="Helvetica Neue" panose="02000503000000020004" pitchFamily="2" charset="0"/>
                </a:rPr>
                <a:t>Execute the Future Jobs to Be Done</a:t>
              </a:r>
            </a:p>
          </p:txBody>
        </p:sp>
        <p:sp>
          <p:nvSpPr>
            <p:cNvPr id="34" name="Rectangle 33">
              <a:extLst>
                <a:ext uri="{FF2B5EF4-FFF2-40B4-BE49-F238E27FC236}">
                  <a16:creationId xmlns:a16="http://schemas.microsoft.com/office/drawing/2014/main" id="{7D50E97A-D2BC-49DD-9E0F-9B8C1A15225B}"/>
                </a:ext>
              </a:extLst>
            </p:cNvPr>
            <p:cNvSpPr/>
            <p:nvPr/>
          </p:nvSpPr>
          <p:spPr>
            <a:xfrm>
              <a:off x="9403944" y="2841697"/>
              <a:ext cx="1609380" cy="1081399"/>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en-US" spc="-10">
                  <a:solidFill>
                    <a:srgbClr val="FFFFFF"/>
                  </a:solidFill>
                  <a:latin typeface="Arial" pitchFamily="34" charset="0"/>
                  <a:ea typeface="Helvetica Neue" panose="02000503000000020004" pitchFamily="2" charset="0"/>
                  <a:cs typeface="Helvetica Neue" panose="02000503000000020004" pitchFamily="2" charset="0"/>
                </a:rPr>
                <a:t>Mitigate the </a:t>
              </a:r>
              <a:br>
                <a:rPr lang="en-US" spc="-10">
                  <a:solidFill>
                    <a:srgbClr val="FFFFFF"/>
                  </a:solidFill>
                  <a:latin typeface="Arial" pitchFamily="34" charset="0"/>
                  <a:ea typeface="Helvetica Neue" panose="02000503000000020004" pitchFamily="2" charset="0"/>
                  <a:cs typeface="Helvetica Neue" panose="02000503000000020004" pitchFamily="2" charset="0"/>
                </a:rPr>
              </a:br>
              <a:r>
                <a:rPr lang="en-US" spc="-10">
                  <a:solidFill>
                    <a:srgbClr val="FFFFFF"/>
                  </a:solidFill>
                  <a:latin typeface="Arial" pitchFamily="34" charset="0"/>
                  <a:ea typeface="Helvetica Neue" panose="02000503000000020004" pitchFamily="2" charset="0"/>
                  <a:cs typeface="Helvetica Neue" panose="02000503000000020004" pitchFamily="2" charset="0"/>
                </a:rPr>
                <a:t>Work &amp; Role Risks</a:t>
              </a:r>
            </a:p>
          </p:txBody>
        </p:sp>
      </p:grpSp>
      <p:sp>
        <p:nvSpPr>
          <p:cNvPr id="35" name="TextBox 34">
            <a:extLst>
              <a:ext uri="{FF2B5EF4-FFF2-40B4-BE49-F238E27FC236}">
                <a16:creationId xmlns:a16="http://schemas.microsoft.com/office/drawing/2014/main" id="{43B43648-791F-4C5E-B141-BCCBA2C3738B}"/>
              </a:ext>
            </a:extLst>
          </p:cNvPr>
          <p:cNvSpPr txBox="1"/>
          <p:nvPr/>
        </p:nvSpPr>
        <p:spPr>
          <a:xfrm>
            <a:off x="7579895" y="2125662"/>
            <a:ext cx="2870152" cy="393816"/>
          </a:xfrm>
          <a:prstGeom prst="rect">
            <a:avLst/>
          </a:prstGeom>
          <a:solidFill>
            <a:schemeClr val="bg1"/>
          </a:solidFill>
        </p:spPr>
        <p:txBody>
          <a:bodyPr wrap="square" lIns="91440" tIns="45720" rIns="91440" bIns="45720" rtlCol="0" anchor="ctr">
            <a:noAutofit/>
          </a:bodyPr>
          <a:lstStyle/>
          <a:p>
            <a:pPr>
              <a:defRPr/>
            </a:pPr>
            <a:r>
              <a:rPr lang="en-US" sz="1600" b="1" spc="-10">
                <a:solidFill>
                  <a:srgbClr val="1D1D1D">
                    <a:lumMod val="75000"/>
                    <a:lumOff val="25000"/>
                  </a:srgbClr>
                </a:solidFill>
                <a:latin typeface="Segoe UI" pitchFamily="34" charset="0"/>
                <a:ea typeface="Helvetica Neue" panose="02000503000000020004" pitchFamily="2" charset="0"/>
                <a:cs typeface="Helvetica Neue" panose="02000503000000020004" pitchFamily="2" charset="0"/>
              </a:rPr>
              <a:t>Superpowers needed to:</a:t>
            </a:r>
          </a:p>
        </p:txBody>
      </p:sp>
      <p:sp>
        <p:nvSpPr>
          <p:cNvPr id="28" name="Freeform 5">
            <a:extLst>
              <a:ext uri="{FF2B5EF4-FFF2-40B4-BE49-F238E27FC236}">
                <a16:creationId xmlns:a16="http://schemas.microsoft.com/office/drawing/2014/main" id="{7A77738B-D088-45F6-9CD0-BF8081C14F84}"/>
              </a:ext>
            </a:extLst>
          </p:cNvPr>
          <p:cNvSpPr/>
          <p:nvPr/>
        </p:nvSpPr>
        <p:spPr>
          <a:xfrm>
            <a:off x="4439540" y="2984851"/>
            <a:ext cx="602810" cy="402747"/>
          </a:xfrm>
          <a:custGeom>
            <a:avLst/>
            <a:gdLst>
              <a:gd name="connsiteX0" fmla="*/ 1135506 w 1705111"/>
              <a:gd name="connsiteY0" fmla="*/ 0 h 1139211"/>
              <a:gd name="connsiteX1" fmla="*/ 1705111 w 1705111"/>
              <a:gd name="connsiteY1" fmla="*/ 569606 h 1139211"/>
              <a:gd name="connsiteX2" fmla="*/ 1135506 w 1705111"/>
              <a:gd name="connsiteY2" fmla="*/ 1139211 h 1139211"/>
              <a:gd name="connsiteX3" fmla="*/ 993400 w 1705111"/>
              <a:gd name="connsiteY3" fmla="*/ 997105 h 1139211"/>
              <a:gd name="connsiteX4" fmla="*/ 1316392 w 1705111"/>
              <a:gd name="connsiteY4" fmla="*/ 674112 h 1139211"/>
              <a:gd name="connsiteX5" fmla="*/ 0 w 1705111"/>
              <a:gd name="connsiteY5" fmla="*/ 674112 h 1139211"/>
              <a:gd name="connsiteX6" fmla="*/ 0 w 1705111"/>
              <a:gd name="connsiteY6" fmla="*/ 465098 h 1139211"/>
              <a:gd name="connsiteX7" fmla="*/ 1316393 w 1705111"/>
              <a:gd name="connsiteY7" fmla="*/ 465098 h 1139211"/>
              <a:gd name="connsiteX8" fmla="*/ 993401 w 1705111"/>
              <a:gd name="connsiteY8" fmla="*/ 142106 h 1139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5111" h="1139211">
                <a:moveTo>
                  <a:pt x="1135506" y="0"/>
                </a:moveTo>
                <a:lnTo>
                  <a:pt x="1705111" y="569606"/>
                </a:lnTo>
                <a:lnTo>
                  <a:pt x="1135506" y="1139211"/>
                </a:lnTo>
                <a:lnTo>
                  <a:pt x="993400" y="997105"/>
                </a:lnTo>
                <a:lnTo>
                  <a:pt x="1316392" y="674112"/>
                </a:lnTo>
                <a:lnTo>
                  <a:pt x="0" y="674112"/>
                </a:lnTo>
                <a:lnTo>
                  <a:pt x="0" y="465098"/>
                </a:lnTo>
                <a:lnTo>
                  <a:pt x="1316393" y="465098"/>
                </a:lnTo>
                <a:lnTo>
                  <a:pt x="993401" y="142106"/>
                </a:lnTo>
                <a:close/>
              </a:path>
            </a:pathLst>
          </a:cu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endParaRPr lang="en-US" spc="-10">
              <a:solidFill>
                <a:srgbClr val="FFFFFF"/>
              </a:solidFill>
              <a:latin typeface="Arial" pitchFamily="34" charset="0"/>
              <a:ea typeface="Helvetica Neue" panose="02000503000000020004" pitchFamily="2" charset="0"/>
              <a:cs typeface="Helvetica Neue" panose="02000503000000020004" pitchFamily="2" charset="0"/>
            </a:endParaRPr>
          </a:p>
        </p:txBody>
      </p:sp>
      <p:sp>
        <p:nvSpPr>
          <p:cNvPr id="48"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23</a:t>
            </a:fld>
            <a:endParaRPr lang="en-US"/>
          </a:p>
        </p:txBody>
      </p:sp>
      <p:grpSp>
        <p:nvGrpSpPr>
          <p:cNvPr id="3" name="Group 2">
            <a:extLst>
              <a:ext uri="{FF2B5EF4-FFF2-40B4-BE49-F238E27FC236}">
                <a16:creationId xmlns:a16="http://schemas.microsoft.com/office/drawing/2014/main" id="{954FB41F-2AD8-4F06-201C-0D8EA28E8FD6}"/>
              </a:ext>
            </a:extLst>
          </p:cNvPr>
          <p:cNvGrpSpPr/>
          <p:nvPr/>
        </p:nvGrpSpPr>
        <p:grpSpPr>
          <a:xfrm>
            <a:off x="10403235" y="201614"/>
            <a:ext cx="410690" cy="410700"/>
            <a:chOff x="3506617" y="2730959"/>
            <a:chExt cx="1591098" cy="1591098"/>
          </a:xfrm>
        </p:grpSpPr>
        <p:sp>
          <p:nvSpPr>
            <p:cNvPr id="4" name="Rectangle: Rounded Corners 39">
              <a:extLst>
                <a:ext uri="{FF2B5EF4-FFF2-40B4-BE49-F238E27FC236}">
                  <a16:creationId xmlns:a16="http://schemas.microsoft.com/office/drawing/2014/main" id="{F604996D-5D1E-DEEB-AF8E-95CFEEAA3981}"/>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 name="Rectangle: Rounded Corners 54">
              <a:extLst>
                <a:ext uri="{FF2B5EF4-FFF2-40B4-BE49-F238E27FC236}">
                  <a16:creationId xmlns:a16="http://schemas.microsoft.com/office/drawing/2014/main" id="{AC17DA52-C918-67B9-D8CE-010B8B8F91C1}"/>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 name="Freeform 56" descr="Clipboard Partially Checked with solid fill">
              <a:extLst>
                <a:ext uri="{FF2B5EF4-FFF2-40B4-BE49-F238E27FC236}">
                  <a16:creationId xmlns:a16="http://schemas.microsoft.com/office/drawing/2014/main" id="{8E93B0B2-7EC9-41CE-C301-B4ECD3DA00A8}"/>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7" name="Group 6">
            <a:extLst>
              <a:ext uri="{FF2B5EF4-FFF2-40B4-BE49-F238E27FC236}">
                <a16:creationId xmlns:a16="http://schemas.microsoft.com/office/drawing/2014/main" id="{3F173746-40C3-6172-5CFB-3EE5C0B20C06}"/>
              </a:ext>
            </a:extLst>
          </p:cNvPr>
          <p:cNvGrpSpPr/>
          <p:nvPr/>
        </p:nvGrpSpPr>
        <p:grpSpPr>
          <a:xfrm>
            <a:off x="11557682" y="191038"/>
            <a:ext cx="410690" cy="410700"/>
            <a:chOff x="8874309" y="3009260"/>
            <a:chExt cx="1591098" cy="1591098"/>
          </a:xfrm>
        </p:grpSpPr>
        <p:grpSp>
          <p:nvGrpSpPr>
            <p:cNvPr id="8" name="Group 7">
              <a:extLst>
                <a:ext uri="{FF2B5EF4-FFF2-40B4-BE49-F238E27FC236}">
                  <a16:creationId xmlns:a16="http://schemas.microsoft.com/office/drawing/2014/main" id="{8C40D147-B710-E428-499A-E9C6AC616F2C}"/>
                </a:ext>
              </a:extLst>
            </p:cNvPr>
            <p:cNvGrpSpPr/>
            <p:nvPr/>
          </p:nvGrpSpPr>
          <p:grpSpPr>
            <a:xfrm>
              <a:off x="8874309" y="3009260"/>
              <a:ext cx="1591098" cy="1591098"/>
              <a:chOff x="9350370" y="2760976"/>
              <a:chExt cx="1591098" cy="1591098"/>
            </a:xfrm>
          </p:grpSpPr>
          <p:sp>
            <p:nvSpPr>
              <p:cNvPr id="10" name="Rectangle: Rounded Corners 39">
                <a:extLst>
                  <a:ext uri="{FF2B5EF4-FFF2-40B4-BE49-F238E27FC236}">
                    <a16:creationId xmlns:a16="http://schemas.microsoft.com/office/drawing/2014/main" id="{364EDDBB-ADC4-66F3-7E36-AB1158A5A388}"/>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1" name="Rectangle: Rounded Corners 54">
                <a:extLst>
                  <a:ext uri="{FF2B5EF4-FFF2-40B4-BE49-F238E27FC236}">
                    <a16:creationId xmlns:a16="http://schemas.microsoft.com/office/drawing/2014/main" id="{9216671F-2EE5-7B1E-68DA-83B44CAEBA7D}"/>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9" name="Picture 51" descr="Map with pin with solid fill">
              <a:extLst>
                <a:ext uri="{FF2B5EF4-FFF2-40B4-BE49-F238E27FC236}">
                  <a16:creationId xmlns:a16="http://schemas.microsoft.com/office/drawing/2014/main" id="{CF3AFA9F-8973-BBF9-8994-AF2D56472BA5}"/>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2" name="Group 11">
            <a:extLst>
              <a:ext uri="{FF2B5EF4-FFF2-40B4-BE49-F238E27FC236}">
                <a16:creationId xmlns:a16="http://schemas.microsoft.com/office/drawing/2014/main" id="{DB66C938-6497-FEC1-D99A-17E9785E42BC}"/>
              </a:ext>
            </a:extLst>
          </p:cNvPr>
          <p:cNvGrpSpPr/>
          <p:nvPr/>
        </p:nvGrpSpPr>
        <p:grpSpPr>
          <a:xfrm>
            <a:off x="10997361" y="200955"/>
            <a:ext cx="410690" cy="410700"/>
            <a:chOff x="5303120" y="3009260"/>
            <a:chExt cx="1591098" cy="1591098"/>
          </a:xfrm>
        </p:grpSpPr>
        <p:grpSp>
          <p:nvGrpSpPr>
            <p:cNvPr id="13" name="Group 12">
              <a:extLst>
                <a:ext uri="{FF2B5EF4-FFF2-40B4-BE49-F238E27FC236}">
                  <a16:creationId xmlns:a16="http://schemas.microsoft.com/office/drawing/2014/main" id="{3D02C410-1B06-4DB3-7262-11FD4C00F316}"/>
                </a:ext>
              </a:extLst>
            </p:cNvPr>
            <p:cNvGrpSpPr/>
            <p:nvPr/>
          </p:nvGrpSpPr>
          <p:grpSpPr>
            <a:xfrm>
              <a:off x="5303120" y="3009260"/>
              <a:ext cx="1591098" cy="1591098"/>
              <a:chOff x="6428492" y="2760976"/>
              <a:chExt cx="1591098" cy="1591098"/>
            </a:xfrm>
          </p:grpSpPr>
          <p:sp>
            <p:nvSpPr>
              <p:cNvPr id="46" name="Rectangle: Rounded Corners 39">
                <a:extLst>
                  <a:ext uri="{FF2B5EF4-FFF2-40B4-BE49-F238E27FC236}">
                    <a16:creationId xmlns:a16="http://schemas.microsoft.com/office/drawing/2014/main" id="{F6816341-773E-8F34-1A95-445F005C360D}"/>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9" name="Rectangle: Rounded Corners 54">
                <a:extLst>
                  <a:ext uri="{FF2B5EF4-FFF2-40B4-BE49-F238E27FC236}">
                    <a16:creationId xmlns:a16="http://schemas.microsoft.com/office/drawing/2014/main" id="{F8BCEA34-20D0-14FA-F9AF-343ECCD84865}"/>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0" name="Graphic 27" descr="Target Audience with solid fill">
              <a:extLst>
                <a:ext uri="{FF2B5EF4-FFF2-40B4-BE49-F238E27FC236}">
                  <a16:creationId xmlns:a16="http://schemas.microsoft.com/office/drawing/2014/main" id="{5E1235EA-521E-C167-6FFD-75ECE975F569}"/>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50" name="TextBox 49">
            <a:extLst>
              <a:ext uri="{FF2B5EF4-FFF2-40B4-BE49-F238E27FC236}">
                <a16:creationId xmlns:a16="http://schemas.microsoft.com/office/drawing/2014/main" id="{0BC9DCA2-2BCD-0DD2-513E-E8069FCCFFA3}"/>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1" name="TextBox 50">
            <a:extLst>
              <a:ext uri="{FF2B5EF4-FFF2-40B4-BE49-F238E27FC236}">
                <a16:creationId xmlns:a16="http://schemas.microsoft.com/office/drawing/2014/main" id="{52956967-8596-D608-BEE6-8FA2E677B40A}"/>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2" name="TextBox 51">
            <a:extLst>
              <a:ext uri="{FF2B5EF4-FFF2-40B4-BE49-F238E27FC236}">
                <a16:creationId xmlns:a16="http://schemas.microsoft.com/office/drawing/2014/main" id="{895109DA-BDF9-10E7-316C-83E5F19A42C5}"/>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3" name="Rectangle 52">
            <a:extLst>
              <a:ext uri="{FF2B5EF4-FFF2-40B4-BE49-F238E27FC236}">
                <a16:creationId xmlns:a16="http://schemas.microsoft.com/office/drawing/2014/main" id="{2CD26DB1-F20A-EF66-997C-F2DFA121D77C}"/>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1177701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C387067-BAEE-4346-9485-AE63BA783C93}"/>
              </a:ext>
            </a:extLst>
          </p:cNvPr>
          <p:cNvSpPr>
            <a:spLocks noGrp="1"/>
          </p:cNvSpPr>
          <p:nvPr>
            <p:ph type="title" sz="quarter"/>
          </p:nvPr>
        </p:nvSpPr>
        <p:spPr/>
        <p:txBody>
          <a:bodyPr/>
          <a:lstStyle/>
          <a:p>
            <a:r>
              <a:rPr lang="en-US" b="1" spc="-25">
                <a:solidFill>
                  <a:srgbClr val="1D1D1D"/>
                </a:solidFill>
                <a:latin typeface="Segoe UI" pitchFamily="34" charset="0"/>
                <a:ea typeface="Helvetica Neue" panose="02000503000000020004" pitchFamily="2" charset="0"/>
                <a:cs typeface="Helvetica Neue" panose="02000503000000020004" pitchFamily="2" charset="0"/>
              </a:rPr>
              <a:t>Superpowers</a:t>
            </a:r>
          </a:p>
        </p:txBody>
      </p:sp>
      <p:grpSp>
        <p:nvGrpSpPr>
          <p:cNvPr id="17" name="Group 16">
            <a:extLst>
              <a:ext uri="{FF2B5EF4-FFF2-40B4-BE49-F238E27FC236}">
                <a16:creationId xmlns:a16="http://schemas.microsoft.com/office/drawing/2014/main" id="{8EC2AF95-333E-48C9-9A93-E3207698E9EE}"/>
              </a:ext>
            </a:extLst>
          </p:cNvPr>
          <p:cNvGrpSpPr/>
          <p:nvPr/>
        </p:nvGrpSpPr>
        <p:grpSpPr>
          <a:xfrm>
            <a:off x="1404789" y="1423675"/>
            <a:ext cx="9382425" cy="4528647"/>
            <a:chOff x="1010860" y="1164677"/>
            <a:chExt cx="9382425" cy="4528646"/>
          </a:xfrm>
        </p:grpSpPr>
        <p:sp>
          <p:nvSpPr>
            <p:cNvPr id="18" name="Rectangle 17">
              <a:extLst>
                <a:ext uri="{FF2B5EF4-FFF2-40B4-BE49-F238E27FC236}">
                  <a16:creationId xmlns:a16="http://schemas.microsoft.com/office/drawing/2014/main" id="{BC15D594-47AC-498D-8180-E2954BB5040D}"/>
                </a:ext>
              </a:extLst>
            </p:cNvPr>
            <p:cNvSpPr/>
            <p:nvPr/>
          </p:nvSpPr>
          <p:spPr>
            <a:xfrm>
              <a:off x="1010860" y="1365814"/>
              <a:ext cx="7118102" cy="4126370"/>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endParaRPr lang="en-US" spc="-10">
                <a:solidFill>
                  <a:srgbClr val="FFFFFF"/>
                </a:solidFill>
                <a:latin typeface="Arial" pitchFamily="34" charset="0"/>
                <a:ea typeface="Helvetica Neue" panose="02000503000000020004" pitchFamily="2" charset="0"/>
                <a:cs typeface="Helvetica Neue" panose="02000503000000020004" pitchFamily="2" charset="0"/>
              </a:endParaRPr>
            </a:p>
          </p:txBody>
        </p:sp>
        <p:grpSp>
          <p:nvGrpSpPr>
            <p:cNvPr id="19" name="Group 18">
              <a:extLst>
                <a:ext uri="{FF2B5EF4-FFF2-40B4-BE49-F238E27FC236}">
                  <a16:creationId xmlns:a16="http://schemas.microsoft.com/office/drawing/2014/main" id="{A851737E-D41A-4468-ACE0-119758CFAA75}"/>
                </a:ext>
              </a:extLst>
            </p:cNvPr>
            <p:cNvGrpSpPr/>
            <p:nvPr/>
          </p:nvGrpSpPr>
          <p:grpSpPr>
            <a:xfrm>
              <a:off x="1798714" y="1164677"/>
              <a:ext cx="8594571" cy="4528646"/>
              <a:chOff x="2279922" y="1164677"/>
              <a:chExt cx="8594571" cy="4528646"/>
            </a:xfrm>
          </p:grpSpPr>
          <p:sp>
            <p:nvSpPr>
              <p:cNvPr id="21" name="Trapezoid 20">
                <a:extLst>
                  <a:ext uri="{FF2B5EF4-FFF2-40B4-BE49-F238E27FC236}">
                    <a16:creationId xmlns:a16="http://schemas.microsoft.com/office/drawing/2014/main" id="{8947581B-A00D-4033-AC08-0345C1EA8325}"/>
                  </a:ext>
                </a:extLst>
              </p:cNvPr>
              <p:cNvSpPr/>
              <p:nvPr/>
            </p:nvSpPr>
            <p:spPr>
              <a:xfrm rot="16200000">
                <a:off x="3662298" y="745451"/>
                <a:ext cx="4528646" cy="5367097"/>
              </a:xfrm>
              <a:prstGeom prst="trapezoid">
                <a:avLst>
                  <a:gd name="adj" fmla="val 28994"/>
                </a:avLst>
              </a:prstGeom>
              <a:solidFill>
                <a:schemeClr val="bg1">
                  <a:lumMod val="85000"/>
                </a:schemeClr>
              </a:solidFill>
              <a:ln w="95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endParaRPr lang="en-US" spc="-10">
                  <a:solidFill>
                    <a:srgbClr val="FFFFFF"/>
                  </a:solidFill>
                  <a:latin typeface="Arial" pitchFamily="34" charset="0"/>
                  <a:ea typeface="Helvetica Neue" panose="02000503000000020004" pitchFamily="2" charset="0"/>
                  <a:cs typeface="Helvetica Neue" panose="02000503000000020004" pitchFamily="2" charset="0"/>
                </a:endParaRPr>
              </a:p>
            </p:txBody>
          </p:sp>
          <p:grpSp>
            <p:nvGrpSpPr>
              <p:cNvPr id="22" name="Group 21">
                <a:extLst>
                  <a:ext uri="{FF2B5EF4-FFF2-40B4-BE49-F238E27FC236}">
                    <a16:creationId xmlns:a16="http://schemas.microsoft.com/office/drawing/2014/main" id="{DADBAC82-1042-4CE4-AAAD-016CC1DDC470}"/>
                  </a:ext>
                </a:extLst>
              </p:cNvPr>
              <p:cNvGrpSpPr/>
              <p:nvPr/>
            </p:nvGrpSpPr>
            <p:grpSpPr>
              <a:xfrm>
                <a:off x="6345847" y="1164677"/>
                <a:ext cx="4528646" cy="4528646"/>
                <a:chOff x="6345847" y="1769602"/>
                <a:chExt cx="4528646" cy="4528646"/>
              </a:xfrm>
              <a:effectLst>
                <a:outerShdw blurRad="50800" dist="38100" dir="10800000" algn="r" rotWithShape="0">
                  <a:prstClr val="black">
                    <a:alpha val="40000"/>
                  </a:prstClr>
                </a:outerShdw>
              </a:effectLst>
            </p:grpSpPr>
            <p:sp>
              <p:nvSpPr>
                <p:cNvPr id="39" name="Oval 38">
                  <a:extLst>
                    <a:ext uri="{FF2B5EF4-FFF2-40B4-BE49-F238E27FC236}">
                      <a16:creationId xmlns:a16="http://schemas.microsoft.com/office/drawing/2014/main" id="{87831E70-00C1-4D77-8A51-1D7C6BE757F4}"/>
                    </a:ext>
                  </a:extLst>
                </p:cNvPr>
                <p:cNvSpPr/>
                <p:nvPr/>
              </p:nvSpPr>
              <p:spPr>
                <a:xfrm>
                  <a:off x="6345847" y="1769602"/>
                  <a:ext cx="4528646" cy="4528646"/>
                </a:xfrm>
                <a:prstGeom prst="ellipse">
                  <a:avLst/>
                </a:prstGeom>
                <a:solidFill>
                  <a:schemeClr val="tx1">
                    <a:lumMod val="75000"/>
                    <a:lumOff val="25000"/>
                  </a:schemeClr>
                </a:solidFill>
                <a:ln w="95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endParaRPr lang="en-US" spc="-10">
                    <a:solidFill>
                      <a:srgbClr val="FFFFFF"/>
                    </a:solidFill>
                    <a:latin typeface="Arial" pitchFamily="34" charset="0"/>
                    <a:ea typeface="Helvetica Neue" panose="02000503000000020004" pitchFamily="2" charset="0"/>
                    <a:cs typeface="Helvetica Neue" panose="02000503000000020004" pitchFamily="2" charset="0"/>
                  </a:endParaRPr>
                </a:p>
              </p:txBody>
            </p:sp>
            <p:sp>
              <p:nvSpPr>
                <p:cNvPr id="40" name="Rectangle 39">
                  <a:extLst>
                    <a:ext uri="{FF2B5EF4-FFF2-40B4-BE49-F238E27FC236}">
                      <a16:creationId xmlns:a16="http://schemas.microsoft.com/office/drawing/2014/main" id="{794FA217-22F4-4196-8152-FEA2D56B9BD4}"/>
                    </a:ext>
                  </a:extLst>
                </p:cNvPr>
                <p:cNvSpPr/>
                <p:nvPr/>
              </p:nvSpPr>
              <p:spPr>
                <a:xfrm>
                  <a:off x="6783896" y="2593639"/>
                  <a:ext cx="3871271" cy="2880568"/>
                </a:xfrm>
                <a:prstGeom prst="rect">
                  <a:avLst/>
                </a:prstGeom>
                <a:noFill/>
                <a:ln>
                  <a:noFill/>
                </a:ln>
              </p:spPr>
              <p:txBody>
                <a:bodyPr lIns="91440" tIns="45720" rIns="91440" bIns="45720" anchor="ctr">
                  <a:noAutofit/>
                </a:bodyPr>
                <a:lstStyle/>
                <a:p>
                  <a:pPr algn="ctr">
                    <a:spcAft>
                      <a:spcPts val="600"/>
                    </a:spcAft>
                    <a:defRPr/>
                  </a:pPr>
                  <a:r>
                    <a:rPr lang="en-US" sz="2200" b="1" spc="-10">
                      <a:solidFill>
                        <a:srgbClr val="FFFFFF"/>
                      </a:solidFill>
                      <a:latin typeface="Segoe UI" pitchFamily="34" charset="0"/>
                      <a:ea typeface="Helvetica Neue" panose="02000503000000020004" pitchFamily="2" charset="0"/>
                      <a:cs typeface="Helvetica Neue" panose="02000503000000020004" pitchFamily="2" charset="0"/>
                    </a:rPr>
                    <a:t>Customer‑Insight‑Driven Continuous Improver</a:t>
                  </a:r>
                </a:p>
                <a:p>
                  <a:pPr algn="ctr">
                    <a:spcAft>
                      <a:spcPts val="600"/>
                    </a:spcAft>
                    <a:defRPr/>
                  </a:pPr>
                  <a:endParaRPr lang="en-US" sz="2200" b="1" spc="-10">
                    <a:solidFill>
                      <a:srgbClr val="FFFFFF"/>
                    </a:solidFill>
                    <a:latin typeface="Segoe UI" pitchFamily="34" charset="0"/>
                    <a:ea typeface="Helvetica Neue" panose="02000503000000020004" pitchFamily="2" charset="0"/>
                    <a:cs typeface="Helvetica Neue" panose="02000503000000020004" pitchFamily="2" charset="0"/>
                  </a:endParaRPr>
                </a:p>
                <a:p>
                  <a:pPr algn="ctr">
                    <a:spcAft>
                      <a:spcPts val="600"/>
                    </a:spcAft>
                    <a:defRPr/>
                  </a:pPr>
                  <a:r>
                    <a:rPr lang="en-US" sz="2000" spc="-10">
                      <a:solidFill>
                        <a:srgbClr val="FFFFFF"/>
                      </a:solidFill>
                      <a:latin typeface="Arial" pitchFamily="34" charset="0"/>
                      <a:ea typeface="Helvetica Neue" panose="02000503000000020004" pitchFamily="2" charset="0"/>
                      <a:cs typeface="Helvetica Neue" panose="02000503000000020004" pitchFamily="2" charset="0"/>
                    </a:rPr>
                    <a:t>Demonstrated ability to consistently convert customer insight into validated changes that produce measurable business impact.</a:t>
                  </a:r>
                </a:p>
              </p:txBody>
            </p:sp>
          </p:grpSp>
          <p:grpSp>
            <p:nvGrpSpPr>
              <p:cNvPr id="23" name="Group 22">
                <a:extLst>
                  <a:ext uri="{FF2B5EF4-FFF2-40B4-BE49-F238E27FC236}">
                    <a16:creationId xmlns:a16="http://schemas.microsoft.com/office/drawing/2014/main" id="{A5B23781-03AB-48BE-BE3E-7E870274BE68}"/>
                  </a:ext>
                </a:extLst>
              </p:cNvPr>
              <p:cNvGrpSpPr/>
              <p:nvPr/>
            </p:nvGrpSpPr>
            <p:grpSpPr>
              <a:xfrm>
                <a:off x="2279922" y="2465850"/>
                <a:ext cx="1926300" cy="1926300"/>
                <a:chOff x="5132850" y="1248042"/>
                <a:chExt cx="1926300" cy="1926300"/>
              </a:xfrm>
            </p:grpSpPr>
            <p:sp>
              <p:nvSpPr>
                <p:cNvPr id="24" name="Oval 23">
                  <a:extLst>
                    <a:ext uri="{FF2B5EF4-FFF2-40B4-BE49-F238E27FC236}">
                      <a16:creationId xmlns:a16="http://schemas.microsoft.com/office/drawing/2014/main" id="{A51F2DC4-87DE-4061-BDC0-F9E4AA7B6075}"/>
                    </a:ext>
                  </a:extLst>
                </p:cNvPr>
                <p:cNvSpPr/>
                <p:nvPr/>
              </p:nvSpPr>
              <p:spPr>
                <a:xfrm>
                  <a:off x="5132850" y="1248042"/>
                  <a:ext cx="1926300" cy="1926300"/>
                </a:xfrm>
                <a:prstGeom prst="ellipse">
                  <a:avLst/>
                </a:prstGeom>
                <a:solidFill>
                  <a:schemeClr val="tx1">
                    <a:lumMod val="50000"/>
                    <a:lumOff val="50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endParaRPr lang="en-US" spc="-10">
                    <a:solidFill>
                      <a:srgbClr val="FFFFFF"/>
                    </a:solidFill>
                    <a:latin typeface="Arial" pitchFamily="34" charset="0"/>
                    <a:ea typeface="Helvetica Neue" panose="02000503000000020004" pitchFamily="2" charset="0"/>
                    <a:cs typeface="Helvetica Neue" panose="02000503000000020004" pitchFamily="2" charset="0"/>
                  </a:endParaRPr>
                </a:p>
              </p:txBody>
            </p:sp>
            <p:sp>
              <p:nvSpPr>
                <p:cNvPr id="38" name="Rectangle 37">
                  <a:extLst>
                    <a:ext uri="{FF2B5EF4-FFF2-40B4-BE49-F238E27FC236}">
                      <a16:creationId xmlns:a16="http://schemas.microsoft.com/office/drawing/2014/main" id="{3DD06822-14AF-46D5-B7C9-B52BE5AAC62A}"/>
                    </a:ext>
                  </a:extLst>
                </p:cNvPr>
                <p:cNvSpPr/>
                <p:nvPr/>
              </p:nvSpPr>
              <p:spPr>
                <a:xfrm>
                  <a:off x="5242212" y="1400867"/>
                  <a:ext cx="1707576" cy="1620650"/>
                </a:xfrm>
                <a:prstGeom prst="rect">
                  <a:avLst/>
                </a:prstGeom>
                <a:ln>
                  <a:noFill/>
                </a:ln>
              </p:spPr>
              <p:txBody>
                <a:bodyPr lIns="91440" tIns="45720" rIns="91440" bIns="45720" anchor="ctr">
                  <a:noAutofit/>
                </a:bodyPr>
                <a:lstStyle/>
                <a:p>
                  <a:pPr algn="ctr">
                    <a:spcAft>
                      <a:spcPts val="600"/>
                    </a:spcAft>
                    <a:defRPr/>
                  </a:pPr>
                  <a:r>
                    <a:rPr lang="en-US" spc="-10">
                      <a:solidFill>
                        <a:srgbClr val="FFFFFF"/>
                      </a:solidFill>
                      <a:latin typeface="Arial" pitchFamily="34" charset="0"/>
                      <a:ea typeface="Helvetica Neue" panose="02000503000000020004" pitchFamily="2" charset="0"/>
                      <a:cs typeface="Helvetica Neue" panose="02000503000000020004" pitchFamily="2" charset="0"/>
                    </a:rPr>
                    <a:t>Strong improvement mindset</a:t>
                  </a:r>
                </a:p>
              </p:txBody>
            </p:sp>
          </p:grpSp>
        </p:grpSp>
      </p:grpSp>
      <p:sp>
        <p:nvSpPr>
          <p:cNvPr id="41" name="Rectangle 40">
            <a:extLst>
              <a:ext uri="{FF2B5EF4-FFF2-40B4-BE49-F238E27FC236}">
                <a16:creationId xmlns:a16="http://schemas.microsoft.com/office/drawing/2014/main" id="{88C7A20C-16E3-40D6-BBEB-8178FF8A02BF}"/>
              </a:ext>
            </a:extLst>
          </p:cNvPr>
          <p:cNvSpPr/>
          <p:nvPr/>
        </p:nvSpPr>
        <p:spPr>
          <a:xfrm>
            <a:off x="1674874" y="1391463"/>
            <a:ext cx="3316674" cy="484947"/>
          </a:xfrm>
          <a:prstGeom prst="rect">
            <a:avLst/>
          </a:prstGeom>
          <a:solidFill>
            <a:srgbClr val="281A42"/>
          </a:solidFill>
          <a:ln w="9525">
            <a:solidFill>
              <a:srgbClr val="2B3A42"/>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en-US" sz="1600" spc="-10">
                <a:solidFill>
                  <a:srgbClr val="FFFFFF"/>
                </a:solidFill>
                <a:latin typeface="Arial" pitchFamily="34" charset="0"/>
                <a:ea typeface="Helvetica Neue" panose="02000503000000020004" pitchFamily="2" charset="0"/>
                <a:cs typeface="Helvetica Neue" panose="02000503000000020004" pitchFamily="2" charset="0"/>
              </a:rPr>
              <a:t>Can you assess talent against it?</a:t>
            </a:r>
          </a:p>
        </p:txBody>
      </p:sp>
      <p:sp>
        <p:nvSpPr>
          <p:cNvPr id="44"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24</a:t>
            </a:fld>
            <a:endParaRPr lang="en-US"/>
          </a:p>
        </p:txBody>
      </p:sp>
      <p:grpSp>
        <p:nvGrpSpPr>
          <p:cNvPr id="3" name="Group 2">
            <a:extLst>
              <a:ext uri="{FF2B5EF4-FFF2-40B4-BE49-F238E27FC236}">
                <a16:creationId xmlns:a16="http://schemas.microsoft.com/office/drawing/2014/main" id="{8B9F6100-41F9-7A0E-2948-76646DA5478E}"/>
              </a:ext>
            </a:extLst>
          </p:cNvPr>
          <p:cNvGrpSpPr/>
          <p:nvPr/>
        </p:nvGrpSpPr>
        <p:grpSpPr>
          <a:xfrm>
            <a:off x="10403235" y="201614"/>
            <a:ext cx="410690" cy="410700"/>
            <a:chOff x="3506617" y="2730959"/>
            <a:chExt cx="1591098" cy="1591098"/>
          </a:xfrm>
        </p:grpSpPr>
        <p:sp>
          <p:nvSpPr>
            <p:cNvPr id="4" name="Rectangle: Rounded Corners 39">
              <a:extLst>
                <a:ext uri="{FF2B5EF4-FFF2-40B4-BE49-F238E27FC236}">
                  <a16:creationId xmlns:a16="http://schemas.microsoft.com/office/drawing/2014/main" id="{553E69DB-A455-8E66-23FE-971742FA7E98}"/>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 name="Rectangle: Rounded Corners 54">
              <a:extLst>
                <a:ext uri="{FF2B5EF4-FFF2-40B4-BE49-F238E27FC236}">
                  <a16:creationId xmlns:a16="http://schemas.microsoft.com/office/drawing/2014/main" id="{55A40D2C-822D-B9F4-180B-CDEA6A3F16BD}"/>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 name="Freeform 56" descr="Clipboard Partially Checked with solid fill">
              <a:extLst>
                <a:ext uri="{FF2B5EF4-FFF2-40B4-BE49-F238E27FC236}">
                  <a16:creationId xmlns:a16="http://schemas.microsoft.com/office/drawing/2014/main" id="{A37291B5-E201-A4DA-6A26-A61B1852023C}"/>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7" name="Group 6">
            <a:extLst>
              <a:ext uri="{FF2B5EF4-FFF2-40B4-BE49-F238E27FC236}">
                <a16:creationId xmlns:a16="http://schemas.microsoft.com/office/drawing/2014/main" id="{F6AF90B3-202B-64BF-69E5-A738DD24BFCD}"/>
              </a:ext>
            </a:extLst>
          </p:cNvPr>
          <p:cNvGrpSpPr/>
          <p:nvPr/>
        </p:nvGrpSpPr>
        <p:grpSpPr>
          <a:xfrm>
            <a:off x="11557682" y="191038"/>
            <a:ext cx="410690" cy="410700"/>
            <a:chOff x="8874309" y="3009260"/>
            <a:chExt cx="1591098" cy="1591098"/>
          </a:xfrm>
        </p:grpSpPr>
        <p:grpSp>
          <p:nvGrpSpPr>
            <p:cNvPr id="8" name="Group 7">
              <a:extLst>
                <a:ext uri="{FF2B5EF4-FFF2-40B4-BE49-F238E27FC236}">
                  <a16:creationId xmlns:a16="http://schemas.microsoft.com/office/drawing/2014/main" id="{7B41E4F8-48F9-4AA0-0DE0-B44294BE493A}"/>
                </a:ext>
              </a:extLst>
            </p:cNvPr>
            <p:cNvGrpSpPr/>
            <p:nvPr/>
          </p:nvGrpSpPr>
          <p:grpSpPr>
            <a:xfrm>
              <a:off x="8874309" y="3009260"/>
              <a:ext cx="1591098" cy="1591098"/>
              <a:chOff x="9350370" y="2760976"/>
              <a:chExt cx="1591098" cy="1591098"/>
            </a:xfrm>
          </p:grpSpPr>
          <p:sp>
            <p:nvSpPr>
              <p:cNvPr id="10" name="Rectangle: Rounded Corners 39">
                <a:extLst>
                  <a:ext uri="{FF2B5EF4-FFF2-40B4-BE49-F238E27FC236}">
                    <a16:creationId xmlns:a16="http://schemas.microsoft.com/office/drawing/2014/main" id="{E13178A1-12FA-B54C-97D0-36DE8D69809D}"/>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1" name="Rectangle: Rounded Corners 54">
                <a:extLst>
                  <a:ext uri="{FF2B5EF4-FFF2-40B4-BE49-F238E27FC236}">
                    <a16:creationId xmlns:a16="http://schemas.microsoft.com/office/drawing/2014/main" id="{DE0CF77D-CA8C-FBEC-9CAD-CCC3919BD463}"/>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9" name="Picture 51" descr="Map with pin with solid fill">
              <a:extLst>
                <a:ext uri="{FF2B5EF4-FFF2-40B4-BE49-F238E27FC236}">
                  <a16:creationId xmlns:a16="http://schemas.microsoft.com/office/drawing/2014/main" id="{6151B970-9D68-3D5B-4C6F-DA72479F2209}"/>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2" name="Group 11">
            <a:extLst>
              <a:ext uri="{FF2B5EF4-FFF2-40B4-BE49-F238E27FC236}">
                <a16:creationId xmlns:a16="http://schemas.microsoft.com/office/drawing/2014/main" id="{0A795205-CDA2-7A12-E536-F0FD7B89EE74}"/>
              </a:ext>
            </a:extLst>
          </p:cNvPr>
          <p:cNvGrpSpPr/>
          <p:nvPr/>
        </p:nvGrpSpPr>
        <p:grpSpPr>
          <a:xfrm>
            <a:off x="10997361" y="200955"/>
            <a:ext cx="410690" cy="410700"/>
            <a:chOff x="5303120" y="3009260"/>
            <a:chExt cx="1591098" cy="1591098"/>
          </a:xfrm>
        </p:grpSpPr>
        <p:grpSp>
          <p:nvGrpSpPr>
            <p:cNvPr id="13" name="Group 12">
              <a:extLst>
                <a:ext uri="{FF2B5EF4-FFF2-40B4-BE49-F238E27FC236}">
                  <a16:creationId xmlns:a16="http://schemas.microsoft.com/office/drawing/2014/main" id="{110FC228-A971-1FDA-D8F8-D83F2EA6F1CD}"/>
                </a:ext>
              </a:extLst>
            </p:cNvPr>
            <p:cNvGrpSpPr/>
            <p:nvPr/>
          </p:nvGrpSpPr>
          <p:grpSpPr>
            <a:xfrm>
              <a:off x="5303120" y="3009260"/>
              <a:ext cx="1591098" cy="1591098"/>
              <a:chOff x="6428492" y="2760976"/>
              <a:chExt cx="1591098" cy="1591098"/>
            </a:xfrm>
          </p:grpSpPr>
          <p:sp>
            <p:nvSpPr>
              <p:cNvPr id="45" name="Rectangle: Rounded Corners 39">
                <a:extLst>
                  <a:ext uri="{FF2B5EF4-FFF2-40B4-BE49-F238E27FC236}">
                    <a16:creationId xmlns:a16="http://schemas.microsoft.com/office/drawing/2014/main" id="{6E93A6F0-7017-89F0-2EB9-04D3F33CF26B}"/>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6" name="Rectangle: Rounded Corners 54">
                <a:extLst>
                  <a:ext uri="{FF2B5EF4-FFF2-40B4-BE49-F238E27FC236}">
                    <a16:creationId xmlns:a16="http://schemas.microsoft.com/office/drawing/2014/main" id="{DE06794F-0D15-71B3-17E9-B6141318AD68}"/>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0" name="Graphic 27" descr="Target Audience with solid fill">
              <a:extLst>
                <a:ext uri="{FF2B5EF4-FFF2-40B4-BE49-F238E27FC236}">
                  <a16:creationId xmlns:a16="http://schemas.microsoft.com/office/drawing/2014/main" id="{0201E091-8890-D3FF-306A-E11A1F27439A}"/>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7" name="TextBox 46">
            <a:extLst>
              <a:ext uri="{FF2B5EF4-FFF2-40B4-BE49-F238E27FC236}">
                <a16:creationId xmlns:a16="http://schemas.microsoft.com/office/drawing/2014/main" id="{A426EE36-219E-2C69-4F82-F77F15318CBD}"/>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8" name="TextBox 47">
            <a:extLst>
              <a:ext uri="{FF2B5EF4-FFF2-40B4-BE49-F238E27FC236}">
                <a16:creationId xmlns:a16="http://schemas.microsoft.com/office/drawing/2014/main" id="{DCD75514-B52A-99DE-D482-BF77F4B41E0E}"/>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9" name="TextBox 48">
            <a:extLst>
              <a:ext uri="{FF2B5EF4-FFF2-40B4-BE49-F238E27FC236}">
                <a16:creationId xmlns:a16="http://schemas.microsoft.com/office/drawing/2014/main" id="{D01CCBDE-9189-36A7-BC3B-BAC8FC6D9AA9}"/>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0" name="Rectangle 49">
            <a:extLst>
              <a:ext uri="{FF2B5EF4-FFF2-40B4-BE49-F238E27FC236}">
                <a16:creationId xmlns:a16="http://schemas.microsoft.com/office/drawing/2014/main" id="{1C6819C8-6A37-DD4F-0784-1E7BACF443D8}"/>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1982620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FF8FA3-8C01-333B-C3B5-F1FE45093DA3}"/>
              </a:ext>
            </a:extLst>
          </p:cNvPr>
          <p:cNvSpPr>
            <a:spLocks noGrp="1"/>
          </p:cNvSpPr>
          <p:nvPr>
            <p:ph type="title" sz="quarter"/>
          </p:nvPr>
        </p:nvSpPr>
        <p:spPr/>
        <p:txBody>
          <a:bodyPr lIns="91440" tIns="45720" rIns="91440" bIns="45720" anchor="t"/>
          <a:lstStyle/>
          <a:p>
            <a:r>
              <a:rPr lang="en-US" b="1" spc="-25">
                <a:latin typeface="Segoe UI" pitchFamily="34" charset="0"/>
                <a:cs typeface="Lato"/>
              </a:rPr>
              <a:t>Identifying impactful superpowers</a:t>
            </a:r>
            <a:endParaRPr lang="en-US" b="1" spc="-25">
              <a:latin typeface="Segoe UI" pitchFamily="34" charset="0"/>
            </a:endParaRPr>
          </a:p>
        </p:txBody>
      </p:sp>
      <p:grpSp>
        <p:nvGrpSpPr>
          <p:cNvPr id="64" name="Group 63">
            <a:extLst>
              <a:ext uri="{FF2B5EF4-FFF2-40B4-BE49-F238E27FC236}">
                <a16:creationId xmlns:a16="http://schemas.microsoft.com/office/drawing/2014/main" id="{23657DD7-7AFE-9FDF-85AE-87875E4330CB}"/>
              </a:ext>
            </a:extLst>
          </p:cNvPr>
          <p:cNvGrpSpPr/>
          <p:nvPr/>
        </p:nvGrpSpPr>
        <p:grpSpPr>
          <a:xfrm>
            <a:off x="7167416" y="3022837"/>
            <a:ext cx="4602527" cy="3095739"/>
            <a:chOff x="7016804" y="2891107"/>
            <a:chExt cx="4602527" cy="3095739"/>
          </a:xfrm>
        </p:grpSpPr>
        <p:sp>
          <p:nvSpPr>
            <p:cNvPr id="58" name="Rectangle: Rounded Corners 57">
              <a:extLst>
                <a:ext uri="{FF2B5EF4-FFF2-40B4-BE49-F238E27FC236}">
                  <a16:creationId xmlns:a16="http://schemas.microsoft.com/office/drawing/2014/main" id="{9145EA6E-BDC9-0093-6EA2-1C786EC5FBD1}"/>
                </a:ext>
              </a:extLst>
            </p:cNvPr>
            <p:cNvSpPr/>
            <p:nvPr/>
          </p:nvSpPr>
          <p:spPr>
            <a:xfrm>
              <a:off x="7016804" y="2891107"/>
              <a:ext cx="4602527" cy="3095739"/>
            </a:xfrm>
            <a:prstGeom prst="roundRect">
              <a:avLst>
                <a:gd name="adj" fmla="val 10617"/>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solidFill>
                  <a:schemeClr val="bg1"/>
                </a:solidFill>
              </a:endParaRPr>
            </a:p>
          </p:txBody>
        </p:sp>
        <p:sp>
          <p:nvSpPr>
            <p:cNvPr id="29" name="Rounded Rectangle 42">
              <a:extLst>
                <a:ext uri="{FF2B5EF4-FFF2-40B4-BE49-F238E27FC236}">
                  <a16:creationId xmlns:a16="http://schemas.microsoft.com/office/drawing/2014/main" id="{6DEF9677-2AE0-33B2-1CA8-14BCC63DC1B8}"/>
                </a:ext>
              </a:extLst>
            </p:cNvPr>
            <p:cNvSpPr/>
            <p:nvPr/>
          </p:nvSpPr>
          <p:spPr>
            <a:xfrm>
              <a:off x="7294109" y="3088849"/>
              <a:ext cx="3173797" cy="45687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2400" b="1" spc="-10">
                  <a:solidFill>
                    <a:schemeClr val="bg1"/>
                  </a:solidFill>
                  <a:latin typeface="Segoe UI" pitchFamily="34" charset="0"/>
                  <a:ea typeface="Helvetica Neue" panose="02000503000000020004" pitchFamily="2" charset="0"/>
                  <a:cs typeface="Helvetica Neue" panose="02000503000000020004" pitchFamily="2" charset="0"/>
                </a:rPr>
                <a:t>Superpowers must…</a:t>
              </a:r>
            </a:p>
          </p:txBody>
        </p:sp>
        <p:grpSp>
          <p:nvGrpSpPr>
            <p:cNvPr id="55" name="Group 54">
              <a:extLst>
                <a:ext uri="{FF2B5EF4-FFF2-40B4-BE49-F238E27FC236}">
                  <a16:creationId xmlns:a16="http://schemas.microsoft.com/office/drawing/2014/main" id="{086F5F01-8112-9215-3FED-5C0CEF01CDFC}"/>
                </a:ext>
              </a:extLst>
            </p:cNvPr>
            <p:cNvGrpSpPr/>
            <p:nvPr/>
          </p:nvGrpSpPr>
          <p:grpSpPr>
            <a:xfrm>
              <a:off x="7379758" y="5073092"/>
              <a:ext cx="3885642" cy="548640"/>
              <a:chOff x="7523917" y="4462476"/>
              <a:chExt cx="3885642" cy="548640"/>
            </a:xfrm>
          </p:grpSpPr>
          <p:sp>
            <p:nvSpPr>
              <p:cNvPr id="44" name="Rounded Rectangle 42">
                <a:extLst>
                  <a:ext uri="{FF2B5EF4-FFF2-40B4-BE49-F238E27FC236}">
                    <a16:creationId xmlns:a16="http://schemas.microsoft.com/office/drawing/2014/main" id="{67F83030-76DB-BAB0-29B3-79F634A79BAB}"/>
                  </a:ext>
                </a:extLst>
              </p:cNvPr>
              <p:cNvSpPr/>
              <p:nvPr/>
            </p:nvSpPr>
            <p:spPr>
              <a:xfrm>
                <a:off x="8060125" y="4462476"/>
                <a:ext cx="3349434" cy="548640"/>
              </a:xfrm>
              <a:prstGeom prst="rect">
                <a:avLst/>
              </a:prstGeom>
              <a:solidFill>
                <a:srgbClr val="281A42"/>
              </a:solidFill>
              <a:ln w="28575">
                <a:solidFill>
                  <a:srgbClr val="D0D7DF"/>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2000" b="1" spc="-10">
                    <a:solidFill>
                      <a:schemeClr val="bg1"/>
                    </a:solidFill>
                    <a:latin typeface="Segoe UI" pitchFamily="34" charset="0"/>
                    <a:ea typeface="Helvetica Neue" panose="02000503000000020004" pitchFamily="2" charset="0"/>
                    <a:cs typeface="Helvetica Neue" panose="02000503000000020004" pitchFamily="2" charset="0"/>
                  </a:rPr>
                  <a:t>Drive succession decisions</a:t>
                </a:r>
              </a:p>
            </p:txBody>
          </p:sp>
          <p:sp>
            <p:nvSpPr>
              <p:cNvPr id="45" name="Rectangle 44">
                <a:extLst>
                  <a:ext uri="{FF2B5EF4-FFF2-40B4-BE49-F238E27FC236}">
                    <a16:creationId xmlns:a16="http://schemas.microsoft.com/office/drawing/2014/main" id="{14A2F456-42E6-E947-D1B4-3C7FF35AD781}"/>
                  </a:ext>
                </a:extLst>
              </p:cNvPr>
              <p:cNvSpPr/>
              <p:nvPr/>
            </p:nvSpPr>
            <p:spPr>
              <a:xfrm>
                <a:off x="7523917" y="4462476"/>
                <a:ext cx="514174" cy="548640"/>
              </a:xfrm>
              <a:prstGeom prst="rect">
                <a:avLst/>
              </a:prstGeom>
              <a:ln w="28575">
                <a:solidFill>
                  <a:srgbClr val="2B3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solidFill>
                    <a:schemeClr val="bg1"/>
                  </a:solidFill>
                </a:endParaRPr>
              </a:p>
            </p:txBody>
          </p:sp>
          <p:pic>
            <p:nvPicPr>
              <p:cNvPr id="48" name="Picture 47">
                <a:extLst>
                  <a:ext uri="{FF2B5EF4-FFF2-40B4-BE49-F238E27FC236}">
                    <a16:creationId xmlns:a16="http://schemas.microsoft.com/office/drawing/2014/main" id="{4F9EEFA3-BF61-7D55-EEE9-5459587D034B}"/>
                  </a:ext>
                </a:extLst>
              </p:cNvPr>
              <p:cNvPicPr>
                <a:picLocks noChangeAspect="1"/>
              </p:cNvPicPr>
              <p:nvPr/>
            </p:nvPicPr>
            <p:blipFill>
              <a:blip r:embed="rId4">
                <a:duotone>
                  <a:srgbClr val="765FFF"/>
                  <a:srgbClr val="FFFFFF"/>
                </a:duotone>
              </a:blip>
              <a:srcRect l="31542" t="21819" r="29177" b="44150"/>
              <a:stretch>
                <a:fillRect/>
              </a:stretch>
            </p:blipFill>
            <p:spPr>
              <a:xfrm>
                <a:off x="7577435" y="4547032"/>
                <a:ext cx="428625" cy="395711"/>
              </a:xfrm>
              <a:prstGeom prst="rect">
                <a:avLst/>
              </a:prstGeom>
            </p:spPr>
          </p:pic>
        </p:grpSp>
        <p:grpSp>
          <p:nvGrpSpPr>
            <p:cNvPr id="56" name="Group 55">
              <a:extLst>
                <a:ext uri="{FF2B5EF4-FFF2-40B4-BE49-F238E27FC236}">
                  <a16:creationId xmlns:a16="http://schemas.microsoft.com/office/drawing/2014/main" id="{F6BD6D3C-1F29-3EE0-9495-D962B4AF7C44}"/>
                </a:ext>
              </a:extLst>
            </p:cNvPr>
            <p:cNvGrpSpPr/>
            <p:nvPr/>
          </p:nvGrpSpPr>
          <p:grpSpPr>
            <a:xfrm>
              <a:off x="7379758" y="4371843"/>
              <a:ext cx="3885642" cy="548640"/>
              <a:chOff x="7523917" y="3761227"/>
              <a:chExt cx="3885642" cy="548640"/>
            </a:xfrm>
          </p:grpSpPr>
          <p:sp>
            <p:nvSpPr>
              <p:cNvPr id="41" name="Rounded Rectangle 42">
                <a:extLst>
                  <a:ext uri="{FF2B5EF4-FFF2-40B4-BE49-F238E27FC236}">
                    <a16:creationId xmlns:a16="http://schemas.microsoft.com/office/drawing/2014/main" id="{F0A1C76D-D69F-2BA8-A303-6BDC740A6D85}"/>
                  </a:ext>
                </a:extLst>
              </p:cNvPr>
              <p:cNvSpPr/>
              <p:nvPr/>
            </p:nvSpPr>
            <p:spPr>
              <a:xfrm>
                <a:off x="8060125" y="3761227"/>
                <a:ext cx="3349434" cy="548640"/>
              </a:xfrm>
              <a:prstGeom prst="rect">
                <a:avLst/>
              </a:prstGeom>
              <a:solidFill>
                <a:srgbClr val="281A42"/>
              </a:solidFill>
              <a:ln w="28575">
                <a:solidFill>
                  <a:srgbClr val="D0D7DF"/>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2000" b="1" spc="-10">
                    <a:solidFill>
                      <a:schemeClr val="bg1"/>
                    </a:solidFill>
                    <a:latin typeface="Segoe UI" pitchFamily="34" charset="0"/>
                    <a:ea typeface="Helvetica Neue" panose="02000503000000020004" pitchFamily="2" charset="0"/>
                    <a:cs typeface="Helvetica Neue" panose="02000503000000020004" pitchFamily="2" charset="0"/>
                  </a:rPr>
                  <a:t>Be validated with evidence</a:t>
                </a:r>
              </a:p>
            </p:txBody>
          </p:sp>
          <p:sp>
            <p:nvSpPr>
              <p:cNvPr id="42" name="Rectangle 41">
                <a:extLst>
                  <a:ext uri="{FF2B5EF4-FFF2-40B4-BE49-F238E27FC236}">
                    <a16:creationId xmlns:a16="http://schemas.microsoft.com/office/drawing/2014/main" id="{EE1CBD03-D50F-1BE7-0AFF-B4DB9969E333}"/>
                  </a:ext>
                </a:extLst>
              </p:cNvPr>
              <p:cNvSpPr/>
              <p:nvPr/>
            </p:nvSpPr>
            <p:spPr>
              <a:xfrm>
                <a:off x="7523917" y="3761227"/>
                <a:ext cx="514174" cy="548640"/>
              </a:xfrm>
              <a:prstGeom prst="rect">
                <a:avLst/>
              </a:prstGeom>
              <a:ln w="28575">
                <a:solidFill>
                  <a:srgbClr val="2B3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solidFill>
                    <a:schemeClr val="bg1"/>
                  </a:solidFill>
                </a:endParaRPr>
              </a:p>
            </p:txBody>
          </p:sp>
          <p:pic>
            <p:nvPicPr>
              <p:cNvPr id="50" name="Picture 49">
                <a:extLst>
                  <a:ext uri="{FF2B5EF4-FFF2-40B4-BE49-F238E27FC236}">
                    <a16:creationId xmlns:a16="http://schemas.microsoft.com/office/drawing/2014/main" id="{15B94F4D-FF81-B1F4-D7C0-65B00F804E65}"/>
                  </a:ext>
                </a:extLst>
              </p:cNvPr>
              <p:cNvPicPr>
                <a:picLocks noChangeAspect="1"/>
              </p:cNvPicPr>
              <p:nvPr/>
            </p:nvPicPr>
            <p:blipFill>
              <a:blip r:embed="rId4">
                <a:duotone>
                  <a:srgbClr val="765FFF"/>
                  <a:srgbClr val="FFFFFF"/>
                </a:duotone>
              </a:blip>
              <a:srcRect l="31542" t="21819" r="29177" b="44150"/>
              <a:stretch>
                <a:fillRect/>
              </a:stretch>
            </p:blipFill>
            <p:spPr>
              <a:xfrm>
                <a:off x="7577980" y="3843480"/>
                <a:ext cx="428625" cy="395711"/>
              </a:xfrm>
              <a:prstGeom prst="rect">
                <a:avLst/>
              </a:prstGeom>
            </p:spPr>
          </p:pic>
        </p:grpSp>
        <p:grpSp>
          <p:nvGrpSpPr>
            <p:cNvPr id="57" name="Group 56">
              <a:extLst>
                <a:ext uri="{FF2B5EF4-FFF2-40B4-BE49-F238E27FC236}">
                  <a16:creationId xmlns:a16="http://schemas.microsoft.com/office/drawing/2014/main" id="{F3A23750-D7A2-C6EA-792E-5FFFE087CCBB}"/>
                </a:ext>
              </a:extLst>
            </p:cNvPr>
            <p:cNvGrpSpPr/>
            <p:nvPr/>
          </p:nvGrpSpPr>
          <p:grpSpPr>
            <a:xfrm>
              <a:off x="7379758" y="3670594"/>
              <a:ext cx="3885642" cy="548640"/>
              <a:chOff x="7523917" y="3059978"/>
              <a:chExt cx="3885642" cy="548640"/>
            </a:xfrm>
          </p:grpSpPr>
          <p:sp>
            <p:nvSpPr>
              <p:cNvPr id="27" name="Rounded Rectangle 42">
                <a:extLst>
                  <a:ext uri="{FF2B5EF4-FFF2-40B4-BE49-F238E27FC236}">
                    <a16:creationId xmlns:a16="http://schemas.microsoft.com/office/drawing/2014/main" id="{289E6001-A5F9-FCCF-95C1-152706935B58}"/>
                  </a:ext>
                </a:extLst>
              </p:cNvPr>
              <p:cNvSpPr/>
              <p:nvPr/>
            </p:nvSpPr>
            <p:spPr>
              <a:xfrm>
                <a:off x="8060125" y="3059978"/>
                <a:ext cx="3349434" cy="548640"/>
              </a:xfrm>
              <a:prstGeom prst="rect">
                <a:avLst/>
              </a:prstGeom>
              <a:solidFill>
                <a:srgbClr val="281A42"/>
              </a:solidFill>
              <a:ln w="28575">
                <a:solidFill>
                  <a:srgbClr val="D0D7DF"/>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2000" b="1" spc="-10">
                    <a:solidFill>
                      <a:schemeClr val="bg1"/>
                    </a:solidFill>
                    <a:latin typeface="Segoe UI" pitchFamily="34" charset="0"/>
                    <a:ea typeface="Helvetica Neue" panose="02000503000000020004" pitchFamily="2" charset="0"/>
                    <a:cs typeface="Helvetica Neue" panose="02000503000000020004" pitchFamily="2" charset="0"/>
                  </a:rPr>
                  <a:t>Be assessed and rated</a:t>
                </a:r>
              </a:p>
            </p:txBody>
          </p:sp>
          <p:sp>
            <p:nvSpPr>
              <p:cNvPr id="38" name="Rectangle 37">
                <a:extLst>
                  <a:ext uri="{FF2B5EF4-FFF2-40B4-BE49-F238E27FC236}">
                    <a16:creationId xmlns:a16="http://schemas.microsoft.com/office/drawing/2014/main" id="{43223459-2BF7-4707-4832-BB05ACF78BD2}"/>
                  </a:ext>
                </a:extLst>
              </p:cNvPr>
              <p:cNvSpPr/>
              <p:nvPr/>
            </p:nvSpPr>
            <p:spPr>
              <a:xfrm>
                <a:off x="7523917" y="3059978"/>
                <a:ext cx="514174" cy="548640"/>
              </a:xfrm>
              <a:prstGeom prst="rect">
                <a:avLst/>
              </a:prstGeom>
              <a:ln w="28575">
                <a:solidFill>
                  <a:srgbClr val="2B3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solidFill>
                    <a:schemeClr val="bg1"/>
                  </a:solidFill>
                </a:endParaRPr>
              </a:p>
            </p:txBody>
          </p:sp>
          <p:pic>
            <p:nvPicPr>
              <p:cNvPr id="51" name="Picture 50">
                <a:extLst>
                  <a:ext uri="{FF2B5EF4-FFF2-40B4-BE49-F238E27FC236}">
                    <a16:creationId xmlns:a16="http://schemas.microsoft.com/office/drawing/2014/main" id="{0F762801-EC23-988F-2669-38D3E2EA0E31}"/>
                  </a:ext>
                </a:extLst>
              </p:cNvPr>
              <p:cNvPicPr>
                <a:picLocks noChangeAspect="1"/>
              </p:cNvPicPr>
              <p:nvPr/>
            </p:nvPicPr>
            <p:blipFill>
              <a:blip r:embed="rId4">
                <a:duotone>
                  <a:srgbClr val="765FFF"/>
                  <a:srgbClr val="FFFFFF"/>
                </a:duotone>
              </a:blip>
              <a:srcRect l="31542" t="21819" r="29177" b="44150"/>
              <a:stretch>
                <a:fillRect/>
              </a:stretch>
            </p:blipFill>
            <p:spPr>
              <a:xfrm>
                <a:off x="7577435" y="3147731"/>
                <a:ext cx="428625" cy="395711"/>
              </a:xfrm>
              <a:prstGeom prst="rect">
                <a:avLst/>
              </a:prstGeom>
            </p:spPr>
          </p:pic>
        </p:grpSp>
      </p:grpSp>
      <p:grpSp>
        <p:nvGrpSpPr>
          <p:cNvPr id="63" name="Group 62">
            <a:extLst>
              <a:ext uri="{FF2B5EF4-FFF2-40B4-BE49-F238E27FC236}">
                <a16:creationId xmlns:a16="http://schemas.microsoft.com/office/drawing/2014/main" id="{B4D1EFC0-7FC5-F1F8-D01B-D559AA460ACB}"/>
              </a:ext>
            </a:extLst>
          </p:cNvPr>
          <p:cNvGrpSpPr/>
          <p:nvPr/>
        </p:nvGrpSpPr>
        <p:grpSpPr>
          <a:xfrm>
            <a:off x="766212" y="1275791"/>
            <a:ext cx="5362996" cy="4951203"/>
            <a:chOff x="766212" y="1282593"/>
            <a:chExt cx="5362996" cy="4951203"/>
          </a:xfrm>
        </p:grpSpPr>
        <p:sp>
          <p:nvSpPr>
            <p:cNvPr id="4" name="Rounded Rectangle 42">
              <a:extLst>
                <a:ext uri="{FF2B5EF4-FFF2-40B4-BE49-F238E27FC236}">
                  <a16:creationId xmlns:a16="http://schemas.microsoft.com/office/drawing/2014/main" id="{ECBF24F0-FFD0-439A-B431-14AC152BDD27}"/>
                </a:ext>
              </a:extLst>
            </p:cNvPr>
            <p:cNvSpPr/>
            <p:nvPr/>
          </p:nvSpPr>
          <p:spPr>
            <a:xfrm>
              <a:off x="874131" y="1282593"/>
              <a:ext cx="5144924" cy="747256"/>
            </a:xfrm>
            <a:prstGeom prst="roundRect">
              <a:avLst>
                <a:gd name="adj" fmla="val 50000"/>
              </a:avLst>
            </a:prstGeom>
            <a:solidFill>
              <a:srgbClr val="281A42"/>
            </a:solidFill>
            <a:ln w="28575">
              <a:solidFill>
                <a:srgbClr val="2B3A42"/>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spc="-10">
                  <a:solidFill>
                    <a:schemeClr val="bg1"/>
                  </a:solidFill>
                  <a:latin typeface="Segoe UI" pitchFamily="34" charset="0"/>
                  <a:ea typeface="Helvetica Neue" panose="02000503000000020004" pitchFamily="2" charset="0"/>
                  <a:cs typeface="Helvetica Neue" panose="02000503000000020004" pitchFamily="2" charset="0"/>
                </a:rPr>
                <a:t>To build superpowers, you need…</a:t>
              </a:r>
            </a:p>
          </p:txBody>
        </p:sp>
        <p:sp>
          <p:nvSpPr>
            <p:cNvPr id="9" name="Rounded Rectangle 42">
              <a:extLst>
                <a:ext uri="{FF2B5EF4-FFF2-40B4-BE49-F238E27FC236}">
                  <a16:creationId xmlns:a16="http://schemas.microsoft.com/office/drawing/2014/main" id="{831E7B2E-4583-2741-E1CA-62D53FCB3196}"/>
                </a:ext>
              </a:extLst>
            </p:cNvPr>
            <p:cNvSpPr/>
            <p:nvPr/>
          </p:nvSpPr>
          <p:spPr>
            <a:xfrm>
              <a:off x="4109198" y="2675307"/>
              <a:ext cx="2020010" cy="1902202"/>
            </a:xfrm>
            <a:prstGeom prst="ellipse">
              <a:avLst/>
            </a:prstGeom>
            <a:solidFill>
              <a:srgbClr val="281A42"/>
            </a:solidFill>
            <a:ln w="28575">
              <a:solidFill>
                <a:srgbClr val="2B3A42"/>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000" b="1" spc="-10">
                  <a:solidFill>
                    <a:schemeClr val="bg1"/>
                  </a:solidFill>
                  <a:latin typeface="Segoe UI" pitchFamily="34" charset="0"/>
                </a:rPr>
                <a:t>Stakeholder insights</a:t>
              </a:r>
            </a:p>
          </p:txBody>
        </p:sp>
        <p:cxnSp>
          <p:nvCxnSpPr>
            <p:cNvPr id="15" name="Straight Connector 14">
              <a:extLst>
                <a:ext uri="{FF2B5EF4-FFF2-40B4-BE49-F238E27FC236}">
                  <a16:creationId xmlns:a16="http://schemas.microsoft.com/office/drawing/2014/main" id="{8465890E-BB52-BEBD-1FC8-A7DB809E1658}"/>
                </a:ext>
              </a:extLst>
            </p:cNvPr>
            <p:cNvCxnSpPr>
              <a:cxnSpLocks/>
              <a:endCxn id="60" idx="0"/>
            </p:cNvCxnSpPr>
            <p:nvPr/>
          </p:nvCxnSpPr>
          <p:spPr>
            <a:xfrm>
              <a:off x="3440465" y="2018560"/>
              <a:ext cx="0" cy="2313034"/>
            </a:xfrm>
            <a:prstGeom prst="line">
              <a:avLst/>
            </a:prstGeom>
            <a:ln w="28575"/>
            <a:effectLst>
              <a:outerShdw blurRad="50800" dist="38100" dir="8100000" algn="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59" name="Rounded Rectangle 42">
              <a:extLst>
                <a:ext uri="{FF2B5EF4-FFF2-40B4-BE49-F238E27FC236}">
                  <a16:creationId xmlns:a16="http://schemas.microsoft.com/office/drawing/2014/main" id="{2B5AC1B0-C855-E472-934F-7C425DE27C03}"/>
                </a:ext>
              </a:extLst>
            </p:cNvPr>
            <p:cNvSpPr/>
            <p:nvPr/>
          </p:nvSpPr>
          <p:spPr>
            <a:xfrm>
              <a:off x="766212" y="2675307"/>
              <a:ext cx="2020010" cy="1902202"/>
            </a:xfrm>
            <a:prstGeom prst="ellipse">
              <a:avLst/>
            </a:prstGeom>
            <a:solidFill>
              <a:srgbClr val="281A42"/>
            </a:solidFill>
            <a:ln w="28575">
              <a:solidFill>
                <a:srgbClr val="2B3A42"/>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000" b="1" spc="-10">
                  <a:solidFill>
                    <a:schemeClr val="bg1"/>
                  </a:solidFill>
                  <a:latin typeface="Segoe UI" pitchFamily="34" charset="0"/>
                </a:rPr>
                <a:t>Work and role risks</a:t>
              </a:r>
            </a:p>
          </p:txBody>
        </p:sp>
        <p:sp>
          <p:nvSpPr>
            <p:cNvPr id="60" name="Rounded Rectangle 42">
              <a:extLst>
                <a:ext uri="{FF2B5EF4-FFF2-40B4-BE49-F238E27FC236}">
                  <a16:creationId xmlns:a16="http://schemas.microsoft.com/office/drawing/2014/main" id="{E60337EA-C0FA-A2CD-9792-C92429C279EC}"/>
                </a:ext>
              </a:extLst>
            </p:cNvPr>
            <p:cNvSpPr/>
            <p:nvPr/>
          </p:nvSpPr>
          <p:spPr>
            <a:xfrm>
              <a:off x="2430460" y="4331594"/>
              <a:ext cx="2020010" cy="1902202"/>
            </a:xfrm>
            <a:prstGeom prst="ellipse">
              <a:avLst/>
            </a:prstGeom>
            <a:solidFill>
              <a:srgbClr val="281A42"/>
            </a:solidFill>
            <a:ln w="28575">
              <a:solidFill>
                <a:srgbClr val="2B3A42"/>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000" b="1" spc="-10" dirty="0">
                  <a:solidFill>
                    <a:schemeClr val="bg1"/>
                  </a:solidFill>
                  <a:latin typeface="Segoe UI" pitchFamily="34" charset="0"/>
                </a:rPr>
                <a:t>Future JTBDs</a:t>
              </a:r>
            </a:p>
          </p:txBody>
        </p:sp>
        <p:sp>
          <p:nvSpPr>
            <p:cNvPr id="62" name="Freeform: Shape 61">
              <a:extLst>
                <a:ext uri="{FF2B5EF4-FFF2-40B4-BE49-F238E27FC236}">
                  <a16:creationId xmlns:a16="http://schemas.microsoft.com/office/drawing/2014/main" id="{A584556D-8260-5E7A-95C3-F8802E7CF19C}"/>
                </a:ext>
              </a:extLst>
            </p:cNvPr>
            <p:cNvSpPr/>
            <p:nvPr/>
          </p:nvSpPr>
          <p:spPr>
            <a:xfrm>
              <a:off x="1765300" y="2362200"/>
              <a:ext cx="3365500" cy="317500"/>
            </a:xfrm>
            <a:custGeom>
              <a:avLst/>
              <a:gdLst>
                <a:gd name="connsiteX0" fmla="*/ 0 w 3365500"/>
                <a:gd name="connsiteY0" fmla="*/ 304800 h 317500"/>
                <a:gd name="connsiteX1" fmla="*/ 0 w 3365500"/>
                <a:gd name="connsiteY1" fmla="*/ 0 h 317500"/>
                <a:gd name="connsiteX2" fmla="*/ 3365500 w 3365500"/>
                <a:gd name="connsiteY2" fmla="*/ 0 h 317500"/>
                <a:gd name="connsiteX3" fmla="*/ 3365500 w 3365500"/>
                <a:gd name="connsiteY3" fmla="*/ 317500 h 317500"/>
              </a:gdLst>
              <a:ahLst/>
              <a:cxnLst>
                <a:cxn ang="0">
                  <a:pos x="connsiteX0" y="connsiteY0"/>
                </a:cxn>
                <a:cxn ang="0">
                  <a:pos x="connsiteX1" y="connsiteY1"/>
                </a:cxn>
                <a:cxn ang="0">
                  <a:pos x="connsiteX2" y="connsiteY2"/>
                </a:cxn>
                <a:cxn ang="0">
                  <a:pos x="connsiteX3" y="connsiteY3"/>
                </a:cxn>
              </a:cxnLst>
              <a:rect l="l" t="t" r="r" b="b"/>
              <a:pathLst>
                <a:path w="3365500" h="317500">
                  <a:moveTo>
                    <a:pt x="0" y="304800"/>
                  </a:moveTo>
                  <a:lnTo>
                    <a:pt x="0" y="0"/>
                  </a:lnTo>
                  <a:lnTo>
                    <a:pt x="3365500" y="0"/>
                  </a:lnTo>
                  <a:lnTo>
                    <a:pt x="3365500" y="317500"/>
                  </a:lnTo>
                </a:path>
              </a:pathLst>
            </a:custGeom>
            <a:noFill/>
            <a:ln w="28575">
              <a:solidFill>
                <a:srgbClr val="2B3A42"/>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grpSp>
      <p:sp>
        <p:nvSpPr>
          <p:cNvPr id="6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25</a:t>
            </a:fld>
            <a:endParaRPr lang="en-US"/>
          </a:p>
        </p:txBody>
      </p:sp>
      <p:grpSp>
        <p:nvGrpSpPr>
          <p:cNvPr id="3" name="Group 2">
            <a:extLst>
              <a:ext uri="{FF2B5EF4-FFF2-40B4-BE49-F238E27FC236}">
                <a16:creationId xmlns:a16="http://schemas.microsoft.com/office/drawing/2014/main" id="{0D56A235-BA71-BAAB-75BD-90D274318C32}"/>
              </a:ext>
            </a:extLst>
          </p:cNvPr>
          <p:cNvGrpSpPr/>
          <p:nvPr/>
        </p:nvGrpSpPr>
        <p:grpSpPr>
          <a:xfrm>
            <a:off x="10403235" y="201614"/>
            <a:ext cx="410690" cy="410700"/>
            <a:chOff x="3506617" y="2730959"/>
            <a:chExt cx="1591098" cy="1591098"/>
          </a:xfrm>
        </p:grpSpPr>
        <p:sp>
          <p:nvSpPr>
            <p:cNvPr id="5" name="Rectangle: Rounded Corners 39">
              <a:extLst>
                <a:ext uri="{FF2B5EF4-FFF2-40B4-BE49-F238E27FC236}">
                  <a16:creationId xmlns:a16="http://schemas.microsoft.com/office/drawing/2014/main" id="{E2A3FC08-C855-C896-83FE-84E614018213}"/>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 name="Rectangle: Rounded Corners 54">
              <a:extLst>
                <a:ext uri="{FF2B5EF4-FFF2-40B4-BE49-F238E27FC236}">
                  <a16:creationId xmlns:a16="http://schemas.microsoft.com/office/drawing/2014/main" id="{E444AE69-2692-B5B5-AB9B-D515999AF063}"/>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2" name="Freeform 56" descr="Clipboard Partially Checked with solid fill">
              <a:extLst>
                <a:ext uri="{FF2B5EF4-FFF2-40B4-BE49-F238E27FC236}">
                  <a16:creationId xmlns:a16="http://schemas.microsoft.com/office/drawing/2014/main" id="{C65755F0-599A-873F-5D07-FD38078DDDEC}"/>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17" name="Group 16">
            <a:extLst>
              <a:ext uri="{FF2B5EF4-FFF2-40B4-BE49-F238E27FC236}">
                <a16:creationId xmlns:a16="http://schemas.microsoft.com/office/drawing/2014/main" id="{B04CA769-F38D-1FA6-39FF-8D6908FB41B5}"/>
              </a:ext>
            </a:extLst>
          </p:cNvPr>
          <p:cNvGrpSpPr/>
          <p:nvPr/>
        </p:nvGrpSpPr>
        <p:grpSpPr>
          <a:xfrm>
            <a:off x="11557682" y="191038"/>
            <a:ext cx="410690" cy="410700"/>
            <a:chOff x="8874309" y="3009260"/>
            <a:chExt cx="1591098" cy="1591098"/>
          </a:xfrm>
        </p:grpSpPr>
        <p:grpSp>
          <p:nvGrpSpPr>
            <p:cNvPr id="18" name="Group 17">
              <a:extLst>
                <a:ext uri="{FF2B5EF4-FFF2-40B4-BE49-F238E27FC236}">
                  <a16:creationId xmlns:a16="http://schemas.microsoft.com/office/drawing/2014/main" id="{55A6FDA8-2F43-1AEB-9935-CB53A0FA67D2}"/>
                </a:ext>
              </a:extLst>
            </p:cNvPr>
            <p:cNvGrpSpPr/>
            <p:nvPr/>
          </p:nvGrpSpPr>
          <p:grpSpPr>
            <a:xfrm>
              <a:off x="8874309" y="3009260"/>
              <a:ext cx="1591098" cy="1591098"/>
              <a:chOff x="9350370" y="2760976"/>
              <a:chExt cx="1591098" cy="1591098"/>
            </a:xfrm>
          </p:grpSpPr>
          <p:sp>
            <p:nvSpPr>
              <p:cNvPr id="21" name="Rectangle: Rounded Corners 39">
                <a:extLst>
                  <a:ext uri="{FF2B5EF4-FFF2-40B4-BE49-F238E27FC236}">
                    <a16:creationId xmlns:a16="http://schemas.microsoft.com/office/drawing/2014/main" id="{B02F4698-FF9A-C75A-617E-F2722E22C100}"/>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2" name="Rectangle: Rounded Corners 54">
                <a:extLst>
                  <a:ext uri="{FF2B5EF4-FFF2-40B4-BE49-F238E27FC236}">
                    <a16:creationId xmlns:a16="http://schemas.microsoft.com/office/drawing/2014/main" id="{F0DB9AC1-818B-17F3-548A-E7C8B913405C}"/>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0" name="Picture 51" descr="Map with pin with solid fill">
              <a:extLst>
                <a:ext uri="{FF2B5EF4-FFF2-40B4-BE49-F238E27FC236}">
                  <a16:creationId xmlns:a16="http://schemas.microsoft.com/office/drawing/2014/main" id="{0BCBD91D-43E8-9166-A5AC-B129E1B05DFD}"/>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3" name="Group 22">
            <a:extLst>
              <a:ext uri="{FF2B5EF4-FFF2-40B4-BE49-F238E27FC236}">
                <a16:creationId xmlns:a16="http://schemas.microsoft.com/office/drawing/2014/main" id="{0843C1C2-7548-9D3C-94A2-43D1FD1C0BF8}"/>
              </a:ext>
            </a:extLst>
          </p:cNvPr>
          <p:cNvGrpSpPr/>
          <p:nvPr/>
        </p:nvGrpSpPr>
        <p:grpSpPr>
          <a:xfrm>
            <a:off x="10997361" y="200955"/>
            <a:ext cx="410690" cy="410700"/>
            <a:chOff x="5303120" y="3009260"/>
            <a:chExt cx="1591098" cy="1591098"/>
          </a:xfrm>
        </p:grpSpPr>
        <p:grpSp>
          <p:nvGrpSpPr>
            <p:cNvPr id="24" name="Group 23">
              <a:extLst>
                <a:ext uri="{FF2B5EF4-FFF2-40B4-BE49-F238E27FC236}">
                  <a16:creationId xmlns:a16="http://schemas.microsoft.com/office/drawing/2014/main" id="{19BAE143-A4A9-9E2C-C7B4-8C4D65516BAD}"/>
                </a:ext>
              </a:extLst>
            </p:cNvPr>
            <p:cNvGrpSpPr/>
            <p:nvPr/>
          </p:nvGrpSpPr>
          <p:grpSpPr>
            <a:xfrm>
              <a:off x="5303120" y="3009260"/>
              <a:ext cx="1591098" cy="1591098"/>
              <a:chOff x="6428492" y="2760976"/>
              <a:chExt cx="1591098" cy="1591098"/>
            </a:xfrm>
          </p:grpSpPr>
          <p:sp>
            <p:nvSpPr>
              <p:cNvPr id="39" name="Rectangle: Rounded Corners 39">
                <a:extLst>
                  <a:ext uri="{FF2B5EF4-FFF2-40B4-BE49-F238E27FC236}">
                    <a16:creationId xmlns:a16="http://schemas.microsoft.com/office/drawing/2014/main" id="{26E3A434-88D6-D0D2-569A-ECAED7C7FABF}"/>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0" name="Rectangle: Rounded Corners 54">
                <a:extLst>
                  <a:ext uri="{FF2B5EF4-FFF2-40B4-BE49-F238E27FC236}">
                    <a16:creationId xmlns:a16="http://schemas.microsoft.com/office/drawing/2014/main" id="{0E80228F-AE83-52B6-00B2-26C5960D80B0}"/>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5" name="Graphic 27" descr="Target Audience with solid fill">
              <a:extLst>
                <a:ext uri="{FF2B5EF4-FFF2-40B4-BE49-F238E27FC236}">
                  <a16:creationId xmlns:a16="http://schemas.microsoft.com/office/drawing/2014/main" id="{ABD3EB25-76E3-7E4F-7681-4FCD6C1234C3}"/>
                </a:ext>
              </a:extLst>
            </p:cNvPr>
            <p:cNvPicPr>
              <a:picLocks noChangeAspect="1"/>
            </p:cNvPicPr>
            <p:nvPr/>
          </p:nvPicPr>
          <p:blipFill>
            <a:blip r:embed="rId7">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3" name="TextBox 42">
            <a:extLst>
              <a:ext uri="{FF2B5EF4-FFF2-40B4-BE49-F238E27FC236}">
                <a16:creationId xmlns:a16="http://schemas.microsoft.com/office/drawing/2014/main" id="{3A48C7BC-05D0-1D9F-DEE9-ADE054CF3FE1}"/>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6" name="TextBox 45">
            <a:extLst>
              <a:ext uri="{FF2B5EF4-FFF2-40B4-BE49-F238E27FC236}">
                <a16:creationId xmlns:a16="http://schemas.microsoft.com/office/drawing/2014/main" id="{EB5694DF-71A1-D24D-A242-A62D68EFB550}"/>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7" name="TextBox 46">
            <a:extLst>
              <a:ext uri="{FF2B5EF4-FFF2-40B4-BE49-F238E27FC236}">
                <a16:creationId xmlns:a16="http://schemas.microsoft.com/office/drawing/2014/main" id="{FCB1D81C-BD28-1634-E1BC-3AE2ED97A25C}"/>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9" name="Rectangle 48">
            <a:extLst>
              <a:ext uri="{FF2B5EF4-FFF2-40B4-BE49-F238E27FC236}">
                <a16:creationId xmlns:a16="http://schemas.microsoft.com/office/drawing/2014/main" id="{A1F44204-D299-FBE3-8EE0-6890A40C8556}"/>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3569889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55A64-89F7-7A0E-C1BD-41110BFEA0E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C62A564-7E75-937D-EB67-672AC553E9C2}"/>
              </a:ext>
            </a:extLst>
          </p:cNvPr>
          <p:cNvSpPr>
            <a:spLocks noGrp="1"/>
          </p:cNvSpPr>
          <p:nvPr>
            <p:ph type="title" sz="quarter"/>
          </p:nvPr>
        </p:nvSpPr>
        <p:spPr/>
        <p:txBody>
          <a:bodyPr lIns="121920" tIns="60960" rIns="121920" bIns="60960" anchor="t"/>
          <a:lstStyle/>
          <a:p>
            <a:pPr>
              <a:defRPr b="1" spc="-25">
                <a:latin typeface="Segoe UI" pitchFamily="34" charset="0"/>
              </a:defRPr>
            </a:pPr>
            <a:r>
              <a:rPr lang="en-US" b="1" spc="-25">
                <a:solidFill>
                  <a:srgbClr val="2B3A42"/>
                </a:solidFill>
                <a:latin typeface="Segoe UI" pitchFamily="34" charset="0"/>
                <a:ea typeface="Helvetica Neue" panose="02000503000000020004" pitchFamily="2" charset="0"/>
                <a:cs typeface="Helvetica Neue" panose="02000503000000020004" pitchFamily="2" charset="0"/>
              </a:rPr>
              <a:t>Example</a:t>
            </a:r>
            <a:r>
              <a:rPr lang="en-US" b="1" spc="-25">
                <a:solidFill>
                  <a:srgbClr val="1D1D1D"/>
                </a:solidFill>
                <a:latin typeface="Segoe UI" pitchFamily="34" charset="0"/>
                <a:ea typeface="Helvetica Neue" panose="02000503000000020004" pitchFamily="2" charset="0"/>
                <a:cs typeface="Helvetica Neue" panose="02000503000000020004" pitchFamily="2" charset="0"/>
              </a:rPr>
              <a:t> – risk assessment and superpowers</a:t>
            </a:r>
            <a:endParaRPr lang="en-US" b="1" spc="-25">
              <a:latin typeface="Segoe UI" pitchFamily="34" charset="0"/>
              <a:ea typeface="Helvetica Neue" panose="02000503000000020004" pitchFamily="2" charset="0"/>
              <a:cs typeface="Helvetica Neue" panose="02000503000000020004" pitchFamily="2" charset="0"/>
            </a:endParaRPr>
          </a:p>
        </p:txBody>
      </p:sp>
      <p:sp>
        <p:nvSpPr>
          <p:cNvPr id="7" name="TextBox 6">
            <a:extLst>
              <a:ext uri="{FF2B5EF4-FFF2-40B4-BE49-F238E27FC236}">
                <a16:creationId xmlns:a16="http://schemas.microsoft.com/office/drawing/2014/main" id="{82886E60-85A5-75BC-5301-FAF4E191046F}"/>
              </a:ext>
            </a:extLst>
          </p:cNvPr>
          <p:cNvSpPr txBox="1"/>
          <p:nvPr/>
        </p:nvSpPr>
        <p:spPr>
          <a:xfrm>
            <a:off x="400666" y="1085712"/>
            <a:ext cx="678184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spc="-10">
                <a:latin typeface="Segoe UI" pitchFamily="34" charset="0"/>
                <a:ea typeface="Lato" panose="020F0502020204030203" pitchFamily="34" charset="0"/>
                <a:cs typeface="Lato" panose="020F0502020204030203" pitchFamily="34" charset="0"/>
              </a:rPr>
              <a:t>Role: Head of Digital Solutions &amp; Data</a:t>
            </a:r>
          </a:p>
        </p:txBody>
      </p:sp>
      <p:sp>
        <p:nvSpPr>
          <p:cNvPr id="59" name="Google Shape;103;p3">
            <a:extLst>
              <a:ext uri="{FF2B5EF4-FFF2-40B4-BE49-F238E27FC236}">
                <a16:creationId xmlns:a16="http://schemas.microsoft.com/office/drawing/2014/main" id="{8612D401-D715-413D-3A19-F9C417432A77}"/>
              </a:ext>
            </a:extLst>
          </p:cNvPr>
          <p:cNvSpPr/>
          <p:nvPr/>
        </p:nvSpPr>
        <p:spPr>
          <a:xfrm>
            <a:off x="400666" y="1494074"/>
            <a:ext cx="3261114" cy="4893548"/>
          </a:xfrm>
          <a:prstGeom prst="roundRect">
            <a:avLst>
              <a:gd name="adj" fmla="val 4596"/>
            </a:avLst>
          </a:prstGeom>
          <a:solidFill>
            <a:schemeClr val="bg1"/>
          </a:solidFill>
          <a:ln w="9525" cap="flat" cmpd="sng">
            <a:solidFill>
              <a:srgbClr val="2B3A42"/>
            </a:solidFill>
            <a:prstDash val="solid"/>
            <a:miter lim="400000"/>
            <a:headEnd type="none" w="sm" len="sm"/>
            <a:tailEnd type="none" w="sm" len="sm"/>
          </a:ln>
        </p:spPr>
        <p:txBody>
          <a:bodyPr spcFirstLastPara="1" wrap="square" lIns="22850" tIns="22850" rIns="22850" bIns="22850" anchor="ctr" anchorCtr="0">
            <a:noAutofit/>
          </a:bodyPr>
          <a:lstStyle/>
          <a:p>
            <a:pPr algn="ctr" defTabSz="457200">
              <a:buClr>
                <a:srgbClr val="FFFFFF"/>
              </a:buClr>
              <a:buSzPts val="4800"/>
              <a:defRPr/>
            </a:pPr>
            <a:endParaRPr sz="2800" kern="0" spc="-10">
              <a:solidFill>
                <a:srgbClr val="1D1D1D"/>
              </a:solidFill>
              <a:latin typeface="Arial" pitchFamily="34" charset="0"/>
              <a:ea typeface="Lato"/>
              <a:cs typeface="Arial" panose="020B0604020202020204" pitchFamily="34" charset="0"/>
              <a:sym typeface="Lato"/>
            </a:endParaRPr>
          </a:p>
        </p:txBody>
      </p:sp>
      <p:sp>
        <p:nvSpPr>
          <p:cNvPr id="63" name="Google Shape;128;p4">
            <a:extLst>
              <a:ext uri="{FF2B5EF4-FFF2-40B4-BE49-F238E27FC236}">
                <a16:creationId xmlns:a16="http://schemas.microsoft.com/office/drawing/2014/main" id="{5B8545F2-E8AC-AD5A-0218-49AA32AE7C4D}"/>
              </a:ext>
            </a:extLst>
          </p:cNvPr>
          <p:cNvSpPr/>
          <p:nvPr/>
        </p:nvSpPr>
        <p:spPr>
          <a:xfrm>
            <a:off x="3829721" y="1494074"/>
            <a:ext cx="7767119" cy="4893548"/>
          </a:xfrm>
          <a:prstGeom prst="roundRect">
            <a:avLst>
              <a:gd name="adj" fmla="val 2676"/>
            </a:avLst>
          </a:prstGeom>
          <a:solidFill>
            <a:schemeClr val="bg1"/>
          </a:solidFill>
          <a:ln w="9525" cap="flat" cmpd="sng">
            <a:solidFill>
              <a:srgbClr val="2B3A42"/>
            </a:solidFill>
            <a:prstDash val="solid"/>
            <a:miter lim="400000"/>
            <a:headEnd type="none" w="sm" len="sm"/>
            <a:tailEnd type="none" w="sm" len="sm"/>
          </a:ln>
        </p:spPr>
        <p:txBody>
          <a:bodyPr spcFirstLastPara="1" wrap="square" lIns="22850" tIns="22850" rIns="22850" bIns="22850" anchor="ctr" anchorCtr="0">
            <a:noAutofit/>
          </a:bodyPr>
          <a:lstStyle/>
          <a:p>
            <a:pPr algn="ctr" defTabSz="457200">
              <a:buClr>
                <a:srgbClr val="FFFFFF"/>
              </a:buClr>
              <a:buSzPts val="4800"/>
              <a:buFont typeface="Arial"/>
              <a:buNone/>
              <a:defRPr/>
            </a:pPr>
            <a:endParaRPr sz="1200" kern="0" spc="-10">
              <a:solidFill>
                <a:srgbClr val="1D1D1D"/>
              </a:solidFill>
              <a:latin typeface="Arial" pitchFamily="34" charset="0"/>
              <a:ea typeface="Lato"/>
              <a:cs typeface="Arial" panose="020B0604020202020204" pitchFamily="34" charset="0"/>
              <a:sym typeface="Lato"/>
            </a:endParaRPr>
          </a:p>
        </p:txBody>
      </p:sp>
      <p:sp>
        <p:nvSpPr>
          <p:cNvPr id="64" name="Google Shape;143;p4">
            <a:extLst>
              <a:ext uri="{FF2B5EF4-FFF2-40B4-BE49-F238E27FC236}">
                <a16:creationId xmlns:a16="http://schemas.microsoft.com/office/drawing/2014/main" id="{1B40F527-DCE5-0E3E-A318-20652C77E163}"/>
              </a:ext>
            </a:extLst>
          </p:cNvPr>
          <p:cNvSpPr txBox="1"/>
          <p:nvPr/>
        </p:nvSpPr>
        <p:spPr>
          <a:xfrm>
            <a:off x="3997995" y="1594381"/>
            <a:ext cx="2505804" cy="261590"/>
          </a:xfrm>
          <a:prstGeom prst="rect">
            <a:avLst/>
          </a:prstGeom>
          <a:noFill/>
          <a:ln>
            <a:noFill/>
          </a:ln>
        </p:spPr>
        <p:txBody>
          <a:bodyPr spcFirstLastPara="1" wrap="square" lIns="22850" tIns="22850" rIns="22850" bIns="22850" anchor="b" anchorCtr="0">
            <a:spAutoFit/>
          </a:bodyPr>
          <a:lstStyle/>
          <a:p>
            <a:pPr defTabSz="457200">
              <a:buClr>
                <a:srgbClr val="BA0C2F"/>
              </a:buClr>
              <a:buSzPts val="3600"/>
              <a:buFont typeface="Arial"/>
              <a:buNone/>
              <a:defRPr/>
            </a:pPr>
            <a:r>
              <a:rPr lang="en-US" sz="1400" b="1" kern="0" spc="-10">
                <a:solidFill>
                  <a:srgbClr val="2B3A42"/>
                </a:solidFill>
                <a:latin typeface="Segoe UI" pitchFamily="34" charset="0"/>
                <a:ea typeface="Lato"/>
                <a:cs typeface="Arial" panose="020B0604020202020204" pitchFamily="34" charset="0"/>
                <a:sym typeface="Lato"/>
              </a:rPr>
              <a:t>Work Challenge</a:t>
            </a:r>
          </a:p>
        </p:txBody>
      </p:sp>
      <p:sp>
        <p:nvSpPr>
          <p:cNvPr id="65" name="Google Shape;143;p4">
            <a:extLst>
              <a:ext uri="{FF2B5EF4-FFF2-40B4-BE49-F238E27FC236}">
                <a16:creationId xmlns:a16="http://schemas.microsoft.com/office/drawing/2014/main" id="{EAF76506-1DF1-108F-451D-1C520254AD28}"/>
              </a:ext>
            </a:extLst>
          </p:cNvPr>
          <p:cNvSpPr txBox="1"/>
          <p:nvPr/>
        </p:nvSpPr>
        <p:spPr>
          <a:xfrm>
            <a:off x="3997995" y="4070070"/>
            <a:ext cx="7133893" cy="261590"/>
          </a:xfrm>
          <a:prstGeom prst="rect">
            <a:avLst/>
          </a:prstGeom>
          <a:noFill/>
          <a:ln>
            <a:noFill/>
          </a:ln>
        </p:spPr>
        <p:txBody>
          <a:bodyPr spcFirstLastPara="1" wrap="square" lIns="22850" tIns="22850" rIns="22850" bIns="22850" anchor="b" anchorCtr="0">
            <a:spAutoFit/>
          </a:bodyPr>
          <a:lstStyle/>
          <a:p>
            <a:pPr defTabSz="457200">
              <a:buClr>
                <a:srgbClr val="BA0C2F"/>
              </a:buClr>
              <a:buSzPts val="3600"/>
              <a:buFont typeface="Arial"/>
              <a:buNone/>
              <a:defRPr/>
            </a:pPr>
            <a:r>
              <a:rPr lang="en-US" sz="1400" b="1" kern="0" spc="-10">
                <a:solidFill>
                  <a:srgbClr val="2B3A42"/>
                </a:solidFill>
                <a:latin typeface="Segoe UI" pitchFamily="34" charset="0"/>
                <a:ea typeface="Lato"/>
                <a:cs typeface="Arial" panose="020B0604020202020204" pitchFamily="34" charset="0"/>
                <a:sym typeface="Lato"/>
              </a:rPr>
              <a:t>Role Design</a:t>
            </a:r>
          </a:p>
        </p:txBody>
      </p:sp>
      <p:cxnSp>
        <p:nvCxnSpPr>
          <p:cNvPr id="66" name="Google Shape;306;p6">
            <a:extLst>
              <a:ext uri="{FF2B5EF4-FFF2-40B4-BE49-F238E27FC236}">
                <a16:creationId xmlns:a16="http://schemas.microsoft.com/office/drawing/2014/main" id="{08DEB598-E2A1-9EB1-1A56-C171036B6AFE}"/>
              </a:ext>
            </a:extLst>
          </p:cNvPr>
          <p:cNvCxnSpPr>
            <a:cxnSpLocks/>
          </p:cNvCxnSpPr>
          <p:nvPr/>
        </p:nvCxnSpPr>
        <p:spPr>
          <a:xfrm>
            <a:off x="3997995" y="3947172"/>
            <a:ext cx="7315200" cy="0"/>
          </a:xfrm>
          <a:prstGeom prst="straightConnector1">
            <a:avLst/>
          </a:prstGeom>
          <a:noFill/>
          <a:ln w="12700" cap="flat" cmpd="sng">
            <a:solidFill>
              <a:srgbClr val="FFFFFF">
                <a:lumMod val="65000"/>
              </a:srgbClr>
            </a:solidFill>
            <a:prstDash val="solid"/>
            <a:miter lim="400000"/>
            <a:headEnd type="none" w="sm" len="sm"/>
            <a:tailEnd type="none" w="sm" len="sm"/>
          </a:ln>
        </p:spPr>
      </p:cxnSp>
      <p:sp>
        <p:nvSpPr>
          <p:cNvPr id="67" name="Rectangle 66">
            <a:extLst>
              <a:ext uri="{FF2B5EF4-FFF2-40B4-BE49-F238E27FC236}">
                <a16:creationId xmlns:a16="http://schemas.microsoft.com/office/drawing/2014/main" id="{C1C82EEC-AA3C-BD3D-8ABA-9975CA23224F}"/>
              </a:ext>
            </a:extLst>
          </p:cNvPr>
          <p:cNvSpPr/>
          <p:nvPr/>
        </p:nvSpPr>
        <p:spPr>
          <a:xfrm>
            <a:off x="3984056" y="2024507"/>
            <a:ext cx="2618151" cy="1340217"/>
          </a:xfrm>
          <a:prstGeom prst="rect">
            <a:avLst/>
          </a:prstGeom>
          <a:noFill/>
          <a:ln w="25400" cap="flat" cmpd="sng" algn="ctr">
            <a:noFill/>
            <a:prstDash val="solid"/>
          </a:ln>
          <a:effectLst/>
        </p:spPr>
        <p:txBody>
          <a:bodyPr lIns="91440" tIns="45720" rIns="91440" bIns="4572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Arial" panose="020B0604020202020204" pitchFamily="34" charset="0"/>
              </a:rPr>
              <a:t>Most challenging piece of work?</a:t>
            </a:r>
          </a:p>
          <a:p>
            <a:pPr marL="91440" marR="0" lvl="0" indent="-91440"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Arial" panose="020B0604020202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Arial" panose="020B0604020202020204" pitchFamily="34" charset="0"/>
              </a:rPr>
              <a:t>Most valuable Job to Be </a:t>
            </a:r>
            <a:r>
              <a:rPr lang="en-US" sz="1100" b="1" kern="0" spc="-10">
                <a:solidFill>
                  <a:prstClr val="black"/>
                </a:solidFill>
                <a:latin typeface="Segoe UI" pitchFamily="34" charset="0"/>
                <a:ea typeface="Lato" panose="020F0502020204030203" pitchFamily="34" charset="0"/>
                <a:cs typeface="Arial" panose="020B0604020202020204" pitchFamily="34" charset="0"/>
              </a:rPr>
              <a:t>D</a:t>
            </a: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Arial" panose="020B0604020202020204" pitchFamily="34" charset="0"/>
              </a:rPr>
              <a:t>one</a:t>
            </a:r>
            <a:r>
              <a:rPr kumimoji="0" lang="en-US" sz="1100" b="0" i="0" u="none" strike="noStrike" kern="0" cap="none" spc="-10" normalizeH="0" baseline="0" noProof="0">
                <a:ln>
                  <a:noFill/>
                </a:ln>
                <a:solidFill>
                  <a:prstClr val="black"/>
                </a:solidFill>
                <a:effectLst/>
                <a:uLnTx/>
                <a:uFillTx/>
                <a:latin typeface="Arial" pitchFamily="34" charset="0"/>
                <a:ea typeface="Lato" panose="020F0502020204030203" pitchFamily="34" charset="0"/>
                <a:cs typeface="Arial" panose="020B0604020202020204" pitchFamily="34" charset="0"/>
              </a:rPr>
              <a:t>?</a:t>
            </a:r>
          </a:p>
        </p:txBody>
      </p:sp>
      <p:sp>
        <p:nvSpPr>
          <p:cNvPr id="68" name="Rectangle 67">
            <a:extLst>
              <a:ext uri="{FF2B5EF4-FFF2-40B4-BE49-F238E27FC236}">
                <a16:creationId xmlns:a16="http://schemas.microsoft.com/office/drawing/2014/main" id="{49601379-6B45-007E-012C-0774193457CB}"/>
              </a:ext>
            </a:extLst>
          </p:cNvPr>
          <p:cNvSpPr/>
          <p:nvPr/>
        </p:nvSpPr>
        <p:spPr>
          <a:xfrm>
            <a:off x="3984055" y="4416315"/>
            <a:ext cx="2567183" cy="1664970"/>
          </a:xfrm>
          <a:prstGeom prst="rect">
            <a:avLst/>
          </a:prstGeom>
          <a:noFill/>
          <a:ln w="25400" cap="flat" cmpd="sng" algn="ctr">
            <a:noFill/>
            <a:prstDash val="solid"/>
          </a:ln>
          <a:effectLst/>
        </p:spPr>
        <p:txBody>
          <a:bodyPr lIns="91440" tIns="45720" rIns="91440" bIns="4572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Arial" panose="020B0604020202020204" pitchFamily="34" charset="0"/>
              </a:rPr>
              <a:t>Enough decision rights to deliver?</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Arial" panose="020B0604020202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Arial" panose="020B0604020202020204" pitchFamily="34" charset="0"/>
              </a:rPr>
              <a:t>Resource/capability headwinds?</a:t>
            </a:r>
          </a:p>
        </p:txBody>
      </p:sp>
      <p:sp>
        <p:nvSpPr>
          <p:cNvPr id="69" name="Google Shape;61;p3">
            <a:extLst>
              <a:ext uri="{FF2B5EF4-FFF2-40B4-BE49-F238E27FC236}">
                <a16:creationId xmlns:a16="http://schemas.microsoft.com/office/drawing/2014/main" id="{E8405EC4-9C7F-6EAB-04D7-D645785B2EB3}"/>
              </a:ext>
            </a:extLst>
          </p:cNvPr>
          <p:cNvSpPr txBox="1"/>
          <p:nvPr/>
        </p:nvSpPr>
        <p:spPr>
          <a:xfrm>
            <a:off x="549451" y="1589881"/>
            <a:ext cx="2270896" cy="261590"/>
          </a:xfrm>
          <a:prstGeom prst="rect">
            <a:avLst/>
          </a:prstGeom>
          <a:noFill/>
          <a:ln>
            <a:noFill/>
          </a:ln>
        </p:spPr>
        <p:txBody>
          <a:bodyPr spcFirstLastPara="1" wrap="square" lIns="22850" tIns="22850" rIns="22850" bIns="22850" anchor="b" anchorCtr="0">
            <a:spAutoFit/>
          </a:bodyPr>
          <a:lstStyle/>
          <a:p>
            <a:pPr defTabSz="457200">
              <a:buClr>
                <a:srgbClr val="BA0C2F"/>
              </a:buClr>
              <a:buSzPts val="2400"/>
              <a:defRPr/>
            </a:pPr>
            <a:r>
              <a:rPr lang="en-US" sz="1400" b="1" kern="0" spc="-10" dirty="0">
                <a:latin typeface="Segoe UI" pitchFamily="34" charset="0"/>
                <a:ea typeface="Lato"/>
                <a:cs typeface="Arial" panose="020B0604020202020204" pitchFamily="34" charset="0"/>
                <a:sym typeface="Lato"/>
              </a:rPr>
              <a:t>Future Jobs to Be Done</a:t>
            </a:r>
            <a:endParaRPr lang="en-US" sz="800" b="1" kern="0" spc="-10" dirty="0">
              <a:latin typeface="Segoe UI" pitchFamily="34" charset="0"/>
              <a:cs typeface="Arial"/>
              <a:sym typeface="Arial"/>
            </a:endParaRPr>
          </a:p>
        </p:txBody>
      </p:sp>
      <p:sp>
        <p:nvSpPr>
          <p:cNvPr id="70" name="Google Shape;61;p3">
            <a:extLst>
              <a:ext uri="{FF2B5EF4-FFF2-40B4-BE49-F238E27FC236}">
                <a16:creationId xmlns:a16="http://schemas.microsoft.com/office/drawing/2014/main" id="{CD66B787-26B4-C547-1E1B-88742D534038}"/>
              </a:ext>
            </a:extLst>
          </p:cNvPr>
          <p:cNvSpPr txBox="1"/>
          <p:nvPr/>
        </p:nvSpPr>
        <p:spPr>
          <a:xfrm>
            <a:off x="549451" y="4225335"/>
            <a:ext cx="1760069" cy="261590"/>
          </a:xfrm>
          <a:prstGeom prst="rect">
            <a:avLst/>
          </a:prstGeom>
          <a:noFill/>
          <a:ln>
            <a:noFill/>
          </a:ln>
        </p:spPr>
        <p:txBody>
          <a:bodyPr spcFirstLastPara="1" wrap="square" lIns="22850" tIns="22850" rIns="22850" bIns="22850" anchor="b" anchorCtr="0">
            <a:spAutoFit/>
          </a:bodyPr>
          <a:lstStyle/>
          <a:p>
            <a:pPr defTabSz="457200">
              <a:buClr>
                <a:srgbClr val="BA0C2F"/>
              </a:buClr>
              <a:buSzPts val="2400"/>
              <a:defRPr/>
            </a:pPr>
            <a:r>
              <a:rPr lang="en-US" sz="1400" b="1" kern="0" spc="-10">
                <a:latin typeface="Segoe UI" pitchFamily="34" charset="0"/>
                <a:ea typeface="Lato"/>
                <a:cs typeface="Arial" panose="020B0604020202020204" pitchFamily="34" charset="0"/>
                <a:sym typeface="Lato"/>
              </a:rPr>
              <a:t>Superpowers</a:t>
            </a:r>
            <a:endParaRPr lang="en-US" sz="1400" b="1" kern="0" spc="-10">
              <a:latin typeface="Segoe UI" pitchFamily="34" charset="0"/>
              <a:cs typeface="Arial"/>
              <a:sym typeface="Arial"/>
            </a:endParaRPr>
          </a:p>
        </p:txBody>
      </p:sp>
      <p:graphicFrame>
        <p:nvGraphicFramePr>
          <p:cNvPr id="71" name="Table 70">
            <a:extLst>
              <a:ext uri="{FF2B5EF4-FFF2-40B4-BE49-F238E27FC236}">
                <a16:creationId xmlns:a16="http://schemas.microsoft.com/office/drawing/2014/main" id="{F6D1BC3F-7867-7B2A-9578-21E1F9266630}"/>
              </a:ext>
            </a:extLst>
          </p:cNvPr>
          <p:cNvGraphicFramePr>
            <a:graphicFrameLocks noGrp="1"/>
          </p:cNvGraphicFramePr>
          <p:nvPr>
            <p:extLst>
              <p:ext uri="{D42A27DB-BD31-4B8C-83A1-F6EECF244321}">
                <p14:modId xmlns:p14="http://schemas.microsoft.com/office/powerpoint/2010/main" val="3808545677"/>
              </p:ext>
            </p:extLst>
          </p:nvPr>
        </p:nvGraphicFramePr>
        <p:xfrm>
          <a:off x="524797" y="4608352"/>
          <a:ext cx="2982228" cy="1596589"/>
        </p:xfrm>
        <a:graphic>
          <a:graphicData uri="http://schemas.openxmlformats.org/drawingml/2006/table">
            <a:tbl>
              <a:tblPr firstRow="1" bandRow="1"/>
              <a:tblGrid>
                <a:gridCol w="328161">
                  <a:extLst>
                    <a:ext uri="{9D8B030D-6E8A-4147-A177-3AD203B41FA5}">
                      <a16:colId xmlns:a16="http://schemas.microsoft.com/office/drawing/2014/main" val="149923257"/>
                    </a:ext>
                  </a:extLst>
                </a:gridCol>
                <a:gridCol w="2654067">
                  <a:extLst>
                    <a:ext uri="{9D8B030D-6E8A-4147-A177-3AD203B41FA5}">
                      <a16:colId xmlns:a16="http://schemas.microsoft.com/office/drawing/2014/main" val="3218880438"/>
                    </a:ext>
                  </a:extLst>
                </a:gridCol>
              </a:tblGrid>
              <a:tr h="801848">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ctr" rtl="0">
                        <a:lnSpc>
                          <a:spcPct val="100000"/>
                        </a:lnSpc>
                        <a:spcBef>
                          <a:spcPts val="0"/>
                        </a:spcBef>
                        <a:spcAft>
                          <a:spcPts val="0"/>
                        </a:spcAft>
                        <a:buClr>
                          <a:schemeClr val="dk1"/>
                        </a:buClr>
                        <a:buSzPts val="2000"/>
                        <a:buFont typeface="Arial"/>
                        <a:buNone/>
                      </a:pPr>
                      <a:r>
                        <a:rPr lang="en-US" sz="1000" b="1" u="none" strike="noStrike" cap="none">
                          <a:solidFill>
                            <a:schemeClr val="tx1">
                              <a:lumMod val="50000"/>
                              <a:lumOff val="50000"/>
                            </a:schemeClr>
                          </a:solidFill>
                          <a:latin typeface="Arial" pitchFamily="34" charset="0"/>
                          <a:ea typeface="Lato"/>
                          <a:cs typeface="Lato"/>
                          <a:sym typeface="Lato"/>
                        </a:rPr>
                        <a:t>1</a:t>
                      </a:r>
                      <a:endParaRPr sz="1000" b="1">
                        <a:solidFill>
                          <a:schemeClr val="tx1">
                            <a:lumMod val="50000"/>
                            <a:lumOff val="50000"/>
                          </a:schemeClr>
                        </a:solidFill>
                        <a:latin typeface="Arial" pitchFamily="34" charset="0"/>
                        <a:ea typeface="Lato"/>
                        <a:cs typeface="Lato"/>
                      </a:endParaRPr>
                    </a:p>
                  </a:txBody>
                  <a:tcPr marL="23400" marR="23400" marT="0" marB="0"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kumimoji="0" lang="en-US" sz="1000" b="0" i="0" u="none" strike="noStrike" kern="1200" cap="none" spc="0" normalizeH="0" baseline="0" noProof="0">
                          <a:ln>
                            <a:noFill/>
                          </a:ln>
                          <a:solidFill>
                            <a:prstClr val="black"/>
                          </a:solidFill>
                          <a:effectLst/>
                          <a:uLnTx/>
                          <a:uFillTx/>
                          <a:latin typeface="Arial" pitchFamily="34" charset="0"/>
                          <a:ea typeface="Lato"/>
                          <a:cs typeface="Lato"/>
                        </a:rPr>
                        <a:t>Outstanding collaborator with business leaders, </a:t>
                      </a:r>
                      <a:r>
                        <a:rPr lang="en-US" sz="1000" b="0" i="0" u="none" strike="noStrike" kern="1200" cap="none" spc="0" normalizeH="0" baseline="0" noProof="0">
                          <a:ln>
                            <a:noFill/>
                          </a:ln>
                          <a:solidFill>
                            <a:prstClr val="black"/>
                          </a:solidFill>
                          <a:effectLst/>
                          <a:uLnTx/>
                          <a:uFillTx/>
                          <a:latin typeface="Arial" pitchFamily="34" charset="0"/>
                          <a:ea typeface="Lato"/>
                          <a:cs typeface="Lato"/>
                        </a:rPr>
                        <a:t>providing expert advice to impact commercial</a:t>
                      </a:r>
                      <a:r>
                        <a:rPr kumimoji="0" lang="en-US" sz="1000" b="0" i="0" u="none" strike="noStrike" kern="1200" cap="none" spc="0" normalizeH="0" baseline="0" noProof="0">
                          <a:ln>
                            <a:noFill/>
                          </a:ln>
                          <a:solidFill>
                            <a:prstClr val="black"/>
                          </a:solidFill>
                          <a:effectLst/>
                          <a:uLnTx/>
                          <a:uFillTx/>
                          <a:latin typeface="Arial" pitchFamily="34" charset="0"/>
                          <a:ea typeface="Lato"/>
                          <a:cs typeface="Lato"/>
                        </a:rPr>
                        <a:t> and operational goals.</a:t>
                      </a:r>
                    </a:p>
                  </a:txBody>
                  <a:tcPr marL="25977" marR="25977" marT="14288" marB="14288"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3599034"/>
                  </a:ext>
                </a:extLst>
              </a:tr>
              <a:tr h="794741">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ctr" rtl="0">
                        <a:lnSpc>
                          <a:spcPct val="100000"/>
                        </a:lnSpc>
                        <a:spcBef>
                          <a:spcPts val="0"/>
                        </a:spcBef>
                        <a:spcAft>
                          <a:spcPts val="0"/>
                        </a:spcAft>
                        <a:buClr>
                          <a:schemeClr val="dk1"/>
                        </a:buClr>
                        <a:buSzPts val="2000"/>
                        <a:buFont typeface="Arial"/>
                        <a:buNone/>
                      </a:pPr>
                      <a:r>
                        <a:rPr lang="en-US" sz="1000" b="1">
                          <a:solidFill>
                            <a:schemeClr val="tx1">
                              <a:lumMod val="50000"/>
                              <a:lumOff val="50000"/>
                            </a:schemeClr>
                          </a:solidFill>
                          <a:latin typeface="Arial" pitchFamily="34" charset="0"/>
                          <a:ea typeface="Lato"/>
                          <a:cs typeface="Lato"/>
                        </a:rPr>
                        <a:t>2</a:t>
                      </a:r>
                      <a:endParaRPr sz="1000" b="1">
                        <a:solidFill>
                          <a:schemeClr val="tx1">
                            <a:lumMod val="50000"/>
                            <a:lumOff val="50000"/>
                          </a:schemeClr>
                        </a:solidFill>
                        <a:latin typeface="Arial" pitchFamily="34" charset="0"/>
                        <a:ea typeface="Lato"/>
                        <a:cs typeface="Lato"/>
                      </a:endParaRPr>
                    </a:p>
                  </a:txBody>
                  <a:tcPr marL="23400" marR="23400" marT="0" marB="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1000" b="0" i="0" u="none" strike="noStrike" kern="1200" cap="none" spc="0" normalizeH="0" baseline="0" noProof="0">
                          <a:ln>
                            <a:noFill/>
                          </a:ln>
                          <a:solidFill>
                            <a:prstClr val="black"/>
                          </a:solidFill>
                          <a:effectLst/>
                          <a:uLnTx/>
                          <a:uFillTx/>
                          <a:latin typeface="Arial" pitchFamily="34" charset="0"/>
                          <a:ea typeface="Lato"/>
                          <a:cs typeface="Lato"/>
                        </a:rPr>
                        <a:t>Continuously</a:t>
                      </a:r>
                      <a:r>
                        <a:rPr kumimoji="0" lang="en-US" sz="1000" b="0" i="0" u="none" strike="noStrike" kern="1200" cap="none" spc="0" normalizeH="0" baseline="0" noProof="0">
                          <a:ln>
                            <a:noFill/>
                          </a:ln>
                          <a:solidFill>
                            <a:prstClr val="black"/>
                          </a:solidFill>
                          <a:effectLst/>
                          <a:uLnTx/>
                          <a:uFillTx/>
                          <a:latin typeface="Arial" pitchFamily="34" charset="0"/>
                          <a:ea typeface="Lato"/>
                          <a:cs typeface="Lato"/>
                        </a:rPr>
                        <a:t> improving digital infrastructure and data quality, while driving future-focused digital products, services, and innovation</a:t>
                      </a:r>
                      <a:r>
                        <a:rPr lang="en-US" sz="1000" b="0" i="0" u="none" strike="noStrike" kern="1200" cap="none" spc="0" normalizeH="0" baseline="0" noProof="0">
                          <a:ln>
                            <a:noFill/>
                          </a:ln>
                          <a:solidFill>
                            <a:prstClr val="black"/>
                          </a:solidFill>
                          <a:effectLst/>
                          <a:uLnTx/>
                          <a:uFillTx/>
                          <a:latin typeface="Arial" pitchFamily="34" charset="0"/>
                          <a:ea typeface="Lato"/>
                          <a:cs typeface="Lato"/>
                        </a:rPr>
                        <a:t> leading to business growth</a:t>
                      </a:r>
                      <a:endParaRPr kumimoji="0" lang="en-US" sz="1000" b="0" i="0" u="none" strike="noStrike" kern="1200" cap="none" spc="0" normalizeH="0" baseline="0" noProof="0">
                        <a:ln>
                          <a:noFill/>
                        </a:ln>
                        <a:solidFill>
                          <a:prstClr val="black"/>
                        </a:solidFill>
                        <a:effectLst/>
                        <a:uLnTx/>
                        <a:uFillTx/>
                        <a:latin typeface="Arial" pitchFamily="34" charset="0"/>
                        <a:ea typeface="Lato"/>
                        <a:cs typeface="Lato"/>
                      </a:endParaRPr>
                    </a:p>
                  </a:txBody>
                  <a:tcPr marL="25977" marR="25977" marT="14288" marB="14288"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58033297"/>
                  </a:ext>
                </a:extLst>
              </a:tr>
            </a:tbl>
          </a:graphicData>
        </a:graphic>
      </p:graphicFrame>
      <p:graphicFrame>
        <p:nvGraphicFramePr>
          <p:cNvPr id="72" name="Google Shape;302;p6">
            <a:extLst>
              <a:ext uri="{FF2B5EF4-FFF2-40B4-BE49-F238E27FC236}">
                <a16:creationId xmlns:a16="http://schemas.microsoft.com/office/drawing/2014/main" id="{3ABEB660-6908-2B5D-1A87-B95E84D0E2B2}"/>
              </a:ext>
            </a:extLst>
          </p:cNvPr>
          <p:cNvGraphicFramePr/>
          <p:nvPr>
            <p:extLst>
              <p:ext uri="{D42A27DB-BD31-4B8C-83A1-F6EECF244321}">
                <p14:modId xmlns:p14="http://schemas.microsoft.com/office/powerpoint/2010/main" val="680450499"/>
              </p:ext>
            </p:extLst>
          </p:nvPr>
        </p:nvGraphicFramePr>
        <p:xfrm>
          <a:off x="532810" y="1896082"/>
          <a:ext cx="2957575" cy="2215207"/>
        </p:xfrm>
        <a:graphic>
          <a:graphicData uri="http://schemas.openxmlformats.org/drawingml/2006/table">
            <a:tbl>
              <a:tblPr firstRow="1" bandRow="1">
                <a:noFill/>
              </a:tblPr>
              <a:tblGrid>
                <a:gridCol w="208280">
                  <a:extLst>
                    <a:ext uri="{9D8B030D-6E8A-4147-A177-3AD203B41FA5}">
                      <a16:colId xmlns:a16="http://schemas.microsoft.com/office/drawing/2014/main" val="20000"/>
                    </a:ext>
                  </a:extLst>
                </a:gridCol>
                <a:gridCol w="488523">
                  <a:extLst>
                    <a:ext uri="{9D8B030D-6E8A-4147-A177-3AD203B41FA5}">
                      <a16:colId xmlns:a16="http://schemas.microsoft.com/office/drawing/2014/main" val="20001"/>
                    </a:ext>
                  </a:extLst>
                </a:gridCol>
                <a:gridCol w="2260772">
                  <a:extLst>
                    <a:ext uri="{9D8B030D-6E8A-4147-A177-3AD203B41FA5}">
                      <a16:colId xmlns:a16="http://schemas.microsoft.com/office/drawing/2014/main" val="20002"/>
                    </a:ext>
                  </a:extLst>
                </a:gridCol>
              </a:tblGrid>
              <a:tr h="623225">
                <a:tc>
                  <a:txBody>
                    <a:bodyPr/>
                    <a:lstStyle/>
                    <a:p>
                      <a:pPr algn="l" rtl="0" fontAlgn="base">
                        <a:lnSpc>
                          <a:spcPts val="900"/>
                        </a:lnSpc>
                        <a:buNone/>
                      </a:pPr>
                      <a:r>
                        <a:rPr lang="en-US" sz="1000" b="1" i="0">
                          <a:solidFill>
                            <a:srgbClr val="1D1D1D"/>
                          </a:solidFill>
                          <a:effectLst/>
                          <a:latin typeface="Arial" pitchFamily="34" charset="0"/>
                          <a:ea typeface="Lato" panose="020F0502020204030203" pitchFamily="34" charset="0"/>
                          <a:cs typeface="Lato" panose="020F0502020204030203" pitchFamily="34" charset="0"/>
                        </a:rPr>
                        <a:t>1</a:t>
                      </a:r>
                      <a:r>
                        <a:rPr lang="en-US" sz="1000" b="0" i="0">
                          <a:solidFill>
                            <a:srgbClr val="00C27A"/>
                          </a:solidFill>
                          <a:effectLst/>
                          <a:latin typeface="Arial" pitchFamily="34" charset="0"/>
                          <a:ea typeface="Lato" panose="020F0502020204030203" pitchFamily="34" charset="0"/>
                          <a:cs typeface="Lato" panose="020F0502020204030203" pitchFamily="34" charset="0"/>
                        </a:rPr>
                        <a:t>​</a:t>
                      </a:r>
                    </a:p>
                  </a:txBody>
                  <a:tcPr anchor="ctr">
                    <a:lnL w="9525" cap="flat" cmpd="sng">
                      <a:noFill/>
                      <a:prstDash val="solid"/>
                      <a:round/>
                      <a:headEnd type="none" w="sm" len="sm"/>
                      <a:tailEnd type="none" w="sm" len="sm"/>
                    </a:lnL>
                    <a:lnR w="9525" cap="flat" cmpd="sng" algn="ctr">
                      <a:noFill/>
                      <a:prstDash val="solid"/>
                      <a:round/>
                      <a:headEnd type="none" w="sm" len="sm"/>
                      <a:tailEnd type="none" w="sm" len="sm"/>
                    </a:lnR>
                    <a:lnT w="127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a:latin typeface="Arial" pitchFamily="34" charset="0"/>
                          <a:ea typeface="Lato" panose="020F0502020204030203" pitchFamily="34" charset="0"/>
                          <a:cs typeface="Lato" panose="020F0502020204030203" pitchFamily="34" charset="0"/>
                        </a:rPr>
                        <a:t>30%</a:t>
                      </a: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127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lvl="0">
                        <a:defRPr/>
                      </a:pPr>
                      <a:r>
                        <a:rPr lang="en-US" sz="1200" b="1">
                          <a:solidFill>
                            <a:srgbClr val="1D1D1D"/>
                          </a:solidFill>
                          <a:latin typeface="Arial" pitchFamily="34" charset="0"/>
                          <a:ea typeface="Lato" panose="020F0502020204030203" pitchFamily="34" charset="0"/>
                          <a:cs typeface="Lato" panose="020F0502020204030203" pitchFamily="34" charset="0"/>
                        </a:rPr>
                        <a:t>Continuous Improvement of Infrastructure</a:t>
                      </a:r>
                      <a:endPar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27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75951">
                <a:tc>
                  <a:txBody>
                    <a:bodyPr/>
                    <a:lstStyle/>
                    <a:p>
                      <a:pPr algn="l" rtl="0" fontAlgn="base">
                        <a:lnSpc>
                          <a:spcPts val="900"/>
                        </a:lnSpc>
                        <a:buNone/>
                      </a:pPr>
                      <a:r>
                        <a:rPr lang="en-US" sz="1000" b="1" i="0">
                          <a:solidFill>
                            <a:srgbClr val="1D1D1D"/>
                          </a:solidFill>
                          <a:effectLst/>
                          <a:latin typeface="Arial" pitchFamily="34" charset="0"/>
                          <a:ea typeface="Lato" panose="020F0502020204030203" pitchFamily="34" charset="0"/>
                          <a:cs typeface="Lato" panose="020F0502020204030203" pitchFamily="34" charset="0"/>
                        </a:rPr>
                        <a:t>2</a:t>
                      </a:r>
                      <a:r>
                        <a:rPr lang="en-US" sz="1000" b="0" i="0">
                          <a:solidFill>
                            <a:srgbClr val="00C27A"/>
                          </a:solidFill>
                          <a:effectLst/>
                          <a:latin typeface="Arial" pitchFamily="34" charset="0"/>
                          <a:ea typeface="Lato" panose="020F0502020204030203" pitchFamily="34" charset="0"/>
                          <a:cs typeface="Lato" panose="020F0502020204030203" pitchFamily="34" charset="0"/>
                        </a:rPr>
                        <a:t>​</a:t>
                      </a:r>
                    </a:p>
                  </a:txBody>
                  <a:tcPr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a:latin typeface="Arial" pitchFamily="34" charset="0"/>
                          <a:ea typeface="Lato" panose="020F0502020204030203" pitchFamily="34" charset="0"/>
                          <a:cs typeface="Lato" panose="020F0502020204030203" pitchFamily="34" charset="0"/>
                        </a:rPr>
                        <a:t>35%</a:t>
                      </a: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rPr>
                        <a:t>Digital Transformation of Core Processes</a:t>
                      </a: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1703376"/>
                  </a:ext>
                </a:extLst>
              </a:tr>
              <a:tr h="475951">
                <a:tc>
                  <a:txBody>
                    <a:bodyPr/>
                    <a:lstStyle/>
                    <a:p>
                      <a:pPr algn="l" rtl="0" fontAlgn="base">
                        <a:lnSpc>
                          <a:spcPts val="900"/>
                        </a:lnSpc>
                        <a:buNone/>
                      </a:pPr>
                      <a:r>
                        <a:rPr lang="en-US" sz="1000" b="1" i="0">
                          <a:solidFill>
                            <a:srgbClr val="1D1D1D"/>
                          </a:solidFill>
                          <a:effectLst/>
                          <a:latin typeface="Arial" pitchFamily="34" charset="0"/>
                          <a:ea typeface="Lato" panose="020F0502020204030203" pitchFamily="34" charset="0"/>
                          <a:cs typeface="Lato" panose="020F0502020204030203" pitchFamily="34" charset="0"/>
                        </a:rPr>
                        <a:t>3</a:t>
                      </a:r>
                      <a:r>
                        <a:rPr lang="en-US" sz="1000" b="0" i="0">
                          <a:solidFill>
                            <a:srgbClr val="00C27A"/>
                          </a:solidFill>
                          <a:effectLst/>
                          <a:latin typeface="Arial" pitchFamily="34" charset="0"/>
                          <a:ea typeface="Lato" panose="020F0502020204030203" pitchFamily="34" charset="0"/>
                          <a:cs typeface="Lato" panose="020F0502020204030203" pitchFamily="34" charset="0"/>
                        </a:rPr>
                        <a:t>​</a:t>
                      </a:r>
                    </a:p>
                  </a:txBody>
                  <a:tcPr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a:latin typeface="Arial" pitchFamily="34" charset="0"/>
                          <a:ea typeface="Lato" panose="020F0502020204030203" pitchFamily="34" charset="0"/>
                          <a:cs typeface="Lato" panose="020F0502020204030203" pitchFamily="34" charset="0"/>
                        </a:rPr>
                        <a:t>15%</a:t>
                      </a: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rPr>
                        <a:t>Digital Innovation for New Products, Services, and Revenue Streams</a:t>
                      </a: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62063259"/>
                  </a:ext>
                </a:extLst>
              </a:tr>
              <a:tr h="475951">
                <a:tc>
                  <a:txBody>
                    <a:bodyPr/>
                    <a:lstStyle/>
                    <a:p>
                      <a:pPr algn="l" rtl="0" fontAlgn="base">
                        <a:lnSpc>
                          <a:spcPts val="900"/>
                        </a:lnSpc>
                        <a:buNone/>
                      </a:pPr>
                      <a:r>
                        <a:rPr lang="en-US" sz="1000" b="1" i="0">
                          <a:solidFill>
                            <a:srgbClr val="1D1D1D"/>
                          </a:solidFill>
                          <a:effectLst/>
                          <a:latin typeface="Arial" pitchFamily="34" charset="0"/>
                          <a:ea typeface="Lato" panose="020F0502020204030203" pitchFamily="34" charset="0"/>
                          <a:cs typeface="Lato" panose="020F0502020204030203" pitchFamily="34" charset="0"/>
                        </a:rPr>
                        <a:t>4</a:t>
                      </a:r>
                      <a:r>
                        <a:rPr lang="en-US" sz="1000" b="0" i="0">
                          <a:solidFill>
                            <a:srgbClr val="00C27A"/>
                          </a:solidFill>
                          <a:effectLst/>
                          <a:latin typeface="Arial" pitchFamily="34" charset="0"/>
                          <a:ea typeface="Lato" panose="020F0502020204030203" pitchFamily="34" charset="0"/>
                          <a:cs typeface="Lato" panose="020F0502020204030203" pitchFamily="34" charset="0"/>
                        </a:rPr>
                        <a:t>​</a:t>
                      </a:r>
                    </a:p>
                  </a:txBody>
                  <a:tcPr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a:latin typeface="Arial" pitchFamily="34" charset="0"/>
                          <a:ea typeface="Lato" panose="020F0502020204030203" pitchFamily="34" charset="0"/>
                          <a:cs typeface="Lato" panose="020F0502020204030203" pitchFamily="34" charset="0"/>
                        </a:rPr>
                        <a:t>20%</a:t>
                      </a:r>
                    </a:p>
                  </a:txBody>
                  <a:tcPr marL="25977" marR="25977" marT="14288" marB="14288"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latin typeface="Arial" pitchFamily="34" charset="0"/>
                          <a:ea typeface="Lato" panose="020F0502020204030203" pitchFamily="34" charset="0"/>
                          <a:cs typeface="Lato" panose="020F0502020204030203" pitchFamily="34" charset="0"/>
                        </a:rPr>
                        <a:t>Major Platform &amp; Technology Upgrade</a:t>
                      </a:r>
                    </a:p>
                  </a:txBody>
                  <a:tcP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cxnSp>
        <p:nvCxnSpPr>
          <p:cNvPr id="73" name="Straight Connector 72">
            <a:extLst>
              <a:ext uri="{FF2B5EF4-FFF2-40B4-BE49-F238E27FC236}">
                <a16:creationId xmlns:a16="http://schemas.microsoft.com/office/drawing/2014/main" id="{69B0223E-02DD-F7B5-9AB2-41519FD6409E}"/>
              </a:ext>
            </a:extLst>
          </p:cNvPr>
          <p:cNvCxnSpPr>
            <a:cxnSpLocks/>
          </p:cNvCxnSpPr>
          <p:nvPr/>
        </p:nvCxnSpPr>
        <p:spPr>
          <a:xfrm>
            <a:off x="549451" y="1886532"/>
            <a:ext cx="295757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0562FB22-1144-C10D-ECE9-FF6BCE3865D8}"/>
              </a:ext>
            </a:extLst>
          </p:cNvPr>
          <p:cNvCxnSpPr>
            <a:cxnSpLocks/>
          </p:cNvCxnSpPr>
          <p:nvPr/>
        </p:nvCxnSpPr>
        <p:spPr>
          <a:xfrm>
            <a:off x="482961" y="4566566"/>
            <a:ext cx="2957574" cy="0"/>
          </a:xfrm>
          <a:prstGeom prst="line">
            <a:avLst/>
          </a:prstGeom>
        </p:spPr>
        <p:style>
          <a:lnRef idx="1">
            <a:schemeClr val="accent1"/>
          </a:lnRef>
          <a:fillRef idx="0">
            <a:schemeClr val="accent1"/>
          </a:fillRef>
          <a:effectRef idx="0">
            <a:schemeClr val="accent1"/>
          </a:effectRef>
          <a:fontRef idx="minor">
            <a:schemeClr val="tx1"/>
          </a:fontRef>
        </p:style>
      </p:cxnSp>
      <p:sp>
        <p:nvSpPr>
          <p:cNvPr id="75" name="Google Shape;420;p8">
            <a:extLst>
              <a:ext uri="{FF2B5EF4-FFF2-40B4-BE49-F238E27FC236}">
                <a16:creationId xmlns:a16="http://schemas.microsoft.com/office/drawing/2014/main" id="{C7A02CB5-53EF-BAE1-ADDB-6A78F4AAEE41}"/>
              </a:ext>
            </a:extLst>
          </p:cNvPr>
          <p:cNvSpPr>
            <a:spLocks noGrp="1"/>
          </p:cNvSpPr>
          <p:nvPr>
            <p:ph idx="1"/>
          </p:nvPr>
        </p:nvSpPr>
        <p:spPr>
          <a:xfrm>
            <a:off x="6770148" y="4124332"/>
            <a:ext cx="4039561" cy="1738917"/>
          </a:xfrm>
          <a:prstGeom prst="rect">
            <a:avLst/>
          </a:prstGeom>
          <a:noFill/>
          <a:ln>
            <a:noFill/>
          </a:ln>
        </p:spPr>
        <p:txBody>
          <a:bodyPr spcFirstLastPara="1" wrap="square" lIns="45713" tIns="22850" rIns="45713" bIns="22850" anchor="t" anchorCtr="0">
            <a:spAutoFit/>
          </a:bodyPr>
          <a:lstStyle/>
          <a:p>
            <a:pPr marL="171450" indent="-171450">
              <a:buBlip>
                <a:blip r:embed="rId4"/>
              </a:buBlip>
            </a:pPr>
            <a:r>
              <a:rPr lang="en-US" sz="1100" b="1"/>
              <a:t>Decision authority: </a:t>
            </a:r>
            <a:r>
              <a:rPr lang="en-US" sz="1100"/>
              <a:t>Require delegated rights for platform standards and migration sequencing across markets.</a:t>
            </a:r>
          </a:p>
          <a:p>
            <a:pPr marL="171450" indent="-171450">
              <a:buBlip>
                <a:blip r:embed="rId4"/>
              </a:buBlip>
            </a:pPr>
            <a:r>
              <a:rPr lang="en-US" sz="1100" b="1"/>
              <a:t>Funding alignment: </a:t>
            </a:r>
            <a:r>
              <a:rPr lang="en-US" sz="1100"/>
              <a:t>Secure coordinated multi‑year funding across IT, commercial, and country budgets for transformation programs.</a:t>
            </a:r>
          </a:p>
          <a:p>
            <a:pPr marL="171450" indent="-171450">
              <a:buBlip>
                <a:blip r:embed="rId4"/>
              </a:buBlip>
            </a:pPr>
            <a:r>
              <a:rPr lang="en-US" sz="1100" b="1"/>
              <a:t>Talent constraints: </a:t>
            </a:r>
            <a:r>
              <a:rPr lang="en-US" sz="1100"/>
              <a:t>Address hiring and retention gaps in platform engineering, </a:t>
            </a:r>
            <a:r>
              <a:rPr lang="en-US" sz="1100" err="1"/>
              <a:t>MLOps</a:t>
            </a:r>
            <a:r>
              <a:rPr lang="en-US" sz="1100"/>
              <a:t>, and localized AI expertise.</a:t>
            </a:r>
          </a:p>
          <a:p>
            <a:pPr marL="171450" indent="-171450">
              <a:buBlip>
                <a:blip r:embed="rId4"/>
              </a:buBlip>
            </a:pPr>
            <a:r>
              <a:rPr lang="en-US" sz="1100" b="1"/>
              <a:t>Centralization balance: </a:t>
            </a:r>
            <a:r>
              <a:rPr lang="en-US" sz="1100"/>
              <a:t>Maintain centralized platform economics while enabling necessary market‑level customization.</a:t>
            </a:r>
          </a:p>
        </p:txBody>
      </p:sp>
      <p:sp>
        <p:nvSpPr>
          <p:cNvPr id="76" name="Google Shape;420;p8">
            <a:extLst>
              <a:ext uri="{FF2B5EF4-FFF2-40B4-BE49-F238E27FC236}">
                <a16:creationId xmlns:a16="http://schemas.microsoft.com/office/drawing/2014/main" id="{E6BBDA26-38E7-2258-1C19-146EC8DBAAF4}"/>
              </a:ext>
            </a:extLst>
          </p:cNvPr>
          <p:cNvSpPr txBox="1"/>
          <p:nvPr/>
        </p:nvSpPr>
        <p:spPr>
          <a:xfrm>
            <a:off x="6770148" y="1784479"/>
            <a:ext cx="4413730" cy="1569640"/>
          </a:xfrm>
          <a:prstGeom prst="rect">
            <a:avLst/>
          </a:prstGeom>
          <a:noFill/>
          <a:ln>
            <a:noFill/>
          </a:ln>
        </p:spPr>
        <p:txBody>
          <a:bodyPr spcFirstLastPara="1" wrap="square" lIns="45713" tIns="22850" rIns="45713" bIns="22850" anchor="t" anchorCtr="0">
            <a:spAutoFit/>
          </a:bodyPr>
          <a:lstStyle/>
          <a:p>
            <a:pPr marL="171450" indent="-171450">
              <a:buFont typeface="Arial" panose="020B0604020202020204" pitchFamily="34" charset="0"/>
              <a:buChar char="•"/>
            </a:pPr>
            <a:r>
              <a:rPr lang="en-US" sz="1100" b="1"/>
              <a:t>Cross‑market coordination: </a:t>
            </a:r>
            <a:r>
              <a:rPr lang="en-US" sz="1100"/>
              <a:t>Align product, platform, country, and regulator stakeholders across five markets under tight governance.</a:t>
            </a:r>
          </a:p>
          <a:p>
            <a:pPr marL="171450" indent="-171450">
              <a:buFont typeface="Arial" panose="020B0604020202020204" pitchFamily="34" charset="0"/>
              <a:buChar char="•"/>
            </a:pPr>
            <a:r>
              <a:rPr lang="en-US" sz="1100" b="1"/>
              <a:t>Platform scale risk: </a:t>
            </a:r>
            <a:r>
              <a:rPr lang="en-US" sz="1100"/>
              <a:t>Execute technically demanding upgrades to </a:t>
            </a:r>
            <a:r>
              <a:rPr lang="en-US" sz="1100" err="1"/>
              <a:t>SuperApp</a:t>
            </a:r>
            <a:r>
              <a:rPr lang="en-US" sz="1100"/>
              <a:t> core, payments, identity, and AI infra at 100M+ user scale.</a:t>
            </a:r>
          </a:p>
          <a:p>
            <a:pPr marL="171450" indent="-171450">
              <a:buFont typeface="Arial" panose="020B0604020202020204" pitchFamily="34" charset="0"/>
              <a:buChar char="•"/>
            </a:pPr>
            <a:r>
              <a:rPr lang="en-US" sz="1100" b="1"/>
              <a:t>Adoption &amp; localization: </a:t>
            </a:r>
            <a:r>
              <a:rPr lang="en-US" sz="1100"/>
              <a:t>Drive bundle and product adoption across diverse languages and customer segments.</a:t>
            </a:r>
          </a:p>
          <a:p>
            <a:pPr marL="171450" indent="-171450">
              <a:buFont typeface="Arial" panose="020B0604020202020204" pitchFamily="34" charset="0"/>
              <a:buChar char="•"/>
            </a:pPr>
            <a:r>
              <a:rPr lang="en-US" sz="1100" b="1"/>
              <a:t>Regulatory fragmentation: </a:t>
            </a:r>
            <a:r>
              <a:rPr lang="en-US" sz="1100"/>
              <a:t>Manage differing payments, data residency, and fintech/health rules that affect launches.</a:t>
            </a:r>
          </a:p>
        </p:txBody>
      </p:sp>
      <p:sp>
        <p:nvSpPr>
          <p:cNvPr id="77" name="Google Shape;425;p8">
            <a:extLst>
              <a:ext uri="{FF2B5EF4-FFF2-40B4-BE49-F238E27FC236}">
                <a16:creationId xmlns:a16="http://schemas.microsoft.com/office/drawing/2014/main" id="{ED94F271-F15F-400C-10DC-F5EB877BA13A}"/>
              </a:ext>
            </a:extLst>
          </p:cNvPr>
          <p:cNvSpPr/>
          <p:nvPr/>
        </p:nvSpPr>
        <p:spPr>
          <a:xfrm>
            <a:off x="6771511" y="3600305"/>
            <a:ext cx="4146063" cy="52959"/>
          </a:xfrm>
          <a:prstGeom prst="rect">
            <a:avLst/>
          </a:prstGeom>
          <a:gradFill>
            <a:gsLst>
              <a:gs pos="0">
                <a:srgbClr val="2B3A42"/>
              </a:gs>
              <a:gs pos="52000">
                <a:srgbClr val="FCB546"/>
              </a:gs>
              <a:gs pos="100000">
                <a:srgbClr val="00C27A"/>
              </a:gs>
            </a:gsLst>
            <a:lin ang="0" scaled="0"/>
          </a:gradFill>
          <a:ln>
            <a:noFill/>
          </a:ln>
        </p:spPr>
        <p:txBody>
          <a:bodyPr spcFirstLastPara="1" wrap="square" lIns="45713" tIns="22850" rIns="45713" bIns="22850" anchor="ctr" anchorCtr="0">
            <a:noAutofit/>
          </a:bodyPr>
          <a:lstStyle/>
          <a:p>
            <a:pPr algn="ctr">
              <a:buClr>
                <a:srgbClr val="FFFFFF"/>
              </a:buClr>
              <a:buSzPts val="3600"/>
              <a:buFont typeface="Arial"/>
              <a:buNone/>
              <a:defRPr/>
            </a:pPr>
            <a:endParaRPr>
              <a:solidFill>
                <a:srgbClr val="FFFFFF"/>
              </a:solidFill>
              <a:ea typeface="Calibri"/>
              <a:cs typeface="Calibri"/>
              <a:sym typeface="Calibri"/>
            </a:endParaRPr>
          </a:p>
        </p:txBody>
      </p:sp>
      <p:sp>
        <p:nvSpPr>
          <p:cNvPr id="79" name="Google Shape;425;p8">
            <a:extLst>
              <a:ext uri="{FF2B5EF4-FFF2-40B4-BE49-F238E27FC236}">
                <a16:creationId xmlns:a16="http://schemas.microsoft.com/office/drawing/2014/main" id="{ED1E005F-3753-2F12-7686-337630FE15BE}"/>
              </a:ext>
            </a:extLst>
          </p:cNvPr>
          <p:cNvSpPr/>
          <p:nvPr/>
        </p:nvSpPr>
        <p:spPr>
          <a:xfrm>
            <a:off x="6771511" y="6034112"/>
            <a:ext cx="4146063" cy="52959"/>
          </a:xfrm>
          <a:prstGeom prst="rect">
            <a:avLst/>
          </a:prstGeom>
          <a:gradFill>
            <a:gsLst>
              <a:gs pos="0">
                <a:srgbClr val="2B3A42"/>
              </a:gs>
              <a:gs pos="52000">
                <a:srgbClr val="FCB546"/>
              </a:gs>
              <a:gs pos="100000">
                <a:srgbClr val="00C27A"/>
              </a:gs>
            </a:gsLst>
            <a:lin ang="0" scaled="0"/>
          </a:gradFill>
          <a:ln>
            <a:noFill/>
          </a:ln>
        </p:spPr>
        <p:txBody>
          <a:bodyPr spcFirstLastPara="1" wrap="square" lIns="45713" tIns="22850" rIns="45713" bIns="22850" anchor="ctr" anchorCtr="0">
            <a:noAutofit/>
          </a:bodyPr>
          <a:lstStyle/>
          <a:p>
            <a:pPr algn="ctr">
              <a:buClr>
                <a:srgbClr val="FFFFFF"/>
              </a:buClr>
              <a:buSzPts val="3600"/>
              <a:buFont typeface="Arial"/>
              <a:buNone/>
              <a:defRPr/>
            </a:pPr>
            <a:endParaRPr>
              <a:solidFill>
                <a:srgbClr val="FFFFFF"/>
              </a:solidFill>
              <a:ea typeface="Calibri"/>
              <a:cs typeface="Calibri"/>
              <a:sym typeface="Calibri"/>
            </a:endParaRPr>
          </a:p>
        </p:txBody>
      </p:sp>
      <p:sp>
        <p:nvSpPr>
          <p:cNvPr id="81"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26</a:t>
            </a:fld>
            <a:endParaRPr lang="en-US"/>
          </a:p>
        </p:txBody>
      </p:sp>
      <p:grpSp>
        <p:nvGrpSpPr>
          <p:cNvPr id="4" name="Group 3">
            <a:extLst>
              <a:ext uri="{FF2B5EF4-FFF2-40B4-BE49-F238E27FC236}">
                <a16:creationId xmlns:a16="http://schemas.microsoft.com/office/drawing/2014/main" id="{13FF1DC8-418A-ED54-9D64-4CE04D0D4338}"/>
              </a:ext>
            </a:extLst>
          </p:cNvPr>
          <p:cNvGrpSpPr/>
          <p:nvPr/>
        </p:nvGrpSpPr>
        <p:grpSpPr>
          <a:xfrm>
            <a:off x="10403235" y="201614"/>
            <a:ext cx="410690" cy="410700"/>
            <a:chOff x="3506617" y="2730959"/>
            <a:chExt cx="1591098" cy="1591098"/>
          </a:xfrm>
        </p:grpSpPr>
        <p:sp>
          <p:nvSpPr>
            <p:cNvPr id="11" name="Rectangle: Rounded Corners 39">
              <a:extLst>
                <a:ext uri="{FF2B5EF4-FFF2-40B4-BE49-F238E27FC236}">
                  <a16:creationId xmlns:a16="http://schemas.microsoft.com/office/drawing/2014/main" id="{4C29BBFE-21AC-5B12-4E14-959656A994D3}"/>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3" name="Rectangle: Rounded Corners 54">
              <a:extLst>
                <a:ext uri="{FF2B5EF4-FFF2-40B4-BE49-F238E27FC236}">
                  <a16:creationId xmlns:a16="http://schemas.microsoft.com/office/drawing/2014/main" id="{1F842A4B-EBF9-1CFC-B525-33D5D7FB4EF8}"/>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4" name="Freeform 56" descr="Clipboard Partially Checked with solid fill">
              <a:extLst>
                <a:ext uri="{FF2B5EF4-FFF2-40B4-BE49-F238E27FC236}">
                  <a16:creationId xmlns:a16="http://schemas.microsoft.com/office/drawing/2014/main" id="{7DA00AE3-2B6C-E206-AB55-16F9B4A4ED6E}"/>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26" name="Group 25">
            <a:extLst>
              <a:ext uri="{FF2B5EF4-FFF2-40B4-BE49-F238E27FC236}">
                <a16:creationId xmlns:a16="http://schemas.microsoft.com/office/drawing/2014/main" id="{AB093876-15B7-84E9-3DD9-6B83C0F2A9CB}"/>
              </a:ext>
            </a:extLst>
          </p:cNvPr>
          <p:cNvGrpSpPr/>
          <p:nvPr/>
        </p:nvGrpSpPr>
        <p:grpSpPr>
          <a:xfrm>
            <a:off x="11557682" y="191038"/>
            <a:ext cx="410690" cy="410700"/>
            <a:chOff x="8874309" y="3009260"/>
            <a:chExt cx="1591098" cy="1591098"/>
          </a:xfrm>
        </p:grpSpPr>
        <p:grpSp>
          <p:nvGrpSpPr>
            <p:cNvPr id="27" name="Group 26">
              <a:extLst>
                <a:ext uri="{FF2B5EF4-FFF2-40B4-BE49-F238E27FC236}">
                  <a16:creationId xmlns:a16="http://schemas.microsoft.com/office/drawing/2014/main" id="{E09AAAC8-2692-4DA3-99DB-445B3AB65B3A}"/>
                </a:ext>
              </a:extLst>
            </p:cNvPr>
            <p:cNvGrpSpPr/>
            <p:nvPr/>
          </p:nvGrpSpPr>
          <p:grpSpPr>
            <a:xfrm>
              <a:off x="8874309" y="3009260"/>
              <a:ext cx="1591098" cy="1591098"/>
              <a:chOff x="9350370" y="2760976"/>
              <a:chExt cx="1591098" cy="1591098"/>
            </a:xfrm>
          </p:grpSpPr>
          <p:sp>
            <p:nvSpPr>
              <p:cNvPr id="29" name="Rectangle: Rounded Corners 39">
                <a:extLst>
                  <a:ext uri="{FF2B5EF4-FFF2-40B4-BE49-F238E27FC236}">
                    <a16:creationId xmlns:a16="http://schemas.microsoft.com/office/drawing/2014/main" id="{FF759A1C-B407-2DD2-87D5-C2B3693B25EC}"/>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0" name="Rectangle: Rounded Corners 54">
                <a:extLst>
                  <a:ext uri="{FF2B5EF4-FFF2-40B4-BE49-F238E27FC236}">
                    <a16:creationId xmlns:a16="http://schemas.microsoft.com/office/drawing/2014/main" id="{B81F261C-ED52-781A-1050-ADA3B55FF48F}"/>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8" name="Picture 51" descr="Map with pin with solid fill">
              <a:extLst>
                <a:ext uri="{FF2B5EF4-FFF2-40B4-BE49-F238E27FC236}">
                  <a16:creationId xmlns:a16="http://schemas.microsoft.com/office/drawing/2014/main" id="{E908EDAC-C3BA-6D41-EDC2-1124E33C4139}"/>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1" name="Group 30">
            <a:extLst>
              <a:ext uri="{FF2B5EF4-FFF2-40B4-BE49-F238E27FC236}">
                <a16:creationId xmlns:a16="http://schemas.microsoft.com/office/drawing/2014/main" id="{ED42F69C-BEED-0E42-6E05-D3FFBDED2E34}"/>
              </a:ext>
            </a:extLst>
          </p:cNvPr>
          <p:cNvGrpSpPr/>
          <p:nvPr/>
        </p:nvGrpSpPr>
        <p:grpSpPr>
          <a:xfrm>
            <a:off x="10997361" y="200955"/>
            <a:ext cx="410690" cy="410700"/>
            <a:chOff x="5303120" y="3009260"/>
            <a:chExt cx="1591098" cy="1591098"/>
          </a:xfrm>
        </p:grpSpPr>
        <p:grpSp>
          <p:nvGrpSpPr>
            <p:cNvPr id="32" name="Group 31">
              <a:extLst>
                <a:ext uri="{FF2B5EF4-FFF2-40B4-BE49-F238E27FC236}">
                  <a16:creationId xmlns:a16="http://schemas.microsoft.com/office/drawing/2014/main" id="{205D528E-9057-E89F-DD60-80630710CCFD}"/>
                </a:ext>
              </a:extLst>
            </p:cNvPr>
            <p:cNvGrpSpPr/>
            <p:nvPr/>
          </p:nvGrpSpPr>
          <p:grpSpPr>
            <a:xfrm>
              <a:off x="5303120" y="3009260"/>
              <a:ext cx="1591098" cy="1591098"/>
              <a:chOff x="6428492" y="2760976"/>
              <a:chExt cx="1591098" cy="1591098"/>
            </a:xfrm>
          </p:grpSpPr>
          <p:sp>
            <p:nvSpPr>
              <p:cNvPr id="34" name="Rectangle: Rounded Corners 39">
                <a:extLst>
                  <a:ext uri="{FF2B5EF4-FFF2-40B4-BE49-F238E27FC236}">
                    <a16:creationId xmlns:a16="http://schemas.microsoft.com/office/drawing/2014/main" id="{8F9D43A1-79E5-CA8C-EF37-4567DB689D29}"/>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5" name="Rectangle: Rounded Corners 54">
                <a:extLst>
                  <a:ext uri="{FF2B5EF4-FFF2-40B4-BE49-F238E27FC236}">
                    <a16:creationId xmlns:a16="http://schemas.microsoft.com/office/drawing/2014/main" id="{300D2DE6-5969-A5F6-424A-4E48778EC33D}"/>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3" name="Graphic 27" descr="Target Audience with solid fill">
              <a:extLst>
                <a:ext uri="{FF2B5EF4-FFF2-40B4-BE49-F238E27FC236}">
                  <a16:creationId xmlns:a16="http://schemas.microsoft.com/office/drawing/2014/main" id="{8BD61536-050A-4C06-742B-E9EC8D1278DD}"/>
                </a:ext>
              </a:extLst>
            </p:cNvPr>
            <p:cNvPicPr>
              <a:picLocks noChangeAspect="1"/>
            </p:cNvPicPr>
            <p:nvPr/>
          </p:nvPicPr>
          <p:blipFill>
            <a:blip r:embed="rId7">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6" name="TextBox 35">
            <a:extLst>
              <a:ext uri="{FF2B5EF4-FFF2-40B4-BE49-F238E27FC236}">
                <a16:creationId xmlns:a16="http://schemas.microsoft.com/office/drawing/2014/main" id="{9E9E898A-B9E7-534E-159A-914225E976B4}"/>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7" name="TextBox 36">
            <a:extLst>
              <a:ext uri="{FF2B5EF4-FFF2-40B4-BE49-F238E27FC236}">
                <a16:creationId xmlns:a16="http://schemas.microsoft.com/office/drawing/2014/main" id="{DF19C398-817A-281B-FCD3-19D406BD9044}"/>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8" name="TextBox 37">
            <a:extLst>
              <a:ext uri="{FF2B5EF4-FFF2-40B4-BE49-F238E27FC236}">
                <a16:creationId xmlns:a16="http://schemas.microsoft.com/office/drawing/2014/main" id="{06884E95-DDF2-D077-2DDA-1851D672523A}"/>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9" name="Rectangle 38">
            <a:extLst>
              <a:ext uri="{FF2B5EF4-FFF2-40B4-BE49-F238E27FC236}">
                <a16:creationId xmlns:a16="http://schemas.microsoft.com/office/drawing/2014/main" id="{D1C2FA9D-071D-3EEB-503D-B9752214F07C}"/>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1528220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1">
            <a:extLst>
              <a:ext uri="{FF2B5EF4-FFF2-40B4-BE49-F238E27FC236}">
                <a16:creationId xmlns:a16="http://schemas.microsoft.com/office/drawing/2014/main" id="{F30E660A-F4BC-990B-1232-C6AE10D09981}"/>
              </a:ext>
            </a:extLst>
          </p:cNvPr>
          <p:cNvSpPr txBox="1">
            <a:spLocks/>
          </p:cNvSpPr>
          <p:nvPr/>
        </p:nvSpPr>
        <p:spPr>
          <a:xfrm>
            <a:off x="726539" y="308795"/>
            <a:ext cx="11303879" cy="456878"/>
          </a:xfrm>
          <a:prstGeom prst="rect">
            <a:avLst/>
          </a:prstGeom>
        </p:spPr>
        <p:txBody>
          <a:bodyPr lIns="91440" tIns="45720" rIns="91440" bIns="45720"/>
          <a:lstStyle>
            <a:lvl1pPr marL="0" indent="0" algn="l" defTabSz="914400" rtl="0" eaLnBrk="1" latinLnBrk="0" hangingPunct="1">
              <a:lnSpc>
                <a:spcPct val="90000"/>
              </a:lnSpc>
              <a:spcBef>
                <a:spcPts val="1000"/>
              </a:spcBef>
              <a:buFont typeface="Arial" panose="020B0604020202020204" pitchFamily="34" charset="0"/>
              <a:buNone/>
              <a:defRPr sz="2800" i="0" kern="1200" spc="-10">
                <a:solidFill>
                  <a:schemeClr val="tx1"/>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mj-lt"/>
              </a:rPr>
              <a:t>SUPERPOWERS SUMMARY</a:t>
            </a:r>
          </a:p>
        </p:txBody>
      </p:sp>
      <p:sp>
        <p:nvSpPr>
          <p:cNvPr id="9" name="Text Placeholder 2">
            <a:extLst>
              <a:ext uri="{FF2B5EF4-FFF2-40B4-BE49-F238E27FC236}">
                <a16:creationId xmlns:a16="http://schemas.microsoft.com/office/drawing/2014/main" id="{C2BFE398-C1B9-5884-9B40-033E0C397D3C}"/>
              </a:ext>
            </a:extLst>
          </p:cNvPr>
          <p:cNvSpPr txBox="1">
            <a:spLocks/>
          </p:cNvSpPr>
          <p:nvPr/>
        </p:nvSpPr>
        <p:spPr>
          <a:xfrm>
            <a:off x="898532" y="1360517"/>
            <a:ext cx="3632563" cy="1308533"/>
          </a:xfrm>
          <a:prstGeom prst="roundRect">
            <a:avLst/>
          </a:prstGeom>
          <a:solidFill>
            <a:srgbClr val="281A42"/>
          </a:solidFill>
        </p:spPr>
        <p:txBody>
          <a:bodyPr lIns="91440" tIns="45720" rIns="91440" bIns="4572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b="1" spc="-10">
                <a:solidFill>
                  <a:schemeClr val="bg1"/>
                </a:solidFill>
                <a:latin typeface="Segoe UI" pitchFamily="34" charset="0"/>
              </a:rPr>
              <a:t>Key Points</a:t>
            </a:r>
            <a:endParaRPr lang="en-US" sz="3200" spc="-10">
              <a:solidFill>
                <a:schemeClr val="bg1"/>
              </a:solidFill>
              <a:latin typeface="Arial" pitchFamily="34" charset="0"/>
            </a:endParaRPr>
          </a:p>
        </p:txBody>
      </p:sp>
      <p:grpSp>
        <p:nvGrpSpPr>
          <p:cNvPr id="10" name="Group 9">
            <a:extLst>
              <a:ext uri="{FF2B5EF4-FFF2-40B4-BE49-F238E27FC236}">
                <a16:creationId xmlns:a16="http://schemas.microsoft.com/office/drawing/2014/main" id="{72DBDCB9-E796-BAEC-ED17-95DBD807DFB3}"/>
              </a:ext>
            </a:extLst>
          </p:cNvPr>
          <p:cNvGrpSpPr/>
          <p:nvPr/>
        </p:nvGrpSpPr>
        <p:grpSpPr>
          <a:xfrm>
            <a:off x="898532" y="3341428"/>
            <a:ext cx="10357377" cy="640080"/>
            <a:chOff x="680818" y="3254342"/>
            <a:chExt cx="10357377" cy="640080"/>
          </a:xfrm>
        </p:grpSpPr>
        <p:sp>
          <p:nvSpPr>
            <p:cNvPr id="11" name="Text Placeholder 2">
              <a:extLst>
                <a:ext uri="{FF2B5EF4-FFF2-40B4-BE49-F238E27FC236}">
                  <a16:creationId xmlns:a16="http://schemas.microsoft.com/office/drawing/2014/main" id="{C2CD8388-0D44-B54A-7A28-4BE49400F26E}"/>
                </a:ext>
              </a:extLst>
            </p:cNvPr>
            <p:cNvSpPr txBox="1">
              <a:spLocks/>
            </p:cNvSpPr>
            <p:nvPr/>
          </p:nvSpPr>
          <p:spPr>
            <a:xfrm>
              <a:off x="1288241" y="3254342"/>
              <a:ext cx="9749954" cy="640080"/>
            </a:xfrm>
            <a:prstGeom prst="rect">
              <a:avLst/>
            </a:prstGeom>
            <a:solidFill>
              <a:srgbClr val="281A42"/>
            </a:solidFill>
          </p:spPr>
          <p:txBody>
            <a:bodyPr lIns="18288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spc="-10" dirty="0">
                  <a:solidFill>
                    <a:schemeClr val="bg1"/>
                  </a:solidFill>
                  <a:latin typeface="Arial" pitchFamily="34" charset="0"/>
                </a:rPr>
                <a:t>Superpowers are not generic capabilities/competencies</a:t>
              </a:r>
              <a:endParaRPr lang="en-US" sz="1600" spc="-10" dirty="0">
                <a:solidFill>
                  <a:schemeClr val="bg1"/>
                </a:solidFill>
                <a:latin typeface="Arial" pitchFamily="34" charset="0"/>
              </a:endParaRPr>
            </a:p>
          </p:txBody>
        </p:sp>
        <p:sp>
          <p:nvSpPr>
            <p:cNvPr id="12" name="Rectangle 11">
              <a:extLst>
                <a:ext uri="{FF2B5EF4-FFF2-40B4-BE49-F238E27FC236}">
                  <a16:creationId xmlns:a16="http://schemas.microsoft.com/office/drawing/2014/main" id="{EA0E56EA-4980-BA0A-EC69-B2E8CA020E73}"/>
                </a:ext>
              </a:extLst>
            </p:cNvPr>
            <p:cNvSpPr/>
            <p:nvPr/>
          </p:nvSpPr>
          <p:spPr>
            <a:xfrm>
              <a:off x="680818" y="3254342"/>
              <a:ext cx="607423" cy="64008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solidFill>
                  <a:schemeClr val="bg1"/>
                </a:solidFill>
              </a:endParaRPr>
            </a:p>
          </p:txBody>
        </p:sp>
      </p:grpSp>
      <p:sp>
        <p:nvSpPr>
          <p:cNvPr id="15" name="Text Placeholder 2">
            <a:extLst>
              <a:ext uri="{FF2B5EF4-FFF2-40B4-BE49-F238E27FC236}">
                <a16:creationId xmlns:a16="http://schemas.microsoft.com/office/drawing/2014/main" id="{B0CD3C1A-747B-C919-5BFB-428E8747460F}"/>
              </a:ext>
            </a:extLst>
          </p:cNvPr>
          <p:cNvSpPr txBox="1">
            <a:spLocks/>
          </p:cNvSpPr>
          <p:nvPr/>
        </p:nvSpPr>
        <p:spPr>
          <a:xfrm>
            <a:off x="1505955" y="4205754"/>
            <a:ext cx="9749954" cy="640080"/>
          </a:xfrm>
          <a:prstGeom prst="rect">
            <a:avLst/>
          </a:prstGeom>
          <a:solidFill>
            <a:srgbClr val="281A42"/>
          </a:solidFill>
        </p:spPr>
        <p:txBody>
          <a:bodyPr lIns="18288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spc="-10">
                <a:solidFill>
                  <a:schemeClr val="bg1"/>
                </a:solidFill>
                <a:latin typeface="Arial" pitchFamily="34" charset="0"/>
              </a:rPr>
              <a:t>Superpowers are linked to JTBDs, and reflect what someone MUST have in order to mitigate the work and role risks </a:t>
            </a:r>
          </a:p>
        </p:txBody>
      </p:sp>
      <p:sp>
        <p:nvSpPr>
          <p:cNvPr id="16" name="Rectangle 15">
            <a:extLst>
              <a:ext uri="{FF2B5EF4-FFF2-40B4-BE49-F238E27FC236}">
                <a16:creationId xmlns:a16="http://schemas.microsoft.com/office/drawing/2014/main" id="{1EB16994-65A5-FA25-C687-6A8A990128DE}"/>
              </a:ext>
            </a:extLst>
          </p:cNvPr>
          <p:cNvSpPr/>
          <p:nvPr/>
        </p:nvSpPr>
        <p:spPr>
          <a:xfrm>
            <a:off x="898532" y="4205754"/>
            <a:ext cx="607423" cy="64008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grpSp>
        <p:nvGrpSpPr>
          <p:cNvPr id="17" name="Group 16">
            <a:extLst>
              <a:ext uri="{FF2B5EF4-FFF2-40B4-BE49-F238E27FC236}">
                <a16:creationId xmlns:a16="http://schemas.microsoft.com/office/drawing/2014/main" id="{E6E1EACC-432D-B185-7841-024775BE6D7A}"/>
              </a:ext>
            </a:extLst>
          </p:cNvPr>
          <p:cNvGrpSpPr/>
          <p:nvPr/>
        </p:nvGrpSpPr>
        <p:grpSpPr>
          <a:xfrm>
            <a:off x="898532" y="5070080"/>
            <a:ext cx="10357377" cy="640080"/>
            <a:chOff x="680818" y="3254342"/>
            <a:chExt cx="10357377" cy="640080"/>
          </a:xfrm>
        </p:grpSpPr>
        <p:sp>
          <p:nvSpPr>
            <p:cNvPr id="18" name="Text Placeholder 2">
              <a:extLst>
                <a:ext uri="{FF2B5EF4-FFF2-40B4-BE49-F238E27FC236}">
                  <a16:creationId xmlns:a16="http://schemas.microsoft.com/office/drawing/2014/main" id="{5F97BC63-0326-9C29-6FF2-74E21DF2D896}"/>
                </a:ext>
              </a:extLst>
            </p:cNvPr>
            <p:cNvSpPr txBox="1">
              <a:spLocks/>
            </p:cNvSpPr>
            <p:nvPr/>
          </p:nvSpPr>
          <p:spPr>
            <a:xfrm>
              <a:off x="1288241" y="3254342"/>
              <a:ext cx="9749954" cy="640080"/>
            </a:xfrm>
            <a:prstGeom prst="rect">
              <a:avLst/>
            </a:prstGeom>
            <a:solidFill>
              <a:srgbClr val="281A42"/>
            </a:solidFill>
          </p:spPr>
          <p:txBody>
            <a:bodyPr lIns="18288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spc="-10">
                  <a:solidFill>
                    <a:schemeClr val="bg1"/>
                  </a:solidFill>
                  <a:latin typeface="Arial" pitchFamily="34" charset="0"/>
                </a:rPr>
                <a:t>Superpowers should be specific enough that you can assess successors against them</a:t>
              </a:r>
              <a:endParaRPr lang="en-US" sz="1600" spc="-10">
                <a:solidFill>
                  <a:schemeClr val="bg1"/>
                </a:solidFill>
                <a:latin typeface="Arial" pitchFamily="34" charset="0"/>
              </a:endParaRPr>
            </a:p>
          </p:txBody>
        </p:sp>
        <p:sp>
          <p:nvSpPr>
            <p:cNvPr id="19" name="Rectangle 18">
              <a:extLst>
                <a:ext uri="{FF2B5EF4-FFF2-40B4-BE49-F238E27FC236}">
                  <a16:creationId xmlns:a16="http://schemas.microsoft.com/office/drawing/2014/main" id="{BA89EE47-ACC1-94E6-C77E-2222A193F4BE}"/>
                </a:ext>
              </a:extLst>
            </p:cNvPr>
            <p:cNvSpPr/>
            <p:nvPr/>
          </p:nvSpPr>
          <p:spPr>
            <a:xfrm>
              <a:off x="680818" y="3254342"/>
              <a:ext cx="607423" cy="64008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solidFill>
                  <a:schemeClr val="bg1"/>
                </a:solidFill>
              </a:endParaRPr>
            </a:p>
          </p:txBody>
        </p:sp>
      </p:grpSp>
      <p:pic>
        <p:nvPicPr>
          <p:cNvPr id="13" name="Graphic 12" descr="Target with solid fill">
            <a:extLst>
              <a:ext uri="{FF2B5EF4-FFF2-40B4-BE49-F238E27FC236}">
                <a16:creationId xmlns:a16="http://schemas.microsoft.com/office/drawing/2014/main" id="{88C193D5-BCB3-8FEF-6C76-9643A39ACBF9}"/>
              </a:ext>
            </a:extLst>
          </p:cNvPr>
          <p:cNvPicPr>
            <a:picLocks noChangeAspect="1"/>
          </p:cNvPicPr>
          <p:nvPr/>
        </p:nvPicPr>
        <p:blipFill>
          <a:blip r:embed="rId4">
            <a:duotone>
              <a:srgbClr val="765FFF"/>
              <a:srgbClr val="FFFFFF"/>
            </a:duotone>
          </a:blip>
          <a:srcRect/>
          <a:stretch/>
        </p:blipFill>
        <p:spPr>
          <a:xfrm>
            <a:off x="898532" y="5092940"/>
            <a:ext cx="594360" cy="594360"/>
          </a:xfrm>
          <a:prstGeom prst="rect">
            <a:avLst/>
          </a:prstGeom>
        </p:spPr>
      </p:pic>
      <p:pic>
        <p:nvPicPr>
          <p:cNvPr id="25" name="Graphic 24" descr="Link with solid fill">
            <a:extLst>
              <a:ext uri="{FF2B5EF4-FFF2-40B4-BE49-F238E27FC236}">
                <a16:creationId xmlns:a16="http://schemas.microsoft.com/office/drawing/2014/main" id="{E952D09C-0261-8C44-7817-49307C939F09}"/>
              </a:ext>
            </a:extLst>
          </p:cNvPr>
          <p:cNvPicPr>
            <a:picLocks noChangeAspect="1"/>
          </p:cNvPicPr>
          <p:nvPr/>
        </p:nvPicPr>
        <p:blipFill>
          <a:blip r:embed="rId5">
            <a:duotone>
              <a:srgbClr val="765FFF"/>
              <a:srgbClr val="FFFFFF"/>
            </a:duotone>
          </a:blip>
          <a:stretch>
            <a:fillRect/>
          </a:stretch>
        </p:blipFill>
        <p:spPr>
          <a:xfrm>
            <a:off x="882204" y="4205754"/>
            <a:ext cx="640080" cy="640080"/>
          </a:xfrm>
          <a:prstGeom prst="rect">
            <a:avLst/>
          </a:prstGeom>
        </p:spPr>
      </p:pic>
      <p:pic>
        <p:nvPicPr>
          <p:cNvPr id="2" name="Graphic 1" descr="Forbidden with solid fill">
            <a:extLst>
              <a:ext uri="{FF2B5EF4-FFF2-40B4-BE49-F238E27FC236}">
                <a16:creationId xmlns:a16="http://schemas.microsoft.com/office/drawing/2014/main" id="{E14ACC5E-FC83-7E9E-5721-2D2690BF0599}"/>
              </a:ext>
            </a:extLst>
          </p:cNvPr>
          <p:cNvPicPr>
            <a:picLocks noChangeAspect="1"/>
          </p:cNvPicPr>
          <p:nvPr/>
        </p:nvPicPr>
        <p:blipFill>
          <a:blip r:embed="rId6">
            <a:duotone>
              <a:srgbClr val="765FFF"/>
              <a:srgbClr val="FFFFFF"/>
            </a:duotone>
          </a:blip>
          <a:stretch>
            <a:fillRect/>
          </a:stretch>
        </p:blipFill>
        <p:spPr>
          <a:xfrm>
            <a:off x="908427" y="3366828"/>
            <a:ext cx="594360" cy="594360"/>
          </a:xfrm>
          <a:prstGeom prst="rect">
            <a:avLst/>
          </a:prstGeom>
        </p:spPr>
      </p:pic>
      <p:sp>
        <p:nvSpPr>
          <p:cNvPr id="44"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27</a:t>
            </a:fld>
            <a:endParaRPr lang="en-US"/>
          </a:p>
        </p:txBody>
      </p:sp>
      <p:grpSp>
        <p:nvGrpSpPr>
          <p:cNvPr id="3" name="Group 2">
            <a:extLst>
              <a:ext uri="{FF2B5EF4-FFF2-40B4-BE49-F238E27FC236}">
                <a16:creationId xmlns:a16="http://schemas.microsoft.com/office/drawing/2014/main" id="{A7C53148-07C1-B5E3-AFEF-BCDE1EFCB7BA}"/>
              </a:ext>
            </a:extLst>
          </p:cNvPr>
          <p:cNvGrpSpPr/>
          <p:nvPr/>
        </p:nvGrpSpPr>
        <p:grpSpPr>
          <a:xfrm>
            <a:off x="10403235" y="201614"/>
            <a:ext cx="410690" cy="410700"/>
            <a:chOff x="3506617" y="2730959"/>
            <a:chExt cx="1591098" cy="1591098"/>
          </a:xfrm>
        </p:grpSpPr>
        <p:sp>
          <p:nvSpPr>
            <p:cNvPr id="4" name="Rectangle: Rounded Corners 39">
              <a:extLst>
                <a:ext uri="{FF2B5EF4-FFF2-40B4-BE49-F238E27FC236}">
                  <a16:creationId xmlns:a16="http://schemas.microsoft.com/office/drawing/2014/main" id="{EB272658-CFF7-8D40-5D92-7069B74D7D33}"/>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 name="Rectangle: Rounded Corners 54">
              <a:extLst>
                <a:ext uri="{FF2B5EF4-FFF2-40B4-BE49-F238E27FC236}">
                  <a16:creationId xmlns:a16="http://schemas.microsoft.com/office/drawing/2014/main" id="{C0B6B4F4-E613-23EC-6D62-79258AC5BDAA}"/>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 name="Freeform 56" descr="Clipboard Partially Checked with solid fill">
              <a:extLst>
                <a:ext uri="{FF2B5EF4-FFF2-40B4-BE49-F238E27FC236}">
                  <a16:creationId xmlns:a16="http://schemas.microsoft.com/office/drawing/2014/main" id="{EFF8F02A-8BAC-34EC-6355-8E2F38171E8B}"/>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7"/>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8" name="Group 7">
            <a:extLst>
              <a:ext uri="{FF2B5EF4-FFF2-40B4-BE49-F238E27FC236}">
                <a16:creationId xmlns:a16="http://schemas.microsoft.com/office/drawing/2014/main" id="{C3A69C6C-DB6D-DA6E-F08D-E75B7C7E0C41}"/>
              </a:ext>
            </a:extLst>
          </p:cNvPr>
          <p:cNvGrpSpPr/>
          <p:nvPr/>
        </p:nvGrpSpPr>
        <p:grpSpPr>
          <a:xfrm>
            <a:off x="11557682" y="191038"/>
            <a:ext cx="410690" cy="410700"/>
            <a:chOff x="8874309" y="3009260"/>
            <a:chExt cx="1591098" cy="1591098"/>
          </a:xfrm>
        </p:grpSpPr>
        <p:grpSp>
          <p:nvGrpSpPr>
            <p:cNvPr id="14" name="Group 13">
              <a:extLst>
                <a:ext uri="{FF2B5EF4-FFF2-40B4-BE49-F238E27FC236}">
                  <a16:creationId xmlns:a16="http://schemas.microsoft.com/office/drawing/2014/main" id="{A42BB6FC-642D-EDD2-CD6E-F3FF01C211ED}"/>
                </a:ext>
              </a:extLst>
            </p:cNvPr>
            <p:cNvGrpSpPr/>
            <p:nvPr/>
          </p:nvGrpSpPr>
          <p:grpSpPr>
            <a:xfrm>
              <a:off x="8874309" y="3009260"/>
              <a:ext cx="1591098" cy="1591098"/>
              <a:chOff x="9350370" y="2760976"/>
              <a:chExt cx="1591098" cy="1591098"/>
            </a:xfrm>
          </p:grpSpPr>
          <p:sp>
            <p:nvSpPr>
              <p:cNvPr id="21" name="Rectangle: Rounded Corners 39">
                <a:extLst>
                  <a:ext uri="{FF2B5EF4-FFF2-40B4-BE49-F238E27FC236}">
                    <a16:creationId xmlns:a16="http://schemas.microsoft.com/office/drawing/2014/main" id="{7E4CF170-49E9-FFB1-F489-8BE6D8242B28}"/>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2" name="Rectangle: Rounded Corners 54">
                <a:extLst>
                  <a:ext uri="{FF2B5EF4-FFF2-40B4-BE49-F238E27FC236}">
                    <a16:creationId xmlns:a16="http://schemas.microsoft.com/office/drawing/2014/main" id="{0F04C298-71C1-7B6C-BDDD-F514066D750E}"/>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0" name="Picture 51" descr="Map with pin with solid fill">
              <a:extLst>
                <a:ext uri="{FF2B5EF4-FFF2-40B4-BE49-F238E27FC236}">
                  <a16:creationId xmlns:a16="http://schemas.microsoft.com/office/drawing/2014/main" id="{E4E811A2-5FAB-2434-A7D6-65E27A649F28}"/>
                </a:ext>
              </a:extLst>
            </p:cNvPr>
            <p:cNvPicPr>
              <a:picLocks noChangeAspect="1"/>
            </p:cNvPicPr>
            <p:nvPr/>
          </p:nvPicPr>
          <p:blipFill>
            <a:blip r:embed="rId8">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3" name="Group 22">
            <a:extLst>
              <a:ext uri="{FF2B5EF4-FFF2-40B4-BE49-F238E27FC236}">
                <a16:creationId xmlns:a16="http://schemas.microsoft.com/office/drawing/2014/main" id="{564F3742-220D-2075-BA46-FCF478162263}"/>
              </a:ext>
            </a:extLst>
          </p:cNvPr>
          <p:cNvGrpSpPr/>
          <p:nvPr/>
        </p:nvGrpSpPr>
        <p:grpSpPr>
          <a:xfrm>
            <a:off x="10997361" y="200955"/>
            <a:ext cx="410690" cy="410700"/>
            <a:chOff x="5303120" y="3009260"/>
            <a:chExt cx="1591098" cy="1591098"/>
          </a:xfrm>
        </p:grpSpPr>
        <p:grpSp>
          <p:nvGrpSpPr>
            <p:cNvPr id="24" name="Group 23">
              <a:extLst>
                <a:ext uri="{FF2B5EF4-FFF2-40B4-BE49-F238E27FC236}">
                  <a16:creationId xmlns:a16="http://schemas.microsoft.com/office/drawing/2014/main" id="{97992B25-7416-96F9-6B8A-205DA84C449A}"/>
                </a:ext>
              </a:extLst>
            </p:cNvPr>
            <p:cNvGrpSpPr/>
            <p:nvPr/>
          </p:nvGrpSpPr>
          <p:grpSpPr>
            <a:xfrm>
              <a:off x="5303120" y="3009260"/>
              <a:ext cx="1591098" cy="1591098"/>
              <a:chOff x="6428492" y="2760976"/>
              <a:chExt cx="1591098" cy="1591098"/>
            </a:xfrm>
          </p:grpSpPr>
          <p:sp>
            <p:nvSpPr>
              <p:cNvPr id="46" name="Rectangle: Rounded Corners 39">
                <a:extLst>
                  <a:ext uri="{FF2B5EF4-FFF2-40B4-BE49-F238E27FC236}">
                    <a16:creationId xmlns:a16="http://schemas.microsoft.com/office/drawing/2014/main" id="{E8BFB9D3-41C5-183C-EA53-3E01D3B2D036}"/>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7" name="Rectangle: Rounded Corners 54">
                <a:extLst>
                  <a:ext uri="{FF2B5EF4-FFF2-40B4-BE49-F238E27FC236}">
                    <a16:creationId xmlns:a16="http://schemas.microsoft.com/office/drawing/2014/main" id="{2131BBF7-E9D7-9137-A928-8F9F45CC2406}"/>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5" name="Graphic 27" descr="Target Audience with solid fill">
              <a:extLst>
                <a:ext uri="{FF2B5EF4-FFF2-40B4-BE49-F238E27FC236}">
                  <a16:creationId xmlns:a16="http://schemas.microsoft.com/office/drawing/2014/main" id="{EEE3C42C-4A7C-8A95-46FA-67E79878CD12}"/>
                </a:ext>
              </a:extLst>
            </p:cNvPr>
            <p:cNvPicPr>
              <a:picLocks noChangeAspect="1"/>
            </p:cNvPicPr>
            <p:nvPr/>
          </p:nvPicPr>
          <p:blipFill>
            <a:blip r:embed="rId9">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8" name="TextBox 47">
            <a:extLst>
              <a:ext uri="{FF2B5EF4-FFF2-40B4-BE49-F238E27FC236}">
                <a16:creationId xmlns:a16="http://schemas.microsoft.com/office/drawing/2014/main" id="{F1277FAF-EC67-3650-F2CA-3CCDA730FCF1}"/>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9" name="TextBox 48">
            <a:extLst>
              <a:ext uri="{FF2B5EF4-FFF2-40B4-BE49-F238E27FC236}">
                <a16:creationId xmlns:a16="http://schemas.microsoft.com/office/drawing/2014/main" id="{C3EC4516-937D-436C-8B07-03D326E6DE01}"/>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0" name="TextBox 49">
            <a:extLst>
              <a:ext uri="{FF2B5EF4-FFF2-40B4-BE49-F238E27FC236}">
                <a16:creationId xmlns:a16="http://schemas.microsoft.com/office/drawing/2014/main" id="{96590FE5-1F7B-7E59-5A49-DDD012A67A17}"/>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1" name="Rectangle 50">
            <a:extLst>
              <a:ext uri="{FF2B5EF4-FFF2-40B4-BE49-F238E27FC236}">
                <a16:creationId xmlns:a16="http://schemas.microsoft.com/office/drawing/2014/main" id="{45123CB2-D4AC-0912-AB5B-DD07788222B8}"/>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2267239444"/>
      </p:ext>
    </p:extLst>
  </p:cSld>
  <p:clrMapOvr>
    <a:masterClrMapping/>
  </p:clrMapOvr>
  <p:extLst>
    <p:ext uri="{6950BFC3-D8DA-4A85-94F7-54DA5524770B}">
      <p188:commentRel xmlns:p188="http://schemas.microsoft.com/office/powerpoint/2018/8/main" r:id="rId3"/>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BF537-658E-3E42-BBFD-6F36B25B24B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6DB4560-2358-A1CB-6C62-4E0DD7CAE79B}"/>
              </a:ext>
            </a:extLst>
          </p:cNvPr>
          <p:cNvSpPr/>
          <p:nvPr/>
        </p:nvSpPr>
        <p:spPr>
          <a:xfrm>
            <a:off x="0" y="1692998"/>
            <a:ext cx="8702936" cy="310533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 name="Text Placeholder 1">
            <a:extLst>
              <a:ext uri="{FF2B5EF4-FFF2-40B4-BE49-F238E27FC236}">
                <a16:creationId xmlns:a16="http://schemas.microsoft.com/office/drawing/2014/main" id="{360DE253-4803-7E2A-28D6-3700C97A983B}"/>
              </a:ext>
            </a:extLst>
          </p:cNvPr>
          <p:cNvSpPr txBox="1">
            <a:spLocks/>
          </p:cNvSpPr>
          <p:nvPr/>
        </p:nvSpPr>
        <p:spPr>
          <a:xfrm>
            <a:off x="340446" y="1947134"/>
            <a:ext cx="8072033" cy="2571078"/>
          </a:xfrm>
          <a:prstGeom prst="rect">
            <a:avLst/>
          </a:prstGeom>
        </p:spPr>
        <p:txBody>
          <a:bodyPr lIns="91440" tIns="45720" rIns="91440" bIns="45720"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spc="-10">
                <a:solidFill>
                  <a:schemeClr val="tx1"/>
                </a:solidFill>
                <a:latin typeface="Arial" pitchFamily="34"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spc="-10">
                <a:solidFill>
                  <a:schemeClr val="tx1"/>
                </a:solidFill>
                <a:latin typeface="Arial" pitchFamily="34"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10">
                <a:solidFill>
                  <a:schemeClr val="tx1"/>
                </a:solidFill>
                <a:latin typeface="Arial" pitchFamily="34"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800" b="1" i="0" u="none" strike="noStrike" kern="1200" cap="none" spc="-10" normalizeH="0" baseline="0" noProof="0">
                <a:ln>
                  <a:noFill/>
                </a:ln>
                <a:solidFill>
                  <a:srgbClr val="FFFFFF"/>
                </a:solidFill>
                <a:effectLst/>
                <a:uLnTx/>
                <a:uFillTx/>
                <a:latin typeface="Segoe UI" pitchFamily="34" charset="0"/>
                <a:ea typeface="Lato ExtraLight" panose="020B0604020202020204" pitchFamily="34" charset="0"/>
                <a:cs typeface="Lato ExtraLight" panose="020B0604020202020204" pitchFamily="34" charset="0"/>
              </a:rPr>
              <a:t>Activity</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sz="2000" b="1" spc="-10">
              <a:solidFill>
                <a:srgbClr val="FFFFFF"/>
              </a:solidFill>
              <a:latin typeface="Segoe UI" pitchFamily="34" charset="0"/>
              <a:ea typeface="Lato ExtraLight" panose="020B0604020202020204" pitchFamily="34" charset="0"/>
              <a:cs typeface="Lato ExtraLight" panose="020B0604020202020204" pitchFamily="34" charset="0"/>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4800" b="1" spc="-10">
                <a:solidFill>
                  <a:srgbClr val="FFFFFF"/>
                </a:solidFill>
                <a:latin typeface="Segoe UI" pitchFamily="34" charset="0"/>
                <a:ea typeface="Lato ExtraLight" panose="020B0604020202020204" pitchFamily="34" charset="0"/>
                <a:cs typeface="Lato ExtraLight" panose="020B0604020202020204" pitchFamily="34" charset="0"/>
              </a:rPr>
              <a:t>Case study: Risk assessment &amp; Superpowers</a:t>
            </a:r>
            <a:endParaRPr kumimoji="0" lang="en-US" sz="4800" b="1" i="0" u="none" strike="noStrike" kern="1200" cap="none" spc="-10" normalizeH="0" baseline="0" noProof="0">
              <a:ln>
                <a:noFill/>
              </a:ln>
              <a:solidFill>
                <a:srgbClr val="FFFFFF"/>
              </a:solidFill>
              <a:effectLst/>
              <a:uLnTx/>
              <a:uFillTx/>
              <a:latin typeface="Segoe UI" pitchFamily="34" charset="0"/>
              <a:ea typeface="Lato ExtraLight" panose="020B0604020202020204" pitchFamily="34" charset="0"/>
              <a:cs typeface="Lato ExtraLight" panose="020B0604020202020204" pitchFamily="34" charset="0"/>
            </a:endParaRPr>
          </a:p>
        </p:txBody>
      </p:sp>
      <p:sp>
        <p:nvSpPr>
          <p:cNvPr id="32" name="Rectangle 31">
            <a:extLst>
              <a:ext uri="{FF2B5EF4-FFF2-40B4-BE49-F238E27FC236}">
                <a16:creationId xmlns:a16="http://schemas.microsoft.com/office/drawing/2014/main" id="{70B0D5B8-E8D1-A850-9E28-5DB0873C6715}"/>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p>
        </p:txBody>
      </p:sp>
      <p:sp>
        <p:nvSpPr>
          <p:cNvPr id="33"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28</a:t>
            </a:fld>
            <a:endParaRPr lang="en-US"/>
          </a:p>
        </p:txBody>
      </p:sp>
      <p:grpSp>
        <p:nvGrpSpPr>
          <p:cNvPr id="41" name="Group 40">
            <a:extLst>
              <a:ext uri="{FF2B5EF4-FFF2-40B4-BE49-F238E27FC236}">
                <a16:creationId xmlns:a16="http://schemas.microsoft.com/office/drawing/2014/main" id="{1EF6B733-9E94-AEC4-6996-1D86F49C6C0B}"/>
              </a:ext>
            </a:extLst>
          </p:cNvPr>
          <p:cNvGrpSpPr/>
          <p:nvPr/>
        </p:nvGrpSpPr>
        <p:grpSpPr>
          <a:xfrm>
            <a:off x="10555635" y="354014"/>
            <a:ext cx="410690" cy="410700"/>
            <a:chOff x="3506617" y="2730959"/>
            <a:chExt cx="1591098" cy="1591098"/>
          </a:xfrm>
        </p:grpSpPr>
        <p:sp>
          <p:nvSpPr>
            <p:cNvPr id="42" name="Rectangle: Rounded Corners 39">
              <a:extLst>
                <a:ext uri="{FF2B5EF4-FFF2-40B4-BE49-F238E27FC236}">
                  <a16:creationId xmlns:a16="http://schemas.microsoft.com/office/drawing/2014/main" id="{9AADA558-6889-43D6-09ED-8409B348BB16}"/>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3" name="Rectangle: Rounded Corners 54">
              <a:extLst>
                <a:ext uri="{FF2B5EF4-FFF2-40B4-BE49-F238E27FC236}">
                  <a16:creationId xmlns:a16="http://schemas.microsoft.com/office/drawing/2014/main" id="{7015F224-684B-2B82-8BE4-DE208C13CFF2}"/>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4" name="Freeform 56" descr="Clipboard Partially Checked with solid fill">
              <a:extLst>
                <a:ext uri="{FF2B5EF4-FFF2-40B4-BE49-F238E27FC236}">
                  <a16:creationId xmlns:a16="http://schemas.microsoft.com/office/drawing/2014/main" id="{F43C6BCA-9E4A-7BCE-7B9C-1A889678A7A9}"/>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2"/>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45" name="Group 44">
            <a:extLst>
              <a:ext uri="{FF2B5EF4-FFF2-40B4-BE49-F238E27FC236}">
                <a16:creationId xmlns:a16="http://schemas.microsoft.com/office/drawing/2014/main" id="{286695A7-C149-C687-90EC-E7D4AA45E585}"/>
              </a:ext>
            </a:extLst>
          </p:cNvPr>
          <p:cNvGrpSpPr/>
          <p:nvPr/>
        </p:nvGrpSpPr>
        <p:grpSpPr>
          <a:xfrm>
            <a:off x="11710082" y="343438"/>
            <a:ext cx="410690" cy="410700"/>
            <a:chOff x="8874309" y="3009260"/>
            <a:chExt cx="1591098" cy="1591098"/>
          </a:xfrm>
        </p:grpSpPr>
        <p:grpSp>
          <p:nvGrpSpPr>
            <p:cNvPr id="46" name="Group 45">
              <a:extLst>
                <a:ext uri="{FF2B5EF4-FFF2-40B4-BE49-F238E27FC236}">
                  <a16:creationId xmlns:a16="http://schemas.microsoft.com/office/drawing/2014/main" id="{E783191F-B38C-A3AD-0BB4-3E22E03E2A57}"/>
                </a:ext>
              </a:extLst>
            </p:cNvPr>
            <p:cNvGrpSpPr/>
            <p:nvPr/>
          </p:nvGrpSpPr>
          <p:grpSpPr>
            <a:xfrm>
              <a:off x="8874309" y="3009260"/>
              <a:ext cx="1591098" cy="1591098"/>
              <a:chOff x="9350370" y="2760976"/>
              <a:chExt cx="1591098" cy="1591098"/>
            </a:xfrm>
          </p:grpSpPr>
          <p:sp>
            <p:nvSpPr>
              <p:cNvPr id="48" name="Rectangle: Rounded Corners 39">
                <a:extLst>
                  <a:ext uri="{FF2B5EF4-FFF2-40B4-BE49-F238E27FC236}">
                    <a16:creationId xmlns:a16="http://schemas.microsoft.com/office/drawing/2014/main" id="{264CFAF0-661C-806D-37BF-70120295D7A9}"/>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9" name="Rectangle: Rounded Corners 54">
                <a:extLst>
                  <a:ext uri="{FF2B5EF4-FFF2-40B4-BE49-F238E27FC236}">
                    <a16:creationId xmlns:a16="http://schemas.microsoft.com/office/drawing/2014/main" id="{0D411D88-C96F-ADAC-A07F-181962AA21A1}"/>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7" name="Picture 51" descr="Map with pin with solid fill">
              <a:extLst>
                <a:ext uri="{FF2B5EF4-FFF2-40B4-BE49-F238E27FC236}">
                  <a16:creationId xmlns:a16="http://schemas.microsoft.com/office/drawing/2014/main" id="{3C9AF13F-0470-F1D9-5707-8CC74DE51D67}"/>
                </a:ext>
              </a:extLst>
            </p:cNvPr>
            <p:cNvPicPr>
              <a:picLocks noChangeAspect="1"/>
            </p:cNvPicPr>
            <p:nvPr/>
          </p:nvPicPr>
          <p:blipFill>
            <a:blip r:embed="rId3">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50" name="Group 49">
            <a:extLst>
              <a:ext uri="{FF2B5EF4-FFF2-40B4-BE49-F238E27FC236}">
                <a16:creationId xmlns:a16="http://schemas.microsoft.com/office/drawing/2014/main" id="{CC8B0428-1649-BA93-971F-69CFBBA85538}"/>
              </a:ext>
            </a:extLst>
          </p:cNvPr>
          <p:cNvGrpSpPr/>
          <p:nvPr/>
        </p:nvGrpSpPr>
        <p:grpSpPr>
          <a:xfrm>
            <a:off x="11149761" y="353355"/>
            <a:ext cx="410690" cy="410700"/>
            <a:chOff x="5303120" y="3009260"/>
            <a:chExt cx="1591098" cy="1591098"/>
          </a:xfrm>
        </p:grpSpPr>
        <p:grpSp>
          <p:nvGrpSpPr>
            <p:cNvPr id="51" name="Group 50">
              <a:extLst>
                <a:ext uri="{FF2B5EF4-FFF2-40B4-BE49-F238E27FC236}">
                  <a16:creationId xmlns:a16="http://schemas.microsoft.com/office/drawing/2014/main" id="{1401CC73-5D85-3CA5-C91D-DA8DA7FCF60E}"/>
                </a:ext>
              </a:extLst>
            </p:cNvPr>
            <p:cNvGrpSpPr/>
            <p:nvPr/>
          </p:nvGrpSpPr>
          <p:grpSpPr>
            <a:xfrm>
              <a:off x="5303120" y="3009260"/>
              <a:ext cx="1591098" cy="1591098"/>
              <a:chOff x="6428492" y="2760976"/>
              <a:chExt cx="1591098" cy="1591098"/>
            </a:xfrm>
          </p:grpSpPr>
          <p:sp>
            <p:nvSpPr>
              <p:cNvPr id="53" name="Rectangle: Rounded Corners 39">
                <a:extLst>
                  <a:ext uri="{FF2B5EF4-FFF2-40B4-BE49-F238E27FC236}">
                    <a16:creationId xmlns:a16="http://schemas.microsoft.com/office/drawing/2014/main" id="{F5B6BFDD-6E37-3B23-6736-2A1871000DD8}"/>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4" name="Rectangle: Rounded Corners 54">
                <a:extLst>
                  <a:ext uri="{FF2B5EF4-FFF2-40B4-BE49-F238E27FC236}">
                    <a16:creationId xmlns:a16="http://schemas.microsoft.com/office/drawing/2014/main" id="{0E091B5C-0853-1A87-7167-8E9B8027D076}"/>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52" name="Graphic 27" descr="Target Audience with solid fill">
              <a:extLst>
                <a:ext uri="{FF2B5EF4-FFF2-40B4-BE49-F238E27FC236}">
                  <a16:creationId xmlns:a16="http://schemas.microsoft.com/office/drawing/2014/main" id="{CD3D6A54-B8D4-9B63-6296-1A5E710D086D}"/>
                </a:ext>
              </a:extLst>
            </p:cNvPr>
            <p:cNvPicPr>
              <a:picLocks noChangeAspect="1"/>
            </p:cNvPicPr>
            <p:nvPr/>
          </p:nvPicPr>
          <p:blipFill>
            <a:blip r:embed="rId4">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55" name="TextBox 54">
            <a:extLst>
              <a:ext uri="{FF2B5EF4-FFF2-40B4-BE49-F238E27FC236}">
                <a16:creationId xmlns:a16="http://schemas.microsoft.com/office/drawing/2014/main" id="{A36AF11F-A892-AA59-870D-199C09BC062F}"/>
              </a:ext>
            </a:extLst>
          </p:cNvPr>
          <p:cNvSpPr txBox="1"/>
          <p:nvPr/>
        </p:nvSpPr>
        <p:spPr>
          <a:xfrm>
            <a:off x="11522371" y="7765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6" name="TextBox 55">
            <a:extLst>
              <a:ext uri="{FF2B5EF4-FFF2-40B4-BE49-F238E27FC236}">
                <a16:creationId xmlns:a16="http://schemas.microsoft.com/office/drawing/2014/main" id="{25E0613D-7695-669D-84AB-0A42DCBB06BB}"/>
              </a:ext>
            </a:extLst>
          </p:cNvPr>
          <p:cNvSpPr txBox="1"/>
          <p:nvPr/>
        </p:nvSpPr>
        <p:spPr>
          <a:xfrm>
            <a:off x="10485532" y="7765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7" name="TextBox 56">
            <a:extLst>
              <a:ext uri="{FF2B5EF4-FFF2-40B4-BE49-F238E27FC236}">
                <a16:creationId xmlns:a16="http://schemas.microsoft.com/office/drawing/2014/main" id="{17B2D6F2-4C34-DCCF-2FAA-01E13506D663}"/>
              </a:ext>
            </a:extLst>
          </p:cNvPr>
          <p:cNvSpPr txBox="1"/>
          <p:nvPr/>
        </p:nvSpPr>
        <p:spPr>
          <a:xfrm>
            <a:off x="11065324" y="7765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8" name="Rectangle 57">
            <a:extLst>
              <a:ext uri="{FF2B5EF4-FFF2-40B4-BE49-F238E27FC236}">
                <a16:creationId xmlns:a16="http://schemas.microsoft.com/office/drawing/2014/main" id="{E609AE71-0C3A-4D64-4164-B9CEC5B4CE4E}"/>
              </a:ext>
            </a:extLst>
          </p:cNvPr>
          <p:cNvSpPr/>
          <p:nvPr/>
        </p:nvSpPr>
        <p:spPr>
          <a:xfrm>
            <a:off x="11091293" y="2382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34173989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52B24-2709-766F-DF9D-DC34DE08E95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FA5EFCE-EA79-F649-3811-2F00E7A089C9}"/>
              </a:ext>
            </a:extLst>
          </p:cNvPr>
          <p:cNvSpPr>
            <a:spLocks noGrp="1"/>
          </p:cNvSpPr>
          <p:nvPr>
            <p:ph type="title" sz="quarter"/>
          </p:nvPr>
        </p:nvSpPr>
        <p:spPr/>
        <p:txBody>
          <a:bodyPr lIns="121920" tIns="60960" rIns="121920" bIns="60960" anchor="t"/>
          <a:lstStyle/>
          <a:p>
            <a:pPr>
              <a:defRPr b="1" spc="-25">
                <a:latin typeface="Segoe UI" pitchFamily="34" charset="0"/>
              </a:defRPr>
            </a:pPr>
            <a:r>
              <a:rPr lang="en-US" b="1" spc="-25">
                <a:solidFill>
                  <a:srgbClr val="1D1D1D"/>
                </a:solidFill>
                <a:latin typeface="Segoe UI" pitchFamily="34" charset="0"/>
                <a:ea typeface="Helvetica Neue" panose="02000503000000020004" pitchFamily="2" charset="0"/>
                <a:cs typeface="Helvetica Neue" panose="02000503000000020004" pitchFamily="2" charset="0"/>
              </a:rPr>
              <a:t>Risk assessment </a:t>
            </a:r>
            <a:r>
              <a:rPr lang="en-US" b="1" spc="-25">
                <a:solidFill>
                  <a:srgbClr val="1D1D1D"/>
                </a:solidFill>
                <a:ea typeface="Helvetica Neue" panose="02000503000000020004" pitchFamily="2" charset="0"/>
                <a:cs typeface="Helvetica Neue" panose="02000503000000020004" pitchFamily="2" charset="0"/>
              </a:rPr>
              <a:t>and superpowers</a:t>
            </a:r>
            <a:endParaRPr lang="en-US" b="1" spc="-25">
              <a:solidFill>
                <a:srgbClr val="1D1D1D"/>
              </a:solidFill>
              <a:latin typeface="Segoe UI" pitchFamily="34" charset="0"/>
              <a:ea typeface="Helvetica Neue" panose="02000503000000020004" pitchFamily="2" charset="0"/>
              <a:cs typeface="Helvetica Neue" panose="02000503000000020004" pitchFamily="2" charset="0"/>
            </a:endParaRPr>
          </a:p>
          <a:p>
            <a:pPr>
              <a:defRPr b="1" spc="-25">
                <a:latin typeface="Segoe UI" pitchFamily="34" charset="0"/>
              </a:defRPr>
            </a:pPr>
            <a:r>
              <a:rPr lang="en-US" sz="2000" b="1" spc="-25">
                <a:solidFill>
                  <a:srgbClr val="1D1D1D"/>
                </a:solidFill>
                <a:latin typeface="Segoe UI" pitchFamily="34" charset="0"/>
                <a:ea typeface="Helvetica Neue" panose="02000503000000020004" pitchFamily="2" charset="0"/>
                <a:cs typeface="Helvetica Neue" panose="02000503000000020004" pitchFamily="2" charset="0"/>
              </a:rPr>
              <a:t>VP of digital marketing &amp; growth</a:t>
            </a:r>
            <a:endParaRPr lang="en-US" sz="2000" b="1" spc="-25">
              <a:latin typeface="Segoe UI" pitchFamily="34" charset="0"/>
              <a:ea typeface="Helvetica Neue" panose="02000503000000020004" pitchFamily="2" charset="0"/>
              <a:cs typeface="Helvetica Neue" panose="02000503000000020004" pitchFamily="2" charset="0"/>
            </a:endParaRPr>
          </a:p>
        </p:txBody>
      </p:sp>
      <p:sp>
        <p:nvSpPr>
          <p:cNvPr id="16" name="Text Placeholder 2">
            <a:extLst>
              <a:ext uri="{FF2B5EF4-FFF2-40B4-BE49-F238E27FC236}">
                <a16:creationId xmlns:a16="http://schemas.microsoft.com/office/drawing/2014/main" id="{266E308A-3097-DB2F-F3A9-B22116771F8F}"/>
              </a:ext>
            </a:extLst>
          </p:cNvPr>
          <p:cNvSpPr>
            <a:spLocks noGrp="1"/>
          </p:cNvSpPr>
          <p:nvPr>
            <p:ph idx="1"/>
          </p:nvPr>
        </p:nvSpPr>
        <p:spPr>
          <a:xfrm>
            <a:off x="1057279" y="2446776"/>
            <a:ext cx="9895371" cy="1487919"/>
          </a:xfrm>
          <a:prstGeom prst="rect">
            <a:avLst/>
          </a:prstGeom>
          <a:noFill/>
        </p:spPr>
        <p:txBody>
          <a:bodyPr anchor="t"/>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Blip>
                <a:blip r:embed="rId4"/>
              </a:buBlip>
            </a:pPr>
            <a:r>
              <a:rPr lang="en-US" sz="2400" spc="-10">
                <a:solidFill>
                  <a:schemeClr val="tx1"/>
                </a:solidFill>
                <a:latin typeface="Arial" pitchFamily="34" charset="0"/>
              </a:rPr>
              <a:t>Listen to the expert interview about the work and role risks</a:t>
            </a:r>
          </a:p>
          <a:p>
            <a:pPr marL="342900" indent="-342900">
              <a:buBlip>
                <a:blip r:embed="rId4"/>
              </a:buBlip>
            </a:pPr>
            <a:r>
              <a:rPr lang="en-US" sz="2400" spc="-10">
                <a:solidFill>
                  <a:schemeClr val="tx1"/>
                </a:solidFill>
                <a:latin typeface="Arial" pitchFamily="34" charset="0"/>
              </a:rPr>
              <a:t>Document relevant information and identify </a:t>
            </a:r>
            <a:r>
              <a:rPr lang="en-US" sz="2400" b="1" spc="-10">
                <a:solidFill>
                  <a:schemeClr val="tx1"/>
                </a:solidFill>
                <a:latin typeface="Segoe UI" pitchFamily="34" charset="0"/>
              </a:rPr>
              <a:t>work and role risks.</a:t>
            </a:r>
            <a:endParaRPr lang="en-US" sz="2400" spc="-10">
              <a:solidFill>
                <a:schemeClr val="tx1"/>
              </a:solidFill>
              <a:latin typeface="Arial" pitchFamily="34" charset="0"/>
            </a:endParaRPr>
          </a:p>
        </p:txBody>
      </p:sp>
      <p:sp>
        <p:nvSpPr>
          <p:cNvPr id="17" name="Text Placeholder 2">
            <a:extLst>
              <a:ext uri="{FF2B5EF4-FFF2-40B4-BE49-F238E27FC236}">
                <a16:creationId xmlns:a16="http://schemas.microsoft.com/office/drawing/2014/main" id="{464B434D-EDD5-CAF3-EA95-1CDB2E074E96}"/>
              </a:ext>
            </a:extLst>
          </p:cNvPr>
          <p:cNvSpPr txBox="1">
            <a:spLocks/>
          </p:cNvSpPr>
          <p:nvPr/>
        </p:nvSpPr>
        <p:spPr>
          <a:xfrm>
            <a:off x="930849" y="1594532"/>
            <a:ext cx="3632563" cy="717445"/>
          </a:xfrm>
          <a:prstGeom prst="roundRect">
            <a:avLst/>
          </a:prstGeom>
          <a:solidFill>
            <a:srgbClr val="281A42"/>
          </a:solidFill>
        </p:spPr>
        <p:txBody>
          <a:bodyPr lIns="91440" tIns="45720" rIns="91440" bIns="4572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b="1" spc="-10">
                <a:solidFill>
                  <a:schemeClr val="bg1"/>
                </a:solidFill>
                <a:latin typeface="Segoe UI" pitchFamily="34" charset="0"/>
              </a:rPr>
              <a:t>Part 1</a:t>
            </a:r>
            <a:endParaRPr lang="en-US" sz="3200" spc="-10">
              <a:solidFill>
                <a:schemeClr val="bg1"/>
              </a:solidFill>
              <a:latin typeface="Arial" pitchFamily="34" charset="0"/>
            </a:endParaRPr>
          </a:p>
        </p:txBody>
      </p:sp>
      <p:sp>
        <p:nvSpPr>
          <p:cNvPr id="18" name="Text Placeholder 2">
            <a:extLst>
              <a:ext uri="{FF2B5EF4-FFF2-40B4-BE49-F238E27FC236}">
                <a16:creationId xmlns:a16="http://schemas.microsoft.com/office/drawing/2014/main" id="{FCD2D7AA-0B75-79B5-396B-5E70BD7F7D5D}"/>
              </a:ext>
            </a:extLst>
          </p:cNvPr>
          <p:cNvSpPr txBox="1">
            <a:spLocks/>
          </p:cNvSpPr>
          <p:nvPr/>
        </p:nvSpPr>
        <p:spPr>
          <a:xfrm>
            <a:off x="930849" y="4187301"/>
            <a:ext cx="3632563" cy="717445"/>
          </a:xfrm>
          <a:prstGeom prst="roundRect">
            <a:avLst/>
          </a:prstGeom>
          <a:solidFill>
            <a:srgbClr val="281A42"/>
          </a:solidFill>
        </p:spPr>
        <p:txBody>
          <a:bodyPr lIns="91440" tIns="45720" rIns="91440" bIns="4572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b="1" spc="-10">
                <a:solidFill>
                  <a:schemeClr val="bg1"/>
                </a:solidFill>
                <a:latin typeface="Segoe UI" pitchFamily="34" charset="0"/>
              </a:rPr>
              <a:t>Part 2</a:t>
            </a:r>
            <a:endParaRPr lang="en-US" sz="3200" spc="-10">
              <a:solidFill>
                <a:schemeClr val="bg1"/>
              </a:solidFill>
              <a:latin typeface="Arial" pitchFamily="34" charset="0"/>
            </a:endParaRPr>
          </a:p>
        </p:txBody>
      </p:sp>
      <p:sp>
        <p:nvSpPr>
          <p:cNvPr id="19" name="Text Placeholder 2">
            <a:extLst>
              <a:ext uri="{FF2B5EF4-FFF2-40B4-BE49-F238E27FC236}">
                <a16:creationId xmlns:a16="http://schemas.microsoft.com/office/drawing/2014/main" id="{71C6CDB1-7CFE-2B78-AD92-38F8C7F25B34}"/>
              </a:ext>
            </a:extLst>
          </p:cNvPr>
          <p:cNvSpPr txBox="1">
            <a:spLocks/>
          </p:cNvSpPr>
          <p:nvPr/>
        </p:nvSpPr>
        <p:spPr>
          <a:xfrm>
            <a:off x="1057278" y="4904746"/>
            <a:ext cx="10402953" cy="1037305"/>
          </a:xfrm>
          <a:prstGeom prst="rect">
            <a:avLst/>
          </a:prstGeom>
          <a:noFill/>
        </p:spPr>
        <p:txBody>
          <a:bodyPr lIns="91440" tIns="45720" rIns="91440" bIns="4572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100000"/>
              </a:lnSpc>
              <a:buFont typeface="Arial" panose="020B0604020202020204" pitchFamily="34" charset="0"/>
              <a:buChar char="•"/>
            </a:pPr>
            <a:r>
              <a:rPr lang="en-US" sz="2400" spc="-10">
                <a:solidFill>
                  <a:schemeClr val="tx1"/>
                </a:solidFill>
                <a:latin typeface="Arial" pitchFamily="34" charset="0"/>
              </a:rPr>
              <a:t>Work in groups to identify </a:t>
            </a:r>
            <a:r>
              <a:rPr lang="en-US" sz="2400" b="1" spc="-10">
                <a:solidFill>
                  <a:schemeClr val="tx1"/>
                </a:solidFill>
                <a:latin typeface="Segoe UI" pitchFamily="34" charset="0"/>
              </a:rPr>
              <a:t>1 superpower </a:t>
            </a:r>
            <a:r>
              <a:rPr lang="en-US" sz="2400" spc="-10">
                <a:solidFill>
                  <a:schemeClr val="tx1"/>
                </a:solidFill>
                <a:latin typeface="Arial" pitchFamily="34" charset="0"/>
              </a:rPr>
              <a:t>that the successor will need to mitigate the identified risks</a:t>
            </a:r>
          </a:p>
        </p:txBody>
      </p:sp>
      <p:sp>
        <p:nvSpPr>
          <p:cNvPr id="37"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29</a:t>
            </a:fld>
            <a:endParaRPr lang="en-US"/>
          </a:p>
        </p:txBody>
      </p:sp>
      <p:grpSp>
        <p:nvGrpSpPr>
          <p:cNvPr id="3" name="Group 2">
            <a:extLst>
              <a:ext uri="{FF2B5EF4-FFF2-40B4-BE49-F238E27FC236}">
                <a16:creationId xmlns:a16="http://schemas.microsoft.com/office/drawing/2014/main" id="{605CB66F-05D6-9046-6EE4-F4E269E16D33}"/>
              </a:ext>
            </a:extLst>
          </p:cNvPr>
          <p:cNvGrpSpPr/>
          <p:nvPr/>
        </p:nvGrpSpPr>
        <p:grpSpPr>
          <a:xfrm>
            <a:off x="10403235" y="201614"/>
            <a:ext cx="410690" cy="410700"/>
            <a:chOff x="3506617" y="2730959"/>
            <a:chExt cx="1591098" cy="1591098"/>
          </a:xfrm>
        </p:grpSpPr>
        <p:sp>
          <p:nvSpPr>
            <p:cNvPr id="4" name="Rectangle: Rounded Corners 39">
              <a:extLst>
                <a:ext uri="{FF2B5EF4-FFF2-40B4-BE49-F238E27FC236}">
                  <a16:creationId xmlns:a16="http://schemas.microsoft.com/office/drawing/2014/main" id="{5B777DD0-E02A-FEB7-328D-349FC6DC13B3}"/>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 name="Rectangle: Rounded Corners 54">
              <a:extLst>
                <a:ext uri="{FF2B5EF4-FFF2-40B4-BE49-F238E27FC236}">
                  <a16:creationId xmlns:a16="http://schemas.microsoft.com/office/drawing/2014/main" id="{897866DD-943A-1D60-DC2A-D105C8543CF6}"/>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7" name="Freeform 56" descr="Clipboard Partially Checked with solid fill">
              <a:extLst>
                <a:ext uri="{FF2B5EF4-FFF2-40B4-BE49-F238E27FC236}">
                  <a16:creationId xmlns:a16="http://schemas.microsoft.com/office/drawing/2014/main" id="{C2E03A88-0F63-E8E9-A6E8-001DFA7E4D7B}"/>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8" name="Group 7">
            <a:extLst>
              <a:ext uri="{FF2B5EF4-FFF2-40B4-BE49-F238E27FC236}">
                <a16:creationId xmlns:a16="http://schemas.microsoft.com/office/drawing/2014/main" id="{BF28538A-1B65-5E49-D1AD-CF8CD9BF02E5}"/>
              </a:ext>
            </a:extLst>
          </p:cNvPr>
          <p:cNvGrpSpPr/>
          <p:nvPr/>
        </p:nvGrpSpPr>
        <p:grpSpPr>
          <a:xfrm>
            <a:off x="11557682" y="191038"/>
            <a:ext cx="410690" cy="410700"/>
            <a:chOff x="8874309" y="3009260"/>
            <a:chExt cx="1591098" cy="1591098"/>
          </a:xfrm>
        </p:grpSpPr>
        <p:grpSp>
          <p:nvGrpSpPr>
            <p:cNvPr id="9" name="Group 8">
              <a:extLst>
                <a:ext uri="{FF2B5EF4-FFF2-40B4-BE49-F238E27FC236}">
                  <a16:creationId xmlns:a16="http://schemas.microsoft.com/office/drawing/2014/main" id="{8AD3FE98-F655-E72B-D834-9D65F5FA2673}"/>
                </a:ext>
              </a:extLst>
            </p:cNvPr>
            <p:cNvGrpSpPr/>
            <p:nvPr/>
          </p:nvGrpSpPr>
          <p:grpSpPr>
            <a:xfrm>
              <a:off x="8874309" y="3009260"/>
              <a:ext cx="1591098" cy="1591098"/>
              <a:chOff x="9350370" y="2760976"/>
              <a:chExt cx="1591098" cy="1591098"/>
            </a:xfrm>
          </p:grpSpPr>
          <p:sp>
            <p:nvSpPr>
              <p:cNvPr id="11" name="Rectangle: Rounded Corners 39">
                <a:extLst>
                  <a:ext uri="{FF2B5EF4-FFF2-40B4-BE49-F238E27FC236}">
                    <a16:creationId xmlns:a16="http://schemas.microsoft.com/office/drawing/2014/main" id="{C3690FD4-DBFC-2E00-23C2-3954C2CAE9D8}"/>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2" name="Rectangle: Rounded Corners 54">
                <a:extLst>
                  <a:ext uri="{FF2B5EF4-FFF2-40B4-BE49-F238E27FC236}">
                    <a16:creationId xmlns:a16="http://schemas.microsoft.com/office/drawing/2014/main" id="{5DD93DC1-85FA-B65E-C3F6-7FA755B61F8B}"/>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0" name="Picture 51" descr="Map with pin with solid fill">
              <a:extLst>
                <a:ext uri="{FF2B5EF4-FFF2-40B4-BE49-F238E27FC236}">
                  <a16:creationId xmlns:a16="http://schemas.microsoft.com/office/drawing/2014/main" id="{B6C45962-9EDE-AA95-9B99-0E2AECA3DF23}"/>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3" name="Group 12">
            <a:extLst>
              <a:ext uri="{FF2B5EF4-FFF2-40B4-BE49-F238E27FC236}">
                <a16:creationId xmlns:a16="http://schemas.microsoft.com/office/drawing/2014/main" id="{70E8C51E-9597-AB00-B512-16EDFCF4016F}"/>
              </a:ext>
            </a:extLst>
          </p:cNvPr>
          <p:cNvGrpSpPr/>
          <p:nvPr/>
        </p:nvGrpSpPr>
        <p:grpSpPr>
          <a:xfrm>
            <a:off x="10997361" y="200955"/>
            <a:ext cx="410690" cy="410700"/>
            <a:chOff x="5303120" y="3009260"/>
            <a:chExt cx="1591098" cy="1591098"/>
          </a:xfrm>
        </p:grpSpPr>
        <p:grpSp>
          <p:nvGrpSpPr>
            <p:cNvPr id="14" name="Group 13">
              <a:extLst>
                <a:ext uri="{FF2B5EF4-FFF2-40B4-BE49-F238E27FC236}">
                  <a16:creationId xmlns:a16="http://schemas.microsoft.com/office/drawing/2014/main" id="{C642C2E3-79D0-09F0-02F1-5028C0330CD9}"/>
                </a:ext>
              </a:extLst>
            </p:cNvPr>
            <p:cNvGrpSpPr/>
            <p:nvPr/>
          </p:nvGrpSpPr>
          <p:grpSpPr>
            <a:xfrm>
              <a:off x="5303120" y="3009260"/>
              <a:ext cx="1591098" cy="1591098"/>
              <a:chOff x="6428492" y="2760976"/>
              <a:chExt cx="1591098" cy="1591098"/>
            </a:xfrm>
          </p:grpSpPr>
          <p:sp>
            <p:nvSpPr>
              <p:cNvPr id="38" name="Rectangle: Rounded Corners 39">
                <a:extLst>
                  <a:ext uri="{FF2B5EF4-FFF2-40B4-BE49-F238E27FC236}">
                    <a16:creationId xmlns:a16="http://schemas.microsoft.com/office/drawing/2014/main" id="{84B28B0D-43D3-38D7-4688-D6A5C12E477A}"/>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9" name="Rectangle: Rounded Corners 54">
                <a:extLst>
                  <a:ext uri="{FF2B5EF4-FFF2-40B4-BE49-F238E27FC236}">
                    <a16:creationId xmlns:a16="http://schemas.microsoft.com/office/drawing/2014/main" id="{E6E46C98-41FA-6247-9F45-92CEC93EBD0A}"/>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6" name="Graphic 27" descr="Target Audience with solid fill">
              <a:extLst>
                <a:ext uri="{FF2B5EF4-FFF2-40B4-BE49-F238E27FC236}">
                  <a16:creationId xmlns:a16="http://schemas.microsoft.com/office/drawing/2014/main" id="{6A69A582-9F15-980C-ECCA-4027DB6F110E}"/>
                </a:ext>
              </a:extLst>
            </p:cNvPr>
            <p:cNvPicPr>
              <a:picLocks noChangeAspect="1"/>
            </p:cNvPicPr>
            <p:nvPr/>
          </p:nvPicPr>
          <p:blipFill>
            <a:blip r:embed="rId7">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0" name="TextBox 39">
            <a:extLst>
              <a:ext uri="{FF2B5EF4-FFF2-40B4-BE49-F238E27FC236}">
                <a16:creationId xmlns:a16="http://schemas.microsoft.com/office/drawing/2014/main" id="{9CED14AA-D9A0-D1AA-D462-E873DE574253}"/>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1" name="TextBox 40">
            <a:extLst>
              <a:ext uri="{FF2B5EF4-FFF2-40B4-BE49-F238E27FC236}">
                <a16:creationId xmlns:a16="http://schemas.microsoft.com/office/drawing/2014/main" id="{2FF68810-DBEE-699C-69C8-3076FBCA751C}"/>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2" name="TextBox 41">
            <a:extLst>
              <a:ext uri="{FF2B5EF4-FFF2-40B4-BE49-F238E27FC236}">
                <a16:creationId xmlns:a16="http://schemas.microsoft.com/office/drawing/2014/main" id="{4A9C3D47-CF32-6B84-98CB-EFE553CE1E70}"/>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3" name="Rectangle 42">
            <a:extLst>
              <a:ext uri="{FF2B5EF4-FFF2-40B4-BE49-F238E27FC236}">
                <a16:creationId xmlns:a16="http://schemas.microsoft.com/office/drawing/2014/main" id="{A1F46BD3-3273-45FC-7334-1E5A3C81E04A}"/>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2163186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p:bldLst>
  </p:timing>
  <p:extLst>
    <p:ext uri="{6950BFC3-D8DA-4A85-94F7-54DA5524770B}">
      <p188:commentRel xmlns:p188="http://schemas.microsoft.com/office/powerpoint/2018/8/main" r:id="rId3"/>
    </p:ext>
  </p:extLs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FDA7B-FA54-4BA5-F8D3-0C450C9479D8}"/>
            </a:ext>
          </a:extLst>
        </p:cNvPr>
        <p:cNvGrpSpPr/>
        <p:nvPr/>
      </p:nvGrpSpPr>
      <p:grpSpPr>
        <a:xfrm>
          <a:off x="0" y="0"/>
          <a:ext cx="0" cy="0"/>
          <a:chOff x="0" y="0"/>
          <a:chExt cx="0" cy="0"/>
        </a:xfrm>
      </p:grpSpPr>
      <p:sp>
        <p:nvSpPr>
          <p:cNvPr id="22" name="Google Shape;56;p3">
            <a:extLst>
              <a:ext uri="{FF2B5EF4-FFF2-40B4-BE49-F238E27FC236}">
                <a16:creationId xmlns:a16="http://schemas.microsoft.com/office/drawing/2014/main" id="{B9F57428-7219-4A11-9949-EEA211C28E6F}"/>
              </a:ext>
            </a:extLst>
          </p:cNvPr>
          <p:cNvSpPr/>
          <p:nvPr/>
        </p:nvSpPr>
        <p:spPr>
          <a:xfrm>
            <a:off x="382848" y="1633991"/>
            <a:ext cx="4330910" cy="4583610"/>
          </a:xfrm>
          <a:prstGeom prst="roundRect">
            <a:avLst>
              <a:gd name="adj" fmla="val 4062"/>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10" normalizeH="0" baseline="0" noProof="0">
              <a:ln>
                <a:noFill/>
              </a:ln>
              <a:solidFill>
                <a:srgbClr val="1D1D1D"/>
              </a:solidFill>
              <a:effectLst/>
              <a:uLnTx/>
              <a:uFillTx/>
              <a:latin typeface="Arial" pitchFamily="34" charset="0"/>
              <a:ea typeface="Lato"/>
              <a:cs typeface="Lato"/>
              <a:sym typeface="Lato"/>
            </a:endParaRPr>
          </a:p>
        </p:txBody>
      </p:sp>
      <p:sp>
        <p:nvSpPr>
          <p:cNvPr id="2" name="Text Placeholder 1">
            <a:extLst>
              <a:ext uri="{FF2B5EF4-FFF2-40B4-BE49-F238E27FC236}">
                <a16:creationId xmlns:a16="http://schemas.microsoft.com/office/drawing/2014/main" id="{9D92622E-E8AC-B506-B115-FC97871686BC}"/>
              </a:ext>
            </a:extLst>
          </p:cNvPr>
          <p:cNvSpPr>
            <a:spLocks noGrp="1"/>
          </p:cNvSpPr>
          <p:nvPr>
            <p:ph type="title" sz="quarter"/>
          </p:nvPr>
        </p:nvSpPr>
        <p:spPr/>
        <p:txBody>
          <a:bodyPr lIns="121920" tIns="60960" rIns="121920" bIns="60960" anchor="t"/>
          <a:lstStyle/>
          <a:p>
            <a:pPr>
              <a:defRPr b="1" spc="-25">
                <a:latin typeface="Segoe UI" pitchFamily="34" charset="0"/>
              </a:defRPr>
            </a:pPr>
            <a:r>
              <a:rPr lang="en-US" b="1" spc="-25">
                <a:solidFill>
                  <a:srgbClr val="1D1D1D"/>
                </a:solidFill>
                <a:latin typeface="Segoe UI" pitchFamily="34" charset="0"/>
                <a:ea typeface="Helvetica Neue" panose="02000503000000020004" pitchFamily="2" charset="0"/>
                <a:cs typeface="Helvetica Neue" panose="02000503000000020004" pitchFamily="2" charset="0"/>
              </a:rPr>
              <a:t>Risk assessment and superpowers</a:t>
            </a:r>
            <a:endParaRPr lang="en-US" b="1" spc="-25">
              <a:latin typeface="Segoe UI" pitchFamily="34" charset="0"/>
              <a:ea typeface="Helvetica Neue" panose="02000503000000020004" pitchFamily="2" charset="0"/>
              <a:cs typeface="Helvetica Neue" panose="02000503000000020004" pitchFamily="2" charset="0"/>
            </a:endParaRPr>
          </a:p>
        </p:txBody>
      </p:sp>
      <p:sp>
        <p:nvSpPr>
          <p:cNvPr id="4" name="TextBox 3">
            <a:extLst>
              <a:ext uri="{FF2B5EF4-FFF2-40B4-BE49-F238E27FC236}">
                <a16:creationId xmlns:a16="http://schemas.microsoft.com/office/drawing/2014/main" id="{D356E932-DEC1-D317-EBBC-FB35A568C282}"/>
              </a:ext>
            </a:extLst>
          </p:cNvPr>
          <p:cNvSpPr txBox="1"/>
          <p:nvPr/>
        </p:nvSpPr>
        <p:spPr>
          <a:xfrm>
            <a:off x="523074" y="1026688"/>
            <a:ext cx="731607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r>
              <a:rPr lang="en-US" b="1" spc="-10">
                <a:solidFill>
                  <a:srgbClr val="1D1D1D"/>
                </a:solidFill>
                <a:latin typeface="Segoe UI" pitchFamily="34" charset="0"/>
                <a:ea typeface="Lato"/>
                <a:cs typeface="Lato"/>
              </a:rPr>
              <a:t>Role: </a:t>
            </a:r>
            <a:r>
              <a:rPr lang="en-US" b="1"/>
              <a:t>VP of Digital Marketing &amp; Growth</a:t>
            </a:r>
            <a:r>
              <a:rPr lang="en-US"/>
              <a:t> </a:t>
            </a:r>
            <a:endParaRPr lang="en-US" b="1" spc="-10">
              <a:solidFill>
                <a:srgbClr val="1D1D1D"/>
              </a:solidFill>
              <a:latin typeface="Segoe UI" pitchFamily="34" charset="0"/>
              <a:ea typeface="Lato"/>
              <a:cs typeface="Lato"/>
            </a:endParaRPr>
          </a:p>
        </p:txBody>
      </p:sp>
      <p:sp>
        <p:nvSpPr>
          <p:cNvPr id="3" name="Google Shape;128;p4">
            <a:extLst>
              <a:ext uri="{FF2B5EF4-FFF2-40B4-BE49-F238E27FC236}">
                <a16:creationId xmlns:a16="http://schemas.microsoft.com/office/drawing/2014/main" id="{35ED67B3-259B-2994-9972-098FC5865FB1}"/>
              </a:ext>
            </a:extLst>
          </p:cNvPr>
          <p:cNvSpPr/>
          <p:nvPr/>
        </p:nvSpPr>
        <p:spPr>
          <a:xfrm>
            <a:off x="4853984" y="1639959"/>
            <a:ext cx="7046069" cy="4585709"/>
          </a:xfrm>
          <a:prstGeom prst="roundRect">
            <a:avLst>
              <a:gd name="adj" fmla="val 2676"/>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 typeface="Arial"/>
              <a:buNone/>
              <a:tabLst/>
              <a:defRPr/>
            </a:pPr>
            <a:endParaRPr kumimoji="0" sz="2400" b="0" i="0" u="none" strike="noStrike" kern="0" cap="none" spc="-10" normalizeH="0" baseline="0" noProof="0">
              <a:ln>
                <a:noFill/>
              </a:ln>
              <a:solidFill>
                <a:srgbClr val="1D1D1D"/>
              </a:solidFill>
              <a:effectLst/>
              <a:uLnTx/>
              <a:uFillTx/>
              <a:latin typeface="Arial" pitchFamily="34" charset="0"/>
              <a:ea typeface="Lato"/>
              <a:cs typeface="Lato"/>
              <a:sym typeface="Lato"/>
            </a:endParaRPr>
          </a:p>
        </p:txBody>
      </p:sp>
      <p:sp>
        <p:nvSpPr>
          <p:cNvPr id="5" name="Google Shape;143;p4">
            <a:extLst>
              <a:ext uri="{FF2B5EF4-FFF2-40B4-BE49-F238E27FC236}">
                <a16:creationId xmlns:a16="http://schemas.microsoft.com/office/drawing/2014/main" id="{91197020-B3A0-167F-EEF6-C68A352D8864}"/>
              </a:ext>
            </a:extLst>
          </p:cNvPr>
          <p:cNvSpPr txBox="1"/>
          <p:nvPr/>
        </p:nvSpPr>
        <p:spPr>
          <a:xfrm>
            <a:off x="5062870" y="1768780"/>
            <a:ext cx="2505804" cy="230812"/>
          </a:xfrm>
          <a:prstGeom prst="rect">
            <a:avLst/>
          </a:prstGeom>
          <a:noFill/>
          <a:ln>
            <a:noFill/>
          </a:ln>
        </p:spPr>
        <p:txBody>
          <a:bodyPr spcFirstLastPara="1" wrap="square" lIns="22850" tIns="22850" rIns="22850" bIns="22850" anchor="b" anchorCtr="0">
            <a:spAutoFit/>
          </a:bodyPr>
          <a:lstStyle/>
          <a:p>
            <a:pPr marL="0" marR="0" lvl="0" indent="0" algn="l" defTabSz="457200" rtl="0" eaLnBrk="1" fontAlgn="auto" latinLnBrk="0" hangingPunct="1">
              <a:lnSpc>
                <a:spcPct val="100000"/>
              </a:lnSpc>
              <a:spcBef>
                <a:spcPts val="0"/>
              </a:spcBef>
              <a:spcAft>
                <a:spcPts val="0"/>
              </a:spcAft>
              <a:buClr>
                <a:srgbClr val="BA0C2F"/>
              </a:buClr>
              <a:buSzPts val="3600"/>
              <a:buFont typeface="Arial"/>
              <a:buNone/>
              <a:tabLst/>
              <a:defRPr/>
            </a:pPr>
            <a:r>
              <a:rPr kumimoji="0" lang="en-US" sz="1200" b="1" i="0" u="none" strike="noStrike" kern="0" cap="none" spc="-10" normalizeH="0" baseline="0" noProof="0">
                <a:ln>
                  <a:noFill/>
                </a:ln>
                <a:solidFill>
                  <a:srgbClr val="BA0C2F"/>
                </a:solidFill>
                <a:effectLst/>
                <a:uLnTx/>
                <a:uFillTx/>
                <a:latin typeface="Segoe UI" pitchFamily="34" charset="0"/>
                <a:ea typeface="Lato"/>
                <a:cs typeface="Lato"/>
                <a:sym typeface="Lato"/>
              </a:rPr>
              <a:t>Work Challenge</a:t>
            </a:r>
            <a:endParaRPr kumimoji="0" lang="en-US" sz="1200" b="1" i="0" u="none" strike="noStrike" kern="0" cap="none" spc="-10" normalizeH="0" baseline="0" noProof="0">
              <a:ln>
                <a:noFill/>
              </a:ln>
              <a:solidFill>
                <a:srgbClr val="1D1D1D"/>
              </a:solidFill>
              <a:effectLst/>
              <a:uLnTx/>
              <a:uFillTx/>
              <a:latin typeface="Segoe UI" pitchFamily="34" charset="0"/>
              <a:ea typeface="Lato"/>
              <a:cs typeface="Lato"/>
              <a:sym typeface="Lato"/>
            </a:endParaRPr>
          </a:p>
        </p:txBody>
      </p:sp>
      <p:sp>
        <p:nvSpPr>
          <p:cNvPr id="6" name="Google Shape;143;p4">
            <a:extLst>
              <a:ext uri="{FF2B5EF4-FFF2-40B4-BE49-F238E27FC236}">
                <a16:creationId xmlns:a16="http://schemas.microsoft.com/office/drawing/2014/main" id="{7FFECD35-D892-B964-BEAA-C2DB2A65C4D4}"/>
              </a:ext>
            </a:extLst>
          </p:cNvPr>
          <p:cNvSpPr txBox="1"/>
          <p:nvPr/>
        </p:nvSpPr>
        <p:spPr>
          <a:xfrm>
            <a:off x="5062871" y="3976049"/>
            <a:ext cx="2505804" cy="230812"/>
          </a:xfrm>
          <a:prstGeom prst="rect">
            <a:avLst/>
          </a:prstGeom>
          <a:noFill/>
          <a:ln>
            <a:noFill/>
          </a:ln>
        </p:spPr>
        <p:txBody>
          <a:bodyPr spcFirstLastPara="1" wrap="square" lIns="22850" tIns="22850" rIns="22850" bIns="22850" anchor="b" anchorCtr="0">
            <a:spAutoFit/>
          </a:bodyPr>
          <a:lstStyle/>
          <a:p>
            <a:pPr marL="0" marR="0" lvl="0" indent="0" algn="l" defTabSz="457200" rtl="0" eaLnBrk="1" fontAlgn="auto" latinLnBrk="0" hangingPunct="1">
              <a:lnSpc>
                <a:spcPct val="100000"/>
              </a:lnSpc>
              <a:spcBef>
                <a:spcPts val="0"/>
              </a:spcBef>
              <a:spcAft>
                <a:spcPts val="0"/>
              </a:spcAft>
              <a:buClr>
                <a:srgbClr val="BA0C2F"/>
              </a:buClr>
              <a:buSzPts val="3600"/>
              <a:buFont typeface="Arial"/>
              <a:buNone/>
              <a:tabLst/>
              <a:defRPr/>
            </a:pPr>
            <a:r>
              <a:rPr kumimoji="0" lang="en-US" sz="1200" b="1" i="0" u="none" strike="noStrike" kern="0" cap="none" spc="-10" normalizeH="0" baseline="0" noProof="0">
                <a:ln>
                  <a:noFill/>
                </a:ln>
                <a:solidFill>
                  <a:srgbClr val="BA0C2F"/>
                </a:solidFill>
                <a:effectLst/>
                <a:uLnTx/>
                <a:uFillTx/>
                <a:latin typeface="Segoe UI" pitchFamily="34" charset="0"/>
                <a:ea typeface="Lato"/>
                <a:cs typeface="Lato"/>
                <a:sym typeface="Lato"/>
              </a:rPr>
              <a:t>Role Design</a:t>
            </a:r>
            <a:endParaRPr kumimoji="0" lang="en-US" sz="1200" b="1" i="0" u="none" strike="noStrike" kern="0" cap="none" spc="-10" normalizeH="0" baseline="0" noProof="0">
              <a:ln>
                <a:noFill/>
              </a:ln>
              <a:solidFill>
                <a:srgbClr val="1D1D1D"/>
              </a:solidFill>
              <a:effectLst/>
              <a:uLnTx/>
              <a:uFillTx/>
              <a:latin typeface="Segoe UI" pitchFamily="34" charset="0"/>
              <a:ea typeface="Lato"/>
              <a:cs typeface="Lato"/>
              <a:sym typeface="Lato"/>
            </a:endParaRPr>
          </a:p>
        </p:txBody>
      </p:sp>
      <p:cxnSp>
        <p:nvCxnSpPr>
          <p:cNvPr id="8" name="Google Shape;306;p6">
            <a:extLst>
              <a:ext uri="{FF2B5EF4-FFF2-40B4-BE49-F238E27FC236}">
                <a16:creationId xmlns:a16="http://schemas.microsoft.com/office/drawing/2014/main" id="{3D559E32-2030-1906-C4BF-CCB12F2351CD}"/>
              </a:ext>
            </a:extLst>
          </p:cNvPr>
          <p:cNvCxnSpPr>
            <a:cxnSpLocks/>
          </p:cNvCxnSpPr>
          <p:nvPr/>
        </p:nvCxnSpPr>
        <p:spPr>
          <a:xfrm>
            <a:off x="5062870" y="3911178"/>
            <a:ext cx="5615312" cy="1051"/>
          </a:xfrm>
          <a:prstGeom prst="straightConnector1">
            <a:avLst/>
          </a:prstGeom>
          <a:noFill/>
          <a:ln w="12700" cap="flat" cmpd="sng">
            <a:solidFill>
              <a:srgbClr val="FFFFFF">
                <a:lumMod val="65000"/>
              </a:srgbClr>
            </a:solidFill>
            <a:prstDash val="solid"/>
            <a:miter lim="400000"/>
            <a:headEnd type="none" w="sm" len="sm"/>
            <a:tailEnd type="none" w="sm" len="sm"/>
          </a:ln>
        </p:spPr>
      </p:cxnSp>
      <p:sp>
        <p:nvSpPr>
          <p:cNvPr id="10" name="Google Shape;420;p8">
            <a:extLst>
              <a:ext uri="{FF2B5EF4-FFF2-40B4-BE49-F238E27FC236}">
                <a16:creationId xmlns:a16="http://schemas.microsoft.com/office/drawing/2014/main" id="{3FED3F52-34E2-3A23-BC86-5DF162FE3690}"/>
              </a:ext>
            </a:extLst>
          </p:cNvPr>
          <p:cNvSpPr>
            <a:spLocks noGrp="1"/>
          </p:cNvSpPr>
          <p:nvPr>
            <p:ph idx="1"/>
          </p:nvPr>
        </p:nvSpPr>
        <p:spPr>
          <a:xfrm>
            <a:off x="7308162" y="1746902"/>
            <a:ext cx="4039560" cy="1777389"/>
          </a:xfrm>
          <a:prstGeom prst="rect">
            <a:avLst/>
          </a:prstGeom>
          <a:noFill/>
          <a:ln>
            <a:noFill/>
          </a:ln>
        </p:spPr>
        <p:txBody>
          <a:bodyPr spcFirstLastPara="1" wrap="square" lIns="45713" tIns="22850" rIns="45713" bIns="22850" anchor="t" anchorCtr="0">
            <a:spAutoFit/>
          </a:bodyPr>
          <a:lstStyle/>
          <a:p>
            <a:pPr marL="171450" marR="0" lvl="0" indent="-171450" algn="l" defTabSz="914400" rtl="0" eaLnBrk="1" fontAlgn="auto" latinLnBrk="0" hangingPunct="1">
              <a:lnSpc>
                <a:spcPct val="100000"/>
              </a:lnSpc>
              <a:spcBef>
                <a:spcPts val="0"/>
              </a:spcBef>
              <a:spcAft>
                <a:spcPts val="300"/>
              </a:spcAft>
              <a:buBlip>
                <a:blip r:embed="rId3"/>
              </a:buBlip>
              <a:tabLst/>
              <a:defRPr/>
            </a:pPr>
            <a:r>
              <a:rPr kumimoji="0" lang="en-US" sz="1000" i="0" u="none" strike="noStrike" kern="1200" cap="none" spc="-10" normalizeH="0" baseline="0" noProof="0">
                <a:ln>
                  <a:noFill/>
                </a:ln>
                <a:solidFill>
                  <a:srgbClr val="1D1D1D"/>
                </a:solidFill>
                <a:effectLst/>
                <a:uLnTx/>
                <a:uFillTx/>
                <a:latin typeface="Arial" pitchFamily="34" charset="0"/>
                <a:ea typeface="Lato Light"/>
                <a:cs typeface="Lato Light"/>
              </a:rPr>
              <a:t>   </a:t>
            </a:r>
          </a:p>
          <a:p>
            <a:pPr marL="171450" marR="0" lvl="0" indent="-171450" algn="l" defTabSz="914400" rtl="0" eaLnBrk="1" fontAlgn="auto" latinLnBrk="0" hangingPunct="1">
              <a:lnSpc>
                <a:spcPct val="100000"/>
              </a:lnSpc>
              <a:spcBef>
                <a:spcPts val="0"/>
              </a:spcBef>
              <a:spcAft>
                <a:spcPts val="300"/>
              </a:spcAft>
              <a:buBlip>
                <a:blip r:embed="rId3"/>
              </a:buBlip>
              <a:tabLst/>
              <a:defRPr/>
            </a:pPr>
            <a:r>
              <a:rPr kumimoji="0" lang="en-US" sz="1000" i="0" u="none" strike="noStrike" kern="1200" cap="none" spc="-10" normalizeH="0" baseline="0" noProof="0">
                <a:ln>
                  <a:noFill/>
                </a:ln>
                <a:solidFill>
                  <a:srgbClr val="1D1D1D"/>
                </a:solidFill>
                <a:effectLst/>
                <a:uLnTx/>
                <a:uFillTx/>
                <a:latin typeface="Arial" pitchFamily="34" charset="0"/>
                <a:ea typeface="Lato Light"/>
                <a:cs typeface="Lato Light"/>
              </a:rPr>
              <a:t>   </a:t>
            </a:r>
          </a:p>
          <a:p>
            <a:pPr marL="171450" marR="0" lvl="0" indent="-171450" algn="l" defTabSz="914400" rtl="0" eaLnBrk="1" fontAlgn="auto" latinLnBrk="0" hangingPunct="1">
              <a:lnSpc>
                <a:spcPct val="100000"/>
              </a:lnSpc>
              <a:spcBef>
                <a:spcPts val="0"/>
              </a:spcBef>
              <a:spcAft>
                <a:spcPts val="300"/>
              </a:spcAft>
              <a:buBlip>
                <a:blip r:embed="rId3"/>
              </a:buBlip>
              <a:tabLst/>
              <a:defRPr/>
            </a:pPr>
            <a:r>
              <a:rPr kumimoji="0" lang="en-US" sz="1000" i="0" u="none" strike="noStrike" kern="1200" cap="none" spc="-10" normalizeH="0" baseline="0" noProof="0">
                <a:ln>
                  <a:noFill/>
                </a:ln>
                <a:solidFill>
                  <a:srgbClr val="1D1D1D"/>
                </a:solidFill>
                <a:effectLst/>
                <a:uLnTx/>
                <a:uFillTx/>
                <a:latin typeface="Arial" pitchFamily="34" charset="0"/>
                <a:ea typeface="Lato Light"/>
                <a:cs typeface="Lato Light"/>
              </a:rPr>
              <a:t>   </a:t>
            </a:r>
          </a:p>
          <a:p>
            <a:pPr marL="171450" marR="0" lvl="0" indent="-171450" algn="l" defTabSz="914400" rtl="0" eaLnBrk="1" fontAlgn="auto" latinLnBrk="0" hangingPunct="1">
              <a:lnSpc>
                <a:spcPct val="100000"/>
              </a:lnSpc>
              <a:spcBef>
                <a:spcPts val="0"/>
              </a:spcBef>
              <a:spcAft>
                <a:spcPts val="300"/>
              </a:spcAft>
              <a:buBlip>
                <a:blip r:embed="rId3"/>
              </a:buBlip>
              <a:tabLst/>
              <a:defRPr/>
            </a:pPr>
            <a:r>
              <a:rPr kumimoji="0" lang="en-US" sz="1000" i="0" u="none" strike="noStrike" kern="1200" cap="none" spc="-10" normalizeH="0" baseline="0" noProof="0">
                <a:ln>
                  <a:noFill/>
                </a:ln>
                <a:solidFill>
                  <a:srgbClr val="FFFFFF"/>
                </a:solidFill>
                <a:effectLst/>
                <a:uLnTx/>
                <a:uFillTx/>
                <a:latin typeface="Arial" pitchFamily="34" charset="0"/>
                <a:ea typeface="Lato Light"/>
                <a:cs typeface="Lato Light"/>
              </a:rPr>
              <a:t>XXX</a:t>
            </a:r>
            <a:endParaRPr kumimoji="0" lang="en-US" sz="1000" i="0" u="none" strike="noStrike" kern="1200" cap="none" spc="-10" normalizeH="0" baseline="0" noProof="0">
              <a:ln>
                <a:noFill/>
              </a:ln>
              <a:solidFill>
                <a:srgbClr val="FFFFFF"/>
              </a:solidFill>
              <a:effectLst/>
              <a:uLnTx/>
              <a:uFillTx/>
              <a:latin typeface="Arial" pitchFamily="34" charset="0"/>
              <a:ea typeface="Lato Light" panose="020F0502020204030203" pitchFamily="34" charset="0"/>
              <a:cs typeface="Lato Light" panose="020F0502020204030203" pitchFamily="34" charset="0"/>
            </a:endParaRPr>
          </a:p>
          <a:p>
            <a:pPr marL="171450" marR="0" lvl="0" indent="-171450" algn="l" defTabSz="914400" rtl="0" eaLnBrk="1" fontAlgn="auto" latinLnBrk="0" hangingPunct="1">
              <a:lnSpc>
                <a:spcPct val="100000"/>
              </a:lnSpc>
              <a:spcBef>
                <a:spcPts val="0"/>
              </a:spcBef>
              <a:spcAft>
                <a:spcPts val="300"/>
              </a:spcAft>
              <a:buBlip>
                <a:blip r:embed="rId3"/>
              </a:buBlip>
              <a:tabLst/>
              <a:defRPr/>
            </a:pPr>
            <a:r>
              <a:rPr kumimoji="0" lang="en-US" sz="1000" i="0" u="none" strike="noStrike" kern="1200" cap="none" spc="-10" normalizeH="0" baseline="0" noProof="0" err="1">
                <a:ln>
                  <a:noFill/>
                </a:ln>
                <a:solidFill>
                  <a:srgbClr val="FFFFFF"/>
                </a:solidFill>
                <a:effectLst/>
                <a:uLnTx/>
                <a:uFillTx/>
                <a:latin typeface="Arial" pitchFamily="34" charset="0"/>
                <a:ea typeface="Lato Light"/>
                <a:cs typeface="Lato Light"/>
              </a:rPr>
              <a:t>Xxxx</a:t>
            </a:r>
            <a:endParaRPr kumimoji="0" lang="en-US" sz="1000" i="0" u="none" strike="noStrike" kern="1200" cap="none" spc="-10" normalizeH="0" baseline="0" noProof="0">
              <a:ln>
                <a:noFill/>
              </a:ln>
              <a:solidFill>
                <a:srgbClr val="FFFFFF"/>
              </a:solidFill>
              <a:effectLst/>
              <a:uLnTx/>
              <a:uFillTx/>
              <a:latin typeface="Arial" pitchFamily="34" charset="0"/>
              <a:ea typeface="Lato Light" panose="020F0502020204030203" pitchFamily="34" charset="0"/>
              <a:cs typeface="Lato Light" panose="020F0502020204030203" pitchFamily="34" charset="0"/>
            </a:endParaRPr>
          </a:p>
          <a:p>
            <a:pPr marL="171450" marR="0" lvl="0" indent="-171450" algn="l" defTabSz="914400" rtl="0" eaLnBrk="1" fontAlgn="auto" latinLnBrk="0" hangingPunct="1">
              <a:lnSpc>
                <a:spcPct val="100000"/>
              </a:lnSpc>
              <a:spcBef>
                <a:spcPts val="0"/>
              </a:spcBef>
              <a:spcAft>
                <a:spcPts val="300"/>
              </a:spcAft>
              <a:buBlip>
                <a:blip r:embed="rId3"/>
              </a:buBlip>
              <a:tabLst/>
              <a:defRPr/>
            </a:pPr>
            <a:r>
              <a:rPr kumimoji="0" lang="en-US" sz="1000" i="0" u="none" strike="noStrike" kern="1200" cap="none" spc="-10" normalizeH="0" baseline="0" noProof="0" err="1">
                <a:ln>
                  <a:noFill/>
                </a:ln>
                <a:solidFill>
                  <a:srgbClr val="FFFFFF"/>
                </a:solidFill>
                <a:effectLst/>
                <a:uLnTx/>
                <a:uFillTx/>
                <a:latin typeface="Arial" pitchFamily="34" charset="0"/>
                <a:ea typeface="Lato Light"/>
                <a:cs typeface="Lato Light"/>
              </a:rPr>
              <a:t>Xxxxx</a:t>
            </a:r>
            <a:endParaRPr kumimoji="0" lang="en-US" sz="1000" i="0" u="none" strike="noStrike" kern="1200" cap="none" spc="-10" normalizeH="0" baseline="0" noProof="0">
              <a:ln>
                <a:noFill/>
              </a:ln>
              <a:solidFill>
                <a:srgbClr val="FFFFFF"/>
              </a:solidFill>
              <a:effectLst/>
              <a:uLnTx/>
              <a:uFillTx/>
              <a:latin typeface="Arial" pitchFamily="34" charset="0"/>
              <a:ea typeface="Lato Light" panose="020F0502020204030203" pitchFamily="34" charset="0"/>
              <a:cs typeface="Lato Light" panose="020F0502020204030203" pitchFamily="34" charset="0"/>
            </a:endParaRPr>
          </a:p>
          <a:p>
            <a:pPr marL="171450" marR="0" lvl="0" indent="-171450" algn="l" defTabSz="914400" rtl="0" eaLnBrk="1" fontAlgn="auto" latinLnBrk="0" hangingPunct="1">
              <a:lnSpc>
                <a:spcPct val="100000"/>
              </a:lnSpc>
              <a:spcBef>
                <a:spcPts val="0"/>
              </a:spcBef>
              <a:spcAft>
                <a:spcPts val="300"/>
              </a:spcAft>
              <a:buBlip>
                <a:blip r:embed="rId3"/>
              </a:buBlip>
              <a:tabLst/>
              <a:defRPr/>
            </a:pPr>
            <a:r>
              <a:rPr kumimoji="0" lang="en-US" sz="1000" i="0" u="none" strike="noStrike" kern="1200" cap="none" spc="-10" normalizeH="0" baseline="0" noProof="0" err="1">
                <a:ln>
                  <a:noFill/>
                </a:ln>
                <a:solidFill>
                  <a:srgbClr val="FFFFFF"/>
                </a:solidFill>
                <a:effectLst/>
                <a:uLnTx/>
                <a:uFillTx/>
                <a:latin typeface="Arial" pitchFamily="34" charset="0"/>
                <a:ea typeface="Lato Light"/>
                <a:cs typeface="Lato Light"/>
              </a:rPr>
              <a:t>Xxxxx</a:t>
            </a:r>
            <a:endParaRPr kumimoji="0" lang="en-US" sz="1000" i="0" u="none" strike="noStrike" kern="1200" cap="none" spc="-10" normalizeH="0" baseline="0" noProof="0">
              <a:ln>
                <a:noFill/>
              </a:ln>
              <a:solidFill>
                <a:srgbClr val="FFFFFF"/>
              </a:solidFill>
              <a:effectLst/>
              <a:uLnTx/>
              <a:uFillTx/>
              <a:latin typeface="Arial" pitchFamily="34" charset="0"/>
              <a:ea typeface="Lato Light" panose="020F0502020204030203" pitchFamily="34" charset="0"/>
              <a:cs typeface="Lato Light" panose="020F0502020204030203" pitchFamily="34" charset="0"/>
            </a:endParaRPr>
          </a:p>
          <a:p>
            <a:pPr marL="171450" marR="0" lvl="0" indent="-171450" algn="l" defTabSz="914400" rtl="0" eaLnBrk="1" fontAlgn="auto" latinLnBrk="0" hangingPunct="1">
              <a:lnSpc>
                <a:spcPct val="100000"/>
              </a:lnSpc>
              <a:spcBef>
                <a:spcPts val="0"/>
              </a:spcBef>
              <a:spcAft>
                <a:spcPts val="300"/>
              </a:spcAft>
              <a:buBlip>
                <a:blip r:embed="rId3"/>
              </a:buBlip>
              <a:tabLst/>
              <a:defRPr/>
            </a:pPr>
            <a:r>
              <a:rPr kumimoji="0" lang="en-US" sz="1000" i="0" u="none" strike="noStrike" kern="1200" cap="none" spc="-10" normalizeH="0" baseline="0" noProof="0" err="1">
                <a:ln>
                  <a:noFill/>
                </a:ln>
                <a:solidFill>
                  <a:srgbClr val="FFFFFF"/>
                </a:solidFill>
                <a:effectLst/>
                <a:uLnTx/>
                <a:uFillTx/>
                <a:latin typeface="Arial" pitchFamily="34" charset="0"/>
                <a:ea typeface="Lato Light"/>
                <a:cs typeface="Lato Light"/>
              </a:rPr>
              <a:t>Xxxxx</a:t>
            </a:r>
            <a:endParaRPr kumimoji="0" lang="en-US" sz="1000" i="0" u="none" strike="noStrike" kern="1200" cap="none" spc="-10" normalizeH="0" baseline="0" noProof="0">
              <a:ln>
                <a:noFill/>
              </a:ln>
              <a:solidFill>
                <a:srgbClr val="FFFFFF"/>
              </a:solidFill>
              <a:effectLst/>
              <a:uLnTx/>
              <a:uFillTx/>
              <a:latin typeface="Arial" pitchFamily="34" charset="0"/>
              <a:ea typeface="Lato Light" panose="020F0502020204030203" pitchFamily="34" charset="0"/>
              <a:cs typeface="Lato Light" panose="020F0502020204030203" pitchFamily="34" charset="0"/>
            </a:endParaRPr>
          </a:p>
          <a:p>
            <a:pPr marL="171450" marR="0" lvl="0" indent="-171450" algn="l" defTabSz="914400" rtl="0" eaLnBrk="1" fontAlgn="auto" latinLnBrk="0" hangingPunct="1">
              <a:lnSpc>
                <a:spcPct val="100000"/>
              </a:lnSpc>
              <a:spcBef>
                <a:spcPts val="0"/>
              </a:spcBef>
              <a:spcAft>
                <a:spcPts val="300"/>
              </a:spcAft>
              <a:buBlip>
                <a:blip r:embed="rId3"/>
              </a:buBlip>
              <a:tabLst/>
              <a:defRPr/>
            </a:pPr>
            <a:endParaRPr kumimoji="0" lang="en-US" sz="1000" i="0" u="none" strike="noStrike" kern="1200" cap="none" spc="-10" normalizeH="0" baseline="0" noProof="0">
              <a:ln>
                <a:noFill/>
              </a:ln>
              <a:solidFill>
                <a:srgbClr val="1D1D1D"/>
              </a:solidFill>
              <a:effectLst/>
              <a:uLnTx/>
              <a:uFillTx/>
              <a:latin typeface="Arial" pitchFamily="34" charset="0"/>
              <a:ea typeface="Lato Light" panose="020F0502020204030203" pitchFamily="34" charset="0"/>
              <a:cs typeface="Lato Light" panose="020F0502020204030203" pitchFamily="34" charset="0"/>
            </a:endParaRPr>
          </a:p>
        </p:txBody>
      </p:sp>
      <p:sp>
        <p:nvSpPr>
          <p:cNvPr id="25" name="Rectangle 24">
            <a:extLst>
              <a:ext uri="{FF2B5EF4-FFF2-40B4-BE49-F238E27FC236}">
                <a16:creationId xmlns:a16="http://schemas.microsoft.com/office/drawing/2014/main" id="{D79607F0-1B57-C788-38B7-91F19364F785}"/>
              </a:ext>
            </a:extLst>
          </p:cNvPr>
          <p:cNvSpPr/>
          <p:nvPr/>
        </p:nvSpPr>
        <p:spPr>
          <a:xfrm>
            <a:off x="5057184" y="1988513"/>
            <a:ext cx="2269046" cy="1340217"/>
          </a:xfrm>
          <a:prstGeom prst="rect">
            <a:avLst/>
          </a:prstGeom>
          <a:noFill/>
          <a:ln w="25400" cap="flat" cmpd="sng" algn="ctr">
            <a:noFill/>
            <a:prstDash val="solid"/>
          </a:ln>
          <a:effectLst/>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rPr>
              <a:t>Is there clarity around the JTBDs?</a:t>
            </a:r>
          </a:p>
          <a:p>
            <a:pPr marL="91440" marR="0" lvl="0" indent="-9144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rPr>
              <a:t>How new is this work to </a:t>
            </a:r>
            <a:r>
              <a:rPr kumimoji="0" lang="en-US" sz="1100" b="1" i="0" u="none" strike="noStrike" kern="0" cap="none" spc="-10" normalizeH="0" baseline="0" noProof="0" err="1">
                <a:ln>
                  <a:noFill/>
                </a:ln>
                <a:solidFill>
                  <a:prstClr val="black"/>
                </a:solidFill>
                <a:effectLst/>
                <a:uLnTx/>
                <a:uFillTx/>
                <a:latin typeface="Segoe UI" pitchFamily="34" charset="0"/>
                <a:ea typeface="Lato" panose="020F0502020204030203" pitchFamily="34" charset="0"/>
                <a:cs typeface="Lato" panose="020F0502020204030203" pitchFamily="34" charset="0"/>
              </a:rPr>
              <a:t>FrontierDigitalCo</a:t>
            </a: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rPr>
              <a:t>?</a:t>
            </a:r>
          </a:p>
        </p:txBody>
      </p:sp>
      <p:sp>
        <p:nvSpPr>
          <p:cNvPr id="27" name="Rectangle 26">
            <a:extLst>
              <a:ext uri="{FF2B5EF4-FFF2-40B4-BE49-F238E27FC236}">
                <a16:creationId xmlns:a16="http://schemas.microsoft.com/office/drawing/2014/main" id="{9C5122CE-712D-31D7-43E7-F7E615CA22DF}"/>
              </a:ext>
            </a:extLst>
          </p:cNvPr>
          <p:cNvSpPr/>
          <p:nvPr/>
        </p:nvSpPr>
        <p:spPr>
          <a:xfrm>
            <a:off x="5057184" y="4380321"/>
            <a:ext cx="2128820" cy="1664970"/>
          </a:xfrm>
          <a:prstGeom prst="rect">
            <a:avLst/>
          </a:prstGeom>
          <a:noFill/>
          <a:ln w="25400" cap="flat" cmpd="sng" algn="ctr">
            <a:noFill/>
            <a:prstDash val="solid"/>
          </a:ln>
          <a:effectLst/>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rPr>
              <a:t>Appropriate decision rights to deliver the JTBDs?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rPr>
              <a:t>Adequate resource/capability to deliver the JTBDs?</a:t>
            </a:r>
          </a:p>
        </p:txBody>
      </p:sp>
      <p:sp>
        <p:nvSpPr>
          <p:cNvPr id="28" name="Google Shape;425;p8">
            <a:extLst>
              <a:ext uri="{FF2B5EF4-FFF2-40B4-BE49-F238E27FC236}">
                <a16:creationId xmlns:a16="http://schemas.microsoft.com/office/drawing/2014/main" id="{2E6F53DD-74BD-44EA-88DB-A04715DC588A}"/>
              </a:ext>
            </a:extLst>
          </p:cNvPr>
          <p:cNvSpPr/>
          <p:nvPr/>
        </p:nvSpPr>
        <p:spPr>
          <a:xfrm>
            <a:off x="6623848" y="3691065"/>
            <a:ext cx="4146063" cy="52959"/>
          </a:xfrm>
          <a:prstGeom prst="rect">
            <a:avLst/>
          </a:prstGeom>
          <a:gradFill>
            <a:gsLst>
              <a:gs pos="0">
                <a:srgbClr val="2B3A42"/>
              </a:gs>
              <a:gs pos="52000">
                <a:srgbClr val="FCB546"/>
              </a:gs>
              <a:gs pos="100000">
                <a:srgbClr val="00C27A"/>
              </a:gs>
            </a:gsLst>
            <a:lin ang="0" scaled="0"/>
          </a:gradFill>
          <a:ln>
            <a:noFill/>
          </a:ln>
        </p:spPr>
        <p:txBody>
          <a:bodyPr spcFirstLastPara="1" wrap="square" lIns="45713" tIns="22850" rIns="45713" bIns="2285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10" normalizeH="0" baseline="0" noProof="0">
              <a:ln>
                <a:noFill/>
              </a:ln>
              <a:solidFill>
                <a:srgbClr val="FFFFFF"/>
              </a:solidFill>
              <a:effectLst/>
              <a:uLnTx/>
              <a:uFillTx/>
              <a:latin typeface="Arial" pitchFamily="34" charset="0"/>
              <a:ea typeface="Calibri"/>
              <a:cs typeface="Calibri"/>
              <a:sym typeface="Calibri"/>
            </a:endParaRPr>
          </a:p>
        </p:txBody>
      </p:sp>
      <p:sp>
        <p:nvSpPr>
          <p:cNvPr id="30" name="Google Shape;425;p8">
            <a:extLst>
              <a:ext uri="{FF2B5EF4-FFF2-40B4-BE49-F238E27FC236}">
                <a16:creationId xmlns:a16="http://schemas.microsoft.com/office/drawing/2014/main" id="{B98FDE79-9C51-A641-CBC0-40AB17F83AA9}"/>
              </a:ext>
            </a:extLst>
          </p:cNvPr>
          <p:cNvSpPr/>
          <p:nvPr/>
        </p:nvSpPr>
        <p:spPr>
          <a:xfrm>
            <a:off x="6546487" y="5936232"/>
            <a:ext cx="4146063" cy="52959"/>
          </a:xfrm>
          <a:prstGeom prst="rect">
            <a:avLst/>
          </a:prstGeom>
          <a:gradFill>
            <a:gsLst>
              <a:gs pos="0">
                <a:srgbClr val="2B3A42"/>
              </a:gs>
              <a:gs pos="52000">
                <a:srgbClr val="FCB546"/>
              </a:gs>
              <a:gs pos="100000">
                <a:srgbClr val="00C27A"/>
              </a:gs>
            </a:gsLst>
            <a:lin ang="0" scaled="0"/>
          </a:gradFill>
          <a:ln>
            <a:noFill/>
          </a:ln>
        </p:spPr>
        <p:txBody>
          <a:bodyPr spcFirstLastPara="1" wrap="square" lIns="45713" tIns="22850" rIns="45713" bIns="2285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10" normalizeH="0" baseline="0" noProof="0">
              <a:ln>
                <a:noFill/>
              </a:ln>
              <a:solidFill>
                <a:srgbClr val="FFFFFF"/>
              </a:solidFill>
              <a:effectLst/>
              <a:uLnTx/>
              <a:uFillTx/>
              <a:latin typeface="Arial" pitchFamily="34" charset="0"/>
              <a:ea typeface="Calibri"/>
              <a:cs typeface="Calibri"/>
              <a:sym typeface="Calibri"/>
            </a:endParaRPr>
          </a:p>
        </p:txBody>
      </p:sp>
      <p:sp>
        <p:nvSpPr>
          <p:cNvPr id="7" name="Google Shape;420;p8">
            <a:extLst>
              <a:ext uri="{FF2B5EF4-FFF2-40B4-BE49-F238E27FC236}">
                <a16:creationId xmlns:a16="http://schemas.microsoft.com/office/drawing/2014/main" id="{4703B629-9B69-C24B-8D82-6F7FAFE2E8CD}"/>
              </a:ext>
            </a:extLst>
          </p:cNvPr>
          <p:cNvSpPr txBox="1"/>
          <p:nvPr/>
        </p:nvSpPr>
        <p:spPr>
          <a:xfrm>
            <a:off x="7326230" y="4138328"/>
            <a:ext cx="4039560" cy="1777389"/>
          </a:xfrm>
          <a:prstGeom prst="rect">
            <a:avLst/>
          </a:prstGeom>
          <a:noFill/>
          <a:ln>
            <a:noFill/>
          </a:ln>
        </p:spPr>
        <p:txBody>
          <a:bodyPr spcFirstLastPara="1" wrap="square" lIns="45713" tIns="22850" rIns="45713" bIns="22850" anchor="t" anchorCtr="0">
            <a:spAutoFit/>
          </a:bodyPr>
          <a:lstStyle/>
          <a:p>
            <a:pPr marL="171450" marR="0" lvl="0" indent="-171450" algn="l" defTabSz="914400" rtl="0" eaLnBrk="1" fontAlgn="auto" latinLnBrk="0" hangingPunct="1">
              <a:lnSpc>
                <a:spcPct val="100000"/>
              </a:lnSpc>
              <a:spcBef>
                <a:spcPts val="0"/>
              </a:spcBef>
              <a:spcAft>
                <a:spcPts val="300"/>
              </a:spcAft>
              <a:buClr>
                <a:srgbClr val="1D1D1D"/>
              </a:buClr>
              <a:buSzPct val="100000"/>
              <a:buFont typeface="Arial" panose="020B0604020202020204" pitchFamily="34" charset="0"/>
              <a:buChar char="•"/>
              <a:tabLst/>
              <a:defRPr/>
            </a:pPr>
            <a:r>
              <a:rPr kumimoji="0" lang="en-US" sz="1000" i="0" u="none" strike="noStrike" kern="1200" cap="none" spc="-10" normalizeH="0" baseline="0" noProof="0">
                <a:ln>
                  <a:noFill/>
                </a:ln>
                <a:solidFill>
                  <a:srgbClr val="1D1D1D"/>
                </a:solidFill>
                <a:effectLst/>
                <a:uLnTx/>
                <a:uFillTx/>
                <a:latin typeface="Arial" pitchFamily="34" charset="0"/>
                <a:ea typeface="Lato Light"/>
                <a:cs typeface="Lato Light"/>
              </a:rPr>
              <a:t>   </a:t>
            </a:r>
          </a:p>
          <a:p>
            <a:pPr marL="171450" marR="0" lvl="0" indent="-171450" algn="l" defTabSz="914400" rtl="0" eaLnBrk="1" fontAlgn="auto" latinLnBrk="0" hangingPunct="1">
              <a:lnSpc>
                <a:spcPct val="100000"/>
              </a:lnSpc>
              <a:spcBef>
                <a:spcPts val="0"/>
              </a:spcBef>
              <a:spcAft>
                <a:spcPts val="300"/>
              </a:spcAft>
              <a:buClr>
                <a:srgbClr val="1D1D1D"/>
              </a:buClr>
              <a:buSzPct val="100000"/>
              <a:buFont typeface="Arial" panose="020B0604020202020204" pitchFamily="34" charset="0"/>
              <a:buChar char="•"/>
              <a:tabLst/>
              <a:defRPr/>
            </a:pPr>
            <a:r>
              <a:rPr kumimoji="0" lang="en-US" sz="1000" i="0" u="none" strike="noStrike" kern="1200" cap="none" spc="-10" normalizeH="0" baseline="0" noProof="0">
                <a:ln>
                  <a:noFill/>
                </a:ln>
                <a:solidFill>
                  <a:srgbClr val="1D1D1D"/>
                </a:solidFill>
                <a:effectLst/>
                <a:uLnTx/>
                <a:uFillTx/>
                <a:latin typeface="Arial" pitchFamily="34" charset="0"/>
                <a:ea typeface="Lato Light"/>
                <a:cs typeface="Lato Light"/>
              </a:rPr>
              <a:t>   </a:t>
            </a:r>
          </a:p>
          <a:p>
            <a:pPr marL="171450" marR="0" lvl="0" indent="-171450" algn="l" defTabSz="914400" rtl="0" eaLnBrk="1" fontAlgn="auto" latinLnBrk="0" hangingPunct="1">
              <a:lnSpc>
                <a:spcPct val="100000"/>
              </a:lnSpc>
              <a:spcBef>
                <a:spcPts val="0"/>
              </a:spcBef>
              <a:spcAft>
                <a:spcPts val="300"/>
              </a:spcAft>
              <a:buClr>
                <a:srgbClr val="1D1D1D"/>
              </a:buClr>
              <a:buSzPct val="100000"/>
              <a:buFont typeface="Arial" panose="020B0604020202020204" pitchFamily="34" charset="0"/>
              <a:buChar char="•"/>
              <a:tabLst/>
              <a:defRPr/>
            </a:pPr>
            <a:r>
              <a:rPr kumimoji="0" lang="en-US" sz="1000" i="0" u="none" strike="noStrike" kern="1200" cap="none" spc="-10" normalizeH="0" baseline="0" noProof="0">
                <a:ln>
                  <a:noFill/>
                </a:ln>
                <a:solidFill>
                  <a:srgbClr val="1D1D1D"/>
                </a:solidFill>
                <a:effectLst/>
                <a:uLnTx/>
                <a:uFillTx/>
                <a:latin typeface="Arial" pitchFamily="34" charset="0"/>
                <a:ea typeface="Lato Light"/>
                <a:cs typeface="Lato Light"/>
              </a:rPr>
              <a:t>   </a:t>
            </a:r>
          </a:p>
          <a:p>
            <a:pPr marL="171450" marR="0" lvl="0" indent="-171450" algn="l" defTabSz="914400" rtl="0" eaLnBrk="1" fontAlgn="auto" latinLnBrk="0" hangingPunct="1">
              <a:lnSpc>
                <a:spcPct val="100000"/>
              </a:lnSpc>
              <a:spcBef>
                <a:spcPts val="0"/>
              </a:spcBef>
              <a:spcAft>
                <a:spcPts val="300"/>
              </a:spcAft>
              <a:buClr>
                <a:srgbClr val="1D1D1D"/>
              </a:buClr>
              <a:buSzPct val="100000"/>
              <a:buFont typeface="Arial" panose="020B0604020202020204" pitchFamily="34" charset="0"/>
              <a:buChar char="•"/>
              <a:tabLst/>
              <a:defRPr/>
            </a:pPr>
            <a:r>
              <a:rPr kumimoji="0" lang="en-US" sz="1000" i="0" u="none" strike="noStrike" kern="1200" cap="none" spc="-10" normalizeH="0" baseline="0" noProof="0">
                <a:ln>
                  <a:noFill/>
                </a:ln>
                <a:solidFill>
                  <a:srgbClr val="FFFFFF"/>
                </a:solidFill>
                <a:effectLst/>
                <a:uLnTx/>
                <a:uFillTx/>
                <a:latin typeface="Arial" pitchFamily="34" charset="0"/>
                <a:ea typeface="Lato Light"/>
                <a:cs typeface="Lato Light"/>
              </a:rPr>
              <a:t>XXX</a:t>
            </a:r>
            <a:endParaRPr kumimoji="0" lang="en-US" sz="1000" i="0" u="none" strike="noStrike" kern="1200" cap="none" spc="-10" normalizeH="0" baseline="0" noProof="0">
              <a:ln>
                <a:noFill/>
              </a:ln>
              <a:solidFill>
                <a:srgbClr val="FFFFFF"/>
              </a:solidFill>
              <a:effectLst/>
              <a:uLnTx/>
              <a:uFillTx/>
              <a:latin typeface="Arial" pitchFamily="34" charset="0"/>
              <a:ea typeface="Lato Light" panose="020F0502020204030203" pitchFamily="34" charset="0"/>
              <a:cs typeface="Lato Light" panose="020F0502020204030203" pitchFamily="34" charset="0"/>
            </a:endParaRPr>
          </a:p>
          <a:p>
            <a:pPr marL="171450" marR="0" lvl="0" indent="-171450" algn="l" defTabSz="914400" rtl="0" eaLnBrk="1" fontAlgn="auto" latinLnBrk="0" hangingPunct="1">
              <a:lnSpc>
                <a:spcPct val="100000"/>
              </a:lnSpc>
              <a:spcBef>
                <a:spcPts val="0"/>
              </a:spcBef>
              <a:spcAft>
                <a:spcPts val="300"/>
              </a:spcAft>
              <a:buClr>
                <a:srgbClr val="1D1D1D"/>
              </a:buClr>
              <a:buSzPct val="100000"/>
              <a:buFont typeface="Arial" panose="020B0604020202020204" pitchFamily="34" charset="0"/>
              <a:buChar char="•"/>
              <a:tabLst/>
              <a:defRPr/>
            </a:pPr>
            <a:r>
              <a:rPr kumimoji="0" lang="en-US" sz="1000" i="0" u="none" strike="noStrike" kern="1200" cap="none" spc="-10" normalizeH="0" baseline="0" noProof="0" err="1">
                <a:ln>
                  <a:noFill/>
                </a:ln>
                <a:solidFill>
                  <a:srgbClr val="FFFFFF"/>
                </a:solidFill>
                <a:effectLst/>
                <a:uLnTx/>
                <a:uFillTx/>
                <a:latin typeface="Arial" pitchFamily="34" charset="0"/>
                <a:ea typeface="Lato Light"/>
                <a:cs typeface="Lato Light"/>
              </a:rPr>
              <a:t>Xxxx</a:t>
            </a:r>
            <a:endParaRPr kumimoji="0" lang="en-US" sz="1000" i="0" u="none" strike="noStrike" kern="1200" cap="none" spc="-10" normalizeH="0" baseline="0" noProof="0">
              <a:ln>
                <a:noFill/>
              </a:ln>
              <a:solidFill>
                <a:srgbClr val="FFFFFF"/>
              </a:solidFill>
              <a:effectLst/>
              <a:uLnTx/>
              <a:uFillTx/>
              <a:latin typeface="Arial" pitchFamily="34" charset="0"/>
              <a:ea typeface="Lato Light" panose="020F0502020204030203" pitchFamily="34" charset="0"/>
              <a:cs typeface="Lato Light" panose="020F0502020204030203" pitchFamily="34" charset="0"/>
            </a:endParaRPr>
          </a:p>
          <a:p>
            <a:pPr marL="171450" marR="0" lvl="0" indent="-171450" algn="l" defTabSz="914400" rtl="0" eaLnBrk="1" fontAlgn="auto" latinLnBrk="0" hangingPunct="1">
              <a:lnSpc>
                <a:spcPct val="100000"/>
              </a:lnSpc>
              <a:spcBef>
                <a:spcPts val="0"/>
              </a:spcBef>
              <a:spcAft>
                <a:spcPts val="300"/>
              </a:spcAft>
              <a:buClr>
                <a:srgbClr val="1D1D1D"/>
              </a:buClr>
              <a:buSzPct val="100000"/>
              <a:buFont typeface="Arial" panose="020B0604020202020204" pitchFamily="34" charset="0"/>
              <a:buChar char="•"/>
              <a:tabLst/>
              <a:defRPr/>
            </a:pPr>
            <a:r>
              <a:rPr kumimoji="0" lang="en-US" sz="1000" i="0" u="none" strike="noStrike" kern="1200" cap="none" spc="-10" normalizeH="0" baseline="0" noProof="0" err="1">
                <a:ln>
                  <a:noFill/>
                </a:ln>
                <a:solidFill>
                  <a:srgbClr val="FFFFFF"/>
                </a:solidFill>
                <a:effectLst/>
                <a:uLnTx/>
                <a:uFillTx/>
                <a:latin typeface="Arial" pitchFamily="34" charset="0"/>
                <a:ea typeface="Lato Light"/>
                <a:cs typeface="Lato Light"/>
              </a:rPr>
              <a:t>Xxxxx</a:t>
            </a:r>
            <a:endParaRPr kumimoji="0" lang="en-US" sz="1000" i="0" u="none" strike="noStrike" kern="1200" cap="none" spc="-10" normalizeH="0" baseline="0" noProof="0">
              <a:ln>
                <a:noFill/>
              </a:ln>
              <a:solidFill>
                <a:srgbClr val="FFFFFF"/>
              </a:solidFill>
              <a:effectLst/>
              <a:uLnTx/>
              <a:uFillTx/>
              <a:latin typeface="Arial" pitchFamily="34" charset="0"/>
              <a:ea typeface="Lato Light" panose="020F0502020204030203" pitchFamily="34" charset="0"/>
              <a:cs typeface="Lato Light" panose="020F0502020204030203" pitchFamily="34" charset="0"/>
            </a:endParaRPr>
          </a:p>
          <a:p>
            <a:pPr marL="171450" marR="0" lvl="0" indent="-171450" algn="l" defTabSz="914400" rtl="0" eaLnBrk="1" fontAlgn="auto" latinLnBrk="0" hangingPunct="1">
              <a:lnSpc>
                <a:spcPct val="100000"/>
              </a:lnSpc>
              <a:spcBef>
                <a:spcPts val="0"/>
              </a:spcBef>
              <a:spcAft>
                <a:spcPts val="300"/>
              </a:spcAft>
              <a:buClr>
                <a:srgbClr val="1D1D1D"/>
              </a:buClr>
              <a:buSzPct val="100000"/>
              <a:buFont typeface="Arial" panose="020B0604020202020204" pitchFamily="34" charset="0"/>
              <a:buChar char="•"/>
              <a:tabLst/>
              <a:defRPr/>
            </a:pPr>
            <a:r>
              <a:rPr kumimoji="0" lang="en-US" sz="1000" i="0" u="none" strike="noStrike" kern="1200" cap="none" spc="-10" normalizeH="0" baseline="0" noProof="0" err="1">
                <a:ln>
                  <a:noFill/>
                </a:ln>
                <a:solidFill>
                  <a:srgbClr val="FFFFFF"/>
                </a:solidFill>
                <a:effectLst/>
                <a:uLnTx/>
                <a:uFillTx/>
                <a:latin typeface="Arial" pitchFamily="34" charset="0"/>
                <a:ea typeface="Lato Light"/>
                <a:cs typeface="Lato Light"/>
              </a:rPr>
              <a:t>Xxxxx</a:t>
            </a:r>
            <a:endParaRPr kumimoji="0" lang="en-US" sz="1000" i="0" u="none" strike="noStrike" kern="1200" cap="none" spc="-10" normalizeH="0" baseline="0" noProof="0">
              <a:ln>
                <a:noFill/>
              </a:ln>
              <a:solidFill>
                <a:srgbClr val="FFFFFF"/>
              </a:solidFill>
              <a:effectLst/>
              <a:uLnTx/>
              <a:uFillTx/>
              <a:latin typeface="Arial" pitchFamily="34" charset="0"/>
              <a:ea typeface="Lato Light" panose="020F0502020204030203" pitchFamily="34" charset="0"/>
              <a:cs typeface="Lato Light" panose="020F0502020204030203" pitchFamily="34" charset="0"/>
            </a:endParaRPr>
          </a:p>
          <a:p>
            <a:pPr marL="171450" marR="0" lvl="0" indent="-171450" algn="l" defTabSz="914400" rtl="0" eaLnBrk="1" fontAlgn="auto" latinLnBrk="0" hangingPunct="1">
              <a:lnSpc>
                <a:spcPct val="100000"/>
              </a:lnSpc>
              <a:spcBef>
                <a:spcPts val="0"/>
              </a:spcBef>
              <a:spcAft>
                <a:spcPts val="300"/>
              </a:spcAft>
              <a:buClr>
                <a:srgbClr val="1D1D1D"/>
              </a:buClr>
              <a:buSzPct val="100000"/>
              <a:buFont typeface="Arial" panose="020B0604020202020204" pitchFamily="34" charset="0"/>
              <a:buChar char="•"/>
              <a:tabLst/>
              <a:defRPr/>
            </a:pPr>
            <a:r>
              <a:rPr kumimoji="0" lang="en-US" sz="1000" i="0" u="none" strike="noStrike" kern="1200" cap="none" spc="-10" normalizeH="0" baseline="0" noProof="0" err="1">
                <a:ln>
                  <a:noFill/>
                </a:ln>
                <a:solidFill>
                  <a:srgbClr val="FFFFFF"/>
                </a:solidFill>
                <a:effectLst/>
                <a:uLnTx/>
                <a:uFillTx/>
                <a:latin typeface="Arial" pitchFamily="34" charset="0"/>
                <a:ea typeface="Lato Light"/>
                <a:cs typeface="Lato Light"/>
              </a:rPr>
              <a:t>Xxxxx</a:t>
            </a:r>
            <a:endParaRPr kumimoji="0" lang="en-US" sz="1000" i="0" u="none" strike="noStrike" kern="1200" cap="none" spc="-10" normalizeH="0" baseline="0" noProof="0">
              <a:ln>
                <a:noFill/>
              </a:ln>
              <a:solidFill>
                <a:srgbClr val="FFFFFF"/>
              </a:solidFill>
              <a:effectLst/>
              <a:uLnTx/>
              <a:uFillTx/>
              <a:latin typeface="Arial" pitchFamily="34" charset="0"/>
              <a:ea typeface="Lato Light" panose="020F0502020204030203" pitchFamily="34" charset="0"/>
              <a:cs typeface="Lato Light" panose="020F0502020204030203" pitchFamily="34" charset="0"/>
            </a:endParaRPr>
          </a:p>
          <a:p>
            <a:pPr marL="171450" marR="0" lvl="0" indent="-171450" algn="l" defTabSz="914400" rtl="0" eaLnBrk="1" fontAlgn="auto" latinLnBrk="0" hangingPunct="1">
              <a:lnSpc>
                <a:spcPct val="100000"/>
              </a:lnSpc>
              <a:spcBef>
                <a:spcPts val="0"/>
              </a:spcBef>
              <a:spcAft>
                <a:spcPts val="300"/>
              </a:spcAft>
              <a:buClr>
                <a:srgbClr val="1D1D1D"/>
              </a:buClr>
              <a:buSzPct val="100000"/>
              <a:buFont typeface="Arial" panose="020B0604020202020204" pitchFamily="34" charset="0"/>
              <a:buChar char="•"/>
              <a:tabLst/>
              <a:defRPr/>
            </a:pPr>
            <a:endParaRPr kumimoji="0" lang="en-US" sz="1000" i="0" u="none" strike="noStrike" kern="1200" cap="none" spc="-10" normalizeH="0" baseline="0" noProof="0">
              <a:ln>
                <a:noFill/>
              </a:ln>
              <a:solidFill>
                <a:srgbClr val="1D1D1D"/>
              </a:solidFill>
              <a:effectLst/>
              <a:uLnTx/>
              <a:uFillTx/>
              <a:latin typeface="Arial" pitchFamily="34" charset="0"/>
              <a:ea typeface="Lato Light" panose="020F0502020204030203" pitchFamily="34" charset="0"/>
              <a:cs typeface="Lato Light" panose="020F0502020204030203" pitchFamily="34" charset="0"/>
            </a:endParaRPr>
          </a:p>
        </p:txBody>
      </p:sp>
      <p:graphicFrame>
        <p:nvGraphicFramePr>
          <p:cNvPr id="9" name="Table 8">
            <a:extLst>
              <a:ext uri="{FF2B5EF4-FFF2-40B4-BE49-F238E27FC236}">
                <a16:creationId xmlns:a16="http://schemas.microsoft.com/office/drawing/2014/main" id="{F22C4C80-C22D-65FB-2513-C42AE9FA56E6}"/>
              </a:ext>
            </a:extLst>
          </p:cNvPr>
          <p:cNvGraphicFramePr>
            <a:graphicFrameLocks noGrp="1"/>
          </p:cNvGraphicFramePr>
          <p:nvPr>
            <p:extLst>
              <p:ext uri="{D42A27DB-BD31-4B8C-83A1-F6EECF244321}">
                <p14:modId xmlns:p14="http://schemas.microsoft.com/office/powerpoint/2010/main" val="3475552275"/>
              </p:ext>
            </p:extLst>
          </p:nvPr>
        </p:nvGraphicFramePr>
        <p:xfrm>
          <a:off x="479959" y="2079233"/>
          <a:ext cx="4109219" cy="2445123"/>
        </p:xfrm>
        <a:graphic>
          <a:graphicData uri="http://schemas.openxmlformats.org/drawingml/2006/table">
            <a:tbl>
              <a:tblPr firstRow="1" bandRow="1">
                <a:noFill/>
              </a:tblPr>
              <a:tblGrid>
                <a:gridCol w="198147">
                  <a:extLst>
                    <a:ext uri="{9D8B030D-6E8A-4147-A177-3AD203B41FA5}">
                      <a16:colId xmlns:a16="http://schemas.microsoft.com/office/drawing/2014/main" val="1611824645"/>
                    </a:ext>
                  </a:extLst>
                </a:gridCol>
                <a:gridCol w="640234">
                  <a:extLst>
                    <a:ext uri="{9D8B030D-6E8A-4147-A177-3AD203B41FA5}">
                      <a16:colId xmlns:a16="http://schemas.microsoft.com/office/drawing/2014/main" val="2016744751"/>
                    </a:ext>
                  </a:extLst>
                </a:gridCol>
                <a:gridCol w="3270838">
                  <a:extLst>
                    <a:ext uri="{9D8B030D-6E8A-4147-A177-3AD203B41FA5}">
                      <a16:colId xmlns:a16="http://schemas.microsoft.com/office/drawing/2014/main" val="2502652112"/>
                    </a:ext>
                  </a:extLst>
                </a:gridCol>
              </a:tblGrid>
              <a:tr h="456674">
                <a:tc>
                  <a:txBody>
                    <a:bodyPr/>
                    <a:lstStyle/>
                    <a:p>
                      <a:r>
                        <a:rPr lang="en-US" sz="1100">
                          <a:latin typeface="Arial" pitchFamily="34" charset="0"/>
                          <a:ea typeface="Lato" panose="020F0502020204030203" pitchFamily="34" charset="0"/>
                          <a:cs typeface="Lato" panose="020F0502020204030203" pitchFamily="34" charset="0"/>
                        </a:rPr>
                        <a:t>1</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30%</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Maximize </a:t>
                      </a:r>
                      <a:r>
                        <a:rPr lang="en-US" sz="1200" b="1" kern="0" err="1">
                          <a:effectLst/>
                          <a:latin typeface="Arial" pitchFamily="34" charset="0"/>
                          <a:ea typeface="Lato" panose="020F0502020204030203" pitchFamily="34" charset="0"/>
                          <a:cs typeface="Lato" panose="020F0502020204030203" pitchFamily="34" charset="0"/>
                        </a:rPr>
                        <a:t>multiplay</a:t>
                      </a:r>
                      <a:r>
                        <a:rPr lang="en-US" sz="1200" b="1" kern="0">
                          <a:effectLst/>
                          <a:latin typeface="Arial" pitchFamily="34" charset="0"/>
                          <a:ea typeface="Lato" panose="020F0502020204030203" pitchFamily="34" charset="0"/>
                          <a:cs typeface="Lato" panose="020F0502020204030203" pitchFamily="34" charset="0"/>
                        </a:rPr>
                        <a:t> economics and push toward saturation</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481853630"/>
                  </a:ext>
                </a:extLst>
              </a:tr>
              <a:tr h="456674">
                <a:tc>
                  <a:txBody>
                    <a:bodyPr/>
                    <a:lstStyle/>
                    <a:p>
                      <a:r>
                        <a:rPr lang="en-US" sz="1100">
                          <a:latin typeface="Arial" pitchFamily="34" charset="0"/>
                          <a:ea typeface="Lato" panose="020F0502020204030203" pitchFamily="34" charset="0"/>
                          <a:cs typeface="Lato" panose="020F0502020204030203" pitchFamily="34" charset="0"/>
                        </a:rPr>
                        <a:t>2</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25%</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Transition from MAU growth to engagement depth and monetization</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328882941"/>
                  </a:ext>
                </a:extLst>
              </a:tr>
              <a:tr h="456674">
                <a:tc>
                  <a:txBody>
                    <a:bodyPr/>
                    <a:lstStyle/>
                    <a:p>
                      <a:r>
                        <a:rPr lang="en-US" sz="1100">
                          <a:latin typeface="Arial" pitchFamily="34" charset="0"/>
                          <a:ea typeface="Lato" panose="020F0502020204030203" pitchFamily="34" charset="0"/>
                          <a:cs typeface="Lato" panose="020F0502020204030203" pitchFamily="34" charset="0"/>
                        </a:rPr>
                        <a:t>3</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20%</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Scale AI from pilot success to pervasive commercial capability</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74958206"/>
                  </a:ext>
                </a:extLst>
              </a:tr>
              <a:tr h="456674">
                <a:tc>
                  <a:txBody>
                    <a:bodyPr/>
                    <a:lstStyle/>
                    <a:p>
                      <a:r>
                        <a:rPr lang="en-US" sz="1100">
                          <a:latin typeface="Arial" pitchFamily="34" charset="0"/>
                          <a:ea typeface="Lato" panose="020F0502020204030203" pitchFamily="34" charset="0"/>
                          <a:cs typeface="Lato" panose="020F0502020204030203" pitchFamily="34" charset="0"/>
                        </a:rPr>
                        <a:t>4</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15%</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Evolve from efficiency optimization to predictive growth investment</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855754713"/>
                  </a:ext>
                </a:extLst>
              </a:tr>
              <a:tr h="618427">
                <a:tc>
                  <a:txBody>
                    <a:bodyPr/>
                    <a:lstStyle/>
                    <a:p>
                      <a:r>
                        <a:rPr lang="en-US" sz="1100">
                          <a:latin typeface="Arial" pitchFamily="34" charset="0"/>
                          <a:ea typeface="Lato" panose="020F0502020204030203" pitchFamily="34" charset="0"/>
                          <a:cs typeface="Lato" panose="020F0502020204030203" pitchFamily="34" charset="0"/>
                        </a:rPr>
                        <a:t>5</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10%</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Transform marketing organization from execution engine to strategic growth partner</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364555038"/>
                  </a:ext>
                </a:extLst>
              </a:tr>
            </a:tbl>
          </a:graphicData>
        </a:graphic>
      </p:graphicFrame>
      <p:sp>
        <p:nvSpPr>
          <p:cNvPr id="23" name="Google Shape;61;p3">
            <a:extLst>
              <a:ext uri="{FF2B5EF4-FFF2-40B4-BE49-F238E27FC236}">
                <a16:creationId xmlns:a16="http://schemas.microsoft.com/office/drawing/2014/main" id="{1DB2AB96-4E55-5A9E-EF22-E0424DF2FADF}"/>
              </a:ext>
            </a:extLst>
          </p:cNvPr>
          <p:cNvSpPr txBox="1"/>
          <p:nvPr/>
        </p:nvSpPr>
        <p:spPr>
          <a:xfrm>
            <a:off x="553206" y="4637309"/>
            <a:ext cx="1760069" cy="261590"/>
          </a:xfrm>
          <a:prstGeom prst="rect">
            <a:avLst/>
          </a:prstGeom>
          <a:noFill/>
          <a:ln>
            <a:noFill/>
          </a:ln>
        </p:spPr>
        <p:txBody>
          <a:bodyPr spcFirstLastPara="1" wrap="square" lIns="22850" tIns="22850" rIns="22850" bIns="22850" anchor="b" anchorCtr="0">
            <a:spAutoFit/>
          </a:bodyPr>
          <a:lstStyle/>
          <a:p>
            <a:pPr defTabSz="457200">
              <a:buClr>
                <a:srgbClr val="BA0C2F"/>
              </a:buClr>
              <a:buSzPts val="2400"/>
              <a:defRPr/>
            </a:pPr>
            <a:r>
              <a:rPr lang="en-US" sz="1400" b="1" kern="0" spc="-10">
                <a:latin typeface="Segoe UI" pitchFamily="34" charset="0"/>
                <a:ea typeface="Lato"/>
                <a:cs typeface="Arial" panose="020B0604020202020204" pitchFamily="34" charset="0"/>
                <a:sym typeface="Lato"/>
              </a:rPr>
              <a:t>Superpowers</a:t>
            </a:r>
            <a:endParaRPr lang="en-US" sz="1400" b="1" kern="0" spc="-10">
              <a:latin typeface="Segoe UI" pitchFamily="34" charset="0"/>
              <a:cs typeface="Arial"/>
              <a:sym typeface="Arial"/>
            </a:endParaRPr>
          </a:p>
        </p:txBody>
      </p:sp>
      <p:graphicFrame>
        <p:nvGraphicFramePr>
          <p:cNvPr id="24" name="Table 23">
            <a:extLst>
              <a:ext uri="{FF2B5EF4-FFF2-40B4-BE49-F238E27FC236}">
                <a16:creationId xmlns:a16="http://schemas.microsoft.com/office/drawing/2014/main" id="{5B4AED6D-F9DA-C84B-3D4A-A334D5B68538}"/>
              </a:ext>
            </a:extLst>
          </p:cNvPr>
          <p:cNvGraphicFramePr>
            <a:graphicFrameLocks noGrp="1"/>
          </p:cNvGraphicFramePr>
          <p:nvPr>
            <p:extLst>
              <p:ext uri="{D42A27DB-BD31-4B8C-83A1-F6EECF244321}">
                <p14:modId xmlns:p14="http://schemas.microsoft.com/office/powerpoint/2010/main" val="2749247080"/>
              </p:ext>
            </p:extLst>
          </p:nvPr>
        </p:nvGraphicFramePr>
        <p:xfrm>
          <a:off x="528551" y="5020327"/>
          <a:ext cx="4016931" cy="1084324"/>
        </p:xfrm>
        <a:graphic>
          <a:graphicData uri="http://schemas.openxmlformats.org/drawingml/2006/table">
            <a:tbl>
              <a:tblPr firstRow="1" bandRow="1"/>
              <a:tblGrid>
                <a:gridCol w="442018">
                  <a:extLst>
                    <a:ext uri="{9D8B030D-6E8A-4147-A177-3AD203B41FA5}">
                      <a16:colId xmlns:a16="http://schemas.microsoft.com/office/drawing/2014/main" val="149923257"/>
                    </a:ext>
                  </a:extLst>
                </a:gridCol>
                <a:gridCol w="3574913">
                  <a:extLst>
                    <a:ext uri="{9D8B030D-6E8A-4147-A177-3AD203B41FA5}">
                      <a16:colId xmlns:a16="http://schemas.microsoft.com/office/drawing/2014/main" val="3218880438"/>
                    </a:ext>
                  </a:extLst>
                </a:gridCol>
              </a:tblGrid>
              <a:tr h="599993">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ctr" rtl="0">
                        <a:lnSpc>
                          <a:spcPct val="100000"/>
                        </a:lnSpc>
                        <a:spcBef>
                          <a:spcPts val="0"/>
                        </a:spcBef>
                        <a:spcAft>
                          <a:spcPts val="0"/>
                        </a:spcAft>
                        <a:buClr>
                          <a:schemeClr val="dk1"/>
                        </a:buClr>
                        <a:buSzPts val="2000"/>
                        <a:buFont typeface="Arial"/>
                        <a:buNone/>
                      </a:pPr>
                      <a:r>
                        <a:rPr lang="en-US" sz="1000" b="1" u="none" strike="noStrike" cap="none">
                          <a:solidFill>
                            <a:schemeClr val="tx1"/>
                          </a:solidFill>
                          <a:latin typeface="Arial" pitchFamily="34" charset="0"/>
                          <a:ea typeface="Lato" panose="020F0502020204030203" pitchFamily="34" charset="0"/>
                          <a:cs typeface="Lato" panose="020F0502020204030203" pitchFamily="34" charset="0"/>
                          <a:sym typeface="Lato"/>
                        </a:rPr>
                        <a:t>1</a:t>
                      </a:r>
                      <a:endParaRPr sz="1000" b="1">
                        <a:solidFill>
                          <a:schemeClr val="tx1"/>
                        </a:solidFill>
                        <a:latin typeface="Arial" pitchFamily="34" charset="0"/>
                        <a:ea typeface="Lato" panose="020F0502020204030203" pitchFamily="34" charset="0"/>
                        <a:cs typeface="Lato" panose="020F0502020204030203" pitchFamily="34" charset="0"/>
                      </a:endParaRPr>
                    </a:p>
                  </a:txBody>
                  <a:tcPr marL="23400" marR="23400" marT="0" marB="0"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0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endParaRPr>
                    </a:p>
                  </a:txBody>
                  <a:tcPr marL="25977" marR="25977" marT="14288" marB="14288"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3599034"/>
                  </a:ext>
                </a:extLst>
              </a:tr>
              <a:tr h="484331">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ctr" rtl="0">
                        <a:lnSpc>
                          <a:spcPct val="100000"/>
                        </a:lnSpc>
                        <a:spcBef>
                          <a:spcPts val="0"/>
                        </a:spcBef>
                        <a:spcAft>
                          <a:spcPts val="0"/>
                        </a:spcAft>
                        <a:buClr>
                          <a:schemeClr val="dk1"/>
                        </a:buClr>
                        <a:buSzPts val="2000"/>
                        <a:buFont typeface="Arial"/>
                        <a:buNone/>
                      </a:pPr>
                      <a:r>
                        <a:rPr lang="en-US" sz="1000" b="1">
                          <a:solidFill>
                            <a:schemeClr val="tx1"/>
                          </a:solidFill>
                          <a:latin typeface="Arial" pitchFamily="34" charset="0"/>
                          <a:ea typeface="Lato" panose="020F0502020204030203" pitchFamily="34" charset="0"/>
                          <a:cs typeface="Lato" panose="020F0502020204030203" pitchFamily="34" charset="0"/>
                        </a:rPr>
                        <a:t>2</a:t>
                      </a:r>
                      <a:endParaRPr sz="1000" b="1">
                        <a:solidFill>
                          <a:schemeClr val="tx1"/>
                        </a:solidFill>
                        <a:latin typeface="Arial" pitchFamily="34" charset="0"/>
                        <a:ea typeface="Lato" panose="020F0502020204030203" pitchFamily="34" charset="0"/>
                        <a:cs typeface="Lato" panose="020F0502020204030203" pitchFamily="34" charset="0"/>
                      </a:endParaRPr>
                    </a:p>
                  </a:txBody>
                  <a:tcPr marL="23400" marR="23400" marT="0" marB="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0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endParaRPr>
                    </a:p>
                  </a:txBody>
                  <a:tcPr marL="25977" marR="25977" marT="14288" marB="14288"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58033297"/>
                  </a:ext>
                </a:extLst>
              </a:tr>
            </a:tbl>
          </a:graphicData>
        </a:graphic>
      </p:graphicFrame>
      <p:cxnSp>
        <p:nvCxnSpPr>
          <p:cNvPr id="29" name="Straight Connector 28">
            <a:extLst>
              <a:ext uri="{FF2B5EF4-FFF2-40B4-BE49-F238E27FC236}">
                <a16:creationId xmlns:a16="http://schemas.microsoft.com/office/drawing/2014/main" id="{7D49C7F3-5F02-8259-0731-168BAC798D1B}"/>
              </a:ext>
            </a:extLst>
          </p:cNvPr>
          <p:cNvCxnSpPr>
            <a:cxnSpLocks/>
          </p:cNvCxnSpPr>
          <p:nvPr/>
        </p:nvCxnSpPr>
        <p:spPr>
          <a:xfrm>
            <a:off x="486716" y="4978540"/>
            <a:ext cx="3657600" cy="0"/>
          </a:xfrm>
          <a:prstGeom prst="line">
            <a:avLst/>
          </a:prstGeom>
        </p:spPr>
        <p:style>
          <a:lnRef idx="1">
            <a:schemeClr val="accent1"/>
          </a:lnRef>
          <a:fillRef idx="0">
            <a:schemeClr val="accent1"/>
          </a:fillRef>
          <a:effectRef idx="0">
            <a:schemeClr val="accent1"/>
          </a:effectRef>
          <a:fontRef idx="minor">
            <a:schemeClr val="tx1"/>
          </a:fontRef>
        </p:style>
      </p:cxnSp>
      <p:sp>
        <p:nvSpPr>
          <p:cNvPr id="42" name="Google Shape;61;p3">
            <a:extLst>
              <a:ext uri="{FF2B5EF4-FFF2-40B4-BE49-F238E27FC236}">
                <a16:creationId xmlns:a16="http://schemas.microsoft.com/office/drawing/2014/main" id="{388A2737-B0B3-111E-BA76-1457636B79A4}"/>
              </a:ext>
            </a:extLst>
          </p:cNvPr>
          <p:cNvSpPr txBox="1"/>
          <p:nvPr/>
        </p:nvSpPr>
        <p:spPr>
          <a:xfrm>
            <a:off x="547728" y="1738002"/>
            <a:ext cx="2270896" cy="261590"/>
          </a:xfrm>
          <a:prstGeom prst="rect">
            <a:avLst/>
          </a:prstGeom>
          <a:noFill/>
          <a:ln>
            <a:noFill/>
          </a:ln>
        </p:spPr>
        <p:txBody>
          <a:bodyPr spcFirstLastPara="1" wrap="square" lIns="22850" tIns="22850" rIns="22850" bIns="22850" anchor="b" anchorCtr="0">
            <a:spAutoFit/>
          </a:bodyPr>
          <a:lstStyle/>
          <a:p>
            <a:pPr defTabSz="457200">
              <a:buClr>
                <a:srgbClr val="BA0C2F"/>
              </a:buClr>
              <a:buSzPts val="2400"/>
              <a:defRPr/>
            </a:pPr>
            <a:r>
              <a:rPr lang="en-US" sz="1400" b="1" kern="0" spc="-10" dirty="0">
                <a:latin typeface="Segoe UI" pitchFamily="34" charset="0"/>
                <a:ea typeface="Lato"/>
                <a:cs typeface="Arial" panose="020B0604020202020204" pitchFamily="34" charset="0"/>
                <a:sym typeface="Lato"/>
              </a:rPr>
              <a:t>Future Jobs to Be Done</a:t>
            </a:r>
            <a:endParaRPr lang="en-US" sz="800" b="1" kern="0" spc="-10" dirty="0">
              <a:latin typeface="Segoe UI" pitchFamily="34" charset="0"/>
              <a:cs typeface="Arial"/>
              <a:sym typeface="Arial"/>
            </a:endParaRPr>
          </a:p>
        </p:txBody>
      </p:sp>
      <p:cxnSp>
        <p:nvCxnSpPr>
          <p:cNvPr id="43" name="Straight Connector 42">
            <a:extLst>
              <a:ext uri="{FF2B5EF4-FFF2-40B4-BE49-F238E27FC236}">
                <a16:creationId xmlns:a16="http://schemas.microsoft.com/office/drawing/2014/main" id="{02B9BFED-875C-CDF3-1FFD-A37EC334BF84}"/>
              </a:ext>
            </a:extLst>
          </p:cNvPr>
          <p:cNvCxnSpPr>
            <a:cxnSpLocks/>
          </p:cNvCxnSpPr>
          <p:nvPr/>
        </p:nvCxnSpPr>
        <p:spPr>
          <a:xfrm>
            <a:off x="790679" y="1632877"/>
            <a:ext cx="2957574" cy="0"/>
          </a:xfrm>
          <a:prstGeom prst="line">
            <a:avLst/>
          </a:prstGeom>
        </p:spPr>
        <p:style>
          <a:lnRef idx="1">
            <a:schemeClr val="accent1"/>
          </a:lnRef>
          <a:fillRef idx="0">
            <a:schemeClr val="accent1"/>
          </a:fillRef>
          <a:effectRef idx="0">
            <a:schemeClr val="accent1"/>
          </a:effectRef>
          <a:fontRef idx="minor">
            <a:schemeClr val="tx1"/>
          </a:fontRef>
        </p:style>
      </p:cxnSp>
      <p:sp>
        <p:nvSpPr>
          <p:cNvPr id="51"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30</a:t>
            </a:fld>
            <a:endParaRPr lang="en-US"/>
          </a:p>
        </p:txBody>
      </p:sp>
      <p:grpSp>
        <p:nvGrpSpPr>
          <p:cNvPr id="11" name="Group 10">
            <a:extLst>
              <a:ext uri="{FF2B5EF4-FFF2-40B4-BE49-F238E27FC236}">
                <a16:creationId xmlns:a16="http://schemas.microsoft.com/office/drawing/2014/main" id="{212DE13A-10DB-47A0-165B-E4F37773BBF9}"/>
              </a:ext>
            </a:extLst>
          </p:cNvPr>
          <p:cNvGrpSpPr/>
          <p:nvPr/>
        </p:nvGrpSpPr>
        <p:grpSpPr>
          <a:xfrm>
            <a:off x="10403235" y="201614"/>
            <a:ext cx="410690" cy="410700"/>
            <a:chOff x="3506617" y="2730959"/>
            <a:chExt cx="1591098" cy="1591098"/>
          </a:xfrm>
        </p:grpSpPr>
        <p:sp>
          <p:nvSpPr>
            <p:cNvPr id="12" name="Rectangle: Rounded Corners 39">
              <a:extLst>
                <a:ext uri="{FF2B5EF4-FFF2-40B4-BE49-F238E27FC236}">
                  <a16:creationId xmlns:a16="http://schemas.microsoft.com/office/drawing/2014/main" id="{30CEC9D9-158F-3F89-760F-A45B4CD39D08}"/>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3" name="Rectangle: Rounded Corners 54">
              <a:extLst>
                <a:ext uri="{FF2B5EF4-FFF2-40B4-BE49-F238E27FC236}">
                  <a16:creationId xmlns:a16="http://schemas.microsoft.com/office/drawing/2014/main" id="{A5563BBD-0C2A-EF27-3D14-266AE4D42EBA}"/>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4" name="Freeform 56" descr="Clipboard Partially Checked with solid fill">
              <a:extLst>
                <a:ext uri="{FF2B5EF4-FFF2-40B4-BE49-F238E27FC236}">
                  <a16:creationId xmlns:a16="http://schemas.microsoft.com/office/drawing/2014/main" id="{8A1ABC36-72D2-BF25-9195-97DCD3FD6853}"/>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15" name="Group 14">
            <a:extLst>
              <a:ext uri="{FF2B5EF4-FFF2-40B4-BE49-F238E27FC236}">
                <a16:creationId xmlns:a16="http://schemas.microsoft.com/office/drawing/2014/main" id="{07EB2CEB-8D49-C409-A93F-30FCE9851B18}"/>
              </a:ext>
            </a:extLst>
          </p:cNvPr>
          <p:cNvGrpSpPr/>
          <p:nvPr/>
        </p:nvGrpSpPr>
        <p:grpSpPr>
          <a:xfrm>
            <a:off x="11557682" y="191038"/>
            <a:ext cx="410690" cy="410700"/>
            <a:chOff x="8874309" y="3009260"/>
            <a:chExt cx="1591098" cy="1591098"/>
          </a:xfrm>
        </p:grpSpPr>
        <p:grpSp>
          <p:nvGrpSpPr>
            <p:cNvPr id="16" name="Group 15">
              <a:extLst>
                <a:ext uri="{FF2B5EF4-FFF2-40B4-BE49-F238E27FC236}">
                  <a16:creationId xmlns:a16="http://schemas.microsoft.com/office/drawing/2014/main" id="{0A2F7D07-7A3A-78C1-3E12-FFEF2770D510}"/>
                </a:ext>
              </a:extLst>
            </p:cNvPr>
            <p:cNvGrpSpPr/>
            <p:nvPr/>
          </p:nvGrpSpPr>
          <p:grpSpPr>
            <a:xfrm>
              <a:off x="8874309" y="3009260"/>
              <a:ext cx="1591098" cy="1591098"/>
              <a:chOff x="9350370" y="2760976"/>
              <a:chExt cx="1591098" cy="1591098"/>
            </a:xfrm>
          </p:grpSpPr>
          <p:sp>
            <p:nvSpPr>
              <p:cNvPr id="18" name="Rectangle: Rounded Corners 39">
                <a:extLst>
                  <a:ext uri="{FF2B5EF4-FFF2-40B4-BE49-F238E27FC236}">
                    <a16:creationId xmlns:a16="http://schemas.microsoft.com/office/drawing/2014/main" id="{1051472D-FCA4-7A51-BD32-D8A4BEA775F1}"/>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9" name="Rectangle: Rounded Corners 54">
                <a:extLst>
                  <a:ext uri="{FF2B5EF4-FFF2-40B4-BE49-F238E27FC236}">
                    <a16:creationId xmlns:a16="http://schemas.microsoft.com/office/drawing/2014/main" id="{EB5922EC-36EA-925F-AC93-96BBDF543DFD}"/>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7" name="Picture 51" descr="Map with pin with solid fill">
              <a:extLst>
                <a:ext uri="{FF2B5EF4-FFF2-40B4-BE49-F238E27FC236}">
                  <a16:creationId xmlns:a16="http://schemas.microsoft.com/office/drawing/2014/main" id="{2922898D-6C32-DCFE-EED4-B27BB3E3C703}"/>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0" name="Group 19">
            <a:extLst>
              <a:ext uri="{FF2B5EF4-FFF2-40B4-BE49-F238E27FC236}">
                <a16:creationId xmlns:a16="http://schemas.microsoft.com/office/drawing/2014/main" id="{775A20DB-CB62-2C0D-6200-658F251F7CE9}"/>
              </a:ext>
            </a:extLst>
          </p:cNvPr>
          <p:cNvGrpSpPr/>
          <p:nvPr/>
        </p:nvGrpSpPr>
        <p:grpSpPr>
          <a:xfrm>
            <a:off x="10997361" y="200955"/>
            <a:ext cx="410690" cy="410700"/>
            <a:chOff x="5303120" y="3009260"/>
            <a:chExt cx="1591098" cy="1591098"/>
          </a:xfrm>
        </p:grpSpPr>
        <p:grpSp>
          <p:nvGrpSpPr>
            <p:cNvPr id="21" name="Group 20">
              <a:extLst>
                <a:ext uri="{FF2B5EF4-FFF2-40B4-BE49-F238E27FC236}">
                  <a16:creationId xmlns:a16="http://schemas.microsoft.com/office/drawing/2014/main" id="{868718C1-BA77-D485-81DB-A0B9D2FE7721}"/>
                </a:ext>
              </a:extLst>
            </p:cNvPr>
            <p:cNvGrpSpPr/>
            <p:nvPr/>
          </p:nvGrpSpPr>
          <p:grpSpPr>
            <a:xfrm>
              <a:off x="5303120" y="3009260"/>
              <a:ext cx="1591098" cy="1591098"/>
              <a:chOff x="6428492" y="2760976"/>
              <a:chExt cx="1591098" cy="1591098"/>
            </a:xfrm>
          </p:grpSpPr>
          <p:sp>
            <p:nvSpPr>
              <p:cNvPr id="52" name="Rectangle: Rounded Corners 39">
                <a:extLst>
                  <a:ext uri="{FF2B5EF4-FFF2-40B4-BE49-F238E27FC236}">
                    <a16:creationId xmlns:a16="http://schemas.microsoft.com/office/drawing/2014/main" id="{0799441A-D455-95F2-3004-289E4732BE1D}"/>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3" name="Rectangle: Rounded Corners 54">
                <a:extLst>
                  <a:ext uri="{FF2B5EF4-FFF2-40B4-BE49-F238E27FC236}">
                    <a16:creationId xmlns:a16="http://schemas.microsoft.com/office/drawing/2014/main" id="{0270C6CA-EA6A-DAD5-8B96-CD5F4EE94096}"/>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6" name="Graphic 27" descr="Target Audience with solid fill">
              <a:extLst>
                <a:ext uri="{FF2B5EF4-FFF2-40B4-BE49-F238E27FC236}">
                  <a16:creationId xmlns:a16="http://schemas.microsoft.com/office/drawing/2014/main" id="{7E3D3278-F1BA-3EC4-7FD9-60CD1010B601}"/>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54" name="TextBox 53">
            <a:extLst>
              <a:ext uri="{FF2B5EF4-FFF2-40B4-BE49-F238E27FC236}">
                <a16:creationId xmlns:a16="http://schemas.microsoft.com/office/drawing/2014/main" id="{A41B232B-F49E-97DC-1F24-4FCA0557F611}"/>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5" name="TextBox 54">
            <a:extLst>
              <a:ext uri="{FF2B5EF4-FFF2-40B4-BE49-F238E27FC236}">
                <a16:creationId xmlns:a16="http://schemas.microsoft.com/office/drawing/2014/main" id="{2444C9A2-58C3-4D09-7AB6-F7F105BB0C86}"/>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6" name="TextBox 55">
            <a:extLst>
              <a:ext uri="{FF2B5EF4-FFF2-40B4-BE49-F238E27FC236}">
                <a16:creationId xmlns:a16="http://schemas.microsoft.com/office/drawing/2014/main" id="{18FC5DF5-0FD2-1EEB-A737-23BE759842B4}"/>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7" name="Rectangle 56">
            <a:extLst>
              <a:ext uri="{FF2B5EF4-FFF2-40B4-BE49-F238E27FC236}">
                <a16:creationId xmlns:a16="http://schemas.microsoft.com/office/drawing/2014/main" id="{167288CA-4911-4550-C6C9-6C7C0722E985}"/>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4264240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EDD9D-E858-37B6-9C12-DEDBA2313DED}"/>
            </a:ext>
          </a:extLst>
        </p:cNvPr>
        <p:cNvGrpSpPr/>
        <p:nvPr/>
      </p:nvGrpSpPr>
      <p:grpSpPr>
        <a:xfrm>
          <a:off x="0" y="0"/>
          <a:ext cx="0" cy="0"/>
          <a:chOff x="0" y="0"/>
          <a:chExt cx="0" cy="0"/>
        </a:xfrm>
      </p:grpSpPr>
      <p:sp>
        <p:nvSpPr>
          <p:cNvPr id="22" name="Google Shape;56;p3">
            <a:extLst>
              <a:ext uri="{FF2B5EF4-FFF2-40B4-BE49-F238E27FC236}">
                <a16:creationId xmlns:a16="http://schemas.microsoft.com/office/drawing/2014/main" id="{2232B06D-DA32-677D-88D0-0B53B77EBC18}"/>
              </a:ext>
            </a:extLst>
          </p:cNvPr>
          <p:cNvSpPr/>
          <p:nvPr/>
        </p:nvSpPr>
        <p:spPr>
          <a:xfrm>
            <a:off x="382848" y="1633991"/>
            <a:ext cx="4330910" cy="4583610"/>
          </a:xfrm>
          <a:prstGeom prst="roundRect">
            <a:avLst>
              <a:gd name="adj" fmla="val 4062"/>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10" normalizeH="0" baseline="0" noProof="0">
              <a:ln>
                <a:noFill/>
              </a:ln>
              <a:solidFill>
                <a:srgbClr val="1D1D1D"/>
              </a:solidFill>
              <a:effectLst/>
              <a:uLnTx/>
              <a:uFillTx/>
              <a:latin typeface="Arial" pitchFamily="34" charset="0"/>
              <a:ea typeface="Lato"/>
              <a:cs typeface="Lato"/>
              <a:sym typeface="Lato"/>
            </a:endParaRPr>
          </a:p>
        </p:txBody>
      </p:sp>
      <p:sp>
        <p:nvSpPr>
          <p:cNvPr id="2" name="Text Placeholder 1">
            <a:extLst>
              <a:ext uri="{FF2B5EF4-FFF2-40B4-BE49-F238E27FC236}">
                <a16:creationId xmlns:a16="http://schemas.microsoft.com/office/drawing/2014/main" id="{7FD9E53A-E0CD-4190-BAF0-374BB14109EF}"/>
              </a:ext>
            </a:extLst>
          </p:cNvPr>
          <p:cNvSpPr>
            <a:spLocks noGrp="1"/>
          </p:cNvSpPr>
          <p:nvPr>
            <p:ph type="title" sz="quarter"/>
          </p:nvPr>
        </p:nvSpPr>
        <p:spPr/>
        <p:txBody>
          <a:bodyPr lIns="121920" tIns="60960" rIns="121920" bIns="60960" anchor="t"/>
          <a:lstStyle/>
          <a:p>
            <a:pPr>
              <a:defRPr b="1" spc="-25">
                <a:latin typeface="Segoe UI" pitchFamily="34" charset="0"/>
              </a:defRPr>
            </a:pPr>
            <a:r>
              <a:rPr lang="en-US" sz="2400" b="1" spc="-25">
                <a:solidFill>
                  <a:srgbClr val="1D1D1D"/>
                </a:solidFill>
                <a:latin typeface="Segoe UI" pitchFamily="34" charset="0"/>
                <a:ea typeface="Helvetica Neue" panose="02000503000000020004" pitchFamily="2" charset="0"/>
                <a:cs typeface="Helvetica Neue" panose="02000503000000020004" pitchFamily="2" charset="0"/>
              </a:rPr>
              <a:t>Answer key - risk assessment and superpowers</a:t>
            </a:r>
            <a:endParaRPr lang="en-US" sz="2400" b="1" spc="-25">
              <a:latin typeface="Segoe UI" pitchFamily="34" charset="0"/>
              <a:ea typeface="Helvetica Neue" panose="02000503000000020004" pitchFamily="2" charset="0"/>
              <a:cs typeface="Helvetica Neue" panose="02000503000000020004" pitchFamily="2" charset="0"/>
            </a:endParaRPr>
          </a:p>
        </p:txBody>
      </p:sp>
      <p:sp>
        <p:nvSpPr>
          <p:cNvPr id="4" name="TextBox 3">
            <a:extLst>
              <a:ext uri="{FF2B5EF4-FFF2-40B4-BE49-F238E27FC236}">
                <a16:creationId xmlns:a16="http://schemas.microsoft.com/office/drawing/2014/main" id="{214AC0ED-8E6C-272C-9D0C-AF82FBAD6774}"/>
              </a:ext>
            </a:extLst>
          </p:cNvPr>
          <p:cNvSpPr txBox="1"/>
          <p:nvPr/>
        </p:nvSpPr>
        <p:spPr>
          <a:xfrm>
            <a:off x="523074" y="1026688"/>
            <a:ext cx="731607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r>
              <a:rPr lang="en-US" b="1" spc="-10">
                <a:solidFill>
                  <a:srgbClr val="1D1D1D"/>
                </a:solidFill>
                <a:latin typeface="Segoe UI" pitchFamily="34" charset="0"/>
                <a:ea typeface="Lato"/>
                <a:cs typeface="Lato"/>
              </a:rPr>
              <a:t>Role: </a:t>
            </a:r>
            <a:r>
              <a:rPr lang="en-US" b="1"/>
              <a:t>VP of Digital Marketing &amp; Growth</a:t>
            </a:r>
            <a:r>
              <a:rPr lang="en-US"/>
              <a:t> </a:t>
            </a:r>
            <a:endParaRPr lang="en-US" b="1" spc="-10">
              <a:solidFill>
                <a:srgbClr val="1D1D1D"/>
              </a:solidFill>
              <a:latin typeface="Segoe UI" pitchFamily="34" charset="0"/>
              <a:ea typeface="Lato"/>
              <a:cs typeface="Lato"/>
            </a:endParaRPr>
          </a:p>
        </p:txBody>
      </p:sp>
      <p:sp>
        <p:nvSpPr>
          <p:cNvPr id="3" name="Google Shape;128;p4">
            <a:extLst>
              <a:ext uri="{FF2B5EF4-FFF2-40B4-BE49-F238E27FC236}">
                <a16:creationId xmlns:a16="http://schemas.microsoft.com/office/drawing/2014/main" id="{F9C29868-9297-4641-8977-AC256C023945}"/>
              </a:ext>
            </a:extLst>
          </p:cNvPr>
          <p:cNvSpPr/>
          <p:nvPr/>
        </p:nvSpPr>
        <p:spPr>
          <a:xfrm>
            <a:off x="4853984" y="1639959"/>
            <a:ext cx="7046069" cy="4585709"/>
          </a:xfrm>
          <a:prstGeom prst="roundRect">
            <a:avLst>
              <a:gd name="adj" fmla="val 2676"/>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 typeface="Arial"/>
              <a:buNone/>
              <a:tabLst/>
              <a:defRPr/>
            </a:pPr>
            <a:endParaRPr kumimoji="0" sz="2400" b="0" i="0" u="none" strike="noStrike" kern="0" cap="none" spc="-10" normalizeH="0" baseline="0" noProof="0">
              <a:ln>
                <a:noFill/>
              </a:ln>
              <a:solidFill>
                <a:srgbClr val="1D1D1D"/>
              </a:solidFill>
              <a:effectLst/>
              <a:uLnTx/>
              <a:uFillTx/>
              <a:latin typeface="Arial" pitchFamily="34" charset="0"/>
              <a:ea typeface="Lato"/>
              <a:cs typeface="Lato"/>
              <a:sym typeface="Lato"/>
            </a:endParaRPr>
          </a:p>
        </p:txBody>
      </p:sp>
      <p:sp>
        <p:nvSpPr>
          <p:cNvPr id="5" name="Google Shape;143;p4">
            <a:extLst>
              <a:ext uri="{FF2B5EF4-FFF2-40B4-BE49-F238E27FC236}">
                <a16:creationId xmlns:a16="http://schemas.microsoft.com/office/drawing/2014/main" id="{367E94A5-75D1-DD02-DB15-4E41618972DE}"/>
              </a:ext>
            </a:extLst>
          </p:cNvPr>
          <p:cNvSpPr txBox="1"/>
          <p:nvPr/>
        </p:nvSpPr>
        <p:spPr>
          <a:xfrm>
            <a:off x="5062870" y="1768780"/>
            <a:ext cx="2505804" cy="230812"/>
          </a:xfrm>
          <a:prstGeom prst="rect">
            <a:avLst/>
          </a:prstGeom>
          <a:noFill/>
          <a:ln>
            <a:noFill/>
          </a:ln>
        </p:spPr>
        <p:txBody>
          <a:bodyPr spcFirstLastPara="1" wrap="square" lIns="22850" tIns="22850" rIns="22850" bIns="22850" anchor="b" anchorCtr="0">
            <a:spAutoFit/>
          </a:bodyPr>
          <a:lstStyle/>
          <a:p>
            <a:pPr marL="0" marR="0" lvl="0" indent="0" algn="l" defTabSz="457200" rtl="0" eaLnBrk="1" fontAlgn="auto" latinLnBrk="0" hangingPunct="1">
              <a:lnSpc>
                <a:spcPct val="100000"/>
              </a:lnSpc>
              <a:spcBef>
                <a:spcPts val="0"/>
              </a:spcBef>
              <a:spcAft>
                <a:spcPts val="0"/>
              </a:spcAft>
              <a:buClr>
                <a:srgbClr val="BA0C2F"/>
              </a:buClr>
              <a:buSzPts val="3600"/>
              <a:buFont typeface="Arial"/>
              <a:buNone/>
              <a:tabLst/>
              <a:defRPr/>
            </a:pPr>
            <a:r>
              <a:rPr kumimoji="0" lang="en-US" sz="1200" b="1" i="0" u="none" strike="noStrike" kern="0" cap="none" spc="-10" normalizeH="0" baseline="0" noProof="0">
                <a:ln>
                  <a:noFill/>
                </a:ln>
                <a:solidFill>
                  <a:srgbClr val="BA0C2F"/>
                </a:solidFill>
                <a:effectLst/>
                <a:uLnTx/>
                <a:uFillTx/>
                <a:latin typeface="Segoe UI" pitchFamily="34" charset="0"/>
                <a:ea typeface="Lato"/>
                <a:cs typeface="Lato"/>
                <a:sym typeface="Lato"/>
              </a:rPr>
              <a:t>Work Challenge</a:t>
            </a:r>
            <a:endParaRPr kumimoji="0" lang="en-US" sz="1200" b="1" i="0" u="none" strike="noStrike" kern="0" cap="none" spc="-10" normalizeH="0" baseline="0" noProof="0">
              <a:ln>
                <a:noFill/>
              </a:ln>
              <a:solidFill>
                <a:srgbClr val="1D1D1D"/>
              </a:solidFill>
              <a:effectLst/>
              <a:uLnTx/>
              <a:uFillTx/>
              <a:latin typeface="Segoe UI" pitchFamily="34" charset="0"/>
              <a:ea typeface="Lato"/>
              <a:cs typeface="Lato"/>
              <a:sym typeface="Lato"/>
            </a:endParaRPr>
          </a:p>
        </p:txBody>
      </p:sp>
      <p:sp>
        <p:nvSpPr>
          <p:cNvPr id="6" name="Google Shape;143;p4">
            <a:extLst>
              <a:ext uri="{FF2B5EF4-FFF2-40B4-BE49-F238E27FC236}">
                <a16:creationId xmlns:a16="http://schemas.microsoft.com/office/drawing/2014/main" id="{6F8BF872-12D8-DE18-32CF-34A49B1CE5A6}"/>
              </a:ext>
            </a:extLst>
          </p:cNvPr>
          <p:cNvSpPr txBox="1"/>
          <p:nvPr/>
        </p:nvSpPr>
        <p:spPr>
          <a:xfrm>
            <a:off x="5062871" y="3976049"/>
            <a:ext cx="2505804" cy="230812"/>
          </a:xfrm>
          <a:prstGeom prst="rect">
            <a:avLst/>
          </a:prstGeom>
          <a:noFill/>
          <a:ln>
            <a:noFill/>
          </a:ln>
        </p:spPr>
        <p:txBody>
          <a:bodyPr spcFirstLastPara="1" wrap="square" lIns="22850" tIns="22850" rIns="22850" bIns="22850" anchor="b" anchorCtr="0">
            <a:spAutoFit/>
          </a:bodyPr>
          <a:lstStyle/>
          <a:p>
            <a:pPr marL="0" marR="0" lvl="0" indent="0" algn="l" defTabSz="457200" rtl="0" eaLnBrk="1" fontAlgn="auto" latinLnBrk="0" hangingPunct="1">
              <a:lnSpc>
                <a:spcPct val="100000"/>
              </a:lnSpc>
              <a:spcBef>
                <a:spcPts val="0"/>
              </a:spcBef>
              <a:spcAft>
                <a:spcPts val="0"/>
              </a:spcAft>
              <a:buClr>
                <a:srgbClr val="BA0C2F"/>
              </a:buClr>
              <a:buSzPts val="3600"/>
              <a:buFont typeface="Arial"/>
              <a:buNone/>
              <a:tabLst/>
              <a:defRPr/>
            </a:pPr>
            <a:r>
              <a:rPr kumimoji="0" lang="en-US" sz="1200" b="1" i="0" u="none" strike="noStrike" kern="0" cap="none" spc="-10" normalizeH="0" baseline="0" noProof="0">
                <a:ln>
                  <a:noFill/>
                </a:ln>
                <a:solidFill>
                  <a:srgbClr val="BA0C2F"/>
                </a:solidFill>
                <a:effectLst/>
                <a:uLnTx/>
                <a:uFillTx/>
                <a:latin typeface="Segoe UI" pitchFamily="34" charset="0"/>
                <a:ea typeface="Lato"/>
                <a:cs typeface="Lato"/>
                <a:sym typeface="Lato"/>
              </a:rPr>
              <a:t>Role Design</a:t>
            </a:r>
            <a:endParaRPr kumimoji="0" lang="en-US" sz="1200" b="1" i="0" u="none" strike="noStrike" kern="0" cap="none" spc="-10" normalizeH="0" baseline="0" noProof="0">
              <a:ln>
                <a:noFill/>
              </a:ln>
              <a:solidFill>
                <a:srgbClr val="1D1D1D"/>
              </a:solidFill>
              <a:effectLst/>
              <a:uLnTx/>
              <a:uFillTx/>
              <a:latin typeface="Segoe UI" pitchFamily="34" charset="0"/>
              <a:ea typeface="Lato"/>
              <a:cs typeface="Lato"/>
              <a:sym typeface="Lato"/>
            </a:endParaRPr>
          </a:p>
        </p:txBody>
      </p:sp>
      <p:cxnSp>
        <p:nvCxnSpPr>
          <p:cNvPr id="8" name="Google Shape;306;p6">
            <a:extLst>
              <a:ext uri="{FF2B5EF4-FFF2-40B4-BE49-F238E27FC236}">
                <a16:creationId xmlns:a16="http://schemas.microsoft.com/office/drawing/2014/main" id="{9ACC2E3E-6AC0-AAB7-7777-968E486CC1DA}"/>
              </a:ext>
            </a:extLst>
          </p:cNvPr>
          <p:cNvCxnSpPr>
            <a:cxnSpLocks/>
          </p:cNvCxnSpPr>
          <p:nvPr/>
        </p:nvCxnSpPr>
        <p:spPr>
          <a:xfrm>
            <a:off x="5062870" y="3911178"/>
            <a:ext cx="5615312" cy="1051"/>
          </a:xfrm>
          <a:prstGeom prst="straightConnector1">
            <a:avLst/>
          </a:prstGeom>
          <a:noFill/>
          <a:ln w="12700" cap="flat" cmpd="sng">
            <a:solidFill>
              <a:srgbClr val="FFFFFF">
                <a:lumMod val="65000"/>
              </a:srgbClr>
            </a:solidFill>
            <a:prstDash val="solid"/>
            <a:miter lim="400000"/>
            <a:headEnd type="none" w="sm" len="sm"/>
            <a:tailEnd type="none" w="sm" len="sm"/>
          </a:ln>
        </p:spPr>
      </p:cxnSp>
      <p:sp>
        <p:nvSpPr>
          <p:cNvPr id="25" name="Rectangle 24">
            <a:extLst>
              <a:ext uri="{FF2B5EF4-FFF2-40B4-BE49-F238E27FC236}">
                <a16:creationId xmlns:a16="http://schemas.microsoft.com/office/drawing/2014/main" id="{EF5ECD39-ACB9-940D-FBD5-03EEE149FCB1}"/>
              </a:ext>
            </a:extLst>
          </p:cNvPr>
          <p:cNvSpPr/>
          <p:nvPr/>
        </p:nvSpPr>
        <p:spPr>
          <a:xfrm>
            <a:off x="5057184" y="1988513"/>
            <a:ext cx="2269046" cy="1340217"/>
          </a:xfrm>
          <a:prstGeom prst="rect">
            <a:avLst/>
          </a:prstGeom>
          <a:noFill/>
          <a:ln w="25400" cap="flat" cmpd="sng" algn="ctr">
            <a:noFill/>
            <a:prstDash val="solid"/>
          </a:ln>
          <a:effectLst/>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rPr>
              <a:t>Is there clarity around the JTBDs?</a:t>
            </a:r>
          </a:p>
          <a:p>
            <a:pPr marL="91440" marR="0" lvl="0" indent="-9144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rPr>
              <a:t>How new is this work to </a:t>
            </a:r>
            <a:r>
              <a:rPr kumimoji="0" lang="en-US" sz="1100" b="1" i="0" u="none" strike="noStrike" kern="0" cap="none" spc="-10" normalizeH="0" baseline="0" noProof="0" err="1">
                <a:ln>
                  <a:noFill/>
                </a:ln>
                <a:solidFill>
                  <a:prstClr val="black"/>
                </a:solidFill>
                <a:effectLst/>
                <a:uLnTx/>
                <a:uFillTx/>
                <a:latin typeface="Segoe UI" pitchFamily="34" charset="0"/>
                <a:ea typeface="Lato" panose="020F0502020204030203" pitchFamily="34" charset="0"/>
                <a:cs typeface="Lato" panose="020F0502020204030203" pitchFamily="34" charset="0"/>
              </a:rPr>
              <a:t>FrontierDigitalCo</a:t>
            </a: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rPr>
              <a:t>?</a:t>
            </a:r>
          </a:p>
        </p:txBody>
      </p:sp>
      <p:sp>
        <p:nvSpPr>
          <p:cNvPr id="27" name="Rectangle 26">
            <a:extLst>
              <a:ext uri="{FF2B5EF4-FFF2-40B4-BE49-F238E27FC236}">
                <a16:creationId xmlns:a16="http://schemas.microsoft.com/office/drawing/2014/main" id="{95AF5AF7-A4A6-F1AA-2064-819D0368A0C1}"/>
              </a:ext>
            </a:extLst>
          </p:cNvPr>
          <p:cNvSpPr/>
          <p:nvPr/>
        </p:nvSpPr>
        <p:spPr>
          <a:xfrm>
            <a:off x="5057184" y="4380321"/>
            <a:ext cx="1985689" cy="1664970"/>
          </a:xfrm>
          <a:prstGeom prst="rect">
            <a:avLst/>
          </a:prstGeom>
          <a:noFill/>
          <a:ln w="25400" cap="flat" cmpd="sng" algn="ctr">
            <a:noFill/>
            <a:prstDash val="solid"/>
          </a:ln>
          <a:effectLst/>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rPr>
              <a:t>Appropriate decision rights to deliver the JTBDs?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rPr>
              <a:t>Adequate resource/capability to deliver the JTBDs?</a:t>
            </a:r>
          </a:p>
        </p:txBody>
      </p:sp>
      <p:sp>
        <p:nvSpPr>
          <p:cNvPr id="28" name="Google Shape;425;p8">
            <a:extLst>
              <a:ext uri="{FF2B5EF4-FFF2-40B4-BE49-F238E27FC236}">
                <a16:creationId xmlns:a16="http://schemas.microsoft.com/office/drawing/2014/main" id="{B1DC7A1C-C762-6F34-F63A-674D72F4E975}"/>
              </a:ext>
            </a:extLst>
          </p:cNvPr>
          <p:cNvSpPr/>
          <p:nvPr/>
        </p:nvSpPr>
        <p:spPr>
          <a:xfrm>
            <a:off x="6623848" y="3691065"/>
            <a:ext cx="4146063" cy="52959"/>
          </a:xfrm>
          <a:prstGeom prst="rect">
            <a:avLst/>
          </a:prstGeom>
          <a:gradFill>
            <a:gsLst>
              <a:gs pos="0">
                <a:srgbClr val="2B3A42"/>
              </a:gs>
              <a:gs pos="52000">
                <a:srgbClr val="FCB546"/>
              </a:gs>
              <a:gs pos="100000">
                <a:srgbClr val="00C27A"/>
              </a:gs>
            </a:gsLst>
            <a:lin ang="0" scaled="0"/>
          </a:gradFill>
          <a:ln>
            <a:noFill/>
          </a:ln>
        </p:spPr>
        <p:txBody>
          <a:bodyPr spcFirstLastPara="1" wrap="square" lIns="45713" tIns="22850" rIns="45713" bIns="2285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10" normalizeH="0" baseline="0" noProof="0">
              <a:ln>
                <a:noFill/>
              </a:ln>
              <a:solidFill>
                <a:srgbClr val="FFFFFF"/>
              </a:solidFill>
              <a:effectLst/>
              <a:uLnTx/>
              <a:uFillTx/>
              <a:latin typeface="Arial" pitchFamily="34" charset="0"/>
              <a:ea typeface="Calibri"/>
              <a:cs typeface="Calibri"/>
              <a:sym typeface="Calibri"/>
            </a:endParaRPr>
          </a:p>
        </p:txBody>
      </p:sp>
      <p:sp>
        <p:nvSpPr>
          <p:cNvPr id="30" name="Google Shape;425;p8">
            <a:extLst>
              <a:ext uri="{FF2B5EF4-FFF2-40B4-BE49-F238E27FC236}">
                <a16:creationId xmlns:a16="http://schemas.microsoft.com/office/drawing/2014/main" id="{253F1FFE-FE1E-16C8-D053-CC322A64C9CA}"/>
              </a:ext>
            </a:extLst>
          </p:cNvPr>
          <p:cNvSpPr/>
          <p:nvPr/>
        </p:nvSpPr>
        <p:spPr>
          <a:xfrm>
            <a:off x="6546487" y="5936232"/>
            <a:ext cx="4146063" cy="52959"/>
          </a:xfrm>
          <a:prstGeom prst="rect">
            <a:avLst/>
          </a:prstGeom>
          <a:gradFill>
            <a:gsLst>
              <a:gs pos="0">
                <a:srgbClr val="2B3A42"/>
              </a:gs>
              <a:gs pos="52000">
                <a:srgbClr val="FCB546"/>
              </a:gs>
              <a:gs pos="100000">
                <a:srgbClr val="00C27A"/>
              </a:gs>
            </a:gsLst>
            <a:lin ang="0" scaled="0"/>
          </a:gradFill>
          <a:ln>
            <a:noFill/>
          </a:ln>
        </p:spPr>
        <p:txBody>
          <a:bodyPr spcFirstLastPara="1" wrap="square" lIns="45713" tIns="22850" rIns="45713" bIns="2285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10" normalizeH="0" baseline="0" noProof="0">
              <a:ln>
                <a:noFill/>
              </a:ln>
              <a:solidFill>
                <a:srgbClr val="FFFFFF"/>
              </a:solidFill>
              <a:effectLst/>
              <a:uLnTx/>
              <a:uFillTx/>
              <a:latin typeface="Arial" pitchFamily="34" charset="0"/>
              <a:ea typeface="Calibri"/>
              <a:cs typeface="Calibri"/>
              <a:sym typeface="Calibri"/>
            </a:endParaRPr>
          </a:p>
        </p:txBody>
      </p:sp>
      <p:graphicFrame>
        <p:nvGraphicFramePr>
          <p:cNvPr id="9" name="Table 8">
            <a:extLst>
              <a:ext uri="{FF2B5EF4-FFF2-40B4-BE49-F238E27FC236}">
                <a16:creationId xmlns:a16="http://schemas.microsoft.com/office/drawing/2014/main" id="{227913C9-CD5C-344D-2EC9-CCD7BF99AF42}"/>
              </a:ext>
            </a:extLst>
          </p:cNvPr>
          <p:cNvGraphicFramePr>
            <a:graphicFrameLocks noGrp="1"/>
          </p:cNvGraphicFramePr>
          <p:nvPr/>
        </p:nvGraphicFramePr>
        <p:xfrm>
          <a:off x="479959" y="2079233"/>
          <a:ext cx="4109219" cy="2445123"/>
        </p:xfrm>
        <a:graphic>
          <a:graphicData uri="http://schemas.openxmlformats.org/drawingml/2006/table">
            <a:tbl>
              <a:tblPr firstRow="1" bandRow="1">
                <a:noFill/>
              </a:tblPr>
              <a:tblGrid>
                <a:gridCol w="198147">
                  <a:extLst>
                    <a:ext uri="{9D8B030D-6E8A-4147-A177-3AD203B41FA5}">
                      <a16:colId xmlns:a16="http://schemas.microsoft.com/office/drawing/2014/main" val="1611824645"/>
                    </a:ext>
                  </a:extLst>
                </a:gridCol>
                <a:gridCol w="640234">
                  <a:extLst>
                    <a:ext uri="{9D8B030D-6E8A-4147-A177-3AD203B41FA5}">
                      <a16:colId xmlns:a16="http://schemas.microsoft.com/office/drawing/2014/main" val="2016744751"/>
                    </a:ext>
                  </a:extLst>
                </a:gridCol>
                <a:gridCol w="3270838">
                  <a:extLst>
                    <a:ext uri="{9D8B030D-6E8A-4147-A177-3AD203B41FA5}">
                      <a16:colId xmlns:a16="http://schemas.microsoft.com/office/drawing/2014/main" val="2502652112"/>
                    </a:ext>
                  </a:extLst>
                </a:gridCol>
              </a:tblGrid>
              <a:tr h="456674">
                <a:tc>
                  <a:txBody>
                    <a:bodyPr/>
                    <a:lstStyle/>
                    <a:p>
                      <a:r>
                        <a:rPr lang="en-US" sz="1100">
                          <a:latin typeface="Arial" pitchFamily="34" charset="0"/>
                          <a:ea typeface="Lato" panose="020F0502020204030203" pitchFamily="34" charset="0"/>
                          <a:cs typeface="Lato" panose="020F0502020204030203" pitchFamily="34" charset="0"/>
                        </a:rPr>
                        <a:t>1</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30%</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Maximize </a:t>
                      </a:r>
                      <a:r>
                        <a:rPr lang="en-US" sz="1200" b="1" kern="0" err="1">
                          <a:effectLst/>
                          <a:latin typeface="Arial" pitchFamily="34" charset="0"/>
                          <a:ea typeface="Lato" panose="020F0502020204030203" pitchFamily="34" charset="0"/>
                          <a:cs typeface="Lato" panose="020F0502020204030203" pitchFamily="34" charset="0"/>
                        </a:rPr>
                        <a:t>multiplay</a:t>
                      </a:r>
                      <a:r>
                        <a:rPr lang="en-US" sz="1200" b="1" kern="0">
                          <a:effectLst/>
                          <a:latin typeface="Arial" pitchFamily="34" charset="0"/>
                          <a:ea typeface="Lato" panose="020F0502020204030203" pitchFamily="34" charset="0"/>
                          <a:cs typeface="Lato" panose="020F0502020204030203" pitchFamily="34" charset="0"/>
                        </a:rPr>
                        <a:t> economics and push toward saturation</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481853630"/>
                  </a:ext>
                </a:extLst>
              </a:tr>
              <a:tr h="456674">
                <a:tc>
                  <a:txBody>
                    <a:bodyPr/>
                    <a:lstStyle/>
                    <a:p>
                      <a:r>
                        <a:rPr lang="en-US" sz="1100">
                          <a:latin typeface="Arial" pitchFamily="34" charset="0"/>
                          <a:ea typeface="Lato" panose="020F0502020204030203" pitchFamily="34" charset="0"/>
                          <a:cs typeface="Lato" panose="020F0502020204030203" pitchFamily="34" charset="0"/>
                        </a:rPr>
                        <a:t>2</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25%</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Transition from MAU growth to engagement depth and monetization</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328882941"/>
                  </a:ext>
                </a:extLst>
              </a:tr>
              <a:tr h="456674">
                <a:tc>
                  <a:txBody>
                    <a:bodyPr/>
                    <a:lstStyle/>
                    <a:p>
                      <a:r>
                        <a:rPr lang="en-US" sz="1100">
                          <a:latin typeface="Arial" pitchFamily="34" charset="0"/>
                          <a:ea typeface="Lato" panose="020F0502020204030203" pitchFamily="34" charset="0"/>
                          <a:cs typeface="Lato" panose="020F0502020204030203" pitchFamily="34" charset="0"/>
                        </a:rPr>
                        <a:t>3</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20%</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Scale AI from pilot success to pervasive commercial capability</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74958206"/>
                  </a:ext>
                </a:extLst>
              </a:tr>
              <a:tr h="456674">
                <a:tc>
                  <a:txBody>
                    <a:bodyPr/>
                    <a:lstStyle/>
                    <a:p>
                      <a:r>
                        <a:rPr lang="en-US" sz="1100">
                          <a:latin typeface="Arial" pitchFamily="34" charset="0"/>
                          <a:ea typeface="Lato" panose="020F0502020204030203" pitchFamily="34" charset="0"/>
                          <a:cs typeface="Lato" panose="020F0502020204030203" pitchFamily="34" charset="0"/>
                        </a:rPr>
                        <a:t>4</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15%</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Evolve from efficiency optimization to predictive growth investment</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855754713"/>
                  </a:ext>
                </a:extLst>
              </a:tr>
              <a:tr h="618427">
                <a:tc>
                  <a:txBody>
                    <a:bodyPr/>
                    <a:lstStyle/>
                    <a:p>
                      <a:r>
                        <a:rPr lang="en-US" sz="1100">
                          <a:latin typeface="Arial" pitchFamily="34" charset="0"/>
                          <a:ea typeface="Lato" panose="020F0502020204030203" pitchFamily="34" charset="0"/>
                          <a:cs typeface="Lato" panose="020F0502020204030203" pitchFamily="34" charset="0"/>
                        </a:rPr>
                        <a:t>5</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10%</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Transform marketing organization from execution engine to strategic growth partner</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364555038"/>
                  </a:ext>
                </a:extLst>
              </a:tr>
            </a:tbl>
          </a:graphicData>
        </a:graphic>
      </p:graphicFrame>
      <p:sp>
        <p:nvSpPr>
          <p:cNvPr id="23" name="Google Shape;61;p3">
            <a:extLst>
              <a:ext uri="{FF2B5EF4-FFF2-40B4-BE49-F238E27FC236}">
                <a16:creationId xmlns:a16="http://schemas.microsoft.com/office/drawing/2014/main" id="{8720A785-8069-00CD-8CE9-020DEE09684E}"/>
              </a:ext>
            </a:extLst>
          </p:cNvPr>
          <p:cNvSpPr txBox="1"/>
          <p:nvPr/>
        </p:nvSpPr>
        <p:spPr>
          <a:xfrm>
            <a:off x="553206" y="4637309"/>
            <a:ext cx="1760069" cy="261590"/>
          </a:xfrm>
          <a:prstGeom prst="rect">
            <a:avLst/>
          </a:prstGeom>
          <a:noFill/>
          <a:ln>
            <a:noFill/>
          </a:ln>
        </p:spPr>
        <p:txBody>
          <a:bodyPr spcFirstLastPara="1" wrap="square" lIns="22850" tIns="22850" rIns="22850" bIns="22850" anchor="b" anchorCtr="0">
            <a:spAutoFit/>
          </a:bodyPr>
          <a:lstStyle/>
          <a:p>
            <a:pPr defTabSz="457200">
              <a:buClr>
                <a:srgbClr val="BA0C2F"/>
              </a:buClr>
              <a:buSzPts val="2400"/>
              <a:defRPr/>
            </a:pPr>
            <a:r>
              <a:rPr lang="en-US" sz="1400" b="1" kern="0" spc="-10">
                <a:latin typeface="Segoe UI" pitchFamily="34" charset="0"/>
                <a:ea typeface="Lato"/>
                <a:cs typeface="Arial" panose="020B0604020202020204" pitchFamily="34" charset="0"/>
                <a:sym typeface="Lato"/>
              </a:rPr>
              <a:t>Superpowers</a:t>
            </a:r>
            <a:endParaRPr lang="en-US" sz="1400" b="1" kern="0" spc="-10">
              <a:latin typeface="Segoe UI" pitchFamily="34" charset="0"/>
              <a:cs typeface="Arial"/>
              <a:sym typeface="Arial"/>
            </a:endParaRPr>
          </a:p>
        </p:txBody>
      </p:sp>
      <p:graphicFrame>
        <p:nvGraphicFramePr>
          <p:cNvPr id="24" name="Table 23">
            <a:extLst>
              <a:ext uri="{FF2B5EF4-FFF2-40B4-BE49-F238E27FC236}">
                <a16:creationId xmlns:a16="http://schemas.microsoft.com/office/drawing/2014/main" id="{A5ACCA6C-99E9-F6F7-2386-1E856FC8CEC0}"/>
              </a:ext>
            </a:extLst>
          </p:cNvPr>
          <p:cNvGraphicFramePr>
            <a:graphicFrameLocks noGrp="1"/>
          </p:cNvGraphicFramePr>
          <p:nvPr>
            <p:extLst>
              <p:ext uri="{D42A27DB-BD31-4B8C-83A1-F6EECF244321}">
                <p14:modId xmlns:p14="http://schemas.microsoft.com/office/powerpoint/2010/main" val="1589603771"/>
              </p:ext>
            </p:extLst>
          </p:nvPr>
        </p:nvGraphicFramePr>
        <p:xfrm>
          <a:off x="544593" y="5020327"/>
          <a:ext cx="4016931" cy="1085769"/>
        </p:xfrm>
        <a:graphic>
          <a:graphicData uri="http://schemas.openxmlformats.org/drawingml/2006/table">
            <a:tbl>
              <a:tblPr firstRow="1" bandRow="1"/>
              <a:tblGrid>
                <a:gridCol w="442018">
                  <a:extLst>
                    <a:ext uri="{9D8B030D-6E8A-4147-A177-3AD203B41FA5}">
                      <a16:colId xmlns:a16="http://schemas.microsoft.com/office/drawing/2014/main" val="149923257"/>
                    </a:ext>
                  </a:extLst>
                </a:gridCol>
                <a:gridCol w="3574913">
                  <a:extLst>
                    <a:ext uri="{9D8B030D-6E8A-4147-A177-3AD203B41FA5}">
                      <a16:colId xmlns:a16="http://schemas.microsoft.com/office/drawing/2014/main" val="3218880438"/>
                    </a:ext>
                  </a:extLst>
                </a:gridCol>
              </a:tblGrid>
              <a:tr h="599993">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ctr" rtl="0">
                        <a:lnSpc>
                          <a:spcPct val="100000"/>
                        </a:lnSpc>
                        <a:spcBef>
                          <a:spcPts val="0"/>
                        </a:spcBef>
                        <a:spcAft>
                          <a:spcPts val="0"/>
                        </a:spcAft>
                        <a:buClr>
                          <a:schemeClr val="dk1"/>
                        </a:buClr>
                        <a:buSzPts val="2000"/>
                        <a:buFont typeface="Arial"/>
                        <a:buNone/>
                      </a:pPr>
                      <a:r>
                        <a:rPr lang="en-US" sz="1000" b="1" u="none" strike="noStrike" cap="none">
                          <a:solidFill>
                            <a:schemeClr val="tx1"/>
                          </a:solidFill>
                          <a:latin typeface="Arial" pitchFamily="34" charset="0"/>
                          <a:ea typeface="Lato" panose="020F0502020204030203" pitchFamily="34" charset="0"/>
                          <a:cs typeface="Lato" panose="020F0502020204030203" pitchFamily="34" charset="0"/>
                          <a:sym typeface="Lato"/>
                        </a:rPr>
                        <a:t>1</a:t>
                      </a:r>
                      <a:endParaRPr sz="1000" b="1">
                        <a:solidFill>
                          <a:schemeClr val="tx1"/>
                        </a:solidFill>
                        <a:latin typeface="Arial" pitchFamily="34" charset="0"/>
                        <a:ea typeface="Lato" panose="020F0502020204030203" pitchFamily="34" charset="0"/>
                        <a:cs typeface="Lato" panose="020F0502020204030203" pitchFamily="34" charset="0"/>
                      </a:endParaRPr>
                    </a:p>
                  </a:txBody>
                  <a:tcPr marL="23400" marR="23400" marT="0" marB="0"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Trusted integrator: </a:t>
                      </a:r>
                      <a:r>
                        <a:rPr kumimoji="0" lang="en-US" sz="10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Rapidly translating commercial priorities into prioritized, time‑boxed deliverables and securing decision rights and funding</a:t>
                      </a:r>
                    </a:p>
                  </a:txBody>
                  <a:tcPr marL="25977" marR="25977" marT="14288" marB="14288"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3599034"/>
                  </a:ext>
                </a:extLst>
              </a:tr>
              <a:tr h="484331">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ctr" rtl="0">
                        <a:lnSpc>
                          <a:spcPct val="100000"/>
                        </a:lnSpc>
                        <a:spcBef>
                          <a:spcPts val="0"/>
                        </a:spcBef>
                        <a:spcAft>
                          <a:spcPts val="0"/>
                        </a:spcAft>
                        <a:buClr>
                          <a:schemeClr val="dk1"/>
                        </a:buClr>
                        <a:buSzPts val="2000"/>
                        <a:buFont typeface="Arial"/>
                        <a:buNone/>
                      </a:pPr>
                      <a:r>
                        <a:rPr lang="en-US" sz="1000" b="1">
                          <a:solidFill>
                            <a:schemeClr val="tx1"/>
                          </a:solidFill>
                          <a:latin typeface="Arial" pitchFamily="34" charset="0"/>
                          <a:ea typeface="Lato" panose="020F0502020204030203" pitchFamily="34" charset="0"/>
                          <a:cs typeface="Lato" panose="020F0502020204030203" pitchFamily="34" charset="0"/>
                        </a:rPr>
                        <a:t>2</a:t>
                      </a:r>
                      <a:endParaRPr sz="1000" b="1">
                        <a:solidFill>
                          <a:schemeClr val="tx1"/>
                        </a:solidFill>
                        <a:latin typeface="Arial" pitchFamily="34" charset="0"/>
                        <a:ea typeface="Lato" panose="020F0502020204030203" pitchFamily="34" charset="0"/>
                        <a:cs typeface="Lato" panose="020F0502020204030203" pitchFamily="34" charset="0"/>
                      </a:endParaRPr>
                    </a:p>
                  </a:txBody>
                  <a:tcPr marL="23400" marR="23400" marT="0" marB="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Pilot‑to‑scale operator: </a:t>
                      </a:r>
                      <a:r>
                        <a:rPr kumimoji="0" lang="en-US" sz="10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Converting pilots into repeatable, measurable products with clear unit economics, GTM playbooks, and P&amp;L ownership—demonstrating quick wins</a:t>
                      </a:r>
                    </a:p>
                  </a:txBody>
                  <a:tcPr marL="25977" marR="25977" marT="14288" marB="14288"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58033297"/>
                  </a:ext>
                </a:extLst>
              </a:tr>
            </a:tbl>
          </a:graphicData>
        </a:graphic>
      </p:graphicFrame>
      <p:cxnSp>
        <p:nvCxnSpPr>
          <p:cNvPr id="29" name="Straight Connector 28">
            <a:extLst>
              <a:ext uri="{FF2B5EF4-FFF2-40B4-BE49-F238E27FC236}">
                <a16:creationId xmlns:a16="http://schemas.microsoft.com/office/drawing/2014/main" id="{77B274D2-AD1F-9527-4DD5-A4E50847EB1A}"/>
              </a:ext>
            </a:extLst>
          </p:cNvPr>
          <p:cNvCxnSpPr>
            <a:cxnSpLocks/>
          </p:cNvCxnSpPr>
          <p:nvPr/>
        </p:nvCxnSpPr>
        <p:spPr>
          <a:xfrm>
            <a:off x="486716" y="4978540"/>
            <a:ext cx="3657600" cy="0"/>
          </a:xfrm>
          <a:prstGeom prst="line">
            <a:avLst/>
          </a:prstGeom>
        </p:spPr>
        <p:style>
          <a:lnRef idx="1">
            <a:schemeClr val="accent1"/>
          </a:lnRef>
          <a:fillRef idx="0">
            <a:schemeClr val="accent1"/>
          </a:fillRef>
          <a:effectRef idx="0">
            <a:schemeClr val="accent1"/>
          </a:effectRef>
          <a:fontRef idx="minor">
            <a:schemeClr val="tx1"/>
          </a:fontRef>
        </p:style>
      </p:cxnSp>
      <p:sp>
        <p:nvSpPr>
          <p:cNvPr id="42" name="Google Shape;61;p3">
            <a:extLst>
              <a:ext uri="{FF2B5EF4-FFF2-40B4-BE49-F238E27FC236}">
                <a16:creationId xmlns:a16="http://schemas.microsoft.com/office/drawing/2014/main" id="{B2B1FABD-E511-F894-00A0-5C45F5F4B4C5}"/>
              </a:ext>
            </a:extLst>
          </p:cNvPr>
          <p:cNvSpPr txBox="1"/>
          <p:nvPr/>
        </p:nvSpPr>
        <p:spPr>
          <a:xfrm>
            <a:off x="547728" y="1738002"/>
            <a:ext cx="2270896" cy="261590"/>
          </a:xfrm>
          <a:prstGeom prst="rect">
            <a:avLst/>
          </a:prstGeom>
          <a:noFill/>
          <a:ln>
            <a:noFill/>
          </a:ln>
        </p:spPr>
        <p:txBody>
          <a:bodyPr spcFirstLastPara="1" wrap="square" lIns="22850" tIns="22850" rIns="22850" bIns="22850" anchor="b" anchorCtr="0">
            <a:spAutoFit/>
          </a:bodyPr>
          <a:lstStyle/>
          <a:p>
            <a:pPr defTabSz="457200">
              <a:buClr>
                <a:srgbClr val="BA0C2F"/>
              </a:buClr>
              <a:buSzPts val="2400"/>
              <a:defRPr/>
            </a:pPr>
            <a:r>
              <a:rPr lang="en-US" sz="1400" b="1" kern="0" spc="-10" dirty="0">
                <a:latin typeface="Segoe UI" pitchFamily="34" charset="0"/>
                <a:ea typeface="Lato"/>
                <a:cs typeface="Arial" panose="020B0604020202020204" pitchFamily="34" charset="0"/>
                <a:sym typeface="Lato"/>
              </a:rPr>
              <a:t>Future Jobs to Be Done</a:t>
            </a:r>
            <a:endParaRPr lang="en-US" sz="800" b="1" kern="0" spc="-10" dirty="0">
              <a:latin typeface="Segoe UI" pitchFamily="34" charset="0"/>
              <a:cs typeface="Arial"/>
              <a:sym typeface="Arial"/>
            </a:endParaRPr>
          </a:p>
        </p:txBody>
      </p:sp>
      <p:cxnSp>
        <p:nvCxnSpPr>
          <p:cNvPr id="43" name="Straight Connector 42">
            <a:extLst>
              <a:ext uri="{FF2B5EF4-FFF2-40B4-BE49-F238E27FC236}">
                <a16:creationId xmlns:a16="http://schemas.microsoft.com/office/drawing/2014/main" id="{F3B76433-8C33-F776-E869-7247ACD3E56D}"/>
              </a:ext>
            </a:extLst>
          </p:cNvPr>
          <p:cNvCxnSpPr>
            <a:cxnSpLocks/>
          </p:cNvCxnSpPr>
          <p:nvPr/>
        </p:nvCxnSpPr>
        <p:spPr>
          <a:xfrm>
            <a:off x="790679" y="1632877"/>
            <a:ext cx="2957574"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8BC113E8-03B8-45A8-B778-FA351FAEAC94}"/>
              </a:ext>
            </a:extLst>
          </p:cNvPr>
          <p:cNvSpPr>
            <a:spLocks noGrp="1"/>
          </p:cNvSpPr>
          <p:nvPr>
            <p:ph idx="1"/>
          </p:nvPr>
        </p:nvSpPr>
        <p:spPr>
          <a:xfrm>
            <a:off x="7042873" y="1973410"/>
            <a:ext cx="4843361" cy="1277273"/>
          </a:xfrm>
          <a:prstGeom prst="rect">
            <a:avLst/>
          </a:prstGeom>
          <a:noFill/>
        </p:spPr>
        <p:txBody>
          <a:bodyPr wrap="square">
            <a:spAutoFit/>
          </a:bodyPr>
          <a:lstStyle/>
          <a:p>
            <a:pPr marL="171450" indent="-171450">
              <a:spcAft>
                <a:spcPts val="600"/>
              </a:spcAft>
              <a:buBlip>
                <a:blip r:embed="rId3"/>
              </a:buBlip>
            </a:pPr>
            <a:r>
              <a:rPr lang="en-US" sz="1200" b="1"/>
              <a:t>JTBD clarity: </a:t>
            </a:r>
            <a:r>
              <a:rPr lang="en-US" sz="1200"/>
              <a:t>Core JTBDs are clear and measurable, but several require cross‑functional inputs (product, platform, country teams) that increase ambiguity in execution.</a:t>
            </a:r>
          </a:p>
          <a:p>
            <a:pPr marL="171450" indent="-171450">
              <a:spcAft>
                <a:spcPts val="600"/>
              </a:spcAft>
              <a:buBlip>
                <a:blip r:embed="rId3"/>
              </a:buBlip>
            </a:pPr>
            <a:r>
              <a:rPr lang="en-US" sz="1200" b="1"/>
              <a:t>New work:  </a:t>
            </a:r>
            <a:r>
              <a:rPr lang="en-US" sz="1200"/>
              <a:t>Some work (always‑on AI at scale, predictive budget allocation) are relatively new and will require new capabilities, processes, and governance.</a:t>
            </a:r>
          </a:p>
        </p:txBody>
      </p:sp>
      <p:sp>
        <p:nvSpPr>
          <p:cNvPr id="14" name="TextBox 13">
            <a:extLst>
              <a:ext uri="{FF2B5EF4-FFF2-40B4-BE49-F238E27FC236}">
                <a16:creationId xmlns:a16="http://schemas.microsoft.com/office/drawing/2014/main" id="{6B2FADA1-189F-B314-0F9D-BB7C3B91949B}"/>
              </a:ext>
            </a:extLst>
          </p:cNvPr>
          <p:cNvSpPr txBox="1"/>
          <p:nvPr/>
        </p:nvSpPr>
        <p:spPr>
          <a:xfrm>
            <a:off x="7042873" y="4127693"/>
            <a:ext cx="4843361" cy="1672253"/>
          </a:xfrm>
          <a:prstGeom prst="rect">
            <a:avLst/>
          </a:prstGeom>
          <a:noFill/>
        </p:spPr>
        <p:txBody>
          <a:bodyPr wrap="square" lIns="91440" tIns="45720" rIns="91440" bIns="45720">
            <a:spAutoFit/>
          </a:bodyPr>
          <a:lstStyle/>
          <a:p>
            <a:pPr algn="l">
              <a:spcBef>
                <a:spcPts val="360"/>
              </a:spcBef>
              <a:spcAft>
                <a:spcPts val="360"/>
              </a:spcAft>
              <a:buFont typeface="Arial" panose="020B0604020202020204" pitchFamily="34" charset="0"/>
              <a:buChar char="•"/>
            </a:pPr>
            <a:r>
              <a:rPr lang="en-US" sz="1200" b="1" i="0" spc="-10">
                <a:solidFill>
                  <a:srgbClr val="262626"/>
                </a:solidFill>
                <a:effectLst/>
                <a:latin typeface="Segoe UI" pitchFamily="34" charset="0"/>
                <a:ea typeface="Lato" panose="020F0502020204030203" pitchFamily="34" charset="0"/>
                <a:cs typeface="Lato" panose="020F0502020204030203" pitchFamily="34" charset="0"/>
              </a:rPr>
              <a:t>Decision rights: </a:t>
            </a:r>
            <a:r>
              <a:rPr lang="en-US" sz="1200" b="0" i="0" spc="-10">
                <a:solidFill>
                  <a:srgbClr val="262626"/>
                </a:solidFill>
                <a:effectLst/>
                <a:latin typeface="Arial" pitchFamily="34" charset="0"/>
                <a:ea typeface="Lato" panose="020F0502020204030203" pitchFamily="34" charset="0"/>
                <a:cs typeface="Lato" panose="020F0502020204030203" pitchFamily="34" charset="0"/>
              </a:rPr>
              <a:t>Current operating model divides authority between Group and Country teams; without delegated platform/pricing authority and clear prioritization rights, the VP will struggle to standardize bundles and rollout centralized playbooks.</a:t>
            </a:r>
          </a:p>
          <a:p>
            <a:pPr algn="l">
              <a:spcBef>
                <a:spcPts val="360"/>
              </a:spcBef>
              <a:spcAft>
                <a:spcPts val="360"/>
              </a:spcAft>
              <a:buFont typeface="Arial" panose="020B0604020202020204" pitchFamily="34" charset="0"/>
              <a:buChar char="•"/>
            </a:pPr>
            <a:r>
              <a:rPr lang="en-US" sz="1200" b="1" i="0" spc="-10">
                <a:solidFill>
                  <a:srgbClr val="262626"/>
                </a:solidFill>
                <a:effectLst/>
                <a:latin typeface="Segoe UI" pitchFamily="34" charset="0"/>
                <a:ea typeface="Lato" panose="020F0502020204030203" pitchFamily="34" charset="0"/>
                <a:cs typeface="Lato" panose="020F0502020204030203" pitchFamily="34" charset="0"/>
              </a:rPr>
              <a:t>Funding &amp; time: </a:t>
            </a:r>
            <a:r>
              <a:rPr lang="en-US" sz="1200" b="0" i="0" spc="-10">
                <a:solidFill>
                  <a:srgbClr val="262626"/>
                </a:solidFill>
                <a:effectLst/>
                <a:latin typeface="Arial" pitchFamily="34" charset="0"/>
                <a:ea typeface="Lato" panose="020F0502020204030203" pitchFamily="34" charset="0"/>
                <a:cs typeface="Lato" panose="020F0502020204030203" pitchFamily="34" charset="0"/>
              </a:rPr>
              <a:t>Transformational pilots and platform integrations need multi‑year funding and rapid access to engineering, data, and market channels; constrained budgets or slow approvals will materially slow progress.</a:t>
            </a:r>
          </a:p>
        </p:txBody>
      </p:sp>
      <p:sp>
        <p:nvSpPr>
          <p:cNvPr id="51"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31</a:t>
            </a:fld>
            <a:endParaRPr lang="en-US"/>
          </a:p>
        </p:txBody>
      </p:sp>
      <p:grpSp>
        <p:nvGrpSpPr>
          <p:cNvPr id="7" name="Group 6">
            <a:extLst>
              <a:ext uri="{FF2B5EF4-FFF2-40B4-BE49-F238E27FC236}">
                <a16:creationId xmlns:a16="http://schemas.microsoft.com/office/drawing/2014/main" id="{9534BBBB-DE71-C00E-7579-697BFE0FC08C}"/>
              </a:ext>
            </a:extLst>
          </p:cNvPr>
          <p:cNvGrpSpPr/>
          <p:nvPr/>
        </p:nvGrpSpPr>
        <p:grpSpPr>
          <a:xfrm>
            <a:off x="10403235" y="201614"/>
            <a:ext cx="410690" cy="410700"/>
            <a:chOff x="3506617" y="2730959"/>
            <a:chExt cx="1591098" cy="1591098"/>
          </a:xfrm>
        </p:grpSpPr>
        <p:sp>
          <p:nvSpPr>
            <p:cNvPr id="10" name="Rectangle: Rounded Corners 39">
              <a:extLst>
                <a:ext uri="{FF2B5EF4-FFF2-40B4-BE49-F238E27FC236}">
                  <a16:creationId xmlns:a16="http://schemas.microsoft.com/office/drawing/2014/main" id="{3450D696-C69C-6AE8-03A7-2F31500F3F5A}"/>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1" name="Rectangle: Rounded Corners 54">
              <a:extLst>
                <a:ext uri="{FF2B5EF4-FFF2-40B4-BE49-F238E27FC236}">
                  <a16:creationId xmlns:a16="http://schemas.microsoft.com/office/drawing/2014/main" id="{2F617378-DDFA-F2F8-39AE-77636B8A0BC9}"/>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3" name="Freeform 56" descr="Clipboard Partially Checked with solid fill">
              <a:extLst>
                <a:ext uri="{FF2B5EF4-FFF2-40B4-BE49-F238E27FC236}">
                  <a16:creationId xmlns:a16="http://schemas.microsoft.com/office/drawing/2014/main" id="{4D6082E3-4894-DD6E-C6BB-5654D3707E47}"/>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15" name="Group 14">
            <a:extLst>
              <a:ext uri="{FF2B5EF4-FFF2-40B4-BE49-F238E27FC236}">
                <a16:creationId xmlns:a16="http://schemas.microsoft.com/office/drawing/2014/main" id="{96DEE142-648D-F880-1D04-5C2D768059A6}"/>
              </a:ext>
            </a:extLst>
          </p:cNvPr>
          <p:cNvGrpSpPr/>
          <p:nvPr/>
        </p:nvGrpSpPr>
        <p:grpSpPr>
          <a:xfrm>
            <a:off x="11557682" y="191038"/>
            <a:ext cx="410690" cy="410700"/>
            <a:chOff x="8874309" y="3009260"/>
            <a:chExt cx="1591098" cy="1591098"/>
          </a:xfrm>
        </p:grpSpPr>
        <p:grpSp>
          <p:nvGrpSpPr>
            <p:cNvPr id="16" name="Group 15">
              <a:extLst>
                <a:ext uri="{FF2B5EF4-FFF2-40B4-BE49-F238E27FC236}">
                  <a16:creationId xmlns:a16="http://schemas.microsoft.com/office/drawing/2014/main" id="{3EE4FE62-8CE2-52E1-1913-7C3079103B37}"/>
                </a:ext>
              </a:extLst>
            </p:cNvPr>
            <p:cNvGrpSpPr/>
            <p:nvPr/>
          </p:nvGrpSpPr>
          <p:grpSpPr>
            <a:xfrm>
              <a:off x="8874309" y="3009260"/>
              <a:ext cx="1591098" cy="1591098"/>
              <a:chOff x="9350370" y="2760976"/>
              <a:chExt cx="1591098" cy="1591098"/>
            </a:xfrm>
          </p:grpSpPr>
          <p:sp>
            <p:nvSpPr>
              <p:cNvPr id="18" name="Rectangle: Rounded Corners 39">
                <a:extLst>
                  <a:ext uri="{FF2B5EF4-FFF2-40B4-BE49-F238E27FC236}">
                    <a16:creationId xmlns:a16="http://schemas.microsoft.com/office/drawing/2014/main" id="{D9FEFE02-9DEB-6834-1D2D-A41A549E2DDB}"/>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9" name="Rectangle: Rounded Corners 54">
                <a:extLst>
                  <a:ext uri="{FF2B5EF4-FFF2-40B4-BE49-F238E27FC236}">
                    <a16:creationId xmlns:a16="http://schemas.microsoft.com/office/drawing/2014/main" id="{D9F2468A-2FAD-991C-FECC-CBCEA310879E}"/>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7" name="Picture 51" descr="Map with pin with solid fill">
              <a:extLst>
                <a:ext uri="{FF2B5EF4-FFF2-40B4-BE49-F238E27FC236}">
                  <a16:creationId xmlns:a16="http://schemas.microsoft.com/office/drawing/2014/main" id="{67672D11-A399-D97F-73E6-D1CEF917081F}"/>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0" name="Group 19">
            <a:extLst>
              <a:ext uri="{FF2B5EF4-FFF2-40B4-BE49-F238E27FC236}">
                <a16:creationId xmlns:a16="http://schemas.microsoft.com/office/drawing/2014/main" id="{B69FAFD8-EF7D-72E1-FA37-9B07F20F0610}"/>
              </a:ext>
            </a:extLst>
          </p:cNvPr>
          <p:cNvGrpSpPr/>
          <p:nvPr/>
        </p:nvGrpSpPr>
        <p:grpSpPr>
          <a:xfrm>
            <a:off x="10997361" y="200955"/>
            <a:ext cx="410690" cy="410700"/>
            <a:chOff x="5303120" y="3009260"/>
            <a:chExt cx="1591098" cy="1591098"/>
          </a:xfrm>
        </p:grpSpPr>
        <p:grpSp>
          <p:nvGrpSpPr>
            <p:cNvPr id="21" name="Group 20">
              <a:extLst>
                <a:ext uri="{FF2B5EF4-FFF2-40B4-BE49-F238E27FC236}">
                  <a16:creationId xmlns:a16="http://schemas.microsoft.com/office/drawing/2014/main" id="{D0314D1B-C8E9-2B6A-74F6-481883A9104C}"/>
                </a:ext>
              </a:extLst>
            </p:cNvPr>
            <p:cNvGrpSpPr/>
            <p:nvPr/>
          </p:nvGrpSpPr>
          <p:grpSpPr>
            <a:xfrm>
              <a:off x="5303120" y="3009260"/>
              <a:ext cx="1591098" cy="1591098"/>
              <a:chOff x="6428492" y="2760976"/>
              <a:chExt cx="1591098" cy="1591098"/>
            </a:xfrm>
          </p:grpSpPr>
          <p:sp>
            <p:nvSpPr>
              <p:cNvPr id="52" name="Rectangle: Rounded Corners 39">
                <a:extLst>
                  <a:ext uri="{FF2B5EF4-FFF2-40B4-BE49-F238E27FC236}">
                    <a16:creationId xmlns:a16="http://schemas.microsoft.com/office/drawing/2014/main" id="{33E09552-1D27-8CA7-D15B-5EBA38957C90}"/>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3" name="Rectangle: Rounded Corners 54">
                <a:extLst>
                  <a:ext uri="{FF2B5EF4-FFF2-40B4-BE49-F238E27FC236}">
                    <a16:creationId xmlns:a16="http://schemas.microsoft.com/office/drawing/2014/main" id="{B35A0A97-12BC-20EF-C3C7-A4D9D3097B0C}"/>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6" name="Graphic 27" descr="Target Audience with solid fill">
              <a:extLst>
                <a:ext uri="{FF2B5EF4-FFF2-40B4-BE49-F238E27FC236}">
                  <a16:creationId xmlns:a16="http://schemas.microsoft.com/office/drawing/2014/main" id="{85C3F6F3-240E-695F-4114-046F419CE550}"/>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54" name="TextBox 53">
            <a:extLst>
              <a:ext uri="{FF2B5EF4-FFF2-40B4-BE49-F238E27FC236}">
                <a16:creationId xmlns:a16="http://schemas.microsoft.com/office/drawing/2014/main" id="{865B06BC-4703-B95D-A327-5FEDFB3C6DD3}"/>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5" name="TextBox 54">
            <a:extLst>
              <a:ext uri="{FF2B5EF4-FFF2-40B4-BE49-F238E27FC236}">
                <a16:creationId xmlns:a16="http://schemas.microsoft.com/office/drawing/2014/main" id="{F994EADE-9CF8-F45B-B845-D73440B99F1D}"/>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6" name="TextBox 55">
            <a:extLst>
              <a:ext uri="{FF2B5EF4-FFF2-40B4-BE49-F238E27FC236}">
                <a16:creationId xmlns:a16="http://schemas.microsoft.com/office/drawing/2014/main" id="{B4F74046-B8C4-D507-28FC-619700669C81}"/>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7" name="Rectangle 56">
            <a:extLst>
              <a:ext uri="{FF2B5EF4-FFF2-40B4-BE49-F238E27FC236}">
                <a16:creationId xmlns:a16="http://schemas.microsoft.com/office/drawing/2014/main" id="{40B0B0AB-8DBB-6303-EC04-363B58BFCF55}"/>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3604303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29E65-87FC-16F1-97FF-5C2DD4095CF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6C29F04-E28E-4924-9640-5AAFC020ED55}"/>
              </a:ext>
            </a:extLst>
          </p:cNvPr>
          <p:cNvSpPr/>
          <p:nvPr/>
        </p:nvSpPr>
        <p:spPr>
          <a:xfrm>
            <a:off x="-1" y="1705070"/>
            <a:ext cx="8951119" cy="3413030"/>
          </a:xfrm>
          <a:prstGeom prst="rect">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 name="Rectangle 1">
            <a:extLst>
              <a:ext uri="{FF2B5EF4-FFF2-40B4-BE49-F238E27FC236}">
                <a16:creationId xmlns:a16="http://schemas.microsoft.com/office/drawing/2014/main" id="{D019E12B-0C22-CC9E-C34D-241E6430224D}"/>
              </a:ext>
            </a:extLst>
          </p:cNvPr>
          <p:cNvSpPr/>
          <p:nvPr/>
        </p:nvSpPr>
        <p:spPr>
          <a:xfrm>
            <a:off x="0" y="2174970"/>
            <a:ext cx="6388100" cy="24605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 name="Text Placeholder 1">
            <a:extLst>
              <a:ext uri="{FF2B5EF4-FFF2-40B4-BE49-F238E27FC236}">
                <a16:creationId xmlns:a16="http://schemas.microsoft.com/office/drawing/2014/main" id="{B313B272-19B4-3907-CA1A-670F447CC62C}"/>
              </a:ext>
            </a:extLst>
          </p:cNvPr>
          <p:cNvSpPr txBox="1">
            <a:spLocks/>
          </p:cNvSpPr>
          <p:nvPr/>
        </p:nvSpPr>
        <p:spPr>
          <a:xfrm>
            <a:off x="283392" y="2032000"/>
            <a:ext cx="8467702" cy="2806700"/>
          </a:xfrm>
          <a:prstGeom prst="rect">
            <a:avLst/>
          </a:prstGeom>
        </p:spPr>
        <p:txBody>
          <a:bodyPr lIns="91440" tIns="45720" rIns="91440" bIns="45720"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spc="-10">
                <a:solidFill>
                  <a:schemeClr val="tx1"/>
                </a:solidFill>
                <a:latin typeface="Arial" pitchFamily="34"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spc="-10">
                <a:solidFill>
                  <a:schemeClr val="tx1"/>
                </a:solidFill>
                <a:latin typeface="Arial" pitchFamily="34"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10">
                <a:solidFill>
                  <a:schemeClr val="tx1"/>
                </a:solidFill>
                <a:latin typeface="Arial" pitchFamily="34"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6000" b="1" spc="-10">
                <a:solidFill>
                  <a:schemeClr val="bg1"/>
                </a:solidFill>
                <a:latin typeface="Segoe UI" pitchFamily="34" charset="0"/>
                <a:ea typeface="Lato ExtraLight"/>
                <a:cs typeface="Lato ExtraLight"/>
              </a:rPr>
              <a:t>Succession To Value™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6000" b="1" spc="-10">
                <a:solidFill>
                  <a:schemeClr val="bg1"/>
                </a:solidFill>
                <a:latin typeface="Segoe UI" pitchFamily="34" charset="0"/>
                <a:ea typeface="Lato ExtraLight"/>
                <a:cs typeface="Lato ExtraLight"/>
              </a:rPr>
              <a:t>/ASSESS</a:t>
            </a:r>
            <a:endParaRPr lang="en-US" sz="6000" b="1" spc="-10">
              <a:solidFill>
                <a:schemeClr val="bg1"/>
              </a:solidFill>
              <a:latin typeface="Segoe UI" pitchFamily="34" charset="0"/>
              <a:ea typeface="Lato ExtraLight" panose="020B0604020202020204" pitchFamily="34" charset="0"/>
              <a:cs typeface="Lato ExtraLight" panose="020B0604020202020204" pitchFamily="34" charset="0"/>
            </a:endParaRPr>
          </a:p>
        </p:txBody>
      </p:sp>
      <p:sp>
        <p:nvSpPr>
          <p:cNvPr id="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32</a:t>
            </a:fld>
            <a:endParaRPr lang="en-US"/>
          </a:p>
        </p:txBody>
      </p:sp>
    </p:spTree>
    <p:extLst>
      <p:ext uri="{BB962C8B-B14F-4D97-AF65-F5344CB8AC3E}">
        <p14:creationId xmlns:p14="http://schemas.microsoft.com/office/powerpoint/2010/main" val="28945062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EC6B9-7021-DEA7-0141-FD70BF6DC30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5AC5124-0FE5-29EC-EF9C-B436415C5467}"/>
              </a:ext>
            </a:extLst>
          </p:cNvPr>
          <p:cNvSpPr>
            <a:spLocks noGrp="1"/>
          </p:cNvSpPr>
          <p:nvPr>
            <p:ph type="title" sz="quarter"/>
          </p:nvPr>
        </p:nvSpPr>
        <p:spPr/>
        <p:txBody>
          <a:bodyPr/>
          <a:lstStyle/>
          <a:p>
            <a:r>
              <a:rPr lang="en-US" b="1" spc="-25" dirty="0">
                <a:solidFill>
                  <a:schemeClr val="accent1"/>
                </a:solidFill>
                <a:ea typeface="Helvetica Neue" panose="02000503000000020004" pitchFamily="2" charset="0"/>
                <a:cs typeface="Helvetica Neue" panose="02000503000000020004" pitchFamily="2" charset="0"/>
              </a:rPr>
              <a:t>Succession to Value™ </a:t>
            </a:r>
            <a:r>
              <a:rPr lang="en-US" b="1" spc="-25" dirty="0">
                <a:ea typeface="Helvetica Neue" panose="02000503000000020004" pitchFamily="2" charset="0"/>
                <a:cs typeface="Helvetica Neue" panose="02000503000000020004" pitchFamily="2" charset="0"/>
              </a:rPr>
              <a:t>methodology</a:t>
            </a:r>
          </a:p>
        </p:txBody>
      </p:sp>
      <p:sp>
        <p:nvSpPr>
          <p:cNvPr id="16" name="TextBox 15">
            <a:extLst>
              <a:ext uri="{FF2B5EF4-FFF2-40B4-BE49-F238E27FC236}">
                <a16:creationId xmlns:a16="http://schemas.microsoft.com/office/drawing/2014/main" id="{BB09C601-4157-4648-5E45-702F046E6DB8}"/>
              </a:ext>
            </a:extLst>
          </p:cNvPr>
          <p:cNvSpPr txBox="1"/>
          <p:nvPr/>
        </p:nvSpPr>
        <p:spPr>
          <a:xfrm>
            <a:off x="1295935" y="4872860"/>
            <a:ext cx="2236467" cy="1224132"/>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10" normalizeH="0" baseline="0" noProof="0" dirty="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10" normalizeH="0" baseline="0" noProof="0" dirty="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rPr>
              <a:t>Future Jobs to be Done</a:t>
            </a:r>
          </a:p>
          <a:p>
            <a:pPr marL="0" marR="0" lvl="0" indent="0" algn="ctr" defTabSz="914377" rtl="0" eaLnBrk="1" fontAlgn="auto" latinLnBrk="0" hangingPunct="1">
              <a:spcAft>
                <a:spcPts val="600"/>
              </a:spcAft>
              <a:buClrTx/>
              <a:buSzTx/>
              <a:buFontTx/>
              <a:buNone/>
              <a:tabLst/>
              <a:defRPr/>
            </a:pPr>
            <a:r>
              <a:rPr lang="en-US" sz="1400" spc="-10" dirty="0">
                <a:solidFill>
                  <a:schemeClr val="tx1">
                    <a:lumMod val="50000"/>
                    <a:lumOff val="50000"/>
                  </a:schemeClr>
                </a:solidFill>
                <a:latin typeface="Arial" pitchFamily="34" charset="0"/>
                <a:ea typeface="Helvetica Neue" panose="02000503000000020004" pitchFamily="2" charset="0"/>
                <a:cs typeface="Helvetica Neue" panose="02000503000000020004" pitchFamily="2" charset="0"/>
              </a:rPr>
              <a:t>Risk Assessment</a:t>
            </a:r>
          </a:p>
          <a:p>
            <a:pPr marL="0" marR="0" lvl="0" indent="0" algn="ctr" defTabSz="914377" rtl="0" eaLnBrk="1" fontAlgn="auto" latinLnBrk="0" hangingPunct="1">
              <a:spcAft>
                <a:spcPts val="600"/>
              </a:spcAft>
              <a:buClrTx/>
              <a:buSzTx/>
              <a:buFontTx/>
              <a:buNone/>
              <a:tabLst/>
              <a:defRPr/>
            </a:pPr>
            <a:r>
              <a:rPr lang="en-US" sz="1400" i="0" u="none" strike="noStrike" kern="1200" cap="none" spc="-10" normalizeH="0" baseline="0" noProof="0" dirty="0">
                <a:ln>
                  <a:noFill/>
                </a:ln>
                <a:solidFill>
                  <a:schemeClr val="tx1">
                    <a:lumMod val="50000"/>
                    <a:lumOff val="50000"/>
                  </a:schemeClr>
                </a:solidFill>
                <a:effectLst/>
                <a:uLnTx/>
                <a:uFillTx/>
                <a:latin typeface="Arial" pitchFamily="34" charset="0"/>
                <a:ea typeface="Lato"/>
                <a:cs typeface="Lato"/>
              </a:rPr>
              <a:t>Superpowers</a:t>
            </a:r>
          </a:p>
        </p:txBody>
      </p:sp>
      <p:sp>
        <p:nvSpPr>
          <p:cNvPr id="17" name="TextBox 16">
            <a:extLst>
              <a:ext uri="{FF2B5EF4-FFF2-40B4-BE49-F238E27FC236}">
                <a16:creationId xmlns:a16="http://schemas.microsoft.com/office/drawing/2014/main" id="{2259FF90-3736-B940-2FDA-F51A8A8B1ACA}"/>
              </a:ext>
            </a:extLst>
          </p:cNvPr>
          <p:cNvSpPr txBox="1"/>
          <p:nvPr/>
        </p:nvSpPr>
        <p:spPr>
          <a:xfrm>
            <a:off x="1327065" y="1530777"/>
            <a:ext cx="2189619" cy="688342"/>
          </a:xfrm>
          <a:prstGeom prst="rect">
            <a:avLst/>
          </a:prstGeom>
          <a:noFill/>
        </p:spPr>
        <p:txBody>
          <a:bodyPr wrap="square" lIns="91440" tIns="45720" rIns="91440" bIns="45720" anchor="t">
            <a:noAutofit/>
          </a:bodyPr>
          <a:lstStyle/>
          <a:p>
            <a:pPr algn="ctr" defTabSz="914377">
              <a:lnSpc>
                <a:spcPct val="120000"/>
              </a:lnSpc>
              <a:defRPr/>
            </a:pPr>
            <a:r>
              <a:rPr lang="en-US" sz="2000" b="1" spc="-10">
                <a:solidFill>
                  <a:schemeClr val="tx1">
                    <a:lumMod val="50000"/>
                    <a:lumOff val="50000"/>
                  </a:schemeClr>
                </a:solidFill>
                <a:latin typeface="Segoe UI" pitchFamily="34" charset="0"/>
                <a:ea typeface="Helvetica Neue" panose="02000503000000020004" pitchFamily="2" charset="0"/>
                <a:cs typeface="Helvetica Neue" panose="02000503000000020004" pitchFamily="2" charset="0"/>
              </a:rPr>
              <a:t>/DEFINE</a:t>
            </a:r>
            <a:endParaRPr kumimoji="0" lang="en-US"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endParaRPr>
          </a:p>
        </p:txBody>
      </p:sp>
      <p:grpSp>
        <p:nvGrpSpPr>
          <p:cNvPr id="18" name="Group 17">
            <a:extLst>
              <a:ext uri="{FF2B5EF4-FFF2-40B4-BE49-F238E27FC236}">
                <a16:creationId xmlns:a16="http://schemas.microsoft.com/office/drawing/2014/main" id="{67A83ABA-E915-AF67-54D7-6DB6E22F79B2}"/>
              </a:ext>
            </a:extLst>
          </p:cNvPr>
          <p:cNvGrpSpPr/>
          <p:nvPr/>
        </p:nvGrpSpPr>
        <p:grpSpPr>
          <a:xfrm>
            <a:off x="1621288" y="2979243"/>
            <a:ext cx="1591098" cy="1591098"/>
            <a:chOff x="3506617" y="2730959"/>
            <a:chExt cx="1591098" cy="1591098"/>
          </a:xfrm>
        </p:grpSpPr>
        <p:sp>
          <p:nvSpPr>
            <p:cNvPr id="19" name="Rectangle: Rounded Corners 39">
              <a:extLst>
                <a:ext uri="{FF2B5EF4-FFF2-40B4-BE49-F238E27FC236}">
                  <a16:creationId xmlns:a16="http://schemas.microsoft.com/office/drawing/2014/main" id="{489FB41E-0AE2-4A57-848F-C7D5AA11E981}"/>
                </a:ext>
              </a:extLst>
            </p:cNvPr>
            <p:cNvSpPr/>
            <p:nvPr/>
          </p:nvSpPr>
          <p:spPr>
            <a:xfrm>
              <a:off x="3506617" y="2730959"/>
              <a:ext cx="1591098" cy="1591098"/>
            </a:xfrm>
            <a:prstGeom prst="roundRect">
              <a:avLst>
                <a:gd name="adj" fmla="val 18019"/>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0" name="Rectangle: Rounded Corners 54">
              <a:extLst>
                <a:ext uri="{FF2B5EF4-FFF2-40B4-BE49-F238E27FC236}">
                  <a16:creationId xmlns:a16="http://schemas.microsoft.com/office/drawing/2014/main" id="{BB6A46C9-C5D3-12AB-91F3-6E5F6BF9744D}"/>
                </a:ext>
              </a:extLst>
            </p:cNvPr>
            <p:cNvSpPr/>
            <p:nvPr/>
          </p:nvSpPr>
          <p:spPr>
            <a:xfrm>
              <a:off x="3567977" y="279498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1" name="Freeform 56" descr="Clipboard Partially Checked with solid fill">
              <a:extLst>
                <a:ext uri="{FF2B5EF4-FFF2-40B4-BE49-F238E27FC236}">
                  <a16:creationId xmlns:a16="http://schemas.microsoft.com/office/drawing/2014/main" id="{112E0DF2-F817-222C-6210-64BB50B5DDEE}"/>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tx1">
                    <a:lumMod val="50000"/>
                    <a:lumOff val="50000"/>
                  </a:schemeClr>
                </a:solidFill>
                <a:latin typeface="Arial" pitchFamily="34" charset="0"/>
                <a:ea typeface="Helvetica Neue" panose="02000503000000020004" pitchFamily="2" charset="0"/>
                <a:cs typeface="Helvetica Neue" panose="02000503000000020004" pitchFamily="2" charset="0"/>
              </a:endParaRPr>
            </a:p>
          </p:txBody>
        </p:sp>
      </p:grpSp>
      <p:sp>
        <p:nvSpPr>
          <p:cNvPr id="28" name="TextBox 27">
            <a:extLst>
              <a:ext uri="{FF2B5EF4-FFF2-40B4-BE49-F238E27FC236}">
                <a16:creationId xmlns:a16="http://schemas.microsoft.com/office/drawing/2014/main" id="{09007596-4C39-73AD-67F0-038EA4E6135A}"/>
              </a:ext>
            </a:extLst>
          </p:cNvPr>
          <p:cNvSpPr txBox="1"/>
          <p:nvPr/>
        </p:nvSpPr>
        <p:spPr>
          <a:xfrm>
            <a:off x="8545175" y="4872858"/>
            <a:ext cx="2236467" cy="1224133"/>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rPr>
              <a:t>Development Plan</a:t>
            </a:r>
            <a:br>
              <a:rPr lang="en-US" sz="1400" spc="-10">
                <a:solidFill>
                  <a:schemeClr val="tx1">
                    <a:lumMod val="50000"/>
                    <a:lumOff val="50000"/>
                  </a:schemeClr>
                </a:solidFill>
                <a:latin typeface="Arial" pitchFamily="34" charset="0"/>
                <a:ea typeface="Lato"/>
                <a:cs typeface="Lato"/>
              </a:rPr>
            </a:br>
            <a:endParaRPr lang="en-US" sz="1400" i="0" u="none" strike="noStrike" kern="1200" cap="none" spc="-10" normalizeH="0" baseline="0" noProof="0">
              <a:ln>
                <a:noFill/>
              </a:ln>
              <a:solidFill>
                <a:schemeClr val="tx1">
                  <a:lumMod val="50000"/>
                  <a:lumOff val="50000"/>
                </a:schemeClr>
              </a:solidFill>
              <a:effectLst/>
              <a:uLnTx/>
              <a:uFillTx/>
              <a:latin typeface="Arial" pitchFamily="34" charset="0"/>
              <a:ea typeface="Lato"/>
              <a:cs typeface="Lato"/>
            </a:endParaRPr>
          </a:p>
        </p:txBody>
      </p:sp>
      <p:sp>
        <p:nvSpPr>
          <p:cNvPr id="29" name="TextBox 28">
            <a:extLst>
              <a:ext uri="{FF2B5EF4-FFF2-40B4-BE49-F238E27FC236}">
                <a16:creationId xmlns:a16="http://schemas.microsoft.com/office/drawing/2014/main" id="{68767D7A-479C-11BE-4C24-FAFC42721FB7}"/>
              </a:ext>
            </a:extLst>
          </p:cNvPr>
          <p:cNvSpPr txBox="1"/>
          <p:nvPr/>
        </p:nvSpPr>
        <p:spPr>
          <a:xfrm>
            <a:off x="8572377" y="1543164"/>
            <a:ext cx="2189619" cy="688342"/>
          </a:xfrm>
          <a:prstGeom prst="rect">
            <a:avLst/>
          </a:prstGeom>
          <a:noFill/>
        </p:spPr>
        <p:txBody>
          <a:bodyPr wrap="square" lIns="91440" tIns="45720" rIns="91440" bIns="45720" anchor="t">
            <a:noAutofit/>
          </a:bodyPr>
          <a:lstStyle/>
          <a:p>
            <a:pPr algn="ctr" defTabSz="914377">
              <a:lnSpc>
                <a:spcPct val="120000"/>
              </a:lnSpc>
              <a:defRPr/>
            </a:pPr>
            <a:r>
              <a:rPr kumimoji="0" lang="en-US" sz="2000"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rPr>
              <a:t>/MOBILIZE</a:t>
            </a:r>
            <a:endParaRPr kumimoji="0" lang="en-US"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endParaRPr>
          </a:p>
        </p:txBody>
      </p:sp>
      <p:grpSp>
        <p:nvGrpSpPr>
          <p:cNvPr id="24" name="Group 23">
            <a:extLst>
              <a:ext uri="{FF2B5EF4-FFF2-40B4-BE49-F238E27FC236}">
                <a16:creationId xmlns:a16="http://schemas.microsoft.com/office/drawing/2014/main" id="{20ADECE1-9C55-B7EA-25E7-8F2D389C717C}"/>
              </a:ext>
            </a:extLst>
          </p:cNvPr>
          <p:cNvGrpSpPr/>
          <p:nvPr/>
        </p:nvGrpSpPr>
        <p:grpSpPr>
          <a:xfrm>
            <a:off x="8874309" y="3009260"/>
            <a:ext cx="1591098" cy="1591098"/>
            <a:chOff x="8874309" y="3009260"/>
            <a:chExt cx="1591098" cy="1591098"/>
          </a:xfrm>
        </p:grpSpPr>
        <p:grpSp>
          <p:nvGrpSpPr>
            <p:cNvPr id="33" name="Group 32">
              <a:extLst>
                <a:ext uri="{FF2B5EF4-FFF2-40B4-BE49-F238E27FC236}">
                  <a16:creationId xmlns:a16="http://schemas.microsoft.com/office/drawing/2014/main" id="{54D3C573-C579-4787-391C-5C0E03204855}"/>
                </a:ext>
              </a:extLst>
            </p:cNvPr>
            <p:cNvGrpSpPr/>
            <p:nvPr/>
          </p:nvGrpSpPr>
          <p:grpSpPr>
            <a:xfrm>
              <a:off x="8874309" y="3009260"/>
              <a:ext cx="1591098" cy="1591098"/>
              <a:chOff x="9350370" y="2760976"/>
              <a:chExt cx="1591098" cy="1591098"/>
            </a:xfrm>
          </p:grpSpPr>
          <p:sp>
            <p:nvSpPr>
              <p:cNvPr id="37" name="Rectangle: Rounded Corners 39">
                <a:extLst>
                  <a:ext uri="{FF2B5EF4-FFF2-40B4-BE49-F238E27FC236}">
                    <a16:creationId xmlns:a16="http://schemas.microsoft.com/office/drawing/2014/main" id="{5C28DB30-4BBB-8D2F-1783-1EEAFC6A6327}"/>
                  </a:ext>
                </a:extLst>
              </p:cNvPr>
              <p:cNvSpPr/>
              <p:nvPr/>
            </p:nvSpPr>
            <p:spPr>
              <a:xfrm>
                <a:off x="9350370" y="2760976"/>
                <a:ext cx="1591098" cy="1591098"/>
              </a:xfrm>
              <a:prstGeom prst="roundRect">
                <a:avLst>
                  <a:gd name="adj" fmla="val 18019"/>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8" name="Rectangle: Rounded Corners 54">
                <a:extLst>
                  <a:ext uri="{FF2B5EF4-FFF2-40B4-BE49-F238E27FC236}">
                    <a16:creationId xmlns:a16="http://schemas.microsoft.com/office/drawing/2014/main" id="{1FB97938-5EFD-984E-6D92-AC3D28BC8BE2}"/>
                  </a:ext>
                </a:extLst>
              </p:cNvPr>
              <p:cNvSpPr/>
              <p:nvPr/>
            </p:nvSpPr>
            <p:spPr>
              <a:xfrm>
                <a:off x="9414399"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4" name="Picture 51" descr="Map with pin with solid fill">
              <a:extLst>
                <a:ext uri="{FF2B5EF4-FFF2-40B4-BE49-F238E27FC236}">
                  <a16:creationId xmlns:a16="http://schemas.microsoft.com/office/drawing/2014/main" id="{9A855177-78E0-8D92-422F-EC2F2B52E51B}"/>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sp>
        <p:nvSpPr>
          <p:cNvPr id="40" name="TextBox 39">
            <a:extLst>
              <a:ext uri="{FF2B5EF4-FFF2-40B4-BE49-F238E27FC236}">
                <a16:creationId xmlns:a16="http://schemas.microsoft.com/office/drawing/2014/main" id="{99DF4D5A-96C6-86E7-5DBD-E4DDCB6D524E}"/>
              </a:ext>
            </a:extLst>
          </p:cNvPr>
          <p:cNvSpPr txBox="1"/>
          <p:nvPr/>
        </p:nvSpPr>
        <p:spPr>
          <a:xfrm>
            <a:off x="4851197" y="4872859"/>
            <a:ext cx="2497872" cy="1224133"/>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10" normalizeH="0" baseline="0" noProof="0">
                <a:ln>
                  <a:noFill/>
                </a:ln>
                <a:effectLst/>
                <a:uLnTx/>
                <a:uFillTx/>
                <a:latin typeface="Segoe UI"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rPr>
              <a:t>Multi-point Evidence Mosaic</a:t>
            </a:r>
          </a:p>
          <a:p>
            <a:pPr marL="0" marR="0" lvl="0" indent="0" algn="ctr" defTabSz="914377" rtl="0" eaLnBrk="1" fontAlgn="auto" latinLnBrk="0" hangingPunct="1">
              <a:spcAft>
                <a:spcPts val="600"/>
              </a:spcAft>
              <a:buClrTx/>
              <a:buSzTx/>
              <a:buFontTx/>
              <a:buNone/>
              <a:tabLst/>
              <a:defRPr/>
            </a:pPr>
            <a:r>
              <a:rPr lang="en-US" sz="1400" spc="-10">
                <a:latin typeface="Arial" pitchFamily="34" charset="0"/>
                <a:ea typeface="Lato"/>
                <a:cs typeface="Lato"/>
              </a:rPr>
              <a:t>Readiness Summary</a:t>
            </a:r>
          </a:p>
          <a:p>
            <a:pPr marL="0" marR="0" lvl="0" indent="0" algn="ctr" defTabSz="914377" rtl="0" eaLnBrk="1" fontAlgn="auto" latinLnBrk="0" hangingPunct="1">
              <a:spcAft>
                <a:spcPts val="600"/>
              </a:spcAft>
              <a:buClrTx/>
              <a:buSzTx/>
              <a:buFontTx/>
              <a:buNone/>
              <a:tabLst/>
              <a:defRPr/>
            </a:pPr>
            <a:r>
              <a:rPr lang="en-US" sz="1400" spc="-10">
                <a:latin typeface="Arial" pitchFamily="34" charset="0"/>
                <a:ea typeface="Lato"/>
                <a:cs typeface="Lato"/>
              </a:rPr>
              <a:t>Pipeline Health Snapshot</a:t>
            </a:r>
            <a:br>
              <a:rPr lang="en-US" sz="1400" spc="-10">
                <a:latin typeface="Arial" pitchFamily="34" charset="0"/>
                <a:ea typeface="Lato"/>
                <a:cs typeface="Lato"/>
              </a:rPr>
            </a:br>
            <a:br>
              <a:rPr lang="en-US" sz="1400" spc="-10">
                <a:latin typeface="Arial" pitchFamily="34" charset="0"/>
                <a:ea typeface="Lato"/>
                <a:cs typeface="Lato"/>
              </a:rPr>
            </a:br>
            <a:endParaRPr lang="en-US" sz="1400" i="0" u="none" strike="noStrike" kern="1200" cap="none" spc="-10" normalizeH="0" baseline="0" noProof="0">
              <a:ln>
                <a:noFill/>
              </a:ln>
              <a:effectLst/>
              <a:uLnTx/>
              <a:uFillTx/>
              <a:latin typeface="Arial" pitchFamily="34" charset="0"/>
              <a:ea typeface="Lato"/>
              <a:cs typeface="Lato"/>
            </a:endParaRPr>
          </a:p>
        </p:txBody>
      </p:sp>
      <p:sp>
        <p:nvSpPr>
          <p:cNvPr id="41" name="TextBox 40">
            <a:extLst>
              <a:ext uri="{FF2B5EF4-FFF2-40B4-BE49-F238E27FC236}">
                <a16:creationId xmlns:a16="http://schemas.microsoft.com/office/drawing/2014/main" id="{C309679C-2A44-E802-F074-4170502943F6}"/>
              </a:ext>
            </a:extLst>
          </p:cNvPr>
          <p:cNvSpPr txBox="1"/>
          <p:nvPr/>
        </p:nvSpPr>
        <p:spPr>
          <a:xfrm>
            <a:off x="5010086" y="1549435"/>
            <a:ext cx="2189619" cy="647889"/>
          </a:xfrm>
          <a:prstGeom prst="rect">
            <a:avLst/>
          </a:prstGeom>
          <a:noFill/>
        </p:spPr>
        <p:txBody>
          <a:bodyPr wrap="square" lIns="91440" tIns="45720" rIns="91440" bIns="45720" anchor="t">
            <a:noAutofit/>
          </a:bodyPr>
          <a:lstStyle/>
          <a:p>
            <a:pPr algn="ctr" defTabSz="914377">
              <a:lnSpc>
                <a:spcPct val="120000"/>
              </a:lnSpc>
              <a:defRPr/>
            </a:pPr>
            <a:r>
              <a:rPr kumimoji="0" lang="en-US" sz="2000" b="1" i="0" u="none" strike="noStrike" kern="120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rPr>
              <a:t>/ASSESS</a:t>
            </a:r>
            <a:endParaRPr kumimoji="0" lang="en-US" b="1" i="0" u="none" strike="noStrike" kern="120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endParaRPr>
          </a:p>
        </p:txBody>
      </p:sp>
      <p:grpSp>
        <p:nvGrpSpPr>
          <p:cNvPr id="22" name="Group 21">
            <a:extLst>
              <a:ext uri="{FF2B5EF4-FFF2-40B4-BE49-F238E27FC236}">
                <a16:creationId xmlns:a16="http://schemas.microsoft.com/office/drawing/2014/main" id="{B70BEE54-D145-E4AD-C94E-AC716A8DA023}"/>
              </a:ext>
            </a:extLst>
          </p:cNvPr>
          <p:cNvGrpSpPr/>
          <p:nvPr/>
        </p:nvGrpSpPr>
        <p:grpSpPr>
          <a:xfrm>
            <a:off x="5303120" y="3009260"/>
            <a:ext cx="1591098" cy="1591098"/>
            <a:chOff x="5303120" y="3009260"/>
            <a:chExt cx="1591098" cy="1591098"/>
          </a:xfrm>
        </p:grpSpPr>
        <p:grpSp>
          <p:nvGrpSpPr>
            <p:cNvPr id="42" name="Group 41">
              <a:extLst>
                <a:ext uri="{FF2B5EF4-FFF2-40B4-BE49-F238E27FC236}">
                  <a16:creationId xmlns:a16="http://schemas.microsoft.com/office/drawing/2014/main" id="{998CC58A-CE46-FBEB-44B8-DA114B218264}"/>
                </a:ext>
              </a:extLst>
            </p:cNvPr>
            <p:cNvGrpSpPr/>
            <p:nvPr/>
          </p:nvGrpSpPr>
          <p:grpSpPr>
            <a:xfrm>
              <a:off x="5303120" y="3009260"/>
              <a:ext cx="1591098" cy="1591098"/>
              <a:chOff x="6428492" y="2760976"/>
              <a:chExt cx="1591098" cy="1591098"/>
            </a:xfrm>
          </p:grpSpPr>
          <p:sp>
            <p:nvSpPr>
              <p:cNvPr id="44" name="Rectangle: Rounded Corners 39">
                <a:extLst>
                  <a:ext uri="{FF2B5EF4-FFF2-40B4-BE49-F238E27FC236}">
                    <a16:creationId xmlns:a16="http://schemas.microsoft.com/office/drawing/2014/main" id="{A35B655F-AF2B-D4E8-CA2B-3CAF7F8D0434}"/>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7" name="Rectangle: Rounded Corners 54">
                <a:extLst>
                  <a:ext uri="{FF2B5EF4-FFF2-40B4-BE49-F238E27FC236}">
                    <a16:creationId xmlns:a16="http://schemas.microsoft.com/office/drawing/2014/main" id="{142389B0-D301-6651-DC27-9C6594729E38}"/>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3" name="Graphic 42" descr="Target Audience with solid fill">
              <a:extLst>
                <a:ext uri="{FF2B5EF4-FFF2-40B4-BE49-F238E27FC236}">
                  <a16:creationId xmlns:a16="http://schemas.microsoft.com/office/drawing/2014/main" id="{E98B64B8-07A7-6D2A-FC42-A3846E17AF36}"/>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50" name="TextBox 49">
            <a:extLst>
              <a:ext uri="{FF2B5EF4-FFF2-40B4-BE49-F238E27FC236}">
                <a16:creationId xmlns:a16="http://schemas.microsoft.com/office/drawing/2014/main" id="{C95B0370-789D-89F2-121F-9494AE66AAAA}"/>
              </a:ext>
            </a:extLst>
          </p:cNvPr>
          <p:cNvSpPr txBox="1"/>
          <p:nvPr/>
        </p:nvSpPr>
        <p:spPr>
          <a:xfrm>
            <a:off x="1111580" y="2280481"/>
            <a:ext cx="2559209" cy="613443"/>
          </a:xfrm>
          <a:prstGeom prst="rect">
            <a:avLst/>
          </a:prstGeom>
          <a:noFill/>
        </p:spPr>
        <p:txBody>
          <a:bodyPr wrap="square" lIns="91440" tIns="45720" rIns="91440" bIns="45720" anchor="t">
            <a:noAutofit/>
          </a:bodyPr>
          <a:lstStyle/>
          <a:p>
            <a:pPr algn="ctr" defTabSz="914377">
              <a:lnSpc>
                <a:spcPct val="120000"/>
              </a:lnSpc>
              <a:defRPr/>
            </a:pPr>
            <a:r>
              <a:rPr lang="en-US" sz="1400" spc="-10">
                <a:solidFill>
                  <a:schemeClr val="tx1">
                    <a:lumMod val="50000"/>
                    <a:lumOff val="50000"/>
                  </a:schemeClr>
                </a:solidFill>
                <a:latin typeface="Arial" pitchFamily="34" charset="0"/>
                <a:ea typeface="Helvetica Neue" panose="02000503000000020004" pitchFamily="2" charset="0"/>
                <a:cs typeface="Helvetica Neue" panose="02000503000000020004" pitchFamily="2" charset="0"/>
              </a:rPr>
              <a:t>What needs to be true in the future for the role to succeed?</a:t>
            </a:r>
            <a:endParaRPr kumimoji="0" lang="en-US" sz="140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3" name="TextBox 52">
            <a:extLst>
              <a:ext uri="{FF2B5EF4-FFF2-40B4-BE49-F238E27FC236}">
                <a16:creationId xmlns:a16="http://schemas.microsoft.com/office/drawing/2014/main" id="{56F4188A-5B32-1628-4BF8-82C0A942D955}"/>
              </a:ext>
            </a:extLst>
          </p:cNvPr>
          <p:cNvSpPr txBox="1"/>
          <p:nvPr/>
        </p:nvSpPr>
        <p:spPr>
          <a:xfrm>
            <a:off x="4651629" y="2289376"/>
            <a:ext cx="2815130" cy="613443"/>
          </a:xfrm>
          <a:prstGeom prst="rect">
            <a:avLst/>
          </a:prstGeom>
          <a:noFill/>
        </p:spPr>
        <p:txBody>
          <a:bodyPr wrap="square" lIns="91440" tIns="45720" rIns="91440" bIns="45720" anchor="t">
            <a:noAutofit/>
          </a:bodyPr>
          <a:lstStyle/>
          <a:p>
            <a:pPr algn="ctr" defTabSz="914377">
              <a:lnSpc>
                <a:spcPct val="120000"/>
              </a:lnSpc>
              <a:defRPr/>
            </a:pPr>
            <a:r>
              <a:rPr lang="en-US" sz="1400" spc="-10">
                <a:solidFill>
                  <a:srgbClr val="1D1D1D"/>
                </a:solidFill>
                <a:latin typeface="Arial" pitchFamily="34" charset="0"/>
                <a:ea typeface="Helvetica Neue" panose="02000503000000020004" pitchFamily="2" charset="0"/>
                <a:cs typeface="Helvetica Neue" panose="02000503000000020004" pitchFamily="2" charset="0"/>
              </a:rPr>
              <a:t>Are successors ready for the job? </a:t>
            </a:r>
            <a:r>
              <a:rPr lang="en-US" sz="1400" spc="-10">
                <a:solidFill>
                  <a:srgbClr val="1D1D1D"/>
                </a:solidFill>
                <a:latin typeface="Arial" pitchFamily="34" charset="0"/>
                <a:ea typeface="Lato"/>
                <a:cs typeface="Lato"/>
              </a:rPr>
              <a:t>How ready are they?</a:t>
            </a:r>
            <a:br>
              <a:rPr lang="en-US" sz="1400" spc="-10">
                <a:solidFill>
                  <a:srgbClr val="1D1D1D"/>
                </a:solidFill>
                <a:latin typeface="Arial" pitchFamily="34" charset="0"/>
                <a:ea typeface="Lato"/>
                <a:cs typeface="Lato"/>
              </a:rPr>
            </a:br>
            <a:endParaRPr lang="en-US" sz="1400" spc="-10">
              <a:solidFill>
                <a:srgbClr val="1D1D1D"/>
              </a:solidFill>
              <a:latin typeface="Arial" pitchFamily="34" charset="0"/>
              <a:ea typeface="Lato"/>
              <a:cs typeface="Lato"/>
            </a:endParaRPr>
          </a:p>
          <a:p>
            <a:pPr algn="ctr" defTabSz="914377">
              <a:lnSpc>
                <a:spcPct val="120000"/>
              </a:lnSpc>
              <a:defRPr/>
            </a:pPr>
            <a:endParaRPr lang="en-US" sz="1400" i="0" u="none" strike="noStrike" kern="1200" cap="none" spc="-10" normalizeH="0" baseline="0" noProof="0">
              <a:ln>
                <a:noFill/>
              </a:ln>
              <a:solidFill>
                <a:srgbClr val="1D1D1D"/>
              </a:solidFill>
              <a:effectLst/>
              <a:uLnTx/>
              <a:uFillTx/>
              <a:latin typeface="Arial" pitchFamily="34" charset="0"/>
              <a:ea typeface="Lato"/>
              <a:cs typeface="Lato"/>
            </a:endParaRPr>
          </a:p>
        </p:txBody>
      </p:sp>
      <p:sp>
        <p:nvSpPr>
          <p:cNvPr id="54" name="TextBox 53">
            <a:extLst>
              <a:ext uri="{FF2B5EF4-FFF2-40B4-BE49-F238E27FC236}">
                <a16:creationId xmlns:a16="http://schemas.microsoft.com/office/drawing/2014/main" id="{666C3707-3481-5D91-7CA3-D70F5F4B322D}"/>
              </a:ext>
            </a:extLst>
          </p:cNvPr>
          <p:cNvSpPr txBox="1"/>
          <p:nvPr/>
        </p:nvSpPr>
        <p:spPr>
          <a:xfrm>
            <a:off x="8383805" y="2272888"/>
            <a:ext cx="2559209" cy="642212"/>
          </a:xfrm>
          <a:prstGeom prst="rect">
            <a:avLst/>
          </a:prstGeom>
          <a:noFill/>
        </p:spPr>
        <p:txBody>
          <a:bodyPr wrap="square" lIns="91440" tIns="45720" rIns="91440" bIns="45720" anchor="t">
            <a:noAutofit/>
          </a:bodyPr>
          <a:lstStyle/>
          <a:p>
            <a:pPr algn="ctr" defTabSz="914377">
              <a:lnSpc>
                <a:spcPct val="120000"/>
              </a:lnSpc>
              <a:defRPr/>
            </a:pPr>
            <a:r>
              <a:rPr lang="en-US" sz="1400" spc="-10">
                <a:solidFill>
                  <a:schemeClr val="tx1">
                    <a:lumMod val="50000"/>
                    <a:lumOff val="50000"/>
                  </a:schemeClr>
                </a:solidFill>
                <a:latin typeface="Arial" pitchFamily="34" charset="0"/>
                <a:ea typeface="Helvetica Neue" panose="02000503000000020004" pitchFamily="2" charset="0"/>
                <a:cs typeface="Helvetica Neue" panose="02000503000000020004" pitchFamily="2" charset="0"/>
              </a:rPr>
              <a:t>How do we prepare and support the successor?</a:t>
            </a:r>
            <a:endParaRPr kumimoji="0" lang="en-US" sz="140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grpSp>
        <p:nvGrpSpPr>
          <p:cNvPr id="4" name="Group 3">
            <a:extLst>
              <a:ext uri="{FF2B5EF4-FFF2-40B4-BE49-F238E27FC236}">
                <a16:creationId xmlns:a16="http://schemas.microsoft.com/office/drawing/2014/main" id="{8101EDA9-CFF0-CA57-E3A8-9EB84D6DE810}"/>
              </a:ext>
            </a:extLst>
          </p:cNvPr>
          <p:cNvGrpSpPr/>
          <p:nvPr/>
        </p:nvGrpSpPr>
        <p:grpSpPr>
          <a:xfrm>
            <a:off x="10403235" y="201614"/>
            <a:ext cx="410690" cy="410700"/>
            <a:chOff x="3506617" y="2730959"/>
            <a:chExt cx="1591098" cy="1591098"/>
          </a:xfrm>
        </p:grpSpPr>
        <p:sp>
          <p:nvSpPr>
            <p:cNvPr id="5" name="Rectangle: Rounded Corners 39">
              <a:extLst>
                <a:ext uri="{FF2B5EF4-FFF2-40B4-BE49-F238E27FC236}">
                  <a16:creationId xmlns:a16="http://schemas.microsoft.com/office/drawing/2014/main" id="{E376D60E-944F-3138-57D3-8487FF087DAE}"/>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 name="Rectangle: Rounded Corners 54">
              <a:extLst>
                <a:ext uri="{FF2B5EF4-FFF2-40B4-BE49-F238E27FC236}">
                  <a16:creationId xmlns:a16="http://schemas.microsoft.com/office/drawing/2014/main" id="{07A24B7C-7089-B2EE-DAC0-16E967D1133A}"/>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7" name="Freeform 56" descr="Clipboard Partially Checked with solid fill">
              <a:extLst>
                <a:ext uri="{FF2B5EF4-FFF2-40B4-BE49-F238E27FC236}">
                  <a16:creationId xmlns:a16="http://schemas.microsoft.com/office/drawing/2014/main" id="{73A5D2B9-AD8C-9E1A-2E9B-780705CA87CA}"/>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7"/>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8" name="Group 7">
            <a:extLst>
              <a:ext uri="{FF2B5EF4-FFF2-40B4-BE49-F238E27FC236}">
                <a16:creationId xmlns:a16="http://schemas.microsoft.com/office/drawing/2014/main" id="{82388CE9-3525-3215-F570-A22DDF58FD2D}"/>
              </a:ext>
            </a:extLst>
          </p:cNvPr>
          <p:cNvGrpSpPr/>
          <p:nvPr/>
        </p:nvGrpSpPr>
        <p:grpSpPr>
          <a:xfrm>
            <a:off x="11557682" y="191038"/>
            <a:ext cx="410690" cy="410700"/>
            <a:chOff x="8874309" y="3009260"/>
            <a:chExt cx="1591098" cy="1591098"/>
          </a:xfrm>
        </p:grpSpPr>
        <p:grpSp>
          <p:nvGrpSpPr>
            <p:cNvPr id="9" name="Group 8">
              <a:extLst>
                <a:ext uri="{FF2B5EF4-FFF2-40B4-BE49-F238E27FC236}">
                  <a16:creationId xmlns:a16="http://schemas.microsoft.com/office/drawing/2014/main" id="{3900824C-303C-49B4-CA43-A80CB1E4CDC7}"/>
                </a:ext>
              </a:extLst>
            </p:cNvPr>
            <p:cNvGrpSpPr/>
            <p:nvPr/>
          </p:nvGrpSpPr>
          <p:grpSpPr>
            <a:xfrm>
              <a:off x="8874309" y="3009260"/>
              <a:ext cx="1591098" cy="1591098"/>
              <a:chOff x="9350370" y="2760976"/>
              <a:chExt cx="1591098" cy="1591098"/>
            </a:xfrm>
          </p:grpSpPr>
          <p:sp>
            <p:nvSpPr>
              <p:cNvPr id="11" name="Rectangle: Rounded Corners 39">
                <a:extLst>
                  <a:ext uri="{FF2B5EF4-FFF2-40B4-BE49-F238E27FC236}">
                    <a16:creationId xmlns:a16="http://schemas.microsoft.com/office/drawing/2014/main" id="{6C0D6830-8D4A-D9E1-6AF5-385CC361BABE}"/>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3" name="Rectangle: Rounded Corners 54">
                <a:extLst>
                  <a:ext uri="{FF2B5EF4-FFF2-40B4-BE49-F238E27FC236}">
                    <a16:creationId xmlns:a16="http://schemas.microsoft.com/office/drawing/2014/main" id="{A5C3CAB7-23B4-9D71-D751-F0F78AE0965E}"/>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0" name="Picture 51" descr="Map with pin with solid fill">
              <a:extLst>
                <a:ext uri="{FF2B5EF4-FFF2-40B4-BE49-F238E27FC236}">
                  <a16:creationId xmlns:a16="http://schemas.microsoft.com/office/drawing/2014/main" id="{38B0D864-67E8-A25B-61A1-EEDDA6AC579F}"/>
                </a:ext>
              </a:extLst>
            </p:cNvPr>
            <p:cNvPicPr>
              <a:picLocks noChangeAspect="1"/>
            </p:cNvPicPr>
            <p:nvPr/>
          </p:nvPicPr>
          <p:blipFill>
            <a:blip r:embed="rId8">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4" name="Group 13">
            <a:extLst>
              <a:ext uri="{FF2B5EF4-FFF2-40B4-BE49-F238E27FC236}">
                <a16:creationId xmlns:a16="http://schemas.microsoft.com/office/drawing/2014/main" id="{771A7C1D-8364-C2E2-D026-C64D5944BC28}"/>
              </a:ext>
            </a:extLst>
          </p:cNvPr>
          <p:cNvGrpSpPr/>
          <p:nvPr/>
        </p:nvGrpSpPr>
        <p:grpSpPr>
          <a:xfrm>
            <a:off x="10997361" y="200955"/>
            <a:ext cx="410690" cy="410700"/>
            <a:chOff x="5303120" y="3009260"/>
            <a:chExt cx="1591098" cy="1591098"/>
          </a:xfrm>
        </p:grpSpPr>
        <p:grpSp>
          <p:nvGrpSpPr>
            <p:cNvPr id="15" name="Group 14">
              <a:extLst>
                <a:ext uri="{FF2B5EF4-FFF2-40B4-BE49-F238E27FC236}">
                  <a16:creationId xmlns:a16="http://schemas.microsoft.com/office/drawing/2014/main" id="{63DDAE43-7E7C-CE5B-4A1E-049469BBD626}"/>
                </a:ext>
              </a:extLst>
            </p:cNvPr>
            <p:cNvGrpSpPr/>
            <p:nvPr/>
          </p:nvGrpSpPr>
          <p:grpSpPr>
            <a:xfrm>
              <a:off x="5303120" y="3009260"/>
              <a:ext cx="1591098" cy="1591098"/>
              <a:chOff x="6428492" y="2760976"/>
              <a:chExt cx="1591098" cy="1591098"/>
            </a:xfrm>
          </p:grpSpPr>
          <p:sp>
            <p:nvSpPr>
              <p:cNvPr id="25" name="Rectangle: Rounded Corners 39">
                <a:extLst>
                  <a:ext uri="{FF2B5EF4-FFF2-40B4-BE49-F238E27FC236}">
                    <a16:creationId xmlns:a16="http://schemas.microsoft.com/office/drawing/2014/main" id="{0BDD1E88-DF08-ED56-7688-4583388C79F4}"/>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6" name="Rectangle: Rounded Corners 54">
                <a:extLst>
                  <a:ext uri="{FF2B5EF4-FFF2-40B4-BE49-F238E27FC236}">
                    <a16:creationId xmlns:a16="http://schemas.microsoft.com/office/drawing/2014/main" id="{48ECBFF3-7219-C46A-65C8-CCB49C6A18BC}"/>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3" name="Graphic 22" descr="Target Audience with solid fill">
              <a:extLst>
                <a:ext uri="{FF2B5EF4-FFF2-40B4-BE49-F238E27FC236}">
                  <a16:creationId xmlns:a16="http://schemas.microsoft.com/office/drawing/2014/main" id="{20097A42-F176-841F-9727-0EB0CA720E6E}"/>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27" name="TextBox 26">
            <a:extLst>
              <a:ext uri="{FF2B5EF4-FFF2-40B4-BE49-F238E27FC236}">
                <a16:creationId xmlns:a16="http://schemas.microsoft.com/office/drawing/2014/main" id="{0297BA18-91B4-AF4C-97C7-BFDD379BF12D}"/>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0" name="TextBox 29">
            <a:extLst>
              <a:ext uri="{FF2B5EF4-FFF2-40B4-BE49-F238E27FC236}">
                <a16:creationId xmlns:a16="http://schemas.microsoft.com/office/drawing/2014/main" id="{68556BB7-8B2C-1915-F7FD-402E319D5538}"/>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1" name="TextBox 30">
            <a:extLst>
              <a:ext uri="{FF2B5EF4-FFF2-40B4-BE49-F238E27FC236}">
                <a16:creationId xmlns:a16="http://schemas.microsoft.com/office/drawing/2014/main" id="{7C2C6DB1-217D-C395-0DDD-10ABB64A3829}"/>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2" name="Rectangle 31">
            <a:extLst>
              <a:ext uri="{FF2B5EF4-FFF2-40B4-BE49-F238E27FC236}">
                <a16:creationId xmlns:a16="http://schemas.microsoft.com/office/drawing/2014/main" id="{5631A4BE-73AF-C091-5DD2-50792B23721D}"/>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
        <p:nvSpPr>
          <p:cNvPr id="35" name="Rectangle 34">
            <a:extLst>
              <a:ext uri="{FF2B5EF4-FFF2-40B4-BE49-F238E27FC236}">
                <a16:creationId xmlns:a16="http://schemas.microsoft.com/office/drawing/2014/main" id="{6D330F80-748C-7C37-90A6-AAB1164E0A1A}"/>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
        <p:nvSpPr>
          <p:cNvPr id="5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33</a:t>
            </a:fld>
            <a:endParaRPr lang="en-US"/>
          </a:p>
        </p:txBody>
      </p:sp>
    </p:spTree>
    <p:extLst>
      <p:ext uri="{BB962C8B-B14F-4D97-AF65-F5344CB8AC3E}">
        <p14:creationId xmlns:p14="http://schemas.microsoft.com/office/powerpoint/2010/main" val="932401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A3084-CE2F-363D-A605-52ACBBB44C8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D6AB4CC-9CDE-B1A4-EC12-2A273DF44747}"/>
              </a:ext>
            </a:extLst>
          </p:cNvPr>
          <p:cNvSpPr>
            <a:spLocks noGrp="1"/>
          </p:cNvSpPr>
          <p:nvPr>
            <p:ph type="title" sz="quarter"/>
          </p:nvPr>
        </p:nvSpPr>
        <p:spPr/>
        <p:txBody>
          <a:bodyPr lIns="91440" tIns="45720" rIns="91440" bIns="45720" anchor="t"/>
          <a:lstStyle/>
          <a:p>
            <a:r>
              <a:rPr lang="en-US" b="1" spc="-25">
                <a:solidFill>
                  <a:srgbClr val="1D1D1D"/>
                </a:solidFill>
                <a:latin typeface="Segoe UI" pitchFamily="34" charset="0"/>
                <a:ea typeface="Helvetica Neue" panose="02000503000000020004" pitchFamily="2" charset="0"/>
                <a:cs typeface="Helvetica Neue" panose="02000503000000020004" pitchFamily="2" charset="0"/>
              </a:rPr>
              <a:t>Talent risks</a:t>
            </a:r>
          </a:p>
        </p:txBody>
      </p:sp>
      <p:sp>
        <p:nvSpPr>
          <p:cNvPr id="3" name="Rectangle 2">
            <a:extLst>
              <a:ext uri="{FF2B5EF4-FFF2-40B4-BE49-F238E27FC236}">
                <a16:creationId xmlns:a16="http://schemas.microsoft.com/office/drawing/2014/main" id="{AD27DC47-C974-1367-2E7C-51479AB5008A}"/>
              </a:ext>
            </a:extLst>
          </p:cNvPr>
          <p:cNvSpPr/>
          <p:nvPr/>
        </p:nvSpPr>
        <p:spPr>
          <a:xfrm>
            <a:off x="563253" y="3349431"/>
            <a:ext cx="2608684" cy="1633385"/>
          </a:xfrm>
          <a:prstGeom prst="rect">
            <a:avLst/>
          </a:prstGeom>
          <a:noFill/>
          <a:ln w="19050" cap="flat" cmpd="sng" algn="ctr">
            <a:solidFill>
              <a:srgbClr val="2B3A42"/>
            </a:solidFill>
            <a:prstDash val="solid"/>
            <a:miter lim="800000"/>
          </a:ln>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15" name="TextBox 14">
            <a:extLst>
              <a:ext uri="{FF2B5EF4-FFF2-40B4-BE49-F238E27FC236}">
                <a16:creationId xmlns:a16="http://schemas.microsoft.com/office/drawing/2014/main" id="{8E1363F6-71F6-D021-8B8C-34AA21E712AB}"/>
              </a:ext>
            </a:extLst>
          </p:cNvPr>
          <p:cNvSpPr txBox="1"/>
          <p:nvPr/>
        </p:nvSpPr>
        <p:spPr>
          <a:xfrm>
            <a:off x="816035" y="3564725"/>
            <a:ext cx="2103120" cy="984885"/>
          </a:xfrm>
          <a:prstGeom prst="rect">
            <a:avLst/>
          </a:prstGeom>
          <a:noFill/>
        </p:spPr>
        <p:txBody>
          <a:bodyPr wrap="square" lIns="91440" tIns="45720" rIns="9144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effectLst/>
                <a:uLnTx/>
                <a:uFillTx/>
                <a:latin typeface="Segoe UI" pitchFamily="34" charset="0"/>
                <a:ea typeface="Helvetica Neue" panose="02000503000000020004" pitchFamily="2" charset="0"/>
                <a:cs typeface="Helvetica Neue" panose="02000503000000020004" pitchFamily="2" charset="0"/>
              </a:rPr>
              <a:t>JTBD Match: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400" b="0" i="0" u="none" strike="noStrike" kern="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rPr>
              <a:t>Is there strong evidence of skills and experiences to do the JTBDs?  </a:t>
            </a:r>
            <a:endParaRPr kumimoji="0" lang="en-US" sz="1600" b="0" i="0" u="none" strike="noStrike" kern="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endParaRPr>
          </a:p>
        </p:txBody>
      </p:sp>
      <p:sp>
        <p:nvSpPr>
          <p:cNvPr id="16" name="TextBox 15">
            <a:extLst>
              <a:ext uri="{FF2B5EF4-FFF2-40B4-BE49-F238E27FC236}">
                <a16:creationId xmlns:a16="http://schemas.microsoft.com/office/drawing/2014/main" id="{0E63FCDA-88E3-BF8B-8D73-40001A8307D2}"/>
              </a:ext>
            </a:extLst>
          </p:cNvPr>
          <p:cNvSpPr txBox="1"/>
          <p:nvPr/>
        </p:nvSpPr>
        <p:spPr>
          <a:xfrm>
            <a:off x="3568198" y="3564725"/>
            <a:ext cx="2103120" cy="984885"/>
          </a:xfrm>
          <a:prstGeom prst="rect">
            <a:avLst/>
          </a:prstGeom>
          <a:noFill/>
        </p:spPr>
        <p:txBody>
          <a:bodyPr wrap="square" lIns="91440" tIns="45720" rIns="9144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effectLst/>
                <a:uLnTx/>
                <a:uFillTx/>
                <a:latin typeface="Segoe UI" pitchFamily="34" charset="0"/>
                <a:ea typeface="Helvetica Neue" panose="02000503000000020004" pitchFamily="2" charset="0"/>
                <a:cs typeface="Helvetica Neue" panose="02000503000000020004" pitchFamily="2" charset="0"/>
              </a:rPr>
              <a:t>Superpower Match: </a:t>
            </a:r>
            <a:r>
              <a:rPr kumimoji="0" lang="en-US" sz="1400" b="0" i="0" u="none" strike="noStrike" kern="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rPr>
              <a:t>How well matched is the talent to the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400" b="0" i="0" u="none" strike="noStrike" kern="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rPr>
              <a:t>identified superpowers?</a:t>
            </a:r>
            <a:endParaRPr kumimoji="0" lang="en-US" sz="1600" b="0" i="0" u="none" strike="noStrike" kern="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endParaRPr>
          </a:p>
        </p:txBody>
      </p:sp>
      <p:sp>
        <p:nvSpPr>
          <p:cNvPr id="17" name="TextBox 16">
            <a:extLst>
              <a:ext uri="{FF2B5EF4-FFF2-40B4-BE49-F238E27FC236}">
                <a16:creationId xmlns:a16="http://schemas.microsoft.com/office/drawing/2014/main" id="{1F529CD5-CB76-C2D0-5767-2B16C1DECEE9}"/>
              </a:ext>
            </a:extLst>
          </p:cNvPr>
          <p:cNvSpPr txBox="1"/>
          <p:nvPr/>
        </p:nvSpPr>
        <p:spPr>
          <a:xfrm>
            <a:off x="9328403" y="3564617"/>
            <a:ext cx="2334969" cy="1200329"/>
          </a:xfrm>
          <a:prstGeom prst="rect">
            <a:avLst/>
          </a:prstGeom>
          <a:noFill/>
        </p:spPr>
        <p:txBody>
          <a:bodyPr wrap="square" lIns="91440" tIns="45720" rIns="9144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effectLst/>
                <a:uLnTx/>
                <a:uFillTx/>
                <a:latin typeface="Segoe UI" pitchFamily="34" charset="0"/>
                <a:ea typeface="Helvetica Neue" panose="02000503000000020004" pitchFamily="2" charset="0"/>
                <a:cs typeface="Helvetica Neue" panose="02000503000000020004" pitchFamily="2" charset="0"/>
              </a:rPr>
              <a:t>Two-Way Fit: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400" b="0" i="0" u="none" strike="noStrike" kern="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rPr>
              <a:t>Is there alignment between the individual and org culture, operating environment?</a:t>
            </a:r>
            <a:endParaRPr kumimoji="0" lang="en-US" sz="1600" b="0" i="0" u="none" strike="noStrike" kern="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endParaRPr>
          </a:p>
        </p:txBody>
      </p:sp>
      <p:sp>
        <p:nvSpPr>
          <p:cNvPr id="18" name="TextBox 17">
            <a:extLst>
              <a:ext uri="{FF2B5EF4-FFF2-40B4-BE49-F238E27FC236}">
                <a16:creationId xmlns:a16="http://schemas.microsoft.com/office/drawing/2014/main" id="{D22FD69A-6FB4-2D21-46AB-338FD682042F}"/>
              </a:ext>
            </a:extLst>
          </p:cNvPr>
          <p:cNvSpPr txBox="1"/>
          <p:nvPr/>
        </p:nvSpPr>
        <p:spPr>
          <a:xfrm>
            <a:off x="6425732" y="3564725"/>
            <a:ext cx="2397107" cy="1200329"/>
          </a:xfrm>
          <a:prstGeom prst="rect">
            <a:avLst/>
          </a:prstGeom>
          <a:noFill/>
        </p:spPr>
        <p:txBody>
          <a:bodyPr wrap="square" lIns="91440" tIns="45720" rIns="9144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effectLst/>
                <a:uLnTx/>
                <a:uFillTx/>
                <a:latin typeface="Segoe UI" pitchFamily="34" charset="0"/>
                <a:ea typeface="Helvetica Neue" panose="02000503000000020004" pitchFamily="2" charset="0"/>
                <a:cs typeface="Helvetica Neue" panose="02000503000000020004" pitchFamily="2" charset="0"/>
              </a:rPr>
              <a:t>Winning Track Record: </a:t>
            </a:r>
            <a:r>
              <a:rPr kumimoji="0" lang="en-US" sz="1400" b="0" i="0" u="none" strike="noStrike" kern="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rPr>
              <a:t>Does the person have a consistent track record of persisting and finding a way to win? </a:t>
            </a:r>
            <a:endParaRPr kumimoji="0" lang="en-US" sz="1600" b="0" i="0" u="none" strike="noStrike" kern="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endParaRPr>
          </a:p>
        </p:txBody>
      </p:sp>
      <p:sp>
        <p:nvSpPr>
          <p:cNvPr id="19" name="Rectangle 18">
            <a:extLst>
              <a:ext uri="{FF2B5EF4-FFF2-40B4-BE49-F238E27FC236}">
                <a16:creationId xmlns:a16="http://schemas.microsoft.com/office/drawing/2014/main" id="{DA6206CA-AD9B-18B7-5584-415C9CCD159D}"/>
              </a:ext>
            </a:extLst>
          </p:cNvPr>
          <p:cNvSpPr/>
          <p:nvPr/>
        </p:nvSpPr>
        <p:spPr>
          <a:xfrm>
            <a:off x="4121097" y="1789558"/>
            <a:ext cx="3508042" cy="577272"/>
          </a:xfrm>
          <a:prstGeom prst="rect">
            <a:avLst/>
          </a:prstGeom>
          <a:solidFill>
            <a:srgbClr val="281A42"/>
          </a:solidFill>
          <a:ln w="9525" cap="flat" cmpd="sng" algn="ctr">
            <a:solidFill>
              <a:srgbClr val="FFFFFF"/>
            </a:solidFill>
            <a:prstDash val="solid"/>
            <a:miter lim="800000"/>
          </a:ln>
          <a:effectLst>
            <a:outerShdw blurRad="50800" dist="38100" dir="2700000" algn="tl" rotWithShape="0">
              <a:prstClr val="black">
                <a:alpha val="40000"/>
              </a:prstClr>
            </a:outerShdw>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4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21" name="TextBox 20">
            <a:extLst>
              <a:ext uri="{FF2B5EF4-FFF2-40B4-BE49-F238E27FC236}">
                <a16:creationId xmlns:a16="http://schemas.microsoft.com/office/drawing/2014/main" id="{08574FC9-6F4C-3ED5-F42E-B50AF7F4F3AB}"/>
              </a:ext>
            </a:extLst>
          </p:cNvPr>
          <p:cNvSpPr txBox="1"/>
          <p:nvPr/>
        </p:nvSpPr>
        <p:spPr>
          <a:xfrm>
            <a:off x="4254957" y="1867168"/>
            <a:ext cx="3340449" cy="369332"/>
          </a:xfrm>
          <a:prstGeom prst="rect">
            <a:avLst/>
          </a:prstGeom>
          <a:solidFill>
            <a:srgbClr val="281A42"/>
          </a:solidFill>
        </p:spPr>
        <p:txBody>
          <a:bodyPr wrap="square" lIns="91440" tIns="45720" rIns="91440" bIns="45720">
            <a:spAutoFit/>
          </a:body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b="1" i="0" u="none" strike="noStrike" kern="0" cap="none" spc="-10" normalizeH="0" baseline="0" noProof="0">
                <a:ln>
                  <a:noFill/>
                </a:ln>
                <a:solidFill>
                  <a:srgbClr val="FFFFFF"/>
                </a:solidFill>
                <a:effectLst/>
                <a:uLnTx/>
                <a:uFillTx/>
                <a:latin typeface="Segoe UI" pitchFamily="34" charset="0"/>
                <a:ea typeface="Helvetica Neue" panose="02000503000000020004" pitchFamily="2" charset="0"/>
                <a:cs typeface="Helvetica Neue" panose="02000503000000020004" pitchFamily="2" charset="0"/>
              </a:rPr>
              <a:t>TALENT</a:t>
            </a:r>
            <a:endParaRPr kumimoji="0" lang="en-US"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cxnSp>
        <p:nvCxnSpPr>
          <p:cNvPr id="22" name="Straight Connector 21">
            <a:extLst>
              <a:ext uri="{FF2B5EF4-FFF2-40B4-BE49-F238E27FC236}">
                <a16:creationId xmlns:a16="http://schemas.microsoft.com/office/drawing/2014/main" id="{C98225A8-7321-E61B-599B-367254466C59}"/>
              </a:ext>
            </a:extLst>
          </p:cNvPr>
          <p:cNvCxnSpPr>
            <a:cxnSpLocks/>
          </p:cNvCxnSpPr>
          <p:nvPr/>
        </p:nvCxnSpPr>
        <p:spPr>
          <a:xfrm>
            <a:off x="5324503" y="2267345"/>
            <a:ext cx="1101230" cy="0"/>
          </a:xfrm>
          <a:prstGeom prst="line">
            <a:avLst/>
          </a:prstGeom>
          <a:solidFill>
            <a:schemeClr val="accent1"/>
          </a:solidFill>
          <a:ln w="19050" cap="flat" cmpd="sng" algn="ctr">
            <a:solidFill>
              <a:srgbClr val="FFFFFF"/>
            </a:solidFill>
            <a:prstDash val="solid"/>
            <a:miter lim="800000"/>
          </a:ln>
          <a:effectLst/>
        </p:spPr>
      </p:cxnSp>
      <p:sp>
        <p:nvSpPr>
          <p:cNvPr id="23" name="Rectangle 22">
            <a:extLst>
              <a:ext uri="{FF2B5EF4-FFF2-40B4-BE49-F238E27FC236}">
                <a16:creationId xmlns:a16="http://schemas.microsoft.com/office/drawing/2014/main" id="{31DB7DED-6934-7F58-3A1F-F0B722685ABB}"/>
              </a:ext>
            </a:extLst>
          </p:cNvPr>
          <p:cNvSpPr/>
          <p:nvPr/>
        </p:nvSpPr>
        <p:spPr>
          <a:xfrm>
            <a:off x="3424719" y="3349431"/>
            <a:ext cx="2608684" cy="1633385"/>
          </a:xfrm>
          <a:prstGeom prst="rect">
            <a:avLst/>
          </a:prstGeom>
          <a:noFill/>
          <a:ln w="19050" cap="flat" cmpd="sng" algn="ctr">
            <a:solidFill>
              <a:srgbClr val="2B3A42"/>
            </a:solidFill>
            <a:prstDash val="solid"/>
            <a:miter lim="800000"/>
          </a:ln>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24" name="Rectangle 23">
            <a:extLst>
              <a:ext uri="{FF2B5EF4-FFF2-40B4-BE49-F238E27FC236}">
                <a16:creationId xmlns:a16="http://schemas.microsoft.com/office/drawing/2014/main" id="{5451BEFC-CDD8-A28F-E9AA-933485AFC485}"/>
              </a:ext>
            </a:extLst>
          </p:cNvPr>
          <p:cNvSpPr/>
          <p:nvPr/>
        </p:nvSpPr>
        <p:spPr>
          <a:xfrm>
            <a:off x="6286185" y="3349431"/>
            <a:ext cx="2608684" cy="1633385"/>
          </a:xfrm>
          <a:prstGeom prst="rect">
            <a:avLst/>
          </a:prstGeom>
          <a:noFill/>
          <a:ln w="19050" cap="flat" cmpd="sng" algn="ctr">
            <a:solidFill>
              <a:srgbClr val="2B3A42"/>
            </a:solidFill>
            <a:prstDash val="solid"/>
            <a:miter lim="800000"/>
          </a:ln>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25" name="Rectangle 24">
            <a:extLst>
              <a:ext uri="{FF2B5EF4-FFF2-40B4-BE49-F238E27FC236}">
                <a16:creationId xmlns:a16="http://schemas.microsoft.com/office/drawing/2014/main" id="{DA513971-3442-6C38-CBED-DC74A5BC71A5}"/>
              </a:ext>
            </a:extLst>
          </p:cNvPr>
          <p:cNvSpPr/>
          <p:nvPr/>
        </p:nvSpPr>
        <p:spPr>
          <a:xfrm>
            <a:off x="9147651" y="3349431"/>
            <a:ext cx="2608684" cy="1633385"/>
          </a:xfrm>
          <a:prstGeom prst="rect">
            <a:avLst/>
          </a:prstGeom>
          <a:noFill/>
          <a:ln w="19050" cap="flat" cmpd="sng" algn="ctr">
            <a:solidFill>
              <a:srgbClr val="2B3A42"/>
            </a:solidFill>
            <a:prstDash val="solid"/>
            <a:miter lim="800000"/>
          </a:ln>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sym typeface="Arial"/>
            </a:endParaRPr>
          </a:p>
        </p:txBody>
      </p:sp>
      <p:cxnSp>
        <p:nvCxnSpPr>
          <p:cNvPr id="26" name="Elbow Connector 25">
            <a:extLst>
              <a:ext uri="{FF2B5EF4-FFF2-40B4-BE49-F238E27FC236}">
                <a16:creationId xmlns:a16="http://schemas.microsoft.com/office/drawing/2014/main" id="{49984802-8B38-909D-43B4-87841909180A}"/>
              </a:ext>
            </a:extLst>
          </p:cNvPr>
          <p:cNvCxnSpPr>
            <a:stCxn id="19" idx="2"/>
            <a:endCxn id="3" idx="0"/>
          </p:cNvCxnSpPr>
          <p:nvPr/>
        </p:nvCxnSpPr>
        <p:spPr>
          <a:xfrm rot="5400000">
            <a:off x="3380057" y="854369"/>
            <a:ext cx="982601" cy="4007523"/>
          </a:xfrm>
          <a:prstGeom prst="bentConnector3">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27" name="Elbow Connector 26">
            <a:extLst>
              <a:ext uri="{FF2B5EF4-FFF2-40B4-BE49-F238E27FC236}">
                <a16:creationId xmlns:a16="http://schemas.microsoft.com/office/drawing/2014/main" id="{527F44D9-90AB-D1E0-19DD-C0F12ED9467E}"/>
              </a:ext>
            </a:extLst>
          </p:cNvPr>
          <p:cNvCxnSpPr>
            <a:cxnSpLocks/>
            <a:stCxn id="19" idx="2"/>
            <a:endCxn id="23" idx="0"/>
          </p:cNvCxnSpPr>
          <p:nvPr/>
        </p:nvCxnSpPr>
        <p:spPr>
          <a:xfrm rot="5400000">
            <a:off x="4810790" y="2285102"/>
            <a:ext cx="982601" cy="1146057"/>
          </a:xfrm>
          <a:prstGeom prst="bentConnector3">
            <a:avLst>
              <a:gd name="adj1" fmla="val 50000"/>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28" name="Elbow Connector 27">
            <a:extLst>
              <a:ext uri="{FF2B5EF4-FFF2-40B4-BE49-F238E27FC236}">
                <a16:creationId xmlns:a16="http://schemas.microsoft.com/office/drawing/2014/main" id="{D877954C-2B1C-EF76-A491-AE01D9BDCA34}"/>
              </a:ext>
            </a:extLst>
          </p:cNvPr>
          <p:cNvCxnSpPr>
            <a:cxnSpLocks/>
            <a:stCxn id="19" idx="2"/>
            <a:endCxn id="24" idx="0"/>
          </p:cNvCxnSpPr>
          <p:nvPr/>
        </p:nvCxnSpPr>
        <p:spPr>
          <a:xfrm rot="16200000" flipH="1">
            <a:off x="6241522" y="2000425"/>
            <a:ext cx="982601" cy="1715409"/>
          </a:xfrm>
          <a:prstGeom prst="bentConnector3">
            <a:avLst>
              <a:gd name="adj1" fmla="val 50000"/>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29" name="Elbow Connector 28">
            <a:extLst>
              <a:ext uri="{FF2B5EF4-FFF2-40B4-BE49-F238E27FC236}">
                <a16:creationId xmlns:a16="http://schemas.microsoft.com/office/drawing/2014/main" id="{D59D239B-0FEF-A29B-0EE4-210C07BC9DD8}"/>
              </a:ext>
            </a:extLst>
          </p:cNvPr>
          <p:cNvCxnSpPr>
            <a:cxnSpLocks/>
            <a:stCxn id="19" idx="2"/>
            <a:endCxn id="25" idx="0"/>
          </p:cNvCxnSpPr>
          <p:nvPr/>
        </p:nvCxnSpPr>
        <p:spPr>
          <a:xfrm rot="16200000" flipH="1">
            <a:off x="7672255" y="569692"/>
            <a:ext cx="982601" cy="4576875"/>
          </a:xfrm>
          <a:prstGeom prst="bentConnector3">
            <a:avLst>
              <a:gd name="adj1" fmla="val 50000"/>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49"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34</a:t>
            </a:fld>
            <a:endParaRPr lang="en-US"/>
          </a:p>
        </p:txBody>
      </p:sp>
      <p:grpSp>
        <p:nvGrpSpPr>
          <p:cNvPr id="57" name="Group 56">
            <a:extLst>
              <a:ext uri="{FF2B5EF4-FFF2-40B4-BE49-F238E27FC236}">
                <a16:creationId xmlns:a16="http://schemas.microsoft.com/office/drawing/2014/main" id="{D2EEF765-186E-47B4-DB6F-3EC42B821846}"/>
              </a:ext>
            </a:extLst>
          </p:cNvPr>
          <p:cNvGrpSpPr/>
          <p:nvPr/>
        </p:nvGrpSpPr>
        <p:grpSpPr>
          <a:xfrm>
            <a:off x="10403235" y="201614"/>
            <a:ext cx="410690" cy="410700"/>
            <a:chOff x="3506617" y="2730959"/>
            <a:chExt cx="1591098" cy="1591098"/>
          </a:xfrm>
        </p:grpSpPr>
        <p:sp>
          <p:nvSpPr>
            <p:cNvPr id="58" name="Rectangle: Rounded Corners 39">
              <a:extLst>
                <a:ext uri="{FF2B5EF4-FFF2-40B4-BE49-F238E27FC236}">
                  <a16:creationId xmlns:a16="http://schemas.microsoft.com/office/drawing/2014/main" id="{57B1977D-DE1F-CDA3-FFD0-D83E172F3762}"/>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9" name="Rectangle: Rounded Corners 54">
              <a:extLst>
                <a:ext uri="{FF2B5EF4-FFF2-40B4-BE49-F238E27FC236}">
                  <a16:creationId xmlns:a16="http://schemas.microsoft.com/office/drawing/2014/main" id="{146326DC-917F-3764-A6DB-CF5CD7D35F68}"/>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0" name="Freeform 56" descr="Clipboard Partially Checked with solid fill">
              <a:extLst>
                <a:ext uri="{FF2B5EF4-FFF2-40B4-BE49-F238E27FC236}">
                  <a16:creationId xmlns:a16="http://schemas.microsoft.com/office/drawing/2014/main" id="{FA41F046-6F7C-D817-CAC9-AA09CE7B6713}"/>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61" name="Group 60">
            <a:extLst>
              <a:ext uri="{FF2B5EF4-FFF2-40B4-BE49-F238E27FC236}">
                <a16:creationId xmlns:a16="http://schemas.microsoft.com/office/drawing/2014/main" id="{1C008E3D-83F8-D2CA-60CE-BE88818E47FF}"/>
              </a:ext>
            </a:extLst>
          </p:cNvPr>
          <p:cNvGrpSpPr/>
          <p:nvPr/>
        </p:nvGrpSpPr>
        <p:grpSpPr>
          <a:xfrm>
            <a:off x="11557682" y="191038"/>
            <a:ext cx="410690" cy="410700"/>
            <a:chOff x="8874309" y="3009260"/>
            <a:chExt cx="1591098" cy="1591098"/>
          </a:xfrm>
        </p:grpSpPr>
        <p:grpSp>
          <p:nvGrpSpPr>
            <p:cNvPr id="62" name="Group 61">
              <a:extLst>
                <a:ext uri="{FF2B5EF4-FFF2-40B4-BE49-F238E27FC236}">
                  <a16:creationId xmlns:a16="http://schemas.microsoft.com/office/drawing/2014/main" id="{34F90165-2112-DF04-E55D-633C58D228A3}"/>
                </a:ext>
              </a:extLst>
            </p:cNvPr>
            <p:cNvGrpSpPr/>
            <p:nvPr/>
          </p:nvGrpSpPr>
          <p:grpSpPr>
            <a:xfrm>
              <a:off x="8874309" y="3009260"/>
              <a:ext cx="1591098" cy="1591098"/>
              <a:chOff x="9350370" y="2760976"/>
              <a:chExt cx="1591098" cy="1591098"/>
            </a:xfrm>
          </p:grpSpPr>
          <p:sp>
            <p:nvSpPr>
              <p:cNvPr id="64" name="Rectangle: Rounded Corners 39">
                <a:extLst>
                  <a:ext uri="{FF2B5EF4-FFF2-40B4-BE49-F238E27FC236}">
                    <a16:creationId xmlns:a16="http://schemas.microsoft.com/office/drawing/2014/main" id="{45F6F660-6CF1-83FD-1F21-001CBFFD2E63}"/>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5" name="Rectangle: Rounded Corners 54">
                <a:extLst>
                  <a:ext uri="{FF2B5EF4-FFF2-40B4-BE49-F238E27FC236}">
                    <a16:creationId xmlns:a16="http://schemas.microsoft.com/office/drawing/2014/main" id="{43AFED9D-7C52-33EB-7AEB-C09C8A3E4555}"/>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63" name="Picture 51" descr="Map with pin with solid fill">
              <a:extLst>
                <a:ext uri="{FF2B5EF4-FFF2-40B4-BE49-F238E27FC236}">
                  <a16:creationId xmlns:a16="http://schemas.microsoft.com/office/drawing/2014/main" id="{016A2962-A13A-CBCF-C63D-974F0C164146}"/>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66" name="Group 65">
            <a:extLst>
              <a:ext uri="{FF2B5EF4-FFF2-40B4-BE49-F238E27FC236}">
                <a16:creationId xmlns:a16="http://schemas.microsoft.com/office/drawing/2014/main" id="{2CC1F7A6-4650-8B2E-BDD5-A124AE9E8F8F}"/>
              </a:ext>
            </a:extLst>
          </p:cNvPr>
          <p:cNvGrpSpPr/>
          <p:nvPr/>
        </p:nvGrpSpPr>
        <p:grpSpPr>
          <a:xfrm>
            <a:off x="10997361" y="200955"/>
            <a:ext cx="410690" cy="410700"/>
            <a:chOff x="5303120" y="3009260"/>
            <a:chExt cx="1591098" cy="1591098"/>
          </a:xfrm>
        </p:grpSpPr>
        <p:grpSp>
          <p:nvGrpSpPr>
            <p:cNvPr id="67" name="Group 66">
              <a:extLst>
                <a:ext uri="{FF2B5EF4-FFF2-40B4-BE49-F238E27FC236}">
                  <a16:creationId xmlns:a16="http://schemas.microsoft.com/office/drawing/2014/main" id="{2BD1842E-2653-4B11-42B6-24B28D66C1E4}"/>
                </a:ext>
              </a:extLst>
            </p:cNvPr>
            <p:cNvGrpSpPr/>
            <p:nvPr/>
          </p:nvGrpSpPr>
          <p:grpSpPr>
            <a:xfrm>
              <a:off x="5303120" y="3009260"/>
              <a:ext cx="1591098" cy="1591098"/>
              <a:chOff x="6428492" y="2760976"/>
              <a:chExt cx="1591098" cy="1591098"/>
            </a:xfrm>
          </p:grpSpPr>
          <p:sp>
            <p:nvSpPr>
              <p:cNvPr id="69" name="Rectangle: Rounded Corners 39">
                <a:extLst>
                  <a:ext uri="{FF2B5EF4-FFF2-40B4-BE49-F238E27FC236}">
                    <a16:creationId xmlns:a16="http://schemas.microsoft.com/office/drawing/2014/main" id="{EA07C494-A87D-68B5-41B9-5DAD8B15A508}"/>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70" name="Rectangle: Rounded Corners 54">
                <a:extLst>
                  <a:ext uri="{FF2B5EF4-FFF2-40B4-BE49-F238E27FC236}">
                    <a16:creationId xmlns:a16="http://schemas.microsoft.com/office/drawing/2014/main" id="{82A3D7F7-02B9-2AA0-19B0-1CC2AF56ADEC}"/>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68" name="Graphic 22" descr="Target Audience with solid fill">
              <a:extLst>
                <a:ext uri="{FF2B5EF4-FFF2-40B4-BE49-F238E27FC236}">
                  <a16:creationId xmlns:a16="http://schemas.microsoft.com/office/drawing/2014/main" id="{A7CC174F-5124-4E19-7EDE-5EC0FB2316F8}"/>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71" name="TextBox 70">
            <a:extLst>
              <a:ext uri="{FF2B5EF4-FFF2-40B4-BE49-F238E27FC236}">
                <a16:creationId xmlns:a16="http://schemas.microsoft.com/office/drawing/2014/main" id="{506C16FA-BB2D-8B6B-F0A8-9CA399A0AD6E}"/>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72" name="TextBox 71">
            <a:extLst>
              <a:ext uri="{FF2B5EF4-FFF2-40B4-BE49-F238E27FC236}">
                <a16:creationId xmlns:a16="http://schemas.microsoft.com/office/drawing/2014/main" id="{45F15AC2-5DEC-1B4E-CADD-17F0672FF82A}"/>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73" name="TextBox 72">
            <a:extLst>
              <a:ext uri="{FF2B5EF4-FFF2-40B4-BE49-F238E27FC236}">
                <a16:creationId xmlns:a16="http://schemas.microsoft.com/office/drawing/2014/main" id="{64FAC548-1EED-C236-EE00-DED3E87015F3}"/>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74" name="Rectangle 73">
            <a:extLst>
              <a:ext uri="{FF2B5EF4-FFF2-40B4-BE49-F238E27FC236}">
                <a16:creationId xmlns:a16="http://schemas.microsoft.com/office/drawing/2014/main" id="{4F4454DE-BEAF-B927-52F5-5FB06CC08A04}"/>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
        <p:nvSpPr>
          <p:cNvPr id="75" name="Rectangle 74">
            <a:extLst>
              <a:ext uri="{FF2B5EF4-FFF2-40B4-BE49-F238E27FC236}">
                <a16:creationId xmlns:a16="http://schemas.microsoft.com/office/drawing/2014/main" id="{3309CC0B-45B5-41A6-DBE4-56B89E42268C}"/>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1871754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E69F8-8652-D6D6-2B67-3E6810B143D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50993F7-7762-F01C-0639-1D5D54A31E47}"/>
              </a:ext>
            </a:extLst>
          </p:cNvPr>
          <p:cNvSpPr>
            <a:spLocks noGrp="1"/>
          </p:cNvSpPr>
          <p:nvPr>
            <p:ph type="title" sz="quarter"/>
          </p:nvPr>
        </p:nvSpPr>
        <p:spPr/>
        <p:txBody>
          <a:bodyPr lIns="91440" tIns="45720" rIns="91440" bIns="45720" anchor="t"/>
          <a:lstStyle/>
          <a:p>
            <a:r>
              <a:rPr lang="en-US" sz="2700" b="1" spc="-25">
                <a:solidFill>
                  <a:srgbClr val="2B3A42"/>
                </a:solidFill>
                <a:latin typeface="Segoe UI" pitchFamily="34" charset="0"/>
                <a:ea typeface="Helvetica Neue" panose="02000503000000020004" pitchFamily="2" charset="0"/>
                <a:cs typeface="Helvetica Neue" panose="02000503000000020004" pitchFamily="2" charset="0"/>
              </a:rPr>
              <a:t>Beyond opinion to identify successors</a:t>
            </a:r>
            <a:endParaRPr lang="en-US" b="1" spc="-25">
              <a:latin typeface="Segoe UI" pitchFamily="34" charset="0"/>
              <a:ea typeface="Helvetica Neue" panose="02000503000000020004" pitchFamily="2" charset="0"/>
              <a:cs typeface="Helvetica Neue" panose="02000503000000020004" pitchFamily="2" charset="0"/>
            </a:endParaRPr>
          </a:p>
        </p:txBody>
      </p:sp>
      <p:sp>
        <p:nvSpPr>
          <p:cNvPr id="6" name="TextBox 5">
            <a:extLst>
              <a:ext uri="{FF2B5EF4-FFF2-40B4-BE49-F238E27FC236}">
                <a16:creationId xmlns:a16="http://schemas.microsoft.com/office/drawing/2014/main" id="{A88C7232-4982-A693-3FDB-84AB0DFA183A}"/>
              </a:ext>
            </a:extLst>
          </p:cNvPr>
          <p:cNvSpPr txBox="1"/>
          <p:nvPr/>
        </p:nvSpPr>
        <p:spPr>
          <a:xfrm>
            <a:off x="909916" y="1265705"/>
            <a:ext cx="10372167" cy="584775"/>
          </a:xfrm>
          <a:prstGeom prst="rect">
            <a:avLst/>
          </a:prstGeom>
          <a:solidFill>
            <a:schemeClr val="bg1">
              <a:lumMod val="95000"/>
            </a:schemeClr>
          </a:solidFill>
        </p:spPr>
        <p:txBody>
          <a:bodyPr wrap="square" lIns="91440" tIns="45720" rIns="91440" b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Lato"/>
              </a:rPr>
              <a:t>Our unique process identifies enablers and risks to deliver the future </a:t>
            </a:r>
            <a:r>
              <a:rPr lang="en-US" sz="1600" spc="-10">
                <a:solidFill>
                  <a:srgbClr val="1D1D1D"/>
                </a:solidFill>
                <a:latin typeface="Arial" pitchFamily="34" charset="0"/>
                <a:ea typeface="Helvetica Neue" panose="02000503000000020004" pitchFamily="2" charset="0"/>
                <a:cs typeface="Helvetica Neue" panose="02000503000000020004" pitchFamily="2" charset="0"/>
                <a:sym typeface="Lato"/>
              </a:rPr>
              <a:t>JTBDs,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spc="-10">
                <a:solidFill>
                  <a:srgbClr val="1D1D1D"/>
                </a:solidFill>
                <a:latin typeface="Segoe UI" pitchFamily="34" charset="0"/>
                <a:ea typeface="Helvetica Neue" panose="02000503000000020004" pitchFamily="2" charset="0"/>
                <a:cs typeface="Helvetica Neue" panose="02000503000000020004" pitchFamily="2" charset="0"/>
                <a:sym typeface="Lato"/>
              </a:rPr>
              <a:t>applying</a:t>
            </a:r>
            <a:r>
              <a:rPr kumimoji="0" lang="en-US" sz="1600" b="1" i="0" u="none" strike="noStrike" kern="1200" cap="none" spc="-10"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sym typeface="Lato"/>
              </a:rPr>
              <a:t> investment-type rigor to succession planning</a:t>
            </a:r>
            <a:endParaRPr kumimoji="0" lang="en-US" sz="1200" b="1" i="0" u="none" strike="noStrike" kern="1200" cap="none" spc="-10" normalizeH="0" baseline="0" noProof="0">
              <a:ln>
                <a:noFill/>
              </a:ln>
              <a:solidFill>
                <a:srgbClr val="1D1D1D"/>
              </a:solidFill>
              <a:effectLst/>
              <a:highlight>
                <a:srgbClr val="E9E4FE"/>
              </a:highlight>
              <a:uLnTx/>
              <a:uFillTx/>
              <a:latin typeface="Segoe UI" pitchFamily="34" charset="0"/>
              <a:ea typeface="Helvetica Neue" panose="02000503000000020004" pitchFamily="2" charset="0"/>
              <a:cs typeface="Helvetica Neue" panose="02000503000000020004" pitchFamily="2" charset="0"/>
              <a:sym typeface="Lato"/>
            </a:endParaRPr>
          </a:p>
        </p:txBody>
      </p:sp>
      <p:grpSp>
        <p:nvGrpSpPr>
          <p:cNvPr id="7" name="Group 6">
            <a:extLst>
              <a:ext uri="{FF2B5EF4-FFF2-40B4-BE49-F238E27FC236}">
                <a16:creationId xmlns:a16="http://schemas.microsoft.com/office/drawing/2014/main" id="{B4990465-F461-47F2-C791-F9A743174791}"/>
              </a:ext>
            </a:extLst>
          </p:cNvPr>
          <p:cNvGrpSpPr/>
          <p:nvPr/>
        </p:nvGrpSpPr>
        <p:grpSpPr>
          <a:xfrm>
            <a:off x="2704203" y="1960268"/>
            <a:ext cx="6065654" cy="4545084"/>
            <a:chOff x="2704203" y="1960268"/>
            <a:chExt cx="6065654" cy="4545084"/>
          </a:xfrm>
        </p:grpSpPr>
        <p:sp>
          <p:nvSpPr>
            <p:cNvPr id="62" name="TextBox 61">
              <a:extLst>
                <a:ext uri="{FF2B5EF4-FFF2-40B4-BE49-F238E27FC236}">
                  <a16:creationId xmlns:a16="http://schemas.microsoft.com/office/drawing/2014/main" id="{79ADEBCD-7622-5F58-93FE-3B63340C7801}"/>
                </a:ext>
              </a:extLst>
            </p:cNvPr>
            <p:cNvSpPr txBox="1"/>
            <p:nvPr/>
          </p:nvSpPr>
          <p:spPr>
            <a:xfrm>
              <a:off x="3222135" y="2754822"/>
              <a:ext cx="1544929" cy="584775"/>
            </a:xfrm>
            <a:prstGeom prst="rect">
              <a:avLst/>
            </a:prstGeom>
            <a:noFill/>
            <a:ln w="28575">
              <a:noFill/>
            </a:ln>
          </p:spPr>
          <p:txBody>
            <a:bodyPr wrap="square" lIns="91440" tIns="45720" rIns="91440" bIns="45720" rtlCol="0">
              <a:spAutoFit/>
            </a:bodyPr>
            <a:lstStyle/>
            <a:p>
              <a:pPr marR="0" lvl="0" algn="ctr" defTabSz="914400" rtl="0" eaLnBrk="1" fontAlgn="auto" latinLnBrk="0" hangingPunct="1">
                <a:lnSpc>
                  <a:spcPct val="100000"/>
                </a:lnSpc>
                <a:spcBef>
                  <a:spcPts val="0"/>
                </a:spcBef>
                <a:spcAft>
                  <a:spcPts val="600"/>
                </a:spcAft>
                <a:buClrTx/>
                <a:buSzTx/>
                <a:tabLst/>
                <a:defRPr/>
              </a:pPr>
              <a:r>
                <a:rPr kumimoji="0" lang="en-US" sz="1600" b="1" i="0" u="none" strike="noStrike" kern="1200" cap="none" spc="-10"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Performance Reviews</a:t>
              </a:r>
            </a:p>
          </p:txBody>
        </p:sp>
        <p:sp>
          <p:nvSpPr>
            <p:cNvPr id="27" name="Oval 26">
              <a:extLst>
                <a:ext uri="{FF2B5EF4-FFF2-40B4-BE49-F238E27FC236}">
                  <a16:creationId xmlns:a16="http://schemas.microsoft.com/office/drawing/2014/main" id="{CC2A0382-30F2-CF9C-8B67-47E48112C636}"/>
                </a:ext>
              </a:extLst>
            </p:cNvPr>
            <p:cNvSpPr/>
            <p:nvPr/>
          </p:nvSpPr>
          <p:spPr>
            <a:xfrm>
              <a:off x="5761168" y="2432401"/>
              <a:ext cx="640080" cy="640080"/>
            </a:xfrm>
            <a:prstGeom prst="ellipse">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30" name="Oval 29">
              <a:extLst>
                <a:ext uri="{FF2B5EF4-FFF2-40B4-BE49-F238E27FC236}">
                  <a16:creationId xmlns:a16="http://schemas.microsoft.com/office/drawing/2014/main" id="{ADA7AB13-5825-5FC9-EE9D-2A51BD33FAD5}"/>
                </a:ext>
              </a:extLst>
            </p:cNvPr>
            <p:cNvSpPr/>
            <p:nvPr/>
          </p:nvSpPr>
          <p:spPr>
            <a:xfrm>
              <a:off x="7214362" y="3272081"/>
              <a:ext cx="640080" cy="640080"/>
            </a:xfrm>
            <a:prstGeom prst="ellipse">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32" name="Oval 31">
              <a:extLst>
                <a:ext uri="{FF2B5EF4-FFF2-40B4-BE49-F238E27FC236}">
                  <a16:creationId xmlns:a16="http://schemas.microsoft.com/office/drawing/2014/main" id="{8B647432-8648-32D5-C408-4B1CABB38C47}"/>
                </a:ext>
              </a:extLst>
            </p:cNvPr>
            <p:cNvSpPr/>
            <p:nvPr/>
          </p:nvSpPr>
          <p:spPr>
            <a:xfrm>
              <a:off x="7230299" y="4963556"/>
              <a:ext cx="640080" cy="640080"/>
            </a:xfrm>
            <a:prstGeom prst="ellipse">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pic>
          <p:nvPicPr>
            <p:cNvPr id="33" name="Graphic 32">
              <a:extLst>
                <a:ext uri="{FF2B5EF4-FFF2-40B4-BE49-F238E27FC236}">
                  <a16:creationId xmlns:a16="http://schemas.microsoft.com/office/drawing/2014/main" id="{70A68416-FE16-9F29-850E-731DE6835FCF}"/>
                </a:ext>
              </a:extLst>
            </p:cNvPr>
            <p:cNvPicPr>
              <a:picLocks noChangeAspect="1"/>
            </p:cNvPicPr>
            <p:nvPr/>
          </p:nvPicPr>
          <p:blipFill>
            <a:blip r:embed="rId4">
              <a:duotone>
                <a:srgbClr val="765FFF"/>
                <a:srgbClr val="FFFFFF"/>
              </a:duotone>
            </a:blip>
            <a:srcRect l="7276" r="7899" b="13411"/>
            <a:stretch>
              <a:fillRect/>
            </a:stretch>
          </p:blipFill>
          <p:spPr>
            <a:xfrm>
              <a:off x="7266958" y="3311001"/>
              <a:ext cx="557372" cy="568960"/>
            </a:xfrm>
            <a:prstGeom prst="ellipse">
              <a:avLst/>
            </a:prstGeom>
          </p:spPr>
        </p:pic>
        <p:sp>
          <p:nvSpPr>
            <p:cNvPr id="34" name="Oval 33">
              <a:extLst>
                <a:ext uri="{FF2B5EF4-FFF2-40B4-BE49-F238E27FC236}">
                  <a16:creationId xmlns:a16="http://schemas.microsoft.com/office/drawing/2014/main" id="{F675E947-F7C4-5037-87B5-E3234F3F0538}"/>
                </a:ext>
              </a:extLst>
            </p:cNvPr>
            <p:cNvSpPr/>
            <p:nvPr/>
          </p:nvSpPr>
          <p:spPr>
            <a:xfrm>
              <a:off x="4281367" y="3308570"/>
              <a:ext cx="640080" cy="640080"/>
            </a:xfrm>
            <a:prstGeom prst="ellipse">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pic>
          <p:nvPicPr>
            <p:cNvPr id="35" name="Picture 34">
              <a:extLst>
                <a:ext uri="{FF2B5EF4-FFF2-40B4-BE49-F238E27FC236}">
                  <a16:creationId xmlns:a16="http://schemas.microsoft.com/office/drawing/2014/main" id="{2871ECCB-FA27-1457-5F17-17A07DCDCB36}"/>
                </a:ext>
              </a:extLst>
            </p:cNvPr>
            <p:cNvPicPr>
              <a:picLocks noChangeAspect="1"/>
            </p:cNvPicPr>
            <p:nvPr/>
          </p:nvPicPr>
          <p:blipFill>
            <a:blip r:embed="rId5">
              <a:duotone>
                <a:srgbClr val="765FFF"/>
                <a:srgbClr val="FFFFFF"/>
              </a:duotone>
            </a:blip>
            <a:stretch>
              <a:fillRect/>
            </a:stretch>
          </p:blipFill>
          <p:spPr>
            <a:xfrm>
              <a:off x="5838340" y="2510108"/>
              <a:ext cx="502702" cy="502702"/>
            </a:xfrm>
            <a:prstGeom prst="rect">
              <a:avLst/>
            </a:prstGeom>
          </p:spPr>
        </p:pic>
        <p:sp>
          <p:nvSpPr>
            <p:cNvPr id="36" name="Oval 35">
              <a:extLst>
                <a:ext uri="{FF2B5EF4-FFF2-40B4-BE49-F238E27FC236}">
                  <a16:creationId xmlns:a16="http://schemas.microsoft.com/office/drawing/2014/main" id="{7E0C939A-44F8-2E55-925A-D215A83A68BA}"/>
                </a:ext>
              </a:extLst>
            </p:cNvPr>
            <p:cNvSpPr/>
            <p:nvPr/>
          </p:nvSpPr>
          <p:spPr>
            <a:xfrm>
              <a:off x="4281367" y="4974504"/>
              <a:ext cx="640080" cy="640080"/>
            </a:xfrm>
            <a:prstGeom prst="ellipse">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38" name="Oval 37">
              <a:extLst>
                <a:ext uri="{FF2B5EF4-FFF2-40B4-BE49-F238E27FC236}">
                  <a16:creationId xmlns:a16="http://schemas.microsoft.com/office/drawing/2014/main" id="{E2FC3528-E89D-BD2F-A308-4C51D571B3AA}"/>
                </a:ext>
              </a:extLst>
            </p:cNvPr>
            <p:cNvSpPr/>
            <p:nvPr/>
          </p:nvSpPr>
          <p:spPr>
            <a:xfrm>
              <a:off x="5761168" y="5813946"/>
              <a:ext cx="640080" cy="640080"/>
            </a:xfrm>
            <a:prstGeom prst="ellipse">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pic>
          <p:nvPicPr>
            <p:cNvPr id="40" name="Picture 39">
              <a:extLst>
                <a:ext uri="{FF2B5EF4-FFF2-40B4-BE49-F238E27FC236}">
                  <a16:creationId xmlns:a16="http://schemas.microsoft.com/office/drawing/2014/main" id="{3534257C-2DF0-128A-B9F1-8E89C0B8C9B7}"/>
                </a:ext>
              </a:extLst>
            </p:cNvPr>
            <p:cNvPicPr>
              <a:picLocks noChangeAspect="1"/>
            </p:cNvPicPr>
            <p:nvPr/>
          </p:nvPicPr>
          <p:blipFill>
            <a:blip r:embed="rId6">
              <a:duotone>
                <a:srgbClr val="765FFF"/>
                <a:srgbClr val="FFFFFF"/>
              </a:duotone>
            </a:blip>
            <a:stretch>
              <a:fillRect/>
            </a:stretch>
          </p:blipFill>
          <p:spPr>
            <a:xfrm>
              <a:off x="4363258" y="5075159"/>
              <a:ext cx="483616" cy="483616"/>
            </a:xfrm>
            <a:prstGeom prst="rect">
              <a:avLst/>
            </a:prstGeom>
          </p:spPr>
        </p:pic>
        <p:cxnSp>
          <p:nvCxnSpPr>
            <p:cNvPr id="49" name="Straight Arrow Connector 48">
              <a:extLst>
                <a:ext uri="{FF2B5EF4-FFF2-40B4-BE49-F238E27FC236}">
                  <a16:creationId xmlns:a16="http://schemas.microsoft.com/office/drawing/2014/main" id="{52AA8D17-274A-CBC8-6496-8F23C7C24DB9}"/>
                </a:ext>
              </a:extLst>
            </p:cNvPr>
            <p:cNvCxnSpPr>
              <a:cxnSpLocks/>
            </p:cNvCxnSpPr>
            <p:nvPr/>
          </p:nvCxnSpPr>
          <p:spPr>
            <a:xfrm>
              <a:off x="6081208" y="3081614"/>
              <a:ext cx="0" cy="1361147"/>
            </a:xfrm>
            <a:prstGeom prst="straightConnector1">
              <a:avLst/>
            </a:prstGeom>
            <a:ln w="19050">
              <a:solidFill>
                <a:srgbClr val="1D1D1D"/>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8B416976-28F5-8271-95EF-B50B148C8A0C}"/>
                </a:ext>
              </a:extLst>
            </p:cNvPr>
            <p:cNvCxnSpPr>
              <a:cxnSpLocks/>
            </p:cNvCxnSpPr>
            <p:nvPr/>
          </p:nvCxnSpPr>
          <p:spPr>
            <a:xfrm rot="3600000">
              <a:off x="6679316" y="3429126"/>
              <a:ext cx="0" cy="1361147"/>
            </a:xfrm>
            <a:prstGeom prst="straightConnector1">
              <a:avLst/>
            </a:prstGeom>
            <a:ln w="19050">
              <a:solidFill>
                <a:srgbClr val="1D1D1D"/>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1A5CE5D6-B652-0E4F-2681-25D777D6725E}"/>
                </a:ext>
              </a:extLst>
            </p:cNvPr>
            <p:cNvCxnSpPr>
              <a:cxnSpLocks/>
            </p:cNvCxnSpPr>
            <p:nvPr/>
          </p:nvCxnSpPr>
          <p:spPr>
            <a:xfrm rot="18000000" flipV="1">
              <a:off x="6679086" y="4120099"/>
              <a:ext cx="0" cy="1361147"/>
            </a:xfrm>
            <a:prstGeom prst="straightConnector1">
              <a:avLst/>
            </a:prstGeom>
            <a:ln w="19050">
              <a:solidFill>
                <a:srgbClr val="1D1D1D"/>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D8CE40FF-92B5-A9EE-5D40-80229F4B852F}"/>
                </a:ext>
              </a:extLst>
            </p:cNvPr>
            <p:cNvCxnSpPr>
              <a:cxnSpLocks/>
            </p:cNvCxnSpPr>
            <p:nvPr/>
          </p:nvCxnSpPr>
          <p:spPr>
            <a:xfrm flipV="1">
              <a:off x="6081208" y="4461877"/>
              <a:ext cx="0" cy="1361147"/>
            </a:xfrm>
            <a:prstGeom prst="straightConnector1">
              <a:avLst/>
            </a:prstGeom>
            <a:ln w="19050">
              <a:solidFill>
                <a:srgbClr val="1D1D1D"/>
              </a:solidFill>
              <a:tailEnd type="triangle"/>
            </a:ln>
          </p:spPr>
          <p:style>
            <a:lnRef idx="1">
              <a:schemeClr val="accent1"/>
            </a:lnRef>
            <a:fillRef idx="0">
              <a:schemeClr val="accent1"/>
            </a:fillRef>
            <a:effectRef idx="0">
              <a:schemeClr val="accent1"/>
            </a:effectRef>
            <a:fontRef idx="minor">
              <a:schemeClr val="tx1"/>
            </a:fontRef>
          </p:style>
        </p:cxnSp>
        <p:cxnSp>
          <p:nvCxnSpPr>
            <p:cNvPr id="268" name="Straight Arrow Connector 267">
              <a:extLst>
                <a:ext uri="{FF2B5EF4-FFF2-40B4-BE49-F238E27FC236}">
                  <a16:creationId xmlns:a16="http://schemas.microsoft.com/office/drawing/2014/main" id="{EA228097-E166-4EB7-1D87-E335E7597599}"/>
                </a:ext>
              </a:extLst>
            </p:cNvPr>
            <p:cNvCxnSpPr>
              <a:cxnSpLocks/>
            </p:cNvCxnSpPr>
            <p:nvPr/>
          </p:nvCxnSpPr>
          <p:spPr>
            <a:xfrm rot="3600000" flipH="1" flipV="1">
              <a:off x="5481144" y="4121590"/>
              <a:ext cx="0" cy="1361147"/>
            </a:xfrm>
            <a:prstGeom prst="straightConnector1">
              <a:avLst/>
            </a:prstGeom>
            <a:ln w="19050">
              <a:solidFill>
                <a:srgbClr val="1D1D1D"/>
              </a:solidFill>
              <a:tailEnd type="triangle"/>
            </a:ln>
          </p:spPr>
          <p:style>
            <a:lnRef idx="1">
              <a:schemeClr val="accent1"/>
            </a:lnRef>
            <a:fillRef idx="0">
              <a:schemeClr val="accent1"/>
            </a:fillRef>
            <a:effectRef idx="0">
              <a:schemeClr val="accent1"/>
            </a:effectRef>
            <a:fontRef idx="minor">
              <a:schemeClr val="tx1"/>
            </a:fontRef>
          </p:style>
        </p:cxnSp>
        <p:cxnSp>
          <p:nvCxnSpPr>
            <p:cNvPr id="269" name="Straight Arrow Connector 268">
              <a:extLst>
                <a:ext uri="{FF2B5EF4-FFF2-40B4-BE49-F238E27FC236}">
                  <a16:creationId xmlns:a16="http://schemas.microsoft.com/office/drawing/2014/main" id="{40CC0299-5438-035B-562A-BF3BDE8CC315}"/>
                </a:ext>
              </a:extLst>
            </p:cNvPr>
            <p:cNvCxnSpPr>
              <a:cxnSpLocks/>
            </p:cNvCxnSpPr>
            <p:nvPr/>
          </p:nvCxnSpPr>
          <p:spPr>
            <a:xfrm rot="18000000" flipH="1">
              <a:off x="5481144" y="3430921"/>
              <a:ext cx="0" cy="1361147"/>
            </a:xfrm>
            <a:prstGeom prst="straightConnector1">
              <a:avLst/>
            </a:prstGeom>
            <a:ln w="19050">
              <a:solidFill>
                <a:srgbClr val="1D1D1D"/>
              </a:solidFill>
              <a:tailEnd type="triangle"/>
            </a:ln>
          </p:spPr>
          <p:style>
            <a:lnRef idx="1">
              <a:schemeClr val="accent1"/>
            </a:lnRef>
            <a:fillRef idx="0">
              <a:schemeClr val="accent1"/>
            </a:fillRef>
            <a:effectRef idx="0">
              <a:schemeClr val="accent1"/>
            </a:effectRef>
            <a:fontRef idx="minor">
              <a:schemeClr val="tx1"/>
            </a:fontRef>
          </p:style>
        </p:cxnSp>
        <p:sp>
          <p:nvSpPr>
            <p:cNvPr id="270" name="TextBox 269">
              <a:extLst>
                <a:ext uri="{FF2B5EF4-FFF2-40B4-BE49-F238E27FC236}">
                  <a16:creationId xmlns:a16="http://schemas.microsoft.com/office/drawing/2014/main" id="{AD61F46B-8D4E-948D-A97E-760B67F72F1F}"/>
                </a:ext>
              </a:extLst>
            </p:cNvPr>
            <p:cNvSpPr txBox="1"/>
            <p:nvPr/>
          </p:nvSpPr>
          <p:spPr>
            <a:xfrm>
              <a:off x="7224928" y="2414093"/>
              <a:ext cx="1544929" cy="830997"/>
            </a:xfrm>
            <a:prstGeom prst="rect">
              <a:avLst/>
            </a:prstGeom>
            <a:noFill/>
            <a:ln w="28575">
              <a:noFill/>
            </a:ln>
          </p:spPr>
          <p:txBody>
            <a:bodyPr wrap="square" lIns="91440" tIns="45720" rIns="91440" bIns="45720" rtlCol="0">
              <a:spAutoFit/>
            </a:bodyPr>
            <a:lstStyle/>
            <a:p>
              <a:pPr marR="0" lvl="0" algn="ctr" defTabSz="914400" rtl="0" eaLnBrk="1" fontAlgn="auto" latinLnBrk="0" hangingPunct="1">
                <a:lnSpc>
                  <a:spcPct val="100000"/>
                </a:lnSpc>
                <a:spcBef>
                  <a:spcPts val="0"/>
                </a:spcBef>
                <a:spcAft>
                  <a:spcPts val="600"/>
                </a:spcAft>
                <a:buClrTx/>
                <a:buSzTx/>
                <a:tabLst/>
                <a:defRPr/>
              </a:pPr>
              <a:r>
                <a:rPr kumimoji="0" lang="en-US" sz="1600" b="1" i="0" u="none" strike="noStrike" kern="1200" cap="none" spc="-10"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Stakeholder Perspectives &amp; Calibrations</a:t>
              </a:r>
            </a:p>
          </p:txBody>
        </p:sp>
        <p:sp>
          <p:nvSpPr>
            <p:cNvPr id="271" name="TextBox 270">
              <a:extLst>
                <a:ext uri="{FF2B5EF4-FFF2-40B4-BE49-F238E27FC236}">
                  <a16:creationId xmlns:a16="http://schemas.microsoft.com/office/drawing/2014/main" id="{63EC2162-CE4A-D81F-55CB-00D3C660E213}"/>
                </a:ext>
              </a:extLst>
            </p:cNvPr>
            <p:cNvSpPr txBox="1"/>
            <p:nvPr/>
          </p:nvSpPr>
          <p:spPr>
            <a:xfrm>
              <a:off x="7224928" y="4374707"/>
              <a:ext cx="1544929" cy="584775"/>
            </a:xfrm>
            <a:prstGeom prst="rect">
              <a:avLst/>
            </a:prstGeom>
            <a:noFill/>
            <a:ln w="28575">
              <a:noFill/>
            </a:ln>
          </p:spPr>
          <p:txBody>
            <a:bodyPr wrap="square" lIns="91440" tIns="45720" rIns="91440" bIns="45720" rtlCol="0">
              <a:spAutoFit/>
            </a:bodyPr>
            <a:lstStyle/>
            <a:p>
              <a:pPr marR="0" lvl="0" algn="ctr" defTabSz="914400" rtl="0" eaLnBrk="1" fontAlgn="auto" latinLnBrk="0" hangingPunct="1">
                <a:lnSpc>
                  <a:spcPct val="100000"/>
                </a:lnSpc>
                <a:spcBef>
                  <a:spcPts val="0"/>
                </a:spcBef>
                <a:spcAft>
                  <a:spcPts val="600"/>
                </a:spcAft>
                <a:buClrTx/>
                <a:buSzTx/>
                <a:tabLst/>
                <a:defRPr/>
              </a:pPr>
              <a:r>
                <a:rPr kumimoji="0" lang="en-US" sz="1600" b="1" i="0" u="none" strike="noStrike" kern="1200" cap="none" spc="-10"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Risk Assessment</a:t>
              </a:r>
            </a:p>
          </p:txBody>
        </p:sp>
        <p:sp>
          <p:nvSpPr>
            <p:cNvPr id="272" name="TextBox 271">
              <a:extLst>
                <a:ext uri="{FF2B5EF4-FFF2-40B4-BE49-F238E27FC236}">
                  <a16:creationId xmlns:a16="http://schemas.microsoft.com/office/drawing/2014/main" id="{320341AE-3E29-A183-F29E-1B5CE48A051C}"/>
                </a:ext>
              </a:extLst>
            </p:cNvPr>
            <p:cNvSpPr txBox="1"/>
            <p:nvPr/>
          </p:nvSpPr>
          <p:spPr>
            <a:xfrm>
              <a:off x="6044754" y="5920577"/>
              <a:ext cx="2444407" cy="584775"/>
            </a:xfrm>
            <a:prstGeom prst="rect">
              <a:avLst/>
            </a:prstGeom>
            <a:noFill/>
            <a:ln w="28575">
              <a:noFill/>
            </a:ln>
          </p:spPr>
          <p:txBody>
            <a:bodyPr wrap="square" lIns="91440" tIns="45720" rIns="91440" bIns="45720" rtlCol="0">
              <a:spAutoFit/>
            </a:bodyPr>
            <a:lstStyle/>
            <a:p>
              <a:pPr marR="0" lvl="0" algn="ctr" defTabSz="914400" rtl="0" eaLnBrk="1" fontAlgn="auto" latinLnBrk="0" hangingPunct="1">
                <a:lnSpc>
                  <a:spcPct val="100000"/>
                </a:lnSpc>
                <a:spcBef>
                  <a:spcPts val="0"/>
                </a:spcBef>
                <a:spcAft>
                  <a:spcPts val="600"/>
                </a:spcAft>
                <a:buClrTx/>
                <a:buSzTx/>
                <a:tabLst/>
                <a:defRPr/>
              </a:pPr>
              <a:r>
                <a:rPr kumimoji="0" lang="en-US" sz="1600" b="1" i="0" u="none" strike="noStrike" kern="1200" cap="none" spc="-10"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Psychometric Assessment</a:t>
              </a:r>
            </a:p>
          </p:txBody>
        </p:sp>
        <p:sp>
          <p:nvSpPr>
            <p:cNvPr id="273" name="TextBox 272">
              <a:extLst>
                <a:ext uri="{FF2B5EF4-FFF2-40B4-BE49-F238E27FC236}">
                  <a16:creationId xmlns:a16="http://schemas.microsoft.com/office/drawing/2014/main" id="{45990446-FD1C-9D26-A550-BC4E2F5D3C30}"/>
                </a:ext>
              </a:extLst>
            </p:cNvPr>
            <p:cNvSpPr txBox="1"/>
            <p:nvPr/>
          </p:nvSpPr>
          <p:spPr>
            <a:xfrm>
              <a:off x="5317227" y="1960268"/>
              <a:ext cx="1544929" cy="338554"/>
            </a:xfrm>
            <a:prstGeom prst="rect">
              <a:avLst/>
            </a:prstGeom>
            <a:noFill/>
            <a:ln w="28575">
              <a:noFill/>
            </a:ln>
          </p:spPr>
          <p:txBody>
            <a:bodyPr wrap="square" lIns="91440" tIns="45720" rIns="91440" bIns="45720" rtlCol="0">
              <a:spAutoFit/>
            </a:bodyPr>
            <a:lstStyle/>
            <a:p>
              <a:pPr marR="0" lvl="0" algn="ctr" defTabSz="914400" rtl="0" eaLnBrk="1" fontAlgn="auto" latinLnBrk="0" hangingPunct="1">
                <a:lnSpc>
                  <a:spcPct val="100000"/>
                </a:lnSpc>
                <a:spcBef>
                  <a:spcPts val="0"/>
                </a:spcBef>
                <a:spcAft>
                  <a:spcPts val="600"/>
                </a:spcAft>
                <a:buClrTx/>
                <a:buSzTx/>
                <a:tabLst/>
                <a:defRPr/>
              </a:pPr>
              <a:r>
                <a:rPr kumimoji="0" lang="en-US" sz="1600" b="1" i="0" u="none" strike="noStrike" kern="1200" cap="none" spc="-10"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Resume / CV</a:t>
              </a:r>
            </a:p>
          </p:txBody>
        </p:sp>
        <p:sp>
          <p:nvSpPr>
            <p:cNvPr id="274" name="TextBox 273">
              <a:extLst>
                <a:ext uri="{FF2B5EF4-FFF2-40B4-BE49-F238E27FC236}">
                  <a16:creationId xmlns:a16="http://schemas.microsoft.com/office/drawing/2014/main" id="{41ACB21B-A4A4-A66A-1901-B9BD3538FF49}"/>
                </a:ext>
              </a:extLst>
            </p:cNvPr>
            <p:cNvSpPr txBox="1"/>
            <p:nvPr/>
          </p:nvSpPr>
          <p:spPr>
            <a:xfrm>
              <a:off x="2704203" y="5051687"/>
              <a:ext cx="1649766" cy="584775"/>
            </a:xfrm>
            <a:prstGeom prst="rect">
              <a:avLst/>
            </a:prstGeom>
            <a:noFill/>
            <a:ln w="28575">
              <a:noFill/>
            </a:ln>
          </p:spPr>
          <p:txBody>
            <a:bodyPr wrap="square" lIns="91440" tIns="45720" rIns="91440" bIns="45720" rtlCol="0">
              <a:spAutoFit/>
            </a:bodyPr>
            <a:lstStyle/>
            <a:p>
              <a:pPr marR="0" lvl="0" algn="ctr" defTabSz="914400" rtl="0" eaLnBrk="1" fontAlgn="auto" latinLnBrk="0" hangingPunct="1">
                <a:lnSpc>
                  <a:spcPct val="100000"/>
                </a:lnSpc>
                <a:spcBef>
                  <a:spcPts val="0"/>
                </a:spcBef>
                <a:spcAft>
                  <a:spcPts val="600"/>
                </a:spcAft>
                <a:buClrTx/>
                <a:buSzTx/>
                <a:tabLst/>
                <a:defRPr/>
              </a:pPr>
              <a:r>
                <a:rPr kumimoji="0" lang="en-US" sz="1600" b="1" i="0" u="none" strike="noStrike" kern="1200" cap="none" spc="-10"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Engagement Surveys</a:t>
              </a:r>
            </a:p>
          </p:txBody>
        </p:sp>
        <p:pic>
          <p:nvPicPr>
            <p:cNvPr id="39" name="Graphic 38">
              <a:extLst>
                <a:ext uri="{FF2B5EF4-FFF2-40B4-BE49-F238E27FC236}">
                  <a16:creationId xmlns:a16="http://schemas.microsoft.com/office/drawing/2014/main" id="{2AAC20E6-DED1-B32E-7E4D-17B9A8F7C9D0}"/>
                </a:ext>
              </a:extLst>
            </p:cNvPr>
            <p:cNvPicPr>
              <a:picLocks noChangeAspect="1"/>
            </p:cNvPicPr>
            <p:nvPr/>
          </p:nvPicPr>
          <p:blipFill>
            <a:blip r:embed="rId7">
              <a:duotone>
                <a:srgbClr val="765FFF"/>
                <a:srgbClr val="FFFFFF"/>
              </a:duotone>
            </a:blip>
            <a:srcRect/>
            <a:stretch/>
          </p:blipFill>
          <p:spPr>
            <a:xfrm>
              <a:off x="5849913" y="5887174"/>
              <a:ext cx="502702" cy="502702"/>
            </a:xfrm>
            <a:prstGeom prst="ellipse">
              <a:avLst/>
            </a:prstGeom>
          </p:spPr>
        </p:pic>
        <p:pic>
          <p:nvPicPr>
            <p:cNvPr id="29" name="Graphic 28">
              <a:extLst>
                <a:ext uri="{FF2B5EF4-FFF2-40B4-BE49-F238E27FC236}">
                  <a16:creationId xmlns:a16="http://schemas.microsoft.com/office/drawing/2014/main" id="{7199D96D-43B2-5842-BDF8-10D476BAFFFD}"/>
                </a:ext>
              </a:extLst>
            </p:cNvPr>
            <p:cNvPicPr>
              <a:picLocks noChangeAspect="1"/>
            </p:cNvPicPr>
            <p:nvPr/>
          </p:nvPicPr>
          <p:blipFill>
            <a:blip r:embed="rId8">
              <a:duotone>
                <a:srgbClr val="765FFF"/>
                <a:srgbClr val="FFFFFF"/>
              </a:duotone>
            </a:blip>
            <a:srcRect/>
            <a:stretch/>
          </p:blipFill>
          <p:spPr>
            <a:xfrm>
              <a:off x="7319199" y="5041778"/>
              <a:ext cx="462280" cy="462280"/>
            </a:xfrm>
            <a:prstGeom prst="rect">
              <a:avLst/>
            </a:prstGeom>
          </p:spPr>
        </p:pic>
        <p:pic>
          <p:nvPicPr>
            <p:cNvPr id="26" name="Graphic 25">
              <a:extLst>
                <a:ext uri="{FF2B5EF4-FFF2-40B4-BE49-F238E27FC236}">
                  <a16:creationId xmlns:a16="http://schemas.microsoft.com/office/drawing/2014/main" id="{FF8611A6-A72A-92AC-3300-25150696D82D}"/>
                </a:ext>
              </a:extLst>
            </p:cNvPr>
            <p:cNvPicPr>
              <a:picLocks noChangeAspect="1"/>
            </p:cNvPicPr>
            <p:nvPr/>
          </p:nvPicPr>
          <p:blipFill>
            <a:blip r:embed="rId9">
              <a:duotone>
                <a:srgbClr val="765FFF"/>
                <a:srgbClr val="FFFFFF"/>
              </a:duotone>
            </a:blip>
            <a:srcRect/>
            <a:stretch/>
          </p:blipFill>
          <p:spPr>
            <a:xfrm>
              <a:off x="4372638" y="3397953"/>
              <a:ext cx="459722" cy="459722"/>
            </a:xfrm>
            <a:prstGeom prst="rect">
              <a:avLst/>
            </a:prstGeom>
          </p:spPr>
        </p:pic>
      </p:grpSp>
      <p:sp>
        <p:nvSpPr>
          <p:cNvPr id="3" name="TextBox 2">
            <a:extLst>
              <a:ext uri="{FF2B5EF4-FFF2-40B4-BE49-F238E27FC236}">
                <a16:creationId xmlns:a16="http://schemas.microsoft.com/office/drawing/2014/main" id="{126674B8-5A46-D319-2330-F8F9D1D34ACD}"/>
              </a:ext>
            </a:extLst>
          </p:cNvPr>
          <p:cNvSpPr txBox="1"/>
          <p:nvPr/>
        </p:nvSpPr>
        <p:spPr>
          <a:xfrm>
            <a:off x="8985257" y="3857592"/>
            <a:ext cx="3004575" cy="828707"/>
          </a:xfrm>
          <a:prstGeom prst="rect">
            <a:avLst/>
          </a:prstGeom>
          <a:solidFill>
            <a:srgbClr val="281A42"/>
          </a:solidFill>
        </p:spPr>
        <p:txBody>
          <a:bodyPr wrap="none" lIns="91440" tIns="45720" rIns="91440" bIns="45720" rtlCol="0" anchor="ctr">
            <a:noAutofit/>
          </a:bodyPr>
          <a:lstStyle/>
          <a:p>
            <a:pPr algn="ctr"/>
            <a:r>
              <a:rPr lang="en-US" sz="2400" b="1">
                <a:solidFill>
                  <a:schemeClr val="bg1"/>
                </a:solidFill>
              </a:rPr>
              <a:t>BE RISK-SEEKING</a:t>
            </a:r>
          </a:p>
        </p:txBody>
      </p:sp>
      <p:sp>
        <p:nvSpPr>
          <p:cNvPr id="27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35</a:t>
            </a:fld>
            <a:endParaRPr lang="en-US"/>
          </a:p>
        </p:txBody>
      </p:sp>
      <p:grpSp>
        <p:nvGrpSpPr>
          <p:cNvPr id="4" name="Group 3">
            <a:extLst>
              <a:ext uri="{FF2B5EF4-FFF2-40B4-BE49-F238E27FC236}">
                <a16:creationId xmlns:a16="http://schemas.microsoft.com/office/drawing/2014/main" id="{A4DED834-4FEA-B6C8-E928-8ECBD73FC4C5}"/>
              </a:ext>
            </a:extLst>
          </p:cNvPr>
          <p:cNvGrpSpPr/>
          <p:nvPr/>
        </p:nvGrpSpPr>
        <p:grpSpPr>
          <a:xfrm>
            <a:off x="10403235" y="201614"/>
            <a:ext cx="410690" cy="410700"/>
            <a:chOff x="3506617" y="2730959"/>
            <a:chExt cx="1591098" cy="1591098"/>
          </a:xfrm>
        </p:grpSpPr>
        <p:sp>
          <p:nvSpPr>
            <p:cNvPr id="5" name="Rectangle: Rounded Corners 39">
              <a:extLst>
                <a:ext uri="{FF2B5EF4-FFF2-40B4-BE49-F238E27FC236}">
                  <a16:creationId xmlns:a16="http://schemas.microsoft.com/office/drawing/2014/main" id="{6C3B5DBF-AE12-FCB4-60D6-67B708C0200A}"/>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0" name="Rectangle: Rounded Corners 54">
              <a:extLst>
                <a:ext uri="{FF2B5EF4-FFF2-40B4-BE49-F238E27FC236}">
                  <a16:creationId xmlns:a16="http://schemas.microsoft.com/office/drawing/2014/main" id="{0BABA889-8EEC-9731-4386-FDBBBFBF5D2B}"/>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1" name="Freeform 56" descr="Clipboard Partially Checked with solid fill">
              <a:extLst>
                <a:ext uri="{FF2B5EF4-FFF2-40B4-BE49-F238E27FC236}">
                  <a16:creationId xmlns:a16="http://schemas.microsoft.com/office/drawing/2014/main" id="{A9CB94A3-0DA2-7CA8-0C33-7C3619CC8D91}"/>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10"/>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12" name="Group 11">
            <a:extLst>
              <a:ext uri="{FF2B5EF4-FFF2-40B4-BE49-F238E27FC236}">
                <a16:creationId xmlns:a16="http://schemas.microsoft.com/office/drawing/2014/main" id="{B34CBBBE-A441-8225-C8EB-96A2819616CF}"/>
              </a:ext>
            </a:extLst>
          </p:cNvPr>
          <p:cNvGrpSpPr/>
          <p:nvPr/>
        </p:nvGrpSpPr>
        <p:grpSpPr>
          <a:xfrm>
            <a:off x="11557682" y="191038"/>
            <a:ext cx="410690" cy="410700"/>
            <a:chOff x="8874309" y="3009260"/>
            <a:chExt cx="1591098" cy="1591098"/>
          </a:xfrm>
        </p:grpSpPr>
        <p:grpSp>
          <p:nvGrpSpPr>
            <p:cNvPr id="13" name="Group 12">
              <a:extLst>
                <a:ext uri="{FF2B5EF4-FFF2-40B4-BE49-F238E27FC236}">
                  <a16:creationId xmlns:a16="http://schemas.microsoft.com/office/drawing/2014/main" id="{928901E4-8C1D-C3CB-6380-57A5E9D8C5C6}"/>
                </a:ext>
              </a:extLst>
            </p:cNvPr>
            <p:cNvGrpSpPr/>
            <p:nvPr/>
          </p:nvGrpSpPr>
          <p:grpSpPr>
            <a:xfrm>
              <a:off x="8874309" y="3009260"/>
              <a:ext cx="1591098" cy="1591098"/>
              <a:chOff x="9350370" y="2760976"/>
              <a:chExt cx="1591098" cy="1591098"/>
            </a:xfrm>
          </p:grpSpPr>
          <p:sp>
            <p:nvSpPr>
              <p:cNvPr id="24" name="Rectangle: Rounded Corners 39">
                <a:extLst>
                  <a:ext uri="{FF2B5EF4-FFF2-40B4-BE49-F238E27FC236}">
                    <a16:creationId xmlns:a16="http://schemas.microsoft.com/office/drawing/2014/main" id="{5F0B0ED9-DE6A-030F-CE91-3F34DBE5E5B4}"/>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5" name="Rectangle: Rounded Corners 54">
                <a:extLst>
                  <a:ext uri="{FF2B5EF4-FFF2-40B4-BE49-F238E27FC236}">
                    <a16:creationId xmlns:a16="http://schemas.microsoft.com/office/drawing/2014/main" id="{5A98804D-2A6D-AA9A-4CD8-E31B13A463D8}"/>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3" name="Picture 51" descr="Map with pin with solid fill">
              <a:extLst>
                <a:ext uri="{FF2B5EF4-FFF2-40B4-BE49-F238E27FC236}">
                  <a16:creationId xmlns:a16="http://schemas.microsoft.com/office/drawing/2014/main" id="{6993BE56-C200-4E01-580A-E6B709FCFA85}"/>
                </a:ext>
              </a:extLst>
            </p:cNvPr>
            <p:cNvPicPr>
              <a:picLocks noChangeAspect="1"/>
            </p:cNvPicPr>
            <p:nvPr/>
          </p:nvPicPr>
          <p:blipFill>
            <a:blip r:embed="rId11">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46" name="Group 45">
            <a:extLst>
              <a:ext uri="{FF2B5EF4-FFF2-40B4-BE49-F238E27FC236}">
                <a16:creationId xmlns:a16="http://schemas.microsoft.com/office/drawing/2014/main" id="{A005BE5B-74C1-5E94-4690-0B244E63F432}"/>
              </a:ext>
            </a:extLst>
          </p:cNvPr>
          <p:cNvGrpSpPr/>
          <p:nvPr/>
        </p:nvGrpSpPr>
        <p:grpSpPr>
          <a:xfrm>
            <a:off x="10997361" y="200955"/>
            <a:ext cx="410690" cy="410700"/>
            <a:chOff x="5303120" y="3009260"/>
            <a:chExt cx="1591098" cy="1591098"/>
          </a:xfrm>
        </p:grpSpPr>
        <p:grpSp>
          <p:nvGrpSpPr>
            <p:cNvPr id="47" name="Group 46">
              <a:extLst>
                <a:ext uri="{FF2B5EF4-FFF2-40B4-BE49-F238E27FC236}">
                  <a16:creationId xmlns:a16="http://schemas.microsoft.com/office/drawing/2014/main" id="{534247A7-290D-427D-9626-7B9762496EB3}"/>
                </a:ext>
              </a:extLst>
            </p:cNvPr>
            <p:cNvGrpSpPr/>
            <p:nvPr/>
          </p:nvGrpSpPr>
          <p:grpSpPr>
            <a:xfrm>
              <a:off x="5303120" y="3009260"/>
              <a:ext cx="1591098" cy="1591098"/>
              <a:chOff x="6428492" y="2760976"/>
              <a:chExt cx="1591098" cy="1591098"/>
            </a:xfrm>
          </p:grpSpPr>
          <p:sp>
            <p:nvSpPr>
              <p:cNvPr id="50" name="Rectangle: Rounded Corners 39">
                <a:extLst>
                  <a:ext uri="{FF2B5EF4-FFF2-40B4-BE49-F238E27FC236}">
                    <a16:creationId xmlns:a16="http://schemas.microsoft.com/office/drawing/2014/main" id="{D754A903-71D2-1376-312B-04E9EDE019F2}"/>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2" name="Rectangle: Rounded Corners 54">
                <a:extLst>
                  <a:ext uri="{FF2B5EF4-FFF2-40B4-BE49-F238E27FC236}">
                    <a16:creationId xmlns:a16="http://schemas.microsoft.com/office/drawing/2014/main" id="{D328963A-B8DC-B7F9-6F9A-4AD97D22FA0F}"/>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8" name="Graphic 22" descr="Target Audience with solid fill">
              <a:extLst>
                <a:ext uri="{FF2B5EF4-FFF2-40B4-BE49-F238E27FC236}">
                  <a16:creationId xmlns:a16="http://schemas.microsoft.com/office/drawing/2014/main" id="{E2FB7695-C09C-80BC-20C1-C39698EA08A2}"/>
                </a:ext>
              </a:extLst>
            </p:cNvPr>
            <p:cNvPicPr>
              <a:picLocks noChangeAspect="1"/>
            </p:cNvPicPr>
            <p:nvPr/>
          </p:nvPicPr>
          <p:blipFill>
            <a:blip r:embed="rId12">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53" name="TextBox 52">
            <a:extLst>
              <a:ext uri="{FF2B5EF4-FFF2-40B4-BE49-F238E27FC236}">
                <a16:creationId xmlns:a16="http://schemas.microsoft.com/office/drawing/2014/main" id="{302E9AD5-D438-E522-00DF-9F8198B75D94}"/>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6" name="TextBox 55">
            <a:extLst>
              <a:ext uri="{FF2B5EF4-FFF2-40B4-BE49-F238E27FC236}">
                <a16:creationId xmlns:a16="http://schemas.microsoft.com/office/drawing/2014/main" id="{893D7933-DFE4-7C8A-42A1-063EC97A4392}"/>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7" name="TextBox 56">
            <a:extLst>
              <a:ext uri="{FF2B5EF4-FFF2-40B4-BE49-F238E27FC236}">
                <a16:creationId xmlns:a16="http://schemas.microsoft.com/office/drawing/2014/main" id="{2462031C-1362-C86F-5C03-A0FBE3E3D866}"/>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8" name="Rectangle 57">
            <a:extLst>
              <a:ext uri="{FF2B5EF4-FFF2-40B4-BE49-F238E27FC236}">
                <a16:creationId xmlns:a16="http://schemas.microsoft.com/office/drawing/2014/main" id="{D6E301BA-259A-6056-31A5-2BEF01C00273}"/>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
        <p:nvSpPr>
          <p:cNvPr id="59" name="Rectangle 58">
            <a:extLst>
              <a:ext uri="{FF2B5EF4-FFF2-40B4-BE49-F238E27FC236}">
                <a16:creationId xmlns:a16="http://schemas.microsoft.com/office/drawing/2014/main" id="{A934CE41-F3B1-68EF-B91F-F44270E7E87A}"/>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1392256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D5B6A-3B66-5FE7-13FB-2836D17A36C8}"/>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7C632B6D-10CA-5276-4A04-490106D9B20F}"/>
              </a:ext>
            </a:extLst>
          </p:cNvPr>
          <p:cNvSpPr txBox="1"/>
          <p:nvPr/>
        </p:nvSpPr>
        <p:spPr>
          <a:xfrm>
            <a:off x="959643" y="253581"/>
            <a:ext cx="7894841" cy="584775"/>
          </a:xfrm>
          <a:prstGeom prst="rect">
            <a:avLst/>
          </a:prstGeom>
          <a:noFill/>
        </p:spPr>
        <p:txBody>
          <a:bodyPr wrap="square" lIns="91440" tIns="45720" rIns="91440" bIns="45720" rtlCol="0" anchor="t">
            <a:spAutoFit/>
          </a:bodyPr>
          <a:lstStyle/>
          <a:p>
            <a:r>
              <a:rPr lang="en-US" sz="3200" b="1" spc="-10">
                <a:solidFill>
                  <a:schemeClr val="tx1">
                    <a:lumMod val="75000"/>
                    <a:lumOff val="25000"/>
                  </a:schemeClr>
                </a:solidFill>
                <a:latin typeface="Segoe UI" pitchFamily="34" charset="0"/>
                <a:cs typeface="Lato Light" panose="020F0402020204030203" pitchFamily="34" charset="0"/>
              </a:rPr>
              <a:t>THE </a:t>
            </a:r>
            <a:r>
              <a:rPr lang="en-US" sz="3200" b="1" spc="-10">
                <a:solidFill>
                  <a:srgbClr val="00C27A"/>
                </a:solidFill>
                <a:latin typeface="Segoe UI" pitchFamily="34" charset="0"/>
                <a:cs typeface="Lato Light" panose="020F0402020204030203" pitchFamily="34" charset="0"/>
              </a:rPr>
              <a:t>EVIDENCE </a:t>
            </a:r>
            <a:r>
              <a:rPr lang="en-US" sz="3200" b="1" spc="-10">
                <a:solidFill>
                  <a:schemeClr val="tx1">
                    <a:lumMod val="75000"/>
                    <a:lumOff val="25000"/>
                  </a:schemeClr>
                </a:solidFill>
                <a:latin typeface="Segoe UI" pitchFamily="34" charset="0"/>
                <a:cs typeface="Lato Light" panose="020F0402020204030203" pitchFamily="34" charset="0"/>
              </a:rPr>
              <a:t>MOSAIC</a:t>
            </a:r>
            <a:endParaRPr lang="en-US" sz="3200" b="1" spc="-10">
              <a:solidFill>
                <a:schemeClr val="tx1">
                  <a:lumMod val="75000"/>
                  <a:lumOff val="25000"/>
                </a:schemeClr>
              </a:solidFill>
              <a:latin typeface="Segoe UI" pitchFamily="34" charset="0"/>
              <a:ea typeface="Lato" panose="020F0502020204030203" pitchFamily="34" charset="0"/>
              <a:cs typeface="Lato" panose="020F0502020204030203" pitchFamily="34" charset="0"/>
            </a:endParaRPr>
          </a:p>
        </p:txBody>
      </p:sp>
      <p:sp>
        <p:nvSpPr>
          <p:cNvPr id="8" name="Freeform 162">
            <a:extLst>
              <a:ext uri="{FF2B5EF4-FFF2-40B4-BE49-F238E27FC236}">
                <a16:creationId xmlns:a16="http://schemas.microsoft.com/office/drawing/2014/main" id="{7F2E3879-0A5D-A082-7178-14144481ACD6}"/>
              </a:ext>
            </a:extLst>
          </p:cNvPr>
          <p:cNvSpPr/>
          <p:nvPr/>
        </p:nvSpPr>
        <p:spPr>
          <a:xfrm>
            <a:off x="5059925" y="3429000"/>
            <a:ext cx="946545" cy="632402"/>
          </a:xfrm>
          <a:custGeom>
            <a:avLst/>
            <a:gdLst>
              <a:gd name="connsiteX0" fmla="*/ 1135506 w 1705111"/>
              <a:gd name="connsiteY0" fmla="*/ 0 h 1139211"/>
              <a:gd name="connsiteX1" fmla="*/ 1705111 w 1705111"/>
              <a:gd name="connsiteY1" fmla="*/ 569606 h 1139211"/>
              <a:gd name="connsiteX2" fmla="*/ 1135506 w 1705111"/>
              <a:gd name="connsiteY2" fmla="*/ 1139211 h 1139211"/>
              <a:gd name="connsiteX3" fmla="*/ 993400 w 1705111"/>
              <a:gd name="connsiteY3" fmla="*/ 997105 h 1139211"/>
              <a:gd name="connsiteX4" fmla="*/ 1316392 w 1705111"/>
              <a:gd name="connsiteY4" fmla="*/ 674112 h 1139211"/>
              <a:gd name="connsiteX5" fmla="*/ 0 w 1705111"/>
              <a:gd name="connsiteY5" fmla="*/ 674112 h 1139211"/>
              <a:gd name="connsiteX6" fmla="*/ 0 w 1705111"/>
              <a:gd name="connsiteY6" fmla="*/ 465098 h 1139211"/>
              <a:gd name="connsiteX7" fmla="*/ 1316393 w 1705111"/>
              <a:gd name="connsiteY7" fmla="*/ 465098 h 1139211"/>
              <a:gd name="connsiteX8" fmla="*/ 993401 w 1705111"/>
              <a:gd name="connsiteY8" fmla="*/ 142106 h 1139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5111" h="1139211">
                <a:moveTo>
                  <a:pt x="1135506" y="0"/>
                </a:moveTo>
                <a:lnTo>
                  <a:pt x="1705111" y="569606"/>
                </a:lnTo>
                <a:lnTo>
                  <a:pt x="1135506" y="1139211"/>
                </a:lnTo>
                <a:lnTo>
                  <a:pt x="993400" y="997105"/>
                </a:lnTo>
                <a:lnTo>
                  <a:pt x="1316392" y="674112"/>
                </a:lnTo>
                <a:lnTo>
                  <a:pt x="0" y="674112"/>
                </a:lnTo>
                <a:lnTo>
                  <a:pt x="0" y="465098"/>
                </a:lnTo>
                <a:lnTo>
                  <a:pt x="1316393" y="465098"/>
                </a:lnTo>
                <a:lnTo>
                  <a:pt x="993401" y="142106"/>
                </a:lnTo>
                <a:close/>
              </a:path>
            </a:pathLst>
          </a:cu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9" name="Rectangle 8">
            <a:extLst>
              <a:ext uri="{FF2B5EF4-FFF2-40B4-BE49-F238E27FC236}">
                <a16:creationId xmlns:a16="http://schemas.microsoft.com/office/drawing/2014/main" id="{CC931330-3883-C8B1-7D62-9DD25C4C915B}"/>
              </a:ext>
            </a:extLst>
          </p:cNvPr>
          <p:cNvSpPr/>
          <p:nvPr/>
        </p:nvSpPr>
        <p:spPr>
          <a:xfrm>
            <a:off x="960793" y="1421091"/>
            <a:ext cx="3932676" cy="4857558"/>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spc="-10">
                <a:solidFill>
                  <a:srgbClr val="00C27A"/>
                </a:solidFill>
                <a:latin typeface="Segoe UI" pitchFamily="34" charset="0"/>
                <a:ea typeface="Lato"/>
                <a:cs typeface="Lato"/>
              </a:rPr>
              <a:t>RESUME / CV</a:t>
            </a:r>
          </a:p>
          <a:p>
            <a:pPr algn="ctr"/>
            <a:endParaRPr lang="en-US" sz="2000" b="1" spc="-10">
              <a:solidFill>
                <a:srgbClr val="00C27A"/>
              </a:solidFill>
              <a:latin typeface="Segoe UI" pitchFamily="34" charset="0"/>
            </a:endParaRPr>
          </a:p>
          <a:p>
            <a:pPr>
              <a:spcAft>
                <a:spcPts val="600"/>
              </a:spcAft>
            </a:pPr>
            <a:r>
              <a:rPr lang="en-US" sz="1700" spc="-10">
                <a:solidFill>
                  <a:schemeClr val="tx1">
                    <a:lumMod val="75000"/>
                    <a:lumOff val="25000"/>
                  </a:schemeClr>
                </a:solidFill>
                <a:latin typeface="Arial" pitchFamily="34" charset="0"/>
                <a:ea typeface="Lato"/>
                <a:cs typeface="Lato"/>
              </a:rPr>
              <a:t>Assess the successor’s external experience to identify:</a:t>
            </a:r>
          </a:p>
          <a:p>
            <a:pPr marL="285750" lvl="1" indent="-285750">
              <a:spcAft>
                <a:spcPts val="600"/>
              </a:spcAft>
              <a:buSzPct val="75000"/>
              <a:buFont typeface="Arial" panose="020B0604020202020204" pitchFamily="34" charset="0"/>
              <a:buChar char="•"/>
            </a:pPr>
            <a:r>
              <a:rPr lang="en-US" sz="1700" spc="-10">
                <a:solidFill>
                  <a:schemeClr val="tx1">
                    <a:lumMod val="75000"/>
                    <a:lumOff val="25000"/>
                  </a:schemeClr>
                </a:solidFill>
                <a:latin typeface="Arial" pitchFamily="34" charset="0"/>
              </a:rPr>
              <a:t>Roles/responsibilities that fill gaps in experience with this organization</a:t>
            </a:r>
          </a:p>
          <a:p>
            <a:pPr marL="285750" lvl="1" indent="-285750">
              <a:spcAft>
                <a:spcPts val="600"/>
              </a:spcAft>
              <a:buSzPct val="75000"/>
              <a:buFont typeface="Arial" panose="020B0604020202020204" pitchFamily="34" charset="0"/>
              <a:buChar char="•"/>
            </a:pPr>
            <a:r>
              <a:rPr lang="en-US" sz="1700" spc="-10">
                <a:solidFill>
                  <a:schemeClr val="tx1">
                    <a:lumMod val="75000"/>
                    <a:lumOff val="25000"/>
                  </a:schemeClr>
                </a:solidFill>
                <a:latin typeface="Arial" pitchFamily="34" charset="0"/>
              </a:rPr>
              <a:t>Additional experience related to JTBDs for the role</a:t>
            </a:r>
          </a:p>
        </p:txBody>
      </p:sp>
      <p:grpSp>
        <p:nvGrpSpPr>
          <p:cNvPr id="21" name="Group 20">
            <a:extLst>
              <a:ext uri="{FF2B5EF4-FFF2-40B4-BE49-F238E27FC236}">
                <a16:creationId xmlns:a16="http://schemas.microsoft.com/office/drawing/2014/main" id="{B1D1E862-3E37-707C-AC5E-36AD39E00962}"/>
              </a:ext>
            </a:extLst>
          </p:cNvPr>
          <p:cNvGrpSpPr/>
          <p:nvPr/>
        </p:nvGrpSpPr>
        <p:grpSpPr>
          <a:xfrm>
            <a:off x="6402089" y="1335785"/>
            <a:ext cx="4398670" cy="4853158"/>
            <a:chOff x="6402089" y="1335785"/>
            <a:chExt cx="4398670" cy="4853158"/>
          </a:xfrm>
        </p:grpSpPr>
        <p:pic>
          <p:nvPicPr>
            <p:cNvPr id="16" name="Picture 15">
              <a:extLst>
                <a:ext uri="{FF2B5EF4-FFF2-40B4-BE49-F238E27FC236}">
                  <a16:creationId xmlns:a16="http://schemas.microsoft.com/office/drawing/2014/main" id="{BA1D1722-F60D-D213-032E-50C25722B396}"/>
                </a:ext>
              </a:extLst>
            </p:cNvPr>
            <p:cNvPicPr>
              <a:picLocks noChangeAspect="1"/>
            </p:cNvPicPr>
            <p:nvPr/>
          </p:nvPicPr>
          <p:blipFill>
            <a:blip r:embed="rId3">
              <a:duotone>
                <a:srgbClr val="765FFF"/>
                <a:srgbClr val="FFFFFF"/>
              </a:duotone>
            </a:blip>
            <a:stretch>
              <a:fillRect/>
            </a:stretch>
          </p:blipFill>
          <p:spPr>
            <a:xfrm>
              <a:off x="6402089" y="1335785"/>
              <a:ext cx="3281829" cy="4122838"/>
            </a:xfrm>
            <a:prstGeom prst="rect">
              <a:avLst/>
            </a:prstGeom>
            <a:effectLst>
              <a:outerShdw blurRad="50800" dist="38100" dir="2700000" algn="tl" rotWithShape="0">
                <a:prstClr val="black">
                  <a:alpha val="40000"/>
                </a:prstClr>
              </a:outerShdw>
            </a:effectLst>
          </p:spPr>
        </p:pic>
        <p:pic>
          <p:nvPicPr>
            <p:cNvPr id="19" name="Picture 18">
              <a:extLst>
                <a:ext uri="{FF2B5EF4-FFF2-40B4-BE49-F238E27FC236}">
                  <a16:creationId xmlns:a16="http://schemas.microsoft.com/office/drawing/2014/main" id="{A6CE9C80-7277-7F84-310D-2D37DFD673AD}"/>
                </a:ext>
              </a:extLst>
            </p:cNvPr>
            <p:cNvPicPr>
              <a:picLocks noChangeAspect="1"/>
            </p:cNvPicPr>
            <p:nvPr/>
          </p:nvPicPr>
          <p:blipFill>
            <a:blip r:embed="rId4">
              <a:duotone>
                <a:srgbClr val="765FFF"/>
                <a:srgbClr val="FFFFFF"/>
              </a:duotone>
            </a:blip>
            <a:stretch>
              <a:fillRect/>
            </a:stretch>
          </p:blipFill>
          <p:spPr>
            <a:xfrm>
              <a:off x="7795891" y="2414042"/>
              <a:ext cx="3004868" cy="3774901"/>
            </a:xfrm>
            <a:prstGeom prst="rect">
              <a:avLst/>
            </a:prstGeom>
            <a:effectLst>
              <a:outerShdw blurRad="50800" dist="38100" dir="2700000" algn="tl" rotWithShape="0">
                <a:prstClr val="black">
                  <a:alpha val="40000"/>
                </a:prstClr>
              </a:outerShdw>
            </a:effectLst>
          </p:spPr>
        </p:pic>
        <p:sp>
          <p:nvSpPr>
            <p:cNvPr id="20" name="TextBox 19">
              <a:extLst>
                <a:ext uri="{FF2B5EF4-FFF2-40B4-BE49-F238E27FC236}">
                  <a16:creationId xmlns:a16="http://schemas.microsoft.com/office/drawing/2014/main" id="{760F07D3-4A5A-F3AB-9767-4B40D10387DC}"/>
                </a:ext>
              </a:extLst>
            </p:cNvPr>
            <p:cNvSpPr txBox="1"/>
            <p:nvPr/>
          </p:nvSpPr>
          <p:spPr>
            <a:xfrm>
              <a:off x="7330308" y="1466673"/>
              <a:ext cx="1524176" cy="307777"/>
            </a:xfrm>
            <a:prstGeom prst="rect">
              <a:avLst/>
            </a:prstGeom>
            <a:solidFill>
              <a:schemeClr val="bg1"/>
            </a:solidFill>
          </p:spPr>
          <p:txBody>
            <a:bodyPr wrap="square" lIns="91440" tIns="45720" rIns="91440" bIns="45720" rtlCol="0">
              <a:spAutoFit/>
            </a:bodyPr>
            <a:lstStyle/>
            <a:p>
              <a:pPr algn="ctr"/>
              <a:r>
                <a:rPr lang="en-US" sz="1400" b="1"/>
                <a:t>Mark Nicole</a:t>
              </a:r>
            </a:p>
          </p:txBody>
        </p:sp>
      </p:grpSp>
      <p:sp>
        <p:nvSpPr>
          <p:cNvPr id="38"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36</a:t>
            </a:fld>
            <a:endParaRPr lang="en-US"/>
          </a:p>
        </p:txBody>
      </p:sp>
      <p:grpSp>
        <p:nvGrpSpPr>
          <p:cNvPr id="2" name="Group 1">
            <a:extLst>
              <a:ext uri="{FF2B5EF4-FFF2-40B4-BE49-F238E27FC236}">
                <a16:creationId xmlns:a16="http://schemas.microsoft.com/office/drawing/2014/main" id="{BB3CFFA7-F29B-5A0D-132E-369127CC5B57}"/>
              </a:ext>
            </a:extLst>
          </p:cNvPr>
          <p:cNvGrpSpPr/>
          <p:nvPr/>
        </p:nvGrpSpPr>
        <p:grpSpPr>
          <a:xfrm>
            <a:off x="10403235" y="201614"/>
            <a:ext cx="410690" cy="410700"/>
            <a:chOff x="3506617" y="2730959"/>
            <a:chExt cx="1591098" cy="1591098"/>
          </a:xfrm>
        </p:grpSpPr>
        <p:sp>
          <p:nvSpPr>
            <p:cNvPr id="3" name="Rectangle: Rounded Corners 39">
              <a:extLst>
                <a:ext uri="{FF2B5EF4-FFF2-40B4-BE49-F238E27FC236}">
                  <a16:creationId xmlns:a16="http://schemas.microsoft.com/office/drawing/2014/main" id="{7943A3F0-9CAE-BA2C-CEA1-FFD7A9AEE026}"/>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 name="Rectangle: Rounded Corners 54">
              <a:extLst>
                <a:ext uri="{FF2B5EF4-FFF2-40B4-BE49-F238E27FC236}">
                  <a16:creationId xmlns:a16="http://schemas.microsoft.com/office/drawing/2014/main" id="{4A0CC748-98D5-A540-65A4-847774715A21}"/>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 name="Freeform 56" descr="Clipboard Partially Checked with solid fill">
              <a:extLst>
                <a:ext uri="{FF2B5EF4-FFF2-40B4-BE49-F238E27FC236}">
                  <a16:creationId xmlns:a16="http://schemas.microsoft.com/office/drawing/2014/main" id="{E76784C7-49C5-6809-0A40-CC4A1A3614C4}"/>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6" name="Group 5">
            <a:extLst>
              <a:ext uri="{FF2B5EF4-FFF2-40B4-BE49-F238E27FC236}">
                <a16:creationId xmlns:a16="http://schemas.microsoft.com/office/drawing/2014/main" id="{614923DC-EC72-5AD6-D9F6-1ADF59F28DFA}"/>
              </a:ext>
            </a:extLst>
          </p:cNvPr>
          <p:cNvGrpSpPr/>
          <p:nvPr/>
        </p:nvGrpSpPr>
        <p:grpSpPr>
          <a:xfrm>
            <a:off x="11557682" y="191038"/>
            <a:ext cx="410690" cy="410700"/>
            <a:chOff x="8874309" y="3009260"/>
            <a:chExt cx="1591098" cy="1591098"/>
          </a:xfrm>
        </p:grpSpPr>
        <p:grpSp>
          <p:nvGrpSpPr>
            <p:cNvPr id="7" name="Group 6">
              <a:extLst>
                <a:ext uri="{FF2B5EF4-FFF2-40B4-BE49-F238E27FC236}">
                  <a16:creationId xmlns:a16="http://schemas.microsoft.com/office/drawing/2014/main" id="{6E144FEB-6457-A421-E230-9D645E31449B}"/>
                </a:ext>
              </a:extLst>
            </p:cNvPr>
            <p:cNvGrpSpPr/>
            <p:nvPr/>
          </p:nvGrpSpPr>
          <p:grpSpPr>
            <a:xfrm>
              <a:off x="8874309" y="3009260"/>
              <a:ext cx="1591098" cy="1591098"/>
              <a:chOff x="9350370" y="2760976"/>
              <a:chExt cx="1591098" cy="1591098"/>
            </a:xfrm>
          </p:grpSpPr>
          <p:sp>
            <p:nvSpPr>
              <p:cNvPr id="12" name="Rectangle: Rounded Corners 39">
                <a:extLst>
                  <a:ext uri="{FF2B5EF4-FFF2-40B4-BE49-F238E27FC236}">
                    <a16:creationId xmlns:a16="http://schemas.microsoft.com/office/drawing/2014/main" id="{A61C55A7-0291-B767-5665-FB08F5B9548B}"/>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3" name="Rectangle: Rounded Corners 54">
                <a:extLst>
                  <a:ext uri="{FF2B5EF4-FFF2-40B4-BE49-F238E27FC236}">
                    <a16:creationId xmlns:a16="http://schemas.microsoft.com/office/drawing/2014/main" id="{D138C54D-6F69-1222-3EAC-DB49BE2AF8A9}"/>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0" name="Picture 51" descr="Map with pin with solid fill">
              <a:extLst>
                <a:ext uri="{FF2B5EF4-FFF2-40B4-BE49-F238E27FC236}">
                  <a16:creationId xmlns:a16="http://schemas.microsoft.com/office/drawing/2014/main" id="{450FE392-BFBD-0B1F-9ACC-3EE92EC100AF}"/>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4" name="Group 13">
            <a:extLst>
              <a:ext uri="{FF2B5EF4-FFF2-40B4-BE49-F238E27FC236}">
                <a16:creationId xmlns:a16="http://schemas.microsoft.com/office/drawing/2014/main" id="{23104A63-F8B3-CF75-B7F7-D454EA7A1D03}"/>
              </a:ext>
            </a:extLst>
          </p:cNvPr>
          <p:cNvGrpSpPr/>
          <p:nvPr/>
        </p:nvGrpSpPr>
        <p:grpSpPr>
          <a:xfrm>
            <a:off x="10997361" y="200955"/>
            <a:ext cx="410690" cy="410700"/>
            <a:chOff x="5303120" y="3009260"/>
            <a:chExt cx="1591098" cy="1591098"/>
          </a:xfrm>
        </p:grpSpPr>
        <p:grpSp>
          <p:nvGrpSpPr>
            <p:cNvPr id="39" name="Group 38">
              <a:extLst>
                <a:ext uri="{FF2B5EF4-FFF2-40B4-BE49-F238E27FC236}">
                  <a16:creationId xmlns:a16="http://schemas.microsoft.com/office/drawing/2014/main" id="{0F521F32-7D34-2E2E-9055-A3933902F134}"/>
                </a:ext>
              </a:extLst>
            </p:cNvPr>
            <p:cNvGrpSpPr/>
            <p:nvPr/>
          </p:nvGrpSpPr>
          <p:grpSpPr>
            <a:xfrm>
              <a:off x="5303120" y="3009260"/>
              <a:ext cx="1591098" cy="1591098"/>
              <a:chOff x="6428492" y="2760976"/>
              <a:chExt cx="1591098" cy="1591098"/>
            </a:xfrm>
          </p:grpSpPr>
          <p:sp>
            <p:nvSpPr>
              <p:cNvPr id="41" name="Rectangle: Rounded Corners 39">
                <a:extLst>
                  <a:ext uri="{FF2B5EF4-FFF2-40B4-BE49-F238E27FC236}">
                    <a16:creationId xmlns:a16="http://schemas.microsoft.com/office/drawing/2014/main" id="{80E5558D-F06A-78D3-0423-E0051D54422E}"/>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2" name="Rectangle: Rounded Corners 54">
                <a:extLst>
                  <a:ext uri="{FF2B5EF4-FFF2-40B4-BE49-F238E27FC236}">
                    <a16:creationId xmlns:a16="http://schemas.microsoft.com/office/drawing/2014/main" id="{B34AD12A-F57F-DD9C-B4FD-80200957D73A}"/>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0" name="Graphic 22" descr="Target Audience with solid fill">
              <a:extLst>
                <a:ext uri="{FF2B5EF4-FFF2-40B4-BE49-F238E27FC236}">
                  <a16:creationId xmlns:a16="http://schemas.microsoft.com/office/drawing/2014/main" id="{68BD79B7-A392-6FED-B4F3-BF613DC2FF02}"/>
                </a:ext>
              </a:extLst>
            </p:cNvPr>
            <p:cNvPicPr>
              <a:picLocks noChangeAspect="1"/>
            </p:cNvPicPr>
            <p:nvPr/>
          </p:nvPicPr>
          <p:blipFill>
            <a:blip r:embed="rId7">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3" name="TextBox 42">
            <a:extLst>
              <a:ext uri="{FF2B5EF4-FFF2-40B4-BE49-F238E27FC236}">
                <a16:creationId xmlns:a16="http://schemas.microsoft.com/office/drawing/2014/main" id="{B50463A8-027E-2917-7BAE-686C69A367BD}"/>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4" name="TextBox 43">
            <a:extLst>
              <a:ext uri="{FF2B5EF4-FFF2-40B4-BE49-F238E27FC236}">
                <a16:creationId xmlns:a16="http://schemas.microsoft.com/office/drawing/2014/main" id="{7A8FE912-C401-0B6D-EE81-BDDC43BF9207}"/>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5" name="TextBox 44">
            <a:extLst>
              <a:ext uri="{FF2B5EF4-FFF2-40B4-BE49-F238E27FC236}">
                <a16:creationId xmlns:a16="http://schemas.microsoft.com/office/drawing/2014/main" id="{2A40908E-DE1F-EE62-0CB7-073939D0C85F}"/>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6" name="Rectangle 45">
            <a:extLst>
              <a:ext uri="{FF2B5EF4-FFF2-40B4-BE49-F238E27FC236}">
                <a16:creationId xmlns:a16="http://schemas.microsoft.com/office/drawing/2014/main" id="{2D8F2C17-471D-AF15-B27F-8AA7483AC62C}"/>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
        <p:nvSpPr>
          <p:cNvPr id="47" name="Rectangle 46">
            <a:extLst>
              <a:ext uri="{FF2B5EF4-FFF2-40B4-BE49-F238E27FC236}">
                <a16:creationId xmlns:a16="http://schemas.microsoft.com/office/drawing/2014/main" id="{2468AC95-139A-F2AD-D0BF-611260BDF4E7}"/>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2031928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TextBox 60">
            <a:extLst>
              <a:ext uri="{FF2B5EF4-FFF2-40B4-BE49-F238E27FC236}">
                <a16:creationId xmlns:a16="http://schemas.microsoft.com/office/drawing/2014/main" id="{28BDA7BC-6E7D-42C2-A72A-6A7C2D930337}"/>
              </a:ext>
            </a:extLst>
          </p:cNvPr>
          <p:cNvSpPr txBox="1"/>
          <p:nvPr/>
        </p:nvSpPr>
        <p:spPr>
          <a:xfrm>
            <a:off x="986664" y="226560"/>
            <a:ext cx="7894841" cy="584775"/>
          </a:xfrm>
          <a:prstGeom prst="rect">
            <a:avLst/>
          </a:prstGeom>
          <a:noFill/>
        </p:spPr>
        <p:txBody>
          <a:bodyPr wrap="square" lIns="91440" tIns="45720" rIns="91440" bIns="45720" rtlCol="0" anchor="t">
            <a:spAutoFit/>
          </a:bodyPr>
          <a:lstStyle/>
          <a:p>
            <a:r>
              <a:rPr lang="en-US" sz="3200" b="1" spc="-10">
                <a:solidFill>
                  <a:schemeClr val="tx1">
                    <a:lumMod val="75000"/>
                    <a:lumOff val="25000"/>
                  </a:schemeClr>
                </a:solidFill>
                <a:latin typeface="Segoe UI" pitchFamily="34" charset="0"/>
                <a:cs typeface="Lato Light" panose="020F0402020204030203" pitchFamily="34" charset="0"/>
              </a:rPr>
              <a:t>THE </a:t>
            </a:r>
            <a:r>
              <a:rPr lang="en-US" sz="3200" b="1" spc="-10">
                <a:solidFill>
                  <a:srgbClr val="00C27A"/>
                </a:solidFill>
                <a:latin typeface="Segoe UI" pitchFamily="34" charset="0"/>
                <a:cs typeface="Lato Light" panose="020F0402020204030203" pitchFamily="34" charset="0"/>
              </a:rPr>
              <a:t>EVIDENCE </a:t>
            </a:r>
            <a:r>
              <a:rPr lang="en-US" sz="3200" b="1" spc="-10">
                <a:solidFill>
                  <a:schemeClr val="tx1">
                    <a:lumMod val="75000"/>
                    <a:lumOff val="25000"/>
                  </a:schemeClr>
                </a:solidFill>
                <a:latin typeface="Segoe UI" pitchFamily="34" charset="0"/>
                <a:cs typeface="Lato Light" panose="020F0402020204030203" pitchFamily="34" charset="0"/>
              </a:rPr>
              <a:t>MOSAIC</a:t>
            </a:r>
            <a:endParaRPr lang="en-US" sz="3200" b="1" spc="-10">
              <a:solidFill>
                <a:schemeClr val="tx1">
                  <a:lumMod val="75000"/>
                  <a:lumOff val="25000"/>
                </a:schemeClr>
              </a:solidFill>
              <a:latin typeface="Segoe UI" pitchFamily="34" charset="0"/>
              <a:ea typeface="Lato" panose="020F0502020204030203" pitchFamily="34" charset="0"/>
              <a:cs typeface="Lato" panose="020F0502020204030203" pitchFamily="34" charset="0"/>
            </a:endParaRPr>
          </a:p>
        </p:txBody>
      </p:sp>
      <p:sp>
        <p:nvSpPr>
          <p:cNvPr id="63" name="Freeform 162">
            <a:extLst>
              <a:ext uri="{FF2B5EF4-FFF2-40B4-BE49-F238E27FC236}">
                <a16:creationId xmlns:a16="http://schemas.microsoft.com/office/drawing/2014/main" id="{4B28E214-36CE-411A-B39D-E1BB99192550}"/>
              </a:ext>
            </a:extLst>
          </p:cNvPr>
          <p:cNvSpPr/>
          <p:nvPr/>
        </p:nvSpPr>
        <p:spPr>
          <a:xfrm>
            <a:off x="5863313" y="3415378"/>
            <a:ext cx="946545" cy="632402"/>
          </a:xfrm>
          <a:custGeom>
            <a:avLst/>
            <a:gdLst>
              <a:gd name="connsiteX0" fmla="*/ 1135506 w 1705111"/>
              <a:gd name="connsiteY0" fmla="*/ 0 h 1139211"/>
              <a:gd name="connsiteX1" fmla="*/ 1705111 w 1705111"/>
              <a:gd name="connsiteY1" fmla="*/ 569606 h 1139211"/>
              <a:gd name="connsiteX2" fmla="*/ 1135506 w 1705111"/>
              <a:gd name="connsiteY2" fmla="*/ 1139211 h 1139211"/>
              <a:gd name="connsiteX3" fmla="*/ 993400 w 1705111"/>
              <a:gd name="connsiteY3" fmla="*/ 997105 h 1139211"/>
              <a:gd name="connsiteX4" fmla="*/ 1316392 w 1705111"/>
              <a:gd name="connsiteY4" fmla="*/ 674112 h 1139211"/>
              <a:gd name="connsiteX5" fmla="*/ 0 w 1705111"/>
              <a:gd name="connsiteY5" fmla="*/ 674112 h 1139211"/>
              <a:gd name="connsiteX6" fmla="*/ 0 w 1705111"/>
              <a:gd name="connsiteY6" fmla="*/ 465098 h 1139211"/>
              <a:gd name="connsiteX7" fmla="*/ 1316393 w 1705111"/>
              <a:gd name="connsiteY7" fmla="*/ 465098 h 1139211"/>
              <a:gd name="connsiteX8" fmla="*/ 993401 w 1705111"/>
              <a:gd name="connsiteY8" fmla="*/ 142106 h 1139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5111" h="1139211">
                <a:moveTo>
                  <a:pt x="1135506" y="0"/>
                </a:moveTo>
                <a:lnTo>
                  <a:pt x="1705111" y="569606"/>
                </a:lnTo>
                <a:lnTo>
                  <a:pt x="1135506" y="1139211"/>
                </a:lnTo>
                <a:lnTo>
                  <a:pt x="993400" y="997105"/>
                </a:lnTo>
                <a:lnTo>
                  <a:pt x="1316392" y="674112"/>
                </a:lnTo>
                <a:lnTo>
                  <a:pt x="0" y="674112"/>
                </a:lnTo>
                <a:lnTo>
                  <a:pt x="0" y="465098"/>
                </a:lnTo>
                <a:lnTo>
                  <a:pt x="1316393" y="465098"/>
                </a:lnTo>
                <a:lnTo>
                  <a:pt x="993401" y="142106"/>
                </a:lnTo>
                <a:close/>
              </a:path>
            </a:pathLst>
          </a:cu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64" name="Rectangle 63">
            <a:extLst>
              <a:ext uri="{FF2B5EF4-FFF2-40B4-BE49-F238E27FC236}">
                <a16:creationId xmlns:a16="http://schemas.microsoft.com/office/drawing/2014/main" id="{BE1D128E-B100-4837-BB35-471449D4FF23}"/>
              </a:ext>
            </a:extLst>
          </p:cNvPr>
          <p:cNvSpPr/>
          <p:nvPr/>
        </p:nvSpPr>
        <p:spPr>
          <a:xfrm>
            <a:off x="682511" y="1433709"/>
            <a:ext cx="5100416" cy="4917427"/>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spc="-10">
                <a:solidFill>
                  <a:srgbClr val="00C27A"/>
                </a:solidFill>
                <a:latin typeface="Segoe UI" pitchFamily="34" charset="0"/>
                <a:ea typeface="Lato"/>
                <a:cs typeface="Lato"/>
              </a:rPr>
              <a:t>STAKEHOLDER PERSPECTIVES AND CALIBRATIONS</a:t>
            </a:r>
          </a:p>
          <a:p>
            <a:pPr algn="ctr"/>
            <a:endParaRPr lang="en-US" sz="2000" b="1" spc="-10">
              <a:solidFill>
                <a:srgbClr val="00C27A"/>
              </a:solidFill>
              <a:latin typeface="Segoe UI" pitchFamily="34" charset="0"/>
            </a:endParaRPr>
          </a:p>
          <a:p>
            <a:pPr marL="285750" indent="-285750">
              <a:buFont typeface="Arial" panose="020B0604020202020204" pitchFamily="34" charset="0"/>
              <a:buChar char="•"/>
            </a:pPr>
            <a:r>
              <a:rPr lang="en-US" spc="-10">
                <a:solidFill>
                  <a:schemeClr val="tx1">
                    <a:lumMod val="75000"/>
                    <a:lumOff val="25000"/>
                  </a:schemeClr>
                </a:solidFill>
                <a:latin typeface="Arial" pitchFamily="34" charset="0"/>
                <a:ea typeface="Lato"/>
                <a:cs typeface="Lato"/>
              </a:rPr>
              <a:t>Identify successor’s alignment with the role’s JTBD and Superpowers</a:t>
            </a:r>
          </a:p>
          <a:p>
            <a:endParaRPr lang="en-US" spc="-10">
              <a:solidFill>
                <a:schemeClr val="tx1">
                  <a:lumMod val="75000"/>
                  <a:lumOff val="25000"/>
                </a:schemeClr>
              </a:solidFill>
              <a:latin typeface="Arial" pitchFamily="34" charset="0"/>
            </a:endParaRPr>
          </a:p>
          <a:p>
            <a:pPr marL="285750" indent="-285750">
              <a:buFont typeface="Arial" panose="020B0604020202020204" pitchFamily="34" charset="0"/>
              <a:buChar char="•"/>
            </a:pPr>
            <a:r>
              <a:rPr lang="en-US" spc="-10">
                <a:solidFill>
                  <a:schemeClr val="tx1">
                    <a:lumMod val="75000"/>
                    <a:lumOff val="25000"/>
                  </a:schemeClr>
                </a:solidFill>
                <a:latin typeface="Arial" pitchFamily="34" charset="0"/>
                <a:ea typeface="Lato"/>
                <a:cs typeface="Lato"/>
              </a:rPr>
              <a:t>Calibrate and discuss varied Stakeholders' views in key leadership areas</a:t>
            </a:r>
          </a:p>
          <a:p>
            <a:endParaRPr lang="en-US" spc="-10">
              <a:solidFill>
                <a:schemeClr val="tx1">
                  <a:lumMod val="75000"/>
                  <a:lumOff val="25000"/>
                </a:schemeClr>
              </a:solidFill>
              <a:latin typeface="Arial" pitchFamily="34" charset="0"/>
            </a:endParaRPr>
          </a:p>
          <a:p>
            <a:pPr marL="285750" indent="-285750">
              <a:buFont typeface="Arial" panose="020B0604020202020204" pitchFamily="34" charset="0"/>
              <a:buChar char="•"/>
            </a:pPr>
            <a:r>
              <a:rPr lang="en-US" spc="-10">
                <a:solidFill>
                  <a:schemeClr val="tx1">
                    <a:lumMod val="75000"/>
                    <a:lumOff val="25000"/>
                  </a:schemeClr>
                </a:solidFill>
                <a:latin typeface="Arial" pitchFamily="34" charset="0"/>
                <a:ea typeface="Lato"/>
                <a:cs typeface="Lato"/>
              </a:rPr>
              <a:t>Focus on understanding the gaps – identifying where the successor does not have experience and asking questions about related activities</a:t>
            </a:r>
          </a:p>
        </p:txBody>
      </p:sp>
      <p:pic>
        <p:nvPicPr>
          <p:cNvPr id="7" name="Picture 6">
            <a:extLst>
              <a:ext uri="{FF2B5EF4-FFF2-40B4-BE49-F238E27FC236}">
                <a16:creationId xmlns:a16="http://schemas.microsoft.com/office/drawing/2014/main" id="{FE36FC09-A56B-45D2-A38D-FECE1F8E3608}"/>
              </a:ext>
            </a:extLst>
          </p:cNvPr>
          <p:cNvPicPr>
            <a:picLocks noChangeAspect="1"/>
          </p:cNvPicPr>
          <p:nvPr/>
        </p:nvPicPr>
        <p:blipFill>
          <a:blip r:embed="rId3">
            <a:duotone>
              <a:srgbClr val="765FFF"/>
              <a:srgbClr val="FFFFFF"/>
            </a:duotone>
          </a:blip>
          <a:stretch>
            <a:fillRect/>
          </a:stretch>
        </p:blipFill>
        <p:spPr>
          <a:xfrm>
            <a:off x="6888038" y="1437731"/>
            <a:ext cx="2647822" cy="3448023"/>
          </a:xfrm>
          <a:prstGeom prst="rect">
            <a:avLst/>
          </a:prstGeom>
          <a:effectLst>
            <a:outerShdw blurRad="50800" dist="38100" dir="2700000" algn="tl" rotWithShape="0">
              <a:prstClr val="black">
                <a:alpha val="40000"/>
              </a:prstClr>
            </a:outerShdw>
          </a:effectLst>
        </p:spPr>
      </p:pic>
      <p:pic>
        <p:nvPicPr>
          <p:cNvPr id="5" name="Picture 4">
            <a:extLst>
              <a:ext uri="{FF2B5EF4-FFF2-40B4-BE49-F238E27FC236}">
                <a16:creationId xmlns:a16="http://schemas.microsoft.com/office/drawing/2014/main" id="{F43C2084-0A49-4584-BA2F-5B3D196F35B5}"/>
              </a:ext>
            </a:extLst>
          </p:cNvPr>
          <p:cNvPicPr>
            <a:picLocks noChangeAspect="1"/>
          </p:cNvPicPr>
          <p:nvPr/>
        </p:nvPicPr>
        <p:blipFill>
          <a:blip r:embed="rId4">
            <a:duotone>
              <a:srgbClr val="765FFF"/>
              <a:srgbClr val="FFFFFF"/>
            </a:duotone>
          </a:blip>
          <a:stretch>
            <a:fillRect/>
          </a:stretch>
        </p:blipFill>
        <p:spPr>
          <a:xfrm>
            <a:off x="7674941" y="1892098"/>
            <a:ext cx="2667338" cy="3435012"/>
          </a:xfrm>
          <a:prstGeom prst="rect">
            <a:avLst/>
          </a:prstGeom>
          <a:effectLst>
            <a:outerShdw blurRad="50800" dist="38100" dir="2700000" algn="tl" rotWithShape="0">
              <a:prstClr val="black">
                <a:alpha val="40000"/>
              </a:prstClr>
            </a:outerShdw>
          </a:effectLst>
        </p:spPr>
      </p:pic>
      <p:pic>
        <p:nvPicPr>
          <p:cNvPr id="3" name="Picture 2">
            <a:extLst>
              <a:ext uri="{FF2B5EF4-FFF2-40B4-BE49-F238E27FC236}">
                <a16:creationId xmlns:a16="http://schemas.microsoft.com/office/drawing/2014/main" id="{4F6D223D-D80A-49AB-8B46-CF1522AE0060}"/>
              </a:ext>
            </a:extLst>
          </p:cNvPr>
          <p:cNvPicPr>
            <a:picLocks noChangeAspect="1"/>
          </p:cNvPicPr>
          <p:nvPr/>
        </p:nvPicPr>
        <p:blipFill>
          <a:blip r:embed="rId5">
            <a:duotone>
              <a:srgbClr val="765FFF"/>
              <a:srgbClr val="FFFFFF"/>
            </a:duotone>
          </a:blip>
          <a:stretch>
            <a:fillRect/>
          </a:stretch>
        </p:blipFill>
        <p:spPr>
          <a:xfrm>
            <a:off x="8461843" y="2327022"/>
            <a:ext cx="2686855" cy="3441516"/>
          </a:xfrm>
          <a:prstGeom prst="rect">
            <a:avLst/>
          </a:prstGeom>
          <a:effectLst>
            <a:outerShdw blurRad="50800" dist="38100" dir="2700000" algn="tl" rotWithShape="0">
              <a:prstClr val="black">
                <a:alpha val="40000"/>
              </a:prstClr>
            </a:outerShdw>
          </a:effectLst>
        </p:spPr>
      </p:pic>
      <p:sp>
        <p:nvSpPr>
          <p:cNvPr id="6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37</a:t>
            </a:fld>
            <a:endParaRPr lang="en-US"/>
          </a:p>
        </p:txBody>
      </p:sp>
      <p:grpSp>
        <p:nvGrpSpPr>
          <p:cNvPr id="2" name="Group 1">
            <a:extLst>
              <a:ext uri="{FF2B5EF4-FFF2-40B4-BE49-F238E27FC236}">
                <a16:creationId xmlns:a16="http://schemas.microsoft.com/office/drawing/2014/main" id="{FC0EA0B8-140C-7F86-ECB8-4AFF8DA7FF56}"/>
              </a:ext>
            </a:extLst>
          </p:cNvPr>
          <p:cNvGrpSpPr/>
          <p:nvPr/>
        </p:nvGrpSpPr>
        <p:grpSpPr>
          <a:xfrm>
            <a:off x="10403235" y="201614"/>
            <a:ext cx="410690" cy="410700"/>
            <a:chOff x="3506617" y="2730959"/>
            <a:chExt cx="1591098" cy="1591098"/>
          </a:xfrm>
        </p:grpSpPr>
        <p:sp>
          <p:nvSpPr>
            <p:cNvPr id="4" name="Rectangle: Rounded Corners 39">
              <a:extLst>
                <a:ext uri="{FF2B5EF4-FFF2-40B4-BE49-F238E27FC236}">
                  <a16:creationId xmlns:a16="http://schemas.microsoft.com/office/drawing/2014/main" id="{51C663E1-0938-B748-6A5D-07DA9BB6CF7A}"/>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 name="Rectangle: Rounded Corners 54">
              <a:extLst>
                <a:ext uri="{FF2B5EF4-FFF2-40B4-BE49-F238E27FC236}">
                  <a16:creationId xmlns:a16="http://schemas.microsoft.com/office/drawing/2014/main" id="{2A344DF4-8802-C7E8-F049-B241427BE8EC}"/>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8" name="Freeform 56" descr="Clipboard Partially Checked with solid fill">
              <a:extLst>
                <a:ext uri="{FF2B5EF4-FFF2-40B4-BE49-F238E27FC236}">
                  <a16:creationId xmlns:a16="http://schemas.microsoft.com/office/drawing/2014/main" id="{19AA55B5-258A-FD16-5880-1332306959D1}"/>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6"/>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9" name="Group 8">
            <a:extLst>
              <a:ext uri="{FF2B5EF4-FFF2-40B4-BE49-F238E27FC236}">
                <a16:creationId xmlns:a16="http://schemas.microsoft.com/office/drawing/2014/main" id="{92B25358-2D75-8742-D943-2E89412CF6C9}"/>
              </a:ext>
            </a:extLst>
          </p:cNvPr>
          <p:cNvGrpSpPr/>
          <p:nvPr/>
        </p:nvGrpSpPr>
        <p:grpSpPr>
          <a:xfrm>
            <a:off x="11557682" y="191038"/>
            <a:ext cx="410690" cy="410700"/>
            <a:chOff x="8874309" y="3009260"/>
            <a:chExt cx="1591098" cy="1591098"/>
          </a:xfrm>
        </p:grpSpPr>
        <p:grpSp>
          <p:nvGrpSpPr>
            <p:cNvPr id="10" name="Group 9">
              <a:extLst>
                <a:ext uri="{FF2B5EF4-FFF2-40B4-BE49-F238E27FC236}">
                  <a16:creationId xmlns:a16="http://schemas.microsoft.com/office/drawing/2014/main" id="{D66AF4A3-6C88-850D-7456-5FDA10FF8EA1}"/>
                </a:ext>
              </a:extLst>
            </p:cNvPr>
            <p:cNvGrpSpPr/>
            <p:nvPr/>
          </p:nvGrpSpPr>
          <p:grpSpPr>
            <a:xfrm>
              <a:off x="8874309" y="3009260"/>
              <a:ext cx="1591098" cy="1591098"/>
              <a:chOff x="9350370" y="2760976"/>
              <a:chExt cx="1591098" cy="1591098"/>
            </a:xfrm>
          </p:grpSpPr>
          <p:sp>
            <p:nvSpPr>
              <p:cNvPr id="12" name="Rectangle: Rounded Corners 39">
                <a:extLst>
                  <a:ext uri="{FF2B5EF4-FFF2-40B4-BE49-F238E27FC236}">
                    <a16:creationId xmlns:a16="http://schemas.microsoft.com/office/drawing/2014/main" id="{13D47C13-0FEB-548F-F4C5-2A9473B72990}"/>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3" name="Rectangle: Rounded Corners 54">
                <a:extLst>
                  <a:ext uri="{FF2B5EF4-FFF2-40B4-BE49-F238E27FC236}">
                    <a16:creationId xmlns:a16="http://schemas.microsoft.com/office/drawing/2014/main" id="{89DD7CBE-8AB8-7350-976D-8B297D40DCE4}"/>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1" name="Picture 51" descr="Map with pin with solid fill">
              <a:extLst>
                <a:ext uri="{FF2B5EF4-FFF2-40B4-BE49-F238E27FC236}">
                  <a16:creationId xmlns:a16="http://schemas.microsoft.com/office/drawing/2014/main" id="{93C77D07-D996-3E50-BA68-E1162BFBD20A}"/>
                </a:ext>
              </a:extLst>
            </p:cNvPr>
            <p:cNvPicPr>
              <a:picLocks noChangeAspect="1"/>
            </p:cNvPicPr>
            <p:nvPr/>
          </p:nvPicPr>
          <p:blipFill>
            <a:blip r:embed="rId7">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4" name="Group 13">
            <a:extLst>
              <a:ext uri="{FF2B5EF4-FFF2-40B4-BE49-F238E27FC236}">
                <a16:creationId xmlns:a16="http://schemas.microsoft.com/office/drawing/2014/main" id="{2E4FF506-8777-77B4-FAA7-37F5F18E98E7}"/>
              </a:ext>
            </a:extLst>
          </p:cNvPr>
          <p:cNvGrpSpPr/>
          <p:nvPr/>
        </p:nvGrpSpPr>
        <p:grpSpPr>
          <a:xfrm>
            <a:off x="10997361" y="200955"/>
            <a:ext cx="410690" cy="410700"/>
            <a:chOff x="5303120" y="3009260"/>
            <a:chExt cx="1591098" cy="1591098"/>
          </a:xfrm>
        </p:grpSpPr>
        <p:grpSp>
          <p:nvGrpSpPr>
            <p:cNvPr id="34" name="Group 33">
              <a:extLst>
                <a:ext uri="{FF2B5EF4-FFF2-40B4-BE49-F238E27FC236}">
                  <a16:creationId xmlns:a16="http://schemas.microsoft.com/office/drawing/2014/main" id="{DD7A8D6F-BEB1-DF0A-2289-E8A4FC236DA4}"/>
                </a:ext>
              </a:extLst>
            </p:cNvPr>
            <p:cNvGrpSpPr/>
            <p:nvPr/>
          </p:nvGrpSpPr>
          <p:grpSpPr>
            <a:xfrm>
              <a:off x="5303120" y="3009260"/>
              <a:ext cx="1591098" cy="1591098"/>
              <a:chOff x="6428492" y="2760976"/>
              <a:chExt cx="1591098" cy="1591098"/>
            </a:xfrm>
          </p:grpSpPr>
          <p:sp>
            <p:nvSpPr>
              <p:cNvPr id="36" name="Rectangle: Rounded Corners 39">
                <a:extLst>
                  <a:ext uri="{FF2B5EF4-FFF2-40B4-BE49-F238E27FC236}">
                    <a16:creationId xmlns:a16="http://schemas.microsoft.com/office/drawing/2014/main" id="{EF6FC860-BDF2-CDC1-E9A5-B2F23CECB426}"/>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7" name="Rectangle: Rounded Corners 54">
                <a:extLst>
                  <a:ext uri="{FF2B5EF4-FFF2-40B4-BE49-F238E27FC236}">
                    <a16:creationId xmlns:a16="http://schemas.microsoft.com/office/drawing/2014/main" id="{1E200254-2F37-8F04-153C-ACBBEDE1D16F}"/>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5" name="Graphic 22" descr="Target Audience with solid fill">
              <a:extLst>
                <a:ext uri="{FF2B5EF4-FFF2-40B4-BE49-F238E27FC236}">
                  <a16:creationId xmlns:a16="http://schemas.microsoft.com/office/drawing/2014/main" id="{3C6D126C-60D6-3B1E-64B5-A22A5CCBF51F}"/>
                </a:ext>
              </a:extLst>
            </p:cNvPr>
            <p:cNvPicPr>
              <a:picLocks noChangeAspect="1"/>
            </p:cNvPicPr>
            <p:nvPr/>
          </p:nvPicPr>
          <p:blipFill>
            <a:blip r:embed="rId8">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8" name="TextBox 37">
            <a:extLst>
              <a:ext uri="{FF2B5EF4-FFF2-40B4-BE49-F238E27FC236}">
                <a16:creationId xmlns:a16="http://schemas.microsoft.com/office/drawing/2014/main" id="{BA693E1A-0E66-B380-363E-E52267F3F9FC}"/>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9" name="TextBox 38">
            <a:extLst>
              <a:ext uri="{FF2B5EF4-FFF2-40B4-BE49-F238E27FC236}">
                <a16:creationId xmlns:a16="http://schemas.microsoft.com/office/drawing/2014/main" id="{544650FE-780F-5098-A496-38C80D15584D}"/>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0" name="TextBox 39">
            <a:extLst>
              <a:ext uri="{FF2B5EF4-FFF2-40B4-BE49-F238E27FC236}">
                <a16:creationId xmlns:a16="http://schemas.microsoft.com/office/drawing/2014/main" id="{9C67445E-1549-EE45-82EF-355F80CFCADA}"/>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1" name="Rectangle 40">
            <a:extLst>
              <a:ext uri="{FF2B5EF4-FFF2-40B4-BE49-F238E27FC236}">
                <a16:creationId xmlns:a16="http://schemas.microsoft.com/office/drawing/2014/main" id="{4AA774F2-5931-5AF8-700D-1235AB3AC55A}"/>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
        <p:nvSpPr>
          <p:cNvPr id="42" name="Rectangle 41">
            <a:extLst>
              <a:ext uri="{FF2B5EF4-FFF2-40B4-BE49-F238E27FC236}">
                <a16:creationId xmlns:a16="http://schemas.microsoft.com/office/drawing/2014/main" id="{F78BEAA2-E37D-D9BD-9053-8B4E3EF3E2D6}"/>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2781622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A5589635-494C-4379-9C58-3610A14C510D}"/>
              </a:ext>
            </a:extLst>
          </p:cNvPr>
          <p:cNvSpPr txBox="1"/>
          <p:nvPr/>
        </p:nvSpPr>
        <p:spPr>
          <a:xfrm>
            <a:off x="959643" y="253581"/>
            <a:ext cx="7894841" cy="584775"/>
          </a:xfrm>
          <a:prstGeom prst="rect">
            <a:avLst/>
          </a:prstGeom>
          <a:noFill/>
        </p:spPr>
        <p:txBody>
          <a:bodyPr wrap="square" lIns="91440" tIns="45720" rIns="91440" bIns="45720" rtlCol="0" anchor="t">
            <a:spAutoFit/>
          </a:bodyPr>
          <a:lstStyle/>
          <a:p>
            <a:r>
              <a:rPr lang="en-US" sz="3200" b="1" spc="-10">
                <a:solidFill>
                  <a:schemeClr val="tx1">
                    <a:lumMod val="75000"/>
                    <a:lumOff val="25000"/>
                  </a:schemeClr>
                </a:solidFill>
                <a:latin typeface="Segoe UI" pitchFamily="34" charset="0"/>
                <a:cs typeface="Lato Light" panose="020F0402020204030203" pitchFamily="34" charset="0"/>
              </a:rPr>
              <a:t>THE </a:t>
            </a:r>
            <a:r>
              <a:rPr lang="en-US" sz="3200" b="1" spc="-10">
                <a:solidFill>
                  <a:srgbClr val="00C27A"/>
                </a:solidFill>
                <a:latin typeface="Segoe UI" pitchFamily="34" charset="0"/>
                <a:cs typeface="Lato Light" panose="020F0402020204030203" pitchFamily="34" charset="0"/>
              </a:rPr>
              <a:t>EVIDENCE </a:t>
            </a:r>
            <a:r>
              <a:rPr lang="en-US" sz="3200" b="1" spc="-10">
                <a:solidFill>
                  <a:schemeClr val="tx1">
                    <a:lumMod val="75000"/>
                    <a:lumOff val="25000"/>
                  </a:schemeClr>
                </a:solidFill>
                <a:latin typeface="Segoe UI" pitchFamily="34" charset="0"/>
                <a:cs typeface="Lato Light" panose="020F0402020204030203" pitchFamily="34" charset="0"/>
              </a:rPr>
              <a:t>MOSAIC</a:t>
            </a:r>
            <a:endParaRPr lang="en-US" sz="3200" b="1" spc="-10">
              <a:solidFill>
                <a:schemeClr val="tx1">
                  <a:lumMod val="75000"/>
                  <a:lumOff val="25000"/>
                </a:schemeClr>
              </a:solidFill>
              <a:latin typeface="Segoe UI" pitchFamily="34" charset="0"/>
              <a:ea typeface="Lato" panose="020F0502020204030203" pitchFamily="34" charset="0"/>
              <a:cs typeface="Lato" panose="020F0502020204030203" pitchFamily="34" charset="0"/>
            </a:endParaRPr>
          </a:p>
        </p:txBody>
      </p:sp>
      <p:sp>
        <p:nvSpPr>
          <p:cNvPr id="8" name="Freeform 162">
            <a:extLst>
              <a:ext uri="{FF2B5EF4-FFF2-40B4-BE49-F238E27FC236}">
                <a16:creationId xmlns:a16="http://schemas.microsoft.com/office/drawing/2014/main" id="{5C15AA11-51B6-48AC-9F49-31E73F444E4D}"/>
              </a:ext>
            </a:extLst>
          </p:cNvPr>
          <p:cNvSpPr/>
          <p:nvPr/>
        </p:nvSpPr>
        <p:spPr>
          <a:xfrm>
            <a:off x="4817038" y="3428459"/>
            <a:ext cx="946545" cy="632402"/>
          </a:xfrm>
          <a:custGeom>
            <a:avLst/>
            <a:gdLst>
              <a:gd name="connsiteX0" fmla="*/ 1135506 w 1705111"/>
              <a:gd name="connsiteY0" fmla="*/ 0 h 1139211"/>
              <a:gd name="connsiteX1" fmla="*/ 1705111 w 1705111"/>
              <a:gd name="connsiteY1" fmla="*/ 569606 h 1139211"/>
              <a:gd name="connsiteX2" fmla="*/ 1135506 w 1705111"/>
              <a:gd name="connsiteY2" fmla="*/ 1139211 h 1139211"/>
              <a:gd name="connsiteX3" fmla="*/ 993400 w 1705111"/>
              <a:gd name="connsiteY3" fmla="*/ 997105 h 1139211"/>
              <a:gd name="connsiteX4" fmla="*/ 1316392 w 1705111"/>
              <a:gd name="connsiteY4" fmla="*/ 674112 h 1139211"/>
              <a:gd name="connsiteX5" fmla="*/ 0 w 1705111"/>
              <a:gd name="connsiteY5" fmla="*/ 674112 h 1139211"/>
              <a:gd name="connsiteX6" fmla="*/ 0 w 1705111"/>
              <a:gd name="connsiteY6" fmla="*/ 465098 h 1139211"/>
              <a:gd name="connsiteX7" fmla="*/ 1316393 w 1705111"/>
              <a:gd name="connsiteY7" fmla="*/ 465098 h 1139211"/>
              <a:gd name="connsiteX8" fmla="*/ 993401 w 1705111"/>
              <a:gd name="connsiteY8" fmla="*/ 142106 h 1139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5111" h="1139211">
                <a:moveTo>
                  <a:pt x="1135506" y="0"/>
                </a:moveTo>
                <a:lnTo>
                  <a:pt x="1705111" y="569606"/>
                </a:lnTo>
                <a:lnTo>
                  <a:pt x="1135506" y="1139211"/>
                </a:lnTo>
                <a:lnTo>
                  <a:pt x="993400" y="997105"/>
                </a:lnTo>
                <a:lnTo>
                  <a:pt x="1316392" y="674112"/>
                </a:lnTo>
                <a:lnTo>
                  <a:pt x="0" y="674112"/>
                </a:lnTo>
                <a:lnTo>
                  <a:pt x="0" y="465098"/>
                </a:lnTo>
                <a:lnTo>
                  <a:pt x="1316393" y="465098"/>
                </a:lnTo>
                <a:lnTo>
                  <a:pt x="993401" y="142106"/>
                </a:lnTo>
                <a:close/>
              </a:path>
            </a:pathLst>
          </a:cu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9" name="Rectangle 8">
            <a:extLst>
              <a:ext uri="{FF2B5EF4-FFF2-40B4-BE49-F238E27FC236}">
                <a16:creationId xmlns:a16="http://schemas.microsoft.com/office/drawing/2014/main" id="{B354EC88-DC47-4C3F-A988-8B679C56A9FD}"/>
              </a:ext>
            </a:extLst>
          </p:cNvPr>
          <p:cNvSpPr/>
          <p:nvPr/>
        </p:nvSpPr>
        <p:spPr>
          <a:xfrm>
            <a:off x="960794" y="1421091"/>
            <a:ext cx="3381236" cy="4857558"/>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spc="-10">
                <a:solidFill>
                  <a:srgbClr val="00C27A"/>
                </a:solidFill>
                <a:latin typeface="Segoe UI" pitchFamily="34" charset="0"/>
                <a:ea typeface="Lato"/>
                <a:cs typeface="Lato"/>
              </a:rPr>
              <a:t>RISK ASSESSMENT</a:t>
            </a:r>
          </a:p>
          <a:p>
            <a:pPr algn="ctr"/>
            <a:endParaRPr lang="en-US" sz="2000" b="1" spc="-10">
              <a:solidFill>
                <a:srgbClr val="00C27A"/>
              </a:solidFill>
              <a:latin typeface="Segoe UI" pitchFamily="34" charset="0"/>
            </a:endParaRPr>
          </a:p>
          <a:p>
            <a:pPr marL="285750" indent="-285750">
              <a:buFont typeface="Arial" panose="020B0604020202020204" pitchFamily="34" charset="0"/>
              <a:buChar char="•"/>
            </a:pPr>
            <a:r>
              <a:rPr lang="en-US" sz="1700" spc="-10">
                <a:solidFill>
                  <a:schemeClr val="tx1">
                    <a:lumMod val="75000"/>
                    <a:lumOff val="25000"/>
                  </a:schemeClr>
                </a:solidFill>
                <a:latin typeface="Arial" pitchFamily="34" charset="0"/>
                <a:ea typeface="Lato"/>
                <a:cs typeface="Lato"/>
              </a:rPr>
              <a:t>Identify and assess talent risks based on:</a:t>
            </a:r>
          </a:p>
          <a:p>
            <a:pPr marL="742950" lvl="1" indent="-285750">
              <a:buSzPct val="75000"/>
              <a:buFont typeface="Abadi" panose="020B0604020104020204" pitchFamily="34" charset="0"/>
              <a:buChar char="○"/>
            </a:pPr>
            <a:r>
              <a:rPr lang="en-US" sz="1700" spc="-10">
                <a:solidFill>
                  <a:schemeClr val="tx1">
                    <a:lumMod val="75000"/>
                    <a:lumOff val="25000"/>
                  </a:schemeClr>
                </a:solidFill>
                <a:latin typeface="Arial" pitchFamily="34" charset="0"/>
                <a:ea typeface="Lato"/>
                <a:cs typeface="Lato"/>
              </a:rPr>
              <a:t>JTBD match</a:t>
            </a:r>
          </a:p>
          <a:p>
            <a:pPr marL="742950" lvl="1" indent="-285750">
              <a:buSzPct val="75000"/>
              <a:buFont typeface="Abadi" panose="020B0604020104020204" pitchFamily="34" charset="0"/>
              <a:buChar char="○"/>
            </a:pPr>
            <a:r>
              <a:rPr lang="en-US" sz="1700" spc="-10">
                <a:solidFill>
                  <a:schemeClr val="tx1">
                    <a:lumMod val="75000"/>
                    <a:lumOff val="25000"/>
                  </a:schemeClr>
                </a:solidFill>
                <a:latin typeface="Arial" pitchFamily="34" charset="0"/>
                <a:ea typeface="Lato"/>
                <a:cs typeface="Lato"/>
              </a:rPr>
              <a:t>Superpower match</a:t>
            </a:r>
          </a:p>
          <a:p>
            <a:pPr marL="742950" lvl="1" indent="-285750">
              <a:buSzPct val="75000"/>
              <a:buFont typeface="Abadi" panose="020B0604020104020204" pitchFamily="34" charset="0"/>
              <a:buChar char="○"/>
            </a:pPr>
            <a:r>
              <a:rPr lang="en-US" sz="1700" spc="-10">
                <a:solidFill>
                  <a:schemeClr val="tx1">
                    <a:lumMod val="75000"/>
                    <a:lumOff val="25000"/>
                  </a:schemeClr>
                </a:solidFill>
                <a:latin typeface="Arial" pitchFamily="34" charset="0"/>
                <a:ea typeface="Lato"/>
                <a:cs typeface="Lato"/>
              </a:rPr>
              <a:t>Winning track record</a:t>
            </a:r>
          </a:p>
          <a:p>
            <a:pPr marL="742950" lvl="1" indent="-285750">
              <a:buSzPct val="75000"/>
              <a:buFont typeface="Abadi" panose="020B0604020104020204" pitchFamily="34" charset="0"/>
              <a:buChar char="○"/>
            </a:pPr>
            <a:r>
              <a:rPr lang="en-US" sz="1700" spc="-10">
                <a:solidFill>
                  <a:schemeClr val="tx1">
                    <a:lumMod val="75000"/>
                    <a:lumOff val="25000"/>
                  </a:schemeClr>
                </a:solidFill>
                <a:latin typeface="Arial" pitchFamily="34" charset="0"/>
                <a:ea typeface="Lato"/>
                <a:cs typeface="Lato"/>
              </a:rPr>
              <a:t>Two-way fit</a:t>
            </a:r>
          </a:p>
        </p:txBody>
      </p:sp>
      <p:pic>
        <p:nvPicPr>
          <p:cNvPr id="37" name="Picture 36">
            <a:extLst>
              <a:ext uri="{FF2B5EF4-FFF2-40B4-BE49-F238E27FC236}">
                <a16:creationId xmlns:a16="http://schemas.microsoft.com/office/drawing/2014/main" id="{9A3F6438-A0C3-9AEE-516E-DF331640E200}"/>
              </a:ext>
            </a:extLst>
          </p:cNvPr>
          <p:cNvPicPr>
            <a:picLocks noChangeAspect="1"/>
          </p:cNvPicPr>
          <p:nvPr/>
        </p:nvPicPr>
        <p:blipFill>
          <a:blip r:embed="rId2">
            <a:duotone>
              <a:srgbClr val="765FFF"/>
              <a:srgbClr val="FFFFFF"/>
            </a:duotone>
          </a:blip>
          <a:stretch>
            <a:fillRect/>
          </a:stretch>
        </p:blipFill>
        <p:spPr>
          <a:xfrm>
            <a:off x="5987494" y="1959733"/>
            <a:ext cx="4968942" cy="3393129"/>
          </a:xfrm>
          <a:prstGeom prst="rect">
            <a:avLst/>
          </a:prstGeom>
          <a:effectLst>
            <a:outerShdw blurRad="50800" dist="38100" dir="8100000" algn="tr" rotWithShape="0">
              <a:prstClr val="black">
                <a:alpha val="40000"/>
              </a:prstClr>
            </a:outerShdw>
          </a:effectLst>
        </p:spPr>
      </p:pic>
      <p:sp>
        <p:nvSpPr>
          <p:cNvPr id="38"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38</a:t>
            </a:fld>
            <a:endParaRPr lang="en-US"/>
          </a:p>
        </p:txBody>
      </p:sp>
      <p:grpSp>
        <p:nvGrpSpPr>
          <p:cNvPr id="2" name="Group 1">
            <a:extLst>
              <a:ext uri="{FF2B5EF4-FFF2-40B4-BE49-F238E27FC236}">
                <a16:creationId xmlns:a16="http://schemas.microsoft.com/office/drawing/2014/main" id="{0C9C832A-B9E0-D3AE-EC36-26AB77BC95F8}"/>
              </a:ext>
            </a:extLst>
          </p:cNvPr>
          <p:cNvGrpSpPr/>
          <p:nvPr/>
        </p:nvGrpSpPr>
        <p:grpSpPr>
          <a:xfrm>
            <a:off x="10403235" y="201614"/>
            <a:ext cx="410690" cy="410700"/>
            <a:chOff x="3506617" y="2730959"/>
            <a:chExt cx="1591098" cy="1591098"/>
          </a:xfrm>
        </p:grpSpPr>
        <p:sp>
          <p:nvSpPr>
            <p:cNvPr id="3" name="Rectangle: Rounded Corners 39">
              <a:extLst>
                <a:ext uri="{FF2B5EF4-FFF2-40B4-BE49-F238E27FC236}">
                  <a16:creationId xmlns:a16="http://schemas.microsoft.com/office/drawing/2014/main" id="{2D43A883-6037-AF99-F89C-1F70EB87430A}"/>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 name="Rectangle: Rounded Corners 54">
              <a:extLst>
                <a:ext uri="{FF2B5EF4-FFF2-40B4-BE49-F238E27FC236}">
                  <a16:creationId xmlns:a16="http://schemas.microsoft.com/office/drawing/2014/main" id="{06300F8D-A569-22D7-7E19-3B2E3552746B}"/>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 name="Freeform 56" descr="Clipboard Partially Checked with solid fill">
              <a:extLst>
                <a:ext uri="{FF2B5EF4-FFF2-40B4-BE49-F238E27FC236}">
                  <a16:creationId xmlns:a16="http://schemas.microsoft.com/office/drawing/2014/main" id="{40C11094-BF37-40D8-EBCC-A920B4BD3131}"/>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3"/>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6" name="Group 5">
            <a:extLst>
              <a:ext uri="{FF2B5EF4-FFF2-40B4-BE49-F238E27FC236}">
                <a16:creationId xmlns:a16="http://schemas.microsoft.com/office/drawing/2014/main" id="{6BE47424-3918-ADA1-E144-C9AB59D65EDE}"/>
              </a:ext>
            </a:extLst>
          </p:cNvPr>
          <p:cNvGrpSpPr/>
          <p:nvPr/>
        </p:nvGrpSpPr>
        <p:grpSpPr>
          <a:xfrm>
            <a:off x="11557682" y="191038"/>
            <a:ext cx="410690" cy="410700"/>
            <a:chOff x="8874309" y="3009260"/>
            <a:chExt cx="1591098" cy="1591098"/>
          </a:xfrm>
        </p:grpSpPr>
        <p:grpSp>
          <p:nvGrpSpPr>
            <p:cNvPr id="7" name="Group 6">
              <a:extLst>
                <a:ext uri="{FF2B5EF4-FFF2-40B4-BE49-F238E27FC236}">
                  <a16:creationId xmlns:a16="http://schemas.microsoft.com/office/drawing/2014/main" id="{2BC39268-7303-DB9B-E942-EA43E98DA279}"/>
                </a:ext>
              </a:extLst>
            </p:cNvPr>
            <p:cNvGrpSpPr/>
            <p:nvPr/>
          </p:nvGrpSpPr>
          <p:grpSpPr>
            <a:xfrm>
              <a:off x="8874309" y="3009260"/>
              <a:ext cx="1591098" cy="1591098"/>
              <a:chOff x="9350370" y="2760976"/>
              <a:chExt cx="1591098" cy="1591098"/>
            </a:xfrm>
          </p:grpSpPr>
          <p:sp>
            <p:nvSpPr>
              <p:cNvPr id="12" name="Rectangle: Rounded Corners 39">
                <a:extLst>
                  <a:ext uri="{FF2B5EF4-FFF2-40B4-BE49-F238E27FC236}">
                    <a16:creationId xmlns:a16="http://schemas.microsoft.com/office/drawing/2014/main" id="{58228CFE-70DF-1C38-0491-B0B8F92201A6}"/>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3" name="Rectangle: Rounded Corners 54">
                <a:extLst>
                  <a:ext uri="{FF2B5EF4-FFF2-40B4-BE49-F238E27FC236}">
                    <a16:creationId xmlns:a16="http://schemas.microsoft.com/office/drawing/2014/main" id="{33958434-11A6-03B7-9EAD-617FB4D1CC9F}"/>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0" name="Picture 51" descr="Map with pin with solid fill">
              <a:extLst>
                <a:ext uri="{FF2B5EF4-FFF2-40B4-BE49-F238E27FC236}">
                  <a16:creationId xmlns:a16="http://schemas.microsoft.com/office/drawing/2014/main" id="{5CABE9AA-24AB-10F6-50E9-BC090A0C8283}"/>
                </a:ext>
              </a:extLst>
            </p:cNvPr>
            <p:cNvPicPr>
              <a:picLocks noChangeAspect="1"/>
            </p:cNvPicPr>
            <p:nvPr/>
          </p:nvPicPr>
          <p:blipFill>
            <a:blip r:embed="rId4">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4" name="Group 13">
            <a:extLst>
              <a:ext uri="{FF2B5EF4-FFF2-40B4-BE49-F238E27FC236}">
                <a16:creationId xmlns:a16="http://schemas.microsoft.com/office/drawing/2014/main" id="{1E63A860-1332-EEEA-9390-49D39EF672F2}"/>
              </a:ext>
            </a:extLst>
          </p:cNvPr>
          <p:cNvGrpSpPr/>
          <p:nvPr/>
        </p:nvGrpSpPr>
        <p:grpSpPr>
          <a:xfrm>
            <a:off x="10997361" y="200955"/>
            <a:ext cx="410690" cy="410700"/>
            <a:chOff x="5303120" y="3009260"/>
            <a:chExt cx="1591098" cy="1591098"/>
          </a:xfrm>
        </p:grpSpPr>
        <p:grpSp>
          <p:nvGrpSpPr>
            <p:cNvPr id="34" name="Group 33">
              <a:extLst>
                <a:ext uri="{FF2B5EF4-FFF2-40B4-BE49-F238E27FC236}">
                  <a16:creationId xmlns:a16="http://schemas.microsoft.com/office/drawing/2014/main" id="{8703759B-69EF-ECF1-6924-13288EA02DBF}"/>
                </a:ext>
              </a:extLst>
            </p:cNvPr>
            <p:cNvGrpSpPr/>
            <p:nvPr/>
          </p:nvGrpSpPr>
          <p:grpSpPr>
            <a:xfrm>
              <a:off x="5303120" y="3009260"/>
              <a:ext cx="1591098" cy="1591098"/>
              <a:chOff x="6428492" y="2760976"/>
              <a:chExt cx="1591098" cy="1591098"/>
            </a:xfrm>
          </p:grpSpPr>
          <p:sp>
            <p:nvSpPr>
              <p:cNvPr id="36" name="Rectangle: Rounded Corners 39">
                <a:extLst>
                  <a:ext uri="{FF2B5EF4-FFF2-40B4-BE49-F238E27FC236}">
                    <a16:creationId xmlns:a16="http://schemas.microsoft.com/office/drawing/2014/main" id="{C8402F8C-67E2-809C-342D-CFB5FC22406D}"/>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9" name="Rectangle: Rounded Corners 54">
                <a:extLst>
                  <a:ext uri="{FF2B5EF4-FFF2-40B4-BE49-F238E27FC236}">
                    <a16:creationId xmlns:a16="http://schemas.microsoft.com/office/drawing/2014/main" id="{299C95E8-74C1-7195-71DE-B685663D36AE}"/>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5" name="Graphic 22" descr="Target Audience with solid fill">
              <a:extLst>
                <a:ext uri="{FF2B5EF4-FFF2-40B4-BE49-F238E27FC236}">
                  <a16:creationId xmlns:a16="http://schemas.microsoft.com/office/drawing/2014/main" id="{32BE63DE-9498-41E8-4FDC-045F0286069D}"/>
                </a:ext>
              </a:extLst>
            </p:cNvPr>
            <p:cNvPicPr>
              <a:picLocks noChangeAspect="1"/>
            </p:cNvPicPr>
            <p:nvPr/>
          </p:nvPicPr>
          <p:blipFill>
            <a:blip r:embed="rId5">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0" name="TextBox 39">
            <a:extLst>
              <a:ext uri="{FF2B5EF4-FFF2-40B4-BE49-F238E27FC236}">
                <a16:creationId xmlns:a16="http://schemas.microsoft.com/office/drawing/2014/main" id="{1267A78E-D4D5-72DB-F146-4F62F387B338}"/>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1" name="TextBox 40">
            <a:extLst>
              <a:ext uri="{FF2B5EF4-FFF2-40B4-BE49-F238E27FC236}">
                <a16:creationId xmlns:a16="http://schemas.microsoft.com/office/drawing/2014/main" id="{C9202BB9-8383-FAE2-B12D-9827371251E0}"/>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2" name="TextBox 41">
            <a:extLst>
              <a:ext uri="{FF2B5EF4-FFF2-40B4-BE49-F238E27FC236}">
                <a16:creationId xmlns:a16="http://schemas.microsoft.com/office/drawing/2014/main" id="{7BD9C3B2-596D-FE80-A446-BE95C4E06A07}"/>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3" name="Rectangle 42">
            <a:extLst>
              <a:ext uri="{FF2B5EF4-FFF2-40B4-BE49-F238E27FC236}">
                <a16:creationId xmlns:a16="http://schemas.microsoft.com/office/drawing/2014/main" id="{B38BD5CD-8E3F-2A50-FCFA-A4775288AC12}"/>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
        <p:nvSpPr>
          <p:cNvPr id="44" name="Rectangle 43">
            <a:extLst>
              <a:ext uri="{FF2B5EF4-FFF2-40B4-BE49-F238E27FC236}">
                <a16:creationId xmlns:a16="http://schemas.microsoft.com/office/drawing/2014/main" id="{21874E27-6CEA-287E-DEE5-500D4E377030}"/>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1416593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A5589635-494C-4379-9C58-3610A14C510D}"/>
              </a:ext>
            </a:extLst>
          </p:cNvPr>
          <p:cNvSpPr txBox="1"/>
          <p:nvPr/>
        </p:nvSpPr>
        <p:spPr>
          <a:xfrm>
            <a:off x="986664" y="253581"/>
            <a:ext cx="7894841" cy="584775"/>
          </a:xfrm>
          <a:prstGeom prst="rect">
            <a:avLst/>
          </a:prstGeom>
          <a:noFill/>
        </p:spPr>
        <p:txBody>
          <a:bodyPr wrap="square" lIns="91440" tIns="45720" rIns="91440" bIns="45720" rtlCol="0" anchor="t">
            <a:spAutoFit/>
          </a:bodyPr>
          <a:lstStyle/>
          <a:p>
            <a:r>
              <a:rPr lang="en-US" sz="3200" b="1" spc="-10">
                <a:solidFill>
                  <a:schemeClr val="tx1">
                    <a:lumMod val="75000"/>
                    <a:lumOff val="25000"/>
                  </a:schemeClr>
                </a:solidFill>
                <a:latin typeface="Segoe UI" pitchFamily="34" charset="0"/>
                <a:cs typeface="Lato Light" panose="020F0402020204030203" pitchFamily="34" charset="0"/>
              </a:rPr>
              <a:t>THE </a:t>
            </a:r>
            <a:r>
              <a:rPr lang="en-US" sz="3200" b="1" spc="-10">
                <a:solidFill>
                  <a:srgbClr val="00C27A"/>
                </a:solidFill>
                <a:latin typeface="Segoe UI" pitchFamily="34" charset="0"/>
                <a:cs typeface="Lato Light" panose="020F0402020204030203" pitchFamily="34" charset="0"/>
              </a:rPr>
              <a:t>EVIDENCE </a:t>
            </a:r>
            <a:r>
              <a:rPr lang="en-US" sz="3200" b="1" spc="-10">
                <a:solidFill>
                  <a:schemeClr val="tx1">
                    <a:lumMod val="75000"/>
                    <a:lumOff val="25000"/>
                  </a:schemeClr>
                </a:solidFill>
                <a:latin typeface="Segoe UI" pitchFamily="34" charset="0"/>
                <a:cs typeface="Lato Light" panose="020F0402020204030203" pitchFamily="34" charset="0"/>
              </a:rPr>
              <a:t>MOSAIC</a:t>
            </a:r>
            <a:endParaRPr lang="en-US" sz="3200" b="1" spc="-10">
              <a:solidFill>
                <a:schemeClr val="tx1">
                  <a:lumMod val="75000"/>
                  <a:lumOff val="25000"/>
                </a:schemeClr>
              </a:solidFill>
              <a:latin typeface="Segoe UI" pitchFamily="34" charset="0"/>
              <a:ea typeface="Lato" panose="020F0502020204030203" pitchFamily="34" charset="0"/>
              <a:cs typeface="Lato" panose="020F0502020204030203" pitchFamily="34" charset="0"/>
            </a:endParaRPr>
          </a:p>
        </p:txBody>
      </p:sp>
      <p:pic>
        <p:nvPicPr>
          <p:cNvPr id="12" name="Picture 11">
            <a:extLst>
              <a:ext uri="{FF2B5EF4-FFF2-40B4-BE49-F238E27FC236}">
                <a16:creationId xmlns:a16="http://schemas.microsoft.com/office/drawing/2014/main" id="{2277E256-E31F-4B71-8BE7-1A67E49D5E83}"/>
              </a:ext>
            </a:extLst>
          </p:cNvPr>
          <p:cNvPicPr>
            <a:picLocks noChangeAspect="1"/>
          </p:cNvPicPr>
          <p:nvPr/>
        </p:nvPicPr>
        <p:blipFill rotWithShape="1">
          <a:blip r:embed="rId2">
            <a:duotone>
              <a:srgbClr val="765FFF"/>
              <a:srgbClr val="FFFFFF"/>
            </a:duotone>
          </a:blip>
          <a:srcRect t="14585"/>
          <a:stretch/>
        </p:blipFill>
        <p:spPr>
          <a:xfrm>
            <a:off x="6095999" y="2185850"/>
            <a:ext cx="4923232" cy="2865757"/>
          </a:xfrm>
          <a:prstGeom prst="rect">
            <a:avLst/>
          </a:prstGeom>
          <a:ln>
            <a:noFill/>
          </a:ln>
          <a:effectLst>
            <a:outerShdw blurRad="292100" dist="139700" dir="2700000" algn="tl" rotWithShape="0">
              <a:srgbClr val="3B3B3B">
                <a:alpha val="65000"/>
              </a:srgbClr>
            </a:outerShdw>
          </a:effectLst>
        </p:spPr>
      </p:pic>
      <p:sp>
        <p:nvSpPr>
          <p:cNvPr id="13" name="Freeform 162">
            <a:extLst>
              <a:ext uri="{FF2B5EF4-FFF2-40B4-BE49-F238E27FC236}">
                <a16:creationId xmlns:a16="http://schemas.microsoft.com/office/drawing/2014/main" id="{9445FCAA-1E6E-4F5C-85DC-45AF81081684}"/>
              </a:ext>
            </a:extLst>
          </p:cNvPr>
          <p:cNvSpPr/>
          <p:nvPr/>
        </p:nvSpPr>
        <p:spPr>
          <a:xfrm>
            <a:off x="4536017" y="3423055"/>
            <a:ext cx="946545" cy="632402"/>
          </a:xfrm>
          <a:custGeom>
            <a:avLst/>
            <a:gdLst>
              <a:gd name="connsiteX0" fmla="*/ 1135506 w 1705111"/>
              <a:gd name="connsiteY0" fmla="*/ 0 h 1139211"/>
              <a:gd name="connsiteX1" fmla="*/ 1705111 w 1705111"/>
              <a:gd name="connsiteY1" fmla="*/ 569606 h 1139211"/>
              <a:gd name="connsiteX2" fmla="*/ 1135506 w 1705111"/>
              <a:gd name="connsiteY2" fmla="*/ 1139211 h 1139211"/>
              <a:gd name="connsiteX3" fmla="*/ 993400 w 1705111"/>
              <a:gd name="connsiteY3" fmla="*/ 997105 h 1139211"/>
              <a:gd name="connsiteX4" fmla="*/ 1316392 w 1705111"/>
              <a:gd name="connsiteY4" fmla="*/ 674112 h 1139211"/>
              <a:gd name="connsiteX5" fmla="*/ 0 w 1705111"/>
              <a:gd name="connsiteY5" fmla="*/ 674112 h 1139211"/>
              <a:gd name="connsiteX6" fmla="*/ 0 w 1705111"/>
              <a:gd name="connsiteY6" fmla="*/ 465098 h 1139211"/>
              <a:gd name="connsiteX7" fmla="*/ 1316393 w 1705111"/>
              <a:gd name="connsiteY7" fmla="*/ 465098 h 1139211"/>
              <a:gd name="connsiteX8" fmla="*/ 993401 w 1705111"/>
              <a:gd name="connsiteY8" fmla="*/ 142106 h 1139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5111" h="1139211">
                <a:moveTo>
                  <a:pt x="1135506" y="0"/>
                </a:moveTo>
                <a:lnTo>
                  <a:pt x="1705111" y="569606"/>
                </a:lnTo>
                <a:lnTo>
                  <a:pt x="1135506" y="1139211"/>
                </a:lnTo>
                <a:lnTo>
                  <a:pt x="993400" y="997105"/>
                </a:lnTo>
                <a:lnTo>
                  <a:pt x="1316392" y="674112"/>
                </a:lnTo>
                <a:lnTo>
                  <a:pt x="0" y="674112"/>
                </a:lnTo>
                <a:lnTo>
                  <a:pt x="0" y="465098"/>
                </a:lnTo>
                <a:lnTo>
                  <a:pt x="1316393" y="465098"/>
                </a:lnTo>
                <a:lnTo>
                  <a:pt x="993401" y="142106"/>
                </a:lnTo>
                <a:close/>
              </a:path>
            </a:pathLst>
          </a:cu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14" name="Rectangle 13">
            <a:extLst>
              <a:ext uri="{FF2B5EF4-FFF2-40B4-BE49-F238E27FC236}">
                <a16:creationId xmlns:a16="http://schemas.microsoft.com/office/drawing/2014/main" id="{1C2CD3B7-69D8-41EC-B953-485C7DC0EB91}"/>
              </a:ext>
            </a:extLst>
          </p:cNvPr>
          <p:cNvSpPr/>
          <p:nvPr/>
        </p:nvSpPr>
        <p:spPr>
          <a:xfrm>
            <a:off x="986664" y="1463124"/>
            <a:ext cx="3289376" cy="4552263"/>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spc="-10" dirty="0">
                <a:solidFill>
                  <a:srgbClr val="00C27A"/>
                </a:solidFill>
                <a:latin typeface="Segoe UI" pitchFamily="34" charset="0"/>
                <a:ea typeface="Lato"/>
                <a:cs typeface="Lato"/>
              </a:rPr>
              <a:t>PSYCHOMETRIC ASSESSMENT</a:t>
            </a:r>
          </a:p>
          <a:p>
            <a:pPr algn="ctr"/>
            <a:endParaRPr lang="en-US" sz="2000" b="1" spc="-10" dirty="0">
              <a:solidFill>
                <a:srgbClr val="00C27A"/>
              </a:solidFill>
              <a:latin typeface="Segoe UI" pitchFamily="34" charset="0"/>
            </a:endParaRPr>
          </a:p>
          <a:p>
            <a:pPr marL="285750" indent="-285750">
              <a:buFont typeface="Arial" panose="020B0604020202020204" pitchFamily="34" charset="0"/>
              <a:buChar char="•"/>
            </a:pPr>
            <a:r>
              <a:rPr lang="en-US" spc="-10" dirty="0">
                <a:solidFill>
                  <a:schemeClr val="tx1">
                    <a:lumMod val="75000"/>
                    <a:lumOff val="25000"/>
                  </a:schemeClr>
                </a:solidFill>
                <a:latin typeface="Arial" pitchFamily="34" charset="0"/>
                <a:ea typeface="Lato"/>
                <a:cs typeface="Lato"/>
              </a:rPr>
              <a:t>Compare findings from the Hogan assessment to the future Jobs to be Done for the role</a:t>
            </a:r>
          </a:p>
          <a:p>
            <a:endParaRPr lang="en-US" spc="-10" dirty="0">
              <a:solidFill>
                <a:schemeClr val="tx1">
                  <a:lumMod val="75000"/>
                  <a:lumOff val="25000"/>
                </a:schemeClr>
              </a:solidFill>
              <a:latin typeface="Arial" pitchFamily="34" charset="0"/>
            </a:endParaRPr>
          </a:p>
          <a:p>
            <a:pPr marL="285750" indent="-285750">
              <a:buFont typeface="Arial" panose="020B0604020202020204" pitchFamily="34" charset="0"/>
              <a:buChar char="•"/>
            </a:pPr>
            <a:r>
              <a:rPr lang="en-US" spc="-10" dirty="0">
                <a:solidFill>
                  <a:schemeClr val="tx1">
                    <a:lumMod val="75000"/>
                    <a:lumOff val="25000"/>
                  </a:schemeClr>
                </a:solidFill>
                <a:latin typeface="Arial" pitchFamily="34" charset="0"/>
                <a:ea typeface="Lato"/>
                <a:cs typeface="Lato"/>
              </a:rPr>
              <a:t>Identify strengths and weaknesses against the role requirements</a:t>
            </a:r>
          </a:p>
          <a:p>
            <a:pPr marL="285750" indent="-285750">
              <a:buFont typeface="Arial" panose="020B0604020202020204" pitchFamily="34" charset="0"/>
              <a:buChar char="•"/>
            </a:pPr>
            <a:endParaRPr lang="en-US" spc="-10" dirty="0">
              <a:solidFill>
                <a:schemeClr val="tx1">
                  <a:lumMod val="75000"/>
                  <a:lumOff val="25000"/>
                </a:schemeClr>
              </a:solidFill>
              <a:latin typeface="Arial" pitchFamily="34" charset="0"/>
              <a:ea typeface="Lato"/>
              <a:cs typeface="Lato"/>
            </a:endParaRPr>
          </a:p>
          <a:p>
            <a:pPr marL="285750" indent="-285750">
              <a:buFont typeface="Arial" panose="020B0604020202020204" pitchFamily="34" charset="0"/>
              <a:buChar char="•"/>
            </a:pPr>
            <a:r>
              <a:rPr lang="en-US" spc="-10" dirty="0">
                <a:solidFill>
                  <a:schemeClr val="tx1">
                    <a:lumMod val="75000"/>
                    <a:lumOff val="25000"/>
                  </a:schemeClr>
                </a:solidFill>
                <a:latin typeface="Arial" pitchFamily="34" charset="0"/>
                <a:ea typeface="Lato"/>
                <a:cs typeface="Lato"/>
              </a:rPr>
              <a:t>Identify potential derailers against the future JTBD and role/work challenges</a:t>
            </a:r>
          </a:p>
        </p:txBody>
      </p:sp>
      <p:sp>
        <p:nvSpPr>
          <p:cNvPr id="3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39</a:t>
            </a:fld>
            <a:endParaRPr lang="en-US"/>
          </a:p>
        </p:txBody>
      </p:sp>
      <p:grpSp>
        <p:nvGrpSpPr>
          <p:cNvPr id="2" name="Group 1">
            <a:extLst>
              <a:ext uri="{FF2B5EF4-FFF2-40B4-BE49-F238E27FC236}">
                <a16:creationId xmlns:a16="http://schemas.microsoft.com/office/drawing/2014/main" id="{A2EEC679-C0BC-7DD8-1837-CDFD201FE698}"/>
              </a:ext>
            </a:extLst>
          </p:cNvPr>
          <p:cNvGrpSpPr/>
          <p:nvPr/>
        </p:nvGrpSpPr>
        <p:grpSpPr>
          <a:xfrm>
            <a:off x="10403235" y="201614"/>
            <a:ext cx="410690" cy="410700"/>
            <a:chOff x="3506617" y="2730959"/>
            <a:chExt cx="1591098" cy="1591098"/>
          </a:xfrm>
        </p:grpSpPr>
        <p:sp>
          <p:nvSpPr>
            <p:cNvPr id="3" name="Rectangle: Rounded Corners 39">
              <a:extLst>
                <a:ext uri="{FF2B5EF4-FFF2-40B4-BE49-F238E27FC236}">
                  <a16:creationId xmlns:a16="http://schemas.microsoft.com/office/drawing/2014/main" id="{BFBB6D42-8955-52DE-BC89-9835CEF2075A}"/>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 name="Rectangle: Rounded Corners 54">
              <a:extLst>
                <a:ext uri="{FF2B5EF4-FFF2-40B4-BE49-F238E27FC236}">
                  <a16:creationId xmlns:a16="http://schemas.microsoft.com/office/drawing/2014/main" id="{1323784B-C539-420A-B708-A18B144870B8}"/>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 name="Freeform 56" descr="Clipboard Partially Checked with solid fill">
              <a:extLst>
                <a:ext uri="{FF2B5EF4-FFF2-40B4-BE49-F238E27FC236}">
                  <a16:creationId xmlns:a16="http://schemas.microsoft.com/office/drawing/2014/main" id="{D125E3D7-E996-CDA4-44C3-65E89ABDA60D}"/>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3"/>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6" name="Group 5">
            <a:extLst>
              <a:ext uri="{FF2B5EF4-FFF2-40B4-BE49-F238E27FC236}">
                <a16:creationId xmlns:a16="http://schemas.microsoft.com/office/drawing/2014/main" id="{CAF11A6B-32FA-F907-226E-A2E0A4230C0C}"/>
              </a:ext>
            </a:extLst>
          </p:cNvPr>
          <p:cNvGrpSpPr/>
          <p:nvPr/>
        </p:nvGrpSpPr>
        <p:grpSpPr>
          <a:xfrm>
            <a:off x="11557682" y="191038"/>
            <a:ext cx="410690" cy="410700"/>
            <a:chOff x="8874309" y="3009260"/>
            <a:chExt cx="1591098" cy="1591098"/>
          </a:xfrm>
        </p:grpSpPr>
        <p:grpSp>
          <p:nvGrpSpPr>
            <p:cNvPr id="7" name="Group 6">
              <a:extLst>
                <a:ext uri="{FF2B5EF4-FFF2-40B4-BE49-F238E27FC236}">
                  <a16:creationId xmlns:a16="http://schemas.microsoft.com/office/drawing/2014/main" id="{F7103EF5-14CF-83C2-DE35-0BA100A88752}"/>
                </a:ext>
              </a:extLst>
            </p:cNvPr>
            <p:cNvGrpSpPr/>
            <p:nvPr/>
          </p:nvGrpSpPr>
          <p:grpSpPr>
            <a:xfrm>
              <a:off x="8874309" y="3009260"/>
              <a:ext cx="1591098" cy="1591098"/>
              <a:chOff x="9350370" y="2760976"/>
              <a:chExt cx="1591098" cy="1591098"/>
            </a:xfrm>
          </p:grpSpPr>
          <p:sp>
            <p:nvSpPr>
              <p:cNvPr id="9" name="Rectangle: Rounded Corners 39">
                <a:extLst>
                  <a:ext uri="{FF2B5EF4-FFF2-40B4-BE49-F238E27FC236}">
                    <a16:creationId xmlns:a16="http://schemas.microsoft.com/office/drawing/2014/main" id="{207157A9-A3B2-305E-C62E-E6A03D92F1E5}"/>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0" name="Rectangle: Rounded Corners 54">
                <a:extLst>
                  <a:ext uri="{FF2B5EF4-FFF2-40B4-BE49-F238E27FC236}">
                    <a16:creationId xmlns:a16="http://schemas.microsoft.com/office/drawing/2014/main" id="{35199327-4682-7514-AEB3-470006B2B8B8}"/>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8" name="Picture 51" descr="Map with pin with solid fill">
              <a:extLst>
                <a:ext uri="{FF2B5EF4-FFF2-40B4-BE49-F238E27FC236}">
                  <a16:creationId xmlns:a16="http://schemas.microsoft.com/office/drawing/2014/main" id="{56EB0D9F-D6CD-40D4-9B22-B226E61729F2}"/>
                </a:ext>
              </a:extLst>
            </p:cNvPr>
            <p:cNvPicPr>
              <a:picLocks noChangeAspect="1"/>
            </p:cNvPicPr>
            <p:nvPr/>
          </p:nvPicPr>
          <p:blipFill>
            <a:blip r:embed="rId4">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5" name="Group 14">
            <a:extLst>
              <a:ext uri="{FF2B5EF4-FFF2-40B4-BE49-F238E27FC236}">
                <a16:creationId xmlns:a16="http://schemas.microsoft.com/office/drawing/2014/main" id="{6142B7ED-8CD0-6933-F405-D1704A8A9893}"/>
              </a:ext>
            </a:extLst>
          </p:cNvPr>
          <p:cNvGrpSpPr/>
          <p:nvPr/>
        </p:nvGrpSpPr>
        <p:grpSpPr>
          <a:xfrm>
            <a:off x="10997361" y="200955"/>
            <a:ext cx="410690" cy="410700"/>
            <a:chOff x="5303120" y="3009260"/>
            <a:chExt cx="1591098" cy="1591098"/>
          </a:xfrm>
        </p:grpSpPr>
        <p:grpSp>
          <p:nvGrpSpPr>
            <p:cNvPr id="36" name="Group 35">
              <a:extLst>
                <a:ext uri="{FF2B5EF4-FFF2-40B4-BE49-F238E27FC236}">
                  <a16:creationId xmlns:a16="http://schemas.microsoft.com/office/drawing/2014/main" id="{F3AEBFEA-BB33-5C42-AB0E-644E52FD7450}"/>
                </a:ext>
              </a:extLst>
            </p:cNvPr>
            <p:cNvGrpSpPr/>
            <p:nvPr/>
          </p:nvGrpSpPr>
          <p:grpSpPr>
            <a:xfrm>
              <a:off x="5303120" y="3009260"/>
              <a:ext cx="1591098" cy="1591098"/>
              <a:chOff x="6428492" y="2760976"/>
              <a:chExt cx="1591098" cy="1591098"/>
            </a:xfrm>
          </p:grpSpPr>
          <p:sp>
            <p:nvSpPr>
              <p:cNvPr id="38" name="Rectangle: Rounded Corners 39">
                <a:extLst>
                  <a:ext uri="{FF2B5EF4-FFF2-40B4-BE49-F238E27FC236}">
                    <a16:creationId xmlns:a16="http://schemas.microsoft.com/office/drawing/2014/main" id="{5A4B9F31-CE10-6E15-E701-7176FC90AF7F}"/>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9" name="Rectangle: Rounded Corners 54">
                <a:extLst>
                  <a:ext uri="{FF2B5EF4-FFF2-40B4-BE49-F238E27FC236}">
                    <a16:creationId xmlns:a16="http://schemas.microsoft.com/office/drawing/2014/main" id="{A77806E6-C7A1-64AF-88D5-ECA4DC1967DB}"/>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7" name="Graphic 22" descr="Target Audience with solid fill">
              <a:extLst>
                <a:ext uri="{FF2B5EF4-FFF2-40B4-BE49-F238E27FC236}">
                  <a16:creationId xmlns:a16="http://schemas.microsoft.com/office/drawing/2014/main" id="{EF6C4E9F-F393-B9AD-3E01-E1BD7B0A10A6}"/>
                </a:ext>
              </a:extLst>
            </p:cNvPr>
            <p:cNvPicPr>
              <a:picLocks noChangeAspect="1"/>
            </p:cNvPicPr>
            <p:nvPr/>
          </p:nvPicPr>
          <p:blipFill>
            <a:blip r:embed="rId5">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0" name="TextBox 39">
            <a:extLst>
              <a:ext uri="{FF2B5EF4-FFF2-40B4-BE49-F238E27FC236}">
                <a16:creationId xmlns:a16="http://schemas.microsoft.com/office/drawing/2014/main" id="{51071FE7-3299-AC4B-AA16-75C12B3C4A34}"/>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1" name="TextBox 40">
            <a:extLst>
              <a:ext uri="{FF2B5EF4-FFF2-40B4-BE49-F238E27FC236}">
                <a16:creationId xmlns:a16="http://schemas.microsoft.com/office/drawing/2014/main" id="{F7D9566E-CC66-9E1C-4B8A-4169ABF4517F}"/>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2" name="TextBox 41">
            <a:extLst>
              <a:ext uri="{FF2B5EF4-FFF2-40B4-BE49-F238E27FC236}">
                <a16:creationId xmlns:a16="http://schemas.microsoft.com/office/drawing/2014/main" id="{51806BBC-48C7-8FB2-08B9-482D14A6162C}"/>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3" name="Rectangle 42">
            <a:extLst>
              <a:ext uri="{FF2B5EF4-FFF2-40B4-BE49-F238E27FC236}">
                <a16:creationId xmlns:a16="http://schemas.microsoft.com/office/drawing/2014/main" id="{CA6DB967-693A-E834-7EB4-E6B9D8FC8FA0}"/>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
        <p:nvSpPr>
          <p:cNvPr id="44" name="Rectangle 43">
            <a:extLst>
              <a:ext uri="{FF2B5EF4-FFF2-40B4-BE49-F238E27FC236}">
                <a16:creationId xmlns:a16="http://schemas.microsoft.com/office/drawing/2014/main" id="{12A84E82-B93A-126B-EF55-40D8AE9C88EE}"/>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537144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A5589635-494C-4379-9C58-3610A14C510D}"/>
              </a:ext>
            </a:extLst>
          </p:cNvPr>
          <p:cNvSpPr txBox="1"/>
          <p:nvPr/>
        </p:nvSpPr>
        <p:spPr>
          <a:xfrm>
            <a:off x="1008281" y="253581"/>
            <a:ext cx="7894841" cy="584775"/>
          </a:xfrm>
          <a:prstGeom prst="rect">
            <a:avLst/>
          </a:prstGeom>
          <a:noFill/>
        </p:spPr>
        <p:txBody>
          <a:bodyPr wrap="square" lIns="91440" tIns="45720" rIns="91440" bIns="45720" rtlCol="0" anchor="t">
            <a:spAutoFit/>
          </a:bodyPr>
          <a:lstStyle/>
          <a:p>
            <a:r>
              <a:rPr lang="en-US" sz="3200" b="1" spc="-10">
                <a:solidFill>
                  <a:schemeClr val="tx1">
                    <a:lumMod val="75000"/>
                    <a:lumOff val="25000"/>
                  </a:schemeClr>
                </a:solidFill>
                <a:latin typeface="Segoe UI" pitchFamily="34" charset="0"/>
                <a:cs typeface="Lato Light" panose="020F0402020204030203" pitchFamily="34" charset="0"/>
              </a:rPr>
              <a:t>THE </a:t>
            </a:r>
            <a:r>
              <a:rPr lang="en-US" sz="3200" b="1" spc="-10">
                <a:solidFill>
                  <a:srgbClr val="00C27A"/>
                </a:solidFill>
                <a:latin typeface="Segoe UI" pitchFamily="34" charset="0"/>
                <a:cs typeface="Lato Light" panose="020F0402020204030203" pitchFamily="34" charset="0"/>
              </a:rPr>
              <a:t>EVIDENCE </a:t>
            </a:r>
            <a:r>
              <a:rPr lang="en-US" sz="3200" b="1" spc="-10">
                <a:solidFill>
                  <a:schemeClr val="tx1">
                    <a:lumMod val="75000"/>
                    <a:lumOff val="25000"/>
                  </a:schemeClr>
                </a:solidFill>
                <a:latin typeface="Segoe UI" pitchFamily="34" charset="0"/>
                <a:cs typeface="Lato Light" panose="020F0402020204030203" pitchFamily="34" charset="0"/>
              </a:rPr>
              <a:t>MOSAIC</a:t>
            </a:r>
            <a:endParaRPr lang="en-US" sz="3200" b="1" spc="-10">
              <a:solidFill>
                <a:schemeClr val="tx1">
                  <a:lumMod val="75000"/>
                  <a:lumOff val="25000"/>
                </a:schemeClr>
              </a:solidFill>
              <a:latin typeface="Segoe UI" pitchFamily="34" charset="0"/>
              <a:ea typeface="Lato" panose="020F0502020204030203" pitchFamily="34" charset="0"/>
              <a:cs typeface="Lato" panose="020F0502020204030203" pitchFamily="34" charset="0"/>
            </a:endParaRPr>
          </a:p>
        </p:txBody>
      </p:sp>
      <p:pic>
        <p:nvPicPr>
          <p:cNvPr id="10" name="Picture 9">
            <a:extLst>
              <a:ext uri="{FF2B5EF4-FFF2-40B4-BE49-F238E27FC236}">
                <a16:creationId xmlns:a16="http://schemas.microsoft.com/office/drawing/2014/main" id="{89CDDDE1-5C93-4E14-B1B4-8837B4BA2AF5}"/>
              </a:ext>
            </a:extLst>
          </p:cNvPr>
          <p:cNvPicPr>
            <a:picLocks noChangeAspect="1"/>
          </p:cNvPicPr>
          <p:nvPr/>
        </p:nvPicPr>
        <p:blipFill rotWithShape="1">
          <a:blip r:embed="rId3">
            <a:duotone>
              <a:srgbClr val="765FFF"/>
              <a:srgbClr val="FFFFFF"/>
            </a:duotone>
          </a:blip>
          <a:srcRect l="14321" t="22916" r="13041" b="6896"/>
          <a:stretch/>
        </p:blipFill>
        <p:spPr>
          <a:xfrm>
            <a:off x="6592388" y="2455817"/>
            <a:ext cx="2943497" cy="2629989"/>
          </a:xfrm>
          <a:prstGeom prst="rect">
            <a:avLst/>
          </a:prstGeom>
          <a:ln>
            <a:noFill/>
          </a:ln>
          <a:effectLst>
            <a:outerShdw blurRad="292100" dist="139700" dir="2700000" algn="tl" rotWithShape="0">
              <a:srgbClr val="3B3B3B">
                <a:alpha val="65000"/>
              </a:srgbClr>
            </a:outerShdw>
          </a:effectLst>
        </p:spPr>
      </p:pic>
      <p:sp>
        <p:nvSpPr>
          <p:cNvPr id="12" name="Freeform 162">
            <a:extLst>
              <a:ext uri="{FF2B5EF4-FFF2-40B4-BE49-F238E27FC236}">
                <a16:creationId xmlns:a16="http://schemas.microsoft.com/office/drawing/2014/main" id="{4024119C-D7E4-4F9D-BD79-5D2CBCB760C6}"/>
              </a:ext>
            </a:extLst>
          </p:cNvPr>
          <p:cNvSpPr/>
          <p:nvPr/>
        </p:nvSpPr>
        <p:spPr>
          <a:xfrm>
            <a:off x="4952145" y="3682459"/>
            <a:ext cx="946545" cy="632402"/>
          </a:xfrm>
          <a:custGeom>
            <a:avLst/>
            <a:gdLst>
              <a:gd name="connsiteX0" fmla="*/ 1135506 w 1705111"/>
              <a:gd name="connsiteY0" fmla="*/ 0 h 1139211"/>
              <a:gd name="connsiteX1" fmla="*/ 1705111 w 1705111"/>
              <a:gd name="connsiteY1" fmla="*/ 569606 h 1139211"/>
              <a:gd name="connsiteX2" fmla="*/ 1135506 w 1705111"/>
              <a:gd name="connsiteY2" fmla="*/ 1139211 h 1139211"/>
              <a:gd name="connsiteX3" fmla="*/ 993400 w 1705111"/>
              <a:gd name="connsiteY3" fmla="*/ 997105 h 1139211"/>
              <a:gd name="connsiteX4" fmla="*/ 1316392 w 1705111"/>
              <a:gd name="connsiteY4" fmla="*/ 674112 h 1139211"/>
              <a:gd name="connsiteX5" fmla="*/ 0 w 1705111"/>
              <a:gd name="connsiteY5" fmla="*/ 674112 h 1139211"/>
              <a:gd name="connsiteX6" fmla="*/ 0 w 1705111"/>
              <a:gd name="connsiteY6" fmla="*/ 465098 h 1139211"/>
              <a:gd name="connsiteX7" fmla="*/ 1316393 w 1705111"/>
              <a:gd name="connsiteY7" fmla="*/ 465098 h 1139211"/>
              <a:gd name="connsiteX8" fmla="*/ 993401 w 1705111"/>
              <a:gd name="connsiteY8" fmla="*/ 142106 h 1139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5111" h="1139211">
                <a:moveTo>
                  <a:pt x="1135506" y="0"/>
                </a:moveTo>
                <a:lnTo>
                  <a:pt x="1705111" y="569606"/>
                </a:lnTo>
                <a:lnTo>
                  <a:pt x="1135506" y="1139211"/>
                </a:lnTo>
                <a:lnTo>
                  <a:pt x="993400" y="997105"/>
                </a:lnTo>
                <a:lnTo>
                  <a:pt x="1316392" y="674112"/>
                </a:lnTo>
                <a:lnTo>
                  <a:pt x="0" y="674112"/>
                </a:lnTo>
                <a:lnTo>
                  <a:pt x="0" y="465098"/>
                </a:lnTo>
                <a:lnTo>
                  <a:pt x="1316393" y="465098"/>
                </a:lnTo>
                <a:lnTo>
                  <a:pt x="993401" y="142106"/>
                </a:lnTo>
                <a:close/>
              </a:path>
            </a:pathLst>
          </a:cu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13" name="Rectangle 12">
            <a:extLst>
              <a:ext uri="{FF2B5EF4-FFF2-40B4-BE49-F238E27FC236}">
                <a16:creationId xmlns:a16="http://schemas.microsoft.com/office/drawing/2014/main" id="{3D23CF7C-23C8-47CD-BC0E-2E1D013158A1}"/>
              </a:ext>
            </a:extLst>
          </p:cNvPr>
          <p:cNvSpPr/>
          <p:nvPr/>
        </p:nvSpPr>
        <p:spPr>
          <a:xfrm>
            <a:off x="1009877" y="1436370"/>
            <a:ext cx="3412833" cy="4680796"/>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spc="-10">
                <a:solidFill>
                  <a:srgbClr val="00C27A"/>
                </a:solidFill>
                <a:latin typeface="Segoe UI" pitchFamily="34" charset="0"/>
                <a:ea typeface="Lato"/>
                <a:cs typeface="Lato"/>
              </a:rPr>
              <a:t>ENGAGEMENT SURVEYS</a:t>
            </a:r>
          </a:p>
          <a:p>
            <a:pPr algn="ctr"/>
            <a:endParaRPr lang="en-US" sz="2000" b="1" spc="-10">
              <a:solidFill>
                <a:srgbClr val="00C27A"/>
              </a:solidFill>
              <a:latin typeface="Segoe UI" pitchFamily="34" charset="0"/>
            </a:endParaRPr>
          </a:p>
          <a:p>
            <a:pPr marL="285750" indent="-285750">
              <a:buFont typeface="Arial" panose="020B0604020202020204" pitchFamily="34" charset="0"/>
              <a:buChar char="•"/>
            </a:pPr>
            <a:r>
              <a:rPr lang="en-US" spc="-10">
                <a:solidFill>
                  <a:schemeClr val="tx1">
                    <a:lumMod val="75000"/>
                    <a:lumOff val="25000"/>
                  </a:schemeClr>
                </a:solidFill>
                <a:latin typeface="Arial" pitchFamily="34" charset="0"/>
                <a:ea typeface="Lato"/>
                <a:cs typeface="Lato"/>
              </a:rPr>
              <a:t>Provide insights into the morale and engagement of the successor’s direct reports and downstream employees</a:t>
            </a:r>
          </a:p>
          <a:p>
            <a:endParaRPr lang="en-US" spc="-10">
              <a:solidFill>
                <a:schemeClr val="tx1">
                  <a:lumMod val="75000"/>
                  <a:lumOff val="25000"/>
                </a:schemeClr>
              </a:solidFill>
              <a:latin typeface="Arial" pitchFamily="34" charset="0"/>
            </a:endParaRPr>
          </a:p>
          <a:p>
            <a:pPr marL="285750" indent="-285750">
              <a:buFont typeface="Arial" panose="020B0604020202020204" pitchFamily="34" charset="0"/>
              <a:buChar char="•"/>
            </a:pPr>
            <a:r>
              <a:rPr lang="en-US" spc="-10">
                <a:solidFill>
                  <a:schemeClr val="tx1">
                    <a:lumMod val="75000"/>
                    <a:lumOff val="25000"/>
                  </a:schemeClr>
                </a:solidFill>
                <a:latin typeface="Arial" pitchFamily="34" charset="0"/>
                <a:ea typeface="Lato"/>
                <a:cs typeface="Lato"/>
              </a:rPr>
              <a:t>Project any trends and tendencies to the next role’s organization</a:t>
            </a:r>
          </a:p>
        </p:txBody>
      </p:sp>
      <p:sp>
        <p:nvSpPr>
          <p:cNvPr id="3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40</a:t>
            </a:fld>
            <a:endParaRPr lang="en-US"/>
          </a:p>
        </p:txBody>
      </p:sp>
      <p:grpSp>
        <p:nvGrpSpPr>
          <p:cNvPr id="2" name="Group 1">
            <a:extLst>
              <a:ext uri="{FF2B5EF4-FFF2-40B4-BE49-F238E27FC236}">
                <a16:creationId xmlns:a16="http://schemas.microsoft.com/office/drawing/2014/main" id="{9267F54B-5BFF-82B1-8B04-58D18478DF30}"/>
              </a:ext>
            </a:extLst>
          </p:cNvPr>
          <p:cNvGrpSpPr/>
          <p:nvPr/>
        </p:nvGrpSpPr>
        <p:grpSpPr>
          <a:xfrm>
            <a:off x="10403235" y="201614"/>
            <a:ext cx="410690" cy="410700"/>
            <a:chOff x="3506617" y="2730959"/>
            <a:chExt cx="1591098" cy="1591098"/>
          </a:xfrm>
        </p:grpSpPr>
        <p:sp>
          <p:nvSpPr>
            <p:cNvPr id="3" name="Rectangle: Rounded Corners 39">
              <a:extLst>
                <a:ext uri="{FF2B5EF4-FFF2-40B4-BE49-F238E27FC236}">
                  <a16:creationId xmlns:a16="http://schemas.microsoft.com/office/drawing/2014/main" id="{BF1539D3-FD79-E321-63C0-1EF690882D72}"/>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 name="Rectangle: Rounded Corners 54">
              <a:extLst>
                <a:ext uri="{FF2B5EF4-FFF2-40B4-BE49-F238E27FC236}">
                  <a16:creationId xmlns:a16="http://schemas.microsoft.com/office/drawing/2014/main" id="{F97D2900-915D-D0A4-775B-92E56C3F5AAD}"/>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 name="Freeform 56" descr="Clipboard Partially Checked with solid fill">
              <a:extLst>
                <a:ext uri="{FF2B5EF4-FFF2-40B4-BE49-F238E27FC236}">
                  <a16:creationId xmlns:a16="http://schemas.microsoft.com/office/drawing/2014/main" id="{3B892706-DC6B-2AAC-5FE5-129F87583E02}"/>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6" name="Group 5">
            <a:extLst>
              <a:ext uri="{FF2B5EF4-FFF2-40B4-BE49-F238E27FC236}">
                <a16:creationId xmlns:a16="http://schemas.microsoft.com/office/drawing/2014/main" id="{6BE498E5-F883-BDAD-75E9-2E3C4FE5B5BD}"/>
              </a:ext>
            </a:extLst>
          </p:cNvPr>
          <p:cNvGrpSpPr/>
          <p:nvPr/>
        </p:nvGrpSpPr>
        <p:grpSpPr>
          <a:xfrm>
            <a:off x="11557682" y="191038"/>
            <a:ext cx="410690" cy="410700"/>
            <a:chOff x="8874309" y="3009260"/>
            <a:chExt cx="1591098" cy="1591098"/>
          </a:xfrm>
        </p:grpSpPr>
        <p:grpSp>
          <p:nvGrpSpPr>
            <p:cNvPr id="7" name="Group 6">
              <a:extLst>
                <a:ext uri="{FF2B5EF4-FFF2-40B4-BE49-F238E27FC236}">
                  <a16:creationId xmlns:a16="http://schemas.microsoft.com/office/drawing/2014/main" id="{F2A7394D-391F-6C66-E76E-8735CB91673D}"/>
                </a:ext>
              </a:extLst>
            </p:cNvPr>
            <p:cNvGrpSpPr/>
            <p:nvPr/>
          </p:nvGrpSpPr>
          <p:grpSpPr>
            <a:xfrm>
              <a:off x="8874309" y="3009260"/>
              <a:ext cx="1591098" cy="1591098"/>
              <a:chOff x="9350370" y="2760976"/>
              <a:chExt cx="1591098" cy="1591098"/>
            </a:xfrm>
          </p:grpSpPr>
          <p:sp>
            <p:nvSpPr>
              <p:cNvPr id="9" name="Rectangle: Rounded Corners 39">
                <a:extLst>
                  <a:ext uri="{FF2B5EF4-FFF2-40B4-BE49-F238E27FC236}">
                    <a16:creationId xmlns:a16="http://schemas.microsoft.com/office/drawing/2014/main" id="{698E77ED-2C3F-296A-62A7-3FB66A8813D5}"/>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4" name="Rectangle: Rounded Corners 54">
                <a:extLst>
                  <a:ext uri="{FF2B5EF4-FFF2-40B4-BE49-F238E27FC236}">
                    <a16:creationId xmlns:a16="http://schemas.microsoft.com/office/drawing/2014/main" id="{E114E7F7-B542-A23F-5E76-B5E72A20DB65}"/>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8" name="Picture 51" descr="Map with pin with solid fill">
              <a:extLst>
                <a:ext uri="{FF2B5EF4-FFF2-40B4-BE49-F238E27FC236}">
                  <a16:creationId xmlns:a16="http://schemas.microsoft.com/office/drawing/2014/main" id="{D0A7603B-0F80-78E0-356B-A84674AC8B66}"/>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5" name="Group 14">
            <a:extLst>
              <a:ext uri="{FF2B5EF4-FFF2-40B4-BE49-F238E27FC236}">
                <a16:creationId xmlns:a16="http://schemas.microsoft.com/office/drawing/2014/main" id="{506A9A8D-122C-8AA9-3883-445E9DFAA089}"/>
              </a:ext>
            </a:extLst>
          </p:cNvPr>
          <p:cNvGrpSpPr/>
          <p:nvPr/>
        </p:nvGrpSpPr>
        <p:grpSpPr>
          <a:xfrm>
            <a:off x="10997361" y="200955"/>
            <a:ext cx="410690" cy="410700"/>
            <a:chOff x="5303120" y="3009260"/>
            <a:chExt cx="1591098" cy="1591098"/>
          </a:xfrm>
        </p:grpSpPr>
        <p:grpSp>
          <p:nvGrpSpPr>
            <p:cNvPr id="36" name="Group 35">
              <a:extLst>
                <a:ext uri="{FF2B5EF4-FFF2-40B4-BE49-F238E27FC236}">
                  <a16:creationId xmlns:a16="http://schemas.microsoft.com/office/drawing/2014/main" id="{AC5460CE-8439-45A7-C447-B7E8F3CA9B07}"/>
                </a:ext>
              </a:extLst>
            </p:cNvPr>
            <p:cNvGrpSpPr/>
            <p:nvPr/>
          </p:nvGrpSpPr>
          <p:grpSpPr>
            <a:xfrm>
              <a:off x="5303120" y="3009260"/>
              <a:ext cx="1591098" cy="1591098"/>
              <a:chOff x="6428492" y="2760976"/>
              <a:chExt cx="1591098" cy="1591098"/>
            </a:xfrm>
          </p:grpSpPr>
          <p:sp>
            <p:nvSpPr>
              <p:cNvPr id="38" name="Rectangle: Rounded Corners 39">
                <a:extLst>
                  <a:ext uri="{FF2B5EF4-FFF2-40B4-BE49-F238E27FC236}">
                    <a16:creationId xmlns:a16="http://schemas.microsoft.com/office/drawing/2014/main" id="{28F275A4-CF76-5BA1-EB91-D50FD2E87199}"/>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9" name="Rectangle: Rounded Corners 54">
                <a:extLst>
                  <a:ext uri="{FF2B5EF4-FFF2-40B4-BE49-F238E27FC236}">
                    <a16:creationId xmlns:a16="http://schemas.microsoft.com/office/drawing/2014/main" id="{86E64198-7648-9AA7-A58C-54B87B2EEB9A}"/>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7" name="Graphic 22" descr="Target Audience with solid fill">
              <a:extLst>
                <a:ext uri="{FF2B5EF4-FFF2-40B4-BE49-F238E27FC236}">
                  <a16:creationId xmlns:a16="http://schemas.microsoft.com/office/drawing/2014/main" id="{495B83FC-CAD1-9629-20D2-56FB46FF1376}"/>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0" name="TextBox 39">
            <a:extLst>
              <a:ext uri="{FF2B5EF4-FFF2-40B4-BE49-F238E27FC236}">
                <a16:creationId xmlns:a16="http://schemas.microsoft.com/office/drawing/2014/main" id="{6A1ABF6A-38AA-8308-62B8-096B6C5B4CA9}"/>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1" name="TextBox 40">
            <a:extLst>
              <a:ext uri="{FF2B5EF4-FFF2-40B4-BE49-F238E27FC236}">
                <a16:creationId xmlns:a16="http://schemas.microsoft.com/office/drawing/2014/main" id="{3ACA1F10-C867-1795-6202-C44E03E5A243}"/>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2" name="TextBox 41">
            <a:extLst>
              <a:ext uri="{FF2B5EF4-FFF2-40B4-BE49-F238E27FC236}">
                <a16:creationId xmlns:a16="http://schemas.microsoft.com/office/drawing/2014/main" id="{82C35A44-9731-7468-6371-DDA40DD3769D}"/>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3" name="Rectangle 42">
            <a:extLst>
              <a:ext uri="{FF2B5EF4-FFF2-40B4-BE49-F238E27FC236}">
                <a16:creationId xmlns:a16="http://schemas.microsoft.com/office/drawing/2014/main" id="{6CDF4D2D-291D-7F47-4DBA-E471F56693B8}"/>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
        <p:nvSpPr>
          <p:cNvPr id="44" name="Rectangle 43">
            <a:extLst>
              <a:ext uri="{FF2B5EF4-FFF2-40B4-BE49-F238E27FC236}">
                <a16:creationId xmlns:a16="http://schemas.microsoft.com/office/drawing/2014/main" id="{3C138455-5EF1-0D22-CD53-277EA15BB5DD}"/>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647273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22D4E-872D-E57F-290B-B1372104AE82}"/>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3E9C6711-F552-EED5-CF7C-57D395EBBA8C}"/>
              </a:ext>
            </a:extLst>
          </p:cNvPr>
          <p:cNvSpPr txBox="1"/>
          <p:nvPr/>
        </p:nvSpPr>
        <p:spPr>
          <a:xfrm>
            <a:off x="959643" y="253581"/>
            <a:ext cx="7894841" cy="584775"/>
          </a:xfrm>
          <a:prstGeom prst="rect">
            <a:avLst/>
          </a:prstGeom>
          <a:noFill/>
        </p:spPr>
        <p:txBody>
          <a:bodyPr wrap="square" lIns="91440" tIns="45720" rIns="91440" bIns="45720" rtlCol="0" anchor="t">
            <a:spAutoFit/>
          </a:bodyPr>
          <a:lstStyle/>
          <a:p>
            <a:r>
              <a:rPr lang="en-US" sz="3200" b="1" spc="-10">
                <a:solidFill>
                  <a:schemeClr val="tx1">
                    <a:lumMod val="75000"/>
                    <a:lumOff val="25000"/>
                  </a:schemeClr>
                </a:solidFill>
                <a:latin typeface="Segoe UI" pitchFamily="34" charset="0"/>
                <a:cs typeface="Lato Light" panose="020F0402020204030203" pitchFamily="34" charset="0"/>
              </a:rPr>
              <a:t>THE </a:t>
            </a:r>
            <a:r>
              <a:rPr lang="en-US" sz="3200" b="1" spc="-10">
                <a:solidFill>
                  <a:srgbClr val="00C27A"/>
                </a:solidFill>
                <a:latin typeface="Segoe UI" pitchFamily="34" charset="0"/>
                <a:cs typeface="Lato Light" panose="020F0402020204030203" pitchFamily="34" charset="0"/>
              </a:rPr>
              <a:t>EVIDENCE </a:t>
            </a:r>
            <a:r>
              <a:rPr lang="en-US" sz="3200" b="1" spc="-10">
                <a:solidFill>
                  <a:schemeClr val="tx1">
                    <a:lumMod val="75000"/>
                    <a:lumOff val="25000"/>
                  </a:schemeClr>
                </a:solidFill>
                <a:latin typeface="Segoe UI" pitchFamily="34" charset="0"/>
                <a:cs typeface="Lato Light" panose="020F0402020204030203" pitchFamily="34" charset="0"/>
              </a:rPr>
              <a:t>MOSAIC</a:t>
            </a:r>
            <a:endParaRPr lang="en-US" sz="3200" b="1" spc="-10">
              <a:solidFill>
                <a:schemeClr val="tx1">
                  <a:lumMod val="75000"/>
                  <a:lumOff val="25000"/>
                </a:schemeClr>
              </a:solidFill>
              <a:latin typeface="Segoe UI" pitchFamily="34" charset="0"/>
              <a:ea typeface="Lato" panose="020F0502020204030203" pitchFamily="34" charset="0"/>
              <a:cs typeface="Lato" panose="020F0502020204030203" pitchFamily="34" charset="0"/>
            </a:endParaRPr>
          </a:p>
        </p:txBody>
      </p:sp>
      <p:sp>
        <p:nvSpPr>
          <p:cNvPr id="8" name="Freeform 162">
            <a:extLst>
              <a:ext uri="{FF2B5EF4-FFF2-40B4-BE49-F238E27FC236}">
                <a16:creationId xmlns:a16="http://schemas.microsoft.com/office/drawing/2014/main" id="{177AD195-DEAD-67D1-A56C-B3BDA7779DCF}"/>
              </a:ext>
            </a:extLst>
          </p:cNvPr>
          <p:cNvSpPr/>
          <p:nvPr/>
        </p:nvSpPr>
        <p:spPr>
          <a:xfrm>
            <a:off x="5059925" y="3429000"/>
            <a:ext cx="946545" cy="632402"/>
          </a:xfrm>
          <a:custGeom>
            <a:avLst/>
            <a:gdLst>
              <a:gd name="connsiteX0" fmla="*/ 1135506 w 1705111"/>
              <a:gd name="connsiteY0" fmla="*/ 0 h 1139211"/>
              <a:gd name="connsiteX1" fmla="*/ 1705111 w 1705111"/>
              <a:gd name="connsiteY1" fmla="*/ 569606 h 1139211"/>
              <a:gd name="connsiteX2" fmla="*/ 1135506 w 1705111"/>
              <a:gd name="connsiteY2" fmla="*/ 1139211 h 1139211"/>
              <a:gd name="connsiteX3" fmla="*/ 993400 w 1705111"/>
              <a:gd name="connsiteY3" fmla="*/ 997105 h 1139211"/>
              <a:gd name="connsiteX4" fmla="*/ 1316392 w 1705111"/>
              <a:gd name="connsiteY4" fmla="*/ 674112 h 1139211"/>
              <a:gd name="connsiteX5" fmla="*/ 0 w 1705111"/>
              <a:gd name="connsiteY5" fmla="*/ 674112 h 1139211"/>
              <a:gd name="connsiteX6" fmla="*/ 0 w 1705111"/>
              <a:gd name="connsiteY6" fmla="*/ 465098 h 1139211"/>
              <a:gd name="connsiteX7" fmla="*/ 1316393 w 1705111"/>
              <a:gd name="connsiteY7" fmla="*/ 465098 h 1139211"/>
              <a:gd name="connsiteX8" fmla="*/ 993401 w 1705111"/>
              <a:gd name="connsiteY8" fmla="*/ 142106 h 1139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5111" h="1139211">
                <a:moveTo>
                  <a:pt x="1135506" y="0"/>
                </a:moveTo>
                <a:lnTo>
                  <a:pt x="1705111" y="569606"/>
                </a:lnTo>
                <a:lnTo>
                  <a:pt x="1135506" y="1139211"/>
                </a:lnTo>
                <a:lnTo>
                  <a:pt x="993400" y="997105"/>
                </a:lnTo>
                <a:lnTo>
                  <a:pt x="1316392" y="674112"/>
                </a:lnTo>
                <a:lnTo>
                  <a:pt x="0" y="674112"/>
                </a:lnTo>
                <a:lnTo>
                  <a:pt x="0" y="465098"/>
                </a:lnTo>
                <a:lnTo>
                  <a:pt x="1316393" y="465098"/>
                </a:lnTo>
                <a:lnTo>
                  <a:pt x="993401" y="142106"/>
                </a:lnTo>
                <a:close/>
              </a:path>
            </a:pathLst>
          </a:cu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9" name="Rectangle 8">
            <a:extLst>
              <a:ext uri="{FF2B5EF4-FFF2-40B4-BE49-F238E27FC236}">
                <a16:creationId xmlns:a16="http://schemas.microsoft.com/office/drawing/2014/main" id="{7CA86E6B-5D96-4AA4-89CB-6560144F58AD}"/>
              </a:ext>
            </a:extLst>
          </p:cNvPr>
          <p:cNvSpPr/>
          <p:nvPr/>
        </p:nvSpPr>
        <p:spPr>
          <a:xfrm>
            <a:off x="960793" y="1421091"/>
            <a:ext cx="3932676" cy="4857558"/>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spc="-10">
                <a:solidFill>
                  <a:srgbClr val="00C27A"/>
                </a:solidFill>
                <a:latin typeface="Segoe UI" pitchFamily="34" charset="0"/>
                <a:ea typeface="Lato"/>
                <a:cs typeface="Lato"/>
              </a:rPr>
              <a:t>PERFORMANCE REVIEWS</a:t>
            </a:r>
          </a:p>
          <a:p>
            <a:pPr algn="ctr"/>
            <a:endParaRPr lang="en-US" sz="2000" b="1" spc="-10">
              <a:solidFill>
                <a:srgbClr val="00C27A"/>
              </a:solidFill>
              <a:latin typeface="Segoe UI" pitchFamily="34" charset="0"/>
            </a:endParaRPr>
          </a:p>
          <a:p>
            <a:pPr>
              <a:spcAft>
                <a:spcPts val="600"/>
              </a:spcAft>
            </a:pPr>
            <a:r>
              <a:rPr lang="en-US" sz="1700" spc="-10">
                <a:solidFill>
                  <a:schemeClr val="tx1">
                    <a:lumMod val="75000"/>
                    <a:lumOff val="25000"/>
                  </a:schemeClr>
                </a:solidFill>
                <a:latin typeface="Arial" pitchFamily="34" charset="0"/>
                <a:ea typeface="Lato"/>
                <a:cs typeface="Lato"/>
              </a:rPr>
              <a:t>Assess the successor’s past performance to identify:</a:t>
            </a:r>
          </a:p>
          <a:p>
            <a:pPr marL="285750" lvl="1" indent="-285750">
              <a:spcAft>
                <a:spcPts val="600"/>
              </a:spcAft>
              <a:buSzPct val="75000"/>
              <a:buFont typeface="Arial" panose="020B0604020202020204" pitchFamily="34" charset="0"/>
              <a:buChar char="•"/>
            </a:pPr>
            <a:r>
              <a:rPr lang="en-US" sz="1700" spc="-10">
                <a:solidFill>
                  <a:schemeClr val="tx1">
                    <a:lumMod val="75000"/>
                    <a:lumOff val="25000"/>
                  </a:schemeClr>
                </a:solidFill>
                <a:latin typeface="Arial" pitchFamily="34" charset="0"/>
              </a:rPr>
              <a:t>Experience related to JTBDs</a:t>
            </a:r>
          </a:p>
          <a:p>
            <a:pPr marL="285750" lvl="1" indent="-285750">
              <a:spcAft>
                <a:spcPts val="600"/>
              </a:spcAft>
              <a:buSzPct val="75000"/>
              <a:buFont typeface="Arial" panose="020B0604020202020204" pitchFamily="34" charset="0"/>
              <a:buChar char="•"/>
            </a:pPr>
            <a:r>
              <a:rPr lang="en-US" sz="1700" spc="-10">
                <a:solidFill>
                  <a:schemeClr val="tx1">
                    <a:lumMod val="75000"/>
                    <a:lumOff val="25000"/>
                  </a:schemeClr>
                </a:solidFill>
                <a:latin typeface="Arial" pitchFamily="34" charset="0"/>
              </a:rPr>
              <a:t>Gaps in experience</a:t>
            </a:r>
          </a:p>
          <a:p>
            <a:pPr marL="285750" lvl="1" indent="-285750">
              <a:spcAft>
                <a:spcPts val="600"/>
              </a:spcAft>
              <a:buSzPct val="75000"/>
              <a:buFont typeface="Arial" panose="020B0604020202020204" pitchFamily="34" charset="0"/>
              <a:buChar char="•"/>
            </a:pPr>
            <a:r>
              <a:rPr lang="en-US" sz="1700" spc="-10">
                <a:solidFill>
                  <a:schemeClr val="tx1">
                    <a:lumMod val="75000"/>
                    <a:lumOff val="25000"/>
                  </a:schemeClr>
                </a:solidFill>
                <a:latin typeface="Arial" pitchFamily="34" charset="0"/>
              </a:rPr>
              <a:t>Weaknesses in past performance that could show up in the future role</a:t>
            </a:r>
          </a:p>
        </p:txBody>
      </p:sp>
      <p:grpSp>
        <p:nvGrpSpPr>
          <p:cNvPr id="21" name="Group 20">
            <a:extLst>
              <a:ext uri="{FF2B5EF4-FFF2-40B4-BE49-F238E27FC236}">
                <a16:creationId xmlns:a16="http://schemas.microsoft.com/office/drawing/2014/main" id="{C4A61644-C680-F603-4CBF-94DB99D0BAE0}"/>
              </a:ext>
            </a:extLst>
          </p:cNvPr>
          <p:cNvGrpSpPr/>
          <p:nvPr/>
        </p:nvGrpSpPr>
        <p:grpSpPr>
          <a:xfrm>
            <a:off x="6230381" y="1421091"/>
            <a:ext cx="4512489" cy="4857558"/>
            <a:chOff x="6230381" y="1421091"/>
            <a:chExt cx="4512489" cy="4857558"/>
          </a:xfrm>
        </p:grpSpPr>
        <p:pic>
          <p:nvPicPr>
            <p:cNvPr id="16" name="Picture 15">
              <a:extLst>
                <a:ext uri="{FF2B5EF4-FFF2-40B4-BE49-F238E27FC236}">
                  <a16:creationId xmlns:a16="http://schemas.microsoft.com/office/drawing/2014/main" id="{70B260EE-1823-F8FB-EBA8-7F9C90AEE9CA}"/>
                </a:ext>
              </a:extLst>
            </p:cNvPr>
            <p:cNvPicPr>
              <a:picLocks noChangeAspect="1"/>
            </p:cNvPicPr>
            <p:nvPr/>
          </p:nvPicPr>
          <p:blipFill>
            <a:blip r:embed="rId3">
              <a:duotone>
                <a:srgbClr val="765FFF"/>
                <a:srgbClr val="FFFFFF"/>
              </a:duotone>
            </a:blip>
            <a:stretch>
              <a:fillRect/>
            </a:stretch>
          </p:blipFill>
          <p:spPr>
            <a:xfrm>
              <a:off x="6230381" y="1421091"/>
              <a:ext cx="3111023" cy="4027714"/>
            </a:xfrm>
            <a:prstGeom prst="rect">
              <a:avLst/>
            </a:prstGeom>
            <a:ln>
              <a:noFill/>
            </a:ln>
            <a:effectLst>
              <a:outerShdw blurRad="190500" dist="228600" dir="2700000" algn="ctr">
                <a:srgbClr val="1D1D1D">
                  <a:alpha val="30000"/>
                </a:srgbClr>
              </a:outerShdw>
            </a:effectLst>
            <a:scene3d>
              <a:camera prst="orthographicFront">
                <a:rot lat="0" lon="0" rev="0"/>
              </a:camera>
              <a:lightRig rig="glow" dir="t">
                <a:rot lat="0" lon="0" rev="4800000"/>
              </a:lightRig>
            </a:scene3d>
            <a:sp3d prstMaterial="matte">
              <a:bevelT w="127000" h="63500"/>
            </a:sp3d>
          </p:spPr>
        </p:pic>
        <p:pic>
          <p:nvPicPr>
            <p:cNvPr id="19" name="Picture 18">
              <a:extLst>
                <a:ext uri="{FF2B5EF4-FFF2-40B4-BE49-F238E27FC236}">
                  <a16:creationId xmlns:a16="http://schemas.microsoft.com/office/drawing/2014/main" id="{AFCDAB3E-2E66-E2E9-5E3A-B2481964529A}"/>
                </a:ext>
              </a:extLst>
            </p:cNvPr>
            <p:cNvPicPr>
              <a:picLocks noChangeAspect="1"/>
            </p:cNvPicPr>
            <p:nvPr/>
          </p:nvPicPr>
          <p:blipFill>
            <a:blip r:embed="rId4">
              <a:duotone>
                <a:srgbClr val="765FFF"/>
                <a:srgbClr val="FFFFFF"/>
              </a:duotone>
            </a:blip>
            <a:stretch>
              <a:fillRect/>
            </a:stretch>
          </p:blipFill>
          <p:spPr>
            <a:xfrm>
              <a:off x="7581234" y="2185408"/>
              <a:ext cx="3161636" cy="4093241"/>
            </a:xfrm>
            <a:prstGeom prst="rect">
              <a:avLst/>
            </a:prstGeom>
            <a:ln>
              <a:noFill/>
            </a:ln>
            <a:effectLst>
              <a:outerShdw blurRad="190500" dist="228600" dir="2700000" algn="ctr">
                <a:srgbClr val="1D1D1D">
                  <a:alpha val="30000"/>
                </a:srgbClr>
              </a:outerShdw>
            </a:effectLst>
            <a:scene3d>
              <a:camera prst="orthographicFront">
                <a:rot lat="0" lon="0" rev="0"/>
              </a:camera>
              <a:lightRig rig="glow" dir="t">
                <a:rot lat="0" lon="0" rev="4800000"/>
              </a:lightRig>
            </a:scene3d>
            <a:sp3d prstMaterial="matte">
              <a:bevelT w="127000" h="63500"/>
            </a:sp3d>
          </p:spPr>
        </p:pic>
        <p:sp>
          <p:nvSpPr>
            <p:cNvPr id="20" name="TextBox 19">
              <a:extLst>
                <a:ext uri="{FF2B5EF4-FFF2-40B4-BE49-F238E27FC236}">
                  <a16:creationId xmlns:a16="http://schemas.microsoft.com/office/drawing/2014/main" id="{908B43A0-BA4E-F9EA-EA81-D1F0A394E77F}"/>
                </a:ext>
              </a:extLst>
            </p:cNvPr>
            <p:cNvSpPr txBox="1"/>
            <p:nvPr/>
          </p:nvSpPr>
          <p:spPr>
            <a:xfrm>
              <a:off x="6741844" y="1544156"/>
              <a:ext cx="935844" cy="215444"/>
            </a:xfrm>
            <a:prstGeom prst="rect">
              <a:avLst/>
            </a:prstGeom>
            <a:solidFill>
              <a:schemeClr val="bg1"/>
            </a:solidFill>
          </p:spPr>
          <p:txBody>
            <a:bodyPr wrap="square" lIns="91440" tIns="45720" rIns="91440" bIns="45720" rtlCol="0">
              <a:spAutoFit/>
            </a:bodyPr>
            <a:lstStyle/>
            <a:p>
              <a:pPr algn="ctr"/>
              <a:r>
                <a:rPr lang="en-US" sz="800" b="1"/>
                <a:t>Mark Nicole</a:t>
              </a:r>
            </a:p>
          </p:txBody>
        </p:sp>
      </p:grpSp>
      <p:sp>
        <p:nvSpPr>
          <p:cNvPr id="38"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41</a:t>
            </a:fld>
            <a:endParaRPr lang="en-US"/>
          </a:p>
        </p:txBody>
      </p:sp>
      <p:grpSp>
        <p:nvGrpSpPr>
          <p:cNvPr id="2" name="Group 1">
            <a:extLst>
              <a:ext uri="{FF2B5EF4-FFF2-40B4-BE49-F238E27FC236}">
                <a16:creationId xmlns:a16="http://schemas.microsoft.com/office/drawing/2014/main" id="{0CACB4A4-3646-9700-8179-AF98BDC27484}"/>
              </a:ext>
            </a:extLst>
          </p:cNvPr>
          <p:cNvGrpSpPr/>
          <p:nvPr/>
        </p:nvGrpSpPr>
        <p:grpSpPr>
          <a:xfrm>
            <a:off x="10403235" y="201614"/>
            <a:ext cx="410690" cy="410700"/>
            <a:chOff x="3506617" y="2730959"/>
            <a:chExt cx="1591098" cy="1591098"/>
          </a:xfrm>
        </p:grpSpPr>
        <p:sp>
          <p:nvSpPr>
            <p:cNvPr id="3" name="Rectangle: Rounded Corners 39">
              <a:extLst>
                <a:ext uri="{FF2B5EF4-FFF2-40B4-BE49-F238E27FC236}">
                  <a16:creationId xmlns:a16="http://schemas.microsoft.com/office/drawing/2014/main" id="{E2E423BE-7AA7-0056-071F-4190EE0DFD87}"/>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 name="Rectangle: Rounded Corners 54">
              <a:extLst>
                <a:ext uri="{FF2B5EF4-FFF2-40B4-BE49-F238E27FC236}">
                  <a16:creationId xmlns:a16="http://schemas.microsoft.com/office/drawing/2014/main" id="{5C892FEA-F2DD-A802-F6AA-41C7F2FF983B}"/>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 name="Freeform 56" descr="Clipboard Partially Checked with solid fill">
              <a:extLst>
                <a:ext uri="{FF2B5EF4-FFF2-40B4-BE49-F238E27FC236}">
                  <a16:creationId xmlns:a16="http://schemas.microsoft.com/office/drawing/2014/main" id="{72764213-5213-98BE-0EB6-6A27D3E4B241}"/>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6" name="Group 5">
            <a:extLst>
              <a:ext uri="{FF2B5EF4-FFF2-40B4-BE49-F238E27FC236}">
                <a16:creationId xmlns:a16="http://schemas.microsoft.com/office/drawing/2014/main" id="{37E3A02B-7385-540D-E344-D8EBE7DD0B5B}"/>
              </a:ext>
            </a:extLst>
          </p:cNvPr>
          <p:cNvGrpSpPr/>
          <p:nvPr/>
        </p:nvGrpSpPr>
        <p:grpSpPr>
          <a:xfrm>
            <a:off x="11557682" y="191038"/>
            <a:ext cx="410690" cy="410700"/>
            <a:chOff x="8874309" y="3009260"/>
            <a:chExt cx="1591098" cy="1591098"/>
          </a:xfrm>
        </p:grpSpPr>
        <p:grpSp>
          <p:nvGrpSpPr>
            <p:cNvPr id="7" name="Group 6">
              <a:extLst>
                <a:ext uri="{FF2B5EF4-FFF2-40B4-BE49-F238E27FC236}">
                  <a16:creationId xmlns:a16="http://schemas.microsoft.com/office/drawing/2014/main" id="{CA34D476-452F-423D-7F5D-A308C3F09C86}"/>
                </a:ext>
              </a:extLst>
            </p:cNvPr>
            <p:cNvGrpSpPr/>
            <p:nvPr/>
          </p:nvGrpSpPr>
          <p:grpSpPr>
            <a:xfrm>
              <a:off x="8874309" y="3009260"/>
              <a:ext cx="1591098" cy="1591098"/>
              <a:chOff x="9350370" y="2760976"/>
              <a:chExt cx="1591098" cy="1591098"/>
            </a:xfrm>
          </p:grpSpPr>
          <p:sp>
            <p:nvSpPr>
              <p:cNvPr id="12" name="Rectangle: Rounded Corners 39">
                <a:extLst>
                  <a:ext uri="{FF2B5EF4-FFF2-40B4-BE49-F238E27FC236}">
                    <a16:creationId xmlns:a16="http://schemas.microsoft.com/office/drawing/2014/main" id="{C9DCD3BC-A066-C72E-BF88-8E17DF8E6B39}"/>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3" name="Rectangle: Rounded Corners 54">
                <a:extLst>
                  <a:ext uri="{FF2B5EF4-FFF2-40B4-BE49-F238E27FC236}">
                    <a16:creationId xmlns:a16="http://schemas.microsoft.com/office/drawing/2014/main" id="{0464834B-C135-3CA8-D378-854DE2DE3C09}"/>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0" name="Picture 51" descr="Map with pin with solid fill">
              <a:extLst>
                <a:ext uri="{FF2B5EF4-FFF2-40B4-BE49-F238E27FC236}">
                  <a16:creationId xmlns:a16="http://schemas.microsoft.com/office/drawing/2014/main" id="{2E97D230-0CFF-5655-B2BB-524AB46DD6FE}"/>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4" name="Group 13">
            <a:extLst>
              <a:ext uri="{FF2B5EF4-FFF2-40B4-BE49-F238E27FC236}">
                <a16:creationId xmlns:a16="http://schemas.microsoft.com/office/drawing/2014/main" id="{8E3B76A2-A1C1-1FB0-22F7-9D6AEB227B1D}"/>
              </a:ext>
            </a:extLst>
          </p:cNvPr>
          <p:cNvGrpSpPr/>
          <p:nvPr/>
        </p:nvGrpSpPr>
        <p:grpSpPr>
          <a:xfrm>
            <a:off x="10997361" y="200955"/>
            <a:ext cx="410690" cy="410700"/>
            <a:chOff x="5303120" y="3009260"/>
            <a:chExt cx="1591098" cy="1591098"/>
          </a:xfrm>
        </p:grpSpPr>
        <p:grpSp>
          <p:nvGrpSpPr>
            <p:cNvPr id="39" name="Group 38">
              <a:extLst>
                <a:ext uri="{FF2B5EF4-FFF2-40B4-BE49-F238E27FC236}">
                  <a16:creationId xmlns:a16="http://schemas.microsoft.com/office/drawing/2014/main" id="{915FBDDD-9C77-F412-6BC5-5D00232B21E4}"/>
                </a:ext>
              </a:extLst>
            </p:cNvPr>
            <p:cNvGrpSpPr/>
            <p:nvPr/>
          </p:nvGrpSpPr>
          <p:grpSpPr>
            <a:xfrm>
              <a:off x="5303120" y="3009260"/>
              <a:ext cx="1591098" cy="1591098"/>
              <a:chOff x="6428492" y="2760976"/>
              <a:chExt cx="1591098" cy="1591098"/>
            </a:xfrm>
          </p:grpSpPr>
          <p:sp>
            <p:nvSpPr>
              <p:cNvPr id="41" name="Rectangle: Rounded Corners 39">
                <a:extLst>
                  <a:ext uri="{FF2B5EF4-FFF2-40B4-BE49-F238E27FC236}">
                    <a16:creationId xmlns:a16="http://schemas.microsoft.com/office/drawing/2014/main" id="{457F3E32-D6E4-0996-E51D-4E3178D2999A}"/>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2" name="Rectangle: Rounded Corners 54">
                <a:extLst>
                  <a:ext uri="{FF2B5EF4-FFF2-40B4-BE49-F238E27FC236}">
                    <a16:creationId xmlns:a16="http://schemas.microsoft.com/office/drawing/2014/main" id="{E8CE5BED-029D-E197-27BA-DBB618214807}"/>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0" name="Graphic 22" descr="Target Audience with solid fill">
              <a:extLst>
                <a:ext uri="{FF2B5EF4-FFF2-40B4-BE49-F238E27FC236}">
                  <a16:creationId xmlns:a16="http://schemas.microsoft.com/office/drawing/2014/main" id="{20395A22-2292-4428-AAFA-88D18B8FF5E1}"/>
                </a:ext>
              </a:extLst>
            </p:cNvPr>
            <p:cNvPicPr>
              <a:picLocks noChangeAspect="1"/>
            </p:cNvPicPr>
            <p:nvPr/>
          </p:nvPicPr>
          <p:blipFill>
            <a:blip r:embed="rId7">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3" name="TextBox 42">
            <a:extLst>
              <a:ext uri="{FF2B5EF4-FFF2-40B4-BE49-F238E27FC236}">
                <a16:creationId xmlns:a16="http://schemas.microsoft.com/office/drawing/2014/main" id="{3C49552F-AF38-1FB9-0C81-80FB0D6415D7}"/>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4" name="TextBox 43">
            <a:extLst>
              <a:ext uri="{FF2B5EF4-FFF2-40B4-BE49-F238E27FC236}">
                <a16:creationId xmlns:a16="http://schemas.microsoft.com/office/drawing/2014/main" id="{0C6E9385-7DF1-27D7-73FD-20B00756386C}"/>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5" name="TextBox 44">
            <a:extLst>
              <a:ext uri="{FF2B5EF4-FFF2-40B4-BE49-F238E27FC236}">
                <a16:creationId xmlns:a16="http://schemas.microsoft.com/office/drawing/2014/main" id="{3247CE9A-DB33-AF22-8CB9-AECA162B39C3}"/>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6" name="Rectangle 45">
            <a:extLst>
              <a:ext uri="{FF2B5EF4-FFF2-40B4-BE49-F238E27FC236}">
                <a16:creationId xmlns:a16="http://schemas.microsoft.com/office/drawing/2014/main" id="{68DF11B4-A06F-762D-77DA-3D0A9113B3AF}"/>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
        <p:nvSpPr>
          <p:cNvPr id="47" name="Rectangle 46">
            <a:extLst>
              <a:ext uri="{FF2B5EF4-FFF2-40B4-BE49-F238E27FC236}">
                <a16:creationId xmlns:a16="http://schemas.microsoft.com/office/drawing/2014/main" id="{5C404260-13A4-BC6B-3F96-1DBC8404020D}"/>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587556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1A628-BFCC-E0FE-BFC7-9DD858A673A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5A5886B-4DA5-6D25-BC5F-B97D28F22E87}"/>
              </a:ext>
            </a:extLst>
          </p:cNvPr>
          <p:cNvSpPr>
            <a:spLocks noGrp="1"/>
          </p:cNvSpPr>
          <p:nvPr>
            <p:ph type="title" sz="quarter"/>
          </p:nvPr>
        </p:nvSpPr>
        <p:spPr/>
        <p:txBody>
          <a:bodyPr lIns="91440" tIns="45720" rIns="91440" bIns="45720" anchor="t"/>
          <a:lstStyle/>
          <a:p>
            <a:r>
              <a:rPr lang="en-US" b="1" spc="-25" dirty="0">
                <a:solidFill>
                  <a:srgbClr val="917FFF"/>
                </a:solidFill>
                <a:latin typeface="Segoe UI" pitchFamily="34" charset="0"/>
                <a:ea typeface="Helvetica Neue" panose="02000503000000020004" pitchFamily="2" charset="0"/>
                <a:cs typeface="Helvetica Neue" panose="02000503000000020004" pitchFamily="2" charset="0"/>
              </a:rPr>
              <a:t>Assess succession readiness </a:t>
            </a:r>
            <a:r>
              <a:rPr lang="en-US" b="1" spc="-25" dirty="0">
                <a:latin typeface="Segoe UI" pitchFamily="34" charset="0"/>
                <a:ea typeface="Helvetica Neue" panose="02000503000000020004" pitchFamily="2" charset="0"/>
                <a:cs typeface="Helvetica Neue" panose="02000503000000020004" pitchFamily="2" charset="0"/>
              </a:rPr>
              <a:t>example</a:t>
            </a:r>
          </a:p>
        </p:txBody>
      </p:sp>
      <p:sp>
        <p:nvSpPr>
          <p:cNvPr id="20" name="TextBox 19">
            <a:extLst>
              <a:ext uri="{FF2B5EF4-FFF2-40B4-BE49-F238E27FC236}">
                <a16:creationId xmlns:a16="http://schemas.microsoft.com/office/drawing/2014/main" id="{D6FF5A6B-8AC6-1FDE-7777-3BF2EFFBAB4D}"/>
              </a:ext>
            </a:extLst>
          </p:cNvPr>
          <p:cNvSpPr txBox="1"/>
          <p:nvPr/>
        </p:nvSpPr>
        <p:spPr>
          <a:xfrm>
            <a:off x="468764" y="924436"/>
            <a:ext cx="678184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spc="-10" dirty="0">
                <a:latin typeface="Segoe UI" pitchFamily="34" charset="0"/>
                <a:ea typeface="Lato" panose="020F0502020204030203" pitchFamily="34" charset="0"/>
                <a:cs typeface="Lato" panose="020F0502020204030203" pitchFamily="34" charset="0"/>
              </a:rPr>
              <a:t>Target Role: Head of Digital Solutions &amp; Data</a:t>
            </a:r>
          </a:p>
        </p:txBody>
      </p:sp>
      <p:grpSp>
        <p:nvGrpSpPr>
          <p:cNvPr id="24" name="Group 23">
            <a:extLst>
              <a:ext uri="{FF2B5EF4-FFF2-40B4-BE49-F238E27FC236}">
                <a16:creationId xmlns:a16="http://schemas.microsoft.com/office/drawing/2014/main" id="{426E59E1-AC53-23FA-344B-E2EC720DE24F}"/>
              </a:ext>
            </a:extLst>
          </p:cNvPr>
          <p:cNvGrpSpPr/>
          <p:nvPr/>
        </p:nvGrpSpPr>
        <p:grpSpPr>
          <a:xfrm>
            <a:off x="4971389" y="1148177"/>
            <a:ext cx="6988303" cy="400833"/>
            <a:chOff x="6172200" y="438410"/>
            <a:chExt cx="5405378" cy="400833"/>
          </a:xfrm>
        </p:grpSpPr>
        <p:cxnSp>
          <p:nvCxnSpPr>
            <p:cNvPr id="25" name="Straight Connector 24">
              <a:extLst>
                <a:ext uri="{FF2B5EF4-FFF2-40B4-BE49-F238E27FC236}">
                  <a16:creationId xmlns:a16="http://schemas.microsoft.com/office/drawing/2014/main" id="{064F9D82-53C9-CE3A-3CA4-BF20781A8E97}"/>
                </a:ext>
              </a:extLst>
            </p:cNvPr>
            <p:cNvCxnSpPr>
              <a:cxnSpLocks/>
            </p:cNvCxnSpPr>
            <p:nvPr/>
          </p:nvCxnSpPr>
          <p:spPr>
            <a:xfrm>
              <a:off x="6172200" y="638826"/>
              <a:ext cx="5405378" cy="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4A5D04A5-381A-8953-FB71-598B616C46BA}"/>
                </a:ext>
              </a:extLst>
            </p:cNvPr>
            <p:cNvSpPr txBox="1"/>
            <p:nvPr/>
          </p:nvSpPr>
          <p:spPr>
            <a:xfrm>
              <a:off x="7934461" y="438410"/>
              <a:ext cx="1961302" cy="400833"/>
            </a:xfrm>
            <a:prstGeom prst="rect">
              <a:avLst/>
            </a:prstGeom>
            <a:solidFill>
              <a:schemeClr val="bg1"/>
            </a:solidFill>
          </p:spPr>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10" normalizeH="0" baseline="0" noProof="0">
                  <a:ln>
                    <a:noFill/>
                  </a:ln>
                  <a:solidFill>
                    <a:prstClr val="black">
                      <a:lumMod val="75000"/>
                      <a:lumOff val="25000"/>
                    </a:prstClr>
                  </a:solidFill>
                  <a:effectLst/>
                  <a:uLnTx/>
                  <a:uFillTx/>
                  <a:latin typeface="Arial" pitchFamily="34" charset="0"/>
                  <a:ea typeface="Lato" panose="020F0502020204030203" pitchFamily="34" charset="0"/>
                  <a:cs typeface="Lato" panose="020F0502020204030203" pitchFamily="34" charset="0"/>
                </a:rPr>
                <a:t>KEY </a:t>
              </a:r>
              <a:r>
                <a:rPr kumimoji="0" lang="en-US" sz="1400" b="1" i="0" u="none" strike="noStrike" kern="1200" cap="none" spc="-10" normalizeH="0" baseline="0" noProof="0">
                  <a:ln>
                    <a:noFill/>
                  </a:ln>
                  <a:solidFill>
                    <a:schemeClr val="accent1"/>
                  </a:solidFill>
                  <a:effectLst/>
                  <a:uLnTx/>
                  <a:uFillTx/>
                  <a:latin typeface="Segoe UI" pitchFamily="34" charset="0"/>
                  <a:ea typeface="Lato" panose="020F0502020204030203" pitchFamily="34" charset="0"/>
                  <a:cs typeface="Lato" panose="020F0502020204030203" pitchFamily="34" charset="0"/>
                </a:rPr>
                <a:t>TALENT</a:t>
              </a:r>
              <a:r>
                <a:rPr kumimoji="0" lang="en-US" sz="1400" b="0" i="0" u="none" strike="noStrike" kern="1200" cap="none" spc="-10" normalizeH="0" baseline="0" noProof="0">
                  <a:ln>
                    <a:noFill/>
                  </a:ln>
                  <a:solidFill>
                    <a:prstClr val="black">
                      <a:lumMod val="75000"/>
                      <a:lumOff val="25000"/>
                    </a:prstClr>
                  </a:solidFill>
                  <a:effectLst/>
                  <a:uLnTx/>
                  <a:uFillTx/>
                  <a:latin typeface="Arial" pitchFamily="34" charset="0"/>
                  <a:ea typeface="Lato" panose="020F0502020204030203" pitchFamily="34" charset="0"/>
                  <a:cs typeface="Lato" panose="020F0502020204030203" pitchFamily="34" charset="0"/>
                </a:rPr>
                <a:t> INSIGHTS</a:t>
              </a:r>
            </a:p>
          </p:txBody>
        </p:sp>
      </p:grpSp>
      <p:sp>
        <p:nvSpPr>
          <p:cNvPr id="27" name="Rounded Rectangle 166">
            <a:extLst>
              <a:ext uri="{FF2B5EF4-FFF2-40B4-BE49-F238E27FC236}">
                <a16:creationId xmlns:a16="http://schemas.microsoft.com/office/drawing/2014/main" id="{58191DA2-4056-241A-0F84-25CE544B249E}"/>
              </a:ext>
            </a:extLst>
          </p:cNvPr>
          <p:cNvSpPr/>
          <p:nvPr/>
        </p:nvSpPr>
        <p:spPr>
          <a:xfrm>
            <a:off x="4986733" y="5099119"/>
            <a:ext cx="6988303" cy="1248464"/>
          </a:xfrm>
          <a:prstGeom prst="roundRect">
            <a:avLst>
              <a:gd name="adj" fmla="val 2874"/>
            </a:avLst>
          </a:prstGeom>
          <a:solidFill>
            <a:sysClr val="window" lastClr="FFFFFF"/>
          </a:solidFill>
          <a:ln w="9525" cap="flat" cmpd="sng" algn="ctr">
            <a:solidFill>
              <a:sysClr val="window" lastClr="FFFFFF">
                <a:lumMod val="75000"/>
              </a:sysClr>
            </a:solidFill>
            <a:prstDash val="solid"/>
          </a:ln>
          <a:effectLst/>
        </p:spPr>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1D1D1D">
                  <a:lumMod val="75000"/>
                  <a:lumOff val="25000"/>
                </a:srgbClr>
              </a:solidFill>
              <a:effectLst/>
              <a:uLnTx/>
              <a:uFillTx/>
              <a:latin typeface="Arial" pitchFamily="34" charset="0"/>
              <a:ea typeface="Lato" panose="020F0502020204030203" pitchFamily="34" charset="0"/>
              <a:cs typeface="Lato" panose="020F0502020204030203" pitchFamily="34" charset="0"/>
            </a:endParaRPr>
          </a:p>
        </p:txBody>
      </p:sp>
      <p:sp>
        <p:nvSpPr>
          <p:cNvPr id="29" name="TextBox 28">
            <a:extLst>
              <a:ext uri="{FF2B5EF4-FFF2-40B4-BE49-F238E27FC236}">
                <a16:creationId xmlns:a16="http://schemas.microsoft.com/office/drawing/2014/main" id="{51B3F2F1-91AB-045C-BE62-6EFC7F4E4BA7}"/>
              </a:ext>
            </a:extLst>
          </p:cNvPr>
          <p:cNvSpPr>
            <a:spLocks noGrp="1"/>
          </p:cNvSpPr>
          <p:nvPr>
            <p:ph idx="1"/>
          </p:nvPr>
        </p:nvSpPr>
        <p:spPr>
          <a:xfrm>
            <a:off x="5109302" y="5382381"/>
            <a:ext cx="6748933" cy="814061"/>
          </a:xfrm>
          <a:prstGeom prst="rect">
            <a:avLst/>
          </a:prstGeom>
        </p:spPr>
        <p:txBody>
          <a:bodyPr vert="horz" wrap="square" lIns="0" tIns="0" rIns="0" bIns="0" rtlCol="0" anchor="t" anchorCtr="0">
            <a:noAutofit/>
          </a:bodyPr>
          <a:lstStyle/>
          <a:p>
            <a:pPr marL="285750" indent="-285750">
              <a:lnSpc>
                <a:spcPct val="150000"/>
              </a:lnSpc>
              <a:buBlip>
                <a:blip r:embed="rId4"/>
              </a:buBlip>
              <a:defRPr/>
            </a:pPr>
            <a:r>
              <a:rPr lang="en-US" sz="1100" spc="-10">
                <a:latin typeface="Arial" pitchFamily="34" charset="0"/>
                <a:ea typeface="Lato"/>
                <a:cs typeface="Lato"/>
              </a:rPr>
              <a:t>Will he be able to lead and influence technical platform projects for enterprise impact? </a:t>
            </a:r>
            <a:endParaRPr lang="en-US" spc="-10">
              <a:latin typeface="Arial" pitchFamily="34" charset="0"/>
              <a:ea typeface="Lato"/>
              <a:cs typeface="Lato"/>
            </a:endParaRPr>
          </a:p>
          <a:p>
            <a:pPr marL="285750" indent="-285750">
              <a:lnSpc>
                <a:spcPct val="150000"/>
              </a:lnSpc>
              <a:buBlip>
                <a:blip r:embed="rId4"/>
              </a:buBlip>
              <a:defRPr/>
            </a:pPr>
            <a:r>
              <a:rPr lang="en-US" sz="1100" spc="-10">
                <a:latin typeface="Arial" pitchFamily="34" charset="0"/>
                <a:ea typeface="Lato"/>
                <a:cs typeface="Lato"/>
              </a:rPr>
              <a:t>Can he convert pilots into go-to-market results and repeatable outcomes?</a:t>
            </a:r>
            <a:endParaRPr lang="en-US">
              <a:ea typeface="Lato"/>
              <a:cs typeface="Lato"/>
            </a:endParaRPr>
          </a:p>
        </p:txBody>
      </p:sp>
      <p:sp>
        <p:nvSpPr>
          <p:cNvPr id="30" name="Rectangle: Rounded Corners 58">
            <a:extLst>
              <a:ext uri="{FF2B5EF4-FFF2-40B4-BE49-F238E27FC236}">
                <a16:creationId xmlns:a16="http://schemas.microsoft.com/office/drawing/2014/main" id="{1AB5262C-2A1F-8E0C-8113-588318FC91EA}"/>
              </a:ext>
            </a:extLst>
          </p:cNvPr>
          <p:cNvSpPr/>
          <p:nvPr/>
        </p:nvSpPr>
        <p:spPr>
          <a:xfrm>
            <a:off x="7035088" y="4943711"/>
            <a:ext cx="2860903" cy="264789"/>
          </a:xfrm>
          <a:prstGeom prst="roundRect">
            <a:avLst/>
          </a:prstGeom>
          <a:solidFill>
            <a:srgbClr val="2B3A42"/>
          </a:solidFill>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r>
              <a:rPr lang="en-US" sz="1400" b="1" spc="-10">
                <a:solidFill>
                  <a:srgbClr val="FFFFFF"/>
                </a:solidFill>
                <a:latin typeface="Segoe UI" pitchFamily="34" charset="0"/>
                <a:ea typeface="Lato" panose="020F0502020204030203" pitchFamily="34" charset="0"/>
                <a:cs typeface="Lato" panose="020F0502020204030203" pitchFamily="34" charset="0"/>
              </a:rPr>
              <a:t>Key Questions</a:t>
            </a:r>
            <a:endParaRPr kumimoji="0" lang="en-US" sz="1400" b="1" i="0" u="none" strike="noStrike" kern="1200" cap="none" spc="-10" normalizeH="0" baseline="0" noProof="0">
              <a:ln>
                <a:noFill/>
              </a:ln>
              <a:solidFill>
                <a:srgbClr val="FFFFFF"/>
              </a:solidFill>
              <a:effectLst/>
              <a:uLnTx/>
              <a:uFillTx/>
              <a:latin typeface="Segoe UI" pitchFamily="34" charset="0"/>
              <a:ea typeface="Lato" panose="020F0502020204030203" pitchFamily="34" charset="0"/>
              <a:cs typeface="Lato" panose="020F0502020204030203" pitchFamily="34" charset="0"/>
            </a:endParaRPr>
          </a:p>
        </p:txBody>
      </p:sp>
      <p:sp>
        <p:nvSpPr>
          <p:cNvPr id="32" name="Rectangle: Rounded Corners 5">
            <a:extLst>
              <a:ext uri="{FF2B5EF4-FFF2-40B4-BE49-F238E27FC236}">
                <a16:creationId xmlns:a16="http://schemas.microsoft.com/office/drawing/2014/main" id="{3C942D83-F44C-7CA7-FAB9-EFF93A829B4B}"/>
              </a:ext>
            </a:extLst>
          </p:cNvPr>
          <p:cNvSpPr/>
          <p:nvPr/>
        </p:nvSpPr>
        <p:spPr>
          <a:xfrm>
            <a:off x="468764" y="1273212"/>
            <a:ext cx="4413871" cy="5062865"/>
          </a:xfrm>
          <a:prstGeom prst="roundRect">
            <a:avLst>
              <a:gd name="adj" fmla="val 4418"/>
            </a:avLst>
          </a:prstGeom>
          <a:solidFill>
            <a:schemeClr val="bg1"/>
          </a:solidFill>
          <a:ln>
            <a:solidFill>
              <a:schemeClr val="tx1"/>
            </a:solid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400" b="0" i="0" u="none" strike="noStrike" kern="0" cap="none" spc="-10" normalizeH="0" baseline="0" noProof="0">
              <a:ln>
                <a:noFill/>
              </a:ln>
              <a:solidFill>
                <a:srgbClr val="3B3B3B"/>
              </a:solidFill>
              <a:effectLst/>
              <a:uLnTx/>
              <a:uFillTx/>
              <a:latin typeface="Arial" pitchFamily="34" charset="0"/>
              <a:ea typeface="Lato" panose="020F0502020204030203" pitchFamily="34" charset="0"/>
              <a:cs typeface="Lato" panose="020F0502020204030203" pitchFamily="34" charset="0"/>
            </a:endParaRPr>
          </a:p>
        </p:txBody>
      </p:sp>
      <p:graphicFrame>
        <p:nvGraphicFramePr>
          <p:cNvPr id="33" name="Table 32">
            <a:extLst>
              <a:ext uri="{FF2B5EF4-FFF2-40B4-BE49-F238E27FC236}">
                <a16:creationId xmlns:a16="http://schemas.microsoft.com/office/drawing/2014/main" id="{04855940-133E-27FD-2D37-080938493FB9}"/>
              </a:ext>
            </a:extLst>
          </p:cNvPr>
          <p:cNvGraphicFramePr>
            <a:graphicFrameLocks noGrp="1"/>
          </p:cNvGraphicFramePr>
          <p:nvPr>
            <p:extLst>
              <p:ext uri="{D42A27DB-BD31-4B8C-83A1-F6EECF244321}">
                <p14:modId xmlns:p14="http://schemas.microsoft.com/office/powerpoint/2010/main" val="3541738366"/>
              </p:ext>
            </p:extLst>
          </p:nvPr>
        </p:nvGraphicFramePr>
        <p:xfrm>
          <a:off x="534932" y="1858230"/>
          <a:ext cx="4210440" cy="2407536"/>
        </p:xfrm>
        <a:graphic>
          <a:graphicData uri="http://schemas.openxmlformats.org/drawingml/2006/table">
            <a:tbl>
              <a:tblPr firstRow="1" bandRow="1">
                <a:noFill/>
              </a:tblPr>
              <a:tblGrid>
                <a:gridCol w="138215">
                  <a:extLst>
                    <a:ext uri="{9D8B030D-6E8A-4147-A177-3AD203B41FA5}">
                      <a16:colId xmlns:a16="http://schemas.microsoft.com/office/drawing/2014/main" val="4045183263"/>
                    </a:ext>
                  </a:extLst>
                </a:gridCol>
                <a:gridCol w="484571">
                  <a:extLst>
                    <a:ext uri="{9D8B030D-6E8A-4147-A177-3AD203B41FA5}">
                      <a16:colId xmlns:a16="http://schemas.microsoft.com/office/drawing/2014/main" val="2792494177"/>
                    </a:ext>
                  </a:extLst>
                </a:gridCol>
                <a:gridCol w="2524029">
                  <a:extLst>
                    <a:ext uri="{9D8B030D-6E8A-4147-A177-3AD203B41FA5}">
                      <a16:colId xmlns:a16="http://schemas.microsoft.com/office/drawing/2014/main" val="712467885"/>
                    </a:ext>
                  </a:extLst>
                </a:gridCol>
                <a:gridCol w="1063625">
                  <a:extLst>
                    <a:ext uri="{9D8B030D-6E8A-4147-A177-3AD203B41FA5}">
                      <a16:colId xmlns:a16="http://schemas.microsoft.com/office/drawing/2014/main" val="744153965"/>
                    </a:ext>
                  </a:extLst>
                </a:gridCol>
              </a:tblGrid>
              <a:tr h="262033">
                <a:tc gridSpan="3">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dirty="0">
                          <a:solidFill>
                            <a:schemeClr val="bg2">
                              <a:lumMod val="50000"/>
                            </a:schemeClr>
                          </a:solidFill>
                          <a:latin typeface="+mj-lt"/>
                          <a:ea typeface="Calibri" panose="020F0502020204030204" pitchFamily="34" charset="0"/>
                          <a:cs typeface="Calibri" panose="020F0502020204030204" pitchFamily="34" charset="0"/>
                        </a:rPr>
                        <a:t>Jobs To Be Done</a:t>
                      </a:r>
                    </a:p>
                  </a:txBody>
                  <a:tcPr>
                    <a:lnL w="9525" cap="flat" cmpd="sng" algn="ctr">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400" b="1">
                        <a:solidFill>
                          <a:schemeClr val="tx1"/>
                        </a:solidFill>
                        <a:latin typeface="+mn-lt"/>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000" b="1" i="0" u="none" strike="noStrike" kern="1200" cap="none" spc="0" normalizeH="0" baseline="0" noProof="0">
                          <a:ln>
                            <a:noFill/>
                          </a:ln>
                          <a:solidFill>
                            <a:schemeClr val="bg2">
                              <a:lumMod val="50000"/>
                            </a:schemeClr>
                          </a:solidFill>
                          <a:effectLst/>
                          <a:uLnTx/>
                          <a:uFillTx/>
                          <a:latin typeface="+mn-lt"/>
                          <a:ea typeface="Calibri" panose="020F0502020204030204" pitchFamily="34" charset="0"/>
                          <a:cs typeface="Calibri" panose="020F0502020204030204" pitchFamily="34" charset="0"/>
                        </a:rPr>
                        <a:t>Readiness</a:t>
                      </a:r>
                    </a:p>
                  </a:txBody>
                  <a:tcPr marL="0" marR="0" marT="0" marB="0"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no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58108829"/>
                  </a:ext>
                </a:extLst>
              </a:tr>
              <a:tr h="556251">
                <a:tc>
                  <a:txBody>
                    <a:bodyPr/>
                    <a:lstStyle/>
                    <a:p>
                      <a:pPr algn="ctr"/>
                      <a:r>
                        <a:rPr lang="en-US" sz="1200">
                          <a:solidFill>
                            <a:schemeClr val="bg2">
                              <a:lumMod val="10000"/>
                            </a:schemeClr>
                          </a:solidFill>
                          <a:latin typeface="+mj-lt"/>
                          <a:ea typeface="Calibri" panose="020F0502020204030204" pitchFamily="34" charset="0"/>
                          <a:cs typeface="Calibri" panose="020F0502020204030204" pitchFamily="34" charset="0"/>
                        </a:rPr>
                        <a:t>1</a:t>
                      </a:r>
                    </a:p>
                  </a:txBody>
                  <a:tcPr marL="25977" marR="25977" marT="14288" marB="14288" anchor="ctr">
                    <a:lnL w="9525" cap="flat" cmpd="sng" algn="ctr">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a:latin typeface="Arial" pitchFamily="34" charset="0"/>
                          <a:ea typeface="Lato" panose="020F0502020204030203" pitchFamily="34" charset="0"/>
                          <a:cs typeface="Lato" panose="020F0502020204030203" pitchFamily="34" charset="0"/>
                        </a:rPr>
                        <a:t>30%</a:t>
                      </a:r>
                    </a:p>
                  </a:txBody>
                  <a:tcPr marL="25977" marR="25977" marT="14288" marB="14288"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lvl="0">
                        <a:defRPr/>
                      </a:pPr>
                      <a:r>
                        <a:rPr lang="en-US" sz="1200" b="1">
                          <a:solidFill>
                            <a:srgbClr val="1D1D1D"/>
                          </a:solidFill>
                          <a:latin typeface="Arial" pitchFamily="34" charset="0"/>
                          <a:ea typeface="Lato" panose="020F0502020204030203" pitchFamily="34" charset="0"/>
                          <a:cs typeface="Lato" panose="020F0502020204030203" pitchFamily="34" charset="0"/>
                        </a:rPr>
                        <a:t>Continuous Improvement of Infrastructure</a:t>
                      </a:r>
                      <a:endPar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endParaRPr>
                    </a:p>
                  </a:txBody>
                  <a:tcP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GB" sz="1200" b="0" i="0" u="none" strike="noStrike" kern="1200" cap="none" spc="0" normalizeH="0" baseline="0" noProof="0">
                        <a:ln>
                          <a:noFill/>
                        </a:ln>
                        <a:solidFill>
                          <a:srgbClr val="BBDC8C"/>
                        </a:solidFill>
                        <a:effectLst/>
                        <a:uLnTx/>
                        <a:uFillTx/>
                        <a:latin typeface="+mj-lt"/>
                        <a:ea typeface="+mn-ea"/>
                        <a:cs typeface="+mn-cs"/>
                      </a:endParaRPr>
                    </a:p>
                  </a:txBody>
                  <a:tcPr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1978187"/>
                  </a:ext>
                </a:extLst>
              </a:tr>
              <a:tr h="414533">
                <a:tc>
                  <a:txBody>
                    <a:bodyPr/>
                    <a:lstStyle/>
                    <a:p>
                      <a:pPr algn="ctr"/>
                      <a:r>
                        <a:rPr lang="en-US" sz="1200">
                          <a:solidFill>
                            <a:schemeClr val="bg2">
                              <a:lumMod val="10000"/>
                            </a:schemeClr>
                          </a:solidFill>
                          <a:latin typeface="+mj-lt"/>
                          <a:ea typeface="Calibri" panose="020F0502020204030204" pitchFamily="34" charset="0"/>
                          <a:cs typeface="Calibri" panose="020F0502020204030204" pitchFamily="34" charset="0"/>
                        </a:rPr>
                        <a:t>2</a:t>
                      </a:r>
                    </a:p>
                  </a:txBody>
                  <a:tcPr marL="25977" marR="25977" marT="14288" marB="14288" anchor="ctr">
                    <a:lnL w="9525" cap="flat" cmpd="sng" algn="ctr">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a:latin typeface="Arial" pitchFamily="34" charset="0"/>
                          <a:ea typeface="Lato" panose="020F0502020204030203" pitchFamily="34" charset="0"/>
                          <a:cs typeface="Lato" panose="020F0502020204030203" pitchFamily="34" charset="0"/>
                        </a:rPr>
                        <a:t>35%</a:t>
                      </a:r>
                    </a:p>
                  </a:txBody>
                  <a:tcPr marL="25977" marR="25977" marT="14288" marB="14288"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rPr>
                        <a:t>Digital Transformation of Core Processes</a:t>
                      </a:r>
                    </a:p>
                  </a:txBody>
                  <a:tcP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0" kern="1200">
                        <a:solidFill>
                          <a:srgbClr val="BBDC8C"/>
                        </a:solidFill>
                        <a:latin typeface="+mn-lt"/>
                        <a:ea typeface="Lato" panose="020F0502020204030203" pitchFamily="34" charset="0"/>
                        <a:cs typeface="Lato" panose="020F0502020204030203" pitchFamily="34" charset="0"/>
                      </a:endParaRPr>
                    </a:p>
                  </a:txBody>
                  <a:tcPr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5556662"/>
                  </a:ext>
                </a:extLst>
              </a:tr>
              <a:tr h="419725">
                <a:tc>
                  <a:txBody>
                    <a:bodyPr/>
                    <a:lstStyle/>
                    <a:p>
                      <a:pPr algn="ctr"/>
                      <a:r>
                        <a:rPr lang="en-US" sz="1200">
                          <a:solidFill>
                            <a:schemeClr val="bg2">
                              <a:lumMod val="10000"/>
                            </a:schemeClr>
                          </a:solidFill>
                          <a:latin typeface="+mj-lt"/>
                          <a:ea typeface="Calibri" panose="020F0502020204030204" pitchFamily="34" charset="0"/>
                          <a:cs typeface="Calibri" panose="020F0502020204030204" pitchFamily="34" charset="0"/>
                        </a:rPr>
                        <a:t>3</a:t>
                      </a:r>
                    </a:p>
                  </a:txBody>
                  <a:tcPr marL="25977" marR="25977" marT="14288" marB="14288" anchor="ctr">
                    <a:lnL w="9525" cap="flat" cmpd="sng">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a:latin typeface="Arial" pitchFamily="34" charset="0"/>
                          <a:ea typeface="Lato" panose="020F0502020204030203" pitchFamily="34" charset="0"/>
                          <a:cs typeface="Lato" panose="020F0502020204030203" pitchFamily="34" charset="0"/>
                        </a:rPr>
                        <a:t>15%</a:t>
                      </a:r>
                    </a:p>
                  </a:txBody>
                  <a:tcPr marL="25977" marR="25977" marT="14288" marB="14288"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rPr>
                        <a:t>Digital Innovation for New Products, Services, and Revenue Streams</a:t>
                      </a:r>
                    </a:p>
                  </a:txBody>
                  <a:tcP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0">
                        <a:solidFill>
                          <a:srgbClr val="FF6B00"/>
                        </a:solidFill>
                        <a:latin typeface="+mj-lt"/>
                        <a:ea typeface="Lato" panose="020F0502020204030203" pitchFamily="34" charset="0"/>
                        <a:cs typeface="Lato" panose="020F0502020204030203" pitchFamily="34" charset="0"/>
                      </a:endParaRPr>
                    </a:p>
                  </a:txBody>
                  <a:tcPr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9558485"/>
                  </a:ext>
                </a:extLst>
              </a:tr>
              <a:tr h="479685">
                <a:tc>
                  <a:txBody>
                    <a:bodyPr/>
                    <a:lstStyle/>
                    <a:p>
                      <a:pPr algn="ctr"/>
                      <a:r>
                        <a:rPr lang="en-US" sz="1200">
                          <a:solidFill>
                            <a:schemeClr val="bg2">
                              <a:lumMod val="10000"/>
                            </a:schemeClr>
                          </a:solidFill>
                          <a:latin typeface="+mj-lt"/>
                          <a:ea typeface="Calibri" panose="020F0502020204030204" pitchFamily="34" charset="0"/>
                          <a:cs typeface="Calibri" panose="020F0502020204030204" pitchFamily="34" charset="0"/>
                        </a:rPr>
                        <a:t>4</a:t>
                      </a:r>
                    </a:p>
                  </a:txBody>
                  <a:tcPr marL="25977" marR="25977" marT="14288" marB="14288" anchor="ctr">
                    <a:lnL w="9525" cap="flat" cmpd="sng">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a:latin typeface="Arial" pitchFamily="34" charset="0"/>
                          <a:ea typeface="Lato" panose="020F0502020204030203" pitchFamily="34" charset="0"/>
                          <a:cs typeface="Lato" panose="020F0502020204030203" pitchFamily="34" charset="0"/>
                        </a:rPr>
                        <a:t>20%</a:t>
                      </a:r>
                    </a:p>
                  </a:txBody>
                  <a:tcPr marL="25977" marR="25977" marT="14288" marB="14288"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latin typeface="Arial" pitchFamily="34" charset="0"/>
                          <a:ea typeface="Lato" panose="020F0502020204030203" pitchFamily="34" charset="0"/>
                          <a:cs typeface="Lato" panose="020F0502020204030203" pitchFamily="34" charset="0"/>
                        </a:rPr>
                        <a:t>Major Platform &amp; Technology Upgrade</a:t>
                      </a:r>
                    </a:p>
                  </a:txBody>
                  <a:tcP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0">
                        <a:solidFill>
                          <a:srgbClr val="05B050"/>
                        </a:solidFill>
                        <a:latin typeface="+mj-lt"/>
                        <a:ea typeface="Lato" panose="020F0502020204030203" pitchFamily="34" charset="0"/>
                        <a:cs typeface="Lato" panose="020F0502020204030203" pitchFamily="34" charset="0"/>
                      </a:endParaRPr>
                    </a:p>
                  </a:txBody>
                  <a:tcPr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019147"/>
                  </a:ext>
                </a:extLst>
              </a:tr>
            </a:tbl>
          </a:graphicData>
        </a:graphic>
      </p:graphicFrame>
      <p:sp>
        <p:nvSpPr>
          <p:cNvPr id="35" name="TextBox 34">
            <a:extLst>
              <a:ext uri="{FF2B5EF4-FFF2-40B4-BE49-F238E27FC236}">
                <a16:creationId xmlns:a16="http://schemas.microsoft.com/office/drawing/2014/main" id="{1DAD5A6C-7820-28AF-B61D-374AE8CF83A4}"/>
              </a:ext>
            </a:extLst>
          </p:cNvPr>
          <p:cNvSpPr txBox="1"/>
          <p:nvPr/>
        </p:nvSpPr>
        <p:spPr>
          <a:xfrm>
            <a:off x="563253" y="1354598"/>
            <a:ext cx="2876224" cy="374249"/>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rPr>
              <a:t>Marcus Chen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i="1" spc="-10">
                <a:latin typeface="Arial" pitchFamily="34" charset="0"/>
                <a:ea typeface="Lato" panose="020F0502020204030203" pitchFamily="34" charset="0"/>
                <a:cs typeface="Lato" panose="020F0502020204030203" pitchFamily="34" charset="0"/>
              </a:rPr>
              <a:t>Head of Product &amp; Data Commercialization</a:t>
            </a:r>
          </a:p>
        </p:txBody>
      </p:sp>
      <p:sp>
        <p:nvSpPr>
          <p:cNvPr id="38" name="Rectangle 37">
            <a:extLst>
              <a:ext uri="{FF2B5EF4-FFF2-40B4-BE49-F238E27FC236}">
                <a16:creationId xmlns:a16="http://schemas.microsoft.com/office/drawing/2014/main" id="{9C95D4B9-549D-DB93-B27B-6F7780E18A3D}"/>
              </a:ext>
            </a:extLst>
          </p:cNvPr>
          <p:cNvSpPr/>
          <p:nvPr/>
        </p:nvSpPr>
        <p:spPr>
          <a:xfrm>
            <a:off x="3745425" y="2941038"/>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sp>
        <p:nvSpPr>
          <p:cNvPr id="41" name="Rectangle 40">
            <a:extLst>
              <a:ext uri="{FF2B5EF4-FFF2-40B4-BE49-F238E27FC236}">
                <a16:creationId xmlns:a16="http://schemas.microsoft.com/office/drawing/2014/main" id="{5F85B13E-CB09-E595-05B9-5627F3F66E36}"/>
              </a:ext>
            </a:extLst>
          </p:cNvPr>
          <p:cNvSpPr/>
          <p:nvPr/>
        </p:nvSpPr>
        <p:spPr>
          <a:xfrm>
            <a:off x="3745425" y="3428873"/>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sp>
        <p:nvSpPr>
          <p:cNvPr id="44" name="Rectangle 43">
            <a:extLst>
              <a:ext uri="{FF2B5EF4-FFF2-40B4-BE49-F238E27FC236}">
                <a16:creationId xmlns:a16="http://schemas.microsoft.com/office/drawing/2014/main" id="{814ABE67-B5BC-CA4A-C84A-3207F58824FF}"/>
              </a:ext>
            </a:extLst>
          </p:cNvPr>
          <p:cNvSpPr/>
          <p:nvPr/>
        </p:nvSpPr>
        <p:spPr>
          <a:xfrm>
            <a:off x="3745425" y="4014584"/>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sp>
        <p:nvSpPr>
          <p:cNvPr id="50" name="Rectangle 49">
            <a:extLst>
              <a:ext uri="{FF2B5EF4-FFF2-40B4-BE49-F238E27FC236}">
                <a16:creationId xmlns:a16="http://schemas.microsoft.com/office/drawing/2014/main" id="{82D364DE-3B84-0725-162F-0DFB090A3BB2}"/>
              </a:ext>
            </a:extLst>
          </p:cNvPr>
          <p:cNvSpPr/>
          <p:nvPr/>
        </p:nvSpPr>
        <p:spPr>
          <a:xfrm>
            <a:off x="3758128" y="2421469"/>
            <a:ext cx="931815"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graphicFrame>
        <p:nvGraphicFramePr>
          <p:cNvPr id="52" name="Table 51">
            <a:extLst>
              <a:ext uri="{FF2B5EF4-FFF2-40B4-BE49-F238E27FC236}">
                <a16:creationId xmlns:a16="http://schemas.microsoft.com/office/drawing/2014/main" id="{6A5DF8CC-09AB-D421-1E38-C5D9C308D8D9}"/>
              </a:ext>
            </a:extLst>
          </p:cNvPr>
          <p:cNvGraphicFramePr>
            <a:graphicFrameLocks noGrp="1"/>
          </p:cNvGraphicFramePr>
          <p:nvPr>
            <p:extLst>
              <p:ext uri="{D42A27DB-BD31-4B8C-83A1-F6EECF244321}">
                <p14:modId xmlns:p14="http://schemas.microsoft.com/office/powerpoint/2010/main" val="2900408532"/>
              </p:ext>
            </p:extLst>
          </p:nvPr>
        </p:nvGraphicFramePr>
        <p:xfrm>
          <a:off x="563253" y="4470682"/>
          <a:ext cx="4173992" cy="2133600"/>
        </p:xfrm>
        <a:graphic>
          <a:graphicData uri="http://schemas.openxmlformats.org/drawingml/2006/table">
            <a:tbl>
              <a:tblPr firstRow="1">
                <a:noFill/>
              </a:tblPr>
              <a:tblGrid>
                <a:gridCol w="328992">
                  <a:extLst>
                    <a:ext uri="{9D8B030D-6E8A-4147-A177-3AD203B41FA5}">
                      <a16:colId xmlns:a16="http://schemas.microsoft.com/office/drawing/2014/main" val="4045183263"/>
                    </a:ext>
                  </a:extLst>
                </a:gridCol>
                <a:gridCol w="2788160">
                  <a:extLst>
                    <a:ext uri="{9D8B030D-6E8A-4147-A177-3AD203B41FA5}">
                      <a16:colId xmlns:a16="http://schemas.microsoft.com/office/drawing/2014/main" val="712467885"/>
                    </a:ext>
                  </a:extLst>
                </a:gridCol>
                <a:gridCol w="1056840">
                  <a:extLst>
                    <a:ext uri="{9D8B030D-6E8A-4147-A177-3AD203B41FA5}">
                      <a16:colId xmlns:a16="http://schemas.microsoft.com/office/drawing/2014/main" val="744153965"/>
                    </a:ext>
                  </a:extLst>
                </a:gridCol>
              </a:tblGrid>
              <a:tr h="253113">
                <a:tc gridSpan="2">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solidFill>
                            <a:schemeClr val="bg2">
                              <a:lumMod val="50000"/>
                            </a:schemeClr>
                          </a:solidFill>
                          <a:latin typeface="+mj-lt"/>
                          <a:ea typeface="Calibri"/>
                          <a:cs typeface="Calibri"/>
                        </a:rPr>
                        <a:t>Superpowers</a:t>
                      </a:r>
                    </a:p>
                  </a:txBody>
                  <a:tcPr>
                    <a:lnL w="12700" cap="flat" cmpd="sng" algn="ctr">
                      <a:no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endParaRPr kumimoji="0" lang="en-US" sz="1100" b="1" i="0" u="none" strike="noStrike" kern="1200" cap="none" spc="0" normalizeH="0" baseline="0" noProof="0">
                        <a:ln>
                          <a:noFill/>
                        </a:ln>
                        <a:solidFill>
                          <a:schemeClr val="bg2">
                            <a:lumMod val="50000"/>
                          </a:schemeClr>
                        </a:solidFill>
                        <a:effectLst/>
                        <a:uLnTx/>
                        <a:uFillTx/>
                        <a:latin typeface="+mn-lt"/>
                        <a:ea typeface="Calibri" panose="020F0502020204030204" pitchFamily="34" charset="0"/>
                        <a:cs typeface="Calibri" panose="020F0502020204030204" pitchFamily="34" charset="0"/>
                      </a:endParaRPr>
                    </a:p>
                  </a:txBody>
                  <a:tcPr marL="0" marR="0" marT="0" marB="0" anchor="ctr">
                    <a:lnL w="12700" cap="flat" cmpd="sng" algn="ctr">
                      <a:solidFill>
                        <a:srgbClr val="EDEDEC"/>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58108829"/>
                  </a:ext>
                </a:extLst>
              </a:tr>
              <a:tr h="703092">
                <a:tc>
                  <a:txBody>
                    <a:bodyPr/>
                    <a:lstStyle/>
                    <a:p>
                      <a:pPr algn="ctr"/>
                      <a:r>
                        <a:rPr lang="en-US" sz="1100">
                          <a:solidFill>
                            <a:schemeClr val="bg2">
                              <a:lumMod val="10000"/>
                            </a:schemeClr>
                          </a:solidFill>
                          <a:latin typeface="+mj-lt"/>
                          <a:ea typeface="Calibri"/>
                          <a:cs typeface="Calibri"/>
                        </a:rPr>
                        <a:t>1</a:t>
                      </a:r>
                    </a:p>
                  </a:txBody>
                  <a:tcPr marL="25977" marR="25977" marT="14288" marB="14288" anchor="ctr">
                    <a:lnL w="12700" cap="flat" cmpd="sng" algn="ctr">
                      <a:no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a:lnSpc>
                          <a:spcPct val="100000"/>
                        </a:lnSpc>
                        <a:spcBef>
                          <a:spcPts val="0"/>
                        </a:spcBef>
                        <a:spcAft>
                          <a:spcPts val="0"/>
                        </a:spcAft>
                        <a:buNone/>
                      </a:pPr>
                      <a:r>
                        <a:rPr lang="en-US" sz="1100" b="1" i="0" u="none" strike="noStrike" kern="1200" baseline="0" noProof="0">
                          <a:solidFill>
                            <a:srgbClr val="1D1D1D"/>
                          </a:solidFill>
                          <a:latin typeface="Arial" pitchFamily="34" charset="0"/>
                        </a:rPr>
                        <a:t>Outstanding collaborator with business leaders, providing expert advice to impact commercial and operational goals.</a:t>
                      </a:r>
                    </a:p>
                  </a:txBody>
                  <a:tcP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GB" sz="1100" b="0" i="0" u="none" strike="noStrike" kern="1200" cap="none" spc="0" normalizeH="0" baseline="0" noProof="0">
                        <a:ln>
                          <a:noFill/>
                        </a:ln>
                        <a:solidFill>
                          <a:srgbClr val="BBDC8C"/>
                        </a:solidFill>
                        <a:effectLst/>
                        <a:uLnTx/>
                        <a:uFillTx/>
                        <a:latin typeface="+mj-lt"/>
                        <a:ea typeface="+mn-ea"/>
                        <a:cs typeface="+mn-cs"/>
                      </a:endParaRPr>
                    </a:p>
                  </a:txBody>
                  <a:tcPr anchor="ctr">
                    <a:lnL w="12700" cap="flat" cmpd="sng" algn="ctr">
                      <a:solidFill>
                        <a:srgbClr val="EDEDEC"/>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1978187"/>
                  </a:ext>
                </a:extLst>
              </a:tr>
              <a:tr h="593965">
                <a:tc>
                  <a:txBody>
                    <a:bodyPr/>
                    <a:lstStyle/>
                    <a:p>
                      <a:pPr algn="ctr"/>
                      <a:r>
                        <a:rPr lang="en-US" sz="1100">
                          <a:solidFill>
                            <a:schemeClr val="bg2">
                              <a:lumMod val="10000"/>
                            </a:schemeClr>
                          </a:solidFill>
                          <a:latin typeface="+mj-lt"/>
                          <a:ea typeface="Calibri"/>
                          <a:cs typeface="Calibri"/>
                        </a:rPr>
                        <a:t>2</a:t>
                      </a:r>
                    </a:p>
                  </a:txBody>
                  <a:tcPr marL="25977" marR="25977" marT="14288" marB="14288" anchor="ctr">
                    <a:lnL w="12700" cap="flat" cmpd="sng" algn="ctr">
                      <a:no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a:lnSpc>
                          <a:spcPct val="100000"/>
                        </a:lnSpc>
                        <a:spcBef>
                          <a:spcPts val="0"/>
                        </a:spcBef>
                        <a:spcAft>
                          <a:spcPts val="0"/>
                        </a:spcAft>
                        <a:buNone/>
                      </a:pPr>
                      <a:r>
                        <a:rPr lang="en-US" sz="1100" b="1" i="0" u="none" strike="noStrike" kern="1200" baseline="0" noProof="0">
                          <a:solidFill>
                            <a:srgbClr val="1D1D1D"/>
                          </a:solidFill>
                          <a:latin typeface="Arial" pitchFamily="34" charset="0"/>
                        </a:rPr>
                        <a:t>Continuously improving digital infrastructure and data quality, while driving future-focused digital products, services, and innovation leading to business growth</a:t>
                      </a:r>
                      <a:br>
                        <a:rPr lang="en-US" sz="1100" b="1" i="0" u="none" strike="noStrike" kern="1200" baseline="0" noProof="0">
                          <a:solidFill>
                            <a:srgbClr val="1D1D1D"/>
                          </a:solidFill>
                          <a:latin typeface="Arial" pitchFamily="34" charset="0"/>
                        </a:rPr>
                      </a:br>
                      <a:endParaRPr lang="en-US" sz="1100" b="1" i="0" u="none" strike="noStrike" kern="1200" baseline="0" noProof="0">
                        <a:solidFill>
                          <a:srgbClr val="1D1D1D"/>
                        </a:solidFill>
                        <a:latin typeface="Arial" pitchFamily="34" charset="0"/>
                      </a:endParaRPr>
                    </a:p>
                  </a:txBody>
                  <a:tcP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b="0" kern="1200">
                        <a:solidFill>
                          <a:srgbClr val="BBDC8C"/>
                        </a:solidFill>
                        <a:latin typeface="+mn-lt"/>
                        <a:ea typeface="Lato" panose="020F0502020204030203" pitchFamily="34" charset="0"/>
                        <a:cs typeface="Lato" panose="020F0502020204030203" pitchFamily="34" charset="0"/>
                      </a:endParaRPr>
                    </a:p>
                  </a:txBody>
                  <a:tcPr anchor="ctr">
                    <a:lnL w="12700" cap="flat" cmpd="sng" algn="ctr">
                      <a:solidFill>
                        <a:srgbClr val="EDEDEC"/>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5556662"/>
                  </a:ext>
                </a:extLst>
              </a:tr>
            </a:tbl>
          </a:graphicData>
        </a:graphic>
      </p:graphicFrame>
      <p:sp>
        <p:nvSpPr>
          <p:cNvPr id="54" name="Rectangle 53">
            <a:extLst>
              <a:ext uri="{FF2B5EF4-FFF2-40B4-BE49-F238E27FC236}">
                <a16:creationId xmlns:a16="http://schemas.microsoft.com/office/drawing/2014/main" id="{15B8EAC0-7039-A209-2309-1126DFB60EDB}"/>
              </a:ext>
            </a:extLst>
          </p:cNvPr>
          <p:cNvSpPr/>
          <p:nvPr/>
        </p:nvSpPr>
        <p:spPr>
          <a:xfrm>
            <a:off x="3745425" y="5054256"/>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sp>
        <p:nvSpPr>
          <p:cNvPr id="57" name="Rectangle 56">
            <a:extLst>
              <a:ext uri="{FF2B5EF4-FFF2-40B4-BE49-F238E27FC236}">
                <a16:creationId xmlns:a16="http://schemas.microsoft.com/office/drawing/2014/main" id="{DAB5D740-8EAC-4370-E982-652EC2DAC636}"/>
              </a:ext>
            </a:extLst>
          </p:cNvPr>
          <p:cNvSpPr/>
          <p:nvPr/>
        </p:nvSpPr>
        <p:spPr>
          <a:xfrm>
            <a:off x="3745425" y="5885000"/>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grpSp>
        <p:nvGrpSpPr>
          <p:cNvPr id="110" name="Group 109">
            <a:extLst>
              <a:ext uri="{FF2B5EF4-FFF2-40B4-BE49-F238E27FC236}">
                <a16:creationId xmlns:a16="http://schemas.microsoft.com/office/drawing/2014/main" id="{B232943E-AA08-0D77-FB41-F3B9B68E5866}"/>
              </a:ext>
            </a:extLst>
          </p:cNvPr>
          <p:cNvGrpSpPr/>
          <p:nvPr/>
        </p:nvGrpSpPr>
        <p:grpSpPr>
          <a:xfrm>
            <a:off x="1458371" y="6417463"/>
            <a:ext cx="3231572" cy="425660"/>
            <a:chOff x="899806" y="6448812"/>
            <a:chExt cx="3231572" cy="425660"/>
          </a:xfrm>
        </p:grpSpPr>
        <p:cxnSp>
          <p:nvCxnSpPr>
            <p:cNvPr id="59" name="Straight Arrow Connector 58">
              <a:extLst>
                <a:ext uri="{FF2B5EF4-FFF2-40B4-BE49-F238E27FC236}">
                  <a16:creationId xmlns:a16="http://schemas.microsoft.com/office/drawing/2014/main" id="{AD3EA0F5-82E0-FDBC-C923-E424AA5099E7}"/>
                </a:ext>
              </a:extLst>
            </p:cNvPr>
            <p:cNvCxnSpPr>
              <a:cxnSpLocks/>
            </p:cNvCxnSpPr>
            <p:nvPr/>
          </p:nvCxnSpPr>
          <p:spPr>
            <a:xfrm>
              <a:off x="1439090" y="6628232"/>
              <a:ext cx="2351301" cy="0"/>
            </a:xfrm>
            <a:prstGeom prst="straightConnector1">
              <a:avLst/>
            </a:prstGeom>
            <a:ln>
              <a:solidFill>
                <a:schemeClr val="tx2">
                  <a:lumMod val="90000"/>
                </a:schemeClr>
              </a:solidFill>
              <a:headEnd type="triangle" w="med" len="sm"/>
              <a:tailEnd type="triangle" w="sm" len="sm"/>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E73EAED0-4592-A444-5783-A976EE28256D}"/>
                </a:ext>
              </a:extLst>
            </p:cNvPr>
            <p:cNvSpPr txBox="1"/>
            <p:nvPr/>
          </p:nvSpPr>
          <p:spPr>
            <a:xfrm>
              <a:off x="2169624" y="6448812"/>
              <a:ext cx="911919" cy="107722"/>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sym typeface="Lato Light"/>
                </a:rPr>
                <a:t>Readiness Scale</a:t>
              </a:r>
              <a:endPar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sp>
          <p:nvSpPr>
            <p:cNvPr id="61" name="TextBox 60">
              <a:extLst>
                <a:ext uri="{FF2B5EF4-FFF2-40B4-BE49-F238E27FC236}">
                  <a16:creationId xmlns:a16="http://schemas.microsoft.com/office/drawing/2014/main" id="{31AE5A03-3F0A-A8FC-1AD2-599988B93EE9}"/>
                </a:ext>
              </a:extLst>
            </p:cNvPr>
            <p:cNvSpPr txBox="1"/>
            <p:nvPr/>
          </p:nvSpPr>
          <p:spPr>
            <a:xfrm>
              <a:off x="1228319"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C0000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C00000"/>
                </a:solidFill>
                <a:effectLst/>
                <a:uLnTx/>
                <a:uFillTx/>
                <a:latin typeface="Arial" pitchFamily="34" charset="0"/>
                <a:ea typeface="Lato" panose="020F0502020204030203" pitchFamily="34" charset="0"/>
                <a:cs typeface="Lato" panose="020F0502020204030203" pitchFamily="34" charset="0"/>
              </a:endParaRPr>
            </a:p>
          </p:txBody>
        </p:sp>
        <p:sp>
          <p:nvSpPr>
            <p:cNvPr id="89" name="TextBox 88">
              <a:extLst>
                <a:ext uri="{FF2B5EF4-FFF2-40B4-BE49-F238E27FC236}">
                  <a16:creationId xmlns:a16="http://schemas.microsoft.com/office/drawing/2014/main" id="{24BF09AA-BC3A-8636-2AF8-2CFA54761C4C}"/>
                </a:ext>
              </a:extLst>
            </p:cNvPr>
            <p:cNvSpPr txBox="1"/>
            <p:nvPr/>
          </p:nvSpPr>
          <p:spPr>
            <a:xfrm>
              <a:off x="3851453"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00B05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00B050"/>
                </a:solidFill>
                <a:effectLst/>
                <a:uLnTx/>
                <a:uFillTx/>
                <a:latin typeface="Arial" pitchFamily="34" charset="0"/>
                <a:ea typeface="Lato" panose="020F0502020204030203" pitchFamily="34" charset="0"/>
                <a:cs typeface="Lato" panose="020F0502020204030203" pitchFamily="34" charset="0"/>
              </a:endParaRPr>
            </a:p>
          </p:txBody>
        </p:sp>
        <p:sp>
          <p:nvSpPr>
            <p:cNvPr id="90" name="TextBox 89">
              <a:extLst>
                <a:ext uri="{FF2B5EF4-FFF2-40B4-BE49-F238E27FC236}">
                  <a16:creationId xmlns:a16="http://schemas.microsoft.com/office/drawing/2014/main" id="{650AD8CA-7533-C3C5-CAC2-6A02DA3C9783}"/>
                </a:ext>
              </a:extLst>
            </p:cNvPr>
            <p:cNvSpPr txBox="1"/>
            <p:nvPr/>
          </p:nvSpPr>
          <p:spPr>
            <a:xfrm>
              <a:off x="1884102"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FF6B0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FF6B00"/>
                </a:solidFill>
                <a:effectLst/>
                <a:uLnTx/>
                <a:uFillTx/>
                <a:latin typeface="Arial" pitchFamily="34" charset="0"/>
                <a:ea typeface="Lato" panose="020F0502020204030203" pitchFamily="34" charset="0"/>
                <a:cs typeface="Lato" panose="020F0502020204030203" pitchFamily="34" charset="0"/>
              </a:endParaRPr>
            </a:p>
          </p:txBody>
        </p:sp>
        <p:sp>
          <p:nvSpPr>
            <p:cNvPr id="91" name="TextBox 90">
              <a:extLst>
                <a:ext uri="{FF2B5EF4-FFF2-40B4-BE49-F238E27FC236}">
                  <a16:creationId xmlns:a16="http://schemas.microsoft.com/office/drawing/2014/main" id="{DED96F45-FFA3-D86A-D7F1-36B4E6CDB7C7}"/>
                </a:ext>
              </a:extLst>
            </p:cNvPr>
            <p:cNvSpPr txBox="1"/>
            <p:nvPr/>
          </p:nvSpPr>
          <p:spPr>
            <a:xfrm>
              <a:off x="3195668"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BADC8C"/>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BADC8C"/>
                </a:solidFill>
                <a:effectLst/>
                <a:uLnTx/>
                <a:uFillTx/>
                <a:latin typeface="Arial" pitchFamily="34" charset="0"/>
                <a:ea typeface="Lato" panose="020F0502020204030203" pitchFamily="34" charset="0"/>
                <a:cs typeface="Lato" panose="020F0502020204030203" pitchFamily="34" charset="0"/>
              </a:endParaRPr>
            </a:p>
          </p:txBody>
        </p:sp>
        <p:sp>
          <p:nvSpPr>
            <p:cNvPr id="92" name="TextBox 91">
              <a:extLst>
                <a:ext uri="{FF2B5EF4-FFF2-40B4-BE49-F238E27FC236}">
                  <a16:creationId xmlns:a16="http://schemas.microsoft.com/office/drawing/2014/main" id="{E72867AB-2B62-2B4A-CA4B-0117B6C11EE4}"/>
                </a:ext>
              </a:extLst>
            </p:cNvPr>
            <p:cNvSpPr txBox="1"/>
            <p:nvPr/>
          </p:nvSpPr>
          <p:spPr>
            <a:xfrm>
              <a:off x="2539885"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FFC00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FFC000"/>
                </a:solidFill>
                <a:effectLst/>
                <a:uLnTx/>
                <a:uFillTx/>
                <a:latin typeface="Arial" pitchFamily="34" charset="0"/>
                <a:ea typeface="Lato" panose="020F0502020204030203" pitchFamily="34" charset="0"/>
                <a:cs typeface="Lato" panose="020F0502020204030203" pitchFamily="34" charset="0"/>
              </a:endParaRPr>
            </a:p>
          </p:txBody>
        </p:sp>
        <p:sp>
          <p:nvSpPr>
            <p:cNvPr id="93" name="TextBox 92">
              <a:extLst>
                <a:ext uri="{FF2B5EF4-FFF2-40B4-BE49-F238E27FC236}">
                  <a16:creationId xmlns:a16="http://schemas.microsoft.com/office/drawing/2014/main" id="{826FEA28-E1E4-B1A8-692B-6165C58CD7CF}"/>
                </a:ext>
              </a:extLst>
            </p:cNvPr>
            <p:cNvSpPr txBox="1"/>
            <p:nvPr/>
          </p:nvSpPr>
          <p:spPr>
            <a:xfrm>
              <a:off x="3645867" y="6674417"/>
              <a:ext cx="485511" cy="200055"/>
            </a:xfrm>
            <a:prstGeom prst="rect">
              <a:avLst/>
            </a:prstGeom>
            <a:noFill/>
          </p:spPr>
          <p:txBody>
            <a:bodyPr wrap="square" lIns="91440" tIns="45720" rIns="91440" bIns="4572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700" i="1" spc="-10">
                  <a:latin typeface="Arial" pitchFamily="34" charset="0"/>
                  <a:ea typeface="Lato" panose="020F0502020204030203" pitchFamily="34" charset="0"/>
                  <a:cs typeface="Lato" panose="020F0502020204030203" pitchFamily="34" charset="0"/>
                  <a:sym typeface="Lato Light"/>
                </a:rPr>
                <a:t>Ready</a:t>
              </a:r>
              <a:endPar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sp>
          <p:nvSpPr>
            <p:cNvPr id="94" name="TextBox 93">
              <a:extLst>
                <a:ext uri="{FF2B5EF4-FFF2-40B4-BE49-F238E27FC236}">
                  <a16:creationId xmlns:a16="http://schemas.microsoft.com/office/drawing/2014/main" id="{F3BFA4D4-B59D-5BB8-045B-9235D3354904}"/>
                </a:ext>
              </a:extLst>
            </p:cNvPr>
            <p:cNvSpPr txBox="1"/>
            <p:nvPr/>
          </p:nvSpPr>
          <p:spPr>
            <a:xfrm>
              <a:off x="899806" y="6652387"/>
              <a:ext cx="721686" cy="200055"/>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sym typeface="Lato Light"/>
                </a:rPr>
                <a:t>Not Ready</a:t>
              </a:r>
              <a:endPar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grpSp>
      <p:sp>
        <p:nvSpPr>
          <p:cNvPr id="95" name="Rectangle: Rounded Corners 5">
            <a:extLst>
              <a:ext uri="{FF2B5EF4-FFF2-40B4-BE49-F238E27FC236}">
                <a16:creationId xmlns:a16="http://schemas.microsoft.com/office/drawing/2014/main" id="{7444D441-4BE7-2CA8-2EA8-B8A90DF7A599}"/>
              </a:ext>
            </a:extLst>
          </p:cNvPr>
          <p:cNvSpPr/>
          <p:nvPr/>
        </p:nvSpPr>
        <p:spPr>
          <a:xfrm>
            <a:off x="4986733" y="1747082"/>
            <a:ext cx="3455460" cy="3042442"/>
          </a:xfrm>
          <a:prstGeom prst="roundRect">
            <a:avLst>
              <a:gd name="adj" fmla="val 4418"/>
            </a:avLst>
          </a:prstGeom>
          <a:solidFill>
            <a:schemeClr val="bg1"/>
          </a:solidFill>
          <a:ln>
            <a:solidFill>
              <a:schemeClr val="tx1"/>
            </a:solid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400" b="0" i="0" u="none" strike="noStrike" kern="0" cap="none" spc="-10" normalizeH="0" baseline="0" noProof="0">
              <a:ln>
                <a:noFill/>
              </a:ln>
              <a:solidFill>
                <a:srgbClr val="3B3B3B"/>
              </a:solidFill>
              <a:effectLst/>
              <a:uLnTx/>
              <a:uFillTx/>
              <a:latin typeface="Arial" pitchFamily="34" charset="0"/>
              <a:ea typeface="Lato" panose="020F0502020204030203" pitchFamily="34" charset="0"/>
              <a:cs typeface="Lato" panose="020F0502020204030203" pitchFamily="34" charset="0"/>
            </a:endParaRPr>
          </a:p>
        </p:txBody>
      </p:sp>
      <p:sp>
        <p:nvSpPr>
          <p:cNvPr id="96" name="Rectangle: Rounded Corners 58">
            <a:extLst>
              <a:ext uri="{FF2B5EF4-FFF2-40B4-BE49-F238E27FC236}">
                <a16:creationId xmlns:a16="http://schemas.microsoft.com/office/drawing/2014/main" id="{C9087326-5D42-D300-AE97-7B0876872CDA}"/>
              </a:ext>
            </a:extLst>
          </p:cNvPr>
          <p:cNvSpPr/>
          <p:nvPr/>
        </p:nvSpPr>
        <p:spPr>
          <a:xfrm>
            <a:off x="5284011" y="1609720"/>
            <a:ext cx="2860903" cy="264789"/>
          </a:xfrm>
          <a:prstGeom prst="roundRect">
            <a:avLst/>
          </a:prstGeom>
          <a:solidFill>
            <a:srgbClr val="2B3A42"/>
          </a:solidFill>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r>
              <a:rPr kumimoji="0" lang="en-US" sz="1400" b="1" i="0" u="none" strike="noStrike" kern="1200" cap="none" spc="-10" normalizeH="0" baseline="0" noProof="0">
                <a:ln>
                  <a:noFill/>
                </a:ln>
                <a:solidFill>
                  <a:srgbClr val="FFFFFF"/>
                </a:solidFill>
                <a:effectLst/>
                <a:uLnTx/>
                <a:uFillTx/>
                <a:latin typeface="Segoe UI" pitchFamily="34" charset="0"/>
                <a:ea typeface="Lato" panose="020F0502020204030203" pitchFamily="34" charset="0"/>
                <a:cs typeface="Lato" panose="020F0502020204030203" pitchFamily="34" charset="0"/>
              </a:rPr>
              <a:t>Talent Match</a:t>
            </a:r>
          </a:p>
        </p:txBody>
      </p:sp>
      <p:sp>
        <p:nvSpPr>
          <p:cNvPr id="97" name="Rectangle: Rounded Corners 5">
            <a:extLst>
              <a:ext uri="{FF2B5EF4-FFF2-40B4-BE49-F238E27FC236}">
                <a16:creationId xmlns:a16="http://schemas.microsoft.com/office/drawing/2014/main" id="{7A455134-6326-AFAB-18E3-8B4CC6B781A4}"/>
              </a:ext>
            </a:extLst>
          </p:cNvPr>
          <p:cNvSpPr/>
          <p:nvPr/>
        </p:nvSpPr>
        <p:spPr>
          <a:xfrm>
            <a:off x="8577780" y="1745013"/>
            <a:ext cx="3384553" cy="3042442"/>
          </a:xfrm>
          <a:prstGeom prst="roundRect">
            <a:avLst>
              <a:gd name="adj" fmla="val 4418"/>
            </a:avLst>
          </a:prstGeom>
          <a:solidFill>
            <a:schemeClr val="bg1"/>
          </a:solidFill>
          <a:ln>
            <a:solidFill>
              <a:schemeClr val="tx1"/>
            </a:solid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400" b="0" i="0" u="none" strike="noStrike" kern="0" cap="none" spc="-10" normalizeH="0" baseline="0" noProof="0">
              <a:ln>
                <a:noFill/>
              </a:ln>
              <a:solidFill>
                <a:srgbClr val="3B3B3B"/>
              </a:solidFill>
              <a:effectLst/>
              <a:uLnTx/>
              <a:uFillTx/>
              <a:latin typeface="Arial" pitchFamily="34" charset="0"/>
              <a:ea typeface="Lato" panose="020F0502020204030203" pitchFamily="34" charset="0"/>
              <a:cs typeface="Lato" panose="020F0502020204030203" pitchFamily="34" charset="0"/>
            </a:endParaRPr>
          </a:p>
        </p:txBody>
      </p:sp>
      <p:sp>
        <p:nvSpPr>
          <p:cNvPr id="98" name="Rectangle: Rounded Corners 58">
            <a:extLst>
              <a:ext uri="{FF2B5EF4-FFF2-40B4-BE49-F238E27FC236}">
                <a16:creationId xmlns:a16="http://schemas.microsoft.com/office/drawing/2014/main" id="{190506FA-D9F2-82C5-E466-1B19F0D85A5D}"/>
              </a:ext>
            </a:extLst>
          </p:cNvPr>
          <p:cNvSpPr/>
          <p:nvPr/>
        </p:nvSpPr>
        <p:spPr>
          <a:xfrm>
            <a:off x="8831866" y="1609720"/>
            <a:ext cx="2860903" cy="264789"/>
          </a:xfrm>
          <a:prstGeom prst="roundRect">
            <a:avLst/>
          </a:prstGeom>
          <a:solidFill>
            <a:srgbClr val="2B3A42"/>
          </a:solidFill>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r>
              <a:rPr kumimoji="0" lang="en-US" sz="1400" b="1" i="0" u="none" strike="noStrike" kern="1200" cap="none" spc="-10" normalizeH="0" baseline="0" noProof="0">
                <a:ln>
                  <a:noFill/>
                </a:ln>
                <a:solidFill>
                  <a:srgbClr val="FFFFFF"/>
                </a:solidFill>
                <a:effectLst/>
                <a:uLnTx/>
                <a:uFillTx/>
                <a:latin typeface="Segoe UI" pitchFamily="34" charset="0"/>
                <a:ea typeface="Lato" panose="020F0502020204030203" pitchFamily="34" charset="0"/>
                <a:cs typeface="Lato" panose="020F0502020204030203" pitchFamily="34" charset="0"/>
              </a:rPr>
              <a:t>Development Needs</a:t>
            </a:r>
          </a:p>
        </p:txBody>
      </p:sp>
      <p:sp>
        <p:nvSpPr>
          <p:cNvPr id="99" name="TextBox 98">
            <a:extLst>
              <a:ext uri="{FF2B5EF4-FFF2-40B4-BE49-F238E27FC236}">
                <a16:creationId xmlns:a16="http://schemas.microsoft.com/office/drawing/2014/main" id="{8AA6AAB6-7DB8-C283-5EAD-6D5E849DA16F}"/>
              </a:ext>
            </a:extLst>
          </p:cNvPr>
          <p:cNvSpPr txBox="1"/>
          <p:nvPr/>
        </p:nvSpPr>
        <p:spPr>
          <a:xfrm>
            <a:off x="5057639" y="1953421"/>
            <a:ext cx="3384554" cy="2582872"/>
          </a:xfrm>
          <a:prstGeom prst="rect">
            <a:avLst/>
          </a:prstGeom>
        </p:spPr>
        <p:txBody>
          <a:bodyPr vert="horz" wrap="square" lIns="0" tIns="0" rIns="0" bIns="0" rtlCol="0" anchor="t" anchorCtr="0">
            <a:noAutofit/>
          </a:bodyPr>
          <a:lstStyle/>
          <a:p>
            <a:pPr marL="285750" indent="-285750">
              <a:spcAft>
                <a:spcPts val="300"/>
              </a:spcAft>
              <a:buFont typeface="Arial" panose="020B0604020202020204" pitchFamily="34" charset="0"/>
              <a:buChar char="•"/>
            </a:pPr>
            <a:r>
              <a:rPr lang="en-US" sz="1100" b="1" spc="-10">
                <a:latin typeface="Segoe UI" pitchFamily="34" charset="0"/>
                <a:ea typeface="Lato" panose="020F0502020204030203" pitchFamily="34" charset="0"/>
                <a:cs typeface="Lato" panose="020F0502020204030203" pitchFamily="34" charset="0"/>
              </a:rPr>
              <a:t>Commercial technologist </a:t>
            </a:r>
            <a:r>
              <a:rPr lang="en-US" sz="1100" spc="-10">
                <a:latin typeface="Arial" pitchFamily="34" charset="0"/>
                <a:ea typeface="Lato" panose="020F0502020204030203" pitchFamily="34" charset="0"/>
                <a:cs typeface="Lato" panose="020F0502020204030203" pitchFamily="34" charset="0"/>
              </a:rPr>
              <a:t>— Sponsored app rationalization and payments stabilization that protected revenue and improved KPIs.</a:t>
            </a:r>
          </a:p>
          <a:p>
            <a:pPr marL="285750" indent="-285750">
              <a:spcAft>
                <a:spcPts val="300"/>
              </a:spcAft>
              <a:buFont typeface="Arial" panose="020B0604020202020204" pitchFamily="34" charset="0"/>
              <a:buChar char="•"/>
            </a:pPr>
            <a:r>
              <a:rPr lang="en-US" sz="1100" b="1" spc="-10">
                <a:latin typeface="Segoe UI" pitchFamily="34" charset="0"/>
                <a:ea typeface="Lato" panose="020F0502020204030203" pitchFamily="34" charset="0"/>
                <a:cs typeface="Lato" panose="020F0502020204030203" pitchFamily="34" charset="0"/>
              </a:rPr>
              <a:t>Trusted integrator </a:t>
            </a:r>
            <a:r>
              <a:rPr lang="en-US" sz="1100" spc="-10">
                <a:latin typeface="Arial" pitchFamily="34" charset="0"/>
                <a:ea typeface="Lato" panose="020F0502020204030203" pitchFamily="34" charset="0"/>
                <a:cs typeface="Lato" panose="020F0502020204030203" pitchFamily="34" charset="0"/>
              </a:rPr>
              <a:t>— Convened Product, Engineering, Ops and Country teams to deliver launch‑ready offerings.</a:t>
            </a:r>
          </a:p>
          <a:p>
            <a:pPr marL="285750" indent="-285750">
              <a:spcAft>
                <a:spcPts val="300"/>
              </a:spcAft>
              <a:buFont typeface="Arial" panose="020B0604020202020204" pitchFamily="34" charset="0"/>
              <a:buChar char="•"/>
            </a:pPr>
            <a:r>
              <a:rPr lang="en-US" sz="1100" b="1" spc="-10">
                <a:latin typeface="Segoe UI" pitchFamily="34" charset="0"/>
                <a:ea typeface="Lato" panose="020F0502020204030203" pitchFamily="34" charset="0"/>
                <a:cs typeface="Lato" panose="020F0502020204030203" pitchFamily="34" charset="0"/>
              </a:rPr>
              <a:t>Pilot-to-scale operator </a:t>
            </a:r>
            <a:r>
              <a:rPr lang="en-US" sz="1100" spc="-10">
                <a:latin typeface="Arial" pitchFamily="34" charset="0"/>
                <a:ea typeface="Lato" panose="020F0502020204030203" pitchFamily="34" charset="0"/>
                <a:cs typeface="Lato" panose="020F0502020204030203" pitchFamily="34" charset="0"/>
              </a:rPr>
              <a:t>— Incubated a fintech product and scaled it to national </a:t>
            </a:r>
            <a:r>
              <a:rPr lang="en-US" sz="1100" spc="-10" err="1">
                <a:latin typeface="Arial" pitchFamily="34" charset="0"/>
                <a:ea typeface="Lato" panose="020F0502020204030203" pitchFamily="34" charset="0"/>
                <a:cs typeface="Lato" panose="020F0502020204030203" pitchFamily="34" charset="0"/>
              </a:rPr>
              <a:t>SuperApp</a:t>
            </a:r>
            <a:r>
              <a:rPr lang="en-US" sz="1100" spc="-10">
                <a:latin typeface="Arial" pitchFamily="34" charset="0"/>
                <a:ea typeface="Lato" panose="020F0502020204030203" pitchFamily="34" charset="0"/>
                <a:cs typeface="Lato" panose="020F0502020204030203" pitchFamily="34" charset="0"/>
              </a:rPr>
              <a:t> rollout under P&amp;L.</a:t>
            </a:r>
          </a:p>
          <a:p>
            <a:pPr marL="285750" indent="-285750">
              <a:spcAft>
                <a:spcPts val="300"/>
              </a:spcAft>
              <a:buFont typeface="Arial" panose="020B0604020202020204" pitchFamily="34" charset="0"/>
              <a:buChar char="•"/>
            </a:pPr>
            <a:r>
              <a:rPr lang="en-US" sz="1100" b="1" spc="-10">
                <a:latin typeface="Segoe UI" pitchFamily="34" charset="0"/>
                <a:ea typeface="Lato" panose="020F0502020204030203" pitchFamily="34" charset="0"/>
                <a:cs typeface="Lato" panose="020F0502020204030203" pitchFamily="34" charset="0"/>
              </a:rPr>
              <a:t>Delivery credibility </a:t>
            </a:r>
            <a:r>
              <a:rPr lang="en-US" sz="1100" spc="-10">
                <a:latin typeface="Arial" pitchFamily="34" charset="0"/>
                <a:ea typeface="Lato" panose="020F0502020204030203" pitchFamily="34" charset="0"/>
                <a:cs typeface="Lato" panose="020F0502020204030203" pitchFamily="34" charset="0"/>
              </a:rPr>
              <a:t>— Led major releases and post‑launch stabilization with measurable MTTR and capacity gains.</a:t>
            </a:r>
          </a:p>
        </p:txBody>
      </p:sp>
      <p:sp>
        <p:nvSpPr>
          <p:cNvPr id="100" name="TextBox 99">
            <a:extLst>
              <a:ext uri="{FF2B5EF4-FFF2-40B4-BE49-F238E27FC236}">
                <a16:creationId xmlns:a16="http://schemas.microsoft.com/office/drawing/2014/main" id="{47733AB1-54C8-FADF-7860-BE2F2AF9AF08}"/>
              </a:ext>
            </a:extLst>
          </p:cNvPr>
          <p:cNvSpPr txBox="1"/>
          <p:nvPr/>
        </p:nvSpPr>
        <p:spPr>
          <a:xfrm>
            <a:off x="8730408" y="1968639"/>
            <a:ext cx="3127827" cy="2767109"/>
          </a:xfrm>
          <a:prstGeom prst="rect">
            <a:avLst/>
          </a:prstGeom>
        </p:spPr>
        <p:txBody>
          <a:bodyPr vert="horz" wrap="square" lIns="0" tIns="0" rIns="0" bIns="0" rtlCol="0" anchor="t" anchorCtr="0">
            <a:noAutofit/>
          </a:bodyPr>
          <a:lstStyle/>
          <a:p>
            <a:pPr marL="285750" marR="0" lvl="0"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Platform fluency </a:t>
            </a:r>
            <a:r>
              <a:rPr kumimoji="0" lang="en-US" sz="1100" i="0"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rPr>
              <a:t>— Gain hands‑on leadership in cloud‑native, high‑concurrency platform modernizations (payments, identity, </a:t>
            </a:r>
            <a:r>
              <a:rPr kumimoji="0" lang="en-US" sz="1100" i="0" u="none" strike="noStrike" kern="1200" cap="none" spc="-10" normalizeH="0" baseline="0" noProof="0" err="1">
                <a:ln>
                  <a:noFill/>
                </a:ln>
                <a:effectLst/>
                <a:uLnTx/>
                <a:uFillTx/>
                <a:latin typeface="Arial" pitchFamily="34" charset="0"/>
                <a:ea typeface="Lato" panose="020F0502020204030203" pitchFamily="34" charset="0"/>
                <a:cs typeface="Lato" panose="020F0502020204030203" pitchFamily="34" charset="0"/>
              </a:rPr>
              <a:t>MLOps</a:t>
            </a:r>
            <a:r>
              <a:rPr kumimoji="0" lang="en-US" sz="1100" i="0"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rPr>
              <a:t>).</a:t>
            </a:r>
          </a:p>
          <a:p>
            <a:pPr marL="285750" marR="0" lvl="0"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AI commercialization </a:t>
            </a:r>
            <a:r>
              <a:rPr kumimoji="0" lang="en-US" sz="1100" i="0"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rPr>
              <a:t>— Build repeatable playbooks for multi‑market AI/LLM consumer product launches.</a:t>
            </a:r>
          </a:p>
          <a:p>
            <a:pPr marL="285750" marR="0" lvl="0"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Scale commercialization </a:t>
            </a:r>
            <a:r>
              <a:rPr kumimoji="0" lang="en-US" sz="1100" i="0"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rPr>
              <a:t>— Convert pilots into P&amp;L-driven, repeatable products with standardized GTM and pricing evidence.</a:t>
            </a:r>
          </a:p>
          <a:p>
            <a:pPr marL="285750" marR="0" lvl="0"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Executive storytelling </a:t>
            </a:r>
            <a:r>
              <a:rPr kumimoji="0" lang="en-US" sz="1100" i="0"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rPr>
              <a:t>— Tighten board‑grade narratives linking tech tradeoffs to revenue to secure funding.</a:t>
            </a:r>
          </a:p>
        </p:txBody>
      </p:sp>
      <p:grpSp>
        <p:nvGrpSpPr>
          <p:cNvPr id="4" name="Group 3">
            <a:extLst>
              <a:ext uri="{FF2B5EF4-FFF2-40B4-BE49-F238E27FC236}">
                <a16:creationId xmlns:a16="http://schemas.microsoft.com/office/drawing/2014/main" id="{03A826FE-09BC-96BD-403E-F1A2D2D1C0EB}"/>
              </a:ext>
            </a:extLst>
          </p:cNvPr>
          <p:cNvGrpSpPr/>
          <p:nvPr/>
        </p:nvGrpSpPr>
        <p:grpSpPr>
          <a:xfrm>
            <a:off x="3241377" y="1552031"/>
            <a:ext cx="1560637" cy="141838"/>
            <a:chOff x="6357938" y="5548236"/>
            <a:chExt cx="3589233" cy="357935"/>
          </a:xfrm>
        </p:grpSpPr>
        <p:sp>
          <p:nvSpPr>
            <p:cNvPr id="6" name="Rectangle: Rounded Corners 72">
              <a:extLst>
                <a:ext uri="{FF2B5EF4-FFF2-40B4-BE49-F238E27FC236}">
                  <a16:creationId xmlns:a16="http://schemas.microsoft.com/office/drawing/2014/main" id="{19F8B709-FC37-FCF6-B194-E011DFC4EE36}"/>
                </a:ext>
              </a:extLst>
            </p:cNvPr>
            <p:cNvSpPr/>
            <p:nvPr/>
          </p:nvSpPr>
          <p:spPr>
            <a:xfrm>
              <a:off x="6357938" y="5548236"/>
              <a:ext cx="333301" cy="305892"/>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b="1" spc="-10" err="1">
                <a:solidFill>
                  <a:srgbClr val="FFFFFF"/>
                </a:solidFill>
                <a:latin typeface="Segoe UI" pitchFamily="34" charset="0"/>
                <a:ea typeface="Lato" panose="020F0502020204030203" pitchFamily="34" charset="0"/>
                <a:cs typeface="Lato" panose="020F0502020204030203" pitchFamily="34" charset="0"/>
              </a:endParaRPr>
            </a:p>
          </p:txBody>
        </p:sp>
        <p:sp>
          <p:nvSpPr>
            <p:cNvPr id="7" name="TextBox 6">
              <a:extLst>
                <a:ext uri="{FF2B5EF4-FFF2-40B4-BE49-F238E27FC236}">
                  <a16:creationId xmlns:a16="http://schemas.microsoft.com/office/drawing/2014/main" id="{13412945-A7CE-CF41-08D0-BCD0DB62469D}"/>
                </a:ext>
              </a:extLst>
            </p:cNvPr>
            <p:cNvSpPr txBox="1"/>
            <p:nvPr/>
          </p:nvSpPr>
          <p:spPr>
            <a:xfrm>
              <a:off x="6800850" y="5551390"/>
              <a:ext cx="3146321" cy="354781"/>
            </a:xfrm>
            <a:prstGeom prst="rect">
              <a:avLst/>
            </a:prstGeom>
            <a:ln w="6350">
              <a:noFill/>
              <a:miter lim="800000"/>
            </a:ln>
          </p:spPr>
          <p:txBody>
            <a:bodyPr vert="horz" wrap="none" lIns="0" tIns="0" rIns="0" bIns="0" rtlCol="0" anchor="ctr">
              <a:noAutofit/>
            </a:bodyPr>
            <a:lstStyle/>
            <a:p>
              <a:pPr defTabSz="685800">
                <a:spcBef>
                  <a:spcPts val="225"/>
                </a:spcBef>
                <a:spcAft>
                  <a:spcPts val="225"/>
                </a:spcAft>
                <a:defRPr/>
              </a:pPr>
              <a:r>
                <a:rPr lang="en-US" sz="1000" b="1" spc="-10">
                  <a:solidFill>
                    <a:srgbClr val="3B3B3B"/>
                  </a:solidFill>
                  <a:latin typeface="Segoe UI" pitchFamily="34" charset="0"/>
                  <a:ea typeface="Lato" panose="020F0502020204030203" pitchFamily="34" charset="0"/>
                  <a:cs typeface="Lato" panose="020F0502020204030203" pitchFamily="34" charset="0"/>
                </a:rPr>
                <a:t>Ready with development</a:t>
              </a:r>
            </a:p>
          </p:txBody>
        </p:sp>
      </p:grpSp>
      <p:sp>
        <p:nvSpPr>
          <p:cNvPr id="111"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42</a:t>
            </a:fld>
            <a:endParaRPr lang="en-US"/>
          </a:p>
        </p:txBody>
      </p:sp>
      <p:grpSp>
        <p:nvGrpSpPr>
          <p:cNvPr id="3" name="Group 2">
            <a:extLst>
              <a:ext uri="{FF2B5EF4-FFF2-40B4-BE49-F238E27FC236}">
                <a16:creationId xmlns:a16="http://schemas.microsoft.com/office/drawing/2014/main" id="{7CB37C28-88DB-416F-51A5-858A0CFD1DF6}"/>
              </a:ext>
            </a:extLst>
          </p:cNvPr>
          <p:cNvGrpSpPr/>
          <p:nvPr/>
        </p:nvGrpSpPr>
        <p:grpSpPr>
          <a:xfrm>
            <a:off x="10403235" y="201614"/>
            <a:ext cx="410690" cy="410700"/>
            <a:chOff x="3506617" y="2730959"/>
            <a:chExt cx="1591098" cy="1591098"/>
          </a:xfrm>
        </p:grpSpPr>
        <p:sp>
          <p:nvSpPr>
            <p:cNvPr id="5" name="Rectangle: Rounded Corners 39">
              <a:extLst>
                <a:ext uri="{FF2B5EF4-FFF2-40B4-BE49-F238E27FC236}">
                  <a16:creationId xmlns:a16="http://schemas.microsoft.com/office/drawing/2014/main" id="{8DAD2E8D-F5CC-D081-AB01-1CA74C12120D}"/>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8" name="Rectangle: Rounded Corners 54">
              <a:extLst>
                <a:ext uri="{FF2B5EF4-FFF2-40B4-BE49-F238E27FC236}">
                  <a16:creationId xmlns:a16="http://schemas.microsoft.com/office/drawing/2014/main" id="{8B86A477-D125-23E5-7E53-FC1FDE6780C9}"/>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9" name="Freeform 56" descr="Clipboard Partially Checked with solid fill">
              <a:extLst>
                <a:ext uri="{FF2B5EF4-FFF2-40B4-BE49-F238E27FC236}">
                  <a16:creationId xmlns:a16="http://schemas.microsoft.com/office/drawing/2014/main" id="{09A6DC3C-9F5A-3C05-4BA8-083D1CC425F4}"/>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10" name="Group 9">
            <a:extLst>
              <a:ext uri="{FF2B5EF4-FFF2-40B4-BE49-F238E27FC236}">
                <a16:creationId xmlns:a16="http://schemas.microsoft.com/office/drawing/2014/main" id="{13DB7337-EB90-EC99-264A-07489AC3E829}"/>
              </a:ext>
            </a:extLst>
          </p:cNvPr>
          <p:cNvGrpSpPr/>
          <p:nvPr/>
        </p:nvGrpSpPr>
        <p:grpSpPr>
          <a:xfrm>
            <a:off x="11557682" y="191038"/>
            <a:ext cx="410690" cy="410700"/>
            <a:chOff x="8874309" y="3009260"/>
            <a:chExt cx="1591098" cy="1591098"/>
          </a:xfrm>
        </p:grpSpPr>
        <p:grpSp>
          <p:nvGrpSpPr>
            <p:cNvPr id="11" name="Group 10">
              <a:extLst>
                <a:ext uri="{FF2B5EF4-FFF2-40B4-BE49-F238E27FC236}">
                  <a16:creationId xmlns:a16="http://schemas.microsoft.com/office/drawing/2014/main" id="{F7BC6B53-63AF-5BBD-6E2D-90C871DBEAF6}"/>
                </a:ext>
              </a:extLst>
            </p:cNvPr>
            <p:cNvGrpSpPr/>
            <p:nvPr/>
          </p:nvGrpSpPr>
          <p:grpSpPr>
            <a:xfrm>
              <a:off x="8874309" y="3009260"/>
              <a:ext cx="1591098" cy="1591098"/>
              <a:chOff x="9350370" y="2760976"/>
              <a:chExt cx="1591098" cy="1591098"/>
            </a:xfrm>
          </p:grpSpPr>
          <p:sp>
            <p:nvSpPr>
              <p:cNvPr id="13" name="Rectangle: Rounded Corners 39">
                <a:extLst>
                  <a:ext uri="{FF2B5EF4-FFF2-40B4-BE49-F238E27FC236}">
                    <a16:creationId xmlns:a16="http://schemas.microsoft.com/office/drawing/2014/main" id="{FEBD4C98-199C-0600-2977-96FA6B68BEB3}"/>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4" name="Rectangle: Rounded Corners 54">
                <a:extLst>
                  <a:ext uri="{FF2B5EF4-FFF2-40B4-BE49-F238E27FC236}">
                    <a16:creationId xmlns:a16="http://schemas.microsoft.com/office/drawing/2014/main" id="{5153F13A-9ADE-0CDC-182C-342C71757434}"/>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2" name="Picture 51" descr="Map with pin with solid fill">
              <a:extLst>
                <a:ext uri="{FF2B5EF4-FFF2-40B4-BE49-F238E27FC236}">
                  <a16:creationId xmlns:a16="http://schemas.microsoft.com/office/drawing/2014/main" id="{044E80B1-2038-9EAB-DC16-47A55EB36D90}"/>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5" name="Group 14">
            <a:extLst>
              <a:ext uri="{FF2B5EF4-FFF2-40B4-BE49-F238E27FC236}">
                <a16:creationId xmlns:a16="http://schemas.microsoft.com/office/drawing/2014/main" id="{4517EB24-5028-0B12-C2EE-3E0E6AE93525}"/>
              </a:ext>
            </a:extLst>
          </p:cNvPr>
          <p:cNvGrpSpPr/>
          <p:nvPr/>
        </p:nvGrpSpPr>
        <p:grpSpPr>
          <a:xfrm>
            <a:off x="10997361" y="200955"/>
            <a:ext cx="410690" cy="410700"/>
            <a:chOff x="5303120" y="3009260"/>
            <a:chExt cx="1591098" cy="1591098"/>
          </a:xfrm>
        </p:grpSpPr>
        <p:grpSp>
          <p:nvGrpSpPr>
            <p:cNvPr id="19" name="Group 18">
              <a:extLst>
                <a:ext uri="{FF2B5EF4-FFF2-40B4-BE49-F238E27FC236}">
                  <a16:creationId xmlns:a16="http://schemas.microsoft.com/office/drawing/2014/main" id="{7DD4EA29-615B-BF22-BE45-611EB240224D}"/>
                </a:ext>
              </a:extLst>
            </p:cNvPr>
            <p:cNvGrpSpPr/>
            <p:nvPr/>
          </p:nvGrpSpPr>
          <p:grpSpPr>
            <a:xfrm>
              <a:off x="5303120" y="3009260"/>
              <a:ext cx="1591098" cy="1591098"/>
              <a:chOff x="6428492" y="2760976"/>
              <a:chExt cx="1591098" cy="1591098"/>
            </a:xfrm>
          </p:grpSpPr>
          <p:sp>
            <p:nvSpPr>
              <p:cNvPr id="31" name="Rectangle: Rounded Corners 39">
                <a:extLst>
                  <a:ext uri="{FF2B5EF4-FFF2-40B4-BE49-F238E27FC236}">
                    <a16:creationId xmlns:a16="http://schemas.microsoft.com/office/drawing/2014/main" id="{E53F5321-DA2A-0BDB-B1F3-F72C98BC3464}"/>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9" name="Rectangle: Rounded Corners 54">
                <a:extLst>
                  <a:ext uri="{FF2B5EF4-FFF2-40B4-BE49-F238E27FC236}">
                    <a16:creationId xmlns:a16="http://schemas.microsoft.com/office/drawing/2014/main" id="{A39098E7-8180-FD02-FE88-E28BD20F682E}"/>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8" name="Graphic 22" descr="Target Audience with solid fill">
              <a:extLst>
                <a:ext uri="{FF2B5EF4-FFF2-40B4-BE49-F238E27FC236}">
                  <a16:creationId xmlns:a16="http://schemas.microsoft.com/office/drawing/2014/main" id="{8B88CEAD-9406-94D1-F3E9-5FE84EB23DA5}"/>
                </a:ext>
              </a:extLst>
            </p:cNvPr>
            <p:cNvPicPr>
              <a:picLocks noChangeAspect="1"/>
            </p:cNvPicPr>
            <p:nvPr/>
          </p:nvPicPr>
          <p:blipFill>
            <a:blip r:embed="rId7">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2" name="TextBox 41">
            <a:extLst>
              <a:ext uri="{FF2B5EF4-FFF2-40B4-BE49-F238E27FC236}">
                <a16:creationId xmlns:a16="http://schemas.microsoft.com/office/drawing/2014/main" id="{5C172461-2ED6-9988-2E96-D632CB513058}"/>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5" name="TextBox 44">
            <a:extLst>
              <a:ext uri="{FF2B5EF4-FFF2-40B4-BE49-F238E27FC236}">
                <a16:creationId xmlns:a16="http://schemas.microsoft.com/office/drawing/2014/main" id="{46D19729-7FF4-BAFD-4A91-0101D69968D3}"/>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1" name="TextBox 50">
            <a:extLst>
              <a:ext uri="{FF2B5EF4-FFF2-40B4-BE49-F238E27FC236}">
                <a16:creationId xmlns:a16="http://schemas.microsoft.com/office/drawing/2014/main" id="{4A2554F6-254E-C8E4-6760-F887C5B589B6}"/>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5" name="Rectangle 54">
            <a:extLst>
              <a:ext uri="{FF2B5EF4-FFF2-40B4-BE49-F238E27FC236}">
                <a16:creationId xmlns:a16="http://schemas.microsoft.com/office/drawing/2014/main" id="{16E16AB9-1D13-CD6F-D71F-67D885DFD526}"/>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
        <p:nvSpPr>
          <p:cNvPr id="58" name="Rectangle 57">
            <a:extLst>
              <a:ext uri="{FF2B5EF4-FFF2-40B4-BE49-F238E27FC236}">
                <a16:creationId xmlns:a16="http://schemas.microsoft.com/office/drawing/2014/main" id="{46EF330A-9CFF-C14F-14A6-4E53FF48395F}"/>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662981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C3975-CBF7-42FB-E403-00F4C0755BF5}"/>
            </a:ext>
          </a:extLst>
        </p:cNvPr>
        <p:cNvGrpSpPr/>
        <p:nvPr/>
      </p:nvGrpSpPr>
      <p:grpSpPr>
        <a:xfrm>
          <a:off x="0" y="0"/>
          <a:ext cx="0" cy="0"/>
          <a:chOff x="0" y="0"/>
          <a:chExt cx="0" cy="0"/>
        </a:xfrm>
      </p:grpSpPr>
      <p:graphicFrame>
        <p:nvGraphicFramePr>
          <p:cNvPr id="4" name="Google Shape;302;p6">
            <a:extLst>
              <a:ext uri="{FF2B5EF4-FFF2-40B4-BE49-F238E27FC236}">
                <a16:creationId xmlns:a16="http://schemas.microsoft.com/office/drawing/2014/main" id="{B4F3587C-3564-9385-AE5B-F8350BD74B35}"/>
              </a:ext>
            </a:extLst>
          </p:cNvPr>
          <p:cNvGraphicFramePr/>
          <p:nvPr>
            <p:extLst>
              <p:ext uri="{D42A27DB-BD31-4B8C-83A1-F6EECF244321}">
                <p14:modId xmlns:p14="http://schemas.microsoft.com/office/powerpoint/2010/main" val="2636031942"/>
              </p:ext>
            </p:extLst>
          </p:nvPr>
        </p:nvGraphicFramePr>
        <p:xfrm>
          <a:off x="675119" y="1133983"/>
          <a:ext cx="10975230" cy="3192780"/>
        </p:xfrm>
        <a:graphic>
          <a:graphicData uri="http://schemas.openxmlformats.org/drawingml/2006/table">
            <a:tbl>
              <a:tblPr firstRow="1" bandRow="1">
                <a:noFill/>
              </a:tblPr>
              <a:tblGrid>
                <a:gridCol w="228772">
                  <a:extLst>
                    <a:ext uri="{9D8B030D-6E8A-4147-A177-3AD203B41FA5}">
                      <a16:colId xmlns:a16="http://schemas.microsoft.com/office/drawing/2014/main" val="3171278797"/>
                    </a:ext>
                  </a:extLst>
                </a:gridCol>
                <a:gridCol w="355689">
                  <a:extLst>
                    <a:ext uri="{9D8B030D-6E8A-4147-A177-3AD203B41FA5}">
                      <a16:colId xmlns:a16="http://schemas.microsoft.com/office/drawing/2014/main" val="866748631"/>
                    </a:ext>
                  </a:extLst>
                </a:gridCol>
                <a:gridCol w="2150534">
                  <a:extLst>
                    <a:ext uri="{9D8B030D-6E8A-4147-A177-3AD203B41FA5}">
                      <a16:colId xmlns:a16="http://schemas.microsoft.com/office/drawing/2014/main" val="20002"/>
                    </a:ext>
                  </a:extLst>
                </a:gridCol>
                <a:gridCol w="1724594">
                  <a:extLst>
                    <a:ext uri="{9D8B030D-6E8A-4147-A177-3AD203B41FA5}">
                      <a16:colId xmlns:a16="http://schemas.microsoft.com/office/drawing/2014/main" val="1879043837"/>
                    </a:ext>
                  </a:extLst>
                </a:gridCol>
                <a:gridCol w="6515641">
                  <a:extLst>
                    <a:ext uri="{9D8B030D-6E8A-4147-A177-3AD203B41FA5}">
                      <a16:colId xmlns:a16="http://schemas.microsoft.com/office/drawing/2014/main" val="4202888217"/>
                    </a:ext>
                  </a:extLst>
                </a:gridCol>
              </a:tblGrid>
              <a:tr h="250921">
                <a:tc gridSpan="3">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solidFill>
                            <a:schemeClr val="tx1"/>
                          </a:solidFill>
                          <a:latin typeface="Arial" pitchFamily="34" charset="0"/>
                          <a:ea typeface="Lato" panose="020F0502020204030203" pitchFamily="34" charset="0"/>
                          <a:cs typeface="Lato" panose="020F0502020204030203" pitchFamily="34" charset="0"/>
                        </a:rPr>
                        <a:t>Job to Be Done Readiness</a:t>
                      </a: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400" b="1">
                        <a:solidFill>
                          <a:schemeClr val="tx1"/>
                        </a:solidFill>
                        <a:latin typeface="+mn-lt"/>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endParaRPr kumimoji="0" lang="en-US" sz="12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2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Evidence</a:t>
                      </a:r>
                    </a:p>
                  </a:txBody>
                  <a:tcPr>
                    <a:lnL w="9525" cap="flat" cmpd="sng" algn="ctr">
                      <a:noFill/>
                      <a:prstDash val="solid"/>
                      <a:round/>
                      <a:headEnd type="none" w="sm" len="sm"/>
                      <a:tailEnd type="none" w="sm" len="sm"/>
                    </a:lnL>
                    <a:lnR w="9525" cap="flat" cmpd="sng">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15982398"/>
                  </a:ext>
                </a:extLst>
              </a:tr>
              <a:tr h="703971">
                <a:tc>
                  <a:txBody>
                    <a:bodyPr/>
                    <a:lstStyle/>
                    <a:p>
                      <a:pPr algn="ctr"/>
                      <a:r>
                        <a:rPr lang="en-US" sz="900">
                          <a:latin typeface="Arial" pitchFamily="34" charset="0"/>
                          <a:ea typeface="Lato" panose="020F0502020204030203" pitchFamily="34" charset="0"/>
                          <a:cs typeface="Lato" panose="020F0502020204030203" pitchFamily="34" charset="0"/>
                        </a:rPr>
                        <a:t>1</a:t>
                      </a: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a:latin typeface="Arial" pitchFamily="34" charset="0"/>
                          <a:ea typeface="Lato" panose="020F0502020204030203" pitchFamily="34" charset="0"/>
                          <a:cs typeface="Lato" panose="020F0502020204030203" pitchFamily="34" charset="0"/>
                        </a:rPr>
                        <a:t>30%</a:t>
                      </a:r>
                    </a:p>
                    <a:p>
                      <a:pPr algn="ctr"/>
                      <a:endParaRPr lang="en-US" sz="900">
                        <a:latin typeface="Arial" pitchFamily="34" charset="0"/>
                        <a:ea typeface="Lato" panose="020F0502020204030203" pitchFamily="34" charset="0"/>
                        <a:cs typeface="Lato" panose="020F0502020204030203" pitchFamily="34" charset="0"/>
                      </a:endParaRP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lvl="0">
                        <a:defRPr/>
                      </a:pPr>
                      <a:r>
                        <a:rPr lang="en-US" sz="1200" b="1">
                          <a:solidFill>
                            <a:srgbClr val="1D1D1D"/>
                          </a:solidFill>
                          <a:latin typeface="Arial" pitchFamily="34" charset="0"/>
                          <a:ea typeface="Lato" panose="020F0502020204030203" pitchFamily="34" charset="0"/>
                          <a:cs typeface="Lato" panose="020F0502020204030203" pitchFamily="34" charset="0"/>
                        </a:rPr>
                        <a:t>Continuous Improvement of Infrastructure</a:t>
                      </a:r>
                      <a:endPar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endParaRPr>
                    </a:p>
                  </a:txBody>
                  <a:tcPr anchor="ct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endParaRP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solidFill>
                            <a:schemeClr val="bg2">
                              <a:lumMod val="10000"/>
                            </a:schemeClr>
                          </a:solidFill>
                          <a:effectLst/>
                          <a:uLnTx/>
                          <a:uFillTx/>
                          <a:latin typeface="Arial" pitchFamily="34" charset="0"/>
                          <a:ea typeface="Lato" panose="020F0502020204030203" pitchFamily="34" charset="0"/>
                          <a:cs typeface="Lato" panose="020F0502020204030203" pitchFamily="34" charset="0"/>
                        </a:rPr>
                        <a:t>Led </a:t>
                      </a:r>
                      <a:r>
                        <a:rPr kumimoji="0" lang="en-US" sz="1050" b="0" i="0" u="none" strike="noStrike" kern="1200" cap="none" spc="0" normalizeH="0" baseline="0" noProof="0" err="1">
                          <a:ln>
                            <a:noFill/>
                          </a:ln>
                          <a:solidFill>
                            <a:schemeClr val="bg2">
                              <a:lumMod val="10000"/>
                            </a:schemeClr>
                          </a:solidFill>
                          <a:effectLst/>
                          <a:uLnTx/>
                          <a:uFillTx/>
                          <a:latin typeface="Arial" pitchFamily="34" charset="0"/>
                          <a:ea typeface="Lato" panose="020F0502020204030203" pitchFamily="34" charset="0"/>
                          <a:cs typeface="Lato" panose="020F0502020204030203" pitchFamily="34" charset="0"/>
                        </a:rPr>
                        <a:t>FrontierDigitalCo’s</a:t>
                      </a:r>
                      <a:r>
                        <a:rPr kumimoji="0" lang="en-US" sz="1050" b="0" i="0" u="none" strike="noStrike" kern="1200" cap="none" spc="0" normalizeH="0" baseline="0" noProof="0">
                          <a:ln>
                            <a:noFill/>
                          </a:ln>
                          <a:solidFill>
                            <a:schemeClr val="bg2">
                              <a:lumMod val="10000"/>
                            </a:schemeClr>
                          </a:solidFill>
                          <a:effectLst/>
                          <a:uLnTx/>
                          <a:uFillTx/>
                          <a:latin typeface="Arial" pitchFamily="34" charset="0"/>
                          <a:ea typeface="Lato" panose="020F0502020204030203" pitchFamily="34" charset="0"/>
                          <a:cs typeface="Lato" panose="020F0502020204030203" pitchFamily="34" charset="0"/>
                        </a:rPr>
                        <a:t> application rationalization (consolidated ~3,700 services), reducing ops overhead and simplifying compliance.</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solidFill>
                            <a:schemeClr val="bg2">
                              <a:lumMod val="10000"/>
                            </a:schemeClr>
                          </a:solidFill>
                          <a:effectLst/>
                          <a:uLnTx/>
                          <a:uFillTx/>
                          <a:latin typeface="Arial" pitchFamily="34" charset="0"/>
                          <a:ea typeface="Lato" panose="020F0502020204030203" pitchFamily="34" charset="0"/>
                          <a:cs typeface="Lato" panose="020F0502020204030203" pitchFamily="34" charset="0"/>
                        </a:rPr>
                        <a:t>Owned incident response and customer communications during a major payments disruption, shortening MTTR and stabilizing customer impact.</a:t>
                      </a: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557601">
                <a:tc>
                  <a:txBody>
                    <a:bodyPr/>
                    <a:lstStyle/>
                    <a:p>
                      <a:pPr algn="ctr"/>
                      <a:r>
                        <a:rPr lang="en-US" sz="900">
                          <a:latin typeface="Arial" pitchFamily="34" charset="0"/>
                          <a:ea typeface="Lato" panose="020F0502020204030203" pitchFamily="34" charset="0"/>
                          <a:cs typeface="Lato" panose="020F0502020204030203" pitchFamily="34" charset="0"/>
                        </a:rPr>
                        <a:t>2</a:t>
                      </a: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a:latin typeface="Arial" pitchFamily="34" charset="0"/>
                          <a:ea typeface="Lato" panose="020F0502020204030203" pitchFamily="34" charset="0"/>
                          <a:cs typeface="Lato" panose="020F0502020204030203" pitchFamily="34" charset="0"/>
                        </a:rPr>
                        <a:t>35%</a:t>
                      </a:r>
                    </a:p>
                    <a:p>
                      <a:pPr algn="ctr"/>
                      <a:endParaRPr lang="en-US" sz="900">
                        <a:latin typeface="Arial" pitchFamily="34" charset="0"/>
                        <a:ea typeface="Lato" panose="020F0502020204030203" pitchFamily="34" charset="0"/>
                        <a:cs typeface="Lato" panose="020F0502020204030203" pitchFamily="34" charset="0"/>
                      </a:endParaRP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rPr>
                        <a:t>Digital Transformation of Core Processes</a:t>
                      </a:r>
                    </a:p>
                  </a:txBody>
                  <a:tcPr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endParaRP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solidFill>
                            <a:schemeClr val="bg2">
                              <a:lumMod val="10000"/>
                            </a:schemeClr>
                          </a:solidFill>
                          <a:effectLst/>
                          <a:uLnTx/>
                          <a:uFillTx/>
                          <a:latin typeface="Arial" pitchFamily="34" charset="0"/>
                          <a:ea typeface="Lato" panose="020F0502020204030203" pitchFamily="34" charset="0"/>
                          <a:cs typeface="Lato" panose="020F0502020204030203" pitchFamily="34" charset="0"/>
                        </a:rPr>
                        <a:t>Orchestrated cross‑market onboarding and merchant activation rework, cutting onboarding time ~60% and delivering ~$350M equivalent operational savings.</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solidFill>
                            <a:schemeClr val="bg2">
                              <a:lumMod val="10000"/>
                            </a:schemeClr>
                          </a:solidFill>
                          <a:effectLst/>
                          <a:uLnTx/>
                          <a:uFillTx/>
                          <a:latin typeface="Arial" pitchFamily="34" charset="0"/>
                          <a:ea typeface="Lato" panose="020F0502020204030203" pitchFamily="34" charset="0"/>
                          <a:cs typeface="Lato" panose="020F0502020204030203" pitchFamily="34" charset="0"/>
                        </a:rPr>
                        <a:t>Ran post-launch stabilization and continuous improvement cadence across multiple countries.</a:t>
                      </a: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62063259"/>
                  </a:ext>
                </a:extLst>
              </a:tr>
              <a:tr h="703971">
                <a:tc>
                  <a:txBody>
                    <a:bodyPr/>
                    <a:lstStyle/>
                    <a:p>
                      <a:pPr algn="ctr"/>
                      <a:r>
                        <a:rPr lang="en-US" sz="900">
                          <a:latin typeface="Arial" pitchFamily="34" charset="0"/>
                          <a:ea typeface="Lato" panose="020F0502020204030203" pitchFamily="34" charset="0"/>
                          <a:cs typeface="Lato" panose="020F0502020204030203" pitchFamily="34" charset="0"/>
                        </a:rPr>
                        <a:t>3</a:t>
                      </a:r>
                    </a:p>
                  </a:txBody>
                  <a:tcPr marL="25977" marR="25977" marT="14288" marB="14288"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a:latin typeface="Arial" pitchFamily="34" charset="0"/>
                          <a:ea typeface="Lato" panose="020F0502020204030203" pitchFamily="34" charset="0"/>
                          <a:cs typeface="Lato" panose="020F0502020204030203" pitchFamily="34" charset="0"/>
                        </a:rPr>
                        <a:t>15%</a:t>
                      </a:r>
                    </a:p>
                    <a:p>
                      <a:pPr algn="ctr"/>
                      <a:endParaRPr lang="en-US" sz="900">
                        <a:latin typeface="Arial" pitchFamily="34" charset="0"/>
                        <a:ea typeface="Lato" panose="020F0502020204030203" pitchFamily="34" charset="0"/>
                        <a:cs typeface="Lato" panose="020F0502020204030203" pitchFamily="34" charset="0"/>
                      </a:endParaRPr>
                    </a:p>
                  </a:txBody>
                  <a:tcPr marL="25977" marR="25977" marT="14288" marB="14288"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rPr>
                        <a:t>Digital Innovation for New Products, Services, and Revenue Streams</a:t>
                      </a:r>
                    </a:p>
                  </a:txBody>
                  <a:tcPr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Sponsored an internal incubator that launched a localized fintech product within the </a:t>
                      </a:r>
                      <a:r>
                        <a:rPr kumimoji="0" lang="en-US" sz="1050" b="0" i="0" u="none" strike="noStrike" kern="1200" cap="none" spc="0" normalizeH="0" baseline="0" noProof="0" err="1">
                          <a:ln>
                            <a:noFill/>
                          </a:ln>
                          <a:solidFill>
                            <a:schemeClr val="tx1"/>
                          </a:solidFill>
                          <a:effectLst/>
                          <a:uLnTx/>
                          <a:uFillTx/>
                          <a:latin typeface="Arial" pitchFamily="34" charset="0"/>
                          <a:ea typeface="Lato" panose="020F0502020204030203" pitchFamily="34" charset="0"/>
                          <a:cs typeface="Lato" panose="020F0502020204030203" pitchFamily="34" charset="0"/>
                        </a:rPr>
                        <a:t>SuperApp</a:t>
                      </a:r>
                      <a:r>
                        <a:rPr kumimoji="0" lang="en-US" sz="105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 and scaled it to national rollout under the candidate’s P&amp;L oversight.</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Led incubation and first‑market scaling for AI-driven features but has limited multi‑market AI product launch track record.</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703971">
                <a:tc>
                  <a:txBody>
                    <a:bodyPr/>
                    <a:lstStyle/>
                    <a:p>
                      <a:pPr algn="ctr"/>
                      <a:r>
                        <a:rPr lang="en-US" sz="900">
                          <a:latin typeface="Arial" pitchFamily="34" charset="0"/>
                          <a:ea typeface="Lato" panose="020F0502020204030203" pitchFamily="34" charset="0"/>
                          <a:cs typeface="Lato" panose="020F0502020204030203" pitchFamily="34" charset="0"/>
                        </a:rPr>
                        <a:t>4</a:t>
                      </a:r>
                    </a:p>
                  </a:txBody>
                  <a:tcPr marL="25977" marR="25977" marT="14288" marB="14288"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a:latin typeface="Arial" pitchFamily="34" charset="0"/>
                          <a:ea typeface="Lato" panose="020F0502020204030203" pitchFamily="34" charset="0"/>
                          <a:cs typeface="Lato" panose="020F0502020204030203" pitchFamily="34" charset="0"/>
                        </a:rPr>
                        <a:t>20%</a:t>
                      </a:r>
                    </a:p>
                    <a:p>
                      <a:pPr algn="ctr"/>
                      <a:endParaRPr lang="en-US" sz="900">
                        <a:latin typeface="Arial" pitchFamily="34" charset="0"/>
                        <a:ea typeface="Lato" panose="020F0502020204030203" pitchFamily="34" charset="0"/>
                        <a:cs typeface="Lato" panose="020F0502020204030203" pitchFamily="34" charset="0"/>
                      </a:endParaRPr>
                    </a:p>
                  </a:txBody>
                  <a:tcPr marL="25977" marR="25977" marT="14288" marB="14288"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latin typeface="Arial" pitchFamily="34" charset="0"/>
                          <a:ea typeface="Lato" panose="020F0502020204030203" pitchFamily="34" charset="0"/>
                          <a:cs typeface="Lato" panose="020F0502020204030203" pitchFamily="34" charset="0"/>
                        </a:rPr>
                        <a:t>Major Platform &amp; Technology Upgrade</a:t>
                      </a:r>
                    </a:p>
                  </a:txBody>
                  <a:tcPr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chemeClr val="bg2">
                              <a:lumMod val="10000"/>
                            </a:schemeClr>
                          </a:solidFill>
                          <a:effectLst/>
                          <a:uLnTx/>
                          <a:uFillTx/>
                          <a:latin typeface="Arial" pitchFamily="34" charset="0"/>
                          <a:ea typeface="Lato" panose="020F0502020204030203" pitchFamily="34" charset="0"/>
                          <a:cs typeface="Lato" panose="020F0502020204030203" pitchFamily="34" charset="0"/>
                        </a:rPr>
                        <a:t>Led complex platform upgrades (billing, payments components, major </a:t>
                      </a:r>
                      <a:r>
                        <a:rPr kumimoji="0" lang="en-US" sz="1050" b="0" i="0" u="none" strike="noStrike" kern="1200" cap="none" spc="0" normalizeH="0" baseline="0" noProof="0" dirty="0" err="1">
                          <a:ln>
                            <a:noFill/>
                          </a:ln>
                          <a:solidFill>
                            <a:schemeClr val="bg2">
                              <a:lumMod val="10000"/>
                            </a:schemeClr>
                          </a:solidFill>
                          <a:effectLst/>
                          <a:uLnTx/>
                          <a:uFillTx/>
                          <a:latin typeface="Arial" pitchFamily="34" charset="0"/>
                          <a:ea typeface="Lato" panose="020F0502020204030203" pitchFamily="34" charset="0"/>
                          <a:cs typeface="Lato" panose="020F0502020204030203" pitchFamily="34" charset="0"/>
                        </a:rPr>
                        <a:t>SuperApp</a:t>
                      </a:r>
                      <a:r>
                        <a:rPr kumimoji="0" lang="en-US" sz="1050" b="0" i="0" u="none" strike="noStrike" kern="1200" cap="none" spc="0" normalizeH="0" baseline="0" noProof="0" dirty="0">
                          <a:ln>
                            <a:noFill/>
                          </a:ln>
                          <a:solidFill>
                            <a:schemeClr val="bg2">
                              <a:lumMod val="10000"/>
                            </a:schemeClr>
                          </a:solidFill>
                          <a:effectLst/>
                          <a:uLnTx/>
                          <a:uFillTx/>
                          <a:latin typeface="Arial" pitchFamily="34" charset="0"/>
                          <a:ea typeface="Lato" panose="020F0502020204030203" pitchFamily="34" charset="0"/>
                          <a:cs typeface="Lato" panose="020F0502020204030203" pitchFamily="34" charset="0"/>
                        </a:rPr>
                        <a:t> releases) and integrations with country systems.</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chemeClr val="bg2">
                              <a:lumMod val="10000"/>
                            </a:schemeClr>
                          </a:solidFill>
                          <a:effectLst/>
                          <a:uLnTx/>
                          <a:uFillTx/>
                          <a:latin typeface="Arial" pitchFamily="34" charset="0"/>
                          <a:ea typeface="Lato" panose="020F0502020204030203" pitchFamily="34" charset="0"/>
                          <a:cs typeface="Lato" panose="020F0502020204030203" pitchFamily="34" charset="0"/>
                        </a:rPr>
                        <a:t>Needs to demonstrate recent, hands-on leadership of cloud-native, high-concurrency modernizations (payments hub, identity at 100M+ scale).</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bl>
          </a:graphicData>
        </a:graphic>
      </p:graphicFrame>
      <p:sp>
        <p:nvSpPr>
          <p:cNvPr id="7" name="Google Shape;425;p8">
            <a:extLst>
              <a:ext uri="{FF2B5EF4-FFF2-40B4-BE49-F238E27FC236}">
                <a16:creationId xmlns:a16="http://schemas.microsoft.com/office/drawing/2014/main" id="{42E765DC-C408-44A0-403C-215A35450AF9}"/>
              </a:ext>
            </a:extLst>
          </p:cNvPr>
          <p:cNvSpPr/>
          <p:nvPr/>
        </p:nvSpPr>
        <p:spPr>
          <a:xfrm flipV="1">
            <a:off x="3865782" y="1802803"/>
            <a:ext cx="1164850" cy="44931"/>
          </a:xfrm>
          <a:prstGeom prst="rect">
            <a:avLst/>
          </a:prstGeom>
          <a:gradFill>
            <a:gsLst>
              <a:gs pos="0">
                <a:srgbClr val="FF0000"/>
              </a:gs>
              <a:gs pos="52000">
                <a:srgbClr val="FFC000"/>
              </a:gs>
              <a:gs pos="100000">
                <a:srgbClr val="00B050"/>
              </a:gs>
            </a:gsLst>
            <a:lin ang="0" scaled="0"/>
          </a:gradFill>
          <a:ln>
            <a:noFill/>
          </a:ln>
        </p:spPr>
        <p:txBody>
          <a:bodyPr spcFirstLastPara="1" wrap="square" lIns="45713" tIns="22850" rIns="45713" bIns="2285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10" normalizeH="0" baseline="0" noProof="0">
              <a:ln>
                <a:noFill/>
              </a:ln>
              <a:solidFill>
                <a:srgbClr val="FFFFFF"/>
              </a:solidFill>
              <a:effectLst/>
              <a:uLnTx/>
              <a:uFillTx/>
              <a:latin typeface="Arial" pitchFamily="34" charset="0"/>
              <a:ea typeface="Calibri"/>
              <a:cs typeface="Calibri"/>
              <a:sym typeface="Calibri"/>
            </a:endParaRPr>
          </a:p>
        </p:txBody>
      </p:sp>
      <p:sp>
        <p:nvSpPr>
          <p:cNvPr id="64" name="Google Shape;425;p8">
            <a:extLst>
              <a:ext uri="{FF2B5EF4-FFF2-40B4-BE49-F238E27FC236}">
                <a16:creationId xmlns:a16="http://schemas.microsoft.com/office/drawing/2014/main" id="{668974BA-BB28-3CA3-2DF9-15736A67A95F}"/>
              </a:ext>
            </a:extLst>
          </p:cNvPr>
          <p:cNvSpPr/>
          <p:nvPr/>
        </p:nvSpPr>
        <p:spPr>
          <a:xfrm flipV="1">
            <a:off x="3865783" y="2489979"/>
            <a:ext cx="1164850" cy="44931"/>
          </a:xfrm>
          <a:prstGeom prst="rect">
            <a:avLst/>
          </a:prstGeom>
          <a:gradFill>
            <a:gsLst>
              <a:gs pos="0">
                <a:srgbClr val="FF0000"/>
              </a:gs>
              <a:gs pos="52000">
                <a:srgbClr val="FFC000"/>
              </a:gs>
              <a:gs pos="100000">
                <a:srgbClr val="00B050"/>
              </a:gs>
            </a:gsLst>
            <a:lin ang="0" scaled="0"/>
          </a:gradFill>
          <a:ln>
            <a:noFill/>
          </a:ln>
        </p:spPr>
        <p:txBody>
          <a:bodyPr spcFirstLastPara="1" wrap="square" lIns="45713" tIns="22850" rIns="45713" bIns="2285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10" normalizeH="0" baseline="0" noProof="0">
              <a:ln>
                <a:noFill/>
              </a:ln>
              <a:solidFill>
                <a:srgbClr val="FFFFFF"/>
              </a:solidFill>
              <a:effectLst/>
              <a:uLnTx/>
              <a:uFillTx/>
              <a:latin typeface="Arial" pitchFamily="34" charset="0"/>
              <a:ea typeface="Calibri"/>
              <a:cs typeface="Calibri"/>
              <a:sym typeface="Calibri"/>
            </a:endParaRPr>
          </a:p>
        </p:txBody>
      </p:sp>
      <p:sp>
        <p:nvSpPr>
          <p:cNvPr id="70" name="Google Shape;425;p8">
            <a:extLst>
              <a:ext uri="{FF2B5EF4-FFF2-40B4-BE49-F238E27FC236}">
                <a16:creationId xmlns:a16="http://schemas.microsoft.com/office/drawing/2014/main" id="{2B8155B6-743A-4983-3741-DA4DE1E8693B}"/>
              </a:ext>
            </a:extLst>
          </p:cNvPr>
          <p:cNvSpPr/>
          <p:nvPr/>
        </p:nvSpPr>
        <p:spPr>
          <a:xfrm flipV="1">
            <a:off x="3865782" y="3930600"/>
            <a:ext cx="1164850" cy="44931"/>
          </a:xfrm>
          <a:prstGeom prst="rect">
            <a:avLst/>
          </a:prstGeom>
          <a:gradFill>
            <a:gsLst>
              <a:gs pos="0">
                <a:srgbClr val="FF0000"/>
              </a:gs>
              <a:gs pos="52000">
                <a:srgbClr val="FFC000"/>
              </a:gs>
              <a:gs pos="100000">
                <a:srgbClr val="00B050"/>
              </a:gs>
            </a:gsLst>
            <a:lin ang="0" scaled="0"/>
          </a:gradFill>
          <a:ln>
            <a:noFill/>
          </a:ln>
        </p:spPr>
        <p:txBody>
          <a:bodyPr spcFirstLastPara="1" wrap="square" lIns="45713" tIns="22850" rIns="45713" bIns="2285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10" normalizeH="0" baseline="0" noProof="0">
              <a:ln>
                <a:noFill/>
              </a:ln>
              <a:solidFill>
                <a:srgbClr val="FFFFFF"/>
              </a:solidFill>
              <a:effectLst/>
              <a:uLnTx/>
              <a:uFillTx/>
              <a:latin typeface="Arial" pitchFamily="34" charset="0"/>
              <a:ea typeface="Calibri"/>
              <a:cs typeface="Calibri"/>
              <a:sym typeface="Calibri"/>
            </a:endParaRPr>
          </a:p>
        </p:txBody>
      </p:sp>
      <p:graphicFrame>
        <p:nvGraphicFramePr>
          <p:cNvPr id="82" name="Google Shape;302;p6">
            <a:extLst>
              <a:ext uri="{FF2B5EF4-FFF2-40B4-BE49-F238E27FC236}">
                <a16:creationId xmlns:a16="http://schemas.microsoft.com/office/drawing/2014/main" id="{32D8CBDD-0292-84EE-02CD-8260A6F6146C}"/>
              </a:ext>
            </a:extLst>
          </p:cNvPr>
          <p:cNvGraphicFramePr/>
          <p:nvPr>
            <p:extLst>
              <p:ext uri="{D42A27DB-BD31-4B8C-83A1-F6EECF244321}">
                <p14:modId xmlns:p14="http://schemas.microsoft.com/office/powerpoint/2010/main" val="765177915"/>
              </p:ext>
            </p:extLst>
          </p:nvPr>
        </p:nvGraphicFramePr>
        <p:xfrm>
          <a:off x="675117" y="4356430"/>
          <a:ext cx="10975232" cy="1919908"/>
        </p:xfrm>
        <a:graphic>
          <a:graphicData uri="http://schemas.openxmlformats.org/drawingml/2006/table">
            <a:tbl>
              <a:tblPr firstRow="1" bandRow="1">
                <a:noFill/>
              </a:tblPr>
              <a:tblGrid>
                <a:gridCol w="337928">
                  <a:extLst>
                    <a:ext uri="{9D8B030D-6E8A-4147-A177-3AD203B41FA5}">
                      <a16:colId xmlns:a16="http://schemas.microsoft.com/office/drawing/2014/main" val="3171278797"/>
                    </a:ext>
                  </a:extLst>
                </a:gridCol>
                <a:gridCol w="2855570">
                  <a:extLst>
                    <a:ext uri="{9D8B030D-6E8A-4147-A177-3AD203B41FA5}">
                      <a16:colId xmlns:a16="http://schemas.microsoft.com/office/drawing/2014/main" val="20002"/>
                    </a:ext>
                  </a:extLst>
                </a:gridCol>
                <a:gridCol w="1289539">
                  <a:extLst>
                    <a:ext uri="{9D8B030D-6E8A-4147-A177-3AD203B41FA5}">
                      <a16:colId xmlns:a16="http://schemas.microsoft.com/office/drawing/2014/main" val="787183963"/>
                    </a:ext>
                  </a:extLst>
                </a:gridCol>
                <a:gridCol w="6492195">
                  <a:extLst>
                    <a:ext uri="{9D8B030D-6E8A-4147-A177-3AD203B41FA5}">
                      <a16:colId xmlns:a16="http://schemas.microsoft.com/office/drawing/2014/main" val="4202888217"/>
                    </a:ext>
                  </a:extLst>
                </a:gridCol>
              </a:tblGrid>
              <a:tr h="257741">
                <a:tc gridSpan="2">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solidFill>
                            <a:schemeClr val="tx1"/>
                          </a:solidFill>
                          <a:latin typeface="Arial" pitchFamily="34" charset="0"/>
                          <a:ea typeface="Lato"/>
                          <a:cs typeface="Lato"/>
                        </a:rPr>
                        <a:t>Superpowers Readiness</a:t>
                      </a: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1">
                        <a:solidFill>
                          <a:schemeClr val="tx1"/>
                        </a:solidFill>
                        <a:latin typeface="Arial" pitchFamily="34" charset="0"/>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200" b="1" i="0" u="none" strike="noStrike" kern="1200" cap="none" spc="0" normalizeH="0" baseline="0" noProof="0">
                          <a:ln>
                            <a:noFill/>
                          </a:ln>
                          <a:solidFill>
                            <a:schemeClr val="tx1"/>
                          </a:solidFill>
                          <a:effectLst/>
                          <a:uLnTx/>
                          <a:uFillTx/>
                          <a:latin typeface="Arial" pitchFamily="34" charset="0"/>
                          <a:ea typeface="Lato"/>
                          <a:cs typeface="Lato"/>
                        </a:rPr>
                        <a:t>Evidence</a:t>
                      </a:r>
                    </a:p>
                  </a:txBody>
                  <a:tcPr>
                    <a:lnL w="9525" cap="flat" cmpd="sng" algn="ctr">
                      <a:noFill/>
                      <a:prstDash val="solid"/>
                      <a:round/>
                      <a:headEnd type="none" w="sm" len="sm"/>
                      <a:tailEnd type="none" w="sm" len="sm"/>
                    </a:lnL>
                    <a:lnR w="9525" cap="flat" cmpd="sng">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15982398"/>
                  </a:ext>
                </a:extLst>
              </a:tr>
              <a:tr h="715948">
                <a:tc>
                  <a:txBody>
                    <a:bodyPr/>
                    <a:lstStyle/>
                    <a:p>
                      <a:pPr algn="ctr"/>
                      <a:r>
                        <a:rPr lang="en-US" sz="900">
                          <a:latin typeface="Arial" pitchFamily="34" charset="0"/>
                          <a:ea typeface="Lato"/>
                          <a:cs typeface="Lato"/>
                        </a:rPr>
                        <a:t>1</a:t>
                      </a: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lvl="0" algn="l">
                        <a:lnSpc>
                          <a:spcPct val="100000"/>
                        </a:lnSpc>
                        <a:spcBef>
                          <a:spcPts val="0"/>
                        </a:spcBef>
                        <a:spcAft>
                          <a:spcPts val="0"/>
                        </a:spcAft>
                        <a:buNone/>
                      </a:pPr>
                      <a:r>
                        <a:rPr lang="en-US" sz="1100" b="0" i="0" u="none" strike="noStrike" kern="1200" noProof="0" dirty="0">
                          <a:solidFill>
                            <a:srgbClr val="1D1D1D"/>
                          </a:solidFill>
                          <a:latin typeface="Arial" pitchFamily="34" charset="0"/>
                        </a:rPr>
                        <a:t>Outstanding collaborator with business leaders, providing expert advice to impact commercial and operational goals.</a:t>
                      </a: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b="1" kern="1200">
                        <a:solidFill>
                          <a:schemeClr val="tx1"/>
                        </a:solidFill>
                        <a:latin typeface="Arial" pitchFamily="34" charset="0"/>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solidFill>
                            <a:schemeClr val="bg2">
                              <a:lumMod val="10000"/>
                            </a:schemeClr>
                          </a:solidFill>
                          <a:effectLst/>
                          <a:uLnTx/>
                          <a:uFillTx/>
                          <a:latin typeface="Arial" pitchFamily="34" charset="0"/>
                          <a:ea typeface="Lato" panose="020F0502020204030203" pitchFamily="34" charset="0"/>
                          <a:cs typeface="Lato" panose="020F0502020204030203" pitchFamily="34" charset="0"/>
                        </a:rPr>
                        <a:t>Built data-driven business cases and roadmaps that secured executive sponsorship for multi-year digital investments.</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solidFill>
                            <a:schemeClr val="bg2">
                              <a:lumMod val="10000"/>
                            </a:schemeClr>
                          </a:solidFill>
                          <a:effectLst/>
                          <a:uLnTx/>
                          <a:uFillTx/>
                          <a:latin typeface="Arial" pitchFamily="34" charset="0"/>
                          <a:ea typeface="Lato" panose="020F0502020204030203" pitchFamily="34" charset="0"/>
                          <a:cs typeface="Lato" panose="020F0502020204030203" pitchFamily="34" charset="0"/>
                        </a:rPr>
                        <a:t>Partnered with country leaders and regulators to drive platform adoption and operational change.</a:t>
                      </a: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873457">
                <a:tc>
                  <a:txBody>
                    <a:bodyPr/>
                    <a:lstStyle/>
                    <a:p>
                      <a:pPr algn="ctr"/>
                      <a:r>
                        <a:rPr lang="en-US" sz="900">
                          <a:latin typeface="Arial" pitchFamily="34" charset="0"/>
                          <a:ea typeface="Lato"/>
                          <a:cs typeface="Lato"/>
                        </a:rPr>
                        <a:t>2</a:t>
                      </a: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a:lnSpc>
                          <a:spcPct val="100000"/>
                        </a:lnSpc>
                        <a:spcBef>
                          <a:spcPts val="0"/>
                        </a:spcBef>
                        <a:spcAft>
                          <a:spcPts val="0"/>
                        </a:spcAft>
                        <a:buNone/>
                      </a:pPr>
                      <a:r>
                        <a:rPr lang="en-US" sz="1100" b="0" i="0" u="none" strike="noStrike" kern="1200" noProof="0" dirty="0">
                          <a:solidFill>
                            <a:srgbClr val="1D1D1D"/>
                          </a:solidFill>
                          <a:latin typeface="Arial" pitchFamily="34" charset="0"/>
                        </a:rPr>
                        <a:t>Continuously improving digital infrastructure and data quality, while driving future-focused digital products, services, and innovation leading to business growth</a:t>
                      </a: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b="1" kern="1200">
                        <a:solidFill>
                          <a:schemeClr val="tx1"/>
                        </a:solidFill>
                        <a:latin typeface="Arial" pitchFamily="34" charset="0"/>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chemeClr val="tx1"/>
                          </a:solidFill>
                          <a:effectLst/>
                          <a:uLnTx/>
                          <a:uFillTx/>
                          <a:latin typeface="Arial" pitchFamily="34" charset="0"/>
                          <a:ea typeface="Lato" panose="020F0502020204030203" pitchFamily="34" charset="0"/>
                          <a:cs typeface="Lato" panose="020F0502020204030203" pitchFamily="34" charset="0"/>
                        </a:rPr>
                        <a:t>Guided platform security and data-governance modernization across multiple markets.</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chemeClr val="tx1"/>
                          </a:solidFill>
                          <a:effectLst/>
                          <a:uLnTx/>
                          <a:uFillTx/>
                          <a:latin typeface="Arial" pitchFamily="34" charset="0"/>
                          <a:ea typeface="Lato" panose="020F0502020204030203" pitchFamily="34" charset="0"/>
                          <a:cs typeface="Lato" panose="020F0502020204030203" pitchFamily="34" charset="0"/>
                        </a:rPr>
                        <a:t>Owned large transformation workstreams end-to-end, showing operational rigor and product focus.</a:t>
                      </a: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62063259"/>
                  </a:ext>
                </a:extLst>
              </a:tr>
            </a:tbl>
          </a:graphicData>
        </a:graphic>
      </p:graphicFrame>
      <p:sp>
        <p:nvSpPr>
          <p:cNvPr id="84" name="Google Shape;425;p8">
            <a:extLst>
              <a:ext uri="{FF2B5EF4-FFF2-40B4-BE49-F238E27FC236}">
                <a16:creationId xmlns:a16="http://schemas.microsoft.com/office/drawing/2014/main" id="{6466384D-064E-126E-331C-6E1976D7D81E}"/>
              </a:ext>
            </a:extLst>
          </p:cNvPr>
          <p:cNvSpPr/>
          <p:nvPr/>
        </p:nvSpPr>
        <p:spPr>
          <a:xfrm>
            <a:off x="3865781" y="4977498"/>
            <a:ext cx="1164850" cy="43299"/>
          </a:xfrm>
          <a:prstGeom prst="rect">
            <a:avLst/>
          </a:prstGeom>
          <a:gradFill>
            <a:gsLst>
              <a:gs pos="0">
                <a:srgbClr val="FF0000"/>
              </a:gs>
              <a:gs pos="52000">
                <a:srgbClr val="FFC000"/>
              </a:gs>
              <a:gs pos="100000">
                <a:srgbClr val="00B050"/>
              </a:gs>
            </a:gsLst>
            <a:lin ang="0" scaled="0"/>
          </a:gradFill>
          <a:ln>
            <a:noFill/>
          </a:ln>
        </p:spPr>
        <p:txBody>
          <a:bodyPr spcFirstLastPara="1" wrap="square" lIns="45713" tIns="22850" rIns="45713" bIns="2285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10" normalizeH="0" baseline="0" noProof="0">
              <a:ln>
                <a:noFill/>
              </a:ln>
              <a:solidFill>
                <a:srgbClr val="FFFFFF"/>
              </a:solidFill>
              <a:effectLst/>
              <a:uLnTx/>
              <a:uFillTx/>
              <a:latin typeface="Arial" pitchFamily="34" charset="0"/>
              <a:ea typeface="Calibri"/>
              <a:cs typeface="Calibri"/>
              <a:sym typeface="Calibri"/>
            </a:endParaRPr>
          </a:p>
        </p:txBody>
      </p:sp>
      <p:sp>
        <p:nvSpPr>
          <p:cNvPr id="87" name="Google Shape;425;p8">
            <a:extLst>
              <a:ext uri="{FF2B5EF4-FFF2-40B4-BE49-F238E27FC236}">
                <a16:creationId xmlns:a16="http://schemas.microsoft.com/office/drawing/2014/main" id="{8DAC0675-2F07-7D1E-A687-98188BF6C15B}"/>
              </a:ext>
            </a:extLst>
          </p:cNvPr>
          <p:cNvSpPr/>
          <p:nvPr/>
        </p:nvSpPr>
        <p:spPr>
          <a:xfrm>
            <a:off x="3865780" y="5809422"/>
            <a:ext cx="1164850" cy="45880"/>
          </a:xfrm>
          <a:prstGeom prst="rect">
            <a:avLst/>
          </a:prstGeom>
          <a:gradFill>
            <a:gsLst>
              <a:gs pos="0">
                <a:srgbClr val="FF0000"/>
              </a:gs>
              <a:gs pos="52000">
                <a:srgbClr val="FFC000"/>
              </a:gs>
              <a:gs pos="100000">
                <a:srgbClr val="00B050"/>
              </a:gs>
            </a:gsLst>
            <a:lin ang="0" scaled="0"/>
          </a:gradFill>
          <a:ln>
            <a:noFill/>
          </a:ln>
        </p:spPr>
        <p:txBody>
          <a:bodyPr spcFirstLastPara="1" wrap="square" lIns="45713" tIns="22850" rIns="45713" bIns="2285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10" normalizeH="0" baseline="0" noProof="0">
              <a:ln>
                <a:noFill/>
              </a:ln>
              <a:solidFill>
                <a:srgbClr val="FFFFFF"/>
              </a:solidFill>
              <a:effectLst/>
              <a:uLnTx/>
              <a:uFillTx/>
              <a:latin typeface="Arial" pitchFamily="34" charset="0"/>
              <a:ea typeface="Calibri"/>
              <a:cs typeface="Calibri"/>
              <a:sym typeface="Calibri"/>
            </a:endParaRPr>
          </a:p>
        </p:txBody>
      </p:sp>
      <p:sp>
        <p:nvSpPr>
          <p:cNvPr id="20" name="TextBox 19">
            <a:extLst>
              <a:ext uri="{FF2B5EF4-FFF2-40B4-BE49-F238E27FC236}">
                <a16:creationId xmlns:a16="http://schemas.microsoft.com/office/drawing/2014/main" id="{B4BB7793-77FF-8C1B-7373-7B946762F5BD}"/>
              </a:ext>
            </a:extLst>
          </p:cNvPr>
          <p:cNvSpPr txBox="1"/>
          <p:nvPr/>
        </p:nvSpPr>
        <p:spPr>
          <a:xfrm>
            <a:off x="6169328" y="780596"/>
            <a:ext cx="440881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spc="-10">
                <a:latin typeface="Segoe UI" pitchFamily="34" charset="0"/>
                <a:ea typeface="Lato" panose="020F0502020204030203" pitchFamily="34" charset="0"/>
                <a:cs typeface="Lato" panose="020F0502020204030203" pitchFamily="34" charset="0"/>
              </a:rPr>
              <a:t>Target Role: Head of Digital Solutions &amp; Data</a:t>
            </a:r>
          </a:p>
        </p:txBody>
      </p:sp>
      <p:sp>
        <p:nvSpPr>
          <p:cNvPr id="67" name="Google Shape;425;p8">
            <a:extLst>
              <a:ext uri="{FF2B5EF4-FFF2-40B4-BE49-F238E27FC236}">
                <a16:creationId xmlns:a16="http://schemas.microsoft.com/office/drawing/2014/main" id="{41EA44F0-7C4C-B422-A537-30A53EB45814}"/>
              </a:ext>
            </a:extLst>
          </p:cNvPr>
          <p:cNvSpPr/>
          <p:nvPr/>
        </p:nvSpPr>
        <p:spPr>
          <a:xfrm flipV="1">
            <a:off x="3865782" y="3185103"/>
            <a:ext cx="1164850" cy="44930"/>
          </a:xfrm>
          <a:prstGeom prst="rect">
            <a:avLst/>
          </a:prstGeom>
          <a:gradFill>
            <a:gsLst>
              <a:gs pos="0">
                <a:srgbClr val="FF0000"/>
              </a:gs>
              <a:gs pos="52000">
                <a:srgbClr val="FFC000"/>
              </a:gs>
              <a:gs pos="100000">
                <a:srgbClr val="00B050"/>
              </a:gs>
            </a:gsLst>
            <a:lin ang="0" scaled="0"/>
          </a:gradFill>
          <a:ln>
            <a:noFill/>
          </a:ln>
        </p:spPr>
        <p:txBody>
          <a:bodyPr spcFirstLastPara="1" wrap="square" lIns="45713" tIns="22850" rIns="45713" bIns="2285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10" normalizeH="0" baseline="0" noProof="0">
              <a:ln>
                <a:noFill/>
              </a:ln>
              <a:solidFill>
                <a:srgbClr val="FFFFFF"/>
              </a:solidFill>
              <a:effectLst/>
              <a:uLnTx/>
              <a:uFillTx/>
              <a:latin typeface="Arial" pitchFamily="34" charset="0"/>
              <a:ea typeface="Calibri"/>
              <a:cs typeface="Calibri"/>
              <a:sym typeface="Calibri"/>
            </a:endParaRPr>
          </a:p>
        </p:txBody>
      </p:sp>
      <p:grpSp>
        <p:nvGrpSpPr>
          <p:cNvPr id="21" name="Group 20">
            <a:extLst>
              <a:ext uri="{FF2B5EF4-FFF2-40B4-BE49-F238E27FC236}">
                <a16:creationId xmlns:a16="http://schemas.microsoft.com/office/drawing/2014/main" id="{4F269D5B-FC6E-3F44-3379-DE47A8D0BC66}"/>
              </a:ext>
            </a:extLst>
          </p:cNvPr>
          <p:cNvGrpSpPr/>
          <p:nvPr/>
        </p:nvGrpSpPr>
        <p:grpSpPr>
          <a:xfrm>
            <a:off x="1548315" y="6421042"/>
            <a:ext cx="3231572" cy="425660"/>
            <a:chOff x="899806" y="6448812"/>
            <a:chExt cx="3231572" cy="425660"/>
          </a:xfrm>
        </p:grpSpPr>
        <p:cxnSp>
          <p:nvCxnSpPr>
            <p:cNvPr id="22" name="Straight Arrow Connector 21">
              <a:extLst>
                <a:ext uri="{FF2B5EF4-FFF2-40B4-BE49-F238E27FC236}">
                  <a16:creationId xmlns:a16="http://schemas.microsoft.com/office/drawing/2014/main" id="{374CE45D-A8BF-8955-3244-EB51D1ADEC37}"/>
                </a:ext>
              </a:extLst>
            </p:cNvPr>
            <p:cNvCxnSpPr>
              <a:cxnSpLocks/>
            </p:cNvCxnSpPr>
            <p:nvPr/>
          </p:nvCxnSpPr>
          <p:spPr>
            <a:xfrm>
              <a:off x="1439090" y="6628232"/>
              <a:ext cx="2351301" cy="0"/>
            </a:xfrm>
            <a:prstGeom prst="straightConnector1">
              <a:avLst/>
            </a:prstGeom>
            <a:ln>
              <a:solidFill>
                <a:schemeClr val="tx2">
                  <a:lumMod val="90000"/>
                </a:schemeClr>
              </a:solidFill>
              <a:headEnd type="triangle" w="med" len="sm"/>
              <a:tailEnd type="triangle" w="sm" len="sm"/>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740AFFDA-2267-44EE-A4F2-B2E08C56C536}"/>
                </a:ext>
              </a:extLst>
            </p:cNvPr>
            <p:cNvSpPr txBox="1"/>
            <p:nvPr/>
          </p:nvSpPr>
          <p:spPr>
            <a:xfrm>
              <a:off x="2169624" y="6448812"/>
              <a:ext cx="911919" cy="107722"/>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sym typeface="Lato Light"/>
                </a:rPr>
                <a:t>Readiness Scale</a:t>
              </a:r>
              <a:endPar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sp>
          <p:nvSpPr>
            <p:cNvPr id="24" name="TextBox 23">
              <a:extLst>
                <a:ext uri="{FF2B5EF4-FFF2-40B4-BE49-F238E27FC236}">
                  <a16:creationId xmlns:a16="http://schemas.microsoft.com/office/drawing/2014/main" id="{2C71CAA5-157A-C525-AD89-3D648D01469D}"/>
                </a:ext>
              </a:extLst>
            </p:cNvPr>
            <p:cNvSpPr txBox="1"/>
            <p:nvPr/>
          </p:nvSpPr>
          <p:spPr>
            <a:xfrm>
              <a:off x="1228319"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C0000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C00000"/>
                </a:solidFill>
                <a:effectLst/>
                <a:uLnTx/>
                <a:uFillTx/>
                <a:latin typeface="Arial" pitchFamily="34" charset="0"/>
                <a:ea typeface="Lato" panose="020F0502020204030203" pitchFamily="34" charset="0"/>
                <a:cs typeface="Lato" panose="020F0502020204030203" pitchFamily="34" charset="0"/>
              </a:endParaRPr>
            </a:p>
          </p:txBody>
        </p:sp>
        <p:sp>
          <p:nvSpPr>
            <p:cNvPr id="25" name="TextBox 24">
              <a:extLst>
                <a:ext uri="{FF2B5EF4-FFF2-40B4-BE49-F238E27FC236}">
                  <a16:creationId xmlns:a16="http://schemas.microsoft.com/office/drawing/2014/main" id="{AF9F590D-356C-D442-E72B-76F3AFDE2F28}"/>
                </a:ext>
              </a:extLst>
            </p:cNvPr>
            <p:cNvSpPr txBox="1"/>
            <p:nvPr/>
          </p:nvSpPr>
          <p:spPr>
            <a:xfrm>
              <a:off x="3851453"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00B05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00B050"/>
                </a:solidFill>
                <a:effectLst/>
                <a:uLnTx/>
                <a:uFillTx/>
                <a:latin typeface="Arial" pitchFamily="34" charset="0"/>
                <a:ea typeface="Lato" panose="020F0502020204030203" pitchFamily="34" charset="0"/>
                <a:cs typeface="Lato" panose="020F0502020204030203" pitchFamily="34" charset="0"/>
              </a:endParaRPr>
            </a:p>
          </p:txBody>
        </p:sp>
        <p:sp>
          <p:nvSpPr>
            <p:cNvPr id="26" name="TextBox 25">
              <a:extLst>
                <a:ext uri="{FF2B5EF4-FFF2-40B4-BE49-F238E27FC236}">
                  <a16:creationId xmlns:a16="http://schemas.microsoft.com/office/drawing/2014/main" id="{5C64A059-7CBC-7532-BB0E-AD64C1C0B5CC}"/>
                </a:ext>
              </a:extLst>
            </p:cNvPr>
            <p:cNvSpPr txBox="1"/>
            <p:nvPr/>
          </p:nvSpPr>
          <p:spPr>
            <a:xfrm>
              <a:off x="1884102"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FF6B0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FF6B00"/>
                </a:solidFill>
                <a:effectLst/>
                <a:uLnTx/>
                <a:uFillTx/>
                <a:latin typeface="Arial" pitchFamily="34" charset="0"/>
                <a:ea typeface="Lato" panose="020F0502020204030203" pitchFamily="34" charset="0"/>
                <a:cs typeface="Lato" panose="020F0502020204030203" pitchFamily="34" charset="0"/>
              </a:endParaRPr>
            </a:p>
          </p:txBody>
        </p:sp>
        <p:sp>
          <p:nvSpPr>
            <p:cNvPr id="27" name="TextBox 26">
              <a:extLst>
                <a:ext uri="{FF2B5EF4-FFF2-40B4-BE49-F238E27FC236}">
                  <a16:creationId xmlns:a16="http://schemas.microsoft.com/office/drawing/2014/main" id="{28A87231-6B8D-DAED-706C-49A838FC7757}"/>
                </a:ext>
              </a:extLst>
            </p:cNvPr>
            <p:cNvSpPr txBox="1"/>
            <p:nvPr/>
          </p:nvSpPr>
          <p:spPr>
            <a:xfrm>
              <a:off x="3195668"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BADC8C"/>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BADC8C"/>
                </a:solidFill>
                <a:effectLst/>
                <a:uLnTx/>
                <a:uFillTx/>
                <a:latin typeface="Arial" pitchFamily="34" charset="0"/>
                <a:ea typeface="Lato" panose="020F0502020204030203" pitchFamily="34" charset="0"/>
                <a:cs typeface="Lato" panose="020F0502020204030203" pitchFamily="34" charset="0"/>
              </a:endParaRPr>
            </a:p>
          </p:txBody>
        </p:sp>
        <p:sp>
          <p:nvSpPr>
            <p:cNvPr id="28" name="TextBox 27">
              <a:extLst>
                <a:ext uri="{FF2B5EF4-FFF2-40B4-BE49-F238E27FC236}">
                  <a16:creationId xmlns:a16="http://schemas.microsoft.com/office/drawing/2014/main" id="{EFE1E910-DD5B-9C67-651B-171580344402}"/>
                </a:ext>
              </a:extLst>
            </p:cNvPr>
            <p:cNvSpPr txBox="1"/>
            <p:nvPr/>
          </p:nvSpPr>
          <p:spPr>
            <a:xfrm>
              <a:off x="2539885"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FFC00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FFC000"/>
                </a:solidFill>
                <a:effectLst/>
                <a:uLnTx/>
                <a:uFillTx/>
                <a:latin typeface="Arial" pitchFamily="34" charset="0"/>
                <a:ea typeface="Lato" panose="020F0502020204030203" pitchFamily="34" charset="0"/>
                <a:cs typeface="Lato" panose="020F0502020204030203" pitchFamily="34" charset="0"/>
              </a:endParaRPr>
            </a:p>
          </p:txBody>
        </p:sp>
        <p:sp>
          <p:nvSpPr>
            <p:cNvPr id="29" name="TextBox 28">
              <a:extLst>
                <a:ext uri="{FF2B5EF4-FFF2-40B4-BE49-F238E27FC236}">
                  <a16:creationId xmlns:a16="http://schemas.microsoft.com/office/drawing/2014/main" id="{4F76E712-F99C-4AF2-2093-1FF5BC89FE85}"/>
                </a:ext>
              </a:extLst>
            </p:cNvPr>
            <p:cNvSpPr txBox="1"/>
            <p:nvPr/>
          </p:nvSpPr>
          <p:spPr>
            <a:xfrm>
              <a:off x="3645867" y="6674417"/>
              <a:ext cx="485511" cy="200055"/>
            </a:xfrm>
            <a:prstGeom prst="rect">
              <a:avLst/>
            </a:prstGeom>
            <a:noFill/>
          </p:spPr>
          <p:txBody>
            <a:bodyPr wrap="square" lIns="91440" tIns="45720" rIns="91440" bIns="4572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700" i="1" spc="-10">
                  <a:latin typeface="Arial" pitchFamily="34" charset="0"/>
                  <a:ea typeface="Lato" panose="020F0502020204030203" pitchFamily="34" charset="0"/>
                  <a:cs typeface="Lato" panose="020F0502020204030203" pitchFamily="34" charset="0"/>
                  <a:sym typeface="Lato Light"/>
                </a:rPr>
                <a:t>Ready</a:t>
              </a:r>
              <a:endPar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sp>
          <p:nvSpPr>
            <p:cNvPr id="30" name="TextBox 29">
              <a:extLst>
                <a:ext uri="{FF2B5EF4-FFF2-40B4-BE49-F238E27FC236}">
                  <a16:creationId xmlns:a16="http://schemas.microsoft.com/office/drawing/2014/main" id="{E00479C1-36C3-8F84-D856-AEAA8B55E26E}"/>
                </a:ext>
              </a:extLst>
            </p:cNvPr>
            <p:cNvSpPr txBox="1"/>
            <p:nvPr/>
          </p:nvSpPr>
          <p:spPr>
            <a:xfrm>
              <a:off x="899806" y="6652387"/>
              <a:ext cx="721686" cy="200055"/>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sym typeface="Lato Light"/>
                </a:rPr>
                <a:t>Not Ready</a:t>
              </a:r>
              <a:endPar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grpSp>
      <p:sp>
        <p:nvSpPr>
          <p:cNvPr id="6" name="TextBox 5">
            <a:extLst>
              <a:ext uri="{FF2B5EF4-FFF2-40B4-BE49-F238E27FC236}">
                <a16:creationId xmlns:a16="http://schemas.microsoft.com/office/drawing/2014/main" id="{272598FB-30A2-8EF6-C6B9-43E1682F0D60}"/>
              </a:ext>
            </a:extLst>
          </p:cNvPr>
          <p:cNvSpPr txBox="1"/>
          <p:nvPr/>
        </p:nvSpPr>
        <p:spPr>
          <a:xfrm>
            <a:off x="712958" y="838817"/>
            <a:ext cx="4039001" cy="503037"/>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10"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rPr>
              <a:t>Marcus Chen - </a:t>
            </a:r>
            <a:r>
              <a:rPr lang="en-US" sz="1100" i="1" spc="-10" dirty="0">
                <a:latin typeface="Arial" pitchFamily="34" charset="0"/>
                <a:ea typeface="Lato" panose="020F0502020204030203" pitchFamily="34" charset="0"/>
                <a:cs typeface="Lato" panose="020F0502020204030203" pitchFamily="34" charset="0"/>
              </a:rPr>
              <a:t>Head of Product &amp; Data Commercialization</a:t>
            </a:r>
          </a:p>
        </p:txBody>
      </p:sp>
      <p:sp>
        <p:nvSpPr>
          <p:cNvPr id="47" name="Rectangle 46">
            <a:extLst>
              <a:ext uri="{FF2B5EF4-FFF2-40B4-BE49-F238E27FC236}">
                <a16:creationId xmlns:a16="http://schemas.microsoft.com/office/drawing/2014/main" id="{FC925559-6627-FA97-8293-B8B48DB1CB5F}"/>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p>
        </p:txBody>
      </p:sp>
      <p:sp>
        <p:nvSpPr>
          <p:cNvPr id="89"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43</a:t>
            </a:fld>
            <a:endParaRPr lang="en-US"/>
          </a:p>
        </p:txBody>
      </p:sp>
      <p:grpSp>
        <p:nvGrpSpPr>
          <p:cNvPr id="3" name="Group 2">
            <a:extLst>
              <a:ext uri="{FF2B5EF4-FFF2-40B4-BE49-F238E27FC236}">
                <a16:creationId xmlns:a16="http://schemas.microsoft.com/office/drawing/2014/main" id="{EA154BCB-0BA2-CB65-F5EE-32CAB3949389}"/>
              </a:ext>
            </a:extLst>
          </p:cNvPr>
          <p:cNvGrpSpPr/>
          <p:nvPr/>
        </p:nvGrpSpPr>
        <p:grpSpPr>
          <a:xfrm>
            <a:off x="10555635" y="354014"/>
            <a:ext cx="410690" cy="410700"/>
            <a:chOff x="3506617" y="2730959"/>
            <a:chExt cx="1591098" cy="1591098"/>
          </a:xfrm>
        </p:grpSpPr>
        <p:sp>
          <p:nvSpPr>
            <p:cNvPr id="5" name="Rectangle: Rounded Corners 39">
              <a:extLst>
                <a:ext uri="{FF2B5EF4-FFF2-40B4-BE49-F238E27FC236}">
                  <a16:creationId xmlns:a16="http://schemas.microsoft.com/office/drawing/2014/main" id="{21CDE5EE-4472-A6F0-8B56-C5C937CB655B}"/>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8" name="Rectangle: Rounded Corners 54">
              <a:extLst>
                <a:ext uri="{FF2B5EF4-FFF2-40B4-BE49-F238E27FC236}">
                  <a16:creationId xmlns:a16="http://schemas.microsoft.com/office/drawing/2014/main" id="{2CF6371E-60E4-3369-AB30-DE16E7FDAA1E}"/>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9" name="Freeform 56" descr="Clipboard Partially Checked with solid fill">
              <a:extLst>
                <a:ext uri="{FF2B5EF4-FFF2-40B4-BE49-F238E27FC236}">
                  <a16:creationId xmlns:a16="http://schemas.microsoft.com/office/drawing/2014/main" id="{62B3264C-BD8A-0C79-452D-5729425FBB67}"/>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10" name="Group 9">
            <a:extLst>
              <a:ext uri="{FF2B5EF4-FFF2-40B4-BE49-F238E27FC236}">
                <a16:creationId xmlns:a16="http://schemas.microsoft.com/office/drawing/2014/main" id="{D4B832D2-2BFB-EB55-F901-4AA41FB575DC}"/>
              </a:ext>
            </a:extLst>
          </p:cNvPr>
          <p:cNvGrpSpPr/>
          <p:nvPr/>
        </p:nvGrpSpPr>
        <p:grpSpPr>
          <a:xfrm>
            <a:off x="11710082" y="343438"/>
            <a:ext cx="410690" cy="410700"/>
            <a:chOff x="8874309" y="3009260"/>
            <a:chExt cx="1591098" cy="1591098"/>
          </a:xfrm>
        </p:grpSpPr>
        <p:grpSp>
          <p:nvGrpSpPr>
            <p:cNvPr id="11" name="Group 10">
              <a:extLst>
                <a:ext uri="{FF2B5EF4-FFF2-40B4-BE49-F238E27FC236}">
                  <a16:creationId xmlns:a16="http://schemas.microsoft.com/office/drawing/2014/main" id="{AD332935-6536-23C9-0031-DDC8D1B8D450}"/>
                </a:ext>
              </a:extLst>
            </p:cNvPr>
            <p:cNvGrpSpPr/>
            <p:nvPr/>
          </p:nvGrpSpPr>
          <p:grpSpPr>
            <a:xfrm>
              <a:off x="8874309" y="3009260"/>
              <a:ext cx="1591098" cy="1591098"/>
              <a:chOff x="9350370" y="2760976"/>
              <a:chExt cx="1591098" cy="1591098"/>
            </a:xfrm>
          </p:grpSpPr>
          <p:sp>
            <p:nvSpPr>
              <p:cNvPr id="13" name="Rectangle: Rounded Corners 39">
                <a:extLst>
                  <a:ext uri="{FF2B5EF4-FFF2-40B4-BE49-F238E27FC236}">
                    <a16:creationId xmlns:a16="http://schemas.microsoft.com/office/drawing/2014/main" id="{D553D12F-F928-660D-5EC2-91A8426D9D47}"/>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4" name="Rectangle: Rounded Corners 54">
                <a:extLst>
                  <a:ext uri="{FF2B5EF4-FFF2-40B4-BE49-F238E27FC236}">
                    <a16:creationId xmlns:a16="http://schemas.microsoft.com/office/drawing/2014/main" id="{5D5C6179-A28F-4C25-C25D-112A30AA6FC1}"/>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2" name="Picture 51" descr="Map with pin with solid fill">
              <a:extLst>
                <a:ext uri="{FF2B5EF4-FFF2-40B4-BE49-F238E27FC236}">
                  <a16:creationId xmlns:a16="http://schemas.microsoft.com/office/drawing/2014/main" id="{73D11A1D-1DCF-6430-4FFC-10F6074ED630}"/>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5" name="Group 14">
            <a:extLst>
              <a:ext uri="{FF2B5EF4-FFF2-40B4-BE49-F238E27FC236}">
                <a16:creationId xmlns:a16="http://schemas.microsoft.com/office/drawing/2014/main" id="{29F98483-B1BE-AD1F-895D-AD5268422084}"/>
              </a:ext>
            </a:extLst>
          </p:cNvPr>
          <p:cNvGrpSpPr/>
          <p:nvPr/>
        </p:nvGrpSpPr>
        <p:grpSpPr>
          <a:xfrm>
            <a:off x="11149761" y="353355"/>
            <a:ext cx="410690" cy="410700"/>
            <a:chOff x="5303120" y="3009260"/>
            <a:chExt cx="1591098" cy="1591098"/>
          </a:xfrm>
        </p:grpSpPr>
        <p:grpSp>
          <p:nvGrpSpPr>
            <p:cNvPr id="18" name="Group 17">
              <a:extLst>
                <a:ext uri="{FF2B5EF4-FFF2-40B4-BE49-F238E27FC236}">
                  <a16:creationId xmlns:a16="http://schemas.microsoft.com/office/drawing/2014/main" id="{D547DE25-B2C3-EE0C-0D04-E1BF300BDCCA}"/>
                </a:ext>
              </a:extLst>
            </p:cNvPr>
            <p:cNvGrpSpPr/>
            <p:nvPr/>
          </p:nvGrpSpPr>
          <p:grpSpPr>
            <a:xfrm>
              <a:off x="5303120" y="3009260"/>
              <a:ext cx="1591098" cy="1591098"/>
              <a:chOff x="6428492" y="2760976"/>
              <a:chExt cx="1591098" cy="1591098"/>
            </a:xfrm>
          </p:grpSpPr>
          <p:sp>
            <p:nvSpPr>
              <p:cNvPr id="48" name="Rectangle: Rounded Corners 39">
                <a:extLst>
                  <a:ext uri="{FF2B5EF4-FFF2-40B4-BE49-F238E27FC236}">
                    <a16:creationId xmlns:a16="http://schemas.microsoft.com/office/drawing/2014/main" id="{9DB41FE9-8FF7-7C17-1A65-12DF168898F3}"/>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9" name="Rectangle: Rounded Corners 54">
                <a:extLst>
                  <a:ext uri="{FF2B5EF4-FFF2-40B4-BE49-F238E27FC236}">
                    <a16:creationId xmlns:a16="http://schemas.microsoft.com/office/drawing/2014/main" id="{1F419507-A101-F2FE-2871-5B17F7859A26}"/>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9" name="Graphic 22" descr="Target Audience with solid fill">
              <a:extLst>
                <a:ext uri="{FF2B5EF4-FFF2-40B4-BE49-F238E27FC236}">
                  <a16:creationId xmlns:a16="http://schemas.microsoft.com/office/drawing/2014/main" id="{0ED4C419-8FB6-5D68-5432-9367BB015E06}"/>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50" name="TextBox 49">
            <a:extLst>
              <a:ext uri="{FF2B5EF4-FFF2-40B4-BE49-F238E27FC236}">
                <a16:creationId xmlns:a16="http://schemas.microsoft.com/office/drawing/2014/main" id="{5CC09D07-19D8-EE4A-9031-171474F7F724}"/>
              </a:ext>
            </a:extLst>
          </p:cNvPr>
          <p:cNvSpPr txBox="1"/>
          <p:nvPr/>
        </p:nvSpPr>
        <p:spPr>
          <a:xfrm>
            <a:off x="11522371" y="7765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1" name="TextBox 50">
            <a:extLst>
              <a:ext uri="{FF2B5EF4-FFF2-40B4-BE49-F238E27FC236}">
                <a16:creationId xmlns:a16="http://schemas.microsoft.com/office/drawing/2014/main" id="{B164FDC3-11D5-2BBE-5684-0022C76A9F96}"/>
              </a:ext>
            </a:extLst>
          </p:cNvPr>
          <p:cNvSpPr txBox="1"/>
          <p:nvPr/>
        </p:nvSpPr>
        <p:spPr>
          <a:xfrm>
            <a:off x="10485532" y="7765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2" name="TextBox 51">
            <a:extLst>
              <a:ext uri="{FF2B5EF4-FFF2-40B4-BE49-F238E27FC236}">
                <a16:creationId xmlns:a16="http://schemas.microsoft.com/office/drawing/2014/main" id="{A9416FE7-D444-E1DD-E4C7-0D53CE79DAF8}"/>
              </a:ext>
            </a:extLst>
          </p:cNvPr>
          <p:cNvSpPr txBox="1"/>
          <p:nvPr/>
        </p:nvSpPr>
        <p:spPr>
          <a:xfrm>
            <a:off x="11065324" y="7765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3" name="Rectangle 52">
            <a:extLst>
              <a:ext uri="{FF2B5EF4-FFF2-40B4-BE49-F238E27FC236}">
                <a16:creationId xmlns:a16="http://schemas.microsoft.com/office/drawing/2014/main" id="{CFA31724-585F-9EC4-826A-E6C0853730E3}"/>
              </a:ext>
            </a:extLst>
          </p:cNvPr>
          <p:cNvSpPr/>
          <p:nvPr/>
        </p:nvSpPr>
        <p:spPr>
          <a:xfrm>
            <a:off x="11617041" y="2382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
        <p:nvSpPr>
          <p:cNvPr id="54" name="Rectangle 53">
            <a:extLst>
              <a:ext uri="{FF2B5EF4-FFF2-40B4-BE49-F238E27FC236}">
                <a16:creationId xmlns:a16="http://schemas.microsoft.com/office/drawing/2014/main" id="{746528CD-22E5-3669-BA60-6C45DD8C7901}"/>
              </a:ext>
            </a:extLst>
          </p:cNvPr>
          <p:cNvSpPr/>
          <p:nvPr/>
        </p:nvSpPr>
        <p:spPr>
          <a:xfrm>
            <a:off x="10417724" y="3076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94858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F72CC4-D13A-C8BB-B5A6-6EAD2D299A2D}"/>
              </a:ext>
            </a:extLst>
          </p:cNvPr>
          <p:cNvSpPr>
            <a:spLocks noGrp="1"/>
          </p:cNvSpPr>
          <p:nvPr>
            <p:ph type="title" sz="quarter"/>
          </p:nvPr>
        </p:nvSpPr>
        <p:spPr/>
        <p:txBody>
          <a:bodyPr lIns="91440" tIns="45720" rIns="91440" bIns="45720" anchor="t"/>
          <a:lstStyle/>
          <a:p>
            <a:r>
              <a:rPr lang="en-US" b="1" spc="-25" dirty="0">
                <a:latin typeface="Segoe UI" pitchFamily="34" charset="0"/>
                <a:cs typeface="Lato"/>
              </a:rPr>
              <a:t>Creating a succession </a:t>
            </a:r>
            <a:r>
              <a:rPr lang="en-US" b="1" spc="-25" dirty="0">
                <a:solidFill>
                  <a:srgbClr val="00C27A"/>
                </a:solidFill>
                <a:latin typeface="Segoe UI" pitchFamily="34" charset="0"/>
                <a:cs typeface="Lato"/>
              </a:rPr>
              <a:t>pipeline</a:t>
            </a:r>
            <a:endParaRPr lang="en-US" b="1" spc="-25" dirty="0">
              <a:solidFill>
                <a:srgbClr val="00C27A"/>
              </a:solidFill>
              <a:latin typeface="Segoe UI" pitchFamily="34" charset="0"/>
            </a:endParaRPr>
          </a:p>
        </p:txBody>
      </p:sp>
      <p:grpSp>
        <p:nvGrpSpPr>
          <p:cNvPr id="3" name="Group 2">
            <a:extLst>
              <a:ext uri="{FF2B5EF4-FFF2-40B4-BE49-F238E27FC236}">
                <a16:creationId xmlns:a16="http://schemas.microsoft.com/office/drawing/2014/main" id="{EC96E72E-33F4-98AF-DFBB-D92C5BCE9BB8}"/>
              </a:ext>
            </a:extLst>
          </p:cNvPr>
          <p:cNvGrpSpPr/>
          <p:nvPr/>
        </p:nvGrpSpPr>
        <p:grpSpPr>
          <a:xfrm>
            <a:off x="1130352" y="2447688"/>
            <a:ext cx="10343227" cy="1749231"/>
            <a:chOff x="1130352" y="2731834"/>
            <a:chExt cx="7507104" cy="1749231"/>
          </a:xfrm>
        </p:grpSpPr>
        <p:grpSp>
          <p:nvGrpSpPr>
            <p:cNvPr id="19" name="Group 18">
              <a:extLst>
                <a:ext uri="{FF2B5EF4-FFF2-40B4-BE49-F238E27FC236}">
                  <a16:creationId xmlns:a16="http://schemas.microsoft.com/office/drawing/2014/main" id="{6BA92345-0743-2D2D-5ADD-D78A96279C38}"/>
                </a:ext>
              </a:extLst>
            </p:cNvPr>
            <p:cNvGrpSpPr/>
            <p:nvPr/>
          </p:nvGrpSpPr>
          <p:grpSpPr>
            <a:xfrm>
              <a:off x="1187735" y="2806653"/>
              <a:ext cx="2365685" cy="1588238"/>
              <a:chOff x="2933111" y="1254749"/>
              <a:chExt cx="5303520" cy="914400"/>
            </a:xfrm>
          </p:grpSpPr>
          <p:sp>
            <p:nvSpPr>
              <p:cNvPr id="5" name="Rectangle 4">
                <a:extLst>
                  <a:ext uri="{FF2B5EF4-FFF2-40B4-BE49-F238E27FC236}">
                    <a16:creationId xmlns:a16="http://schemas.microsoft.com/office/drawing/2014/main" id="{B113408C-F151-EDFB-5776-49F4E217CF7B}"/>
                  </a:ext>
                </a:extLst>
              </p:cNvPr>
              <p:cNvSpPr/>
              <p:nvPr/>
            </p:nvSpPr>
            <p:spPr>
              <a:xfrm rot="10800000">
                <a:off x="2933111" y="1254749"/>
                <a:ext cx="5303520" cy="914400"/>
              </a:xfrm>
              <a:prstGeom prst="rect">
                <a:avLst/>
              </a:prstGeom>
              <a:solidFill>
                <a:srgbClr val="02C27A"/>
              </a:solidFill>
              <a:ln>
                <a:solidFill>
                  <a:srgbClr val="2B3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22" name="TextBox 21">
                <a:extLst>
                  <a:ext uri="{FF2B5EF4-FFF2-40B4-BE49-F238E27FC236}">
                    <a16:creationId xmlns:a16="http://schemas.microsoft.com/office/drawing/2014/main" id="{5803DBBE-A514-62FC-6F4A-0B34F1FE59EA}"/>
                  </a:ext>
                </a:extLst>
              </p:cNvPr>
              <p:cNvSpPr txBox="1"/>
              <p:nvPr/>
            </p:nvSpPr>
            <p:spPr>
              <a:xfrm>
                <a:off x="3921538" y="1430235"/>
                <a:ext cx="3326666" cy="563425"/>
              </a:xfrm>
              <a:prstGeom prst="rect">
                <a:avLst/>
              </a:prstGeom>
              <a:noFill/>
            </p:spPr>
            <p:txBody>
              <a:bodyPr wrap="square" lIns="91440" tIns="45720" rIns="91440" bIns="45720" rtlCol="0" anchor="ctr">
                <a:noAutofit/>
              </a:bodyPr>
              <a:lstStyle/>
              <a:p>
                <a:pPr algn="ctr"/>
                <a:r>
                  <a:rPr lang="en-US" sz="2400" b="1" spc="-10" dirty="0">
                    <a:solidFill>
                      <a:schemeClr val="bg1"/>
                    </a:solidFill>
                    <a:latin typeface="Segoe UI" pitchFamily="34" charset="0"/>
                    <a:ea typeface="Lato"/>
                    <a:cs typeface="Lato"/>
                  </a:rPr>
                  <a:t>Ready now</a:t>
                </a:r>
              </a:p>
            </p:txBody>
          </p:sp>
        </p:grpSp>
        <p:grpSp>
          <p:nvGrpSpPr>
            <p:cNvPr id="20" name="Group 19">
              <a:extLst>
                <a:ext uri="{FF2B5EF4-FFF2-40B4-BE49-F238E27FC236}">
                  <a16:creationId xmlns:a16="http://schemas.microsoft.com/office/drawing/2014/main" id="{5709457A-5678-C3EF-E39E-22E94A2BCAA4}"/>
                </a:ext>
              </a:extLst>
            </p:cNvPr>
            <p:cNvGrpSpPr/>
            <p:nvPr/>
          </p:nvGrpSpPr>
          <p:grpSpPr>
            <a:xfrm>
              <a:off x="3663511" y="2806653"/>
              <a:ext cx="2365685" cy="1588238"/>
              <a:chOff x="3402415" y="2960373"/>
              <a:chExt cx="5303520" cy="914400"/>
            </a:xfrm>
          </p:grpSpPr>
          <p:sp>
            <p:nvSpPr>
              <p:cNvPr id="24" name="Rectangle 23">
                <a:extLst>
                  <a:ext uri="{FF2B5EF4-FFF2-40B4-BE49-F238E27FC236}">
                    <a16:creationId xmlns:a16="http://schemas.microsoft.com/office/drawing/2014/main" id="{57287F89-541C-BA10-1758-6332D07F299E}"/>
                  </a:ext>
                </a:extLst>
              </p:cNvPr>
              <p:cNvSpPr/>
              <p:nvPr/>
            </p:nvSpPr>
            <p:spPr>
              <a:xfrm rot="10800000">
                <a:off x="3402415" y="2960373"/>
                <a:ext cx="5303520" cy="914400"/>
              </a:xfrm>
              <a:prstGeom prst="rect">
                <a:avLst/>
              </a:prstGeom>
              <a:solidFill>
                <a:srgbClr val="FFB546"/>
              </a:solidFill>
              <a:ln>
                <a:solidFill>
                  <a:srgbClr val="2B3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25" name="TextBox 24">
                <a:extLst>
                  <a:ext uri="{FF2B5EF4-FFF2-40B4-BE49-F238E27FC236}">
                    <a16:creationId xmlns:a16="http://schemas.microsoft.com/office/drawing/2014/main" id="{74E84534-4FDD-76D4-D00F-D433BDB4FD39}"/>
                  </a:ext>
                </a:extLst>
              </p:cNvPr>
              <p:cNvSpPr txBox="1"/>
              <p:nvPr/>
            </p:nvSpPr>
            <p:spPr>
              <a:xfrm>
                <a:off x="4260764" y="3126310"/>
                <a:ext cx="3614626" cy="582524"/>
              </a:xfrm>
              <a:prstGeom prst="rect">
                <a:avLst/>
              </a:prstGeom>
              <a:noFill/>
            </p:spPr>
            <p:txBody>
              <a:bodyPr wrap="square" lIns="91440" tIns="45720" rIns="91440" bIns="45720" rtlCol="0" anchor="ctr">
                <a:noAutofit/>
              </a:bodyPr>
              <a:lstStyle/>
              <a:p>
                <a:pPr algn="ctr"/>
                <a:r>
                  <a:rPr lang="en-US" sz="2400" b="1" spc="-10" dirty="0">
                    <a:solidFill>
                      <a:schemeClr val="bg1"/>
                    </a:solidFill>
                    <a:latin typeface="Segoe UI" pitchFamily="34" charset="0"/>
                    <a:ea typeface="Lato"/>
                    <a:cs typeface="Lato"/>
                  </a:rPr>
                  <a:t>Ready with development</a:t>
                </a:r>
              </a:p>
            </p:txBody>
          </p:sp>
        </p:grpSp>
        <p:grpSp>
          <p:nvGrpSpPr>
            <p:cNvPr id="21" name="Group 20">
              <a:extLst>
                <a:ext uri="{FF2B5EF4-FFF2-40B4-BE49-F238E27FC236}">
                  <a16:creationId xmlns:a16="http://schemas.microsoft.com/office/drawing/2014/main" id="{B5DEB323-0A62-D60D-BC48-3ED6B193F04E}"/>
                </a:ext>
              </a:extLst>
            </p:cNvPr>
            <p:cNvGrpSpPr/>
            <p:nvPr/>
          </p:nvGrpSpPr>
          <p:grpSpPr>
            <a:xfrm>
              <a:off x="6139286" y="2806653"/>
              <a:ext cx="2365685" cy="1588238"/>
              <a:chOff x="3402415" y="4201734"/>
              <a:chExt cx="5303520" cy="914400"/>
            </a:xfrm>
          </p:grpSpPr>
          <p:sp>
            <p:nvSpPr>
              <p:cNvPr id="29" name="Trapezoid 28">
                <a:extLst>
                  <a:ext uri="{FF2B5EF4-FFF2-40B4-BE49-F238E27FC236}">
                    <a16:creationId xmlns:a16="http://schemas.microsoft.com/office/drawing/2014/main" id="{6C82554F-F021-1189-B674-8F06F7357E90}"/>
                  </a:ext>
                </a:extLst>
              </p:cNvPr>
              <p:cNvSpPr/>
              <p:nvPr/>
            </p:nvSpPr>
            <p:spPr>
              <a:xfrm rot="10800000">
                <a:off x="3402415" y="4201734"/>
                <a:ext cx="5303520" cy="914400"/>
              </a:xfrm>
              <a:prstGeom prst="rect">
                <a:avLst/>
              </a:prstGeom>
              <a:solidFill>
                <a:srgbClr val="3B3B3B"/>
              </a:solidFill>
              <a:ln>
                <a:solidFill>
                  <a:srgbClr val="2B3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17" name="TextBox 16">
                <a:extLst>
                  <a:ext uri="{FF2B5EF4-FFF2-40B4-BE49-F238E27FC236}">
                    <a16:creationId xmlns:a16="http://schemas.microsoft.com/office/drawing/2014/main" id="{485010E9-C9E8-C5DB-8D31-59FC6BC86F7A}"/>
                  </a:ext>
                </a:extLst>
              </p:cNvPr>
              <p:cNvSpPr txBox="1"/>
              <p:nvPr/>
            </p:nvSpPr>
            <p:spPr>
              <a:xfrm>
                <a:off x="3828396" y="4541715"/>
                <a:ext cx="4451557" cy="265795"/>
              </a:xfrm>
              <a:prstGeom prst="rect">
                <a:avLst/>
              </a:prstGeom>
              <a:noFill/>
            </p:spPr>
            <p:txBody>
              <a:bodyPr wrap="square" lIns="91440" tIns="45720" rIns="91440" bIns="45720" rtlCol="0" anchor="t">
                <a:spAutoFit/>
              </a:bodyPr>
              <a:lstStyle/>
              <a:p>
                <a:pPr algn="ctr"/>
                <a:r>
                  <a:rPr lang="en-US" sz="2400" b="1" spc="-10">
                    <a:solidFill>
                      <a:schemeClr val="bg1"/>
                    </a:solidFill>
                    <a:latin typeface="Segoe UI" pitchFamily="34" charset="0"/>
                    <a:ea typeface="Lato"/>
                    <a:cs typeface="Lato"/>
                  </a:rPr>
                  <a:t>Not ready</a:t>
                </a:r>
              </a:p>
            </p:txBody>
          </p:sp>
        </p:grpSp>
        <p:sp>
          <p:nvSpPr>
            <p:cNvPr id="39" name="Rectangle: Rounded Corners 38">
              <a:extLst>
                <a:ext uri="{FF2B5EF4-FFF2-40B4-BE49-F238E27FC236}">
                  <a16:creationId xmlns:a16="http://schemas.microsoft.com/office/drawing/2014/main" id="{E056E1DC-6D9B-4386-A516-5204E578EECC}"/>
                </a:ext>
              </a:extLst>
            </p:cNvPr>
            <p:cNvSpPr/>
            <p:nvPr/>
          </p:nvSpPr>
          <p:spPr>
            <a:xfrm>
              <a:off x="1130352" y="2731834"/>
              <a:ext cx="132485" cy="1743075"/>
            </a:xfrm>
            <a:prstGeom prst="roundRect">
              <a:avLst>
                <a:gd name="adj" fmla="val 50000"/>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40" name="Rectangle: Rounded Corners 39">
              <a:extLst>
                <a:ext uri="{FF2B5EF4-FFF2-40B4-BE49-F238E27FC236}">
                  <a16:creationId xmlns:a16="http://schemas.microsoft.com/office/drawing/2014/main" id="{CF88F8AA-1F48-B33C-78CB-F2F80CA7BDBD}"/>
                </a:ext>
              </a:extLst>
            </p:cNvPr>
            <p:cNvSpPr/>
            <p:nvPr/>
          </p:nvSpPr>
          <p:spPr>
            <a:xfrm>
              <a:off x="3544559" y="2731834"/>
              <a:ext cx="132485" cy="1743075"/>
            </a:xfrm>
            <a:prstGeom prst="roundRect">
              <a:avLst>
                <a:gd name="adj" fmla="val 50000"/>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41" name="Rectangle: Rounded Corners 40">
              <a:extLst>
                <a:ext uri="{FF2B5EF4-FFF2-40B4-BE49-F238E27FC236}">
                  <a16:creationId xmlns:a16="http://schemas.microsoft.com/office/drawing/2014/main" id="{DC1C1EAD-A8F4-FE4D-72E3-69EB9B294E99}"/>
                </a:ext>
              </a:extLst>
            </p:cNvPr>
            <p:cNvSpPr/>
            <p:nvPr/>
          </p:nvSpPr>
          <p:spPr>
            <a:xfrm>
              <a:off x="6028066" y="2731834"/>
              <a:ext cx="132485" cy="1743075"/>
            </a:xfrm>
            <a:prstGeom prst="roundRect">
              <a:avLst>
                <a:gd name="adj" fmla="val 50000"/>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p>
          </p:txBody>
        </p:sp>
        <p:sp>
          <p:nvSpPr>
            <p:cNvPr id="42" name="Rectangle: Rounded Corners 41">
              <a:extLst>
                <a:ext uri="{FF2B5EF4-FFF2-40B4-BE49-F238E27FC236}">
                  <a16:creationId xmlns:a16="http://schemas.microsoft.com/office/drawing/2014/main" id="{A992EAE8-0212-C392-689D-F0AB003289D7}"/>
                </a:ext>
              </a:extLst>
            </p:cNvPr>
            <p:cNvSpPr/>
            <p:nvPr/>
          </p:nvSpPr>
          <p:spPr>
            <a:xfrm>
              <a:off x="8504971" y="2737990"/>
              <a:ext cx="132485" cy="1743075"/>
            </a:xfrm>
            <a:prstGeom prst="roundRect">
              <a:avLst>
                <a:gd name="adj" fmla="val 50000"/>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grpSp>
      <p:grpSp>
        <p:nvGrpSpPr>
          <p:cNvPr id="16" name="Group 15">
            <a:extLst>
              <a:ext uri="{FF2B5EF4-FFF2-40B4-BE49-F238E27FC236}">
                <a16:creationId xmlns:a16="http://schemas.microsoft.com/office/drawing/2014/main" id="{FDD669B0-5328-6BB8-6A6F-68B9DD1679EE}"/>
              </a:ext>
            </a:extLst>
          </p:cNvPr>
          <p:cNvGrpSpPr/>
          <p:nvPr/>
        </p:nvGrpSpPr>
        <p:grpSpPr>
          <a:xfrm>
            <a:off x="10403235" y="201614"/>
            <a:ext cx="410690" cy="410700"/>
            <a:chOff x="3506617" y="2730959"/>
            <a:chExt cx="1591098" cy="1591098"/>
          </a:xfrm>
        </p:grpSpPr>
        <p:sp>
          <p:nvSpPr>
            <p:cNvPr id="18" name="Rectangle: Rounded Corners 39">
              <a:extLst>
                <a:ext uri="{FF2B5EF4-FFF2-40B4-BE49-F238E27FC236}">
                  <a16:creationId xmlns:a16="http://schemas.microsoft.com/office/drawing/2014/main" id="{38AF4777-63F6-B833-A4D8-E7223DC90BA4}"/>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3" name="Rectangle: Rounded Corners 54">
              <a:extLst>
                <a:ext uri="{FF2B5EF4-FFF2-40B4-BE49-F238E27FC236}">
                  <a16:creationId xmlns:a16="http://schemas.microsoft.com/office/drawing/2014/main" id="{53C28065-CAED-AD89-EEB9-1293C71E46F9}"/>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6" name="Freeform 56" descr="Clipboard Partially Checked with solid fill">
              <a:extLst>
                <a:ext uri="{FF2B5EF4-FFF2-40B4-BE49-F238E27FC236}">
                  <a16:creationId xmlns:a16="http://schemas.microsoft.com/office/drawing/2014/main" id="{EE08C181-208D-AACB-B32D-5FD3322D26E3}"/>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27" name="Group 26">
            <a:extLst>
              <a:ext uri="{FF2B5EF4-FFF2-40B4-BE49-F238E27FC236}">
                <a16:creationId xmlns:a16="http://schemas.microsoft.com/office/drawing/2014/main" id="{D860CB38-7E64-38C0-410F-7B20ECC6A4DC}"/>
              </a:ext>
            </a:extLst>
          </p:cNvPr>
          <p:cNvGrpSpPr/>
          <p:nvPr/>
        </p:nvGrpSpPr>
        <p:grpSpPr>
          <a:xfrm>
            <a:off x="11557682" y="191038"/>
            <a:ext cx="410690" cy="410700"/>
            <a:chOff x="8874309" y="3009260"/>
            <a:chExt cx="1591098" cy="1591098"/>
          </a:xfrm>
        </p:grpSpPr>
        <p:grpSp>
          <p:nvGrpSpPr>
            <p:cNvPr id="28" name="Group 27">
              <a:extLst>
                <a:ext uri="{FF2B5EF4-FFF2-40B4-BE49-F238E27FC236}">
                  <a16:creationId xmlns:a16="http://schemas.microsoft.com/office/drawing/2014/main" id="{B7A34221-A9A8-0767-DAE5-A955EEDC3A4D}"/>
                </a:ext>
              </a:extLst>
            </p:cNvPr>
            <p:cNvGrpSpPr/>
            <p:nvPr/>
          </p:nvGrpSpPr>
          <p:grpSpPr>
            <a:xfrm>
              <a:off x="8874309" y="3009260"/>
              <a:ext cx="1591098" cy="1591098"/>
              <a:chOff x="9350370" y="2760976"/>
              <a:chExt cx="1591098" cy="1591098"/>
            </a:xfrm>
          </p:grpSpPr>
          <p:sp>
            <p:nvSpPr>
              <p:cNvPr id="31" name="Rectangle: Rounded Corners 39">
                <a:extLst>
                  <a:ext uri="{FF2B5EF4-FFF2-40B4-BE49-F238E27FC236}">
                    <a16:creationId xmlns:a16="http://schemas.microsoft.com/office/drawing/2014/main" id="{F06F30E2-6EC4-F1BF-54B3-21BEDBC25323}"/>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2" name="Rectangle: Rounded Corners 54">
                <a:extLst>
                  <a:ext uri="{FF2B5EF4-FFF2-40B4-BE49-F238E27FC236}">
                    <a16:creationId xmlns:a16="http://schemas.microsoft.com/office/drawing/2014/main" id="{8D04A55E-66EC-6595-03B0-9F5CA6C4A576}"/>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0" name="Picture 51" descr="Map with pin with solid fill">
              <a:extLst>
                <a:ext uri="{FF2B5EF4-FFF2-40B4-BE49-F238E27FC236}">
                  <a16:creationId xmlns:a16="http://schemas.microsoft.com/office/drawing/2014/main" id="{4E4C8B3C-A0CB-3506-9512-2ED3D0CABFDA}"/>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3" name="Group 32">
            <a:extLst>
              <a:ext uri="{FF2B5EF4-FFF2-40B4-BE49-F238E27FC236}">
                <a16:creationId xmlns:a16="http://schemas.microsoft.com/office/drawing/2014/main" id="{4DF2DC8B-4D05-0A23-B689-2171F213CDCC}"/>
              </a:ext>
            </a:extLst>
          </p:cNvPr>
          <p:cNvGrpSpPr/>
          <p:nvPr/>
        </p:nvGrpSpPr>
        <p:grpSpPr>
          <a:xfrm>
            <a:off x="10997361" y="200955"/>
            <a:ext cx="410690" cy="410700"/>
            <a:chOff x="5303120" y="3009260"/>
            <a:chExt cx="1591098" cy="1591098"/>
          </a:xfrm>
        </p:grpSpPr>
        <p:grpSp>
          <p:nvGrpSpPr>
            <p:cNvPr id="34" name="Group 33">
              <a:extLst>
                <a:ext uri="{FF2B5EF4-FFF2-40B4-BE49-F238E27FC236}">
                  <a16:creationId xmlns:a16="http://schemas.microsoft.com/office/drawing/2014/main" id="{FFFEEBC5-B7A5-E059-A421-B20C630DD3BB}"/>
                </a:ext>
              </a:extLst>
            </p:cNvPr>
            <p:cNvGrpSpPr/>
            <p:nvPr/>
          </p:nvGrpSpPr>
          <p:grpSpPr>
            <a:xfrm>
              <a:off x="5303120" y="3009260"/>
              <a:ext cx="1591098" cy="1591098"/>
              <a:chOff x="6428492" y="2760976"/>
              <a:chExt cx="1591098" cy="1591098"/>
            </a:xfrm>
          </p:grpSpPr>
          <p:sp>
            <p:nvSpPr>
              <p:cNvPr id="36" name="Rectangle: Rounded Corners 39">
                <a:extLst>
                  <a:ext uri="{FF2B5EF4-FFF2-40B4-BE49-F238E27FC236}">
                    <a16:creationId xmlns:a16="http://schemas.microsoft.com/office/drawing/2014/main" id="{CF8AF9EE-28A1-95D4-92D6-05145E2DA78B}"/>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7" name="Rectangle: Rounded Corners 54">
                <a:extLst>
                  <a:ext uri="{FF2B5EF4-FFF2-40B4-BE49-F238E27FC236}">
                    <a16:creationId xmlns:a16="http://schemas.microsoft.com/office/drawing/2014/main" id="{7CAA33EE-35D5-A484-CF87-429C51B66529}"/>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5" name="Graphic 34" descr="Target Audience with solid fill">
              <a:extLst>
                <a:ext uri="{FF2B5EF4-FFF2-40B4-BE49-F238E27FC236}">
                  <a16:creationId xmlns:a16="http://schemas.microsoft.com/office/drawing/2014/main" id="{FCF23CFD-14E4-6068-5583-50CF492C4ADA}"/>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8" name="TextBox 37">
            <a:extLst>
              <a:ext uri="{FF2B5EF4-FFF2-40B4-BE49-F238E27FC236}">
                <a16:creationId xmlns:a16="http://schemas.microsoft.com/office/drawing/2014/main" id="{5AA1EA99-55D2-062D-E3B5-748664038788}"/>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3" name="TextBox 42">
            <a:extLst>
              <a:ext uri="{FF2B5EF4-FFF2-40B4-BE49-F238E27FC236}">
                <a16:creationId xmlns:a16="http://schemas.microsoft.com/office/drawing/2014/main" id="{345226F4-3291-8929-256B-CF12842526A7}"/>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4" name="TextBox 43">
            <a:extLst>
              <a:ext uri="{FF2B5EF4-FFF2-40B4-BE49-F238E27FC236}">
                <a16:creationId xmlns:a16="http://schemas.microsoft.com/office/drawing/2014/main" id="{69D363B2-69C7-C739-5FB1-79BC9A2C0EE6}"/>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5" name="Rectangle 44">
            <a:extLst>
              <a:ext uri="{FF2B5EF4-FFF2-40B4-BE49-F238E27FC236}">
                <a16:creationId xmlns:a16="http://schemas.microsoft.com/office/drawing/2014/main" id="{D535A789-5991-CA43-3B6D-774FED2A5557}"/>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p>
        </p:txBody>
      </p:sp>
      <p:sp>
        <p:nvSpPr>
          <p:cNvPr id="46" name="Rectangle 45">
            <a:extLst>
              <a:ext uri="{FF2B5EF4-FFF2-40B4-BE49-F238E27FC236}">
                <a16:creationId xmlns:a16="http://schemas.microsoft.com/office/drawing/2014/main" id="{758ABC7C-8DBE-96D5-B940-3EDDEF6F2DE8}"/>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p>
        </p:txBody>
      </p:sp>
      <p:sp>
        <p:nvSpPr>
          <p:cNvPr id="47"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44</a:t>
            </a:fld>
            <a:endParaRPr lang="en-US"/>
          </a:p>
        </p:txBody>
      </p:sp>
    </p:spTree>
    <p:extLst>
      <p:ext uri="{BB962C8B-B14F-4D97-AF65-F5344CB8AC3E}">
        <p14:creationId xmlns:p14="http://schemas.microsoft.com/office/powerpoint/2010/main" val="4049147952"/>
      </p:ext>
    </p:extLst>
  </p:cSld>
  <p:clrMapOvr>
    <a:masterClrMapping/>
  </p:clrMapOvr>
  <p:extLst>
    <p:ext uri="{6950BFC3-D8DA-4A85-94F7-54DA5524770B}">
      <p188:commentRel xmlns:p188="http://schemas.microsoft.com/office/powerpoint/2018/8/main" r:id="rId3"/>
    </p:ext>
  </p:extLs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C7BD854-F085-5D03-2799-E7D9DD75CFE0}"/>
              </a:ext>
            </a:extLst>
          </p:cNvPr>
          <p:cNvSpPr>
            <a:spLocks noGrp="1"/>
          </p:cNvSpPr>
          <p:nvPr>
            <p:ph type="title" sz="quarter"/>
          </p:nvPr>
        </p:nvSpPr>
        <p:spPr/>
        <p:txBody>
          <a:bodyPr/>
          <a:lstStyle/>
          <a:p>
            <a:r>
              <a:rPr lang="en-US" b="1" spc="-25" dirty="0">
                <a:latin typeface="Segoe UI" pitchFamily="34" charset="0"/>
              </a:rPr>
              <a:t>Successor slate</a:t>
            </a:r>
          </a:p>
        </p:txBody>
      </p:sp>
      <p:sp>
        <p:nvSpPr>
          <p:cNvPr id="53" name="TextBox 52">
            <a:extLst>
              <a:ext uri="{FF2B5EF4-FFF2-40B4-BE49-F238E27FC236}">
                <a16:creationId xmlns:a16="http://schemas.microsoft.com/office/drawing/2014/main" id="{E0134FA1-3D3E-09E5-6C27-7CC9D0D644AE}"/>
              </a:ext>
            </a:extLst>
          </p:cNvPr>
          <p:cNvSpPr txBox="1"/>
          <p:nvPr/>
        </p:nvSpPr>
        <p:spPr>
          <a:xfrm>
            <a:off x="1556560" y="1076905"/>
            <a:ext cx="3917599" cy="560924"/>
          </a:xfrm>
          <a:prstGeom prst="rect">
            <a:avLst/>
          </a:prstGeom>
        </p:spPr>
        <p:txBody>
          <a:bodyPr vert="horz" wrap="square" lIns="0" tIns="0" rIns="0" bIns="0" rtlCol="0" anchor="ctr" anchorCtr="0">
            <a:noAutofit/>
          </a:bodyPr>
          <a:lstStyle/>
          <a:p>
            <a:pPr algn="ctr" defTabSz="685800">
              <a:defRPr/>
            </a:pPr>
            <a:r>
              <a:rPr lang="en-US" b="1" spc="-10">
                <a:latin typeface="Segoe UI" pitchFamily="34" charset="0"/>
                <a:ea typeface="Lato" panose="020F0502020204030203" pitchFamily="34" charset="0"/>
                <a:cs typeface="Lato" panose="020F0502020204030203" pitchFamily="34" charset="0"/>
              </a:rPr>
              <a:t>Head of Digital Solutions &amp; Data</a:t>
            </a:r>
            <a:endParaRPr lang="en-US" b="1" spc="-10">
              <a:solidFill>
                <a:srgbClr val="1D1D1D"/>
              </a:solidFill>
              <a:latin typeface="Segoe UI" pitchFamily="34" charset="0"/>
              <a:ea typeface="Lato" panose="020F0502020204030203" pitchFamily="34" charset="0"/>
              <a:cs typeface="Lato" panose="020F0502020204030203" pitchFamily="34" charset="0"/>
            </a:endParaRPr>
          </a:p>
        </p:txBody>
      </p:sp>
      <p:sp>
        <p:nvSpPr>
          <p:cNvPr id="66" name="TextBox 65">
            <a:extLst>
              <a:ext uri="{FF2B5EF4-FFF2-40B4-BE49-F238E27FC236}">
                <a16:creationId xmlns:a16="http://schemas.microsoft.com/office/drawing/2014/main" id="{5E71DAA2-D1D5-44C6-8861-08F989369857}"/>
              </a:ext>
            </a:extLst>
          </p:cNvPr>
          <p:cNvSpPr txBox="1"/>
          <p:nvPr/>
        </p:nvSpPr>
        <p:spPr>
          <a:xfrm>
            <a:off x="978661" y="4736791"/>
            <a:ext cx="615367" cy="261610"/>
          </a:xfrm>
          <a:prstGeom prst="rect">
            <a:avLst/>
          </a:prstGeom>
          <a:noFill/>
          <a:ln w="6350">
            <a:noFill/>
            <a:miter lim="800000"/>
          </a:ln>
        </p:spPr>
        <p:txBody>
          <a:bodyPr wrap="square" lIns="91440" tIns="45720" rIns="91440" bIns="45720" anchor="ctr">
            <a:spAutoFit/>
          </a:bodyPr>
          <a:lstStyle/>
          <a:p>
            <a:pPr defTabSz="2194560">
              <a:defRPr/>
            </a:pPr>
            <a:r>
              <a:rPr lang="en-US" sz="1100" b="1" spc="-10">
                <a:solidFill>
                  <a:srgbClr val="3B3B3B"/>
                </a:solidFill>
                <a:latin typeface="Segoe UI" pitchFamily="34" charset="0"/>
                <a:ea typeface="Lato" panose="020F0502020204030203" pitchFamily="34" charset="0"/>
                <a:cs typeface="Lato" panose="020F0502020204030203" pitchFamily="34" charset="0"/>
              </a:rPr>
              <a:t>SP1</a:t>
            </a:r>
          </a:p>
        </p:txBody>
      </p:sp>
      <p:sp>
        <p:nvSpPr>
          <p:cNvPr id="67" name="TextBox 66">
            <a:extLst>
              <a:ext uri="{FF2B5EF4-FFF2-40B4-BE49-F238E27FC236}">
                <a16:creationId xmlns:a16="http://schemas.microsoft.com/office/drawing/2014/main" id="{21652435-48A7-AB71-3806-0C41748A914F}"/>
              </a:ext>
            </a:extLst>
          </p:cNvPr>
          <p:cNvSpPr txBox="1"/>
          <p:nvPr/>
        </p:nvSpPr>
        <p:spPr>
          <a:xfrm>
            <a:off x="978661" y="5380058"/>
            <a:ext cx="615367" cy="261610"/>
          </a:xfrm>
          <a:prstGeom prst="rect">
            <a:avLst/>
          </a:prstGeom>
          <a:noFill/>
          <a:ln w="6350">
            <a:noFill/>
            <a:miter lim="800000"/>
          </a:ln>
        </p:spPr>
        <p:txBody>
          <a:bodyPr wrap="square" lIns="91440" tIns="45720" rIns="91440" bIns="45720" anchor="ctr">
            <a:spAutoFit/>
          </a:bodyPr>
          <a:lstStyle/>
          <a:p>
            <a:pPr defTabSz="2194560">
              <a:defRPr/>
            </a:pPr>
            <a:r>
              <a:rPr lang="en-US" sz="1100" b="1" spc="-10">
                <a:solidFill>
                  <a:srgbClr val="3B3B3B"/>
                </a:solidFill>
                <a:latin typeface="Segoe UI" pitchFamily="34" charset="0"/>
                <a:ea typeface="Lato" panose="020F0502020204030203" pitchFamily="34" charset="0"/>
                <a:cs typeface="Lato" panose="020F0502020204030203" pitchFamily="34" charset="0"/>
              </a:rPr>
              <a:t>SP2</a:t>
            </a:r>
          </a:p>
        </p:txBody>
      </p:sp>
      <p:sp>
        <p:nvSpPr>
          <p:cNvPr id="68" name="TextBox 67">
            <a:extLst>
              <a:ext uri="{FF2B5EF4-FFF2-40B4-BE49-F238E27FC236}">
                <a16:creationId xmlns:a16="http://schemas.microsoft.com/office/drawing/2014/main" id="{D425DA41-6FA3-E514-279D-AB91DC5CBC68}"/>
              </a:ext>
            </a:extLst>
          </p:cNvPr>
          <p:cNvSpPr txBox="1"/>
          <p:nvPr/>
        </p:nvSpPr>
        <p:spPr>
          <a:xfrm>
            <a:off x="1521771" y="4696516"/>
            <a:ext cx="5013208" cy="600164"/>
          </a:xfrm>
          <a:prstGeom prst="rect">
            <a:avLst/>
          </a:prstGeom>
          <a:noFill/>
          <a:ln w="6350">
            <a:noFill/>
            <a:miter lim="800000"/>
          </a:ln>
        </p:spPr>
        <p:txBody>
          <a:bodyPr wrap="square" lIns="91440" tIns="45720" rIns="91440" bIns="45720" anchor="t">
            <a:spAutoFit/>
          </a:bodyPr>
          <a:lstStyle/>
          <a:p>
            <a:pPr defTabSz="2926080">
              <a:defRPr/>
            </a:pPr>
            <a:r>
              <a:rPr lang="en-US" sz="1100" b="1" spc="-10">
                <a:latin typeface="Segoe UI" pitchFamily="34" charset="0"/>
                <a:ea typeface="Lato"/>
                <a:cs typeface="Lato"/>
              </a:rPr>
              <a:t>Outstanding collaborator with business leaders, providing expert advice to impact commercial and operational goals.</a:t>
            </a:r>
            <a:endParaRPr lang="en-US" sz="1100" spc="-10">
              <a:latin typeface="Arial" pitchFamily="34" charset="0"/>
              <a:ea typeface="Lato"/>
              <a:cs typeface="Lato"/>
            </a:endParaRPr>
          </a:p>
          <a:p>
            <a:pPr lvl="0" defTabSz="2926080">
              <a:defRPr/>
            </a:pPr>
            <a:endParaRPr lang="en-US" sz="1100" spc="-10">
              <a:latin typeface="Arial" pitchFamily="34" charset="0"/>
              <a:ea typeface="Lato" panose="020F0502020204030203" pitchFamily="34" charset="0"/>
              <a:cs typeface="Lato" panose="020F0502020204030203" pitchFamily="34" charset="0"/>
            </a:endParaRPr>
          </a:p>
        </p:txBody>
      </p:sp>
      <p:sp>
        <p:nvSpPr>
          <p:cNvPr id="69" name="TextBox 68">
            <a:extLst>
              <a:ext uri="{FF2B5EF4-FFF2-40B4-BE49-F238E27FC236}">
                <a16:creationId xmlns:a16="http://schemas.microsoft.com/office/drawing/2014/main" id="{51DB702E-302E-7078-CEEF-9F37F7C83497}"/>
              </a:ext>
            </a:extLst>
          </p:cNvPr>
          <p:cNvSpPr txBox="1"/>
          <p:nvPr/>
        </p:nvSpPr>
        <p:spPr>
          <a:xfrm>
            <a:off x="1521771" y="5365271"/>
            <a:ext cx="4888201" cy="769441"/>
          </a:xfrm>
          <a:prstGeom prst="rect">
            <a:avLst/>
          </a:prstGeom>
          <a:noFill/>
          <a:ln w="6350">
            <a:noFill/>
            <a:miter lim="800000"/>
          </a:ln>
        </p:spPr>
        <p:txBody>
          <a:bodyPr wrap="square" lIns="91440" tIns="45720" rIns="91440" bIns="45720" anchor="t">
            <a:spAutoFit/>
          </a:bodyPr>
          <a:lstStyle/>
          <a:p>
            <a:pPr defTabSz="2926080">
              <a:defRPr/>
            </a:pPr>
            <a:r>
              <a:rPr lang="en-US" sz="1100" b="1" spc="-10">
                <a:latin typeface="Segoe UI" pitchFamily="34" charset="0"/>
                <a:ea typeface="Lato"/>
                <a:cs typeface="Lato"/>
              </a:rPr>
              <a:t>Continuously improving digital infrastructure and data quality, while driving future-focused digital products, services, and innovation leading to business growth</a:t>
            </a:r>
            <a:br>
              <a:rPr lang="en-US" sz="1100" b="1" spc="-10">
                <a:latin typeface="Segoe UI" pitchFamily="34" charset="0"/>
                <a:ea typeface="Lato"/>
                <a:cs typeface="Lato"/>
              </a:rPr>
            </a:br>
            <a:endParaRPr lang="en-US" sz="1100" spc="-10">
              <a:latin typeface="Arial" pitchFamily="34" charset="0"/>
              <a:ea typeface="Lato" panose="020F0502020204030203" pitchFamily="34" charset="0"/>
              <a:cs typeface="Lato" panose="020F0502020204030203" pitchFamily="34" charset="0"/>
            </a:endParaRPr>
          </a:p>
        </p:txBody>
      </p:sp>
      <p:sp>
        <p:nvSpPr>
          <p:cNvPr id="6" name="Rectangle: Rounded Corners 28">
            <a:extLst>
              <a:ext uri="{FF2B5EF4-FFF2-40B4-BE49-F238E27FC236}">
                <a16:creationId xmlns:a16="http://schemas.microsoft.com/office/drawing/2014/main" id="{4575678A-C6DC-A215-D3FB-E4FECCF7543B}"/>
              </a:ext>
            </a:extLst>
          </p:cNvPr>
          <p:cNvSpPr/>
          <p:nvPr/>
        </p:nvSpPr>
        <p:spPr>
          <a:xfrm>
            <a:off x="6634771" y="932725"/>
            <a:ext cx="1504390" cy="5184542"/>
          </a:xfrm>
          <a:prstGeom prst="roundRect">
            <a:avLst/>
          </a:prstGeom>
          <a:solidFill>
            <a:schemeClr val="bg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spc="-10" err="1">
              <a:solidFill>
                <a:srgbClr val="FFFFFF"/>
              </a:solidFill>
              <a:latin typeface="Arial" pitchFamily="34" charset="0"/>
              <a:ea typeface="Lato" panose="020F0502020204030203" pitchFamily="34" charset="0"/>
              <a:cs typeface="Lato" panose="020F0502020204030203" pitchFamily="34" charset="0"/>
            </a:endParaRPr>
          </a:p>
        </p:txBody>
      </p:sp>
      <p:sp>
        <p:nvSpPr>
          <p:cNvPr id="12" name="Rectangle 11">
            <a:extLst>
              <a:ext uri="{FF2B5EF4-FFF2-40B4-BE49-F238E27FC236}">
                <a16:creationId xmlns:a16="http://schemas.microsoft.com/office/drawing/2014/main" id="{1E4234FC-7C8A-B099-A108-87B3BDBCA726}"/>
              </a:ext>
            </a:extLst>
          </p:cNvPr>
          <p:cNvSpPr/>
          <p:nvPr/>
        </p:nvSpPr>
        <p:spPr>
          <a:xfrm>
            <a:off x="6802506" y="2558737"/>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15" name="Rectangle 14">
            <a:extLst>
              <a:ext uri="{FF2B5EF4-FFF2-40B4-BE49-F238E27FC236}">
                <a16:creationId xmlns:a16="http://schemas.microsoft.com/office/drawing/2014/main" id="{3B8E194F-7B99-2A18-AF5F-7F0A35708822}"/>
              </a:ext>
            </a:extLst>
          </p:cNvPr>
          <p:cNvSpPr/>
          <p:nvPr/>
        </p:nvSpPr>
        <p:spPr>
          <a:xfrm>
            <a:off x="6802506" y="3076604"/>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18" name="Rectangle 17">
            <a:extLst>
              <a:ext uri="{FF2B5EF4-FFF2-40B4-BE49-F238E27FC236}">
                <a16:creationId xmlns:a16="http://schemas.microsoft.com/office/drawing/2014/main" id="{2D972291-7F0B-D868-074F-C06BECC9A6D7}"/>
              </a:ext>
            </a:extLst>
          </p:cNvPr>
          <p:cNvSpPr/>
          <p:nvPr/>
        </p:nvSpPr>
        <p:spPr>
          <a:xfrm>
            <a:off x="6802506" y="3596065"/>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21" name="Rectangle 20">
            <a:extLst>
              <a:ext uri="{FF2B5EF4-FFF2-40B4-BE49-F238E27FC236}">
                <a16:creationId xmlns:a16="http://schemas.microsoft.com/office/drawing/2014/main" id="{6871F854-B467-FEDB-B246-278C5F08A4AB}"/>
              </a:ext>
            </a:extLst>
          </p:cNvPr>
          <p:cNvSpPr/>
          <p:nvPr/>
        </p:nvSpPr>
        <p:spPr>
          <a:xfrm>
            <a:off x="6802506" y="4115406"/>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24" name="Rectangle 23">
            <a:extLst>
              <a:ext uri="{FF2B5EF4-FFF2-40B4-BE49-F238E27FC236}">
                <a16:creationId xmlns:a16="http://schemas.microsoft.com/office/drawing/2014/main" id="{A011EB92-7760-46DC-0F7D-F83190C093FF}"/>
              </a:ext>
            </a:extLst>
          </p:cNvPr>
          <p:cNvSpPr/>
          <p:nvPr/>
        </p:nvSpPr>
        <p:spPr>
          <a:xfrm>
            <a:off x="6834515" y="4817591"/>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27" name="Rectangle 26">
            <a:extLst>
              <a:ext uri="{FF2B5EF4-FFF2-40B4-BE49-F238E27FC236}">
                <a16:creationId xmlns:a16="http://schemas.microsoft.com/office/drawing/2014/main" id="{966B7FEC-F540-8B18-138A-F4E86E4CA6B5}"/>
              </a:ext>
            </a:extLst>
          </p:cNvPr>
          <p:cNvSpPr/>
          <p:nvPr/>
        </p:nvSpPr>
        <p:spPr>
          <a:xfrm>
            <a:off x="6834515" y="5460855"/>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73" name="Rectangle: Rounded Corners 2">
            <a:extLst>
              <a:ext uri="{FF2B5EF4-FFF2-40B4-BE49-F238E27FC236}">
                <a16:creationId xmlns:a16="http://schemas.microsoft.com/office/drawing/2014/main" id="{7889C591-8006-11D4-9FCA-843C2CB70710}"/>
              </a:ext>
            </a:extLst>
          </p:cNvPr>
          <p:cNvSpPr/>
          <p:nvPr/>
        </p:nvSpPr>
        <p:spPr>
          <a:xfrm>
            <a:off x="7127369" y="1793601"/>
            <a:ext cx="488160" cy="283387"/>
          </a:xfrm>
          <a:prstGeom prst="round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spc="-10" err="1">
              <a:solidFill>
                <a:schemeClr val="tx1"/>
              </a:solidFill>
              <a:latin typeface="Arial" pitchFamily="34" charset="0"/>
              <a:ea typeface="Lato" panose="020F0502020204030203" pitchFamily="34" charset="0"/>
              <a:cs typeface="Lato" panose="020F0502020204030203" pitchFamily="34" charset="0"/>
            </a:endParaRPr>
          </a:p>
        </p:txBody>
      </p:sp>
      <p:sp>
        <p:nvSpPr>
          <p:cNvPr id="75" name="TextBox 74">
            <a:extLst>
              <a:ext uri="{FF2B5EF4-FFF2-40B4-BE49-F238E27FC236}">
                <a16:creationId xmlns:a16="http://schemas.microsoft.com/office/drawing/2014/main" id="{E8508DBC-A20C-B734-5454-2AA66E8E8856}"/>
              </a:ext>
            </a:extLst>
          </p:cNvPr>
          <p:cNvSpPr txBox="1"/>
          <p:nvPr/>
        </p:nvSpPr>
        <p:spPr>
          <a:xfrm>
            <a:off x="6827923" y="2121161"/>
            <a:ext cx="1041125" cy="190712"/>
          </a:xfrm>
          <a:prstGeom prst="rect">
            <a:avLst/>
          </a:prstGeom>
          <a:ln w="6350">
            <a:noFill/>
            <a:miter lim="800000"/>
          </a:ln>
        </p:spPr>
        <p:txBody>
          <a:bodyPr vert="horz" wrap="none" lIns="0" tIns="0" rIns="0" bIns="0" rtlCol="0">
            <a:noAutofit/>
          </a:bodyPr>
          <a:lstStyle/>
          <a:p>
            <a:pPr algn="ctr" defTabSz="685800">
              <a:spcBef>
                <a:spcPts val="225"/>
              </a:spcBef>
              <a:spcAft>
                <a:spcPts val="225"/>
              </a:spcAft>
              <a:defRPr/>
            </a:pPr>
            <a:r>
              <a:rPr lang="en-US" sz="900" i="1" spc="-10">
                <a:latin typeface="Arial" pitchFamily="34" charset="0"/>
                <a:ea typeface="Lato" panose="020F0502020204030203" pitchFamily="34" charset="0"/>
                <a:cs typeface="Lato" panose="020F0502020204030203" pitchFamily="34" charset="0"/>
              </a:rPr>
              <a:t>Readiness</a:t>
            </a:r>
          </a:p>
        </p:txBody>
      </p:sp>
      <p:sp>
        <p:nvSpPr>
          <p:cNvPr id="7" name="Rectangle: Rounded Corners 29">
            <a:extLst>
              <a:ext uri="{FF2B5EF4-FFF2-40B4-BE49-F238E27FC236}">
                <a16:creationId xmlns:a16="http://schemas.microsoft.com/office/drawing/2014/main" id="{762FD00E-52CA-833C-8C0A-BEC58644057F}"/>
              </a:ext>
            </a:extLst>
          </p:cNvPr>
          <p:cNvSpPr/>
          <p:nvPr/>
        </p:nvSpPr>
        <p:spPr>
          <a:xfrm>
            <a:off x="10107154" y="931333"/>
            <a:ext cx="1504390" cy="5184542"/>
          </a:xfrm>
          <a:prstGeom prst="roundRect">
            <a:avLst/>
          </a:prstGeom>
          <a:solidFill>
            <a:schemeClr val="bg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spc="-10" err="1">
              <a:solidFill>
                <a:srgbClr val="FFFFFF"/>
              </a:solidFill>
              <a:latin typeface="Arial" pitchFamily="34" charset="0"/>
              <a:ea typeface="Lato" panose="020F0502020204030203" pitchFamily="34" charset="0"/>
              <a:cs typeface="Lato" panose="020F0502020204030203" pitchFamily="34" charset="0"/>
            </a:endParaRPr>
          </a:p>
        </p:txBody>
      </p:sp>
      <p:sp>
        <p:nvSpPr>
          <p:cNvPr id="10" name="TextBox 9">
            <a:extLst>
              <a:ext uri="{FF2B5EF4-FFF2-40B4-BE49-F238E27FC236}">
                <a16:creationId xmlns:a16="http://schemas.microsoft.com/office/drawing/2014/main" id="{ED3602AC-D0E3-9737-74EF-FF85D8FBDCD3}"/>
              </a:ext>
            </a:extLst>
          </p:cNvPr>
          <p:cNvSpPr txBox="1"/>
          <p:nvPr/>
        </p:nvSpPr>
        <p:spPr>
          <a:xfrm>
            <a:off x="10475248" y="1066482"/>
            <a:ext cx="768199" cy="279222"/>
          </a:xfrm>
          <a:prstGeom prst="rect">
            <a:avLst/>
          </a:prstGeom>
          <a:ln w="6350">
            <a:noFill/>
            <a:miter lim="800000"/>
          </a:ln>
        </p:spPr>
        <p:txBody>
          <a:bodyPr vert="horz" wrap="none" lIns="0" tIns="0" rIns="0" bIns="0" rtlCol="0" anchor="ctr">
            <a:noAutofit/>
          </a:bodyPr>
          <a:lstStyle/>
          <a:p>
            <a:pPr algn="ctr"/>
            <a:r>
              <a:rPr lang="en-US" sz="1100" b="1" spc="-10">
                <a:latin typeface="Segoe UI" pitchFamily="34" charset="0"/>
                <a:ea typeface="Lato" panose="020F0502020204030203" pitchFamily="34" charset="0"/>
                <a:cs typeface="Lato" panose="020F0502020204030203" pitchFamily="34" charset="0"/>
              </a:rPr>
              <a:t>Priya Nair</a:t>
            </a:r>
          </a:p>
        </p:txBody>
      </p:sp>
      <p:sp>
        <p:nvSpPr>
          <p:cNvPr id="13" name="Rectangle 12">
            <a:extLst>
              <a:ext uri="{FF2B5EF4-FFF2-40B4-BE49-F238E27FC236}">
                <a16:creationId xmlns:a16="http://schemas.microsoft.com/office/drawing/2014/main" id="{D12970A5-70F6-31AF-269B-95F40DA9C8D6}"/>
              </a:ext>
            </a:extLst>
          </p:cNvPr>
          <p:cNvSpPr/>
          <p:nvPr/>
        </p:nvSpPr>
        <p:spPr>
          <a:xfrm>
            <a:off x="10263172" y="2566466"/>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16" name="Rectangle 15">
            <a:extLst>
              <a:ext uri="{FF2B5EF4-FFF2-40B4-BE49-F238E27FC236}">
                <a16:creationId xmlns:a16="http://schemas.microsoft.com/office/drawing/2014/main" id="{53A996C9-9CEF-8504-6FE1-19EB711B7E93}"/>
              </a:ext>
            </a:extLst>
          </p:cNvPr>
          <p:cNvSpPr/>
          <p:nvPr/>
        </p:nvSpPr>
        <p:spPr>
          <a:xfrm>
            <a:off x="10263172" y="3084333"/>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19" name="Rectangle 18">
            <a:extLst>
              <a:ext uri="{FF2B5EF4-FFF2-40B4-BE49-F238E27FC236}">
                <a16:creationId xmlns:a16="http://schemas.microsoft.com/office/drawing/2014/main" id="{5C10FCAD-34EE-3B7A-51E4-63C8AE378AB6}"/>
              </a:ext>
            </a:extLst>
          </p:cNvPr>
          <p:cNvSpPr/>
          <p:nvPr/>
        </p:nvSpPr>
        <p:spPr>
          <a:xfrm>
            <a:off x="10263172" y="3603794"/>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22" name="Rectangle 21">
            <a:extLst>
              <a:ext uri="{FF2B5EF4-FFF2-40B4-BE49-F238E27FC236}">
                <a16:creationId xmlns:a16="http://schemas.microsoft.com/office/drawing/2014/main" id="{AEB361A1-BA74-FD16-BD5F-75148479F867}"/>
              </a:ext>
            </a:extLst>
          </p:cNvPr>
          <p:cNvSpPr/>
          <p:nvPr/>
        </p:nvSpPr>
        <p:spPr>
          <a:xfrm>
            <a:off x="10263172" y="4123135"/>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25" name="Rectangle 24">
            <a:extLst>
              <a:ext uri="{FF2B5EF4-FFF2-40B4-BE49-F238E27FC236}">
                <a16:creationId xmlns:a16="http://schemas.microsoft.com/office/drawing/2014/main" id="{39876DDC-504E-5586-2CE5-B42DE0786099}"/>
              </a:ext>
            </a:extLst>
          </p:cNvPr>
          <p:cNvSpPr/>
          <p:nvPr/>
        </p:nvSpPr>
        <p:spPr>
          <a:xfrm>
            <a:off x="10295179" y="4825320"/>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28" name="Rectangle 27">
            <a:extLst>
              <a:ext uri="{FF2B5EF4-FFF2-40B4-BE49-F238E27FC236}">
                <a16:creationId xmlns:a16="http://schemas.microsoft.com/office/drawing/2014/main" id="{960B356C-53B5-9B1B-F5A7-3B9528494249}"/>
              </a:ext>
            </a:extLst>
          </p:cNvPr>
          <p:cNvSpPr/>
          <p:nvPr/>
        </p:nvSpPr>
        <p:spPr>
          <a:xfrm>
            <a:off x="10295179" y="5468584"/>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74" name="Rectangle: Rounded Corners 6">
            <a:extLst>
              <a:ext uri="{FF2B5EF4-FFF2-40B4-BE49-F238E27FC236}">
                <a16:creationId xmlns:a16="http://schemas.microsoft.com/office/drawing/2014/main" id="{C26D2E80-1156-C563-7D6B-E05890971CE7}"/>
              </a:ext>
            </a:extLst>
          </p:cNvPr>
          <p:cNvSpPr/>
          <p:nvPr/>
        </p:nvSpPr>
        <p:spPr>
          <a:xfrm>
            <a:off x="10604808" y="1801330"/>
            <a:ext cx="488160" cy="283387"/>
          </a:xfrm>
          <a:prstGeom prst="roundRect">
            <a:avLst/>
          </a:prstGeom>
          <a:solidFill>
            <a:srgbClr val="281A4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spc="-10" err="1">
              <a:solidFill>
                <a:schemeClr val="tx1"/>
              </a:solidFill>
              <a:latin typeface="Arial" pitchFamily="34" charset="0"/>
              <a:ea typeface="Lato" panose="020F0502020204030203" pitchFamily="34" charset="0"/>
              <a:cs typeface="Lato" panose="020F0502020204030203" pitchFamily="34" charset="0"/>
            </a:endParaRPr>
          </a:p>
        </p:txBody>
      </p:sp>
      <p:sp>
        <p:nvSpPr>
          <p:cNvPr id="76" name="TextBox 75">
            <a:extLst>
              <a:ext uri="{FF2B5EF4-FFF2-40B4-BE49-F238E27FC236}">
                <a16:creationId xmlns:a16="http://schemas.microsoft.com/office/drawing/2014/main" id="{97F41A49-B96C-29B6-3709-4325E1E0C2F9}"/>
              </a:ext>
            </a:extLst>
          </p:cNvPr>
          <p:cNvSpPr txBox="1"/>
          <p:nvPr/>
        </p:nvSpPr>
        <p:spPr>
          <a:xfrm>
            <a:off x="10308130" y="2128890"/>
            <a:ext cx="1041125" cy="190712"/>
          </a:xfrm>
          <a:prstGeom prst="rect">
            <a:avLst/>
          </a:prstGeom>
          <a:ln w="6350">
            <a:noFill/>
            <a:miter lim="800000"/>
          </a:ln>
        </p:spPr>
        <p:txBody>
          <a:bodyPr vert="horz" wrap="none" lIns="0" tIns="0" rIns="0" bIns="0" rtlCol="0">
            <a:noAutofit/>
          </a:bodyPr>
          <a:lstStyle/>
          <a:p>
            <a:pPr algn="ctr" defTabSz="685800">
              <a:spcBef>
                <a:spcPts val="225"/>
              </a:spcBef>
              <a:spcAft>
                <a:spcPts val="225"/>
              </a:spcAft>
              <a:defRPr/>
            </a:pPr>
            <a:r>
              <a:rPr lang="en-US" sz="900" i="1" spc="-10">
                <a:latin typeface="Arial" pitchFamily="34" charset="0"/>
                <a:ea typeface="Lato" panose="020F0502020204030203" pitchFamily="34" charset="0"/>
                <a:cs typeface="Lato" panose="020F0502020204030203" pitchFamily="34" charset="0"/>
              </a:rPr>
              <a:t>Readiness</a:t>
            </a:r>
          </a:p>
        </p:txBody>
      </p:sp>
      <p:sp>
        <p:nvSpPr>
          <p:cNvPr id="80" name="TextBox 79">
            <a:extLst>
              <a:ext uri="{FF2B5EF4-FFF2-40B4-BE49-F238E27FC236}">
                <a16:creationId xmlns:a16="http://schemas.microsoft.com/office/drawing/2014/main" id="{E0615BF0-C39C-20BD-5446-9C65317D1D68}"/>
              </a:ext>
            </a:extLst>
          </p:cNvPr>
          <p:cNvSpPr txBox="1"/>
          <p:nvPr/>
        </p:nvSpPr>
        <p:spPr>
          <a:xfrm>
            <a:off x="10185345" y="1404044"/>
            <a:ext cx="1360911" cy="279222"/>
          </a:xfrm>
          <a:prstGeom prst="rect">
            <a:avLst/>
          </a:prstGeom>
          <a:ln w="6350">
            <a:noFill/>
            <a:miter lim="800000"/>
          </a:ln>
        </p:spPr>
        <p:txBody>
          <a:bodyPr vert="horz" wrap="square" lIns="0" tIns="0" rIns="0" bIns="0" rtlCol="0" anchor="ctr">
            <a:noAutofit/>
          </a:bodyPr>
          <a:lstStyle/>
          <a:p>
            <a:pPr algn="ctr" defTabSz="685800">
              <a:spcBef>
                <a:spcPts val="225"/>
              </a:spcBef>
              <a:spcAft>
                <a:spcPts val="225"/>
              </a:spcAft>
              <a:defRPr/>
            </a:pPr>
            <a:r>
              <a:rPr lang="en-US" sz="1000" i="1" spc="-10">
                <a:latin typeface="Arial" pitchFamily="34" charset="0"/>
                <a:ea typeface="Lato" panose="020F0502020204030203" pitchFamily="34" charset="0"/>
                <a:cs typeface="Lato" panose="020F0502020204030203" pitchFamily="34" charset="0"/>
              </a:rPr>
              <a:t>Director, Digital Transformation and Launches</a:t>
            </a:r>
          </a:p>
        </p:txBody>
      </p:sp>
      <p:sp>
        <p:nvSpPr>
          <p:cNvPr id="85" name="Rectangle: Rounded Corners 76">
            <a:extLst>
              <a:ext uri="{FF2B5EF4-FFF2-40B4-BE49-F238E27FC236}">
                <a16:creationId xmlns:a16="http://schemas.microsoft.com/office/drawing/2014/main" id="{1BB5906C-A980-5E62-1914-6A9E42946519}"/>
              </a:ext>
            </a:extLst>
          </p:cNvPr>
          <p:cNvSpPr/>
          <p:nvPr/>
        </p:nvSpPr>
        <p:spPr>
          <a:xfrm>
            <a:off x="8437743" y="6186911"/>
            <a:ext cx="144923" cy="121215"/>
          </a:xfrm>
          <a:prstGeom prst="roundRect">
            <a:avLst/>
          </a:prstGeom>
          <a:solidFill>
            <a:srgbClr val="281A4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spc="-10" err="1">
              <a:solidFill>
                <a:srgbClr val="FFFFFF"/>
              </a:solidFill>
              <a:latin typeface="Arial" pitchFamily="34" charset="0"/>
              <a:ea typeface="Lato" panose="020F0502020204030203" pitchFamily="34" charset="0"/>
              <a:cs typeface="Lato" panose="020F0502020204030203" pitchFamily="34" charset="0"/>
            </a:endParaRPr>
          </a:p>
        </p:txBody>
      </p:sp>
      <p:sp>
        <p:nvSpPr>
          <p:cNvPr id="86" name="TextBox 85">
            <a:extLst>
              <a:ext uri="{FF2B5EF4-FFF2-40B4-BE49-F238E27FC236}">
                <a16:creationId xmlns:a16="http://schemas.microsoft.com/office/drawing/2014/main" id="{B483AFC1-1DE5-2283-37F7-C1511236FDAE}"/>
              </a:ext>
            </a:extLst>
          </p:cNvPr>
          <p:cNvSpPr txBox="1"/>
          <p:nvPr/>
        </p:nvSpPr>
        <p:spPr>
          <a:xfrm>
            <a:off x="8630326" y="6188160"/>
            <a:ext cx="478864" cy="119433"/>
          </a:xfrm>
          <a:prstGeom prst="rect">
            <a:avLst/>
          </a:prstGeom>
          <a:ln w="6350">
            <a:noFill/>
            <a:miter lim="800000"/>
          </a:ln>
        </p:spPr>
        <p:txBody>
          <a:bodyPr vert="horz" wrap="none" lIns="0" tIns="0" rIns="0" bIns="0" rtlCol="0" anchor="ctr">
            <a:noAutofit/>
          </a:bodyPr>
          <a:lstStyle/>
          <a:p>
            <a:pPr defTabSz="685800">
              <a:spcBef>
                <a:spcPts val="225"/>
              </a:spcBef>
              <a:spcAft>
                <a:spcPts val="225"/>
              </a:spcAft>
              <a:defRPr/>
            </a:pPr>
            <a:r>
              <a:rPr lang="en-US" sz="1000" spc="-10">
                <a:solidFill>
                  <a:srgbClr val="3B3B3B"/>
                </a:solidFill>
                <a:latin typeface="Arial" pitchFamily="34" charset="0"/>
                <a:ea typeface="Lato" panose="020F0502020204030203" pitchFamily="34" charset="0"/>
                <a:cs typeface="Lato" panose="020F0502020204030203" pitchFamily="34" charset="0"/>
              </a:rPr>
              <a:t>Ready with development</a:t>
            </a:r>
          </a:p>
        </p:txBody>
      </p:sp>
      <p:sp>
        <p:nvSpPr>
          <p:cNvPr id="88" name="Rectangle: Rounded Corners 79">
            <a:extLst>
              <a:ext uri="{FF2B5EF4-FFF2-40B4-BE49-F238E27FC236}">
                <a16:creationId xmlns:a16="http://schemas.microsoft.com/office/drawing/2014/main" id="{2AB7F2E3-6970-0F5B-B95E-A8D7936472BC}"/>
              </a:ext>
            </a:extLst>
          </p:cNvPr>
          <p:cNvSpPr/>
          <p:nvPr/>
        </p:nvSpPr>
        <p:spPr>
          <a:xfrm>
            <a:off x="10430640" y="6186911"/>
            <a:ext cx="144923" cy="121215"/>
          </a:xfrm>
          <a:prstGeom prst="roundRect">
            <a:avLst/>
          </a:prstGeom>
          <a:solidFill>
            <a:srgbClr val="281A4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spc="-10" err="1">
              <a:solidFill>
                <a:srgbClr val="FFFFFF"/>
              </a:solidFill>
              <a:latin typeface="Arial" pitchFamily="34" charset="0"/>
              <a:ea typeface="Lato" panose="020F0502020204030203" pitchFamily="34" charset="0"/>
              <a:cs typeface="Lato" panose="020F0502020204030203" pitchFamily="34" charset="0"/>
            </a:endParaRPr>
          </a:p>
        </p:txBody>
      </p:sp>
      <p:sp>
        <p:nvSpPr>
          <p:cNvPr id="89" name="TextBox 88">
            <a:extLst>
              <a:ext uri="{FF2B5EF4-FFF2-40B4-BE49-F238E27FC236}">
                <a16:creationId xmlns:a16="http://schemas.microsoft.com/office/drawing/2014/main" id="{6C8F05FB-B6D7-CE04-9899-D67BAF5C4F33}"/>
              </a:ext>
            </a:extLst>
          </p:cNvPr>
          <p:cNvSpPr txBox="1"/>
          <p:nvPr/>
        </p:nvSpPr>
        <p:spPr>
          <a:xfrm>
            <a:off x="10623223" y="6188160"/>
            <a:ext cx="478864" cy="119433"/>
          </a:xfrm>
          <a:prstGeom prst="rect">
            <a:avLst/>
          </a:prstGeom>
          <a:ln w="6350">
            <a:noFill/>
            <a:miter lim="800000"/>
          </a:ln>
        </p:spPr>
        <p:txBody>
          <a:bodyPr vert="horz" wrap="none" lIns="0" tIns="0" rIns="0" bIns="0" rtlCol="0" anchor="ctr">
            <a:noAutofit/>
          </a:bodyPr>
          <a:lstStyle/>
          <a:p>
            <a:pPr defTabSz="685800">
              <a:spcBef>
                <a:spcPts val="225"/>
              </a:spcBef>
              <a:spcAft>
                <a:spcPts val="225"/>
              </a:spcAft>
              <a:defRPr/>
            </a:pPr>
            <a:r>
              <a:rPr lang="en-US" sz="1000" spc="-10">
                <a:solidFill>
                  <a:srgbClr val="3B3B3B"/>
                </a:solidFill>
                <a:latin typeface="Arial" pitchFamily="34" charset="0"/>
                <a:ea typeface="Lato" panose="020F0502020204030203" pitchFamily="34" charset="0"/>
                <a:cs typeface="Lato" panose="020F0502020204030203" pitchFamily="34" charset="0"/>
              </a:rPr>
              <a:t>Not ready</a:t>
            </a:r>
          </a:p>
        </p:txBody>
      </p:sp>
      <p:sp>
        <p:nvSpPr>
          <p:cNvPr id="99" name="Rectangle: Rounded Corners 72">
            <a:extLst>
              <a:ext uri="{FF2B5EF4-FFF2-40B4-BE49-F238E27FC236}">
                <a16:creationId xmlns:a16="http://schemas.microsoft.com/office/drawing/2014/main" id="{16DB64C6-7827-D4B6-50B3-C49109D19159}"/>
              </a:ext>
            </a:extLst>
          </p:cNvPr>
          <p:cNvSpPr/>
          <p:nvPr/>
        </p:nvSpPr>
        <p:spPr>
          <a:xfrm>
            <a:off x="6959205" y="6186911"/>
            <a:ext cx="144923" cy="121215"/>
          </a:xfrm>
          <a:prstGeom prst="roundRect">
            <a:avLst/>
          </a:prstGeom>
          <a:solidFill>
            <a:srgbClr val="281A4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spc="-10" err="1">
              <a:solidFill>
                <a:srgbClr val="FFFFFF"/>
              </a:solidFill>
              <a:latin typeface="Arial" pitchFamily="34" charset="0"/>
              <a:ea typeface="Lato" panose="020F0502020204030203" pitchFamily="34" charset="0"/>
              <a:cs typeface="Lato" panose="020F0502020204030203" pitchFamily="34" charset="0"/>
            </a:endParaRPr>
          </a:p>
        </p:txBody>
      </p:sp>
      <p:sp>
        <p:nvSpPr>
          <p:cNvPr id="100" name="TextBox 99">
            <a:extLst>
              <a:ext uri="{FF2B5EF4-FFF2-40B4-BE49-F238E27FC236}">
                <a16:creationId xmlns:a16="http://schemas.microsoft.com/office/drawing/2014/main" id="{C55A7FBB-A7FC-2958-F860-45C6BD3DFD86}"/>
              </a:ext>
            </a:extLst>
          </p:cNvPr>
          <p:cNvSpPr txBox="1"/>
          <p:nvPr/>
        </p:nvSpPr>
        <p:spPr>
          <a:xfrm>
            <a:off x="7151788" y="6188161"/>
            <a:ext cx="692050" cy="112628"/>
          </a:xfrm>
          <a:prstGeom prst="rect">
            <a:avLst/>
          </a:prstGeom>
          <a:ln w="6350">
            <a:noFill/>
            <a:miter lim="800000"/>
          </a:ln>
        </p:spPr>
        <p:txBody>
          <a:bodyPr vert="horz" wrap="none" lIns="0" tIns="0" rIns="0" bIns="0" rtlCol="0" anchor="ctr">
            <a:noAutofit/>
          </a:bodyPr>
          <a:lstStyle/>
          <a:p>
            <a:pPr defTabSz="685800">
              <a:spcBef>
                <a:spcPts val="225"/>
              </a:spcBef>
              <a:spcAft>
                <a:spcPts val="225"/>
              </a:spcAft>
              <a:defRPr/>
            </a:pPr>
            <a:r>
              <a:rPr lang="en-US" sz="1000" spc="-10">
                <a:solidFill>
                  <a:srgbClr val="3B3B3B"/>
                </a:solidFill>
                <a:latin typeface="Arial" pitchFamily="34" charset="0"/>
                <a:ea typeface="Lato" panose="020F0502020204030203" pitchFamily="34" charset="0"/>
                <a:cs typeface="Lato" panose="020F0502020204030203" pitchFamily="34" charset="0"/>
              </a:rPr>
              <a:t>Ready Now</a:t>
            </a:r>
          </a:p>
        </p:txBody>
      </p:sp>
      <p:sp>
        <p:nvSpPr>
          <p:cNvPr id="5" name="Rectangle: Rounded Corners 27">
            <a:extLst>
              <a:ext uri="{FF2B5EF4-FFF2-40B4-BE49-F238E27FC236}">
                <a16:creationId xmlns:a16="http://schemas.microsoft.com/office/drawing/2014/main" id="{B434693F-9376-1F16-C965-CA5444140E12}"/>
              </a:ext>
            </a:extLst>
          </p:cNvPr>
          <p:cNvSpPr/>
          <p:nvPr/>
        </p:nvSpPr>
        <p:spPr>
          <a:xfrm>
            <a:off x="8372741" y="929469"/>
            <a:ext cx="1504390" cy="5184542"/>
          </a:xfrm>
          <a:prstGeom prst="roundRect">
            <a:avLst/>
          </a:prstGeom>
          <a:solidFill>
            <a:schemeClr val="bg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spc="-10">
              <a:solidFill>
                <a:srgbClr val="FFFFFF"/>
              </a:solidFill>
              <a:latin typeface="Arial" pitchFamily="34" charset="0"/>
              <a:ea typeface="Lato" panose="020F0502020204030203" pitchFamily="34" charset="0"/>
              <a:cs typeface="Lato" panose="020F0502020204030203" pitchFamily="34" charset="0"/>
            </a:endParaRPr>
          </a:p>
        </p:txBody>
      </p:sp>
      <p:sp>
        <p:nvSpPr>
          <p:cNvPr id="8" name="TextBox 7">
            <a:extLst>
              <a:ext uri="{FF2B5EF4-FFF2-40B4-BE49-F238E27FC236}">
                <a16:creationId xmlns:a16="http://schemas.microsoft.com/office/drawing/2014/main" id="{2CCB1B21-CDCB-B636-CFBB-1514EDDE4C2C}"/>
              </a:ext>
            </a:extLst>
          </p:cNvPr>
          <p:cNvSpPr txBox="1"/>
          <p:nvPr/>
        </p:nvSpPr>
        <p:spPr>
          <a:xfrm>
            <a:off x="6778811" y="1071744"/>
            <a:ext cx="1237193" cy="279222"/>
          </a:xfrm>
          <a:prstGeom prst="rect">
            <a:avLst/>
          </a:prstGeom>
          <a:ln w="6350">
            <a:noFill/>
            <a:miter lim="800000"/>
          </a:ln>
        </p:spPr>
        <p:txBody>
          <a:bodyPr vert="horz" wrap="none" lIns="0" tIns="0" rIns="0" bIns="0" rtlCol="0" anchor="ctr">
            <a:noAutofit/>
          </a:bodyPr>
          <a:lstStyle/>
          <a:p>
            <a:pPr algn="ctr" defTabSz="685800">
              <a:spcBef>
                <a:spcPts val="225"/>
              </a:spcBef>
              <a:spcAft>
                <a:spcPts val="225"/>
              </a:spcAft>
              <a:defRPr/>
            </a:pPr>
            <a:r>
              <a:rPr lang="en-US" sz="1100" b="1" spc="-10">
                <a:latin typeface="Segoe UI" pitchFamily="34" charset="0"/>
                <a:ea typeface="Lato" panose="020F0502020204030203" pitchFamily="34" charset="0"/>
                <a:cs typeface="Lato" panose="020F0502020204030203" pitchFamily="34" charset="0"/>
              </a:rPr>
              <a:t>Sofia Alvarez</a:t>
            </a:r>
          </a:p>
        </p:txBody>
      </p:sp>
      <p:sp>
        <p:nvSpPr>
          <p:cNvPr id="11" name="Rectangle 10">
            <a:extLst>
              <a:ext uri="{FF2B5EF4-FFF2-40B4-BE49-F238E27FC236}">
                <a16:creationId xmlns:a16="http://schemas.microsoft.com/office/drawing/2014/main" id="{1B2FD6ED-535B-839C-134B-E88D4E94C879}"/>
              </a:ext>
            </a:extLst>
          </p:cNvPr>
          <p:cNvSpPr/>
          <p:nvPr/>
        </p:nvSpPr>
        <p:spPr>
          <a:xfrm>
            <a:off x="8551178" y="2555480"/>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14" name="Rectangle 13">
            <a:extLst>
              <a:ext uri="{FF2B5EF4-FFF2-40B4-BE49-F238E27FC236}">
                <a16:creationId xmlns:a16="http://schemas.microsoft.com/office/drawing/2014/main" id="{1386AF21-9736-A96F-FBCB-CAF5049E6A04}"/>
              </a:ext>
            </a:extLst>
          </p:cNvPr>
          <p:cNvSpPr/>
          <p:nvPr/>
        </p:nvSpPr>
        <p:spPr>
          <a:xfrm>
            <a:off x="8551178" y="3073347"/>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17" name="Rectangle 16">
            <a:extLst>
              <a:ext uri="{FF2B5EF4-FFF2-40B4-BE49-F238E27FC236}">
                <a16:creationId xmlns:a16="http://schemas.microsoft.com/office/drawing/2014/main" id="{98E764C7-581A-8F4B-43D7-5DA5E4155511}"/>
              </a:ext>
            </a:extLst>
          </p:cNvPr>
          <p:cNvSpPr/>
          <p:nvPr/>
        </p:nvSpPr>
        <p:spPr>
          <a:xfrm>
            <a:off x="8551178" y="3592808"/>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20" name="Rectangle 19">
            <a:extLst>
              <a:ext uri="{FF2B5EF4-FFF2-40B4-BE49-F238E27FC236}">
                <a16:creationId xmlns:a16="http://schemas.microsoft.com/office/drawing/2014/main" id="{B21447FB-1BC6-32AC-5B90-F55863EB098F}"/>
              </a:ext>
            </a:extLst>
          </p:cNvPr>
          <p:cNvSpPr/>
          <p:nvPr/>
        </p:nvSpPr>
        <p:spPr>
          <a:xfrm>
            <a:off x="8551178" y="4112149"/>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23" name="Rectangle 22">
            <a:extLst>
              <a:ext uri="{FF2B5EF4-FFF2-40B4-BE49-F238E27FC236}">
                <a16:creationId xmlns:a16="http://schemas.microsoft.com/office/drawing/2014/main" id="{78CAD201-0976-9EC4-1F69-C68B71EFC2B3}"/>
              </a:ext>
            </a:extLst>
          </p:cNvPr>
          <p:cNvSpPr/>
          <p:nvPr/>
        </p:nvSpPr>
        <p:spPr>
          <a:xfrm>
            <a:off x="8583185" y="4814334"/>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26" name="Rectangle 25">
            <a:extLst>
              <a:ext uri="{FF2B5EF4-FFF2-40B4-BE49-F238E27FC236}">
                <a16:creationId xmlns:a16="http://schemas.microsoft.com/office/drawing/2014/main" id="{B9B36B0F-5567-3CAA-5CAE-1F891C4B1966}"/>
              </a:ext>
            </a:extLst>
          </p:cNvPr>
          <p:cNvSpPr/>
          <p:nvPr/>
        </p:nvSpPr>
        <p:spPr>
          <a:xfrm>
            <a:off x="8583185" y="5457598"/>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77" name="TextBox 76">
            <a:extLst>
              <a:ext uri="{FF2B5EF4-FFF2-40B4-BE49-F238E27FC236}">
                <a16:creationId xmlns:a16="http://schemas.microsoft.com/office/drawing/2014/main" id="{AA84A187-C82B-EAB6-5293-D5F03AF5C0F0}"/>
              </a:ext>
            </a:extLst>
          </p:cNvPr>
          <p:cNvSpPr txBox="1"/>
          <p:nvPr/>
        </p:nvSpPr>
        <p:spPr>
          <a:xfrm>
            <a:off x="8579490" y="2117904"/>
            <a:ext cx="1041125" cy="190712"/>
          </a:xfrm>
          <a:prstGeom prst="rect">
            <a:avLst/>
          </a:prstGeom>
          <a:ln w="6350">
            <a:noFill/>
            <a:miter lim="800000"/>
          </a:ln>
        </p:spPr>
        <p:txBody>
          <a:bodyPr vert="horz" wrap="none" lIns="0" tIns="0" rIns="0" bIns="0" rtlCol="0">
            <a:noAutofit/>
          </a:bodyPr>
          <a:lstStyle/>
          <a:p>
            <a:pPr algn="ctr" defTabSz="685800">
              <a:spcBef>
                <a:spcPts val="225"/>
              </a:spcBef>
              <a:spcAft>
                <a:spcPts val="225"/>
              </a:spcAft>
              <a:defRPr/>
            </a:pPr>
            <a:r>
              <a:rPr lang="en-US" sz="900" i="1" spc="-10">
                <a:latin typeface="Arial" pitchFamily="34" charset="0"/>
                <a:ea typeface="Lato" panose="020F0502020204030203" pitchFamily="34" charset="0"/>
                <a:cs typeface="Lato" panose="020F0502020204030203" pitchFamily="34" charset="0"/>
              </a:rPr>
              <a:t>Readiness</a:t>
            </a:r>
          </a:p>
        </p:txBody>
      </p:sp>
      <p:sp>
        <p:nvSpPr>
          <p:cNvPr id="78" name="TextBox 77">
            <a:extLst>
              <a:ext uri="{FF2B5EF4-FFF2-40B4-BE49-F238E27FC236}">
                <a16:creationId xmlns:a16="http://schemas.microsoft.com/office/drawing/2014/main" id="{9D4F43B8-4EAD-8346-1C0E-4569D453AB53}"/>
              </a:ext>
            </a:extLst>
          </p:cNvPr>
          <p:cNvSpPr txBox="1"/>
          <p:nvPr/>
        </p:nvSpPr>
        <p:spPr>
          <a:xfrm>
            <a:off x="6781885" y="1392120"/>
            <a:ext cx="1237191" cy="279222"/>
          </a:xfrm>
          <a:prstGeom prst="rect">
            <a:avLst/>
          </a:prstGeom>
          <a:ln w="6350">
            <a:noFill/>
            <a:miter lim="800000"/>
          </a:ln>
        </p:spPr>
        <p:txBody>
          <a:bodyPr vert="horz" wrap="square" lIns="0" tIns="0" rIns="0" bIns="0" rtlCol="0" anchor="ctr">
            <a:noAutofit/>
          </a:bodyPr>
          <a:lstStyle/>
          <a:p>
            <a:pPr algn="ctr" defTabSz="685800">
              <a:spcBef>
                <a:spcPts val="225"/>
              </a:spcBef>
              <a:spcAft>
                <a:spcPts val="225"/>
              </a:spcAft>
              <a:defRPr/>
            </a:pPr>
            <a:r>
              <a:rPr lang="en-US" sz="1000" i="1" spc="-10">
                <a:latin typeface="Arial" pitchFamily="34" charset="0"/>
                <a:ea typeface="Lato" panose="020F0502020204030203" pitchFamily="34" charset="0"/>
                <a:cs typeface="Lato" panose="020F0502020204030203" pitchFamily="34" charset="0"/>
              </a:rPr>
              <a:t>Senior Director, Digital Platforms &amp; Integration</a:t>
            </a:r>
          </a:p>
        </p:txBody>
      </p:sp>
      <p:sp>
        <p:nvSpPr>
          <p:cNvPr id="101" name="Rectangle: Rounded Corners 135">
            <a:extLst>
              <a:ext uri="{FF2B5EF4-FFF2-40B4-BE49-F238E27FC236}">
                <a16:creationId xmlns:a16="http://schemas.microsoft.com/office/drawing/2014/main" id="{E1981BCC-645B-C094-AD7B-E749C4363667}"/>
              </a:ext>
            </a:extLst>
          </p:cNvPr>
          <p:cNvSpPr/>
          <p:nvPr/>
        </p:nvSpPr>
        <p:spPr>
          <a:xfrm rot="10800000">
            <a:off x="8880869" y="1790344"/>
            <a:ext cx="488127" cy="283387"/>
          </a:xfrm>
          <a:prstGeom prst="roundRect">
            <a:avLst/>
          </a:prstGeom>
          <a:solidFill>
            <a:schemeClr val="accent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spc="-10" err="1">
              <a:solidFill>
                <a:schemeClr val="tx1"/>
              </a:solidFill>
              <a:latin typeface="Arial" pitchFamily="34" charset="0"/>
              <a:ea typeface="Lato" panose="020F0502020204030203" pitchFamily="34" charset="0"/>
              <a:cs typeface="Lato" panose="020F0502020204030203" pitchFamily="34" charset="0"/>
            </a:endParaRPr>
          </a:p>
        </p:txBody>
      </p:sp>
      <p:sp>
        <p:nvSpPr>
          <p:cNvPr id="106" name="TextBox 105">
            <a:extLst>
              <a:ext uri="{FF2B5EF4-FFF2-40B4-BE49-F238E27FC236}">
                <a16:creationId xmlns:a16="http://schemas.microsoft.com/office/drawing/2014/main" id="{43DB9B39-F6B5-BE40-644D-551179C4D3E3}"/>
              </a:ext>
            </a:extLst>
          </p:cNvPr>
          <p:cNvSpPr txBox="1"/>
          <p:nvPr/>
        </p:nvSpPr>
        <p:spPr>
          <a:xfrm>
            <a:off x="1556560" y="2484277"/>
            <a:ext cx="4090261" cy="261610"/>
          </a:xfrm>
          <a:prstGeom prst="rect">
            <a:avLst/>
          </a:prstGeom>
          <a:noFill/>
        </p:spPr>
        <p:txBody>
          <a:bodyPr wrap="square" lIns="91440" tIns="45720" rIns="91440" bIns="45720">
            <a:spAutoFit/>
          </a:bodyPr>
          <a:lstStyle/>
          <a:p>
            <a:pPr lvl="0">
              <a:defRPr/>
            </a:pPr>
            <a:r>
              <a:rPr lang="en-US" sz="1100" b="1" spc="-10">
                <a:solidFill>
                  <a:srgbClr val="1D1D1D"/>
                </a:solidFill>
                <a:latin typeface="Segoe UI" pitchFamily="34" charset="0"/>
                <a:ea typeface="Lato" panose="020F0502020204030203" pitchFamily="34" charset="0"/>
                <a:cs typeface="Lato" panose="020F0502020204030203" pitchFamily="34" charset="0"/>
              </a:rPr>
              <a:t>Continuous Improvement of Infrastructure</a:t>
            </a:r>
          </a:p>
        </p:txBody>
      </p:sp>
      <p:sp>
        <p:nvSpPr>
          <p:cNvPr id="108" name="TextBox 107">
            <a:extLst>
              <a:ext uri="{FF2B5EF4-FFF2-40B4-BE49-F238E27FC236}">
                <a16:creationId xmlns:a16="http://schemas.microsoft.com/office/drawing/2014/main" id="{7EA537FC-2FA2-25CF-B948-8E4FEFD494AD}"/>
              </a:ext>
            </a:extLst>
          </p:cNvPr>
          <p:cNvSpPr txBox="1"/>
          <p:nvPr/>
        </p:nvSpPr>
        <p:spPr>
          <a:xfrm>
            <a:off x="1585222" y="2982134"/>
            <a:ext cx="3888937" cy="261610"/>
          </a:xfrm>
          <a:prstGeom prst="rect">
            <a:avLst/>
          </a:prstGeom>
          <a:noFill/>
        </p:spPr>
        <p:txBody>
          <a:bodyPr wrap="square" lIns="91440" tIns="45720" rIns="91440" bIns="45720">
            <a:sp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1" spc="-10">
                <a:latin typeface="Segoe UI" pitchFamily="34" charset="0"/>
                <a:ea typeface="Lato" panose="020F0502020204030203" pitchFamily="34" charset="0"/>
                <a:cs typeface="Lato" panose="020F0502020204030203" pitchFamily="34" charset="0"/>
              </a:rPr>
              <a:t>Digital Transformation of Core Processes</a:t>
            </a:r>
          </a:p>
        </p:txBody>
      </p:sp>
      <p:sp>
        <p:nvSpPr>
          <p:cNvPr id="110" name="TextBox 109">
            <a:extLst>
              <a:ext uri="{FF2B5EF4-FFF2-40B4-BE49-F238E27FC236}">
                <a16:creationId xmlns:a16="http://schemas.microsoft.com/office/drawing/2014/main" id="{560049C9-DEA1-8AF3-C1FF-1C3AC21F12C5}"/>
              </a:ext>
            </a:extLst>
          </p:cNvPr>
          <p:cNvSpPr txBox="1"/>
          <p:nvPr/>
        </p:nvSpPr>
        <p:spPr>
          <a:xfrm>
            <a:off x="1556560" y="3510295"/>
            <a:ext cx="4962204" cy="261610"/>
          </a:xfrm>
          <a:prstGeom prst="rect">
            <a:avLst/>
          </a:prstGeom>
          <a:noFill/>
        </p:spPr>
        <p:txBody>
          <a:bodyPr wrap="square" lIns="91440" tIns="45720" rIns="91440" bIns="45720">
            <a:sp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1" spc="-10">
                <a:latin typeface="Segoe UI" pitchFamily="34" charset="0"/>
                <a:ea typeface="Lato" panose="020F0502020204030203" pitchFamily="34" charset="0"/>
                <a:cs typeface="Lato" panose="020F0502020204030203" pitchFamily="34" charset="0"/>
              </a:rPr>
              <a:t>Digital Innovation for New Products, Services, and Revenue Streams</a:t>
            </a:r>
          </a:p>
        </p:txBody>
      </p:sp>
      <p:sp>
        <p:nvSpPr>
          <p:cNvPr id="112" name="TextBox 111">
            <a:extLst>
              <a:ext uri="{FF2B5EF4-FFF2-40B4-BE49-F238E27FC236}">
                <a16:creationId xmlns:a16="http://schemas.microsoft.com/office/drawing/2014/main" id="{368F3A4D-3939-31EC-CE5E-54EEEBC4B389}"/>
              </a:ext>
            </a:extLst>
          </p:cNvPr>
          <p:cNvSpPr txBox="1"/>
          <p:nvPr/>
        </p:nvSpPr>
        <p:spPr>
          <a:xfrm>
            <a:off x="1563563" y="4044952"/>
            <a:ext cx="4307848" cy="261610"/>
          </a:xfrm>
          <a:prstGeom prst="rect">
            <a:avLst/>
          </a:prstGeom>
          <a:noFill/>
        </p:spPr>
        <p:txBody>
          <a:bodyPr wrap="square" lIns="91440" tIns="45720" rIns="91440" bIns="45720">
            <a:sp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1" spc="-10">
                <a:latin typeface="Segoe UI" pitchFamily="34" charset="0"/>
                <a:ea typeface="Lato" panose="020F0502020204030203" pitchFamily="34" charset="0"/>
                <a:cs typeface="Lato" panose="020F0502020204030203" pitchFamily="34" charset="0"/>
              </a:rPr>
              <a:t>Major Platform &amp; Technology Upgrade</a:t>
            </a:r>
          </a:p>
        </p:txBody>
      </p:sp>
      <p:sp>
        <p:nvSpPr>
          <p:cNvPr id="113" name="TextBox 112">
            <a:extLst>
              <a:ext uri="{FF2B5EF4-FFF2-40B4-BE49-F238E27FC236}">
                <a16:creationId xmlns:a16="http://schemas.microsoft.com/office/drawing/2014/main" id="{08E56379-6880-B04D-C927-5DC1C5EA9B41}"/>
              </a:ext>
            </a:extLst>
          </p:cNvPr>
          <p:cNvSpPr txBox="1"/>
          <p:nvPr/>
        </p:nvSpPr>
        <p:spPr>
          <a:xfrm>
            <a:off x="1102542" y="2506269"/>
            <a:ext cx="454018" cy="238527"/>
          </a:xfrm>
          <a:prstGeom prst="rect">
            <a:avLst/>
          </a:prstGeom>
          <a:noFill/>
          <a:ln w="6350">
            <a:noFill/>
            <a:miter lim="800000"/>
          </a:ln>
        </p:spPr>
        <p:txBody>
          <a:bodyPr wrap="square" lIns="68580" tIns="34290" rIns="68580" bIns="34290" anchor="ctr">
            <a:spAutoFit/>
          </a:bodyPr>
          <a:lstStyle/>
          <a:p>
            <a:pPr defTabSz="2194560">
              <a:defRPr/>
            </a:pPr>
            <a:r>
              <a:rPr lang="en-US" sz="1100" b="1" spc="-10">
                <a:solidFill>
                  <a:srgbClr val="3B3B3B"/>
                </a:solidFill>
                <a:latin typeface="Segoe UI" pitchFamily="34" charset="0"/>
                <a:ea typeface="Lato" panose="020F0502020204030203" pitchFamily="34" charset="0"/>
                <a:cs typeface="Lato" panose="020F0502020204030203" pitchFamily="34" charset="0"/>
              </a:rPr>
              <a:t>30%</a:t>
            </a:r>
          </a:p>
        </p:txBody>
      </p:sp>
      <p:sp>
        <p:nvSpPr>
          <p:cNvPr id="114" name="TextBox 113">
            <a:extLst>
              <a:ext uri="{FF2B5EF4-FFF2-40B4-BE49-F238E27FC236}">
                <a16:creationId xmlns:a16="http://schemas.microsoft.com/office/drawing/2014/main" id="{C0DB7D87-BC48-5079-D9CA-72AB0AE1D46E}"/>
              </a:ext>
            </a:extLst>
          </p:cNvPr>
          <p:cNvSpPr txBox="1"/>
          <p:nvPr/>
        </p:nvSpPr>
        <p:spPr>
          <a:xfrm>
            <a:off x="1102542" y="2982134"/>
            <a:ext cx="454018" cy="238527"/>
          </a:xfrm>
          <a:prstGeom prst="rect">
            <a:avLst/>
          </a:prstGeom>
          <a:noFill/>
          <a:ln w="6350">
            <a:noFill/>
            <a:miter lim="800000"/>
          </a:ln>
        </p:spPr>
        <p:txBody>
          <a:bodyPr wrap="square" lIns="68580" tIns="34290" rIns="68580" bIns="34290" anchor="ctr">
            <a:spAutoFit/>
          </a:bodyPr>
          <a:lstStyle/>
          <a:p>
            <a:pPr defTabSz="2194560">
              <a:defRPr/>
            </a:pPr>
            <a:r>
              <a:rPr lang="en-US" sz="1100" b="1" spc="-10">
                <a:solidFill>
                  <a:srgbClr val="3B3B3B"/>
                </a:solidFill>
                <a:latin typeface="Segoe UI" pitchFamily="34" charset="0"/>
                <a:ea typeface="Lato" panose="020F0502020204030203" pitchFamily="34" charset="0"/>
                <a:cs typeface="Lato" panose="020F0502020204030203" pitchFamily="34" charset="0"/>
              </a:rPr>
              <a:t>30%</a:t>
            </a:r>
          </a:p>
        </p:txBody>
      </p:sp>
      <p:sp>
        <p:nvSpPr>
          <p:cNvPr id="115" name="TextBox 114">
            <a:extLst>
              <a:ext uri="{FF2B5EF4-FFF2-40B4-BE49-F238E27FC236}">
                <a16:creationId xmlns:a16="http://schemas.microsoft.com/office/drawing/2014/main" id="{5A0ECC69-F00F-FF13-4456-24BD538526E4}"/>
              </a:ext>
            </a:extLst>
          </p:cNvPr>
          <p:cNvSpPr txBox="1"/>
          <p:nvPr/>
        </p:nvSpPr>
        <p:spPr>
          <a:xfrm>
            <a:off x="1102542" y="3510295"/>
            <a:ext cx="454018" cy="238527"/>
          </a:xfrm>
          <a:prstGeom prst="rect">
            <a:avLst/>
          </a:prstGeom>
          <a:noFill/>
          <a:ln w="6350">
            <a:noFill/>
            <a:miter lim="800000"/>
          </a:ln>
        </p:spPr>
        <p:txBody>
          <a:bodyPr wrap="square" lIns="68580" tIns="34290" rIns="68580" bIns="34290" anchor="ctr">
            <a:spAutoFit/>
          </a:bodyPr>
          <a:lstStyle/>
          <a:p>
            <a:pPr defTabSz="2194560">
              <a:defRPr/>
            </a:pPr>
            <a:r>
              <a:rPr lang="en-US" sz="1100" b="1" spc="-10">
                <a:solidFill>
                  <a:srgbClr val="3B3B3B"/>
                </a:solidFill>
                <a:latin typeface="Segoe UI" pitchFamily="34" charset="0"/>
                <a:ea typeface="Lato" panose="020F0502020204030203" pitchFamily="34" charset="0"/>
                <a:cs typeface="Lato" panose="020F0502020204030203" pitchFamily="34" charset="0"/>
              </a:rPr>
              <a:t>20%</a:t>
            </a:r>
          </a:p>
        </p:txBody>
      </p:sp>
      <p:sp>
        <p:nvSpPr>
          <p:cNvPr id="116" name="TextBox 115">
            <a:extLst>
              <a:ext uri="{FF2B5EF4-FFF2-40B4-BE49-F238E27FC236}">
                <a16:creationId xmlns:a16="http://schemas.microsoft.com/office/drawing/2014/main" id="{A0AE9B4A-0814-4570-0E8B-B4954DEDFC2F}"/>
              </a:ext>
            </a:extLst>
          </p:cNvPr>
          <p:cNvSpPr txBox="1"/>
          <p:nvPr/>
        </p:nvSpPr>
        <p:spPr>
          <a:xfrm>
            <a:off x="1102542" y="4044953"/>
            <a:ext cx="454018" cy="238527"/>
          </a:xfrm>
          <a:prstGeom prst="rect">
            <a:avLst/>
          </a:prstGeom>
          <a:noFill/>
          <a:ln w="6350">
            <a:noFill/>
            <a:miter lim="800000"/>
          </a:ln>
        </p:spPr>
        <p:txBody>
          <a:bodyPr wrap="square" lIns="68580" tIns="34290" rIns="68580" bIns="34290" anchor="ctr">
            <a:spAutoFit/>
          </a:bodyPr>
          <a:lstStyle/>
          <a:p>
            <a:pPr defTabSz="2194560">
              <a:defRPr/>
            </a:pPr>
            <a:r>
              <a:rPr lang="en-US" sz="1100" b="1" spc="-10">
                <a:solidFill>
                  <a:srgbClr val="3B3B3B"/>
                </a:solidFill>
                <a:latin typeface="Segoe UI" pitchFamily="34" charset="0"/>
                <a:ea typeface="Lato" panose="020F0502020204030203" pitchFamily="34" charset="0"/>
                <a:cs typeface="Lato" panose="020F0502020204030203" pitchFamily="34" charset="0"/>
              </a:rPr>
              <a:t>10%</a:t>
            </a:r>
          </a:p>
        </p:txBody>
      </p:sp>
      <p:sp>
        <p:nvSpPr>
          <p:cNvPr id="117" name="TextBox 116">
            <a:extLst>
              <a:ext uri="{FF2B5EF4-FFF2-40B4-BE49-F238E27FC236}">
                <a16:creationId xmlns:a16="http://schemas.microsoft.com/office/drawing/2014/main" id="{DFF07E5F-E740-3373-14A3-97DD157142BF}"/>
              </a:ext>
            </a:extLst>
          </p:cNvPr>
          <p:cNvSpPr txBox="1"/>
          <p:nvPr/>
        </p:nvSpPr>
        <p:spPr>
          <a:xfrm>
            <a:off x="720202" y="2507839"/>
            <a:ext cx="454018" cy="261610"/>
          </a:xfrm>
          <a:prstGeom prst="rect">
            <a:avLst/>
          </a:prstGeom>
          <a:noFill/>
          <a:ln w="6350">
            <a:noFill/>
            <a:miter lim="800000"/>
          </a:ln>
        </p:spPr>
        <p:txBody>
          <a:bodyPr wrap="square" lIns="91440" tIns="45720" rIns="91440" bIns="45720" anchor="ctr">
            <a:spAutoFit/>
          </a:bodyPr>
          <a:lstStyle/>
          <a:p>
            <a:pPr defTabSz="2194560">
              <a:defRPr/>
            </a:pPr>
            <a:r>
              <a:rPr lang="en-US" sz="1100" b="1" spc="-10">
                <a:solidFill>
                  <a:srgbClr val="3B3B3B"/>
                </a:solidFill>
                <a:latin typeface="Segoe UI" pitchFamily="34" charset="0"/>
                <a:ea typeface="Lato" panose="020F0502020204030203" pitchFamily="34" charset="0"/>
                <a:cs typeface="Lato" panose="020F0502020204030203" pitchFamily="34" charset="0"/>
              </a:rPr>
              <a:t>1</a:t>
            </a:r>
          </a:p>
        </p:txBody>
      </p:sp>
      <p:sp>
        <p:nvSpPr>
          <p:cNvPr id="118" name="TextBox 117">
            <a:extLst>
              <a:ext uri="{FF2B5EF4-FFF2-40B4-BE49-F238E27FC236}">
                <a16:creationId xmlns:a16="http://schemas.microsoft.com/office/drawing/2014/main" id="{2BD8B0BF-9360-AB9C-B8A7-3870F7BC7965}"/>
              </a:ext>
            </a:extLst>
          </p:cNvPr>
          <p:cNvSpPr txBox="1"/>
          <p:nvPr/>
        </p:nvSpPr>
        <p:spPr>
          <a:xfrm>
            <a:off x="720202" y="2982134"/>
            <a:ext cx="454018" cy="261610"/>
          </a:xfrm>
          <a:prstGeom prst="rect">
            <a:avLst/>
          </a:prstGeom>
          <a:noFill/>
          <a:ln w="6350">
            <a:noFill/>
            <a:miter lim="800000"/>
          </a:ln>
        </p:spPr>
        <p:txBody>
          <a:bodyPr wrap="square" lIns="91440" tIns="45720" rIns="91440" bIns="45720" anchor="ctr">
            <a:spAutoFit/>
          </a:bodyPr>
          <a:lstStyle/>
          <a:p>
            <a:pPr defTabSz="2194560">
              <a:defRPr/>
            </a:pPr>
            <a:r>
              <a:rPr lang="en-US" sz="1100" b="1" spc="-10">
                <a:solidFill>
                  <a:srgbClr val="3B3B3B"/>
                </a:solidFill>
                <a:latin typeface="Segoe UI" pitchFamily="34" charset="0"/>
                <a:ea typeface="Lato" panose="020F0502020204030203" pitchFamily="34" charset="0"/>
                <a:cs typeface="Lato" panose="020F0502020204030203" pitchFamily="34" charset="0"/>
              </a:rPr>
              <a:t>2</a:t>
            </a:r>
          </a:p>
        </p:txBody>
      </p:sp>
      <p:sp>
        <p:nvSpPr>
          <p:cNvPr id="119" name="TextBox 118">
            <a:extLst>
              <a:ext uri="{FF2B5EF4-FFF2-40B4-BE49-F238E27FC236}">
                <a16:creationId xmlns:a16="http://schemas.microsoft.com/office/drawing/2014/main" id="{C9B47828-1265-9D2B-020A-9D893DCAEB80}"/>
              </a:ext>
            </a:extLst>
          </p:cNvPr>
          <p:cNvSpPr txBox="1"/>
          <p:nvPr/>
        </p:nvSpPr>
        <p:spPr>
          <a:xfrm>
            <a:off x="720202" y="3510295"/>
            <a:ext cx="454018" cy="261610"/>
          </a:xfrm>
          <a:prstGeom prst="rect">
            <a:avLst/>
          </a:prstGeom>
          <a:noFill/>
          <a:ln w="6350">
            <a:noFill/>
            <a:miter lim="800000"/>
          </a:ln>
        </p:spPr>
        <p:txBody>
          <a:bodyPr wrap="square" lIns="91440" tIns="45720" rIns="91440" bIns="45720" anchor="ctr">
            <a:spAutoFit/>
          </a:bodyPr>
          <a:lstStyle/>
          <a:p>
            <a:pPr defTabSz="2194560">
              <a:defRPr/>
            </a:pPr>
            <a:r>
              <a:rPr lang="en-US" sz="1100" b="1" spc="-10">
                <a:solidFill>
                  <a:srgbClr val="3B3B3B"/>
                </a:solidFill>
                <a:latin typeface="Segoe UI" pitchFamily="34" charset="0"/>
                <a:ea typeface="Lato" panose="020F0502020204030203" pitchFamily="34" charset="0"/>
                <a:cs typeface="Lato" panose="020F0502020204030203" pitchFamily="34" charset="0"/>
              </a:rPr>
              <a:t>3</a:t>
            </a:r>
          </a:p>
        </p:txBody>
      </p:sp>
      <p:sp>
        <p:nvSpPr>
          <p:cNvPr id="120" name="TextBox 119">
            <a:extLst>
              <a:ext uri="{FF2B5EF4-FFF2-40B4-BE49-F238E27FC236}">
                <a16:creationId xmlns:a16="http://schemas.microsoft.com/office/drawing/2014/main" id="{33FC2062-E89E-2C92-E3C1-5639B1A8BAF6}"/>
              </a:ext>
            </a:extLst>
          </p:cNvPr>
          <p:cNvSpPr txBox="1"/>
          <p:nvPr/>
        </p:nvSpPr>
        <p:spPr>
          <a:xfrm>
            <a:off x="720202" y="4044953"/>
            <a:ext cx="454018" cy="261610"/>
          </a:xfrm>
          <a:prstGeom prst="rect">
            <a:avLst/>
          </a:prstGeom>
          <a:noFill/>
          <a:ln w="6350">
            <a:noFill/>
            <a:miter lim="800000"/>
          </a:ln>
        </p:spPr>
        <p:txBody>
          <a:bodyPr wrap="square" lIns="91440" tIns="45720" rIns="91440" bIns="45720" anchor="ctr">
            <a:spAutoFit/>
          </a:bodyPr>
          <a:lstStyle/>
          <a:p>
            <a:pPr defTabSz="2194560">
              <a:defRPr/>
            </a:pPr>
            <a:r>
              <a:rPr lang="en-US" sz="1100" b="1" spc="-10">
                <a:solidFill>
                  <a:srgbClr val="3B3B3B"/>
                </a:solidFill>
                <a:latin typeface="Segoe UI" pitchFamily="34" charset="0"/>
                <a:ea typeface="Lato" panose="020F0502020204030203" pitchFamily="34" charset="0"/>
                <a:cs typeface="Lato" panose="020F0502020204030203" pitchFamily="34" charset="0"/>
              </a:rPr>
              <a:t>4</a:t>
            </a:r>
          </a:p>
        </p:txBody>
      </p:sp>
      <p:sp>
        <p:nvSpPr>
          <p:cNvPr id="123" name="TextBox 122">
            <a:extLst>
              <a:ext uri="{FF2B5EF4-FFF2-40B4-BE49-F238E27FC236}">
                <a16:creationId xmlns:a16="http://schemas.microsoft.com/office/drawing/2014/main" id="{7FC8BBB0-A625-E95B-FB66-83F5A67E0565}"/>
              </a:ext>
            </a:extLst>
          </p:cNvPr>
          <p:cNvSpPr txBox="1"/>
          <p:nvPr/>
        </p:nvSpPr>
        <p:spPr>
          <a:xfrm>
            <a:off x="1496182" y="1710119"/>
            <a:ext cx="3917599" cy="560924"/>
          </a:xfrm>
          <a:prstGeom prst="rect">
            <a:avLst/>
          </a:prstGeom>
        </p:spPr>
        <p:txBody>
          <a:bodyPr vert="horz" wrap="square" lIns="0" tIns="0" rIns="0" bIns="0" rtlCol="0" anchor="ctr" anchorCtr="0">
            <a:noAutofit/>
          </a:bodyPr>
          <a:lstStyle/>
          <a:p>
            <a:pPr algn="ctr" defTabSz="685800">
              <a:defRPr/>
            </a:pPr>
            <a:r>
              <a:rPr lang="en-US" sz="1200" b="1" spc="-10">
                <a:latin typeface="Segoe UI" pitchFamily="34" charset="0"/>
                <a:ea typeface="Lato" panose="020F0502020204030203" pitchFamily="34" charset="0"/>
                <a:cs typeface="Lato" panose="020F0502020204030203" pitchFamily="34" charset="0"/>
              </a:rPr>
              <a:t>Readiness Assessment</a:t>
            </a:r>
            <a:endParaRPr lang="en-US" sz="1200" b="1" spc="-10">
              <a:solidFill>
                <a:srgbClr val="1D1D1D"/>
              </a:solidFill>
              <a:latin typeface="Segoe UI" pitchFamily="34" charset="0"/>
              <a:ea typeface="Lato" panose="020F0502020204030203" pitchFamily="34" charset="0"/>
              <a:cs typeface="Lato" panose="020F0502020204030203" pitchFamily="34" charset="0"/>
            </a:endParaRPr>
          </a:p>
        </p:txBody>
      </p:sp>
      <p:cxnSp>
        <p:nvCxnSpPr>
          <p:cNvPr id="90" name="Straight Connector 89">
            <a:extLst>
              <a:ext uri="{FF2B5EF4-FFF2-40B4-BE49-F238E27FC236}">
                <a16:creationId xmlns:a16="http://schemas.microsoft.com/office/drawing/2014/main" id="{89C89156-FED1-371E-EE54-242686E9914B}"/>
              </a:ext>
            </a:extLst>
          </p:cNvPr>
          <p:cNvCxnSpPr>
            <a:cxnSpLocks/>
          </p:cNvCxnSpPr>
          <p:nvPr/>
        </p:nvCxnSpPr>
        <p:spPr>
          <a:xfrm>
            <a:off x="726539" y="2335326"/>
            <a:ext cx="10968347" cy="0"/>
          </a:xfrm>
          <a:prstGeom prst="line">
            <a:avLst/>
          </a:prstGeom>
          <a:ln w="9525" cap="flat">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4FCBB742-0F09-2D8F-576C-6750D336D078}"/>
              </a:ext>
            </a:extLst>
          </p:cNvPr>
          <p:cNvCxnSpPr>
            <a:cxnSpLocks/>
          </p:cNvCxnSpPr>
          <p:nvPr/>
        </p:nvCxnSpPr>
        <p:spPr>
          <a:xfrm>
            <a:off x="726539" y="4517549"/>
            <a:ext cx="10968347" cy="0"/>
          </a:xfrm>
          <a:prstGeom prst="line">
            <a:avLst/>
          </a:prstGeom>
          <a:ln w="9525" cap="flat">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2C7D891D-8B8B-E4A2-3110-F2AFA8D7D022}"/>
              </a:ext>
            </a:extLst>
          </p:cNvPr>
          <p:cNvCxnSpPr>
            <a:cxnSpLocks/>
          </p:cNvCxnSpPr>
          <p:nvPr/>
        </p:nvCxnSpPr>
        <p:spPr>
          <a:xfrm>
            <a:off x="726539" y="2853051"/>
            <a:ext cx="10968347" cy="0"/>
          </a:xfrm>
          <a:prstGeom prst="line">
            <a:avLst/>
          </a:prstGeom>
          <a:ln w="6350" cap="flat">
            <a:solidFill>
              <a:schemeClr val="bg1">
                <a:lumMod val="8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C514AED1-5513-DA5F-A921-9B747AD22915}"/>
              </a:ext>
            </a:extLst>
          </p:cNvPr>
          <p:cNvCxnSpPr>
            <a:cxnSpLocks/>
          </p:cNvCxnSpPr>
          <p:nvPr/>
        </p:nvCxnSpPr>
        <p:spPr>
          <a:xfrm>
            <a:off x="726539" y="3370776"/>
            <a:ext cx="10968347" cy="0"/>
          </a:xfrm>
          <a:prstGeom prst="line">
            <a:avLst/>
          </a:prstGeom>
          <a:ln w="6350" cap="flat">
            <a:solidFill>
              <a:schemeClr val="bg1">
                <a:lumMod val="8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A42E842C-C01E-1A17-01C6-694A134FAB10}"/>
              </a:ext>
            </a:extLst>
          </p:cNvPr>
          <p:cNvCxnSpPr>
            <a:cxnSpLocks/>
          </p:cNvCxnSpPr>
          <p:nvPr/>
        </p:nvCxnSpPr>
        <p:spPr>
          <a:xfrm>
            <a:off x="726539" y="3888500"/>
            <a:ext cx="10968347" cy="0"/>
          </a:xfrm>
          <a:prstGeom prst="line">
            <a:avLst/>
          </a:prstGeom>
          <a:ln w="6350" cap="flat">
            <a:solidFill>
              <a:schemeClr val="bg1">
                <a:lumMod val="8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0B0EB613-75D1-3449-3C23-8A64ACF3CC40}"/>
              </a:ext>
            </a:extLst>
          </p:cNvPr>
          <p:cNvCxnSpPr>
            <a:cxnSpLocks/>
          </p:cNvCxnSpPr>
          <p:nvPr/>
        </p:nvCxnSpPr>
        <p:spPr>
          <a:xfrm>
            <a:off x="726539" y="5249641"/>
            <a:ext cx="10968347" cy="0"/>
          </a:xfrm>
          <a:prstGeom prst="line">
            <a:avLst/>
          </a:prstGeom>
          <a:ln w="6350" cap="flat">
            <a:solidFill>
              <a:schemeClr val="bg1">
                <a:lumMod val="8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99EC0979-A927-BE8B-7EB4-B4AD4E8D1F17}"/>
              </a:ext>
            </a:extLst>
          </p:cNvPr>
          <p:cNvCxnSpPr>
            <a:cxnSpLocks/>
          </p:cNvCxnSpPr>
          <p:nvPr/>
        </p:nvCxnSpPr>
        <p:spPr>
          <a:xfrm>
            <a:off x="726539" y="6035241"/>
            <a:ext cx="10968347" cy="0"/>
          </a:xfrm>
          <a:prstGeom prst="line">
            <a:avLst/>
          </a:prstGeom>
          <a:ln w="9525" cap="flat">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C9AE146-D6F5-EF57-404E-2DAE6A1C63DC}"/>
              </a:ext>
            </a:extLst>
          </p:cNvPr>
          <p:cNvSpPr txBox="1"/>
          <p:nvPr/>
        </p:nvSpPr>
        <p:spPr>
          <a:xfrm>
            <a:off x="8551178" y="1057782"/>
            <a:ext cx="1124721" cy="279222"/>
          </a:xfrm>
          <a:prstGeom prst="rect">
            <a:avLst/>
          </a:prstGeom>
          <a:ln w="6350">
            <a:noFill/>
            <a:miter lim="800000"/>
          </a:ln>
        </p:spPr>
        <p:txBody>
          <a:bodyPr vert="horz" wrap="none" lIns="0" tIns="0" rIns="0" bIns="0" rtlCol="0" anchor="ctr">
            <a:noAutofit/>
          </a:bodyPr>
          <a:lstStyle/>
          <a:p>
            <a:pPr algn="ctr" defTabSz="685800">
              <a:spcBef>
                <a:spcPts val="225"/>
              </a:spcBef>
              <a:spcAft>
                <a:spcPts val="225"/>
              </a:spcAft>
              <a:defRPr/>
            </a:pPr>
            <a:r>
              <a:rPr lang="en-US" sz="1100" b="1" spc="-10">
                <a:latin typeface="Segoe UI" pitchFamily="34" charset="0"/>
                <a:ea typeface="Lato" panose="020F0502020204030203" pitchFamily="34" charset="0"/>
                <a:cs typeface="Lato" panose="020F0502020204030203" pitchFamily="34" charset="0"/>
              </a:rPr>
              <a:t>Marcus Chen</a:t>
            </a:r>
          </a:p>
        </p:txBody>
      </p:sp>
      <p:sp>
        <p:nvSpPr>
          <p:cNvPr id="79" name="TextBox 78">
            <a:extLst>
              <a:ext uri="{FF2B5EF4-FFF2-40B4-BE49-F238E27FC236}">
                <a16:creationId xmlns:a16="http://schemas.microsoft.com/office/drawing/2014/main" id="{021FEDE4-B3EC-81DD-703A-4A787C738AB8}"/>
              </a:ext>
            </a:extLst>
          </p:cNvPr>
          <p:cNvSpPr txBox="1"/>
          <p:nvPr/>
        </p:nvSpPr>
        <p:spPr>
          <a:xfrm>
            <a:off x="8455033" y="1377877"/>
            <a:ext cx="1360911" cy="279222"/>
          </a:xfrm>
          <a:prstGeom prst="rect">
            <a:avLst/>
          </a:prstGeom>
          <a:ln w="6350">
            <a:noFill/>
            <a:miter lim="800000"/>
          </a:ln>
        </p:spPr>
        <p:txBody>
          <a:bodyPr vert="horz" wrap="square" lIns="0" tIns="0" rIns="0" bIns="0" rtlCol="0" anchor="ctr">
            <a:noAutofit/>
          </a:bodyPr>
          <a:lstStyle/>
          <a:p>
            <a:pPr algn="ctr" defTabSz="685800">
              <a:spcBef>
                <a:spcPts val="225"/>
              </a:spcBef>
              <a:spcAft>
                <a:spcPts val="225"/>
              </a:spcAft>
              <a:defRPr/>
            </a:pPr>
            <a:r>
              <a:rPr lang="en-US" sz="1000" i="1" spc="-10">
                <a:latin typeface="Arial" pitchFamily="34" charset="0"/>
                <a:ea typeface="Lato" panose="020F0502020204030203" pitchFamily="34" charset="0"/>
                <a:cs typeface="Lato" panose="020F0502020204030203" pitchFamily="34" charset="0"/>
              </a:rPr>
              <a:t>Head of Product &amp; Data Commercialization</a:t>
            </a:r>
          </a:p>
        </p:txBody>
      </p:sp>
      <p:grpSp>
        <p:nvGrpSpPr>
          <p:cNvPr id="4" name="Group 3">
            <a:extLst>
              <a:ext uri="{FF2B5EF4-FFF2-40B4-BE49-F238E27FC236}">
                <a16:creationId xmlns:a16="http://schemas.microsoft.com/office/drawing/2014/main" id="{8170D3B7-9798-D88F-0A20-A1A262E490FF}"/>
              </a:ext>
            </a:extLst>
          </p:cNvPr>
          <p:cNvGrpSpPr/>
          <p:nvPr/>
        </p:nvGrpSpPr>
        <p:grpSpPr>
          <a:xfrm>
            <a:off x="10403235" y="201614"/>
            <a:ext cx="410690" cy="410700"/>
            <a:chOff x="3506617" y="2730959"/>
            <a:chExt cx="1591098" cy="1591098"/>
          </a:xfrm>
        </p:grpSpPr>
        <p:sp>
          <p:nvSpPr>
            <p:cNvPr id="47" name="Rectangle: Rounded Corners 39">
              <a:extLst>
                <a:ext uri="{FF2B5EF4-FFF2-40B4-BE49-F238E27FC236}">
                  <a16:creationId xmlns:a16="http://schemas.microsoft.com/office/drawing/2014/main" id="{1E8206DC-54FB-B44F-2275-5D9B063851B9}"/>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8" name="Rectangle: Rounded Corners 54">
              <a:extLst>
                <a:ext uri="{FF2B5EF4-FFF2-40B4-BE49-F238E27FC236}">
                  <a16:creationId xmlns:a16="http://schemas.microsoft.com/office/drawing/2014/main" id="{DE9F81C1-12A3-ACE4-91B1-9B541032EE1A}"/>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9" name="Freeform 56" descr="Clipboard Partially Checked with solid fill">
              <a:extLst>
                <a:ext uri="{FF2B5EF4-FFF2-40B4-BE49-F238E27FC236}">
                  <a16:creationId xmlns:a16="http://schemas.microsoft.com/office/drawing/2014/main" id="{AA9D766F-5EB7-7B0B-54E4-4D70FC23152D}"/>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50" name="Group 49">
            <a:extLst>
              <a:ext uri="{FF2B5EF4-FFF2-40B4-BE49-F238E27FC236}">
                <a16:creationId xmlns:a16="http://schemas.microsoft.com/office/drawing/2014/main" id="{6FD6B07E-D054-8610-FA2F-792607EE4A34}"/>
              </a:ext>
            </a:extLst>
          </p:cNvPr>
          <p:cNvGrpSpPr/>
          <p:nvPr/>
        </p:nvGrpSpPr>
        <p:grpSpPr>
          <a:xfrm>
            <a:off x="11557682" y="191038"/>
            <a:ext cx="410690" cy="410700"/>
            <a:chOff x="8874309" y="3009260"/>
            <a:chExt cx="1591098" cy="1591098"/>
          </a:xfrm>
        </p:grpSpPr>
        <p:grpSp>
          <p:nvGrpSpPr>
            <p:cNvPr id="51" name="Group 50">
              <a:extLst>
                <a:ext uri="{FF2B5EF4-FFF2-40B4-BE49-F238E27FC236}">
                  <a16:creationId xmlns:a16="http://schemas.microsoft.com/office/drawing/2014/main" id="{7F3F3EB0-370F-03BF-A6A6-AA5B38B2E86C}"/>
                </a:ext>
              </a:extLst>
            </p:cNvPr>
            <p:cNvGrpSpPr/>
            <p:nvPr/>
          </p:nvGrpSpPr>
          <p:grpSpPr>
            <a:xfrm>
              <a:off x="8874309" y="3009260"/>
              <a:ext cx="1591098" cy="1591098"/>
              <a:chOff x="9350370" y="2760976"/>
              <a:chExt cx="1591098" cy="1591098"/>
            </a:xfrm>
          </p:grpSpPr>
          <p:sp>
            <p:nvSpPr>
              <p:cNvPr id="54" name="Rectangle: Rounded Corners 39">
                <a:extLst>
                  <a:ext uri="{FF2B5EF4-FFF2-40B4-BE49-F238E27FC236}">
                    <a16:creationId xmlns:a16="http://schemas.microsoft.com/office/drawing/2014/main" id="{A22422DF-292D-1BC3-60B0-A7EBAB15998A}"/>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5" name="Rectangle: Rounded Corners 54">
                <a:extLst>
                  <a:ext uri="{FF2B5EF4-FFF2-40B4-BE49-F238E27FC236}">
                    <a16:creationId xmlns:a16="http://schemas.microsoft.com/office/drawing/2014/main" id="{325E1004-EBE5-1A23-A5B8-A4BB0FB50AA7}"/>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52" name="Picture 51" descr="Map with pin with solid fill">
              <a:extLst>
                <a:ext uri="{FF2B5EF4-FFF2-40B4-BE49-F238E27FC236}">
                  <a16:creationId xmlns:a16="http://schemas.microsoft.com/office/drawing/2014/main" id="{A39C28C3-CEE1-3790-D4A7-631FA5C02613}"/>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56" name="Group 55">
            <a:extLst>
              <a:ext uri="{FF2B5EF4-FFF2-40B4-BE49-F238E27FC236}">
                <a16:creationId xmlns:a16="http://schemas.microsoft.com/office/drawing/2014/main" id="{41FABC21-4962-8D35-687B-0569C436589A}"/>
              </a:ext>
            </a:extLst>
          </p:cNvPr>
          <p:cNvGrpSpPr/>
          <p:nvPr/>
        </p:nvGrpSpPr>
        <p:grpSpPr>
          <a:xfrm>
            <a:off x="10997361" y="200955"/>
            <a:ext cx="410690" cy="410700"/>
            <a:chOff x="5303120" y="3009260"/>
            <a:chExt cx="1591098" cy="1591098"/>
          </a:xfrm>
        </p:grpSpPr>
        <p:grpSp>
          <p:nvGrpSpPr>
            <p:cNvPr id="57" name="Group 56">
              <a:extLst>
                <a:ext uri="{FF2B5EF4-FFF2-40B4-BE49-F238E27FC236}">
                  <a16:creationId xmlns:a16="http://schemas.microsoft.com/office/drawing/2014/main" id="{F53FD71B-8C54-50A5-9BF5-E4A8C82F0C15}"/>
                </a:ext>
              </a:extLst>
            </p:cNvPr>
            <p:cNvGrpSpPr/>
            <p:nvPr/>
          </p:nvGrpSpPr>
          <p:grpSpPr>
            <a:xfrm>
              <a:off x="5303120" y="3009260"/>
              <a:ext cx="1591098" cy="1591098"/>
              <a:chOff x="6428492" y="2760976"/>
              <a:chExt cx="1591098" cy="1591098"/>
            </a:xfrm>
          </p:grpSpPr>
          <p:sp>
            <p:nvSpPr>
              <p:cNvPr id="59" name="Rectangle: Rounded Corners 39">
                <a:extLst>
                  <a:ext uri="{FF2B5EF4-FFF2-40B4-BE49-F238E27FC236}">
                    <a16:creationId xmlns:a16="http://schemas.microsoft.com/office/drawing/2014/main" id="{0EDF31B6-738E-889D-268D-79D1FD9D98F8}"/>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0" name="Rectangle: Rounded Corners 54">
                <a:extLst>
                  <a:ext uri="{FF2B5EF4-FFF2-40B4-BE49-F238E27FC236}">
                    <a16:creationId xmlns:a16="http://schemas.microsoft.com/office/drawing/2014/main" id="{24091710-2CC8-02D7-50FD-5A489BDA484D}"/>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58" name="Graphic 57" descr="Target Audience with solid fill">
              <a:extLst>
                <a:ext uri="{FF2B5EF4-FFF2-40B4-BE49-F238E27FC236}">
                  <a16:creationId xmlns:a16="http://schemas.microsoft.com/office/drawing/2014/main" id="{EB1BCE4B-D84A-A599-2B27-59878250090E}"/>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61" name="TextBox 60">
            <a:extLst>
              <a:ext uri="{FF2B5EF4-FFF2-40B4-BE49-F238E27FC236}">
                <a16:creationId xmlns:a16="http://schemas.microsoft.com/office/drawing/2014/main" id="{5A54C39E-6368-ACF1-11A6-3F5E17BC1F51}"/>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62" name="TextBox 61">
            <a:extLst>
              <a:ext uri="{FF2B5EF4-FFF2-40B4-BE49-F238E27FC236}">
                <a16:creationId xmlns:a16="http://schemas.microsoft.com/office/drawing/2014/main" id="{6B320843-C402-BE00-9684-B6ADC99B62AF}"/>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63" name="TextBox 62">
            <a:extLst>
              <a:ext uri="{FF2B5EF4-FFF2-40B4-BE49-F238E27FC236}">
                <a16:creationId xmlns:a16="http://schemas.microsoft.com/office/drawing/2014/main" id="{C5EF14B2-8EB9-2C66-4B2F-45C479BDF108}"/>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64" name="Rectangle 63">
            <a:extLst>
              <a:ext uri="{FF2B5EF4-FFF2-40B4-BE49-F238E27FC236}">
                <a16:creationId xmlns:a16="http://schemas.microsoft.com/office/drawing/2014/main" id="{8B54FCE9-68EE-A52C-4540-59F87F1C8C47}"/>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p>
        </p:txBody>
      </p:sp>
      <p:sp>
        <p:nvSpPr>
          <p:cNvPr id="65" name="Rectangle 64">
            <a:extLst>
              <a:ext uri="{FF2B5EF4-FFF2-40B4-BE49-F238E27FC236}">
                <a16:creationId xmlns:a16="http://schemas.microsoft.com/office/drawing/2014/main" id="{513EF0CD-01C2-78F1-BD29-BE6BA54B759D}"/>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p>
        </p:txBody>
      </p:sp>
      <p:sp>
        <p:nvSpPr>
          <p:cNvPr id="124"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45</a:t>
            </a:fld>
            <a:endParaRPr lang="en-US"/>
          </a:p>
        </p:txBody>
      </p:sp>
    </p:spTree>
    <p:extLst>
      <p:ext uri="{BB962C8B-B14F-4D97-AF65-F5344CB8AC3E}">
        <p14:creationId xmlns:p14="http://schemas.microsoft.com/office/powerpoint/2010/main" val="692849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1DD97-1D80-38A7-7AA9-1787D2A396DE}"/>
            </a:ext>
          </a:extLst>
        </p:cNvPr>
        <p:cNvGrpSpPr/>
        <p:nvPr/>
      </p:nvGrpSpPr>
      <p:grpSpPr>
        <a:xfrm>
          <a:off x="0" y="0"/>
          <a:ext cx="0" cy="0"/>
          <a:chOff x="0" y="0"/>
          <a:chExt cx="0" cy="0"/>
        </a:xfrm>
      </p:grpSpPr>
      <p:sp>
        <p:nvSpPr>
          <p:cNvPr id="7" name="Text Placeholder 1">
            <a:extLst>
              <a:ext uri="{FF2B5EF4-FFF2-40B4-BE49-F238E27FC236}">
                <a16:creationId xmlns:a16="http://schemas.microsoft.com/office/drawing/2014/main" id="{97618B6D-2E49-8345-AF0A-C7497248CFA7}"/>
              </a:ext>
            </a:extLst>
          </p:cNvPr>
          <p:cNvSpPr txBox="1">
            <a:spLocks/>
          </p:cNvSpPr>
          <p:nvPr/>
        </p:nvSpPr>
        <p:spPr>
          <a:xfrm>
            <a:off x="726539" y="308795"/>
            <a:ext cx="11303879" cy="456878"/>
          </a:xfrm>
          <a:prstGeom prst="rect">
            <a:avLst/>
          </a:prstGeom>
        </p:spPr>
        <p:txBody>
          <a:bodyPr lIns="91440" tIns="45720" rIns="91440" bIns="45720"/>
          <a:lstStyle>
            <a:lvl1pPr marL="0" indent="0" algn="l" defTabSz="914400" rtl="0" eaLnBrk="1" latinLnBrk="0" hangingPunct="1">
              <a:lnSpc>
                <a:spcPct val="90000"/>
              </a:lnSpc>
              <a:spcBef>
                <a:spcPts val="1000"/>
              </a:spcBef>
              <a:buFont typeface="Arial" panose="020B0604020202020204" pitchFamily="34" charset="0"/>
              <a:buNone/>
              <a:defRPr sz="2800" i="0" kern="1200" spc="-10">
                <a:solidFill>
                  <a:schemeClr val="tx1"/>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pc="-10" dirty="0">
              <a:latin typeface="Arial" pitchFamily="34" charset="0"/>
            </a:endParaRPr>
          </a:p>
        </p:txBody>
      </p:sp>
      <p:sp>
        <p:nvSpPr>
          <p:cNvPr id="8" name="Text Placeholder 2">
            <a:extLst>
              <a:ext uri="{FF2B5EF4-FFF2-40B4-BE49-F238E27FC236}">
                <a16:creationId xmlns:a16="http://schemas.microsoft.com/office/drawing/2014/main" id="{DB1C17BA-167B-3497-6C96-CD11FFB54070}"/>
              </a:ext>
            </a:extLst>
          </p:cNvPr>
          <p:cNvSpPr txBox="1">
            <a:spLocks/>
          </p:cNvSpPr>
          <p:nvPr/>
        </p:nvSpPr>
        <p:spPr>
          <a:xfrm>
            <a:off x="680818" y="1367215"/>
            <a:ext cx="3632563" cy="1308533"/>
          </a:xfrm>
          <a:prstGeom prst="roundRect">
            <a:avLst/>
          </a:prstGeom>
          <a:solidFill>
            <a:srgbClr val="60BDBC"/>
          </a:solidFill>
        </p:spPr>
        <p:txBody>
          <a:bodyPr lIns="91440" tIns="45720" rIns="91440" bIns="4572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b="1" spc="-10">
                <a:solidFill>
                  <a:schemeClr val="bg1"/>
                </a:solidFill>
                <a:latin typeface="Segoe UI" pitchFamily="34" charset="0"/>
              </a:rPr>
              <a:t>Key Points</a:t>
            </a:r>
            <a:endParaRPr lang="en-US" sz="3200" spc="-10">
              <a:solidFill>
                <a:schemeClr val="bg1"/>
              </a:solidFill>
              <a:latin typeface="Arial" pitchFamily="34" charset="0"/>
            </a:endParaRPr>
          </a:p>
        </p:txBody>
      </p:sp>
      <p:grpSp>
        <p:nvGrpSpPr>
          <p:cNvPr id="9" name="Group 8">
            <a:extLst>
              <a:ext uri="{FF2B5EF4-FFF2-40B4-BE49-F238E27FC236}">
                <a16:creationId xmlns:a16="http://schemas.microsoft.com/office/drawing/2014/main" id="{8A2B142F-D70F-8609-9710-F51C480B415D}"/>
              </a:ext>
            </a:extLst>
          </p:cNvPr>
          <p:cNvGrpSpPr/>
          <p:nvPr/>
        </p:nvGrpSpPr>
        <p:grpSpPr>
          <a:xfrm>
            <a:off x="680818" y="5403081"/>
            <a:ext cx="9496115" cy="828122"/>
            <a:chOff x="680818" y="3254342"/>
            <a:chExt cx="7569378" cy="640080"/>
          </a:xfrm>
        </p:grpSpPr>
        <p:sp>
          <p:nvSpPr>
            <p:cNvPr id="10" name="Text Placeholder 2">
              <a:extLst>
                <a:ext uri="{FF2B5EF4-FFF2-40B4-BE49-F238E27FC236}">
                  <a16:creationId xmlns:a16="http://schemas.microsoft.com/office/drawing/2014/main" id="{CCDA7D7E-A4A4-A3EF-D73B-00000CE2C49C}"/>
                </a:ext>
              </a:extLst>
            </p:cNvPr>
            <p:cNvSpPr txBox="1">
              <a:spLocks/>
            </p:cNvSpPr>
            <p:nvPr/>
          </p:nvSpPr>
          <p:spPr>
            <a:xfrm>
              <a:off x="1288241" y="3254342"/>
              <a:ext cx="6961955" cy="640080"/>
            </a:xfrm>
            <a:prstGeom prst="rect">
              <a:avLst/>
            </a:prstGeom>
            <a:solidFill>
              <a:srgbClr val="281A42"/>
            </a:solidFill>
          </p:spPr>
          <p:txBody>
            <a:bodyPr lIns="18288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spc="-10">
                  <a:solidFill>
                    <a:schemeClr val="bg1"/>
                  </a:solidFill>
                  <a:latin typeface="Arial" pitchFamily="34" charset="0"/>
                </a:rPr>
                <a:t>Succession assessments are about determining the candidate who’s most likely to deliver the future JTBDs</a:t>
              </a:r>
            </a:p>
          </p:txBody>
        </p:sp>
        <p:sp>
          <p:nvSpPr>
            <p:cNvPr id="11" name="Rectangle 10">
              <a:extLst>
                <a:ext uri="{FF2B5EF4-FFF2-40B4-BE49-F238E27FC236}">
                  <a16:creationId xmlns:a16="http://schemas.microsoft.com/office/drawing/2014/main" id="{08BC5577-B363-EC9A-D334-534918E6D205}"/>
                </a:ext>
              </a:extLst>
            </p:cNvPr>
            <p:cNvSpPr/>
            <p:nvPr/>
          </p:nvSpPr>
          <p:spPr>
            <a:xfrm>
              <a:off x="680818" y="3254342"/>
              <a:ext cx="607423" cy="64008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solidFill>
                  <a:schemeClr val="bg1"/>
                </a:solidFill>
                <a:latin typeface="Arial" pitchFamily="34" charset="0"/>
              </a:endParaRPr>
            </a:p>
          </p:txBody>
        </p:sp>
        <p:pic>
          <p:nvPicPr>
            <p:cNvPr id="12" name="Graphic 11" descr="Puzzle pieces with solid fill">
              <a:extLst>
                <a:ext uri="{FF2B5EF4-FFF2-40B4-BE49-F238E27FC236}">
                  <a16:creationId xmlns:a16="http://schemas.microsoft.com/office/drawing/2014/main" id="{5B2343D6-2350-D518-3CE7-DDCB0D052874}"/>
                </a:ext>
              </a:extLst>
            </p:cNvPr>
            <p:cNvPicPr>
              <a:picLocks noChangeAspect="1"/>
            </p:cNvPicPr>
            <p:nvPr/>
          </p:nvPicPr>
          <p:blipFill>
            <a:blip r:embed="rId4">
              <a:duotone>
                <a:srgbClr val="765FFF"/>
                <a:srgbClr val="FFFFFF"/>
              </a:duotone>
            </a:blip>
            <a:srcRect/>
            <a:stretch/>
          </p:blipFill>
          <p:spPr>
            <a:xfrm>
              <a:off x="691537" y="3295916"/>
              <a:ext cx="587528" cy="569710"/>
            </a:xfrm>
            <a:prstGeom prst="rect">
              <a:avLst/>
            </a:prstGeom>
          </p:spPr>
        </p:pic>
      </p:grpSp>
      <p:grpSp>
        <p:nvGrpSpPr>
          <p:cNvPr id="2" name="Group 1">
            <a:extLst>
              <a:ext uri="{FF2B5EF4-FFF2-40B4-BE49-F238E27FC236}">
                <a16:creationId xmlns:a16="http://schemas.microsoft.com/office/drawing/2014/main" id="{01B9E2A7-02C8-F87A-CA69-BE9AF55BA71B}"/>
              </a:ext>
            </a:extLst>
          </p:cNvPr>
          <p:cNvGrpSpPr/>
          <p:nvPr/>
        </p:nvGrpSpPr>
        <p:grpSpPr>
          <a:xfrm>
            <a:off x="680818" y="3166584"/>
            <a:ext cx="9496115" cy="828123"/>
            <a:chOff x="680818" y="4129293"/>
            <a:chExt cx="7569378" cy="640080"/>
          </a:xfrm>
        </p:grpSpPr>
        <p:grpSp>
          <p:nvGrpSpPr>
            <p:cNvPr id="13" name="Group 12">
              <a:extLst>
                <a:ext uri="{FF2B5EF4-FFF2-40B4-BE49-F238E27FC236}">
                  <a16:creationId xmlns:a16="http://schemas.microsoft.com/office/drawing/2014/main" id="{31D4786C-B46C-CBA7-DD51-965089A9E12F}"/>
                </a:ext>
              </a:extLst>
            </p:cNvPr>
            <p:cNvGrpSpPr/>
            <p:nvPr/>
          </p:nvGrpSpPr>
          <p:grpSpPr>
            <a:xfrm>
              <a:off x="680818" y="4129293"/>
              <a:ext cx="7569378" cy="640080"/>
              <a:chOff x="680818" y="3254342"/>
              <a:chExt cx="7569378" cy="640080"/>
            </a:xfrm>
          </p:grpSpPr>
          <p:sp>
            <p:nvSpPr>
              <p:cNvPr id="14" name="Text Placeholder 2">
                <a:extLst>
                  <a:ext uri="{FF2B5EF4-FFF2-40B4-BE49-F238E27FC236}">
                    <a16:creationId xmlns:a16="http://schemas.microsoft.com/office/drawing/2014/main" id="{C4C26CD4-681E-8D62-A302-FBC98C429B27}"/>
                  </a:ext>
                </a:extLst>
              </p:cNvPr>
              <p:cNvSpPr txBox="1">
                <a:spLocks/>
              </p:cNvSpPr>
              <p:nvPr/>
            </p:nvSpPr>
            <p:spPr>
              <a:xfrm>
                <a:off x="1288241" y="3254342"/>
                <a:ext cx="6961955" cy="640080"/>
              </a:xfrm>
              <a:prstGeom prst="rect">
                <a:avLst/>
              </a:prstGeom>
              <a:solidFill>
                <a:srgbClr val="281A42"/>
              </a:solidFill>
            </p:spPr>
            <p:txBody>
              <a:bodyPr lIns="18288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spc="-10" dirty="0">
                    <a:solidFill>
                      <a:schemeClr val="bg1"/>
                    </a:solidFill>
                    <a:latin typeface="Arial" pitchFamily="34" charset="0"/>
                  </a:rPr>
                  <a:t>Successors should be evaluated using an evidence mosaic to ensure the best candidate for the future role is selected</a:t>
                </a:r>
              </a:p>
            </p:txBody>
          </p:sp>
          <p:sp>
            <p:nvSpPr>
              <p:cNvPr id="15" name="Rectangle 14">
                <a:extLst>
                  <a:ext uri="{FF2B5EF4-FFF2-40B4-BE49-F238E27FC236}">
                    <a16:creationId xmlns:a16="http://schemas.microsoft.com/office/drawing/2014/main" id="{72DC716B-3AB8-D819-A4A1-D84486D2C891}"/>
                  </a:ext>
                </a:extLst>
              </p:cNvPr>
              <p:cNvSpPr/>
              <p:nvPr/>
            </p:nvSpPr>
            <p:spPr>
              <a:xfrm>
                <a:off x="680818" y="3254342"/>
                <a:ext cx="607423" cy="64008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solidFill>
                    <a:schemeClr val="bg1"/>
                  </a:solidFill>
                  <a:latin typeface="Arial" pitchFamily="34" charset="0"/>
                </a:endParaRPr>
              </a:p>
            </p:txBody>
          </p:sp>
        </p:grpSp>
        <p:pic>
          <p:nvPicPr>
            <p:cNvPr id="19" name="Graphic 18" descr="Target Audience with solid fill">
              <a:extLst>
                <a:ext uri="{FF2B5EF4-FFF2-40B4-BE49-F238E27FC236}">
                  <a16:creationId xmlns:a16="http://schemas.microsoft.com/office/drawing/2014/main" id="{F1C0DBD1-DF9C-BFD0-6369-D86ABE2ABA3C}"/>
                </a:ext>
              </a:extLst>
            </p:cNvPr>
            <p:cNvPicPr>
              <a:picLocks noChangeAspect="1"/>
            </p:cNvPicPr>
            <p:nvPr/>
          </p:nvPicPr>
          <p:blipFill>
            <a:blip r:embed="rId5">
              <a:duotone>
                <a:srgbClr val="765FFF"/>
                <a:srgbClr val="FFFFFF"/>
              </a:duotone>
            </a:blip>
            <a:srcRect/>
            <a:stretch/>
          </p:blipFill>
          <p:spPr>
            <a:xfrm>
              <a:off x="700714" y="4163499"/>
              <a:ext cx="567632" cy="550417"/>
            </a:xfrm>
            <a:prstGeom prst="rect">
              <a:avLst/>
            </a:prstGeom>
          </p:spPr>
        </p:pic>
      </p:grpSp>
      <p:grpSp>
        <p:nvGrpSpPr>
          <p:cNvPr id="5" name="Group 4">
            <a:extLst>
              <a:ext uri="{FF2B5EF4-FFF2-40B4-BE49-F238E27FC236}">
                <a16:creationId xmlns:a16="http://schemas.microsoft.com/office/drawing/2014/main" id="{754F3A18-2F76-D772-2970-B7167BC3D64D}"/>
              </a:ext>
            </a:extLst>
          </p:cNvPr>
          <p:cNvGrpSpPr/>
          <p:nvPr/>
        </p:nvGrpSpPr>
        <p:grpSpPr>
          <a:xfrm>
            <a:off x="680818" y="4284832"/>
            <a:ext cx="9496115" cy="828123"/>
            <a:chOff x="680818" y="4982994"/>
            <a:chExt cx="7569378" cy="640080"/>
          </a:xfrm>
        </p:grpSpPr>
        <p:grpSp>
          <p:nvGrpSpPr>
            <p:cNvPr id="16" name="Group 15">
              <a:extLst>
                <a:ext uri="{FF2B5EF4-FFF2-40B4-BE49-F238E27FC236}">
                  <a16:creationId xmlns:a16="http://schemas.microsoft.com/office/drawing/2014/main" id="{BBBA5A34-73DC-F93E-0D56-953D7E69BFBE}"/>
                </a:ext>
              </a:extLst>
            </p:cNvPr>
            <p:cNvGrpSpPr/>
            <p:nvPr/>
          </p:nvGrpSpPr>
          <p:grpSpPr>
            <a:xfrm>
              <a:off x="680818" y="4982994"/>
              <a:ext cx="7569378" cy="640080"/>
              <a:chOff x="680818" y="3254342"/>
              <a:chExt cx="7569378" cy="640080"/>
            </a:xfrm>
          </p:grpSpPr>
          <p:sp>
            <p:nvSpPr>
              <p:cNvPr id="17" name="Text Placeholder 2">
                <a:extLst>
                  <a:ext uri="{FF2B5EF4-FFF2-40B4-BE49-F238E27FC236}">
                    <a16:creationId xmlns:a16="http://schemas.microsoft.com/office/drawing/2014/main" id="{C252385C-8F5F-A2D3-3F17-E11693C6E978}"/>
                  </a:ext>
                </a:extLst>
              </p:cNvPr>
              <p:cNvSpPr txBox="1">
                <a:spLocks/>
              </p:cNvSpPr>
              <p:nvPr/>
            </p:nvSpPr>
            <p:spPr>
              <a:xfrm>
                <a:off x="1288241" y="3254342"/>
                <a:ext cx="6961955" cy="640080"/>
              </a:xfrm>
              <a:prstGeom prst="rect">
                <a:avLst/>
              </a:prstGeom>
              <a:solidFill>
                <a:srgbClr val="281A42"/>
              </a:solidFill>
            </p:spPr>
            <p:txBody>
              <a:bodyPr lIns="18288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spc="-10">
                    <a:solidFill>
                      <a:schemeClr val="bg1"/>
                    </a:solidFill>
                    <a:latin typeface="Arial" pitchFamily="34" charset="0"/>
                  </a:rPr>
                  <a:t>Rigorous, muti-point, evidence-based comparison of candidate slate will drive recommendation and trade-offs across the slate (Be Risk-Seeking)</a:t>
                </a:r>
                <a:endParaRPr lang="en-US" sz="1600" spc="-10">
                  <a:solidFill>
                    <a:schemeClr val="bg1"/>
                  </a:solidFill>
                  <a:latin typeface="Arial" pitchFamily="34" charset="0"/>
                </a:endParaRPr>
              </a:p>
            </p:txBody>
          </p:sp>
          <p:sp>
            <p:nvSpPr>
              <p:cNvPr id="18" name="Rectangle 17">
                <a:extLst>
                  <a:ext uri="{FF2B5EF4-FFF2-40B4-BE49-F238E27FC236}">
                    <a16:creationId xmlns:a16="http://schemas.microsoft.com/office/drawing/2014/main" id="{F27C4414-37A9-C5F5-BAEC-CD1035445E00}"/>
                  </a:ext>
                </a:extLst>
              </p:cNvPr>
              <p:cNvSpPr/>
              <p:nvPr/>
            </p:nvSpPr>
            <p:spPr>
              <a:xfrm>
                <a:off x="680818" y="3254342"/>
                <a:ext cx="607423" cy="64008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solidFill>
                    <a:schemeClr val="bg1"/>
                  </a:solidFill>
                  <a:latin typeface="Arial" pitchFamily="34" charset="0"/>
                </a:endParaRPr>
              </a:p>
            </p:txBody>
          </p:sp>
        </p:grpSp>
        <p:pic>
          <p:nvPicPr>
            <p:cNvPr id="3" name="Graphic 2" descr="Person with idea with solid fill">
              <a:extLst>
                <a:ext uri="{FF2B5EF4-FFF2-40B4-BE49-F238E27FC236}">
                  <a16:creationId xmlns:a16="http://schemas.microsoft.com/office/drawing/2014/main" id="{C8424BCC-53A7-B775-08E2-63111FDAFF52}"/>
                </a:ext>
              </a:extLst>
            </p:cNvPr>
            <p:cNvPicPr>
              <a:picLocks noChangeAspect="1"/>
            </p:cNvPicPr>
            <p:nvPr/>
          </p:nvPicPr>
          <p:blipFill>
            <a:blip r:embed="rId6">
              <a:duotone>
                <a:srgbClr val="765FFF"/>
                <a:srgbClr val="FFFFFF"/>
              </a:duotone>
            </a:blip>
            <a:stretch>
              <a:fillRect/>
            </a:stretch>
          </p:blipFill>
          <p:spPr>
            <a:xfrm>
              <a:off x="730452" y="5028714"/>
              <a:ext cx="548640" cy="548640"/>
            </a:xfrm>
            <a:prstGeom prst="rect">
              <a:avLst/>
            </a:prstGeom>
          </p:spPr>
        </p:pic>
      </p:grpSp>
      <p:grpSp>
        <p:nvGrpSpPr>
          <p:cNvPr id="6" name="Group 5">
            <a:extLst>
              <a:ext uri="{FF2B5EF4-FFF2-40B4-BE49-F238E27FC236}">
                <a16:creationId xmlns:a16="http://schemas.microsoft.com/office/drawing/2014/main" id="{F329BC8E-1340-5CC1-4631-282FED3ED669}"/>
              </a:ext>
            </a:extLst>
          </p:cNvPr>
          <p:cNvGrpSpPr/>
          <p:nvPr/>
        </p:nvGrpSpPr>
        <p:grpSpPr>
          <a:xfrm>
            <a:off x="10403235" y="201614"/>
            <a:ext cx="410690" cy="410700"/>
            <a:chOff x="3506617" y="2730959"/>
            <a:chExt cx="1591098" cy="1591098"/>
          </a:xfrm>
        </p:grpSpPr>
        <p:sp>
          <p:nvSpPr>
            <p:cNvPr id="20" name="Rectangle: Rounded Corners 39">
              <a:extLst>
                <a:ext uri="{FF2B5EF4-FFF2-40B4-BE49-F238E27FC236}">
                  <a16:creationId xmlns:a16="http://schemas.microsoft.com/office/drawing/2014/main" id="{AD8E3EB0-43D7-2233-CC4C-9A82F975C52C}"/>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1" name="Rectangle: Rounded Corners 54">
              <a:extLst>
                <a:ext uri="{FF2B5EF4-FFF2-40B4-BE49-F238E27FC236}">
                  <a16:creationId xmlns:a16="http://schemas.microsoft.com/office/drawing/2014/main" id="{33060784-693B-8A06-0D82-9B6A07FA0A93}"/>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2" name="Freeform 56" descr="Clipboard Partially Checked with solid fill">
              <a:extLst>
                <a:ext uri="{FF2B5EF4-FFF2-40B4-BE49-F238E27FC236}">
                  <a16:creationId xmlns:a16="http://schemas.microsoft.com/office/drawing/2014/main" id="{A8476117-BEB8-126B-F1BC-37ED6FC08D1D}"/>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7"/>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23" name="Group 22">
            <a:extLst>
              <a:ext uri="{FF2B5EF4-FFF2-40B4-BE49-F238E27FC236}">
                <a16:creationId xmlns:a16="http://schemas.microsoft.com/office/drawing/2014/main" id="{7C227E61-93FC-B8E0-47FA-F73F83742CF0}"/>
              </a:ext>
            </a:extLst>
          </p:cNvPr>
          <p:cNvGrpSpPr/>
          <p:nvPr/>
        </p:nvGrpSpPr>
        <p:grpSpPr>
          <a:xfrm>
            <a:off x="11557682" y="191038"/>
            <a:ext cx="410690" cy="410700"/>
            <a:chOff x="8874309" y="3009260"/>
            <a:chExt cx="1591098" cy="1591098"/>
          </a:xfrm>
        </p:grpSpPr>
        <p:grpSp>
          <p:nvGrpSpPr>
            <p:cNvPr id="24" name="Group 23">
              <a:extLst>
                <a:ext uri="{FF2B5EF4-FFF2-40B4-BE49-F238E27FC236}">
                  <a16:creationId xmlns:a16="http://schemas.microsoft.com/office/drawing/2014/main" id="{44B6850B-6BC5-D82E-9342-0CBFB3E54A84}"/>
                </a:ext>
              </a:extLst>
            </p:cNvPr>
            <p:cNvGrpSpPr/>
            <p:nvPr/>
          </p:nvGrpSpPr>
          <p:grpSpPr>
            <a:xfrm>
              <a:off x="8874309" y="3009260"/>
              <a:ext cx="1591098" cy="1591098"/>
              <a:chOff x="9350370" y="2760976"/>
              <a:chExt cx="1591098" cy="1591098"/>
            </a:xfrm>
          </p:grpSpPr>
          <p:sp>
            <p:nvSpPr>
              <p:cNvPr id="26" name="Rectangle: Rounded Corners 39">
                <a:extLst>
                  <a:ext uri="{FF2B5EF4-FFF2-40B4-BE49-F238E27FC236}">
                    <a16:creationId xmlns:a16="http://schemas.microsoft.com/office/drawing/2014/main" id="{0E1F8950-7143-1FCA-4B6D-8D68B56B7B26}"/>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7" name="Rectangle: Rounded Corners 54">
                <a:extLst>
                  <a:ext uri="{FF2B5EF4-FFF2-40B4-BE49-F238E27FC236}">
                    <a16:creationId xmlns:a16="http://schemas.microsoft.com/office/drawing/2014/main" id="{C35ABEF1-C1FE-C130-8351-59EC4E93DDAF}"/>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5" name="Picture 51" descr="Map with pin with solid fill">
              <a:extLst>
                <a:ext uri="{FF2B5EF4-FFF2-40B4-BE49-F238E27FC236}">
                  <a16:creationId xmlns:a16="http://schemas.microsoft.com/office/drawing/2014/main" id="{3A03C524-DCF7-3BF2-5FFB-13FFAC8EA197}"/>
                </a:ext>
              </a:extLst>
            </p:cNvPr>
            <p:cNvPicPr>
              <a:picLocks noChangeAspect="1"/>
            </p:cNvPicPr>
            <p:nvPr/>
          </p:nvPicPr>
          <p:blipFill>
            <a:blip r:embed="rId8">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8" name="Group 27">
            <a:extLst>
              <a:ext uri="{FF2B5EF4-FFF2-40B4-BE49-F238E27FC236}">
                <a16:creationId xmlns:a16="http://schemas.microsoft.com/office/drawing/2014/main" id="{739FE3B8-2F09-1030-4B2B-784CB3AF0E28}"/>
              </a:ext>
            </a:extLst>
          </p:cNvPr>
          <p:cNvGrpSpPr/>
          <p:nvPr/>
        </p:nvGrpSpPr>
        <p:grpSpPr>
          <a:xfrm>
            <a:off x="10997361" y="200955"/>
            <a:ext cx="410690" cy="410700"/>
            <a:chOff x="5303120" y="3009260"/>
            <a:chExt cx="1591098" cy="1591098"/>
          </a:xfrm>
        </p:grpSpPr>
        <p:grpSp>
          <p:nvGrpSpPr>
            <p:cNvPr id="29" name="Group 28">
              <a:extLst>
                <a:ext uri="{FF2B5EF4-FFF2-40B4-BE49-F238E27FC236}">
                  <a16:creationId xmlns:a16="http://schemas.microsoft.com/office/drawing/2014/main" id="{E52B48EA-76B3-E9C0-BC4B-EB4097F1DD32}"/>
                </a:ext>
              </a:extLst>
            </p:cNvPr>
            <p:cNvGrpSpPr/>
            <p:nvPr/>
          </p:nvGrpSpPr>
          <p:grpSpPr>
            <a:xfrm>
              <a:off x="5303120" y="3009260"/>
              <a:ext cx="1591098" cy="1591098"/>
              <a:chOff x="6428492" y="2760976"/>
              <a:chExt cx="1591098" cy="1591098"/>
            </a:xfrm>
          </p:grpSpPr>
          <p:sp>
            <p:nvSpPr>
              <p:cNvPr id="33" name="Rectangle: Rounded Corners 39">
                <a:extLst>
                  <a:ext uri="{FF2B5EF4-FFF2-40B4-BE49-F238E27FC236}">
                    <a16:creationId xmlns:a16="http://schemas.microsoft.com/office/drawing/2014/main" id="{9EAAAF2F-CE4B-F574-A217-1F31EC3DE372}"/>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4" name="Rectangle: Rounded Corners 54">
                <a:extLst>
                  <a:ext uri="{FF2B5EF4-FFF2-40B4-BE49-F238E27FC236}">
                    <a16:creationId xmlns:a16="http://schemas.microsoft.com/office/drawing/2014/main" id="{BC0FAF08-A732-78C3-80A3-EF5C6D7AE19E}"/>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2" name="Graphic 31" descr="Target Audience with solid fill">
              <a:extLst>
                <a:ext uri="{FF2B5EF4-FFF2-40B4-BE49-F238E27FC236}">
                  <a16:creationId xmlns:a16="http://schemas.microsoft.com/office/drawing/2014/main" id="{4558A69A-49F7-46C1-00E4-85EB9BF3FDDD}"/>
                </a:ext>
              </a:extLst>
            </p:cNvPr>
            <p:cNvPicPr>
              <a:picLocks noChangeAspect="1"/>
            </p:cNvPicPr>
            <p:nvPr/>
          </p:nvPicPr>
          <p:blipFill>
            <a:blip r:embed="rId9">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5" name="TextBox 34">
            <a:extLst>
              <a:ext uri="{FF2B5EF4-FFF2-40B4-BE49-F238E27FC236}">
                <a16:creationId xmlns:a16="http://schemas.microsoft.com/office/drawing/2014/main" id="{AFC5026E-5994-F48A-8CD4-3F212C02DF33}"/>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6" name="TextBox 35">
            <a:extLst>
              <a:ext uri="{FF2B5EF4-FFF2-40B4-BE49-F238E27FC236}">
                <a16:creationId xmlns:a16="http://schemas.microsoft.com/office/drawing/2014/main" id="{D9208FA0-AB36-120B-67D4-15395FB1E358}"/>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7" name="TextBox 36">
            <a:extLst>
              <a:ext uri="{FF2B5EF4-FFF2-40B4-BE49-F238E27FC236}">
                <a16:creationId xmlns:a16="http://schemas.microsoft.com/office/drawing/2014/main" id="{91734E74-8AA1-C391-11F6-C03A08BDBAA1}"/>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8" name="Rectangle 37">
            <a:extLst>
              <a:ext uri="{FF2B5EF4-FFF2-40B4-BE49-F238E27FC236}">
                <a16:creationId xmlns:a16="http://schemas.microsoft.com/office/drawing/2014/main" id="{A0F0A521-B648-8487-A6B3-F9FBC13C45D0}"/>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p>
        </p:txBody>
      </p:sp>
      <p:sp>
        <p:nvSpPr>
          <p:cNvPr id="39" name="Rectangle 38">
            <a:extLst>
              <a:ext uri="{FF2B5EF4-FFF2-40B4-BE49-F238E27FC236}">
                <a16:creationId xmlns:a16="http://schemas.microsoft.com/office/drawing/2014/main" id="{F7B997F0-D16D-1027-9F2F-B2B3C91C14A3}"/>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p>
        </p:txBody>
      </p:sp>
      <p:sp>
        <p:nvSpPr>
          <p:cNvPr id="40"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46</a:t>
            </a:fld>
            <a:endParaRPr lang="en-US"/>
          </a:p>
        </p:txBody>
      </p:sp>
      <p:sp>
        <p:nvSpPr>
          <p:cNvPr id="4" name="Text Placeholder 1">
            <a:extLst>
              <a:ext uri="{FF2B5EF4-FFF2-40B4-BE49-F238E27FC236}">
                <a16:creationId xmlns:a16="http://schemas.microsoft.com/office/drawing/2014/main" id="{E52B4216-CD2D-6884-78B0-19BF74DC1AC7}"/>
              </a:ext>
            </a:extLst>
          </p:cNvPr>
          <p:cNvSpPr>
            <a:spLocks noGrp="1"/>
          </p:cNvSpPr>
          <p:nvPr>
            <p:ph type="title" sz="quarter"/>
          </p:nvPr>
        </p:nvSpPr>
        <p:spPr>
          <a:xfrm>
            <a:off x="432000" y="432001"/>
            <a:ext cx="11328000" cy="736400"/>
          </a:xfrm>
        </p:spPr>
        <p:txBody>
          <a:bodyPr/>
          <a:lstStyle/>
          <a:p>
            <a:r>
              <a:rPr lang="en-US" b="1" spc="-25" dirty="0">
                <a:latin typeface="Segoe UI" pitchFamily="34" charset="0"/>
              </a:rPr>
              <a:t>/ASSESS SUMMARY</a:t>
            </a:r>
          </a:p>
        </p:txBody>
      </p:sp>
    </p:spTree>
    <p:extLst>
      <p:ext uri="{BB962C8B-B14F-4D97-AF65-F5344CB8AC3E}">
        <p14:creationId xmlns:p14="http://schemas.microsoft.com/office/powerpoint/2010/main" val="2562658599"/>
      </p:ext>
    </p:extLst>
  </p:cSld>
  <p:clrMapOvr>
    <a:masterClrMapping/>
  </p:clrMapOvr>
  <p:extLst>
    <p:ext uri="{6950BFC3-D8DA-4A85-94F7-54DA5524770B}">
      <p188:commentRel xmlns:p188="http://schemas.microsoft.com/office/powerpoint/2018/8/main" r:id="rId3"/>
    </p:ext>
  </p:extLs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41164-BD23-B726-0C6A-E7186AB30F1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CCF19B0-2EDB-3811-5AF6-C45AB8ED41DA}"/>
              </a:ext>
            </a:extLst>
          </p:cNvPr>
          <p:cNvSpPr/>
          <p:nvPr/>
        </p:nvSpPr>
        <p:spPr>
          <a:xfrm>
            <a:off x="-1" y="1705070"/>
            <a:ext cx="8951119" cy="3413030"/>
          </a:xfrm>
          <a:prstGeom prst="rect">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 name="Rectangle 1">
            <a:extLst>
              <a:ext uri="{FF2B5EF4-FFF2-40B4-BE49-F238E27FC236}">
                <a16:creationId xmlns:a16="http://schemas.microsoft.com/office/drawing/2014/main" id="{4ADAA821-D946-D3DF-33C5-7AF7CE1E924B}"/>
              </a:ext>
            </a:extLst>
          </p:cNvPr>
          <p:cNvSpPr/>
          <p:nvPr/>
        </p:nvSpPr>
        <p:spPr>
          <a:xfrm>
            <a:off x="0" y="2174970"/>
            <a:ext cx="6388100" cy="24605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 name="Text Placeholder 1">
            <a:extLst>
              <a:ext uri="{FF2B5EF4-FFF2-40B4-BE49-F238E27FC236}">
                <a16:creationId xmlns:a16="http://schemas.microsoft.com/office/drawing/2014/main" id="{5329981A-ED93-9E31-49EC-C3194779F5A0}"/>
              </a:ext>
            </a:extLst>
          </p:cNvPr>
          <p:cNvSpPr txBox="1">
            <a:spLocks/>
          </p:cNvSpPr>
          <p:nvPr/>
        </p:nvSpPr>
        <p:spPr>
          <a:xfrm>
            <a:off x="283392" y="2032000"/>
            <a:ext cx="8467702" cy="2806700"/>
          </a:xfrm>
          <a:prstGeom prst="rect">
            <a:avLst/>
          </a:prstGeom>
        </p:spPr>
        <p:txBody>
          <a:bodyPr lIns="91440" tIns="45720" rIns="91440" bIns="45720"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spc="-10">
                <a:solidFill>
                  <a:schemeClr val="tx1"/>
                </a:solidFill>
                <a:latin typeface="Arial" pitchFamily="34"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spc="-10">
                <a:solidFill>
                  <a:schemeClr val="tx1"/>
                </a:solidFill>
                <a:latin typeface="Arial" pitchFamily="34"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10">
                <a:solidFill>
                  <a:schemeClr val="tx1"/>
                </a:solidFill>
                <a:latin typeface="Arial" pitchFamily="34"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6000" b="1" spc="-10">
                <a:solidFill>
                  <a:schemeClr val="bg1"/>
                </a:solidFill>
                <a:latin typeface="Segoe UI" pitchFamily="34" charset="0"/>
                <a:ea typeface="Lato ExtraLight"/>
                <a:cs typeface="Lato ExtraLight"/>
              </a:rPr>
              <a:t>Succession To Value™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6000" b="1" spc="-10">
                <a:solidFill>
                  <a:schemeClr val="bg1"/>
                </a:solidFill>
                <a:latin typeface="Segoe UI" pitchFamily="34" charset="0"/>
                <a:ea typeface="Lato ExtraLight"/>
                <a:cs typeface="Lato ExtraLight"/>
              </a:rPr>
              <a:t>/MOBILIZE</a:t>
            </a:r>
            <a:endParaRPr lang="en-US" sz="6000" b="1" spc="-10">
              <a:solidFill>
                <a:schemeClr val="bg1"/>
              </a:solidFill>
              <a:latin typeface="Segoe UI" pitchFamily="34" charset="0"/>
              <a:ea typeface="Lato ExtraLight" panose="020B0604020202020204" pitchFamily="34" charset="0"/>
              <a:cs typeface="Lato ExtraLight" panose="020B0604020202020204" pitchFamily="34" charset="0"/>
            </a:endParaRPr>
          </a:p>
        </p:txBody>
      </p:sp>
      <p:sp>
        <p:nvSpPr>
          <p:cNvPr id="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47</a:t>
            </a:fld>
            <a:endParaRPr lang="en-US"/>
          </a:p>
        </p:txBody>
      </p:sp>
    </p:spTree>
    <p:extLst>
      <p:ext uri="{BB962C8B-B14F-4D97-AF65-F5344CB8AC3E}">
        <p14:creationId xmlns:p14="http://schemas.microsoft.com/office/powerpoint/2010/main" val="26156711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253B1-9CD7-0162-73F7-4A82222E461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65444CC-D79D-53FC-7BB0-0C9F2CE516B6}"/>
              </a:ext>
            </a:extLst>
          </p:cNvPr>
          <p:cNvSpPr>
            <a:spLocks noGrp="1"/>
          </p:cNvSpPr>
          <p:nvPr>
            <p:ph type="title" sz="quarter"/>
          </p:nvPr>
        </p:nvSpPr>
        <p:spPr/>
        <p:txBody>
          <a:bodyPr/>
          <a:lstStyle/>
          <a:p>
            <a:r>
              <a:rPr lang="en-US" b="1" spc="-25">
                <a:solidFill>
                  <a:schemeClr val="accent1"/>
                </a:solidFill>
                <a:ea typeface="Helvetica Neue" panose="02000503000000020004" pitchFamily="2" charset="0"/>
                <a:cs typeface="Helvetica Neue" panose="02000503000000020004" pitchFamily="2" charset="0"/>
              </a:rPr>
              <a:t>Succession to value™ </a:t>
            </a:r>
            <a:r>
              <a:rPr lang="en-US" b="1" spc="-25">
                <a:ea typeface="Helvetica Neue" panose="02000503000000020004" pitchFamily="2" charset="0"/>
                <a:cs typeface="Helvetica Neue" panose="02000503000000020004" pitchFamily="2" charset="0"/>
              </a:rPr>
              <a:t>methodology</a:t>
            </a:r>
          </a:p>
        </p:txBody>
      </p:sp>
      <p:sp>
        <p:nvSpPr>
          <p:cNvPr id="16" name="TextBox 15">
            <a:extLst>
              <a:ext uri="{FF2B5EF4-FFF2-40B4-BE49-F238E27FC236}">
                <a16:creationId xmlns:a16="http://schemas.microsoft.com/office/drawing/2014/main" id="{E3CB8CDF-2BB4-8650-E593-9F826E3DD12F}"/>
              </a:ext>
            </a:extLst>
          </p:cNvPr>
          <p:cNvSpPr txBox="1"/>
          <p:nvPr/>
        </p:nvSpPr>
        <p:spPr>
          <a:xfrm>
            <a:off x="1295935" y="4872860"/>
            <a:ext cx="2236467" cy="1224132"/>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10" normalizeH="0" baseline="0" noProof="0" dirty="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10" normalizeH="0" baseline="0" noProof="0" dirty="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rPr>
              <a:t>Future Jobs to be Done</a:t>
            </a:r>
          </a:p>
          <a:p>
            <a:pPr marL="0" marR="0" lvl="0" indent="0" algn="ctr" defTabSz="914377" rtl="0" eaLnBrk="1" fontAlgn="auto" latinLnBrk="0" hangingPunct="1">
              <a:spcAft>
                <a:spcPts val="600"/>
              </a:spcAft>
              <a:buClrTx/>
              <a:buSzTx/>
              <a:buFontTx/>
              <a:buNone/>
              <a:tabLst/>
              <a:defRPr/>
            </a:pPr>
            <a:r>
              <a:rPr lang="en-US" sz="1400" spc="-10" dirty="0">
                <a:solidFill>
                  <a:schemeClr val="tx1">
                    <a:lumMod val="50000"/>
                    <a:lumOff val="50000"/>
                  </a:schemeClr>
                </a:solidFill>
                <a:latin typeface="Arial" pitchFamily="34" charset="0"/>
                <a:ea typeface="Helvetica Neue" panose="02000503000000020004" pitchFamily="2" charset="0"/>
                <a:cs typeface="Helvetica Neue" panose="02000503000000020004" pitchFamily="2" charset="0"/>
              </a:rPr>
              <a:t>Risk Assessment</a:t>
            </a:r>
          </a:p>
          <a:p>
            <a:pPr marL="0" marR="0" lvl="0" indent="0" algn="ctr" defTabSz="914377" rtl="0" eaLnBrk="1" fontAlgn="auto" latinLnBrk="0" hangingPunct="1">
              <a:spcAft>
                <a:spcPts val="600"/>
              </a:spcAft>
              <a:buClrTx/>
              <a:buSzTx/>
              <a:buFontTx/>
              <a:buNone/>
              <a:tabLst/>
              <a:defRPr/>
            </a:pPr>
            <a:r>
              <a:rPr lang="en-US" sz="1400" i="0" u="none" strike="noStrike" kern="1200" cap="none" spc="-10" normalizeH="0" baseline="0" noProof="0" dirty="0">
                <a:ln>
                  <a:noFill/>
                </a:ln>
                <a:solidFill>
                  <a:schemeClr val="tx1">
                    <a:lumMod val="50000"/>
                    <a:lumOff val="50000"/>
                  </a:schemeClr>
                </a:solidFill>
                <a:effectLst/>
                <a:uLnTx/>
                <a:uFillTx/>
                <a:latin typeface="Arial" pitchFamily="34" charset="0"/>
                <a:ea typeface="Lato"/>
                <a:cs typeface="Lato"/>
              </a:rPr>
              <a:t>Superpowers</a:t>
            </a:r>
          </a:p>
        </p:txBody>
      </p:sp>
      <p:sp>
        <p:nvSpPr>
          <p:cNvPr id="17" name="TextBox 16">
            <a:extLst>
              <a:ext uri="{FF2B5EF4-FFF2-40B4-BE49-F238E27FC236}">
                <a16:creationId xmlns:a16="http://schemas.microsoft.com/office/drawing/2014/main" id="{8A4E29F8-792C-FFC2-9F24-180CA3A7897B}"/>
              </a:ext>
            </a:extLst>
          </p:cNvPr>
          <p:cNvSpPr txBox="1"/>
          <p:nvPr/>
        </p:nvSpPr>
        <p:spPr>
          <a:xfrm>
            <a:off x="1327065" y="1530777"/>
            <a:ext cx="2189619" cy="688342"/>
          </a:xfrm>
          <a:prstGeom prst="rect">
            <a:avLst/>
          </a:prstGeom>
          <a:noFill/>
        </p:spPr>
        <p:txBody>
          <a:bodyPr wrap="square" lIns="91440" tIns="45720" rIns="91440" bIns="45720" anchor="t">
            <a:noAutofit/>
          </a:bodyPr>
          <a:lstStyle/>
          <a:p>
            <a:pPr algn="ctr" defTabSz="914377">
              <a:lnSpc>
                <a:spcPct val="120000"/>
              </a:lnSpc>
              <a:defRPr/>
            </a:pPr>
            <a:r>
              <a:rPr lang="en-US" sz="2000" b="1" spc="-10">
                <a:solidFill>
                  <a:schemeClr val="tx1">
                    <a:lumMod val="50000"/>
                    <a:lumOff val="50000"/>
                  </a:schemeClr>
                </a:solidFill>
                <a:latin typeface="Segoe UI" pitchFamily="34" charset="0"/>
                <a:ea typeface="Helvetica Neue" panose="02000503000000020004" pitchFamily="2" charset="0"/>
                <a:cs typeface="Helvetica Neue" panose="02000503000000020004" pitchFamily="2" charset="0"/>
              </a:rPr>
              <a:t>/DEFINE</a:t>
            </a:r>
            <a:endParaRPr kumimoji="0" lang="en-US"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endParaRPr>
          </a:p>
        </p:txBody>
      </p:sp>
      <p:grpSp>
        <p:nvGrpSpPr>
          <p:cNvPr id="18" name="Group 17">
            <a:extLst>
              <a:ext uri="{FF2B5EF4-FFF2-40B4-BE49-F238E27FC236}">
                <a16:creationId xmlns:a16="http://schemas.microsoft.com/office/drawing/2014/main" id="{4AFB1544-E54C-2DC3-3EE0-A75A01F3AEB1}"/>
              </a:ext>
            </a:extLst>
          </p:cNvPr>
          <p:cNvGrpSpPr/>
          <p:nvPr/>
        </p:nvGrpSpPr>
        <p:grpSpPr>
          <a:xfrm>
            <a:off x="1621288" y="2979243"/>
            <a:ext cx="1591098" cy="1591098"/>
            <a:chOff x="3506617" y="2730959"/>
            <a:chExt cx="1591098" cy="1591098"/>
          </a:xfrm>
        </p:grpSpPr>
        <p:sp>
          <p:nvSpPr>
            <p:cNvPr id="19" name="Rectangle: Rounded Corners 39">
              <a:extLst>
                <a:ext uri="{FF2B5EF4-FFF2-40B4-BE49-F238E27FC236}">
                  <a16:creationId xmlns:a16="http://schemas.microsoft.com/office/drawing/2014/main" id="{083DE11E-D590-88B2-1B15-C27177AE59C4}"/>
                </a:ext>
              </a:extLst>
            </p:cNvPr>
            <p:cNvSpPr/>
            <p:nvPr/>
          </p:nvSpPr>
          <p:spPr>
            <a:xfrm>
              <a:off x="3506617" y="2730959"/>
              <a:ext cx="1591098" cy="1591098"/>
            </a:xfrm>
            <a:prstGeom prst="roundRect">
              <a:avLst>
                <a:gd name="adj" fmla="val 18019"/>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0" name="Rectangle: Rounded Corners 54">
              <a:extLst>
                <a:ext uri="{FF2B5EF4-FFF2-40B4-BE49-F238E27FC236}">
                  <a16:creationId xmlns:a16="http://schemas.microsoft.com/office/drawing/2014/main" id="{C0576042-6B3D-687D-A1B2-881512B45920}"/>
                </a:ext>
              </a:extLst>
            </p:cNvPr>
            <p:cNvSpPr/>
            <p:nvPr/>
          </p:nvSpPr>
          <p:spPr>
            <a:xfrm>
              <a:off x="3567977" y="279498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1" name="Freeform 56" descr="Clipboard Partially Checked with solid fill">
              <a:extLst>
                <a:ext uri="{FF2B5EF4-FFF2-40B4-BE49-F238E27FC236}">
                  <a16:creationId xmlns:a16="http://schemas.microsoft.com/office/drawing/2014/main" id="{81D1D3B8-64DD-8F6E-9D02-340C3883F522}"/>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tx1">
                    <a:lumMod val="50000"/>
                    <a:lumOff val="50000"/>
                  </a:schemeClr>
                </a:solidFill>
                <a:latin typeface="Arial" pitchFamily="34" charset="0"/>
                <a:ea typeface="Helvetica Neue" panose="02000503000000020004" pitchFamily="2" charset="0"/>
                <a:cs typeface="Helvetica Neue" panose="02000503000000020004" pitchFamily="2" charset="0"/>
              </a:endParaRPr>
            </a:p>
          </p:txBody>
        </p:sp>
      </p:grpSp>
      <p:sp>
        <p:nvSpPr>
          <p:cNvPr id="28" name="TextBox 27">
            <a:extLst>
              <a:ext uri="{FF2B5EF4-FFF2-40B4-BE49-F238E27FC236}">
                <a16:creationId xmlns:a16="http://schemas.microsoft.com/office/drawing/2014/main" id="{FDDDFF5E-ECF1-36EC-8C3F-66AD03BDE741}"/>
              </a:ext>
            </a:extLst>
          </p:cNvPr>
          <p:cNvSpPr txBox="1"/>
          <p:nvPr/>
        </p:nvSpPr>
        <p:spPr>
          <a:xfrm>
            <a:off x="8545175" y="4872858"/>
            <a:ext cx="2236467" cy="1224133"/>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10" normalizeH="0" baseline="0" noProof="0">
                <a:ln>
                  <a:noFill/>
                </a:ln>
                <a:effectLst/>
                <a:uLnTx/>
                <a:uFillTx/>
                <a:latin typeface="Segoe UI"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rPr>
              <a:t>Development Plan</a:t>
            </a:r>
            <a:br>
              <a:rPr lang="en-US" sz="1400" spc="-10">
                <a:latin typeface="Arial" pitchFamily="34" charset="0"/>
                <a:ea typeface="Lato"/>
                <a:cs typeface="Lato"/>
              </a:rPr>
            </a:br>
            <a:endParaRPr lang="en-US" sz="1400" i="0" u="none" strike="noStrike" kern="1200" cap="none" spc="-10" normalizeH="0" baseline="0" noProof="0">
              <a:ln>
                <a:noFill/>
              </a:ln>
              <a:effectLst/>
              <a:uLnTx/>
              <a:uFillTx/>
              <a:latin typeface="Arial" pitchFamily="34" charset="0"/>
              <a:ea typeface="Lato"/>
              <a:cs typeface="Lato"/>
            </a:endParaRPr>
          </a:p>
        </p:txBody>
      </p:sp>
      <p:sp>
        <p:nvSpPr>
          <p:cNvPr id="29" name="TextBox 28">
            <a:extLst>
              <a:ext uri="{FF2B5EF4-FFF2-40B4-BE49-F238E27FC236}">
                <a16:creationId xmlns:a16="http://schemas.microsoft.com/office/drawing/2014/main" id="{CAA645A2-0FFE-7F3C-36BC-8AC0730266A4}"/>
              </a:ext>
            </a:extLst>
          </p:cNvPr>
          <p:cNvSpPr txBox="1"/>
          <p:nvPr/>
        </p:nvSpPr>
        <p:spPr>
          <a:xfrm>
            <a:off x="8572377" y="1543164"/>
            <a:ext cx="2189619" cy="688342"/>
          </a:xfrm>
          <a:prstGeom prst="rect">
            <a:avLst/>
          </a:prstGeom>
          <a:noFill/>
        </p:spPr>
        <p:txBody>
          <a:bodyPr wrap="square" lIns="91440" tIns="45720" rIns="91440" bIns="45720" anchor="t">
            <a:noAutofit/>
          </a:bodyPr>
          <a:lstStyle/>
          <a:p>
            <a:pPr algn="ctr" defTabSz="914377">
              <a:lnSpc>
                <a:spcPct val="120000"/>
              </a:lnSpc>
              <a:defRPr/>
            </a:pPr>
            <a:r>
              <a:rPr kumimoji="0" lang="en-US" sz="2000" b="1" i="0" u="none" strike="noStrike" kern="1200" cap="none" spc="-10" normalizeH="0" baseline="0" noProof="0">
                <a:ln>
                  <a:noFill/>
                </a:ln>
                <a:solidFill>
                  <a:schemeClr val="accent1"/>
                </a:solidFill>
                <a:effectLst/>
                <a:uLnTx/>
                <a:uFillTx/>
                <a:latin typeface="Segoe UI" pitchFamily="34" charset="0"/>
                <a:ea typeface="Helvetica Neue" panose="02000503000000020004" pitchFamily="2" charset="0"/>
                <a:cs typeface="Helvetica Neue" panose="02000503000000020004" pitchFamily="2" charset="0"/>
              </a:rPr>
              <a:t>/MOBILIZE</a:t>
            </a:r>
            <a:endParaRPr kumimoji="0" lang="en-US" b="1" i="0" u="none" strike="noStrike" kern="1200" cap="none" spc="-10" normalizeH="0" baseline="0" noProof="0">
              <a:ln>
                <a:noFill/>
              </a:ln>
              <a:solidFill>
                <a:schemeClr val="accent1"/>
              </a:solidFill>
              <a:effectLst/>
              <a:uLnTx/>
              <a:uFillTx/>
              <a:latin typeface="Segoe UI" pitchFamily="34" charset="0"/>
              <a:ea typeface="Helvetica Neue" panose="02000503000000020004" pitchFamily="2" charset="0"/>
              <a:cs typeface="Helvetica Neue" panose="02000503000000020004" pitchFamily="2" charset="0"/>
            </a:endParaRPr>
          </a:p>
        </p:txBody>
      </p:sp>
      <p:grpSp>
        <p:nvGrpSpPr>
          <p:cNvPr id="24" name="Group 23">
            <a:extLst>
              <a:ext uri="{FF2B5EF4-FFF2-40B4-BE49-F238E27FC236}">
                <a16:creationId xmlns:a16="http://schemas.microsoft.com/office/drawing/2014/main" id="{74175D69-CF38-64DB-3AAB-7F3979EAFA02}"/>
              </a:ext>
            </a:extLst>
          </p:cNvPr>
          <p:cNvGrpSpPr/>
          <p:nvPr/>
        </p:nvGrpSpPr>
        <p:grpSpPr>
          <a:xfrm>
            <a:off x="8874309" y="3009260"/>
            <a:ext cx="1591098" cy="1591098"/>
            <a:chOff x="8874309" y="3009260"/>
            <a:chExt cx="1591098" cy="1591098"/>
          </a:xfrm>
        </p:grpSpPr>
        <p:grpSp>
          <p:nvGrpSpPr>
            <p:cNvPr id="33" name="Group 32">
              <a:extLst>
                <a:ext uri="{FF2B5EF4-FFF2-40B4-BE49-F238E27FC236}">
                  <a16:creationId xmlns:a16="http://schemas.microsoft.com/office/drawing/2014/main" id="{A81915DA-C2DD-14D7-B304-2BD46BAACC75}"/>
                </a:ext>
              </a:extLst>
            </p:cNvPr>
            <p:cNvGrpSpPr/>
            <p:nvPr/>
          </p:nvGrpSpPr>
          <p:grpSpPr>
            <a:xfrm>
              <a:off x="8874309" y="3009260"/>
              <a:ext cx="1591098" cy="1591098"/>
              <a:chOff x="9350370" y="2760976"/>
              <a:chExt cx="1591098" cy="1591098"/>
            </a:xfrm>
          </p:grpSpPr>
          <p:sp>
            <p:nvSpPr>
              <p:cNvPr id="37" name="Rectangle: Rounded Corners 39">
                <a:extLst>
                  <a:ext uri="{FF2B5EF4-FFF2-40B4-BE49-F238E27FC236}">
                    <a16:creationId xmlns:a16="http://schemas.microsoft.com/office/drawing/2014/main" id="{BEE8E6BA-D5CC-E981-EE0B-6844120741DA}"/>
                  </a:ext>
                </a:extLst>
              </p:cNvPr>
              <p:cNvSpPr/>
              <p:nvPr/>
            </p:nvSpPr>
            <p:spPr>
              <a:xfrm>
                <a:off x="9350370" y="2760976"/>
                <a:ext cx="1591098" cy="1591098"/>
              </a:xfrm>
              <a:prstGeom prst="roundRect">
                <a:avLst>
                  <a:gd name="adj" fmla="val 18019"/>
                </a:avLst>
              </a:prstGeom>
              <a:solidFill>
                <a:srgbClr val="2B3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8" name="Rectangle: Rounded Corners 54">
                <a:extLst>
                  <a:ext uri="{FF2B5EF4-FFF2-40B4-BE49-F238E27FC236}">
                    <a16:creationId xmlns:a16="http://schemas.microsoft.com/office/drawing/2014/main" id="{C1DB4631-C67E-A673-69B7-59CE99E2EAB8}"/>
                  </a:ext>
                </a:extLst>
              </p:cNvPr>
              <p:cNvSpPr/>
              <p:nvPr/>
            </p:nvSpPr>
            <p:spPr>
              <a:xfrm>
                <a:off x="9407949" y="2833096"/>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4" name="Picture 51" descr="Map with pin with solid fill">
              <a:extLst>
                <a:ext uri="{FF2B5EF4-FFF2-40B4-BE49-F238E27FC236}">
                  <a16:creationId xmlns:a16="http://schemas.microsoft.com/office/drawing/2014/main" id="{B8E2240A-CA35-9CAE-0710-54AC156E0567}"/>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sp>
        <p:nvSpPr>
          <p:cNvPr id="40" name="TextBox 39">
            <a:extLst>
              <a:ext uri="{FF2B5EF4-FFF2-40B4-BE49-F238E27FC236}">
                <a16:creationId xmlns:a16="http://schemas.microsoft.com/office/drawing/2014/main" id="{C1883FD5-B249-BFB3-89D4-73571A69A11D}"/>
              </a:ext>
            </a:extLst>
          </p:cNvPr>
          <p:cNvSpPr txBox="1"/>
          <p:nvPr/>
        </p:nvSpPr>
        <p:spPr>
          <a:xfrm>
            <a:off x="4851197" y="4872859"/>
            <a:ext cx="2497872" cy="1224133"/>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rPr>
              <a:t>Multi-point Evidence Mosaic</a:t>
            </a:r>
          </a:p>
          <a:p>
            <a:pPr marL="0" marR="0" lvl="0" indent="0" algn="ctr" defTabSz="914377" rtl="0" eaLnBrk="1" fontAlgn="auto" latinLnBrk="0" hangingPunct="1">
              <a:spcAft>
                <a:spcPts val="600"/>
              </a:spcAft>
              <a:buClrTx/>
              <a:buSzTx/>
              <a:buFontTx/>
              <a:buNone/>
              <a:tabLst/>
              <a:defRPr/>
            </a:pPr>
            <a:r>
              <a:rPr lang="en-US" sz="1400" spc="-10">
                <a:solidFill>
                  <a:schemeClr val="tx1">
                    <a:lumMod val="50000"/>
                    <a:lumOff val="50000"/>
                  </a:schemeClr>
                </a:solidFill>
                <a:latin typeface="Arial" pitchFamily="34" charset="0"/>
                <a:ea typeface="Lato"/>
                <a:cs typeface="Lato"/>
              </a:rPr>
              <a:t>Readiness Summary</a:t>
            </a:r>
          </a:p>
          <a:p>
            <a:pPr marL="0" marR="0" lvl="0" indent="0" algn="ctr" defTabSz="914377" rtl="0" eaLnBrk="1" fontAlgn="auto" latinLnBrk="0" hangingPunct="1">
              <a:spcAft>
                <a:spcPts val="600"/>
              </a:spcAft>
              <a:buClrTx/>
              <a:buSzTx/>
              <a:buFontTx/>
              <a:buNone/>
              <a:tabLst/>
              <a:defRPr/>
            </a:pPr>
            <a:r>
              <a:rPr lang="en-US" sz="1400" spc="-10">
                <a:solidFill>
                  <a:schemeClr val="tx1">
                    <a:lumMod val="50000"/>
                    <a:lumOff val="50000"/>
                  </a:schemeClr>
                </a:solidFill>
                <a:latin typeface="Arial" pitchFamily="34" charset="0"/>
                <a:ea typeface="Lato"/>
                <a:cs typeface="Lato"/>
              </a:rPr>
              <a:t>Pipeline Health Snapshot</a:t>
            </a:r>
            <a:br>
              <a:rPr lang="en-US" sz="1400" spc="-10">
                <a:solidFill>
                  <a:schemeClr val="tx1">
                    <a:lumMod val="50000"/>
                    <a:lumOff val="50000"/>
                  </a:schemeClr>
                </a:solidFill>
                <a:latin typeface="Arial" pitchFamily="34" charset="0"/>
                <a:ea typeface="Lato"/>
                <a:cs typeface="Lato"/>
              </a:rPr>
            </a:br>
            <a:br>
              <a:rPr lang="en-US" sz="1400" spc="-10">
                <a:solidFill>
                  <a:schemeClr val="tx1">
                    <a:lumMod val="50000"/>
                    <a:lumOff val="50000"/>
                  </a:schemeClr>
                </a:solidFill>
                <a:latin typeface="Arial" pitchFamily="34" charset="0"/>
                <a:ea typeface="Lato"/>
                <a:cs typeface="Lato"/>
              </a:rPr>
            </a:br>
            <a:endParaRPr lang="en-US" sz="1400" i="0" u="none" strike="noStrike" kern="1200" cap="none" spc="-10" normalizeH="0" baseline="0" noProof="0">
              <a:ln>
                <a:noFill/>
              </a:ln>
              <a:solidFill>
                <a:schemeClr val="tx1">
                  <a:lumMod val="50000"/>
                  <a:lumOff val="50000"/>
                </a:schemeClr>
              </a:solidFill>
              <a:effectLst/>
              <a:uLnTx/>
              <a:uFillTx/>
              <a:latin typeface="Arial" pitchFamily="34" charset="0"/>
              <a:ea typeface="Lato"/>
              <a:cs typeface="Lato"/>
            </a:endParaRPr>
          </a:p>
        </p:txBody>
      </p:sp>
      <p:sp>
        <p:nvSpPr>
          <p:cNvPr id="41" name="TextBox 40">
            <a:extLst>
              <a:ext uri="{FF2B5EF4-FFF2-40B4-BE49-F238E27FC236}">
                <a16:creationId xmlns:a16="http://schemas.microsoft.com/office/drawing/2014/main" id="{B38D81E4-E05A-A157-B8DB-37ABBB7C9030}"/>
              </a:ext>
            </a:extLst>
          </p:cNvPr>
          <p:cNvSpPr txBox="1"/>
          <p:nvPr/>
        </p:nvSpPr>
        <p:spPr>
          <a:xfrm>
            <a:off x="5010086" y="1549435"/>
            <a:ext cx="2189619" cy="647889"/>
          </a:xfrm>
          <a:prstGeom prst="rect">
            <a:avLst/>
          </a:prstGeom>
          <a:noFill/>
        </p:spPr>
        <p:txBody>
          <a:bodyPr wrap="square" lIns="91440" tIns="45720" rIns="91440" bIns="45720" anchor="t">
            <a:noAutofit/>
          </a:bodyPr>
          <a:lstStyle/>
          <a:p>
            <a:pPr algn="ctr" defTabSz="914377">
              <a:lnSpc>
                <a:spcPct val="120000"/>
              </a:lnSpc>
              <a:defRPr/>
            </a:pPr>
            <a:r>
              <a:rPr kumimoji="0" lang="en-US" sz="2000"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rPr>
              <a:t>/ASSESS</a:t>
            </a:r>
            <a:endParaRPr kumimoji="0" lang="en-US"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endParaRPr>
          </a:p>
        </p:txBody>
      </p:sp>
      <p:grpSp>
        <p:nvGrpSpPr>
          <p:cNvPr id="22" name="Group 21">
            <a:extLst>
              <a:ext uri="{FF2B5EF4-FFF2-40B4-BE49-F238E27FC236}">
                <a16:creationId xmlns:a16="http://schemas.microsoft.com/office/drawing/2014/main" id="{32E34CE0-D1C9-33FE-9E36-C1128080AD67}"/>
              </a:ext>
            </a:extLst>
          </p:cNvPr>
          <p:cNvGrpSpPr/>
          <p:nvPr/>
        </p:nvGrpSpPr>
        <p:grpSpPr>
          <a:xfrm>
            <a:off x="5303120" y="3009260"/>
            <a:ext cx="1591098" cy="1591098"/>
            <a:chOff x="5303120" y="3009260"/>
            <a:chExt cx="1591098" cy="1591098"/>
          </a:xfrm>
        </p:grpSpPr>
        <p:grpSp>
          <p:nvGrpSpPr>
            <p:cNvPr id="42" name="Group 41">
              <a:extLst>
                <a:ext uri="{FF2B5EF4-FFF2-40B4-BE49-F238E27FC236}">
                  <a16:creationId xmlns:a16="http://schemas.microsoft.com/office/drawing/2014/main" id="{3094C861-6C98-ADD0-61D6-6769A3CF6441}"/>
                </a:ext>
              </a:extLst>
            </p:cNvPr>
            <p:cNvGrpSpPr/>
            <p:nvPr/>
          </p:nvGrpSpPr>
          <p:grpSpPr>
            <a:xfrm>
              <a:off x="5303120" y="3009260"/>
              <a:ext cx="1591098" cy="1591098"/>
              <a:chOff x="6428492" y="2760976"/>
              <a:chExt cx="1591098" cy="1591098"/>
            </a:xfrm>
          </p:grpSpPr>
          <p:sp>
            <p:nvSpPr>
              <p:cNvPr id="44" name="Rectangle: Rounded Corners 39">
                <a:extLst>
                  <a:ext uri="{FF2B5EF4-FFF2-40B4-BE49-F238E27FC236}">
                    <a16:creationId xmlns:a16="http://schemas.microsoft.com/office/drawing/2014/main" id="{9439BBA1-41D0-71D9-2546-01FAAFF1D255}"/>
                  </a:ext>
                </a:extLst>
              </p:cNvPr>
              <p:cNvSpPr/>
              <p:nvPr/>
            </p:nvSpPr>
            <p:spPr>
              <a:xfrm>
                <a:off x="6428492" y="2760976"/>
                <a:ext cx="1591098" cy="1591098"/>
              </a:xfrm>
              <a:prstGeom prst="roundRect">
                <a:avLst>
                  <a:gd name="adj" fmla="val 18019"/>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7" name="Rectangle: Rounded Corners 54">
                <a:extLst>
                  <a:ext uri="{FF2B5EF4-FFF2-40B4-BE49-F238E27FC236}">
                    <a16:creationId xmlns:a16="http://schemas.microsoft.com/office/drawing/2014/main" id="{0089D8A7-745B-E2C6-8C42-AFFE8105333F}"/>
                  </a:ext>
                </a:extLst>
              </p:cNvPr>
              <p:cNvSpPr/>
              <p:nvPr/>
            </p:nvSpPr>
            <p:spPr>
              <a:xfrm>
                <a:off x="6498747"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3" name="Graphic 42" descr="Target Audience with solid fill">
              <a:extLst>
                <a:ext uri="{FF2B5EF4-FFF2-40B4-BE49-F238E27FC236}">
                  <a16:creationId xmlns:a16="http://schemas.microsoft.com/office/drawing/2014/main" id="{25470ABA-F8F8-085C-FCC9-8E5017B03BFD}"/>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50" name="TextBox 49">
            <a:extLst>
              <a:ext uri="{FF2B5EF4-FFF2-40B4-BE49-F238E27FC236}">
                <a16:creationId xmlns:a16="http://schemas.microsoft.com/office/drawing/2014/main" id="{6F0FAD6E-5BD8-D933-5F77-327D59F27C5B}"/>
              </a:ext>
            </a:extLst>
          </p:cNvPr>
          <p:cNvSpPr txBox="1"/>
          <p:nvPr/>
        </p:nvSpPr>
        <p:spPr>
          <a:xfrm>
            <a:off x="1111580" y="2280481"/>
            <a:ext cx="2559209" cy="613443"/>
          </a:xfrm>
          <a:prstGeom prst="rect">
            <a:avLst/>
          </a:prstGeom>
          <a:noFill/>
        </p:spPr>
        <p:txBody>
          <a:bodyPr wrap="square" lIns="91440" tIns="45720" rIns="91440" bIns="45720" anchor="t">
            <a:noAutofit/>
          </a:bodyPr>
          <a:lstStyle/>
          <a:p>
            <a:pPr algn="ctr" defTabSz="914377">
              <a:lnSpc>
                <a:spcPct val="120000"/>
              </a:lnSpc>
              <a:defRPr/>
            </a:pPr>
            <a:r>
              <a:rPr lang="en-US" sz="1400" spc="-10">
                <a:solidFill>
                  <a:schemeClr val="tx1">
                    <a:lumMod val="50000"/>
                    <a:lumOff val="50000"/>
                  </a:schemeClr>
                </a:solidFill>
                <a:latin typeface="Arial" pitchFamily="34" charset="0"/>
                <a:ea typeface="Helvetica Neue" panose="02000503000000020004" pitchFamily="2" charset="0"/>
                <a:cs typeface="Helvetica Neue" panose="02000503000000020004" pitchFamily="2" charset="0"/>
              </a:rPr>
              <a:t>What needs to be true in the future for the role to succeed?</a:t>
            </a:r>
            <a:endParaRPr kumimoji="0" lang="en-US" sz="140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3" name="TextBox 52">
            <a:extLst>
              <a:ext uri="{FF2B5EF4-FFF2-40B4-BE49-F238E27FC236}">
                <a16:creationId xmlns:a16="http://schemas.microsoft.com/office/drawing/2014/main" id="{768501C3-EDA5-39FD-B8A0-9B8EE41E8A9A}"/>
              </a:ext>
            </a:extLst>
          </p:cNvPr>
          <p:cNvSpPr txBox="1"/>
          <p:nvPr/>
        </p:nvSpPr>
        <p:spPr>
          <a:xfrm>
            <a:off x="4651629" y="2289376"/>
            <a:ext cx="2815130" cy="613443"/>
          </a:xfrm>
          <a:prstGeom prst="rect">
            <a:avLst/>
          </a:prstGeom>
          <a:noFill/>
        </p:spPr>
        <p:txBody>
          <a:bodyPr wrap="square" lIns="91440" tIns="45720" rIns="91440" bIns="45720" anchor="t">
            <a:noAutofit/>
          </a:bodyPr>
          <a:lstStyle/>
          <a:p>
            <a:pPr algn="ctr" defTabSz="914377">
              <a:lnSpc>
                <a:spcPct val="120000"/>
              </a:lnSpc>
              <a:defRPr/>
            </a:pPr>
            <a:r>
              <a:rPr lang="en-US" sz="1400" spc="-10">
                <a:solidFill>
                  <a:schemeClr val="tx1">
                    <a:lumMod val="50000"/>
                    <a:lumOff val="50000"/>
                  </a:schemeClr>
                </a:solidFill>
                <a:latin typeface="Arial" pitchFamily="34" charset="0"/>
                <a:ea typeface="Helvetica Neue" panose="02000503000000020004" pitchFamily="2" charset="0"/>
                <a:cs typeface="Helvetica Neue" panose="02000503000000020004" pitchFamily="2" charset="0"/>
              </a:rPr>
              <a:t>Are successors ready for the job? </a:t>
            </a:r>
            <a:r>
              <a:rPr lang="en-US" sz="1400" spc="-10">
                <a:solidFill>
                  <a:schemeClr val="tx1">
                    <a:lumMod val="50000"/>
                    <a:lumOff val="50000"/>
                  </a:schemeClr>
                </a:solidFill>
                <a:latin typeface="Arial" pitchFamily="34" charset="0"/>
                <a:ea typeface="Lato"/>
                <a:cs typeface="Lato"/>
              </a:rPr>
              <a:t>How ready are they?</a:t>
            </a:r>
            <a:br>
              <a:rPr lang="en-US" sz="1400" spc="-10">
                <a:solidFill>
                  <a:schemeClr val="tx1">
                    <a:lumMod val="50000"/>
                    <a:lumOff val="50000"/>
                  </a:schemeClr>
                </a:solidFill>
                <a:latin typeface="Arial" pitchFamily="34" charset="0"/>
                <a:ea typeface="Lato"/>
                <a:cs typeface="Lato"/>
              </a:rPr>
            </a:br>
            <a:endParaRPr lang="en-US" sz="1400" spc="-10">
              <a:solidFill>
                <a:schemeClr val="tx1">
                  <a:lumMod val="50000"/>
                  <a:lumOff val="50000"/>
                </a:schemeClr>
              </a:solidFill>
              <a:latin typeface="Arial" pitchFamily="34" charset="0"/>
              <a:ea typeface="Lato"/>
              <a:cs typeface="Lato"/>
            </a:endParaRPr>
          </a:p>
          <a:p>
            <a:pPr algn="ctr" defTabSz="914377">
              <a:lnSpc>
                <a:spcPct val="120000"/>
              </a:lnSpc>
              <a:defRPr/>
            </a:pPr>
            <a:endParaRPr lang="en-US" sz="1400" i="0" u="none" strike="noStrike" kern="1200" cap="none" spc="-10" normalizeH="0" baseline="0" noProof="0">
              <a:ln>
                <a:noFill/>
              </a:ln>
              <a:solidFill>
                <a:schemeClr val="tx1">
                  <a:lumMod val="50000"/>
                  <a:lumOff val="50000"/>
                </a:schemeClr>
              </a:solidFill>
              <a:effectLst/>
              <a:uLnTx/>
              <a:uFillTx/>
              <a:latin typeface="Arial" pitchFamily="34" charset="0"/>
              <a:ea typeface="Lato"/>
              <a:cs typeface="Lato"/>
            </a:endParaRPr>
          </a:p>
        </p:txBody>
      </p:sp>
      <p:sp>
        <p:nvSpPr>
          <p:cNvPr id="54" name="TextBox 53">
            <a:extLst>
              <a:ext uri="{FF2B5EF4-FFF2-40B4-BE49-F238E27FC236}">
                <a16:creationId xmlns:a16="http://schemas.microsoft.com/office/drawing/2014/main" id="{FD7A5812-0633-BFD7-DEFD-D7B3F04E6268}"/>
              </a:ext>
            </a:extLst>
          </p:cNvPr>
          <p:cNvSpPr txBox="1"/>
          <p:nvPr/>
        </p:nvSpPr>
        <p:spPr>
          <a:xfrm>
            <a:off x="8383805" y="2272888"/>
            <a:ext cx="2559209" cy="642212"/>
          </a:xfrm>
          <a:prstGeom prst="rect">
            <a:avLst/>
          </a:prstGeom>
          <a:noFill/>
        </p:spPr>
        <p:txBody>
          <a:bodyPr wrap="square" lIns="91440" tIns="45720" rIns="91440" bIns="45720" anchor="t">
            <a:noAutofit/>
          </a:bodyPr>
          <a:lstStyle/>
          <a:p>
            <a:pPr algn="ctr" defTabSz="914377">
              <a:lnSpc>
                <a:spcPct val="120000"/>
              </a:lnSpc>
              <a:defRPr/>
            </a:pPr>
            <a:r>
              <a:rPr lang="en-US" sz="1400" spc="-10">
                <a:latin typeface="Arial" pitchFamily="34" charset="0"/>
                <a:ea typeface="Helvetica Neue" panose="02000503000000020004" pitchFamily="2" charset="0"/>
                <a:cs typeface="Helvetica Neue" panose="02000503000000020004" pitchFamily="2" charset="0"/>
              </a:rPr>
              <a:t>How do we prepare and support the successor?</a:t>
            </a:r>
            <a:endParaRPr kumimoji="0" lang="en-US" sz="1400" i="0" u="none" strike="noStrike" kern="120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endParaRPr>
          </a:p>
        </p:txBody>
      </p:sp>
      <p:grpSp>
        <p:nvGrpSpPr>
          <p:cNvPr id="4" name="Group 3">
            <a:extLst>
              <a:ext uri="{FF2B5EF4-FFF2-40B4-BE49-F238E27FC236}">
                <a16:creationId xmlns:a16="http://schemas.microsoft.com/office/drawing/2014/main" id="{CE3E2D71-9C56-A740-3EF4-1ECCBC939A81}"/>
              </a:ext>
            </a:extLst>
          </p:cNvPr>
          <p:cNvGrpSpPr/>
          <p:nvPr/>
        </p:nvGrpSpPr>
        <p:grpSpPr>
          <a:xfrm>
            <a:off x="10403235" y="201614"/>
            <a:ext cx="410690" cy="410700"/>
            <a:chOff x="3506617" y="2730959"/>
            <a:chExt cx="1591098" cy="1591098"/>
          </a:xfrm>
        </p:grpSpPr>
        <p:sp>
          <p:nvSpPr>
            <p:cNvPr id="5" name="Rectangle: Rounded Corners 39">
              <a:extLst>
                <a:ext uri="{FF2B5EF4-FFF2-40B4-BE49-F238E27FC236}">
                  <a16:creationId xmlns:a16="http://schemas.microsoft.com/office/drawing/2014/main" id="{E05B7F7C-B456-D3EC-6E9F-F3E55C4DE0E8}"/>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 name="Rectangle: Rounded Corners 54">
              <a:extLst>
                <a:ext uri="{FF2B5EF4-FFF2-40B4-BE49-F238E27FC236}">
                  <a16:creationId xmlns:a16="http://schemas.microsoft.com/office/drawing/2014/main" id="{A6D88EDB-428B-20C0-17CB-7F37F13F94B9}"/>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7" name="Freeform 56" descr="Clipboard Partially Checked with solid fill">
              <a:extLst>
                <a:ext uri="{FF2B5EF4-FFF2-40B4-BE49-F238E27FC236}">
                  <a16:creationId xmlns:a16="http://schemas.microsoft.com/office/drawing/2014/main" id="{899CA530-04C6-ACF4-A108-7363555F7268}"/>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7"/>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8" name="Group 7">
            <a:extLst>
              <a:ext uri="{FF2B5EF4-FFF2-40B4-BE49-F238E27FC236}">
                <a16:creationId xmlns:a16="http://schemas.microsoft.com/office/drawing/2014/main" id="{5018B213-25C3-F21E-369E-6F43F009316C}"/>
              </a:ext>
            </a:extLst>
          </p:cNvPr>
          <p:cNvGrpSpPr/>
          <p:nvPr/>
        </p:nvGrpSpPr>
        <p:grpSpPr>
          <a:xfrm>
            <a:off x="11557682" y="191038"/>
            <a:ext cx="410690" cy="410700"/>
            <a:chOff x="8874309" y="3009260"/>
            <a:chExt cx="1591098" cy="1591098"/>
          </a:xfrm>
        </p:grpSpPr>
        <p:grpSp>
          <p:nvGrpSpPr>
            <p:cNvPr id="9" name="Group 8">
              <a:extLst>
                <a:ext uri="{FF2B5EF4-FFF2-40B4-BE49-F238E27FC236}">
                  <a16:creationId xmlns:a16="http://schemas.microsoft.com/office/drawing/2014/main" id="{D68451CB-4A82-1E1F-0A2E-31DA22416E48}"/>
                </a:ext>
              </a:extLst>
            </p:cNvPr>
            <p:cNvGrpSpPr/>
            <p:nvPr/>
          </p:nvGrpSpPr>
          <p:grpSpPr>
            <a:xfrm>
              <a:off x="8874309" y="3009260"/>
              <a:ext cx="1591098" cy="1591098"/>
              <a:chOff x="9350370" y="2760976"/>
              <a:chExt cx="1591098" cy="1591098"/>
            </a:xfrm>
          </p:grpSpPr>
          <p:sp>
            <p:nvSpPr>
              <p:cNvPr id="11" name="Rectangle: Rounded Corners 39">
                <a:extLst>
                  <a:ext uri="{FF2B5EF4-FFF2-40B4-BE49-F238E27FC236}">
                    <a16:creationId xmlns:a16="http://schemas.microsoft.com/office/drawing/2014/main" id="{0EF96223-4C78-3B6C-6337-FB69D5327133}"/>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3" name="Rectangle: Rounded Corners 54">
                <a:extLst>
                  <a:ext uri="{FF2B5EF4-FFF2-40B4-BE49-F238E27FC236}">
                    <a16:creationId xmlns:a16="http://schemas.microsoft.com/office/drawing/2014/main" id="{3E35280E-13A7-6661-7957-3D05927A5898}"/>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0" name="Picture 51" descr="Map with pin with solid fill">
              <a:extLst>
                <a:ext uri="{FF2B5EF4-FFF2-40B4-BE49-F238E27FC236}">
                  <a16:creationId xmlns:a16="http://schemas.microsoft.com/office/drawing/2014/main" id="{EEC541CC-F465-16C1-0E7C-A0DE3F10597E}"/>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4" name="Group 13">
            <a:extLst>
              <a:ext uri="{FF2B5EF4-FFF2-40B4-BE49-F238E27FC236}">
                <a16:creationId xmlns:a16="http://schemas.microsoft.com/office/drawing/2014/main" id="{7ABF294D-B219-4E0D-EA28-4719F2663570}"/>
              </a:ext>
            </a:extLst>
          </p:cNvPr>
          <p:cNvGrpSpPr/>
          <p:nvPr/>
        </p:nvGrpSpPr>
        <p:grpSpPr>
          <a:xfrm>
            <a:off x="10997361" y="200955"/>
            <a:ext cx="410690" cy="410700"/>
            <a:chOff x="5303120" y="3009260"/>
            <a:chExt cx="1591098" cy="1591098"/>
          </a:xfrm>
        </p:grpSpPr>
        <p:grpSp>
          <p:nvGrpSpPr>
            <p:cNvPr id="15" name="Group 14">
              <a:extLst>
                <a:ext uri="{FF2B5EF4-FFF2-40B4-BE49-F238E27FC236}">
                  <a16:creationId xmlns:a16="http://schemas.microsoft.com/office/drawing/2014/main" id="{C03F9E52-2A1E-3767-A700-7B9C5642456A}"/>
                </a:ext>
              </a:extLst>
            </p:cNvPr>
            <p:cNvGrpSpPr/>
            <p:nvPr/>
          </p:nvGrpSpPr>
          <p:grpSpPr>
            <a:xfrm>
              <a:off x="5303120" y="3009260"/>
              <a:ext cx="1591098" cy="1591098"/>
              <a:chOff x="6428492" y="2760976"/>
              <a:chExt cx="1591098" cy="1591098"/>
            </a:xfrm>
          </p:grpSpPr>
          <p:sp>
            <p:nvSpPr>
              <p:cNvPr id="25" name="Rectangle: Rounded Corners 39">
                <a:extLst>
                  <a:ext uri="{FF2B5EF4-FFF2-40B4-BE49-F238E27FC236}">
                    <a16:creationId xmlns:a16="http://schemas.microsoft.com/office/drawing/2014/main" id="{A7502D42-77A3-3F21-C207-2DD0B75E44C8}"/>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6" name="Rectangle: Rounded Corners 54">
                <a:extLst>
                  <a:ext uri="{FF2B5EF4-FFF2-40B4-BE49-F238E27FC236}">
                    <a16:creationId xmlns:a16="http://schemas.microsoft.com/office/drawing/2014/main" id="{ECD7FC7D-0BA1-FCDE-4866-57CF957DA926}"/>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3" name="Graphic 22" descr="Target Audience with solid fill">
              <a:extLst>
                <a:ext uri="{FF2B5EF4-FFF2-40B4-BE49-F238E27FC236}">
                  <a16:creationId xmlns:a16="http://schemas.microsoft.com/office/drawing/2014/main" id="{D1E9D979-1F00-DB43-F331-3F8501993619}"/>
                </a:ext>
              </a:extLst>
            </p:cNvPr>
            <p:cNvPicPr>
              <a:picLocks noChangeAspect="1"/>
            </p:cNvPicPr>
            <p:nvPr/>
          </p:nvPicPr>
          <p:blipFill>
            <a:blip r:embed="rId8">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27" name="TextBox 26">
            <a:extLst>
              <a:ext uri="{FF2B5EF4-FFF2-40B4-BE49-F238E27FC236}">
                <a16:creationId xmlns:a16="http://schemas.microsoft.com/office/drawing/2014/main" id="{CE14D199-369F-6C8F-966D-C197372B3676}"/>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0" name="TextBox 29">
            <a:extLst>
              <a:ext uri="{FF2B5EF4-FFF2-40B4-BE49-F238E27FC236}">
                <a16:creationId xmlns:a16="http://schemas.microsoft.com/office/drawing/2014/main" id="{7C79DD39-649E-0D78-1A20-DBDE7F1BD1A5}"/>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1" name="TextBox 30">
            <a:extLst>
              <a:ext uri="{FF2B5EF4-FFF2-40B4-BE49-F238E27FC236}">
                <a16:creationId xmlns:a16="http://schemas.microsoft.com/office/drawing/2014/main" id="{8150B949-A86C-D57F-CF06-4DE331C265D5}"/>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5" name="Rectangle 34">
            <a:extLst>
              <a:ext uri="{FF2B5EF4-FFF2-40B4-BE49-F238E27FC236}">
                <a16:creationId xmlns:a16="http://schemas.microsoft.com/office/drawing/2014/main" id="{F82272C3-C777-99A1-5378-2787358D32FC}"/>
              </a:ext>
            </a:extLst>
          </p:cNvPr>
          <p:cNvSpPr/>
          <p:nvPr/>
        </p:nvSpPr>
        <p:spPr>
          <a:xfrm>
            <a:off x="10265324" y="155273"/>
            <a:ext cx="1200137"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
        <p:nvSpPr>
          <p:cNvPr id="5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48</a:t>
            </a:fld>
            <a:endParaRPr lang="en-US"/>
          </a:p>
        </p:txBody>
      </p:sp>
    </p:spTree>
    <p:extLst>
      <p:ext uri="{BB962C8B-B14F-4D97-AF65-F5344CB8AC3E}">
        <p14:creationId xmlns:p14="http://schemas.microsoft.com/office/powerpoint/2010/main" val="3651632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73DDB-F19B-68B2-35CB-C4CEE25074D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182F950-805E-0934-0810-92004E6BF118}"/>
              </a:ext>
            </a:extLst>
          </p:cNvPr>
          <p:cNvSpPr>
            <a:spLocks noGrp="1"/>
          </p:cNvSpPr>
          <p:nvPr>
            <p:ph type="title" sz="quarter"/>
          </p:nvPr>
        </p:nvSpPr>
        <p:spPr/>
        <p:txBody>
          <a:bodyPr/>
          <a:lstStyle/>
          <a:p>
            <a:r>
              <a:rPr lang="en-US" b="1" spc="-25">
                <a:solidFill>
                  <a:srgbClr val="00C27A"/>
                </a:solidFill>
                <a:latin typeface="Segoe UI" pitchFamily="34" charset="0"/>
              </a:rPr>
              <a:t>Closing</a:t>
            </a:r>
            <a:r>
              <a:rPr lang="en-US" b="1" spc="-25">
                <a:latin typeface="Segoe UI" pitchFamily="34" charset="0"/>
              </a:rPr>
              <a:t> the gap</a:t>
            </a:r>
          </a:p>
        </p:txBody>
      </p:sp>
      <p:sp>
        <p:nvSpPr>
          <p:cNvPr id="4" name="TextBox 3">
            <a:extLst>
              <a:ext uri="{FF2B5EF4-FFF2-40B4-BE49-F238E27FC236}">
                <a16:creationId xmlns:a16="http://schemas.microsoft.com/office/drawing/2014/main" id="{AAE70FBB-6396-8573-1ADD-03DBC61DB621}"/>
              </a:ext>
            </a:extLst>
          </p:cNvPr>
          <p:cNvSpPr>
            <a:spLocks noGrp="1"/>
          </p:cNvSpPr>
          <p:nvPr>
            <p:ph idx="1"/>
          </p:nvPr>
        </p:nvSpPr>
        <p:spPr>
          <a:xfrm>
            <a:off x="1335649" y="1171739"/>
            <a:ext cx="9343668" cy="1548172"/>
          </a:xfrm>
          <a:prstGeom prst="roundRect">
            <a:avLst/>
          </a:prstGeom>
          <a:solidFill>
            <a:srgbClr val="281A42"/>
          </a:solidFill>
          <a:ln w="38100">
            <a:solidFill>
              <a:srgbClr val="1D1D1D"/>
            </a:solidFill>
          </a:ln>
        </p:spPr>
        <p:txBody>
          <a:bodyPr wrap="square" lIns="91440" tIns="45720" rIns="91440" bIns="45720" rtlCol="0" anchor="ctr">
            <a:noAutofit/>
          </a:bodyPr>
          <a:lstStyle/>
          <a:p>
            <a:pPr marL="285750" lvl="1" indent="-285750">
              <a:spcBef>
                <a:spcPts val="600"/>
              </a:spcBef>
              <a:buBlip>
                <a:blip r:embed="rId4"/>
              </a:buBlip>
            </a:pPr>
            <a:r>
              <a:rPr lang="en-US" sz="1800" spc="-10" dirty="0">
                <a:solidFill>
                  <a:schemeClr val="bg1"/>
                </a:solidFill>
                <a:latin typeface="Arial" pitchFamily="34" charset="0"/>
                <a:ea typeface="Lato"/>
                <a:cs typeface="Lato"/>
              </a:rPr>
              <a:t>Focus on those who are “ready with development”– what is the plan to address their identified gaps?</a:t>
            </a:r>
          </a:p>
          <a:p>
            <a:pPr marL="285750" lvl="1" indent="-285750">
              <a:spcBef>
                <a:spcPts val="600"/>
              </a:spcBef>
              <a:buBlip>
                <a:blip r:embed="rId4"/>
              </a:buBlip>
            </a:pPr>
            <a:r>
              <a:rPr lang="en-US" sz="1800" spc="-10" dirty="0">
                <a:solidFill>
                  <a:schemeClr val="bg1"/>
                </a:solidFill>
                <a:latin typeface="Arial" pitchFamily="34" charset="0"/>
                <a:ea typeface="Lato"/>
                <a:cs typeface="Lato"/>
              </a:rPr>
              <a:t>What roles, responsibilities, experiences, or capabilities can bridge the gap?</a:t>
            </a:r>
          </a:p>
          <a:p>
            <a:pPr marL="285750" lvl="1" indent="-285750">
              <a:spcBef>
                <a:spcPts val="600"/>
              </a:spcBef>
              <a:buBlip>
                <a:blip r:embed="rId4"/>
              </a:buBlip>
            </a:pPr>
            <a:r>
              <a:rPr lang="en-US" sz="1800" spc="-10" dirty="0">
                <a:solidFill>
                  <a:schemeClr val="bg1"/>
                </a:solidFill>
                <a:latin typeface="Arial" pitchFamily="34" charset="0"/>
                <a:ea typeface="Lato"/>
                <a:cs typeface="Lato"/>
              </a:rPr>
              <a:t>Monitor and adjust plan as needed to ensure succession readiness.</a:t>
            </a:r>
          </a:p>
        </p:txBody>
      </p:sp>
      <p:sp>
        <p:nvSpPr>
          <p:cNvPr id="21" name="TextBox 20">
            <a:extLst>
              <a:ext uri="{FF2B5EF4-FFF2-40B4-BE49-F238E27FC236}">
                <a16:creationId xmlns:a16="http://schemas.microsoft.com/office/drawing/2014/main" id="{D88DD72F-94FC-8F1B-65CA-7C11282BCC79}"/>
              </a:ext>
            </a:extLst>
          </p:cNvPr>
          <p:cNvSpPr txBox="1"/>
          <p:nvPr/>
        </p:nvSpPr>
        <p:spPr>
          <a:xfrm>
            <a:off x="9956496" y="3931165"/>
            <a:ext cx="1796885" cy="965199"/>
          </a:xfrm>
          <a:prstGeom prst="roundRect">
            <a:avLst>
              <a:gd name="adj" fmla="val 2632"/>
            </a:avLst>
          </a:prstGeom>
          <a:solidFill>
            <a:srgbClr val="281A42"/>
          </a:solidFill>
        </p:spPr>
        <p:txBody>
          <a:bodyPr wrap="square" lIns="91440" tIns="45720" rIns="91440" bIns="45720" rtlCol="0" anchor="ctr">
            <a:noAutofit/>
          </a:bodyPr>
          <a:lstStyle/>
          <a:p>
            <a:pPr algn="ctr"/>
            <a:r>
              <a:rPr lang="en-US" b="1">
                <a:solidFill>
                  <a:srgbClr val="1D1D1D"/>
                </a:solidFill>
              </a:rPr>
              <a:t>Requirements for future role</a:t>
            </a:r>
          </a:p>
        </p:txBody>
      </p:sp>
      <p:pic>
        <p:nvPicPr>
          <p:cNvPr id="6" name="Graphic 5" descr="Bridge scene outline">
            <a:extLst>
              <a:ext uri="{FF2B5EF4-FFF2-40B4-BE49-F238E27FC236}">
                <a16:creationId xmlns:a16="http://schemas.microsoft.com/office/drawing/2014/main" id="{A5A2393F-1F45-ABAC-4BBA-736DE44942E8}"/>
              </a:ext>
            </a:extLst>
          </p:cNvPr>
          <p:cNvPicPr>
            <a:picLocks noChangeAspect="1"/>
          </p:cNvPicPr>
          <p:nvPr/>
        </p:nvPicPr>
        <p:blipFill>
          <a:blip r:embed="rId5">
            <a:duotone>
              <a:srgbClr val="765FFF"/>
              <a:srgbClr val="FFFFFF"/>
            </a:duotone>
          </a:blip>
          <a:srcRect l="7403" t="20227" r="7923" b="28611"/>
          <a:stretch>
            <a:fillRect/>
          </a:stretch>
        </p:blipFill>
        <p:spPr>
          <a:xfrm>
            <a:off x="3311603" y="3521947"/>
            <a:ext cx="5568793" cy="3336053"/>
          </a:xfrm>
          <a:prstGeom prst="rect">
            <a:avLst/>
          </a:prstGeom>
        </p:spPr>
      </p:pic>
      <p:pic>
        <p:nvPicPr>
          <p:cNvPr id="7" name="Graphic 6" descr="Sign outline">
            <a:extLst>
              <a:ext uri="{FF2B5EF4-FFF2-40B4-BE49-F238E27FC236}">
                <a16:creationId xmlns:a16="http://schemas.microsoft.com/office/drawing/2014/main" id="{74572FD2-6510-D526-6270-5422F493C300}"/>
              </a:ext>
            </a:extLst>
          </p:cNvPr>
          <p:cNvPicPr>
            <a:picLocks noChangeAspect="1"/>
          </p:cNvPicPr>
          <p:nvPr/>
        </p:nvPicPr>
        <p:blipFill>
          <a:blip r:embed="rId6">
            <a:duotone>
              <a:srgbClr val="765FFF"/>
              <a:srgbClr val="FFFFFF"/>
            </a:duotone>
          </a:blip>
          <a:srcRect t="16635"/>
          <a:stretch>
            <a:fillRect/>
          </a:stretch>
        </p:blipFill>
        <p:spPr>
          <a:xfrm>
            <a:off x="9253328" y="3602831"/>
            <a:ext cx="3203222" cy="2670354"/>
          </a:xfrm>
          <a:prstGeom prst="rect">
            <a:avLst/>
          </a:prstGeom>
        </p:spPr>
      </p:pic>
      <p:sp>
        <p:nvSpPr>
          <p:cNvPr id="13" name="TextBox 12">
            <a:extLst>
              <a:ext uri="{FF2B5EF4-FFF2-40B4-BE49-F238E27FC236}">
                <a16:creationId xmlns:a16="http://schemas.microsoft.com/office/drawing/2014/main" id="{007BCF11-6BD4-54B9-9935-D41632C7002F}"/>
              </a:ext>
            </a:extLst>
          </p:cNvPr>
          <p:cNvSpPr txBox="1"/>
          <p:nvPr/>
        </p:nvSpPr>
        <p:spPr>
          <a:xfrm>
            <a:off x="450449" y="3931166"/>
            <a:ext cx="1773221" cy="965199"/>
          </a:xfrm>
          <a:prstGeom prst="roundRect">
            <a:avLst>
              <a:gd name="adj" fmla="val 2632"/>
            </a:avLst>
          </a:prstGeom>
          <a:solidFill>
            <a:srgbClr val="281A42"/>
          </a:solidFill>
        </p:spPr>
        <p:txBody>
          <a:bodyPr wrap="square" lIns="91440" tIns="45720" rIns="91440" bIns="45720" rtlCol="0" anchor="ctr">
            <a:noAutofit/>
          </a:bodyPr>
          <a:lstStyle/>
          <a:p>
            <a:pPr algn="ctr"/>
            <a:r>
              <a:rPr lang="en-US" b="1">
                <a:solidFill>
                  <a:srgbClr val="1D1D1D"/>
                </a:solidFill>
              </a:rPr>
              <a:t>Current skills &amp; experience</a:t>
            </a:r>
          </a:p>
        </p:txBody>
      </p:sp>
      <p:pic>
        <p:nvPicPr>
          <p:cNvPr id="8" name="Graphic 7" descr="Sign outline">
            <a:extLst>
              <a:ext uri="{FF2B5EF4-FFF2-40B4-BE49-F238E27FC236}">
                <a16:creationId xmlns:a16="http://schemas.microsoft.com/office/drawing/2014/main" id="{F84D1ADD-565C-15B1-7684-2E0A589B75C9}"/>
              </a:ext>
            </a:extLst>
          </p:cNvPr>
          <p:cNvPicPr>
            <a:picLocks noChangeAspect="1"/>
          </p:cNvPicPr>
          <p:nvPr/>
        </p:nvPicPr>
        <p:blipFill>
          <a:blip r:embed="rId6">
            <a:duotone>
              <a:srgbClr val="765FFF"/>
              <a:srgbClr val="FFFFFF"/>
            </a:duotone>
          </a:blip>
          <a:srcRect t="16685"/>
          <a:stretch>
            <a:fillRect/>
          </a:stretch>
        </p:blipFill>
        <p:spPr>
          <a:xfrm>
            <a:off x="-264551" y="3602831"/>
            <a:ext cx="3200400" cy="2666366"/>
          </a:xfrm>
          <a:prstGeom prst="rect">
            <a:avLst/>
          </a:prstGeom>
        </p:spPr>
      </p:pic>
      <p:grpSp>
        <p:nvGrpSpPr>
          <p:cNvPr id="14" name="Group 13">
            <a:extLst>
              <a:ext uri="{FF2B5EF4-FFF2-40B4-BE49-F238E27FC236}">
                <a16:creationId xmlns:a16="http://schemas.microsoft.com/office/drawing/2014/main" id="{7AC18407-AC32-0FAE-4136-D5B20ED1BEA0}"/>
              </a:ext>
            </a:extLst>
          </p:cNvPr>
          <p:cNvGrpSpPr/>
          <p:nvPr/>
        </p:nvGrpSpPr>
        <p:grpSpPr>
          <a:xfrm>
            <a:off x="7674584" y="5582629"/>
            <a:ext cx="4530117" cy="1283435"/>
            <a:chOff x="7714818" y="5895340"/>
            <a:chExt cx="4477182" cy="970724"/>
          </a:xfrm>
        </p:grpSpPr>
        <p:sp>
          <p:nvSpPr>
            <p:cNvPr id="12" name="Rectangle 11">
              <a:extLst>
                <a:ext uri="{FF2B5EF4-FFF2-40B4-BE49-F238E27FC236}">
                  <a16:creationId xmlns:a16="http://schemas.microsoft.com/office/drawing/2014/main" id="{60E46EED-8E4A-CFDB-C0C7-42D490716B9E}"/>
                </a:ext>
              </a:extLst>
            </p:cNvPr>
            <p:cNvSpPr/>
            <p:nvPr/>
          </p:nvSpPr>
          <p:spPr>
            <a:xfrm>
              <a:off x="7714818" y="5895340"/>
              <a:ext cx="1143000" cy="9707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11" name="Flowchart: Manual Input 10">
              <a:extLst>
                <a:ext uri="{FF2B5EF4-FFF2-40B4-BE49-F238E27FC236}">
                  <a16:creationId xmlns:a16="http://schemas.microsoft.com/office/drawing/2014/main" id="{6581B30D-5AA4-4851-7E1F-78C3C61EBBB1}"/>
                </a:ext>
              </a:extLst>
            </p:cNvPr>
            <p:cNvSpPr/>
            <p:nvPr/>
          </p:nvSpPr>
          <p:spPr>
            <a:xfrm flipH="1">
              <a:off x="8857818" y="5895340"/>
              <a:ext cx="3334182" cy="970724"/>
            </a:xfrm>
            <a:prstGeom prst="flowChartManualInpu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grpSp>
      <p:grpSp>
        <p:nvGrpSpPr>
          <p:cNvPr id="23" name="Group 22">
            <a:extLst>
              <a:ext uri="{FF2B5EF4-FFF2-40B4-BE49-F238E27FC236}">
                <a16:creationId xmlns:a16="http://schemas.microsoft.com/office/drawing/2014/main" id="{B2E4F9EB-CA7C-3248-6BD9-19EDD5D7C1E1}"/>
              </a:ext>
            </a:extLst>
          </p:cNvPr>
          <p:cNvGrpSpPr/>
          <p:nvPr/>
        </p:nvGrpSpPr>
        <p:grpSpPr>
          <a:xfrm flipH="1">
            <a:off x="-12703" y="5582629"/>
            <a:ext cx="4568779" cy="1283435"/>
            <a:chOff x="7714818" y="5895340"/>
            <a:chExt cx="4477182" cy="970724"/>
          </a:xfrm>
        </p:grpSpPr>
        <p:sp>
          <p:nvSpPr>
            <p:cNvPr id="26" name="Rectangle 25">
              <a:extLst>
                <a:ext uri="{FF2B5EF4-FFF2-40B4-BE49-F238E27FC236}">
                  <a16:creationId xmlns:a16="http://schemas.microsoft.com/office/drawing/2014/main" id="{719956CE-8E11-4D29-A40B-9F0D3C84101B}"/>
                </a:ext>
              </a:extLst>
            </p:cNvPr>
            <p:cNvSpPr/>
            <p:nvPr/>
          </p:nvSpPr>
          <p:spPr>
            <a:xfrm>
              <a:off x="7714818" y="5895340"/>
              <a:ext cx="1143000" cy="9707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29" name="Flowchart: Manual Input 28">
              <a:extLst>
                <a:ext uri="{FF2B5EF4-FFF2-40B4-BE49-F238E27FC236}">
                  <a16:creationId xmlns:a16="http://schemas.microsoft.com/office/drawing/2014/main" id="{D0377D13-7248-525D-B976-2D2CAD1A24CC}"/>
                </a:ext>
              </a:extLst>
            </p:cNvPr>
            <p:cNvSpPr/>
            <p:nvPr/>
          </p:nvSpPr>
          <p:spPr>
            <a:xfrm flipH="1">
              <a:off x="8857818" y="5895340"/>
              <a:ext cx="3334182" cy="970724"/>
            </a:xfrm>
            <a:prstGeom prst="flowChartManualInpu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grpSp>
      <p:sp>
        <p:nvSpPr>
          <p:cNvPr id="36" name="Rectangle 35">
            <a:extLst>
              <a:ext uri="{FF2B5EF4-FFF2-40B4-BE49-F238E27FC236}">
                <a16:creationId xmlns:a16="http://schemas.microsoft.com/office/drawing/2014/main" id="{EFAAB9A5-1C67-33D8-2E56-122A34515382}"/>
              </a:ext>
            </a:extLst>
          </p:cNvPr>
          <p:cNvSpPr/>
          <p:nvPr/>
        </p:nvSpPr>
        <p:spPr>
          <a:xfrm>
            <a:off x="4944532" y="5585854"/>
            <a:ext cx="2331720" cy="12834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cxnSp>
        <p:nvCxnSpPr>
          <p:cNvPr id="39" name="Straight Connector 38">
            <a:extLst>
              <a:ext uri="{FF2B5EF4-FFF2-40B4-BE49-F238E27FC236}">
                <a16:creationId xmlns:a16="http://schemas.microsoft.com/office/drawing/2014/main" id="{5C8B9B58-45C6-EB4E-AEAE-FAA120ED1F1C}"/>
              </a:ext>
            </a:extLst>
          </p:cNvPr>
          <p:cNvCxnSpPr/>
          <p:nvPr/>
        </p:nvCxnSpPr>
        <p:spPr>
          <a:xfrm flipV="1">
            <a:off x="4740442" y="2762576"/>
            <a:ext cx="0" cy="823150"/>
          </a:xfrm>
          <a:prstGeom prst="line">
            <a:avLst/>
          </a:prstGeom>
          <a:ln w="57150">
            <a:solidFill>
              <a:srgbClr val="1D1D1D"/>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729FDF4-EA0C-ABEC-880B-46951E92FB48}"/>
              </a:ext>
            </a:extLst>
          </p:cNvPr>
          <p:cNvCxnSpPr/>
          <p:nvPr/>
        </p:nvCxnSpPr>
        <p:spPr>
          <a:xfrm flipV="1">
            <a:off x="7479632" y="2762576"/>
            <a:ext cx="0" cy="823150"/>
          </a:xfrm>
          <a:prstGeom prst="line">
            <a:avLst/>
          </a:prstGeom>
          <a:ln w="57150">
            <a:solidFill>
              <a:srgbClr val="1D1D1D"/>
            </a:solidFill>
          </a:ln>
        </p:spPr>
        <p:style>
          <a:lnRef idx="1">
            <a:schemeClr val="accent1"/>
          </a:lnRef>
          <a:fillRef idx="0">
            <a:schemeClr val="accent1"/>
          </a:fillRef>
          <a:effectRef idx="0">
            <a:schemeClr val="accent1"/>
          </a:effectRef>
          <a:fontRef idx="minor">
            <a:schemeClr val="tx1"/>
          </a:fontRef>
        </p:style>
      </p:cxnSp>
      <p:sp>
        <p:nvSpPr>
          <p:cNvPr id="47"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49</a:t>
            </a:fld>
            <a:endParaRPr lang="en-US"/>
          </a:p>
        </p:txBody>
      </p:sp>
      <p:grpSp>
        <p:nvGrpSpPr>
          <p:cNvPr id="3" name="Group 2">
            <a:extLst>
              <a:ext uri="{FF2B5EF4-FFF2-40B4-BE49-F238E27FC236}">
                <a16:creationId xmlns:a16="http://schemas.microsoft.com/office/drawing/2014/main" id="{8C23C755-9231-EFBE-A85E-9E2FE856BEFD}"/>
              </a:ext>
            </a:extLst>
          </p:cNvPr>
          <p:cNvGrpSpPr/>
          <p:nvPr/>
        </p:nvGrpSpPr>
        <p:grpSpPr>
          <a:xfrm>
            <a:off x="10403235" y="201614"/>
            <a:ext cx="410690" cy="410700"/>
            <a:chOff x="3506617" y="2730959"/>
            <a:chExt cx="1591098" cy="1591098"/>
          </a:xfrm>
        </p:grpSpPr>
        <p:sp>
          <p:nvSpPr>
            <p:cNvPr id="5" name="Rectangle: Rounded Corners 39">
              <a:extLst>
                <a:ext uri="{FF2B5EF4-FFF2-40B4-BE49-F238E27FC236}">
                  <a16:creationId xmlns:a16="http://schemas.microsoft.com/office/drawing/2014/main" id="{22D67FE1-BB8F-A04F-A4D4-2971043BEA0D}"/>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9" name="Rectangle: Rounded Corners 54">
              <a:extLst>
                <a:ext uri="{FF2B5EF4-FFF2-40B4-BE49-F238E27FC236}">
                  <a16:creationId xmlns:a16="http://schemas.microsoft.com/office/drawing/2014/main" id="{88CBD234-ECE4-9EB6-05C4-EAA5A8BFA1E6}"/>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0" name="Freeform 56" descr="Clipboard Partially Checked with solid fill">
              <a:extLst>
                <a:ext uri="{FF2B5EF4-FFF2-40B4-BE49-F238E27FC236}">
                  <a16:creationId xmlns:a16="http://schemas.microsoft.com/office/drawing/2014/main" id="{857DDFA5-FB69-0329-2F0C-0E5ACB56D421}"/>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7"/>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16" name="Group 15">
            <a:extLst>
              <a:ext uri="{FF2B5EF4-FFF2-40B4-BE49-F238E27FC236}">
                <a16:creationId xmlns:a16="http://schemas.microsoft.com/office/drawing/2014/main" id="{B4ED2BD5-7C0F-4BA8-0764-978E142BDA9D}"/>
              </a:ext>
            </a:extLst>
          </p:cNvPr>
          <p:cNvGrpSpPr/>
          <p:nvPr/>
        </p:nvGrpSpPr>
        <p:grpSpPr>
          <a:xfrm>
            <a:off x="11557682" y="191038"/>
            <a:ext cx="410690" cy="410700"/>
            <a:chOff x="8874309" y="3009260"/>
            <a:chExt cx="1591098" cy="1591098"/>
          </a:xfrm>
        </p:grpSpPr>
        <p:grpSp>
          <p:nvGrpSpPr>
            <p:cNvPr id="17" name="Group 16">
              <a:extLst>
                <a:ext uri="{FF2B5EF4-FFF2-40B4-BE49-F238E27FC236}">
                  <a16:creationId xmlns:a16="http://schemas.microsoft.com/office/drawing/2014/main" id="{621376A8-DF86-61A8-FB59-9E15C375DB4B}"/>
                </a:ext>
              </a:extLst>
            </p:cNvPr>
            <p:cNvGrpSpPr/>
            <p:nvPr/>
          </p:nvGrpSpPr>
          <p:grpSpPr>
            <a:xfrm>
              <a:off x="8874309" y="3009260"/>
              <a:ext cx="1591098" cy="1591098"/>
              <a:chOff x="9350370" y="2760976"/>
              <a:chExt cx="1591098" cy="1591098"/>
            </a:xfrm>
          </p:grpSpPr>
          <p:sp>
            <p:nvSpPr>
              <p:cNvPr id="28" name="Rectangle: Rounded Corners 39">
                <a:extLst>
                  <a:ext uri="{FF2B5EF4-FFF2-40B4-BE49-F238E27FC236}">
                    <a16:creationId xmlns:a16="http://schemas.microsoft.com/office/drawing/2014/main" id="{CB4303EA-F5D5-7019-C57B-5C3438004177}"/>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0" name="Rectangle: Rounded Corners 54">
                <a:extLst>
                  <a:ext uri="{FF2B5EF4-FFF2-40B4-BE49-F238E27FC236}">
                    <a16:creationId xmlns:a16="http://schemas.microsoft.com/office/drawing/2014/main" id="{68BD232F-2EE1-46DA-F8DA-3B8FD0D78AC0}"/>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9" name="Picture 51" descr="Map with pin with solid fill">
              <a:extLst>
                <a:ext uri="{FF2B5EF4-FFF2-40B4-BE49-F238E27FC236}">
                  <a16:creationId xmlns:a16="http://schemas.microsoft.com/office/drawing/2014/main" id="{29280768-C6EE-1CBE-4C28-416147C7A308}"/>
                </a:ext>
              </a:extLst>
            </p:cNvPr>
            <p:cNvPicPr>
              <a:picLocks noChangeAspect="1"/>
            </p:cNvPicPr>
            <p:nvPr/>
          </p:nvPicPr>
          <p:blipFill>
            <a:blip r:embed="rId8">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1" name="Group 30">
            <a:extLst>
              <a:ext uri="{FF2B5EF4-FFF2-40B4-BE49-F238E27FC236}">
                <a16:creationId xmlns:a16="http://schemas.microsoft.com/office/drawing/2014/main" id="{5A750C46-3CB5-4CAC-CEDB-D727A448A061}"/>
              </a:ext>
            </a:extLst>
          </p:cNvPr>
          <p:cNvGrpSpPr/>
          <p:nvPr/>
        </p:nvGrpSpPr>
        <p:grpSpPr>
          <a:xfrm>
            <a:off x="10997361" y="200955"/>
            <a:ext cx="410690" cy="410700"/>
            <a:chOff x="5303120" y="3009260"/>
            <a:chExt cx="1591098" cy="1591098"/>
          </a:xfrm>
        </p:grpSpPr>
        <p:grpSp>
          <p:nvGrpSpPr>
            <p:cNvPr id="32" name="Group 31">
              <a:extLst>
                <a:ext uri="{FF2B5EF4-FFF2-40B4-BE49-F238E27FC236}">
                  <a16:creationId xmlns:a16="http://schemas.microsoft.com/office/drawing/2014/main" id="{798AF8BF-C7DF-CAA1-98C4-3503E0267EC6}"/>
                </a:ext>
              </a:extLst>
            </p:cNvPr>
            <p:cNvGrpSpPr/>
            <p:nvPr/>
          </p:nvGrpSpPr>
          <p:grpSpPr>
            <a:xfrm>
              <a:off x="5303120" y="3009260"/>
              <a:ext cx="1591098" cy="1591098"/>
              <a:chOff x="6428492" y="2760976"/>
              <a:chExt cx="1591098" cy="1591098"/>
            </a:xfrm>
          </p:grpSpPr>
          <p:sp>
            <p:nvSpPr>
              <p:cNvPr id="49" name="Rectangle: Rounded Corners 39">
                <a:extLst>
                  <a:ext uri="{FF2B5EF4-FFF2-40B4-BE49-F238E27FC236}">
                    <a16:creationId xmlns:a16="http://schemas.microsoft.com/office/drawing/2014/main" id="{A97B415C-0DB4-75A3-5746-EC125AFA02E4}"/>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0" name="Rectangle: Rounded Corners 54">
                <a:extLst>
                  <a:ext uri="{FF2B5EF4-FFF2-40B4-BE49-F238E27FC236}">
                    <a16:creationId xmlns:a16="http://schemas.microsoft.com/office/drawing/2014/main" id="{E6BA1DDA-4837-35BC-2B40-4511D8BFD349}"/>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8" name="Graphic 22" descr="Target Audience with solid fill">
              <a:extLst>
                <a:ext uri="{FF2B5EF4-FFF2-40B4-BE49-F238E27FC236}">
                  <a16:creationId xmlns:a16="http://schemas.microsoft.com/office/drawing/2014/main" id="{6ED9EC68-1D34-0424-C613-61049203647C}"/>
                </a:ext>
              </a:extLst>
            </p:cNvPr>
            <p:cNvPicPr>
              <a:picLocks noChangeAspect="1"/>
            </p:cNvPicPr>
            <p:nvPr/>
          </p:nvPicPr>
          <p:blipFill>
            <a:blip r:embed="rId9">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51" name="TextBox 50">
            <a:extLst>
              <a:ext uri="{FF2B5EF4-FFF2-40B4-BE49-F238E27FC236}">
                <a16:creationId xmlns:a16="http://schemas.microsoft.com/office/drawing/2014/main" id="{EEE274EF-9BD1-4273-F39F-0F763511202C}"/>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2" name="TextBox 51">
            <a:extLst>
              <a:ext uri="{FF2B5EF4-FFF2-40B4-BE49-F238E27FC236}">
                <a16:creationId xmlns:a16="http://schemas.microsoft.com/office/drawing/2014/main" id="{3BCD9A68-38BB-7A92-2E78-47CC815DF881}"/>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3" name="TextBox 52">
            <a:extLst>
              <a:ext uri="{FF2B5EF4-FFF2-40B4-BE49-F238E27FC236}">
                <a16:creationId xmlns:a16="http://schemas.microsoft.com/office/drawing/2014/main" id="{4A3E70D6-D639-A28E-2D12-71FCF7968ED9}"/>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4" name="Rectangle 53">
            <a:extLst>
              <a:ext uri="{FF2B5EF4-FFF2-40B4-BE49-F238E27FC236}">
                <a16:creationId xmlns:a16="http://schemas.microsoft.com/office/drawing/2014/main" id="{36F55448-E4C3-E7A3-C230-ED937463B9F1}"/>
              </a:ext>
            </a:extLst>
          </p:cNvPr>
          <p:cNvSpPr/>
          <p:nvPr/>
        </p:nvSpPr>
        <p:spPr>
          <a:xfrm>
            <a:off x="10265324" y="155273"/>
            <a:ext cx="1200137"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1535749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ADA01ED6-700A-4414-AD9F-3BF1E81D6C8A}"/>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7" name="Object 6" hidden="1">
                        <a:extLst>
                          <a:ext uri="{FF2B5EF4-FFF2-40B4-BE49-F238E27FC236}">
                            <a16:creationId xmlns:a16="http://schemas.microsoft.com/office/drawing/2014/main" id="{ADA01ED6-700A-4414-AD9F-3BF1E81D6C8A}"/>
                          </a:ext>
                        </a:extLst>
                      </p:cNvPr>
                      <p:cNvPicPr/>
                      <p:nvPr/>
                    </p:nvPicPr>
                    <p:blipFill>
                      <a:blip r:embed="rId6">
                        <a:duotone>
                          <a:srgbClr val="765FFF"/>
                          <a:srgbClr val="FFFFFF"/>
                        </a:duotone>
                      </a:blip>
                      <a:stretch>
                        <a:fillRect/>
                      </a:stretch>
                    </p:blipFill>
                    <p:spPr>
                      <a:xfrm>
                        <a:off x="1589" y="1589"/>
                        <a:ext cx="1588" cy="1588"/>
                      </a:xfrm>
                      <a:prstGeom prst="rect">
                        <a:avLst/>
                      </a:prstGeom>
                    </p:spPr>
                  </p:pic>
                </p:oleObj>
              </mc:Fallback>
            </mc:AlternateContent>
          </a:graphicData>
        </a:graphic>
      </p:graphicFrame>
      <p:sp>
        <p:nvSpPr>
          <p:cNvPr id="4" name="Text Placeholder 3">
            <a:extLst>
              <a:ext uri="{FF2B5EF4-FFF2-40B4-BE49-F238E27FC236}">
                <a16:creationId xmlns:a16="http://schemas.microsoft.com/office/drawing/2014/main" id="{1A20BCC1-E9BD-4776-B0EC-E5EF0304A761}"/>
              </a:ext>
            </a:extLst>
          </p:cNvPr>
          <p:cNvSpPr>
            <a:spLocks noGrp="1"/>
          </p:cNvSpPr>
          <p:nvPr>
            <p:ph type="title" sz="quarter"/>
          </p:nvPr>
        </p:nvSpPr>
        <p:spPr/>
        <p:txBody>
          <a:bodyPr/>
          <a:lstStyle/>
          <a:p>
            <a:r>
              <a:rPr lang="en-US" b="1" spc="-25" dirty="0">
                <a:solidFill>
                  <a:schemeClr val="accent1"/>
                </a:solidFill>
                <a:latin typeface="Segoe UI" pitchFamily="34" charset="0"/>
                <a:ea typeface="+mn-ea"/>
                <a:cs typeface="Calibri" panose="020F0502020204030204" pitchFamily="34" charset="0"/>
              </a:rPr>
              <a:t>Succession</a:t>
            </a:r>
            <a:r>
              <a:rPr lang="en-US" b="1" spc="-25" dirty="0">
                <a:solidFill>
                  <a:schemeClr val="tx1"/>
                </a:solidFill>
                <a:latin typeface="Segoe UI" pitchFamily="34" charset="0"/>
                <a:ea typeface="+mn-ea"/>
                <a:cs typeface="Calibri" panose="020F0502020204030204" pitchFamily="34" charset="0"/>
              </a:rPr>
              <a:t> interventions: closing the gap</a:t>
            </a:r>
          </a:p>
        </p:txBody>
      </p:sp>
      <p:graphicFrame>
        <p:nvGraphicFramePr>
          <p:cNvPr id="36" name="Diagram 35">
            <a:extLst>
              <a:ext uri="{FF2B5EF4-FFF2-40B4-BE49-F238E27FC236}">
                <a16:creationId xmlns:a16="http://schemas.microsoft.com/office/drawing/2014/main" id="{A07CD99D-ADDF-12C2-D3ED-943E601DAF22}"/>
              </a:ext>
            </a:extLst>
          </p:cNvPr>
          <p:cNvGraphicFramePr/>
          <p:nvPr>
            <p:extLst>
              <p:ext uri="{D42A27DB-BD31-4B8C-83A1-F6EECF244321}">
                <p14:modId xmlns:p14="http://schemas.microsoft.com/office/powerpoint/2010/main" val="2270226097"/>
              </p:ext>
            </p:extLst>
          </p:nvPr>
        </p:nvGraphicFramePr>
        <p:xfrm>
          <a:off x="1949528" y="2229028"/>
          <a:ext cx="8883300" cy="383754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40" name="TextBox 39">
            <a:extLst>
              <a:ext uri="{FF2B5EF4-FFF2-40B4-BE49-F238E27FC236}">
                <a16:creationId xmlns:a16="http://schemas.microsoft.com/office/drawing/2014/main" id="{15201ECA-8AE7-8C81-7B0F-5B2515AF3CC1}"/>
              </a:ext>
            </a:extLst>
          </p:cNvPr>
          <p:cNvSpPr txBox="1"/>
          <p:nvPr/>
        </p:nvSpPr>
        <p:spPr>
          <a:xfrm>
            <a:off x="2051051" y="5234574"/>
            <a:ext cx="2622472" cy="1200329"/>
          </a:xfrm>
          <a:prstGeom prst="rect">
            <a:avLst/>
          </a:prstGeom>
          <a:noFill/>
        </p:spPr>
        <p:txBody>
          <a:bodyPr wrap="square" lIns="91440" tIns="45720" rIns="91440" bIns="45720" rtlCol="0">
            <a:spAutoFit/>
          </a:bodyPr>
          <a:lstStyle/>
          <a:p>
            <a:pPr algn="ctr"/>
            <a:r>
              <a:rPr lang="en-US" sz="2400"/>
              <a:t>Stretch and develop them in their current job</a:t>
            </a:r>
          </a:p>
        </p:txBody>
      </p:sp>
      <p:sp>
        <p:nvSpPr>
          <p:cNvPr id="2" name="TextBox 1">
            <a:extLst>
              <a:ext uri="{FF2B5EF4-FFF2-40B4-BE49-F238E27FC236}">
                <a16:creationId xmlns:a16="http://schemas.microsoft.com/office/drawing/2014/main" id="{CC914825-62A5-4F5A-1400-4C5A993D0520}"/>
              </a:ext>
            </a:extLst>
          </p:cNvPr>
          <p:cNvSpPr txBox="1"/>
          <p:nvPr/>
        </p:nvSpPr>
        <p:spPr>
          <a:xfrm>
            <a:off x="5515764" y="5334890"/>
            <a:ext cx="4817368" cy="830997"/>
          </a:xfrm>
          <a:prstGeom prst="rect">
            <a:avLst/>
          </a:prstGeom>
          <a:solidFill>
            <a:srgbClr val="FFFFFF">
              <a:alpha val="69804"/>
            </a:srgbClr>
          </a:solidFill>
        </p:spPr>
        <p:txBody>
          <a:bodyPr wrap="square" lIns="91440" tIns="45720" rIns="91440" bIns="45720" rtlCol="0">
            <a:spAutoFit/>
          </a:bodyPr>
          <a:lstStyle/>
          <a:p>
            <a:pPr algn="ctr"/>
            <a:r>
              <a:rPr lang="en-US" sz="2400" dirty="0"/>
              <a:t>Sequenced actions to prepare them for the future</a:t>
            </a:r>
          </a:p>
        </p:txBody>
      </p:sp>
      <p:grpSp>
        <p:nvGrpSpPr>
          <p:cNvPr id="17" name="Group 16">
            <a:extLst>
              <a:ext uri="{FF2B5EF4-FFF2-40B4-BE49-F238E27FC236}">
                <a16:creationId xmlns:a16="http://schemas.microsoft.com/office/drawing/2014/main" id="{DD46E6B8-62A1-723A-D3E1-1168D6D2F133}"/>
              </a:ext>
            </a:extLst>
          </p:cNvPr>
          <p:cNvGrpSpPr/>
          <p:nvPr/>
        </p:nvGrpSpPr>
        <p:grpSpPr>
          <a:xfrm>
            <a:off x="1062634" y="1436104"/>
            <a:ext cx="6468466" cy="1015926"/>
            <a:chOff x="491134" y="1061470"/>
            <a:chExt cx="6468466" cy="1015926"/>
          </a:xfrm>
        </p:grpSpPr>
        <p:sp>
          <p:nvSpPr>
            <p:cNvPr id="5" name="TextBox 4">
              <a:extLst>
                <a:ext uri="{FF2B5EF4-FFF2-40B4-BE49-F238E27FC236}">
                  <a16:creationId xmlns:a16="http://schemas.microsoft.com/office/drawing/2014/main" id="{D28BC00D-CA2F-946A-3ACB-EAD87079432E}"/>
                </a:ext>
              </a:extLst>
            </p:cNvPr>
            <p:cNvSpPr txBox="1"/>
            <p:nvPr/>
          </p:nvSpPr>
          <p:spPr>
            <a:xfrm>
              <a:off x="491134" y="1061470"/>
              <a:ext cx="1020166" cy="1015926"/>
            </a:xfrm>
            <a:prstGeom prst="rect">
              <a:avLst/>
            </a:prstGeom>
            <a:solidFill>
              <a:srgbClr val="281A42"/>
            </a:solidFill>
          </p:spPr>
          <p:txBody>
            <a:bodyPr wrap="square" lIns="91440" tIns="45720" rIns="91440" bIns="45720" rtlCol="0" anchor="ctr">
              <a:noAutofit/>
            </a:bodyPr>
            <a:lstStyle/>
            <a:p>
              <a:pPr algn="ctr"/>
              <a:r>
                <a:rPr lang="en-US" sz="2800" b="1">
                  <a:solidFill>
                    <a:schemeClr val="bg1"/>
                  </a:solidFill>
                </a:rPr>
                <a:t>Goal</a:t>
              </a:r>
            </a:p>
          </p:txBody>
        </p:sp>
        <p:sp>
          <p:nvSpPr>
            <p:cNvPr id="8" name="TextBox 7">
              <a:extLst>
                <a:ext uri="{FF2B5EF4-FFF2-40B4-BE49-F238E27FC236}">
                  <a16:creationId xmlns:a16="http://schemas.microsoft.com/office/drawing/2014/main" id="{0FC84DA5-5AC6-E21B-7E5A-234126C01BC7}"/>
                </a:ext>
              </a:extLst>
            </p:cNvPr>
            <p:cNvSpPr txBox="1"/>
            <p:nvPr/>
          </p:nvSpPr>
          <p:spPr>
            <a:xfrm>
              <a:off x="1511300" y="1071556"/>
              <a:ext cx="5448300" cy="1005840"/>
            </a:xfrm>
            <a:prstGeom prst="rect">
              <a:avLst/>
            </a:prstGeom>
            <a:solidFill>
              <a:srgbClr val="281A42"/>
            </a:solidFill>
          </p:spPr>
          <p:txBody>
            <a:bodyPr wrap="square" lIns="182880" tIns="45720" rIns="91440" bIns="45720" rtlCol="0" anchor="ctr">
              <a:noAutofit/>
            </a:bodyPr>
            <a:lstStyle/>
            <a:p>
              <a:pPr>
                <a:lnSpc>
                  <a:spcPct val="110000"/>
                </a:lnSpc>
              </a:pPr>
              <a:r>
                <a:rPr lang="en-US" sz="2000"/>
                <a:t>Address gaps to prepare successors for the  JTBDs in the future</a:t>
              </a:r>
            </a:p>
          </p:txBody>
        </p:sp>
      </p:grpSp>
      <p:cxnSp>
        <p:nvCxnSpPr>
          <p:cNvPr id="23" name="Straight Connector 22">
            <a:extLst>
              <a:ext uri="{FF2B5EF4-FFF2-40B4-BE49-F238E27FC236}">
                <a16:creationId xmlns:a16="http://schemas.microsoft.com/office/drawing/2014/main" id="{2442A382-DFD2-B94C-E139-013F529DC8E1}"/>
              </a:ext>
            </a:extLst>
          </p:cNvPr>
          <p:cNvCxnSpPr/>
          <p:nvPr/>
        </p:nvCxnSpPr>
        <p:spPr>
          <a:xfrm>
            <a:off x="1816100" y="3543300"/>
            <a:ext cx="0" cy="2779508"/>
          </a:xfrm>
          <a:prstGeom prst="line">
            <a:avLst/>
          </a:prstGeom>
          <a:ln w="28575">
            <a:solidFill>
              <a:srgbClr val="2B3A42"/>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319B348-0396-A908-F138-699625592783}"/>
              </a:ext>
            </a:extLst>
          </p:cNvPr>
          <p:cNvCxnSpPr/>
          <p:nvPr/>
        </p:nvCxnSpPr>
        <p:spPr>
          <a:xfrm>
            <a:off x="4806950" y="3543300"/>
            <a:ext cx="0" cy="2779508"/>
          </a:xfrm>
          <a:prstGeom prst="line">
            <a:avLst/>
          </a:prstGeom>
          <a:ln w="28575">
            <a:solidFill>
              <a:srgbClr val="2B3A42"/>
            </a:solidFill>
            <a:prstDash val="dash"/>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E8D5F2F-36DA-51A5-575F-5A291A8C581D}"/>
              </a:ext>
            </a:extLst>
          </p:cNvPr>
          <p:cNvCxnSpPr/>
          <p:nvPr/>
        </p:nvCxnSpPr>
        <p:spPr>
          <a:xfrm>
            <a:off x="11087100" y="3543300"/>
            <a:ext cx="0" cy="2779508"/>
          </a:xfrm>
          <a:prstGeom prst="line">
            <a:avLst/>
          </a:prstGeom>
          <a:ln w="28575">
            <a:solidFill>
              <a:srgbClr val="2B3A42"/>
            </a:solidFill>
            <a:prstDash val="dash"/>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821A255D-86E4-95D4-9E84-C5A2A21F7DD6}"/>
              </a:ext>
            </a:extLst>
          </p:cNvPr>
          <p:cNvSpPr txBox="1"/>
          <p:nvPr/>
        </p:nvSpPr>
        <p:spPr>
          <a:xfrm>
            <a:off x="2364581" y="4529411"/>
            <a:ext cx="1693063" cy="307777"/>
          </a:xfrm>
          <a:prstGeom prst="rect">
            <a:avLst/>
          </a:prstGeom>
          <a:noFill/>
        </p:spPr>
        <p:txBody>
          <a:bodyPr wrap="square" lIns="91440" tIns="45720" rIns="91440" bIns="45720">
            <a:spAutoFit/>
          </a:bodyPr>
          <a:lstStyle/>
          <a:p>
            <a:pPr algn="ctr"/>
            <a:r>
              <a:rPr lang="en-US" sz="1400" i="1">
                <a:solidFill>
                  <a:schemeClr val="bg1"/>
                </a:solidFill>
              </a:rPr>
              <a:t>(0–12 months)</a:t>
            </a:r>
          </a:p>
        </p:txBody>
      </p:sp>
      <p:sp>
        <p:nvSpPr>
          <p:cNvPr id="20" name="TextBox 19">
            <a:extLst>
              <a:ext uri="{FF2B5EF4-FFF2-40B4-BE49-F238E27FC236}">
                <a16:creationId xmlns:a16="http://schemas.microsoft.com/office/drawing/2014/main" id="{C1052DEC-CB11-A091-8380-3E0C8A4C64CD}"/>
              </a:ext>
            </a:extLst>
          </p:cNvPr>
          <p:cNvSpPr txBox="1"/>
          <p:nvPr/>
        </p:nvSpPr>
        <p:spPr>
          <a:xfrm>
            <a:off x="5246420" y="4529411"/>
            <a:ext cx="2427557" cy="307777"/>
          </a:xfrm>
          <a:prstGeom prst="rect">
            <a:avLst/>
          </a:prstGeom>
          <a:noFill/>
        </p:spPr>
        <p:txBody>
          <a:bodyPr wrap="square" lIns="91440" tIns="45720" rIns="91440" bIns="45720">
            <a:spAutoFit/>
          </a:bodyPr>
          <a:lstStyle/>
          <a:p>
            <a:pPr algn="ctr"/>
            <a:r>
              <a:rPr lang="en-US" sz="1400" i="1">
                <a:solidFill>
                  <a:schemeClr val="bg1"/>
                </a:solidFill>
              </a:rPr>
              <a:t>(12-24 months)</a:t>
            </a:r>
          </a:p>
        </p:txBody>
      </p:sp>
      <p:sp>
        <p:nvSpPr>
          <p:cNvPr id="22" name="TextBox 21">
            <a:extLst>
              <a:ext uri="{FF2B5EF4-FFF2-40B4-BE49-F238E27FC236}">
                <a16:creationId xmlns:a16="http://schemas.microsoft.com/office/drawing/2014/main" id="{B7D1FF4E-0817-D72A-E7F9-E379D0C79345}"/>
              </a:ext>
            </a:extLst>
          </p:cNvPr>
          <p:cNvSpPr txBox="1"/>
          <p:nvPr/>
        </p:nvSpPr>
        <p:spPr>
          <a:xfrm>
            <a:off x="8405271" y="4529411"/>
            <a:ext cx="2427557" cy="307777"/>
          </a:xfrm>
          <a:prstGeom prst="rect">
            <a:avLst/>
          </a:prstGeom>
          <a:noFill/>
        </p:spPr>
        <p:txBody>
          <a:bodyPr wrap="square" lIns="91440" tIns="45720" rIns="91440" bIns="45720">
            <a:spAutoFit/>
          </a:bodyPr>
          <a:lstStyle/>
          <a:p>
            <a:pPr algn="ctr"/>
            <a:r>
              <a:rPr lang="en-US" sz="1400" i="1">
                <a:solidFill>
                  <a:schemeClr val="bg1"/>
                </a:solidFill>
              </a:rPr>
              <a:t>(24+ months)</a:t>
            </a:r>
          </a:p>
        </p:txBody>
      </p:sp>
      <p:sp>
        <p:nvSpPr>
          <p:cNvPr id="4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50</a:t>
            </a:fld>
            <a:endParaRPr lang="en-US"/>
          </a:p>
        </p:txBody>
      </p:sp>
      <p:grpSp>
        <p:nvGrpSpPr>
          <p:cNvPr id="3" name="Group 2">
            <a:extLst>
              <a:ext uri="{FF2B5EF4-FFF2-40B4-BE49-F238E27FC236}">
                <a16:creationId xmlns:a16="http://schemas.microsoft.com/office/drawing/2014/main" id="{2A2A32AF-E584-EBC7-FFB8-AF6251567312}"/>
              </a:ext>
            </a:extLst>
          </p:cNvPr>
          <p:cNvGrpSpPr/>
          <p:nvPr/>
        </p:nvGrpSpPr>
        <p:grpSpPr>
          <a:xfrm>
            <a:off x="10403235" y="201614"/>
            <a:ext cx="410690" cy="410700"/>
            <a:chOff x="3506617" y="2730959"/>
            <a:chExt cx="1591098" cy="1591098"/>
          </a:xfrm>
        </p:grpSpPr>
        <p:sp>
          <p:nvSpPr>
            <p:cNvPr id="9" name="Rectangle: Rounded Corners 39">
              <a:extLst>
                <a:ext uri="{FF2B5EF4-FFF2-40B4-BE49-F238E27FC236}">
                  <a16:creationId xmlns:a16="http://schemas.microsoft.com/office/drawing/2014/main" id="{46F36618-8EC7-A25A-C56D-083616DDABF3}"/>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0" name="Rectangle: Rounded Corners 54">
              <a:extLst>
                <a:ext uri="{FF2B5EF4-FFF2-40B4-BE49-F238E27FC236}">
                  <a16:creationId xmlns:a16="http://schemas.microsoft.com/office/drawing/2014/main" id="{D3F9E20D-05C6-D187-4A60-F7BEA7A9C3F5}"/>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1" name="Freeform 56" descr="Clipboard Partially Checked with solid fill">
              <a:extLst>
                <a:ext uri="{FF2B5EF4-FFF2-40B4-BE49-F238E27FC236}">
                  <a16:creationId xmlns:a16="http://schemas.microsoft.com/office/drawing/2014/main" id="{6A15818B-6A37-A86C-F358-2A41BD795115}"/>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12"/>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12" name="Group 11">
            <a:extLst>
              <a:ext uri="{FF2B5EF4-FFF2-40B4-BE49-F238E27FC236}">
                <a16:creationId xmlns:a16="http://schemas.microsoft.com/office/drawing/2014/main" id="{22795909-61A8-DFA3-C132-2D9E3BF3CC28}"/>
              </a:ext>
            </a:extLst>
          </p:cNvPr>
          <p:cNvGrpSpPr/>
          <p:nvPr/>
        </p:nvGrpSpPr>
        <p:grpSpPr>
          <a:xfrm>
            <a:off x="11557682" y="191038"/>
            <a:ext cx="410690" cy="410700"/>
            <a:chOff x="8874309" y="3009260"/>
            <a:chExt cx="1591098" cy="1591098"/>
          </a:xfrm>
        </p:grpSpPr>
        <p:grpSp>
          <p:nvGrpSpPr>
            <p:cNvPr id="13" name="Group 12">
              <a:extLst>
                <a:ext uri="{FF2B5EF4-FFF2-40B4-BE49-F238E27FC236}">
                  <a16:creationId xmlns:a16="http://schemas.microsoft.com/office/drawing/2014/main" id="{000E8A51-8A73-FE23-0139-2D19C380C685}"/>
                </a:ext>
              </a:extLst>
            </p:cNvPr>
            <p:cNvGrpSpPr/>
            <p:nvPr/>
          </p:nvGrpSpPr>
          <p:grpSpPr>
            <a:xfrm>
              <a:off x="8874309" y="3009260"/>
              <a:ext cx="1591098" cy="1591098"/>
              <a:chOff x="9350370" y="2760976"/>
              <a:chExt cx="1591098" cy="1591098"/>
            </a:xfrm>
          </p:grpSpPr>
          <p:sp>
            <p:nvSpPr>
              <p:cNvPr id="15" name="Rectangle: Rounded Corners 39">
                <a:extLst>
                  <a:ext uri="{FF2B5EF4-FFF2-40B4-BE49-F238E27FC236}">
                    <a16:creationId xmlns:a16="http://schemas.microsoft.com/office/drawing/2014/main" id="{BD68AB1D-18AE-BF48-D814-3B3302BF3F47}"/>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6" name="Rectangle: Rounded Corners 54">
                <a:extLst>
                  <a:ext uri="{FF2B5EF4-FFF2-40B4-BE49-F238E27FC236}">
                    <a16:creationId xmlns:a16="http://schemas.microsoft.com/office/drawing/2014/main" id="{707C92C7-288A-8253-E484-F49970EA4D30}"/>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4" name="Picture 51" descr="Map with pin with solid fill">
              <a:extLst>
                <a:ext uri="{FF2B5EF4-FFF2-40B4-BE49-F238E27FC236}">
                  <a16:creationId xmlns:a16="http://schemas.microsoft.com/office/drawing/2014/main" id="{5875DA16-9A8E-E4FE-5D6D-0733E2D0F3BB}"/>
                </a:ext>
              </a:extLst>
            </p:cNvPr>
            <p:cNvPicPr>
              <a:picLocks noChangeAspect="1"/>
            </p:cNvPicPr>
            <p:nvPr/>
          </p:nvPicPr>
          <p:blipFill>
            <a:blip r:embed="rId13">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8" name="Group 17">
            <a:extLst>
              <a:ext uri="{FF2B5EF4-FFF2-40B4-BE49-F238E27FC236}">
                <a16:creationId xmlns:a16="http://schemas.microsoft.com/office/drawing/2014/main" id="{69F7A7AB-52BD-F96E-52A8-8C1B338D35D3}"/>
              </a:ext>
            </a:extLst>
          </p:cNvPr>
          <p:cNvGrpSpPr/>
          <p:nvPr/>
        </p:nvGrpSpPr>
        <p:grpSpPr>
          <a:xfrm>
            <a:off x="10997361" y="200955"/>
            <a:ext cx="410690" cy="410700"/>
            <a:chOff x="5303120" y="3009260"/>
            <a:chExt cx="1591098" cy="1591098"/>
          </a:xfrm>
        </p:grpSpPr>
        <p:grpSp>
          <p:nvGrpSpPr>
            <p:cNvPr id="21" name="Group 20">
              <a:extLst>
                <a:ext uri="{FF2B5EF4-FFF2-40B4-BE49-F238E27FC236}">
                  <a16:creationId xmlns:a16="http://schemas.microsoft.com/office/drawing/2014/main" id="{267CD930-6E56-6950-F536-20E6B7FF7812}"/>
                </a:ext>
              </a:extLst>
            </p:cNvPr>
            <p:cNvGrpSpPr/>
            <p:nvPr/>
          </p:nvGrpSpPr>
          <p:grpSpPr>
            <a:xfrm>
              <a:off x="5303120" y="3009260"/>
              <a:ext cx="1591098" cy="1591098"/>
              <a:chOff x="6428492" y="2760976"/>
              <a:chExt cx="1591098" cy="1591098"/>
            </a:xfrm>
          </p:grpSpPr>
          <p:sp>
            <p:nvSpPr>
              <p:cNvPr id="47" name="Rectangle: Rounded Corners 39">
                <a:extLst>
                  <a:ext uri="{FF2B5EF4-FFF2-40B4-BE49-F238E27FC236}">
                    <a16:creationId xmlns:a16="http://schemas.microsoft.com/office/drawing/2014/main" id="{65D38D1B-5416-C7A8-CD32-C9D51D430E4E}"/>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8" name="Rectangle: Rounded Corners 54">
                <a:extLst>
                  <a:ext uri="{FF2B5EF4-FFF2-40B4-BE49-F238E27FC236}">
                    <a16:creationId xmlns:a16="http://schemas.microsoft.com/office/drawing/2014/main" id="{1B77F472-FBF0-5AFF-F489-6C0CEEEA6327}"/>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6" name="Graphic 22" descr="Target Audience with solid fill">
              <a:extLst>
                <a:ext uri="{FF2B5EF4-FFF2-40B4-BE49-F238E27FC236}">
                  <a16:creationId xmlns:a16="http://schemas.microsoft.com/office/drawing/2014/main" id="{B18408E9-549F-07DD-B466-FCC6368D2836}"/>
                </a:ext>
              </a:extLst>
            </p:cNvPr>
            <p:cNvPicPr>
              <a:picLocks noChangeAspect="1"/>
            </p:cNvPicPr>
            <p:nvPr/>
          </p:nvPicPr>
          <p:blipFill>
            <a:blip r:embed="rId14">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9" name="TextBox 48">
            <a:extLst>
              <a:ext uri="{FF2B5EF4-FFF2-40B4-BE49-F238E27FC236}">
                <a16:creationId xmlns:a16="http://schemas.microsoft.com/office/drawing/2014/main" id="{B88C90ED-A264-99CE-D2EF-68CBA4212248}"/>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0" name="TextBox 49">
            <a:extLst>
              <a:ext uri="{FF2B5EF4-FFF2-40B4-BE49-F238E27FC236}">
                <a16:creationId xmlns:a16="http://schemas.microsoft.com/office/drawing/2014/main" id="{4817ABC3-3609-214D-41FA-4FEB57160FEE}"/>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1" name="TextBox 50">
            <a:extLst>
              <a:ext uri="{FF2B5EF4-FFF2-40B4-BE49-F238E27FC236}">
                <a16:creationId xmlns:a16="http://schemas.microsoft.com/office/drawing/2014/main" id="{D4CDE832-AE8C-48EA-095B-8546EE603370}"/>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2" name="Rectangle 51">
            <a:extLst>
              <a:ext uri="{FF2B5EF4-FFF2-40B4-BE49-F238E27FC236}">
                <a16:creationId xmlns:a16="http://schemas.microsoft.com/office/drawing/2014/main" id="{677F618D-70B5-34EF-3F59-3B08EDFDBAE8}"/>
              </a:ext>
            </a:extLst>
          </p:cNvPr>
          <p:cNvSpPr/>
          <p:nvPr/>
        </p:nvSpPr>
        <p:spPr>
          <a:xfrm>
            <a:off x="10265324" y="155273"/>
            <a:ext cx="1200137"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35939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4"/>
    </p:ext>
  </p:extLs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21B99-4746-1CC2-2663-9E4F949C9A4A}"/>
            </a:ext>
          </a:extLst>
        </p:cNvPr>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76625994-9FE2-9BE5-1837-7F272C7B0AE1}"/>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7" name="Object 6" hidden="1">
                        <a:extLst>
                          <a:ext uri="{FF2B5EF4-FFF2-40B4-BE49-F238E27FC236}">
                            <a16:creationId xmlns:a16="http://schemas.microsoft.com/office/drawing/2014/main" id="{76625994-9FE2-9BE5-1837-7F272C7B0AE1}"/>
                          </a:ext>
                        </a:extLst>
                      </p:cNvPr>
                      <p:cNvPicPr/>
                      <p:nvPr/>
                    </p:nvPicPr>
                    <p:blipFill>
                      <a:blip r:embed="rId6">
                        <a:duotone>
                          <a:srgbClr val="765FFF"/>
                          <a:srgbClr val="FFFFFF"/>
                        </a:duotone>
                      </a:blip>
                      <a:stretch>
                        <a:fillRect/>
                      </a:stretch>
                    </p:blipFill>
                    <p:spPr>
                      <a:xfrm>
                        <a:off x="1589" y="1589"/>
                        <a:ext cx="1588" cy="1588"/>
                      </a:xfrm>
                      <a:prstGeom prst="rect">
                        <a:avLst/>
                      </a:prstGeom>
                    </p:spPr>
                  </p:pic>
                </p:oleObj>
              </mc:Fallback>
            </mc:AlternateContent>
          </a:graphicData>
        </a:graphic>
      </p:graphicFrame>
      <p:sp>
        <p:nvSpPr>
          <p:cNvPr id="4" name="Text Placeholder 3">
            <a:extLst>
              <a:ext uri="{FF2B5EF4-FFF2-40B4-BE49-F238E27FC236}">
                <a16:creationId xmlns:a16="http://schemas.microsoft.com/office/drawing/2014/main" id="{2BD736C9-1F3D-7C18-F39B-94A9461FF595}"/>
              </a:ext>
            </a:extLst>
          </p:cNvPr>
          <p:cNvSpPr>
            <a:spLocks noGrp="1"/>
          </p:cNvSpPr>
          <p:nvPr>
            <p:ph type="title" sz="quarter"/>
          </p:nvPr>
        </p:nvSpPr>
        <p:spPr/>
        <p:txBody>
          <a:bodyPr/>
          <a:lstStyle/>
          <a:p>
            <a:r>
              <a:rPr lang="en-US" b="1" spc="-25">
                <a:solidFill>
                  <a:srgbClr val="00C27A"/>
                </a:solidFill>
                <a:latin typeface="Segoe UI" pitchFamily="34" charset="0"/>
                <a:ea typeface="+mn-ea"/>
                <a:cs typeface="Calibri" panose="020F0502020204030204" pitchFamily="34" charset="0"/>
              </a:rPr>
              <a:t>Example</a:t>
            </a:r>
            <a:r>
              <a:rPr lang="en-US" b="1" spc="-25">
                <a:solidFill>
                  <a:schemeClr val="tx1"/>
                </a:solidFill>
                <a:latin typeface="Segoe UI" pitchFamily="34" charset="0"/>
                <a:ea typeface="+mn-ea"/>
                <a:cs typeface="Calibri" panose="020F0502020204030204" pitchFamily="34" charset="0"/>
              </a:rPr>
              <a:t> - </a:t>
            </a:r>
            <a:r>
              <a:rPr lang="en-US" b="1" spc="-25">
                <a:cs typeface="Calibri" panose="020F0502020204030204" pitchFamily="34" charset="0"/>
              </a:rPr>
              <a:t>development plan</a:t>
            </a:r>
            <a:endParaRPr lang="en-US" b="1" spc="-25">
              <a:solidFill>
                <a:schemeClr val="tx1"/>
              </a:solidFill>
              <a:latin typeface="Segoe UI" pitchFamily="34" charset="0"/>
              <a:ea typeface="+mn-ea"/>
              <a:cs typeface="Calibri" panose="020F0502020204030204" pitchFamily="34" charset="0"/>
            </a:endParaRPr>
          </a:p>
        </p:txBody>
      </p:sp>
      <p:graphicFrame>
        <p:nvGraphicFramePr>
          <p:cNvPr id="2" name="Table 1">
            <a:extLst>
              <a:ext uri="{FF2B5EF4-FFF2-40B4-BE49-F238E27FC236}">
                <a16:creationId xmlns:a16="http://schemas.microsoft.com/office/drawing/2014/main" id="{0ABECBC7-571A-FFAD-2571-D803AA8A4EB1}"/>
              </a:ext>
            </a:extLst>
          </p:cNvPr>
          <p:cNvGraphicFramePr>
            <a:graphicFrameLocks noGrp="1"/>
          </p:cNvGraphicFramePr>
          <p:nvPr>
            <p:extLst>
              <p:ext uri="{D42A27DB-BD31-4B8C-83A1-F6EECF244321}">
                <p14:modId xmlns:p14="http://schemas.microsoft.com/office/powerpoint/2010/main" val="3853408868"/>
              </p:ext>
            </p:extLst>
          </p:nvPr>
        </p:nvGraphicFramePr>
        <p:xfrm>
          <a:off x="1168400" y="2381083"/>
          <a:ext cx="10566400" cy="1569560"/>
        </p:xfrm>
        <a:graphic>
          <a:graphicData uri="http://schemas.openxmlformats.org/drawingml/2006/table">
            <a:tbl>
              <a:tblPr firstRow="1" bandRow="1">
                <a:tableStyleId>{7E9639D4-E3E2-4D34-9284-5A2195B3D0D7}</a:tableStyleId>
              </a:tblPr>
              <a:tblGrid>
                <a:gridCol w="2762617">
                  <a:extLst>
                    <a:ext uri="{9D8B030D-6E8A-4147-A177-3AD203B41FA5}">
                      <a16:colId xmlns:a16="http://schemas.microsoft.com/office/drawing/2014/main" val="3969346356"/>
                    </a:ext>
                  </a:extLst>
                </a:gridCol>
                <a:gridCol w="7803783">
                  <a:extLst>
                    <a:ext uri="{9D8B030D-6E8A-4147-A177-3AD203B41FA5}">
                      <a16:colId xmlns:a16="http://schemas.microsoft.com/office/drawing/2014/main" val="556055413"/>
                    </a:ext>
                  </a:extLst>
                </a:gridCol>
              </a:tblGrid>
              <a:tr h="359260">
                <a:tc>
                  <a:txBody>
                    <a:bodyPr/>
                    <a:lstStyle/>
                    <a:p>
                      <a:pPr algn="l"/>
                      <a:r>
                        <a:rPr lang="en-US" sz="1200"/>
                        <a:t>Development Focus</a:t>
                      </a:r>
                      <a:endParaRPr lang="en-US" sz="1200">
                        <a:latin typeface="Arial" pitchFamily="34" charset="0"/>
                        <a:cs typeface="Arial" panose="020B0604020202020204" pitchFamily="34" charset="0"/>
                      </a:endParaRPr>
                    </a:p>
                  </a:txBody>
                  <a:tcPr>
                    <a:solidFill>
                      <a:srgbClr val="281A42"/>
                    </a:solidFill>
                  </a:tcPr>
                </a:tc>
                <a:tc>
                  <a:txBody>
                    <a:bodyPr/>
                    <a:lstStyle/>
                    <a:p>
                      <a:pPr algn="l"/>
                      <a:r>
                        <a:rPr lang="en-US" sz="1200"/>
                        <a:t>Actions</a:t>
                      </a:r>
                      <a:endParaRPr lang="en-US" sz="1200">
                        <a:latin typeface="Arial" pitchFamily="34" charset="0"/>
                        <a:cs typeface="Arial" panose="020B0604020202020204" pitchFamily="34" charset="0"/>
                      </a:endParaRPr>
                    </a:p>
                  </a:txBody>
                  <a:tcPr>
                    <a:solidFill>
                      <a:srgbClr val="281A42"/>
                    </a:solidFill>
                  </a:tcPr>
                </a:tc>
                <a:extLst>
                  <a:ext uri="{0D108BD9-81ED-4DB2-BD59-A6C34878D82A}">
                    <a16:rowId xmlns:a16="http://schemas.microsoft.com/office/drawing/2014/main" val="2688028102"/>
                  </a:ext>
                </a:extLst>
              </a:tr>
              <a:tr h="585460">
                <a:tc>
                  <a:txBody>
                    <a:bodyPr/>
                    <a:lstStyle/>
                    <a:p>
                      <a:r>
                        <a:rPr lang="en-US" sz="1200" b="1" i="0" kern="1200">
                          <a:solidFill>
                            <a:schemeClr val="tx1"/>
                          </a:solidFill>
                          <a:effectLst/>
                          <a:latin typeface="+mn-lt"/>
                          <a:ea typeface="+mn-ea"/>
                          <a:cs typeface="+mn-cs"/>
                        </a:rPr>
                        <a:t>Platform fluency</a:t>
                      </a:r>
                    </a:p>
                  </a:txBody>
                  <a:tcPr anchor="ctr"/>
                </a:tc>
                <a:tc>
                  <a:txBody>
                    <a:bodyPr/>
                    <a:lstStyle/>
                    <a:p>
                      <a:pPr marL="171450" indent="-171450">
                        <a:lnSpc>
                          <a:spcPts val="1400"/>
                        </a:lnSpc>
                        <a:buFont typeface="Wingdings" pitchFamily="2" charset="2"/>
                        <a:buChar char="q"/>
                      </a:pPr>
                      <a:r>
                        <a:rPr lang="en-US" sz="1200">
                          <a:solidFill>
                            <a:schemeClr val="tx1"/>
                          </a:solidFill>
                          <a:latin typeface="+mn-lt"/>
                          <a:ea typeface="Lato Light"/>
                          <a:cs typeface="Lato Light"/>
                        </a:rPr>
                        <a:t>Shadow the Enterprise Architecture team during a platform sprint and attend vendor/cloud workshops.</a:t>
                      </a:r>
                    </a:p>
                    <a:p>
                      <a:pPr marL="171450" indent="-171450">
                        <a:lnSpc>
                          <a:spcPts val="1400"/>
                        </a:lnSpc>
                        <a:buFont typeface="Wingdings" pitchFamily="2" charset="2"/>
                        <a:buChar char="q"/>
                      </a:pPr>
                      <a:r>
                        <a:rPr lang="en-US" sz="1200">
                          <a:solidFill>
                            <a:schemeClr val="tx1"/>
                          </a:solidFill>
                          <a:latin typeface="+mn-lt"/>
                          <a:ea typeface="Lato Light"/>
                          <a:cs typeface="Lato Light"/>
                        </a:rPr>
                        <a:t>Complete an executive cloud/architecture short course and deliver a one‑page decision memo for an upcoming migration.</a:t>
                      </a:r>
                    </a:p>
                  </a:txBody>
                  <a:tcPr/>
                </a:tc>
                <a:extLst>
                  <a:ext uri="{0D108BD9-81ED-4DB2-BD59-A6C34878D82A}">
                    <a16:rowId xmlns:a16="http://schemas.microsoft.com/office/drawing/2014/main" val="2272458449"/>
                  </a:ext>
                </a:extLst>
              </a:tr>
              <a:tr h="585460">
                <a:tc>
                  <a:txBody>
                    <a:bodyPr/>
                    <a:lstStyle/>
                    <a:p>
                      <a:pPr marL="0" indent="0">
                        <a:spcAft>
                          <a:spcPts val="200"/>
                        </a:spcAft>
                        <a:buFont typeface="+mj-lt"/>
                        <a:buNone/>
                        <a:defRPr/>
                      </a:pPr>
                      <a:r>
                        <a:rPr lang="en-US" sz="1200" b="1" i="0" kern="1200">
                          <a:solidFill>
                            <a:schemeClr val="tx1"/>
                          </a:solidFill>
                          <a:effectLst/>
                          <a:latin typeface="+mn-lt"/>
                          <a:ea typeface="+mn-ea"/>
                          <a:cs typeface="+mn-cs"/>
                        </a:rPr>
                        <a:t>Market‑access &amp; pricing basics</a:t>
                      </a:r>
                      <a:endParaRPr lang="en-US" sz="1000" b="1">
                        <a:solidFill>
                          <a:srgbClr val="00C27A"/>
                        </a:solidFill>
                        <a:ea typeface="Lato Light"/>
                        <a:cs typeface="Lato Light"/>
                      </a:endParaRPr>
                    </a:p>
                  </a:txBody>
                  <a:tcPr anchor="ctr"/>
                </a:tc>
                <a:tc>
                  <a:txBody>
                    <a:bodyPr/>
                    <a:lstStyle/>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r>
                        <a:rPr lang="en-US" sz="1200">
                          <a:solidFill>
                            <a:schemeClr val="tx1"/>
                          </a:solidFill>
                        </a:rPr>
                        <a:t>Co-sponsor one value-based pricing pilot with Market Access; own the topline model and seller brief.</a:t>
                      </a:r>
                    </a:p>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r>
                        <a:rPr lang="en-US" sz="1200">
                          <a:solidFill>
                            <a:schemeClr val="tx1"/>
                          </a:solidFill>
                        </a:rPr>
                        <a:t>Run two payer/partner briefing rehearsals to tighten the evidence narrative and objection handling.</a:t>
                      </a:r>
                    </a:p>
                  </a:txBody>
                  <a:tcPr/>
                </a:tc>
                <a:extLst>
                  <a:ext uri="{0D108BD9-81ED-4DB2-BD59-A6C34878D82A}">
                    <a16:rowId xmlns:a16="http://schemas.microsoft.com/office/drawing/2014/main" val="1980918467"/>
                  </a:ext>
                </a:extLst>
              </a:tr>
            </a:tbl>
          </a:graphicData>
        </a:graphic>
      </p:graphicFrame>
      <p:sp>
        <p:nvSpPr>
          <p:cNvPr id="5" name="Rounded Rectangle 35">
            <a:extLst>
              <a:ext uri="{FF2B5EF4-FFF2-40B4-BE49-F238E27FC236}">
                <a16:creationId xmlns:a16="http://schemas.microsoft.com/office/drawing/2014/main" id="{AD0F462A-5462-3802-526C-2022A0BB426C}"/>
              </a:ext>
            </a:extLst>
          </p:cNvPr>
          <p:cNvSpPr/>
          <p:nvPr/>
        </p:nvSpPr>
        <p:spPr>
          <a:xfrm>
            <a:off x="4214726" y="1002222"/>
            <a:ext cx="3681663" cy="1304904"/>
          </a:xfrm>
          <a:prstGeom prst="roundRect">
            <a:avLst/>
          </a:prstGeom>
          <a:solidFill>
            <a:srgbClr val="EDEDED"/>
          </a:solidFill>
          <a:ln>
            <a:no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200" b="0" i="0" u="none" strike="noStrike" kern="1200" cap="none" spc="-1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endParaRPr>
          </a:p>
        </p:txBody>
      </p:sp>
      <p:sp>
        <p:nvSpPr>
          <p:cNvPr id="6" name="TextBox 5">
            <a:extLst>
              <a:ext uri="{FF2B5EF4-FFF2-40B4-BE49-F238E27FC236}">
                <a16:creationId xmlns:a16="http://schemas.microsoft.com/office/drawing/2014/main" id="{05480936-118B-8A7F-A144-AFDE5F864650}"/>
              </a:ext>
            </a:extLst>
          </p:cNvPr>
          <p:cNvSpPr>
            <a:spLocks noGrp="1"/>
          </p:cNvSpPr>
          <p:nvPr>
            <p:ph idx="1"/>
          </p:nvPr>
        </p:nvSpPr>
        <p:spPr>
          <a:xfrm>
            <a:off x="4399714" y="1094110"/>
            <a:ext cx="3321498" cy="1121128"/>
          </a:xfrm>
          <a:prstGeom prst="rect">
            <a:avLst/>
          </a:prstGeom>
          <a:noFill/>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Signature Strength</a:t>
            </a:r>
          </a:p>
          <a:p>
            <a:pPr marL="171450" lvl="0" indent="-171450">
              <a:buBlip>
                <a:blip r:embed="rId7"/>
              </a:buBlip>
              <a:defRPr/>
            </a:pPr>
            <a:r>
              <a:rPr lang="en-US" sz="1200"/>
              <a:t>A business-first digital leader who converts technical programs into commercial readiness and earns cross‑functional trust to de‑risk launches and scale validated products.</a:t>
            </a:r>
            <a:endParaRPr kumimoji="0" lang="en-US" sz="1200" b="0" i="0"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sp>
        <p:nvSpPr>
          <p:cNvPr id="8" name="Rounded Rectangle 35">
            <a:extLst>
              <a:ext uri="{FF2B5EF4-FFF2-40B4-BE49-F238E27FC236}">
                <a16:creationId xmlns:a16="http://schemas.microsoft.com/office/drawing/2014/main" id="{7E10EDBA-CD8E-65B8-3342-342147E1BDC1}"/>
              </a:ext>
            </a:extLst>
          </p:cNvPr>
          <p:cNvSpPr/>
          <p:nvPr/>
        </p:nvSpPr>
        <p:spPr>
          <a:xfrm>
            <a:off x="8053136" y="1002222"/>
            <a:ext cx="3681663" cy="1304904"/>
          </a:xfrm>
          <a:prstGeom prst="roundRect">
            <a:avLst/>
          </a:prstGeom>
          <a:solidFill>
            <a:srgbClr val="EDEDED"/>
          </a:solidFill>
          <a:ln>
            <a:no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200" b="0" i="0" u="none" strike="noStrike" kern="1200" cap="none" spc="-1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endParaRPr>
          </a:p>
        </p:txBody>
      </p:sp>
      <p:sp>
        <p:nvSpPr>
          <p:cNvPr id="17" name="TextBox 16">
            <a:extLst>
              <a:ext uri="{FF2B5EF4-FFF2-40B4-BE49-F238E27FC236}">
                <a16:creationId xmlns:a16="http://schemas.microsoft.com/office/drawing/2014/main" id="{BB8DA305-4173-092C-5C3D-D023B6CE3046}"/>
              </a:ext>
            </a:extLst>
          </p:cNvPr>
          <p:cNvSpPr txBox="1"/>
          <p:nvPr/>
        </p:nvSpPr>
        <p:spPr>
          <a:xfrm>
            <a:off x="8293768" y="1074499"/>
            <a:ext cx="3109107" cy="1232627"/>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Opportunities for Continued Growth</a:t>
            </a:r>
          </a:p>
          <a:p>
            <a:pPr marL="228600" lvl="0" indent="-228600">
              <a:spcAft>
                <a:spcPts val="200"/>
              </a:spcAft>
              <a:buFont typeface="+mj-lt"/>
              <a:buAutoNum type="arabicPeriod"/>
              <a:defRPr/>
            </a:pPr>
            <a:r>
              <a:rPr lang="en-US" sz="1100" spc="-10">
                <a:latin typeface="Arial" pitchFamily="34" charset="0"/>
                <a:ea typeface="Lato" panose="020F0502020204030203" pitchFamily="34" charset="0"/>
                <a:cs typeface="Lato" panose="020F0502020204030203" pitchFamily="34" charset="0"/>
              </a:rPr>
              <a:t>Deepen platform architecture fluency</a:t>
            </a:r>
          </a:p>
          <a:p>
            <a:pPr marL="228600" lvl="0" indent="-228600">
              <a:spcAft>
                <a:spcPts val="200"/>
              </a:spcAft>
              <a:buFont typeface="+mj-lt"/>
              <a:buAutoNum type="arabicPeriod"/>
              <a:defRPr/>
            </a:pPr>
            <a:r>
              <a:rPr lang="en-US" sz="1100" spc="-10">
                <a:latin typeface="Arial" pitchFamily="34" charset="0"/>
                <a:ea typeface="Lato" panose="020F0502020204030203" pitchFamily="34" charset="0"/>
                <a:cs typeface="Lato" panose="020F0502020204030203" pitchFamily="34" charset="0"/>
              </a:rPr>
              <a:t>Strengthen market-access pricing and seller evidence</a:t>
            </a:r>
          </a:p>
          <a:p>
            <a:pPr marL="228600" lvl="0" indent="-228600">
              <a:spcAft>
                <a:spcPts val="200"/>
              </a:spcAft>
              <a:buFont typeface="+mj-lt"/>
              <a:buAutoNum type="arabicPeriod"/>
              <a:defRPr/>
            </a:pPr>
            <a:r>
              <a:rPr lang="en-US" sz="1100" spc="-10">
                <a:latin typeface="Arial" pitchFamily="34" charset="0"/>
                <a:ea typeface="Lato" panose="020F0502020204030203" pitchFamily="34" charset="0"/>
                <a:cs typeface="Lato" panose="020F0502020204030203" pitchFamily="34" charset="0"/>
              </a:rPr>
              <a:t>Scale MVPs to P&amp;L</a:t>
            </a:r>
          </a:p>
          <a:p>
            <a:pPr marL="228600" lvl="0" indent="-228600">
              <a:spcAft>
                <a:spcPts val="200"/>
              </a:spcAft>
              <a:buFont typeface="+mj-lt"/>
              <a:buAutoNum type="arabicPeriod"/>
              <a:defRPr/>
            </a:pPr>
            <a:r>
              <a:rPr lang="en-US" sz="1100" spc="-10">
                <a:latin typeface="Arial" pitchFamily="34" charset="0"/>
                <a:ea typeface="Lato" panose="020F0502020204030203" pitchFamily="34" charset="0"/>
                <a:cs typeface="Lato" panose="020F0502020204030203" pitchFamily="34" charset="0"/>
              </a:rPr>
              <a:t>Amplify executive presence</a:t>
            </a:r>
          </a:p>
        </p:txBody>
      </p:sp>
      <p:graphicFrame>
        <p:nvGraphicFramePr>
          <p:cNvPr id="19" name="Table 18">
            <a:extLst>
              <a:ext uri="{FF2B5EF4-FFF2-40B4-BE49-F238E27FC236}">
                <a16:creationId xmlns:a16="http://schemas.microsoft.com/office/drawing/2014/main" id="{57C8DAD9-F55F-77F4-D458-CF509680B910}"/>
              </a:ext>
            </a:extLst>
          </p:cNvPr>
          <p:cNvGraphicFramePr>
            <a:graphicFrameLocks noGrp="1"/>
          </p:cNvGraphicFramePr>
          <p:nvPr>
            <p:extLst>
              <p:ext uri="{D42A27DB-BD31-4B8C-83A1-F6EECF244321}">
                <p14:modId xmlns:p14="http://schemas.microsoft.com/office/powerpoint/2010/main" val="1763850593"/>
              </p:ext>
            </p:extLst>
          </p:nvPr>
        </p:nvGraphicFramePr>
        <p:xfrm>
          <a:off x="1168399" y="4092361"/>
          <a:ext cx="10566400" cy="2235258"/>
        </p:xfrm>
        <a:graphic>
          <a:graphicData uri="http://schemas.openxmlformats.org/drawingml/2006/table">
            <a:tbl>
              <a:tblPr firstRow="1" bandRow="1">
                <a:tableStyleId>{7E9639D4-E3E2-4D34-9284-5A2195B3D0D7}</a:tableStyleId>
              </a:tblPr>
              <a:tblGrid>
                <a:gridCol w="2786693">
                  <a:extLst>
                    <a:ext uri="{9D8B030D-6E8A-4147-A177-3AD203B41FA5}">
                      <a16:colId xmlns:a16="http://schemas.microsoft.com/office/drawing/2014/main" val="3969346356"/>
                    </a:ext>
                  </a:extLst>
                </a:gridCol>
                <a:gridCol w="7779707">
                  <a:extLst>
                    <a:ext uri="{9D8B030D-6E8A-4147-A177-3AD203B41FA5}">
                      <a16:colId xmlns:a16="http://schemas.microsoft.com/office/drawing/2014/main" val="556055413"/>
                    </a:ext>
                  </a:extLst>
                </a:gridCol>
              </a:tblGrid>
              <a:tr h="322620">
                <a:tc>
                  <a:txBody>
                    <a:bodyPr/>
                    <a:lstStyle/>
                    <a:p>
                      <a:pPr algn="l"/>
                      <a:r>
                        <a:rPr lang="en-US" sz="1200"/>
                        <a:t>Development Focus</a:t>
                      </a:r>
                      <a:endParaRPr lang="en-US" sz="1200">
                        <a:latin typeface="Arial" pitchFamily="34" charset="0"/>
                        <a:cs typeface="Arial" panose="020B0604020202020204" pitchFamily="34" charset="0"/>
                      </a:endParaRPr>
                    </a:p>
                  </a:txBody>
                  <a:tcPr>
                    <a:solidFill>
                      <a:srgbClr val="281A42"/>
                    </a:solidFill>
                  </a:tcPr>
                </a:tc>
                <a:tc>
                  <a:txBody>
                    <a:bodyPr/>
                    <a:lstStyle/>
                    <a:p>
                      <a:pPr algn="l"/>
                      <a:r>
                        <a:rPr lang="en-US" sz="1200"/>
                        <a:t>Actions</a:t>
                      </a:r>
                      <a:endParaRPr lang="en-US" sz="1200">
                        <a:latin typeface="Arial" pitchFamily="34" charset="0"/>
                        <a:cs typeface="Arial" panose="020B0604020202020204" pitchFamily="34" charset="0"/>
                      </a:endParaRPr>
                    </a:p>
                  </a:txBody>
                  <a:tcPr>
                    <a:solidFill>
                      <a:srgbClr val="281A42"/>
                    </a:solidFill>
                  </a:tcPr>
                </a:tc>
                <a:extLst>
                  <a:ext uri="{0D108BD9-81ED-4DB2-BD59-A6C34878D82A}">
                    <a16:rowId xmlns:a16="http://schemas.microsoft.com/office/drawing/2014/main" val="2688028102"/>
                  </a:ext>
                </a:extLst>
              </a:tr>
              <a:tr h="734857">
                <a:tc>
                  <a:txBody>
                    <a:bodyPr/>
                    <a:lstStyle/>
                    <a:p>
                      <a:r>
                        <a:rPr lang="en-US" sz="1200" b="1" i="0" kern="1200">
                          <a:solidFill>
                            <a:schemeClr val="tx1"/>
                          </a:solidFill>
                          <a:effectLst/>
                          <a:latin typeface="+mn-lt"/>
                          <a:ea typeface="+mn-ea"/>
                          <a:cs typeface="+mn-cs"/>
                        </a:rPr>
                        <a:t>Scale commercialization &amp; P&amp;L ownership</a:t>
                      </a:r>
                    </a:p>
                  </a:txBody>
                  <a:tcPr anchor="ctr"/>
                </a:tc>
                <a:tc>
                  <a:txBody>
                    <a:bodyPr/>
                    <a:lstStyle/>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r>
                        <a:rPr lang="en-US" sz="1200" kern="1200">
                          <a:solidFill>
                            <a:schemeClr val="tx1"/>
                          </a:solidFill>
                          <a:latin typeface="+mn-lt"/>
                          <a:ea typeface="Lato Light"/>
                          <a:cs typeface="Lato Light"/>
                        </a:rPr>
                        <a:t>Convert one validated pilot into a repeatable, multi‑region product (GTM package, P&amp;L, sales incentives, SLAs).</a:t>
                      </a:r>
                    </a:p>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r>
                        <a:rPr lang="en-US" sz="1200" kern="1200">
                          <a:solidFill>
                            <a:schemeClr val="tx1"/>
                          </a:solidFill>
                          <a:latin typeface="+mn-lt"/>
                          <a:ea typeface="Lato Light"/>
                          <a:cs typeface="Lato Light"/>
                        </a:rPr>
                        <a:t>Own quarterly P&amp;L reviews and present the scale plan to the Executive Committee.</a:t>
                      </a:r>
                    </a:p>
                  </a:txBody>
                  <a:tcPr/>
                </a:tc>
                <a:extLst>
                  <a:ext uri="{0D108BD9-81ED-4DB2-BD59-A6C34878D82A}">
                    <a16:rowId xmlns:a16="http://schemas.microsoft.com/office/drawing/2014/main" val="2272458449"/>
                  </a:ext>
                </a:extLst>
              </a:tr>
              <a:tr h="537701">
                <a:tc>
                  <a:txBody>
                    <a:bodyPr/>
                    <a:lstStyle/>
                    <a:p>
                      <a:r>
                        <a:rPr lang="en-US" sz="1200" b="1" i="0" kern="1200">
                          <a:solidFill>
                            <a:schemeClr val="tx1"/>
                          </a:solidFill>
                          <a:effectLst/>
                          <a:latin typeface="+mn-lt"/>
                          <a:ea typeface="+mn-ea"/>
                          <a:cs typeface="+mn-cs"/>
                        </a:rPr>
                        <a:t>Advanced market‑access &amp; pricing capability</a:t>
                      </a:r>
                    </a:p>
                  </a:txBody>
                  <a:tcPr anchor="ctr"/>
                </a:tc>
                <a:tc>
                  <a:txBody>
                    <a:bodyPr/>
                    <a:lstStyle/>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r>
                        <a:rPr lang="en-US" sz="1200" kern="1200">
                          <a:solidFill>
                            <a:schemeClr val="tx1"/>
                          </a:solidFill>
                          <a:latin typeface="+mn-lt"/>
                          <a:ea typeface="Lato Light"/>
                          <a:cs typeface="Lato Light"/>
                        </a:rPr>
                        <a:t>Complete market-access immersion and a payer simulation; roll out a pricing playbook for the scaled product.</a:t>
                      </a:r>
                    </a:p>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r>
                        <a:rPr lang="en-US" sz="1200" kern="1200">
                          <a:solidFill>
                            <a:schemeClr val="tx1"/>
                          </a:solidFill>
                          <a:latin typeface="+mn-lt"/>
                          <a:ea typeface="Lato Light"/>
                          <a:cs typeface="Lato Light"/>
                        </a:rPr>
                        <a:t>Establish simple elasticity and willingness‑to‑pay tests in two markets to refine pricing tiers.</a:t>
                      </a:r>
                    </a:p>
                  </a:txBody>
                  <a:tcPr/>
                </a:tc>
                <a:extLst>
                  <a:ext uri="{0D108BD9-81ED-4DB2-BD59-A6C34878D82A}">
                    <a16:rowId xmlns:a16="http://schemas.microsoft.com/office/drawing/2014/main" val="3611078717"/>
                  </a:ext>
                </a:extLst>
              </a:tr>
              <a:tr h="5377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a:solidFill>
                            <a:schemeClr val="tx1"/>
                          </a:solidFill>
                          <a:effectLst/>
                          <a:latin typeface="+mn-lt"/>
                          <a:ea typeface="+mn-ea"/>
                          <a:cs typeface="+mn-cs"/>
                        </a:rPr>
                        <a:t>Amplify Executive presence</a:t>
                      </a:r>
                    </a:p>
                  </a:txBody>
                  <a:tcPr anchor="ctr"/>
                </a:tc>
                <a:tc>
                  <a:txBody>
                    <a:bodyPr/>
                    <a:lstStyle/>
                    <a:p>
                      <a:pPr marL="171450" indent="-171450">
                        <a:buFont typeface="Wingdings" pitchFamily="2" charset="2"/>
                        <a:buChar char="q"/>
                      </a:pPr>
                      <a:r>
                        <a:rPr lang="en-US" sz="1200" kern="1200">
                          <a:solidFill>
                            <a:schemeClr val="tx1"/>
                          </a:solidFill>
                          <a:latin typeface="+mn-lt"/>
                          <a:ea typeface="Lato Light"/>
                          <a:cs typeface="Lato Light"/>
                        </a:rPr>
                        <a:t>Work with executive coach on improving executive and c-suite communication for impact</a:t>
                      </a:r>
                    </a:p>
                    <a:p>
                      <a:pPr marL="171450" indent="-171450">
                        <a:buFont typeface="Wingdings" pitchFamily="2" charset="2"/>
                        <a:buChar char="q"/>
                      </a:pPr>
                      <a:r>
                        <a:rPr lang="en-US" sz="1200" kern="1200">
                          <a:solidFill>
                            <a:schemeClr val="tx1"/>
                          </a:solidFill>
                          <a:latin typeface="+mn-lt"/>
                          <a:ea typeface="Lato Light"/>
                          <a:cs typeface="Lato Light"/>
                        </a:rPr>
                        <a:t>Present a strategic commercialization review to Exec Committee/Board; solicit stakeholder feedback and adjust communication as needed</a:t>
                      </a:r>
                    </a:p>
                  </a:txBody>
                  <a:tcPr/>
                </a:tc>
                <a:extLst>
                  <a:ext uri="{0D108BD9-81ED-4DB2-BD59-A6C34878D82A}">
                    <a16:rowId xmlns:a16="http://schemas.microsoft.com/office/drawing/2014/main" val="1640922681"/>
                  </a:ext>
                </a:extLst>
              </a:tr>
            </a:tbl>
          </a:graphicData>
        </a:graphic>
      </p:graphicFrame>
      <p:sp>
        <p:nvSpPr>
          <p:cNvPr id="20" name="TextBox 19">
            <a:extLst>
              <a:ext uri="{FF2B5EF4-FFF2-40B4-BE49-F238E27FC236}">
                <a16:creationId xmlns:a16="http://schemas.microsoft.com/office/drawing/2014/main" id="{BC546959-E5B8-4CD8-99DC-7F9553218691}"/>
              </a:ext>
            </a:extLst>
          </p:cNvPr>
          <p:cNvSpPr txBox="1"/>
          <p:nvPr/>
        </p:nvSpPr>
        <p:spPr>
          <a:xfrm>
            <a:off x="-277683" y="4589415"/>
            <a:ext cx="1681871" cy="1138773"/>
          </a:xfrm>
          <a:prstGeom prst="rect">
            <a:avLst/>
          </a:prstGeom>
          <a:noFill/>
        </p:spPr>
        <p:txBody>
          <a:bodyPr wrap="square" lIns="91440" tIns="45720" rIns="9144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rPr>
              <a:t>NEXT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rPr>
              <a:t>&amp;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rPr>
              <a:t>LATER</a:t>
            </a:r>
          </a:p>
          <a:p>
            <a:pPr lvl="0" algn="ctr">
              <a:defRPr/>
            </a:pPr>
            <a:r>
              <a:rPr lang="en-US" sz="1200" b="1"/>
              <a:t>(12–36 months)</a:t>
            </a:r>
            <a:endParaRPr kumimoji="0" lang="en-US" sz="12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endParaRPr>
          </a:p>
        </p:txBody>
      </p:sp>
      <p:sp>
        <p:nvSpPr>
          <p:cNvPr id="22" name="TextBox 21">
            <a:extLst>
              <a:ext uri="{FF2B5EF4-FFF2-40B4-BE49-F238E27FC236}">
                <a16:creationId xmlns:a16="http://schemas.microsoft.com/office/drawing/2014/main" id="{22B154F8-B0FB-0C59-134C-4792973AD6D7}"/>
              </a:ext>
            </a:extLst>
          </p:cNvPr>
          <p:cNvSpPr txBox="1"/>
          <p:nvPr/>
        </p:nvSpPr>
        <p:spPr>
          <a:xfrm>
            <a:off x="-87948" y="2898553"/>
            <a:ext cx="1302399" cy="553998"/>
          </a:xfrm>
          <a:prstGeom prst="rect">
            <a:avLst/>
          </a:prstGeom>
          <a:noFill/>
        </p:spPr>
        <p:txBody>
          <a:bodyPr wrap="square" lIns="91440" tIns="45720" rIns="9144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rPr>
              <a:t>NOW</a:t>
            </a:r>
          </a:p>
          <a:p>
            <a:pPr lvl="0" algn="ctr">
              <a:defRPr/>
            </a:pPr>
            <a:r>
              <a:rPr lang="en-US" sz="1200" b="1"/>
              <a:t> (0–12 months)</a:t>
            </a:r>
            <a:endParaRPr kumimoji="0" lang="en-US" sz="12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endParaRPr>
          </a:p>
        </p:txBody>
      </p:sp>
      <p:sp>
        <p:nvSpPr>
          <p:cNvPr id="23" name="Rounded Rectangle 22">
            <a:extLst>
              <a:ext uri="{FF2B5EF4-FFF2-40B4-BE49-F238E27FC236}">
                <a16:creationId xmlns:a16="http://schemas.microsoft.com/office/drawing/2014/main" id="{E7083EDB-F719-8AFE-7041-F91621F132F7}"/>
              </a:ext>
            </a:extLst>
          </p:cNvPr>
          <p:cNvSpPr/>
          <p:nvPr/>
        </p:nvSpPr>
        <p:spPr>
          <a:xfrm>
            <a:off x="1168400" y="1002222"/>
            <a:ext cx="2876403" cy="1304904"/>
          </a:xfrm>
          <a:prstGeom prst="roundRect">
            <a:avLst/>
          </a:prstGeom>
          <a:noFill/>
          <a:ln w="12700">
            <a:solidFill>
              <a:srgbClr val="2B3A42"/>
            </a:solid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400" b="0" i="0" u="none" strike="noStrike" kern="1200" cap="none" spc="-1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endParaRPr>
          </a:p>
        </p:txBody>
      </p:sp>
      <p:sp>
        <p:nvSpPr>
          <p:cNvPr id="24" name="TextBox 23">
            <a:extLst>
              <a:ext uri="{FF2B5EF4-FFF2-40B4-BE49-F238E27FC236}">
                <a16:creationId xmlns:a16="http://schemas.microsoft.com/office/drawing/2014/main" id="{3AF79094-38E9-D8D7-A901-7E5298438F84}"/>
              </a:ext>
            </a:extLst>
          </p:cNvPr>
          <p:cNvSpPr txBox="1"/>
          <p:nvPr/>
        </p:nvSpPr>
        <p:spPr>
          <a:xfrm>
            <a:off x="1338323" y="1074499"/>
            <a:ext cx="2287193" cy="923938"/>
          </a:xfrm>
          <a:prstGeom prst="rect">
            <a:avLst/>
          </a:prstGeom>
        </p:spPr>
        <p:txBody>
          <a:bodyPr vert="horz" wrap="square" lIns="0" tIns="0" rIns="0" bIns="0" rtlCol="0" anchor="ctr" anchorCtr="0">
            <a:noAutofit/>
          </a:bodyPr>
          <a:lstStyle/>
          <a:p>
            <a:pPr lvl="0">
              <a:lnSpc>
                <a:spcPct val="200000"/>
              </a:lnSpc>
              <a:defRPr/>
            </a:pPr>
            <a:r>
              <a:rPr lang="en-US" sz="1600" b="1" spc="-10">
                <a:latin typeface="Segoe UI" pitchFamily="34" charset="0"/>
                <a:ea typeface="Lato" panose="020F0502020204030203" pitchFamily="34" charset="0"/>
                <a:cs typeface="Lato" panose="020F0502020204030203" pitchFamily="34" charset="0"/>
              </a:rPr>
              <a:t>Marcus Chen</a:t>
            </a:r>
          </a:p>
          <a:p>
            <a:pPr lvl="0">
              <a:lnSpc>
                <a:spcPct val="200000"/>
              </a:lnSpc>
              <a:defRPr/>
            </a:pPr>
            <a:r>
              <a:rPr lang="en-US" sz="1200" spc="-10">
                <a:latin typeface="Arial" pitchFamily="34" charset="0"/>
                <a:ea typeface="Lato" panose="020F0502020204030203" pitchFamily="34" charset="0"/>
                <a:cs typeface="Lato" panose="020F0502020204030203" pitchFamily="34" charset="0"/>
              </a:rPr>
              <a:t>Head of Product &amp; Data Commercialization</a:t>
            </a:r>
            <a:endParaRPr kumimoji="0" lang="en-US" sz="1200" b="0" i="0"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sp>
        <p:nvSpPr>
          <p:cNvPr id="43"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51</a:t>
            </a:fld>
            <a:endParaRPr lang="en-US"/>
          </a:p>
        </p:txBody>
      </p:sp>
      <p:grpSp>
        <p:nvGrpSpPr>
          <p:cNvPr id="3" name="Group 2">
            <a:extLst>
              <a:ext uri="{FF2B5EF4-FFF2-40B4-BE49-F238E27FC236}">
                <a16:creationId xmlns:a16="http://schemas.microsoft.com/office/drawing/2014/main" id="{59C56520-A1AC-5295-E990-AC26BFCFB808}"/>
              </a:ext>
            </a:extLst>
          </p:cNvPr>
          <p:cNvGrpSpPr/>
          <p:nvPr/>
        </p:nvGrpSpPr>
        <p:grpSpPr>
          <a:xfrm>
            <a:off x="10403235" y="201614"/>
            <a:ext cx="410690" cy="410700"/>
            <a:chOff x="3506617" y="2730959"/>
            <a:chExt cx="1591098" cy="1591098"/>
          </a:xfrm>
        </p:grpSpPr>
        <p:sp>
          <p:nvSpPr>
            <p:cNvPr id="9" name="Rectangle: Rounded Corners 39">
              <a:extLst>
                <a:ext uri="{FF2B5EF4-FFF2-40B4-BE49-F238E27FC236}">
                  <a16:creationId xmlns:a16="http://schemas.microsoft.com/office/drawing/2014/main" id="{A68CD048-C06B-2F64-A1AC-AD3E38934027}"/>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0" name="Rectangle: Rounded Corners 54">
              <a:extLst>
                <a:ext uri="{FF2B5EF4-FFF2-40B4-BE49-F238E27FC236}">
                  <a16:creationId xmlns:a16="http://schemas.microsoft.com/office/drawing/2014/main" id="{619FD6D9-A06E-FD21-F099-45AE0CA460B9}"/>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1" name="Freeform 56" descr="Clipboard Partially Checked with solid fill">
              <a:extLst>
                <a:ext uri="{FF2B5EF4-FFF2-40B4-BE49-F238E27FC236}">
                  <a16:creationId xmlns:a16="http://schemas.microsoft.com/office/drawing/2014/main" id="{13CE48C4-5066-5582-F413-B526F5D7554A}"/>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8"/>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12" name="Group 11">
            <a:extLst>
              <a:ext uri="{FF2B5EF4-FFF2-40B4-BE49-F238E27FC236}">
                <a16:creationId xmlns:a16="http://schemas.microsoft.com/office/drawing/2014/main" id="{358FCD90-8E4F-4400-031B-259FB17266FB}"/>
              </a:ext>
            </a:extLst>
          </p:cNvPr>
          <p:cNvGrpSpPr/>
          <p:nvPr/>
        </p:nvGrpSpPr>
        <p:grpSpPr>
          <a:xfrm>
            <a:off x="11557682" y="191038"/>
            <a:ext cx="410690" cy="410700"/>
            <a:chOff x="8874309" y="3009260"/>
            <a:chExt cx="1591098" cy="1591098"/>
          </a:xfrm>
        </p:grpSpPr>
        <p:grpSp>
          <p:nvGrpSpPr>
            <p:cNvPr id="13" name="Group 12">
              <a:extLst>
                <a:ext uri="{FF2B5EF4-FFF2-40B4-BE49-F238E27FC236}">
                  <a16:creationId xmlns:a16="http://schemas.microsoft.com/office/drawing/2014/main" id="{3B8FA41A-BE33-1DDB-EDF5-627CFE2BC072}"/>
                </a:ext>
              </a:extLst>
            </p:cNvPr>
            <p:cNvGrpSpPr/>
            <p:nvPr/>
          </p:nvGrpSpPr>
          <p:grpSpPr>
            <a:xfrm>
              <a:off x="8874309" y="3009260"/>
              <a:ext cx="1591098" cy="1591098"/>
              <a:chOff x="9350370" y="2760976"/>
              <a:chExt cx="1591098" cy="1591098"/>
            </a:xfrm>
          </p:grpSpPr>
          <p:sp>
            <p:nvSpPr>
              <p:cNvPr id="15" name="Rectangle: Rounded Corners 39">
                <a:extLst>
                  <a:ext uri="{FF2B5EF4-FFF2-40B4-BE49-F238E27FC236}">
                    <a16:creationId xmlns:a16="http://schemas.microsoft.com/office/drawing/2014/main" id="{324DB4C5-8A23-2294-A5C7-1D904F71C5D8}"/>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6" name="Rectangle: Rounded Corners 54">
                <a:extLst>
                  <a:ext uri="{FF2B5EF4-FFF2-40B4-BE49-F238E27FC236}">
                    <a16:creationId xmlns:a16="http://schemas.microsoft.com/office/drawing/2014/main" id="{640B13C8-A962-0C50-2E2F-E17C59F0A467}"/>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4" name="Picture 51" descr="Map with pin with solid fill">
              <a:extLst>
                <a:ext uri="{FF2B5EF4-FFF2-40B4-BE49-F238E27FC236}">
                  <a16:creationId xmlns:a16="http://schemas.microsoft.com/office/drawing/2014/main" id="{5BC09CDE-B749-BAF6-761C-529B1412049E}"/>
                </a:ext>
              </a:extLst>
            </p:cNvPr>
            <p:cNvPicPr>
              <a:picLocks noChangeAspect="1"/>
            </p:cNvPicPr>
            <p:nvPr/>
          </p:nvPicPr>
          <p:blipFill>
            <a:blip r:embed="rId9">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8" name="Group 17">
            <a:extLst>
              <a:ext uri="{FF2B5EF4-FFF2-40B4-BE49-F238E27FC236}">
                <a16:creationId xmlns:a16="http://schemas.microsoft.com/office/drawing/2014/main" id="{6477A5B8-A971-CFFD-FCE5-9120592C5DDD}"/>
              </a:ext>
            </a:extLst>
          </p:cNvPr>
          <p:cNvGrpSpPr/>
          <p:nvPr/>
        </p:nvGrpSpPr>
        <p:grpSpPr>
          <a:xfrm>
            <a:off x="10997361" y="200955"/>
            <a:ext cx="410690" cy="410700"/>
            <a:chOff x="5303120" y="3009260"/>
            <a:chExt cx="1591098" cy="1591098"/>
          </a:xfrm>
        </p:grpSpPr>
        <p:grpSp>
          <p:nvGrpSpPr>
            <p:cNvPr id="21" name="Group 20">
              <a:extLst>
                <a:ext uri="{FF2B5EF4-FFF2-40B4-BE49-F238E27FC236}">
                  <a16:creationId xmlns:a16="http://schemas.microsoft.com/office/drawing/2014/main" id="{A5DFED59-DEAC-3BF2-93E5-6EBFC17614FB}"/>
                </a:ext>
              </a:extLst>
            </p:cNvPr>
            <p:cNvGrpSpPr/>
            <p:nvPr/>
          </p:nvGrpSpPr>
          <p:grpSpPr>
            <a:xfrm>
              <a:off x="5303120" y="3009260"/>
              <a:ext cx="1591098" cy="1591098"/>
              <a:chOff x="6428492" y="2760976"/>
              <a:chExt cx="1591098" cy="1591098"/>
            </a:xfrm>
          </p:grpSpPr>
          <p:sp>
            <p:nvSpPr>
              <p:cNvPr id="45" name="Rectangle: Rounded Corners 39">
                <a:extLst>
                  <a:ext uri="{FF2B5EF4-FFF2-40B4-BE49-F238E27FC236}">
                    <a16:creationId xmlns:a16="http://schemas.microsoft.com/office/drawing/2014/main" id="{F5EB8A45-AAAD-80E8-8578-E1396C8568D8}"/>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6" name="Rectangle: Rounded Corners 54">
                <a:extLst>
                  <a:ext uri="{FF2B5EF4-FFF2-40B4-BE49-F238E27FC236}">
                    <a16:creationId xmlns:a16="http://schemas.microsoft.com/office/drawing/2014/main" id="{B4CB59FB-AAB8-F756-D6B0-8A9650D2188E}"/>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4" name="Graphic 22" descr="Target Audience with solid fill">
              <a:extLst>
                <a:ext uri="{FF2B5EF4-FFF2-40B4-BE49-F238E27FC236}">
                  <a16:creationId xmlns:a16="http://schemas.microsoft.com/office/drawing/2014/main" id="{0E3F5366-B0E1-5F48-A706-48D79951F151}"/>
                </a:ext>
              </a:extLst>
            </p:cNvPr>
            <p:cNvPicPr>
              <a:picLocks noChangeAspect="1"/>
            </p:cNvPicPr>
            <p:nvPr/>
          </p:nvPicPr>
          <p:blipFill>
            <a:blip r:embed="rId10">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7" name="TextBox 46">
            <a:extLst>
              <a:ext uri="{FF2B5EF4-FFF2-40B4-BE49-F238E27FC236}">
                <a16:creationId xmlns:a16="http://schemas.microsoft.com/office/drawing/2014/main" id="{B4EDA8EC-8882-23C8-B697-105814867FC2}"/>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8" name="TextBox 47">
            <a:extLst>
              <a:ext uri="{FF2B5EF4-FFF2-40B4-BE49-F238E27FC236}">
                <a16:creationId xmlns:a16="http://schemas.microsoft.com/office/drawing/2014/main" id="{FEC79F45-08EA-D5E0-E29E-B34B18E1FC77}"/>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9" name="TextBox 48">
            <a:extLst>
              <a:ext uri="{FF2B5EF4-FFF2-40B4-BE49-F238E27FC236}">
                <a16:creationId xmlns:a16="http://schemas.microsoft.com/office/drawing/2014/main" id="{55A0BA7C-1389-C9EE-5050-37A5D1336E0D}"/>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0" name="Rectangle 49">
            <a:extLst>
              <a:ext uri="{FF2B5EF4-FFF2-40B4-BE49-F238E27FC236}">
                <a16:creationId xmlns:a16="http://schemas.microsoft.com/office/drawing/2014/main" id="{8378C438-2EC1-BF6C-80BE-CB8A3FCF1D66}"/>
              </a:ext>
            </a:extLst>
          </p:cNvPr>
          <p:cNvSpPr/>
          <p:nvPr/>
        </p:nvSpPr>
        <p:spPr>
          <a:xfrm>
            <a:off x="10265324" y="155273"/>
            <a:ext cx="1200137"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1454306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4"/>
    </p:ext>
  </p:extLs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B6ECF-C7EE-9D41-E0A1-D5B648C7E13F}"/>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C86E2D4A-6F3E-2711-F08E-1440A22BDA37}"/>
              </a:ext>
            </a:extLst>
          </p:cNvPr>
          <p:cNvSpPr/>
          <p:nvPr/>
        </p:nvSpPr>
        <p:spPr>
          <a:xfrm>
            <a:off x="5063317" y="1815155"/>
            <a:ext cx="6769289" cy="794575"/>
          </a:xfrm>
          <a:prstGeom prst="rect">
            <a:avLst/>
          </a:prstGeom>
          <a:solidFill>
            <a:srgbClr val="2B3A42"/>
          </a:solidFill>
          <a:ln>
            <a:solidFill>
              <a:srgbClr val="2B3A42"/>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365760" rtlCol="0" anchor="ctr"/>
          <a:lstStyle/>
          <a:p>
            <a:r>
              <a:rPr lang="en-US" b="1" spc="-10">
                <a:latin typeface="Segoe UI" pitchFamily="34" charset="0"/>
              </a:rPr>
              <a:t>Activities</a:t>
            </a:r>
            <a:r>
              <a:rPr lang="en-US" spc="-10">
                <a:latin typeface="Arial" pitchFamily="34" charset="0"/>
              </a:rPr>
              <a:t> that are tailored for specific successor</a:t>
            </a:r>
          </a:p>
        </p:txBody>
      </p:sp>
      <p:sp>
        <p:nvSpPr>
          <p:cNvPr id="26" name="Rectangle 25">
            <a:extLst>
              <a:ext uri="{FF2B5EF4-FFF2-40B4-BE49-F238E27FC236}">
                <a16:creationId xmlns:a16="http://schemas.microsoft.com/office/drawing/2014/main" id="{A10625A4-5D89-58A4-3729-151EB3C959B9}"/>
              </a:ext>
            </a:extLst>
          </p:cNvPr>
          <p:cNvSpPr/>
          <p:nvPr/>
        </p:nvSpPr>
        <p:spPr>
          <a:xfrm>
            <a:off x="5063317" y="2774048"/>
            <a:ext cx="6769289" cy="794575"/>
          </a:xfrm>
          <a:prstGeom prst="rect">
            <a:avLst/>
          </a:prstGeom>
          <a:solidFill>
            <a:srgbClr val="2B3A42"/>
          </a:solidFill>
          <a:ln>
            <a:solidFill>
              <a:srgbClr val="2B3A42"/>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365760" tIns="45720" rIns="91440" bIns="45720" rtlCol="0" anchor="ctr"/>
          <a:lstStyle/>
          <a:p>
            <a:r>
              <a:rPr lang="en-US" spc="-10">
                <a:latin typeface="Arial" pitchFamily="34" charset="0"/>
                <a:ea typeface="Lato"/>
                <a:cs typeface="Lato"/>
              </a:rPr>
              <a:t>Consider what about the </a:t>
            </a:r>
            <a:r>
              <a:rPr lang="en-US" b="1" spc="-10">
                <a:latin typeface="Segoe UI" pitchFamily="34" charset="0"/>
                <a:ea typeface="Lato"/>
                <a:cs typeface="Lato"/>
              </a:rPr>
              <a:t>role</a:t>
            </a:r>
            <a:r>
              <a:rPr lang="en-US" spc="-10">
                <a:latin typeface="Arial" pitchFamily="34" charset="0"/>
                <a:ea typeface="Lato"/>
                <a:cs typeface="Lato"/>
              </a:rPr>
              <a:t> will be new or difficult for the successor based on their experience</a:t>
            </a:r>
            <a:endParaRPr lang="en-US" spc="-10">
              <a:latin typeface="Arial" pitchFamily="34" charset="0"/>
            </a:endParaRPr>
          </a:p>
        </p:txBody>
      </p:sp>
      <p:sp>
        <p:nvSpPr>
          <p:cNvPr id="27" name="Rectangle 26">
            <a:extLst>
              <a:ext uri="{FF2B5EF4-FFF2-40B4-BE49-F238E27FC236}">
                <a16:creationId xmlns:a16="http://schemas.microsoft.com/office/drawing/2014/main" id="{C987B143-EA98-A2EF-B150-442823B61AD3}"/>
              </a:ext>
            </a:extLst>
          </p:cNvPr>
          <p:cNvSpPr/>
          <p:nvPr/>
        </p:nvSpPr>
        <p:spPr>
          <a:xfrm>
            <a:off x="5063317" y="3732941"/>
            <a:ext cx="6769289" cy="794575"/>
          </a:xfrm>
          <a:prstGeom prst="rect">
            <a:avLst/>
          </a:prstGeom>
          <a:solidFill>
            <a:srgbClr val="2B3A42"/>
          </a:solidFill>
          <a:ln>
            <a:solidFill>
              <a:srgbClr val="2B3A42"/>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365760" rtlCol="0" anchor="ctr"/>
          <a:lstStyle/>
          <a:p>
            <a:r>
              <a:rPr lang="en-US" b="1" spc="-10">
                <a:latin typeface="Segoe UI" pitchFamily="34" charset="0"/>
              </a:rPr>
              <a:t>Interventions</a:t>
            </a:r>
            <a:r>
              <a:rPr lang="en-US" spc="-10">
                <a:latin typeface="Arial" pitchFamily="34" charset="0"/>
              </a:rPr>
              <a:t> put in place to mitigate risks</a:t>
            </a:r>
          </a:p>
        </p:txBody>
      </p:sp>
      <p:sp>
        <p:nvSpPr>
          <p:cNvPr id="28" name="Rectangle 27">
            <a:extLst>
              <a:ext uri="{FF2B5EF4-FFF2-40B4-BE49-F238E27FC236}">
                <a16:creationId xmlns:a16="http://schemas.microsoft.com/office/drawing/2014/main" id="{1C778956-EA69-86F3-C8B6-A3C2A72E7698}"/>
              </a:ext>
            </a:extLst>
          </p:cNvPr>
          <p:cNvSpPr/>
          <p:nvPr/>
        </p:nvSpPr>
        <p:spPr>
          <a:xfrm>
            <a:off x="5063317" y="4691834"/>
            <a:ext cx="6769289" cy="794575"/>
          </a:xfrm>
          <a:prstGeom prst="rect">
            <a:avLst/>
          </a:prstGeom>
          <a:solidFill>
            <a:srgbClr val="2B3A42"/>
          </a:solidFill>
          <a:ln>
            <a:solidFill>
              <a:srgbClr val="2B3A42"/>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365760" rtlCol="0" anchor="ctr"/>
          <a:lstStyle/>
          <a:p>
            <a:r>
              <a:rPr lang="en-US" spc="-10">
                <a:latin typeface="Arial" pitchFamily="34" charset="0"/>
              </a:rPr>
              <a:t>Doing all we can to prepare the successor to </a:t>
            </a:r>
            <a:r>
              <a:rPr lang="en-US" b="1" spc="-10">
                <a:latin typeface="Segoe UI" pitchFamily="34" charset="0"/>
              </a:rPr>
              <a:t>deliver value </a:t>
            </a:r>
            <a:r>
              <a:rPr lang="en-US" spc="-10">
                <a:latin typeface="Arial" pitchFamily="34" charset="0"/>
              </a:rPr>
              <a:t>in the future role</a:t>
            </a:r>
          </a:p>
        </p:txBody>
      </p:sp>
      <p:sp>
        <p:nvSpPr>
          <p:cNvPr id="2" name="Text Placeholder 1">
            <a:extLst>
              <a:ext uri="{FF2B5EF4-FFF2-40B4-BE49-F238E27FC236}">
                <a16:creationId xmlns:a16="http://schemas.microsoft.com/office/drawing/2014/main" id="{033A0298-4803-D392-B30B-F5E9EDF9BB56}"/>
              </a:ext>
            </a:extLst>
          </p:cNvPr>
          <p:cNvSpPr>
            <a:spLocks noGrp="1"/>
          </p:cNvSpPr>
          <p:nvPr>
            <p:ph type="title" sz="quarter"/>
          </p:nvPr>
        </p:nvSpPr>
        <p:spPr/>
        <p:txBody>
          <a:bodyPr/>
          <a:lstStyle/>
          <a:p>
            <a:r>
              <a:rPr lang="en-US" b="1" spc="-25">
                <a:latin typeface="Segoe UI" pitchFamily="34" charset="0"/>
              </a:rPr>
              <a:t>Driving the role to deliver the value</a:t>
            </a:r>
          </a:p>
        </p:txBody>
      </p:sp>
      <p:grpSp>
        <p:nvGrpSpPr>
          <p:cNvPr id="20" name="Group 19">
            <a:extLst>
              <a:ext uri="{FF2B5EF4-FFF2-40B4-BE49-F238E27FC236}">
                <a16:creationId xmlns:a16="http://schemas.microsoft.com/office/drawing/2014/main" id="{B8932747-AF99-4562-E1EB-50C38544DB90}"/>
              </a:ext>
            </a:extLst>
          </p:cNvPr>
          <p:cNvGrpSpPr/>
          <p:nvPr/>
        </p:nvGrpSpPr>
        <p:grpSpPr>
          <a:xfrm>
            <a:off x="562763" y="1241946"/>
            <a:ext cx="4681182" cy="5171166"/>
            <a:chOff x="726539" y="1241946"/>
            <a:chExt cx="4681182" cy="5171166"/>
          </a:xfrm>
        </p:grpSpPr>
        <p:sp>
          <p:nvSpPr>
            <p:cNvPr id="18" name="Rectangle: Rounded Corners 17">
              <a:extLst>
                <a:ext uri="{FF2B5EF4-FFF2-40B4-BE49-F238E27FC236}">
                  <a16:creationId xmlns:a16="http://schemas.microsoft.com/office/drawing/2014/main" id="{55284C34-623F-C14B-2397-4EB3F08B765F}"/>
                </a:ext>
              </a:extLst>
            </p:cNvPr>
            <p:cNvSpPr/>
            <p:nvPr/>
          </p:nvSpPr>
          <p:spPr>
            <a:xfrm>
              <a:off x="726539" y="1241946"/>
              <a:ext cx="4681182" cy="4940490"/>
            </a:xfrm>
            <a:prstGeom prst="roundRect">
              <a:avLst>
                <a:gd name="adj" fmla="val 6463"/>
              </a:avLst>
            </a:prstGeom>
            <a:solidFill>
              <a:schemeClr val="tx2"/>
            </a:solidFill>
            <a:ln>
              <a:solidFill>
                <a:srgbClr val="2B3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US" sz="2800" b="1" spc="-10">
                  <a:solidFill>
                    <a:schemeClr val="accent1"/>
                  </a:solidFill>
                  <a:latin typeface="Segoe UI" pitchFamily="34" charset="0"/>
                </a:rPr>
                <a:t>The Succession Development Plan includes:</a:t>
              </a:r>
            </a:p>
          </p:txBody>
        </p:sp>
        <p:pic>
          <p:nvPicPr>
            <p:cNvPr id="19" name="Picture 18" descr="Talent to Value">
              <a:extLst>
                <a:ext uri="{FF2B5EF4-FFF2-40B4-BE49-F238E27FC236}">
                  <a16:creationId xmlns:a16="http://schemas.microsoft.com/office/drawing/2014/main" id="{EC4767F8-CC8D-4561-B55D-19672544720A}"/>
                </a:ext>
              </a:extLst>
            </p:cNvPr>
            <p:cNvPicPr>
              <a:picLocks noChangeAspect="1"/>
            </p:cNvPicPr>
            <p:nvPr/>
          </p:nvPicPr>
          <p:blipFill>
            <a:blip r:embed="rId4">
              <a:duotone>
                <a:srgbClr val="765FFF"/>
                <a:srgbClr val="FFFFFF"/>
              </a:duotone>
            </a:blip>
            <a:stretch>
              <a:fillRect/>
            </a:stretch>
          </p:blipFill>
          <p:spPr>
            <a:xfrm>
              <a:off x="1750122" y="3536642"/>
              <a:ext cx="2876470" cy="2876470"/>
            </a:xfrm>
            <a:prstGeom prst="rect">
              <a:avLst/>
            </a:prstGeom>
          </p:spPr>
        </p:pic>
      </p:grpSp>
      <p:sp>
        <p:nvSpPr>
          <p:cNvPr id="38"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52</a:t>
            </a:fld>
            <a:endParaRPr lang="en-US"/>
          </a:p>
        </p:txBody>
      </p:sp>
      <p:grpSp>
        <p:nvGrpSpPr>
          <p:cNvPr id="3" name="Group 2">
            <a:extLst>
              <a:ext uri="{FF2B5EF4-FFF2-40B4-BE49-F238E27FC236}">
                <a16:creationId xmlns:a16="http://schemas.microsoft.com/office/drawing/2014/main" id="{544E391D-2E60-28E0-9940-E3124DAE2FFD}"/>
              </a:ext>
            </a:extLst>
          </p:cNvPr>
          <p:cNvGrpSpPr/>
          <p:nvPr/>
        </p:nvGrpSpPr>
        <p:grpSpPr>
          <a:xfrm>
            <a:off x="10403235" y="201614"/>
            <a:ext cx="410690" cy="410700"/>
            <a:chOff x="3506617" y="2730959"/>
            <a:chExt cx="1591098" cy="1591098"/>
          </a:xfrm>
        </p:grpSpPr>
        <p:sp>
          <p:nvSpPr>
            <p:cNvPr id="4" name="Rectangle: Rounded Corners 39">
              <a:extLst>
                <a:ext uri="{FF2B5EF4-FFF2-40B4-BE49-F238E27FC236}">
                  <a16:creationId xmlns:a16="http://schemas.microsoft.com/office/drawing/2014/main" id="{6ABE41C0-67E4-2C97-8321-FAE287794A95}"/>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 name="Rectangle: Rounded Corners 54">
              <a:extLst>
                <a:ext uri="{FF2B5EF4-FFF2-40B4-BE49-F238E27FC236}">
                  <a16:creationId xmlns:a16="http://schemas.microsoft.com/office/drawing/2014/main" id="{3D6EEE8F-475C-AAD3-79FE-6BDA9177ACF5}"/>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8" name="Freeform 56" descr="Clipboard Partially Checked with solid fill">
              <a:extLst>
                <a:ext uri="{FF2B5EF4-FFF2-40B4-BE49-F238E27FC236}">
                  <a16:creationId xmlns:a16="http://schemas.microsoft.com/office/drawing/2014/main" id="{DA20491B-BC00-8767-41D9-3DBD7C316785}"/>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9" name="Group 8">
            <a:extLst>
              <a:ext uri="{FF2B5EF4-FFF2-40B4-BE49-F238E27FC236}">
                <a16:creationId xmlns:a16="http://schemas.microsoft.com/office/drawing/2014/main" id="{A75DE333-8CB0-0F0A-42D1-F89CFBE11D3B}"/>
              </a:ext>
            </a:extLst>
          </p:cNvPr>
          <p:cNvGrpSpPr/>
          <p:nvPr/>
        </p:nvGrpSpPr>
        <p:grpSpPr>
          <a:xfrm>
            <a:off x="11557682" y="191038"/>
            <a:ext cx="410690" cy="410700"/>
            <a:chOff x="8874309" y="3009260"/>
            <a:chExt cx="1591098" cy="1591098"/>
          </a:xfrm>
        </p:grpSpPr>
        <p:grpSp>
          <p:nvGrpSpPr>
            <p:cNvPr id="11" name="Group 10">
              <a:extLst>
                <a:ext uri="{FF2B5EF4-FFF2-40B4-BE49-F238E27FC236}">
                  <a16:creationId xmlns:a16="http://schemas.microsoft.com/office/drawing/2014/main" id="{EBC74550-5B81-713E-F2AF-7B7A1EBB5E81}"/>
                </a:ext>
              </a:extLst>
            </p:cNvPr>
            <p:cNvGrpSpPr/>
            <p:nvPr/>
          </p:nvGrpSpPr>
          <p:grpSpPr>
            <a:xfrm>
              <a:off x="8874309" y="3009260"/>
              <a:ext cx="1591098" cy="1591098"/>
              <a:chOff x="9350370" y="2760976"/>
              <a:chExt cx="1591098" cy="1591098"/>
            </a:xfrm>
          </p:grpSpPr>
          <p:sp>
            <p:nvSpPr>
              <p:cNvPr id="13" name="Rectangle: Rounded Corners 39">
                <a:extLst>
                  <a:ext uri="{FF2B5EF4-FFF2-40B4-BE49-F238E27FC236}">
                    <a16:creationId xmlns:a16="http://schemas.microsoft.com/office/drawing/2014/main" id="{2255D659-9F0B-9B25-62EE-FD0045F688F0}"/>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4" name="Rectangle: Rounded Corners 54">
                <a:extLst>
                  <a:ext uri="{FF2B5EF4-FFF2-40B4-BE49-F238E27FC236}">
                    <a16:creationId xmlns:a16="http://schemas.microsoft.com/office/drawing/2014/main" id="{6DCEBC71-7A14-9B73-C53F-37CB2024D136}"/>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2" name="Picture 51" descr="Map with pin with solid fill">
              <a:extLst>
                <a:ext uri="{FF2B5EF4-FFF2-40B4-BE49-F238E27FC236}">
                  <a16:creationId xmlns:a16="http://schemas.microsoft.com/office/drawing/2014/main" id="{1E709287-210A-145F-3653-D79DEABE8F86}"/>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5" name="Group 14">
            <a:extLst>
              <a:ext uri="{FF2B5EF4-FFF2-40B4-BE49-F238E27FC236}">
                <a16:creationId xmlns:a16="http://schemas.microsoft.com/office/drawing/2014/main" id="{B40F8784-E010-E873-E295-B04EEA2475EA}"/>
              </a:ext>
            </a:extLst>
          </p:cNvPr>
          <p:cNvGrpSpPr/>
          <p:nvPr/>
        </p:nvGrpSpPr>
        <p:grpSpPr>
          <a:xfrm>
            <a:off x="10997361" y="200955"/>
            <a:ext cx="410690" cy="410700"/>
            <a:chOff x="5303120" y="3009260"/>
            <a:chExt cx="1591098" cy="1591098"/>
          </a:xfrm>
        </p:grpSpPr>
        <p:grpSp>
          <p:nvGrpSpPr>
            <p:cNvPr id="39" name="Group 38">
              <a:extLst>
                <a:ext uri="{FF2B5EF4-FFF2-40B4-BE49-F238E27FC236}">
                  <a16:creationId xmlns:a16="http://schemas.microsoft.com/office/drawing/2014/main" id="{527F427B-A23D-7242-FFFC-C6E602783FA8}"/>
                </a:ext>
              </a:extLst>
            </p:cNvPr>
            <p:cNvGrpSpPr/>
            <p:nvPr/>
          </p:nvGrpSpPr>
          <p:grpSpPr>
            <a:xfrm>
              <a:off x="5303120" y="3009260"/>
              <a:ext cx="1591098" cy="1591098"/>
              <a:chOff x="6428492" y="2760976"/>
              <a:chExt cx="1591098" cy="1591098"/>
            </a:xfrm>
          </p:grpSpPr>
          <p:sp>
            <p:nvSpPr>
              <p:cNvPr id="41" name="Rectangle: Rounded Corners 39">
                <a:extLst>
                  <a:ext uri="{FF2B5EF4-FFF2-40B4-BE49-F238E27FC236}">
                    <a16:creationId xmlns:a16="http://schemas.microsoft.com/office/drawing/2014/main" id="{F485829B-75F3-FE76-2161-AF6E77D4CB17}"/>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2" name="Rectangle: Rounded Corners 54">
                <a:extLst>
                  <a:ext uri="{FF2B5EF4-FFF2-40B4-BE49-F238E27FC236}">
                    <a16:creationId xmlns:a16="http://schemas.microsoft.com/office/drawing/2014/main" id="{79E54E77-1EB0-3B20-53FA-1688BC944FDD}"/>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0" name="Graphic 22" descr="Target Audience with solid fill">
              <a:extLst>
                <a:ext uri="{FF2B5EF4-FFF2-40B4-BE49-F238E27FC236}">
                  <a16:creationId xmlns:a16="http://schemas.microsoft.com/office/drawing/2014/main" id="{FC1F1AD0-F9D3-0817-4DEE-CB12B6B9D987}"/>
                </a:ext>
              </a:extLst>
            </p:cNvPr>
            <p:cNvPicPr>
              <a:picLocks noChangeAspect="1"/>
            </p:cNvPicPr>
            <p:nvPr/>
          </p:nvPicPr>
          <p:blipFill>
            <a:blip r:embed="rId7">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3" name="TextBox 42">
            <a:extLst>
              <a:ext uri="{FF2B5EF4-FFF2-40B4-BE49-F238E27FC236}">
                <a16:creationId xmlns:a16="http://schemas.microsoft.com/office/drawing/2014/main" id="{0C0911FD-0C51-F408-0C31-015251C70ACE}"/>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4" name="TextBox 43">
            <a:extLst>
              <a:ext uri="{FF2B5EF4-FFF2-40B4-BE49-F238E27FC236}">
                <a16:creationId xmlns:a16="http://schemas.microsoft.com/office/drawing/2014/main" id="{5B2C93E8-6774-4DEC-501A-1B8F4D0C8008}"/>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5" name="TextBox 44">
            <a:extLst>
              <a:ext uri="{FF2B5EF4-FFF2-40B4-BE49-F238E27FC236}">
                <a16:creationId xmlns:a16="http://schemas.microsoft.com/office/drawing/2014/main" id="{DDAF6988-2578-1300-52DA-C68DD1DA7CBD}"/>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6" name="Rectangle 45">
            <a:extLst>
              <a:ext uri="{FF2B5EF4-FFF2-40B4-BE49-F238E27FC236}">
                <a16:creationId xmlns:a16="http://schemas.microsoft.com/office/drawing/2014/main" id="{C7A3CFB2-9A19-5429-0354-0D6930AE8ABF}"/>
              </a:ext>
            </a:extLst>
          </p:cNvPr>
          <p:cNvSpPr/>
          <p:nvPr/>
        </p:nvSpPr>
        <p:spPr>
          <a:xfrm>
            <a:off x="10265324" y="155273"/>
            <a:ext cx="1200137"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861160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135BE-B012-8CC6-4AF0-12EDC62E8EC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190F98C-C59A-324B-AD30-747216622505}"/>
              </a:ext>
            </a:extLst>
          </p:cNvPr>
          <p:cNvSpPr>
            <a:spLocks noGrp="1"/>
          </p:cNvSpPr>
          <p:nvPr>
            <p:ph type="title" sz="quarter"/>
          </p:nvPr>
        </p:nvSpPr>
        <p:spPr/>
        <p:txBody>
          <a:bodyPr/>
          <a:lstStyle/>
          <a:p>
            <a:r>
              <a:rPr lang="en-US" b="1" spc="-25">
                <a:latin typeface="Segoe UI" pitchFamily="34" charset="0"/>
              </a:rPr>
              <a:t>Activity: succession development plan</a:t>
            </a:r>
          </a:p>
        </p:txBody>
      </p:sp>
      <p:sp>
        <p:nvSpPr>
          <p:cNvPr id="4" name="TextBox 3">
            <a:extLst>
              <a:ext uri="{FF2B5EF4-FFF2-40B4-BE49-F238E27FC236}">
                <a16:creationId xmlns:a16="http://schemas.microsoft.com/office/drawing/2014/main" id="{021AB377-53D0-79C9-D9A0-597BE7E2CAF9}"/>
              </a:ext>
            </a:extLst>
          </p:cNvPr>
          <p:cNvSpPr>
            <a:spLocks noGrp="1"/>
          </p:cNvSpPr>
          <p:nvPr>
            <p:ph idx="1"/>
          </p:nvPr>
        </p:nvSpPr>
        <p:spPr>
          <a:xfrm>
            <a:off x="827309" y="2198919"/>
            <a:ext cx="10880597" cy="2616101"/>
          </a:xfrm>
          <a:prstGeom prst="rect">
            <a:avLst/>
          </a:prstGeom>
          <a:noFill/>
        </p:spPr>
        <p:txBody>
          <a:bodyPr wrap="square" lIns="91440" tIns="45720" rIns="91440" bIns="45720" rtlCol="0" anchor="t">
            <a:spAutoFit/>
          </a:bodyPr>
          <a:lstStyle/>
          <a:p>
            <a:pPr marL="228600" lvl="1" indent="-228600">
              <a:spcBef>
                <a:spcPts val="600"/>
              </a:spcBef>
              <a:spcAft>
                <a:spcPts val="600"/>
              </a:spcAft>
              <a:buBlip>
                <a:blip r:embed="rId4"/>
              </a:buBlip>
            </a:pPr>
            <a:r>
              <a:rPr lang="en-US" sz="2400" spc="-10">
                <a:latin typeface="Arial" pitchFamily="34" charset="0"/>
                <a:ea typeface="Lato"/>
                <a:cs typeface="Lato"/>
              </a:rPr>
              <a:t>Review the candidate assessment result for Sarah for the VP of Digital Marketing and Growth role.</a:t>
            </a:r>
          </a:p>
          <a:p>
            <a:pPr marL="228600" lvl="1" indent="-228600">
              <a:spcBef>
                <a:spcPts val="600"/>
              </a:spcBef>
              <a:spcAft>
                <a:spcPts val="600"/>
              </a:spcAft>
              <a:buBlip>
                <a:blip r:embed="rId4"/>
              </a:buBlip>
            </a:pPr>
            <a:r>
              <a:rPr lang="en-US" sz="2400" spc="-10">
                <a:latin typeface="Arial" pitchFamily="34" charset="0"/>
                <a:ea typeface="Lato"/>
                <a:cs typeface="Lato"/>
              </a:rPr>
              <a:t>What gaps exist between Sarah and the future role? What should be her development focus?</a:t>
            </a:r>
          </a:p>
          <a:p>
            <a:pPr marL="228600" lvl="1" indent="-228600">
              <a:spcBef>
                <a:spcPts val="600"/>
              </a:spcBef>
              <a:spcAft>
                <a:spcPts val="600"/>
              </a:spcAft>
              <a:buBlip>
                <a:blip r:embed="rId4"/>
              </a:buBlip>
            </a:pPr>
            <a:r>
              <a:rPr lang="en-US" sz="2400" spc="-10">
                <a:latin typeface="Arial" pitchFamily="34" charset="0"/>
                <a:ea typeface="Lato"/>
                <a:cs typeface="Lato"/>
              </a:rPr>
              <a:t>Identify activities to close those gaps. When should these activities be done for her to have continued growth?</a:t>
            </a:r>
          </a:p>
        </p:txBody>
      </p:sp>
      <p:sp>
        <p:nvSpPr>
          <p:cNvPr id="33"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53</a:t>
            </a:fld>
            <a:endParaRPr lang="en-US"/>
          </a:p>
        </p:txBody>
      </p:sp>
      <p:grpSp>
        <p:nvGrpSpPr>
          <p:cNvPr id="3" name="Group 2">
            <a:extLst>
              <a:ext uri="{FF2B5EF4-FFF2-40B4-BE49-F238E27FC236}">
                <a16:creationId xmlns:a16="http://schemas.microsoft.com/office/drawing/2014/main" id="{5BC9FBBF-1596-A793-725F-C93CF38CB78B}"/>
              </a:ext>
            </a:extLst>
          </p:cNvPr>
          <p:cNvGrpSpPr/>
          <p:nvPr/>
        </p:nvGrpSpPr>
        <p:grpSpPr>
          <a:xfrm>
            <a:off x="10403235" y="201614"/>
            <a:ext cx="410690" cy="410700"/>
            <a:chOff x="3506617" y="2730959"/>
            <a:chExt cx="1591098" cy="1591098"/>
          </a:xfrm>
        </p:grpSpPr>
        <p:sp>
          <p:nvSpPr>
            <p:cNvPr id="6" name="Rectangle: Rounded Corners 39">
              <a:extLst>
                <a:ext uri="{FF2B5EF4-FFF2-40B4-BE49-F238E27FC236}">
                  <a16:creationId xmlns:a16="http://schemas.microsoft.com/office/drawing/2014/main" id="{3964C18E-905C-3ACB-836A-11663B527DDD}"/>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8" name="Rectangle: Rounded Corners 54">
              <a:extLst>
                <a:ext uri="{FF2B5EF4-FFF2-40B4-BE49-F238E27FC236}">
                  <a16:creationId xmlns:a16="http://schemas.microsoft.com/office/drawing/2014/main" id="{C7880B90-2100-868D-EDC5-31D5B15D65B7}"/>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1" name="Freeform 56" descr="Clipboard Partially Checked with solid fill">
              <a:extLst>
                <a:ext uri="{FF2B5EF4-FFF2-40B4-BE49-F238E27FC236}">
                  <a16:creationId xmlns:a16="http://schemas.microsoft.com/office/drawing/2014/main" id="{89ACE499-18D7-3941-70A1-282D8F1DDF57}"/>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12" name="Group 11">
            <a:extLst>
              <a:ext uri="{FF2B5EF4-FFF2-40B4-BE49-F238E27FC236}">
                <a16:creationId xmlns:a16="http://schemas.microsoft.com/office/drawing/2014/main" id="{F9EDA802-9F73-C4F2-2E5F-5670EA3D00E7}"/>
              </a:ext>
            </a:extLst>
          </p:cNvPr>
          <p:cNvGrpSpPr/>
          <p:nvPr/>
        </p:nvGrpSpPr>
        <p:grpSpPr>
          <a:xfrm>
            <a:off x="11557682" y="191038"/>
            <a:ext cx="410690" cy="410700"/>
            <a:chOff x="8874309" y="3009260"/>
            <a:chExt cx="1591098" cy="1591098"/>
          </a:xfrm>
        </p:grpSpPr>
        <p:grpSp>
          <p:nvGrpSpPr>
            <p:cNvPr id="13" name="Group 12">
              <a:extLst>
                <a:ext uri="{FF2B5EF4-FFF2-40B4-BE49-F238E27FC236}">
                  <a16:creationId xmlns:a16="http://schemas.microsoft.com/office/drawing/2014/main" id="{8CC73A8D-4D7C-8036-E9D8-3F10112DD8A4}"/>
                </a:ext>
              </a:extLst>
            </p:cNvPr>
            <p:cNvGrpSpPr/>
            <p:nvPr/>
          </p:nvGrpSpPr>
          <p:grpSpPr>
            <a:xfrm>
              <a:off x="8874309" y="3009260"/>
              <a:ext cx="1591098" cy="1591098"/>
              <a:chOff x="9350370" y="2760976"/>
              <a:chExt cx="1591098" cy="1591098"/>
            </a:xfrm>
          </p:grpSpPr>
          <p:sp>
            <p:nvSpPr>
              <p:cNvPr id="15" name="Rectangle: Rounded Corners 39">
                <a:extLst>
                  <a:ext uri="{FF2B5EF4-FFF2-40B4-BE49-F238E27FC236}">
                    <a16:creationId xmlns:a16="http://schemas.microsoft.com/office/drawing/2014/main" id="{ED12BC9C-F102-ED15-4162-CA2E2AB79483}"/>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6" name="Rectangle: Rounded Corners 54">
                <a:extLst>
                  <a:ext uri="{FF2B5EF4-FFF2-40B4-BE49-F238E27FC236}">
                    <a16:creationId xmlns:a16="http://schemas.microsoft.com/office/drawing/2014/main" id="{C2333631-D1EC-F946-AA0F-A8AD54776BF9}"/>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4" name="Picture 51" descr="Map with pin with solid fill">
              <a:extLst>
                <a:ext uri="{FF2B5EF4-FFF2-40B4-BE49-F238E27FC236}">
                  <a16:creationId xmlns:a16="http://schemas.microsoft.com/office/drawing/2014/main" id="{908A835D-9760-ED1F-2A27-51BB942EC7A6}"/>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7" name="Group 16">
            <a:extLst>
              <a:ext uri="{FF2B5EF4-FFF2-40B4-BE49-F238E27FC236}">
                <a16:creationId xmlns:a16="http://schemas.microsoft.com/office/drawing/2014/main" id="{C34B3578-0FE6-C167-6757-255F1E28F7EC}"/>
              </a:ext>
            </a:extLst>
          </p:cNvPr>
          <p:cNvGrpSpPr/>
          <p:nvPr/>
        </p:nvGrpSpPr>
        <p:grpSpPr>
          <a:xfrm>
            <a:off x="10997361" y="200955"/>
            <a:ext cx="410690" cy="410700"/>
            <a:chOff x="5303120" y="3009260"/>
            <a:chExt cx="1591098" cy="1591098"/>
          </a:xfrm>
        </p:grpSpPr>
        <p:grpSp>
          <p:nvGrpSpPr>
            <p:cNvPr id="28" name="Group 27">
              <a:extLst>
                <a:ext uri="{FF2B5EF4-FFF2-40B4-BE49-F238E27FC236}">
                  <a16:creationId xmlns:a16="http://schemas.microsoft.com/office/drawing/2014/main" id="{8CBE372D-AEE7-6896-960B-3A8DFDF1162E}"/>
                </a:ext>
              </a:extLst>
            </p:cNvPr>
            <p:cNvGrpSpPr/>
            <p:nvPr/>
          </p:nvGrpSpPr>
          <p:grpSpPr>
            <a:xfrm>
              <a:off x="5303120" y="3009260"/>
              <a:ext cx="1591098" cy="1591098"/>
              <a:chOff x="6428492" y="2760976"/>
              <a:chExt cx="1591098" cy="1591098"/>
            </a:xfrm>
          </p:grpSpPr>
          <p:sp>
            <p:nvSpPr>
              <p:cNvPr id="35" name="Rectangle: Rounded Corners 39">
                <a:extLst>
                  <a:ext uri="{FF2B5EF4-FFF2-40B4-BE49-F238E27FC236}">
                    <a16:creationId xmlns:a16="http://schemas.microsoft.com/office/drawing/2014/main" id="{B6A0279C-B3D6-73AF-347E-DDD7081983F7}"/>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6" name="Rectangle: Rounded Corners 54">
                <a:extLst>
                  <a:ext uri="{FF2B5EF4-FFF2-40B4-BE49-F238E27FC236}">
                    <a16:creationId xmlns:a16="http://schemas.microsoft.com/office/drawing/2014/main" id="{CF48AB19-EC7B-04A8-BD49-58DB584868E4}"/>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4" name="Graphic 22" descr="Target Audience with solid fill">
              <a:extLst>
                <a:ext uri="{FF2B5EF4-FFF2-40B4-BE49-F238E27FC236}">
                  <a16:creationId xmlns:a16="http://schemas.microsoft.com/office/drawing/2014/main" id="{803E826D-0CEB-FD8C-C7E5-FEE7B6F92C0A}"/>
                </a:ext>
              </a:extLst>
            </p:cNvPr>
            <p:cNvPicPr>
              <a:picLocks noChangeAspect="1"/>
            </p:cNvPicPr>
            <p:nvPr/>
          </p:nvPicPr>
          <p:blipFill>
            <a:blip r:embed="rId7">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7" name="TextBox 36">
            <a:extLst>
              <a:ext uri="{FF2B5EF4-FFF2-40B4-BE49-F238E27FC236}">
                <a16:creationId xmlns:a16="http://schemas.microsoft.com/office/drawing/2014/main" id="{0BC64B07-D254-4CA3-D26A-2B846AFA5124}"/>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8" name="TextBox 37">
            <a:extLst>
              <a:ext uri="{FF2B5EF4-FFF2-40B4-BE49-F238E27FC236}">
                <a16:creationId xmlns:a16="http://schemas.microsoft.com/office/drawing/2014/main" id="{ED7D0E37-2445-9759-57B0-4B2EA215C00E}"/>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9" name="TextBox 38">
            <a:extLst>
              <a:ext uri="{FF2B5EF4-FFF2-40B4-BE49-F238E27FC236}">
                <a16:creationId xmlns:a16="http://schemas.microsoft.com/office/drawing/2014/main" id="{28CDFE27-CEA2-EAC2-6122-31F05893DEE8}"/>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0" name="Rectangle 39">
            <a:extLst>
              <a:ext uri="{FF2B5EF4-FFF2-40B4-BE49-F238E27FC236}">
                <a16:creationId xmlns:a16="http://schemas.microsoft.com/office/drawing/2014/main" id="{9C91C96E-95C5-5666-CC52-5FAB24FE628E}"/>
              </a:ext>
            </a:extLst>
          </p:cNvPr>
          <p:cNvSpPr/>
          <p:nvPr/>
        </p:nvSpPr>
        <p:spPr>
          <a:xfrm>
            <a:off x="10265324" y="155273"/>
            <a:ext cx="1200137"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2594937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7875F-622A-E0CF-9F37-C270AF8F423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B942E29-7E13-E83E-9766-0E4DC41E1246}"/>
              </a:ext>
            </a:extLst>
          </p:cNvPr>
          <p:cNvSpPr>
            <a:spLocks noGrp="1"/>
          </p:cNvSpPr>
          <p:nvPr>
            <p:ph type="title" sz="quarter"/>
          </p:nvPr>
        </p:nvSpPr>
        <p:spPr/>
        <p:txBody>
          <a:bodyPr lIns="91440" tIns="45720" rIns="91440" bIns="45720" anchor="t"/>
          <a:lstStyle/>
          <a:p>
            <a:r>
              <a:rPr lang="en-US" b="1" spc="-25" dirty="0">
                <a:solidFill>
                  <a:schemeClr val="accent1"/>
                </a:solidFill>
                <a:latin typeface="Segoe UI" pitchFamily="34" charset="0"/>
                <a:ea typeface="Helvetica Neue" panose="02000503000000020004" pitchFamily="2" charset="0"/>
                <a:cs typeface="Helvetica Neue" panose="02000503000000020004" pitchFamily="2" charset="0"/>
              </a:rPr>
              <a:t>Assess succession readiness </a:t>
            </a:r>
            <a:r>
              <a:rPr lang="en-US" b="1" spc="-25" dirty="0">
                <a:latin typeface="Segoe UI" pitchFamily="34" charset="0"/>
                <a:ea typeface="Helvetica Neue" panose="02000503000000020004" pitchFamily="2" charset="0"/>
                <a:cs typeface="Helvetica Neue" panose="02000503000000020004" pitchFamily="2" charset="0"/>
              </a:rPr>
              <a:t>example</a:t>
            </a:r>
          </a:p>
        </p:txBody>
      </p:sp>
      <p:grpSp>
        <p:nvGrpSpPr>
          <p:cNvPr id="24" name="Group 23">
            <a:extLst>
              <a:ext uri="{FF2B5EF4-FFF2-40B4-BE49-F238E27FC236}">
                <a16:creationId xmlns:a16="http://schemas.microsoft.com/office/drawing/2014/main" id="{67AE0040-E7D0-63EE-2CF0-17885FE41D64}"/>
              </a:ext>
            </a:extLst>
          </p:cNvPr>
          <p:cNvGrpSpPr/>
          <p:nvPr/>
        </p:nvGrpSpPr>
        <p:grpSpPr>
          <a:xfrm>
            <a:off x="4971389" y="1148177"/>
            <a:ext cx="6988303" cy="400833"/>
            <a:chOff x="6172200" y="438410"/>
            <a:chExt cx="5405378" cy="400833"/>
          </a:xfrm>
        </p:grpSpPr>
        <p:cxnSp>
          <p:nvCxnSpPr>
            <p:cNvPr id="25" name="Straight Connector 24">
              <a:extLst>
                <a:ext uri="{FF2B5EF4-FFF2-40B4-BE49-F238E27FC236}">
                  <a16:creationId xmlns:a16="http://schemas.microsoft.com/office/drawing/2014/main" id="{DEB95EBC-3306-E406-36F7-5AD7536CF342}"/>
                </a:ext>
              </a:extLst>
            </p:cNvPr>
            <p:cNvCxnSpPr>
              <a:cxnSpLocks/>
            </p:cNvCxnSpPr>
            <p:nvPr/>
          </p:nvCxnSpPr>
          <p:spPr>
            <a:xfrm>
              <a:off x="6172200" y="638826"/>
              <a:ext cx="5405378" cy="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DFC5EB84-4BB2-97CB-099A-EFB543FBF642}"/>
                </a:ext>
              </a:extLst>
            </p:cNvPr>
            <p:cNvSpPr txBox="1"/>
            <p:nvPr/>
          </p:nvSpPr>
          <p:spPr>
            <a:xfrm>
              <a:off x="7934461" y="438410"/>
              <a:ext cx="1961302" cy="400833"/>
            </a:xfrm>
            <a:prstGeom prst="rect">
              <a:avLst/>
            </a:prstGeom>
            <a:solidFill>
              <a:schemeClr val="bg1"/>
            </a:solidFill>
          </p:spPr>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10" normalizeH="0" baseline="0" noProof="0">
                  <a:ln>
                    <a:noFill/>
                  </a:ln>
                  <a:solidFill>
                    <a:prstClr val="black">
                      <a:lumMod val="75000"/>
                      <a:lumOff val="25000"/>
                    </a:prstClr>
                  </a:solidFill>
                  <a:effectLst/>
                  <a:uLnTx/>
                  <a:uFillTx/>
                  <a:latin typeface="Arial" pitchFamily="34" charset="0"/>
                  <a:ea typeface="Lato" panose="020F0502020204030203" pitchFamily="34" charset="0"/>
                  <a:cs typeface="Lato" panose="020F0502020204030203" pitchFamily="34" charset="0"/>
                </a:rPr>
                <a:t>KEY </a:t>
              </a:r>
              <a:r>
                <a:rPr kumimoji="0" lang="en-US" sz="1400" b="1" i="0" u="none" strike="noStrike" kern="1200" cap="none" spc="-10" normalizeH="0" baseline="0" noProof="0">
                  <a:ln>
                    <a:noFill/>
                  </a:ln>
                  <a:solidFill>
                    <a:schemeClr val="accent1"/>
                  </a:solidFill>
                  <a:effectLst/>
                  <a:uLnTx/>
                  <a:uFillTx/>
                  <a:latin typeface="Segoe UI" pitchFamily="34" charset="0"/>
                  <a:ea typeface="Lato" panose="020F0502020204030203" pitchFamily="34" charset="0"/>
                  <a:cs typeface="Lato" panose="020F0502020204030203" pitchFamily="34" charset="0"/>
                </a:rPr>
                <a:t>TALENT</a:t>
              </a:r>
              <a:r>
                <a:rPr kumimoji="0" lang="en-US" sz="1400" b="0" i="0" u="none" strike="noStrike" kern="1200" cap="none" spc="-10" normalizeH="0" baseline="0" noProof="0">
                  <a:ln>
                    <a:noFill/>
                  </a:ln>
                  <a:solidFill>
                    <a:prstClr val="black">
                      <a:lumMod val="75000"/>
                      <a:lumOff val="25000"/>
                    </a:prstClr>
                  </a:solidFill>
                  <a:effectLst/>
                  <a:uLnTx/>
                  <a:uFillTx/>
                  <a:latin typeface="Arial" pitchFamily="34" charset="0"/>
                  <a:ea typeface="Lato" panose="020F0502020204030203" pitchFamily="34" charset="0"/>
                  <a:cs typeface="Lato" panose="020F0502020204030203" pitchFamily="34" charset="0"/>
                </a:rPr>
                <a:t> INSIGHTS</a:t>
              </a:r>
            </a:p>
          </p:txBody>
        </p:sp>
      </p:grpSp>
      <p:sp>
        <p:nvSpPr>
          <p:cNvPr id="27" name="Rounded Rectangle 166">
            <a:extLst>
              <a:ext uri="{FF2B5EF4-FFF2-40B4-BE49-F238E27FC236}">
                <a16:creationId xmlns:a16="http://schemas.microsoft.com/office/drawing/2014/main" id="{F92748CD-CE15-8C21-C002-B559536AFE42}"/>
              </a:ext>
            </a:extLst>
          </p:cNvPr>
          <p:cNvSpPr/>
          <p:nvPr/>
        </p:nvSpPr>
        <p:spPr>
          <a:xfrm>
            <a:off x="4986733" y="5151018"/>
            <a:ext cx="6988303" cy="1196565"/>
          </a:xfrm>
          <a:prstGeom prst="roundRect">
            <a:avLst>
              <a:gd name="adj" fmla="val 2874"/>
            </a:avLst>
          </a:prstGeom>
          <a:solidFill>
            <a:sysClr val="window" lastClr="FFFFFF"/>
          </a:solidFill>
          <a:ln w="9525" cap="flat" cmpd="sng" algn="ctr">
            <a:solidFill>
              <a:sysClr val="window" lastClr="FFFFFF">
                <a:lumMod val="75000"/>
              </a:sysClr>
            </a:solidFill>
            <a:prstDash val="solid"/>
          </a:ln>
          <a:effectLst/>
        </p:spPr>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1D1D1D">
                  <a:lumMod val="75000"/>
                  <a:lumOff val="25000"/>
                </a:srgbClr>
              </a:solidFill>
              <a:effectLst/>
              <a:uLnTx/>
              <a:uFillTx/>
              <a:latin typeface="Arial" pitchFamily="34" charset="0"/>
              <a:ea typeface="Lato" panose="020F0502020204030203" pitchFamily="34" charset="0"/>
              <a:cs typeface="Lato" panose="020F0502020204030203" pitchFamily="34" charset="0"/>
            </a:endParaRPr>
          </a:p>
        </p:txBody>
      </p:sp>
      <p:sp>
        <p:nvSpPr>
          <p:cNvPr id="29" name="TextBox 28">
            <a:extLst>
              <a:ext uri="{FF2B5EF4-FFF2-40B4-BE49-F238E27FC236}">
                <a16:creationId xmlns:a16="http://schemas.microsoft.com/office/drawing/2014/main" id="{0FB88A07-9738-D249-B942-3B72CDFE3404}"/>
              </a:ext>
            </a:extLst>
          </p:cNvPr>
          <p:cNvSpPr>
            <a:spLocks noGrp="1"/>
          </p:cNvSpPr>
          <p:nvPr>
            <p:ph idx="1"/>
          </p:nvPr>
        </p:nvSpPr>
        <p:spPr>
          <a:xfrm>
            <a:off x="5086560" y="5309124"/>
            <a:ext cx="6799674" cy="814061"/>
          </a:xfrm>
          <a:prstGeom prst="rect">
            <a:avLst/>
          </a:prstGeom>
        </p:spPr>
        <p:txBody>
          <a:bodyPr vert="horz" wrap="square" lIns="0" tIns="0" rIns="0" bIns="0" rtlCol="0" anchor="t" anchorCtr="0">
            <a:noAutofit/>
          </a:bodyPr>
          <a:lstStyle/>
          <a:p>
            <a:pPr marL="285750" indent="-285750">
              <a:lnSpc>
                <a:spcPct val="150000"/>
              </a:lnSpc>
              <a:buBlip>
                <a:blip r:embed="rId4"/>
              </a:buBlip>
              <a:defRPr/>
            </a:pPr>
            <a:r>
              <a:rPr lang="en-US" sz="1100"/>
              <a:t>Can Sarah lead cloud‑specific projects that have enterprise impact? </a:t>
            </a:r>
            <a:endParaRPr lang="en-US" sz="1100" spc="-10">
              <a:latin typeface="Arial" pitchFamily="34" charset="0"/>
              <a:ea typeface="Lato" panose="020F0502020204030203" pitchFamily="34" charset="0"/>
              <a:cs typeface="Lato" panose="020F0502020204030203" pitchFamily="34" charset="0"/>
            </a:endParaRPr>
          </a:p>
          <a:p>
            <a:pPr marL="285750" indent="-285750">
              <a:lnSpc>
                <a:spcPct val="150000"/>
              </a:lnSpc>
              <a:buBlip>
                <a:blip r:embed="rId4"/>
              </a:buBlip>
              <a:defRPr/>
            </a:pPr>
            <a:r>
              <a:rPr lang="en-US" sz="1100"/>
              <a:t>Can she demonstrate ownership and create followership for AI commercial projects?</a:t>
            </a:r>
            <a:endParaRPr lang="en-US" sz="1100" spc="-10">
              <a:latin typeface="Arial" pitchFamily="34" charset="0"/>
              <a:ea typeface="Lato" panose="020F0502020204030203" pitchFamily="34" charset="0"/>
              <a:cs typeface="Lato" panose="020F0502020204030203" pitchFamily="34" charset="0"/>
            </a:endParaRPr>
          </a:p>
        </p:txBody>
      </p:sp>
      <p:sp>
        <p:nvSpPr>
          <p:cNvPr id="30" name="Rectangle: Rounded Corners 58">
            <a:extLst>
              <a:ext uri="{FF2B5EF4-FFF2-40B4-BE49-F238E27FC236}">
                <a16:creationId xmlns:a16="http://schemas.microsoft.com/office/drawing/2014/main" id="{6ED0727F-1A59-D12E-4A8A-AC53B15A79F8}"/>
              </a:ext>
            </a:extLst>
          </p:cNvPr>
          <p:cNvSpPr/>
          <p:nvPr/>
        </p:nvSpPr>
        <p:spPr>
          <a:xfrm>
            <a:off x="7035088" y="5005393"/>
            <a:ext cx="2860903" cy="264789"/>
          </a:xfrm>
          <a:prstGeom prst="roundRect">
            <a:avLst/>
          </a:prstGeom>
          <a:solidFill>
            <a:srgbClr val="2B3A42"/>
          </a:solidFill>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r>
              <a:rPr lang="en-US" sz="1400" b="1" spc="-10">
                <a:solidFill>
                  <a:srgbClr val="FFFFFF"/>
                </a:solidFill>
                <a:latin typeface="Segoe UI" pitchFamily="34" charset="0"/>
                <a:ea typeface="Lato" panose="020F0502020204030203" pitchFamily="34" charset="0"/>
                <a:cs typeface="Lato" panose="020F0502020204030203" pitchFamily="34" charset="0"/>
              </a:rPr>
              <a:t>Key Questions</a:t>
            </a:r>
            <a:endParaRPr kumimoji="0" lang="en-US" sz="1400" b="1" i="0" u="none" strike="noStrike" kern="1200" cap="none" spc="-10" normalizeH="0" baseline="0" noProof="0">
              <a:ln>
                <a:noFill/>
              </a:ln>
              <a:solidFill>
                <a:srgbClr val="FFFFFF"/>
              </a:solidFill>
              <a:effectLst/>
              <a:uLnTx/>
              <a:uFillTx/>
              <a:latin typeface="Segoe UI" pitchFamily="34" charset="0"/>
              <a:ea typeface="Lato" panose="020F0502020204030203" pitchFamily="34" charset="0"/>
              <a:cs typeface="Lato" panose="020F0502020204030203" pitchFamily="34" charset="0"/>
            </a:endParaRPr>
          </a:p>
        </p:txBody>
      </p:sp>
      <p:sp>
        <p:nvSpPr>
          <p:cNvPr id="32" name="Rectangle: Rounded Corners 5">
            <a:extLst>
              <a:ext uri="{FF2B5EF4-FFF2-40B4-BE49-F238E27FC236}">
                <a16:creationId xmlns:a16="http://schemas.microsoft.com/office/drawing/2014/main" id="{A870A87E-53CB-8C6F-42EF-E1FDC3029A49}"/>
              </a:ext>
            </a:extLst>
          </p:cNvPr>
          <p:cNvSpPr/>
          <p:nvPr/>
        </p:nvSpPr>
        <p:spPr>
          <a:xfrm>
            <a:off x="468764" y="1273212"/>
            <a:ext cx="4413871" cy="5062865"/>
          </a:xfrm>
          <a:prstGeom prst="roundRect">
            <a:avLst>
              <a:gd name="adj" fmla="val 4418"/>
            </a:avLst>
          </a:prstGeom>
          <a:solidFill>
            <a:schemeClr val="bg1"/>
          </a:solidFill>
          <a:ln>
            <a:solidFill>
              <a:schemeClr val="tx1"/>
            </a:solid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400" b="0" i="0" u="none" strike="noStrike" kern="0" cap="none" spc="-10" normalizeH="0" baseline="0" noProof="0">
              <a:ln>
                <a:noFill/>
              </a:ln>
              <a:solidFill>
                <a:srgbClr val="3B3B3B"/>
              </a:solidFill>
              <a:effectLst/>
              <a:uLnTx/>
              <a:uFillTx/>
              <a:latin typeface="Arial" pitchFamily="34" charset="0"/>
              <a:ea typeface="Lato" panose="020F0502020204030203" pitchFamily="34" charset="0"/>
              <a:cs typeface="Lato" panose="020F0502020204030203" pitchFamily="34" charset="0"/>
            </a:endParaRPr>
          </a:p>
        </p:txBody>
      </p:sp>
      <p:graphicFrame>
        <p:nvGraphicFramePr>
          <p:cNvPr id="33" name="Table 32">
            <a:extLst>
              <a:ext uri="{FF2B5EF4-FFF2-40B4-BE49-F238E27FC236}">
                <a16:creationId xmlns:a16="http://schemas.microsoft.com/office/drawing/2014/main" id="{33A5E7B1-17EB-6858-178C-E418C7280FC9}"/>
              </a:ext>
            </a:extLst>
          </p:cNvPr>
          <p:cNvGraphicFramePr>
            <a:graphicFrameLocks noGrp="1"/>
          </p:cNvGraphicFramePr>
          <p:nvPr>
            <p:extLst>
              <p:ext uri="{D42A27DB-BD31-4B8C-83A1-F6EECF244321}">
                <p14:modId xmlns:p14="http://schemas.microsoft.com/office/powerpoint/2010/main" val="968074827"/>
              </p:ext>
            </p:extLst>
          </p:nvPr>
        </p:nvGraphicFramePr>
        <p:xfrm>
          <a:off x="534932" y="1858232"/>
          <a:ext cx="4210440" cy="3014091"/>
        </p:xfrm>
        <a:graphic>
          <a:graphicData uri="http://schemas.openxmlformats.org/drawingml/2006/table">
            <a:tbl>
              <a:tblPr firstRow="1" bandRow="1">
                <a:noFill/>
              </a:tblPr>
              <a:tblGrid>
                <a:gridCol w="138215">
                  <a:extLst>
                    <a:ext uri="{9D8B030D-6E8A-4147-A177-3AD203B41FA5}">
                      <a16:colId xmlns:a16="http://schemas.microsoft.com/office/drawing/2014/main" val="4045183263"/>
                    </a:ext>
                  </a:extLst>
                </a:gridCol>
                <a:gridCol w="484571">
                  <a:extLst>
                    <a:ext uri="{9D8B030D-6E8A-4147-A177-3AD203B41FA5}">
                      <a16:colId xmlns:a16="http://schemas.microsoft.com/office/drawing/2014/main" val="2792494177"/>
                    </a:ext>
                  </a:extLst>
                </a:gridCol>
                <a:gridCol w="2524029">
                  <a:extLst>
                    <a:ext uri="{9D8B030D-6E8A-4147-A177-3AD203B41FA5}">
                      <a16:colId xmlns:a16="http://schemas.microsoft.com/office/drawing/2014/main" val="712467885"/>
                    </a:ext>
                  </a:extLst>
                </a:gridCol>
                <a:gridCol w="1063625">
                  <a:extLst>
                    <a:ext uri="{9D8B030D-6E8A-4147-A177-3AD203B41FA5}">
                      <a16:colId xmlns:a16="http://schemas.microsoft.com/office/drawing/2014/main" val="744153965"/>
                    </a:ext>
                  </a:extLst>
                </a:gridCol>
              </a:tblGrid>
              <a:tr h="153891">
                <a:tc gridSpan="3">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dirty="0">
                          <a:solidFill>
                            <a:schemeClr val="bg2">
                              <a:lumMod val="50000"/>
                            </a:schemeClr>
                          </a:solidFill>
                          <a:latin typeface="+mj-lt"/>
                          <a:ea typeface="Calibri" panose="020F0502020204030204" pitchFamily="34" charset="0"/>
                          <a:cs typeface="Calibri" panose="020F0502020204030204" pitchFamily="34" charset="0"/>
                        </a:rPr>
                        <a:t>Future Jobs To Be Done</a:t>
                      </a:r>
                    </a:p>
                  </a:txBody>
                  <a:tcPr>
                    <a:lnL w="9525" cap="flat" cmpd="sng" algn="ctr">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400" b="1">
                        <a:solidFill>
                          <a:schemeClr val="tx1"/>
                        </a:solidFill>
                        <a:latin typeface="+mn-lt"/>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000" b="1" i="0" u="none" strike="noStrike" kern="1200" cap="none" spc="0" normalizeH="0" baseline="0" noProof="0">
                          <a:ln>
                            <a:noFill/>
                          </a:ln>
                          <a:solidFill>
                            <a:schemeClr val="bg2">
                              <a:lumMod val="50000"/>
                            </a:schemeClr>
                          </a:solidFill>
                          <a:effectLst/>
                          <a:uLnTx/>
                          <a:uFillTx/>
                          <a:latin typeface="+mn-lt"/>
                          <a:ea typeface="Calibri" panose="020F0502020204030204" pitchFamily="34" charset="0"/>
                          <a:cs typeface="Calibri" panose="020F0502020204030204" pitchFamily="34" charset="0"/>
                        </a:rPr>
                        <a:t>Readiness</a:t>
                      </a:r>
                    </a:p>
                  </a:txBody>
                  <a:tcPr marL="0" marR="0" marT="0" marB="0"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no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58108829"/>
                  </a:ext>
                </a:extLst>
              </a:tr>
              <a:tr h="235361">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1</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30%</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Maximize multiplay economics and push toward saturation</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GB" sz="1200" b="0" i="0" u="none" strike="noStrike" kern="1200" cap="none" spc="0" normalizeH="0" baseline="0" noProof="0">
                        <a:ln>
                          <a:noFill/>
                        </a:ln>
                        <a:solidFill>
                          <a:srgbClr val="BBDC8C"/>
                        </a:solidFill>
                        <a:effectLst/>
                        <a:uLnTx/>
                        <a:uFillTx/>
                        <a:latin typeface="+mj-lt"/>
                        <a:ea typeface="+mn-ea"/>
                        <a:cs typeface="+mn-cs"/>
                      </a:endParaRPr>
                    </a:p>
                  </a:txBody>
                  <a:tcPr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1978187"/>
                  </a:ext>
                </a:extLst>
              </a:tr>
              <a:tr h="235361">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2</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25%</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Transition from MAU growth to engagement depth and monetization</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GB" sz="1200" b="0" i="0" u="none" strike="noStrike" kern="1200" cap="none" spc="0" normalizeH="0" baseline="0" noProof="0">
                        <a:ln>
                          <a:noFill/>
                        </a:ln>
                        <a:solidFill>
                          <a:srgbClr val="BBDC8C"/>
                        </a:solidFill>
                        <a:effectLst/>
                        <a:uLnTx/>
                        <a:uFillTx/>
                        <a:latin typeface="+mj-lt"/>
                        <a:ea typeface="+mn-ea"/>
                        <a:cs typeface="+mn-cs"/>
                      </a:endParaRPr>
                    </a:p>
                  </a:txBody>
                  <a:tcPr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94518935"/>
                  </a:ext>
                </a:extLst>
              </a:tr>
              <a:tr h="235361">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3</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20%</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Scale AI from pilot success to pervasive commercial capability</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0" kern="1200">
                        <a:solidFill>
                          <a:srgbClr val="BBDC8C"/>
                        </a:solidFill>
                        <a:latin typeface="+mn-lt"/>
                        <a:ea typeface="Lato" panose="020F0502020204030203" pitchFamily="34" charset="0"/>
                        <a:cs typeface="Lato" panose="020F0502020204030203" pitchFamily="34" charset="0"/>
                      </a:endParaRPr>
                    </a:p>
                  </a:txBody>
                  <a:tcPr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5556662"/>
                  </a:ext>
                </a:extLst>
              </a:tr>
              <a:tr h="235361">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4</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15%</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Evolve from efficiency optimization to predictive growth investment</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0">
                        <a:solidFill>
                          <a:srgbClr val="FF6B00"/>
                        </a:solidFill>
                        <a:latin typeface="+mj-lt"/>
                        <a:ea typeface="Lato" panose="020F0502020204030203" pitchFamily="34" charset="0"/>
                        <a:cs typeface="Lato" panose="020F0502020204030203" pitchFamily="34" charset="0"/>
                      </a:endParaRPr>
                    </a:p>
                  </a:txBody>
                  <a:tcPr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9558485"/>
                  </a:ext>
                </a:extLst>
              </a:tr>
              <a:tr h="353345">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5</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10%</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Transform marketing organization from execution engine to strategic growth partner</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0">
                        <a:solidFill>
                          <a:srgbClr val="05B050"/>
                        </a:solidFill>
                        <a:latin typeface="+mj-lt"/>
                        <a:ea typeface="Lato" panose="020F0502020204030203" pitchFamily="34" charset="0"/>
                        <a:cs typeface="Lato" panose="020F0502020204030203" pitchFamily="34" charset="0"/>
                      </a:endParaRPr>
                    </a:p>
                  </a:txBody>
                  <a:tcPr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019147"/>
                  </a:ext>
                </a:extLst>
              </a:tr>
            </a:tbl>
          </a:graphicData>
        </a:graphic>
      </p:graphicFrame>
      <p:sp>
        <p:nvSpPr>
          <p:cNvPr id="35" name="TextBox 34">
            <a:extLst>
              <a:ext uri="{FF2B5EF4-FFF2-40B4-BE49-F238E27FC236}">
                <a16:creationId xmlns:a16="http://schemas.microsoft.com/office/drawing/2014/main" id="{78B262BC-67A8-501E-BD90-849D1C1AFC9F}"/>
              </a:ext>
            </a:extLst>
          </p:cNvPr>
          <p:cNvSpPr txBox="1"/>
          <p:nvPr/>
        </p:nvSpPr>
        <p:spPr>
          <a:xfrm>
            <a:off x="563253" y="1354598"/>
            <a:ext cx="2876224" cy="374249"/>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Sarah Hogwen</a:t>
            </a:r>
          </a:p>
          <a:p>
            <a:pPr lvl="0">
              <a:defRPr/>
            </a:pPr>
            <a:r>
              <a:rPr lang="en-US" sz="1200"/>
              <a:t>Regional Marketing Director</a:t>
            </a:r>
            <a:endParaRPr lang="en-US" sz="900" i="1" spc="-10">
              <a:latin typeface="Arial" pitchFamily="34" charset="0"/>
              <a:ea typeface="Lato" panose="020F0502020204030203" pitchFamily="34" charset="0"/>
              <a:cs typeface="Lato" panose="020F0502020204030203" pitchFamily="34" charset="0"/>
            </a:endParaRPr>
          </a:p>
        </p:txBody>
      </p:sp>
      <p:sp>
        <p:nvSpPr>
          <p:cNvPr id="38" name="Rectangle 37">
            <a:extLst>
              <a:ext uri="{FF2B5EF4-FFF2-40B4-BE49-F238E27FC236}">
                <a16:creationId xmlns:a16="http://schemas.microsoft.com/office/drawing/2014/main" id="{79CF888C-046C-3D8D-4214-6033DA0B9448}"/>
              </a:ext>
            </a:extLst>
          </p:cNvPr>
          <p:cNvSpPr/>
          <p:nvPr/>
        </p:nvSpPr>
        <p:spPr>
          <a:xfrm>
            <a:off x="3745425" y="2780618"/>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sp>
        <p:nvSpPr>
          <p:cNvPr id="41" name="Rectangle 40">
            <a:extLst>
              <a:ext uri="{FF2B5EF4-FFF2-40B4-BE49-F238E27FC236}">
                <a16:creationId xmlns:a16="http://schemas.microsoft.com/office/drawing/2014/main" id="{E49F19B9-BF64-3870-1375-D2E8419FEEBD}"/>
              </a:ext>
            </a:extLst>
          </p:cNvPr>
          <p:cNvSpPr/>
          <p:nvPr/>
        </p:nvSpPr>
        <p:spPr>
          <a:xfrm>
            <a:off x="3745425" y="3140117"/>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sp>
        <p:nvSpPr>
          <p:cNvPr id="44" name="Rectangle 43">
            <a:extLst>
              <a:ext uri="{FF2B5EF4-FFF2-40B4-BE49-F238E27FC236}">
                <a16:creationId xmlns:a16="http://schemas.microsoft.com/office/drawing/2014/main" id="{90471654-BE2E-FD9C-27F7-B86FA1483BD5}"/>
              </a:ext>
            </a:extLst>
          </p:cNvPr>
          <p:cNvSpPr/>
          <p:nvPr/>
        </p:nvSpPr>
        <p:spPr>
          <a:xfrm>
            <a:off x="3745425" y="3597492"/>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sp>
        <p:nvSpPr>
          <p:cNvPr id="50" name="Rectangle 49">
            <a:extLst>
              <a:ext uri="{FF2B5EF4-FFF2-40B4-BE49-F238E27FC236}">
                <a16:creationId xmlns:a16="http://schemas.microsoft.com/office/drawing/2014/main" id="{B449C6B2-9326-118A-5D92-8509FC6BB7DC}"/>
              </a:ext>
            </a:extLst>
          </p:cNvPr>
          <p:cNvSpPr/>
          <p:nvPr/>
        </p:nvSpPr>
        <p:spPr>
          <a:xfrm>
            <a:off x="3758128" y="2261049"/>
            <a:ext cx="931815"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graphicFrame>
        <p:nvGraphicFramePr>
          <p:cNvPr id="52" name="Table 51">
            <a:extLst>
              <a:ext uri="{FF2B5EF4-FFF2-40B4-BE49-F238E27FC236}">
                <a16:creationId xmlns:a16="http://schemas.microsoft.com/office/drawing/2014/main" id="{FC14F27E-C53F-13AF-7ED3-B78DA304F917}"/>
              </a:ext>
            </a:extLst>
          </p:cNvPr>
          <p:cNvGraphicFramePr>
            <a:graphicFrameLocks noGrp="1"/>
          </p:cNvGraphicFramePr>
          <p:nvPr>
            <p:extLst>
              <p:ext uri="{D42A27DB-BD31-4B8C-83A1-F6EECF244321}">
                <p14:modId xmlns:p14="http://schemas.microsoft.com/office/powerpoint/2010/main" val="1088818528"/>
              </p:ext>
            </p:extLst>
          </p:nvPr>
        </p:nvGraphicFramePr>
        <p:xfrm>
          <a:off x="563253" y="4518808"/>
          <a:ext cx="4173992" cy="1615588"/>
        </p:xfrm>
        <a:graphic>
          <a:graphicData uri="http://schemas.openxmlformats.org/drawingml/2006/table">
            <a:tbl>
              <a:tblPr firstRow="1">
                <a:noFill/>
              </a:tblPr>
              <a:tblGrid>
                <a:gridCol w="328992">
                  <a:extLst>
                    <a:ext uri="{9D8B030D-6E8A-4147-A177-3AD203B41FA5}">
                      <a16:colId xmlns:a16="http://schemas.microsoft.com/office/drawing/2014/main" val="4045183263"/>
                    </a:ext>
                  </a:extLst>
                </a:gridCol>
                <a:gridCol w="2788160">
                  <a:extLst>
                    <a:ext uri="{9D8B030D-6E8A-4147-A177-3AD203B41FA5}">
                      <a16:colId xmlns:a16="http://schemas.microsoft.com/office/drawing/2014/main" val="712467885"/>
                    </a:ext>
                  </a:extLst>
                </a:gridCol>
                <a:gridCol w="1056840">
                  <a:extLst>
                    <a:ext uri="{9D8B030D-6E8A-4147-A177-3AD203B41FA5}">
                      <a16:colId xmlns:a16="http://schemas.microsoft.com/office/drawing/2014/main" val="744153965"/>
                    </a:ext>
                  </a:extLst>
                </a:gridCol>
              </a:tblGrid>
              <a:tr h="253113">
                <a:tc gridSpan="2">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solidFill>
                            <a:schemeClr val="bg2">
                              <a:lumMod val="50000"/>
                            </a:schemeClr>
                          </a:solidFill>
                          <a:latin typeface="+mj-lt"/>
                          <a:ea typeface="Calibri" panose="020F0502020204030204" pitchFamily="34" charset="0"/>
                          <a:cs typeface="Calibri" panose="020F0502020204030204" pitchFamily="34" charset="0"/>
                        </a:rPr>
                        <a:t>Superpowers</a:t>
                      </a:r>
                    </a:p>
                  </a:txBody>
                  <a:tcPr>
                    <a:lnL w="12700" cap="flat" cmpd="sng" algn="ctr">
                      <a:no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endParaRPr kumimoji="0" lang="en-US" sz="1100" b="1" i="0" u="none" strike="noStrike" kern="1200" cap="none" spc="0" normalizeH="0" baseline="0" noProof="0">
                        <a:ln>
                          <a:noFill/>
                        </a:ln>
                        <a:solidFill>
                          <a:schemeClr val="bg2">
                            <a:lumMod val="50000"/>
                          </a:schemeClr>
                        </a:solidFill>
                        <a:effectLst/>
                        <a:uLnTx/>
                        <a:uFillTx/>
                        <a:latin typeface="+mn-lt"/>
                        <a:ea typeface="Calibri" panose="020F0502020204030204" pitchFamily="34" charset="0"/>
                        <a:cs typeface="Calibri" panose="020F0502020204030204" pitchFamily="34" charset="0"/>
                      </a:endParaRPr>
                    </a:p>
                  </a:txBody>
                  <a:tcPr marL="0" marR="0" marT="0" marB="0" anchor="ctr">
                    <a:lnL w="12700" cap="flat" cmpd="sng" algn="ctr">
                      <a:solidFill>
                        <a:srgbClr val="EDEDEC"/>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58108829"/>
                  </a:ext>
                </a:extLst>
              </a:tr>
              <a:tr h="703092">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ctr" rtl="0">
                        <a:lnSpc>
                          <a:spcPct val="100000"/>
                        </a:lnSpc>
                        <a:spcBef>
                          <a:spcPts val="0"/>
                        </a:spcBef>
                        <a:spcAft>
                          <a:spcPts val="0"/>
                        </a:spcAft>
                        <a:buClr>
                          <a:schemeClr val="dk1"/>
                        </a:buClr>
                        <a:buSzPts val="2000"/>
                        <a:buFont typeface="Arial"/>
                        <a:buNone/>
                      </a:pPr>
                      <a:r>
                        <a:rPr lang="en-US" sz="1000" b="1" u="none" strike="noStrike" cap="none">
                          <a:solidFill>
                            <a:schemeClr val="tx1"/>
                          </a:solidFill>
                          <a:latin typeface="Arial" pitchFamily="34" charset="0"/>
                          <a:ea typeface="Lato" panose="020F0502020204030203" pitchFamily="34" charset="0"/>
                          <a:cs typeface="Lato" panose="020F0502020204030203" pitchFamily="34" charset="0"/>
                          <a:sym typeface="Lato"/>
                        </a:rPr>
                        <a:t>1</a:t>
                      </a:r>
                      <a:endParaRPr sz="1000" b="1">
                        <a:solidFill>
                          <a:schemeClr val="tx1"/>
                        </a:solidFill>
                        <a:latin typeface="Arial" pitchFamily="34" charset="0"/>
                        <a:ea typeface="Lato" panose="020F0502020204030203" pitchFamily="34" charset="0"/>
                        <a:cs typeface="Lato" panose="020F0502020204030203" pitchFamily="34" charset="0"/>
                      </a:endParaRPr>
                    </a:p>
                  </a:txBody>
                  <a:tcPr marL="23400" marR="23400" marT="0" marB="0" anchor="ctr">
                    <a:lnL w="12700" cap="flat" cmpd="sng" algn="ctr">
                      <a:no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Trusted integrator: </a:t>
                      </a:r>
                      <a:r>
                        <a:rPr kumimoji="0" lang="en-US" sz="10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Rapidly translating commercial priorities into prioritized, time‑boxed deliverables and securing decision rights and funding</a:t>
                      </a:r>
                    </a:p>
                  </a:txBody>
                  <a:tcPr marL="25977" marR="25977" marT="14288" marB="14288"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GB" sz="1100" b="0" i="0" u="none" strike="noStrike" kern="1200" cap="none" spc="0" normalizeH="0" baseline="0" noProof="0">
                        <a:ln>
                          <a:noFill/>
                        </a:ln>
                        <a:solidFill>
                          <a:srgbClr val="BBDC8C"/>
                        </a:solidFill>
                        <a:effectLst/>
                        <a:uLnTx/>
                        <a:uFillTx/>
                        <a:latin typeface="+mj-lt"/>
                        <a:ea typeface="+mn-ea"/>
                        <a:cs typeface="+mn-cs"/>
                      </a:endParaRPr>
                    </a:p>
                  </a:txBody>
                  <a:tcPr anchor="ctr">
                    <a:lnL w="12700" cap="flat" cmpd="sng" algn="ctr">
                      <a:solidFill>
                        <a:srgbClr val="EDEDEC"/>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1978187"/>
                  </a:ext>
                </a:extLst>
              </a:tr>
              <a:tr h="593965">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ctr" rtl="0">
                        <a:lnSpc>
                          <a:spcPct val="100000"/>
                        </a:lnSpc>
                        <a:spcBef>
                          <a:spcPts val="0"/>
                        </a:spcBef>
                        <a:spcAft>
                          <a:spcPts val="0"/>
                        </a:spcAft>
                        <a:buClr>
                          <a:schemeClr val="dk1"/>
                        </a:buClr>
                        <a:buSzPts val="2000"/>
                        <a:buFont typeface="Arial"/>
                        <a:buNone/>
                      </a:pPr>
                      <a:r>
                        <a:rPr lang="en-US" sz="1000" b="1">
                          <a:solidFill>
                            <a:schemeClr val="tx1"/>
                          </a:solidFill>
                          <a:latin typeface="Arial" pitchFamily="34" charset="0"/>
                          <a:ea typeface="Lato" panose="020F0502020204030203" pitchFamily="34" charset="0"/>
                          <a:cs typeface="Lato" panose="020F0502020204030203" pitchFamily="34" charset="0"/>
                        </a:rPr>
                        <a:t>2</a:t>
                      </a:r>
                      <a:endParaRPr sz="1000" b="1">
                        <a:solidFill>
                          <a:schemeClr val="tx1"/>
                        </a:solidFill>
                        <a:latin typeface="Arial" pitchFamily="34" charset="0"/>
                        <a:ea typeface="Lato" panose="020F0502020204030203" pitchFamily="34" charset="0"/>
                        <a:cs typeface="Lato" panose="020F0502020204030203" pitchFamily="34" charset="0"/>
                      </a:endParaRPr>
                    </a:p>
                  </a:txBody>
                  <a:tcPr marL="23400" marR="23400" marT="0" marB="0" anchor="ctr">
                    <a:lnL w="12700" cap="flat" cmpd="sng" algn="ctr">
                      <a:no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Pilot‑to‑scale operator: </a:t>
                      </a:r>
                      <a:r>
                        <a:rPr kumimoji="0" lang="en-US" sz="10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Converting pilots into repeatable, measurable products with clear unit economics, GTM playbooks, and P&amp;L ownership—demonstrating quick wins</a:t>
                      </a:r>
                    </a:p>
                  </a:txBody>
                  <a:tcPr marL="25977" marR="25977" marT="14288" marB="14288"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b="0" kern="1200">
                        <a:solidFill>
                          <a:srgbClr val="BBDC8C"/>
                        </a:solidFill>
                        <a:latin typeface="+mn-lt"/>
                        <a:ea typeface="Lato" panose="020F0502020204030203" pitchFamily="34" charset="0"/>
                        <a:cs typeface="Lato" panose="020F0502020204030203" pitchFamily="34" charset="0"/>
                      </a:endParaRPr>
                    </a:p>
                  </a:txBody>
                  <a:tcPr anchor="ctr">
                    <a:lnL w="12700" cap="flat" cmpd="sng" algn="ctr">
                      <a:solidFill>
                        <a:srgbClr val="EDEDEC"/>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5556662"/>
                  </a:ext>
                </a:extLst>
              </a:tr>
            </a:tbl>
          </a:graphicData>
        </a:graphic>
      </p:graphicFrame>
      <p:sp>
        <p:nvSpPr>
          <p:cNvPr id="54" name="Rectangle 53">
            <a:extLst>
              <a:ext uri="{FF2B5EF4-FFF2-40B4-BE49-F238E27FC236}">
                <a16:creationId xmlns:a16="http://schemas.microsoft.com/office/drawing/2014/main" id="{553FFD94-9A6B-4F5D-8394-5D69D84B9836}"/>
              </a:ext>
            </a:extLst>
          </p:cNvPr>
          <p:cNvSpPr/>
          <p:nvPr/>
        </p:nvSpPr>
        <p:spPr>
          <a:xfrm>
            <a:off x="3745425" y="5151018"/>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sp>
        <p:nvSpPr>
          <p:cNvPr id="57" name="Rectangle 56">
            <a:extLst>
              <a:ext uri="{FF2B5EF4-FFF2-40B4-BE49-F238E27FC236}">
                <a16:creationId xmlns:a16="http://schemas.microsoft.com/office/drawing/2014/main" id="{D9844E76-0322-11D8-8605-92B2DC22516E}"/>
              </a:ext>
            </a:extLst>
          </p:cNvPr>
          <p:cNvSpPr/>
          <p:nvPr/>
        </p:nvSpPr>
        <p:spPr>
          <a:xfrm>
            <a:off x="3745425" y="5885000"/>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grpSp>
        <p:nvGrpSpPr>
          <p:cNvPr id="110" name="Group 109">
            <a:extLst>
              <a:ext uri="{FF2B5EF4-FFF2-40B4-BE49-F238E27FC236}">
                <a16:creationId xmlns:a16="http://schemas.microsoft.com/office/drawing/2014/main" id="{09CB92FC-A54A-5464-A20E-93E0FD7F06BB}"/>
              </a:ext>
            </a:extLst>
          </p:cNvPr>
          <p:cNvGrpSpPr/>
          <p:nvPr/>
        </p:nvGrpSpPr>
        <p:grpSpPr>
          <a:xfrm>
            <a:off x="1458371" y="6399429"/>
            <a:ext cx="3231572" cy="425660"/>
            <a:chOff x="899806" y="6448812"/>
            <a:chExt cx="3231572" cy="425660"/>
          </a:xfrm>
        </p:grpSpPr>
        <p:cxnSp>
          <p:nvCxnSpPr>
            <p:cNvPr id="59" name="Straight Arrow Connector 58">
              <a:extLst>
                <a:ext uri="{FF2B5EF4-FFF2-40B4-BE49-F238E27FC236}">
                  <a16:creationId xmlns:a16="http://schemas.microsoft.com/office/drawing/2014/main" id="{BD8F2D9B-A8AF-647E-8048-133F4599C16D}"/>
                </a:ext>
              </a:extLst>
            </p:cNvPr>
            <p:cNvCxnSpPr>
              <a:cxnSpLocks/>
            </p:cNvCxnSpPr>
            <p:nvPr/>
          </p:nvCxnSpPr>
          <p:spPr>
            <a:xfrm>
              <a:off x="1439090" y="6628232"/>
              <a:ext cx="2351301" cy="0"/>
            </a:xfrm>
            <a:prstGeom prst="straightConnector1">
              <a:avLst/>
            </a:prstGeom>
            <a:ln>
              <a:solidFill>
                <a:schemeClr val="tx2">
                  <a:lumMod val="90000"/>
                </a:schemeClr>
              </a:solidFill>
              <a:headEnd type="triangle" w="med" len="sm"/>
              <a:tailEnd type="triangle" w="sm" len="sm"/>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082767C7-6A4F-DE61-6B60-3CF5CF4B3858}"/>
                </a:ext>
              </a:extLst>
            </p:cNvPr>
            <p:cNvSpPr txBox="1"/>
            <p:nvPr/>
          </p:nvSpPr>
          <p:spPr>
            <a:xfrm>
              <a:off x="2169624" y="6448812"/>
              <a:ext cx="911919" cy="107722"/>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sym typeface="Lato Light"/>
                </a:rPr>
                <a:t>Readiness Scale</a:t>
              </a:r>
              <a:endPar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sp>
          <p:nvSpPr>
            <p:cNvPr id="61" name="TextBox 60">
              <a:extLst>
                <a:ext uri="{FF2B5EF4-FFF2-40B4-BE49-F238E27FC236}">
                  <a16:creationId xmlns:a16="http://schemas.microsoft.com/office/drawing/2014/main" id="{CD08C098-4C79-73EB-DD0E-5C06CC641601}"/>
                </a:ext>
              </a:extLst>
            </p:cNvPr>
            <p:cNvSpPr txBox="1"/>
            <p:nvPr/>
          </p:nvSpPr>
          <p:spPr>
            <a:xfrm>
              <a:off x="1228319"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C0000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C00000"/>
                </a:solidFill>
                <a:effectLst/>
                <a:uLnTx/>
                <a:uFillTx/>
                <a:latin typeface="Arial" pitchFamily="34" charset="0"/>
                <a:ea typeface="Lato" panose="020F0502020204030203" pitchFamily="34" charset="0"/>
                <a:cs typeface="Lato" panose="020F0502020204030203" pitchFamily="34" charset="0"/>
              </a:endParaRPr>
            </a:p>
          </p:txBody>
        </p:sp>
        <p:sp>
          <p:nvSpPr>
            <p:cNvPr id="89" name="TextBox 88">
              <a:extLst>
                <a:ext uri="{FF2B5EF4-FFF2-40B4-BE49-F238E27FC236}">
                  <a16:creationId xmlns:a16="http://schemas.microsoft.com/office/drawing/2014/main" id="{76F45A45-8DB1-7362-F850-B6E13379ABD2}"/>
                </a:ext>
              </a:extLst>
            </p:cNvPr>
            <p:cNvSpPr txBox="1"/>
            <p:nvPr/>
          </p:nvSpPr>
          <p:spPr>
            <a:xfrm>
              <a:off x="3851453"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00B05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00B050"/>
                </a:solidFill>
                <a:effectLst/>
                <a:uLnTx/>
                <a:uFillTx/>
                <a:latin typeface="Arial" pitchFamily="34" charset="0"/>
                <a:ea typeface="Lato" panose="020F0502020204030203" pitchFamily="34" charset="0"/>
                <a:cs typeface="Lato" panose="020F0502020204030203" pitchFamily="34" charset="0"/>
              </a:endParaRPr>
            </a:p>
          </p:txBody>
        </p:sp>
        <p:sp>
          <p:nvSpPr>
            <p:cNvPr id="90" name="TextBox 89">
              <a:extLst>
                <a:ext uri="{FF2B5EF4-FFF2-40B4-BE49-F238E27FC236}">
                  <a16:creationId xmlns:a16="http://schemas.microsoft.com/office/drawing/2014/main" id="{794D93B4-CC75-3AE4-94A3-EA7340C36C7D}"/>
                </a:ext>
              </a:extLst>
            </p:cNvPr>
            <p:cNvSpPr txBox="1"/>
            <p:nvPr/>
          </p:nvSpPr>
          <p:spPr>
            <a:xfrm>
              <a:off x="1884102"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FF6B0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FF6B00"/>
                </a:solidFill>
                <a:effectLst/>
                <a:uLnTx/>
                <a:uFillTx/>
                <a:latin typeface="Arial" pitchFamily="34" charset="0"/>
                <a:ea typeface="Lato" panose="020F0502020204030203" pitchFamily="34" charset="0"/>
                <a:cs typeface="Lato" panose="020F0502020204030203" pitchFamily="34" charset="0"/>
              </a:endParaRPr>
            </a:p>
          </p:txBody>
        </p:sp>
        <p:sp>
          <p:nvSpPr>
            <p:cNvPr id="91" name="TextBox 90">
              <a:extLst>
                <a:ext uri="{FF2B5EF4-FFF2-40B4-BE49-F238E27FC236}">
                  <a16:creationId xmlns:a16="http://schemas.microsoft.com/office/drawing/2014/main" id="{4AC0482A-0868-1B47-45AB-30A2E697BD84}"/>
                </a:ext>
              </a:extLst>
            </p:cNvPr>
            <p:cNvSpPr txBox="1"/>
            <p:nvPr/>
          </p:nvSpPr>
          <p:spPr>
            <a:xfrm>
              <a:off x="3195668"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BADC8C"/>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BADC8C"/>
                </a:solidFill>
                <a:effectLst/>
                <a:uLnTx/>
                <a:uFillTx/>
                <a:latin typeface="Arial" pitchFamily="34" charset="0"/>
                <a:ea typeface="Lato" panose="020F0502020204030203" pitchFamily="34" charset="0"/>
                <a:cs typeface="Lato" panose="020F0502020204030203" pitchFamily="34" charset="0"/>
              </a:endParaRPr>
            </a:p>
          </p:txBody>
        </p:sp>
        <p:sp>
          <p:nvSpPr>
            <p:cNvPr id="92" name="TextBox 91">
              <a:extLst>
                <a:ext uri="{FF2B5EF4-FFF2-40B4-BE49-F238E27FC236}">
                  <a16:creationId xmlns:a16="http://schemas.microsoft.com/office/drawing/2014/main" id="{B0469B72-1955-85FE-B633-40A1C21B7D6D}"/>
                </a:ext>
              </a:extLst>
            </p:cNvPr>
            <p:cNvSpPr txBox="1"/>
            <p:nvPr/>
          </p:nvSpPr>
          <p:spPr>
            <a:xfrm>
              <a:off x="2539885"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FFC00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FFC000"/>
                </a:solidFill>
                <a:effectLst/>
                <a:uLnTx/>
                <a:uFillTx/>
                <a:latin typeface="Arial" pitchFamily="34" charset="0"/>
                <a:ea typeface="Lato" panose="020F0502020204030203" pitchFamily="34" charset="0"/>
                <a:cs typeface="Lato" panose="020F0502020204030203" pitchFamily="34" charset="0"/>
              </a:endParaRPr>
            </a:p>
          </p:txBody>
        </p:sp>
        <p:sp>
          <p:nvSpPr>
            <p:cNvPr id="93" name="TextBox 92">
              <a:extLst>
                <a:ext uri="{FF2B5EF4-FFF2-40B4-BE49-F238E27FC236}">
                  <a16:creationId xmlns:a16="http://schemas.microsoft.com/office/drawing/2014/main" id="{D5C90C66-1E98-82E0-EDBC-DD94BA6B2C8A}"/>
                </a:ext>
              </a:extLst>
            </p:cNvPr>
            <p:cNvSpPr txBox="1"/>
            <p:nvPr/>
          </p:nvSpPr>
          <p:spPr>
            <a:xfrm>
              <a:off x="3645867" y="6674417"/>
              <a:ext cx="485511" cy="200055"/>
            </a:xfrm>
            <a:prstGeom prst="rect">
              <a:avLst/>
            </a:prstGeom>
            <a:noFill/>
          </p:spPr>
          <p:txBody>
            <a:bodyPr wrap="square" lIns="91440" tIns="45720" rIns="91440" bIns="4572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700" i="1" spc="-10">
                  <a:latin typeface="Arial" pitchFamily="34" charset="0"/>
                  <a:ea typeface="Lato" panose="020F0502020204030203" pitchFamily="34" charset="0"/>
                  <a:cs typeface="Lato" panose="020F0502020204030203" pitchFamily="34" charset="0"/>
                  <a:sym typeface="Lato Light"/>
                </a:rPr>
                <a:t>Ready</a:t>
              </a:r>
              <a:endPar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sp>
          <p:nvSpPr>
            <p:cNvPr id="94" name="TextBox 93">
              <a:extLst>
                <a:ext uri="{FF2B5EF4-FFF2-40B4-BE49-F238E27FC236}">
                  <a16:creationId xmlns:a16="http://schemas.microsoft.com/office/drawing/2014/main" id="{CBB21F84-DE64-BED7-7940-546874264809}"/>
                </a:ext>
              </a:extLst>
            </p:cNvPr>
            <p:cNvSpPr txBox="1"/>
            <p:nvPr/>
          </p:nvSpPr>
          <p:spPr>
            <a:xfrm>
              <a:off x="899806" y="6652387"/>
              <a:ext cx="721686" cy="200055"/>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sym typeface="Lato Light"/>
                </a:rPr>
                <a:t>Not Ready</a:t>
              </a:r>
              <a:endPar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grpSp>
      <p:sp>
        <p:nvSpPr>
          <p:cNvPr id="95" name="Rectangle: Rounded Corners 5">
            <a:extLst>
              <a:ext uri="{FF2B5EF4-FFF2-40B4-BE49-F238E27FC236}">
                <a16:creationId xmlns:a16="http://schemas.microsoft.com/office/drawing/2014/main" id="{AF91A65C-4B8B-7B40-D37E-D4905EF02DC1}"/>
              </a:ext>
            </a:extLst>
          </p:cNvPr>
          <p:cNvSpPr/>
          <p:nvPr/>
        </p:nvSpPr>
        <p:spPr>
          <a:xfrm>
            <a:off x="4986733" y="1747082"/>
            <a:ext cx="3455460" cy="3150436"/>
          </a:xfrm>
          <a:prstGeom prst="roundRect">
            <a:avLst>
              <a:gd name="adj" fmla="val 4418"/>
            </a:avLst>
          </a:prstGeom>
          <a:solidFill>
            <a:schemeClr val="bg1"/>
          </a:solidFill>
          <a:ln>
            <a:solidFill>
              <a:schemeClr val="tx1"/>
            </a:solid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400" b="0" i="0" u="none" strike="noStrike" kern="0" cap="none" spc="-10" normalizeH="0" baseline="0" noProof="0">
              <a:ln>
                <a:noFill/>
              </a:ln>
              <a:solidFill>
                <a:srgbClr val="3B3B3B"/>
              </a:solidFill>
              <a:effectLst/>
              <a:uLnTx/>
              <a:uFillTx/>
              <a:latin typeface="Arial" pitchFamily="34" charset="0"/>
              <a:ea typeface="Lato" panose="020F0502020204030203" pitchFamily="34" charset="0"/>
              <a:cs typeface="Lato" panose="020F0502020204030203" pitchFamily="34" charset="0"/>
            </a:endParaRPr>
          </a:p>
        </p:txBody>
      </p:sp>
      <p:sp>
        <p:nvSpPr>
          <p:cNvPr id="96" name="Rectangle: Rounded Corners 58">
            <a:extLst>
              <a:ext uri="{FF2B5EF4-FFF2-40B4-BE49-F238E27FC236}">
                <a16:creationId xmlns:a16="http://schemas.microsoft.com/office/drawing/2014/main" id="{E74925B5-DC9C-A7E6-AD69-96D721042194}"/>
              </a:ext>
            </a:extLst>
          </p:cNvPr>
          <p:cNvSpPr/>
          <p:nvPr/>
        </p:nvSpPr>
        <p:spPr>
          <a:xfrm>
            <a:off x="5284011" y="1609720"/>
            <a:ext cx="2860903" cy="264789"/>
          </a:xfrm>
          <a:prstGeom prst="roundRect">
            <a:avLst/>
          </a:prstGeom>
          <a:solidFill>
            <a:srgbClr val="2B3A42"/>
          </a:solidFill>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r>
              <a:rPr kumimoji="0" lang="en-US" sz="1400" b="1" i="0" u="none" strike="noStrike" kern="1200" cap="none" spc="-10" normalizeH="0" baseline="0" noProof="0">
                <a:ln>
                  <a:noFill/>
                </a:ln>
                <a:solidFill>
                  <a:srgbClr val="FFFFFF"/>
                </a:solidFill>
                <a:effectLst/>
                <a:uLnTx/>
                <a:uFillTx/>
                <a:latin typeface="Segoe UI" pitchFamily="34" charset="0"/>
                <a:ea typeface="Lato" panose="020F0502020204030203" pitchFamily="34" charset="0"/>
                <a:cs typeface="Lato" panose="020F0502020204030203" pitchFamily="34" charset="0"/>
              </a:rPr>
              <a:t>Talent Match</a:t>
            </a:r>
          </a:p>
        </p:txBody>
      </p:sp>
      <p:sp>
        <p:nvSpPr>
          <p:cNvPr id="97" name="Rectangle: Rounded Corners 5">
            <a:extLst>
              <a:ext uri="{FF2B5EF4-FFF2-40B4-BE49-F238E27FC236}">
                <a16:creationId xmlns:a16="http://schemas.microsoft.com/office/drawing/2014/main" id="{CC1A4A87-BD9A-EC4A-5369-3E95967EA6FE}"/>
              </a:ext>
            </a:extLst>
          </p:cNvPr>
          <p:cNvSpPr/>
          <p:nvPr/>
        </p:nvSpPr>
        <p:spPr>
          <a:xfrm>
            <a:off x="8577780" y="1745013"/>
            <a:ext cx="3384553" cy="3150436"/>
          </a:xfrm>
          <a:prstGeom prst="roundRect">
            <a:avLst>
              <a:gd name="adj" fmla="val 4418"/>
            </a:avLst>
          </a:prstGeom>
          <a:solidFill>
            <a:schemeClr val="bg1"/>
          </a:solidFill>
          <a:ln>
            <a:solidFill>
              <a:schemeClr val="tx1"/>
            </a:solid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400" b="0" i="0" u="none" strike="noStrike" kern="0" cap="none" spc="-10" normalizeH="0" baseline="0" noProof="0">
              <a:ln>
                <a:noFill/>
              </a:ln>
              <a:solidFill>
                <a:srgbClr val="3B3B3B"/>
              </a:solidFill>
              <a:effectLst/>
              <a:uLnTx/>
              <a:uFillTx/>
              <a:latin typeface="Arial" pitchFamily="34" charset="0"/>
              <a:ea typeface="Lato" panose="020F0502020204030203" pitchFamily="34" charset="0"/>
              <a:cs typeface="Lato" panose="020F0502020204030203" pitchFamily="34" charset="0"/>
            </a:endParaRPr>
          </a:p>
        </p:txBody>
      </p:sp>
      <p:sp>
        <p:nvSpPr>
          <p:cNvPr id="98" name="Rectangle: Rounded Corners 58">
            <a:extLst>
              <a:ext uri="{FF2B5EF4-FFF2-40B4-BE49-F238E27FC236}">
                <a16:creationId xmlns:a16="http://schemas.microsoft.com/office/drawing/2014/main" id="{824CE487-39F7-EB45-EBA0-D149EC9D2CBA}"/>
              </a:ext>
            </a:extLst>
          </p:cNvPr>
          <p:cNvSpPr/>
          <p:nvPr/>
        </p:nvSpPr>
        <p:spPr>
          <a:xfrm>
            <a:off x="8831866" y="1609720"/>
            <a:ext cx="2860903" cy="264789"/>
          </a:xfrm>
          <a:prstGeom prst="roundRect">
            <a:avLst/>
          </a:prstGeom>
          <a:solidFill>
            <a:srgbClr val="2B3A42"/>
          </a:solidFill>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r>
              <a:rPr kumimoji="0" lang="en-US" sz="1400" b="1" i="0" u="none" strike="noStrike" kern="1200" cap="none" spc="-10" normalizeH="0" baseline="0" noProof="0">
                <a:ln>
                  <a:noFill/>
                </a:ln>
                <a:solidFill>
                  <a:srgbClr val="FFFFFF"/>
                </a:solidFill>
                <a:effectLst/>
                <a:uLnTx/>
                <a:uFillTx/>
                <a:latin typeface="Segoe UI" pitchFamily="34" charset="0"/>
                <a:ea typeface="Lato" panose="020F0502020204030203" pitchFamily="34" charset="0"/>
                <a:cs typeface="Lato" panose="020F0502020204030203" pitchFamily="34" charset="0"/>
              </a:rPr>
              <a:t>Development Needs</a:t>
            </a:r>
          </a:p>
        </p:txBody>
      </p:sp>
      <p:sp>
        <p:nvSpPr>
          <p:cNvPr id="99" name="TextBox 98">
            <a:extLst>
              <a:ext uri="{FF2B5EF4-FFF2-40B4-BE49-F238E27FC236}">
                <a16:creationId xmlns:a16="http://schemas.microsoft.com/office/drawing/2014/main" id="{A2D4C473-E0E1-ED50-7B18-4EA85E38750C}"/>
              </a:ext>
            </a:extLst>
          </p:cNvPr>
          <p:cNvSpPr txBox="1"/>
          <p:nvPr/>
        </p:nvSpPr>
        <p:spPr>
          <a:xfrm>
            <a:off x="5057639" y="1953421"/>
            <a:ext cx="3384554" cy="2582872"/>
          </a:xfrm>
          <a:prstGeom prst="rect">
            <a:avLst/>
          </a:prstGeom>
        </p:spPr>
        <p:txBody>
          <a:bodyPr vert="horz" wrap="square" lIns="0" tIns="0" rIns="0" bIns="0" rtlCol="0" anchor="t" anchorCtr="0">
            <a:noAutofit/>
          </a:bodyPr>
          <a:lstStyle/>
          <a:p>
            <a:pPr marL="171450" indent="-171450">
              <a:spcAft>
                <a:spcPts val="600"/>
              </a:spcAft>
              <a:buFont typeface="Arial" panose="020B0604020202020204" pitchFamily="34" charset="0"/>
              <a:buChar char="•"/>
            </a:pPr>
            <a:r>
              <a:rPr lang="en-US" sz="1200" b="1" spc="-10">
                <a:latin typeface="Segoe UI" pitchFamily="34" charset="0"/>
                <a:ea typeface="Lato" panose="020F0502020204030203" pitchFamily="34" charset="0"/>
                <a:cs typeface="Lato" panose="020F0502020204030203" pitchFamily="34" charset="0"/>
              </a:rPr>
              <a:t>Commercial integrator: </a:t>
            </a:r>
            <a:r>
              <a:rPr lang="en-US" sz="1200" spc="-10">
                <a:latin typeface="Arial" pitchFamily="34" charset="0"/>
                <a:ea typeface="Lato" panose="020F0502020204030203" pitchFamily="34" charset="0"/>
                <a:cs typeface="Lato" panose="020F0502020204030203" pitchFamily="34" charset="0"/>
              </a:rPr>
              <a:t>strong record converting pilots to scaled regional launches with measurable ARPU and churn improvements (maps to green readiness on </a:t>
            </a:r>
            <a:r>
              <a:rPr lang="en-US" sz="1200" spc="-10" err="1">
                <a:latin typeface="Arial" pitchFamily="34" charset="0"/>
                <a:ea typeface="Lato" panose="020F0502020204030203" pitchFamily="34" charset="0"/>
                <a:cs typeface="Lato" panose="020F0502020204030203" pitchFamily="34" charset="0"/>
              </a:rPr>
              <a:t>multiplay</a:t>
            </a:r>
            <a:r>
              <a:rPr lang="en-US" sz="1200" spc="-10">
                <a:latin typeface="Arial" pitchFamily="34" charset="0"/>
                <a:ea typeface="Lato" panose="020F0502020204030203" pitchFamily="34" charset="0"/>
                <a:cs typeface="Lato" panose="020F0502020204030203" pitchFamily="34" charset="0"/>
              </a:rPr>
              <a:t> &amp; engagement).</a:t>
            </a:r>
          </a:p>
          <a:p>
            <a:pPr marL="171450" indent="-171450">
              <a:spcAft>
                <a:spcPts val="600"/>
              </a:spcAft>
              <a:buFont typeface="Arial" panose="020B0604020202020204" pitchFamily="34" charset="0"/>
              <a:buChar char="•"/>
            </a:pPr>
            <a:r>
              <a:rPr lang="en-US" sz="1200" b="1" spc="-10">
                <a:latin typeface="Segoe UI" pitchFamily="34" charset="0"/>
                <a:ea typeface="Lato" panose="020F0502020204030203" pitchFamily="34" charset="0"/>
                <a:cs typeface="Lato" panose="020F0502020204030203" pitchFamily="34" charset="0"/>
              </a:rPr>
              <a:t>Conversion and growth execution</a:t>
            </a:r>
            <a:r>
              <a:rPr lang="en-US" sz="1200" spc="-10">
                <a:latin typeface="Arial" pitchFamily="34" charset="0"/>
                <a:ea typeface="Lato" panose="020F0502020204030203" pitchFamily="34" charset="0"/>
                <a:cs typeface="Lato" panose="020F0502020204030203" pitchFamily="34" charset="0"/>
              </a:rPr>
              <a:t>: proven at driving DAU/MAU, bundle adoption, and retention gains that materially move revenue levers.</a:t>
            </a:r>
          </a:p>
        </p:txBody>
      </p:sp>
      <p:sp>
        <p:nvSpPr>
          <p:cNvPr id="100" name="TextBox 99">
            <a:extLst>
              <a:ext uri="{FF2B5EF4-FFF2-40B4-BE49-F238E27FC236}">
                <a16:creationId xmlns:a16="http://schemas.microsoft.com/office/drawing/2014/main" id="{F5FE8CE9-3E04-F8BD-D097-B4C6EAD39724}"/>
              </a:ext>
            </a:extLst>
          </p:cNvPr>
          <p:cNvSpPr txBox="1"/>
          <p:nvPr/>
        </p:nvSpPr>
        <p:spPr>
          <a:xfrm>
            <a:off x="8621164" y="1968639"/>
            <a:ext cx="3285197" cy="2767109"/>
          </a:xfrm>
          <a:prstGeom prst="rect">
            <a:avLst/>
          </a:prstGeom>
        </p:spPr>
        <p:txBody>
          <a:bodyPr vert="horz" wrap="square" lIns="0" tIns="0" rIns="0" bIns="0" rtlCol="0" anchor="t" anchorCtr="0">
            <a:noAutofit/>
          </a:bodyPr>
          <a:lstStyle/>
          <a:p>
            <a:pPr marL="285750" marR="0" lvl="0"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AI commercialization: </a:t>
            </a:r>
            <a:r>
              <a:rPr kumimoji="0" lang="en-US" sz="1100" i="0"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rPr>
              <a:t>secure ownership of </a:t>
            </a:r>
            <a:r>
              <a:rPr kumimoji="0" lang="en-US" sz="1100" i="0" u="none" strike="noStrike" kern="1200" cap="none" spc="-10" normalizeH="0" baseline="0" noProof="0" err="1">
                <a:ln>
                  <a:noFill/>
                </a:ln>
                <a:effectLst/>
                <a:uLnTx/>
                <a:uFillTx/>
                <a:latin typeface="Arial" pitchFamily="34" charset="0"/>
                <a:ea typeface="Lato" panose="020F0502020204030203" pitchFamily="34" charset="0"/>
                <a:cs typeface="Lato" panose="020F0502020204030203" pitchFamily="34" charset="0"/>
              </a:rPr>
              <a:t>MLOps</a:t>
            </a:r>
            <a:r>
              <a:rPr kumimoji="0" lang="en-US" sz="1100" i="0"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rPr>
              <a:t> and multi‑market AI rollout capability, including localization and measurement frameworks, to move AI readiness from orange to green.</a:t>
            </a:r>
          </a:p>
          <a:p>
            <a:pPr marL="285750" marR="0" lvl="0"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Predictive investment &amp; org scaling: </a:t>
            </a:r>
            <a:r>
              <a:rPr kumimoji="0" lang="en-US" sz="1100" i="0"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rPr>
              <a:t>evolve dynamic budget allocation to reach ≥20% experimental allocation with predictive ROI gating</a:t>
            </a:r>
          </a:p>
          <a:p>
            <a:pPr marL="285750" lvl="0" indent="-285750">
              <a:spcAft>
                <a:spcPts val="300"/>
              </a:spcAft>
              <a:buFont typeface="Arial" panose="020B0604020202020204" pitchFamily="34" charset="0"/>
              <a:buChar char="•"/>
              <a:defRPr/>
            </a:pPr>
            <a:r>
              <a:rPr kumimoji="0" lang="en-US" sz="11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Transform marketing f</a:t>
            </a:r>
            <a:r>
              <a:rPr lang="en-US" sz="1100" b="1" spc="-10">
                <a:latin typeface="Segoe UI" pitchFamily="34" charset="0"/>
                <a:ea typeface="Lato" panose="020F0502020204030203" pitchFamily="34" charset="0"/>
                <a:cs typeface="Lato" panose="020F0502020204030203" pitchFamily="34" charset="0"/>
              </a:rPr>
              <a:t>unction </a:t>
            </a:r>
            <a:r>
              <a:rPr lang="en-US" sz="1100" spc="-10">
                <a:latin typeface="Arial" pitchFamily="34" charset="0"/>
                <a:ea typeface="Lato" panose="020F0502020204030203" pitchFamily="34" charset="0"/>
                <a:cs typeface="Lato" panose="020F0502020204030203" pitchFamily="34" charset="0"/>
              </a:rPr>
              <a:t>- build a stronger marketing organization, including an ability to hire and grow talent with the right capabilities to become a strategic partner to the business. </a:t>
            </a:r>
            <a:endParaRPr kumimoji="0" lang="en-US" sz="1100" i="0"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grpSp>
        <p:nvGrpSpPr>
          <p:cNvPr id="4" name="Group 3">
            <a:extLst>
              <a:ext uri="{FF2B5EF4-FFF2-40B4-BE49-F238E27FC236}">
                <a16:creationId xmlns:a16="http://schemas.microsoft.com/office/drawing/2014/main" id="{6BE1310B-D5C7-E09E-27F2-D766629A626F}"/>
              </a:ext>
            </a:extLst>
          </p:cNvPr>
          <p:cNvGrpSpPr/>
          <p:nvPr/>
        </p:nvGrpSpPr>
        <p:grpSpPr>
          <a:xfrm>
            <a:off x="3241377" y="1552031"/>
            <a:ext cx="1560637" cy="141838"/>
            <a:chOff x="6357938" y="5548236"/>
            <a:chExt cx="3589233" cy="357935"/>
          </a:xfrm>
        </p:grpSpPr>
        <p:sp>
          <p:nvSpPr>
            <p:cNvPr id="6" name="Rectangle: Rounded Corners 72">
              <a:extLst>
                <a:ext uri="{FF2B5EF4-FFF2-40B4-BE49-F238E27FC236}">
                  <a16:creationId xmlns:a16="http://schemas.microsoft.com/office/drawing/2014/main" id="{266DDB66-7A0E-733D-98EC-5A6963E30FC8}"/>
                </a:ext>
              </a:extLst>
            </p:cNvPr>
            <p:cNvSpPr/>
            <p:nvPr/>
          </p:nvSpPr>
          <p:spPr>
            <a:xfrm>
              <a:off x="6357938" y="5548236"/>
              <a:ext cx="333301" cy="305892"/>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b="1" spc="-10" err="1">
                <a:solidFill>
                  <a:srgbClr val="FFFFFF"/>
                </a:solidFill>
                <a:latin typeface="Segoe UI" pitchFamily="34" charset="0"/>
                <a:ea typeface="Lato" panose="020F0502020204030203" pitchFamily="34" charset="0"/>
                <a:cs typeface="Lato" panose="020F0502020204030203" pitchFamily="34" charset="0"/>
              </a:endParaRPr>
            </a:p>
          </p:txBody>
        </p:sp>
        <p:sp>
          <p:nvSpPr>
            <p:cNvPr id="7" name="TextBox 6">
              <a:extLst>
                <a:ext uri="{FF2B5EF4-FFF2-40B4-BE49-F238E27FC236}">
                  <a16:creationId xmlns:a16="http://schemas.microsoft.com/office/drawing/2014/main" id="{59CAA59E-4CEB-1EEB-6B83-1E338B45281D}"/>
                </a:ext>
              </a:extLst>
            </p:cNvPr>
            <p:cNvSpPr txBox="1"/>
            <p:nvPr/>
          </p:nvSpPr>
          <p:spPr>
            <a:xfrm>
              <a:off x="6800850" y="5551390"/>
              <a:ext cx="3146321" cy="354781"/>
            </a:xfrm>
            <a:prstGeom prst="rect">
              <a:avLst/>
            </a:prstGeom>
            <a:ln w="6350">
              <a:noFill/>
              <a:miter lim="800000"/>
            </a:ln>
          </p:spPr>
          <p:txBody>
            <a:bodyPr vert="horz" wrap="none" lIns="0" tIns="0" rIns="0" bIns="0" rtlCol="0" anchor="ctr">
              <a:noAutofit/>
            </a:bodyPr>
            <a:lstStyle/>
            <a:p>
              <a:pPr defTabSz="685800">
                <a:spcBef>
                  <a:spcPts val="225"/>
                </a:spcBef>
                <a:spcAft>
                  <a:spcPts val="225"/>
                </a:spcAft>
                <a:defRPr/>
              </a:pPr>
              <a:r>
                <a:rPr lang="en-US" sz="1000" b="1" spc="-10" dirty="0">
                  <a:solidFill>
                    <a:srgbClr val="3B3B3B"/>
                  </a:solidFill>
                  <a:latin typeface="Segoe UI" pitchFamily="34" charset="0"/>
                  <a:ea typeface="Lato" panose="020F0502020204030203" pitchFamily="34" charset="0"/>
                  <a:cs typeface="Lato" panose="020F0502020204030203" pitchFamily="34" charset="0"/>
                </a:rPr>
                <a:t>Ready with development</a:t>
              </a:r>
            </a:p>
          </p:txBody>
        </p:sp>
      </p:grpSp>
      <p:sp>
        <p:nvSpPr>
          <p:cNvPr id="16" name="TextBox 15">
            <a:extLst>
              <a:ext uri="{FF2B5EF4-FFF2-40B4-BE49-F238E27FC236}">
                <a16:creationId xmlns:a16="http://schemas.microsoft.com/office/drawing/2014/main" id="{9EE3BCBD-1092-464F-05D5-C5C7DFBF082B}"/>
              </a:ext>
            </a:extLst>
          </p:cNvPr>
          <p:cNvSpPr txBox="1"/>
          <p:nvPr/>
        </p:nvSpPr>
        <p:spPr>
          <a:xfrm>
            <a:off x="518298" y="919995"/>
            <a:ext cx="64149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spc="-10" dirty="0">
                <a:latin typeface="Segoe UI" pitchFamily="34" charset="0"/>
                <a:ea typeface="Lato" panose="020F0502020204030203" pitchFamily="34" charset="0"/>
                <a:cs typeface="Lato" panose="020F0502020204030203" pitchFamily="34" charset="0"/>
              </a:rPr>
              <a:t>Target Role: VP of Digital Marketing and Growth</a:t>
            </a:r>
          </a:p>
        </p:txBody>
      </p:sp>
      <p:grpSp>
        <p:nvGrpSpPr>
          <p:cNvPr id="8" name="Group 7">
            <a:extLst>
              <a:ext uri="{FF2B5EF4-FFF2-40B4-BE49-F238E27FC236}">
                <a16:creationId xmlns:a16="http://schemas.microsoft.com/office/drawing/2014/main" id="{67BF65E5-D33D-0795-190B-5C85CD3657E5}"/>
              </a:ext>
            </a:extLst>
          </p:cNvPr>
          <p:cNvGrpSpPr/>
          <p:nvPr/>
        </p:nvGrpSpPr>
        <p:grpSpPr>
          <a:xfrm>
            <a:off x="3754233" y="4073249"/>
            <a:ext cx="931814" cy="106854"/>
            <a:chOff x="3769489" y="3719449"/>
            <a:chExt cx="931814" cy="106854"/>
          </a:xfrm>
        </p:grpSpPr>
        <p:sp>
          <p:nvSpPr>
            <p:cNvPr id="3" name="Rectangle 2">
              <a:extLst>
                <a:ext uri="{FF2B5EF4-FFF2-40B4-BE49-F238E27FC236}">
                  <a16:creationId xmlns:a16="http://schemas.microsoft.com/office/drawing/2014/main" id="{AFF97F4A-84FB-EC68-6883-585B6DD5956F}"/>
                </a:ext>
              </a:extLst>
            </p:cNvPr>
            <p:cNvSpPr/>
            <p:nvPr/>
          </p:nvSpPr>
          <p:spPr>
            <a:xfrm>
              <a:off x="3769489" y="3749892"/>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sp>
          <p:nvSpPr>
            <p:cNvPr id="5" name="Oval 4">
              <a:extLst>
                <a:ext uri="{FF2B5EF4-FFF2-40B4-BE49-F238E27FC236}">
                  <a16:creationId xmlns:a16="http://schemas.microsoft.com/office/drawing/2014/main" id="{9FB747C4-5715-9CF1-67CE-3714CD9B8ADB}"/>
                </a:ext>
              </a:extLst>
            </p:cNvPr>
            <p:cNvSpPr/>
            <p:nvPr/>
          </p:nvSpPr>
          <p:spPr>
            <a:xfrm>
              <a:off x="4146131" y="3719449"/>
              <a:ext cx="93190" cy="106854"/>
            </a:xfrm>
            <a:prstGeom prst="ellipse">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10" normalizeH="0" baseline="0" noProof="0">
                <a:ln>
                  <a:noFill/>
                </a:ln>
                <a:solidFill>
                  <a:srgbClr val="FFFFFF"/>
                </a:solidFill>
                <a:effectLst/>
                <a:uLnTx/>
                <a:uFillTx/>
                <a:latin typeface="Arial" pitchFamily="34" charset="0"/>
                <a:ea typeface="Lato" panose="020F0502020204030203" pitchFamily="34" charset="0"/>
                <a:cs typeface="Lato" panose="020F0502020204030203" pitchFamily="34" charset="0"/>
              </a:endParaRPr>
            </a:p>
          </p:txBody>
        </p:sp>
      </p:grpSp>
      <p:sp>
        <p:nvSpPr>
          <p:cNvPr id="111"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54</a:t>
            </a:fld>
            <a:endParaRPr lang="en-US"/>
          </a:p>
        </p:txBody>
      </p:sp>
      <p:grpSp>
        <p:nvGrpSpPr>
          <p:cNvPr id="9" name="Group 8">
            <a:extLst>
              <a:ext uri="{FF2B5EF4-FFF2-40B4-BE49-F238E27FC236}">
                <a16:creationId xmlns:a16="http://schemas.microsoft.com/office/drawing/2014/main" id="{195FEAF2-8457-42F7-4D45-AD8467199A14}"/>
              </a:ext>
            </a:extLst>
          </p:cNvPr>
          <p:cNvGrpSpPr/>
          <p:nvPr/>
        </p:nvGrpSpPr>
        <p:grpSpPr>
          <a:xfrm>
            <a:off x="10403235" y="201614"/>
            <a:ext cx="410690" cy="410700"/>
            <a:chOff x="3506617" y="2730959"/>
            <a:chExt cx="1591098" cy="1591098"/>
          </a:xfrm>
        </p:grpSpPr>
        <p:sp>
          <p:nvSpPr>
            <p:cNvPr id="10" name="Rectangle: Rounded Corners 39">
              <a:extLst>
                <a:ext uri="{FF2B5EF4-FFF2-40B4-BE49-F238E27FC236}">
                  <a16:creationId xmlns:a16="http://schemas.microsoft.com/office/drawing/2014/main" id="{235E743C-D5E2-8B35-381B-EFDA503DD34D}"/>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1" name="Rectangle: Rounded Corners 54">
              <a:extLst>
                <a:ext uri="{FF2B5EF4-FFF2-40B4-BE49-F238E27FC236}">
                  <a16:creationId xmlns:a16="http://schemas.microsoft.com/office/drawing/2014/main" id="{2B3C46D7-D006-6F3C-029D-095B3F0D4B50}"/>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2" name="Freeform 56" descr="Clipboard Partially Checked with solid fill">
              <a:extLst>
                <a:ext uri="{FF2B5EF4-FFF2-40B4-BE49-F238E27FC236}">
                  <a16:creationId xmlns:a16="http://schemas.microsoft.com/office/drawing/2014/main" id="{2BD92C0E-22C5-E097-3B53-D0AC4B01B6E5}"/>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13" name="Group 12">
            <a:extLst>
              <a:ext uri="{FF2B5EF4-FFF2-40B4-BE49-F238E27FC236}">
                <a16:creationId xmlns:a16="http://schemas.microsoft.com/office/drawing/2014/main" id="{FD9F4A4E-4141-88F5-4E1B-76BC9EF1D197}"/>
              </a:ext>
            </a:extLst>
          </p:cNvPr>
          <p:cNvGrpSpPr/>
          <p:nvPr/>
        </p:nvGrpSpPr>
        <p:grpSpPr>
          <a:xfrm>
            <a:off x="11557682" y="191038"/>
            <a:ext cx="410690" cy="410700"/>
            <a:chOff x="8874309" y="3009260"/>
            <a:chExt cx="1591098" cy="1591098"/>
          </a:xfrm>
        </p:grpSpPr>
        <p:grpSp>
          <p:nvGrpSpPr>
            <p:cNvPr id="14" name="Group 13">
              <a:extLst>
                <a:ext uri="{FF2B5EF4-FFF2-40B4-BE49-F238E27FC236}">
                  <a16:creationId xmlns:a16="http://schemas.microsoft.com/office/drawing/2014/main" id="{A4D00886-C568-8078-45F6-C1726DEBEC78}"/>
                </a:ext>
              </a:extLst>
            </p:cNvPr>
            <p:cNvGrpSpPr/>
            <p:nvPr/>
          </p:nvGrpSpPr>
          <p:grpSpPr>
            <a:xfrm>
              <a:off x="8874309" y="3009260"/>
              <a:ext cx="1591098" cy="1591098"/>
              <a:chOff x="9350370" y="2760976"/>
              <a:chExt cx="1591098" cy="1591098"/>
            </a:xfrm>
          </p:grpSpPr>
          <p:sp>
            <p:nvSpPr>
              <p:cNvPr id="19" name="Rectangle: Rounded Corners 39">
                <a:extLst>
                  <a:ext uri="{FF2B5EF4-FFF2-40B4-BE49-F238E27FC236}">
                    <a16:creationId xmlns:a16="http://schemas.microsoft.com/office/drawing/2014/main" id="{905ED8C0-0E69-DBBB-7701-7201F0DC8479}"/>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8" name="Rectangle: Rounded Corners 54">
                <a:extLst>
                  <a:ext uri="{FF2B5EF4-FFF2-40B4-BE49-F238E27FC236}">
                    <a16:creationId xmlns:a16="http://schemas.microsoft.com/office/drawing/2014/main" id="{2D8D6926-8768-83D0-3683-8D20A07213AF}"/>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5" name="Picture 51" descr="Map with pin with solid fill">
              <a:extLst>
                <a:ext uri="{FF2B5EF4-FFF2-40B4-BE49-F238E27FC236}">
                  <a16:creationId xmlns:a16="http://schemas.microsoft.com/office/drawing/2014/main" id="{DFD189BB-E8FE-DEE1-37AF-32645D75056B}"/>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1" name="Group 30">
            <a:extLst>
              <a:ext uri="{FF2B5EF4-FFF2-40B4-BE49-F238E27FC236}">
                <a16:creationId xmlns:a16="http://schemas.microsoft.com/office/drawing/2014/main" id="{EF5D4B4D-3C08-76A4-999F-DACBA2174D26}"/>
              </a:ext>
            </a:extLst>
          </p:cNvPr>
          <p:cNvGrpSpPr/>
          <p:nvPr/>
        </p:nvGrpSpPr>
        <p:grpSpPr>
          <a:xfrm>
            <a:off x="10997361" y="200955"/>
            <a:ext cx="410690" cy="410700"/>
            <a:chOff x="5303120" y="3009260"/>
            <a:chExt cx="1591098" cy="1591098"/>
          </a:xfrm>
        </p:grpSpPr>
        <p:grpSp>
          <p:nvGrpSpPr>
            <p:cNvPr id="39" name="Group 38">
              <a:extLst>
                <a:ext uri="{FF2B5EF4-FFF2-40B4-BE49-F238E27FC236}">
                  <a16:creationId xmlns:a16="http://schemas.microsoft.com/office/drawing/2014/main" id="{019E8840-2DDC-CF06-CF9B-77BCC482F6A2}"/>
                </a:ext>
              </a:extLst>
            </p:cNvPr>
            <p:cNvGrpSpPr/>
            <p:nvPr/>
          </p:nvGrpSpPr>
          <p:grpSpPr>
            <a:xfrm>
              <a:off x="5303120" y="3009260"/>
              <a:ext cx="1591098" cy="1591098"/>
              <a:chOff x="6428492" y="2760976"/>
              <a:chExt cx="1591098" cy="1591098"/>
            </a:xfrm>
          </p:grpSpPr>
          <p:sp>
            <p:nvSpPr>
              <p:cNvPr id="45" name="Rectangle: Rounded Corners 39">
                <a:extLst>
                  <a:ext uri="{FF2B5EF4-FFF2-40B4-BE49-F238E27FC236}">
                    <a16:creationId xmlns:a16="http://schemas.microsoft.com/office/drawing/2014/main" id="{8DE0675B-2CCD-7127-9200-51B45D340925}"/>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1" name="Rectangle: Rounded Corners 54">
                <a:extLst>
                  <a:ext uri="{FF2B5EF4-FFF2-40B4-BE49-F238E27FC236}">
                    <a16:creationId xmlns:a16="http://schemas.microsoft.com/office/drawing/2014/main" id="{27DE8452-F15B-1AC3-DB92-04F5DF04CF53}"/>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2" name="Graphic 22" descr="Target Audience with solid fill">
              <a:extLst>
                <a:ext uri="{FF2B5EF4-FFF2-40B4-BE49-F238E27FC236}">
                  <a16:creationId xmlns:a16="http://schemas.microsoft.com/office/drawing/2014/main" id="{65DB83B9-2522-B940-A94A-AE85E3F1AA63}"/>
                </a:ext>
              </a:extLst>
            </p:cNvPr>
            <p:cNvPicPr>
              <a:picLocks noChangeAspect="1"/>
            </p:cNvPicPr>
            <p:nvPr/>
          </p:nvPicPr>
          <p:blipFill>
            <a:blip r:embed="rId7">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55" name="TextBox 54">
            <a:extLst>
              <a:ext uri="{FF2B5EF4-FFF2-40B4-BE49-F238E27FC236}">
                <a16:creationId xmlns:a16="http://schemas.microsoft.com/office/drawing/2014/main" id="{EA9A1CD1-EE7A-5F9D-6822-DC60513CBE31}"/>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8" name="TextBox 57">
            <a:extLst>
              <a:ext uri="{FF2B5EF4-FFF2-40B4-BE49-F238E27FC236}">
                <a16:creationId xmlns:a16="http://schemas.microsoft.com/office/drawing/2014/main" id="{2B7DF19E-B6D5-CF04-B25D-160A9A8BD812}"/>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63" name="TextBox 62">
            <a:extLst>
              <a:ext uri="{FF2B5EF4-FFF2-40B4-BE49-F238E27FC236}">
                <a16:creationId xmlns:a16="http://schemas.microsoft.com/office/drawing/2014/main" id="{5EDFB8D1-4263-6928-2844-F90C5457A151}"/>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64" name="Rectangle 63">
            <a:extLst>
              <a:ext uri="{FF2B5EF4-FFF2-40B4-BE49-F238E27FC236}">
                <a16:creationId xmlns:a16="http://schemas.microsoft.com/office/drawing/2014/main" id="{127441CB-2BAD-CD94-FDCB-9ADDAC9F834E}"/>
              </a:ext>
            </a:extLst>
          </p:cNvPr>
          <p:cNvSpPr/>
          <p:nvPr/>
        </p:nvSpPr>
        <p:spPr>
          <a:xfrm>
            <a:off x="10265324" y="155273"/>
            <a:ext cx="1200137"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291468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6184E-F5CC-B2F8-AA68-545627CB03F4}"/>
            </a:ext>
          </a:extLst>
        </p:cNvPr>
        <p:cNvGrpSpPr/>
        <p:nvPr/>
      </p:nvGrpSpPr>
      <p:grpSpPr>
        <a:xfrm>
          <a:off x="0" y="0"/>
          <a:ext cx="0" cy="0"/>
          <a:chOff x="0" y="0"/>
          <a:chExt cx="0" cy="0"/>
        </a:xfrm>
      </p:grpSpPr>
      <p:graphicFrame>
        <p:nvGraphicFramePr>
          <p:cNvPr id="4" name="Google Shape;302;p6">
            <a:extLst>
              <a:ext uri="{FF2B5EF4-FFF2-40B4-BE49-F238E27FC236}">
                <a16:creationId xmlns:a16="http://schemas.microsoft.com/office/drawing/2014/main" id="{FF33FCA5-C5F2-FC35-79BB-CAFCC861A171}"/>
              </a:ext>
            </a:extLst>
          </p:cNvPr>
          <p:cNvGraphicFramePr/>
          <p:nvPr>
            <p:extLst>
              <p:ext uri="{D42A27DB-BD31-4B8C-83A1-F6EECF244321}">
                <p14:modId xmlns:p14="http://schemas.microsoft.com/office/powerpoint/2010/main" val="4011893449"/>
              </p:ext>
            </p:extLst>
          </p:nvPr>
        </p:nvGraphicFramePr>
        <p:xfrm>
          <a:off x="475423" y="1063644"/>
          <a:ext cx="11303878" cy="3565017"/>
        </p:xfrm>
        <a:graphic>
          <a:graphicData uri="http://schemas.openxmlformats.org/drawingml/2006/table">
            <a:tbl>
              <a:tblPr firstRow="1" bandRow="1">
                <a:noFill/>
              </a:tblPr>
              <a:tblGrid>
                <a:gridCol w="235622">
                  <a:extLst>
                    <a:ext uri="{9D8B030D-6E8A-4147-A177-3AD203B41FA5}">
                      <a16:colId xmlns:a16="http://schemas.microsoft.com/office/drawing/2014/main" val="3171278797"/>
                    </a:ext>
                  </a:extLst>
                </a:gridCol>
                <a:gridCol w="366340">
                  <a:extLst>
                    <a:ext uri="{9D8B030D-6E8A-4147-A177-3AD203B41FA5}">
                      <a16:colId xmlns:a16="http://schemas.microsoft.com/office/drawing/2014/main" val="866748631"/>
                    </a:ext>
                  </a:extLst>
                </a:gridCol>
                <a:gridCol w="2502238">
                  <a:extLst>
                    <a:ext uri="{9D8B030D-6E8A-4147-A177-3AD203B41FA5}">
                      <a16:colId xmlns:a16="http://schemas.microsoft.com/office/drawing/2014/main" val="20002"/>
                    </a:ext>
                  </a:extLst>
                </a:gridCol>
                <a:gridCol w="847998">
                  <a:extLst>
                    <a:ext uri="{9D8B030D-6E8A-4147-A177-3AD203B41FA5}">
                      <a16:colId xmlns:a16="http://schemas.microsoft.com/office/drawing/2014/main" val="1879043837"/>
                    </a:ext>
                  </a:extLst>
                </a:gridCol>
                <a:gridCol w="7351680">
                  <a:extLst>
                    <a:ext uri="{9D8B030D-6E8A-4147-A177-3AD203B41FA5}">
                      <a16:colId xmlns:a16="http://schemas.microsoft.com/office/drawing/2014/main" val="4202888217"/>
                    </a:ext>
                  </a:extLst>
                </a:gridCol>
              </a:tblGrid>
              <a:tr h="219566">
                <a:tc gridSpan="3">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solidFill>
                            <a:schemeClr val="tx1"/>
                          </a:solidFill>
                          <a:latin typeface="Arial" pitchFamily="34" charset="0"/>
                          <a:ea typeface="Lato" panose="020F0502020204030203" pitchFamily="34" charset="0"/>
                          <a:cs typeface="Lato" panose="020F0502020204030203" pitchFamily="34" charset="0"/>
                        </a:rPr>
                        <a:t>Job to Be Done Readiness</a:t>
                      </a: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400" b="1">
                        <a:solidFill>
                          <a:schemeClr val="tx1"/>
                        </a:solidFill>
                        <a:latin typeface="+mn-lt"/>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endParaRPr kumimoji="0" lang="en-US" sz="12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2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Evidence</a:t>
                      </a:r>
                    </a:p>
                  </a:txBody>
                  <a:tcPr>
                    <a:lnL w="9525" cap="flat" cmpd="sng" algn="ctr">
                      <a:noFill/>
                      <a:prstDash val="solid"/>
                      <a:round/>
                      <a:headEnd type="none" w="sm" len="sm"/>
                      <a:tailEnd type="none" w="sm" len="sm"/>
                    </a:lnL>
                    <a:lnR w="9525" cap="flat" cmpd="sng">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15982398"/>
                  </a:ext>
                </a:extLst>
              </a:tr>
              <a:tr h="609907">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1</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15000"/>
                        </a:lnSpc>
                        <a:spcAft>
                          <a:spcPts val="800"/>
                        </a:spcAft>
                        <a:buNone/>
                      </a:pPr>
                      <a:r>
                        <a:rPr lang="en-US" sz="1200" kern="0">
                          <a:solidFill>
                            <a:schemeClr val="tx1"/>
                          </a:solidFill>
                          <a:effectLst/>
                          <a:latin typeface="Arial" pitchFamily="34" charset="0"/>
                          <a:ea typeface="Lato" panose="020F0502020204030203" pitchFamily="34" charset="0"/>
                          <a:cs typeface="Lato" panose="020F0502020204030203" pitchFamily="34" charset="0"/>
                        </a:rPr>
                        <a:t>30%</a:t>
                      </a:r>
                      <a:endParaRPr lang="en-US" sz="1200" kern="100">
                        <a:solidFill>
                          <a:schemeClr val="tx1"/>
                        </a:solidFill>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nSpc>
                          <a:spcPct val="115000"/>
                        </a:lnSpc>
                        <a:spcAft>
                          <a:spcPts val="800"/>
                        </a:spcAft>
                        <a:buNone/>
                      </a:pPr>
                      <a:r>
                        <a:rPr lang="en-US" sz="1200" b="1" kern="0" dirty="0">
                          <a:solidFill>
                            <a:schemeClr val="tx1"/>
                          </a:solidFill>
                          <a:effectLst/>
                          <a:latin typeface="Arial" pitchFamily="34" charset="0"/>
                          <a:ea typeface="Lato" panose="020F0502020204030203" pitchFamily="34" charset="0"/>
                          <a:cs typeface="Lato" panose="020F0502020204030203" pitchFamily="34" charset="0"/>
                        </a:rPr>
                        <a:t>Maximize </a:t>
                      </a:r>
                      <a:r>
                        <a:rPr lang="en-US" sz="1200" b="1" kern="0" dirty="0" err="1">
                          <a:solidFill>
                            <a:schemeClr val="tx1"/>
                          </a:solidFill>
                          <a:effectLst/>
                          <a:latin typeface="Arial" pitchFamily="34" charset="0"/>
                          <a:ea typeface="Lato" panose="020F0502020204030203" pitchFamily="34" charset="0"/>
                          <a:cs typeface="Lato" panose="020F0502020204030203" pitchFamily="34" charset="0"/>
                        </a:rPr>
                        <a:t>multiplay</a:t>
                      </a:r>
                      <a:r>
                        <a:rPr lang="en-US" sz="1200" b="1" kern="0" dirty="0">
                          <a:solidFill>
                            <a:schemeClr val="tx1"/>
                          </a:solidFill>
                          <a:effectLst/>
                          <a:latin typeface="Arial" pitchFamily="34" charset="0"/>
                          <a:ea typeface="Lato" panose="020F0502020204030203" pitchFamily="34" charset="0"/>
                          <a:cs typeface="Lato" panose="020F0502020204030203" pitchFamily="34" charset="0"/>
                        </a:rPr>
                        <a:t> economics and push toward saturation</a:t>
                      </a:r>
                      <a:endParaRPr lang="en-US" sz="1200" kern="100" dirty="0">
                        <a:solidFill>
                          <a:schemeClr val="tx1"/>
                        </a:solidFill>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endParaRP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indent="-171450">
                        <a:buFont typeface="Arial" panose="020B0604020202020204" pitchFamily="34" charset="0"/>
                        <a:buChar char="•"/>
                      </a:pPr>
                      <a:r>
                        <a:rPr lang="en-US" sz="1100" b="0" i="0" kern="1200">
                          <a:solidFill>
                            <a:schemeClr val="tx1"/>
                          </a:solidFill>
                          <a:effectLst/>
                          <a:latin typeface="Arial" pitchFamily="34" charset="0"/>
                          <a:ea typeface="Lato" panose="020F0502020204030203" pitchFamily="34" charset="0"/>
                          <a:cs typeface="Lato" panose="020F0502020204030203" pitchFamily="34" charset="0"/>
                        </a:rPr>
                        <a:t>Ran a regional bundling program across three countries, raising services/customer 2.8→3.4 and regional </a:t>
                      </a:r>
                      <a:r>
                        <a:rPr lang="en-US" sz="1100" b="0" i="0" kern="1200" err="1">
                          <a:solidFill>
                            <a:schemeClr val="tx1"/>
                          </a:solidFill>
                          <a:effectLst/>
                          <a:latin typeface="Arial" pitchFamily="34" charset="0"/>
                          <a:ea typeface="Lato" panose="020F0502020204030203" pitchFamily="34" charset="0"/>
                          <a:cs typeface="Lato" panose="020F0502020204030203" pitchFamily="34" charset="0"/>
                        </a:rPr>
                        <a:t>multiplay</a:t>
                      </a:r>
                      <a:r>
                        <a:rPr lang="en-US" sz="1100" b="0" i="0" kern="1200">
                          <a:solidFill>
                            <a:schemeClr val="tx1"/>
                          </a:solidFill>
                          <a:effectLst/>
                          <a:latin typeface="Arial" pitchFamily="34" charset="0"/>
                          <a:ea typeface="Lato" panose="020F0502020204030203" pitchFamily="34" charset="0"/>
                          <a:cs typeface="Lato" panose="020F0502020204030203" pitchFamily="34" charset="0"/>
                        </a:rPr>
                        <a:t> ARPU ~18% YoY.</a:t>
                      </a:r>
                    </a:p>
                    <a:p>
                      <a:pPr marL="171450" indent="-171450">
                        <a:buFont typeface="Arial" panose="020B0604020202020204" pitchFamily="34" charset="0"/>
                        <a:buChar char="•"/>
                      </a:pPr>
                      <a:r>
                        <a:rPr lang="en-US" sz="1100" b="0" i="0" kern="1200">
                          <a:solidFill>
                            <a:schemeClr val="tx1"/>
                          </a:solidFill>
                          <a:effectLst/>
                          <a:latin typeface="Arial" pitchFamily="34" charset="0"/>
                          <a:ea typeface="Lato" panose="020F0502020204030203" pitchFamily="34" charset="0"/>
                          <a:cs typeface="Lato" panose="020F0502020204030203" pitchFamily="34" charset="0"/>
                        </a:rPr>
                        <a:t>Launched a targeted churn intervention that cut bundle churn ~22% and delivered measurable incremental ARPU.</a:t>
                      </a: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609907">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2</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15000"/>
                        </a:lnSpc>
                        <a:spcAft>
                          <a:spcPts val="800"/>
                        </a:spcAft>
                        <a:buNone/>
                      </a:pPr>
                      <a:r>
                        <a:rPr lang="en-US" sz="1200" kern="0">
                          <a:solidFill>
                            <a:schemeClr val="tx1"/>
                          </a:solidFill>
                          <a:effectLst/>
                          <a:latin typeface="Arial" pitchFamily="34" charset="0"/>
                          <a:ea typeface="Lato" panose="020F0502020204030203" pitchFamily="34" charset="0"/>
                          <a:cs typeface="Lato" panose="020F0502020204030203" pitchFamily="34" charset="0"/>
                        </a:rPr>
                        <a:t>25%</a:t>
                      </a:r>
                      <a:endParaRPr lang="en-US" sz="1200" kern="100">
                        <a:solidFill>
                          <a:schemeClr val="tx1"/>
                        </a:solidFill>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nSpc>
                          <a:spcPct val="115000"/>
                        </a:lnSpc>
                        <a:spcAft>
                          <a:spcPts val="800"/>
                        </a:spcAft>
                        <a:buNone/>
                      </a:pPr>
                      <a:r>
                        <a:rPr lang="en-US" sz="1200" b="1" kern="0">
                          <a:solidFill>
                            <a:schemeClr val="tx1"/>
                          </a:solidFill>
                          <a:effectLst/>
                          <a:latin typeface="Arial" pitchFamily="34" charset="0"/>
                          <a:ea typeface="Lato" panose="020F0502020204030203" pitchFamily="34" charset="0"/>
                          <a:cs typeface="Lato" panose="020F0502020204030203" pitchFamily="34" charset="0"/>
                        </a:rPr>
                        <a:t>Transition from MAU growth to engagement depth and monetization</a:t>
                      </a:r>
                      <a:endParaRPr lang="en-US" sz="1200" kern="100">
                        <a:solidFill>
                          <a:schemeClr val="tx1"/>
                        </a:solidFill>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endParaRP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indent="-171450">
                        <a:buFont typeface="Arial" panose="020B0604020202020204" pitchFamily="34" charset="0"/>
                        <a:buChar char="•"/>
                      </a:pPr>
                      <a:r>
                        <a:rPr lang="en-US" sz="1100" b="0" i="0" kern="1200">
                          <a:solidFill>
                            <a:schemeClr val="tx1"/>
                          </a:solidFill>
                          <a:effectLst/>
                          <a:latin typeface="Arial" pitchFamily="34" charset="0"/>
                          <a:ea typeface="Lato" panose="020F0502020204030203" pitchFamily="34" charset="0"/>
                          <a:cs typeface="Lato" panose="020F0502020204030203" pitchFamily="34" charset="0"/>
                        </a:rPr>
                        <a:t>Reallocated spend to retention/reactivation, lifting DAU/MAU 36%→46% and revenue/MAU ~20% in 12 months.</a:t>
                      </a:r>
                    </a:p>
                    <a:p>
                      <a:pPr marL="171450" indent="-171450">
                        <a:buFont typeface="Arial" panose="020B0604020202020204" pitchFamily="34" charset="0"/>
                        <a:buChar char="•"/>
                      </a:pPr>
                      <a:r>
                        <a:rPr lang="en-US" sz="1100" b="0" i="0" kern="1200">
                          <a:solidFill>
                            <a:schemeClr val="tx1"/>
                          </a:solidFill>
                          <a:effectLst/>
                          <a:latin typeface="Arial" pitchFamily="34" charset="0"/>
                          <a:ea typeface="Lato" panose="020F0502020204030203" pitchFamily="34" charset="0"/>
                          <a:cs typeface="Lato" panose="020F0502020204030203" pitchFamily="34" charset="0"/>
                        </a:rPr>
                        <a:t>Scaled cross‑vertical journeys that increased second‑service conversion ~30% and organic share of new MAUs to ~55%.</a:t>
                      </a: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62063259"/>
                  </a:ext>
                </a:extLst>
              </a:tr>
              <a:tr h="506223">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3</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15000"/>
                        </a:lnSpc>
                        <a:spcAft>
                          <a:spcPts val="800"/>
                        </a:spcAft>
                        <a:buNone/>
                      </a:pPr>
                      <a:r>
                        <a:rPr lang="en-US" sz="1200" kern="0">
                          <a:solidFill>
                            <a:schemeClr val="tx1"/>
                          </a:solidFill>
                          <a:effectLst/>
                          <a:latin typeface="Arial" pitchFamily="34" charset="0"/>
                          <a:ea typeface="Lato" panose="020F0502020204030203" pitchFamily="34" charset="0"/>
                          <a:cs typeface="Lato" panose="020F0502020204030203" pitchFamily="34" charset="0"/>
                        </a:rPr>
                        <a:t>20%</a:t>
                      </a:r>
                      <a:endParaRPr lang="en-US" sz="1200" kern="100">
                        <a:solidFill>
                          <a:schemeClr val="tx1"/>
                        </a:solidFill>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nSpc>
                          <a:spcPct val="115000"/>
                        </a:lnSpc>
                        <a:spcAft>
                          <a:spcPts val="800"/>
                        </a:spcAft>
                        <a:buNone/>
                      </a:pPr>
                      <a:r>
                        <a:rPr lang="en-US" sz="1200" b="1" kern="0">
                          <a:solidFill>
                            <a:schemeClr val="tx1"/>
                          </a:solidFill>
                          <a:effectLst/>
                          <a:latin typeface="Arial" pitchFamily="34" charset="0"/>
                          <a:ea typeface="Lato" panose="020F0502020204030203" pitchFamily="34" charset="0"/>
                          <a:cs typeface="Lato" panose="020F0502020204030203" pitchFamily="34" charset="0"/>
                        </a:rPr>
                        <a:t>Scale AI from pilot success to pervasive commercial capability</a:t>
                      </a:r>
                      <a:endParaRPr lang="en-US" sz="1200" kern="100">
                        <a:solidFill>
                          <a:schemeClr val="tx1"/>
                        </a:solidFill>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Piloted a recommendation engine and AI chat in one market, improving onboarding conversion 12% and </a:t>
                      </a:r>
                      <a:r>
                        <a:rPr kumimoji="0" lang="en-US" sz="1100" b="0" i="0" u="none" strike="noStrike" kern="1200" cap="none" spc="0" normalizeH="0" baseline="0" noProof="0" err="1">
                          <a:ln>
                            <a:noFill/>
                          </a:ln>
                          <a:solidFill>
                            <a:schemeClr val="tx1"/>
                          </a:solidFill>
                          <a:effectLst/>
                          <a:uLnTx/>
                          <a:uFillTx/>
                          <a:latin typeface="Arial" pitchFamily="34" charset="0"/>
                          <a:ea typeface="Lato" panose="020F0502020204030203" pitchFamily="34" charset="0"/>
                          <a:cs typeface="Lato" panose="020F0502020204030203" pitchFamily="34" charset="0"/>
                        </a:rPr>
                        <a:t>trial→paid</a:t>
                      </a:r>
                      <a:r>
                        <a:rPr kumimoji="0" lang="en-US" sz="11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 conversion 18% in pilots.</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Gap:</a:t>
                      </a:r>
                      <a:r>
                        <a:rPr kumimoji="0" lang="en-US" sz="11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 limited proof of her ability to scale multi‑market </a:t>
                      </a:r>
                      <a:r>
                        <a:rPr kumimoji="0" lang="en-US" sz="1100" b="0" i="0" u="none" strike="noStrike" kern="1200" cap="none" spc="0" normalizeH="0" baseline="0" noProof="0" err="1">
                          <a:ln>
                            <a:noFill/>
                          </a:ln>
                          <a:solidFill>
                            <a:schemeClr val="tx1"/>
                          </a:solidFill>
                          <a:effectLst/>
                          <a:uLnTx/>
                          <a:uFillTx/>
                          <a:latin typeface="Arial" pitchFamily="34" charset="0"/>
                          <a:ea typeface="Lato" panose="020F0502020204030203" pitchFamily="34" charset="0"/>
                          <a:cs typeface="Lato" panose="020F0502020204030203" pitchFamily="34" charset="0"/>
                        </a:rPr>
                        <a:t>MLOps</a:t>
                      </a:r>
                      <a:r>
                        <a:rPr kumimoji="0" lang="en-US" sz="11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 ownership.</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506223">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4</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15000"/>
                        </a:lnSpc>
                        <a:spcAft>
                          <a:spcPts val="800"/>
                        </a:spcAft>
                        <a:buNone/>
                      </a:pPr>
                      <a:r>
                        <a:rPr lang="en-US" sz="1200" kern="0">
                          <a:solidFill>
                            <a:schemeClr val="tx1"/>
                          </a:solidFill>
                          <a:effectLst/>
                          <a:latin typeface="Arial" pitchFamily="34" charset="0"/>
                          <a:ea typeface="Lato" panose="020F0502020204030203" pitchFamily="34" charset="0"/>
                          <a:cs typeface="Lato" panose="020F0502020204030203" pitchFamily="34" charset="0"/>
                        </a:rPr>
                        <a:t>15%</a:t>
                      </a:r>
                      <a:endParaRPr lang="en-US" sz="1200" kern="100">
                        <a:solidFill>
                          <a:schemeClr val="tx1"/>
                        </a:solidFill>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nSpc>
                          <a:spcPct val="115000"/>
                        </a:lnSpc>
                        <a:spcAft>
                          <a:spcPts val="800"/>
                        </a:spcAft>
                        <a:buNone/>
                      </a:pPr>
                      <a:r>
                        <a:rPr lang="en-US" sz="1200" b="1" kern="0">
                          <a:solidFill>
                            <a:schemeClr val="tx1"/>
                          </a:solidFill>
                          <a:effectLst/>
                          <a:latin typeface="Arial" pitchFamily="34" charset="0"/>
                          <a:ea typeface="Lato" panose="020F0502020204030203" pitchFamily="34" charset="0"/>
                          <a:cs typeface="Lato" panose="020F0502020204030203" pitchFamily="34" charset="0"/>
                        </a:rPr>
                        <a:t>Evolve from efficiency optimization to predictive growth investment</a:t>
                      </a:r>
                      <a:endParaRPr lang="en-US" sz="1200" kern="100">
                        <a:solidFill>
                          <a:schemeClr val="tx1"/>
                        </a:solidFill>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Built regional attribution and A/B framework, shortening time‑to‑scale for winners from ~5 to ~3 months.</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Gap: </a:t>
                      </a:r>
                      <a:r>
                        <a:rPr kumimoji="0" lang="en-US" sz="11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lacks the ability to build and deploy a predictive ROI system for efficiency improvements (currently episodic)</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504139">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5</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10%</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Transform marketing organization from execution engine to strategic growth partner</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rgbClr val="FF0000"/>
                        </a:solidFill>
                        <a:effectLst/>
                        <a:uLnTx/>
                        <a:uFillTx/>
                        <a:latin typeface="Arial" pitchFamily="34" charset="0"/>
                        <a:ea typeface="Lato" panose="020F0502020204030203" pitchFamily="34" charset="0"/>
                        <a:cs typeface="Lato" panose="020F0502020204030203" pitchFamily="34"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chemeClr val="tx1"/>
                          </a:solidFill>
                          <a:effectLst/>
                          <a:uLnTx/>
                          <a:uFillTx/>
                          <a:latin typeface="Arial" pitchFamily="34" charset="0"/>
                          <a:ea typeface="Lato" panose="020F0502020204030203" pitchFamily="34" charset="0"/>
                          <a:cs typeface="Lato" panose="020F0502020204030203" pitchFamily="34" charset="0"/>
                        </a:rPr>
                        <a:t>Created a regional growth function and GTM playbooks adopted in two countries.</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1" i="0" u="none" strike="noStrike" kern="1200" cap="none" spc="0" normalizeH="0" baseline="0" noProof="0" dirty="0">
                          <a:ln>
                            <a:noFill/>
                          </a:ln>
                          <a:solidFill>
                            <a:schemeClr val="tx1"/>
                          </a:solidFill>
                          <a:effectLst/>
                          <a:uLnTx/>
                          <a:uFillTx/>
                          <a:latin typeface="Arial" pitchFamily="34" charset="0"/>
                          <a:ea typeface="Lato" panose="020F0502020204030203" pitchFamily="34" charset="0"/>
                          <a:cs typeface="Lato" panose="020F0502020204030203" pitchFamily="34" charset="0"/>
                        </a:rPr>
                        <a:t>Gap:</a:t>
                      </a:r>
                      <a:r>
                        <a:rPr kumimoji="0" lang="en-US" sz="1100" b="0" i="0" u="none" strike="noStrike" kern="1200" cap="none" spc="0" normalizeH="0" baseline="0" noProof="0" dirty="0">
                          <a:ln>
                            <a:noFill/>
                          </a:ln>
                          <a:solidFill>
                            <a:schemeClr val="tx1"/>
                          </a:solidFill>
                          <a:effectLst/>
                          <a:uLnTx/>
                          <a:uFillTx/>
                          <a:latin typeface="Arial" pitchFamily="34" charset="0"/>
                          <a:ea typeface="Lato" panose="020F0502020204030203" pitchFamily="34" charset="0"/>
                          <a:cs typeface="Lato" panose="020F0502020204030203" pitchFamily="34" charset="0"/>
                        </a:rPr>
                        <a:t> Demonstrate ability to hire and develop senior leaders and create a viable succession plan for her role</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22335984"/>
                  </a:ext>
                </a:extLst>
              </a:tr>
            </a:tbl>
          </a:graphicData>
        </a:graphic>
      </p:graphicFrame>
      <p:graphicFrame>
        <p:nvGraphicFramePr>
          <p:cNvPr id="82" name="Google Shape;302;p6">
            <a:extLst>
              <a:ext uri="{FF2B5EF4-FFF2-40B4-BE49-F238E27FC236}">
                <a16:creationId xmlns:a16="http://schemas.microsoft.com/office/drawing/2014/main" id="{3192A54E-3928-11A1-FDBB-3B85C26A305B}"/>
              </a:ext>
            </a:extLst>
          </p:cNvPr>
          <p:cNvGraphicFramePr/>
          <p:nvPr>
            <p:extLst>
              <p:ext uri="{D42A27DB-BD31-4B8C-83A1-F6EECF244321}">
                <p14:modId xmlns:p14="http://schemas.microsoft.com/office/powerpoint/2010/main" val="4127344330"/>
              </p:ext>
            </p:extLst>
          </p:nvPr>
        </p:nvGraphicFramePr>
        <p:xfrm>
          <a:off x="475423" y="4533621"/>
          <a:ext cx="11303878" cy="1703072"/>
        </p:xfrm>
        <a:graphic>
          <a:graphicData uri="http://schemas.openxmlformats.org/drawingml/2006/table">
            <a:tbl>
              <a:tblPr firstRow="1" bandRow="1">
                <a:noFill/>
              </a:tblPr>
              <a:tblGrid>
                <a:gridCol w="348047">
                  <a:extLst>
                    <a:ext uri="{9D8B030D-6E8A-4147-A177-3AD203B41FA5}">
                      <a16:colId xmlns:a16="http://schemas.microsoft.com/office/drawing/2014/main" val="3171278797"/>
                    </a:ext>
                  </a:extLst>
                </a:gridCol>
                <a:gridCol w="2381643">
                  <a:extLst>
                    <a:ext uri="{9D8B030D-6E8A-4147-A177-3AD203B41FA5}">
                      <a16:colId xmlns:a16="http://schemas.microsoft.com/office/drawing/2014/main" val="20002"/>
                    </a:ext>
                  </a:extLst>
                </a:gridCol>
                <a:gridCol w="1238550">
                  <a:extLst>
                    <a:ext uri="{9D8B030D-6E8A-4147-A177-3AD203B41FA5}">
                      <a16:colId xmlns:a16="http://schemas.microsoft.com/office/drawing/2014/main" val="787183963"/>
                    </a:ext>
                  </a:extLst>
                </a:gridCol>
                <a:gridCol w="7335638">
                  <a:extLst>
                    <a:ext uri="{9D8B030D-6E8A-4147-A177-3AD203B41FA5}">
                      <a16:colId xmlns:a16="http://schemas.microsoft.com/office/drawing/2014/main" val="4202888217"/>
                    </a:ext>
                  </a:extLst>
                </a:gridCol>
              </a:tblGrid>
              <a:tr h="161487">
                <a:tc gridSpan="2">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solidFill>
                            <a:schemeClr val="tx1"/>
                          </a:solidFill>
                          <a:latin typeface="Arial" pitchFamily="34" charset="0"/>
                          <a:ea typeface="Lato" panose="020F0502020204030203" pitchFamily="34" charset="0"/>
                          <a:cs typeface="Lato" panose="020F0502020204030203" pitchFamily="34" charset="0"/>
                        </a:rPr>
                        <a:t>Superpowers Readiness</a:t>
                      </a: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1">
                        <a:solidFill>
                          <a:schemeClr val="tx1"/>
                        </a:solidFill>
                        <a:latin typeface="Arial" pitchFamily="34" charset="0"/>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2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Evidence</a:t>
                      </a:r>
                    </a:p>
                  </a:txBody>
                  <a:tcPr>
                    <a:lnL w="9525" cap="flat" cmpd="sng" algn="ctr">
                      <a:noFill/>
                      <a:prstDash val="solid"/>
                      <a:round/>
                      <a:headEnd type="none" w="sm" len="sm"/>
                      <a:tailEnd type="none" w="sm" len="sm"/>
                    </a:lnL>
                    <a:lnR w="9525" cap="flat" cmpd="sng">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15982398"/>
                  </a:ext>
                </a:extLst>
              </a:tr>
              <a:tr h="375683">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ctr" rtl="0">
                        <a:lnSpc>
                          <a:spcPct val="100000"/>
                        </a:lnSpc>
                        <a:spcBef>
                          <a:spcPts val="0"/>
                        </a:spcBef>
                        <a:spcAft>
                          <a:spcPts val="0"/>
                        </a:spcAft>
                        <a:buClr>
                          <a:schemeClr val="dk1"/>
                        </a:buClr>
                        <a:buSzPts val="2000"/>
                        <a:buFont typeface="Arial"/>
                        <a:buNone/>
                      </a:pPr>
                      <a:r>
                        <a:rPr lang="en-US" sz="1000" b="1" u="none" strike="noStrike" cap="none">
                          <a:solidFill>
                            <a:schemeClr val="tx1"/>
                          </a:solidFill>
                          <a:latin typeface="Arial" pitchFamily="34" charset="0"/>
                          <a:ea typeface="Lato" panose="020F0502020204030203" pitchFamily="34" charset="0"/>
                          <a:cs typeface="Lato" panose="020F0502020204030203" pitchFamily="34" charset="0"/>
                          <a:sym typeface="Lato"/>
                        </a:rPr>
                        <a:t>1</a:t>
                      </a:r>
                      <a:endParaRPr sz="1000" b="1">
                        <a:solidFill>
                          <a:schemeClr val="tx1"/>
                        </a:solidFill>
                        <a:latin typeface="Arial" pitchFamily="34" charset="0"/>
                        <a:ea typeface="Lato" panose="020F0502020204030203" pitchFamily="34" charset="0"/>
                        <a:cs typeface="Lato" panose="020F0502020204030203" pitchFamily="34" charset="0"/>
                      </a:endParaRPr>
                    </a:p>
                  </a:txBody>
                  <a:tcPr marL="23400" marR="23400" marT="0" marB="0" anchor="ct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Trusted integrator: </a:t>
                      </a:r>
                      <a:r>
                        <a:rPr kumimoji="0" lang="en-US" sz="10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Rapidly translating commercial priorities into prioritized, time‑boxed deliverables and securing decision rights and funding</a:t>
                      </a: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b="1" kern="1200">
                        <a:solidFill>
                          <a:schemeClr val="tx1"/>
                        </a:solidFill>
                        <a:latin typeface="Arial" pitchFamily="34" charset="0"/>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Convened Product, Engineering, Ops, and Country leads to deliver bundle launches and secure executive sponsorship.</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Engaged regulators and market leaders early, preventing rework and enabling smoother rollouts.</a:t>
                      </a: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465398">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ctr" rtl="0">
                        <a:lnSpc>
                          <a:spcPct val="100000"/>
                        </a:lnSpc>
                        <a:spcBef>
                          <a:spcPts val="0"/>
                        </a:spcBef>
                        <a:spcAft>
                          <a:spcPts val="0"/>
                        </a:spcAft>
                        <a:buClr>
                          <a:schemeClr val="dk1"/>
                        </a:buClr>
                        <a:buSzPts val="2000"/>
                        <a:buFont typeface="Arial"/>
                        <a:buNone/>
                      </a:pPr>
                      <a:r>
                        <a:rPr lang="en-US" sz="1000" b="1">
                          <a:solidFill>
                            <a:schemeClr val="tx1"/>
                          </a:solidFill>
                          <a:latin typeface="Arial" pitchFamily="34" charset="0"/>
                          <a:ea typeface="Lato" panose="020F0502020204030203" pitchFamily="34" charset="0"/>
                          <a:cs typeface="Lato" panose="020F0502020204030203" pitchFamily="34" charset="0"/>
                        </a:rPr>
                        <a:t>2</a:t>
                      </a:r>
                      <a:endParaRPr sz="1000" b="1">
                        <a:solidFill>
                          <a:schemeClr val="tx1"/>
                        </a:solidFill>
                        <a:latin typeface="Arial" pitchFamily="34" charset="0"/>
                        <a:ea typeface="Lato" panose="020F0502020204030203" pitchFamily="34" charset="0"/>
                        <a:cs typeface="Lato" panose="020F0502020204030203" pitchFamily="34" charset="0"/>
                      </a:endParaRPr>
                    </a:p>
                  </a:txBody>
                  <a:tcPr marL="23400" marR="23400" marT="0" marB="0"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Pilot‑to‑scale operator: </a:t>
                      </a:r>
                      <a:r>
                        <a:rPr kumimoji="0" lang="en-US" sz="10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Converting pilots into repeatable, measurable products with clear unit economics, GTM playbooks, and P&amp;L ownership—demonstrating quick wins</a:t>
                      </a: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b="1" kern="1200">
                        <a:solidFill>
                          <a:srgbClr val="FF0000"/>
                        </a:solidFill>
                        <a:latin typeface="Arial" pitchFamily="34" charset="0"/>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Incubated a fintech pilot, owned initial P&amp;L, and scaled to 450K active accounts in 9 months; codified GTM templates for follow‑on launches.</a:t>
                      </a: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62063259"/>
                  </a:ext>
                </a:extLst>
              </a:tr>
            </a:tbl>
          </a:graphicData>
        </a:graphic>
      </p:graphicFrame>
      <p:sp>
        <p:nvSpPr>
          <p:cNvPr id="84" name="Google Shape;425;p8">
            <a:extLst>
              <a:ext uri="{FF2B5EF4-FFF2-40B4-BE49-F238E27FC236}">
                <a16:creationId xmlns:a16="http://schemas.microsoft.com/office/drawing/2014/main" id="{38ECC216-8CC2-F9C8-8BE2-6D16F91C825C}"/>
              </a:ext>
            </a:extLst>
          </p:cNvPr>
          <p:cNvSpPr/>
          <p:nvPr/>
        </p:nvSpPr>
        <p:spPr>
          <a:xfrm>
            <a:off x="3473651" y="5170450"/>
            <a:ext cx="953554" cy="45719"/>
          </a:xfrm>
          <a:prstGeom prst="rect">
            <a:avLst/>
          </a:prstGeom>
          <a:gradFill>
            <a:gsLst>
              <a:gs pos="0">
                <a:srgbClr val="FF0000"/>
              </a:gs>
              <a:gs pos="52000">
                <a:srgbClr val="FFC000"/>
              </a:gs>
              <a:gs pos="100000">
                <a:srgbClr val="00B050"/>
              </a:gs>
            </a:gsLst>
            <a:lin ang="0" scaled="0"/>
          </a:gradFill>
          <a:ln>
            <a:noFill/>
          </a:ln>
        </p:spPr>
        <p:txBody>
          <a:bodyPr spcFirstLastPara="1" wrap="square" lIns="45713" tIns="22850" rIns="45713" bIns="2285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10" normalizeH="0" baseline="0" noProof="0">
              <a:ln>
                <a:noFill/>
              </a:ln>
              <a:solidFill>
                <a:srgbClr val="FFFFFF"/>
              </a:solidFill>
              <a:effectLst/>
              <a:uLnTx/>
              <a:uFillTx/>
              <a:latin typeface="Arial" pitchFamily="34" charset="0"/>
              <a:ea typeface="Calibri"/>
              <a:cs typeface="Calibri"/>
              <a:sym typeface="Calibri"/>
            </a:endParaRPr>
          </a:p>
        </p:txBody>
      </p:sp>
      <p:sp>
        <p:nvSpPr>
          <p:cNvPr id="87" name="Google Shape;425;p8">
            <a:extLst>
              <a:ext uri="{FF2B5EF4-FFF2-40B4-BE49-F238E27FC236}">
                <a16:creationId xmlns:a16="http://schemas.microsoft.com/office/drawing/2014/main" id="{92C67FE2-6F3D-6386-F7A6-4E240A73F4BD}"/>
              </a:ext>
            </a:extLst>
          </p:cNvPr>
          <p:cNvSpPr/>
          <p:nvPr/>
        </p:nvSpPr>
        <p:spPr>
          <a:xfrm>
            <a:off x="3473650" y="5908702"/>
            <a:ext cx="953554" cy="45719"/>
          </a:xfrm>
          <a:prstGeom prst="rect">
            <a:avLst/>
          </a:prstGeom>
          <a:gradFill>
            <a:gsLst>
              <a:gs pos="0">
                <a:srgbClr val="FF0000"/>
              </a:gs>
              <a:gs pos="52000">
                <a:srgbClr val="FFC000"/>
              </a:gs>
              <a:gs pos="100000">
                <a:srgbClr val="00B050"/>
              </a:gs>
            </a:gsLst>
            <a:lin ang="0" scaled="0"/>
          </a:gradFill>
          <a:ln>
            <a:noFill/>
          </a:ln>
        </p:spPr>
        <p:txBody>
          <a:bodyPr spcFirstLastPara="1" wrap="square" lIns="45713" tIns="22850" rIns="45713" bIns="2285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10" normalizeH="0" baseline="0" noProof="0">
              <a:ln>
                <a:noFill/>
              </a:ln>
              <a:solidFill>
                <a:srgbClr val="FFFFFF"/>
              </a:solidFill>
              <a:effectLst/>
              <a:uLnTx/>
              <a:uFillTx/>
              <a:latin typeface="Arial" pitchFamily="34" charset="0"/>
              <a:ea typeface="Calibri"/>
              <a:cs typeface="Calibri"/>
              <a:sym typeface="Calibri"/>
            </a:endParaRPr>
          </a:p>
        </p:txBody>
      </p:sp>
      <p:sp>
        <p:nvSpPr>
          <p:cNvPr id="20" name="TextBox 19">
            <a:extLst>
              <a:ext uri="{FF2B5EF4-FFF2-40B4-BE49-F238E27FC236}">
                <a16:creationId xmlns:a16="http://schemas.microsoft.com/office/drawing/2014/main" id="{00381BD0-9D4E-462D-542A-B65425C74432}"/>
              </a:ext>
            </a:extLst>
          </p:cNvPr>
          <p:cNvSpPr txBox="1"/>
          <p:nvPr/>
        </p:nvSpPr>
        <p:spPr>
          <a:xfrm>
            <a:off x="5777825" y="694654"/>
            <a:ext cx="5087567"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spc="-10" dirty="0">
                <a:latin typeface="Segoe UI" pitchFamily="34" charset="0"/>
                <a:ea typeface="Lato" panose="020F0502020204030203" pitchFamily="34" charset="0"/>
                <a:cs typeface="Lato" panose="020F0502020204030203" pitchFamily="34" charset="0"/>
              </a:rPr>
              <a:t>Target Role: VP of Digital Marketing and Growth</a:t>
            </a:r>
          </a:p>
        </p:txBody>
      </p:sp>
      <p:grpSp>
        <p:nvGrpSpPr>
          <p:cNvPr id="21" name="Group 20">
            <a:extLst>
              <a:ext uri="{FF2B5EF4-FFF2-40B4-BE49-F238E27FC236}">
                <a16:creationId xmlns:a16="http://schemas.microsoft.com/office/drawing/2014/main" id="{49BE239B-3266-D972-CC8F-7E81F875614D}"/>
              </a:ext>
            </a:extLst>
          </p:cNvPr>
          <p:cNvGrpSpPr/>
          <p:nvPr/>
        </p:nvGrpSpPr>
        <p:grpSpPr>
          <a:xfrm>
            <a:off x="1366431" y="6336375"/>
            <a:ext cx="3231572" cy="425660"/>
            <a:chOff x="899806" y="6448812"/>
            <a:chExt cx="3231572" cy="425660"/>
          </a:xfrm>
        </p:grpSpPr>
        <p:cxnSp>
          <p:nvCxnSpPr>
            <p:cNvPr id="22" name="Straight Arrow Connector 21">
              <a:extLst>
                <a:ext uri="{FF2B5EF4-FFF2-40B4-BE49-F238E27FC236}">
                  <a16:creationId xmlns:a16="http://schemas.microsoft.com/office/drawing/2014/main" id="{F2D1FC39-4ED0-3540-09FA-772FA6268A90}"/>
                </a:ext>
              </a:extLst>
            </p:cNvPr>
            <p:cNvCxnSpPr>
              <a:cxnSpLocks/>
            </p:cNvCxnSpPr>
            <p:nvPr/>
          </p:nvCxnSpPr>
          <p:spPr>
            <a:xfrm>
              <a:off x="1439090" y="6628232"/>
              <a:ext cx="2351301" cy="0"/>
            </a:xfrm>
            <a:prstGeom prst="straightConnector1">
              <a:avLst/>
            </a:prstGeom>
            <a:ln>
              <a:solidFill>
                <a:schemeClr val="tx2">
                  <a:lumMod val="90000"/>
                </a:schemeClr>
              </a:solidFill>
              <a:headEnd type="triangle" w="med" len="sm"/>
              <a:tailEnd type="triangle" w="sm" len="sm"/>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5351F348-B7EB-5424-61D3-6035D9E234E9}"/>
                </a:ext>
              </a:extLst>
            </p:cNvPr>
            <p:cNvSpPr txBox="1"/>
            <p:nvPr/>
          </p:nvSpPr>
          <p:spPr>
            <a:xfrm>
              <a:off x="2169624" y="6448812"/>
              <a:ext cx="911919" cy="107722"/>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sym typeface="Lato Light"/>
                </a:rPr>
                <a:t>Readiness Scale</a:t>
              </a:r>
              <a:endPar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sp>
          <p:nvSpPr>
            <p:cNvPr id="24" name="TextBox 23">
              <a:extLst>
                <a:ext uri="{FF2B5EF4-FFF2-40B4-BE49-F238E27FC236}">
                  <a16:creationId xmlns:a16="http://schemas.microsoft.com/office/drawing/2014/main" id="{844DBC66-2B17-1A62-DB0C-2BD7AFB6E4C0}"/>
                </a:ext>
              </a:extLst>
            </p:cNvPr>
            <p:cNvSpPr txBox="1"/>
            <p:nvPr/>
          </p:nvSpPr>
          <p:spPr>
            <a:xfrm>
              <a:off x="1228319"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C0000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C00000"/>
                </a:solidFill>
                <a:effectLst/>
                <a:uLnTx/>
                <a:uFillTx/>
                <a:latin typeface="Arial" pitchFamily="34" charset="0"/>
                <a:ea typeface="Lato" panose="020F0502020204030203" pitchFamily="34" charset="0"/>
                <a:cs typeface="Lato" panose="020F0502020204030203" pitchFamily="34" charset="0"/>
              </a:endParaRPr>
            </a:p>
          </p:txBody>
        </p:sp>
        <p:sp>
          <p:nvSpPr>
            <p:cNvPr id="25" name="TextBox 24">
              <a:extLst>
                <a:ext uri="{FF2B5EF4-FFF2-40B4-BE49-F238E27FC236}">
                  <a16:creationId xmlns:a16="http://schemas.microsoft.com/office/drawing/2014/main" id="{F33B727C-9EDB-2EFC-4BA3-FF514F8D00B9}"/>
                </a:ext>
              </a:extLst>
            </p:cNvPr>
            <p:cNvSpPr txBox="1"/>
            <p:nvPr/>
          </p:nvSpPr>
          <p:spPr>
            <a:xfrm>
              <a:off x="3851453"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00B05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00B050"/>
                </a:solidFill>
                <a:effectLst/>
                <a:uLnTx/>
                <a:uFillTx/>
                <a:latin typeface="Arial" pitchFamily="34" charset="0"/>
                <a:ea typeface="Lato" panose="020F0502020204030203" pitchFamily="34" charset="0"/>
                <a:cs typeface="Lato" panose="020F0502020204030203" pitchFamily="34" charset="0"/>
              </a:endParaRPr>
            </a:p>
          </p:txBody>
        </p:sp>
        <p:sp>
          <p:nvSpPr>
            <p:cNvPr id="26" name="TextBox 25">
              <a:extLst>
                <a:ext uri="{FF2B5EF4-FFF2-40B4-BE49-F238E27FC236}">
                  <a16:creationId xmlns:a16="http://schemas.microsoft.com/office/drawing/2014/main" id="{4074BCD4-37E4-252A-6774-40CD2753458D}"/>
                </a:ext>
              </a:extLst>
            </p:cNvPr>
            <p:cNvSpPr txBox="1"/>
            <p:nvPr/>
          </p:nvSpPr>
          <p:spPr>
            <a:xfrm>
              <a:off x="1884102"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FF6B0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FF6B00"/>
                </a:solidFill>
                <a:effectLst/>
                <a:uLnTx/>
                <a:uFillTx/>
                <a:latin typeface="Arial" pitchFamily="34" charset="0"/>
                <a:ea typeface="Lato" panose="020F0502020204030203" pitchFamily="34" charset="0"/>
                <a:cs typeface="Lato" panose="020F0502020204030203" pitchFamily="34" charset="0"/>
              </a:endParaRPr>
            </a:p>
          </p:txBody>
        </p:sp>
        <p:sp>
          <p:nvSpPr>
            <p:cNvPr id="27" name="TextBox 26">
              <a:extLst>
                <a:ext uri="{FF2B5EF4-FFF2-40B4-BE49-F238E27FC236}">
                  <a16:creationId xmlns:a16="http://schemas.microsoft.com/office/drawing/2014/main" id="{BDA16782-B8F4-A132-BFD2-BD359199B1E1}"/>
                </a:ext>
              </a:extLst>
            </p:cNvPr>
            <p:cNvSpPr txBox="1"/>
            <p:nvPr/>
          </p:nvSpPr>
          <p:spPr>
            <a:xfrm>
              <a:off x="3195668"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BADC8C"/>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BADC8C"/>
                </a:solidFill>
                <a:effectLst/>
                <a:uLnTx/>
                <a:uFillTx/>
                <a:latin typeface="Arial" pitchFamily="34" charset="0"/>
                <a:ea typeface="Lato" panose="020F0502020204030203" pitchFamily="34" charset="0"/>
                <a:cs typeface="Lato" panose="020F0502020204030203" pitchFamily="34" charset="0"/>
              </a:endParaRPr>
            </a:p>
          </p:txBody>
        </p:sp>
        <p:sp>
          <p:nvSpPr>
            <p:cNvPr id="28" name="TextBox 27">
              <a:extLst>
                <a:ext uri="{FF2B5EF4-FFF2-40B4-BE49-F238E27FC236}">
                  <a16:creationId xmlns:a16="http://schemas.microsoft.com/office/drawing/2014/main" id="{1F3D3668-FD82-7F12-4C82-C7531E0EBED3}"/>
                </a:ext>
              </a:extLst>
            </p:cNvPr>
            <p:cNvSpPr txBox="1"/>
            <p:nvPr/>
          </p:nvSpPr>
          <p:spPr>
            <a:xfrm>
              <a:off x="2539885"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FFC00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FFC000"/>
                </a:solidFill>
                <a:effectLst/>
                <a:uLnTx/>
                <a:uFillTx/>
                <a:latin typeface="Arial" pitchFamily="34" charset="0"/>
                <a:ea typeface="Lato" panose="020F0502020204030203" pitchFamily="34" charset="0"/>
                <a:cs typeface="Lato" panose="020F0502020204030203" pitchFamily="34" charset="0"/>
              </a:endParaRPr>
            </a:p>
          </p:txBody>
        </p:sp>
        <p:sp>
          <p:nvSpPr>
            <p:cNvPr id="29" name="TextBox 28">
              <a:extLst>
                <a:ext uri="{FF2B5EF4-FFF2-40B4-BE49-F238E27FC236}">
                  <a16:creationId xmlns:a16="http://schemas.microsoft.com/office/drawing/2014/main" id="{C055D6F8-91DE-56FC-E702-2CE10B003342}"/>
                </a:ext>
              </a:extLst>
            </p:cNvPr>
            <p:cNvSpPr txBox="1"/>
            <p:nvPr/>
          </p:nvSpPr>
          <p:spPr>
            <a:xfrm>
              <a:off x="3645867" y="6674417"/>
              <a:ext cx="485511" cy="200055"/>
            </a:xfrm>
            <a:prstGeom prst="rect">
              <a:avLst/>
            </a:prstGeom>
            <a:noFill/>
          </p:spPr>
          <p:txBody>
            <a:bodyPr wrap="square" lIns="91440" tIns="45720" rIns="91440" bIns="4572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700" i="1" spc="-10">
                  <a:latin typeface="Arial" pitchFamily="34" charset="0"/>
                  <a:ea typeface="Lato" panose="020F0502020204030203" pitchFamily="34" charset="0"/>
                  <a:cs typeface="Lato" panose="020F0502020204030203" pitchFamily="34" charset="0"/>
                  <a:sym typeface="Lato Light"/>
                </a:rPr>
                <a:t>Ready</a:t>
              </a:r>
              <a:endPar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sp>
          <p:nvSpPr>
            <p:cNvPr id="30" name="TextBox 29">
              <a:extLst>
                <a:ext uri="{FF2B5EF4-FFF2-40B4-BE49-F238E27FC236}">
                  <a16:creationId xmlns:a16="http://schemas.microsoft.com/office/drawing/2014/main" id="{E8D0CB90-3B92-8DB1-CE09-70AC4BCF667F}"/>
                </a:ext>
              </a:extLst>
            </p:cNvPr>
            <p:cNvSpPr txBox="1"/>
            <p:nvPr/>
          </p:nvSpPr>
          <p:spPr>
            <a:xfrm>
              <a:off x="899806" y="6652387"/>
              <a:ext cx="721686" cy="200055"/>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sym typeface="Lato Light"/>
                </a:rPr>
                <a:t>Not Ready</a:t>
              </a:r>
              <a:endPar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grpSp>
      <p:sp>
        <p:nvSpPr>
          <p:cNvPr id="6" name="TextBox 5">
            <a:extLst>
              <a:ext uri="{FF2B5EF4-FFF2-40B4-BE49-F238E27FC236}">
                <a16:creationId xmlns:a16="http://schemas.microsoft.com/office/drawing/2014/main" id="{5A486DE0-8472-BFE8-ED8B-D556F3C2121B}"/>
              </a:ext>
            </a:extLst>
          </p:cNvPr>
          <p:cNvSpPr txBox="1"/>
          <p:nvPr/>
        </p:nvSpPr>
        <p:spPr>
          <a:xfrm>
            <a:off x="841911" y="768479"/>
            <a:ext cx="4039001" cy="503037"/>
          </a:xfrm>
          <a:prstGeom prst="rect">
            <a:avLst/>
          </a:prstGeom>
        </p:spPr>
        <p:txBody>
          <a:bodyPr vert="horz" wrap="square" lIns="0" tIns="0" rIns="0" bIns="0" rtlCol="0" anchor="t" anchorCtr="0">
            <a:noAutofit/>
          </a:bodyPr>
          <a:lstStyle/>
          <a:p>
            <a:pPr lvl="0">
              <a:defRPr/>
            </a:pPr>
            <a:r>
              <a:rPr lang="en-US" sz="1400" b="1" spc="-10">
                <a:latin typeface="Segoe UI" pitchFamily="34" charset="0"/>
                <a:ea typeface="Lato" panose="020F0502020204030203" pitchFamily="34" charset="0"/>
                <a:cs typeface="Lato" panose="020F0502020204030203" pitchFamily="34" charset="0"/>
              </a:rPr>
              <a:t>Sarah Hogwen - </a:t>
            </a:r>
            <a:r>
              <a:rPr lang="en-US" sz="1200" spc="-10">
                <a:latin typeface="Arial" pitchFamily="34" charset="0"/>
                <a:ea typeface="Lato" panose="020F0502020204030203" pitchFamily="34" charset="0"/>
                <a:cs typeface="Lato" panose="020F0502020204030203" pitchFamily="34" charset="0"/>
              </a:rPr>
              <a:t>Regional Marketing Director</a:t>
            </a:r>
            <a:endParaRPr lang="en-US" sz="900" i="1" spc="-10">
              <a:latin typeface="Arial" pitchFamily="34" charset="0"/>
              <a:ea typeface="Lato" panose="020F0502020204030203" pitchFamily="34" charset="0"/>
              <a:cs typeface="Lato" panose="020F0502020204030203" pitchFamily="34" charset="0"/>
            </a:endParaRPr>
          </a:p>
        </p:txBody>
      </p:sp>
      <p:grpSp>
        <p:nvGrpSpPr>
          <p:cNvPr id="16" name="Group 15">
            <a:extLst>
              <a:ext uri="{FF2B5EF4-FFF2-40B4-BE49-F238E27FC236}">
                <a16:creationId xmlns:a16="http://schemas.microsoft.com/office/drawing/2014/main" id="{62939E49-63A5-EC5E-3AE1-DE9F0D4D262B}"/>
              </a:ext>
            </a:extLst>
          </p:cNvPr>
          <p:cNvGrpSpPr/>
          <p:nvPr/>
        </p:nvGrpSpPr>
        <p:grpSpPr>
          <a:xfrm>
            <a:off x="10403235" y="201614"/>
            <a:ext cx="410690" cy="410700"/>
            <a:chOff x="3506617" y="2730959"/>
            <a:chExt cx="1591098" cy="1591098"/>
          </a:xfrm>
        </p:grpSpPr>
        <p:sp>
          <p:nvSpPr>
            <p:cNvPr id="17" name="Rectangle: Rounded Corners 39">
              <a:extLst>
                <a:ext uri="{FF2B5EF4-FFF2-40B4-BE49-F238E27FC236}">
                  <a16:creationId xmlns:a16="http://schemas.microsoft.com/office/drawing/2014/main" id="{CC6A8BD0-3491-829C-8CB3-DAE63FF81E52}"/>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1" name="Rectangle: Rounded Corners 54">
              <a:extLst>
                <a:ext uri="{FF2B5EF4-FFF2-40B4-BE49-F238E27FC236}">
                  <a16:creationId xmlns:a16="http://schemas.microsoft.com/office/drawing/2014/main" id="{0C6E799A-53B4-334C-8698-BFF3A70BC675}"/>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2" name="Freeform 56" descr="Clipboard Partially Checked with solid fill">
              <a:extLst>
                <a:ext uri="{FF2B5EF4-FFF2-40B4-BE49-F238E27FC236}">
                  <a16:creationId xmlns:a16="http://schemas.microsoft.com/office/drawing/2014/main" id="{8C381531-64A8-F2F6-FD2E-5A238E18134F}"/>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33" name="Group 32">
            <a:extLst>
              <a:ext uri="{FF2B5EF4-FFF2-40B4-BE49-F238E27FC236}">
                <a16:creationId xmlns:a16="http://schemas.microsoft.com/office/drawing/2014/main" id="{91BC9FE2-97FF-C40F-595D-9C5C0EA2C69D}"/>
              </a:ext>
            </a:extLst>
          </p:cNvPr>
          <p:cNvGrpSpPr/>
          <p:nvPr/>
        </p:nvGrpSpPr>
        <p:grpSpPr>
          <a:xfrm>
            <a:off x="11557682" y="191038"/>
            <a:ext cx="410690" cy="410700"/>
            <a:chOff x="8874309" y="3009260"/>
            <a:chExt cx="1591098" cy="1591098"/>
          </a:xfrm>
        </p:grpSpPr>
        <p:grpSp>
          <p:nvGrpSpPr>
            <p:cNvPr id="34" name="Group 33">
              <a:extLst>
                <a:ext uri="{FF2B5EF4-FFF2-40B4-BE49-F238E27FC236}">
                  <a16:creationId xmlns:a16="http://schemas.microsoft.com/office/drawing/2014/main" id="{5604CEDB-9B02-EDB5-0BA7-49618CB580B7}"/>
                </a:ext>
              </a:extLst>
            </p:cNvPr>
            <p:cNvGrpSpPr/>
            <p:nvPr/>
          </p:nvGrpSpPr>
          <p:grpSpPr>
            <a:xfrm>
              <a:off x="8874309" y="3009260"/>
              <a:ext cx="1591098" cy="1591098"/>
              <a:chOff x="9350370" y="2760976"/>
              <a:chExt cx="1591098" cy="1591098"/>
            </a:xfrm>
          </p:grpSpPr>
          <p:sp>
            <p:nvSpPr>
              <p:cNvPr id="36" name="Rectangle: Rounded Corners 39">
                <a:extLst>
                  <a:ext uri="{FF2B5EF4-FFF2-40B4-BE49-F238E27FC236}">
                    <a16:creationId xmlns:a16="http://schemas.microsoft.com/office/drawing/2014/main" id="{6BFED902-ED37-09ED-E104-9A86DF900608}"/>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7" name="Rectangle: Rounded Corners 54">
                <a:extLst>
                  <a:ext uri="{FF2B5EF4-FFF2-40B4-BE49-F238E27FC236}">
                    <a16:creationId xmlns:a16="http://schemas.microsoft.com/office/drawing/2014/main" id="{57739E71-405E-F73B-EB45-F8EED6243360}"/>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5" name="Picture 51" descr="Map with pin with solid fill">
              <a:extLst>
                <a:ext uri="{FF2B5EF4-FFF2-40B4-BE49-F238E27FC236}">
                  <a16:creationId xmlns:a16="http://schemas.microsoft.com/office/drawing/2014/main" id="{9F7B5D47-65B4-05F6-5279-84EE08756DCC}"/>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8" name="Group 37">
            <a:extLst>
              <a:ext uri="{FF2B5EF4-FFF2-40B4-BE49-F238E27FC236}">
                <a16:creationId xmlns:a16="http://schemas.microsoft.com/office/drawing/2014/main" id="{7943FFE7-2A18-5AE7-78D0-B6E5A143D3BF}"/>
              </a:ext>
            </a:extLst>
          </p:cNvPr>
          <p:cNvGrpSpPr/>
          <p:nvPr/>
        </p:nvGrpSpPr>
        <p:grpSpPr>
          <a:xfrm>
            <a:off x="10997361" y="200955"/>
            <a:ext cx="410690" cy="410700"/>
            <a:chOff x="5303120" y="3009260"/>
            <a:chExt cx="1591098" cy="1591098"/>
          </a:xfrm>
        </p:grpSpPr>
        <p:grpSp>
          <p:nvGrpSpPr>
            <p:cNvPr id="39" name="Group 38">
              <a:extLst>
                <a:ext uri="{FF2B5EF4-FFF2-40B4-BE49-F238E27FC236}">
                  <a16:creationId xmlns:a16="http://schemas.microsoft.com/office/drawing/2014/main" id="{0C9CC00A-9F6D-2512-51CC-FE745FA9AC03}"/>
                </a:ext>
              </a:extLst>
            </p:cNvPr>
            <p:cNvGrpSpPr/>
            <p:nvPr/>
          </p:nvGrpSpPr>
          <p:grpSpPr>
            <a:xfrm>
              <a:off x="5303120" y="3009260"/>
              <a:ext cx="1591098" cy="1591098"/>
              <a:chOff x="6428492" y="2760976"/>
              <a:chExt cx="1591098" cy="1591098"/>
            </a:xfrm>
          </p:grpSpPr>
          <p:sp>
            <p:nvSpPr>
              <p:cNvPr id="41" name="Rectangle: Rounded Corners 39">
                <a:extLst>
                  <a:ext uri="{FF2B5EF4-FFF2-40B4-BE49-F238E27FC236}">
                    <a16:creationId xmlns:a16="http://schemas.microsoft.com/office/drawing/2014/main" id="{29D3560B-AD34-8106-83BC-ADD5AB9261DA}"/>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2" name="Rectangle: Rounded Corners 54">
                <a:extLst>
                  <a:ext uri="{FF2B5EF4-FFF2-40B4-BE49-F238E27FC236}">
                    <a16:creationId xmlns:a16="http://schemas.microsoft.com/office/drawing/2014/main" id="{54AC725F-291A-7559-4CDE-8B96EE74DCE2}"/>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0" name="Graphic 39" descr="Target Audience with solid fill">
              <a:extLst>
                <a:ext uri="{FF2B5EF4-FFF2-40B4-BE49-F238E27FC236}">
                  <a16:creationId xmlns:a16="http://schemas.microsoft.com/office/drawing/2014/main" id="{4C11DA99-4949-84B8-8B36-87422D7557E3}"/>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3" name="TextBox 42">
            <a:extLst>
              <a:ext uri="{FF2B5EF4-FFF2-40B4-BE49-F238E27FC236}">
                <a16:creationId xmlns:a16="http://schemas.microsoft.com/office/drawing/2014/main" id="{77AB6F64-EFC9-E357-2E56-9520D5EE130D}"/>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4" name="TextBox 43">
            <a:extLst>
              <a:ext uri="{FF2B5EF4-FFF2-40B4-BE49-F238E27FC236}">
                <a16:creationId xmlns:a16="http://schemas.microsoft.com/office/drawing/2014/main" id="{49A851DF-0E9C-F384-7F15-359168125465}"/>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5" name="TextBox 44">
            <a:extLst>
              <a:ext uri="{FF2B5EF4-FFF2-40B4-BE49-F238E27FC236}">
                <a16:creationId xmlns:a16="http://schemas.microsoft.com/office/drawing/2014/main" id="{83D63F57-6624-4014-0557-E820FFCA6541}"/>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6" name="Rectangle 45">
            <a:extLst>
              <a:ext uri="{FF2B5EF4-FFF2-40B4-BE49-F238E27FC236}">
                <a16:creationId xmlns:a16="http://schemas.microsoft.com/office/drawing/2014/main" id="{5D3CB64C-A2B4-51F9-0307-CBCB01BEDEAC}"/>
              </a:ext>
            </a:extLst>
          </p:cNvPr>
          <p:cNvSpPr/>
          <p:nvPr/>
        </p:nvSpPr>
        <p:spPr>
          <a:xfrm>
            <a:off x="10265324" y="155273"/>
            <a:ext cx="1200137"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p>
        </p:txBody>
      </p:sp>
      <p:sp>
        <p:nvSpPr>
          <p:cNvPr id="51" name="Rectangle 50">
            <a:extLst>
              <a:ext uri="{FF2B5EF4-FFF2-40B4-BE49-F238E27FC236}">
                <a16:creationId xmlns:a16="http://schemas.microsoft.com/office/drawing/2014/main" id="{35E7DDBB-2ED6-2C9F-F8DC-376E1DB59F41}"/>
              </a:ext>
            </a:extLst>
          </p:cNvPr>
          <p:cNvSpPr/>
          <p:nvPr/>
        </p:nvSpPr>
        <p:spPr>
          <a:xfrm>
            <a:off x="3473651" y="2347410"/>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sp>
        <p:nvSpPr>
          <p:cNvPr id="53" name="Rectangle 52">
            <a:extLst>
              <a:ext uri="{FF2B5EF4-FFF2-40B4-BE49-F238E27FC236}">
                <a16:creationId xmlns:a16="http://schemas.microsoft.com/office/drawing/2014/main" id="{8375FE5F-1ADF-AE22-FC5D-67D3B58B6220}"/>
              </a:ext>
            </a:extLst>
          </p:cNvPr>
          <p:cNvSpPr/>
          <p:nvPr/>
        </p:nvSpPr>
        <p:spPr>
          <a:xfrm>
            <a:off x="3473651" y="2979623"/>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sp>
        <p:nvSpPr>
          <p:cNvPr id="55" name="Rectangle 54">
            <a:extLst>
              <a:ext uri="{FF2B5EF4-FFF2-40B4-BE49-F238E27FC236}">
                <a16:creationId xmlns:a16="http://schemas.microsoft.com/office/drawing/2014/main" id="{DE733E25-F44E-DA34-803B-06CAF7E10AF7}"/>
              </a:ext>
            </a:extLst>
          </p:cNvPr>
          <p:cNvSpPr/>
          <p:nvPr/>
        </p:nvSpPr>
        <p:spPr>
          <a:xfrm>
            <a:off x="3473651" y="3581376"/>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sp>
        <p:nvSpPr>
          <p:cNvPr id="57" name="Rectangle 56">
            <a:extLst>
              <a:ext uri="{FF2B5EF4-FFF2-40B4-BE49-F238E27FC236}">
                <a16:creationId xmlns:a16="http://schemas.microsoft.com/office/drawing/2014/main" id="{13BAB848-F62C-E631-62B7-89AA9C149EF1}"/>
              </a:ext>
            </a:extLst>
          </p:cNvPr>
          <p:cNvSpPr/>
          <p:nvPr/>
        </p:nvSpPr>
        <p:spPr>
          <a:xfrm>
            <a:off x="3486354" y="1603253"/>
            <a:ext cx="931815"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grpSp>
        <p:nvGrpSpPr>
          <p:cNvPr id="59" name="Group 58">
            <a:extLst>
              <a:ext uri="{FF2B5EF4-FFF2-40B4-BE49-F238E27FC236}">
                <a16:creationId xmlns:a16="http://schemas.microsoft.com/office/drawing/2014/main" id="{E9865B79-7FF1-B8FC-377D-4460108C89FF}"/>
              </a:ext>
            </a:extLst>
          </p:cNvPr>
          <p:cNvGrpSpPr/>
          <p:nvPr/>
        </p:nvGrpSpPr>
        <p:grpSpPr>
          <a:xfrm>
            <a:off x="3482459" y="4121301"/>
            <a:ext cx="931814" cy="106854"/>
            <a:chOff x="3769489" y="3719449"/>
            <a:chExt cx="931814" cy="106854"/>
          </a:xfrm>
        </p:grpSpPr>
        <p:sp>
          <p:nvSpPr>
            <p:cNvPr id="60" name="Rectangle 59">
              <a:extLst>
                <a:ext uri="{FF2B5EF4-FFF2-40B4-BE49-F238E27FC236}">
                  <a16:creationId xmlns:a16="http://schemas.microsoft.com/office/drawing/2014/main" id="{8D531C4B-5012-C75E-5D60-87C102DBB5EF}"/>
                </a:ext>
              </a:extLst>
            </p:cNvPr>
            <p:cNvSpPr/>
            <p:nvPr/>
          </p:nvSpPr>
          <p:spPr>
            <a:xfrm>
              <a:off x="3769489" y="3749892"/>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sp>
          <p:nvSpPr>
            <p:cNvPr id="61" name="Oval 60">
              <a:extLst>
                <a:ext uri="{FF2B5EF4-FFF2-40B4-BE49-F238E27FC236}">
                  <a16:creationId xmlns:a16="http://schemas.microsoft.com/office/drawing/2014/main" id="{C57149F0-ADA5-AA75-BB2E-35C29A451C32}"/>
                </a:ext>
              </a:extLst>
            </p:cNvPr>
            <p:cNvSpPr/>
            <p:nvPr/>
          </p:nvSpPr>
          <p:spPr>
            <a:xfrm>
              <a:off x="4122981" y="3719449"/>
              <a:ext cx="93190" cy="106854"/>
            </a:xfrm>
            <a:prstGeom prst="ellipse">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10" normalizeH="0" baseline="0" noProof="0">
                <a:ln>
                  <a:noFill/>
                </a:ln>
                <a:solidFill>
                  <a:srgbClr val="FFFFFF"/>
                </a:solidFill>
                <a:effectLst/>
                <a:uLnTx/>
                <a:uFillTx/>
                <a:latin typeface="Arial" pitchFamily="34" charset="0"/>
                <a:ea typeface="Lato" panose="020F0502020204030203" pitchFamily="34" charset="0"/>
                <a:cs typeface="Lato" panose="020F0502020204030203" pitchFamily="34" charset="0"/>
              </a:endParaRPr>
            </a:p>
          </p:txBody>
        </p:sp>
      </p:grpSp>
      <p:sp>
        <p:nvSpPr>
          <p:cNvPr id="89"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55</a:t>
            </a:fld>
            <a:endParaRPr lang="en-US"/>
          </a:p>
        </p:txBody>
      </p:sp>
      <p:sp>
        <p:nvSpPr>
          <p:cNvPr id="8" name="Text Placeholder 1">
            <a:extLst>
              <a:ext uri="{FF2B5EF4-FFF2-40B4-BE49-F238E27FC236}">
                <a16:creationId xmlns:a16="http://schemas.microsoft.com/office/drawing/2014/main" id="{7C0FCBB0-2885-128D-A8C4-3D2DD5CEF93B}"/>
              </a:ext>
            </a:extLst>
          </p:cNvPr>
          <p:cNvSpPr>
            <a:spLocks noGrp="1"/>
          </p:cNvSpPr>
          <p:nvPr>
            <p:ph type="title" sz="quarter"/>
          </p:nvPr>
        </p:nvSpPr>
        <p:spPr>
          <a:xfrm>
            <a:off x="432000" y="432001"/>
            <a:ext cx="11328000" cy="736400"/>
          </a:xfrm>
        </p:spPr>
        <p:txBody>
          <a:bodyPr lIns="91440" tIns="45720" rIns="91440" bIns="45720" anchor="t"/>
          <a:lstStyle/>
          <a:p>
            <a:r>
              <a:rPr lang="en-US" b="1" spc="-25" dirty="0">
                <a:solidFill>
                  <a:schemeClr val="accent1"/>
                </a:solidFill>
                <a:latin typeface="Segoe UI" pitchFamily="34" charset="0"/>
                <a:ea typeface="Helvetica Neue" panose="02000503000000020004" pitchFamily="2" charset="0"/>
                <a:cs typeface="Helvetica Neue" panose="02000503000000020004" pitchFamily="2" charset="0"/>
              </a:rPr>
              <a:t>Assess succession readiness </a:t>
            </a:r>
            <a:r>
              <a:rPr lang="en-US" b="1" spc="-25" dirty="0">
                <a:latin typeface="Segoe UI" pitchFamily="34" charset="0"/>
                <a:ea typeface="Helvetica Neue" panose="02000503000000020004" pitchFamily="2" charset="0"/>
                <a:cs typeface="Helvetica Neue" panose="02000503000000020004" pitchFamily="2" charset="0"/>
              </a:rPr>
              <a:t>example</a:t>
            </a:r>
          </a:p>
        </p:txBody>
      </p:sp>
    </p:spTree>
    <p:extLst>
      <p:ext uri="{BB962C8B-B14F-4D97-AF65-F5344CB8AC3E}">
        <p14:creationId xmlns:p14="http://schemas.microsoft.com/office/powerpoint/2010/main" val="1318842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E45E8-A4C3-4DCC-F7CC-C992021C5407}"/>
            </a:ext>
          </a:extLst>
        </p:cNvPr>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4661A526-FB54-44A5-8054-15911141B212}"/>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7" name="Object 6" hidden="1">
                        <a:extLst>
                          <a:ext uri="{FF2B5EF4-FFF2-40B4-BE49-F238E27FC236}">
                            <a16:creationId xmlns:a16="http://schemas.microsoft.com/office/drawing/2014/main" id="{4661A526-FB54-44A5-8054-15911141B212}"/>
                          </a:ext>
                        </a:extLst>
                      </p:cNvPr>
                      <p:cNvPicPr/>
                      <p:nvPr/>
                    </p:nvPicPr>
                    <p:blipFill>
                      <a:blip r:embed="rId5">
                        <a:duotone>
                          <a:srgbClr val="765FFF"/>
                          <a:srgbClr val="FFFFFF"/>
                        </a:duotone>
                      </a:blip>
                      <a:stretch>
                        <a:fillRect/>
                      </a:stretch>
                    </p:blipFill>
                    <p:spPr>
                      <a:xfrm>
                        <a:off x="1589" y="1589"/>
                        <a:ext cx="1588" cy="1588"/>
                      </a:xfrm>
                      <a:prstGeom prst="rect">
                        <a:avLst/>
                      </a:prstGeom>
                    </p:spPr>
                  </p:pic>
                </p:oleObj>
              </mc:Fallback>
            </mc:AlternateContent>
          </a:graphicData>
        </a:graphic>
      </p:graphicFrame>
      <p:sp>
        <p:nvSpPr>
          <p:cNvPr id="4" name="Text Placeholder 3">
            <a:extLst>
              <a:ext uri="{FF2B5EF4-FFF2-40B4-BE49-F238E27FC236}">
                <a16:creationId xmlns:a16="http://schemas.microsoft.com/office/drawing/2014/main" id="{8B11EC8D-950C-8921-D8D5-75DEFF249EEA}"/>
              </a:ext>
            </a:extLst>
          </p:cNvPr>
          <p:cNvSpPr>
            <a:spLocks noGrp="1"/>
          </p:cNvSpPr>
          <p:nvPr>
            <p:ph type="title" sz="quarter"/>
          </p:nvPr>
        </p:nvSpPr>
        <p:spPr/>
        <p:txBody>
          <a:bodyPr/>
          <a:lstStyle/>
          <a:p>
            <a:r>
              <a:rPr lang="en-US" b="1" spc="-25">
                <a:solidFill>
                  <a:schemeClr val="tx1"/>
                </a:solidFill>
                <a:latin typeface="Segoe UI" pitchFamily="34" charset="0"/>
                <a:ea typeface="+mn-ea"/>
                <a:cs typeface="Calibri" panose="020F0502020204030204" pitchFamily="34" charset="0"/>
              </a:rPr>
              <a:t>Development plan</a:t>
            </a:r>
          </a:p>
        </p:txBody>
      </p:sp>
      <p:graphicFrame>
        <p:nvGraphicFramePr>
          <p:cNvPr id="2" name="Table 1">
            <a:extLst>
              <a:ext uri="{FF2B5EF4-FFF2-40B4-BE49-F238E27FC236}">
                <a16:creationId xmlns:a16="http://schemas.microsoft.com/office/drawing/2014/main" id="{D825CDE1-BDF6-640A-88DE-E1137BA71506}"/>
              </a:ext>
            </a:extLst>
          </p:cNvPr>
          <p:cNvGraphicFramePr>
            <a:graphicFrameLocks noGrp="1"/>
          </p:cNvGraphicFramePr>
          <p:nvPr>
            <p:extLst>
              <p:ext uri="{D42A27DB-BD31-4B8C-83A1-F6EECF244321}">
                <p14:modId xmlns:p14="http://schemas.microsoft.com/office/powerpoint/2010/main" val="4016107928"/>
              </p:ext>
            </p:extLst>
          </p:nvPr>
        </p:nvGraphicFramePr>
        <p:xfrm>
          <a:off x="1168400" y="2381083"/>
          <a:ext cx="10566400" cy="1530180"/>
        </p:xfrm>
        <a:graphic>
          <a:graphicData uri="http://schemas.openxmlformats.org/drawingml/2006/table">
            <a:tbl>
              <a:tblPr firstRow="1" bandRow="1">
                <a:tableStyleId>{7E9639D4-E3E2-4D34-9284-5A2195B3D0D7}</a:tableStyleId>
              </a:tblPr>
              <a:tblGrid>
                <a:gridCol w="2762617">
                  <a:extLst>
                    <a:ext uri="{9D8B030D-6E8A-4147-A177-3AD203B41FA5}">
                      <a16:colId xmlns:a16="http://schemas.microsoft.com/office/drawing/2014/main" val="3969346356"/>
                    </a:ext>
                  </a:extLst>
                </a:gridCol>
                <a:gridCol w="7803783">
                  <a:extLst>
                    <a:ext uri="{9D8B030D-6E8A-4147-A177-3AD203B41FA5}">
                      <a16:colId xmlns:a16="http://schemas.microsoft.com/office/drawing/2014/main" val="556055413"/>
                    </a:ext>
                  </a:extLst>
                </a:gridCol>
              </a:tblGrid>
              <a:tr h="359260">
                <a:tc>
                  <a:txBody>
                    <a:bodyPr/>
                    <a:lstStyle/>
                    <a:p>
                      <a:pPr algn="l"/>
                      <a:r>
                        <a:rPr lang="en-US" sz="1200" dirty="0"/>
                        <a:t>Development Focus</a:t>
                      </a:r>
                      <a:endParaRPr lang="en-US" sz="1200" dirty="0">
                        <a:latin typeface="Arial" pitchFamily="34" charset="0"/>
                        <a:cs typeface="Arial" panose="020B0604020202020204" pitchFamily="34" charset="0"/>
                      </a:endParaRPr>
                    </a:p>
                  </a:txBody>
                  <a:tcPr>
                    <a:solidFill>
                      <a:srgbClr val="281A42"/>
                    </a:solidFill>
                  </a:tcPr>
                </a:tc>
                <a:tc>
                  <a:txBody>
                    <a:bodyPr/>
                    <a:lstStyle/>
                    <a:p>
                      <a:pPr algn="l"/>
                      <a:r>
                        <a:rPr lang="en-US" sz="1200"/>
                        <a:t>Actions</a:t>
                      </a:r>
                      <a:endParaRPr lang="en-US" sz="1200">
                        <a:latin typeface="Arial" pitchFamily="34" charset="0"/>
                        <a:cs typeface="Arial" panose="020B0604020202020204" pitchFamily="34" charset="0"/>
                      </a:endParaRPr>
                    </a:p>
                  </a:txBody>
                  <a:tcPr>
                    <a:solidFill>
                      <a:srgbClr val="281A42"/>
                    </a:solidFill>
                  </a:tcPr>
                </a:tc>
                <a:extLst>
                  <a:ext uri="{0D108BD9-81ED-4DB2-BD59-A6C34878D82A}">
                    <a16:rowId xmlns:a16="http://schemas.microsoft.com/office/drawing/2014/main" val="2688028102"/>
                  </a:ext>
                </a:extLst>
              </a:tr>
              <a:tr h="585460">
                <a:tc>
                  <a:txBody>
                    <a:bodyPr/>
                    <a:lstStyle/>
                    <a:p>
                      <a:endParaRPr lang="en-US" sz="1200" b="1" i="0" kern="1200">
                        <a:solidFill>
                          <a:schemeClr val="tx1"/>
                        </a:solidFill>
                        <a:effectLst/>
                        <a:latin typeface="+mn-lt"/>
                        <a:ea typeface="+mn-ea"/>
                        <a:cs typeface="+mn-cs"/>
                      </a:endParaRPr>
                    </a:p>
                  </a:txBody>
                  <a:tcPr anchor="ctr"/>
                </a:tc>
                <a:tc>
                  <a:txBody>
                    <a:bodyPr/>
                    <a:lstStyle/>
                    <a:p>
                      <a:pPr marL="171450" indent="-171450">
                        <a:lnSpc>
                          <a:spcPts val="1400"/>
                        </a:lnSpc>
                        <a:buFont typeface="Wingdings" pitchFamily="2" charset="2"/>
                        <a:buChar char="q"/>
                      </a:pPr>
                      <a:endParaRPr lang="en-US" sz="1200">
                        <a:solidFill>
                          <a:schemeClr val="tx1"/>
                        </a:solidFill>
                        <a:latin typeface="+mn-lt"/>
                        <a:ea typeface="Lato Light"/>
                        <a:cs typeface="Lato Light"/>
                      </a:endParaRPr>
                    </a:p>
                  </a:txBody>
                  <a:tcPr/>
                </a:tc>
                <a:extLst>
                  <a:ext uri="{0D108BD9-81ED-4DB2-BD59-A6C34878D82A}">
                    <a16:rowId xmlns:a16="http://schemas.microsoft.com/office/drawing/2014/main" val="2272458449"/>
                  </a:ext>
                </a:extLst>
              </a:tr>
              <a:tr h="585460">
                <a:tc>
                  <a:txBody>
                    <a:bodyPr/>
                    <a:lstStyle/>
                    <a:p>
                      <a:pPr marL="0" indent="0">
                        <a:spcAft>
                          <a:spcPts val="200"/>
                        </a:spcAft>
                        <a:buFont typeface="+mj-lt"/>
                        <a:buNone/>
                        <a:defRPr/>
                      </a:pPr>
                      <a:endParaRPr lang="en-US" sz="1000" b="1">
                        <a:solidFill>
                          <a:srgbClr val="00C27A"/>
                        </a:solidFill>
                        <a:ea typeface="Lato Light"/>
                        <a:cs typeface="Lato Light"/>
                      </a:endParaRPr>
                    </a:p>
                  </a:txBody>
                  <a:tcPr anchor="ctr"/>
                </a:tc>
                <a:tc>
                  <a:txBody>
                    <a:bodyPr/>
                    <a:lstStyle/>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endParaRPr lang="en-US" sz="1200" dirty="0">
                        <a:solidFill>
                          <a:schemeClr val="tx1"/>
                        </a:solidFill>
                      </a:endParaRPr>
                    </a:p>
                  </a:txBody>
                  <a:tcPr/>
                </a:tc>
                <a:extLst>
                  <a:ext uri="{0D108BD9-81ED-4DB2-BD59-A6C34878D82A}">
                    <a16:rowId xmlns:a16="http://schemas.microsoft.com/office/drawing/2014/main" val="1980918467"/>
                  </a:ext>
                </a:extLst>
              </a:tr>
            </a:tbl>
          </a:graphicData>
        </a:graphic>
      </p:graphicFrame>
      <p:sp>
        <p:nvSpPr>
          <p:cNvPr id="5" name="Rounded Rectangle 35">
            <a:extLst>
              <a:ext uri="{FF2B5EF4-FFF2-40B4-BE49-F238E27FC236}">
                <a16:creationId xmlns:a16="http://schemas.microsoft.com/office/drawing/2014/main" id="{612D0E10-40E9-A265-0E25-29584BF1E686}"/>
              </a:ext>
            </a:extLst>
          </p:cNvPr>
          <p:cNvSpPr/>
          <p:nvPr/>
        </p:nvSpPr>
        <p:spPr>
          <a:xfrm>
            <a:off x="4214726" y="1002222"/>
            <a:ext cx="3681663" cy="1304904"/>
          </a:xfrm>
          <a:prstGeom prst="roundRect">
            <a:avLst/>
          </a:prstGeom>
          <a:solidFill>
            <a:srgbClr val="EDEDED"/>
          </a:solidFill>
          <a:ln>
            <a:no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200" b="0" i="0" u="none" strike="noStrike" kern="1200" cap="none" spc="-1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endParaRPr>
          </a:p>
        </p:txBody>
      </p:sp>
      <p:sp>
        <p:nvSpPr>
          <p:cNvPr id="6" name="TextBox 5">
            <a:extLst>
              <a:ext uri="{FF2B5EF4-FFF2-40B4-BE49-F238E27FC236}">
                <a16:creationId xmlns:a16="http://schemas.microsoft.com/office/drawing/2014/main" id="{1FC3A6EE-4C94-9538-AAF7-E65254D0A94E}"/>
              </a:ext>
            </a:extLst>
          </p:cNvPr>
          <p:cNvSpPr txBox="1"/>
          <p:nvPr/>
        </p:nvSpPr>
        <p:spPr>
          <a:xfrm>
            <a:off x="4399714" y="1094110"/>
            <a:ext cx="3321498" cy="1121128"/>
          </a:xfrm>
          <a:prstGeom prst="rect">
            <a:avLst/>
          </a:prstGeom>
          <a:noFill/>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Signature Strength</a:t>
            </a:r>
          </a:p>
        </p:txBody>
      </p:sp>
      <p:sp>
        <p:nvSpPr>
          <p:cNvPr id="8" name="Rounded Rectangle 35">
            <a:extLst>
              <a:ext uri="{FF2B5EF4-FFF2-40B4-BE49-F238E27FC236}">
                <a16:creationId xmlns:a16="http://schemas.microsoft.com/office/drawing/2014/main" id="{E4E759A0-1429-05E6-4CFF-FA62F2E31843}"/>
              </a:ext>
            </a:extLst>
          </p:cNvPr>
          <p:cNvSpPr/>
          <p:nvPr/>
        </p:nvSpPr>
        <p:spPr>
          <a:xfrm>
            <a:off x="8053136" y="1002222"/>
            <a:ext cx="3681663" cy="1304904"/>
          </a:xfrm>
          <a:prstGeom prst="roundRect">
            <a:avLst/>
          </a:prstGeom>
          <a:solidFill>
            <a:srgbClr val="EDEDED"/>
          </a:solidFill>
          <a:ln>
            <a:no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200" b="0" i="0" u="none" strike="noStrike" kern="1200" cap="none" spc="-1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endParaRPr>
          </a:p>
        </p:txBody>
      </p:sp>
      <p:sp>
        <p:nvSpPr>
          <p:cNvPr id="17" name="TextBox 16">
            <a:extLst>
              <a:ext uri="{FF2B5EF4-FFF2-40B4-BE49-F238E27FC236}">
                <a16:creationId xmlns:a16="http://schemas.microsoft.com/office/drawing/2014/main" id="{593784D2-7757-1D38-B815-FEC7525A3478}"/>
              </a:ext>
            </a:extLst>
          </p:cNvPr>
          <p:cNvSpPr txBox="1"/>
          <p:nvPr/>
        </p:nvSpPr>
        <p:spPr>
          <a:xfrm>
            <a:off x="8293768" y="1074499"/>
            <a:ext cx="3109107" cy="1232627"/>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Opportunities for Continued Growth</a:t>
            </a:r>
          </a:p>
        </p:txBody>
      </p:sp>
      <p:graphicFrame>
        <p:nvGraphicFramePr>
          <p:cNvPr id="19" name="Table 18">
            <a:extLst>
              <a:ext uri="{FF2B5EF4-FFF2-40B4-BE49-F238E27FC236}">
                <a16:creationId xmlns:a16="http://schemas.microsoft.com/office/drawing/2014/main" id="{DEB1B104-1607-9416-1647-33974FAAFDC0}"/>
              </a:ext>
            </a:extLst>
          </p:cNvPr>
          <p:cNvGraphicFramePr>
            <a:graphicFrameLocks noGrp="1"/>
          </p:cNvGraphicFramePr>
          <p:nvPr>
            <p:extLst>
              <p:ext uri="{D42A27DB-BD31-4B8C-83A1-F6EECF244321}">
                <p14:modId xmlns:p14="http://schemas.microsoft.com/office/powerpoint/2010/main" val="3673204906"/>
              </p:ext>
            </p:extLst>
          </p:nvPr>
        </p:nvGraphicFramePr>
        <p:xfrm>
          <a:off x="1168399" y="4092361"/>
          <a:ext cx="10566400" cy="2132880"/>
        </p:xfrm>
        <a:graphic>
          <a:graphicData uri="http://schemas.openxmlformats.org/drawingml/2006/table">
            <a:tbl>
              <a:tblPr firstRow="1" bandRow="1">
                <a:tableStyleId>{7E9639D4-E3E2-4D34-9284-5A2195B3D0D7}</a:tableStyleId>
              </a:tblPr>
              <a:tblGrid>
                <a:gridCol w="2786693">
                  <a:extLst>
                    <a:ext uri="{9D8B030D-6E8A-4147-A177-3AD203B41FA5}">
                      <a16:colId xmlns:a16="http://schemas.microsoft.com/office/drawing/2014/main" val="3969346356"/>
                    </a:ext>
                  </a:extLst>
                </a:gridCol>
                <a:gridCol w="7779707">
                  <a:extLst>
                    <a:ext uri="{9D8B030D-6E8A-4147-A177-3AD203B41FA5}">
                      <a16:colId xmlns:a16="http://schemas.microsoft.com/office/drawing/2014/main" val="556055413"/>
                    </a:ext>
                  </a:extLst>
                </a:gridCol>
              </a:tblGrid>
              <a:tr h="322620">
                <a:tc>
                  <a:txBody>
                    <a:bodyPr/>
                    <a:lstStyle/>
                    <a:p>
                      <a:pPr algn="l"/>
                      <a:r>
                        <a:rPr lang="en-US" sz="1200"/>
                        <a:t>Development Focus</a:t>
                      </a:r>
                      <a:endParaRPr lang="en-US" sz="1200">
                        <a:latin typeface="Arial" pitchFamily="34" charset="0"/>
                        <a:cs typeface="Arial" panose="020B0604020202020204" pitchFamily="34" charset="0"/>
                      </a:endParaRPr>
                    </a:p>
                  </a:txBody>
                  <a:tcPr>
                    <a:solidFill>
                      <a:srgbClr val="281A42"/>
                    </a:solidFill>
                  </a:tcPr>
                </a:tc>
                <a:tc>
                  <a:txBody>
                    <a:bodyPr/>
                    <a:lstStyle/>
                    <a:p>
                      <a:pPr algn="l"/>
                      <a:r>
                        <a:rPr lang="en-US" sz="1200"/>
                        <a:t>Actions</a:t>
                      </a:r>
                      <a:endParaRPr lang="en-US" sz="1200">
                        <a:latin typeface="Arial" pitchFamily="34" charset="0"/>
                        <a:cs typeface="Arial" panose="020B0604020202020204" pitchFamily="34" charset="0"/>
                      </a:endParaRPr>
                    </a:p>
                  </a:txBody>
                  <a:tcPr>
                    <a:solidFill>
                      <a:srgbClr val="281A42"/>
                    </a:solidFill>
                  </a:tcPr>
                </a:tc>
                <a:extLst>
                  <a:ext uri="{0D108BD9-81ED-4DB2-BD59-A6C34878D82A}">
                    <a16:rowId xmlns:a16="http://schemas.microsoft.com/office/drawing/2014/main" val="2688028102"/>
                  </a:ext>
                </a:extLst>
              </a:tr>
              <a:tr h="603420">
                <a:tc>
                  <a:txBody>
                    <a:bodyPr/>
                    <a:lstStyle/>
                    <a:p>
                      <a:endParaRPr lang="en-US" sz="1200" b="1" i="0" kern="1200">
                        <a:solidFill>
                          <a:schemeClr val="tx1"/>
                        </a:solidFill>
                        <a:effectLst/>
                        <a:latin typeface="+mn-lt"/>
                        <a:ea typeface="+mn-ea"/>
                        <a:cs typeface="+mn-cs"/>
                      </a:endParaRPr>
                    </a:p>
                  </a:txBody>
                  <a:tcPr anchor="ctr"/>
                </a:tc>
                <a:tc>
                  <a:txBody>
                    <a:bodyPr/>
                    <a:lstStyle/>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endParaRPr lang="en-US" sz="1200" kern="1200">
                        <a:solidFill>
                          <a:schemeClr val="tx1"/>
                        </a:solidFill>
                        <a:latin typeface="+mn-lt"/>
                        <a:ea typeface="Lato Light"/>
                        <a:cs typeface="Lato Light"/>
                      </a:endParaRPr>
                    </a:p>
                  </a:txBody>
                  <a:tcPr/>
                </a:tc>
                <a:extLst>
                  <a:ext uri="{0D108BD9-81ED-4DB2-BD59-A6C34878D82A}">
                    <a16:rowId xmlns:a16="http://schemas.microsoft.com/office/drawing/2014/main" val="2272458449"/>
                  </a:ext>
                </a:extLst>
              </a:tr>
              <a:tr h="603420">
                <a:tc>
                  <a:txBody>
                    <a:bodyPr/>
                    <a:lstStyle/>
                    <a:p>
                      <a:endParaRPr lang="en-US" sz="1200" b="1" i="0" kern="1200">
                        <a:solidFill>
                          <a:schemeClr val="tx1"/>
                        </a:solidFill>
                        <a:effectLst/>
                        <a:latin typeface="+mn-lt"/>
                        <a:ea typeface="+mn-ea"/>
                        <a:cs typeface="+mn-cs"/>
                      </a:endParaRPr>
                    </a:p>
                  </a:txBody>
                  <a:tcPr anchor="ctr"/>
                </a:tc>
                <a:tc>
                  <a:txBody>
                    <a:bodyPr/>
                    <a:lstStyle/>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endParaRPr lang="en-US" sz="1200" kern="1200">
                        <a:solidFill>
                          <a:schemeClr val="tx1"/>
                        </a:solidFill>
                        <a:latin typeface="+mn-lt"/>
                        <a:ea typeface="Lato Light"/>
                        <a:cs typeface="Lato Light"/>
                      </a:endParaRPr>
                    </a:p>
                  </a:txBody>
                  <a:tcPr/>
                </a:tc>
                <a:extLst>
                  <a:ext uri="{0D108BD9-81ED-4DB2-BD59-A6C34878D82A}">
                    <a16:rowId xmlns:a16="http://schemas.microsoft.com/office/drawing/2014/main" val="3611078717"/>
                  </a:ext>
                </a:extLst>
              </a:tr>
              <a:tr h="6034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kern="1200">
                        <a:solidFill>
                          <a:schemeClr val="tx1"/>
                        </a:solidFill>
                        <a:effectLst/>
                        <a:latin typeface="+mn-lt"/>
                        <a:ea typeface="+mn-ea"/>
                        <a:cs typeface="+mn-cs"/>
                      </a:endParaRPr>
                    </a:p>
                  </a:txBody>
                  <a:tcPr anchor="ctr"/>
                </a:tc>
                <a:tc>
                  <a:txBody>
                    <a:bodyPr/>
                    <a:lstStyle/>
                    <a:p>
                      <a:pPr marL="171450" indent="-171450">
                        <a:buFont typeface="Wingdings" pitchFamily="2" charset="2"/>
                        <a:buChar char="q"/>
                      </a:pPr>
                      <a:endParaRPr lang="en-US" sz="1200" kern="1200">
                        <a:solidFill>
                          <a:schemeClr val="tx1"/>
                        </a:solidFill>
                        <a:latin typeface="+mn-lt"/>
                        <a:ea typeface="Lato Light"/>
                        <a:cs typeface="Lato Light"/>
                      </a:endParaRPr>
                    </a:p>
                  </a:txBody>
                  <a:tcPr/>
                </a:tc>
                <a:extLst>
                  <a:ext uri="{0D108BD9-81ED-4DB2-BD59-A6C34878D82A}">
                    <a16:rowId xmlns:a16="http://schemas.microsoft.com/office/drawing/2014/main" val="1640922681"/>
                  </a:ext>
                </a:extLst>
              </a:tr>
            </a:tbl>
          </a:graphicData>
        </a:graphic>
      </p:graphicFrame>
      <p:sp>
        <p:nvSpPr>
          <p:cNvPr id="20" name="TextBox 19">
            <a:extLst>
              <a:ext uri="{FF2B5EF4-FFF2-40B4-BE49-F238E27FC236}">
                <a16:creationId xmlns:a16="http://schemas.microsoft.com/office/drawing/2014/main" id="{C7A6DCEB-F92C-D311-A9EB-D76C30114C0A}"/>
              </a:ext>
            </a:extLst>
          </p:cNvPr>
          <p:cNvSpPr txBox="1"/>
          <p:nvPr/>
        </p:nvSpPr>
        <p:spPr>
          <a:xfrm>
            <a:off x="-277683" y="4589415"/>
            <a:ext cx="1681871" cy="1138773"/>
          </a:xfrm>
          <a:prstGeom prst="rect">
            <a:avLst/>
          </a:prstGeom>
          <a:noFill/>
        </p:spPr>
        <p:txBody>
          <a:bodyPr wrap="square" lIns="91440" tIns="45720" rIns="9144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0"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rPr>
              <a:t>NEXT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0"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rPr>
              <a:t>&amp;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0"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rPr>
              <a:t>LATER</a:t>
            </a:r>
          </a:p>
          <a:p>
            <a:pPr lvl="0" algn="ctr">
              <a:defRPr/>
            </a:pPr>
            <a:r>
              <a:rPr lang="en-US" sz="1200" b="1" dirty="0"/>
              <a:t>(12–36 months)</a:t>
            </a:r>
            <a:endParaRPr kumimoji="0" lang="en-US" sz="1200" b="1" i="0" u="none" strike="noStrike" kern="1200" cap="none" spc="-10"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endParaRPr>
          </a:p>
        </p:txBody>
      </p:sp>
      <p:sp>
        <p:nvSpPr>
          <p:cNvPr id="22" name="TextBox 21">
            <a:extLst>
              <a:ext uri="{FF2B5EF4-FFF2-40B4-BE49-F238E27FC236}">
                <a16:creationId xmlns:a16="http://schemas.microsoft.com/office/drawing/2014/main" id="{93EF30FA-AD4B-4558-8B4A-348B3304BB40}"/>
              </a:ext>
            </a:extLst>
          </p:cNvPr>
          <p:cNvSpPr txBox="1"/>
          <p:nvPr/>
        </p:nvSpPr>
        <p:spPr>
          <a:xfrm>
            <a:off x="-87948" y="2898553"/>
            <a:ext cx="1302399" cy="553998"/>
          </a:xfrm>
          <a:prstGeom prst="rect">
            <a:avLst/>
          </a:prstGeom>
          <a:noFill/>
        </p:spPr>
        <p:txBody>
          <a:bodyPr wrap="square" lIns="91440" tIns="45720" rIns="9144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0"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rPr>
              <a:t>NOW</a:t>
            </a:r>
          </a:p>
          <a:p>
            <a:pPr lvl="0" algn="ctr">
              <a:defRPr/>
            </a:pPr>
            <a:r>
              <a:rPr lang="en-US" sz="1200" b="1" dirty="0"/>
              <a:t> (0–12 months)</a:t>
            </a:r>
            <a:endParaRPr kumimoji="0" lang="en-US" sz="1200" b="1" i="0" u="none" strike="noStrike" kern="1200" cap="none" spc="-10"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endParaRPr>
          </a:p>
        </p:txBody>
      </p:sp>
      <p:sp>
        <p:nvSpPr>
          <p:cNvPr id="23" name="Rounded Rectangle 22">
            <a:extLst>
              <a:ext uri="{FF2B5EF4-FFF2-40B4-BE49-F238E27FC236}">
                <a16:creationId xmlns:a16="http://schemas.microsoft.com/office/drawing/2014/main" id="{F81558D8-E660-33F5-3DCD-D23BE35ABA02}"/>
              </a:ext>
            </a:extLst>
          </p:cNvPr>
          <p:cNvSpPr/>
          <p:nvPr/>
        </p:nvSpPr>
        <p:spPr>
          <a:xfrm>
            <a:off x="1168400" y="1002222"/>
            <a:ext cx="2876403" cy="1304904"/>
          </a:xfrm>
          <a:prstGeom prst="roundRect">
            <a:avLst/>
          </a:prstGeom>
          <a:noFill/>
          <a:ln w="12700">
            <a:solidFill>
              <a:srgbClr val="2B3A42"/>
            </a:solid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400" b="0" i="0" u="none" strike="noStrike" kern="1200" cap="none" spc="-1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endParaRPr>
          </a:p>
        </p:txBody>
      </p:sp>
      <p:sp>
        <p:nvSpPr>
          <p:cNvPr id="24" name="TextBox 23">
            <a:extLst>
              <a:ext uri="{FF2B5EF4-FFF2-40B4-BE49-F238E27FC236}">
                <a16:creationId xmlns:a16="http://schemas.microsoft.com/office/drawing/2014/main" id="{D144F0F2-0EF2-9763-CBD8-3FA4EDDCE1AC}"/>
              </a:ext>
            </a:extLst>
          </p:cNvPr>
          <p:cNvSpPr txBox="1"/>
          <p:nvPr/>
        </p:nvSpPr>
        <p:spPr>
          <a:xfrm>
            <a:off x="1338323" y="1074499"/>
            <a:ext cx="2287193" cy="923938"/>
          </a:xfrm>
          <a:prstGeom prst="rect">
            <a:avLst/>
          </a:prstGeom>
        </p:spPr>
        <p:txBody>
          <a:bodyPr vert="horz" wrap="square" lIns="0" tIns="0" rIns="0" bIns="0" rtlCol="0" anchor="ctr" anchorCtr="0">
            <a:noAutofit/>
          </a:bodyPr>
          <a:lstStyle/>
          <a:p>
            <a:pPr lvl="0">
              <a:lnSpc>
                <a:spcPct val="200000"/>
              </a:lnSpc>
              <a:defRPr/>
            </a:pPr>
            <a:r>
              <a:rPr lang="en-US" sz="1600" b="1" spc="-10">
                <a:latin typeface="Segoe UI" pitchFamily="34" charset="0"/>
                <a:ea typeface="Lato" panose="020F0502020204030203" pitchFamily="34" charset="0"/>
                <a:cs typeface="Lato" panose="020F0502020204030203" pitchFamily="34" charset="0"/>
              </a:rPr>
              <a:t>Sarah </a:t>
            </a:r>
            <a:r>
              <a:rPr lang="en-US" sz="1600" b="1" spc="-10" err="1">
                <a:latin typeface="Segoe UI" pitchFamily="34" charset="0"/>
                <a:ea typeface="Lato" panose="020F0502020204030203" pitchFamily="34" charset="0"/>
                <a:cs typeface="Lato" panose="020F0502020204030203" pitchFamily="34" charset="0"/>
              </a:rPr>
              <a:t>Hogwen</a:t>
            </a:r>
            <a:endParaRPr lang="en-US" sz="1600" b="1" spc="-10">
              <a:latin typeface="Segoe UI" pitchFamily="34" charset="0"/>
              <a:ea typeface="Lato" panose="020F0502020204030203" pitchFamily="34" charset="0"/>
              <a:cs typeface="Lato" panose="020F0502020204030203" pitchFamily="34" charset="0"/>
            </a:endParaRPr>
          </a:p>
          <a:p>
            <a:pPr lvl="0">
              <a:lnSpc>
                <a:spcPct val="200000"/>
              </a:lnSpc>
              <a:defRPr/>
            </a:pPr>
            <a:r>
              <a:rPr lang="en-US" sz="1200" spc="-10">
                <a:latin typeface="Arial" pitchFamily="34" charset="0"/>
                <a:ea typeface="Lato" panose="020F0502020204030203" pitchFamily="34" charset="0"/>
                <a:cs typeface="Lato" panose="020F0502020204030203" pitchFamily="34" charset="0"/>
              </a:rPr>
              <a:t>Regional Marketing Director</a:t>
            </a:r>
            <a:endParaRPr kumimoji="0" lang="en-US" sz="1200" b="0" i="0" u="none" strike="noStrike" kern="1200" cap="none" spc="-10" normalizeH="0" baseline="0" noProof="0">
              <a:ln>
                <a:noFill/>
              </a:ln>
              <a:solidFill>
                <a:srgbClr val="2B3A42"/>
              </a:solidFill>
              <a:effectLst/>
              <a:uLnTx/>
              <a:uFillTx/>
              <a:latin typeface="Arial" pitchFamily="34" charset="0"/>
              <a:ea typeface="Lato" panose="020F0502020204030203" pitchFamily="34" charset="0"/>
              <a:cs typeface="Lato" panose="020F0502020204030203" pitchFamily="34" charset="0"/>
            </a:endParaRPr>
          </a:p>
        </p:txBody>
      </p:sp>
      <p:grpSp>
        <p:nvGrpSpPr>
          <p:cNvPr id="25" name="Group 24">
            <a:extLst>
              <a:ext uri="{FF2B5EF4-FFF2-40B4-BE49-F238E27FC236}">
                <a16:creationId xmlns:a16="http://schemas.microsoft.com/office/drawing/2014/main" id="{511B428A-F71A-9D86-EF40-E9BB2BC5039C}"/>
              </a:ext>
            </a:extLst>
          </p:cNvPr>
          <p:cNvGrpSpPr/>
          <p:nvPr/>
        </p:nvGrpSpPr>
        <p:grpSpPr>
          <a:xfrm>
            <a:off x="10403235" y="201614"/>
            <a:ext cx="410690" cy="410700"/>
            <a:chOff x="3506617" y="2730959"/>
            <a:chExt cx="1591098" cy="1591098"/>
          </a:xfrm>
        </p:grpSpPr>
        <p:sp>
          <p:nvSpPr>
            <p:cNvPr id="26" name="Rectangle: Rounded Corners 39">
              <a:extLst>
                <a:ext uri="{FF2B5EF4-FFF2-40B4-BE49-F238E27FC236}">
                  <a16:creationId xmlns:a16="http://schemas.microsoft.com/office/drawing/2014/main" id="{4B92FD3A-334B-9DB4-E560-F1B988EC3105}"/>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7" name="Rectangle: Rounded Corners 54">
              <a:extLst>
                <a:ext uri="{FF2B5EF4-FFF2-40B4-BE49-F238E27FC236}">
                  <a16:creationId xmlns:a16="http://schemas.microsoft.com/office/drawing/2014/main" id="{74143E1C-1EC8-8D87-9BE9-F2ACDB7098DA}"/>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8" name="Freeform 56" descr="Clipboard Partially Checked with solid fill">
              <a:extLst>
                <a:ext uri="{FF2B5EF4-FFF2-40B4-BE49-F238E27FC236}">
                  <a16:creationId xmlns:a16="http://schemas.microsoft.com/office/drawing/2014/main" id="{366D2D3A-6C0D-7E0F-5CD5-4ADA6545D463}"/>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6"/>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29" name="Group 28">
            <a:extLst>
              <a:ext uri="{FF2B5EF4-FFF2-40B4-BE49-F238E27FC236}">
                <a16:creationId xmlns:a16="http://schemas.microsoft.com/office/drawing/2014/main" id="{3C1843AC-2E88-8E1E-786A-F79345627504}"/>
              </a:ext>
            </a:extLst>
          </p:cNvPr>
          <p:cNvGrpSpPr/>
          <p:nvPr/>
        </p:nvGrpSpPr>
        <p:grpSpPr>
          <a:xfrm>
            <a:off x="11557682" y="191038"/>
            <a:ext cx="410690" cy="410700"/>
            <a:chOff x="8874309" y="3009260"/>
            <a:chExt cx="1591098" cy="1591098"/>
          </a:xfrm>
        </p:grpSpPr>
        <p:grpSp>
          <p:nvGrpSpPr>
            <p:cNvPr id="30" name="Group 29">
              <a:extLst>
                <a:ext uri="{FF2B5EF4-FFF2-40B4-BE49-F238E27FC236}">
                  <a16:creationId xmlns:a16="http://schemas.microsoft.com/office/drawing/2014/main" id="{774131E2-E0B9-0979-81E6-52D68CF49E34}"/>
                </a:ext>
              </a:extLst>
            </p:cNvPr>
            <p:cNvGrpSpPr/>
            <p:nvPr/>
          </p:nvGrpSpPr>
          <p:grpSpPr>
            <a:xfrm>
              <a:off x="8874309" y="3009260"/>
              <a:ext cx="1591098" cy="1591098"/>
              <a:chOff x="9350370" y="2760976"/>
              <a:chExt cx="1591098" cy="1591098"/>
            </a:xfrm>
          </p:grpSpPr>
          <p:sp>
            <p:nvSpPr>
              <p:cNvPr id="32" name="Rectangle: Rounded Corners 39">
                <a:extLst>
                  <a:ext uri="{FF2B5EF4-FFF2-40B4-BE49-F238E27FC236}">
                    <a16:creationId xmlns:a16="http://schemas.microsoft.com/office/drawing/2014/main" id="{9D0403C8-D5B6-78DC-685B-397E1163FFB4}"/>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3" name="Rectangle: Rounded Corners 54">
                <a:extLst>
                  <a:ext uri="{FF2B5EF4-FFF2-40B4-BE49-F238E27FC236}">
                    <a16:creationId xmlns:a16="http://schemas.microsoft.com/office/drawing/2014/main" id="{E49B7B6C-EB3D-FF97-A87C-B564C590BB01}"/>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1" name="Picture 51" descr="Map with pin with solid fill">
              <a:extLst>
                <a:ext uri="{FF2B5EF4-FFF2-40B4-BE49-F238E27FC236}">
                  <a16:creationId xmlns:a16="http://schemas.microsoft.com/office/drawing/2014/main" id="{9F8DF291-10DD-33DF-0816-A7FA7BD9C17D}"/>
                </a:ext>
              </a:extLst>
            </p:cNvPr>
            <p:cNvPicPr>
              <a:picLocks noChangeAspect="1"/>
            </p:cNvPicPr>
            <p:nvPr/>
          </p:nvPicPr>
          <p:blipFill>
            <a:blip r:embed="rId7">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4" name="Group 33">
            <a:extLst>
              <a:ext uri="{FF2B5EF4-FFF2-40B4-BE49-F238E27FC236}">
                <a16:creationId xmlns:a16="http://schemas.microsoft.com/office/drawing/2014/main" id="{C6E303A0-3A91-CC2D-B838-012D72EA7E4F}"/>
              </a:ext>
            </a:extLst>
          </p:cNvPr>
          <p:cNvGrpSpPr/>
          <p:nvPr/>
        </p:nvGrpSpPr>
        <p:grpSpPr>
          <a:xfrm>
            <a:off x="10997361" y="200955"/>
            <a:ext cx="410690" cy="410700"/>
            <a:chOff x="5303120" y="3009260"/>
            <a:chExt cx="1591098" cy="1591098"/>
          </a:xfrm>
        </p:grpSpPr>
        <p:grpSp>
          <p:nvGrpSpPr>
            <p:cNvPr id="35" name="Group 34">
              <a:extLst>
                <a:ext uri="{FF2B5EF4-FFF2-40B4-BE49-F238E27FC236}">
                  <a16:creationId xmlns:a16="http://schemas.microsoft.com/office/drawing/2014/main" id="{C864D64E-C8A6-103A-473A-8C259730D82C}"/>
                </a:ext>
              </a:extLst>
            </p:cNvPr>
            <p:cNvGrpSpPr/>
            <p:nvPr/>
          </p:nvGrpSpPr>
          <p:grpSpPr>
            <a:xfrm>
              <a:off x="5303120" y="3009260"/>
              <a:ext cx="1591098" cy="1591098"/>
              <a:chOff x="6428492" y="2760976"/>
              <a:chExt cx="1591098" cy="1591098"/>
            </a:xfrm>
          </p:grpSpPr>
          <p:sp>
            <p:nvSpPr>
              <p:cNvPr id="37" name="Rectangle: Rounded Corners 39">
                <a:extLst>
                  <a:ext uri="{FF2B5EF4-FFF2-40B4-BE49-F238E27FC236}">
                    <a16:creationId xmlns:a16="http://schemas.microsoft.com/office/drawing/2014/main" id="{E34CA117-F8CC-EF95-3627-EC490265F6B1}"/>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8" name="Rectangle: Rounded Corners 54">
                <a:extLst>
                  <a:ext uri="{FF2B5EF4-FFF2-40B4-BE49-F238E27FC236}">
                    <a16:creationId xmlns:a16="http://schemas.microsoft.com/office/drawing/2014/main" id="{F9834EBC-0241-41E3-9879-4CA0E6ED30BF}"/>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6" name="Graphic 35" descr="Target Audience with solid fill">
              <a:extLst>
                <a:ext uri="{FF2B5EF4-FFF2-40B4-BE49-F238E27FC236}">
                  <a16:creationId xmlns:a16="http://schemas.microsoft.com/office/drawing/2014/main" id="{791EC9EB-4927-7674-7F3A-2B85FF094C2C}"/>
                </a:ext>
              </a:extLst>
            </p:cNvPr>
            <p:cNvPicPr>
              <a:picLocks noChangeAspect="1"/>
            </p:cNvPicPr>
            <p:nvPr/>
          </p:nvPicPr>
          <p:blipFill>
            <a:blip r:embed="rId8">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9" name="TextBox 38">
            <a:extLst>
              <a:ext uri="{FF2B5EF4-FFF2-40B4-BE49-F238E27FC236}">
                <a16:creationId xmlns:a16="http://schemas.microsoft.com/office/drawing/2014/main" id="{9C52DDE4-8F98-33C1-F287-DFC053656D88}"/>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0" name="TextBox 39">
            <a:extLst>
              <a:ext uri="{FF2B5EF4-FFF2-40B4-BE49-F238E27FC236}">
                <a16:creationId xmlns:a16="http://schemas.microsoft.com/office/drawing/2014/main" id="{D3B54530-41C4-A5F7-B766-16CB464903C1}"/>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1" name="TextBox 40">
            <a:extLst>
              <a:ext uri="{FF2B5EF4-FFF2-40B4-BE49-F238E27FC236}">
                <a16:creationId xmlns:a16="http://schemas.microsoft.com/office/drawing/2014/main" id="{7035D897-D272-F54A-ECE3-67D132B25D59}"/>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2" name="Rectangle 41">
            <a:extLst>
              <a:ext uri="{FF2B5EF4-FFF2-40B4-BE49-F238E27FC236}">
                <a16:creationId xmlns:a16="http://schemas.microsoft.com/office/drawing/2014/main" id="{FA0EA0AD-DDA0-6D9F-4602-650DE0537467}"/>
              </a:ext>
            </a:extLst>
          </p:cNvPr>
          <p:cNvSpPr/>
          <p:nvPr/>
        </p:nvSpPr>
        <p:spPr>
          <a:xfrm>
            <a:off x="10265324" y="155273"/>
            <a:ext cx="1200137"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p>
        </p:txBody>
      </p:sp>
      <p:sp>
        <p:nvSpPr>
          <p:cNvPr id="43"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56</a:t>
            </a:fld>
            <a:endParaRPr lang="en-US"/>
          </a:p>
        </p:txBody>
      </p:sp>
    </p:spTree>
    <p:extLst>
      <p:ext uri="{BB962C8B-B14F-4D97-AF65-F5344CB8AC3E}">
        <p14:creationId xmlns:p14="http://schemas.microsoft.com/office/powerpoint/2010/main" val="2865020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69710-ABEA-8246-C538-5BCA9243A343}"/>
            </a:ext>
          </a:extLst>
        </p:cNvPr>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7D6DE58F-34FD-F542-6EBE-BA5D8B628836}"/>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7" name="Object 6" hidden="1">
                        <a:extLst>
                          <a:ext uri="{FF2B5EF4-FFF2-40B4-BE49-F238E27FC236}">
                            <a16:creationId xmlns:a16="http://schemas.microsoft.com/office/drawing/2014/main" id="{7D6DE58F-34FD-F542-6EBE-BA5D8B628836}"/>
                          </a:ext>
                        </a:extLst>
                      </p:cNvPr>
                      <p:cNvPicPr/>
                      <p:nvPr/>
                    </p:nvPicPr>
                    <p:blipFill>
                      <a:blip r:embed="rId6">
                        <a:duotone>
                          <a:srgbClr val="765FFF"/>
                          <a:srgbClr val="FFFFFF"/>
                        </a:duotone>
                      </a:blip>
                      <a:stretch>
                        <a:fillRect/>
                      </a:stretch>
                    </p:blipFill>
                    <p:spPr>
                      <a:xfrm>
                        <a:off x="1589" y="1589"/>
                        <a:ext cx="1588" cy="1588"/>
                      </a:xfrm>
                      <a:prstGeom prst="rect">
                        <a:avLst/>
                      </a:prstGeom>
                    </p:spPr>
                  </p:pic>
                </p:oleObj>
              </mc:Fallback>
            </mc:AlternateContent>
          </a:graphicData>
        </a:graphic>
      </p:graphicFrame>
      <p:sp>
        <p:nvSpPr>
          <p:cNvPr id="4" name="Text Placeholder 3">
            <a:extLst>
              <a:ext uri="{FF2B5EF4-FFF2-40B4-BE49-F238E27FC236}">
                <a16:creationId xmlns:a16="http://schemas.microsoft.com/office/drawing/2014/main" id="{03D78CA7-D718-427F-895A-8640E297B2D9}"/>
              </a:ext>
            </a:extLst>
          </p:cNvPr>
          <p:cNvSpPr>
            <a:spLocks noGrp="1"/>
          </p:cNvSpPr>
          <p:nvPr>
            <p:ph type="title" sz="quarter"/>
          </p:nvPr>
        </p:nvSpPr>
        <p:spPr/>
        <p:txBody>
          <a:bodyPr/>
          <a:lstStyle/>
          <a:p>
            <a:r>
              <a:rPr lang="en-US" b="1" spc="-25">
                <a:solidFill>
                  <a:schemeClr val="tx1"/>
                </a:solidFill>
                <a:latin typeface="Segoe UI" pitchFamily="34" charset="0"/>
                <a:ea typeface="+mn-ea"/>
                <a:cs typeface="Calibri" panose="020F0502020204030204" pitchFamily="34" charset="0"/>
              </a:rPr>
              <a:t>Development plan - answer key</a:t>
            </a:r>
          </a:p>
        </p:txBody>
      </p:sp>
      <p:graphicFrame>
        <p:nvGraphicFramePr>
          <p:cNvPr id="2" name="Table 1">
            <a:extLst>
              <a:ext uri="{FF2B5EF4-FFF2-40B4-BE49-F238E27FC236}">
                <a16:creationId xmlns:a16="http://schemas.microsoft.com/office/drawing/2014/main" id="{E561AD05-0860-8B83-DC91-9116758C05DB}"/>
              </a:ext>
            </a:extLst>
          </p:cNvPr>
          <p:cNvGraphicFramePr>
            <a:graphicFrameLocks noGrp="1"/>
          </p:cNvGraphicFramePr>
          <p:nvPr>
            <p:extLst>
              <p:ext uri="{D42A27DB-BD31-4B8C-83A1-F6EECF244321}">
                <p14:modId xmlns:p14="http://schemas.microsoft.com/office/powerpoint/2010/main" val="2529003477"/>
              </p:ext>
            </p:extLst>
          </p:nvPr>
        </p:nvGraphicFramePr>
        <p:xfrm>
          <a:off x="1168400" y="2381083"/>
          <a:ext cx="10566400" cy="1530180"/>
        </p:xfrm>
        <a:graphic>
          <a:graphicData uri="http://schemas.openxmlformats.org/drawingml/2006/table">
            <a:tbl>
              <a:tblPr firstRow="1" bandRow="1">
                <a:tableStyleId>{7E9639D4-E3E2-4D34-9284-5A2195B3D0D7}</a:tableStyleId>
              </a:tblPr>
              <a:tblGrid>
                <a:gridCol w="2762617">
                  <a:extLst>
                    <a:ext uri="{9D8B030D-6E8A-4147-A177-3AD203B41FA5}">
                      <a16:colId xmlns:a16="http://schemas.microsoft.com/office/drawing/2014/main" val="3969346356"/>
                    </a:ext>
                  </a:extLst>
                </a:gridCol>
                <a:gridCol w="7803783">
                  <a:extLst>
                    <a:ext uri="{9D8B030D-6E8A-4147-A177-3AD203B41FA5}">
                      <a16:colId xmlns:a16="http://schemas.microsoft.com/office/drawing/2014/main" val="556055413"/>
                    </a:ext>
                  </a:extLst>
                </a:gridCol>
              </a:tblGrid>
              <a:tr h="359260">
                <a:tc>
                  <a:txBody>
                    <a:bodyPr/>
                    <a:lstStyle/>
                    <a:p>
                      <a:pPr algn="l"/>
                      <a:r>
                        <a:rPr lang="en-US" sz="1200"/>
                        <a:t>Development Focus</a:t>
                      </a:r>
                      <a:endParaRPr lang="en-US" sz="1200">
                        <a:latin typeface="Arial" pitchFamily="34" charset="0"/>
                        <a:cs typeface="Arial" panose="020B0604020202020204" pitchFamily="34" charset="0"/>
                      </a:endParaRPr>
                    </a:p>
                  </a:txBody>
                  <a:tcPr>
                    <a:solidFill>
                      <a:srgbClr val="281A42"/>
                    </a:solidFill>
                  </a:tcPr>
                </a:tc>
                <a:tc>
                  <a:txBody>
                    <a:bodyPr/>
                    <a:lstStyle/>
                    <a:p>
                      <a:pPr algn="l"/>
                      <a:r>
                        <a:rPr lang="en-US" sz="1200"/>
                        <a:t>Actions</a:t>
                      </a:r>
                      <a:endParaRPr lang="en-US" sz="1200">
                        <a:latin typeface="Arial" pitchFamily="34" charset="0"/>
                        <a:cs typeface="Arial" panose="020B0604020202020204" pitchFamily="34" charset="0"/>
                      </a:endParaRPr>
                    </a:p>
                  </a:txBody>
                  <a:tcPr>
                    <a:solidFill>
                      <a:srgbClr val="281A42"/>
                    </a:solidFill>
                  </a:tcPr>
                </a:tc>
                <a:extLst>
                  <a:ext uri="{0D108BD9-81ED-4DB2-BD59-A6C34878D82A}">
                    <a16:rowId xmlns:a16="http://schemas.microsoft.com/office/drawing/2014/main" val="2688028102"/>
                  </a:ext>
                </a:extLst>
              </a:tr>
              <a:tr h="585460">
                <a:tc>
                  <a:txBody>
                    <a:bodyPr/>
                    <a:lstStyle/>
                    <a:p>
                      <a:r>
                        <a:rPr lang="en-US" sz="1200" b="1" i="0" kern="1200">
                          <a:solidFill>
                            <a:schemeClr val="tx1"/>
                          </a:solidFill>
                          <a:effectLst/>
                          <a:latin typeface="+mn-lt"/>
                          <a:ea typeface="+mn-ea"/>
                          <a:cs typeface="+mn-cs"/>
                        </a:rPr>
                        <a:t>Marketing Team Readiness</a:t>
                      </a:r>
                    </a:p>
                  </a:txBody>
                  <a:tcPr anchor="ctr"/>
                </a:tc>
                <a:tc>
                  <a:txBody>
                    <a:bodyPr/>
                    <a:lstStyle/>
                    <a:p>
                      <a:pPr marL="171450" indent="-171450">
                        <a:lnSpc>
                          <a:spcPts val="1400"/>
                        </a:lnSpc>
                        <a:buFont typeface="Wingdings" pitchFamily="2" charset="2"/>
                        <a:buChar char="q"/>
                      </a:pPr>
                      <a:r>
                        <a:rPr lang="en-US" sz="1200">
                          <a:solidFill>
                            <a:schemeClr val="tx1"/>
                          </a:solidFill>
                          <a:latin typeface="+mn-lt"/>
                          <a:ea typeface="Lato Light"/>
                          <a:cs typeface="Lato Light"/>
                        </a:rPr>
                        <a:t>Partner with HR BP to assess the current team, identifying gaps to acquire needed capabilities</a:t>
                      </a:r>
                    </a:p>
                  </a:txBody>
                  <a:tcPr/>
                </a:tc>
                <a:extLst>
                  <a:ext uri="{0D108BD9-81ED-4DB2-BD59-A6C34878D82A}">
                    <a16:rowId xmlns:a16="http://schemas.microsoft.com/office/drawing/2014/main" val="2272458449"/>
                  </a:ext>
                </a:extLst>
              </a:tr>
              <a:tr h="585460">
                <a:tc>
                  <a:txBody>
                    <a:bodyPr/>
                    <a:lstStyle/>
                    <a:p>
                      <a:r>
                        <a:rPr lang="en-US" sz="1200" b="1" i="0" kern="1200">
                          <a:solidFill>
                            <a:schemeClr val="tx1"/>
                          </a:solidFill>
                          <a:effectLst/>
                          <a:latin typeface="+mn-lt"/>
                          <a:ea typeface="+mn-ea"/>
                          <a:cs typeface="+mn-cs"/>
                        </a:rPr>
                        <a:t>Scale commercialization &amp; P&amp;L ownership</a:t>
                      </a:r>
                    </a:p>
                  </a:txBody>
                  <a:tcPr anchor="ctr"/>
                </a:tc>
                <a:tc>
                  <a:txBody>
                    <a:bodyPr/>
                    <a:lstStyle/>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r>
                        <a:rPr lang="en-US" sz="1200" kern="1200">
                          <a:solidFill>
                            <a:schemeClr val="tx1"/>
                          </a:solidFill>
                          <a:latin typeface="+mn-lt"/>
                          <a:ea typeface="Lato Light"/>
                          <a:cs typeface="Lato Light"/>
                        </a:rPr>
                        <a:t>Convert a validated pilot into a repeatable multi‑market product with GTM pack (pricing, onboarding, incentives, SLAs); lead quarterly P&amp;L reviews.</a:t>
                      </a:r>
                    </a:p>
                  </a:txBody>
                  <a:tcPr/>
                </a:tc>
                <a:extLst>
                  <a:ext uri="{0D108BD9-81ED-4DB2-BD59-A6C34878D82A}">
                    <a16:rowId xmlns:a16="http://schemas.microsoft.com/office/drawing/2014/main" val="1980918467"/>
                  </a:ext>
                </a:extLst>
              </a:tr>
            </a:tbl>
          </a:graphicData>
        </a:graphic>
      </p:graphicFrame>
      <p:sp>
        <p:nvSpPr>
          <p:cNvPr id="5" name="Rounded Rectangle 35">
            <a:extLst>
              <a:ext uri="{FF2B5EF4-FFF2-40B4-BE49-F238E27FC236}">
                <a16:creationId xmlns:a16="http://schemas.microsoft.com/office/drawing/2014/main" id="{5DD1FC72-652E-FFC4-B899-BA56FAF73103}"/>
              </a:ext>
            </a:extLst>
          </p:cNvPr>
          <p:cNvSpPr/>
          <p:nvPr/>
        </p:nvSpPr>
        <p:spPr>
          <a:xfrm>
            <a:off x="4214726" y="1002222"/>
            <a:ext cx="3321499" cy="1304904"/>
          </a:xfrm>
          <a:prstGeom prst="roundRect">
            <a:avLst/>
          </a:prstGeom>
          <a:solidFill>
            <a:srgbClr val="EDEDED"/>
          </a:solidFill>
          <a:ln>
            <a:no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200" b="0" i="0" u="none" strike="noStrike" kern="1200" cap="none" spc="-10" normalizeH="0" baseline="0" noProof="0">
              <a:ln>
                <a:noFill/>
              </a:ln>
              <a:solidFill>
                <a:srgbClr val="2B3A42"/>
              </a:solidFill>
              <a:effectLst/>
              <a:uLnTx/>
              <a:uFillTx/>
              <a:latin typeface="Arial" pitchFamily="34" charset="0"/>
              <a:ea typeface="Lato" panose="020F0502020204030203" pitchFamily="34" charset="0"/>
              <a:cs typeface="Lato" panose="020F0502020204030203" pitchFamily="34" charset="0"/>
            </a:endParaRPr>
          </a:p>
        </p:txBody>
      </p:sp>
      <p:sp>
        <p:nvSpPr>
          <p:cNvPr id="6" name="TextBox 5">
            <a:extLst>
              <a:ext uri="{FF2B5EF4-FFF2-40B4-BE49-F238E27FC236}">
                <a16:creationId xmlns:a16="http://schemas.microsoft.com/office/drawing/2014/main" id="{649E4583-8748-F741-A7B0-530F48483C5E}"/>
              </a:ext>
            </a:extLst>
          </p:cNvPr>
          <p:cNvSpPr txBox="1"/>
          <p:nvPr/>
        </p:nvSpPr>
        <p:spPr>
          <a:xfrm>
            <a:off x="4303462" y="1094110"/>
            <a:ext cx="3321498" cy="1121128"/>
          </a:xfrm>
          <a:prstGeom prst="rect">
            <a:avLst/>
          </a:prstGeom>
          <a:noFill/>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Signature Strength</a:t>
            </a:r>
          </a:p>
          <a:p>
            <a:r>
              <a:rPr lang="en-US" sz="1200" spc="-10">
                <a:latin typeface="Arial" pitchFamily="34" charset="0"/>
                <a:ea typeface="Lato" panose="020F0502020204030203" pitchFamily="34" charset="0"/>
                <a:cs typeface="Lato" panose="020F0502020204030203" pitchFamily="34" charset="0"/>
              </a:rPr>
              <a:t>A commercial, product‑focused growth leader who converts pilots into repeatable GTM packages, secures cross‑functional sponsorship, and delivers measurable ARPU and churn improvements.</a:t>
            </a:r>
          </a:p>
        </p:txBody>
      </p:sp>
      <p:sp>
        <p:nvSpPr>
          <p:cNvPr id="8" name="Rounded Rectangle 35">
            <a:extLst>
              <a:ext uri="{FF2B5EF4-FFF2-40B4-BE49-F238E27FC236}">
                <a16:creationId xmlns:a16="http://schemas.microsoft.com/office/drawing/2014/main" id="{8A7D7545-BC43-C534-533E-CC993DD3B709}"/>
              </a:ext>
            </a:extLst>
          </p:cNvPr>
          <p:cNvSpPr/>
          <p:nvPr/>
        </p:nvSpPr>
        <p:spPr>
          <a:xfrm>
            <a:off x="7721212" y="1002222"/>
            <a:ext cx="4013587" cy="1304904"/>
          </a:xfrm>
          <a:prstGeom prst="roundRect">
            <a:avLst/>
          </a:prstGeom>
          <a:solidFill>
            <a:srgbClr val="EDEDED"/>
          </a:solidFill>
          <a:ln>
            <a:no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200" b="0" i="0" u="none" strike="noStrike" kern="1200" cap="none" spc="-10" normalizeH="0" baseline="0" noProof="0">
              <a:ln>
                <a:noFill/>
              </a:ln>
              <a:solidFill>
                <a:srgbClr val="2B3A42"/>
              </a:solidFill>
              <a:effectLst/>
              <a:uLnTx/>
              <a:uFillTx/>
              <a:latin typeface="Arial" pitchFamily="34" charset="0"/>
              <a:ea typeface="Lato" panose="020F0502020204030203" pitchFamily="34" charset="0"/>
              <a:cs typeface="Lato" panose="020F0502020204030203" pitchFamily="34" charset="0"/>
            </a:endParaRPr>
          </a:p>
        </p:txBody>
      </p:sp>
      <p:sp>
        <p:nvSpPr>
          <p:cNvPr id="17" name="TextBox 16">
            <a:extLst>
              <a:ext uri="{FF2B5EF4-FFF2-40B4-BE49-F238E27FC236}">
                <a16:creationId xmlns:a16="http://schemas.microsoft.com/office/drawing/2014/main" id="{9A8D7E9A-4F81-78C4-9B3B-135CDB01EE1F}"/>
              </a:ext>
            </a:extLst>
          </p:cNvPr>
          <p:cNvSpPr txBox="1"/>
          <p:nvPr/>
        </p:nvSpPr>
        <p:spPr>
          <a:xfrm>
            <a:off x="7896389" y="1094110"/>
            <a:ext cx="3816146" cy="1232627"/>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Opportunities for Continued Growth</a:t>
            </a:r>
          </a:p>
          <a:p>
            <a:pPr marL="228600" lvl="0" indent="-228600">
              <a:spcAft>
                <a:spcPts val="200"/>
              </a:spcAft>
              <a:buFont typeface="+mj-lt"/>
              <a:buAutoNum type="arabicPeriod"/>
              <a:defRPr/>
            </a:pPr>
            <a:r>
              <a:rPr lang="en-US" sz="1100" spc="-10">
                <a:latin typeface="Arial" pitchFamily="34" charset="0"/>
                <a:ea typeface="Lato" panose="020F0502020204030203" pitchFamily="34" charset="0"/>
                <a:cs typeface="Lato" panose="020F0502020204030203" pitchFamily="34" charset="0"/>
              </a:rPr>
              <a:t>Deepen cloud‑native platform fluency (payments, identity, </a:t>
            </a:r>
            <a:r>
              <a:rPr lang="en-US" sz="1100" spc="-10" err="1">
                <a:latin typeface="Arial" pitchFamily="34" charset="0"/>
                <a:ea typeface="Lato" panose="020F0502020204030203" pitchFamily="34" charset="0"/>
                <a:cs typeface="Lato" panose="020F0502020204030203" pitchFamily="34" charset="0"/>
              </a:rPr>
              <a:t>MLOps</a:t>
            </a:r>
            <a:r>
              <a:rPr lang="en-US" sz="1100" spc="-10">
                <a:latin typeface="Arial" pitchFamily="34" charset="0"/>
                <a:ea typeface="Lato" panose="020F0502020204030203" pitchFamily="34" charset="0"/>
                <a:cs typeface="Lato" panose="020F0502020204030203" pitchFamily="34" charset="0"/>
              </a:rPr>
              <a:t>) and scale AI commercialization across markets.</a:t>
            </a:r>
          </a:p>
          <a:p>
            <a:pPr marL="228600" lvl="0" indent="-228600">
              <a:spcAft>
                <a:spcPts val="200"/>
              </a:spcAft>
              <a:buFont typeface="+mj-lt"/>
              <a:buAutoNum type="arabicPeriod"/>
              <a:defRPr/>
            </a:pPr>
            <a:r>
              <a:rPr lang="en-US" sz="1100" spc="-10">
                <a:latin typeface="Arial" pitchFamily="34" charset="0"/>
                <a:ea typeface="Lato" panose="020F0502020204030203" pitchFamily="34" charset="0"/>
                <a:cs typeface="Lato" panose="020F0502020204030203" pitchFamily="34" charset="0"/>
              </a:rPr>
              <a:t>Convert pilots to P&amp;L‑driven repeatable products.</a:t>
            </a:r>
          </a:p>
          <a:p>
            <a:pPr marL="228600" lvl="0" indent="-228600">
              <a:spcAft>
                <a:spcPts val="200"/>
              </a:spcAft>
              <a:buFont typeface="+mj-lt"/>
              <a:buAutoNum type="arabicPeriod"/>
              <a:defRPr/>
            </a:pPr>
            <a:r>
              <a:rPr lang="en-US" sz="1100" spc="-10">
                <a:latin typeface="Arial" pitchFamily="34" charset="0"/>
                <a:ea typeface="Lato" panose="020F0502020204030203" pitchFamily="34" charset="0"/>
                <a:cs typeface="Lato" panose="020F0502020204030203" pitchFamily="34" charset="0"/>
              </a:rPr>
              <a:t>Strengthen the team</a:t>
            </a:r>
          </a:p>
        </p:txBody>
      </p:sp>
      <p:graphicFrame>
        <p:nvGraphicFramePr>
          <p:cNvPr id="19" name="Table 18">
            <a:extLst>
              <a:ext uri="{FF2B5EF4-FFF2-40B4-BE49-F238E27FC236}">
                <a16:creationId xmlns:a16="http://schemas.microsoft.com/office/drawing/2014/main" id="{F55BFF2E-3B3D-C2A8-9CD9-70FBFE6F6C17}"/>
              </a:ext>
            </a:extLst>
          </p:cNvPr>
          <p:cNvGraphicFramePr>
            <a:graphicFrameLocks noGrp="1"/>
          </p:cNvGraphicFramePr>
          <p:nvPr>
            <p:extLst>
              <p:ext uri="{D42A27DB-BD31-4B8C-83A1-F6EECF244321}">
                <p14:modId xmlns:p14="http://schemas.microsoft.com/office/powerpoint/2010/main" val="2804500197"/>
              </p:ext>
            </p:extLst>
          </p:nvPr>
        </p:nvGraphicFramePr>
        <p:xfrm>
          <a:off x="1168399" y="4092361"/>
          <a:ext cx="10566400" cy="2132879"/>
        </p:xfrm>
        <a:graphic>
          <a:graphicData uri="http://schemas.openxmlformats.org/drawingml/2006/table">
            <a:tbl>
              <a:tblPr firstRow="1" bandRow="1">
                <a:tableStyleId>{7E9639D4-E3E2-4D34-9284-5A2195B3D0D7}</a:tableStyleId>
              </a:tblPr>
              <a:tblGrid>
                <a:gridCol w="2786693">
                  <a:extLst>
                    <a:ext uri="{9D8B030D-6E8A-4147-A177-3AD203B41FA5}">
                      <a16:colId xmlns:a16="http://schemas.microsoft.com/office/drawing/2014/main" val="3969346356"/>
                    </a:ext>
                  </a:extLst>
                </a:gridCol>
                <a:gridCol w="7779707">
                  <a:extLst>
                    <a:ext uri="{9D8B030D-6E8A-4147-A177-3AD203B41FA5}">
                      <a16:colId xmlns:a16="http://schemas.microsoft.com/office/drawing/2014/main" val="556055413"/>
                    </a:ext>
                  </a:extLst>
                </a:gridCol>
              </a:tblGrid>
              <a:tr h="322620">
                <a:tc>
                  <a:txBody>
                    <a:bodyPr/>
                    <a:lstStyle/>
                    <a:p>
                      <a:pPr algn="l"/>
                      <a:r>
                        <a:rPr lang="en-US" sz="1200"/>
                        <a:t>Development Focus</a:t>
                      </a:r>
                      <a:endParaRPr lang="en-US" sz="1200">
                        <a:latin typeface="Arial" pitchFamily="34" charset="0"/>
                        <a:cs typeface="Arial" panose="020B0604020202020204" pitchFamily="34" charset="0"/>
                      </a:endParaRPr>
                    </a:p>
                  </a:txBody>
                  <a:tcPr>
                    <a:solidFill>
                      <a:srgbClr val="281A42"/>
                    </a:solidFill>
                  </a:tcPr>
                </a:tc>
                <a:tc>
                  <a:txBody>
                    <a:bodyPr/>
                    <a:lstStyle/>
                    <a:p>
                      <a:pPr algn="l"/>
                      <a:r>
                        <a:rPr lang="en-US" sz="1200"/>
                        <a:t>Actions</a:t>
                      </a:r>
                      <a:endParaRPr lang="en-US" sz="1200">
                        <a:latin typeface="Arial" pitchFamily="34" charset="0"/>
                        <a:cs typeface="Arial" panose="020B0604020202020204" pitchFamily="34" charset="0"/>
                      </a:endParaRPr>
                    </a:p>
                  </a:txBody>
                  <a:tcPr>
                    <a:solidFill>
                      <a:srgbClr val="281A42"/>
                    </a:solidFill>
                  </a:tcPr>
                </a:tc>
                <a:extLst>
                  <a:ext uri="{0D108BD9-81ED-4DB2-BD59-A6C34878D82A}">
                    <a16:rowId xmlns:a16="http://schemas.microsoft.com/office/drawing/2014/main" val="2688028102"/>
                  </a:ext>
                </a:extLst>
              </a:tr>
              <a:tr h="734857">
                <a:tc>
                  <a:txBody>
                    <a:bodyPr/>
                    <a:lstStyle/>
                    <a:p>
                      <a:r>
                        <a:rPr lang="en-US" sz="1200" b="1" i="0" kern="1200">
                          <a:solidFill>
                            <a:schemeClr val="tx1"/>
                          </a:solidFill>
                          <a:effectLst/>
                          <a:latin typeface="+mn-lt"/>
                          <a:ea typeface="+mn-ea"/>
                          <a:cs typeface="+mn-cs"/>
                        </a:rPr>
                        <a:t>AI commercialization &amp; </a:t>
                      </a:r>
                      <a:br>
                        <a:rPr lang="en-US" sz="1200" b="1" i="0" kern="1200">
                          <a:solidFill>
                            <a:schemeClr val="tx1"/>
                          </a:solidFill>
                          <a:effectLst/>
                          <a:latin typeface="+mn-lt"/>
                          <a:ea typeface="+mn-ea"/>
                          <a:cs typeface="+mn-cs"/>
                        </a:rPr>
                      </a:br>
                      <a:r>
                        <a:rPr lang="en-US" sz="1200" b="1" i="0" kern="1200" err="1">
                          <a:solidFill>
                            <a:schemeClr val="tx1"/>
                          </a:solidFill>
                          <a:effectLst/>
                          <a:latin typeface="+mn-lt"/>
                          <a:ea typeface="+mn-ea"/>
                          <a:cs typeface="+mn-cs"/>
                        </a:rPr>
                        <a:t>MLOps</a:t>
                      </a:r>
                      <a:r>
                        <a:rPr lang="en-US" sz="1200" b="1" i="0" kern="1200">
                          <a:solidFill>
                            <a:schemeClr val="tx1"/>
                          </a:solidFill>
                          <a:effectLst/>
                          <a:latin typeface="+mn-lt"/>
                          <a:ea typeface="+mn-ea"/>
                          <a:cs typeface="+mn-cs"/>
                        </a:rPr>
                        <a:t> ownership</a:t>
                      </a:r>
                    </a:p>
                  </a:txBody>
                  <a:tcPr anchor="ctr"/>
                </a:tc>
                <a:tc>
                  <a:txBody>
                    <a:bodyPr/>
                    <a:lstStyle/>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r>
                        <a:rPr lang="en-US" sz="1200" kern="1200">
                          <a:solidFill>
                            <a:schemeClr val="tx1"/>
                          </a:solidFill>
                          <a:latin typeface="+mn-lt"/>
                          <a:ea typeface="Lato Light"/>
                          <a:cs typeface="Lato Light"/>
                        </a:rPr>
                        <a:t>Sponsor transfer of an AI pilot to market ownership (localization, monitoring, rollback, KPI linkage) and build a replication playbook.</a:t>
                      </a:r>
                    </a:p>
                  </a:txBody>
                  <a:tcPr/>
                </a:tc>
                <a:extLst>
                  <a:ext uri="{0D108BD9-81ED-4DB2-BD59-A6C34878D82A}">
                    <a16:rowId xmlns:a16="http://schemas.microsoft.com/office/drawing/2014/main" val="2272458449"/>
                  </a:ext>
                </a:extLst>
              </a:tr>
              <a:tr h="537701">
                <a:tc>
                  <a:txBody>
                    <a:bodyPr/>
                    <a:lstStyle/>
                    <a:p>
                      <a:r>
                        <a:rPr lang="en-US" sz="1200" b="1" i="0" kern="1200">
                          <a:solidFill>
                            <a:schemeClr val="tx1"/>
                          </a:solidFill>
                          <a:effectLst/>
                          <a:latin typeface="+mn-lt"/>
                          <a:ea typeface="+mn-ea"/>
                          <a:cs typeface="+mn-cs"/>
                        </a:rPr>
                        <a:t>Scale commercialization &amp; </a:t>
                      </a:r>
                      <a:br>
                        <a:rPr lang="en-US" sz="1200" b="1" i="0" kern="1200">
                          <a:solidFill>
                            <a:schemeClr val="tx1"/>
                          </a:solidFill>
                          <a:effectLst/>
                          <a:latin typeface="+mn-lt"/>
                          <a:ea typeface="+mn-ea"/>
                          <a:cs typeface="+mn-cs"/>
                        </a:rPr>
                      </a:br>
                      <a:r>
                        <a:rPr lang="en-US" sz="1200" b="1" i="0" kern="1200">
                          <a:solidFill>
                            <a:schemeClr val="tx1"/>
                          </a:solidFill>
                          <a:effectLst/>
                          <a:latin typeface="+mn-lt"/>
                          <a:ea typeface="+mn-ea"/>
                          <a:cs typeface="+mn-cs"/>
                        </a:rPr>
                        <a:t>P&amp;L ownership</a:t>
                      </a:r>
                    </a:p>
                  </a:txBody>
                  <a:tcPr anchor="ctr"/>
                </a:tc>
                <a:tc>
                  <a:txBody>
                    <a:bodyPr/>
                    <a:lstStyle/>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r>
                        <a:rPr lang="en-US" sz="1200" kern="1200">
                          <a:solidFill>
                            <a:schemeClr val="tx1"/>
                          </a:solidFill>
                          <a:latin typeface="+mn-lt"/>
                          <a:ea typeface="Lato Light"/>
                          <a:cs typeface="Lato Light"/>
                        </a:rPr>
                        <a:t>Convert a validated pilot into a repeatable multi‑market product with GTM pack (pricing, onboarding, incentives, SLAs); lead quarterly P&amp;L reviews.</a:t>
                      </a:r>
                    </a:p>
                  </a:txBody>
                  <a:tcPr/>
                </a:tc>
                <a:extLst>
                  <a:ext uri="{0D108BD9-81ED-4DB2-BD59-A6C34878D82A}">
                    <a16:rowId xmlns:a16="http://schemas.microsoft.com/office/drawing/2014/main" val="3611078717"/>
                  </a:ext>
                </a:extLst>
              </a:tr>
              <a:tr h="5377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a:solidFill>
                            <a:schemeClr val="tx1"/>
                          </a:solidFill>
                          <a:effectLst/>
                          <a:latin typeface="+mn-lt"/>
                          <a:ea typeface="+mn-ea"/>
                          <a:cs typeface="+mn-cs"/>
                        </a:rPr>
                        <a:t>Bench building</a:t>
                      </a:r>
                    </a:p>
                  </a:txBody>
                  <a:tcPr anchor="ctr"/>
                </a:tc>
                <a:tc>
                  <a:txBody>
                    <a:bodyPr/>
                    <a:lstStyle/>
                    <a:p>
                      <a:pPr marL="171450" indent="-171450">
                        <a:buFont typeface="Wingdings" pitchFamily="2" charset="2"/>
                        <a:buChar char="q"/>
                      </a:pPr>
                      <a:r>
                        <a:rPr lang="en-US" sz="1200" kern="1200">
                          <a:solidFill>
                            <a:schemeClr val="tx1"/>
                          </a:solidFill>
                          <a:latin typeface="+mn-lt"/>
                          <a:ea typeface="Lato Light"/>
                          <a:cs typeface="Lato Light"/>
                        </a:rPr>
                        <a:t>Mentor and sponsor one senior regional candidate into product/commercial readiness (viable succession plan).</a:t>
                      </a:r>
                    </a:p>
                  </a:txBody>
                  <a:tcPr/>
                </a:tc>
                <a:extLst>
                  <a:ext uri="{0D108BD9-81ED-4DB2-BD59-A6C34878D82A}">
                    <a16:rowId xmlns:a16="http://schemas.microsoft.com/office/drawing/2014/main" val="1640922681"/>
                  </a:ext>
                </a:extLst>
              </a:tr>
            </a:tbl>
          </a:graphicData>
        </a:graphic>
      </p:graphicFrame>
      <p:sp>
        <p:nvSpPr>
          <p:cNvPr id="20" name="TextBox 19">
            <a:extLst>
              <a:ext uri="{FF2B5EF4-FFF2-40B4-BE49-F238E27FC236}">
                <a16:creationId xmlns:a16="http://schemas.microsoft.com/office/drawing/2014/main" id="{A15D19CF-751E-443F-B3B6-F11172B23E7B}"/>
              </a:ext>
            </a:extLst>
          </p:cNvPr>
          <p:cNvSpPr txBox="1"/>
          <p:nvPr/>
        </p:nvSpPr>
        <p:spPr>
          <a:xfrm>
            <a:off x="-277683" y="4589415"/>
            <a:ext cx="1681871" cy="1138773"/>
          </a:xfrm>
          <a:prstGeom prst="rect">
            <a:avLst/>
          </a:prstGeom>
          <a:noFill/>
        </p:spPr>
        <p:txBody>
          <a:bodyPr wrap="square" lIns="91440" tIns="45720" rIns="9144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rPr>
              <a:t>NEXT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rPr>
              <a:t>&amp;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rPr>
              <a:t>LATER</a:t>
            </a:r>
          </a:p>
          <a:p>
            <a:pPr lvl="0" algn="ctr">
              <a:defRPr/>
            </a:pPr>
            <a:r>
              <a:rPr lang="en-US" sz="1200" b="1"/>
              <a:t>(12–36 months)</a:t>
            </a:r>
            <a:endParaRPr kumimoji="0" lang="en-US" sz="12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endParaRPr>
          </a:p>
        </p:txBody>
      </p:sp>
      <p:sp>
        <p:nvSpPr>
          <p:cNvPr id="22" name="TextBox 21">
            <a:extLst>
              <a:ext uri="{FF2B5EF4-FFF2-40B4-BE49-F238E27FC236}">
                <a16:creationId xmlns:a16="http://schemas.microsoft.com/office/drawing/2014/main" id="{3B70C1E5-6017-744D-ADB1-71000E4B2B05}"/>
              </a:ext>
            </a:extLst>
          </p:cNvPr>
          <p:cNvSpPr txBox="1"/>
          <p:nvPr/>
        </p:nvSpPr>
        <p:spPr>
          <a:xfrm>
            <a:off x="-87948" y="2898553"/>
            <a:ext cx="1302399" cy="553998"/>
          </a:xfrm>
          <a:prstGeom prst="rect">
            <a:avLst/>
          </a:prstGeom>
          <a:noFill/>
        </p:spPr>
        <p:txBody>
          <a:bodyPr wrap="square" lIns="91440" tIns="45720" rIns="9144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rPr>
              <a:t>NOW</a:t>
            </a:r>
          </a:p>
          <a:p>
            <a:pPr lvl="0" algn="ctr">
              <a:defRPr/>
            </a:pPr>
            <a:r>
              <a:rPr lang="en-US" sz="1200" b="1"/>
              <a:t> (0–12 months)</a:t>
            </a:r>
            <a:endParaRPr kumimoji="0" lang="en-US" sz="12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endParaRPr>
          </a:p>
        </p:txBody>
      </p:sp>
      <p:sp>
        <p:nvSpPr>
          <p:cNvPr id="23" name="Rounded Rectangle 22">
            <a:extLst>
              <a:ext uri="{FF2B5EF4-FFF2-40B4-BE49-F238E27FC236}">
                <a16:creationId xmlns:a16="http://schemas.microsoft.com/office/drawing/2014/main" id="{8D6CD23B-8B5A-4573-0C50-F5D408C7BDF4}"/>
              </a:ext>
            </a:extLst>
          </p:cNvPr>
          <p:cNvSpPr/>
          <p:nvPr/>
        </p:nvSpPr>
        <p:spPr>
          <a:xfrm>
            <a:off x="1168400" y="1002222"/>
            <a:ext cx="2876403" cy="1304904"/>
          </a:xfrm>
          <a:prstGeom prst="roundRect">
            <a:avLst/>
          </a:prstGeom>
          <a:noFill/>
          <a:ln w="12700">
            <a:solidFill>
              <a:srgbClr val="2B3A42"/>
            </a:solid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400" b="0" i="0" u="none" strike="noStrike" kern="1200" cap="none" spc="-10" normalizeH="0" baseline="0" noProof="0">
              <a:ln>
                <a:noFill/>
              </a:ln>
              <a:solidFill>
                <a:srgbClr val="2B3A42"/>
              </a:solidFill>
              <a:effectLst/>
              <a:uLnTx/>
              <a:uFillTx/>
              <a:latin typeface="Arial" pitchFamily="34" charset="0"/>
              <a:ea typeface="Lato" panose="020F0502020204030203" pitchFamily="34" charset="0"/>
              <a:cs typeface="Lato" panose="020F0502020204030203" pitchFamily="34" charset="0"/>
            </a:endParaRPr>
          </a:p>
        </p:txBody>
      </p:sp>
      <p:sp>
        <p:nvSpPr>
          <p:cNvPr id="25" name="TextBox 24">
            <a:extLst>
              <a:ext uri="{FF2B5EF4-FFF2-40B4-BE49-F238E27FC236}">
                <a16:creationId xmlns:a16="http://schemas.microsoft.com/office/drawing/2014/main" id="{5A5F3C46-BA25-1E0E-93F7-5D440C5E59C6}"/>
              </a:ext>
            </a:extLst>
          </p:cNvPr>
          <p:cNvSpPr txBox="1"/>
          <p:nvPr/>
        </p:nvSpPr>
        <p:spPr>
          <a:xfrm>
            <a:off x="1338323" y="1074499"/>
            <a:ext cx="2287193" cy="923938"/>
          </a:xfrm>
          <a:prstGeom prst="rect">
            <a:avLst/>
          </a:prstGeom>
        </p:spPr>
        <p:txBody>
          <a:bodyPr vert="horz" wrap="square" lIns="0" tIns="0" rIns="0" bIns="0" rtlCol="0" anchor="ctr" anchorCtr="0">
            <a:noAutofit/>
          </a:bodyPr>
          <a:lstStyle/>
          <a:p>
            <a:pPr lvl="0">
              <a:lnSpc>
                <a:spcPct val="200000"/>
              </a:lnSpc>
              <a:defRPr/>
            </a:pPr>
            <a:r>
              <a:rPr lang="en-US" sz="1600" b="1" spc="-10">
                <a:latin typeface="Segoe UI" pitchFamily="34" charset="0"/>
                <a:ea typeface="Lato" panose="020F0502020204030203" pitchFamily="34" charset="0"/>
                <a:cs typeface="Lato" panose="020F0502020204030203" pitchFamily="34" charset="0"/>
              </a:rPr>
              <a:t>Sarah </a:t>
            </a:r>
            <a:r>
              <a:rPr lang="en-US" sz="1600" b="1" spc="-10" err="1">
                <a:latin typeface="Segoe UI" pitchFamily="34" charset="0"/>
                <a:ea typeface="Lato" panose="020F0502020204030203" pitchFamily="34" charset="0"/>
                <a:cs typeface="Lato" panose="020F0502020204030203" pitchFamily="34" charset="0"/>
              </a:rPr>
              <a:t>Hogwen</a:t>
            </a:r>
            <a:endParaRPr lang="en-US" sz="1600" b="1" spc="-10">
              <a:latin typeface="Segoe UI" pitchFamily="34" charset="0"/>
              <a:ea typeface="Lato" panose="020F0502020204030203" pitchFamily="34" charset="0"/>
              <a:cs typeface="Lato" panose="020F0502020204030203" pitchFamily="34" charset="0"/>
            </a:endParaRPr>
          </a:p>
          <a:p>
            <a:pPr lvl="0">
              <a:lnSpc>
                <a:spcPct val="200000"/>
              </a:lnSpc>
              <a:defRPr/>
            </a:pPr>
            <a:r>
              <a:rPr lang="en-US" sz="1200" spc="-10">
                <a:latin typeface="Arial" pitchFamily="34" charset="0"/>
                <a:ea typeface="Lato" panose="020F0502020204030203" pitchFamily="34" charset="0"/>
                <a:cs typeface="Lato" panose="020F0502020204030203" pitchFamily="34" charset="0"/>
              </a:rPr>
              <a:t>Regional Marketing Director</a:t>
            </a:r>
            <a:endParaRPr kumimoji="0" lang="en-US" sz="1200" b="0" i="0" u="none" strike="noStrike" kern="1200" cap="none" spc="-10" normalizeH="0" baseline="0" noProof="0">
              <a:ln>
                <a:noFill/>
              </a:ln>
              <a:solidFill>
                <a:srgbClr val="2B3A42"/>
              </a:solidFill>
              <a:effectLst/>
              <a:uLnTx/>
              <a:uFillTx/>
              <a:latin typeface="Arial" pitchFamily="34" charset="0"/>
              <a:ea typeface="Lato" panose="020F0502020204030203" pitchFamily="34" charset="0"/>
              <a:cs typeface="Lato" panose="020F0502020204030203" pitchFamily="34" charset="0"/>
            </a:endParaRPr>
          </a:p>
        </p:txBody>
      </p:sp>
      <p:grpSp>
        <p:nvGrpSpPr>
          <p:cNvPr id="24" name="Group 23">
            <a:extLst>
              <a:ext uri="{FF2B5EF4-FFF2-40B4-BE49-F238E27FC236}">
                <a16:creationId xmlns:a16="http://schemas.microsoft.com/office/drawing/2014/main" id="{ACEDC546-AF1F-37E4-D04C-7C7C3E99FBEC}"/>
              </a:ext>
            </a:extLst>
          </p:cNvPr>
          <p:cNvGrpSpPr/>
          <p:nvPr/>
        </p:nvGrpSpPr>
        <p:grpSpPr>
          <a:xfrm>
            <a:off x="10403235" y="201614"/>
            <a:ext cx="410690" cy="410700"/>
            <a:chOff x="3506617" y="2730959"/>
            <a:chExt cx="1591098" cy="1591098"/>
          </a:xfrm>
        </p:grpSpPr>
        <p:sp>
          <p:nvSpPr>
            <p:cNvPr id="26" name="Rectangle: Rounded Corners 39">
              <a:extLst>
                <a:ext uri="{FF2B5EF4-FFF2-40B4-BE49-F238E27FC236}">
                  <a16:creationId xmlns:a16="http://schemas.microsoft.com/office/drawing/2014/main" id="{721D144F-9426-30A4-C7FD-314118FCBA86}"/>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7" name="Rectangle: Rounded Corners 54">
              <a:extLst>
                <a:ext uri="{FF2B5EF4-FFF2-40B4-BE49-F238E27FC236}">
                  <a16:creationId xmlns:a16="http://schemas.microsoft.com/office/drawing/2014/main" id="{9D25C832-CFC6-5044-CD15-A7A0BE26745E}"/>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8" name="Freeform 56" descr="Clipboard Partially Checked with solid fill">
              <a:extLst>
                <a:ext uri="{FF2B5EF4-FFF2-40B4-BE49-F238E27FC236}">
                  <a16:creationId xmlns:a16="http://schemas.microsoft.com/office/drawing/2014/main" id="{C2589433-0DD8-F36A-959B-FCBA70DEBD0E}"/>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7"/>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29" name="Group 28">
            <a:extLst>
              <a:ext uri="{FF2B5EF4-FFF2-40B4-BE49-F238E27FC236}">
                <a16:creationId xmlns:a16="http://schemas.microsoft.com/office/drawing/2014/main" id="{8412C2C0-0740-051F-0981-3D9E42AC51DD}"/>
              </a:ext>
            </a:extLst>
          </p:cNvPr>
          <p:cNvGrpSpPr/>
          <p:nvPr/>
        </p:nvGrpSpPr>
        <p:grpSpPr>
          <a:xfrm>
            <a:off x="11557682" y="191038"/>
            <a:ext cx="410690" cy="410700"/>
            <a:chOff x="8874309" y="3009260"/>
            <a:chExt cx="1591098" cy="1591098"/>
          </a:xfrm>
        </p:grpSpPr>
        <p:grpSp>
          <p:nvGrpSpPr>
            <p:cNvPr id="30" name="Group 29">
              <a:extLst>
                <a:ext uri="{FF2B5EF4-FFF2-40B4-BE49-F238E27FC236}">
                  <a16:creationId xmlns:a16="http://schemas.microsoft.com/office/drawing/2014/main" id="{8C1CDF20-6C3C-D305-D66E-04DE79A83E85}"/>
                </a:ext>
              </a:extLst>
            </p:cNvPr>
            <p:cNvGrpSpPr/>
            <p:nvPr/>
          </p:nvGrpSpPr>
          <p:grpSpPr>
            <a:xfrm>
              <a:off x="8874309" y="3009260"/>
              <a:ext cx="1591098" cy="1591098"/>
              <a:chOff x="9350370" y="2760976"/>
              <a:chExt cx="1591098" cy="1591098"/>
            </a:xfrm>
          </p:grpSpPr>
          <p:sp>
            <p:nvSpPr>
              <p:cNvPr id="32" name="Rectangle: Rounded Corners 39">
                <a:extLst>
                  <a:ext uri="{FF2B5EF4-FFF2-40B4-BE49-F238E27FC236}">
                    <a16:creationId xmlns:a16="http://schemas.microsoft.com/office/drawing/2014/main" id="{CDE0FDBE-69E2-8699-AF10-D9BCA74137B4}"/>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3" name="Rectangle: Rounded Corners 54">
                <a:extLst>
                  <a:ext uri="{FF2B5EF4-FFF2-40B4-BE49-F238E27FC236}">
                    <a16:creationId xmlns:a16="http://schemas.microsoft.com/office/drawing/2014/main" id="{DAAC7CC2-1A79-BD35-EAA3-9CFF3C5A38EC}"/>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1" name="Picture 51" descr="Map with pin with solid fill">
              <a:extLst>
                <a:ext uri="{FF2B5EF4-FFF2-40B4-BE49-F238E27FC236}">
                  <a16:creationId xmlns:a16="http://schemas.microsoft.com/office/drawing/2014/main" id="{E1B31D1A-606F-3E7A-AC2D-75D17F8F4932}"/>
                </a:ext>
              </a:extLst>
            </p:cNvPr>
            <p:cNvPicPr>
              <a:picLocks noChangeAspect="1"/>
            </p:cNvPicPr>
            <p:nvPr/>
          </p:nvPicPr>
          <p:blipFill>
            <a:blip r:embed="rId8">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4" name="Group 33">
            <a:extLst>
              <a:ext uri="{FF2B5EF4-FFF2-40B4-BE49-F238E27FC236}">
                <a16:creationId xmlns:a16="http://schemas.microsoft.com/office/drawing/2014/main" id="{8C006071-4E77-4B21-064B-0ED0BED7B9DA}"/>
              </a:ext>
            </a:extLst>
          </p:cNvPr>
          <p:cNvGrpSpPr/>
          <p:nvPr/>
        </p:nvGrpSpPr>
        <p:grpSpPr>
          <a:xfrm>
            <a:off x="10997361" y="200955"/>
            <a:ext cx="410690" cy="410700"/>
            <a:chOff x="5303120" y="3009260"/>
            <a:chExt cx="1591098" cy="1591098"/>
          </a:xfrm>
        </p:grpSpPr>
        <p:grpSp>
          <p:nvGrpSpPr>
            <p:cNvPr id="35" name="Group 34">
              <a:extLst>
                <a:ext uri="{FF2B5EF4-FFF2-40B4-BE49-F238E27FC236}">
                  <a16:creationId xmlns:a16="http://schemas.microsoft.com/office/drawing/2014/main" id="{D3B60DFA-9583-9F18-8393-225668FC41B6}"/>
                </a:ext>
              </a:extLst>
            </p:cNvPr>
            <p:cNvGrpSpPr/>
            <p:nvPr/>
          </p:nvGrpSpPr>
          <p:grpSpPr>
            <a:xfrm>
              <a:off x="5303120" y="3009260"/>
              <a:ext cx="1591098" cy="1591098"/>
              <a:chOff x="6428492" y="2760976"/>
              <a:chExt cx="1591098" cy="1591098"/>
            </a:xfrm>
          </p:grpSpPr>
          <p:sp>
            <p:nvSpPr>
              <p:cNvPr id="37" name="Rectangle: Rounded Corners 39">
                <a:extLst>
                  <a:ext uri="{FF2B5EF4-FFF2-40B4-BE49-F238E27FC236}">
                    <a16:creationId xmlns:a16="http://schemas.microsoft.com/office/drawing/2014/main" id="{96A37DC6-6F16-A7EF-C1B7-082919864186}"/>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8" name="Rectangle: Rounded Corners 54">
                <a:extLst>
                  <a:ext uri="{FF2B5EF4-FFF2-40B4-BE49-F238E27FC236}">
                    <a16:creationId xmlns:a16="http://schemas.microsoft.com/office/drawing/2014/main" id="{1CB436E5-2203-8D4B-457E-6060BE1D8C04}"/>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6" name="Graphic 35" descr="Target Audience with solid fill">
              <a:extLst>
                <a:ext uri="{FF2B5EF4-FFF2-40B4-BE49-F238E27FC236}">
                  <a16:creationId xmlns:a16="http://schemas.microsoft.com/office/drawing/2014/main" id="{B0CA2200-74CA-7D84-3050-E6BF4FC3ABB7}"/>
                </a:ext>
              </a:extLst>
            </p:cNvPr>
            <p:cNvPicPr>
              <a:picLocks noChangeAspect="1"/>
            </p:cNvPicPr>
            <p:nvPr/>
          </p:nvPicPr>
          <p:blipFill>
            <a:blip r:embed="rId9">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9" name="TextBox 38">
            <a:extLst>
              <a:ext uri="{FF2B5EF4-FFF2-40B4-BE49-F238E27FC236}">
                <a16:creationId xmlns:a16="http://schemas.microsoft.com/office/drawing/2014/main" id="{E15E882C-C2F6-6C52-2E4B-EA07C6FF5D28}"/>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0" name="TextBox 39">
            <a:extLst>
              <a:ext uri="{FF2B5EF4-FFF2-40B4-BE49-F238E27FC236}">
                <a16:creationId xmlns:a16="http://schemas.microsoft.com/office/drawing/2014/main" id="{8F0F1556-F69A-ED58-465E-F3C4AA792578}"/>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1" name="TextBox 40">
            <a:extLst>
              <a:ext uri="{FF2B5EF4-FFF2-40B4-BE49-F238E27FC236}">
                <a16:creationId xmlns:a16="http://schemas.microsoft.com/office/drawing/2014/main" id="{B1241B69-33BF-FCF4-913E-358FB0A43940}"/>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2" name="Rectangle 41">
            <a:extLst>
              <a:ext uri="{FF2B5EF4-FFF2-40B4-BE49-F238E27FC236}">
                <a16:creationId xmlns:a16="http://schemas.microsoft.com/office/drawing/2014/main" id="{B4A987AE-165A-1ED9-B2A3-A5947AFAB663}"/>
              </a:ext>
            </a:extLst>
          </p:cNvPr>
          <p:cNvSpPr/>
          <p:nvPr/>
        </p:nvSpPr>
        <p:spPr>
          <a:xfrm>
            <a:off x="10265324" y="155273"/>
            <a:ext cx="1200137"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p>
        </p:txBody>
      </p:sp>
      <p:sp>
        <p:nvSpPr>
          <p:cNvPr id="43"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57</a:t>
            </a:fld>
            <a:endParaRPr lang="en-US"/>
          </a:p>
        </p:txBody>
      </p:sp>
    </p:spTree>
    <p:extLst>
      <p:ext uri="{BB962C8B-B14F-4D97-AF65-F5344CB8AC3E}">
        <p14:creationId xmlns:p14="http://schemas.microsoft.com/office/powerpoint/2010/main" val="1709108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4"/>
    </p:ext>
  </p:extLs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624D6-14D7-958E-9452-8F42243FAB5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B945FCB-6289-3463-97B0-2958D2603432}"/>
              </a:ext>
            </a:extLst>
          </p:cNvPr>
          <p:cNvSpPr/>
          <p:nvPr/>
        </p:nvSpPr>
        <p:spPr>
          <a:xfrm>
            <a:off x="0" y="1692998"/>
            <a:ext cx="8464990" cy="310533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 name="Text Placeholder 1">
            <a:extLst>
              <a:ext uri="{FF2B5EF4-FFF2-40B4-BE49-F238E27FC236}">
                <a16:creationId xmlns:a16="http://schemas.microsoft.com/office/drawing/2014/main" id="{D8AD8793-AFB5-D436-5B07-9D59D622E6D6}"/>
              </a:ext>
            </a:extLst>
          </p:cNvPr>
          <p:cNvSpPr txBox="1">
            <a:spLocks/>
          </p:cNvSpPr>
          <p:nvPr/>
        </p:nvSpPr>
        <p:spPr>
          <a:xfrm>
            <a:off x="340447" y="2555784"/>
            <a:ext cx="7898206" cy="1493705"/>
          </a:xfrm>
          <a:prstGeom prst="rect">
            <a:avLst/>
          </a:prstGeom>
        </p:spPr>
        <p:txBody>
          <a:bodyPr lIns="91440" tIns="45720" rIns="91440" bIns="45720"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spc="-10">
                <a:solidFill>
                  <a:schemeClr val="tx1"/>
                </a:solidFill>
                <a:latin typeface="Arial" pitchFamily="34"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spc="-10">
                <a:solidFill>
                  <a:schemeClr val="tx1"/>
                </a:solidFill>
                <a:latin typeface="Arial" pitchFamily="34"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10">
                <a:solidFill>
                  <a:schemeClr val="tx1"/>
                </a:solidFill>
                <a:latin typeface="Arial" pitchFamily="34"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800" b="1" i="0" u="none" strike="noStrike" kern="1200" cap="none" spc="-10" normalizeH="0" baseline="0" noProof="0">
                <a:ln>
                  <a:noFill/>
                </a:ln>
                <a:solidFill>
                  <a:srgbClr val="FFFFFF"/>
                </a:solidFill>
                <a:effectLst/>
                <a:uLnTx/>
                <a:uFillTx/>
                <a:latin typeface="Segoe UI" pitchFamily="34" charset="0"/>
                <a:ea typeface="Lato ExtraLight" panose="020B0604020202020204" pitchFamily="34" charset="0"/>
                <a:cs typeface="Lato ExtraLight" panose="020B0604020202020204" pitchFamily="34" charset="0"/>
              </a:rPr>
              <a:t>Wrap-Up</a:t>
            </a:r>
          </a:p>
        </p:txBody>
      </p:sp>
      <p:sp>
        <p:nvSpPr>
          <p:cNvPr id="4"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58</a:t>
            </a:fld>
            <a:endParaRPr lang="en-US"/>
          </a:p>
        </p:txBody>
      </p:sp>
    </p:spTree>
    <p:extLst>
      <p:ext uri="{BB962C8B-B14F-4D97-AF65-F5344CB8AC3E}">
        <p14:creationId xmlns:p14="http://schemas.microsoft.com/office/powerpoint/2010/main" val="269095182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55DD1-EF5D-73B4-6AA0-492DD937BF6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CFB352A-47DA-7DB0-75B9-53F1CE346AD4}"/>
              </a:ext>
            </a:extLst>
          </p:cNvPr>
          <p:cNvSpPr>
            <a:spLocks noGrp="1"/>
          </p:cNvSpPr>
          <p:nvPr>
            <p:ph type="title" sz="quarter"/>
          </p:nvPr>
        </p:nvSpPr>
        <p:spPr/>
        <p:txBody>
          <a:bodyPr/>
          <a:lstStyle/>
          <a:p>
            <a:r>
              <a:rPr lang="en-US" b="1" spc="-25">
                <a:latin typeface="Segoe UI" pitchFamily="34" charset="0"/>
              </a:rPr>
              <a:t>Summary &amp; what’s next?</a:t>
            </a:r>
          </a:p>
        </p:txBody>
      </p:sp>
      <p:sp>
        <p:nvSpPr>
          <p:cNvPr id="4" name="TextBox 3">
            <a:extLst>
              <a:ext uri="{FF2B5EF4-FFF2-40B4-BE49-F238E27FC236}">
                <a16:creationId xmlns:a16="http://schemas.microsoft.com/office/drawing/2014/main" id="{10260F45-AA84-045C-B949-71C7D10D668B}"/>
              </a:ext>
            </a:extLst>
          </p:cNvPr>
          <p:cNvSpPr txBox="1"/>
          <p:nvPr/>
        </p:nvSpPr>
        <p:spPr>
          <a:xfrm>
            <a:off x="954660" y="1018026"/>
            <a:ext cx="10847636" cy="400110"/>
          </a:xfrm>
          <a:prstGeom prst="rect">
            <a:avLst/>
          </a:prstGeom>
          <a:noFill/>
        </p:spPr>
        <p:txBody>
          <a:bodyPr wrap="square" lIns="121920" tIns="60960" rIns="121920" bIns="60960" rtlCol="0" anchor="t">
            <a:spAutoFit/>
          </a:bodyPr>
          <a:lstStyle/>
          <a:p>
            <a:r>
              <a:rPr lang="en-US" spc="-10">
                <a:solidFill>
                  <a:srgbClr val="1D1D1D"/>
                </a:solidFill>
                <a:latin typeface="Arial" pitchFamily="34" charset="0"/>
                <a:ea typeface="Lato"/>
                <a:cs typeface="Lato"/>
              </a:rPr>
              <a:t>You should now be able to:</a:t>
            </a:r>
            <a:endParaRPr lang="en-US" b="1" spc="-10">
              <a:solidFill>
                <a:srgbClr val="1D1D1D"/>
              </a:solidFill>
              <a:latin typeface="Segoe UI" pitchFamily="34" charset="0"/>
              <a:ea typeface="Lato"/>
              <a:cs typeface="Lato"/>
            </a:endParaRPr>
          </a:p>
        </p:txBody>
      </p:sp>
      <p:sp>
        <p:nvSpPr>
          <p:cNvPr id="5" name="TextBox 4">
            <a:extLst>
              <a:ext uri="{FF2B5EF4-FFF2-40B4-BE49-F238E27FC236}">
                <a16:creationId xmlns:a16="http://schemas.microsoft.com/office/drawing/2014/main" id="{74D2FD61-9DBD-F49A-1D14-225881529F5E}"/>
              </a:ext>
            </a:extLst>
          </p:cNvPr>
          <p:cNvSpPr txBox="1"/>
          <p:nvPr/>
        </p:nvSpPr>
        <p:spPr>
          <a:xfrm>
            <a:off x="954660" y="5811476"/>
            <a:ext cx="10847636" cy="400110"/>
          </a:xfrm>
          <a:prstGeom prst="rect">
            <a:avLst/>
          </a:prstGeom>
          <a:noFill/>
        </p:spPr>
        <p:txBody>
          <a:bodyPr wrap="square" lIns="121920" tIns="60960" rIns="121920" bIns="60960" rtlCol="0" anchor="t">
            <a:spAutoFit/>
          </a:bodyPr>
          <a:lstStyle/>
          <a:p>
            <a:r>
              <a:rPr lang="en-US" spc="-10">
                <a:solidFill>
                  <a:srgbClr val="1D1D1D"/>
                </a:solidFill>
                <a:latin typeface="Arial" pitchFamily="34" charset="0"/>
                <a:ea typeface="Lato"/>
                <a:cs typeface="Lato"/>
              </a:rPr>
              <a:t>Implement what you have learned today with your next Succession Planning activity</a:t>
            </a:r>
            <a:r>
              <a:rPr lang="en-US" spc="-10">
                <a:latin typeface="Arial" pitchFamily="34" charset="0"/>
                <a:ea typeface="Lato"/>
                <a:cs typeface="Lato"/>
              </a:rPr>
              <a:t>. </a:t>
            </a:r>
          </a:p>
        </p:txBody>
      </p:sp>
      <p:grpSp>
        <p:nvGrpSpPr>
          <p:cNvPr id="6" name="Group 5">
            <a:extLst>
              <a:ext uri="{FF2B5EF4-FFF2-40B4-BE49-F238E27FC236}">
                <a16:creationId xmlns:a16="http://schemas.microsoft.com/office/drawing/2014/main" id="{FD8A2214-DB8C-B9E6-3378-A8C6B2105BA1}"/>
              </a:ext>
            </a:extLst>
          </p:cNvPr>
          <p:cNvGrpSpPr/>
          <p:nvPr/>
        </p:nvGrpSpPr>
        <p:grpSpPr>
          <a:xfrm>
            <a:off x="954660" y="1476267"/>
            <a:ext cx="10126137" cy="709283"/>
            <a:chOff x="1032931" y="1876150"/>
            <a:chExt cx="10126137" cy="709283"/>
          </a:xfrm>
        </p:grpSpPr>
        <p:sp>
          <p:nvSpPr>
            <p:cNvPr id="7" name="Rectangle 6">
              <a:extLst>
                <a:ext uri="{FF2B5EF4-FFF2-40B4-BE49-F238E27FC236}">
                  <a16:creationId xmlns:a16="http://schemas.microsoft.com/office/drawing/2014/main" id="{F0ABC9A1-D3A0-AFC0-9FEC-A7247918BD53}"/>
                </a:ext>
              </a:extLst>
            </p:cNvPr>
            <p:cNvSpPr/>
            <p:nvPr/>
          </p:nvSpPr>
          <p:spPr>
            <a:xfrm>
              <a:off x="1032931" y="1876150"/>
              <a:ext cx="660400" cy="709283"/>
            </a:xfrm>
            <a:prstGeom prst="rect">
              <a:avLst/>
            </a:prstGeom>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8" name="Rectangle 7">
              <a:extLst>
                <a:ext uri="{FF2B5EF4-FFF2-40B4-BE49-F238E27FC236}">
                  <a16:creationId xmlns:a16="http://schemas.microsoft.com/office/drawing/2014/main" id="{7F8F79A6-313E-7CD3-3252-57FF2DD2E256}"/>
                </a:ext>
              </a:extLst>
            </p:cNvPr>
            <p:cNvSpPr/>
            <p:nvPr/>
          </p:nvSpPr>
          <p:spPr>
            <a:xfrm>
              <a:off x="1693333" y="1876150"/>
              <a:ext cx="9465735" cy="709283"/>
            </a:xfrm>
            <a:prstGeom prst="rect">
              <a:avLst/>
            </a:prstGeom>
            <a:noFill/>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9" name="TextBox 8">
              <a:extLst>
                <a:ext uri="{FF2B5EF4-FFF2-40B4-BE49-F238E27FC236}">
                  <a16:creationId xmlns:a16="http://schemas.microsoft.com/office/drawing/2014/main" id="{40446844-D672-0B93-2C00-F1703EA98F6A}"/>
                </a:ext>
              </a:extLst>
            </p:cNvPr>
            <p:cNvSpPr txBox="1"/>
            <p:nvPr/>
          </p:nvSpPr>
          <p:spPr>
            <a:xfrm>
              <a:off x="1828799" y="1900613"/>
              <a:ext cx="8669868" cy="646331"/>
            </a:xfrm>
            <a:prstGeom prst="rect">
              <a:avLst/>
            </a:prstGeom>
            <a:noFill/>
          </p:spPr>
          <p:txBody>
            <a:bodyPr wrap="square" lIns="91440" tIns="45720" rIns="91440" bIns="45720" anchor="t">
              <a:spAutoFit/>
            </a:bodyPr>
            <a:lstStyle/>
            <a:p>
              <a:r>
                <a:rPr lang="en-US" b="1" spc="-10">
                  <a:solidFill>
                    <a:srgbClr val="1D1D1D"/>
                  </a:solidFill>
                  <a:latin typeface="Segoe UI" pitchFamily="34" charset="0"/>
                  <a:ea typeface="Lato"/>
                  <a:cs typeface="Lato"/>
                </a:rPr>
                <a:t>Explain the differences between the T2V Succession Planning process and traditional approaches</a:t>
              </a:r>
            </a:p>
          </p:txBody>
        </p:sp>
        <p:pic>
          <p:nvPicPr>
            <p:cNvPr id="10" name="Picture 9" descr="A white star in a circle with a magnifying glass&#10;&#10;AI-generated content may be incorrect.">
              <a:extLst>
                <a:ext uri="{FF2B5EF4-FFF2-40B4-BE49-F238E27FC236}">
                  <a16:creationId xmlns:a16="http://schemas.microsoft.com/office/drawing/2014/main" id="{ABE4E173-A161-BED3-B36C-05AC366F94E7}"/>
                </a:ext>
              </a:extLst>
            </p:cNvPr>
            <p:cNvPicPr>
              <a:picLocks noChangeAspect="1"/>
            </p:cNvPicPr>
            <p:nvPr/>
          </p:nvPicPr>
          <p:blipFill>
            <a:blip r:embed="rId3">
              <a:duotone>
                <a:srgbClr val="765FFF"/>
                <a:srgbClr val="FFFFFF"/>
              </a:duotone>
            </a:blip>
            <a:stretch>
              <a:fillRect/>
            </a:stretch>
          </p:blipFill>
          <p:spPr>
            <a:xfrm>
              <a:off x="1142462" y="2012505"/>
              <a:ext cx="439735" cy="436813"/>
            </a:xfrm>
            <a:prstGeom prst="rect">
              <a:avLst/>
            </a:prstGeom>
          </p:spPr>
        </p:pic>
      </p:grpSp>
      <p:grpSp>
        <p:nvGrpSpPr>
          <p:cNvPr id="11" name="Group 10">
            <a:extLst>
              <a:ext uri="{FF2B5EF4-FFF2-40B4-BE49-F238E27FC236}">
                <a16:creationId xmlns:a16="http://schemas.microsoft.com/office/drawing/2014/main" id="{8259C750-6CF3-047D-6945-B40C69A2D077}"/>
              </a:ext>
            </a:extLst>
          </p:cNvPr>
          <p:cNvGrpSpPr/>
          <p:nvPr/>
        </p:nvGrpSpPr>
        <p:grpSpPr>
          <a:xfrm>
            <a:off x="954660" y="2307600"/>
            <a:ext cx="10126137" cy="709283"/>
            <a:chOff x="1032931" y="2707483"/>
            <a:chExt cx="10126137" cy="709283"/>
          </a:xfrm>
        </p:grpSpPr>
        <p:sp>
          <p:nvSpPr>
            <p:cNvPr id="12" name="Rectangle 11">
              <a:extLst>
                <a:ext uri="{FF2B5EF4-FFF2-40B4-BE49-F238E27FC236}">
                  <a16:creationId xmlns:a16="http://schemas.microsoft.com/office/drawing/2014/main" id="{1E3D3DAC-E56F-3E1F-12D0-77E0A93DE4EB}"/>
                </a:ext>
              </a:extLst>
            </p:cNvPr>
            <p:cNvSpPr/>
            <p:nvPr/>
          </p:nvSpPr>
          <p:spPr>
            <a:xfrm>
              <a:off x="1032931" y="2707483"/>
              <a:ext cx="660400" cy="709283"/>
            </a:xfrm>
            <a:prstGeom prst="rect">
              <a:avLst/>
            </a:prstGeom>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13" name="Rectangle 12">
              <a:extLst>
                <a:ext uri="{FF2B5EF4-FFF2-40B4-BE49-F238E27FC236}">
                  <a16:creationId xmlns:a16="http://schemas.microsoft.com/office/drawing/2014/main" id="{D9D85D5C-CA36-5E0F-956E-E8A3E32DCAFF}"/>
                </a:ext>
              </a:extLst>
            </p:cNvPr>
            <p:cNvSpPr/>
            <p:nvPr/>
          </p:nvSpPr>
          <p:spPr>
            <a:xfrm>
              <a:off x="1693333" y="2707483"/>
              <a:ext cx="9465735" cy="709283"/>
            </a:xfrm>
            <a:prstGeom prst="rect">
              <a:avLst/>
            </a:prstGeom>
            <a:noFill/>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14" name="TextBox 13">
              <a:extLst>
                <a:ext uri="{FF2B5EF4-FFF2-40B4-BE49-F238E27FC236}">
                  <a16:creationId xmlns:a16="http://schemas.microsoft.com/office/drawing/2014/main" id="{AE875607-BD70-35A9-73F7-3F6698B6A1E6}"/>
                </a:ext>
              </a:extLst>
            </p:cNvPr>
            <p:cNvSpPr txBox="1"/>
            <p:nvPr/>
          </p:nvSpPr>
          <p:spPr>
            <a:xfrm>
              <a:off x="1828796" y="2740337"/>
              <a:ext cx="8315665" cy="646331"/>
            </a:xfrm>
            <a:prstGeom prst="rect">
              <a:avLst/>
            </a:prstGeom>
            <a:noFill/>
          </p:spPr>
          <p:txBody>
            <a:bodyPr wrap="square" lIns="91440" tIns="45720" rIns="91440" bIns="45720">
              <a:spAutoFit/>
            </a:bodyPr>
            <a:lstStyle/>
            <a:p>
              <a:r>
                <a:rPr lang="en-US" b="1" spc="-10" dirty="0">
                  <a:latin typeface="Segoe UI" pitchFamily="34" charset="0"/>
                  <a:ea typeface="Lato"/>
                  <a:cs typeface="Lato"/>
                </a:rPr>
                <a:t>Identify future-focused Jobs to be Done for key roles to assist in selecting the best successors</a:t>
              </a:r>
            </a:p>
          </p:txBody>
        </p:sp>
        <p:pic>
          <p:nvPicPr>
            <p:cNvPr id="15" name="Graphic 14" descr="Checklist with solid fill">
              <a:extLst>
                <a:ext uri="{FF2B5EF4-FFF2-40B4-BE49-F238E27FC236}">
                  <a16:creationId xmlns:a16="http://schemas.microsoft.com/office/drawing/2014/main" id="{9F7C104C-F346-23EF-1F20-DEC072F0B2D0}"/>
                </a:ext>
              </a:extLst>
            </p:cNvPr>
            <p:cNvPicPr>
              <a:picLocks noChangeAspect="1"/>
            </p:cNvPicPr>
            <p:nvPr/>
          </p:nvPicPr>
          <p:blipFill>
            <a:blip r:embed="rId4">
              <a:duotone>
                <a:srgbClr val="765FFF"/>
                <a:srgbClr val="FFFFFF"/>
              </a:duotone>
            </a:blip>
            <a:stretch>
              <a:fillRect/>
            </a:stretch>
          </p:blipFill>
          <p:spPr>
            <a:xfrm>
              <a:off x="1094560" y="2797345"/>
              <a:ext cx="534028" cy="534028"/>
            </a:xfrm>
            <a:prstGeom prst="rect">
              <a:avLst/>
            </a:prstGeom>
          </p:spPr>
        </p:pic>
      </p:grpSp>
      <p:grpSp>
        <p:nvGrpSpPr>
          <p:cNvPr id="16" name="Group 15">
            <a:extLst>
              <a:ext uri="{FF2B5EF4-FFF2-40B4-BE49-F238E27FC236}">
                <a16:creationId xmlns:a16="http://schemas.microsoft.com/office/drawing/2014/main" id="{80DFF834-FE82-AD7E-2C57-44CC16BFB0A3}"/>
              </a:ext>
            </a:extLst>
          </p:cNvPr>
          <p:cNvGrpSpPr/>
          <p:nvPr/>
        </p:nvGrpSpPr>
        <p:grpSpPr>
          <a:xfrm>
            <a:off x="954660" y="3180849"/>
            <a:ext cx="10126136" cy="709283"/>
            <a:chOff x="1032931" y="3580732"/>
            <a:chExt cx="10126136" cy="709283"/>
          </a:xfrm>
        </p:grpSpPr>
        <p:sp>
          <p:nvSpPr>
            <p:cNvPr id="17" name="Rectangle 16">
              <a:extLst>
                <a:ext uri="{FF2B5EF4-FFF2-40B4-BE49-F238E27FC236}">
                  <a16:creationId xmlns:a16="http://schemas.microsoft.com/office/drawing/2014/main" id="{FB9F10D4-6939-6BAF-876E-9432E7D16E79}"/>
                </a:ext>
              </a:extLst>
            </p:cNvPr>
            <p:cNvSpPr/>
            <p:nvPr/>
          </p:nvSpPr>
          <p:spPr>
            <a:xfrm>
              <a:off x="1032931" y="3580732"/>
              <a:ext cx="660400" cy="709283"/>
            </a:xfrm>
            <a:prstGeom prst="rect">
              <a:avLst/>
            </a:prstGeom>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18" name="Rectangle 17">
              <a:extLst>
                <a:ext uri="{FF2B5EF4-FFF2-40B4-BE49-F238E27FC236}">
                  <a16:creationId xmlns:a16="http://schemas.microsoft.com/office/drawing/2014/main" id="{FAF20635-8AF1-8CE0-EB58-C96D5AB7740A}"/>
                </a:ext>
              </a:extLst>
            </p:cNvPr>
            <p:cNvSpPr/>
            <p:nvPr/>
          </p:nvSpPr>
          <p:spPr>
            <a:xfrm>
              <a:off x="1693332" y="3580732"/>
              <a:ext cx="9465735" cy="709283"/>
            </a:xfrm>
            <a:prstGeom prst="rect">
              <a:avLst/>
            </a:prstGeom>
            <a:noFill/>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19" name="TextBox 18">
              <a:extLst>
                <a:ext uri="{FF2B5EF4-FFF2-40B4-BE49-F238E27FC236}">
                  <a16:creationId xmlns:a16="http://schemas.microsoft.com/office/drawing/2014/main" id="{EA40D9A4-6F65-CFFD-5301-3EDF65FAB35C}"/>
                </a:ext>
              </a:extLst>
            </p:cNvPr>
            <p:cNvSpPr txBox="1"/>
            <p:nvPr/>
          </p:nvSpPr>
          <p:spPr>
            <a:xfrm>
              <a:off x="1828798" y="3614823"/>
              <a:ext cx="9133369" cy="646331"/>
            </a:xfrm>
            <a:prstGeom prst="rect">
              <a:avLst/>
            </a:prstGeom>
            <a:noFill/>
          </p:spPr>
          <p:txBody>
            <a:bodyPr wrap="square" lIns="91440" tIns="45720" rIns="91440" bIns="45720">
              <a:spAutoFit/>
            </a:bodyPr>
            <a:lstStyle/>
            <a:p>
              <a:r>
                <a:rPr lang="en-US" b="1" spc="-10">
                  <a:latin typeface="Segoe UI" pitchFamily="34" charset="0"/>
                  <a:ea typeface="Lato"/>
                  <a:cs typeface="Lato"/>
                </a:rPr>
                <a:t>Complete a risk assessment and identify superpowers needed to deliver value from critical roles</a:t>
              </a:r>
            </a:p>
          </p:txBody>
        </p:sp>
        <p:pic>
          <p:nvPicPr>
            <p:cNvPr id="20" name="Graphic 19" descr="Chat with solid fill">
              <a:extLst>
                <a:ext uri="{FF2B5EF4-FFF2-40B4-BE49-F238E27FC236}">
                  <a16:creationId xmlns:a16="http://schemas.microsoft.com/office/drawing/2014/main" id="{CE73C673-5065-B6F0-1442-3B8D2142CD01}"/>
                </a:ext>
              </a:extLst>
            </p:cNvPr>
            <p:cNvPicPr>
              <a:picLocks noChangeAspect="1"/>
            </p:cNvPicPr>
            <p:nvPr/>
          </p:nvPicPr>
          <p:blipFill>
            <a:blip r:embed="rId5">
              <a:duotone>
                <a:srgbClr val="765FFF"/>
                <a:srgbClr val="FFFFFF"/>
              </a:duotone>
            </a:blip>
            <a:stretch>
              <a:fillRect/>
            </a:stretch>
          </p:blipFill>
          <p:spPr>
            <a:xfrm>
              <a:off x="1081056" y="3676964"/>
              <a:ext cx="569952" cy="569952"/>
            </a:xfrm>
            <a:prstGeom prst="rect">
              <a:avLst/>
            </a:prstGeom>
          </p:spPr>
        </p:pic>
      </p:grpSp>
      <p:grpSp>
        <p:nvGrpSpPr>
          <p:cNvPr id="21" name="Group 20">
            <a:extLst>
              <a:ext uri="{FF2B5EF4-FFF2-40B4-BE49-F238E27FC236}">
                <a16:creationId xmlns:a16="http://schemas.microsoft.com/office/drawing/2014/main" id="{42EA6FA4-3677-E90B-B97E-44EB63F39FB8}"/>
              </a:ext>
            </a:extLst>
          </p:cNvPr>
          <p:cNvGrpSpPr/>
          <p:nvPr/>
        </p:nvGrpSpPr>
        <p:grpSpPr>
          <a:xfrm>
            <a:off x="1615060" y="4054097"/>
            <a:ext cx="9465735" cy="709283"/>
            <a:chOff x="1693331" y="4453980"/>
            <a:chExt cx="9465735" cy="709283"/>
          </a:xfrm>
        </p:grpSpPr>
        <p:sp>
          <p:nvSpPr>
            <p:cNvPr id="22" name="Rectangle 21">
              <a:extLst>
                <a:ext uri="{FF2B5EF4-FFF2-40B4-BE49-F238E27FC236}">
                  <a16:creationId xmlns:a16="http://schemas.microsoft.com/office/drawing/2014/main" id="{E61F92C1-C12F-B9FD-7B6D-6E705F230408}"/>
                </a:ext>
              </a:extLst>
            </p:cNvPr>
            <p:cNvSpPr/>
            <p:nvPr/>
          </p:nvSpPr>
          <p:spPr>
            <a:xfrm>
              <a:off x="1693331" y="4453980"/>
              <a:ext cx="9465735" cy="709283"/>
            </a:xfrm>
            <a:prstGeom prst="rect">
              <a:avLst/>
            </a:prstGeom>
            <a:noFill/>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23" name="TextBox 22">
              <a:extLst>
                <a:ext uri="{FF2B5EF4-FFF2-40B4-BE49-F238E27FC236}">
                  <a16:creationId xmlns:a16="http://schemas.microsoft.com/office/drawing/2014/main" id="{2781427C-8AAF-718E-B238-730421F3736F}"/>
                </a:ext>
              </a:extLst>
            </p:cNvPr>
            <p:cNvSpPr txBox="1"/>
            <p:nvPr/>
          </p:nvSpPr>
          <p:spPr>
            <a:xfrm>
              <a:off x="1828797" y="4485456"/>
              <a:ext cx="9330268" cy="646331"/>
            </a:xfrm>
            <a:prstGeom prst="rect">
              <a:avLst/>
            </a:prstGeom>
            <a:noFill/>
          </p:spPr>
          <p:txBody>
            <a:bodyPr wrap="square" lIns="91440" tIns="45720" rIns="91440" bIns="45720">
              <a:spAutoFit/>
            </a:bodyPr>
            <a:lstStyle/>
            <a:p>
              <a:r>
                <a:rPr lang="en-US" b="1" spc="-10">
                  <a:latin typeface="Segoe UI" pitchFamily="34" charset="0"/>
                  <a:ea typeface="Lato"/>
                  <a:cs typeface="Lato"/>
                </a:rPr>
                <a:t>Prepare outputs (succession readiness assessment, role health snapshots, externally-benchmarked readiness assessments, Hogan report) to assist with successor selection</a:t>
              </a:r>
            </a:p>
          </p:txBody>
        </p:sp>
      </p:grpSp>
      <p:grpSp>
        <p:nvGrpSpPr>
          <p:cNvPr id="24" name="Group 23">
            <a:extLst>
              <a:ext uri="{FF2B5EF4-FFF2-40B4-BE49-F238E27FC236}">
                <a16:creationId xmlns:a16="http://schemas.microsoft.com/office/drawing/2014/main" id="{AEAF750C-7700-B8CE-C22F-7773FE4CBDA4}"/>
              </a:ext>
            </a:extLst>
          </p:cNvPr>
          <p:cNvGrpSpPr/>
          <p:nvPr/>
        </p:nvGrpSpPr>
        <p:grpSpPr>
          <a:xfrm>
            <a:off x="954660" y="4916097"/>
            <a:ext cx="10126134" cy="709283"/>
            <a:chOff x="1032931" y="5315980"/>
            <a:chExt cx="10126134" cy="709283"/>
          </a:xfrm>
        </p:grpSpPr>
        <p:sp>
          <p:nvSpPr>
            <p:cNvPr id="25" name="Rectangle 24">
              <a:extLst>
                <a:ext uri="{FF2B5EF4-FFF2-40B4-BE49-F238E27FC236}">
                  <a16:creationId xmlns:a16="http://schemas.microsoft.com/office/drawing/2014/main" id="{D0031BB9-ABD2-5A73-B755-AEE4AC615203}"/>
                </a:ext>
              </a:extLst>
            </p:cNvPr>
            <p:cNvSpPr/>
            <p:nvPr/>
          </p:nvSpPr>
          <p:spPr>
            <a:xfrm>
              <a:off x="1032931" y="5315980"/>
              <a:ext cx="660400" cy="709283"/>
            </a:xfrm>
            <a:prstGeom prst="rect">
              <a:avLst/>
            </a:prstGeom>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26" name="Rectangle 25">
              <a:extLst>
                <a:ext uri="{FF2B5EF4-FFF2-40B4-BE49-F238E27FC236}">
                  <a16:creationId xmlns:a16="http://schemas.microsoft.com/office/drawing/2014/main" id="{44A97DB8-5EAA-DCE8-4CCF-0FBD0FD1EAFD}"/>
                </a:ext>
              </a:extLst>
            </p:cNvPr>
            <p:cNvSpPr/>
            <p:nvPr/>
          </p:nvSpPr>
          <p:spPr>
            <a:xfrm>
              <a:off x="1693330" y="5315980"/>
              <a:ext cx="9465735" cy="709283"/>
            </a:xfrm>
            <a:prstGeom prst="rect">
              <a:avLst/>
            </a:prstGeom>
            <a:noFill/>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27" name="TextBox 26">
              <a:extLst>
                <a:ext uri="{FF2B5EF4-FFF2-40B4-BE49-F238E27FC236}">
                  <a16:creationId xmlns:a16="http://schemas.microsoft.com/office/drawing/2014/main" id="{1203F743-A332-2A49-74FC-AB649F4A9A24}"/>
                </a:ext>
              </a:extLst>
            </p:cNvPr>
            <p:cNvSpPr txBox="1"/>
            <p:nvPr/>
          </p:nvSpPr>
          <p:spPr>
            <a:xfrm>
              <a:off x="1828796" y="5492967"/>
              <a:ext cx="9288308" cy="369332"/>
            </a:xfrm>
            <a:prstGeom prst="rect">
              <a:avLst/>
            </a:prstGeom>
            <a:noFill/>
          </p:spPr>
          <p:txBody>
            <a:bodyPr wrap="square" lIns="91440" tIns="45720" rIns="91440" bIns="45720">
              <a:spAutoFit/>
            </a:bodyPr>
            <a:lstStyle/>
            <a:p>
              <a:r>
                <a:rPr lang="en-US" b="1" spc="-10">
                  <a:latin typeface="Segoe UI" pitchFamily="34" charset="0"/>
                  <a:ea typeface="Lato"/>
                  <a:cs typeface="Lato"/>
                </a:rPr>
                <a:t>Build targeted development plans</a:t>
              </a:r>
            </a:p>
          </p:txBody>
        </p:sp>
        <p:pic>
          <p:nvPicPr>
            <p:cNvPr id="28" name="Graphic 27" descr="Beginning with solid fill">
              <a:extLst>
                <a:ext uri="{FF2B5EF4-FFF2-40B4-BE49-F238E27FC236}">
                  <a16:creationId xmlns:a16="http://schemas.microsoft.com/office/drawing/2014/main" id="{4975282D-96B2-2A7A-CC93-CA6E9939865F}"/>
                </a:ext>
              </a:extLst>
            </p:cNvPr>
            <p:cNvPicPr>
              <a:picLocks noChangeAspect="1"/>
            </p:cNvPicPr>
            <p:nvPr/>
          </p:nvPicPr>
          <p:blipFill>
            <a:blip r:embed="rId6">
              <a:duotone>
                <a:srgbClr val="765FFF"/>
                <a:srgbClr val="FFFFFF"/>
              </a:duotone>
            </a:blip>
            <a:stretch>
              <a:fillRect/>
            </a:stretch>
          </p:blipFill>
          <p:spPr>
            <a:xfrm rot="10800000">
              <a:off x="1074896" y="5379335"/>
              <a:ext cx="586988" cy="586988"/>
            </a:xfrm>
            <a:prstGeom prst="rect">
              <a:avLst/>
            </a:prstGeom>
          </p:spPr>
        </p:pic>
      </p:grpSp>
      <p:sp>
        <p:nvSpPr>
          <p:cNvPr id="29" name="Rectangle 28">
            <a:extLst>
              <a:ext uri="{FF2B5EF4-FFF2-40B4-BE49-F238E27FC236}">
                <a16:creationId xmlns:a16="http://schemas.microsoft.com/office/drawing/2014/main" id="{29CE6528-F805-9BBE-4B55-853F3E6A534E}"/>
              </a:ext>
            </a:extLst>
          </p:cNvPr>
          <p:cNvSpPr/>
          <p:nvPr/>
        </p:nvSpPr>
        <p:spPr>
          <a:xfrm>
            <a:off x="949563" y="4054097"/>
            <a:ext cx="660400" cy="709283"/>
          </a:xfrm>
          <a:prstGeom prst="rect">
            <a:avLst/>
          </a:prstGeom>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pic>
        <p:nvPicPr>
          <p:cNvPr id="30" name="Picture 29">
            <a:extLst>
              <a:ext uri="{FF2B5EF4-FFF2-40B4-BE49-F238E27FC236}">
                <a16:creationId xmlns:a16="http://schemas.microsoft.com/office/drawing/2014/main" id="{385B8150-CF04-ED46-88F7-3049B20A09D6}"/>
              </a:ext>
            </a:extLst>
          </p:cNvPr>
          <p:cNvPicPr>
            <a:picLocks noChangeAspect="1"/>
          </p:cNvPicPr>
          <p:nvPr/>
        </p:nvPicPr>
        <p:blipFill>
          <a:blip r:embed="rId7">
            <a:duotone>
              <a:srgbClr val="765FFF"/>
              <a:srgbClr val="FFFFFF"/>
            </a:duotone>
          </a:blip>
          <a:srcRect l="12941" r="14712"/>
          <a:stretch>
            <a:fillRect/>
          </a:stretch>
        </p:blipFill>
        <p:spPr>
          <a:xfrm>
            <a:off x="985102" y="4207390"/>
            <a:ext cx="584443" cy="411480"/>
          </a:xfrm>
          <a:prstGeom prst="rect">
            <a:avLst/>
          </a:prstGeom>
        </p:spPr>
      </p:pic>
      <p:sp>
        <p:nvSpPr>
          <p:cNvPr id="31"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59</a:t>
            </a:fld>
            <a:endParaRPr lang="en-US"/>
          </a:p>
        </p:txBody>
      </p:sp>
    </p:spTree>
    <p:extLst>
      <p:ext uri="{BB962C8B-B14F-4D97-AF65-F5344CB8AC3E}">
        <p14:creationId xmlns:p14="http://schemas.microsoft.com/office/powerpoint/2010/main" val="1200782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4FBCD-AED2-3807-47B3-9C1C885A94C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0337036-5E4C-739E-5DC1-067A98AACAC9}"/>
              </a:ext>
            </a:extLst>
          </p:cNvPr>
          <p:cNvSpPr>
            <a:spLocks noGrp="1"/>
          </p:cNvSpPr>
          <p:nvPr>
            <p:ph type="title" sz="quarter"/>
          </p:nvPr>
        </p:nvSpPr>
        <p:spPr/>
        <p:txBody>
          <a:bodyPr/>
          <a:lstStyle/>
          <a:p>
            <a:r>
              <a:rPr lang="en-US" b="1" spc="-25">
                <a:latin typeface="Segoe UI" pitchFamily="34" charset="0"/>
              </a:rPr>
              <a:t>Feedback survey</a:t>
            </a:r>
          </a:p>
        </p:txBody>
      </p:sp>
      <p:pic>
        <p:nvPicPr>
          <p:cNvPr id="5" name="Picture 4">
            <a:extLst>
              <a:ext uri="{FF2B5EF4-FFF2-40B4-BE49-F238E27FC236}">
                <a16:creationId xmlns:a16="http://schemas.microsoft.com/office/drawing/2014/main" id="{C6519A4E-E054-9D0F-2482-5787FC3CCEBC}"/>
              </a:ext>
            </a:extLst>
          </p:cNvPr>
          <p:cNvPicPr>
            <a:picLocks noChangeAspect="1"/>
          </p:cNvPicPr>
          <p:nvPr/>
        </p:nvPicPr>
        <p:blipFill>
          <a:blip r:embed="rId2">
            <a:duotone>
              <a:srgbClr val="765FFF"/>
              <a:srgbClr val="FFFFFF"/>
            </a:duotone>
          </a:blip>
          <a:stretch>
            <a:fillRect/>
          </a:stretch>
        </p:blipFill>
        <p:spPr>
          <a:xfrm>
            <a:off x="946484" y="765674"/>
            <a:ext cx="10553383" cy="5523686"/>
          </a:xfrm>
          <a:prstGeom prst="rect">
            <a:avLst/>
          </a:prstGeom>
        </p:spPr>
      </p:pic>
      <p:sp>
        <p:nvSpPr>
          <p:cNvPr id="6"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60</a:t>
            </a:fld>
            <a:endParaRPr lang="en-US"/>
          </a:p>
        </p:txBody>
      </p:sp>
    </p:spTree>
    <p:extLst>
      <p:ext uri="{BB962C8B-B14F-4D97-AF65-F5344CB8AC3E}">
        <p14:creationId xmlns:p14="http://schemas.microsoft.com/office/powerpoint/2010/main" val="501146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7CE97-5323-49D0-56C6-1EAAE12B554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953F095-4FF8-541D-FEF5-DB841FEA0270}"/>
              </a:ext>
            </a:extLst>
          </p:cNvPr>
          <p:cNvSpPr/>
          <p:nvPr/>
        </p:nvSpPr>
        <p:spPr>
          <a:xfrm>
            <a:off x="0" y="1692998"/>
            <a:ext cx="8464990" cy="310533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 name="Text Placeholder 1">
            <a:extLst>
              <a:ext uri="{FF2B5EF4-FFF2-40B4-BE49-F238E27FC236}">
                <a16:creationId xmlns:a16="http://schemas.microsoft.com/office/drawing/2014/main" id="{3F7D978E-5A93-ABCA-1CA0-9642215BBBD2}"/>
              </a:ext>
            </a:extLst>
          </p:cNvPr>
          <p:cNvSpPr txBox="1">
            <a:spLocks/>
          </p:cNvSpPr>
          <p:nvPr/>
        </p:nvSpPr>
        <p:spPr>
          <a:xfrm>
            <a:off x="340447" y="2555784"/>
            <a:ext cx="7898206" cy="1493705"/>
          </a:xfrm>
          <a:prstGeom prst="rect">
            <a:avLst/>
          </a:prstGeom>
        </p:spPr>
        <p:txBody>
          <a:bodyPr lIns="91440" tIns="45720" rIns="91440" bIns="45720"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spc="-10">
                <a:solidFill>
                  <a:schemeClr val="tx1"/>
                </a:solidFill>
                <a:latin typeface="Arial" pitchFamily="34"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spc="-10">
                <a:solidFill>
                  <a:schemeClr val="tx1"/>
                </a:solidFill>
                <a:latin typeface="Arial" pitchFamily="34"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10">
                <a:solidFill>
                  <a:schemeClr val="tx1"/>
                </a:solidFill>
                <a:latin typeface="Arial" pitchFamily="34"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800" b="1" i="0" u="none" strike="noStrike" kern="1200" cap="none" spc="-10" normalizeH="0" baseline="0" noProof="0">
                <a:ln>
                  <a:noFill/>
                </a:ln>
                <a:solidFill>
                  <a:srgbClr val="FFFFFF"/>
                </a:solidFill>
                <a:effectLst/>
                <a:uLnTx/>
                <a:uFillTx/>
                <a:latin typeface="Segoe UI" pitchFamily="34" charset="0"/>
                <a:ea typeface="Lato ExtraLight" panose="020B0604020202020204" pitchFamily="34" charset="0"/>
                <a:cs typeface="Lato ExtraLight" panose="020B0604020202020204" pitchFamily="34" charset="0"/>
              </a:rPr>
              <a:t>Q&amp;A</a:t>
            </a:r>
          </a:p>
        </p:txBody>
      </p:sp>
      <p:sp>
        <p:nvSpPr>
          <p:cNvPr id="4"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61</a:t>
            </a:fld>
            <a:endParaRPr lang="en-US"/>
          </a:p>
        </p:txBody>
      </p:sp>
    </p:spTree>
    <p:extLst>
      <p:ext uri="{BB962C8B-B14F-4D97-AF65-F5344CB8AC3E}">
        <p14:creationId xmlns:p14="http://schemas.microsoft.com/office/powerpoint/2010/main" val="18585640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33E82-D62B-3006-BD48-A8BA061C503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D3C980E-D378-D04B-8DF8-83CBB4173FAD}"/>
              </a:ext>
            </a:extLst>
          </p:cNvPr>
          <p:cNvSpPr>
            <a:spLocks noGrp="1"/>
          </p:cNvSpPr>
          <p:nvPr>
            <p:ph type="title" sz="quarter"/>
          </p:nvPr>
        </p:nvSpPr>
        <p:spPr/>
        <p:txBody>
          <a:bodyPr/>
          <a:lstStyle/>
          <a:p>
            <a:r>
              <a:rPr lang="en-US" b="1" spc="-25">
                <a:latin typeface="Segoe UI" pitchFamily="34" charset="0"/>
                <a:ea typeface="Lato" panose="020F0502020204030203" pitchFamily="34" charset="0"/>
                <a:cs typeface="Lato" panose="020F0502020204030203" pitchFamily="34" charset="0"/>
              </a:rPr>
              <a:t>/answer key – jtbd</a:t>
            </a:r>
          </a:p>
          <a:p>
            <a:r>
              <a:rPr lang="en-US" sz="2400" b="1" spc="-25">
                <a:cs typeface="Lato" panose="020F0502020204030203" pitchFamily="34" charset="0"/>
              </a:rPr>
              <a:t>VP of digital marketing &amp; growth</a:t>
            </a:r>
            <a:endParaRPr lang="en-US" sz="2400" b="1" spc="-25">
              <a:latin typeface="Segoe UI" pitchFamily="34" charset="0"/>
              <a:ea typeface="Lato" panose="020F0502020204030203" pitchFamily="34" charset="0"/>
              <a:cs typeface="Lato" panose="020F0502020204030203" pitchFamily="34" charset="0"/>
            </a:endParaRPr>
          </a:p>
        </p:txBody>
      </p:sp>
      <p:graphicFrame>
        <p:nvGraphicFramePr>
          <p:cNvPr id="3" name="Google Shape;302;p6">
            <a:extLst>
              <a:ext uri="{FF2B5EF4-FFF2-40B4-BE49-F238E27FC236}">
                <a16:creationId xmlns:a16="http://schemas.microsoft.com/office/drawing/2014/main" id="{639F0B30-4F76-79B3-F50B-731182EC4E6F}"/>
              </a:ext>
            </a:extLst>
          </p:cNvPr>
          <p:cNvGraphicFramePr/>
          <p:nvPr>
            <p:extLst>
              <p:ext uri="{D42A27DB-BD31-4B8C-83A1-F6EECF244321}">
                <p14:modId xmlns:p14="http://schemas.microsoft.com/office/powerpoint/2010/main" val="3632696965"/>
              </p:ext>
            </p:extLst>
          </p:nvPr>
        </p:nvGraphicFramePr>
        <p:xfrm>
          <a:off x="477822" y="1294270"/>
          <a:ext cx="11552596" cy="4833814"/>
        </p:xfrm>
        <a:graphic>
          <a:graphicData uri="http://schemas.openxmlformats.org/drawingml/2006/table">
            <a:tbl>
              <a:tblPr firstRow="1" bandRow="1">
                <a:noFill/>
              </a:tblPr>
              <a:tblGrid>
                <a:gridCol w="280688">
                  <a:extLst>
                    <a:ext uri="{9D8B030D-6E8A-4147-A177-3AD203B41FA5}">
                      <a16:colId xmlns:a16="http://schemas.microsoft.com/office/drawing/2014/main" val="20000"/>
                    </a:ext>
                  </a:extLst>
                </a:gridCol>
                <a:gridCol w="611470">
                  <a:extLst>
                    <a:ext uri="{9D8B030D-6E8A-4147-A177-3AD203B41FA5}">
                      <a16:colId xmlns:a16="http://schemas.microsoft.com/office/drawing/2014/main" val="20001"/>
                    </a:ext>
                  </a:extLst>
                </a:gridCol>
                <a:gridCol w="1955104">
                  <a:extLst>
                    <a:ext uri="{9D8B030D-6E8A-4147-A177-3AD203B41FA5}">
                      <a16:colId xmlns:a16="http://schemas.microsoft.com/office/drawing/2014/main" val="20002"/>
                    </a:ext>
                  </a:extLst>
                </a:gridCol>
                <a:gridCol w="8705334">
                  <a:extLst>
                    <a:ext uri="{9D8B030D-6E8A-4147-A177-3AD203B41FA5}">
                      <a16:colId xmlns:a16="http://schemas.microsoft.com/office/drawing/2014/main" val="3624379767"/>
                    </a:ext>
                  </a:extLst>
                </a:gridCol>
              </a:tblGrid>
              <a:tr h="343125">
                <a:tc>
                  <a:txBody>
                    <a:bodyPr/>
                    <a:lstStyle/>
                    <a:p>
                      <a:pPr marL="0" marR="0" lvl="0" indent="0" algn="l" rtl="0">
                        <a:lnSpc>
                          <a:spcPct val="100000"/>
                        </a:lnSpc>
                        <a:spcBef>
                          <a:spcPts val="0"/>
                        </a:spcBef>
                        <a:spcAft>
                          <a:spcPts val="0"/>
                        </a:spcAft>
                        <a:buClr>
                          <a:srgbClr val="BA0C2F"/>
                        </a:buClr>
                        <a:buSzPts val="2400"/>
                        <a:buFont typeface="Lato"/>
                        <a:buNone/>
                      </a:pPr>
                      <a:r>
                        <a:rPr lang="en-US" sz="1050" b="1" u="none" strike="noStrike" cap="none">
                          <a:solidFill>
                            <a:srgbClr val="BA0C2F"/>
                          </a:solidFill>
                          <a:latin typeface="Arial" pitchFamily="34" charset="0"/>
                          <a:ea typeface="Lato" panose="020F0502020204030203" pitchFamily="34" charset="0"/>
                          <a:cs typeface="Lato" panose="020F0502020204030203" pitchFamily="34" charset="0"/>
                          <a:sym typeface="Lato"/>
                        </a:rPr>
                        <a:t>#</a:t>
                      </a:r>
                      <a:endParaRPr sz="700" b="1">
                        <a:latin typeface="Arial" pitchFamily="34" charset="0"/>
                        <a:ea typeface="Lato" panose="020F0502020204030203" pitchFamily="34" charset="0"/>
                        <a:cs typeface="Lato" panose="020F0502020204030203" pitchFamily="34" charset="0"/>
                      </a:endParaRPr>
                    </a:p>
                  </a:txBody>
                  <a:tcPr marL="23400" marR="23400" marT="72000" marB="72000" anchor="ctr">
                    <a:lnL w="9525" cap="flat" cmpd="sng">
                      <a:solidFill>
                        <a:srgbClr val="1D1D1D">
                          <a:alpha val="0"/>
                        </a:srgbClr>
                      </a:solidFill>
                      <a:prstDash val="solid"/>
                      <a:round/>
                      <a:headEnd type="none" w="sm" len="sm"/>
                      <a:tailEnd type="none" w="sm" len="sm"/>
                    </a:lnL>
                    <a:lnR w="9525" cap="flat" cmpd="sng">
                      <a:solidFill>
                        <a:srgbClr val="1D1D1D">
                          <a:alpha val="0"/>
                        </a:srgbClr>
                      </a:solidFill>
                      <a:prstDash val="solid"/>
                      <a:round/>
                      <a:headEnd type="none" w="sm" len="sm"/>
                      <a:tailEnd type="none" w="sm" len="sm"/>
                    </a:lnR>
                    <a:lnT w="9525" cap="flat" cmpd="sng">
                      <a:solidFill>
                        <a:srgbClr val="1D1D1D">
                          <a:alpha val="0"/>
                        </a:srgbClr>
                      </a:solidFill>
                      <a:prstDash val="solid"/>
                      <a:round/>
                      <a:headEnd type="none" w="sm" len="sm"/>
                      <a:tailEnd type="none" w="sm" len="sm"/>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BA0C2F"/>
                        </a:buClr>
                        <a:buSzPts val="2400"/>
                        <a:buFont typeface="Lato"/>
                        <a:buNone/>
                      </a:pPr>
                      <a:r>
                        <a:rPr lang="en-US" sz="1050" b="1" u="none" strike="noStrike" cap="none" err="1">
                          <a:solidFill>
                            <a:srgbClr val="BA0C2F"/>
                          </a:solidFill>
                          <a:latin typeface="Arial" pitchFamily="34" charset="0"/>
                          <a:ea typeface="Lato" panose="020F0502020204030203" pitchFamily="34" charset="0"/>
                          <a:cs typeface="Lato" panose="020F0502020204030203" pitchFamily="34" charset="0"/>
                          <a:sym typeface="Lato"/>
                        </a:rPr>
                        <a:t>Wt</a:t>
                      </a:r>
                      <a:r>
                        <a:rPr lang="en-US" sz="1050" b="1" u="none" strike="noStrike" cap="none">
                          <a:solidFill>
                            <a:srgbClr val="BA0C2F"/>
                          </a:solidFill>
                          <a:latin typeface="Arial" pitchFamily="34" charset="0"/>
                          <a:ea typeface="Lato" panose="020F0502020204030203" pitchFamily="34" charset="0"/>
                          <a:cs typeface="Lato" panose="020F0502020204030203" pitchFamily="34" charset="0"/>
                          <a:sym typeface="Lato"/>
                        </a:rPr>
                        <a:t>%</a:t>
                      </a:r>
                      <a:endParaRPr lang="en-US" sz="700" b="1">
                        <a:latin typeface="Arial" pitchFamily="34" charset="0"/>
                        <a:ea typeface="Lato" panose="020F0502020204030203" pitchFamily="34" charset="0"/>
                        <a:cs typeface="Lato" panose="020F0502020204030203" pitchFamily="34" charset="0"/>
                      </a:endParaRPr>
                    </a:p>
                  </a:txBody>
                  <a:tcPr marL="23400" marR="23400" marT="72000" marB="72000" anchor="ctr">
                    <a:lnL w="9525" cap="flat" cmpd="sng">
                      <a:solidFill>
                        <a:srgbClr val="1D1D1D">
                          <a:alpha val="0"/>
                        </a:srgbClr>
                      </a:solidFill>
                      <a:prstDash val="solid"/>
                      <a:round/>
                      <a:headEnd type="none" w="sm" len="sm"/>
                      <a:tailEnd type="none" w="sm" len="sm"/>
                    </a:lnL>
                    <a:lnR w="9525" cap="flat" cmpd="sng">
                      <a:solidFill>
                        <a:srgbClr val="1D1D1D">
                          <a:alpha val="0"/>
                        </a:srgbClr>
                      </a:solidFill>
                      <a:prstDash val="solid"/>
                      <a:round/>
                      <a:headEnd type="none" w="sm" len="sm"/>
                      <a:tailEnd type="none" w="sm" len="sm"/>
                    </a:lnR>
                    <a:lnT w="9525" cap="flat" cmpd="sng">
                      <a:solidFill>
                        <a:srgbClr val="1D1D1D">
                          <a:alpha val="0"/>
                        </a:srgbClr>
                      </a:solidFill>
                      <a:prstDash val="solid"/>
                      <a:round/>
                      <a:headEnd type="none" w="sm" len="sm"/>
                      <a:tailEnd type="none" w="sm" len="sm"/>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BA0C2F"/>
                        </a:buClr>
                        <a:buSzPts val="2400"/>
                        <a:buFont typeface="Lato"/>
                        <a:buNone/>
                      </a:pPr>
                      <a:r>
                        <a:rPr lang="en-US" sz="1050" b="1" u="none" strike="noStrike" cap="none">
                          <a:solidFill>
                            <a:srgbClr val="BA0C2F"/>
                          </a:solidFill>
                          <a:latin typeface="Arial" pitchFamily="34" charset="0"/>
                          <a:ea typeface="Lato" panose="020F0502020204030203" pitchFamily="34" charset="0"/>
                          <a:cs typeface="Lato" panose="020F0502020204030203" pitchFamily="34" charset="0"/>
                          <a:sym typeface="Lato"/>
                        </a:rPr>
                        <a:t>Outcome</a:t>
                      </a:r>
                      <a:endParaRPr lang="en-US" sz="700" b="1">
                        <a:latin typeface="Arial" pitchFamily="34" charset="0"/>
                        <a:ea typeface="Lato" panose="020F0502020204030203" pitchFamily="34" charset="0"/>
                        <a:cs typeface="Lato" panose="020F0502020204030203" pitchFamily="34" charset="0"/>
                      </a:endParaRPr>
                    </a:p>
                  </a:txBody>
                  <a:tcPr marL="23400" marR="23400" marT="72000" marB="7200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9525" cap="flat" cmpd="sng">
                      <a:solidFill>
                        <a:srgbClr val="1D1D1D">
                          <a:alpha val="0"/>
                        </a:srgbClr>
                      </a:solidFill>
                      <a:prstDash val="solid"/>
                      <a:round/>
                      <a:headEnd type="none" w="sm" len="sm"/>
                      <a:tailEnd type="none" w="sm" len="sm"/>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BA0C2F"/>
                        </a:buClr>
                        <a:buSzPts val="2400"/>
                        <a:buFont typeface="Lato"/>
                        <a:buNone/>
                      </a:pPr>
                      <a:r>
                        <a:rPr lang="en-US" sz="1050" b="1" u="none" strike="noStrike" kern="1200" cap="none">
                          <a:solidFill>
                            <a:srgbClr val="BA0C2F"/>
                          </a:solidFill>
                          <a:latin typeface="Arial" pitchFamily="34" charset="0"/>
                          <a:ea typeface="Lato" panose="020F0502020204030203" pitchFamily="34" charset="0"/>
                          <a:cs typeface="Lato" panose="020F0502020204030203" pitchFamily="34" charset="0"/>
                        </a:rPr>
                        <a:t>Priority Work</a:t>
                      </a:r>
                    </a:p>
                  </a:txBody>
                  <a:tcPr marL="23400" marR="23400" marT="72000" marB="7200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9525" cap="flat" cmpd="sng">
                      <a:solidFill>
                        <a:srgbClr val="1D1D1D">
                          <a:alpha val="0"/>
                        </a:srgbClr>
                      </a:solidFill>
                      <a:prstDash val="solid"/>
                      <a:round/>
                      <a:headEnd type="none" w="sm" len="sm"/>
                      <a:tailEnd type="none" w="sm" len="sm"/>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0"/>
                  </a:ext>
                </a:extLst>
              </a:tr>
              <a:tr h="870980">
                <a:tc>
                  <a:txBody>
                    <a:bodyPr/>
                    <a:lstStyle/>
                    <a:p>
                      <a:pPr marL="0" marR="0" algn="r">
                        <a:lnSpc>
                          <a:spcPct val="115000"/>
                        </a:lnSpc>
                        <a:spcAft>
                          <a:spcPts val="0"/>
                        </a:spcAft>
                        <a:buNone/>
                      </a:pPr>
                      <a:r>
                        <a:rPr lang="en-US" sz="1100" b="1" kern="100">
                          <a:solidFill>
                            <a:srgbClr val="262626"/>
                          </a:solidFill>
                          <a:effectLst/>
                          <a:latin typeface="Arial" pitchFamily="34" charset="0"/>
                          <a:ea typeface="Lato" panose="020F0502020204030203" pitchFamily="34" charset="0"/>
                          <a:cs typeface="Lato" panose="020F0502020204030203" pitchFamily="34" charset="0"/>
                        </a:rPr>
                        <a:t>1</a:t>
                      </a:r>
                      <a:endParaRPr lang="en-US" sz="1100" b="1" kern="100">
                        <a:effectLst/>
                        <a:latin typeface="Arial" pitchFamily="34" charset="0"/>
                        <a:ea typeface="Lato" panose="020F0502020204030203" pitchFamily="34" charset="0"/>
                        <a:cs typeface="Lato" panose="020F0502020204030203" pitchFamily="34" charset="0"/>
                      </a:endParaRPr>
                    </a:p>
                  </a:txBody>
                  <a:tcPr marL="76200" marR="76200" marT="38100" marB="3810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a:lnSpc>
                          <a:spcPct val="115000"/>
                        </a:lnSpc>
                        <a:spcAft>
                          <a:spcPts val="800"/>
                        </a:spcAft>
                        <a:buNone/>
                      </a:pPr>
                      <a:r>
                        <a:rPr lang="en-US" sz="1100" kern="0">
                          <a:effectLst/>
                          <a:latin typeface="Arial" pitchFamily="34" charset="0"/>
                          <a:ea typeface="Lato" panose="020F0502020204030203" pitchFamily="34" charset="0"/>
                          <a:cs typeface="Lato" panose="020F0502020204030203" pitchFamily="34" charset="0"/>
                        </a:rPr>
                        <a:t>30%</a:t>
                      </a:r>
                      <a:endParaRPr lang="en-US" sz="11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a:lnSpc>
                          <a:spcPct val="115000"/>
                        </a:lnSpc>
                        <a:spcAft>
                          <a:spcPts val="800"/>
                        </a:spcAft>
                        <a:buNone/>
                      </a:pPr>
                      <a:r>
                        <a:rPr lang="en-US" sz="1100" b="1" kern="0">
                          <a:effectLst/>
                          <a:latin typeface="Arial" pitchFamily="34" charset="0"/>
                          <a:ea typeface="Lato" panose="020F0502020204030203" pitchFamily="34" charset="0"/>
                          <a:cs typeface="Lato" panose="020F0502020204030203" pitchFamily="34" charset="0"/>
                        </a:rPr>
                        <a:t>Maximize </a:t>
                      </a:r>
                      <a:r>
                        <a:rPr lang="en-US" sz="1100" b="1" kern="0" err="1">
                          <a:effectLst/>
                          <a:latin typeface="Arial" pitchFamily="34" charset="0"/>
                          <a:ea typeface="Lato" panose="020F0502020204030203" pitchFamily="34" charset="0"/>
                          <a:cs typeface="Lato" panose="020F0502020204030203" pitchFamily="34" charset="0"/>
                        </a:rPr>
                        <a:t>multiplay</a:t>
                      </a:r>
                      <a:r>
                        <a:rPr lang="en-US" sz="1100" b="1" kern="0">
                          <a:effectLst/>
                          <a:latin typeface="Arial" pitchFamily="34" charset="0"/>
                          <a:ea typeface="Lato" panose="020F0502020204030203" pitchFamily="34" charset="0"/>
                          <a:cs typeface="Lato" panose="020F0502020204030203" pitchFamily="34" charset="0"/>
                        </a:rPr>
                        <a:t> economics and push toward saturation</a:t>
                      </a:r>
                      <a:endParaRPr lang="en-US" sz="11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a:lnSpc>
                          <a:spcPct val="115000"/>
                        </a:lnSpc>
                        <a:spcAft>
                          <a:spcPts val="800"/>
                        </a:spcAft>
                        <a:buNone/>
                      </a:pPr>
                      <a:r>
                        <a:rPr lang="en-US" sz="1100" b="1" kern="0">
                          <a:effectLst/>
                          <a:latin typeface="Arial" pitchFamily="34" charset="0"/>
                          <a:ea typeface="Lato" panose="020F0502020204030203" pitchFamily="34" charset="0"/>
                          <a:cs typeface="Lato" panose="020F0502020204030203" pitchFamily="34" charset="0"/>
                        </a:rPr>
                        <a:t>What: </a:t>
                      </a:r>
                      <a:r>
                        <a:rPr lang="en-US" sz="1100" b="0" kern="0">
                          <a:effectLst/>
                          <a:latin typeface="Arial" pitchFamily="34" charset="0"/>
                          <a:ea typeface="Lato" panose="020F0502020204030203" pitchFamily="34" charset="0"/>
                          <a:cs typeface="Lato" panose="020F0502020204030203" pitchFamily="34" charset="0"/>
                        </a:rPr>
                        <a:t>Shift from building </a:t>
                      </a:r>
                      <a:r>
                        <a:rPr lang="en-US" sz="1100" b="0" kern="0" err="1">
                          <a:effectLst/>
                          <a:latin typeface="Arial" pitchFamily="34" charset="0"/>
                          <a:ea typeface="Lato" panose="020F0502020204030203" pitchFamily="34" charset="0"/>
                          <a:cs typeface="Lato" panose="020F0502020204030203" pitchFamily="34" charset="0"/>
                        </a:rPr>
                        <a:t>multiplay</a:t>
                      </a:r>
                      <a:r>
                        <a:rPr lang="en-US" sz="1100" b="0" kern="0">
                          <a:effectLst/>
                          <a:latin typeface="Arial" pitchFamily="34" charset="0"/>
                          <a:ea typeface="Lato" panose="020F0502020204030203" pitchFamily="34" charset="0"/>
                          <a:cs typeface="Lato" panose="020F0502020204030203" pitchFamily="34" charset="0"/>
                        </a:rPr>
                        <a:t> to maximizing yield and penetration.</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How: </a:t>
                      </a:r>
                      <a:r>
                        <a:rPr lang="en-US" sz="1100" b="0" kern="0">
                          <a:effectLst/>
                          <a:latin typeface="Arial" pitchFamily="34" charset="0"/>
                          <a:ea typeface="Lato" panose="020F0502020204030203" pitchFamily="34" charset="0"/>
                          <a:cs typeface="Lato" panose="020F0502020204030203" pitchFamily="34" charset="0"/>
                        </a:rPr>
                        <a:t>Refine segmentation, evolve bundles, deploy predictive churn interventions, and test next‑gen bundle constructs.</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How much: </a:t>
                      </a:r>
                      <a:r>
                        <a:rPr lang="en-US" sz="1100" b="0" kern="0" err="1">
                          <a:effectLst/>
                          <a:latin typeface="Arial" pitchFamily="34" charset="0"/>
                          <a:ea typeface="Lato" panose="020F0502020204030203" pitchFamily="34" charset="0"/>
                          <a:cs typeface="Lato" panose="020F0502020204030203" pitchFamily="34" charset="0"/>
                        </a:rPr>
                        <a:t>Multiplay</a:t>
                      </a:r>
                      <a:r>
                        <a:rPr lang="en-US" sz="1100" b="0" kern="0">
                          <a:effectLst/>
                          <a:latin typeface="Arial" pitchFamily="34" charset="0"/>
                          <a:ea typeface="Lato" panose="020F0502020204030203" pitchFamily="34" charset="0"/>
                          <a:cs typeface="Lato" panose="020F0502020204030203" pitchFamily="34" charset="0"/>
                        </a:rPr>
                        <a:t> penetration 45%→55%+; services/customer 3.5→4.0+; </a:t>
                      </a:r>
                      <a:r>
                        <a:rPr lang="en-US" sz="1100" b="0" kern="0" err="1">
                          <a:effectLst/>
                          <a:latin typeface="Arial" pitchFamily="34" charset="0"/>
                          <a:ea typeface="Lato" panose="020F0502020204030203" pitchFamily="34" charset="0"/>
                          <a:cs typeface="Lato" panose="020F0502020204030203" pitchFamily="34" charset="0"/>
                        </a:rPr>
                        <a:t>multiplay</a:t>
                      </a:r>
                      <a:r>
                        <a:rPr lang="en-US" sz="1100" b="0" kern="0">
                          <a:effectLst/>
                          <a:latin typeface="Arial" pitchFamily="34" charset="0"/>
                          <a:ea typeface="Lato" panose="020F0502020204030203" pitchFamily="34" charset="0"/>
                          <a:cs typeface="Lato" panose="020F0502020204030203" pitchFamily="34" charset="0"/>
                        </a:rPr>
                        <a:t> churn −20%; incremental ARPU &gt;$450M.</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By when: </a:t>
                      </a:r>
                      <a:r>
                        <a:rPr lang="en-US" sz="1100" b="0" kern="0">
                          <a:effectLst/>
                          <a:latin typeface="Arial" pitchFamily="34" charset="0"/>
                          <a:ea typeface="Lato" panose="020F0502020204030203" pitchFamily="34" charset="0"/>
                          <a:cs typeface="Lato" panose="020F0502020204030203" pitchFamily="34" charset="0"/>
                        </a:rPr>
                        <a:t>31 Dec 2028.</a:t>
                      </a:r>
                      <a:endParaRPr lang="en-US" sz="1100" b="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1"/>
                  </a:ext>
                </a:extLst>
              </a:tr>
              <a:tr h="870980">
                <a:tc>
                  <a:txBody>
                    <a:bodyPr/>
                    <a:lstStyle/>
                    <a:p>
                      <a:pPr marL="0" marR="0" algn="r">
                        <a:lnSpc>
                          <a:spcPct val="115000"/>
                        </a:lnSpc>
                        <a:spcAft>
                          <a:spcPts val="0"/>
                        </a:spcAft>
                        <a:buNone/>
                      </a:pPr>
                      <a:r>
                        <a:rPr lang="en-US" sz="1100" b="1" kern="100">
                          <a:solidFill>
                            <a:srgbClr val="262626"/>
                          </a:solidFill>
                          <a:effectLst/>
                          <a:latin typeface="Arial" pitchFamily="34" charset="0"/>
                          <a:ea typeface="Lato" panose="020F0502020204030203" pitchFamily="34" charset="0"/>
                          <a:cs typeface="Lato" panose="020F0502020204030203" pitchFamily="34" charset="0"/>
                        </a:rPr>
                        <a:t>2</a:t>
                      </a:r>
                      <a:endParaRPr lang="en-US" sz="1100" b="1" kern="100">
                        <a:effectLst/>
                        <a:latin typeface="Arial" pitchFamily="34" charset="0"/>
                        <a:ea typeface="Lato" panose="020F0502020204030203" pitchFamily="34" charset="0"/>
                        <a:cs typeface="Lato" panose="020F0502020204030203" pitchFamily="34" charset="0"/>
                      </a:endParaRPr>
                    </a:p>
                  </a:txBody>
                  <a:tcPr marL="76200" marR="76200" marT="38100" marB="3810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a:lnSpc>
                          <a:spcPct val="115000"/>
                        </a:lnSpc>
                        <a:spcAft>
                          <a:spcPts val="800"/>
                        </a:spcAft>
                        <a:buNone/>
                      </a:pPr>
                      <a:r>
                        <a:rPr lang="en-US" sz="1100" kern="0">
                          <a:effectLst/>
                          <a:latin typeface="Arial" pitchFamily="34" charset="0"/>
                          <a:ea typeface="Lato" panose="020F0502020204030203" pitchFamily="34" charset="0"/>
                          <a:cs typeface="Lato" panose="020F0502020204030203" pitchFamily="34" charset="0"/>
                        </a:rPr>
                        <a:t>25%</a:t>
                      </a:r>
                      <a:endParaRPr lang="en-US" sz="11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a:lnSpc>
                          <a:spcPct val="115000"/>
                        </a:lnSpc>
                        <a:spcAft>
                          <a:spcPts val="800"/>
                        </a:spcAft>
                        <a:buNone/>
                      </a:pPr>
                      <a:r>
                        <a:rPr lang="en-US" sz="1100" b="1" kern="0">
                          <a:effectLst/>
                          <a:latin typeface="Arial" pitchFamily="34" charset="0"/>
                          <a:ea typeface="Lato" panose="020F0502020204030203" pitchFamily="34" charset="0"/>
                          <a:cs typeface="Lato" panose="020F0502020204030203" pitchFamily="34" charset="0"/>
                        </a:rPr>
                        <a:t>Transition from MAU growth to engagement depth and monetization</a:t>
                      </a:r>
                      <a:endParaRPr lang="en-US" sz="11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a:lnSpc>
                          <a:spcPct val="115000"/>
                        </a:lnSpc>
                        <a:spcAft>
                          <a:spcPts val="800"/>
                        </a:spcAft>
                        <a:buNone/>
                      </a:pPr>
                      <a:r>
                        <a:rPr lang="en-US" sz="1100" b="1" kern="0">
                          <a:effectLst/>
                          <a:latin typeface="Arial" pitchFamily="34" charset="0"/>
                          <a:ea typeface="Lato" panose="020F0502020204030203" pitchFamily="34" charset="0"/>
                          <a:cs typeface="Lato" panose="020F0502020204030203" pitchFamily="34" charset="0"/>
                        </a:rPr>
                        <a:t>What: </a:t>
                      </a:r>
                      <a:r>
                        <a:rPr lang="en-US" sz="1100" b="0" kern="0">
                          <a:effectLst/>
                          <a:latin typeface="Arial" pitchFamily="34" charset="0"/>
                          <a:ea typeface="Lato" panose="020F0502020204030203" pitchFamily="34" charset="0"/>
                          <a:cs typeface="Lato" panose="020F0502020204030203" pitchFamily="34" charset="0"/>
                        </a:rPr>
                        <a:t>Pivot from acquisition to deeper engagement and higher monetization.</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How: </a:t>
                      </a:r>
                      <a:r>
                        <a:rPr lang="en-US" sz="1100" b="0" kern="0">
                          <a:effectLst/>
                          <a:latin typeface="Arial" pitchFamily="34" charset="0"/>
                          <a:ea typeface="Lato" panose="020F0502020204030203" pitchFamily="34" charset="0"/>
                          <a:cs typeface="Lato" panose="020F0502020204030203" pitchFamily="34" charset="0"/>
                        </a:rPr>
                        <a:t>Reallocate spend to retention/reactivation; build cross‑vertical journeys, premium tiers, and viral growth loops.</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How much: </a:t>
                      </a:r>
                      <a:r>
                        <a:rPr lang="en-US" sz="1100" b="0" kern="0">
                          <a:effectLst/>
                          <a:latin typeface="Arial" pitchFamily="34" charset="0"/>
                          <a:ea typeface="Lato" panose="020F0502020204030203" pitchFamily="34" charset="0"/>
                          <a:cs typeface="Lato" panose="020F0502020204030203" pitchFamily="34" charset="0"/>
                        </a:rPr>
                        <a:t>DAU/MAU 40%→50%+; revenue/MAU +25%+; 60%+ new MAUs organic; digital‑only churn −30%.</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By when: </a:t>
                      </a:r>
                      <a:r>
                        <a:rPr lang="en-US" sz="1100" b="0" kern="0">
                          <a:effectLst/>
                          <a:latin typeface="Arial" pitchFamily="34" charset="0"/>
                          <a:ea typeface="Lato" panose="020F0502020204030203" pitchFamily="34" charset="0"/>
                          <a:cs typeface="Lato" panose="020F0502020204030203" pitchFamily="34" charset="0"/>
                        </a:rPr>
                        <a:t>31 Dec 2028.</a:t>
                      </a:r>
                      <a:endParaRPr lang="en-US" sz="1100" b="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062063259"/>
                  </a:ext>
                </a:extLst>
              </a:tr>
              <a:tr h="916243">
                <a:tc>
                  <a:txBody>
                    <a:bodyPr/>
                    <a:lstStyle/>
                    <a:p>
                      <a:pPr marL="0" marR="0" algn="r">
                        <a:lnSpc>
                          <a:spcPct val="115000"/>
                        </a:lnSpc>
                        <a:spcAft>
                          <a:spcPts val="0"/>
                        </a:spcAft>
                        <a:buNone/>
                      </a:pPr>
                      <a:r>
                        <a:rPr lang="en-US" sz="1100" b="1" kern="100">
                          <a:solidFill>
                            <a:srgbClr val="262626"/>
                          </a:solidFill>
                          <a:effectLst/>
                          <a:latin typeface="Arial" pitchFamily="34" charset="0"/>
                          <a:ea typeface="Lato" panose="020F0502020204030203" pitchFamily="34" charset="0"/>
                          <a:cs typeface="Lato" panose="020F0502020204030203" pitchFamily="34" charset="0"/>
                        </a:rPr>
                        <a:t>3</a:t>
                      </a:r>
                      <a:endParaRPr lang="en-US" sz="1100" b="1" kern="100">
                        <a:effectLst/>
                        <a:latin typeface="Arial" pitchFamily="34" charset="0"/>
                        <a:ea typeface="Lato" panose="020F0502020204030203" pitchFamily="34" charset="0"/>
                        <a:cs typeface="Lato" panose="020F0502020204030203" pitchFamily="34" charset="0"/>
                      </a:endParaRPr>
                    </a:p>
                  </a:txBody>
                  <a:tcPr marL="76200" marR="76200" marT="38100" marB="3810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a:lnSpc>
                          <a:spcPct val="115000"/>
                        </a:lnSpc>
                        <a:spcAft>
                          <a:spcPts val="800"/>
                        </a:spcAft>
                        <a:buNone/>
                      </a:pPr>
                      <a:r>
                        <a:rPr lang="en-US" sz="1100" kern="0">
                          <a:effectLst/>
                          <a:latin typeface="Arial" pitchFamily="34" charset="0"/>
                          <a:ea typeface="Lato" panose="020F0502020204030203" pitchFamily="34" charset="0"/>
                          <a:cs typeface="Lato" panose="020F0502020204030203" pitchFamily="34" charset="0"/>
                        </a:rPr>
                        <a:t>20%</a:t>
                      </a:r>
                      <a:endParaRPr lang="en-US" sz="11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a:lnSpc>
                          <a:spcPct val="115000"/>
                        </a:lnSpc>
                        <a:spcAft>
                          <a:spcPts val="800"/>
                        </a:spcAft>
                        <a:buNone/>
                      </a:pPr>
                      <a:r>
                        <a:rPr lang="en-US" sz="1100" b="1" kern="0">
                          <a:effectLst/>
                          <a:latin typeface="Arial" pitchFamily="34" charset="0"/>
                          <a:ea typeface="Lato" panose="020F0502020204030203" pitchFamily="34" charset="0"/>
                          <a:cs typeface="Lato" panose="020F0502020204030203" pitchFamily="34" charset="0"/>
                        </a:rPr>
                        <a:t>Scale AI from pilot success to pervasive commercial capability</a:t>
                      </a:r>
                      <a:endParaRPr lang="en-US" sz="11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a:lnSpc>
                          <a:spcPct val="115000"/>
                        </a:lnSpc>
                        <a:spcAft>
                          <a:spcPts val="800"/>
                        </a:spcAft>
                        <a:buNone/>
                      </a:pPr>
                      <a:r>
                        <a:rPr lang="en-US" sz="1100" b="1" kern="0">
                          <a:effectLst/>
                          <a:latin typeface="Arial" pitchFamily="34" charset="0"/>
                          <a:ea typeface="Lato" panose="020F0502020204030203" pitchFamily="34" charset="0"/>
                          <a:cs typeface="Lato" panose="020F0502020204030203" pitchFamily="34" charset="0"/>
                        </a:rPr>
                        <a:t>What: </a:t>
                      </a:r>
                      <a:r>
                        <a:rPr lang="en-US" sz="1100" b="0" kern="0">
                          <a:effectLst/>
                          <a:latin typeface="Arial" pitchFamily="34" charset="0"/>
                          <a:ea typeface="Lato" panose="020F0502020204030203" pitchFamily="34" charset="0"/>
                          <a:cs typeface="Lato" panose="020F0502020204030203" pitchFamily="34" charset="0"/>
                        </a:rPr>
                        <a:t>Make AI the default personalization and product engine across journeys.</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How: </a:t>
                      </a:r>
                      <a:r>
                        <a:rPr lang="en-US" sz="1100" b="0" kern="0">
                          <a:effectLst/>
                          <a:latin typeface="Arial" pitchFamily="34" charset="0"/>
                          <a:ea typeface="Lato" panose="020F0502020204030203" pitchFamily="34" charset="0"/>
                          <a:cs typeface="Lato" panose="020F0502020204030203" pitchFamily="34" charset="0"/>
                        </a:rPr>
                        <a:t>Move to always‑on AI integration, operationalize </a:t>
                      </a:r>
                      <a:r>
                        <a:rPr lang="en-US" sz="1100" b="0" kern="0" err="1">
                          <a:effectLst/>
                          <a:latin typeface="Arial" pitchFamily="34" charset="0"/>
                          <a:ea typeface="Lato" panose="020F0502020204030203" pitchFamily="34" charset="0"/>
                          <a:cs typeface="Lato" panose="020F0502020204030203" pitchFamily="34" charset="0"/>
                        </a:rPr>
                        <a:t>MLOps</a:t>
                      </a:r>
                      <a:r>
                        <a:rPr lang="en-US" sz="1100" b="0" kern="0">
                          <a:effectLst/>
                          <a:latin typeface="Arial" pitchFamily="34" charset="0"/>
                          <a:ea typeface="Lato" panose="020F0502020204030203" pitchFamily="34" charset="0"/>
                          <a:cs typeface="Lato" panose="020F0502020204030203" pitchFamily="34" charset="0"/>
                        </a:rPr>
                        <a:t>/closed‑loop learning, expand local LLMs, and launch AI‑native products.</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How much: </a:t>
                      </a:r>
                      <a:r>
                        <a:rPr lang="en-US" sz="1100" b="0" kern="0">
                          <a:effectLst/>
                          <a:latin typeface="Arial" pitchFamily="34" charset="0"/>
                          <a:ea typeface="Lato" panose="020F0502020204030203" pitchFamily="34" charset="0"/>
                          <a:cs typeface="Lato" panose="020F0502020204030203" pitchFamily="34" charset="0"/>
                        </a:rPr>
                        <a:t>AI‑influenced revenue 15%→40%+; AI in 100% of journeys; 2x conversion lift; 3+ AI products per market.</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By when: </a:t>
                      </a:r>
                      <a:r>
                        <a:rPr lang="en-US" sz="1100" b="0" kern="0">
                          <a:effectLst/>
                          <a:latin typeface="Arial" pitchFamily="34" charset="0"/>
                          <a:ea typeface="Lato" panose="020F0502020204030203" pitchFamily="34" charset="0"/>
                          <a:cs typeface="Lato" panose="020F0502020204030203" pitchFamily="34" charset="0"/>
                        </a:rPr>
                        <a:t>31 Dec 2029.</a:t>
                      </a:r>
                      <a:endParaRPr lang="en-US" sz="1100" b="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2"/>
                  </a:ext>
                </a:extLst>
              </a:tr>
              <a:tr h="916243">
                <a:tc>
                  <a:txBody>
                    <a:bodyPr/>
                    <a:lstStyle/>
                    <a:p>
                      <a:pPr marL="0" marR="0" algn="r">
                        <a:lnSpc>
                          <a:spcPct val="115000"/>
                        </a:lnSpc>
                        <a:spcAft>
                          <a:spcPts val="0"/>
                        </a:spcAft>
                        <a:buNone/>
                      </a:pPr>
                      <a:r>
                        <a:rPr lang="en-US" sz="1100" b="1" kern="100">
                          <a:solidFill>
                            <a:srgbClr val="262626"/>
                          </a:solidFill>
                          <a:effectLst/>
                          <a:latin typeface="Arial" pitchFamily="34" charset="0"/>
                          <a:ea typeface="Lato" panose="020F0502020204030203" pitchFamily="34" charset="0"/>
                          <a:cs typeface="Lato" panose="020F0502020204030203" pitchFamily="34" charset="0"/>
                        </a:rPr>
                        <a:t>4</a:t>
                      </a:r>
                      <a:endParaRPr lang="en-US" sz="1100" b="1" kern="100">
                        <a:effectLst/>
                        <a:latin typeface="Arial" pitchFamily="34" charset="0"/>
                        <a:ea typeface="Lato" panose="020F0502020204030203" pitchFamily="34" charset="0"/>
                        <a:cs typeface="Lato" panose="020F0502020204030203" pitchFamily="34" charset="0"/>
                      </a:endParaRPr>
                    </a:p>
                  </a:txBody>
                  <a:tcPr marL="76200" marR="76200" marT="38100" marB="3810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a:lnSpc>
                          <a:spcPct val="115000"/>
                        </a:lnSpc>
                        <a:spcAft>
                          <a:spcPts val="800"/>
                        </a:spcAft>
                        <a:buNone/>
                      </a:pPr>
                      <a:r>
                        <a:rPr lang="en-US" sz="1100" kern="0">
                          <a:effectLst/>
                          <a:latin typeface="Arial" pitchFamily="34" charset="0"/>
                          <a:ea typeface="Lato" panose="020F0502020204030203" pitchFamily="34" charset="0"/>
                          <a:cs typeface="Lato" panose="020F0502020204030203" pitchFamily="34" charset="0"/>
                        </a:rPr>
                        <a:t>15%</a:t>
                      </a:r>
                      <a:endParaRPr lang="en-US" sz="11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a:lnSpc>
                          <a:spcPct val="115000"/>
                        </a:lnSpc>
                        <a:spcAft>
                          <a:spcPts val="800"/>
                        </a:spcAft>
                        <a:buNone/>
                      </a:pPr>
                      <a:r>
                        <a:rPr lang="en-US" sz="1100" b="1" kern="0">
                          <a:effectLst/>
                          <a:latin typeface="Arial" pitchFamily="34" charset="0"/>
                          <a:ea typeface="Lato" panose="020F0502020204030203" pitchFamily="34" charset="0"/>
                          <a:cs typeface="Lato" panose="020F0502020204030203" pitchFamily="34" charset="0"/>
                        </a:rPr>
                        <a:t>Evolve from efficiency optimization to predictive growth investment</a:t>
                      </a:r>
                      <a:endParaRPr lang="en-US" sz="11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a:lnSpc>
                          <a:spcPct val="115000"/>
                        </a:lnSpc>
                        <a:spcAft>
                          <a:spcPts val="800"/>
                        </a:spcAft>
                        <a:buNone/>
                      </a:pPr>
                      <a:r>
                        <a:rPr lang="en-US" sz="1100" b="1" kern="0">
                          <a:effectLst/>
                          <a:latin typeface="Arial" pitchFamily="34" charset="0"/>
                          <a:ea typeface="Lato" panose="020F0502020204030203" pitchFamily="34" charset="0"/>
                          <a:cs typeface="Lato" panose="020F0502020204030203" pitchFamily="34" charset="0"/>
                        </a:rPr>
                        <a:t>What: </a:t>
                      </a:r>
                      <a:r>
                        <a:rPr lang="en-US" sz="1100" b="0" kern="0">
                          <a:effectLst/>
                          <a:latin typeface="Arial" pitchFamily="34" charset="0"/>
                          <a:ea typeface="Lato" panose="020F0502020204030203" pitchFamily="34" charset="0"/>
                          <a:cs typeface="Lato" panose="020F0502020204030203" pitchFamily="34" charset="0"/>
                        </a:rPr>
                        <a:t>Shift from reactive efficiency to predictive investment allocation.</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How: </a:t>
                      </a:r>
                      <a:r>
                        <a:rPr lang="en-US" sz="1100" b="0" kern="0">
                          <a:effectLst/>
                          <a:latin typeface="Arial" pitchFamily="34" charset="0"/>
                          <a:ea typeface="Lato" panose="020F0502020204030203" pitchFamily="34" charset="0"/>
                          <a:cs typeface="Lato" panose="020F0502020204030203" pitchFamily="34" charset="0"/>
                        </a:rPr>
                        <a:t>Build predictive ROI models, dynamic budget allocation, leading‑indicator dashboards, and a test‑and‑scale framework.</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How much: </a:t>
                      </a:r>
                      <a:r>
                        <a:rPr lang="en-US" sz="1100" b="0" kern="0">
                          <a:effectLst/>
                          <a:latin typeface="Arial" pitchFamily="34" charset="0"/>
                          <a:ea typeface="Lato" panose="020F0502020204030203" pitchFamily="34" charset="0"/>
                          <a:cs typeface="Lato" panose="020F0502020204030203" pitchFamily="34" charset="0"/>
                        </a:rPr>
                        <a:t>90%+ pre‑launch ROI accuracy; time‑to‑scale 6 months→6 weeks; ≥20% budget for predictive/experimental bets.</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By when: </a:t>
                      </a:r>
                      <a:r>
                        <a:rPr lang="en-US" sz="1100" b="0" kern="0">
                          <a:effectLst/>
                          <a:latin typeface="Arial" pitchFamily="34" charset="0"/>
                          <a:ea typeface="Lato" panose="020F0502020204030203" pitchFamily="34" charset="0"/>
                          <a:cs typeface="Lato" panose="020F0502020204030203" pitchFamily="34" charset="0"/>
                        </a:rPr>
                        <a:t>31 Dec 2027.</a:t>
                      </a:r>
                      <a:endParaRPr lang="en-US" sz="1100" b="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3"/>
                  </a:ext>
                </a:extLst>
              </a:tr>
              <a:tr h="916243">
                <a:tc>
                  <a:txBody>
                    <a:bodyPr/>
                    <a:lstStyle/>
                    <a:p>
                      <a:pPr marL="0" marR="0" algn="r">
                        <a:lnSpc>
                          <a:spcPct val="115000"/>
                        </a:lnSpc>
                        <a:spcAft>
                          <a:spcPts val="0"/>
                        </a:spcAft>
                        <a:buNone/>
                      </a:pPr>
                      <a:r>
                        <a:rPr lang="en-US" sz="1100" b="1" kern="100">
                          <a:solidFill>
                            <a:srgbClr val="262626"/>
                          </a:solidFill>
                          <a:effectLst/>
                          <a:latin typeface="Arial" pitchFamily="34" charset="0"/>
                          <a:ea typeface="Lato" panose="020F0502020204030203" pitchFamily="34" charset="0"/>
                          <a:cs typeface="Lato" panose="020F0502020204030203" pitchFamily="34" charset="0"/>
                        </a:rPr>
                        <a:t>5</a:t>
                      </a:r>
                      <a:endParaRPr lang="en-US" sz="1100" b="1" kern="100">
                        <a:effectLst/>
                        <a:latin typeface="Arial" pitchFamily="34" charset="0"/>
                        <a:ea typeface="Lato" panose="020F0502020204030203" pitchFamily="34" charset="0"/>
                        <a:cs typeface="Lato" panose="020F0502020204030203" pitchFamily="34" charset="0"/>
                      </a:endParaRPr>
                    </a:p>
                  </a:txBody>
                  <a:tcPr marL="76200" marR="76200" marT="38100" marB="3810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a:lnSpc>
                          <a:spcPct val="115000"/>
                        </a:lnSpc>
                        <a:spcAft>
                          <a:spcPts val="800"/>
                        </a:spcAft>
                        <a:buNone/>
                      </a:pPr>
                      <a:r>
                        <a:rPr lang="en-US" sz="1100" kern="0">
                          <a:effectLst/>
                          <a:latin typeface="Arial" pitchFamily="34" charset="0"/>
                          <a:ea typeface="Lato" panose="020F0502020204030203" pitchFamily="34" charset="0"/>
                          <a:cs typeface="Lato" panose="020F0502020204030203" pitchFamily="34" charset="0"/>
                        </a:rPr>
                        <a:t>10%</a:t>
                      </a:r>
                      <a:endParaRPr lang="en-US" sz="11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a:lnSpc>
                          <a:spcPct val="115000"/>
                        </a:lnSpc>
                        <a:spcAft>
                          <a:spcPts val="800"/>
                        </a:spcAft>
                        <a:buNone/>
                      </a:pPr>
                      <a:r>
                        <a:rPr lang="en-US" sz="1100" b="1" kern="0">
                          <a:effectLst/>
                          <a:latin typeface="Arial" pitchFamily="34" charset="0"/>
                          <a:ea typeface="Lato" panose="020F0502020204030203" pitchFamily="34" charset="0"/>
                          <a:cs typeface="Lato" panose="020F0502020204030203" pitchFamily="34" charset="0"/>
                        </a:rPr>
                        <a:t>Transform marketing organization from execution engine to strategic growth partner</a:t>
                      </a:r>
                      <a:endParaRPr lang="en-US" sz="11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a:lnSpc>
                          <a:spcPct val="115000"/>
                        </a:lnSpc>
                        <a:spcAft>
                          <a:spcPts val="800"/>
                        </a:spcAft>
                        <a:buNone/>
                      </a:pPr>
                      <a:r>
                        <a:rPr lang="en-US" sz="1100" b="1" kern="0">
                          <a:effectLst/>
                          <a:latin typeface="Arial" pitchFamily="34" charset="0"/>
                          <a:ea typeface="Lato" panose="020F0502020204030203" pitchFamily="34" charset="0"/>
                          <a:cs typeface="Lato" panose="020F0502020204030203" pitchFamily="34" charset="0"/>
                        </a:rPr>
                        <a:t>What: </a:t>
                      </a:r>
                      <a:r>
                        <a:rPr lang="en-US" sz="1100" b="0" kern="0">
                          <a:effectLst/>
                          <a:latin typeface="Arial" pitchFamily="34" charset="0"/>
                          <a:ea typeface="Lato" panose="020F0502020204030203" pitchFamily="34" charset="0"/>
                          <a:cs typeface="Lato" panose="020F0502020204030203" pitchFamily="34" charset="0"/>
                        </a:rPr>
                        <a:t>Elevate marketing into the commercial voice shaping product, pricing, and expansion.</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How: </a:t>
                      </a:r>
                      <a:r>
                        <a:rPr lang="en-US" sz="1100" b="0" kern="0">
                          <a:effectLst/>
                          <a:latin typeface="Arial" pitchFamily="34" charset="0"/>
                          <a:ea typeface="Lato" panose="020F0502020204030203" pitchFamily="34" charset="0"/>
                          <a:cs typeface="Lato" panose="020F0502020204030203" pitchFamily="34" charset="0"/>
                        </a:rPr>
                        <a:t>Embed growth leaders in product/vertical teams, build hybrid talent, and deliver a single customer‑intelligence platform.</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How much: </a:t>
                      </a:r>
                      <a:r>
                        <a:rPr lang="en-US" sz="1100" b="0" kern="0">
                          <a:effectLst/>
                          <a:latin typeface="Arial" pitchFamily="34" charset="0"/>
                          <a:ea typeface="Lato" panose="020F0502020204030203" pitchFamily="34" charset="0"/>
                          <a:cs typeface="Lato" panose="020F0502020204030203" pitchFamily="34" charset="0"/>
                        </a:rPr>
                        <a:t>Marketing drives 30%+ of roadmap decisions; growth leaders as GM/country succession; single source of customer truth.</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By when: </a:t>
                      </a:r>
                      <a:r>
                        <a:rPr lang="en-US" sz="1100" b="0" kern="0">
                          <a:effectLst/>
                          <a:latin typeface="Arial" pitchFamily="34" charset="0"/>
                          <a:ea typeface="Lato" panose="020F0502020204030203" pitchFamily="34" charset="0"/>
                          <a:cs typeface="Lato" panose="020F0502020204030203" pitchFamily="34" charset="0"/>
                        </a:rPr>
                        <a:t>31 Dec 2028.</a:t>
                      </a:r>
                      <a:endParaRPr lang="en-US" sz="1100" b="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134028770"/>
                  </a:ext>
                </a:extLst>
              </a:tr>
            </a:tbl>
          </a:graphicData>
        </a:graphic>
      </p:graphicFrame>
      <p:sp>
        <p:nvSpPr>
          <p:cNvPr id="4"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62</a:t>
            </a:fld>
            <a:endParaRPr lang="en-US"/>
          </a:p>
        </p:txBody>
      </p:sp>
    </p:spTree>
    <p:extLst>
      <p:ext uri="{BB962C8B-B14F-4D97-AF65-F5344CB8AC3E}">
        <p14:creationId xmlns:p14="http://schemas.microsoft.com/office/powerpoint/2010/main" val="4287387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Theme">
      <a:dk1>
        <a:srgbClr val="1D1D1D"/>
      </a:dk1>
      <a:lt1>
        <a:srgbClr val="FFFFFF"/>
      </a:lt1>
      <a:dk2>
        <a:srgbClr val="3B3B3B"/>
      </a:dk2>
      <a:lt2>
        <a:srgbClr val="D0D7DF"/>
      </a:lt2>
      <a:accent1>
        <a:srgbClr val="765FFF"/>
      </a:accent1>
      <a:accent2>
        <a:srgbClr val="917FFF"/>
      </a:accent2>
      <a:accent3>
        <a:srgbClr val="A6F5C0"/>
      </a:accent3>
      <a:accent4>
        <a:srgbClr val="DFF478"/>
      </a:accent4>
      <a:accent5>
        <a:srgbClr val="00C27A"/>
      </a:accent5>
      <a:accent6>
        <a:srgbClr val="E9E4FE"/>
      </a:accent6>
      <a:hlink>
        <a:srgbClr val="765FFF"/>
      </a:hlink>
      <a:folHlink>
        <a:srgbClr val="917FFF"/>
      </a:folHlink>
    </a:clrScheme>
    <a:fontScheme name="Office Theme">
      <a:majorFont>
        <a:latin typeface="Segoe UI" pitchFamily="34" charset="0"/>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itchFamily="34" charset="0"/>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b7ac9185-b476-410f-8076-92aa6965d11d" xsi:nil="true"/>
    <lcf76f155ced4ddcb4097134ff3c332f xmlns="ae803a8c-9ae1-4bc9-b273-db81f102e4a6">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DFF207E42505149B05006F1D01AA25E" ma:contentTypeVersion="12" ma:contentTypeDescription="Create a new document." ma:contentTypeScope="" ma:versionID="1017fc5c6204c629ddad60a4245efdc4">
  <xsd:schema xmlns:xsd="http://www.w3.org/2001/XMLSchema" xmlns:xs="http://www.w3.org/2001/XMLSchema" xmlns:p="http://schemas.microsoft.com/office/2006/metadata/properties" xmlns:ns2="ae803a8c-9ae1-4bc9-b273-db81f102e4a6" xmlns:ns3="b7ac9185-b476-410f-8076-92aa6965d11d" targetNamespace="http://schemas.microsoft.com/office/2006/metadata/properties" ma:root="true" ma:fieldsID="cb7fa72b44c64427d2fda51f33a90fb4" ns2:_="" ns3:_="">
    <xsd:import namespace="ae803a8c-9ae1-4bc9-b273-db81f102e4a6"/>
    <xsd:import namespace="b7ac9185-b476-410f-8076-92aa6965d11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803a8c-9ae1-4bc9-b273-db81f102e4a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ce777b1b-314e-4559-8ee3-bc85f5a6b9bc"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7ac9185-b476-410f-8076-92aa6965d11d"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3ff57b5f-949d-484a-a6e4-feee9032721e}" ma:internalName="TaxCatchAll" ma:showField="CatchAllData" ma:web="b7ac9185-b476-410f-8076-92aa6965d11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D8BAE66-A1D1-4C93-936A-1E242AAF5ABA}">
  <ds:schemaRefs>
    <ds:schemaRef ds:uri="http://schemas.microsoft.com/sharepoint/v3/contenttype/forms"/>
  </ds:schemaRefs>
</ds:datastoreItem>
</file>

<file path=customXml/itemProps2.xml><?xml version="1.0" encoding="utf-8"?>
<ds:datastoreItem xmlns:ds="http://schemas.openxmlformats.org/officeDocument/2006/customXml" ds:itemID="{63E89E6A-2009-4FD6-9B17-C81D73259F54}">
  <ds:schemaRefs>
    <ds:schemaRef ds:uri="http://purl.org/dc/terms/"/>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www.w3.org/XML/1998/namespace"/>
    <ds:schemaRef ds:uri="ae803a8c-9ae1-4bc9-b273-db81f102e4a6"/>
    <ds:schemaRef ds:uri="http://schemas.openxmlformats.org/package/2006/metadata/core-properties"/>
    <ds:schemaRef ds:uri="b7ac9185-b476-410f-8076-92aa6965d11d"/>
  </ds:schemaRefs>
</ds:datastoreItem>
</file>

<file path=customXml/itemProps3.xml><?xml version="1.0" encoding="utf-8"?>
<ds:datastoreItem xmlns:ds="http://schemas.openxmlformats.org/officeDocument/2006/customXml" ds:itemID="{92CC5FB7-9D46-4F01-B7FD-F463D031643E}">
  <ds:schemaRefs>
    <ds:schemaRef ds:uri="ae803a8c-9ae1-4bc9-b273-db81f102e4a6"/>
    <ds:schemaRef ds:uri="b7ac9185-b476-410f-8076-92aa6965d11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144</TotalTime>
  <Words>7422</Words>
  <Application>Microsoft Macintosh PowerPoint</Application>
  <PresentationFormat>Widescreen</PresentationFormat>
  <Paragraphs>1150</Paragraphs>
  <Slides>63</Slides>
  <Notes>44</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63</vt:i4>
      </vt:variant>
    </vt:vector>
  </HeadingPairs>
  <TitlesOfParts>
    <vt:vector size="74" baseType="lpstr">
      <vt:lpstr>Abadi</vt:lpstr>
      <vt:lpstr>Aptos</vt:lpstr>
      <vt:lpstr>Arial</vt:lpstr>
      <vt:lpstr>Calibri</vt:lpstr>
      <vt:lpstr>Helvetica Neue</vt:lpstr>
      <vt:lpstr>Lato</vt:lpstr>
      <vt:lpstr>Lato Light</vt:lpstr>
      <vt:lpstr>Segoe UI</vt:lpstr>
      <vt:lpstr>Wingdings</vt:lpstr>
      <vt:lpstr>Office Theme</vt:lpstr>
      <vt:lpstr>think-cell Slide</vt:lpstr>
      <vt:lpstr>Succession to Value™ Dubai, January 2026</vt:lpstr>
      <vt:lpstr>Succession to Value™ learning objectives</vt:lpstr>
      <vt:lpstr>Agenda</vt:lpstr>
      <vt:lpstr>The business case for Talent to Value™</vt:lpstr>
      <vt:lpstr>PowerPoint Presentation</vt:lpstr>
      <vt:lpstr>Succession to Value™</vt:lpstr>
      <vt:lpstr>Succession to Value™ pivots</vt:lpstr>
      <vt:lpstr>Succession to Value™</vt:lpstr>
      <vt:lpstr>PowerPoint Presentation</vt:lpstr>
      <vt:lpstr>Succession to Value™ methodology</vt:lpstr>
      <vt:lpstr>PowerPoint Presentation</vt:lpstr>
      <vt:lpstr>Succession to Value™ methodology</vt:lpstr>
      <vt:lpstr>Job descriptions vs Jobs to be Done</vt:lpstr>
      <vt:lpstr>Building future Jobs to be Done</vt:lpstr>
      <vt:lpstr>Future-focused jobs to be done</vt:lpstr>
      <vt:lpstr>Example - future jobs to be done</vt:lpstr>
      <vt:lpstr>Example – what does good look like</vt:lpstr>
      <vt:lpstr>Example – what does good look like</vt:lpstr>
      <vt:lpstr>PowerPoint Presentation</vt:lpstr>
      <vt:lpstr>Case study – future jobs to be done VP of digital marketing &amp; growth</vt:lpstr>
      <vt:lpstr>Jobs to be done summary</vt:lpstr>
      <vt:lpstr>Work, role, talent risks</vt:lpstr>
      <vt:lpstr>Execution risks</vt:lpstr>
      <vt:lpstr>Superpowers</vt:lpstr>
      <vt:lpstr>Superpowers</vt:lpstr>
      <vt:lpstr>Identifying impactful superpowers</vt:lpstr>
      <vt:lpstr>Example – risk assessment and superpowers</vt:lpstr>
      <vt:lpstr>PowerPoint Presentation</vt:lpstr>
      <vt:lpstr>PowerPoint Presentation</vt:lpstr>
      <vt:lpstr>Risk assessment and superpowers VP of digital marketing &amp; growth</vt:lpstr>
      <vt:lpstr>Risk assessment and superpowers</vt:lpstr>
      <vt:lpstr>Answer key - risk assessment and superpowers</vt:lpstr>
      <vt:lpstr>PowerPoint Presentation</vt:lpstr>
      <vt:lpstr>Succession to Value™ methodology</vt:lpstr>
      <vt:lpstr>Talent risks</vt:lpstr>
      <vt:lpstr>Beyond opinion to identify successors</vt:lpstr>
      <vt:lpstr>PowerPoint Presentation</vt:lpstr>
      <vt:lpstr>PowerPoint Presentation</vt:lpstr>
      <vt:lpstr>PowerPoint Presentation</vt:lpstr>
      <vt:lpstr>PowerPoint Presentation</vt:lpstr>
      <vt:lpstr>PowerPoint Presentation</vt:lpstr>
      <vt:lpstr>PowerPoint Presentation</vt:lpstr>
      <vt:lpstr>Assess succession readiness example</vt:lpstr>
      <vt:lpstr>PowerPoint Presentation</vt:lpstr>
      <vt:lpstr>Creating a succession pipeline</vt:lpstr>
      <vt:lpstr>Successor slate</vt:lpstr>
      <vt:lpstr>/ASSESS SUMMARY</vt:lpstr>
      <vt:lpstr>PowerPoint Presentation</vt:lpstr>
      <vt:lpstr>Succession to value™ methodology</vt:lpstr>
      <vt:lpstr>Closing the gap</vt:lpstr>
      <vt:lpstr>Succession interventions: closing the gap</vt:lpstr>
      <vt:lpstr>Example - development plan</vt:lpstr>
      <vt:lpstr>Driving the role to deliver the value</vt:lpstr>
      <vt:lpstr>Activity: succession development plan</vt:lpstr>
      <vt:lpstr>Assess succession readiness example</vt:lpstr>
      <vt:lpstr>Assess succession readiness example</vt:lpstr>
      <vt:lpstr>Development plan</vt:lpstr>
      <vt:lpstr>Development plan - answer key</vt:lpstr>
      <vt:lpstr>PowerPoint Presentation</vt:lpstr>
      <vt:lpstr>Summary &amp; what’s next?</vt:lpstr>
      <vt:lpstr>Feedback survey</vt:lpstr>
      <vt:lpstr>PowerPoint Presentation</vt:lpstr>
      <vt:lpstr>/answer key – jtbd VP of digital marketing &amp; growth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Ming Yang</dc:creator>
  <cp:lastModifiedBy>Zoe Ervolino</cp:lastModifiedBy>
  <cp:revision>6</cp:revision>
  <dcterms:created xsi:type="dcterms:W3CDTF">2025-06-30T15:34:40Z</dcterms:created>
  <dcterms:modified xsi:type="dcterms:W3CDTF">2026-03-24T14:07:50Z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0x010100FDFF207E42505149B05006F1D01AA25E</vt:lpwstr>
  </property>
  <property fmtid="{D5CDD505-2E9C-101B-9397-08002B2CF9AE}" pid="3" name="MediaServiceImageTags">
    <vt:lpwstr/>
  </property>
</Properties>
</file>