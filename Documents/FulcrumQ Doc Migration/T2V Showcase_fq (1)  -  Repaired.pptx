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4.xml" ContentType="application/vnd.openxmlformats-officedocument.presentationml.tags+xml"/>
  <Override PartName="/ppt/notesSlides/notesSlide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7"/>
  </p:notesMasterIdLst>
  <p:sldIdLst>
    <p:sldId id="362" r:id="rId5"/>
    <p:sldId id="2147482613" r:id="rId6"/>
    <p:sldId id="316" r:id="rId7"/>
    <p:sldId id="317" r:id="rId8"/>
    <p:sldId id="2147482595" r:id="rId9"/>
    <p:sldId id="2147483635" r:id="rId10"/>
    <p:sldId id="375" r:id="rId11"/>
    <p:sldId id="2147483647" r:id="rId12"/>
    <p:sldId id="263" r:id="rId13"/>
    <p:sldId id="264" r:id="rId14"/>
    <p:sldId id="2147483644" r:id="rId15"/>
    <p:sldId id="2147483640" r:id="rId16"/>
    <p:sldId id="2147483539" r:id="rId17"/>
    <p:sldId id="2147483610" r:id="rId18"/>
    <p:sldId id="2147483611" r:id="rId19"/>
    <p:sldId id="2147483645" r:id="rId20"/>
    <p:sldId id="2147483612" r:id="rId21"/>
    <p:sldId id="2147483533" r:id="rId22"/>
    <p:sldId id="2147483646" r:id="rId23"/>
    <p:sldId id="378" r:id="rId24"/>
    <p:sldId id="2147483642" r:id="rId25"/>
    <p:sldId id="2147483643" r:id="rId26"/>
    <p:sldId id="2147483639" r:id="rId27"/>
    <p:sldId id="2147483641" r:id="rId28"/>
    <p:sldId id="259" r:id="rId29"/>
    <p:sldId id="261" r:id="rId30"/>
    <p:sldId id="258" r:id="rId31"/>
    <p:sldId id="260" r:id="rId32"/>
    <p:sldId id="296" r:id="rId33"/>
    <p:sldId id="262" r:id="rId34"/>
    <p:sldId id="265" r:id="rId35"/>
    <p:sldId id="256" r:id="rId36"/>
    <p:sldId id="266" r:id="rId37"/>
    <p:sldId id="267" r:id="rId38"/>
    <p:sldId id="269" r:id="rId39"/>
    <p:sldId id="372" r:id="rId40"/>
    <p:sldId id="268" r:id="rId41"/>
    <p:sldId id="257" r:id="rId42"/>
    <p:sldId id="2147483636" r:id="rId43"/>
    <p:sldId id="2147483637" r:id="rId44"/>
    <p:sldId id="2147483638" r:id="rId45"/>
    <p:sldId id="2147482635" r:id="rId46"/>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93A6083-62F2-4742-B38E-62558A84E312}">
          <p14:sldIdLst>
            <p14:sldId id="362"/>
            <p14:sldId id="2147482613"/>
            <p14:sldId id="316"/>
            <p14:sldId id="317"/>
            <p14:sldId id="2147482595"/>
            <p14:sldId id="2147483635"/>
            <p14:sldId id="375"/>
            <p14:sldId id="2147483647"/>
            <p14:sldId id="263"/>
            <p14:sldId id="264"/>
            <p14:sldId id="2147483644"/>
            <p14:sldId id="2147483640"/>
            <p14:sldId id="2147483539"/>
            <p14:sldId id="2147483610"/>
            <p14:sldId id="2147483611"/>
            <p14:sldId id="2147483645"/>
            <p14:sldId id="2147483612"/>
            <p14:sldId id="2147483533"/>
            <p14:sldId id="2147483646"/>
            <p14:sldId id="378"/>
            <p14:sldId id="2147483642"/>
            <p14:sldId id="2147483643"/>
            <p14:sldId id="2147483639"/>
            <p14:sldId id="2147483641"/>
            <p14:sldId id="259"/>
            <p14:sldId id="261"/>
            <p14:sldId id="258"/>
            <p14:sldId id="260"/>
            <p14:sldId id="296"/>
            <p14:sldId id="262"/>
            <p14:sldId id="265"/>
            <p14:sldId id="256"/>
            <p14:sldId id="266"/>
            <p14:sldId id="267"/>
            <p14:sldId id="269"/>
            <p14:sldId id="372"/>
            <p14:sldId id="268"/>
            <p14:sldId id="257"/>
            <p14:sldId id="2147483636"/>
            <p14:sldId id="2147483637"/>
            <p14:sldId id="2147483638"/>
            <p14:sldId id="214748263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1AED0F-E9CB-62E8-6E8F-91AE199B2055}" name="Mitul Brahmbhatt" initials="MB" userId="S::Mitul@ceoworks.com::a68ce095-0de8-43ca-9310-e70c30e51a70" providerId="AD"/>
  <p188:author id="{DA97DC2D-6585-9CB1-D5C7-F6F604017F9C}" name="Vandana Vaidyanathan" initials="VV" userId="S::vandana@ceoworks.com::e3685212-c72d-4c70-ba6c-c9d6625986a8" providerId="AD"/>
  <p188:author id="{882E5139-7F59-4FF3-1519-A6F860DBA01A}" name="Alex Kopitsas" initials="" userId="S::Alex@ceoworks.com::e70bdcd6-d5ce-4b8f-8c37-c6b6d6ceead3" providerId="AD"/>
  <p188:author id="{F25325AE-EB85-6CE7-4E2F-C266DB8ED5D0}" name="Shefali Salwan" initials="SS" userId="S::shefali@ceoworks.com::e4b2a792-48cd-4872-9320-a638c5a8db0f" providerId="AD"/>
  <p188:author id="{9E3946C5-6EF1-1124-16E8-74CA762980E0}" name="Tim Burns" initials="TB" userId="S::tim@ceoworks.com::79fe5273-370b-40db-94f0-6fb0b344a738" providerId="AD"/>
  <p188:author id="{A1EFD2DB-0424-D3AF-6732-90D4546F0AA3}" name="Prateek Sinha" initials="PS" userId="S::prateek@ceoworks.com::c66a1130-a33f-4c6d-a198-f0787721f69a" providerId="AD"/>
  <p188:author id="{547B06F2-4ECC-038C-6D60-EE0E60C8F512}" name="Vandana Vaidyanathan" initials="" userId="S::Vandana@ceoworks.com::e3685212-c72d-4c70-ba6c-c9d6625986a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1D96"/>
    <a:srgbClr val="808080"/>
    <a:srgbClr val="000000"/>
    <a:srgbClr val="33CED9"/>
    <a:srgbClr val="FFB7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1E0329-ACFC-41E4-99A9-32D1658A0C0F}" v="220" dt="2025-05-20T10:01:58.436"/>
    <p1510:client id="{F131F1F5-63B0-497B-967F-8B7C0813B7A1}" v="164" dt="2025-05-19T14:43:12.4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32"/>
    <p:restoredTop sz="94684"/>
  </p:normalViewPr>
  <p:slideViewPr>
    <p:cSldViewPr snapToGrid="0">
      <p:cViewPr varScale="1">
        <p:scale>
          <a:sx n="104" d="100"/>
          <a:sy n="104" d="100"/>
        </p:scale>
        <p:origin x="728" y="496"/>
      </p:cViewPr>
      <p:guideLst/>
    </p:cSldViewPr>
  </p:slideViewPr>
  <p:notesTextViewPr>
    <p:cViewPr>
      <p:scale>
        <a:sx n="1" d="1"/>
        <a:sy n="1" d="1"/>
      </p:scale>
      <p:origin x="0" y="0"/>
    </p:cViewPr>
  </p:notesTextViewPr>
  <p:sorterViewPr>
    <p:cViewPr>
      <p:scale>
        <a:sx n="90" d="100"/>
        <a:sy n="90" d="100"/>
      </p:scale>
      <p:origin x="0" y="-776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00C27A"/>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A060-4CFA-9D02-3BEB10A3CB8E}"/>
              </c:ext>
            </c:extLst>
          </c:dPt>
          <c:dPt>
            <c:idx val="1"/>
            <c:invertIfNegative val="0"/>
            <c:bubble3D val="0"/>
            <c:spPr>
              <a:solidFill>
                <a:srgbClr val="FFB547"/>
              </a:solidFill>
              <a:ln>
                <a:noFill/>
              </a:ln>
              <a:effectLst/>
            </c:spPr>
            <c:extLst>
              <c:ext xmlns:c16="http://schemas.microsoft.com/office/drawing/2014/chart" uri="{C3380CC4-5D6E-409C-BE32-E72D297353CC}">
                <c16:uniqueId val="{00000003-A060-4CFA-9D02-3BEB10A3CB8E}"/>
              </c:ext>
            </c:extLst>
          </c:dPt>
          <c:dPt>
            <c:idx val="2"/>
            <c:invertIfNegative val="0"/>
            <c:bubble3D val="0"/>
            <c:spPr>
              <a:solidFill>
                <a:srgbClr val="281A42"/>
              </a:solidFill>
              <a:ln>
                <a:noFill/>
              </a:ln>
              <a:effectLst/>
            </c:spPr>
            <c:extLst>
              <c:ext xmlns:c16="http://schemas.microsoft.com/office/drawing/2014/chart" uri="{C3380CC4-5D6E-409C-BE32-E72D297353CC}">
                <c16:uniqueId val="{00000005-A060-4CFA-9D02-3BEB10A3CB8E}"/>
              </c:ext>
            </c:extLst>
          </c:dPt>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Lato" panose="020F0502020204030203" pitchFamily="34" charset="77"/>
                    <a:ea typeface="+mn-ea"/>
                    <a:cs typeface="+mn-cs"/>
                  </a:defRPr>
                </a:pPr>
                <a:endParaRPr lang="LID4096"/>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Talent</c:v>
                </c:pt>
                <c:pt idx="1">
                  <c:v>Role</c:v>
                </c:pt>
                <c:pt idx="2">
                  <c:v>Work</c:v>
                </c:pt>
              </c:strCache>
            </c:strRef>
          </c:cat>
          <c:val>
            <c:numRef>
              <c:f>Sheet1!$B$2:$B$4</c:f>
              <c:numCache>
                <c:formatCode>General</c:formatCode>
                <c:ptCount val="3"/>
                <c:pt idx="0">
                  <c:v>65</c:v>
                </c:pt>
                <c:pt idx="1">
                  <c:v>55</c:v>
                </c:pt>
                <c:pt idx="2">
                  <c:v>45</c:v>
                </c:pt>
              </c:numCache>
            </c:numRef>
          </c:val>
          <c:extLst>
            <c:ext xmlns:c16="http://schemas.microsoft.com/office/drawing/2014/chart" uri="{C3380CC4-5D6E-409C-BE32-E72D297353CC}">
              <c16:uniqueId val="{00000006-A060-4CFA-9D02-3BEB10A3CB8E}"/>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Sheet1!$A$2:$A$4</c:f>
              <c:strCache>
                <c:ptCount val="3"/>
                <c:pt idx="0">
                  <c:v>Talent</c:v>
                </c:pt>
                <c:pt idx="1">
                  <c:v>Role</c:v>
                </c:pt>
                <c:pt idx="2">
                  <c:v>Work</c:v>
                </c:pt>
              </c:strCache>
            </c:strRef>
          </c:cat>
          <c:val>
            <c:numRef>
              <c:f>Sheet1!$C$2:$C$4</c:f>
              <c:numCache>
                <c:formatCode>General</c:formatCode>
                <c:ptCount val="3"/>
                <c:pt idx="0">
                  <c:v>35</c:v>
                </c:pt>
                <c:pt idx="1">
                  <c:v>45</c:v>
                </c:pt>
                <c:pt idx="2">
                  <c:v>55</c:v>
                </c:pt>
              </c:numCache>
            </c:numRef>
          </c:val>
          <c:extLst>
            <c:ext xmlns:c16="http://schemas.microsoft.com/office/drawing/2014/chart" uri="{C3380CC4-5D6E-409C-BE32-E72D297353CC}">
              <c16:uniqueId val="{00000007-A060-4CFA-9D02-3BEB10A3CB8E}"/>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00C27A"/>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F243-4A05-B5A0-FB6549B6313A}"/>
              </c:ext>
            </c:extLst>
          </c:dPt>
          <c:dPt>
            <c:idx val="1"/>
            <c:invertIfNegative val="0"/>
            <c:bubble3D val="0"/>
            <c:spPr>
              <a:solidFill>
                <a:srgbClr val="FFB547"/>
              </a:solidFill>
              <a:ln>
                <a:noFill/>
              </a:ln>
              <a:effectLst/>
            </c:spPr>
            <c:extLst>
              <c:ext xmlns:c16="http://schemas.microsoft.com/office/drawing/2014/chart" uri="{C3380CC4-5D6E-409C-BE32-E72D297353CC}">
                <c16:uniqueId val="{00000003-F243-4A05-B5A0-FB6549B6313A}"/>
              </c:ext>
            </c:extLst>
          </c:dPt>
          <c:dPt>
            <c:idx val="2"/>
            <c:invertIfNegative val="0"/>
            <c:bubble3D val="0"/>
            <c:spPr>
              <a:solidFill>
                <a:srgbClr val="281A42"/>
              </a:solidFill>
              <a:ln>
                <a:noFill/>
              </a:ln>
              <a:effectLst/>
            </c:spPr>
            <c:extLst>
              <c:ext xmlns:c16="http://schemas.microsoft.com/office/drawing/2014/chart" uri="{C3380CC4-5D6E-409C-BE32-E72D297353CC}">
                <c16:uniqueId val="{00000005-F243-4A05-B5A0-FB6549B6313A}"/>
              </c:ext>
            </c:extLst>
          </c:dPt>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Lato" panose="020F0502020204030203" pitchFamily="34" charset="77"/>
                    <a:ea typeface="+mn-ea"/>
                    <a:cs typeface="+mn-cs"/>
                  </a:defRPr>
                </a:pPr>
                <a:endParaRPr lang="LID4096"/>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Talent</c:v>
                </c:pt>
                <c:pt idx="1">
                  <c:v>Role</c:v>
                </c:pt>
                <c:pt idx="2">
                  <c:v>Work</c:v>
                </c:pt>
              </c:strCache>
            </c:strRef>
          </c:cat>
          <c:val>
            <c:numRef>
              <c:f>Sheet1!$B$2:$B$4</c:f>
              <c:numCache>
                <c:formatCode>General</c:formatCode>
                <c:ptCount val="3"/>
                <c:pt idx="0">
                  <c:v>65</c:v>
                </c:pt>
                <c:pt idx="1">
                  <c:v>55</c:v>
                </c:pt>
                <c:pt idx="2">
                  <c:v>45</c:v>
                </c:pt>
              </c:numCache>
            </c:numRef>
          </c:val>
          <c:extLst>
            <c:ext xmlns:c16="http://schemas.microsoft.com/office/drawing/2014/chart" uri="{C3380CC4-5D6E-409C-BE32-E72D297353CC}">
              <c16:uniqueId val="{00000006-F243-4A05-B5A0-FB6549B6313A}"/>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Sheet1!$A$2:$A$4</c:f>
              <c:strCache>
                <c:ptCount val="3"/>
                <c:pt idx="0">
                  <c:v>Talent</c:v>
                </c:pt>
                <c:pt idx="1">
                  <c:v>Role</c:v>
                </c:pt>
                <c:pt idx="2">
                  <c:v>Work</c:v>
                </c:pt>
              </c:strCache>
            </c:strRef>
          </c:cat>
          <c:val>
            <c:numRef>
              <c:f>Sheet1!$C$2:$C$4</c:f>
              <c:numCache>
                <c:formatCode>General</c:formatCode>
                <c:ptCount val="3"/>
                <c:pt idx="0">
                  <c:v>30</c:v>
                </c:pt>
                <c:pt idx="1">
                  <c:v>45</c:v>
                </c:pt>
                <c:pt idx="2">
                  <c:v>55</c:v>
                </c:pt>
              </c:numCache>
            </c:numRef>
          </c:val>
          <c:extLst>
            <c:ext xmlns:c16="http://schemas.microsoft.com/office/drawing/2014/chart" uri="{C3380CC4-5D6E-409C-BE32-E72D297353CC}">
              <c16:uniqueId val="{00000007-F243-4A05-B5A0-FB6549B6313A}"/>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FFB547"/>
              </a:solidFill>
              <a:ln>
                <a:noFill/>
              </a:ln>
              <a:effectLst/>
            </c:spPr>
            <c:extLst>
              <c:ext xmlns:c16="http://schemas.microsoft.com/office/drawing/2014/chart" uri="{C3380CC4-5D6E-409C-BE32-E72D297353CC}">
                <c16:uniqueId val="{00000001-5715-42BC-85A9-A7E9264B4F38}"/>
              </c:ext>
            </c:extLst>
          </c:dPt>
          <c:dPt>
            <c:idx val="1"/>
            <c:invertIfNegative val="0"/>
            <c:bubble3D val="0"/>
            <c:spPr>
              <a:solidFill>
                <a:srgbClr val="281A42"/>
              </a:solidFill>
              <a:ln>
                <a:noFill/>
              </a:ln>
              <a:effectLst/>
            </c:spPr>
            <c:extLst>
              <c:ext xmlns:c16="http://schemas.microsoft.com/office/drawing/2014/chart" uri="{C3380CC4-5D6E-409C-BE32-E72D297353CC}">
                <c16:uniqueId val="{00000003-5715-42BC-85A9-A7E9264B4F38}"/>
              </c:ext>
            </c:extLst>
          </c:dPt>
          <c:dPt>
            <c:idx val="2"/>
            <c:invertIfNegative val="0"/>
            <c:bubble3D val="0"/>
            <c:spPr>
              <a:solidFill>
                <a:srgbClr val="FFB547"/>
              </a:solidFill>
              <a:ln>
                <a:noFill/>
              </a:ln>
              <a:effectLst/>
            </c:spPr>
            <c:extLst>
              <c:ext xmlns:c16="http://schemas.microsoft.com/office/drawing/2014/chart" uri="{C3380CC4-5D6E-409C-BE32-E72D297353CC}">
                <c16:uniqueId val="{00000005-5715-42BC-85A9-A7E9264B4F38}"/>
              </c:ext>
            </c:extLst>
          </c:dPt>
          <c:dPt>
            <c:idx val="3"/>
            <c:invertIfNegative val="0"/>
            <c:bubble3D val="0"/>
            <c:spPr>
              <a:solidFill>
                <a:srgbClr val="281A42"/>
              </a:solidFill>
              <a:ln>
                <a:noFill/>
              </a:ln>
              <a:effectLst/>
            </c:spPr>
            <c:extLst>
              <c:ext xmlns:c16="http://schemas.microsoft.com/office/drawing/2014/chart" uri="{C3380CC4-5D6E-409C-BE32-E72D297353CC}">
                <c16:uniqueId val="{00000007-5715-42BC-85A9-A7E9264B4F38}"/>
              </c:ext>
            </c:extLst>
          </c:dPt>
          <c:cat>
            <c:strRef>
              <c:f>Sheet1!$A$2:$A$5</c:f>
              <c:strCache>
                <c:ptCount val="4"/>
                <c:pt idx="0">
                  <c:v>Competitive Intentsity</c:v>
                </c:pt>
                <c:pt idx="1">
                  <c:v>New work</c:v>
                </c:pt>
                <c:pt idx="2">
                  <c:v>Complexity</c:v>
                </c:pt>
                <c:pt idx="3">
                  <c:v>Alignment</c:v>
                </c:pt>
              </c:strCache>
            </c:strRef>
          </c:cat>
          <c:val>
            <c:numRef>
              <c:f>Sheet1!$B$2:$B$5</c:f>
              <c:numCache>
                <c:formatCode>General</c:formatCode>
                <c:ptCount val="4"/>
                <c:pt idx="0">
                  <c:v>55</c:v>
                </c:pt>
                <c:pt idx="1">
                  <c:v>30</c:v>
                </c:pt>
                <c:pt idx="2">
                  <c:v>55</c:v>
                </c:pt>
                <c:pt idx="3">
                  <c:v>40</c:v>
                </c:pt>
              </c:numCache>
            </c:numRef>
          </c:val>
          <c:extLst>
            <c:ext xmlns:c16="http://schemas.microsoft.com/office/drawing/2014/chart" uri="{C3380CC4-5D6E-409C-BE32-E72D297353CC}">
              <c16:uniqueId val="{00000008-5715-42BC-85A9-A7E9264B4F38}"/>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Competitive Intentsity</c:v>
                </c:pt>
                <c:pt idx="1">
                  <c:v>New work</c:v>
                </c:pt>
                <c:pt idx="2">
                  <c:v>Complexity</c:v>
                </c:pt>
                <c:pt idx="3">
                  <c:v>Alignment</c:v>
                </c:pt>
              </c:strCache>
            </c:strRef>
          </c:cat>
          <c:val>
            <c:numRef>
              <c:f>Sheet1!$C$2:$C$5</c:f>
              <c:numCache>
                <c:formatCode>General</c:formatCode>
                <c:ptCount val="4"/>
                <c:pt idx="0">
                  <c:v>45</c:v>
                </c:pt>
                <c:pt idx="1">
                  <c:v>70</c:v>
                </c:pt>
                <c:pt idx="2">
                  <c:v>45</c:v>
                </c:pt>
                <c:pt idx="3">
                  <c:v>60</c:v>
                </c:pt>
              </c:numCache>
            </c:numRef>
          </c:val>
          <c:extLst>
            <c:ext xmlns:c16="http://schemas.microsoft.com/office/drawing/2014/chart" uri="{C3380CC4-5D6E-409C-BE32-E72D297353CC}">
              <c16:uniqueId val="{00000009-5715-42BC-85A9-A7E9264B4F38}"/>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00C27A"/>
              </a:solidFill>
              <a:ln>
                <a:noFill/>
              </a:ln>
              <a:effectLst/>
            </c:spPr>
            <c:extLst>
              <c:ext xmlns:c16="http://schemas.microsoft.com/office/drawing/2014/chart" uri="{C3380CC4-5D6E-409C-BE32-E72D297353CC}">
                <c16:uniqueId val="{00000001-1363-4EBA-9847-AEBA21E097E9}"/>
              </c:ext>
            </c:extLst>
          </c:dPt>
          <c:dPt>
            <c:idx val="1"/>
            <c:invertIfNegative val="0"/>
            <c:bubble3D val="0"/>
            <c:spPr>
              <a:solidFill>
                <a:srgbClr val="281A42"/>
              </a:solidFill>
              <a:ln>
                <a:noFill/>
              </a:ln>
              <a:effectLst/>
            </c:spPr>
            <c:extLst>
              <c:ext xmlns:c16="http://schemas.microsoft.com/office/drawing/2014/chart" uri="{C3380CC4-5D6E-409C-BE32-E72D297353CC}">
                <c16:uniqueId val="{00000003-1363-4EBA-9847-AEBA21E097E9}"/>
              </c:ext>
            </c:extLst>
          </c:dPt>
          <c:dPt>
            <c:idx val="2"/>
            <c:invertIfNegative val="0"/>
            <c:bubble3D val="0"/>
            <c:spPr>
              <a:solidFill>
                <a:srgbClr val="281A42"/>
              </a:solidFill>
              <a:ln>
                <a:noFill/>
              </a:ln>
              <a:effectLst/>
            </c:spPr>
            <c:extLst>
              <c:ext xmlns:c16="http://schemas.microsoft.com/office/drawing/2014/chart" uri="{C3380CC4-5D6E-409C-BE32-E72D297353CC}">
                <c16:uniqueId val="{00000005-1363-4EBA-9847-AEBA21E097E9}"/>
              </c:ext>
            </c:extLst>
          </c:dPt>
          <c:dPt>
            <c:idx val="3"/>
            <c:invertIfNegative val="0"/>
            <c:bubble3D val="0"/>
            <c:spPr>
              <a:solidFill>
                <a:srgbClr val="FFB547"/>
              </a:solidFill>
              <a:ln>
                <a:noFill/>
              </a:ln>
              <a:effectLst/>
            </c:spPr>
            <c:extLst>
              <c:ext xmlns:c16="http://schemas.microsoft.com/office/drawing/2014/chart" uri="{C3380CC4-5D6E-409C-BE32-E72D297353CC}">
                <c16:uniqueId val="{00000007-1363-4EBA-9847-AEBA21E097E9}"/>
              </c:ext>
            </c:extLst>
          </c:dPt>
          <c:cat>
            <c:strRef>
              <c:f>Sheet1!$A$2:$A$5</c:f>
              <c:strCache>
                <c:ptCount val="4"/>
                <c:pt idx="0">
                  <c:v>Incentives</c:v>
                </c:pt>
                <c:pt idx="1">
                  <c:v>Resistance</c:v>
                </c:pt>
                <c:pt idx="2">
                  <c:v>Capacity</c:v>
                </c:pt>
                <c:pt idx="3">
                  <c:v>Authority</c:v>
                </c:pt>
              </c:strCache>
            </c:strRef>
          </c:cat>
          <c:val>
            <c:numRef>
              <c:f>Sheet1!$B$2:$B$5</c:f>
              <c:numCache>
                <c:formatCode>General</c:formatCode>
                <c:ptCount val="4"/>
                <c:pt idx="0">
                  <c:v>80</c:v>
                </c:pt>
                <c:pt idx="1">
                  <c:v>30</c:v>
                </c:pt>
                <c:pt idx="2">
                  <c:v>40</c:v>
                </c:pt>
                <c:pt idx="3">
                  <c:v>68</c:v>
                </c:pt>
              </c:numCache>
            </c:numRef>
          </c:val>
          <c:extLst>
            <c:ext xmlns:c16="http://schemas.microsoft.com/office/drawing/2014/chart" uri="{C3380CC4-5D6E-409C-BE32-E72D297353CC}">
              <c16:uniqueId val="{00000008-1363-4EBA-9847-AEBA21E097E9}"/>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Incentives</c:v>
                </c:pt>
                <c:pt idx="1">
                  <c:v>Resistance</c:v>
                </c:pt>
                <c:pt idx="2">
                  <c:v>Capacity</c:v>
                </c:pt>
                <c:pt idx="3">
                  <c:v>Authority</c:v>
                </c:pt>
              </c:strCache>
            </c:strRef>
          </c:cat>
          <c:val>
            <c:numRef>
              <c:f>Sheet1!$C$2:$C$5</c:f>
              <c:numCache>
                <c:formatCode>General</c:formatCode>
                <c:ptCount val="4"/>
                <c:pt idx="0">
                  <c:v>20</c:v>
                </c:pt>
                <c:pt idx="1">
                  <c:v>70</c:v>
                </c:pt>
                <c:pt idx="2">
                  <c:v>60</c:v>
                </c:pt>
                <c:pt idx="3">
                  <c:v>32</c:v>
                </c:pt>
              </c:numCache>
            </c:numRef>
          </c:val>
          <c:extLst>
            <c:ext xmlns:c16="http://schemas.microsoft.com/office/drawing/2014/chart" uri="{C3380CC4-5D6E-409C-BE32-E72D297353CC}">
              <c16:uniqueId val="{00000009-1363-4EBA-9847-AEBA21E097E9}"/>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Score</c:v>
                </c:pt>
              </c:strCache>
            </c:strRef>
          </c:tx>
          <c:spPr>
            <a:solidFill>
              <a:srgbClr val="281A42"/>
            </a:solidFill>
            <a:ln>
              <a:noFill/>
            </a:ln>
            <a:effectLst/>
          </c:spPr>
          <c:invertIfNegative val="0"/>
          <c:dPt>
            <c:idx val="0"/>
            <c:invertIfNegative val="0"/>
            <c:bubble3D val="0"/>
            <c:spPr>
              <a:solidFill>
                <a:srgbClr val="00C27A"/>
              </a:solidFill>
              <a:ln>
                <a:noFill/>
              </a:ln>
              <a:effectLst/>
            </c:spPr>
            <c:extLst>
              <c:ext xmlns:c16="http://schemas.microsoft.com/office/drawing/2014/chart" uri="{C3380CC4-5D6E-409C-BE32-E72D297353CC}">
                <c16:uniqueId val="{00000001-160A-417E-9A14-973673BC0015}"/>
              </c:ext>
            </c:extLst>
          </c:dPt>
          <c:dPt>
            <c:idx val="1"/>
            <c:invertIfNegative val="0"/>
            <c:bubble3D val="0"/>
            <c:spPr>
              <a:solidFill>
                <a:srgbClr val="FFB547"/>
              </a:solidFill>
              <a:ln>
                <a:noFill/>
              </a:ln>
              <a:effectLst/>
            </c:spPr>
            <c:extLst>
              <c:ext xmlns:c16="http://schemas.microsoft.com/office/drawing/2014/chart" uri="{C3380CC4-5D6E-409C-BE32-E72D297353CC}">
                <c16:uniqueId val="{00000003-160A-417E-9A14-973673BC0015}"/>
              </c:ext>
            </c:extLst>
          </c:dPt>
          <c:dPt>
            <c:idx val="2"/>
            <c:invertIfNegative val="0"/>
            <c:bubble3D val="0"/>
            <c:spPr>
              <a:solidFill>
                <a:srgbClr val="281A42"/>
              </a:solidFill>
              <a:ln>
                <a:noFill/>
              </a:ln>
              <a:effectLst/>
            </c:spPr>
            <c:extLst>
              <c:ext xmlns:c16="http://schemas.microsoft.com/office/drawing/2014/chart" uri="{C3380CC4-5D6E-409C-BE32-E72D297353CC}">
                <c16:uniqueId val="{00000005-160A-417E-9A14-973673BC0015}"/>
              </c:ext>
            </c:extLst>
          </c:dPt>
          <c:dPt>
            <c:idx val="3"/>
            <c:invertIfNegative val="0"/>
            <c:bubble3D val="0"/>
            <c:spPr>
              <a:solidFill>
                <a:srgbClr val="FFB547"/>
              </a:solidFill>
              <a:ln>
                <a:noFill/>
              </a:ln>
              <a:effectLst/>
            </c:spPr>
            <c:extLst>
              <c:ext xmlns:c16="http://schemas.microsoft.com/office/drawing/2014/chart" uri="{C3380CC4-5D6E-409C-BE32-E72D297353CC}">
                <c16:uniqueId val="{00000006-88D8-4B1D-9CFD-EB7A80BB5413}"/>
              </c:ext>
            </c:extLst>
          </c:dPt>
          <c:cat>
            <c:strRef>
              <c:f>Sheet1!$A$2:$A$5</c:f>
              <c:strCache>
                <c:ptCount val="4"/>
                <c:pt idx="0">
                  <c:v>Track Record</c:v>
                </c:pt>
                <c:pt idx="1">
                  <c:v>Two-way fit</c:v>
                </c:pt>
                <c:pt idx="2">
                  <c:v>SP Match</c:v>
                </c:pt>
                <c:pt idx="3">
                  <c:v>JTBD Match</c:v>
                </c:pt>
              </c:strCache>
            </c:strRef>
          </c:cat>
          <c:val>
            <c:numRef>
              <c:f>Sheet1!$B$2:$B$5</c:f>
              <c:numCache>
                <c:formatCode>General</c:formatCode>
                <c:ptCount val="4"/>
                <c:pt idx="0">
                  <c:v>85</c:v>
                </c:pt>
                <c:pt idx="1">
                  <c:v>65</c:v>
                </c:pt>
                <c:pt idx="2">
                  <c:v>45</c:v>
                </c:pt>
                <c:pt idx="3">
                  <c:v>65</c:v>
                </c:pt>
              </c:numCache>
            </c:numRef>
          </c:val>
          <c:extLst>
            <c:ext xmlns:c16="http://schemas.microsoft.com/office/drawing/2014/chart" uri="{C3380CC4-5D6E-409C-BE32-E72D297353CC}">
              <c16:uniqueId val="{00000006-160A-417E-9A14-973673BC0015}"/>
            </c:ext>
          </c:extLst>
        </c:ser>
        <c:ser>
          <c:idx val="1"/>
          <c:order val="1"/>
          <c:tx>
            <c:strRef>
              <c:f>Sheet1!$C$1</c:f>
              <c:strCache>
                <c:ptCount val="1"/>
                <c:pt idx="0">
                  <c:v>Whitespace</c:v>
                </c:pt>
              </c:strCache>
            </c:strRef>
          </c:tx>
          <c:spPr>
            <a:solidFill>
              <a:schemeClr val="bg1">
                <a:lumMod val="85000"/>
              </a:schemeClr>
            </a:solidFill>
            <a:ln>
              <a:noFill/>
            </a:ln>
            <a:effectLst/>
          </c:spPr>
          <c:invertIfNegative val="0"/>
          <c:cat>
            <c:strRef>
              <c:f>Sheet1!$A$2:$A$5</c:f>
              <c:strCache>
                <c:ptCount val="4"/>
                <c:pt idx="0">
                  <c:v>Track Record</c:v>
                </c:pt>
                <c:pt idx="1">
                  <c:v>Two-way fit</c:v>
                </c:pt>
                <c:pt idx="2">
                  <c:v>SP Match</c:v>
                </c:pt>
                <c:pt idx="3">
                  <c:v>JTBD Match</c:v>
                </c:pt>
              </c:strCache>
            </c:strRef>
          </c:cat>
          <c:val>
            <c:numRef>
              <c:f>Sheet1!$C$2:$C$5</c:f>
              <c:numCache>
                <c:formatCode>General</c:formatCode>
                <c:ptCount val="4"/>
                <c:pt idx="0">
                  <c:v>15</c:v>
                </c:pt>
                <c:pt idx="1">
                  <c:v>35</c:v>
                </c:pt>
                <c:pt idx="2">
                  <c:v>55</c:v>
                </c:pt>
                <c:pt idx="3">
                  <c:v>35</c:v>
                </c:pt>
              </c:numCache>
            </c:numRef>
          </c:val>
          <c:extLst>
            <c:ext xmlns:c16="http://schemas.microsoft.com/office/drawing/2014/chart" uri="{C3380CC4-5D6E-409C-BE32-E72D297353CC}">
              <c16:uniqueId val="{00000007-160A-417E-9A14-973673BC0015}"/>
            </c:ext>
          </c:extLst>
        </c:ser>
        <c:dLbls>
          <c:showLegendKey val="0"/>
          <c:showVal val="0"/>
          <c:showCatName val="0"/>
          <c:showSerName val="0"/>
          <c:showPercent val="0"/>
          <c:showBubbleSize val="0"/>
        </c:dLbls>
        <c:gapWidth val="108"/>
        <c:overlap val="100"/>
        <c:axId val="891032383"/>
        <c:axId val="1232779375"/>
      </c:barChart>
      <c:catAx>
        <c:axId val="891032383"/>
        <c:scaling>
          <c:orientation val="minMax"/>
        </c:scaling>
        <c:delete val="1"/>
        <c:axPos val="l"/>
        <c:numFmt formatCode="General" sourceLinked="1"/>
        <c:majorTickMark val="none"/>
        <c:minorTickMark val="none"/>
        <c:tickLblPos val="nextTo"/>
        <c:crossAx val="1232779375"/>
        <c:crosses val="autoZero"/>
        <c:auto val="1"/>
        <c:lblAlgn val="ctr"/>
        <c:lblOffset val="100"/>
        <c:noMultiLvlLbl val="0"/>
      </c:catAx>
      <c:valAx>
        <c:axId val="1232779375"/>
        <c:scaling>
          <c:orientation val="minMax"/>
        </c:scaling>
        <c:delete val="1"/>
        <c:axPos val="b"/>
        <c:numFmt formatCode="0%" sourceLinked="1"/>
        <c:majorTickMark val="none"/>
        <c:minorTickMark val="none"/>
        <c:tickLblPos val="nextTo"/>
        <c:crossAx val="8910323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latin typeface="Lato" panose="020F0502020204030203" pitchFamily="34" charset="77"/>
        </a:defRPr>
      </a:pPr>
      <a:endParaRPr lang="LID4096"/>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9" tIns="48324" rIns="96649" bIns="48324" rtlCol="0"/>
          <a:lstStyle>
            <a:lvl1pPr algn="l">
              <a:defRPr sz="12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49" tIns="48324" rIns="96649" bIns="48324" rtlCol="0"/>
          <a:lstStyle>
            <a:lvl1pPr algn="r">
              <a:defRPr sz="1200"/>
            </a:lvl1pPr>
          </a:lstStyle>
          <a:p>
            <a:fld id="{D77BC24A-8A0F-4A06-8C93-13D538338693}" type="datetimeFigureOut">
              <a:rPr lang="en-US" smtClean="0"/>
              <a:t>3/30/26</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9" tIns="48324" rIns="96649" bIns="48324" rtlCol="0" anchor="ctr"/>
          <a:lstStyle/>
          <a:p>
            <a:endParaRPr lang="en-US" dirty="0"/>
          </a:p>
        </p:txBody>
      </p:sp>
      <p:sp>
        <p:nvSpPr>
          <p:cNvPr id="5" name="Notes Placeholder 4"/>
          <p:cNvSpPr>
            <a:spLocks noGrp="1"/>
          </p:cNvSpPr>
          <p:nvPr>
            <p:ph type="body" sz="quarter" idx="3"/>
          </p:nvPr>
        </p:nvSpPr>
        <p:spPr>
          <a:xfrm>
            <a:off x="731520" y="4620579"/>
            <a:ext cx="5852160" cy="3780472"/>
          </a:xfrm>
          <a:prstGeom prst="rect">
            <a:avLst/>
          </a:prstGeom>
        </p:spPr>
        <p:txBody>
          <a:bodyPr vert="horz" lIns="96649" tIns="48324" rIns="96649" bIns="483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9" tIns="48324" rIns="96649" bIns="48324"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9" tIns="48324" rIns="96649" bIns="48324" rtlCol="0" anchor="b"/>
          <a:lstStyle>
            <a:lvl1pPr algn="r">
              <a:defRPr sz="1200"/>
            </a:lvl1pPr>
          </a:lstStyle>
          <a:p>
            <a:fld id="{4483CBA0-B14C-4037-927E-CE5CEFB297DB}" type="slidenum">
              <a:rPr lang="en-US" smtClean="0"/>
              <a:t>‹#›</a:t>
            </a:fld>
            <a:endParaRPr lang="en-US" dirty="0"/>
          </a:p>
        </p:txBody>
      </p:sp>
    </p:spTree>
    <p:extLst>
      <p:ext uri="{BB962C8B-B14F-4D97-AF65-F5344CB8AC3E}">
        <p14:creationId xmlns:p14="http://schemas.microsoft.com/office/powerpoint/2010/main" val="1160247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D952D-94DA-A072-FF41-DC5A5D680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B97F2-FB04-E1B2-DB06-E1B723038E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3C8D3-2CB3-9835-105A-9997B54758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4AF88F-FB07-1C4D-721B-680D62BA54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83CBA0-B14C-4037-927E-CE5CEFB297D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93649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83583-D98F-0055-B07F-CFE9192FB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5E91F-2F70-C2A9-A6B9-43E22E12F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1BB18-474A-D600-CC30-9AB8DB2536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EE2190-E208-0076-2627-C25266AC18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83CBA0-B14C-4037-927E-CE5CEFB297D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12216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8EBC9-32F7-4432-78B7-6949C9798E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17A63-4B67-1F1B-4CF6-68B725B88B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DE1B0-195B-CC6F-94D5-A13CE8F41E2B}"/>
              </a:ext>
            </a:extLst>
          </p:cNvPr>
          <p:cNvSpPr>
            <a:spLocks noGrp="1"/>
          </p:cNvSpPr>
          <p:nvPr>
            <p:ph type="body" idx="1"/>
          </p:nvPr>
        </p:nvSpPr>
        <p:spPr/>
        <p:txBody>
          <a:bodyPr/>
          <a:lstStyle/>
          <a:p>
            <a:endParaRPr lang="en-US" dirty="0"/>
          </a:p>
          <a:p>
            <a:endParaRPr lang="en-US" dirty="0"/>
          </a:p>
        </p:txBody>
      </p:sp>
      <p:sp>
        <p:nvSpPr>
          <p:cNvPr id="4" name="Slide Number Placeholder 3">
            <a:extLst>
              <a:ext uri="{FF2B5EF4-FFF2-40B4-BE49-F238E27FC236}">
                <a16:creationId xmlns:a16="http://schemas.microsoft.com/office/drawing/2014/main" id="{E675B2A9-6847-5F78-BA57-D1A3EC18958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9F84CD-8C2B-4894-9286-56FBA06645E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7039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48F92-CD13-5AB2-D29A-4A9F5D163D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13825-ACC5-744B-018F-D76828BF4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728A56-9E77-346E-9DD0-36A3B380EE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44DAE4-BF78-6263-A21A-B90C719EBB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44054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973D-ED8F-0B40-01C3-CB8BC86660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1ED12-BED3-4411-040B-66827C52DD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852B7-E1E2-D8BA-D4F3-E35A1E022C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6EFC06-ED29-97A2-C9DF-C13F26F5F82E}"/>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5816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8F854985-E8E0-419E-9F72-6254153D3EE8}"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13</a:t>
            </a:fld>
            <a:endParaRPr kumimoji="0" lang="en-US" sz="12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2098322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D099E-53EC-5662-551D-CE4827CA8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C2D07F-D0AD-C67F-34CF-D132A27F9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B84E4C-91DF-5DE1-F3F6-66F3B28A0A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499870-9ADC-FD8C-B0BC-6A25DC2F42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854985-E8E0-419E-9F72-6254153D3EE8}" type="slidenum">
              <a:rPr kumimoji="0" lang="en-US"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0" cap="none" spc="0" normalizeH="0" baseline="0" noProof="0" dirty="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627598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69DB-19F6-DDFF-9EF1-7AD47C5F25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A43503-9404-6E96-8725-4107D972EF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28B90-165C-DBF9-19A0-52B8352463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BA1D87-08F6-2D33-418E-5B08AEB243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854985-E8E0-419E-9F72-6254153D3EE8}" type="slidenum">
              <a:rPr kumimoji="0" lang="en-US"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0" cap="none" spc="0" normalizeH="0" baseline="0" noProof="0" dirty="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53278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CC903-57A9-8F23-8880-5C43958DD9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972CD8-A426-3A05-1430-16E2D8A40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3ED417-AA79-63F8-D31C-66608FAAC5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BF12DC-E397-2036-5696-D88227901DC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854985-E8E0-419E-9F72-6254153D3EE8}" type="slidenum">
              <a:rPr kumimoji="0" lang="en-US"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0" cap="none" spc="0" normalizeH="0" baseline="0" noProof="0" dirty="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74738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3839-3FAB-0D53-0E3C-47B022D28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4C5BC8-FAE4-7C4E-3883-76413519D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EEDEA-B5E6-46B5-E04D-7D28CC7FF0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F0AA86-E214-E12B-FF78-FC0670567DCF}"/>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8F854985-E8E0-419E-9F72-6254153D3EE8}" type="slidenum">
              <a:rPr kumimoji="0" lang="en-US"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18</a:t>
            </a:fld>
            <a:endParaRPr kumimoji="0" lang="en-US" sz="12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345095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FEABA-CB08-052B-069D-E13230E97D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0A63A8-1F70-8E63-0C7E-3A45D7E87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BFBFA1-D594-EBAB-2587-B46FB5B47C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B6B134-C993-3027-C930-700077DF04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854985-E8E0-419E-9F72-6254153D3EE8}" type="slidenum">
              <a:rPr kumimoji="0" lang="en-US"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0" cap="none" spc="0" normalizeH="0" baseline="0" noProof="0" dirty="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02534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66681-6E0E-241D-CCF1-2D9BABCF46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FA3B6-E277-A26D-8D1F-04651F8F19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4C989C-3D80-1880-E557-7F8C85207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D9B08A-6CBE-0BDF-BEEA-5FB4E77CC4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854985-E8E0-419E-9F72-6254153D3EE8}" type="slidenum">
              <a:rPr kumimoji="0" lang="en-US"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0" cap="none" spc="0" normalizeH="0" baseline="0" noProof="0" dirty="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1853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99DCA-3DB7-7C0A-06E3-1B3A46463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34DB0-5562-86DF-0301-EDFA88B46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E410F-65F2-FA41-3DCE-3799D29C0B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AB7309-19FA-4900-EBEA-F5C18DDBE9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854985-E8E0-419E-9F72-6254153D3EE8}" type="slidenum">
              <a:rPr kumimoji="0" lang="en-US" sz="1200" b="0" i="0" u="none" strike="noStrike" kern="0" cap="none" spc="0" normalizeH="0" baseline="0" noProof="0" smtClean="0">
                <a:ln>
                  <a:noFill/>
                </a:ln>
                <a:solidFill>
                  <a:sysClr val="windowText" lastClr="000000"/>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0" cap="none" spc="0" normalizeH="0" baseline="0" noProof="0" dirty="0">
              <a:ln>
                <a:noFill/>
              </a:ln>
              <a:solidFill>
                <a:sysClr val="windowText" lastClr="000000"/>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62841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21502-8A88-E626-12E0-0527FCA100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C062C-0278-900E-7415-80D8536DA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268ADD-1A56-2412-D3E8-B53C73A941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92908D-0693-E0C4-57D4-02BBD4970340}"/>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86451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90F47-BF62-489D-CDCD-2F6B8EBD8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40878-2864-1F77-B990-4F460AEE6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D2059-CDAB-1A47-A255-FF219C8349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07ECA3-492A-BD6F-B961-BD03B377CF28}"/>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90959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FF8FD-9EF3-738B-C70F-B13DBCB9B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6FCFC-513E-ADF3-3406-1C8FE71E8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FFF8D-851E-3690-6C07-6BDF1C32E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D539B7-C422-AB99-3E0C-F3C8A04B42C9}"/>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45545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DAF91-50C8-9839-65DB-BEE4B8812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C312D-C79C-DCFA-306B-6FC7E09547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5831E3-9081-8D4F-0C0E-14413FEC8F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DE1490-B6F4-3BA6-C5FD-8F1B20EB285F}"/>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79891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E5FD6-142C-DCAD-0C9F-EB811789D3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589FF9-EEED-75B3-914D-F2F5E27FD3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FF8E7-A25E-8745-D42B-9D5B2E36C4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3BA4EC-62BC-388B-D1DE-6316495E06F7}"/>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511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40116-E6B3-D62A-BD45-0B58B7ED0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430C9-9B7B-A908-9C4A-C37DF4B2A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F668FC-2D17-C8AA-B974-8AE6BDFA0D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87D261-C369-F984-5711-E48C83EA9CE9}"/>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14906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94846-EA95-C06C-97B5-76F159E64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92123-7E3D-C303-05F9-4B52CA19B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425E0-0550-9BEC-2772-92013B2FD6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58AF93-420C-47CD-FA81-1187A60F4EBD}"/>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9333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FDF50-8A67-7EB9-400E-BBE2A15C5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A84C9-513C-7C51-5D2D-F947854B67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3B289-1FCA-CF44-5F32-46AC1055B9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90F09F-AD01-F380-0DC1-2DE3525391C2}"/>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5126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7FC61-6D66-8560-4982-39349FAD75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5D81C-151F-97C3-481D-62EB3C2A3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850E2-1C73-95B6-E8A3-B8C329077C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E1E710-3203-E61E-74C0-A41E36766A1A}"/>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38567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AC36E-AF4A-C5BF-6BF8-9E89BF404C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7EC31-F1E6-9CBD-D732-F13097E10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0ED71-5C20-21D0-6760-D3F920CBE4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61ABAD-C8E6-40F5-F382-D0A409F4C105}"/>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1351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7291E-BAB1-275A-EF67-10A27E5081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874DD-9BAD-D459-F428-3336438C5F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3C585-F671-08F2-B615-51E804E807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9B948C-34D0-41EA-F7AC-97E43FD4A11C}"/>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97885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78972-A32F-B4C3-4BF8-61BE0F033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D68A3-19FF-7DE8-D002-A4359D3B19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764B0A-9E3F-2769-67F9-DA954FBEF9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66AD93-4A31-5F77-CBDF-C3673A03A9E2}"/>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46404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72118-F95E-4757-A1F1-97DB16E2C2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0022F-FB48-A6BF-8D80-496D819B19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BF2A88-1BB7-4D55-6758-4A4321537B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9AA632-8B48-F2EE-6DB4-1C3732BDF3BA}"/>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7410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1D8B-5AB7-DDD5-693F-5FFAE2AAF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819F1-3107-1015-92DB-BF78FB5680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A56276-A808-05E6-BC20-24B70E7B4E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BEC65-D094-E139-240F-B95B8BE0D136}"/>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9217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62FDC-A88D-0190-98CB-B885D8D9E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DBCD0-36DD-5BA6-644A-DE60C51DBF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87B20-0595-A64C-5C08-351A1AFA9B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7212C5-36CC-E55A-D60E-A920E17A2130}"/>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93614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8FDC0-865B-135B-5A86-020587FC8F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300B2-9FD1-141D-CB72-83E7B457FD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BE3B9-588B-8615-69B1-121127B275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C6136F-741A-009C-BB89-F4884A243979}"/>
              </a:ext>
            </a:extLst>
          </p:cNvPr>
          <p:cNvSpPr>
            <a:spLocks noGrp="1"/>
          </p:cNvSpPr>
          <p:nvPr>
            <p:ph type="sldNum" sz="quarter" idx="5"/>
          </p:nvPr>
        </p:nvSpPr>
        <p:spPr/>
        <p:txBody>
          <a:bodyPr/>
          <a:lstStyle/>
          <a:p>
            <a:pPr marL="0" marR="0" lvl="0" indent="0" algn="r" defTabSz="966489" rtl="0" eaLnBrk="1" fontAlgn="auto" latinLnBrk="0" hangingPunct="1">
              <a:lnSpc>
                <a:spcPct val="100000"/>
              </a:lnSpc>
              <a:spcBef>
                <a:spcPts val="0"/>
              </a:spcBef>
              <a:spcAft>
                <a:spcPts val="0"/>
              </a:spcAft>
              <a:buClrTx/>
              <a:buSzTx/>
              <a:buFontTx/>
              <a:buNone/>
              <a:tabLst/>
              <a:defRPr/>
            </a:pPr>
            <a:fld id="{6F48C1E1-F8DB-0945-8F22-C9A50E270EB3}"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66489"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7254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68AB78-53BF-4A80-B3FE-892FD33795B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Header Placeholder 4">
            <a:extLst>
              <a:ext uri="{FF2B5EF4-FFF2-40B4-BE49-F238E27FC236}">
                <a16:creationId xmlns:a16="http://schemas.microsoft.com/office/drawing/2014/main" id="{8207666A-8B5F-7E0E-6C9E-2FBF25EDF8DD}"/>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Confidential – Do not Circulate</a:t>
            </a:r>
          </a:p>
        </p:txBody>
      </p:sp>
    </p:spTree>
    <p:extLst>
      <p:ext uri="{BB962C8B-B14F-4D97-AF65-F5344CB8AC3E}">
        <p14:creationId xmlns:p14="http://schemas.microsoft.com/office/powerpoint/2010/main" val="35603045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descr="A black and white logo&#10;&#10;AI-generated content may be incorrect.">
            <a:extLst>
              <a:ext uri="{FF2B5EF4-FFF2-40B4-BE49-F238E27FC236}">
                <a16:creationId xmlns:a16="http://schemas.microsoft.com/office/drawing/2014/main" id="{37BA394B-6FC7-BA29-9C9F-C3C5996A08DF}"/>
              </a:ext>
            </a:extLst>
          </p:cNvPr>
          <p:cNvPicPr>
            <a:picLocks noChangeAspect="1"/>
          </p:cNvPicPr>
          <p:nvPr/>
        </p:nvPicPr>
        <p:blipFill>
          <a:blip r:embed="rId3"/>
          <a:stretch>
            <a:fillRect/>
          </a:stretch>
        </p:blipFill>
        <p:spPr>
          <a:xfrm>
            <a:off x="432000" y="6126480"/>
            <a:ext cx="2194560" cy="445223"/>
          </a:xfrm>
          <a:prstGeom prst="rect">
            <a:avLst/>
          </a:prstGeom>
        </p:spPr>
      </p:pic>
      <p:sp>
        <p:nvSpPr>
          <p:cNvPr id="2" name="Title 1">
            <a:extLst>
              <a:ext uri="{FF2B5EF4-FFF2-40B4-BE49-F238E27FC236}">
                <a16:creationId xmlns:a16="http://schemas.microsoft.com/office/drawing/2014/main" id="{73CE3C99-2183-B3DE-3AAA-1A32D4AE1C58}"/>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4" name="Text Placeholder 6">
            <a:extLst>
              <a:ext uri="{FF2B5EF4-FFF2-40B4-BE49-F238E27FC236}">
                <a16:creationId xmlns:a16="http://schemas.microsoft.com/office/drawing/2014/main" id="{4E3D04D9-FFC9-D3AA-13F8-C5614D78CB7B}"/>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3" name="Picture 2" descr="A black and white logo&#10;&#10;AI-generated content may be incorrect.">
            <a:extLst>
              <a:ext uri="{FF2B5EF4-FFF2-40B4-BE49-F238E27FC236}">
                <a16:creationId xmlns:a16="http://schemas.microsoft.com/office/drawing/2014/main" id="{1AED1153-695A-6B98-C47D-7ABC0B711F06}"/>
              </a:ext>
            </a:extLst>
          </p:cNvPr>
          <p:cNvPicPr>
            <a:picLocks noChangeAspect="1"/>
          </p:cNvPicPr>
          <p:nvPr userDrawn="1"/>
        </p:nvPicPr>
        <p:blipFill>
          <a:blip r:embed="rId3"/>
          <a:stretch>
            <a:fillRect/>
          </a:stretch>
        </p:blipFill>
        <p:spPr>
          <a:xfrm>
            <a:off x="432000" y="6126480"/>
            <a:ext cx="2194560" cy="445223"/>
          </a:xfrm>
          <a:prstGeom prst="rect">
            <a:avLst/>
          </a:prstGeom>
        </p:spPr>
      </p:pic>
      <p:sp>
        <p:nvSpPr>
          <p:cNvPr id="8" name="Text Placeholder 6">
            <a:extLst>
              <a:ext uri="{FF2B5EF4-FFF2-40B4-BE49-F238E27FC236}">
                <a16:creationId xmlns:a16="http://schemas.microsoft.com/office/drawing/2014/main" id="{21A7B4B7-2101-FCE7-D719-3D909068D257}"/>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tx1"/>
                </a:solidFill>
                <a:latin typeface="+mj-lt"/>
              </a:defRPr>
            </a:lvl1pPr>
          </a:lstStyle>
          <a:p>
            <a:pPr lvl="0"/>
            <a:r>
              <a:rPr lang="en-US"/>
              <a:t>Date</a:t>
            </a:r>
          </a:p>
        </p:txBody>
      </p:sp>
    </p:spTree>
    <p:extLst>
      <p:ext uri="{BB962C8B-B14F-4D97-AF65-F5344CB8AC3E}">
        <p14:creationId xmlns:p14="http://schemas.microsoft.com/office/powerpoint/2010/main" val="3700105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Dark">
    <p:bg>
      <p:bgPr>
        <a:solidFill>
          <a:srgbClr val="281A42"/>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l="4652" t="14597" r="4536" b="15507"/>
          <a:stretch>
            <a:fillRect/>
          </a:stretch>
        </p:blipFill>
        <p:spPr>
          <a:xfrm>
            <a:off x="435748" y="6113928"/>
            <a:ext cx="2159000" cy="454027"/>
          </a:xfrm>
          <a:prstGeom prst="rect">
            <a:avLst/>
          </a:prstGeom>
        </p:spPr>
      </p:pic>
      <p:pic>
        <p:nvPicPr>
          <p:cNvPr id="11" name="Picture 10"/>
          <p:cNvPicPr>
            <a:picLocks noChangeAspect="1"/>
          </p:cNvPicPr>
          <p:nvPr/>
        </p:nvPicPr>
        <p:blipFill>
          <a:blip r:embed="rId3"/>
          <a:srcRect/>
          <a:stretch/>
        </p:blipFill>
        <p:spPr>
          <a:xfrm>
            <a:off x="9165100" y="6191590"/>
            <a:ext cx="2437894" cy="364855"/>
          </a:xfrm>
          <a:prstGeom prst="rect">
            <a:avLst/>
          </a:prstGeom>
        </p:spPr>
      </p:pic>
      <p:sp>
        <p:nvSpPr>
          <p:cNvPr id="12" name="Title 1"/>
          <p:cNvSpPr>
            <a:spLocks noGrp="1"/>
          </p:cNvSpPr>
          <p:nvPr>
            <p:ph type="title"/>
          </p:nvPr>
        </p:nvSpPr>
        <p:spPr>
          <a:xfrm>
            <a:off x="432000" y="432000"/>
            <a:ext cx="11338560" cy="968175"/>
          </a:xfrm>
          <a:prstGeom prst="rect">
            <a:avLst/>
          </a:prstGeom>
        </p:spPr>
        <p:txBody>
          <a:bodyPr/>
          <a:lstStyle>
            <a:lvl1pPr>
              <a:defRPr sz="6000" b="1">
                <a:solidFill>
                  <a:schemeClr val="bg1"/>
                </a:solidFill>
                <a:latin typeface="Segoe UI" pitchFamily="34" charset="0"/>
              </a:defRPr>
            </a:lvl1pPr>
          </a:lstStyle>
          <a:p>
            <a:r>
              <a:rPr lang="en-US"/>
              <a:t>Click to edit Master title style</a:t>
            </a:r>
            <a:endParaRPr/>
          </a:p>
        </p:txBody>
      </p:sp>
      <p:sp>
        <p:nvSpPr>
          <p:cNvPr id="2" name="Text Placeholder 6">
            <a:extLst>
              <a:ext uri="{FF2B5EF4-FFF2-40B4-BE49-F238E27FC236}">
                <a16:creationId xmlns:a16="http://schemas.microsoft.com/office/drawing/2014/main" id="{03ECDC62-748E-F1B0-07F3-0B62BB658E25}"/>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E0B4E0F1-7D88-9142-CE87-C8B858F36A56}"/>
              </a:ext>
            </a:extLst>
          </p:cNvPr>
          <p:cNvPicPr>
            <a:picLocks noChangeAspect="1"/>
          </p:cNvPicPr>
          <p:nvPr userDrawn="1"/>
        </p:nvPicPr>
        <p:blipFill rotWithShape="1">
          <a:blip r:embed="rId2"/>
          <a:srcRect l="4652" t="14597" r="4536" b="15507"/>
          <a:stretch>
            <a:fillRect/>
          </a:stretch>
        </p:blipFill>
        <p:spPr>
          <a:xfrm>
            <a:off x="435748" y="6113928"/>
            <a:ext cx="2159000" cy="454027"/>
          </a:xfrm>
          <a:prstGeom prst="rect">
            <a:avLst/>
          </a:prstGeom>
        </p:spPr>
      </p:pic>
      <p:pic>
        <p:nvPicPr>
          <p:cNvPr id="4" name="Picture 3">
            <a:extLst>
              <a:ext uri="{FF2B5EF4-FFF2-40B4-BE49-F238E27FC236}">
                <a16:creationId xmlns:a16="http://schemas.microsoft.com/office/drawing/2014/main" id="{55F3E59F-8EB2-1215-8D63-04505CE260F7}"/>
              </a:ext>
            </a:extLst>
          </p:cNvPr>
          <p:cNvPicPr>
            <a:picLocks noChangeAspect="1"/>
          </p:cNvPicPr>
          <p:nvPr userDrawn="1"/>
        </p:nvPicPr>
        <p:blipFill>
          <a:blip r:embed="rId3"/>
          <a:srcRect/>
          <a:stretch/>
        </p:blipFill>
        <p:spPr>
          <a:xfrm>
            <a:off x="9165100" y="6191590"/>
            <a:ext cx="2437894" cy="364855"/>
          </a:xfrm>
          <a:prstGeom prst="rect">
            <a:avLst/>
          </a:prstGeom>
        </p:spPr>
      </p:pic>
      <p:sp>
        <p:nvSpPr>
          <p:cNvPr id="5" name="Text Placeholder 6">
            <a:extLst>
              <a:ext uri="{FF2B5EF4-FFF2-40B4-BE49-F238E27FC236}">
                <a16:creationId xmlns:a16="http://schemas.microsoft.com/office/drawing/2014/main" id="{9826690B-C7DF-D391-1831-1C87D9DCD54E}"/>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bg1"/>
                </a:solidFill>
                <a:latin typeface="+mj-lt"/>
              </a:defRPr>
            </a:lvl1pPr>
          </a:lstStyle>
          <a:p>
            <a:pPr lvl="0"/>
            <a:r>
              <a:rPr lang="en-US"/>
              <a:t>Date</a:t>
            </a:r>
          </a:p>
        </p:txBody>
      </p:sp>
    </p:spTree>
    <p:extLst>
      <p:ext uri="{BB962C8B-B14F-4D97-AF65-F5344CB8AC3E}">
        <p14:creationId xmlns:p14="http://schemas.microsoft.com/office/powerpoint/2010/main" val="2437173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Photo">
    <p:bg>
      <p:bgPr>
        <a:blipFill>
          <a:blip r:embed="rId2"/>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2B6FC9E-8B11-5EE3-6E11-7061DFCA524F}"/>
              </a:ext>
            </a:extLst>
          </p:cNvPr>
          <p:cNvSpPr>
            <a:spLocks noGrp="1"/>
          </p:cNvSpPr>
          <p:nvPr>
            <p:ph type="title"/>
          </p:nvPr>
        </p:nvSpPr>
        <p:spPr>
          <a:xfrm>
            <a:off x="432000" y="432000"/>
            <a:ext cx="11338560" cy="968175"/>
          </a:xfrm>
          <a:prstGeom prst="rect">
            <a:avLst/>
          </a:prstGeom>
        </p:spPr>
        <p:txBody>
          <a:bodyPr/>
          <a:lstStyle>
            <a:lvl1pPr>
              <a:defRPr sz="6000" b="1">
                <a:solidFill>
                  <a:schemeClr val="tx1"/>
                </a:solidFill>
                <a:latin typeface="Segoe UI" pitchFamily="34" charset="0"/>
              </a:defRPr>
            </a:lvl1pPr>
          </a:lstStyle>
          <a:p>
            <a:r>
              <a:rPr lang="en-US"/>
              <a:t>Click to edit Master title style</a:t>
            </a:r>
            <a:endParaRPr/>
          </a:p>
        </p:txBody>
      </p:sp>
      <p:sp>
        <p:nvSpPr>
          <p:cNvPr id="6" name="Text Placeholder 6">
            <a:extLst>
              <a:ext uri="{FF2B5EF4-FFF2-40B4-BE49-F238E27FC236}">
                <a16:creationId xmlns:a16="http://schemas.microsoft.com/office/drawing/2014/main" id="{CAC7920E-1162-2D3C-5D4A-368EDE93E7DA}"/>
              </a:ext>
            </a:extLst>
          </p:cNvPr>
          <p:cNvSpPr>
            <a:spLocks noGrp="1"/>
          </p:cNvSpPr>
          <p:nvPr>
            <p:ph type="body" sz="quarter" idx="12"/>
          </p:nvPr>
        </p:nvSpPr>
        <p:spPr>
          <a:xfrm>
            <a:off x="432000" y="1417108"/>
            <a:ext cx="11338560" cy="665692"/>
          </a:xfrm>
          <a:prstGeom prst="rect">
            <a:avLst/>
          </a:prstGeom>
        </p:spPr>
        <p:txBody>
          <a:bodyPr/>
          <a:lstStyle>
            <a:lvl1pPr>
              <a:buNone/>
              <a:defRPr sz="4000">
                <a:solidFill>
                  <a:schemeClr val="tx1"/>
                </a:solidFill>
                <a:latin typeface="+mj-lt"/>
              </a:defRPr>
            </a:lvl1pPr>
          </a:lstStyle>
          <a:p>
            <a:pPr lvl="0"/>
            <a:r>
              <a:rPr lang="en-US"/>
              <a:t>Click to edit Master text styles</a:t>
            </a:r>
          </a:p>
        </p:txBody>
      </p:sp>
      <p:pic>
        <p:nvPicPr>
          <p:cNvPr id="7" name="Picture 6" descr="A black and white logo&#10;&#10;AI-generated content may be incorrect.">
            <a:extLst>
              <a:ext uri="{FF2B5EF4-FFF2-40B4-BE49-F238E27FC236}">
                <a16:creationId xmlns:a16="http://schemas.microsoft.com/office/drawing/2014/main" id="{CAEBF6F5-2984-E005-E78A-9FBAEF51708C}"/>
              </a:ext>
            </a:extLst>
          </p:cNvPr>
          <p:cNvPicPr>
            <a:picLocks noChangeAspect="1"/>
          </p:cNvPicPr>
          <p:nvPr/>
        </p:nvPicPr>
        <p:blipFill>
          <a:blip r:embed="rId3"/>
          <a:stretch>
            <a:fillRect/>
          </a:stretch>
        </p:blipFill>
        <p:spPr>
          <a:xfrm>
            <a:off x="432000" y="6126480"/>
            <a:ext cx="2194560" cy="445223"/>
          </a:xfrm>
          <a:prstGeom prst="rect">
            <a:avLst/>
          </a:prstGeom>
        </p:spPr>
      </p:pic>
      <p:pic>
        <p:nvPicPr>
          <p:cNvPr id="2" name="Picture 1" descr="A black and white logo&#10;&#10;AI-generated content may be incorrect.">
            <a:extLst>
              <a:ext uri="{FF2B5EF4-FFF2-40B4-BE49-F238E27FC236}">
                <a16:creationId xmlns:a16="http://schemas.microsoft.com/office/drawing/2014/main" id="{D883554E-186B-D3A7-5712-0CB495E52736}"/>
              </a:ext>
            </a:extLst>
          </p:cNvPr>
          <p:cNvPicPr>
            <a:picLocks noChangeAspect="1"/>
          </p:cNvPicPr>
          <p:nvPr userDrawn="1"/>
        </p:nvPicPr>
        <p:blipFill>
          <a:blip r:embed="rId3"/>
          <a:stretch>
            <a:fillRect/>
          </a:stretch>
        </p:blipFill>
        <p:spPr>
          <a:xfrm>
            <a:off x="432000" y="6126480"/>
            <a:ext cx="2194560" cy="445223"/>
          </a:xfrm>
          <a:prstGeom prst="rect">
            <a:avLst/>
          </a:prstGeom>
        </p:spPr>
      </p:pic>
      <p:sp>
        <p:nvSpPr>
          <p:cNvPr id="3" name="Text Placeholder 6">
            <a:extLst>
              <a:ext uri="{FF2B5EF4-FFF2-40B4-BE49-F238E27FC236}">
                <a16:creationId xmlns:a16="http://schemas.microsoft.com/office/drawing/2014/main" id="{0DDEF805-4139-818A-775A-9FE45C246704}"/>
              </a:ext>
            </a:extLst>
          </p:cNvPr>
          <p:cNvSpPr>
            <a:spLocks noGrp="1"/>
          </p:cNvSpPr>
          <p:nvPr>
            <p:ph type="body" sz="quarter" idx="13" hasCustomPrompt="1"/>
          </p:nvPr>
        </p:nvSpPr>
        <p:spPr>
          <a:xfrm>
            <a:off x="432000" y="2099733"/>
            <a:ext cx="11338560" cy="365760"/>
          </a:xfrm>
          <a:prstGeom prst="rect">
            <a:avLst/>
          </a:prstGeom>
        </p:spPr>
        <p:txBody>
          <a:bodyPr/>
          <a:lstStyle>
            <a:lvl1pPr>
              <a:buNone/>
              <a:defRPr sz="2000">
                <a:solidFill>
                  <a:schemeClr val="tx1"/>
                </a:solidFill>
                <a:latin typeface="+mj-lt"/>
              </a:defRPr>
            </a:lvl1pPr>
          </a:lstStyle>
          <a:p>
            <a:pPr lvl="0"/>
            <a:r>
              <a:rPr lang="en-US"/>
              <a:t>Date</a:t>
            </a:r>
          </a:p>
        </p:txBody>
      </p:sp>
    </p:spTree>
    <p:extLst>
      <p:ext uri="{BB962C8B-B14F-4D97-AF65-F5344CB8AC3E}">
        <p14:creationId xmlns:p14="http://schemas.microsoft.com/office/powerpoint/2010/main" val="874798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Ligh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EA15675-8D93-AAAB-1CE7-1CC9B1E120FC}"/>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sp>
        <p:nvSpPr>
          <p:cNvPr id="3" name="Content Placeholder 2">
            <a:extLst>
              <a:ext uri="{FF2B5EF4-FFF2-40B4-BE49-F238E27FC236}">
                <a16:creationId xmlns:a16="http://schemas.microsoft.com/office/drawing/2014/main" id="{748FA9E0-DC8A-A493-5950-929C39A48C8D}"/>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2"/>
              </a:buBlip>
              <a:defRPr sz="2000">
                <a:solidFill>
                  <a:schemeClr val="bg2">
                    <a:lumMod val="25000"/>
                  </a:schemeClr>
                </a:solidFill>
                <a:latin typeface="+mn-lt"/>
              </a:defRPr>
            </a:lvl1pPr>
            <a:lvl2pPr marL="742950" indent="-285750" algn="l">
              <a:lnSpc>
                <a:spcPts val="2020"/>
              </a:lnSpc>
              <a:buSzPct val="100000"/>
              <a:buFontTx/>
              <a:buBlip>
                <a:blip r:embed="rId2"/>
              </a:buBlip>
              <a:defRPr sz="1800">
                <a:solidFill>
                  <a:schemeClr val="bg2">
                    <a:lumMod val="25000"/>
                  </a:schemeClr>
                </a:solidFill>
                <a:latin typeface="+mn-lt"/>
              </a:defRPr>
            </a:lvl2pPr>
            <a:lvl3pPr marL="1200150" indent="-285750" algn="l">
              <a:lnSpc>
                <a:spcPts val="2020"/>
              </a:lnSpc>
              <a:buSzPct val="100000"/>
              <a:buFontTx/>
              <a:buBlip>
                <a:blip r:embed="rId2"/>
              </a:buBlip>
              <a:defRPr sz="1600">
                <a:solidFill>
                  <a:schemeClr val="bg2">
                    <a:lumMod val="25000"/>
                  </a:schemeClr>
                </a:solidFill>
                <a:latin typeface="+mn-lt"/>
              </a:defRPr>
            </a:lvl3pPr>
            <a:lvl4pPr marL="1657350" indent="-285750" algn="l">
              <a:lnSpc>
                <a:spcPts val="2020"/>
              </a:lnSpc>
              <a:buSzPct val="100000"/>
              <a:buFontTx/>
              <a:buBlip>
                <a:blip r:embed="rId2"/>
              </a:buBlip>
              <a:defRPr sz="1600">
                <a:solidFill>
                  <a:schemeClr val="bg2">
                    <a:lumMod val="25000"/>
                  </a:schemeClr>
                </a:solidFill>
                <a:latin typeface="+mn-lt"/>
              </a:defRPr>
            </a:lvl4pPr>
            <a:lvl5pPr marL="2114550" indent="-285750" algn="l">
              <a:lnSpc>
                <a:spcPts val="2020"/>
              </a:lnSpc>
              <a:buSzPct val="100000"/>
              <a:buFontTx/>
              <a:buBlip>
                <a:blip r:embed="rId2"/>
              </a:buBlip>
              <a:defRPr sz="1600">
                <a:solidFill>
                  <a:schemeClr val="bg2">
                    <a:lumMod val="25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3"/>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4"/>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grpSp>
        <p:nvGrpSpPr>
          <p:cNvPr id="6" name="Group 5">
            <a:extLst>
              <a:ext uri="{FF2B5EF4-FFF2-40B4-BE49-F238E27FC236}">
                <a16:creationId xmlns:a16="http://schemas.microsoft.com/office/drawing/2014/main" id="{BAAAE700-338E-3D3C-13CC-2B72D122613F}"/>
              </a:ext>
            </a:extLst>
          </p:cNvPr>
          <p:cNvGrpSpPr/>
          <p:nvPr userDrawn="1"/>
        </p:nvGrpSpPr>
        <p:grpSpPr>
          <a:xfrm>
            <a:off x="335847" y="6525414"/>
            <a:ext cx="11424153" cy="274320"/>
            <a:chOff x="335847" y="6525414"/>
            <a:chExt cx="11424153" cy="274320"/>
          </a:xfrm>
        </p:grpSpPr>
        <p:pic>
          <p:nvPicPr>
            <p:cNvPr id="7" name="Picture 6" descr="A black screen with a purple border&#10;&#10;AI-generated content may be incorrect.">
              <a:extLst>
                <a:ext uri="{FF2B5EF4-FFF2-40B4-BE49-F238E27FC236}">
                  <a16:creationId xmlns:a16="http://schemas.microsoft.com/office/drawing/2014/main" id="{8BC29EFF-AD40-7A30-0252-1003A1EED3B8}"/>
                </a:ext>
              </a:extLst>
            </p:cNvPr>
            <p:cNvPicPr>
              <a:picLocks noChangeAspect="1"/>
            </p:cNvPicPr>
            <p:nvPr userDrawn="1"/>
          </p:nvPicPr>
          <p:blipFill>
            <a:blip r:embed="rId3"/>
            <a:stretch>
              <a:fillRect/>
            </a:stretch>
          </p:blipFill>
          <p:spPr>
            <a:xfrm>
              <a:off x="9868291" y="6525414"/>
              <a:ext cx="1891709" cy="274320"/>
            </a:xfrm>
            <a:prstGeom prst="rect">
              <a:avLst/>
            </a:prstGeom>
          </p:spPr>
        </p:pic>
        <p:pic>
          <p:nvPicPr>
            <p:cNvPr id="8" name="Picture 7" descr="A black and grey logo&#10;&#10;AI-generated content may be incorrect.">
              <a:extLst>
                <a:ext uri="{FF2B5EF4-FFF2-40B4-BE49-F238E27FC236}">
                  <a16:creationId xmlns:a16="http://schemas.microsoft.com/office/drawing/2014/main" id="{D319C388-6E14-ACE1-7D72-E7A13C6201FE}"/>
                </a:ext>
              </a:extLst>
            </p:cNvPr>
            <p:cNvPicPr>
              <a:picLocks noChangeAspect="1"/>
            </p:cNvPicPr>
            <p:nvPr userDrawn="1"/>
          </p:nvPicPr>
          <p:blipFill>
            <a:blip r:embed="rId4"/>
            <a:stretch>
              <a:fillRect/>
            </a:stretch>
          </p:blipFill>
          <p:spPr>
            <a:xfrm>
              <a:off x="335847" y="6525414"/>
              <a:ext cx="1344658" cy="274320"/>
            </a:xfrm>
            <a:prstGeom prst="rect">
              <a:avLst/>
            </a:prstGeom>
          </p:spPr>
        </p:pic>
        <p:sp>
          <p:nvSpPr>
            <p:cNvPr id="9" name="TextBox 8">
              <a:extLst>
                <a:ext uri="{FF2B5EF4-FFF2-40B4-BE49-F238E27FC236}">
                  <a16:creationId xmlns:a16="http://schemas.microsoft.com/office/drawing/2014/main" id="{D6871F42-716A-CFFF-5061-88738F8A0C2D}"/>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3568569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ntent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5EB6032B-B87F-A83D-7D7F-2F852CE634E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33F6BA9A-4A6E-2750-5A58-9D290E2DEEFE}"/>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FD1C2F86-B0B8-0A3E-5886-1D0825E8D49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9" name="TextBox 8">
            <a:extLst>
              <a:ext uri="{FF2B5EF4-FFF2-40B4-BE49-F238E27FC236}">
                <a16:creationId xmlns:a16="http://schemas.microsoft.com/office/drawing/2014/main" id="{7CC01EAF-6797-3F0F-E633-9F8C9325ED55}"/>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10" name="Content Placeholder 2">
            <a:extLst>
              <a:ext uri="{FF2B5EF4-FFF2-40B4-BE49-F238E27FC236}">
                <a16:creationId xmlns:a16="http://schemas.microsoft.com/office/drawing/2014/main" id="{A9F1471E-FB91-8DDF-5F1A-69B538D594D6}"/>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1"/>
                </a:solidFill>
                <a:latin typeface="+mn-lt"/>
              </a:defRPr>
            </a:lvl1pPr>
            <a:lvl2pPr marL="742950" indent="-285750" algn="l">
              <a:lnSpc>
                <a:spcPts val="2020"/>
              </a:lnSpc>
              <a:buSzPct val="100000"/>
              <a:buFontTx/>
              <a:buBlip>
                <a:blip r:embed="rId4"/>
              </a:buBlip>
              <a:defRPr sz="1800">
                <a:solidFill>
                  <a:schemeClr val="bg1"/>
                </a:solidFill>
                <a:latin typeface="+mn-lt"/>
              </a:defRPr>
            </a:lvl2pPr>
            <a:lvl3pPr marL="1200150" indent="-285750" algn="l">
              <a:lnSpc>
                <a:spcPts val="2020"/>
              </a:lnSpc>
              <a:buSzPct val="100000"/>
              <a:buFontTx/>
              <a:buBlip>
                <a:blip r:embed="rId4"/>
              </a:buBlip>
              <a:defRPr sz="1600">
                <a:solidFill>
                  <a:schemeClr val="bg1"/>
                </a:solidFill>
                <a:latin typeface="+mn-lt"/>
              </a:defRPr>
            </a:lvl3pPr>
            <a:lvl4pPr marL="1657350" indent="-285750" algn="l">
              <a:lnSpc>
                <a:spcPts val="2020"/>
              </a:lnSpc>
              <a:buSzPct val="100000"/>
              <a:buFontTx/>
              <a:buBlip>
                <a:blip r:embed="rId4"/>
              </a:buBlip>
              <a:defRPr sz="1600">
                <a:solidFill>
                  <a:schemeClr val="bg1"/>
                </a:solidFill>
                <a:latin typeface="+mn-lt"/>
              </a:defRPr>
            </a:lvl4pPr>
            <a:lvl5pPr marL="2114550" indent="-285750" algn="l">
              <a:lnSpc>
                <a:spcPts val="2020"/>
              </a:lnSpc>
              <a:buSzPct val="100000"/>
              <a:buFontTx/>
              <a:buBlip>
                <a:blip r:embed="rId4"/>
              </a:buBlip>
              <a:defRPr sz="16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97693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Light_Sub">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6F0300B-935C-8414-45CA-914146389CC2}"/>
              </a:ext>
            </a:extLst>
          </p:cNvPr>
          <p:cNvSpPr>
            <a:spLocks noGrp="1"/>
          </p:cNvSpPr>
          <p:nvPr>
            <p:ph type="title"/>
          </p:nvPr>
        </p:nvSpPr>
        <p:spPr>
          <a:xfrm>
            <a:off x="420000" y="228600"/>
            <a:ext cx="11338560" cy="425592"/>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2" name="Group 1">
            <a:extLst>
              <a:ext uri="{FF2B5EF4-FFF2-40B4-BE49-F238E27FC236}">
                <a16:creationId xmlns:a16="http://schemas.microsoft.com/office/drawing/2014/main" id="{194E9799-634E-7736-76B4-6220A70329AF}"/>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684A767D-3F86-D687-87F0-42E5F8F82CBC}"/>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E49A6899-080A-CB11-E001-0849EFA039BC}"/>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BD83557B-4935-7DE8-D7B5-DD3A59F0D9D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14" name="Text Placeholder 6">
            <a:extLst>
              <a:ext uri="{FF2B5EF4-FFF2-40B4-BE49-F238E27FC236}">
                <a16:creationId xmlns:a16="http://schemas.microsoft.com/office/drawing/2014/main" id="{2DB32DC9-CD14-7184-963C-A86EEEA32669}"/>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tx1"/>
                </a:solidFill>
                <a:latin typeface="+mj-lt"/>
              </a:defRPr>
            </a:lvl1pPr>
          </a:lstStyle>
          <a:p>
            <a:pPr lvl="0"/>
            <a:r>
              <a:rPr lang="en-US"/>
              <a:t>Click to edit Master text styles</a:t>
            </a:r>
          </a:p>
        </p:txBody>
      </p:sp>
      <p:sp>
        <p:nvSpPr>
          <p:cNvPr id="501" name="Slide Number Placeholder 501"/>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7DA59B58-B945-4B36-BC6B-9C26C933A008}" type="slidenum">
              <a:rPr lang="en-US" smtClean="0"/>
              <a:t>‹#›</a:t>
            </a:fld>
            <a:endParaRPr lang="en-US"/>
          </a:p>
        </p:txBody>
      </p:sp>
      <p:grpSp>
        <p:nvGrpSpPr>
          <p:cNvPr id="4" name="Group 3">
            <a:extLst>
              <a:ext uri="{FF2B5EF4-FFF2-40B4-BE49-F238E27FC236}">
                <a16:creationId xmlns:a16="http://schemas.microsoft.com/office/drawing/2014/main" id="{D13ABF44-7159-0310-8642-D658032AE35C}"/>
              </a:ext>
            </a:extLst>
          </p:cNvPr>
          <p:cNvGrpSpPr/>
          <p:nvPr userDrawn="1"/>
        </p:nvGrpSpPr>
        <p:grpSpPr>
          <a:xfrm>
            <a:off x="335847" y="6525414"/>
            <a:ext cx="11424153" cy="274320"/>
            <a:chOff x="335847" y="6525414"/>
            <a:chExt cx="11424153" cy="274320"/>
          </a:xfrm>
        </p:grpSpPr>
        <p:pic>
          <p:nvPicPr>
            <p:cNvPr id="6" name="Picture 5" descr="A black screen with a purple border&#10;&#10;AI-generated content may be incorrect.">
              <a:extLst>
                <a:ext uri="{FF2B5EF4-FFF2-40B4-BE49-F238E27FC236}">
                  <a16:creationId xmlns:a16="http://schemas.microsoft.com/office/drawing/2014/main" id="{DA256E40-4839-A002-DAE4-E92AC3621E44}"/>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7" name="Picture 6" descr="A black and grey logo&#10;&#10;AI-generated content may be incorrect.">
              <a:extLst>
                <a:ext uri="{FF2B5EF4-FFF2-40B4-BE49-F238E27FC236}">
                  <a16:creationId xmlns:a16="http://schemas.microsoft.com/office/drawing/2014/main" id="{D9790FCA-7576-E215-2F6F-5D710A40D684}"/>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8" name="TextBox 7">
              <a:extLst>
                <a:ext uri="{FF2B5EF4-FFF2-40B4-BE49-F238E27FC236}">
                  <a16:creationId xmlns:a16="http://schemas.microsoft.com/office/drawing/2014/main" id="{2B89C57F-9FD2-3D9E-C745-F36B0B48A6C5}"/>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3" name="Content Placeholder 2">
            <a:extLst>
              <a:ext uri="{FF2B5EF4-FFF2-40B4-BE49-F238E27FC236}">
                <a16:creationId xmlns:a16="http://schemas.microsoft.com/office/drawing/2014/main" id="{DBD2E08C-7819-8536-BD90-D963237DC2FA}"/>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2">
                    <a:lumMod val="25000"/>
                  </a:schemeClr>
                </a:solidFill>
                <a:latin typeface="+mn-lt"/>
              </a:defRPr>
            </a:lvl1pPr>
            <a:lvl2pPr marL="742950" indent="-285750" algn="l">
              <a:lnSpc>
                <a:spcPts val="2020"/>
              </a:lnSpc>
              <a:buSzPct val="100000"/>
              <a:buFontTx/>
              <a:buBlip>
                <a:blip r:embed="rId4"/>
              </a:buBlip>
              <a:defRPr sz="1800">
                <a:solidFill>
                  <a:schemeClr val="bg2">
                    <a:lumMod val="25000"/>
                  </a:schemeClr>
                </a:solidFill>
                <a:latin typeface="+mn-lt"/>
              </a:defRPr>
            </a:lvl2pPr>
            <a:lvl3pPr marL="1200150" indent="-285750" algn="l">
              <a:lnSpc>
                <a:spcPts val="2020"/>
              </a:lnSpc>
              <a:buSzPct val="100000"/>
              <a:buFontTx/>
              <a:buBlip>
                <a:blip r:embed="rId4"/>
              </a:buBlip>
              <a:defRPr sz="1600">
                <a:solidFill>
                  <a:schemeClr val="bg2">
                    <a:lumMod val="25000"/>
                  </a:schemeClr>
                </a:solidFill>
                <a:latin typeface="+mn-lt"/>
              </a:defRPr>
            </a:lvl3pPr>
            <a:lvl4pPr marL="1657350" indent="-285750" algn="l">
              <a:lnSpc>
                <a:spcPts val="2020"/>
              </a:lnSpc>
              <a:buSzPct val="100000"/>
              <a:buFontTx/>
              <a:buBlip>
                <a:blip r:embed="rId4"/>
              </a:buBlip>
              <a:defRPr sz="1600">
                <a:solidFill>
                  <a:schemeClr val="bg2">
                    <a:lumMod val="25000"/>
                  </a:schemeClr>
                </a:solidFill>
                <a:latin typeface="+mn-lt"/>
              </a:defRPr>
            </a:lvl4pPr>
            <a:lvl5pPr marL="2114550" indent="-285750" algn="l">
              <a:lnSpc>
                <a:spcPts val="2020"/>
              </a:lnSpc>
              <a:buSzPct val="100000"/>
              <a:buFontTx/>
              <a:buBlip>
                <a:blip r:embed="rId4"/>
              </a:buBlip>
              <a:defRPr sz="1600">
                <a:solidFill>
                  <a:schemeClr val="bg2">
                    <a:lumMod val="25000"/>
                  </a:schemeClr>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53552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_Dark_Sub">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DD88E1E-075F-16F9-E92B-5A17AA502768}"/>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E24CC322-E05B-5FA0-F1FB-CE44C7DC4AA2}"/>
              </a:ext>
            </a:extLst>
          </p:cNvPr>
          <p:cNvPicPr>
            <a:picLocks noChangeAspect="1"/>
          </p:cNvPicPr>
          <p:nvPr/>
        </p:nvPicPr>
        <p:blipFill>
          <a:blip r:embed="rId3"/>
          <a:srcRect/>
          <a:stretch/>
        </p:blipFill>
        <p:spPr>
          <a:xfrm>
            <a:off x="338835" y="6515152"/>
            <a:ext cx="1338681" cy="273100"/>
          </a:xfrm>
          <a:prstGeom prst="rect">
            <a:avLst/>
          </a:prstGeom>
        </p:spPr>
      </p:pic>
      <p:sp>
        <p:nvSpPr>
          <p:cNvPr id="4" name="TextBox 3">
            <a:extLst>
              <a:ext uri="{FF2B5EF4-FFF2-40B4-BE49-F238E27FC236}">
                <a16:creationId xmlns:a16="http://schemas.microsoft.com/office/drawing/2014/main" id="{A1FDE916-4E68-47BE-7CCA-CE1BDDE69408}"/>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4" name="Slide Number Placeholder 504"/>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907D951D-1967-483E-BB83-DA2FAF8BD3C5}" type="slidenum">
              <a:rPr lang="en-US" smtClean="0"/>
              <a:t>‹#›</a:t>
            </a:fld>
            <a:endParaRPr lang="en-US"/>
          </a:p>
        </p:txBody>
      </p:sp>
      <p:sp>
        <p:nvSpPr>
          <p:cNvPr id="7" name="Title 1">
            <a:extLst>
              <a:ext uri="{FF2B5EF4-FFF2-40B4-BE49-F238E27FC236}">
                <a16:creationId xmlns:a16="http://schemas.microsoft.com/office/drawing/2014/main" id="{3E7E6407-B729-531A-E63B-931D38FA1997}"/>
              </a:ext>
            </a:extLst>
          </p:cNvPr>
          <p:cNvSpPr>
            <a:spLocks noGrp="1"/>
          </p:cNvSpPr>
          <p:nvPr>
            <p:ph type="title"/>
          </p:nvPr>
        </p:nvSpPr>
        <p:spPr>
          <a:xfrm>
            <a:off x="420000" y="228600"/>
            <a:ext cx="11338560" cy="425592"/>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sp>
        <p:nvSpPr>
          <p:cNvPr id="8" name="Text Placeholder 6">
            <a:extLst>
              <a:ext uri="{FF2B5EF4-FFF2-40B4-BE49-F238E27FC236}">
                <a16:creationId xmlns:a16="http://schemas.microsoft.com/office/drawing/2014/main" id="{84657EC2-CEDF-D7F5-6742-63F0C8E338CA}"/>
              </a:ext>
            </a:extLst>
          </p:cNvPr>
          <p:cNvSpPr>
            <a:spLocks noGrp="1"/>
          </p:cNvSpPr>
          <p:nvPr>
            <p:ph type="body" sz="quarter" idx="12"/>
          </p:nvPr>
        </p:nvSpPr>
        <p:spPr>
          <a:xfrm>
            <a:off x="420000" y="674041"/>
            <a:ext cx="11338560" cy="343702"/>
          </a:xfrm>
          <a:prstGeom prst="rect">
            <a:avLst/>
          </a:prstGeom>
        </p:spPr>
        <p:txBody>
          <a:bodyPr/>
          <a:lstStyle>
            <a:lvl1pPr>
              <a:buNone/>
              <a:defRPr sz="2000">
                <a:solidFill>
                  <a:schemeClr val="bg1"/>
                </a:solidFill>
                <a:latin typeface="+mj-lt"/>
              </a:defRPr>
            </a:lvl1pPr>
          </a:lstStyle>
          <a:p>
            <a:pPr lvl="0"/>
            <a:r>
              <a:rPr lang="en-US"/>
              <a:t>Click to edit Master text styles</a:t>
            </a:r>
          </a:p>
        </p:txBody>
      </p:sp>
      <p:pic>
        <p:nvPicPr>
          <p:cNvPr id="5" name="Picture 4">
            <a:extLst>
              <a:ext uri="{FF2B5EF4-FFF2-40B4-BE49-F238E27FC236}">
                <a16:creationId xmlns:a16="http://schemas.microsoft.com/office/drawing/2014/main" id="{C9B9B128-F973-EEF6-EF03-D91D80373494}"/>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9" name="Picture 8">
            <a:extLst>
              <a:ext uri="{FF2B5EF4-FFF2-40B4-BE49-F238E27FC236}">
                <a16:creationId xmlns:a16="http://schemas.microsoft.com/office/drawing/2014/main" id="{B76599BF-0C95-F285-041D-E211D0EBCB3E}"/>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10" name="TextBox 9">
            <a:extLst>
              <a:ext uri="{FF2B5EF4-FFF2-40B4-BE49-F238E27FC236}">
                <a16:creationId xmlns:a16="http://schemas.microsoft.com/office/drawing/2014/main" id="{79996EC1-CD86-C9E1-9600-D7F536EFF6C9}"/>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6" name="Content Placeholder 2">
            <a:extLst>
              <a:ext uri="{FF2B5EF4-FFF2-40B4-BE49-F238E27FC236}">
                <a16:creationId xmlns:a16="http://schemas.microsoft.com/office/drawing/2014/main" id="{9797606E-5522-2270-7E8E-8B301BF4754B}"/>
              </a:ext>
            </a:extLst>
          </p:cNvPr>
          <p:cNvSpPr>
            <a:spLocks noGrp="1"/>
          </p:cNvSpPr>
          <p:nvPr>
            <p:ph sz="quarter" idx="11"/>
          </p:nvPr>
        </p:nvSpPr>
        <p:spPr>
          <a:xfrm>
            <a:off x="420000" y="1493167"/>
            <a:ext cx="11338560" cy="4673952"/>
          </a:xfrm>
          <a:prstGeom prst="rect">
            <a:avLst/>
          </a:prstGeom>
        </p:spPr>
        <p:txBody>
          <a:bodyPr tIns="108000" anchor="t"/>
          <a:lstStyle>
            <a:lvl1pPr marL="285750" indent="-285750" algn="l">
              <a:lnSpc>
                <a:spcPts val="2020"/>
              </a:lnSpc>
              <a:buSzPct val="100000"/>
              <a:buFontTx/>
              <a:buBlip>
                <a:blip r:embed="rId4"/>
              </a:buBlip>
              <a:defRPr sz="2000">
                <a:solidFill>
                  <a:schemeClr val="bg1"/>
                </a:solidFill>
                <a:latin typeface="+mn-lt"/>
              </a:defRPr>
            </a:lvl1pPr>
            <a:lvl2pPr marL="742950" indent="-285750" algn="l">
              <a:lnSpc>
                <a:spcPts val="2020"/>
              </a:lnSpc>
              <a:buSzPct val="100000"/>
              <a:buFontTx/>
              <a:buBlip>
                <a:blip r:embed="rId4"/>
              </a:buBlip>
              <a:defRPr sz="1800">
                <a:solidFill>
                  <a:schemeClr val="bg1"/>
                </a:solidFill>
                <a:latin typeface="+mn-lt"/>
              </a:defRPr>
            </a:lvl2pPr>
            <a:lvl3pPr marL="1200150" indent="-285750" algn="l">
              <a:lnSpc>
                <a:spcPts val="2020"/>
              </a:lnSpc>
              <a:buSzPct val="100000"/>
              <a:buFontTx/>
              <a:buBlip>
                <a:blip r:embed="rId4"/>
              </a:buBlip>
              <a:defRPr sz="1600">
                <a:solidFill>
                  <a:schemeClr val="bg1"/>
                </a:solidFill>
                <a:latin typeface="+mn-lt"/>
              </a:defRPr>
            </a:lvl3pPr>
            <a:lvl4pPr marL="1657350" indent="-285750" algn="l">
              <a:lnSpc>
                <a:spcPts val="2020"/>
              </a:lnSpc>
              <a:buSzPct val="100000"/>
              <a:buFontTx/>
              <a:buBlip>
                <a:blip r:embed="rId4"/>
              </a:buBlip>
              <a:defRPr sz="1600">
                <a:solidFill>
                  <a:schemeClr val="bg1"/>
                </a:solidFill>
                <a:latin typeface="+mn-lt"/>
              </a:defRPr>
            </a:lvl4pPr>
            <a:lvl5pPr marL="2114550" indent="-285750" algn="l">
              <a:lnSpc>
                <a:spcPts val="2020"/>
              </a:lnSpc>
              <a:buSzPct val="100000"/>
              <a:buFontTx/>
              <a:buBlip>
                <a:blip r:embed="rId4"/>
              </a:buBlip>
              <a:defRPr sz="1600">
                <a:solidFill>
                  <a:schemeClr val="bg1"/>
                </a:solidFill>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85953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_Only_Light">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35D7D86-FBBE-7F7A-B7FF-0D7DFE0BAD46}"/>
              </a:ext>
            </a:extLst>
          </p:cNvPr>
          <p:cNvGrpSpPr/>
          <p:nvPr/>
        </p:nvGrpSpPr>
        <p:grpSpPr>
          <a:xfrm>
            <a:off x="335847" y="6525414"/>
            <a:ext cx="11424153" cy="274320"/>
            <a:chOff x="335847" y="6525414"/>
            <a:chExt cx="11424153" cy="274320"/>
          </a:xfrm>
        </p:grpSpPr>
        <p:pic>
          <p:nvPicPr>
            <p:cNvPr id="11" name="Picture 10" descr="A black screen with a purple border&#10;&#10;AI-generated content may be incorrect.">
              <a:extLst>
                <a:ext uri="{FF2B5EF4-FFF2-40B4-BE49-F238E27FC236}">
                  <a16:creationId xmlns:a16="http://schemas.microsoft.com/office/drawing/2014/main" id="{5BAEB00A-12B2-8C80-05C3-953E8EF87DD6}"/>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2" name="Picture 11" descr="A black and grey logo&#10;&#10;AI-generated content may be incorrect.">
              <a:extLst>
                <a:ext uri="{FF2B5EF4-FFF2-40B4-BE49-F238E27FC236}">
                  <a16:creationId xmlns:a16="http://schemas.microsoft.com/office/drawing/2014/main" id="{A5EE5FB5-040C-44E2-4B16-D6D638638DF0}"/>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3" name="TextBox 12">
              <a:extLst>
                <a:ext uri="{FF2B5EF4-FFF2-40B4-BE49-F238E27FC236}">
                  <a16:creationId xmlns:a16="http://schemas.microsoft.com/office/drawing/2014/main" id="{987B2ED7-8640-ADBE-297E-5F8489AA98B5}"/>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0" name="Slide Number Placeholder 500"/>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1875A764-3B06-454E-8ABA-2F6ED0EB58E9}" type="slidenum">
              <a:rPr lang="en-US" smtClean="0"/>
              <a:t>‹#›</a:t>
            </a:fld>
            <a:endParaRPr lang="en-US"/>
          </a:p>
        </p:txBody>
      </p:sp>
      <p:sp>
        <p:nvSpPr>
          <p:cNvPr id="2" name="Title 1">
            <a:extLst>
              <a:ext uri="{FF2B5EF4-FFF2-40B4-BE49-F238E27FC236}">
                <a16:creationId xmlns:a16="http://schemas.microsoft.com/office/drawing/2014/main" id="{24239D7E-847E-7ECB-B5B3-78921924BC62}"/>
              </a:ext>
            </a:extLst>
          </p:cNvPr>
          <p:cNvSpPr>
            <a:spLocks noGrp="1"/>
          </p:cNvSpPr>
          <p:nvPr>
            <p:ph type="title"/>
          </p:nvPr>
        </p:nvSpPr>
        <p:spPr>
          <a:xfrm>
            <a:off x="420000" y="228600"/>
            <a:ext cx="11338560" cy="546568"/>
          </a:xfrm>
          <a:prstGeom prst="rect">
            <a:avLst/>
          </a:prstGeom>
        </p:spPr>
        <p:txBody>
          <a:bodyPr/>
          <a:lstStyle>
            <a:lvl1pPr>
              <a:defRPr sz="2800" b="1">
                <a:solidFill>
                  <a:srgbClr val="1D1D1D"/>
                </a:solidFill>
                <a:latin typeface="Segoe UI" pitchFamily="34" charset="0"/>
              </a:defRPr>
            </a:lvl1pPr>
          </a:lstStyle>
          <a:p>
            <a:r>
              <a:rPr lang="en-US"/>
              <a:t>Click to edit Master title style</a:t>
            </a:r>
            <a:endParaRPr/>
          </a:p>
        </p:txBody>
      </p:sp>
      <p:grpSp>
        <p:nvGrpSpPr>
          <p:cNvPr id="3" name="Group 2">
            <a:extLst>
              <a:ext uri="{FF2B5EF4-FFF2-40B4-BE49-F238E27FC236}">
                <a16:creationId xmlns:a16="http://schemas.microsoft.com/office/drawing/2014/main" id="{EB225BBB-4B98-5FF7-84C1-7A330B9237C5}"/>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11399B78-A26E-C5D3-5977-F72D21DCEFAD}"/>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6" name="Picture 5" descr="A black and grey logo&#10;&#10;AI-generated content may be incorrect.">
              <a:extLst>
                <a:ext uri="{FF2B5EF4-FFF2-40B4-BE49-F238E27FC236}">
                  <a16:creationId xmlns:a16="http://schemas.microsoft.com/office/drawing/2014/main" id="{FD13B7C0-9011-B8D4-9EEE-6C853DFAFB6C}"/>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7" name="TextBox 6">
              <a:extLst>
                <a:ext uri="{FF2B5EF4-FFF2-40B4-BE49-F238E27FC236}">
                  <a16:creationId xmlns:a16="http://schemas.microsoft.com/office/drawing/2014/main" id="{78EAC99F-5662-C339-9764-481B7B922392}"/>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256209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_Only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855D8E-7C99-F04C-568A-F3D00C3F9DC1}"/>
              </a:ext>
            </a:extLst>
          </p:cNvPr>
          <p:cNvPicPr>
            <a:picLocks noChangeAspect="1"/>
          </p:cNvPicPr>
          <p:nvPr/>
        </p:nvPicPr>
        <p:blipFill>
          <a:blip r:embed="rId2"/>
          <a:srcRect/>
          <a:stretch/>
        </p:blipFill>
        <p:spPr>
          <a:xfrm>
            <a:off x="9885198" y="6514542"/>
            <a:ext cx="1857894" cy="274320"/>
          </a:xfrm>
          <a:prstGeom prst="rect">
            <a:avLst/>
          </a:prstGeom>
        </p:spPr>
      </p:pic>
      <p:pic>
        <p:nvPicPr>
          <p:cNvPr id="7" name="Picture 6">
            <a:extLst>
              <a:ext uri="{FF2B5EF4-FFF2-40B4-BE49-F238E27FC236}">
                <a16:creationId xmlns:a16="http://schemas.microsoft.com/office/drawing/2014/main" id="{47C47C13-ABA9-A848-6895-50FBF0B20733}"/>
              </a:ext>
            </a:extLst>
          </p:cNvPr>
          <p:cNvPicPr>
            <a:picLocks noChangeAspect="1"/>
          </p:cNvPicPr>
          <p:nvPr/>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240F3394-203F-9BB3-143F-1A80C14393A6}"/>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3" name="Slide Number Placeholder 503"/>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07E56B2-1050-4901-A86F-E2774496114A}" type="slidenum">
              <a:rPr lang="en-US" smtClean="0"/>
              <a:t>‹#›</a:t>
            </a:fld>
            <a:endParaRPr lang="en-US"/>
          </a:p>
        </p:txBody>
      </p:sp>
      <p:sp>
        <p:nvSpPr>
          <p:cNvPr id="2" name="Title 1">
            <a:extLst>
              <a:ext uri="{FF2B5EF4-FFF2-40B4-BE49-F238E27FC236}">
                <a16:creationId xmlns:a16="http://schemas.microsoft.com/office/drawing/2014/main" id="{A6F95571-82E2-85D7-3B9C-56BA8B5AD547}"/>
              </a:ext>
            </a:extLst>
          </p:cNvPr>
          <p:cNvSpPr>
            <a:spLocks noGrp="1"/>
          </p:cNvSpPr>
          <p:nvPr>
            <p:ph type="title"/>
          </p:nvPr>
        </p:nvSpPr>
        <p:spPr>
          <a:xfrm>
            <a:off x="420000" y="228600"/>
            <a:ext cx="11338560" cy="546568"/>
          </a:xfrm>
          <a:prstGeom prst="rect">
            <a:avLst/>
          </a:prstGeom>
        </p:spPr>
        <p:txBody>
          <a:bodyPr/>
          <a:lstStyle>
            <a:lvl1pPr>
              <a:defRPr sz="2800" b="1">
                <a:solidFill>
                  <a:schemeClr val="bg1"/>
                </a:solidFill>
                <a:latin typeface="Segoe UI" pitchFamily="34" charset="0"/>
              </a:defRPr>
            </a:lvl1pPr>
          </a:lstStyle>
          <a:p>
            <a:r>
              <a:rPr lang="en-US"/>
              <a:t>Click to edit Master title style</a:t>
            </a:r>
            <a:endParaRPr/>
          </a:p>
        </p:txBody>
      </p:sp>
      <p:pic>
        <p:nvPicPr>
          <p:cNvPr id="3" name="Picture 2">
            <a:extLst>
              <a:ext uri="{FF2B5EF4-FFF2-40B4-BE49-F238E27FC236}">
                <a16:creationId xmlns:a16="http://schemas.microsoft.com/office/drawing/2014/main" id="{7F7BC436-961B-D816-84DF-1F889D57215D}"/>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000C47-8281-C02D-16F9-EA7DC2C581A4}"/>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D1F91332-0918-0B47-73BF-CF5E1F4FE808}"/>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90947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_Ligh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577A6FE-7F15-37F5-2BCD-425A1BEB9F62}"/>
              </a:ext>
            </a:extLst>
          </p:cNvPr>
          <p:cNvGrpSpPr/>
          <p:nvPr/>
        </p:nvGrpSpPr>
        <p:grpSpPr>
          <a:xfrm>
            <a:off x="335847" y="6525414"/>
            <a:ext cx="11424153" cy="274320"/>
            <a:chOff x="335847" y="6525414"/>
            <a:chExt cx="11424153" cy="274320"/>
          </a:xfrm>
        </p:grpSpPr>
        <p:pic>
          <p:nvPicPr>
            <p:cNvPr id="10" name="Picture 9" descr="A black screen with a purple border&#10;&#10;AI-generated content may be incorrect.">
              <a:extLst>
                <a:ext uri="{FF2B5EF4-FFF2-40B4-BE49-F238E27FC236}">
                  <a16:creationId xmlns:a16="http://schemas.microsoft.com/office/drawing/2014/main" id="{2A7DCDAA-3778-05BB-466E-B7777E2F692F}"/>
                </a:ext>
              </a:extLst>
            </p:cNvPr>
            <p:cNvPicPr>
              <a:picLocks noChangeAspect="1"/>
            </p:cNvPicPr>
            <p:nvPr/>
          </p:nvPicPr>
          <p:blipFill>
            <a:blip r:embed="rId2"/>
            <a:stretch>
              <a:fillRect/>
            </a:stretch>
          </p:blipFill>
          <p:spPr>
            <a:xfrm>
              <a:off x="9868291" y="6525414"/>
              <a:ext cx="1891709" cy="274320"/>
            </a:xfrm>
            <a:prstGeom prst="rect">
              <a:avLst/>
            </a:prstGeom>
          </p:spPr>
        </p:pic>
        <p:pic>
          <p:nvPicPr>
            <p:cNvPr id="11" name="Picture 10" descr="A black and grey logo&#10;&#10;AI-generated content may be incorrect.">
              <a:extLst>
                <a:ext uri="{FF2B5EF4-FFF2-40B4-BE49-F238E27FC236}">
                  <a16:creationId xmlns:a16="http://schemas.microsoft.com/office/drawing/2014/main" id="{BA1AC551-0CBB-D6A0-1DDE-10B661503F24}"/>
                </a:ext>
              </a:extLst>
            </p:cNvPr>
            <p:cNvPicPr>
              <a:picLocks noChangeAspect="1"/>
            </p:cNvPicPr>
            <p:nvPr/>
          </p:nvPicPr>
          <p:blipFill>
            <a:blip r:embed="rId3"/>
            <a:stretch>
              <a:fillRect/>
            </a:stretch>
          </p:blipFill>
          <p:spPr>
            <a:xfrm>
              <a:off x="335847" y="6525414"/>
              <a:ext cx="1344658" cy="274320"/>
            </a:xfrm>
            <a:prstGeom prst="rect">
              <a:avLst/>
            </a:prstGeom>
          </p:spPr>
        </p:pic>
        <p:sp>
          <p:nvSpPr>
            <p:cNvPr id="12" name="TextBox 11">
              <a:extLst>
                <a:ext uri="{FF2B5EF4-FFF2-40B4-BE49-F238E27FC236}">
                  <a16:creationId xmlns:a16="http://schemas.microsoft.com/office/drawing/2014/main" id="{63953271-E885-522F-49C6-F0F1BBE5AEE8}"/>
                </a:ext>
              </a:extLst>
            </p:cNvPr>
            <p:cNvSpPr txBox="1"/>
            <p:nvPr/>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
        <p:nvSpPr>
          <p:cNvPr id="502" name="Slide Number Placeholder 502"/>
          <p:cNvSpPr>
            <a:spLocks noGrp="1"/>
          </p:cNvSpPr>
          <p:nvPr>
            <p:ph type="sldNum" sz="quarter" idx="4"/>
          </p:nvPr>
        </p:nvSpPr>
        <p:spPr>
          <a:xfrm>
            <a:off x="0" y="6554852"/>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263862CC-204F-4E50-8BF7-6EEE79EB8F36}" type="slidenum">
              <a:rPr lang="en-US" smtClean="0"/>
              <a:t>‹#›</a:t>
            </a:fld>
            <a:endParaRPr lang="en-US"/>
          </a:p>
        </p:txBody>
      </p:sp>
      <p:grpSp>
        <p:nvGrpSpPr>
          <p:cNvPr id="3" name="Group 2">
            <a:extLst>
              <a:ext uri="{FF2B5EF4-FFF2-40B4-BE49-F238E27FC236}">
                <a16:creationId xmlns:a16="http://schemas.microsoft.com/office/drawing/2014/main" id="{7F016BD5-A56B-5BA3-F690-D9AFCC34CA02}"/>
              </a:ext>
            </a:extLst>
          </p:cNvPr>
          <p:cNvGrpSpPr/>
          <p:nvPr userDrawn="1"/>
        </p:nvGrpSpPr>
        <p:grpSpPr>
          <a:xfrm>
            <a:off x="335847" y="6525414"/>
            <a:ext cx="11424153" cy="274320"/>
            <a:chOff x="335847" y="6525414"/>
            <a:chExt cx="11424153" cy="274320"/>
          </a:xfrm>
        </p:grpSpPr>
        <p:pic>
          <p:nvPicPr>
            <p:cNvPr id="4" name="Picture 3" descr="A black screen with a purple border&#10;&#10;AI-generated content may be incorrect.">
              <a:extLst>
                <a:ext uri="{FF2B5EF4-FFF2-40B4-BE49-F238E27FC236}">
                  <a16:creationId xmlns:a16="http://schemas.microsoft.com/office/drawing/2014/main" id="{F57B6DD7-1C29-5CD5-E825-1A6752941061}"/>
                </a:ext>
              </a:extLst>
            </p:cNvPr>
            <p:cNvPicPr>
              <a:picLocks noChangeAspect="1"/>
            </p:cNvPicPr>
            <p:nvPr userDrawn="1"/>
          </p:nvPicPr>
          <p:blipFill>
            <a:blip r:embed="rId2"/>
            <a:stretch>
              <a:fillRect/>
            </a:stretch>
          </p:blipFill>
          <p:spPr>
            <a:xfrm>
              <a:off x="9868291" y="6525414"/>
              <a:ext cx="1891709" cy="274320"/>
            </a:xfrm>
            <a:prstGeom prst="rect">
              <a:avLst/>
            </a:prstGeom>
          </p:spPr>
        </p:pic>
        <p:pic>
          <p:nvPicPr>
            <p:cNvPr id="5" name="Picture 4" descr="A black and grey logo&#10;&#10;AI-generated content may be incorrect.">
              <a:extLst>
                <a:ext uri="{FF2B5EF4-FFF2-40B4-BE49-F238E27FC236}">
                  <a16:creationId xmlns:a16="http://schemas.microsoft.com/office/drawing/2014/main" id="{EB161965-9496-DC09-2773-B4928F83CC1B}"/>
                </a:ext>
              </a:extLst>
            </p:cNvPr>
            <p:cNvPicPr>
              <a:picLocks noChangeAspect="1"/>
            </p:cNvPicPr>
            <p:nvPr userDrawn="1"/>
          </p:nvPicPr>
          <p:blipFill>
            <a:blip r:embed="rId3"/>
            <a:stretch>
              <a:fillRect/>
            </a:stretch>
          </p:blipFill>
          <p:spPr>
            <a:xfrm>
              <a:off x="335847" y="6525414"/>
              <a:ext cx="1344658" cy="274320"/>
            </a:xfrm>
            <a:prstGeom prst="rect">
              <a:avLst/>
            </a:prstGeom>
          </p:spPr>
        </p:pic>
        <p:sp>
          <p:nvSpPr>
            <p:cNvPr id="6" name="TextBox 5">
              <a:extLst>
                <a:ext uri="{FF2B5EF4-FFF2-40B4-BE49-F238E27FC236}">
                  <a16:creationId xmlns:a16="http://schemas.microsoft.com/office/drawing/2014/main" id="{CC0ABE36-5BB2-574A-E750-F948BA8DAE9A}"/>
                </a:ext>
              </a:extLst>
            </p:cNvPr>
            <p:cNvSpPr txBox="1"/>
            <p:nvPr userDrawn="1"/>
          </p:nvSpPr>
          <p:spPr>
            <a:xfrm>
              <a:off x="1832436" y="6554852"/>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grpSp>
    </p:spTree>
    <p:extLst>
      <p:ext uri="{BB962C8B-B14F-4D97-AF65-F5344CB8AC3E}">
        <p14:creationId xmlns:p14="http://schemas.microsoft.com/office/powerpoint/2010/main" val="90266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_Dark">
    <p:bg>
      <p:bgPr>
        <a:solidFill>
          <a:srgbClr val="281A4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01AD69-9691-1E32-5B19-EADB15933819}"/>
              </a:ext>
            </a:extLst>
          </p:cNvPr>
          <p:cNvPicPr>
            <a:picLocks noChangeAspect="1"/>
          </p:cNvPicPr>
          <p:nvPr/>
        </p:nvPicPr>
        <p:blipFill>
          <a:blip r:embed="rId2"/>
          <a:srcRect/>
          <a:stretch/>
        </p:blipFill>
        <p:spPr>
          <a:xfrm>
            <a:off x="9885198" y="6514542"/>
            <a:ext cx="1857894" cy="274320"/>
          </a:xfrm>
          <a:prstGeom prst="rect">
            <a:avLst/>
          </a:prstGeom>
        </p:spPr>
      </p:pic>
      <p:pic>
        <p:nvPicPr>
          <p:cNvPr id="3" name="Picture 2">
            <a:extLst>
              <a:ext uri="{FF2B5EF4-FFF2-40B4-BE49-F238E27FC236}">
                <a16:creationId xmlns:a16="http://schemas.microsoft.com/office/drawing/2014/main" id="{1F889208-DB86-485A-C5EF-41C729FD141B}"/>
              </a:ext>
            </a:extLst>
          </p:cNvPr>
          <p:cNvPicPr>
            <a:picLocks noChangeAspect="1"/>
          </p:cNvPicPr>
          <p:nvPr/>
        </p:nvPicPr>
        <p:blipFill>
          <a:blip r:embed="rId3"/>
          <a:srcRect/>
          <a:stretch/>
        </p:blipFill>
        <p:spPr>
          <a:xfrm>
            <a:off x="338835" y="6515152"/>
            <a:ext cx="1338681" cy="273100"/>
          </a:xfrm>
          <a:prstGeom prst="rect">
            <a:avLst/>
          </a:prstGeom>
        </p:spPr>
      </p:pic>
      <p:sp>
        <p:nvSpPr>
          <p:cNvPr id="8" name="TextBox 7">
            <a:extLst>
              <a:ext uri="{FF2B5EF4-FFF2-40B4-BE49-F238E27FC236}">
                <a16:creationId xmlns:a16="http://schemas.microsoft.com/office/drawing/2014/main" id="{00960D57-6649-C85B-C203-A5A47F87752B}"/>
              </a:ext>
            </a:extLst>
          </p:cNvPr>
          <p:cNvSpPr txBox="1"/>
          <p:nvPr/>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
        <p:nvSpPr>
          <p:cNvPr id="505" name="Slide Number Placeholder 505"/>
          <p:cNvSpPr>
            <a:spLocks noGrp="1"/>
          </p:cNvSpPr>
          <p:nvPr>
            <p:ph type="sldNum" sz="quarter" idx="4"/>
          </p:nvPr>
        </p:nvSpPr>
        <p:spPr>
          <a:xfrm>
            <a:off x="0" y="6543980"/>
            <a:ext cx="12192000" cy="215444"/>
          </a:xfrm>
          <a:prstGeom prst="rect">
            <a:avLst/>
          </a:prstGeom>
          <a:noFill/>
        </p:spPr>
        <p:txBody>
          <a:bodyPr vert="horz" lIns="91440" tIns="45720" rIns="91440" bIns="45720" rtlCol="0" anchor="ctr"/>
          <a:lstStyle>
            <a:lvl1pPr algn="ctr">
              <a:defRPr sz="800">
                <a:solidFill>
                  <a:srgbClr val="B3BBCA"/>
                </a:solidFill>
                <a:latin typeface="Arial" panose="020B0604020202020204" pitchFamily="34" charset="0"/>
              </a:defRPr>
            </a:lvl1pPr>
          </a:lstStyle>
          <a:p>
            <a:pPr algn="ctr"/>
            <a:fld id="{5B5F607B-51C9-463C-B8AC-22C4474A29A3}" type="slidenum">
              <a:rPr lang="en-US" smtClean="0"/>
              <a:t>‹#›</a:t>
            </a:fld>
            <a:endParaRPr lang="en-US"/>
          </a:p>
        </p:txBody>
      </p:sp>
      <p:pic>
        <p:nvPicPr>
          <p:cNvPr id="4" name="Picture 3">
            <a:extLst>
              <a:ext uri="{FF2B5EF4-FFF2-40B4-BE49-F238E27FC236}">
                <a16:creationId xmlns:a16="http://schemas.microsoft.com/office/drawing/2014/main" id="{44367700-E7B8-00A1-CA00-780B430A3123}"/>
              </a:ext>
            </a:extLst>
          </p:cNvPr>
          <p:cNvPicPr>
            <a:picLocks noChangeAspect="1"/>
          </p:cNvPicPr>
          <p:nvPr userDrawn="1"/>
        </p:nvPicPr>
        <p:blipFill>
          <a:blip r:embed="rId2"/>
          <a:srcRect/>
          <a:stretch/>
        </p:blipFill>
        <p:spPr>
          <a:xfrm>
            <a:off x="9885198" y="6514542"/>
            <a:ext cx="1857894" cy="274320"/>
          </a:xfrm>
          <a:prstGeom prst="rect">
            <a:avLst/>
          </a:prstGeom>
        </p:spPr>
      </p:pic>
      <p:pic>
        <p:nvPicPr>
          <p:cNvPr id="5" name="Picture 4">
            <a:extLst>
              <a:ext uri="{FF2B5EF4-FFF2-40B4-BE49-F238E27FC236}">
                <a16:creationId xmlns:a16="http://schemas.microsoft.com/office/drawing/2014/main" id="{92FFD0E7-4FF1-D7DE-B8CF-6D3ADD3BC27F}"/>
              </a:ext>
            </a:extLst>
          </p:cNvPr>
          <p:cNvPicPr>
            <a:picLocks noChangeAspect="1"/>
          </p:cNvPicPr>
          <p:nvPr userDrawn="1"/>
        </p:nvPicPr>
        <p:blipFill>
          <a:blip r:embed="rId3"/>
          <a:srcRect/>
          <a:stretch/>
        </p:blipFill>
        <p:spPr>
          <a:xfrm>
            <a:off x="338835" y="6515152"/>
            <a:ext cx="1338681" cy="273100"/>
          </a:xfrm>
          <a:prstGeom prst="rect">
            <a:avLst/>
          </a:prstGeom>
        </p:spPr>
      </p:pic>
      <p:sp>
        <p:nvSpPr>
          <p:cNvPr id="6" name="TextBox 5">
            <a:extLst>
              <a:ext uri="{FF2B5EF4-FFF2-40B4-BE49-F238E27FC236}">
                <a16:creationId xmlns:a16="http://schemas.microsoft.com/office/drawing/2014/main" id="{6A1BC7B2-6B3B-DB21-E219-33C1F3A48CF1}"/>
              </a:ext>
            </a:extLst>
          </p:cNvPr>
          <p:cNvSpPr txBox="1"/>
          <p:nvPr userDrawn="1"/>
        </p:nvSpPr>
        <p:spPr>
          <a:xfrm>
            <a:off x="1832436" y="6543980"/>
            <a:ext cx="1508746" cy="215444"/>
          </a:xfrm>
          <a:prstGeom prst="rect">
            <a:avLst/>
          </a:prstGeom>
          <a:noFill/>
        </p:spPr>
        <p:txBody>
          <a:bodyPr wrap="none" rtlCol="0">
            <a:spAutoFit/>
          </a:bodyPr>
          <a:lstStyle/>
          <a:p>
            <a:r>
              <a:rPr lang="en-US" sz="800">
                <a:solidFill>
                  <a:srgbClr val="B3BBCA"/>
                </a:solidFill>
                <a:latin typeface="Arial" panose="020B0604020202020204" pitchFamily="34" charset="0"/>
                <a:cs typeface="Arial" panose="020B0604020202020204" pitchFamily="34" charset="0"/>
              </a:rPr>
              <a:t>© 2026 | All Rights Reserved</a:t>
            </a:r>
          </a:p>
        </p:txBody>
      </p:sp>
    </p:spTree>
    <p:extLst>
      <p:ext uri="{BB962C8B-B14F-4D97-AF65-F5344CB8AC3E}">
        <p14:creationId xmlns:p14="http://schemas.microsoft.com/office/powerpoint/2010/main" val="23999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281A4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09B0A9-4F98-C3F4-4E57-41FF83F30DD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6" name="Picture 5">
            <a:extLst>
              <a:ext uri="{FF2B5EF4-FFF2-40B4-BE49-F238E27FC236}">
                <a16:creationId xmlns:a16="http://schemas.microsoft.com/office/drawing/2014/main" id="{CB4CFA25-03B5-0177-8AC1-33D467FC70EA}"/>
              </a:ext>
            </a:extLst>
          </p:cNvPr>
          <p:cNvPicPr>
            <a:picLocks noChangeAspect="1"/>
          </p:cNvPicPr>
          <p:nvPr/>
        </p:nvPicPr>
        <p:blipFill>
          <a:blip r:embed="rId3"/>
          <a:srcRect/>
          <a:stretch/>
        </p:blipFill>
        <p:spPr>
          <a:xfrm>
            <a:off x="9210430" y="6209865"/>
            <a:ext cx="2347233" cy="364855"/>
          </a:xfrm>
          <a:prstGeom prst="rect">
            <a:avLst/>
          </a:prstGeom>
        </p:spPr>
      </p:pic>
      <p:sp>
        <p:nvSpPr>
          <p:cNvPr id="8" name="Title 1">
            <a:extLst>
              <a:ext uri="{FF2B5EF4-FFF2-40B4-BE49-F238E27FC236}">
                <a16:creationId xmlns:a16="http://schemas.microsoft.com/office/drawing/2014/main" id="{D15AE0B4-EBC9-F172-55AF-5CEADF6BB87F}"/>
              </a:ext>
            </a:extLst>
          </p:cNvPr>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9" name="Text Placeholder 6">
            <a:extLst>
              <a:ext uri="{FF2B5EF4-FFF2-40B4-BE49-F238E27FC236}">
                <a16:creationId xmlns:a16="http://schemas.microsoft.com/office/drawing/2014/main" id="{5E6E9556-28FF-C72E-9775-EC041E8A5024}"/>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sp>
        <p:nvSpPr>
          <p:cNvPr id="2" name="Rectangle 1">
            <a:extLst>
              <a:ext uri="{FF2B5EF4-FFF2-40B4-BE49-F238E27FC236}">
                <a16:creationId xmlns:a16="http://schemas.microsoft.com/office/drawing/2014/main" id="{D1083F48-B9B5-250C-EC88-908B62BD3AFC}"/>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a:extLst>
              <a:ext uri="{FF2B5EF4-FFF2-40B4-BE49-F238E27FC236}">
                <a16:creationId xmlns:a16="http://schemas.microsoft.com/office/drawing/2014/main" id="{2AC4D28D-5628-0FAB-BB37-9B5095BB19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pic>
        <p:nvPicPr>
          <p:cNvPr id="5" name="Picture 4">
            <a:extLst>
              <a:ext uri="{FF2B5EF4-FFF2-40B4-BE49-F238E27FC236}">
                <a16:creationId xmlns:a16="http://schemas.microsoft.com/office/drawing/2014/main" id="{B8EC43E4-6A73-99D5-F9A3-E7D3D97EBF1A}"/>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7" name="Rectangle 6">
            <a:extLst>
              <a:ext uri="{FF2B5EF4-FFF2-40B4-BE49-F238E27FC236}">
                <a16:creationId xmlns:a16="http://schemas.microsoft.com/office/drawing/2014/main" id="{D1A58DCA-200A-6AF9-E5F0-31C116120388}"/>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845047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ivider_Cryst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6" name="Title 1"/>
          <p:cNvSpPr>
            <a:spLocks noGrp="1"/>
          </p:cNvSpPr>
          <p:nvPr>
            <p:ph type="title"/>
          </p:nvPr>
        </p:nvSpPr>
        <p:spPr>
          <a:xfrm>
            <a:off x="432000" y="2974822"/>
            <a:ext cx="11338560" cy="908357"/>
          </a:xfrm>
          <a:prstGeom prst="rect">
            <a:avLst/>
          </a:prstGeom>
        </p:spPr>
        <p:txBody>
          <a:bodyPr/>
          <a:lstStyle>
            <a:lvl1pPr>
              <a:defRPr sz="6600" b="1" spc="-150">
                <a:solidFill>
                  <a:schemeClr val="bg1"/>
                </a:solidFill>
                <a:latin typeface="+mj-lt"/>
              </a:defRPr>
            </a:lvl1pPr>
          </a:lstStyle>
          <a:p>
            <a:r>
              <a:rPr lang="en-US"/>
              <a:t>Click to edit Master title style</a:t>
            </a:r>
            <a:endParaRPr/>
          </a:p>
        </p:txBody>
      </p:sp>
      <p:sp>
        <p:nvSpPr>
          <p:cNvPr id="2" name="Text Placeholder 6">
            <a:extLst>
              <a:ext uri="{FF2B5EF4-FFF2-40B4-BE49-F238E27FC236}">
                <a16:creationId xmlns:a16="http://schemas.microsoft.com/office/drawing/2014/main" id="{14915D0C-CB06-62F7-E67D-7F5B928F57E1}"/>
              </a:ext>
            </a:extLst>
          </p:cNvPr>
          <p:cNvSpPr>
            <a:spLocks noGrp="1"/>
          </p:cNvSpPr>
          <p:nvPr>
            <p:ph type="body" sz="quarter" idx="12"/>
          </p:nvPr>
        </p:nvSpPr>
        <p:spPr>
          <a:xfrm>
            <a:off x="432000" y="3936973"/>
            <a:ext cx="11338560" cy="665692"/>
          </a:xfrm>
          <a:prstGeom prst="rect">
            <a:avLst/>
          </a:prstGeom>
        </p:spPr>
        <p:txBody>
          <a:bodyPr/>
          <a:lstStyle>
            <a:lvl1pPr>
              <a:buNone/>
              <a:defRPr sz="4000">
                <a:solidFill>
                  <a:schemeClr val="bg1"/>
                </a:solidFill>
                <a:latin typeface="+mj-lt"/>
              </a:defRPr>
            </a:lvl1pPr>
          </a:lstStyle>
          <a:p>
            <a:pPr lvl="0"/>
            <a:r>
              <a:rPr lang="en-US"/>
              <a:t>Click to edit Master text styles</a:t>
            </a:r>
          </a:p>
        </p:txBody>
      </p:sp>
      <p:pic>
        <p:nvPicPr>
          <p:cNvPr id="3" name="Picture 2">
            <a:extLst>
              <a:ext uri="{FF2B5EF4-FFF2-40B4-BE49-F238E27FC236}">
                <a16:creationId xmlns:a16="http://schemas.microsoft.com/office/drawing/2014/main" id="{4B798847-E310-8470-FC39-FCD772C71BD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5" name="Rectangle 4">
            <a:extLst>
              <a:ext uri="{FF2B5EF4-FFF2-40B4-BE49-F238E27FC236}">
                <a16:creationId xmlns:a16="http://schemas.microsoft.com/office/drawing/2014/main" id="{954F02A1-F26A-CCE0-8A13-B5F534431235}"/>
              </a:ext>
            </a:extLst>
          </p:cNvPr>
          <p:cNvSpPr/>
          <p:nvPr/>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a:extLst>
              <a:ext uri="{FF2B5EF4-FFF2-40B4-BE49-F238E27FC236}">
                <a16:creationId xmlns:a16="http://schemas.microsoft.com/office/drawing/2014/main" id="{2CF92799-6CFD-FC58-A1FC-8FAACB71FBF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32000" y="6209865"/>
            <a:ext cx="1847486" cy="363440"/>
          </a:xfrm>
          <a:prstGeom prst="rect">
            <a:avLst/>
          </a:prstGeom>
        </p:spPr>
      </p:pic>
      <p:sp>
        <p:nvSpPr>
          <p:cNvPr id="6" name="Rectangle 5">
            <a:extLst>
              <a:ext uri="{FF2B5EF4-FFF2-40B4-BE49-F238E27FC236}">
                <a16:creationId xmlns:a16="http://schemas.microsoft.com/office/drawing/2014/main" id="{C71AF492-0819-EC08-ED38-56959E5585DD}"/>
              </a:ext>
            </a:extLst>
          </p:cNvPr>
          <p:cNvSpPr/>
          <p:nvPr userDrawn="1"/>
        </p:nvSpPr>
        <p:spPr>
          <a:xfrm>
            <a:off x="0" y="0"/>
            <a:ext cx="91440" cy="6858000"/>
          </a:xfrm>
          <a:prstGeom prst="rect">
            <a:avLst/>
          </a:prstGeom>
          <a:solidFill>
            <a:srgbClr val="765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32097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ing_Dark">
    <p:bg>
      <p:bgPr>
        <a:solidFill>
          <a:srgbClr val="281A42"/>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FCAD75B8-1961-0901-7197-778645E6878F}"/>
              </a:ext>
            </a:extLst>
          </p:cNvPr>
          <p:cNvPicPr>
            <a:picLocks noChangeAspect="1"/>
          </p:cNvPicPr>
          <p:nvPr/>
        </p:nvPicPr>
        <p:blipFill>
          <a:blip r:embed="rId3"/>
          <a:srcRect/>
          <a:stretch/>
        </p:blipFill>
        <p:spPr>
          <a:xfrm>
            <a:off x="9210430" y="6209865"/>
            <a:ext cx="2347233" cy="364855"/>
          </a:xfrm>
          <a:prstGeom prst="rect">
            <a:avLst/>
          </a:prstGeom>
        </p:spPr>
      </p:pic>
      <p:pic>
        <p:nvPicPr>
          <p:cNvPr id="3" name="Picture 2">
            <a:extLst>
              <a:ext uri="{FF2B5EF4-FFF2-40B4-BE49-F238E27FC236}">
                <a16:creationId xmlns:a16="http://schemas.microsoft.com/office/drawing/2014/main" id="{EE0B02FF-8604-586E-FCEA-F2630787735E}"/>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pic>
        <p:nvPicPr>
          <p:cNvPr id="4" name="Picture 3">
            <a:extLst>
              <a:ext uri="{FF2B5EF4-FFF2-40B4-BE49-F238E27FC236}">
                <a16:creationId xmlns:a16="http://schemas.microsoft.com/office/drawing/2014/main" id="{929837DF-36CB-F9C7-2AF7-86255EDA03D9}"/>
              </a:ext>
            </a:extLst>
          </p:cNvPr>
          <p:cNvPicPr>
            <a:picLocks noChangeAspect="1"/>
          </p:cNvPicPr>
          <p:nvPr userDrawn="1"/>
        </p:nvPicPr>
        <p:blipFill>
          <a:blip r:embed="rId3"/>
          <a:srcRect/>
          <a:stretch/>
        </p:blipFill>
        <p:spPr>
          <a:xfrm>
            <a:off x="9210430" y="6209865"/>
            <a:ext cx="2347233" cy="364855"/>
          </a:xfrm>
          <a:prstGeom prst="rect">
            <a:avLst/>
          </a:prstGeom>
        </p:spPr>
      </p:pic>
      <p:sp>
        <p:nvSpPr>
          <p:cNvPr id="5" name="TextBox 4">
            <a:extLst>
              <a:ext uri="{FF2B5EF4-FFF2-40B4-BE49-F238E27FC236}">
                <a16:creationId xmlns:a16="http://schemas.microsoft.com/office/drawing/2014/main" id="{0E200A60-B051-BEDC-E25C-CAC8A419D6D2}"/>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54570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Ending_PivotPurple">
    <p:bg>
      <p:bgPr>
        <a:solidFill>
          <a:srgbClr val="755FFF"/>
        </a:solidFill>
        <a:effectLst/>
      </p:bgPr>
    </p:bg>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1E71750F-A212-2A66-6A12-40A9211C57DA}"/>
              </a:ext>
            </a:extLst>
          </p:cNvPr>
          <p:cNvSpPr>
            <a:spLocks noGrp="1"/>
          </p:cNvSpPr>
          <p:nvPr>
            <p:ph type="body" sz="quarter" idx="12"/>
          </p:nvPr>
        </p:nvSpPr>
        <p:spPr>
          <a:xfrm>
            <a:off x="432000" y="3936973"/>
            <a:ext cx="11338560" cy="493776"/>
          </a:xfrm>
          <a:prstGeom prst="rect">
            <a:avLst/>
          </a:prstGeom>
        </p:spPr>
        <p:txBody>
          <a:bodyPr/>
          <a:lstStyle>
            <a:lvl1pPr>
              <a:buNone/>
              <a:defRPr sz="2800">
                <a:solidFill>
                  <a:schemeClr val="bg1"/>
                </a:solidFill>
                <a:latin typeface="+mj-lt"/>
              </a:defRPr>
            </a:lvl1pPr>
          </a:lstStyle>
          <a:p>
            <a:pPr lvl="0"/>
            <a:r>
              <a:rPr lang="en-US"/>
              <a:t>Click to edit Master text styles</a:t>
            </a:r>
          </a:p>
        </p:txBody>
      </p:sp>
      <p:pic>
        <p:nvPicPr>
          <p:cNvPr id="23" name="Picture 22">
            <a:extLst>
              <a:ext uri="{FF2B5EF4-FFF2-40B4-BE49-F238E27FC236}">
                <a16:creationId xmlns:a16="http://schemas.microsoft.com/office/drawing/2014/main" id="{6D1CFE30-8773-227E-903F-B1430892F0C9}"/>
              </a:ext>
            </a:extLst>
          </p:cNvPr>
          <p:cNvPicPr>
            <a:picLocks noChangeAspect="1"/>
          </p:cNvPicPr>
          <p:nvPr/>
        </p:nvPicPr>
        <p:blipFill>
          <a:blip r:embed="rId2"/>
          <a:srcRect l="4376" t="11516" r="4153" b="11516"/>
          <a:stretch>
            <a:fillRect/>
          </a:stretch>
        </p:blipFill>
        <p:spPr>
          <a:xfrm>
            <a:off x="417346" y="6188145"/>
            <a:ext cx="1869333" cy="429768"/>
          </a:xfrm>
          <a:prstGeom prst="rect">
            <a:avLst/>
          </a:prstGeom>
        </p:spPr>
      </p:pic>
      <p:pic>
        <p:nvPicPr>
          <p:cNvPr id="2" name="Picture 1">
            <a:extLst>
              <a:ext uri="{FF2B5EF4-FFF2-40B4-BE49-F238E27FC236}">
                <a16:creationId xmlns:a16="http://schemas.microsoft.com/office/drawing/2014/main" id="{41DCE326-F1D6-8FF0-0CFD-1F01F428AF76}"/>
              </a:ext>
            </a:extLst>
          </p:cNvPr>
          <p:cNvPicPr>
            <a:picLocks noChangeAspect="1"/>
          </p:cNvPicPr>
          <p:nvPr userDrawn="1"/>
        </p:nvPicPr>
        <p:blipFill>
          <a:blip r:embed="rId2"/>
          <a:srcRect l="4376" t="11516" r="4153" b="11516"/>
          <a:stretch>
            <a:fillRect/>
          </a:stretch>
        </p:blipFill>
        <p:spPr>
          <a:xfrm>
            <a:off x="417346" y="6188145"/>
            <a:ext cx="1869333" cy="429768"/>
          </a:xfrm>
          <a:prstGeom prst="rect">
            <a:avLst/>
          </a:prstGeom>
        </p:spPr>
      </p:pic>
      <p:sp>
        <p:nvSpPr>
          <p:cNvPr id="3" name="TextBox 2">
            <a:extLst>
              <a:ext uri="{FF2B5EF4-FFF2-40B4-BE49-F238E27FC236}">
                <a16:creationId xmlns:a16="http://schemas.microsoft.com/office/drawing/2014/main" id="{CD30B84A-CD15-A69D-7C0D-0A25B01CE3A9}"/>
              </a:ext>
            </a:extLst>
          </p:cNvPr>
          <p:cNvSpPr txBox="1"/>
          <p:nvPr userDrawn="1"/>
        </p:nvSpPr>
        <p:spPr>
          <a:xfrm>
            <a:off x="432000" y="2044808"/>
            <a:ext cx="11338560" cy="1107996"/>
          </a:xfrm>
          <a:prstGeom prst="rect">
            <a:avLst/>
          </a:prstGeom>
          <a:noFill/>
        </p:spPr>
        <p:txBody>
          <a:bodyPr wrap="square" rtlCol="0">
            <a:spAutoFit/>
          </a:bodyPr>
          <a:lstStyle/>
          <a:p>
            <a:r>
              <a:rPr lang="en-US" sz="6600" b="1">
                <a:solidFill>
                  <a:schemeClr val="bg1"/>
                </a:solidFill>
              </a:rPr>
              <a:t>Thank you</a:t>
            </a:r>
            <a:endParaRPr lang="en-US" sz="6600" b="1">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37026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7174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Lst>
  <p:hf hdr="0" ftr="0" dt="0"/>
  <p:txStyles>
    <p:titleStyle>
      <a:lvl1pPr algn="l" defTabSz="914400" rtl="0" eaLnBrk="1" latinLnBrk="0" hangingPunct="1">
        <a:lnSpc>
          <a:spcPct val="90000"/>
        </a:lnSpc>
        <a:spcBef>
          <a:spcPct val="0"/>
        </a:spcBef>
        <a:buNone/>
        <a:defRPr lang="en-US" sz="2800" b="1" kern="1200">
          <a:ea typeface="+mj-ea"/>
          <a:cs typeface="+mj-cs"/>
        </a:defRPr>
      </a:lvl1pPr>
    </p:titleStyle>
    <p:bodyStyle>
      <a:lvl1pPr marL="228600" indent="-228600" algn="l" defTabSz="914400" rtl="0" eaLnBrk="1" latinLnBrk="0" hangingPunct="1">
        <a:lnSpc>
          <a:spcPct val="90000"/>
        </a:lnSpc>
        <a:spcBef>
          <a:spcPts val="1000"/>
        </a:spcBef>
        <a:buFont typeface="Arial" panose="020B0706020202030204" pitchFamily="34" charset="0"/>
        <a:buChar char="•"/>
        <a:defRPr lang="en-US" sz="1200" b="0" kern="1200">
          <a:ea typeface="+mn-ea"/>
          <a:cs typeface="+mn-cs"/>
        </a:defRPr>
      </a:lvl1pPr>
      <a:lvl2pPr marL="685800" indent="-228600" algn="l" defTabSz="914400" rtl="0" eaLnBrk="1" latinLnBrk="0" hangingPunct="1">
        <a:lnSpc>
          <a:spcPct val="90000"/>
        </a:lnSpc>
        <a:spcBef>
          <a:spcPts val="500"/>
        </a:spcBef>
        <a:buFont typeface="Arial" panose="020B070602020203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602020203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602020203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lang="en-US" sz="1000" b="0" kern="120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6" Type="http://schemas.openxmlformats.org/officeDocument/2006/relationships/image" Target="../media/image39.png"/><Relationship Id="rId21" Type="http://schemas.openxmlformats.org/officeDocument/2006/relationships/image" Target="../media/image34.png"/><Relationship Id="rId42" Type="http://schemas.openxmlformats.org/officeDocument/2006/relationships/image" Target="../media/image55.png"/><Relationship Id="rId47" Type="http://schemas.openxmlformats.org/officeDocument/2006/relationships/image" Target="../media/image60.png"/><Relationship Id="rId63" Type="http://schemas.openxmlformats.org/officeDocument/2006/relationships/image" Target="../media/image76.png"/><Relationship Id="rId68" Type="http://schemas.openxmlformats.org/officeDocument/2006/relationships/image" Target="../media/image81.png"/><Relationship Id="rId84" Type="http://schemas.openxmlformats.org/officeDocument/2006/relationships/image" Target="../media/image97.png"/><Relationship Id="rId89" Type="http://schemas.openxmlformats.org/officeDocument/2006/relationships/image" Target="../media/image102.png"/><Relationship Id="rId16" Type="http://schemas.openxmlformats.org/officeDocument/2006/relationships/image" Target="../media/image29.jpg"/><Relationship Id="rId11" Type="http://schemas.openxmlformats.org/officeDocument/2006/relationships/image" Target="../media/image24.png"/><Relationship Id="rId32" Type="http://schemas.openxmlformats.org/officeDocument/2006/relationships/image" Target="../media/image45.png"/><Relationship Id="rId37" Type="http://schemas.openxmlformats.org/officeDocument/2006/relationships/image" Target="../media/image50.jpg"/><Relationship Id="rId53" Type="http://schemas.openxmlformats.org/officeDocument/2006/relationships/image" Target="../media/image66.jpg"/><Relationship Id="rId58" Type="http://schemas.openxmlformats.org/officeDocument/2006/relationships/image" Target="../media/image71.jpg"/><Relationship Id="rId74" Type="http://schemas.openxmlformats.org/officeDocument/2006/relationships/image" Target="../media/image87.png"/><Relationship Id="rId79" Type="http://schemas.openxmlformats.org/officeDocument/2006/relationships/image" Target="../media/image92.jpg"/><Relationship Id="rId5" Type="http://schemas.openxmlformats.org/officeDocument/2006/relationships/image" Target="../media/image18.jpg"/><Relationship Id="rId90" Type="http://schemas.openxmlformats.org/officeDocument/2006/relationships/image" Target="../media/image103.png"/><Relationship Id="rId95" Type="http://schemas.openxmlformats.org/officeDocument/2006/relationships/image" Target="../media/image108.png"/><Relationship Id="rId22" Type="http://schemas.openxmlformats.org/officeDocument/2006/relationships/image" Target="../media/image35.png"/><Relationship Id="rId27" Type="http://schemas.openxmlformats.org/officeDocument/2006/relationships/image" Target="../media/image40.png"/><Relationship Id="rId43" Type="http://schemas.openxmlformats.org/officeDocument/2006/relationships/image" Target="../media/image56.png"/><Relationship Id="rId48" Type="http://schemas.openxmlformats.org/officeDocument/2006/relationships/image" Target="../media/image61.png"/><Relationship Id="rId64" Type="http://schemas.openxmlformats.org/officeDocument/2006/relationships/image" Target="../media/image77.png"/><Relationship Id="rId69" Type="http://schemas.openxmlformats.org/officeDocument/2006/relationships/image" Target="../media/image82.png"/><Relationship Id="rId8" Type="http://schemas.openxmlformats.org/officeDocument/2006/relationships/image" Target="../media/image21.png"/><Relationship Id="rId51" Type="http://schemas.openxmlformats.org/officeDocument/2006/relationships/image" Target="../media/image64.jpg"/><Relationship Id="rId72" Type="http://schemas.openxmlformats.org/officeDocument/2006/relationships/image" Target="../media/image85.png"/><Relationship Id="rId80" Type="http://schemas.openxmlformats.org/officeDocument/2006/relationships/image" Target="../media/image93.jpg"/><Relationship Id="rId85" Type="http://schemas.openxmlformats.org/officeDocument/2006/relationships/image" Target="../media/image98.png"/><Relationship Id="rId93" Type="http://schemas.openxmlformats.org/officeDocument/2006/relationships/image" Target="../media/image106.png"/><Relationship Id="rId3" Type="http://schemas.openxmlformats.org/officeDocument/2006/relationships/image" Target="../media/image16.jp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jpg"/><Relationship Id="rId33" Type="http://schemas.openxmlformats.org/officeDocument/2006/relationships/image" Target="../media/image46.jpg"/><Relationship Id="rId38" Type="http://schemas.openxmlformats.org/officeDocument/2006/relationships/image" Target="../media/image51.png"/><Relationship Id="rId46" Type="http://schemas.openxmlformats.org/officeDocument/2006/relationships/image" Target="../media/image59.png"/><Relationship Id="rId59" Type="http://schemas.openxmlformats.org/officeDocument/2006/relationships/image" Target="../media/image72.jpg"/><Relationship Id="rId67" Type="http://schemas.openxmlformats.org/officeDocument/2006/relationships/image" Target="../media/image80.png"/><Relationship Id="rId20" Type="http://schemas.openxmlformats.org/officeDocument/2006/relationships/image" Target="../media/image33.png"/><Relationship Id="rId41" Type="http://schemas.openxmlformats.org/officeDocument/2006/relationships/image" Target="../media/image54.png"/><Relationship Id="rId54" Type="http://schemas.openxmlformats.org/officeDocument/2006/relationships/image" Target="../media/image67.jpg"/><Relationship Id="rId62" Type="http://schemas.openxmlformats.org/officeDocument/2006/relationships/image" Target="../media/image75.png"/><Relationship Id="rId70" Type="http://schemas.openxmlformats.org/officeDocument/2006/relationships/image" Target="../media/image83.png"/><Relationship Id="rId75" Type="http://schemas.openxmlformats.org/officeDocument/2006/relationships/image" Target="../media/image88.jpg"/><Relationship Id="rId83" Type="http://schemas.openxmlformats.org/officeDocument/2006/relationships/image" Target="../media/image96.jpg"/><Relationship Id="rId88" Type="http://schemas.openxmlformats.org/officeDocument/2006/relationships/image" Target="../media/image101.png"/><Relationship Id="rId91" Type="http://schemas.openxmlformats.org/officeDocument/2006/relationships/image" Target="../media/image104.jpg"/><Relationship Id="rId1" Type="http://schemas.openxmlformats.org/officeDocument/2006/relationships/slideLayout" Target="../slideLayouts/slideLayout4.xml"/><Relationship Id="rId6" Type="http://schemas.openxmlformats.org/officeDocument/2006/relationships/image" Target="../media/image19.png"/><Relationship Id="rId15" Type="http://schemas.openxmlformats.org/officeDocument/2006/relationships/image" Target="../media/image28.png"/><Relationship Id="rId23" Type="http://schemas.openxmlformats.org/officeDocument/2006/relationships/image" Target="../media/image36.jpg"/><Relationship Id="rId28" Type="http://schemas.openxmlformats.org/officeDocument/2006/relationships/image" Target="../media/image41.jpg"/><Relationship Id="rId36" Type="http://schemas.openxmlformats.org/officeDocument/2006/relationships/image" Target="../media/image49.jpg"/><Relationship Id="rId49" Type="http://schemas.openxmlformats.org/officeDocument/2006/relationships/image" Target="../media/image62.jpg"/><Relationship Id="rId57" Type="http://schemas.openxmlformats.org/officeDocument/2006/relationships/image" Target="../media/image70.jpg"/><Relationship Id="rId10" Type="http://schemas.openxmlformats.org/officeDocument/2006/relationships/image" Target="../media/image23.png"/><Relationship Id="rId31" Type="http://schemas.openxmlformats.org/officeDocument/2006/relationships/image" Target="../media/image44.png"/><Relationship Id="rId44" Type="http://schemas.openxmlformats.org/officeDocument/2006/relationships/image" Target="../media/image57.jpg"/><Relationship Id="rId52" Type="http://schemas.openxmlformats.org/officeDocument/2006/relationships/image" Target="../media/image65.png"/><Relationship Id="rId60" Type="http://schemas.openxmlformats.org/officeDocument/2006/relationships/image" Target="../media/image73.jpg"/><Relationship Id="rId65" Type="http://schemas.openxmlformats.org/officeDocument/2006/relationships/image" Target="../media/image78.png"/><Relationship Id="rId73" Type="http://schemas.openxmlformats.org/officeDocument/2006/relationships/image" Target="../media/image86.png"/><Relationship Id="rId78" Type="http://schemas.openxmlformats.org/officeDocument/2006/relationships/image" Target="../media/image91.png"/><Relationship Id="rId81" Type="http://schemas.openxmlformats.org/officeDocument/2006/relationships/image" Target="../media/image94.jpg"/><Relationship Id="rId86" Type="http://schemas.openxmlformats.org/officeDocument/2006/relationships/image" Target="../media/image99.png"/><Relationship Id="rId94" Type="http://schemas.openxmlformats.org/officeDocument/2006/relationships/image" Target="../media/image107.jpg"/><Relationship Id="rId4" Type="http://schemas.openxmlformats.org/officeDocument/2006/relationships/image" Target="../media/image17.png"/><Relationship Id="rId9" Type="http://schemas.openxmlformats.org/officeDocument/2006/relationships/image" Target="../media/image22.jpg"/><Relationship Id="rId13" Type="http://schemas.openxmlformats.org/officeDocument/2006/relationships/image" Target="../media/image26.png"/><Relationship Id="rId18" Type="http://schemas.openxmlformats.org/officeDocument/2006/relationships/image" Target="../media/image31.png"/><Relationship Id="rId39" Type="http://schemas.openxmlformats.org/officeDocument/2006/relationships/image" Target="../media/image52.png"/><Relationship Id="rId34" Type="http://schemas.openxmlformats.org/officeDocument/2006/relationships/image" Target="../media/image47.jpg"/><Relationship Id="rId50" Type="http://schemas.openxmlformats.org/officeDocument/2006/relationships/image" Target="../media/image63.jpg"/><Relationship Id="rId55" Type="http://schemas.openxmlformats.org/officeDocument/2006/relationships/image" Target="../media/image68.png"/><Relationship Id="rId76" Type="http://schemas.openxmlformats.org/officeDocument/2006/relationships/image" Target="../media/image89.png"/><Relationship Id="rId7" Type="http://schemas.openxmlformats.org/officeDocument/2006/relationships/image" Target="../media/image20.jpg"/><Relationship Id="rId71" Type="http://schemas.openxmlformats.org/officeDocument/2006/relationships/image" Target="../media/image84.jpg"/><Relationship Id="rId92" Type="http://schemas.openxmlformats.org/officeDocument/2006/relationships/image" Target="../media/image105.png"/><Relationship Id="rId2" Type="http://schemas.openxmlformats.org/officeDocument/2006/relationships/image" Target="../media/image15.jpg"/><Relationship Id="rId29" Type="http://schemas.openxmlformats.org/officeDocument/2006/relationships/image" Target="../media/image42.png"/><Relationship Id="rId24" Type="http://schemas.openxmlformats.org/officeDocument/2006/relationships/image" Target="../media/image37.jpg"/><Relationship Id="rId40" Type="http://schemas.openxmlformats.org/officeDocument/2006/relationships/image" Target="../media/image53.png"/><Relationship Id="rId45" Type="http://schemas.openxmlformats.org/officeDocument/2006/relationships/image" Target="../media/image58.jpg"/><Relationship Id="rId66" Type="http://schemas.openxmlformats.org/officeDocument/2006/relationships/image" Target="../media/image79.png"/><Relationship Id="rId87" Type="http://schemas.openxmlformats.org/officeDocument/2006/relationships/image" Target="../media/image100.jpg"/><Relationship Id="rId61" Type="http://schemas.openxmlformats.org/officeDocument/2006/relationships/image" Target="../media/image74.png"/><Relationship Id="rId82" Type="http://schemas.openxmlformats.org/officeDocument/2006/relationships/image" Target="../media/image95.png"/><Relationship Id="rId19" Type="http://schemas.openxmlformats.org/officeDocument/2006/relationships/image" Target="../media/image32.jpg"/><Relationship Id="rId14" Type="http://schemas.openxmlformats.org/officeDocument/2006/relationships/image" Target="../media/image27.png"/><Relationship Id="rId30" Type="http://schemas.openxmlformats.org/officeDocument/2006/relationships/image" Target="../media/image43.png"/><Relationship Id="rId35" Type="http://schemas.openxmlformats.org/officeDocument/2006/relationships/image" Target="../media/image48.png"/><Relationship Id="rId56" Type="http://schemas.openxmlformats.org/officeDocument/2006/relationships/image" Target="../media/image69.png"/><Relationship Id="rId77" Type="http://schemas.openxmlformats.org/officeDocument/2006/relationships/image" Target="../media/image90.jpg"/></Relationships>
</file>

<file path=ppt/slides/_rels/slide3.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3.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jpeg"/></Relationships>
</file>

<file path=ppt/slides/_rels/slide4.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20.png"/></Relationships>
</file>

<file path=ppt/slides/_rels/slide6.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7.png"/><Relationship Id="rId3" Type="http://schemas.openxmlformats.org/officeDocument/2006/relationships/slide" Target="slide6.xml"/><Relationship Id="rId7" Type="http://schemas.openxmlformats.org/officeDocument/2006/relationships/slide" Target="slide36.xml"/><Relationship Id="rId12" Type="http://schemas.openxmlformats.org/officeDocument/2006/relationships/image" Target="../media/image126.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slide" Target="slide29.xml"/><Relationship Id="rId11" Type="http://schemas.openxmlformats.org/officeDocument/2006/relationships/image" Target="../media/image118.png"/><Relationship Id="rId5" Type="http://schemas.openxmlformats.org/officeDocument/2006/relationships/image" Target="../media/image122.png"/><Relationship Id="rId15" Type="http://schemas.openxmlformats.org/officeDocument/2006/relationships/image" Target="../media/image129.png"/><Relationship Id="rId10" Type="http://schemas.openxmlformats.org/officeDocument/2006/relationships/image" Target="../media/image125.png"/><Relationship Id="rId4" Type="http://schemas.openxmlformats.org/officeDocument/2006/relationships/image" Target="../media/image121.png"/><Relationship Id="rId9" Type="http://schemas.openxmlformats.org/officeDocument/2006/relationships/image" Target="../media/image124.png"/><Relationship Id="rId14" Type="http://schemas.openxmlformats.org/officeDocument/2006/relationships/image" Target="../media/image1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6.xml"/><Relationship Id="rId5" Type="http://schemas.openxmlformats.org/officeDocument/2006/relationships/image" Target="../media/image135.png"/><Relationship Id="rId4" Type="http://schemas.openxmlformats.org/officeDocument/2006/relationships/image" Target="../media/image134.png"/></Relationships>
</file>

<file path=ppt/slides/_rels/slide1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36.png"/><Relationship Id="rId1" Type="http://schemas.openxmlformats.org/officeDocument/2006/relationships/slideLayout" Target="../slideLayouts/slideLayout6.xml"/><Relationship Id="rId4" Type="http://schemas.openxmlformats.org/officeDocument/2006/relationships/image" Target="../media/image1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38.png"/><Relationship Id="rId7" Type="http://schemas.openxmlformats.org/officeDocument/2006/relationships/image" Target="../media/image141.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26.png"/><Relationship Id="rId5" Type="http://schemas.openxmlformats.org/officeDocument/2006/relationships/image" Target="../media/image140.png"/><Relationship Id="rId4" Type="http://schemas.openxmlformats.org/officeDocument/2006/relationships/image" Target="../media/image13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1.xml"/><Relationship Id="rId6" Type="http://schemas.openxmlformats.org/officeDocument/2006/relationships/image" Target="../media/image112.png"/><Relationship Id="rId5" Type="http://schemas.openxmlformats.org/officeDocument/2006/relationships/image" Target="../media/image142.e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112.png"/><Relationship Id="rId5" Type="http://schemas.openxmlformats.org/officeDocument/2006/relationships/image" Target="../media/image142.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chart" Target="../charts/chart1.xml"/><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112.png"/><Relationship Id="rId5" Type="http://schemas.openxmlformats.org/officeDocument/2006/relationships/image" Target="../media/image142.emf"/><Relationship Id="rId4" Type="http://schemas.openxmlformats.org/officeDocument/2006/relationships/oleObject" Target="../embeddings/oleObject1.bin"/></Relationships>
</file>

<file path=ppt/slides/_rels/slide16.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notesSlide" Target="../notesSlides/notesSlide9.xml"/><Relationship Id="rId7" Type="http://schemas.openxmlformats.org/officeDocument/2006/relationships/chart" Target="../charts/chart3.xml"/><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chart" Target="../charts/chart2.xml"/><Relationship Id="rId5" Type="http://schemas.openxmlformats.org/officeDocument/2006/relationships/image" Target="../media/image142.emf"/><Relationship Id="rId4" Type="http://schemas.openxmlformats.org/officeDocument/2006/relationships/oleObject" Target="../embeddings/oleObject1.bin"/><Relationship Id="rId9" Type="http://schemas.openxmlformats.org/officeDocument/2006/relationships/chart" Target="../charts/chart5.xml"/></Relationships>
</file>

<file path=ppt/slides/_rels/slide1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1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112.png"/><Relationship Id="rId5" Type="http://schemas.openxmlformats.org/officeDocument/2006/relationships/image" Target="../media/image142.e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6.xml"/><Relationship Id="rId6" Type="http://schemas.openxmlformats.org/officeDocument/2006/relationships/image" Target="../media/image112.png"/><Relationship Id="rId5" Type="http://schemas.openxmlformats.org/officeDocument/2006/relationships/image" Target="../media/image142.e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7.xml"/><Relationship Id="rId5" Type="http://schemas.openxmlformats.org/officeDocument/2006/relationships/image" Target="../media/image142.emf"/><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8.xml"/><Relationship Id="rId6" Type="http://schemas.openxmlformats.org/officeDocument/2006/relationships/image" Target="../media/image144.png"/><Relationship Id="rId5" Type="http://schemas.openxmlformats.org/officeDocument/2006/relationships/image" Target="../media/image142.emf"/><Relationship Id="rId4" Type="http://schemas.openxmlformats.org/officeDocument/2006/relationships/oleObject" Target="../embeddings/oleObject1.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46.emf"/><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8" Type="http://schemas.openxmlformats.org/officeDocument/2006/relationships/image" Target="../media/image152.png"/><Relationship Id="rId3" Type="http://schemas.openxmlformats.org/officeDocument/2006/relationships/image" Target="../media/image147.png"/><Relationship Id="rId7" Type="http://schemas.openxmlformats.org/officeDocument/2006/relationships/image" Target="../media/image151.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150.png"/><Relationship Id="rId5" Type="http://schemas.openxmlformats.org/officeDocument/2006/relationships/image" Target="../media/image149.png"/><Relationship Id="rId4" Type="http://schemas.openxmlformats.org/officeDocument/2006/relationships/image" Target="../media/image148.png"/><Relationship Id="rId9" Type="http://schemas.openxmlformats.org/officeDocument/2006/relationships/image" Target="../media/image153.png"/></Relationships>
</file>

<file path=ppt/slides/_rels/slide3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12.png"/></Relationships>
</file>

<file path=ppt/slides/_rels/slide3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157.png"/><Relationship Id="rId4" Type="http://schemas.openxmlformats.org/officeDocument/2006/relationships/image" Target="../media/image156.png"/></Relationships>
</file>

<file path=ppt/slides/_rels/slide4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159.png"/></Relationships>
</file>

<file path=ppt/slides/_rels/slide4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16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0E3BF-A9DE-854B-1F47-E9CCA56C5E9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146C6F-8C3C-BC15-2776-858725514D35}"/>
              </a:ext>
            </a:extLst>
          </p:cNvPr>
          <p:cNvSpPr>
            <a:spLocks noGrp="1"/>
          </p:cNvSpPr>
          <p:nvPr>
            <p:ph type="title"/>
          </p:nvPr>
        </p:nvSpPr>
        <p:spPr>
          <a:noFill/>
        </p:spPr>
        <p:txBody>
          <a:bodyPr/>
          <a:lstStyle/>
          <a:p>
            <a:r>
              <a:rPr lang="en-US" dirty="0"/>
              <a:t>Talent to Value Showcase</a:t>
            </a:r>
          </a:p>
        </p:txBody>
      </p:sp>
      <p:sp>
        <p:nvSpPr>
          <p:cNvPr id="3" name="Text Placeholder 2">
            <a:extLst>
              <a:ext uri="{FF2B5EF4-FFF2-40B4-BE49-F238E27FC236}">
                <a16:creationId xmlns:a16="http://schemas.microsoft.com/office/drawing/2014/main" id="{017C6133-95A2-E63A-671D-77A5BF675A2C}"/>
              </a:ext>
            </a:extLst>
          </p:cNvPr>
          <p:cNvSpPr>
            <a:spLocks noGrp="1"/>
          </p:cNvSpPr>
          <p:nvPr>
            <p:ph type="body" idx="12"/>
          </p:nvPr>
        </p:nvSpPr>
        <p:spPr>
          <a:noFill/>
        </p:spPr>
        <p:txBody>
          <a:bodyPr lIns="91440" tIns="45720" rIns="91440" bIns="45720" anchor="t"/>
          <a:lstStyle/>
          <a:p>
            <a:r>
              <a:rPr lang="en-US" dirty="0"/>
              <a:t>May 2025</a:t>
            </a:r>
          </a:p>
        </p:txBody>
      </p:sp>
    </p:spTree>
    <p:extLst>
      <p:ext uri="{BB962C8B-B14F-4D97-AF65-F5344CB8AC3E}">
        <p14:creationId xmlns:p14="http://schemas.microsoft.com/office/powerpoint/2010/main" val="1888171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1E55A-2002-8495-1661-57C6971DA78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3DC8446-1AE1-C0FD-C7C1-8826B2A3246E}"/>
              </a:ext>
            </a:extLst>
          </p:cNvPr>
          <p:cNvSpPr>
            <a:spLocks noGrp="1"/>
          </p:cNvSpPr>
          <p:nvPr>
            <p:ph type="title"/>
          </p:nvPr>
        </p:nvSpPr>
        <p:spPr>
          <a:xfrm>
            <a:off x="420000" y="228600"/>
            <a:ext cx="11338560" cy="546568"/>
          </a:xfrm>
        </p:spPr>
        <p:txBody>
          <a:bodyPr/>
          <a:lstStyle/>
          <a:p>
            <a:r>
              <a:rPr lang="en-US" dirty="0"/>
              <a:t>Our Clients</a:t>
            </a:r>
          </a:p>
        </p:txBody>
      </p:sp>
      <p:sp>
        <p:nvSpPr>
          <p:cNvPr id="1116" name="SlideNumber"/>
          <p:cNvSpPr>
            <a:spLocks noGrp="1"/>
          </p:cNvSpPr>
          <p:nvPr>
            <p:ph type="sldNum" sz="quarter" idx="4"/>
          </p:nvPr>
        </p:nvSpPr>
        <p:spPr>
          <a:xfrm>
            <a:off x="0" y="6554852"/>
            <a:ext cx="12192000" cy="215444"/>
          </a:xfrm>
        </p:spPr>
        <p:txBody>
          <a:bodyPr vert="horz" wrap="square" anchor="ctr"/>
          <a:lstStyle>
            <a:lvl1pPr algn="l">
              <a:defRPr lang="en-US" sz="1000" spc="-10">
                <a:solidFill>
                  <a:srgbClr val="767676"/>
                </a:solidFill>
                <a:latin typeface="Arial" pitchFamily="34" charset="0"/>
              </a:defRPr>
            </a:lvl1pPr>
          </a:lstStyle>
          <a:p>
            <a:fld id="{BC796877-510F-4307-9E44-6648938089C9}" type="slidenum">
              <a:rPr lang="en-US"/>
              <a:pPr/>
              <a:t>2</a:t>
            </a:fld>
            <a:endParaRPr lang="en-US"/>
          </a:p>
        </p:txBody>
      </p:sp>
      <p:sp>
        <p:nvSpPr>
          <p:cNvPr id="3" name="Text Placeholder 1">
            <a:extLst>
              <a:ext uri="{FF2B5EF4-FFF2-40B4-BE49-F238E27FC236}">
                <a16:creationId xmlns:a16="http://schemas.microsoft.com/office/drawing/2014/main" id="{B689A533-6703-16D1-30D0-D288429742A7}"/>
              </a:ext>
            </a:extLst>
          </p:cNvPr>
          <p:cNvSpPr txBox="1">
            <a:spLocks/>
          </p:cNvSpPr>
          <p:nvPr/>
        </p:nvSpPr>
        <p:spPr>
          <a:xfrm>
            <a:off x="5030927" y="306342"/>
            <a:ext cx="6972598" cy="529827"/>
          </a:xfrm>
          <a:prstGeom prst="rect">
            <a:avLst/>
          </a:prstGeom>
        </p:spPr>
        <p:txBody>
          <a:bodyPr lIns="91440" tIns="45720" rIns="91440" bIns="45720"/>
          <a:lstStyle>
            <a:lvl1pPr marL="0" indent="0" algn="l" defTabSz="914400" rtl="0" eaLnBrk="1" latinLnBrk="0" hangingPunct="1">
              <a:lnSpc>
                <a:spcPct val="90000"/>
              </a:lnSpc>
              <a:spcBef>
                <a:spcPts val="1000"/>
              </a:spcBef>
              <a:buFont typeface="Arial" panose="020B0604020202020204" pitchFamily="34" charset="0"/>
              <a:buNone/>
              <a:defRPr sz="2800" b="1" i="0" kern="1200" spc="-25">
                <a:solidFill>
                  <a:srgbClr val="1D1D1D"/>
                </a:solidFill>
                <a:latin typeface="Segoe UI" pitchFamily="34" charset="0"/>
                <a:ea typeface="Helvetica Neue Light" panose="02000403000000020004"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D1D1D"/>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D1D1D"/>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1D1D1D"/>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b="1" spc="-25">
                <a:latin typeface="Segoe UI" pitchFamily="34" charset="0"/>
              </a:defRPr>
            </a:pPr>
            <a:r>
              <a:rPr kumimoji="0" lang="en-US" sz="2000" b="1" i="0" u="none" strike="noStrike" kern="1200" cap="none" spc="-25" normalizeH="0" baseline="0" noProof="0" dirty="0">
                <a:ln>
                  <a:noFill/>
                </a:ln>
                <a:solidFill>
                  <a:srgbClr val="765FFF"/>
                </a:solidFill>
                <a:effectLst/>
                <a:uLnTx/>
                <a:uFillTx/>
                <a:latin typeface="Segoe UI" pitchFamily="34" charset="0"/>
                <a:cs typeface="+mn-cs"/>
              </a:rPr>
              <a:t>Illustrative, Not Comprehensive</a:t>
            </a:r>
          </a:p>
        </p:txBody>
      </p:sp>
      <p:sp>
        <p:nvSpPr>
          <p:cNvPr id="7" name="object 2">
            <a:extLst>
              <a:ext uri="{FF2B5EF4-FFF2-40B4-BE49-F238E27FC236}">
                <a16:creationId xmlns:a16="http://schemas.microsoft.com/office/drawing/2014/main" id="{4C62DFA7-C94E-BF59-D13A-FF232460CE40}"/>
              </a:ext>
            </a:extLst>
          </p:cNvPr>
          <p:cNvSpPr/>
          <p:nvPr/>
        </p:nvSpPr>
        <p:spPr>
          <a:xfrm>
            <a:off x="6405626" y="3976687"/>
            <a:ext cx="5543550" cy="2762250"/>
          </a:xfrm>
          <a:custGeom>
            <a:avLst/>
            <a:gdLst/>
            <a:ahLst/>
            <a:cxnLst/>
            <a:rect l="l" t="t" r="r" b="b"/>
            <a:pathLst>
              <a:path w="5543550" h="2762250">
                <a:moveTo>
                  <a:pt x="5543550" y="0"/>
                </a:moveTo>
                <a:lnTo>
                  <a:pt x="0" y="0"/>
                </a:lnTo>
                <a:lnTo>
                  <a:pt x="0" y="2762250"/>
                </a:lnTo>
                <a:lnTo>
                  <a:pt x="5543550" y="2762250"/>
                </a:lnTo>
                <a:lnTo>
                  <a:pt x="5543550" y="0"/>
                </a:lnTo>
                <a:close/>
              </a:path>
            </a:pathLst>
          </a:custGeom>
          <a:solidFill>
            <a:srgbClr val="FFFFFF"/>
          </a:solidFill>
        </p:spPr>
        <p:txBody>
          <a:bodyPr wrap="square" lIns="0" tIns="0" rIns="0" bIns="0" rtlCol="0"/>
          <a:lstStyle/>
          <a:p>
            <a:endParaRPr dirty="0"/>
          </a:p>
        </p:txBody>
      </p:sp>
      <p:pic>
        <p:nvPicPr>
          <p:cNvPr id="8" name="object 5">
            <a:extLst>
              <a:ext uri="{FF2B5EF4-FFF2-40B4-BE49-F238E27FC236}">
                <a16:creationId xmlns:a16="http://schemas.microsoft.com/office/drawing/2014/main" id="{A03D6050-5607-38F2-BF94-0936F0345971}"/>
              </a:ext>
            </a:extLst>
          </p:cNvPr>
          <p:cNvPicPr/>
          <p:nvPr/>
        </p:nvPicPr>
        <p:blipFill>
          <a:blip r:embed="rId2" cstate="print">
            <a:duotone>
              <a:srgbClr val="765FFF"/>
              <a:srgbClr val="FFFFFF"/>
            </a:duotone>
          </a:blip>
          <a:stretch>
            <a:fillRect/>
          </a:stretch>
        </p:blipFill>
        <p:spPr>
          <a:xfrm>
            <a:off x="4752975" y="6277905"/>
            <a:ext cx="586682" cy="183338"/>
          </a:xfrm>
          <a:prstGeom prst="rect">
            <a:avLst/>
          </a:prstGeom>
        </p:spPr>
      </p:pic>
      <p:sp>
        <p:nvSpPr>
          <p:cNvPr id="9" name="object 6">
            <a:extLst>
              <a:ext uri="{FF2B5EF4-FFF2-40B4-BE49-F238E27FC236}">
                <a16:creationId xmlns:a16="http://schemas.microsoft.com/office/drawing/2014/main" id="{543055D1-5DE0-CB57-5E3C-0031BEAB4E10}"/>
              </a:ext>
            </a:extLst>
          </p:cNvPr>
          <p:cNvSpPr txBox="1"/>
          <p:nvPr/>
        </p:nvSpPr>
        <p:spPr>
          <a:xfrm>
            <a:off x="290512" y="985900"/>
            <a:ext cx="3324225" cy="1343025"/>
          </a:xfrm>
          <a:prstGeom prst="rect">
            <a:avLst/>
          </a:prstGeom>
          <a:ln w="12700">
            <a:solidFill>
              <a:srgbClr val="765FFF"/>
            </a:solidFill>
          </a:ln>
        </p:spPr>
        <p:txBody>
          <a:bodyPr vert="horz" wrap="square" lIns="0" tIns="75565" rIns="0" bIns="0" rtlCol="0">
            <a:spAutoFit/>
          </a:bodyPr>
          <a:lstStyle/>
          <a:p>
            <a:pPr marL="109220">
              <a:lnSpc>
                <a:spcPct val="100000"/>
              </a:lnSpc>
              <a:spcBef>
                <a:spcPts val="595"/>
              </a:spcBef>
            </a:pPr>
            <a:r>
              <a:rPr sz="1200" b="1" spc="-25" dirty="0">
                <a:solidFill>
                  <a:srgbClr val="281A42"/>
                </a:solidFill>
                <a:latin typeface="Segoe UI" pitchFamily="34" charset="0"/>
                <a:cs typeface="Arial"/>
              </a:rPr>
              <a:t>Private Equity</a:t>
            </a:r>
            <a:endParaRPr sz="1200" b="1" spc="-25" dirty="0">
              <a:latin typeface="Segoe UI" pitchFamily="34" charset="0"/>
              <a:cs typeface="Arial"/>
            </a:endParaRPr>
          </a:p>
        </p:txBody>
      </p:sp>
      <p:grpSp>
        <p:nvGrpSpPr>
          <p:cNvPr id="10" name="object 7">
            <a:extLst>
              <a:ext uri="{FF2B5EF4-FFF2-40B4-BE49-F238E27FC236}">
                <a16:creationId xmlns:a16="http://schemas.microsoft.com/office/drawing/2014/main" id="{246C0B0A-E75C-1D44-8261-D202E4B9CA67}"/>
              </a:ext>
            </a:extLst>
          </p:cNvPr>
          <p:cNvGrpSpPr/>
          <p:nvPr/>
        </p:nvGrpSpPr>
        <p:grpSpPr>
          <a:xfrm>
            <a:off x="1071355" y="1642650"/>
            <a:ext cx="1157605" cy="263525"/>
            <a:chOff x="1071355" y="1642650"/>
            <a:chExt cx="1157605" cy="263525"/>
          </a:xfrm>
        </p:grpSpPr>
        <p:pic>
          <p:nvPicPr>
            <p:cNvPr id="11" name="object 8">
              <a:extLst>
                <a:ext uri="{FF2B5EF4-FFF2-40B4-BE49-F238E27FC236}">
                  <a16:creationId xmlns:a16="http://schemas.microsoft.com/office/drawing/2014/main" id="{7A265481-B3AC-5633-ABA5-6F8CFD11E235}"/>
                </a:ext>
              </a:extLst>
            </p:cNvPr>
            <p:cNvPicPr/>
            <p:nvPr/>
          </p:nvPicPr>
          <p:blipFill>
            <a:blip r:embed="rId3" cstate="print">
              <a:duotone>
                <a:srgbClr val="765FFF"/>
                <a:srgbClr val="FFFFFF"/>
              </a:duotone>
            </a:blip>
            <a:stretch>
              <a:fillRect/>
            </a:stretch>
          </p:blipFill>
          <p:spPr>
            <a:xfrm>
              <a:off x="1071355" y="1642650"/>
              <a:ext cx="695739" cy="263407"/>
            </a:xfrm>
            <a:prstGeom prst="rect">
              <a:avLst/>
            </a:prstGeom>
          </p:spPr>
        </p:pic>
        <p:pic>
          <p:nvPicPr>
            <p:cNvPr id="12" name="object 9">
              <a:extLst>
                <a:ext uri="{FF2B5EF4-FFF2-40B4-BE49-F238E27FC236}">
                  <a16:creationId xmlns:a16="http://schemas.microsoft.com/office/drawing/2014/main" id="{DBAC4235-BC9A-118F-7CC6-6173DEA38B42}"/>
                </a:ext>
              </a:extLst>
            </p:cNvPr>
            <p:cNvPicPr/>
            <p:nvPr/>
          </p:nvPicPr>
          <p:blipFill>
            <a:blip r:embed="rId4" cstate="print">
              <a:duotone>
                <a:srgbClr val="765FFF"/>
                <a:srgbClr val="FFFFFF"/>
              </a:duotone>
            </a:blip>
            <a:stretch>
              <a:fillRect/>
            </a:stretch>
          </p:blipFill>
          <p:spPr>
            <a:xfrm>
              <a:off x="1704975" y="1666874"/>
              <a:ext cx="523875" cy="152400"/>
            </a:xfrm>
            <a:prstGeom prst="rect">
              <a:avLst/>
            </a:prstGeom>
          </p:spPr>
        </p:pic>
      </p:grpSp>
      <p:pic>
        <p:nvPicPr>
          <p:cNvPr id="13" name="object 10">
            <a:extLst>
              <a:ext uri="{FF2B5EF4-FFF2-40B4-BE49-F238E27FC236}">
                <a16:creationId xmlns:a16="http://schemas.microsoft.com/office/drawing/2014/main" id="{556EC469-99D1-8556-9B24-13A8062D586A}"/>
              </a:ext>
            </a:extLst>
          </p:cNvPr>
          <p:cNvPicPr/>
          <p:nvPr/>
        </p:nvPicPr>
        <p:blipFill>
          <a:blip r:embed="rId5" cstate="print">
            <a:duotone>
              <a:srgbClr val="765FFF"/>
              <a:srgbClr val="FFFFFF"/>
            </a:duotone>
          </a:blip>
          <a:stretch>
            <a:fillRect/>
          </a:stretch>
        </p:blipFill>
        <p:spPr>
          <a:xfrm>
            <a:off x="3009900" y="1484038"/>
            <a:ext cx="566737" cy="316186"/>
          </a:xfrm>
          <a:prstGeom prst="rect">
            <a:avLst/>
          </a:prstGeom>
        </p:spPr>
      </p:pic>
      <p:pic>
        <p:nvPicPr>
          <p:cNvPr id="14" name="object 11">
            <a:extLst>
              <a:ext uri="{FF2B5EF4-FFF2-40B4-BE49-F238E27FC236}">
                <a16:creationId xmlns:a16="http://schemas.microsoft.com/office/drawing/2014/main" id="{9393CCC6-33AF-F46C-C163-8FF20E5698A6}"/>
              </a:ext>
            </a:extLst>
          </p:cNvPr>
          <p:cNvPicPr/>
          <p:nvPr/>
        </p:nvPicPr>
        <p:blipFill>
          <a:blip r:embed="rId6" cstate="print">
            <a:duotone>
              <a:srgbClr val="765FFF"/>
              <a:srgbClr val="FFFFFF"/>
            </a:duotone>
          </a:blip>
          <a:stretch>
            <a:fillRect/>
          </a:stretch>
        </p:blipFill>
        <p:spPr>
          <a:xfrm>
            <a:off x="1076325" y="1343025"/>
            <a:ext cx="771525" cy="180975"/>
          </a:xfrm>
          <a:prstGeom prst="rect">
            <a:avLst/>
          </a:prstGeom>
        </p:spPr>
      </p:pic>
      <p:pic>
        <p:nvPicPr>
          <p:cNvPr id="15" name="object 12">
            <a:extLst>
              <a:ext uri="{FF2B5EF4-FFF2-40B4-BE49-F238E27FC236}">
                <a16:creationId xmlns:a16="http://schemas.microsoft.com/office/drawing/2014/main" id="{ADEDFAA3-8DB2-95B8-DDB1-81CC8FD6D18A}"/>
              </a:ext>
            </a:extLst>
          </p:cNvPr>
          <p:cNvPicPr/>
          <p:nvPr/>
        </p:nvPicPr>
        <p:blipFill>
          <a:blip r:embed="rId7" cstate="print">
            <a:duotone>
              <a:srgbClr val="765FFF"/>
              <a:srgbClr val="FFFFFF"/>
            </a:duotone>
          </a:blip>
          <a:stretch>
            <a:fillRect/>
          </a:stretch>
        </p:blipFill>
        <p:spPr>
          <a:xfrm>
            <a:off x="3119269" y="1881019"/>
            <a:ext cx="381336" cy="381336"/>
          </a:xfrm>
          <a:prstGeom prst="rect">
            <a:avLst/>
          </a:prstGeom>
        </p:spPr>
      </p:pic>
      <p:pic>
        <p:nvPicPr>
          <p:cNvPr id="16" name="object 13">
            <a:extLst>
              <a:ext uri="{FF2B5EF4-FFF2-40B4-BE49-F238E27FC236}">
                <a16:creationId xmlns:a16="http://schemas.microsoft.com/office/drawing/2014/main" id="{190A2E39-4D27-1F07-49FD-B4008F5BB5D6}"/>
              </a:ext>
            </a:extLst>
          </p:cNvPr>
          <p:cNvPicPr/>
          <p:nvPr/>
        </p:nvPicPr>
        <p:blipFill>
          <a:blip r:embed="rId8" cstate="print">
            <a:duotone>
              <a:srgbClr val="765FFF"/>
              <a:srgbClr val="FFFFFF"/>
            </a:duotone>
          </a:blip>
          <a:stretch>
            <a:fillRect/>
          </a:stretch>
        </p:blipFill>
        <p:spPr>
          <a:xfrm>
            <a:off x="413738" y="2000250"/>
            <a:ext cx="620323" cy="195942"/>
          </a:xfrm>
          <a:prstGeom prst="rect">
            <a:avLst/>
          </a:prstGeom>
        </p:spPr>
      </p:pic>
      <p:pic>
        <p:nvPicPr>
          <p:cNvPr id="17" name="object 14">
            <a:extLst>
              <a:ext uri="{FF2B5EF4-FFF2-40B4-BE49-F238E27FC236}">
                <a16:creationId xmlns:a16="http://schemas.microsoft.com/office/drawing/2014/main" id="{9AC202F6-8CBA-C441-C383-9BF2C0839C87}"/>
              </a:ext>
            </a:extLst>
          </p:cNvPr>
          <p:cNvPicPr/>
          <p:nvPr/>
        </p:nvPicPr>
        <p:blipFill>
          <a:blip r:embed="rId9" cstate="print">
            <a:duotone>
              <a:srgbClr val="765FFF"/>
              <a:srgbClr val="FFFFFF"/>
            </a:duotone>
          </a:blip>
          <a:stretch>
            <a:fillRect/>
          </a:stretch>
        </p:blipFill>
        <p:spPr>
          <a:xfrm>
            <a:off x="1438275" y="2009775"/>
            <a:ext cx="762000" cy="209550"/>
          </a:xfrm>
          <a:prstGeom prst="rect">
            <a:avLst/>
          </a:prstGeom>
        </p:spPr>
      </p:pic>
      <p:pic>
        <p:nvPicPr>
          <p:cNvPr id="18" name="object 15">
            <a:extLst>
              <a:ext uri="{FF2B5EF4-FFF2-40B4-BE49-F238E27FC236}">
                <a16:creationId xmlns:a16="http://schemas.microsoft.com/office/drawing/2014/main" id="{711796D6-C5AC-CDF9-EB3C-E605CFBB7E0A}"/>
              </a:ext>
            </a:extLst>
          </p:cNvPr>
          <p:cNvPicPr/>
          <p:nvPr/>
        </p:nvPicPr>
        <p:blipFill>
          <a:blip r:embed="rId10" cstate="print">
            <a:duotone>
              <a:srgbClr val="765FFF"/>
              <a:srgbClr val="FFFFFF"/>
            </a:duotone>
          </a:blip>
          <a:stretch>
            <a:fillRect/>
          </a:stretch>
        </p:blipFill>
        <p:spPr>
          <a:xfrm>
            <a:off x="377677" y="1645367"/>
            <a:ext cx="496629" cy="223991"/>
          </a:xfrm>
          <a:prstGeom prst="rect">
            <a:avLst/>
          </a:prstGeom>
        </p:spPr>
      </p:pic>
      <p:pic>
        <p:nvPicPr>
          <p:cNvPr id="19" name="object 16">
            <a:extLst>
              <a:ext uri="{FF2B5EF4-FFF2-40B4-BE49-F238E27FC236}">
                <a16:creationId xmlns:a16="http://schemas.microsoft.com/office/drawing/2014/main" id="{480495E3-D347-AB9D-62D9-100CDE54B71B}"/>
              </a:ext>
            </a:extLst>
          </p:cNvPr>
          <p:cNvPicPr/>
          <p:nvPr/>
        </p:nvPicPr>
        <p:blipFill>
          <a:blip r:embed="rId11" cstate="print">
            <a:duotone>
              <a:srgbClr val="765FFF"/>
              <a:srgbClr val="FFFFFF"/>
            </a:duotone>
          </a:blip>
          <a:stretch>
            <a:fillRect/>
          </a:stretch>
        </p:blipFill>
        <p:spPr>
          <a:xfrm>
            <a:off x="409575" y="1323975"/>
            <a:ext cx="504825" cy="209550"/>
          </a:xfrm>
          <a:prstGeom prst="rect">
            <a:avLst/>
          </a:prstGeom>
        </p:spPr>
      </p:pic>
      <p:grpSp>
        <p:nvGrpSpPr>
          <p:cNvPr id="20" name="object 17">
            <a:extLst>
              <a:ext uri="{FF2B5EF4-FFF2-40B4-BE49-F238E27FC236}">
                <a16:creationId xmlns:a16="http://schemas.microsoft.com/office/drawing/2014/main" id="{E6B8C446-C6A2-9EE5-BA96-0831A9C12629}"/>
              </a:ext>
            </a:extLst>
          </p:cNvPr>
          <p:cNvGrpSpPr/>
          <p:nvPr/>
        </p:nvGrpSpPr>
        <p:grpSpPr>
          <a:xfrm>
            <a:off x="2047875" y="1190625"/>
            <a:ext cx="885825" cy="982980"/>
            <a:chOff x="2047875" y="1190625"/>
            <a:chExt cx="885825" cy="982980"/>
          </a:xfrm>
        </p:grpSpPr>
        <p:pic>
          <p:nvPicPr>
            <p:cNvPr id="21" name="object 18">
              <a:extLst>
                <a:ext uri="{FF2B5EF4-FFF2-40B4-BE49-F238E27FC236}">
                  <a16:creationId xmlns:a16="http://schemas.microsoft.com/office/drawing/2014/main" id="{A7DF294A-8115-89A3-216B-5AD3DB382A0B}"/>
                </a:ext>
              </a:extLst>
            </p:cNvPr>
            <p:cNvPicPr/>
            <p:nvPr/>
          </p:nvPicPr>
          <p:blipFill>
            <a:blip r:embed="rId12" cstate="print">
              <a:duotone>
                <a:srgbClr val="765FFF"/>
                <a:srgbClr val="FFFFFF"/>
              </a:duotone>
            </a:blip>
            <a:stretch>
              <a:fillRect/>
            </a:stretch>
          </p:blipFill>
          <p:spPr>
            <a:xfrm>
              <a:off x="2295525" y="1600200"/>
              <a:ext cx="638175" cy="228600"/>
            </a:xfrm>
            <a:prstGeom prst="rect">
              <a:avLst/>
            </a:prstGeom>
          </p:spPr>
        </p:pic>
        <p:pic>
          <p:nvPicPr>
            <p:cNvPr id="22" name="object 19">
              <a:extLst>
                <a:ext uri="{FF2B5EF4-FFF2-40B4-BE49-F238E27FC236}">
                  <a16:creationId xmlns:a16="http://schemas.microsoft.com/office/drawing/2014/main" id="{02754F25-5624-5E6E-709D-E20D977640FF}"/>
                </a:ext>
              </a:extLst>
            </p:cNvPr>
            <p:cNvPicPr/>
            <p:nvPr/>
          </p:nvPicPr>
          <p:blipFill>
            <a:blip r:embed="rId13" cstate="print">
              <a:duotone>
                <a:srgbClr val="765FFF"/>
                <a:srgbClr val="FFFFFF"/>
              </a:duotone>
            </a:blip>
            <a:stretch>
              <a:fillRect/>
            </a:stretch>
          </p:blipFill>
          <p:spPr>
            <a:xfrm>
              <a:off x="2494491" y="1861276"/>
              <a:ext cx="435680" cy="312144"/>
            </a:xfrm>
            <a:prstGeom prst="rect">
              <a:avLst/>
            </a:prstGeom>
          </p:spPr>
        </p:pic>
        <p:pic>
          <p:nvPicPr>
            <p:cNvPr id="23" name="object 20">
              <a:extLst>
                <a:ext uri="{FF2B5EF4-FFF2-40B4-BE49-F238E27FC236}">
                  <a16:creationId xmlns:a16="http://schemas.microsoft.com/office/drawing/2014/main" id="{530167BC-FDAB-128D-0417-7F562482F2CA}"/>
                </a:ext>
              </a:extLst>
            </p:cNvPr>
            <p:cNvPicPr/>
            <p:nvPr/>
          </p:nvPicPr>
          <p:blipFill>
            <a:blip r:embed="rId14" cstate="print">
              <a:duotone>
                <a:srgbClr val="765FFF"/>
                <a:srgbClr val="FFFFFF"/>
              </a:duotone>
            </a:blip>
            <a:stretch>
              <a:fillRect/>
            </a:stretch>
          </p:blipFill>
          <p:spPr>
            <a:xfrm>
              <a:off x="2047875" y="1190625"/>
              <a:ext cx="781050" cy="371475"/>
            </a:xfrm>
            <a:prstGeom prst="rect">
              <a:avLst/>
            </a:prstGeom>
          </p:spPr>
        </p:pic>
      </p:grpSp>
      <p:sp>
        <p:nvSpPr>
          <p:cNvPr id="24" name="object 21">
            <a:extLst>
              <a:ext uri="{FF2B5EF4-FFF2-40B4-BE49-F238E27FC236}">
                <a16:creationId xmlns:a16="http://schemas.microsoft.com/office/drawing/2014/main" id="{79F16A4B-E692-725F-ADFF-0AE10A77FE8D}"/>
              </a:ext>
            </a:extLst>
          </p:cNvPr>
          <p:cNvSpPr/>
          <p:nvPr/>
        </p:nvSpPr>
        <p:spPr>
          <a:xfrm>
            <a:off x="3871976" y="985900"/>
            <a:ext cx="2295525" cy="1343025"/>
          </a:xfrm>
          <a:custGeom>
            <a:avLst/>
            <a:gdLst/>
            <a:ahLst/>
            <a:cxnLst/>
            <a:rect l="l" t="t" r="r" b="b"/>
            <a:pathLst>
              <a:path w="2295525" h="1343025">
                <a:moveTo>
                  <a:pt x="0" y="1343025"/>
                </a:moveTo>
                <a:lnTo>
                  <a:pt x="2295525" y="1343025"/>
                </a:lnTo>
                <a:lnTo>
                  <a:pt x="2295525" y="0"/>
                </a:lnTo>
                <a:lnTo>
                  <a:pt x="0" y="0"/>
                </a:lnTo>
                <a:lnTo>
                  <a:pt x="0" y="1343025"/>
                </a:lnTo>
                <a:close/>
              </a:path>
            </a:pathLst>
          </a:custGeom>
          <a:ln w="12700">
            <a:solidFill>
              <a:srgbClr val="765FFF"/>
            </a:solidFill>
          </a:ln>
        </p:spPr>
        <p:txBody>
          <a:bodyPr wrap="square" lIns="0" tIns="0" rIns="0" bIns="0" rtlCol="0"/>
          <a:lstStyle/>
          <a:p>
            <a:endParaRPr b="1" spc="-25" dirty="0">
              <a:latin typeface="Segoe UI" pitchFamily="34" charset="0"/>
            </a:endParaRPr>
          </a:p>
        </p:txBody>
      </p:sp>
      <p:sp>
        <p:nvSpPr>
          <p:cNvPr id="25" name="object 22">
            <a:extLst>
              <a:ext uri="{FF2B5EF4-FFF2-40B4-BE49-F238E27FC236}">
                <a16:creationId xmlns:a16="http://schemas.microsoft.com/office/drawing/2014/main" id="{5195E06C-AFED-3765-8D91-E514E24EC44A}"/>
              </a:ext>
            </a:extLst>
          </p:cNvPr>
          <p:cNvSpPr txBox="1"/>
          <p:nvPr/>
        </p:nvSpPr>
        <p:spPr>
          <a:xfrm>
            <a:off x="3923919" y="1065847"/>
            <a:ext cx="1879600" cy="208915"/>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281A42"/>
                </a:solidFill>
                <a:latin typeface="Segoe UI" pitchFamily="34" charset="0"/>
                <a:cs typeface="Arial"/>
              </a:rPr>
              <a:t>Professional Services</a:t>
            </a:r>
            <a:endParaRPr sz="1200" b="1" spc="-25" dirty="0">
              <a:latin typeface="Segoe UI" pitchFamily="34" charset="0"/>
              <a:cs typeface="Arial"/>
            </a:endParaRPr>
          </a:p>
        </p:txBody>
      </p:sp>
      <p:sp>
        <p:nvSpPr>
          <p:cNvPr id="46" name="object 23">
            <a:extLst>
              <a:ext uri="{FF2B5EF4-FFF2-40B4-BE49-F238E27FC236}">
                <a16:creationId xmlns:a16="http://schemas.microsoft.com/office/drawing/2014/main" id="{B33BAE81-0FA9-9297-D6D8-DED427F6F81A}"/>
              </a:ext>
            </a:extLst>
          </p:cNvPr>
          <p:cNvSpPr txBox="1"/>
          <p:nvPr/>
        </p:nvSpPr>
        <p:spPr>
          <a:xfrm>
            <a:off x="6405626" y="3976687"/>
            <a:ext cx="5543550" cy="2762250"/>
          </a:xfrm>
          <a:prstGeom prst="rect">
            <a:avLst/>
          </a:prstGeom>
          <a:ln w="12700">
            <a:solidFill>
              <a:srgbClr val="765FFF"/>
            </a:solidFill>
          </a:ln>
        </p:spPr>
        <p:txBody>
          <a:bodyPr vert="horz" wrap="square" lIns="0" tIns="151130" rIns="0" bIns="0" rtlCol="0">
            <a:spAutoFit/>
          </a:bodyPr>
          <a:lstStyle/>
          <a:p>
            <a:pPr marL="120650">
              <a:lnSpc>
                <a:spcPct val="100000"/>
              </a:lnSpc>
              <a:spcBef>
                <a:spcPts val="1190"/>
              </a:spcBef>
            </a:pPr>
            <a:r>
              <a:rPr sz="1200" b="1" spc="-10" dirty="0">
                <a:solidFill>
                  <a:srgbClr val="281A42"/>
                </a:solidFill>
                <a:latin typeface="Segoe UI" pitchFamily="34" charset="0"/>
                <a:cs typeface="Arial"/>
              </a:rPr>
              <a:t>OTHER</a:t>
            </a:r>
            <a:endParaRPr sz="1200" spc="-10" dirty="0">
              <a:latin typeface="Arial" pitchFamily="34" charset="0"/>
              <a:cs typeface="Arial"/>
            </a:endParaRPr>
          </a:p>
        </p:txBody>
      </p:sp>
      <p:sp>
        <p:nvSpPr>
          <p:cNvPr id="47" name="object 24">
            <a:extLst>
              <a:ext uri="{FF2B5EF4-FFF2-40B4-BE49-F238E27FC236}">
                <a16:creationId xmlns:a16="http://schemas.microsoft.com/office/drawing/2014/main" id="{BE6F1857-3563-892C-2C47-E8DD2686EDBB}"/>
              </a:ext>
            </a:extLst>
          </p:cNvPr>
          <p:cNvSpPr txBox="1"/>
          <p:nvPr/>
        </p:nvSpPr>
        <p:spPr>
          <a:xfrm>
            <a:off x="3871976" y="3976751"/>
            <a:ext cx="2295525" cy="1333500"/>
          </a:xfrm>
          <a:prstGeom prst="rect">
            <a:avLst/>
          </a:prstGeom>
          <a:ln w="12700">
            <a:solidFill>
              <a:srgbClr val="765FFF"/>
            </a:solidFill>
          </a:ln>
        </p:spPr>
        <p:txBody>
          <a:bodyPr vert="horz" wrap="square" lIns="0" tIns="97155" rIns="0" bIns="0" rtlCol="0">
            <a:spAutoFit/>
          </a:bodyPr>
          <a:lstStyle/>
          <a:p>
            <a:pPr marL="125730">
              <a:lnSpc>
                <a:spcPct val="100000"/>
              </a:lnSpc>
              <a:spcBef>
                <a:spcPts val="765"/>
              </a:spcBef>
            </a:pPr>
            <a:r>
              <a:rPr sz="1200" b="1" spc="-10" dirty="0">
                <a:solidFill>
                  <a:srgbClr val="281A42"/>
                </a:solidFill>
                <a:latin typeface="Segoe UI" pitchFamily="34" charset="0"/>
                <a:cs typeface="Arial"/>
              </a:rPr>
              <a:t>EDUCATION</a:t>
            </a:r>
            <a:endParaRPr sz="1200" spc="-10" dirty="0">
              <a:latin typeface="Arial" pitchFamily="34" charset="0"/>
              <a:cs typeface="Arial"/>
            </a:endParaRPr>
          </a:p>
        </p:txBody>
      </p:sp>
      <p:sp>
        <p:nvSpPr>
          <p:cNvPr id="48" name="object 25">
            <a:extLst>
              <a:ext uri="{FF2B5EF4-FFF2-40B4-BE49-F238E27FC236}">
                <a16:creationId xmlns:a16="http://schemas.microsoft.com/office/drawing/2014/main" id="{D91A707C-89D9-9560-531F-99D2F6CF8916}"/>
              </a:ext>
            </a:extLst>
          </p:cNvPr>
          <p:cNvSpPr txBox="1"/>
          <p:nvPr/>
        </p:nvSpPr>
        <p:spPr>
          <a:xfrm>
            <a:off x="290512" y="3967226"/>
            <a:ext cx="3324225" cy="1343025"/>
          </a:xfrm>
          <a:prstGeom prst="rect">
            <a:avLst/>
          </a:prstGeom>
          <a:ln w="12700">
            <a:solidFill>
              <a:srgbClr val="765FFF"/>
            </a:solidFill>
          </a:ln>
        </p:spPr>
        <p:txBody>
          <a:bodyPr vert="horz" wrap="square" lIns="0" tIns="106045" rIns="0" bIns="0" rtlCol="0">
            <a:spAutoFit/>
          </a:bodyPr>
          <a:lstStyle/>
          <a:p>
            <a:pPr marL="93980">
              <a:lnSpc>
                <a:spcPct val="100000"/>
              </a:lnSpc>
              <a:spcBef>
                <a:spcPts val="835"/>
              </a:spcBef>
            </a:pPr>
            <a:r>
              <a:rPr sz="1200" b="1" spc="-10" dirty="0">
                <a:solidFill>
                  <a:srgbClr val="281A42"/>
                </a:solidFill>
                <a:latin typeface="Segoe UI" pitchFamily="34" charset="0"/>
                <a:cs typeface="Arial"/>
              </a:rPr>
              <a:t>PHARMECEUTICALS AND LIFE SCIENCES</a:t>
            </a:r>
            <a:endParaRPr sz="1200" spc="-10" dirty="0">
              <a:latin typeface="Arial" pitchFamily="34" charset="0"/>
              <a:cs typeface="Arial"/>
            </a:endParaRPr>
          </a:p>
        </p:txBody>
      </p:sp>
      <p:sp>
        <p:nvSpPr>
          <p:cNvPr id="49" name="object 26">
            <a:extLst>
              <a:ext uri="{FF2B5EF4-FFF2-40B4-BE49-F238E27FC236}">
                <a16:creationId xmlns:a16="http://schemas.microsoft.com/office/drawing/2014/main" id="{974DB59B-CFB7-58F9-9C81-9A2F1239C069}"/>
              </a:ext>
            </a:extLst>
          </p:cNvPr>
          <p:cNvSpPr txBox="1"/>
          <p:nvPr/>
        </p:nvSpPr>
        <p:spPr>
          <a:xfrm>
            <a:off x="6405626" y="985900"/>
            <a:ext cx="2686050" cy="1343025"/>
          </a:xfrm>
          <a:prstGeom prst="rect">
            <a:avLst/>
          </a:prstGeom>
          <a:ln w="12700">
            <a:solidFill>
              <a:srgbClr val="765FFF"/>
            </a:solidFill>
          </a:ln>
        </p:spPr>
        <p:txBody>
          <a:bodyPr vert="horz" wrap="square" lIns="0" tIns="81280" rIns="0" bIns="0" rtlCol="0">
            <a:spAutoFit/>
          </a:bodyPr>
          <a:lstStyle/>
          <a:p>
            <a:pPr marL="120650">
              <a:lnSpc>
                <a:spcPct val="100000"/>
              </a:lnSpc>
              <a:spcBef>
                <a:spcPts val="640"/>
              </a:spcBef>
            </a:pPr>
            <a:r>
              <a:rPr sz="1200" b="1" spc="-25" dirty="0">
                <a:solidFill>
                  <a:srgbClr val="281A42"/>
                </a:solidFill>
                <a:latin typeface="Segoe UI" pitchFamily="34" charset="0"/>
                <a:cs typeface="Arial"/>
              </a:rPr>
              <a:t>RETAIL/ONLINE Retail Forum</a:t>
            </a:r>
            <a:endParaRPr sz="1200" b="1" spc="-25" dirty="0">
              <a:latin typeface="Segoe UI" pitchFamily="34" charset="0"/>
              <a:cs typeface="Arial"/>
            </a:endParaRPr>
          </a:p>
        </p:txBody>
      </p:sp>
      <p:sp>
        <p:nvSpPr>
          <p:cNvPr id="50" name="object 27">
            <a:extLst>
              <a:ext uri="{FF2B5EF4-FFF2-40B4-BE49-F238E27FC236}">
                <a16:creationId xmlns:a16="http://schemas.microsoft.com/office/drawing/2014/main" id="{32F7E293-40DB-5B88-5D2C-867A6C5097A5}"/>
              </a:ext>
            </a:extLst>
          </p:cNvPr>
          <p:cNvSpPr/>
          <p:nvPr/>
        </p:nvSpPr>
        <p:spPr>
          <a:xfrm>
            <a:off x="3871976" y="2471801"/>
            <a:ext cx="2286000" cy="1343025"/>
          </a:xfrm>
          <a:custGeom>
            <a:avLst/>
            <a:gdLst/>
            <a:ahLst/>
            <a:cxnLst/>
            <a:rect l="l" t="t" r="r" b="b"/>
            <a:pathLst>
              <a:path w="2286000" h="1343025">
                <a:moveTo>
                  <a:pt x="0" y="1343025"/>
                </a:moveTo>
                <a:lnTo>
                  <a:pt x="2286000" y="1343025"/>
                </a:lnTo>
                <a:lnTo>
                  <a:pt x="2286000" y="0"/>
                </a:lnTo>
                <a:lnTo>
                  <a:pt x="0" y="0"/>
                </a:lnTo>
                <a:lnTo>
                  <a:pt x="0" y="1343025"/>
                </a:lnTo>
                <a:close/>
              </a:path>
            </a:pathLst>
          </a:custGeom>
          <a:ln w="12700">
            <a:solidFill>
              <a:srgbClr val="765FFF"/>
            </a:solidFill>
          </a:ln>
        </p:spPr>
        <p:txBody>
          <a:bodyPr wrap="square" lIns="0" tIns="0" rIns="0" bIns="0" rtlCol="0"/>
          <a:lstStyle/>
          <a:p>
            <a:endParaRPr dirty="0"/>
          </a:p>
        </p:txBody>
      </p:sp>
      <p:sp>
        <p:nvSpPr>
          <p:cNvPr id="51" name="object 28">
            <a:extLst>
              <a:ext uri="{FF2B5EF4-FFF2-40B4-BE49-F238E27FC236}">
                <a16:creationId xmlns:a16="http://schemas.microsoft.com/office/drawing/2014/main" id="{50B768A7-9F50-1E95-0CE2-B86911E1BBA0}"/>
              </a:ext>
            </a:extLst>
          </p:cNvPr>
          <p:cNvSpPr txBox="1"/>
          <p:nvPr/>
        </p:nvSpPr>
        <p:spPr>
          <a:xfrm>
            <a:off x="3923919" y="2545397"/>
            <a:ext cx="1365885" cy="208915"/>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281A42"/>
                </a:solidFill>
                <a:latin typeface="Segoe UI" pitchFamily="34" charset="0"/>
                <a:cs typeface="Arial"/>
              </a:rPr>
              <a:t>MEDICAL DEVICES</a:t>
            </a:r>
            <a:endParaRPr sz="1200" spc="-10" dirty="0">
              <a:latin typeface="Arial" pitchFamily="34" charset="0"/>
              <a:cs typeface="Arial"/>
            </a:endParaRPr>
          </a:p>
        </p:txBody>
      </p:sp>
      <p:sp>
        <p:nvSpPr>
          <p:cNvPr id="52" name="object 29">
            <a:extLst>
              <a:ext uri="{FF2B5EF4-FFF2-40B4-BE49-F238E27FC236}">
                <a16:creationId xmlns:a16="http://schemas.microsoft.com/office/drawing/2014/main" id="{7FD3F646-AED4-B8B4-9187-1F12A5D34AC2}"/>
              </a:ext>
            </a:extLst>
          </p:cNvPr>
          <p:cNvSpPr txBox="1"/>
          <p:nvPr/>
        </p:nvSpPr>
        <p:spPr>
          <a:xfrm>
            <a:off x="300037" y="2481326"/>
            <a:ext cx="3324225" cy="1343025"/>
          </a:xfrm>
          <a:prstGeom prst="rect">
            <a:avLst/>
          </a:prstGeom>
          <a:ln w="12700">
            <a:solidFill>
              <a:srgbClr val="765FFF"/>
            </a:solidFill>
          </a:ln>
        </p:spPr>
        <p:txBody>
          <a:bodyPr vert="horz" wrap="square" lIns="0" tIns="99060" rIns="0" bIns="0" rtlCol="0">
            <a:spAutoFit/>
          </a:bodyPr>
          <a:lstStyle/>
          <a:p>
            <a:pPr marL="73025">
              <a:lnSpc>
                <a:spcPct val="100000"/>
              </a:lnSpc>
              <a:spcBef>
                <a:spcPts val="780"/>
              </a:spcBef>
            </a:pPr>
            <a:r>
              <a:rPr sz="1200" b="1" spc="-10" dirty="0">
                <a:solidFill>
                  <a:srgbClr val="281A42"/>
                </a:solidFill>
                <a:latin typeface="Segoe UI" pitchFamily="34" charset="0"/>
                <a:cs typeface="Arial"/>
              </a:rPr>
              <a:t>FINANCIAL SERVICES</a:t>
            </a:r>
            <a:endParaRPr sz="1200" spc="-10" dirty="0">
              <a:latin typeface="Arial" pitchFamily="34" charset="0"/>
              <a:cs typeface="Arial"/>
            </a:endParaRPr>
          </a:p>
        </p:txBody>
      </p:sp>
      <p:sp>
        <p:nvSpPr>
          <p:cNvPr id="53" name="object 30">
            <a:extLst>
              <a:ext uri="{FF2B5EF4-FFF2-40B4-BE49-F238E27FC236}">
                <a16:creationId xmlns:a16="http://schemas.microsoft.com/office/drawing/2014/main" id="{FCF512A9-27DB-9C16-95DD-3E67E24F0A01}"/>
              </a:ext>
            </a:extLst>
          </p:cNvPr>
          <p:cNvSpPr txBox="1"/>
          <p:nvPr/>
        </p:nvSpPr>
        <p:spPr>
          <a:xfrm>
            <a:off x="3871976" y="5395912"/>
            <a:ext cx="2295525" cy="1343025"/>
          </a:xfrm>
          <a:prstGeom prst="rect">
            <a:avLst/>
          </a:prstGeom>
          <a:ln w="12700">
            <a:solidFill>
              <a:srgbClr val="765FFF"/>
            </a:solidFill>
          </a:ln>
        </p:spPr>
        <p:txBody>
          <a:bodyPr vert="horz" wrap="square" lIns="0" tIns="154305" rIns="0" bIns="0" rtlCol="0">
            <a:spAutoFit/>
          </a:bodyPr>
          <a:lstStyle/>
          <a:p>
            <a:pPr marL="114300">
              <a:lnSpc>
                <a:spcPct val="100000"/>
              </a:lnSpc>
              <a:spcBef>
                <a:spcPts val="1215"/>
              </a:spcBef>
            </a:pPr>
            <a:r>
              <a:rPr sz="1200" b="1" spc="-10" dirty="0">
                <a:solidFill>
                  <a:srgbClr val="281A42"/>
                </a:solidFill>
                <a:latin typeface="Segoe UI" pitchFamily="34" charset="0"/>
                <a:cs typeface="Arial"/>
              </a:rPr>
              <a:t>INSURANCE</a:t>
            </a:r>
            <a:endParaRPr sz="1200" spc="-10" dirty="0">
              <a:latin typeface="Arial" pitchFamily="34" charset="0"/>
              <a:cs typeface="Arial"/>
            </a:endParaRPr>
          </a:p>
        </p:txBody>
      </p:sp>
      <p:sp>
        <p:nvSpPr>
          <p:cNvPr id="54" name="object 31">
            <a:extLst>
              <a:ext uri="{FF2B5EF4-FFF2-40B4-BE49-F238E27FC236}">
                <a16:creationId xmlns:a16="http://schemas.microsoft.com/office/drawing/2014/main" id="{AD6A3C10-442E-4C3A-6CF2-09D1909B8640}"/>
              </a:ext>
            </a:extLst>
          </p:cNvPr>
          <p:cNvSpPr txBox="1"/>
          <p:nvPr/>
        </p:nvSpPr>
        <p:spPr>
          <a:xfrm>
            <a:off x="290512" y="5395912"/>
            <a:ext cx="3324225" cy="1343025"/>
          </a:xfrm>
          <a:prstGeom prst="rect">
            <a:avLst/>
          </a:prstGeom>
          <a:ln w="12700">
            <a:solidFill>
              <a:srgbClr val="765FFF"/>
            </a:solidFill>
          </a:ln>
        </p:spPr>
        <p:txBody>
          <a:bodyPr vert="horz" wrap="square" lIns="0" tIns="105410" rIns="0" bIns="0" rtlCol="0">
            <a:spAutoFit/>
          </a:bodyPr>
          <a:lstStyle/>
          <a:p>
            <a:pPr marL="93980">
              <a:lnSpc>
                <a:spcPct val="100000"/>
              </a:lnSpc>
              <a:spcBef>
                <a:spcPts val="830"/>
              </a:spcBef>
            </a:pPr>
            <a:r>
              <a:rPr sz="1200" b="1" spc="-10" dirty="0">
                <a:solidFill>
                  <a:srgbClr val="281A42"/>
                </a:solidFill>
                <a:latin typeface="Segoe UI" pitchFamily="34" charset="0"/>
                <a:cs typeface="Arial"/>
              </a:rPr>
              <a:t>CONSUMER PACKAGED GOODS</a:t>
            </a:r>
            <a:endParaRPr sz="1200" spc="-10" dirty="0">
              <a:latin typeface="Arial" pitchFamily="34" charset="0"/>
              <a:cs typeface="Arial"/>
            </a:endParaRPr>
          </a:p>
        </p:txBody>
      </p:sp>
      <p:sp>
        <p:nvSpPr>
          <p:cNvPr id="55" name="object 32">
            <a:extLst>
              <a:ext uri="{FF2B5EF4-FFF2-40B4-BE49-F238E27FC236}">
                <a16:creationId xmlns:a16="http://schemas.microsoft.com/office/drawing/2014/main" id="{565ECEA3-9015-0431-5D9E-083BBEDE13C3}"/>
              </a:ext>
            </a:extLst>
          </p:cNvPr>
          <p:cNvSpPr txBox="1"/>
          <p:nvPr/>
        </p:nvSpPr>
        <p:spPr>
          <a:xfrm>
            <a:off x="9234551" y="985900"/>
            <a:ext cx="2714625" cy="1343025"/>
          </a:xfrm>
          <a:prstGeom prst="rect">
            <a:avLst/>
          </a:prstGeom>
          <a:ln w="12700">
            <a:solidFill>
              <a:srgbClr val="765FFF"/>
            </a:solidFill>
          </a:ln>
        </p:spPr>
        <p:txBody>
          <a:bodyPr vert="horz" wrap="square" lIns="0" tIns="13970" rIns="0" bIns="0" rtlCol="0">
            <a:spAutoFit/>
          </a:bodyPr>
          <a:lstStyle/>
          <a:p>
            <a:pPr marL="109220" marR="923925">
              <a:lnSpc>
                <a:spcPts val="1430"/>
              </a:lnSpc>
              <a:spcBef>
                <a:spcPts val="110"/>
              </a:spcBef>
            </a:pPr>
            <a:r>
              <a:rPr sz="1200" b="1" spc="-25" dirty="0">
                <a:solidFill>
                  <a:srgbClr val="281A42"/>
                </a:solidFill>
                <a:latin typeface="Segoe UI" pitchFamily="34" charset="0"/>
                <a:cs typeface="Arial"/>
              </a:rPr>
              <a:t>HEALTHCARE/HEALTH Technology</a:t>
            </a:r>
            <a:endParaRPr sz="1200" b="1" spc="-25" dirty="0">
              <a:latin typeface="Segoe UI" pitchFamily="34" charset="0"/>
              <a:cs typeface="Arial"/>
            </a:endParaRPr>
          </a:p>
        </p:txBody>
      </p:sp>
      <p:grpSp>
        <p:nvGrpSpPr>
          <p:cNvPr id="56" name="object 33">
            <a:extLst>
              <a:ext uri="{FF2B5EF4-FFF2-40B4-BE49-F238E27FC236}">
                <a16:creationId xmlns:a16="http://schemas.microsoft.com/office/drawing/2014/main" id="{B6F12667-34F7-9472-1136-B683ED8E89D2}"/>
              </a:ext>
            </a:extLst>
          </p:cNvPr>
          <p:cNvGrpSpPr/>
          <p:nvPr/>
        </p:nvGrpSpPr>
        <p:grpSpPr>
          <a:xfrm>
            <a:off x="3952875" y="1393371"/>
            <a:ext cx="2286000" cy="2223770"/>
            <a:chOff x="3952875" y="1393371"/>
            <a:chExt cx="2286000" cy="2223770"/>
          </a:xfrm>
        </p:grpSpPr>
        <p:pic>
          <p:nvPicPr>
            <p:cNvPr id="57" name="object 34">
              <a:extLst>
                <a:ext uri="{FF2B5EF4-FFF2-40B4-BE49-F238E27FC236}">
                  <a16:creationId xmlns:a16="http://schemas.microsoft.com/office/drawing/2014/main" id="{FBABEC7B-89E5-08E9-182F-DACB1EB1188C}"/>
                </a:ext>
              </a:extLst>
            </p:cNvPr>
            <p:cNvPicPr/>
            <p:nvPr/>
          </p:nvPicPr>
          <p:blipFill>
            <a:blip r:embed="rId15" cstate="print">
              <a:duotone>
                <a:srgbClr val="765FFF"/>
                <a:srgbClr val="FFFFFF"/>
              </a:duotone>
            </a:blip>
            <a:stretch>
              <a:fillRect/>
            </a:stretch>
          </p:blipFill>
          <p:spPr>
            <a:xfrm>
              <a:off x="3962400" y="1476375"/>
              <a:ext cx="1114425" cy="171450"/>
            </a:xfrm>
            <a:prstGeom prst="rect">
              <a:avLst/>
            </a:prstGeom>
          </p:spPr>
        </p:pic>
        <p:pic>
          <p:nvPicPr>
            <p:cNvPr id="58" name="object 35">
              <a:extLst>
                <a:ext uri="{FF2B5EF4-FFF2-40B4-BE49-F238E27FC236}">
                  <a16:creationId xmlns:a16="http://schemas.microsoft.com/office/drawing/2014/main" id="{E3B9FE41-AE63-1987-5EBF-EC9C0926FAB9}"/>
                </a:ext>
              </a:extLst>
            </p:cNvPr>
            <p:cNvPicPr/>
            <p:nvPr/>
          </p:nvPicPr>
          <p:blipFill>
            <a:blip r:embed="rId16" cstate="print">
              <a:duotone>
                <a:srgbClr val="765FFF"/>
                <a:srgbClr val="FFFFFF"/>
              </a:duotone>
            </a:blip>
            <a:stretch>
              <a:fillRect/>
            </a:stretch>
          </p:blipFill>
          <p:spPr>
            <a:xfrm>
              <a:off x="3952875" y="1829501"/>
              <a:ext cx="752475" cy="269507"/>
            </a:xfrm>
            <a:prstGeom prst="rect">
              <a:avLst/>
            </a:prstGeom>
          </p:spPr>
        </p:pic>
        <p:pic>
          <p:nvPicPr>
            <p:cNvPr id="59" name="object 36">
              <a:extLst>
                <a:ext uri="{FF2B5EF4-FFF2-40B4-BE49-F238E27FC236}">
                  <a16:creationId xmlns:a16="http://schemas.microsoft.com/office/drawing/2014/main" id="{090E1A20-077C-5F6E-016E-54C9EAA087F6}"/>
                </a:ext>
              </a:extLst>
            </p:cNvPr>
            <p:cNvPicPr/>
            <p:nvPr/>
          </p:nvPicPr>
          <p:blipFill>
            <a:blip r:embed="rId17" cstate="print">
              <a:duotone>
                <a:srgbClr val="765FFF"/>
                <a:srgbClr val="FFFFFF"/>
              </a:duotone>
            </a:blip>
            <a:stretch>
              <a:fillRect/>
            </a:stretch>
          </p:blipFill>
          <p:spPr>
            <a:xfrm>
              <a:off x="5172075" y="1393371"/>
              <a:ext cx="809625" cy="263978"/>
            </a:xfrm>
            <a:prstGeom prst="rect">
              <a:avLst/>
            </a:prstGeom>
          </p:spPr>
        </p:pic>
        <p:pic>
          <p:nvPicPr>
            <p:cNvPr id="60" name="object 37">
              <a:extLst>
                <a:ext uri="{FF2B5EF4-FFF2-40B4-BE49-F238E27FC236}">
                  <a16:creationId xmlns:a16="http://schemas.microsoft.com/office/drawing/2014/main" id="{12EB09A3-C6BF-A180-330D-DA53047D79DE}"/>
                </a:ext>
              </a:extLst>
            </p:cNvPr>
            <p:cNvPicPr/>
            <p:nvPr/>
          </p:nvPicPr>
          <p:blipFill>
            <a:blip r:embed="rId18" cstate="print">
              <a:duotone>
                <a:srgbClr val="765FFF"/>
                <a:srgbClr val="FFFFFF"/>
              </a:duotone>
            </a:blip>
            <a:stretch>
              <a:fillRect/>
            </a:stretch>
          </p:blipFill>
          <p:spPr>
            <a:xfrm>
              <a:off x="4778121" y="1885738"/>
              <a:ext cx="464057" cy="152357"/>
            </a:xfrm>
            <a:prstGeom prst="rect">
              <a:avLst/>
            </a:prstGeom>
          </p:spPr>
        </p:pic>
        <p:pic>
          <p:nvPicPr>
            <p:cNvPr id="61" name="object 38">
              <a:extLst>
                <a:ext uri="{FF2B5EF4-FFF2-40B4-BE49-F238E27FC236}">
                  <a16:creationId xmlns:a16="http://schemas.microsoft.com/office/drawing/2014/main" id="{641FD273-C1F8-14E9-11C3-494495D21D43}"/>
                </a:ext>
              </a:extLst>
            </p:cNvPr>
            <p:cNvPicPr/>
            <p:nvPr/>
          </p:nvPicPr>
          <p:blipFill>
            <a:blip r:embed="rId19" cstate="print">
              <a:duotone>
                <a:srgbClr val="765FFF"/>
                <a:srgbClr val="FFFFFF"/>
              </a:duotone>
            </a:blip>
            <a:stretch>
              <a:fillRect/>
            </a:stretch>
          </p:blipFill>
          <p:spPr>
            <a:xfrm>
              <a:off x="4052680" y="2905561"/>
              <a:ext cx="832402" cy="335559"/>
            </a:xfrm>
            <a:prstGeom prst="rect">
              <a:avLst/>
            </a:prstGeom>
          </p:spPr>
        </p:pic>
        <p:pic>
          <p:nvPicPr>
            <p:cNvPr id="62" name="object 39">
              <a:extLst>
                <a:ext uri="{FF2B5EF4-FFF2-40B4-BE49-F238E27FC236}">
                  <a16:creationId xmlns:a16="http://schemas.microsoft.com/office/drawing/2014/main" id="{7AB4E792-B986-8103-6300-1DCD99D02FE3}"/>
                </a:ext>
              </a:extLst>
            </p:cNvPr>
            <p:cNvPicPr/>
            <p:nvPr/>
          </p:nvPicPr>
          <p:blipFill>
            <a:blip r:embed="rId20" cstate="print">
              <a:duotone>
                <a:srgbClr val="765FFF"/>
                <a:srgbClr val="FFFFFF"/>
              </a:duotone>
            </a:blip>
            <a:stretch>
              <a:fillRect/>
            </a:stretch>
          </p:blipFill>
          <p:spPr>
            <a:xfrm>
              <a:off x="5038725" y="2952750"/>
              <a:ext cx="923925" cy="228600"/>
            </a:xfrm>
            <a:prstGeom prst="rect">
              <a:avLst/>
            </a:prstGeom>
          </p:spPr>
        </p:pic>
        <p:pic>
          <p:nvPicPr>
            <p:cNvPr id="63" name="object 40">
              <a:extLst>
                <a:ext uri="{FF2B5EF4-FFF2-40B4-BE49-F238E27FC236}">
                  <a16:creationId xmlns:a16="http://schemas.microsoft.com/office/drawing/2014/main" id="{2E7FFC4F-DB20-ECD4-B816-0E51F56601DB}"/>
                </a:ext>
              </a:extLst>
            </p:cNvPr>
            <p:cNvPicPr/>
            <p:nvPr/>
          </p:nvPicPr>
          <p:blipFill>
            <a:blip r:embed="rId21" cstate="print">
              <a:duotone>
                <a:srgbClr val="765FFF"/>
                <a:srgbClr val="FFFFFF"/>
              </a:duotone>
            </a:blip>
            <a:stretch>
              <a:fillRect/>
            </a:stretch>
          </p:blipFill>
          <p:spPr>
            <a:xfrm>
              <a:off x="4038600" y="3374319"/>
              <a:ext cx="876300" cy="242711"/>
            </a:xfrm>
            <a:prstGeom prst="rect">
              <a:avLst/>
            </a:prstGeom>
          </p:spPr>
        </p:pic>
        <p:pic>
          <p:nvPicPr>
            <p:cNvPr id="1024" name="object 41">
              <a:extLst>
                <a:ext uri="{FF2B5EF4-FFF2-40B4-BE49-F238E27FC236}">
                  <a16:creationId xmlns:a16="http://schemas.microsoft.com/office/drawing/2014/main" id="{7EDBF1C5-1D5B-5690-FC42-1FF22DDE46A7}"/>
                </a:ext>
              </a:extLst>
            </p:cNvPr>
            <p:cNvPicPr/>
            <p:nvPr/>
          </p:nvPicPr>
          <p:blipFill>
            <a:blip r:embed="rId22" cstate="print">
              <a:duotone>
                <a:srgbClr val="765FFF"/>
                <a:srgbClr val="FFFFFF"/>
              </a:duotone>
            </a:blip>
            <a:stretch>
              <a:fillRect/>
            </a:stretch>
          </p:blipFill>
          <p:spPr>
            <a:xfrm>
              <a:off x="5000625" y="1685925"/>
              <a:ext cx="1238250" cy="971550"/>
            </a:xfrm>
            <a:prstGeom prst="rect">
              <a:avLst/>
            </a:prstGeom>
          </p:spPr>
        </p:pic>
      </p:grpSp>
      <p:pic>
        <p:nvPicPr>
          <p:cNvPr id="1025" name="object 42">
            <a:extLst>
              <a:ext uri="{FF2B5EF4-FFF2-40B4-BE49-F238E27FC236}">
                <a16:creationId xmlns:a16="http://schemas.microsoft.com/office/drawing/2014/main" id="{6948450D-DE8E-044D-9644-01D1884CA165}"/>
              </a:ext>
            </a:extLst>
          </p:cNvPr>
          <p:cNvPicPr/>
          <p:nvPr/>
        </p:nvPicPr>
        <p:blipFill>
          <a:blip r:embed="rId23" cstate="print">
            <a:duotone>
              <a:srgbClr val="765FFF"/>
              <a:srgbClr val="FFFFFF"/>
            </a:duotone>
          </a:blip>
          <a:stretch>
            <a:fillRect/>
          </a:stretch>
        </p:blipFill>
        <p:spPr>
          <a:xfrm>
            <a:off x="4252738" y="4381500"/>
            <a:ext cx="433136" cy="529265"/>
          </a:xfrm>
          <a:prstGeom prst="rect">
            <a:avLst/>
          </a:prstGeom>
        </p:spPr>
      </p:pic>
      <p:pic>
        <p:nvPicPr>
          <p:cNvPr id="1027" name="object 43">
            <a:extLst>
              <a:ext uri="{FF2B5EF4-FFF2-40B4-BE49-F238E27FC236}">
                <a16:creationId xmlns:a16="http://schemas.microsoft.com/office/drawing/2014/main" id="{7CCB9384-2549-A64E-90AF-14E106D74EC8}"/>
              </a:ext>
            </a:extLst>
          </p:cNvPr>
          <p:cNvPicPr/>
          <p:nvPr/>
        </p:nvPicPr>
        <p:blipFill>
          <a:blip r:embed="rId24" cstate="print">
            <a:duotone>
              <a:srgbClr val="765FFF"/>
              <a:srgbClr val="FFFFFF"/>
            </a:duotone>
          </a:blip>
          <a:stretch>
            <a:fillRect/>
          </a:stretch>
        </p:blipFill>
        <p:spPr>
          <a:xfrm>
            <a:off x="4953000" y="4876800"/>
            <a:ext cx="952500" cy="266700"/>
          </a:xfrm>
          <a:prstGeom prst="rect">
            <a:avLst/>
          </a:prstGeom>
        </p:spPr>
      </p:pic>
      <p:pic>
        <p:nvPicPr>
          <p:cNvPr id="1028" name="object 44">
            <a:extLst>
              <a:ext uri="{FF2B5EF4-FFF2-40B4-BE49-F238E27FC236}">
                <a16:creationId xmlns:a16="http://schemas.microsoft.com/office/drawing/2014/main" id="{284AD44A-CCDB-2056-39C2-50CBD06A5152}"/>
              </a:ext>
            </a:extLst>
          </p:cNvPr>
          <p:cNvPicPr/>
          <p:nvPr/>
        </p:nvPicPr>
        <p:blipFill>
          <a:blip r:embed="rId25" cstate="print">
            <a:duotone>
              <a:srgbClr val="765FFF"/>
              <a:srgbClr val="FFFFFF"/>
            </a:duotone>
          </a:blip>
          <a:stretch>
            <a:fillRect/>
          </a:stretch>
        </p:blipFill>
        <p:spPr>
          <a:xfrm>
            <a:off x="4895850" y="4266457"/>
            <a:ext cx="1123950" cy="461523"/>
          </a:xfrm>
          <a:prstGeom prst="rect">
            <a:avLst/>
          </a:prstGeom>
        </p:spPr>
      </p:pic>
      <p:pic>
        <p:nvPicPr>
          <p:cNvPr id="1029" name="object 45">
            <a:extLst>
              <a:ext uri="{FF2B5EF4-FFF2-40B4-BE49-F238E27FC236}">
                <a16:creationId xmlns:a16="http://schemas.microsoft.com/office/drawing/2014/main" id="{2BB0720E-68D4-3DC4-6278-C9A8762ECD69}"/>
              </a:ext>
            </a:extLst>
          </p:cNvPr>
          <p:cNvPicPr/>
          <p:nvPr/>
        </p:nvPicPr>
        <p:blipFill>
          <a:blip r:embed="rId26" cstate="print">
            <a:duotone>
              <a:srgbClr val="765FFF"/>
              <a:srgbClr val="FFFFFF"/>
            </a:duotone>
          </a:blip>
          <a:stretch>
            <a:fillRect/>
          </a:stretch>
        </p:blipFill>
        <p:spPr>
          <a:xfrm>
            <a:off x="390525" y="2867025"/>
            <a:ext cx="904875" cy="361950"/>
          </a:xfrm>
          <a:prstGeom prst="rect">
            <a:avLst/>
          </a:prstGeom>
        </p:spPr>
      </p:pic>
      <p:pic>
        <p:nvPicPr>
          <p:cNvPr id="1030" name="object 46">
            <a:extLst>
              <a:ext uri="{FF2B5EF4-FFF2-40B4-BE49-F238E27FC236}">
                <a16:creationId xmlns:a16="http://schemas.microsoft.com/office/drawing/2014/main" id="{8A2091D4-8884-3A3B-BB1D-68BD9FBF2208}"/>
              </a:ext>
            </a:extLst>
          </p:cNvPr>
          <p:cNvPicPr/>
          <p:nvPr/>
        </p:nvPicPr>
        <p:blipFill>
          <a:blip r:embed="rId27" cstate="print">
            <a:duotone>
              <a:srgbClr val="765FFF"/>
              <a:srgbClr val="FFFFFF"/>
            </a:duotone>
          </a:blip>
          <a:stretch>
            <a:fillRect/>
          </a:stretch>
        </p:blipFill>
        <p:spPr>
          <a:xfrm>
            <a:off x="447675" y="3295650"/>
            <a:ext cx="790575" cy="171450"/>
          </a:xfrm>
          <a:prstGeom prst="rect">
            <a:avLst/>
          </a:prstGeom>
        </p:spPr>
      </p:pic>
      <p:pic>
        <p:nvPicPr>
          <p:cNvPr id="1031" name="object 47">
            <a:extLst>
              <a:ext uri="{FF2B5EF4-FFF2-40B4-BE49-F238E27FC236}">
                <a16:creationId xmlns:a16="http://schemas.microsoft.com/office/drawing/2014/main" id="{67238325-FC86-C750-9A5E-58BF98946D28}"/>
              </a:ext>
            </a:extLst>
          </p:cNvPr>
          <p:cNvPicPr/>
          <p:nvPr/>
        </p:nvPicPr>
        <p:blipFill>
          <a:blip r:embed="rId28" cstate="print">
            <a:duotone>
              <a:srgbClr val="765FFF"/>
              <a:srgbClr val="FFFFFF"/>
            </a:duotone>
          </a:blip>
          <a:stretch>
            <a:fillRect/>
          </a:stretch>
        </p:blipFill>
        <p:spPr>
          <a:xfrm>
            <a:off x="1419225" y="2839508"/>
            <a:ext cx="695325" cy="203200"/>
          </a:xfrm>
          <a:prstGeom prst="rect">
            <a:avLst/>
          </a:prstGeom>
        </p:spPr>
      </p:pic>
      <p:pic>
        <p:nvPicPr>
          <p:cNvPr id="1032" name="object 48">
            <a:extLst>
              <a:ext uri="{FF2B5EF4-FFF2-40B4-BE49-F238E27FC236}">
                <a16:creationId xmlns:a16="http://schemas.microsoft.com/office/drawing/2014/main" id="{02E7D03D-BF71-72C7-B099-C66CF2428A99}"/>
              </a:ext>
            </a:extLst>
          </p:cNvPr>
          <p:cNvPicPr/>
          <p:nvPr/>
        </p:nvPicPr>
        <p:blipFill>
          <a:blip r:embed="rId29" cstate="print">
            <a:duotone>
              <a:srgbClr val="765FFF"/>
              <a:srgbClr val="FFFFFF"/>
            </a:duotone>
          </a:blip>
          <a:stretch>
            <a:fillRect/>
          </a:stretch>
        </p:blipFill>
        <p:spPr>
          <a:xfrm>
            <a:off x="1428750" y="3133725"/>
            <a:ext cx="666750" cy="171450"/>
          </a:xfrm>
          <a:prstGeom prst="rect">
            <a:avLst/>
          </a:prstGeom>
        </p:spPr>
      </p:pic>
      <p:pic>
        <p:nvPicPr>
          <p:cNvPr id="1033" name="object 49">
            <a:extLst>
              <a:ext uri="{FF2B5EF4-FFF2-40B4-BE49-F238E27FC236}">
                <a16:creationId xmlns:a16="http://schemas.microsoft.com/office/drawing/2014/main" id="{0BBA693B-D3C6-1EC4-1291-999F2D8689EC}"/>
              </a:ext>
            </a:extLst>
          </p:cNvPr>
          <p:cNvPicPr/>
          <p:nvPr/>
        </p:nvPicPr>
        <p:blipFill>
          <a:blip r:embed="rId30" cstate="print">
            <a:duotone>
              <a:srgbClr val="765FFF"/>
              <a:srgbClr val="FFFFFF"/>
            </a:duotone>
          </a:blip>
          <a:stretch>
            <a:fillRect/>
          </a:stretch>
        </p:blipFill>
        <p:spPr>
          <a:xfrm>
            <a:off x="1390650" y="3505200"/>
            <a:ext cx="609600" cy="171450"/>
          </a:xfrm>
          <a:prstGeom prst="rect">
            <a:avLst/>
          </a:prstGeom>
        </p:spPr>
      </p:pic>
      <p:pic>
        <p:nvPicPr>
          <p:cNvPr id="1034" name="object 50">
            <a:extLst>
              <a:ext uri="{FF2B5EF4-FFF2-40B4-BE49-F238E27FC236}">
                <a16:creationId xmlns:a16="http://schemas.microsoft.com/office/drawing/2014/main" id="{837AAA0A-F65E-8435-E906-30A151AE2AF6}"/>
              </a:ext>
            </a:extLst>
          </p:cNvPr>
          <p:cNvPicPr/>
          <p:nvPr/>
        </p:nvPicPr>
        <p:blipFill>
          <a:blip r:embed="rId31" cstate="print">
            <a:duotone>
              <a:srgbClr val="765FFF"/>
              <a:srgbClr val="FFFFFF"/>
            </a:duotone>
          </a:blip>
          <a:stretch>
            <a:fillRect/>
          </a:stretch>
        </p:blipFill>
        <p:spPr>
          <a:xfrm>
            <a:off x="2390775" y="2733675"/>
            <a:ext cx="704850" cy="95250"/>
          </a:xfrm>
          <a:prstGeom prst="rect">
            <a:avLst/>
          </a:prstGeom>
        </p:spPr>
      </p:pic>
      <p:pic>
        <p:nvPicPr>
          <p:cNvPr id="1035" name="object 51">
            <a:extLst>
              <a:ext uri="{FF2B5EF4-FFF2-40B4-BE49-F238E27FC236}">
                <a16:creationId xmlns:a16="http://schemas.microsoft.com/office/drawing/2014/main" id="{A5824F5A-77F8-3CA1-41D3-3C8E0EA62F47}"/>
              </a:ext>
            </a:extLst>
          </p:cNvPr>
          <p:cNvPicPr/>
          <p:nvPr/>
        </p:nvPicPr>
        <p:blipFill>
          <a:blip r:embed="rId32" cstate="print">
            <a:duotone>
              <a:srgbClr val="765FFF"/>
              <a:srgbClr val="FFFFFF"/>
            </a:duotone>
          </a:blip>
          <a:stretch>
            <a:fillRect/>
          </a:stretch>
        </p:blipFill>
        <p:spPr>
          <a:xfrm>
            <a:off x="2495550" y="2905125"/>
            <a:ext cx="904875" cy="295275"/>
          </a:xfrm>
          <a:prstGeom prst="rect">
            <a:avLst/>
          </a:prstGeom>
        </p:spPr>
      </p:pic>
      <p:pic>
        <p:nvPicPr>
          <p:cNvPr id="1036" name="object 52">
            <a:extLst>
              <a:ext uri="{FF2B5EF4-FFF2-40B4-BE49-F238E27FC236}">
                <a16:creationId xmlns:a16="http://schemas.microsoft.com/office/drawing/2014/main" id="{182BEAEF-9148-99A0-715A-6269FBFA0C4E}"/>
              </a:ext>
            </a:extLst>
          </p:cNvPr>
          <p:cNvPicPr/>
          <p:nvPr/>
        </p:nvPicPr>
        <p:blipFill>
          <a:blip r:embed="rId33" cstate="print">
            <a:duotone>
              <a:srgbClr val="765FFF"/>
              <a:srgbClr val="FFFFFF"/>
            </a:duotone>
          </a:blip>
          <a:stretch>
            <a:fillRect/>
          </a:stretch>
        </p:blipFill>
        <p:spPr>
          <a:xfrm>
            <a:off x="4857750" y="5781675"/>
            <a:ext cx="933450" cy="269965"/>
          </a:xfrm>
          <a:prstGeom prst="rect">
            <a:avLst/>
          </a:prstGeom>
        </p:spPr>
      </p:pic>
      <p:pic>
        <p:nvPicPr>
          <p:cNvPr id="1037" name="object 53">
            <a:extLst>
              <a:ext uri="{FF2B5EF4-FFF2-40B4-BE49-F238E27FC236}">
                <a16:creationId xmlns:a16="http://schemas.microsoft.com/office/drawing/2014/main" id="{5AE4FCAB-A0DF-D63D-ECB6-C1A1FAB5D885}"/>
              </a:ext>
            </a:extLst>
          </p:cNvPr>
          <p:cNvPicPr/>
          <p:nvPr/>
        </p:nvPicPr>
        <p:blipFill>
          <a:blip r:embed="rId34" cstate="print">
            <a:duotone>
              <a:srgbClr val="765FFF"/>
              <a:srgbClr val="FFFFFF"/>
            </a:duotone>
          </a:blip>
          <a:stretch>
            <a:fillRect/>
          </a:stretch>
        </p:blipFill>
        <p:spPr>
          <a:xfrm>
            <a:off x="2867025" y="3519796"/>
            <a:ext cx="609600" cy="269174"/>
          </a:xfrm>
          <a:prstGeom prst="rect">
            <a:avLst/>
          </a:prstGeom>
        </p:spPr>
      </p:pic>
      <p:pic>
        <p:nvPicPr>
          <p:cNvPr id="1038" name="object 54">
            <a:extLst>
              <a:ext uri="{FF2B5EF4-FFF2-40B4-BE49-F238E27FC236}">
                <a16:creationId xmlns:a16="http://schemas.microsoft.com/office/drawing/2014/main" id="{BC032E06-C67C-541C-5A08-065A4C748CBE}"/>
              </a:ext>
            </a:extLst>
          </p:cNvPr>
          <p:cNvPicPr/>
          <p:nvPr/>
        </p:nvPicPr>
        <p:blipFill>
          <a:blip r:embed="rId35" cstate="print">
            <a:duotone>
              <a:srgbClr val="765FFF"/>
              <a:srgbClr val="FFFFFF"/>
            </a:duotone>
          </a:blip>
          <a:stretch>
            <a:fillRect/>
          </a:stretch>
        </p:blipFill>
        <p:spPr>
          <a:xfrm>
            <a:off x="2833118" y="4352925"/>
            <a:ext cx="662556" cy="247650"/>
          </a:xfrm>
          <a:prstGeom prst="rect">
            <a:avLst/>
          </a:prstGeom>
        </p:spPr>
      </p:pic>
      <p:grpSp>
        <p:nvGrpSpPr>
          <p:cNvPr id="1039" name="object 55">
            <a:extLst>
              <a:ext uri="{FF2B5EF4-FFF2-40B4-BE49-F238E27FC236}">
                <a16:creationId xmlns:a16="http://schemas.microsoft.com/office/drawing/2014/main" id="{3E562CDA-49C7-5B2B-AF7B-C6E53A5F2F04}"/>
              </a:ext>
            </a:extLst>
          </p:cNvPr>
          <p:cNvGrpSpPr/>
          <p:nvPr/>
        </p:nvGrpSpPr>
        <p:grpSpPr>
          <a:xfrm>
            <a:off x="6535838" y="4210050"/>
            <a:ext cx="5427980" cy="2352675"/>
            <a:chOff x="6535838" y="4210050"/>
            <a:chExt cx="5427980" cy="2352675"/>
          </a:xfrm>
        </p:grpSpPr>
        <p:pic>
          <p:nvPicPr>
            <p:cNvPr id="1040" name="object 56">
              <a:extLst>
                <a:ext uri="{FF2B5EF4-FFF2-40B4-BE49-F238E27FC236}">
                  <a16:creationId xmlns:a16="http://schemas.microsoft.com/office/drawing/2014/main" id="{F0462926-A468-F9DA-0BE4-C83605316574}"/>
                </a:ext>
              </a:extLst>
            </p:cNvPr>
            <p:cNvPicPr/>
            <p:nvPr/>
          </p:nvPicPr>
          <p:blipFill>
            <a:blip r:embed="rId36" cstate="print">
              <a:duotone>
                <a:srgbClr val="765FFF"/>
                <a:srgbClr val="FFFFFF"/>
              </a:duotone>
            </a:blip>
            <a:stretch>
              <a:fillRect/>
            </a:stretch>
          </p:blipFill>
          <p:spPr>
            <a:xfrm>
              <a:off x="6562725" y="4905375"/>
              <a:ext cx="676275" cy="676275"/>
            </a:xfrm>
            <a:prstGeom prst="rect">
              <a:avLst/>
            </a:prstGeom>
          </p:spPr>
        </p:pic>
        <p:pic>
          <p:nvPicPr>
            <p:cNvPr id="1041" name="object 57">
              <a:extLst>
                <a:ext uri="{FF2B5EF4-FFF2-40B4-BE49-F238E27FC236}">
                  <a16:creationId xmlns:a16="http://schemas.microsoft.com/office/drawing/2014/main" id="{F2868B92-6BAE-4D1C-5FD6-5E7294A76A6A}"/>
                </a:ext>
              </a:extLst>
            </p:cNvPr>
            <p:cNvPicPr/>
            <p:nvPr/>
          </p:nvPicPr>
          <p:blipFill>
            <a:blip r:embed="rId37" cstate="print">
              <a:duotone>
                <a:srgbClr val="765FFF"/>
                <a:srgbClr val="FFFFFF"/>
              </a:duotone>
            </a:blip>
            <a:stretch>
              <a:fillRect/>
            </a:stretch>
          </p:blipFill>
          <p:spPr>
            <a:xfrm>
              <a:off x="7924800" y="4638675"/>
              <a:ext cx="533400" cy="209550"/>
            </a:xfrm>
            <a:prstGeom prst="rect">
              <a:avLst/>
            </a:prstGeom>
          </p:spPr>
        </p:pic>
        <p:sp>
          <p:nvSpPr>
            <p:cNvPr id="1042" name="object 58">
              <a:extLst>
                <a:ext uri="{FF2B5EF4-FFF2-40B4-BE49-F238E27FC236}">
                  <a16:creationId xmlns:a16="http://schemas.microsoft.com/office/drawing/2014/main" id="{AD42AF9C-AB28-D115-0E85-9924DF2E46E8}"/>
                </a:ext>
              </a:extLst>
            </p:cNvPr>
            <p:cNvSpPr/>
            <p:nvPr/>
          </p:nvSpPr>
          <p:spPr>
            <a:xfrm>
              <a:off x="9012568" y="4525241"/>
              <a:ext cx="62865" cy="127635"/>
            </a:xfrm>
            <a:custGeom>
              <a:avLst/>
              <a:gdLst/>
              <a:ahLst/>
              <a:cxnLst/>
              <a:rect l="l" t="t" r="r" b="b"/>
              <a:pathLst>
                <a:path w="62865" h="127635">
                  <a:moveTo>
                    <a:pt x="55141" y="0"/>
                  </a:moveTo>
                  <a:lnTo>
                    <a:pt x="53052" y="161"/>
                  </a:lnTo>
                  <a:lnTo>
                    <a:pt x="1393" y="30427"/>
                  </a:lnTo>
                  <a:lnTo>
                    <a:pt x="0" y="33087"/>
                  </a:lnTo>
                  <a:lnTo>
                    <a:pt x="61" y="35827"/>
                  </a:lnTo>
                  <a:lnTo>
                    <a:pt x="53" y="117976"/>
                  </a:lnTo>
                  <a:lnTo>
                    <a:pt x="53" y="123897"/>
                  </a:lnTo>
                  <a:lnTo>
                    <a:pt x="6332" y="127601"/>
                  </a:lnTo>
                  <a:lnTo>
                    <a:pt x="60847" y="95661"/>
                  </a:lnTo>
                  <a:lnTo>
                    <a:pt x="62187" y="93424"/>
                  </a:lnTo>
                  <a:lnTo>
                    <a:pt x="62432" y="90778"/>
                  </a:lnTo>
                  <a:lnTo>
                    <a:pt x="62446" y="5453"/>
                  </a:lnTo>
                  <a:lnTo>
                    <a:pt x="61005" y="2910"/>
                  </a:lnTo>
                  <a:lnTo>
                    <a:pt x="57000" y="558"/>
                  </a:lnTo>
                  <a:lnTo>
                    <a:pt x="55141" y="0"/>
                  </a:lnTo>
                  <a:close/>
                </a:path>
              </a:pathLst>
            </a:custGeom>
            <a:solidFill>
              <a:srgbClr val="FFB547"/>
            </a:solidFill>
          </p:spPr>
          <p:txBody>
            <a:bodyPr wrap="square" lIns="0" tIns="0" rIns="0" bIns="0" rtlCol="0"/>
            <a:lstStyle/>
            <a:p>
              <a:endParaRPr dirty="0"/>
            </a:p>
          </p:txBody>
        </p:sp>
        <p:sp>
          <p:nvSpPr>
            <p:cNvPr id="1043" name="object 59">
              <a:extLst>
                <a:ext uri="{FF2B5EF4-FFF2-40B4-BE49-F238E27FC236}">
                  <a16:creationId xmlns:a16="http://schemas.microsoft.com/office/drawing/2014/main" id="{7E5A9D70-F5F7-45B2-635C-48B53E40BE1F}"/>
                </a:ext>
              </a:extLst>
            </p:cNvPr>
            <p:cNvSpPr/>
            <p:nvPr/>
          </p:nvSpPr>
          <p:spPr>
            <a:xfrm>
              <a:off x="8968604" y="4470193"/>
              <a:ext cx="106680" cy="154940"/>
            </a:xfrm>
            <a:custGeom>
              <a:avLst/>
              <a:gdLst/>
              <a:ahLst/>
              <a:cxnLst/>
              <a:rect l="l" t="t" r="r" b="b"/>
              <a:pathLst>
                <a:path w="106679" h="154939">
                  <a:moveTo>
                    <a:pt x="6268" y="0"/>
                  </a:moveTo>
                  <a:lnTo>
                    <a:pt x="0" y="3704"/>
                  </a:lnTo>
                  <a:lnTo>
                    <a:pt x="0" y="94756"/>
                  </a:lnTo>
                  <a:lnTo>
                    <a:pt x="1449" y="97314"/>
                  </a:lnTo>
                  <a:lnTo>
                    <a:pt x="100143" y="154856"/>
                  </a:lnTo>
                  <a:lnTo>
                    <a:pt x="106395" y="151151"/>
                  </a:lnTo>
                  <a:lnTo>
                    <a:pt x="106395" y="145243"/>
                  </a:lnTo>
                  <a:lnTo>
                    <a:pt x="106395" y="60501"/>
                  </a:lnTo>
                  <a:lnTo>
                    <a:pt x="104969" y="57958"/>
                  </a:lnTo>
                  <a:lnTo>
                    <a:pt x="6268" y="0"/>
                  </a:lnTo>
                  <a:close/>
                </a:path>
              </a:pathLst>
            </a:custGeom>
            <a:solidFill>
              <a:srgbClr val="FFB547"/>
            </a:solidFill>
          </p:spPr>
          <p:txBody>
            <a:bodyPr wrap="square" lIns="0" tIns="0" rIns="0" bIns="0" rtlCol="0"/>
            <a:lstStyle/>
            <a:p>
              <a:endParaRPr dirty="0"/>
            </a:p>
          </p:txBody>
        </p:sp>
        <p:sp>
          <p:nvSpPr>
            <p:cNvPr id="1044" name="object 60">
              <a:extLst>
                <a:ext uri="{FF2B5EF4-FFF2-40B4-BE49-F238E27FC236}">
                  <a16:creationId xmlns:a16="http://schemas.microsoft.com/office/drawing/2014/main" id="{9C20B88F-312E-3EC9-B342-53091C9FB7B2}"/>
                </a:ext>
              </a:extLst>
            </p:cNvPr>
            <p:cNvSpPr/>
            <p:nvPr/>
          </p:nvSpPr>
          <p:spPr>
            <a:xfrm>
              <a:off x="8881955" y="4519803"/>
              <a:ext cx="62865" cy="127635"/>
            </a:xfrm>
            <a:custGeom>
              <a:avLst/>
              <a:gdLst/>
              <a:ahLst/>
              <a:cxnLst/>
              <a:rect l="l" t="t" r="r" b="b"/>
              <a:pathLst>
                <a:path w="62865" h="127635">
                  <a:moveTo>
                    <a:pt x="56118" y="0"/>
                  </a:moveTo>
                  <a:lnTo>
                    <a:pt x="1613" y="31941"/>
                  </a:lnTo>
                  <a:lnTo>
                    <a:pt x="273" y="34175"/>
                  </a:lnTo>
                  <a:lnTo>
                    <a:pt x="0" y="37085"/>
                  </a:lnTo>
                  <a:lnTo>
                    <a:pt x="0" y="122148"/>
                  </a:lnTo>
                  <a:lnTo>
                    <a:pt x="1450" y="124680"/>
                  </a:lnTo>
                  <a:lnTo>
                    <a:pt x="5456" y="127044"/>
                  </a:lnTo>
                  <a:lnTo>
                    <a:pt x="7307" y="127607"/>
                  </a:lnTo>
                  <a:lnTo>
                    <a:pt x="9402" y="127439"/>
                  </a:lnTo>
                  <a:lnTo>
                    <a:pt x="61057" y="97175"/>
                  </a:lnTo>
                  <a:lnTo>
                    <a:pt x="62453" y="94516"/>
                  </a:lnTo>
                  <a:lnTo>
                    <a:pt x="62388" y="91775"/>
                  </a:lnTo>
                  <a:lnTo>
                    <a:pt x="62397" y="9627"/>
                  </a:lnTo>
                  <a:lnTo>
                    <a:pt x="62397" y="3704"/>
                  </a:lnTo>
                  <a:lnTo>
                    <a:pt x="56118" y="0"/>
                  </a:lnTo>
                  <a:close/>
                </a:path>
              </a:pathLst>
            </a:custGeom>
            <a:solidFill>
              <a:srgbClr val="FFB547"/>
            </a:solidFill>
          </p:spPr>
          <p:txBody>
            <a:bodyPr wrap="square" lIns="0" tIns="0" rIns="0" bIns="0" rtlCol="0"/>
            <a:lstStyle/>
            <a:p>
              <a:endParaRPr dirty="0"/>
            </a:p>
          </p:txBody>
        </p:sp>
        <p:pic>
          <p:nvPicPr>
            <p:cNvPr id="1045" name="object 61">
              <a:extLst>
                <a:ext uri="{FF2B5EF4-FFF2-40B4-BE49-F238E27FC236}">
                  <a16:creationId xmlns:a16="http://schemas.microsoft.com/office/drawing/2014/main" id="{426D6ACF-C910-09C1-DF47-DE409E24EA80}"/>
                </a:ext>
              </a:extLst>
            </p:cNvPr>
            <p:cNvPicPr/>
            <p:nvPr/>
          </p:nvPicPr>
          <p:blipFill>
            <a:blip r:embed="rId38" cstate="print">
              <a:duotone>
                <a:srgbClr val="765FFF"/>
                <a:srgbClr val="FFFFFF"/>
              </a:duotone>
            </a:blip>
            <a:stretch>
              <a:fillRect/>
            </a:stretch>
          </p:blipFill>
          <p:spPr>
            <a:xfrm>
              <a:off x="9131103" y="4527784"/>
              <a:ext cx="103316" cy="125367"/>
            </a:xfrm>
            <a:prstGeom prst="rect">
              <a:avLst/>
            </a:prstGeom>
          </p:spPr>
        </p:pic>
        <p:pic>
          <p:nvPicPr>
            <p:cNvPr id="1046" name="object 62">
              <a:extLst>
                <a:ext uri="{FF2B5EF4-FFF2-40B4-BE49-F238E27FC236}">
                  <a16:creationId xmlns:a16="http://schemas.microsoft.com/office/drawing/2014/main" id="{DBD252F2-4566-DD47-6EC7-1170A6B28E1D}"/>
                </a:ext>
              </a:extLst>
            </p:cNvPr>
            <p:cNvPicPr/>
            <p:nvPr/>
          </p:nvPicPr>
          <p:blipFill>
            <a:blip r:embed="rId39" cstate="print">
              <a:duotone>
                <a:srgbClr val="765FFF"/>
                <a:srgbClr val="FFFFFF"/>
              </a:duotone>
            </a:blip>
            <a:stretch>
              <a:fillRect/>
            </a:stretch>
          </p:blipFill>
          <p:spPr>
            <a:xfrm>
              <a:off x="9255066" y="4520714"/>
              <a:ext cx="315252" cy="132424"/>
            </a:xfrm>
            <a:prstGeom prst="rect">
              <a:avLst/>
            </a:prstGeom>
          </p:spPr>
        </p:pic>
        <p:pic>
          <p:nvPicPr>
            <p:cNvPr id="1047" name="object 63">
              <a:extLst>
                <a:ext uri="{FF2B5EF4-FFF2-40B4-BE49-F238E27FC236}">
                  <a16:creationId xmlns:a16="http://schemas.microsoft.com/office/drawing/2014/main" id="{4084D2A5-F27E-F556-BE15-4E55ABD3AC7C}"/>
                </a:ext>
              </a:extLst>
            </p:cNvPr>
            <p:cNvPicPr/>
            <p:nvPr/>
          </p:nvPicPr>
          <p:blipFill>
            <a:blip r:embed="rId40" cstate="print">
              <a:duotone>
                <a:srgbClr val="765FFF"/>
                <a:srgbClr val="FFFFFF"/>
              </a:duotone>
            </a:blip>
            <a:stretch>
              <a:fillRect/>
            </a:stretch>
          </p:blipFill>
          <p:spPr>
            <a:xfrm>
              <a:off x="9591843" y="4526020"/>
              <a:ext cx="264377" cy="127142"/>
            </a:xfrm>
            <a:prstGeom prst="rect">
              <a:avLst/>
            </a:prstGeom>
          </p:spPr>
        </p:pic>
        <p:pic>
          <p:nvPicPr>
            <p:cNvPr id="1048" name="object 64">
              <a:extLst>
                <a:ext uri="{FF2B5EF4-FFF2-40B4-BE49-F238E27FC236}">
                  <a16:creationId xmlns:a16="http://schemas.microsoft.com/office/drawing/2014/main" id="{ADEFEEE7-8E63-29F5-1D72-F54EF62ABFE4}"/>
                </a:ext>
              </a:extLst>
            </p:cNvPr>
            <p:cNvPicPr/>
            <p:nvPr/>
          </p:nvPicPr>
          <p:blipFill>
            <a:blip r:embed="rId41" cstate="print">
              <a:duotone>
                <a:srgbClr val="765FFF"/>
                <a:srgbClr val="FFFFFF"/>
              </a:duotone>
            </a:blip>
            <a:stretch>
              <a:fillRect/>
            </a:stretch>
          </p:blipFill>
          <p:spPr>
            <a:xfrm>
              <a:off x="9879490" y="4533958"/>
              <a:ext cx="431449" cy="119193"/>
            </a:xfrm>
            <a:prstGeom prst="rect">
              <a:avLst/>
            </a:prstGeom>
          </p:spPr>
        </p:pic>
        <p:sp>
          <p:nvSpPr>
            <p:cNvPr id="1049" name="object 65">
              <a:extLst>
                <a:ext uri="{FF2B5EF4-FFF2-40B4-BE49-F238E27FC236}">
                  <a16:creationId xmlns:a16="http://schemas.microsoft.com/office/drawing/2014/main" id="{3719CB90-A0D1-54B3-4C45-7B42C00ED487}"/>
                </a:ext>
              </a:extLst>
            </p:cNvPr>
            <p:cNvSpPr/>
            <p:nvPr/>
          </p:nvSpPr>
          <p:spPr>
            <a:xfrm>
              <a:off x="8881967" y="4547599"/>
              <a:ext cx="106680" cy="154940"/>
            </a:xfrm>
            <a:custGeom>
              <a:avLst/>
              <a:gdLst/>
              <a:ahLst/>
              <a:cxnLst/>
              <a:rect l="l" t="t" r="r" b="b"/>
              <a:pathLst>
                <a:path w="106679" h="154939">
                  <a:moveTo>
                    <a:pt x="6257" y="0"/>
                  </a:moveTo>
                  <a:lnTo>
                    <a:pt x="0" y="3704"/>
                  </a:lnTo>
                  <a:lnTo>
                    <a:pt x="0" y="9613"/>
                  </a:lnTo>
                  <a:lnTo>
                    <a:pt x="0" y="94352"/>
                  </a:lnTo>
                  <a:lnTo>
                    <a:pt x="1437" y="96898"/>
                  </a:lnTo>
                  <a:lnTo>
                    <a:pt x="100135" y="154835"/>
                  </a:lnTo>
                  <a:lnTo>
                    <a:pt x="106401" y="151131"/>
                  </a:lnTo>
                  <a:lnTo>
                    <a:pt x="106401" y="60087"/>
                  </a:lnTo>
                  <a:lnTo>
                    <a:pt x="104954" y="57527"/>
                  </a:lnTo>
                  <a:lnTo>
                    <a:pt x="6257" y="0"/>
                  </a:lnTo>
                  <a:close/>
                </a:path>
              </a:pathLst>
            </a:custGeom>
            <a:solidFill>
              <a:srgbClr val="FFB547"/>
            </a:solidFill>
          </p:spPr>
          <p:txBody>
            <a:bodyPr wrap="square" lIns="0" tIns="0" rIns="0" bIns="0" rtlCol="0"/>
            <a:lstStyle/>
            <a:p>
              <a:endParaRPr dirty="0"/>
            </a:p>
          </p:txBody>
        </p:sp>
        <p:pic>
          <p:nvPicPr>
            <p:cNvPr id="1050" name="object 66">
              <a:extLst>
                <a:ext uri="{FF2B5EF4-FFF2-40B4-BE49-F238E27FC236}">
                  <a16:creationId xmlns:a16="http://schemas.microsoft.com/office/drawing/2014/main" id="{FE5F274C-B1AA-9B83-98B1-53BE0DA1316F}"/>
                </a:ext>
              </a:extLst>
            </p:cNvPr>
            <p:cNvPicPr/>
            <p:nvPr/>
          </p:nvPicPr>
          <p:blipFill>
            <a:blip r:embed="rId42" cstate="print">
              <a:duotone>
                <a:srgbClr val="765FFF"/>
                <a:srgbClr val="FFFFFF"/>
              </a:duotone>
            </a:blip>
            <a:stretch>
              <a:fillRect/>
            </a:stretch>
          </p:blipFill>
          <p:spPr>
            <a:xfrm>
              <a:off x="7743825" y="5695950"/>
              <a:ext cx="1000125" cy="238125"/>
            </a:xfrm>
            <a:prstGeom prst="rect">
              <a:avLst/>
            </a:prstGeom>
          </p:spPr>
        </p:pic>
        <p:pic>
          <p:nvPicPr>
            <p:cNvPr id="1051" name="object 67">
              <a:extLst>
                <a:ext uri="{FF2B5EF4-FFF2-40B4-BE49-F238E27FC236}">
                  <a16:creationId xmlns:a16="http://schemas.microsoft.com/office/drawing/2014/main" id="{CC736701-BBA6-8415-6566-D69F439C6CF8}"/>
                </a:ext>
              </a:extLst>
            </p:cNvPr>
            <p:cNvPicPr/>
            <p:nvPr/>
          </p:nvPicPr>
          <p:blipFill>
            <a:blip r:embed="rId43" cstate="print">
              <a:duotone>
                <a:srgbClr val="765FFF"/>
                <a:srgbClr val="FFFFFF"/>
              </a:duotone>
            </a:blip>
            <a:stretch>
              <a:fillRect/>
            </a:stretch>
          </p:blipFill>
          <p:spPr>
            <a:xfrm>
              <a:off x="11049000" y="5686425"/>
              <a:ext cx="657225" cy="304800"/>
            </a:xfrm>
            <a:prstGeom prst="rect">
              <a:avLst/>
            </a:prstGeom>
          </p:spPr>
        </p:pic>
        <p:pic>
          <p:nvPicPr>
            <p:cNvPr id="1052" name="object 68">
              <a:extLst>
                <a:ext uri="{FF2B5EF4-FFF2-40B4-BE49-F238E27FC236}">
                  <a16:creationId xmlns:a16="http://schemas.microsoft.com/office/drawing/2014/main" id="{4F7A424F-1D92-6BE7-ABA5-84733FA848C2}"/>
                </a:ext>
              </a:extLst>
            </p:cNvPr>
            <p:cNvPicPr/>
            <p:nvPr/>
          </p:nvPicPr>
          <p:blipFill>
            <a:blip r:embed="rId44" cstate="print">
              <a:duotone>
                <a:srgbClr val="765FFF"/>
                <a:srgbClr val="FFFFFF"/>
              </a:duotone>
            </a:blip>
            <a:stretch>
              <a:fillRect/>
            </a:stretch>
          </p:blipFill>
          <p:spPr>
            <a:xfrm>
              <a:off x="7924800" y="5105400"/>
              <a:ext cx="581025" cy="276225"/>
            </a:xfrm>
            <a:prstGeom prst="rect">
              <a:avLst/>
            </a:prstGeom>
          </p:spPr>
        </p:pic>
        <p:pic>
          <p:nvPicPr>
            <p:cNvPr id="1053" name="object 69">
              <a:extLst>
                <a:ext uri="{FF2B5EF4-FFF2-40B4-BE49-F238E27FC236}">
                  <a16:creationId xmlns:a16="http://schemas.microsoft.com/office/drawing/2014/main" id="{FD94EDBF-B454-E2F1-4200-86982DEA4DBB}"/>
                </a:ext>
              </a:extLst>
            </p:cNvPr>
            <p:cNvPicPr/>
            <p:nvPr/>
          </p:nvPicPr>
          <p:blipFill>
            <a:blip r:embed="rId45" cstate="print">
              <a:duotone>
                <a:srgbClr val="765FFF"/>
                <a:srgbClr val="FFFFFF"/>
              </a:duotone>
            </a:blip>
            <a:stretch>
              <a:fillRect/>
            </a:stretch>
          </p:blipFill>
          <p:spPr>
            <a:xfrm>
              <a:off x="8924925" y="5419725"/>
              <a:ext cx="1104900" cy="133350"/>
            </a:xfrm>
            <a:prstGeom prst="rect">
              <a:avLst/>
            </a:prstGeom>
          </p:spPr>
        </p:pic>
        <p:pic>
          <p:nvPicPr>
            <p:cNvPr id="1054" name="object 70">
              <a:extLst>
                <a:ext uri="{FF2B5EF4-FFF2-40B4-BE49-F238E27FC236}">
                  <a16:creationId xmlns:a16="http://schemas.microsoft.com/office/drawing/2014/main" id="{9A611CB1-6B87-E02D-F1E8-E09C66D870E4}"/>
                </a:ext>
              </a:extLst>
            </p:cNvPr>
            <p:cNvPicPr/>
            <p:nvPr/>
          </p:nvPicPr>
          <p:blipFill>
            <a:blip r:embed="rId46" cstate="print">
              <a:duotone>
                <a:srgbClr val="765FFF"/>
                <a:srgbClr val="FFFFFF"/>
              </a:duotone>
            </a:blip>
            <a:stretch>
              <a:fillRect/>
            </a:stretch>
          </p:blipFill>
          <p:spPr>
            <a:xfrm>
              <a:off x="9010650" y="5743575"/>
              <a:ext cx="990600" cy="152400"/>
            </a:xfrm>
            <a:prstGeom prst="rect">
              <a:avLst/>
            </a:prstGeom>
          </p:spPr>
        </p:pic>
        <p:pic>
          <p:nvPicPr>
            <p:cNvPr id="1055" name="object 71">
              <a:extLst>
                <a:ext uri="{FF2B5EF4-FFF2-40B4-BE49-F238E27FC236}">
                  <a16:creationId xmlns:a16="http://schemas.microsoft.com/office/drawing/2014/main" id="{DA0D4051-53BA-6E13-D097-FC1FB8EAEAE9}"/>
                </a:ext>
              </a:extLst>
            </p:cNvPr>
            <p:cNvPicPr/>
            <p:nvPr/>
          </p:nvPicPr>
          <p:blipFill>
            <a:blip r:embed="rId47" cstate="print">
              <a:duotone>
                <a:srgbClr val="765FFF"/>
                <a:srgbClr val="FFFFFF"/>
              </a:duotone>
            </a:blip>
            <a:stretch>
              <a:fillRect/>
            </a:stretch>
          </p:blipFill>
          <p:spPr>
            <a:xfrm>
              <a:off x="10744200" y="4210050"/>
              <a:ext cx="752475" cy="752475"/>
            </a:xfrm>
            <a:prstGeom prst="rect">
              <a:avLst/>
            </a:prstGeom>
          </p:spPr>
        </p:pic>
        <p:sp>
          <p:nvSpPr>
            <p:cNvPr id="1056" name="object 72">
              <a:extLst>
                <a:ext uri="{FF2B5EF4-FFF2-40B4-BE49-F238E27FC236}">
                  <a16:creationId xmlns:a16="http://schemas.microsoft.com/office/drawing/2014/main" id="{A65BE51D-F309-C429-06EE-988CE5F5F4B2}"/>
                </a:ext>
              </a:extLst>
            </p:cNvPr>
            <p:cNvSpPr/>
            <p:nvPr/>
          </p:nvSpPr>
          <p:spPr>
            <a:xfrm>
              <a:off x="6790246" y="4700168"/>
              <a:ext cx="641985" cy="121285"/>
            </a:xfrm>
            <a:custGeom>
              <a:avLst/>
              <a:gdLst/>
              <a:ahLst/>
              <a:cxnLst/>
              <a:rect l="l" t="t" r="r" b="b"/>
              <a:pathLst>
                <a:path w="641984" h="121285">
                  <a:moveTo>
                    <a:pt x="129095" y="118732"/>
                  </a:moveTo>
                  <a:lnTo>
                    <a:pt x="105029" y="0"/>
                  </a:lnTo>
                  <a:lnTo>
                    <a:pt x="64541" y="89725"/>
                  </a:lnTo>
                  <a:lnTo>
                    <a:pt x="24066" y="0"/>
                  </a:lnTo>
                  <a:lnTo>
                    <a:pt x="0" y="118732"/>
                  </a:lnTo>
                  <a:lnTo>
                    <a:pt x="15163" y="118732"/>
                  </a:lnTo>
                  <a:lnTo>
                    <a:pt x="28905" y="43510"/>
                  </a:lnTo>
                  <a:lnTo>
                    <a:pt x="29222" y="43510"/>
                  </a:lnTo>
                  <a:lnTo>
                    <a:pt x="64541" y="121158"/>
                  </a:lnTo>
                  <a:lnTo>
                    <a:pt x="99872" y="43510"/>
                  </a:lnTo>
                  <a:lnTo>
                    <a:pt x="100177" y="43510"/>
                  </a:lnTo>
                  <a:lnTo>
                    <a:pt x="113944" y="118732"/>
                  </a:lnTo>
                  <a:lnTo>
                    <a:pt x="129095" y="118732"/>
                  </a:lnTo>
                  <a:close/>
                </a:path>
                <a:path w="641984" h="121285">
                  <a:moveTo>
                    <a:pt x="159473" y="3683"/>
                  </a:moveTo>
                  <a:lnTo>
                    <a:pt x="144284" y="3683"/>
                  </a:lnTo>
                  <a:lnTo>
                    <a:pt x="144284" y="117487"/>
                  </a:lnTo>
                  <a:lnTo>
                    <a:pt x="159473" y="117487"/>
                  </a:lnTo>
                  <a:lnTo>
                    <a:pt x="159473" y="3683"/>
                  </a:lnTo>
                  <a:close/>
                </a:path>
                <a:path w="641984" h="121285">
                  <a:moveTo>
                    <a:pt x="246824" y="86029"/>
                  </a:moveTo>
                  <a:lnTo>
                    <a:pt x="218376" y="52108"/>
                  </a:lnTo>
                  <a:lnTo>
                    <a:pt x="202984" y="46278"/>
                  </a:lnTo>
                  <a:lnTo>
                    <a:pt x="194170" y="41656"/>
                  </a:lnTo>
                  <a:lnTo>
                    <a:pt x="194170" y="22961"/>
                  </a:lnTo>
                  <a:lnTo>
                    <a:pt x="204190" y="16840"/>
                  </a:lnTo>
                  <a:lnTo>
                    <a:pt x="222021" y="16840"/>
                  </a:lnTo>
                  <a:lnTo>
                    <a:pt x="227482" y="20421"/>
                  </a:lnTo>
                  <a:lnTo>
                    <a:pt x="231736" y="27457"/>
                  </a:lnTo>
                  <a:lnTo>
                    <a:pt x="243179" y="20726"/>
                  </a:lnTo>
                  <a:lnTo>
                    <a:pt x="237731" y="13449"/>
                  </a:lnTo>
                  <a:lnTo>
                    <a:pt x="230873" y="8102"/>
                  </a:lnTo>
                  <a:lnTo>
                    <a:pt x="222783" y="4800"/>
                  </a:lnTo>
                  <a:lnTo>
                    <a:pt x="213664" y="3683"/>
                  </a:lnTo>
                  <a:lnTo>
                    <a:pt x="201053" y="5664"/>
                  </a:lnTo>
                  <a:lnTo>
                    <a:pt x="190246" y="11417"/>
                  </a:lnTo>
                  <a:lnTo>
                    <a:pt x="182689" y="20574"/>
                  </a:lnTo>
                  <a:lnTo>
                    <a:pt x="179844" y="32816"/>
                  </a:lnTo>
                  <a:lnTo>
                    <a:pt x="181902" y="43116"/>
                  </a:lnTo>
                  <a:lnTo>
                    <a:pt x="187426" y="50901"/>
                  </a:lnTo>
                  <a:lnTo>
                    <a:pt x="195389" y="56769"/>
                  </a:lnTo>
                  <a:lnTo>
                    <a:pt x="204800" y="61366"/>
                  </a:lnTo>
                  <a:lnTo>
                    <a:pt x="212750" y="64643"/>
                  </a:lnTo>
                  <a:lnTo>
                    <a:pt x="220002" y="67995"/>
                  </a:lnTo>
                  <a:lnTo>
                    <a:pt x="226326" y="72313"/>
                  </a:lnTo>
                  <a:lnTo>
                    <a:pt x="230797" y="78143"/>
                  </a:lnTo>
                  <a:lnTo>
                    <a:pt x="232498" y="86017"/>
                  </a:lnTo>
                  <a:lnTo>
                    <a:pt x="230924" y="94437"/>
                  </a:lnTo>
                  <a:lnTo>
                    <a:pt x="226542" y="101434"/>
                  </a:lnTo>
                  <a:lnTo>
                    <a:pt x="219849" y="106210"/>
                  </a:lnTo>
                  <a:lnTo>
                    <a:pt x="211328" y="107988"/>
                  </a:lnTo>
                  <a:lnTo>
                    <a:pt x="202653" y="106387"/>
                  </a:lnTo>
                  <a:lnTo>
                    <a:pt x="195554" y="101955"/>
                  </a:lnTo>
                  <a:lnTo>
                    <a:pt x="190792" y="95186"/>
                  </a:lnTo>
                  <a:lnTo>
                    <a:pt x="189103" y="86614"/>
                  </a:lnTo>
                  <a:lnTo>
                    <a:pt x="174675" y="89611"/>
                  </a:lnTo>
                  <a:lnTo>
                    <a:pt x="178625" y="102171"/>
                  </a:lnTo>
                  <a:lnTo>
                    <a:pt x="186347" y="112166"/>
                  </a:lnTo>
                  <a:lnTo>
                    <a:pt x="197078" y="118770"/>
                  </a:lnTo>
                  <a:lnTo>
                    <a:pt x="210121" y="121158"/>
                  </a:lnTo>
                  <a:lnTo>
                    <a:pt x="224523" y="118541"/>
                  </a:lnTo>
                  <a:lnTo>
                    <a:pt x="236181" y="111277"/>
                  </a:lnTo>
                  <a:lnTo>
                    <a:pt x="243979" y="100152"/>
                  </a:lnTo>
                  <a:lnTo>
                    <a:pt x="246824" y="86029"/>
                  </a:lnTo>
                  <a:close/>
                </a:path>
                <a:path w="641984" h="121285">
                  <a:moveTo>
                    <a:pt x="330365" y="3721"/>
                  </a:moveTo>
                  <a:lnTo>
                    <a:pt x="258216" y="3721"/>
                  </a:lnTo>
                  <a:lnTo>
                    <a:pt x="258216" y="16217"/>
                  </a:lnTo>
                  <a:lnTo>
                    <a:pt x="286766" y="16217"/>
                  </a:lnTo>
                  <a:lnTo>
                    <a:pt x="286766" y="117348"/>
                  </a:lnTo>
                  <a:lnTo>
                    <a:pt x="301752" y="117348"/>
                  </a:lnTo>
                  <a:lnTo>
                    <a:pt x="301752" y="16217"/>
                  </a:lnTo>
                  <a:lnTo>
                    <a:pt x="330365" y="16217"/>
                  </a:lnTo>
                  <a:lnTo>
                    <a:pt x="330365" y="3721"/>
                  </a:lnTo>
                  <a:close/>
                </a:path>
                <a:path w="641984" h="121285">
                  <a:moveTo>
                    <a:pt x="410095" y="36576"/>
                  </a:moveTo>
                  <a:lnTo>
                    <a:pt x="407771" y="22656"/>
                  </a:lnTo>
                  <a:lnTo>
                    <a:pt x="402983" y="16357"/>
                  </a:lnTo>
                  <a:lnTo>
                    <a:pt x="399910" y="12319"/>
                  </a:lnTo>
                  <a:lnTo>
                    <a:pt x="396278" y="10731"/>
                  </a:lnTo>
                  <a:lnTo>
                    <a:pt x="396278" y="36283"/>
                  </a:lnTo>
                  <a:lnTo>
                    <a:pt x="393509" y="47167"/>
                  </a:lnTo>
                  <a:lnTo>
                    <a:pt x="386270" y="53479"/>
                  </a:lnTo>
                  <a:lnTo>
                    <a:pt x="376199" y="56388"/>
                  </a:lnTo>
                  <a:lnTo>
                    <a:pt x="364934" y="57099"/>
                  </a:lnTo>
                  <a:lnTo>
                    <a:pt x="360235" y="57099"/>
                  </a:lnTo>
                  <a:lnTo>
                    <a:pt x="360235" y="16357"/>
                  </a:lnTo>
                  <a:lnTo>
                    <a:pt x="364185" y="16357"/>
                  </a:lnTo>
                  <a:lnTo>
                    <a:pt x="375348" y="16967"/>
                  </a:lnTo>
                  <a:lnTo>
                    <a:pt x="385699" y="19634"/>
                  </a:lnTo>
                  <a:lnTo>
                    <a:pt x="393319" y="25654"/>
                  </a:lnTo>
                  <a:lnTo>
                    <a:pt x="396278" y="36283"/>
                  </a:lnTo>
                  <a:lnTo>
                    <a:pt x="396278" y="10731"/>
                  </a:lnTo>
                  <a:lnTo>
                    <a:pt x="385241" y="5892"/>
                  </a:lnTo>
                  <a:lnTo>
                    <a:pt x="362458" y="3683"/>
                  </a:lnTo>
                  <a:lnTo>
                    <a:pt x="345554" y="3683"/>
                  </a:lnTo>
                  <a:lnTo>
                    <a:pt x="345554" y="117487"/>
                  </a:lnTo>
                  <a:lnTo>
                    <a:pt x="360235" y="117487"/>
                  </a:lnTo>
                  <a:lnTo>
                    <a:pt x="360235" y="69786"/>
                  </a:lnTo>
                  <a:lnTo>
                    <a:pt x="368731" y="69786"/>
                  </a:lnTo>
                  <a:lnTo>
                    <a:pt x="384644" y="67970"/>
                  </a:lnTo>
                  <a:lnTo>
                    <a:pt x="397814" y="62179"/>
                  </a:lnTo>
                  <a:lnTo>
                    <a:pt x="402247" y="57099"/>
                  </a:lnTo>
                  <a:lnTo>
                    <a:pt x="406781" y="51892"/>
                  </a:lnTo>
                  <a:lnTo>
                    <a:pt x="410095" y="36576"/>
                  </a:lnTo>
                  <a:close/>
                </a:path>
                <a:path w="641984" h="121285">
                  <a:moveTo>
                    <a:pt x="573379" y="117487"/>
                  </a:moveTo>
                  <a:lnTo>
                    <a:pt x="559765" y="89230"/>
                  </a:lnTo>
                  <a:lnTo>
                    <a:pt x="553567" y="76377"/>
                  </a:lnTo>
                  <a:lnTo>
                    <a:pt x="537832" y="43713"/>
                  </a:lnTo>
                  <a:lnTo>
                    <a:pt x="537832" y="76377"/>
                  </a:lnTo>
                  <a:lnTo>
                    <a:pt x="495668" y="76377"/>
                  </a:lnTo>
                  <a:lnTo>
                    <a:pt x="516775" y="30784"/>
                  </a:lnTo>
                  <a:lnTo>
                    <a:pt x="537832" y="76377"/>
                  </a:lnTo>
                  <a:lnTo>
                    <a:pt x="537832" y="43713"/>
                  </a:lnTo>
                  <a:lnTo>
                    <a:pt x="531609" y="30784"/>
                  </a:lnTo>
                  <a:lnTo>
                    <a:pt x="516775" y="0"/>
                  </a:lnTo>
                  <a:lnTo>
                    <a:pt x="466344" y="104622"/>
                  </a:lnTo>
                  <a:lnTo>
                    <a:pt x="440067" y="104622"/>
                  </a:lnTo>
                  <a:lnTo>
                    <a:pt x="440067" y="4775"/>
                  </a:lnTo>
                  <a:lnTo>
                    <a:pt x="425284" y="4775"/>
                  </a:lnTo>
                  <a:lnTo>
                    <a:pt x="425284" y="117487"/>
                  </a:lnTo>
                  <a:lnTo>
                    <a:pt x="476059" y="117487"/>
                  </a:lnTo>
                  <a:lnTo>
                    <a:pt x="482193" y="104622"/>
                  </a:lnTo>
                  <a:lnTo>
                    <a:pt x="489534" y="89230"/>
                  </a:lnTo>
                  <a:lnTo>
                    <a:pt x="543966" y="89230"/>
                  </a:lnTo>
                  <a:lnTo>
                    <a:pt x="557479" y="117487"/>
                  </a:lnTo>
                  <a:lnTo>
                    <a:pt x="573379" y="117487"/>
                  </a:lnTo>
                  <a:close/>
                </a:path>
                <a:path w="641984" h="121285">
                  <a:moveTo>
                    <a:pt x="641731" y="3683"/>
                  </a:moveTo>
                  <a:lnTo>
                    <a:pt x="624916" y="3683"/>
                  </a:lnTo>
                  <a:lnTo>
                    <a:pt x="596163" y="52273"/>
                  </a:lnTo>
                  <a:lnTo>
                    <a:pt x="567397" y="3683"/>
                  </a:lnTo>
                  <a:lnTo>
                    <a:pt x="550595" y="3683"/>
                  </a:lnTo>
                  <a:lnTo>
                    <a:pt x="588822" y="67970"/>
                  </a:lnTo>
                  <a:lnTo>
                    <a:pt x="588822" y="117487"/>
                  </a:lnTo>
                  <a:lnTo>
                    <a:pt x="603453" y="117487"/>
                  </a:lnTo>
                  <a:lnTo>
                    <a:pt x="603453" y="67970"/>
                  </a:lnTo>
                  <a:lnTo>
                    <a:pt x="641731" y="3683"/>
                  </a:lnTo>
                  <a:close/>
                </a:path>
              </a:pathLst>
            </a:custGeom>
            <a:solidFill>
              <a:srgbClr val="281A42"/>
            </a:solidFill>
          </p:spPr>
          <p:txBody>
            <a:bodyPr wrap="square" lIns="0" tIns="0" rIns="0" bIns="0" rtlCol="0"/>
            <a:lstStyle/>
            <a:p>
              <a:endParaRPr dirty="0">
                <a:solidFill>
                  <a:srgbClr val="FFFFFF"/>
                </a:solidFill>
              </a:endParaRPr>
            </a:p>
          </p:txBody>
        </p:sp>
        <p:sp>
          <p:nvSpPr>
            <p:cNvPr id="1057" name="object 73">
              <a:extLst>
                <a:ext uri="{FF2B5EF4-FFF2-40B4-BE49-F238E27FC236}">
                  <a16:creationId xmlns:a16="http://schemas.microsoft.com/office/drawing/2014/main" id="{5E26DD04-5C8F-CF3A-FA31-B989425ED4D4}"/>
                </a:ext>
              </a:extLst>
            </p:cNvPr>
            <p:cNvSpPr/>
            <p:nvPr/>
          </p:nvSpPr>
          <p:spPr>
            <a:xfrm>
              <a:off x="6535827" y="4674476"/>
              <a:ext cx="197485" cy="176530"/>
            </a:xfrm>
            <a:custGeom>
              <a:avLst/>
              <a:gdLst/>
              <a:ahLst/>
              <a:cxnLst/>
              <a:rect l="l" t="t" r="r" b="b"/>
              <a:pathLst>
                <a:path w="197484" h="176529">
                  <a:moveTo>
                    <a:pt x="34175" y="11049"/>
                  </a:moveTo>
                  <a:lnTo>
                    <a:pt x="26530" y="3670"/>
                  </a:lnTo>
                  <a:lnTo>
                    <a:pt x="7645" y="3670"/>
                  </a:lnTo>
                  <a:lnTo>
                    <a:pt x="0" y="11061"/>
                  </a:lnTo>
                  <a:lnTo>
                    <a:pt x="0" y="29311"/>
                  </a:lnTo>
                  <a:lnTo>
                    <a:pt x="7658" y="36715"/>
                  </a:lnTo>
                  <a:lnTo>
                    <a:pt x="17081" y="36715"/>
                  </a:lnTo>
                  <a:lnTo>
                    <a:pt x="26530" y="36715"/>
                  </a:lnTo>
                  <a:lnTo>
                    <a:pt x="34175" y="29311"/>
                  </a:lnTo>
                  <a:lnTo>
                    <a:pt x="34175" y="11049"/>
                  </a:lnTo>
                  <a:close/>
                </a:path>
                <a:path w="197484" h="176529">
                  <a:moveTo>
                    <a:pt x="102527" y="148678"/>
                  </a:moveTo>
                  <a:lnTo>
                    <a:pt x="100291" y="137960"/>
                  </a:lnTo>
                  <a:lnTo>
                    <a:pt x="94183" y="129209"/>
                  </a:lnTo>
                  <a:lnTo>
                    <a:pt x="85140" y="123317"/>
                  </a:lnTo>
                  <a:lnTo>
                    <a:pt x="74053" y="121145"/>
                  </a:lnTo>
                  <a:lnTo>
                    <a:pt x="62966" y="123317"/>
                  </a:lnTo>
                  <a:lnTo>
                    <a:pt x="53924" y="129209"/>
                  </a:lnTo>
                  <a:lnTo>
                    <a:pt x="47815" y="137960"/>
                  </a:lnTo>
                  <a:lnTo>
                    <a:pt x="45567" y="148678"/>
                  </a:lnTo>
                  <a:lnTo>
                    <a:pt x="47815" y="159397"/>
                  </a:lnTo>
                  <a:lnTo>
                    <a:pt x="53911" y="168148"/>
                  </a:lnTo>
                  <a:lnTo>
                    <a:pt x="62966" y="174053"/>
                  </a:lnTo>
                  <a:lnTo>
                    <a:pt x="74053" y="176212"/>
                  </a:lnTo>
                  <a:lnTo>
                    <a:pt x="85140" y="174053"/>
                  </a:lnTo>
                  <a:lnTo>
                    <a:pt x="94183" y="168148"/>
                  </a:lnTo>
                  <a:lnTo>
                    <a:pt x="100291" y="159397"/>
                  </a:lnTo>
                  <a:lnTo>
                    <a:pt x="102527" y="148678"/>
                  </a:lnTo>
                  <a:close/>
                </a:path>
                <a:path w="197484" h="176529">
                  <a:moveTo>
                    <a:pt x="102527" y="62407"/>
                  </a:moveTo>
                  <a:lnTo>
                    <a:pt x="100736" y="53835"/>
                  </a:lnTo>
                  <a:lnTo>
                    <a:pt x="95846" y="46837"/>
                  </a:lnTo>
                  <a:lnTo>
                    <a:pt x="88607" y="42113"/>
                  </a:lnTo>
                  <a:lnTo>
                    <a:pt x="79743" y="40386"/>
                  </a:lnTo>
                  <a:lnTo>
                    <a:pt x="70878" y="42113"/>
                  </a:lnTo>
                  <a:lnTo>
                    <a:pt x="63639" y="46837"/>
                  </a:lnTo>
                  <a:lnTo>
                    <a:pt x="58750" y="53835"/>
                  </a:lnTo>
                  <a:lnTo>
                    <a:pt x="56959" y="62407"/>
                  </a:lnTo>
                  <a:lnTo>
                    <a:pt x="58750" y="70980"/>
                  </a:lnTo>
                  <a:lnTo>
                    <a:pt x="63639" y="77990"/>
                  </a:lnTo>
                  <a:lnTo>
                    <a:pt x="70878" y="82702"/>
                  </a:lnTo>
                  <a:lnTo>
                    <a:pt x="79743" y="84442"/>
                  </a:lnTo>
                  <a:lnTo>
                    <a:pt x="88620" y="82702"/>
                  </a:lnTo>
                  <a:lnTo>
                    <a:pt x="95859" y="77978"/>
                  </a:lnTo>
                  <a:lnTo>
                    <a:pt x="100736" y="70980"/>
                  </a:lnTo>
                  <a:lnTo>
                    <a:pt x="102527" y="62407"/>
                  </a:lnTo>
                  <a:close/>
                </a:path>
                <a:path w="197484" h="176529">
                  <a:moveTo>
                    <a:pt x="151892" y="91884"/>
                  </a:moveTo>
                  <a:lnTo>
                    <a:pt x="144246" y="84442"/>
                  </a:lnTo>
                  <a:lnTo>
                    <a:pt x="125361" y="84442"/>
                  </a:lnTo>
                  <a:lnTo>
                    <a:pt x="117716" y="91833"/>
                  </a:lnTo>
                  <a:lnTo>
                    <a:pt x="117716" y="110083"/>
                  </a:lnTo>
                  <a:lnTo>
                    <a:pt x="125361" y="117475"/>
                  </a:lnTo>
                  <a:lnTo>
                    <a:pt x="134797" y="117475"/>
                  </a:lnTo>
                  <a:lnTo>
                    <a:pt x="144246" y="117475"/>
                  </a:lnTo>
                  <a:lnTo>
                    <a:pt x="151892" y="110032"/>
                  </a:lnTo>
                  <a:lnTo>
                    <a:pt x="151892" y="91884"/>
                  </a:lnTo>
                  <a:close/>
                </a:path>
                <a:path w="197484" h="176529">
                  <a:moveTo>
                    <a:pt x="151892" y="7391"/>
                  </a:moveTo>
                  <a:lnTo>
                    <a:pt x="144246" y="0"/>
                  </a:lnTo>
                  <a:lnTo>
                    <a:pt x="125361" y="0"/>
                  </a:lnTo>
                  <a:lnTo>
                    <a:pt x="117716" y="7391"/>
                  </a:lnTo>
                  <a:lnTo>
                    <a:pt x="117716" y="25641"/>
                  </a:lnTo>
                  <a:lnTo>
                    <a:pt x="125361" y="33045"/>
                  </a:lnTo>
                  <a:lnTo>
                    <a:pt x="134797" y="33045"/>
                  </a:lnTo>
                  <a:lnTo>
                    <a:pt x="144246" y="33045"/>
                  </a:lnTo>
                  <a:lnTo>
                    <a:pt x="151892" y="25641"/>
                  </a:lnTo>
                  <a:lnTo>
                    <a:pt x="151892" y="7391"/>
                  </a:lnTo>
                  <a:close/>
                </a:path>
                <a:path w="197484" h="176529">
                  <a:moveTo>
                    <a:pt x="197459" y="47777"/>
                  </a:moveTo>
                  <a:lnTo>
                    <a:pt x="189814" y="40386"/>
                  </a:lnTo>
                  <a:lnTo>
                    <a:pt x="170916" y="40386"/>
                  </a:lnTo>
                  <a:lnTo>
                    <a:pt x="163283" y="47777"/>
                  </a:lnTo>
                  <a:lnTo>
                    <a:pt x="163283" y="66014"/>
                  </a:lnTo>
                  <a:lnTo>
                    <a:pt x="170929" y="73418"/>
                  </a:lnTo>
                  <a:lnTo>
                    <a:pt x="180365" y="73418"/>
                  </a:lnTo>
                  <a:lnTo>
                    <a:pt x="189814" y="73418"/>
                  </a:lnTo>
                  <a:lnTo>
                    <a:pt x="197459" y="66014"/>
                  </a:lnTo>
                  <a:lnTo>
                    <a:pt x="197459" y="47777"/>
                  </a:lnTo>
                  <a:close/>
                </a:path>
              </a:pathLst>
            </a:custGeom>
            <a:solidFill>
              <a:srgbClr val="60BDBC"/>
            </a:solidFill>
          </p:spPr>
          <p:txBody>
            <a:bodyPr wrap="square" lIns="0" tIns="0" rIns="0" bIns="0" rtlCol="0"/>
            <a:lstStyle/>
            <a:p>
              <a:endParaRPr dirty="0"/>
            </a:p>
          </p:txBody>
        </p:sp>
        <p:sp>
          <p:nvSpPr>
            <p:cNvPr id="1058" name="object 74">
              <a:extLst>
                <a:ext uri="{FF2B5EF4-FFF2-40B4-BE49-F238E27FC236}">
                  <a16:creationId xmlns:a16="http://schemas.microsoft.com/office/drawing/2014/main" id="{97B6FBC6-B458-C982-D665-5AE26914ED3F}"/>
                </a:ext>
              </a:extLst>
            </p:cNvPr>
            <p:cNvSpPr/>
            <p:nvPr/>
          </p:nvSpPr>
          <p:spPr>
            <a:xfrm>
              <a:off x="7447166" y="4703851"/>
              <a:ext cx="38100" cy="36830"/>
            </a:xfrm>
            <a:custGeom>
              <a:avLst/>
              <a:gdLst/>
              <a:ahLst/>
              <a:cxnLst/>
              <a:rect l="l" t="t" r="r" b="b"/>
              <a:pathLst>
                <a:path w="38100" h="36829">
                  <a:moveTo>
                    <a:pt x="26581" y="25692"/>
                  </a:moveTo>
                  <a:lnTo>
                    <a:pt x="22377" y="19989"/>
                  </a:lnTo>
                  <a:lnTo>
                    <a:pt x="21971" y="19431"/>
                  </a:lnTo>
                  <a:lnTo>
                    <a:pt x="23228" y="19024"/>
                  </a:lnTo>
                  <a:lnTo>
                    <a:pt x="24142" y="18516"/>
                  </a:lnTo>
                  <a:lnTo>
                    <a:pt x="24523" y="18110"/>
                  </a:lnTo>
                  <a:lnTo>
                    <a:pt x="25412" y="17157"/>
                  </a:lnTo>
                  <a:lnTo>
                    <a:pt x="25666" y="16548"/>
                  </a:lnTo>
                  <a:lnTo>
                    <a:pt x="25666" y="14224"/>
                  </a:lnTo>
                  <a:lnTo>
                    <a:pt x="25311" y="13652"/>
                  </a:lnTo>
                  <a:lnTo>
                    <a:pt x="25044" y="13157"/>
                  </a:lnTo>
                  <a:lnTo>
                    <a:pt x="24866" y="12941"/>
                  </a:lnTo>
                  <a:lnTo>
                    <a:pt x="24498" y="12585"/>
                  </a:lnTo>
                  <a:lnTo>
                    <a:pt x="23837" y="12179"/>
                  </a:lnTo>
                  <a:lnTo>
                    <a:pt x="22326" y="11379"/>
                  </a:lnTo>
                  <a:lnTo>
                    <a:pt x="22326" y="14846"/>
                  </a:lnTo>
                  <a:lnTo>
                    <a:pt x="22275" y="16319"/>
                  </a:lnTo>
                  <a:lnTo>
                    <a:pt x="19481" y="18110"/>
                  </a:lnTo>
                  <a:lnTo>
                    <a:pt x="14732" y="18110"/>
                  </a:lnTo>
                  <a:lnTo>
                    <a:pt x="14732" y="12941"/>
                  </a:lnTo>
                  <a:lnTo>
                    <a:pt x="19761" y="12941"/>
                  </a:lnTo>
                  <a:lnTo>
                    <a:pt x="22326" y="14846"/>
                  </a:lnTo>
                  <a:lnTo>
                    <a:pt x="22326" y="11379"/>
                  </a:lnTo>
                  <a:lnTo>
                    <a:pt x="20802" y="11023"/>
                  </a:lnTo>
                  <a:lnTo>
                    <a:pt x="11391" y="11023"/>
                  </a:lnTo>
                  <a:lnTo>
                    <a:pt x="11391" y="25692"/>
                  </a:lnTo>
                  <a:lnTo>
                    <a:pt x="14732" y="25692"/>
                  </a:lnTo>
                  <a:lnTo>
                    <a:pt x="14732" y="19989"/>
                  </a:lnTo>
                  <a:lnTo>
                    <a:pt x="18834" y="19989"/>
                  </a:lnTo>
                  <a:lnTo>
                    <a:pt x="22936" y="25692"/>
                  </a:lnTo>
                  <a:lnTo>
                    <a:pt x="26581" y="25692"/>
                  </a:lnTo>
                  <a:close/>
                </a:path>
                <a:path w="38100" h="36829">
                  <a:moveTo>
                    <a:pt x="37960" y="13487"/>
                  </a:moveTo>
                  <a:lnTo>
                    <a:pt x="35941" y="8813"/>
                  </a:lnTo>
                  <a:lnTo>
                    <a:pt x="34772" y="7683"/>
                  </a:lnTo>
                  <a:lnTo>
                    <a:pt x="34772" y="14287"/>
                  </a:lnTo>
                  <a:lnTo>
                    <a:pt x="34772" y="22402"/>
                  </a:lnTo>
                  <a:lnTo>
                    <a:pt x="33108" y="26289"/>
                  </a:lnTo>
                  <a:lnTo>
                    <a:pt x="30175" y="29159"/>
                  </a:lnTo>
                  <a:lnTo>
                    <a:pt x="27178" y="32029"/>
                  </a:lnTo>
                  <a:lnTo>
                    <a:pt x="23177" y="33642"/>
                  </a:lnTo>
                  <a:lnTo>
                    <a:pt x="14782" y="33642"/>
                  </a:lnTo>
                  <a:lnTo>
                    <a:pt x="10731" y="32029"/>
                  </a:lnTo>
                  <a:lnTo>
                    <a:pt x="7797" y="29159"/>
                  </a:lnTo>
                  <a:lnTo>
                    <a:pt x="4800" y="26289"/>
                  </a:lnTo>
                  <a:lnTo>
                    <a:pt x="3136" y="22402"/>
                  </a:lnTo>
                  <a:lnTo>
                    <a:pt x="3136" y="14287"/>
                  </a:lnTo>
                  <a:lnTo>
                    <a:pt x="4800" y="10388"/>
                  </a:lnTo>
                  <a:lnTo>
                    <a:pt x="7747" y="7518"/>
                  </a:lnTo>
                  <a:lnTo>
                    <a:pt x="10731" y="4648"/>
                  </a:lnTo>
                  <a:lnTo>
                    <a:pt x="14782" y="3035"/>
                  </a:lnTo>
                  <a:lnTo>
                    <a:pt x="23177" y="3035"/>
                  </a:lnTo>
                  <a:lnTo>
                    <a:pt x="27178" y="4648"/>
                  </a:lnTo>
                  <a:lnTo>
                    <a:pt x="33159" y="10388"/>
                  </a:lnTo>
                  <a:lnTo>
                    <a:pt x="34772" y="14287"/>
                  </a:lnTo>
                  <a:lnTo>
                    <a:pt x="34772" y="7683"/>
                  </a:lnTo>
                  <a:lnTo>
                    <a:pt x="29984" y="3035"/>
                  </a:lnTo>
                  <a:lnTo>
                    <a:pt x="28854" y="1930"/>
                  </a:lnTo>
                  <a:lnTo>
                    <a:pt x="23990" y="0"/>
                  </a:lnTo>
                  <a:lnTo>
                    <a:pt x="13919" y="0"/>
                  </a:lnTo>
                  <a:lnTo>
                    <a:pt x="9105" y="1930"/>
                  </a:lnTo>
                  <a:lnTo>
                    <a:pt x="5511" y="5372"/>
                  </a:lnTo>
                  <a:lnTo>
                    <a:pt x="1968" y="8813"/>
                  </a:lnTo>
                  <a:lnTo>
                    <a:pt x="0" y="13487"/>
                  </a:lnTo>
                  <a:lnTo>
                    <a:pt x="0" y="23215"/>
                  </a:lnTo>
                  <a:lnTo>
                    <a:pt x="1968" y="27889"/>
                  </a:lnTo>
                  <a:lnTo>
                    <a:pt x="5511" y="31330"/>
                  </a:lnTo>
                  <a:lnTo>
                    <a:pt x="9105" y="34772"/>
                  </a:lnTo>
                  <a:lnTo>
                    <a:pt x="13919" y="36703"/>
                  </a:lnTo>
                  <a:lnTo>
                    <a:pt x="23990" y="36703"/>
                  </a:lnTo>
                  <a:lnTo>
                    <a:pt x="28854" y="34772"/>
                  </a:lnTo>
                  <a:lnTo>
                    <a:pt x="30022" y="33642"/>
                  </a:lnTo>
                  <a:lnTo>
                    <a:pt x="35941" y="27889"/>
                  </a:lnTo>
                  <a:lnTo>
                    <a:pt x="37960" y="23215"/>
                  </a:lnTo>
                  <a:lnTo>
                    <a:pt x="37960" y="13487"/>
                  </a:lnTo>
                  <a:close/>
                </a:path>
              </a:pathLst>
            </a:custGeom>
            <a:solidFill>
              <a:srgbClr val="281A42"/>
            </a:solidFill>
          </p:spPr>
          <p:txBody>
            <a:bodyPr wrap="square" lIns="0" tIns="0" rIns="0" bIns="0" rtlCol="0"/>
            <a:lstStyle/>
            <a:p>
              <a:endParaRPr dirty="0">
                <a:solidFill>
                  <a:srgbClr val="FFFFFF"/>
                </a:solidFill>
              </a:endParaRPr>
            </a:p>
          </p:txBody>
        </p:sp>
        <p:pic>
          <p:nvPicPr>
            <p:cNvPr id="1059" name="object 75">
              <a:extLst>
                <a:ext uri="{FF2B5EF4-FFF2-40B4-BE49-F238E27FC236}">
                  <a16:creationId xmlns:a16="http://schemas.microsoft.com/office/drawing/2014/main" id="{83D11EDB-B9A4-A344-E2BF-ECF7A323F1DF}"/>
                </a:ext>
              </a:extLst>
            </p:cNvPr>
            <p:cNvPicPr/>
            <p:nvPr/>
          </p:nvPicPr>
          <p:blipFill>
            <a:blip r:embed="rId48" cstate="print">
              <a:duotone>
                <a:srgbClr val="765FFF"/>
                <a:srgbClr val="FFFFFF"/>
              </a:duotone>
            </a:blip>
            <a:stretch>
              <a:fillRect/>
            </a:stretch>
          </p:blipFill>
          <p:spPr>
            <a:xfrm>
              <a:off x="6648450" y="6257925"/>
              <a:ext cx="714375" cy="304800"/>
            </a:xfrm>
            <a:prstGeom prst="rect">
              <a:avLst/>
            </a:prstGeom>
          </p:spPr>
        </p:pic>
        <p:pic>
          <p:nvPicPr>
            <p:cNvPr id="1060" name="object 76">
              <a:extLst>
                <a:ext uri="{FF2B5EF4-FFF2-40B4-BE49-F238E27FC236}">
                  <a16:creationId xmlns:a16="http://schemas.microsoft.com/office/drawing/2014/main" id="{820A2334-CD6F-0AC7-FAC3-428F93494D2A}"/>
                </a:ext>
              </a:extLst>
            </p:cNvPr>
            <p:cNvPicPr/>
            <p:nvPr/>
          </p:nvPicPr>
          <p:blipFill>
            <a:blip r:embed="rId49" cstate="print">
              <a:duotone>
                <a:srgbClr val="765FFF"/>
                <a:srgbClr val="FFFFFF"/>
              </a:duotone>
            </a:blip>
            <a:stretch>
              <a:fillRect/>
            </a:stretch>
          </p:blipFill>
          <p:spPr>
            <a:xfrm>
              <a:off x="10972800" y="5019675"/>
              <a:ext cx="628650" cy="400050"/>
            </a:xfrm>
            <a:prstGeom prst="rect">
              <a:avLst/>
            </a:prstGeom>
          </p:spPr>
        </p:pic>
        <p:pic>
          <p:nvPicPr>
            <p:cNvPr id="1061" name="object 77">
              <a:extLst>
                <a:ext uri="{FF2B5EF4-FFF2-40B4-BE49-F238E27FC236}">
                  <a16:creationId xmlns:a16="http://schemas.microsoft.com/office/drawing/2014/main" id="{64F7FE8A-D489-1564-54FB-85B855B14B24}"/>
                </a:ext>
              </a:extLst>
            </p:cNvPr>
            <p:cNvPicPr/>
            <p:nvPr/>
          </p:nvPicPr>
          <p:blipFill>
            <a:blip r:embed="rId50" cstate="print">
              <a:duotone>
                <a:srgbClr val="765FFF"/>
                <a:srgbClr val="FFFFFF"/>
              </a:duotone>
            </a:blip>
            <a:stretch>
              <a:fillRect/>
            </a:stretch>
          </p:blipFill>
          <p:spPr>
            <a:xfrm>
              <a:off x="10296525" y="5610225"/>
              <a:ext cx="533400" cy="390525"/>
            </a:xfrm>
            <a:prstGeom prst="rect">
              <a:avLst/>
            </a:prstGeom>
          </p:spPr>
        </p:pic>
        <p:pic>
          <p:nvPicPr>
            <p:cNvPr id="1062" name="object 78">
              <a:extLst>
                <a:ext uri="{FF2B5EF4-FFF2-40B4-BE49-F238E27FC236}">
                  <a16:creationId xmlns:a16="http://schemas.microsoft.com/office/drawing/2014/main" id="{A75449C7-199B-FFD8-7218-9436441D35E5}"/>
                </a:ext>
              </a:extLst>
            </p:cNvPr>
            <p:cNvPicPr/>
            <p:nvPr/>
          </p:nvPicPr>
          <p:blipFill>
            <a:blip r:embed="rId51" cstate="print">
              <a:duotone>
                <a:srgbClr val="765FFF"/>
                <a:srgbClr val="FFFFFF"/>
              </a:duotone>
            </a:blip>
            <a:stretch>
              <a:fillRect/>
            </a:stretch>
          </p:blipFill>
          <p:spPr>
            <a:xfrm>
              <a:off x="7991475" y="6334125"/>
              <a:ext cx="571500" cy="152400"/>
            </a:xfrm>
            <a:prstGeom prst="rect">
              <a:avLst/>
            </a:prstGeom>
          </p:spPr>
        </p:pic>
        <p:pic>
          <p:nvPicPr>
            <p:cNvPr id="1063" name="object 79">
              <a:extLst>
                <a:ext uri="{FF2B5EF4-FFF2-40B4-BE49-F238E27FC236}">
                  <a16:creationId xmlns:a16="http://schemas.microsoft.com/office/drawing/2014/main" id="{D06CF7EC-8F17-AC40-6712-9974B857C068}"/>
                </a:ext>
              </a:extLst>
            </p:cNvPr>
            <p:cNvPicPr/>
            <p:nvPr/>
          </p:nvPicPr>
          <p:blipFill>
            <a:blip r:embed="rId52" cstate="print">
              <a:duotone>
                <a:srgbClr val="765FFF"/>
                <a:srgbClr val="FFFFFF"/>
              </a:duotone>
            </a:blip>
            <a:stretch>
              <a:fillRect/>
            </a:stretch>
          </p:blipFill>
          <p:spPr>
            <a:xfrm>
              <a:off x="8924925" y="4876800"/>
              <a:ext cx="923925" cy="266700"/>
            </a:xfrm>
            <a:prstGeom prst="rect">
              <a:avLst/>
            </a:prstGeom>
          </p:spPr>
        </p:pic>
        <p:pic>
          <p:nvPicPr>
            <p:cNvPr id="1064" name="object 80">
              <a:extLst>
                <a:ext uri="{FF2B5EF4-FFF2-40B4-BE49-F238E27FC236}">
                  <a16:creationId xmlns:a16="http://schemas.microsoft.com/office/drawing/2014/main" id="{AD5A55DA-E4D6-D761-49E1-ED297544EC1B}"/>
                </a:ext>
              </a:extLst>
            </p:cNvPr>
            <p:cNvPicPr/>
            <p:nvPr/>
          </p:nvPicPr>
          <p:blipFill>
            <a:blip r:embed="rId53" cstate="print">
              <a:duotone>
                <a:srgbClr val="765FFF"/>
                <a:srgbClr val="FFFFFF"/>
              </a:duotone>
            </a:blip>
            <a:stretch>
              <a:fillRect/>
            </a:stretch>
          </p:blipFill>
          <p:spPr>
            <a:xfrm>
              <a:off x="9029700" y="6219825"/>
              <a:ext cx="438150" cy="247650"/>
            </a:xfrm>
            <a:prstGeom prst="rect">
              <a:avLst/>
            </a:prstGeom>
          </p:spPr>
        </p:pic>
        <p:pic>
          <p:nvPicPr>
            <p:cNvPr id="1065" name="object 81">
              <a:extLst>
                <a:ext uri="{FF2B5EF4-FFF2-40B4-BE49-F238E27FC236}">
                  <a16:creationId xmlns:a16="http://schemas.microsoft.com/office/drawing/2014/main" id="{1C3C0D3D-8EAB-F051-ADF2-78351100C334}"/>
                </a:ext>
              </a:extLst>
            </p:cNvPr>
            <p:cNvPicPr/>
            <p:nvPr/>
          </p:nvPicPr>
          <p:blipFill>
            <a:blip r:embed="rId54" cstate="print">
              <a:duotone>
                <a:srgbClr val="765FFF"/>
                <a:srgbClr val="FFFFFF"/>
              </a:duotone>
            </a:blip>
            <a:stretch>
              <a:fillRect/>
            </a:stretch>
          </p:blipFill>
          <p:spPr>
            <a:xfrm>
              <a:off x="10306050" y="4943475"/>
              <a:ext cx="438150" cy="523875"/>
            </a:xfrm>
            <a:prstGeom prst="rect">
              <a:avLst/>
            </a:prstGeom>
          </p:spPr>
        </p:pic>
        <p:pic>
          <p:nvPicPr>
            <p:cNvPr id="1066" name="object 82">
              <a:extLst>
                <a:ext uri="{FF2B5EF4-FFF2-40B4-BE49-F238E27FC236}">
                  <a16:creationId xmlns:a16="http://schemas.microsoft.com/office/drawing/2014/main" id="{66289938-30C3-0EFB-9E74-FFE90F546886}"/>
                </a:ext>
              </a:extLst>
            </p:cNvPr>
            <p:cNvPicPr/>
            <p:nvPr/>
          </p:nvPicPr>
          <p:blipFill>
            <a:blip r:embed="rId55" cstate="print">
              <a:duotone>
                <a:srgbClr val="765FFF"/>
                <a:srgbClr val="FFFFFF"/>
              </a:duotone>
            </a:blip>
            <a:stretch>
              <a:fillRect/>
            </a:stretch>
          </p:blipFill>
          <p:spPr>
            <a:xfrm>
              <a:off x="9896475" y="6238875"/>
              <a:ext cx="809625" cy="323850"/>
            </a:xfrm>
            <a:prstGeom prst="rect">
              <a:avLst/>
            </a:prstGeom>
          </p:spPr>
        </p:pic>
        <p:pic>
          <p:nvPicPr>
            <p:cNvPr id="1067" name="object 83">
              <a:extLst>
                <a:ext uri="{FF2B5EF4-FFF2-40B4-BE49-F238E27FC236}">
                  <a16:creationId xmlns:a16="http://schemas.microsoft.com/office/drawing/2014/main" id="{94C336D8-F748-8AEC-7B8B-9C07055F5414}"/>
                </a:ext>
              </a:extLst>
            </p:cNvPr>
            <p:cNvPicPr/>
            <p:nvPr/>
          </p:nvPicPr>
          <p:blipFill>
            <a:blip r:embed="rId56" cstate="print">
              <a:duotone>
                <a:srgbClr val="765FFF"/>
                <a:srgbClr val="FFFFFF"/>
              </a:duotone>
            </a:blip>
            <a:stretch>
              <a:fillRect/>
            </a:stretch>
          </p:blipFill>
          <p:spPr>
            <a:xfrm>
              <a:off x="10829925" y="6191250"/>
              <a:ext cx="1133475" cy="361950"/>
            </a:xfrm>
            <a:prstGeom prst="rect">
              <a:avLst/>
            </a:prstGeom>
          </p:spPr>
        </p:pic>
        <p:pic>
          <p:nvPicPr>
            <p:cNvPr id="1068" name="object 84">
              <a:extLst>
                <a:ext uri="{FF2B5EF4-FFF2-40B4-BE49-F238E27FC236}">
                  <a16:creationId xmlns:a16="http://schemas.microsoft.com/office/drawing/2014/main" id="{19E555E3-4E7F-42BD-3C61-A8C2B90F6D5B}"/>
                </a:ext>
              </a:extLst>
            </p:cNvPr>
            <p:cNvPicPr/>
            <p:nvPr/>
          </p:nvPicPr>
          <p:blipFill>
            <a:blip r:embed="rId57" cstate="print">
              <a:duotone>
                <a:srgbClr val="765FFF"/>
                <a:srgbClr val="FFFFFF"/>
              </a:duotone>
            </a:blip>
            <a:stretch>
              <a:fillRect/>
            </a:stretch>
          </p:blipFill>
          <p:spPr>
            <a:xfrm>
              <a:off x="6562725" y="5638800"/>
              <a:ext cx="1028700" cy="333375"/>
            </a:xfrm>
            <a:prstGeom prst="rect">
              <a:avLst/>
            </a:prstGeom>
          </p:spPr>
        </p:pic>
        <p:pic>
          <p:nvPicPr>
            <p:cNvPr id="1069" name="object 85">
              <a:extLst>
                <a:ext uri="{FF2B5EF4-FFF2-40B4-BE49-F238E27FC236}">
                  <a16:creationId xmlns:a16="http://schemas.microsoft.com/office/drawing/2014/main" id="{345FDBD3-E747-52FD-E2FE-2AC06E0A76E2}"/>
                </a:ext>
              </a:extLst>
            </p:cNvPr>
            <p:cNvPicPr/>
            <p:nvPr/>
          </p:nvPicPr>
          <p:blipFill>
            <a:blip r:embed="rId58" cstate="print">
              <a:duotone>
                <a:srgbClr val="765FFF"/>
                <a:srgbClr val="FFFFFF"/>
              </a:duotone>
            </a:blip>
            <a:stretch>
              <a:fillRect/>
            </a:stretch>
          </p:blipFill>
          <p:spPr>
            <a:xfrm>
              <a:off x="7439025" y="4276725"/>
              <a:ext cx="1171575" cy="228600"/>
            </a:xfrm>
            <a:prstGeom prst="rect">
              <a:avLst/>
            </a:prstGeom>
          </p:spPr>
        </p:pic>
      </p:grpSp>
      <p:pic>
        <p:nvPicPr>
          <p:cNvPr id="1070" name="object 86">
            <a:extLst>
              <a:ext uri="{FF2B5EF4-FFF2-40B4-BE49-F238E27FC236}">
                <a16:creationId xmlns:a16="http://schemas.microsoft.com/office/drawing/2014/main" id="{94BBEE7E-035B-119F-8029-060319AAFBB2}"/>
              </a:ext>
            </a:extLst>
          </p:cNvPr>
          <p:cNvPicPr/>
          <p:nvPr/>
        </p:nvPicPr>
        <p:blipFill>
          <a:blip r:embed="rId59" cstate="print">
            <a:duotone>
              <a:srgbClr val="765FFF"/>
              <a:srgbClr val="FFFFFF"/>
            </a:duotone>
          </a:blip>
          <a:stretch>
            <a:fillRect/>
          </a:stretch>
        </p:blipFill>
        <p:spPr>
          <a:xfrm>
            <a:off x="2347561" y="4865332"/>
            <a:ext cx="1027126" cy="187263"/>
          </a:xfrm>
          <a:prstGeom prst="rect">
            <a:avLst/>
          </a:prstGeom>
        </p:spPr>
      </p:pic>
      <p:pic>
        <p:nvPicPr>
          <p:cNvPr id="1071" name="object 87">
            <a:extLst>
              <a:ext uri="{FF2B5EF4-FFF2-40B4-BE49-F238E27FC236}">
                <a16:creationId xmlns:a16="http://schemas.microsoft.com/office/drawing/2014/main" id="{12B37B46-0671-7CD1-9E60-B66A6E00345E}"/>
              </a:ext>
            </a:extLst>
          </p:cNvPr>
          <p:cNvPicPr/>
          <p:nvPr/>
        </p:nvPicPr>
        <p:blipFill>
          <a:blip r:embed="rId60" cstate="print">
            <a:duotone>
              <a:srgbClr val="765FFF"/>
              <a:srgbClr val="FFFFFF"/>
            </a:duotone>
          </a:blip>
          <a:stretch>
            <a:fillRect/>
          </a:stretch>
        </p:blipFill>
        <p:spPr>
          <a:xfrm>
            <a:off x="1524000" y="4371975"/>
            <a:ext cx="971550" cy="323850"/>
          </a:xfrm>
          <a:prstGeom prst="rect">
            <a:avLst/>
          </a:prstGeom>
        </p:spPr>
      </p:pic>
      <p:grpSp>
        <p:nvGrpSpPr>
          <p:cNvPr id="1072" name="object 88">
            <a:extLst>
              <a:ext uri="{FF2B5EF4-FFF2-40B4-BE49-F238E27FC236}">
                <a16:creationId xmlns:a16="http://schemas.microsoft.com/office/drawing/2014/main" id="{C2B1E140-C459-B2A5-1540-49625B4EF37E}"/>
              </a:ext>
            </a:extLst>
          </p:cNvPr>
          <p:cNvGrpSpPr/>
          <p:nvPr/>
        </p:nvGrpSpPr>
        <p:grpSpPr>
          <a:xfrm>
            <a:off x="390525" y="4067175"/>
            <a:ext cx="1771650" cy="1133475"/>
            <a:chOff x="390525" y="4067175"/>
            <a:chExt cx="1771650" cy="1133475"/>
          </a:xfrm>
        </p:grpSpPr>
        <p:pic>
          <p:nvPicPr>
            <p:cNvPr id="1073" name="object 89">
              <a:extLst>
                <a:ext uri="{FF2B5EF4-FFF2-40B4-BE49-F238E27FC236}">
                  <a16:creationId xmlns:a16="http://schemas.microsoft.com/office/drawing/2014/main" id="{D4762BAE-62E4-1B42-DD5A-B8A4B4A6DCCD}"/>
                </a:ext>
              </a:extLst>
            </p:cNvPr>
            <p:cNvPicPr/>
            <p:nvPr/>
          </p:nvPicPr>
          <p:blipFill>
            <a:blip r:embed="rId61" cstate="print">
              <a:duotone>
                <a:srgbClr val="765FFF"/>
                <a:srgbClr val="FFFFFF"/>
              </a:duotone>
            </a:blip>
            <a:stretch>
              <a:fillRect/>
            </a:stretch>
          </p:blipFill>
          <p:spPr>
            <a:xfrm>
              <a:off x="390525" y="4067175"/>
              <a:ext cx="1000125" cy="733425"/>
            </a:xfrm>
            <a:prstGeom prst="rect">
              <a:avLst/>
            </a:prstGeom>
          </p:spPr>
        </p:pic>
        <p:pic>
          <p:nvPicPr>
            <p:cNvPr id="1074" name="object 90">
              <a:extLst>
                <a:ext uri="{FF2B5EF4-FFF2-40B4-BE49-F238E27FC236}">
                  <a16:creationId xmlns:a16="http://schemas.microsoft.com/office/drawing/2014/main" id="{66489CBA-EDD0-071F-4A87-5451E70EB95B}"/>
                </a:ext>
              </a:extLst>
            </p:cNvPr>
            <p:cNvPicPr/>
            <p:nvPr/>
          </p:nvPicPr>
          <p:blipFill>
            <a:blip r:embed="rId62" cstate="print">
              <a:duotone>
                <a:srgbClr val="765FFF"/>
                <a:srgbClr val="FFFFFF"/>
              </a:duotone>
            </a:blip>
            <a:stretch>
              <a:fillRect/>
            </a:stretch>
          </p:blipFill>
          <p:spPr>
            <a:xfrm>
              <a:off x="409575" y="4676775"/>
              <a:ext cx="514350" cy="523875"/>
            </a:xfrm>
            <a:prstGeom prst="rect">
              <a:avLst/>
            </a:prstGeom>
          </p:spPr>
        </p:pic>
        <p:pic>
          <p:nvPicPr>
            <p:cNvPr id="1075" name="object 91">
              <a:extLst>
                <a:ext uri="{FF2B5EF4-FFF2-40B4-BE49-F238E27FC236}">
                  <a16:creationId xmlns:a16="http://schemas.microsoft.com/office/drawing/2014/main" id="{466B76B9-026E-728D-B649-02EDD0478DD4}"/>
                </a:ext>
              </a:extLst>
            </p:cNvPr>
            <p:cNvPicPr/>
            <p:nvPr/>
          </p:nvPicPr>
          <p:blipFill>
            <a:blip r:embed="rId63" cstate="print">
              <a:duotone>
                <a:srgbClr val="765FFF"/>
                <a:srgbClr val="FFFFFF"/>
              </a:duotone>
            </a:blip>
            <a:stretch>
              <a:fillRect/>
            </a:stretch>
          </p:blipFill>
          <p:spPr>
            <a:xfrm>
              <a:off x="1076325" y="4762500"/>
              <a:ext cx="1085850" cy="371475"/>
            </a:xfrm>
            <a:prstGeom prst="rect">
              <a:avLst/>
            </a:prstGeom>
          </p:spPr>
        </p:pic>
      </p:grpSp>
      <p:pic>
        <p:nvPicPr>
          <p:cNvPr id="1076" name="object 92">
            <a:extLst>
              <a:ext uri="{FF2B5EF4-FFF2-40B4-BE49-F238E27FC236}">
                <a16:creationId xmlns:a16="http://schemas.microsoft.com/office/drawing/2014/main" id="{54C4E758-B5F0-DA65-3DA3-BB7E410A5CED}"/>
              </a:ext>
            </a:extLst>
          </p:cNvPr>
          <p:cNvPicPr/>
          <p:nvPr/>
        </p:nvPicPr>
        <p:blipFill>
          <a:blip r:embed="rId64" cstate="print">
            <a:duotone>
              <a:srgbClr val="765FFF"/>
              <a:srgbClr val="FFFFFF"/>
            </a:duotone>
          </a:blip>
          <a:stretch>
            <a:fillRect/>
          </a:stretch>
        </p:blipFill>
        <p:spPr>
          <a:xfrm>
            <a:off x="390525" y="5781675"/>
            <a:ext cx="809625" cy="133350"/>
          </a:xfrm>
          <a:prstGeom prst="rect">
            <a:avLst/>
          </a:prstGeom>
        </p:spPr>
      </p:pic>
      <p:pic>
        <p:nvPicPr>
          <p:cNvPr id="1077" name="object 93">
            <a:extLst>
              <a:ext uri="{FF2B5EF4-FFF2-40B4-BE49-F238E27FC236}">
                <a16:creationId xmlns:a16="http://schemas.microsoft.com/office/drawing/2014/main" id="{827858A9-DE82-C74C-91AC-4CB2C52175E0}"/>
              </a:ext>
            </a:extLst>
          </p:cNvPr>
          <p:cNvPicPr/>
          <p:nvPr/>
        </p:nvPicPr>
        <p:blipFill>
          <a:blip r:embed="rId65" cstate="print">
            <a:duotone>
              <a:srgbClr val="765FFF"/>
              <a:srgbClr val="FFFFFF"/>
            </a:duotone>
          </a:blip>
          <a:stretch>
            <a:fillRect/>
          </a:stretch>
        </p:blipFill>
        <p:spPr>
          <a:xfrm>
            <a:off x="1362075" y="5867400"/>
            <a:ext cx="819150" cy="257175"/>
          </a:xfrm>
          <a:prstGeom prst="rect">
            <a:avLst/>
          </a:prstGeom>
        </p:spPr>
      </p:pic>
      <p:pic>
        <p:nvPicPr>
          <p:cNvPr id="1078" name="object 94">
            <a:extLst>
              <a:ext uri="{FF2B5EF4-FFF2-40B4-BE49-F238E27FC236}">
                <a16:creationId xmlns:a16="http://schemas.microsoft.com/office/drawing/2014/main" id="{B9561A6C-8F15-71EC-1FDA-D36C35B27864}"/>
              </a:ext>
            </a:extLst>
          </p:cNvPr>
          <p:cNvPicPr/>
          <p:nvPr/>
        </p:nvPicPr>
        <p:blipFill>
          <a:blip r:embed="rId66" cstate="print">
            <a:duotone>
              <a:srgbClr val="765FFF"/>
              <a:srgbClr val="FFFFFF"/>
            </a:duotone>
          </a:blip>
          <a:stretch>
            <a:fillRect/>
          </a:stretch>
        </p:blipFill>
        <p:spPr>
          <a:xfrm>
            <a:off x="409575" y="6105525"/>
            <a:ext cx="723900" cy="445072"/>
          </a:xfrm>
          <a:prstGeom prst="rect">
            <a:avLst/>
          </a:prstGeom>
        </p:spPr>
      </p:pic>
      <p:pic>
        <p:nvPicPr>
          <p:cNvPr id="1079" name="object 95">
            <a:extLst>
              <a:ext uri="{FF2B5EF4-FFF2-40B4-BE49-F238E27FC236}">
                <a16:creationId xmlns:a16="http://schemas.microsoft.com/office/drawing/2014/main" id="{83FDA105-860B-92E0-7802-5BAEF0F74C31}"/>
              </a:ext>
            </a:extLst>
          </p:cNvPr>
          <p:cNvPicPr/>
          <p:nvPr/>
        </p:nvPicPr>
        <p:blipFill>
          <a:blip r:embed="rId67" cstate="print">
            <a:duotone>
              <a:srgbClr val="765FFF"/>
              <a:srgbClr val="FFFFFF"/>
            </a:duotone>
          </a:blip>
          <a:stretch>
            <a:fillRect/>
          </a:stretch>
        </p:blipFill>
        <p:spPr>
          <a:xfrm>
            <a:off x="2343150" y="5657850"/>
            <a:ext cx="838200" cy="438150"/>
          </a:xfrm>
          <a:prstGeom prst="rect">
            <a:avLst/>
          </a:prstGeom>
        </p:spPr>
      </p:pic>
      <p:grpSp>
        <p:nvGrpSpPr>
          <p:cNvPr id="1080" name="object 96">
            <a:extLst>
              <a:ext uri="{FF2B5EF4-FFF2-40B4-BE49-F238E27FC236}">
                <a16:creationId xmlns:a16="http://schemas.microsoft.com/office/drawing/2014/main" id="{61028C48-0BE5-9C82-1884-984E28DEB8F5}"/>
              </a:ext>
            </a:extLst>
          </p:cNvPr>
          <p:cNvGrpSpPr/>
          <p:nvPr/>
        </p:nvGrpSpPr>
        <p:grpSpPr>
          <a:xfrm>
            <a:off x="1241686" y="6210300"/>
            <a:ext cx="2292350" cy="438150"/>
            <a:chOff x="1241686" y="6210300"/>
            <a:chExt cx="2292350" cy="438150"/>
          </a:xfrm>
        </p:grpSpPr>
        <p:pic>
          <p:nvPicPr>
            <p:cNvPr id="1081" name="object 97">
              <a:extLst>
                <a:ext uri="{FF2B5EF4-FFF2-40B4-BE49-F238E27FC236}">
                  <a16:creationId xmlns:a16="http://schemas.microsoft.com/office/drawing/2014/main" id="{FBA9F5FB-2598-CBBC-9F80-DF3830270D09}"/>
                </a:ext>
              </a:extLst>
            </p:cNvPr>
            <p:cNvPicPr/>
            <p:nvPr/>
          </p:nvPicPr>
          <p:blipFill>
            <a:blip r:embed="rId68" cstate="print">
              <a:duotone>
                <a:srgbClr val="765FFF"/>
                <a:srgbClr val="FFFFFF"/>
              </a:duotone>
            </a:blip>
            <a:stretch>
              <a:fillRect/>
            </a:stretch>
          </p:blipFill>
          <p:spPr>
            <a:xfrm>
              <a:off x="1241686" y="6318016"/>
              <a:ext cx="1531982" cy="208009"/>
            </a:xfrm>
            <a:prstGeom prst="rect">
              <a:avLst/>
            </a:prstGeom>
          </p:spPr>
        </p:pic>
        <p:pic>
          <p:nvPicPr>
            <p:cNvPr id="1082" name="object 98">
              <a:extLst>
                <a:ext uri="{FF2B5EF4-FFF2-40B4-BE49-F238E27FC236}">
                  <a16:creationId xmlns:a16="http://schemas.microsoft.com/office/drawing/2014/main" id="{FA714849-86FB-FBF0-6019-DBA9E25B4A24}"/>
                </a:ext>
              </a:extLst>
            </p:cNvPr>
            <p:cNvPicPr/>
            <p:nvPr/>
          </p:nvPicPr>
          <p:blipFill>
            <a:blip r:embed="rId69" cstate="print">
              <a:duotone>
                <a:srgbClr val="765FFF"/>
                <a:srgbClr val="FFFFFF"/>
              </a:duotone>
            </a:blip>
            <a:stretch>
              <a:fillRect/>
            </a:stretch>
          </p:blipFill>
          <p:spPr>
            <a:xfrm>
              <a:off x="2752725" y="6210300"/>
              <a:ext cx="781050" cy="438150"/>
            </a:xfrm>
            <a:prstGeom prst="rect">
              <a:avLst/>
            </a:prstGeom>
          </p:spPr>
        </p:pic>
      </p:grpSp>
      <p:pic>
        <p:nvPicPr>
          <p:cNvPr id="1083" name="object 99">
            <a:extLst>
              <a:ext uri="{FF2B5EF4-FFF2-40B4-BE49-F238E27FC236}">
                <a16:creationId xmlns:a16="http://schemas.microsoft.com/office/drawing/2014/main" id="{B7E6DF47-591E-1885-81FE-8C8166850A46}"/>
              </a:ext>
            </a:extLst>
          </p:cNvPr>
          <p:cNvPicPr/>
          <p:nvPr/>
        </p:nvPicPr>
        <p:blipFill>
          <a:blip r:embed="rId70" cstate="print">
            <a:duotone>
              <a:srgbClr val="765FFF"/>
              <a:srgbClr val="FFFFFF"/>
            </a:duotone>
          </a:blip>
          <a:stretch>
            <a:fillRect/>
          </a:stretch>
        </p:blipFill>
        <p:spPr>
          <a:xfrm>
            <a:off x="4200525" y="5800725"/>
            <a:ext cx="466725" cy="228600"/>
          </a:xfrm>
          <a:prstGeom prst="rect">
            <a:avLst/>
          </a:prstGeom>
        </p:spPr>
      </p:pic>
      <p:pic>
        <p:nvPicPr>
          <p:cNvPr id="1084" name="object 100">
            <a:extLst>
              <a:ext uri="{FF2B5EF4-FFF2-40B4-BE49-F238E27FC236}">
                <a16:creationId xmlns:a16="http://schemas.microsoft.com/office/drawing/2014/main" id="{8B750060-4918-9D26-70A9-CBBB89232049}"/>
              </a:ext>
            </a:extLst>
          </p:cNvPr>
          <p:cNvPicPr/>
          <p:nvPr/>
        </p:nvPicPr>
        <p:blipFill>
          <a:blip r:embed="rId71" cstate="print">
            <a:duotone>
              <a:srgbClr val="765FFF"/>
              <a:srgbClr val="FFFFFF"/>
            </a:duotone>
          </a:blip>
          <a:stretch>
            <a:fillRect/>
          </a:stretch>
        </p:blipFill>
        <p:spPr>
          <a:xfrm>
            <a:off x="4038600" y="6219825"/>
            <a:ext cx="571500" cy="295275"/>
          </a:xfrm>
          <a:prstGeom prst="rect">
            <a:avLst/>
          </a:prstGeom>
        </p:spPr>
      </p:pic>
      <p:pic>
        <p:nvPicPr>
          <p:cNvPr id="1085" name="object 101">
            <a:extLst>
              <a:ext uri="{FF2B5EF4-FFF2-40B4-BE49-F238E27FC236}">
                <a16:creationId xmlns:a16="http://schemas.microsoft.com/office/drawing/2014/main" id="{AC0953C4-D28C-954C-5445-31BD6A24BEF6}"/>
              </a:ext>
            </a:extLst>
          </p:cNvPr>
          <p:cNvPicPr/>
          <p:nvPr/>
        </p:nvPicPr>
        <p:blipFill>
          <a:blip r:embed="rId72" cstate="print">
            <a:duotone>
              <a:srgbClr val="765FFF"/>
              <a:srgbClr val="FFFFFF"/>
            </a:duotone>
          </a:blip>
          <a:stretch>
            <a:fillRect/>
          </a:stretch>
        </p:blipFill>
        <p:spPr>
          <a:xfrm>
            <a:off x="5543550" y="6181725"/>
            <a:ext cx="438150" cy="342900"/>
          </a:xfrm>
          <a:prstGeom prst="rect">
            <a:avLst/>
          </a:prstGeom>
        </p:spPr>
      </p:pic>
      <p:pic>
        <p:nvPicPr>
          <p:cNvPr id="1086" name="object 102">
            <a:extLst>
              <a:ext uri="{FF2B5EF4-FFF2-40B4-BE49-F238E27FC236}">
                <a16:creationId xmlns:a16="http://schemas.microsoft.com/office/drawing/2014/main" id="{4BBD94AF-3582-FBC8-093E-A5F561C614F3}"/>
              </a:ext>
            </a:extLst>
          </p:cNvPr>
          <p:cNvPicPr/>
          <p:nvPr/>
        </p:nvPicPr>
        <p:blipFill>
          <a:blip r:embed="rId73" cstate="print">
            <a:duotone>
              <a:srgbClr val="765FFF"/>
              <a:srgbClr val="FFFFFF"/>
            </a:duotone>
          </a:blip>
          <a:stretch>
            <a:fillRect/>
          </a:stretch>
        </p:blipFill>
        <p:spPr>
          <a:xfrm>
            <a:off x="6534517" y="1458904"/>
            <a:ext cx="504124" cy="502920"/>
          </a:xfrm>
          <a:prstGeom prst="rect">
            <a:avLst/>
          </a:prstGeom>
        </p:spPr>
      </p:pic>
      <p:grpSp>
        <p:nvGrpSpPr>
          <p:cNvPr id="1087" name="object 103">
            <a:extLst>
              <a:ext uri="{FF2B5EF4-FFF2-40B4-BE49-F238E27FC236}">
                <a16:creationId xmlns:a16="http://schemas.microsoft.com/office/drawing/2014/main" id="{2C7C27EB-202F-6CD9-FDF1-749B3C39C6B9}"/>
              </a:ext>
            </a:extLst>
          </p:cNvPr>
          <p:cNvGrpSpPr/>
          <p:nvPr/>
        </p:nvGrpSpPr>
        <p:grpSpPr>
          <a:xfrm>
            <a:off x="7143750" y="1152525"/>
            <a:ext cx="1772920" cy="1085850"/>
            <a:chOff x="7143750" y="1152525"/>
            <a:chExt cx="1772920" cy="1085850"/>
          </a:xfrm>
        </p:grpSpPr>
        <p:pic>
          <p:nvPicPr>
            <p:cNvPr id="1088" name="object 104">
              <a:extLst>
                <a:ext uri="{FF2B5EF4-FFF2-40B4-BE49-F238E27FC236}">
                  <a16:creationId xmlns:a16="http://schemas.microsoft.com/office/drawing/2014/main" id="{896A6CBE-19BE-BFF8-732A-F8D1E206000C}"/>
                </a:ext>
              </a:extLst>
            </p:cNvPr>
            <p:cNvPicPr/>
            <p:nvPr/>
          </p:nvPicPr>
          <p:blipFill>
            <a:blip r:embed="rId74" cstate="print">
              <a:duotone>
                <a:srgbClr val="765FFF"/>
                <a:srgbClr val="FFFFFF"/>
              </a:duotone>
            </a:blip>
            <a:stretch>
              <a:fillRect/>
            </a:stretch>
          </p:blipFill>
          <p:spPr>
            <a:xfrm>
              <a:off x="7191375" y="1152525"/>
              <a:ext cx="1133475" cy="600075"/>
            </a:xfrm>
            <a:prstGeom prst="rect">
              <a:avLst/>
            </a:prstGeom>
          </p:spPr>
        </p:pic>
        <p:pic>
          <p:nvPicPr>
            <p:cNvPr id="1089" name="object 105">
              <a:extLst>
                <a:ext uri="{FF2B5EF4-FFF2-40B4-BE49-F238E27FC236}">
                  <a16:creationId xmlns:a16="http://schemas.microsoft.com/office/drawing/2014/main" id="{AA9D4ABB-C325-162C-725C-9A7704DC601E}"/>
                </a:ext>
              </a:extLst>
            </p:cNvPr>
            <p:cNvPicPr/>
            <p:nvPr/>
          </p:nvPicPr>
          <p:blipFill>
            <a:blip r:embed="rId75" cstate="print">
              <a:duotone>
                <a:srgbClr val="765FFF"/>
                <a:srgbClr val="FFFFFF"/>
              </a:duotone>
            </a:blip>
            <a:stretch>
              <a:fillRect/>
            </a:stretch>
          </p:blipFill>
          <p:spPr>
            <a:xfrm>
              <a:off x="7143750" y="1733550"/>
              <a:ext cx="581025" cy="504825"/>
            </a:xfrm>
            <a:prstGeom prst="rect">
              <a:avLst/>
            </a:prstGeom>
          </p:spPr>
        </p:pic>
        <p:pic>
          <p:nvPicPr>
            <p:cNvPr id="1090" name="object 106">
              <a:extLst>
                <a:ext uri="{FF2B5EF4-FFF2-40B4-BE49-F238E27FC236}">
                  <a16:creationId xmlns:a16="http://schemas.microsoft.com/office/drawing/2014/main" id="{34F57955-075F-64D0-DD40-E22AEF953418}"/>
                </a:ext>
              </a:extLst>
            </p:cNvPr>
            <p:cNvPicPr/>
            <p:nvPr/>
          </p:nvPicPr>
          <p:blipFill>
            <a:blip r:embed="rId76" cstate="print">
              <a:duotone>
                <a:srgbClr val="765FFF"/>
                <a:srgbClr val="FFFFFF"/>
              </a:duotone>
            </a:blip>
            <a:stretch>
              <a:fillRect/>
            </a:stretch>
          </p:blipFill>
          <p:spPr>
            <a:xfrm>
              <a:off x="7782829" y="1657584"/>
              <a:ext cx="1133414" cy="275860"/>
            </a:xfrm>
            <a:prstGeom prst="rect">
              <a:avLst/>
            </a:prstGeom>
          </p:spPr>
        </p:pic>
      </p:grpSp>
      <p:pic>
        <p:nvPicPr>
          <p:cNvPr id="1091" name="object 107">
            <a:extLst>
              <a:ext uri="{FF2B5EF4-FFF2-40B4-BE49-F238E27FC236}">
                <a16:creationId xmlns:a16="http://schemas.microsoft.com/office/drawing/2014/main" id="{CB890AFD-2D23-477A-2563-4E7527386ACD}"/>
              </a:ext>
            </a:extLst>
          </p:cNvPr>
          <p:cNvPicPr/>
          <p:nvPr/>
        </p:nvPicPr>
        <p:blipFill>
          <a:blip r:embed="rId77" cstate="print">
            <a:duotone>
              <a:srgbClr val="765FFF"/>
              <a:srgbClr val="FFFFFF"/>
            </a:duotone>
          </a:blip>
          <a:stretch>
            <a:fillRect/>
          </a:stretch>
        </p:blipFill>
        <p:spPr>
          <a:xfrm>
            <a:off x="9486458" y="1485592"/>
            <a:ext cx="861027" cy="398206"/>
          </a:xfrm>
          <a:prstGeom prst="rect">
            <a:avLst/>
          </a:prstGeom>
        </p:spPr>
      </p:pic>
      <p:grpSp>
        <p:nvGrpSpPr>
          <p:cNvPr id="1092" name="object 108">
            <a:extLst>
              <a:ext uri="{FF2B5EF4-FFF2-40B4-BE49-F238E27FC236}">
                <a16:creationId xmlns:a16="http://schemas.microsoft.com/office/drawing/2014/main" id="{0106B1F7-928A-4BDC-CBF3-E1CF80D69598}"/>
              </a:ext>
            </a:extLst>
          </p:cNvPr>
          <p:cNvGrpSpPr/>
          <p:nvPr/>
        </p:nvGrpSpPr>
        <p:grpSpPr>
          <a:xfrm>
            <a:off x="10610850" y="1038225"/>
            <a:ext cx="1047750" cy="1133475"/>
            <a:chOff x="10610850" y="1038225"/>
            <a:chExt cx="1047750" cy="1133475"/>
          </a:xfrm>
        </p:grpSpPr>
        <p:pic>
          <p:nvPicPr>
            <p:cNvPr id="1093" name="object 109">
              <a:extLst>
                <a:ext uri="{FF2B5EF4-FFF2-40B4-BE49-F238E27FC236}">
                  <a16:creationId xmlns:a16="http://schemas.microsoft.com/office/drawing/2014/main" id="{858D5526-6359-B0F2-0C35-ADCD7861F140}"/>
                </a:ext>
              </a:extLst>
            </p:cNvPr>
            <p:cNvPicPr/>
            <p:nvPr/>
          </p:nvPicPr>
          <p:blipFill>
            <a:blip r:embed="rId78" cstate="print">
              <a:duotone>
                <a:srgbClr val="765FFF"/>
                <a:srgbClr val="FFFFFF"/>
              </a:duotone>
            </a:blip>
            <a:stretch>
              <a:fillRect/>
            </a:stretch>
          </p:blipFill>
          <p:spPr>
            <a:xfrm>
              <a:off x="10610850" y="1038225"/>
              <a:ext cx="1000125" cy="1000125"/>
            </a:xfrm>
            <a:prstGeom prst="rect">
              <a:avLst/>
            </a:prstGeom>
          </p:spPr>
        </p:pic>
        <p:pic>
          <p:nvPicPr>
            <p:cNvPr id="1094" name="object 110">
              <a:extLst>
                <a:ext uri="{FF2B5EF4-FFF2-40B4-BE49-F238E27FC236}">
                  <a16:creationId xmlns:a16="http://schemas.microsoft.com/office/drawing/2014/main" id="{D328E819-A1D6-0970-690D-A8F3325177FD}"/>
                </a:ext>
              </a:extLst>
            </p:cNvPr>
            <p:cNvPicPr/>
            <p:nvPr/>
          </p:nvPicPr>
          <p:blipFill>
            <a:blip r:embed="rId79" cstate="print">
              <a:duotone>
                <a:srgbClr val="765FFF"/>
                <a:srgbClr val="FFFFFF"/>
              </a:duotone>
            </a:blip>
            <a:stretch>
              <a:fillRect/>
            </a:stretch>
          </p:blipFill>
          <p:spPr>
            <a:xfrm>
              <a:off x="10658475" y="1838325"/>
              <a:ext cx="1000125" cy="333375"/>
            </a:xfrm>
            <a:prstGeom prst="rect">
              <a:avLst/>
            </a:prstGeom>
          </p:spPr>
        </p:pic>
      </p:grpSp>
      <p:grpSp>
        <p:nvGrpSpPr>
          <p:cNvPr id="1095" name="object 111">
            <a:extLst>
              <a:ext uri="{FF2B5EF4-FFF2-40B4-BE49-F238E27FC236}">
                <a16:creationId xmlns:a16="http://schemas.microsoft.com/office/drawing/2014/main" id="{C35FC32A-0E91-9E9E-C56D-C03EB9EDDF72}"/>
              </a:ext>
            </a:extLst>
          </p:cNvPr>
          <p:cNvGrpSpPr/>
          <p:nvPr/>
        </p:nvGrpSpPr>
        <p:grpSpPr>
          <a:xfrm>
            <a:off x="9472047" y="2861945"/>
            <a:ext cx="2122805" cy="765810"/>
            <a:chOff x="9472047" y="2861945"/>
            <a:chExt cx="2122805" cy="765810"/>
          </a:xfrm>
        </p:grpSpPr>
        <p:pic>
          <p:nvPicPr>
            <p:cNvPr id="1096" name="object 112">
              <a:extLst>
                <a:ext uri="{FF2B5EF4-FFF2-40B4-BE49-F238E27FC236}">
                  <a16:creationId xmlns:a16="http://schemas.microsoft.com/office/drawing/2014/main" id="{804B1272-A4A7-463E-CA2D-17136AA6F451}"/>
                </a:ext>
              </a:extLst>
            </p:cNvPr>
            <p:cNvPicPr/>
            <p:nvPr/>
          </p:nvPicPr>
          <p:blipFill>
            <a:blip r:embed="rId80" cstate="print">
              <a:duotone>
                <a:srgbClr val="765FFF"/>
                <a:srgbClr val="FFFFFF"/>
              </a:duotone>
            </a:blip>
            <a:stretch>
              <a:fillRect/>
            </a:stretch>
          </p:blipFill>
          <p:spPr>
            <a:xfrm>
              <a:off x="9472047" y="3177020"/>
              <a:ext cx="782180" cy="180109"/>
            </a:xfrm>
            <a:prstGeom prst="rect">
              <a:avLst/>
            </a:prstGeom>
          </p:spPr>
        </p:pic>
        <p:pic>
          <p:nvPicPr>
            <p:cNvPr id="1097" name="object 113">
              <a:extLst>
                <a:ext uri="{FF2B5EF4-FFF2-40B4-BE49-F238E27FC236}">
                  <a16:creationId xmlns:a16="http://schemas.microsoft.com/office/drawing/2014/main" id="{EFACD380-9643-E8C6-EC44-B6FF8B78278F}"/>
                </a:ext>
              </a:extLst>
            </p:cNvPr>
            <p:cNvPicPr/>
            <p:nvPr/>
          </p:nvPicPr>
          <p:blipFill>
            <a:blip r:embed="rId81" cstate="print">
              <a:duotone>
                <a:srgbClr val="765FFF"/>
                <a:srgbClr val="FFFFFF"/>
              </a:duotone>
            </a:blip>
            <a:stretch>
              <a:fillRect/>
            </a:stretch>
          </p:blipFill>
          <p:spPr>
            <a:xfrm>
              <a:off x="10182224" y="2876550"/>
              <a:ext cx="857250" cy="361950"/>
            </a:xfrm>
            <a:prstGeom prst="rect">
              <a:avLst/>
            </a:prstGeom>
          </p:spPr>
        </p:pic>
        <p:pic>
          <p:nvPicPr>
            <p:cNvPr id="1098" name="object 114">
              <a:extLst>
                <a:ext uri="{FF2B5EF4-FFF2-40B4-BE49-F238E27FC236}">
                  <a16:creationId xmlns:a16="http://schemas.microsoft.com/office/drawing/2014/main" id="{021B1F2B-D911-E625-550F-EE378C7E17F7}"/>
                </a:ext>
              </a:extLst>
            </p:cNvPr>
            <p:cNvPicPr/>
            <p:nvPr/>
          </p:nvPicPr>
          <p:blipFill>
            <a:blip r:embed="rId82" cstate="print">
              <a:duotone>
                <a:srgbClr val="765FFF"/>
                <a:srgbClr val="FFFFFF"/>
              </a:duotone>
            </a:blip>
            <a:stretch>
              <a:fillRect/>
            </a:stretch>
          </p:blipFill>
          <p:spPr>
            <a:xfrm>
              <a:off x="11072664" y="2861945"/>
              <a:ext cx="455168" cy="360341"/>
            </a:xfrm>
            <a:prstGeom prst="rect">
              <a:avLst/>
            </a:prstGeom>
          </p:spPr>
        </p:pic>
        <p:pic>
          <p:nvPicPr>
            <p:cNvPr id="1099" name="object 115">
              <a:extLst>
                <a:ext uri="{FF2B5EF4-FFF2-40B4-BE49-F238E27FC236}">
                  <a16:creationId xmlns:a16="http://schemas.microsoft.com/office/drawing/2014/main" id="{DDCE48BE-F317-B054-FB3E-8DB9D8CBBFB4}"/>
                </a:ext>
              </a:extLst>
            </p:cNvPr>
            <p:cNvPicPr/>
            <p:nvPr/>
          </p:nvPicPr>
          <p:blipFill>
            <a:blip r:embed="rId83" cstate="print">
              <a:duotone>
                <a:srgbClr val="765FFF"/>
                <a:srgbClr val="FFFFFF"/>
              </a:duotone>
            </a:blip>
            <a:stretch>
              <a:fillRect/>
            </a:stretch>
          </p:blipFill>
          <p:spPr>
            <a:xfrm>
              <a:off x="11125896" y="3332592"/>
              <a:ext cx="468351" cy="294829"/>
            </a:xfrm>
            <a:prstGeom prst="rect">
              <a:avLst/>
            </a:prstGeom>
          </p:spPr>
        </p:pic>
      </p:grpSp>
      <p:pic>
        <p:nvPicPr>
          <p:cNvPr id="1100" name="object 116">
            <a:extLst>
              <a:ext uri="{FF2B5EF4-FFF2-40B4-BE49-F238E27FC236}">
                <a16:creationId xmlns:a16="http://schemas.microsoft.com/office/drawing/2014/main" id="{6045BC12-5368-479C-594D-7D9ECF6FAFD6}"/>
              </a:ext>
            </a:extLst>
          </p:cNvPr>
          <p:cNvPicPr/>
          <p:nvPr/>
        </p:nvPicPr>
        <p:blipFill>
          <a:blip r:embed="rId84" cstate="print">
            <a:duotone>
              <a:srgbClr val="765FFF"/>
              <a:srgbClr val="FFFFFF"/>
            </a:duotone>
          </a:blip>
          <a:stretch>
            <a:fillRect/>
          </a:stretch>
        </p:blipFill>
        <p:spPr>
          <a:xfrm>
            <a:off x="9417990" y="2936081"/>
            <a:ext cx="709319" cy="123641"/>
          </a:xfrm>
          <a:prstGeom prst="rect">
            <a:avLst/>
          </a:prstGeom>
        </p:spPr>
      </p:pic>
      <p:pic>
        <p:nvPicPr>
          <p:cNvPr id="1101" name="object 117">
            <a:extLst>
              <a:ext uri="{FF2B5EF4-FFF2-40B4-BE49-F238E27FC236}">
                <a16:creationId xmlns:a16="http://schemas.microsoft.com/office/drawing/2014/main" id="{2F2F5EF8-CA6A-D358-A91D-F72C17589E59}"/>
              </a:ext>
            </a:extLst>
          </p:cNvPr>
          <p:cNvPicPr/>
          <p:nvPr/>
        </p:nvPicPr>
        <p:blipFill>
          <a:blip r:embed="rId85" cstate="print">
            <a:duotone>
              <a:srgbClr val="765FFF"/>
              <a:srgbClr val="FFFFFF"/>
            </a:duotone>
          </a:blip>
          <a:stretch>
            <a:fillRect/>
          </a:stretch>
        </p:blipFill>
        <p:spPr>
          <a:xfrm>
            <a:off x="9896475" y="3409950"/>
            <a:ext cx="933450" cy="219075"/>
          </a:xfrm>
          <a:prstGeom prst="rect">
            <a:avLst/>
          </a:prstGeom>
        </p:spPr>
      </p:pic>
      <p:pic>
        <p:nvPicPr>
          <p:cNvPr id="1102" name="object 118">
            <a:extLst>
              <a:ext uri="{FF2B5EF4-FFF2-40B4-BE49-F238E27FC236}">
                <a16:creationId xmlns:a16="http://schemas.microsoft.com/office/drawing/2014/main" id="{63256DE0-95AE-05DD-2F73-A882588B99A5}"/>
              </a:ext>
            </a:extLst>
          </p:cNvPr>
          <p:cNvPicPr/>
          <p:nvPr/>
        </p:nvPicPr>
        <p:blipFill>
          <a:blip r:embed="rId86" cstate="print">
            <a:duotone>
              <a:srgbClr val="765FFF"/>
              <a:srgbClr val="FFFFFF"/>
            </a:duotone>
          </a:blip>
          <a:stretch>
            <a:fillRect/>
          </a:stretch>
        </p:blipFill>
        <p:spPr>
          <a:xfrm>
            <a:off x="6491118" y="2766848"/>
            <a:ext cx="643106" cy="262101"/>
          </a:xfrm>
          <a:prstGeom prst="rect">
            <a:avLst/>
          </a:prstGeom>
        </p:spPr>
      </p:pic>
      <p:grpSp>
        <p:nvGrpSpPr>
          <p:cNvPr id="1103" name="object 119">
            <a:extLst>
              <a:ext uri="{FF2B5EF4-FFF2-40B4-BE49-F238E27FC236}">
                <a16:creationId xmlns:a16="http://schemas.microsoft.com/office/drawing/2014/main" id="{E27FF7F0-91B8-F008-3857-57CB6DCE423A}"/>
              </a:ext>
            </a:extLst>
          </p:cNvPr>
          <p:cNvGrpSpPr/>
          <p:nvPr/>
        </p:nvGrpSpPr>
        <p:grpSpPr>
          <a:xfrm>
            <a:off x="6438900" y="2619375"/>
            <a:ext cx="2733675" cy="1162050"/>
            <a:chOff x="6438900" y="2619375"/>
            <a:chExt cx="2733675" cy="1162050"/>
          </a:xfrm>
        </p:grpSpPr>
        <p:pic>
          <p:nvPicPr>
            <p:cNvPr id="1104" name="object 120">
              <a:extLst>
                <a:ext uri="{FF2B5EF4-FFF2-40B4-BE49-F238E27FC236}">
                  <a16:creationId xmlns:a16="http://schemas.microsoft.com/office/drawing/2014/main" id="{923D6CF6-C822-DBC6-9456-CA074794AFE3}"/>
                </a:ext>
              </a:extLst>
            </p:cNvPr>
            <p:cNvPicPr/>
            <p:nvPr/>
          </p:nvPicPr>
          <p:blipFill>
            <a:blip r:embed="rId87" cstate="print">
              <a:duotone>
                <a:srgbClr val="765FFF"/>
                <a:srgbClr val="FFFFFF"/>
              </a:duotone>
            </a:blip>
            <a:stretch>
              <a:fillRect/>
            </a:stretch>
          </p:blipFill>
          <p:spPr>
            <a:xfrm>
              <a:off x="6550231" y="3122715"/>
              <a:ext cx="952005" cy="256309"/>
            </a:xfrm>
            <a:prstGeom prst="rect">
              <a:avLst/>
            </a:prstGeom>
          </p:spPr>
        </p:pic>
        <p:pic>
          <p:nvPicPr>
            <p:cNvPr id="1105" name="object 121">
              <a:extLst>
                <a:ext uri="{FF2B5EF4-FFF2-40B4-BE49-F238E27FC236}">
                  <a16:creationId xmlns:a16="http://schemas.microsoft.com/office/drawing/2014/main" id="{9B10F277-422A-3435-9E08-FCDC22C7D634}"/>
                </a:ext>
              </a:extLst>
            </p:cNvPr>
            <p:cNvPicPr/>
            <p:nvPr/>
          </p:nvPicPr>
          <p:blipFill>
            <a:blip r:embed="rId88" cstate="print">
              <a:duotone>
                <a:srgbClr val="765FFF"/>
                <a:srgbClr val="FFFFFF"/>
              </a:duotone>
            </a:blip>
            <a:stretch>
              <a:fillRect/>
            </a:stretch>
          </p:blipFill>
          <p:spPr>
            <a:xfrm>
              <a:off x="7515225" y="2933700"/>
              <a:ext cx="533400" cy="228600"/>
            </a:xfrm>
            <a:prstGeom prst="rect">
              <a:avLst/>
            </a:prstGeom>
          </p:spPr>
        </p:pic>
        <p:pic>
          <p:nvPicPr>
            <p:cNvPr id="1106" name="object 122">
              <a:extLst>
                <a:ext uri="{FF2B5EF4-FFF2-40B4-BE49-F238E27FC236}">
                  <a16:creationId xmlns:a16="http://schemas.microsoft.com/office/drawing/2014/main" id="{EE1274C9-9F80-E563-7275-02BF0B1D4AAA}"/>
                </a:ext>
              </a:extLst>
            </p:cNvPr>
            <p:cNvPicPr/>
            <p:nvPr/>
          </p:nvPicPr>
          <p:blipFill>
            <a:blip r:embed="rId89" cstate="print">
              <a:duotone>
                <a:srgbClr val="765FFF"/>
                <a:srgbClr val="FFFFFF"/>
              </a:duotone>
            </a:blip>
            <a:stretch>
              <a:fillRect/>
            </a:stretch>
          </p:blipFill>
          <p:spPr>
            <a:xfrm>
              <a:off x="7581900" y="3229856"/>
              <a:ext cx="933450" cy="335756"/>
            </a:xfrm>
            <a:prstGeom prst="rect">
              <a:avLst/>
            </a:prstGeom>
          </p:spPr>
        </p:pic>
        <p:pic>
          <p:nvPicPr>
            <p:cNvPr id="1107" name="object 123">
              <a:extLst>
                <a:ext uri="{FF2B5EF4-FFF2-40B4-BE49-F238E27FC236}">
                  <a16:creationId xmlns:a16="http://schemas.microsoft.com/office/drawing/2014/main" id="{B2346DDC-07AE-D772-0205-E74B39A156EC}"/>
                </a:ext>
              </a:extLst>
            </p:cNvPr>
            <p:cNvPicPr/>
            <p:nvPr/>
          </p:nvPicPr>
          <p:blipFill>
            <a:blip r:embed="rId90" cstate="print">
              <a:duotone>
                <a:srgbClr val="765FFF"/>
                <a:srgbClr val="FFFFFF"/>
              </a:duotone>
            </a:blip>
            <a:stretch>
              <a:fillRect/>
            </a:stretch>
          </p:blipFill>
          <p:spPr>
            <a:xfrm>
              <a:off x="8267700" y="3009900"/>
              <a:ext cx="866775" cy="285750"/>
            </a:xfrm>
            <a:prstGeom prst="rect">
              <a:avLst/>
            </a:prstGeom>
          </p:spPr>
        </p:pic>
        <p:pic>
          <p:nvPicPr>
            <p:cNvPr id="1108" name="object 124">
              <a:extLst>
                <a:ext uri="{FF2B5EF4-FFF2-40B4-BE49-F238E27FC236}">
                  <a16:creationId xmlns:a16="http://schemas.microsoft.com/office/drawing/2014/main" id="{A95586D3-4AAA-CBAF-7836-84799B552ED7}"/>
                </a:ext>
              </a:extLst>
            </p:cNvPr>
            <p:cNvPicPr/>
            <p:nvPr/>
          </p:nvPicPr>
          <p:blipFill>
            <a:blip r:embed="rId91" cstate="print">
              <a:duotone>
                <a:srgbClr val="765FFF"/>
                <a:srgbClr val="FFFFFF"/>
              </a:duotone>
            </a:blip>
            <a:stretch>
              <a:fillRect/>
            </a:stretch>
          </p:blipFill>
          <p:spPr>
            <a:xfrm>
              <a:off x="6438900" y="3465449"/>
              <a:ext cx="619125" cy="195071"/>
            </a:xfrm>
            <a:prstGeom prst="rect">
              <a:avLst/>
            </a:prstGeom>
          </p:spPr>
        </p:pic>
        <p:pic>
          <p:nvPicPr>
            <p:cNvPr id="1109" name="object 125">
              <a:extLst>
                <a:ext uri="{FF2B5EF4-FFF2-40B4-BE49-F238E27FC236}">
                  <a16:creationId xmlns:a16="http://schemas.microsoft.com/office/drawing/2014/main" id="{98FC0C80-1DA0-64F5-659C-4EC259180566}"/>
                </a:ext>
              </a:extLst>
            </p:cNvPr>
            <p:cNvPicPr/>
            <p:nvPr/>
          </p:nvPicPr>
          <p:blipFill>
            <a:blip r:embed="rId92" cstate="print">
              <a:duotone>
                <a:srgbClr val="765FFF"/>
                <a:srgbClr val="FFFFFF"/>
              </a:duotone>
            </a:blip>
            <a:stretch>
              <a:fillRect/>
            </a:stretch>
          </p:blipFill>
          <p:spPr>
            <a:xfrm>
              <a:off x="7086600" y="3419475"/>
              <a:ext cx="504825" cy="342900"/>
            </a:xfrm>
            <a:prstGeom prst="rect">
              <a:avLst/>
            </a:prstGeom>
          </p:spPr>
        </p:pic>
        <p:pic>
          <p:nvPicPr>
            <p:cNvPr id="1110" name="object 126">
              <a:extLst>
                <a:ext uri="{FF2B5EF4-FFF2-40B4-BE49-F238E27FC236}">
                  <a16:creationId xmlns:a16="http://schemas.microsoft.com/office/drawing/2014/main" id="{714D2A20-E7DC-AEE3-E532-6EBC1D7CC1F1}"/>
                </a:ext>
              </a:extLst>
            </p:cNvPr>
            <p:cNvPicPr/>
            <p:nvPr/>
          </p:nvPicPr>
          <p:blipFill>
            <a:blip r:embed="rId93" cstate="print">
              <a:duotone>
                <a:srgbClr val="765FFF"/>
                <a:srgbClr val="FFFFFF"/>
              </a:duotone>
            </a:blip>
            <a:stretch>
              <a:fillRect/>
            </a:stretch>
          </p:blipFill>
          <p:spPr>
            <a:xfrm>
              <a:off x="8353425" y="3305175"/>
              <a:ext cx="819150" cy="476250"/>
            </a:xfrm>
            <a:prstGeom prst="rect">
              <a:avLst/>
            </a:prstGeom>
          </p:spPr>
        </p:pic>
        <p:pic>
          <p:nvPicPr>
            <p:cNvPr id="1111" name="object 127">
              <a:extLst>
                <a:ext uri="{FF2B5EF4-FFF2-40B4-BE49-F238E27FC236}">
                  <a16:creationId xmlns:a16="http://schemas.microsoft.com/office/drawing/2014/main" id="{55FEC340-A884-F00A-2DBA-425570FC4CD5}"/>
                </a:ext>
              </a:extLst>
            </p:cNvPr>
            <p:cNvPicPr/>
            <p:nvPr/>
          </p:nvPicPr>
          <p:blipFill>
            <a:blip r:embed="rId94" cstate="print">
              <a:duotone>
                <a:srgbClr val="765FFF"/>
                <a:srgbClr val="FFFFFF"/>
              </a:duotone>
            </a:blip>
            <a:stretch>
              <a:fillRect/>
            </a:stretch>
          </p:blipFill>
          <p:spPr>
            <a:xfrm>
              <a:off x="8424655" y="2619375"/>
              <a:ext cx="496956" cy="327837"/>
            </a:xfrm>
            <a:prstGeom prst="rect">
              <a:avLst/>
            </a:prstGeom>
          </p:spPr>
        </p:pic>
      </p:grpSp>
      <p:sp>
        <p:nvSpPr>
          <p:cNvPr id="1112" name="object 128">
            <a:extLst>
              <a:ext uri="{FF2B5EF4-FFF2-40B4-BE49-F238E27FC236}">
                <a16:creationId xmlns:a16="http://schemas.microsoft.com/office/drawing/2014/main" id="{50D66C43-1388-0AD6-983D-A2B98BF1423C}"/>
              </a:ext>
            </a:extLst>
          </p:cNvPr>
          <p:cNvSpPr txBox="1"/>
          <p:nvPr/>
        </p:nvSpPr>
        <p:spPr>
          <a:xfrm>
            <a:off x="6405626" y="2462276"/>
            <a:ext cx="2686050" cy="1343025"/>
          </a:xfrm>
          <a:prstGeom prst="rect">
            <a:avLst/>
          </a:prstGeom>
          <a:ln w="12700">
            <a:solidFill>
              <a:srgbClr val="765FFF"/>
            </a:solidFill>
          </a:ln>
        </p:spPr>
        <p:txBody>
          <a:bodyPr vert="horz" wrap="square" lIns="0" tIns="54610" rIns="0" bIns="0" rtlCol="0">
            <a:spAutoFit/>
          </a:bodyPr>
          <a:lstStyle/>
          <a:p>
            <a:pPr marL="92710">
              <a:lnSpc>
                <a:spcPct val="100000"/>
              </a:lnSpc>
              <a:spcBef>
                <a:spcPts val="430"/>
              </a:spcBef>
            </a:pPr>
            <a:r>
              <a:rPr sz="1200" b="1" spc="-10" dirty="0">
                <a:solidFill>
                  <a:srgbClr val="281A42"/>
                </a:solidFill>
                <a:latin typeface="Segoe UI" pitchFamily="34" charset="0"/>
                <a:cs typeface="Arial"/>
              </a:rPr>
              <a:t>ENERGY &amp; INDUSTRIAL</a:t>
            </a:r>
            <a:endParaRPr sz="1200" spc="-10" dirty="0">
              <a:latin typeface="Arial" pitchFamily="34" charset="0"/>
              <a:cs typeface="Arial"/>
            </a:endParaRPr>
          </a:p>
        </p:txBody>
      </p:sp>
      <p:sp>
        <p:nvSpPr>
          <p:cNvPr id="1113" name="object 129">
            <a:extLst>
              <a:ext uri="{FF2B5EF4-FFF2-40B4-BE49-F238E27FC236}">
                <a16:creationId xmlns:a16="http://schemas.microsoft.com/office/drawing/2014/main" id="{8687FDF7-5FBE-B095-F6E9-0708E06BB3B7}"/>
              </a:ext>
            </a:extLst>
          </p:cNvPr>
          <p:cNvSpPr txBox="1"/>
          <p:nvPr/>
        </p:nvSpPr>
        <p:spPr>
          <a:xfrm>
            <a:off x="9263126" y="2471801"/>
            <a:ext cx="2676525" cy="1343025"/>
          </a:xfrm>
          <a:prstGeom prst="rect">
            <a:avLst/>
          </a:prstGeom>
          <a:ln w="12700">
            <a:solidFill>
              <a:srgbClr val="765FFF"/>
            </a:solidFill>
          </a:ln>
        </p:spPr>
        <p:txBody>
          <a:bodyPr vert="horz" wrap="square" lIns="0" tIns="61594" rIns="0" bIns="0" rtlCol="0">
            <a:spAutoFit/>
          </a:bodyPr>
          <a:lstStyle/>
          <a:p>
            <a:pPr marL="80645">
              <a:lnSpc>
                <a:spcPct val="100000"/>
              </a:lnSpc>
              <a:spcBef>
                <a:spcPts val="484"/>
              </a:spcBef>
            </a:pPr>
            <a:r>
              <a:rPr sz="1200" b="1" spc="-10" dirty="0">
                <a:solidFill>
                  <a:srgbClr val="281A42"/>
                </a:solidFill>
                <a:latin typeface="Segoe UI" pitchFamily="34" charset="0"/>
                <a:cs typeface="Arial"/>
              </a:rPr>
              <a:t>IT SERVICES</a:t>
            </a:r>
            <a:endParaRPr sz="1200" spc="-10" dirty="0">
              <a:latin typeface="Arial" pitchFamily="34" charset="0"/>
              <a:cs typeface="Arial"/>
            </a:endParaRPr>
          </a:p>
        </p:txBody>
      </p:sp>
      <p:pic>
        <p:nvPicPr>
          <p:cNvPr id="1114" name="object 130">
            <a:extLst>
              <a:ext uri="{FF2B5EF4-FFF2-40B4-BE49-F238E27FC236}">
                <a16:creationId xmlns:a16="http://schemas.microsoft.com/office/drawing/2014/main" id="{67E3AE0C-73EB-54AD-9283-02629EE8ED9B}"/>
              </a:ext>
            </a:extLst>
          </p:cNvPr>
          <p:cNvPicPr/>
          <p:nvPr/>
        </p:nvPicPr>
        <p:blipFill>
          <a:blip r:embed="rId95" cstate="print">
            <a:duotone>
              <a:srgbClr val="765FFF"/>
              <a:srgbClr val="FFFFFF"/>
            </a:duotone>
          </a:blip>
          <a:stretch>
            <a:fillRect/>
          </a:stretch>
        </p:blipFill>
        <p:spPr>
          <a:xfrm>
            <a:off x="9315450" y="1957880"/>
            <a:ext cx="1085850" cy="283779"/>
          </a:xfrm>
          <a:prstGeom prst="rect">
            <a:avLst/>
          </a:prstGeom>
        </p:spPr>
      </p:pic>
      <p:sp>
        <p:nvSpPr>
          <p:cNvPr id="1115" name="Rectangle 1114">
            <a:extLst>
              <a:ext uri="{FF2B5EF4-FFF2-40B4-BE49-F238E27FC236}">
                <a16:creationId xmlns:a16="http://schemas.microsoft.com/office/drawing/2014/main" id="{A80BC48F-EA9C-8110-F1C1-B8AD36F1105C}"/>
              </a:ext>
            </a:extLst>
          </p:cNvPr>
          <p:cNvSpPr/>
          <p:nvPr/>
        </p:nvSpPr>
        <p:spPr>
          <a:xfrm>
            <a:off x="10602410" y="1323975"/>
            <a:ext cx="995423" cy="321392"/>
          </a:xfrm>
          <a:prstGeom prst="rect">
            <a:avLst/>
          </a:prstGeom>
          <a:solidFill>
            <a:srgbClr val="F2F2F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b="1" spc="-25" dirty="0">
              <a:latin typeface="Segoe UI" pitchFamily="34" charset="0"/>
            </a:endParaRPr>
          </a:p>
        </p:txBody>
      </p:sp>
      <p:sp>
        <p:nvSpPr>
          <p:cNvPr id="4" name="TextBox 3">
            <a:extLst>
              <a:ext uri="{FF2B5EF4-FFF2-40B4-BE49-F238E27FC236}">
                <a16:creationId xmlns:a16="http://schemas.microsoft.com/office/drawing/2014/main" id="{6B022881-16F9-B0F2-43EE-27482E81D7B1}"/>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Tree>
    <p:extLst>
      <p:ext uri="{BB962C8B-B14F-4D97-AF65-F5344CB8AC3E}">
        <p14:creationId xmlns:p14="http://schemas.microsoft.com/office/powerpoint/2010/main" val="33294767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CA757-AE9A-E2C5-A9C4-2C7ADA786E0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CF18F78-C5D9-9ACB-763C-BA0EA2A1B535}"/>
              </a:ext>
            </a:extLst>
          </p:cNvPr>
          <p:cNvSpPr>
            <a:spLocks noGrp="1"/>
          </p:cNvSpPr>
          <p:nvPr>
            <p:ph type="title" sz="quarter"/>
          </p:nvPr>
        </p:nvSpPr>
        <p:spPr/>
        <p:txBody>
          <a:bodyPr/>
          <a:lstStyle/>
          <a:p>
            <a:r>
              <a:t>Ceo-led Transformation</a:t>
            </a:r>
          </a:p>
        </p:txBody>
      </p:sp>
      <p:sp>
        <p:nvSpPr>
          <p:cNvPr id="4" name="Rectangle: Rounded Corners 3">
            <a:extLst>
              <a:ext uri="{FF2B5EF4-FFF2-40B4-BE49-F238E27FC236}">
                <a16:creationId xmlns:a16="http://schemas.microsoft.com/office/drawing/2014/main" id="{4D0DF574-42DC-39D0-33A7-B88930409583}"/>
              </a:ext>
            </a:extLst>
          </p:cNvPr>
          <p:cNvSpPr/>
          <p:nvPr/>
        </p:nvSpPr>
        <p:spPr>
          <a:xfrm>
            <a:off x="736124" y="1384980"/>
            <a:ext cx="3604161" cy="4775200"/>
          </a:xfrm>
          <a:prstGeom prst="roundRect">
            <a:avLst>
              <a:gd name="adj" fmla="val 7858"/>
            </a:avLst>
          </a:prstGeom>
          <a:solidFill>
            <a:srgbClr val="FFFFFF">
              <a:lumMod val="95000"/>
            </a:srgbClr>
          </a:solidFill>
          <a:ln w="12700" cap="flat" cmpd="sng" algn="ctr">
            <a:solidFill>
              <a:srgbClr val="FFFFFF">
                <a:lumMod val="95000"/>
              </a:srgbClr>
            </a:solid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5" name="Rectangle: Rounded Corners 4">
            <a:extLst>
              <a:ext uri="{FF2B5EF4-FFF2-40B4-BE49-F238E27FC236}">
                <a16:creationId xmlns:a16="http://schemas.microsoft.com/office/drawing/2014/main" id="{D706E2BA-E333-4789-17BC-CB302FA7BDEC}"/>
              </a:ext>
            </a:extLst>
          </p:cNvPr>
          <p:cNvSpPr/>
          <p:nvPr/>
        </p:nvSpPr>
        <p:spPr>
          <a:xfrm>
            <a:off x="8232640" y="1384980"/>
            <a:ext cx="3604161" cy="4775200"/>
          </a:xfrm>
          <a:prstGeom prst="roundRect">
            <a:avLst>
              <a:gd name="adj" fmla="val 7858"/>
            </a:avLst>
          </a:prstGeom>
          <a:solidFill>
            <a:srgbClr val="FFFFFF">
              <a:lumMod val="95000"/>
            </a:srgbClr>
          </a:solidFill>
          <a:ln w="12700" cap="flat" cmpd="sng" algn="ctr">
            <a:solidFill>
              <a:srgbClr val="FFFFFF">
                <a:lumMod val="95000"/>
              </a:srgbClr>
            </a:solid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6" name="Rectangle: Rounded Corners 5">
            <a:extLst>
              <a:ext uri="{FF2B5EF4-FFF2-40B4-BE49-F238E27FC236}">
                <a16:creationId xmlns:a16="http://schemas.microsoft.com/office/drawing/2014/main" id="{C134D02B-9CFA-5103-8132-11C3F30803DF}"/>
              </a:ext>
            </a:extLst>
          </p:cNvPr>
          <p:cNvSpPr/>
          <p:nvPr/>
        </p:nvSpPr>
        <p:spPr>
          <a:xfrm>
            <a:off x="4484382" y="1384980"/>
            <a:ext cx="3604161" cy="4775200"/>
          </a:xfrm>
          <a:prstGeom prst="roundRect">
            <a:avLst>
              <a:gd name="adj" fmla="val 7858"/>
            </a:avLst>
          </a:prstGeom>
          <a:solidFill>
            <a:srgbClr val="FFFFFF">
              <a:lumMod val="95000"/>
            </a:srgbClr>
          </a:solidFill>
          <a:ln w="12700" cap="flat" cmpd="sng" algn="ctr">
            <a:solidFill>
              <a:srgbClr val="FFFFFF">
                <a:lumMod val="95000"/>
              </a:srgbClr>
            </a:solid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7" name="TextBox 6">
            <a:extLst>
              <a:ext uri="{FF2B5EF4-FFF2-40B4-BE49-F238E27FC236}">
                <a16:creationId xmlns:a16="http://schemas.microsoft.com/office/drawing/2014/main" id="{CCABAFE7-E936-D0B1-D835-B54E2579003B}"/>
              </a:ext>
            </a:extLst>
          </p:cNvPr>
          <p:cNvSpPr txBox="1"/>
          <p:nvPr/>
        </p:nvSpPr>
        <p:spPr>
          <a:xfrm>
            <a:off x="1604195" y="1630530"/>
            <a:ext cx="1877245" cy="318100"/>
          </a:xfrm>
          <a:prstGeom prst="rect">
            <a:avLst/>
          </a:prstGeom>
          <a:noFill/>
        </p:spPr>
        <p:txBody>
          <a:bodyPr wrap="non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10" normalizeH="0" baseline="0" noProof="0" dirty="0">
                <a:ln>
                  <a:noFill/>
                </a:ln>
                <a:solidFill>
                  <a:srgbClr val="281A42"/>
                </a:solidFill>
                <a:effectLst/>
                <a:uLnTx/>
                <a:uFillTx/>
                <a:latin typeface="Segoe UI" pitchFamily="34" charset="0"/>
                <a:ea typeface="Lato Light" panose="020F0502020204030203" pitchFamily="34" charset="0"/>
                <a:cs typeface="Arial" panose="020B0604020202020204" pitchFamily="34" charset="0"/>
              </a:rPr>
              <a:t>DOING TOO MUCH</a:t>
            </a:r>
          </a:p>
        </p:txBody>
      </p:sp>
      <p:sp>
        <p:nvSpPr>
          <p:cNvPr id="8" name="TextBox 7">
            <a:extLst>
              <a:ext uri="{FF2B5EF4-FFF2-40B4-BE49-F238E27FC236}">
                <a16:creationId xmlns:a16="http://schemas.microsoft.com/office/drawing/2014/main" id="{90C8C99A-7772-17BD-A949-F142C171FAB7}"/>
              </a:ext>
            </a:extLst>
          </p:cNvPr>
          <p:cNvSpPr txBox="1"/>
          <p:nvPr/>
        </p:nvSpPr>
        <p:spPr>
          <a:xfrm>
            <a:off x="4818756" y="1635808"/>
            <a:ext cx="2935419" cy="318100"/>
          </a:xfrm>
          <a:prstGeom prst="rect">
            <a:avLst/>
          </a:prstGeom>
          <a:noFill/>
        </p:spPr>
        <p:txBody>
          <a:bodyPr wrap="non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Arial" panose="020B0604020202020204" pitchFamily="34" charset="0"/>
              </a:rPr>
              <a:t>PICKED THE WRONG PEOPLE</a:t>
            </a:r>
          </a:p>
        </p:txBody>
      </p:sp>
      <p:sp>
        <p:nvSpPr>
          <p:cNvPr id="9" name="TextBox 8">
            <a:extLst>
              <a:ext uri="{FF2B5EF4-FFF2-40B4-BE49-F238E27FC236}">
                <a16:creationId xmlns:a16="http://schemas.microsoft.com/office/drawing/2014/main" id="{7A943DA6-B57D-54D9-C58B-F67F2FBCB66A}"/>
              </a:ext>
            </a:extLst>
          </p:cNvPr>
          <p:cNvSpPr txBox="1"/>
          <p:nvPr/>
        </p:nvSpPr>
        <p:spPr>
          <a:xfrm>
            <a:off x="8699335" y="1630529"/>
            <a:ext cx="2670763" cy="543867"/>
          </a:xfrm>
          <a:prstGeom prst="rect">
            <a:avLst/>
          </a:prstGeom>
          <a:noFill/>
        </p:spPr>
        <p:txBody>
          <a:bodyPr wrap="squar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Arial" panose="020B0604020202020204" pitchFamily="34" charset="0"/>
              </a:rPr>
              <a:t>NOT ENOUGH TALENT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Arial" panose="020B0604020202020204" pitchFamily="34" charset="0"/>
              </a:rPr>
              <a:t>AT THE PROBLEM</a:t>
            </a:r>
          </a:p>
        </p:txBody>
      </p:sp>
      <p:pic>
        <p:nvPicPr>
          <p:cNvPr id="10" name="Picture 9">
            <a:extLst>
              <a:ext uri="{FF2B5EF4-FFF2-40B4-BE49-F238E27FC236}">
                <a16:creationId xmlns:a16="http://schemas.microsoft.com/office/drawing/2014/main" id="{CF5FA2B6-E1A6-952A-DA5F-697EA3FDB375}"/>
              </a:ext>
            </a:extLst>
          </p:cNvPr>
          <p:cNvPicPr>
            <a:picLocks noChangeAspect="1"/>
          </p:cNvPicPr>
          <p:nvPr/>
        </p:nvPicPr>
        <p:blipFill>
          <a:blip r:embed="rId3">
            <a:duotone>
              <a:srgbClr val="765FFF"/>
              <a:srgbClr val="FFFFFF"/>
            </a:duotone>
          </a:blip>
          <a:stretch>
            <a:fillRect/>
          </a:stretch>
        </p:blipFill>
        <p:spPr>
          <a:xfrm>
            <a:off x="1641256" y="2370052"/>
            <a:ext cx="509232" cy="509232"/>
          </a:xfrm>
          <a:prstGeom prst="rect">
            <a:avLst/>
          </a:prstGeom>
        </p:spPr>
      </p:pic>
      <p:sp>
        <p:nvSpPr>
          <p:cNvPr id="11" name="TextBox 10">
            <a:extLst>
              <a:ext uri="{FF2B5EF4-FFF2-40B4-BE49-F238E27FC236}">
                <a16:creationId xmlns:a16="http://schemas.microsoft.com/office/drawing/2014/main" id="{B544088F-94C4-2B67-F68B-79607926BB89}"/>
              </a:ext>
            </a:extLst>
          </p:cNvPr>
          <p:cNvSpPr txBox="1"/>
          <p:nvPr/>
        </p:nvSpPr>
        <p:spPr>
          <a:xfrm>
            <a:off x="2294585" y="2336033"/>
            <a:ext cx="1059906" cy="461665"/>
          </a:xfrm>
          <a:prstGeom prst="rect">
            <a:avLst/>
          </a:prstGeom>
          <a:noFill/>
        </p:spPr>
        <p:txBody>
          <a:bodyPr wrap="none" lIns="91440" tIns="45720" rIns="91440" bIns="4572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Think </a:t>
            </a:r>
            <a:r>
              <a:rPr kumimoji="0" lang="en-US" sz="2400"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rPr>
              <a:t>BIG</a:t>
            </a:r>
            <a:endParaRPr kumimoji="0" lang="en-US" sz="933"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endParaRPr>
          </a:p>
        </p:txBody>
      </p:sp>
      <p:sp>
        <p:nvSpPr>
          <p:cNvPr id="12" name="TextBox 11">
            <a:extLst>
              <a:ext uri="{FF2B5EF4-FFF2-40B4-BE49-F238E27FC236}">
                <a16:creationId xmlns:a16="http://schemas.microsoft.com/office/drawing/2014/main" id="{6A61A9AE-B3E3-75E5-7DA3-D4249B197117}"/>
              </a:ext>
            </a:extLst>
          </p:cNvPr>
          <p:cNvSpPr txBox="1"/>
          <p:nvPr/>
        </p:nvSpPr>
        <p:spPr>
          <a:xfrm>
            <a:off x="2294587" y="2938605"/>
            <a:ext cx="1019831" cy="461665"/>
          </a:xfrm>
          <a:prstGeom prst="rect">
            <a:avLst/>
          </a:prstGeom>
          <a:noFill/>
        </p:spPr>
        <p:txBody>
          <a:bodyPr wrap="none" lIns="91440" tIns="45720" rIns="91440" bIns="4572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Start </a:t>
            </a:r>
            <a:r>
              <a:rPr kumimoji="0" lang="en-US" sz="2400"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rPr>
              <a:t>BIG</a:t>
            </a:r>
            <a:endParaRPr kumimoji="0" lang="en-US" sz="933"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endParaRPr>
          </a:p>
        </p:txBody>
      </p:sp>
      <p:sp>
        <p:nvSpPr>
          <p:cNvPr id="13" name="TextBox 12">
            <a:extLst>
              <a:ext uri="{FF2B5EF4-FFF2-40B4-BE49-F238E27FC236}">
                <a16:creationId xmlns:a16="http://schemas.microsoft.com/office/drawing/2014/main" id="{8272CA1A-3C59-2518-C895-351F32711FD2}"/>
              </a:ext>
            </a:extLst>
          </p:cNvPr>
          <p:cNvSpPr txBox="1"/>
          <p:nvPr/>
        </p:nvSpPr>
        <p:spPr>
          <a:xfrm>
            <a:off x="1938495" y="3642743"/>
            <a:ext cx="2275875" cy="461665"/>
          </a:xfrm>
          <a:prstGeom prst="rect">
            <a:avLst/>
          </a:prstGeom>
          <a:noFill/>
        </p:spPr>
        <p:txBody>
          <a:bodyPr wrap="square" lIns="91440" tIns="45720" rIns="91440" bIns="4572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Move </a:t>
            </a:r>
            <a:r>
              <a:rPr kumimoji="0" lang="en-US" sz="2400"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rPr>
              <a:t>s...l...o...w</a:t>
            </a:r>
            <a:endParaRPr kumimoji="0" lang="en-US" sz="933" b="1" i="0" u="none" strike="noStrike" kern="1200" cap="none" spc="-10" normalizeH="0" baseline="0" noProof="0" dirty="0">
              <a:ln>
                <a:noFill/>
              </a:ln>
              <a:solidFill>
                <a:srgbClr val="281A42"/>
              </a:solidFill>
              <a:effectLst/>
              <a:uLnTx/>
              <a:uFillTx/>
              <a:latin typeface="Segoe UI" pitchFamily="34" charset="0"/>
              <a:ea typeface="+mn-ea"/>
              <a:cs typeface="Arial" panose="020B0604020202020204" pitchFamily="34" charset="0"/>
            </a:endParaRPr>
          </a:p>
        </p:txBody>
      </p:sp>
      <p:pic>
        <p:nvPicPr>
          <p:cNvPr id="14" name="Picture 2">
            <a:extLst>
              <a:ext uri="{FF2B5EF4-FFF2-40B4-BE49-F238E27FC236}">
                <a16:creationId xmlns:a16="http://schemas.microsoft.com/office/drawing/2014/main" id="{5852C172-1EFF-DD71-0A1C-75B34F553EC8}"/>
              </a:ext>
            </a:extLst>
          </p:cNvPr>
          <p:cNvPicPr>
            <a:picLocks noChangeAspect="1" noChangeArrowheads="1"/>
          </p:cNvPicPr>
          <p:nvPr/>
        </p:nvPicPr>
        <p:blipFill>
          <a:blip r:embed="rId4">
            <a:duotone>
              <a:srgbClr val="765FFF"/>
              <a:srgbClr val="FFFFFF"/>
            </a:duotone>
          </a:blip>
          <a:srcRect/>
          <a:stretch/>
        </p:blipFill>
        <p:spPr bwMode="auto">
          <a:xfrm>
            <a:off x="1637220" y="3017037"/>
            <a:ext cx="464496" cy="57110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61B22182-1560-7E62-DD50-54262863DFFC}"/>
              </a:ext>
            </a:extLst>
          </p:cNvPr>
          <p:cNvPicPr>
            <a:picLocks noChangeAspect="1"/>
          </p:cNvPicPr>
          <p:nvPr/>
        </p:nvPicPr>
        <p:blipFill>
          <a:blip r:embed="rId5">
            <a:duotone>
              <a:srgbClr val="765FFF"/>
              <a:srgbClr val="FFFFFF"/>
            </a:duotone>
          </a:blip>
          <a:stretch>
            <a:fillRect/>
          </a:stretch>
        </p:blipFill>
        <p:spPr>
          <a:xfrm>
            <a:off x="1032025" y="3523379"/>
            <a:ext cx="824652" cy="824652"/>
          </a:xfrm>
          <a:prstGeom prst="rect">
            <a:avLst/>
          </a:prstGeom>
        </p:spPr>
      </p:pic>
      <p:sp>
        <p:nvSpPr>
          <p:cNvPr id="16" name="TextBox 15">
            <a:extLst>
              <a:ext uri="{FF2B5EF4-FFF2-40B4-BE49-F238E27FC236}">
                <a16:creationId xmlns:a16="http://schemas.microsoft.com/office/drawing/2014/main" id="{1A7B3B67-E365-90A6-798C-97A4C21AAA56}"/>
              </a:ext>
            </a:extLst>
          </p:cNvPr>
          <p:cNvSpPr>
            <a:spLocks noGrp="1"/>
          </p:cNvSpPr>
          <p:nvPr>
            <p:ph idx="1"/>
          </p:nvPr>
        </p:nvSpPr>
        <p:spPr>
          <a:xfrm>
            <a:off x="1000722" y="4806042"/>
            <a:ext cx="2992313" cy="502573"/>
          </a:xfrm>
          <a:prstGeom prst="rect">
            <a:avLst/>
          </a:prstGeom>
          <a:noFill/>
        </p:spPr>
        <p:txBody>
          <a:bodyPr wrap="square" rtlCol="0">
            <a:spAutoFit/>
          </a:bodyPr>
          <a:lstStyle/>
          <a:p>
            <a:pPr marL="285744" marR="0" lvl="0" indent="-285744" algn="l" defTabSz="914377" rtl="0" eaLnBrk="1" fontAlgn="auto" latinLnBrk="0" hangingPunct="1">
              <a:lnSpc>
                <a:spcPct val="100000"/>
              </a:lnSpc>
              <a:spcBef>
                <a:spcPts val="0"/>
              </a:spcBef>
              <a:spcAft>
                <a:spcPts val="0"/>
              </a:spcAft>
              <a:buBlip>
                <a:blip r:embed="rId6"/>
              </a:buBlip>
              <a:tabLst/>
              <a:defRPr/>
            </a:pPr>
            <a:r>
              <a:rPr kumimoji="0" lang="en-US" sz="1333"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Arial" panose="020B0604020202020204" pitchFamily="34" charset="0"/>
              </a:rPr>
              <a:t>Starting more initiatives than there is capacity</a:t>
            </a:r>
          </a:p>
        </p:txBody>
      </p:sp>
      <p:sp>
        <p:nvSpPr>
          <p:cNvPr id="17" name="Oval 16">
            <a:extLst>
              <a:ext uri="{FF2B5EF4-FFF2-40B4-BE49-F238E27FC236}">
                <a16:creationId xmlns:a16="http://schemas.microsoft.com/office/drawing/2014/main" id="{9E320F67-EA88-05EF-7231-704205C42CCE}"/>
              </a:ext>
            </a:extLst>
          </p:cNvPr>
          <p:cNvSpPr/>
          <p:nvPr/>
        </p:nvSpPr>
        <p:spPr>
          <a:xfrm>
            <a:off x="634961" y="1296081"/>
            <a:ext cx="365760" cy="369332"/>
          </a:xfrm>
          <a:prstGeom prst="ellipse">
            <a:avLst/>
          </a:prstGeom>
          <a:solidFill>
            <a:srgbClr val="281A42"/>
          </a:solidFill>
          <a:ln w="12700" cap="flat" cmpd="sng" algn="ctr">
            <a:no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67" b="1" i="0" u="none" strike="noStrike" kern="0" cap="none" spc="-25" normalizeH="0" baseline="0" noProof="0" dirty="0">
                <a:ln>
                  <a:noFill/>
                </a:ln>
                <a:solidFill>
                  <a:srgbClr val="FFFFFF"/>
                </a:solidFill>
                <a:effectLst/>
                <a:uLnTx/>
                <a:uFillTx/>
                <a:latin typeface="Segoe UI" pitchFamily="34" charset="0"/>
                <a:ea typeface="+mn-ea"/>
                <a:cs typeface="Arial" panose="020B0604020202020204" pitchFamily="34" charset="0"/>
              </a:rPr>
              <a:t>1</a:t>
            </a:r>
          </a:p>
        </p:txBody>
      </p:sp>
      <p:sp>
        <p:nvSpPr>
          <p:cNvPr id="18" name="Oval 17">
            <a:extLst>
              <a:ext uri="{FF2B5EF4-FFF2-40B4-BE49-F238E27FC236}">
                <a16:creationId xmlns:a16="http://schemas.microsoft.com/office/drawing/2014/main" id="{A12D0720-C5C6-FEAD-5626-8EE4B410A863}"/>
              </a:ext>
            </a:extLst>
          </p:cNvPr>
          <p:cNvSpPr/>
          <p:nvPr/>
        </p:nvSpPr>
        <p:spPr>
          <a:xfrm>
            <a:off x="4395700" y="1296081"/>
            <a:ext cx="365760" cy="369332"/>
          </a:xfrm>
          <a:prstGeom prst="ellipse">
            <a:avLst/>
          </a:prstGeom>
          <a:solidFill>
            <a:srgbClr val="281A42"/>
          </a:solidFill>
          <a:ln w="12700" cap="flat" cmpd="sng" algn="ctr">
            <a:no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67" b="1" i="0" u="none" strike="noStrike" kern="0" cap="none" spc="-25" normalizeH="0" baseline="0" noProof="0" dirty="0">
                <a:ln>
                  <a:noFill/>
                </a:ln>
                <a:solidFill>
                  <a:srgbClr val="FFFFFF"/>
                </a:solidFill>
                <a:effectLst/>
                <a:uLnTx/>
                <a:uFillTx/>
                <a:latin typeface="Segoe UI" pitchFamily="34" charset="0"/>
                <a:ea typeface="+mn-ea"/>
                <a:cs typeface="Arial" panose="020B0604020202020204" pitchFamily="34" charset="0"/>
              </a:rPr>
              <a:t>2</a:t>
            </a:r>
          </a:p>
        </p:txBody>
      </p:sp>
      <p:sp>
        <p:nvSpPr>
          <p:cNvPr id="19" name="Oval 18">
            <a:extLst>
              <a:ext uri="{FF2B5EF4-FFF2-40B4-BE49-F238E27FC236}">
                <a16:creationId xmlns:a16="http://schemas.microsoft.com/office/drawing/2014/main" id="{A8A823CB-3A39-C800-FAA0-6E15E3C3FD9E}"/>
              </a:ext>
            </a:extLst>
          </p:cNvPr>
          <p:cNvSpPr/>
          <p:nvPr/>
        </p:nvSpPr>
        <p:spPr>
          <a:xfrm>
            <a:off x="8126312" y="1296081"/>
            <a:ext cx="365760" cy="369332"/>
          </a:xfrm>
          <a:prstGeom prst="ellipse">
            <a:avLst/>
          </a:prstGeom>
          <a:solidFill>
            <a:srgbClr val="281A42"/>
          </a:solidFill>
          <a:ln w="12700" cap="flat" cmpd="sng" algn="ctr">
            <a:noFill/>
            <a:prstDash val="solid"/>
            <a:miter lim="800000"/>
          </a:ln>
          <a:effectLst/>
        </p:spPr>
        <p:txBody>
          <a:bodyPr lIns="91440" tIns="45720" rIns="91440" bIns="45720" rtlCol="0" anchor="ctr"/>
          <a:lstStyle/>
          <a:p>
            <a:pPr marL="0" marR="0" lvl="0" indent="0" algn="ctr" defTabSz="914377"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67" b="1" i="0" u="none" strike="noStrike" kern="0" cap="none" spc="-25" normalizeH="0" baseline="0" noProof="0" dirty="0">
                <a:ln>
                  <a:noFill/>
                </a:ln>
                <a:solidFill>
                  <a:srgbClr val="FFFFFF"/>
                </a:solidFill>
                <a:effectLst/>
                <a:uLnTx/>
                <a:uFillTx/>
                <a:latin typeface="Segoe UI" pitchFamily="34" charset="0"/>
                <a:ea typeface="+mn-ea"/>
                <a:cs typeface="Arial" panose="020B0604020202020204" pitchFamily="34" charset="0"/>
              </a:rPr>
              <a:t>3</a:t>
            </a:r>
          </a:p>
        </p:txBody>
      </p:sp>
      <p:sp>
        <p:nvSpPr>
          <p:cNvPr id="20" name="TextBox 19">
            <a:extLst>
              <a:ext uri="{FF2B5EF4-FFF2-40B4-BE49-F238E27FC236}">
                <a16:creationId xmlns:a16="http://schemas.microsoft.com/office/drawing/2014/main" id="{5AD13BDB-EE7D-B4EA-C1E4-0D0ACABE3560}"/>
              </a:ext>
            </a:extLst>
          </p:cNvPr>
          <p:cNvSpPr txBox="1"/>
          <p:nvPr/>
        </p:nvSpPr>
        <p:spPr>
          <a:xfrm>
            <a:off x="4550528" y="2463039"/>
            <a:ext cx="1524776" cy="933461"/>
          </a:xfrm>
          <a:prstGeom prst="rect">
            <a:avLst/>
          </a:prstGeom>
          <a:noFill/>
        </p:spPr>
        <p:txBody>
          <a:bodyPr wrap="non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Arial" panose="020B0604020202020204" pitchFamily="34" charset="0"/>
              </a:rPr>
              <a:t>Capital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Arial" panose="020B0604020202020204" pitchFamily="34" charset="0"/>
              </a:rPr>
              <a:t>Investments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 </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Evidence Based</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Risk Aware</a:t>
            </a:r>
          </a:p>
        </p:txBody>
      </p:sp>
      <p:sp>
        <p:nvSpPr>
          <p:cNvPr id="21" name="TextBox 20">
            <a:extLst>
              <a:ext uri="{FF2B5EF4-FFF2-40B4-BE49-F238E27FC236}">
                <a16:creationId xmlns:a16="http://schemas.microsoft.com/office/drawing/2014/main" id="{BBAEE8FC-1058-3620-3B3D-8FB51A85AED1}"/>
              </a:ext>
            </a:extLst>
          </p:cNvPr>
          <p:cNvSpPr txBox="1"/>
          <p:nvPr/>
        </p:nvSpPr>
        <p:spPr>
          <a:xfrm>
            <a:off x="6541853" y="2463039"/>
            <a:ext cx="1486304" cy="933461"/>
          </a:xfrm>
          <a:prstGeom prst="rect">
            <a:avLst/>
          </a:prstGeom>
          <a:noFill/>
        </p:spPr>
        <p:txBody>
          <a:bodyPr wrap="non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Arial" panose="020B0604020202020204" pitchFamily="34" charset="0"/>
              </a:rPr>
              <a:t>Talent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Arial" panose="020B0604020202020204" pitchFamily="34" charset="0"/>
              </a:rPr>
              <a:t>Investments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 </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Opinion Based</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33"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Arial" panose="020B0604020202020204" pitchFamily="34" charset="0"/>
              </a:rPr>
              <a:t>Risk Blind</a:t>
            </a:r>
          </a:p>
        </p:txBody>
      </p:sp>
      <p:sp>
        <p:nvSpPr>
          <p:cNvPr id="22" name="TextBox 21">
            <a:extLst>
              <a:ext uri="{FF2B5EF4-FFF2-40B4-BE49-F238E27FC236}">
                <a16:creationId xmlns:a16="http://schemas.microsoft.com/office/drawing/2014/main" id="{80A3C3C9-6FE6-878E-DFFE-7C155C7823DF}"/>
              </a:ext>
            </a:extLst>
          </p:cNvPr>
          <p:cNvSpPr txBox="1"/>
          <p:nvPr/>
        </p:nvSpPr>
        <p:spPr>
          <a:xfrm>
            <a:off x="5749672" y="2630827"/>
            <a:ext cx="1073577" cy="276999"/>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281A42"/>
                </a:solidFill>
                <a:effectLst/>
                <a:uLnTx/>
                <a:uFillTx/>
                <a:latin typeface="Segoe UI" pitchFamily="34" charset="0"/>
                <a:ea typeface="Lato" panose="020F0502020204030203" pitchFamily="34" charset="0"/>
                <a:cs typeface="Arial" panose="020B0604020202020204" pitchFamily="34" charset="0"/>
              </a:rPr>
              <a:t>VS.</a:t>
            </a:r>
            <a:endParaRPr kumimoji="0" lang="en-US" sz="1467" b="0" i="0" u="none" strike="noStrike" kern="1200" cap="none" spc="-10" normalizeH="0" baseline="0" noProof="0" dirty="0">
              <a:ln>
                <a:noFill/>
              </a:ln>
              <a:solidFill>
                <a:srgbClr val="281A42"/>
              </a:solidFill>
              <a:effectLst/>
              <a:uLnTx/>
              <a:uFillTx/>
              <a:latin typeface="Arial" pitchFamily="34" charset="0"/>
              <a:ea typeface="+mn-ea"/>
              <a:cs typeface="Arial" panose="020B0604020202020204" pitchFamily="34" charset="0"/>
            </a:endParaRPr>
          </a:p>
        </p:txBody>
      </p:sp>
      <p:sp>
        <p:nvSpPr>
          <p:cNvPr id="23" name="TextBox 22">
            <a:extLst>
              <a:ext uri="{FF2B5EF4-FFF2-40B4-BE49-F238E27FC236}">
                <a16:creationId xmlns:a16="http://schemas.microsoft.com/office/drawing/2014/main" id="{F7B2C8E5-C032-9D7E-E3BA-35E66605A43C}"/>
              </a:ext>
            </a:extLst>
          </p:cNvPr>
          <p:cNvSpPr txBox="1"/>
          <p:nvPr/>
        </p:nvSpPr>
        <p:spPr>
          <a:xfrm>
            <a:off x="4527004" y="3611392"/>
            <a:ext cx="1571824" cy="276999"/>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10" normalizeH="0" baseline="0" noProof="0" dirty="0">
                <a:ln>
                  <a:noFill/>
                </a:ln>
                <a:solidFill>
                  <a:srgbClr val="00C27A"/>
                </a:solidFill>
                <a:effectLst/>
                <a:uLnTx/>
                <a:uFillTx/>
                <a:latin typeface="Arial" pitchFamily="34" charset="0"/>
                <a:ea typeface="Lato Light" panose="020F0502020204030203" pitchFamily="34" charset="0"/>
                <a:cs typeface="Arial" panose="020B0604020202020204" pitchFamily="34" charset="0"/>
              </a:rPr>
              <a:t>“Prove me wrong”</a:t>
            </a:r>
          </a:p>
        </p:txBody>
      </p:sp>
      <p:sp>
        <p:nvSpPr>
          <p:cNvPr id="24" name="TextBox 23">
            <a:extLst>
              <a:ext uri="{FF2B5EF4-FFF2-40B4-BE49-F238E27FC236}">
                <a16:creationId xmlns:a16="http://schemas.microsoft.com/office/drawing/2014/main" id="{0B74D99D-C59C-03F6-338D-96E938255112}"/>
              </a:ext>
            </a:extLst>
          </p:cNvPr>
          <p:cNvSpPr txBox="1"/>
          <p:nvPr/>
        </p:nvSpPr>
        <p:spPr>
          <a:xfrm>
            <a:off x="6499092" y="3611391"/>
            <a:ext cx="1571824" cy="276999"/>
          </a:xfrm>
          <a:prstGeom prst="rect">
            <a:avLst/>
          </a:prstGeom>
          <a:noFill/>
        </p:spPr>
        <p:txBody>
          <a:bodyPr wrap="square" lIns="91440" tIns="45720" rIns="91440" bIns="4572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10" normalizeH="0" baseline="0" noProof="0" dirty="0">
                <a:ln>
                  <a:noFill/>
                </a:ln>
                <a:solidFill>
                  <a:srgbClr val="281A42"/>
                </a:solidFill>
                <a:effectLst/>
                <a:uLnTx/>
                <a:uFillTx/>
                <a:latin typeface="Arial" pitchFamily="34" charset="0"/>
                <a:ea typeface="Lato Light" panose="020F0502020204030203" pitchFamily="34" charset="0"/>
                <a:cs typeface="Arial" panose="020B0604020202020204" pitchFamily="34" charset="0"/>
              </a:rPr>
              <a:t>“Fall in Love”</a:t>
            </a:r>
          </a:p>
        </p:txBody>
      </p:sp>
      <p:sp>
        <p:nvSpPr>
          <p:cNvPr id="25" name="TextBox 24">
            <a:extLst>
              <a:ext uri="{FF2B5EF4-FFF2-40B4-BE49-F238E27FC236}">
                <a16:creationId xmlns:a16="http://schemas.microsoft.com/office/drawing/2014/main" id="{2D2CB832-7417-032F-294B-CDCC07DB4A18}"/>
              </a:ext>
            </a:extLst>
          </p:cNvPr>
          <p:cNvSpPr txBox="1"/>
          <p:nvPr/>
        </p:nvSpPr>
        <p:spPr>
          <a:xfrm>
            <a:off x="4685907" y="4703450"/>
            <a:ext cx="3182413" cy="707694"/>
          </a:xfrm>
          <a:prstGeom prst="rect">
            <a:avLst/>
          </a:prstGeom>
          <a:noFill/>
        </p:spPr>
        <p:txBody>
          <a:bodyPr wrap="square" lIns="91440" tIns="45720" rIns="91440" bIns="45720" rtlCol="0">
            <a:spAutoFit/>
          </a:bodyPr>
          <a:lstStyle/>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33"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Arial" panose="020B0604020202020204" pitchFamily="34" charset="0"/>
              </a:rPr>
              <a:t>Not aligning selection to value </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33"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Arial" panose="020B0604020202020204" pitchFamily="34" charset="0"/>
              </a:rPr>
              <a:t>Not factoring risks in role design and operating model</a:t>
            </a:r>
          </a:p>
        </p:txBody>
      </p:sp>
      <p:pic>
        <p:nvPicPr>
          <p:cNvPr id="26" name="Picture 25">
            <a:extLst>
              <a:ext uri="{FF2B5EF4-FFF2-40B4-BE49-F238E27FC236}">
                <a16:creationId xmlns:a16="http://schemas.microsoft.com/office/drawing/2014/main" id="{A864FFC9-B5FF-0401-566D-09D2052F5CFF}"/>
              </a:ext>
            </a:extLst>
          </p:cNvPr>
          <p:cNvPicPr>
            <a:picLocks noChangeAspect="1"/>
          </p:cNvPicPr>
          <p:nvPr/>
        </p:nvPicPr>
        <p:blipFill>
          <a:blip r:embed="rId7">
            <a:duotone>
              <a:srgbClr val="765FFF"/>
              <a:srgbClr val="FFFFFF"/>
            </a:duotone>
          </a:blip>
          <a:stretch>
            <a:fillRect/>
          </a:stretch>
        </p:blipFill>
        <p:spPr>
          <a:xfrm>
            <a:off x="8419462" y="2670458"/>
            <a:ext cx="3230513" cy="1059225"/>
          </a:xfrm>
          <a:prstGeom prst="rect">
            <a:avLst/>
          </a:prstGeom>
        </p:spPr>
      </p:pic>
      <p:sp>
        <p:nvSpPr>
          <p:cNvPr id="27" name="TextBox 26">
            <a:extLst>
              <a:ext uri="{FF2B5EF4-FFF2-40B4-BE49-F238E27FC236}">
                <a16:creationId xmlns:a16="http://schemas.microsoft.com/office/drawing/2014/main" id="{62346D99-9EF7-8221-42E7-914F7BEE9EB4}"/>
              </a:ext>
            </a:extLst>
          </p:cNvPr>
          <p:cNvSpPr txBox="1"/>
          <p:nvPr/>
        </p:nvSpPr>
        <p:spPr>
          <a:xfrm>
            <a:off x="8489151" y="4703449"/>
            <a:ext cx="3091132" cy="912814"/>
          </a:xfrm>
          <a:prstGeom prst="rect">
            <a:avLst/>
          </a:prstGeom>
          <a:noFill/>
        </p:spPr>
        <p:txBody>
          <a:bodyPr wrap="square" lIns="91440" tIns="45720" rIns="91440" bIns="45720" rtlCol="0">
            <a:spAutoFit/>
          </a:bodyPr>
          <a:lstStyle/>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33"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Arial" panose="020B0604020202020204" pitchFamily="34" charset="0"/>
              </a:rPr>
              <a:t>Focusing only on “top” roles </a:t>
            </a: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333"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Arial" panose="020B0604020202020204" pitchFamily="34" charset="0"/>
              </a:rPr>
              <a:t>Not understanding and investing in (level-agnostic) roles critical to value creation</a:t>
            </a:r>
          </a:p>
        </p:txBody>
      </p:sp>
      <p:sp>
        <p:nvSpPr>
          <p:cNvPr id="28" name="TextBox 27">
            <a:extLst>
              <a:ext uri="{FF2B5EF4-FFF2-40B4-BE49-F238E27FC236}">
                <a16:creationId xmlns:a16="http://schemas.microsoft.com/office/drawing/2014/main" id="{C1DDF929-6C12-7F7D-39EC-1E15F29DC2FA}"/>
              </a:ext>
            </a:extLst>
          </p:cNvPr>
          <p:cNvSpPr txBox="1"/>
          <p:nvPr/>
        </p:nvSpPr>
        <p:spPr>
          <a:xfrm>
            <a:off x="8800462" y="3753395"/>
            <a:ext cx="840295" cy="276999"/>
          </a:xfrm>
          <a:prstGeom prst="rect">
            <a:avLst/>
          </a:prstGeom>
          <a:noFill/>
        </p:spPr>
        <p:txBody>
          <a:bodyPr wrap="none" lIns="91440" tIns="45720" rIns="91440" bIns="4572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10" normalizeH="0" baseline="0" noProof="0" dirty="0">
                <a:ln>
                  <a:noFill/>
                </a:ln>
                <a:solidFill>
                  <a:srgbClr val="1D1D1D">
                    <a:lumMod val="75000"/>
                    <a:lumOff val="25000"/>
                  </a:srgbClr>
                </a:solidFill>
                <a:effectLst/>
                <a:uLnTx/>
                <a:uFillTx/>
                <a:latin typeface="Arial" pitchFamily="34" charset="0"/>
                <a:ea typeface="Lato Light" panose="020F0502020204030203" pitchFamily="34" charset="0"/>
                <a:cs typeface="Arial" panose="020B0604020202020204" pitchFamily="34" charset="0"/>
              </a:rPr>
              <a:t>Hierarchy</a:t>
            </a:r>
          </a:p>
        </p:txBody>
      </p:sp>
      <p:sp>
        <p:nvSpPr>
          <p:cNvPr id="29" name="TextBox 28">
            <a:extLst>
              <a:ext uri="{FF2B5EF4-FFF2-40B4-BE49-F238E27FC236}">
                <a16:creationId xmlns:a16="http://schemas.microsoft.com/office/drawing/2014/main" id="{EBB031B4-D28E-0280-CE3E-4FD001A70D52}"/>
              </a:ext>
            </a:extLst>
          </p:cNvPr>
          <p:cNvSpPr txBox="1"/>
          <p:nvPr/>
        </p:nvSpPr>
        <p:spPr>
          <a:xfrm>
            <a:off x="10034717" y="3769689"/>
            <a:ext cx="1675236" cy="276999"/>
          </a:xfrm>
          <a:prstGeom prst="rect">
            <a:avLst/>
          </a:prstGeom>
          <a:noFill/>
        </p:spPr>
        <p:txBody>
          <a:bodyPr wrap="square" lIns="91440" tIns="45720" rIns="91440" bIns="45720" rtlCol="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10" normalizeH="0" baseline="0" noProof="0" dirty="0">
                <a:ln>
                  <a:noFill/>
                </a:ln>
                <a:solidFill>
                  <a:srgbClr val="1D1D1D">
                    <a:lumMod val="75000"/>
                    <a:lumOff val="25000"/>
                  </a:srgbClr>
                </a:solidFill>
                <a:effectLst/>
                <a:uLnTx/>
                <a:uFillTx/>
                <a:latin typeface="Arial" pitchFamily="34" charset="0"/>
                <a:ea typeface="Lato Light" panose="020F0502020204030203" pitchFamily="34" charset="0"/>
                <a:cs typeface="Arial" panose="020B0604020202020204" pitchFamily="34" charset="0"/>
              </a:rPr>
              <a:t>Connected to Value</a:t>
            </a:r>
          </a:p>
        </p:txBody>
      </p:sp>
      <p:sp>
        <p:nvSpPr>
          <p:cNvPr id="30" name="TextBox 29">
            <a:extLst>
              <a:ext uri="{FF2B5EF4-FFF2-40B4-BE49-F238E27FC236}">
                <a16:creationId xmlns:a16="http://schemas.microsoft.com/office/drawing/2014/main" id="{D19123A4-C375-03E4-C238-AABF960DD17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31" name="SubtitleSplit"/>
          <p:cNvSpPr>
            <a:spLocks noGrp="1"/>
          </p:cNvSpPr>
          <p:nvPr>
            <p:ph type="subTitle" idx="1"/>
          </p:nvPr>
        </p:nvSpPr>
        <p:spPr>
          <a:noFill/>
        </p:spPr>
        <p:txBody>
          <a:bodyPr/>
          <a:lstStyle/>
          <a:p>
            <a:r>
              <a:t>Derailers</a:t>
            </a:r>
            <a:endParaRPr lang="en-US" b="0" spc="-10">
              <a:latin typeface="Segoe UI" pitchFamily="34" charset="0"/>
            </a:endParaRPr>
          </a:p>
        </p:txBody>
      </p:sp>
      <p:sp>
        <p:nvSpPr>
          <p:cNvPr id="32"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A6A7B8F1-201C-4592-B888-E8D074345F82}" type="slidenum">
              <a:t>3</a:t>
            </a:fld>
            <a:endParaRPr lang="en-US"/>
          </a:p>
        </p:txBody>
      </p:sp>
    </p:spTree>
    <p:extLst>
      <p:ext uri="{BB962C8B-B14F-4D97-AF65-F5344CB8AC3E}">
        <p14:creationId xmlns:p14="http://schemas.microsoft.com/office/powerpoint/2010/main" val="36072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500"/>
                                        <p:tgtEl>
                                          <p:spTgt spid="2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500"/>
                                        <p:tgtEl>
                                          <p:spTgt spid="2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fade">
                                      <p:cBhvr>
                                        <p:cTn id="68" dur="500"/>
                                        <p:tgtEl>
                                          <p:spTgt spid="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500"/>
                                        <p:tgtEl>
                                          <p:spTgt spid="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childTnLst>
                                </p:cTn>
                              </p:par>
                              <p:par>
                                <p:cTn id="75" presetID="10" presetClass="entr" presetSubtype="0" fill="hold" nodeType="with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5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5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9" grpId="0"/>
      <p:bldP spid="11" grpId="0"/>
      <p:bldP spid="12" grpId="0"/>
      <p:bldP spid="13" grpId="0"/>
      <p:bldP spid="16" grpId="0"/>
      <p:bldP spid="17" grpId="0" animBg="1"/>
      <p:bldP spid="18" grpId="0" animBg="1"/>
      <p:bldP spid="19" grpId="0" animBg="1"/>
      <p:bldP spid="20" grpId="0"/>
      <p:bldP spid="21" grpId="0"/>
      <p:bldP spid="22" grpId="0"/>
      <p:bldP spid="23" grpId="0"/>
      <p:bldP spid="24" grpId="0"/>
      <p:bldP spid="25" grpId="0"/>
      <p:bldP spid="27" grpId="0"/>
      <p:bldP spid="28"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90BA3-4742-E39D-E074-1D0DCC06466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B738836-34DE-5949-7C61-EB4A1AAFAFAB}"/>
              </a:ext>
            </a:extLst>
          </p:cNvPr>
          <p:cNvSpPr>
            <a:spLocks noGrp="1"/>
          </p:cNvSpPr>
          <p:nvPr>
            <p:ph type="title" sz="quarter"/>
          </p:nvPr>
        </p:nvSpPr>
        <p:spPr/>
        <p:txBody>
          <a:bodyPr/>
          <a:lstStyle/>
          <a:p>
            <a:r>
              <a:t>Talent to Value</a:t>
            </a:r>
          </a:p>
        </p:txBody>
      </p:sp>
      <p:sp>
        <p:nvSpPr>
          <p:cNvPr id="63" name="TextBox 62">
            <a:extLst>
              <a:ext uri="{FF2B5EF4-FFF2-40B4-BE49-F238E27FC236}">
                <a16:creationId xmlns:a16="http://schemas.microsoft.com/office/drawing/2014/main" id="{2C063B1A-4361-8937-97FA-5F7EBFCAF354}"/>
              </a:ext>
            </a:extLst>
          </p:cNvPr>
          <p:cNvSpPr txBox="1"/>
          <p:nvPr/>
        </p:nvSpPr>
        <p:spPr>
          <a:xfrm>
            <a:off x="516935" y="1656251"/>
            <a:ext cx="2072639"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Where is the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money? </a:t>
            </a:r>
          </a:p>
        </p:txBody>
      </p:sp>
      <p:sp>
        <p:nvSpPr>
          <p:cNvPr id="64" name="TextBox 63">
            <a:extLst>
              <a:ext uri="{FF2B5EF4-FFF2-40B4-BE49-F238E27FC236}">
                <a16:creationId xmlns:a16="http://schemas.microsoft.com/office/drawing/2014/main" id="{85C149C3-3C47-C37B-EC1C-22D1D3523713}"/>
              </a:ext>
            </a:extLst>
          </p:cNvPr>
          <p:cNvSpPr txBox="1"/>
          <p:nvPr/>
        </p:nvSpPr>
        <p:spPr>
          <a:xfrm>
            <a:off x="2864689"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How do I want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to</a:t>
            </a: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 </a:t>
            </a:r>
            <a:r>
              <a:rPr kumimoji="0" lang="en-US" sz="1600" b="1" i="0" u="none" strike="noStrike" kern="1200" cap="none" spc="-10" normalizeH="0" baseline="0" noProof="0" dirty="0">
                <a:ln>
                  <a:noFill/>
                </a:ln>
                <a:solidFill>
                  <a:srgbClr val="765FFF"/>
                </a:solidFill>
                <a:effectLst/>
                <a:uLnTx/>
                <a:uFillTx/>
                <a:latin typeface="Segoe UI" pitchFamily="34" charset="0"/>
                <a:ea typeface="+mn-ea"/>
                <a:cs typeface="+mn-cs"/>
              </a:rPr>
              <a:t>run the place? </a:t>
            </a:r>
          </a:p>
        </p:txBody>
      </p:sp>
      <p:sp>
        <p:nvSpPr>
          <p:cNvPr id="65" name="TextBox 64">
            <a:extLst>
              <a:ext uri="{FF2B5EF4-FFF2-40B4-BE49-F238E27FC236}">
                <a16:creationId xmlns:a16="http://schemas.microsoft.com/office/drawing/2014/main" id="{81027114-976C-9B95-D3A2-35AE6D0D63C4}"/>
              </a:ext>
            </a:extLst>
          </p:cNvPr>
          <p:cNvSpPr txBox="1"/>
          <p:nvPr/>
        </p:nvSpPr>
        <p:spPr>
          <a:xfrm>
            <a:off x="7560201"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Do we have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enough talent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at our critical roles?</a:t>
            </a:r>
          </a:p>
        </p:txBody>
      </p:sp>
      <p:sp>
        <p:nvSpPr>
          <p:cNvPr id="66" name="TextBox 65">
            <a:extLst>
              <a:ext uri="{FF2B5EF4-FFF2-40B4-BE49-F238E27FC236}">
                <a16:creationId xmlns:a16="http://schemas.microsoft.com/office/drawing/2014/main" id="{F5DE3250-3921-4275-A785-A15C2BC8546A}"/>
              </a:ext>
            </a:extLst>
          </p:cNvPr>
          <p:cNvSpPr txBox="1"/>
          <p:nvPr/>
        </p:nvSpPr>
        <p:spPr>
          <a:xfrm>
            <a:off x="9907956"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Are we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 </a:t>
            </a:r>
            <a:r>
              <a:rPr kumimoji="0" lang="en-US" sz="1600" b="1" i="0" u="none" strike="noStrike" kern="1200" cap="none" spc="-10" normalizeH="0" baseline="0" noProof="0" dirty="0">
                <a:ln>
                  <a:noFill/>
                </a:ln>
                <a:solidFill>
                  <a:srgbClr val="765FFF"/>
                </a:solidFill>
                <a:effectLst/>
                <a:uLnTx/>
                <a:uFillTx/>
                <a:latin typeface="Segoe UI" pitchFamily="34" charset="0"/>
                <a:ea typeface="+mn-ea"/>
                <a:cs typeface="+mn-cs"/>
              </a:rPr>
              <a:t>mobilizing for success?</a:t>
            </a:r>
            <a:endParaRPr kumimoji="0" lang="en-US" sz="1600" b="0" i="0" u="none" strike="noStrike" kern="1200" cap="none" spc="-10" normalizeH="0" baseline="0" noProof="0" dirty="0">
              <a:ln>
                <a:noFill/>
              </a:ln>
              <a:solidFill>
                <a:srgbClr val="765FFF"/>
              </a:solidFill>
              <a:effectLst/>
              <a:uLnTx/>
              <a:uFillTx/>
              <a:latin typeface="Arial" pitchFamily="34" charset="0"/>
              <a:ea typeface="+mn-ea"/>
              <a:cs typeface="+mn-cs"/>
            </a:endParaRPr>
          </a:p>
        </p:txBody>
      </p:sp>
      <p:grpSp>
        <p:nvGrpSpPr>
          <p:cNvPr id="67" name="Group 66">
            <a:extLst>
              <a:ext uri="{FF2B5EF4-FFF2-40B4-BE49-F238E27FC236}">
                <a16:creationId xmlns:a16="http://schemas.microsoft.com/office/drawing/2014/main" id="{92A25590-9ED8-7DC5-A441-6622623636DA}"/>
              </a:ext>
            </a:extLst>
          </p:cNvPr>
          <p:cNvGrpSpPr/>
          <p:nvPr/>
        </p:nvGrpSpPr>
        <p:grpSpPr>
          <a:xfrm>
            <a:off x="516936" y="2834342"/>
            <a:ext cx="2072640" cy="2166257"/>
            <a:chOff x="387702" y="2367644"/>
            <a:chExt cx="1554480" cy="1624693"/>
          </a:xfrm>
        </p:grpSpPr>
        <p:sp>
          <p:nvSpPr>
            <p:cNvPr id="68" name="Rectangle: Rounded Corners 67">
              <a:extLst>
                <a:ext uri="{FF2B5EF4-FFF2-40B4-BE49-F238E27FC236}">
                  <a16:creationId xmlns:a16="http://schemas.microsoft.com/office/drawing/2014/main" id="{5E360E49-6EDF-C7F7-30FD-D592C5515D8D}"/>
                </a:ext>
              </a:extLst>
            </p:cNvPr>
            <p:cNvSpPr/>
            <p:nvPr/>
          </p:nvSpPr>
          <p:spPr>
            <a:xfrm>
              <a:off x="387702" y="2367644"/>
              <a:ext cx="1554480" cy="1624693"/>
            </a:xfrm>
            <a:prstGeom prst="roundRect">
              <a:avLst>
                <a:gd name="adj" fmla="val 11707"/>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69" name="TextBox 68">
              <a:extLst>
                <a:ext uri="{FF2B5EF4-FFF2-40B4-BE49-F238E27FC236}">
                  <a16:creationId xmlns:a16="http://schemas.microsoft.com/office/drawing/2014/main" id="{905217F3-9A4A-1B17-0B5D-0E04CE21F56D}"/>
                </a:ext>
              </a:extLst>
            </p:cNvPr>
            <p:cNvSpPr txBox="1"/>
            <p:nvPr/>
          </p:nvSpPr>
          <p:spPr>
            <a:xfrm>
              <a:off x="479142" y="3608554"/>
              <a:ext cx="1371600" cy="257569"/>
            </a:xfrm>
            <a:prstGeom prst="rect">
              <a:avLst/>
            </a:prstGeom>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sng" strike="noStrike" kern="0" cap="none" spc="-10" normalizeH="0" baseline="0" noProof="0" dirty="0">
                  <a:ln>
                    <a:noFill/>
                  </a:ln>
                  <a:solidFill>
                    <a:srgbClr val="1D1D1D"/>
                  </a:solidFill>
                  <a:effectLst/>
                  <a:uLnTx/>
                  <a:uFillTx/>
                  <a:latin typeface="Segoe UI" pitchFamily="34" charset="0"/>
                  <a:ea typeface="+mn-ea"/>
                  <a:cs typeface="+mn-cs"/>
                </a:rPr>
                <a:t>Value Agenda</a:t>
              </a:r>
            </a:p>
          </p:txBody>
        </p:sp>
        <p:pic>
          <p:nvPicPr>
            <p:cNvPr id="70" name="Picture 69">
              <a:extLst>
                <a:ext uri="{FF2B5EF4-FFF2-40B4-BE49-F238E27FC236}">
                  <a16:creationId xmlns:a16="http://schemas.microsoft.com/office/drawing/2014/main" id="{A573CE46-7E45-A963-8C16-CDBC219C3DE3}"/>
                </a:ext>
              </a:extLst>
            </p:cNvPr>
            <p:cNvPicPr>
              <a:picLocks noChangeAspect="1"/>
            </p:cNvPicPr>
            <p:nvPr/>
          </p:nvPicPr>
          <p:blipFill>
            <a:blip r:embed="rId3">
              <a:duotone>
                <a:srgbClr val="765FFF"/>
                <a:srgbClr val="FFFFFF"/>
              </a:duotone>
            </a:blip>
            <a:srcRect/>
            <a:stretch/>
          </p:blipFill>
          <p:spPr>
            <a:xfrm>
              <a:off x="835911" y="2693819"/>
              <a:ext cx="658061" cy="658061"/>
            </a:xfrm>
            <a:prstGeom prst="rect">
              <a:avLst/>
            </a:prstGeom>
            <a:effectLst>
              <a:outerShdw blurRad="50800" dist="38100" dir="2700000" algn="tl" rotWithShape="0">
                <a:prstClr val="black">
                  <a:alpha val="40000"/>
                </a:prstClr>
              </a:outerShdw>
            </a:effectLst>
          </p:spPr>
        </p:pic>
      </p:grpSp>
      <p:grpSp>
        <p:nvGrpSpPr>
          <p:cNvPr id="71" name="Group 70">
            <a:extLst>
              <a:ext uri="{FF2B5EF4-FFF2-40B4-BE49-F238E27FC236}">
                <a16:creationId xmlns:a16="http://schemas.microsoft.com/office/drawing/2014/main" id="{15B2AD72-5EE1-4844-20D2-299030F948E7}"/>
              </a:ext>
            </a:extLst>
          </p:cNvPr>
          <p:cNvGrpSpPr/>
          <p:nvPr/>
        </p:nvGrpSpPr>
        <p:grpSpPr>
          <a:xfrm>
            <a:off x="7560200" y="2834341"/>
            <a:ext cx="2072640" cy="2166257"/>
            <a:chOff x="5778489" y="2367643"/>
            <a:chExt cx="1554480" cy="1624693"/>
          </a:xfrm>
        </p:grpSpPr>
        <p:sp>
          <p:nvSpPr>
            <p:cNvPr id="72" name="Rectangle: Rounded Corners 71">
              <a:extLst>
                <a:ext uri="{FF2B5EF4-FFF2-40B4-BE49-F238E27FC236}">
                  <a16:creationId xmlns:a16="http://schemas.microsoft.com/office/drawing/2014/main" id="{01325885-98B4-7971-9187-1D0E948EA6DD}"/>
                </a:ext>
              </a:extLst>
            </p:cNvPr>
            <p:cNvSpPr/>
            <p:nvPr/>
          </p:nvSpPr>
          <p:spPr>
            <a:xfrm>
              <a:off x="5778489" y="2367643"/>
              <a:ext cx="1554480" cy="1624693"/>
            </a:xfrm>
            <a:prstGeom prst="roundRect">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73" name="TextBox 72">
              <a:extLst>
                <a:ext uri="{FF2B5EF4-FFF2-40B4-BE49-F238E27FC236}">
                  <a16:creationId xmlns:a16="http://schemas.microsoft.com/office/drawing/2014/main" id="{3950A9BD-582E-05A0-08FD-8AE0240981C0}"/>
                </a:ext>
              </a:extLst>
            </p:cNvPr>
            <p:cNvSpPr txBox="1"/>
            <p:nvPr/>
          </p:nvSpPr>
          <p:spPr>
            <a:xfrm>
              <a:off x="5869929" y="3608554"/>
              <a:ext cx="1371600" cy="257569"/>
            </a:xfrm>
            <a:prstGeom prst="rect">
              <a:avLst/>
            </a:prstGeom>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sng" strike="noStrike" kern="0" cap="none" spc="-10" normalizeH="0" baseline="0" noProof="0" dirty="0">
                  <a:ln>
                    <a:noFill/>
                  </a:ln>
                  <a:solidFill>
                    <a:srgbClr val="1D1D1D"/>
                  </a:solidFill>
                  <a:effectLst/>
                  <a:uLnTx/>
                  <a:uFillTx/>
                  <a:latin typeface="Segoe UI" pitchFamily="34" charset="0"/>
                  <a:ea typeface="+mn-ea"/>
                  <a:cs typeface="+mn-cs"/>
                </a:rPr>
                <a:t>Talent Capital</a:t>
              </a:r>
            </a:p>
            <a:p>
              <a:pPr marL="0" marR="0" lvl="0" indent="0" algn="ctr" defTabSz="609585"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sng" strike="noStrike" kern="0" cap="none" spc="-10" normalizeH="0" baseline="0" noProof="0" dirty="0">
                  <a:ln>
                    <a:noFill/>
                  </a:ln>
                  <a:solidFill>
                    <a:srgbClr val="1D1D1D"/>
                  </a:solidFill>
                  <a:effectLst/>
                  <a:uLnTx/>
                  <a:uFillTx/>
                  <a:latin typeface="Segoe UI" pitchFamily="34" charset="0"/>
                  <a:ea typeface="+mn-ea"/>
                  <a:cs typeface="+mn-cs"/>
                </a:rPr>
                <a:t>Balance Sheet</a:t>
              </a:r>
            </a:p>
          </p:txBody>
        </p:sp>
        <p:pic>
          <p:nvPicPr>
            <p:cNvPr id="74" name="Picture 2">
              <a:extLst>
                <a:ext uri="{FF2B5EF4-FFF2-40B4-BE49-F238E27FC236}">
                  <a16:creationId xmlns:a16="http://schemas.microsoft.com/office/drawing/2014/main" id="{5C35B8EB-946D-7650-1CBC-10E246C76921}"/>
                </a:ext>
              </a:extLst>
            </p:cNvPr>
            <p:cNvPicPr>
              <a:picLocks noChangeAspect="1" noChangeArrowheads="1"/>
            </p:cNvPicPr>
            <p:nvPr/>
          </p:nvPicPr>
          <p:blipFill rotWithShape="1">
            <a:blip r:embed="rId4">
              <a:duotone>
                <a:srgbClr val="765FFF"/>
                <a:srgbClr val="FFFFFF"/>
              </a:duotone>
            </a:blip>
            <a:srcRect l="47100" r="13892"/>
            <a:stretch/>
          </p:blipFill>
          <p:spPr bwMode="auto">
            <a:xfrm>
              <a:off x="6213475" y="2588581"/>
              <a:ext cx="684508" cy="83503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grpSp>
        <p:nvGrpSpPr>
          <p:cNvPr id="75" name="Group 74">
            <a:extLst>
              <a:ext uri="{FF2B5EF4-FFF2-40B4-BE49-F238E27FC236}">
                <a16:creationId xmlns:a16="http://schemas.microsoft.com/office/drawing/2014/main" id="{EF0BCC01-76EF-3F01-5432-EA4F1DC4B971}"/>
              </a:ext>
            </a:extLst>
          </p:cNvPr>
          <p:cNvGrpSpPr/>
          <p:nvPr/>
        </p:nvGrpSpPr>
        <p:grpSpPr>
          <a:xfrm>
            <a:off x="9907956" y="2834340"/>
            <a:ext cx="2072640" cy="2166257"/>
            <a:chOff x="7449186" y="2367643"/>
            <a:chExt cx="1554480" cy="1624693"/>
          </a:xfrm>
        </p:grpSpPr>
        <p:sp>
          <p:nvSpPr>
            <p:cNvPr id="76" name="Rectangle: Rounded Corners 75">
              <a:extLst>
                <a:ext uri="{FF2B5EF4-FFF2-40B4-BE49-F238E27FC236}">
                  <a16:creationId xmlns:a16="http://schemas.microsoft.com/office/drawing/2014/main" id="{CCA8672A-F707-DB55-FB4A-10945E630A5B}"/>
                </a:ext>
              </a:extLst>
            </p:cNvPr>
            <p:cNvSpPr/>
            <p:nvPr/>
          </p:nvSpPr>
          <p:spPr>
            <a:xfrm>
              <a:off x="7449186" y="2367643"/>
              <a:ext cx="1554480" cy="1624693"/>
            </a:xfrm>
            <a:prstGeom prst="roundRect">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77" name="TextBox 76">
              <a:extLst>
                <a:ext uri="{FF2B5EF4-FFF2-40B4-BE49-F238E27FC236}">
                  <a16:creationId xmlns:a16="http://schemas.microsoft.com/office/drawing/2014/main" id="{1F98215B-C442-1D3F-F930-B36355539E02}"/>
                </a:ext>
              </a:extLst>
            </p:cNvPr>
            <p:cNvSpPr txBox="1"/>
            <p:nvPr/>
          </p:nvSpPr>
          <p:spPr>
            <a:xfrm>
              <a:off x="7540626" y="3608554"/>
              <a:ext cx="1371600" cy="257569"/>
            </a:xfrm>
            <a:prstGeom prst="rect">
              <a:avLst/>
            </a:prstGeom>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sng" strike="noStrike" kern="0" cap="none" spc="-10" normalizeH="0" baseline="0" noProof="0" dirty="0">
                  <a:ln>
                    <a:noFill/>
                  </a:ln>
                  <a:solidFill>
                    <a:srgbClr val="1D1D1D"/>
                  </a:solidFill>
                  <a:effectLst/>
                  <a:uLnTx/>
                  <a:uFillTx/>
                  <a:latin typeface="Segoe UI" pitchFamily="34" charset="0"/>
                  <a:ea typeface="+mn-ea"/>
                  <a:cs typeface="+mn-cs"/>
                </a:rPr>
                <a:t>Mobilize the Value</a:t>
              </a:r>
            </a:p>
          </p:txBody>
        </p:sp>
      </p:grpSp>
      <p:sp>
        <p:nvSpPr>
          <p:cNvPr id="78" name="TextBox 77">
            <a:extLst>
              <a:ext uri="{FF2B5EF4-FFF2-40B4-BE49-F238E27FC236}">
                <a16:creationId xmlns:a16="http://schemas.microsoft.com/office/drawing/2014/main" id="{D3044A93-4070-8BD3-50DD-3EB07708031A}"/>
              </a:ext>
            </a:extLst>
          </p:cNvPr>
          <p:cNvSpPr txBox="1"/>
          <p:nvPr/>
        </p:nvSpPr>
        <p:spPr>
          <a:xfrm>
            <a:off x="5212445" y="1656251"/>
            <a:ext cx="2072640" cy="805543"/>
          </a:xfrm>
          <a:prstGeom prst="rect">
            <a:avLst/>
          </a:prstGeom>
        </p:spPr>
        <p:txBody>
          <a:bodyPr vert="horz" wrap="square" lIns="0" tIns="0" rIns="0" bIns="0" rtlCol="0" anchor="t"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F2F2F2">
                    <a:lumMod val="50000"/>
                  </a:srgbClr>
                </a:solidFill>
                <a:effectLst/>
                <a:uLnTx/>
                <a:uFillTx/>
                <a:latin typeface="Arial" pitchFamily="34" charset="0"/>
                <a:ea typeface="+mn-ea"/>
                <a:cs typeface="+mn-cs"/>
              </a:rPr>
              <a:t>Is my leadership </a:t>
            </a:r>
            <a:r>
              <a:rPr kumimoji="0" lang="en-US" sz="1600" b="1" i="0" u="none" strike="noStrike" kern="1200" cap="none" spc="-10" normalizeH="0" baseline="0" noProof="0" dirty="0">
                <a:ln>
                  <a:noFill/>
                </a:ln>
                <a:solidFill>
                  <a:srgbClr val="281A42"/>
                </a:solidFill>
                <a:effectLst/>
                <a:uLnTx/>
                <a:uFillTx/>
                <a:latin typeface="Segoe UI" pitchFamily="34" charset="0"/>
                <a:ea typeface="+mn-ea"/>
                <a:cs typeface="+mn-cs"/>
              </a:rPr>
              <a:t>team ready</a:t>
            </a:r>
            <a:r>
              <a:rPr kumimoji="0" lang="en-US" sz="1600" b="0" i="0" u="none" strike="noStrike" kern="1200" cap="none" spc="-10" normalizeH="0" baseline="0" noProof="0" dirty="0">
                <a:ln>
                  <a:noFill/>
                </a:ln>
                <a:solidFill>
                  <a:srgbClr val="281A42"/>
                </a:solidFill>
                <a:effectLst/>
                <a:uLnTx/>
                <a:uFillTx/>
                <a:latin typeface="Arial" pitchFamily="34" charset="0"/>
                <a:ea typeface="+mn-ea"/>
                <a:cs typeface="+mn-cs"/>
              </a:rPr>
              <a:t>?</a:t>
            </a:r>
          </a:p>
        </p:txBody>
      </p:sp>
      <p:grpSp>
        <p:nvGrpSpPr>
          <p:cNvPr id="79" name="Group 78">
            <a:extLst>
              <a:ext uri="{FF2B5EF4-FFF2-40B4-BE49-F238E27FC236}">
                <a16:creationId xmlns:a16="http://schemas.microsoft.com/office/drawing/2014/main" id="{8CA5958C-C674-B2D8-7509-AD303588F630}"/>
              </a:ext>
            </a:extLst>
          </p:cNvPr>
          <p:cNvGrpSpPr/>
          <p:nvPr/>
        </p:nvGrpSpPr>
        <p:grpSpPr>
          <a:xfrm>
            <a:off x="2727133" y="1648524"/>
            <a:ext cx="7043264" cy="3352073"/>
            <a:chOff x="2045350" y="1200150"/>
            <a:chExt cx="5282448" cy="2743201"/>
          </a:xfrm>
        </p:grpSpPr>
        <p:cxnSp>
          <p:nvCxnSpPr>
            <p:cNvPr id="80" name="Straight Connector 79">
              <a:extLst>
                <a:ext uri="{FF2B5EF4-FFF2-40B4-BE49-F238E27FC236}">
                  <a16:creationId xmlns:a16="http://schemas.microsoft.com/office/drawing/2014/main" id="{BF8373A7-6B13-474C-4E37-82E35C5512ED}"/>
                </a:ext>
              </a:extLst>
            </p:cNvPr>
            <p:cNvCxnSpPr>
              <a:cxnSpLocks/>
            </p:cNvCxnSpPr>
            <p:nvPr/>
          </p:nvCxnSpPr>
          <p:spPr>
            <a:xfrm>
              <a:off x="2045350" y="1200150"/>
              <a:ext cx="0" cy="2743201"/>
            </a:xfrm>
            <a:prstGeom prst="line">
              <a:avLst/>
            </a:prstGeom>
            <a:noFill/>
            <a:ln w="6350" cap="flat" cmpd="sng" algn="ctr">
              <a:solidFill>
                <a:srgbClr val="281A42"/>
              </a:solidFill>
              <a:prstDash val="solid"/>
              <a:miter lim="800000"/>
              <a:headEnd w="med" len="sm"/>
              <a:tailEnd type="none" w="med" len="sm"/>
            </a:ln>
            <a:effectLst/>
          </p:spPr>
        </p:cxnSp>
        <p:cxnSp>
          <p:nvCxnSpPr>
            <p:cNvPr id="81" name="Straight Connector 80">
              <a:extLst>
                <a:ext uri="{FF2B5EF4-FFF2-40B4-BE49-F238E27FC236}">
                  <a16:creationId xmlns:a16="http://schemas.microsoft.com/office/drawing/2014/main" id="{257230C1-2606-F88B-9760-C8C9DE0DCA4A}"/>
                </a:ext>
              </a:extLst>
            </p:cNvPr>
            <p:cNvCxnSpPr>
              <a:cxnSpLocks/>
            </p:cNvCxnSpPr>
            <p:nvPr/>
          </p:nvCxnSpPr>
          <p:spPr>
            <a:xfrm>
              <a:off x="3806166" y="1200150"/>
              <a:ext cx="0" cy="2743201"/>
            </a:xfrm>
            <a:prstGeom prst="line">
              <a:avLst/>
            </a:prstGeom>
            <a:noFill/>
            <a:ln w="6350" cap="flat" cmpd="sng" algn="ctr">
              <a:solidFill>
                <a:srgbClr val="281A42"/>
              </a:solidFill>
              <a:prstDash val="solid"/>
              <a:miter lim="800000"/>
              <a:headEnd w="med" len="sm"/>
              <a:tailEnd type="none" w="med" len="sm"/>
            </a:ln>
            <a:effectLst/>
          </p:spPr>
        </p:cxnSp>
        <p:cxnSp>
          <p:nvCxnSpPr>
            <p:cNvPr id="82" name="Straight Connector 81">
              <a:extLst>
                <a:ext uri="{FF2B5EF4-FFF2-40B4-BE49-F238E27FC236}">
                  <a16:creationId xmlns:a16="http://schemas.microsoft.com/office/drawing/2014/main" id="{BFA54D5D-FA2A-1588-1B2A-4E10372FC7DE}"/>
                </a:ext>
              </a:extLst>
            </p:cNvPr>
            <p:cNvCxnSpPr>
              <a:cxnSpLocks/>
            </p:cNvCxnSpPr>
            <p:nvPr/>
          </p:nvCxnSpPr>
          <p:spPr>
            <a:xfrm>
              <a:off x="7327798" y="1200150"/>
              <a:ext cx="0" cy="2743201"/>
            </a:xfrm>
            <a:prstGeom prst="line">
              <a:avLst/>
            </a:prstGeom>
            <a:noFill/>
            <a:ln w="6350" cap="flat" cmpd="sng" algn="ctr">
              <a:solidFill>
                <a:srgbClr val="281A42"/>
              </a:solidFill>
              <a:prstDash val="solid"/>
              <a:miter lim="800000"/>
              <a:headEnd w="med" len="sm"/>
              <a:tailEnd type="none" w="med" len="sm"/>
            </a:ln>
            <a:effectLst/>
          </p:spPr>
        </p:cxnSp>
        <p:cxnSp>
          <p:nvCxnSpPr>
            <p:cNvPr id="83" name="Straight Connector 82">
              <a:extLst>
                <a:ext uri="{FF2B5EF4-FFF2-40B4-BE49-F238E27FC236}">
                  <a16:creationId xmlns:a16="http://schemas.microsoft.com/office/drawing/2014/main" id="{B7B0BED3-4691-DBCE-4472-2CB897D096D1}"/>
                </a:ext>
              </a:extLst>
            </p:cNvPr>
            <p:cNvCxnSpPr>
              <a:cxnSpLocks/>
            </p:cNvCxnSpPr>
            <p:nvPr/>
          </p:nvCxnSpPr>
          <p:spPr>
            <a:xfrm>
              <a:off x="5566982" y="1200150"/>
              <a:ext cx="0" cy="2743201"/>
            </a:xfrm>
            <a:prstGeom prst="line">
              <a:avLst/>
            </a:prstGeom>
            <a:noFill/>
            <a:ln w="6350" cap="flat" cmpd="sng" algn="ctr">
              <a:solidFill>
                <a:srgbClr val="281A42"/>
              </a:solidFill>
              <a:prstDash val="solid"/>
              <a:miter lim="800000"/>
              <a:headEnd w="med" len="sm"/>
              <a:tailEnd type="none" w="med" len="sm"/>
            </a:ln>
            <a:effectLst/>
          </p:spPr>
        </p:cxnSp>
      </p:grpSp>
      <p:grpSp>
        <p:nvGrpSpPr>
          <p:cNvPr id="84" name="Group 83">
            <a:extLst>
              <a:ext uri="{FF2B5EF4-FFF2-40B4-BE49-F238E27FC236}">
                <a16:creationId xmlns:a16="http://schemas.microsoft.com/office/drawing/2014/main" id="{1B9057F0-86F3-8880-D345-300E15EC0D42}"/>
              </a:ext>
            </a:extLst>
          </p:cNvPr>
          <p:cNvGrpSpPr/>
          <p:nvPr/>
        </p:nvGrpSpPr>
        <p:grpSpPr>
          <a:xfrm>
            <a:off x="2864691" y="2834341"/>
            <a:ext cx="2072640" cy="2166257"/>
            <a:chOff x="2145902" y="2367643"/>
            <a:chExt cx="1554480" cy="1624693"/>
          </a:xfrm>
        </p:grpSpPr>
        <p:sp>
          <p:nvSpPr>
            <p:cNvPr id="85" name="Rectangle: Rounded Corners 84">
              <a:extLst>
                <a:ext uri="{FF2B5EF4-FFF2-40B4-BE49-F238E27FC236}">
                  <a16:creationId xmlns:a16="http://schemas.microsoft.com/office/drawing/2014/main" id="{6A97D8FA-E6D1-247B-187B-DFFAC97507A8}"/>
                </a:ext>
              </a:extLst>
            </p:cNvPr>
            <p:cNvSpPr/>
            <p:nvPr/>
          </p:nvSpPr>
          <p:spPr>
            <a:xfrm>
              <a:off x="2145902" y="2367643"/>
              <a:ext cx="1554480" cy="1624693"/>
            </a:xfrm>
            <a:prstGeom prst="roundRect">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86" name="TextBox 85">
              <a:extLst>
                <a:ext uri="{FF2B5EF4-FFF2-40B4-BE49-F238E27FC236}">
                  <a16:creationId xmlns:a16="http://schemas.microsoft.com/office/drawing/2014/main" id="{1E51D455-0DDA-4DB5-D6F3-5AE7F82F6CD8}"/>
                </a:ext>
              </a:extLst>
            </p:cNvPr>
            <p:cNvSpPr txBox="1"/>
            <p:nvPr/>
          </p:nvSpPr>
          <p:spPr>
            <a:xfrm>
              <a:off x="2237342" y="3608554"/>
              <a:ext cx="1371600" cy="257569"/>
            </a:xfrm>
            <a:prstGeom prst="rect">
              <a:avLst/>
            </a:prstGeom>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sng" strike="noStrike" kern="0" cap="none" spc="-10" normalizeH="0" baseline="0" noProof="0" dirty="0">
                  <a:ln>
                    <a:noFill/>
                  </a:ln>
                  <a:solidFill>
                    <a:srgbClr val="1D1D1D"/>
                  </a:solidFill>
                  <a:effectLst/>
                  <a:uLnTx/>
                  <a:uFillTx/>
                  <a:latin typeface="Segoe UI" pitchFamily="34" charset="0"/>
                  <a:ea typeface="+mn-ea"/>
                  <a:cs typeface="+mn-cs"/>
                </a:rPr>
                <a:t>Operating Model</a:t>
              </a:r>
            </a:p>
          </p:txBody>
        </p:sp>
        <p:grpSp>
          <p:nvGrpSpPr>
            <p:cNvPr id="87" name="Group 86">
              <a:extLst>
                <a:ext uri="{FF2B5EF4-FFF2-40B4-BE49-F238E27FC236}">
                  <a16:creationId xmlns:a16="http://schemas.microsoft.com/office/drawing/2014/main" id="{AA349659-8AC9-059D-82E0-79C2E2FB14F2}"/>
                </a:ext>
              </a:extLst>
            </p:cNvPr>
            <p:cNvGrpSpPr/>
            <p:nvPr/>
          </p:nvGrpSpPr>
          <p:grpSpPr>
            <a:xfrm>
              <a:off x="2488189" y="2571750"/>
              <a:ext cx="869906" cy="919853"/>
              <a:chOff x="2447627" y="2571750"/>
              <a:chExt cx="869906" cy="919853"/>
            </a:xfrm>
          </p:grpSpPr>
          <p:pic>
            <p:nvPicPr>
              <p:cNvPr id="88" name="Picture 87">
                <a:extLst>
                  <a:ext uri="{FF2B5EF4-FFF2-40B4-BE49-F238E27FC236}">
                    <a16:creationId xmlns:a16="http://schemas.microsoft.com/office/drawing/2014/main" id="{9A22F8BC-D278-1360-703F-507B26416685}"/>
                  </a:ext>
                </a:extLst>
              </p:cNvPr>
              <p:cNvPicPr>
                <a:picLocks noChangeAspect="1"/>
              </p:cNvPicPr>
              <p:nvPr/>
            </p:nvPicPr>
            <p:blipFill>
              <a:blip r:embed="rId5">
                <a:clrChange>
                  <a:clrFrom>
                    <a:srgbClr val="FFFFFF"/>
                  </a:clrFrom>
                  <a:clrTo>
                    <a:srgbClr val="FFFFFF">
                      <a:alpha val="0"/>
                    </a:srgbClr>
                  </a:clrTo>
                </a:clrChange>
                <a:duotone>
                  <a:srgbClr val="765FFF"/>
                  <a:srgbClr val="FFFFFF"/>
                </a:duotone>
              </a:blip>
              <a:stretch>
                <a:fillRect/>
              </a:stretch>
            </p:blipFill>
            <p:spPr>
              <a:xfrm>
                <a:off x="2447627" y="2571750"/>
                <a:ext cx="869906" cy="919853"/>
              </a:xfrm>
              <a:prstGeom prst="rect">
                <a:avLst/>
              </a:prstGeom>
            </p:spPr>
          </p:pic>
          <p:sp>
            <p:nvSpPr>
              <p:cNvPr id="89" name="Rectangle: Rounded Corners 88">
                <a:extLst>
                  <a:ext uri="{FF2B5EF4-FFF2-40B4-BE49-F238E27FC236}">
                    <a16:creationId xmlns:a16="http://schemas.microsoft.com/office/drawing/2014/main" id="{4F885AD1-BC6D-3B58-ED39-1FA25BB15484}"/>
                  </a:ext>
                </a:extLst>
              </p:cNvPr>
              <p:cNvSpPr/>
              <p:nvPr/>
            </p:nvSpPr>
            <p:spPr>
              <a:xfrm>
                <a:off x="2762385" y="2934628"/>
                <a:ext cx="238896" cy="194095"/>
              </a:xfrm>
              <a:prstGeom prst="roundRect">
                <a:avLst>
                  <a:gd name="adj" fmla="val 16667"/>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grpSp>
      </p:grpSp>
      <p:grpSp>
        <p:nvGrpSpPr>
          <p:cNvPr id="90" name="Group 89">
            <a:extLst>
              <a:ext uri="{FF2B5EF4-FFF2-40B4-BE49-F238E27FC236}">
                <a16:creationId xmlns:a16="http://schemas.microsoft.com/office/drawing/2014/main" id="{D9016C96-6866-DB25-9E03-C3B14C495C11}"/>
              </a:ext>
            </a:extLst>
          </p:cNvPr>
          <p:cNvGrpSpPr/>
          <p:nvPr/>
        </p:nvGrpSpPr>
        <p:grpSpPr>
          <a:xfrm>
            <a:off x="5212445" y="2834341"/>
            <a:ext cx="2072640" cy="2166257"/>
            <a:chOff x="3909334" y="2125755"/>
            <a:chExt cx="1554480" cy="1624693"/>
          </a:xfrm>
        </p:grpSpPr>
        <p:grpSp>
          <p:nvGrpSpPr>
            <p:cNvPr id="91" name="Group 90">
              <a:extLst>
                <a:ext uri="{FF2B5EF4-FFF2-40B4-BE49-F238E27FC236}">
                  <a16:creationId xmlns:a16="http://schemas.microsoft.com/office/drawing/2014/main" id="{A5D12234-2A12-91FC-689E-CC4E55FE41D4}"/>
                </a:ext>
              </a:extLst>
            </p:cNvPr>
            <p:cNvGrpSpPr/>
            <p:nvPr/>
          </p:nvGrpSpPr>
          <p:grpSpPr>
            <a:xfrm>
              <a:off x="3909334" y="2125755"/>
              <a:ext cx="1554480" cy="1624693"/>
              <a:chOff x="3982370" y="2367643"/>
              <a:chExt cx="1554480" cy="1624693"/>
            </a:xfrm>
          </p:grpSpPr>
          <p:sp>
            <p:nvSpPr>
              <p:cNvPr id="93" name="Rectangle: Rounded Corners 92">
                <a:extLst>
                  <a:ext uri="{FF2B5EF4-FFF2-40B4-BE49-F238E27FC236}">
                    <a16:creationId xmlns:a16="http://schemas.microsoft.com/office/drawing/2014/main" id="{B777F370-F33A-49C4-A119-991881DEE36A}"/>
                  </a:ext>
                </a:extLst>
              </p:cNvPr>
              <p:cNvSpPr/>
              <p:nvPr/>
            </p:nvSpPr>
            <p:spPr>
              <a:xfrm>
                <a:off x="3982370" y="2367643"/>
                <a:ext cx="1554480" cy="1624693"/>
              </a:xfrm>
              <a:prstGeom prst="roundRect">
                <a:avLst/>
              </a:prstGeom>
              <a:solidFill>
                <a:srgbClr val="F2F2F2"/>
              </a:solidFill>
            </p:spPr>
            <p:txBody>
              <a:bodyPr vert="horz" lIns="73152" tIns="73152" rIns="60960" bIns="48768" rtlCol="0" anchor="ctr" anchorCtr="0">
                <a:noAutofit/>
              </a:bodyPr>
              <a:lstStyle/>
              <a:p>
                <a:pPr marL="0" marR="0" lvl="0" indent="0" algn="ctr" defTabSz="231637" rtl="0" eaLnBrk="1" fontAlgn="auto" latinLnBrk="0" hangingPunct="1">
                  <a:lnSpc>
                    <a:spcPct val="100000"/>
                  </a:lnSpc>
                  <a:spcBef>
                    <a:spcPts val="0"/>
                  </a:spcBef>
                  <a:spcAft>
                    <a:spcPts val="800"/>
                  </a:spcAft>
                  <a:buClrTx/>
                  <a:buSzTx/>
                  <a:buFontTx/>
                  <a:buNone/>
                  <a:tabLst>
                    <a:tab pos="231637" algn="l"/>
                    <a:tab pos="463272" algn="l"/>
                    <a:tab pos="694909" algn="l"/>
                    <a:tab pos="926546" algn="l"/>
                  </a:tabLst>
                  <a:defRPr/>
                </a:pPr>
                <a:endParaRPr kumimoji="0" lang="en-US" sz="1867"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94" name="TextBox 93">
                <a:extLst>
                  <a:ext uri="{FF2B5EF4-FFF2-40B4-BE49-F238E27FC236}">
                    <a16:creationId xmlns:a16="http://schemas.microsoft.com/office/drawing/2014/main" id="{3A0F2797-5710-B83E-15F0-D1445A317143}"/>
                  </a:ext>
                </a:extLst>
              </p:cNvPr>
              <p:cNvSpPr txBox="1"/>
              <p:nvPr/>
            </p:nvSpPr>
            <p:spPr>
              <a:xfrm>
                <a:off x="4073810" y="3608554"/>
                <a:ext cx="1371600" cy="257569"/>
              </a:xfrm>
              <a:prstGeom prst="rect">
                <a:avLst/>
              </a:prstGeom>
            </p:spPr>
            <p:txBody>
              <a:bodyPr vert="horz" wrap="square" lIns="0" tIns="0" rIns="0" bIns="0" rtlCol="0" anchor="ctr" anchorCtr="0">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sng" strike="noStrike" kern="0" cap="none" spc="-10" normalizeH="0" baseline="0" noProof="0" dirty="0">
                    <a:ln>
                      <a:noFill/>
                    </a:ln>
                    <a:solidFill>
                      <a:srgbClr val="1D1D1D"/>
                    </a:solidFill>
                    <a:effectLst/>
                    <a:uLnTx/>
                    <a:uFillTx/>
                    <a:latin typeface="Segoe UI" pitchFamily="34" charset="0"/>
                    <a:ea typeface="+mn-ea"/>
                    <a:cs typeface="+mn-cs"/>
                  </a:rPr>
                  <a:t>Top Team Mobilization</a:t>
                </a:r>
              </a:p>
            </p:txBody>
          </p:sp>
        </p:grpSp>
        <p:pic>
          <p:nvPicPr>
            <p:cNvPr id="92" name="Picture 91">
              <a:extLst>
                <a:ext uri="{FF2B5EF4-FFF2-40B4-BE49-F238E27FC236}">
                  <a16:creationId xmlns:a16="http://schemas.microsoft.com/office/drawing/2014/main" id="{71DE840D-438C-A46E-D5F8-874E1C179927}"/>
                </a:ext>
              </a:extLst>
            </p:cNvPr>
            <p:cNvPicPr>
              <a:picLocks noChangeAspect="1"/>
            </p:cNvPicPr>
            <p:nvPr/>
          </p:nvPicPr>
          <p:blipFill>
            <a:blip r:embed="rId6">
              <a:duotone>
                <a:srgbClr val="765FFF"/>
                <a:srgbClr val="FFFFFF"/>
              </a:duotone>
            </a:blip>
            <a:srcRect l="27313" r="27827"/>
            <a:stretch/>
          </p:blipFill>
          <p:spPr>
            <a:xfrm>
              <a:off x="4306764" y="2306123"/>
              <a:ext cx="759619" cy="904788"/>
            </a:xfrm>
            <a:prstGeom prst="rect">
              <a:avLst/>
            </a:prstGeom>
            <a:effectLst>
              <a:outerShdw blurRad="50800" dist="38100" dir="2700000" algn="tl" rotWithShape="0">
                <a:prstClr val="black">
                  <a:alpha val="40000"/>
                </a:prstClr>
              </a:outerShdw>
            </a:effectLst>
          </p:spPr>
        </p:pic>
      </p:grpSp>
      <p:pic>
        <p:nvPicPr>
          <p:cNvPr id="95" name="Picture 94" descr="Talent to Value">
            <a:extLst>
              <a:ext uri="{FF2B5EF4-FFF2-40B4-BE49-F238E27FC236}">
                <a16:creationId xmlns:a16="http://schemas.microsoft.com/office/drawing/2014/main" id="{3E07A9ED-F42A-4385-8D56-DBA54A8825F9}"/>
              </a:ext>
            </a:extLst>
          </p:cNvPr>
          <p:cNvPicPr>
            <a:picLocks noChangeAspect="1"/>
          </p:cNvPicPr>
          <p:nvPr/>
        </p:nvPicPr>
        <p:blipFill>
          <a:blip r:embed="rId7">
            <a:duotone>
              <a:srgbClr val="765FFF"/>
              <a:srgbClr val="FFFFFF"/>
            </a:duotone>
          </a:blip>
          <a:stretch>
            <a:fillRect/>
          </a:stretch>
        </p:blipFill>
        <p:spPr>
          <a:xfrm>
            <a:off x="10417248" y="3250999"/>
            <a:ext cx="1081955" cy="1081955"/>
          </a:xfrm>
          <a:prstGeom prst="rect">
            <a:avLst/>
          </a:prstGeom>
        </p:spPr>
      </p:pic>
      <p:sp>
        <p:nvSpPr>
          <p:cNvPr id="4" name="TextBox 3">
            <a:extLst>
              <a:ext uri="{FF2B5EF4-FFF2-40B4-BE49-F238E27FC236}">
                <a16:creationId xmlns:a16="http://schemas.microsoft.com/office/drawing/2014/main" id="{08B30605-F8F0-8E99-4A3A-1197C91809D8}"/>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96" name="SubtitleSplit"/>
          <p:cNvSpPr>
            <a:spLocks noGrp="1"/>
          </p:cNvSpPr>
          <p:nvPr>
            <p:ph type="subTitle" idx="1"/>
          </p:nvPr>
        </p:nvSpPr>
        <p:spPr>
          <a:noFill/>
        </p:spPr>
        <p:txBody>
          <a:bodyPr/>
          <a:lstStyle/>
          <a:p>
            <a:r>
              <a:t>CEO lens to address derailers</a:t>
            </a:r>
            <a:endParaRPr lang="en-US" b="0" spc="-10">
              <a:latin typeface="Segoe UI" pitchFamily="34" charset="0"/>
            </a:endParaRPr>
          </a:p>
        </p:txBody>
      </p:sp>
      <p:sp>
        <p:nvSpPr>
          <p:cNvPr id="9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3F5BC98F-3A83-4248-B85D-60758741A944}" type="slidenum">
              <a:t>4</a:t>
            </a:fld>
            <a:endParaRPr lang="en-US"/>
          </a:p>
        </p:txBody>
      </p:sp>
    </p:spTree>
    <p:extLst>
      <p:ext uri="{BB962C8B-B14F-4D97-AF65-F5344CB8AC3E}">
        <p14:creationId xmlns:p14="http://schemas.microsoft.com/office/powerpoint/2010/main" val="1872643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0CC92-BC8B-96BB-B2B8-9E1074FB8145}"/>
            </a:ext>
          </a:extLst>
        </p:cNvPr>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38DAB324-0774-D038-C13D-2F3F9FA3F59C}"/>
              </a:ext>
            </a:extLst>
          </p:cNvPr>
          <p:cNvCxnSpPr>
            <a:cxnSpLocks/>
            <a:stCxn id="2" idx="1"/>
          </p:cNvCxnSpPr>
          <p:nvPr/>
        </p:nvCxnSpPr>
        <p:spPr>
          <a:xfrm>
            <a:off x="455698" y="2660057"/>
            <a:ext cx="7030471" cy="8379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 Placeholder 1">
            <a:extLst>
              <a:ext uri="{FF2B5EF4-FFF2-40B4-BE49-F238E27FC236}">
                <a16:creationId xmlns:a16="http://schemas.microsoft.com/office/drawing/2014/main" id="{FAC0E02A-B704-1CF8-96F6-AAA61DF87BBC}"/>
              </a:ext>
            </a:extLst>
          </p:cNvPr>
          <p:cNvSpPr>
            <a:spLocks noGrp="1"/>
          </p:cNvSpPr>
          <p:nvPr>
            <p:ph type="title" sz="quarter"/>
          </p:nvPr>
        </p:nvSpPr>
        <p:spPr/>
        <p:txBody>
          <a:bodyPr/>
          <a:lstStyle/>
          <a:p>
            <a:endParaRPr lang="en-US" dirty="0">
              <a:latin typeface="+mn-lt"/>
            </a:endParaRPr>
          </a:p>
        </p:txBody>
      </p:sp>
      <p:pic>
        <p:nvPicPr>
          <p:cNvPr id="2" name="Picture 1">
            <a:extLst>
              <a:ext uri="{FF2B5EF4-FFF2-40B4-BE49-F238E27FC236}">
                <a16:creationId xmlns:a16="http://schemas.microsoft.com/office/drawing/2014/main" id="{2F4FB2C6-F8A9-2781-23F7-A0F11B21BAAF}"/>
              </a:ext>
            </a:extLst>
          </p:cNvPr>
          <p:cNvPicPr>
            <a:picLocks noChangeAspect="1"/>
          </p:cNvPicPr>
          <p:nvPr/>
        </p:nvPicPr>
        <p:blipFill>
          <a:blip r:embed="rId3" cstate="email">
            <a:duotone>
              <a:srgbClr val="765FFF"/>
              <a:srgbClr val="FFFFFF"/>
            </a:duotone>
          </a:blip>
          <a:stretch>
            <a:fillRect/>
          </a:stretch>
        </p:blipFill>
        <p:spPr>
          <a:xfrm>
            <a:off x="455698" y="1650670"/>
            <a:ext cx="7363498" cy="2018774"/>
          </a:xfrm>
          <a:prstGeom prst="rect">
            <a:avLst/>
          </a:prstGeom>
          <a:ln>
            <a:noFill/>
          </a:ln>
        </p:spPr>
      </p:pic>
      <p:sp>
        <p:nvSpPr>
          <p:cNvPr id="5" name="Rectangle 4">
            <a:extLst>
              <a:ext uri="{FF2B5EF4-FFF2-40B4-BE49-F238E27FC236}">
                <a16:creationId xmlns:a16="http://schemas.microsoft.com/office/drawing/2014/main" id="{4FD4016B-5B04-5C0B-DA84-6A803E88DFE6}"/>
              </a:ext>
            </a:extLst>
          </p:cNvPr>
          <p:cNvSpPr/>
          <p:nvPr/>
        </p:nvSpPr>
        <p:spPr>
          <a:xfrm>
            <a:off x="8051473" y="1200733"/>
            <a:ext cx="3815275" cy="505141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b="1" spc="-25">
                <a:latin typeface="Segoe UI" pitchFamily="34" charset="0"/>
              </a:defRPr>
            </a:pPr>
            <a:r>
              <a:rPr kumimoji="0" lang="en-US" sz="1600" b="1" i="0" u="none" strike="noStrike" kern="0" cap="none" spc="-25" normalizeH="0" baseline="0" noProof="0" dirty="0">
                <a:ln>
                  <a:noFill/>
                </a:ln>
                <a:solidFill>
                  <a:srgbClr val="281A42"/>
                </a:solidFill>
                <a:effectLst/>
                <a:uLnTx/>
                <a:uFillTx/>
                <a:latin typeface="Segoe UI" pitchFamily="34" charset="0"/>
                <a:ea typeface="+mn-ea"/>
                <a:cs typeface="+mn-cs"/>
              </a:rPr>
              <a:t>FAST</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2 to 6 Weeks+ Depending on Scope &amp;</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specific Use Case</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endPar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b="1" spc="-25">
                <a:latin typeface="Segoe UI" pitchFamily="34" charset="0"/>
              </a:defRPr>
            </a:pPr>
            <a:r>
              <a:rPr kumimoji="0" lang="en-US" sz="1600" b="1" i="0" u="none" strike="noStrike" kern="0" cap="none" spc="-25" normalizeH="0" baseline="0" noProof="0" dirty="0">
                <a:ln>
                  <a:noFill/>
                </a:ln>
                <a:solidFill>
                  <a:srgbClr val="281A42"/>
                </a:solidFill>
                <a:effectLst/>
                <a:uLnTx/>
                <a:uFillTx/>
                <a:latin typeface="Segoe UI" pitchFamily="34" charset="0"/>
                <a:ea typeface="+mn-ea"/>
                <a:cs typeface="+mn-cs"/>
              </a:rPr>
              <a:t>Light</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work with the CXO Team +</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5 – 6 Hotspot Owners</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endPar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b="1" spc="-25">
                <a:latin typeface="Segoe UI" pitchFamily="34" charset="0"/>
              </a:defRPr>
            </a:pPr>
            <a:r>
              <a:rPr kumimoji="0" lang="en-US" sz="1600" b="1" i="0" u="none" strike="noStrike" kern="0" cap="none" spc="-25" normalizeH="0" baseline="0" noProof="0" dirty="0">
                <a:ln>
                  <a:noFill/>
                </a:ln>
                <a:solidFill>
                  <a:srgbClr val="281A42"/>
                </a:solidFill>
                <a:effectLst/>
                <a:uLnTx/>
                <a:uFillTx/>
                <a:latin typeface="Segoe UI" pitchFamily="34" charset="0"/>
                <a:ea typeface="+mn-ea"/>
                <a:cs typeface="+mn-cs"/>
              </a:rPr>
              <a:t>Minimally Invasive</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few, Precisely Targeted, </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Sequenced Interventions</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endPar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b="1" spc="-25">
                <a:latin typeface="Segoe UI" pitchFamily="34" charset="0"/>
              </a:defRPr>
            </a:pPr>
            <a:r>
              <a:rPr kumimoji="0" lang="en-US" sz="1600" b="1" i="0" u="none" strike="noStrike" kern="0" cap="none" spc="-25" normalizeH="0" baseline="0" noProof="0" dirty="0">
                <a:ln>
                  <a:noFill/>
                </a:ln>
                <a:solidFill>
                  <a:srgbClr val="281A42"/>
                </a:solidFill>
                <a:effectLst/>
                <a:uLnTx/>
                <a:uFillTx/>
                <a:latin typeface="Segoe UI" pitchFamily="34" charset="0"/>
                <a:ea typeface="+mn-ea"/>
                <a:cs typeface="+mn-cs"/>
              </a:rPr>
              <a:t>Flexible &amp; Bespoke</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anchored in Talent to Value Ip</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1" u="none" strike="noStrike" kern="0" cap="none" spc="-25" normalizeH="0" baseline="0" noProof="0" dirty="0">
                <a:ln>
                  <a:noFill/>
                </a:ln>
                <a:solidFill>
                  <a:srgbClr val="1D1D1D"/>
                </a:solidFill>
                <a:effectLst/>
                <a:uLnTx/>
                <a:uFillTx/>
                <a:latin typeface="Segoe UI" pitchFamily="34" charset="0"/>
                <a:ea typeface="+mn-ea"/>
                <a:cs typeface="+mn-cs"/>
              </a:rPr>
              <a:t>but</a:t>
            </a: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 </a:t>
            </a:r>
            <a:b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br>
            <a:r>
              <a:rPr kumimoji="0" lang="en-US" sz="1600" b="1" i="0" u="none" strike="noStrike" kern="0" cap="none" spc="-25" normalizeH="0" baseline="0" noProof="0" dirty="0">
                <a:ln>
                  <a:noFill/>
                </a:ln>
                <a:solidFill>
                  <a:srgbClr val="1D1D1D"/>
                </a:solidFill>
                <a:effectLst/>
                <a:uLnTx/>
                <a:uFillTx/>
                <a:latin typeface="Segoe UI" pitchFamily="34" charset="0"/>
                <a:ea typeface="+mn-ea"/>
                <a:cs typeface="+mn-cs"/>
              </a:rPr>
              <a:t>Solution Mix Specific to Your Context</a:t>
            </a:r>
          </a:p>
        </p:txBody>
      </p:sp>
      <p:pic>
        <p:nvPicPr>
          <p:cNvPr id="12" name="Picture 11">
            <a:extLst>
              <a:ext uri="{FF2B5EF4-FFF2-40B4-BE49-F238E27FC236}">
                <a16:creationId xmlns:a16="http://schemas.microsoft.com/office/drawing/2014/main" id="{1C327AA7-E15A-2306-3DC2-FF98A8A68D33}"/>
              </a:ext>
            </a:extLst>
          </p:cNvPr>
          <p:cNvPicPr>
            <a:picLocks noChangeAspect="1"/>
          </p:cNvPicPr>
          <p:nvPr/>
        </p:nvPicPr>
        <p:blipFill>
          <a:blip r:embed="rId4">
            <a:duotone>
              <a:srgbClr val="765FFF"/>
              <a:srgbClr val="FFFFFF"/>
            </a:duotone>
          </a:blip>
          <a:stretch>
            <a:fillRect/>
          </a:stretch>
        </p:blipFill>
        <p:spPr>
          <a:xfrm>
            <a:off x="455698" y="3899826"/>
            <a:ext cx="7458346" cy="1558010"/>
          </a:xfrm>
          <a:prstGeom prst="rect">
            <a:avLst/>
          </a:prstGeom>
        </p:spPr>
      </p:pic>
      <p:cxnSp>
        <p:nvCxnSpPr>
          <p:cNvPr id="21" name="Straight Connector 20">
            <a:extLst>
              <a:ext uri="{FF2B5EF4-FFF2-40B4-BE49-F238E27FC236}">
                <a16:creationId xmlns:a16="http://schemas.microsoft.com/office/drawing/2014/main" id="{FD69CEAE-87CC-4734-88FE-215E01943C91}"/>
              </a:ext>
            </a:extLst>
          </p:cNvPr>
          <p:cNvCxnSpPr/>
          <p:nvPr/>
        </p:nvCxnSpPr>
        <p:spPr>
          <a:xfrm>
            <a:off x="7935337" y="1207994"/>
            <a:ext cx="0" cy="5044157"/>
          </a:xfrm>
          <a:prstGeom prst="line">
            <a:avLst/>
          </a:prstGeom>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18EBE11-D519-8D54-5ECE-69AC3710B4A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22" name="SubtitleSplit"/>
          <p:cNvSpPr>
            <a:spLocks noGrp="1"/>
          </p:cNvSpPr>
          <p:nvPr>
            <p:ph type="subTitle" idx="1"/>
          </p:nvPr>
        </p:nvSpPr>
        <p:spPr>
          <a:noFill/>
        </p:spPr>
        <p:txBody>
          <a:bodyPr/>
          <a:lstStyle/>
          <a:p>
            <a:r>
              <a:t>Talent to value ip</a:t>
            </a:r>
            <a:endParaRPr lang="en-US" b="0" spc="-10">
              <a:latin typeface="Segoe UI" pitchFamily="34" charset="0"/>
            </a:endParaRPr>
          </a:p>
        </p:txBody>
      </p:sp>
      <p:sp>
        <p:nvSpPr>
          <p:cNvPr id="2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16D47831-872D-4B00-98EE-9C4E08013759}" type="slidenum">
              <a:t>5</a:t>
            </a:fld>
            <a:endParaRPr lang="en-US"/>
          </a:p>
        </p:txBody>
      </p:sp>
    </p:spTree>
    <p:extLst>
      <p:ext uri="{BB962C8B-B14F-4D97-AF65-F5344CB8AC3E}">
        <p14:creationId xmlns:p14="http://schemas.microsoft.com/office/powerpoint/2010/main" val="3017144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6CCF7-2354-DA3B-7573-900EBBECDDE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E28AB8D-8BB7-1324-A335-61D5A4D8A588}"/>
              </a:ext>
            </a:extLst>
          </p:cNvPr>
          <p:cNvSpPr>
            <a:spLocks noGrp="1"/>
          </p:cNvSpPr>
          <p:nvPr>
            <p:ph type="title" sz="quarter"/>
          </p:nvPr>
        </p:nvSpPr>
        <p:spPr/>
        <p:txBody>
          <a:bodyPr/>
          <a:lstStyle/>
          <a:p>
            <a:r>
              <a:t>Talent to Value</a:t>
            </a:r>
          </a:p>
        </p:txBody>
      </p:sp>
      <p:grpSp>
        <p:nvGrpSpPr>
          <p:cNvPr id="7" name="Group 6">
            <a:extLst>
              <a:ext uri="{FF2B5EF4-FFF2-40B4-BE49-F238E27FC236}">
                <a16:creationId xmlns:a16="http://schemas.microsoft.com/office/drawing/2014/main" id="{B3A616E8-6EFF-D90C-ABBF-03537EFADE02}"/>
              </a:ext>
            </a:extLst>
          </p:cNvPr>
          <p:cNvGrpSpPr/>
          <p:nvPr/>
        </p:nvGrpSpPr>
        <p:grpSpPr>
          <a:xfrm>
            <a:off x="1350483" y="1329780"/>
            <a:ext cx="2549096" cy="1966639"/>
            <a:chOff x="3400216" y="1462361"/>
            <a:chExt cx="2549096" cy="1966639"/>
          </a:xfrm>
        </p:grpSpPr>
        <p:sp>
          <p:nvSpPr>
            <p:cNvPr id="5" name="TextBox 4">
              <a:extLst>
                <a:ext uri="{FF2B5EF4-FFF2-40B4-BE49-F238E27FC236}">
                  <a16:creationId xmlns:a16="http://schemas.microsoft.com/office/drawing/2014/main" id="{952121F1-8DB4-B0CE-6DF4-BCD643EB049B}"/>
                </a:ext>
              </a:extLst>
            </p:cNvPr>
            <p:cNvSpPr txBox="1"/>
            <p:nvPr/>
          </p:nvSpPr>
          <p:spPr>
            <a:xfrm>
              <a:off x="3524968" y="3059668"/>
              <a:ext cx="2299604"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Strengthen Op Model </a:t>
              </a:r>
            </a:p>
          </p:txBody>
        </p:sp>
        <p:sp>
          <p:nvSpPr>
            <p:cNvPr id="17" name="Rectangle: Rounded Corners 16">
              <a:hlinkClick r:id="rId3" action="ppaction://hlinksldjump"/>
              <a:extLst>
                <a:ext uri="{FF2B5EF4-FFF2-40B4-BE49-F238E27FC236}">
                  <a16:creationId xmlns:a16="http://schemas.microsoft.com/office/drawing/2014/main" id="{7EFDA3DF-DEF1-1BAC-98B6-5FB83BEBDFFE}"/>
                </a:ext>
              </a:extLst>
            </p:cNvPr>
            <p:cNvSpPr/>
            <p:nvPr/>
          </p:nvSpPr>
          <p:spPr>
            <a:xfrm>
              <a:off x="3400216" y="1462361"/>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pic>
          <p:nvPicPr>
            <p:cNvPr id="58" name="Picture 57">
              <a:extLst>
                <a:ext uri="{FF2B5EF4-FFF2-40B4-BE49-F238E27FC236}">
                  <a16:creationId xmlns:a16="http://schemas.microsoft.com/office/drawing/2014/main" id="{09EBBD6C-A959-B839-704C-046760DD35EF}"/>
                </a:ext>
              </a:extLst>
            </p:cNvPr>
            <p:cNvPicPr>
              <a:picLocks noChangeAspect="1"/>
            </p:cNvPicPr>
            <p:nvPr/>
          </p:nvPicPr>
          <p:blipFill>
            <a:blip r:embed="rId4">
              <a:duotone>
                <a:srgbClr val="765FFF"/>
                <a:srgbClr val="FFFFFF"/>
              </a:duotone>
            </a:blip>
            <a:stretch>
              <a:fillRect/>
            </a:stretch>
          </p:blipFill>
          <p:spPr>
            <a:xfrm>
              <a:off x="3813988" y="1899843"/>
              <a:ext cx="770166" cy="770166"/>
            </a:xfrm>
            <a:prstGeom prst="rect">
              <a:avLst/>
            </a:prstGeom>
          </p:spPr>
        </p:pic>
        <p:sp>
          <p:nvSpPr>
            <p:cNvPr id="59" name="TextBox 58">
              <a:extLst>
                <a:ext uri="{FF2B5EF4-FFF2-40B4-BE49-F238E27FC236}">
                  <a16:creationId xmlns:a16="http://schemas.microsoft.com/office/drawing/2014/main" id="{87217A1A-C641-9844-8536-BBFBFDCCD912}"/>
                </a:ext>
              </a:extLst>
            </p:cNvPr>
            <p:cNvSpPr txBox="1"/>
            <p:nvPr/>
          </p:nvSpPr>
          <p:spPr>
            <a:xfrm>
              <a:off x="3546146" y="1552052"/>
              <a:ext cx="2292416" cy="276999"/>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mn-cs"/>
                </a:rPr>
                <a:t>“Cut the Fat, Protect the Muscle”</a:t>
              </a:r>
            </a:p>
          </p:txBody>
        </p:sp>
        <p:pic>
          <p:nvPicPr>
            <p:cNvPr id="61" name="Picture 60">
              <a:extLst>
                <a:ext uri="{FF2B5EF4-FFF2-40B4-BE49-F238E27FC236}">
                  <a16:creationId xmlns:a16="http://schemas.microsoft.com/office/drawing/2014/main" id="{224F778C-7219-B3FC-BEEC-02BD92C2077B}"/>
                </a:ext>
              </a:extLst>
            </p:cNvPr>
            <p:cNvPicPr>
              <a:picLocks noChangeAspect="1"/>
            </p:cNvPicPr>
            <p:nvPr/>
          </p:nvPicPr>
          <p:blipFill>
            <a:blip r:embed="rId5">
              <a:duotone>
                <a:srgbClr val="765FFF"/>
                <a:srgbClr val="FFFFFF"/>
              </a:duotone>
            </a:blip>
            <a:stretch>
              <a:fillRect/>
            </a:stretch>
          </p:blipFill>
          <p:spPr>
            <a:xfrm>
              <a:off x="4809069" y="1895189"/>
              <a:ext cx="858186" cy="858186"/>
            </a:xfrm>
            <a:prstGeom prst="rect">
              <a:avLst/>
            </a:prstGeom>
          </p:spPr>
        </p:pic>
      </p:grpSp>
      <p:sp>
        <p:nvSpPr>
          <p:cNvPr id="39" name="TextBox 38">
            <a:extLst>
              <a:ext uri="{FF2B5EF4-FFF2-40B4-BE49-F238E27FC236}">
                <a16:creationId xmlns:a16="http://schemas.microsoft.com/office/drawing/2014/main" id="{21300A71-621A-290C-C2E7-0DDFCDB815C7}"/>
              </a:ext>
            </a:extLst>
          </p:cNvPr>
          <p:cNvSpPr txBox="1"/>
          <p:nvPr/>
        </p:nvSpPr>
        <p:spPr>
          <a:xfrm>
            <a:off x="8281850" y="2927087"/>
            <a:ext cx="2245690"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HR Strategy to Value</a:t>
            </a:r>
          </a:p>
        </p:txBody>
      </p:sp>
      <p:sp>
        <p:nvSpPr>
          <p:cNvPr id="43" name="Rectangle: Rounded Corners 42">
            <a:hlinkClick r:id="rId6" action="ppaction://hlinksldjump"/>
            <a:extLst>
              <a:ext uri="{FF2B5EF4-FFF2-40B4-BE49-F238E27FC236}">
                <a16:creationId xmlns:a16="http://schemas.microsoft.com/office/drawing/2014/main" id="{302DB58E-D7FC-3290-E351-BB79183BD2EC}"/>
              </a:ext>
            </a:extLst>
          </p:cNvPr>
          <p:cNvSpPr/>
          <p:nvPr/>
        </p:nvSpPr>
        <p:spPr>
          <a:xfrm>
            <a:off x="8016846" y="1329780"/>
            <a:ext cx="267377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grpSp>
        <p:nvGrpSpPr>
          <p:cNvPr id="6" name="Group 5">
            <a:extLst>
              <a:ext uri="{FF2B5EF4-FFF2-40B4-BE49-F238E27FC236}">
                <a16:creationId xmlns:a16="http://schemas.microsoft.com/office/drawing/2014/main" id="{BDE1F8A2-EC8C-9725-722B-A7EF50137300}"/>
              </a:ext>
            </a:extLst>
          </p:cNvPr>
          <p:cNvGrpSpPr/>
          <p:nvPr/>
        </p:nvGrpSpPr>
        <p:grpSpPr>
          <a:xfrm>
            <a:off x="8016846" y="3817234"/>
            <a:ext cx="2724721" cy="1966639"/>
            <a:chOff x="557048" y="1462361"/>
            <a:chExt cx="2549096" cy="1966639"/>
          </a:xfrm>
        </p:grpSpPr>
        <p:sp>
          <p:nvSpPr>
            <p:cNvPr id="4" name="TextBox 3">
              <a:extLst>
                <a:ext uri="{FF2B5EF4-FFF2-40B4-BE49-F238E27FC236}">
                  <a16:creationId xmlns:a16="http://schemas.microsoft.com/office/drawing/2014/main" id="{882B28B2-EFC9-EAFE-FE9A-4035624DAAD3}"/>
                </a:ext>
              </a:extLst>
            </p:cNvPr>
            <p:cNvSpPr txBox="1"/>
            <p:nvPr/>
          </p:nvSpPr>
          <p:spPr>
            <a:xfrm>
              <a:off x="785476" y="3059668"/>
              <a:ext cx="2092239"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Succession Planning</a:t>
              </a:r>
            </a:p>
          </p:txBody>
        </p:sp>
        <p:sp>
          <p:nvSpPr>
            <p:cNvPr id="16" name="Rectangle: Rounded Corners 15">
              <a:hlinkClick r:id="rId7" action="ppaction://hlinksldjump"/>
              <a:extLst>
                <a:ext uri="{FF2B5EF4-FFF2-40B4-BE49-F238E27FC236}">
                  <a16:creationId xmlns:a16="http://schemas.microsoft.com/office/drawing/2014/main" id="{57A1E798-E116-319A-DB62-74543FB41607}"/>
                </a:ext>
              </a:extLst>
            </p:cNvPr>
            <p:cNvSpPr/>
            <p:nvPr/>
          </p:nvSpPr>
          <p:spPr>
            <a:xfrm>
              <a:off x="557048" y="1462361"/>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73" name="TextBox 72">
              <a:extLst>
                <a:ext uri="{FF2B5EF4-FFF2-40B4-BE49-F238E27FC236}">
                  <a16:creationId xmlns:a16="http://schemas.microsoft.com/office/drawing/2014/main" id="{5B2CDBEE-D711-8B9D-49D9-3194F714B61E}"/>
                </a:ext>
              </a:extLst>
            </p:cNvPr>
            <p:cNvSpPr txBox="1"/>
            <p:nvPr/>
          </p:nvSpPr>
          <p:spPr>
            <a:xfrm>
              <a:off x="697084" y="1516617"/>
              <a:ext cx="2292416" cy="276999"/>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b="1" i="0" u="none" strike="noStrike" kern="1200" cap="none" spc="-10" normalizeH="0" baseline="0" noProof="0" dirty="0">
                  <a:ln>
                    <a:noFill/>
                  </a:ln>
                  <a:solidFill>
                    <a:srgbClr val="1D1D1D"/>
                  </a:solidFill>
                  <a:effectLst/>
                  <a:uLnTx/>
                  <a:uFillTx/>
                  <a:latin typeface="Segoe UI" pitchFamily="34" charset="0"/>
                  <a:ea typeface="+mn-ea"/>
                  <a:cs typeface="+mn-cs"/>
                </a:rPr>
                <a:t>Build the Pipeline</a:t>
              </a:r>
            </a:p>
          </p:txBody>
        </p:sp>
        <p:sp>
          <p:nvSpPr>
            <p:cNvPr id="88" name="Rectangle 87">
              <a:extLst>
                <a:ext uri="{FF2B5EF4-FFF2-40B4-BE49-F238E27FC236}">
                  <a16:creationId xmlns:a16="http://schemas.microsoft.com/office/drawing/2014/main" id="{78813E14-C9F2-7D64-995E-62334E889569}"/>
                </a:ext>
              </a:extLst>
            </p:cNvPr>
            <p:cNvSpPr/>
            <p:nvPr/>
          </p:nvSpPr>
          <p:spPr>
            <a:xfrm>
              <a:off x="2001846" y="1852384"/>
              <a:ext cx="714568" cy="883487"/>
            </a:xfrm>
            <a:prstGeom prst="rect">
              <a:avLst/>
            </a:prstGeom>
            <a:noFill/>
            <a:ln w="3810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nvGrpSpPr>
            <p:cNvPr id="98" name="Group 97">
              <a:extLst>
                <a:ext uri="{FF2B5EF4-FFF2-40B4-BE49-F238E27FC236}">
                  <a16:creationId xmlns:a16="http://schemas.microsoft.com/office/drawing/2014/main" id="{87A399A3-67E0-A8D9-BBC4-61DB05A42E92}"/>
                </a:ext>
              </a:extLst>
            </p:cNvPr>
            <p:cNvGrpSpPr/>
            <p:nvPr/>
          </p:nvGrpSpPr>
          <p:grpSpPr>
            <a:xfrm>
              <a:off x="2112271" y="1966924"/>
              <a:ext cx="461744" cy="375277"/>
              <a:chOff x="2112271" y="1966924"/>
              <a:chExt cx="461744" cy="375277"/>
            </a:xfrm>
            <a:solidFill>
              <a:srgbClr val="00C27A"/>
            </a:solidFill>
          </p:grpSpPr>
          <p:sp>
            <p:nvSpPr>
              <p:cNvPr id="89" name="Rectangle 88">
                <a:extLst>
                  <a:ext uri="{FF2B5EF4-FFF2-40B4-BE49-F238E27FC236}">
                    <a16:creationId xmlns:a16="http://schemas.microsoft.com/office/drawing/2014/main" id="{12DC4785-E6B8-A85B-62E4-1530BEE8D265}"/>
                  </a:ext>
                </a:extLst>
              </p:cNvPr>
              <p:cNvSpPr/>
              <p:nvPr/>
            </p:nvSpPr>
            <p:spPr>
              <a:xfrm>
                <a:off x="211227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0" name="Rectangle 89">
                <a:extLst>
                  <a:ext uri="{FF2B5EF4-FFF2-40B4-BE49-F238E27FC236}">
                    <a16:creationId xmlns:a16="http://schemas.microsoft.com/office/drawing/2014/main" id="{CF6710BB-C790-40D1-ACEF-518E7D12074A}"/>
                  </a:ext>
                </a:extLst>
              </p:cNvPr>
              <p:cNvSpPr/>
              <p:nvPr/>
            </p:nvSpPr>
            <p:spPr>
              <a:xfrm>
                <a:off x="229822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1" name="Rectangle 90">
                <a:extLst>
                  <a:ext uri="{FF2B5EF4-FFF2-40B4-BE49-F238E27FC236}">
                    <a16:creationId xmlns:a16="http://schemas.microsoft.com/office/drawing/2014/main" id="{1FC75E21-060E-C7E5-640B-244B46080275}"/>
                  </a:ext>
                </a:extLst>
              </p:cNvPr>
              <p:cNvSpPr/>
              <p:nvPr/>
            </p:nvSpPr>
            <p:spPr>
              <a:xfrm>
                <a:off x="248417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2" name="Rectangle 91">
                <a:extLst>
                  <a:ext uri="{FF2B5EF4-FFF2-40B4-BE49-F238E27FC236}">
                    <a16:creationId xmlns:a16="http://schemas.microsoft.com/office/drawing/2014/main" id="{9771B0AC-B6E2-610E-F34D-30F1A89DBD46}"/>
                  </a:ext>
                </a:extLst>
              </p:cNvPr>
              <p:cNvSpPr/>
              <p:nvPr/>
            </p:nvSpPr>
            <p:spPr>
              <a:xfrm>
                <a:off x="211227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3" name="Rectangle 92">
                <a:extLst>
                  <a:ext uri="{FF2B5EF4-FFF2-40B4-BE49-F238E27FC236}">
                    <a16:creationId xmlns:a16="http://schemas.microsoft.com/office/drawing/2014/main" id="{E62BA08E-3A4E-ECCD-43B3-FD918340DC97}"/>
                  </a:ext>
                </a:extLst>
              </p:cNvPr>
              <p:cNvSpPr/>
              <p:nvPr/>
            </p:nvSpPr>
            <p:spPr>
              <a:xfrm>
                <a:off x="229822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4" name="Rectangle 93">
                <a:extLst>
                  <a:ext uri="{FF2B5EF4-FFF2-40B4-BE49-F238E27FC236}">
                    <a16:creationId xmlns:a16="http://schemas.microsoft.com/office/drawing/2014/main" id="{3CC6B6E3-0019-A3CD-44A8-F2835FE9569C}"/>
                  </a:ext>
                </a:extLst>
              </p:cNvPr>
              <p:cNvSpPr/>
              <p:nvPr/>
            </p:nvSpPr>
            <p:spPr>
              <a:xfrm>
                <a:off x="248417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5" name="Rectangle 94">
                <a:extLst>
                  <a:ext uri="{FF2B5EF4-FFF2-40B4-BE49-F238E27FC236}">
                    <a16:creationId xmlns:a16="http://schemas.microsoft.com/office/drawing/2014/main" id="{C8673687-82F3-8413-496B-8E0D96F5847D}"/>
                  </a:ext>
                </a:extLst>
              </p:cNvPr>
              <p:cNvSpPr/>
              <p:nvPr/>
            </p:nvSpPr>
            <p:spPr>
              <a:xfrm>
                <a:off x="2112271" y="2250761"/>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6" name="Rectangle 95">
                <a:extLst>
                  <a:ext uri="{FF2B5EF4-FFF2-40B4-BE49-F238E27FC236}">
                    <a16:creationId xmlns:a16="http://schemas.microsoft.com/office/drawing/2014/main" id="{7273B9C0-80C6-C3E4-7675-CC077943ACAE}"/>
                  </a:ext>
                </a:extLst>
              </p:cNvPr>
              <p:cNvSpPr/>
              <p:nvPr/>
            </p:nvSpPr>
            <p:spPr>
              <a:xfrm>
                <a:off x="2298221" y="2250761"/>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97" name="Rectangle 96">
                <a:extLst>
                  <a:ext uri="{FF2B5EF4-FFF2-40B4-BE49-F238E27FC236}">
                    <a16:creationId xmlns:a16="http://schemas.microsoft.com/office/drawing/2014/main" id="{80CE08E0-EFDF-5955-833E-52B3105BC467}"/>
                  </a:ext>
                </a:extLst>
              </p:cNvPr>
              <p:cNvSpPr/>
              <p:nvPr/>
            </p:nvSpPr>
            <p:spPr>
              <a:xfrm>
                <a:off x="2484171" y="2250761"/>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grpSp>
          <p:nvGrpSpPr>
            <p:cNvPr id="99" name="Group 98">
              <a:extLst>
                <a:ext uri="{FF2B5EF4-FFF2-40B4-BE49-F238E27FC236}">
                  <a16:creationId xmlns:a16="http://schemas.microsoft.com/office/drawing/2014/main" id="{16BDCB20-283F-4350-6D73-BFD01644F21B}"/>
                </a:ext>
              </a:extLst>
            </p:cNvPr>
            <p:cNvGrpSpPr/>
            <p:nvPr/>
          </p:nvGrpSpPr>
          <p:grpSpPr>
            <a:xfrm>
              <a:off x="2113132" y="2397684"/>
              <a:ext cx="461744" cy="228354"/>
              <a:chOff x="2112271" y="1966924"/>
              <a:chExt cx="461744" cy="228354"/>
            </a:xfrm>
            <a:solidFill>
              <a:srgbClr val="00C27A"/>
            </a:solidFill>
          </p:grpSpPr>
          <p:sp>
            <p:nvSpPr>
              <p:cNvPr id="100" name="Rectangle 99">
                <a:extLst>
                  <a:ext uri="{FF2B5EF4-FFF2-40B4-BE49-F238E27FC236}">
                    <a16:creationId xmlns:a16="http://schemas.microsoft.com/office/drawing/2014/main" id="{0EFF8323-60F4-A396-A876-5E9F0E81944D}"/>
                  </a:ext>
                </a:extLst>
              </p:cNvPr>
              <p:cNvSpPr/>
              <p:nvPr/>
            </p:nvSpPr>
            <p:spPr>
              <a:xfrm>
                <a:off x="211227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101" name="Rectangle 100">
                <a:extLst>
                  <a:ext uri="{FF2B5EF4-FFF2-40B4-BE49-F238E27FC236}">
                    <a16:creationId xmlns:a16="http://schemas.microsoft.com/office/drawing/2014/main" id="{3BCA0CB3-BB71-F09C-42BE-6169667FE388}"/>
                  </a:ext>
                </a:extLst>
              </p:cNvPr>
              <p:cNvSpPr/>
              <p:nvPr/>
            </p:nvSpPr>
            <p:spPr>
              <a:xfrm>
                <a:off x="229822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102" name="Rectangle 101">
                <a:extLst>
                  <a:ext uri="{FF2B5EF4-FFF2-40B4-BE49-F238E27FC236}">
                    <a16:creationId xmlns:a16="http://schemas.microsoft.com/office/drawing/2014/main" id="{BD48C0AE-2158-5C1E-BA4E-0701EF417A07}"/>
                  </a:ext>
                </a:extLst>
              </p:cNvPr>
              <p:cNvSpPr/>
              <p:nvPr/>
            </p:nvSpPr>
            <p:spPr>
              <a:xfrm>
                <a:off x="2484171" y="1966924"/>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103" name="Rectangle 102">
                <a:extLst>
                  <a:ext uri="{FF2B5EF4-FFF2-40B4-BE49-F238E27FC236}">
                    <a16:creationId xmlns:a16="http://schemas.microsoft.com/office/drawing/2014/main" id="{14F40ACF-5E1D-0C7E-60AF-51A0B7E55BBA}"/>
                  </a:ext>
                </a:extLst>
              </p:cNvPr>
              <p:cNvSpPr/>
              <p:nvPr/>
            </p:nvSpPr>
            <p:spPr>
              <a:xfrm>
                <a:off x="211227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104" name="Rectangle 103">
                <a:extLst>
                  <a:ext uri="{FF2B5EF4-FFF2-40B4-BE49-F238E27FC236}">
                    <a16:creationId xmlns:a16="http://schemas.microsoft.com/office/drawing/2014/main" id="{E6181C89-0790-3CD8-553B-7416F2A4F29B}"/>
                  </a:ext>
                </a:extLst>
              </p:cNvPr>
              <p:cNvSpPr/>
              <p:nvPr/>
            </p:nvSpPr>
            <p:spPr>
              <a:xfrm>
                <a:off x="229822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105" name="Rectangle 104">
                <a:extLst>
                  <a:ext uri="{FF2B5EF4-FFF2-40B4-BE49-F238E27FC236}">
                    <a16:creationId xmlns:a16="http://schemas.microsoft.com/office/drawing/2014/main" id="{255AD3F9-7266-1204-319B-28C9DCFB62D0}"/>
                  </a:ext>
                </a:extLst>
              </p:cNvPr>
              <p:cNvSpPr/>
              <p:nvPr/>
            </p:nvSpPr>
            <p:spPr>
              <a:xfrm>
                <a:off x="2484171" y="2103838"/>
                <a:ext cx="89844" cy="9144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pic>
          <p:nvPicPr>
            <p:cNvPr id="2056" name="Picture 8" descr="Top quality emoticon. Raised eyebrow emoji. Skeptical emoticon. Yellow face  emoji. Popular element. 29892065 PNG">
              <a:extLst>
                <a:ext uri="{FF2B5EF4-FFF2-40B4-BE49-F238E27FC236}">
                  <a16:creationId xmlns:a16="http://schemas.microsoft.com/office/drawing/2014/main" id="{24460D26-8162-33CA-AAB3-C5AF3C4E6BEF}"/>
                </a:ext>
              </a:extLst>
            </p:cNvPr>
            <p:cNvPicPr>
              <a:picLocks noChangeAspect="1" noChangeArrowheads="1"/>
            </p:cNvPicPr>
            <p:nvPr/>
          </p:nvPicPr>
          <p:blipFill>
            <a:blip r:embed="rId8">
              <a:duotone>
                <a:srgbClr val="765FFF"/>
                <a:srgbClr val="FFFFFF"/>
              </a:duotone>
            </a:blip>
            <a:srcRect/>
            <a:stretch>
              <a:fillRect/>
            </a:stretch>
          </p:blipFill>
          <p:spPr bwMode="auto">
            <a:xfrm>
              <a:off x="909709" y="1863504"/>
              <a:ext cx="842844" cy="8428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a:extLst>
              <a:ext uri="{FF2B5EF4-FFF2-40B4-BE49-F238E27FC236}">
                <a16:creationId xmlns:a16="http://schemas.microsoft.com/office/drawing/2014/main" id="{5100F19F-3D12-4242-8113-11C6CE002770}"/>
              </a:ext>
            </a:extLst>
          </p:cNvPr>
          <p:cNvGrpSpPr/>
          <p:nvPr/>
        </p:nvGrpSpPr>
        <p:grpSpPr>
          <a:xfrm>
            <a:off x="4728168" y="3817234"/>
            <a:ext cx="2549096" cy="2243638"/>
            <a:chOff x="557048" y="4049936"/>
            <a:chExt cx="2549096" cy="2243638"/>
          </a:xfrm>
        </p:grpSpPr>
        <p:sp>
          <p:nvSpPr>
            <p:cNvPr id="37" name="TextBox 36">
              <a:extLst>
                <a:ext uri="{FF2B5EF4-FFF2-40B4-BE49-F238E27FC236}">
                  <a16:creationId xmlns:a16="http://schemas.microsoft.com/office/drawing/2014/main" id="{EB581241-A5B1-A4FE-9693-5A68FC51D1FB}"/>
                </a:ext>
              </a:extLst>
            </p:cNvPr>
            <p:cNvSpPr txBox="1"/>
            <p:nvPr/>
          </p:nvSpPr>
          <p:spPr>
            <a:xfrm>
              <a:off x="578148" y="5647243"/>
              <a:ext cx="2519344" cy="646331"/>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Rapid Talent to Value @ </a:t>
              </a:r>
            </a:p>
            <a:p>
              <a:pPr lvl="0" algn="ctr">
                <a:defRPr>
                  <a:solidFill>
                    <a:srgbClr val="1D1D1D"/>
                  </a:solidFill>
                </a:defRPr>
              </a:pPr>
              <a:r>
                <a:rPr lang="en-US" b="1" dirty="0">
                  <a:solidFill>
                    <a:srgbClr val="1D1D1D"/>
                  </a:solidFill>
                </a:rPr>
                <a:t>BUs / </a:t>
              </a: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Markets / Funcs</a:t>
              </a:r>
            </a:p>
          </p:txBody>
        </p:sp>
        <p:sp>
          <p:nvSpPr>
            <p:cNvPr id="41" name="Rectangle: Rounded Corners 40">
              <a:hlinkClick r:id="" action="ppaction://noaction"/>
              <a:extLst>
                <a:ext uri="{FF2B5EF4-FFF2-40B4-BE49-F238E27FC236}">
                  <a16:creationId xmlns:a16="http://schemas.microsoft.com/office/drawing/2014/main" id="{0D594C7B-5497-5AA1-68CB-DF39B082C338}"/>
                </a:ext>
              </a:extLst>
            </p:cNvPr>
            <p:cNvSpPr/>
            <p:nvPr/>
          </p:nvSpPr>
          <p:spPr>
            <a:xfrm>
              <a:off x="557048" y="4049936"/>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65" name="TextBox 64">
              <a:extLst>
                <a:ext uri="{FF2B5EF4-FFF2-40B4-BE49-F238E27FC236}">
                  <a16:creationId xmlns:a16="http://schemas.microsoft.com/office/drawing/2014/main" id="{78BF36B9-AD1D-C058-99A5-BEDEF299C22C}"/>
                </a:ext>
              </a:extLst>
            </p:cNvPr>
            <p:cNvSpPr txBox="1"/>
            <p:nvPr/>
          </p:nvSpPr>
          <p:spPr>
            <a:xfrm>
              <a:off x="1804775" y="4511452"/>
              <a:ext cx="1164392" cy="646331"/>
            </a:xfrm>
            <a:prstGeom prst="rect">
              <a:avLst/>
            </a:prstGeom>
            <a:noFill/>
          </p:spPr>
          <p:txBody>
            <a:bodyPr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mn-cs"/>
                </a:rPr>
                <a:t>Rapid Mobilization for Impact</a:t>
              </a:r>
            </a:p>
          </p:txBody>
        </p:sp>
        <p:pic>
          <p:nvPicPr>
            <p:cNvPr id="109" name="Picture 108" descr="Decide">
              <a:extLst>
                <a:ext uri="{FF2B5EF4-FFF2-40B4-BE49-F238E27FC236}">
                  <a16:creationId xmlns:a16="http://schemas.microsoft.com/office/drawing/2014/main" id="{E922DFD4-4906-A120-BBB5-8D6C6F0AC373}"/>
                </a:ext>
              </a:extLst>
            </p:cNvPr>
            <p:cNvPicPr>
              <a:picLocks noChangeAspect="1"/>
            </p:cNvPicPr>
            <p:nvPr/>
          </p:nvPicPr>
          <p:blipFill>
            <a:blip r:embed="rId9">
              <a:duotone>
                <a:srgbClr val="765FFF"/>
                <a:srgbClr val="FFFFFF"/>
              </a:duotone>
            </a:blip>
            <a:stretch>
              <a:fillRect/>
            </a:stretch>
          </p:blipFill>
          <p:spPr>
            <a:xfrm>
              <a:off x="1042213" y="4403373"/>
              <a:ext cx="862488" cy="862488"/>
            </a:xfrm>
            <a:prstGeom prst="rect">
              <a:avLst/>
            </a:prstGeom>
          </p:spPr>
        </p:pic>
        <p:pic>
          <p:nvPicPr>
            <p:cNvPr id="111" name="Graphic 110" descr="Clock with solid fill">
              <a:extLst>
                <a:ext uri="{FF2B5EF4-FFF2-40B4-BE49-F238E27FC236}">
                  <a16:creationId xmlns:a16="http://schemas.microsoft.com/office/drawing/2014/main" id="{A0C76E15-A4D9-56BD-0409-561FB2100650}"/>
                </a:ext>
              </a:extLst>
            </p:cNvPr>
            <p:cNvPicPr>
              <a:picLocks noChangeAspect="1"/>
            </p:cNvPicPr>
            <p:nvPr/>
          </p:nvPicPr>
          <p:blipFill>
            <a:blip r:embed="rId10">
              <a:duotone>
                <a:srgbClr val="765FFF"/>
                <a:srgbClr val="FFFFFF"/>
              </a:duotone>
            </a:blip>
            <a:stretch>
              <a:fillRect/>
            </a:stretch>
          </p:blipFill>
          <p:spPr>
            <a:xfrm>
              <a:off x="816444" y="4207270"/>
              <a:ext cx="567771" cy="567771"/>
            </a:xfrm>
            <a:prstGeom prst="rect">
              <a:avLst/>
            </a:prstGeom>
          </p:spPr>
        </p:pic>
      </p:grpSp>
      <p:grpSp>
        <p:nvGrpSpPr>
          <p:cNvPr id="10" name="Group 9">
            <a:extLst>
              <a:ext uri="{FF2B5EF4-FFF2-40B4-BE49-F238E27FC236}">
                <a16:creationId xmlns:a16="http://schemas.microsoft.com/office/drawing/2014/main" id="{D6B546F4-44B2-F9D1-2EB1-23B3725C03CC}"/>
              </a:ext>
            </a:extLst>
          </p:cNvPr>
          <p:cNvGrpSpPr/>
          <p:nvPr/>
        </p:nvGrpSpPr>
        <p:grpSpPr>
          <a:xfrm>
            <a:off x="4613534" y="1329780"/>
            <a:ext cx="2724721" cy="1966639"/>
            <a:chOff x="8982786" y="4049936"/>
            <a:chExt cx="2724721" cy="1966639"/>
          </a:xfrm>
        </p:grpSpPr>
        <p:sp>
          <p:nvSpPr>
            <p:cNvPr id="40" name="TextBox 39">
              <a:extLst>
                <a:ext uri="{FF2B5EF4-FFF2-40B4-BE49-F238E27FC236}">
                  <a16:creationId xmlns:a16="http://schemas.microsoft.com/office/drawing/2014/main" id="{E2F22919-7B99-BEF3-5026-EFC9E0ADDD11}"/>
                </a:ext>
              </a:extLst>
            </p:cNvPr>
            <p:cNvSpPr txBox="1"/>
            <p:nvPr/>
          </p:nvSpPr>
          <p:spPr>
            <a:xfrm>
              <a:off x="8982786" y="5647243"/>
              <a:ext cx="2724721"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800" b="1" i="0" u="none" strike="noStrike" kern="1200" cap="none" spc="-10" normalizeH="0" baseline="0" noProof="0" dirty="0">
                  <a:ln>
                    <a:noFill/>
                  </a:ln>
                  <a:solidFill>
                    <a:srgbClr val="1D1D1D"/>
                  </a:solidFill>
                  <a:effectLst/>
                  <a:uLnTx/>
                  <a:uFillTx/>
                  <a:latin typeface="Segoe UI" pitchFamily="34" charset="0"/>
                  <a:ea typeface="+mn-ea"/>
                  <a:cs typeface="+mn-cs"/>
                </a:rPr>
                <a:t>Capability Beyond Training</a:t>
              </a:r>
            </a:p>
          </p:txBody>
        </p:sp>
        <p:sp>
          <p:nvSpPr>
            <p:cNvPr id="44" name="Rectangle: Rounded Corners 43">
              <a:hlinkClick r:id="" action="ppaction://noaction"/>
              <a:extLst>
                <a:ext uri="{FF2B5EF4-FFF2-40B4-BE49-F238E27FC236}">
                  <a16:creationId xmlns:a16="http://schemas.microsoft.com/office/drawing/2014/main" id="{08ED7926-D002-C54B-5F1A-37F738FB41C8}"/>
                </a:ext>
              </a:extLst>
            </p:cNvPr>
            <p:cNvSpPr/>
            <p:nvPr/>
          </p:nvSpPr>
          <p:spPr>
            <a:xfrm>
              <a:off x="9086552" y="4049936"/>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pic>
          <p:nvPicPr>
            <p:cNvPr id="112" name="Picture 111" descr="Talent to Value">
              <a:extLst>
                <a:ext uri="{FF2B5EF4-FFF2-40B4-BE49-F238E27FC236}">
                  <a16:creationId xmlns:a16="http://schemas.microsoft.com/office/drawing/2014/main" id="{FBDBB49F-15F2-FB23-EC0B-F05D09964FC6}"/>
                </a:ext>
              </a:extLst>
            </p:cNvPr>
            <p:cNvPicPr>
              <a:picLocks noChangeAspect="1"/>
            </p:cNvPicPr>
            <p:nvPr/>
          </p:nvPicPr>
          <p:blipFill>
            <a:blip r:embed="rId11">
              <a:duotone>
                <a:srgbClr val="765FFF"/>
                <a:srgbClr val="FFFFFF"/>
              </a:duotone>
            </a:blip>
            <a:stretch>
              <a:fillRect/>
            </a:stretch>
          </p:blipFill>
          <p:spPr>
            <a:xfrm>
              <a:off x="9290988" y="4269427"/>
              <a:ext cx="1054152" cy="1054152"/>
            </a:xfrm>
            <a:prstGeom prst="rect">
              <a:avLst/>
            </a:prstGeom>
          </p:spPr>
        </p:pic>
        <p:sp>
          <p:nvSpPr>
            <p:cNvPr id="113" name="TextBox 112">
              <a:extLst>
                <a:ext uri="{FF2B5EF4-FFF2-40B4-BE49-F238E27FC236}">
                  <a16:creationId xmlns:a16="http://schemas.microsoft.com/office/drawing/2014/main" id="{5E4FA1FB-0C6D-59E4-BB6F-84311C9983FC}"/>
                </a:ext>
              </a:extLst>
            </p:cNvPr>
            <p:cNvSpPr txBox="1"/>
            <p:nvPr/>
          </p:nvSpPr>
          <p:spPr>
            <a:xfrm>
              <a:off x="10426906" y="4374931"/>
              <a:ext cx="1102418" cy="800219"/>
            </a:xfrm>
            <a:prstGeom prst="rect">
              <a:avLst/>
            </a:prstGeom>
            <a:noFill/>
          </p:spPr>
          <p:txBody>
            <a:bodyPr wrap="none" lIns="91440" tIns="45720" rIns="91440" bIns="45720" rtlCol="0" anchor="ctr">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solidFill>
                    <a:srgbClr val="1D1D1D"/>
                  </a:solidFill>
                </a:defRPr>
              </a:pPr>
              <a:r>
                <a:rPr kumimoji="0" lang="en-US" sz="1200" b="0" i="0" u="none" strike="noStrike" kern="1200" cap="none" spc="-10" normalizeH="0" baseline="0" noProof="0" dirty="0">
                  <a:ln>
                    <a:noFill/>
                  </a:ln>
                  <a:solidFill>
                    <a:srgbClr val="1D1D1D"/>
                  </a:solidFill>
                  <a:effectLst/>
                  <a:uLnTx/>
                  <a:uFillTx/>
                  <a:latin typeface="Arial" pitchFamily="34" charset="0"/>
                  <a:ea typeface="+mn-ea"/>
                  <a:cs typeface="+mn-cs"/>
                </a:rPr>
                <a:t>Teaching </a:t>
              </a:r>
            </a:p>
            <a:p>
              <a:pPr marL="0" marR="0" lvl="0" indent="0" algn="l" defTabSz="914400" rtl="0" eaLnBrk="1" fontAlgn="auto" latinLnBrk="0" hangingPunct="1">
                <a:lnSpc>
                  <a:spcPct val="100000"/>
                </a:lnSpc>
                <a:spcBef>
                  <a:spcPts val="0"/>
                </a:spcBef>
                <a:spcAft>
                  <a:spcPts val="600"/>
                </a:spcAft>
                <a:buClrTx/>
                <a:buSzTx/>
                <a:buFontTx/>
                <a:buNone/>
                <a:tabLst/>
                <a:defRPr>
                  <a:solidFill>
                    <a:srgbClr val="1D1D1D"/>
                  </a:solidFill>
                </a:defRPr>
              </a:pPr>
              <a:r>
                <a:rPr lang="en-US" sz="1200" spc="-10" dirty="0">
                  <a:solidFill>
                    <a:srgbClr val="1D1D1D"/>
                  </a:solidFill>
                  <a:latin typeface="Arial" pitchFamily="34" charset="0"/>
                </a:rPr>
                <a:t>Skill Building</a:t>
              </a:r>
            </a:p>
            <a:p>
              <a:pPr marL="0" marR="0" lvl="0" indent="0" algn="l" defTabSz="914400" rtl="0" eaLnBrk="1" fontAlgn="auto" latinLnBrk="0" hangingPunct="1">
                <a:lnSpc>
                  <a:spcPct val="100000"/>
                </a:lnSpc>
                <a:spcBef>
                  <a:spcPts val="0"/>
                </a:spcBef>
                <a:spcAft>
                  <a:spcPts val="600"/>
                </a:spcAft>
                <a:buClrTx/>
                <a:buSzTx/>
                <a:buFontTx/>
                <a:buNone/>
                <a:tabLst/>
                <a:defRPr>
                  <a:solidFill>
                    <a:srgbClr val="1D1D1D"/>
                  </a:solidFill>
                </a:defRPr>
              </a:pPr>
              <a:r>
                <a:rPr kumimoji="0" lang="en-US" sz="1200" b="0" i="0" u="none" strike="noStrike" kern="1200" cap="none" spc="-10" normalizeH="0" baseline="0" noProof="0" dirty="0">
                  <a:ln>
                    <a:noFill/>
                  </a:ln>
                  <a:solidFill>
                    <a:srgbClr val="1D1D1D"/>
                  </a:solidFill>
                  <a:effectLst/>
                  <a:uLnTx/>
                  <a:uFillTx/>
                  <a:latin typeface="Arial" pitchFamily="34" charset="0"/>
                  <a:ea typeface="+mn-ea"/>
                  <a:cs typeface="+mn-cs"/>
                </a:rPr>
                <a:t>Product driven</a:t>
              </a:r>
            </a:p>
          </p:txBody>
        </p:sp>
      </p:grpSp>
      <p:grpSp>
        <p:nvGrpSpPr>
          <p:cNvPr id="24" name="Group 23">
            <a:extLst>
              <a:ext uri="{FF2B5EF4-FFF2-40B4-BE49-F238E27FC236}">
                <a16:creationId xmlns:a16="http://schemas.microsoft.com/office/drawing/2014/main" id="{653880B9-8962-82E5-9649-6C2D05B05876}"/>
              </a:ext>
            </a:extLst>
          </p:cNvPr>
          <p:cNvGrpSpPr/>
          <p:nvPr/>
        </p:nvGrpSpPr>
        <p:grpSpPr>
          <a:xfrm>
            <a:off x="1334046" y="3817234"/>
            <a:ext cx="2549096" cy="1966639"/>
            <a:chOff x="3400216" y="4049936"/>
            <a:chExt cx="2549096" cy="1966639"/>
          </a:xfrm>
        </p:grpSpPr>
        <p:sp>
          <p:nvSpPr>
            <p:cNvPr id="25" name="TextBox 24">
              <a:extLst>
                <a:ext uri="{FF2B5EF4-FFF2-40B4-BE49-F238E27FC236}">
                  <a16:creationId xmlns:a16="http://schemas.microsoft.com/office/drawing/2014/main" id="{88E0B1A2-AAE2-955F-A29B-454326B404DF}"/>
                </a:ext>
              </a:extLst>
            </p:cNvPr>
            <p:cNvSpPr txBox="1"/>
            <p:nvPr/>
          </p:nvSpPr>
          <p:spPr>
            <a:xfrm>
              <a:off x="3757085" y="5647243"/>
              <a:ext cx="1835374" cy="369332"/>
            </a:xfrm>
            <a:prstGeom prst="rect">
              <a:avLst/>
            </a:prstGeom>
            <a:noFill/>
          </p:spPr>
          <p:txBody>
            <a:bodyPr wrap="none" lIns="91440" tIns="45720" rIns="91440" bIns="45720" rtlCol="0">
              <a:spAutoFit/>
            </a:bodyPr>
            <a:lstStyle/>
            <a:p>
              <a:pPr lvl="0" algn="ctr">
                <a:defRPr>
                  <a:solidFill>
                    <a:srgbClr val="1D1D1D"/>
                  </a:solidFill>
                </a:defRPr>
              </a:pPr>
              <a:r>
                <a:rPr lang="en-US" b="1" dirty="0">
                  <a:solidFill>
                    <a:srgbClr val="1D1D1D"/>
                  </a:solidFill>
                </a:rPr>
                <a:t>CXO Enablement </a:t>
              </a:r>
            </a:p>
          </p:txBody>
        </p:sp>
        <p:sp>
          <p:nvSpPr>
            <p:cNvPr id="26" name="Rectangle: Rounded Corners 25">
              <a:hlinkClick r:id="" action="ppaction://noaction"/>
              <a:extLst>
                <a:ext uri="{FF2B5EF4-FFF2-40B4-BE49-F238E27FC236}">
                  <a16:creationId xmlns:a16="http://schemas.microsoft.com/office/drawing/2014/main" id="{64975F42-8696-0487-FCF5-10C08BE6C120}"/>
                </a:ext>
              </a:extLst>
            </p:cNvPr>
            <p:cNvSpPr/>
            <p:nvPr/>
          </p:nvSpPr>
          <p:spPr>
            <a:xfrm>
              <a:off x="3400216" y="4049936"/>
              <a:ext cx="2549096" cy="149313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pic>
          <p:nvPicPr>
            <p:cNvPr id="27" name="Picture 26" descr="The Code">
              <a:extLst>
                <a:ext uri="{FF2B5EF4-FFF2-40B4-BE49-F238E27FC236}">
                  <a16:creationId xmlns:a16="http://schemas.microsoft.com/office/drawing/2014/main" id="{E5D533C4-D6D6-7C2F-7A4B-97C824986341}"/>
                </a:ext>
              </a:extLst>
            </p:cNvPr>
            <p:cNvPicPr>
              <a:picLocks noChangeAspect="1"/>
            </p:cNvPicPr>
            <p:nvPr/>
          </p:nvPicPr>
          <p:blipFill>
            <a:blip r:embed="rId12">
              <a:duotone>
                <a:srgbClr val="765FFF"/>
                <a:srgbClr val="FFFFFF"/>
              </a:duotone>
            </a:blip>
            <a:stretch>
              <a:fillRect/>
            </a:stretch>
          </p:blipFill>
          <p:spPr>
            <a:xfrm>
              <a:off x="4367201" y="4417199"/>
              <a:ext cx="648000" cy="648000"/>
            </a:xfrm>
            <a:prstGeom prst="rect">
              <a:avLst/>
            </a:prstGeom>
          </p:spPr>
        </p:pic>
        <p:pic>
          <p:nvPicPr>
            <p:cNvPr id="28" name="Picture 27" descr="The List">
              <a:extLst>
                <a:ext uri="{FF2B5EF4-FFF2-40B4-BE49-F238E27FC236}">
                  <a16:creationId xmlns:a16="http://schemas.microsoft.com/office/drawing/2014/main" id="{E42FA26F-25D4-1EC4-B905-45B49F39B7EA}"/>
                </a:ext>
              </a:extLst>
            </p:cNvPr>
            <p:cNvPicPr>
              <a:picLocks noChangeAspect="1"/>
            </p:cNvPicPr>
            <p:nvPr/>
          </p:nvPicPr>
          <p:blipFill>
            <a:blip r:embed="rId13">
              <a:duotone>
                <a:srgbClr val="765FFF"/>
                <a:srgbClr val="FFFFFF"/>
              </a:duotone>
            </a:blip>
            <a:stretch>
              <a:fillRect/>
            </a:stretch>
          </p:blipFill>
          <p:spPr>
            <a:xfrm>
              <a:off x="5147619" y="4403373"/>
              <a:ext cx="648000" cy="648000"/>
            </a:xfrm>
            <a:prstGeom prst="rect">
              <a:avLst/>
            </a:prstGeom>
          </p:spPr>
        </p:pic>
        <p:pic>
          <p:nvPicPr>
            <p:cNvPr id="29" name="Picture 28" descr="Mobilization">
              <a:extLst>
                <a:ext uri="{FF2B5EF4-FFF2-40B4-BE49-F238E27FC236}">
                  <a16:creationId xmlns:a16="http://schemas.microsoft.com/office/drawing/2014/main" id="{8D53EBBB-2309-7F02-FAE0-26023878E07A}"/>
                </a:ext>
              </a:extLst>
            </p:cNvPr>
            <p:cNvPicPr>
              <a:picLocks noChangeAspect="1"/>
            </p:cNvPicPr>
            <p:nvPr/>
          </p:nvPicPr>
          <p:blipFill>
            <a:blip r:embed="rId14">
              <a:duotone>
                <a:srgbClr val="765FFF"/>
                <a:srgbClr val="FFFFFF"/>
              </a:duotone>
            </a:blip>
            <a:stretch>
              <a:fillRect/>
            </a:stretch>
          </p:blipFill>
          <p:spPr>
            <a:xfrm>
              <a:off x="3580024" y="4403373"/>
              <a:ext cx="648000" cy="648000"/>
            </a:xfrm>
            <a:prstGeom prst="rect">
              <a:avLst/>
            </a:prstGeom>
          </p:spPr>
        </p:pic>
      </p:grpSp>
      <p:sp>
        <p:nvSpPr>
          <p:cNvPr id="8" name="Rectangle: Rounded Corners 7">
            <a:extLst>
              <a:ext uri="{FF2B5EF4-FFF2-40B4-BE49-F238E27FC236}">
                <a16:creationId xmlns:a16="http://schemas.microsoft.com/office/drawing/2014/main" id="{226C906D-D5F6-47F2-B6BC-E5574CC9880D}"/>
              </a:ext>
            </a:extLst>
          </p:cNvPr>
          <p:cNvSpPr/>
          <p:nvPr/>
        </p:nvSpPr>
        <p:spPr>
          <a:xfrm>
            <a:off x="8680216" y="1486604"/>
            <a:ext cx="1121295" cy="573323"/>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dirty="0">
                <a:solidFill>
                  <a:srgbClr val="1D1D1D"/>
                </a:solidFill>
              </a:rPr>
              <a:t>Enabling the Business </a:t>
            </a:r>
          </a:p>
        </p:txBody>
      </p:sp>
      <p:pic>
        <p:nvPicPr>
          <p:cNvPr id="9" name="Graphic 8" descr="Playbook outline">
            <a:extLst>
              <a:ext uri="{FF2B5EF4-FFF2-40B4-BE49-F238E27FC236}">
                <a16:creationId xmlns:a16="http://schemas.microsoft.com/office/drawing/2014/main" id="{48A19D4A-97E6-97B9-7E3F-4FAD6E7EA011}"/>
              </a:ext>
            </a:extLst>
          </p:cNvPr>
          <p:cNvPicPr>
            <a:picLocks noChangeAspect="1"/>
          </p:cNvPicPr>
          <p:nvPr/>
        </p:nvPicPr>
        <p:blipFill>
          <a:blip r:embed="rId15">
            <a:duotone>
              <a:srgbClr val="765FFF"/>
              <a:srgbClr val="FFFFFF"/>
            </a:duotone>
          </a:blip>
          <a:stretch>
            <a:fillRect/>
          </a:stretch>
        </p:blipFill>
        <p:spPr>
          <a:xfrm>
            <a:off x="9803971" y="1710638"/>
            <a:ext cx="783856" cy="695634"/>
          </a:xfrm>
          <a:prstGeom prst="rect">
            <a:avLst/>
          </a:prstGeom>
        </p:spPr>
      </p:pic>
      <p:pic>
        <p:nvPicPr>
          <p:cNvPr id="12" name="Picture 11" descr="Mobilization">
            <a:extLst>
              <a:ext uri="{FF2B5EF4-FFF2-40B4-BE49-F238E27FC236}">
                <a16:creationId xmlns:a16="http://schemas.microsoft.com/office/drawing/2014/main" id="{22D03127-111D-CAF0-34DD-209E244BC5D6}"/>
              </a:ext>
            </a:extLst>
          </p:cNvPr>
          <p:cNvPicPr>
            <a:picLocks noChangeAspect="1"/>
          </p:cNvPicPr>
          <p:nvPr/>
        </p:nvPicPr>
        <p:blipFill>
          <a:blip r:embed="rId14">
            <a:duotone>
              <a:srgbClr val="765FFF"/>
              <a:srgbClr val="FFFFFF"/>
            </a:duotone>
          </a:blip>
          <a:stretch>
            <a:fillRect/>
          </a:stretch>
        </p:blipFill>
        <p:spPr>
          <a:xfrm>
            <a:off x="8245339" y="1516772"/>
            <a:ext cx="498774" cy="498774"/>
          </a:xfrm>
          <a:prstGeom prst="rect">
            <a:avLst/>
          </a:prstGeom>
        </p:spPr>
      </p:pic>
      <p:pic>
        <p:nvPicPr>
          <p:cNvPr id="13" name="Picture 12" descr="The Code">
            <a:extLst>
              <a:ext uri="{FF2B5EF4-FFF2-40B4-BE49-F238E27FC236}">
                <a16:creationId xmlns:a16="http://schemas.microsoft.com/office/drawing/2014/main" id="{7911C947-5AD3-3126-69D4-248BE1B02085}"/>
              </a:ext>
            </a:extLst>
          </p:cNvPr>
          <p:cNvPicPr>
            <a:picLocks noChangeAspect="1"/>
          </p:cNvPicPr>
          <p:nvPr/>
        </p:nvPicPr>
        <p:blipFill>
          <a:blip r:embed="rId12">
            <a:duotone>
              <a:srgbClr val="765FFF"/>
              <a:srgbClr val="FFFFFF"/>
            </a:duotone>
          </a:blip>
          <a:stretch>
            <a:fillRect/>
          </a:stretch>
        </p:blipFill>
        <p:spPr>
          <a:xfrm>
            <a:off x="8235900" y="2135600"/>
            <a:ext cx="498774" cy="498774"/>
          </a:xfrm>
          <a:prstGeom prst="rect">
            <a:avLst/>
          </a:prstGeom>
        </p:spPr>
      </p:pic>
      <p:sp>
        <p:nvSpPr>
          <p:cNvPr id="15" name="Rectangle: Rounded Corners 14">
            <a:extLst>
              <a:ext uri="{FF2B5EF4-FFF2-40B4-BE49-F238E27FC236}">
                <a16:creationId xmlns:a16="http://schemas.microsoft.com/office/drawing/2014/main" id="{4BE8464B-C3B9-3877-A177-D149D2590074}"/>
              </a:ext>
            </a:extLst>
          </p:cNvPr>
          <p:cNvSpPr/>
          <p:nvPr/>
        </p:nvSpPr>
        <p:spPr>
          <a:xfrm>
            <a:off x="8673338" y="2118108"/>
            <a:ext cx="1373708" cy="573323"/>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200" dirty="0">
                <a:solidFill>
                  <a:srgbClr val="1D1D1D"/>
                </a:solidFill>
              </a:rPr>
              <a:t>Strengthening Foundations </a:t>
            </a:r>
          </a:p>
        </p:txBody>
      </p:sp>
      <p:sp>
        <p:nvSpPr>
          <p:cNvPr id="18" name="TextBox 17">
            <a:extLst>
              <a:ext uri="{FF2B5EF4-FFF2-40B4-BE49-F238E27FC236}">
                <a16:creationId xmlns:a16="http://schemas.microsoft.com/office/drawing/2014/main" id="{3412AC74-A6C5-EF4D-51F7-A0FE434B2E76}"/>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2057" name="SubtitleSplit"/>
          <p:cNvSpPr>
            <a:spLocks noGrp="1"/>
          </p:cNvSpPr>
          <p:nvPr>
            <p:ph type="subTitle" idx="1"/>
          </p:nvPr>
        </p:nvSpPr>
        <p:spPr>
          <a:noFill/>
        </p:spPr>
        <p:txBody>
          <a:bodyPr/>
          <a:lstStyle/>
          <a:p>
            <a:r>
              <a:t>Showcase</a:t>
            </a:r>
            <a:endParaRPr lang="en-US" b="0" spc="-10">
              <a:latin typeface="Segoe UI" pitchFamily="34" charset="0"/>
            </a:endParaRPr>
          </a:p>
        </p:txBody>
      </p:sp>
      <p:sp>
        <p:nvSpPr>
          <p:cNvPr id="205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ADE9AADC-9D38-4230-B271-03999B843093}" type="slidenum">
              <a:t>6</a:t>
            </a:fld>
            <a:endParaRPr lang="en-US"/>
          </a:p>
        </p:txBody>
      </p:sp>
    </p:spTree>
    <p:extLst>
      <p:ext uri="{BB962C8B-B14F-4D97-AF65-F5344CB8AC3E}">
        <p14:creationId xmlns:p14="http://schemas.microsoft.com/office/powerpoint/2010/main" val="16104939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A46E8-B694-5D99-AE40-773FEB3492A8}"/>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BE41405F-D769-5556-D026-211E0B8094CC}"/>
              </a:ext>
            </a:extLst>
          </p:cNvPr>
          <p:cNvSpPr txBox="1">
            <a:spLocks noGrp="1"/>
          </p:cNvSpPr>
          <p:nvPr>
            <p:ph type="title"/>
          </p:nvPr>
        </p:nvSpPr>
        <p:spPr>
          <a:noFill/>
        </p:spPr>
        <p:txBody>
          <a:bodyPr/>
          <a:lstStyle/>
          <a:p>
            <a:pPr>
              <a:buNone/>
            </a:pPr>
            <a:r>
              <a:rPr lang="en-US" dirty="0"/>
              <a:t>Strengthen Operating Model</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C81B8A81-7D65-4679-9D10-6E0F4F552DAF}" type="slidenum">
              <a:t>7</a:t>
            </a:fld>
            <a:endParaRPr lang="en-US"/>
          </a:p>
        </p:txBody>
      </p:sp>
    </p:spTree>
    <p:extLst>
      <p:ext uri="{BB962C8B-B14F-4D97-AF65-F5344CB8AC3E}">
        <p14:creationId xmlns:p14="http://schemas.microsoft.com/office/powerpoint/2010/main" val="3433213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FF838-050D-CCF8-015B-61B09DDCF31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84AC585-F47E-4654-B330-BD5D3B367303}"/>
              </a:ext>
            </a:extLst>
          </p:cNvPr>
          <p:cNvSpPr>
            <a:spLocks noGrp="1"/>
          </p:cNvSpPr>
          <p:nvPr>
            <p:ph type="title" sz="quarter"/>
          </p:nvPr>
        </p:nvSpPr>
        <p:spPr/>
        <p:txBody>
          <a:bodyPr/>
          <a:lstStyle/>
          <a:p>
            <a:endParaRPr lang="en-US" b="1" dirty="0">
              <a:solidFill>
                <a:srgbClr val="281A42"/>
              </a:solidFill>
              <a:latin typeface="+mn-lt"/>
            </a:endParaRPr>
          </a:p>
        </p:txBody>
      </p:sp>
      <p:sp>
        <p:nvSpPr>
          <p:cNvPr id="54" name="Rectangle: Rounded Corners 53">
            <a:extLst>
              <a:ext uri="{FF2B5EF4-FFF2-40B4-BE49-F238E27FC236}">
                <a16:creationId xmlns:a16="http://schemas.microsoft.com/office/drawing/2014/main" id="{312EF4E9-8F2B-BA8F-9D13-74BF8E3D45F3}"/>
              </a:ext>
            </a:extLst>
          </p:cNvPr>
          <p:cNvSpPr/>
          <p:nvPr/>
        </p:nvSpPr>
        <p:spPr>
          <a:xfrm>
            <a:off x="1993989" y="1035275"/>
            <a:ext cx="2690030" cy="638153"/>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55" name="Rectangle: Rounded Corners 54">
            <a:extLst>
              <a:ext uri="{FF2B5EF4-FFF2-40B4-BE49-F238E27FC236}">
                <a16:creationId xmlns:a16="http://schemas.microsoft.com/office/drawing/2014/main" id="{7B5F79FD-45C7-B0DE-06F5-30DD61DE4DF0}"/>
              </a:ext>
            </a:extLst>
          </p:cNvPr>
          <p:cNvSpPr/>
          <p:nvPr/>
        </p:nvSpPr>
        <p:spPr>
          <a:xfrm>
            <a:off x="7678264" y="1079717"/>
            <a:ext cx="2647243" cy="615841"/>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259" name="TextBox 258">
            <a:extLst>
              <a:ext uri="{FF2B5EF4-FFF2-40B4-BE49-F238E27FC236}">
                <a16:creationId xmlns:a16="http://schemas.microsoft.com/office/drawing/2014/main" id="{68E211E3-C859-7843-E59E-D653139B7B65}"/>
              </a:ext>
            </a:extLst>
          </p:cNvPr>
          <p:cNvSpPr txBox="1"/>
          <p:nvPr/>
        </p:nvSpPr>
        <p:spPr>
          <a:xfrm>
            <a:off x="2597180" y="1350437"/>
            <a:ext cx="1616724"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765FFF"/>
                </a:solidFill>
                <a:effectLst/>
                <a:uLnTx/>
                <a:uFillTx/>
                <a:latin typeface="Segoe UI" pitchFamily="34" charset="0"/>
                <a:ea typeface="Lato" panose="020F0502020204030203" pitchFamily="34" charset="0"/>
                <a:cs typeface="Lato" panose="020F0502020204030203" pitchFamily="34" charset="0"/>
              </a:rPr>
              <a:t>/value</a:t>
            </a:r>
          </a:p>
        </p:txBody>
      </p:sp>
      <p:sp>
        <p:nvSpPr>
          <p:cNvPr id="260" name="TextBox 259">
            <a:extLst>
              <a:ext uri="{FF2B5EF4-FFF2-40B4-BE49-F238E27FC236}">
                <a16:creationId xmlns:a16="http://schemas.microsoft.com/office/drawing/2014/main" id="{6B0161D0-C1BC-7003-B84D-5AAC279CBE7F}"/>
              </a:ext>
            </a:extLst>
          </p:cNvPr>
          <p:cNvSpPr txBox="1"/>
          <p:nvPr/>
        </p:nvSpPr>
        <p:spPr>
          <a:xfrm>
            <a:off x="8052167" y="1354198"/>
            <a:ext cx="1974294"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765FFF"/>
                </a:solidFill>
                <a:effectLst/>
                <a:uLnTx/>
                <a:uFillTx/>
                <a:latin typeface="Segoe UI" pitchFamily="34" charset="0"/>
                <a:ea typeface="Lato" panose="020F0502020204030203" pitchFamily="34" charset="0"/>
                <a:cs typeface="Lato" panose="020F0502020204030203" pitchFamily="34" charset="0"/>
              </a:rPr>
              <a:t>/work Pivots</a:t>
            </a:r>
          </a:p>
        </p:txBody>
      </p:sp>
      <p:sp>
        <p:nvSpPr>
          <p:cNvPr id="263" name="TextBox 262">
            <a:extLst>
              <a:ext uri="{FF2B5EF4-FFF2-40B4-BE49-F238E27FC236}">
                <a16:creationId xmlns:a16="http://schemas.microsoft.com/office/drawing/2014/main" id="{0781F993-2403-66D1-172C-DC43E9833FBB}"/>
              </a:ext>
            </a:extLst>
          </p:cNvPr>
          <p:cNvSpPr txBox="1"/>
          <p:nvPr/>
        </p:nvSpPr>
        <p:spPr>
          <a:xfrm>
            <a:off x="2155802" y="1015186"/>
            <a:ext cx="2531992"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FFFFFF">
                    <a:lumMod val="50000"/>
                  </a:srgbClr>
                </a:solidFill>
                <a:effectLst/>
                <a:uLnTx/>
                <a:uFillTx/>
                <a:latin typeface="Segoe UI" pitchFamily="34" charset="0"/>
                <a:ea typeface="Lato" panose="020F0502020204030203" pitchFamily="34" charset="0"/>
                <a:cs typeface="Lato" panose="020F0502020204030203" pitchFamily="34" charset="0"/>
              </a:rPr>
              <a:t>Where Is the Money?</a:t>
            </a:r>
          </a:p>
        </p:txBody>
      </p:sp>
      <p:sp>
        <p:nvSpPr>
          <p:cNvPr id="264" name="TextBox 263">
            <a:extLst>
              <a:ext uri="{FF2B5EF4-FFF2-40B4-BE49-F238E27FC236}">
                <a16:creationId xmlns:a16="http://schemas.microsoft.com/office/drawing/2014/main" id="{AD1E8FA7-0965-5F64-CE9D-48AF12D647B7}"/>
              </a:ext>
            </a:extLst>
          </p:cNvPr>
          <p:cNvSpPr txBox="1"/>
          <p:nvPr/>
        </p:nvSpPr>
        <p:spPr>
          <a:xfrm>
            <a:off x="7679060" y="1054069"/>
            <a:ext cx="2658967"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FFFFFF">
                    <a:lumMod val="50000"/>
                  </a:srgbClr>
                </a:solidFill>
                <a:effectLst/>
                <a:uLnTx/>
                <a:uFillTx/>
                <a:latin typeface="Segoe UI" pitchFamily="34" charset="0"/>
                <a:ea typeface="Lato" panose="020F0502020204030203" pitchFamily="34" charset="0"/>
                <a:cs typeface="Lato" panose="020F0502020204030203" pitchFamily="34" charset="0"/>
              </a:rPr>
              <a:t>What Needs to Change?</a:t>
            </a:r>
          </a:p>
        </p:txBody>
      </p:sp>
      <p:pic>
        <p:nvPicPr>
          <p:cNvPr id="4" name="Picture 3">
            <a:extLst>
              <a:ext uri="{FF2B5EF4-FFF2-40B4-BE49-F238E27FC236}">
                <a16:creationId xmlns:a16="http://schemas.microsoft.com/office/drawing/2014/main" id="{E70288D8-E5BA-376D-B876-F0E1D095E7FD}"/>
              </a:ext>
            </a:extLst>
          </p:cNvPr>
          <p:cNvPicPr>
            <a:picLocks noChangeAspect="1"/>
          </p:cNvPicPr>
          <p:nvPr/>
        </p:nvPicPr>
        <p:blipFill>
          <a:blip r:embed="rId2"/>
          <a:stretch>
            <a:fillRect/>
          </a:stretch>
        </p:blipFill>
        <p:spPr>
          <a:xfrm>
            <a:off x="121685" y="2086728"/>
            <a:ext cx="5395087" cy="3443897"/>
          </a:xfrm>
          <a:prstGeom prst="rect">
            <a:avLst/>
          </a:prstGeom>
        </p:spPr>
      </p:pic>
      <p:pic>
        <p:nvPicPr>
          <p:cNvPr id="6" name="Picture 5">
            <a:extLst>
              <a:ext uri="{FF2B5EF4-FFF2-40B4-BE49-F238E27FC236}">
                <a16:creationId xmlns:a16="http://schemas.microsoft.com/office/drawing/2014/main" id="{71BD9571-0610-3B53-6FE2-DCA6C03733BB}"/>
              </a:ext>
            </a:extLst>
          </p:cNvPr>
          <p:cNvPicPr>
            <a:picLocks noChangeAspect="1"/>
          </p:cNvPicPr>
          <p:nvPr/>
        </p:nvPicPr>
        <p:blipFill>
          <a:blip r:embed="rId3"/>
          <a:stretch>
            <a:fillRect/>
          </a:stretch>
        </p:blipFill>
        <p:spPr>
          <a:xfrm>
            <a:off x="6480697" y="2086728"/>
            <a:ext cx="5395086" cy="3450930"/>
          </a:xfrm>
          <a:prstGeom prst="rect">
            <a:avLst/>
          </a:prstGeom>
        </p:spPr>
      </p:pic>
      <p:sp>
        <p:nvSpPr>
          <p:cNvPr id="18" name="TextBox 17">
            <a:extLst>
              <a:ext uri="{FF2B5EF4-FFF2-40B4-BE49-F238E27FC236}">
                <a16:creationId xmlns:a16="http://schemas.microsoft.com/office/drawing/2014/main" id="{4069503B-26C0-C6D1-A905-C749A61D02A5}"/>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307" name="SubtitleSplit"/>
          <p:cNvSpPr>
            <a:spLocks noGrp="1"/>
          </p:cNvSpPr>
          <p:nvPr>
            <p:ph type="subTitle" idx="1"/>
          </p:nvPr>
        </p:nvSpPr>
        <p:spPr>
          <a:noFill/>
        </p:spPr>
        <p:txBody>
          <a:bodyPr/>
          <a:lstStyle/>
          <a:p>
            <a:r>
              <a:t>Strengthening the op model</a:t>
            </a:r>
            <a:endParaRPr lang="en-US" b="0" spc="-10">
              <a:latin typeface="Segoe UI" pitchFamily="34" charset="0"/>
            </a:endParaRPr>
          </a:p>
        </p:txBody>
      </p:sp>
      <p:sp>
        <p:nvSpPr>
          <p:cNvPr id="30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70501E2F-4EB6-43A6-9A3D-431F98AF928B}" type="slidenum">
              <a:t>8</a:t>
            </a:fld>
            <a:endParaRPr lang="en-US"/>
          </a:p>
        </p:txBody>
      </p:sp>
    </p:spTree>
    <p:extLst>
      <p:ext uri="{BB962C8B-B14F-4D97-AF65-F5344CB8AC3E}">
        <p14:creationId xmlns:p14="http://schemas.microsoft.com/office/powerpoint/2010/main" val="2499156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D7321-303E-AF33-ED25-DA299C832D2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544127B-D9BC-8C85-0E4B-559AC77CC1EB}"/>
              </a:ext>
            </a:extLst>
          </p:cNvPr>
          <p:cNvSpPr>
            <a:spLocks noGrp="1"/>
          </p:cNvSpPr>
          <p:nvPr>
            <p:ph type="title" sz="quarter"/>
          </p:nvPr>
        </p:nvSpPr>
        <p:spPr/>
        <p:txBody>
          <a:bodyPr/>
          <a:lstStyle/>
          <a:p>
            <a:endParaRPr lang="en-US" b="1" dirty="0">
              <a:solidFill>
                <a:srgbClr val="281A42"/>
              </a:solidFill>
              <a:latin typeface="+mn-lt"/>
            </a:endParaRPr>
          </a:p>
        </p:txBody>
      </p:sp>
      <p:grpSp>
        <p:nvGrpSpPr>
          <p:cNvPr id="7" name="Group 6">
            <a:extLst>
              <a:ext uri="{FF2B5EF4-FFF2-40B4-BE49-F238E27FC236}">
                <a16:creationId xmlns:a16="http://schemas.microsoft.com/office/drawing/2014/main" id="{0B321CCA-BFD7-8B20-4639-F947A2CE5EC5}"/>
              </a:ext>
            </a:extLst>
          </p:cNvPr>
          <p:cNvGrpSpPr/>
          <p:nvPr/>
        </p:nvGrpSpPr>
        <p:grpSpPr>
          <a:xfrm>
            <a:off x="4733128" y="761698"/>
            <a:ext cx="2325291" cy="643333"/>
            <a:chOff x="4733128" y="1196038"/>
            <a:chExt cx="2325291" cy="643333"/>
          </a:xfrm>
        </p:grpSpPr>
        <p:sp>
          <p:nvSpPr>
            <p:cNvPr id="12" name="Rectangle: Rounded Corners 11">
              <a:extLst>
                <a:ext uri="{FF2B5EF4-FFF2-40B4-BE49-F238E27FC236}">
                  <a16:creationId xmlns:a16="http://schemas.microsoft.com/office/drawing/2014/main" id="{CE6D7C27-D328-8E40-49F0-14672EF08BEF}"/>
                </a:ext>
              </a:extLst>
            </p:cNvPr>
            <p:cNvSpPr/>
            <p:nvPr/>
          </p:nvSpPr>
          <p:spPr>
            <a:xfrm>
              <a:off x="4794958" y="1224957"/>
              <a:ext cx="2263461" cy="614414"/>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13" name="TextBox 12">
              <a:extLst>
                <a:ext uri="{FF2B5EF4-FFF2-40B4-BE49-F238E27FC236}">
                  <a16:creationId xmlns:a16="http://schemas.microsoft.com/office/drawing/2014/main" id="{84156223-29E4-82FD-B7AD-065D402A38D4}"/>
                </a:ext>
              </a:extLst>
            </p:cNvPr>
            <p:cNvSpPr txBox="1"/>
            <p:nvPr/>
          </p:nvSpPr>
          <p:spPr>
            <a:xfrm>
              <a:off x="4989487" y="1517585"/>
              <a:ext cx="1974294"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solidFill>
                    <a:srgbClr val="1D1D1D"/>
                  </a:solidFill>
                </a:defRPr>
              </a:pPr>
              <a:r>
                <a:rPr kumimoji="0" lang="en-US" sz="14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/OP MODEL PIVOTS</a:t>
              </a:r>
            </a:p>
          </p:txBody>
        </p:sp>
        <p:sp>
          <p:nvSpPr>
            <p:cNvPr id="14" name="TextBox 13">
              <a:extLst>
                <a:ext uri="{FF2B5EF4-FFF2-40B4-BE49-F238E27FC236}">
                  <a16:creationId xmlns:a16="http://schemas.microsoft.com/office/drawing/2014/main" id="{11FDA317-EBB6-450D-14F5-C46A05ACE946}"/>
                </a:ext>
              </a:extLst>
            </p:cNvPr>
            <p:cNvSpPr txBox="1"/>
            <p:nvPr/>
          </p:nvSpPr>
          <p:spPr>
            <a:xfrm>
              <a:off x="4733128" y="1196038"/>
              <a:ext cx="2314341" cy="307777"/>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sz="1400"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How Do We Run the Place</a:t>
              </a:r>
            </a:p>
          </p:txBody>
        </p:sp>
      </p:grpSp>
      <p:pic>
        <p:nvPicPr>
          <p:cNvPr id="9" name="Picture 8">
            <a:extLst>
              <a:ext uri="{FF2B5EF4-FFF2-40B4-BE49-F238E27FC236}">
                <a16:creationId xmlns:a16="http://schemas.microsoft.com/office/drawing/2014/main" id="{4D6D17C7-FBF7-9C90-3B1F-85C3F2FB810F}"/>
              </a:ext>
            </a:extLst>
          </p:cNvPr>
          <p:cNvPicPr>
            <a:picLocks noChangeAspect="1"/>
          </p:cNvPicPr>
          <p:nvPr/>
        </p:nvPicPr>
        <p:blipFill>
          <a:blip r:embed="rId2">
            <a:duotone>
              <a:srgbClr val="765FFF"/>
              <a:srgbClr val="FFFFFF"/>
            </a:duotone>
          </a:blip>
          <a:stretch>
            <a:fillRect/>
          </a:stretch>
        </p:blipFill>
        <p:spPr>
          <a:xfrm>
            <a:off x="1912978" y="1366166"/>
            <a:ext cx="3321926" cy="2301784"/>
          </a:xfrm>
          <a:prstGeom prst="rect">
            <a:avLst/>
          </a:prstGeom>
        </p:spPr>
      </p:pic>
      <p:pic>
        <p:nvPicPr>
          <p:cNvPr id="10" name="Picture 9">
            <a:extLst>
              <a:ext uri="{FF2B5EF4-FFF2-40B4-BE49-F238E27FC236}">
                <a16:creationId xmlns:a16="http://schemas.microsoft.com/office/drawing/2014/main" id="{1E1F7338-98F4-3EC4-8784-A203C34B6234}"/>
              </a:ext>
            </a:extLst>
          </p:cNvPr>
          <p:cNvPicPr>
            <a:picLocks noChangeAspect="1"/>
          </p:cNvPicPr>
          <p:nvPr/>
        </p:nvPicPr>
        <p:blipFill>
          <a:blip r:embed="rId3">
            <a:duotone>
              <a:srgbClr val="765FFF"/>
              <a:srgbClr val="FFFFFF"/>
            </a:duotone>
          </a:blip>
          <a:stretch>
            <a:fillRect/>
          </a:stretch>
        </p:blipFill>
        <p:spPr>
          <a:xfrm>
            <a:off x="6270486" y="1429975"/>
            <a:ext cx="3237712" cy="2243432"/>
          </a:xfrm>
          <a:prstGeom prst="rect">
            <a:avLst/>
          </a:prstGeom>
        </p:spPr>
      </p:pic>
      <p:pic>
        <p:nvPicPr>
          <p:cNvPr id="26" name="Picture 25">
            <a:extLst>
              <a:ext uri="{FF2B5EF4-FFF2-40B4-BE49-F238E27FC236}">
                <a16:creationId xmlns:a16="http://schemas.microsoft.com/office/drawing/2014/main" id="{FE3E5292-65B7-044C-6CFD-9B7A113A0FAC}"/>
              </a:ext>
            </a:extLst>
          </p:cNvPr>
          <p:cNvPicPr>
            <a:picLocks noChangeAspect="1"/>
          </p:cNvPicPr>
          <p:nvPr/>
        </p:nvPicPr>
        <p:blipFill>
          <a:blip r:embed="rId4">
            <a:duotone>
              <a:srgbClr val="765FFF"/>
              <a:srgbClr val="FFFFFF"/>
            </a:duotone>
          </a:blip>
          <a:stretch>
            <a:fillRect/>
          </a:stretch>
        </p:blipFill>
        <p:spPr>
          <a:xfrm>
            <a:off x="287260" y="3656520"/>
            <a:ext cx="4936250" cy="3088018"/>
          </a:xfrm>
          <a:prstGeom prst="rect">
            <a:avLst/>
          </a:prstGeom>
        </p:spPr>
      </p:pic>
      <p:sp>
        <p:nvSpPr>
          <p:cNvPr id="16" name="TextBox 15">
            <a:extLst>
              <a:ext uri="{FF2B5EF4-FFF2-40B4-BE49-F238E27FC236}">
                <a16:creationId xmlns:a16="http://schemas.microsoft.com/office/drawing/2014/main" id="{136B7057-64C5-2347-602B-D798D2914D3D}"/>
              </a:ext>
            </a:extLst>
          </p:cNvPr>
          <p:cNvSpPr txBox="1"/>
          <p:nvPr/>
        </p:nvSpPr>
        <p:spPr>
          <a:xfrm>
            <a:off x="1375768" y="3890621"/>
            <a:ext cx="2365513" cy="278296"/>
          </a:xfrm>
          <a:prstGeom prst="rect">
            <a:avLst/>
          </a:prstGeom>
        </p:spPr>
        <p:txBody>
          <a:bodyPr vert="horz" wrap="square" lIns="0" tIns="0" rIns="0" bIns="0" rtlCol="0" anchor="t" anchorCtr="0">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10" normalizeH="0" baseline="0" noProof="0" dirty="0">
                <a:ln>
                  <a:noFill/>
                </a:ln>
                <a:solidFill>
                  <a:srgbClr val="1D1D1D"/>
                </a:solidFill>
                <a:effectLst/>
                <a:uLnTx/>
                <a:uFillTx/>
                <a:latin typeface="Arial" pitchFamily="34" charset="0"/>
                <a:ea typeface="+mn-ea"/>
                <a:cs typeface="+mn-cs"/>
              </a:rPr>
              <a:t>Design Principles</a:t>
            </a:r>
          </a:p>
        </p:txBody>
      </p:sp>
      <p:sp>
        <p:nvSpPr>
          <p:cNvPr id="27" name="TextBox 26">
            <a:extLst>
              <a:ext uri="{FF2B5EF4-FFF2-40B4-BE49-F238E27FC236}">
                <a16:creationId xmlns:a16="http://schemas.microsoft.com/office/drawing/2014/main" id="{BA71D19B-9867-48D5-CE55-4E6CC25CDBA3}"/>
              </a:ext>
            </a:extLst>
          </p:cNvPr>
          <p:cNvSpPr txBox="1"/>
          <p:nvPr/>
        </p:nvSpPr>
        <p:spPr>
          <a:xfrm>
            <a:off x="7168335" y="3890621"/>
            <a:ext cx="2365513" cy="278296"/>
          </a:xfrm>
          <a:prstGeom prst="rect">
            <a:avLst/>
          </a:prstGeom>
        </p:spPr>
        <p:txBody>
          <a:bodyPr vert="horz" wrap="square" lIns="0" tIns="0" rIns="0" bIns="0" rtlCol="0" anchor="t" anchorCtr="0">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10" normalizeH="0" baseline="0" noProof="0" dirty="0">
                <a:ln>
                  <a:noFill/>
                </a:ln>
                <a:solidFill>
                  <a:srgbClr val="1D1D1D"/>
                </a:solidFill>
                <a:effectLst/>
                <a:uLnTx/>
                <a:uFillTx/>
                <a:latin typeface="Arial" pitchFamily="34" charset="0"/>
                <a:ea typeface="+mn-ea"/>
                <a:cs typeface="+mn-cs"/>
              </a:rPr>
              <a:t>Op Model </a:t>
            </a:r>
            <a:endParaRPr kumimoji="0" lang="en-US" sz="14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pic>
        <p:nvPicPr>
          <p:cNvPr id="8" name="Picture 7">
            <a:extLst>
              <a:ext uri="{FF2B5EF4-FFF2-40B4-BE49-F238E27FC236}">
                <a16:creationId xmlns:a16="http://schemas.microsoft.com/office/drawing/2014/main" id="{FA5CBA60-640F-9D02-A6FD-B0BBE5CE4BE8}"/>
              </a:ext>
            </a:extLst>
          </p:cNvPr>
          <p:cNvPicPr>
            <a:picLocks noChangeAspect="1"/>
          </p:cNvPicPr>
          <p:nvPr/>
        </p:nvPicPr>
        <p:blipFill>
          <a:blip r:embed="rId5">
            <a:duotone>
              <a:srgbClr val="765FFF"/>
              <a:srgbClr val="FFFFFF"/>
            </a:duotone>
          </a:blip>
          <a:stretch>
            <a:fillRect/>
          </a:stretch>
        </p:blipFill>
        <p:spPr>
          <a:xfrm>
            <a:off x="5890298" y="3878326"/>
            <a:ext cx="5286146" cy="2644405"/>
          </a:xfrm>
          <a:prstGeom prst="rect">
            <a:avLst/>
          </a:prstGeom>
        </p:spPr>
      </p:pic>
      <p:sp>
        <p:nvSpPr>
          <p:cNvPr id="20" name="TextBox 19">
            <a:extLst>
              <a:ext uri="{FF2B5EF4-FFF2-40B4-BE49-F238E27FC236}">
                <a16:creationId xmlns:a16="http://schemas.microsoft.com/office/drawing/2014/main" id="{D3912E0C-E687-ACA1-0917-2A0FA9331BC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307" name="SubtitleSplit"/>
          <p:cNvSpPr>
            <a:spLocks noGrp="1"/>
          </p:cNvSpPr>
          <p:nvPr>
            <p:ph type="subTitle" idx="1"/>
          </p:nvPr>
        </p:nvSpPr>
        <p:spPr>
          <a:noFill/>
        </p:spPr>
        <p:txBody>
          <a:bodyPr/>
          <a:lstStyle/>
          <a:p>
            <a:r>
              <a:t>Strengthening the op model</a:t>
            </a:r>
            <a:endParaRPr lang="en-US" b="0" spc="-10">
              <a:latin typeface="Segoe UI" pitchFamily="34" charset="0"/>
            </a:endParaRPr>
          </a:p>
        </p:txBody>
      </p:sp>
      <p:sp>
        <p:nvSpPr>
          <p:cNvPr id="30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287B20D6-EC73-4590-8115-EA656B445628}" type="slidenum">
              <a:t>9</a:t>
            </a:fld>
            <a:endParaRPr lang="en-US"/>
          </a:p>
        </p:txBody>
      </p:sp>
    </p:spTree>
    <p:extLst>
      <p:ext uri="{BB962C8B-B14F-4D97-AF65-F5344CB8AC3E}">
        <p14:creationId xmlns:p14="http://schemas.microsoft.com/office/powerpoint/2010/main" val="2865671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F7A27-242E-576B-9242-F418E9FF323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38B1E3-A492-DB7F-3640-BDEC2253DA2D}"/>
              </a:ext>
            </a:extLst>
          </p:cNvPr>
          <p:cNvSpPr>
            <a:spLocks noGrp="1"/>
          </p:cNvSpPr>
          <p:nvPr>
            <p:ph type="title" sz="quarter"/>
          </p:nvPr>
        </p:nvSpPr>
        <p:spPr/>
        <p:txBody>
          <a:bodyPr/>
          <a:lstStyle/>
          <a:p>
            <a:endParaRPr lang="en-US" b="1" dirty="0">
              <a:solidFill>
                <a:srgbClr val="281A42"/>
              </a:solidFill>
              <a:latin typeface="+mn-lt"/>
            </a:endParaRPr>
          </a:p>
        </p:txBody>
      </p:sp>
      <p:sp>
        <p:nvSpPr>
          <p:cNvPr id="24" name="Rectangle 23">
            <a:extLst>
              <a:ext uri="{FF2B5EF4-FFF2-40B4-BE49-F238E27FC236}">
                <a16:creationId xmlns:a16="http://schemas.microsoft.com/office/drawing/2014/main" id="{A648AFD5-DC0F-85A0-62C3-001027A7EBA7}"/>
              </a:ext>
            </a:extLst>
          </p:cNvPr>
          <p:cNvSpPr/>
          <p:nvPr/>
        </p:nvSpPr>
        <p:spPr>
          <a:xfrm>
            <a:off x="1173977" y="2181204"/>
            <a:ext cx="3855223" cy="960961"/>
          </a:xfrm>
          <a:prstGeom prst="rect">
            <a:avLst/>
          </a:prstGeom>
          <a:noFill/>
        </p:spPr>
        <p:txBody>
          <a:bodyPr vert="horz" lIns="54864" tIns="54864" rIns="45720" bIns="36576" rtlCol="0" anchor="t" anchorCtr="0">
            <a:noAutofit/>
          </a:bodyPr>
          <a:lstStyle/>
          <a:p>
            <a:pPr marL="285750" marR="0" lvl="0" indent="-285750" algn="l" defTabSz="173728" rtl="0" eaLnBrk="1" fontAlgn="auto" latinLnBrk="0" hangingPunct="1">
              <a:lnSpc>
                <a:spcPct val="100000"/>
              </a:lnSpc>
              <a:spcBef>
                <a:spcPts val="0"/>
              </a:spcBef>
              <a:spcAft>
                <a:spcPts val="600"/>
              </a:spcAft>
              <a:buClrTx/>
              <a:buSzTx/>
              <a:buFont typeface="Arial" panose="020B0604020202020204" pitchFamily="34" charset="0"/>
              <a:buChar char="•"/>
              <a:tabLst>
                <a:tab pos="173728" algn="l"/>
                <a:tab pos="347454" algn="l"/>
                <a:tab pos="521182" algn="l"/>
                <a:tab pos="694909" algn="l"/>
              </a:tabLst>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Designing for  Interdependence </a:t>
            </a:r>
          </a:p>
          <a:p>
            <a:pPr marL="285750" marR="0" lvl="0" indent="-285750" algn="l" defTabSz="173728" rtl="0" eaLnBrk="1" fontAlgn="auto" latinLnBrk="0" hangingPunct="1">
              <a:lnSpc>
                <a:spcPct val="100000"/>
              </a:lnSpc>
              <a:spcBef>
                <a:spcPts val="0"/>
              </a:spcBef>
              <a:spcAft>
                <a:spcPts val="600"/>
              </a:spcAft>
              <a:buClrTx/>
              <a:buSzTx/>
              <a:buFont typeface="Arial" panose="020B0604020202020204" pitchFamily="34" charset="0"/>
              <a:buChar char="•"/>
              <a:tabLst>
                <a:tab pos="173728" algn="l"/>
                <a:tab pos="347454" algn="l"/>
                <a:tab pos="521182" algn="l"/>
                <a:tab pos="694909" algn="l"/>
              </a:tabLst>
              <a:defRPr/>
            </a:pPr>
            <a:r>
              <a:rPr kumimoji="0" lang="en-US" sz="1200" i="0" u="none" strike="noStrike" kern="1200" cap="none" spc="-10" normalizeH="0" baseline="0" noProof="0" dirty="0">
                <a:ln>
                  <a:noFill/>
                </a:ln>
                <a:solidFill>
                  <a:srgbClr val="1D1D1D"/>
                </a:solidFill>
                <a:effectLst/>
                <a:uLnTx/>
                <a:uFillTx/>
                <a:latin typeface="Arial" pitchFamily="34" charset="0"/>
                <a:ea typeface="+mn-ea"/>
                <a:cs typeface="Arial" panose="020B0604020202020204" pitchFamily="34" charset="0"/>
              </a:rPr>
              <a:t>Identify Critical Roles + Assess Risk </a:t>
            </a:r>
          </a:p>
        </p:txBody>
      </p:sp>
      <p:sp>
        <p:nvSpPr>
          <p:cNvPr id="56" name="Rectangle: Rounded Corners 55">
            <a:extLst>
              <a:ext uri="{FF2B5EF4-FFF2-40B4-BE49-F238E27FC236}">
                <a16:creationId xmlns:a16="http://schemas.microsoft.com/office/drawing/2014/main" id="{74DDC460-5E21-ED52-DEC1-305EC93A004D}"/>
              </a:ext>
            </a:extLst>
          </p:cNvPr>
          <p:cNvSpPr/>
          <p:nvPr/>
        </p:nvSpPr>
        <p:spPr>
          <a:xfrm>
            <a:off x="2063026" y="1236561"/>
            <a:ext cx="2011680" cy="853149"/>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258" name="Rectangle: Rounded Corners 17">
            <a:extLst>
              <a:ext uri="{FF2B5EF4-FFF2-40B4-BE49-F238E27FC236}">
                <a16:creationId xmlns:a16="http://schemas.microsoft.com/office/drawing/2014/main" id="{9E6EE985-B484-A7D6-3697-6D343EE752BC}"/>
              </a:ext>
            </a:extLst>
          </p:cNvPr>
          <p:cNvSpPr/>
          <p:nvPr/>
        </p:nvSpPr>
        <p:spPr>
          <a:xfrm>
            <a:off x="7172236" y="1194202"/>
            <a:ext cx="2011680" cy="853149"/>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261" name="TextBox 260">
            <a:extLst>
              <a:ext uri="{FF2B5EF4-FFF2-40B4-BE49-F238E27FC236}">
                <a16:creationId xmlns:a16="http://schemas.microsoft.com/office/drawing/2014/main" id="{4757EA3C-A0A0-B472-A60D-FED7602E1579}"/>
              </a:ext>
            </a:extLst>
          </p:cNvPr>
          <p:cNvSpPr txBox="1"/>
          <p:nvPr/>
        </p:nvSpPr>
        <p:spPr>
          <a:xfrm>
            <a:off x="2193890" y="1539457"/>
            <a:ext cx="1759263" cy="379656"/>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10" normalizeH="0" baseline="0" noProof="0" dirty="0">
                <a:ln>
                  <a:noFill/>
                </a:ln>
                <a:solidFill>
                  <a:srgbClr val="765FFF"/>
                </a:solidFill>
                <a:effectLst/>
                <a:uLnTx/>
                <a:uFillTx/>
                <a:latin typeface="Segoe UI" pitchFamily="34" charset="0"/>
                <a:ea typeface="Lato" panose="020F0502020204030203" pitchFamily="34" charset="0"/>
                <a:cs typeface="Lato" panose="020F0502020204030203" pitchFamily="34" charset="0"/>
              </a:rPr>
              <a:t>/LIST</a:t>
            </a:r>
            <a:endParaRPr kumimoji="0" lang="en-US" sz="1333" b="0" i="0" u="none" strike="noStrike" kern="120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endParaRPr>
          </a:p>
        </p:txBody>
      </p:sp>
      <p:sp>
        <p:nvSpPr>
          <p:cNvPr id="262" name="TextBox 261">
            <a:extLst>
              <a:ext uri="{FF2B5EF4-FFF2-40B4-BE49-F238E27FC236}">
                <a16:creationId xmlns:a16="http://schemas.microsoft.com/office/drawing/2014/main" id="{E4BB5D92-4886-C744-61AF-EF855F996EF7}"/>
              </a:ext>
            </a:extLst>
          </p:cNvPr>
          <p:cNvSpPr txBox="1"/>
          <p:nvPr/>
        </p:nvSpPr>
        <p:spPr>
          <a:xfrm>
            <a:off x="7266552" y="1500054"/>
            <a:ext cx="1840936" cy="379656"/>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10" normalizeH="0" baseline="0" noProof="0" dirty="0">
                <a:ln>
                  <a:noFill/>
                </a:ln>
                <a:solidFill>
                  <a:srgbClr val="765FFF"/>
                </a:solidFill>
                <a:effectLst/>
                <a:uLnTx/>
                <a:uFillTx/>
                <a:latin typeface="Segoe UI" pitchFamily="34" charset="0"/>
                <a:ea typeface="Lato" panose="020F0502020204030203" pitchFamily="34" charset="0"/>
                <a:cs typeface="Lato" panose="020F0502020204030203" pitchFamily="34" charset="0"/>
              </a:rPr>
              <a:t>/MOBILIZE</a:t>
            </a:r>
            <a:endParaRPr kumimoji="0" lang="en-US" sz="1867" b="0" i="0" u="none" strike="noStrike" kern="120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endParaRPr>
          </a:p>
        </p:txBody>
      </p:sp>
      <p:sp>
        <p:nvSpPr>
          <p:cNvPr id="265" name="TextBox 264">
            <a:extLst>
              <a:ext uri="{FF2B5EF4-FFF2-40B4-BE49-F238E27FC236}">
                <a16:creationId xmlns:a16="http://schemas.microsoft.com/office/drawing/2014/main" id="{118E1F0B-6E9B-F6C7-FF6A-3A9E2580E0D3}"/>
              </a:ext>
            </a:extLst>
          </p:cNvPr>
          <p:cNvSpPr txBox="1"/>
          <p:nvPr/>
        </p:nvSpPr>
        <p:spPr>
          <a:xfrm>
            <a:off x="1982060" y="1264873"/>
            <a:ext cx="2200844" cy="276999"/>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200" b="1" i="0" u="none" strike="noStrike" kern="1200" cap="none" spc="-25" normalizeH="0" baseline="0" noProof="0" dirty="0">
                <a:ln>
                  <a:noFill/>
                </a:ln>
                <a:solidFill>
                  <a:srgbClr val="FFFFFF">
                    <a:lumMod val="50000"/>
                  </a:srgbClr>
                </a:solidFill>
                <a:effectLst/>
                <a:uLnTx/>
                <a:uFillTx/>
                <a:latin typeface="Segoe UI" pitchFamily="34" charset="0"/>
                <a:ea typeface="Lato" panose="020F0502020204030203" pitchFamily="34" charset="0"/>
                <a:cs typeface="Lato" panose="020F0502020204030203" pitchFamily="34" charset="0"/>
              </a:rPr>
              <a:t>What Are the Critical Roles?</a:t>
            </a:r>
          </a:p>
        </p:txBody>
      </p:sp>
      <p:sp>
        <p:nvSpPr>
          <p:cNvPr id="266" name="TextBox 265">
            <a:extLst>
              <a:ext uri="{FF2B5EF4-FFF2-40B4-BE49-F238E27FC236}">
                <a16:creationId xmlns:a16="http://schemas.microsoft.com/office/drawing/2014/main" id="{990DC672-4674-923C-CF53-E5F660FCA5C1}"/>
              </a:ext>
            </a:extLst>
          </p:cNvPr>
          <p:cNvSpPr txBox="1"/>
          <p:nvPr/>
        </p:nvSpPr>
        <p:spPr>
          <a:xfrm>
            <a:off x="7185831" y="1222513"/>
            <a:ext cx="2056900" cy="276999"/>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200" b="1" i="0" u="none" strike="noStrike" kern="1200" cap="none" spc="-25" normalizeH="0" baseline="0" noProof="0" dirty="0">
                <a:ln>
                  <a:noFill/>
                </a:ln>
                <a:solidFill>
                  <a:srgbClr val="FFFFFF">
                    <a:lumMod val="50000"/>
                  </a:srgbClr>
                </a:solidFill>
                <a:effectLst/>
                <a:uLnTx/>
                <a:uFillTx/>
                <a:latin typeface="Segoe UI" pitchFamily="34" charset="0"/>
                <a:ea typeface="Lato" panose="020F0502020204030203" pitchFamily="34" charset="0"/>
                <a:cs typeface="Lato" panose="020F0502020204030203" pitchFamily="34" charset="0"/>
              </a:rPr>
              <a:t>Shortest Path to Value?</a:t>
            </a:r>
          </a:p>
        </p:txBody>
      </p:sp>
      <p:sp>
        <p:nvSpPr>
          <p:cNvPr id="28" name="Rectangle 27">
            <a:extLst>
              <a:ext uri="{FF2B5EF4-FFF2-40B4-BE49-F238E27FC236}">
                <a16:creationId xmlns:a16="http://schemas.microsoft.com/office/drawing/2014/main" id="{1F1E160C-12A0-95BA-AF32-81368FAD6AB5}"/>
              </a:ext>
            </a:extLst>
          </p:cNvPr>
          <p:cNvSpPr/>
          <p:nvPr/>
        </p:nvSpPr>
        <p:spPr>
          <a:xfrm>
            <a:off x="6777990" y="2181204"/>
            <a:ext cx="3714750" cy="960961"/>
          </a:xfrm>
          <a:prstGeom prst="rect">
            <a:avLst/>
          </a:prstGeom>
          <a:noFill/>
        </p:spPr>
        <p:txBody>
          <a:bodyPr vert="horz" lIns="54864" tIns="54864" rIns="45720" bIns="36576" rtlCol="0" anchor="t" anchorCtr="0">
            <a:noAutofit/>
          </a:bodyPr>
          <a:lstStyle/>
          <a:p>
            <a:pPr marL="285750" indent="-285750" defTabSz="173728">
              <a:spcAft>
                <a:spcPts val="600"/>
              </a:spcAft>
              <a:buFont typeface="Arial" panose="020B0604020202020204" pitchFamily="34" charset="0"/>
              <a:buChar char="•"/>
              <a:tabLst>
                <a:tab pos="173728" algn="l"/>
                <a:tab pos="347454" algn="l"/>
                <a:tab pos="521182" algn="l"/>
                <a:tab pos="694909" algn="l"/>
              </a:tabLst>
            </a:pPr>
            <a:r>
              <a:rPr lang="en-US" sz="1200" spc="-10" dirty="0">
                <a:solidFill>
                  <a:srgbClr val="1D1D1D"/>
                </a:solidFill>
                <a:latin typeface="Arial" pitchFamily="34" charset="0"/>
                <a:cs typeface="Arial" panose="020B0604020202020204" pitchFamily="34" charset="0"/>
              </a:rPr>
              <a:t>Strengthening Plan at interfaces / critical roles</a:t>
            </a:r>
          </a:p>
          <a:p>
            <a:pPr marL="285750" indent="-285750" defTabSz="173728">
              <a:spcAft>
                <a:spcPts val="600"/>
              </a:spcAft>
              <a:buFont typeface="Arial" panose="020B0604020202020204" pitchFamily="34" charset="0"/>
              <a:buChar char="•"/>
              <a:tabLst>
                <a:tab pos="173728" algn="l"/>
                <a:tab pos="347454" algn="l"/>
                <a:tab pos="521182" algn="l"/>
                <a:tab pos="694909" algn="l"/>
              </a:tabLst>
            </a:pPr>
            <a:r>
              <a:rPr lang="en-US" sz="1200" spc="-10" dirty="0">
                <a:solidFill>
                  <a:srgbClr val="1D1D1D"/>
                </a:solidFill>
                <a:latin typeface="Arial" pitchFamily="34" charset="0"/>
                <a:cs typeface="Arial" panose="020B0604020202020204" pitchFamily="34" charset="0"/>
              </a:rPr>
              <a:t>Mobilizing Change </a:t>
            </a:r>
          </a:p>
        </p:txBody>
      </p:sp>
      <p:pic>
        <p:nvPicPr>
          <p:cNvPr id="6" name="Picture 5">
            <a:extLst>
              <a:ext uri="{FF2B5EF4-FFF2-40B4-BE49-F238E27FC236}">
                <a16:creationId xmlns:a16="http://schemas.microsoft.com/office/drawing/2014/main" id="{DC9CDA7C-D5FE-8CA6-9E77-810B17131637}"/>
              </a:ext>
            </a:extLst>
          </p:cNvPr>
          <p:cNvPicPr>
            <a:picLocks noChangeAspect="1"/>
          </p:cNvPicPr>
          <p:nvPr/>
        </p:nvPicPr>
        <p:blipFill>
          <a:blip r:embed="rId2">
            <a:duotone>
              <a:srgbClr val="765FFF"/>
              <a:srgbClr val="FFFFFF"/>
            </a:duotone>
          </a:blip>
          <a:stretch>
            <a:fillRect/>
          </a:stretch>
        </p:blipFill>
        <p:spPr>
          <a:xfrm>
            <a:off x="842507" y="3345953"/>
            <a:ext cx="4102935" cy="1587042"/>
          </a:xfrm>
          <a:prstGeom prst="rect">
            <a:avLst/>
          </a:prstGeom>
        </p:spPr>
      </p:pic>
      <p:pic>
        <p:nvPicPr>
          <p:cNvPr id="11" name="Picture 10" descr="The Code">
            <a:extLst>
              <a:ext uri="{FF2B5EF4-FFF2-40B4-BE49-F238E27FC236}">
                <a16:creationId xmlns:a16="http://schemas.microsoft.com/office/drawing/2014/main" id="{2E58EB66-CEF0-880D-3791-1CEBE8BFF444}"/>
              </a:ext>
            </a:extLst>
          </p:cNvPr>
          <p:cNvPicPr>
            <a:picLocks noChangeAspect="1"/>
          </p:cNvPicPr>
          <p:nvPr/>
        </p:nvPicPr>
        <p:blipFill>
          <a:blip r:embed="rId3">
            <a:duotone>
              <a:srgbClr val="765FFF"/>
              <a:srgbClr val="FFFFFF"/>
            </a:duotone>
          </a:blip>
          <a:stretch>
            <a:fillRect/>
          </a:stretch>
        </p:blipFill>
        <p:spPr>
          <a:xfrm>
            <a:off x="2165786" y="5092830"/>
            <a:ext cx="1456375" cy="1456375"/>
          </a:xfrm>
          <a:prstGeom prst="rect">
            <a:avLst/>
          </a:prstGeom>
        </p:spPr>
      </p:pic>
      <p:pic>
        <p:nvPicPr>
          <p:cNvPr id="21" name="Picture 20">
            <a:extLst>
              <a:ext uri="{FF2B5EF4-FFF2-40B4-BE49-F238E27FC236}">
                <a16:creationId xmlns:a16="http://schemas.microsoft.com/office/drawing/2014/main" id="{136B2CA5-5CAA-5233-AC4D-8FF14B51D5B6}"/>
              </a:ext>
            </a:extLst>
          </p:cNvPr>
          <p:cNvPicPr>
            <a:picLocks noChangeAspect="1"/>
          </p:cNvPicPr>
          <p:nvPr/>
        </p:nvPicPr>
        <p:blipFill>
          <a:blip r:embed="rId4">
            <a:duotone>
              <a:srgbClr val="765FFF"/>
              <a:srgbClr val="FFFFFF"/>
            </a:duotone>
          </a:blip>
          <a:stretch>
            <a:fillRect/>
          </a:stretch>
        </p:blipFill>
        <p:spPr>
          <a:xfrm>
            <a:off x="5871411" y="2881918"/>
            <a:ext cx="4915762" cy="2939099"/>
          </a:xfrm>
          <a:prstGeom prst="rect">
            <a:avLst/>
          </a:prstGeom>
        </p:spPr>
      </p:pic>
      <p:sp>
        <p:nvSpPr>
          <p:cNvPr id="22" name="TextBox 21">
            <a:extLst>
              <a:ext uri="{FF2B5EF4-FFF2-40B4-BE49-F238E27FC236}">
                <a16:creationId xmlns:a16="http://schemas.microsoft.com/office/drawing/2014/main" id="{B9F1E94F-5B10-7A7B-67A2-BFE649236455}"/>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307" name="SubtitleSplit"/>
          <p:cNvSpPr>
            <a:spLocks noGrp="1"/>
          </p:cNvSpPr>
          <p:nvPr>
            <p:ph type="subTitle" idx="1"/>
          </p:nvPr>
        </p:nvSpPr>
        <p:spPr>
          <a:noFill/>
        </p:spPr>
        <p:txBody>
          <a:bodyPr/>
          <a:lstStyle/>
          <a:p>
            <a:r>
              <a:t>Strengthening the op model</a:t>
            </a:r>
            <a:endParaRPr lang="en-US" b="0" spc="-10">
              <a:latin typeface="Segoe UI" pitchFamily="34" charset="0"/>
            </a:endParaRPr>
          </a:p>
        </p:txBody>
      </p:sp>
      <p:sp>
        <p:nvSpPr>
          <p:cNvPr id="30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B9EAA2AC-BE1A-4640-A433-B405829D973C}" type="slidenum">
              <a:t>10</a:t>
            </a:fld>
            <a:endParaRPr lang="en-US"/>
          </a:p>
        </p:txBody>
      </p:sp>
    </p:spTree>
    <p:extLst>
      <p:ext uri="{BB962C8B-B14F-4D97-AF65-F5344CB8AC3E}">
        <p14:creationId xmlns:p14="http://schemas.microsoft.com/office/powerpoint/2010/main" val="2470448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7E666-A74D-4678-014C-BE68A3BDD100}"/>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BC3CB51A-C74B-1D1E-226C-2A39C452CB3C}"/>
              </a:ext>
            </a:extLst>
          </p:cNvPr>
          <p:cNvSpPr txBox="1">
            <a:spLocks noGrp="1"/>
          </p:cNvSpPr>
          <p:nvPr>
            <p:ph type="title"/>
          </p:nvPr>
        </p:nvSpPr>
        <p:spPr>
          <a:noFill/>
        </p:spPr>
        <p:txBody>
          <a:bodyPr/>
          <a:lstStyle/>
          <a:p>
            <a:pPr>
              <a:buNone/>
            </a:pPr>
            <a:r>
              <a:rPr lang="en-US" dirty="0"/>
              <a:t>CXO Enablement</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73B728DE-035C-4487-B842-58579BBEE106}" type="slidenum">
              <a:t>11</a:t>
            </a:fld>
            <a:endParaRPr lang="en-US"/>
          </a:p>
        </p:txBody>
      </p:sp>
    </p:spTree>
    <p:extLst>
      <p:ext uri="{BB962C8B-B14F-4D97-AF65-F5344CB8AC3E}">
        <p14:creationId xmlns:p14="http://schemas.microsoft.com/office/powerpoint/2010/main" val="1720326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FFD5D-BB9B-800F-596C-6E8E4CFD00B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58EFC67-32DA-ED4B-AFA9-19B106564107}"/>
              </a:ext>
            </a:extLst>
          </p:cNvPr>
          <p:cNvSpPr>
            <a:spLocks noGrp="1"/>
          </p:cNvSpPr>
          <p:nvPr>
            <p:ph type="title" sz="quarter"/>
          </p:nvPr>
        </p:nvSpPr>
        <p:spPr/>
        <p:txBody>
          <a:bodyPr/>
          <a:lstStyle/>
          <a:p>
            <a:pPr marL="0" marR="0" lvl="0" indent="0" algn="l" defTabSz="914332" rtl="0" eaLnBrk="1" fontAlgn="auto" latinLnBrk="0" hangingPunct="1">
              <a:lnSpc>
                <a:spcPct val="100000"/>
              </a:lnSpc>
              <a:spcBef>
                <a:spcPts val="0"/>
              </a:spcBef>
              <a:spcAft>
                <a:spcPts val="0"/>
              </a:spcAft>
              <a:tabLst/>
              <a:defRPr b="1" spc="-25">
                <a:latin typeface="Segoe UI" pitchFamily="34" charset="0"/>
              </a:defRPr>
            </a:pPr>
            <a:r>
              <a:rPr kumimoji="0" lang="en-GB" i="0" u="none" strike="noStrike" kern="1200" cap="none" normalizeH="0" baseline="0" noProof="0" dirty="0">
                <a:ln>
                  <a:noFill/>
                </a:ln>
                <a:effectLst/>
                <a:uLnTx/>
                <a:uFillTx/>
                <a:latin typeface="+mn-lt"/>
                <a:ea typeface="Lato"/>
                <a:cs typeface="Lato"/>
              </a:rPr>
              <a:t>4 Pillars Essential for CXO Success</a:t>
            </a:r>
          </a:p>
        </p:txBody>
      </p:sp>
      <p:sp>
        <p:nvSpPr>
          <p:cNvPr id="9" name="Freeform: Shape 90">
            <a:extLst>
              <a:ext uri="{FF2B5EF4-FFF2-40B4-BE49-F238E27FC236}">
                <a16:creationId xmlns:a16="http://schemas.microsoft.com/office/drawing/2014/main" id="{C56DB0B8-F936-F477-799E-D9DC4D8F86E5}"/>
              </a:ext>
            </a:extLst>
          </p:cNvPr>
          <p:cNvSpPr/>
          <p:nvPr/>
        </p:nvSpPr>
        <p:spPr>
          <a:xfrm>
            <a:off x="699257" y="3703228"/>
            <a:ext cx="5524500" cy="2755778"/>
          </a:xfrm>
          <a:custGeom>
            <a:avLst/>
            <a:gdLst>
              <a:gd name="connsiteX0" fmla="*/ 0 w 5524500"/>
              <a:gd name="connsiteY0" fmla="*/ 0 h 2755778"/>
              <a:gd name="connsiteX1" fmla="*/ 255897 w 5524500"/>
              <a:gd name="connsiteY1" fmla="*/ 0 h 2755778"/>
              <a:gd name="connsiteX2" fmla="*/ 255897 w 5524500"/>
              <a:gd name="connsiteY2" fmla="*/ 1 h 2755778"/>
              <a:gd name="connsiteX3" fmla="*/ 2359301 w 5524500"/>
              <a:gd name="connsiteY3" fmla="*/ 1 h 2755778"/>
              <a:gd name="connsiteX4" fmla="*/ 2346095 w 5524500"/>
              <a:gd name="connsiteY4" fmla="*/ 23873 h 2755778"/>
              <a:gd name="connsiteX5" fmla="*/ 2319647 w 5524500"/>
              <a:gd name="connsiteY5" fmla="*/ 152401 h 2755778"/>
              <a:gd name="connsiteX6" fmla="*/ 2656197 w 5524500"/>
              <a:gd name="connsiteY6" fmla="*/ 482601 h 2755778"/>
              <a:gd name="connsiteX7" fmla="*/ 2992747 w 5524500"/>
              <a:gd name="connsiteY7" fmla="*/ 152401 h 2755778"/>
              <a:gd name="connsiteX8" fmla="*/ 2966299 w 5524500"/>
              <a:gd name="connsiteY8" fmla="*/ 23873 h 2755778"/>
              <a:gd name="connsiteX9" fmla="*/ 2953093 w 5524500"/>
              <a:gd name="connsiteY9" fmla="*/ 1 h 2755778"/>
              <a:gd name="connsiteX10" fmla="*/ 5054600 w 5524500"/>
              <a:gd name="connsiteY10" fmla="*/ 1 h 2755778"/>
              <a:gd name="connsiteX11" fmla="*/ 5054600 w 5524500"/>
              <a:gd name="connsiteY11" fmla="*/ 885253 h 2755778"/>
              <a:gd name="connsiteX12" fmla="*/ 5056950 w 5524500"/>
              <a:gd name="connsiteY12" fmla="*/ 884002 h 2755778"/>
              <a:gd name="connsiteX13" fmla="*/ 5187950 w 5524500"/>
              <a:gd name="connsiteY13" fmla="*/ 858053 h 2755778"/>
              <a:gd name="connsiteX14" fmla="*/ 5524500 w 5524500"/>
              <a:gd name="connsiteY14" fmla="*/ 1188253 h 2755778"/>
              <a:gd name="connsiteX15" fmla="*/ 5187950 w 5524500"/>
              <a:gd name="connsiteY15" fmla="*/ 1518453 h 2755778"/>
              <a:gd name="connsiteX16" fmla="*/ 5056950 w 5524500"/>
              <a:gd name="connsiteY16" fmla="*/ 1492504 h 2755778"/>
              <a:gd name="connsiteX17" fmla="*/ 5054600 w 5524500"/>
              <a:gd name="connsiteY17" fmla="*/ 1491253 h 2755778"/>
              <a:gd name="connsiteX18" fmla="*/ 5054600 w 5524500"/>
              <a:gd name="connsiteY18" fmla="*/ 2219663 h 2755778"/>
              <a:gd name="connsiteX19" fmla="*/ 5054600 w 5524500"/>
              <a:gd name="connsiteY19" fmla="*/ 2549866 h 2755778"/>
              <a:gd name="connsiteX20" fmla="*/ 5054600 w 5524500"/>
              <a:gd name="connsiteY20" fmla="*/ 2755777 h 2755778"/>
              <a:gd name="connsiteX21" fmla="*/ 1426186 w 5524500"/>
              <a:gd name="connsiteY21" fmla="*/ 2755777 h 2755778"/>
              <a:gd name="connsiteX22" fmla="*/ 1426176 w 5524500"/>
              <a:gd name="connsiteY22" fmla="*/ 2755778 h 2755778"/>
              <a:gd name="connsiteX23" fmla="*/ 250224 w 5524500"/>
              <a:gd name="connsiteY23" fmla="*/ 2755778 h 2755778"/>
              <a:gd name="connsiteX24" fmla="*/ 0 w 5524500"/>
              <a:gd name="connsiteY24" fmla="*/ 2505554 h 2755778"/>
              <a:gd name="connsiteX25" fmla="*/ 0 w 5524500"/>
              <a:gd name="connsiteY25" fmla="*/ 1858270 h 275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524500" h="2755778">
                <a:moveTo>
                  <a:pt x="0" y="0"/>
                </a:moveTo>
                <a:lnTo>
                  <a:pt x="255897" y="0"/>
                </a:lnTo>
                <a:lnTo>
                  <a:pt x="255897" y="1"/>
                </a:lnTo>
                <a:lnTo>
                  <a:pt x="2359301" y="1"/>
                </a:lnTo>
                <a:lnTo>
                  <a:pt x="2346095" y="23873"/>
                </a:lnTo>
                <a:cubicBezTo>
                  <a:pt x="2329065" y="63377"/>
                  <a:pt x="2319647" y="106810"/>
                  <a:pt x="2319647" y="152401"/>
                </a:cubicBezTo>
                <a:cubicBezTo>
                  <a:pt x="2319647" y="334765"/>
                  <a:pt x="2470326" y="482601"/>
                  <a:pt x="2656197" y="482601"/>
                </a:cubicBezTo>
                <a:cubicBezTo>
                  <a:pt x="2842068" y="482601"/>
                  <a:pt x="2992747" y="334765"/>
                  <a:pt x="2992747" y="152401"/>
                </a:cubicBezTo>
                <a:cubicBezTo>
                  <a:pt x="2992747" y="106810"/>
                  <a:pt x="2983330" y="63377"/>
                  <a:pt x="2966299" y="23873"/>
                </a:cubicBezTo>
                <a:lnTo>
                  <a:pt x="2953093" y="1"/>
                </a:lnTo>
                <a:lnTo>
                  <a:pt x="5054600" y="1"/>
                </a:lnTo>
                <a:lnTo>
                  <a:pt x="5054600" y="885253"/>
                </a:lnTo>
                <a:lnTo>
                  <a:pt x="5056950" y="884002"/>
                </a:lnTo>
                <a:cubicBezTo>
                  <a:pt x="5097214" y="867293"/>
                  <a:pt x="5141483" y="858053"/>
                  <a:pt x="5187950" y="858053"/>
                </a:cubicBezTo>
                <a:cubicBezTo>
                  <a:pt x="5373821" y="858053"/>
                  <a:pt x="5524500" y="1005889"/>
                  <a:pt x="5524500" y="1188253"/>
                </a:cubicBezTo>
                <a:cubicBezTo>
                  <a:pt x="5524500" y="1370617"/>
                  <a:pt x="5373821" y="1518453"/>
                  <a:pt x="5187950" y="1518453"/>
                </a:cubicBezTo>
                <a:cubicBezTo>
                  <a:pt x="5141483" y="1518453"/>
                  <a:pt x="5097214" y="1509213"/>
                  <a:pt x="5056950" y="1492504"/>
                </a:cubicBezTo>
                <a:lnTo>
                  <a:pt x="5054600" y="1491253"/>
                </a:lnTo>
                <a:lnTo>
                  <a:pt x="5054600" y="2219663"/>
                </a:lnTo>
                <a:lnTo>
                  <a:pt x="5054600" y="2549866"/>
                </a:lnTo>
                <a:lnTo>
                  <a:pt x="5054600" y="2755777"/>
                </a:lnTo>
                <a:lnTo>
                  <a:pt x="1426186" y="2755777"/>
                </a:lnTo>
                <a:lnTo>
                  <a:pt x="1426176" y="2755778"/>
                </a:lnTo>
                <a:lnTo>
                  <a:pt x="250224" y="2755778"/>
                </a:lnTo>
                <a:cubicBezTo>
                  <a:pt x="112029" y="2755778"/>
                  <a:pt x="0" y="2643749"/>
                  <a:pt x="0" y="2505554"/>
                </a:cubicBezTo>
                <a:lnTo>
                  <a:pt x="0" y="1858270"/>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prstClr val="white"/>
              </a:solidFill>
              <a:effectLst/>
              <a:uLnTx/>
              <a:uFillTx/>
              <a:latin typeface="Arial" pitchFamily="34" charset="0"/>
              <a:ea typeface="+mn-ea"/>
              <a:cs typeface="+mn-cs"/>
            </a:endParaRPr>
          </a:p>
        </p:txBody>
      </p:sp>
      <p:sp>
        <p:nvSpPr>
          <p:cNvPr id="10" name="Freeform: Shape 94">
            <a:extLst>
              <a:ext uri="{FF2B5EF4-FFF2-40B4-BE49-F238E27FC236}">
                <a16:creationId xmlns:a16="http://schemas.microsoft.com/office/drawing/2014/main" id="{BB23EBBD-728B-4A61-CC65-C0237845D3B9}"/>
              </a:ext>
            </a:extLst>
          </p:cNvPr>
          <p:cNvSpPr/>
          <p:nvPr/>
        </p:nvSpPr>
        <p:spPr>
          <a:xfrm>
            <a:off x="5247754" y="906515"/>
            <a:ext cx="5564497" cy="2796714"/>
          </a:xfrm>
          <a:custGeom>
            <a:avLst/>
            <a:gdLst>
              <a:gd name="connsiteX0" fmla="*/ 508000 w 5564497"/>
              <a:gd name="connsiteY0" fmla="*/ 0 h 2796714"/>
              <a:gd name="connsiteX1" fmla="*/ 4136424 w 5564497"/>
              <a:gd name="connsiteY1" fmla="*/ 0 h 2796714"/>
              <a:gd name="connsiteX2" fmla="*/ 4484997 w 5564497"/>
              <a:gd name="connsiteY2" fmla="*/ 0 h 2796714"/>
              <a:gd name="connsiteX3" fmla="*/ 5312376 w 5564497"/>
              <a:gd name="connsiteY3" fmla="*/ 0 h 2796714"/>
              <a:gd name="connsiteX4" fmla="*/ 5562600 w 5564497"/>
              <a:gd name="connsiteY4" fmla="*/ 250224 h 2796714"/>
              <a:gd name="connsiteX5" fmla="*/ 5562600 w 5564497"/>
              <a:gd name="connsiteY5" fmla="*/ 938442 h 2796714"/>
              <a:gd name="connsiteX6" fmla="*/ 5564497 w 5564497"/>
              <a:gd name="connsiteY6" fmla="*/ 938442 h 2796714"/>
              <a:gd name="connsiteX7" fmla="*/ 5564497 w 5564497"/>
              <a:gd name="connsiteY7" fmla="*/ 2796713 h 2796714"/>
              <a:gd name="connsiteX8" fmla="*/ 5308600 w 5564497"/>
              <a:gd name="connsiteY8" fmla="*/ 2796713 h 2796714"/>
              <a:gd name="connsiteX9" fmla="*/ 4991100 w 5564497"/>
              <a:gd name="connsiteY9" fmla="*/ 2796713 h 2796714"/>
              <a:gd name="connsiteX10" fmla="*/ 4991100 w 5564497"/>
              <a:gd name="connsiteY10" fmla="*/ 2796714 h 2796714"/>
              <a:gd name="connsiteX11" fmla="*/ 3191144 w 5564497"/>
              <a:gd name="connsiteY11" fmla="*/ 2796714 h 2796714"/>
              <a:gd name="connsiteX12" fmla="*/ 3218402 w 5564497"/>
              <a:gd name="connsiteY12" fmla="*/ 2747442 h 2796714"/>
              <a:gd name="connsiteX13" fmla="*/ 3244850 w 5564497"/>
              <a:gd name="connsiteY13" fmla="*/ 2618914 h 2796714"/>
              <a:gd name="connsiteX14" fmla="*/ 2908300 w 5564497"/>
              <a:gd name="connsiteY14" fmla="*/ 2288714 h 2796714"/>
              <a:gd name="connsiteX15" fmla="*/ 2571750 w 5564497"/>
              <a:gd name="connsiteY15" fmla="*/ 2618914 h 2796714"/>
              <a:gd name="connsiteX16" fmla="*/ 2598198 w 5564497"/>
              <a:gd name="connsiteY16" fmla="*/ 2747442 h 2796714"/>
              <a:gd name="connsiteX17" fmla="*/ 2625456 w 5564497"/>
              <a:gd name="connsiteY17" fmla="*/ 2796714 h 2796714"/>
              <a:gd name="connsiteX18" fmla="*/ 508000 w 5564497"/>
              <a:gd name="connsiteY18" fmla="*/ 2796714 h 2796714"/>
              <a:gd name="connsiteX19" fmla="*/ 508000 w 5564497"/>
              <a:gd name="connsiteY19" fmla="*/ 1717811 h 2796714"/>
              <a:gd name="connsiteX20" fmla="*/ 467551 w 5564497"/>
              <a:gd name="connsiteY20" fmla="*/ 1739352 h 2796714"/>
              <a:gd name="connsiteX21" fmla="*/ 336550 w 5564497"/>
              <a:gd name="connsiteY21" fmla="*/ 1765301 h 2796714"/>
              <a:gd name="connsiteX22" fmla="*/ 0 w 5564497"/>
              <a:gd name="connsiteY22" fmla="*/ 1435101 h 2796714"/>
              <a:gd name="connsiteX23" fmla="*/ 336550 w 5564497"/>
              <a:gd name="connsiteY23" fmla="*/ 1104901 h 2796714"/>
              <a:gd name="connsiteX24" fmla="*/ 467551 w 5564497"/>
              <a:gd name="connsiteY24" fmla="*/ 1130850 h 2796714"/>
              <a:gd name="connsiteX25" fmla="*/ 508000 w 5564497"/>
              <a:gd name="connsiteY25" fmla="*/ 1152391 h 2796714"/>
              <a:gd name="connsiteX26" fmla="*/ 508000 w 5564497"/>
              <a:gd name="connsiteY26" fmla="*/ 536114 h 2796714"/>
              <a:gd name="connsiteX27" fmla="*/ 508000 w 5564497"/>
              <a:gd name="connsiteY27" fmla="*/ 246848 h 279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564497" h="2796714">
                <a:moveTo>
                  <a:pt x="508000" y="0"/>
                </a:moveTo>
                <a:lnTo>
                  <a:pt x="4136424" y="0"/>
                </a:lnTo>
                <a:lnTo>
                  <a:pt x="4484997" y="0"/>
                </a:lnTo>
                <a:lnTo>
                  <a:pt x="5312376" y="0"/>
                </a:lnTo>
                <a:cubicBezTo>
                  <a:pt x="5450571" y="0"/>
                  <a:pt x="5562600" y="112029"/>
                  <a:pt x="5562600" y="250224"/>
                </a:cubicBezTo>
                <a:lnTo>
                  <a:pt x="5562600" y="938442"/>
                </a:lnTo>
                <a:lnTo>
                  <a:pt x="5564497" y="938442"/>
                </a:lnTo>
                <a:lnTo>
                  <a:pt x="5564497" y="2796713"/>
                </a:lnTo>
                <a:lnTo>
                  <a:pt x="5308600" y="2796713"/>
                </a:lnTo>
                <a:lnTo>
                  <a:pt x="4991100" y="2796713"/>
                </a:lnTo>
                <a:lnTo>
                  <a:pt x="4991100" y="2796714"/>
                </a:lnTo>
                <a:lnTo>
                  <a:pt x="3191144" y="2796714"/>
                </a:lnTo>
                <a:lnTo>
                  <a:pt x="3218402" y="2747442"/>
                </a:lnTo>
                <a:cubicBezTo>
                  <a:pt x="3235433" y="2707938"/>
                  <a:pt x="3244850" y="2664505"/>
                  <a:pt x="3244850" y="2618914"/>
                </a:cubicBezTo>
                <a:cubicBezTo>
                  <a:pt x="3244850" y="2436550"/>
                  <a:pt x="3094171" y="2288714"/>
                  <a:pt x="2908300" y="2288714"/>
                </a:cubicBezTo>
                <a:cubicBezTo>
                  <a:pt x="2722429" y="2288714"/>
                  <a:pt x="2571750" y="2436550"/>
                  <a:pt x="2571750" y="2618914"/>
                </a:cubicBezTo>
                <a:cubicBezTo>
                  <a:pt x="2571750" y="2664505"/>
                  <a:pt x="2581167" y="2707938"/>
                  <a:pt x="2598198" y="2747442"/>
                </a:cubicBezTo>
                <a:lnTo>
                  <a:pt x="2625456" y="2796714"/>
                </a:lnTo>
                <a:lnTo>
                  <a:pt x="508000" y="2796714"/>
                </a:lnTo>
                <a:lnTo>
                  <a:pt x="508000" y="1717811"/>
                </a:lnTo>
                <a:lnTo>
                  <a:pt x="467551" y="1739352"/>
                </a:lnTo>
                <a:cubicBezTo>
                  <a:pt x="427286" y="1756061"/>
                  <a:pt x="383018" y="1765301"/>
                  <a:pt x="336550" y="1765301"/>
                </a:cubicBezTo>
                <a:cubicBezTo>
                  <a:pt x="150679" y="1765301"/>
                  <a:pt x="0" y="1617465"/>
                  <a:pt x="0" y="1435101"/>
                </a:cubicBezTo>
                <a:cubicBezTo>
                  <a:pt x="0" y="1252737"/>
                  <a:pt x="150679" y="1104901"/>
                  <a:pt x="336550" y="1104901"/>
                </a:cubicBezTo>
                <a:cubicBezTo>
                  <a:pt x="383018" y="1104901"/>
                  <a:pt x="427286" y="1114141"/>
                  <a:pt x="467551" y="1130850"/>
                </a:cubicBezTo>
                <a:lnTo>
                  <a:pt x="508000" y="1152391"/>
                </a:lnTo>
                <a:lnTo>
                  <a:pt x="508000" y="536114"/>
                </a:lnTo>
                <a:lnTo>
                  <a:pt x="508000" y="246848"/>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prstClr val="white"/>
              </a:solidFill>
              <a:effectLst/>
              <a:uLnTx/>
              <a:uFillTx/>
              <a:latin typeface="Segoe UI" pitchFamily="34" charset="0"/>
              <a:ea typeface="+mn-ea"/>
              <a:cs typeface="+mn-cs"/>
            </a:endParaRPr>
          </a:p>
        </p:txBody>
      </p:sp>
      <p:sp>
        <p:nvSpPr>
          <p:cNvPr id="12" name="Freeform: Shape 93">
            <a:extLst>
              <a:ext uri="{FF2B5EF4-FFF2-40B4-BE49-F238E27FC236}">
                <a16:creationId xmlns:a16="http://schemas.microsoft.com/office/drawing/2014/main" id="{5B05676C-D495-7AE0-4F4F-FAE02D4BE14A}"/>
              </a:ext>
            </a:extLst>
          </p:cNvPr>
          <p:cNvSpPr/>
          <p:nvPr/>
        </p:nvSpPr>
        <p:spPr>
          <a:xfrm>
            <a:off x="5755754" y="3195229"/>
            <a:ext cx="5056497" cy="3263777"/>
          </a:xfrm>
          <a:custGeom>
            <a:avLst/>
            <a:gdLst>
              <a:gd name="connsiteX0" fmla="*/ 2400300 w 5056497"/>
              <a:gd name="connsiteY0" fmla="*/ 0 h 3263777"/>
              <a:gd name="connsiteX1" fmla="*/ 2736850 w 5056497"/>
              <a:gd name="connsiteY1" fmla="*/ 330200 h 3263777"/>
              <a:gd name="connsiteX2" fmla="*/ 2710402 w 5056497"/>
              <a:gd name="connsiteY2" fmla="*/ 458728 h 3263777"/>
              <a:gd name="connsiteX3" fmla="*/ 2683144 w 5056497"/>
              <a:gd name="connsiteY3" fmla="*/ 508000 h 3263777"/>
              <a:gd name="connsiteX4" fmla="*/ 4483100 w 5056497"/>
              <a:gd name="connsiteY4" fmla="*/ 508000 h 3263777"/>
              <a:gd name="connsiteX5" fmla="*/ 4483100 w 5056497"/>
              <a:gd name="connsiteY5" fmla="*/ 507999 h 3263777"/>
              <a:gd name="connsiteX6" fmla="*/ 5056497 w 5056497"/>
              <a:gd name="connsiteY6" fmla="*/ 507999 h 3263777"/>
              <a:gd name="connsiteX7" fmla="*/ 5056497 w 5056497"/>
              <a:gd name="connsiteY7" fmla="*/ 2366270 h 3263777"/>
              <a:gd name="connsiteX8" fmla="*/ 5054600 w 5056497"/>
              <a:gd name="connsiteY8" fmla="*/ 2366270 h 3263777"/>
              <a:gd name="connsiteX9" fmla="*/ 5054600 w 5056497"/>
              <a:gd name="connsiteY9" fmla="*/ 3013553 h 3263777"/>
              <a:gd name="connsiteX10" fmla="*/ 4804376 w 5056497"/>
              <a:gd name="connsiteY10" fmla="*/ 3263777 h 3263777"/>
              <a:gd name="connsiteX11" fmla="*/ 3976997 w 5056497"/>
              <a:gd name="connsiteY11" fmla="*/ 3263777 h 3263777"/>
              <a:gd name="connsiteX12" fmla="*/ 3628424 w 5056497"/>
              <a:gd name="connsiteY12" fmla="*/ 3263777 h 3263777"/>
              <a:gd name="connsiteX13" fmla="*/ 0 w 5056497"/>
              <a:gd name="connsiteY13" fmla="*/ 3263777 h 3263777"/>
              <a:gd name="connsiteX14" fmla="*/ 0 w 5056497"/>
              <a:gd name="connsiteY14" fmla="*/ 3057866 h 3263777"/>
              <a:gd name="connsiteX15" fmla="*/ 0 w 5056497"/>
              <a:gd name="connsiteY15" fmla="*/ 2727663 h 3263777"/>
              <a:gd name="connsiteX16" fmla="*/ 0 w 5056497"/>
              <a:gd name="connsiteY16" fmla="*/ 2000264 h 3263777"/>
              <a:gd name="connsiteX17" fmla="*/ 452 w 5056497"/>
              <a:gd name="connsiteY17" fmla="*/ 2000504 h 3263777"/>
              <a:gd name="connsiteX18" fmla="*/ 131452 w 5056497"/>
              <a:gd name="connsiteY18" fmla="*/ 2026453 h 3263777"/>
              <a:gd name="connsiteX19" fmla="*/ 468002 w 5056497"/>
              <a:gd name="connsiteY19" fmla="*/ 1696253 h 3263777"/>
              <a:gd name="connsiteX20" fmla="*/ 131452 w 5056497"/>
              <a:gd name="connsiteY20" fmla="*/ 1366053 h 3263777"/>
              <a:gd name="connsiteX21" fmla="*/ 452 w 5056497"/>
              <a:gd name="connsiteY21" fmla="*/ 1392002 h 3263777"/>
              <a:gd name="connsiteX22" fmla="*/ 0 w 5056497"/>
              <a:gd name="connsiteY22" fmla="*/ 1392243 h 3263777"/>
              <a:gd name="connsiteX23" fmla="*/ 0 w 5056497"/>
              <a:gd name="connsiteY23" fmla="*/ 508000 h 3263777"/>
              <a:gd name="connsiteX24" fmla="*/ 2117456 w 5056497"/>
              <a:gd name="connsiteY24" fmla="*/ 508000 h 3263777"/>
              <a:gd name="connsiteX25" fmla="*/ 2090198 w 5056497"/>
              <a:gd name="connsiteY25" fmla="*/ 458728 h 3263777"/>
              <a:gd name="connsiteX26" fmla="*/ 2063750 w 5056497"/>
              <a:gd name="connsiteY26" fmla="*/ 330200 h 3263777"/>
              <a:gd name="connsiteX27" fmla="*/ 2400300 w 5056497"/>
              <a:gd name="connsiteY27" fmla="*/ 0 h 3263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056497" h="3263777">
                <a:moveTo>
                  <a:pt x="2400300" y="0"/>
                </a:moveTo>
                <a:cubicBezTo>
                  <a:pt x="2586171" y="0"/>
                  <a:pt x="2736850" y="147836"/>
                  <a:pt x="2736850" y="330200"/>
                </a:cubicBezTo>
                <a:cubicBezTo>
                  <a:pt x="2736850" y="375791"/>
                  <a:pt x="2727433" y="419224"/>
                  <a:pt x="2710402" y="458728"/>
                </a:cubicBezTo>
                <a:lnTo>
                  <a:pt x="2683144" y="508000"/>
                </a:lnTo>
                <a:lnTo>
                  <a:pt x="4483100" y="508000"/>
                </a:lnTo>
                <a:lnTo>
                  <a:pt x="4483100" y="507999"/>
                </a:lnTo>
                <a:lnTo>
                  <a:pt x="5056497" y="507999"/>
                </a:lnTo>
                <a:lnTo>
                  <a:pt x="5056497" y="2366270"/>
                </a:lnTo>
                <a:lnTo>
                  <a:pt x="5054600" y="2366270"/>
                </a:lnTo>
                <a:lnTo>
                  <a:pt x="5054600" y="3013553"/>
                </a:lnTo>
                <a:cubicBezTo>
                  <a:pt x="5054600" y="3151748"/>
                  <a:pt x="4942571" y="3263777"/>
                  <a:pt x="4804376" y="3263777"/>
                </a:cubicBezTo>
                <a:lnTo>
                  <a:pt x="3976997" y="3263777"/>
                </a:lnTo>
                <a:lnTo>
                  <a:pt x="3628424" y="3263777"/>
                </a:lnTo>
                <a:lnTo>
                  <a:pt x="0" y="3263777"/>
                </a:lnTo>
                <a:lnTo>
                  <a:pt x="0" y="3057866"/>
                </a:lnTo>
                <a:lnTo>
                  <a:pt x="0" y="2727663"/>
                </a:lnTo>
                <a:lnTo>
                  <a:pt x="0" y="2000264"/>
                </a:lnTo>
                <a:lnTo>
                  <a:pt x="452" y="2000504"/>
                </a:lnTo>
                <a:cubicBezTo>
                  <a:pt x="40716" y="2017213"/>
                  <a:pt x="84985" y="2026453"/>
                  <a:pt x="131452" y="2026453"/>
                </a:cubicBezTo>
                <a:cubicBezTo>
                  <a:pt x="317323" y="2026453"/>
                  <a:pt x="468002" y="1878617"/>
                  <a:pt x="468002" y="1696253"/>
                </a:cubicBezTo>
                <a:cubicBezTo>
                  <a:pt x="468002" y="1513889"/>
                  <a:pt x="317323" y="1366053"/>
                  <a:pt x="131452" y="1366053"/>
                </a:cubicBezTo>
                <a:cubicBezTo>
                  <a:pt x="84985" y="1366053"/>
                  <a:pt x="40716" y="1375293"/>
                  <a:pt x="452" y="1392002"/>
                </a:cubicBezTo>
                <a:lnTo>
                  <a:pt x="0" y="1392243"/>
                </a:lnTo>
                <a:lnTo>
                  <a:pt x="0" y="508000"/>
                </a:lnTo>
                <a:lnTo>
                  <a:pt x="2117456" y="508000"/>
                </a:lnTo>
                <a:lnTo>
                  <a:pt x="2090198" y="458728"/>
                </a:lnTo>
                <a:cubicBezTo>
                  <a:pt x="2073167" y="419224"/>
                  <a:pt x="2063750" y="375791"/>
                  <a:pt x="2063750" y="330200"/>
                </a:cubicBezTo>
                <a:cubicBezTo>
                  <a:pt x="2063750" y="147836"/>
                  <a:pt x="2214429" y="0"/>
                  <a:pt x="2400300" y="0"/>
                </a:cubicBez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prstClr val="white"/>
              </a:solidFill>
              <a:effectLst/>
              <a:uLnTx/>
              <a:uFillTx/>
              <a:latin typeface="Arial" pitchFamily="34" charset="0"/>
              <a:ea typeface="+mn-ea"/>
              <a:cs typeface="+mn-cs"/>
            </a:endParaRPr>
          </a:p>
        </p:txBody>
      </p:sp>
      <p:sp>
        <p:nvSpPr>
          <p:cNvPr id="16" name="Freeform: Shape 92">
            <a:extLst>
              <a:ext uri="{FF2B5EF4-FFF2-40B4-BE49-F238E27FC236}">
                <a16:creationId xmlns:a16="http://schemas.microsoft.com/office/drawing/2014/main" id="{5EAF99F6-6818-D6CA-922F-2866FCB953B5}"/>
              </a:ext>
            </a:extLst>
          </p:cNvPr>
          <p:cNvSpPr/>
          <p:nvPr/>
        </p:nvSpPr>
        <p:spPr>
          <a:xfrm>
            <a:off x="699257" y="906515"/>
            <a:ext cx="5056497" cy="3279314"/>
          </a:xfrm>
          <a:custGeom>
            <a:avLst/>
            <a:gdLst>
              <a:gd name="connsiteX0" fmla="*/ 1079500 w 5056497"/>
              <a:gd name="connsiteY0" fmla="*/ 0 h 3279314"/>
              <a:gd name="connsiteX1" fmla="*/ 5056497 w 5056497"/>
              <a:gd name="connsiteY1" fmla="*/ 0 h 3279314"/>
              <a:gd name="connsiteX2" fmla="*/ 5056497 w 5056497"/>
              <a:gd name="connsiteY2" fmla="*/ 246848 h 3279314"/>
              <a:gd name="connsiteX3" fmla="*/ 5056497 w 5056497"/>
              <a:gd name="connsiteY3" fmla="*/ 536114 h 3279314"/>
              <a:gd name="connsiteX4" fmla="*/ 5056497 w 5056497"/>
              <a:gd name="connsiteY4" fmla="*/ 1152391 h 3279314"/>
              <a:gd name="connsiteX5" fmla="*/ 5016048 w 5056497"/>
              <a:gd name="connsiteY5" fmla="*/ 1130850 h 3279314"/>
              <a:gd name="connsiteX6" fmla="*/ 4885047 w 5056497"/>
              <a:gd name="connsiteY6" fmla="*/ 1104901 h 3279314"/>
              <a:gd name="connsiteX7" fmla="*/ 4548497 w 5056497"/>
              <a:gd name="connsiteY7" fmla="*/ 1435101 h 3279314"/>
              <a:gd name="connsiteX8" fmla="*/ 4885047 w 5056497"/>
              <a:gd name="connsiteY8" fmla="*/ 1765301 h 3279314"/>
              <a:gd name="connsiteX9" fmla="*/ 5016048 w 5056497"/>
              <a:gd name="connsiteY9" fmla="*/ 1739352 h 3279314"/>
              <a:gd name="connsiteX10" fmla="*/ 5056497 w 5056497"/>
              <a:gd name="connsiteY10" fmla="*/ 1717811 h 3279314"/>
              <a:gd name="connsiteX11" fmla="*/ 5056497 w 5056497"/>
              <a:gd name="connsiteY11" fmla="*/ 2796714 h 3279314"/>
              <a:gd name="connsiteX12" fmla="*/ 2953093 w 5056497"/>
              <a:gd name="connsiteY12" fmla="*/ 2796714 h 3279314"/>
              <a:gd name="connsiteX13" fmla="*/ 2966299 w 5056497"/>
              <a:gd name="connsiteY13" fmla="*/ 2820586 h 3279314"/>
              <a:gd name="connsiteX14" fmla="*/ 2992747 w 5056497"/>
              <a:gd name="connsiteY14" fmla="*/ 2949114 h 3279314"/>
              <a:gd name="connsiteX15" fmla="*/ 2656197 w 5056497"/>
              <a:gd name="connsiteY15" fmla="*/ 3279314 h 3279314"/>
              <a:gd name="connsiteX16" fmla="*/ 2319647 w 5056497"/>
              <a:gd name="connsiteY16" fmla="*/ 2949114 h 3279314"/>
              <a:gd name="connsiteX17" fmla="*/ 2346095 w 5056497"/>
              <a:gd name="connsiteY17" fmla="*/ 2820586 h 3279314"/>
              <a:gd name="connsiteX18" fmla="*/ 2359301 w 5056497"/>
              <a:gd name="connsiteY18" fmla="*/ 2796714 h 3279314"/>
              <a:gd name="connsiteX19" fmla="*/ 255897 w 5056497"/>
              <a:gd name="connsiteY19" fmla="*/ 2796714 h 3279314"/>
              <a:gd name="connsiteX20" fmla="*/ 255897 w 5056497"/>
              <a:gd name="connsiteY20" fmla="*/ 2796713 h 3279314"/>
              <a:gd name="connsiteX21" fmla="*/ 0 w 5056497"/>
              <a:gd name="connsiteY21" fmla="*/ 2796713 h 3279314"/>
              <a:gd name="connsiteX22" fmla="*/ 0 w 5056497"/>
              <a:gd name="connsiteY22" fmla="*/ 938442 h 3279314"/>
              <a:gd name="connsiteX23" fmla="*/ 1897 w 5056497"/>
              <a:gd name="connsiteY23" fmla="*/ 938442 h 3279314"/>
              <a:gd name="connsiteX24" fmla="*/ 1897 w 5056497"/>
              <a:gd name="connsiteY24" fmla="*/ 250225 h 3279314"/>
              <a:gd name="connsiteX25" fmla="*/ 252121 w 5056497"/>
              <a:gd name="connsiteY25" fmla="*/ 1 h 3279314"/>
              <a:gd name="connsiteX26" fmla="*/ 1079500 w 5056497"/>
              <a:gd name="connsiteY26" fmla="*/ 1 h 3279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56497" h="3279314">
                <a:moveTo>
                  <a:pt x="1079500" y="0"/>
                </a:moveTo>
                <a:lnTo>
                  <a:pt x="5056497" y="0"/>
                </a:lnTo>
                <a:lnTo>
                  <a:pt x="5056497" y="246848"/>
                </a:lnTo>
                <a:lnTo>
                  <a:pt x="5056497" y="536114"/>
                </a:lnTo>
                <a:lnTo>
                  <a:pt x="5056497" y="1152391"/>
                </a:lnTo>
                <a:lnTo>
                  <a:pt x="5016048" y="1130850"/>
                </a:lnTo>
                <a:cubicBezTo>
                  <a:pt x="4975783" y="1114141"/>
                  <a:pt x="4931515" y="1104901"/>
                  <a:pt x="4885047" y="1104901"/>
                </a:cubicBezTo>
                <a:cubicBezTo>
                  <a:pt x="4699176" y="1104901"/>
                  <a:pt x="4548497" y="1252737"/>
                  <a:pt x="4548497" y="1435101"/>
                </a:cubicBezTo>
                <a:cubicBezTo>
                  <a:pt x="4548497" y="1617465"/>
                  <a:pt x="4699176" y="1765301"/>
                  <a:pt x="4885047" y="1765301"/>
                </a:cubicBezTo>
                <a:cubicBezTo>
                  <a:pt x="4931515" y="1765301"/>
                  <a:pt x="4975783" y="1756061"/>
                  <a:pt x="5016048" y="1739352"/>
                </a:cubicBezTo>
                <a:lnTo>
                  <a:pt x="5056497" y="1717811"/>
                </a:lnTo>
                <a:lnTo>
                  <a:pt x="5056497" y="2796714"/>
                </a:lnTo>
                <a:lnTo>
                  <a:pt x="2953093" y="2796714"/>
                </a:lnTo>
                <a:lnTo>
                  <a:pt x="2966299" y="2820586"/>
                </a:lnTo>
                <a:cubicBezTo>
                  <a:pt x="2983330" y="2860090"/>
                  <a:pt x="2992747" y="2903523"/>
                  <a:pt x="2992747" y="2949114"/>
                </a:cubicBezTo>
                <a:cubicBezTo>
                  <a:pt x="2992747" y="3131478"/>
                  <a:pt x="2842068" y="3279314"/>
                  <a:pt x="2656197" y="3279314"/>
                </a:cubicBezTo>
                <a:cubicBezTo>
                  <a:pt x="2470326" y="3279314"/>
                  <a:pt x="2319647" y="3131478"/>
                  <a:pt x="2319647" y="2949114"/>
                </a:cubicBezTo>
                <a:cubicBezTo>
                  <a:pt x="2319647" y="2903523"/>
                  <a:pt x="2329065" y="2860090"/>
                  <a:pt x="2346095" y="2820586"/>
                </a:cubicBezTo>
                <a:lnTo>
                  <a:pt x="2359301" y="2796714"/>
                </a:lnTo>
                <a:lnTo>
                  <a:pt x="255897" y="2796714"/>
                </a:lnTo>
                <a:lnTo>
                  <a:pt x="255897" y="2796713"/>
                </a:lnTo>
                <a:lnTo>
                  <a:pt x="0" y="2796713"/>
                </a:lnTo>
                <a:lnTo>
                  <a:pt x="0" y="938442"/>
                </a:lnTo>
                <a:lnTo>
                  <a:pt x="1897" y="938442"/>
                </a:lnTo>
                <a:lnTo>
                  <a:pt x="1897" y="250225"/>
                </a:lnTo>
                <a:cubicBezTo>
                  <a:pt x="1897" y="112030"/>
                  <a:pt x="113926" y="1"/>
                  <a:pt x="252121" y="1"/>
                </a:cubicBezTo>
                <a:lnTo>
                  <a:pt x="1079500" y="1"/>
                </a:lnTo>
                <a:close/>
              </a:path>
            </a:pathLst>
          </a:cu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prstClr val="white"/>
              </a:solidFill>
              <a:effectLst/>
              <a:uLnTx/>
              <a:uFillTx/>
              <a:latin typeface="Segoe UI" pitchFamily="34" charset="0"/>
              <a:ea typeface="+mn-ea"/>
              <a:cs typeface="+mn-cs"/>
            </a:endParaRPr>
          </a:p>
        </p:txBody>
      </p:sp>
      <p:grpSp>
        <p:nvGrpSpPr>
          <p:cNvPr id="17" name="Group 16">
            <a:extLst>
              <a:ext uri="{FF2B5EF4-FFF2-40B4-BE49-F238E27FC236}">
                <a16:creationId xmlns:a16="http://schemas.microsoft.com/office/drawing/2014/main" id="{107EF41A-7D8A-C977-6D56-3DD5F89BE74A}"/>
              </a:ext>
            </a:extLst>
          </p:cNvPr>
          <p:cNvGrpSpPr/>
          <p:nvPr/>
        </p:nvGrpSpPr>
        <p:grpSpPr>
          <a:xfrm>
            <a:off x="2570365" y="1657060"/>
            <a:ext cx="1346844" cy="975727"/>
            <a:chOff x="1539865" y="2033847"/>
            <a:chExt cx="1346844" cy="975727"/>
          </a:xfrm>
        </p:grpSpPr>
        <p:pic>
          <p:nvPicPr>
            <p:cNvPr id="19" name="Graphic 18">
              <a:extLst>
                <a:ext uri="{FF2B5EF4-FFF2-40B4-BE49-F238E27FC236}">
                  <a16:creationId xmlns:a16="http://schemas.microsoft.com/office/drawing/2014/main" id="{1618FB33-E05D-5314-38A9-9EF8D704DF71}"/>
                </a:ext>
              </a:extLst>
            </p:cNvPr>
            <p:cNvPicPr>
              <a:picLocks noChangeAspect="1"/>
            </p:cNvPicPr>
            <p:nvPr/>
          </p:nvPicPr>
          <p:blipFill>
            <a:blip r:embed="rId3">
              <a:duotone>
                <a:srgbClr val="765FFF"/>
                <a:srgbClr val="FFFFFF"/>
              </a:duotone>
            </a:blip>
            <a:stretch>
              <a:fillRect/>
            </a:stretch>
          </p:blipFill>
          <p:spPr>
            <a:xfrm>
              <a:off x="1964951" y="2033847"/>
              <a:ext cx="527076" cy="527077"/>
            </a:xfrm>
            <a:prstGeom prst="rect">
              <a:avLst/>
            </a:prstGeom>
            <a:effectLst>
              <a:outerShdw blurRad="50800" dist="38100" dir="2700000" algn="tl" rotWithShape="0">
                <a:prstClr val="black">
                  <a:alpha val="40000"/>
                </a:prstClr>
              </a:outerShdw>
            </a:effectLst>
          </p:spPr>
        </p:pic>
        <p:sp>
          <p:nvSpPr>
            <p:cNvPr id="20" name="TextBox 19">
              <a:extLst>
                <a:ext uri="{FF2B5EF4-FFF2-40B4-BE49-F238E27FC236}">
                  <a16:creationId xmlns:a16="http://schemas.microsoft.com/office/drawing/2014/main" id="{931F4A5A-D48F-78B9-9FD7-74DA789EE4E2}"/>
                </a:ext>
              </a:extLst>
            </p:cNvPr>
            <p:cNvSpPr txBox="1"/>
            <p:nvPr/>
          </p:nvSpPr>
          <p:spPr>
            <a:xfrm>
              <a:off x="1539865" y="2640242"/>
              <a:ext cx="1346844" cy="369332"/>
            </a:xfrm>
            <a:prstGeom prst="rect">
              <a:avLst/>
            </a:prstGeom>
            <a:noFill/>
          </p:spPr>
          <p:txBody>
            <a:bodyPr wrap="non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10" normalizeH="0" baseline="0" noProof="0" dirty="0">
                  <a:ln>
                    <a:noFill/>
                  </a:ln>
                  <a:solidFill>
                    <a:srgbClr val="281A42"/>
                  </a:solidFill>
                  <a:effectLst/>
                  <a:uLnTx/>
                  <a:uFillTx/>
                  <a:latin typeface="Segoe UI" pitchFamily="34" charset="0"/>
                  <a:ea typeface="+mn-ea"/>
                  <a:cs typeface="+mn-cs"/>
                </a:rPr>
                <a:t>CXO success</a:t>
              </a:r>
            </a:p>
          </p:txBody>
        </p:sp>
      </p:grpSp>
      <p:sp>
        <p:nvSpPr>
          <p:cNvPr id="21" name="TextBox 20">
            <a:extLst>
              <a:ext uri="{FF2B5EF4-FFF2-40B4-BE49-F238E27FC236}">
                <a16:creationId xmlns:a16="http://schemas.microsoft.com/office/drawing/2014/main" id="{A05FF763-263E-92CF-0037-371AFF709B97}"/>
              </a:ext>
            </a:extLst>
          </p:cNvPr>
          <p:cNvSpPr txBox="1"/>
          <p:nvPr/>
        </p:nvSpPr>
        <p:spPr>
          <a:xfrm>
            <a:off x="985482" y="3010287"/>
            <a:ext cx="4548068" cy="52322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 normalizeH="0" baseline="0" noProof="0" dirty="0">
                <a:ln>
                  <a:noFill/>
                </a:ln>
                <a:solidFill>
                  <a:prstClr val="black"/>
                </a:solidFill>
                <a:effectLst/>
                <a:uLnTx/>
                <a:uFillTx/>
                <a:latin typeface="Arial" pitchFamily="34" charset="0"/>
                <a:ea typeface="Lato" panose="020F0502020204030203" pitchFamily="34" charset="0"/>
                <a:cs typeface="Lato" panose="020F0502020204030203" pitchFamily="34" charset="0"/>
              </a:rPr>
              <a:t>“We Have a Brilliant CXO but do we have the Ecosystem for him to deliver?”</a:t>
            </a:r>
          </a:p>
        </p:txBody>
      </p:sp>
      <p:sp>
        <p:nvSpPr>
          <p:cNvPr id="22" name="TextBox 21">
            <a:extLst>
              <a:ext uri="{FF2B5EF4-FFF2-40B4-BE49-F238E27FC236}">
                <a16:creationId xmlns:a16="http://schemas.microsoft.com/office/drawing/2014/main" id="{85106EE8-A78F-F5DC-11BD-8B21332ED977}"/>
              </a:ext>
            </a:extLst>
          </p:cNvPr>
          <p:cNvSpPr txBox="1"/>
          <p:nvPr/>
        </p:nvSpPr>
        <p:spPr>
          <a:xfrm>
            <a:off x="5940961" y="2485404"/>
            <a:ext cx="4714875" cy="523220"/>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spc="-10" dirty="0">
                <a:ln/>
                <a:solidFill>
                  <a:srgbClr val="1D1D1D"/>
                </a:solidFill>
                <a:latin typeface="Segoe UI" pitchFamily="34" charset="0"/>
                <a:ea typeface="Lato"/>
                <a:cs typeface="Lato"/>
                <a:sym typeface="Lato"/>
                <a:rtl val="0"/>
              </a:rPr>
              <a:t>WHAT ARE THE BIG BETS TO DELIVER VALUE?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kern="0" spc="-10" dirty="0">
                <a:ln/>
                <a:solidFill>
                  <a:srgbClr val="1D1D1D"/>
                </a:solidFill>
                <a:latin typeface="Segoe UI" pitchFamily="34" charset="0"/>
                <a:ea typeface="Lato"/>
                <a:cs typeface="Lato"/>
                <a:sym typeface="Lato"/>
                <a:rtl val="0"/>
              </a:rPr>
              <a:t>ARE THE STAKEHOLDERS ALIGNED TO THE BIG BETS? </a:t>
            </a:r>
          </a:p>
        </p:txBody>
      </p:sp>
      <p:sp>
        <p:nvSpPr>
          <p:cNvPr id="23" name="TextBox 22">
            <a:extLst>
              <a:ext uri="{FF2B5EF4-FFF2-40B4-BE49-F238E27FC236}">
                <a16:creationId xmlns:a16="http://schemas.microsoft.com/office/drawing/2014/main" id="{84951C57-8575-0898-62E5-8FD70E73F206}"/>
              </a:ext>
            </a:extLst>
          </p:cNvPr>
          <p:cNvSpPr txBox="1"/>
          <p:nvPr/>
        </p:nvSpPr>
        <p:spPr>
          <a:xfrm>
            <a:off x="5798925" y="5543727"/>
            <a:ext cx="5013326" cy="523220"/>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10" normalizeH="0" baseline="0" noProof="0" dirty="0">
                <a:ln/>
                <a:solidFill>
                  <a:srgbClr val="1D1D1D"/>
                </a:solidFill>
                <a:effectLst/>
                <a:uLnTx/>
                <a:uFillTx/>
                <a:latin typeface="Segoe UI" pitchFamily="34" charset="0"/>
                <a:ea typeface="Lato"/>
                <a:cs typeface="Lato"/>
                <a:sym typeface="Lato"/>
                <a:rtl val="0"/>
              </a:rPr>
              <a:t>ARE WE TALENTED ENOUGH AT THE POINTS OF VALUE?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dirty="0">
                <a:ln/>
                <a:solidFill>
                  <a:srgbClr val="1D1D1D"/>
                </a:solidFill>
                <a:effectLst/>
                <a:uLnTx/>
                <a:uFillTx/>
                <a:latin typeface="Arial" pitchFamily="34" charset="0"/>
                <a:ea typeface="+mn-ea"/>
                <a:cs typeface="+mn-cs"/>
                <a:sym typeface="Lato"/>
                <a:rtl val="0"/>
              </a:rPr>
              <a:t>EXCEPTIONAL TALENT IN 20 – 30 CRITICAL ROLES</a:t>
            </a:r>
          </a:p>
        </p:txBody>
      </p:sp>
      <p:pic>
        <p:nvPicPr>
          <p:cNvPr id="24" name="Picture 23" descr="Bend the Curve">
            <a:extLst>
              <a:ext uri="{FF2B5EF4-FFF2-40B4-BE49-F238E27FC236}">
                <a16:creationId xmlns:a16="http://schemas.microsoft.com/office/drawing/2014/main" id="{3C1A1C55-33E5-E1DD-D8FE-B54FB678223E}"/>
              </a:ext>
            </a:extLst>
          </p:cNvPr>
          <p:cNvPicPr>
            <a:picLocks noChangeAspect="1"/>
          </p:cNvPicPr>
          <p:nvPr/>
        </p:nvPicPr>
        <p:blipFill>
          <a:blip r:embed="rId4">
            <a:duotone>
              <a:srgbClr val="765FFF"/>
              <a:srgbClr val="FFFFFF"/>
            </a:duotone>
          </a:blip>
          <a:stretch>
            <a:fillRect/>
          </a:stretch>
        </p:blipFill>
        <p:spPr>
          <a:xfrm>
            <a:off x="7759721" y="1431243"/>
            <a:ext cx="862488" cy="862488"/>
          </a:xfrm>
          <a:prstGeom prst="rect">
            <a:avLst/>
          </a:prstGeom>
        </p:spPr>
      </p:pic>
      <p:sp>
        <p:nvSpPr>
          <p:cNvPr id="25" name="TextBox 24">
            <a:extLst>
              <a:ext uri="{FF2B5EF4-FFF2-40B4-BE49-F238E27FC236}">
                <a16:creationId xmlns:a16="http://schemas.microsoft.com/office/drawing/2014/main" id="{296CFE4E-998B-CC5A-2D9B-0367DAFB01DB}"/>
              </a:ext>
            </a:extLst>
          </p:cNvPr>
          <p:cNvSpPr txBox="1"/>
          <p:nvPr/>
        </p:nvSpPr>
        <p:spPr>
          <a:xfrm>
            <a:off x="1175595" y="5268062"/>
            <a:ext cx="4714875" cy="1015663"/>
          </a:xfrm>
          <a:prstGeom prst="rect">
            <a:avLst/>
          </a:prstGeom>
          <a:noFill/>
        </p:spPr>
        <p:txBody>
          <a:bodyPr wrap="square" lIns="91440" tIns="45720" rIns="91440" bIns="4572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kumimoji="0" lang="en-US" sz="1400" b="0" i="0" u="none" strike="noStrike" kern="0" cap="none" spc="-10" normalizeH="0" baseline="0" noProof="0" dirty="0">
                <a:ln/>
                <a:solidFill>
                  <a:srgbClr val="1D1D1D"/>
                </a:solidFill>
                <a:effectLst/>
                <a:uLnTx/>
                <a:uFillTx/>
                <a:latin typeface="Arial" pitchFamily="34" charset="0"/>
                <a:ea typeface="Lato"/>
                <a:cs typeface="Lato"/>
                <a:sym typeface="Lato"/>
                <a:rtl val="0"/>
              </a:rPr>
            </a:br>
            <a:r>
              <a:rPr kumimoji="0" lang="en-US" sz="1600" b="1" i="0" u="none" strike="noStrike" kern="0" cap="none" spc="-10" normalizeH="0" baseline="0" noProof="0" dirty="0">
                <a:ln/>
                <a:solidFill>
                  <a:srgbClr val="1D1D1D"/>
                </a:solidFill>
                <a:effectLst/>
                <a:uLnTx/>
                <a:uFillTx/>
                <a:latin typeface="Segoe UI" pitchFamily="34" charset="0"/>
                <a:ea typeface="Lato"/>
                <a:cs typeface="Lato"/>
                <a:sym typeface="Lato"/>
                <a:rtl val="0"/>
              </a:rPr>
              <a:t>IS MY LEADERSHIP TEAM READY?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solidFill>
                  <a:srgbClr val="1D1D1D"/>
                </a:solidFill>
                <a:effectLst/>
                <a:uLnTx/>
                <a:uFillTx/>
                <a:latin typeface="Arial" pitchFamily="34" charset="0"/>
                <a:ea typeface="Lato"/>
                <a:cs typeface="Lato"/>
                <a:sym typeface="Lato"/>
                <a:rtl val="0"/>
              </a:rPr>
              <a:t>CEO, COO, CFO, CTO, CHRO, BU PRESIDENTS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10" normalizeH="0" baseline="0" noProof="0" dirty="0">
              <a:ln/>
              <a:solidFill>
                <a:srgbClr val="1D1D1D"/>
              </a:solidFill>
              <a:effectLst/>
              <a:uLnTx/>
              <a:uFillTx/>
              <a:latin typeface="Arial" pitchFamily="34" charset="0"/>
              <a:ea typeface="Lato"/>
              <a:cs typeface="Lato"/>
              <a:sym typeface="Lato"/>
              <a:rtl val="0"/>
            </a:endParaRPr>
          </a:p>
        </p:txBody>
      </p:sp>
      <p:pic>
        <p:nvPicPr>
          <p:cNvPr id="26" name="Picture 25" descr="Identify critical roles">
            <a:extLst>
              <a:ext uri="{FF2B5EF4-FFF2-40B4-BE49-F238E27FC236}">
                <a16:creationId xmlns:a16="http://schemas.microsoft.com/office/drawing/2014/main" id="{3DE636B8-FC6E-23DC-8F49-F9372CC7A694}"/>
              </a:ext>
            </a:extLst>
          </p:cNvPr>
          <p:cNvPicPr>
            <a:picLocks noChangeAspect="1"/>
          </p:cNvPicPr>
          <p:nvPr/>
        </p:nvPicPr>
        <p:blipFill>
          <a:blip r:embed="rId5">
            <a:duotone>
              <a:srgbClr val="765FFF"/>
              <a:srgbClr val="FFFFFF"/>
            </a:duotone>
          </a:blip>
          <a:stretch>
            <a:fillRect/>
          </a:stretch>
        </p:blipFill>
        <p:spPr>
          <a:xfrm>
            <a:off x="2596427" y="4182957"/>
            <a:ext cx="1326178" cy="1326178"/>
          </a:xfrm>
          <a:prstGeom prst="rect">
            <a:avLst/>
          </a:prstGeom>
        </p:spPr>
      </p:pic>
      <p:pic>
        <p:nvPicPr>
          <p:cNvPr id="27" name="Picture 26" descr="The Code">
            <a:extLst>
              <a:ext uri="{FF2B5EF4-FFF2-40B4-BE49-F238E27FC236}">
                <a16:creationId xmlns:a16="http://schemas.microsoft.com/office/drawing/2014/main" id="{3CF11FA4-FE84-0ED4-B0BF-44360777DBF7}"/>
              </a:ext>
            </a:extLst>
          </p:cNvPr>
          <p:cNvPicPr>
            <a:picLocks noChangeAspect="1"/>
          </p:cNvPicPr>
          <p:nvPr/>
        </p:nvPicPr>
        <p:blipFill>
          <a:blip r:embed="rId6">
            <a:duotone>
              <a:srgbClr val="765FFF"/>
              <a:srgbClr val="FFFFFF"/>
            </a:duotone>
          </a:blip>
          <a:stretch>
            <a:fillRect/>
          </a:stretch>
        </p:blipFill>
        <p:spPr>
          <a:xfrm>
            <a:off x="7292660" y="4396046"/>
            <a:ext cx="900000" cy="900000"/>
          </a:xfrm>
          <a:prstGeom prst="rect">
            <a:avLst/>
          </a:prstGeom>
        </p:spPr>
      </p:pic>
      <p:pic>
        <p:nvPicPr>
          <p:cNvPr id="29" name="Picture 28" descr="Choose">
            <a:extLst>
              <a:ext uri="{FF2B5EF4-FFF2-40B4-BE49-F238E27FC236}">
                <a16:creationId xmlns:a16="http://schemas.microsoft.com/office/drawing/2014/main" id="{DB8E5F29-1B72-8695-C563-D56F02CACB7A}"/>
              </a:ext>
            </a:extLst>
          </p:cNvPr>
          <p:cNvPicPr>
            <a:picLocks noChangeAspect="1"/>
          </p:cNvPicPr>
          <p:nvPr/>
        </p:nvPicPr>
        <p:blipFill>
          <a:blip r:embed="rId7">
            <a:duotone>
              <a:srgbClr val="765FFF"/>
              <a:srgbClr val="FFFFFF"/>
            </a:duotone>
          </a:blip>
          <a:stretch>
            <a:fillRect/>
          </a:stretch>
        </p:blipFill>
        <p:spPr>
          <a:xfrm>
            <a:off x="8305588" y="4452990"/>
            <a:ext cx="900000" cy="900000"/>
          </a:xfrm>
          <a:prstGeom prst="rect">
            <a:avLst/>
          </a:prstGeom>
        </p:spPr>
      </p:pic>
      <p:sp>
        <p:nvSpPr>
          <p:cNvPr id="4" name="TextBox 3">
            <a:extLst>
              <a:ext uri="{FF2B5EF4-FFF2-40B4-BE49-F238E27FC236}">
                <a16:creationId xmlns:a16="http://schemas.microsoft.com/office/drawing/2014/main" id="{44ABDE78-B42B-B8F3-1D2F-8DD058BE869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3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209FC78A-35AC-4E20-BBD8-671BEBB9EC67}" type="slidenum">
              <a:t>12</a:t>
            </a:fld>
            <a:endParaRPr lang="en-US"/>
          </a:p>
        </p:txBody>
      </p:sp>
    </p:spTree>
    <p:extLst>
      <p:ext uri="{BB962C8B-B14F-4D97-AF65-F5344CB8AC3E}">
        <p14:creationId xmlns:p14="http://schemas.microsoft.com/office/powerpoint/2010/main" val="1132026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Rounded Rectangle 78">
            <a:extLst>
              <a:ext uri="{FF2B5EF4-FFF2-40B4-BE49-F238E27FC236}">
                <a16:creationId xmlns:a16="http://schemas.microsoft.com/office/drawing/2014/main" id="{E3F6D7D8-832C-FF81-F81B-322D4CEE6A15}"/>
              </a:ext>
            </a:extLst>
          </p:cNvPr>
          <p:cNvSpPr/>
          <p:nvPr/>
        </p:nvSpPr>
        <p:spPr>
          <a:xfrm>
            <a:off x="544712" y="850449"/>
            <a:ext cx="11062798" cy="1662325"/>
          </a:xfrm>
          <a:prstGeom prst="roundRect">
            <a:avLst>
              <a:gd name="adj" fmla="val 4915"/>
            </a:avLst>
          </a:prstGeom>
          <a:solidFill>
            <a:srgbClr val="F2F2F2">
              <a:alpha val="31000"/>
            </a:srgbClr>
          </a:solid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graphicFrame>
        <p:nvGraphicFramePr>
          <p:cNvPr id="4" name="Object 3" hidden="1">
            <a:extLst>
              <a:ext uri="{FF2B5EF4-FFF2-40B4-BE49-F238E27FC236}">
                <a16:creationId xmlns:a16="http://schemas.microsoft.com/office/drawing/2014/main" id="{C115039B-7061-55C8-C6D7-3C59D59CFEB8}"/>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C115039B-7061-55C8-C6D7-3C59D59CFEB8}"/>
                          </a:ext>
                        </a:extLst>
                      </p:cNvPr>
                      <p:cNvPicPr/>
                      <p:nvPr/>
                    </p:nvPicPr>
                    <p:blipFill>
                      <a:blip r:embed="rId5">
                        <a:duotone>
                          <a:srgbClr val="765FFF"/>
                          <a:srgbClr val="FFFFFF"/>
                        </a:duotone>
                      </a:blip>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67B82057-738D-149C-C9B3-0952DBAD61E0}"/>
              </a:ext>
            </a:extLst>
          </p:cNvPr>
          <p:cNvSpPr>
            <a:spLocks noGrp="1"/>
          </p:cNvSpPr>
          <p:nvPr>
            <p:ph type="title" sz="quarter"/>
          </p:nvPr>
        </p:nvSpPr>
        <p:spPr/>
        <p:txBody>
          <a:bodyPr anchor="ctr">
            <a:normAutofit/>
          </a:bodyPr>
          <a:lstStyle/>
          <a:p>
            <a:endParaRPr lang="en-US" dirty="0">
              <a:latin typeface="+mn-lt"/>
            </a:endParaRPr>
          </a:p>
        </p:txBody>
      </p:sp>
      <p:graphicFrame>
        <p:nvGraphicFramePr>
          <p:cNvPr id="5" name="Table 41">
            <a:extLst>
              <a:ext uri="{FF2B5EF4-FFF2-40B4-BE49-F238E27FC236}">
                <a16:creationId xmlns:a16="http://schemas.microsoft.com/office/drawing/2014/main" id="{590D94DA-E945-A322-1069-C0BE5BCC58C0}"/>
              </a:ext>
            </a:extLst>
          </p:cNvPr>
          <p:cNvGraphicFramePr>
            <a:graphicFrameLocks noGrp="1"/>
          </p:cNvGraphicFramePr>
          <p:nvPr/>
        </p:nvGraphicFramePr>
        <p:xfrm>
          <a:off x="543364" y="903228"/>
          <a:ext cx="11064146" cy="1728930"/>
        </p:xfrm>
        <a:graphic>
          <a:graphicData uri="http://schemas.openxmlformats.org/drawingml/2006/table">
            <a:tbl>
              <a:tblPr firstRow="1" bandRow="1">
                <a:tableStyleId>{5940675A-B579-460E-94D1-54222C63F5DA}</a:tableStyleId>
              </a:tblPr>
              <a:tblGrid>
                <a:gridCol w="5137239">
                  <a:extLst>
                    <a:ext uri="{9D8B030D-6E8A-4147-A177-3AD203B41FA5}">
                      <a16:colId xmlns:a16="http://schemas.microsoft.com/office/drawing/2014/main" val="4119152402"/>
                    </a:ext>
                  </a:extLst>
                </a:gridCol>
                <a:gridCol w="627686">
                  <a:extLst>
                    <a:ext uri="{9D8B030D-6E8A-4147-A177-3AD203B41FA5}">
                      <a16:colId xmlns:a16="http://schemas.microsoft.com/office/drawing/2014/main" val="2048534200"/>
                    </a:ext>
                  </a:extLst>
                </a:gridCol>
                <a:gridCol w="5299221">
                  <a:extLst>
                    <a:ext uri="{9D8B030D-6E8A-4147-A177-3AD203B41FA5}">
                      <a16:colId xmlns:a16="http://schemas.microsoft.com/office/drawing/2014/main" val="2057372679"/>
                    </a:ext>
                  </a:extLst>
                </a:gridCol>
              </a:tblGrid>
              <a:tr h="576310">
                <a:tc>
                  <a:txBody>
                    <a:bodyPr/>
                    <a:lstStyle/>
                    <a:p>
                      <a:pPr marL="0" indent="0" algn="r">
                        <a:buFont typeface="Arial" panose="020B0604020202020204" pitchFamily="34" charset="0"/>
                        <a:buNone/>
                      </a:pPr>
                      <a:r>
                        <a:rPr lang="en-US" sz="1200" b="1" dirty="0">
                          <a:solidFill>
                            <a:srgbClr val="FFFFFF"/>
                          </a:solidFill>
                          <a:latin typeface="Arial" pitchFamily="34" charset="0"/>
                        </a:rPr>
                        <a:t>Regional centric business</a:t>
                      </a:r>
                    </a:p>
                  </a:txBody>
                  <a:tcPr anchor="ctr">
                    <a:lnL w="12700" cmpd="sng">
                      <a:noFill/>
                    </a:lnL>
                    <a:lnR w="12700" cmpd="sng">
                      <a:noFill/>
                    </a:lnR>
                    <a:lnT w="12700" cmpd="sng">
                      <a:noFill/>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marL="0" indent="0">
                        <a:buFont typeface="Arial" panose="020B0604020202020204" pitchFamily="34" charset="0"/>
                        <a:buNone/>
                      </a:pPr>
                      <a:endParaRPr lang="en-US" sz="1600" dirty="0">
                        <a:latin typeface="Arial" pitchFamily="34" charset="0"/>
                      </a:endParaRPr>
                    </a:p>
                  </a:txBody>
                  <a:tcPr anchor="ctr">
                    <a:lnL w="12700" cmpd="sng">
                      <a:noFill/>
                    </a:lnL>
                    <a:lnR w="12700" cmpd="sng">
                      <a:noFill/>
                    </a:lnR>
                    <a:lnT w="12700" cmpd="sng">
                      <a:noFill/>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marL="0" indent="0">
                        <a:buFont typeface="Arial" panose="020B0604020202020204" pitchFamily="34" charset="0"/>
                        <a:buNone/>
                      </a:pPr>
                      <a:r>
                        <a:rPr lang="en-GB" sz="1200" b="1" dirty="0">
                          <a:solidFill>
                            <a:srgbClr val="FFFFFF"/>
                          </a:solidFill>
                          <a:latin typeface="Arial" pitchFamily="34" charset="0"/>
                        </a:rPr>
                        <a:t>More balanced local &amp; international business &amp; JVs</a:t>
                      </a:r>
                      <a:endParaRPr lang="en-US" sz="1600" dirty="0">
                        <a:latin typeface="Arial" pitchFamily="34" charset="0"/>
                      </a:endParaRPr>
                    </a:p>
                  </a:txBody>
                  <a:tcPr anchor="ctr">
                    <a:lnL w="12700" cmpd="sng">
                      <a:noFill/>
                    </a:lnL>
                    <a:lnR w="12700" cmpd="sng">
                      <a:noFill/>
                    </a:lnR>
                    <a:lnT w="12700" cmpd="sng">
                      <a:noFill/>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90220662"/>
                  </a:ext>
                </a:extLst>
              </a:tr>
              <a:tr h="576310">
                <a:tc>
                  <a:txBody>
                    <a:bodyPr/>
                    <a:lstStyle/>
                    <a:p>
                      <a:pPr marL="0" indent="0" algn="r">
                        <a:buFont typeface="Arial" panose="020B0604020202020204" pitchFamily="34" charset="0"/>
                        <a:buNone/>
                      </a:pPr>
                      <a:r>
                        <a:rPr lang="en-US" sz="1600" dirty="0">
                          <a:latin typeface="Arial" pitchFamily="34" charset="0"/>
                        </a:rPr>
                        <a:t>Commoditized, low growth, low margin portfolio</a:t>
                      </a:r>
                    </a:p>
                  </a:txBody>
                  <a:tcPr anchor="ctr">
                    <a:lnL w="12700" cmpd="sng">
                      <a:noFill/>
                    </a:lnL>
                    <a:lnR w="12700" cmpd="sng">
                      <a:noFill/>
                    </a:lnR>
                    <a:lnT w="6350" cap="flat" cmpd="sng" algn="ctr">
                      <a:solidFill>
                        <a:srgbClr val="281A42"/>
                      </a:solidFill>
                      <a:prstDash val="solid"/>
                      <a:round/>
                      <a:headEnd type="none" w="med" len="med"/>
                      <a:tailEnd type="none" w="med" len="med"/>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buFont typeface="Arial" panose="020B0604020202020204" pitchFamily="34" charset="0"/>
                        <a:buNone/>
                      </a:pPr>
                      <a:endParaRPr lang="en-US" sz="1600" dirty="0">
                        <a:latin typeface="Arial" pitchFamily="34" charset="0"/>
                      </a:endParaRPr>
                    </a:p>
                  </a:txBody>
                  <a:tcPr anchor="ctr">
                    <a:lnL w="12700" cmpd="sng">
                      <a:noFill/>
                    </a:lnL>
                    <a:lnR w="12700" cmpd="sng">
                      <a:noFill/>
                    </a:lnR>
                    <a:lnT w="6350" cap="flat" cmpd="sng" algn="ctr">
                      <a:solidFill>
                        <a:srgbClr val="281A42"/>
                      </a:solidFill>
                      <a:prstDash val="solid"/>
                      <a:round/>
                      <a:headEnd type="none" w="med" len="med"/>
                      <a:tailEnd type="none" w="med" len="med"/>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a:buFont typeface="Arial" panose="020B0604020202020204" pitchFamily="34" charset="0"/>
                        <a:buNone/>
                      </a:pPr>
                      <a:r>
                        <a:rPr lang="en-GB" sz="1600" kern="1200" dirty="0">
                          <a:solidFill>
                            <a:srgbClr val="1D1D1D"/>
                          </a:solidFill>
                          <a:effectLst/>
                          <a:latin typeface="Arial" pitchFamily="34" charset="0"/>
                          <a:ea typeface="+mn-ea"/>
                          <a:cs typeface="+mn-cs"/>
                        </a:rPr>
                        <a:t>Differentiated, value-added product portfolio</a:t>
                      </a:r>
                      <a:endParaRPr lang="en-US" sz="1600" dirty="0">
                        <a:latin typeface="Arial" pitchFamily="34" charset="0"/>
                      </a:endParaRPr>
                    </a:p>
                  </a:txBody>
                  <a:tcPr anchor="ctr">
                    <a:lnL w="12700" cmpd="sng">
                      <a:noFill/>
                    </a:lnL>
                    <a:lnR w="12700" cmpd="sng">
                      <a:noFill/>
                    </a:lnR>
                    <a:lnT w="6350" cap="flat" cmpd="sng" algn="ctr">
                      <a:solidFill>
                        <a:srgbClr val="281A42"/>
                      </a:solidFill>
                      <a:prstDash val="solid"/>
                      <a:round/>
                      <a:headEnd type="none" w="med" len="med"/>
                      <a:tailEnd type="none" w="med" len="med"/>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546791840"/>
                  </a:ext>
                </a:extLst>
              </a:tr>
              <a:tr h="576310">
                <a:tc>
                  <a:txBody>
                    <a:bodyPr/>
                    <a:lstStyle/>
                    <a:p>
                      <a:pPr marL="0" indent="0" algn="r">
                        <a:buFont typeface="Arial" panose="020B0604020202020204" pitchFamily="34" charset="0"/>
                        <a:buNone/>
                      </a:pPr>
                      <a:r>
                        <a:rPr lang="en-US" sz="1600" dirty="0">
                          <a:latin typeface="Arial" pitchFamily="34" charset="0"/>
                        </a:rPr>
                        <a:t>Meeting construction needs at lower costs </a:t>
                      </a:r>
                    </a:p>
                  </a:txBody>
                  <a:tcPr anchor="ctr">
                    <a:lnL w="12700" cmpd="sng">
                      <a:noFill/>
                    </a:lnL>
                    <a:lnR w="12700" cmpd="sng">
                      <a:noFill/>
                    </a:lnR>
                    <a:lnT w="6350" cap="flat" cmpd="sng" algn="ctr">
                      <a:solidFill>
                        <a:srgbClr val="281A42"/>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endParaRPr lang="en-US" sz="1600" dirty="0">
                        <a:latin typeface="Arial" pitchFamily="34" charset="0"/>
                      </a:endParaRPr>
                    </a:p>
                  </a:txBody>
                  <a:tcPr anchor="ctr">
                    <a:lnL w="12700" cmpd="sng">
                      <a:noFill/>
                    </a:lnL>
                    <a:lnR w="12700" cmpd="sng">
                      <a:noFill/>
                    </a:lnR>
                    <a:lnT w="6350" cap="flat" cmpd="sng" algn="ctr">
                      <a:solidFill>
                        <a:srgbClr val="281A42"/>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marL="0" indent="0">
                        <a:buFont typeface="Arial" panose="020B0604020202020204" pitchFamily="34" charset="0"/>
                        <a:buNone/>
                      </a:pPr>
                      <a:r>
                        <a:rPr lang="en-US" sz="1600" dirty="0">
                          <a:latin typeface="Arial" pitchFamily="34" charset="0"/>
                        </a:rPr>
                        <a:t>Embracing sustainability and enabling green energy</a:t>
                      </a:r>
                    </a:p>
                  </a:txBody>
                  <a:tcPr anchor="ctr">
                    <a:lnL w="12700" cmpd="sng">
                      <a:noFill/>
                    </a:lnL>
                    <a:lnR w="12700" cmpd="sng">
                      <a:noFill/>
                    </a:lnR>
                    <a:lnT w="6350" cap="flat" cmpd="sng" algn="ctr">
                      <a:solidFill>
                        <a:srgbClr val="281A42"/>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4803442"/>
                  </a:ext>
                </a:extLst>
              </a:tr>
            </a:tbl>
          </a:graphicData>
        </a:graphic>
      </p:graphicFrame>
      <p:sp>
        <p:nvSpPr>
          <p:cNvPr id="12" name="Triangle 73">
            <a:extLst>
              <a:ext uri="{FF2B5EF4-FFF2-40B4-BE49-F238E27FC236}">
                <a16:creationId xmlns:a16="http://schemas.microsoft.com/office/drawing/2014/main" id="{18C07ECC-23D1-3C05-47BE-D0BB8DB7EA8C}"/>
              </a:ext>
            </a:extLst>
          </p:cNvPr>
          <p:cNvSpPr/>
          <p:nvPr/>
        </p:nvSpPr>
        <p:spPr>
          <a:xfrm rot="5400000">
            <a:off x="5822130" y="1667152"/>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3" name="Triangle 73">
            <a:extLst>
              <a:ext uri="{FF2B5EF4-FFF2-40B4-BE49-F238E27FC236}">
                <a16:creationId xmlns:a16="http://schemas.microsoft.com/office/drawing/2014/main" id="{4586366A-F9DD-8115-E66E-B4903E705970}"/>
              </a:ext>
            </a:extLst>
          </p:cNvPr>
          <p:cNvSpPr/>
          <p:nvPr/>
        </p:nvSpPr>
        <p:spPr>
          <a:xfrm rot="5400000">
            <a:off x="5822576" y="1089694"/>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FFFFFF"/>
              </a:solidFill>
              <a:effectLst/>
              <a:uLnTx/>
              <a:uFillTx/>
              <a:latin typeface="Segoe UI" pitchFamily="34" charset="0"/>
              <a:ea typeface="+mn-ea"/>
              <a:cs typeface="+mn-cs"/>
            </a:endParaRPr>
          </a:p>
        </p:txBody>
      </p:sp>
      <p:sp>
        <p:nvSpPr>
          <p:cNvPr id="14" name="Triangle 73">
            <a:extLst>
              <a:ext uri="{FF2B5EF4-FFF2-40B4-BE49-F238E27FC236}">
                <a16:creationId xmlns:a16="http://schemas.microsoft.com/office/drawing/2014/main" id="{4E32037A-A023-476A-FF11-9A22848A5728}"/>
              </a:ext>
            </a:extLst>
          </p:cNvPr>
          <p:cNvSpPr/>
          <p:nvPr/>
        </p:nvSpPr>
        <p:spPr>
          <a:xfrm rot="5400000">
            <a:off x="5822130" y="2248436"/>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30" name="TextBox 29">
            <a:extLst>
              <a:ext uri="{FF2B5EF4-FFF2-40B4-BE49-F238E27FC236}">
                <a16:creationId xmlns:a16="http://schemas.microsoft.com/office/drawing/2014/main" id="{97881E8F-3472-89FB-71BA-7DCBA8B8A877}"/>
              </a:ext>
            </a:extLst>
          </p:cNvPr>
          <p:cNvSpPr txBox="1"/>
          <p:nvPr/>
        </p:nvSpPr>
        <p:spPr>
          <a:xfrm>
            <a:off x="544712" y="2649021"/>
            <a:ext cx="11062798" cy="354925"/>
          </a:xfrm>
          <a:prstGeom prst="roundRect">
            <a:avLst>
              <a:gd name="adj" fmla="val 8986"/>
            </a:avLst>
          </a:prstGeom>
          <a:solidFill>
            <a:srgbClr val="F2F2F2"/>
          </a:solidFill>
          <a:ln w="6350">
            <a:solidFill>
              <a:srgbClr val="281A42"/>
            </a:solidFill>
          </a:ln>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10" normalizeH="0" baseline="0" noProof="0" dirty="0">
                <a:ln>
                  <a:noFill/>
                </a:ln>
                <a:solidFill>
                  <a:srgbClr val="281A42"/>
                </a:solidFill>
                <a:effectLst/>
                <a:uLnTx/>
                <a:uFillTx/>
                <a:latin typeface="Segoe UI" pitchFamily="34" charset="0"/>
              </a:rPr>
              <a:t>(4x Volume, 5x Revenue, </a:t>
            </a:r>
            <a:r>
              <a:rPr lang="en-US" sz="1600" b="1" kern="0" spc="-10" dirty="0">
                <a:solidFill>
                  <a:srgbClr val="281A42"/>
                </a:solidFill>
                <a:latin typeface="Segoe UI" pitchFamily="34" charset="0"/>
              </a:rPr>
              <a:t>6</a:t>
            </a:r>
            <a:r>
              <a:rPr kumimoji="0" lang="en-US" sz="1600" b="1" i="0" u="none" strike="noStrike" kern="0" cap="none" spc="-10" normalizeH="0" baseline="0" noProof="0" dirty="0">
                <a:ln>
                  <a:noFill/>
                </a:ln>
                <a:solidFill>
                  <a:srgbClr val="281A42"/>
                </a:solidFill>
                <a:effectLst/>
                <a:uLnTx/>
                <a:uFillTx/>
                <a:latin typeface="Segoe UI" pitchFamily="34" charset="0"/>
              </a:rPr>
              <a:t>x EBITDA, 10x Net Income) </a:t>
            </a:r>
            <a:endParaRPr kumimoji="0" lang="en-GB" sz="1600" b="1" i="0" u="none" strike="noStrike" kern="0" cap="none" spc="-10" normalizeH="0" baseline="0" noProof="0" dirty="0">
              <a:ln>
                <a:noFill/>
              </a:ln>
              <a:solidFill>
                <a:srgbClr val="1D1D1D">
                  <a:lumMod val="50000"/>
                  <a:lumOff val="50000"/>
                </a:srgbClr>
              </a:solidFill>
              <a:effectLst/>
              <a:uLnTx/>
              <a:uFillTx/>
              <a:latin typeface="Segoe UI" pitchFamily="34" charset="0"/>
            </a:endParaRPr>
          </a:p>
        </p:txBody>
      </p:sp>
      <p:sp>
        <p:nvSpPr>
          <p:cNvPr id="7" name="object 14">
            <a:extLst>
              <a:ext uri="{FF2B5EF4-FFF2-40B4-BE49-F238E27FC236}">
                <a16:creationId xmlns:a16="http://schemas.microsoft.com/office/drawing/2014/main" id="{CE89260D-0214-D315-CBAF-4EE02B21D4DF}"/>
              </a:ext>
            </a:extLst>
          </p:cNvPr>
          <p:cNvSpPr/>
          <p:nvPr/>
        </p:nvSpPr>
        <p:spPr>
          <a:xfrm>
            <a:off x="928254" y="3921045"/>
            <a:ext cx="2192020" cy="1100923"/>
          </a:xfrm>
          <a:prstGeom prst="flowChartInputOutput">
            <a:avLst/>
          </a:prstGeom>
          <a:solidFill>
            <a:srgbClr val="F2F2F2"/>
          </a:solidFill>
          <a:ln w="12700">
            <a:solidFill>
              <a:srgbClr val="281A42"/>
            </a:solidFill>
          </a:ln>
        </p:spPr>
        <p:txBody>
          <a:bodyPr wrap="square" lIns="0" tIns="0" rIns="0" bIns="0" rtlCol="0"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0" cap="none" spc="-10" normalizeH="0" baseline="0" noProof="0" dirty="0">
                <a:ln>
                  <a:noFill/>
                </a:ln>
                <a:solidFill>
                  <a:srgbClr val="281A42"/>
                </a:solidFill>
                <a:effectLst/>
                <a:uLnTx/>
                <a:uFillTx/>
                <a:latin typeface="Arial" pitchFamily="34" charset="0"/>
                <a:ea typeface="+mn-ea"/>
                <a:cs typeface="Arial"/>
              </a:rPr>
              <a:t>RUN</a:t>
            </a:r>
            <a:endParaRPr kumimoji="0" lang="en-IN" sz="1800" b="0" i="0" u="none" strike="noStrike" kern="0" cap="none" spc="-10" normalizeH="0" baseline="0" noProof="0" dirty="0">
              <a:ln>
                <a:noFill/>
              </a:ln>
              <a:solidFill>
                <a:srgbClr val="1D1D1D"/>
              </a:solidFill>
              <a:effectLst/>
              <a:uLnTx/>
              <a:uFillTx/>
              <a:latin typeface="Arial" pitchFamily="34" charset="0"/>
              <a:ea typeface="+mn-ea"/>
              <a:cs typeface="Arial"/>
            </a:endParaRPr>
          </a:p>
        </p:txBody>
      </p:sp>
      <p:sp>
        <p:nvSpPr>
          <p:cNvPr id="25" name="object 17">
            <a:extLst>
              <a:ext uri="{FF2B5EF4-FFF2-40B4-BE49-F238E27FC236}">
                <a16:creationId xmlns:a16="http://schemas.microsoft.com/office/drawing/2014/main" id="{E188F7D9-AD41-C4A7-5CBC-F0263BC1E5B4}"/>
              </a:ext>
            </a:extLst>
          </p:cNvPr>
          <p:cNvSpPr txBox="1"/>
          <p:nvPr/>
        </p:nvSpPr>
        <p:spPr>
          <a:xfrm>
            <a:off x="4957304" y="3921054"/>
            <a:ext cx="2029538" cy="1100924"/>
          </a:xfrm>
          <a:prstGeom prst="roundRect">
            <a:avLst>
              <a:gd name="adj" fmla="val 5904"/>
            </a:avLst>
          </a:prstGeom>
          <a:solidFill>
            <a:srgbClr val="F2F2F2"/>
          </a:solidFill>
          <a:ln w="12700">
            <a:solidFill>
              <a:srgbClr val="281A42"/>
            </a:solidFill>
          </a:ln>
        </p:spPr>
        <p:txBody>
          <a:bodyPr vert="horz" wrap="square" lIns="0" tIns="0" rIns="0" bIns="0" rtlCol="0" anchor="ctr">
            <a:noAutofit/>
          </a:bodyPr>
          <a:lstStyle/>
          <a:p>
            <a:pPr marL="0" marR="0" lvl="0" indent="0" algn="ctr" defTabSz="914400" rtl="0" eaLnBrk="1" fontAlgn="auto" latinLnBrk="0" hangingPunct="1">
              <a:lnSpc>
                <a:spcPct val="100000"/>
              </a:lnSpc>
              <a:spcBef>
                <a:spcPts val="5"/>
              </a:spcBef>
              <a:spcAft>
                <a:spcPts val="0"/>
              </a:spcAft>
              <a:buClrTx/>
              <a:buSzTx/>
              <a:buFontTx/>
              <a:buNone/>
              <a:tabLst/>
              <a:defRPr/>
            </a:pPr>
            <a:r>
              <a:rPr kumimoji="0" lang="en-US" sz="1800" b="0" i="0" u="none" strike="noStrike" kern="0" cap="none" spc="-10" normalizeH="0" baseline="0" noProof="0" dirty="0">
                <a:ln>
                  <a:noFill/>
                </a:ln>
                <a:solidFill>
                  <a:srgbClr val="281A42"/>
                </a:solidFill>
                <a:effectLst/>
                <a:uLnTx/>
                <a:uFillTx/>
                <a:latin typeface="Arial" pitchFamily="34" charset="0"/>
                <a:ea typeface="+mn-ea"/>
                <a:cs typeface="Arial"/>
              </a:rPr>
              <a:t>CHANGE</a:t>
            </a:r>
            <a:endParaRPr kumimoji="0" sz="1800" b="0" i="0" u="none" strike="noStrike" kern="0" cap="none" spc="-10" normalizeH="0" baseline="0" noProof="0" dirty="0">
              <a:ln>
                <a:noFill/>
              </a:ln>
              <a:solidFill>
                <a:srgbClr val="585858"/>
              </a:solidFill>
              <a:effectLst/>
              <a:uLnTx/>
              <a:uFillTx/>
              <a:latin typeface="Arial" pitchFamily="34" charset="0"/>
              <a:ea typeface="+mn-ea"/>
              <a:cs typeface="Arial"/>
            </a:endParaRPr>
          </a:p>
        </p:txBody>
      </p:sp>
      <p:sp>
        <p:nvSpPr>
          <p:cNvPr id="29" name="object 24">
            <a:extLst>
              <a:ext uri="{FF2B5EF4-FFF2-40B4-BE49-F238E27FC236}">
                <a16:creationId xmlns:a16="http://schemas.microsoft.com/office/drawing/2014/main" id="{3F44A0E1-8A4C-5313-079D-524AC4FFACFA}"/>
              </a:ext>
            </a:extLst>
          </p:cNvPr>
          <p:cNvSpPr txBox="1"/>
          <p:nvPr/>
        </p:nvSpPr>
        <p:spPr>
          <a:xfrm>
            <a:off x="2925551" y="3054210"/>
            <a:ext cx="2468879" cy="761747"/>
          </a:xfrm>
          <a:prstGeom prst="rect">
            <a:avLst/>
          </a:prstGeom>
          <a:noFill/>
        </p:spPr>
        <p:txBody>
          <a:bodyPr vert="horz" wrap="square" lIns="0" tIns="1270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0" cap="none" spc="-10" normalizeH="0" baseline="0" noProof="0" dirty="0">
                <a:ln>
                  <a:noFill/>
                </a:ln>
                <a:solidFill>
                  <a:srgbClr val="281A42"/>
                </a:solidFill>
                <a:effectLst/>
                <a:uLnTx/>
                <a:uFillTx/>
                <a:latin typeface="Segoe UI" pitchFamily="34" charset="0"/>
                <a:ea typeface="+mn-ea"/>
                <a:cs typeface="Tahoma"/>
              </a:rPr>
              <a:t>PHASE 1</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765FFF"/>
                </a:solidFill>
                <a:effectLst/>
                <a:uLnTx/>
                <a:uFillTx/>
                <a:latin typeface="Segoe UI" pitchFamily="34" charset="0"/>
                <a:ea typeface="+mn-ea"/>
                <a:cs typeface="Tahoma"/>
              </a:rPr>
              <a:t>STRONG START</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1D1D1D"/>
                </a:solidFill>
                <a:effectLst/>
                <a:uLnTx/>
                <a:uFillTx/>
                <a:latin typeface="Segoe UI" pitchFamily="34" charset="0"/>
                <a:ea typeface="+mn-ea"/>
                <a:cs typeface="Tahoma"/>
              </a:rPr>
              <a:t>ROLE FOCUS </a:t>
            </a:r>
            <a:endParaRPr kumimoji="0" sz="1400" b="1" i="0" u="none" strike="noStrike" kern="0" cap="none" spc="-10" normalizeH="0" baseline="0" noProof="0" dirty="0">
              <a:ln>
                <a:noFill/>
              </a:ln>
              <a:solidFill>
                <a:srgbClr val="1D1D1D"/>
              </a:solidFill>
              <a:effectLst/>
              <a:uLnTx/>
              <a:uFillTx/>
              <a:latin typeface="Segoe UI" pitchFamily="34" charset="0"/>
              <a:ea typeface="+mn-ea"/>
              <a:cs typeface="Tahoma"/>
            </a:endParaRPr>
          </a:p>
        </p:txBody>
      </p:sp>
      <p:sp>
        <p:nvSpPr>
          <p:cNvPr id="35" name="TextBox 34">
            <a:extLst>
              <a:ext uri="{FF2B5EF4-FFF2-40B4-BE49-F238E27FC236}">
                <a16:creationId xmlns:a16="http://schemas.microsoft.com/office/drawing/2014/main" id="{CE5B78AA-6D46-B609-7E15-94369979794D}"/>
              </a:ext>
            </a:extLst>
          </p:cNvPr>
          <p:cNvSpPr>
            <a:spLocks noGrp="1"/>
          </p:cNvSpPr>
          <p:nvPr>
            <p:ph idx="1"/>
          </p:nvPr>
        </p:nvSpPr>
        <p:spPr>
          <a:xfrm>
            <a:off x="928254" y="5089286"/>
            <a:ext cx="2324623" cy="1354217"/>
          </a:xfrm>
          <a:prstGeom prst="rect">
            <a:avLst/>
          </a:prstGeom>
          <a:noFill/>
        </p:spPr>
        <p:txBody>
          <a:bodyPr wrap="square" lIns="0" tIns="45720" rIns="91440" bIns="45720" numCol="1" spcCol="108000" anchor="t">
            <a:spAutoFit/>
          </a:bodyPr>
          <a:lstStyle/>
          <a:p>
            <a:pPr marL="171450" marR="0" lvl="0" indent="-171450" algn="l" defTabSz="914400" rtl="0" eaLnBrk="1" fontAlgn="auto" latinLnBrk="0" hangingPunct="1">
              <a:lnSpc>
                <a:spcPct val="100000"/>
              </a:lnSpc>
              <a:spcBef>
                <a:spcPts val="0"/>
              </a:spcBef>
              <a:spcAft>
                <a:spcPts val="600"/>
              </a:spcAft>
              <a:buBlip>
                <a:blip r:embed="rId6"/>
              </a:buBlip>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Driving performance over the last 17 years. </a:t>
            </a:r>
          </a:p>
          <a:p>
            <a:pPr marL="171450" marR="0" lvl="0" indent="-171450" algn="l" defTabSz="914400" rtl="0" eaLnBrk="1" fontAlgn="auto" latinLnBrk="0" hangingPunct="1">
              <a:lnSpc>
                <a:spcPct val="100000"/>
              </a:lnSpc>
              <a:spcBef>
                <a:spcPts val="0"/>
              </a:spcBef>
              <a:spcAft>
                <a:spcPts val="600"/>
              </a:spcAft>
              <a:buBlip>
                <a:blip r:embed="rId6"/>
              </a:buBlip>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Executing reverse merger with help of Board </a:t>
            </a:r>
          </a:p>
          <a:p>
            <a:pPr marL="171450" marR="0" lvl="0" indent="-171450" algn="l" defTabSz="914400" rtl="0" eaLnBrk="1" fontAlgn="auto" latinLnBrk="0" hangingPunct="1">
              <a:lnSpc>
                <a:spcPct val="100000"/>
              </a:lnSpc>
              <a:spcBef>
                <a:spcPts val="0"/>
              </a:spcBef>
              <a:spcAft>
                <a:spcPts val="600"/>
              </a:spcAft>
              <a:buBlip>
                <a:blip r:embed="rId6"/>
              </a:buBlip>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Strengthening financial foundations </a:t>
            </a:r>
          </a:p>
        </p:txBody>
      </p:sp>
      <p:sp>
        <p:nvSpPr>
          <p:cNvPr id="37" name="TextBox 36">
            <a:extLst>
              <a:ext uri="{FF2B5EF4-FFF2-40B4-BE49-F238E27FC236}">
                <a16:creationId xmlns:a16="http://schemas.microsoft.com/office/drawing/2014/main" id="{135FD30B-3784-1089-A73B-A5819F53BDA8}"/>
              </a:ext>
            </a:extLst>
          </p:cNvPr>
          <p:cNvSpPr txBox="1"/>
          <p:nvPr/>
        </p:nvSpPr>
        <p:spPr>
          <a:xfrm>
            <a:off x="4957304" y="5147870"/>
            <a:ext cx="2029532" cy="1246495"/>
          </a:xfrm>
          <a:prstGeom prst="rect">
            <a:avLst/>
          </a:prstGeom>
          <a:noFill/>
        </p:spPr>
        <p:txBody>
          <a:bodyPr wrap="square" lIns="0" tIns="45720" rIns="91440" bIns="45720" numCol="1" spcCol="10800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New Operating Model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kern="0" spc="-10" dirty="0">
                <a:solidFill>
                  <a:srgbClr val="1D1D1D"/>
                </a:solidFill>
                <a:latin typeface="Arial" pitchFamily="34" charset="0"/>
              </a:rPr>
              <a:t>Leadership team upgrades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kern="0" spc="-10" dirty="0">
                <a:solidFill>
                  <a:srgbClr val="1D1D1D"/>
                </a:solidFill>
                <a:latin typeface="Arial" pitchFamily="34" charset="0"/>
              </a:rPr>
              <a:t>Culture of low accountability</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32" name="object 24">
            <a:extLst>
              <a:ext uri="{FF2B5EF4-FFF2-40B4-BE49-F238E27FC236}">
                <a16:creationId xmlns:a16="http://schemas.microsoft.com/office/drawing/2014/main" id="{D4A1626D-7D49-3EB6-1C3D-DB2F122235DA}"/>
              </a:ext>
            </a:extLst>
          </p:cNvPr>
          <p:cNvSpPr txBox="1"/>
          <p:nvPr/>
        </p:nvSpPr>
        <p:spPr>
          <a:xfrm>
            <a:off x="7685048" y="3054210"/>
            <a:ext cx="3466783" cy="761747"/>
          </a:xfrm>
          <a:prstGeom prst="rect">
            <a:avLst/>
          </a:prstGeom>
          <a:noFill/>
        </p:spPr>
        <p:txBody>
          <a:bodyPr vert="horz" wrap="square" lIns="0" tIns="12700" rIns="0" bIns="0"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0" cap="none" spc="-10" normalizeH="0" baseline="0" noProof="0" dirty="0">
                <a:ln>
                  <a:noFill/>
                </a:ln>
                <a:solidFill>
                  <a:srgbClr val="281A42"/>
                </a:solidFill>
                <a:effectLst/>
                <a:uLnTx/>
                <a:uFillTx/>
                <a:latin typeface="Segoe UI" pitchFamily="34" charset="0"/>
                <a:ea typeface="+mn-ea"/>
                <a:cs typeface="Tahoma"/>
              </a:rPr>
              <a:t>PHASE 2</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765FFF"/>
                </a:solidFill>
                <a:effectLst/>
                <a:uLnTx/>
                <a:uFillTx/>
                <a:latin typeface="Segoe UI" pitchFamily="34" charset="0"/>
                <a:ea typeface="+mn-ea"/>
                <a:cs typeface="Tahoma"/>
              </a:rPr>
              <a:t>NEEDS TO EVOLVE</a:t>
            </a:r>
          </a:p>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400" b="1" i="0" u="none" strike="noStrike" kern="0" cap="none" spc="-10" normalizeH="0" baseline="0" noProof="0" dirty="0">
                <a:ln>
                  <a:noFill/>
                </a:ln>
                <a:solidFill>
                  <a:srgbClr val="1D1D1D"/>
                </a:solidFill>
                <a:effectLst/>
                <a:uLnTx/>
                <a:uFillTx/>
                <a:latin typeface="Segoe UI" pitchFamily="34" charset="0"/>
                <a:ea typeface="+mn-ea"/>
                <a:cs typeface="Tahoma"/>
              </a:rPr>
              <a:t>ROLE FOCUS </a:t>
            </a:r>
          </a:p>
        </p:txBody>
      </p:sp>
      <p:sp>
        <p:nvSpPr>
          <p:cNvPr id="8" name="Oval 7">
            <a:extLst>
              <a:ext uri="{FF2B5EF4-FFF2-40B4-BE49-F238E27FC236}">
                <a16:creationId xmlns:a16="http://schemas.microsoft.com/office/drawing/2014/main" id="{2AE4790C-D350-A874-691A-570BD3A05037}"/>
              </a:ext>
            </a:extLst>
          </p:cNvPr>
          <p:cNvSpPr/>
          <p:nvPr/>
        </p:nvSpPr>
        <p:spPr>
          <a:xfrm>
            <a:off x="8516217" y="3921054"/>
            <a:ext cx="1804447" cy="1100931"/>
          </a:xfrm>
          <a:prstGeom prst="ellipse">
            <a:avLst/>
          </a:prstGeom>
          <a:solidFill>
            <a:srgbClr val="F2F2F2"/>
          </a:solid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5"/>
              </a:spcBef>
              <a:spcAft>
                <a:spcPts val="0"/>
              </a:spcAft>
              <a:buClrTx/>
              <a:buSzTx/>
              <a:buFontTx/>
              <a:buNone/>
              <a:tabLst/>
              <a:defRPr/>
            </a:pPr>
            <a:r>
              <a:rPr kumimoji="0" lang="en-US" sz="1800" b="0" i="0" u="none" strike="noStrike" kern="0" cap="none" spc="-10" normalizeH="0" baseline="0" noProof="0" dirty="0">
                <a:ln>
                  <a:noFill/>
                </a:ln>
                <a:solidFill>
                  <a:srgbClr val="281A42"/>
                </a:solidFill>
                <a:effectLst/>
                <a:uLnTx/>
                <a:uFillTx/>
                <a:latin typeface="Arial" pitchFamily="34" charset="0"/>
                <a:ea typeface="+mn-ea"/>
                <a:cs typeface="Arial"/>
              </a:rPr>
              <a:t>GROW </a:t>
            </a:r>
          </a:p>
        </p:txBody>
      </p:sp>
      <p:sp>
        <p:nvSpPr>
          <p:cNvPr id="26" name="TextBox 25">
            <a:extLst>
              <a:ext uri="{FF2B5EF4-FFF2-40B4-BE49-F238E27FC236}">
                <a16:creationId xmlns:a16="http://schemas.microsoft.com/office/drawing/2014/main" id="{48D8065C-21DD-86A5-291B-D15F0CFBE555}"/>
              </a:ext>
            </a:extLst>
          </p:cNvPr>
          <p:cNvSpPr txBox="1"/>
          <p:nvPr/>
        </p:nvSpPr>
        <p:spPr>
          <a:xfrm>
            <a:off x="8381862" y="5046140"/>
            <a:ext cx="2506175" cy="1615827"/>
          </a:xfrm>
          <a:prstGeom prst="rect">
            <a:avLst/>
          </a:prstGeom>
          <a:noFill/>
        </p:spPr>
        <p:txBody>
          <a:bodyPr wrap="square" lIns="0" tIns="45720" rIns="91440" bIns="45720" numCol="1" spcCol="108000" anchor="t">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Additional personal support to shape/drive the growth narrative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Make the operating model work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Strengthen Leadership bench strength</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Define and detail an exciting growth narrative to Investors</a:t>
            </a:r>
          </a:p>
        </p:txBody>
      </p:sp>
      <p:sp>
        <p:nvSpPr>
          <p:cNvPr id="27" name="Rectangle: Rounded Corners 13">
            <a:extLst>
              <a:ext uri="{FF2B5EF4-FFF2-40B4-BE49-F238E27FC236}">
                <a16:creationId xmlns:a16="http://schemas.microsoft.com/office/drawing/2014/main" id="{8E8F0B9F-F929-A6A8-D87A-B9A941DB0090}"/>
              </a:ext>
            </a:extLst>
          </p:cNvPr>
          <p:cNvSpPr/>
          <p:nvPr/>
        </p:nvSpPr>
        <p:spPr>
          <a:xfrm>
            <a:off x="1654660" y="4085921"/>
            <a:ext cx="871810" cy="162740"/>
          </a:xfrm>
          <a:prstGeom prst="roundRect">
            <a:avLst/>
          </a:prstGeom>
          <a:solidFill>
            <a:srgbClr val="00C27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rgbClr val="FFFFFF"/>
              </a:solidFill>
              <a:effectLst/>
              <a:uLnTx/>
              <a:uFillTx/>
              <a:latin typeface="Arial" pitchFamily="34" charset="0"/>
              <a:ea typeface="+mn-ea"/>
              <a:cs typeface="+mn-cs"/>
            </a:endParaRPr>
          </a:p>
        </p:txBody>
      </p:sp>
      <p:sp>
        <p:nvSpPr>
          <p:cNvPr id="28" name="Rectangle: Rounded Corners 13">
            <a:extLst>
              <a:ext uri="{FF2B5EF4-FFF2-40B4-BE49-F238E27FC236}">
                <a16:creationId xmlns:a16="http://schemas.microsoft.com/office/drawing/2014/main" id="{82BEE482-D2F4-C7E9-45F5-40596177C9CA}"/>
              </a:ext>
            </a:extLst>
          </p:cNvPr>
          <p:cNvSpPr/>
          <p:nvPr/>
        </p:nvSpPr>
        <p:spPr>
          <a:xfrm>
            <a:off x="5507637" y="4081713"/>
            <a:ext cx="871810" cy="162740"/>
          </a:xfrm>
          <a:prstGeom prst="round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rgbClr val="FFFFFF"/>
              </a:solidFill>
              <a:effectLst/>
              <a:uLnTx/>
              <a:uFillTx/>
              <a:latin typeface="Arial" pitchFamily="34" charset="0"/>
              <a:ea typeface="+mn-ea"/>
              <a:cs typeface="+mn-cs"/>
            </a:endParaRPr>
          </a:p>
        </p:txBody>
      </p:sp>
      <p:sp>
        <p:nvSpPr>
          <p:cNvPr id="31" name="Rectangle: Rounded Corners 13">
            <a:extLst>
              <a:ext uri="{FF2B5EF4-FFF2-40B4-BE49-F238E27FC236}">
                <a16:creationId xmlns:a16="http://schemas.microsoft.com/office/drawing/2014/main" id="{E393F94D-CFF5-C0BC-5E89-DE05EC585397}"/>
              </a:ext>
            </a:extLst>
          </p:cNvPr>
          <p:cNvSpPr/>
          <p:nvPr/>
        </p:nvSpPr>
        <p:spPr>
          <a:xfrm>
            <a:off x="8986660" y="4119807"/>
            <a:ext cx="871810" cy="162740"/>
          </a:xfrm>
          <a:prstGeom prst="round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LID4096" sz="1800" b="0" i="0" u="none" strike="noStrike" kern="0" cap="none" spc="-10" normalizeH="0" baseline="0" noProof="0">
              <a:ln>
                <a:noFill/>
              </a:ln>
              <a:solidFill>
                <a:srgbClr val="FFFFFF"/>
              </a:solidFill>
              <a:effectLst/>
              <a:uLnTx/>
              <a:uFillTx/>
              <a:latin typeface="Arial" pitchFamily="34" charset="0"/>
              <a:ea typeface="+mn-ea"/>
              <a:cs typeface="+mn-cs"/>
            </a:endParaRPr>
          </a:p>
        </p:txBody>
      </p:sp>
      <p:sp>
        <p:nvSpPr>
          <p:cNvPr id="9" name="TextBox 8">
            <a:extLst>
              <a:ext uri="{FF2B5EF4-FFF2-40B4-BE49-F238E27FC236}">
                <a16:creationId xmlns:a16="http://schemas.microsoft.com/office/drawing/2014/main" id="{AE178764-7C69-3BF9-5D16-B20D2E979612}"/>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80" name="SubtitleSplit"/>
          <p:cNvSpPr>
            <a:spLocks noGrp="1"/>
          </p:cNvSpPr>
          <p:nvPr>
            <p:ph type="subTitle" idx="1"/>
          </p:nvPr>
        </p:nvSpPr>
        <p:spPr>
          <a:noFill/>
        </p:spPr>
        <p:txBody>
          <a:bodyPr/>
          <a:lstStyle/>
          <a:p>
            <a:r>
              <a:t>Going green &amp; global</a:t>
            </a:r>
            <a:endParaRPr lang="en-US" b="0" spc="-10">
              <a:latin typeface="Segoe UI" pitchFamily="34" charset="0"/>
            </a:endParaRPr>
          </a:p>
        </p:txBody>
      </p:sp>
      <p:sp>
        <p:nvSpPr>
          <p:cNvPr id="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8686BB16-5719-41B9-9350-B15F79F7955C}" type="slidenum">
              <a:t>13</a:t>
            </a:fld>
            <a:endParaRPr lang="en-US"/>
          </a:p>
        </p:txBody>
      </p:sp>
    </p:spTree>
    <p:extLst>
      <p:ext uri="{BB962C8B-B14F-4D97-AF65-F5344CB8AC3E}">
        <p14:creationId xmlns:p14="http://schemas.microsoft.com/office/powerpoint/2010/main" val="258522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631ED-EA61-6D42-84B6-53C7A13BA848}"/>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6EE51AD-211D-4732-F6A9-F1892122EF07}"/>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26EE51AD-211D-4732-F6A9-F1892122EF07}"/>
                          </a:ext>
                        </a:extLst>
                      </p:cNvPr>
                      <p:cNvPicPr/>
                      <p:nvPr/>
                    </p:nvPicPr>
                    <p:blipFill>
                      <a:blip r:embed="rId5">
                        <a:duotone>
                          <a:srgbClr val="765FFF"/>
                          <a:srgbClr val="FFFFFF"/>
                        </a:duotone>
                      </a:blip>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FAD2FD67-00A0-505A-C181-50FAC57F91DB}"/>
              </a:ext>
            </a:extLst>
          </p:cNvPr>
          <p:cNvSpPr>
            <a:spLocks noGrp="1"/>
          </p:cNvSpPr>
          <p:nvPr>
            <p:ph type="title" sz="quarter"/>
          </p:nvPr>
        </p:nvSpPr>
        <p:spPr/>
        <p:txBody>
          <a:bodyPr>
            <a:normAutofit lnSpcReduction="10000"/>
          </a:bodyPr>
          <a:lstStyle/>
          <a:p>
            <a:r>
              <a:rPr lang="en-US" dirty="0">
                <a:latin typeface="+mn-lt"/>
              </a:rPr>
              <a:t>CXO </a:t>
            </a:r>
            <a:r>
              <a:rPr lang="en-US" dirty="0">
                <a:solidFill>
                  <a:srgbClr val="765FFF"/>
                </a:solidFill>
                <a:latin typeface="+mn-lt"/>
              </a:rPr>
              <a:t>Value Ambition</a:t>
            </a:r>
          </a:p>
        </p:txBody>
      </p:sp>
      <p:sp>
        <p:nvSpPr>
          <p:cNvPr id="84" name="Google Shape;56;p3">
            <a:extLst>
              <a:ext uri="{FF2B5EF4-FFF2-40B4-BE49-F238E27FC236}">
                <a16:creationId xmlns:a16="http://schemas.microsoft.com/office/drawing/2014/main" id="{5E2C941E-909D-48D1-8597-ED26A939DEF0}"/>
              </a:ext>
            </a:extLst>
          </p:cNvPr>
          <p:cNvSpPr/>
          <p:nvPr/>
        </p:nvSpPr>
        <p:spPr>
          <a:xfrm>
            <a:off x="2650547" y="874373"/>
            <a:ext cx="5653992" cy="5712858"/>
          </a:xfrm>
          <a:prstGeom prst="roundRect">
            <a:avLst>
              <a:gd name="adj" fmla="val 3709"/>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85" name="Google Shape;61;p3">
            <a:extLst>
              <a:ext uri="{FF2B5EF4-FFF2-40B4-BE49-F238E27FC236}">
                <a16:creationId xmlns:a16="http://schemas.microsoft.com/office/drawing/2014/main" id="{9D792FD0-30DD-4FD3-B83D-D954CBD24FDD}"/>
              </a:ext>
            </a:extLst>
          </p:cNvPr>
          <p:cNvSpPr txBox="1"/>
          <p:nvPr/>
        </p:nvSpPr>
        <p:spPr>
          <a:xfrm>
            <a:off x="2762342" y="989889"/>
            <a:ext cx="471484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Jobs to Be Done</a:t>
            </a:r>
            <a:endParaRPr kumimoji="0" lang="en-US"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26" name="Google Shape;103;p3">
            <a:extLst>
              <a:ext uri="{FF2B5EF4-FFF2-40B4-BE49-F238E27FC236}">
                <a16:creationId xmlns:a16="http://schemas.microsoft.com/office/drawing/2014/main" id="{0049F60F-D3D9-420F-8D60-FED523BE236A}"/>
              </a:ext>
            </a:extLst>
          </p:cNvPr>
          <p:cNvSpPr/>
          <p:nvPr/>
        </p:nvSpPr>
        <p:spPr>
          <a:xfrm>
            <a:off x="8404288" y="876369"/>
            <a:ext cx="3266452" cy="5710862"/>
          </a:xfrm>
          <a:prstGeom prst="roundRect">
            <a:avLst>
              <a:gd name="adj" fmla="val 5388"/>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27" name="Google Shape;96;p3">
            <a:extLst>
              <a:ext uri="{FF2B5EF4-FFF2-40B4-BE49-F238E27FC236}">
                <a16:creationId xmlns:a16="http://schemas.microsoft.com/office/drawing/2014/main" id="{7A499B3F-F78F-4651-9982-77AED759B1B6}"/>
              </a:ext>
            </a:extLst>
          </p:cNvPr>
          <p:cNvSpPr/>
          <p:nvPr/>
        </p:nvSpPr>
        <p:spPr>
          <a:xfrm>
            <a:off x="8614665" y="1267534"/>
            <a:ext cx="2902275" cy="2257794"/>
          </a:xfrm>
          <a:prstGeom prst="roundRect">
            <a:avLst>
              <a:gd name="adj" fmla="val 5598"/>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5" name="TextBox 4">
            <a:extLst>
              <a:ext uri="{FF2B5EF4-FFF2-40B4-BE49-F238E27FC236}">
                <a16:creationId xmlns:a16="http://schemas.microsoft.com/office/drawing/2014/main" id="{618F6975-8465-4952-8763-1EFDAF52E0F6}"/>
              </a:ext>
            </a:extLst>
          </p:cNvPr>
          <p:cNvSpPr txBox="1"/>
          <p:nvPr/>
        </p:nvSpPr>
        <p:spPr>
          <a:xfrm>
            <a:off x="8743627" y="1423114"/>
            <a:ext cx="2620684" cy="200054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1" i="0" u="none" strike="noStrike" kern="0" cap="none" spc="-10" normalizeH="0" baseline="0" noProof="0" dirty="0">
                <a:ln>
                  <a:noFill/>
                </a:ln>
                <a:solidFill>
                  <a:sysClr val="windowText" lastClr="000000"/>
                </a:solidFill>
                <a:effectLst/>
                <a:uLnTx/>
                <a:uFillTx/>
                <a:latin typeface="Segoe UI" pitchFamily="34" charset="0"/>
                <a:ea typeface="Lato" panose="020F0502020204030203" pitchFamily="34" charset="0"/>
                <a:cs typeface="Lato" panose="020F0502020204030203" pitchFamily="34" charset="0"/>
              </a:rPr>
              <a:t>SP1 : </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Inspirational leader with ability to excite new investors &amp; Board on growth agenda while sustaining operating results</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1" i="0" u="none" strike="noStrike" kern="0" cap="none" spc="-10" normalizeH="0" baseline="0" noProof="0" dirty="0">
                <a:ln>
                  <a:noFill/>
                </a:ln>
                <a:solidFill>
                  <a:sysClr val="windowText" lastClr="000000"/>
                </a:solidFill>
                <a:effectLst/>
                <a:uLnTx/>
                <a:uFillTx/>
                <a:latin typeface="Segoe UI" pitchFamily="34" charset="0"/>
                <a:ea typeface="Lato" panose="020F0502020204030203" pitchFamily="34" charset="0"/>
                <a:cs typeface="Lato" panose="020F0502020204030203" pitchFamily="34" charset="0"/>
              </a:rPr>
              <a:t>SP2 : </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r>
              <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Decisive, mature leader to motivate leadership team and organization to deliver strategic pivots (think globally, JVs, M&amp;A)</a:t>
            </a:r>
          </a:p>
          <a:p>
            <a:pPr marL="0" marR="0" lvl="0" indent="0" algn="l" defTabSz="914400" rtl="0" eaLnBrk="1" fontAlgn="auto" latinLnBrk="0" hangingPunct="1">
              <a:lnSpc>
                <a:spcPct val="100000"/>
              </a:lnSpc>
              <a:spcBef>
                <a:spcPts val="0"/>
              </a:spcBef>
              <a:spcAft>
                <a:spcPts val="0"/>
              </a:spcAft>
              <a:buClr>
                <a:prstClr val="black"/>
              </a:buClr>
              <a:buSzPts val="2000"/>
              <a:buFont typeface="Lato"/>
              <a:buNone/>
              <a:tabLst/>
              <a:defRPr/>
            </a:pPr>
            <a:endPar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p:txBody>
      </p:sp>
      <p:sp>
        <p:nvSpPr>
          <p:cNvPr id="7" name="Google Shape;61;p3">
            <a:extLst>
              <a:ext uri="{FF2B5EF4-FFF2-40B4-BE49-F238E27FC236}">
                <a16:creationId xmlns:a16="http://schemas.microsoft.com/office/drawing/2014/main" id="{9497B4ED-0BD0-490A-A7AD-0848389AF0AE}"/>
              </a:ext>
            </a:extLst>
          </p:cNvPr>
          <p:cNvSpPr txBox="1"/>
          <p:nvPr/>
        </p:nvSpPr>
        <p:spPr>
          <a:xfrm>
            <a:off x="8586629" y="985612"/>
            <a:ext cx="2231345"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Superpowers</a:t>
            </a:r>
            <a:endParaRPr kumimoji="0" lang="en-US" sz="12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71" name="Google Shape;68;p3">
            <a:extLst>
              <a:ext uri="{FF2B5EF4-FFF2-40B4-BE49-F238E27FC236}">
                <a16:creationId xmlns:a16="http://schemas.microsoft.com/office/drawing/2014/main" id="{4E70FDCB-6C4B-4846-8960-2582A913C91A}"/>
              </a:ext>
            </a:extLst>
          </p:cNvPr>
          <p:cNvSpPr/>
          <p:nvPr/>
        </p:nvSpPr>
        <p:spPr>
          <a:xfrm>
            <a:off x="2774531" y="1263007"/>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72" name="Google Shape;69;p3">
            <a:extLst>
              <a:ext uri="{FF2B5EF4-FFF2-40B4-BE49-F238E27FC236}">
                <a16:creationId xmlns:a16="http://schemas.microsoft.com/office/drawing/2014/main" id="{80A88357-B10A-4487-A314-3E6FB6B7CEC0}"/>
              </a:ext>
            </a:extLst>
          </p:cNvPr>
          <p:cNvSpPr>
            <a:spLocks noGrp="1"/>
          </p:cNvSpPr>
          <p:nvPr>
            <p:ph idx="1"/>
          </p:nvPr>
        </p:nvSpPr>
        <p:spPr>
          <a:xfrm>
            <a:off x="3788022" y="1361814"/>
            <a:ext cx="4362064" cy="84638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0" cap="none" spc="-10" normalizeH="0" baseline="0" noProof="0" dirty="0">
                <a:ln>
                  <a:noFill/>
                </a:ln>
                <a:solidFill>
                  <a:srgbClr val="281A42"/>
                </a:solidFill>
                <a:effectLst/>
                <a:uLnTx/>
                <a:uFillTx/>
                <a:latin typeface="Arial" pitchFamily="34" charset="0"/>
                <a:ea typeface="Lato" panose="020F0502020204030203" pitchFamily="34" charset="0"/>
                <a:cs typeface="Lato" panose="020F0502020204030203" pitchFamily="34" charset="0"/>
              </a:rPr>
              <a:t>PROTECT CORE WHILE ENHANCING PRODUCTIVITY </a:t>
            </a:r>
          </a:p>
          <a:p>
            <a:pPr marL="171450" marR="0" lvl="0" indent="-171450" algn="l" defTabSz="914400" rtl="0" eaLnBrk="1" fontAlgn="auto" latinLnBrk="0" hangingPunct="1">
              <a:lnSpc>
                <a:spcPct val="100000"/>
              </a:lnSpc>
              <a:spcBef>
                <a:spcPts val="0"/>
              </a:spcBef>
              <a:spcAft>
                <a:spcPts val="0"/>
              </a:spcAft>
              <a:buBlip>
                <a:blip r:embed="rId6"/>
              </a:buBlip>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Lato"/>
              </a:rPr>
              <a:t>Strategic owner for delivering incremental revenue, through Asset Development, feedstock optimization, building materials, project implementation to protect market position &amp; financials</a:t>
            </a:r>
          </a:p>
          <a:p>
            <a:pPr marL="171450" marR="0" lvl="0" indent="-171450" algn="l" defTabSz="914400" rtl="0" eaLnBrk="1" fontAlgn="auto" latinLnBrk="0" hangingPunct="1">
              <a:lnSpc>
                <a:spcPct val="100000"/>
              </a:lnSpc>
              <a:spcBef>
                <a:spcPts val="0"/>
              </a:spcBef>
              <a:spcAft>
                <a:spcPts val="0"/>
              </a:spcAft>
              <a:buBlip>
                <a:blip r:embed="rId6"/>
              </a:buBlip>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Lato"/>
              </a:rPr>
              <a:t>Extract cost/productivity synergies from Digital Transformation programs (Smart Mfg., IOT, AI) to generate fuel for growth </a:t>
            </a:r>
            <a:r>
              <a:rPr kumimoji="0" lang="en-GB" sz="900" b="0" i="0" u="none" strike="noStrike" kern="0" cap="none" spc="-10" normalizeH="0" baseline="0" noProof="0" dirty="0">
                <a:ln>
                  <a:noFill/>
                </a:ln>
                <a:solidFill>
                  <a:srgbClr val="1D1D1D"/>
                </a:solidFill>
                <a:effectLst/>
                <a:uLnTx/>
                <a:uFillTx/>
                <a:latin typeface="Arial" pitchFamily="34" charset="0"/>
                <a:ea typeface="Lato"/>
                <a:cs typeface="Lato"/>
              </a:rPr>
              <a:t>optimization</a:t>
            </a:r>
            <a:endParaRPr kumimoji="0" lang="en-US" sz="900" b="0" i="0" u="none" strike="noStrike" kern="0" cap="none" spc="-10" normalizeH="0" baseline="0" noProof="0" dirty="0">
              <a:ln>
                <a:noFill/>
              </a:ln>
              <a:solidFill>
                <a:srgbClr val="1D1D1D"/>
              </a:solidFill>
              <a:effectLst/>
              <a:uLnTx/>
              <a:uFillTx/>
              <a:latin typeface="Arial" pitchFamily="34" charset="0"/>
              <a:ea typeface="Lato"/>
              <a:cs typeface="Lato"/>
            </a:endParaRPr>
          </a:p>
        </p:txBody>
      </p:sp>
      <p:grpSp>
        <p:nvGrpSpPr>
          <p:cNvPr id="73" name="Group 72">
            <a:extLst>
              <a:ext uri="{FF2B5EF4-FFF2-40B4-BE49-F238E27FC236}">
                <a16:creationId xmlns:a16="http://schemas.microsoft.com/office/drawing/2014/main" id="{394BB027-1FEF-456A-8199-C9745F0D152F}"/>
              </a:ext>
            </a:extLst>
          </p:cNvPr>
          <p:cNvGrpSpPr/>
          <p:nvPr/>
        </p:nvGrpSpPr>
        <p:grpSpPr>
          <a:xfrm>
            <a:off x="2918647" y="1459290"/>
            <a:ext cx="698240" cy="651435"/>
            <a:chOff x="2918647" y="1861582"/>
            <a:chExt cx="698240" cy="651435"/>
          </a:xfrm>
        </p:grpSpPr>
        <p:sp>
          <p:nvSpPr>
            <p:cNvPr id="74" name="Google Shape;70;p3">
              <a:extLst>
                <a:ext uri="{FF2B5EF4-FFF2-40B4-BE49-F238E27FC236}">
                  <a16:creationId xmlns:a16="http://schemas.microsoft.com/office/drawing/2014/main" id="{0E624953-532E-40F4-9CA8-787E28222D6F}"/>
                </a:ext>
              </a:extLst>
            </p:cNvPr>
            <p:cNvSpPr txBox="1"/>
            <p:nvPr/>
          </p:nvSpPr>
          <p:spPr>
            <a:xfrm>
              <a:off x="2918648" y="2044680"/>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40%</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75" name="Google Shape;71;p3">
              <a:extLst>
                <a:ext uri="{FF2B5EF4-FFF2-40B4-BE49-F238E27FC236}">
                  <a16:creationId xmlns:a16="http://schemas.microsoft.com/office/drawing/2014/main" id="{70FB31E6-7B74-4B78-B978-73810722A01E}"/>
                </a:ext>
              </a:extLst>
            </p:cNvPr>
            <p:cNvSpPr txBox="1"/>
            <p:nvPr/>
          </p:nvSpPr>
          <p:spPr>
            <a:xfrm>
              <a:off x="2918647" y="1861582"/>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1</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03" name="Google Shape;68;p3">
            <a:extLst>
              <a:ext uri="{FF2B5EF4-FFF2-40B4-BE49-F238E27FC236}">
                <a16:creationId xmlns:a16="http://schemas.microsoft.com/office/drawing/2014/main" id="{0A1DB88D-725D-4406-88C6-3DBAF6DC91FD}"/>
              </a:ext>
            </a:extLst>
          </p:cNvPr>
          <p:cNvSpPr/>
          <p:nvPr/>
        </p:nvSpPr>
        <p:spPr>
          <a:xfrm>
            <a:off x="2775420" y="2351113"/>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21" name="Google Shape;69;p3">
            <a:extLst>
              <a:ext uri="{FF2B5EF4-FFF2-40B4-BE49-F238E27FC236}">
                <a16:creationId xmlns:a16="http://schemas.microsoft.com/office/drawing/2014/main" id="{F22BCDA3-06BD-48BB-98EC-1FB867625AC3}"/>
              </a:ext>
            </a:extLst>
          </p:cNvPr>
          <p:cNvSpPr txBox="1"/>
          <p:nvPr/>
        </p:nvSpPr>
        <p:spPr>
          <a:xfrm>
            <a:off x="3788911" y="2442226"/>
            <a:ext cx="4362064" cy="861774"/>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10" normalizeH="0" baseline="0" noProof="0" dirty="0">
                <a:ln>
                  <a:noFill/>
                </a:ln>
                <a:solidFill>
                  <a:srgbClr val="281A42"/>
                </a:solidFill>
                <a:effectLst/>
                <a:uLnTx/>
                <a:uFillTx/>
                <a:latin typeface="Arial" pitchFamily="34" charset="0"/>
                <a:ea typeface="Lato" panose="020F0502020204030203" pitchFamily="34" charset="0"/>
                <a:cs typeface="Lato" panose="020F0502020204030203" pitchFamily="34" charset="0"/>
              </a:rPr>
              <a:t>DIVERSIFY DECARBONIZE PRODUCT PORTFOLIO FOR ORGANIC GROWTH </a:t>
            </a: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Lato"/>
              </a:rPr>
              <a:t>Drive product portfolio for decarbonization</a:t>
            </a: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Lato"/>
              </a:rPr>
              <a:t>Drive Greenfield development JV</a:t>
            </a:r>
          </a:p>
          <a:p>
            <a:pPr marL="171450" marR="0" lvl="0" indent="-171450" algn="l" defTabSz="914400" rtl="0" eaLnBrk="1" fontAlgn="auto" latinLnBrk="0" hangingPunct="1">
              <a:lnSpc>
                <a:spcPct val="100000"/>
              </a:lnSpc>
              <a:spcBef>
                <a:spcPts val="0"/>
              </a:spcBef>
              <a:spcAft>
                <a:spcPts val="0"/>
              </a:spcAft>
              <a:buClrTx/>
              <a:buSzTx/>
              <a:buFont typeface="Arial,Sans-Serif"/>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Lato"/>
              </a:rPr>
              <a:t>BU 2: Create comprehensive products, solutions, services portfolio for distributors, industrial clients, builders. </a:t>
            </a:r>
          </a:p>
        </p:txBody>
      </p:sp>
      <p:grpSp>
        <p:nvGrpSpPr>
          <p:cNvPr id="9" name="Group 8">
            <a:extLst>
              <a:ext uri="{FF2B5EF4-FFF2-40B4-BE49-F238E27FC236}">
                <a16:creationId xmlns:a16="http://schemas.microsoft.com/office/drawing/2014/main" id="{3831D4FF-10DC-406B-90AC-D5A7163F94A6}"/>
              </a:ext>
            </a:extLst>
          </p:cNvPr>
          <p:cNvGrpSpPr/>
          <p:nvPr/>
        </p:nvGrpSpPr>
        <p:grpSpPr>
          <a:xfrm>
            <a:off x="2919536" y="2547396"/>
            <a:ext cx="698240" cy="651434"/>
            <a:chOff x="2919536" y="2920969"/>
            <a:chExt cx="698240" cy="651434"/>
          </a:xfrm>
        </p:grpSpPr>
        <p:sp>
          <p:nvSpPr>
            <p:cNvPr id="10" name="Google Shape;70;p3">
              <a:extLst>
                <a:ext uri="{FF2B5EF4-FFF2-40B4-BE49-F238E27FC236}">
                  <a16:creationId xmlns:a16="http://schemas.microsoft.com/office/drawing/2014/main" id="{87FE8490-4270-4EC5-9980-77CBFD72D637}"/>
                </a:ext>
              </a:extLst>
            </p:cNvPr>
            <p:cNvSpPr txBox="1"/>
            <p:nvPr/>
          </p:nvSpPr>
          <p:spPr>
            <a:xfrm>
              <a:off x="2919537" y="3104066"/>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1" name="Google Shape;71;p3">
              <a:extLst>
                <a:ext uri="{FF2B5EF4-FFF2-40B4-BE49-F238E27FC236}">
                  <a16:creationId xmlns:a16="http://schemas.microsoft.com/office/drawing/2014/main" id="{4AFCB9BD-8B23-4461-85DE-3F7813F33D20}"/>
                </a:ext>
              </a:extLst>
            </p:cNvPr>
            <p:cNvSpPr txBox="1"/>
            <p:nvPr/>
          </p:nvSpPr>
          <p:spPr>
            <a:xfrm>
              <a:off x="2919536" y="2920969"/>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2</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2" name="Google Shape;68;p3">
            <a:extLst>
              <a:ext uri="{FF2B5EF4-FFF2-40B4-BE49-F238E27FC236}">
                <a16:creationId xmlns:a16="http://schemas.microsoft.com/office/drawing/2014/main" id="{5B6D36CD-9354-4F1A-812F-AB1FE2A30C70}"/>
              </a:ext>
            </a:extLst>
          </p:cNvPr>
          <p:cNvSpPr/>
          <p:nvPr/>
        </p:nvSpPr>
        <p:spPr>
          <a:xfrm>
            <a:off x="2775420" y="3426519"/>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3" name="Google Shape;69;p3">
            <a:extLst>
              <a:ext uri="{FF2B5EF4-FFF2-40B4-BE49-F238E27FC236}">
                <a16:creationId xmlns:a16="http://schemas.microsoft.com/office/drawing/2014/main" id="{C77C0BA0-0E00-4AD4-B423-D85EF9BE0C61}"/>
              </a:ext>
            </a:extLst>
          </p:cNvPr>
          <p:cNvSpPr txBox="1"/>
          <p:nvPr/>
        </p:nvSpPr>
        <p:spPr>
          <a:xfrm>
            <a:off x="3788911" y="3594577"/>
            <a:ext cx="4362064" cy="707886"/>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00000"/>
              </a:lnSpc>
              <a:spcBef>
                <a:spcPts val="0"/>
              </a:spcBef>
              <a:spcAft>
                <a:spcPts val="0"/>
              </a:spcAft>
              <a:buClr>
                <a:prstClr val="black"/>
              </a:buClr>
              <a:buSzPts val="2000"/>
              <a:buFont typeface="Arial"/>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BUILD &amp; DELIVER INVESTMENT CASE TO DRIVE INORGANIC GROWTH</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Identify strategic targets for volume, revenue &amp; EBITDA growth to secure Board approval and create interest from international institutional investors. Close deals / integrate acquisitions seamlessly for value creation </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Identify and build JVs / commercial Partnerships</a:t>
            </a:r>
          </a:p>
        </p:txBody>
      </p:sp>
      <p:grpSp>
        <p:nvGrpSpPr>
          <p:cNvPr id="14" name="Group 13">
            <a:extLst>
              <a:ext uri="{FF2B5EF4-FFF2-40B4-BE49-F238E27FC236}">
                <a16:creationId xmlns:a16="http://schemas.microsoft.com/office/drawing/2014/main" id="{C93EC5EC-5698-4CC8-8A6D-F9965F5A8F8A}"/>
              </a:ext>
            </a:extLst>
          </p:cNvPr>
          <p:cNvGrpSpPr/>
          <p:nvPr/>
        </p:nvGrpSpPr>
        <p:grpSpPr>
          <a:xfrm>
            <a:off x="2919536" y="3622802"/>
            <a:ext cx="698240" cy="651434"/>
            <a:chOff x="2919536" y="3980355"/>
            <a:chExt cx="698240" cy="651434"/>
          </a:xfrm>
        </p:grpSpPr>
        <p:sp>
          <p:nvSpPr>
            <p:cNvPr id="15" name="Google Shape;70;p3">
              <a:extLst>
                <a:ext uri="{FF2B5EF4-FFF2-40B4-BE49-F238E27FC236}">
                  <a16:creationId xmlns:a16="http://schemas.microsoft.com/office/drawing/2014/main" id="{B6DB24FD-456A-4BC9-9138-B6FBE303680F}"/>
                </a:ext>
              </a:extLst>
            </p:cNvPr>
            <p:cNvSpPr txBox="1"/>
            <p:nvPr/>
          </p:nvSpPr>
          <p:spPr>
            <a:xfrm>
              <a:off x="2919537" y="4163452"/>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400" b="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41" name="Google Shape;71;p3">
              <a:extLst>
                <a:ext uri="{FF2B5EF4-FFF2-40B4-BE49-F238E27FC236}">
                  <a16:creationId xmlns:a16="http://schemas.microsoft.com/office/drawing/2014/main" id="{93CD0E9D-B7DC-47D7-BC02-4F3DAA5384D1}"/>
                </a:ext>
              </a:extLst>
            </p:cNvPr>
            <p:cNvSpPr txBox="1"/>
            <p:nvPr/>
          </p:nvSpPr>
          <p:spPr>
            <a:xfrm>
              <a:off x="2919536" y="3980355"/>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3</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6" name="Google Shape;68;p3">
            <a:extLst>
              <a:ext uri="{FF2B5EF4-FFF2-40B4-BE49-F238E27FC236}">
                <a16:creationId xmlns:a16="http://schemas.microsoft.com/office/drawing/2014/main" id="{B05BAC31-3CB1-4E7E-8B0B-CE4C0757F2C7}"/>
              </a:ext>
            </a:extLst>
          </p:cNvPr>
          <p:cNvSpPr/>
          <p:nvPr/>
        </p:nvSpPr>
        <p:spPr>
          <a:xfrm>
            <a:off x="2774531" y="4514626"/>
            <a:ext cx="5454000" cy="879494"/>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43" name="Google Shape;69;p3">
            <a:extLst>
              <a:ext uri="{FF2B5EF4-FFF2-40B4-BE49-F238E27FC236}">
                <a16:creationId xmlns:a16="http://schemas.microsoft.com/office/drawing/2014/main" id="{609977F5-054D-49DF-BA13-BB7D5A937918}"/>
              </a:ext>
            </a:extLst>
          </p:cNvPr>
          <p:cNvSpPr txBox="1"/>
          <p:nvPr/>
        </p:nvSpPr>
        <p:spPr>
          <a:xfrm>
            <a:off x="3788022" y="4673043"/>
            <a:ext cx="4362064" cy="600164"/>
          </a:xfrm>
          <a:prstGeom prst="rect">
            <a:avLst/>
          </a:prstGeom>
          <a:noFill/>
          <a:ln>
            <a:noFill/>
          </a:ln>
        </p:spPr>
        <p:txBody>
          <a:bodyPr spcFirstLastPara="1" wrap="square" lIns="0" tIns="0" rIns="0" bIns="0" anchor="ctr" anchorCtr="0">
            <a:spAutoFit/>
          </a:bodyPr>
          <a:lstStyle/>
          <a:p>
            <a:pPr marL="0" marR="0" lvl="0" indent="0" algn="l" defTabSz="914400" rtl="0" eaLnBrk="1" fontAlgn="auto" latinLnBrk="0" hangingPunct="1">
              <a:lnSpc>
                <a:spcPct val="120000"/>
              </a:lnSpc>
              <a:spcBef>
                <a:spcPts val="0"/>
              </a:spcBef>
              <a:spcAft>
                <a:spcPts val="0"/>
              </a:spcAft>
              <a:buClr>
                <a:srgbClr val="1D1D1D"/>
              </a:buClr>
              <a:buSzPts val="2000"/>
              <a:buFontTx/>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EXPAND GEOGRAPHIC FOOTPRINT </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Enter new export markets for exports by capitalizing on demand for sustainable building materials</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Explore opportunities to enhance vertical Integration</a:t>
            </a:r>
          </a:p>
        </p:txBody>
      </p:sp>
      <p:grpSp>
        <p:nvGrpSpPr>
          <p:cNvPr id="144" name="Group 143">
            <a:extLst>
              <a:ext uri="{FF2B5EF4-FFF2-40B4-BE49-F238E27FC236}">
                <a16:creationId xmlns:a16="http://schemas.microsoft.com/office/drawing/2014/main" id="{FD3DC029-F8F1-4C02-8E1B-D241C3C14DFE}"/>
              </a:ext>
            </a:extLst>
          </p:cNvPr>
          <p:cNvGrpSpPr/>
          <p:nvPr/>
        </p:nvGrpSpPr>
        <p:grpSpPr>
          <a:xfrm>
            <a:off x="2918647" y="4710909"/>
            <a:ext cx="698240" cy="651434"/>
            <a:chOff x="2918647" y="5039742"/>
            <a:chExt cx="698240" cy="651434"/>
          </a:xfrm>
        </p:grpSpPr>
        <p:sp>
          <p:nvSpPr>
            <p:cNvPr id="145" name="Google Shape;70;p3">
              <a:extLst>
                <a:ext uri="{FF2B5EF4-FFF2-40B4-BE49-F238E27FC236}">
                  <a16:creationId xmlns:a16="http://schemas.microsoft.com/office/drawing/2014/main" id="{505F740B-D055-4AB2-8EAD-08333BFFF49E}"/>
                </a:ext>
              </a:extLst>
            </p:cNvPr>
            <p:cNvSpPr txBox="1"/>
            <p:nvPr/>
          </p:nvSpPr>
          <p:spPr>
            <a:xfrm>
              <a:off x="2918648" y="5222839"/>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146" name="Google Shape;71;p3">
              <a:extLst>
                <a:ext uri="{FF2B5EF4-FFF2-40B4-BE49-F238E27FC236}">
                  <a16:creationId xmlns:a16="http://schemas.microsoft.com/office/drawing/2014/main" id="{46D45AD6-CB3E-47D7-9350-A9227A35C464}"/>
                </a:ext>
              </a:extLst>
            </p:cNvPr>
            <p:cNvSpPr txBox="1"/>
            <p:nvPr/>
          </p:nvSpPr>
          <p:spPr>
            <a:xfrm>
              <a:off x="2918647" y="5039742"/>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4</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7" name="Google Shape;57;p3">
            <a:extLst>
              <a:ext uri="{FF2B5EF4-FFF2-40B4-BE49-F238E27FC236}">
                <a16:creationId xmlns:a16="http://schemas.microsoft.com/office/drawing/2014/main" id="{F296B6C8-5DFB-53AB-15BB-48F43C3D1BB7}"/>
              </a:ext>
            </a:extLst>
          </p:cNvPr>
          <p:cNvSpPr/>
          <p:nvPr/>
        </p:nvSpPr>
        <p:spPr>
          <a:xfrm>
            <a:off x="563253" y="874373"/>
            <a:ext cx="1987063" cy="5712858"/>
          </a:xfrm>
          <a:prstGeom prst="roundRect">
            <a:avLst>
              <a:gd name="adj" fmla="val 5837"/>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8" name="Google Shape;72;p3">
            <a:extLst>
              <a:ext uri="{FF2B5EF4-FFF2-40B4-BE49-F238E27FC236}">
                <a16:creationId xmlns:a16="http://schemas.microsoft.com/office/drawing/2014/main" id="{CD8EE175-7EC5-AECE-631F-87DB7DADCF21}"/>
              </a:ext>
            </a:extLst>
          </p:cNvPr>
          <p:cNvSpPr txBox="1"/>
          <p:nvPr/>
        </p:nvSpPr>
        <p:spPr>
          <a:xfrm>
            <a:off x="706570" y="1170278"/>
            <a:ext cx="174438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Deliver Strategy</a:t>
            </a:r>
            <a:endParaRPr kumimoji="0" lang="en-US"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6" name="Google Shape;57;p3">
            <a:extLst>
              <a:ext uri="{FF2B5EF4-FFF2-40B4-BE49-F238E27FC236}">
                <a16:creationId xmlns:a16="http://schemas.microsoft.com/office/drawing/2014/main" id="{C886FFE1-72D3-51EE-91D9-FC276D93CC72}"/>
              </a:ext>
            </a:extLst>
          </p:cNvPr>
          <p:cNvSpPr/>
          <p:nvPr/>
        </p:nvSpPr>
        <p:spPr>
          <a:xfrm>
            <a:off x="689953" y="3619485"/>
            <a:ext cx="1736380" cy="2844340"/>
          </a:xfrm>
          <a:prstGeom prst="roundRect">
            <a:avLst>
              <a:gd name="adj" fmla="val 5837"/>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mn-ea"/>
              <a:cs typeface="+mn-cs"/>
              <a:sym typeface="Lato"/>
            </a:endParaRPr>
          </a:p>
        </p:txBody>
      </p:sp>
      <p:sp>
        <p:nvSpPr>
          <p:cNvPr id="21" name="Google Shape;102;p3">
            <a:extLst>
              <a:ext uri="{FF2B5EF4-FFF2-40B4-BE49-F238E27FC236}">
                <a16:creationId xmlns:a16="http://schemas.microsoft.com/office/drawing/2014/main" id="{94A68A21-0082-9659-1C4F-EE492102F257}"/>
              </a:ext>
            </a:extLst>
          </p:cNvPr>
          <p:cNvSpPr txBox="1"/>
          <p:nvPr/>
        </p:nvSpPr>
        <p:spPr>
          <a:xfrm>
            <a:off x="706570" y="3779426"/>
            <a:ext cx="1719764" cy="230812"/>
          </a:xfrm>
          <a:prstGeom prst="rect">
            <a:avLst/>
          </a:pr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EXPECTED VALUE</a:t>
            </a:r>
            <a:endParaRPr kumimoji="0" lang="en-US" sz="700" b="1" i="0" u="none" strike="noStrike" kern="0" cap="none" spc="-10" normalizeH="0" baseline="0" noProof="0" dirty="0">
              <a:ln>
                <a:noFill/>
              </a:ln>
              <a:solidFill>
                <a:srgbClr val="1D1D1D"/>
              </a:solidFill>
              <a:effectLst/>
              <a:uLnTx/>
              <a:uFillTx/>
              <a:latin typeface="Segoe UI" pitchFamily="34" charset="0"/>
              <a:ea typeface="+mn-ea"/>
              <a:cs typeface="Arial"/>
              <a:sym typeface="Arial"/>
            </a:endParaRPr>
          </a:p>
        </p:txBody>
      </p:sp>
      <p:graphicFrame>
        <p:nvGraphicFramePr>
          <p:cNvPr id="27" name="Table 26">
            <a:extLst>
              <a:ext uri="{FF2B5EF4-FFF2-40B4-BE49-F238E27FC236}">
                <a16:creationId xmlns:a16="http://schemas.microsoft.com/office/drawing/2014/main" id="{FDC6CD0D-C36F-959B-F452-46907406C772}"/>
              </a:ext>
            </a:extLst>
          </p:cNvPr>
          <p:cNvGraphicFramePr>
            <a:graphicFrameLocks noGrp="1"/>
          </p:cNvGraphicFramePr>
          <p:nvPr/>
        </p:nvGraphicFramePr>
        <p:xfrm>
          <a:off x="675060" y="1459290"/>
          <a:ext cx="1903385" cy="1493520"/>
        </p:xfrm>
        <a:graphic>
          <a:graphicData uri="http://schemas.openxmlformats.org/drawingml/2006/table">
            <a:tbl>
              <a:tblPr firstRow="1" bandRow="1">
                <a:tableStyleId>{5940675A-B579-460E-94D1-54222C63F5DA}</a:tableStyleId>
              </a:tblPr>
              <a:tblGrid>
                <a:gridCol w="1903385">
                  <a:extLst>
                    <a:ext uri="{9D8B030D-6E8A-4147-A177-3AD203B41FA5}">
                      <a16:colId xmlns:a16="http://schemas.microsoft.com/office/drawing/2014/main" val="2160030322"/>
                    </a:ext>
                  </a:extLst>
                </a:gridCol>
              </a:tblGrid>
              <a:tr h="181852">
                <a:tc>
                  <a:txBody>
                    <a:bodyPr/>
                    <a:lstStyle/>
                    <a:p>
                      <a:pPr marL="171450" indent="-171450">
                        <a:spcBef>
                          <a:spcPts val="600"/>
                        </a:spcBef>
                        <a:buFont typeface="Arial" panose="020B0604020202020204" pitchFamily="34" charset="0"/>
                        <a:buChar char="•"/>
                      </a:pPr>
                      <a:r>
                        <a:rPr lang="en-GB" sz="1100" b="1" i="0" dirty="0">
                          <a:solidFill>
                            <a:srgbClr val="FFFFFF"/>
                          </a:solidFill>
                          <a:latin typeface="Arial" pitchFamily="34" charset="0"/>
                          <a:ea typeface="Lato" panose="020F0502020204030203" pitchFamily="34" charset="0"/>
                          <a:cs typeface="Lato" panose="020F0502020204030203" pitchFamily="34" charset="0"/>
                        </a:rPr>
                        <a:t>Run core operations</a:t>
                      </a:r>
                    </a:p>
                    <a:p>
                      <a:pPr marL="171450" indent="-171450">
                        <a:spcBef>
                          <a:spcPts val="600"/>
                        </a:spcBef>
                        <a:buFont typeface="Arial" panose="020B0604020202020204" pitchFamily="34" charset="0"/>
                        <a:buChar char="•"/>
                      </a:pPr>
                      <a:r>
                        <a:rPr lang="en-GB" sz="1100" b="1" i="0" dirty="0">
                          <a:solidFill>
                            <a:srgbClr val="FFFFFF"/>
                          </a:solidFill>
                          <a:latin typeface="Arial" pitchFamily="34" charset="0"/>
                          <a:ea typeface="Lato" panose="020F0502020204030203" pitchFamily="34" charset="0"/>
                          <a:cs typeface="Lato" panose="020F0502020204030203" pitchFamily="34" charset="0"/>
                        </a:rPr>
                        <a:t>Grow organically &amp; inorganically </a:t>
                      </a:r>
                    </a:p>
                    <a:p>
                      <a:pPr marL="171450" indent="-171450">
                        <a:spcBef>
                          <a:spcPts val="600"/>
                        </a:spcBef>
                        <a:buFont typeface="Arial" panose="020B0604020202020204" pitchFamily="34" charset="0"/>
                        <a:buChar char="•"/>
                      </a:pPr>
                      <a:r>
                        <a:rPr lang="en-GB" sz="1100" b="1" i="0" dirty="0">
                          <a:solidFill>
                            <a:srgbClr val="FFFFFF"/>
                          </a:solidFill>
                          <a:latin typeface="Arial" pitchFamily="34" charset="0"/>
                          <a:ea typeface="Lato" panose="020F0502020204030203" pitchFamily="34" charset="0"/>
                          <a:cs typeface="Lato" panose="020F0502020204030203" pitchFamily="34" charset="0"/>
                        </a:rPr>
                        <a:t>Drive decarbonized value- added products </a:t>
                      </a:r>
                    </a:p>
                    <a:p>
                      <a:pPr marL="171450" indent="-171450">
                        <a:spcBef>
                          <a:spcPts val="600"/>
                        </a:spcBef>
                        <a:buFont typeface="Arial" panose="020B0604020202020204" pitchFamily="34" charset="0"/>
                        <a:buChar char="•"/>
                      </a:pPr>
                      <a:r>
                        <a:rPr lang="en-GB" sz="1100" b="1" i="0" dirty="0">
                          <a:solidFill>
                            <a:srgbClr val="FFFFFF"/>
                          </a:solidFill>
                          <a:latin typeface="Arial" pitchFamily="34" charset="0"/>
                          <a:ea typeface="Lato" panose="020F0502020204030203" pitchFamily="34" charset="0"/>
                          <a:cs typeface="Lato" panose="020F0502020204030203" pitchFamily="34" charset="0"/>
                        </a:rPr>
                        <a:t>Build team for future ready organization.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2101001088"/>
                  </a:ext>
                </a:extLst>
              </a:tr>
            </a:tbl>
          </a:graphicData>
        </a:graphic>
      </p:graphicFrame>
      <p:sp>
        <p:nvSpPr>
          <p:cNvPr id="29" name="Google Shape;68;p3">
            <a:extLst>
              <a:ext uri="{FF2B5EF4-FFF2-40B4-BE49-F238E27FC236}">
                <a16:creationId xmlns:a16="http://schemas.microsoft.com/office/drawing/2014/main" id="{DB583EA8-F947-25F3-FEC3-E3A7F5F3839C}"/>
              </a:ext>
            </a:extLst>
          </p:cNvPr>
          <p:cNvSpPr/>
          <p:nvPr/>
        </p:nvSpPr>
        <p:spPr>
          <a:xfrm>
            <a:off x="2799337" y="5433456"/>
            <a:ext cx="5454000" cy="1044000"/>
          </a:xfrm>
          <a:prstGeom prst="roundRect">
            <a:avLst>
              <a:gd name="adj" fmla="val 7600"/>
            </a:avLst>
          </a:prstGeom>
          <a:solidFill>
            <a:srgbClr val="F2F2F2"/>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30" name="Google Shape;69;p3">
            <a:extLst>
              <a:ext uri="{FF2B5EF4-FFF2-40B4-BE49-F238E27FC236}">
                <a16:creationId xmlns:a16="http://schemas.microsoft.com/office/drawing/2014/main" id="{70894332-8215-7043-6E1E-D144751E17B8}"/>
              </a:ext>
            </a:extLst>
          </p:cNvPr>
          <p:cNvSpPr txBox="1"/>
          <p:nvPr/>
        </p:nvSpPr>
        <p:spPr>
          <a:xfrm>
            <a:off x="3812828" y="5463013"/>
            <a:ext cx="4362064" cy="984885"/>
          </a:xfrm>
          <a:prstGeom prst="rect">
            <a:avLst/>
          </a:prstGeom>
          <a:noFill/>
          <a:ln>
            <a:noFill/>
          </a:ln>
        </p:spPr>
        <p:txBody>
          <a:bodyPr spcFirstLastPara="1" wrap="square" lIns="0" tIns="0" rIns="0" bIns="0" anchor="ctr" anchorCtr="0">
            <a:spAutoFit/>
          </a:body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0" cap="none" spc="-10" normalizeH="0" baseline="0" noProof="0" dirty="0">
                <a:ln>
                  <a:noFill/>
                </a:ln>
                <a:solidFill>
                  <a:srgbClr val="765FFF"/>
                </a:solidFill>
                <a:effectLst/>
                <a:uLnTx/>
                <a:uFillTx/>
                <a:latin typeface="Arial" pitchFamily="34" charset="0"/>
                <a:ea typeface="Lato" panose="020F0502020204030203" pitchFamily="34" charset="0"/>
                <a:cs typeface="Lato" panose="020F0502020204030203" pitchFamily="34" charset="0"/>
              </a:rPr>
              <a:t>ORGANIZATION &amp; OPERATING MODEL</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Select new leaders and (re)build leadership team for future ready organization, with high quality talent in critical roles </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Strengthen new organization model and operating interfaces, </a:t>
            </a: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clarify decision rights and align objectives &amp; incentives</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Define strategy deployment plan, align and mobilize leadership team and communicate to organization </a:t>
            </a:r>
            <a:endParaRPr kumimoji="0" lang="en-GB" sz="9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endParaRPr>
          </a:p>
        </p:txBody>
      </p:sp>
      <p:grpSp>
        <p:nvGrpSpPr>
          <p:cNvPr id="31" name="Group 30">
            <a:extLst>
              <a:ext uri="{FF2B5EF4-FFF2-40B4-BE49-F238E27FC236}">
                <a16:creationId xmlns:a16="http://schemas.microsoft.com/office/drawing/2014/main" id="{42278975-DBFC-CE7C-0F9B-4AA9CBC40A0B}"/>
              </a:ext>
            </a:extLst>
          </p:cNvPr>
          <p:cNvGrpSpPr/>
          <p:nvPr/>
        </p:nvGrpSpPr>
        <p:grpSpPr>
          <a:xfrm>
            <a:off x="2943453" y="5629739"/>
            <a:ext cx="698240" cy="651434"/>
            <a:chOff x="2918647" y="5039742"/>
            <a:chExt cx="698240" cy="651434"/>
          </a:xfrm>
        </p:grpSpPr>
        <p:sp>
          <p:nvSpPr>
            <p:cNvPr id="32" name="Google Shape;70;p3">
              <a:extLst>
                <a:ext uri="{FF2B5EF4-FFF2-40B4-BE49-F238E27FC236}">
                  <a16:creationId xmlns:a16="http://schemas.microsoft.com/office/drawing/2014/main" id="{567CA2C3-68F3-A0C7-260F-0DDCF191F94E}"/>
                </a:ext>
              </a:extLst>
            </p:cNvPr>
            <p:cNvSpPr txBox="1"/>
            <p:nvPr/>
          </p:nvSpPr>
          <p:spPr>
            <a:xfrm>
              <a:off x="2918648" y="5222839"/>
              <a:ext cx="698239" cy="468337"/>
            </a:xfrm>
            <a:prstGeom prst="rect">
              <a:avLst/>
            </a:prstGeom>
            <a:noFill/>
            <a:ln>
              <a:noFill/>
            </a:ln>
          </p:spPr>
          <p:txBody>
            <a:bodyPr spcFirstLastPara="1" wrap="square" lIns="22850" tIns="22850" rIns="22850" bIns="22850" anchor="t" anchorCtr="0">
              <a:noAutofit/>
            </a:bodyPr>
            <a:lstStyle/>
            <a:p>
              <a:pPr marL="0" marR="0" lvl="0" indent="0" algn="l" defTabSz="457200" rtl="0" eaLnBrk="1" fontAlgn="auto" latinLnBrk="0" hangingPunct="1">
                <a:lnSpc>
                  <a:spcPct val="100000"/>
                </a:lnSpc>
                <a:spcBef>
                  <a:spcPts val="0"/>
                </a:spcBef>
                <a:spcAft>
                  <a:spcPts val="0"/>
                </a:spcAft>
                <a:buClr>
                  <a:srgbClr val="00C27A"/>
                </a:buClr>
                <a:buSzPts val="4500"/>
                <a:buFontTx/>
                <a:buNone/>
                <a:tabLst/>
                <a:defRPr/>
              </a:pPr>
              <a:r>
                <a:rPr kumimoji="0" lang="en-US" sz="2250" b="0" i="0" u="none" strike="noStrike" kern="0" cap="none" spc="-10" normalizeH="0" baseline="0" noProof="0" dirty="0">
                  <a:ln>
                    <a:noFill/>
                  </a:ln>
                  <a:solidFill>
                    <a:srgbClr val="1D1D1D"/>
                  </a:solidFill>
                  <a:effectLst/>
                  <a:uLnTx/>
                  <a:uFillTx/>
                  <a:latin typeface="Arial" pitchFamily="34" charset="0"/>
                  <a:ea typeface="Lato"/>
                  <a:cs typeface="Lato"/>
                  <a:sym typeface="Lato"/>
                </a:rPr>
                <a:t>15%</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sp>
          <p:nvSpPr>
            <p:cNvPr id="33" name="Google Shape;71;p3">
              <a:extLst>
                <a:ext uri="{FF2B5EF4-FFF2-40B4-BE49-F238E27FC236}">
                  <a16:creationId xmlns:a16="http://schemas.microsoft.com/office/drawing/2014/main" id="{E998553C-D828-FBFF-8709-35F006439A66}"/>
                </a:ext>
              </a:extLst>
            </p:cNvPr>
            <p:cNvSpPr txBox="1"/>
            <p:nvPr/>
          </p:nvSpPr>
          <p:spPr>
            <a:xfrm>
              <a:off x="2918647" y="5039742"/>
              <a:ext cx="466686" cy="169257"/>
            </a:xfrm>
            <a:prstGeom prst="rect">
              <a:avLst/>
            </a:prstGeom>
            <a:noFill/>
            <a:ln>
              <a:noFill/>
            </a:ln>
          </p:spPr>
          <p:txBody>
            <a:bodyPr spcFirstLastPara="1" wrap="square" lIns="22850" tIns="22850" rIns="22850" bIns="22850" anchor="ctr" anchorCtr="0">
              <a:spAutoFit/>
            </a:bodyPr>
            <a:lstStyle/>
            <a:p>
              <a:pPr marL="0" marR="0" lvl="0" indent="0" algn="l" defTabSz="457200" rtl="0" eaLnBrk="1" fontAlgn="auto" latinLnBrk="0" hangingPunct="1">
                <a:lnSpc>
                  <a:spcPct val="100000"/>
                </a:lnSpc>
                <a:spcBef>
                  <a:spcPts val="0"/>
                </a:spcBef>
                <a:spcAft>
                  <a:spcPts val="0"/>
                </a:spcAft>
                <a:buClr>
                  <a:srgbClr val="3B3B3B"/>
                </a:buClr>
                <a:buSzPts val="1600"/>
                <a:buFontTx/>
                <a:buNone/>
                <a:tabLst/>
                <a:defRPr/>
              </a:pPr>
              <a:r>
                <a:rPr kumimoji="0" lang="en-US" sz="800" b="0" i="0" u="none" strike="noStrike" kern="0" cap="none" spc="-10" normalizeH="0" baseline="0" noProof="0" dirty="0">
                  <a:ln>
                    <a:noFill/>
                  </a:ln>
                  <a:solidFill>
                    <a:srgbClr val="3B3B3B"/>
                  </a:solidFill>
                  <a:effectLst/>
                  <a:uLnTx/>
                  <a:uFillTx/>
                  <a:latin typeface="Arial" pitchFamily="34" charset="0"/>
                  <a:ea typeface="Lato"/>
                  <a:cs typeface="Lato"/>
                  <a:sym typeface="Lato"/>
                </a:rPr>
                <a:t>JTBD 4</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8" name="TextBox 7">
            <a:extLst>
              <a:ext uri="{FF2B5EF4-FFF2-40B4-BE49-F238E27FC236}">
                <a16:creationId xmlns:a16="http://schemas.microsoft.com/office/drawing/2014/main" id="{D1F37789-8CB0-85A1-E4BF-964DD0222A53}"/>
              </a:ext>
            </a:extLst>
          </p:cNvPr>
          <p:cNvSpPr txBox="1"/>
          <p:nvPr/>
        </p:nvSpPr>
        <p:spPr>
          <a:xfrm>
            <a:off x="852555" y="4337615"/>
            <a:ext cx="1279046" cy="847384"/>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kern="0" spc="-10" dirty="0">
                <a:solidFill>
                  <a:srgbClr val="281A42"/>
                </a:solidFill>
                <a:latin typeface="Arial" pitchFamily="34" charset="0"/>
              </a:rPr>
              <a:t>5</a:t>
            </a:r>
            <a:r>
              <a:rPr kumimoji="0" lang="en-US" sz="3600" b="0" i="0" u="none" strike="noStrike" kern="0" cap="none" spc="-10" normalizeH="0" baseline="0" noProof="0" dirty="0">
                <a:ln>
                  <a:noFill/>
                </a:ln>
                <a:solidFill>
                  <a:srgbClr val="281A42"/>
                </a:solidFill>
                <a:effectLst/>
                <a:uLnTx/>
                <a:uFillTx/>
                <a:latin typeface="Arial" pitchFamily="34" charset="0"/>
                <a:ea typeface="+mn-ea"/>
                <a:cs typeface="+mn-cs"/>
              </a:rPr>
              <a:t>bn</a:t>
            </a:r>
            <a:br>
              <a:rPr kumimoji="0" lang="en-US" sz="1600" b="0" i="0" u="none" strike="noStrike" kern="0" cap="none" spc="-10" normalizeH="0" baseline="0" noProof="0" dirty="0">
                <a:ln>
                  <a:noFill/>
                </a:ln>
                <a:solidFill>
                  <a:srgbClr val="1D1D1D"/>
                </a:solidFill>
                <a:effectLst/>
                <a:uLnTx/>
                <a:uFillTx/>
                <a:latin typeface="Arial" pitchFamily="34" charset="0"/>
                <a:ea typeface="+mn-ea"/>
                <a:cs typeface="+mn-cs"/>
              </a:rPr>
            </a:b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ADDITIONAL REVENUE</a:t>
            </a:r>
            <a:endParaRPr kumimoji="0" lang="en-GB"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19" name="TextBox 18">
            <a:extLst>
              <a:ext uri="{FF2B5EF4-FFF2-40B4-BE49-F238E27FC236}">
                <a16:creationId xmlns:a16="http://schemas.microsoft.com/office/drawing/2014/main" id="{44D1044C-CE1A-34E0-B5DE-9E1BD8C42F43}"/>
              </a:ext>
            </a:extLst>
          </p:cNvPr>
          <p:cNvSpPr txBox="1"/>
          <p:nvPr/>
        </p:nvSpPr>
        <p:spPr>
          <a:xfrm>
            <a:off x="826782" y="5472690"/>
            <a:ext cx="1480059" cy="847384"/>
          </a:xfrm>
          <a:prstGeom prst="rect">
            <a:avLst/>
          </a:prstGeom>
          <a:noFill/>
        </p:spPr>
        <p:txBody>
          <a:bodyPr wrap="square" l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kern="0" spc="-10" dirty="0">
                <a:solidFill>
                  <a:srgbClr val="281A42"/>
                </a:solidFill>
                <a:latin typeface="Arial" pitchFamily="34" charset="0"/>
              </a:rPr>
              <a:t>2</a:t>
            </a:r>
            <a:r>
              <a:rPr kumimoji="0" lang="en-US" sz="3600" b="0" i="0" u="none" strike="noStrike" kern="0" cap="none" spc="-10" normalizeH="0" baseline="0" noProof="0" dirty="0">
                <a:ln>
                  <a:noFill/>
                </a:ln>
                <a:solidFill>
                  <a:srgbClr val="281A42"/>
                </a:solidFill>
                <a:effectLst/>
                <a:uLnTx/>
                <a:uFillTx/>
                <a:latin typeface="Arial" pitchFamily="34" charset="0"/>
                <a:ea typeface="+mn-ea"/>
                <a:cs typeface="+mn-cs"/>
              </a:rPr>
              <a:t>bn</a:t>
            </a:r>
            <a:br>
              <a:rPr kumimoji="0" lang="en-US" sz="1600" b="0" i="0" u="none" strike="noStrike" kern="0" cap="none" spc="-10" normalizeH="0" baseline="0" noProof="0" dirty="0">
                <a:ln>
                  <a:noFill/>
                </a:ln>
                <a:solidFill>
                  <a:srgbClr val="1D1D1D"/>
                </a:solidFill>
                <a:effectLst/>
                <a:uLnTx/>
                <a:uFillTx/>
                <a:latin typeface="Arial" pitchFamily="34" charset="0"/>
                <a:ea typeface="+mn-ea"/>
                <a:cs typeface="+mn-cs"/>
              </a:rPr>
            </a:b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EBIDTA</a:t>
            </a:r>
            <a:endParaRPr kumimoji="0" lang="en-GB"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22" name="Rounded Rectangle 21">
            <a:extLst>
              <a:ext uri="{FF2B5EF4-FFF2-40B4-BE49-F238E27FC236}">
                <a16:creationId xmlns:a16="http://schemas.microsoft.com/office/drawing/2014/main" id="{4DDADDB0-123B-457B-93CD-2FBC1E651401}"/>
              </a:ext>
            </a:extLst>
          </p:cNvPr>
          <p:cNvSpPr/>
          <p:nvPr/>
        </p:nvSpPr>
        <p:spPr>
          <a:xfrm>
            <a:off x="824426" y="4126789"/>
            <a:ext cx="866254" cy="248720"/>
          </a:xfrm>
          <a:prstGeom prst="roundRect">
            <a:avLst>
              <a:gd name="adj" fmla="val 0"/>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10" normalizeH="0" baseline="0" noProof="0" dirty="0">
                <a:ln>
                  <a:noFill/>
                </a:ln>
                <a:solidFill>
                  <a:srgbClr val="765FFF"/>
                </a:solidFill>
                <a:effectLst/>
                <a:uLnTx/>
                <a:uFillTx/>
                <a:latin typeface="Arial" pitchFamily="34" charset="0"/>
                <a:ea typeface="+mn-ea"/>
                <a:cs typeface="+mn-cs"/>
              </a:rPr>
              <a:t>BY 2028</a:t>
            </a:r>
            <a:endParaRPr kumimoji="0" lang="en-GB" sz="1200" b="0" i="0" u="none" strike="noStrike" kern="0" cap="none" spc="-10" normalizeH="0" baseline="30000" noProof="0" dirty="0">
              <a:ln>
                <a:noFill/>
              </a:ln>
              <a:solidFill>
                <a:srgbClr val="765FFF"/>
              </a:solidFill>
              <a:effectLst/>
              <a:uLnTx/>
              <a:uFillTx/>
              <a:latin typeface="Arial" pitchFamily="34" charset="0"/>
              <a:ea typeface="+mn-ea"/>
              <a:cs typeface="+mn-cs"/>
            </a:endParaRPr>
          </a:p>
        </p:txBody>
      </p:sp>
      <p:cxnSp>
        <p:nvCxnSpPr>
          <p:cNvPr id="23" name="Straight Connector 22">
            <a:extLst>
              <a:ext uri="{FF2B5EF4-FFF2-40B4-BE49-F238E27FC236}">
                <a16:creationId xmlns:a16="http://schemas.microsoft.com/office/drawing/2014/main" id="{9B7A2CFF-2C89-62D8-B0C7-3A20FAF3B815}"/>
              </a:ext>
            </a:extLst>
          </p:cNvPr>
          <p:cNvCxnSpPr>
            <a:cxnSpLocks/>
          </p:cNvCxnSpPr>
          <p:nvPr/>
        </p:nvCxnSpPr>
        <p:spPr>
          <a:xfrm flipH="1">
            <a:off x="824426" y="5434435"/>
            <a:ext cx="1482415" cy="0"/>
          </a:xfrm>
          <a:prstGeom prst="line">
            <a:avLst/>
          </a:prstGeom>
          <a:ln>
            <a:solidFill>
              <a:srgbClr val="281A42"/>
            </a:solidFill>
            <a:headEnd type="none" w="lg" len="med"/>
          </a:ln>
        </p:spPr>
        <p:style>
          <a:lnRef idx="1">
            <a:schemeClr val="accent1"/>
          </a:lnRef>
          <a:fillRef idx="0">
            <a:schemeClr val="accent1"/>
          </a:fillRef>
          <a:effectRef idx="0">
            <a:schemeClr val="accent1"/>
          </a:effectRef>
          <a:fontRef idx="minor">
            <a:schemeClr val="tx1"/>
          </a:fontRef>
        </p:style>
      </p:cxnSp>
      <p:grpSp>
        <p:nvGrpSpPr>
          <p:cNvPr id="20" name="Google Shape;195;p5">
            <a:extLst>
              <a:ext uri="{FF2B5EF4-FFF2-40B4-BE49-F238E27FC236}">
                <a16:creationId xmlns:a16="http://schemas.microsoft.com/office/drawing/2014/main" id="{5A545BD9-289E-4C3C-7908-08A103315867}"/>
              </a:ext>
            </a:extLst>
          </p:cNvPr>
          <p:cNvGrpSpPr>
            <a:grpSpLocks noChangeAspect="1"/>
          </p:cNvGrpSpPr>
          <p:nvPr/>
        </p:nvGrpSpPr>
        <p:grpSpPr>
          <a:xfrm>
            <a:off x="8913678" y="4195935"/>
            <a:ext cx="2033060" cy="2160000"/>
            <a:chOff x="501276" y="-6468"/>
            <a:chExt cx="3521559" cy="3741437"/>
          </a:xfrm>
        </p:grpSpPr>
        <p:grpSp>
          <p:nvGrpSpPr>
            <p:cNvPr id="24" name="Google Shape;196;p5">
              <a:extLst>
                <a:ext uri="{FF2B5EF4-FFF2-40B4-BE49-F238E27FC236}">
                  <a16:creationId xmlns:a16="http://schemas.microsoft.com/office/drawing/2014/main" id="{A89C8136-DDEB-6B9A-0145-EE0816BF7593}"/>
                </a:ext>
              </a:extLst>
            </p:cNvPr>
            <p:cNvGrpSpPr/>
            <p:nvPr/>
          </p:nvGrpSpPr>
          <p:grpSpPr>
            <a:xfrm>
              <a:off x="719169" y="448534"/>
              <a:ext cx="3239749" cy="2539768"/>
              <a:chOff x="-341400" y="0"/>
              <a:chExt cx="3239746" cy="2539768"/>
            </a:xfrm>
          </p:grpSpPr>
          <p:sp>
            <p:nvSpPr>
              <p:cNvPr id="37" name="Google Shape;197;p5">
                <a:extLst>
                  <a:ext uri="{FF2B5EF4-FFF2-40B4-BE49-F238E27FC236}">
                    <a16:creationId xmlns:a16="http://schemas.microsoft.com/office/drawing/2014/main" id="{C11E6E91-BF25-AA8F-9738-26E6BA2CDF6A}"/>
                  </a:ext>
                </a:extLst>
              </p:cNvPr>
              <p:cNvSpPr/>
              <p:nvPr/>
            </p:nvSpPr>
            <p:spPr>
              <a:xfrm>
                <a:off x="1"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8" name="Google Shape;198;p5">
                <a:extLst>
                  <a:ext uri="{FF2B5EF4-FFF2-40B4-BE49-F238E27FC236}">
                    <a16:creationId xmlns:a16="http://schemas.microsoft.com/office/drawing/2014/main" id="{87C95D89-FAC4-F569-B76D-07A1B159C507}"/>
                  </a:ext>
                </a:extLst>
              </p:cNvPr>
              <p:cNvSpPr txBox="1"/>
              <p:nvPr/>
            </p:nvSpPr>
            <p:spPr>
              <a:xfrm>
                <a:off x="-341400" y="476036"/>
                <a:ext cx="3239746" cy="1157608"/>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kumimoji="0" lang="en-US" sz="3000" b="1" i="0" u="none" strike="noStrike" kern="0" cap="none" spc="-25" normalizeH="0" baseline="0" noProof="0" dirty="0">
                    <a:ln>
                      <a:noFill/>
                    </a:ln>
                    <a:solidFill>
                      <a:srgbClr val="1D1D1D"/>
                    </a:solidFill>
                    <a:effectLst/>
                    <a:uLnTx/>
                    <a:uFillTx/>
                    <a:latin typeface="Segoe UI" pitchFamily="34" charset="0"/>
                    <a:ea typeface="Lato"/>
                    <a:cs typeface="Lato"/>
                    <a:sym typeface="Lato"/>
                  </a:rPr>
                  <a:t>56</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9" name="Google Shape;199;p5">
                <a:extLst>
                  <a:ext uri="{FF2B5EF4-FFF2-40B4-BE49-F238E27FC236}">
                    <a16:creationId xmlns:a16="http://schemas.microsoft.com/office/drawing/2014/main" id="{C24B622B-9DDD-3629-5F3F-4E9E6760E097}"/>
                  </a:ext>
                </a:extLst>
              </p:cNvPr>
              <p:cNvSpPr/>
              <p:nvPr/>
            </p:nvSpPr>
            <p:spPr>
              <a:xfrm>
                <a:off x="491592" y="1516077"/>
                <a:ext cx="1511070" cy="46236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25" name="Google Shape;200;p5">
              <a:extLst>
                <a:ext uri="{FF2B5EF4-FFF2-40B4-BE49-F238E27FC236}">
                  <a16:creationId xmlns:a16="http://schemas.microsoft.com/office/drawing/2014/main" id="{83CF9C8A-0538-CE69-CBD5-F8CDA52AD5B2}"/>
                </a:ext>
              </a:extLst>
            </p:cNvPr>
            <p:cNvSpPr/>
            <p:nvPr/>
          </p:nvSpPr>
          <p:spPr>
            <a:xfrm>
              <a:off x="1577133" y="26042"/>
              <a:ext cx="2445702"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6" name="Google Shape;201;p5">
              <a:extLst>
                <a:ext uri="{FF2B5EF4-FFF2-40B4-BE49-F238E27FC236}">
                  <a16:creationId xmlns:a16="http://schemas.microsoft.com/office/drawing/2014/main" id="{106578D1-6BFC-8898-53CF-5D3A9C69B361}"/>
                </a:ext>
              </a:extLst>
            </p:cNvPr>
            <p:cNvSpPr/>
            <p:nvPr/>
          </p:nvSpPr>
          <p:spPr>
            <a:xfrm rot="14320397">
              <a:off x="201045" y="795796"/>
              <a:ext cx="2445702" cy="1845239"/>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8" name="Google Shape;202;p5">
              <a:extLst>
                <a:ext uri="{FF2B5EF4-FFF2-40B4-BE49-F238E27FC236}">
                  <a16:creationId xmlns:a16="http://schemas.microsoft.com/office/drawing/2014/main" id="{DDEEFEA1-D7FD-05AC-AEA9-E61203ABBA85}"/>
                </a:ext>
              </a:extLst>
            </p:cNvPr>
            <p:cNvSpPr/>
            <p:nvPr/>
          </p:nvSpPr>
          <p:spPr>
            <a:xfrm rot="7218535">
              <a:off x="1536440" y="1589497"/>
              <a:ext cx="2445702" cy="1845242"/>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34" name="Google Shape;203;p5">
              <a:extLst>
                <a:ext uri="{FF2B5EF4-FFF2-40B4-BE49-F238E27FC236}">
                  <a16:creationId xmlns:a16="http://schemas.microsoft.com/office/drawing/2014/main" id="{722DFC79-2A06-9941-2653-742C7FBCD589}"/>
                </a:ext>
              </a:extLst>
            </p:cNvPr>
            <p:cNvSpPr txBox="1"/>
            <p:nvPr/>
          </p:nvSpPr>
          <p:spPr>
            <a:xfrm rot="3053013">
              <a:off x="2402745" y="619589"/>
              <a:ext cx="1910258"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5" name="Google Shape;204;p5">
              <a:extLst>
                <a:ext uri="{FF2B5EF4-FFF2-40B4-BE49-F238E27FC236}">
                  <a16:creationId xmlns:a16="http://schemas.microsoft.com/office/drawing/2014/main" id="{A823BE63-3DC6-1280-C239-6E4B352AAAE3}"/>
                </a:ext>
              </a:extLst>
            </p:cNvPr>
            <p:cNvSpPr txBox="1"/>
            <p:nvPr/>
          </p:nvSpPr>
          <p:spPr>
            <a:xfrm rot="17014277">
              <a:off x="142859" y="894880"/>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36" name="Google Shape;205;p5">
              <a:extLst>
                <a:ext uri="{FF2B5EF4-FFF2-40B4-BE49-F238E27FC236}">
                  <a16:creationId xmlns:a16="http://schemas.microsoft.com/office/drawing/2014/main" id="{1685B862-7E03-049F-237C-3FC0FF887BCA}"/>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800" b="1" i="0" u="none" strike="noStrike" kern="0" cap="none" spc="-10" normalizeH="0" baseline="0" noProof="0" dirty="0">
                  <a:ln>
                    <a:noFill/>
                  </a:ln>
                  <a:solidFill>
                    <a:srgbClr val="1D1D1D"/>
                  </a:solidFill>
                  <a:effectLst/>
                  <a:uLnTx/>
                  <a:uFillTx/>
                  <a:latin typeface="Segoe UI" pitchFamily="34" charset="0"/>
                  <a:ea typeface="Lato"/>
                  <a:cs typeface="Lato"/>
                  <a:sym typeface="Lato"/>
                </a:rPr>
                <a:t>T</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40" name="Google Shape;61;p3">
            <a:extLst>
              <a:ext uri="{FF2B5EF4-FFF2-40B4-BE49-F238E27FC236}">
                <a16:creationId xmlns:a16="http://schemas.microsoft.com/office/drawing/2014/main" id="{CBD7CBB5-0449-1280-E426-E3A3A4A914D2}"/>
              </a:ext>
            </a:extLst>
          </p:cNvPr>
          <p:cNvSpPr txBox="1"/>
          <p:nvPr/>
        </p:nvSpPr>
        <p:spPr>
          <a:xfrm>
            <a:off x="8590172" y="3923750"/>
            <a:ext cx="2231345"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CLICK SCORE </a:t>
            </a:r>
            <a:endParaRPr kumimoji="0" lang="en-US" sz="1200" b="1" i="0" u="none" strike="noStrike" kern="0" cap="none" spc="-10" normalizeH="0" baseline="0" noProof="0" dirty="0">
              <a:ln>
                <a:noFill/>
              </a:ln>
              <a:solidFill>
                <a:srgbClr val="1D1D1D"/>
              </a:solidFill>
              <a:effectLst/>
              <a:uLnTx/>
              <a:uFillTx/>
              <a:latin typeface="Segoe UI" pitchFamily="34" charset="0"/>
              <a:ea typeface="+mn-ea"/>
              <a:cs typeface="Arial"/>
              <a:sym typeface="Arial"/>
            </a:endParaRPr>
          </a:p>
        </p:txBody>
      </p:sp>
      <p:sp>
        <p:nvSpPr>
          <p:cNvPr id="42" name="TextBox 41">
            <a:extLst>
              <a:ext uri="{FF2B5EF4-FFF2-40B4-BE49-F238E27FC236}">
                <a16:creationId xmlns:a16="http://schemas.microsoft.com/office/drawing/2014/main" id="{30AD706E-C770-84CF-6446-2B533771F2CD}"/>
              </a:ext>
            </a:extLst>
          </p:cNvPr>
          <p:cNvSpPr txBox="1"/>
          <p:nvPr/>
        </p:nvSpPr>
        <p:spPr>
          <a:xfrm>
            <a:off x="9041063" y="6335701"/>
            <a:ext cx="2233075" cy="230832"/>
          </a:xfrm>
          <a:prstGeom prst="rect">
            <a:avLst/>
          </a:prstGeom>
          <a:noFill/>
        </p:spPr>
        <p:txBody>
          <a:bodyPr wrap="square" lIns="91440" tIns="45720" rIns="91440" bIns="45720">
            <a:spAutoFit/>
          </a:bodyPr>
          <a:lstStyle/>
          <a:p>
            <a:pPr algn="ctr" rtl="0">
              <a:defRPr/>
            </a:pPr>
            <a:r>
              <a:rPr lang="en-US" sz="900" i="1" kern="1200" spc="-10" dirty="0">
                <a:solidFill>
                  <a:srgbClr val="1D1D1D">
                    <a:lumMod val="85000"/>
                    <a:lumOff val="15000"/>
                  </a:srgbClr>
                </a:solidFill>
                <a:latin typeface="Arial" pitchFamily="34" charset="0"/>
                <a:ea typeface="Calibri" panose="020F0502020204030204" pitchFamily="34" charset="0"/>
                <a:cs typeface="Calibri" panose="020F0502020204030204" pitchFamily="34" charset="0"/>
                <a:sym typeface="Arial"/>
              </a:rPr>
              <a:t>Medium forecast of value delivery</a:t>
            </a:r>
          </a:p>
        </p:txBody>
      </p:sp>
      <p:sp>
        <p:nvSpPr>
          <p:cNvPr id="43" name="TextBox 42">
            <a:extLst>
              <a:ext uri="{FF2B5EF4-FFF2-40B4-BE49-F238E27FC236}">
                <a16:creationId xmlns:a16="http://schemas.microsoft.com/office/drawing/2014/main" id="{EFADE3E6-ED6D-BF41-C760-AC6F2A88EC01}"/>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4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F0FE2E3E-FEA2-413E-B1CE-D7FC984A367E}" type="slidenum">
              <a:t>14</a:t>
            </a:fld>
            <a:endParaRPr lang="en-US"/>
          </a:p>
        </p:txBody>
      </p:sp>
    </p:spTree>
    <p:extLst>
      <p:ext uri="{BB962C8B-B14F-4D97-AF65-F5344CB8AC3E}">
        <p14:creationId xmlns:p14="http://schemas.microsoft.com/office/powerpoint/2010/main" val="967760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97AFA-D7ED-B4CB-2CF5-272A271CBD19}"/>
            </a:ext>
          </a:extLst>
        </p:cNvPr>
        <p:cNvGrpSpPr/>
        <p:nvPr/>
      </p:nvGrpSpPr>
      <p:grpSpPr>
        <a:xfrm>
          <a:off x="0" y="0"/>
          <a:ext cx="0" cy="0"/>
          <a:chOff x="0" y="0"/>
          <a:chExt cx="0" cy="0"/>
        </a:xfrm>
      </p:grpSpPr>
      <p:sp>
        <p:nvSpPr>
          <p:cNvPr id="19" name="Google Shape;103;p3">
            <a:extLst>
              <a:ext uri="{FF2B5EF4-FFF2-40B4-BE49-F238E27FC236}">
                <a16:creationId xmlns:a16="http://schemas.microsoft.com/office/drawing/2014/main" id="{71359684-E5A4-06CC-B890-5F639379CF4E}"/>
              </a:ext>
            </a:extLst>
          </p:cNvPr>
          <p:cNvSpPr/>
          <p:nvPr/>
        </p:nvSpPr>
        <p:spPr>
          <a:xfrm>
            <a:off x="6096000" y="3749423"/>
            <a:ext cx="3608304" cy="2508959"/>
          </a:xfrm>
          <a:prstGeom prst="roundRect">
            <a:avLst>
              <a:gd name="adj" fmla="val 4596"/>
            </a:avLst>
          </a:prstGeom>
          <a:solidFill>
            <a:srgbClr val="00C27A"/>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solidFill>
                  <a:srgbClr val="FFFFFF"/>
                </a:solidFill>
              </a:defRPr>
            </a:pPr>
            <a:endParaRPr kumimoji="0" sz="2400" b="0" i="0" u="none" strike="noStrike" kern="0" cap="none" spc="-10" normalizeH="0" baseline="0" noProof="0" dirty="0">
              <a:ln>
                <a:noFill/>
              </a:ln>
              <a:solidFill>
                <a:srgbClr val="FFFFFF"/>
              </a:solidFill>
              <a:effectLst/>
              <a:uLnTx/>
              <a:uFillTx/>
              <a:latin typeface="Arial" pitchFamily="34" charset="0"/>
              <a:ea typeface="Lato"/>
              <a:cs typeface="Lato"/>
              <a:sym typeface="Lato"/>
            </a:endParaRPr>
          </a:p>
        </p:txBody>
      </p:sp>
      <p:graphicFrame>
        <p:nvGraphicFramePr>
          <p:cNvPr id="4" name="Object 3" hidden="1">
            <a:extLst>
              <a:ext uri="{FF2B5EF4-FFF2-40B4-BE49-F238E27FC236}">
                <a16:creationId xmlns:a16="http://schemas.microsoft.com/office/drawing/2014/main" id="{07CC0D1A-9994-EEDF-C62B-8D3C81B9B21B}"/>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07CC0D1A-9994-EEDF-C62B-8D3C81B9B21B}"/>
                          </a:ext>
                        </a:extLst>
                      </p:cNvPr>
                      <p:cNvPicPr/>
                      <p:nvPr/>
                    </p:nvPicPr>
                    <p:blipFill>
                      <a:blip r:embed="rId5">
                        <a:duotone>
                          <a:srgbClr val="765FFF"/>
                          <a:srgbClr val="FFFFFF"/>
                        </a:duotone>
                      </a:blip>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3A1BE08-57B8-FB23-B2BA-2270E552BB34}"/>
              </a:ext>
            </a:extLst>
          </p:cNvPr>
          <p:cNvSpPr>
            <a:spLocks noGrp="1"/>
          </p:cNvSpPr>
          <p:nvPr>
            <p:ph type="title" sz="quarter"/>
          </p:nvPr>
        </p:nvSpPr>
        <p:spPr/>
        <p:txBody>
          <a:bodyPr>
            <a:normAutofit lnSpcReduction="10000"/>
          </a:bodyPr>
          <a:lstStyle/>
          <a:p>
            <a:r>
              <a:rPr lang="en-US" dirty="0">
                <a:latin typeface="+mn-lt"/>
              </a:rPr>
              <a:t>CXO </a:t>
            </a:r>
            <a:r>
              <a:rPr lang="en-US" dirty="0">
                <a:solidFill>
                  <a:srgbClr val="765FFF"/>
                </a:solidFill>
                <a:latin typeface="+mn-lt"/>
              </a:rPr>
              <a:t>Value Forecast</a:t>
            </a:r>
          </a:p>
        </p:txBody>
      </p:sp>
      <p:sp>
        <p:nvSpPr>
          <p:cNvPr id="49" name="Google Shape;128;p4">
            <a:extLst>
              <a:ext uri="{FF2B5EF4-FFF2-40B4-BE49-F238E27FC236}">
                <a16:creationId xmlns:a16="http://schemas.microsoft.com/office/drawing/2014/main" id="{A1FBD501-DA19-421E-9CDE-4C4E46713695}"/>
              </a:ext>
            </a:extLst>
          </p:cNvPr>
          <p:cNvSpPr/>
          <p:nvPr/>
        </p:nvSpPr>
        <p:spPr>
          <a:xfrm>
            <a:off x="4251854" y="899412"/>
            <a:ext cx="7564753" cy="5428685"/>
          </a:xfrm>
          <a:prstGeom prst="roundRect">
            <a:avLst>
              <a:gd name="adj" fmla="val 267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0" name="Google Shape;136;p4">
            <a:extLst>
              <a:ext uri="{FF2B5EF4-FFF2-40B4-BE49-F238E27FC236}">
                <a16:creationId xmlns:a16="http://schemas.microsoft.com/office/drawing/2014/main" id="{4326B3D7-110E-402F-8C61-07AF9708C5ED}"/>
              </a:ext>
            </a:extLst>
          </p:cNvPr>
          <p:cNvSpPr>
            <a:spLocks noGrp="1"/>
          </p:cNvSpPr>
          <p:nvPr>
            <p:ph idx="1"/>
          </p:nvPr>
        </p:nvSpPr>
        <p:spPr>
          <a:xfrm>
            <a:off x="4482013" y="1114983"/>
            <a:ext cx="7155041" cy="646311"/>
          </a:xfrm>
          <a:prstGeom prst="rect">
            <a:avLst/>
          </a:prstGeom>
          <a:noFill/>
          <a:ln>
            <a:noFill/>
          </a:ln>
        </p:spPr>
        <p:txBody>
          <a:bodyPr spcFirstLastPara="1" wrap="square" lIns="22850" tIns="22850" rIns="22850" bIns="22850" anchor="t"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Lato"/>
                <a:cs typeface="Lato"/>
                <a:sym typeface="Lato"/>
              </a:rPr>
              <a:t>WHAT’S THE PIVOTAL WORK?</a:t>
            </a:r>
          </a:p>
          <a:p>
            <a:pPr marL="142875" marR="0" lvl="0" indent="-142875" algn="l" defTabSz="457200" rtl="0" eaLnBrk="1" fontAlgn="auto" latinLnBrk="0" hangingPunct="1">
              <a:lnSpc>
                <a:spcPct val="100000"/>
              </a:lnSpc>
              <a:spcBef>
                <a:spcPts val="0"/>
              </a:spcBef>
              <a:spcAft>
                <a:spcPts val="0"/>
              </a:spcAft>
              <a:buBlip>
                <a:blip r:embed="rId6"/>
              </a:buBlip>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Translate growth ambitions into organic and inorganic detailed execution plans + Build Board alignment</a:t>
            </a:r>
          </a:p>
          <a:p>
            <a:pPr marL="142875" marR="0" lvl="0" indent="-142875" algn="l" defTabSz="457200" rtl="0" eaLnBrk="1" fontAlgn="auto" latinLnBrk="0" hangingPunct="1">
              <a:lnSpc>
                <a:spcPct val="100000"/>
              </a:lnSpc>
              <a:spcBef>
                <a:spcPts val="0"/>
              </a:spcBef>
              <a:spcAft>
                <a:spcPts val="0"/>
              </a:spcAft>
              <a:buBlip>
                <a:blip r:embed="rId6"/>
              </a:buBlip>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Build new organizational capabilities to deliver growth &amp; decarbonization aspirations </a:t>
            </a:r>
          </a:p>
          <a:p>
            <a:pPr marL="142875" marR="0" lvl="0" indent="-142875" algn="l" defTabSz="457200" rtl="0" eaLnBrk="1" fontAlgn="auto" latinLnBrk="0" hangingPunct="1">
              <a:lnSpc>
                <a:spcPct val="100000"/>
              </a:lnSpc>
              <a:spcBef>
                <a:spcPts val="0"/>
              </a:spcBef>
              <a:spcAft>
                <a:spcPts val="0"/>
              </a:spcAft>
              <a:buBlip>
                <a:blip r:embed="rId6"/>
              </a:buBlip>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Strengthen Operating Model and culture of accountability </a:t>
            </a:r>
          </a:p>
        </p:txBody>
      </p:sp>
      <p:sp>
        <p:nvSpPr>
          <p:cNvPr id="78" name="Google Shape;136;p4">
            <a:extLst>
              <a:ext uri="{FF2B5EF4-FFF2-40B4-BE49-F238E27FC236}">
                <a16:creationId xmlns:a16="http://schemas.microsoft.com/office/drawing/2014/main" id="{B761D8A5-4373-4FD7-8454-3F14B32CDC74}"/>
              </a:ext>
            </a:extLst>
          </p:cNvPr>
          <p:cNvSpPr txBox="1"/>
          <p:nvPr/>
        </p:nvSpPr>
        <p:spPr>
          <a:xfrm>
            <a:off x="4445890" y="4324558"/>
            <a:ext cx="7208789" cy="1708140"/>
          </a:xfrm>
          <a:prstGeom prst="rect">
            <a:avLst/>
          </a:prstGeom>
          <a:noFill/>
          <a:ln>
            <a:noFill/>
          </a:ln>
        </p:spPr>
        <p:txBody>
          <a:bodyPr spcFirstLastPara="1" wrap="square" lIns="22850" tIns="22850" rIns="22850" bIns="22850" numCol="1" spcCol="180000" anchor="t" anchorCtr="0">
            <a:spAutoFit/>
          </a:bodyPr>
          <a:lstStyle/>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CXO has strong regional business experience with a solid operating track record. As a homegrown CEO and industry expert, he is well-regarded for his humility, empathy and ability to foster loyalty within the organization. Demonstrated learning agility in moving from operational to commercial roles, with support from strong mentor.</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Has created an Operating Model that positions him for success as Holdco CEO but needs a bi-focal focus on driving core performance and building future growth. This requires him to delegate responsibility while maintaining accountability to ensure effective execution and ensure balance between short-term performance and long-term expansion. </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Essential to have a more focused approach on fewer, prioritized strategic goals for greater impact. To do that, needs to enhance Board confidence by proactively detailing risk-aware investment &amp; growth opportunities</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Needs to complement his leadership team with global and M&amp;A experience to effectively communicate an exciting growth narrative and secure investor buy-in for deals and decarbonized products.</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900" b="0" i="0" u="none" strike="noStrike" kern="0" cap="none" spc="-10" normalizeH="0" baseline="0" noProof="0" dirty="0">
                <a:ln>
                  <a:noFill/>
                </a:ln>
                <a:solidFill>
                  <a:srgbClr val="1D1D1D"/>
                </a:solidFill>
                <a:effectLst/>
                <a:uLnTx/>
                <a:uFillTx/>
                <a:latin typeface="Arial" pitchFamily="34" charset="0"/>
                <a:ea typeface="+mn-ea"/>
                <a:cs typeface="Calibri" panose="020F0502020204030204" pitchFamily="34" charset="0"/>
                <a:sym typeface="Arial"/>
              </a:rPr>
              <a:t>May be perceived as "too nice," with a high affiliation style that can lead to avoidance of conflict and difficult conversations, particularly when needing to hold people to account for performance or making tough people decisions. </a:t>
            </a:r>
          </a:p>
        </p:txBody>
      </p:sp>
      <p:sp>
        <p:nvSpPr>
          <p:cNvPr id="33" name="Google Shape;136;p4">
            <a:extLst>
              <a:ext uri="{FF2B5EF4-FFF2-40B4-BE49-F238E27FC236}">
                <a16:creationId xmlns:a16="http://schemas.microsoft.com/office/drawing/2014/main" id="{8B5B5338-9481-4189-B7B4-BAFB144DBBFF}"/>
              </a:ext>
            </a:extLst>
          </p:cNvPr>
          <p:cNvSpPr txBox="1"/>
          <p:nvPr/>
        </p:nvSpPr>
        <p:spPr>
          <a:xfrm>
            <a:off x="4443401" y="2282167"/>
            <a:ext cx="7203208" cy="1154142"/>
          </a:xfrm>
          <a:prstGeom prst="rect">
            <a:avLst/>
          </a:prstGeom>
          <a:noFill/>
          <a:ln>
            <a:noFill/>
          </a:ln>
        </p:spPr>
        <p:txBody>
          <a:bodyPr spcFirstLastPara="1" wrap="square" lIns="22850" tIns="22850" rIns="22850" bIns="22850" numCol="1" spcCol="180000" anchor="t" anchorCtr="0">
            <a:spAutoFit/>
          </a:bodyPr>
          <a:lstStyle/>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rPr>
              <a:t>The current mandate is challenging due to lack of detail and stakeholder alignment in the new growth initiatives</a:t>
            </a:r>
            <a:r>
              <a:rPr lang="en-US" sz="900" kern="0" spc="-10" dirty="0">
                <a:solidFill>
                  <a:srgbClr val="1D1D1D"/>
                </a:solidFill>
                <a:latin typeface="Arial" pitchFamily="34" charset="0"/>
                <a:ea typeface="Lato"/>
                <a:cs typeface="Calibri"/>
                <a:sym typeface="Arial"/>
              </a:rPr>
              <a:t>.</a:t>
            </a:r>
            <a:endPar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endParaRP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rPr>
              <a:t>Role design supports the mandate, but capability gaps in growth areas create a significant risk, both in the organization and leadership.</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rPr>
              <a:t>Operating model currently seems to prioritize functional needs over BU performance delivery, limiting effectiveness.</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rPr>
              <a:t>The Senior Leadership Team has some gaps (CEO BU </a:t>
            </a:r>
            <a:r>
              <a:rPr lang="en-US" sz="900" kern="0" spc="-10" dirty="0">
                <a:solidFill>
                  <a:srgbClr val="1D1D1D"/>
                </a:solidFill>
                <a:latin typeface="Arial" pitchFamily="34" charset="0"/>
                <a:ea typeface="Lato"/>
                <a:cs typeface="Calibri"/>
                <a:sym typeface="Arial"/>
              </a:rPr>
              <a:t>1)</a:t>
            </a:r>
            <a:r>
              <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rPr>
              <a:t>. This requires him to step into operational details. </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rPr>
              <a:t>In addition, there are insufficient capabilities in critical areas: M&amp;A, Corporate Finance, Investor Relations, Operations, S&amp;OP, Procurement, Sales, and BU Financial Controllers.</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rPr>
              <a:t>Existing culture of "business as usual" is resistant to change which creates siloed behavior and low accountability across levels.</a:t>
            </a:r>
          </a:p>
          <a:p>
            <a:pPr marL="142875" marR="0" lvl="0" indent="-142875"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Lato"/>
                <a:cs typeface="Calibri"/>
                <a:sym typeface="Arial"/>
              </a:rPr>
              <a:t>Need to improve external communication to effectively promote the growth story and attract investors.</a:t>
            </a:r>
          </a:p>
        </p:txBody>
      </p:sp>
      <p:cxnSp>
        <p:nvCxnSpPr>
          <p:cNvPr id="5" name="Google Shape;306;p6">
            <a:extLst>
              <a:ext uri="{FF2B5EF4-FFF2-40B4-BE49-F238E27FC236}">
                <a16:creationId xmlns:a16="http://schemas.microsoft.com/office/drawing/2014/main" id="{BC0311CE-E753-CB5C-4E33-29E6C86CB981}"/>
              </a:ext>
            </a:extLst>
          </p:cNvPr>
          <p:cNvCxnSpPr>
            <a:cxnSpLocks/>
          </p:cNvCxnSpPr>
          <p:nvPr/>
        </p:nvCxnSpPr>
        <p:spPr>
          <a:xfrm>
            <a:off x="4445890" y="1825072"/>
            <a:ext cx="7040880" cy="0"/>
          </a:xfrm>
          <a:prstGeom prst="straightConnector1">
            <a:avLst/>
          </a:prstGeom>
          <a:noFill/>
          <a:ln w="12700" cap="flat" cmpd="sng">
            <a:solidFill>
              <a:srgbClr val="F2F2F2"/>
            </a:solidFill>
            <a:prstDash val="solid"/>
            <a:miter lim="400000"/>
            <a:headEnd type="none" w="sm" len="sm"/>
            <a:tailEnd type="none" w="sm" len="sm"/>
          </a:ln>
        </p:spPr>
      </p:cxnSp>
      <p:cxnSp>
        <p:nvCxnSpPr>
          <p:cNvPr id="17" name="Google Shape;306;p6">
            <a:extLst>
              <a:ext uri="{FF2B5EF4-FFF2-40B4-BE49-F238E27FC236}">
                <a16:creationId xmlns:a16="http://schemas.microsoft.com/office/drawing/2014/main" id="{C1E2BEDB-33B6-F5F9-70C5-70EC8632A14D}"/>
              </a:ext>
            </a:extLst>
          </p:cNvPr>
          <p:cNvCxnSpPr>
            <a:cxnSpLocks/>
          </p:cNvCxnSpPr>
          <p:nvPr/>
        </p:nvCxnSpPr>
        <p:spPr>
          <a:xfrm>
            <a:off x="4443401" y="3749423"/>
            <a:ext cx="7040880" cy="0"/>
          </a:xfrm>
          <a:prstGeom prst="straightConnector1">
            <a:avLst/>
          </a:prstGeom>
          <a:noFill/>
          <a:ln w="12700" cap="flat" cmpd="sng">
            <a:solidFill>
              <a:srgbClr val="F2F2F2"/>
            </a:solidFill>
            <a:prstDash val="solid"/>
            <a:miter lim="400000"/>
            <a:headEnd type="none" w="sm" len="sm"/>
            <a:tailEnd type="none" w="sm" len="sm"/>
          </a:ln>
        </p:spPr>
      </p:cxnSp>
      <p:sp>
        <p:nvSpPr>
          <p:cNvPr id="22" name="TextBox 21">
            <a:extLst>
              <a:ext uri="{FF2B5EF4-FFF2-40B4-BE49-F238E27FC236}">
                <a16:creationId xmlns:a16="http://schemas.microsoft.com/office/drawing/2014/main" id="{95F10BAD-56E8-BAC3-520F-A33C11429464}"/>
              </a:ext>
            </a:extLst>
          </p:cNvPr>
          <p:cNvSpPr txBox="1"/>
          <p:nvPr/>
        </p:nvSpPr>
        <p:spPr>
          <a:xfrm>
            <a:off x="4499638" y="2025344"/>
            <a:ext cx="6570784" cy="18466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mn-ea"/>
                <a:cs typeface="+mn-cs"/>
                <a:sym typeface="Lato"/>
              </a:rPr>
              <a:t>IS THE ROLE/ORGANIZATION DESIGNED TO ENABLE VALUE DELIVERY?</a:t>
            </a:r>
          </a:p>
        </p:txBody>
      </p:sp>
      <p:sp>
        <p:nvSpPr>
          <p:cNvPr id="23" name="TextBox 22">
            <a:extLst>
              <a:ext uri="{FF2B5EF4-FFF2-40B4-BE49-F238E27FC236}">
                <a16:creationId xmlns:a16="http://schemas.microsoft.com/office/drawing/2014/main" id="{E628180F-DC60-A24B-B3B6-B2B89C245C25}"/>
              </a:ext>
            </a:extLst>
          </p:cNvPr>
          <p:cNvSpPr txBox="1"/>
          <p:nvPr/>
        </p:nvSpPr>
        <p:spPr>
          <a:xfrm>
            <a:off x="4499638" y="3944030"/>
            <a:ext cx="6570784" cy="184666"/>
          </a:xfrm>
          <a:prstGeom prst="rect">
            <a:avLst/>
          </a:prstGeom>
          <a:noFill/>
        </p:spPr>
        <p:txBody>
          <a:bodyPr wrap="square" lIns="0" tIns="0" rIns="0" bIns="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mn-ea"/>
                <a:cs typeface="+mn-cs"/>
                <a:sym typeface="Lato"/>
              </a:rPr>
              <a:t>TALENT</a:t>
            </a:r>
          </a:p>
        </p:txBody>
      </p:sp>
      <p:sp>
        <p:nvSpPr>
          <p:cNvPr id="6" name="Google Shape;103;p3">
            <a:extLst>
              <a:ext uri="{FF2B5EF4-FFF2-40B4-BE49-F238E27FC236}">
                <a16:creationId xmlns:a16="http://schemas.microsoft.com/office/drawing/2014/main" id="{56DD3E87-E0C3-EC99-4F50-E4D6327BDFC8}"/>
              </a:ext>
            </a:extLst>
          </p:cNvPr>
          <p:cNvSpPr/>
          <p:nvPr/>
        </p:nvSpPr>
        <p:spPr>
          <a:xfrm>
            <a:off x="537321" y="2550692"/>
            <a:ext cx="3608304" cy="2175790"/>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7" name="Google Shape;103;p3">
            <a:extLst>
              <a:ext uri="{FF2B5EF4-FFF2-40B4-BE49-F238E27FC236}">
                <a16:creationId xmlns:a16="http://schemas.microsoft.com/office/drawing/2014/main" id="{7F136997-97EE-452D-3778-907321F254CF}"/>
              </a:ext>
            </a:extLst>
          </p:cNvPr>
          <p:cNvSpPr/>
          <p:nvPr/>
        </p:nvSpPr>
        <p:spPr>
          <a:xfrm>
            <a:off x="537321" y="4790926"/>
            <a:ext cx="3608304" cy="1537171"/>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8" name="Google Shape;103;p3">
            <a:extLst>
              <a:ext uri="{FF2B5EF4-FFF2-40B4-BE49-F238E27FC236}">
                <a16:creationId xmlns:a16="http://schemas.microsoft.com/office/drawing/2014/main" id="{29ABF656-07BC-6591-8769-9C4564D70A14}"/>
              </a:ext>
            </a:extLst>
          </p:cNvPr>
          <p:cNvSpPr/>
          <p:nvPr/>
        </p:nvSpPr>
        <p:spPr>
          <a:xfrm>
            <a:off x="537321" y="899412"/>
            <a:ext cx="3608304" cy="1584711"/>
          </a:xfrm>
          <a:prstGeom prst="roundRect">
            <a:avLst>
              <a:gd name="adj" fmla="val 4596"/>
            </a:avLst>
          </a:prstGeom>
          <a:solidFill>
            <a:srgbClr val="F2F2F2"/>
          </a:solidFill>
          <a:ln w="9525" cap="flat" cmpd="sng">
            <a:solidFill>
              <a:srgbClr val="1D1D1D"/>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grpSp>
        <p:nvGrpSpPr>
          <p:cNvPr id="9" name="Google Shape;105;p3">
            <a:extLst>
              <a:ext uri="{FF2B5EF4-FFF2-40B4-BE49-F238E27FC236}">
                <a16:creationId xmlns:a16="http://schemas.microsoft.com/office/drawing/2014/main" id="{364F4E06-F682-580A-359C-E93F9683605F}"/>
              </a:ext>
            </a:extLst>
          </p:cNvPr>
          <p:cNvGrpSpPr>
            <a:grpSpLocks noChangeAspect="1"/>
          </p:cNvGrpSpPr>
          <p:nvPr/>
        </p:nvGrpSpPr>
        <p:grpSpPr>
          <a:xfrm>
            <a:off x="623253" y="1270266"/>
            <a:ext cx="1084298" cy="1152000"/>
            <a:chOff x="501280" y="-6468"/>
            <a:chExt cx="3521557" cy="3741440"/>
          </a:xfrm>
        </p:grpSpPr>
        <p:grpSp>
          <p:nvGrpSpPr>
            <p:cNvPr id="10" name="Google Shape;106;p3">
              <a:extLst>
                <a:ext uri="{FF2B5EF4-FFF2-40B4-BE49-F238E27FC236}">
                  <a16:creationId xmlns:a16="http://schemas.microsoft.com/office/drawing/2014/main" id="{1E7847EA-3AA5-B02A-CABA-0E2D15E13AC4}"/>
                </a:ext>
              </a:extLst>
            </p:cNvPr>
            <p:cNvGrpSpPr/>
            <p:nvPr/>
          </p:nvGrpSpPr>
          <p:grpSpPr>
            <a:xfrm>
              <a:off x="1060570" y="448533"/>
              <a:ext cx="2539764" cy="2539769"/>
              <a:chOff x="0" y="0"/>
              <a:chExt cx="2539762" cy="2539768"/>
            </a:xfrm>
          </p:grpSpPr>
          <p:sp>
            <p:nvSpPr>
              <p:cNvPr id="24" name="Google Shape;107;p3">
                <a:extLst>
                  <a:ext uri="{FF2B5EF4-FFF2-40B4-BE49-F238E27FC236}">
                    <a16:creationId xmlns:a16="http://schemas.microsoft.com/office/drawing/2014/main" id="{F920D668-9E25-0D6B-9599-B62380EEC6B0}"/>
                  </a:ext>
                </a:extLst>
              </p:cNvPr>
              <p:cNvSpPr/>
              <p:nvPr/>
            </p:nvSpPr>
            <p:spPr>
              <a:xfrm>
                <a:off x="0"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25" name="Google Shape;108;p3">
                <a:extLst>
                  <a:ext uri="{FF2B5EF4-FFF2-40B4-BE49-F238E27FC236}">
                    <a16:creationId xmlns:a16="http://schemas.microsoft.com/office/drawing/2014/main" id="{2F7054B7-3394-34A9-B65F-5CBD8C1357CA}"/>
                  </a:ext>
                </a:extLst>
              </p:cNvPr>
              <p:cNvSpPr txBox="1"/>
              <p:nvPr/>
            </p:nvSpPr>
            <p:spPr>
              <a:xfrm>
                <a:off x="275567" y="480774"/>
                <a:ext cx="2031837" cy="1157609"/>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kumimoji="0" lang="en-US" sz="2200" b="1" i="0" u="none" strike="noStrike" kern="0" cap="none" spc="-25" normalizeH="0" baseline="0" noProof="0" dirty="0">
                    <a:ln>
                      <a:noFill/>
                    </a:ln>
                    <a:solidFill>
                      <a:srgbClr val="1D1D1D"/>
                    </a:solidFill>
                    <a:effectLst/>
                    <a:uLnTx/>
                    <a:uFillTx/>
                    <a:latin typeface="Segoe UI" pitchFamily="34" charset="0"/>
                    <a:ea typeface="Lato"/>
                    <a:cs typeface="Lato"/>
                    <a:sym typeface="Lato"/>
                  </a:rPr>
                  <a:t>56</a:t>
                </a:r>
                <a:endParaRPr kumimoji="0" sz="22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6" name="Google Shape;109;p3">
                <a:extLst>
                  <a:ext uri="{FF2B5EF4-FFF2-40B4-BE49-F238E27FC236}">
                    <a16:creationId xmlns:a16="http://schemas.microsoft.com/office/drawing/2014/main" id="{60654A3D-C358-A0C3-9561-D79401B25595}"/>
                  </a:ext>
                </a:extLst>
              </p:cNvPr>
              <p:cNvSpPr/>
              <p:nvPr/>
            </p:nvSpPr>
            <p:spPr>
              <a:xfrm>
                <a:off x="112893" y="1517176"/>
                <a:ext cx="2393317" cy="49972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1" name="Google Shape;110;p3">
              <a:extLst>
                <a:ext uri="{FF2B5EF4-FFF2-40B4-BE49-F238E27FC236}">
                  <a16:creationId xmlns:a16="http://schemas.microsoft.com/office/drawing/2014/main" id="{DB077550-5FBA-00F7-D3CD-27855CE3FB3F}"/>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2" name="Google Shape;111;p3">
              <a:extLst>
                <a:ext uri="{FF2B5EF4-FFF2-40B4-BE49-F238E27FC236}">
                  <a16:creationId xmlns:a16="http://schemas.microsoft.com/office/drawing/2014/main" id="{661F24EF-C245-A784-C0F5-985DB72576D2}"/>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4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5" name="Google Shape;112;p3">
              <a:extLst>
                <a:ext uri="{FF2B5EF4-FFF2-40B4-BE49-F238E27FC236}">
                  <a16:creationId xmlns:a16="http://schemas.microsoft.com/office/drawing/2014/main" id="{D3611A7E-3E85-1FED-0827-DD87633BDF18}"/>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4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6" name="Google Shape;113;p3">
              <a:extLst>
                <a:ext uri="{FF2B5EF4-FFF2-40B4-BE49-F238E27FC236}">
                  <a16:creationId xmlns:a16="http://schemas.microsoft.com/office/drawing/2014/main" id="{C29AE6BE-6710-1B67-95FC-0F7E6DA44C57}"/>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10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8" name="Google Shape;114;p3">
              <a:extLst>
                <a:ext uri="{FF2B5EF4-FFF2-40B4-BE49-F238E27FC236}">
                  <a16:creationId xmlns:a16="http://schemas.microsoft.com/office/drawing/2014/main" id="{337669F1-8DCD-735F-08D6-CAC0CE22D697}"/>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10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0" name="Google Shape;115;p3">
              <a:extLst>
                <a:ext uri="{FF2B5EF4-FFF2-40B4-BE49-F238E27FC236}">
                  <a16:creationId xmlns:a16="http://schemas.microsoft.com/office/drawing/2014/main" id="{806D4817-7CD0-F869-19BF-5ACE348D4C21}"/>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10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27" name="Google Shape;121;p3">
            <a:extLst>
              <a:ext uri="{FF2B5EF4-FFF2-40B4-BE49-F238E27FC236}">
                <a16:creationId xmlns:a16="http://schemas.microsoft.com/office/drawing/2014/main" id="{85938C44-DC67-E5CC-197E-8279FBAA4F0B}"/>
              </a:ext>
            </a:extLst>
          </p:cNvPr>
          <p:cNvSpPr txBox="1"/>
          <p:nvPr/>
        </p:nvSpPr>
        <p:spPr>
          <a:xfrm>
            <a:off x="687345" y="977838"/>
            <a:ext cx="1105034"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b="1" spc="-25">
                <a:latin typeface="Segoe UI" pitchFamily="34" charset="0"/>
              </a:defRPr>
            </a:pPr>
            <a:r>
              <a:rPr kumimoji="0" lang="en-US" sz="1200" b="1" i="0" u="none" strike="noStrike" kern="0" cap="none" spc="-25" normalizeH="0" baseline="0" noProof="0" dirty="0">
                <a:ln>
                  <a:noFill/>
                </a:ln>
                <a:solidFill>
                  <a:srgbClr val="281A42"/>
                </a:solidFill>
                <a:effectLst/>
                <a:uLnTx/>
                <a:uFillTx/>
                <a:latin typeface="Segoe UI" pitchFamily="34" charset="0"/>
                <a:ea typeface="Lato"/>
                <a:cs typeface="Lato"/>
                <a:sym typeface="Lato"/>
              </a:rPr>
              <a:t>Click </a:t>
            </a:r>
            <a:r>
              <a:rPr kumimoji="0" lang="en-US" sz="1200" b="1" i="0" u="none" strike="noStrike" kern="0" cap="none" spc="-25" normalizeH="0" baseline="0" noProof="0" dirty="0">
                <a:ln>
                  <a:noFill/>
                </a:ln>
                <a:solidFill>
                  <a:srgbClr val="281A42"/>
                </a:solidFill>
                <a:effectLst/>
                <a:uLnTx/>
                <a:uFillTx/>
                <a:latin typeface="Segoe UI" pitchFamily="34" charset="0"/>
                <a:ea typeface="Lato Light"/>
                <a:cs typeface="Lato Light"/>
                <a:sym typeface="Lato Light"/>
              </a:rPr>
              <a:t>Score</a:t>
            </a:r>
            <a:endParaRPr kumimoji="0" lang="en-US" sz="1200" b="1" i="0" u="none" strike="noStrike" kern="0" cap="none" spc="-25" normalizeH="0" baseline="0" noProof="0" dirty="0">
              <a:ln>
                <a:noFill/>
              </a:ln>
              <a:solidFill>
                <a:srgbClr val="281A42"/>
              </a:solidFill>
              <a:effectLst/>
              <a:uLnTx/>
              <a:uFillTx/>
              <a:latin typeface="Segoe UI" pitchFamily="34" charset="0"/>
              <a:ea typeface="+mn-ea"/>
              <a:cs typeface="Arial"/>
              <a:sym typeface="Arial"/>
            </a:endParaRPr>
          </a:p>
        </p:txBody>
      </p:sp>
      <p:sp>
        <p:nvSpPr>
          <p:cNvPr id="28" name="Rectangle: Rounded Corners 27">
            <a:extLst>
              <a:ext uri="{FF2B5EF4-FFF2-40B4-BE49-F238E27FC236}">
                <a16:creationId xmlns:a16="http://schemas.microsoft.com/office/drawing/2014/main" id="{9FBE2876-A26A-5566-3461-171FED8946E8}"/>
              </a:ext>
            </a:extLst>
          </p:cNvPr>
          <p:cNvSpPr/>
          <p:nvPr/>
        </p:nvSpPr>
        <p:spPr>
          <a:xfrm>
            <a:off x="1350532" y="6449013"/>
            <a:ext cx="232562" cy="98899"/>
          </a:xfrm>
          <a:prstGeom prst="roundRect">
            <a:avLst/>
          </a:prstGeom>
          <a:solidFill>
            <a:srgbClr val="00C27A"/>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1D1D1D"/>
              </a:buClr>
              <a:buSzTx/>
              <a:buFontTx/>
              <a:buNone/>
              <a:tabLst/>
              <a:defRPr>
                <a:solidFill>
                  <a:srgbClr val="FFFFFF"/>
                </a:solidFill>
              </a:defRPr>
            </a:pPr>
            <a:r>
              <a:rPr kumimoji="0" lang="en-US" sz="400" b="0" i="0" u="none" strike="noStrike" kern="0" cap="none" spc="-10" normalizeH="0" baseline="0" noProof="0" dirty="0">
                <a:ln>
                  <a:noFill/>
                </a:ln>
                <a:solidFill>
                  <a:srgbClr val="FFFFFF"/>
                </a:solidFill>
                <a:effectLst/>
                <a:uLnTx/>
                <a:uFillTx/>
                <a:latin typeface="Arial" pitchFamily="34" charset="0"/>
                <a:ea typeface="+mn-ea"/>
                <a:cs typeface="+mn-cs"/>
                <a:sym typeface="Arial"/>
              </a:rPr>
              <a:t>70+</a:t>
            </a:r>
          </a:p>
        </p:txBody>
      </p:sp>
      <p:sp>
        <p:nvSpPr>
          <p:cNvPr id="29" name="Rectangle: Rounded Corners 28">
            <a:extLst>
              <a:ext uri="{FF2B5EF4-FFF2-40B4-BE49-F238E27FC236}">
                <a16:creationId xmlns:a16="http://schemas.microsoft.com/office/drawing/2014/main" id="{143A67E4-E5AE-9C59-5DBA-8EFB7F9EDA7E}"/>
              </a:ext>
            </a:extLst>
          </p:cNvPr>
          <p:cNvSpPr/>
          <p:nvPr/>
        </p:nvSpPr>
        <p:spPr>
          <a:xfrm>
            <a:off x="2224305" y="6449013"/>
            <a:ext cx="232562" cy="98899"/>
          </a:xfrm>
          <a:prstGeom prst="roundRect">
            <a:avLst/>
          </a:prstGeom>
          <a:solidFill>
            <a:srgbClr val="FFB547"/>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1D1D1D"/>
              </a:buClr>
              <a:buSzTx/>
              <a:buFontTx/>
              <a:buNone/>
              <a:tabLst/>
              <a:defRPr/>
            </a:pPr>
            <a:r>
              <a:rPr kumimoji="0" lang="en-US" sz="400" b="0" i="0" u="none" strike="noStrike" kern="0" cap="none" spc="-10" normalizeH="0" baseline="0" noProof="0" dirty="0">
                <a:ln>
                  <a:noFill/>
                </a:ln>
                <a:solidFill>
                  <a:srgbClr val="1D1D1D"/>
                </a:solidFill>
                <a:effectLst/>
                <a:uLnTx/>
                <a:uFillTx/>
                <a:latin typeface="Arial" pitchFamily="34" charset="0"/>
                <a:ea typeface="+mn-ea"/>
                <a:cs typeface="+mn-cs"/>
                <a:sym typeface="Arial"/>
              </a:rPr>
              <a:t>56-70</a:t>
            </a:r>
          </a:p>
        </p:txBody>
      </p:sp>
      <p:sp>
        <p:nvSpPr>
          <p:cNvPr id="31" name="Rectangle: Rounded Corners 30">
            <a:extLst>
              <a:ext uri="{FF2B5EF4-FFF2-40B4-BE49-F238E27FC236}">
                <a16:creationId xmlns:a16="http://schemas.microsoft.com/office/drawing/2014/main" id="{BCCFA9F7-A8E3-A508-9F89-89ED48B584AF}"/>
              </a:ext>
            </a:extLst>
          </p:cNvPr>
          <p:cNvSpPr/>
          <p:nvPr/>
        </p:nvSpPr>
        <p:spPr>
          <a:xfrm>
            <a:off x="3228484" y="6449013"/>
            <a:ext cx="232562" cy="98899"/>
          </a:xfrm>
          <a:prstGeom prst="roundRect">
            <a:avLst/>
          </a:prstGeom>
          <a:solidFill>
            <a:srgbClr val="765FFF"/>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marL="0" marR="0" lvl="0" indent="0" algn="ctr" defTabSz="457200" rtl="0" eaLnBrk="1" fontAlgn="auto" latinLnBrk="0" hangingPunct="1">
              <a:lnSpc>
                <a:spcPct val="100000"/>
              </a:lnSpc>
              <a:spcBef>
                <a:spcPts val="0"/>
              </a:spcBef>
              <a:spcAft>
                <a:spcPts val="0"/>
              </a:spcAft>
              <a:buClr>
                <a:srgbClr val="1D1D1D"/>
              </a:buClr>
              <a:buSzTx/>
              <a:buFontTx/>
              <a:buNone/>
              <a:tabLst/>
              <a:defRPr>
                <a:solidFill>
                  <a:srgbClr val="FFFFFF"/>
                </a:solidFill>
              </a:defRPr>
            </a:pPr>
            <a:r>
              <a:rPr kumimoji="0" lang="en-US" sz="400" b="0" i="0" u="none" strike="noStrike" kern="0" cap="none" spc="-10" normalizeH="0" baseline="0" noProof="0" dirty="0">
                <a:ln>
                  <a:noFill/>
                </a:ln>
                <a:solidFill>
                  <a:srgbClr val="FFFFFF"/>
                </a:solidFill>
                <a:effectLst/>
                <a:uLnTx/>
                <a:uFillTx/>
                <a:latin typeface="Arial" pitchFamily="34" charset="0"/>
                <a:ea typeface="+mn-ea"/>
                <a:cs typeface="+mn-cs"/>
                <a:sym typeface="Arial"/>
              </a:rPr>
              <a:t>&lt;55</a:t>
            </a:r>
          </a:p>
        </p:txBody>
      </p:sp>
      <p:sp>
        <p:nvSpPr>
          <p:cNvPr id="32" name="TextBox 31">
            <a:extLst>
              <a:ext uri="{FF2B5EF4-FFF2-40B4-BE49-F238E27FC236}">
                <a16:creationId xmlns:a16="http://schemas.microsoft.com/office/drawing/2014/main" id="{F46406C4-F77F-0102-2D46-8A50AE6BA3A9}"/>
              </a:ext>
            </a:extLst>
          </p:cNvPr>
          <p:cNvSpPr txBox="1"/>
          <p:nvPr/>
        </p:nvSpPr>
        <p:spPr>
          <a:xfrm>
            <a:off x="1559387" y="6398435"/>
            <a:ext cx="348172" cy="200055"/>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
                <a:srgbClr val="1D1D1D"/>
              </a:buClr>
              <a:buSzTx/>
              <a:buFontTx/>
              <a:buNone/>
              <a:tabLst/>
              <a:defRPr>
                <a:solidFill>
                  <a:srgbClr val="FFFFFF"/>
                </a:solidFill>
              </a:defRPr>
            </a:pPr>
            <a:r>
              <a:rPr kumimoji="0" lang="en-US" sz="700" b="0" i="0" u="none" strike="noStrike" kern="0" cap="none" spc="-10" normalizeH="0" baseline="0" noProof="0" dirty="0">
                <a:ln>
                  <a:noFill/>
                </a:ln>
                <a:solidFill>
                  <a:srgbClr val="FFFFFF"/>
                </a:solidFill>
                <a:effectLst/>
                <a:uLnTx/>
                <a:uFillTx/>
                <a:latin typeface="Arial" pitchFamily="34" charset="0"/>
                <a:ea typeface="+mn-ea"/>
                <a:cs typeface="Arial"/>
                <a:sym typeface="Arial"/>
              </a:rPr>
              <a:t>Low</a:t>
            </a:r>
          </a:p>
        </p:txBody>
      </p:sp>
      <p:sp>
        <p:nvSpPr>
          <p:cNvPr id="34" name="TextBox 33">
            <a:extLst>
              <a:ext uri="{FF2B5EF4-FFF2-40B4-BE49-F238E27FC236}">
                <a16:creationId xmlns:a16="http://schemas.microsoft.com/office/drawing/2014/main" id="{2738CC96-B5C5-B6A0-9AE7-F0DA8FF1CD5D}"/>
              </a:ext>
            </a:extLst>
          </p:cNvPr>
          <p:cNvSpPr txBox="1"/>
          <p:nvPr/>
        </p:nvSpPr>
        <p:spPr>
          <a:xfrm>
            <a:off x="2448225" y="6398435"/>
            <a:ext cx="575799" cy="200055"/>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
                <a:srgbClr val="1D1D1D"/>
              </a:buClr>
              <a:buSzTx/>
              <a:buFontTx/>
              <a:buNone/>
              <a:tabLst/>
              <a:defRPr/>
            </a:pPr>
            <a:r>
              <a:rPr kumimoji="0" lang="en-US" sz="700" b="0" i="0" u="none" strike="noStrike" kern="0" cap="none" spc="-10" normalizeH="0" baseline="0" noProof="0" dirty="0">
                <a:ln>
                  <a:noFill/>
                </a:ln>
                <a:solidFill>
                  <a:srgbClr val="1D1D1D"/>
                </a:solidFill>
                <a:effectLst/>
                <a:uLnTx/>
                <a:uFillTx/>
                <a:latin typeface="Arial" pitchFamily="34" charset="0"/>
                <a:ea typeface="+mn-ea"/>
                <a:cs typeface="Arial"/>
                <a:sym typeface="Arial"/>
              </a:rPr>
              <a:t>Moderate</a:t>
            </a:r>
          </a:p>
        </p:txBody>
      </p:sp>
      <p:sp>
        <p:nvSpPr>
          <p:cNvPr id="35" name="TextBox 34">
            <a:extLst>
              <a:ext uri="{FF2B5EF4-FFF2-40B4-BE49-F238E27FC236}">
                <a16:creationId xmlns:a16="http://schemas.microsoft.com/office/drawing/2014/main" id="{2DC75DB3-276B-6B56-DADB-E85608162CE6}"/>
              </a:ext>
            </a:extLst>
          </p:cNvPr>
          <p:cNvSpPr txBox="1"/>
          <p:nvPr/>
        </p:nvSpPr>
        <p:spPr>
          <a:xfrm>
            <a:off x="3457959" y="6398435"/>
            <a:ext cx="367408" cy="200055"/>
          </a:xfrm>
          <a:prstGeom prst="rect">
            <a:avLst/>
          </a:prstGeom>
          <a:noFill/>
        </p:spPr>
        <p:txBody>
          <a:bodyPr wrap="non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
                <a:srgbClr val="1D1D1D"/>
              </a:buClr>
              <a:buSzTx/>
              <a:buFontTx/>
              <a:buNone/>
              <a:tabLst/>
              <a:defRPr>
                <a:solidFill>
                  <a:srgbClr val="FFFFFF"/>
                </a:solidFill>
              </a:defRPr>
            </a:pPr>
            <a:r>
              <a:rPr kumimoji="0" lang="en-US" sz="700" b="0" i="0" u="none" strike="noStrike" kern="0" cap="none" spc="-10" normalizeH="0" baseline="0" noProof="0" dirty="0">
                <a:ln>
                  <a:noFill/>
                </a:ln>
                <a:solidFill>
                  <a:srgbClr val="FFFFFF"/>
                </a:solidFill>
                <a:effectLst/>
                <a:uLnTx/>
                <a:uFillTx/>
                <a:latin typeface="Arial" pitchFamily="34" charset="0"/>
                <a:ea typeface="+mn-ea"/>
                <a:cs typeface="Arial"/>
                <a:sym typeface="Arial"/>
              </a:rPr>
              <a:t>High</a:t>
            </a:r>
          </a:p>
        </p:txBody>
      </p:sp>
      <p:sp>
        <p:nvSpPr>
          <p:cNvPr id="36" name="TextBox 35">
            <a:extLst>
              <a:ext uri="{FF2B5EF4-FFF2-40B4-BE49-F238E27FC236}">
                <a16:creationId xmlns:a16="http://schemas.microsoft.com/office/drawing/2014/main" id="{C27DC7A3-7A38-697B-AD30-8187EC55DBA0}"/>
              </a:ext>
            </a:extLst>
          </p:cNvPr>
          <p:cNvSpPr txBox="1"/>
          <p:nvPr/>
        </p:nvSpPr>
        <p:spPr>
          <a:xfrm>
            <a:off x="537321" y="6398435"/>
            <a:ext cx="694800" cy="200055"/>
          </a:xfrm>
          <a:prstGeom prst="rect">
            <a:avLst/>
          </a:prstGeom>
          <a:noFill/>
        </p:spPr>
        <p:txBody>
          <a:bodyPr wrap="square" lIns="91440" tIns="45720" rIns="91440" bIns="45720" rtlCol="0">
            <a:spAutoFit/>
          </a:bodyPr>
          <a:lstStyle/>
          <a:p>
            <a:pPr marL="0" marR="0" lvl="0" indent="0" algn="l" defTabSz="457200" rtl="0" eaLnBrk="1" fontAlgn="auto" latinLnBrk="0" hangingPunct="1">
              <a:lnSpc>
                <a:spcPct val="100000"/>
              </a:lnSpc>
              <a:spcBef>
                <a:spcPts val="0"/>
              </a:spcBef>
              <a:spcAft>
                <a:spcPts val="0"/>
              </a:spcAft>
              <a:buClr>
                <a:srgbClr val="1D1D1D"/>
              </a:buClr>
              <a:buSzTx/>
              <a:buFontTx/>
              <a:buNone/>
              <a:tabLst/>
              <a:defRPr/>
            </a:pPr>
            <a:r>
              <a:rPr kumimoji="0" lang="en-US" sz="700" b="0" i="0" u="none" strike="noStrike" kern="0" cap="none" spc="-10" normalizeH="0" baseline="0" noProof="0" dirty="0">
                <a:ln>
                  <a:noFill/>
                </a:ln>
                <a:solidFill>
                  <a:srgbClr val="1D1D1D"/>
                </a:solidFill>
                <a:effectLst/>
                <a:uLnTx/>
                <a:uFillTx/>
                <a:latin typeface="Arial" pitchFamily="34" charset="0"/>
                <a:ea typeface="+mn-ea"/>
                <a:cs typeface="Arial"/>
                <a:sym typeface="Arial"/>
              </a:rPr>
              <a:t>Risk Level:</a:t>
            </a:r>
          </a:p>
        </p:txBody>
      </p:sp>
      <p:grpSp>
        <p:nvGrpSpPr>
          <p:cNvPr id="37" name="Group 36">
            <a:extLst>
              <a:ext uri="{FF2B5EF4-FFF2-40B4-BE49-F238E27FC236}">
                <a16:creationId xmlns:a16="http://schemas.microsoft.com/office/drawing/2014/main" id="{EE80EFE5-7F7B-ED97-1163-AF524E206698}"/>
              </a:ext>
            </a:extLst>
          </p:cNvPr>
          <p:cNvGrpSpPr/>
          <p:nvPr/>
        </p:nvGrpSpPr>
        <p:grpSpPr>
          <a:xfrm>
            <a:off x="1923108" y="1038809"/>
            <a:ext cx="2016499" cy="1542357"/>
            <a:chOff x="2851267" y="1598659"/>
            <a:chExt cx="1412157" cy="1522969"/>
          </a:xfrm>
        </p:grpSpPr>
        <p:graphicFrame>
          <p:nvGraphicFramePr>
            <p:cNvPr id="38" name="Chart 37">
              <a:extLst>
                <a:ext uri="{FF2B5EF4-FFF2-40B4-BE49-F238E27FC236}">
                  <a16:creationId xmlns:a16="http://schemas.microsoft.com/office/drawing/2014/main" id="{A72901AF-1D93-C270-EAAC-11147B3CC013}"/>
                </a:ext>
              </a:extLst>
            </p:cNvPr>
            <p:cNvGraphicFramePr/>
            <p:nvPr/>
          </p:nvGraphicFramePr>
          <p:xfrm>
            <a:off x="2851267" y="1598659"/>
            <a:ext cx="1412157" cy="1522969"/>
          </p:xfrm>
          <a:graphic>
            <a:graphicData uri="http://schemas.openxmlformats.org/drawingml/2006/chart">
              <c:chart xmlns:c="http://schemas.openxmlformats.org/drawingml/2006/chart" xmlns:r="http://schemas.openxmlformats.org/officeDocument/2006/relationships" r:id="rId7"/>
            </a:graphicData>
          </a:graphic>
        </p:graphicFrame>
        <p:sp>
          <p:nvSpPr>
            <p:cNvPr id="39" name="TextBox 38">
              <a:extLst>
                <a:ext uri="{FF2B5EF4-FFF2-40B4-BE49-F238E27FC236}">
                  <a16:creationId xmlns:a16="http://schemas.microsoft.com/office/drawing/2014/main" id="{53E1C582-D840-1AE5-4C57-197EE240BDC3}"/>
                </a:ext>
              </a:extLst>
            </p:cNvPr>
            <p:cNvSpPr txBox="1"/>
            <p:nvPr/>
          </p:nvSpPr>
          <p:spPr>
            <a:xfrm>
              <a:off x="2903870" y="1610393"/>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mn-ea"/>
                  <a:cs typeface="+mn-cs"/>
                </a:rPr>
                <a:t>Work</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 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0" name="TextBox 39">
              <a:extLst>
                <a:ext uri="{FF2B5EF4-FFF2-40B4-BE49-F238E27FC236}">
                  <a16:creationId xmlns:a16="http://schemas.microsoft.com/office/drawing/2014/main" id="{F9E04CE0-DD51-F7AE-A567-D7413781FB91}"/>
                </a:ext>
              </a:extLst>
            </p:cNvPr>
            <p:cNvSpPr txBox="1"/>
            <p:nvPr/>
          </p:nvSpPr>
          <p:spPr>
            <a:xfrm>
              <a:off x="2903870" y="2057148"/>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Role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1" name="TextBox 40">
              <a:extLst>
                <a:ext uri="{FF2B5EF4-FFF2-40B4-BE49-F238E27FC236}">
                  <a16:creationId xmlns:a16="http://schemas.microsoft.com/office/drawing/2014/main" id="{E054BCF1-94BD-BB5C-B5D4-DFB709108A8D}"/>
                </a:ext>
              </a:extLst>
            </p:cNvPr>
            <p:cNvSpPr txBox="1"/>
            <p:nvPr/>
          </p:nvSpPr>
          <p:spPr>
            <a:xfrm>
              <a:off x="2903870" y="2466645"/>
              <a:ext cx="943535"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Talent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pSp>
      <p:sp>
        <p:nvSpPr>
          <p:cNvPr id="42" name="Google Shape;121;p3">
            <a:extLst>
              <a:ext uri="{FF2B5EF4-FFF2-40B4-BE49-F238E27FC236}">
                <a16:creationId xmlns:a16="http://schemas.microsoft.com/office/drawing/2014/main" id="{C307E442-6AD8-C5C5-FA5E-596DD3912B96}"/>
              </a:ext>
            </a:extLst>
          </p:cNvPr>
          <p:cNvSpPr txBox="1"/>
          <p:nvPr/>
        </p:nvSpPr>
        <p:spPr>
          <a:xfrm>
            <a:off x="687344" y="2613627"/>
            <a:ext cx="1764759" cy="230812"/>
          </a:xfrm>
          <a:prstGeom prst="rect">
            <a:avLst/>
          </a:prstGeom>
          <a:noFill/>
          <a:ln>
            <a:noFill/>
          </a:ln>
        </p:spPr>
        <p:txBody>
          <a:bodyPr spcFirstLastPara="1" wrap="square" lIns="22850" tIns="22850" rIns="22850" bIns="2285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281A42"/>
                </a:solidFill>
                <a:effectLst/>
                <a:uLnTx/>
                <a:uFillTx/>
                <a:latin typeface="Segoe UI" pitchFamily="34" charset="0"/>
                <a:ea typeface="Calibri" panose="020F0502020204030204" pitchFamily="34" charset="0"/>
                <a:cs typeface="Calibri" panose="020F0502020204030204" pitchFamily="34" charset="0"/>
              </a:rPr>
              <a:t>JOBS TO BE DONE</a:t>
            </a:r>
          </a:p>
        </p:txBody>
      </p:sp>
      <p:sp>
        <p:nvSpPr>
          <p:cNvPr id="43" name="Google Shape;121;p3">
            <a:extLst>
              <a:ext uri="{FF2B5EF4-FFF2-40B4-BE49-F238E27FC236}">
                <a16:creationId xmlns:a16="http://schemas.microsoft.com/office/drawing/2014/main" id="{E0C7203C-045C-26A8-57A2-A091D7A52F21}"/>
              </a:ext>
            </a:extLst>
          </p:cNvPr>
          <p:cNvSpPr txBox="1"/>
          <p:nvPr/>
        </p:nvSpPr>
        <p:spPr>
          <a:xfrm>
            <a:off x="687345" y="4838890"/>
            <a:ext cx="1769522"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2400"/>
              <a:buFontTx/>
              <a:buNone/>
              <a:tabLst/>
              <a:defRPr/>
            </a:pPr>
            <a:r>
              <a:rPr kumimoji="0" lang="en-US" sz="1200" b="1" i="0" u="none" strike="noStrike" kern="0" cap="none" spc="-10" normalizeH="0" baseline="0" noProof="0" dirty="0">
                <a:ln>
                  <a:noFill/>
                </a:ln>
                <a:solidFill>
                  <a:srgbClr val="281A42"/>
                </a:solidFill>
                <a:effectLst/>
                <a:uLnTx/>
                <a:uFillTx/>
                <a:latin typeface="Segoe UI" pitchFamily="34" charset="0"/>
                <a:ea typeface="Lato"/>
                <a:cs typeface="Lato"/>
                <a:sym typeface="Lato"/>
              </a:rPr>
              <a:t>SUPERPOWERS</a:t>
            </a:r>
          </a:p>
        </p:txBody>
      </p:sp>
      <p:sp>
        <p:nvSpPr>
          <p:cNvPr id="44" name="TextBox 43">
            <a:extLst>
              <a:ext uri="{FF2B5EF4-FFF2-40B4-BE49-F238E27FC236}">
                <a16:creationId xmlns:a16="http://schemas.microsoft.com/office/drawing/2014/main" id="{00C8BE7F-9ACB-6662-642C-6E7FBBF8DD11}"/>
              </a:ext>
            </a:extLst>
          </p:cNvPr>
          <p:cNvSpPr txBox="1"/>
          <p:nvPr/>
        </p:nvSpPr>
        <p:spPr>
          <a:xfrm>
            <a:off x="1324741" y="5078796"/>
            <a:ext cx="2675993" cy="507831"/>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Inspirational leader with ability to excite new investors &amp; Board on growth agenda while sustaining operating results</a:t>
            </a:r>
            <a:endPar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45" name="TextBox 44">
            <a:extLst>
              <a:ext uri="{FF2B5EF4-FFF2-40B4-BE49-F238E27FC236}">
                <a16:creationId xmlns:a16="http://schemas.microsoft.com/office/drawing/2014/main" id="{A92E70A8-17C6-7C35-6481-50175F3A2406}"/>
              </a:ext>
            </a:extLst>
          </p:cNvPr>
          <p:cNvSpPr txBox="1"/>
          <p:nvPr/>
        </p:nvSpPr>
        <p:spPr>
          <a:xfrm>
            <a:off x="609542" y="5126216"/>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50%</a:t>
            </a:r>
          </a:p>
        </p:txBody>
      </p:sp>
      <p:sp>
        <p:nvSpPr>
          <p:cNvPr id="46" name="TextBox 45">
            <a:extLst>
              <a:ext uri="{FF2B5EF4-FFF2-40B4-BE49-F238E27FC236}">
                <a16:creationId xmlns:a16="http://schemas.microsoft.com/office/drawing/2014/main" id="{EA78E84A-D479-63B6-E9B3-E8140DFADB05}"/>
              </a:ext>
            </a:extLst>
          </p:cNvPr>
          <p:cNvSpPr txBox="1"/>
          <p:nvPr/>
        </p:nvSpPr>
        <p:spPr>
          <a:xfrm>
            <a:off x="1324741" y="5642214"/>
            <a:ext cx="2675993" cy="507831"/>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Decisive, mature leader to motivate leadership team and organization to deliver strategic pivots (think globally, JVs, M&amp;A)</a:t>
            </a:r>
          </a:p>
        </p:txBody>
      </p:sp>
      <p:sp>
        <p:nvSpPr>
          <p:cNvPr id="47" name="TextBox 46">
            <a:extLst>
              <a:ext uri="{FF2B5EF4-FFF2-40B4-BE49-F238E27FC236}">
                <a16:creationId xmlns:a16="http://schemas.microsoft.com/office/drawing/2014/main" id="{0BB8EBD8-B84E-FDC4-D40D-5961BBFF549D}"/>
              </a:ext>
            </a:extLst>
          </p:cNvPr>
          <p:cNvSpPr txBox="1"/>
          <p:nvPr/>
        </p:nvSpPr>
        <p:spPr>
          <a:xfrm>
            <a:off x="609542" y="5689634"/>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50%</a:t>
            </a:r>
          </a:p>
        </p:txBody>
      </p:sp>
      <p:grpSp>
        <p:nvGrpSpPr>
          <p:cNvPr id="48" name="Group 47">
            <a:extLst>
              <a:ext uri="{FF2B5EF4-FFF2-40B4-BE49-F238E27FC236}">
                <a16:creationId xmlns:a16="http://schemas.microsoft.com/office/drawing/2014/main" id="{97B8F5BC-4B74-85AD-8F4F-EC7C3EDC6DFD}"/>
              </a:ext>
            </a:extLst>
          </p:cNvPr>
          <p:cNvGrpSpPr/>
          <p:nvPr/>
        </p:nvGrpSpPr>
        <p:grpSpPr>
          <a:xfrm>
            <a:off x="609542" y="2896207"/>
            <a:ext cx="3391192" cy="338554"/>
            <a:chOff x="441367" y="2951878"/>
            <a:chExt cx="3391192" cy="338554"/>
          </a:xfrm>
        </p:grpSpPr>
        <p:sp>
          <p:nvSpPr>
            <p:cNvPr id="50" name="TextBox 49">
              <a:extLst>
                <a:ext uri="{FF2B5EF4-FFF2-40B4-BE49-F238E27FC236}">
                  <a16:creationId xmlns:a16="http://schemas.microsoft.com/office/drawing/2014/main" id="{A348EA66-CCCD-635D-EF36-9202C91AE21B}"/>
                </a:ext>
              </a:extLst>
            </p:cNvPr>
            <p:cNvSpPr txBox="1"/>
            <p:nvPr/>
          </p:nvSpPr>
          <p:spPr>
            <a:xfrm>
              <a:off x="1156566" y="3005739"/>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10" normalizeH="0" baseline="0" noProof="0" dirty="0">
                  <a:ln>
                    <a:noFill/>
                  </a:ln>
                  <a:solidFill>
                    <a:srgbClr val="1D1D1D"/>
                  </a:solidFill>
                  <a:effectLst/>
                  <a:uLnTx/>
                  <a:uFillTx/>
                  <a:latin typeface="Arial" pitchFamily="34" charset="0"/>
                  <a:ea typeface="+mn-ea"/>
                  <a:cs typeface="+mn-cs"/>
                </a:rPr>
                <a:t>Protect &amp; grow core while enhancing productivity</a:t>
              </a:r>
            </a:p>
          </p:txBody>
        </p:sp>
        <p:sp>
          <p:nvSpPr>
            <p:cNvPr id="51" name="TextBox 50">
              <a:extLst>
                <a:ext uri="{FF2B5EF4-FFF2-40B4-BE49-F238E27FC236}">
                  <a16:creationId xmlns:a16="http://schemas.microsoft.com/office/drawing/2014/main" id="{40E431C1-4119-C50C-B873-B2345F2BC64E}"/>
                </a:ext>
              </a:extLst>
            </p:cNvPr>
            <p:cNvSpPr txBox="1"/>
            <p:nvPr/>
          </p:nvSpPr>
          <p:spPr>
            <a:xfrm>
              <a:off x="441367" y="2951878"/>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40%</a:t>
              </a:r>
            </a:p>
          </p:txBody>
        </p:sp>
      </p:grpSp>
      <p:grpSp>
        <p:nvGrpSpPr>
          <p:cNvPr id="52" name="Group 51">
            <a:extLst>
              <a:ext uri="{FF2B5EF4-FFF2-40B4-BE49-F238E27FC236}">
                <a16:creationId xmlns:a16="http://schemas.microsoft.com/office/drawing/2014/main" id="{37B8A2B5-F6F9-645A-DA10-7881A53F2398}"/>
              </a:ext>
            </a:extLst>
          </p:cNvPr>
          <p:cNvGrpSpPr/>
          <p:nvPr/>
        </p:nvGrpSpPr>
        <p:grpSpPr>
          <a:xfrm>
            <a:off x="609542" y="3250348"/>
            <a:ext cx="3391192" cy="338554"/>
            <a:chOff x="441367" y="3321332"/>
            <a:chExt cx="3391192" cy="338554"/>
          </a:xfrm>
        </p:grpSpPr>
        <p:sp>
          <p:nvSpPr>
            <p:cNvPr id="53" name="TextBox 52">
              <a:extLst>
                <a:ext uri="{FF2B5EF4-FFF2-40B4-BE49-F238E27FC236}">
                  <a16:creationId xmlns:a16="http://schemas.microsoft.com/office/drawing/2014/main" id="{A07C3756-F5FC-A56B-ACBC-F2904B518660}"/>
                </a:ext>
              </a:extLst>
            </p:cNvPr>
            <p:cNvSpPr txBox="1"/>
            <p:nvPr/>
          </p:nvSpPr>
          <p:spPr>
            <a:xfrm>
              <a:off x="1156566" y="3375193"/>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a:rPr>
                <a:t>Diversify &amp; decarbonize product portfolio</a:t>
              </a:r>
              <a:endPar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endParaRPr>
            </a:p>
          </p:txBody>
        </p:sp>
        <p:sp>
          <p:nvSpPr>
            <p:cNvPr id="54" name="TextBox 53">
              <a:extLst>
                <a:ext uri="{FF2B5EF4-FFF2-40B4-BE49-F238E27FC236}">
                  <a16:creationId xmlns:a16="http://schemas.microsoft.com/office/drawing/2014/main" id="{7BDCAAE3-3F2F-0B19-5874-BC2F8A985F6F}"/>
                </a:ext>
              </a:extLst>
            </p:cNvPr>
            <p:cNvSpPr txBox="1"/>
            <p:nvPr/>
          </p:nvSpPr>
          <p:spPr>
            <a:xfrm>
              <a:off x="441367" y="3321332"/>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55" name="Group 54">
            <a:extLst>
              <a:ext uri="{FF2B5EF4-FFF2-40B4-BE49-F238E27FC236}">
                <a16:creationId xmlns:a16="http://schemas.microsoft.com/office/drawing/2014/main" id="{BCB23200-D487-A264-513C-0C3F3263F284}"/>
              </a:ext>
            </a:extLst>
          </p:cNvPr>
          <p:cNvGrpSpPr/>
          <p:nvPr/>
        </p:nvGrpSpPr>
        <p:grpSpPr>
          <a:xfrm>
            <a:off x="609542" y="3604489"/>
            <a:ext cx="3391192" cy="369332"/>
            <a:chOff x="441367" y="3703976"/>
            <a:chExt cx="3391192" cy="369332"/>
          </a:xfrm>
        </p:grpSpPr>
        <p:sp>
          <p:nvSpPr>
            <p:cNvPr id="56" name="TextBox 55">
              <a:extLst>
                <a:ext uri="{FF2B5EF4-FFF2-40B4-BE49-F238E27FC236}">
                  <a16:creationId xmlns:a16="http://schemas.microsoft.com/office/drawing/2014/main" id="{66CE0646-3A33-0546-EE3F-26F23DCA7C2C}"/>
                </a:ext>
              </a:extLst>
            </p:cNvPr>
            <p:cNvSpPr txBox="1"/>
            <p:nvPr/>
          </p:nvSpPr>
          <p:spPr>
            <a:xfrm>
              <a:off x="1156566" y="3703976"/>
              <a:ext cx="2675993" cy="3693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Build &amp; deliver investment case to drive </a:t>
              </a:r>
              <a:b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b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inorganic growth </a:t>
              </a:r>
            </a:p>
          </p:txBody>
        </p:sp>
        <p:sp>
          <p:nvSpPr>
            <p:cNvPr id="57" name="TextBox 56">
              <a:extLst>
                <a:ext uri="{FF2B5EF4-FFF2-40B4-BE49-F238E27FC236}">
                  <a16:creationId xmlns:a16="http://schemas.microsoft.com/office/drawing/2014/main" id="{F7933971-D15F-FAE3-9279-EB95E2B8D925}"/>
                </a:ext>
              </a:extLst>
            </p:cNvPr>
            <p:cNvSpPr txBox="1"/>
            <p:nvPr/>
          </p:nvSpPr>
          <p:spPr>
            <a:xfrm>
              <a:off x="441367" y="3719365"/>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58" name="Group 57">
            <a:extLst>
              <a:ext uri="{FF2B5EF4-FFF2-40B4-BE49-F238E27FC236}">
                <a16:creationId xmlns:a16="http://schemas.microsoft.com/office/drawing/2014/main" id="{B7F8DAA2-96E9-DA84-E44D-92D66D6378A5}"/>
              </a:ext>
            </a:extLst>
          </p:cNvPr>
          <p:cNvGrpSpPr/>
          <p:nvPr/>
        </p:nvGrpSpPr>
        <p:grpSpPr>
          <a:xfrm>
            <a:off x="609542" y="3989408"/>
            <a:ext cx="3391192" cy="338554"/>
            <a:chOff x="441367" y="4032533"/>
            <a:chExt cx="3391192" cy="338554"/>
          </a:xfrm>
        </p:grpSpPr>
        <p:sp>
          <p:nvSpPr>
            <p:cNvPr id="59" name="TextBox 58">
              <a:extLst>
                <a:ext uri="{FF2B5EF4-FFF2-40B4-BE49-F238E27FC236}">
                  <a16:creationId xmlns:a16="http://schemas.microsoft.com/office/drawing/2014/main" id="{626530B4-D2B1-F3C8-8DC4-1CBA193452E0}"/>
                </a:ext>
              </a:extLst>
            </p:cNvPr>
            <p:cNvSpPr txBox="1"/>
            <p:nvPr/>
          </p:nvSpPr>
          <p:spPr>
            <a:xfrm>
              <a:off x="1156566" y="4086394"/>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Expand geographic footprint</a:t>
              </a:r>
            </a:p>
          </p:txBody>
        </p:sp>
        <p:sp>
          <p:nvSpPr>
            <p:cNvPr id="60" name="TextBox 59">
              <a:extLst>
                <a:ext uri="{FF2B5EF4-FFF2-40B4-BE49-F238E27FC236}">
                  <a16:creationId xmlns:a16="http://schemas.microsoft.com/office/drawing/2014/main" id="{78FDD3C0-7A15-209F-8EA7-37B250B970A1}"/>
                </a:ext>
              </a:extLst>
            </p:cNvPr>
            <p:cNvSpPr txBox="1"/>
            <p:nvPr/>
          </p:nvSpPr>
          <p:spPr>
            <a:xfrm>
              <a:off x="441367" y="4032533"/>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grpSp>
        <p:nvGrpSpPr>
          <p:cNvPr id="61" name="Group 60">
            <a:extLst>
              <a:ext uri="{FF2B5EF4-FFF2-40B4-BE49-F238E27FC236}">
                <a16:creationId xmlns:a16="http://schemas.microsoft.com/office/drawing/2014/main" id="{A58B65E7-6A56-7931-8738-BFC5DC98B76F}"/>
              </a:ext>
            </a:extLst>
          </p:cNvPr>
          <p:cNvGrpSpPr/>
          <p:nvPr/>
        </p:nvGrpSpPr>
        <p:grpSpPr>
          <a:xfrm>
            <a:off x="609542" y="4343549"/>
            <a:ext cx="3391192" cy="338554"/>
            <a:chOff x="441367" y="4365042"/>
            <a:chExt cx="3391192" cy="338554"/>
          </a:xfrm>
        </p:grpSpPr>
        <p:sp>
          <p:nvSpPr>
            <p:cNvPr id="62" name="TextBox 61">
              <a:extLst>
                <a:ext uri="{FF2B5EF4-FFF2-40B4-BE49-F238E27FC236}">
                  <a16:creationId xmlns:a16="http://schemas.microsoft.com/office/drawing/2014/main" id="{55E5B6A1-B6EA-78F7-0E8E-33D181DB0B53}"/>
                </a:ext>
              </a:extLst>
            </p:cNvPr>
            <p:cNvSpPr txBox="1"/>
            <p:nvPr/>
          </p:nvSpPr>
          <p:spPr>
            <a:xfrm>
              <a:off x="1156566" y="4418903"/>
              <a:ext cx="2675993" cy="230832"/>
            </a:xfrm>
            <a:prstGeom prst="rect">
              <a:avLst/>
            </a:prstGeom>
            <a:noFill/>
          </p:spPr>
          <p:txBody>
            <a:bodyPr wrap="square" lIns="91440" tIns="45720" rIns="91440" bIns="4572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10" normalizeH="0" baseline="0" noProof="0" dirty="0">
                  <a:ln>
                    <a:noFill/>
                  </a:ln>
                  <a:solidFill>
                    <a:srgbClr val="1D1D1D">
                      <a:lumMod val="95000"/>
                      <a:lumOff val="5000"/>
                    </a:srgbClr>
                  </a:solidFill>
                  <a:effectLst/>
                  <a:uLnTx/>
                  <a:uFillTx/>
                  <a:latin typeface="Arial" pitchFamily="34" charset="0"/>
                  <a:ea typeface="Calibri" panose="020F0502020204030204" pitchFamily="34" charset="0"/>
                  <a:cs typeface="Calibri" panose="020F0502020204030204" pitchFamily="34" charset="0"/>
                </a:rPr>
                <a:t>Organization &amp; operating model</a:t>
              </a:r>
            </a:p>
          </p:txBody>
        </p:sp>
        <p:sp>
          <p:nvSpPr>
            <p:cNvPr id="63" name="TextBox 62">
              <a:extLst>
                <a:ext uri="{FF2B5EF4-FFF2-40B4-BE49-F238E27FC236}">
                  <a16:creationId xmlns:a16="http://schemas.microsoft.com/office/drawing/2014/main" id="{B6D8DAA2-5A40-CA56-E326-EDC5CDF7D05E}"/>
                </a:ext>
              </a:extLst>
            </p:cNvPr>
            <p:cNvSpPr txBox="1"/>
            <p:nvPr/>
          </p:nvSpPr>
          <p:spPr>
            <a:xfrm>
              <a:off x="441367" y="4365042"/>
              <a:ext cx="74148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10" normalizeH="0" baseline="0" noProof="0" dirty="0">
                  <a:ln>
                    <a:noFill/>
                  </a:ln>
                  <a:solidFill>
                    <a:srgbClr val="60BDBC"/>
                  </a:solidFill>
                  <a:effectLst/>
                  <a:uLnTx/>
                  <a:uFillTx/>
                  <a:latin typeface="Arial" pitchFamily="34" charset="0"/>
                  <a:ea typeface="+mn-ea"/>
                  <a:cs typeface="Calibri" panose="020F0502020204030204" pitchFamily="34" charset="0"/>
                </a:rPr>
                <a:t>15%</a:t>
              </a:r>
            </a:p>
          </p:txBody>
        </p:sp>
      </p:grpSp>
      <p:cxnSp>
        <p:nvCxnSpPr>
          <p:cNvPr id="64" name="Straight Connector 63">
            <a:extLst>
              <a:ext uri="{FF2B5EF4-FFF2-40B4-BE49-F238E27FC236}">
                <a16:creationId xmlns:a16="http://schemas.microsoft.com/office/drawing/2014/main" id="{A2BDABC0-D397-B37C-E27C-0498C7F2E542}"/>
              </a:ext>
            </a:extLst>
          </p:cNvPr>
          <p:cNvCxnSpPr/>
          <p:nvPr/>
        </p:nvCxnSpPr>
        <p:spPr>
          <a:xfrm>
            <a:off x="666324" y="3245271"/>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DA3AB8C-DF8E-DBCF-24DA-0E14D60EB7CB}"/>
              </a:ext>
            </a:extLst>
          </p:cNvPr>
          <p:cNvCxnSpPr/>
          <p:nvPr/>
        </p:nvCxnSpPr>
        <p:spPr>
          <a:xfrm>
            <a:off x="666324" y="3602622"/>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605588C-58D4-FD13-952D-E4A9BD5762F4}"/>
              </a:ext>
            </a:extLst>
          </p:cNvPr>
          <p:cNvCxnSpPr/>
          <p:nvPr/>
        </p:nvCxnSpPr>
        <p:spPr>
          <a:xfrm>
            <a:off x="666324" y="3980994"/>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DD7CEDA-71C1-E215-F410-944922A7867B}"/>
              </a:ext>
            </a:extLst>
          </p:cNvPr>
          <p:cNvCxnSpPr/>
          <p:nvPr/>
        </p:nvCxnSpPr>
        <p:spPr>
          <a:xfrm>
            <a:off x="666324" y="4327835"/>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C26EBF1-16CE-EB01-6BE9-6B8E1525B41A}"/>
              </a:ext>
            </a:extLst>
          </p:cNvPr>
          <p:cNvCxnSpPr/>
          <p:nvPr/>
        </p:nvCxnSpPr>
        <p:spPr>
          <a:xfrm>
            <a:off x="666324" y="5620608"/>
            <a:ext cx="3334410" cy="0"/>
          </a:xfrm>
          <a:prstGeom prst="line">
            <a:avLst/>
          </a:prstGeom>
          <a:ln>
            <a:solidFill>
              <a:srgbClr val="F2F2F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EF7AE57-4BBC-2C9D-C7DD-5D230172877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7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7E731D9F-010D-4DEA-A33F-0C3FF69DDAD9}" type="slidenum">
              <a:t>15</a:t>
            </a:fld>
            <a:endParaRPr lang="en-US"/>
          </a:p>
        </p:txBody>
      </p:sp>
    </p:spTree>
    <p:extLst>
      <p:ext uri="{BB962C8B-B14F-4D97-AF65-F5344CB8AC3E}">
        <p14:creationId xmlns:p14="http://schemas.microsoft.com/office/powerpoint/2010/main" val="1726707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57CA7-C175-9410-263D-C24505F541A5}"/>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5F3C37D-F165-2DB2-0D26-6C06CFCEADF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55F3C37D-F165-2DB2-0D26-6C06CFCEADF9}"/>
                          </a:ext>
                        </a:extLst>
                      </p:cNvPr>
                      <p:cNvPicPr/>
                      <p:nvPr/>
                    </p:nvPicPr>
                    <p:blipFill>
                      <a:blip r:embed="rId5">
                        <a:duotone>
                          <a:srgbClr val="765FFF"/>
                          <a:srgbClr val="FFFFFF"/>
                        </a:duotone>
                      </a:blip>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163DBD49-FEF2-191A-3400-501AFFCD4CB8}"/>
              </a:ext>
            </a:extLst>
          </p:cNvPr>
          <p:cNvSpPr>
            <a:spLocks noGrp="1"/>
          </p:cNvSpPr>
          <p:nvPr>
            <p:ph type="title" sz="quarter"/>
          </p:nvPr>
        </p:nvSpPr>
        <p:spPr/>
        <p:txBody>
          <a:bodyPr>
            <a:normAutofit lnSpcReduction="10000"/>
          </a:bodyPr>
          <a:lstStyle/>
          <a:p>
            <a:r>
              <a:t>CXO Value Forecast</a:t>
            </a:r>
          </a:p>
          <a:p>
            <a:endParaRPr lang="en-US" sz="2400" b="1" spc="-25" dirty="0">
              <a:solidFill>
                <a:srgbClr val="C00000"/>
              </a:solidFill>
              <a:latin typeface="Segoe UI" pitchFamily="34" charset="0"/>
            </a:endParaRPr>
          </a:p>
        </p:txBody>
      </p:sp>
      <p:sp>
        <p:nvSpPr>
          <p:cNvPr id="13" name="Rounded Rectangle 5">
            <a:extLst>
              <a:ext uri="{FF2B5EF4-FFF2-40B4-BE49-F238E27FC236}">
                <a16:creationId xmlns:a16="http://schemas.microsoft.com/office/drawing/2014/main" id="{56874752-079C-45FD-A2B1-461837FB0DBA}"/>
              </a:ext>
            </a:extLst>
          </p:cNvPr>
          <p:cNvSpPr/>
          <p:nvPr/>
        </p:nvSpPr>
        <p:spPr>
          <a:xfrm>
            <a:off x="5481964" y="965242"/>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14" name="Rounded Rectangle 5">
            <a:extLst>
              <a:ext uri="{FF2B5EF4-FFF2-40B4-BE49-F238E27FC236}">
                <a16:creationId xmlns:a16="http://schemas.microsoft.com/office/drawing/2014/main" id="{163DFCE8-3A0E-30E6-2195-DFDB90A964CB}"/>
              </a:ext>
            </a:extLst>
          </p:cNvPr>
          <p:cNvSpPr/>
          <p:nvPr/>
        </p:nvSpPr>
        <p:spPr>
          <a:xfrm>
            <a:off x="1294774" y="881421"/>
            <a:ext cx="3391712" cy="4894651"/>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72" name="TextBox 71">
            <a:extLst>
              <a:ext uri="{FF2B5EF4-FFF2-40B4-BE49-F238E27FC236}">
                <a16:creationId xmlns:a16="http://schemas.microsoft.com/office/drawing/2014/main" id="{578F6A31-9F76-CCF0-A492-6C31D4C42DF9}"/>
              </a:ext>
            </a:extLst>
          </p:cNvPr>
          <p:cNvSpPr txBox="1"/>
          <p:nvPr/>
        </p:nvSpPr>
        <p:spPr>
          <a:xfrm>
            <a:off x="1293142" y="1113522"/>
            <a:ext cx="3391710" cy="307777"/>
          </a:xfrm>
          <a:prstGeom prst="rect">
            <a:avLst/>
          </a:prstGeom>
          <a:no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solidFill>
                  <a:srgbClr val="C00000"/>
                </a:solidFill>
                <a:effectLst/>
                <a:uLnTx/>
                <a:uFillTx/>
                <a:latin typeface="Segoe UI" pitchFamily="34" charset="0"/>
                <a:ea typeface="Calibri" panose="020F0502020204030204" pitchFamily="34" charset="0"/>
                <a:cs typeface="Calibri" panose="020F0502020204030204" pitchFamily="34" charset="0"/>
              </a:rPr>
              <a:t>CXO</a:t>
            </a:r>
          </a:p>
        </p:txBody>
      </p:sp>
      <p:grpSp>
        <p:nvGrpSpPr>
          <p:cNvPr id="77" name="Group 76">
            <a:extLst>
              <a:ext uri="{FF2B5EF4-FFF2-40B4-BE49-F238E27FC236}">
                <a16:creationId xmlns:a16="http://schemas.microsoft.com/office/drawing/2014/main" id="{FE28F57C-4476-3B60-7B53-44ACE08E4232}"/>
              </a:ext>
            </a:extLst>
          </p:cNvPr>
          <p:cNvGrpSpPr/>
          <p:nvPr/>
        </p:nvGrpSpPr>
        <p:grpSpPr>
          <a:xfrm>
            <a:off x="1293142" y="5923878"/>
            <a:ext cx="2828005" cy="612104"/>
            <a:chOff x="6663500" y="7817282"/>
            <a:chExt cx="5656010" cy="1224208"/>
          </a:xfrm>
        </p:grpSpPr>
        <p:sp>
          <p:nvSpPr>
            <p:cNvPr id="69" name="Rounded Rectangle 46">
              <a:extLst>
                <a:ext uri="{FF2B5EF4-FFF2-40B4-BE49-F238E27FC236}">
                  <a16:creationId xmlns:a16="http://schemas.microsoft.com/office/drawing/2014/main" id="{E855AFFE-F722-E0C4-E770-E9901E223403}"/>
                </a:ext>
              </a:extLst>
            </p:cNvPr>
            <p:cNvSpPr/>
            <p:nvPr/>
          </p:nvSpPr>
          <p:spPr>
            <a:xfrm>
              <a:off x="7232926" y="7817282"/>
              <a:ext cx="5086584" cy="122420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&lt;50 – L</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ower forecast of value delivery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50-69 – </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Medium forecast of value delivery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10" normalizeH="0" baseline="0" noProof="0" dirty="0">
                  <a:ln>
                    <a:noFill/>
                  </a:ln>
                  <a:solidFill>
                    <a:srgbClr val="1D1D1D">
                      <a:lumMod val="85000"/>
                      <a:lumOff val="15000"/>
                    </a:srgbClr>
                  </a:solidFill>
                  <a:effectLst/>
                  <a:uLnTx/>
                  <a:uFillTx/>
                  <a:latin typeface="Segoe UI" pitchFamily="34" charset="0"/>
                  <a:ea typeface="Calibri" panose="020F0502020204030204" pitchFamily="34" charset="0"/>
                  <a:cs typeface="Calibri" panose="020F0502020204030204" pitchFamily="34" charset="0"/>
                </a:rPr>
                <a:t>70+ – </a:t>
              </a:r>
              <a:r>
                <a:rPr kumimoji="0" lang="en-US" sz="900" b="0" i="1" u="none" strike="noStrike" kern="1200" cap="none" spc="-10" normalizeH="0" baseline="0" noProof="0" dirty="0">
                  <a:ln>
                    <a:noFill/>
                  </a:ln>
                  <a:solidFill>
                    <a:srgbClr val="1D1D1D">
                      <a:lumMod val="85000"/>
                      <a:lumOff val="15000"/>
                    </a:srgbClr>
                  </a:solidFill>
                  <a:effectLst/>
                  <a:uLnTx/>
                  <a:uFillTx/>
                  <a:latin typeface="Arial" pitchFamily="34" charset="0"/>
                  <a:ea typeface="Calibri" panose="020F0502020204030204" pitchFamily="34" charset="0"/>
                  <a:cs typeface="Calibri" panose="020F0502020204030204" pitchFamily="34" charset="0"/>
                </a:rPr>
                <a:t>Higher forecast of value delivery</a:t>
              </a:r>
            </a:p>
          </p:txBody>
        </p:sp>
        <p:sp>
          <p:nvSpPr>
            <p:cNvPr id="79" name="Rectangle 78">
              <a:extLst>
                <a:ext uri="{FF2B5EF4-FFF2-40B4-BE49-F238E27FC236}">
                  <a16:creationId xmlns:a16="http://schemas.microsoft.com/office/drawing/2014/main" id="{36EECAF7-087F-043D-42E7-86575CEB24F8}"/>
                </a:ext>
              </a:extLst>
            </p:cNvPr>
            <p:cNvSpPr/>
            <p:nvPr/>
          </p:nvSpPr>
          <p:spPr>
            <a:xfrm>
              <a:off x="6666830" y="8042764"/>
              <a:ext cx="573464" cy="21932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prstClr val="white"/>
                </a:solidFill>
                <a:effectLst/>
                <a:uLnTx/>
                <a:uFillTx/>
                <a:latin typeface="Arial" pitchFamily="34" charset="0"/>
                <a:ea typeface="+mn-ea"/>
                <a:cs typeface="+mn-cs"/>
              </a:endParaRPr>
            </a:p>
          </p:txBody>
        </p:sp>
        <p:sp>
          <p:nvSpPr>
            <p:cNvPr id="80" name="Rectangle 79">
              <a:extLst>
                <a:ext uri="{FF2B5EF4-FFF2-40B4-BE49-F238E27FC236}">
                  <a16:creationId xmlns:a16="http://schemas.microsoft.com/office/drawing/2014/main" id="{413985CB-4294-AEB6-BD2C-469BCBF9B942}"/>
                </a:ext>
              </a:extLst>
            </p:cNvPr>
            <p:cNvSpPr/>
            <p:nvPr/>
          </p:nvSpPr>
          <p:spPr>
            <a:xfrm>
              <a:off x="6666830" y="8335332"/>
              <a:ext cx="573464" cy="21932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81" name="Rectangle 80">
              <a:extLst>
                <a:ext uri="{FF2B5EF4-FFF2-40B4-BE49-F238E27FC236}">
                  <a16:creationId xmlns:a16="http://schemas.microsoft.com/office/drawing/2014/main" id="{88ED1AEF-F91E-0BF1-7EA8-B31E6FF19A6A}"/>
                </a:ext>
              </a:extLst>
            </p:cNvPr>
            <p:cNvSpPr/>
            <p:nvPr/>
          </p:nvSpPr>
          <p:spPr>
            <a:xfrm>
              <a:off x="6663500" y="8625136"/>
              <a:ext cx="573464" cy="21932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prstClr val="white"/>
                </a:solidFill>
                <a:effectLst/>
                <a:uLnTx/>
                <a:uFillTx/>
                <a:latin typeface="Arial" pitchFamily="34" charset="0"/>
                <a:ea typeface="+mn-ea"/>
                <a:cs typeface="+mn-cs"/>
              </a:endParaRPr>
            </a:p>
          </p:txBody>
        </p:sp>
      </p:grpSp>
      <p:grpSp>
        <p:nvGrpSpPr>
          <p:cNvPr id="70" name="Google Shape;195;p5">
            <a:extLst>
              <a:ext uri="{FF2B5EF4-FFF2-40B4-BE49-F238E27FC236}">
                <a16:creationId xmlns:a16="http://schemas.microsoft.com/office/drawing/2014/main" id="{D556A9D1-34B5-0731-9189-DA2767D7971E}"/>
              </a:ext>
            </a:extLst>
          </p:cNvPr>
          <p:cNvGrpSpPr>
            <a:grpSpLocks noChangeAspect="1"/>
          </p:cNvGrpSpPr>
          <p:nvPr/>
        </p:nvGrpSpPr>
        <p:grpSpPr>
          <a:xfrm>
            <a:off x="1811129" y="1721570"/>
            <a:ext cx="2033060" cy="2160000"/>
            <a:chOff x="501276" y="-6468"/>
            <a:chExt cx="3521559" cy="3741437"/>
          </a:xfrm>
        </p:grpSpPr>
        <p:grpSp>
          <p:nvGrpSpPr>
            <p:cNvPr id="71" name="Google Shape;196;p5">
              <a:extLst>
                <a:ext uri="{FF2B5EF4-FFF2-40B4-BE49-F238E27FC236}">
                  <a16:creationId xmlns:a16="http://schemas.microsoft.com/office/drawing/2014/main" id="{1A617C20-BB85-C552-C55C-C6DCC5C65CD9}"/>
                </a:ext>
              </a:extLst>
            </p:cNvPr>
            <p:cNvGrpSpPr/>
            <p:nvPr/>
          </p:nvGrpSpPr>
          <p:grpSpPr>
            <a:xfrm>
              <a:off x="719169" y="448534"/>
              <a:ext cx="3239749" cy="2539768"/>
              <a:chOff x="-341400" y="0"/>
              <a:chExt cx="3239746" cy="2539768"/>
            </a:xfrm>
          </p:grpSpPr>
          <p:sp>
            <p:nvSpPr>
              <p:cNvPr id="84" name="Google Shape;197;p5">
                <a:extLst>
                  <a:ext uri="{FF2B5EF4-FFF2-40B4-BE49-F238E27FC236}">
                    <a16:creationId xmlns:a16="http://schemas.microsoft.com/office/drawing/2014/main" id="{4A0A24F4-C6A2-CEE1-DF81-A8191AEF3AF5}"/>
                  </a:ext>
                </a:extLst>
              </p:cNvPr>
              <p:cNvSpPr/>
              <p:nvPr/>
            </p:nvSpPr>
            <p:spPr>
              <a:xfrm>
                <a:off x="1" y="0"/>
                <a:ext cx="2539762" cy="2539768"/>
              </a:xfrm>
              <a:prstGeom prst="ellipse">
                <a:avLst/>
              </a:prstGeom>
              <a:solidFill>
                <a:srgbClr val="FFC000"/>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85" name="Google Shape;198;p5">
                <a:extLst>
                  <a:ext uri="{FF2B5EF4-FFF2-40B4-BE49-F238E27FC236}">
                    <a16:creationId xmlns:a16="http://schemas.microsoft.com/office/drawing/2014/main" id="{9802F2BD-565D-EF30-56F7-E52EB4047F3E}"/>
                  </a:ext>
                </a:extLst>
              </p:cNvPr>
              <p:cNvSpPr txBox="1"/>
              <p:nvPr/>
            </p:nvSpPr>
            <p:spPr>
              <a:xfrm>
                <a:off x="-341400" y="476036"/>
                <a:ext cx="3239746" cy="1157608"/>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latin typeface="Segoe UI" pitchFamily="34" charset="0"/>
                  </a:defRPr>
                </a:pPr>
                <a:r>
                  <a:rPr kumimoji="0" lang="en-US" sz="3000" b="1" i="0" u="none" strike="noStrike" kern="0" cap="none" spc="-25" normalizeH="0" baseline="0" noProof="0" dirty="0">
                    <a:ln>
                      <a:noFill/>
                    </a:ln>
                    <a:solidFill>
                      <a:srgbClr val="FFFFFF"/>
                    </a:solidFill>
                    <a:effectLst/>
                    <a:uLnTx/>
                    <a:uFillTx/>
                    <a:latin typeface="Segoe UI" pitchFamily="34" charset="0"/>
                    <a:ea typeface="Lato"/>
                    <a:cs typeface="Lato"/>
                    <a:sym typeface="Lato"/>
                  </a:rPr>
                  <a:t>56</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86" name="Google Shape;199;p5">
                <a:extLst>
                  <a:ext uri="{FF2B5EF4-FFF2-40B4-BE49-F238E27FC236}">
                    <a16:creationId xmlns:a16="http://schemas.microsoft.com/office/drawing/2014/main" id="{CDEACB24-0D0D-B282-79F8-49F4DCAF2AF3}"/>
                  </a:ext>
                </a:extLst>
              </p:cNvPr>
              <p:cNvSpPr/>
              <p:nvPr/>
            </p:nvSpPr>
            <p:spPr>
              <a:xfrm>
                <a:off x="491592" y="1516077"/>
                <a:ext cx="1511070" cy="46236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73" name="Google Shape;200;p5">
              <a:extLst>
                <a:ext uri="{FF2B5EF4-FFF2-40B4-BE49-F238E27FC236}">
                  <a16:creationId xmlns:a16="http://schemas.microsoft.com/office/drawing/2014/main" id="{CAA535DC-00C5-CD30-1368-6545E6E30E19}"/>
                </a:ext>
              </a:extLst>
            </p:cNvPr>
            <p:cNvSpPr/>
            <p:nvPr/>
          </p:nvSpPr>
          <p:spPr>
            <a:xfrm>
              <a:off x="1577133" y="26042"/>
              <a:ext cx="2445702"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74" name="Google Shape;201;p5">
              <a:extLst>
                <a:ext uri="{FF2B5EF4-FFF2-40B4-BE49-F238E27FC236}">
                  <a16:creationId xmlns:a16="http://schemas.microsoft.com/office/drawing/2014/main" id="{4E99E69E-F6E8-96ED-1102-54DD649371F9}"/>
                </a:ext>
              </a:extLst>
            </p:cNvPr>
            <p:cNvSpPr/>
            <p:nvPr/>
          </p:nvSpPr>
          <p:spPr>
            <a:xfrm rot="14320397">
              <a:off x="201045" y="795796"/>
              <a:ext cx="2445702" cy="1845239"/>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75" name="Google Shape;202;p5">
              <a:extLst>
                <a:ext uri="{FF2B5EF4-FFF2-40B4-BE49-F238E27FC236}">
                  <a16:creationId xmlns:a16="http://schemas.microsoft.com/office/drawing/2014/main" id="{D0E19D58-7A69-24CD-0100-1157D96A5F9F}"/>
                </a:ext>
              </a:extLst>
            </p:cNvPr>
            <p:cNvSpPr/>
            <p:nvPr/>
          </p:nvSpPr>
          <p:spPr>
            <a:xfrm rot="7218535">
              <a:off x="1536440" y="1589497"/>
              <a:ext cx="2445702" cy="1845242"/>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76" name="Google Shape;203;p5">
              <a:extLst>
                <a:ext uri="{FF2B5EF4-FFF2-40B4-BE49-F238E27FC236}">
                  <a16:creationId xmlns:a16="http://schemas.microsoft.com/office/drawing/2014/main" id="{8D3F2B62-F35C-594F-FA9A-7DE66CA232DF}"/>
                </a:ext>
              </a:extLst>
            </p:cNvPr>
            <p:cNvSpPr txBox="1"/>
            <p:nvPr/>
          </p:nvSpPr>
          <p:spPr>
            <a:xfrm rot="3053013">
              <a:off x="2402745" y="619589"/>
              <a:ext cx="1910258"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82" name="Google Shape;204;p5">
              <a:extLst>
                <a:ext uri="{FF2B5EF4-FFF2-40B4-BE49-F238E27FC236}">
                  <a16:creationId xmlns:a16="http://schemas.microsoft.com/office/drawing/2014/main" id="{4EDBBBFB-3374-BF40-9D70-E506F4C766AA}"/>
                </a:ext>
              </a:extLst>
            </p:cNvPr>
            <p:cNvSpPr txBox="1"/>
            <p:nvPr/>
          </p:nvSpPr>
          <p:spPr>
            <a:xfrm rot="17014277">
              <a:off x="142859" y="894880"/>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8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55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83" name="Google Shape;205;p5">
              <a:extLst>
                <a:ext uri="{FF2B5EF4-FFF2-40B4-BE49-F238E27FC236}">
                  <a16:creationId xmlns:a16="http://schemas.microsoft.com/office/drawing/2014/main" id="{BCE372A2-0426-4D0E-84BA-C8BA24236B37}"/>
                </a:ext>
              </a:extLst>
            </p:cNvPr>
            <p:cNvSpPr txBox="1"/>
            <p:nvPr/>
          </p:nvSpPr>
          <p:spPr>
            <a:xfrm>
              <a:off x="1515629" y="2848332"/>
              <a:ext cx="1910260"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800" b="1" i="0" u="none" strike="noStrike" kern="0" cap="none" spc="-10" normalizeH="0" baseline="0" noProof="0" dirty="0">
                  <a:ln>
                    <a:noFill/>
                  </a:ln>
                  <a:solidFill>
                    <a:srgbClr val="1D1D1D"/>
                  </a:solidFill>
                  <a:effectLst/>
                  <a:uLnTx/>
                  <a:uFillTx/>
                  <a:latin typeface="Segoe UI" pitchFamily="34" charset="0"/>
                  <a:ea typeface="Lato"/>
                  <a:cs typeface="Lato"/>
                  <a:sym typeface="Lato"/>
                </a:rPr>
                <a:t>T</a:t>
              </a:r>
              <a:endParaRPr kumimoji="0" sz="55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graphicFrame>
        <p:nvGraphicFramePr>
          <p:cNvPr id="103" name="Chart 102">
            <a:extLst>
              <a:ext uri="{FF2B5EF4-FFF2-40B4-BE49-F238E27FC236}">
                <a16:creationId xmlns:a16="http://schemas.microsoft.com/office/drawing/2014/main" id="{6F82EF87-0FB9-D6C3-6422-0F4FCB9E46CE}"/>
              </a:ext>
            </a:extLst>
          </p:cNvPr>
          <p:cNvGraphicFramePr/>
          <p:nvPr/>
        </p:nvGraphicFramePr>
        <p:xfrm>
          <a:off x="1345274" y="3875040"/>
          <a:ext cx="3284162" cy="1908000"/>
        </p:xfrm>
        <a:graphic>
          <a:graphicData uri="http://schemas.openxmlformats.org/drawingml/2006/chart">
            <c:chart xmlns:c="http://schemas.openxmlformats.org/drawingml/2006/chart" xmlns:r="http://schemas.openxmlformats.org/officeDocument/2006/relationships" r:id="rId6"/>
          </a:graphicData>
        </a:graphic>
      </p:graphicFrame>
      <p:sp>
        <p:nvSpPr>
          <p:cNvPr id="104" name="TextBox 103">
            <a:extLst>
              <a:ext uri="{FF2B5EF4-FFF2-40B4-BE49-F238E27FC236}">
                <a16:creationId xmlns:a16="http://schemas.microsoft.com/office/drawing/2014/main" id="{52BCB1AC-D7E1-7EC9-1D1E-3C36F06EC028}"/>
              </a:ext>
            </a:extLst>
          </p:cNvPr>
          <p:cNvSpPr txBox="1"/>
          <p:nvPr/>
        </p:nvSpPr>
        <p:spPr>
          <a:xfrm>
            <a:off x="5557001" y="982717"/>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1200" cap="none" spc="-25" normalizeH="0" baseline="0" noProof="0" dirty="0">
                <a:ln>
                  <a:noFill/>
                </a:ln>
                <a:solidFill>
                  <a:srgbClr val="1D1D1D"/>
                </a:solidFill>
                <a:effectLst/>
                <a:uLnTx/>
                <a:uFillTx/>
                <a:latin typeface="Segoe UI" pitchFamily="34" charset="0"/>
                <a:ea typeface="+mn-ea"/>
                <a:cs typeface="+mn-cs"/>
              </a:rPr>
              <a:t>Work</a:t>
            </a:r>
            <a:r>
              <a:rPr kumimoji="0" lang="en-US" sz="105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 Score</a:t>
            </a:r>
            <a:endParaRPr kumimoji="0" lang="en-US" sz="140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endParaRPr>
          </a:p>
        </p:txBody>
      </p:sp>
      <p:sp>
        <p:nvSpPr>
          <p:cNvPr id="105" name="TextBox 104">
            <a:extLst>
              <a:ext uri="{FF2B5EF4-FFF2-40B4-BE49-F238E27FC236}">
                <a16:creationId xmlns:a16="http://schemas.microsoft.com/office/drawing/2014/main" id="{41CB10A1-1692-AFDD-BF8B-16E66AA2488A}"/>
              </a:ext>
            </a:extLst>
          </p:cNvPr>
          <p:cNvSpPr txBox="1"/>
          <p:nvPr/>
        </p:nvSpPr>
        <p:spPr>
          <a:xfrm>
            <a:off x="1413254" y="4462418"/>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Role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06" name="TextBox 105">
            <a:extLst>
              <a:ext uri="{FF2B5EF4-FFF2-40B4-BE49-F238E27FC236}">
                <a16:creationId xmlns:a16="http://schemas.microsoft.com/office/drawing/2014/main" id="{47151909-3F9E-F8B8-C3E0-5EBA9AB53ED1}"/>
              </a:ext>
            </a:extLst>
          </p:cNvPr>
          <p:cNvSpPr txBox="1"/>
          <p:nvPr/>
        </p:nvSpPr>
        <p:spPr>
          <a:xfrm>
            <a:off x="1413254" y="5018549"/>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rPr>
              <a:t>Talent </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aphicFrame>
        <p:nvGraphicFramePr>
          <p:cNvPr id="87" name="Chart 86">
            <a:extLst>
              <a:ext uri="{FF2B5EF4-FFF2-40B4-BE49-F238E27FC236}">
                <a16:creationId xmlns:a16="http://schemas.microsoft.com/office/drawing/2014/main" id="{B163C14B-9389-DE54-D45C-235D1BF80EE2}"/>
              </a:ext>
            </a:extLst>
          </p:cNvPr>
          <p:cNvGraphicFramePr/>
          <p:nvPr/>
        </p:nvGraphicFramePr>
        <p:xfrm>
          <a:off x="6953889" y="1092668"/>
          <a:ext cx="3284162" cy="1580682"/>
        </p:xfrm>
        <a:graphic>
          <a:graphicData uri="http://schemas.openxmlformats.org/drawingml/2006/chart">
            <c:chart xmlns:c="http://schemas.openxmlformats.org/drawingml/2006/chart" xmlns:r="http://schemas.openxmlformats.org/officeDocument/2006/relationships" r:id="rId7"/>
          </a:graphicData>
        </a:graphic>
      </p:graphicFrame>
      <p:sp>
        <p:nvSpPr>
          <p:cNvPr id="88" name="TextBox 87">
            <a:extLst>
              <a:ext uri="{FF2B5EF4-FFF2-40B4-BE49-F238E27FC236}">
                <a16:creationId xmlns:a16="http://schemas.microsoft.com/office/drawing/2014/main" id="{FDC733B9-2C8F-7100-3F9E-92126F331A2A}"/>
              </a:ext>
            </a:extLst>
          </p:cNvPr>
          <p:cNvSpPr txBox="1"/>
          <p:nvPr/>
        </p:nvSpPr>
        <p:spPr>
          <a:xfrm>
            <a:off x="5564952" y="1254389"/>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000" b="1" i="0" u="none" strike="noStrike" kern="1200" cap="none" spc="-25" normalizeH="0" baseline="0" noProof="0" dirty="0">
                <a:ln>
                  <a:noFill/>
                </a:ln>
                <a:solidFill>
                  <a:srgbClr val="1D1D1D"/>
                </a:solidFill>
                <a:effectLst/>
                <a:uLnTx/>
                <a:uFillTx/>
                <a:latin typeface="Segoe UI" pitchFamily="34" charset="0"/>
                <a:ea typeface="+mn-ea"/>
                <a:cs typeface="+mn-cs"/>
              </a:rPr>
              <a:t>Alignment</a:t>
            </a:r>
            <a:endParaRPr kumimoji="0" lang="en-US" sz="1000" b="1" i="0" u="none" strike="noStrike" kern="1200" cap="none" spc="-25" normalizeH="0" baseline="0" noProof="0" dirty="0">
              <a:ln>
                <a:noFill/>
              </a:ln>
              <a:solidFill>
                <a:srgbClr val="1D1D1D"/>
              </a:solidFill>
              <a:effectLst/>
              <a:uLnTx/>
              <a:uFillTx/>
              <a:latin typeface="Segoe UI" pitchFamily="34" charset="0"/>
              <a:ea typeface="Calibri" panose="020F0502020204030204" pitchFamily="34" charset="0"/>
              <a:cs typeface="Calibri" panose="020F0502020204030204" pitchFamily="34" charset="0"/>
            </a:endParaRPr>
          </a:p>
        </p:txBody>
      </p:sp>
      <p:sp>
        <p:nvSpPr>
          <p:cNvPr id="89" name="TextBox 88">
            <a:extLst>
              <a:ext uri="{FF2B5EF4-FFF2-40B4-BE49-F238E27FC236}">
                <a16:creationId xmlns:a16="http://schemas.microsoft.com/office/drawing/2014/main" id="{AAD35954-78A2-A549-221A-2DCF4B601465}"/>
              </a:ext>
            </a:extLst>
          </p:cNvPr>
          <p:cNvSpPr txBox="1"/>
          <p:nvPr/>
        </p:nvSpPr>
        <p:spPr>
          <a:xfrm>
            <a:off x="5564952" y="158768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Complexity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90" name="TextBox 89">
            <a:extLst>
              <a:ext uri="{FF2B5EF4-FFF2-40B4-BE49-F238E27FC236}">
                <a16:creationId xmlns:a16="http://schemas.microsoft.com/office/drawing/2014/main" id="{CCF634CE-EE3A-AF99-B1E2-4A2C0300DC3A}"/>
              </a:ext>
            </a:extLst>
          </p:cNvPr>
          <p:cNvSpPr txBox="1"/>
          <p:nvPr/>
        </p:nvSpPr>
        <p:spPr>
          <a:xfrm>
            <a:off x="5564952" y="1915509"/>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New Work</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91" name="TextBox 90">
            <a:extLst>
              <a:ext uri="{FF2B5EF4-FFF2-40B4-BE49-F238E27FC236}">
                <a16:creationId xmlns:a16="http://schemas.microsoft.com/office/drawing/2014/main" id="{E50F9CB5-C68C-B5DC-AE5C-C29268E7EB54}"/>
              </a:ext>
            </a:extLst>
          </p:cNvPr>
          <p:cNvSpPr txBox="1"/>
          <p:nvPr/>
        </p:nvSpPr>
        <p:spPr>
          <a:xfrm>
            <a:off x="5564952" y="225128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Competitive Intensity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92" name="TextBox 91">
            <a:extLst>
              <a:ext uri="{FF2B5EF4-FFF2-40B4-BE49-F238E27FC236}">
                <a16:creationId xmlns:a16="http://schemas.microsoft.com/office/drawing/2014/main" id="{C6B3EF5C-853D-A09C-41FE-C1172B153724}"/>
              </a:ext>
            </a:extLst>
          </p:cNvPr>
          <p:cNvSpPr txBox="1"/>
          <p:nvPr/>
        </p:nvSpPr>
        <p:spPr>
          <a:xfrm>
            <a:off x="1415154" y="3890088"/>
            <a:ext cx="2295207" cy="261610"/>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10" normalizeH="0" baseline="0" noProof="0" dirty="0">
                <a:ln>
                  <a:noFill/>
                </a:ln>
                <a:solidFill>
                  <a:srgbClr val="1D1D1D"/>
                </a:solidFill>
                <a:effectLst/>
                <a:uLnTx/>
                <a:uFillTx/>
                <a:latin typeface="Segoe UI" pitchFamily="34" charset="0"/>
                <a:ea typeface="+mn-ea"/>
                <a:cs typeface="+mn-cs"/>
              </a:rPr>
              <a:t>Work</a:t>
            </a:r>
            <a:r>
              <a:rPr kumimoji="0" lang="en-US" sz="9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 Score</a:t>
            </a:r>
            <a:endParaRPr kumimoji="0" lang="en-US" sz="11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93" name="Rounded Rectangle 5">
            <a:extLst>
              <a:ext uri="{FF2B5EF4-FFF2-40B4-BE49-F238E27FC236}">
                <a16:creationId xmlns:a16="http://schemas.microsoft.com/office/drawing/2014/main" id="{F6916EF9-F6AB-E479-7540-61A69E203481}"/>
              </a:ext>
            </a:extLst>
          </p:cNvPr>
          <p:cNvSpPr/>
          <p:nvPr/>
        </p:nvSpPr>
        <p:spPr>
          <a:xfrm>
            <a:off x="5494664" y="2768642"/>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94" name="TextBox 93">
            <a:extLst>
              <a:ext uri="{FF2B5EF4-FFF2-40B4-BE49-F238E27FC236}">
                <a16:creationId xmlns:a16="http://schemas.microsoft.com/office/drawing/2014/main" id="{454E4005-A2B2-209C-8B2F-62EFF41F2220}"/>
              </a:ext>
            </a:extLst>
          </p:cNvPr>
          <p:cNvSpPr txBox="1"/>
          <p:nvPr/>
        </p:nvSpPr>
        <p:spPr>
          <a:xfrm>
            <a:off x="5569701" y="2786117"/>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mn-ea"/>
                <a:cs typeface="+mn-cs"/>
              </a:rPr>
              <a:t>Role </a:t>
            </a:r>
            <a:r>
              <a:rPr kumimoji="0" lang="en-US" sz="105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4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aphicFrame>
        <p:nvGraphicFramePr>
          <p:cNvPr id="95" name="Chart 94">
            <a:extLst>
              <a:ext uri="{FF2B5EF4-FFF2-40B4-BE49-F238E27FC236}">
                <a16:creationId xmlns:a16="http://schemas.microsoft.com/office/drawing/2014/main" id="{F075846F-FB0D-B9D0-7E37-25EDCE16C6D6}"/>
              </a:ext>
            </a:extLst>
          </p:cNvPr>
          <p:cNvGraphicFramePr/>
          <p:nvPr/>
        </p:nvGraphicFramePr>
        <p:xfrm>
          <a:off x="6966589" y="2896068"/>
          <a:ext cx="3284162" cy="1580682"/>
        </p:xfrm>
        <a:graphic>
          <a:graphicData uri="http://schemas.openxmlformats.org/drawingml/2006/chart">
            <c:chart xmlns:c="http://schemas.openxmlformats.org/drawingml/2006/chart" xmlns:r="http://schemas.openxmlformats.org/officeDocument/2006/relationships" r:id="rId8"/>
          </a:graphicData>
        </a:graphic>
      </p:graphicFrame>
      <p:sp>
        <p:nvSpPr>
          <p:cNvPr id="96" name="TextBox 95">
            <a:extLst>
              <a:ext uri="{FF2B5EF4-FFF2-40B4-BE49-F238E27FC236}">
                <a16:creationId xmlns:a16="http://schemas.microsoft.com/office/drawing/2014/main" id="{87D21AB9-E283-52B9-45D6-690DAA840028}"/>
              </a:ext>
            </a:extLst>
          </p:cNvPr>
          <p:cNvSpPr txBox="1"/>
          <p:nvPr/>
        </p:nvSpPr>
        <p:spPr>
          <a:xfrm>
            <a:off x="5577652" y="3057789"/>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Authority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97" name="TextBox 96">
            <a:extLst>
              <a:ext uri="{FF2B5EF4-FFF2-40B4-BE49-F238E27FC236}">
                <a16:creationId xmlns:a16="http://schemas.microsoft.com/office/drawing/2014/main" id="{C3ABEAC8-67A7-E0B6-C472-F2EF9CC3BE88}"/>
              </a:ext>
            </a:extLst>
          </p:cNvPr>
          <p:cNvSpPr txBox="1"/>
          <p:nvPr/>
        </p:nvSpPr>
        <p:spPr>
          <a:xfrm>
            <a:off x="5577652" y="339108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Capacity</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98" name="TextBox 97">
            <a:extLst>
              <a:ext uri="{FF2B5EF4-FFF2-40B4-BE49-F238E27FC236}">
                <a16:creationId xmlns:a16="http://schemas.microsoft.com/office/drawing/2014/main" id="{940B9573-B242-B92D-51D5-631D45B73FF2}"/>
              </a:ext>
            </a:extLst>
          </p:cNvPr>
          <p:cNvSpPr txBox="1"/>
          <p:nvPr/>
        </p:nvSpPr>
        <p:spPr>
          <a:xfrm>
            <a:off x="5577652" y="3718909"/>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Resistance</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99" name="TextBox 98">
            <a:extLst>
              <a:ext uri="{FF2B5EF4-FFF2-40B4-BE49-F238E27FC236}">
                <a16:creationId xmlns:a16="http://schemas.microsoft.com/office/drawing/2014/main" id="{1DADC345-C9EB-8552-3EB5-6E9BB1101E07}"/>
              </a:ext>
            </a:extLst>
          </p:cNvPr>
          <p:cNvSpPr txBox="1"/>
          <p:nvPr/>
        </p:nvSpPr>
        <p:spPr>
          <a:xfrm>
            <a:off x="5577652" y="405468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Incentives</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00" name="Rounded Rectangle 5">
            <a:extLst>
              <a:ext uri="{FF2B5EF4-FFF2-40B4-BE49-F238E27FC236}">
                <a16:creationId xmlns:a16="http://schemas.microsoft.com/office/drawing/2014/main" id="{3C6EB8D8-8B7B-3265-2ECA-FAE73B41C47F}"/>
              </a:ext>
            </a:extLst>
          </p:cNvPr>
          <p:cNvSpPr/>
          <p:nvPr/>
        </p:nvSpPr>
        <p:spPr>
          <a:xfrm>
            <a:off x="5507364" y="4584742"/>
            <a:ext cx="5090786" cy="1580682"/>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101" name="TextBox 100">
            <a:extLst>
              <a:ext uri="{FF2B5EF4-FFF2-40B4-BE49-F238E27FC236}">
                <a16:creationId xmlns:a16="http://schemas.microsoft.com/office/drawing/2014/main" id="{2970D460-E1FB-A8AC-35B2-A8CDA64990E7}"/>
              </a:ext>
            </a:extLst>
          </p:cNvPr>
          <p:cNvSpPr txBox="1"/>
          <p:nvPr/>
        </p:nvSpPr>
        <p:spPr>
          <a:xfrm>
            <a:off x="5582401" y="4602217"/>
            <a:ext cx="2295207" cy="307777"/>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1D1D1D"/>
                </a:solidFill>
                <a:effectLst/>
                <a:uLnTx/>
                <a:uFillTx/>
                <a:latin typeface="Segoe UI" pitchFamily="34" charset="0"/>
                <a:ea typeface="+mn-ea"/>
                <a:cs typeface="+mn-cs"/>
              </a:rPr>
              <a:t>Talent </a:t>
            </a:r>
            <a:r>
              <a:rPr kumimoji="0" lang="en-US" sz="105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rPr>
              <a:t>Score</a:t>
            </a:r>
            <a:endParaRPr kumimoji="0" lang="en-US" sz="1400" b="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graphicFrame>
        <p:nvGraphicFramePr>
          <p:cNvPr id="102" name="Chart 101">
            <a:extLst>
              <a:ext uri="{FF2B5EF4-FFF2-40B4-BE49-F238E27FC236}">
                <a16:creationId xmlns:a16="http://schemas.microsoft.com/office/drawing/2014/main" id="{5D3DB941-DD60-26F1-B446-003537CF6428}"/>
              </a:ext>
            </a:extLst>
          </p:cNvPr>
          <p:cNvGraphicFramePr/>
          <p:nvPr/>
        </p:nvGraphicFramePr>
        <p:xfrm>
          <a:off x="6979289" y="4712168"/>
          <a:ext cx="3284162" cy="1580682"/>
        </p:xfrm>
        <a:graphic>
          <a:graphicData uri="http://schemas.openxmlformats.org/drawingml/2006/chart">
            <c:chart xmlns:c="http://schemas.openxmlformats.org/drawingml/2006/chart" xmlns:r="http://schemas.openxmlformats.org/officeDocument/2006/relationships" r:id="rId9"/>
          </a:graphicData>
        </a:graphic>
      </p:graphicFrame>
      <p:sp>
        <p:nvSpPr>
          <p:cNvPr id="107" name="TextBox 106">
            <a:extLst>
              <a:ext uri="{FF2B5EF4-FFF2-40B4-BE49-F238E27FC236}">
                <a16:creationId xmlns:a16="http://schemas.microsoft.com/office/drawing/2014/main" id="{17BB3348-B816-F838-AA3D-4295D1D129FC}"/>
              </a:ext>
            </a:extLst>
          </p:cNvPr>
          <p:cNvSpPr txBox="1"/>
          <p:nvPr/>
        </p:nvSpPr>
        <p:spPr>
          <a:xfrm>
            <a:off x="5590352" y="4873889"/>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JTBD Match</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08" name="TextBox 107">
            <a:extLst>
              <a:ext uri="{FF2B5EF4-FFF2-40B4-BE49-F238E27FC236}">
                <a16:creationId xmlns:a16="http://schemas.microsoft.com/office/drawing/2014/main" id="{BCBC65F9-05FF-5B2C-8A40-1154D6E19CA6}"/>
              </a:ext>
            </a:extLst>
          </p:cNvPr>
          <p:cNvSpPr txBox="1"/>
          <p:nvPr/>
        </p:nvSpPr>
        <p:spPr>
          <a:xfrm>
            <a:off x="5590352" y="5207183"/>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Superpower Match</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09" name="TextBox 108">
            <a:extLst>
              <a:ext uri="{FF2B5EF4-FFF2-40B4-BE49-F238E27FC236}">
                <a16:creationId xmlns:a16="http://schemas.microsoft.com/office/drawing/2014/main" id="{4CEDAE16-4958-5D0E-F047-A273EE254CF3}"/>
              </a:ext>
            </a:extLst>
          </p:cNvPr>
          <p:cNvSpPr txBox="1"/>
          <p:nvPr/>
        </p:nvSpPr>
        <p:spPr>
          <a:xfrm>
            <a:off x="5590352" y="5535009"/>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Two-way fit</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110" name="TextBox 109">
            <a:extLst>
              <a:ext uri="{FF2B5EF4-FFF2-40B4-BE49-F238E27FC236}">
                <a16:creationId xmlns:a16="http://schemas.microsoft.com/office/drawing/2014/main" id="{FEAA23AC-FEB8-BAE2-F09E-0623165A0677}"/>
              </a:ext>
            </a:extLst>
          </p:cNvPr>
          <p:cNvSpPr txBox="1"/>
          <p:nvPr/>
        </p:nvSpPr>
        <p:spPr>
          <a:xfrm>
            <a:off x="5590352" y="5870788"/>
            <a:ext cx="2295207" cy="246221"/>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10" normalizeH="0" baseline="0" noProof="0" dirty="0">
                <a:ln>
                  <a:noFill/>
                </a:ln>
                <a:solidFill>
                  <a:srgbClr val="1D1D1D"/>
                </a:solidFill>
                <a:effectLst/>
                <a:uLnTx/>
                <a:uFillTx/>
                <a:latin typeface="Arial" pitchFamily="34" charset="0"/>
                <a:ea typeface="+mn-ea"/>
                <a:cs typeface="+mn-cs"/>
              </a:rPr>
              <a:t>Track Record</a:t>
            </a:r>
            <a:endParaRPr kumimoji="0" lang="en-US" sz="1000" i="0" u="none" strike="noStrike" kern="1200" cap="none" spc="-10" normalizeH="0" baseline="0" noProof="0" dirty="0">
              <a:ln>
                <a:noFill/>
              </a:ln>
              <a:solidFill>
                <a:srgbClr val="1D1D1D"/>
              </a:solidFill>
              <a:effectLst/>
              <a:uLnTx/>
              <a:uFillTx/>
              <a:latin typeface="Arial"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C59A1BD-9E99-4D6F-1CD2-0EB45B876DD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C00000"/>
                </a:solidFill>
                <a:latin typeface="Segoe UI" pitchFamily="34" charset="0"/>
              </a:rPr>
              <a:t>Confidential – Not to Be Shared</a:t>
            </a:r>
          </a:p>
        </p:txBody>
      </p:sp>
      <p:sp>
        <p:nvSpPr>
          <p:cNvPr id="111" name="SubtitleSplit"/>
          <p:cNvSpPr>
            <a:spLocks noGrp="1"/>
          </p:cNvSpPr>
          <p:nvPr>
            <p:ph type="subTitle" idx="1"/>
          </p:nvPr>
        </p:nvSpPr>
        <p:spPr>
          <a:noFill/>
        </p:spPr>
        <p:txBody>
          <a:bodyPr/>
          <a:lstStyle/>
          <a:p>
            <a:r>
              <a:t>Click score</a:t>
            </a:r>
            <a:endParaRPr lang="en-US" b="0" spc="-10">
              <a:latin typeface="Segoe UI" pitchFamily="34" charset="0"/>
            </a:endParaRPr>
          </a:p>
        </p:txBody>
      </p:sp>
      <p:sp>
        <p:nvSpPr>
          <p:cNvPr id="112"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A97BAAB5-90B9-458A-BB6E-043A496F0BA5}" type="slidenum">
              <a:t>16</a:t>
            </a:fld>
            <a:endParaRPr lang="en-US"/>
          </a:p>
        </p:txBody>
      </p:sp>
    </p:spTree>
    <p:extLst>
      <p:ext uri="{BB962C8B-B14F-4D97-AF65-F5344CB8AC3E}">
        <p14:creationId xmlns:p14="http://schemas.microsoft.com/office/powerpoint/2010/main" val="4025430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62D4D-8ADB-9F09-D1E9-6D8373CD07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7F7AD2-1299-BA49-2012-0865E769E930}"/>
              </a:ext>
            </a:extLst>
          </p:cNvPr>
          <p:cNvSpPr/>
          <p:nvPr/>
        </p:nvSpPr>
        <p:spPr>
          <a:xfrm>
            <a:off x="6981826" y="13413"/>
            <a:ext cx="5210174" cy="6858000"/>
          </a:xfrm>
          <a:prstGeom prst="rect">
            <a:avLst/>
          </a:prstGeom>
          <a:solidFill>
            <a:srgbClr val="F2F2F2"/>
          </a:solidFill>
          <a:ln w="952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sym typeface="Arial"/>
            </a:endParaRPr>
          </a:p>
        </p:txBody>
      </p:sp>
      <p:cxnSp>
        <p:nvCxnSpPr>
          <p:cNvPr id="28" name="Straight Connector 27">
            <a:extLst>
              <a:ext uri="{FF2B5EF4-FFF2-40B4-BE49-F238E27FC236}">
                <a16:creationId xmlns:a16="http://schemas.microsoft.com/office/drawing/2014/main" id="{D9D440BD-8CDA-92D9-77DF-5D61C40D8CE7}"/>
              </a:ext>
            </a:extLst>
          </p:cNvPr>
          <p:cNvCxnSpPr>
            <a:cxnSpLocks/>
          </p:cNvCxnSpPr>
          <p:nvPr/>
        </p:nvCxnSpPr>
        <p:spPr>
          <a:xfrm>
            <a:off x="322002" y="1497395"/>
            <a:ext cx="6192678" cy="2"/>
          </a:xfrm>
          <a:prstGeom prst="line">
            <a:avLst/>
          </a:prstGeom>
          <a:ln w="19050">
            <a:solidFill>
              <a:srgbClr val="281A42"/>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DBD3A350-B28A-83F1-6867-88235C67A2F2}"/>
              </a:ext>
            </a:extLst>
          </p:cNvPr>
          <p:cNvSpPr txBox="1"/>
          <p:nvPr/>
        </p:nvSpPr>
        <p:spPr>
          <a:xfrm>
            <a:off x="437616" y="6412859"/>
            <a:ext cx="4633919" cy="313636"/>
          </a:xfrm>
          <a:prstGeom prst="rect">
            <a:avLst/>
          </a:prstGeom>
          <a:noFill/>
        </p:spPr>
        <p:txBody>
          <a:bodyPr wrap="square" lIns="91440" tIns="45720" rIns="91440" bIns="45720" rtlCol="0" anchor="b">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10" normalizeH="0" baseline="0" noProof="0" dirty="0">
                <a:ln>
                  <a:noFill/>
                </a:ln>
                <a:solidFill>
                  <a:prstClr val="black">
                    <a:lumMod val="75000"/>
                    <a:lumOff val="25000"/>
                  </a:prstClr>
                </a:solidFill>
                <a:effectLst/>
                <a:uLnTx/>
                <a:uFillTx/>
                <a:latin typeface="Arial" pitchFamily="34" charset="0"/>
                <a:ea typeface="Lato Light" panose="020F0502020204030203" pitchFamily="34" charset="0"/>
                <a:cs typeface="Lato Light" panose="020F0502020204030203" pitchFamily="34" charset="0"/>
                <a:sym typeface="Arial"/>
              </a:rPr>
              <a:t>* Hogan insights should be read in conjunction with the detailed Hogan Report </a:t>
            </a:r>
          </a:p>
        </p:txBody>
      </p:sp>
      <p:grpSp>
        <p:nvGrpSpPr>
          <p:cNvPr id="32" name="Group 31">
            <a:extLst>
              <a:ext uri="{FF2B5EF4-FFF2-40B4-BE49-F238E27FC236}">
                <a16:creationId xmlns:a16="http://schemas.microsoft.com/office/drawing/2014/main" id="{86B779CA-2535-0AEA-BE19-EC30DA935DF1}"/>
              </a:ext>
            </a:extLst>
          </p:cNvPr>
          <p:cNvGrpSpPr/>
          <p:nvPr/>
        </p:nvGrpSpPr>
        <p:grpSpPr>
          <a:xfrm>
            <a:off x="322002" y="930319"/>
            <a:ext cx="6226053" cy="490049"/>
            <a:chOff x="529855" y="296859"/>
            <a:chExt cx="6226053" cy="490049"/>
          </a:xfrm>
        </p:grpSpPr>
        <p:sp>
          <p:nvSpPr>
            <p:cNvPr id="26" name="TextBox 25">
              <a:extLst>
                <a:ext uri="{FF2B5EF4-FFF2-40B4-BE49-F238E27FC236}">
                  <a16:creationId xmlns:a16="http://schemas.microsoft.com/office/drawing/2014/main" id="{D1ECFCC7-FEBF-BD7C-38D4-49109430F3A6}"/>
                </a:ext>
              </a:extLst>
            </p:cNvPr>
            <p:cNvSpPr txBox="1"/>
            <p:nvPr/>
          </p:nvSpPr>
          <p:spPr>
            <a:xfrm>
              <a:off x="529855" y="356566"/>
              <a:ext cx="3201164" cy="430342"/>
            </a:xfrm>
            <a:prstGeom prst="rect">
              <a:avLst/>
            </a:prstGeom>
            <a:noFill/>
          </p:spPr>
          <p:txBody>
            <a:bodyPr wrap="square" lIns="9144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400" b="1" i="0" u="none" strike="noStrike" kern="0" cap="none" spc="-25" normalizeH="0" baseline="0" noProof="0" dirty="0">
                <a:ln>
                  <a:noFill/>
                </a:ln>
                <a:solidFill>
                  <a:prstClr val="black"/>
                </a:solidFill>
                <a:effectLst/>
                <a:uLnTx/>
                <a:uFillTx/>
                <a:latin typeface="Segoe UI" pitchFamily="34" charset="0"/>
                <a:ea typeface="Lato Light" panose="020F0502020204030203" pitchFamily="34" charset="0"/>
                <a:cs typeface="Lato Light" panose="020F0502020204030203" pitchFamily="34" charset="0"/>
                <a:sym typeface="Arial"/>
              </a:endParaRPr>
            </a:p>
          </p:txBody>
        </p:sp>
        <p:sp>
          <p:nvSpPr>
            <p:cNvPr id="31" name="TextBox 30">
              <a:extLst>
                <a:ext uri="{FF2B5EF4-FFF2-40B4-BE49-F238E27FC236}">
                  <a16:creationId xmlns:a16="http://schemas.microsoft.com/office/drawing/2014/main" id="{13EEA520-47CF-60B2-05FC-4F79D1780F24}"/>
                </a:ext>
              </a:extLst>
            </p:cNvPr>
            <p:cNvSpPr txBox="1"/>
            <p:nvPr/>
          </p:nvSpPr>
          <p:spPr>
            <a:xfrm>
              <a:off x="3665327" y="296859"/>
              <a:ext cx="3090581" cy="490041"/>
            </a:xfrm>
            <a:prstGeom prst="rect">
              <a:avLst/>
            </a:prstGeom>
            <a:noFill/>
          </p:spPr>
          <p:txBody>
            <a:bodyPr wrap="square" lIns="91440" tIns="45720" rIns="91440" bIns="45720" rtlCol="0" anchor="ctr">
              <a:noAutofit/>
            </a:bodyPr>
            <a:lstStyle/>
            <a:p>
              <a:pPr marL="0" marR="0" lvl="0" indent="0" algn="r" defTabSz="91440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400" b="1" i="0" u="none" strike="noStrike" kern="0" cap="none" spc="-25" normalizeH="0" baseline="0" noProof="0" dirty="0">
                <a:ln>
                  <a:noFill/>
                </a:ln>
                <a:solidFill>
                  <a:prstClr val="black"/>
                </a:solidFill>
                <a:effectLst/>
                <a:uLnTx/>
                <a:uFillTx/>
                <a:latin typeface="Segoe UI" pitchFamily="34" charset="0"/>
                <a:ea typeface="Lato Light" panose="020F0502020204030203" pitchFamily="34" charset="0"/>
                <a:cs typeface="Lato Light" panose="020F0502020204030203" pitchFamily="34" charset="0"/>
                <a:sym typeface="Arial"/>
              </a:endParaRPr>
            </a:p>
          </p:txBody>
        </p:sp>
      </p:grpSp>
      <p:sp>
        <p:nvSpPr>
          <p:cNvPr id="5" name="Google Shape;185;p5">
            <a:extLst>
              <a:ext uri="{FF2B5EF4-FFF2-40B4-BE49-F238E27FC236}">
                <a16:creationId xmlns:a16="http://schemas.microsoft.com/office/drawing/2014/main" id="{98240B1B-7DB8-6AA7-D2ED-8D20C06BCE6D}"/>
              </a:ext>
            </a:extLst>
          </p:cNvPr>
          <p:cNvSpPr txBox="1">
            <a:spLocks/>
          </p:cNvSpPr>
          <p:nvPr/>
        </p:nvSpPr>
        <p:spPr>
          <a:xfrm>
            <a:off x="316771" y="325053"/>
            <a:ext cx="6216761" cy="563844"/>
          </a:xfrm>
          <a:prstGeom prst="rect">
            <a:avLst/>
          </a:prstGeom>
          <a:noFill/>
          <a:ln>
            <a:noFill/>
          </a:ln>
        </p:spPr>
        <p:txBody>
          <a:bodyPr spcFirstLastPara="1" wrap="square" lIns="22850" tIns="22850" rIns="22850" bIns="22850" anchor="ctr" anchorCtr="0">
            <a:noAutofit/>
          </a:bodyPr>
          <a:lstStyle>
            <a:defPPr marR="0" lvl="0" algn="l" rtl="0">
              <a:lnSpc>
                <a:spcPct val="100000"/>
              </a:lnSpc>
              <a:spcBef>
                <a:spcPts val="0"/>
              </a:spcBef>
              <a:spcAft>
                <a:spcPts val="0"/>
              </a:spcAft>
            </a:defPPr>
            <a:lvl1pPr marR="0" lvl="0"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1pPr>
            <a:lvl2pPr marR="0" lvl="1"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2pPr>
            <a:lvl3pPr marR="0" lvl="2"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3pPr>
            <a:lvl4pPr marR="0" lvl="3"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4pPr>
            <a:lvl5pPr marR="0" lvl="4"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5pPr>
            <a:lvl6pPr marR="0" lvl="5"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6pPr>
            <a:lvl7pPr marR="0" lvl="6"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7pPr>
            <a:lvl8pPr marR="0" lvl="7"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8pPr>
            <a:lvl9pPr marR="0" lvl="8" algn="l" rtl="0">
              <a:lnSpc>
                <a:spcPct val="80000"/>
              </a:lnSpc>
              <a:spcBef>
                <a:spcPts val="0"/>
              </a:spcBef>
              <a:spcAft>
                <a:spcPts val="0"/>
              </a:spcAft>
              <a:buClr>
                <a:srgbClr val="1D1D1D"/>
              </a:buClr>
              <a:buSzPts val="11600"/>
              <a:buFont typeface="Lato"/>
              <a:buNone/>
              <a:defRPr sz="3600" b="1" i="0" u="none" strike="noStrike" cap="none" spc="-25">
                <a:solidFill>
                  <a:srgbClr val="1D1D1D"/>
                </a:solidFill>
                <a:latin typeface="Segoe UI" pitchFamily="34" charset="0"/>
                <a:ea typeface="Lato"/>
                <a:cs typeface="Lato"/>
                <a:sym typeface="Lato"/>
              </a:defRPr>
            </a:lvl9pPr>
          </a:lstStyle>
          <a:p>
            <a:pPr marL="0" marR="0" lvl="0" indent="0" algn="l" defTabSz="457200" rtl="0" eaLnBrk="1" fontAlgn="auto" latinLnBrk="0" hangingPunct="1">
              <a:lnSpc>
                <a:spcPct val="100000"/>
              </a:lnSpc>
              <a:spcBef>
                <a:spcPts val="0"/>
              </a:spcBef>
              <a:spcAft>
                <a:spcPts val="0"/>
              </a:spcAft>
              <a:buClr>
                <a:srgbClr val="1D1D1D"/>
              </a:buClr>
              <a:buSzPts val="7000"/>
              <a:buFont typeface="Lato"/>
              <a:buNone/>
              <a:tabLst/>
              <a:defRPr b="1" spc="-25">
                <a:latin typeface="Segoe UI" pitchFamily="34" charset="0"/>
              </a:defRPr>
            </a:pPr>
            <a:r>
              <a:rPr kumimoji="0" lang="en-US" sz="2800" b="0" i="0" u="none" strike="noStrike" kern="0" cap="none" spc="0" normalizeH="0" baseline="0" noProof="0" dirty="0">
                <a:ln>
                  <a:noFill/>
                </a:ln>
                <a:solidFill>
                  <a:prstClr val="black"/>
                </a:solidFill>
                <a:effectLst/>
                <a:uLnTx/>
                <a:uFillTx/>
                <a:latin typeface="+mn-lt"/>
                <a:ea typeface="Lato"/>
                <a:cs typeface="Lato"/>
                <a:sym typeface="Lato"/>
              </a:rPr>
              <a:t>Hogan Assessment</a:t>
            </a:r>
            <a:r>
              <a:rPr kumimoji="0" lang="en-US" sz="2800" b="0" i="0" u="none" strike="noStrike" kern="0" cap="none" spc="0" normalizeH="0" baseline="0" noProof="0" dirty="0">
                <a:ln>
                  <a:noFill/>
                </a:ln>
                <a:solidFill>
                  <a:srgbClr val="765FFF"/>
                </a:solidFill>
                <a:effectLst/>
                <a:uLnTx/>
                <a:uFillTx/>
                <a:latin typeface="+mn-lt"/>
                <a:ea typeface="Lato"/>
                <a:cs typeface="Lato"/>
                <a:sym typeface="Lato"/>
              </a:rPr>
              <a:t> Summary</a:t>
            </a:r>
            <a:endParaRPr kumimoji="0" lang="en-US" sz="2800" b="0" i="0" u="none" strike="noStrike" kern="0" cap="none" spc="0" normalizeH="0" baseline="0" noProof="0" dirty="0">
              <a:ln>
                <a:noFill/>
              </a:ln>
              <a:solidFill>
                <a:srgbClr val="00C27A"/>
              </a:solidFill>
              <a:effectLst/>
              <a:uLnTx/>
              <a:uFillTx/>
              <a:latin typeface="+mn-lt"/>
              <a:ea typeface="Lato"/>
              <a:cs typeface="Lato"/>
              <a:sym typeface="Lato"/>
            </a:endParaRPr>
          </a:p>
        </p:txBody>
      </p:sp>
      <p:sp>
        <p:nvSpPr>
          <p:cNvPr id="4" name="TextBox 3">
            <a:extLst>
              <a:ext uri="{FF2B5EF4-FFF2-40B4-BE49-F238E27FC236}">
                <a16:creationId xmlns:a16="http://schemas.microsoft.com/office/drawing/2014/main" id="{6D347562-6EE2-1380-0256-02C76889FFBC}"/>
              </a:ext>
            </a:extLst>
          </p:cNvPr>
          <p:cNvSpPr>
            <a:spLocks noGrp="1"/>
          </p:cNvSpPr>
          <p:nvPr>
            <p:ph idx="1"/>
          </p:nvPr>
        </p:nvSpPr>
        <p:spPr>
          <a:xfrm>
            <a:off x="316059" y="1571975"/>
            <a:ext cx="6388103" cy="4472020"/>
          </a:xfrm>
          <a:prstGeom prst="rect">
            <a:avLst/>
          </a:prstGeom>
          <a:noFill/>
        </p:spPr>
        <p:txBody>
          <a:bodyPr wrap="square" lIns="91440" tIns="45720" rIns="91440" bIns="4572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i="0" u="none" strike="noStrike" kern="0" cap="none" spc="-10" normalizeH="0" baseline="0" noProof="0" dirty="0">
              <a:ln>
                <a:noFill/>
              </a:ln>
              <a:solidFill>
                <a:srgbClr val="281A42"/>
              </a:solidFill>
              <a:effectLst/>
              <a:uLnTx/>
              <a:uFillTx/>
              <a:latin typeface="Arial" pitchFamily="34" charset="0"/>
              <a:ea typeface="Lato Light" panose="020F0502020204030203" pitchFamily="34" charset="0"/>
              <a:cs typeface="Lato Light" panose="020F0502020204030203" pitchFamily="34" charset="0"/>
              <a:sym typeface="Aria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10" normalizeH="0" baseline="0" noProof="0" dirty="0">
                <a:ln>
                  <a:noFill/>
                </a:ln>
                <a:solidFill>
                  <a:srgbClr val="281A42"/>
                </a:solidFill>
                <a:effectLst/>
                <a:uLnTx/>
                <a:uFillTx/>
                <a:latin typeface="Arial" pitchFamily="34" charset="0"/>
                <a:ea typeface="Lato Light"/>
                <a:cs typeface="Lato Light"/>
                <a:sym typeface="Arial"/>
              </a:rPr>
              <a:t>Role · Talent Match</a:t>
            </a:r>
            <a:br>
              <a:rPr lang="en-US" sz="1400" i="0" u="none" strike="noStrike" kern="0" cap="none" spc="-10" normalizeH="0" baseline="0" noProof="0" dirty="0">
                <a:ln>
                  <a:noFill/>
                </a:ln>
                <a:effectLst/>
                <a:uLnTx/>
                <a:uFillTx/>
                <a:latin typeface="Arial" pitchFamily="34" charset="0"/>
                <a:ea typeface="Lato Light" panose="020F0502020204030203" pitchFamily="34" charset="0"/>
                <a:cs typeface="Lato Light" panose="020F0502020204030203" pitchFamily="34" charset="0"/>
              </a:rPr>
            </a:br>
            <a:endParaRPr kumimoji="0" lang="en-US" sz="1400" i="0" u="none" strike="noStrike" kern="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Arial"/>
            </a:endParaRPr>
          </a:p>
          <a:p>
            <a:pPr marL="171450" marR="0" lvl="0" indent="-171450" algn="just" defTabSz="914400" eaLnBrk="1" fontAlgn="auto" latinLnBrk="0" hangingPunct="1">
              <a:lnSpc>
                <a:spcPct val="100000"/>
              </a:lnSpc>
              <a:spcBef>
                <a:spcPts val="0"/>
              </a:spcBef>
              <a:spcAft>
                <a:spcPts val="0"/>
              </a:spcAft>
              <a:buBlip>
                <a:blip r:embed="rId2"/>
              </a:buBlip>
              <a:tabLst/>
              <a:defRPr/>
            </a:pPr>
            <a:r>
              <a:rPr kumimoji="0" lang="en-US" sz="1400" i="0" u="none" strike="noStrike" kern="0" cap="none" spc="-10" normalizeH="0" baseline="0" noProof="0" dirty="0">
                <a:ln>
                  <a:noFill/>
                </a:ln>
                <a:solidFill>
                  <a:srgbClr val="3B3B3B"/>
                </a:solidFill>
                <a:effectLst/>
                <a:uLnTx/>
                <a:uFillTx/>
                <a:latin typeface="Arial" pitchFamily="34" charset="0"/>
                <a:ea typeface="Lato Light"/>
                <a:cs typeface="Lato Light"/>
                <a:sym typeface="Arial"/>
              </a:rPr>
              <a:t>CXO has strong drivers related to creating impact and being seen and recognized as doing so. (High Power, High Recognition) .  Additionally, his Ambition and drive points to his desire to lead and deliver results.</a:t>
            </a:r>
            <a:endParaRPr lang="en-US" sz="1400" i="0" u="none" strike="noStrike" kern="0" cap="none" spc="-10" normalizeH="0" baseline="0" noProof="0" dirty="0">
              <a:ln>
                <a:noFill/>
              </a:ln>
              <a:solidFill>
                <a:srgbClr val="3B3B3B"/>
              </a:solidFill>
              <a:effectLst/>
              <a:uLnTx/>
              <a:uFillTx/>
              <a:latin typeface="Arial" pitchFamily="34" charset="0"/>
              <a:ea typeface="Lato Light"/>
              <a:cs typeface="Lato Light"/>
            </a:endParaRPr>
          </a:p>
          <a:p>
            <a:pPr marL="171450" marR="0" lvl="0" indent="-171450" algn="just" defTabSz="914400" eaLnBrk="1" fontAlgn="auto" latinLnBrk="0" hangingPunct="1">
              <a:lnSpc>
                <a:spcPct val="100000"/>
              </a:lnSpc>
              <a:spcBef>
                <a:spcPts val="0"/>
              </a:spcBef>
              <a:spcAft>
                <a:spcPts val="0"/>
              </a:spcAft>
              <a:buBlip>
                <a:blip r:embed="rId2"/>
              </a:buBlip>
              <a:tabLst/>
              <a:defRPr/>
            </a:pPr>
            <a:endParaRPr kumimoji="0" lang="en-US" sz="1400" i="0" u="none" strike="noStrike" kern="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Arial"/>
            </a:endParaRPr>
          </a:p>
          <a:p>
            <a:pPr marL="171450" marR="0" lvl="0" indent="-171450" algn="just" defTabSz="914400" eaLnBrk="1" fontAlgn="auto" latinLnBrk="0" hangingPunct="1">
              <a:lnSpc>
                <a:spcPct val="100000"/>
              </a:lnSpc>
              <a:spcBef>
                <a:spcPts val="0"/>
              </a:spcBef>
              <a:spcAft>
                <a:spcPts val="0"/>
              </a:spcAft>
              <a:buBlip>
                <a:blip r:embed="rId2"/>
              </a:buBlip>
              <a:tabLst/>
              <a:defRPr/>
            </a:pPr>
            <a:endParaRPr kumimoji="0" lang="en-US" sz="1400" i="0" u="none" strike="noStrike" kern="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i="0" u="none" strike="noStrike" kern="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Arial"/>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i="0" u="none" strike="noStrike" kern="0" cap="none" spc="-10" normalizeH="0" baseline="0" noProof="0" dirty="0">
                <a:ln>
                  <a:noFill/>
                </a:ln>
                <a:solidFill>
                  <a:srgbClr val="281A42"/>
                </a:solidFill>
                <a:effectLst/>
                <a:uLnTx/>
                <a:uFillTx/>
                <a:latin typeface="Arial" pitchFamily="34" charset="0"/>
                <a:ea typeface="Lato Light"/>
                <a:cs typeface="Lato Light"/>
                <a:sym typeface="Arial"/>
              </a:rPr>
              <a:t>Potential Derailers </a:t>
            </a:r>
            <a:br>
              <a:rPr lang="en-US" sz="1400" i="0" u="none" strike="noStrike" kern="0" cap="none" spc="-10" normalizeH="0" baseline="0" noProof="0" dirty="0">
                <a:ln>
                  <a:noFill/>
                </a:ln>
                <a:effectLst/>
                <a:uLnTx/>
                <a:uFillTx/>
                <a:latin typeface="Arial" pitchFamily="34" charset="0"/>
                <a:ea typeface="Lato Light" panose="020F0502020204030203" pitchFamily="34" charset="0"/>
                <a:cs typeface="Lato Light" panose="020F0502020204030203" pitchFamily="34" charset="0"/>
              </a:rPr>
            </a:br>
            <a:endParaRPr kumimoji="0" lang="en-US" sz="1400" i="0" u="none" strike="noStrike" kern="0" cap="none" spc="-10" normalizeH="0" baseline="0" noProof="0" dirty="0">
              <a:ln>
                <a:noFill/>
              </a:ln>
              <a:solidFill>
                <a:srgbClr val="281A42"/>
              </a:solidFill>
              <a:effectLst/>
              <a:uLnTx/>
              <a:uFillTx/>
              <a:latin typeface="Arial" pitchFamily="34" charset="0"/>
              <a:ea typeface="Lato Light" panose="020F0502020204030203" pitchFamily="34" charset="0"/>
              <a:cs typeface="Lato Light" panose="020F0502020204030203" pitchFamily="34" charset="0"/>
              <a:sym typeface="Arial"/>
            </a:endParaRPr>
          </a:p>
          <a:p>
            <a:pPr marL="171450" marR="0" lvl="0" indent="-171450" algn="just" defTabSz="914400" eaLnBrk="1" fontAlgn="auto" latinLnBrk="0" hangingPunct="1">
              <a:lnSpc>
                <a:spcPct val="100000"/>
              </a:lnSpc>
              <a:spcBef>
                <a:spcPts val="0"/>
              </a:spcBef>
              <a:spcAft>
                <a:spcPts val="0"/>
              </a:spcAft>
              <a:buBlip>
                <a:blip r:embed="rId2"/>
              </a:buBlip>
              <a:tabLst/>
              <a:defRPr/>
            </a:pPr>
            <a:r>
              <a:rPr kumimoji="0" lang="en-US" sz="1400" i="0" u="none" strike="noStrike" kern="0" cap="none" spc="-10" normalizeH="0" baseline="0" noProof="0" dirty="0">
                <a:ln>
                  <a:noFill/>
                </a:ln>
                <a:solidFill>
                  <a:srgbClr val="3B3B3B"/>
                </a:solidFill>
                <a:effectLst/>
                <a:uLnTx/>
                <a:uFillTx/>
                <a:latin typeface="Arial" pitchFamily="34" charset="0"/>
                <a:ea typeface="Lato Light"/>
                <a:cs typeface="Lato Light"/>
                <a:sym typeface="Arial"/>
              </a:rPr>
              <a:t>The profile suggests that this may not be a natural fit against transformative JTBDS related to expansion and diversification and that some complementing could help on these JTBDs.   </a:t>
            </a:r>
            <a:r>
              <a:rPr lang="en-US" sz="1400" spc="-10" dirty="0">
                <a:solidFill>
                  <a:srgbClr val="3B3B3B"/>
                </a:solidFill>
                <a:latin typeface="Arial" pitchFamily="34" charset="0"/>
                <a:ea typeface="Lato Light"/>
                <a:cs typeface="Lato Light"/>
                <a:sym typeface="Arial"/>
              </a:rPr>
              <a:t>He </a:t>
            </a:r>
            <a:r>
              <a:rPr kumimoji="0" lang="en-US" sz="1400" i="0" u="none" strike="noStrike" kern="0" cap="none" spc="-10" normalizeH="0" baseline="0" noProof="0" dirty="0">
                <a:ln>
                  <a:noFill/>
                </a:ln>
                <a:solidFill>
                  <a:srgbClr val="3B3B3B"/>
                </a:solidFill>
                <a:effectLst/>
                <a:uLnTx/>
                <a:uFillTx/>
                <a:latin typeface="Arial" pitchFamily="34" charset="0"/>
                <a:ea typeface="Lato Light"/>
                <a:cs typeface="Lato Light"/>
                <a:sym typeface="Arial"/>
              </a:rPr>
              <a:t>tends to be pragmatic, a </a:t>
            </a:r>
            <a:r>
              <a:rPr lang="en-US" sz="1400" spc="-10" dirty="0">
                <a:solidFill>
                  <a:srgbClr val="3B3B3B"/>
                </a:solidFill>
                <a:latin typeface="Arial" pitchFamily="34" charset="0"/>
                <a:ea typeface="Lato Light"/>
                <a:cs typeface="Lato Light"/>
                <a:sym typeface="Arial"/>
              </a:rPr>
              <a:t>low-risk</a:t>
            </a:r>
            <a:r>
              <a:rPr kumimoji="0" lang="en-US" sz="1400" i="0" u="none" strike="noStrike" kern="0" cap="none" spc="-10" normalizeH="0" baseline="0" noProof="0" dirty="0">
                <a:ln>
                  <a:noFill/>
                </a:ln>
                <a:solidFill>
                  <a:srgbClr val="3B3B3B"/>
                </a:solidFill>
                <a:effectLst/>
                <a:uLnTx/>
                <a:uFillTx/>
                <a:latin typeface="Arial" pitchFamily="34" charset="0"/>
                <a:ea typeface="Lato Light"/>
                <a:cs typeface="Lato Light"/>
                <a:sym typeface="Arial"/>
              </a:rPr>
              <a:t> taker, focused on the tangible what is, rather than the unpredictability of what can be.   (High Cautious,  High Tradition, Pragmatic Learning Approach).</a:t>
            </a:r>
            <a:endParaRPr lang="en-US" sz="1400" i="0" u="none" strike="noStrike" kern="0" cap="none" spc="-10" normalizeH="0" baseline="0" noProof="0" dirty="0">
              <a:ln>
                <a:noFill/>
              </a:ln>
              <a:solidFill>
                <a:srgbClr val="3B3B3B"/>
              </a:solidFill>
              <a:effectLst/>
              <a:uLnTx/>
              <a:uFillTx/>
              <a:latin typeface="Arial" pitchFamily="34" charset="0"/>
              <a:ea typeface="Lato Light"/>
              <a:cs typeface="Lato Light"/>
            </a:endParaRPr>
          </a:p>
          <a:p>
            <a:pPr marL="171450" marR="0" lvl="0" indent="-171450" algn="just" defTabSz="914400" eaLnBrk="1" fontAlgn="auto" latinLnBrk="0" hangingPunct="1">
              <a:lnSpc>
                <a:spcPct val="100000"/>
              </a:lnSpc>
              <a:spcBef>
                <a:spcPts val="0"/>
              </a:spcBef>
              <a:spcAft>
                <a:spcPts val="0"/>
              </a:spcAft>
              <a:buBlip>
                <a:blip r:embed="rId2"/>
              </a:buBlip>
              <a:tabLst/>
              <a:defRPr/>
            </a:pPr>
            <a:endParaRPr kumimoji="0" lang="en-US" sz="1400" i="0" u="none" strike="noStrike" kern="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Arial"/>
            </a:endParaRPr>
          </a:p>
          <a:p>
            <a:pPr marL="171450" marR="0" lvl="0" indent="-171450" algn="just" defTabSz="914400" eaLnBrk="1" fontAlgn="auto" latinLnBrk="0" hangingPunct="1">
              <a:lnSpc>
                <a:spcPct val="100000"/>
              </a:lnSpc>
              <a:spcBef>
                <a:spcPts val="0"/>
              </a:spcBef>
              <a:spcAft>
                <a:spcPts val="0"/>
              </a:spcAft>
              <a:buBlip>
                <a:blip r:embed="rId2"/>
              </a:buBlip>
              <a:tabLst/>
              <a:defRPr/>
            </a:pPr>
            <a:r>
              <a:rPr kumimoji="0" lang="en-US" sz="1400" i="0" u="none" strike="noStrike" kern="0" cap="none" spc="-10" normalizeH="0" baseline="0" noProof="0" dirty="0">
                <a:ln>
                  <a:noFill/>
                </a:ln>
                <a:solidFill>
                  <a:srgbClr val="3B3B3B"/>
                </a:solidFill>
                <a:effectLst/>
                <a:uLnTx/>
                <a:uFillTx/>
                <a:latin typeface="Arial" pitchFamily="34" charset="0"/>
                <a:ea typeface="Lato Light"/>
                <a:cs typeface="Lato Light"/>
                <a:sym typeface="Arial"/>
              </a:rPr>
              <a:t>The profile also suggests that under stress, he can be seen as somewhat disconnected and uncommunicative which might impact the ability to engage and align the organization.  </a:t>
            </a:r>
            <a:endParaRPr lang="en-US" sz="1400" i="0" u="none" strike="noStrike" kern="0" cap="none" spc="-10" normalizeH="0" baseline="0" noProof="0" dirty="0">
              <a:ln>
                <a:noFill/>
              </a:ln>
              <a:solidFill>
                <a:srgbClr val="3B3B3B"/>
              </a:solidFill>
              <a:effectLst/>
              <a:uLnTx/>
              <a:uFillTx/>
              <a:latin typeface="Arial" pitchFamily="34" charset="0"/>
              <a:ea typeface="Lato Light"/>
              <a:cs typeface="Lato Light"/>
            </a:endParaRPr>
          </a:p>
          <a:p>
            <a:pPr marL="171450" marR="0" lvl="0" indent="-171450" algn="just" defTabSz="914400" eaLnBrk="1" fontAlgn="auto" latinLnBrk="0" hangingPunct="1">
              <a:lnSpc>
                <a:spcPct val="100000"/>
              </a:lnSpc>
              <a:spcBef>
                <a:spcPts val="0"/>
              </a:spcBef>
              <a:spcAft>
                <a:spcPts val="0"/>
              </a:spcAft>
              <a:buBlip>
                <a:blip r:embed="rId2"/>
              </a:buBlip>
              <a:tabLst/>
              <a:defRPr/>
            </a:pPr>
            <a:endParaRPr kumimoji="0" lang="en-US" sz="1400" i="0" u="none" strike="noStrike" kern="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Arial"/>
            </a:endParaRPr>
          </a:p>
          <a:p>
            <a:pPr marL="171450" marR="0" lvl="0" indent="-171450" defTabSz="914400" eaLnBrk="1" fontAlgn="auto" latinLnBrk="0" hangingPunct="1">
              <a:lnSpc>
                <a:spcPct val="100000"/>
              </a:lnSpc>
              <a:spcBef>
                <a:spcPts val="0"/>
              </a:spcBef>
              <a:spcAft>
                <a:spcPts val="0"/>
              </a:spcAft>
              <a:buBlip>
                <a:blip r:embed="rId2"/>
              </a:buBlip>
              <a:tabLst/>
              <a:defRPr/>
            </a:pPr>
            <a:endParaRPr kumimoji="0" lang="en-US" sz="1400" i="0" u="none" strike="noStrike" kern="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Arial"/>
            </a:endParaRPr>
          </a:p>
        </p:txBody>
      </p:sp>
      <p:pic>
        <p:nvPicPr>
          <p:cNvPr id="6" name="Picture 5">
            <a:extLst>
              <a:ext uri="{FF2B5EF4-FFF2-40B4-BE49-F238E27FC236}">
                <a16:creationId xmlns:a16="http://schemas.microsoft.com/office/drawing/2014/main" id="{31147953-00AF-4D66-4018-F73B65CAD9CE}"/>
              </a:ext>
            </a:extLst>
          </p:cNvPr>
          <p:cNvPicPr>
            <a:picLocks noChangeAspect="1"/>
          </p:cNvPicPr>
          <p:nvPr/>
        </p:nvPicPr>
        <p:blipFill>
          <a:blip r:embed="rId3"/>
          <a:stretch>
            <a:fillRect/>
          </a:stretch>
        </p:blipFill>
        <p:spPr>
          <a:xfrm>
            <a:off x="7053805" y="321189"/>
            <a:ext cx="5066215" cy="6248487"/>
          </a:xfrm>
          <a:prstGeom prst="rect">
            <a:avLst/>
          </a:prstGeom>
        </p:spPr>
      </p:pic>
      <p:sp>
        <p:nvSpPr>
          <p:cNvPr id="3" name="TextBox 2">
            <a:extLst>
              <a:ext uri="{FF2B5EF4-FFF2-40B4-BE49-F238E27FC236}">
                <a16:creationId xmlns:a16="http://schemas.microsoft.com/office/drawing/2014/main" id="{CFC78140-DBCE-F34A-7747-A97F21149A9A}"/>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5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7DEF8DF8-3081-4468-A8B7-EADB84D44885}" type="slidenum">
              <a:t>17</a:t>
            </a:fld>
            <a:endParaRPr lang="en-US"/>
          </a:p>
        </p:txBody>
      </p:sp>
    </p:spTree>
    <p:extLst>
      <p:ext uri="{BB962C8B-B14F-4D97-AF65-F5344CB8AC3E}">
        <p14:creationId xmlns:p14="http://schemas.microsoft.com/office/powerpoint/2010/main" val="1053643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C6738-EAFA-F6CC-0148-756A95756ED4}"/>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87FB3A8-0123-8B1B-A706-3D0E00E291DB}"/>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387FB3A8-0123-8B1B-A706-3D0E00E291DB}"/>
                          </a:ext>
                        </a:extLst>
                      </p:cNvPr>
                      <p:cNvPicPr/>
                      <p:nvPr/>
                    </p:nvPicPr>
                    <p:blipFill>
                      <a:blip r:embed="rId5">
                        <a:duotone>
                          <a:srgbClr val="765FFF"/>
                          <a:srgbClr val="FFFFFF"/>
                        </a:duotone>
                      </a:blip>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3ED8CF27-E04D-CF64-13D3-8272ED09C063}"/>
              </a:ext>
            </a:extLst>
          </p:cNvPr>
          <p:cNvSpPr>
            <a:spLocks noGrp="1"/>
          </p:cNvSpPr>
          <p:nvPr>
            <p:ph type="title" sz="quarter"/>
          </p:nvPr>
        </p:nvSpPr>
        <p:spPr/>
        <p:txBody>
          <a:bodyPr>
            <a:noAutofit/>
          </a:bodyPr>
          <a:lstStyle/>
          <a:p>
            <a:r>
              <a:t>The 4 Pillars Essential for CXO Success</a:t>
            </a:r>
          </a:p>
        </p:txBody>
      </p:sp>
      <p:sp>
        <p:nvSpPr>
          <p:cNvPr id="26" name="Rounded Rectangle 25">
            <a:extLst>
              <a:ext uri="{FF2B5EF4-FFF2-40B4-BE49-F238E27FC236}">
                <a16:creationId xmlns:a16="http://schemas.microsoft.com/office/drawing/2014/main" id="{84F24442-2B05-4C17-3BA6-ED78096F54FE}"/>
              </a:ext>
            </a:extLst>
          </p:cNvPr>
          <p:cNvSpPr/>
          <p:nvPr/>
        </p:nvSpPr>
        <p:spPr>
          <a:xfrm>
            <a:off x="563253" y="916981"/>
            <a:ext cx="4039483" cy="2355587"/>
          </a:xfrm>
          <a:prstGeom prst="roundRect">
            <a:avLst>
              <a:gd name="adj" fmla="val 626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27" name="Rounded Rectangle 26">
            <a:extLst>
              <a:ext uri="{FF2B5EF4-FFF2-40B4-BE49-F238E27FC236}">
                <a16:creationId xmlns:a16="http://schemas.microsoft.com/office/drawing/2014/main" id="{335F0289-1DBA-2FB8-5DBF-5718F4CB6097}"/>
              </a:ext>
            </a:extLst>
          </p:cNvPr>
          <p:cNvSpPr/>
          <p:nvPr/>
        </p:nvSpPr>
        <p:spPr>
          <a:xfrm>
            <a:off x="4703549" y="916981"/>
            <a:ext cx="7307101" cy="2355587"/>
          </a:xfrm>
          <a:prstGeom prst="roundRect">
            <a:avLst>
              <a:gd name="adj" fmla="val 6590"/>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sp>
        <p:nvSpPr>
          <p:cNvPr id="28" name="Rounded Rectangle 27">
            <a:extLst>
              <a:ext uri="{FF2B5EF4-FFF2-40B4-BE49-F238E27FC236}">
                <a16:creationId xmlns:a16="http://schemas.microsoft.com/office/drawing/2014/main" id="{425D5A4C-64EF-4C06-1998-39B94B60C984}"/>
              </a:ext>
            </a:extLst>
          </p:cNvPr>
          <p:cNvSpPr/>
          <p:nvPr/>
        </p:nvSpPr>
        <p:spPr>
          <a:xfrm>
            <a:off x="559098" y="3379461"/>
            <a:ext cx="8110800" cy="3401738"/>
          </a:xfrm>
          <a:prstGeom prst="roundRect">
            <a:avLst>
              <a:gd name="adj" fmla="val 602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29" name="Rounded Rectangle 28">
            <a:extLst>
              <a:ext uri="{FF2B5EF4-FFF2-40B4-BE49-F238E27FC236}">
                <a16:creationId xmlns:a16="http://schemas.microsoft.com/office/drawing/2014/main" id="{256D0B0A-06CC-1B17-1438-11DF3878296A}"/>
              </a:ext>
            </a:extLst>
          </p:cNvPr>
          <p:cNvSpPr/>
          <p:nvPr/>
        </p:nvSpPr>
        <p:spPr>
          <a:xfrm>
            <a:off x="8766887" y="3379462"/>
            <a:ext cx="3243763" cy="3401738"/>
          </a:xfrm>
          <a:prstGeom prst="roundRect">
            <a:avLst>
              <a:gd name="adj" fmla="val 5054"/>
            </a:avLst>
          </a:prstGeom>
          <a:solidFill>
            <a:srgbClr val="F2F2F2"/>
          </a:solidFill>
          <a:ln w="6350">
            <a:solidFill>
              <a:srgbClr val="1D1D1D"/>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36" name="TextBox 35">
            <a:extLst>
              <a:ext uri="{FF2B5EF4-FFF2-40B4-BE49-F238E27FC236}">
                <a16:creationId xmlns:a16="http://schemas.microsoft.com/office/drawing/2014/main" id="{E0515CE5-DE5B-E186-DCAC-246D946EE4BB}"/>
              </a:ext>
            </a:extLst>
          </p:cNvPr>
          <p:cNvSpPr txBox="1"/>
          <p:nvPr/>
        </p:nvSpPr>
        <p:spPr>
          <a:xfrm>
            <a:off x="772753" y="952710"/>
            <a:ext cx="3059202" cy="419820"/>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solidFill>
                  <a:srgbClr val="281A42"/>
                </a:solidFill>
                <a:effectLst/>
                <a:uLnTx/>
                <a:uFillTx/>
                <a:latin typeface="Segoe UI" pitchFamily="34" charset="0"/>
                <a:cs typeface="Calibri"/>
              </a:rPr>
              <a:t>Clarity and Alignment on Mandate</a:t>
            </a:r>
            <a:endParaRPr kumimoji="0" lang="en-US" sz="1400" b="1" i="0" u="none" strike="noStrike" kern="0" cap="none" spc="-25" normalizeH="0" baseline="0" noProof="0" dirty="0">
              <a:ln>
                <a:noFill/>
              </a:ln>
              <a:solidFill>
                <a:srgbClr val="281A42"/>
              </a:solidFill>
              <a:effectLst/>
              <a:uLnTx/>
              <a:uFillTx/>
              <a:latin typeface="Segoe UI" pitchFamily="34" charset="0"/>
              <a:cs typeface="Calibri" panose="020F0502020204030204" pitchFamily="34" charset="0"/>
            </a:endParaRPr>
          </a:p>
        </p:txBody>
      </p:sp>
      <p:sp>
        <p:nvSpPr>
          <p:cNvPr id="39" name="TextBox 38">
            <a:extLst>
              <a:ext uri="{FF2B5EF4-FFF2-40B4-BE49-F238E27FC236}">
                <a16:creationId xmlns:a16="http://schemas.microsoft.com/office/drawing/2014/main" id="{665B3BFD-D17E-E373-DF6E-63DB91E3E221}"/>
              </a:ext>
            </a:extLst>
          </p:cNvPr>
          <p:cNvSpPr>
            <a:spLocks noGrp="1"/>
          </p:cNvSpPr>
          <p:nvPr>
            <p:ph idx="1"/>
          </p:nvPr>
        </p:nvSpPr>
        <p:spPr>
          <a:xfrm>
            <a:off x="773632" y="1495888"/>
            <a:ext cx="3763966" cy="1140313"/>
          </a:xfrm>
          <a:prstGeom prst="rect">
            <a:avLst/>
          </a:prstGeom>
          <a:noFill/>
        </p:spPr>
        <p:txBody>
          <a:bodyPr wrap="square" lIns="0" tIns="45720" rIns="91440" bIns="45720" anchor="t">
            <a:noAutofit/>
          </a:bodyPr>
          <a:lstStyle/>
          <a:p>
            <a:pPr marL="171450" marR="0" lvl="0" indent="-171450" defTabSz="914400" eaLnBrk="1" fontAlgn="auto" latinLnBrk="0" hangingPunct="1">
              <a:lnSpc>
                <a:spcPct val="100000"/>
              </a:lnSpc>
              <a:spcBef>
                <a:spcPts val="0"/>
              </a:spcBef>
              <a:spcAft>
                <a:spcPts val="800"/>
              </a:spcAft>
              <a:buBlip>
                <a:blip r:embed="rId6"/>
              </a:buBlip>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Lack of clarity and insufficient alignment on mandate between stakeholders (Board, CEO, ExCo). </a:t>
            </a:r>
          </a:p>
          <a:p>
            <a:pPr marL="171450" marR="0" lvl="0" indent="-171450" defTabSz="914400" eaLnBrk="1" fontAlgn="auto" latinLnBrk="0" hangingPunct="1">
              <a:lnSpc>
                <a:spcPct val="100000"/>
              </a:lnSpc>
              <a:spcBef>
                <a:spcPts val="0"/>
              </a:spcBef>
              <a:spcAft>
                <a:spcPts val="800"/>
              </a:spcAft>
              <a:buBlip>
                <a:blip r:embed="rId6"/>
              </a:buBlip>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The vison has not been translated into specific and clear plans. </a:t>
            </a:r>
          </a:p>
          <a:p>
            <a:pPr marL="171450" marR="0" lvl="0" indent="-171450" defTabSz="914400" eaLnBrk="1" fontAlgn="auto" latinLnBrk="0" hangingPunct="1">
              <a:lnSpc>
                <a:spcPct val="100000"/>
              </a:lnSpc>
              <a:spcBef>
                <a:spcPts val="0"/>
              </a:spcBef>
              <a:spcAft>
                <a:spcPts val="800"/>
              </a:spcAft>
              <a:buBlip>
                <a:blip r:embed="rId6"/>
              </a:buBlip>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mn-ea"/>
                <a:cs typeface="+mn-cs"/>
              </a:rPr>
              <a:t>Low confidence among the Board and leadership team members regarding the achievability of these ambitions. </a:t>
            </a:r>
          </a:p>
        </p:txBody>
      </p:sp>
      <p:sp>
        <p:nvSpPr>
          <p:cNvPr id="41" name="TextBox 40">
            <a:extLst>
              <a:ext uri="{FF2B5EF4-FFF2-40B4-BE49-F238E27FC236}">
                <a16:creationId xmlns:a16="http://schemas.microsoft.com/office/drawing/2014/main" id="{C2EB4419-7802-355D-9067-21C99AF526AC}"/>
              </a:ext>
            </a:extLst>
          </p:cNvPr>
          <p:cNvSpPr txBox="1"/>
          <p:nvPr/>
        </p:nvSpPr>
        <p:spPr>
          <a:xfrm>
            <a:off x="4906781" y="952543"/>
            <a:ext cx="3020083" cy="558665"/>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b="1" spc="-25">
                <a:latin typeface="Segoe UI" pitchFamily="34" charset="0"/>
              </a:defRPr>
            </a:pPr>
            <a:r>
              <a:rPr kumimoji="0" lang="en-US" sz="1400" b="1" i="0" u="none" strike="noStrike" kern="0" cap="none" spc="-25" normalizeH="0" baseline="0" noProof="0" dirty="0">
                <a:ln>
                  <a:noFill/>
                </a:ln>
                <a:solidFill>
                  <a:srgbClr val="281A42"/>
                </a:solidFill>
                <a:effectLst/>
                <a:uLnTx/>
                <a:uFillTx/>
                <a:latin typeface="Segoe UI" pitchFamily="34" charset="0"/>
                <a:cs typeface="Calibri"/>
              </a:rPr>
              <a:t>Click between CXO Jobs + Ambition</a:t>
            </a:r>
          </a:p>
        </p:txBody>
      </p:sp>
      <p:sp>
        <p:nvSpPr>
          <p:cNvPr id="42" name="TextBox 41">
            <a:extLst>
              <a:ext uri="{FF2B5EF4-FFF2-40B4-BE49-F238E27FC236}">
                <a16:creationId xmlns:a16="http://schemas.microsoft.com/office/drawing/2014/main" id="{BBA6874D-DD08-8134-D423-7FE530AE5000}"/>
              </a:ext>
            </a:extLst>
          </p:cNvPr>
          <p:cNvSpPr txBox="1"/>
          <p:nvPr/>
        </p:nvSpPr>
        <p:spPr>
          <a:xfrm>
            <a:off x="4933354" y="1415013"/>
            <a:ext cx="6695393" cy="1512868"/>
          </a:xfrm>
          <a:prstGeom prst="rect">
            <a:avLst/>
          </a:prstGeom>
          <a:noFill/>
        </p:spPr>
        <p:txBody>
          <a:bodyPr wrap="square" lIns="0" tIns="45720" rIns="91440" bIns="45720" numCol="3" spcCol="108000" anchor="t">
            <a:noAutofit/>
          </a:bodyPr>
          <a:lstStyle/>
          <a:p>
            <a:pPr marL="171450" indent="-171450">
              <a:spcAft>
                <a:spcPts val="1200"/>
              </a:spcAft>
              <a:buFont typeface="Arial" panose="020B0604020202020204" pitchFamily="34" charset="0"/>
              <a:buChar char="•"/>
              <a:defRPr/>
            </a:pPr>
            <a:r>
              <a:rPr kumimoji="0" lang="en-US" sz="1200" b="0" i="0" u="none" strike="noStrike" kern="0" cap="none" spc="-10" normalizeH="0" baseline="0" noProof="0" dirty="0">
                <a:ln>
                  <a:noFill/>
                </a:ln>
                <a:solidFill>
                  <a:srgbClr val="1D1D1D"/>
                </a:solidFill>
                <a:effectLst/>
                <a:uLnTx/>
                <a:uFillTx/>
                <a:latin typeface="Arial" pitchFamily="34" charset="0"/>
                <a:ea typeface="Lato"/>
                <a:cs typeface="Lato"/>
              </a:rPr>
              <a:t>Strong regional and operational background capable of </a:t>
            </a:r>
            <a:r>
              <a:rPr lang="en-US" sz="1200" spc="-10" dirty="0">
                <a:solidFill>
                  <a:srgbClr val="1D1D1D"/>
                </a:solidFill>
                <a:latin typeface="Arial" pitchFamily="34" charset="0"/>
                <a:ea typeface="Lato"/>
                <a:cs typeface="Lato"/>
              </a:rPr>
              <a:t>running the business.</a:t>
            </a:r>
          </a:p>
          <a:p>
            <a:pPr marL="171450" indent="-171450">
              <a:spcAft>
                <a:spcPts val="1200"/>
              </a:spcAft>
              <a:buFont typeface="Arial" panose="020B0604020202020204" pitchFamily="34" charset="0"/>
              <a:buChar char="•"/>
              <a:defRPr/>
            </a:pPr>
            <a:r>
              <a:rPr lang="en-US" sz="1200" spc="-10" dirty="0">
                <a:solidFill>
                  <a:srgbClr val="1D1D1D"/>
                </a:solidFill>
                <a:latin typeface="Arial" pitchFamily="34" charset="0"/>
                <a:ea typeface="Lato"/>
                <a:cs typeface="Lato"/>
              </a:rPr>
              <a:t>However, his Jobs-to-be done readiness is ~50% (VA portfolio, inorganic growth, geographic expansion, operating model).</a:t>
            </a:r>
            <a:endParaRPr lang="en-US" sz="1200" b="0" i="0" u="none" strike="noStrike" kern="0" cap="none" spc="-10" normalizeH="0" baseline="0" noProof="0" dirty="0">
              <a:ln>
                <a:noFill/>
              </a:ln>
              <a:effectLst/>
              <a:uLnTx/>
              <a:uFillTx/>
              <a:latin typeface="Arial" pitchFamily="34" charset="0"/>
              <a:ea typeface="+mn-ea"/>
              <a:cs typeface="+mn-cs"/>
            </a:endParaRPr>
          </a:p>
          <a:p>
            <a:pPr marL="171450" indent="-171450">
              <a:spcAft>
                <a:spcPts val="1200"/>
              </a:spcAft>
              <a:buFont typeface="Arial" panose="020B0604020202020204" pitchFamily="34" charset="0"/>
              <a:buChar char="•"/>
              <a:defRPr/>
            </a:pPr>
            <a:r>
              <a:rPr kumimoji="0" lang="en-US" sz="1200" b="0" i="0" u="none" strike="noStrike" kern="0" cap="none" spc="-10" normalizeH="0" baseline="0" noProof="0" dirty="0">
                <a:ln>
                  <a:noFill/>
                </a:ln>
                <a:solidFill>
                  <a:srgbClr val="1D1D1D"/>
                </a:solidFill>
                <a:effectLst/>
                <a:uLnTx/>
                <a:uFillTx/>
                <a:latin typeface="Arial" pitchFamily="34" charset="0"/>
                <a:ea typeface="Lato"/>
                <a:cs typeface="Lato"/>
              </a:rPr>
              <a:t>Relies heavily on Board’s guidance and lacks initiative for new growth opportunities. </a:t>
            </a:r>
          </a:p>
          <a:p>
            <a:pPr marL="171450" marR="0" lvl="0" indent="-171450" defTabSz="91440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200" b="0" i="0" u="none" strike="noStrike" kern="0" cap="none" spc="-10" normalizeH="0" baseline="0" noProof="0" dirty="0">
                <a:ln>
                  <a:noFill/>
                </a:ln>
                <a:solidFill>
                  <a:srgbClr val="1D1D1D"/>
                </a:solidFill>
                <a:effectLst/>
                <a:uLnTx/>
                <a:uFillTx/>
                <a:latin typeface="Arial" pitchFamily="34" charset="0"/>
                <a:ea typeface="Lato"/>
                <a:cs typeface="Lato"/>
              </a:rPr>
              <a:t>Gap in defining and detailing an exciting growth narrative to build investor commitment &amp; confidence to deliver deals.</a:t>
            </a:r>
            <a:endParaRPr kumimoji="0" lang="en-US" sz="1200" b="0" i="0" u="none" strike="noStrike" kern="0" cap="none" spc="-10" normalizeH="0" baseline="0" noProof="0" dirty="0">
              <a:ln>
                <a:noFill/>
              </a:ln>
              <a:solidFill>
                <a:srgbClr val="1D1D1D"/>
              </a:solidFill>
              <a:effectLst/>
              <a:uLnTx/>
              <a:uFillTx/>
              <a:latin typeface="Arial" pitchFamily="34" charset="0"/>
              <a:ea typeface="Lato"/>
              <a:cs typeface="Lato"/>
            </a:endParaRPr>
          </a:p>
          <a:p>
            <a:pPr marL="171450" indent="-171450">
              <a:spcAft>
                <a:spcPts val="1200"/>
              </a:spcAft>
              <a:buFont typeface="Arial" panose="020B0604020202020204" pitchFamily="34" charset="0"/>
              <a:buChar char="•"/>
              <a:defRPr/>
            </a:pPr>
            <a:r>
              <a:rPr kumimoji="0" lang="en-US" sz="1200" b="0" i="0" u="none" strike="noStrike" kern="0" cap="none" spc="-10" normalizeH="0" baseline="0" noProof="0" dirty="0">
                <a:ln>
                  <a:noFill/>
                </a:ln>
                <a:solidFill>
                  <a:srgbClr val="1D1D1D"/>
                </a:solidFill>
                <a:effectLst/>
                <a:uLnTx/>
                <a:uFillTx/>
                <a:latin typeface="Arial" pitchFamily="34" charset="0"/>
                <a:ea typeface="Lato"/>
                <a:cs typeface="Lato"/>
              </a:rPr>
              <a:t>Hesitant to make bold decisions</a:t>
            </a:r>
            <a:r>
              <a:rPr lang="en-US" sz="1200" spc="-10" dirty="0">
                <a:solidFill>
                  <a:srgbClr val="1D1D1D"/>
                </a:solidFill>
                <a:latin typeface="Arial" pitchFamily="34" charset="0"/>
                <a:ea typeface="Lato"/>
                <a:cs typeface="Lato"/>
              </a:rPr>
              <a:t> and is corroborated with his Hogan.</a:t>
            </a:r>
          </a:p>
          <a:p>
            <a:pPr marL="171450" marR="0" lvl="0" indent="-171450" defTabSz="914400">
              <a:lnSpc>
                <a:spcPct val="100000"/>
              </a:lnSpc>
              <a:spcBef>
                <a:spcPts val="0"/>
              </a:spcBef>
              <a:spcAft>
                <a:spcPts val="1200"/>
              </a:spcAft>
              <a:buClrTx/>
              <a:buSzTx/>
              <a:buFont typeface="Arial" panose="020B0604020202020204" pitchFamily="34" charset="0"/>
              <a:buChar char="•"/>
              <a:tabLst/>
              <a:defRPr/>
            </a:pPr>
            <a:r>
              <a:rPr kumimoji="0" lang="en-US" sz="1200" b="0" i="0" u="none" strike="noStrike" kern="0" cap="none" spc="-10" normalizeH="0" baseline="0" noProof="0" dirty="0">
                <a:ln>
                  <a:noFill/>
                </a:ln>
                <a:solidFill>
                  <a:srgbClr val="1D1D1D"/>
                </a:solidFill>
                <a:effectLst/>
                <a:uLnTx/>
                <a:uFillTx/>
                <a:latin typeface="Arial" pitchFamily="34" charset="0"/>
                <a:ea typeface="Lato"/>
                <a:cs typeface="Lato"/>
              </a:rPr>
              <a:t>Does not hold his team accountable for performance. </a:t>
            </a:r>
            <a:endParaRPr lang="en-US" dirty="0"/>
          </a:p>
          <a:p>
            <a:pPr marL="171450" marR="0" lvl="0" indent="-171450" defTabSz="91440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2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44" name="TextBox 43">
            <a:extLst>
              <a:ext uri="{FF2B5EF4-FFF2-40B4-BE49-F238E27FC236}">
                <a16:creationId xmlns:a16="http://schemas.microsoft.com/office/drawing/2014/main" id="{469EEBD2-3D74-8784-3094-77C7EDDB464E}"/>
              </a:ext>
            </a:extLst>
          </p:cNvPr>
          <p:cNvSpPr txBox="1"/>
          <p:nvPr/>
        </p:nvSpPr>
        <p:spPr>
          <a:xfrm>
            <a:off x="750773" y="3383653"/>
            <a:ext cx="4011477" cy="456453"/>
          </a:xfrm>
          <a:prstGeom prst="rect">
            <a:avLst/>
          </a:prstGeom>
          <a:noFill/>
        </p:spPr>
        <p:txBody>
          <a:bodyPr wrap="square" lIns="0" tIns="45720" rIns="91440" bIns="45720" anchor="t">
            <a:noAutofit/>
          </a:bodyPr>
          <a:lstStyle/>
          <a:p>
            <a:pPr>
              <a:defRPr/>
            </a:pPr>
            <a:r>
              <a:rPr kumimoji="0" lang="en-US" sz="1400" b="1" i="0" u="none" strike="noStrike" kern="0" cap="none" spc="0" normalizeH="0" baseline="0" noProof="0" dirty="0">
                <a:ln>
                  <a:noFill/>
                </a:ln>
                <a:solidFill>
                  <a:srgbClr val="281A42"/>
                </a:solidFill>
                <a:effectLst/>
                <a:uLnTx/>
                <a:uFillTx/>
                <a:latin typeface="Lato Black"/>
                <a:ea typeface="Lato Black"/>
                <a:cs typeface="Calibri"/>
              </a:rPr>
              <a:t>LT capability to deliver strategy</a:t>
            </a:r>
            <a:r>
              <a:rPr lang="en-US" sz="1400" b="1" dirty="0">
                <a:solidFill>
                  <a:srgbClr val="281A42"/>
                </a:solidFill>
                <a:latin typeface="Lato Black"/>
                <a:ea typeface="Lato Black"/>
                <a:cs typeface="Calibri"/>
              </a:rPr>
              <a:t> </a:t>
            </a:r>
            <a:endPar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endParaRPr>
          </a:p>
        </p:txBody>
      </p:sp>
      <p:sp>
        <p:nvSpPr>
          <p:cNvPr id="64" name="TextBox 63">
            <a:extLst>
              <a:ext uri="{FF2B5EF4-FFF2-40B4-BE49-F238E27FC236}">
                <a16:creationId xmlns:a16="http://schemas.microsoft.com/office/drawing/2014/main" id="{562AC2D1-88D0-6A53-F73A-579BF8105C45}"/>
              </a:ext>
            </a:extLst>
          </p:cNvPr>
          <p:cNvSpPr txBox="1"/>
          <p:nvPr/>
        </p:nvSpPr>
        <p:spPr>
          <a:xfrm>
            <a:off x="8953168" y="3338346"/>
            <a:ext cx="2157198" cy="419820"/>
          </a:xfrm>
          <a:prstGeom prst="rect">
            <a:avLst/>
          </a:prstGeom>
          <a:noFill/>
        </p:spPr>
        <p:txBody>
          <a:bodyPr wrap="square" lIns="0" tIns="45720" rIns="91440" bIns="4572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rPr>
              <a:t>Organization capabilities &amp; critical roles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281A42"/>
              </a:solidFill>
              <a:effectLst/>
              <a:uLnTx/>
              <a:uFillTx/>
              <a:latin typeface="Lato Black" panose="020F0502020204030203" pitchFamily="34" charset="77"/>
              <a:cs typeface="Calibri"/>
            </a:endParaRPr>
          </a:p>
        </p:txBody>
      </p:sp>
      <p:sp>
        <p:nvSpPr>
          <p:cNvPr id="70" name="Rounded Rectangle 69">
            <a:extLst>
              <a:ext uri="{FF2B5EF4-FFF2-40B4-BE49-F238E27FC236}">
                <a16:creationId xmlns:a16="http://schemas.microsoft.com/office/drawing/2014/main" id="{301503DC-3B59-91AB-10CF-B253B99554A2}"/>
              </a:ext>
            </a:extLst>
          </p:cNvPr>
          <p:cNvSpPr/>
          <p:nvPr/>
        </p:nvSpPr>
        <p:spPr>
          <a:xfrm>
            <a:off x="772752" y="4182210"/>
            <a:ext cx="908538" cy="1566303"/>
          </a:xfrm>
          <a:prstGeom prst="roundRect">
            <a:avLst>
              <a:gd name="adj" fmla="val 7595"/>
            </a:avLst>
          </a:prstGeom>
          <a:solidFill>
            <a:srgbClr val="281A42">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71" name="Rounded Rectangle 70">
            <a:extLst>
              <a:ext uri="{FF2B5EF4-FFF2-40B4-BE49-F238E27FC236}">
                <a16:creationId xmlns:a16="http://schemas.microsoft.com/office/drawing/2014/main" id="{FE529F6C-F30D-BBDD-915B-DEE53064BC3C}"/>
              </a:ext>
            </a:extLst>
          </p:cNvPr>
          <p:cNvSpPr/>
          <p:nvPr/>
        </p:nvSpPr>
        <p:spPr>
          <a:xfrm>
            <a:off x="2675242" y="4182210"/>
            <a:ext cx="908538" cy="1566303"/>
          </a:xfrm>
          <a:prstGeom prst="roundRect">
            <a:avLst>
              <a:gd name="adj" fmla="val 7595"/>
            </a:avLst>
          </a:prstGeom>
          <a:solidFill>
            <a:srgbClr val="281A42">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pc="-10" dirty="0">
              <a:solidFill>
                <a:srgbClr val="FFFFFF"/>
              </a:solidFill>
              <a:latin typeface="Arial" pitchFamily="34" charset="0"/>
            </a:endParaRPr>
          </a:p>
        </p:txBody>
      </p:sp>
      <p:sp>
        <p:nvSpPr>
          <p:cNvPr id="72" name="Rounded Rectangle 71">
            <a:extLst>
              <a:ext uri="{FF2B5EF4-FFF2-40B4-BE49-F238E27FC236}">
                <a16:creationId xmlns:a16="http://schemas.microsoft.com/office/drawing/2014/main" id="{6BEBBC3F-FD0D-AFDF-954F-7AFFC8821DE8}"/>
              </a:ext>
            </a:extLst>
          </p:cNvPr>
          <p:cNvSpPr/>
          <p:nvPr/>
        </p:nvSpPr>
        <p:spPr>
          <a:xfrm>
            <a:off x="3642064" y="4182210"/>
            <a:ext cx="908538" cy="1566303"/>
          </a:xfrm>
          <a:prstGeom prst="roundRect">
            <a:avLst>
              <a:gd name="adj" fmla="val 7595"/>
            </a:avLst>
          </a:prstGeom>
          <a:solidFill>
            <a:srgbClr val="00C27A">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73" name="Rounded Rectangle 72">
            <a:extLst>
              <a:ext uri="{FF2B5EF4-FFF2-40B4-BE49-F238E27FC236}">
                <a16:creationId xmlns:a16="http://schemas.microsoft.com/office/drawing/2014/main" id="{534A98C4-8551-5C8A-D0CF-11A737DA540A}"/>
              </a:ext>
            </a:extLst>
          </p:cNvPr>
          <p:cNvSpPr/>
          <p:nvPr/>
        </p:nvSpPr>
        <p:spPr>
          <a:xfrm>
            <a:off x="4608885" y="4182210"/>
            <a:ext cx="908538" cy="1566303"/>
          </a:xfrm>
          <a:prstGeom prst="roundRect">
            <a:avLst>
              <a:gd name="adj" fmla="val 7595"/>
            </a:avLst>
          </a:prstGeom>
          <a:solidFill>
            <a:srgbClr val="00C27A">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74" name="Rounded Rectangle 73">
            <a:extLst>
              <a:ext uri="{FF2B5EF4-FFF2-40B4-BE49-F238E27FC236}">
                <a16:creationId xmlns:a16="http://schemas.microsoft.com/office/drawing/2014/main" id="{0D91382B-C69C-A8BD-A609-8474C54027F1}"/>
              </a:ext>
            </a:extLst>
          </p:cNvPr>
          <p:cNvSpPr/>
          <p:nvPr/>
        </p:nvSpPr>
        <p:spPr>
          <a:xfrm>
            <a:off x="5575707" y="4182210"/>
            <a:ext cx="908538" cy="1566303"/>
          </a:xfrm>
          <a:prstGeom prst="roundRect">
            <a:avLst>
              <a:gd name="adj" fmla="val 7595"/>
            </a:avLst>
          </a:prstGeom>
          <a:solidFill>
            <a:srgbClr val="FFB547">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1D1D1D"/>
              </a:solidFill>
              <a:effectLst/>
              <a:uLnTx/>
              <a:uFillTx/>
              <a:latin typeface="Arial" pitchFamily="34" charset="0"/>
              <a:ea typeface="+mn-ea"/>
              <a:cs typeface="+mn-cs"/>
            </a:endParaRPr>
          </a:p>
        </p:txBody>
      </p:sp>
      <p:sp>
        <p:nvSpPr>
          <p:cNvPr id="75" name="Rounded Rectangle 74">
            <a:extLst>
              <a:ext uri="{FF2B5EF4-FFF2-40B4-BE49-F238E27FC236}">
                <a16:creationId xmlns:a16="http://schemas.microsoft.com/office/drawing/2014/main" id="{67006C40-5FC2-B526-9155-60EC161A35C5}"/>
              </a:ext>
            </a:extLst>
          </p:cNvPr>
          <p:cNvSpPr/>
          <p:nvPr/>
        </p:nvSpPr>
        <p:spPr>
          <a:xfrm>
            <a:off x="6542529" y="4182210"/>
            <a:ext cx="908538" cy="1566303"/>
          </a:xfrm>
          <a:prstGeom prst="roundRect">
            <a:avLst>
              <a:gd name="adj" fmla="val 7595"/>
            </a:avLst>
          </a:prstGeom>
          <a:solidFill>
            <a:srgbClr val="281A42"/>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76" name="Rounded Rectangle 75">
            <a:extLst>
              <a:ext uri="{FF2B5EF4-FFF2-40B4-BE49-F238E27FC236}">
                <a16:creationId xmlns:a16="http://schemas.microsoft.com/office/drawing/2014/main" id="{70ED0AFF-8740-EC87-348C-FDA19140F4E2}"/>
              </a:ext>
            </a:extLst>
          </p:cNvPr>
          <p:cNvSpPr/>
          <p:nvPr/>
        </p:nvSpPr>
        <p:spPr>
          <a:xfrm>
            <a:off x="7509351" y="4182210"/>
            <a:ext cx="908538" cy="1566303"/>
          </a:xfrm>
          <a:prstGeom prst="roundRect">
            <a:avLst>
              <a:gd name="adj" fmla="val 7595"/>
            </a:avLst>
          </a:prstGeom>
          <a:solidFill>
            <a:srgbClr val="00C27A">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endParaRPr lang="en-US" spc="-10" dirty="0">
              <a:solidFill>
                <a:srgbClr val="FFFFFF"/>
              </a:solidFill>
              <a:latin typeface="Arial" pitchFamily="34" charset="0"/>
            </a:endParaRPr>
          </a:p>
        </p:txBody>
      </p:sp>
      <p:sp>
        <p:nvSpPr>
          <p:cNvPr id="77" name="Rounded Rectangle 76">
            <a:extLst>
              <a:ext uri="{FF2B5EF4-FFF2-40B4-BE49-F238E27FC236}">
                <a16:creationId xmlns:a16="http://schemas.microsoft.com/office/drawing/2014/main" id="{9B94396C-072D-F5FE-73E7-D61FDFC18030}"/>
              </a:ext>
            </a:extLst>
          </p:cNvPr>
          <p:cNvSpPr/>
          <p:nvPr/>
        </p:nvSpPr>
        <p:spPr>
          <a:xfrm>
            <a:off x="1717026" y="4182144"/>
            <a:ext cx="908538" cy="1566303"/>
          </a:xfrm>
          <a:prstGeom prst="roundRect">
            <a:avLst>
              <a:gd name="adj" fmla="val 7595"/>
            </a:avLst>
          </a:prstGeom>
          <a:solidFill>
            <a:srgbClr val="00C27A">
              <a:alpha val="25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78" name="TextBox 77">
            <a:extLst>
              <a:ext uri="{FF2B5EF4-FFF2-40B4-BE49-F238E27FC236}">
                <a16:creationId xmlns:a16="http://schemas.microsoft.com/office/drawing/2014/main" id="{15E5D1ED-9A73-BB61-BC26-299FC5964F0A}"/>
              </a:ext>
            </a:extLst>
          </p:cNvPr>
          <p:cNvSpPr txBox="1"/>
          <p:nvPr/>
        </p:nvSpPr>
        <p:spPr>
          <a:xfrm>
            <a:off x="7580575" y="4203817"/>
            <a:ext cx="653833"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CFO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80" name="TextBox 79">
            <a:extLst>
              <a:ext uri="{FF2B5EF4-FFF2-40B4-BE49-F238E27FC236}">
                <a16:creationId xmlns:a16="http://schemas.microsoft.com/office/drawing/2014/main" id="{B1A222D6-CC4F-0806-D5F4-C8D2422433A4}"/>
              </a:ext>
            </a:extLst>
          </p:cNvPr>
          <p:cNvSpPr txBox="1"/>
          <p:nvPr/>
        </p:nvSpPr>
        <p:spPr>
          <a:xfrm>
            <a:off x="2802594" y="4203817"/>
            <a:ext cx="653833"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CHRO</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81" name="TextBox 80">
            <a:extLst>
              <a:ext uri="{FF2B5EF4-FFF2-40B4-BE49-F238E27FC236}">
                <a16:creationId xmlns:a16="http://schemas.microsoft.com/office/drawing/2014/main" id="{44848275-758E-5BCD-66C5-7BE907E74894}"/>
              </a:ext>
            </a:extLst>
          </p:cNvPr>
          <p:cNvSpPr txBox="1"/>
          <p:nvPr/>
        </p:nvSpPr>
        <p:spPr>
          <a:xfrm>
            <a:off x="3762805" y="4203817"/>
            <a:ext cx="727559"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Chief Technology Officer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82" name="TextBox 81">
            <a:extLst>
              <a:ext uri="{FF2B5EF4-FFF2-40B4-BE49-F238E27FC236}">
                <a16:creationId xmlns:a16="http://schemas.microsoft.com/office/drawing/2014/main" id="{182FC7F1-77D0-CD2A-3634-5FE356B90E71}"/>
              </a:ext>
            </a:extLst>
          </p:cNvPr>
          <p:cNvSpPr txBox="1"/>
          <p:nvPr/>
        </p:nvSpPr>
        <p:spPr>
          <a:xfrm>
            <a:off x="4721317" y="4203817"/>
            <a:ext cx="727559"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Projects Director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83" name="TextBox 82">
            <a:extLst>
              <a:ext uri="{FF2B5EF4-FFF2-40B4-BE49-F238E27FC236}">
                <a16:creationId xmlns:a16="http://schemas.microsoft.com/office/drawing/2014/main" id="{261EB515-0140-2299-8B31-FA3DAD2337AB}"/>
              </a:ext>
            </a:extLst>
          </p:cNvPr>
          <p:cNvSpPr txBox="1"/>
          <p:nvPr/>
        </p:nvSpPr>
        <p:spPr>
          <a:xfrm>
            <a:off x="5639217" y="4203817"/>
            <a:ext cx="90724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PMO &amp; Transformation</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Director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84" name="TextBox 83">
            <a:extLst>
              <a:ext uri="{FF2B5EF4-FFF2-40B4-BE49-F238E27FC236}">
                <a16:creationId xmlns:a16="http://schemas.microsoft.com/office/drawing/2014/main" id="{DA3FCD6F-50E3-8E97-D65C-456A01A6846B}"/>
              </a:ext>
            </a:extLst>
          </p:cNvPr>
          <p:cNvSpPr txBox="1"/>
          <p:nvPr/>
        </p:nvSpPr>
        <p:spPr>
          <a:xfrm>
            <a:off x="6654960" y="4203817"/>
            <a:ext cx="736530"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Chief Growth Officer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lang="en-US" sz="900" spc="-10" dirty="0">
              <a:solidFill>
                <a:srgbClr val="FFFFFF"/>
              </a:solidFill>
              <a:latin typeface="Arial" pitchFamily="34" charset="0"/>
              <a:ea typeface="+mn-ea"/>
              <a:cs typeface="+mn-cs"/>
            </a:endParaRPr>
          </a:p>
        </p:txBody>
      </p:sp>
      <p:sp>
        <p:nvSpPr>
          <p:cNvPr id="85" name="TextBox 84">
            <a:extLst>
              <a:ext uri="{FF2B5EF4-FFF2-40B4-BE49-F238E27FC236}">
                <a16:creationId xmlns:a16="http://schemas.microsoft.com/office/drawing/2014/main" id="{B33B582C-EFD9-D717-AC6F-C7026271E911}"/>
              </a:ext>
            </a:extLst>
          </p:cNvPr>
          <p:cNvSpPr txBox="1"/>
          <p:nvPr/>
        </p:nvSpPr>
        <p:spPr>
          <a:xfrm>
            <a:off x="860830" y="4203817"/>
            <a:ext cx="73782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lang="en-US" sz="900" b="1" spc="-10" dirty="0">
                <a:solidFill>
                  <a:srgbClr val="FFFFFF"/>
                </a:solidFill>
                <a:latin typeface="Segoe UI" pitchFamily="34" charset="0"/>
                <a:ea typeface="+mn-ea"/>
                <a:cs typeface="+mn-cs"/>
              </a:rPr>
              <a:t>CEO </a:t>
            </a: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BU 1 </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endParaRPr>
          </a:p>
        </p:txBody>
      </p:sp>
      <p:sp>
        <p:nvSpPr>
          <p:cNvPr id="86" name="TextBox 85">
            <a:extLst>
              <a:ext uri="{FF2B5EF4-FFF2-40B4-BE49-F238E27FC236}">
                <a16:creationId xmlns:a16="http://schemas.microsoft.com/office/drawing/2014/main" id="{415B6B95-6AE4-AD71-C82C-9CFFCCEBDAB3}"/>
              </a:ext>
            </a:extLst>
          </p:cNvPr>
          <p:cNvSpPr txBox="1"/>
          <p:nvPr/>
        </p:nvSpPr>
        <p:spPr>
          <a:xfrm>
            <a:off x="1828740" y="4203817"/>
            <a:ext cx="737824" cy="1483448"/>
          </a:xfrm>
          <a:prstGeom prst="rect">
            <a:avLst/>
          </a:prstGeom>
          <a:noFill/>
        </p:spPr>
        <p:txBody>
          <a:bodyPr wrap="square" lIns="0" tIns="45720" rIns="91440" bIns="45720" numCol="1" spcCol="108000" anchor="t">
            <a:noAutofit/>
          </a:bodyPr>
          <a:lstStyle/>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r>
              <a:rPr kumimoji="0" lang="en-US" sz="900" b="1" i="0" u="none" strike="noStrike" kern="0" cap="none" spc="-10" normalizeH="0" baseline="0" noProof="0" dirty="0">
                <a:ln>
                  <a:noFill/>
                </a:ln>
                <a:solidFill>
                  <a:srgbClr val="FFFFFF"/>
                </a:solidFill>
                <a:effectLst/>
                <a:uLnTx/>
                <a:uFillTx/>
                <a:latin typeface="Segoe UI" pitchFamily="34" charset="0"/>
                <a:ea typeface="+mn-ea"/>
                <a:cs typeface="+mn-cs"/>
              </a:rPr>
              <a:t>CEO BU 2</a:t>
            </a:r>
          </a:p>
          <a:p>
            <a:pPr marL="0" marR="0" lvl="0" indent="0" defTabSz="914400" eaLnBrk="1" fontAlgn="auto" latinLnBrk="0" hangingPunct="1">
              <a:lnSpc>
                <a:spcPct val="100000"/>
              </a:lnSpc>
              <a:spcBef>
                <a:spcPts val="0"/>
              </a:spcBef>
              <a:spcAft>
                <a:spcPts val="0"/>
              </a:spcAft>
              <a:buClrTx/>
              <a:buSzTx/>
              <a:buFontTx/>
              <a:buNone/>
              <a:tabLst/>
              <a:defRPr>
                <a:solidFill>
                  <a:srgbClr val="FFFFFF"/>
                </a:solidFill>
              </a:defRPr>
            </a:pPr>
            <a:endParaRPr kumimoji="0" lang="en-US" sz="900" b="0" i="0" u="none" strike="noStrike" kern="0" cap="none" spc="-10" normalizeH="0" baseline="0" noProof="0" dirty="0">
              <a:ln>
                <a:noFill/>
              </a:ln>
              <a:solidFill>
                <a:srgbClr val="FFFFFF"/>
              </a:solidFill>
              <a:effectLst/>
              <a:uLnTx/>
              <a:uFillTx/>
              <a:latin typeface="Arial" pitchFamily="34" charset="0"/>
              <a:ea typeface="+mn-ea"/>
              <a:cs typeface="+mn-cs"/>
            </a:endParaRPr>
          </a:p>
        </p:txBody>
      </p:sp>
      <p:cxnSp>
        <p:nvCxnSpPr>
          <p:cNvPr id="114" name="Straight Connector 113">
            <a:extLst>
              <a:ext uri="{FF2B5EF4-FFF2-40B4-BE49-F238E27FC236}">
                <a16:creationId xmlns:a16="http://schemas.microsoft.com/office/drawing/2014/main" id="{55403FB6-9184-A415-639A-2E793E5C7108}"/>
              </a:ext>
            </a:extLst>
          </p:cNvPr>
          <p:cNvCxnSpPr>
            <a:cxnSpLocks/>
          </p:cNvCxnSpPr>
          <p:nvPr/>
        </p:nvCxnSpPr>
        <p:spPr>
          <a:xfrm>
            <a:off x="772752" y="4897137"/>
            <a:ext cx="7676290" cy="0"/>
          </a:xfrm>
          <a:prstGeom prst="line">
            <a:avLst/>
          </a:prstGeom>
          <a:ln w="6350"/>
        </p:spPr>
        <p:style>
          <a:lnRef idx="1">
            <a:schemeClr val="accent1"/>
          </a:lnRef>
          <a:fillRef idx="0">
            <a:schemeClr val="accent1"/>
          </a:fillRef>
          <a:effectRef idx="0">
            <a:schemeClr val="accent1"/>
          </a:effectRef>
          <a:fontRef idx="minor">
            <a:schemeClr val="tx1"/>
          </a:fontRef>
        </p:style>
      </p:cxnSp>
      <p:sp>
        <p:nvSpPr>
          <p:cNvPr id="121" name="Triangle 73">
            <a:extLst>
              <a:ext uri="{FF2B5EF4-FFF2-40B4-BE49-F238E27FC236}">
                <a16:creationId xmlns:a16="http://schemas.microsoft.com/office/drawing/2014/main" id="{26C7F003-BF94-F864-54F4-535BC044B029}"/>
              </a:ext>
            </a:extLst>
          </p:cNvPr>
          <p:cNvSpPr/>
          <p:nvPr/>
        </p:nvSpPr>
        <p:spPr>
          <a:xfrm rot="5400000">
            <a:off x="3460592" y="4859877"/>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22" name="Triangle 73">
            <a:extLst>
              <a:ext uri="{FF2B5EF4-FFF2-40B4-BE49-F238E27FC236}">
                <a16:creationId xmlns:a16="http://schemas.microsoft.com/office/drawing/2014/main" id="{DD7A97C0-DBB6-F99D-9242-0524F425E79C}"/>
              </a:ext>
            </a:extLst>
          </p:cNvPr>
          <p:cNvSpPr/>
          <p:nvPr/>
        </p:nvSpPr>
        <p:spPr>
          <a:xfrm rot="5400000">
            <a:off x="4430030" y="4859877"/>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23" name="Triangle 73">
            <a:extLst>
              <a:ext uri="{FF2B5EF4-FFF2-40B4-BE49-F238E27FC236}">
                <a16:creationId xmlns:a16="http://schemas.microsoft.com/office/drawing/2014/main" id="{A1B7DFFC-E473-E0E4-C14A-67A24C521116}"/>
              </a:ext>
            </a:extLst>
          </p:cNvPr>
          <p:cNvSpPr/>
          <p:nvPr/>
        </p:nvSpPr>
        <p:spPr>
          <a:xfrm rot="5400000">
            <a:off x="5391407" y="4859877"/>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24" name="Triangle 73">
            <a:extLst>
              <a:ext uri="{FF2B5EF4-FFF2-40B4-BE49-F238E27FC236}">
                <a16:creationId xmlns:a16="http://schemas.microsoft.com/office/drawing/2014/main" id="{A784EAE6-6B38-B8EF-8193-366BA10B8541}"/>
              </a:ext>
            </a:extLst>
          </p:cNvPr>
          <p:cNvSpPr/>
          <p:nvPr/>
        </p:nvSpPr>
        <p:spPr>
          <a:xfrm rot="5400000">
            <a:off x="6365666" y="4859877"/>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25" name="Triangle 73">
            <a:extLst>
              <a:ext uri="{FF2B5EF4-FFF2-40B4-BE49-F238E27FC236}">
                <a16:creationId xmlns:a16="http://schemas.microsoft.com/office/drawing/2014/main" id="{CA200FDB-D731-A640-6398-9661BBFA2B4B}"/>
              </a:ext>
            </a:extLst>
          </p:cNvPr>
          <p:cNvSpPr/>
          <p:nvPr/>
        </p:nvSpPr>
        <p:spPr>
          <a:xfrm rot="5400000">
            <a:off x="7327043" y="4859877"/>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26" name="Triangle 73">
            <a:extLst>
              <a:ext uri="{FF2B5EF4-FFF2-40B4-BE49-F238E27FC236}">
                <a16:creationId xmlns:a16="http://schemas.microsoft.com/office/drawing/2014/main" id="{867F6A8B-8E55-202B-47BF-E075461E3DA0}"/>
              </a:ext>
            </a:extLst>
          </p:cNvPr>
          <p:cNvSpPr/>
          <p:nvPr/>
        </p:nvSpPr>
        <p:spPr>
          <a:xfrm rot="5400000">
            <a:off x="8309622" y="4859877"/>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graphicFrame>
        <p:nvGraphicFramePr>
          <p:cNvPr id="131" name="Table 130">
            <a:extLst>
              <a:ext uri="{FF2B5EF4-FFF2-40B4-BE49-F238E27FC236}">
                <a16:creationId xmlns:a16="http://schemas.microsoft.com/office/drawing/2014/main" id="{7E76C25D-954A-6DC9-0DF5-97565574E275}"/>
              </a:ext>
            </a:extLst>
          </p:cNvPr>
          <p:cNvGraphicFramePr>
            <a:graphicFrameLocks noGrp="1"/>
          </p:cNvGraphicFramePr>
          <p:nvPr/>
        </p:nvGraphicFramePr>
        <p:xfrm>
          <a:off x="8953167" y="4114763"/>
          <a:ext cx="2885481" cy="2560320"/>
        </p:xfrm>
        <a:graphic>
          <a:graphicData uri="http://schemas.openxmlformats.org/drawingml/2006/table">
            <a:tbl>
              <a:tblPr firstRow="1" bandRow="1">
                <a:tableStyleId>{5C22544A-7EE6-4342-B048-85BDC9FD1C3A}</a:tableStyleId>
              </a:tblPr>
              <a:tblGrid>
                <a:gridCol w="407674">
                  <a:extLst>
                    <a:ext uri="{9D8B030D-6E8A-4147-A177-3AD203B41FA5}">
                      <a16:colId xmlns:a16="http://schemas.microsoft.com/office/drawing/2014/main" val="3010852878"/>
                    </a:ext>
                  </a:extLst>
                </a:gridCol>
                <a:gridCol w="1911364">
                  <a:extLst>
                    <a:ext uri="{9D8B030D-6E8A-4147-A177-3AD203B41FA5}">
                      <a16:colId xmlns:a16="http://schemas.microsoft.com/office/drawing/2014/main" val="3098370671"/>
                    </a:ext>
                  </a:extLst>
                </a:gridCol>
                <a:gridCol w="566443">
                  <a:extLst>
                    <a:ext uri="{9D8B030D-6E8A-4147-A177-3AD203B41FA5}">
                      <a16:colId xmlns:a16="http://schemas.microsoft.com/office/drawing/2014/main" val="2420660461"/>
                    </a:ext>
                  </a:extLst>
                </a:gridCol>
              </a:tblGrid>
              <a:tr h="163256">
                <a:tc>
                  <a:txBody>
                    <a:bodyPr/>
                    <a:lstStyle/>
                    <a:p>
                      <a:r>
                        <a:rPr lang="en-US" sz="800" b="1" i="0" dirty="0">
                          <a:solidFill>
                            <a:srgbClr val="FFFFFF"/>
                          </a:solidFill>
                          <a:latin typeface="Arial" pitchFamily="34" charset="0"/>
                        </a:rPr>
                        <a:t>#</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r>
                        <a:rPr lang="en-US" sz="800" b="1" i="0" dirty="0">
                          <a:solidFill>
                            <a:srgbClr val="FFFFFF"/>
                          </a:solidFill>
                          <a:latin typeface="Arial" pitchFamily="34" charset="0"/>
                        </a:rPr>
                        <a:t>Role</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r>
                        <a:rPr lang="en-US" sz="800" b="1" i="0" dirty="0">
                          <a:solidFill>
                            <a:srgbClr val="FFFFFF"/>
                          </a:solidFill>
                          <a:latin typeface="Arial" pitchFamily="34" charset="0"/>
                        </a:rPr>
                        <a:t>Level</a:t>
                      </a:r>
                    </a:p>
                  </a:txBody>
                  <a:tcPr>
                    <a:lnL w="12700" cmpd="sng">
                      <a:noFill/>
                    </a:lnL>
                    <a:lnR w="12700" cmpd="sng">
                      <a:noFill/>
                    </a:lnR>
                    <a:lnT w="12700" cmpd="sng">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2894251591"/>
                  </a:ext>
                </a:extLst>
              </a:tr>
              <a:tr h="163256">
                <a:tc>
                  <a:txBody>
                    <a:bodyPr/>
                    <a:lstStyle/>
                    <a:p>
                      <a:r>
                        <a:rPr lang="en-US" sz="800" b="0" i="0" dirty="0">
                          <a:solidFill>
                            <a:srgbClr val="1D1D1D"/>
                          </a:solidFill>
                          <a:latin typeface="Arial" pitchFamily="34" charset="0"/>
                        </a:rPr>
                        <a:t>1</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Director BD and M&amp;A</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267919836"/>
                  </a:ext>
                </a:extLst>
              </a:tr>
              <a:tr h="163256">
                <a:tc>
                  <a:txBody>
                    <a:bodyPr/>
                    <a:lstStyle/>
                    <a:p>
                      <a:r>
                        <a:rPr lang="en-US" sz="800" b="0" i="0" dirty="0">
                          <a:solidFill>
                            <a:srgbClr val="FFFFFF"/>
                          </a:solidFill>
                          <a:latin typeface="Arial" pitchFamily="34" charset="0"/>
                        </a:rPr>
                        <a:t>2</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Director Financial Planning &amp; Control</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1796677586"/>
                  </a:ext>
                </a:extLst>
              </a:tr>
              <a:tr h="163256">
                <a:tc>
                  <a:txBody>
                    <a:bodyPr/>
                    <a:lstStyle/>
                    <a:p>
                      <a:r>
                        <a:rPr lang="en-US" sz="800" b="0" i="0" dirty="0">
                          <a:solidFill>
                            <a:srgbClr val="1D1D1D"/>
                          </a:solidFill>
                          <a:latin typeface="Arial" pitchFamily="34" charset="0"/>
                        </a:rPr>
                        <a:t>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i="0" dirty="0">
                          <a:solidFill>
                            <a:srgbClr val="1D1D1D"/>
                          </a:solidFill>
                          <a:latin typeface="Arial" pitchFamily="34" charset="0"/>
                        </a:rPr>
                        <a:t>Director of Investor Relations</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69674476"/>
                  </a:ext>
                </a:extLst>
              </a:tr>
              <a:tr h="163256">
                <a:tc>
                  <a:txBody>
                    <a:bodyPr/>
                    <a:lstStyle/>
                    <a:p>
                      <a:r>
                        <a:rPr lang="en-US" sz="800" b="0" i="0" dirty="0">
                          <a:solidFill>
                            <a:srgbClr val="FFFFFF"/>
                          </a:solidFill>
                          <a:latin typeface="Arial" pitchFamily="34" charset="0"/>
                        </a:rPr>
                        <a:t>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Director Industrial Automation (IOT)</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N-4</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414057405"/>
                  </a:ext>
                </a:extLst>
              </a:tr>
              <a:tr h="163256">
                <a:tc>
                  <a:txBody>
                    <a:bodyPr/>
                    <a:lstStyle/>
                    <a:p>
                      <a:r>
                        <a:rPr lang="en-US" sz="800" b="0" i="0" dirty="0">
                          <a:solidFill>
                            <a:srgbClr val="1D1D1D"/>
                          </a:solidFill>
                          <a:latin typeface="Arial" pitchFamily="34" charset="0"/>
                        </a:rPr>
                        <a:t>5</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Project Director</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117193018"/>
                  </a:ext>
                </a:extLst>
              </a:tr>
              <a:tr h="163256">
                <a:tc>
                  <a:txBody>
                    <a:bodyPr/>
                    <a:lstStyle/>
                    <a:p>
                      <a:r>
                        <a:rPr lang="en-US" sz="800" b="0" i="0" dirty="0">
                          <a:solidFill>
                            <a:srgbClr val="FFFFFF"/>
                          </a:solidFill>
                          <a:latin typeface="Arial" pitchFamily="34" charset="0"/>
                        </a:rPr>
                        <a:t>6</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800" b="0" i="0" dirty="0">
                          <a:solidFill>
                            <a:srgbClr val="FFFFFF"/>
                          </a:solidFill>
                          <a:latin typeface="Arial" pitchFamily="34" charset="0"/>
                        </a:rPr>
                        <a:t>Head of Integration (NEW) </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4268977802"/>
                  </a:ext>
                </a:extLst>
              </a:tr>
              <a:tr h="163256">
                <a:tc>
                  <a:txBody>
                    <a:bodyPr/>
                    <a:lstStyle/>
                    <a:p>
                      <a:r>
                        <a:rPr lang="en-US" sz="800" b="0" i="0" dirty="0">
                          <a:solidFill>
                            <a:srgbClr val="1D1D1D"/>
                          </a:solidFill>
                          <a:latin typeface="Arial" pitchFamily="34" charset="0"/>
                        </a:rPr>
                        <a:t>7</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0" i="0" dirty="0">
                          <a:solidFill>
                            <a:srgbClr val="1D1D1D"/>
                          </a:solidFill>
                          <a:latin typeface="Arial" pitchFamily="34" charset="0"/>
                        </a:rPr>
                        <a:t>Head of Due Diligence (NEW) </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N-3</a:t>
                      </a:r>
                    </a:p>
                  </a:txBody>
                  <a:tcPr>
                    <a:lnL w="12700" cmpd="sng">
                      <a:noFill/>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068769190"/>
                  </a:ext>
                </a:extLst>
              </a:tr>
              <a:tr h="163256">
                <a:tc>
                  <a:txBody>
                    <a:bodyPr/>
                    <a:lstStyle/>
                    <a:p>
                      <a:r>
                        <a:rPr lang="en-US" sz="800" b="0" i="0" dirty="0">
                          <a:solidFill>
                            <a:srgbClr val="FFFFFF"/>
                          </a:solidFill>
                          <a:latin typeface="Arial" pitchFamily="34" charset="0"/>
                        </a:rPr>
                        <a:t>8</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Head of Corp. Comms</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tc>
                  <a:txBody>
                    <a:bodyPr/>
                    <a:lstStyle/>
                    <a:p>
                      <a:r>
                        <a:rPr lang="en-US" sz="800" b="0" i="0" dirty="0">
                          <a:solidFill>
                            <a:srgbClr val="FFFFFF"/>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765FFF"/>
                    </a:solidFill>
                  </a:tcPr>
                </a:tc>
                <a:extLst>
                  <a:ext uri="{0D108BD9-81ED-4DB2-BD59-A6C34878D82A}">
                    <a16:rowId xmlns:a16="http://schemas.microsoft.com/office/drawing/2014/main" val="1323437889"/>
                  </a:ext>
                </a:extLst>
              </a:tr>
              <a:tr h="163256">
                <a:tc>
                  <a:txBody>
                    <a:bodyPr/>
                    <a:lstStyle/>
                    <a:p>
                      <a:r>
                        <a:rPr lang="en-US" sz="800" b="0" i="0" dirty="0">
                          <a:solidFill>
                            <a:srgbClr val="1D1D1D"/>
                          </a:solidFill>
                          <a:latin typeface="Arial" pitchFamily="34" charset="0"/>
                        </a:rPr>
                        <a:t>9</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COO BU1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785099102"/>
                  </a:ext>
                </a:extLst>
              </a:tr>
              <a:tr h="163256">
                <a:tc>
                  <a:txBody>
                    <a:bodyPr/>
                    <a:lstStyle/>
                    <a:p>
                      <a:r>
                        <a:rPr lang="en-US" sz="800" b="0" i="0" kern="1200" dirty="0">
                          <a:solidFill>
                            <a:srgbClr val="1D1D1D"/>
                          </a:solidFill>
                          <a:latin typeface="Arial" pitchFamily="34" charset="0"/>
                          <a:ea typeface="+mn-ea"/>
                          <a:cs typeface="+mn-cs"/>
                        </a:rPr>
                        <a:t>10</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tc>
                  <a:txBody>
                    <a:bodyPr/>
                    <a:lstStyle/>
                    <a:p>
                      <a:r>
                        <a:rPr lang="en-US" sz="800" b="0" i="0" kern="1200" dirty="0">
                          <a:solidFill>
                            <a:srgbClr val="1D1D1D"/>
                          </a:solidFill>
                          <a:latin typeface="Arial" pitchFamily="34" charset="0"/>
                          <a:ea typeface="+mn-ea"/>
                          <a:cs typeface="+mn-cs"/>
                        </a:rPr>
                        <a:t>CCO BU1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tc>
                  <a:txBody>
                    <a:bodyPr/>
                    <a:lstStyle/>
                    <a:p>
                      <a:r>
                        <a:rPr lang="en-US" sz="800" b="0" i="0" kern="1200" dirty="0">
                          <a:solidFill>
                            <a:srgbClr val="1D1D1D"/>
                          </a:solidFill>
                          <a:latin typeface="Arial" pitchFamily="34" charset="0"/>
                          <a:ea typeface="+mn-ea"/>
                          <a:cs typeface="+mn-cs"/>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E9E4FF"/>
                    </a:solidFill>
                  </a:tcPr>
                </a:tc>
                <a:extLst>
                  <a:ext uri="{0D108BD9-81ED-4DB2-BD59-A6C34878D82A}">
                    <a16:rowId xmlns:a16="http://schemas.microsoft.com/office/drawing/2014/main" val="2647851601"/>
                  </a:ext>
                </a:extLst>
              </a:tr>
              <a:tr h="163256">
                <a:tc>
                  <a:txBody>
                    <a:bodyPr/>
                    <a:lstStyle/>
                    <a:p>
                      <a:r>
                        <a:rPr lang="en-US" sz="800" b="0" i="0" dirty="0">
                          <a:solidFill>
                            <a:srgbClr val="1D1D1D"/>
                          </a:solidFill>
                          <a:latin typeface="Arial" pitchFamily="34" charset="0"/>
                        </a:rPr>
                        <a:t>11</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VP Commercial BU 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tc>
                  <a:txBody>
                    <a:bodyPr/>
                    <a:lstStyle/>
                    <a:p>
                      <a:r>
                        <a:rPr lang="en-US" sz="800" b="0" i="0" dirty="0">
                          <a:solidFill>
                            <a:srgbClr val="1D1D1D"/>
                          </a:solidFill>
                          <a:latin typeface="Arial" pitchFamily="34" charset="0"/>
                        </a:rPr>
                        <a:t>N-2</a:t>
                      </a:r>
                    </a:p>
                  </a:txBody>
                  <a:tcPr>
                    <a:lnL w="12700" cmpd="sng">
                      <a:noFill/>
                    </a:lnL>
                    <a:lnR w="12700" cmpd="sng">
                      <a:noFill/>
                    </a:lnR>
                    <a:lnT w="635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03646143"/>
                  </a:ext>
                </a:extLst>
              </a:tr>
            </a:tbl>
          </a:graphicData>
        </a:graphic>
      </p:graphicFrame>
      <p:sp>
        <p:nvSpPr>
          <p:cNvPr id="5" name="Rounded Rectangle 4">
            <a:extLst>
              <a:ext uri="{FF2B5EF4-FFF2-40B4-BE49-F238E27FC236}">
                <a16:creationId xmlns:a16="http://schemas.microsoft.com/office/drawing/2014/main" id="{9A8C8590-4369-1C35-298E-2C766316DDAE}"/>
              </a:ext>
            </a:extLst>
          </p:cNvPr>
          <p:cNvSpPr/>
          <p:nvPr/>
        </p:nvSpPr>
        <p:spPr>
          <a:xfrm>
            <a:off x="4184612" y="1056364"/>
            <a:ext cx="299445" cy="279334"/>
          </a:xfrm>
          <a:prstGeom prst="roundRect">
            <a:avLst>
              <a:gd name="adj" fmla="val 19205"/>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00" b="1" i="0" u="none" strike="noStrike" kern="0" cap="none" spc="-25" normalizeH="0" baseline="0" noProof="0" dirty="0">
                <a:ln>
                  <a:noFill/>
                </a:ln>
                <a:solidFill>
                  <a:srgbClr val="FFFFFF"/>
                </a:solidFill>
                <a:effectLst/>
                <a:uLnTx/>
                <a:uFillTx/>
                <a:latin typeface="Segoe UI" pitchFamily="34" charset="0"/>
                <a:ea typeface="+mn-ea"/>
                <a:cs typeface="+mn-cs"/>
              </a:rPr>
              <a:t>1</a:t>
            </a:r>
          </a:p>
        </p:txBody>
      </p:sp>
      <p:sp>
        <p:nvSpPr>
          <p:cNvPr id="6" name="Rounded Rectangle 5">
            <a:extLst>
              <a:ext uri="{FF2B5EF4-FFF2-40B4-BE49-F238E27FC236}">
                <a16:creationId xmlns:a16="http://schemas.microsoft.com/office/drawing/2014/main" id="{6159B151-6B06-A1D2-41D3-CC1271B11B68}"/>
              </a:ext>
            </a:extLst>
          </p:cNvPr>
          <p:cNvSpPr/>
          <p:nvPr/>
        </p:nvSpPr>
        <p:spPr>
          <a:xfrm>
            <a:off x="11539203" y="1056364"/>
            <a:ext cx="299445" cy="279334"/>
          </a:xfrm>
          <a:prstGeom prst="roundRect">
            <a:avLst>
              <a:gd name="adj" fmla="val 19205"/>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400" b="1" i="0" u="none" strike="noStrike" kern="0" cap="none" spc="-25" normalizeH="0" baseline="0" noProof="0" dirty="0">
                <a:ln>
                  <a:noFill/>
                </a:ln>
                <a:solidFill>
                  <a:srgbClr val="FFFFFF"/>
                </a:solidFill>
                <a:effectLst/>
                <a:uLnTx/>
                <a:uFillTx/>
                <a:latin typeface="Segoe UI" pitchFamily="34" charset="0"/>
                <a:ea typeface="+mn-ea"/>
                <a:cs typeface="+mn-cs"/>
              </a:rPr>
              <a:t>2</a:t>
            </a:r>
          </a:p>
        </p:txBody>
      </p:sp>
      <p:sp>
        <p:nvSpPr>
          <p:cNvPr id="7" name="Rounded Rectangle 6">
            <a:extLst>
              <a:ext uri="{FF2B5EF4-FFF2-40B4-BE49-F238E27FC236}">
                <a16:creationId xmlns:a16="http://schemas.microsoft.com/office/drawing/2014/main" id="{896BF20F-FF97-AFE9-D610-C139E5110FCB}"/>
              </a:ext>
            </a:extLst>
          </p:cNvPr>
          <p:cNvSpPr/>
          <p:nvPr/>
        </p:nvSpPr>
        <p:spPr>
          <a:xfrm>
            <a:off x="8224579" y="3448061"/>
            <a:ext cx="299445" cy="279334"/>
          </a:xfrm>
          <a:prstGeom prst="roundRect">
            <a:avLst>
              <a:gd name="adj" fmla="val 19205"/>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400" b="0" i="0" u="none" strike="noStrike" kern="0" cap="none" spc="-10" normalizeH="0" baseline="0" noProof="0" dirty="0">
                <a:ln>
                  <a:noFill/>
                </a:ln>
                <a:solidFill>
                  <a:srgbClr val="FFFFFF"/>
                </a:solidFill>
                <a:effectLst/>
                <a:uLnTx/>
                <a:uFillTx/>
                <a:latin typeface="Arial" pitchFamily="34" charset="0"/>
                <a:ea typeface="+mn-ea"/>
                <a:cs typeface="+mn-cs"/>
              </a:rPr>
              <a:t>3</a:t>
            </a:r>
          </a:p>
        </p:txBody>
      </p:sp>
      <p:sp>
        <p:nvSpPr>
          <p:cNvPr id="8" name="Rounded Rectangle 7">
            <a:extLst>
              <a:ext uri="{FF2B5EF4-FFF2-40B4-BE49-F238E27FC236}">
                <a16:creationId xmlns:a16="http://schemas.microsoft.com/office/drawing/2014/main" id="{62E6FA63-1F39-D905-B9AC-1997244C7D8F}"/>
              </a:ext>
            </a:extLst>
          </p:cNvPr>
          <p:cNvSpPr/>
          <p:nvPr/>
        </p:nvSpPr>
        <p:spPr>
          <a:xfrm>
            <a:off x="11539203" y="3448061"/>
            <a:ext cx="299445" cy="279334"/>
          </a:xfrm>
          <a:prstGeom prst="roundRect">
            <a:avLst>
              <a:gd name="adj" fmla="val 19205"/>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400" b="0" i="0" u="none" strike="noStrike" kern="0" cap="none" spc="-10" normalizeH="0" baseline="0" noProof="0" dirty="0">
                <a:ln>
                  <a:noFill/>
                </a:ln>
                <a:solidFill>
                  <a:srgbClr val="FFFFFF"/>
                </a:solidFill>
                <a:effectLst/>
                <a:uLnTx/>
                <a:uFillTx/>
                <a:latin typeface="Arial" pitchFamily="34" charset="0"/>
                <a:ea typeface="+mn-ea"/>
                <a:cs typeface="+mn-cs"/>
              </a:rPr>
              <a:t>4</a:t>
            </a:r>
          </a:p>
        </p:txBody>
      </p:sp>
      <p:sp>
        <p:nvSpPr>
          <p:cNvPr id="12" name="Rectangle: Rounded Corners 11">
            <a:extLst>
              <a:ext uri="{FF2B5EF4-FFF2-40B4-BE49-F238E27FC236}">
                <a16:creationId xmlns:a16="http://schemas.microsoft.com/office/drawing/2014/main" id="{CAC933D0-3DBD-9376-B3C0-39E3AB1F3EE6}"/>
              </a:ext>
            </a:extLst>
          </p:cNvPr>
          <p:cNvSpPr/>
          <p:nvPr/>
        </p:nvSpPr>
        <p:spPr>
          <a:xfrm>
            <a:off x="956930" y="1271901"/>
            <a:ext cx="871810" cy="162740"/>
          </a:xfrm>
          <a:prstGeom prst="round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b="1" spc="-25">
              <a:solidFill>
                <a:srgbClr val="FFFFFF"/>
              </a:solidFill>
              <a:latin typeface="Segoe UI" pitchFamily="34" charset="0"/>
            </a:endParaRPr>
          </a:p>
        </p:txBody>
      </p:sp>
      <p:sp>
        <p:nvSpPr>
          <p:cNvPr id="13" name="Rectangle: Rounded Corners 12">
            <a:extLst>
              <a:ext uri="{FF2B5EF4-FFF2-40B4-BE49-F238E27FC236}">
                <a16:creationId xmlns:a16="http://schemas.microsoft.com/office/drawing/2014/main" id="{9BA2F326-3B41-9A9D-4ED7-D80CFEC836FB}"/>
              </a:ext>
            </a:extLst>
          </p:cNvPr>
          <p:cNvSpPr/>
          <p:nvPr/>
        </p:nvSpPr>
        <p:spPr>
          <a:xfrm>
            <a:off x="5117815" y="1286074"/>
            <a:ext cx="871810" cy="162740"/>
          </a:xfrm>
          <a:prstGeom prst="roundRect">
            <a:avLst/>
          </a:prstGeom>
          <a:solidFill>
            <a:srgbClr val="917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b="1" spc="-25">
              <a:latin typeface="Segoe UI" pitchFamily="34" charset="0"/>
            </a:endParaRPr>
          </a:p>
        </p:txBody>
      </p:sp>
      <p:sp>
        <p:nvSpPr>
          <p:cNvPr id="14" name="Rectangle: Rounded Corners 13">
            <a:extLst>
              <a:ext uri="{FF2B5EF4-FFF2-40B4-BE49-F238E27FC236}">
                <a16:creationId xmlns:a16="http://schemas.microsoft.com/office/drawing/2014/main" id="{87A1CDB0-F5D2-7DA5-733D-1B4B580728D8}"/>
              </a:ext>
            </a:extLst>
          </p:cNvPr>
          <p:cNvSpPr/>
          <p:nvPr/>
        </p:nvSpPr>
        <p:spPr>
          <a:xfrm>
            <a:off x="971103" y="3767303"/>
            <a:ext cx="871810" cy="162740"/>
          </a:xfrm>
          <a:prstGeom prst="roundRect">
            <a:avLst/>
          </a:prstGeom>
          <a:solidFill>
            <a:srgbClr val="917FFF"/>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a:p>
        </p:txBody>
      </p:sp>
      <p:sp>
        <p:nvSpPr>
          <p:cNvPr id="15" name="Rectangle: Rounded Corners 14">
            <a:extLst>
              <a:ext uri="{FF2B5EF4-FFF2-40B4-BE49-F238E27FC236}">
                <a16:creationId xmlns:a16="http://schemas.microsoft.com/office/drawing/2014/main" id="{212770EE-D6DD-6B56-EF74-914B243F9E68}"/>
              </a:ext>
            </a:extLst>
          </p:cNvPr>
          <p:cNvSpPr/>
          <p:nvPr/>
        </p:nvSpPr>
        <p:spPr>
          <a:xfrm>
            <a:off x="8949094" y="3859738"/>
            <a:ext cx="871810" cy="162740"/>
          </a:xfrm>
          <a:prstGeom prst="round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LID4096">
              <a:solidFill>
                <a:srgbClr val="FFFFFF"/>
              </a:solidFill>
            </a:endParaRPr>
          </a:p>
        </p:txBody>
      </p:sp>
      <p:sp>
        <p:nvSpPr>
          <p:cNvPr id="10" name="Triangle 73">
            <a:extLst>
              <a:ext uri="{FF2B5EF4-FFF2-40B4-BE49-F238E27FC236}">
                <a16:creationId xmlns:a16="http://schemas.microsoft.com/office/drawing/2014/main" id="{137DFD02-6ABC-E900-CAE9-38D258CEB5A0}"/>
              </a:ext>
            </a:extLst>
          </p:cNvPr>
          <p:cNvSpPr/>
          <p:nvPr/>
        </p:nvSpPr>
        <p:spPr>
          <a:xfrm rot="5400000">
            <a:off x="1573586" y="4877524"/>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1" name="Triangle 73">
            <a:extLst>
              <a:ext uri="{FF2B5EF4-FFF2-40B4-BE49-F238E27FC236}">
                <a16:creationId xmlns:a16="http://schemas.microsoft.com/office/drawing/2014/main" id="{44C0A31E-2A43-11FE-D5D0-3CEC28EC7444}"/>
              </a:ext>
            </a:extLst>
          </p:cNvPr>
          <p:cNvSpPr/>
          <p:nvPr/>
        </p:nvSpPr>
        <p:spPr>
          <a:xfrm rot="5400000">
            <a:off x="2486381" y="4866299"/>
            <a:ext cx="162714" cy="74520"/>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6" name="TextBox 15">
            <a:extLst>
              <a:ext uri="{FF2B5EF4-FFF2-40B4-BE49-F238E27FC236}">
                <a16:creationId xmlns:a16="http://schemas.microsoft.com/office/drawing/2014/main" id="{CCFFC860-A9ED-85FF-0DFF-16BDCC6CA62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32" name="SubtitleSplit"/>
          <p:cNvSpPr>
            <a:spLocks noGrp="1"/>
          </p:cNvSpPr>
          <p:nvPr>
            <p:ph type="subTitle" idx="1"/>
          </p:nvPr>
        </p:nvSpPr>
        <p:spPr>
          <a:noFill/>
        </p:spPr>
        <p:txBody>
          <a:bodyPr/>
          <a:lstStyle/>
          <a:p>
            <a:r>
              <a:t>Summary</a:t>
            </a:r>
            <a:endParaRPr lang="en-US" b="0" spc="-10">
              <a:latin typeface="Segoe UI" pitchFamily="34" charset="0"/>
            </a:endParaRPr>
          </a:p>
        </p:txBody>
      </p:sp>
      <p:sp>
        <p:nvSpPr>
          <p:cNvPr id="13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E8F3178-FA0C-413E-90DA-55BC1232CA60}" type="slidenum">
              <a:t>18</a:t>
            </a:fld>
            <a:endParaRPr lang="en-US"/>
          </a:p>
        </p:txBody>
      </p:sp>
    </p:spTree>
    <p:extLst>
      <p:ext uri="{BB962C8B-B14F-4D97-AF65-F5344CB8AC3E}">
        <p14:creationId xmlns:p14="http://schemas.microsoft.com/office/powerpoint/2010/main" val="1623692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A6F96-CDB3-4D76-3BBA-B46FE819B454}"/>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41B58BB-6A90-1A20-7A07-CD6ECBFCEA40}"/>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541B58BB-6A90-1A20-7A07-CD6ECBFCEA40}"/>
                          </a:ext>
                        </a:extLst>
                      </p:cNvPr>
                      <p:cNvPicPr/>
                      <p:nvPr/>
                    </p:nvPicPr>
                    <p:blipFill>
                      <a:blip r:embed="rId5">
                        <a:duotone>
                          <a:srgbClr val="765FFF"/>
                          <a:srgbClr val="FFFFFF"/>
                        </a:duotone>
                      </a:blip>
                      <a:stretch>
                        <a:fillRect/>
                      </a:stretch>
                    </p:blipFill>
                    <p:spPr>
                      <a:xfrm>
                        <a:off x="1588" y="1588"/>
                        <a:ext cx="1227"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0CC2DB18-1579-43B4-78B1-A8E6F03A674D}"/>
              </a:ext>
            </a:extLst>
          </p:cNvPr>
          <p:cNvSpPr>
            <a:spLocks noGrp="1"/>
          </p:cNvSpPr>
          <p:nvPr>
            <p:ph type="title" sz="quarter"/>
          </p:nvPr>
        </p:nvSpPr>
        <p:spPr/>
        <p:txBody>
          <a:bodyPr>
            <a:normAutofit lnSpcReduction="10000"/>
          </a:bodyPr>
          <a:lstStyle/>
          <a:p>
            <a:r>
              <a:rPr lang="en-GB" dirty="0">
                <a:solidFill>
                  <a:srgbClr val="281A42"/>
                </a:solidFill>
                <a:latin typeface="+mn-lt"/>
              </a:rPr>
              <a:t>CXO Enabling Success Plan</a:t>
            </a:r>
            <a:endParaRPr lang="en-US" dirty="0">
              <a:solidFill>
                <a:srgbClr val="281A42"/>
              </a:solidFill>
              <a:latin typeface="+mn-lt"/>
            </a:endParaRPr>
          </a:p>
        </p:txBody>
      </p:sp>
      <p:sp>
        <p:nvSpPr>
          <p:cNvPr id="180" name="Google Shape;180;p5">
            <a:extLst>
              <a:ext uri="{FF2B5EF4-FFF2-40B4-BE49-F238E27FC236}">
                <a16:creationId xmlns:a16="http://schemas.microsoft.com/office/drawing/2014/main" id="{8C167A6F-830C-B2F2-D634-32914375C976}"/>
              </a:ext>
            </a:extLst>
          </p:cNvPr>
          <p:cNvSpPr/>
          <p:nvPr/>
        </p:nvSpPr>
        <p:spPr>
          <a:xfrm>
            <a:off x="787693" y="862424"/>
            <a:ext cx="11046345" cy="1214762"/>
          </a:xfrm>
          <a:prstGeom prst="roundRect">
            <a:avLst>
              <a:gd name="adj" fmla="val 13273"/>
            </a:avLst>
          </a:prstGeom>
          <a:solidFill>
            <a:srgbClr val="F2F2F2"/>
          </a:solidFill>
          <a:ln w="9525" cap="flat" cmpd="sng">
            <a:solidFill>
              <a:srgbClr val="765FFF"/>
            </a:solidFill>
            <a:prstDash val="solid"/>
            <a:miter lim="400000"/>
            <a:headEnd type="none" w="sm" len="sm"/>
            <a:tailEnd type="none" w="sm" len="sm"/>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lang="en-NL" sz="2400" b="1" i="0" u="none" strike="noStrike" kern="0" cap="none" spc="-25" normalizeH="0" baseline="0" noProof="0">
              <a:ln>
                <a:noFill/>
              </a:ln>
              <a:solidFill>
                <a:srgbClr val="1D1D1D"/>
              </a:solidFill>
              <a:effectLst/>
              <a:uLnTx/>
              <a:uFillTx/>
              <a:latin typeface="Segoe UI" pitchFamily="34" charset="0"/>
              <a:ea typeface="Lato"/>
              <a:cs typeface="Lato"/>
              <a:sym typeface="Lato"/>
            </a:endParaRPr>
          </a:p>
        </p:txBody>
      </p:sp>
      <p:sp>
        <p:nvSpPr>
          <p:cNvPr id="27" name="Google Shape;182;p5">
            <a:extLst>
              <a:ext uri="{FF2B5EF4-FFF2-40B4-BE49-F238E27FC236}">
                <a16:creationId xmlns:a16="http://schemas.microsoft.com/office/drawing/2014/main" id="{DE6D1A59-656D-ECEC-CB87-9768C96B0F95}"/>
              </a:ext>
            </a:extLst>
          </p:cNvPr>
          <p:cNvSpPr txBox="1"/>
          <p:nvPr/>
        </p:nvSpPr>
        <p:spPr>
          <a:xfrm>
            <a:off x="1065511" y="1142589"/>
            <a:ext cx="10226265" cy="892532"/>
          </a:xfrm>
          <a:prstGeom prst="rect">
            <a:avLst/>
          </a:prstGeom>
          <a:noFill/>
          <a:ln>
            <a:noFill/>
          </a:ln>
        </p:spPr>
        <p:txBody>
          <a:bodyPr spcFirstLastPara="1" wrap="square" lIns="22850" tIns="22850" rIns="22850" bIns="22850" numCol="1" anchor="t" anchorCtr="0">
            <a:spAutoFit/>
          </a:bodyPr>
          <a:lstStyle/>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Clarity on Mandate and Board Confidence in CXO to Deliver Mandate</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Create CXO Capacity to Have Bifocal Focus on Balancing Core Performance &amp; Growth</a:t>
            </a:r>
            <a:endPar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endParaRP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Making New Operating Model Work with an Effective &amp; Aligned Leadership Team</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Building New Capabilities</a:t>
            </a:r>
          </a:p>
          <a:p>
            <a:pPr marL="228600" marR="0" lvl="0" indent="-228600" algn="l" defTabSz="457200" rtl="0" eaLnBrk="1" fontAlgn="auto" latinLnBrk="0" hangingPunct="1">
              <a:lnSpc>
                <a:spcPct val="100000"/>
              </a:lnSpc>
              <a:spcBef>
                <a:spcPts val="0"/>
              </a:spcBef>
              <a:spcAft>
                <a:spcPts val="0"/>
              </a:spcAft>
              <a:buClr>
                <a:srgbClr val="1D1D1D"/>
              </a:buClr>
              <a:buSzTx/>
              <a:buFont typeface="+mj-lt"/>
              <a:buAutoNum type="arabicPeriod"/>
              <a:tabLst/>
              <a:defRPr b="1" spc="-25">
                <a:latin typeface="Segoe UI" pitchFamily="34" charset="0"/>
              </a:defRPr>
            </a:pPr>
            <a:r>
              <a:rPr kumimoji="0" lang="en-US" sz="1100" b="1" i="0" u="none" strike="noStrike" kern="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sym typeface="Arial"/>
              </a:rPr>
              <a:t>Strengthen Culture: Drive Culture of Accountability and Performance (internally) and Communicate the Growth Story to Attract Investors (externally).</a:t>
            </a:r>
          </a:p>
        </p:txBody>
      </p:sp>
      <p:sp>
        <p:nvSpPr>
          <p:cNvPr id="28" name="Google Shape;143;p4">
            <a:extLst>
              <a:ext uri="{FF2B5EF4-FFF2-40B4-BE49-F238E27FC236}">
                <a16:creationId xmlns:a16="http://schemas.microsoft.com/office/drawing/2014/main" id="{07E8024E-C5C7-34CC-FBB3-70A8894B0118}"/>
              </a:ext>
            </a:extLst>
          </p:cNvPr>
          <p:cNvSpPr txBox="1"/>
          <p:nvPr/>
        </p:nvSpPr>
        <p:spPr>
          <a:xfrm>
            <a:off x="1065513" y="882413"/>
            <a:ext cx="5002417"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b="1" spc="-25">
                <a:latin typeface="Segoe UI" pitchFamily="34" charset="0"/>
              </a:defRPr>
            </a:pPr>
            <a:r>
              <a:rPr kumimoji="0" lang="en-US" sz="1200" b="1" i="0" u="none" strike="noStrike" kern="0" cap="none" spc="-25" normalizeH="0" baseline="0" noProof="0" dirty="0">
                <a:ln>
                  <a:noFill/>
                </a:ln>
                <a:solidFill>
                  <a:srgbClr val="765FFF"/>
                </a:solidFill>
                <a:effectLst/>
                <a:uLnTx/>
                <a:uFillTx/>
                <a:latin typeface="Segoe UI" pitchFamily="34" charset="0"/>
                <a:ea typeface="Lato"/>
                <a:cs typeface="Lato"/>
                <a:sym typeface="Lato"/>
              </a:rPr>
              <a:t>What Are We Solving For?</a:t>
            </a:r>
          </a:p>
        </p:txBody>
      </p:sp>
      <p:sp>
        <p:nvSpPr>
          <p:cNvPr id="29" name="Google Shape;143;p4">
            <a:extLst>
              <a:ext uri="{FF2B5EF4-FFF2-40B4-BE49-F238E27FC236}">
                <a16:creationId xmlns:a16="http://schemas.microsoft.com/office/drawing/2014/main" id="{EB4C138C-1EF5-1E56-D1A2-045B5B4470C4}"/>
              </a:ext>
            </a:extLst>
          </p:cNvPr>
          <p:cNvSpPr txBox="1"/>
          <p:nvPr/>
        </p:nvSpPr>
        <p:spPr>
          <a:xfrm>
            <a:off x="1065513" y="2191108"/>
            <a:ext cx="6125629" cy="230812"/>
          </a:xfrm>
          <a:prstGeom prst="rect">
            <a:avLst/>
          </a:prstGeom>
          <a:noFill/>
          <a:ln>
            <a:noFill/>
          </a:ln>
        </p:spPr>
        <p:txBody>
          <a:bodyPr spcFirstLastPara="1" wrap="square" lIns="22850" tIns="22850" rIns="22850" bIns="22850" anchor="b" anchorCtr="0">
            <a:spAutoFit/>
          </a:bodyPr>
          <a:lstStyle/>
          <a:p>
            <a:pPr marL="0" marR="0" lvl="0" indent="0" algn="l" defTabSz="457200" rtl="0" eaLnBrk="1" fontAlgn="auto" latinLnBrk="0" hangingPunct="1">
              <a:lnSpc>
                <a:spcPct val="100000"/>
              </a:lnSpc>
              <a:spcBef>
                <a:spcPts val="0"/>
              </a:spcBef>
              <a:spcAft>
                <a:spcPts val="0"/>
              </a:spcAft>
              <a:buClr>
                <a:srgbClr val="765FFF"/>
              </a:buClr>
              <a:buSzPts val="3600"/>
              <a:buFontTx/>
              <a:buNone/>
              <a:tabLst/>
              <a:defRPr/>
            </a:pPr>
            <a:r>
              <a:rPr kumimoji="0" lang="en-US" sz="1200" b="1" i="0" u="none" strike="noStrike" kern="0" cap="none" spc="-10" normalizeH="0" baseline="0" noProof="0" dirty="0">
                <a:ln>
                  <a:noFill/>
                </a:ln>
                <a:solidFill>
                  <a:srgbClr val="765FFF"/>
                </a:solidFill>
                <a:effectLst/>
                <a:uLnTx/>
                <a:uFillTx/>
                <a:latin typeface="Segoe UI" pitchFamily="34" charset="0"/>
                <a:ea typeface="Lato"/>
                <a:cs typeface="Lato"/>
                <a:sym typeface="Lato"/>
              </a:rPr>
              <a:t>WHAT IS THE ENABLING CEO SUCCESS PLAN? </a:t>
            </a:r>
          </a:p>
        </p:txBody>
      </p:sp>
      <p:sp>
        <p:nvSpPr>
          <p:cNvPr id="9" name="Google Shape;136;p4">
            <a:extLst>
              <a:ext uri="{FF2B5EF4-FFF2-40B4-BE49-F238E27FC236}">
                <a16:creationId xmlns:a16="http://schemas.microsoft.com/office/drawing/2014/main" id="{87E7D8F6-4F36-2E6C-DF19-B10B52E2026A}"/>
              </a:ext>
            </a:extLst>
          </p:cNvPr>
          <p:cNvSpPr>
            <a:spLocks noGrp="1"/>
          </p:cNvSpPr>
          <p:nvPr>
            <p:ph idx="1"/>
          </p:nvPr>
        </p:nvSpPr>
        <p:spPr>
          <a:xfrm>
            <a:off x="1065512" y="2478581"/>
            <a:ext cx="10546540" cy="3890273"/>
          </a:xfrm>
          <a:prstGeom prst="rect">
            <a:avLst/>
          </a:prstGeom>
          <a:noFill/>
          <a:ln>
            <a:noFill/>
          </a:ln>
        </p:spPr>
        <p:txBody>
          <a:bodyPr spcFirstLastPara="1" wrap="square" lIns="22850" tIns="22850" rIns="22850" bIns="2285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10" normalizeH="0" baseline="0" noProof="0" dirty="0">
                <a:ln>
                  <a:noFill/>
                </a:ln>
                <a:solidFill>
                  <a:sysClr val="windowText" lastClr="000000"/>
                </a:solidFill>
                <a:effectLst/>
                <a:uLnTx/>
                <a:uFillTx/>
                <a:latin typeface="Segoe UI" pitchFamily="34" charset="0"/>
                <a:ea typeface="Lato"/>
                <a:cs typeface="Lato"/>
              </a:rPr>
              <a:t>1. Clarity on MANDATE and board confidence in CXO to deliver mandate </a:t>
            </a:r>
          </a:p>
          <a:p>
            <a:pPr marL="447675" marR="0" lvl="1" indent="-179070" defTabSz="914377" eaLnBrk="1" fontAlgn="auto" latinLnBrk="0" hangingPunct="1">
              <a:lnSpc>
                <a:spcPct val="100000"/>
              </a:lnSpc>
              <a:spcBef>
                <a:spcPts val="0"/>
              </a:spcBef>
              <a:spcAft>
                <a:spcPts val="0"/>
              </a:spcAft>
              <a:buBlip>
                <a:blip r:embed="rId6"/>
              </a:buBlip>
              <a:tabLst/>
              <a:defRPr/>
            </a:pPr>
            <a:r>
              <a:rPr kumimoji="0" lang="en-GB" sz="1000" b="0" i="0" u="none" strike="noStrike" kern="1200" cap="none" spc="-10" normalizeH="0" baseline="0" noProof="0" dirty="0">
                <a:ln>
                  <a:noFill/>
                </a:ln>
                <a:solidFill>
                  <a:prstClr val="black"/>
                </a:solidFill>
                <a:effectLst/>
                <a:uLnTx/>
                <a:uFillTx/>
                <a:latin typeface="Arial" pitchFamily="34" charset="0"/>
                <a:ea typeface="Lato"/>
                <a:cs typeface="Lato"/>
              </a:rPr>
              <a:t>Precise Jobs To Be Done for CXO for the next 12 months. Make sharp choices, and co-create between CXO &amp; Board</a:t>
            </a:r>
          </a:p>
          <a:p>
            <a:pPr marL="447675" marR="0" lvl="1" indent="-179070" defTabSz="914377" eaLnBrk="1" fontAlgn="auto" latinLnBrk="0" hangingPunct="1">
              <a:lnSpc>
                <a:spcPct val="100000"/>
              </a:lnSpc>
              <a:spcBef>
                <a:spcPts val="0"/>
              </a:spcBef>
              <a:spcAft>
                <a:spcPts val="0"/>
              </a:spcAft>
              <a:buBlip>
                <a:blip r:embed="rId6"/>
              </a:buBlip>
              <a:tabLst/>
              <a:defRPr/>
            </a:pPr>
            <a:r>
              <a:rPr kumimoji="0" lang="en-GB" sz="1000" b="0" i="0" u="none" strike="noStrike" kern="1200" cap="none" spc="-10" normalizeH="0" baseline="0" noProof="0" dirty="0">
                <a:ln>
                  <a:noFill/>
                </a:ln>
                <a:solidFill>
                  <a:prstClr val="black"/>
                </a:solidFill>
                <a:effectLst/>
                <a:uLnTx/>
                <a:uFillTx/>
                <a:latin typeface="Arial" pitchFamily="34" charset="0"/>
                <a:ea typeface="Lato"/>
                <a:cs typeface="Lato"/>
              </a:rPr>
              <a:t>Strengthen relationships with Board members</a:t>
            </a:r>
          </a:p>
          <a:p>
            <a:pPr marL="447675" marR="0" lvl="1" indent="-179070" defTabSz="914377" eaLnBrk="1" fontAlgn="auto" latinLnBrk="0" hangingPunct="1">
              <a:lnSpc>
                <a:spcPct val="100000"/>
              </a:lnSpc>
              <a:spcBef>
                <a:spcPts val="0"/>
              </a:spcBef>
              <a:spcAft>
                <a:spcPts val="0"/>
              </a:spcAft>
              <a:buBlip>
                <a:blip r:embed="rId6"/>
              </a:buBlip>
              <a:tabLst/>
              <a:defRPr/>
            </a:pPr>
            <a:r>
              <a:rPr kumimoji="0" lang="en-GB" sz="1000" b="0" i="0" u="none" strike="noStrike" kern="1200" cap="none" spc="-10" normalizeH="0" baseline="0" noProof="0" dirty="0">
                <a:ln>
                  <a:noFill/>
                </a:ln>
                <a:solidFill>
                  <a:prstClr val="black"/>
                </a:solidFill>
                <a:effectLst/>
                <a:uLnTx/>
                <a:uFillTx/>
                <a:latin typeface="Arial" pitchFamily="34" charset="0"/>
                <a:ea typeface="Lato"/>
                <a:cs typeface="Lato"/>
              </a:rPr>
              <a:t>Explore Advisors with specific inorganic growth experience (M&amp;A, global)</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10" normalizeH="0" baseline="0" noProof="0" dirty="0">
              <a:ln>
                <a:noFill/>
              </a:ln>
              <a:solidFill>
                <a:sysClr val="windowText" lastClr="000000"/>
              </a:solidFill>
              <a:effectLst/>
              <a:uLnTx/>
              <a:uFillTx/>
              <a:latin typeface="Segoe UI" pitchFamily="34" charset="0"/>
              <a:ea typeface="Lato"/>
              <a:cs typeface="Lato"/>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10" normalizeH="0" baseline="0" noProof="0" dirty="0">
                <a:ln>
                  <a:noFill/>
                </a:ln>
                <a:solidFill>
                  <a:sysClr val="windowText" lastClr="000000"/>
                </a:solidFill>
                <a:effectLst/>
                <a:uLnTx/>
                <a:uFillTx/>
                <a:latin typeface="Segoe UI" pitchFamily="34" charset="0"/>
                <a:ea typeface="Lato"/>
                <a:cs typeface="Lato"/>
              </a:rPr>
              <a:t>2. Create CXO Capacity to have BIFOCAL focus on Balancing core performance &amp; growth </a:t>
            </a:r>
            <a:endParaRPr kumimoji="0" lang="en-US" sz="1000" b="1" i="0" u="none" strike="noStrike" kern="0" cap="none" spc="-10" normalizeH="0" baseline="0" noProof="0" dirty="0">
              <a:ln>
                <a:noFill/>
              </a:ln>
              <a:solidFill>
                <a:sysClr val="windowText" lastClr="000000"/>
              </a:solidFill>
              <a:effectLst/>
              <a:uLnTx/>
              <a:uFillTx/>
              <a:latin typeface="Segoe UI" pitchFamily="34" charset="0"/>
              <a:ea typeface="Lato" panose="020F0502020204030203" pitchFamily="34" charset="0"/>
              <a:cs typeface="Lato" panose="020F0502020204030203" pitchFamily="34" charset="0"/>
            </a:endParaRP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US" sz="1000" b="0" i="0" u="none" strike="noStrike" kern="1200" cap="none" spc="-10" normalizeH="0" baseline="0" noProof="0" dirty="0">
                <a:ln>
                  <a:noFill/>
                </a:ln>
                <a:solidFill>
                  <a:prstClr val="black"/>
                </a:solidFill>
                <a:effectLst/>
                <a:uLnTx/>
                <a:uFillTx/>
                <a:latin typeface="Arial" pitchFamily="34" charset="0"/>
                <a:ea typeface="Lato"/>
                <a:cs typeface="Lato"/>
              </a:rPr>
              <a:t>Release Personal Capacity from “Running” </a:t>
            </a:r>
            <a:r>
              <a:rPr lang="en-US" sz="1000" spc="-10" dirty="0">
                <a:solidFill>
                  <a:prstClr val="black"/>
                </a:solidFill>
                <a:latin typeface="Arial" pitchFamily="34" charset="0"/>
                <a:ea typeface="Lato"/>
                <a:cs typeface="Lato"/>
              </a:rPr>
              <a:t>BU1</a:t>
            </a:r>
            <a:r>
              <a:rPr kumimoji="0" lang="en-US" sz="1000" b="0" i="0" u="none" strike="noStrike" kern="1200" cap="none" spc="-10" normalizeH="0" baseline="0" noProof="0" dirty="0">
                <a:ln>
                  <a:noFill/>
                </a:ln>
                <a:solidFill>
                  <a:prstClr val="black"/>
                </a:solidFill>
                <a:effectLst/>
                <a:uLnTx/>
                <a:uFillTx/>
                <a:latin typeface="Arial" pitchFamily="34" charset="0"/>
                <a:ea typeface="Lato"/>
                <a:cs typeface="Lato"/>
              </a:rPr>
              <a:t>. Upgrade </a:t>
            </a:r>
            <a:r>
              <a:rPr lang="en-US" sz="1000" spc="-10" dirty="0">
                <a:solidFill>
                  <a:prstClr val="black"/>
                </a:solidFill>
                <a:latin typeface="Arial" pitchFamily="34" charset="0"/>
                <a:ea typeface="Lato"/>
                <a:cs typeface="Lato"/>
              </a:rPr>
              <a:t>BU1 leadership. </a:t>
            </a:r>
            <a:endParaRPr kumimoji="0" lang="en-US" sz="1000" b="0" i="0" u="none" strike="noStrike" kern="1200" cap="none" spc="-10" normalizeH="0" baseline="0" noProof="0" dirty="0">
              <a:ln>
                <a:noFill/>
              </a:ln>
              <a:solidFill>
                <a:prstClr val="black"/>
              </a:solidFill>
              <a:effectLst/>
              <a:uLnTx/>
              <a:uFillTx/>
              <a:latin typeface="Arial" pitchFamily="34" charset="0"/>
              <a:ea typeface="Lato"/>
              <a:cs typeface="Lato"/>
            </a:endParaRP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US" sz="1000" b="0" i="0" u="none" strike="noStrike" kern="1200" cap="none" spc="-10" normalizeH="0" baseline="0" noProof="0" dirty="0">
                <a:ln>
                  <a:noFill/>
                </a:ln>
                <a:solidFill>
                  <a:prstClr val="black"/>
                </a:solidFill>
                <a:effectLst/>
                <a:uLnTx/>
                <a:uFillTx/>
                <a:latin typeface="Arial" pitchFamily="34" charset="0"/>
                <a:ea typeface="Lato"/>
                <a:cs typeface="Lato"/>
              </a:rPr>
              <a:t>Prioritize the number of strategic initiatives </a:t>
            </a: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GB" sz="1000" b="0" i="0" u="none" strike="noStrike" kern="1200" cap="none" spc="-10" normalizeH="0" baseline="0" noProof="0" dirty="0">
                <a:ln>
                  <a:noFill/>
                </a:ln>
                <a:solidFill>
                  <a:prstClr val="black"/>
                </a:solidFill>
                <a:effectLst/>
                <a:uLnTx/>
                <a:uFillTx/>
                <a:latin typeface="Arial" pitchFamily="34" charset="0"/>
                <a:ea typeface="Lato"/>
                <a:cs typeface="Lato"/>
              </a:rPr>
              <a:t>Leverage the CFO and the CEO BU2 as a sounding board within the ELT</a:t>
            </a: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GB" sz="1000" b="0" i="0" u="none" strike="noStrike" kern="1200" cap="none" spc="-10" normalizeH="0" baseline="0" noProof="0" dirty="0">
                <a:ln>
                  <a:noFill/>
                </a:ln>
                <a:solidFill>
                  <a:prstClr val="black"/>
                </a:solidFill>
                <a:effectLst/>
                <a:uLnTx/>
                <a:uFillTx/>
                <a:latin typeface="Arial" pitchFamily="34" charset="0"/>
                <a:ea typeface="Lato"/>
                <a:cs typeface="Lato"/>
              </a:rPr>
              <a:t>Clarify role and remit of the Advisor (Government Affairs to drive organic growth &amp; Board relationships)</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10" normalizeH="0" baseline="0" noProof="0" dirty="0">
              <a:ln>
                <a:noFill/>
              </a:ln>
              <a:solidFill>
                <a:sysClr val="windowText" lastClr="000000"/>
              </a:solidFill>
              <a:effectLst/>
              <a:uLnTx/>
              <a:uFillTx/>
              <a:latin typeface="Segoe UI" pitchFamily="34" charset="0"/>
              <a:ea typeface="Lato" panose="020F0502020204030203" pitchFamily="34" charset="0"/>
              <a:cs typeface="Lato" panose="020F0502020204030203"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10" normalizeH="0" baseline="0" noProof="0" dirty="0">
                <a:ln>
                  <a:noFill/>
                </a:ln>
                <a:solidFill>
                  <a:prstClr val="black"/>
                </a:solidFill>
                <a:effectLst/>
                <a:uLnTx/>
                <a:uFillTx/>
                <a:latin typeface="Segoe UI" pitchFamily="34" charset="0"/>
                <a:ea typeface="Lato"/>
                <a:cs typeface="Lato"/>
              </a:rPr>
              <a:t>3. Make Operating Model work</a:t>
            </a: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US" sz="1000" b="0" i="0" u="none" strike="noStrike" kern="0" cap="none" spc="-10" normalizeH="0" baseline="0" noProof="0" dirty="0">
                <a:ln>
                  <a:noFill/>
                </a:ln>
                <a:solidFill>
                  <a:prstClr val="black"/>
                </a:solidFill>
                <a:effectLst/>
                <a:uLnTx/>
                <a:uFillTx/>
                <a:latin typeface="Arial" pitchFamily="34" charset="0"/>
                <a:ea typeface="Lato" panose="020F0502020204030203" pitchFamily="34" charset="0"/>
                <a:cs typeface="Lato" panose="020F0502020204030203" pitchFamily="34" charset="0"/>
              </a:rPr>
              <a:t>Quick Wins (BU Finance support)</a:t>
            </a: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US" sz="1000" b="0" i="0" u="none" strike="noStrike" kern="0" cap="none" spc="-10" normalizeH="0" baseline="0" noProof="0" dirty="0">
                <a:ln>
                  <a:noFill/>
                </a:ln>
                <a:solidFill>
                  <a:prstClr val="black"/>
                </a:solidFill>
                <a:effectLst/>
                <a:uLnTx/>
                <a:uFillTx/>
                <a:latin typeface="Arial" pitchFamily="34" charset="0"/>
                <a:ea typeface="Lato"/>
                <a:cs typeface="Lato"/>
              </a:rPr>
              <a:t>Define role of Corporate Centre to drive Enterprise priorities and what can be pushed down to BU CEO remit (incl. functions). </a:t>
            </a: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GB" sz="1000" b="0" i="0" u="none" strike="noStrike" kern="0" cap="none" spc="-10" normalizeH="0" baseline="0" noProof="0" dirty="0">
                <a:ln>
                  <a:noFill/>
                </a:ln>
                <a:solidFill>
                  <a:sysClr val="windowText" lastClr="000000"/>
                </a:solidFill>
                <a:effectLst/>
                <a:uLnTx/>
                <a:uFillTx/>
                <a:latin typeface="Arial" pitchFamily="34" charset="0"/>
                <a:ea typeface="Lato" panose="020F0502020204030203" pitchFamily="34" charset="0"/>
                <a:cs typeface="Lato" panose="020F0502020204030203" pitchFamily="34" charset="0"/>
              </a:rPr>
              <a:t>Drive x-function collaboration </a:t>
            </a:r>
            <a:endParaRPr kumimoji="0" lang="en-US" sz="1000" b="0" i="0" u="none" strike="noStrike" kern="0" cap="none" spc="-10" normalizeH="0" baseline="0" noProof="0" dirty="0">
              <a:ln>
                <a:noFill/>
              </a:ln>
              <a:solidFill>
                <a:prstClr val="black"/>
              </a:solidFill>
              <a:effectLst/>
              <a:uLnTx/>
              <a:uFillTx/>
              <a:latin typeface="Arial" pitchFamily="34" charset="0"/>
              <a:ea typeface="Lato"/>
              <a:cs typeface="Lato"/>
            </a:endParaRPr>
          </a:p>
          <a:p>
            <a:pPr marL="0" marR="0" lvl="0" indent="0" defTabSz="914377" eaLnBrk="1" fontAlgn="auto" latinLnBrk="0" hangingPunct="1">
              <a:lnSpc>
                <a:spcPct val="100000"/>
              </a:lnSpc>
              <a:spcBef>
                <a:spcPts val="0"/>
              </a:spcBef>
              <a:spcAft>
                <a:spcPts val="0"/>
              </a:spcAft>
              <a:buClrTx/>
              <a:buSzTx/>
              <a:buFontTx/>
              <a:buNone/>
              <a:tabLst/>
              <a:defRPr/>
            </a:pPr>
            <a:endParaRPr kumimoji="0" lang="en-US" sz="1000" b="1" i="0" u="none" strike="noStrike" kern="0" cap="none" spc="-10" normalizeH="0" baseline="0" noProof="0" dirty="0">
              <a:ln>
                <a:noFill/>
              </a:ln>
              <a:solidFill>
                <a:sysClr val="windowText" lastClr="000000"/>
              </a:solidFill>
              <a:effectLst/>
              <a:uLnTx/>
              <a:uFillTx/>
              <a:latin typeface="Segoe UI" pitchFamily="34" charset="0"/>
              <a:ea typeface="Lato"/>
              <a:cs typeface="Lato"/>
            </a:endParaRPr>
          </a:p>
          <a:p>
            <a:pPr marL="0" marR="0" lvl="0" indent="0" defTabSz="914377" eaLnBrk="1" fontAlgn="auto" latinLnBrk="0" hangingPunct="1">
              <a:lnSpc>
                <a:spcPct val="100000"/>
              </a:lnSpc>
              <a:spcBef>
                <a:spcPts val="0"/>
              </a:spcBef>
              <a:spcAft>
                <a:spcPts val="0"/>
              </a:spcAft>
              <a:buClrTx/>
              <a:buSzTx/>
              <a:buFontTx/>
              <a:buNone/>
              <a:tabLst/>
              <a:defRPr/>
            </a:pPr>
            <a:r>
              <a:rPr kumimoji="0" lang="en-US" sz="1000" b="1" i="0" u="none" strike="noStrike" kern="0" cap="none" spc="-10" normalizeH="0" baseline="0" noProof="0" dirty="0">
                <a:ln>
                  <a:noFill/>
                </a:ln>
                <a:solidFill>
                  <a:sysClr val="windowText" lastClr="000000"/>
                </a:solidFill>
                <a:effectLst/>
                <a:uLnTx/>
                <a:uFillTx/>
                <a:latin typeface="Segoe UI" pitchFamily="34" charset="0"/>
                <a:ea typeface="Lato"/>
                <a:cs typeface="Lato"/>
              </a:rPr>
              <a:t>4. Build new capabilities </a:t>
            </a:r>
          </a:p>
          <a:p>
            <a:pPr marL="447675" marR="0" lvl="1" indent="-179070" defTabSz="914377" eaLnBrk="1" fontAlgn="auto" latinLnBrk="0" hangingPunct="1">
              <a:lnSpc>
                <a:spcPct val="100000"/>
              </a:lnSpc>
              <a:spcBef>
                <a:spcPts val="0"/>
              </a:spcBef>
              <a:spcAft>
                <a:spcPts val="0"/>
              </a:spcAft>
              <a:buBlip>
                <a:blip r:embed="rId6"/>
              </a:buBlip>
              <a:tabLst/>
              <a:defRPr/>
            </a:pPr>
            <a:r>
              <a:rPr kumimoji="0" lang="en-GB" sz="1000" b="0" i="0" u="none" strike="noStrike" kern="1200" cap="none" spc="-10" normalizeH="0" baseline="0" noProof="0" dirty="0">
                <a:ln>
                  <a:noFill/>
                </a:ln>
                <a:solidFill>
                  <a:prstClr val="black"/>
                </a:solidFill>
                <a:effectLst/>
                <a:uLnTx/>
                <a:uFillTx/>
                <a:latin typeface="Arial" pitchFamily="34" charset="0"/>
                <a:ea typeface="Lato"/>
                <a:cs typeface="Lato"/>
              </a:rPr>
              <a:t>Prioritize and Build capabilities in M&amp;A, Corporate Finance, Inv. Relations, Operations, S&amp;OP, Procurement, Sales, BU Financial Controllers, HR</a:t>
            </a:r>
          </a:p>
          <a:p>
            <a:pPr marL="447675" marR="0" lvl="1" indent="-179070" defTabSz="914377" eaLnBrk="1" fontAlgn="auto" latinLnBrk="0" hangingPunct="1">
              <a:lnSpc>
                <a:spcPct val="100000"/>
              </a:lnSpc>
              <a:spcBef>
                <a:spcPts val="0"/>
              </a:spcBef>
              <a:spcAft>
                <a:spcPts val="0"/>
              </a:spcAft>
              <a:buBlip>
                <a:blip r:embed="rId6"/>
              </a:buBlip>
              <a:tabLst/>
              <a:defRPr/>
            </a:pPr>
            <a:r>
              <a:rPr kumimoji="0" lang="en-GB" sz="1000" b="0" i="0" u="none" strike="noStrike" kern="1200" cap="none" spc="-10" normalizeH="0" baseline="0" noProof="0" dirty="0">
                <a:ln>
                  <a:noFill/>
                </a:ln>
                <a:solidFill>
                  <a:prstClr val="black"/>
                </a:solidFill>
                <a:effectLst/>
                <a:uLnTx/>
                <a:uFillTx/>
                <a:latin typeface="Arial" pitchFamily="34" charset="0"/>
                <a:ea typeface="Lato"/>
                <a:cs typeface="Lato"/>
              </a:rPr>
              <a:t>Identify critical roles, assess risks and build risk mitigation plans (incl. succession planning) </a:t>
            </a:r>
            <a:endParaRPr kumimoji="0" lang="en-US" sz="1000" b="0" i="0" u="none" strike="noStrike" kern="1200" cap="none" spc="-10" normalizeH="0" baseline="0" noProof="0" dirty="0">
              <a:ln>
                <a:noFill/>
              </a:ln>
              <a:solidFill>
                <a:prstClr val="black"/>
              </a:solidFill>
              <a:effectLst/>
              <a:uLnTx/>
              <a:uFillTx/>
              <a:latin typeface="Arial" pitchFamily="34" charset="0"/>
              <a:ea typeface="Lato"/>
              <a:cs typeface="Lato"/>
            </a:endParaRPr>
          </a:p>
          <a:p>
            <a:pPr marL="447675" marR="0" lvl="1" indent="-179070" defTabSz="914377" eaLnBrk="1" fontAlgn="auto" latinLnBrk="0" hangingPunct="1">
              <a:lnSpc>
                <a:spcPct val="100000"/>
              </a:lnSpc>
              <a:spcBef>
                <a:spcPts val="0"/>
              </a:spcBef>
              <a:spcAft>
                <a:spcPts val="0"/>
              </a:spcAft>
              <a:buBlip>
                <a:blip r:embed="rId6"/>
              </a:buBlip>
              <a:tabLst/>
              <a:defRPr/>
            </a:pPr>
            <a:r>
              <a:rPr kumimoji="0" lang="en-US" sz="1000" b="0" i="0" u="none" strike="noStrike" kern="1200" cap="none" spc="-10" normalizeH="0" baseline="0" noProof="0" dirty="0">
                <a:ln>
                  <a:noFill/>
                </a:ln>
                <a:solidFill>
                  <a:prstClr val="black"/>
                </a:solidFill>
                <a:effectLst/>
                <a:uLnTx/>
                <a:uFillTx/>
                <a:latin typeface="Arial" pitchFamily="34" charset="0"/>
                <a:ea typeface="Lato"/>
                <a:cs typeface="Lato"/>
              </a:rPr>
              <a:t>Prioritize and Proactively Build Bench @ BUs (over next 12 months). </a:t>
            </a: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US" sz="1000" b="0" i="0" u="none" strike="noStrike" kern="1200" cap="none" spc="-10" normalizeH="0" baseline="0" noProof="0" dirty="0">
                <a:ln>
                  <a:noFill/>
                </a:ln>
                <a:solidFill>
                  <a:prstClr val="black"/>
                </a:solidFill>
                <a:effectLst/>
                <a:uLnTx/>
                <a:uFillTx/>
                <a:latin typeface="Arial" pitchFamily="34" charset="0"/>
                <a:ea typeface="Lato"/>
                <a:cs typeface="Lato"/>
              </a:rPr>
              <a:t>Assess, address and strengthen N-2 capacity in BU1 Leadership team</a:t>
            </a:r>
          </a:p>
          <a:p>
            <a:pPr marL="447675" marR="0" lvl="1" indent="-179070" algn="l" defTabSz="914377" rtl="0" eaLnBrk="1" fontAlgn="auto" latinLnBrk="0" hangingPunct="1">
              <a:lnSpc>
                <a:spcPct val="100000"/>
              </a:lnSpc>
              <a:spcBef>
                <a:spcPts val="0"/>
              </a:spcBef>
              <a:spcAft>
                <a:spcPts val="0"/>
              </a:spcAft>
              <a:buBlip>
                <a:blip r:embed="rId6"/>
              </a:buBlip>
              <a:tabLst/>
              <a:defRPr/>
            </a:pPr>
            <a:endParaRPr kumimoji="0" lang="en-US" sz="1000" b="1" i="0" u="none" strike="noStrike" kern="0" cap="none" spc="-10" normalizeH="0" baseline="0" noProof="0" dirty="0">
              <a:ln>
                <a:noFill/>
              </a:ln>
              <a:solidFill>
                <a:prstClr val="black"/>
              </a:solidFill>
              <a:effectLst/>
              <a:uLnTx/>
              <a:uFillTx/>
              <a:latin typeface="Segoe UI" pitchFamily="34" charset="0"/>
              <a:ea typeface="Lato" panose="020F0502020204030203" pitchFamily="34" charset="0"/>
              <a:cs typeface="Lato" panose="020F0502020204030203" pitchFamily="34" charset="0"/>
            </a:endParaRPr>
          </a:p>
          <a:p>
            <a:pPr marL="228600" marR="0" lvl="0" indent="-228600" defTabSz="914400" eaLnBrk="1" fontAlgn="auto" latinLnBrk="0" hangingPunct="1">
              <a:lnSpc>
                <a:spcPct val="100000"/>
              </a:lnSpc>
              <a:spcBef>
                <a:spcPts val="0"/>
              </a:spcBef>
              <a:spcAft>
                <a:spcPts val="0"/>
              </a:spcAft>
              <a:buClrTx/>
              <a:buSzTx/>
              <a:buFontTx/>
              <a:buAutoNum type="arabicPeriod" startAt="5"/>
              <a:tabLst/>
              <a:defRPr/>
            </a:pPr>
            <a:r>
              <a:rPr kumimoji="0" lang="en-US" sz="1000" b="1" i="0" u="none" strike="noStrike" kern="0" cap="none" spc="-10" normalizeH="0" baseline="0" noProof="0" dirty="0">
                <a:ln>
                  <a:noFill/>
                </a:ln>
                <a:solidFill>
                  <a:prstClr val="black"/>
                </a:solidFill>
                <a:effectLst/>
                <a:uLnTx/>
                <a:uFillTx/>
                <a:latin typeface="Segoe UI" pitchFamily="34" charset="0"/>
                <a:ea typeface="Lato"/>
                <a:cs typeface="Lato"/>
              </a:rPr>
              <a:t>Strengthen Culture</a:t>
            </a:r>
            <a:endParaRPr kumimoji="0" lang="en-US" sz="1000" b="0" i="0" u="none" strike="noStrike" kern="0" cap="none" spc="-10" normalizeH="0" baseline="0" noProof="0" dirty="0">
              <a:ln>
                <a:noFill/>
              </a:ln>
              <a:solidFill>
                <a:prstClr val="black"/>
              </a:solidFill>
              <a:effectLst/>
              <a:uLnTx/>
              <a:uFillTx/>
              <a:latin typeface="Arial" pitchFamily="34" charset="0"/>
              <a:ea typeface="Lato"/>
              <a:cs typeface="Lato"/>
            </a:endParaRPr>
          </a:p>
          <a:p>
            <a:pPr marL="447675" marR="0" lvl="1" indent="-179070" algn="l" defTabSz="914377" rtl="0" eaLnBrk="1" fontAlgn="auto" latinLnBrk="0" hangingPunct="1">
              <a:lnSpc>
                <a:spcPct val="100000"/>
              </a:lnSpc>
              <a:spcBef>
                <a:spcPts val="0"/>
              </a:spcBef>
              <a:spcAft>
                <a:spcPts val="0"/>
              </a:spcAft>
              <a:buBlip>
                <a:blip r:embed="rId6"/>
              </a:buBlip>
              <a:tabLst/>
              <a:defRPr/>
            </a:pPr>
            <a:r>
              <a:rPr kumimoji="0" lang="en-US" sz="1000" b="0" i="0" u="none" strike="noStrike" kern="0" cap="none" spc="-10" normalizeH="0" baseline="0" noProof="0" dirty="0">
                <a:ln>
                  <a:noFill/>
                </a:ln>
                <a:solidFill>
                  <a:prstClr val="black"/>
                </a:solidFill>
                <a:effectLst/>
                <a:uLnTx/>
                <a:uFillTx/>
                <a:latin typeface="Arial" pitchFamily="34" charset="0"/>
                <a:ea typeface="Lato"/>
                <a:cs typeface="Lato"/>
              </a:rPr>
              <a:t>Reinforce desired mindset of </a:t>
            </a:r>
            <a:r>
              <a:rPr kumimoji="0" lang="en-US" sz="1000" b="1" i="0" u="none" strike="noStrike" kern="0" cap="none" spc="-10" normalizeH="0" baseline="0" noProof="0" dirty="0">
                <a:ln>
                  <a:noFill/>
                </a:ln>
                <a:solidFill>
                  <a:prstClr val="black"/>
                </a:solidFill>
                <a:effectLst/>
                <a:uLnTx/>
                <a:uFillTx/>
                <a:latin typeface="Segoe UI" pitchFamily="34" charset="0"/>
                <a:ea typeface="Lato"/>
                <a:cs typeface="Lato"/>
              </a:rPr>
              <a:t>accountability and performance</a:t>
            </a:r>
            <a:r>
              <a:rPr kumimoji="0" lang="en-US" sz="1000" b="0" i="0" u="none" strike="noStrike" kern="0" cap="none" spc="-10" normalizeH="0" baseline="0" noProof="0" dirty="0">
                <a:ln>
                  <a:noFill/>
                </a:ln>
                <a:solidFill>
                  <a:prstClr val="black"/>
                </a:solidFill>
                <a:effectLst/>
                <a:uLnTx/>
                <a:uFillTx/>
                <a:latin typeface="Arial" pitchFamily="34" charset="0"/>
                <a:ea typeface="Lato"/>
                <a:cs typeface="Lato"/>
              </a:rPr>
              <a:t>. </a:t>
            </a:r>
            <a:r>
              <a:rPr kumimoji="0" lang="en-GB" sz="1000" b="0" i="0" u="none" strike="noStrike" kern="0" cap="none" spc="-10" normalizeH="0" baseline="0" noProof="0" dirty="0">
                <a:ln>
                  <a:noFill/>
                </a:ln>
                <a:solidFill>
                  <a:prstClr val="black"/>
                </a:solidFill>
                <a:effectLst/>
                <a:uLnTx/>
                <a:uFillTx/>
                <a:latin typeface="Arial" pitchFamily="34" charset="0"/>
                <a:ea typeface="Lato"/>
                <a:cs typeface="Lato"/>
              </a:rPr>
              <a:t>Hold BU LTs accountable for performance</a:t>
            </a:r>
            <a:endParaRPr kumimoji="0" lang="en-US" sz="1000" b="0" i="0" u="none" strike="noStrike" kern="0" cap="none" spc="-10" normalizeH="0" baseline="0" noProof="0" dirty="0">
              <a:ln>
                <a:noFill/>
              </a:ln>
              <a:solidFill>
                <a:prstClr val="black"/>
              </a:solidFill>
              <a:effectLst/>
              <a:uLnTx/>
              <a:uFillTx/>
              <a:latin typeface="Arial" pitchFamily="34" charset="0"/>
              <a:ea typeface="Lato"/>
              <a:cs typeface="Lato"/>
            </a:endParaRPr>
          </a:p>
        </p:txBody>
      </p:sp>
      <p:sp>
        <p:nvSpPr>
          <p:cNvPr id="6" name="Google Shape;143;p4">
            <a:extLst>
              <a:ext uri="{FF2B5EF4-FFF2-40B4-BE49-F238E27FC236}">
                <a16:creationId xmlns:a16="http://schemas.microsoft.com/office/drawing/2014/main" id="{EDA1E36E-FD79-EFC2-24AE-2016FBA6F4E4}"/>
              </a:ext>
            </a:extLst>
          </p:cNvPr>
          <p:cNvSpPr txBox="1"/>
          <p:nvPr/>
        </p:nvSpPr>
        <p:spPr>
          <a:xfrm>
            <a:off x="10244663" y="2255886"/>
            <a:ext cx="1184730" cy="553978"/>
          </a:xfrm>
          <a:prstGeom prst="rect">
            <a:avLst/>
          </a:pr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765FFF"/>
              </a:buClr>
              <a:buSzPts val="3600"/>
              <a:buFontTx/>
              <a:buNone/>
              <a:tabLst/>
              <a:defRPr/>
            </a:pPr>
            <a:r>
              <a:rPr kumimoji="0" lang="en-US" sz="1100" b="1" i="0" u="none" strike="noStrike" kern="0" cap="none" spc="-10" normalizeH="0" baseline="0" noProof="0" dirty="0">
                <a:ln>
                  <a:noFill/>
                </a:ln>
                <a:solidFill>
                  <a:srgbClr val="765FFF"/>
                </a:solidFill>
                <a:effectLst/>
                <a:uLnTx/>
                <a:uFillTx/>
                <a:latin typeface="Segoe UI" pitchFamily="34" charset="0"/>
                <a:ea typeface="Lato"/>
                <a:cs typeface="Lato"/>
                <a:sym typeface="Lato"/>
              </a:rPr>
              <a:t>POTENTIAL FOR </a:t>
            </a:r>
          </a:p>
          <a:p>
            <a:pPr marL="0" marR="0" lvl="0" indent="0" algn="ctr" defTabSz="457200" rtl="0" eaLnBrk="1" fontAlgn="auto" latinLnBrk="0" hangingPunct="1">
              <a:lnSpc>
                <a:spcPct val="100000"/>
              </a:lnSpc>
              <a:spcBef>
                <a:spcPts val="0"/>
              </a:spcBef>
              <a:spcAft>
                <a:spcPts val="0"/>
              </a:spcAft>
              <a:buClr>
                <a:srgbClr val="765FFF"/>
              </a:buClr>
              <a:buSzPts val="3600"/>
              <a:buFontTx/>
              <a:buNone/>
              <a:tabLst/>
              <a:defRPr/>
            </a:pPr>
            <a:r>
              <a:rPr kumimoji="0" lang="en-US" sz="1100" b="1" i="0" u="none" strike="noStrike" kern="0" cap="none" spc="-10" normalizeH="0" baseline="0" noProof="0" dirty="0">
                <a:ln>
                  <a:noFill/>
                </a:ln>
                <a:solidFill>
                  <a:srgbClr val="765FFF"/>
                </a:solidFill>
                <a:effectLst/>
                <a:uLnTx/>
                <a:uFillTx/>
                <a:latin typeface="Segoe UI" pitchFamily="34" charset="0"/>
                <a:ea typeface="Lato"/>
                <a:cs typeface="Lato"/>
                <a:sym typeface="Lato"/>
              </a:rPr>
              <a:t>CLICK SCORE IMPROVEMENT</a:t>
            </a:r>
          </a:p>
        </p:txBody>
      </p:sp>
      <p:grpSp>
        <p:nvGrpSpPr>
          <p:cNvPr id="8" name="Google Shape;195;p5">
            <a:extLst>
              <a:ext uri="{FF2B5EF4-FFF2-40B4-BE49-F238E27FC236}">
                <a16:creationId xmlns:a16="http://schemas.microsoft.com/office/drawing/2014/main" id="{1A447465-317A-993C-0712-04E03086C2BB}"/>
              </a:ext>
            </a:extLst>
          </p:cNvPr>
          <p:cNvGrpSpPr/>
          <p:nvPr/>
        </p:nvGrpSpPr>
        <p:grpSpPr>
          <a:xfrm>
            <a:off x="10209937" y="2944866"/>
            <a:ext cx="1068814" cy="1199653"/>
            <a:chOff x="501280" y="-6468"/>
            <a:chExt cx="3521557" cy="3741440"/>
          </a:xfrm>
        </p:grpSpPr>
        <p:grpSp>
          <p:nvGrpSpPr>
            <p:cNvPr id="10" name="Google Shape;196;p5">
              <a:extLst>
                <a:ext uri="{FF2B5EF4-FFF2-40B4-BE49-F238E27FC236}">
                  <a16:creationId xmlns:a16="http://schemas.microsoft.com/office/drawing/2014/main" id="{3E77EECC-67D7-3FAA-6025-43AE6EC3F530}"/>
                </a:ext>
              </a:extLst>
            </p:cNvPr>
            <p:cNvGrpSpPr/>
            <p:nvPr/>
          </p:nvGrpSpPr>
          <p:grpSpPr>
            <a:xfrm>
              <a:off x="1060571" y="448533"/>
              <a:ext cx="2539764" cy="2539769"/>
              <a:chOff x="1" y="0"/>
              <a:chExt cx="2539762" cy="2539768"/>
            </a:xfrm>
          </p:grpSpPr>
          <p:sp>
            <p:nvSpPr>
              <p:cNvPr id="18" name="Google Shape;197;p5">
                <a:extLst>
                  <a:ext uri="{FF2B5EF4-FFF2-40B4-BE49-F238E27FC236}">
                    <a16:creationId xmlns:a16="http://schemas.microsoft.com/office/drawing/2014/main" id="{A3CCD93A-BB9A-1AF4-693A-7B78CC30A7D1}"/>
                  </a:ext>
                </a:extLst>
              </p:cNvPr>
              <p:cNvSpPr/>
              <p:nvPr/>
            </p:nvSpPr>
            <p:spPr>
              <a:xfrm>
                <a:off x="1" y="0"/>
                <a:ext cx="2539762" cy="2539768"/>
              </a:xfrm>
              <a:prstGeom prst="ellipse">
                <a:avLst/>
              </a:prstGeom>
              <a:solidFill>
                <a:srgbClr val="FFB547"/>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9" name="Google Shape;198;p5">
                <a:extLst>
                  <a:ext uri="{FF2B5EF4-FFF2-40B4-BE49-F238E27FC236}">
                    <a16:creationId xmlns:a16="http://schemas.microsoft.com/office/drawing/2014/main" id="{BC496895-6AD4-3114-A809-E386DF90C48B}"/>
                  </a:ext>
                </a:extLst>
              </p:cNvPr>
              <p:cNvSpPr txBox="1"/>
              <p:nvPr/>
            </p:nvSpPr>
            <p:spPr>
              <a:xfrm>
                <a:off x="432370" y="638008"/>
                <a:ext cx="1692208" cy="1157607"/>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1D1D1D"/>
                    </a:solidFill>
                    <a:latin typeface="Segoe UI" pitchFamily="34" charset="0"/>
                  </a:defRPr>
                </a:pPr>
                <a:r>
                  <a:rPr lang="en-US" b="1" spc="-25" dirty="0">
                    <a:solidFill>
                      <a:srgbClr val="1D1D1D"/>
                    </a:solidFill>
                    <a:latin typeface="Segoe UI" pitchFamily="34" charset="0"/>
                    <a:ea typeface="Lato"/>
                    <a:cs typeface="Lato"/>
                    <a:sym typeface="Lato"/>
                  </a:rPr>
                  <a:t>56</a:t>
                </a:r>
                <a:endParaRPr kumimoji="0" sz="1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20" name="Google Shape;199;p5">
                <a:extLst>
                  <a:ext uri="{FF2B5EF4-FFF2-40B4-BE49-F238E27FC236}">
                    <a16:creationId xmlns:a16="http://schemas.microsoft.com/office/drawing/2014/main" id="{ADA24954-CA50-15CD-8568-92E66EA4756F}"/>
                  </a:ext>
                </a:extLst>
              </p:cNvPr>
              <p:cNvSpPr/>
              <p:nvPr/>
            </p:nvSpPr>
            <p:spPr>
              <a:xfrm>
                <a:off x="302545" y="1492217"/>
                <a:ext cx="2062768" cy="60660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1D1D1D"/>
                    </a:solidFill>
                  </a:defRPr>
                </a:pPr>
                <a:r>
                  <a:rPr kumimoji="0" lang="en-US" sz="600" b="0" i="0" u="none" strike="noStrike" kern="0" cap="none" spc="-10" normalizeH="0" baseline="0" noProof="0" dirty="0">
                    <a:ln>
                      <a:noFill/>
                    </a:ln>
                    <a:solidFill>
                      <a:srgbClr val="1D1D1D"/>
                    </a:solidFill>
                    <a:effectLst/>
                    <a:uLnTx/>
                    <a:uFillTx/>
                    <a:latin typeface="Arial" pitchFamily="34" charset="0"/>
                    <a:ea typeface="Lato"/>
                    <a:cs typeface="Lato"/>
                    <a:sym typeface="Lato"/>
                  </a:rPr>
                  <a:t>Click Score</a:t>
                </a:r>
                <a:endParaRPr kumimoji="0" sz="6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11" name="Google Shape;200;p5">
              <a:extLst>
                <a:ext uri="{FF2B5EF4-FFF2-40B4-BE49-F238E27FC236}">
                  <a16:creationId xmlns:a16="http://schemas.microsoft.com/office/drawing/2014/main" id="{C42A63E4-4D66-4015-218C-EE6B122C06EC}"/>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12" name="Google Shape;201;p5">
              <a:extLst>
                <a:ext uri="{FF2B5EF4-FFF2-40B4-BE49-F238E27FC236}">
                  <a16:creationId xmlns:a16="http://schemas.microsoft.com/office/drawing/2014/main" id="{185EDA1A-0454-5A38-632B-7394860031D2}"/>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7" name="Google Shape;202;p5">
              <a:extLst>
                <a:ext uri="{FF2B5EF4-FFF2-40B4-BE49-F238E27FC236}">
                  <a16:creationId xmlns:a16="http://schemas.microsoft.com/office/drawing/2014/main" id="{BA943F16-432B-35CD-600B-CA855E7B8ACF}"/>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15" name="Google Shape;203;p5">
              <a:extLst>
                <a:ext uri="{FF2B5EF4-FFF2-40B4-BE49-F238E27FC236}">
                  <a16:creationId xmlns:a16="http://schemas.microsoft.com/office/drawing/2014/main" id="{C58A1684-B5C9-DD9A-B126-DDEE133CE925}"/>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6" name="Google Shape;204;p5">
              <a:extLst>
                <a:ext uri="{FF2B5EF4-FFF2-40B4-BE49-F238E27FC236}">
                  <a16:creationId xmlns:a16="http://schemas.microsoft.com/office/drawing/2014/main" id="{7E3EA3EC-84BA-DAB6-BCAD-36838FA60680}"/>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17" name="Google Shape;205;p5">
              <a:extLst>
                <a:ext uri="{FF2B5EF4-FFF2-40B4-BE49-F238E27FC236}">
                  <a16:creationId xmlns:a16="http://schemas.microsoft.com/office/drawing/2014/main" id="{4460A6F8-1D95-EC1D-77DA-0500DA5C4686}"/>
                </a:ext>
              </a:extLst>
            </p:cNvPr>
            <p:cNvSpPr txBox="1"/>
            <p:nvPr/>
          </p:nvSpPr>
          <p:spPr>
            <a:xfrm>
              <a:off x="1515631" y="2764881"/>
              <a:ext cx="1910261" cy="658141"/>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grpSp>
        <p:nvGrpSpPr>
          <p:cNvPr id="36" name="Google Shape;195;p5">
            <a:extLst>
              <a:ext uri="{FF2B5EF4-FFF2-40B4-BE49-F238E27FC236}">
                <a16:creationId xmlns:a16="http://schemas.microsoft.com/office/drawing/2014/main" id="{C96B44F5-18FA-0F95-A07A-19BD438BE1C0}"/>
              </a:ext>
            </a:extLst>
          </p:cNvPr>
          <p:cNvGrpSpPr/>
          <p:nvPr/>
        </p:nvGrpSpPr>
        <p:grpSpPr>
          <a:xfrm>
            <a:off x="10235337" y="4710166"/>
            <a:ext cx="1068814" cy="1199653"/>
            <a:chOff x="501280" y="-6468"/>
            <a:chExt cx="3521557" cy="3741440"/>
          </a:xfrm>
        </p:grpSpPr>
        <p:grpSp>
          <p:nvGrpSpPr>
            <p:cNvPr id="37" name="Google Shape;196;p5">
              <a:extLst>
                <a:ext uri="{FF2B5EF4-FFF2-40B4-BE49-F238E27FC236}">
                  <a16:creationId xmlns:a16="http://schemas.microsoft.com/office/drawing/2014/main" id="{087F7995-5CC5-5608-3ACE-C65950555B48}"/>
                </a:ext>
              </a:extLst>
            </p:cNvPr>
            <p:cNvGrpSpPr/>
            <p:nvPr/>
          </p:nvGrpSpPr>
          <p:grpSpPr>
            <a:xfrm>
              <a:off x="1060571" y="448533"/>
              <a:ext cx="2539764" cy="2539769"/>
              <a:chOff x="1" y="0"/>
              <a:chExt cx="2539762" cy="2539768"/>
            </a:xfrm>
          </p:grpSpPr>
          <p:sp>
            <p:nvSpPr>
              <p:cNvPr id="44" name="Google Shape;197;p5">
                <a:extLst>
                  <a:ext uri="{FF2B5EF4-FFF2-40B4-BE49-F238E27FC236}">
                    <a16:creationId xmlns:a16="http://schemas.microsoft.com/office/drawing/2014/main" id="{001ABB61-8DFB-F839-1EA4-48B327A788D0}"/>
                  </a:ext>
                </a:extLst>
              </p:cNvPr>
              <p:cNvSpPr/>
              <p:nvPr/>
            </p:nvSpPr>
            <p:spPr>
              <a:xfrm>
                <a:off x="1" y="0"/>
                <a:ext cx="2539762" cy="2539768"/>
              </a:xfrm>
              <a:prstGeom prst="ellipse">
                <a:avLst/>
              </a:prstGeom>
              <a:solidFill>
                <a:srgbClr val="00C27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solidFill>
                      <a:srgbClr val="FFFFFF"/>
                    </a:solidFill>
                    <a:latin typeface="Segoe UI" pitchFamily="34" charset="0"/>
                  </a:defRPr>
                </a:pPr>
                <a:endParaRPr kumimoji="0" sz="2000" b="1" i="0" u="none" strike="noStrike" kern="0" cap="none" spc="-25" normalizeH="0" baseline="0" noProof="0" dirty="0">
                  <a:ln>
                    <a:noFill/>
                  </a:ln>
                  <a:solidFill>
                    <a:srgbClr val="FFFFFF"/>
                  </a:solidFill>
                  <a:effectLst/>
                  <a:uLnTx/>
                  <a:uFillTx/>
                  <a:latin typeface="Segoe UI" pitchFamily="34" charset="0"/>
                  <a:ea typeface="Lato"/>
                  <a:cs typeface="Lato"/>
                  <a:sym typeface="Lato"/>
                </a:endParaRPr>
              </a:p>
            </p:txBody>
          </p:sp>
          <p:sp>
            <p:nvSpPr>
              <p:cNvPr id="45" name="Google Shape;198;p5">
                <a:extLst>
                  <a:ext uri="{FF2B5EF4-FFF2-40B4-BE49-F238E27FC236}">
                    <a16:creationId xmlns:a16="http://schemas.microsoft.com/office/drawing/2014/main" id="{9888FC92-381E-741A-6A89-56482DA83932}"/>
                  </a:ext>
                </a:extLst>
              </p:cNvPr>
              <p:cNvSpPr txBox="1"/>
              <p:nvPr/>
            </p:nvSpPr>
            <p:spPr>
              <a:xfrm>
                <a:off x="432370" y="638008"/>
                <a:ext cx="1692208" cy="1157607"/>
              </a:xfrm>
              <a:prstGeom prst="rect">
                <a:avLst/>
              </a:prstGeom>
              <a:noFill/>
              <a:ln>
                <a:noFill/>
              </a:ln>
            </p:spPr>
            <p:txBody>
              <a:bodyPr spcFirstLastPara="1" wrap="square" lIns="0" tIns="0" rIns="0" bIns="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7000"/>
                  <a:buFontTx/>
                  <a:buNone/>
                  <a:tabLst/>
                  <a:defRPr b="1" spc="-25">
                    <a:solidFill>
                      <a:srgbClr val="FFFFFF"/>
                    </a:solidFill>
                    <a:latin typeface="Segoe UI" pitchFamily="34" charset="0"/>
                  </a:defRPr>
                </a:pPr>
                <a:r>
                  <a:rPr lang="en-US" b="1" spc="-25" dirty="0">
                    <a:solidFill>
                      <a:srgbClr val="FFFFFF"/>
                    </a:solidFill>
                    <a:latin typeface="Segoe UI" pitchFamily="34" charset="0"/>
                    <a:ea typeface="Lato"/>
                    <a:cs typeface="Lato"/>
                    <a:sym typeface="Lato"/>
                  </a:rPr>
                  <a:t>70</a:t>
                </a:r>
                <a:endParaRPr kumimoji="0" sz="100" b="1" i="0" u="none" strike="noStrike" kern="0" cap="none" spc="-25" normalizeH="0" baseline="0" noProof="0" dirty="0">
                  <a:ln>
                    <a:noFill/>
                  </a:ln>
                  <a:solidFill>
                    <a:srgbClr val="FFFFFF"/>
                  </a:solidFill>
                  <a:effectLst/>
                  <a:uLnTx/>
                  <a:uFillTx/>
                  <a:latin typeface="Segoe UI" pitchFamily="34" charset="0"/>
                  <a:ea typeface="+mn-ea"/>
                  <a:cs typeface="Arial"/>
                  <a:sym typeface="Arial"/>
                </a:endParaRPr>
              </a:p>
            </p:txBody>
          </p:sp>
          <p:sp>
            <p:nvSpPr>
              <p:cNvPr id="46" name="Google Shape;199;p5">
                <a:extLst>
                  <a:ext uri="{FF2B5EF4-FFF2-40B4-BE49-F238E27FC236}">
                    <a16:creationId xmlns:a16="http://schemas.microsoft.com/office/drawing/2014/main" id="{44AD19D6-8A37-43C4-7B2F-D9AD0548A763}"/>
                  </a:ext>
                </a:extLst>
              </p:cNvPr>
              <p:cNvSpPr/>
              <p:nvPr/>
            </p:nvSpPr>
            <p:spPr>
              <a:xfrm>
                <a:off x="302545" y="1492217"/>
                <a:ext cx="2062768" cy="606609"/>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22850" tIns="22850" rIns="22850" bIns="22850" anchor="b" anchorCtr="0">
                <a:spAutoFit/>
              </a:bodyPr>
              <a:lstStyle/>
              <a:p>
                <a:pPr marL="0" marR="0" lvl="0" indent="0" algn="ctr" defTabSz="457200" rtl="0" eaLnBrk="1" fontAlgn="auto" latinLnBrk="0" hangingPunct="1">
                  <a:lnSpc>
                    <a:spcPct val="100000"/>
                  </a:lnSpc>
                  <a:spcBef>
                    <a:spcPts val="0"/>
                  </a:spcBef>
                  <a:spcAft>
                    <a:spcPts val="0"/>
                  </a:spcAft>
                  <a:buClr>
                    <a:srgbClr val="1D1D1D"/>
                  </a:buClr>
                  <a:buSzPts val="1800"/>
                  <a:buFontTx/>
                  <a:buNone/>
                  <a:tabLst/>
                  <a:defRPr>
                    <a:solidFill>
                      <a:srgbClr val="FFFFFF"/>
                    </a:solidFill>
                  </a:defRPr>
                </a:pPr>
                <a:r>
                  <a:rPr kumimoji="0" lang="en-US" sz="600" b="0" i="0" u="none" strike="noStrike" kern="0" cap="none" spc="-10" normalizeH="0" baseline="0" noProof="0" dirty="0">
                    <a:ln>
                      <a:noFill/>
                    </a:ln>
                    <a:solidFill>
                      <a:srgbClr val="FFFFFF"/>
                    </a:solidFill>
                    <a:effectLst/>
                    <a:uLnTx/>
                    <a:uFillTx/>
                    <a:latin typeface="Arial" pitchFamily="34" charset="0"/>
                    <a:ea typeface="Lato"/>
                    <a:cs typeface="Lato"/>
                    <a:sym typeface="Lato"/>
                  </a:rPr>
                  <a:t>Click Score</a:t>
                </a:r>
                <a:endParaRPr kumimoji="0" sz="600" b="0" i="0" u="none" strike="noStrike" kern="0" cap="none" spc="-10" normalizeH="0" baseline="0" noProof="0" dirty="0">
                  <a:ln>
                    <a:noFill/>
                  </a:ln>
                  <a:solidFill>
                    <a:srgbClr val="FFFFFF"/>
                  </a:solidFill>
                  <a:effectLst/>
                  <a:uLnTx/>
                  <a:uFillTx/>
                  <a:latin typeface="Arial" pitchFamily="34" charset="0"/>
                  <a:ea typeface="+mn-ea"/>
                  <a:cs typeface="Arial"/>
                  <a:sym typeface="Arial"/>
                </a:endParaRPr>
              </a:p>
            </p:txBody>
          </p:sp>
        </p:grpSp>
        <p:sp>
          <p:nvSpPr>
            <p:cNvPr id="38" name="Google Shape;200;p5">
              <a:extLst>
                <a:ext uri="{FF2B5EF4-FFF2-40B4-BE49-F238E27FC236}">
                  <a16:creationId xmlns:a16="http://schemas.microsoft.com/office/drawing/2014/main" id="{94051917-AFF8-3798-78B0-964ABCB3FC5B}"/>
                </a:ext>
              </a:extLst>
            </p:cNvPr>
            <p:cNvSpPr/>
            <p:nvPr/>
          </p:nvSpPr>
          <p:spPr>
            <a:xfrm>
              <a:off x="1577135" y="26041"/>
              <a:ext cx="2445702" cy="1845243"/>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B2BBCA"/>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39" name="Google Shape;201;p5">
              <a:extLst>
                <a:ext uri="{FF2B5EF4-FFF2-40B4-BE49-F238E27FC236}">
                  <a16:creationId xmlns:a16="http://schemas.microsoft.com/office/drawing/2014/main" id="{A73F3261-4CFE-9242-9F1A-526EEB0A7DED}"/>
                </a:ext>
              </a:extLst>
            </p:cNvPr>
            <p:cNvSpPr/>
            <p:nvPr/>
          </p:nvSpPr>
          <p:spPr>
            <a:xfrm rot="-7279603">
              <a:off x="201047" y="795797"/>
              <a:ext cx="2445705" cy="1845240"/>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D0D7DF"/>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b="1" spc="-25">
                  <a:latin typeface="Segoe UI" pitchFamily="34" charset="0"/>
                </a:defRPr>
              </a:pPr>
              <a:endParaRPr kumimoji="0" sz="2000" b="1" i="0" u="none" strike="noStrike" kern="0" cap="none" spc="-25" normalizeH="0" baseline="0" noProof="0" dirty="0">
                <a:ln>
                  <a:noFill/>
                </a:ln>
                <a:solidFill>
                  <a:srgbClr val="1D1D1D"/>
                </a:solidFill>
                <a:effectLst/>
                <a:uLnTx/>
                <a:uFillTx/>
                <a:latin typeface="Segoe UI" pitchFamily="34" charset="0"/>
                <a:ea typeface="Lato"/>
                <a:cs typeface="Lato"/>
                <a:sym typeface="Lato"/>
              </a:endParaRPr>
            </a:p>
          </p:txBody>
        </p:sp>
        <p:sp>
          <p:nvSpPr>
            <p:cNvPr id="40" name="Google Shape;202;p5">
              <a:extLst>
                <a:ext uri="{FF2B5EF4-FFF2-40B4-BE49-F238E27FC236}">
                  <a16:creationId xmlns:a16="http://schemas.microsoft.com/office/drawing/2014/main" id="{AE5435B4-C962-EB4E-A3BE-3CDF62390E14}"/>
                </a:ext>
              </a:extLst>
            </p:cNvPr>
            <p:cNvSpPr/>
            <p:nvPr/>
          </p:nvSpPr>
          <p:spPr>
            <a:xfrm rot="7218535">
              <a:off x="1536441" y="1589499"/>
              <a:ext cx="2445705" cy="1845241"/>
            </a:xfrm>
            <a:custGeom>
              <a:avLst/>
              <a:gdLst/>
              <a:ahLst/>
              <a:cxnLst/>
              <a:rect l="l" t="t" r="r" b="b"/>
              <a:pathLst>
                <a:path w="21180" h="21372" extrusionOk="0">
                  <a:moveTo>
                    <a:pt x="5617" y="37"/>
                  </a:moveTo>
                  <a:cubicBezTo>
                    <a:pt x="8821" y="-228"/>
                    <a:pt x="12060" y="917"/>
                    <a:pt x="14799" y="3423"/>
                  </a:cubicBezTo>
                  <a:cubicBezTo>
                    <a:pt x="19182" y="7433"/>
                    <a:pt x="21600" y="14299"/>
                    <a:pt x="21120" y="21372"/>
                  </a:cubicBezTo>
                  <a:lnTo>
                    <a:pt x="17377" y="20918"/>
                  </a:lnTo>
                  <a:cubicBezTo>
                    <a:pt x="17466" y="19603"/>
                    <a:pt x="17421" y="18298"/>
                    <a:pt x="17252" y="17033"/>
                  </a:cubicBezTo>
                  <a:lnTo>
                    <a:pt x="16400" y="13463"/>
                  </a:lnTo>
                  <a:lnTo>
                    <a:pt x="16130" y="13703"/>
                  </a:lnTo>
                  <a:cubicBezTo>
                    <a:pt x="15858" y="13856"/>
                    <a:pt x="15558" y="13940"/>
                    <a:pt x="15244" y="13940"/>
                  </a:cubicBezTo>
                  <a:cubicBezTo>
                    <a:pt x="13986" y="13940"/>
                    <a:pt x="12966" y="12590"/>
                    <a:pt x="12966" y="10925"/>
                  </a:cubicBezTo>
                  <a:cubicBezTo>
                    <a:pt x="12966" y="10092"/>
                    <a:pt x="13221" y="9338"/>
                    <a:pt x="13633" y="8792"/>
                  </a:cubicBezTo>
                  <a:lnTo>
                    <a:pt x="13665" y="8764"/>
                  </a:lnTo>
                  <a:lnTo>
                    <a:pt x="12677" y="7572"/>
                  </a:lnTo>
                  <a:cubicBezTo>
                    <a:pt x="9418" y="4591"/>
                    <a:pt x="5209" y="4200"/>
                    <a:pt x="1673" y="6550"/>
                  </a:cubicBezTo>
                  <a:lnTo>
                    <a:pt x="0" y="2049"/>
                  </a:lnTo>
                  <a:cubicBezTo>
                    <a:pt x="1783" y="863"/>
                    <a:pt x="3694" y="197"/>
                    <a:pt x="5617" y="37"/>
                  </a:cubicBezTo>
                  <a:close/>
                </a:path>
              </a:pathLst>
            </a:custGeom>
            <a:solidFill>
              <a:srgbClr val="7A828D"/>
            </a:solidFill>
            <a:ln>
              <a:noFill/>
            </a:ln>
          </p:spPr>
          <p:txBody>
            <a:bodyPr spcFirstLastPara="1" wrap="square" lIns="22850" tIns="22850" rIns="22850" bIns="22850" anchor="ctr" anchorCtr="0">
              <a:noAutofit/>
            </a:bodyPr>
            <a:lstStyle/>
            <a:p>
              <a:pPr marL="0" marR="0" lvl="0" indent="0" algn="ctr" defTabSz="457200" rtl="0" eaLnBrk="1" fontAlgn="auto" latinLnBrk="0" hangingPunct="1">
                <a:lnSpc>
                  <a:spcPct val="100000"/>
                </a:lnSpc>
                <a:spcBef>
                  <a:spcPts val="0"/>
                </a:spcBef>
                <a:spcAft>
                  <a:spcPts val="0"/>
                </a:spcAft>
                <a:buClr>
                  <a:srgbClr val="FFFFFF"/>
                </a:buClr>
                <a:buSzPts val="4800"/>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Lato"/>
                <a:cs typeface="Lato"/>
                <a:sym typeface="Lato"/>
              </a:endParaRPr>
            </a:p>
          </p:txBody>
        </p:sp>
        <p:sp>
          <p:nvSpPr>
            <p:cNvPr id="41" name="Google Shape;203;p5">
              <a:extLst>
                <a:ext uri="{FF2B5EF4-FFF2-40B4-BE49-F238E27FC236}">
                  <a16:creationId xmlns:a16="http://schemas.microsoft.com/office/drawing/2014/main" id="{76015324-2A35-2F84-F972-4ABFC16BA258}"/>
                </a:ext>
              </a:extLst>
            </p:cNvPr>
            <p:cNvSpPr txBox="1"/>
            <p:nvPr/>
          </p:nvSpPr>
          <p:spPr>
            <a:xfrm rot="3053013">
              <a:off x="2402746" y="619590"/>
              <a:ext cx="1910259" cy="658144"/>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R</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42" name="Google Shape;204;p5">
              <a:extLst>
                <a:ext uri="{FF2B5EF4-FFF2-40B4-BE49-F238E27FC236}">
                  <a16:creationId xmlns:a16="http://schemas.microsoft.com/office/drawing/2014/main" id="{ECB36454-077C-1B12-0F4E-800E584BBAD9}"/>
                </a:ext>
              </a:extLst>
            </p:cNvPr>
            <p:cNvSpPr txBox="1"/>
            <p:nvPr/>
          </p:nvSpPr>
          <p:spPr>
            <a:xfrm rot="-4585723">
              <a:off x="142860" y="894883"/>
              <a:ext cx="1910265" cy="658143"/>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b="1" spc="-25">
                  <a:solidFill>
                    <a:srgbClr val="1D1D1D"/>
                  </a:solidFill>
                  <a:latin typeface="Segoe UI" pitchFamily="34" charset="0"/>
                </a:defRPr>
              </a:pPr>
              <a:r>
                <a:rPr kumimoji="0" lang="en-US" sz="700" b="1" i="0" u="none" strike="noStrike" kern="0" cap="none" spc="-25" normalizeH="0" baseline="0" noProof="0" dirty="0">
                  <a:ln>
                    <a:noFill/>
                  </a:ln>
                  <a:solidFill>
                    <a:srgbClr val="1D1D1D"/>
                  </a:solidFill>
                  <a:effectLst/>
                  <a:uLnTx/>
                  <a:uFillTx/>
                  <a:latin typeface="Segoe UI" pitchFamily="34" charset="0"/>
                  <a:ea typeface="Lato"/>
                  <a:cs typeface="Lato"/>
                  <a:sym typeface="Lato"/>
                </a:rPr>
                <a:t>W</a:t>
              </a:r>
              <a:endParaRPr kumimoji="0" sz="700" b="1" i="0" u="none" strike="noStrike" kern="0" cap="none" spc="-25" normalizeH="0" baseline="0" noProof="0" dirty="0">
                <a:ln>
                  <a:noFill/>
                </a:ln>
                <a:solidFill>
                  <a:srgbClr val="1D1D1D"/>
                </a:solidFill>
                <a:effectLst/>
                <a:uLnTx/>
                <a:uFillTx/>
                <a:latin typeface="Segoe UI" pitchFamily="34" charset="0"/>
                <a:ea typeface="+mn-ea"/>
                <a:cs typeface="Arial"/>
                <a:sym typeface="Arial"/>
              </a:endParaRPr>
            </a:p>
          </p:txBody>
        </p:sp>
        <p:sp>
          <p:nvSpPr>
            <p:cNvPr id="43" name="Google Shape;205;p5">
              <a:extLst>
                <a:ext uri="{FF2B5EF4-FFF2-40B4-BE49-F238E27FC236}">
                  <a16:creationId xmlns:a16="http://schemas.microsoft.com/office/drawing/2014/main" id="{737CF88A-4EFA-1395-DBC1-E73A2EDFE3CF}"/>
                </a:ext>
              </a:extLst>
            </p:cNvPr>
            <p:cNvSpPr txBox="1"/>
            <p:nvPr/>
          </p:nvSpPr>
          <p:spPr>
            <a:xfrm>
              <a:off x="1515631" y="2764881"/>
              <a:ext cx="1910261" cy="658141"/>
            </a:xfrm>
            <a:prstGeom prst="rect">
              <a:avLst/>
            </a:prstGeom>
            <a:noFill/>
            <a:ln>
              <a:noFill/>
            </a:ln>
          </p:spPr>
          <p:txBody>
            <a:bodyPr spcFirstLastPara="1" wrap="square" lIns="22850" tIns="22850" rIns="22850" bIns="22850" anchor="t" anchorCtr="0">
              <a:noAutofit/>
            </a:bodyPr>
            <a:lstStyle/>
            <a:p>
              <a:pPr marL="0" marR="0" lvl="0" indent="0" algn="ctr" defTabSz="457200" rtl="0" eaLnBrk="1" fontAlgn="auto" latinLnBrk="0" hangingPunct="1">
                <a:lnSpc>
                  <a:spcPct val="100000"/>
                </a:lnSpc>
                <a:spcBef>
                  <a:spcPts val="0"/>
                </a:spcBef>
                <a:spcAft>
                  <a:spcPts val="0"/>
                </a:spcAft>
                <a:buClr>
                  <a:srgbClr val="585858"/>
                </a:buClr>
                <a:buSzPts val="2000"/>
                <a:buFontTx/>
                <a:buNone/>
                <a:tabLst/>
                <a:defRPr>
                  <a:solidFill>
                    <a:srgbClr val="1D1D1D"/>
                  </a:solidFill>
                </a:defRPr>
              </a:pPr>
              <a:r>
                <a:rPr kumimoji="0" lang="en-US" sz="700" b="0" i="0" u="none" strike="noStrike" kern="0" cap="none" spc="-10" normalizeH="0" baseline="0" noProof="0" dirty="0">
                  <a:ln>
                    <a:noFill/>
                  </a:ln>
                  <a:solidFill>
                    <a:srgbClr val="1D1D1D"/>
                  </a:solidFill>
                  <a:effectLst/>
                  <a:uLnTx/>
                  <a:uFillTx/>
                  <a:latin typeface="Arial" pitchFamily="34" charset="0"/>
                  <a:ea typeface="Lato"/>
                  <a:cs typeface="Lato"/>
                  <a:sym typeface="Lato"/>
                </a:rPr>
                <a:t>T</a:t>
              </a:r>
              <a:endParaRPr kumimoji="0" sz="700" b="0" i="0" u="none" strike="noStrike" kern="0" cap="none" spc="-10" normalizeH="0" baseline="0" noProof="0" dirty="0">
                <a:ln>
                  <a:noFill/>
                </a:ln>
                <a:solidFill>
                  <a:srgbClr val="1D1D1D"/>
                </a:solidFill>
                <a:effectLst/>
                <a:uLnTx/>
                <a:uFillTx/>
                <a:latin typeface="Arial" pitchFamily="34" charset="0"/>
                <a:ea typeface="+mn-ea"/>
                <a:cs typeface="Arial"/>
                <a:sym typeface="Arial"/>
              </a:endParaRPr>
            </a:p>
          </p:txBody>
        </p:sp>
      </p:grpSp>
      <p:sp>
        <p:nvSpPr>
          <p:cNvPr id="22" name="TextBox 21">
            <a:extLst>
              <a:ext uri="{FF2B5EF4-FFF2-40B4-BE49-F238E27FC236}">
                <a16:creationId xmlns:a16="http://schemas.microsoft.com/office/drawing/2014/main" id="{3834AEF2-4EF0-D659-60E8-13C0DEAF8B2C}"/>
              </a:ext>
            </a:extLst>
          </p:cNvPr>
          <p:cNvSpPr txBox="1"/>
          <p:nvPr/>
        </p:nvSpPr>
        <p:spPr>
          <a:xfrm>
            <a:off x="1423073" y="6413500"/>
            <a:ext cx="4206601" cy="253916"/>
          </a:xfrm>
          <a:prstGeom prst="rect">
            <a:avLst/>
          </a:prstGeom>
          <a:noFill/>
          <a:ln>
            <a:noFill/>
          </a:ln>
        </p:spPr>
        <p:txBody>
          <a:bodyPr spcFirstLastPara="1" wrap="square" lIns="22850" tIns="22850" rIns="22850" bIns="22850" anchor="t" anchorCtr="0">
            <a:noAutofit/>
          </a:bodyPr>
          <a:lstStyle>
            <a:defPPr>
              <a:defRPr kern="0"/>
            </a:defPPr>
            <a:lvl1pPr marR="0" lvl="0" defTabSz="914400" eaLnBrk="1" fontAlgn="auto" latinLnBrk="0" hangingPunct="1">
              <a:lnSpc>
                <a:spcPct val="100000"/>
              </a:lnSpc>
              <a:spcBef>
                <a:spcPts val="0"/>
              </a:spcBef>
              <a:spcAft>
                <a:spcPts val="0"/>
              </a:spcAft>
              <a:buClrTx/>
              <a:buSzTx/>
              <a:tabLst/>
              <a:defRPr sz="1050" b="1" spc="-10">
                <a:latin typeface="Segoe UI" pitchFamily="34" charset="0"/>
                <a:ea typeface="Lato" panose="020F0502020204030203" pitchFamily="34" charset="0"/>
                <a:cs typeface="Lato" panose="020F0502020204030203" pitchFamily="34" charset="0"/>
              </a:defRPr>
            </a:lvl1pPr>
            <a:lvl2pPr marL="476250" lvl="1" indent="-228600">
              <a:buFont typeface="Arial" panose="020B0604020202020204" pitchFamily="34" charset="0"/>
              <a:buChar char="•"/>
              <a:defRPr sz="1050" kern="1200" spc="-10">
                <a:solidFill>
                  <a:prstClr val="black"/>
                </a:solidFill>
                <a:latin typeface="Arial" pitchFamily="34" charset="0"/>
                <a:ea typeface="Lato" panose="020F0502020204030203" pitchFamily="34" charset="0"/>
                <a:cs typeface="Lato" panose="020F0502020204030203" pitchFamily="34" charset="0"/>
              </a:defRPr>
            </a:lvl2pPr>
          </a:lstStyle>
          <a:p>
            <a:r>
              <a:rPr lang="en-GB" i="1" dirty="0"/>
              <a:t>Note: Success Plan actions are listed in order of relative importance</a:t>
            </a:r>
            <a:endParaRPr lang="LID4096" i="1"/>
          </a:p>
        </p:txBody>
      </p:sp>
      <p:sp>
        <p:nvSpPr>
          <p:cNvPr id="13" name="TextBox 12">
            <a:extLst>
              <a:ext uri="{FF2B5EF4-FFF2-40B4-BE49-F238E27FC236}">
                <a16:creationId xmlns:a16="http://schemas.microsoft.com/office/drawing/2014/main" id="{9E664BC5-46B7-5D70-468F-51CAF542309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8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3FD3B8A1-55FE-4AD7-9810-E09DAC280BBC}" type="slidenum">
              <a:t>19</a:t>
            </a:fld>
            <a:endParaRPr lang="en-US"/>
          </a:p>
        </p:txBody>
      </p:sp>
    </p:spTree>
    <p:extLst>
      <p:ext uri="{BB962C8B-B14F-4D97-AF65-F5344CB8AC3E}">
        <p14:creationId xmlns:p14="http://schemas.microsoft.com/office/powerpoint/2010/main" val="4142693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A62A1-9CA4-82FE-EA57-1B4DEEFA65C2}"/>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FF2620B4-D5D6-8703-6676-CA7FFC203CB0}"/>
              </a:ext>
            </a:extLst>
          </p:cNvPr>
          <p:cNvSpPr txBox="1">
            <a:spLocks noGrp="1"/>
          </p:cNvSpPr>
          <p:nvPr>
            <p:ph type="title"/>
          </p:nvPr>
        </p:nvSpPr>
        <p:spPr>
          <a:noFill/>
        </p:spPr>
        <p:txBody>
          <a:bodyPr/>
          <a:lstStyle/>
          <a:p>
            <a:pPr>
              <a:buNone/>
            </a:pPr>
            <a:r>
              <a:rPr lang="en-US" dirty="0"/>
              <a:t>Capability beyond Training</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2A875821-8425-4636-8BA1-CD113C876D3D}" type="slidenum">
              <a:t>20</a:t>
            </a:fld>
            <a:endParaRPr lang="en-US"/>
          </a:p>
        </p:txBody>
      </p:sp>
    </p:spTree>
    <p:extLst>
      <p:ext uri="{BB962C8B-B14F-4D97-AF65-F5344CB8AC3E}">
        <p14:creationId xmlns:p14="http://schemas.microsoft.com/office/powerpoint/2010/main" val="27794811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044C5-A01D-6250-FF29-113DA7C28C0E}"/>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A7969427-B0D1-AAF5-3508-2F1CFAEA237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A7969427-B0D1-AAF5-3508-2F1CFAEA237A}"/>
                          </a:ext>
                        </a:extLst>
                      </p:cNvPr>
                      <p:cNvPicPr/>
                      <p:nvPr/>
                    </p:nvPicPr>
                    <p:blipFill>
                      <a:blip r:embed="rId5">
                        <a:duotone>
                          <a:srgbClr val="765FFF"/>
                          <a:srgbClr val="FFFFFF"/>
                        </a:duotone>
                      </a:blip>
                      <a:stretch>
                        <a:fillRect/>
                      </a:stretch>
                    </p:blipFill>
                    <p:spPr>
                      <a:xfrm>
                        <a:off x="1588" y="1588"/>
                        <a:ext cx="1227" cy="1588"/>
                      </a:xfrm>
                      <a:prstGeom prst="rect">
                        <a:avLst/>
                      </a:prstGeom>
                    </p:spPr>
                  </p:pic>
                </p:oleObj>
              </mc:Fallback>
            </mc:AlternateContent>
          </a:graphicData>
        </a:graphic>
      </p:graphicFrame>
      <p:sp>
        <p:nvSpPr>
          <p:cNvPr id="59" name="Title 4">
            <a:extLst>
              <a:ext uri="{FF2B5EF4-FFF2-40B4-BE49-F238E27FC236}">
                <a16:creationId xmlns:a16="http://schemas.microsoft.com/office/drawing/2014/main" id="{26BABCC1-EB1C-9978-3944-3EAF21E7DA03}"/>
              </a:ext>
            </a:extLst>
          </p:cNvPr>
          <p:cNvSpPr txBox="1">
            <a:spLocks/>
          </p:cNvSpPr>
          <p:nvPr/>
        </p:nvSpPr>
        <p:spPr>
          <a:xfrm>
            <a:off x="775824" y="288715"/>
            <a:ext cx="11001600" cy="960000"/>
          </a:xfrm>
          <a:prstGeom prst="rect">
            <a:avLst/>
          </a:prstGeom>
        </p:spPr>
        <p:txBody>
          <a:bodyPr lIns="91440" tIns="45720" rIns="91440" bIns="45720"/>
          <a:lstStyle>
            <a:lvl1pPr indent="0">
              <a:lnSpc>
                <a:spcPct val="90000"/>
              </a:lnSpc>
              <a:spcBef>
                <a:spcPts val="1000"/>
              </a:spcBef>
              <a:buFont typeface="Arial" panose="020B0604020202020204" pitchFamily="34" charset="0"/>
              <a:buNone/>
              <a:defRPr sz="2800" b="1" i="0" spc="-25">
                <a:latin typeface="Segoe UI" pitchFamily="34" charset="0"/>
                <a:ea typeface="Helvetica Neue Light" panose="02000403000000020004" pitchFamily="2" charset="0"/>
                <a:cs typeface="Helvetica Neue" panose="02000503000000020004" pitchFamily="2" charset="0"/>
              </a:defRPr>
            </a:lvl1pPr>
            <a:lvl2pPr marL="685800" indent="-228600">
              <a:lnSpc>
                <a:spcPct val="90000"/>
              </a:lnSpc>
              <a:spcBef>
                <a:spcPts val="500"/>
              </a:spcBef>
              <a:buFont typeface="Arial" panose="020B0604020202020204" pitchFamily="34" charset="0"/>
              <a:buChar char="•"/>
              <a:defRPr sz="2400" b="1" spc="-25">
                <a:latin typeface="Segoe UI" pitchFamily="34" charset="0"/>
                <a:ea typeface="Helvetica Neue" panose="02000503000000020004" pitchFamily="2" charset="0"/>
                <a:cs typeface="Helvetica Neue" panose="02000503000000020004" pitchFamily="2" charset="0"/>
              </a:defRPr>
            </a:lvl2pPr>
            <a:lvl3pPr marL="1143000" indent="-228600">
              <a:lnSpc>
                <a:spcPct val="90000"/>
              </a:lnSpc>
              <a:spcBef>
                <a:spcPts val="500"/>
              </a:spcBef>
              <a:buFont typeface="Arial" panose="020B0604020202020204" pitchFamily="34" charset="0"/>
              <a:buChar char="•"/>
              <a:defRPr sz="2000" b="1" spc="-25">
                <a:latin typeface="Segoe UI" pitchFamily="34" charset="0"/>
                <a:ea typeface="Helvetica Neue" panose="02000503000000020004" pitchFamily="2" charset="0"/>
                <a:cs typeface="Helvetica Neue" panose="02000503000000020004" pitchFamily="2" charset="0"/>
              </a:defRPr>
            </a:lvl3pPr>
            <a:lvl4pPr marL="1600200" indent="-228600">
              <a:lnSpc>
                <a:spcPct val="90000"/>
              </a:lnSpc>
              <a:spcBef>
                <a:spcPts val="500"/>
              </a:spcBef>
              <a:buFont typeface="Arial" panose="020B0604020202020204" pitchFamily="34" charset="0"/>
              <a:buChar char="•"/>
              <a:defRPr b="1" spc="-25">
                <a:latin typeface="Segoe UI" pitchFamily="34" charset="0"/>
                <a:ea typeface="Helvetica Neue" panose="02000503000000020004" pitchFamily="2" charset="0"/>
                <a:cs typeface="Helvetica Neue" panose="02000503000000020004" pitchFamily="2" charset="0"/>
              </a:defRPr>
            </a:lvl4pPr>
            <a:lvl5pPr marL="2057400" indent="-228600">
              <a:lnSpc>
                <a:spcPct val="90000"/>
              </a:lnSpc>
              <a:spcBef>
                <a:spcPts val="500"/>
              </a:spcBef>
              <a:buFont typeface="Arial" panose="020B0604020202020204" pitchFamily="34" charset="0"/>
              <a:buChar char="•"/>
              <a:defRPr b="1" spc="-25">
                <a:latin typeface="Segoe UI" pitchFamily="34" charset="0"/>
                <a:ea typeface="Helvetica Neue" panose="02000503000000020004" pitchFamily="2" charset="0"/>
                <a:cs typeface="Helvetica Neue" panose="02000503000000020004" pitchFamily="2"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pc="300" dirty="0">
                <a:solidFill>
                  <a:srgbClr val="765FFF"/>
                </a:solidFill>
                <a:latin typeface="+mn-lt"/>
              </a:rPr>
              <a:t>Capability-building </a:t>
            </a:r>
            <a:r>
              <a:rPr lang="en-US" spc="300" dirty="0">
                <a:latin typeface="+mn-lt"/>
              </a:rPr>
              <a:t>Partnership | 3 </a:t>
            </a:r>
            <a:r>
              <a:rPr lang="en-US" spc="300" dirty="0">
                <a:solidFill>
                  <a:srgbClr val="765FFF"/>
                </a:solidFill>
                <a:latin typeface="+mn-lt"/>
              </a:rPr>
              <a:t>Scenarios</a:t>
            </a:r>
          </a:p>
        </p:txBody>
      </p:sp>
      <p:sp>
        <p:nvSpPr>
          <p:cNvPr id="27" name="Oval 26">
            <a:extLst>
              <a:ext uri="{FF2B5EF4-FFF2-40B4-BE49-F238E27FC236}">
                <a16:creationId xmlns:a16="http://schemas.microsoft.com/office/drawing/2014/main" id="{D5B3CDA8-E46D-DF2B-7B0C-A84C8F957968}"/>
              </a:ext>
            </a:extLst>
          </p:cNvPr>
          <p:cNvSpPr/>
          <p:nvPr/>
        </p:nvSpPr>
        <p:spPr>
          <a:xfrm>
            <a:off x="1032511" y="2444211"/>
            <a:ext cx="1401936" cy="1137536"/>
          </a:xfrm>
          <a:prstGeom prst="ellipse">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281A42"/>
                </a:solidFill>
                <a:latin typeface="Segoe UI" pitchFamily="34" charset="0"/>
                <a:cs typeface="Arial" panose="020B0604020202020204" pitchFamily="34" charset="0"/>
              </a:rPr>
              <a:t>ASML HRLT &amp; CoEs</a:t>
            </a:r>
          </a:p>
        </p:txBody>
      </p:sp>
      <p:sp>
        <p:nvSpPr>
          <p:cNvPr id="28" name="Rectangle: Rounded Corners 1">
            <a:extLst>
              <a:ext uri="{FF2B5EF4-FFF2-40B4-BE49-F238E27FC236}">
                <a16:creationId xmlns:a16="http://schemas.microsoft.com/office/drawing/2014/main" id="{DBCB1D99-71C5-C8BD-6AB6-FA2220E71D74}"/>
              </a:ext>
            </a:extLst>
          </p:cNvPr>
          <p:cNvSpPr/>
          <p:nvPr/>
        </p:nvSpPr>
        <p:spPr>
          <a:xfrm>
            <a:off x="3099460" y="2694712"/>
            <a:ext cx="2401695" cy="1137536"/>
          </a:xfrm>
          <a:prstGeom prst="roundRect">
            <a:avLst/>
          </a:prstGeom>
          <a:noFill/>
          <a:ln w="28575">
            <a:solidFill>
              <a:srgbClr val="281A4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2 days </a:t>
            </a:r>
          </a:p>
          <a:p>
            <a:pPr algn="ctr"/>
            <a:r>
              <a:rPr lang="en-US" sz="1200" spc="-10" dirty="0">
                <a:solidFill>
                  <a:srgbClr val="1D1D1D"/>
                </a:solidFill>
                <a:latin typeface="Arial" pitchFamily="34" charset="0"/>
                <a:cs typeface="Arial" panose="020B0604020202020204" pitchFamily="34" charset="0"/>
              </a:rPr>
              <a:t>Classroom training </a:t>
            </a:r>
          </a:p>
        </p:txBody>
      </p:sp>
      <p:sp>
        <p:nvSpPr>
          <p:cNvPr id="46" name="Rounded Rectangle 45">
            <a:extLst>
              <a:ext uri="{FF2B5EF4-FFF2-40B4-BE49-F238E27FC236}">
                <a16:creationId xmlns:a16="http://schemas.microsoft.com/office/drawing/2014/main" id="{F4E8B0B5-82D9-5A65-5146-32A0667ED8BD}"/>
              </a:ext>
            </a:extLst>
          </p:cNvPr>
          <p:cNvSpPr/>
          <p:nvPr/>
        </p:nvSpPr>
        <p:spPr>
          <a:xfrm>
            <a:off x="3099460" y="1265910"/>
            <a:ext cx="2401695" cy="613292"/>
          </a:xfrm>
          <a:prstGeom prst="roundRect">
            <a:avLst/>
          </a:prstGeom>
          <a:solidFill>
            <a:srgbClr val="281A4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25" dirty="0">
                <a:solidFill>
                  <a:srgbClr val="FFFFFF"/>
                </a:solidFill>
                <a:latin typeface="Segoe UI" pitchFamily="34" charset="0"/>
                <a:cs typeface="Arial" panose="020B0604020202020204" pitchFamily="34" charset="0"/>
              </a:rPr>
              <a:t>Scenario 1</a:t>
            </a:r>
          </a:p>
          <a:p>
            <a:pPr algn="ctr"/>
            <a:r>
              <a:rPr lang="en-US" sz="1400" b="1" spc="-25" dirty="0">
                <a:solidFill>
                  <a:srgbClr val="FFFFFF"/>
                </a:solidFill>
                <a:latin typeface="Segoe UI" pitchFamily="34" charset="0"/>
                <a:cs typeface="Arial" panose="020B0604020202020204" pitchFamily="34" charset="0"/>
              </a:rPr>
              <a:t>(teaching)</a:t>
            </a:r>
          </a:p>
        </p:txBody>
      </p:sp>
      <p:sp>
        <p:nvSpPr>
          <p:cNvPr id="47" name="Rounded Rectangle 46">
            <a:extLst>
              <a:ext uri="{FF2B5EF4-FFF2-40B4-BE49-F238E27FC236}">
                <a16:creationId xmlns:a16="http://schemas.microsoft.com/office/drawing/2014/main" id="{B284C56C-6381-AC20-32E8-9810776E4B18}"/>
              </a:ext>
            </a:extLst>
          </p:cNvPr>
          <p:cNvSpPr/>
          <p:nvPr/>
        </p:nvSpPr>
        <p:spPr>
          <a:xfrm>
            <a:off x="5579423" y="1265910"/>
            <a:ext cx="2401695" cy="613292"/>
          </a:xfrm>
          <a:prstGeom prst="roundRect">
            <a:avLst/>
          </a:prstGeom>
          <a:solidFill>
            <a:srgbClr val="281A4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25" dirty="0">
                <a:solidFill>
                  <a:srgbClr val="FFFFFF"/>
                </a:solidFill>
                <a:latin typeface="Segoe UI" pitchFamily="34" charset="0"/>
                <a:cs typeface="Arial" panose="020B0604020202020204" pitchFamily="34" charset="0"/>
              </a:rPr>
              <a:t>Scenario 2</a:t>
            </a:r>
          </a:p>
          <a:p>
            <a:pPr algn="ctr"/>
            <a:r>
              <a:rPr lang="en-US" sz="1400" b="1" spc="-25" dirty="0">
                <a:solidFill>
                  <a:srgbClr val="FFFFFF"/>
                </a:solidFill>
                <a:latin typeface="Segoe UI" pitchFamily="34" charset="0"/>
                <a:cs typeface="Arial" panose="020B0604020202020204" pitchFamily="34" charset="0"/>
              </a:rPr>
              <a:t>(skill Building)</a:t>
            </a:r>
          </a:p>
        </p:txBody>
      </p:sp>
      <p:sp>
        <p:nvSpPr>
          <p:cNvPr id="48" name="Rounded Rectangle 47">
            <a:extLst>
              <a:ext uri="{FF2B5EF4-FFF2-40B4-BE49-F238E27FC236}">
                <a16:creationId xmlns:a16="http://schemas.microsoft.com/office/drawing/2014/main" id="{BAC30F55-B880-E107-C80D-67C9FEA78EF9}"/>
              </a:ext>
            </a:extLst>
          </p:cNvPr>
          <p:cNvSpPr/>
          <p:nvPr/>
        </p:nvSpPr>
        <p:spPr>
          <a:xfrm>
            <a:off x="8048591" y="1265910"/>
            <a:ext cx="2401695" cy="613292"/>
          </a:xfrm>
          <a:prstGeom prst="roundRect">
            <a:avLst/>
          </a:prstGeom>
          <a:solidFill>
            <a:srgbClr val="281A4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25" dirty="0">
                <a:solidFill>
                  <a:srgbClr val="FFFFFF"/>
                </a:solidFill>
                <a:latin typeface="Segoe UI" pitchFamily="34" charset="0"/>
                <a:cs typeface="Arial" panose="020B0604020202020204" pitchFamily="34" charset="0"/>
              </a:rPr>
              <a:t>Scenario 3</a:t>
            </a:r>
          </a:p>
          <a:p>
            <a:pPr algn="ctr"/>
            <a:r>
              <a:rPr lang="en-US" sz="1400" b="1" spc="-25" dirty="0">
                <a:solidFill>
                  <a:srgbClr val="FFFFFF"/>
                </a:solidFill>
                <a:latin typeface="Segoe UI" pitchFamily="34" charset="0"/>
                <a:cs typeface="Arial" panose="020B0604020202020204" pitchFamily="34" charset="0"/>
              </a:rPr>
              <a:t>(product Driven)</a:t>
            </a:r>
          </a:p>
        </p:txBody>
      </p:sp>
      <p:sp>
        <p:nvSpPr>
          <p:cNvPr id="50" name="Oval 49">
            <a:extLst>
              <a:ext uri="{FF2B5EF4-FFF2-40B4-BE49-F238E27FC236}">
                <a16:creationId xmlns:a16="http://schemas.microsoft.com/office/drawing/2014/main" id="{3E991088-7A75-AE31-9E5D-8AA58F880D31}"/>
              </a:ext>
            </a:extLst>
          </p:cNvPr>
          <p:cNvSpPr/>
          <p:nvPr/>
        </p:nvSpPr>
        <p:spPr>
          <a:xfrm>
            <a:off x="1032511" y="5110849"/>
            <a:ext cx="1401936" cy="1137536"/>
          </a:xfrm>
          <a:prstGeom prst="ellipse">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281A42"/>
                </a:solidFill>
                <a:latin typeface="Segoe UI" pitchFamily="34" charset="0"/>
                <a:cs typeface="Arial" panose="020B0604020202020204" pitchFamily="34" charset="0"/>
              </a:rPr>
              <a:t>Business (Change) Leaders </a:t>
            </a:r>
          </a:p>
        </p:txBody>
      </p:sp>
      <p:sp>
        <p:nvSpPr>
          <p:cNvPr id="51" name="Rectangle: Rounded Corners 1">
            <a:extLst>
              <a:ext uri="{FF2B5EF4-FFF2-40B4-BE49-F238E27FC236}">
                <a16:creationId xmlns:a16="http://schemas.microsoft.com/office/drawing/2014/main" id="{9EA483AA-EADE-2741-0A72-4C6253D5BFA9}"/>
              </a:ext>
            </a:extLst>
          </p:cNvPr>
          <p:cNvSpPr/>
          <p:nvPr/>
        </p:nvSpPr>
        <p:spPr>
          <a:xfrm>
            <a:off x="5579423" y="2685721"/>
            <a:ext cx="2401695" cy="1147009"/>
          </a:xfrm>
          <a:prstGeom prst="roundRect">
            <a:avLst/>
          </a:prstGeom>
          <a:noFill/>
          <a:ln w="28575">
            <a:solidFill>
              <a:srgbClr val="281A4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4-6 months</a:t>
            </a:r>
          </a:p>
          <a:p>
            <a:pPr algn="ctr"/>
            <a:r>
              <a:rPr lang="en-US" sz="1200" spc="-10" dirty="0">
                <a:solidFill>
                  <a:srgbClr val="1D1D1D"/>
                </a:solidFill>
                <a:latin typeface="Arial" pitchFamily="34" charset="0"/>
                <a:cs typeface="Arial" panose="020B0604020202020204" pitchFamily="34" charset="0"/>
              </a:rPr>
              <a:t>Hands-on Action learning through shadowing FulcrumQ in defining value hotspots / op model pivots / critical roles </a:t>
            </a:r>
          </a:p>
        </p:txBody>
      </p:sp>
      <p:sp>
        <p:nvSpPr>
          <p:cNvPr id="60" name="Rectangle: Rounded Corners 1">
            <a:extLst>
              <a:ext uri="{FF2B5EF4-FFF2-40B4-BE49-F238E27FC236}">
                <a16:creationId xmlns:a16="http://schemas.microsoft.com/office/drawing/2014/main" id="{79FD5C1B-5948-F487-F4D6-AA40F3BF688D}"/>
              </a:ext>
            </a:extLst>
          </p:cNvPr>
          <p:cNvSpPr/>
          <p:nvPr/>
        </p:nvSpPr>
        <p:spPr>
          <a:xfrm>
            <a:off x="3126129" y="5040056"/>
            <a:ext cx="2401695" cy="1414212"/>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4 hours</a:t>
            </a:r>
          </a:p>
          <a:p>
            <a:pPr marL="171450" indent="-171450" algn="ctr">
              <a:buFont typeface="Arial" panose="020B0604020202020204" pitchFamily="34" charset="0"/>
              <a:buChar char="•"/>
            </a:pPr>
            <a:r>
              <a:rPr lang="en-US" sz="1200" spc="-10" dirty="0">
                <a:solidFill>
                  <a:srgbClr val="1D1D1D"/>
                </a:solidFill>
                <a:latin typeface="Arial" pitchFamily="34" charset="0"/>
                <a:cs typeface="Arial" panose="020B0604020202020204" pitchFamily="34" charset="0"/>
              </a:rPr>
              <a:t>Value Hotspots</a:t>
            </a:r>
          </a:p>
          <a:p>
            <a:pPr marL="171450" indent="-171450" algn="ctr">
              <a:buFont typeface="Arial" panose="020B0604020202020204" pitchFamily="34" charset="0"/>
              <a:buChar char="•"/>
            </a:pPr>
            <a:r>
              <a:rPr lang="en-US" sz="1200" spc="-10" dirty="0">
                <a:solidFill>
                  <a:srgbClr val="1D1D1D"/>
                </a:solidFill>
                <a:latin typeface="Arial" pitchFamily="34" charset="0"/>
                <a:cs typeface="Arial" panose="020B0604020202020204" pitchFamily="34" charset="0"/>
              </a:rPr>
              <a:t>Op Model shifts  </a:t>
            </a:r>
          </a:p>
        </p:txBody>
      </p:sp>
      <p:sp>
        <p:nvSpPr>
          <p:cNvPr id="63" name="Rectangle: Rounded Corners 1">
            <a:extLst>
              <a:ext uri="{FF2B5EF4-FFF2-40B4-BE49-F238E27FC236}">
                <a16:creationId xmlns:a16="http://schemas.microsoft.com/office/drawing/2014/main" id="{D093956B-7DE1-DAF7-B0AD-848C591A0656}"/>
              </a:ext>
            </a:extLst>
          </p:cNvPr>
          <p:cNvSpPr/>
          <p:nvPr/>
        </p:nvSpPr>
        <p:spPr>
          <a:xfrm>
            <a:off x="8048591" y="1952365"/>
            <a:ext cx="2401695" cy="1891628"/>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6-8 weeks</a:t>
            </a:r>
          </a:p>
          <a:p>
            <a:pPr marL="171450" indent="-171450" algn="ctr">
              <a:buFont typeface="Arial" panose="020B0604020202020204" pitchFamily="34" charset="0"/>
              <a:buChar char="•"/>
            </a:pPr>
            <a:r>
              <a:rPr lang="en-US" sz="1200" spc="-10" dirty="0">
                <a:solidFill>
                  <a:srgbClr val="1D1D1D"/>
                </a:solidFill>
                <a:latin typeface="Arial" pitchFamily="34" charset="0"/>
                <a:cs typeface="Arial" panose="020B0604020202020204" pitchFamily="34" charset="0"/>
              </a:rPr>
              <a:t>Develop HR Strategies aligned to business plans</a:t>
            </a:r>
          </a:p>
          <a:p>
            <a:pPr marL="171450" indent="-171450" algn="ctr">
              <a:buFont typeface="Arial" panose="020B0604020202020204" pitchFamily="34" charset="0"/>
              <a:buChar char="•"/>
            </a:pPr>
            <a:r>
              <a:rPr lang="en-US" sz="1200" spc="-10" dirty="0">
                <a:solidFill>
                  <a:srgbClr val="1D1D1D"/>
                </a:solidFill>
                <a:latin typeface="Arial" pitchFamily="34" charset="0"/>
                <a:cs typeface="Arial" panose="020B0604020202020204" pitchFamily="34" charset="0"/>
              </a:rPr>
              <a:t>15-20 Critical roles / Talent Capital Balance sheet</a:t>
            </a:r>
          </a:p>
        </p:txBody>
      </p:sp>
      <p:sp>
        <p:nvSpPr>
          <p:cNvPr id="64" name="Oval 63">
            <a:extLst>
              <a:ext uri="{FF2B5EF4-FFF2-40B4-BE49-F238E27FC236}">
                <a16:creationId xmlns:a16="http://schemas.microsoft.com/office/drawing/2014/main" id="{CC7CF679-A4CF-4144-8D31-774DB7DDC69D}"/>
              </a:ext>
            </a:extLst>
          </p:cNvPr>
          <p:cNvSpPr/>
          <p:nvPr/>
        </p:nvSpPr>
        <p:spPr>
          <a:xfrm>
            <a:off x="1032511" y="3845021"/>
            <a:ext cx="1401936" cy="1137536"/>
          </a:xfrm>
          <a:prstGeom prst="ellipse">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281A42"/>
                </a:solidFill>
                <a:latin typeface="Segoe UI" pitchFamily="34" charset="0"/>
                <a:cs typeface="Arial" panose="020B0604020202020204" pitchFamily="34" charset="0"/>
              </a:rPr>
              <a:t>ASML HRBPs</a:t>
            </a:r>
          </a:p>
        </p:txBody>
      </p:sp>
      <p:sp>
        <p:nvSpPr>
          <p:cNvPr id="2" name="Rectangle: Rounded Corners 1">
            <a:extLst>
              <a:ext uri="{FF2B5EF4-FFF2-40B4-BE49-F238E27FC236}">
                <a16:creationId xmlns:a16="http://schemas.microsoft.com/office/drawing/2014/main" id="{0EE9D36E-F9CF-DF3A-5535-E0D04583365B}"/>
              </a:ext>
            </a:extLst>
          </p:cNvPr>
          <p:cNvSpPr/>
          <p:nvPr/>
        </p:nvSpPr>
        <p:spPr>
          <a:xfrm>
            <a:off x="5621679" y="5055296"/>
            <a:ext cx="2401695" cy="1414212"/>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1 day </a:t>
            </a:r>
          </a:p>
          <a:p>
            <a:pPr marL="171450" indent="-171450" algn="ctr">
              <a:buFont typeface="Arial" panose="020B0604020202020204" pitchFamily="34" charset="0"/>
              <a:buChar char="•"/>
            </a:pPr>
            <a:r>
              <a:rPr lang="en-US" sz="1200" spc="-10" dirty="0">
                <a:solidFill>
                  <a:srgbClr val="1D1D1D"/>
                </a:solidFill>
                <a:latin typeface="Arial" pitchFamily="34" charset="0"/>
                <a:cs typeface="Arial" panose="020B0604020202020204" pitchFamily="34" charset="0"/>
              </a:rPr>
              <a:t>Org Design for Growth </a:t>
            </a:r>
          </a:p>
          <a:p>
            <a:pPr marL="171450" indent="-171450" algn="ctr">
              <a:buFont typeface="Arial" panose="020B0604020202020204" pitchFamily="34" charset="0"/>
              <a:buChar char="•"/>
            </a:pPr>
            <a:r>
              <a:rPr lang="en-US" sz="1200" spc="-10" dirty="0">
                <a:solidFill>
                  <a:srgbClr val="1D1D1D"/>
                </a:solidFill>
                <a:latin typeface="Arial" pitchFamily="34" charset="0"/>
                <a:cs typeface="Arial" panose="020B0604020202020204" pitchFamily="34" charset="0"/>
              </a:rPr>
              <a:t>Leading through Change </a:t>
            </a:r>
          </a:p>
        </p:txBody>
      </p:sp>
      <p:sp>
        <p:nvSpPr>
          <p:cNvPr id="5" name="Rectangle: Rounded Corners 4">
            <a:extLst>
              <a:ext uri="{FF2B5EF4-FFF2-40B4-BE49-F238E27FC236}">
                <a16:creationId xmlns:a16="http://schemas.microsoft.com/office/drawing/2014/main" id="{F9A0D6DC-AF8D-CE05-02CA-133E88DEBCCA}"/>
              </a:ext>
            </a:extLst>
          </p:cNvPr>
          <p:cNvSpPr/>
          <p:nvPr/>
        </p:nvSpPr>
        <p:spPr>
          <a:xfrm>
            <a:off x="8105799" y="5059106"/>
            <a:ext cx="2401695" cy="1414212"/>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3 - 4 weeks</a:t>
            </a:r>
          </a:p>
          <a:p>
            <a:pPr marL="171450" indent="-171450" algn="ctr">
              <a:buFont typeface="Arial" panose="020B0604020202020204" pitchFamily="34" charset="0"/>
              <a:buChar char="•"/>
            </a:pPr>
            <a:r>
              <a:rPr lang="en-GB" sz="1200" spc="-10" dirty="0">
                <a:solidFill>
                  <a:srgbClr val="1D1D1D"/>
                </a:solidFill>
                <a:latin typeface="Arial" pitchFamily="34" charset="0"/>
                <a:cs typeface="Arial" panose="020B0604020202020204" pitchFamily="34" charset="0"/>
              </a:rPr>
              <a:t>CXO Enablement </a:t>
            </a:r>
          </a:p>
          <a:p>
            <a:pPr marL="171450" indent="-171450" algn="ctr">
              <a:buFont typeface="Arial" panose="020B0604020202020204" pitchFamily="34" charset="0"/>
              <a:buChar char="•"/>
            </a:pPr>
            <a:r>
              <a:rPr lang="en-GB" sz="1200" spc="-10" dirty="0">
                <a:solidFill>
                  <a:srgbClr val="1D1D1D"/>
                </a:solidFill>
                <a:latin typeface="Arial" pitchFamily="34" charset="0"/>
                <a:cs typeface="Arial" panose="020B0604020202020204" pitchFamily="34" charset="0"/>
              </a:rPr>
              <a:t>Rapid Talent to Value @ </a:t>
            </a:r>
          </a:p>
          <a:p>
            <a:pPr algn="ctr"/>
            <a:r>
              <a:rPr lang="en-GB" sz="1200" spc="-10" dirty="0">
                <a:solidFill>
                  <a:srgbClr val="1D1D1D"/>
                </a:solidFill>
                <a:latin typeface="Arial" pitchFamily="34" charset="0"/>
                <a:cs typeface="Arial" panose="020B0604020202020204" pitchFamily="34" charset="0"/>
              </a:rPr>
              <a:t>BUs / Markets / Funcs</a:t>
            </a:r>
          </a:p>
        </p:txBody>
      </p:sp>
      <p:sp>
        <p:nvSpPr>
          <p:cNvPr id="6" name="Rectangle: Rounded Corners 5">
            <a:extLst>
              <a:ext uri="{FF2B5EF4-FFF2-40B4-BE49-F238E27FC236}">
                <a16:creationId xmlns:a16="http://schemas.microsoft.com/office/drawing/2014/main" id="{E7B4176F-7508-A803-883A-B24265C52578}"/>
              </a:ext>
            </a:extLst>
          </p:cNvPr>
          <p:cNvSpPr/>
          <p:nvPr/>
        </p:nvSpPr>
        <p:spPr>
          <a:xfrm>
            <a:off x="5610249" y="3934795"/>
            <a:ext cx="2401695" cy="1044004"/>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2-4 weeks </a:t>
            </a:r>
          </a:p>
          <a:p>
            <a:pPr marL="171450" indent="-171450" algn="ctr">
              <a:buFont typeface="Arial" panose="020B0604020202020204" pitchFamily="34" charset="0"/>
              <a:buChar char="•"/>
            </a:pPr>
            <a:r>
              <a:rPr lang="en-GB" sz="1200" spc="-10" dirty="0">
                <a:solidFill>
                  <a:srgbClr val="1D1D1D"/>
                </a:solidFill>
                <a:latin typeface="Arial" pitchFamily="34" charset="0"/>
                <a:cs typeface="Arial" panose="020B0604020202020204" pitchFamily="34" charset="0"/>
              </a:rPr>
              <a:t>Succession Planning for Critical roles </a:t>
            </a:r>
          </a:p>
        </p:txBody>
      </p:sp>
      <p:sp>
        <p:nvSpPr>
          <p:cNvPr id="7" name="Rectangle: Rounded Corners 1">
            <a:extLst>
              <a:ext uri="{FF2B5EF4-FFF2-40B4-BE49-F238E27FC236}">
                <a16:creationId xmlns:a16="http://schemas.microsoft.com/office/drawing/2014/main" id="{0A523645-4F65-411F-9173-7B8D1F6384EA}"/>
              </a:ext>
            </a:extLst>
          </p:cNvPr>
          <p:cNvSpPr/>
          <p:nvPr/>
        </p:nvSpPr>
        <p:spPr>
          <a:xfrm>
            <a:off x="3129350" y="3920490"/>
            <a:ext cx="2401695" cy="1044004"/>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+ 1-2 days </a:t>
            </a:r>
          </a:p>
          <a:p>
            <a:pPr algn="ctr"/>
            <a:r>
              <a:rPr lang="en-US" sz="1200" spc="-10" dirty="0">
                <a:solidFill>
                  <a:srgbClr val="1D1D1D"/>
                </a:solidFill>
                <a:latin typeface="Arial" pitchFamily="34" charset="0"/>
                <a:cs typeface="Arial" panose="020B0604020202020204" pitchFamily="34" charset="0"/>
              </a:rPr>
              <a:t>Workshop / Enabling Change</a:t>
            </a:r>
          </a:p>
        </p:txBody>
      </p:sp>
      <p:sp>
        <p:nvSpPr>
          <p:cNvPr id="8" name="Rectangle: Rounded Corners 7">
            <a:extLst>
              <a:ext uri="{FF2B5EF4-FFF2-40B4-BE49-F238E27FC236}">
                <a16:creationId xmlns:a16="http://schemas.microsoft.com/office/drawing/2014/main" id="{83EFEF8C-BF98-56BC-24E1-12E7B1789F83}"/>
              </a:ext>
            </a:extLst>
          </p:cNvPr>
          <p:cNvSpPr/>
          <p:nvPr/>
        </p:nvSpPr>
        <p:spPr>
          <a:xfrm>
            <a:off x="8105799" y="3920489"/>
            <a:ext cx="2401695" cy="1050689"/>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200" b="1" spc="-10" dirty="0">
                <a:solidFill>
                  <a:srgbClr val="1D1D1D"/>
                </a:solidFill>
                <a:latin typeface="Segoe UI" pitchFamily="34" charset="0"/>
                <a:cs typeface="Arial" panose="020B0604020202020204" pitchFamily="34" charset="0"/>
              </a:rPr>
              <a:t>2-6 months</a:t>
            </a:r>
          </a:p>
          <a:p>
            <a:pPr marL="171450" indent="-171450" algn="ctr">
              <a:buFont typeface="Arial" panose="020B0604020202020204" pitchFamily="34" charset="0"/>
              <a:buChar char="•"/>
            </a:pPr>
            <a:r>
              <a:rPr lang="en-GB" sz="1200" spc="-10" dirty="0">
                <a:solidFill>
                  <a:srgbClr val="1D1D1D"/>
                </a:solidFill>
                <a:latin typeface="Arial" pitchFamily="34" charset="0"/>
                <a:cs typeface="Arial" panose="020B0604020202020204" pitchFamily="34" charset="0"/>
              </a:rPr>
              <a:t>Capability as a Service </a:t>
            </a:r>
          </a:p>
        </p:txBody>
      </p:sp>
      <p:sp>
        <p:nvSpPr>
          <p:cNvPr id="9" name="Rectangle: Rounded Corners 1">
            <a:extLst>
              <a:ext uri="{FF2B5EF4-FFF2-40B4-BE49-F238E27FC236}">
                <a16:creationId xmlns:a16="http://schemas.microsoft.com/office/drawing/2014/main" id="{FE366D37-1E36-5AE4-64A9-3D8FEC983A83}"/>
              </a:ext>
            </a:extLst>
          </p:cNvPr>
          <p:cNvSpPr/>
          <p:nvPr/>
        </p:nvSpPr>
        <p:spPr>
          <a:xfrm>
            <a:off x="3086994" y="1991085"/>
            <a:ext cx="4881659" cy="582752"/>
          </a:xfrm>
          <a:prstGeom prst="roundRect">
            <a:avLst/>
          </a:prstGeom>
          <a:noFill/>
          <a:ln w="28575">
            <a:solidFill>
              <a:srgbClr val="281A42"/>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200" b="1" spc="-10" dirty="0">
                <a:solidFill>
                  <a:srgbClr val="1D1D1D"/>
                </a:solidFill>
                <a:latin typeface="Segoe UI" pitchFamily="34" charset="0"/>
                <a:cs typeface="Arial" panose="020B0604020202020204" pitchFamily="34" charset="0"/>
              </a:rPr>
              <a:t>Tailored Talent2Value Academy – Talent/OD/Change </a:t>
            </a:r>
          </a:p>
        </p:txBody>
      </p:sp>
      <p:sp>
        <p:nvSpPr>
          <p:cNvPr id="10" name="Rounded Rectangle 9">
            <a:extLst>
              <a:ext uri="{FF2B5EF4-FFF2-40B4-BE49-F238E27FC236}">
                <a16:creationId xmlns:a16="http://schemas.microsoft.com/office/drawing/2014/main" id="{42239EA6-B417-0671-E6C0-775AF9A97387}"/>
              </a:ext>
            </a:extLst>
          </p:cNvPr>
          <p:cNvSpPr/>
          <p:nvPr/>
        </p:nvSpPr>
        <p:spPr>
          <a:xfrm>
            <a:off x="3086994" y="1967444"/>
            <a:ext cx="4894124" cy="1876549"/>
          </a:xfrm>
          <a:prstGeom prst="roundRect">
            <a:avLst/>
          </a:prstGeom>
          <a:noFill/>
          <a:ln>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p>
        </p:txBody>
      </p:sp>
      <p:sp>
        <p:nvSpPr>
          <p:cNvPr id="11" name="TextBox 10">
            <a:extLst>
              <a:ext uri="{FF2B5EF4-FFF2-40B4-BE49-F238E27FC236}">
                <a16:creationId xmlns:a16="http://schemas.microsoft.com/office/drawing/2014/main" id="{7210FE6F-3FF5-0043-5609-A6A3073173A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6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2DFFE30A-56A6-48F4-890A-D8DCB7C26D5F}" type="slidenum">
              <a:t>21</a:t>
            </a:fld>
            <a:endParaRPr lang="en-US"/>
          </a:p>
        </p:txBody>
      </p:sp>
    </p:spTree>
    <p:extLst>
      <p:ext uri="{BB962C8B-B14F-4D97-AF65-F5344CB8AC3E}">
        <p14:creationId xmlns:p14="http://schemas.microsoft.com/office/powerpoint/2010/main" val="1250061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BC47-0D18-FD6C-E240-0AE84C05837E}"/>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C52D4BBD-6CB6-2ED2-CC7C-87D9C143FC8C}"/>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4" name="Object 3" hidden="1">
                        <a:extLst>
                          <a:ext uri="{FF2B5EF4-FFF2-40B4-BE49-F238E27FC236}">
                            <a16:creationId xmlns:a16="http://schemas.microsoft.com/office/drawing/2014/main" id="{C52D4BBD-6CB6-2ED2-CC7C-87D9C143FC8C}"/>
                          </a:ext>
                        </a:extLst>
                      </p:cNvPr>
                      <p:cNvPicPr/>
                      <p:nvPr/>
                    </p:nvPicPr>
                    <p:blipFill>
                      <a:blip r:embed="rId5">
                        <a:duotone>
                          <a:srgbClr val="765FFF"/>
                          <a:srgbClr val="FFFFFF"/>
                        </a:duotone>
                      </a:blip>
                      <a:stretch>
                        <a:fillRect/>
                      </a:stretch>
                    </p:blipFill>
                    <p:spPr>
                      <a:xfrm>
                        <a:off x="1588" y="1588"/>
                        <a:ext cx="1227" cy="1588"/>
                      </a:xfrm>
                      <a:prstGeom prst="rect">
                        <a:avLst/>
                      </a:prstGeom>
                    </p:spPr>
                  </p:pic>
                </p:oleObj>
              </mc:Fallback>
            </mc:AlternateContent>
          </a:graphicData>
        </a:graphic>
      </p:graphicFrame>
      <p:sp>
        <p:nvSpPr>
          <p:cNvPr id="59" name="Title 4">
            <a:extLst>
              <a:ext uri="{FF2B5EF4-FFF2-40B4-BE49-F238E27FC236}">
                <a16:creationId xmlns:a16="http://schemas.microsoft.com/office/drawing/2014/main" id="{1CB37794-B492-6A17-6622-102411735E4D}"/>
              </a:ext>
            </a:extLst>
          </p:cNvPr>
          <p:cNvSpPr txBox="1">
            <a:spLocks noGrp="1"/>
          </p:cNvSpPr>
          <p:nvPr>
            <p:ph type="title"/>
          </p:nvPr>
        </p:nvSpPr>
        <p:spPr>
          <a:noFill/>
        </p:spPr>
        <p:txBody>
          <a:bodyPr/>
          <a:lstStyle/>
          <a:p>
            <a:r>
              <a:t>The TALENT2VALUE Academy</a:t>
            </a:r>
          </a:p>
        </p:txBody>
      </p:sp>
      <p:pic>
        <p:nvPicPr>
          <p:cNvPr id="13" name="Picture 12">
            <a:extLst>
              <a:ext uri="{FF2B5EF4-FFF2-40B4-BE49-F238E27FC236}">
                <a16:creationId xmlns:a16="http://schemas.microsoft.com/office/drawing/2014/main" id="{2D2CBAC5-EC5B-CDC6-F9DE-2434DD44D685}"/>
              </a:ext>
            </a:extLst>
          </p:cNvPr>
          <p:cNvPicPr>
            <a:picLocks noChangeAspect="1"/>
          </p:cNvPicPr>
          <p:nvPr/>
        </p:nvPicPr>
        <p:blipFill>
          <a:blip r:embed="rId6"/>
          <a:stretch>
            <a:fillRect/>
          </a:stretch>
        </p:blipFill>
        <p:spPr>
          <a:xfrm>
            <a:off x="0" y="1274526"/>
            <a:ext cx="12192000" cy="5045547"/>
          </a:xfrm>
          <a:prstGeom prst="rect">
            <a:avLst/>
          </a:prstGeom>
        </p:spPr>
      </p:pic>
      <p:sp>
        <p:nvSpPr>
          <p:cNvPr id="2" name="TextBox 1">
            <a:extLst>
              <a:ext uri="{FF2B5EF4-FFF2-40B4-BE49-F238E27FC236}">
                <a16:creationId xmlns:a16="http://schemas.microsoft.com/office/drawing/2014/main" id="{A7BA1B91-776B-DF9F-62ED-1C0EC9E7237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60" name="SubtitleSplit"/>
          <p:cNvSpPr>
            <a:spLocks noGrp="1"/>
          </p:cNvSpPr>
          <p:nvPr>
            <p:ph type="subTitle" idx="1"/>
          </p:nvPr>
        </p:nvSpPr>
        <p:spPr>
          <a:noFill/>
        </p:spPr>
        <p:txBody>
          <a:bodyPr/>
          <a:lstStyle/>
          <a:p>
            <a:r>
              <a:t>Illustrative public program invite</a:t>
            </a:r>
            <a:endParaRPr lang="en-US"/>
          </a:p>
        </p:txBody>
      </p:sp>
      <p:sp>
        <p:nvSpPr>
          <p:cNvPr id="61"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325CA65A-E9D1-4161-8650-968CFCC9F9E2}" type="slidenum">
              <a:t>22</a:t>
            </a:fld>
            <a:endParaRPr lang="en-US"/>
          </a:p>
        </p:txBody>
      </p:sp>
    </p:spTree>
    <p:extLst>
      <p:ext uri="{BB962C8B-B14F-4D97-AF65-F5344CB8AC3E}">
        <p14:creationId xmlns:p14="http://schemas.microsoft.com/office/powerpoint/2010/main" val="1577371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519F-DAE9-AD49-97FA-B1BC08DF6630}"/>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6C99BF11-EF3A-8446-1C71-1DFEFE550CFD}"/>
              </a:ext>
            </a:extLst>
          </p:cNvPr>
          <p:cNvSpPr txBox="1">
            <a:spLocks noGrp="1"/>
          </p:cNvSpPr>
          <p:nvPr>
            <p:ph type="title"/>
          </p:nvPr>
        </p:nvSpPr>
        <p:spPr>
          <a:noFill/>
        </p:spPr>
        <p:txBody>
          <a:bodyPr/>
          <a:lstStyle/>
          <a:p>
            <a:pPr>
              <a:buNone/>
            </a:pPr>
            <a:r>
              <a:rPr lang="en-US" dirty="0"/>
              <a:t>Rapid TALENT2VALUE @ Bu / Market / Func</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67991E30-47A8-49A3-A039-AD3098CD445B}" type="slidenum">
              <a:t>23</a:t>
            </a:fld>
            <a:endParaRPr lang="en-US"/>
          </a:p>
        </p:txBody>
      </p:sp>
    </p:spTree>
    <p:extLst>
      <p:ext uri="{BB962C8B-B14F-4D97-AF65-F5344CB8AC3E}">
        <p14:creationId xmlns:p14="http://schemas.microsoft.com/office/powerpoint/2010/main" val="2245883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D4A85-8210-A758-A5DD-C2AE17F694E6}"/>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44D1F240-5E6A-974A-EB32-0990C43F00B6}"/>
              </a:ext>
            </a:extLst>
          </p:cNvPr>
          <p:cNvCxnSpPr>
            <a:stCxn id="1028" idx="1"/>
            <a:endCxn id="1028" idx="3"/>
          </p:cNvCxnSpPr>
          <p:nvPr/>
        </p:nvCxnSpPr>
        <p:spPr>
          <a:xfrm>
            <a:off x="3047778" y="2128283"/>
            <a:ext cx="554355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8C0CF45E-16E4-33B7-1C9C-5977DA3D5CBC}"/>
              </a:ext>
            </a:extLst>
          </p:cNvPr>
          <p:cNvSpPr>
            <a:spLocks noGrp="1"/>
          </p:cNvSpPr>
          <p:nvPr>
            <p:ph type="title" sz="quarter"/>
          </p:nvPr>
        </p:nvSpPr>
        <p:spPr/>
        <p:txBody>
          <a:bodyPr/>
          <a:lstStyle/>
          <a:p>
            <a:r>
              <a:rPr lang="en-US" dirty="0">
                <a:solidFill>
                  <a:srgbClr val="281A42"/>
                </a:solidFill>
                <a:latin typeface="+mn-lt"/>
              </a:rPr>
              <a:t>Rapid TALENT2VALUE</a:t>
            </a:r>
          </a:p>
        </p:txBody>
      </p:sp>
      <p:pic>
        <p:nvPicPr>
          <p:cNvPr id="1028" name="Picture 4">
            <a:extLst>
              <a:ext uri="{FF2B5EF4-FFF2-40B4-BE49-F238E27FC236}">
                <a16:creationId xmlns:a16="http://schemas.microsoft.com/office/drawing/2014/main" id="{670BB6EB-07D9-CD58-4D02-A5F9B2F6B993}"/>
              </a:ext>
            </a:extLst>
          </p:cNvPr>
          <p:cNvPicPr>
            <a:picLocks noChangeAspect="1" noChangeArrowheads="1"/>
          </p:cNvPicPr>
          <p:nvPr/>
        </p:nvPicPr>
        <p:blipFill>
          <a:blip r:embed="rId3">
            <a:duotone>
              <a:srgbClr val="765FFF"/>
              <a:srgbClr val="FFFFFF"/>
            </a:duotone>
          </a:blip>
          <a:srcRect/>
          <a:stretch>
            <a:fillRect/>
          </a:stretch>
        </p:blipFill>
        <p:spPr bwMode="auto">
          <a:xfrm>
            <a:off x="3047778" y="1361520"/>
            <a:ext cx="5543550" cy="1533525"/>
          </a:xfrm>
          <a:prstGeom prst="rect">
            <a:avLst/>
          </a:prstGeom>
          <a:noFill/>
          <a:extLst>
            <a:ext uri="{909E8E84-426E-40DD-AFC4-6F175D3DCCD1}">
              <a14:hiddenFill xmlns:a14="http://schemas.microsoft.com/office/drawing/2010/main">
                <a:solidFill>
                  <a:srgbClr val="FFFFFF"/>
                </a:solidFill>
              </a14:hiddenFill>
            </a:ext>
          </a:extLst>
        </p:spPr>
      </p:pic>
      <p:sp>
        <p:nvSpPr>
          <p:cNvPr id="13" name="object 12">
            <a:extLst>
              <a:ext uri="{FF2B5EF4-FFF2-40B4-BE49-F238E27FC236}">
                <a16:creationId xmlns:a16="http://schemas.microsoft.com/office/drawing/2014/main" id="{A66DEE96-A675-1E05-6935-DD1C652F0060}"/>
              </a:ext>
            </a:extLst>
          </p:cNvPr>
          <p:cNvSpPr>
            <a:spLocks noGrp="1"/>
          </p:cNvSpPr>
          <p:nvPr>
            <p:ph idx="1"/>
          </p:nvPr>
        </p:nvSpPr>
        <p:spPr>
          <a:xfrm>
            <a:off x="1274134" y="4163924"/>
            <a:ext cx="2650166" cy="2385275"/>
          </a:xfrm>
          <a:prstGeom prst="rect">
            <a:avLst/>
          </a:prstGeom>
        </p:spPr>
        <p:txBody>
          <a:bodyPr vert="horz" wrap="square" lIns="0" tIns="12700" rIns="0" bIns="0" rtlCol="0" anchor="t">
            <a:noAutofit/>
          </a:bodyPr>
          <a:lstStyle/>
          <a:p>
            <a:pPr marL="12700" marR="0" lvl="0" algn="l" defTabSz="914400" rtl="0" eaLnBrk="1" fontAlgn="auto" latinLnBrk="0" hangingPunct="1">
              <a:lnSpc>
                <a:spcPct val="100000"/>
              </a:lnSpc>
              <a:spcBef>
                <a:spcPts val="100"/>
              </a:spcBef>
              <a:spcAft>
                <a:spcPts val="0"/>
              </a:spcAft>
              <a:buClrTx/>
              <a:buSzTx/>
              <a:tabLst/>
              <a:defRPr/>
            </a:pPr>
            <a:r>
              <a:rPr kumimoji="0" lang="en-US" sz="1400" b="0" i="0" u="none" strike="noStrike" kern="0" cap="none" spc="0" normalizeH="0" baseline="0" noProof="0" dirty="0">
                <a:ln>
                  <a:noFill/>
                </a:ln>
                <a:solidFill>
                  <a:srgbClr val="1D1D1D"/>
                </a:solidFill>
                <a:effectLst/>
                <a:uLnTx/>
                <a:uFillTx/>
                <a:latin typeface="+mj-lt"/>
                <a:ea typeface="+mn-ea"/>
                <a:cs typeface="Calibri"/>
              </a:rPr>
              <a:t>Document Review (Strategy, Business Plan, results) + 2-3 </a:t>
            </a:r>
            <a:r>
              <a:rPr lang="en-US" sz="1400" kern="0" dirty="0">
                <a:solidFill>
                  <a:srgbClr val="1D1D1D"/>
                </a:solidFill>
                <a:latin typeface="+mj-lt"/>
                <a:cs typeface="Calibri"/>
              </a:rPr>
              <a:t>Intake interviews (CEO, CFO, CHRO, Strategy) on </a:t>
            </a:r>
          </a:p>
          <a:p>
            <a:pPr marL="298450" marR="0" lvl="0" indent="-285750" algn="l" defTabSz="914400" rtl="0" eaLnBrk="1" fontAlgn="auto" latinLnBrk="0" hangingPunct="1">
              <a:lnSpc>
                <a:spcPct val="100000"/>
              </a:lnSpc>
              <a:spcBef>
                <a:spcPts val="100"/>
              </a:spcBef>
              <a:spcAft>
                <a:spcPts val="0"/>
              </a:spcAft>
              <a:buBlip>
                <a:blip r:embed="rId4"/>
              </a:buBlip>
              <a:tabLst/>
              <a:defRPr/>
            </a:pPr>
            <a:r>
              <a:rPr lang="en-US" sz="1400" kern="0" dirty="0">
                <a:latin typeface="+mj-lt"/>
                <a:cs typeface="Calibri"/>
              </a:rPr>
              <a:t>Where is the Money</a:t>
            </a:r>
          </a:p>
          <a:p>
            <a:pPr marL="298450" marR="0" lvl="0" indent="-285750" algn="l" defTabSz="914400" rtl="0" eaLnBrk="1" fontAlgn="auto" latinLnBrk="0" hangingPunct="1">
              <a:lnSpc>
                <a:spcPct val="100000"/>
              </a:lnSpc>
              <a:spcBef>
                <a:spcPts val="100"/>
              </a:spcBef>
              <a:spcAft>
                <a:spcPts val="0"/>
              </a:spcAft>
              <a:buBlip>
                <a:blip r:embed="rId4"/>
              </a:buBlip>
              <a:tabLst/>
              <a:defRPr/>
            </a:pPr>
            <a:r>
              <a:rPr kumimoji="0" lang="en-US" sz="1400" b="0" i="0" u="none" strike="noStrike" kern="0" cap="none" spc="0" normalizeH="0" baseline="0" noProof="0" dirty="0">
                <a:ln>
                  <a:noFill/>
                </a:ln>
                <a:effectLst/>
                <a:uLnTx/>
                <a:uFillTx/>
                <a:latin typeface="+mj-lt"/>
                <a:ea typeface="+mn-ea"/>
                <a:cs typeface="Calibri"/>
              </a:rPr>
              <a:t>What are the Strategic </a:t>
            </a:r>
            <a:r>
              <a:rPr lang="en-US" sz="1400" kern="0" dirty="0">
                <a:latin typeface="+mj-lt"/>
                <a:cs typeface="Calibri"/>
              </a:rPr>
              <a:t>Pivots</a:t>
            </a:r>
            <a:r>
              <a:rPr kumimoji="0" lang="en-US" sz="1400" b="0" i="0" u="none" strike="noStrike" kern="0" cap="none" spc="0" normalizeH="0" baseline="0" noProof="0" dirty="0">
                <a:ln>
                  <a:noFill/>
                </a:ln>
                <a:effectLst/>
                <a:uLnTx/>
                <a:uFillTx/>
                <a:latin typeface="+mj-lt"/>
                <a:ea typeface="+mn-ea"/>
                <a:cs typeface="Calibri"/>
              </a:rPr>
              <a:t> </a:t>
            </a:r>
          </a:p>
          <a:p>
            <a:pPr marL="298450" marR="0" lvl="0" indent="-285750" algn="l" defTabSz="914400" rtl="0" eaLnBrk="1" fontAlgn="auto" latinLnBrk="0" hangingPunct="1">
              <a:lnSpc>
                <a:spcPct val="100000"/>
              </a:lnSpc>
              <a:spcBef>
                <a:spcPts val="100"/>
              </a:spcBef>
              <a:spcAft>
                <a:spcPts val="0"/>
              </a:spcAft>
              <a:buBlip>
                <a:blip r:embed="rId4"/>
              </a:buBlip>
              <a:tabLst/>
              <a:defRPr/>
            </a:pPr>
            <a:r>
              <a:rPr lang="en-US" sz="1400" kern="0" dirty="0">
                <a:latin typeface="+mj-lt"/>
                <a:cs typeface="Calibri"/>
              </a:rPr>
              <a:t>What are the 3-5 critical bets to drive value</a:t>
            </a:r>
            <a:r>
              <a:rPr kumimoji="0" lang="en-US" sz="1400" b="0" i="0" u="none" strike="noStrike" kern="0" cap="none" spc="0" normalizeH="0" baseline="0" noProof="0" dirty="0">
                <a:ln>
                  <a:noFill/>
                </a:ln>
                <a:effectLst/>
                <a:uLnTx/>
                <a:uFillTx/>
                <a:latin typeface="+mj-lt"/>
                <a:ea typeface="+mn-ea"/>
                <a:cs typeface="Calibri"/>
              </a:rPr>
              <a:t> (or risks to value)</a:t>
            </a:r>
          </a:p>
          <a:p>
            <a:pPr marL="298450" marR="0" lvl="0" indent="-285750" algn="l" defTabSz="914400" rtl="0" eaLnBrk="1" fontAlgn="auto" latinLnBrk="0" hangingPunct="1">
              <a:lnSpc>
                <a:spcPct val="100000"/>
              </a:lnSpc>
              <a:spcBef>
                <a:spcPts val="100"/>
              </a:spcBef>
              <a:spcAft>
                <a:spcPts val="0"/>
              </a:spcAft>
              <a:buBlip>
                <a:blip r:embed="rId4"/>
              </a:buBlip>
              <a:tabLst/>
              <a:defRPr/>
            </a:pPr>
            <a:r>
              <a:rPr lang="en-US" sz="1400" kern="0" dirty="0">
                <a:latin typeface="+mj-lt"/>
                <a:cs typeface="Calibri"/>
              </a:rPr>
              <a:t>Choices (if any) </a:t>
            </a:r>
            <a:r>
              <a:rPr lang="en-GB" sz="1400" kern="0" dirty="0">
                <a:latin typeface="+mj-lt"/>
                <a:cs typeface="Calibri"/>
              </a:rPr>
              <a:t>on operating model &amp; organization </a:t>
            </a:r>
            <a:endParaRPr kumimoji="0" sz="1400" b="0" i="0" u="none" strike="noStrike" kern="0" cap="none" spc="0" normalizeH="0" baseline="0" noProof="0" dirty="0">
              <a:ln>
                <a:noFill/>
              </a:ln>
              <a:effectLst/>
              <a:uLnTx/>
              <a:uFillTx/>
              <a:latin typeface="+mj-lt"/>
              <a:ea typeface="+mn-ea"/>
              <a:cs typeface="Calibri"/>
            </a:endParaRPr>
          </a:p>
        </p:txBody>
      </p:sp>
      <p:grpSp>
        <p:nvGrpSpPr>
          <p:cNvPr id="19" name="object 11">
            <a:extLst>
              <a:ext uri="{FF2B5EF4-FFF2-40B4-BE49-F238E27FC236}">
                <a16:creationId xmlns:a16="http://schemas.microsoft.com/office/drawing/2014/main" id="{0AF17BA0-DDE0-8E49-9411-3494877047DA}"/>
              </a:ext>
            </a:extLst>
          </p:cNvPr>
          <p:cNvGrpSpPr/>
          <p:nvPr/>
        </p:nvGrpSpPr>
        <p:grpSpPr>
          <a:xfrm>
            <a:off x="4101087" y="4604217"/>
            <a:ext cx="221066" cy="256053"/>
            <a:chOff x="2988310" y="3163570"/>
            <a:chExt cx="297815" cy="820419"/>
          </a:xfrm>
        </p:grpSpPr>
        <p:sp>
          <p:nvSpPr>
            <p:cNvPr id="20" name="object 12">
              <a:extLst>
                <a:ext uri="{FF2B5EF4-FFF2-40B4-BE49-F238E27FC236}">
                  <a16:creationId xmlns:a16="http://schemas.microsoft.com/office/drawing/2014/main" id="{E6166847-EF96-296B-341F-61645539DB3D}"/>
                </a:ext>
              </a:extLst>
            </p:cNvPr>
            <p:cNvSpPr/>
            <p:nvPr/>
          </p:nvSpPr>
          <p:spPr>
            <a:xfrm>
              <a:off x="2994660" y="3169920"/>
              <a:ext cx="285115" cy="807720"/>
            </a:xfrm>
            <a:custGeom>
              <a:avLst/>
              <a:gdLst/>
              <a:ahLst/>
              <a:cxnLst/>
              <a:rect l="l" t="t" r="r" b="b"/>
              <a:pathLst>
                <a:path w="285114" h="807720">
                  <a:moveTo>
                    <a:pt x="0" y="0"/>
                  </a:moveTo>
                  <a:lnTo>
                    <a:pt x="0" y="807720"/>
                  </a:lnTo>
                  <a:lnTo>
                    <a:pt x="284988" y="403860"/>
                  </a:lnTo>
                  <a:lnTo>
                    <a:pt x="0" y="0"/>
                  </a:lnTo>
                  <a:close/>
                </a:path>
              </a:pathLst>
            </a:custGeom>
            <a:solidFill>
              <a:srgbClr val="D0D7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21" name="object 13">
              <a:extLst>
                <a:ext uri="{FF2B5EF4-FFF2-40B4-BE49-F238E27FC236}">
                  <a16:creationId xmlns:a16="http://schemas.microsoft.com/office/drawing/2014/main" id="{AC1D305B-CD35-A458-75A9-DEDF3150F6B5}"/>
                </a:ext>
              </a:extLst>
            </p:cNvPr>
            <p:cNvSpPr/>
            <p:nvPr/>
          </p:nvSpPr>
          <p:spPr>
            <a:xfrm>
              <a:off x="2994660" y="3169920"/>
              <a:ext cx="285115" cy="807720"/>
            </a:xfrm>
            <a:custGeom>
              <a:avLst/>
              <a:gdLst/>
              <a:ahLst/>
              <a:cxnLst/>
              <a:rect l="l" t="t" r="r" b="b"/>
              <a:pathLst>
                <a:path w="285114" h="807720">
                  <a:moveTo>
                    <a:pt x="0" y="0"/>
                  </a:moveTo>
                  <a:lnTo>
                    <a:pt x="284988" y="403860"/>
                  </a:lnTo>
                  <a:lnTo>
                    <a:pt x="0" y="807720"/>
                  </a:lnTo>
                  <a:lnTo>
                    <a:pt x="0" y="0"/>
                  </a:lnTo>
                  <a:close/>
                </a:path>
              </a:pathLst>
            </a:custGeom>
            <a:ln w="12700">
              <a:solidFill>
                <a:srgbClr val="D0D7D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ysClr val="windowText" lastClr="000000"/>
                </a:solidFill>
                <a:effectLst/>
                <a:uLnTx/>
                <a:uFillTx/>
                <a:latin typeface="Arial" pitchFamily="34" charset="0"/>
                <a:ea typeface="+mn-ea"/>
                <a:cs typeface="Arial" panose="020B0604020202020204" pitchFamily="34" charset="0"/>
              </a:endParaRPr>
            </a:p>
          </p:txBody>
        </p:sp>
      </p:grpSp>
      <p:cxnSp>
        <p:nvCxnSpPr>
          <p:cNvPr id="34" name="Straight Connector 33">
            <a:extLst>
              <a:ext uri="{FF2B5EF4-FFF2-40B4-BE49-F238E27FC236}">
                <a16:creationId xmlns:a16="http://schemas.microsoft.com/office/drawing/2014/main" id="{30CDEDD2-7ABE-84BC-CBD7-80D8351D71ED}"/>
              </a:ext>
            </a:extLst>
          </p:cNvPr>
          <p:cNvCxnSpPr>
            <a:cxnSpLocks/>
          </p:cNvCxnSpPr>
          <p:nvPr/>
        </p:nvCxnSpPr>
        <p:spPr>
          <a:xfrm>
            <a:off x="1516301" y="3403264"/>
            <a:ext cx="8380248" cy="0"/>
          </a:xfrm>
          <a:prstGeom prst="line">
            <a:avLst/>
          </a:prstGeom>
          <a:ln w="9525">
            <a:solidFill>
              <a:srgbClr val="F2F2F2"/>
            </a:solidFill>
            <a:headEnd w="med" len="sm"/>
            <a:tailEnd type="none" w="med" len="sm"/>
          </a:ln>
        </p:spPr>
        <p:style>
          <a:lnRef idx="1">
            <a:schemeClr val="accent1"/>
          </a:lnRef>
          <a:fillRef idx="0">
            <a:schemeClr val="accent1"/>
          </a:fillRef>
          <a:effectRef idx="0">
            <a:schemeClr val="accent1"/>
          </a:effectRef>
          <a:fontRef idx="minor">
            <a:schemeClr val="tx1"/>
          </a:fontRef>
        </p:style>
      </p:cxnSp>
      <p:sp>
        <p:nvSpPr>
          <p:cNvPr id="35" name="Rectangle: Rounded Corners 34">
            <a:extLst>
              <a:ext uri="{FF2B5EF4-FFF2-40B4-BE49-F238E27FC236}">
                <a16:creationId xmlns:a16="http://schemas.microsoft.com/office/drawing/2014/main" id="{316BE188-1990-52C5-C8EC-BA0B53D8CC2D}"/>
              </a:ext>
            </a:extLst>
          </p:cNvPr>
          <p:cNvSpPr/>
          <p:nvPr/>
        </p:nvSpPr>
        <p:spPr>
          <a:xfrm>
            <a:off x="4433381" y="3258896"/>
            <a:ext cx="2546088" cy="312055"/>
          </a:xfrm>
          <a:prstGeom prst="round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Aft>
                <a:spcPts val="300"/>
              </a:spcAft>
            </a:pPr>
            <a:r>
              <a:rPr lang="en-US" sz="1400" dirty="0">
                <a:solidFill>
                  <a:srgbClr val="281A42"/>
                </a:solidFill>
              </a:rPr>
              <a:t>CONNECTING TALENT TO VALUE</a:t>
            </a:r>
          </a:p>
        </p:txBody>
      </p:sp>
      <p:sp>
        <p:nvSpPr>
          <p:cNvPr id="45" name="Rectangle: Rounded Corners 44">
            <a:extLst>
              <a:ext uri="{FF2B5EF4-FFF2-40B4-BE49-F238E27FC236}">
                <a16:creationId xmlns:a16="http://schemas.microsoft.com/office/drawing/2014/main" id="{78DE2636-0FDA-9D60-C0C5-092CDFF232CC}"/>
              </a:ext>
            </a:extLst>
          </p:cNvPr>
          <p:cNvSpPr/>
          <p:nvPr/>
        </p:nvSpPr>
        <p:spPr>
          <a:xfrm>
            <a:off x="1350335" y="3657601"/>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Diagnostics</a:t>
            </a:r>
            <a:endParaRPr lang="LID4096" sz="1600" dirty="0"/>
          </a:p>
        </p:txBody>
      </p:sp>
      <p:sp>
        <p:nvSpPr>
          <p:cNvPr id="68" name="Rectangle: Rounded Corners 67">
            <a:extLst>
              <a:ext uri="{FF2B5EF4-FFF2-40B4-BE49-F238E27FC236}">
                <a16:creationId xmlns:a16="http://schemas.microsoft.com/office/drawing/2014/main" id="{A4EC9F66-011B-4A04-B8D6-EB0E1C43CB85}"/>
              </a:ext>
            </a:extLst>
          </p:cNvPr>
          <p:cNvSpPr/>
          <p:nvPr/>
        </p:nvSpPr>
        <p:spPr>
          <a:xfrm>
            <a:off x="4648684" y="3681817"/>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Working Session(s)</a:t>
            </a:r>
            <a:endParaRPr lang="LID4096" sz="1600" dirty="0"/>
          </a:p>
        </p:txBody>
      </p:sp>
      <p:sp>
        <p:nvSpPr>
          <p:cNvPr id="71" name="Rectangle: Rounded Corners 70">
            <a:extLst>
              <a:ext uri="{FF2B5EF4-FFF2-40B4-BE49-F238E27FC236}">
                <a16:creationId xmlns:a16="http://schemas.microsoft.com/office/drawing/2014/main" id="{ABB1DD00-B4B5-DF76-B146-3CE6A72C043E}"/>
              </a:ext>
            </a:extLst>
          </p:cNvPr>
          <p:cNvSpPr/>
          <p:nvPr/>
        </p:nvSpPr>
        <p:spPr>
          <a:xfrm>
            <a:off x="8101304" y="3653632"/>
            <a:ext cx="2319911" cy="3120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t>Wrap-up</a:t>
            </a:r>
            <a:endParaRPr lang="LID4096" sz="1600" dirty="0"/>
          </a:p>
        </p:txBody>
      </p:sp>
      <p:sp>
        <p:nvSpPr>
          <p:cNvPr id="72" name="object 12">
            <a:extLst>
              <a:ext uri="{FF2B5EF4-FFF2-40B4-BE49-F238E27FC236}">
                <a16:creationId xmlns:a16="http://schemas.microsoft.com/office/drawing/2014/main" id="{CB8F4DC6-1FD3-3C91-B8F6-30C6917204D5}"/>
              </a:ext>
            </a:extLst>
          </p:cNvPr>
          <p:cNvSpPr txBox="1"/>
          <p:nvPr/>
        </p:nvSpPr>
        <p:spPr>
          <a:xfrm>
            <a:off x="4648684" y="4163925"/>
            <a:ext cx="2489833" cy="1588328"/>
          </a:xfrm>
          <a:prstGeom prst="rect">
            <a:avLst/>
          </a:prstGeom>
        </p:spPr>
        <p:txBody>
          <a:bodyPr vert="horz" wrap="square" lIns="0" tIns="12700" rIns="0" bIns="0" rtlCol="0" anchor="t">
            <a:noAutofit/>
          </a:bodyPr>
          <a:lstStyle/>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1D1D1D"/>
                </a:solidFill>
                <a:effectLst/>
                <a:uLnTx/>
                <a:uFillTx/>
                <a:latin typeface="+mj-lt"/>
                <a:ea typeface="+mn-ea"/>
                <a:cs typeface="Calibri"/>
              </a:rPr>
              <a:t>Working Session 1 to align on pivots, value hotspots, work headlines, critical roles across the hierarchy</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400" b="0" i="0" u="none" strike="noStrike" kern="0" cap="none" spc="0" normalizeH="0" baseline="0" noProof="0" dirty="0">
                <a:ln>
                  <a:noFill/>
                </a:ln>
                <a:solidFill>
                  <a:srgbClr val="1D1D1D"/>
                </a:solidFill>
                <a:effectLst/>
                <a:uLnTx/>
                <a:uFillTx/>
                <a:latin typeface="+mj-lt"/>
                <a:ea typeface="+mn-ea"/>
                <a:cs typeface="Calibri"/>
              </a:rPr>
              <a:t>Working Session 2 to identify risks, patterns, interventions for critical roles (Talent Capital Balance Sheet)</a:t>
            </a:r>
            <a:endParaRPr kumimoji="0" sz="1400" b="0" i="0" u="none" strike="noStrike" kern="0" cap="none" spc="0" normalizeH="0" baseline="0" noProof="0" dirty="0">
              <a:ln>
                <a:noFill/>
              </a:ln>
              <a:effectLst/>
              <a:uLnTx/>
              <a:uFillTx/>
              <a:latin typeface="+mj-lt"/>
              <a:ea typeface="+mn-ea"/>
              <a:cs typeface="Calibri"/>
            </a:endParaRPr>
          </a:p>
        </p:txBody>
      </p:sp>
      <p:grpSp>
        <p:nvGrpSpPr>
          <p:cNvPr id="73" name="object 11">
            <a:extLst>
              <a:ext uri="{FF2B5EF4-FFF2-40B4-BE49-F238E27FC236}">
                <a16:creationId xmlns:a16="http://schemas.microsoft.com/office/drawing/2014/main" id="{4D63F4C4-6262-56BF-FF20-6816A19A3BE3}"/>
              </a:ext>
            </a:extLst>
          </p:cNvPr>
          <p:cNvGrpSpPr/>
          <p:nvPr/>
        </p:nvGrpSpPr>
        <p:grpSpPr>
          <a:xfrm>
            <a:off x="7547615" y="4602236"/>
            <a:ext cx="221066" cy="256053"/>
            <a:chOff x="2988310" y="3163570"/>
            <a:chExt cx="297815" cy="820419"/>
          </a:xfrm>
        </p:grpSpPr>
        <p:sp>
          <p:nvSpPr>
            <p:cNvPr id="74" name="object 12">
              <a:extLst>
                <a:ext uri="{FF2B5EF4-FFF2-40B4-BE49-F238E27FC236}">
                  <a16:creationId xmlns:a16="http://schemas.microsoft.com/office/drawing/2014/main" id="{C81716A0-5185-2C14-C8F4-9F395996CEF3}"/>
                </a:ext>
              </a:extLst>
            </p:cNvPr>
            <p:cNvSpPr/>
            <p:nvPr/>
          </p:nvSpPr>
          <p:spPr>
            <a:xfrm>
              <a:off x="2994660" y="3169920"/>
              <a:ext cx="285115" cy="807720"/>
            </a:xfrm>
            <a:custGeom>
              <a:avLst/>
              <a:gdLst/>
              <a:ahLst/>
              <a:cxnLst/>
              <a:rect l="l" t="t" r="r" b="b"/>
              <a:pathLst>
                <a:path w="285114" h="807720">
                  <a:moveTo>
                    <a:pt x="0" y="0"/>
                  </a:moveTo>
                  <a:lnTo>
                    <a:pt x="0" y="807720"/>
                  </a:lnTo>
                  <a:lnTo>
                    <a:pt x="284988" y="403860"/>
                  </a:lnTo>
                  <a:lnTo>
                    <a:pt x="0" y="0"/>
                  </a:lnTo>
                  <a:close/>
                </a:path>
              </a:pathLst>
            </a:custGeom>
            <a:solidFill>
              <a:srgbClr val="D0D7D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rgbClr val="1D1D1D"/>
                </a:solidFill>
                <a:effectLst/>
                <a:uLnTx/>
                <a:uFillTx/>
                <a:latin typeface="Arial" pitchFamily="34" charset="0"/>
                <a:ea typeface="+mn-ea"/>
                <a:cs typeface="Arial" panose="020B0604020202020204" pitchFamily="34" charset="0"/>
              </a:endParaRPr>
            </a:p>
          </p:txBody>
        </p:sp>
        <p:sp>
          <p:nvSpPr>
            <p:cNvPr id="75" name="object 13">
              <a:extLst>
                <a:ext uri="{FF2B5EF4-FFF2-40B4-BE49-F238E27FC236}">
                  <a16:creationId xmlns:a16="http://schemas.microsoft.com/office/drawing/2014/main" id="{ED44D418-5D92-9D92-18FF-9331A1C2E124}"/>
                </a:ext>
              </a:extLst>
            </p:cNvPr>
            <p:cNvSpPr/>
            <p:nvPr/>
          </p:nvSpPr>
          <p:spPr>
            <a:xfrm>
              <a:off x="2994660" y="3169920"/>
              <a:ext cx="285115" cy="807720"/>
            </a:xfrm>
            <a:custGeom>
              <a:avLst/>
              <a:gdLst/>
              <a:ahLst/>
              <a:cxnLst/>
              <a:rect l="l" t="t" r="r" b="b"/>
              <a:pathLst>
                <a:path w="285114" h="807720">
                  <a:moveTo>
                    <a:pt x="0" y="0"/>
                  </a:moveTo>
                  <a:lnTo>
                    <a:pt x="284988" y="403860"/>
                  </a:lnTo>
                  <a:lnTo>
                    <a:pt x="0" y="807720"/>
                  </a:lnTo>
                  <a:lnTo>
                    <a:pt x="0" y="0"/>
                  </a:lnTo>
                  <a:close/>
                </a:path>
              </a:pathLst>
            </a:custGeom>
            <a:ln w="12700">
              <a:solidFill>
                <a:srgbClr val="D0D7D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000" b="0" i="0" u="none" strike="noStrike" kern="0" cap="none" spc="-10" normalizeH="0" baseline="0" noProof="0" dirty="0">
                <a:ln>
                  <a:noFill/>
                </a:ln>
                <a:solidFill>
                  <a:sysClr val="windowText" lastClr="000000"/>
                </a:solidFill>
                <a:effectLst/>
                <a:uLnTx/>
                <a:uFillTx/>
                <a:latin typeface="Arial" pitchFamily="34" charset="0"/>
                <a:ea typeface="+mn-ea"/>
                <a:cs typeface="Arial" panose="020B0604020202020204" pitchFamily="34" charset="0"/>
              </a:endParaRPr>
            </a:p>
          </p:txBody>
        </p:sp>
      </p:grpSp>
      <p:sp>
        <p:nvSpPr>
          <p:cNvPr id="76" name="object 12">
            <a:extLst>
              <a:ext uri="{FF2B5EF4-FFF2-40B4-BE49-F238E27FC236}">
                <a16:creationId xmlns:a16="http://schemas.microsoft.com/office/drawing/2014/main" id="{F2D76901-D2D2-AE00-105F-0B2E2E745ED6}"/>
              </a:ext>
            </a:extLst>
          </p:cNvPr>
          <p:cNvSpPr txBox="1"/>
          <p:nvPr/>
        </p:nvSpPr>
        <p:spPr>
          <a:xfrm>
            <a:off x="8101304" y="4255452"/>
            <a:ext cx="2319911" cy="1588328"/>
          </a:xfrm>
          <a:prstGeom prst="rect">
            <a:avLst/>
          </a:prstGeom>
        </p:spPr>
        <p:txBody>
          <a:bodyPr vert="horz" wrap="square" lIns="0" tIns="12700" rIns="0" bIns="0" rtlCol="0" anchor="t">
            <a:noAutofit/>
          </a:bodyPr>
          <a:lstStyle/>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GB" sz="1400" b="0" i="0" u="none" strike="noStrike" kern="0" cap="none" spc="0" normalizeH="0" baseline="0" noProof="0" dirty="0">
                <a:ln>
                  <a:noFill/>
                </a:ln>
                <a:solidFill>
                  <a:srgbClr val="1D1D1D"/>
                </a:solidFill>
                <a:effectLst/>
                <a:uLnTx/>
                <a:uFillTx/>
                <a:latin typeface="+mj-lt"/>
                <a:ea typeface="+mn-ea"/>
                <a:cs typeface="Calibri"/>
              </a:rPr>
              <a:t>Read-out with CEO/CHRO on Mobilization actions across pillars essential for CEO success</a:t>
            </a:r>
          </a:p>
          <a:p>
            <a:pPr marL="298450" marR="0" lvl="0" indent="-2857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endParaRPr kumimoji="0" lang="en-GB" sz="1400" b="0" i="0" u="none" strike="noStrike" kern="0" cap="none" spc="0" normalizeH="0" baseline="0" noProof="0" dirty="0">
              <a:ln>
                <a:noFill/>
              </a:ln>
              <a:effectLst/>
              <a:uLnTx/>
              <a:uFillTx/>
              <a:latin typeface="+mj-lt"/>
              <a:ea typeface="+mn-ea"/>
              <a:cs typeface="Calibri"/>
            </a:endParaRPr>
          </a:p>
        </p:txBody>
      </p:sp>
      <p:sp>
        <p:nvSpPr>
          <p:cNvPr id="4" name="TextBox 3">
            <a:extLst>
              <a:ext uri="{FF2B5EF4-FFF2-40B4-BE49-F238E27FC236}">
                <a16:creationId xmlns:a16="http://schemas.microsoft.com/office/drawing/2014/main" id="{62FE3578-E422-63F2-0DCD-EF78C1F10C6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02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74A46F5-320B-408F-AE6F-F1BD974346F9}" type="slidenum">
              <a:t>24</a:t>
            </a:fld>
            <a:endParaRPr lang="en-US"/>
          </a:p>
        </p:txBody>
      </p:sp>
    </p:spTree>
    <p:extLst>
      <p:ext uri="{BB962C8B-B14F-4D97-AF65-F5344CB8AC3E}">
        <p14:creationId xmlns:p14="http://schemas.microsoft.com/office/powerpoint/2010/main" val="645409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953EA-35D3-A2CE-498E-608C6DC7633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918D039-7EF4-66FE-D754-2AC8E5B64126}"/>
              </a:ext>
            </a:extLst>
          </p:cNvPr>
          <p:cNvSpPr>
            <a:spLocks noGrp="1"/>
          </p:cNvSpPr>
          <p:nvPr>
            <p:ph type="title" sz="quarter"/>
          </p:nvPr>
        </p:nvSpPr>
        <p:spPr/>
        <p:txBody>
          <a:bodyPr/>
          <a:lstStyle/>
          <a:p>
            <a:pPr marL="0" marR="0" lvl="0" indent="0" algn="l" defTabSz="914332" rtl="0" eaLnBrk="1" fontAlgn="auto" latinLnBrk="0" hangingPunct="1">
              <a:lnSpc>
                <a:spcPct val="100000"/>
              </a:lnSpc>
              <a:spcBef>
                <a:spcPts val="0"/>
              </a:spcBef>
              <a:spcAft>
                <a:spcPts val="0"/>
              </a:spcAft>
              <a:tabLst/>
              <a:defRPr b="1" spc="-25">
                <a:latin typeface="Segoe UI" pitchFamily="34" charset="0"/>
              </a:defRPr>
            </a:pPr>
            <a:r>
              <a:rPr kumimoji="0" lang="en-GB" i="0" u="none" strike="noStrike" kern="1200" cap="none" normalizeH="0" baseline="0" noProof="0" dirty="0">
                <a:ln>
                  <a:noFill/>
                </a:ln>
                <a:solidFill>
                  <a:srgbClr val="281A42"/>
                </a:solidFill>
                <a:effectLst/>
                <a:uLnTx/>
                <a:uFillTx/>
                <a:latin typeface="+mn-lt"/>
                <a:ea typeface="Lato"/>
                <a:cs typeface="Lato"/>
              </a:rPr>
              <a:t>Strategic Pivots </a:t>
            </a:r>
            <a:r>
              <a:rPr kumimoji="0" lang="en-GB" i="0" u="none" strike="noStrike" kern="1200" cap="none" normalizeH="0" baseline="0" noProof="0" dirty="0">
                <a:ln>
                  <a:noFill/>
                </a:ln>
                <a:solidFill>
                  <a:srgbClr val="281A42"/>
                </a:solidFill>
                <a:effectLst/>
                <a:uLnTx/>
                <a:uFillTx/>
                <a:latin typeface="+mn-lt"/>
                <a:ea typeface="Lato"/>
                <a:cs typeface="Lato"/>
                <a:sym typeface="Wingdings" panose="05000000000000000000" pitchFamily="2" charset="2"/>
              </a:rPr>
              <a:t> Value Hotspots  Work Headlines</a:t>
            </a:r>
            <a:endParaRPr kumimoji="0" lang="en-US" i="0" u="none" strike="noStrike" kern="1200" cap="none" normalizeH="0" baseline="0" noProof="0" dirty="0">
              <a:ln>
                <a:noFill/>
              </a:ln>
              <a:solidFill>
                <a:srgbClr val="281A42"/>
              </a:solidFill>
              <a:effectLst/>
              <a:uLnTx/>
              <a:uFillTx/>
              <a:latin typeface="+mn-lt"/>
              <a:ea typeface="Lato"/>
              <a:cs typeface="Lato"/>
            </a:endParaRPr>
          </a:p>
        </p:txBody>
      </p:sp>
      <p:sp>
        <p:nvSpPr>
          <p:cNvPr id="12" name="Rounded Rectangle 1">
            <a:extLst>
              <a:ext uri="{FF2B5EF4-FFF2-40B4-BE49-F238E27FC236}">
                <a16:creationId xmlns:a16="http://schemas.microsoft.com/office/drawing/2014/main" id="{9A94D9E1-858D-BD10-853D-564B8B3CBA7B}"/>
              </a:ext>
            </a:extLst>
          </p:cNvPr>
          <p:cNvSpPr/>
          <p:nvPr/>
        </p:nvSpPr>
        <p:spPr>
          <a:xfrm>
            <a:off x="1186901" y="1004544"/>
            <a:ext cx="10255799" cy="1164850"/>
          </a:xfrm>
          <a:prstGeom prst="roundRect">
            <a:avLst>
              <a:gd name="adj" fmla="val 4915"/>
            </a:avLst>
          </a:prstGeom>
          <a:solidFill>
            <a:srgbClr val="F2F2F2">
              <a:alpha val="31000"/>
            </a:srgbClr>
          </a:solidFill>
          <a:ln w="635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1D1D1D"/>
              </a:solidFill>
              <a:effectLst/>
              <a:uLnTx/>
              <a:uFillTx/>
              <a:latin typeface="Segoe UI" pitchFamily="34" charset="0"/>
              <a:ea typeface="+mn-ea"/>
              <a:cs typeface="+mn-cs"/>
            </a:endParaRPr>
          </a:p>
        </p:txBody>
      </p:sp>
      <p:graphicFrame>
        <p:nvGraphicFramePr>
          <p:cNvPr id="13" name="Table 41">
            <a:extLst>
              <a:ext uri="{FF2B5EF4-FFF2-40B4-BE49-F238E27FC236}">
                <a16:creationId xmlns:a16="http://schemas.microsoft.com/office/drawing/2014/main" id="{00D2CA3B-BAD8-582C-F6B1-A4F72B001D66}"/>
              </a:ext>
            </a:extLst>
          </p:cNvPr>
          <p:cNvGraphicFramePr>
            <a:graphicFrameLocks noGrp="1"/>
          </p:cNvGraphicFramePr>
          <p:nvPr>
            <p:extLst>
              <p:ext uri="{D42A27DB-BD31-4B8C-83A1-F6EECF244321}">
                <p14:modId xmlns:p14="http://schemas.microsoft.com/office/powerpoint/2010/main" val="1299188014"/>
              </p:ext>
            </p:extLst>
          </p:nvPr>
        </p:nvGraphicFramePr>
        <p:xfrm>
          <a:off x="1348840" y="977140"/>
          <a:ext cx="9903361" cy="1132502"/>
        </p:xfrm>
        <a:graphic>
          <a:graphicData uri="http://schemas.openxmlformats.org/drawingml/2006/table">
            <a:tbl>
              <a:tblPr firstRow="1" bandRow="1">
                <a:tableStyleId>{5940675A-B579-460E-94D1-54222C63F5DA}</a:tableStyleId>
              </a:tblPr>
              <a:tblGrid>
                <a:gridCol w="3174539">
                  <a:extLst>
                    <a:ext uri="{9D8B030D-6E8A-4147-A177-3AD203B41FA5}">
                      <a16:colId xmlns:a16="http://schemas.microsoft.com/office/drawing/2014/main" val="4119152402"/>
                    </a:ext>
                  </a:extLst>
                </a:gridCol>
                <a:gridCol w="941676">
                  <a:extLst>
                    <a:ext uri="{9D8B030D-6E8A-4147-A177-3AD203B41FA5}">
                      <a16:colId xmlns:a16="http://schemas.microsoft.com/office/drawing/2014/main" val="2048534200"/>
                    </a:ext>
                  </a:extLst>
                </a:gridCol>
                <a:gridCol w="5787146">
                  <a:extLst>
                    <a:ext uri="{9D8B030D-6E8A-4147-A177-3AD203B41FA5}">
                      <a16:colId xmlns:a16="http://schemas.microsoft.com/office/drawing/2014/main" val="2057372679"/>
                    </a:ext>
                  </a:extLst>
                </a:gridCol>
              </a:tblGrid>
              <a:tr h="404936">
                <a:tc>
                  <a:txBody>
                    <a:bodyPr/>
                    <a:lstStyle/>
                    <a:p>
                      <a:pPr marL="0" indent="0" algn="r" hangingPunct="0">
                        <a:buFont typeface="Arial" panose="020B0604020202020204" pitchFamily="34" charset="0"/>
                        <a:buNone/>
                      </a:pPr>
                      <a:r>
                        <a:rPr lang="en-US" sz="1200" b="1" dirty="0">
                          <a:solidFill>
                            <a:srgbClr val="FFFFFF"/>
                          </a:solidFill>
                          <a:latin typeface="Arial" pitchFamily="34" charset="0"/>
                        </a:rPr>
                        <a:t>Food security mandate</a:t>
                      </a:r>
                    </a:p>
                  </a:txBody>
                  <a:tcPr anchor="ctr">
                    <a:lnL w="12700" cmpd="sng">
                      <a:noFill/>
                    </a:lnL>
                    <a:lnR w="12700" cmpd="sng">
                      <a:noFill/>
                    </a:lnR>
                    <a:lnT w="12700" cmpd="sng">
                      <a:noFill/>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marL="0" indent="0" hangingPunct="0">
                        <a:buFont typeface="Arial" panose="020B0604020202020204" pitchFamily="34" charset="0"/>
                        <a:buNone/>
                      </a:pPr>
                      <a:endParaRPr lang="en-US" sz="1400" dirty="0">
                        <a:latin typeface="Arial" pitchFamily="34" charset="0"/>
                      </a:endParaRPr>
                    </a:p>
                  </a:txBody>
                  <a:tcPr anchor="ctr">
                    <a:lnL w="12700" cmpd="sng">
                      <a:noFill/>
                    </a:lnL>
                    <a:lnR w="12700" cmpd="sng">
                      <a:noFill/>
                    </a:lnR>
                    <a:lnT w="12700" cmpd="sng">
                      <a:noFill/>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l">
                        <a:spcAft>
                          <a:spcPts val="360"/>
                        </a:spcAft>
                      </a:pPr>
                      <a:r>
                        <a:rPr lang="en-US" sz="1200" b="1" i="0" u="none" strike="noStrike" dirty="0">
                          <a:solidFill>
                            <a:srgbClr val="FFFFFF"/>
                          </a:solidFill>
                          <a:effectLst/>
                          <a:latin typeface="Arial" pitchFamily="34" charset="0"/>
                          <a:ea typeface="Lato" panose="020F0502020204030203" pitchFamily="34" charset="0"/>
                          <a:cs typeface="Lato" panose="020F0502020204030203" pitchFamily="34" charset="0"/>
                        </a:rPr>
                        <a:t>Integrated food distribution company</a:t>
                      </a:r>
                    </a:p>
                  </a:txBody>
                  <a:tcPr anchor="ctr">
                    <a:lnL w="12700" cmpd="sng">
                      <a:noFill/>
                    </a:lnL>
                    <a:lnR w="12700" cmpd="sng">
                      <a:noFill/>
                    </a:lnR>
                    <a:lnT w="12700" cmpd="sng">
                      <a:noFill/>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90220662"/>
                  </a:ext>
                </a:extLst>
              </a:tr>
              <a:tr h="408059">
                <a:tc>
                  <a:txBody>
                    <a:bodyPr/>
                    <a:lstStyle/>
                    <a:p>
                      <a:pPr marL="0" indent="0" algn="r" hangingPunct="0">
                        <a:buFont typeface="Arial" panose="020B0604020202020204" pitchFamily="34" charset="0"/>
                        <a:buNone/>
                      </a:pPr>
                      <a:r>
                        <a:rPr lang="en-US" sz="1400" b="0" dirty="0">
                          <a:latin typeface="Arial" pitchFamily="34" charset="0"/>
                        </a:rPr>
                        <a:t>Management of contract farming</a:t>
                      </a:r>
                    </a:p>
                  </a:txBody>
                  <a:tcPr anchor="ctr">
                    <a:lnL w="12700" cmpd="sng">
                      <a:noFill/>
                    </a:lnL>
                    <a:lnR w="12700" cmpd="sng">
                      <a:noFill/>
                    </a:lnR>
                    <a:lnT w="6350" cap="flat" cmpd="sng" algn="ctr">
                      <a:solidFill>
                        <a:srgbClr val="281A42"/>
                      </a:solidFill>
                      <a:prstDash val="solid"/>
                      <a:round/>
                      <a:headEnd type="none" w="med" len="med"/>
                      <a:tailEnd type="none" w="med" len="med"/>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indent="0" hangingPunct="0">
                        <a:buFont typeface="Arial" panose="020B0604020202020204" pitchFamily="34" charset="0"/>
                        <a:buNone/>
                      </a:pPr>
                      <a:endParaRPr lang="en-US" sz="1400" u="none" dirty="0">
                        <a:latin typeface="Arial" pitchFamily="34" charset="0"/>
                      </a:endParaRPr>
                    </a:p>
                  </a:txBody>
                  <a:tcPr anchor="ctr">
                    <a:lnL w="12700" cmpd="sng">
                      <a:noFill/>
                    </a:lnL>
                    <a:lnR w="12700" cmpd="sng">
                      <a:noFill/>
                    </a:lnR>
                    <a:lnT w="6350" cap="flat" cmpd="sng" algn="ctr">
                      <a:solidFill>
                        <a:srgbClr val="281A42"/>
                      </a:solidFill>
                      <a:prstDash val="solid"/>
                      <a:round/>
                      <a:headEnd type="none" w="med" len="med"/>
                      <a:tailEnd type="none" w="med" len="med"/>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l"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GB" sz="1400" kern="1200" dirty="0">
                          <a:solidFill>
                            <a:srgbClr val="1D1D1D"/>
                          </a:solidFill>
                          <a:effectLst/>
                          <a:latin typeface="Arial" pitchFamily="34" charset="0"/>
                          <a:ea typeface="Lato" panose="020F0502020204030203" pitchFamily="34" charset="0"/>
                          <a:cs typeface="Lato" panose="020F0502020204030203" pitchFamily="34" charset="0"/>
                        </a:rPr>
                        <a:t>Innovation driver in Agri-tech</a:t>
                      </a:r>
                    </a:p>
                  </a:txBody>
                  <a:tcPr anchor="ctr">
                    <a:lnL w="12700" cmpd="sng">
                      <a:noFill/>
                    </a:lnL>
                    <a:lnR w="12700" cmpd="sng">
                      <a:noFill/>
                    </a:lnR>
                    <a:lnT w="6350" cap="flat" cmpd="sng" algn="ctr">
                      <a:solidFill>
                        <a:srgbClr val="281A42"/>
                      </a:solidFill>
                      <a:prstDash val="solid"/>
                      <a:round/>
                      <a:headEnd type="none" w="med" len="med"/>
                      <a:tailEnd type="none" w="med" len="med"/>
                    </a:lnT>
                    <a:lnB w="6350" cap="flat" cmpd="sng" algn="ctr">
                      <a:solidFill>
                        <a:srgbClr val="281A4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84803442"/>
                  </a:ext>
                </a:extLst>
              </a:tr>
              <a:tr h="319507">
                <a:tc>
                  <a:txBody>
                    <a:bodyPr/>
                    <a:lstStyle/>
                    <a:p>
                      <a:pPr marL="0" marR="0" lvl="0" indent="0" algn="r"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US" sz="1400" b="0" dirty="0">
                          <a:latin typeface="Arial" pitchFamily="34" charset="0"/>
                        </a:rPr>
                        <a:t>Grants dependent &amp; sub-scale entities</a:t>
                      </a:r>
                    </a:p>
                  </a:txBody>
                  <a:tcPr anchor="ctr">
                    <a:lnL w="12700" cmpd="sng">
                      <a:noFill/>
                    </a:lnL>
                    <a:lnR w="12700" cmpd="sng">
                      <a:noFill/>
                    </a:lnR>
                    <a:lnT w="6350" cap="flat" cmpd="sng" algn="ctr">
                      <a:solidFill>
                        <a:srgbClr val="281A42"/>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marL="0" indent="0" hangingPunct="0">
                        <a:buFont typeface="Arial" panose="020B0604020202020204" pitchFamily="34" charset="0"/>
                        <a:buNone/>
                      </a:pPr>
                      <a:endParaRPr lang="en-US" sz="1400" u="none" dirty="0">
                        <a:latin typeface="Arial" pitchFamily="34" charset="0"/>
                      </a:endParaRPr>
                    </a:p>
                  </a:txBody>
                  <a:tcPr anchor="ctr">
                    <a:lnL w="12700" cmpd="sng">
                      <a:noFill/>
                    </a:lnL>
                    <a:lnR w="12700" cmpd="sng">
                      <a:noFill/>
                    </a:lnR>
                    <a:lnT w="6350" cap="flat" cmpd="sng" algn="ctr">
                      <a:solidFill>
                        <a:srgbClr val="281A42"/>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0">
                        <a:lnSpc>
                          <a:spcPct val="100000"/>
                        </a:lnSpc>
                        <a:spcBef>
                          <a:spcPts val="0"/>
                        </a:spcBef>
                        <a:spcAft>
                          <a:spcPts val="0"/>
                        </a:spcAft>
                        <a:buClrTx/>
                        <a:buSzTx/>
                        <a:buFont typeface="Arial" panose="020B0604020202020204" pitchFamily="34" charset="0"/>
                        <a:buNone/>
                        <a:tabLst/>
                        <a:defRPr/>
                      </a:pPr>
                      <a:r>
                        <a:rPr lang="en-US" sz="1400" b="0" i="0" u="none" strike="noStrike" dirty="0">
                          <a:solidFill>
                            <a:srgbClr val="1D1D1D"/>
                          </a:solidFill>
                          <a:effectLst/>
                          <a:latin typeface="Arial" pitchFamily="34" charset="0"/>
                          <a:ea typeface="Lato" panose="020F0502020204030203" pitchFamily="34" charset="0"/>
                          <a:cs typeface="Lato" panose="020F0502020204030203" pitchFamily="34" charset="0"/>
                        </a:rPr>
                        <a:t>Commercially sustainable, profitable &amp; independent company</a:t>
                      </a:r>
                    </a:p>
                  </a:txBody>
                  <a:tcPr anchor="ctr">
                    <a:lnL w="12700" cmpd="sng">
                      <a:noFill/>
                    </a:lnL>
                    <a:lnR w="12700" cmpd="sng">
                      <a:noFill/>
                    </a:lnR>
                    <a:lnT w="6350" cap="flat" cmpd="sng" algn="ctr">
                      <a:solidFill>
                        <a:srgbClr val="281A42"/>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80669488"/>
                  </a:ext>
                </a:extLst>
              </a:tr>
            </a:tbl>
          </a:graphicData>
        </a:graphic>
      </p:graphicFrame>
      <p:sp>
        <p:nvSpPr>
          <p:cNvPr id="14" name="Triangle 73">
            <a:extLst>
              <a:ext uri="{FF2B5EF4-FFF2-40B4-BE49-F238E27FC236}">
                <a16:creationId xmlns:a16="http://schemas.microsoft.com/office/drawing/2014/main" id="{8D068500-55E5-EAB0-C252-D3DEA9BC5D0C}"/>
              </a:ext>
            </a:extLst>
          </p:cNvPr>
          <p:cNvSpPr/>
          <p:nvPr/>
        </p:nvSpPr>
        <p:spPr>
          <a:xfrm rot="5400000">
            <a:off x="5230510" y="1535689"/>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6" name="Triangle 73">
            <a:extLst>
              <a:ext uri="{FF2B5EF4-FFF2-40B4-BE49-F238E27FC236}">
                <a16:creationId xmlns:a16="http://schemas.microsoft.com/office/drawing/2014/main" id="{E5994132-DDBC-8412-B1A6-E426E6E54AD0}"/>
              </a:ext>
            </a:extLst>
          </p:cNvPr>
          <p:cNvSpPr/>
          <p:nvPr/>
        </p:nvSpPr>
        <p:spPr>
          <a:xfrm rot="5400000">
            <a:off x="5230207" y="1131773"/>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0" cap="none" spc="-25" normalizeH="0" baseline="0" noProof="0" dirty="0">
              <a:ln>
                <a:noFill/>
              </a:ln>
              <a:solidFill>
                <a:srgbClr val="FFFFFF"/>
              </a:solidFill>
              <a:effectLst/>
              <a:uLnTx/>
              <a:uFillTx/>
              <a:latin typeface="Segoe UI" pitchFamily="34" charset="0"/>
              <a:ea typeface="+mn-ea"/>
              <a:cs typeface="+mn-cs"/>
            </a:endParaRPr>
          </a:p>
        </p:txBody>
      </p:sp>
      <p:sp>
        <p:nvSpPr>
          <p:cNvPr id="26" name="Triangle 73">
            <a:extLst>
              <a:ext uri="{FF2B5EF4-FFF2-40B4-BE49-F238E27FC236}">
                <a16:creationId xmlns:a16="http://schemas.microsoft.com/office/drawing/2014/main" id="{345C0D01-0EE9-14AB-B915-85F67DF69647}"/>
              </a:ext>
            </a:extLst>
          </p:cNvPr>
          <p:cNvSpPr/>
          <p:nvPr/>
        </p:nvSpPr>
        <p:spPr>
          <a:xfrm rot="5400000">
            <a:off x="5230207" y="1936874"/>
            <a:ext cx="205670" cy="102618"/>
          </a:xfrm>
          <a:custGeom>
            <a:avLst/>
            <a:gdLst>
              <a:gd name="connsiteX0" fmla="*/ 0 w 500130"/>
              <a:gd name="connsiteY0" fmla="*/ 304534 h 304534"/>
              <a:gd name="connsiteX1" fmla="*/ 250065 w 500130"/>
              <a:gd name="connsiteY1" fmla="*/ 0 h 304534"/>
              <a:gd name="connsiteX2" fmla="*/ 500130 w 500130"/>
              <a:gd name="connsiteY2" fmla="*/ 304534 h 304534"/>
              <a:gd name="connsiteX3" fmla="*/ 0 w 500130"/>
              <a:gd name="connsiteY3" fmla="*/ 304534 h 304534"/>
              <a:gd name="connsiteX0" fmla="*/ 0 w 500130"/>
              <a:gd name="connsiteY0" fmla="*/ 304534 h 395974"/>
              <a:gd name="connsiteX1" fmla="*/ 250065 w 500130"/>
              <a:gd name="connsiteY1" fmla="*/ 0 h 395974"/>
              <a:gd name="connsiteX2" fmla="*/ 500130 w 500130"/>
              <a:gd name="connsiteY2" fmla="*/ 304534 h 395974"/>
              <a:gd name="connsiteX3" fmla="*/ 91440 w 500130"/>
              <a:gd name="connsiteY3" fmla="*/ 395974 h 395974"/>
              <a:gd name="connsiteX0" fmla="*/ 0 w 500130"/>
              <a:gd name="connsiteY0" fmla="*/ 304534 h 304534"/>
              <a:gd name="connsiteX1" fmla="*/ 250065 w 500130"/>
              <a:gd name="connsiteY1" fmla="*/ 0 h 304534"/>
              <a:gd name="connsiteX2" fmla="*/ 500130 w 500130"/>
              <a:gd name="connsiteY2" fmla="*/ 304534 h 304534"/>
            </a:gdLst>
            <a:ahLst/>
            <a:cxnLst>
              <a:cxn ang="0">
                <a:pos x="connsiteX0" y="connsiteY0"/>
              </a:cxn>
              <a:cxn ang="0">
                <a:pos x="connsiteX1" y="connsiteY1"/>
              </a:cxn>
              <a:cxn ang="0">
                <a:pos x="connsiteX2" y="connsiteY2"/>
              </a:cxn>
            </a:cxnLst>
            <a:rect l="l" t="t" r="r" b="b"/>
            <a:pathLst>
              <a:path w="500130" h="304534">
                <a:moveTo>
                  <a:pt x="0" y="304534"/>
                </a:moveTo>
                <a:lnTo>
                  <a:pt x="250065" y="0"/>
                </a:lnTo>
                <a:lnTo>
                  <a:pt x="500130" y="304534"/>
                </a:lnTo>
              </a:path>
            </a:pathLst>
          </a:custGeom>
          <a:noFill/>
          <a:ln w="12700">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10" normalizeH="0" baseline="0" noProof="0" dirty="0">
              <a:ln>
                <a:noFill/>
              </a:ln>
              <a:solidFill>
                <a:srgbClr val="FFFFFF"/>
              </a:solidFill>
              <a:effectLst/>
              <a:uLnTx/>
              <a:uFillTx/>
              <a:latin typeface="Arial" pitchFamily="34" charset="0"/>
              <a:ea typeface="+mn-ea"/>
              <a:cs typeface="+mn-cs"/>
            </a:endParaRPr>
          </a:p>
        </p:txBody>
      </p:sp>
      <p:sp>
        <p:nvSpPr>
          <p:cNvPr id="15" name="Rectangle: Rounded Corners 45">
            <a:extLst>
              <a:ext uri="{FF2B5EF4-FFF2-40B4-BE49-F238E27FC236}">
                <a16:creationId xmlns:a16="http://schemas.microsoft.com/office/drawing/2014/main" id="{0FF2FF79-1D04-FD16-8B7E-A4BF264CD4BD}"/>
              </a:ext>
            </a:extLst>
          </p:cNvPr>
          <p:cNvSpPr/>
          <p:nvPr/>
        </p:nvSpPr>
        <p:spPr>
          <a:xfrm>
            <a:off x="3024525" y="5881927"/>
            <a:ext cx="1980000" cy="360000"/>
          </a:xfrm>
          <a:prstGeom prst="roundRect">
            <a:avLst/>
          </a:prstGeom>
          <a:solidFill>
            <a:srgbClr val="765F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1000" kern="1200" spc="-10" dirty="0">
                <a:solidFill>
                  <a:prstClr val="white"/>
                </a:solidFill>
                <a:latin typeface="Arial" pitchFamily="34" charset="0"/>
              </a:rPr>
              <a:t>STRATEGY </a:t>
            </a:r>
            <a:endParaRPr kumimoji="0" lang="en-US" sz="1000" b="0" i="0" u="none" strike="noStrike" kern="1200" cap="none" spc="-10" normalizeH="0" baseline="0" noProof="0" dirty="0">
              <a:ln>
                <a:noFill/>
              </a:ln>
              <a:solidFill>
                <a:prstClr val="white"/>
              </a:solidFill>
              <a:effectLst/>
              <a:uLnTx/>
              <a:uFillTx/>
              <a:latin typeface="Arial" pitchFamily="34" charset="0"/>
            </a:endParaRPr>
          </a:p>
        </p:txBody>
      </p:sp>
      <p:sp>
        <p:nvSpPr>
          <p:cNvPr id="17" name="Rectangle: Rounded Corners 47">
            <a:extLst>
              <a:ext uri="{FF2B5EF4-FFF2-40B4-BE49-F238E27FC236}">
                <a16:creationId xmlns:a16="http://schemas.microsoft.com/office/drawing/2014/main" id="{5D353A41-66A1-D0A8-A1D3-E332CA74660D}"/>
              </a:ext>
            </a:extLst>
          </p:cNvPr>
          <p:cNvSpPr/>
          <p:nvPr/>
        </p:nvSpPr>
        <p:spPr>
          <a:xfrm>
            <a:off x="7497769" y="5881927"/>
            <a:ext cx="1980000" cy="360000"/>
          </a:xfrm>
          <a:prstGeom prst="roundRect">
            <a:avLst/>
          </a:prstGeom>
          <a:solidFill>
            <a:srgbClr val="765F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prstClr val="white"/>
                </a:solidFill>
                <a:effectLst/>
                <a:uLnTx/>
                <a:uFillTx/>
                <a:latin typeface="Arial" pitchFamily="34" charset="0"/>
              </a:rPr>
              <a:t>IT FOUNDATIONS </a:t>
            </a:r>
          </a:p>
        </p:txBody>
      </p:sp>
      <p:sp>
        <p:nvSpPr>
          <p:cNvPr id="18" name="Rectangle: Rounded Corners 48">
            <a:extLst>
              <a:ext uri="{FF2B5EF4-FFF2-40B4-BE49-F238E27FC236}">
                <a16:creationId xmlns:a16="http://schemas.microsoft.com/office/drawing/2014/main" id="{D854F0A6-2C6D-4543-777F-1D2AD8C2383F}"/>
              </a:ext>
            </a:extLst>
          </p:cNvPr>
          <p:cNvSpPr/>
          <p:nvPr/>
        </p:nvSpPr>
        <p:spPr>
          <a:xfrm>
            <a:off x="9734392" y="5881927"/>
            <a:ext cx="1980000" cy="360000"/>
          </a:xfrm>
          <a:prstGeom prst="roundRect">
            <a:avLst/>
          </a:prstGeom>
          <a:solidFill>
            <a:srgbClr val="765F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prstClr val="white"/>
                </a:solidFill>
                <a:effectLst/>
                <a:uLnTx/>
                <a:uFillTx/>
                <a:latin typeface="Arial" pitchFamily="34" charset="0"/>
              </a:rPr>
              <a:t>HUMAN CAPITAL &amp; CULTURE</a:t>
            </a:r>
          </a:p>
        </p:txBody>
      </p:sp>
      <p:cxnSp>
        <p:nvCxnSpPr>
          <p:cNvPr id="19" name="Straight Arrow Connector 18">
            <a:extLst>
              <a:ext uri="{FF2B5EF4-FFF2-40B4-BE49-F238E27FC236}">
                <a16:creationId xmlns:a16="http://schemas.microsoft.com/office/drawing/2014/main" id="{F3B3ABA1-A810-55D7-D1F1-AB7A17ACB4F4}"/>
              </a:ext>
            </a:extLst>
          </p:cNvPr>
          <p:cNvCxnSpPr>
            <a:cxnSpLocks/>
          </p:cNvCxnSpPr>
          <p:nvPr/>
        </p:nvCxnSpPr>
        <p:spPr>
          <a:xfrm>
            <a:off x="787903" y="5607289"/>
            <a:ext cx="10926490" cy="0"/>
          </a:xfrm>
          <a:prstGeom prst="straightConnector1">
            <a:avLst/>
          </a:prstGeom>
          <a:ln>
            <a:solidFill>
              <a:srgbClr val="1D1D1D"/>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Rectangle: Rounded Corners 53">
            <a:extLst>
              <a:ext uri="{FF2B5EF4-FFF2-40B4-BE49-F238E27FC236}">
                <a16:creationId xmlns:a16="http://schemas.microsoft.com/office/drawing/2014/main" id="{CD9A9DDF-29CC-BAF9-E778-5ED5E22A982D}"/>
              </a:ext>
            </a:extLst>
          </p:cNvPr>
          <p:cNvSpPr/>
          <p:nvPr/>
        </p:nvSpPr>
        <p:spPr>
          <a:xfrm>
            <a:off x="5261147" y="5881927"/>
            <a:ext cx="1980000" cy="360000"/>
          </a:xfrm>
          <a:prstGeom prst="roundRect">
            <a:avLst/>
          </a:prstGeom>
          <a:solidFill>
            <a:srgbClr val="765F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prstClr val="white"/>
                </a:solidFill>
                <a:effectLst/>
                <a:uLnTx/>
                <a:uFillTx/>
                <a:latin typeface="Arial" pitchFamily="34" charset="0"/>
              </a:rPr>
              <a:t>ESG </a:t>
            </a:r>
          </a:p>
        </p:txBody>
      </p:sp>
      <p:sp>
        <p:nvSpPr>
          <p:cNvPr id="21" name="Rectangle: Rounded Corners 45">
            <a:extLst>
              <a:ext uri="{FF2B5EF4-FFF2-40B4-BE49-F238E27FC236}">
                <a16:creationId xmlns:a16="http://schemas.microsoft.com/office/drawing/2014/main" id="{C8BB3CA8-1438-AE7B-0AEE-4EF2E062AAF5}"/>
              </a:ext>
            </a:extLst>
          </p:cNvPr>
          <p:cNvSpPr/>
          <p:nvPr/>
        </p:nvSpPr>
        <p:spPr>
          <a:xfrm>
            <a:off x="787903" y="5881927"/>
            <a:ext cx="1980000" cy="360000"/>
          </a:xfrm>
          <a:prstGeom prst="roundRect">
            <a:avLst/>
          </a:prstGeom>
          <a:solidFill>
            <a:srgbClr val="765FFF"/>
          </a:solidFill>
          <a:ln>
            <a:noFill/>
          </a:ln>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prstClr val="white"/>
                </a:solidFill>
                <a:effectLst/>
                <a:uLnTx/>
                <a:uFillTx/>
                <a:latin typeface="Arial" pitchFamily="34" charset="0"/>
              </a:rPr>
              <a:t>FINANCIAL ACUMEN </a:t>
            </a:r>
          </a:p>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000" b="0" i="0" u="none" strike="noStrike" kern="1200" cap="none" spc="-10" normalizeH="0" baseline="0" noProof="0" dirty="0">
                <a:ln>
                  <a:noFill/>
                </a:ln>
                <a:solidFill>
                  <a:prstClr val="white"/>
                </a:solidFill>
                <a:effectLst/>
                <a:uLnTx/>
                <a:uFillTx/>
                <a:latin typeface="Arial" pitchFamily="34" charset="0"/>
              </a:rPr>
              <a:t>&amp; RISK MANAGEMENT</a:t>
            </a:r>
          </a:p>
        </p:txBody>
      </p:sp>
      <p:sp>
        <p:nvSpPr>
          <p:cNvPr id="23" name="Rounded Rectangle 18">
            <a:extLst>
              <a:ext uri="{FF2B5EF4-FFF2-40B4-BE49-F238E27FC236}">
                <a16:creationId xmlns:a16="http://schemas.microsoft.com/office/drawing/2014/main" id="{2AC3C062-C066-867B-DD28-A991A1D27F98}"/>
              </a:ext>
            </a:extLst>
          </p:cNvPr>
          <p:cNvSpPr/>
          <p:nvPr/>
        </p:nvSpPr>
        <p:spPr>
          <a:xfrm>
            <a:off x="5011251" y="5420003"/>
            <a:ext cx="2479794" cy="359997"/>
          </a:xfrm>
          <a:prstGeom prst="roundRect">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algn="ctr"/>
            <a:r>
              <a:rPr lang="en-US" sz="1200" b="1" kern="0" spc="-10" dirty="0">
                <a:solidFill>
                  <a:srgbClr val="F2F2F2"/>
                </a:solidFill>
                <a:latin typeface="Segoe UI" pitchFamily="34" charset="0"/>
                <a:ea typeface="Lato" panose="020F0502020204030203" pitchFamily="34" charset="0"/>
                <a:cs typeface="Lato" panose="020F0502020204030203" pitchFamily="34" charset="0"/>
              </a:rPr>
              <a:t>ENABLERS </a:t>
            </a:r>
            <a:r>
              <a:rPr lang="en-US" sz="2000" b="1" kern="0" spc="-10" dirty="0">
                <a:solidFill>
                  <a:srgbClr val="F2F2F2"/>
                </a:solidFill>
                <a:latin typeface="Segoe UI" pitchFamily="34" charset="0"/>
                <a:ea typeface="Lato" panose="020F0502020204030203" pitchFamily="34" charset="0"/>
                <a:cs typeface="Lato" panose="020F0502020204030203" pitchFamily="34" charset="0"/>
              </a:rPr>
              <a:t>15%</a:t>
            </a:r>
            <a:endParaRPr lang="en-US" sz="1200" b="1" kern="0" spc="-10" dirty="0">
              <a:solidFill>
                <a:srgbClr val="F2F2F2"/>
              </a:solidFill>
              <a:latin typeface="Segoe UI" pitchFamily="34" charset="0"/>
              <a:ea typeface="Lato" panose="020F0502020204030203" pitchFamily="34" charset="0"/>
              <a:cs typeface="Lato" panose="020F0502020204030203" pitchFamily="34" charset="0"/>
            </a:endParaRPr>
          </a:p>
        </p:txBody>
      </p:sp>
      <p:sp>
        <p:nvSpPr>
          <p:cNvPr id="24" name="Rounded Rectangle 19">
            <a:extLst>
              <a:ext uri="{FF2B5EF4-FFF2-40B4-BE49-F238E27FC236}">
                <a16:creationId xmlns:a16="http://schemas.microsoft.com/office/drawing/2014/main" id="{4E57307B-1B9F-83B8-1C2D-34EE695AF193}"/>
              </a:ext>
            </a:extLst>
          </p:cNvPr>
          <p:cNvSpPr/>
          <p:nvPr/>
        </p:nvSpPr>
        <p:spPr>
          <a:xfrm>
            <a:off x="632755" y="3451892"/>
            <a:ext cx="1980000" cy="1955041"/>
          </a:xfrm>
          <a:prstGeom prst="roundRect">
            <a:avLst>
              <a:gd name="adj" fmla="val 0"/>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Complete Integration</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 of new acquisition X into HoldCo</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Leverage new capabilities to accelerate organic growth</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 by </a:t>
            </a:r>
            <a:r>
              <a:rPr lang="en-US" sz="900" spc="-10" dirty="0">
                <a:solidFill>
                  <a:srgbClr val="1D1D1D">
                    <a:lumMod val="65000"/>
                    <a:lumOff val="35000"/>
                  </a:srgbClr>
                </a:solidFill>
                <a:latin typeface="Arial" pitchFamily="34" charset="0"/>
                <a:ea typeface="Lato" panose="020F0502020204030203" pitchFamily="34" charset="0"/>
                <a:cs typeface="Lato" panose="020F0502020204030203" pitchFamily="34" charset="0"/>
              </a:rPr>
              <a:t>increasing customer base &amp; value-added services </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in Country 1 &amp; 2</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Expand offering to win ‘center of plate’</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 beyond core F&amp;V portfolio – proteins, key staples and value add products / solutions</a:t>
            </a:r>
          </a:p>
          <a:p>
            <a:pPr marL="180975" indent="-180975" algn="l" rtl="0">
              <a:buFont typeface="Arial" panose="020B0604020202020204" pitchFamily="34" charset="0"/>
              <a:buChar char="•"/>
              <a:defRPr/>
            </a:pPr>
            <a:r>
              <a:rPr kumimoji="0" lang="en-US" sz="90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Unlock </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subsidiary synergies to grow pest controls and services</a:t>
            </a:r>
          </a:p>
          <a:p>
            <a:pPr marL="180975" indent="-180975" algn="l" rtl="0">
              <a:buFont typeface="Arial" panose="020B0604020202020204" pitchFamily="34" charset="0"/>
              <a:buChar char="•"/>
              <a:defRPr/>
            </a:pPr>
            <a:r>
              <a:rPr lang="en-US" sz="900" spc="-10" dirty="0">
                <a:solidFill>
                  <a:srgbClr val="1D1D1D">
                    <a:lumMod val="65000"/>
                    <a:lumOff val="35000"/>
                  </a:srgbClr>
                </a:solidFill>
                <a:latin typeface="Arial" pitchFamily="34" charset="0"/>
                <a:ea typeface="Lato" panose="020F0502020204030203" pitchFamily="34" charset="0"/>
                <a:cs typeface="Lato" panose="020F0502020204030203" pitchFamily="34" charset="0"/>
              </a:rPr>
              <a:t>Grow </a:t>
            </a:r>
            <a:r>
              <a:rPr lang="en-US" sz="900" b="1" spc="-10" dirty="0">
                <a:solidFill>
                  <a:srgbClr val="1D1D1D">
                    <a:lumMod val="65000"/>
                    <a:lumOff val="35000"/>
                  </a:srgbClr>
                </a:solidFill>
                <a:latin typeface="Segoe UI" pitchFamily="34" charset="0"/>
                <a:ea typeface="Lato" panose="020F0502020204030203" pitchFamily="34" charset="0"/>
                <a:cs typeface="Lato" panose="020F0502020204030203" pitchFamily="34" charset="0"/>
              </a:rPr>
              <a:t>commodity distribution </a:t>
            </a:r>
            <a:endPar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endParaRPr>
          </a:p>
        </p:txBody>
      </p:sp>
      <p:sp>
        <p:nvSpPr>
          <p:cNvPr id="25" name="Rounded Rectangle 20">
            <a:extLst>
              <a:ext uri="{FF2B5EF4-FFF2-40B4-BE49-F238E27FC236}">
                <a16:creationId xmlns:a16="http://schemas.microsoft.com/office/drawing/2014/main" id="{87AF7E9D-59DA-9106-88D5-6302014B1DDD}"/>
              </a:ext>
            </a:extLst>
          </p:cNvPr>
          <p:cNvSpPr/>
          <p:nvPr/>
        </p:nvSpPr>
        <p:spPr>
          <a:xfrm>
            <a:off x="7342621" y="3421071"/>
            <a:ext cx="1980000" cy="1900932"/>
          </a:xfrm>
          <a:prstGeom prst="roundRect">
            <a:avLst>
              <a:gd name="adj" fmla="val 0"/>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Expand product categories </a:t>
            </a:r>
            <a:r>
              <a:rPr kumimoji="0" lang="en-US" sz="90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with a focus on integrated red meat, seafood, rice, and pulses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Integrate upstream and downstream value chains, </a:t>
            </a:r>
            <a:r>
              <a:rPr kumimoji="0" lang="en-US" sz="90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including production, manufacturing, processing, packaging, and market routes (e.g., B2B wholesale)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120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Form joint ventures, strategic partnerships</a:t>
            </a:r>
            <a:r>
              <a:rPr kumimoji="0" lang="en-US" sz="900" i="0" u="none" strike="noStrike" kern="120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 and pursue opportunistic M&amp;A to grow business in select markets</a:t>
            </a:r>
          </a:p>
        </p:txBody>
      </p:sp>
      <p:sp>
        <p:nvSpPr>
          <p:cNvPr id="27" name="Rounded Rectangle 21">
            <a:extLst>
              <a:ext uri="{FF2B5EF4-FFF2-40B4-BE49-F238E27FC236}">
                <a16:creationId xmlns:a16="http://schemas.microsoft.com/office/drawing/2014/main" id="{CDF15121-5BEE-328D-D79B-894364C756DA}"/>
              </a:ext>
            </a:extLst>
          </p:cNvPr>
          <p:cNvSpPr/>
          <p:nvPr/>
        </p:nvSpPr>
        <p:spPr>
          <a:xfrm>
            <a:off x="9579245" y="3451893"/>
            <a:ext cx="1980000" cy="1829647"/>
          </a:xfrm>
          <a:prstGeom prst="roundRect">
            <a:avLst>
              <a:gd name="adj" fmla="val 0"/>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indent="-180975" algn="l" rtl="0">
              <a:buFont typeface="Arial" panose="020B0604020202020204" pitchFamily="34" charset="0"/>
              <a:buChar char="•"/>
              <a:defRPr/>
            </a:pPr>
            <a:r>
              <a:rPr lang="en-US" sz="900" b="1" spc="-10" dirty="0">
                <a:solidFill>
                  <a:srgbClr val="1D1D1D">
                    <a:lumMod val="65000"/>
                    <a:lumOff val="35000"/>
                  </a:srgbClr>
                </a:solidFill>
                <a:latin typeface="Segoe UI" pitchFamily="34" charset="0"/>
                <a:ea typeface="Lato" panose="020F0502020204030203" pitchFamily="34" charset="0"/>
                <a:cs typeface="Lato" panose="020F0502020204030203" pitchFamily="34" charset="0"/>
              </a:rPr>
              <a:t>Develop a Digital Strategy &amp; roadmap </a:t>
            </a:r>
            <a:r>
              <a:rPr lang="en-US" sz="900" spc="-10" dirty="0">
                <a:solidFill>
                  <a:srgbClr val="1D1D1D">
                    <a:lumMod val="65000"/>
                    <a:lumOff val="35000"/>
                  </a:srgbClr>
                </a:solidFill>
                <a:latin typeface="Arial" pitchFamily="34" charset="0"/>
                <a:ea typeface="Lato" panose="020F0502020204030203" pitchFamily="34" charset="0"/>
                <a:cs typeface="Lato" panose="020F0502020204030203" pitchFamily="34" charset="0"/>
              </a:rPr>
              <a:t>to drive innovation in agriculture and food value chains</a:t>
            </a:r>
            <a:endParaRPr kumimoji="0" lang="en-GB"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endParaRPr>
          </a:p>
        </p:txBody>
      </p:sp>
      <p:sp>
        <p:nvSpPr>
          <p:cNvPr id="28" name="Rounded Rectangle 22">
            <a:extLst>
              <a:ext uri="{FF2B5EF4-FFF2-40B4-BE49-F238E27FC236}">
                <a16:creationId xmlns:a16="http://schemas.microsoft.com/office/drawing/2014/main" id="{A4C15368-983A-12C9-03DF-8AB8C6A95F83}"/>
              </a:ext>
            </a:extLst>
          </p:cNvPr>
          <p:cNvSpPr/>
          <p:nvPr/>
        </p:nvSpPr>
        <p:spPr>
          <a:xfrm>
            <a:off x="5105999" y="3451893"/>
            <a:ext cx="1980000" cy="1829647"/>
          </a:xfrm>
          <a:prstGeom prst="roundRect">
            <a:avLst>
              <a:gd name="adj" fmla="val 0"/>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indent="-180975" algn="l" rtl="0">
              <a:buFont typeface="Arial" panose="020B0604020202020204" pitchFamily="34" charset="0"/>
              <a:buChar char="•"/>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Build R&amp;D capabilities to enhance farmer eco-system, &amp; provide local farmer support </a:t>
            </a:r>
            <a:r>
              <a:rPr kumimoji="0" lang="en-US" sz="90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(improving yield, novel crops)</a:t>
            </a:r>
            <a:endPar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Optimize management of </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strategic food reserves through food security intelligence </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Strengthen crisis management</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 capabilities</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Manage risk, continue rotation </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of commodities (esp. sugar)</a:t>
            </a:r>
          </a:p>
        </p:txBody>
      </p:sp>
      <p:sp>
        <p:nvSpPr>
          <p:cNvPr id="29" name="Rounded Rectangle 23">
            <a:extLst>
              <a:ext uri="{FF2B5EF4-FFF2-40B4-BE49-F238E27FC236}">
                <a16:creationId xmlns:a16="http://schemas.microsoft.com/office/drawing/2014/main" id="{1D2D44BD-B083-3A94-3129-5EBBEA1F74A9}"/>
              </a:ext>
            </a:extLst>
          </p:cNvPr>
          <p:cNvSpPr/>
          <p:nvPr/>
        </p:nvSpPr>
        <p:spPr>
          <a:xfrm>
            <a:off x="2869377" y="3451631"/>
            <a:ext cx="1980000" cy="1829647"/>
          </a:xfrm>
          <a:prstGeom prst="roundRect">
            <a:avLst>
              <a:gd name="adj" fmla="val 0"/>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Integrate F&amp;V Retail and Wholesale</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 channels with </a:t>
            </a: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AA</a:t>
            </a:r>
            <a:endPar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Extract synergies, restructure</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 </a:t>
            </a: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F&amp;V BU</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 right-sizing commercial and operations</a:t>
            </a: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Leverage capabilities to accelerate organic </a:t>
            </a:r>
            <a:r>
              <a:rPr kumimoji="0" lang="en-US" sz="90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growth by growing and expanding into new product categories </a:t>
            </a:r>
            <a:r>
              <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rPr>
              <a:t>across in key markets</a:t>
            </a:r>
            <a:r>
              <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rPr>
              <a:t> in Country 1, Country 2, Region A</a:t>
            </a:r>
            <a:endParaRPr kumimoji="0" lang="en-US" sz="900" b="1" i="0" u="none" strike="noStrike" kern="0" cap="none" spc="-10" normalizeH="0" baseline="0" noProof="0" dirty="0">
              <a:ln>
                <a:noFill/>
              </a:ln>
              <a:solidFill>
                <a:srgbClr val="1D1D1D">
                  <a:lumMod val="65000"/>
                  <a:lumOff val="35000"/>
                </a:srgbClr>
              </a:solidFill>
              <a:effectLst/>
              <a:uLnTx/>
              <a:uFillTx/>
              <a:latin typeface="Segoe UI" pitchFamily="34" charset="0"/>
              <a:ea typeface="Lato" panose="020F0502020204030203" pitchFamily="34" charset="0"/>
              <a:cs typeface="Lato" panose="020F0502020204030203"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endParaRPr>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900" b="0" i="0" u="none" strike="noStrike" kern="0" cap="none" spc="-10" normalizeH="0" baseline="0" noProof="0" dirty="0">
              <a:ln>
                <a:noFill/>
              </a:ln>
              <a:solidFill>
                <a:srgbClr val="1D1D1D">
                  <a:lumMod val="65000"/>
                  <a:lumOff val="35000"/>
                </a:srgbClr>
              </a:solidFill>
              <a:effectLst/>
              <a:uLnTx/>
              <a:uFillTx/>
              <a:latin typeface="Arial" pitchFamily="34" charset="0"/>
              <a:ea typeface="Lato" panose="020F0502020204030203" pitchFamily="34" charset="0"/>
              <a:cs typeface="Lato" panose="020F0502020204030203" pitchFamily="34" charset="0"/>
            </a:endParaRPr>
          </a:p>
        </p:txBody>
      </p:sp>
      <p:sp>
        <p:nvSpPr>
          <p:cNvPr id="30" name="Round Same-side Corner of Rectangle 14">
            <a:extLst>
              <a:ext uri="{FF2B5EF4-FFF2-40B4-BE49-F238E27FC236}">
                <a16:creationId xmlns:a16="http://schemas.microsoft.com/office/drawing/2014/main" id="{6495C006-10EA-3768-E3FA-CA5500E3A321}"/>
              </a:ext>
            </a:extLst>
          </p:cNvPr>
          <p:cNvSpPr/>
          <p:nvPr/>
        </p:nvSpPr>
        <p:spPr>
          <a:xfrm>
            <a:off x="3024525" y="2523453"/>
            <a:ext cx="1728000" cy="768632"/>
          </a:xfrm>
          <a:prstGeom prst="round2SameRect">
            <a:avLst>
              <a:gd name="adj1" fmla="val 6394"/>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F&amp;V</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rgbClr val="F2F2F2"/>
                </a:solidFill>
                <a:latin typeface="Segoe UI" pitchFamily="34" charset="0"/>
              </a:rPr>
              <a:t>20%</a:t>
            </a:r>
          </a:p>
        </p:txBody>
      </p:sp>
      <p:sp>
        <p:nvSpPr>
          <p:cNvPr id="31" name="Round Same-side Corner of Rectangle 15">
            <a:extLst>
              <a:ext uri="{FF2B5EF4-FFF2-40B4-BE49-F238E27FC236}">
                <a16:creationId xmlns:a16="http://schemas.microsoft.com/office/drawing/2014/main" id="{ACAD2FC2-9E8C-AD7A-B08B-8D3749F4A0CB}"/>
              </a:ext>
            </a:extLst>
          </p:cNvPr>
          <p:cNvSpPr/>
          <p:nvPr/>
        </p:nvSpPr>
        <p:spPr>
          <a:xfrm>
            <a:off x="5231999" y="2523453"/>
            <a:ext cx="1728000" cy="768632"/>
          </a:xfrm>
          <a:prstGeom prst="round2SameRect">
            <a:avLst>
              <a:gd name="adj1" fmla="val 6396"/>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FARMING &amp; FOOD</a:t>
            </a: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rgbClr val="F2F2F2"/>
                </a:solidFill>
                <a:latin typeface="Segoe UI" pitchFamily="34" charset="0"/>
              </a:rPr>
              <a:t>20%</a:t>
            </a:r>
          </a:p>
        </p:txBody>
      </p:sp>
      <p:sp>
        <p:nvSpPr>
          <p:cNvPr id="32" name="Round Same-side Corner of Rectangle 16">
            <a:extLst>
              <a:ext uri="{FF2B5EF4-FFF2-40B4-BE49-F238E27FC236}">
                <a16:creationId xmlns:a16="http://schemas.microsoft.com/office/drawing/2014/main" id="{D07D81E3-52D6-128E-F2C8-0D1C55F2BC5D}"/>
              </a:ext>
            </a:extLst>
          </p:cNvPr>
          <p:cNvSpPr/>
          <p:nvPr/>
        </p:nvSpPr>
        <p:spPr>
          <a:xfrm>
            <a:off x="7371769" y="2523452"/>
            <a:ext cx="1728000" cy="775995"/>
          </a:xfrm>
          <a:prstGeom prst="round2SameRect">
            <a:avLst>
              <a:gd name="adj1" fmla="val 8450"/>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INORGANIC EXPANSION</a:t>
            </a:r>
          </a:p>
          <a:p>
            <a:pPr algn="l" rtl="0">
              <a:defRPr>
                <a:solidFill>
                  <a:srgbClr val="FFFFFF"/>
                </a:solidFill>
              </a:defRPr>
            </a:pPr>
            <a:r>
              <a:rPr lang="en-US" sz="2000" b="1" spc="-10" dirty="0">
                <a:solidFill>
                  <a:srgbClr val="F2F2F2"/>
                </a:solidFill>
                <a:latin typeface="Segoe UI" pitchFamily="34" charset="0"/>
              </a:rPr>
              <a:t>10%</a:t>
            </a:r>
          </a:p>
        </p:txBody>
      </p:sp>
      <p:sp>
        <p:nvSpPr>
          <p:cNvPr id="33" name="Round Same-side Corner of Rectangle 17">
            <a:extLst>
              <a:ext uri="{FF2B5EF4-FFF2-40B4-BE49-F238E27FC236}">
                <a16:creationId xmlns:a16="http://schemas.microsoft.com/office/drawing/2014/main" id="{BA639F4F-BE96-7DA1-3670-FA8628D9EB6D}"/>
              </a:ext>
            </a:extLst>
          </p:cNvPr>
          <p:cNvSpPr/>
          <p:nvPr/>
        </p:nvSpPr>
        <p:spPr>
          <a:xfrm>
            <a:off x="9676097" y="2523453"/>
            <a:ext cx="1728000" cy="768632"/>
          </a:xfrm>
          <a:prstGeom prst="round2SameRect">
            <a:avLst>
              <a:gd name="adj1" fmla="val 6395"/>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1200" b="1" i="0" u="none" strike="noStrike" kern="0" cap="none" spc="-10"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DIGITAL </a:t>
            </a:r>
            <a:endParaRPr lang="en-US" sz="1200" b="1" spc="-10" dirty="0">
              <a:solidFill>
                <a:srgbClr val="F2F2F2"/>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lang="en-US" sz="1200" b="1" spc="-10" dirty="0">
              <a:solidFill>
                <a:srgbClr val="F2F2F2"/>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2000" b="1" spc="-10" dirty="0">
                <a:solidFill>
                  <a:srgbClr val="F2F2F2"/>
                </a:solidFill>
                <a:latin typeface="Segoe UI" pitchFamily="34" charset="0"/>
              </a:rPr>
              <a:t>5%</a:t>
            </a:r>
          </a:p>
        </p:txBody>
      </p:sp>
      <p:sp>
        <p:nvSpPr>
          <p:cNvPr id="34" name="Round Same-side Corner of Rectangle 14">
            <a:extLst>
              <a:ext uri="{FF2B5EF4-FFF2-40B4-BE49-F238E27FC236}">
                <a16:creationId xmlns:a16="http://schemas.microsoft.com/office/drawing/2014/main" id="{BDD510EB-F7B9-6B0C-322D-456813274319}"/>
              </a:ext>
            </a:extLst>
          </p:cNvPr>
          <p:cNvSpPr/>
          <p:nvPr/>
        </p:nvSpPr>
        <p:spPr>
          <a:xfrm>
            <a:off x="787903" y="2510550"/>
            <a:ext cx="1728000" cy="768632"/>
          </a:xfrm>
          <a:prstGeom prst="round2SameRect">
            <a:avLst>
              <a:gd name="adj1" fmla="val 6394"/>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lang="en-US" sz="1200" b="1" spc="-10" dirty="0">
                <a:solidFill>
                  <a:srgbClr val="F2F2F2"/>
                </a:solidFill>
                <a:latin typeface="Segoe UI" pitchFamily="34" charset="0"/>
                <a:ea typeface="Lato" panose="020F0502020204030203" pitchFamily="34" charset="0"/>
                <a:cs typeface="Lato" panose="020F0502020204030203" pitchFamily="34" charset="0"/>
              </a:rPr>
              <a:t>FOODSERVICE</a:t>
            </a:r>
            <a:endParaRPr kumimoji="0" lang="en-US" sz="1200" b="1" i="0" u="none" strike="noStrike" kern="0" cap="none" spc="-10"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200" b="1" i="0" u="none" strike="noStrike" kern="0" cap="none" spc="-10"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a:solidFill>
                  <a:srgbClr val="FFFFFF"/>
                </a:solidFill>
              </a:defRPr>
            </a:pPr>
            <a:r>
              <a:rPr lang="en-US" sz="2000" b="1" spc="-10" dirty="0">
                <a:solidFill>
                  <a:srgbClr val="F2F2F2"/>
                </a:solidFill>
                <a:latin typeface="Segoe UI" pitchFamily="34" charset="0"/>
              </a:rPr>
              <a:t>30%</a:t>
            </a:r>
          </a:p>
        </p:txBody>
      </p:sp>
      <p:sp>
        <p:nvSpPr>
          <p:cNvPr id="5" name="TextBox 4">
            <a:extLst>
              <a:ext uri="{FF2B5EF4-FFF2-40B4-BE49-F238E27FC236}">
                <a16:creationId xmlns:a16="http://schemas.microsoft.com/office/drawing/2014/main" id="{1D6A6697-2ED4-5458-D5C5-7341DDC5F76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6" name="Rectangle: Rounded Corners 5">
            <a:extLst>
              <a:ext uri="{FF2B5EF4-FFF2-40B4-BE49-F238E27FC236}">
                <a16:creationId xmlns:a16="http://schemas.microsoft.com/office/drawing/2014/main" id="{8EF382FA-0FAD-9CA2-16E3-FD7C588007C6}"/>
              </a:ext>
            </a:extLst>
          </p:cNvPr>
          <p:cNvSpPr/>
          <p:nvPr/>
        </p:nvSpPr>
        <p:spPr>
          <a:xfrm rot="16200000">
            <a:off x="-206496" y="1330144"/>
            <a:ext cx="1192256" cy="486247"/>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b="1" spc="-25" dirty="0">
                <a:solidFill>
                  <a:srgbClr val="1D1D1D"/>
                </a:solidFill>
                <a:latin typeface="Segoe UI" pitchFamily="34" charset="0"/>
              </a:rPr>
              <a:t>Strategic Pivots</a:t>
            </a:r>
            <a:endParaRPr lang="LID4096" sz="1600" b="1" spc="-25" dirty="0">
              <a:solidFill>
                <a:srgbClr val="1D1D1D"/>
              </a:solidFill>
              <a:latin typeface="Segoe UI" pitchFamily="34" charset="0"/>
            </a:endParaRPr>
          </a:p>
        </p:txBody>
      </p:sp>
      <p:sp>
        <p:nvSpPr>
          <p:cNvPr id="7" name="Rectangle: Rounded Corners 6">
            <a:extLst>
              <a:ext uri="{FF2B5EF4-FFF2-40B4-BE49-F238E27FC236}">
                <a16:creationId xmlns:a16="http://schemas.microsoft.com/office/drawing/2014/main" id="{42E005C6-12A2-5D91-F4EF-35FF32F37436}"/>
              </a:ext>
            </a:extLst>
          </p:cNvPr>
          <p:cNvSpPr/>
          <p:nvPr/>
        </p:nvSpPr>
        <p:spPr>
          <a:xfrm rot="16200000">
            <a:off x="-287658" y="2649556"/>
            <a:ext cx="1354580" cy="486247"/>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solidFill>
                  <a:srgbClr val="1D1D1D"/>
                </a:solidFill>
              </a:rPr>
              <a:t>VALUE HOTSPOTS</a:t>
            </a:r>
            <a:endParaRPr lang="LID4096" sz="1600" dirty="0">
              <a:solidFill>
                <a:srgbClr val="1D1D1D"/>
              </a:solidFill>
            </a:endParaRPr>
          </a:p>
        </p:txBody>
      </p:sp>
      <p:sp>
        <p:nvSpPr>
          <p:cNvPr id="8" name="Rectangle: Rounded Corners 7">
            <a:extLst>
              <a:ext uri="{FF2B5EF4-FFF2-40B4-BE49-F238E27FC236}">
                <a16:creationId xmlns:a16="http://schemas.microsoft.com/office/drawing/2014/main" id="{DDC7BA29-E765-7FD7-413C-5DF474AE10B1}"/>
              </a:ext>
            </a:extLst>
          </p:cNvPr>
          <p:cNvSpPr/>
          <p:nvPr/>
        </p:nvSpPr>
        <p:spPr>
          <a:xfrm rot="16200000">
            <a:off x="-287658" y="4059256"/>
            <a:ext cx="1354580" cy="486247"/>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600" dirty="0">
                <a:solidFill>
                  <a:srgbClr val="1D1D1D"/>
                </a:solidFill>
              </a:rPr>
              <a:t>WORK HEADLINES </a:t>
            </a:r>
            <a:endParaRPr lang="LID4096" sz="1600" dirty="0">
              <a:solidFill>
                <a:srgbClr val="1D1D1D"/>
              </a:solidFill>
            </a:endParaRPr>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D17AA7D8-82F5-429D-B0B5-9627690573AE}" type="slidenum">
              <a:t>25</a:t>
            </a:fld>
            <a:endParaRPr lang="en-US"/>
          </a:p>
        </p:txBody>
      </p:sp>
    </p:spTree>
    <p:extLst>
      <p:ext uri="{BB962C8B-B14F-4D97-AF65-F5344CB8AC3E}">
        <p14:creationId xmlns:p14="http://schemas.microsoft.com/office/powerpoint/2010/main" val="3621585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C8344-5CAA-6071-22C2-B4DD3B1F919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035D48A-CA9E-2FDB-8E53-ADF0C8DFFB91}"/>
              </a:ext>
            </a:extLst>
          </p:cNvPr>
          <p:cNvSpPr>
            <a:spLocks noGrp="1"/>
          </p:cNvSpPr>
          <p:nvPr>
            <p:ph type="title" sz="quarter"/>
          </p:nvPr>
        </p:nvSpPr>
        <p:spPr/>
        <p:txBody>
          <a:bodyPr/>
          <a:lstStyle/>
          <a:p>
            <a:pPr marL="0" marR="0" lvl="0" indent="0" algn="l" defTabSz="914332" rtl="0" eaLnBrk="1" fontAlgn="auto" latinLnBrk="0" hangingPunct="1">
              <a:lnSpc>
                <a:spcPct val="100000"/>
              </a:lnSpc>
              <a:spcBef>
                <a:spcPts val="0"/>
              </a:spcBef>
              <a:spcAft>
                <a:spcPts val="0"/>
              </a:spcAft>
              <a:tabLst/>
              <a:defRPr b="1" spc="-25">
                <a:latin typeface="Segoe UI" pitchFamily="34" charset="0"/>
              </a:defRPr>
            </a:pPr>
            <a:r>
              <a:rPr kumimoji="0" lang="en-GB" i="0" u="none" strike="noStrike" kern="1200" cap="none" normalizeH="0" baseline="0" noProof="0" dirty="0">
                <a:ln>
                  <a:noFill/>
                </a:ln>
                <a:solidFill>
                  <a:srgbClr val="765FFF"/>
                </a:solidFill>
                <a:effectLst/>
                <a:uLnTx/>
                <a:uFillTx/>
                <a:latin typeface="+mn-lt"/>
                <a:ea typeface="Lato"/>
                <a:cs typeface="Lato"/>
              </a:rPr>
              <a:t>Critical Roles and Risks @</a:t>
            </a:r>
            <a:r>
              <a:rPr kumimoji="0" lang="en-GB" i="0" u="none" strike="noStrike" kern="1200" cap="none" normalizeH="0" baseline="0" noProof="0" dirty="0">
                <a:ln>
                  <a:noFill/>
                </a:ln>
                <a:effectLst/>
                <a:uLnTx/>
                <a:uFillTx/>
                <a:latin typeface="+mn-lt"/>
                <a:ea typeface="Lato"/>
                <a:cs typeface="Lato"/>
              </a:rPr>
              <a:t> Value Hotspots</a:t>
            </a:r>
          </a:p>
        </p:txBody>
      </p:sp>
      <p:sp>
        <p:nvSpPr>
          <p:cNvPr id="4" name="Rectangle 3">
            <a:extLst>
              <a:ext uri="{FF2B5EF4-FFF2-40B4-BE49-F238E27FC236}">
                <a16:creationId xmlns:a16="http://schemas.microsoft.com/office/drawing/2014/main" id="{5B036759-BFD0-C0CF-B712-9A838540FDA9}"/>
              </a:ext>
            </a:extLst>
          </p:cNvPr>
          <p:cNvSpPr/>
          <p:nvPr/>
        </p:nvSpPr>
        <p:spPr>
          <a:xfrm>
            <a:off x="600672" y="1771754"/>
            <a:ext cx="1677751"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$990M</a:t>
            </a:r>
          </a:p>
        </p:txBody>
      </p:sp>
      <p:sp>
        <p:nvSpPr>
          <p:cNvPr id="5" name="Rectangle 4">
            <a:extLst>
              <a:ext uri="{FF2B5EF4-FFF2-40B4-BE49-F238E27FC236}">
                <a16:creationId xmlns:a16="http://schemas.microsoft.com/office/drawing/2014/main" id="{06287499-88E4-A3FD-2B44-512FB82CC3E0}"/>
              </a:ext>
            </a:extLst>
          </p:cNvPr>
          <p:cNvSpPr/>
          <p:nvPr/>
        </p:nvSpPr>
        <p:spPr>
          <a:xfrm>
            <a:off x="2503622" y="1771754"/>
            <a:ext cx="1677750"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$660M</a:t>
            </a:r>
          </a:p>
        </p:txBody>
      </p:sp>
      <p:sp>
        <p:nvSpPr>
          <p:cNvPr id="11" name="Rectangle 10">
            <a:extLst>
              <a:ext uri="{FF2B5EF4-FFF2-40B4-BE49-F238E27FC236}">
                <a16:creationId xmlns:a16="http://schemas.microsoft.com/office/drawing/2014/main" id="{52A62870-44FE-11C0-E3E8-E0B86CE70346}"/>
              </a:ext>
            </a:extLst>
          </p:cNvPr>
          <p:cNvSpPr/>
          <p:nvPr/>
        </p:nvSpPr>
        <p:spPr>
          <a:xfrm>
            <a:off x="4398822" y="1771754"/>
            <a:ext cx="1677749"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$660M</a:t>
            </a:r>
          </a:p>
        </p:txBody>
      </p:sp>
      <p:sp>
        <p:nvSpPr>
          <p:cNvPr id="6" name="Rectangle 5">
            <a:extLst>
              <a:ext uri="{FF2B5EF4-FFF2-40B4-BE49-F238E27FC236}">
                <a16:creationId xmlns:a16="http://schemas.microsoft.com/office/drawing/2014/main" id="{E0B4CF8F-8BB7-DC84-EA90-2A2C353E9CA6}"/>
              </a:ext>
            </a:extLst>
          </p:cNvPr>
          <p:cNvSpPr/>
          <p:nvPr/>
        </p:nvSpPr>
        <p:spPr>
          <a:xfrm>
            <a:off x="6294015" y="1769700"/>
            <a:ext cx="1677749"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$330M</a:t>
            </a:r>
          </a:p>
        </p:txBody>
      </p:sp>
      <p:sp>
        <p:nvSpPr>
          <p:cNvPr id="7" name="Rectangle 6">
            <a:extLst>
              <a:ext uri="{FF2B5EF4-FFF2-40B4-BE49-F238E27FC236}">
                <a16:creationId xmlns:a16="http://schemas.microsoft.com/office/drawing/2014/main" id="{5C0E6D27-0359-615C-C9FD-372441B7F490}"/>
              </a:ext>
            </a:extLst>
          </p:cNvPr>
          <p:cNvSpPr/>
          <p:nvPr/>
        </p:nvSpPr>
        <p:spPr>
          <a:xfrm>
            <a:off x="8189199" y="1764428"/>
            <a:ext cx="1669898"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1D1D1D"/>
                </a:solidFill>
                <a:latin typeface="Arial" pitchFamily="34" charset="0"/>
              </a:rPr>
              <a:t>$165M</a:t>
            </a:r>
          </a:p>
        </p:txBody>
      </p:sp>
      <p:sp>
        <p:nvSpPr>
          <p:cNvPr id="8" name="Round Same-side Corner of Rectangle 13">
            <a:extLst>
              <a:ext uri="{FF2B5EF4-FFF2-40B4-BE49-F238E27FC236}">
                <a16:creationId xmlns:a16="http://schemas.microsoft.com/office/drawing/2014/main" id="{28AAEEEF-9B8E-B598-F669-7339A886B7D9}"/>
              </a:ext>
            </a:extLst>
          </p:cNvPr>
          <p:cNvSpPr/>
          <p:nvPr/>
        </p:nvSpPr>
        <p:spPr>
          <a:xfrm>
            <a:off x="608421" y="1062232"/>
            <a:ext cx="1728000" cy="784324"/>
          </a:xfrm>
          <a:prstGeom prst="round2SameRect">
            <a:avLst>
              <a:gd name="adj1" fmla="val 9477"/>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120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Foodservice</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120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ea typeface="Lato" panose="020F0502020204030203" pitchFamily="34" charset="0"/>
                <a:cs typeface="Lato" panose="020F0502020204030203" pitchFamily="34" charset="0"/>
              </a:rPr>
              <a:t>30</a:t>
            </a:r>
            <a:r>
              <a:rPr kumimoji="0" lang="en-US" sz="20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a:t>
            </a:r>
          </a:p>
        </p:txBody>
      </p:sp>
      <p:sp>
        <p:nvSpPr>
          <p:cNvPr id="9" name="Round Same-side Corner of Rectangle 14">
            <a:extLst>
              <a:ext uri="{FF2B5EF4-FFF2-40B4-BE49-F238E27FC236}">
                <a16:creationId xmlns:a16="http://schemas.microsoft.com/office/drawing/2014/main" id="{0B77082E-603D-7CAD-E1F7-F97A05519DA8}"/>
              </a:ext>
            </a:extLst>
          </p:cNvPr>
          <p:cNvSpPr/>
          <p:nvPr/>
        </p:nvSpPr>
        <p:spPr>
          <a:xfrm>
            <a:off x="2492965" y="1062232"/>
            <a:ext cx="1728000" cy="776883"/>
          </a:xfrm>
          <a:prstGeom prst="round2SameRect">
            <a:avLst>
              <a:gd name="adj1" fmla="val 6394"/>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F&amp;V</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20%</a:t>
            </a:r>
          </a:p>
        </p:txBody>
      </p:sp>
      <p:sp>
        <p:nvSpPr>
          <p:cNvPr id="10" name="Round Same-side Corner of Rectangle 15">
            <a:extLst>
              <a:ext uri="{FF2B5EF4-FFF2-40B4-BE49-F238E27FC236}">
                <a16:creationId xmlns:a16="http://schemas.microsoft.com/office/drawing/2014/main" id="{FA0DFB68-D346-A7CF-89C5-5913D8C7F029}"/>
              </a:ext>
            </a:extLst>
          </p:cNvPr>
          <p:cNvSpPr/>
          <p:nvPr/>
        </p:nvSpPr>
        <p:spPr>
          <a:xfrm>
            <a:off x="4377509" y="1062232"/>
            <a:ext cx="1728000" cy="776883"/>
          </a:xfrm>
          <a:prstGeom prst="round2SameRect">
            <a:avLst>
              <a:gd name="adj1" fmla="val 6396"/>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Farming &amp; Food</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20%</a:t>
            </a:r>
          </a:p>
        </p:txBody>
      </p:sp>
      <p:sp>
        <p:nvSpPr>
          <p:cNvPr id="22" name="Round Same-side Corner of Rectangle 16">
            <a:extLst>
              <a:ext uri="{FF2B5EF4-FFF2-40B4-BE49-F238E27FC236}">
                <a16:creationId xmlns:a16="http://schemas.microsoft.com/office/drawing/2014/main" id="{705913A4-6E8A-1995-1D2C-1018E9F5EA31}"/>
              </a:ext>
            </a:extLst>
          </p:cNvPr>
          <p:cNvSpPr/>
          <p:nvPr/>
        </p:nvSpPr>
        <p:spPr>
          <a:xfrm>
            <a:off x="6262053" y="1063754"/>
            <a:ext cx="1728000" cy="784324"/>
          </a:xfrm>
          <a:prstGeom prst="round2SameRect">
            <a:avLst>
              <a:gd name="adj1" fmla="val 8450"/>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Inorganic Expansion</a:t>
            </a:r>
          </a:p>
          <a:p>
            <a:pPr algn="l" rtl="0">
              <a:defRPr b="1" spc="-25">
                <a:solidFill>
                  <a:srgbClr val="FFFFFF"/>
                </a:solidFill>
                <a:latin typeface="Segoe UI" pitchFamily="34" charset="0"/>
              </a:defRPr>
            </a:pPr>
            <a:r>
              <a:rPr lang="en-US" sz="2000" b="1" spc="-25" dirty="0">
                <a:solidFill>
                  <a:srgbClr val="F2F2F2"/>
                </a:solidFill>
                <a:latin typeface="Segoe UI" pitchFamily="34" charset="0"/>
              </a:rPr>
              <a:t>10%</a:t>
            </a:r>
          </a:p>
        </p:txBody>
      </p:sp>
      <p:sp>
        <p:nvSpPr>
          <p:cNvPr id="35" name="Round Same-side Corner of Rectangle 17">
            <a:extLst>
              <a:ext uri="{FF2B5EF4-FFF2-40B4-BE49-F238E27FC236}">
                <a16:creationId xmlns:a16="http://schemas.microsoft.com/office/drawing/2014/main" id="{85F95A18-F800-2537-F418-4DD45DE9845E}"/>
              </a:ext>
            </a:extLst>
          </p:cNvPr>
          <p:cNvSpPr/>
          <p:nvPr/>
        </p:nvSpPr>
        <p:spPr>
          <a:xfrm>
            <a:off x="8146597" y="1063754"/>
            <a:ext cx="1728000" cy="776883"/>
          </a:xfrm>
          <a:prstGeom prst="round2SameRect">
            <a:avLst>
              <a:gd name="adj1" fmla="val 6395"/>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Digital</a:t>
            </a:r>
            <a:endParaRPr lang="en-US" sz="1200" b="1" spc="-25" dirty="0">
              <a:solidFill>
                <a:srgbClr val="F2F2F2"/>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lang="en-US" sz="1200" b="1" spc="-25" dirty="0">
              <a:solidFill>
                <a:srgbClr val="F2F2F2"/>
              </a:solidFill>
              <a:latin typeface="Segoe UI" pitchFamily="34" charset="0"/>
              <a:ea typeface="Lato" panose="020F0502020204030203" pitchFamily="34" charset="0"/>
              <a:cs typeface="Lato" panose="020F050202020403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lang="en-US" sz="2000" b="1" spc="-25" dirty="0">
                <a:solidFill>
                  <a:srgbClr val="F2F2F2"/>
                </a:solidFill>
                <a:latin typeface="Segoe UI" pitchFamily="34" charset="0"/>
              </a:rPr>
              <a:t>5%</a:t>
            </a:r>
          </a:p>
        </p:txBody>
      </p:sp>
      <p:sp>
        <p:nvSpPr>
          <p:cNvPr id="36" name="Round Same-side Corner of Rectangle 18">
            <a:extLst>
              <a:ext uri="{FF2B5EF4-FFF2-40B4-BE49-F238E27FC236}">
                <a16:creationId xmlns:a16="http://schemas.microsoft.com/office/drawing/2014/main" id="{081664A5-E274-440E-F532-43C21C123B68}"/>
              </a:ext>
            </a:extLst>
          </p:cNvPr>
          <p:cNvSpPr/>
          <p:nvPr/>
        </p:nvSpPr>
        <p:spPr>
          <a:xfrm>
            <a:off x="10031141" y="1063753"/>
            <a:ext cx="1728000" cy="776883"/>
          </a:xfrm>
          <a:prstGeom prst="round2SameRect">
            <a:avLst>
              <a:gd name="adj1" fmla="val 6395"/>
              <a:gd name="adj2" fmla="val 0"/>
            </a:avLst>
          </a:prstGeom>
          <a:solidFill>
            <a:srgbClr val="281A4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rPr>
              <a:t>Enablers</a:t>
            </a:r>
          </a:p>
          <a:p>
            <a:pPr marL="0" marR="0" lvl="0" indent="0" algn="l"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endParaRPr kumimoji="0" lang="en-US" sz="1200" b="1" i="0" u="none" strike="noStrike" kern="0" cap="none" spc="-25" normalizeH="0" baseline="0" noProof="0" dirty="0">
              <a:ln>
                <a:noFill/>
              </a:ln>
              <a:solidFill>
                <a:srgbClr val="F2F2F2"/>
              </a:solidFill>
              <a:effectLst/>
              <a:uLnTx/>
              <a:uFillTx/>
              <a:latin typeface="Segoe UI" pitchFamily="34" charset="0"/>
              <a:ea typeface="Lato" panose="020F0502020204030203" pitchFamily="34" charset="0"/>
              <a:cs typeface="Lato" panose="020F0502020204030203" pitchFamily="34" charset="0"/>
            </a:endParaRPr>
          </a:p>
          <a:p>
            <a:pPr algn="l" rtl="0">
              <a:defRPr b="1" spc="-25">
                <a:solidFill>
                  <a:srgbClr val="FFFFFF"/>
                </a:solidFill>
                <a:latin typeface="Segoe UI" pitchFamily="34" charset="0"/>
              </a:defRPr>
            </a:pPr>
            <a:r>
              <a:rPr lang="en-US" sz="2000" b="1" spc="-25" dirty="0">
                <a:solidFill>
                  <a:srgbClr val="F2F2F2"/>
                </a:solidFill>
                <a:latin typeface="Segoe UI" pitchFamily="34" charset="0"/>
              </a:rPr>
              <a:t>15%</a:t>
            </a:r>
          </a:p>
        </p:txBody>
      </p:sp>
      <p:sp>
        <p:nvSpPr>
          <p:cNvPr id="43" name="Rectangle 42">
            <a:extLst>
              <a:ext uri="{FF2B5EF4-FFF2-40B4-BE49-F238E27FC236}">
                <a16:creationId xmlns:a16="http://schemas.microsoft.com/office/drawing/2014/main" id="{5500F540-3415-22FB-2E43-4B835F964C36}"/>
              </a:ext>
            </a:extLst>
          </p:cNvPr>
          <p:cNvSpPr/>
          <p:nvPr/>
        </p:nvSpPr>
        <p:spPr>
          <a:xfrm>
            <a:off x="10081967" y="1764428"/>
            <a:ext cx="1669898" cy="49491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spc="-10" dirty="0">
                <a:solidFill>
                  <a:srgbClr val="FFFFFF"/>
                </a:solidFill>
                <a:latin typeface="Arial" pitchFamily="34" charset="0"/>
              </a:rPr>
              <a:t>$495M</a:t>
            </a:r>
          </a:p>
        </p:txBody>
      </p:sp>
      <p:sp>
        <p:nvSpPr>
          <p:cNvPr id="44" name="TextBox 43">
            <a:extLst>
              <a:ext uri="{FF2B5EF4-FFF2-40B4-BE49-F238E27FC236}">
                <a16:creationId xmlns:a16="http://schemas.microsoft.com/office/drawing/2014/main" id="{0EF193EC-FB4D-252A-CDAE-91A3B5E5D22E}"/>
              </a:ext>
            </a:extLst>
          </p:cNvPr>
          <p:cNvSpPr txBox="1"/>
          <p:nvPr/>
        </p:nvSpPr>
        <p:spPr>
          <a:xfrm>
            <a:off x="619134" y="2169517"/>
            <a:ext cx="11140625" cy="306467"/>
          </a:xfrm>
          <a:prstGeom prst="roundRect">
            <a:avLst/>
          </a:prstGeom>
          <a:solidFill>
            <a:srgbClr val="7A828D"/>
          </a:solidFill>
        </p:spPr>
        <p:txBody>
          <a:bodyPr wrap="square" lIns="91440" tIns="45720" rIns="91440" bIns="4572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u="none" strike="noStrike" kern="0" cap="none" spc="-10" normalizeH="0" baseline="0" noProof="0" dirty="0">
                <a:ln>
                  <a:noFill/>
                </a:ln>
                <a:solidFill>
                  <a:srgbClr val="1D1D1D"/>
                </a:solidFill>
                <a:effectLst/>
                <a:uLnTx/>
                <a:uFillTx/>
                <a:latin typeface="Segoe UI" pitchFamily="34" charset="0"/>
              </a:rPr>
              <a:t>CRITICAL ROLES @ EACH </a:t>
            </a:r>
            <a:r>
              <a:rPr lang="en-US" sz="1200" b="1" spc="-10" dirty="0">
                <a:solidFill>
                  <a:srgbClr val="1D1D1D"/>
                </a:solidFill>
                <a:latin typeface="Segoe UI" pitchFamily="34" charset="0"/>
              </a:rPr>
              <a:t>HOTSPOT</a:t>
            </a:r>
            <a:endParaRPr kumimoji="0" lang="en-GB" sz="1200" b="1" u="none" strike="noStrike" kern="0" cap="none" spc="-10" normalizeH="0" baseline="0" noProof="0" dirty="0">
              <a:ln>
                <a:noFill/>
              </a:ln>
              <a:solidFill>
                <a:srgbClr val="1D1D1D"/>
              </a:solidFill>
              <a:effectLst/>
              <a:uLnTx/>
              <a:uFillTx/>
              <a:latin typeface="Segoe UI" pitchFamily="34" charset="0"/>
            </a:endParaRPr>
          </a:p>
        </p:txBody>
      </p:sp>
      <p:graphicFrame>
        <p:nvGraphicFramePr>
          <p:cNvPr id="45" name="Table 44">
            <a:extLst>
              <a:ext uri="{FF2B5EF4-FFF2-40B4-BE49-F238E27FC236}">
                <a16:creationId xmlns:a16="http://schemas.microsoft.com/office/drawing/2014/main" id="{69337D03-7DF2-1BBD-34DE-90BFDA4A1768}"/>
              </a:ext>
            </a:extLst>
          </p:cNvPr>
          <p:cNvGraphicFramePr>
            <a:graphicFrameLocks noGrp="1"/>
          </p:cNvGraphicFramePr>
          <p:nvPr>
            <p:extLst>
              <p:ext uri="{D42A27DB-BD31-4B8C-83A1-F6EECF244321}">
                <p14:modId xmlns:p14="http://schemas.microsoft.com/office/powerpoint/2010/main" val="830546529"/>
              </p:ext>
            </p:extLst>
          </p:nvPr>
        </p:nvGraphicFramePr>
        <p:xfrm>
          <a:off x="608421" y="2527604"/>
          <a:ext cx="1728000" cy="2540845"/>
        </p:xfrm>
        <a:graphic>
          <a:graphicData uri="http://schemas.openxmlformats.org/drawingml/2006/table">
            <a:tbl>
              <a:tblPr/>
              <a:tblGrid>
                <a:gridCol w="936000">
                  <a:extLst>
                    <a:ext uri="{9D8B030D-6E8A-4147-A177-3AD203B41FA5}">
                      <a16:colId xmlns:a16="http://schemas.microsoft.com/office/drawing/2014/main" val="1769993756"/>
                    </a:ext>
                  </a:extLst>
                </a:gridCol>
                <a:gridCol w="261441">
                  <a:extLst>
                    <a:ext uri="{9D8B030D-6E8A-4147-A177-3AD203B41FA5}">
                      <a16:colId xmlns:a16="http://schemas.microsoft.com/office/drawing/2014/main" val="1181255485"/>
                    </a:ext>
                  </a:extLst>
                </a:gridCol>
                <a:gridCol w="530559">
                  <a:extLst>
                    <a:ext uri="{9D8B030D-6E8A-4147-A177-3AD203B41FA5}">
                      <a16:colId xmlns:a16="http://schemas.microsoft.com/office/drawing/2014/main" val="4171049878"/>
                    </a:ext>
                  </a:extLst>
                </a:gridCol>
              </a:tblGrid>
              <a:tr h="0">
                <a:tc>
                  <a:txBody>
                    <a:bodyPr/>
                    <a:lstStyle/>
                    <a:p>
                      <a:pPr algn="l"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CRITICAL ROLE</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VALUE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 ROLE VALUE </a:t>
                      </a:r>
                    </a:p>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(USD)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2505662647"/>
                  </a:ext>
                </a:extLst>
              </a:tr>
              <a:tr h="138699">
                <a:tc>
                  <a:txBody>
                    <a:bodyPr/>
                    <a:lstStyle/>
                    <a:p>
                      <a:pPr algn="l"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Chief Commercial Officer X</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683556057"/>
                  </a:ext>
                </a:extLst>
              </a:tr>
              <a:tr h="146857">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Chief Operations Officer X</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31058211"/>
                  </a:ext>
                </a:extLst>
              </a:tr>
              <a:tr h="198805">
                <a:tc>
                  <a:txBody>
                    <a:bodyPr/>
                    <a:lstStyle/>
                    <a:p>
                      <a:pPr algn="l" rtl="0" fontAlgn="b"/>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Head - Market  Intelligence</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99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419970704"/>
                  </a:ext>
                </a:extLst>
              </a:tr>
              <a:tr h="15909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1</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97397957"/>
                  </a:ext>
                </a:extLst>
              </a:tr>
              <a:tr h="138699">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15468497"/>
                  </a:ext>
                </a:extLst>
              </a:tr>
              <a:tr h="134619">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3</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50661333"/>
                  </a:ext>
                </a:extLst>
              </a:tr>
              <a:tr h="15909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Export X</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077357638"/>
                  </a:ext>
                </a:extLst>
              </a:tr>
              <a:tr h="138699">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Local X</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94211120"/>
                  </a:ext>
                </a:extLst>
              </a:tr>
              <a:tr h="242040">
                <a:tc>
                  <a:txBody>
                    <a:bodyPr/>
                    <a:lstStyle/>
                    <a:p>
                      <a:pPr marL="0" algn="l"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Strategy Lead X</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50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232903105"/>
                  </a:ext>
                </a:extLst>
              </a:tr>
              <a:tr h="138699">
                <a:tc>
                  <a:txBody>
                    <a:bodyPr/>
                    <a:lstStyle/>
                    <a:p>
                      <a:pPr algn="l" rtl="0"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Head of Integration</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206576866"/>
                  </a:ext>
                </a:extLst>
              </a:tr>
              <a:tr h="138699">
                <a:tc>
                  <a:txBody>
                    <a:bodyPr/>
                    <a:lstStyle/>
                    <a:p>
                      <a:pPr algn="l"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MD (acquired entity)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925779303"/>
                  </a:ext>
                </a:extLst>
              </a:tr>
              <a:tr h="76202">
                <a:tc>
                  <a:txBody>
                    <a:bodyPr/>
                    <a:lstStyle/>
                    <a:p>
                      <a:pPr marL="0" algn="l"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MD Y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4%</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40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58454393"/>
                  </a:ext>
                </a:extLst>
              </a:tr>
            </a:tbl>
          </a:graphicData>
        </a:graphic>
      </p:graphicFrame>
      <p:graphicFrame>
        <p:nvGraphicFramePr>
          <p:cNvPr id="46" name="Table 45">
            <a:extLst>
              <a:ext uri="{FF2B5EF4-FFF2-40B4-BE49-F238E27FC236}">
                <a16:creationId xmlns:a16="http://schemas.microsoft.com/office/drawing/2014/main" id="{40CB0382-2E68-0D95-5218-7FB08E5DB0B1}"/>
              </a:ext>
            </a:extLst>
          </p:cNvPr>
          <p:cNvGraphicFramePr>
            <a:graphicFrameLocks noGrp="1"/>
          </p:cNvGraphicFramePr>
          <p:nvPr>
            <p:extLst>
              <p:ext uri="{D42A27DB-BD31-4B8C-83A1-F6EECF244321}">
                <p14:modId xmlns:p14="http://schemas.microsoft.com/office/powerpoint/2010/main" val="2949142970"/>
              </p:ext>
            </p:extLst>
          </p:nvPr>
        </p:nvGraphicFramePr>
        <p:xfrm>
          <a:off x="2489372" y="2517352"/>
          <a:ext cx="1728000" cy="1777377"/>
        </p:xfrm>
        <a:graphic>
          <a:graphicData uri="http://schemas.openxmlformats.org/drawingml/2006/table">
            <a:tbl>
              <a:tblPr/>
              <a:tblGrid>
                <a:gridCol w="936000">
                  <a:extLst>
                    <a:ext uri="{9D8B030D-6E8A-4147-A177-3AD203B41FA5}">
                      <a16:colId xmlns:a16="http://schemas.microsoft.com/office/drawing/2014/main" val="1185073739"/>
                    </a:ext>
                  </a:extLst>
                </a:gridCol>
                <a:gridCol w="360000">
                  <a:extLst>
                    <a:ext uri="{9D8B030D-6E8A-4147-A177-3AD203B41FA5}">
                      <a16:colId xmlns:a16="http://schemas.microsoft.com/office/drawing/2014/main" val="3387738534"/>
                    </a:ext>
                  </a:extLst>
                </a:gridCol>
                <a:gridCol w="432000">
                  <a:extLst>
                    <a:ext uri="{9D8B030D-6E8A-4147-A177-3AD203B41FA5}">
                      <a16:colId xmlns:a16="http://schemas.microsoft.com/office/drawing/2014/main" val="3087892608"/>
                    </a:ext>
                  </a:extLst>
                </a:gridCol>
              </a:tblGrid>
              <a:tr h="422116">
                <a:tc>
                  <a:txBody>
                    <a:bodyPr/>
                    <a:lstStyle/>
                    <a:p>
                      <a:pPr algn="l"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CRITICAL ROLE</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VALUE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 ROLE VALUE </a:t>
                      </a:r>
                    </a:p>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(USD)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2579543699"/>
                  </a:ext>
                </a:extLst>
              </a:tr>
              <a:tr h="294398">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Chief Operating officer AA</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40%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264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059164679"/>
                  </a:ext>
                </a:extLst>
              </a:tr>
              <a:tr h="157993">
                <a:tc>
                  <a:txBody>
                    <a:bodyPr/>
                    <a:lstStyle/>
                    <a:p>
                      <a:pPr algn="l"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CEO AA</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98666557"/>
                  </a:ext>
                </a:extLst>
              </a:tr>
              <a:tr h="294398">
                <a:tc>
                  <a:txBody>
                    <a:bodyPr/>
                    <a:lstStyle/>
                    <a:p>
                      <a:pPr algn="l" rtl="0" fontAlgn="b"/>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Chief Commercial Officer AA</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15%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99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867612585"/>
                  </a:ext>
                </a:extLst>
              </a:tr>
              <a:tr h="149215">
                <a:tc>
                  <a:txBody>
                    <a:bodyPr/>
                    <a:lstStyle/>
                    <a:p>
                      <a:pPr marL="0" algn="l"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Head of Integration</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66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364983"/>
                  </a:ext>
                </a:extLst>
              </a:tr>
              <a:tr h="149215">
                <a:tc>
                  <a:txBody>
                    <a:bodyPr/>
                    <a:lstStyle/>
                    <a:p>
                      <a:pPr marL="0" algn="l"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MD (acquired entity)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66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770203580"/>
                  </a:ext>
                </a:extLst>
              </a:tr>
              <a:tr h="294398">
                <a:tc>
                  <a:txBody>
                    <a:bodyPr/>
                    <a:lstStyle/>
                    <a:p>
                      <a:pPr marL="0" algn="l"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Head - Market  Intelligence</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ctr" defTabSz="914400" rtl="0" eaLnBrk="1" fontAlgn="b" latinLnBrk="0" hangingPunct="1"/>
                      <a:r>
                        <a:rPr lang="en-US" sz="800" b="0" i="0" u="none" strike="noStrike" kern="1200" dirty="0">
                          <a:solidFill>
                            <a:srgbClr val="00C27A"/>
                          </a:solidFill>
                          <a:effectLst/>
                          <a:latin typeface="Arial" pitchFamily="34" charset="0"/>
                          <a:ea typeface="Lato" panose="020F0502020204030203" pitchFamily="34" charset="0"/>
                          <a:cs typeface="Lato" panose="020F0502020204030203" pitchFamily="34" charset="0"/>
                        </a:rPr>
                        <a:t>33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89636566"/>
                  </a:ext>
                </a:extLst>
              </a:tr>
            </a:tbl>
          </a:graphicData>
        </a:graphic>
      </p:graphicFrame>
      <p:graphicFrame>
        <p:nvGraphicFramePr>
          <p:cNvPr id="47" name="Table 46">
            <a:extLst>
              <a:ext uri="{FF2B5EF4-FFF2-40B4-BE49-F238E27FC236}">
                <a16:creationId xmlns:a16="http://schemas.microsoft.com/office/drawing/2014/main" id="{F84B83CC-CBE1-F743-C613-C57D610ADBD8}"/>
              </a:ext>
            </a:extLst>
          </p:cNvPr>
          <p:cNvGraphicFramePr>
            <a:graphicFrameLocks noGrp="1"/>
          </p:cNvGraphicFramePr>
          <p:nvPr>
            <p:extLst>
              <p:ext uri="{D42A27DB-BD31-4B8C-83A1-F6EECF244321}">
                <p14:modId xmlns:p14="http://schemas.microsoft.com/office/powerpoint/2010/main" val="1416557224"/>
              </p:ext>
            </p:extLst>
          </p:nvPr>
        </p:nvGraphicFramePr>
        <p:xfrm>
          <a:off x="4377509" y="2520897"/>
          <a:ext cx="1728000" cy="1552576"/>
        </p:xfrm>
        <a:graphic>
          <a:graphicData uri="http://schemas.openxmlformats.org/drawingml/2006/table">
            <a:tbl>
              <a:tblPr/>
              <a:tblGrid>
                <a:gridCol w="1035153">
                  <a:extLst>
                    <a:ext uri="{9D8B030D-6E8A-4147-A177-3AD203B41FA5}">
                      <a16:colId xmlns:a16="http://schemas.microsoft.com/office/drawing/2014/main" val="3619773331"/>
                    </a:ext>
                  </a:extLst>
                </a:gridCol>
                <a:gridCol w="260847">
                  <a:extLst>
                    <a:ext uri="{9D8B030D-6E8A-4147-A177-3AD203B41FA5}">
                      <a16:colId xmlns:a16="http://schemas.microsoft.com/office/drawing/2014/main" val="3533799037"/>
                    </a:ext>
                  </a:extLst>
                </a:gridCol>
                <a:gridCol w="432000">
                  <a:extLst>
                    <a:ext uri="{9D8B030D-6E8A-4147-A177-3AD203B41FA5}">
                      <a16:colId xmlns:a16="http://schemas.microsoft.com/office/drawing/2014/main" val="1795593249"/>
                    </a:ext>
                  </a:extLst>
                </a:gridCol>
              </a:tblGrid>
              <a:tr h="159124">
                <a:tc>
                  <a:txBody>
                    <a:bodyPr/>
                    <a:lstStyle/>
                    <a:p>
                      <a:pPr algn="l"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CRITICAL ROLE</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VALUE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 ROLE VALUE </a:t>
                      </a:r>
                    </a:p>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(USD)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4203797260"/>
                  </a:ext>
                </a:extLst>
              </a:tr>
              <a:tr h="159124">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AgTech</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30%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720982108"/>
                  </a:ext>
                </a:extLst>
              </a:tr>
              <a:tr h="159124">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Chief Farming Officer</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165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78004048"/>
                  </a:ext>
                </a:extLst>
              </a:tr>
              <a:tr h="168484">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Strategic Reserves</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930703275"/>
                  </a:ext>
                </a:extLst>
              </a:tr>
              <a:tr h="159124">
                <a:tc>
                  <a:txBody>
                    <a:bodyPr/>
                    <a:lstStyle/>
                    <a:p>
                      <a:pPr algn="l" rtl="0" fontAlgn="ctr"/>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Head of Innovation (Distr/Food Svcs)</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15%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99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79873330"/>
                  </a:ext>
                </a:extLst>
              </a:tr>
              <a:tr h="308888">
                <a:tc>
                  <a:txBody>
                    <a:bodyPr/>
                    <a:lstStyle/>
                    <a:p>
                      <a:pPr algn="l" rtl="0" fontAlgn="b"/>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Business Development Head (R&amp;D)</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 66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4084081352"/>
                  </a:ext>
                </a:extLst>
              </a:tr>
            </a:tbl>
          </a:graphicData>
        </a:graphic>
      </p:graphicFrame>
      <p:graphicFrame>
        <p:nvGraphicFramePr>
          <p:cNvPr id="48" name="Table 47">
            <a:extLst>
              <a:ext uri="{FF2B5EF4-FFF2-40B4-BE49-F238E27FC236}">
                <a16:creationId xmlns:a16="http://schemas.microsoft.com/office/drawing/2014/main" id="{0F9787CD-A225-BD2D-1B43-F1446FBBBE3E}"/>
              </a:ext>
            </a:extLst>
          </p:cNvPr>
          <p:cNvGraphicFramePr>
            <a:graphicFrameLocks noGrp="1"/>
          </p:cNvGraphicFramePr>
          <p:nvPr>
            <p:extLst>
              <p:ext uri="{D42A27DB-BD31-4B8C-83A1-F6EECF244321}">
                <p14:modId xmlns:p14="http://schemas.microsoft.com/office/powerpoint/2010/main" val="1112657308"/>
              </p:ext>
            </p:extLst>
          </p:nvPr>
        </p:nvGraphicFramePr>
        <p:xfrm>
          <a:off x="6262053" y="2524059"/>
          <a:ext cx="1728000" cy="1421697"/>
        </p:xfrm>
        <a:graphic>
          <a:graphicData uri="http://schemas.openxmlformats.org/drawingml/2006/table">
            <a:tbl>
              <a:tblPr/>
              <a:tblGrid>
                <a:gridCol w="833564">
                  <a:extLst>
                    <a:ext uri="{9D8B030D-6E8A-4147-A177-3AD203B41FA5}">
                      <a16:colId xmlns:a16="http://schemas.microsoft.com/office/drawing/2014/main" val="691513741"/>
                    </a:ext>
                  </a:extLst>
                </a:gridCol>
                <a:gridCol w="334297">
                  <a:extLst>
                    <a:ext uri="{9D8B030D-6E8A-4147-A177-3AD203B41FA5}">
                      <a16:colId xmlns:a16="http://schemas.microsoft.com/office/drawing/2014/main" val="1047493885"/>
                    </a:ext>
                  </a:extLst>
                </a:gridCol>
                <a:gridCol w="560139">
                  <a:extLst>
                    <a:ext uri="{9D8B030D-6E8A-4147-A177-3AD203B41FA5}">
                      <a16:colId xmlns:a16="http://schemas.microsoft.com/office/drawing/2014/main" val="2728748207"/>
                    </a:ext>
                  </a:extLst>
                </a:gridCol>
              </a:tblGrid>
              <a:tr h="148390">
                <a:tc>
                  <a:txBody>
                    <a:bodyPr/>
                    <a:lstStyle/>
                    <a:p>
                      <a:pPr algn="l"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CRITICAL ROLE</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VALUE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 ROLE VALUE </a:t>
                      </a:r>
                    </a:p>
                    <a:p>
                      <a:pPr algn="ctr" fontAlgn="b"/>
                      <a:r>
                        <a:rPr lang="en-US" sz="800" b="1" i="0" u="none" strike="noStrike" dirty="0">
                          <a:solidFill>
                            <a:srgbClr val="FFFFFF"/>
                          </a:solidFill>
                          <a:effectLst/>
                          <a:latin typeface="Arial" pitchFamily="34" charset="0"/>
                          <a:ea typeface="Lato" panose="020F0502020204030203" pitchFamily="34" charset="0"/>
                          <a:cs typeface="Lato" panose="020F0502020204030203" pitchFamily="34" charset="0"/>
                        </a:rPr>
                        <a:t>(USD)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3013936349"/>
                  </a:ext>
                </a:extLst>
              </a:tr>
              <a:tr h="15766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of M&amp;A</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40%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3861918"/>
                  </a:ext>
                </a:extLst>
              </a:tr>
              <a:tr h="166939">
                <a:tc>
                  <a:txBody>
                    <a:bodyPr/>
                    <a:lstStyle/>
                    <a:p>
                      <a:pPr algn="l" rtl="0" fontAlgn="ctr"/>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Head of Integration</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25%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00C27A"/>
                          </a:solidFill>
                          <a:effectLst/>
                          <a:latin typeface="Arial" pitchFamily="34" charset="0"/>
                          <a:ea typeface="Lato" panose="020F0502020204030203" pitchFamily="34" charset="0"/>
                          <a:cs typeface="Lato" panose="020F0502020204030203" pitchFamily="34" charset="0"/>
                        </a:rPr>
                        <a:t>83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03568642"/>
                  </a:ext>
                </a:extLst>
              </a:tr>
              <a:tr h="15766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CEO AA</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971092670"/>
                  </a:ext>
                </a:extLst>
              </a:tr>
              <a:tr h="157665">
                <a:tc>
                  <a:txBody>
                    <a:bodyPr/>
                    <a:lstStyle/>
                    <a:p>
                      <a:pPr algn="l"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Local – X</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33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462351984"/>
                  </a:ext>
                </a:extLst>
              </a:tr>
              <a:tr h="267102">
                <a:tc>
                  <a:txBody>
                    <a:bodyPr/>
                    <a:lstStyle/>
                    <a:p>
                      <a:pPr algn="l" rtl="0"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Strategy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33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793447971"/>
                  </a:ext>
                </a:extLst>
              </a:tr>
            </a:tbl>
          </a:graphicData>
        </a:graphic>
      </p:graphicFrame>
      <p:graphicFrame>
        <p:nvGraphicFramePr>
          <p:cNvPr id="49" name="Table 48">
            <a:extLst>
              <a:ext uri="{FF2B5EF4-FFF2-40B4-BE49-F238E27FC236}">
                <a16:creationId xmlns:a16="http://schemas.microsoft.com/office/drawing/2014/main" id="{2FA273E7-6AA3-4B70-6053-768A052B5E9A}"/>
              </a:ext>
            </a:extLst>
          </p:cNvPr>
          <p:cNvGraphicFramePr>
            <a:graphicFrameLocks noGrp="1"/>
          </p:cNvGraphicFramePr>
          <p:nvPr>
            <p:extLst>
              <p:ext uri="{D42A27DB-BD31-4B8C-83A1-F6EECF244321}">
                <p14:modId xmlns:p14="http://schemas.microsoft.com/office/powerpoint/2010/main" val="3063873678"/>
              </p:ext>
            </p:extLst>
          </p:nvPr>
        </p:nvGraphicFramePr>
        <p:xfrm>
          <a:off x="8146597" y="2524059"/>
          <a:ext cx="1728000" cy="2175120"/>
        </p:xfrm>
        <a:graphic>
          <a:graphicData uri="http://schemas.openxmlformats.org/drawingml/2006/table">
            <a:tbl>
              <a:tblPr/>
              <a:tblGrid>
                <a:gridCol w="936000">
                  <a:extLst>
                    <a:ext uri="{9D8B030D-6E8A-4147-A177-3AD203B41FA5}">
                      <a16:colId xmlns:a16="http://schemas.microsoft.com/office/drawing/2014/main" val="2008388853"/>
                    </a:ext>
                  </a:extLst>
                </a:gridCol>
                <a:gridCol w="360000">
                  <a:extLst>
                    <a:ext uri="{9D8B030D-6E8A-4147-A177-3AD203B41FA5}">
                      <a16:colId xmlns:a16="http://schemas.microsoft.com/office/drawing/2014/main" val="3799900447"/>
                    </a:ext>
                  </a:extLst>
                </a:gridCol>
                <a:gridCol w="432000">
                  <a:extLst>
                    <a:ext uri="{9D8B030D-6E8A-4147-A177-3AD203B41FA5}">
                      <a16:colId xmlns:a16="http://schemas.microsoft.com/office/drawing/2014/main" val="2807346443"/>
                    </a:ext>
                  </a:extLst>
                </a:gridCol>
              </a:tblGrid>
              <a:tr h="153864">
                <a:tc>
                  <a:txBody>
                    <a:bodyPr/>
                    <a:lstStyle/>
                    <a:p>
                      <a:pPr algn="l" fontAlgn="b"/>
                      <a:r>
                        <a:rPr lang="en-US" sz="600" b="1" i="0" u="none" strike="noStrike" dirty="0">
                          <a:solidFill>
                            <a:srgbClr val="FFFFFF"/>
                          </a:solidFill>
                          <a:effectLst/>
                          <a:latin typeface="Arial" pitchFamily="34" charset="0"/>
                        </a:rPr>
                        <a:t>CRITICAL ROLE</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600" b="1" i="0" u="none" strike="noStrike" dirty="0">
                          <a:solidFill>
                            <a:srgbClr val="FFFFFF"/>
                          </a:solidFill>
                          <a:effectLst/>
                          <a:latin typeface="Arial" pitchFamily="34" charset="0"/>
                        </a:rPr>
                        <a:t>VALUE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600" b="1" i="0" u="none" strike="noStrike" dirty="0">
                          <a:solidFill>
                            <a:srgbClr val="FFFFFF"/>
                          </a:solidFill>
                          <a:effectLst/>
                          <a:latin typeface="Arial" pitchFamily="34" charset="0"/>
                        </a:rPr>
                        <a:t> ROLE VALUE </a:t>
                      </a:r>
                    </a:p>
                    <a:p>
                      <a:pPr algn="ctr" fontAlgn="b"/>
                      <a:r>
                        <a:rPr lang="en-US" sz="600" b="1" i="0" u="none" strike="noStrike" dirty="0">
                          <a:solidFill>
                            <a:srgbClr val="FFFFFF"/>
                          </a:solidFill>
                          <a:effectLst/>
                          <a:latin typeface="Arial" pitchFamily="34" charset="0"/>
                        </a:rPr>
                        <a:t>(USD)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2482113740"/>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787933770"/>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48172198"/>
                  </a:ext>
                </a:extLst>
              </a:tr>
              <a:tr h="173097">
                <a:tc>
                  <a:txBody>
                    <a:bodyPr/>
                    <a:lstStyle/>
                    <a:p>
                      <a:pPr algn="l" rtl="0" fontAlgn="b"/>
                      <a:endParaRPr lang="en-US" sz="600" b="0" i="0" u="none" strike="noStrike" dirty="0">
                        <a:solidFill>
                          <a:srgbClr val="1D1D1D"/>
                        </a:solidFill>
                        <a:effectLst/>
                        <a:latin typeface="Arial" pitchFamily="34" charset="0"/>
                      </a:endParaRPr>
                    </a:p>
                  </a:txBody>
                  <a:tcPr marL="45720" marR="4572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264725088"/>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83185301"/>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335351688"/>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1045207"/>
                  </a:ext>
                </a:extLst>
              </a:tr>
              <a:tr h="163480">
                <a:tc>
                  <a:txBody>
                    <a:bodyPr/>
                    <a:lstStyle/>
                    <a:p>
                      <a:pPr algn="l"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189082384"/>
                  </a:ext>
                </a:extLst>
              </a:tr>
              <a:tr h="163480">
                <a:tc>
                  <a:txBody>
                    <a:bodyPr/>
                    <a:lstStyle/>
                    <a:p>
                      <a:pPr algn="l"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1170619"/>
                  </a:ext>
                </a:extLst>
              </a:tr>
              <a:tr h="163480">
                <a:tc>
                  <a:txBody>
                    <a:bodyPr/>
                    <a:lstStyle/>
                    <a:p>
                      <a:pPr algn="l"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rtl="0"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endParaRPr lang="en-US" sz="600" b="0" i="0" u="none" strike="noStrike" dirty="0">
                        <a:solidFill>
                          <a:srgbClr val="1D1D1D"/>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1709902184"/>
                  </a:ext>
                </a:extLst>
              </a:tr>
              <a:tr h="163480">
                <a:tc>
                  <a:txBody>
                    <a:bodyPr/>
                    <a:lstStyle/>
                    <a:p>
                      <a:pPr algn="l" fontAlgn="ctr"/>
                      <a:endParaRPr lang="en-US" sz="600" b="1" i="0" u="none" strike="noStrike" dirty="0">
                        <a:solidFill>
                          <a:srgbClr val="3B3B3B"/>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endParaRPr lang="en-US" sz="600" b="1" i="0" u="none" strike="noStrike" dirty="0">
                        <a:solidFill>
                          <a:srgbClr val="3B3B3B"/>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fontAlgn="ctr"/>
                      <a:endParaRPr lang="en-US" sz="600" b="1" i="0" u="none" strike="noStrike" dirty="0">
                        <a:solidFill>
                          <a:srgbClr val="585858"/>
                        </a:solidFill>
                        <a:effectLst/>
                        <a:latin typeface="Arial" pitchFamily="34" charset="0"/>
                      </a:endParaRPr>
                    </a:p>
                  </a:txBody>
                  <a:tcPr marL="45720" marR="4572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965296016"/>
                  </a:ext>
                </a:extLst>
              </a:tr>
            </a:tbl>
          </a:graphicData>
        </a:graphic>
      </p:graphicFrame>
      <p:graphicFrame>
        <p:nvGraphicFramePr>
          <p:cNvPr id="50" name="Table 49">
            <a:extLst>
              <a:ext uri="{FF2B5EF4-FFF2-40B4-BE49-F238E27FC236}">
                <a16:creationId xmlns:a16="http://schemas.microsoft.com/office/drawing/2014/main" id="{903EC889-1F99-19EB-9DDE-8D9FE2147C88}"/>
              </a:ext>
            </a:extLst>
          </p:cNvPr>
          <p:cNvGraphicFramePr>
            <a:graphicFrameLocks noGrp="1"/>
          </p:cNvGraphicFramePr>
          <p:nvPr>
            <p:extLst>
              <p:ext uri="{D42A27DB-BD31-4B8C-83A1-F6EECF244321}">
                <p14:modId xmlns:p14="http://schemas.microsoft.com/office/powerpoint/2010/main" val="3750592752"/>
              </p:ext>
            </p:extLst>
          </p:nvPr>
        </p:nvGraphicFramePr>
        <p:xfrm>
          <a:off x="10031141" y="2527604"/>
          <a:ext cx="1728000" cy="2289122"/>
        </p:xfrm>
        <a:graphic>
          <a:graphicData uri="http://schemas.openxmlformats.org/drawingml/2006/table">
            <a:tbl>
              <a:tblPr/>
              <a:tblGrid>
                <a:gridCol w="936000">
                  <a:extLst>
                    <a:ext uri="{9D8B030D-6E8A-4147-A177-3AD203B41FA5}">
                      <a16:colId xmlns:a16="http://schemas.microsoft.com/office/drawing/2014/main" val="1004205274"/>
                    </a:ext>
                  </a:extLst>
                </a:gridCol>
                <a:gridCol w="360000">
                  <a:extLst>
                    <a:ext uri="{9D8B030D-6E8A-4147-A177-3AD203B41FA5}">
                      <a16:colId xmlns:a16="http://schemas.microsoft.com/office/drawing/2014/main" val="1216075518"/>
                    </a:ext>
                  </a:extLst>
                </a:gridCol>
                <a:gridCol w="432000">
                  <a:extLst>
                    <a:ext uri="{9D8B030D-6E8A-4147-A177-3AD203B41FA5}">
                      <a16:colId xmlns:a16="http://schemas.microsoft.com/office/drawing/2014/main" val="3887552197"/>
                    </a:ext>
                  </a:extLst>
                </a:gridCol>
              </a:tblGrid>
              <a:tr h="179065">
                <a:tc>
                  <a:txBody>
                    <a:bodyPr/>
                    <a:lstStyle/>
                    <a:p>
                      <a:pPr algn="l" fontAlgn="b"/>
                      <a:r>
                        <a:rPr lang="en-US" sz="600" b="1" i="0" u="none" strike="noStrike" dirty="0">
                          <a:solidFill>
                            <a:srgbClr val="FFFFFF"/>
                          </a:solidFill>
                          <a:effectLst/>
                          <a:latin typeface="Arial" pitchFamily="34" charset="0"/>
                        </a:rPr>
                        <a:t>CRITICAL ROLE</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600" b="1" i="0" u="none" strike="noStrike" dirty="0">
                          <a:solidFill>
                            <a:srgbClr val="FFFFFF"/>
                          </a:solidFill>
                          <a:effectLst/>
                          <a:latin typeface="Arial" pitchFamily="34" charset="0"/>
                        </a:rPr>
                        <a:t>VALUE (%)</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tc>
                  <a:txBody>
                    <a:bodyPr/>
                    <a:lstStyle/>
                    <a:p>
                      <a:pPr algn="ctr" fontAlgn="b"/>
                      <a:r>
                        <a:rPr lang="en-US" sz="600" b="1" i="0" u="none" strike="noStrike" dirty="0">
                          <a:solidFill>
                            <a:srgbClr val="FFFFFF"/>
                          </a:solidFill>
                          <a:effectLst/>
                          <a:latin typeface="Arial" pitchFamily="34" charset="0"/>
                        </a:rPr>
                        <a:t> ROLE VALUE </a:t>
                      </a:r>
                    </a:p>
                    <a:p>
                      <a:pPr algn="ctr" fontAlgn="b"/>
                      <a:r>
                        <a:rPr lang="en-US" sz="600" b="1" i="0" u="none" strike="noStrike" dirty="0">
                          <a:solidFill>
                            <a:srgbClr val="FFFFFF"/>
                          </a:solidFill>
                          <a:effectLst/>
                          <a:latin typeface="Arial" pitchFamily="34" charset="0"/>
                        </a:rPr>
                        <a:t>(USD)</a:t>
                      </a:r>
                    </a:p>
                  </a:txBody>
                  <a:tcPr marL="36000" marR="36000" marT="36000" marB="3600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3257219610"/>
                  </a:ext>
                </a:extLst>
              </a:tr>
              <a:tr h="175874">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FP&amp;A</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99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685616431"/>
                  </a:ext>
                </a:extLst>
              </a:tr>
              <a:tr h="17906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IT (Digital Foundations)</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74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18840644"/>
                  </a:ext>
                </a:extLst>
              </a:tr>
              <a:tr h="189598">
                <a:tc>
                  <a:txBody>
                    <a:bodyPr/>
                    <a:lstStyle/>
                    <a:p>
                      <a:pPr algn="l" fontAlgn="ctr"/>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VP Treasury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fontAlgn="ctr"/>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74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876434280"/>
                  </a:ext>
                </a:extLst>
              </a:tr>
              <a:tr h="179065">
                <a:tc>
                  <a:txBody>
                    <a:bodyPr/>
                    <a:lstStyle/>
                    <a:p>
                      <a:pPr algn="l"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Finance (cost control)</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66081252"/>
                  </a:ext>
                </a:extLst>
              </a:tr>
              <a:tr h="179065">
                <a:tc>
                  <a:txBody>
                    <a:bodyPr/>
                    <a:lstStyle/>
                    <a:p>
                      <a:pPr algn="l" rtl="0"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Governance (Finance)</a:t>
                      </a:r>
                    </a:p>
                  </a:txBody>
                  <a:tcPr marL="0" marR="0" marT="0"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670187858"/>
                  </a:ext>
                </a:extLst>
              </a:tr>
              <a:tr h="17906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ESG</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00460099"/>
                  </a:ext>
                </a:extLst>
              </a:tr>
              <a:tr h="17906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Talent Acquisition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10%</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50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391581013"/>
                  </a:ext>
                </a:extLst>
              </a:tr>
              <a:tr h="17906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Workforce Planning &amp; OD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25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07497915"/>
                  </a:ext>
                </a:extLst>
              </a:tr>
              <a:tr h="179065">
                <a:tc>
                  <a:txBody>
                    <a:bodyPr/>
                    <a:lstStyle/>
                    <a:p>
                      <a:pPr algn="l"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Strategy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ctr" rtl="0" fontAlgn="ctr"/>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25 </a:t>
                      </a: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rgbClr val="585858"/>
                      </a:solidFill>
                      <a:prstDash val="solid"/>
                      <a:round/>
                      <a:headEnd type="none" w="med" len="med"/>
                      <a:tailEnd type="none" w="med" len="med"/>
                    </a:lnT>
                    <a:lnB w="3175" cap="flat" cmpd="sng" algn="ctr">
                      <a:solidFill>
                        <a:srgbClr val="585858"/>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3834249607"/>
                  </a:ext>
                </a:extLst>
              </a:tr>
            </a:tbl>
          </a:graphicData>
        </a:graphic>
      </p:graphicFrame>
      <p:sp>
        <p:nvSpPr>
          <p:cNvPr id="51" name="Rectangle: Rounded Corners 50">
            <a:extLst>
              <a:ext uri="{FF2B5EF4-FFF2-40B4-BE49-F238E27FC236}">
                <a16:creationId xmlns:a16="http://schemas.microsoft.com/office/drawing/2014/main" id="{AE0630DF-51F6-F687-6AD1-BE8A32F47D75}"/>
              </a:ext>
            </a:extLst>
          </p:cNvPr>
          <p:cNvSpPr/>
          <p:nvPr/>
        </p:nvSpPr>
        <p:spPr>
          <a:xfrm>
            <a:off x="2724396" y="5195956"/>
            <a:ext cx="6918769" cy="1342521"/>
          </a:xfrm>
          <a:prstGeom prst="roundRect">
            <a:avLst>
              <a:gd name="adj" fmla="val 5743"/>
            </a:avLst>
          </a:prstGeom>
          <a:noFill/>
          <a:ln>
            <a:solidFill>
              <a:srgbClr val="00C27A"/>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sz="1000" b="1" kern="1200" spc="-10" dirty="0">
                <a:solidFill>
                  <a:srgbClr val="281A42"/>
                </a:solidFill>
                <a:latin typeface="Segoe UI" pitchFamily="34" charset="0"/>
              </a:rPr>
              <a:t> Emerging Hotspot Risks</a:t>
            </a:r>
          </a:p>
          <a:p>
            <a:pPr marL="108000" indent="-108000" algn="l" rtl="0">
              <a:spcBef>
                <a:spcPts val="600"/>
              </a:spcBef>
              <a:buFont typeface="Arial" panose="020B0604020202020204" pitchFamily="34" charset="0"/>
              <a:buChar char="•"/>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FOODSERVICE: Top 2 roles assessed as “Red” and 5 new roles. Significant value creation will come from identified X roles (~35-40%) which have not been assessed.</a:t>
            </a:r>
          </a:p>
          <a:p>
            <a:pPr marL="108000" indent="-108000" algn="l" rtl="0">
              <a:spcBef>
                <a:spcPts val="600"/>
              </a:spcBef>
              <a:buFont typeface="Arial" panose="020B0604020202020204" pitchFamily="34" charset="0"/>
              <a:buChar char="•"/>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F&amp;V: Top 2 roles require assessment, and the remaining roles are new</a:t>
            </a:r>
          </a:p>
          <a:p>
            <a:pPr marL="108000" indent="-108000" algn="l" rtl="0">
              <a:spcBef>
                <a:spcPts val="600"/>
              </a:spcBef>
              <a:buFont typeface="Arial" panose="020B0604020202020204" pitchFamily="34" charset="0"/>
              <a:buChar char="•"/>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FARMING &amp; FOOD: Top 2 roles are “amber” and the third role needs to be broadened. The remaining roles are new</a:t>
            </a:r>
          </a:p>
          <a:p>
            <a:pPr marL="108000" indent="-108000" algn="l" rtl="0">
              <a:spcBef>
                <a:spcPts val="600"/>
              </a:spcBef>
              <a:buFont typeface="Arial" panose="020B0604020202020204" pitchFamily="34" charset="0"/>
              <a:buChar char="•"/>
              <a:defRPr/>
            </a:pPr>
            <a:r>
              <a:rPr kumimoji="0" lang="en-GB" sz="1000" b="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INORGANIC GROWTH: Top role is “amber” and the second role is new and may be under-resourced</a:t>
            </a:r>
          </a:p>
        </p:txBody>
      </p:sp>
      <p:grpSp>
        <p:nvGrpSpPr>
          <p:cNvPr id="56" name="Group 55">
            <a:extLst>
              <a:ext uri="{FF2B5EF4-FFF2-40B4-BE49-F238E27FC236}">
                <a16:creationId xmlns:a16="http://schemas.microsoft.com/office/drawing/2014/main" id="{B03E3309-6383-1190-108B-3FE6434E9AF8}"/>
              </a:ext>
            </a:extLst>
          </p:cNvPr>
          <p:cNvGrpSpPr/>
          <p:nvPr/>
        </p:nvGrpSpPr>
        <p:grpSpPr>
          <a:xfrm>
            <a:off x="1073773" y="6046323"/>
            <a:ext cx="797296" cy="180000"/>
            <a:chOff x="5456868" y="6365965"/>
            <a:chExt cx="797296" cy="180000"/>
          </a:xfrm>
        </p:grpSpPr>
        <p:sp>
          <p:nvSpPr>
            <p:cNvPr id="57" name="TextBox 56">
              <a:extLst>
                <a:ext uri="{FF2B5EF4-FFF2-40B4-BE49-F238E27FC236}">
                  <a16:creationId xmlns:a16="http://schemas.microsoft.com/office/drawing/2014/main" id="{3BDDDA37-A172-1349-6EBB-CE712DC4A505}"/>
                </a:ext>
              </a:extLst>
            </p:cNvPr>
            <p:cNvSpPr txBox="1">
              <a:spLocks/>
            </p:cNvSpPr>
            <p:nvPr/>
          </p:nvSpPr>
          <p:spPr>
            <a:xfrm>
              <a:off x="5690868" y="6394409"/>
              <a:ext cx="563296" cy="123111"/>
            </a:xfrm>
            <a:prstGeom prst="rect">
              <a:avLst/>
            </a:prstGeom>
            <a:noFill/>
            <a:ln>
              <a:noFill/>
            </a:ln>
          </p:spPr>
          <p:style>
            <a:lnRef idx="1">
              <a:schemeClr val="accent5"/>
            </a:lnRef>
            <a:fillRef idx="3">
              <a:schemeClr val="accent5"/>
            </a:fillRef>
            <a:effectRef idx="2">
              <a:schemeClr val="accent5"/>
            </a:effectRef>
            <a:fontRef idx="minor">
              <a:schemeClr val="lt1"/>
            </a:fontRef>
          </p:style>
          <p:txBody>
            <a:bodyPr wrap="square" lIns="0" tIns="0" rIns="0" bIns="0" rtlCol="0" anchor="t">
              <a:spAutoFit/>
            </a:bodyPr>
            <a:lstStyle/>
            <a:p>
              <a:pPr marR="0" lvl="0" algn="l" defTabSz="914400" rtl="0" eaLnBrk="1" fontAlgn="auto" latinLnBrk="0" hangingPunct="1">
                <a:lnSpc>
                  <a:spcPct val="100000"/>
                </a:lnSpc>
                <a:spcBef>
                  <a:spcPts val="0"/>
                </a:spcBef>
                <a:spcAft>
                  <a:spcPts val="0"/>
                </a:spcAft>
                <a:buClrTx/>
                <a:buSzTx/>
                <a:tabLst/>
                <a:defRPr>
                  <a:solidFill>
                    <a:srgbClr val="1D1D1D"/>
                  </a:solidFill>
                </a:defRPr>
              </a:pPr>
              <a:r>
                <a:rPr kumimoji="0" lang="en-US" sz="800" u="none" strike="noStrike" kern="1200" cap="none" spc="-10" normalizeH="0" baseline="0" noProof="0" dirty="0">
                  <a:ln>
                    <a:noFill/>
                  </a:ln>
                  <a:solidFill>
                    <a:srgbClr val="1D1D1D"/>
                  </a:solidFill>
                  <a:effectLst/>
                  <a:uLnTx/>
                  <a:uFillTx/>
                  <a:latin typeface="Arial" pitchFamily="34" charset="0"/>
                  <a:ea typeface="+mn-ea"/>
                  <a:cs typeface="+mn-cs"/>
                </a:rPr>
                <a:t>New Role</a:t>
              </a:r>
            </a:p>
          </p:txBody>
        </p:sp>
        <p:sp>
          <p:nvSpPr>
            <p:cNvPr id="58" name="TextBox 57">
              <a:extLst>
                <a:ext uri="{FF2B5EF4-FFF2-40B4-BE49-F238E27FC236}">
                  <a16:creationId xmlns:a16="http://schemas.microsoft.com/office/drawing/2014/main" id="{3034AC10-0A54-964D-6192-F5F48845314A}"/>
                </a:ext>
              </a:extLst>
            </p:cNvPr>
            <p:cNvSpPr txBox="1">
              <a:spLocks/>
            </p:cNvSpPr>
            <p:nvPr/>
          </p:nvSpPr>
          <p:spPr>
            <a:xfrm>
              <a:off x="5456868" y="6365965"/>
              <a:ext cx="180000" cy="180000"/>
            </a:xfrm>
            <a:prstGeom prst="rect">
              <a:avLst/>
            </a:prstGeom>
            <a:solidFill>
              <a:srgbClr val="60BDBC">
                <a:alpha val="50000"/>
              </a:srgbClr>
            </a:solidFill>
            <a:ln>
              <a:noFill/>
            </a:ln>
          </p:spPr>
          <p:style>
            <a:lnRef idx="1">
              <a:schemeClr val="accent5"/>
            </a:lnRef>
            <a:fillRef idx="3">
              <a:schemeClr val="accent5"/>
            </a:fillRef>
            <a:effectRef idx="2">
              <a:schemeClr val="accent5"/>
            </a:effectRef>
            <a:fontRef idx="minor">
              <a:schemeClr val="lt1"/>
            </a:fontRef>
          </p:style>
          <p:txBody>
            <a:bodyPr wrap="square" lIns="72000" tIns="72000" rIns="72000" bIns="72000" rtlCol="0" anchor="t">
              <a:spAutoFit/>
            </a:bodyPr>
            <a:lstStyle/>
            <a:p>
              <a:pPr marR="0" lvl="0" algn="l" defTabSz="914400" rtl="0" eaLnBrk="1" fontAlgn="auto" latinLnBrk="0" hangingPunct="1">
                <a:lnSpc>
                  <a:spcPct val="100000"/>
                </a:lnSpc>
                <a:spcBef>
                  <a:spcPts val="0"/>
                </a:spcBef>
                <a:spcAft>
                  <a:spcPts val="0"/>
                </a:spcAft>
                <a:buClrTx/>
                <a:buSzTx/>
                <a:tabLst/>
                <a:defRPr/>
              </a:pPr>
              <a:endParaRPr kumimoji="0" lang="en-US" sz="800" u="none" strike="noStrike" kern="1200" cap="none" spc="-10" normalizeH="0" baseline="0" noProof="0" dirty="0">
                <a:ln>
                  <a:noFill/>
                </a:ln>
                <a:solidFill>
                  <a:srgbClr val="585858"/>
                </a:solidFill>
                <a:effectLst/>
                <a:uLnTx/>
                <a:uFillTx/>
                <a:latin typeface="Arial" pitchFamily="34" charset="0"/>
                <a:ea typeface="+mn-ea"/>
                <a:cs typeface="+mn-cs"/>
              </a:endParaRPr>
            </a:p>
          </p:txBody>
        </p:sp>
      </p:grpSp>
      <p:sp>
        <p:nvSpPr>
          <p:cNvPr id="14" name="TextBox 13">
            <a:extLst>
              <a:ext uri="{FF2B5EF4-FFF2-40B4-BE49-F238E27FC236}">
                <a16:creationId xmlns:a16="http://schemas.microsoft.com/office/drawing/2014/main" id="{8CAE9A79-F65A-C253-268E-AE1C16A81D3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59"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B5CEA815-6599-4ACE-A6F1-84C171C068D4}" type="slidenum">
              <a:t>26</a:t>
            </a:fld>
            <a:endParaRPr lang="en-US"/>
          </a:p>
        </p:txBody>
      </p:sp>
    </p:spTree>
    <p:extLst>
      <p:ext uri="{BB962C8B-B14F-4D97-AF65-F5344CB8AC3E}">
        <p14:creationId xmlns:p14="http://schemas.microsoft.com/office/powerpoint/2010/main" val="3093065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8740B-2211-00B5-EBBE-FDB81FC25D9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826BFDF-8CCB-F674-76A4-3E937B00AE83}"/>
              </a:ext>
            </a:extLst>
          </p:cNvPr>
          <p:cNvSpPr>
            <a:spLocks noGrp="1"/>
          </p:cNvSpPr>
          <p:nvPr>
            <p:ph type="title" sz="quarter"/>
          </p:nvPr>
        </p:nvSpPr>
        <p:spPr/>
        <p:txBody>
          <a:bodyPr/>
          <a:lstStyle/>
          <a:p>
            <a:pPr marL="0" marR="0" lvl="0" indent="0" algn="l" defTabSz="914332" rtl="0" eaLnBrk="1" fontAlgn="auto" latinLnBrk="0" hangingPunct="1">
              <a:lnSpc>
                <a:spcPct val="100000"/>
              </a:lnSpc>
              <a:spcBef>
                <a:spcPts val="0"/>
              </a:spcBef>
              <a:spcAft>
                <a:spcPts val="0"/>
              </a:spcAft>
              <a:tabLst/>
              <a:defRPr b="1" spc="-25">
                <a:latin typeface="Segoe UI" pitchFamily="34" charset="0"/>
              </a:defRPr>
            </a:pPr>
            <a:r>
              <a:rPr kumimoji="0" lang="en-GB" i="0" u="none" strike="noStrike" kern="1200" cap="none" normalizeH="0" baseline="0" noProof="0" dirty="0">
                <a:ln>
                  <a:noFill/>
                </a:ln>
                <a:solidFill>
                  <a:srgbClr val="765FFF"/>
                </a:solidFill>
                <a:effectLst/>
                <a:uLnTx/>
                <a:uFillTx/>
                <a:latin typeface="+mn-lt"/>
                <a:ea typeface="Lato"/>
                <a:cs typeface="Arial" panose="020B0604020202020204" pitchFamily="34" charset="0"/>
              </a:rPr>
              <a:t>Value Ranked List </a:t>
            </a:r>
            <a:r>
              <a:rPr kumimoji="0" lang="en-GB" i="0" u="none" strike="noStrike" kern="1200" cap="none" normalizeH="0" baseline="0" noProof="0" dirty="0">
                <a:ln>
                  <a:noFill/>
                </a:ln>
                <a:effectLst/>
                <a:uLnTx/>
                <a:uFillTx/>
                <a:latin typeface="+mn-lt"/>
                <a:ea typeface="Lato"/>
                <a:cs typeface="Arial" panose="020B0604020202020204" pitchFamily="34" charset="0"/>
              </a:rPr>
              <a:t>of Critical Roles</a:t>
            </a:r>
          </a:p>
        </p:txBody>
      </p:sp>
      <p:sp>
        <p:nvSpPr>
          <p:cNvPr id="89" name="Title 2">
            <a:extLst>
              <a:ext uri="{FF2B5EF4-FFF2-40B4-BE49-F238E27FC236}">
                <a16:creationId xmlns:a16="http://schemas.microsoft.com/office/drawing/2014/main" id="{A7F28281-928D-AF94-F7A1-8083B7161C1C}"/>
              </a:ext>
            </a:extLst>
          </p:cNvPr>
          <p:cNvSpPr txBox="1">
            <a:spLocks/>
          </p:cNvSpPr>
          <p:nvPr/>
        </p:nvSpPr>
        <p:spPr>
          <a:xfrm>
            <a:off x="5061362" y="1588564"/>
            <a:ext cx="3913336" cy="184666"/>
          </a:xfrm>
          <a:prstGeom prst="rect">
            <a:avLst/>
          </a:prstGeom>
          <a:noFill/>
        </p:spPr>
        <p:txBody>
          <a:bodyPr vert="horz" wrap="square" lIns="0" tIns="0" rIns="0" bIns="0" rtlCol="0" anchor="ctr">
            <a:spAutoFit/>
          </a:bodyPr>
          <a:lstStyle>
            <a:lvl1pPr algn="ct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dirty="0">
                <a:ln>
                  <a:noFill/>
                </a:ln>
                <a:solidFill>
                  <a:srgbClr val="7A828D"/>
                </a:solidFill>
                <a:effectLst/>
                <a:uLnTx/>
                <a:uFillTx/>
                <a:latin typeface="Segoe UI" pitchFamily="34" charset="0"/>
                <a:ea typeface="+mj-ea"/>
                <a:cs typeface="Lato Light" panose="020F0402020204030203" pitchFamily="34" charset="0"/>
              </a:rPr>
              <a:t> BOTTOM </a:t>
            </a:r>
            <a:r>
              <a:rPr lang="en-US" sz="1200" b="1" spc="-10" dirty="0">
                <a:solidFill>
                  <a:srgbClr val="7A828D"/>
                </a:solidFill>
                <a:latin typeface="Segoe UI" pitchFamily="34" charset="0"/>
              </a:rPr>
              <a:t>15</a:t>
            </a:r>
            <a:r>
              <a:rPr kumimoji="0" lang="en-US" sz="1200" b="1" i="0" u="none" strike="noStrike" kern="0" cap="none" spc="-10" normalizeH="0" baseline="0" noProof="0" dirty="0">
                <a:ln>
                  <a:noFill/>
                </a:ln>
                <a:solidFill>
                  <a:srgbClr val="7A828D"/>
                </a:solidFill>
                <a:effectLst/>
                <a:uLnTx/>
                <a:uFillTx/>
                <a:latin typeface="Segoe UI" pitchFamily="34" charset="0"/>
                <a:ea typeface="+mj-ea"/>
                <a:cs typeface="Lato Light" panose="020F0402020204030203" pitchFamily="34" charset="0"/>
              </a:rPr>
              <a:t> CRITICAL ROLES DRIVE 27% VALUE </a:t>
            </a:r>
          </a:p>
        </p:txBody>
      </p:sp>
      <p:sp>
        <p:nvSpPr>
          <p:cNvPr id="12" name="Title 2">
            <a:extLst>
              <a:ext uri="{FF2B5EF4-FFF2-40B4-BE49-F238E27FC236}">
                <a16:creationId xmlns:a16="http://schemas.microsoft.com/office/drawing/2014/main" id="{5D6651F6-5066-9639-C833-286F54B98B78}"/>
              </a:ext>
            </a:extLst>
          </p:cNvPr>
          <p:cNvSpPr txBox="1">
            <a:spLocks/>
          </p:cNvSpPr>
          <p:nvPr/>
        </p:nvSpPr>
        <p:spPr>
          <a:xfrm>
            <a:off x="638422" y="1588564"/>
            <a:ext cx="3480573" cy="184666"/>
          </a:xfrm>
          <a:prstGeom prst="rect">
            <a:avLst/>
          </a:prstGeom>
          <a:noFill/>
        </p:spPr>
        <p:txBody>
          <a:bodyPr vert="horz" lIns="0" tIns="0" rIns="0" bIns="0" rtlCol="0" anchor="ctr">
            <a:spAutoFit/>
          </a:bodyPr>
          <a:lstStyle>
            <a:lvl1pPr algn="ct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dirty="0">
                <a:ln>
                  <a:noFill/>
                </a:ln>
                <a:solidFill>
                  <a:srgbClr val="7A828D"/>
                </a:solidFill>
                <a:effectLst/>
                <a:uLnTx/>
                <a:uFillTx/>
                <a:latin typeface="Segoe UI" pitchFamily="34" charset="0"/>
                <a:ea typeface="+mj-ea"/>
                <a:cs typeface="Lato Light" panose="020F0402020204030203" pitchFamily="34" charset="0"/>
              </a:rPr>
              <a:t> TOP </a:t>
            </a:r>
            <a:r>
              <a:rPr lang="en-US" sz="1200" b="1" spc="-10" dirty="0">
                <a:solidFill>
                  <a:srgbClr val="7A828D"/>
                </a:solidFill>
                <a:latin typeface="Segoe UI" pitchFamily="34" charset="0"/>
              </a:rPr>
              <a:t>15</a:t>
            </a:r>
            <a:r>
              <a:rPr kumimoji="0" lang="en-US" sz="1200" b="1" i="0" u="none" strike="noStrike" kern="0" cap="none" spc="-10" normalizeH="0" baseline="0" noProof="0" dirty="0">
                <a:ln>
                  <a:noFill/>
                </a:ln>
                <a:solidFill>
                  <a:srgbClr val="7A828D"/>
                </a:solidFill>
                <a:effectLst/>
                <a:uLnTx/>
                <a:uFillTx/>
                <a:latin typeface="Segoe UI" pitchFamily="34" charset="0"/>
                <a:ea typeface="+mj-ea"/>
                <a:cs typeface="Lato Light" panose="020F0402020204030203" pitchFamily="34" charset="0"/>
              </a:rPr>
              <a:t> ROLES DRIVE 73% OF THE VALUE</a:t>
            </a:r>
          </a:p>
        </p:txBody>
      </p:sp>
      <p:sp>
        <p:nvSpPr>
          <p:cNvPr id="19" name="Rectangle 18">
            <a:extLst>
              <a:ext uri="{FF2B5EF4-FFF2-40B4-BE49-F238E27FC236}">
                <a16:creationId xmlns:a16="http://schemas.microsoft.com/office/drawing/2014/main" id="{C495EC61-970D-C586-5A0A-6397DF90D635}"/>
              </a:ext>
            </a:extLst>
          </p:cNvPr>
          <p:cNvSpPr/>
          <p:nvPr/>
        </p:nvSpPr>
        <p:spPr>
          <a:xfrm>
            <a:off x="9900819" y="1045631"/>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solidFill>
                  <a:srgbClr val="FFFFFF"/>
                </a:solidFill>
                <a:latin typeface="Segoe UI" pitchFamily="34" charset="0"/>
              </a:defRPr>
            </a:pPr>
            <a:r>
              <a:rPr lang="en-US" sz="1200" b="1" spc="-25" dirty="0">
                <a:solidFill>
                  <a:srgbClr val="F2F2F2"/>
                </a:solidFill>
                <a:latin typeface="Segoe UI" pitchFamily="34" charset="0"/>
                <a:cs typeface="Arial"/>
              </a:rPr>
              <a:t>9 </a:t>
            </a:r>
            <a:r>
              <a:rPr kumimoji="0" lang="en-US" sz="1200" b="1" i="0" u="none" strike="noStrike" kern="0" cap="none" spc="-25" normalizeH="0" baseline="0" noProof="0" dirty="0">
                <a:ln>
                  <a:noFill/>
                </a:ln>
                <a:solidFill>
                  <a:srgbClr val="F2F2F2"/>
                </a:solidFill>
                <a:effectLst/>
                <a:uLnTx/>
                <a:uFillTx/>
                <a:latin typeface="Segoe UI" pitchFamily="34" charset="0"/>
                <a:ea typeface="+mn-ea"/>
                <a:cs typeface="Arial"/>
              </a:rPr>
              <a:t>New Roles Will Generate 25% of Future Value</a:t>
            </a:r>
          </a:p>
        </p:txBody>
      </p:sp>
      <p:sp>
        <p:nvSpPr>
          <p:cNvPr id="21" name="Rectangle 20">
            <a:extLst>
              <a:ext uri="{FF2B5EF4-FFF2-40B4-BE49-F238E27FC236}">
                <a16:creationId xmlns:a16="http://schemas.microsoft.com/office/drawing/2014/main" id="{5372BB9D-08C3-1E3E-0A1A-860027ABDCA9}"/>
              </a:ext>
            </a:extLst>
          </p:cNvPr>
          <p:cNvSpPr/>
          <p:nvPr/>
        </p:nvSpPr>
        <p:spPr>
          <a:xfrm>
            <a:off x="9897500" y="3876533"/>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Digital &amp; R&amp;D requires further detailing </a:t>
            </a:r>
          </a:p>
        </p:txBody>
      </p:sp>
      <p:sp>
        <p:nvSpPr>
          <p:cNvPr id="13" name="Rectangle 12">
            <a:extLst>
              <a:ext uri="{FF2B5EF4-FFF2-40B4-BE49-F238E27FC236}">
                <a16:creationId xmlns:a16="http://schemas.microsoft.com/office/drawing/2014/main" id="{11409CCB-7BCB-B840-2A0C-2C79E379497D}"/>
              </a:ext>
            </a:extLst>
          </p:cNvPr>
          <p:cNvSpPr/>
          <p:nvPr/>
        </p:nvSpPr>
        <p:spPr>
          <a:xfrm>
            <a:off x="9921325" y="2179099"/>
            <a:ext cx="1521632" cy="1521632"/>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30% (9/30) roles in X &amp; AA. Will need to determine location of roles, </a:t>
            </a:r>
            <a:r>
              <a:rPr lang="en-GB" sz="1200" spc="-10" dirty="0">
                <a:solidFill>
                  <a:srgbClr val="F2F2F2"/>
                </a:solidFill>
                <a:latin typeface="Arial" pitchFamily="34" charset="0"/>
                <a:cs typeface="Arial"/>
              </a:rPr>
              <a:t>and assess need to merge / eliminate / create new roles post integration</a:t>
            </a:r>
            <a:endParaRPr lang="en-US" sz="1200" spc="-10" dirty="0">
              <a:solidFill>
                <a:srgbClr val="F2F2F2"/>
              </a:solidFill>
              <a:latin typeface="Arial" pitchFamily="34" charset="0"/>
              <a:cs typeface="Arial"/>
            </a:endParaRPr>
          </a:p>
        </p:txBody>
      </p:sp>
      <p:graphicFrame>
        <p:nvGraphicFramePr>
          <p:cNvPr id="14" name="Table 13">
            <a:extLst>
              <a:ext uri="{FF2B5EF4-FFF2-40B4-BE49-F238E27FC236}">
                <a16:creationId xmlns:a16="http://schemas.microsoft.com/office/drawing/2014/main" id="{68B96EED-3CAE-C5B2-5CAD-C939BD5199EC}"/>
              </a:ext>
            </a:extLst>
          </p:cNvPr>
          <p:cNvGraphicFramePr>
            <a:graphicFrameLocks noGrp="1"/>
          </p:cNvGraphicFramePr>
          <p:nvPr/>
        </p:nvGraphicFramePr>
        <p:xfrm>
          <a:off x="525629" y="2051728"/>
          <a:ext cx="4103184" cy="3621256"/>
        </p:xfrm>
        <a:graphic>
          <a:graphicData uri="http://schemas.openxmlformats.org/drawingml/2006/table">
            <a:tbl>
              <a:tblPr>
                <a:tableStyleId>{5C22544A-7EE6-4342-B048-85BDC9FD1C3A}</a:tableStyleId>
              </a:tblPr>
              <a:tblGrid>
                <a:gridCol w="538827">
                  <a:extLst>
                    <a:ext uri="{9D8B030D-6E8A-4147-A177-3AD203B41FA5}">
                      <a16:colId xmlns:a16="http://schemas.microsoft.com/office/drawing/2014/main" val="3658240485"/>
                    </a:ext>
                  </a:extLst>
                </a:gridCol>
                <a:gridCol w="1831508">
                  <a:extLst>
                    <a:ext uri="{9D8B030D-6E8A-4147-A177-3AD203B41FA5}">
                      <a16:colId xmlns:a16="http://schemas.microsoft.com/office/drawing/2014/main" val="828746394"/>
                    </a:ext>
                  </a:extLst>
                </a:gridCol>
                <a:gridCol w="1024531">
                  <a:extLst>
                    <a:ext uri="{9D8B030D-6E8A-4147-A177-3AD203B41FA5}">
                      <a16:colId xmlns:a16="http://schemas.microsoft.com/office/drawing/2014/main" val="3594722947"/>
                    </a:ext>
                  </a:extLst>
                </a:gridCol>
                <a:gridCol w="708318">
                  <a:extLst>
                    <a:ext uri="{9D8B030D-6E8A-4147-A177-3AD203B41FA5}">
                      <a16:colId xmlns:a16="http://schemas.microsoft.com/office/drawing/2014/main" val="1568904609"/>
                    </a:ext>
                  </a:extLst>
                </a:gridCol>
              </a:tblGrid>
              <a:tr h="233718">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Rank</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l"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Ranked Critical Roles</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(USD M)</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Cumulative %</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extLst>
                  <a:ext uri="{0D108BD9-81ED-4DB2-BD59-A6C34878D82A}">
                    <a16:rowId xmlns:a16="http://schemas.microsoft.com/office/drawing/2014/main" val="2549660478"/>
                  </a:ext>
                </a:extLst>
              </a:tr>
              <a:tr h="263964">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Operating officer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264</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116600521"/>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AgTech</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668569768"/>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3</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Commercial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21%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140734235"/>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of Integration</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FFFFF"/>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27%</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05136062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Operations Officer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198</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34%</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419509920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6</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CEO AA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182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39%</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344052241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Chief Farming Officer</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165</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45%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7437510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Director of M&amp;A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49%</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4114193717"/>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9</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 Market  Intelligence</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53%</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1066263423"/>
                  </a:ext>
                </a:extLst>
              </a:tr>
              <a:tr h="263964">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10</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Strategic Reserves</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132</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57%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4074566529"/>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11</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MD (acquired entity) </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116</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61%</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081890348"/>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12</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Chief Commercial Officer AA</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1232548400"/>
                  </a:ext>
                </a:extLst>
              </a:tr>
              <a:tr h="219970">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13</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Head of Innovation (Distr/Food Svcs)</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2F2F2"/>
                    </a:solidFill>
                  </a:tcPr>
                </a:tc>
                <a:tc>
                  <a:txBody>
                    <a:bodyPr/>
                    <a:lstStyle/>
                    <a:p>
                      <a:pPr algn="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67%</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3378137184"/>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14</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FP&amp;A</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71%</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extLst>
                  <a:ext uri="{0D108BD9-81ED-4DB2-BD59-A6C34878D82A}">
                    <a16:rowId xmlns:a16="http://schemas.microsoft.com/office/drawing/2014/main" val="284360152"/>
                  </a:ext>
                </a:extLst>
              </a:tr>
              <a:tr h="219970">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15</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u="none" strike="noStrike" dirty="0">
                          <a:effectLst/>
                          <a:latin typeface="Arial" pitchFamily="34" charset="0"/>
                          <a:ea typeface="Lato" panose="020F0502020204030203" pitchFamily="34" charset="0"/>
                          <a:cs typeface="Lato" panose="020F0502020204030203" pitchFamily="34" charset="0"/>
                        </a:rPr>
                        <a:t>Head of Local X</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83</a:t>
                      </a:r>
                    </a:p>
                  </a:txBody>
                  <a:tcPr marL="0" marR="0" marT="0" marB="0" anchor="b">
                    <a:solidFill>
                      <a:srgbClr val="F2F2F2"/>
                    </a:solidFill>
                  </a:tcPr>
                </a:tc>
                <a:tc>
                  <a:txBody>
                    <a:bodyPr/>
                    <a:lstStyle/>
                    <a:p>
                      <a:pPr algn="r" fontAlgn="b"/>
                      <a:r>
                        <a:rPr lang="en-US" sz="800" u="none" strike="noStrike" dirty="0">
                          <a:effectLst/>
                          <a:latin typeface="Arial" pitchFamily="34" charset="0"/>
                          <a:ea typeface="Lato" panose="020F0502020204030203" pitchFamily="34" charset="0"/>
                          <a:cs typeface="Lato" panose="020F0502020204030203" pitchFamily="34" charset="0"/>
                        </a:rPr>
                        <a:t>73%</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extLst>
                  <a:ext uri="{0D108BD9-81ED-4DB2-BD59-A6C34878D82A}">
                    <a16:rowId xmlns:a16="http://schemas.microsoft.com/office/drawing/2014/main" val="4267939690"/>
                  </a:ext>
                </a:extLst>
              </a:tr>
            </a:tbl>
          </a:graphicData>
        </a:graphic>
      </p:graphicFrame>
      <p:graphicFrame>
        <p:nvGraphicFramePr>
          <p:cNvPr id="15" name="Table 14">
            <a:extLst>
              <a:ext uri="{FF2B5EF4-FFF2-40B4-BE49-F238E27FC236}">
                <a16:creationId xmlns:a16="http://schemas.microsoft.com/office/drawing/2014/main" id="{1CAACAB4-B57F-7996-2E8C-D087A42B1289}"/>
              </a:ext>
            </a:extLst>
          </p:cNvPr>
          <p:cNvGraphicFramePr>
            <a:graphicFrameLocks noGrp="1"/>
          </p:cNvGraphicFramePr>
          <p:nvPr>
            <p:extLst>
              <p:ext uri="{D42A27DB-BD31-4B8C-83A1-F6EECF244321}">
                <p14:modId xmlns:p14="http://schemas.microsoft.com/office/powerpoint/2010/main" val="3035311601"/>
              </p:ext>
            </p:extLst>
          </p:nvPr>
        </p:nvGraphicFramePr>
        <p:xfrm>
          <a:off x="4964899" y="2051727"/>
          <a:ext cx="3931810" cy="3655614"/>
        </p:xfrm>
        <a:graphic>
          <a:graphicData uri="http://schemas.openxmlformats.org/drawingml/2006/table">
            <a:tbl>
              <a:tblPr>
                <a:tableStyleId>{5C22544A-7EE6-4342-B048-85BDC9FD1C3A}</a:tableStyleId>
              </a:tblPr>
              <a:tblGrid>
                <a:gridCol w="516323">
                  <a:extLst>
                    <a:ext uri="{9D8B030D-6E8A-4147-A177-3AD203B41FA5}">
                      <a16:colId xmlns:a16="http://schemas.microsoft.com/office/drawing/2014/main" val="417373094"/>
                    </a:ext>
                  </a:extLst>
                </a:gridCol>
                <a:gridCol w="1755013">
                  <a:extLst>
                    <a:ext uri="{9D8B030D-6E8A-4147-A177-3AD203B41FA5}">
                      <a16:colId xmlns:a16="http://schemas.microsoft.com/office/drawing/2014/main" val="4219093523"/>
                    </a:ext>
                  </a:extLst>
                </a:gridCol>
                <a:gridCol w="904465">
                  <a:extLst>
                    <a:ext uri="{9D8B030D-6E8A-4147-A177-3AD203B41FA5}">
                      <a16:colId xmlns:a16="http://schemas.microsoft.com/office/drawing/2014/main" val="3035953052"/>
                    </a:ext>
                  </a:extLst>
                </a:gridCol>
                <a:gridCol w="756009">
                  <a:extLst>
                    <a:ext uri="{9D8B030D-6E8A-4147-A177-3AD203B41FA5}">
                      <a16:colId xmlns:a16="http://schemas.microsoft.com/office/drawing/2014/main" val="4249880168"/>
                    </a:ext>
                  </a:extLst>
                </a:gridCol>
              </a:tblGrid>
              <a:tr h="238837">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Rank</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Ranked Critical Roles</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Value (USD M)</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tc>
                  <a:txBody>
                    <a:bodyPr/>
                    <a:lstStyle/>
                    <a:p>
                      <a:pPr algn="ctr" fontAlgn="t"/>
                      <a:r>
                        <a:rPr lang="en-US" sz="800" b="1" u="none" strike="noStrike" dirty="0">
                          <a:solidFill>
                            <a:srgbClr val="FFFFFF"/>
                          </a:solidFill>
                          <a:effectLst/>
                          <a:latin typeface="Arial" pitchFamily="34" charset="0"/>
                          <a:ea typeface="Lato" panose="020F0502020204030203" pitchFamily="34" charset="0"/>
                          <a:cs typeface="Lato" panose="020F0502020204030203" pitchFamily="34" charset="0"/>
                        </a:rPr>
                        <a:t>Cumulative %</a:t>
                      </a:r>
                      <a:endParaRPr lang="en-US" sz="800" b="1" i="0" u="none" strike="noStrike" dirty="0">
                        <a:solidFill>
                          <a:srgbClr val="00C27A"/>
                        </a:solidFill>
                        <a:effectLst/>
                        <a:latin typeface="Arial" pitchFamily="34" charset="0"/>
                        <a:ea typeface="Lato" panose="020F0502020204030203" pitchFamily="34" charset="0"/>
                        <a:cs typeface="Lato" panose="020F0502020204030203" pitchFamily="34" charset="0"/>
                      </a:endParaRPr>
                    </a:p>
                  </a:txBody>
                  <a:tcPr marL="0" marR="0" marT="0" marB="0" anchor="ctr">
                    <a:solidFill>
                      <a:srgbClr val="281A42"/>
                    </a:solidFill>
                  </a:tcPr>
                </a:tc>
                <a:extLst>
                  <a:ext uri="{0D108BD9-81ED-4DB2-BD59-A6C34878D82A}">
                    <a16:rowId xmlns:a16="http://schemas.microsoft.com/office/drawing/2014/main" val="1437998721"/>
                  </a:ext>
                </a:extLst>
              </a:tr>
              <a:tr h="269745">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16</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VP Treasury </a:t>
                      </a: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74</a:t>
                      </a:r>
                    </a:p>
                  </a:txBody>
                  <a:tcPr marL="0" marR="0" marT="0" marB="0" anchor="b">
                    <a:solidFill>
                      <a:srgbClr val="F2F2F2"/>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76%</a:t>
                      </a:r>
                    </a:p>
                  </a:txBody>
                  <a:tcPr marL="0" marR="0" marT="0" marB="0" anchor="b">
                    <a:solidFill>
                      <a:srgbClr val="F2F2F2"/>
                    </a:solidFill>
                  </a:tcPr>
                </a:tc>
                <a:extLst>
                  <a:ext uri="{0D108BD9-81ED-4DB2-BD59-A6C34878D82A}">
                    <a16:rowId xmlns:a16="http://schemas.microsoft.com/office/drawing/2014/main" val="2878496489"/>
                  </a:ext>
                </a:extLst>
              </a:tr>
              <a:tr h="224788">
                <a:tc>
                  <a:txBody>
                    <a:bodyPr/>
                    <a:lstStyle/>
                    <a:p>
                      <a:pPr algn="ctr" fontAlgn="b"/>
                      <a:r>
                        <a:rPr lang="en-US" sz="800" u="none" strike="noStrike" dirty="0">
                          <a:solidFill>
                            <a:srgbClr val="1D1D1D"/>
                          </a:solidFill>
                          <a:effectLst/>
                          <a:latin typeface="Arial" pitchFamily="34" charset="0"/>
                          <a:ea typeface="Lato" panose="020F0502020204030203" pitchFamily="34" charset="0"/>
                          <a:cs typeface="Lato" panose="020F0502020204030203" pitchFamily="34" charset="0"/>
                        </a:rPr>
                        <a:t>17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IT (Digital Foundations)</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74</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78%</a:t>
                      </a:r>
                    </a:p>
                  </a:txBody>
                  <a:tcPr marL="0" marR="0" marT="0" marB="0" anchor="b">
                    <a:solidFill>
                      <a:srgbClr val="FFFFFF"/>
                    </a:solidFill>
                  </a:tcPr>
                </a:tc>
                <a:extLst>
                  <a:ext uri="{0D108BD9-81ED-4DB2-BD59-A6C34878D82A}">
                    <a16:rowId xmlns:a16="http://schemas.microsoft.com/office/drawing/2014/main" val="2103037242"/>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18</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1</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80%</a:t>
                      </a:r>
                    </a:p>
                  </a:txBody>
                  <a:tcPr marL="0" marR="0" marT="0" marB="0" anchor="b">
                    <a:solidFill>
                      <a:srgbClr val="F2F2F2"/>
                    </a:solidFill>
                  </a:tcPr>
                </a:tc>
                <a:extLst>
                  <a:ext uri="{0D108BD9-81ED-4DB2-BD59-A6C34878D82A}">
                    <a16:rowId xmlns:a16="http://schemas.microsoft.com/office/drawing/2014/main" val="2608260324"/>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19</a:t>
                      </a: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2</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82%</a:t>
                      </a:r>
                    </a:p>
                  </a:txBody>
                  <a:tcPr marL="0" marR="0" marT="0" marB="0" anchor="b">
                    <a:solidFill>
                      <a:srgbClr val="FFFFFF"/>
                    </a:solidFill>
                  </a:tcPr>
                </a:tc>
                <a:extLst>
                  <a:ext uri="{0D108BD9-81ED-4DB2-BD59-A6C34878D82A}">
                    <a16:rowId xmlns:a16="http://schemas.microsoft.com/office/drawing/2014/main" val="1733557753"/>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20</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Category Head 3</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69</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85%</a:t>
                      </a:r>
                    </a:p>
                  </a:txBody>
                  <a:tcPr marL="0" marR="0" marT="0" marB="0" anchor="b">
                    <a:solidFill>
                      <a:srgbClr val="F2F2F2"/>
                    </a:solidFill>
                  </a:tcPr>
                </a:tc>
                <a:extLst>
                  <a:ext uri="{0D108BD9-81ED-4DB2-BD59-A6C34878D82A}">
                    <a16:rowId xmlns:a16="http://schemas.microsoft.com/office/drawing/2014/main" val="2000613471"/>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21</a:t>
                      </a:r>
                    </a:p>
                  </a:txBody>
                  <a:tcPr marL="0" marR="0" marT="0" marB="0" anchor="b">
                    <a:solidFill>
                      <a:srgbClr val="FFFFFF"/>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Business Development Head (R&amp;D)</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66</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87%</a:t>
                      </a:r>
                    </a:p>
                  </a:txBody>
                  <a:tcPr marL="0" marR="0" marT="0" marB="0" anchor="b">
                    <a:solidFill>
                      <a:srgbClr val="FFFFFF"/>
                    </a:solidFill>
                  </a:tcPr>
                </a:tc>
                <a:extLst>
                  <a:ext uri="{0D108BD9-81ED-4DB2-BD59-A6C34878D82A}">
                    <a16:rowId xmlns:a16="http://schemas.microsoft.com/office/drawing/2014/main" val="772095976"/>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22</a:t>
                      </a: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Strategy </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58</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88%</a:t>
                      </a:r>
                    </a:p>
                  </a:txBody>
                  <a:tcPr marL="0" marR="0" marT="0" marB="0" anchor="b">
                    <a:solidFill>
                      <a:srgbClr val="F2F2F2"/>
                    </a:solidFill>
                  </a:tcPr>
                </a:tc>
                <a:extLst>
                  <a:ext uri="{0D108BD9-81ED-4DB2-BD59-A6C34878D82A}">
                    <a16:rowId xmlns:a16="http://schemas.microsoft.com/office/drawing/2014/main" val="551449681"/>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23</a:t>
                      </a:r>
                    </a:p>
                  </a:txBody>
                  <a:tcPr marL="0" marR="0" marT="0" marB="0" anchor="b">
                    <a:solidFill>
                      <a:srgbClr val="FFFFFF"/>
                    </a:solidFill>
                  </a:tcPr>
                </a:tc>
                <a:tc>
                  <a:txBody>
                    <a:bodyPr/>
                    <a:lstStyle/>
                    <a:p>
                      <a:pPr algn="l"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Strategy Lead X</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90%</a:t>
                      </a:r>
                    </a:p>
                  </a:txBody>
                  <a:tcPr marL="0" marR="0" marT="0" marB="0" anchor="b">
                    <a:solidFill>
                      <a:srgbClr val="FFFFFF"/>
                    </a:solidFill>
                  </a:tcPr>
                </a:tc>
                <a:extLst>
                  <a:ext uri="{0D108BD9-81ED-4DB2-BD59-A6C34878D82A}">
                    <a16:rowId xmlns:a16="http://schemas.microsoft.com/office/drawing/2014/main" val="941669396"/>
                  </a:ext>
                </a:extLst>
              </a:tr>
              <a:tr h="224788">
                <a:tc>
                  <a:txBody>
                    <a:bodyPr/>
                    <a:lstStyle/>
                    <a:p>
                      <a:pPr algn="ctr" fontAlgn="b"/>
                      <a:r>
                        <a:rPr lang="en-US" sz="800" u="none" strike="noStrike" dirty="0">
                          <a:solidFill>
                            <a:srgbClr val="7A828D"/>
                          </a:solidFill>
                          <a:effectLst/>
                          <a:latin typeface="Arial" pitchFamily="34" charset="0"/>
                          <a:ea typeface="Lato" panose="020F0502020204030203" pitchFamily="34" charset="0"/>
                          <a:cs typeface="Lato" panose="020F0502020204030203" pitchFamily="34" charset="0"/>
                        </a:rPr>
                        <a:t>24</a:t>
                      </a:r>
                      <a:endPar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Export X</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92%</a:t>
                      </a:r>
                    </a:p>
                  </a:txBody>
                  <a:tcPr marL="0" marR="0" marT="0" marB="0" anchor="b">
                    <a:solidFill>
                      <a:srgbClr val="F2F2F2"/>
                    </a:solidFill>
                  </a:tcPr>
                </a:tc>
                <a:extLst>
                  <a:ext uri="{0D108BD9-81ED-4DB2-BD59-A6C34878D82A}">
                    <a16:rowId xmlns:a16="http://schemas.microsoft.com/office/drawing/2014/main" val="390120029"/>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25</a:t>
                      </a: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Governance (Finance)</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93%</a:t>
                      </a:r>
                    </a:p>
                  </a:txBody>
                  <a:tcPr marL="0" marR="0" marT="0" marB="0" anchor="b">
                    <a:solidFill>
                      <a:srgbClr val="FFFFFF"/>
                    </a:solidFill>
                  </a:tcPr>
                </a:tc>
                <a:extLst>
                  <a:ext uri="{0D108BD9-81ED-4DB2-BD59-A6C34878D82A}">
                    <a16:rowId xmlns:a16="http://schemas.microsoft.com/office/drawing/2014/main" val="1988971795"/>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26</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Director ESG</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95%</a:t>
                      </a:r>
                    </a:p>
                  </a:txBody>
                  <a:tcPr marL="0" marR="0" marT="0" marB="0" anchor="b">
                    <a:solidFill>
                      <a:srgbClr val="F2F2F2"/>
                    </a:solidFill>
                  </a:tcPr>
                </a:tc>
                <a:extLst>
                  <a:ext uri="{0D108BD9-81ED-4DB2-BD59-A6C34878D82A}">
                    <a16:rowId xmlns:a16="http://schemas.microsoft.com/office/drawing/2014/main" val="620242563"/>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27</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FFFFF"/>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Finance (cost control)</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FFFFF"/>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96%</a:t>
                      </a:r>
                    </a:p>
                  </a:txBody>
                  <a:tcPr marL="0" marR="0" marT="0" marB="0" anchor="b">
                    <a:solidFill>
                      <a:srgbClr val="FFFFFF"/>
                    </a:solidFill>
                  </a:tcPr>
                </a:tc>
                <a:extLst>
                  <a:ext uri="{0D108BD9-81ED-4DB2-BD59-A6C34878D82A}">
                    <a16:rowId xmlns:a16="http://schemas.microsoft.com/office/drawing/2014/main" val="256589125"/>
                  </a:ext>
                </a:extLst>
              </a:tr>
              <a:tr h="224788">
                <a:tc>
                  <a:txBody>
                    <a:bodyPr/>
                    <a:lstStyle/>
                    <a:p>
                      <a:pPr algn="ctr" fontAlgn="b"/>
                      <a:r>
                        <a:rPr lang="en-US" sz="800" u="none" strike="noStrike" dirty="0">
                          <a:effectLst/>
                          <a:latin typeface="Arial" pitchFamily="34" charset="0"/>
                          <a:ea typeface="Lato" panose="020F0502020204030203" pitchFamily="34" charset="0"/>
                          <a:cs typeface="Lato" panose="020F0502020204030203" pitchFamily="34" charset="0"/>
                        </a:rPr>
                        <a:t>28</a:t>
                      </a:r>
                      <a:endPar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endParaRPr>
                    </a:p>
                  </a:txBody>
                  <a:tcPr marL="0" marR="0" marT="0" marB="0" anchor="b">
                    <a:solidFill>
                      <a:srgbClr val="F2F2F2"/>
                    </a:solidFill>
                  </a:tcPr>
                </a:tc>
                <a:tc>
                  <a:txBody>
                    <a:bodyPr/>
                    <a:lstStyle/>
                    <a:p>
                      <a:pPr algn="l"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Head of Talent Acquisition </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50</a:t>
                      </a:r>
                    </a:p>
                  </a:txBody>
                  <a:tcPr marL="0" marR="0" marT="0" marB="0" anchor="b">
                    <a:solidFill>
                      <a:srgbClr val="F2F2F2"/>
                    </a:solidFill>
                  </a:tcPr>
                </a:tc>
                <a:tc>
                  <a:txBody>
                    <a:bodyPr/>
                    <a:lstStyle/>
                    <a:p>
                      <a:pPr algn="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98%</a:t>
                      </a:r>
                    </a:p>
                  </a:txBody>
                  <a:tcPr marL="0" marR="0" marT="0" marB="0" anchor="b">
                    <a:solidFill>
                      <a:srgbClr val="F2F2F2"/>
                    </a:solidFill>
                  </a:tcPr>
                </a:tc>
                <a:extLst>
                  <a:ext uri="{0D108BD9-81ED-4DB2-BD59-A6C34878D82A}">
                    <a16:rowId xmlns:a16="http://schemas.microsoft.com/office/drawing/2014/main" val="2169159436"/>
                  </a:ext>
                </a:extLst>
              </a:tr>
              <a:tr h="224788">
                <a:tc>
                  <a:txBody>
                    <a:bodyPr/>
                    <a:lstStyle/>
                    <a:p>
                      <a:pPr algn="ctr" fontAlgn="b"/>
                      <a:r>
                        <a:rPr lang="en-US" sz="800" b="0" i="0" u="none" strike="noStrike" dirty="0">
                          <a:solidFill>
                            <a:srgbClr val="7A828D"/>
                          </a:solidFill>
                          <a:effectLst/>
                          <a:latin typeface="Arial" pitchFamily="34" charset="0"/>
                          <a:ea typeface="Lato" panose="020F0502020204030203" pitchFamily="34" charset="0"/>
                          <a:cs typeface="Lato" panose="020F0502020204030203" pitchFamily="34" charset="0"/>
                        </a:rPr>
                        <a:t>29</a:t>
                      </a:r>
                    </a:p>
                  </a:txBody>
                  <a:tcPr marL="0" marR="0" marT="0" marB="0" anchor="b">
                    <a:solidFill>
                      <a:srgbClr val="FFFFFF"/>
                    </a:solidFill>
                  </a:tcPr>
                </a:tc>
                <a:tc>
                  <a:txBody>
                    <a:bodyPr/>
                    <a:lstStyle/>
                    <a:p>
                      <a:pPr algn="l"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MD Y</a:t>
                      </a:r>
                    </a:p>
                  </a:txBody>
                  <a:tcPr marL="0" marR="0" marT="0" marB="0" anchor="b">
                    <a:solidFill>
                      <a:srgbClr val="FFFFFF"/>
                    </a:solidFill>
                  </a:tcPr>
                </a:tc>
                <a:tc>
                  <a:txBody>
                    <a:bodyPr/>
                    <a:lstStyle/>
                    <a:p>
                      <a:pPr algn="r"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40</a:t>
                      </a:r>
                    </a:p>
                  </a:txBody>
                  <a:tcPr marL="0" marR="0" marT="0" marB="0" anchor="b">
                    <a:solidFill>
                      <a:srgbClr val="FFFFFF"/>
                    </a:solidFill>
                  </a:tcPr>
                </a:tc>
                <a:tc>
                  <a:txBody>
                    <a:bodyPr/>
                    <a:lstStyle/>
                    <a:p>
                      <a:pPr algn="r" fontAlgn="b"/>
                      <a:r>
                        <a:rPr lang="en-US" sz="800" b="0" i="0" u="none" strike="noStrike" kern="1200" dirty="0">
                          <a:solidFill>
                            <a:srgbClr val="7A828D"/>
                          </a:solidFill>
                          <a:effectLst/>
                          <a:latin typeface="Arial" pitchFamily="34" charset="0"/>
                          <a:ea typeface="Lato" panose="020F0502020204030203" pitchFamily="34" charset="0"/>
                          <a:cs typeface="Lato" panose="020F0502020204030203" pitchFamily="34" charset="0"/>
                        </a:rPr>
                        <a:t>99%</a:t>
                      </a:r>
                    </a:p>
                  </a:txBody>
                  <a:tcPr marL="0" marR="0" marT="0" marB="0" anchor="b">
                    <a:solidFill>
                      <a:srgbClr val="FFFFFF"/>
                    </a:solidFill>
                  </a:tcPr>
                </a:tc>
                <a:extLst>
                  <a:ext uri="{0D108BD9-81ED-4DB2-BD59-A6C34878D82A}">
                    <a16:rowId xmlns:a16="http://schemas.microsoft.com/office/drawing/2014/main" val="2192557938"/>
                  </a:ext>
                </a:extLst>
              </a:tr>
              <a:tr h="224788">
                <a:tc>
                  <a:txBody>
                    <a:bodyPr/>
                    <a:lstStyle/>
                    <a:p>
                      <a:pPr algn="ctr" fontAlgn="b"/>
                      <a:r>
                        <a:rPr lang="en-US" sz="800" b="0" i="0" u="none" strike="noStrike" dirty="0">
                          <a:solidFill>
                            <a:srgbClr val="1D1D1D"/>
                          </a:solidFill>
                          <a:effectLst/>
                          <a:latin typeface="Arial" pitchFamily="34" charset="0"/>
                          <a:ea typeface="Lato" panose="020F0502020204030203" pitchFamily="34" charset="0"/>
                          <a:cs typeface="Lato" panose="020F0502020204030203" pitchFamily="34" charset="0"/>
                        </a:rPr>
                        <a:t>30</a:t>
                      </a:r>
                    </a:p>
                  </a:txBody>
                  <a:tcPr marL="0" marR="0" marT="0" marB="0" anchor="b">
                    <a:solidFill>
                      <a:srgbClr val="F2F2F2"/>
                    </a:solidFill>
                  </a:tcPr>
                </a:tc>
                <a:tc>
                  <a:txBody>
                    <a:bodyPr/>
                    <a:lstStyle/>
                    <a:p>
                      <a:pPr algn="l"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Head of Workforce Planning &amp; OD </a:t>
                      </a:r>
                    </a:p>
                  </a:txBody>
                  <a:tcPr marL="0" marR="0" marT="0" marB="0" anchor="b">
                    <a:solidFill>
                      <a:srgbClr val="F2F2F2"/>
                    </a:solidFill>
                  </a:tcPr>
                </a:tc>
                <a:tc>
                  <a:txBody>
                    <a:bodyPr/>
                    <a:lstStyle/>
                    <a:p>
                      <a:pPr algn="r"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25</a:t>
                      </a:r>
                    </a:p>
                  </a:txBody>
                  <a:tcPr marL="0" marR="0" marT="0" marB="0" anchor="b">
                    <a:solidFill>
                      <a:srgbClr val="F2F2F2"/>
                    </a:solidFill>
                  </a:tcPr>
                </a:tc>
                <a:tc>
                  <a:txBody>
                    <a:bodyPr/>
                    <a:lstStyle/>
                    <a:p>
                      <a:pPr algn="r" fontAlgn="b"/>
                      <a:r>
                        <a:rPr lang="en-US" sz="800" b="0" i="0" u="none" strike="noStrike" kern="1200" dirty="0">
                          <a:solidFill>
                            <a:srgbClr val="1D1D1D"/>
                          </a:solidFill>
                          <a:effectLst/>
                          <a:latin typeface="Arial" pitchFamily="34" charset="0"/>
                          <a:ea typeface="Lato" panose="020F0502020204030203" pitchFamily="34" charset="0"/>
                          <a:cs typeface="Lato" panose="020F0502020204030203" pitchFamily="34" charset="0"/>
                        </a:rPr>
                        <a:t>100%</a:t>
                      </a:r>
                    </a:p>
                  </a:txBody>
                  <a:tcPr marL="0" marR="0" marT="0" marB="0" anchor="b">
                    <a:solidFill>
                      <a:srgbClr val="F2F2F2"/>
                    </a:solidFill>
                  </a:tcPr>
                </a:tc>
                <a:extLst>
                  <a:ext uri="{0D108BD9-81ED-4DB2-BD59-A6C34878D82A}">
                    <a16:rowId xmlns:a16="http://schemas.microsoft.com/office/drawing/2014/main" val="113842929"/>
                  </a:ext>
                </a:extLst>
              </a:tr>
            </a:tbl>
          </a:graphicData>
        </a:graphic>
      </p:graphicFrame>
      <p:sp>
        <p:nvSpPr>
          <p:cNvPr id="16" name="Rectangle 15">
            <a:extLst>
              <a:ext uri="{FF2B5EF4-FFF2-40B4-BE49-F238E27FC236}">
                <a16:creationId xmlns:a16="http://schemas.microsoft.com/office/drawing/2014/main" id="{762B3E9C-35A1-1DA3-9679-CEE3D1BD26AC}"/>
              </a:ext>
            </a:extLst>
          </p:cNvPr>
          <p:cNvSpPr/>
          <p:nvPr/>
        </p:nvSpPr>
        <p:spPr>
          <a:xfrm>
            <a:off x="9897500" y="5018265"/>
            <a:ext cx="1521632" cy="1006096"/>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rtl="0"/>
            <a:r>
              <a:rPr lang="en-US" sz="1200" spc="-10" dirty="0">
                <a:solidFill>
                  <a:srgbClr val="F2F2F2"/>
                </a:solidFill>
                <a:latin typeface="Arial" pitchFamily="34" charset="0"/>
                <a:cs typeface="Arial"/>
              </a:rPr>
              <a:t>Head of Integration timing TBD</a:t>
            </a:r>
          </a:p>
        </p:txBody>
      </p:sp>
      <p:sp>
        <p:nvSpPr>
          <p:cNvPr id="4" name="TextBox 3">
            <a:extLst>
              <a:ext uri="{FF2B5EF4-FFF2-40B4-BE49-F238E27FC236}">
                <a16:creationId xmlns:a16="http://schemas.microsoft.com/office/drawing/2014/main" id="{75F930B1-94C4-0C31-3D7F-A389953857BC}"/>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9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4926CD9F-EE7E-4356-BB67-DF20A3B6FAF6}" type="slidenum">
              <a:t>27</a:t>
            </a:fld>
            <a:endParaRPr lang="en-US"/>
          </a:p>
        </p:txBody>
      </p:sp>
    </p:spTree>
    <p:extLst>
      <p:ext uri="{BB962C8B-B14F-4D97-AF65-F5344CB8AC3E}">
        <p14:creationId xmlns:p14="http://schemas.microsoft.com/office/powerpoint/2010/main" val="2099403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58A46-F904-DCCB-5E56-8FEF105F99D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7FD60C-C91A-A104-3AC0-2212436325A1}"/>
              </a:ext>
            </a:extLst>
          </p:cNvPr>
          <p:cNvSpPr>
            <a:spLocks noGrp="1"/>
          </p:cNvSpPr>
          <p:nvPr>
            <p:ph type="title" sz="quarter"/>
          </p:nvPr>
        </p:nvSpPr>
        <p:spPr/>
        <p:txBody>
          <a:bodyPr/>
          <a:lstStyle/>
          <a:p>
            <a:pPr marL="0" marR="0" lvl="0" indent="0" algn="l" defTabSz="914332" rtl="0" eaLnBrk="1" fontAlgn="auto" latinLnBrk="0" hangingPunct="1">
              <a:lnSpc>
                <a:spcPct val="100000"/>
              </a:lnSpc>
              <a:spcBef>
                <a:spcPts val="0"/>
              </a:spcBef>
              <a:spcAft>
                <a:spcPts val="0"/>
              </a:spcAft>
              <a:tabLst/>
              <a:defRPr b="1" spc="-25">
                <a:latin typeface="Segoe UI" pitchFamily="34" charset="0"/>
              </a:defRPr>
            </a:pPr>
            <a:r>
              <a:rPr lang="en-GB" dirty="0">
                <a:solidFill>
                  <a:srgbClr val="281A42"/>
                </a:solidFill>
                <a:latin typeface="+mn-lt"/>
                <a:ea typeface="Lato"/>
                <a:cs typeface="Lato"/>
              </a:rPr>
              <a:t>Human </a:t>
            </a:r>
            <a:r>
              <a:rPr kumimoji="0" lang="en-GB" i="0" u="none" strike="noStrike" kern="1200" cap="none" normalizeH="0" baseline="0" noProof="0" dirty="0">
                <a:ln>
                  <a:noFill/>
                </a:ln>
                <a:solidFill>
                  <a:srgbClr val="281A42"/>
                </a:solidFill>
                <a:effectLst/>
                <a:uLnTx/>
                <a:uFillTx/>
                <a:latin typeface="+mn-lt"/>
                <a:ea typeface="Lato"/>
                <a:cs typeface="Lato"/>
              </a:rPr>
              <a:t>Capital Balance Sheet</a:t>
            </a:r>
          </a:p>
        </p:txBody>
      </p:sp>
      <p:sp>
        <p:nvSpPr>
          <p:cNvPr id="148" name="Rectangle: Rounded Corners 147">
            <a:extLst>
              <a:ext uri="{FF2B5EF4-FFF2-40B4-BE49-F238E27FC236}">
                <a16:creationId xmlns:a16="http://schemas.microsoft.com/office/drawing/2014/main" id="{89633FC9-557F-AA7A-1209-7A2B8A20F529}"/>
              </a:ext>
            </a:extLst>
          </p:cNvPr>
          <p:cNvSpPr/>
          <p:nvPr/>
        </p:nvSpPr>
        <p:spPr>
          <a:xfrm>
            <a:off x="8465040" y="866727"/>
            <a:ext cx="3548368" cy="4769446"/>
          </a:xfrm>
          <a:prstGeom prst="roundRect">
            <a:avLst>
              <a:gd name="adj" fmla="val 5743"/>
            </a:avLst>
          </a:prstGeom>
          <a:noFill/>
          <a:ln>
            <a:solidFill>
              <a:srgbClr val="00C27A"/>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600"/>
              </a:spcBef>
              <a:spcAft>
                <a:spcPts val="0"/>
              </a:spcAft>
              <a:buClrTx/>
              <a:buSzTx/>
              <a:buFontTx/>
              <a:buNone/>
              <a:tabLst/>
              <a:defRPr b="1" spc="-25">
                <a:latin typeface="Segoe UI" pitchFamily="34" charset="0"/>
              </a:defRPr>
            </a:pPr>
            <a:r>
              <a:rPr kumimoji="0" lang="en-US" sz="900" b="1" i="0" u="none" strike="noStrike" kern="1200" cap="none" spc="-25" normalizeH="0" baseline="0" noProof="0" dirty="0">
                <a:ln>
                  <a:noFill/>
                </a:ln>
                <a:solidFill>
                  <a:srgbClr val="00C27A"/>
                </a:solidFill>
                <a:effectLst/>
                <a:uLnTx/>
                <a:uFillTx/>
                <a:latin typeface="Segoe UI" pitchFamily="34" charset="0"/>
                <a:ea typeface="+mn-ea"/>
                <a:cs typeface="+mn-cs"/>
              </a:rPr>
              <a:t>H</a:t>
            </a:r>
            <a:r>
              <a:rPr kumimoji="0" lang="en-US" sz="900" b="1" i="0" u="none" strike="noStrike" kern="1200" cap="none" spc="-25" normalizeH="0" baseline="0" noProof="0" dirty="0">
                <a:ln>
                  <a:noFill/>
                </a:ln>
                <a:solidFill>
                  <a:srgbClr val="281A42"/>
                </a:solidFill>
                <a:effectLst/>
                <a:uLnTx/>
                <a:uFillTx/>
                <a:latin typeface="Segoe UI" pitchFamily="34" charset="0"/>
                <a:ea typeface="+mn-ea"/>
                <a:cs typeface="+mn-cs"/>
              </a:rPr>
              <a:t>uman Capital Insights</a:t>
            </a:r>
            <a:endParaRPr kumimoji="0" lang="en-US" sz="900" b="1" i="0" u="none" strike="noStrike" kern="1200" cap="none" spc="-25" normalizeH="0" baseline="0" noProof="0" dirty="0">
              <a:ln>
                <a:noFill/>
              </a:ln>
              <a:solidFill>
                <a:srgbClr val="281A42"/>
              </a:solidFill>
              <a:effectLst/>
              <a:uLnTx/>
              <a:uFillTx/>
              <a:latin typeface="Segoe UI" pitchFamily="34" charset="0"/>
              <a:ea typeface="Lato Light" panose="020F0502020204030203" pitchFamily="34" charset="0"/>
              <a:cs typeface="Lato Light" panose="020F0502020204030203" pitchFamily="34" charset="0"/>
            </a:endParaRPr>
          </a:p>
          <a:p>
            <a:pPr marL="108000" indent="-108000" algn="l" rtl="0">
              <a:spcBef>
                <a:spcPts val="600"/>
              </a:spcBef>
              <a:buFont typeface="Arial" panose="020B0604020202020204" pitchFamily="34" charset="0"/>
              <a:buChar char="•"/>
              <a:defRPr b="1" spc="-25">
                <a:latin typeface="Segoe UI" pitchFamily="34" charset="0"/>
              </a:defRPr>
            </a:pP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All N-1 Roles Remain Accountable for Value Creation, Though Not Explicitly Labeled Critical. the CHRO and CFO Roles Were Discussed, but the Critical Roles Identified Were at the N-2 Level Based on Required Work</a:t>
            </a:r>
          </a:p>
          <a:p>
            <a:pPr marL="108000" indent="-108000" algn="l" rtl="0">
              <a:spcBef>
                <a:spcPts val="600"/>
              </a:spcBef>
              <a:buFont typeface="Arial" panose="020B0604020202020204" pitchFamily="34" charset="0"/>
              <a:buChar char="•"/>
              <a:defRPr b="1" spc="-25">
                <a:latin typeface="Segoe UI" pitchFamily="34" charset="0"/>
              </a:defRPr>
            </a:pP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Majority of Roles Appear to Be Set up for Success (authority, Team Capability</a:t>
            </a:r>
            <a:r>
              <a:rPr lang="en-US" sz="900" b="1" kern="1200" spc="-25" dirty="0">
                <a:solidFill>
                  <a:srgbClr val="1D1D1D"/>
                </a:solidFill>
                <a:latin typeface="Segoe UI" pitchFamily="34" charset="0"/>
                <a:ea typeface="Lato Light" panose="020F0502020204030203" pitchFamily="34" charset="0"/>
                <a:cs typeface="Lato Light" panose="020F0502020204030203" pitchFamily="34" charset="0"/>
              </a:rPr>
              <a:t>)</a:t>
            </a:r>
          </a:p>
          <a:p>
            <a:pPr marL="108000" indent="-108000" algn="l" rtl="0">
              <a:spcBef>
                <a:spcPts val="600"/>
              </a:spcBef>
              <a:buFont typeface="Arial" panose="020B0604020202020204" pitchFamily="34" charset="0"/>
              <a:buChar char="•"/>
              <a:defRPr b="1" spc="-25">
                <a:latin typeface="Segoe UI" pitchFamily="34" charset="0"/>
              </a:defRPr>
            </a:pP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Need to Assess and Address Talent Risks (starting with COO Aa, CCO X, COO X, CEO Aa)</a:t>
            </a:r>
          </a:p>
          <a:p>
            <a:pPr marL="108000" indent="-108000" algn="l" rtl="0">
              <a:spcBef>
                <a:spcPts val="600"/>
              </a:spcBef>
              <a:buFont typeface="Arial" panose="020B0604020202020204" pitchFamily="34" charset="0"/>
              <a:buChar char="•"/>
              <a:defRPr b="1" spc="-25">
                <a:latin typeface="Segoe UI" pitchFamily="34" charset="0"/>
              </a:defRPr>
            </a:pPr>
            <a:r>
              <a:rPr lang="en-US" sz="900" b="1" kern="1200" spc="-25" dirty="0">
                <a:solidFill>
                  <a:srgbClr val="1D1D1D"/>
                </a:solidFill>
                <a:latin typeface="Segoe UI" pitchFamily="34" charset="0"/>
                <a:ea typeface="Lato Light" panose="020F0502020204030203" pitchFamily="34" charset="0"/>
                <a:cs typeface="Lato Light" panose="020F0502020204030203" pitchFamily="34" charset="0"/>
              </a:rPr>
              <a:t>Due to Recent Acquisitions, Details on Key Roles in </a:t>
            </a:r>
            <a:r>
              <a:rPr lang="en-GB" sz="900" b="1" kern="1200" spc="-25" dirty="0">
                <a:solidFill>
                  <a:srgbClr val="1D1D1D"/>
                </a:solidFill>
                <a:latin typeface="Segoe UI" pitchFamily="34" charset="0"/>
                <a:ea typeface="Lato Light" panose="020F0502020204030203" pitchFamily="34" charset="0"/>
                <a:cs typeface="Lato Light" panose="020F0502020204030203" pitchFamily="34" charset="0"/>
              </a:rPr>
              <a:t>X </a:t>
            </a:r>
            <a:r>
              <a:rPr lang="en-US" sz="900" b="1" kern="1200" spc="-25" dirty="0">
                <a:solidFill>
                  <a:srgbClr val="1D1D1D"/>
                </a:solidFill>
                <a:latin typeface="Segoe UI" pitchFamily="34" charset="0"/>
                <a:ea typeface="Lato Light" panose="020F0502020204030203" pitchFamily="34" charset="0"/>
                <a:cs typeface="Lato Light" panose="020F0502020204030203" pitchFamily="34" charset="0"/>
              </a:rPr>
              <a:t>&amp; Aa Are Limited. Synergies and Talent May Exist, Especially in Commercial and Operations</a:t>
            </a:r>
          </a:p>
          <a:p>
            <a:pPr marL="108000" indent="-108000" algn="l" rtl="0">
              <a:spcBef>
                <a:spcPts val="600"/>
              </a:spcBef>
              <a:buFont typeface="Arial" panose="020B0604020202020204" pitchFamily="34" charset="0"/>
              <a:buChar char="•"/>
              <a:defRPr b="1" spc="-25">
                <a:latin typeface="Segoe UI" pitchFamily="34" charset="0"/>
              </a:defRPr>
            </a:pP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Within </a:t>
            </a:r>
            <a:r>
              <a:rPr lang="en-US" sz="900" b="1" spc="-25" dirty="0">
                <a:solidFill>
                  <a:srgbClr val="1D1D1D"/>
                </a:solidFill>
                <a:latin typeface="Segoe UI" pitchFamily="34" charset="0"/>
                <a:ea typeface="Lato Light" panose="020F0502020204030203" pitchFamily="34" charset="0"/>
                <a:cs typeface="Lato Light" panose="020F0502020204030203" pitchFamily="34" charset="0"/>
              </a:rPr>
              <a:t>HoldCo</a:t>
            </a: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 Further Effort Required to Define the Work</a:t>
            </a:r>
            <a:r>
              <a:rPr lang="en-US" sz="900" b="1" kern="1200" spc="-25" dirty="0">
                <a:solidFill>
                  <a:srgbClr val="1D1D1D"/>
                </a:solidFill>
                <a:latin typeface="Segoe UI" pitchFamily="34" charset="0"/>
                <a:ea typeface="Lato Light" panose="020F0502020204030203" pitchFamily="34" charset="0"/>
                <a:cs typeface="Lato Light" panose="020F0502020204030203" pitchFamily="34" charset="0"/>
              </a:rPr>
              <a:t> &amp; Roles in Digital and R&amp;D/Innovation</a:t>
            </a:r>
            <a:endParaRPr kumimoji="0" lang="en-US" sz="900" b="1" i="0" u="none" strike="noStrike" kern="0" cap="none" spc="-25" normalizeH="0" baseline="0" noProof="0" dirty="0">
              <a:ln>
                <a:noFill/>
              </a:ln>
              <a:solidFill>
                <a:srgbClr val="1D1D1D"/>
              </a:solidFill>
              <a:effectLst/>
              <a:uLnTx/>
              <a:uFillTx/>
              <a:latin typeface="Segoe UI" pitchFamily="34" charset="0"/>
              <a:ea typeface="+mn-ea"/>
              <a:cs typeface="+mn-cs"/>
            </a:endParaRPr>
          </a:p>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b="1" spc="-25">
                <a:latin typeface="Segoe UI" pitchFamily="34" charset="0"/>
              </a:defRPr>
            </a:pP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Ability to Scale Assessment Requires Further Detailing</a:t>
            </a:r>
          </a:p>
          <a:p>
            <a:pPr marL="108000" marR="0" lvl="0"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b="1" spc="-25">
                <a:latin typeface="Segoe UI" pitchFamily="34" charset="0"/>
              </a:defRPr>
            </a:pP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Succession Plan for Critical Roles Appears Limited</a:t>
            </a:r>
          </a:p>
          <a:p>
            <a:pPr marL="108000" marR="0" lvl="5" indent="-108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b="1" spc="-25">
                <a:latin typeface="Segoe UI" pitchFamily="34" charset="0"/>
              </a:defRPr>
            </a:pPr>
            <a:r>
              <a:rPr lang="en-US" sz="900" b="1" kern="1200" spc="-25" dirty="0">
                <a:solidFill>
                  <a:srgbClr val="1D1D1D"/>
                </a:solidFill>
                <a:latin typeface="Segoe UI" pitchFamily="34" charset="0"/>
                <a:ea typeface="Lato Light" panose="020F0502020204030203" pitchFamily="34" charset="0"/>
                <a:cs typeface="Lato Light" panose="020F0502020204030203" pitchFamily="34" charset="0"/>
              </a:rPr>
              <a:t>The Timing for Filling New Roles Needs Review Potentially Starting with Three Key Positions:</a:t>
            </a:r>
          </a:p>
          <a:p>
            <a:pPr marL="357188" lvl="6" indent="-174625" algn="l" rtl="0">
              <a:spcBef>
                <a:spcPts val="600"/>
              </a:spcBef>
              <a:buFont typeface="Arial" panose="020B0604020202020204" pitchFamily="34" charset="0"/>
              <a:buChar char="•"/>
              <a:defRPr b="1" spc="-25">
                <a:latin typeface="Segoe UI" pitchFamily="34" charset="0"/>
              </a:defRPr>
            </a:pP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Head of Integration – Given Criticality of Integration to Extract Synergies and Drive Organic Growth, Handling This under the Strategy </a:t>
            </a:r>
            <a:r>
              <a:rPr lang="en-US" sz="900" b="1" kern="1200" spc="-25" dirty="0">
                <a:solidFill>
                  <a:srgbClr val="1D1D1D"/>
                </a:solidFill>
                <a:latin typeface="Segoe UI" pitchFamily="34" charset="0"/>
                <a:ea typeface="Lato Light" panose="020F0502020204030203" pitchFamily="34" charset="0"/>
                <a:cs typeface="Lato Light" panose="020F0502020204030203" pitchFamily="34" charset="0"/>
              </a:rPr>
              <a:t>Officer </a:t>
            </a:r>
            <a:r>
              <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rPr>
              <a:t>May Not Be Optimal</a:t>
            </a:r>
          </a:p>
          <a:p>
            <a:pPr marL="357188" lvl="6" indent="-174625" algn="l" rtl="0">
              <a:spcBef>
                <a:spcPts val="600"/>
              </a:spcBef>
              <a:buFont typeface="Arial" panose="020B0604020202020204" pitchFamily="34" charset="0"/>
              <a:buChar char="•"/>
              <a:defRPr b="1" spc="-25">
                <a:latin typeface="Segoe UI" pitchFamily="34" charset="0"/>
              </a:defRPr>
            </a:pPr>
            <a:r>
              <a:rPr lang="en-US" sz="900" b="1" kern="1200" spc="-25" dirty="0">
                <a:solidFill>
                  <a:srgbClr val="1D1D1D"/>
                </a:solidFill>
                <a:latin typeface="Segoe UI" pitchFamily="34" charset="0"/>
                <a:ea typeface="Lato Light" panose="020F0502020204030203" pitchFamily="34" charset="0"/>
                <a:cs typeface="Lato Light" panose="020F0502020204030203" pitchFamily="34" charset="0"/>
              </a:rPr>
              <a:t>Broadening Strategic Reserves Role to Include (proactive) Food Security Intelligence &amp; Crisis Management Seems Critical to Meet Stakeholder Needs</a:t>
            </a:r>
          </a:p>
          <a:p>
            <a:pPr marL="357188" lvl="6" indent="-174625" algn="l" rtl="0">
              <a:spcBef>
                <a:spcPts val="600"/>
              </a:spcBef>
              <a:buFont typeface="Arial" panose="020B0604020202020204" pitchFamily="34" charset="0"/>
              <a:buChar char="•"/>
              <a:defRPr b="1" spc="-25">
                <a:latin typeface="Segoe UI" pitchFamily="34" charset="0"/>
              </a:defRPr>
            </a:pPr>
            <a:r>
              <a:rPr lang="en-US" sz="900" b="1" kern="1200" spc="-25" dirty="0">
                <a:solidFill>
                  <a:srgbClr val="1D1D1D"/>
                </a:solidFill>
                <a:latin typeface="Segoe UI" pitchFamily="34" charset="0"/>
                <a:ea typeface="Lato Light" panose="020F0502020204030203" pitchFamily="34" charset="0"/>
                <a:cs typeface="Lato Light" panose="020F0502020204030203" pitchFamily="34" charset="0"/>
              </a:rPr>
              <a:t>Head of Market Intelligence Seems Critical to Forecast Trends, Identify Growth Opportunities Using R&amp;D &amp; Drive Stronger Partnerships with Acquired Entities &amp; Geographies</a:t>
            </a:r>
            <a:endParaRPr kumimoji="0" lang="en-US" sz="900" b="1" i="0" u="none" strike="noStrike" kern="1200" cap="none" spc="-25" normalizeH="0" baseline="0" noProof="0" dirty="0">
              <a:ln>
                <a:noFill/>
              </a:ln>
              <a:solidFill>
                <a:srgbClr val="1D1D1D"/>
              </a:solidFill>
              <a:effectLst/>
              <a:uLnTx/>
              <a:uFillTx/>
              <a:latin typeface="Segoe UI" pitchFamily="34" charset="0"/>
              <a:ea typeface="Lato Light" panose="020F0502020204030203" pitchFamily="34" charset="0"/>
              <a:cs typeface="Lato Light" panose="020F0502020204030203" pitchFamily="34" charset="0"/>
            </a:endParaRPr>
          </a:p>
        </p:txBody>
      </p:sp>
      <p:grpSp>
        <p:nvGrpSpPr>
          <p:cNvPr id="4" name="Group 3">
            <a:extLst>
              <a:ext uri="{FF2B5EF4-FFF2-40B4-BE49-F238E27FC236}">
                <a16:creationId xmlns:a16="http://schemas.microsoft.com/office/drawing/2014/main" id="{E514100D-98EE-6ED6-A772-5904F07CE96C}"/>
              </a:ext>
            </a:extLst>
          </p:cNvPr>
          <p:cNvGrpSpPr/>
          <p:nvPr/>
        </p:nvGrpSpPr>
        <p:grpSpPr>
          <a:xfrm>
            <a:off x="7957018" y="5696932"/>
            <a:ext cx="4080575" cy="755629"/>
            <a:chOff x="7663543" y="5753185"/>
            <a:chExt cx="4080575" cy="755629"/>
          </a:xfrm>
        </p:grpSpPr>
        <p:sp>
          <p:nvSpPr>
            <p:cNvPr id="167" name="Rectangle: Rounded Corners 166">
              <a:extLst>
                <a:ext uri="{FF2B5EF4-FFF2-40B4-BE49-F238E27FC236}">
                  <a16:creationId xmlns:a16="http://schemas.microsoft.com/office/drawing/2014/main" id="{6265E7B5-4B18-AC8D-477A-53064CA53D93}"/>
                </a:ext>
              </a:extLst>
            </p:cNvPr>
            <p:cNvSpPr/>
            <p:nvPr/>
          </p:nvSpPr>
          <p:spPr>
            <a:xfrm>
              <a:off x="7663543" y="5753185"/>
              <a:ext cx="4080575" cy="755629"/>
            </a:xfrm>
            <a:prstGeom prst="roundRect">
              <a:avLst>
                <a:gd name="adj" fmla="val 10980"/>
              </a:avLst>
            </a:prstGeom>
            <a:solidFill>
              <a:srgbClr val="F2F2F2"/>
            </a:solidFill>
            <a:ln w="3175">
              <a:solidFill>
                <a:srgbClr val="00C27A">
                  <a:alpha val="10000"/>
                </a:srgbClr>
              </a:solidFill>
            </a:ln>
          </p:spPr>
          <p:style>
            <a:lnRef idx="1">
              <a:schemeClr val="accent5"/>
            </a:lnRef>
            <a:fillRef idx="3">
              <a:schemeClr val="accent5"/>
            </a:fillRef>
            <a:effectRef idx="2">
              <a:schemeClr val="accent5"/>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1100" i="0" u="none" strike="noStrike" kern="1200" cap="none" spc="-10" normalizeH="0" baseline="0" noProof="0" dirty="0">
                  <a:ln>
                    <a:noFill/>
                  </a:ln>
                  <a:solidFill>
                    <a:srgbClr val="1D1D1D"/>
                  </a:solidFill>
                  <a:effectLst/>
                  <a:uLnTx/>
                  <a:uFillTx/>
                  <a:latin typeface="Arial" pitchFamily="34" charset="0"/>
                  <a:ea typeface="+mn-ea"/>
                  <a:cs typeface="+mn-cs"/>
                </a:rPr>
                <a:t>Legend</a:t>
              </a:r>
            </a:p>
          </p:txBody>
        </p:sp>
        <p:sp>
          <p:nvSpPr>
            <p:cNvPr id="168" name="TextBox 167">
              <a:extLst>
                <a:ext uri="{FF2B5EF4-FFF2-40B4-BE49-F238E27FC236}">
                  <a16:creationId xmlns:a16="http://schemas.microsoft.com/office/drawing/2014/main" id="{53D30479-6B64-F537-A9C1-BFED61366AA3}"/>
                </a:ext>
              </a:extLst>
            </p:cNvPr>
            <p:cNvSpPr txBox="1"/>
            <p:nvPr/>
          </p:nvSpPr>
          <p:spPr>
            <a:xfrm>
              <a:off x="9267759" y="6255737"/>
              <a:ext cx="2452174" cy="222825"/>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rPr>
                <a:t>= Significant Execution Risk, Intervention Required</a:t>
              </a:r>
            </a:p>
          </p:txBody>
        </p:sp>
        <p:sp>
          <p:nvSpPr>
            <p:cNvPr id="169" name="Rectangle: Rounded Corners 168">
              <a:extLst>
                <a:ext uri="{FF2B5EF4-FFF2-40B4-BE49-F238E27FC236}">
                  <a16:creationId xmlns:a16="http://schemas.microsoft.com/office/drawing/2014/main" id="{61498153-FF3F-1166-75D9-04511B1B1D1C}"/>
                </a:ext>
              </a:extLst>
            </p:cNvPr>
            <p:cNvSpPr/>
            <p:nvPr/>
          </p:nvSpPr>
          <p:spPr>
            <a:xfrm>
              <a:off x="9172469" y="6299803"/>
              <a:ext cx="116662" cy="99585"/>
            </a:xfrm>
            <a:prstGeom prst="roundRect">
              <a:avLst>
                <a:gd name="adj" fmla="val 0"/>
              </a:avLst>
            </a:prstGeom>
            <a:solidFill>
              <a:srgbClr val="281A42">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170" name="TextBox 169">
              <a:extLst>
                <a:ext uri="{FF2B5EF4-FFF2-40B4-BE49-F238E27FC236}">
                  <a16:creationId xmlns:a16="http://schemas.microsoft.com/office/drawing/2014/main" id="{363AAC86-5AED-5FE4-F58A-078D03D435B1}"/>
                </a:ext>
              </a:extLst>
            </p:cNvPr>
            <p:cNvSpPr txBox="1"/>
            <p:nvPr/>
          </p:nvSpPr>
          <p:spPr>
            <a:xfrm>
              <a:off x="9267758" y="6083717"/>
              <a:ext cx="2356885" cy="215444"/>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rPr>
                <a:t>= Some Execution Risk, Intervention Suggested</a:t>
              </a:r>
            </a:p>
          </p:txBody>
        </p:sp>
        <p:sp>
          <p:nvSpPr>
            <p:cNvPr id="171" name="Rectangle: Rounded Corners 170">
              <a:extLst>
                <a:ext uri="{FF2B5EF4-FFF2-40B4-BE49-F238E27FC236}">
                  <a16:creationId xmlns:a16="http://schemas.microsoft.com/office/drawing/2014/main" id="{B462CA1D-5214-CA01-06A3-0E34A726D9AB}"/>
                </a:ext>
              </a:extLst>
            </p:cNvPr>
            <p:cNvSpPr/>
            <p:nvPr/>
          </p:nvSpPr>
          <p:spPr>
            <a:xfrm>
              <a:off x="9172469" y="6127782"/>
              <a:ext cx="116662" cy="99585"/>
            </a:xfrm>
            <a:prstGeom prst="roundRect">
              <a:avLst>
                <a:gd name="adj" fmla="val 0"/>
              </a:avLst>
            </a:prstGeom>
            <a:solidFill>
              <a:srgbClr val="FFB547">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172" name="TextBox 171">
              <a:extLst>
                <a:ext uri="{FF2B5EF4-FFF2-40B4-BE49-F238E27FC236}">
                  <a16:creationId xmlns:a16="http://schemas.microsoft.com/office/drawing/2014/main" id="{DA1ACD76-B236-38BA-458E-EBA48471E6C7}"/>
                </a:ext>
              </a:extLst>
            </p:cNvPr>
            <p:cNvSpPr txBox="1"/>
            <p:nvPr/>
          </p:nvSpPr>
          <p:spPr>
            <a:xfrm>
              <a:off x="9267758" y="5904315"/>
              <a:ext cx="2356885" cy="215444"/>
            </a:xfrm>
            <a:prstGeom prst="rect">
              <a:avLst/>
            </a:prstGeom>
            <a:noFill/>
          </p:spPr>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FFFFFF"/>
                  </a:solidFill>
                </a:defRPr>
              </a:pPr>
              <a:r>
                <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rPr>
                <a:t>= No Significant Execution Risk</a:t>
              </a:r>
            </a:p>
          </p:txBody>
        </p:sp>
        <p:sp>
          <p:nvSpPr>
            <p:cNvPr id="173" name="Rectangle: Rounded Corners 172">
              <a:extLst>
                <a:ext uri="{FF2B5EF4-FFF2-40B4-BE49-F238E27FC236}">
                  <a16:creationId xmlns:a16="http://schemas.microsoft.com/office/drawing/2014/main" id="{53B8C1AE-11A3-6353-D415-4C6D42DB2DBA}"/>
                </a:ext>
              </a:extLst>
            </p:cNvPr>
            <p:cNvSpPr/>
            <p:nvPr/>
          </p:nvSpPr>
          <p:spPr>
            <a:xfrm>
              <a:off x="9172469" y="5967438"/>
              <a:ext cx="116662" cy="99585"/>
            </a:xfrm>
            <a:prstGeom prst="rect">
              <a:avLst/>
            </a:prstGeom>
            <a:solidFill>
              <a:srgbClr val="00C27A">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nvGrpSpPr>
            <p:cNvPr id="7" name="Group 6">
              <a:extLst>
                <a:ext uri="{FF2B5EF4-FFF2-40B4-BE49-F238E27FC236}">
                  <a16:creationId xmlns:a16="http://schemas.microsoft.com/office/drawing/2014/main" id="{BBE8DC70-F29F-D16C-693B-D4818319DF12}"/>
                </a:ext>
              </a:extLst>
            </p:cNvPr>
            <p:cNvGrpSpPr/>
            <p:nvPr/>
          </p:nvGrpSpPr>
          <p:grpSpPr>
            <a:xfrm>
              <a:off x="7785358" y="6270717"/>
              <a:ext cx="797296" cy="180000"/>
              <a:chOff x="5444055" y="6242994"/>
              <a:chExt cx="797296" cy="180000"/>
            </a:xfrm>
          </p:grpSpPr>
          <p:sp>
            <p:nvSpPr>
              <p:cNvPr id="11" name="TextBox 10">
                <a:extLst>
                  <a:ext uri="{FF2B5EF4-FFF2-40B4-BE49-F238E27FC236}">
                    <a16:creationId xmlns:a16="http://schemas.microsoft.com/office/drawing/2014/main" id="{42A6D368-AF9B-64E0-6EE8-BF25B13219D3}"/>
                  </a:ext>
                </a:extLst>
              </p:cNvPr>
              <p:cNvSpPr txBox="1">
                <a:spLocks/>
              </p:cNvSpPr>
              <p:nvPr/>
            </p:nvSpPr>
            <p:spPr>
              <a:xfrm>
                <a:off x="5678055" y="6271438"/>
                <a:ext cx="563296" cy="123111"/>
              </a:xfrm>
              <a:prstGeom prst="rect">
                <a:avLst/>
              </a:prstGeom>
              <a:noFill/>
              <a:ln>
                <a:noFill/>
              </a:ln>
            </p:spPr>
            <p:style>
              <a:lnRef idx="1">
                <a:schemeClr val="accent5"/>
              </a:lnRef>
              <a:fillRef idx="3">
                <a:schemeClr val="accent5"/>
              </a:fillRef>
              <a:effectRef idx="2">
                <a:schemeClr val="accent5"/>
              </a:effectRef>
              <a:fontRef idx="minor">
                <a:schemeClr val="lt1"/>
              </a:fontRef>
            </p:style>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1D1D1D"/>
                    </a:solidFill>
                  </a:defRPr>
                </a:pPr>
                <a:r>
                  <a:rPr kumimoji="0" lang="en-US" sz="800" b="0" i="0" u="none" strike="noStrike" kern="1200" cap="none" spc="-10" normalizeH="0" baseline="0" noProof="0" dirty="0">
                    <a:ln>
                      <a:noFill/>
                    </a:ln>
                    <a:solidFill>
                      <a:srgbClr val="1D1D1D"/>
                    </a:solidFill>
                    <a:effectLst/>
                    <a:uLnTx/>
                    <a:uFillTx/>
                    <a:latin typeface="Arial" pitchFamily="34" charset="0"/>
                    <a:ea typeface="+mn-ea"/>
                    <a:cs typeface="+mn-cs"/>
                  </a:rPr>
                  <a:t>New Role</a:t>
                </a:r>
              </a:p>
            </p:txBody>
          </p:sp>
          <p:sp>
            <p:nvSpPr>
              <p:cNvPr id="5" name="TextBox 4">
                <a:extLst>
                  <a:ext uri="{FF2B5EF4-FFF2-40B4-BE49-F238E27FC236}">
                    <a16:creationId xmlns:a16="http://schemas.microsoft.com/office/drawing/2014/main" id="{6FC7B953-F702-A0C8-0FCF-8A54E7013ED8}"/>
                  </a:ext>
                </a:extLst>
              </p:cNvPr>
              <p:cNvSpPr txBox="1">
                <a:spLocks/>
              </p:cNvSpPr>
              <p:nvPr/>
            </p:nvSpPr>
            <p:spPr>
              <a:xfrm>
                <a:off x="5444055" y="6242994"/>
                <a:ext cx="180000" cy="180000"/>
              </a:xfrm>
              <a:prstGeom prst="rect">
                <a:avLst/>
              </a:prstGeom>
              <a:solidFill>
                <a:srgbClr val="60BDBC">
                  <a:alpha val="49804"/>
                </a:srgbClr>
              </a:solidFill>
              <a:ln>
                <a:noFill/>
              </a:ln>
            </p:spPr>
            <p:style>
              <a:lnRef idx="1">
                <a:schemeClr val="accent5"/>
              </a:lnRef>
              <a:fillRef idx="3">
                <a:schemeClr val="accent5"/>
              </a:fillRef>
              <a:effectRef idx="2">
                <a:schemeClr val="accent5"/>
              </a:effectRef>
              <a:fontRef idx="minor">
                <a:schemeClr val="lt1"/>
              </a:fontRef>
            </p:style>
            <p:txBody>
              <a:bodyPr wrap="square" lIns="72000" tIns="72000" rIns="72000" bIns="7200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10" normalizeH="0" baseline="0" noProof="0" dirty="0">
                  <a:ln>
                    <a:noFill/>
                  </a:ln>
                  <a:solidFill>
                    <a:srgbClr val="585858"/>
                  </a:solidFill>
                  <a:effectLst/>
                  <a:uLnTx/>
                  <a:uFillTx/>
                  <a:latin typeface="Arial" pitchFamily="34" charset="0"/>
                  <a:ea typeface="+mn-ea"/>
                  <a:cs typeface="+mn-cs"/>
                </a:endParaRPr>
              </a:p>
            </p:txBody>
          </p:sp>
        </p:grpSp>
      </p:grpSp>
      <p:sp>
        <p:nvSpPr>
          <p:cNvPr id="6" name="Title 1">
            <a:extLst>
              <a:ext uri="{FF2B5EF4-FFF2-40B4-BE49-F238E27FC236}">
                <a16:creationId xmlns:a16="http://schemas.microsoft.com/office/drawing/2014/main" id="{1DB6AA46-31BB-D52E-4EB8-179660249866}"/>
              </a:ext>
            </a:extLst>
          </p:cNvPr>
          <p:cNvSpPr txBox="1">
            <a:spLocks/>
          </p:cNvSpPr>
          <p:nvPr/>
        </p:nvSpPr>
        <p:spPr>
          <a:xfrm>
            <a:off x="577069" y="5643228"/>
            <a:ext cx="7115843" cy="411539"/>
          </a:xfrm>
          <a:prstGeom prst="rect">
            <a:avLst/>
          </a:prstGeom>
          <a:noFill/>
        </p:spPr>
        <p:txBody>
          <a:bodyPr vert="horz" lIns="91440" tIns="45720" rIns="91440" bIns="45720" rtlCol="0" anchor="ctr">
            <a:noAutofit/>
          </a:bodyPr>
          <a:lstStyle>
            <a:lvl1pPr>
              <a:defRPr sz="2400" i="0" spc="-10">
                <a:solidFill>
                  <a:srgbClr val="1D1D1D"/>
                </a:solidFill>
                <a:latin typeface="Arial" pitchFamily="34" charset="0"/>
                <a:ea typeface="+mj-ea"/>
                <a:cs typeface="Lato Light" panose="020F0402020204030203" pitchFamily="34" charset="0"/>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Human Capital Balance sheet represents the </a:t>
            </a:r>
            <a:r>
              <a:rPr kumimoji="0" lang="en-US" sz="1200" b="0" i="1"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business view </a:t>
            </a:r>
            <a:r>
              <a:rPr kumimoji="0" lang="en-US" sz="1200" b="0" i="1"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of overall talent risk (red-amber-green)</a:t>
            </a:r>
          </a:p>
        </p:txBody>
      </p:sp>
      <p:pic>
        <p:nvPicPr>
          <p:cNvPr id="9" name="Picture 8">
            <a:extLst>
              <a:ext uri="{FF2B5EF4-FFF2-40B4-BE49-F238E27FC236}">
                <a16:creationId xmlns:a16="http://schemas.microsoft.com/office/drawing/2014/main" id="{2CDE5E27-2CA3-CFB3-CB4F-4A7712BB97C3}"/>
              </a:ext>
            </a:extLst>
          </p:cNvPr>
          <p:cNvPicPr>
            <a:picLocks noChangeAspect="1"/>
          </p:cNvPicPr>
          <p:nvPr/>
        </p:nvPicPr>
        <p:blipFill>
          <a:blip r:embed="rId3"/>
          <a:stretch>
            <a:fillRect/>
          </a:stretch>
        </p:blipFill>
        <p:spPr>
          <a:xfrm>
            <a:off x="525041" y="952496"/>
            <a:ext cx="7822692" cy="4597908"/>
          </a:xfrm>
          <a:prstGeom prst="rect">
            <a:avLst/>
          </a:prstGeom>
        </p:spPr>
      </p:pic>
      <p:sp>
        <p:nvSpPr>
          <p:cNvPr id="12" name="TextBox 11">
            <a:extLst>
              <a:ext uri="{FF2B5EF4-FFF2-40B4-BE49-F238E27FC236}">
                <a16:creationId xmlns:a16="http://schemas.microsoft.com/office/drawing/2014/main" id="{98B8CC48-C3BF-A564-BE24-6802C9AC8B4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74"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5ADA00C0-821D-4F80-B1E7-8A9D92D4D512}" type="slidenum">
              <a:t>28</a:t>
            </a:fld>
            <a:endParaRPr lang="en-US"/>
          </a:p>
        </p:txBody>
      </p:sp>
    </p:spTree>
    <p:extLst>
      <p:ext uri="{BB962C8B-B14F-4D97-AF65-F5344CB8AC3E}">
        <p14:creationId xmlns:p14="http://schemas.microsoft.com/office/powerpoint/2010/main" val="4155813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E2150-9C4C-B477-A6A7-9D8846317917}"/>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DC06DE47-5968-5E1F-9E5B-3234EF709D8F}"/>
              </a:ext>
            </a:extLst>
          </p:cNvPr>
          <p:cNvSpPr txBox="1">
            <a:spLocks noGrp="1"/>
          </p:cNvSpPr>
          <p:nvPr>
            <p:ph type="title"/>
          </p:nvPr>
        </p:nvSpPr>
        <p:spPr>
          <a:noFill/>
        </p:spPr>
        <p:txBody>
          <a:bodyPr anchor="ctr"/>
          <a:lstStyle/>
          <a:p>
            <a:pPr>
              <a:buNone/>
            </a:pPr>
            <a:r>
              <a:rPr lang="en-US" dirty="0"/>
              <a:t>HR Strategy to Value</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7A144562-1C12-43C2-9EC2-BFD0D9C6A3EE}" type="slidenum">
              <a:t>29</a:t>
            </a:fld>
            <a:endParaRPr lang="en-US"/>
          </a:p>
        </p:txBody>
      </p:sp>
    </p:spTree>
    <p:extLst>
      <p:ext uri="{BB962C8B-B14F-4D97-AF65-F5344CB8AC3E}">
        <p14:creationId xmlns:p14="http://schemas.microsoft.com/office/powerpoint/2010/main" val="162898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6719-0407-5417-59F2-447EB03714E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316ED8B-F0B9-207E-81B1-1C221DB39632}"/>
              </a:ext>
            </a:extLst>
          </p:cNvPr>
          <p:cNvSpPr>
            <a:spLocks noGrp="1"/>
          </p:cNvSpPr>
          <p:nvPr>
            <p:ph type="title" sz="quarter"/>
          </p:nvPr>
        </p:nvSpPr>
        <p:spPr/>
        <p:txBody>
          <a:bodyPr/>
          <a:lstStyle/>
          <a:p>
            <a:endParaRPr lang="en-US" b="1" dirty="0">
              <a:solidFill>
                <a:srgbClr val="281A42"/>
              </a:solidFill>
              <a:latin typeface="+mn-lt"/>
            </a:endParaRPr>
          </a:p>
        </p:txBody>
      </p:sp>
      <p:sp>
        <p:nvSpPr>
          <p:cNvPr id="8" name="Oval 7">
            <a:extLst>
              <a:ext uri="{FF2B5EF4-FFF2-40B4-BE49-F238E27FC236}">
                <a16:creationId xmlns:a16="http://schemas.microsoft.com/office/drawing/2014/main" id="{256BEB58-FC8B-AE38-0F57-BB506F73CCDD}"/>
              </a:ext>
            </a:extLst>
          </p:cNvPr>
          <p:cNvSpPr/>
          <p:nvPr/>
        </p:nvSpPr>
        <p:spPr>
          <a:xfrm>
            <a:off x="2683326" y="2246972"/>
            <a:ext cx="2669017" cy="2533049"/>
          </a:xfrm>
          <a:prstGeom prst="ellipse">
            <a:avLst/>
          </a:prstGeom>
          <a:solidFill>
            <a:srgbClr val="F2F2F2"/>
          </a:solidFill>
          <a:ln>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r>
              <a:rPr lang="en-US" sz="2133" b="1" spc="-10" dirty="0">
                <a:solidFill>
                  <a:srgbClr val="281A42"/>
                </a:solidFill>
                <a:latin typeface="Segoe UI" pitchFamily="34" charset="0"/>
              </a:rPr>
              <a:t>TALENT </a:t>
            </a:r>
            <a:br>
              <a:rPr lang="en-US" sz="2133" b="1" spc="-10" dirty="0">
                <a:solidFill>
                  <a:srgbClr val="281A42"/>
                </a:solidFill>
                <a:latin typeface="Segoe UI" pitchFamily="34" charset="0"/>
              </a:rPr>
            </a:br>
            <a:r>
              <a:rPr lang="en-US" sz="2133" b="1" spc="-10" dirty="0">
                <a:solidFill>
                  <a:srgbClr val="281A42"/>
                </a:solidFill>
                <a:latin typeface="Segoe UI" pitchFamily="34" charset="0"/>
              </a:rPr>
              <a:t>TO </a:t>
            </a:r>
            <a:br>
              <a:rPr lang="en-US" sz="2133" b="1" spc="-10" dirty="0">
                <a:solidFill>
                  <a:srgbClr val="281A42"/>
                </a:solidFill>
                <a:latin typeface="Segoe UI" pitchFamily="34" charset="0"/>
              </a:rPr>
            </a:br>
            <a:r>
              <a:rPr lang="en-US" sz="2133" b="1" spc="-10" dirty="0">
                <a:solidFill>
                  <a:srgbClr val="281A42"/>
                </a:solidFill>
                <a:latin typeface="Segoe UI" pitchFamily="34" charset="0"/>
              </a:rPr>
              <a:t>VALUE</a:t>
            </a:r>
          </a:p>
        </p:txBody>
      </p:sp>
      <p:sp>
        <p:nvSpPr>
          <p:cNvPr id="10" name="Rectangle: Rounded Corners 9">
            <a:extLst>
              <a:ext uri="{FF2B5EF4-FFF2-40B4-BE49-F238E27FC236}">
                <a16:creationId xmlns:a16="http://schemas.microsoft.com/office/drawing/2014/main" id="{5F6CD633-75B2-149C-9C9E-A1FBEC556A78}"/>
              </a:ext>
            </a:extLst>
          </p:cNvPr>
          <p:cNvSpPr/>
          <p:nvPr/>
        </p:nvSpPr>
        <p:spPr>
          <a:xfrm>
            <a:off x="6096000" y="2853694"/>
            <a:ext cx="3677539" cy="1232637"/>
          </a:xfrm>
          <a:prstGeom prst="roundRect">
            <a:avLst/>
          </a:prstGeom>
          <a:noFill/>
          <a:ln w="28575">
            <a:solidFill>
              <a:srgbClr val="281A42"/>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r>
              <a:rPr lang="en-US" sz="1333" b="1" spc="-10" dirty="0">
                <a:solidFill>
                  <a:srgbClr val="281A42"/>
                </a:solidFill>
                <a:latin typeface="Segoe UI" pitchFamily="34" charset="0"/>
              </a:rPr>
              <a:t>                 </a:t>
            </a:r>
            <a:r>
              <a:rPr lang="en-US" sz="1600" b="1" spc="-10" dirty="0">
                <a:solidFill>
                  <a:srgbClr val="281A42"/>
                </a:solidFill>
                <a:latin typeface="Segoe UI" pitchFamily="34" charset="0"/>
              </a:rPr>
              <a:t>HR STRATEGY TO VALUE</a:t>
            </a:r>
          </a:p>
        </p:txBody>
      </p:sp>
      <p:sp>
        <p:nvSpPr>
          <p:cNvPr id="12" name="Isosceles Triangle 11">
            <a:extLst>
              <a:ext uri="{FF2B5EF4-FFF2-40B4-BE49-F238E27FC236}">
                <a16:creationId xmlns:a16="http://schemas.microsoft.com/office/drawing/2014/main" id="{7D4D43AD-9C95-1B74-5680-DB6663A5069A}"/>
              </a:ext>
            </a:extLst>
          </p:cNvPr>
          <p:cNvSpPr/>
          <p:nvPr/>
        </p:nvSpPr>
        <p:spPr>
          <a:xfrm>
            <a:off x="3859933" y="1796972"/>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13" name="Isosceles Triangle 12">
            <a:extLst>
              <a:ext uri="{FF2B5EF4-FFF2-40B4-BE49-F238E27FC236}">
                <a16:creationId xmlns:a16="http://schemas.microsoft.com/office/drawing/2014/main" id="{4F43B1C4-5C3B-CEAD-916A-4C8A2480FC92}"/>
              </a:ext>
            </a:extLst>
          </p:cNvPr>
          <p:cNvSpPr/>
          <p:nvPr/>
        </p:nvSpPr>
        <p:spPr>
          <a:xfrm flipV="1">
            <a:off x="3865028" y="4957780"/>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14" name="Isosceles Triangle 13">
            <a:extLst>
              <a:ext uri="{FF2B5EF4-FFF2-40B4-BE49-F238E27FC236}">
                <a16:creationId xmlns:a16="http://schemas.microsoft.com/office/drawing/2014/main" id="{B7F2F63C-5BC7-9B5A-4FAE-62626FC2F8B8}"/>
              </a:ext>
            </a:extLst>
          </p:cNvPr>
          <p:cNvSpPr/>
          <p:nvPr/>
        </p:nvSpPr>
        <p:spPr>
          <a:xfrm rot="16200000" flipV="1">
            <a:off x="5525523" y="3377374"/>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15" name="Isosceles Triangle 14">
            <a:extLst>
              <a:ext uri="{FF2B5EF4-FFF2-40B4-BE49-F238E27FC236}">
                <a16:creationId xmlns:a16="http://schemas.microsoft.com/office/drawing/2014/main" id="{576EFFAF-846D-C901-01D4-4B481722D1F1}"/>
              </a:ext>
            </a:extLst>
          </p:cNvPr>
          <p:cNvSpPr/>
          <p:nvPr/>
        </p:nvSpPr>
        <p:spPr>
          <a:xfrm rot="5400000" flipH="1" flipV="1">
            <a:off x="2194345" y="3377374"/>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16" name="Isosceles Triangle 15">
            <a:extLst>
              <a:ext uri="{FF2B5EF4-FFF2-40B4-BE49-F238E27FC236}">
                <a16:creationId xmlns:a16="http://schemas.microsoft.com/office/drawing/2014/main" id="{EBDC4323-415E-F3A1-CB64-4ED1FA9B855E}"/>
              </a:ext>
            </a:extLst>
          </p:cNvPr>
          <p:cNvSpPr/>
          <p:nvPr/>
        </p:nvSpPr>
        <p:spPr>
          <a:xfrm rot="14104401" flipV="1">
            <a:off x="5116599" y="2304025"/>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sp>
        <p:nvSpPr>
          <p:cNvPr id="17" name="Isosceles Triangle 16">
            <a:extLst>
              <a:ext uri="{FF2B5EF4-FFF2-40B4-BE49-F238E27FC236}">
                <a16:creationId xmlns:a16="http://schemas.microsoft.com/office/drawing/2014/main" id="{2049448E-D2DD-F62C-7B8D-1EBD03C8C242}"/>
              </a:ext>
            </a:extLst>
          </p:cNvPr>
          <p:cNvSpPr/>
          <p:nvPr/>
        </p:nvSpPr>
        <p:spPr>
          <a:xfrm rot="3011388" flipH="1" flipV="1">
            <a:off x="2606921" y="4460773"/>
            <a:ext cx="315800" cy="272241"/>
          </a:xfrm>
          <a:prstGeom prst="triangle">
            <a:avLst/>
          </a:prstGeom>
          <a:solidFill>
            <a:srgbClr val="B2BBC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1D1D1D"/>
              </a:solidFill>
              <a:latin typeface="Arial" pitchFamily="34" charset="0"/>
            </a:endParaRPr>
          </a:p>
        </p:txBody>
      </p:sp>
      <p:grpSp>
        <p:nvGrpSpPr>
          <p:cNvPr id="18" name="Group 17">
            <a:extLst>
              <a:ext uri="{FF2B5EF4-FFF2-40B4-BE49-F238E27FC236}">
                <a16:creationId xmlns:a16="http://schemas.microsoft.com/office/drawing/2014/main" id="{6A68F9E1-1D2C-C789-49CF-D07D1211A230}"/>
              </a:ext>
            </a:extLst>
          </p:cNvPr>
          <p:cNvGrpSpPr/>
          <p:nvPr/>
        </p:nvGrpSpPr>
        <p:grpSpPr>
          <a:xfrm flipV="1">
            <a:off x="2577729" y="2298903"/>
            <a:ext cx="2781919" cy="2472547"/>
            <a:chOff x="4456560" y="2353424"/>
            <a:chExt cx="2774521" cy="2465972"/>
          </a:xfrm>
          <a:solidFill>
            <a:srgbClr val="F2F2F2"/>
          </a:solidFill>
        </p:grpSpPr>
        <p:sp>
          <p:nvSpPr>
            <p:cNvPr id="19" name="Isosceles Triangle 18">
              <a:extLst>
                <a:ext uri="{FF2B5EF4-FFF2-40B4-BE49-F238E27FC236}">
                  <a16:creationId xmlns:a16="http://schemas.microsoft.com/office/drawing/2014/main" id="{C670811C-A904-EC29-9A55-24406776E5B8}"/>
                </a:ext>
              </a:extLst>
            </p:cNvPr>
            <p:cNvSpPr/>
            <p:nvPr/>
          </p:nvSpPr>
          <p:spPr>
            <a:xfrm rot="14104401" flipV="1">
              <a:off x="6937843" y="2375145"/>
              <a:ext cx="314960" cy="2715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FFFFFF"/>
                </a:solidFill>
                <a:latin typeface="Arial" pitchFamily="34" charset="0"/>
              </a:endParaRPr>
            </a:p>
          </p:txBody>
        </p:sp>
        <p:sp>
          <p:nvSpPr>
            <p:cNvPr id="20" name="Isosceles Triangle 19">
              <a:extLst>
                <a:ext uri="{FF2B5EF4-FFF2-40B4-BE49-F238E27FC236}">
                  <a16:creationId xmlns:a16="http://schemas.microsoft.com/office/drawing/2014/main" id="{7B7AFB6D-F8D5-6C53-B6CE-4928B5913B19}"/>
                </a:ext>
              </a:extLst>
            </p:cNvPr>
            <p:cNvSpPr/>
            <p:nvPr/>
          </p:nvSpPr>
          <p:spPr>
            <a:xfrm rot="3011388" flipH="1" flipV="1">
              <a:off x="4434839" y="4526157"/>
              <a:ext cx="314960" cy="271517"/>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FFFFFF"/>
                </a:solidFill>
                <a:latin typeface="Arial" pitchFamily="34" charset="0"/>
              </a:endParaRPr>
            </a:p>
          </p:txBody>
        </p:sp>
      </p:grpSp>
      <p:pic>
        <p:nvPicPr>
          <p:cNvPr id="21" name="Graphic 20" descr="Playbook outline">
            <a:extLst>
              <a:ext uri="{FF2B5EF4-FFF2-40B4-BE49-F238E27FC236}">
                <a16:creationId xmlns:a16="http://schemas.microsoft.com/office/drawing/2014/main" id="{4C5974B9-D370-6B4F-ADDF-241ABD41C344}"/>
              </a:ext>
            </a:extLst>
          </p:cNvPr>
          <p:cNvPicPr>
            <a:picLocks noChangeAspect="1"/>
          </p:cNvPicPr>
          <p:nvPr/>
        </p:nvPicPr>
        <p:blipFill>
          <a:blip r:embed="rId3">
            <a:duotone>
              <a:srgbClr val="765FFF"/>
              <a:srgbClr val="FFFFFF"/>
            </a:duotone>
          </a:blip>
          <a:stretch>
            <a:fillRect/>
          </a:stretch>
        </p:blipFill>
        <p:spPr>
          <a:xfrm>
            <a:off x="6096000" y="3006257"/>
            <a:ext cx="1045141" cy="927512"/>
          </a:xfrm>
          <a:prstGeom prst="rect">
            <a:avLst/>
          </a:prstGeom>
        </p:spPr>
      </p:pic>
      <p:sp>
        <p:nvSpPr>
          <p:cNvPr id="22" name="Isosceles Triangle 21">
            <a:extLst>
              <a:ext uri="{FF2B5EF4-FFF2-40B4-BE49-F238E27FC236}">
                <a16:creationId xmlns:a16="http://schemas.microsoft.com/office/drawing/2014/main" id="{2070A5A3-C911-9E00-81E0-94EBA17C96B1}"/>
              </a:ext>
            </a:extLst>
          </p:cNvPr>
          <p:cNvSpPr/>
          <p:nvPr/>
        </p:nvSpPr>
        <p:spPr>
          <a:xfrm flipV="1">
            <a:off x="7776869" y="2320682"/>
            <a:ext cx="315800" cy="272241"/>
          </a:xfrm>
          <a:prstGeom prst="triangle">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F2F2F2">
                  <a:lumMod val="25000"/>
                </a:srgbClr>
              </a:solidFill>
              <a:latin typeface="Arial" pitchFamily="34" charset="0"/>
            </a:endParaRPr>
          </a:p>
        </p:txBody>
      </p:sp>
      <p:sp>
        <p:nvSpPr>
          <p:cNvPr id="23" name="Isosceles Triangle 22">
            <a:extLst>
              <a:ext uri="{FF2B5EF4-FFF2-40B4-BE49-F238E27FC236}">
                <a16:creationId xmlns:a16="http://schemas.microsoft.com/office/drawing/2014/main" id="{D1315567-1CC6-C4A0-7C81-6D44392EC21C}"/>
              </a:ext>
            </a:extLst>
          </p:cNvPr>
          <p:cNvSpPr/>
          <p:nvPr/>
        </p:nvSpPr>
        <p:spPr>
          <a:xfrm>
            <a:off x="7776869" y="4341308"/>
            <a:ext cx="315800" cy="272241"/>
          </a:xfrm>
          <a:prstGeom prst="triangle">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endParaRPr lang="en-US" sz="1333" spc="-10" dirty="0">
              <a:solidFill>
                <a:srgbClr val="FFFFFF"/>
              </a:solidFill>
              <a:latin typeface="Arial" pitchFamily="34" charset="0"/>
            </a:endParaRPr>
          </a:p>
        </p:txBody>
      </p:sp>
      <p:sp>
        <p:nvSpPr>
          <p:cNvPr id="24" name="Rectangle: Rounded Corners 23">
            <a:extLst>
              <a:ext uri="{FF2B5EF4-FFF2-40B4-BE49-F238E27FC236}">
                <a16:creationId xmlns:a16="http://schemas.microsoft.com/office/drawing/2014/main" id="{02C9D751-1E2F-0694-2F67-87E0B5365363}"/>
              </a:ext>
            </a:extLst>
          </p:cNvPr>
          <p:cNvSpPr/>
          <p:nvPr/>
        </p:nvSpPr>
        <p:spPr>
          <a:xfrm>
            <a:off x="6096000" y="4957780"/>
            <a:ext cx="3677539" cy="720473"/>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r>
              <a:rPr lang="en-US" sz="1867" spc="-10" dirty="0">
                <a:solidFill>
                  <a:srgbClr val="3B3B3B"/>
                </a:solidFill>
                <a:latin typeface="Arial" pitchFamily="34" charset="0"/>
              </a:rPr>
              <a:t>Data driven; evidence based</a:t>
            </a:r>
            <a:br>
              <a:rPr lang="en-US" sz="1867" spc="-10" dirty="0">
                <a:solidFill>
                  <a:srgbClr val="3B3B3B"/>
                </a:solidFill>
                <a:latin typeface="Arial" pitchFamily="34" charset="0"/>
              </a:rPr>
            </a:br>
            <a:r>
              <a:rPr lang="en-US" sz="1867" spc="-10" dirty="0">
                <a:solidFill>
                  <a:srgbClr val="3B3B3B"/>
                </a:solidFill>
                <a:latin typeface="Arial" pitchFamily="34" charset="0"/>
              </a:rPr>
              <a:t>Human Capital Insights </a:t>
            </a:r>
          </a:p>
        </p:txBody>
      </p:sp>
      <p:sp>
        <p:nvSpPr>
          <p:cNvPr id="25" name="Rectangle: Rounded Corners 24">
            <a:extLst>
              <a:ext uri="{FF2B5EF4-FFF2-40B4-BE49-F238E27FC236}">
                <a16:creationId xmlns:a16="http://schemas.microsoft.com/office/drawing/2014/main" id="{E3987E05-A0CC-CF56-400F-A75155871130}"/>
              </a:ext>
            </a:extLst>
          </p:cNvPr>
          <p:cNvSpPr/>
          <p:nvPr/>
        </p:nvSpPr>
        <p:spPr>
          <a:xfrm>
            <a:off x="6096000" y="1345233"/>
            <a:ext cx="3677539" cy="720473"/>
          </a:xfrm>
          <a:prstGeom prst="roundRect">
            <a:avLst/>
          </a:prstGeom>
          <a:noFill/>
          <a:ln w="28575">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609585"/>
            <a:r>
              <a:rPr lang="en-US" sz="1867" b="1" spc="-25" dirty="0">
                <a:solidFill>
                  <a:srgbClr val="3B3B3B"/>
                </a:solidFill>
                <a:latin typeface="Segoe UI" pitchFamily="34" charset="0"/>
              </a:rPr>
              <a:t>Connected to Business Value &amp; </a:t>
            </a:r>
            <a:br>
              <a:rPr lang="en-US" sz="1867" b="1" spc="-25" dirty="0">
                <a:solidFill>
                  <a:srgbClr val="3B3B3B"/>
                </a:solidFill>
                <a:latin typeface="Segoe UI" pitchFamily="34" charset="0"/>
              </a:rPr>
            </a:br>
            <a:r>
              <a:rPr lang="en-US" sz="1867" b="1" spc="-25" dirty="0">
                <a:solidFill>
                  <a:srgbClr val="3B3B3B"/>
                </a:solidFill>
                <a:latin typeface="Segoe UI" pitchFamily="34" charset="0"/>
              </a:rPr>
              <a:t>Jobs to Be Done</a:t>
            </a:r>
          </a:p>
        </p:txBody>
      </p:sp>
      <p:sp>
        <p:nvSpPr>
          <p:cNvPr id="26" name="TextBox 25">
            <a:extLst>
              <a:ext uri="{FF2B5EF4-FFF2-40B4-BE49-F238E27FC236}">
                <a16:creationId xmlns:a16="http://schemas.microsoft.com/office/drawing/2014/main" id="{4B502F09-8F9F-F813-3016-884C127AE47D}"/>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27" name="SubtitleSplit"/>
          <p:cNvSpPr>
            <a:spLocks noGrp="1"/>
          </p:cNvSpPr>
          <p:nvPr>
            <p:ph type="subTitle" idx="1"/>
          </p:nvPr>
        </p:nvSpPr>
        <p:spPr>
          <a:noFill/>
        </p:spPr>
        <p:txBody>
          <a:bodyPr/>
          <a:lstStyle/>
          <a:p>
            <a:r>
              <a:t>HR strategy</a:t>
            </a:r>
            <a:endParaRPr lang="en-US" b="0" spc="-10">
              <a:latin typeface="Segoe UI" pitchFamily="34" charset="0"/>
            </a:endParaRPr>
          </a:p>
        </p:txBody>
      </p:sp>
      <p:sp>
        <p:nvSpPr>
          <p:cNvPr id="28"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31C1B795-172B-4D77-BCB3-92898C390DED}" type="slidenum">
              <a:t>30</a:t>
            </a:fld>
            <a:endParaRPr lang="en-US"/>
          </a:p>
        </p:txBody>
      </p:sp>
    </p:spTree>
    <p:extLst>
      <p:ext uri="{BB962C8B-B14F-4D97-AF65-F5344CB8AC3E}">
        <p14:creationId xmlns:p14="http://schemas.microsoft.com/office/powerpoint/2010/main" val="19578258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EF568-90E8-69AF-A54D-DE29367F716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46FC75A-1861-6FB9-AF53-9B40F4303361}"/>
              </a:ext>
            </a:extLst>
          </p:cNvPr>
          <p:cNvSpPr>
            <a:spLocks noGrp="1"/>
          </p:cNvSpPr>
          <p:nvPr>
            <p:ph type="title" sz="quarter"/>
          </p:nvPr>
        </p:nvSpPr>
        <p:spPr/>
        <p:txBody>
          <a:bodyPr/>
          <a:lstStyle/>
          <a:p>
            <a:endParaRPr lang="en-US" b="1" dirty="0">
              <a:solidFill>
                <a:srgbClr val="281A42"/>
              </a:solidFill>
              <a:latin typeface="+mn-lt"/>
            </a:endParaRPr>
          </a:p>
        </p:txBody>
      </p:sp>
      <p:graphicFrame>
        <p:nvGraphicFramePr>
          <p:cNvPr id="7" name="Table 6">
            <a:extLst>
              <a:ext uri="{FF2B5EF4-FFF2-40B4-BE49-F238E27FC236}">
                <a16:creationId xmlns:a16="http://schemas.microsoft.com/office/drawing/2014/main" id="{36881570-52EC-5AB1-CD37-854FAB5C3EB4}"/>
              </a:ext>
            </a:extLst>
          </p:cNvPr>
          <p:cNvGraphicFramePr>
            <a:graphicFrameLocks noGrp="1"/>
          </p:cNvGraphicFramePr>
          <p:nvPr>
            <p:extLst>
              <p:ext uri="{D42A27DB-BD31-4B8C-83A1-F6EECF244321}">
                <p14:modId xmlns:p14="http://schemas.microsoft.com/office/powerpoint/2010/main" val="540863494"/>
              </p:ext>
            </p:extLst>
          </p:nvPr>
        </p:nvGraphicFramePr>
        <p:xfrm>
          <a:off x="557048" y="2637308"/>
          <a:ext cx="5297652" cy="3055620"/>
        </p:xfrm>
        <a:graphic>
          <a:graphicData uri="http://schemas.openxmlformats.org/drawingml/2006/table">
            <a:tbl>
              <a:tblPr firstRow="1" bandRow="1"/>
              <a:tblGrid>
                <a:gridCol w="5297652">
                  <a:extLst>
                    <a:ext uri="{9D8B030D-6E8A-4147-A177-3AD203B41FA5}">
                      <a16:colId xmlns:a16="http://schemas.microsoft.com/office/drawing/2014/main" val="3622027885"/>
                    </a:ext>
                  </a:extLst>
                </a:gridCol>
              </a:tblGrid>
              <a:tr h="2764226">
                <a:tc>
                  <a:txBody>
                    <a:bodyPr/>
                    <a:lstStyle>
                      <a:lvl1pPr marL="0" algn="l" defTabSz="914400" rtl="0" eaLnBrk="1" latinLnBrk="0" hangingPunct="1">
                        <a:defRPr sz="1200" b="1" kern="1200">
                          <a:solidFill>
                            <a:srgbClr val="FFFFFF"/>
                          </a:solidFill>
                          <a:latin typeface="Arial" pitchFamily="34" charset="0"/>
                        </a:defRPr>
                      </a:lvl1pPr>
                      <a:lvl2pPr marL="457200" algn="l" defTabSz="914400" rtl="0" eaLnBrk="1" latinLnBrk="0" hangingPunct="1">
                        <a:defRPr sz="1200" b="1" kern="1200">
                          <a:solidFill>
                            <a:srgbClr val="FFFFFF"/>
                          </a:solidFill>
                          <a:latin typeface="Arial" pitchFamily="34" charset="0"/>
                        </a:defRPr>
                      </a:lvl2pPr>
                      <a:lvl3pPr marL="914400" algn="l" defTabSz="914400" rtl="0" eaLnBrk="1" latinLnBrk="0" hangingPunct="1">
                        <a:defRPr sz="1200" b="1" kern="1200">
                          <a:solidFill>
                            <a:srgbClr val="FFFFFF"/>
                          </a:solidFill>
                          <a:latin typeface="Arial" pitchFamily="34" charset="0"/>
                        </a:defRPr>
                      </a:lvl3pPr>
                      <a:lvl4pPr marL="1371600" algn="l" defTabSz="914400" rtl="0" eaLnBrk="1" latinLnBrk="0" hangingPunct="1">
                        <a:defRPr sz="1200" b="1" kern="1200">
                          <a:solidFill>
                            <a:srgbClr val="FFFFFF"/>
                          </a:solidFill>
                          <a:latin typeface="Arial" pitchFamily="34" charset="0"/>
                        </a:defRPr>
                      </a:lvl4pPr>
                      <a:lvl5pPr marL="1828800" algn="l" defTabSz="914400" rtl="0" eaLnBrk="1" latinLnBrk="0" hangingPunct="1">
                        <a:defRPr sz="1200" b="1" kern="1200">
                          <a:solidFill>
                            <a:srgbClr val="FFFFFF"/>
                          </a:solidFill>
                          <a:latin typeface="Arial" pitchFamily="34" charset="0"/>
                        </a:defRPr>
                      </a:lvl5pPr>
                      <a:lvl6pPr marL="2286000" algn="l" defTabSz="914400" rtl="0" eaLnBrk="1" latinLnBrk="0" hangingPunct="1">
                        <a:defRPr sz="1200" b="1" kern="1200">
                          <a:solidFill>
                            <a:srgbClr val="FFFFFF"/>
                          </a:solidFill>
                          <a:latin typeface="Arial" pitchFamily="34" charset="0"/>
                        </a:defRPr>
                      </a:lvl6pPr>
                      <a:lvl7pPr marL="2743200" algn="l" defTabSz="914400" rtl="0" eaLnBrk="1" latinLnBrk="0" hangingPunct="1">
                        <a:defRPr sz="1200" b="1" kern="1200">
                          <a:solidFill>
                            <a:srgbClr val="FFFFFF"/>
                          </a:solidFill>
                          <a:latin typeface="Arial" pitchFamily="34" charset="0"/>
                        </a:defRPr>
                      </a:lvl7pPr>
                      <a:lvl8pPr marL="3200400" algn="l" defTabSz="914400" rtl="0" eaLnBrk="1" latinLnBrk="0" hangingPunct="1">
                        <a:defRPr sz="1200" b="1" kern="1200">
                          <a:solidFill>
                            <a:srgbClr val="FFFFFF"/>
                          </a:solidFill>
                          <a:latin typeface="Arial" pitchFamily="34" charset="0"/>
                        </a:defRPr>
                      </a:lvl8pPr>
                      <a:lvl9pPr marL="3657600" algn="l" defTabSz="914400" rtl="0" eaLnBrk="1" latinLnBrk="0" hangingPunct="1">
                        <a:defRPr sz="1200" b="1" kern="1200">
                          <a:solidFill>
                            <a:srgbClr val="FFFFFF"/>
                          </a:solidFill>
                          <a:latin typeface="Arial" pitchFamily="34" charset="0"/>
                        </a:defRPr>
                      </a:lvl9pPr>
                    </a:lstStyle>
                    <a:p>
                      <a:pPr marL="228600" indent="-228600">
                        <a:spcAft>
                          <a:spcPts val="300"/>
                        </a:spcAft>
                        <a:buFont typeface="+mj-lt"/>
                        <a:buAutoNum type="arabicPeriod"/>
                      </a:pPr>
                      <a:r>
                        <a:rPr lang="en-US" sz="1200" b="1" dirty="0">
                          <a:solidFill>
                            <a:srgbClr val="FFFFFF"/>
                          </a:solidFill>
                          <a:latin typeface="Arial" pitchFamily="34" charset="0"/>
                          <a:ea typeface="Lato Light" panose="020F0502020204030203" pitchFamily="34" charset="0"/>
                          <a:cs typeface="Lato Light" panose="020F0502020204030203" pitchFamily="34" charset="0"/>
                        </a:rPr>
                        <a:t>Protect and strengthen core business, in core citadels of North America, West Europe, North Europe </a:t>
                      </a:r>
                    </a:p>
                    <a:p>
                      <a:pPr marL="228600" indent="-228600">
                        <a:spcAft>
                          <a:spcPts val="300"/>
                        </a:spcAft>
                        <a:buFont typeface="+mj-lt"/>
                        <a:buAutoNum type="arabicPeriod"/>
                      </a:pPr>
                      <a:r>
                        <a:rPr lang="en-US" sz="1200" b="1" dirty="0">
                          <a:solidFill>
                            <a:srgbClr val="FFFFFF"/>
                          </a:solidFill>
                          <a:latin typeface="Arial" pitchFamily="34" charset="0"/>
                          <a:ea typeface="Lato Light" panose="020F0502020204030203" pitchFamily="34" charset="0"/>
                          <a:cs typeface="Lato Light" panose="020F0502020204030203" pitchFamily="34" charset="0"/>
                        </a:rPr>
                        <a:t>Expand services, whitespaces – High growth high margin service lines </a:t>
                      </a:r>
                    </a:p>
                    <a:p>
                      <a:pPr marL="228600" indent="-228600">
                        <a:spcAft>
                          <a:spcPts val="300"/>
                        </a:spcAft>
                        <a:buFont typeface="+mj-lt"/>
                        <a:buAutoNum type="arabicPeriod"/>
                      </a:pPr>
                      <a:r>
                        <a:rPr lang="en-US" sz="1200" b="1" dirty="0">
                          <a:solidFill>
                            <a:srgbClr val="FFFFFF"/>
                          </a:solidFill>
                          <a:latin typeface="Arial" pitchFamily="34" charset="0"/>
                          <a:ea typeface="Lato Light" panose="020F0502020204030203" pitchFamily="34" charset="0"/>
                          <a:cs typeface="Lato Light" panose="020F0502020204030203" pitchFamily="34" charset="0"/>
                        </a:rPr>
                        <a:t>Pivot from operational focus to commercial excellence strengthen capabilities in sales, pricing and customer (engagement, service, experience)</a:t>
                      </a:r>
                    </a:p>
                    <a:p>
                      <a:pPr marL="228600" indent="-228600">
                        <a:spcAft>
                          <a:spcPts val="300"/>
                        </a:spcAft>
                        <a:buFont typeface="+mj-lt"/>
                        <a:buAutoNum type="arabicPeriod"/>
                      </a:pPr>
                      <a:r>
                        <a:rPr lang="en-US" sz="1200" b="1" dirty="0">
                          <a:solidFill>
                            <a:srgbClr val="FFFFFF"/>
                          </a:solidFill>
                          <a:latin typeface="Arial" pitchFamily="34" charset="0"/>
                          <a:ea typeface="Lato Light" panose="020F0502020204030203" pitchFamily="34" charset="0"/>
                          <a:cs typeface="Lato Light" panose="020F0502020204030203" pitchFamily="34" charset="0"/>
                        </a:rPr>
                        <a:t>Innovate and differentiate to build a portfolio of fit for purpose, strong value propositions for a portfolio of service offerings.</a:t>
                      </a:r>
                    </a:p>
                    <a:p>
                      <a:pPr marL="228600" indent="-228600">
                        <a:spcAft>
                          <a:spcPts val="300"/>
                        </a:spcAft>
                        <a:buFont typeface="+mj-lt"/>
                        <a:buAutoNum type="arabicPeriod"/>
                      </a:pPr>
                      <a:r>
                        <a:rPr lang="en-US" sz="1200" b="1" dirty="0">
                          <a:solidFill>
                            <a:srgbClr val="FFFFFF"/>
                          </a:solidFill>
                          <a:latin typeface="Arial" pitchFamily="34" charset="0"/>
                          <a:ea typeface="Lato Light" panose="020F0502020204030203" pitchFamily="34" charset="0"/>
                          <a:cs typeface="Lato Light" panose="020F0502020204030203" pitchFamily="34" charset="0"/>
                        </a:rPr>
                        <a:t>Deliver globally integrated, tech enabled, scalable operations and quality excellence.</a:t>
                      </a:r>
                    </a:p>
                    <a:p>
                      <a:pPr marL="228600" indent="-228600">
                        <a:spcAft>
                          <a:spcPts val="300"/>
                        </a:spcAft>
                        <a:buFont typeface="+mj-lt"/>
                        <a:buAutoNum type="arabicPeriod"/>
                      </a:pPr>
                      <a:r>
                        <a:rPr lang="en-US" sz="1200" b="1" dirty="0">
                          <a:solidFill>
                            <a:srgbClr val="FFFFFF"/>
                          </a:solidFill>
                          <a:latin typeface="Arial" pitchFamily="34" charset="0"/>
                          <a:ea typeface="Lato Light" panose="020F0502020204030203" pitchFamily="34" charset="0"/>
                          <a:cs typeface="Lato Light" panose="020F0502020204030203" pitchFamily="34" charset="0"/>
                        </a:rPr>
                        <a:t>Optimize cost to serve – simplification, strategic outsourcing and Procurement</a:t>
                      </a:r>
                      <a:endParaRPr lang="en-US" sz="1400" dirty="0">
                        <a:solidFill>
                          <a:srgbClr val="1D1D1D"/>
                        </a:solidFill>
                        <a:latin typeface="Arial" pitchFamily="34" charset="0"/>
                        <a:ea typeface="Lato Light" panose="020F0502020204030203" pitchFamily="34" charset="0"/>
                        <a:cs typeface="Lato Light" panose="020F0502020204030203" pitchFamily="34" charset="0"/>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281A42"/>
                    </a:solidFill>
                  </a:tcPr>
                </a:tc>
                <a:extLst>
                  <a:ext uri="{0D108BD9-81ED-4DB2-BD59-A6C34878D82A}">
                    <a16:rowId xmlns:a16="http://schemas.microsoft.com/office/drawing/2014/main" val="490919776"/>
                  </a:ext>
                </a:extLst>
              </a:tr>
            </a:tbl>
          </a:graphicData>
        </a:graphic>
      </p:graphicFrame>
      <p:grpSp>
        <p:nvGrpSpPr>
          <p:cNvPr id="27" name="Group 26">
            <a:extLst>
              <a:ext uri="{FF2B5EF4-FFF2-40B4-BE49-F238E27FC236}">
                <a16:creationId xmlns:a16="http://schemas.microsoft.com/office/drawing/2014/main" id="{2240BD3D-1C71-84BE-5DB2-C235D90E659C}"/>
              </a:ext>
            </a:extLst>
          </p:cNvPr>
          <p:cNvGrpSpPr/>
          <p:nvPr/>
        </p:nvGrpSpPr>
        <p:grpSpPr>
          <a:xfrm>
            <a:off x="1130300" y="1029891"/>
            <a:ext cx="3403600" cy="853149"/>
            <a:chOff x="1130300" y="1029891"/>
            <a:chExt cx="3403600" cy="853149"/>
          </a:xfrm>
        </p:grpSpPr>
        <p:sp>
          <p:nvSpPr>
            <p:cNvPr id="9" name="Rectangle: Rounded Corners 17">
              <a:extLst>
                <a:ext uri="{FF2B5EF4-FFF2-40B4-BE49-F238E27FC236}">
                  <a16:creationId xmlns:a16="http://schemas.microsoft.com/office/drawing/2014/main" id="{F6F10DB4-2B0C-2640-F2AC-9E66B75052DD}"/>
                </a:ext>
              </a:extLst>
            </p:cNvPr>
            <p:cNvSpPr/>
            <p:nvPr/>
          </p:nvSpPr>
          <p:spPr>
            <a:xfrm>
              <a:off x="1130300" y="1029891"/>
              <a:ext cx="3403600" cy="853149"/>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26" name="TextBox 25">
              <a:extLst>
                <a:ext uri="{FF2B5EF4-FFF2-40B4-BE49-F238E27FC236}">
                  <a16:creationId xmlns:a16="http://schemas.microsoft.com/office/drawing/2014/main" id="{998A7766-0224-7FBC-FE83-153A6B4BA999}"/>
                </a:ext>
              </a:extLst>
            </p:cNvPr>
            <p:cNvSpPr txBox="1"/>
            <p:nvPr/>
          </p:nvSpPr>
          <p:spPr>
            <a:xfrm>
              <a:off x="1803650" y="1133299"/>
              <a:ext cx="2056900" cy="646331"/>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Business</a:t>
              </a:r>
            </a:p>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Jobs to Be Done</a:t>
              </a:r>
            </a:p>
          </p:txBody>
        </p:sp>
      </p:grpSp>
      <p:grpSp>
        <p:nvGrpSpPr>
          <p:cNvPr id="28" name="Group 27">
            <a:extLst>
              <a:ext uri="{FF2B5EF4-FFF2-40B4-BE49-F238E27FC236}">
                <a16:creationId xmlns:a16="http://schemas.microsoft.com/office/drawing/2014/main" id="{396870F6-0822-41D2-BE2C-F0ECDD6B9524}"/>
              </a:ext>
            </a:extLst>
          </p:cNvPr>
          <p:cNvGrpSpPr/>
          <p:nvPr/>
        </p:nvGrpSpPr>
        <p:grpSpPr>
          <a:xfrm>
            <a:off x="7302500" y="1018997"/>
            <a:ext cx="3403600" cy="923330"/>
            <a:chOff x="1130300" y="1018999"/>
            <a:chExt cx="3403600" cy="923330"/>
          </a:xfrm>
        </p:grpSpPr>
        <p:sp>
          <p:nvSpPr>
            <p:cNvPr id="29" name="Rectangle: Rounded Corners 17">
              <a:extLst>
                <a:ext uri="{FF2B5EF4-FFF2-40B4-BE49-F238E27FC236}">
                  <a16:creationId xmlns:a16="http://schemas.microsoft.com/office/drawing/2014/main" id="{4E1E5C51-A184-4BC6-5447-AD952AA6BCC5}"/>
                </a:ext>
              </a:extLst>
            </p:cNvPr>
            <p:cNvSpPr/>
            <p:nvPr/>
          </p:nvSpPr>
          <p:spPr>
            <a:xfrm>
              <a:off x="1130300" y="1029891"/>
              <a:ext cx="3403600" cy="853149"/>
            </a:xfrm>
            <a:prstGeom prst="roundRect">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354"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30" name="TextBox 29">
              <a:extLst>
                <a:ext uri="{FF2B5EF4-FFF2-40B4-BE49-F238E27FC236}">
                  <a16:creationId xmlns:a16="http://schemas.microsoft.com/office/drawing/2014/main" id="{1C6AA1DD-B42D-2455-AE51-06876A538D08}"/>
                </a:ext>
              </a:extLst>
            </p:cNvPr>
            <p:cNvSpPr txBox="1"/>
            <p:nvPr/>
          </p:nvSpPr>
          <p:spPr>
            <a:xfrm>
              <a:off x="1803650" y="1018999"/>
              <a:ext cx="2056900" cy="923330"/>
            </a:xfrm>
            <a:prstGeom prst="rect">
              <a:avLst/>
            </a:prstGeom>
            <a:noFill/>
          </p:spPr>
          <p:txBody>
            <a:bodyPr wrap="square" lIns="91440" tIns="45720" rIns="91440" bIns="45720">
              <a:spAutoFit/>
            </a:bodyPr>
            <a:lstStyle/>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Strategic</a:t>
              </a:r>
            </a:p>
            <a:p>
              <a:pPr marL="0" marR="0" lvl="0" indent="0" algn="ctr" defTabSz="914354" rtl="0" eaLnBrk="1" fontAlgn="auto" latinLnBrk="0" hangingPunct="1">
                <a:lnSpc>
                  <a:spcPct val="100000"/>
                </a:lnSpc>
                <a:spcBef>
                  <a:spcPts val="0"/>
                </a:spcBef>
                <a:spcAft>
                  <a:spcPts val="0"/>
                </a:spcAft>
                <a:buClrTx/>
                <a:buSzTx/>
                <a:buFontTx/>
                <a:buNone/>
                <a:tabLst/>
                <a:defRPr b="1" spc="-25">
                  <a:solidFill>
                    <a:srgbClr val="1D1D1D"/>
                  </a:solidFill>
                  <a:latin typeface="Segoe UI" pitchFamily="34" charset="0"/>
                </a:defRPr>
              </a:pPr>
              <a:r>
                <a:rPr kumimoji="0" lang="en-US" b="1" i="0" u="none" strike="noStrike" kern="1200" cap="none" spc="-25"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Human Capital Considerations</a:t>
              </a:r>
            </a:p>
          </p:txBody>
        </p:sp>
      </p:grpSp>
      <p:sp>
        <p:nvSpPr>
          <p:cNvPr id="32" name="TextBox 31">
            <a:extLst>
              <a:ext uri="{FF2B5EF4-FFF2-40B4-BE49-F238E27FC236}">
                <a16:creationId xmlns:a16="http://schemas.microsoft.com/office/drawing/2014/main" id="{9BC51437-3A65-1441-9886-0DD73F67CE6F}"/>
              </a:ext>
            </a:extLst>
          </p:cNvPr>
          <p:cNvSpPr txBox="1"/>
          <p:nvPr/>
        </p:nvSpPr>
        <p:spPr>
          <a:xfrm>
            <a:off x="6978650" y="2637308"/>
            <a:ext cx="5048250" cy="2831544"/>
          </a:xfrm>
          <a:prstGeom prst="rect">
            <a:avLst/>
          </a:prstGeom>
          <a:noFill/>
        </p:spPr>
        <p:txBody>
          <a:bodyPr wrap="square" lIns="91440" tIns="45720" rIns="91440" bIns="45720">
            <a:spAutoFit/>
          </a:bodyPr>
          <a:lstStyle/>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CEO – Commercial, driven but new, impatient, under pressure and driving a lot of change in an org and LT where maturity could be low. </a:t>
            </a:r>
          </a:p>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Leadership Team – Relatively new with 10/12 &lt; 1 year tenure, 1 new addition and 3 changes planned. Managing top team dynamics is important. </a:t>
            </a:r>
          </a:p>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Country managers – long tenured, comfortable, likely source of most resistance to transformation.</a:t>
            </a:r>
          </a:p>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Capacity at N-1 &amp; capability to manage change to drive the pivot from independent to interdependent</a:t>
            </a:r>
          </a:p>
          <a:p>
            <a:pPr marL="228600" indent="-228600">
              <a:spcAft>
                <a:spcPts val="300"/>
              </a:spcAft>
              <a:buFont typeface="+mj-lt"/>
              <a:buAutoNum type="arabicPeriod"/>
            </a:pPr>
            <a:r>
              <a:rPr lang="en-US" sz="1400" spc="-10" dirty="0">
                <a:latin typeface="Arial" pitchFamily="34" charset="0"/>
                <a:ea typeface="Lato Light" panose="020F0502020204030203" pitchFamily="34" charset="0"/>
                <a:cs typeface="Lato Light" panose="020F0502020204030203" pitchFamily="34" charset="0"/>
              </a:rPr>
              <a:t>Significant simplification / strategic outsourcing opportunity – sequence? owner?</a:t>
            </a:r>
          </a:p>
        </p:txBody>
      </p:sp>
      <p:sp>
        <p:nvSpPr>
          <p:cNvPr id="33" name="TextBox 32">
            <a:extLst>
              <a:ext uri="{FF2B5EF4-FFF2-40B4-BE49-F238E27FC236}">
                <a16:creationId xmlns:a16="http://schemas.microsoft.com/office/drawing/2014/main" id="{54A70DD5-DB60-7E6E-7819-88A7190DA210}"/>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34" name="SubtitleSplit"/>
          <p:cNvSpPr>
            <a:spLocks noGrp="1"/>
          </p:cNvSpPr>
          <p:nvPr>
            <p:ph type="subTitle" idx="1"/>
          </p:nvPr>
        </p:nvSpPr>
        <p:spPr>
          <a:noFill/>
        </p:spPr>
        <p:txBody>
          <a:bodyPr/>
          <a:lstStyle/>
          <a:p>
            <a:r>
              <a:t>Connected to business value</a:t>
            </a:r>
            <a:endParaRPr lang="en-US" b="0" spc="-10">
              <a:latin typeface="Segoe UI" pitchFamily="34" charset="0"/>
            </a:endParaRPr>
          </a:p>
        </p:txBody>
      </p:sp>
      <p:sp>
        <p:nvSpPr>
          <p:cNvPr id="3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4AEACADE-C3D5-4502-A8C1-C82A3DCB2D4C}" type="slidenum">
              <a:t>31</a:t>
            </a:fld>
            <a:endParaRPr lang="en-US"/>
          </a:p>
        </p:txBody>
      </p:sp>
    </p:spTree>
    <p:extLst>
      <p:ext uri="{BB962C8B-B14F-4D97-AF65-F5344CB8AC3E}">
        <p14:creationId xmlns:p14="http://schemas.microsoft.com/office/powerpoint/2010/main" val="36399297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1A7B-970F-4175-77A6-BFE4EC50D04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D1A0031-5A87-6456-86EA-171D080A354A}"/>
              </a:ext>
            </a:extLst>
          </p:cNvPr>
          <p:cNvSpPr>
            <a:spLocks noGrp="1"/>
          </p:cNvSpPr>
          <p:nvPr>
            <p:ph type="title" sz="quarter"/>
          </p:nvPr>
        </p:nvSpPr>
        <p:spPr/>
        <p:txBody>
          <a:bodyPr/>
          <a:lstStyle/>
          <a:p>
            <a:endParaRPr lang="en-US" b="1" dirty="0">
              <a:solidFill>
                <a:srgbClr val="281A42"/>
              </a:solidFill>
              <a:latin typeface="+mn-lt"/>
            </a:endParaRPr>
          </a:p>
        </p:txBody>
      </p:sp>
      <p:sp>
        <p:nvSpPr>
          <p:cNvPr id="6" name="object 4">
            <a:extLst>
              <a:ext uri="{FF2B5EF4-FFF2-40B4-BE49-F238E27FC236}">
                <a16:creationId xmlns:a16="http://schemas.microsoft.com/office/drawing/2014/main" id="{60B12105-989C-5163-F912-DBE32B0D093D}"/>
              </a:ext>
            </a:extLst>
          </p:cNvPr>
          <p:cNvSpPr/>
          <p:nvPr/>
        </p:nvSpPr>
        <p:spPr>
          <a:xfrm>
            <a:off x="1160921" y="4759813"/>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ORGANIZATION</a:t>
            </a:r>
            <a:endParaRPr spc="-10" dirty="0">
              <a:solidFill>
                <a:srgbClr val="F2F2F2"/>
              </a:solidFill>
              <a:latin typeface="Arial" pitchFamily="34" charset="0"/>
            </a:endParaRPr>
          </a:p>
        </p:txBody>
      </p:sp>
      <p:sp>
        <p:nvSpPr>
          <p:cNvPr id="5" name="object 6">
            <a:extLst>
              <a:ext uri="{FF2B5EF4-FFF2-40B4-BE49-F238E27FC236}">
                <a16:creationId xmlns:a16="http://schemas.microsoft.com/office/drawing/2014/main" id="{976B29B8-EF6F-4E29-02E3-5806CC2346D8}"/>
              </a:ext>
            </a:extLst>
          </p:cNvPr>
          <p:cNvSpPr/>
          <p:nvPr/>
        </p:nvSpPr>
        <p:spPr>
          <a:xfrm>
            <a:off x="1160924" y="2207475"/>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TALENT ACQUISITION</a:t>
            </a:r>
            <a:endParaRPr spc="-10" dirty="0">
              <a:solidFill>
                <a:srgbClr val="F2F2F2"/>
              </a:solidFill>
              <a:latin typeface="Arial" pitchFamily="34" charset="0"/>
            </a:endParaRPr>
          </a:p>
        </p:txBody>
      </p:sp>
      <p:sp>
        <p:nvSpPr>
          <p:cNvPr id="8" name="object 14">
            <a:extLst>
              <a:ext uri="{FF2B5EF4-FFF2-40B4-BE49-F238E27FC236}">
                <a16:creationId xmlns:a16="http://schemas.microsoft.com/office/drawing/2014/main" id="{623DF7DA-7683-503E-0103-3F259F97C416}"/>
              </a:ext>
            </a:extLst>
          </p:cNvPr>
          <p:cNvSpPr/>
          <p:nvPr/>
        </p:nvSpPr>
        <p:spPr>
          <a:xfrm>
            <a:off x="1169073" y="2845560"/>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TALENT RETENTION</a:t>
            </a:r>
            <a:endParaRPr spc="-10" dirty="0">
              <a:solidFill>
                <a:srgbClr val="F2F2F2"/>
              </a:solidFill>
              <a:latin typeface="Arial" pitchFamily="34" charset="0"/>
            </a:endParaRPr>
          </a:p>
        </p:txBody>
      </p:sp>
      <p:sp>
        <p:nvSpPr>
          <p:cNvPr id="10" name="object 18">
            <a:extLst>
              <a:ext uri="{FF2B5EF4-FFF2-40B4-BE49-F238E27FC236}">
                <a16:creationId xmlns:a16="http://schemas.microsoft.com/office/drawing/2014/main" id="{5E76DB48-A85C-192D-030E-61AD75DB7563}"/>
              </a:ext>
            </a:extLst>
          </p:cNvPr>
          <p:cNvSpPr/>
          <p:nvPr/>
        </p:nvSpPr>
        <p:spPr>
          <a:xfrm>
            <a:off x="1169073" y="3483645"/>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TALENT DEVELOPMENT</a:t>
            </a:r>
            <a:endParaRPr spc="-10" dirty="0">
              <a:solidFill>
                <a:srgbClr val="F2F2F2"/>
              </a:solidFill>
              <a:latin typeface="Arial" pitchFamily="34" charset="0"/>
            </a:endParaRPr>
          </a:p>
        </p:txBody>
      </p:sp>
      <p:sp>
        <p:nvSpPr>
          <p:cNvPr id="11" name="object 22">
            <a:extLst>
              <a:ext uri="{FF2B5EF4-FFF2-40B4-BE49-F238E27FC236}">
                <a16:creationId xmlns:a16="http://schemas.microsoft.com/office/drawing/2014/main" id="{3DE3D981-0988-7D83-9750-9400A03C2EDB}"/>
              </a:ext>
            </a:extLst>
          </p:cNvPr>
          <p:cNvSpPr/>
          <p:nvPr/>
        </p:nvSpPr>
        <p:spPr>
          <a:xfrm>
            <a:off x="1169073" y="4121731"/>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PERFORMANCE &amp; REWARD</a:t>
            </a:r>
            <a:endParaRPr spc="-10" dirty="0">
              <a:solidFill>
                <a:srgbClr val="F2F2F2"/>
              </a:solidFill>
              <a:latin typeface="Arial" pitchFamily="34" charset="0"/>
            </a:endParaRPr>
          </a:p>
        </p:txBody>
      </p:sp>
      <p:sp>
        <p:nvSpPr>
          <p:cNvPr id="16" name="object 26">
            <a:extLst>
              <a:ext uri="{FF2B5EF4-FFF2-40B4-BE49-F238E27FC236}">
                <a16:creationId xmlns:a16="http://schemas.microsoft.com/office/drawing/2014/main" id="{4B2AC4C0-A989-F9C1-EF26-A6DF65FDC3FA}"/>
              </a:ext>
            </a:extLst>
          </p:cNvPr>
          <p:cNvSpPr/>
          <p:nvPr/>
        </p:nvSpPr>
        <p:spPr>
          <a:xfrm>
            <a:off x="1160920" y="1569389"/>
            <a:ext cx="3344609" cy="381931"/>
          </a:xfrm>
          <a:custGeom>
            <a:avLst/>
            <a:gdLst/>
            <a:ahLst/>
            <a:cxnLst/>
            <a:rect l="l" t="t" r="r" b="b"/>
            <a:pathLst>
              <a:path w="2606040" h="370839">
                <a:moveTo>
                  <a:pt x="2544165" y="0"/>
                </a:moveTo>
                <a:lnTo>
                  <a:pt x="61785" y="0"/>
                </a:lnTo>
                <a:lnTo>
                  <a:pt x="37735" y="4855"/>
                </a:lnTo>
                <a:lnTo>
                  <a:pt x="18095" y="18095"/>
                </a:lnTo>
                <a:lnTo>
                  <a:pt x="4855" y="37735"/>
                </a:lnTo>
                <a:lnTo>
                  <a:pt x="0" y="61785"/>
                </a:lnTo>
                <a:lnTo>
                  <a:pt x="0" y="308902"/>
                </a:lnTo>
                <a:lnTo>
                  <a:pt x="4855" y="332952"/>
                </a:lnTo>
                <a:lnTo>
                  <a:pt x="18095" y="352591"/>
                </a:lnTo>
                <a:lnTo>
                  <a:pt x="37735" y="365832"/>
                </a:lnTo>
                <a:lnTo>
                  <a:pt x="61785" y="370687"/>
                </a:lnTo>
                <a:lnTo>
                  <a:pt x="2544165" y="370687"/>
                </a:lnTo>
                <a:lnTo>
                  <a:pt x="2568208" y="365832"/>
                </a:lnTo>
                <a:lnTo>
                  <a:pt x="2587844" y="352591"/>
                </a:lnTo>
                <a:lnTo>
                  <a:pt x="2601083" y="332952"/>
                </a:lnTo>
                <a:lnTo>
                  <a:pt x="2605938" y="308902"/>
                </a:lnTo>
                <a:lnTo>
                  <a:pt x="2605938" y="61785"/>
                </a:lnTo>
                <a:lnTo>
                  <a:pt x="2601083" y="37735"/>
                </a:lnTo>
                <a:lnTo>
                  <a:pt x="2587844" y="18095"/>
                </a:lnTo>
                <a:lnTo>
                  <a:pt x="2568208" y="4855"/>
                </a:lnTo>
                <a:lnTo>
                  <a:pt x="2544165" y="0"/>
                </a:lnTo>
                <a:close/>
              </a:path>
            </a:pathLst>
          </a:custGeom>
          <a:solidFill>
            <a:srgbClr val="281A42"/>
          </a:solidFill>
          <a:ln>
            <a:solidFill>
              <a:srgbClr val="765FFF"/>
            </a:solidFill>
          </a:ln>
        </p:spPr>
        <p:txBody>
          <a:bodyPr wrap="square" lIns="0" tIns="0" rIns="0" bIns="0" rtlCol="0" anchor="ctr"/>
          <a:lstStyle/>
          <a:p>
            <a:pPr algn="ctr" defTabSz="609585">
              <a:defRPr>
                <a:solidFill>
                  <a:srgbClr val="FFFFFF"/>
                </a:solidFill>
              </a:defRPr>
            </a:pPr>
            <a:r>
              <a:rPr lang="en-US" spc="-10" dirty="0">
                <a:solidFill>
                  <a:srgbClr val="F2F2F2"/>
                </a:solidFill>
                <a:latin typeface="Arial" pitchFamily="34" charset="0"/>
              </a:rPr>
              <a:t>CULTURE &amp; ENGAGEMENT</a:t>
            </a:r>
            <a:endParaRPr spc="-10" dirty="0">
              <a:solidFill>
                <a:srgbClr val="F2F2F2"/>
              </a:solidFill>
              <a:latin typeface="Arial" pitchFamily="34" charset="0"/>
            </a:endParaRPr>
          </a:p>
        </p:txBody>
      </p:sp>
      <p:sp>
        <p:nvSpPr>
          <p:cNvPr id="15" name="Rectangle 14">
            <a:extLst>
              <a:ext uri="{FF2B5EF4-FFF2-40B4-BE49-F238E27FC236}">
                <a16:creationId xmlns:a16="http://schemas.microsoft.com/office/drawing/2014/main" id="{FF4DA693-9C5E-DC84-63D2-34FFD0A8C07C}"/>
              </a:ext>
            </a:extLst>
          </p:cNvPr>
          <p:cNvSpPr/>
          <p:nvPr/>
        </p:nvSpPr>
        <p:spPr>
          <a:xfrm>
            <a:off x="4971561" y="694205"/>
            <a:ext cx="6623539" cy="5706595"/>
          </a:xfrm>
          <a:prstGeom prst="rect">
            <a:avLst/>
          </a:prstGeom>
          <a:solidFill>
            <a:srgbClr val="B2BBCA"/>
          </a:solidFill>
        </p:spPr>
        <p:txBody>
          <a:bodyPr vert="horz" lIns="73152" tIns="73152" rIns="60960" bIns="48768" rtlCol="0" anchor="t" anchorCtr="0">
            <a:noAutofit/>
          </a:bodyPr>
          <a:lstStyle/>
          <a:p>
            <a:pPr defTabSz="609585">
              <a:defRPr b="1" spc="-25">
                <a:latin typeface="Segoe UI" pitchFamily="34" charset="0"/>
              </a:defRPr>
            </a:pPr>
            <a:r>
              <a:rPr lang="en-SG" sz="1400" b="1" spc="-25" dirty="0">
                <a:latin typeface="Segoe UI" pitchFamily="34" charset="0"/>
              </a:rPr>
              <a:t>Culture</a:t>
            </a:r>
          </a:p>
          <a:p>
            <a:pPr defTabSz="609585">
              <a:defRPr b="1" spc="-25">
                <a:latin typeface="Segoe UI" pitchFamily="34" charset="0"/>
              </a:defRPr>
            </a:pPr>
            <a:r>
              <a:rPr lang="en-US" sz="1400" b="1" spc="-25" dirty="0">
                <a:solidFill>
                  <a:srgbClr val="1D1D1D"/>
                </a:solidFill>
                <a:latin typeface="Segoe UI" pitchFamily="34" charset="0"/>
              </a:rPr>
              <a:t>Consistent Themes on Trust in Leadership, Managing Change, Morale / Optimism for the future</a:t>
            </a:r>
            <a:br>
              <a:rPr lang="en-US" sz="1400" b="1" spc="-25" dirty="0">
                <a:solidFill>
                  <a:srgbClr val="1D1D1D"/>
                </a:solidFill>
                <a:latin typeface="Segoe UI" pitchFamily="34" charset="0"/>
              </a:rPr>
            </a:br>
            <a:br>
              <a:rPr lang="en-US" sz="1400" b="1" spc="-25" dirty="0">
                <a:solidFill>
                  <a:srgbClr val="1D1D1D"/>
                </a:solidFill>
                <a:latin typeface="Segoe UI" pitchFamily="34" charset="0"/>
              </a:rPr>
            </a:br>
            <a:r>
              <a:rPr lang="en-US" sz="1400" b="1" spc="-25" dirty="0">
                <a:latin typeface="Segoe UI" pitchFamily="34" charset="0"/>
              </a:rPr>
              <a:t>TALENT Acquisition</a:t>
            </a:r>
            <a:br>
              <a:rPr lang="en-US" sz="1400" b="1" spc="-25" dirty="0">
                <a:solidFill>
                  <a:srgbClr val="1D1D1D"/>
                </a:solidFill>
                <a:latin typeface="Segoe UI" pitchFamily="34" charset="0"/>
              </a:rPr>
            </a:br>
            <a:r>
              <a:rPr lang="en-US" sz="1400" b="1" spc="-25" dirty="0">
                <a:solidFill>
                  <a:srgbClr val="1D1D1D"/>
                </a:solidFill>
                <a:latin typeface="Segoe UI" pitchFamily="34" charset="0"/>
              </a:rPr>
              <a:t>largely Internal Pool, Slow for Senior Roles (&gt; 90 Days), Local for High Volume Roles, Inconsistent and Local in Fr, Nl, Tr</a:t>
            </a:r>
            <a:br>
              <a:rPr lang="en-US" sz="1400" b="1" spc="-25" dirty="0">
                <a:solidFill>
                  <a:srgbClr val="1D1D1D"/>
                </a:solidFill>
                <a:latin typeface="Segoe UI" pitchFamily="34" charset="0"/>
              </a:rPr>
            </a:br>
            <a:br>
              <a:rPr lang="en-US" sz="1400" b="1" spc="-25" dirty="0">
                <a:solidFill>
                  <a:srgbClr val="1D1D1D"/>
                </a:solidFill>
                <a:latin typeface="Segoe UI" pitchFamily="34" charset="0"/>
              </a:rPr>
            </a:br>
            <a:r>
              <a:rPr lang="en-US" sz="1400" b="1" spc="-25" dirty="0">
                <a:latin typeface="Segoe UI" pitchFamily="34" charset="0"/>
              </a:rPr>
              <a:t>talent Retention</a:t>
            </a:r>
            <a:br>
              <a:rPr lang="en-US" sz="1400" b="1" spc="-25" dirty="0">
                <a:solidFill>
                  <a:srgbClr val="1D1D1D"/>
                </a:solidFill>
                <a:latin typeface="Segoe UI" pitchFamily="34" charset="0"/>
              </a:rPr>
            </a:br>
            <a:r>
              <a:rPr lang="en-US" sz="1400" b="1" spc="-25" dirty="0">
                <a:solidFill>
                  <a:srgbClr val="1D1D1D"/>
                </a:solidFill>
                <a:latin typeface="Segoe UI" pitchFamily="34" charset="0"/>
              </a:rPr>
              <a:t>higher in BU1 (35%) Vs. Other Bus, with Hotspots in Nl, Turkey and Norway. Turkey Has High Churn (42% &lt; 2 Years). High Frontline Churn (25%)</a:t>
            </a:r>
            <a:br>
              <a:rPr lang="en-US" sz="1400" b="1" spc="-25" dirty="0">
                <a:solidFill>
                  <a:srgbClr val="1D1D1D"/>
                </a:solidFill>
                <a:latin typeface="Segoe UI" pitchFamily="34" charset="0"/>
              </a:rPr>
            </a:br>
            <a:br>
              <a:rPr lang="en-US" sz="1400" b="1" spc="-25" dirty="0">
                <a:solidFill>
                  <a:srgbClr val="1D1D1D"/>
                </a:solidFill>
                <a:latin typeface="Segoe UI" pitchFamily="34" charset="0"/>
              </a:rPr>
            </a:br>
            <a:r>
              <a:rPr lang="en-US" sz="1400" b="1" spc="-25" dirty="0">
                <a:latin typeface="Segoe UI" pitchFamily="34" charset="0"/>
              </a:rPr>
              <a:t>TALENT Succession &amp; Development</a:t>
            </a:r>
          </a:p>
          <a:p>
            <a:pPr defTabSz="609585">
              <a:defRPr b="1" spc="-25">
                <a:latin typeface="Segoe UI" pitchFamily="34" charset="0"/>
              </a:defRPr>
            </a:pPr>
            <a:r>
              <a:rPr lang="en-US" sz="1400" b="1" spc="-25" dirty="0">
                <a:solidFill>
                  <a:srgbClr val="1D1D1D"/>
                </a:solidFill>
                <a:latin typeface="Segoe UI" pitchFamily="34" charset="0"/>
              </a:rPr>
              <a:t>Internally Focused and Biased to Finance. Limited to No Visibility outside Bu and Seemingly Absent Approach to Talent Mobility. Weak Ready Now Bench. Inconsistent Approach to Talent Development across Regions</a:t>
            </a:r>
            <a:br>
              <a:rPr lang="en-US" sz="1400" b="1" spc="-25" dirty="0">
                <a:solidFill>
                  <a:srgbClr val="1D1D1D"/>
                </a:solidFill>
                <a:latin typeface="Segoe UI" pitchFamily="34" charset="0"/>
              </a:rPr>
            </a:br>
            <a:endParaRPr lang="en-US" sz="1400" b="1" spc="-25" dirty="0">
              <a:solidFill>
                <a:srgbClr val="1D1D1D"/>
              </a:solidFill>
              <a:latin typeface="Segoe UI" pitchFamily="34" charset="0"/>
            </a:endParaRPr>
          </a:p>
          <a:p>
            <a:pPr defTabSz="609585">
              <a:defRPr b="1" spc="-25">
                <a:latin typeface="Segoe UI" pitchFamily="34" charset="0"/>
              </a:defRPr>
            </a:pPr>
            <a:r>
              <a:rPr lang="en-US" sz="1400" b="1" spc="-25" dirty="0">
                <a:latin typeface="Segoe UI" pitchFamily="34" charset="0"/>
              </a:rPr>
              <a:t>Performance &amp; Reward</a:t>
            </a:r>
          </a:p>
          <a:p>
            <a:pPr defTabSz="609585">
              <a:defRPr b="1" spc="-25">
                <a:latin typeface="Segoe UI" pitchFamily="34" charset="0"/>
              </a:defRPr>
            </a:pPr>
            <a:r>
              <a:rPr lang="en-US" sz="1400" b="1" spc="-25" dirty="0">
                <a:solidFill>
                  <a:srgbClr val="1D1D1D"/>
                </a:solidFill>
                <a:latin typeface="Segoe UI" pitchFamily="34" charset="0"/>
              </a:rPr>
              <a:t>Performance Differentiation Is Low (likely Linked to Goal Setting). Compensation and Reward Not Consistent or Harmonized across Bus, Regions or Even within Countries. Comp Levelling Likely Biased to Tenure than Potential or Performance.</a:t>
            </a:r>
            <a:br>
              <a:rPr lang="en-US" sz="1400" b="1" spc="-25" dirty="0">
                <a:solidFill>
                  <a:srgbClr val="1D1D1D"/>
                </a:solidFill>
                <a:latin typeface="Segoe UI" pitchFamily="34" charset="0"/>
              </a:rPr>
            </a:br>
            <a:endParaRPr lang="en-US" sz="1400" b="1" spc="-25" dirty="0">
              <a:solidFill>
                <a:srgbClr val="1D1D1D"/>
              </a:solidFill>
              <a:latin typeface="Segoe UI" pitchFamily="34" charset="0"/>
            </a:endParaRPr>
          </a:p>
          <a:p>
            <a:pPr defTabSz="609585">
              <a:defRPr b="1" spc="-25">
                <a:latin typeface="Segoe UI" pitchFamily="34" charset="0"/>
              </a:defRPr>
            </a:pPr>
            <a:r>
              <a:rPr lang="en-US" sz="1400" b="1" spc="-25" dirty="0">
                <a:latin typeface="Segoe UI" pitchFamily="34" charset="0"/>
              </a:rPr>
              <a:t>Organization</a:t>
            </a:r>
            <a:br>
              <a:rPr lang="en-US" sz="1400" b="1" spc="-25" dirty="0">
                <a:latin typeface="Segoe UI" pitchFamily="34" charset="0"/>
              </a:rPr>
            </a:br>
            <a:r>
              <a:rPr lang="en-US" sz="1400" b="1" spc="-25" dirty="0">
                <a:solidFill>
                  <a:srgbClr val="1D1D1D"/>
                </a:solidFill>
                <a:latin typeface="Segoe UI" pitchFamily="34" charset="0"/>
              </a:rPr>
              <a:t>legacy of Local, Organic Evolution as Opposed to Strategic Design. Overlayered and Inconsistent in Levels, Layers and Spans across Regions / Countries. Significant De-duplication, Shared Services Opportunity.</a:t>
            </a:r>
            <a:endParaRPr lang="en-SG" sz="1400" b="1" spc="-25" dirty="0">
              <a:solidFill>
                <a:srgbClr val="1D1D1D"/>
              </a:solidFill>
              <a:latin typeface="Segoe UI" pitchFamily="34" charset="0"/>
            </a:endParaRPr>
          </a:p>
        </p:txBody>
      </p:sp>
      <p:sp>
        <p:nvSpPr>
          <p:cNvPr id="18" name="TextBox 17">
            <a:extLst>
              <a:ext uri="{FF2B5EF4-FFF2-40B4-BE49-F238E27FC236}">
                <a16:creationId xmlns:a16="http://schemas.microsoft.com/office/drawing/2014/main" id="{C51C5255-3514-303F-53DB-3F08DFE19CAE}"/>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9" name="SubtitleSplit"/>
          <p:cNvSpPr>
            <a:spLocks noGrp="1"/>
          </p:cNvSpPr>
          <p:nvPr>
            <p:ph type="subTitle" idx="1"/>
          </p:nvPr>
        </p:nvSpPr>
        <p:spPr>
          <a:noFill/>
        </p:spPr>
        <p:txBody>
          <a:bodyPr/>
          <a:lstStyle/>
          <a:p>
            <a:r>
              <a:t>Data driven human capital insights</a:t>
            </a:r>
            <a:endParaRPr lang="en-US" b="0" spc="-10">
              <a:latin typeface="Segoe UI" pitchFamily="34" charset="0"/>
            </a:endParaRPr>
          </a:p>
        </p:txBody>
      </p:sp>
      <p:sp>
        <p:nvSpPr>
          <p:cNvPr id="2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7BA5DDA8-196F-42A7-8599-5CFE315675D6}" type="slidenum">
              <a:t>32</a:t>
            </a:fld>
            <a:endParaRPr lang="en-US"/>
          </a:p>
        </p:txBody>
      </p:sp>
    </p:spTree>
    <p:extLst>
      <p:ext uri="{BB962C8B-B14F-4D97-AF65-F5344CB8AC3E}">
        <p14:creationId xmlns:p14="http://schemas.microsoft.com/office/powerpoint/2010/main" val="1947210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C11C2-1893-EAF4-D2E8-853A9A306F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F7C8352-6479-D26F-5763-0428A205B65E}"/>
              </a:ext>
            </a:extLst>
          </p:cNvPr>
          <p:cNvSpPr>
            <a:spLocks noGrp="1"/>
          </p:cNvSpPr>
          <p:nvPr>
            <p:ph type="title" sz="quarter"/>
          </p:nvPr>
        </p:nvSpPr>
        <p:spPr/>
        <p:txBody>
          <a:bodyPr/>
          <a:lstStyle/>
          <a:p>
            <a:endParaRPr lang="en-US" b="1" dirty="0">
              <a:solidFill>
                <a:srgbClr val="281A42"/>
              </a:solidFill>
              <a:latin typeface="+mn-lt"/>
            </a:endParaRPr>
          </a:p>
        </p:txBody>
      </p:sp>
      <p:grpSp>
        <p:nvGrpSpPr>
          <p:cNvPr id="55" name="Group 54">
            <a:extLst>
              <a:ext uri="{FF2B5EF4-FFF2-40B4-BE49-F238E27FC236}">
                <a16:creationId xmlns:a16="http://schemas.microsoft.com/office/drawing/2014/main" id="{50D6FF7A-E2E0-8B8F-4D16-823AE429FE7F}"/>
              </a:ext>
            </a:extLst>
          </p:cNvPr>
          <p:cNvGrpSpPr/>
          <p:nvPr/>
        </p:nvGrpSpPr>
        <p:grpSpPr>
          <a:xfrm>
            <a:off x="1084860" y="1943527"/>
            <a:ext cx="2437808" cy="3966324"/>
            <a:chOff x="726539" y="1182098"/>
            <a:chExt cx="2713652" cy="5189456"/>
          </a:xfrm>
        </p:grpSpPr>
        <p:sp>
          <p:nvSpPr>
            <p:cNvPr id="70" name="Rounded Rectangle 4">
              <a:extLst>
                <a:ext uri="{FF2B5EF4-FFF2-40B4-BE49-F238E27FC236}">
                  <a16:creationId xmlns:a16="http://schemas.microsoft.com/office/drawing/2014/main" id="{E87F521A-B339-BEEB-1177-0568F4A402D6}"/>
                </a:ext>
              </a:extLst>
            </p:cNvPr>
            <p:cNvSpPr/>
            <p:nvPr/>
          </p:nvSpPr>
          <p:spPr>
            <a:xfrm>
              <a:off x="726539" y="1182098"/>
              <a:ext cx="2713652" cy="1157810"/>
            </a:xfrm>
            <a:prstGeom prst="roundRect">
              <a:avLst>
                <a:gd name="adj" fmla="val 6532"/>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b="1" spc="-25" dirty="0">
                <a:solidFill>
                  <a:srgbClr val="FFFFFF"/>
                </a:solidFill>
                <a:effectLst/>
                <a:latin typeface="Segoe UI" pitchFamily="34" charset="0"/>
              </a:endParaRPr>
            </a:p>
          </p:txBody>
        </p:sp>
        <p:sp>
          <p:nvSpPr>
            <p:cNvPr id="71" name="Rounded Rectangle 4">
              <a:extLst>
                <a:ext uri="{FF2B5EF4-FFF2-40B4-BE49-F238E27FC236}">
                  <a16:creationId xmlns:a16="http://schemas.microsoft.com/office/drawing/2014/main" id="{3EA00AE8-6FAE-E56E-44B1-3A823C0120EE}"/>
                </a:ext>
              </a:extLst>
            </p:cNvPr>
            <p:cNvSpPr/>
            <p:nvPr/>
          </p:nvSpPr>
          <p:spPr>
            <a:xfrm>
              <a:off x="726539" y="2525980"/>
              <a:ext cx="2713652" cy="1157810"/>
            </a:xfrm>
            <a:prstGeom prst="roundRect">
              <a:avLst>
                <a:gd name="adj" fmla="val 6532"/>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solidFill>
                  <a:srgbClr val="FFFFFF"/>
                </a:solidFill>
                <a:effectLst/>
              </a:endParaRPr>
            </a:p>
          </p:txBody>
        </p:sp>
        <p:sp>
          <p:nvSpPr>
            <p:cNvPr id="72" name="Rounded Rectangle 4">
              <a:extLst>
                <a:ext uri="{FF2B5EF4-FFF2-40B4-BE49-F238E27FC236}">
                  <a16:creationId xmlns:a16="http://schemas.microsoft.com/office/drawing/2014/main" id="{EA2231D5-6C17-DD1C-5F89-835CFEF803AB}"/>
                </a:ext>
              </a:extLst>
            </p:cNvPr>
            <p:cNvSpPr/>
            <p:nvPr/>
          </p:nvSpPr>
          <p:spPr>
            <a:xfrm>
              <a:off x="726539" y="5213744"/>
              <a:ext cx="2713652" cy="1157810"/>
            </a:xfrm>
            <a:prstGeom prst="roundRect">
              <a:avLst>
                <a:gd name="adj" fmla="val 6532"/>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solidFill>
                  <a:srgbClr val="FFFFFF"/>
                </a:solidFill>
              </a:endParaRPr>
            </a:p>
          </p:txBody>
        </p:sp>
        <p:sp>
          <p:nvSpPr>
            <p:cNvPr id="73" name="Rounded Rectangle 4">
              <a:extLst>
                <a:ext uri="{FF2B5EF4-FFF2-40B4-BE49-F238E27FC236}">
                  <a16:creationId xmlns:a16="http://schemas.microsoft.com/office/drawing/2014/main" id="{641C0A3B-6059-5380-340B-16BFCDA31327}"/>
                </a:ext>
              </a:extLst>
            </p:cNvPr>
            <p:cNvSpPr/>
            <p:nvPr/>
          </p:nvSpPr>
          <p:spPr>
            <a:xfrm>
              <a:off x="726539" y="3869862"/>
              <a:ext cx="2713652" cy="1157810"/>
            </a:xfrm>
            <a:prstGeom prst="roundRect">
              <a:avLst>
                <a:gd name="adj" fmla="val 6532"/>
              </a:avLst>
            </a:prstGeom>
            <a:solidFill>
              <a:srgbClr val="281A4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solidFill>
                  <a:srgbClr val="FFFFFF"/>
                </a:solidFill>
                <a:effectLst/>
              </a:endParaRPr>
            </a:p>
          </p:txBody>
        </p:sp>
      </p:grpSp>
      <p:sp>
        <p:nvSpPr>
          <p:cNvPr id="56" name="Trapezoid 55">
            <a:extLst>
              <a:ext uri="{FF2B5EF4-FFF2-40B4-BE49-F238E27FC236}">
                <a16:creationId xmlns:a16="http://schemas.microsoft.com/office/drawing/2014/main" id="{54EBA0B0-B055-4C7D-1B5F-35AFBE9A66FB}"/>
              </a:ext>
            </a:extLst>
          </p:cNvPr>
          <p:cNvSpPr/>
          <p:nvPr/>
        </p:nvSpPr>
        <p:spPr>
          <a:xfrm rot="5400000">
            <a:off x="2083724" y="3606790"/>
            <a:ext cx="3643886" cy="635866"/>
          </a:xfrm>
          <a:prstGeom prst="trapezoid">
            <a:avLst>
              <a:gd name="adj" fmla="val 156395"/>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p>
        </p:txBody>
      </p:sp>
      <p:grpSp>
        <p:nvGrpSpPr>
          <p:cNvPr id="57" name="Group 56">
            <a:extLst>
              <a:ext uri="{FF2B5EF4-FFF2-40B4-BE49-F238E27FC236}">
                <a16:creationId xmlns:a16="http://schemas.microsoft.com/office/drawing/2014/main" id="{F7711624-1938-7FAC-27E4-B83B54E6450C}"/>
              </a:ext>
            </a:extLst>
          </p:cNvPr>
          <p:cNvGrpSpPr/>
          <p:nvPr/>
        </p:nvGrpSpPr>
        <p:grpSpPr>
          <a:xfrm>
            <a:off x="8661991" y="1959742"/>
            <a:ext cx="2437808" cy="3802846"/>
            <a:chOff x="9161042" y="1673127"/>
            <a:chExt cx="2713652" cy="4112037"/>
          </a:xfrm>
          <a:solidFill>
            <a:srgbClr val="F2F2F2"/>
          </a:solidFill>
        </p:grpSpPr>
        <p:sp>
          <p:nvSpPr>
            <p:cNvPr id="66" name="Rounded Rectangle 4">
              <a:extLst>
                <a:ext uri="{FF2B5EF4-FFF2-40B4-BE49-F238E27FC236}">
                  <a16:creationId xmlns:a16="http://schemas.microsoft.com/office/drawing/2014/main" id="{5A31226B-EE23-CB9E-59B1-3B0FEAFD23B6}"/>
                </a:ext>
              </a:extLst>
            </p:cNvPr>
            <p:cNvSpPr/>
            <p:nvPr/>
          </p:nvSpPr>
          <p:spPr>
            <a:xfrm>
              <a:off x="9161042" y="1673127"/>
              <a:ext cx="2713652" cy="887700"/>
            </a:xfrm>
            <a:prstGeom prst="roundRect">
              <a:avLst>
                <a:gd name="adj" fmla="val 6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effectLst/>
                <a:ea typeface="Lato" panose="020F0502020204030203" pitchFamily="34" charset="0"/>
                <a:cs typeface="Lato" panose="020F0502020204030203" pitchFamily="34" charset="0"/>
              </a:endParaRPr>
            </a:p>
          </p:txBody>
        </p:sp>
        <p:sp>
          <p:nvSpPr>
            <p:cNvPr id="67" name="Rounded Rectangle 4">
              <a:extLst>
                <a:ext uri="{FF2B5EF4-FFF2-40B4-BE49-F238E27FC236}">
                  <a16:creationId xmlns:a16="http://schemas.microsoft.com/office/drawing/2014/main" id="{F6B50A17-A2D3-909D-5C22-1442AE5BB0D4}"/>
                </a:ext>
              </a:extLst>
            </p:cNvPr>
            <p:cNvSpPr/>
            <p:nvPr/>
          </p:nvSpPr>
          <p:spPr>
            <a:xfrm>
              <a:off x="9161042" y="2747906"/>
              <a:ext cx="2713652" cy="887700"/>
            </a:xfrm>
            <a:prstGeom prst="roundRect">
              <a:avLst>
                <a:gd name="adj" fmla="val 6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effectLst/>
                <a:ea typeface="Lato" panose="020F0502020204030203" pitchFamily="34" charset="0"/>
                <a:cs typeface="Lato" panose="020F0502020204030203" pitchFamily="34" charset="0"/>
              </a:endParaRPr>
            </a:p>
          </p:txBody>
        </p:sp>
        <p:sp>
          <p:nvSpPr>
            <p:cNvPr id="68" name="Rounded Rectangle 4">
              <a:extLst>
                <a:ext uri="{FF2B5EF4-FFF2-40B4-BE49-F238E27FC236}">
                  <a16:creationId xmlns:a16="http://schemas.microsoft.com/office/drawing/2014/main" id="{B39CCCB6-E862-6940-FAD1-04C442039CB1}"/>
                </a:ext>
              </a:extLst>
            </p:cNvPr>
            <p:cNvSpPr/>
            <p:nvPr/>
          </p:nvSpPr>
          <p:spPr>
            <a:xfrm>
              <a:off x="9161042" y="4897464"/>
              <a:ext cx="2713652" cy="887700"/>
            </a:xfrm>
            <a:prstGeom prst="roundRect">
              <a:avLst>
                <a:gd name="adj" fmla="val 6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ea typeface="Lato" panose="020F0502020204030203" pitchFamily="34" charset="0"/>
                <a:cs typeface="Lato" panose="020F0502020204030203" pitchFamily="34" charset="0"/>
              </a:endParaRPr>
            </a:p>
          </p:txBody>
        </p:sp>
        <p:sp>
          <p:nvSpPr>
            <p:cNvPr id="69" name="Rounded Rectangle 4">
              <a:extLst>
                <a:ext uri="{FF2B5EF4-FFF2-40B4-BE49-F238E27FC236}">
                  <a16:creationId xmlns:a16="http://schemas.microsoft.com/office/drawing/2014/main" id="{22112BF9-FE77-DCD9-E8DE-D9F60D21234A}"/>
                </a:ext>
              </a:extLst>
            </p:cNvPr>
            <p:cNvSpPr/>
            <p:nvPr/>
          </p:nvSpPr>
          <p:spPr>
            <a:xfrm>
              <a:off x="9161042" y="3822685"/>
              <a:ext cx="2713652" cy="887700"/>
            </a:xfrm>
            <a:prstGeom prst="roundRect">
              <a:avLst>
                <a:gd name="adj" fmla="val 6532"/>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ea typeface="Lato" panose="020F0502020204030203" pitchFamily="34" charset="0"/>
                <a:cs typeface="Lato" panose="020F0502020204030203" pitchFamily="34" charset="0"/>
              </a:endParaRPr>
            </a:p>
          </p:txBody>
        </p:sp>
      </p:grpSp>
      <p:sp>
        <p:nvSpPr>
          <p:cNvPr id="58" name="Trapezoid 57">
            <a:extLst>
              <a:ext uri="{FF2B5EF4-FFF2-40B4-BE49-F238E27FC236}">
                <a16:creationId xmlns:a16="http://schemas.microsoft.com/office/drawing/2014/main" id="{E2F768CF-287E-37A8-2AAC-A93E10ED2CF5}"/>
              </a:ext>
            </a:extLst>
          </p:cNvPr>
          <p:cNvSpPr/>
          <p:nvPr/>
        </p:nvSpPr>
        <p:spPr>
          <a:xfrm rot="16200000" flipH="1">
            <a:off x="6442000" y="3537648"/>
            <a:ext cx="3643886" cy="635866"/>
          </a:xfrm>
          <a:prstGeom prst="trapezoid">
            <a:avLst>
              <a:gd name="adj" fmla="val 156395"/>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p>
        </p:txBody>
      </p:sp>
      <p:grpSp>
        <p:nvGrpSpPr>
          <p:cNvPr id="59" name="Group 58">
            <a:extLst>
              <a:ext uri="{FF2B5EF4-FFF2-40B4-BE49-F238E27FC236}">
                <a16:creationId xmlns:a16="http://schemas.microsoft.com/office/drawing/2014/main" id="{CBE31F76-1F1F-614C-78C0-E36D667238DF}"/>
              </a:ext>
            </a:extLst>
          </p:cNvPr>
          <p:cNvGrpSpPr/>
          <p:nvPr/>
        </p:nvGrpSpPr>
        <p:grpSpPr>
          <a:xfrm>
            <a:off x="4201568" y="1823244"/>
            <a:ext cx="3766474" cy="4107656"/>
            <a:chOff x="4386486" y="1719618"/>
            <a:chExt cx="3811509" cy="4037845"/>
          </a:xfrm>
        </p:grpSpPr>
        <p:sp>
          <p:nvSpPr>
            <p:cNvPr id="64" name="Rectangle: Rounded Corners 63">
              <a:extLst>
                <a:ext uri="{FF2B5EF4-FFF2-40B4-BE49-F238E27FC236}">
                  <a16:creationId xmlns:a16="http://schemas.microsoft.com/office/drawing/2014/main" id="{4B8C91B2-56B9-5F82-B0EE-AD19A059A0F8}"/>
                </a:ext>
              </a:extLst>
            </p:cNvPr>
            <p:cNvSpPr/>
            <p:nvPr/>
          </p:nvSpPr>
          <p:spPr>
            <a:xfrm>
              <a:off x="4386486" y="1887566"/>
              <a:ext cx="3811509" cy="3869897"/>
            </a:xfrm>
            <a:prstGeom prst="roundRect">
              <a:avLst>
                <a:gd name="adj" fmla="val 2396"/>
              </a:avLst>
            </a:prstGeom>
            <a:solidFill>
              <a:srgbClr val="F2F2F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sz="1000" dirty="0"/>
            </a:p>
          </p:txBody>
        </p:sp>
        <p:sp>
          <p:nvSpPr>
            <p:cNvPr id="65" name="Rectangle: Rounded Corners 64">
              <a:extLst>
                <a:ext uri="{FF2B5EF4-FFF2-40B4-BE49-F238E27FC236}">
                  <a16:creationId xmlns:a16="http://schemas.microsoft.com/office/drawing/2014/main" id="{E1F4F1BD-C78A-0F43-779D-5D2C008C5941}"/>
                </a:ext>
              </a:extLst>
            </p:cNvPr>
            <p:cNvSpPr/>
            <p:nvPr/>
          </p:nvSpPr>
          <p:spPr>
            <a:xfrm>
              <a:off x="4386486" y="1719618"/>
              <a:ext cx="3811509" cy="3358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dirty="0">
                  <a:solidFill>
                    <a:srgbClr val="1D1D1D"/>
                  </a:solidFill>
                </a:rPr>
                <a:t>HR JOBS TO BE DONE</a:t>
              </a:r>
            </a:p>
          </p:txBody>
        </p:sp>
      </p:grpSp>
      <p:sp>
        <p:nvSpPr>
          <p:cNvPr id="60" name="TextBox 59">
            <a:extLst>
              <a:ext uri="{FF2B5EF4-FFF2-40B4-BE49-F238E27FC236}">
                <a16:creationId xmlns:a16="http://schemas.microsoft.com/office/drawing/2014/main" id="{5599856A-0A6C-14C1-4168-A99EBD0AA3DD}"/>
              </a:ext>
            </a:extLst>
          </p:cNvPr>
          <p:cNvSpPr txBox="1"/>
          <p:nvPr/>
        </p:nvSpPr>
        <p:spPr>
          <a:xfrm>
            <a:off x="1376034" y="1581916"/>
            <a:ext cx="1460656" cy="338554"/>
          </a:xfrm>
          <a:prstGeom prst="rect">
            <a:avLst/>
          </a:prstGeom>
          <a:noFill/>
        </p:spPr>
        <p:txBody>
          <a:bodyPr wrap="none" lIns="91440" tIns="45720" rIns="91440" bIns="45720" rtlCol="0">
            <a:spAutoFit/>
          </a:bodyPr>
          <a:lstStyle/>
          <a:p>
            <a:r>
              <a:rPr lang="en-US" sz="1600" b="1" dirty="0"/>
              <a:t>Business JTBDs</a:t>
            </a:r>
          </a:p>
        </p:txBody>
      </p:sp>
      <p:sp>
        <p:nvSpPr>
          <p:cNvPr id="61" name="TextBox 60">
            <a:extLst>
              <a:ext uri="{FF2B5EF4-FFF2-40B4-BE49-F238E27FC236}">
                <a16:creationId xmlns:a16="http://schemas.microsoft.com/office/drawing/2014/main" id="{DB0AA377-1FBB-5BA4-6EAC-CD126E31F38F}"/>
              </a:ext>
            </a:extLst>
          </p:cNvPr>
          <p:cNvSpPr txBox="1"/>
          <p:nvPr/>
        </p:nvSpPr>
        <p:spPr>
          <a:xfrm>
            <a:off x="8837123" y="1616011"/>
            <a:ext cx="2072683" cy="338554"/>
          </a:xfrm>
          <a:prstGeom prst="rect">
            <a:avLst/>
          </a:prstGeom>
          <a:noFill/>
        </p:spPr>
        <p:txBody>
          <a:bodyPr wrap="none" lIns="91440" tIns="45720" rIns="91440" bIns="45720" rtlCol="0">
            <a:spAutoFit/>
          </a:bodyPr>
          <a:lstStyle/>
          <a:p>
            <a:r>
              <a:rPr lang="en-US" sz="1600" b="1" dirty="0"/>
              <a:t>HR Functional Insights</a:t>
            </a:r>
          </a:p>
        </p:txBody>
      </p:sp>
      <p:sp>
        <p:nvSpPr>
          <p:cNvPr id="62" name="TextBox 61">
            <a:extLst>
              <a:ext uri="{FF2B5EF4-FFF2-40B4-BE49-F238E27FC236}">
                <a16:creationId xmlns:a16="http://schemas.microsoft.com/office/drawing/2014/main" id="{7F0758F0-706D-C622-600C-D0F3F7AD9B9E}"/>
              </a:ext>
            </a:extLst>
          </p:cNvPr>
          <p:cNvSpPr txBox="1"/>
          <p:nvPr/>
        </p:nvSpPr>
        <p:spPr>
          <a:xfrm>
            <a:off x="5197355" y="3297986"/>
            <a:ext cx="1797287" cy="307777"/>
          </a:xfrm>
          <a:prstGeom prst="rect">
            <a:avLst/>
          </a:prstGeom>
          <a:noFill/>
        </p:spPr>
        <p:txBody>
          <a:bodyPr wrap="none" lIns="91440" tIns="45720" rIns="91440" bIns="45720" rtlCol="0">
            <a:spAutoFit/>
          </a:bodyPr>
          <a:lstStyle/>
          <a:p>
            <a:pPr algn="ctr"/>
            <a:r>
              <a:rPr lang="en-US" sz="1400" b="1" dirty="0"/>
              <a:t>Enabling the Business</a:t>
            </a:r>
          </a:p>
        </p:txBody>
      </p:sp>
      <p:sp>
        <p:nvSpPr>
          <p:cNvPr id="63" name="TextBox 62">
            <a:extLst>
              <a:ext uri="{FF2B5EF4-FFF2-40B4-BE49-F238E27FC236}">
                <a16:creationId xmlns:a16="http://schemas.microsoft.com/office/drawing/2014/main" id="{49A338BE-006D-DAB3-2D96-BB34E6018457}"/>
              </a:ext>
            </a:extLst>
          </p:cNvPr>
          <p:cNvSpPr txBox="1"/>
          <p:nvPr/>
        </p:nvSpPr>
        <p:spPr>
          <a:xfrm>
            <a:off x="5135456" y="3826479"/>
            <a:ext cx="1921103" cy="307777"/>
          </a:xfrm>
          <a:prstGeom prst="rect">
            <a:avLst/>
          </a:prstGeom>
          <a:noFill/>
        </p:spPr>
        <p:txBody>
          <a:bodyPr wrap="none" lIns="91440" tIns="45720" rIns="91440" bIns="45720" rtlCol="0">
            <a:spAutoFit/>
          </a:bodyPr>
          <a:lstStyle/>
          <a:p>
            <a:pPr algn="ctr"/>
            <a:r>
              <a:rPr lang="en-US" sz="1400" b="1" dirty="0"/>
              <a:t>Enterprise HR Enablers </a:t>
            </a:r>
          </a:p>
        </p:txBody>
      </p:sp>
      <p:sp>
        <p:nvSpPr>
          <p:cNvPr id="74" name="TextBox 73">
            <a:extLst>
              <a:ext uri="{FF2B5EF4-FFF2-40B4-BE49-F238E27FC236}">
                <a16:creationId xmlns:a16="http://schemas.microsoft.com/office/drawing/2014/main" id="{3F8A3E3E-93A2-3944-48BD-CBCA19C79D66}"/>
              </a:ext>
            </a:extLst>
          </p:cNvPr>
          <p:cNvSpPr txBox="1"/>
          <p:nvPr/>
        </p:nvSpPr>
        <p:spPr>
          <a:xfrm>
            <a:off x="4978514" y="4385279"/>
            <a:ext cx="2234971" cy="307777"/>
          </a:xfrm>
          <a:prstGeom prst="rect">
            <a:avLst/>
          </a:prstGeom>
          <a:noFill/>
        </p:spPr>
        <p:txBody>
          <a:bodyPr wrap="none" lIns="91440" tIns="45720" rIns="91440" bIns="45720" rtlCol="0">
            <a:spAutoFit/>
          </a:bodyPr>
          <a:lstStyle/>
          <a:p>
            <a:pPr algn="ctr"/>
            <a:r>
              <a:rPr lang="en-US" sz="1400" b="1" dirty="0"/>
              <a:t>Foundational HR Excellence</a:t>
            </a:r>
          </a:p>
        </p:txBody>
      </p:sp>
      <p:sp>
        <p:nvSpPr>
          <p:cNvPr id="75" name="TextBox 74">
            <a:extLst>
              <a:ext uri="{FF2B5EF4-FFF2-40B4-BE49-F238E27FC236}">
                <a16:creationId xmlns:a16="http://schemas.microsoft.com/office/drawing/2014/main" id="{2BCCEDDF-2B26-FAFD-4975-39126467B5E7}"/>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76" name="SubtitleSplit"/>
          <p:cNvSpPr>
            <a:spLocks noGrp="1"/>
          </p:cNvSpPr>
          <p:nvPr>
            <p:ph type="subTitle" idx="1"/>
          </p:nvPr>
        </p:nvSpPr>
        <p:spPr>
          <a:noFill/>
        </p:spPr>
        <p:txBody>
          <a:bodyPr/>
          <a:lstStyle/>
          <a:p>
            <a:r>
              <a:t>Bringing IT together</a:t>
            </a:r>
            <a:endParaRPr lang="en-US" b="0" spc="-10">
              <a:latin typeface="Segoe UI" pitchFamily="34" charset="0"/>
            </a:endParaRPr>
          </a:p>
        </p:txBody>
      </p:sp>
      <p:sp>
        <p:nvSpPr>
          <p:cNvPr id="7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F2B55648-E33A-4D42-A647-1A8D702B0479}" type="slidenum">
              <a:t>33</a:t>
            </a:fld>
            <a:endParaRPr lang="en-US"/>
          </a:p>
        </p:txBody>
      </p:sp>
    </p:spTree>
    <p:extLst>
      <p:ext uri="{BB962C8B-B14F-4D97-AF65-F5344CB8AC3E}">
        <p14:creationId xmlns:p14="http://schemas.microsoft.com/office/powerpoint/2010/main" val="4101271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AD562-DEB8-E236-39D1-72AC0E39F32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71F84B38-AC3E-6696-1343-88B884802F6E}"/>
              </a:ext>
            </a:extLst>
          </p:cNvPr>
          <p:cNvSpPr>
            <a:spLocks noGrp="1"/>
          </p:cNvSpPr>
          <p:nvPr>
            <p:ph type="title" sz="quarter"/>
          </p:nvPr>
        </p:nvSpPr>
        <p:spPr/>
        <p:txBody>
          <a:bodyPr/>
          <a:lstStyle/>
          <a:p>
            <a:endParaRPr lang="en-US" b="1" dirty="0">
              <a:solidFill>
                <a:srgbClr val="281A42"/>
              </a:solidFill>
              <a:latin typeface="+mn-lt"/>
            </a:endParaRPr>
          </a:p>
        </p:txBody>
      </p:sp>
      <p:sp>
        <p:nvSpPr>
          <p:cNvPr id="8" name="Rectangle 7">
            <a:extLst>
              <a:ext uri="{FF2B5EF4-FFF2-40B4-BE49-F238E27FC236}">
                <a16:creationId xmlns:a16="http://schemas.microsoft.com/office/drawing/2014/main" id="{D5EFBE04-82E5-D4B9-05C1-9C0EEE06629A}"/>
              </a:ext>
            </a:extLst>
          </p:cNvPr>
          <p:cNvSpPr/>
          <p:nvPr/>
        </p:nvSpPr>
        <p:spPr>
          <a:xfrm>
            <a:off x="961390" y="5115939"/>
            <a:ext cx="10113838" cy="1055249"/>
          </a:xfrm>
          <a:prstGeom prst="rect">
            <a:avLst/>
          </a:prstGeom>
          <a:noFill/>
          <a:ln>
            <a:noFill/>
          </a:ln>
        </p:spPr>
        <p:txBody>
          <a:bodyPr vert="horz" lIns="54864" tIns="54864" rIns="45720" bIns="36576" rtlCol="0" anchor="ctr" anchorCtr="0">
            <a:noAutofit/>
          </a:bodyPr>
          <a:lstStyle/>
          <a:p>
            <a:pPr marL="228600" indent="-228600" defTabSz="173736">
              <a:spcAft>
                <a:spcPts val="600"/>
              </a:spcAft>
              <a:buFont typeface="Arial" panose="020B0604020202020204" pitchFamily="34" charset="0"/>
              <a:buChar char="•"/>
              <a:tabLst>
                <a:tab pos="114300" algn="l"/>
                <a:tab pos="346075" algn="l"/>
                <a:tab pos="520700" algn="l"/>
                <a:tab pos="693738" algn="l"/>
              </a:tabLst>
            </a:pPr>
            <a:r>
              <a:rPr lang="en-US" sz="1200" spc="-10" dirty="0">
                <a:solidFill>
                  <a:srgbClr val="3B3B3B"/>
                </a:solidFill>
                <a:latin typeface="Arial" pitchFamily="34" charset="0"/>
                <a:ea typeface="Lato Light" panose="020F0502020204030203" pitchFamily="34" charset="0"/>
                <a:cs typeface="Lato Light" panose="020F0502020204030203" pitchFamily="34" charset="0"/>
                <a:sym typeface="Wingdings" panose="05000000000000000000" pitchFamily="2" charset="2"/>
              </a:rPr>
              <a:t>World class people analytics to support </a:t>
            </a:r>
            <a:r>
              <a:rPr lang="en-US" sz="1200" spc="-10" dirty="0">
                <a:latin typeface="Arial" pitchFamily="34" charset="0"/>
                <a:ea typeface="Lato Light" panose="020F0502020204030203" pitchFamily="34" charset="0"/>
                <a:cs typeface="Lato Light" panose="020F0502020204030203" pitchFamily="34" charset="0"/>
                <a:sym typeface="Wingdings" panose="05000000000000000000" pitchFamily="2" charset="2"/>
              </a:rPr>
              <a:t>data driven insights to inform and shape business decisions</a:t>
            </a:r>
          </a:p>
          <a:p>
            <a:pPr marL="228600" indent="-228600" defTabSz="173736">
              <a:spcAft>
                <a:spcPts val="600"/>
              </a:spcAft>
              <a:buFont typeface="Arial" panose="020B0604020202020204" pitchFamily="34" charset="0"/>
              <a:buChar char="•"/>
              <a:tabLst>
                <a:tab pos="114300" algn="l"/>
                <a:tab pos="346075" algn="l"/>
                <a:tab pos="520700" algn="l"/>
                <a:tab pos="693738" algn="l"/>
              </a:tabLst>
            </a:pPr>
            <a:r>
              <a:rPr lang="en-US" sz="1200" spc="-10" dirty="0">
                <a:solidFill>
                  <a:srgbClr val="3B3B3B"/>
                </a:solidFill>
                <a:latin typeface="Arial" pitchFamily="34" charset="0"/>
                <a:ea typeface="Lato Light" panose="020F0502020204030203" pitchFamily="34" charset="0"/>
                <a:cs typeface="Lato Light" panose="020F0502020204030203" pitchFamily="34" charset="0"/>
                <a:sym typeface="Wingdings" panose="05000000000000000000" pitchFamily="2" charset="2"/>
              </a:rPr>
              <a:t>Strengthen HR foundations with a focus on talent excellence – selection, succession / bench strength, training and development, goal setting and performance management  </a:t>
            </a:r>
          </a:p>
        </p:txBody>
      </p:sp>
      <p:sp>
        <p:nvSpPr>
          <p:cNvPr id="11" name="object 683">
            <a:extLst>
              <a:ext uri="{FF2B5EF4-FFF2-40B4-BE49-F238E27FC236}">
                <a16:creationId xmlns:a16="http://schemas.microsoft.com/office/drawing/2014/main" id="{C2B45577-C247-94F5-F40A-839C710844C5}"/>
              </a:ext>
            </a:extLst>
          </p:cNvPr>
          <p:cNvSpPr>
            <a:spLocks noGrp="1"/>
          </p:cNvSpPr>
          <p:nvPr>
            <p:ph idx="1"/>
          </p:nvPr>
        </p:nvSpPr>
        <p:spPr>
          <a:xfrm>
            <a:off x="995680" y="1329143"/>
            <a:ext cx="10168001" cy="1054776"/>
          </a:xfrm>
          <a:prstGeom prst="rect">
            <a:avLst/>
          </a:prstGeom>
        </p:spPr>
        <p:txBody>
          <a:bodyPr vert="horz" wrap="square" lIns="0" tIns="15875" rIns="0" bIns="0" rtlCol="0">
            <a:spAutoFit/>
          </a:bodyPr>
          <a:lstStyle/>
          <a:p>
            <a:pPr marL="228600" indent="-228600">
              <a:spcAft>
                <a:spcPts val="300"/>
              </a:spcAft>
              <a:buBlip>
                <a:blip r:embed="rId3"/>
              </a:buBlip>
            </a:pPr>
            <a:r>
              <a:rPr lang="en-US" sz="1200" spc="-10" dirty="0">
                <a:latin typeface="Arial" pitchFamily="34" charset="0"/>
                <a:ea typeface="Lato Light" panose="020F0502020204030203" pitchFamily="34" charset="0"/>
                <a:cs typeface="Lato Light" panose="020F0502020204030203" pitchFamily="34" charset="0"/>
              </a:rPr>
              <a:t>Drive the Strategic operating model pivot enabling a commercially focused, operationally consistent, future ready, interdependent business .</a:t>
            </a:r>
          </a:p>
          <a:p>
            <a:pPr marL="228600" lvl="0" indent="-228600" defTabSz="685800">
              <a:spcAft>
                <a:spcPts val="300"/>
              </a:spcAft>
              <a:buBlip>
                <a:blip r:embed="rId3"/>
              </a:buBlip>
              <a:defRPr/>
            </a:pPr>
            <a:r>
              <a:rPr lang="en-US" sz="1200" spc="-10" dirty="0">
                <a:latin typeface="Arial" pitchFamily="34" charset="0"/>
                <a:ea typeface="Lato Light" panose="020F0502020204030203" pitchFamily="34" charset="0"/>
                <a:cs typeface="Lato Light" panose="020F0502020204030203" pitchFamily="34" charset="0"/>
              </a:rPr>
              <a:t>Build capacity and capability (talent, skills, knowledge) at (N-2) to deliver commercial excellence, innovation and operational excellence, quality and customer service.</a:t>
            </a:r>
          </a:p>
          <a:p>
            <a:pPr marL="228600" lvl="0" indent="-228600" defTabSz="685800">
              <a:spcAft>
                <a:spcPts val="300"/>
              </a:spcAft>
              <a:buBlip>
                <a:blip r:embed="rId3"/>
              </a:buBlip>
              <a:defRPr/>
            </a:pPr>
            <a:r>
              <a:rPr lang="en-US" sz="1200" spc="-10" dirty="0">
                <a:latin typeface="Arial" pitchFamily="34" charset="0"/>
                <a:ea typeface="Lato Light" panose="020F0502020204030203" pitchFamily="34" charset="0"/>
                <a:cs typeface="Lato Light" panose="020F0502020204030203" pitchFamily="34" charset="0"/>
              </a:rPr>
              <a:t>Build change management capability to enable the operating model pivot with a “bias for action” and to a Enterprise mindset </a:t>
            </a:r>
          </a:p>
          <a:p>
            <a:pPr marL="228600" lvl="0" indent="-228600" defTabSz="685800">
              <a:spcAft>
                <a:spcPts val="300"/>
              </a:spcAft>
              <a:buBlip>
                <a:blip r:embed="rId3"/>
              </a:buBlip>
              <a:defRPr/>
            </a:pPr>
            <a:r>
              <a:rPr lang="en-US" sz="1200" spc="-10" dirty="0">
                <a:latin typeface="Arial" pitchFamily="34" charset="0"/>
                <a:ea typeface="Lato Light" panose="020F0502020204030203" pitchFamily="34" charset="0"/>
                <a:cs typeface="Lato Light" panose="020F0502020204030203" pitchFamily="34" charset="0"/>
              </a:rPr>
              <a:t>Optimize costs through organizational simplification, de-duplication and execution of Shared Services / offshoring strategy.</a:t>
            </a:r>
          </a:p>
        </p:txBody>
      </p:sp>
      <p:sp>
        <p:nvSpPr>
          <p:cNvPr id="13" name="object 685">
            <a:extLst>
              <a:ext uri="{FF2B5EF4-FFF2-40B4-BE49-F238E27FC236}">
                <a16:creationId xmlns:a16="http://schemas.microsoft.com/office/drawing/2014/main" id="{D95760E1-3368-B481-1CE0-6C3B77003776}"/>
              </a:ext>
            </a:extLst>
          </p:cNvPr>
          <p:cNvSpPr txBox="1"/>
          <p:nvPr/>
        </p:nvSpPr>
        <p:spPr>
          <a:xfrm>
            <a:off x="886613" y="778977"/>
            <a:ext cx="10188615" cy="511409"/>
          </a:xfrm>
          <a:prstGeom prst="rect">
            <a:avLst/>
          </a:prstGeom>
          <a:solidFill>
            <a:srgbClr val="281A42"/>
          </a:solidFill>
        </p:spPr>
        <p:txBody>
          <a:bodyPr vert="horz" wrap="square" lIns="0" tIns="153035" rIns="0" bIns="0" rtlCol="0">
            <a:noAutofit/>
          </a:bodyPr>
          <a:lstStyle/>
          <a:p>
            <a:pPr marL="261620">
              <a:spcBef>
                <a:spcPts val="1205"/>
              </a:spcBef>
            </a:pPr>
            <a:r>
              <a:rPr lang="en-US" sz="1600" b="1" spc="-25" dirty="0">
                <a:solidFill>
                  <a:srgbClr val="F2F2F2"/>
                </a:solidFill>
                <a:cs typeface="Arial" panose="020B0604020202020204" pitchFamily="34" charset="0"/>
              </a:rPr>
              <a:t>Enabling the Business (strategic Business Partner)</a:t>
            </a:r>
          </a:p>
        </p:txBody>
      </p:sp>
      <p:sp>
        <p:nvSpPr>
          <p:cNvPr id="19" name="object 691">
            <a:extLst>
              <a:ext uri="{FF2B5EF4-FFF2-40B4-BE49-F238E27FC236}">
                <a16:creationId xmlns:a16="http://schemas.microsoft.com/office/drawing/2014/main" id="{4A626FF4-0D7A-1131-B560-4FC7D2F898A2}"/>
              </a:ext>
            </a:extLst>
          </p:cNvPr>
          <p:cNvSpPr txBox="1"/>
          <p:nvPr/>
        </p:nvSpPr>
        <p:spPr>
          <a:xfrm>
            <a:off x="1017270" y="3086417"/>
            <a:ext cx="10077831" cy="1462580"/>
          </a:xfrm>
          <a:prstGeom prst="rect">
            <a:avLst/>
          </a:prstGeom>
        </p:spPr>
        <p:txBody>
          <a:bodyPr vert="horz" wrap="square" lIns="0" tIns="15875" rIns="0" bIns="0" rtlCol="0">
            <a:spAutoFit/>
          </a:bodyPr>
          <a:lstStyle/>
          <a:p>
            <a:pPr marL="228600" lvl="0" indent="-228600" defTabSz="685800">
              <a:spcAft>
                <a:spcPts val="300"/>
              </a:spcAft>
              <a:buFont typeface="Arial" panose="020B0604020202020204" pitchFamily="34" charset="0"/>
              <a:buChar char="•"/>
              <a:defRPr/>
            </a:pPr>
            <a:r>
              <a:rPr lang="en-US" sz="1200" spc="-10" dirty="0">
                <a:latin typeface="Arial" pitchFamily="34" charset="0"/>
                <a:ea typeface="Lato Light" panose="020F0502020204030203" pitchFamily="34" charset="0"/>
                <a:cs typeface="Lato Light" panose="020F0502020204030203" pitchFamily="34" charset="0"/>
              </a:rPr>
              <a:t>Own HR Strategy Development for talent mobility, compensation, goal setting and performance management – working seamlessly with global functions AND optimized for specific BU context. Support operating business HR leaders to translate to their businesses. </a:t>
            </a:r>
          </a:p>
          <a:p>
            <a:pPr marL="228600" lvl="0" indent="-228600" defTabSz="685800">
              <a:spcAft>
                <a:spcPts val="300"/>
              </a:spcAft>
              <a:buFont typeface="Arial" panose="020B0604020202020204" pitchFamily="34" charset="0"/>
              <a:buChar char="•"/>
              <a:defRPr/>
            </a:pPr>
            <a:r>
              <a:rPr lang="en-US" sz="1200" spc="-10" dirty="0">
                <a:latin typeface="Arial" pitchFamily="34" charset="0"/>
                <a:ea typeface="Lato Light" panose="020F0502020204030203" pitchFamily="34" charset="0"/>
                <a:cs typeface="Lato Light" panose="020F0502020204030203" pitchFamily="34" charset="0"/>
              </a:rPr>
              <a:t>Business Leadership and Critical Roles selection, succession, bench and team effectiveness for each operating business.</a:t>
            </a:r>
          </a:p>
          <a:p>
            <a:pPr marL="228600" lvl="0" indent="-228600" defTabSz="685800">
              <a:spcAft>
                <a:spcPts val="300"/>
              </a:spcAft>
              <a:buFont typeface="Arial" panose="020B0604020202020204" pitchFamily="34" charset="0"/>
              <a:buChar char="•"/>
              <a:defRPr/>
            </a:pPr>
            <a:r>
              <a:rPr lang="en-US" sz="1200" spc="-10" dirty="0">
                <a:latin typeface="Arial" pitchFamily="34" charset="0"/>
                <a:ea typeface="Lato Light" panose="020F0502020204030203" pitchFamily="34" charset="0"/>
                <a:cs typeface="Lato Light" panose="020F0502020204030203" pitchFamily="34" charset="0"/>
              </a:rPr>
              <a:t>Strengthen HR leadership at Critical Roles, define and implement appropriate functional operating model and build capabilities required to build robust functional foundations AND pivot the function from transactional basics to a strategic business partner</a:t>
            </a:r>
          </a:p>
          <a:p>
            <a:pPr marL="228600" lvl="0" indent="-228600" defTabSz="685800">
              <a:spcAft>
                <a:spcPts val="300"/>
              </a:spcAft>
              <a:buFont typeface="Arial" panose="020B0604020202020204" pitchFamily="34" charset="0"/>
              <a:buChar char="•"/>
              <a:defRPr/>
            </a:pPr>
            <a:r>
              <a:rPr lang="en-US" sz="1200" spc="-10" dirty="0">
                <a:latin typeface="Arial" pitchFamily="34" charset="0"/>
                <a:ea typeface="Lato Light" panose="020F0502020204030203" pitchFamily="34" charset="0"/>
                <a:cs typeface="Lato Light" panose="020F0502020204030203" pitchFamily="34" charset="0"/>
              </a:rPr>
              <a:t>Build and execute the HR shared services model</a:t>
            </a:r>
          </a:p>
          <a:p>
            <a:pPr marL="228600" lvl="0" indent="-228600" defTabSz="685800">
              <a:spcAft>
                <a:spcPts val="300"/>
              </a:spcAft>
              <a:buFont typeface="Arial" panose="020B0604020202020204" pitchFamily="34" charset="0"/>
              <a:buChar char="•"/>
              <a:defRPr/>
            </a:pPr>
            <a:r>
              <a:rPr lang="en-US" sz="1200" spc="-10" dirty="0">
                <a:latin typeface="Arial" pitchFamily="34" charset="0"/>
                <a:ea typeface="Lato Light" panose="020F0502020204030203" pitchFamily="34" charset="0"/>
                <a:cs typeface="Lato Light" panose="020F0502020204030203" pitchFamily="34" charset="0"/>
              </a:rPr>
              <a:t>Develop and execute the program for Offshoring Strategy and Organizational Optimization (simplification, de-duplication, consistency) across BUs</a:t>
            </a:r>
          </a:p>
        </p:txBody>
      </p:sp>
      <p:sp>
        <p:nvSpPr>
          <p:cNvPr id="22" name="object 685">
            <a:extLst>
              <a:ext uri="{FF2B5EF4-FFF2-40B4-BE49-F238E27FC236}">
                <a16:creationId xmlns:a16="http://schemas.microsoft.com/office/drawing/2014/main" id="{9E728DE6-FFC8-6608-1155-D25134168A65}"/>
              </a:ext>
            </a:extLst>
          </p:cNvPr>
          <p:cNvSpPr txBox="1"/>
          <p:nvPr/>
        </p:nvSpPr>
        <p:spPr>
          <a:xfrm>
            <a:off x="912013" y="2516337"/>
            <a:ext cx="10163215" cy="511409"/>
          </a:xfrm>
          <a:prstGeom prst="rect">
            <a:avLst/>
          </a:prstGeom>
          <a:solidFill>
            <a:srgbClr val="281A42"/>
          </a:solidFill>
        </p:spPr>
        <p:txBody>
          <a:bodyPr vert="horz" wrap="square" lIns="0" tIns="153035" rIns="0" bIns="0" rtlCol="0">
            <a:noAutofit/>
          </a:bodyPr>
          <a:lstStyle/>
          <a:p>
            <a:pPr marL="261620">
              <a:spcBef>
                <a:spcPts val="1205"/>
              </a:spcBef>
            </a:pPr>
            <a:r>
              <a:rPr lang="en-US" sz="1600" b="1" dirty="0">
                <a:solidFill>
                  <a:srgbClr val="F2F2F2"/>
                </a:solidFill>
                <a:cs typeface="Arial" panose="020B0604020202020204" pitchFamily="34" charset="0"/>
              </a:rPr>
              <a:t>ENTERPRISE HR ENABLERS </a:t>
            </a:r>
          </a:p>
        </p:txBody>
      </p:sp>
      <p:sp>
        <p:nvSpPr>
          <p:cNvPr id="23" name="object 685">
            <a:extLst>
              <a:ext uri="{FF2B5EF4-FFF2-40B4-BE49-F238E27FC236}">
                <a16:creationId xmlns:a16="http://schemas.microsoft.com/office/drawing/2014/main" id="{4A08F510-7270-21AC-8E59-65099C638F15}"/>
              </a:ext>
            </a:extLst>
          </p:cNvPr>
          <p:cNvSpPr txBox="1"/>
          <p:nvPr/>
        </p:nvSpPr>
        <p:spPr>
          <a:xfrm>
            <a:off x="912013" y="4649937"/>
            <a:ext cx="10163215" cy="511409"/>
          </a:xfrm>
          <a:prstGeom prst="rect">
            <a:avLst/>
          </a:prstGeom>
          <a:solidFill>
            <a:srgbClr val="281A42"/>
          </a:solidFill>
        </p:spPr>
        <p:txBody>
          <a:bodyPr vert="horz" wrap="square" lIns="0" tIns="153035" rIns="0" bIns="0" rtlCol="0">
            <a:noAutofit/>
          </a:bodyPr>
          <a:lstStyle/>
          <a:p>
            <a:pPr marL="261620">
              <a:spcBef>
                <a:spcPts val="1205"/>
              </a:spcBef>
            </a:pPr>
            <a:r>
              <a:rPr lang="en-US" sz="1600" b="1" dirty="0">
                <a:solidFill>
                  <a:srgbClr val="F2F2F2"/>
                </a:solidFill>
                <a:cs typeface="Arial" panose="020B0604020202020204" pitchFamily="34" charset="0"/>
              </a:rPr>
              <a:t>FOUNDATIONAL HR EXCELLENCE</a:t>
            </a:r>
          </a:p>
        </p:txBody>
      </p:sp>
      <p:sp>
        <p:nvSpPr>
          <p:cNvPr id="24" name="TextBox 23">
            <a:extLst>
              <a:ext uri="{FF2B5EF4-FFF2-40B4-BE49-F238E27FC236}">
                <a16:creationId xmlns:a16="http://schemas.microsoft.com/office/drawing/2014/main" id="{E57AC316-1F75-04EC-AB81-BB0BE32BD08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25" name="SubtitleSplit"/>
          <p:cNvSpPr>
            <a:spLocks noGrp="1"/>
          </p:cNvSpPr>
          <p:nvPr>
            <p:ph type="subTitle" idx="1"/>
          </p:nvPr>
        </p:nvSpPr>
        <p:spPr>
          <a:noFill/>
        </p:spPr>
        <p:txBody>
          <a:bodyPr/>
          <a:lstStyle/>
          <a:p>
            <a:r>
              <a:t>HR jobs to be done</a:t>
            </a:r>
            <a:endParaRPr lang="en-US" b="0" spc="-10">
              <a:latin typeface="Segoe UI" pitchFamily="34" charset="0"/>
            </a:endParaRPr>
          </a:p>
        </p:txBody>
      </p:sp>
      <p:sp>
        <p:nvSpPr>
          <p:cNvPr id="26"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8F7C09BB-E241-4381-B483-BBD11F4F3B1B}" type="slidenum">
              <a:t>34</a:t>
            </a:fld>
            <a:endParaRPr lang="en-US"/>
          </a:p>
        </p:txBody>
      </p:sp>
    </p:spTree>
    <p:extLst>
      <p:ext uri="{BB962C8B-B14F-4D97-AF65-F5344CB8AC3E}">
        <p14:creationId xmlns:p14="http://schemas.microsoft.com/office/powerpoint/2010/main" val="2429215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4E441-91E7-5EFB-B362-AA177E3376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88AB561-2328-1DFD-0EA0-6EEC94C54E8C}"/>
              </a:ext>
            </a:extLst>
          </p:cNvPr>
          <p:cNvSpPr>
            <a:spLocks noGrp="1"/>
          </p:cNvSpPr>
          <p:nvPr>
            <p:ph type="title" sz="quarter"/>
          </p:nvPr>
        </p:nvSpPr>
        <p:spPr/>
        <p:txBody>
          <a:bodyPr/>
          <a:lstStyle/>
          <a:p>
            <a:endParaRPr lang="en-US" b="1" dirty="0">
              <a:solidFill>
                <a:srgbClr val="281A42"/>
              </a:solidFill>
              <a:latin typeface="+mn-lt"/>
            </a:endParaRPr>
          </a:p>
        </p:txBody>
      </p:sp>
      <p:sp>
        <p:nvSpPr>
          <p:cNvPr id="8" name="Rectangle 7">
            <a:extLst>
              <a:ext uri="{FF2B5EF4-FFF2-40B4-BE49-F238E27FC236}">
                <a16:creationId xmlns:a16="http://schemas.microsoft.com/office/drawing/2014/main" id="{8004F499-4FC2-4559-BC87-2FB4D445839D}"/>
              </a:ext>
            </a:extLst>
          </p:cNvPr>
          <p:cNvSpPr/>
          <p:nvPr/>
        </p:nvSpPr>
        <p:spPr>
          <a:xfrm>
            <a:off x="961390" y="5298819"/>
            <a:ext cx="10113838" cy="1055249"/>
          </a:xfrm>
          <a:prstGeom prst="rect">
            <a:avLst/>
          </a:prstGeom>
          <a:noFill/>
          <a:ln>
            <a:noFill/>
          </a:ln>
        </p:spPr>
        <p:txBody>
          <a:bodyPr vert="horz" lIns="54864" tIns="54864" rIns="45720" bIns="36576" rtlCol="0" anchor="ctr" anchorCtr="0">
            <a:noAutofit/>
          </a:bodyPr>
          <a:lstStyle/>
          <a:p>
            <a:pPr marL="228600" marR="0" lvl="0" indent="-228600" algn="l" defTabSz="173736" rtl="0" eaLnBrk="1" fontAlgn="auto" latinLnBrk="0" hangingPunct="1">
              <a:lnSpc>
                <a:spcPct val="100000"/>
              </a:lnSpc>
              <a:spcBef>
                <a:spcPts val="0"/>
              </a:spcBef>
              <a:spcAft>
                <a:spcPts val="600"/>
              </a:spcAft>
              <a:buClrTx/>
              <a:buSzTx/>
              <a:buFont typeface="Arial" panose="020B0604020202020204" pitchFamily="34" charset="0"/>
              <a:buChar char="•"/>
              <a:tabLst>
                <a:tab pos="114300" algn="l"/>
                <a:tab pos="346075" algn="l"/>
                <a:tab pos="520700" algn="l"/>
                <a:tab pos="693738" algn="l"/>
              </a:tabLst>
              <a:defRPr/>
            </a:pPr>
            <a:r>
              <a:rPr kumimoji="0" lang="en-US" sz="1200" i="0" u="none" strike="noStrike" kern="1200" cap="none" spc="-10" normalizeH="0" baseline="0" noProof="0" dirty="0">
                <a:ln>
                  <a:noFill/>
                </a:ln>
                <a:solidFill>
                  <a:srgbClr val="3B3B3B"/>
                </a:solidFill>
                <a:effectLst/>
                <a:uLnTx/>
                <a:uFillTx/>
                <a:latin typeface="Arial" pitchFamily="34" charset="0"/>
                <a:ea typeface="Lato Light" panose="020F0502020204030203" pitchFamily="34" charset="0"/>
                <a:cs typeface="Lato Light" panose="020F0502020204030203" pitchFamily="34" charset="0"/>
                <a:sym typeface="Wingdings" panose="05000000000000000000" pitchFamily="2" charset="2"/>
              </a:rPr>
              <a:t>Build people analytics capabilities to support </a:t>
            </a:r>
            <a:r>
              <a:rPr kumimoji="0" lang="en-US"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sym typeface="Wingdings" panose="05000000000000000000" pitchFamily="2" charset="2"/>
              </a:rPr>
              <a:t>data driven insights to inform and shape business decisions</a:t>
            </a:r>
          </a:p>
          <a:p>
            <a:pPr marL="228600" indent="-228600" defTabSz="173736">
              <a:spcAft>
                <a:spcPts val="600"/>
              </a:spcAft>
              <a:buFont typeface="Arial" panose="020B0604020202020204" pitchFamily="34" charset="0"/>
              <a:buChar char="•"/>
              <a:tabLst>
                <a:tab pos="114300" algn="l"/>
                <a:tab pos="346075" algn="l"/>
                <a:tab pos="520700" algn="l"/>
                <a:tab pos="693738" algn="l"/>
              </a:tabLst>
            </a:pPr>
            <a:r>
              <a:rPr lang="en-US" sz="1200" spc="-10" dirty="0">
                <a:solidFill>
                  <a:srgbClr val="1D1D1D"/>
                </a:solidFill>
                <a:latin typeface="Arial" pitchFamily="34" charset="0"/>
                <a:ea typeface="Lato Light" panose="020F0502020204030203" pitchFamily="34" charset="0"/>
                <a:cs typeface="Lato Light" panose="020F0502020204030203" pitchFamily="34" charset="0"/>
              </a:rPr>
              <a:t>Build and execute the HR shared services model</a:t>
            </a:r>
          </a:p>
          <a:p>
            <a:pPr marL="228600" lvl="0" indent="-228600" defTabSz="685800">
              <a:spcAft>
                <a:spcPts val="300"/>
              </a:spcAft>
              <a:buFont typeface="Arial" panose="020B0604020202020204" pitchFamily="34" charset="0"/>
              <a:buChar char="•"/>
              <a:defRPr/>
            </a:pPr>
            <a:r>
              <a:rPr lang="en-US" sz="1200" spc="-10" dirty="0">
                <a:solidFill>
                  <a:srgbClr val="1D1D1D"/>
                </a:solidFill>
                <a:latin typeface="Arial" pitchFamily="34" charset="0"/>
                <a:ea typeface="Lato Light" panose="020F0502020204030203" pitchFamily="34" charset="0"/>
                <a:cs typeface="Lato Light" panose="020F0502020204030203" pitchFamily="34" charset="0"/>
              </a:rPr>
              <a:t>Identify and strengthen HR critical roles </a:t>
            </a:r>
          </a:p>
        </p:txBody>
      </p:sp>
      <p:sp>
        <p:nvSpPr>
          <p:cNvPr id="11" name="object 683">
            <a:extLst>
              <a:ext uri="{FF2B5EF4-FFF2-40B4-BE49-F238E27FC236}">
                <a16:creationId xmlns:a16="http://schemas.microsoft.com/office/drawing/2014/main" id="{91497397-4E50-B883-03B3-0BCF12791E1A}"/>
              </a:ext>
            </a:extLst>
          </p:cNvPr>
          <p:cNvSpPr>
            <a:spLocks noGrp="1"/>
          </p:cNvSpPr>
          <p:nvPr>
            <p:ph idx="1"/>
          </p:nvPr>
        </p:nvSpPr>
        <p:spPr>
          <a:xfrm>
            <a:off x="995680" y="1329143"/>
            <a:ext cx="10168001" cy="1985800"/>
          </a:xfrm>
          <a:prstGeom prst="rect">
            <a:avLst/>
          </a:prstGeom>
        </p:spPr>
        <p:txBody>
          <a:bodyPr vert="horz" wrap="square" lIns="0" tIns="15875" rIns="0" bIns="0" rtlCol="0">
            <a:spAutoFit/>
          </a:bodyPr>
          <a:lstStyle/>
          <a:p>
            <a:pPr marL="228600" marR="0" lvl="0" indent="-228600" algn="l" defTabSz="914400" rtl="0" eaLnBrk="1" fontAlgn="auto" latinLnBrk="0" hangingPunct="1">
              <a:lnSpc>
                <a:spcPct val="100000"/>
              </a:lnSpc>
              <a:spcBef>
                <a:spcPts val="0"/>
              </a:spcBef>
              <a:spcAft>
                <a:spcPts val="300"/>
              </a:spcAft>
              <a:buBlip>
                <a:blip r:embed="rId3"/>
              </a:buBlip>
              <a:tabLst/>
              <a:defRPr/>
            </a:pPr>
            <a:r>
              <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Design &amp; implement </a:t>
            </a:r>
            <a:r>
              <a:rPr lang="en-GB" sz="1200" spc="-10" dirty="0">
                <a:solidFill>
                  <a:srgbClr val="1D1D1D"/>
                </a:solidFill>
                <a:latin typeface="Arial" pitchFamily="34" charset="0"/>
                <a:ea typeface="Lato Light" panose="020F0502020204030203" pitchFamily="34" charset="0"/>
                <a:cs typeface="Lato Light" panose="020F0502020204030203" pitchFamily="34" charset="0"/>
              </a:rPr>
              <a:t>operating model shifts – organization design, change narrative, PMO, change leaders</a:t>
            </a:r>
          </a:p>
          <a:p>
            <a:pPr marL="228600" marR="0" lvl="0" indent="-228600" algn="l" defTabSz="914400" rtl="0" eaLnBrk="1" fontAlgn="auto" latinLnBrk="0" hangingPunct="1">
              <a:lnSpc>
                <a:spcPct val="100000"/>
              </a:lnSpc>
              <a:spcBef>
                <a:spcPts val="0"/>
              </a:spcBef>
              <a:spcAft>
                <a:spcPts val="300"/>
              </a:spcAft>
              <a:buBlip>
                <a:blip r:embed="rId3"/>
              </a:buBlip>
              <a:tabLst/>
              <a:defRPr/>
            </a:pPr>
            <a:r>
              <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Design &amp; deploy a  regular program to drive high performance in the top team with a focus on onboarding / replacing new LT members</a:t>
            </a:r>
          </a:p>
          <a:p>
            <a:pPr marL="228600" marR="0" lvl="0" indent="-228600" algn="l" defTabSz="914400" rtl="0" eaLnBrk="1" fontAlgn="auto" latinLnBrk="0" hangingPunct="1">
              <a:lnSpc>
                <a:spcPct val="100000"/>
              </a:lnSpc>
              <a:spcBef>
                <a:spcPts val="0"/>
              </a:spcBef>
              <a:spcAft>
                <a:spcPts val="300"/>
              </a:spcAft>
              <a:buBlip>
                <a:blip r:embed="rId3"/>
              </a:buBlip>
              <a:tabLst/>
              <a:defRPr/>
            </a:pPr>
            <a:r>
              <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Talent acquisition in Service Lines &amp; Sales</a:t>
            </a:r>
          </a:p>
          <a:p>
            <a:pPr marL="228600" marR="0" lvl="0" indent="-228600" algn="l" defTabSz="914400" rtl="0" eaLnBrk="1" fontAlgn="auto" latinLnBrk="0" hangingPunct="1">
              <a:lnSpc>
                <a:spcPct val="100000"/>
              </a:lnSpc>
              <a:spcBef>
                <a:spcPts val="0"/>
              </a:spcBef>
              <a:spcAft>
                <a:spcPts val="300"/>
              </a:spcAft>
              <a:buBlip>
                <a:blip r:embed="rId3"/>
              </a:buBlip>
              <a:tabLst/>
              <a:defRPr/>
            </a:pPr>
            <a:r>
              <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Simplify organization &amp; reduce costs</a:t>
            </a:r>
          </a:p>
          <a:p>
            <a:pPr marL="685800" lvl="1" indent="-228600">
              <a:spcAft>
                <a:spcPts val="300"/>
              </a:spcAft>
              <a:buBlip>
                <a:blip r:embed="rId3"/>
              </a:buBlip>
            </a:pPr>
            <a:r>
              <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Customer Services roles at lower job levels in 4 high-cost countries (US, UK, Switzerland, Germany)</a:t>
            </a:r>
          </a:p>
          <a:p>
            <a:pPr marL="685800" lvl="1" indent="-228600">
              <a:spcAft>
                <a:spcPts val="300"/>
              </a:spcAft>
              <a:buBlip>
                <a:blip r:embed="rId3"/>
              </a:buBlip>
            </a:pPr>
            <a:r>
              <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US structure with a focus on large, senior-heavy sales force at mid-level job </a:t>
            </a:r>
            <a:r>
              <a:rPr lang="en-GB" sz="1200" spc="-10" dirty="0">
                <a:solidFill>
                  <a:srgbClr val="1D1D1D"/>
                </a:solidFill>
                <a:latin typeface="Arial" pitchFamily="34" charset="0"/>
                <a:ea typeface="Lato Light" panose="020F0502020204030203" pitchFamily="34" charset="0"/>
                <a:cs typeface="Lato Light" panose="020F0502020204030203" pitchFamily="34" charset="0"/>
              </a:rPr>
              <a:t>levels</a:t>
            </a:r>
          </a:p>
          <a:p>
            <a:pPr marL="685800" lvl="1" indent="-228600">
              <a:spcAft>
                <a:spcPts val="300"/>
              </a:spcAft>
              <a:buBlip>
                <a:blip r:embed="rId3"/>
              </a:buBlip>
            </a:pPr>
            <a:r>
              <a:rPr lang="en-GB" sz="1200" spc="-10" dirty="0">
                <a:solidFill>
                  <a:srgbClr val="1D1D1D"/>
                </a:solidFill>
                <a:latin typeface="Arial" pitchFamily="34" charset="0"/>
                <a:ea typeface="Lato Light" panose="020F0502020204030203" pitchFamily="34" charset="0"/>
                <a:cs typeface="Lato Light" panose="020F0502020204030203" pitchFamily="34" charset="0"/>
              </a:rPr>
              <a:t>People leaders at lower job levels with 1-3 direct reports in 4 High-cost Countries (Canada, UK, Spain, Switzerland) </a:t>
            </a:r>
          </a:p>
          <a:p>
            <a:pPr marL="228600" marR="0" lvl="0" indent="-228600" algn="l" defTabSz="914400" rtl="0" eaLnBrk="1" fontAlgn="auto" latinLnBrk="0" hangingPunct="1">
              <a:lnSpc>
                <a:spcPct val="100000"/>
              </a:lnSpc>
              <a:spcBef>
                <a:spcPts val="0"/>
              </a:spcBef>
              <a:spcAft>
                <a:spcPts val="300"/>
              </a:spcAft>
              <a:buBlip>
                <a:blip r:embed="rId3"/>
              </a:buBlip>
              <a:tabLst/>
              <a:defRPr/>
            </a:pPr>
            <a:endPar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a:p>
            <a:pPr marL="228600" marR="0" lvl="0" indent="-228600" algn="l" defTabSz="914400" rtl="0" eaLnBrk="1" fontAlgn="auto" latinLnBrk="0" hangingPunct="1">
              <a:lnSpc>
                <a:spcPct val="100000"/>
              </a:lnSpc>
              <a:spcBef>
                <a:spcPts val="0"/>
              </a:spcBef>
              <a:spcAft>
                <a:spcPts val="300"/>
              </a:spcAft>
              <a:buBlip>
                <a:blip r:embed="rId3"/>
              </a:buBlip>
              <a:tabLst/>
              <a:defRPr/>
            </a:pPr>
            <a:endPar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endParaRPr>
          </a:p>
        </p:txBody>
      </p:sp>
      <p:sp>
        <p:nvSpPr>
          <p:cNvPr id="13" name="object 685">
            <a:extLst>
              <a:ext uri="{FF2B5EF4-FFF2-40B4-BE49-F238E27FC236}">
                <a16:creationId xmlns:a16="http://schemas.microsoft.com/office/drawing/2014/main" id="{786C2EE0-4E57-D137-CE5D-AC598D204F06}"/>
              </a:ext>
            </a:extLst>
          </p:cNvPr>
          <p:cNvSpPr txBox="1"/>
          <p:nvPr/>
        </p:nvSpPr>
        <p:spPr>
          <a:xfrm>
            <a:off x="886613" y="778977"/>
            <a:ext cx="10188615" cy="511409"/>
          </a:xfrm>
          <a:prstGeom prst="rect">
            <a:avLst/>
          </a:prstGeom>
          <a:solidFill>
            <a:srgbClr val="281A42"/>
          </a:solidFill>
        </p:spPr>
        <p:txBody>
          <a:bodyPr vert="horz" wrap="square" lIns="0" tIns="153035" rIns="0" bIns="0" rtlCol="0">
            <a:noAutofit/>
          </a:bodyPr>
          <a:lstStyle/>
          <a:p>
            <a:pPr marL="261620" marR="0" lvl="0" indent="0" algn="l" defTabSz="914400" rtl="0" eaLnBrk="1" fontAlgn="auto" latinLnBrk="0" hangingPunct="1">
              <a:lnSpc>
                <a:spcPct val="100000"/>
              </a:lnSpc>
              <a:spcBef>
                <a:spcPts val="1205"/>
              </a:spcBef>
              <a:spcAft>
                <a:spcPts val="0"/>
              </a:spcAft>
              <a:buClrTx/>
              <a:buSzTx/>
              <a:buFontTx/>
              <a:buNone/>
              <a:tabLst/>
              <a:defRPr b="1" spc="-25">
                <a:solidFill>
                  <a:srgbClr val="FFFFFF"/>
                </a:solidFill>
                <a:latin typeface="Segoe UI" pitchFamily="34" charset="0"/>
              </a:defRPr>
            </a:pPr>
            <a:r>
              <a:rPr kumimoji="0" lang="en-US" sz="1600" b="1" i="0" u="none" strike="noStrike" kern="1200" cap="none" spc="-25" normalizeH="0" baseline="0" noProof="0" dirty="0">
                <a:ln>
                  <a:noFill/>
                </a:ln>
                <a:solidFill>
                  <a:srgbClr val="FFFFFF"/>
                </a:solidFill>
                <a:effectLst/>
                <a:uLnTx/>
                <a:uFillTx/>
                <a:latin typeface="Segoe UI" pitchFamily="34" charset="0"/>
                <a:ea typeface="+mn-ea"/>
                <a:cs typeface="Arial" panose="020B0604020202020204" pitchFamily="34" charset="0"/>
              </a:rPr>
              <a:t>Enabling the Business (strategic Business Partner)</a:t>
            </a:r>
          </a:p>
        </p:txBody>
      </p:sp>
      <p:sp>
        <p:nvSpPr>
          <p:cNvPr id="19" name="object 691">
            <a:extLst>
              <a:ext uri="{FF2B5EF4-FFF2-40B4-BE49-F238E27FC236}">
                <a16:creationId xmlns:a16="http://schemas.microsoft.com/office/drawing/2014/main" id="{4C8FFB66-5B3D-CE76-6C86-A5A743BB0FF6}"/>
              </a:ext>
            </a:extLst>
          </p:cNvPr>
          <p:cNvSpPr txBox="1"/>
          <p:nvPr/>
        </p:nvSpPr>
        <p:spPr>
          <a:xfrm>
            <a:off x="1017270" y="3600767"/>
            <a:ext cx="10077831" cy="1054776"/>
          </a:xfrm>
          <a:prstGeom prst="rect">
            <a:avLst/>
          </a:prstGeom>
        </p:spPr>
        <p:txBody>
          <a:bodyPr vert="horz" wrap="square" lIns="0" tIns="15875" rIns="0" bIns="0" rtlCol="0">
            <a:spAutoFit/>
          </a:bodyPr>
          <a:lstStyle/>
          <a:p>
            <a:pPr marL="228600" marR="0" lvl="0" indent="-228600" algn="l" defTabSz="6858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spc="-10" dirty="0">
                <a:solidFill>
                  <a:srgbClr val="1D1D1D"/>
                </a:solidFill>
                <a:latin typeface="Arial" pitchFamily="34" charset="0"/>
                <a:ea typeface="Lato Light" panose="020F0502020204030203" pitchFamily="34" charset="0"/>
                <a:cs typeface="Lato Light" panose="020F0502020204030203" pitchFamily="34" charset="0"/>
              </a:rPr>
              <a:t>Build CoE alignment for </a:t>
            </a:r>
            <a:r>
              <a:rPr kumimoji="0" lang="en-US"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Enterprise HR Strategy </a:t>
            </a:r>
            <a:r>
              <a:rPr kumimoji="0" lang="en-GB"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with a focus on </a:t>
            </a:r>
            <a:r>
              <a:rPr kumimoji="0" lang="en-US"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talent mobility, compensation, goal setting and performance management</a:t>
            </a:r>
          </a:p>
          <a:p>
            <a:pPr marL="228600" marR="0" lvl="0" indent="-228600" algn="l" defTabSz="6858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Identify critical roles across the BUs </a:t>
            </a:r>
          </a:p>
          <a:p>
            <a:pPr marL="228600" marR="0" lvl="0" indent="-228600" algn="l" defTabSz="6858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sz="1200" spc="-10" dirty="0">
                <a:solidFill>
                  <a:srgbClr val="1D1D1D"/>
                </a:solidFill>
                <a:latin typeface="Arial" pitchFamily="34" charset="0"/>
                <a:ea typeface="Lato Light" panose="020F0502020204030203" pitchFamily="34" charset="0"/>
                <a:cs typeface="Lato Light" panose="020F0502020204030203" pitchFamily="34" charset="0"/>
              </a:rPr>
              <a:t>Assess succession readiness at LT-1 and critical roles across BUs </a:t>
            </a:r>
            <a:r>
              <a:rPr kumimoji="0" lang="en-US"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Business Leadership and Critical Roles selection, succession, bench and team effectiveness for each operating business.</a:t>
            </a:r>
          </a:p>
          <a:p>
            <a:pPr marL="228600" marR="0" lvl="0" indent="-228600" algn="l" defTabSz="6858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200" i="0" u="none" strike="noStrike" kern="1200" cap="none" spc="-10" normalizeH="0" baseline="0" noProof="0" dirty="0">
                <a:ln>
                  <a:noFill/>
                </a:ln>
                <a:solidFill>
                  <a:srgbClr val="1D1D1D"/>
                </a:solidFill>
                <a:effectLst/>
                <a:uLnTx/>
                <a:uFillTx/>
                <a:latin typeface="Arial" pitchFamily="34" charset="0"/>
                <a:ea typeface="Lato Light" panose="020F0502020204030203" pitchFamily="34" charset="0"/>
                <a:cs typeface="Lato Light" panose="020F0502020204030203" pitchFamily="34" charset="0"/>
              </a:rPr>
              <a:t>Determine Enterprise approach for strategic offshoring across BUs</a:t>
            </a:r>
          </a:p>
        </p:txBody>
      </p:sp>
      <p:sp>
        <p:nvSpPr>
          <p:cNvPr id="22" name="object 685">
            <a:extLst>
              <a:ext uri="{FF2B5EF4-FFF2-40B4-BE49-F238E27FC236}">
                <a16:creationId xmlns:a16="http://schemas.microsoft.com/office/drawing/2014/main" id="{F03B0C1F-B35C-ECDD-FF06-47430BCFCF8B}"/>
              </a:ext>
            </a:extLst>
          </p:cNvPr>
          <p:cNvSpPr txBox="1"/>
          <p:nvPr/>
        </p:nvSpPr>
        <p:spPr>
          <a:xfrm>
            <a:off x="912013" y="3030687"/>
            <a:ext cx="10163215" cy="511409"/>
          </a:xfrm>
          <a:prstGeom prst="rect">
            <a:avLst/>
          </a:prstGeom>
          <a:solidFill>
            <a:srgbClr val="281A42"/>
          </a:solidFill>
        </p:spPr>
        <p:txBody>
          <a:bodyPr vert="horz" wrap="square" lIns="0" tIns="153035" rIns="0" bIns="0" rtlCol="0">
            <a:noAutofit/>
          </a:bodyPr>
          <a:lstStyle/>
          <a:p>
            <a:pPr marL="261620" marR="0" lvl="0" indent="0" algn="l" defTabSz="914400" rtl="0" eaLnBrk="1" fontAlgn="auto" latinLnBrk="0" hangingPunct="1">
              <a:lnSpc>
                <a:spcPct val="100000"/>
              </a:lnSpc>
              <a:spcBef>
                <a:spcPts val="1205"/>
              </a:spcBef>
              <a:spcAft>
                <a:spcPts val="0"/>
              </a:spcAft>
              <a:buClrTx/>
              <a:buSzTx/>
              <a:buFontTx/>
              <a:buNone/>
              <a:tabLst/>
              <a:defRPr>
                <a:solidFill>
                  <a:srgbClr val="FFFFFF"/>
                </a:solidFill>
              </a:defRPr>
            </a:pPr>
            <a:r>
              <a:rPr kumimoji="0" lang="en-US" sz="1600" b="1" i="0" u="none" strike="noStrike" kern="1200" cap="none" spc="-10" normalizeH="0" baseline="0" noProof="0" dirty="0">
                <a:ln>
                  <a:noFill/>
                </a:ln>
                <a:solidFill>
                  <a:srgbClr val="FFFFFF"/>
                </a:solidFill>
                <a:effectLst/>
                <a:uLnTx/>
                <a:uFillTx/>
                <a:latin typeface="Segoe UI" pitchFamily="34" charset="0"/>
                <a:ea typeface="+mn-ea"/>
                <a:cs typeface="Arial" panose="020B0604020202020204" pitchFamily="34" charset="0"/>
              </a:rPr>
              <a:t>ENTERPRISE HR SUPPORT</a:t>
            </a:r>
          </a:p>
        </p:txBody>
      </p:sp>
      <p:sp>
        <p:nvSpPr>
          <p:cNvPr id="23" name="object 685">
            <a:extLst>
              <a:ext uri="{FF2B5EF4-FFF2-40B4-BE49-F238E27FC236}">
                <a16:creationId xmlns:a16="http://schemas.microsoft.com/office/drawing/2014/main" id="{9DD89EDF-BA1F-A5E5-6407-4D82A2746C6C}"/>
              </a:ext>
            </a:extLst>
          </p:cNvPr>
          <p:cNvSpPr txBox="1"/>
          <p:nvPr/>
        </p:nvSpPr>
        <p:spPr>
          <a:xfrm>
            <a:off x="912013" y="4832817"/>
            <a:ext cx="10163215" cy="511409"/>
          </a:xfrm>
          <a:prstGeom prst="rect">
            <a:avLst/>
          </a:prstGeom>
          <a:solidFill>
            <a:srgbClr val="281A42"/>
          </a:solidFill>
        </p:spPr>
        <p:txBody>
          <a:bodyPr vert="horz" wrap="square" lIns="0" tIns="153035" rIns="0" bIns="0" rtlCol="0">
            <a:noAutofit/>
          </a:bodyPr>
          <a:lstStyle/>
          <a:p>
            <a:pPr marL="261620">
              <a:spcBef>
                <a:spcPts val="1205"/>
              </a:spcBef>
            </a:pPr>
            <a:r>
              <a:rPr lang="en-US" sz="1600" b="1" dirty="0">
                <a:solidFill>
                  <a:srgbClr val="F2F2F2"/>
                </a:solidFill>
                <a:cs typeface="Arial" panose="020B0604020202020204" pitchFamily="34" charset="0"/>
              </a:rPr>
              <a:t>FOUNDATIONAL HR EXCELLENCE</a:t>
            </a:r>
          </a:p>
        </p:txBody>
      </p:sp>
      <p:sp>
        <p:nvSpPr>
          <p:cNvPr id="5" name="TextBox 4">
            <a:extLst>
              <a:ext uri="{FF2B5EF4-FFF2-40B4-BE49-F238E27FC236}">
                <a16:creationId xmlns:a16="http://schemas.microsoft.com/office/drawing/2014/main" id="{6DC71426-54D6-7FDF-2FFC-EEB9A826CA3A}"/>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24" name="SubtitleSplit"/>
          <p:cNvSpPr>
            <a:spLocks noGrp="1"/>
          </p:cNvSpPr>
          <p:nvPr>
            <p:ph type="subTitle" idx="1"/>
          </p:nvPr>
        </p:nvSpPr>
        <p:spPr>
          <a:noFill/>
        </p:spPr>
        <p:txBody>
          <a:bodyPr/>
          <a:lstStyle/>
          <a:p>
            <a:r>
              <a:t>Getting started</a:t>
            </a:r>
            <a:endParaRPr lang="en-US" b="0" spc="-10">
              <a:latin typeface="Segoe UI" pitchFamily="34" charset="0"/>
            </a:endParaRPr>
          </a:p>
        </p:txBody>
      </p:sp>
      <p:sp>
        <p:nvSpPr>
          <p:cNvPr id="25"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C8F74378-36BC-45B5-9F2F-96645B00B212}" type="slidenum">
              <a:t>35</a:t>
            </a:fld>
            <a:endParaRPr lang="en-US"/>
          </a:p>
        </p:txBody>
      </p:sp>
    </p:spTree>
    <p:extLst>
      <p:ext uri="{BB962C8B-B14F-4D97-AF65-F5344CB8AC3E}">
        <p14:creationId xmlns:p14="http://schemas.microsoft.com/office/powerpoint/2010/main" val="36594322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27356-BF48-D346-C4BD-B2F64296A95E}"/>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F2A0C249-43E2-511C-1342-B52ABEE4DB7A}"/>
              </a:ext>
            </a:extLst>
          </p:cNvPr>
          <p:cNvSpPr txBox="1">
            <a:spLocks noGrp="1"/>
          </p:cNvSpPr>
          <p:nvPr>
            <p:ph type="title"/>
          </p:nvPr>
        </p:nvSpPr>
        <p:spPr>
          <a:noFill/>
        </p:spPr>
        <p:txBody>
          <a:bodyPr/>
          <a:lstStyle/>
          <a:p>
            <a:pPr>
              <a:buNone/>
            </a:pPr>
            <a:r>
              <a:rPr lang="en-US" dirty="0"/>
              <a:t>Succession Planning</a:t>
            </a:r>
          </a:p>
        </p:txBody>
      </p:sp>
      <p:sp>
        <p:nvSpPr>
          <p:cNvPr id="4"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7E39E1DA-0B69-44B3-BA2C-050CDDC1F75A}" type="slidenum">
              <a:t>36</a:t>
            </a:fld>
            <a:endParaRPr lang="en-US"/>
          </a:p>
        </p:txBody>
      </p:sp>
    </p:spTree>
    <p:extLst>
      <p:ext uri="{BB962C8B-B14F-4D97-AF65-F5344CB8AC3E}">
        <p14:creationId xmlns:p14="http://schemas.microsoft.com/office/powerpoint/2010/main" val="13510048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F438B-2823-5F71-67EF-2E7CD423CC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4EBBAF1-173B-B204-2177-13666AB6E10E}"/>
              </a:ext>
            </a:extLst>
          </p:cNvPr>
          <p:cNvSpPr>
            <a:spLocks noGrp="1"/>
          </p:cNvSpPr>
          <p:nvPr>
            <p:ph type="title" sz="quarter"/>
          </p:nvPr>
        </p:nvSpPr>
        <p:spPr/>
        <p:txBody>
          <a:bodyPr/>
          <a:lstStyle/>
          <a:p>
            <a:pPr marL="0" marR="0" lvl="0" indent="0" algn="l" defTabSz="914332" rtl="0" eaLnBrk="1" fontAlgn="auto" latinLnBrk="0" hangingPunct="1">
              <a:lnSpc>
                <a:spcPct val="100000"/>
              </a:lnSpc>
              <a:spcBef>
                <a:spcPts val="0"/>
              </a:spcBef>
              <a:spcAft>
                <a:spcPts val="0"/>
              </a:spcAft>
              <a:tabLst/>
              <a:defRPr b="1" spc="-25">
                <a:latin typeface="Segoe UI" pitchFamily="34" charset="0"/>
              </a:defRPr>
            </a:pPr>
            <a:r>
              <a:rPr kumimoji="0" lang="en-US" i="0" u="none" strike="noStrike" kern="1200" cap="none" spc="0" normalizeH="0" baseline="0" noProof="0" dirty="0">
                <a:ln>
                  <a:noFill/>
                </a:ln>
                <a:effectLst/>
                <a:uLnTx/>
                <a:uFillTx/>
                <a:latin typeface="+mn-lt"/>
                <a:ea typeface="Lato"/>
                <a:cs typeface="Lato"/>
              </a:rPr>
              <a:t>Succession Planning </a:t>
            </a:r>
            <a:r>
              <a:rPr kumimoji="0" lang="en-US" i="0" u="none" strike="noStrike" kern="1200" cap="none" spc="0" normalizeH="0" baseline="0" noProof="0" dirty="0">
                <a:ln>
                  <a:noFill/>
                </a:ln>
                <a:effectLst/>
                <a:uLnTx/>
                <a:uFillTx/>
                <a:latin typeface="+mn-lt"/>
                <a:ea typeface="Lato"/>
                <a:cs typeface="Lato"/>
                <a:sym typeface="Wingdings" panose="05000000000000000000" pitchFamily="2" charset="2"/>
              </a:rPr>
              <a:t> </a:t>
            </a:r>
            <a:r>
              <a:rPr kumimoji="0" lang="en-US" i="0" u="none" strike="noStrike" kern="1200" cap="none" spc="0" normalizeH="0" baseline="0" noProof="0" dirty="0">
                <a:ln>
                  <a:noFill/>
                </a:ln>
                <a:solidFill>
                  <a:srgbClr val="765FFF"/>
                </a:solidFill>
                <a:effectLst/>
                <a:uLnTx/>
                <a:uFillTx/>
                <a:latin typeface="+mn-lt"/>
                <a:ea typeface="Lato"/>
                <a:cs typeface="Lato"/>
              </a:rPr>
              <a:t>Succession Readiness</a:t>
            </a:r>
          </a:p>
        </p:txBody>
      </p:sp>
      <p:grpSp>
        <p:nvGrpSpPr>
          <p:cNvPr id="63" name="Group 62">
            <a:extLst>
              <a:ext uri="{FF2B5EF4-FFF2-40B4-BE49-F238E27FC236}">
                <a16:creationId xmlns:a16="http://schemas.microsoft.com/office/drawing/2014/main" id="{21D6896F-1EEC-09BA-AAD9-C6582BB90B3E}"/>
              </a:ext>
            </a:extLst>
          </p:cNvPr>
          <p:cNvGrpSpPr/>
          <p:nvPr/>
        </p:nvGrpSpPr>
        <p:grpSpPr>
          <a:xfrm>
            <a:off x="917458" y="4148001"/>
            <a:ext cx="10296015" cy="923645"/>
            <a:chOff x="1509796" y="3383841"/>
            <a:chExt cx="7139147" cy="692734"/>
          </a:xfrm>
        </p:grpSpPr>
        <p:sp>
          <p:nvSpPr>
            <p:cNvPr id="64" name="Rounded Rectangle 48">
              <a:extLst>
                <a:ext uri="{FF2B5EF4-FFF2-40B4-BE49-F238E27FC236}">
                  <a16:creationId xmlns:a16="http://schemas.microsoft.com/office/drawing/2014/main" id="{8E40605A-A651-00EE-E4CE-942348F235B1}"/>
                </a:ext>
              </a:extLst>
            </p:cNvPr>
            <p:cNvSpPr/>
            <p:nvPr/>
          </p:nvSpPr>
          <p:spPr>
            <a:xfrm>
              <a:off x="1509796" y="3383841"/>
              <a:ext cx="1724652" cy="692734"/>
            </a:xfrm>
            <a:prstGeom prst="roundRect">
              <a:avLst/>
            </a:prstGeom>
            <a:solidFill>
              <a:srgbClr val="D0D7DF"/>
            </a:solidFill>
            <a:ln w="9525" cap="flat" cmpd="sng" algn="ctr">
              <a:noFill/>
              <a:prstDash val="solid"/>
              <a:miter lim="800000"/>
            </a:ln>
            <a:effectLst/>
          </p:spPr>
          <p:txBody>
            <a:bodyPr lIns="91440" tIns="45720" rIns="91440" bIns="4572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0" i="0" u="none" strike="noStrike" kern="0" cap="none" spc="-10" normalizeH="0" baseline="0" noProof="0" dirty="0">
                  <a:ln>
                    <a:noFill/>
                  </a:ln>
                  <a:solidFill>
                    <a:srgbClr val="1D1D1D"/>
                  </a:solidFill>
                  <a:effectLst/>
                  <a:uLnTx/>
                  <a:uFillTx/>
                  <a:latin typeface="Arial" pitchFamily="34" charset="0"/>
                  <a:ea typeface="+mn-ea"/>
                  <a:cs typeface="+mn-cs"/>
                </a:rPr>
                <a:t>Anchored in </a:t>
              </a:r>
            </a:p>
            <a:p>
              <a:pPr marL="0" marR="0" lvl="0" indent="0" algn="ctr" defTabSz="914332"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Jobs to be Done</a:t>
              </a:r>
            </a:p>
          </p:txBody>
        </p:sp>
        <p:sp>
          <p:nvSpPr>
            <p:cNvPr id="65" name="Rounded Rectangle 49">
              <a:extLst>
                <a:ext uri="{FF2B5EF4-FFF2-40B4-BE49-F238E27FC236}">
                  <a16:creationId xmlns:a16="http://schemas.microsoft.com/office/drawing/2014/main" id="{F8976126-FE53-70FB-A004-B3680F1CDBAC}"/>
                </a:ext>
              </a:extLst>
            </p:cNvPr>
            <p:cNvSpPr/>
            <p:nvPr/>
          </p:nvSpPr>
          <p:spPr>
            <a:xfrm>
              <a:off x="3343860" y="3383841"/>
              <a:ext cx="1701407" cy="692734"/>
            </a:xfrm>
            <a:prstGeom prst="roundRect">
              <a:avLst/>
            </a:prstGeom>
            <a:solidFill>
              <a:srgbClr val="D0D7DF"/>
            </a:solidFill>
            <a:ln w="9525" cap="flat" cmpd="sng" algn="ctr">
              <a:noFill/>
              <a:prstDash val="solid"/>
              <a:miter lim="800000"/>
            </a:ln>
            <a:effectLst/>
          </p:spPr>
          <p:txBody>
            <a:bodyPr lIns="91440" tIns="45720" rIns="91440" bIns="4572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 Externally Validated </a:t>
              </a:r>
              <a:r>
                <a:rPr kumimoji="0" lang="en-US" sz="1333" b="0" i="0" u="none" strike="noStrike" kern="0" cap="none" spc="-10" normalizeH="0" baseline="0" noProof="0" dirty="0">
                  <a:ln>
                    <a:noFill/>
                  </a:ln>
                  <a:solidFill>
                    <a:srgbClr val="1D1D1D"/>
                  </a:solidFill>
                  <a:effectLst/>
                  <a:uLnTx/>
                  <a:uFillTx/>
                  <a:latin typeface="Arial" pitchFamily="34" charset="0"/>
                  <a:ea typeface="+mn-ea"/>
                  <a:cs typeface="+mn-cs"/>
                </a:rPr>
                <a:t>Assessment</a:t>
              </a:r>
            </a:p>
          </p:txBody>
        </p:sp>
        <p:sp>
          <p:nvSpPr>
            <p:cNvPr id="66" name="Rounded Rectangle 50">
              <a:extLst>
                <a:ext uri="{FF2B5EF4-FFF2-40B4-BE49-F238E27FC236}">
                  <a16:creationId xmlns:a16="http://schemas.microsoft.com/office/drawing/2014/main" id="{A89FC85C-DB86-80A2-5DFB-1833820F8068}"/>
                </a:ext>
              </a:extLst>
            </p:cNvPr>
            <p:cNvSpPr/>
            <p:nvPr/>
          </p:nvSpPr>
          <p:spPr>
            <a:xfrm>
              <a:off x="5154680" y="3383841"/>
              <a:ext cx="1701407" cy="692734"/>
            </a:xfrm>
            <a:prstGeom prst="roundRect">
              <a:avLst/>
            </a:prstGeom>
            <a:solidFill>
              <a:srgbClr val="D0D7DF"/>
            </a:solidFill>
            <a:ln w="9525" cap="flat" cmpd="sng" algn="ctr">
              <a:noFill/>
              <a:prstDash val="solid"/>
              <a:miter lim="800000"/>
            </a:ln>
            <a:effectLst/>
          </p:spPr>
          <p:txBody>
            <a:bodyPr lIns="91440" tIns="45720" rIns="91440" bIns="4572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0" i="0"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Succession</a:t>
              </a:r>
              <a:r>
                <a:rPr kumimoji="0" lang="en-US" sz="1333"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 </a:t>
              </a:r>
              <a:br>
                <a:rPr kumimoji="0" lang="en-US" sz="1333"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br>
              <a:r>
                <a:rPr kumimoji="0" lang="en-US" sz="1333"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Mobilization Plans</a:t>
              </a:r>
            </a:p>
          </p:txBody>
        </p:sp>
        <p:sp>
          <p:nvSpPr>
            <p:cNvPr id="67" name="Rounded Rectangle 51">
              <a:extLst>
                <a:ext uri="{FF2B5EF4-FFF2-40B4-BE49-F238E27FC236}">
                  <a16:creationId xmlns:a16="http://schemas.microsoft.com/office/drawing/2014/main" id="{077444E0-F943-9B36-6BD9-063F0221D32A}"/>
                </a:ext>
              </a:extLst>
            </p:cNvPr>
            <p:cNvSpPr/>
            <p:nvPr/>
          </p:nvSpPr>
          <p:spPr>
            <a:xfrm>
              <a:off x="6962053" y="3383841"/>
              <a:ext cx="1686890" cy="692734"/>
            </a:xfrm>
            <a:prstGeom prst="roundRect">
              <a:avLst/>
            </a:prstGeom>
            <a:solidFill>
              <a:srgbClr val="D0D7DF"/>
            </a:solidFill>
            <a:ln w="9525" cap="flat" cmpd="sng" algn="ctr">
              <a:noFill/>
              <a:prstDash val="solid"/>
              <a:miter lim="800000"/>
            </a:ln>
            <a:effectLst/>
          </p:spPr>
          <p:txBody>
            <a:bodyPr lIns="91440" tIns="45720" rIns="91440" bIns="45720" rtlCol="0" anchor="ctr"/>
            <a:lstStyle/>
            <a:p>
              <a:pPr marL="0" marR="0" lvl="0" indent="0" algn="ctr" defTabSz="1219108" rtl="0" eaLnBrk="1" fontAlgn="auto" latinLnBrk="0" hangingPunct="1">
                <a:lnSpc>
                  <a:spcPct val="100000"/>
                </a:lnSpc>
                <a:spcBef>
                  <a:spcPts val="0"/>
                </a:spcBef>
                <a:spcAft>
                  <a:spcPts val="0"/>
                </a:spcAft>
                <a:buClrTx/>
                <a:buSzTx/>
                <a:buFontTx/>
                <a:buNone/>
                <a:tabLst/>
                <a:defRPr>
                  <a:solidFill>
                    <a:srgbClr val="1D1D1D"/>
                  </a:solidFill>
                </a:defRPr>
              </a:pPr>
              <a:r>
                <a:rPr kumimoji="0" lang="en-US" sz="1333"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t>Continuous </a:t>
              </a:r>
              <a:br>
                <a:rPr kumimoji="0" lang="en-US" sz="1333" b="1" i="0" u="none" strike="noStrike" kern="0" cap="none" spc="-10" normalizeH="0" baseline="0" noProof="0" dirty="0">
                  <a:ln>
                    <a:noFill/>
                  </a:ln>
                  <a:solidFill>
                    <a:srgbClr val="1D1D1D"/>
                  </a:solidFill>
                  <a:effectLst/>
                  <a:uLnTx/>
                  <a:uFillTx/>
                  <a:latin typeface="Segoe UI" pitchFamily="34" charset="0"/>
                  <a:ea typeface="Lato" panose="020F0502020204030203" pitchFamily="34" charset="0"/>
                  <a:cs typeface="Lato" panose="020F0502020204030203" pitchFamily="34" charset="0"/>
                </a:rPr>
              </a:br>
              <a:r>
                <a:rPr kumimoji="0" lang="en-US" sz="1333" b="0" i="0" u="none" strike="noStrike" kern="0" cap="none" spc="-10" normalizeH="0" baseline="0" noProof="0" dirty="0">
                  <a:ln>
                    <a:noFill/>
                  </a:ln>
                  <a:solidFill>
                    <a:srgbClr val="1D1D1D"/>
                  </a:solidFill>
                  <a:effectLst/>
                  <a:uLnTx/>
                  <a:uFillTx/>
                  <a:latin typeface="Arial" pitchFamily="34" charset="0"/>
                  <a:ea typeface="Lato" panose="020F0502020204030203" pitchFamily="34" charset="0"/>
                  <a:cs typeface="Lato" panose="020F0502020204030203" pitchFamily="34" charset="0"/>
                </a:rPr>
                <a:t>Succession Readiness</a:t>
              </a:r>
              <a:endParaRPr kumimoji="0" lang="en-US" sz="1333" b="0" i="0" u="none" strike="noStrike" kern="0" cap="none" spc="-10" normalizeH="0" baseline="0" noProof="0" dirty="0">
                <a:ln>
                  <a:noFill/>
                </a:ln>
                <a:solidFill>
                  <a:srgbClr val="1D1D1D"/>
                </a:solidFill>
                <a:effectLst/>
                <a:uLnTx/>
                <a:uFillTx/>
                <a:latin typeface="Arial" pitchFamily="34" charset="0"/>
                <a:ea typeface="+mn-ea"/>
                <a:cs typeface="+mn-cs"/>
              </a:endParaRPr>
            </a:p>
          </p:txBody>
        </p:sp>
      </p:grpSp>
      <p:sp>
        <p:nvSpPr>
          <p:cNvPr id="69" name="Left Bracket 68">
            <a:extLst>
              <a:ext uri="{FF2B5EF4-FFF2-40B4-BE49-F238E27FC236}">
                <a16:creationId xmlns:a16="http://schemas.microsoft.com/office/drawing/2014/main" id="{0B6F7FFB-F883-FE20-AB45-9A810E17BF5F}"/>
              </a:ext>
            </a:extLst>
          </p:cNvPr>
          <p:cNvSpPr/>
          <p:nvPr/>
        </p:nvSpPr>
        <p:spPr>
          <a:xfrm rot="16200000">
            <a:off x="5959409" y="81959"/>
            <a:ext cx="199528" cy="10283428"/>
          </a:xfrm>
          <a:prstGeom prst="leftBracket">
            <a:avLst/>
          </a:prstGeom>
          <a:ln w="38100"/>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b="1" spc="-25">
                <a:latin typeface="Segoe UI" pitchFamily="34" charset="0"/>
              </a:defRPr>
            </a:pPr>
            <a:endParaRPr kumimoji="0" lang="en-US" sz="1800" b="1" i="0" u="none" strike="noStrike" kern="1200" cap="none" spc="-25" normalizeH="0" baseline="0" noProof="0" dirty="0">
              <a:ln>
                <a:noFill/>
              </a:ln>
              <a:solidFill>
                <a:srgbClr val="1D1D1D"/>
              </a:solidFill>
              <a:effectLst/>
              <a:uLnTx/>
              <a:uFillTx/>
              <a:latin typeface="Segoe UI" pitchFamily="34" charset="0"/>
              <a:ea typeface="+mn-ea"/>
              <a:cs typeface="+mn-cs"/>
            </a:endParaRPr>
          </a:p>
        </p:txBody>
      </p:sp>
      <p:sp>
        <p:nvSpPr>
          <p:cNvPr id="70" name="Rectangle: Rounded Corners 69">
            <a:extLst>
              <a:ext uri="{FF2B5EF4-FFF2-40B4-BE49-F238E27FC236}">
                <a16:creationId xmlns:a16="http://schemas.microsoft.com/office/drawing/2014/main" id="{E5F028CF-B736-39C9-C7FB-892FF9DF7395}"/>
              </a:ext>
            </a:extLst>
          </p:cNvPr>
          <p:cNvSpPr/>
          <p:nvPr/>
        </p:nvSpPr>
        <p:spPr>
          <a:xfrm>
            <a:off x="4701766" y="5205388"/>
            <a:ext cx="2788468" cy="1995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srgbClr val="FFFFFF"/>
                </a:solidFill>
                <a:effectLst/>
                <a:uLnTx/>
                <a:uFillTx/>
                <a:latin typeface="Segoe UI" pitchFamily="34" charset="0"/>
                <a:ea typeface="+mn-ea"/>
                <a:cs typeface="+mn-cs"/>
              </a:rPr>
              <a:t>Points of Departure</a:t>
            </a:r>
          </a:p>
        </p:txBody>
      </p:sp>
      <p:grpSp>
        <p:nvGrpSpPr>
          <p:cNvPr id="9" name="Group 8">
            <a:extLst>
              <a:ext uri="{FF2B5EF4-FFF2-40B4-BE49-F238E27FC236}">
                <a16:creationId xmlns:a16="http://schemas.microsoft.com/office/drawing/2014/main" id="{56277177-F301-CBA2-82F4-6A105353942C}"/>
              </a:ext>
            </a:extLst>
          </p:cNvPr>
          <p:cNvGrpSpPr/>
          <p:nvPr/>
        </p:nvGrpSpPr>
        <p:grpSpPr>
          <a:xfrm>
            <a:off x="930045" y="1619340"/>
            <a:ext cx="10682753" cy="2380468"/>
            <a:chOff x="930045" y="1619340"/>
            <a:chExt cx="10682753" cy="2380468"/>
          </a:xfrm>
        </p:grpSpPr>
        <p:grpSp>
          <p:nvGrpSpPr>
            <p:cNvPr id="46" name="Group 45">
              <a:extLst>
                <a:ext uri="{FF2B5EF4-FFF2-40B4-BE49-F238E27FC236}">
                  <a16:creationId xmlns:a16="http://schemas.microsoft.com/office/drawing/2014/main" id="{961E176D-F2BD-AA4F-304D-21CB89CC2D70}"/>
                </a:ext>
              </a:extLst>
            </p:cNvPr>
            <p:cNvGrpSpPr/>
            <p:nvPr/>
          </p:nvGrpSpPr>
          <p:grpSpPr>
            <a:xfrm>
              <a:off x="930045" y="1619340"/>
              <a:ext cx="10682753" cy="2380468"/>
              <a:chOff x="626400" y="1424486"/>
              <a:chExt cx="7283696" cy="1475497"/>
            </a:xfrm>
          </p:grpSpPr>
          <p:sp>
            <p:nvSpPr>
              <p:cNvPr id="47" name="Arrow: Pentagon 46">
                <a:extLst>
                  <a:ext uri="{FF2B5EF4-FFF2-40B4-BE49-F238E27FC236}">
                    <a16:creationId xmlns:a16="http://schemas.microsoft.com/office/drawing/2014/main" id="{A323880D-CD2A-B993-EB2F-D7ECF869B002}"/>
                  </a:ext>
                </a:extLst>
              </p:cNvPr>
              <p:cNvSpPr/>
              <p:nvPr/>
            </p:nvSpPr>
            <p:spPr>
              <a:xfrm>
                <a:off x="633268" y="1424487"/>
                <a:ext cx="1945282" cy="537035"/>
              </a:xfrm>
              <a:prstGeom prst="homePlate">
                <a:avLst/>
              </a:prstGeom>
              <a:solidFill>
                <a:srgbClr val="765FFF"/>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solidFill>
                      <a:srgbClr val="FFFFFF"/>
                    </a:solidFill>
                  </a:defRPr>
                </a:pPr>
                <a: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/List</a:t>
                </a:r>
                <a:b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br>
                <a:r>
                  <a:rPr kumimoji="0" lang="en-US" sz="14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Critical</a:t>
                </a:r>
                <a: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 </a:t>
                </a:r>
                <a:r>
                  <a:rPr kumimoji="0" lang="en-US" sz="14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Roles for Succession</a:t>
                </a:r>
              </a:p>
            </p:txBody>
          </p:sp>
          <p:sp>
            <p:nvSpPr>
              <p:cNvPr id="48" name="Arrow: Chevron 47">
                <a:extLst>
                  <a:ext uri="{FF2B5EF4-FFF2-40B4-BE49-F238E27FC236}">
                    <a16:creationId xmlns:a16="http://schemas.microsoft.com/office/drawing/2014/main" id="{682CD22F-B9F8-CB43-BD37-41540DA66909}"/>
                  </a:ext>
                </a:extLst>
              </p:cNvPr>
              <p:cNvSpPr/>
              <p:nvPr/>
            </p:nvSpPr>
            <p:spPr>
              <a:xfrm>
                <a:off x="2408161" y="1424487"/>
                <a:ext cx="1945282" cy="537035"/>
              </a:xfrm>
              <a:prstGeom prst="chevron">
                <a:avLst/>
              </a:prstGeom>
              <a:solidFill>
                <a:srgbClr val="765FFF"/>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solidFill>
                      <a:srgbClr val="FFFFFF"/>
                    </a:solidFill>
                  </a:defRPr>
                </a:pPr>
                <a: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/Click  </a:t>
                </a:r>
                <a:b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br>
                <a:r>
                  <a:rPr kumimoji="0" lang="en-US" sz="14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Succession Readiness</a:t>
                </a:r>
              </a:p>
            </p:txBody>
          </p:sp>
          <p:sp>
            <p:nvSpPr>
              <p:cNvPr id="49" name="Arrow: Chevron 48">
                <a:extLst>
                  <a:ext uri="{FF2B5EF4-FFF2-40B4-BE49-F238E27FC236}">
                    <a16:creationId xmlns:a16="http://schemas.microsoft.com/office/drawing/2014/main" id="{37EDB3FD-653A-5BD0-BF84-492D3EA08F34}"/>
                  </a:ext>
                </a:extLst>
              </p:cNvPr>
              <p:cNvSpPr/>
              <p:nvPr/>
            </p:nvSpPr>
            <p:spPr>
              <a:xfrm>
                <a:off x="4189923" y="1424486"/>
                <a:ext cx="1945282" cy="537035"/>
              </a:xfrm>
              <a:prstGeom prst="chevron">
                <a:avLst/>
              </a:prstGeom>
              <a:solidFill>
                <a:srgbClr val="765FFF"/>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solidFill>
                      <a:srgbClr val="FFFFFF"/>
                    </a:solidFill>
                  </a:defRPr>
                </a:pPr>
                <a: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Enabling</a:t>
                </a:r>
                <a:b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br>
                <a:r>
                  <a:rPr kumimoji="0" lang="en-US" sz="14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Succession Readines</a:t>
                </a:r>
                <a: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s</a:t>
                </a:r>
                <a:endParaRPr kumimoji="0" lang="en-US" sz="14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endParaRPr>
              </a:p>
            </p:txBody>
          </p:sp>
          <p:sp>
            <p:nvSpPr>
              <p:cNvPr id="50" name="Rectangle 49">
                <a:extLst>
                  <a:ext uri="{FF2B5EF4-FFF2-40B4-BE49-F238E27FC236}">
                    <a16:creationId xmlns:a16="http://schemas.microsoft.com/office/drawing/2014/main" id="{19D6DADE-FEEE-93FD-AA5E-4201ADBC0476}"/>
                  </a:ext>
                </a:extLst>
              </p:cNvPr>
              <p:cNvSpPr/>
              <p:nvPr/>
            </p:nvSpPr>
            <p:spPr>
              <a:xfrm>
                <a:off x="2408161" y="1961522"/>
                <a:ext cx="1673015" cy="934174"/>
              </a:xfrm>
              <a:prstGeom prst="rect">
                <a:avLst/>
              </a:prstGeom>
              <a:solidFill>
                <a:srgbClr val="F2F2F2"/>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pPr>
                <a:endParaRPr kumimoji="0" lang="en-US" sz="1400" b="0" i="0" u="none" strike="noStrike" kern="0" cap="none" spc="-10" normalizeH="0" baseline="0" noProof="0" dirty="0">
                  <a:ln>
                    <a:noFill/>
                  </a:ln>
                  <a:solidFill>
                    <a:srgbClr val="3B3B3B"/>
                  </a:solidFill>
                  <a:effectLst/>
                  <a:uLnTx/>
                  <a:uFillTx/>
                  <a:latin typeface="Arial" pitchFamily="34" charset="0"/>
                  <a:ea typeface="+mn-ea"/>
                  <a:cs typeface="Arial" panose="020B0604020202020204" pitchFamily="34" charset="0"/>
                </a:endParaRPr>
              </a:p>
            </p:txBody>
          </p:sp>
          <p:sp>
            <p:nvSpPr>
              <p:cNvPr id="51" name="Rectangle 50">
                <a:extLst>
                  <a:ext uri="{FF2B5EF4-FFF2-40B4-BE49-F238E27FC236}">
                    <a16:creationId xmlns:a16="http://schemas.microsoft.com/office/drawing/2014/main" id="{B3F1C5A9-B8AC-2886-1DBE-921DE9B6DDC5}"/>
                  </a:ext>
                </a:extLst>
              </p:cNvPr>
              <p:cNvSpPr/>
              <p:nvPr/>
            </p:nvSpPr>
            <p:spPr>
              <a:xfrm>
                <a:off x="4189923" y="1961522"/>
                <a:ext cx="1673015" cy="934174"/>
              </a:xfrm>
              <a:prstGeom prst="rect">
                <a:avLst/>
              </a:prstGeom>
              <a:solidFill>
                <a:srgbClr val="F2F2F2"/>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pPr>
                <a:endParaRPr kumimoji="0" lang="en-US" sz="1400" b="0" i="0" u="none" strike="noStrike" kern="0" cap="none" spc="-10" normalizeH="0" baseline="0" noProof="0" dirty="0">
                  <a:ln>
                    <a:noFill/>
                  </a:ln>
                  <a:solidFill>
                    <a:srgbClr val="3B3B3B"/>
                  </a:solidFill>
                  <a:effectLst/>
                  <a:uLnTx/>
                  <a:uFillTx/>
                  <a:latin typeface="Arial" pitchFamily="34" charset="0"/>
                  <a:ea typeface="+mn-ea"/>
                  <a:cs typeface="Arial" panose="020B0604020202020204" pitchFamily="34" charset="0"/>
                </a:endParaRPr>
              </a:p>
            </p:txBody>
          </p:sp>
          <p:sp>
            <p:nvSpPr>
              <p:cNvPr id="52" name="Arrow: Chevron 51">
                <a:extLst>
                  <a:ext uri="{FF2B5EF4-FFF2-40B4-BE49-F238E27FC236}">
                    <a16:creationId xmlns:a16="http://schemas.microsoft.com/office/drawing/2014/main" id="{00ED9339-E5D2-B61E-FFB0-045C25BA9FE9}"/>
                  </a:ext>
                </a:extLst>
              </p:cNvPr>
              <p:cNvSpPr/>
              <p:nvPr/>
            </p:nvSpPr>
            <p:spPr>
              <a:xfrm>
                <a:off x="5964814" y="1424486"/>
                <a:ext cx="1945282" cy="537035"/>
              </a:xfrm>
              <a:prstGeom prst="chevron">
                <a:avLst/>
              </a:prstGeom>
              <a:solidFill>
                <a:srgbClr val="765FFF"/>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solidFill>
                      <a:srgbClr val="FFFFFF"/>
                    </a:solidFill>
                  </a:defRPr>
                </a:pPr>
                <a: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t>/Clicking </a:t>
                </a:r>
                <a:br>
                  <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rPr>
                </a:br>
                <a:r>
                  <a:rPr kumimoji="0" lang="en-US" sz="1400" b="0" i="0" u="none" strike="noStrike" kern="0" cap="none" spc="-10" normalizeH="0" baseline="0" noProof="0" dirty="0">
                    <a:ln>
                      <a:noFill/>
                    </a:ln>
                    <a:solidFill>
                      <a:srgbClr val="FFFFFF"/>
                    </a:solidFill>
                    <a:effectLst/>
                    <a:uLnTx/>
                    <a:uFillTx/>
                    <a:latin typeface="Arial" pitchFamily="34" charset="0"/>
                    <a:ea typeface="+mn-ea"/>
                    <a:cs typeface="Arial" panose="020B0604020202020204" pitchFamily="34" charset="0"/>
                  </a:rPr>
                  <a:t>Succession Readiness</a:t>
                </a:r>
                <a:endParaRPr kumimoji="0" lang="en-US" sz="1400" b="1" i="0" u="none" strike="noStrike" kern="0" cap="none" spc="-10" normalizeH="0" baseline="0" noProof="0" dirty="0">
                  <a:ln>
                    <a:noFill/>
                  </a:ln>
                  <a:solidFill>
                    <a:srgbClr val="FFFFFF"/>
                  </a:solidFill>
                  <a:effectLst/>
                  <a:uLnTx/>
                  <a:uFillTx/>
                  <a:latin typeface="Segoe UI" pitchFamily="34" charset="0"/>
                  <a:ea typeface="+mn-ea"/>
                  <a:cs typeface="Arial" panose="020B0604020202020204" pitchFamily="34" charset="0"/>
                </a:endParaRPr>
              </a:p>
            </p:txBody>
          </p:sp>
          <p:sp>
            <p:nvSpPr>
              <p:cNvPr id="53" name="Rectangle 52">
                <a:extLst>
                  <a:ext uri="{FF2B5EF4-FFF2-40B4-BE49-F238E27FC236}">
                    <a16:creationId xmlns:a16="http://schemas.microsoft.com/office/drawing/2014/main" id="{DC37F9C6-3DC4-4A0F-FCDE-5CBA5F769321}"/>
                  </a:ext>
                </a:extLst>
              </p:cNvPr>
              <p:cNvSpPr/>
              <p:nvPr/>
            </p:nvSpPr>
            <p:spPr>
              <a:xfrm>
                <a:off x="5964814" y="1961521"/>
                <a:ext cx="1673015" cy="934174"/>
              </a:xfrm>
              <a:prstGeom prst="rect">
                <a:avLst/>
              </a:prstGeom>
              <a:solidFill>
                <a:srgbClr val="F2F2F2"/>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pPr>
                <a:endParaRPr kumimoji="0" lang="en-US" sz="1400" b="0" i="0" u="none" strike="noStrike" kern="0" cap="none" spc="-10" normalizeH="0" baseline="0" noProof="0" dirty="0">
                  <a:ln>
                    <a:noFill/>
                  </a:ln>
                  <a:solidFill>
                    <a:srgbClr val="3B3B3B"/>
                  </a:solidFill>
                  <a:effectLst/>
                  <a:uLnTx/>
                  <a:uFillTx/>
                  <a:latin typeface="Arial" pitchFamily="34" charset="0"/>
                  <a:ea typeface="+mn-ea"/>
                  <a:cs typeface="Arial" panose="020B0604020202020204" pitchFamily="34" charset="0"/>
                </a:endParaRPr>
              </a:p>
            </p:txBody>
          </p:sp>
          <p:sp>
            <p:nvSpPr>
              <p:cNvPr id="54" name="Rectangle 53">
                <a:extLst>
                  <a:ext uri="{FF2B5EF4-FFF2-40B4-BE49-F238E27FC236}">
                    <a16:creationId xmlns:a16="http://schemas.microsoft.com/office/drawing/2014/main" id="{02405602-C77C-FCD2-A90B-2468D85ACAEC}"/>
                  </a:ext>
                </a:extLst>
              </p:cNvPr>
              <p:cNvSpPr/>
              <p:nvPr/>
            </p:nvSpPr>
            <p:spPr>
              <a:xfrm>
                <a:off x="626400" y="1965809"/>
                <a:ext cx="1673015" cy="934174"/>
              </a:xfrm>
              <a:prstGeom prst="rect">
                <a:avLst/>
              </a:prstGeom>
              <a:solidFill>
                <a:srgbClr val="F2F2F2"/>
              </a:solidFill>
            </p:spPr>
            <p:txBody>
              <a:bodyPr vert="horz" lIns="54864" tIns="54864" rIns="45720" bIns="36576" rtlCol="0" anchor="ctr" anchorCtr="0">
                <a:noAutofit/>
              </a:bodyPr>
              <a:lstStyle/>
              <a:p>
                <a:pPr marL="0" marR="0" lvl="0" indent="0" algn="ctr" defTabSz="173728" rtl="0" eaLnBrk="1" fontAlgn="auto" latinLnBrk="0" hangingPunct="1">
                  <a:lnSpc>
                    <a:spcPct val="100000"/>
                  </a:lnSpc>
                  <a:spcBef>
                    <a:spcPts val="0"/>
                  </a:spcBef>
                  <a:spcAft>
                    <a:spcPts val="600"/>
                  </a:spcAft>
                  <a:buClrTx/>
                  <a:buSzTx/>
                  <a:buFontTx/>
                  <a:buNone/>
                  <a:tabLst>
                    <a:tab pos="173728" algn="l"/>
                    <a:tab pos="347454" algn="l"/>
                    <a:tab pos="521182" algn="l"/>
                    <a:tab pos="694909" algn="l"/>
                  </a:tabLst>
                  <a:defRPr/>
                </a:pPr>
                <a:endParaRPr kumimoji="0" lang="en-US" sz="1400" b="0" i="0" u="none" strike="noStrike" kern="0" cap="none" spc="-10" normalizeH="0" baseline="0" noProof="0" dirty="0">
                  <a:ln>
                    <a:noFill/>
                  </a:ln>
                  <a:solidFill>
                    <a:srgbClr val="3B3B3B"/>
                  </a:solidFill>
                  <a:effectLst/>
                  <a:uLnTx/>
                  <a:uFillTx/>
                  <a:latin typeface="Arial" pitchFamily="34" charset="0"/>
                  <a:ea typeface="+mn-ea"/>
                  <a:cs typeface="Arial" panose="020B0604020202020204" pitchFamily="34" charset="0"/>
                </a:endParaRPr>
              </a:p>
            </p:txBody>
          </p:sp>
          <p:pic>
            <p:nvPicPr>
              <p:cNvPr id="55" name="Picture 54">
                <a:extLst>
                  <a:ext uri="{FF2B5EF4-FFF2-40B4-BE49-F238E27FC236}">
                    <a16:creationId xmlns:a16="http://schemas.microsoft.com/office/drawing/2014/main" id="{5CD7ADE7-9758-CF67-8EB1-9F785F95A640}"/>
                  </a:ext>
                </a:extLst>
              </p:cNvPr>
              <p:cNvPicPr>
                <a:picLocks noChangeAspect="1"/>
              </p:cNvPicPr>
              <p:nvPr/>
            </p:nvPicPr>
            <p:blipFill>
              <a:blip r:embed="rId3">
                <a:duotone>
                  <a:srgbClr val="765FFF"/>
                  <a:srgbClr val="FFFFFF"/>
                </a:duotone>
              </a:blip>
              <a:stretch>
                <a:fillRect/>
              </a:stretch>
            </p:blipFill>
            <p:spPr>
              <a:xfrm>
                <a:off x="716751" y="2159182"/>
                <a:ext cx="1512420" cy="557783"/>
              </a:xfrm>
              <a:prstGeom prst="rect">
                <a:avLst/>
              </a:prstGeom>
              <a:effectLst>
                <a:outerShdw blurRad="50800" dist="38100" dir="2700000" algn="tl" rotWithShape="0">
                  <a:prstClr val="black">
                    <a:alpha val="40000"/>
                  </a:prstClr>
                </a:outerShdw>
              </a:effectLst>
            </p:spPr>
          </p:pic>
          <p:pic>
            <p:nvPicPr>
              <p:cNvPr id="56" name="Picture 55">
                <a:extLst>
                  <a:ext uri="{FF2B5EF4-FFF2-40B4-BE49-F238E27FC236}">
                    <a16:creationId xmlns:a16="http://schemas.microsoft.com/office/drawing/2014/main" id="{8AAC8DD1-F27B-EC52-60C6-3F8B0FCD069F}"/>
                  </a:ext>
                </a:extLst>
              </p:cNvPr>
              <p:cNvPicPr>
                <a:picLocks noChangeAspect="1"/>
              </p:cNvPicPr>
              <p:nvPr/>
            </p:nvPicPr>
            <p:blipFill>
              <a:blip r:embed="rId4">
                <a:duotone>
                  <a:srgbClr val="765FFF"/>
                  <a:srgbClr val="FFFFFF"/>
                </a:duotone>
              </a:blip>
              <a:stretch>
                <a:fillRect/>
              </a:stretch>
            </p:blipFill>
            <p:spPr>
              <a:xfrm>
                <a:off x="2632644" y="2148486"/>
                <a:ext cx="1165365" cy="607834"/>
              </a:xfrm>
              <a:prstGeom prst="rect">
                <a:avLst/>
              </a:prstGeom>
              <a:effectLst>
                <a:outerShdw blurRad="50800" dist="38100" dir="2700000" algn="tl" rotWithShape="0">
                  <a:prstClr val="black">
                    <a:alpha val="40000"/>
                  </a:prstClr>
                </a:outerShdw>
              </a:effectLst>
            </p:spPr>
          </p:pic>
          <p:grpSp>
            <p:nvGrpSpPr>
              <p:cNvPr id="57" name="Group 56">
                <a:extLst>
                  <a:ext uri="{FF2B5EF4-FFF2-40B4-BE49-F238E27FC236}">
                    <a16:creationId xmlns:a16="http://schemas.microsoft.com/office/drawing/2014/main" id="{1280D803-29E2-3308-C75A-A28A4EEF0BD1}"/>
                  </a:ext>
                </a:extLst>
              </p:cNvPr>
              <p:cNvGrpSpPr/>
              <p:nvPr/>
            </p:nvGrpSpPr>
            <p:grpSpPr>
              <a:xfrm>
                <a:off x="6322782" y="2063426"/>
                <a:ext cx="955500" cy="658234"/>
                <a:chOff x="7128048" y="1868618"/>
                <a:chExt cx="868638" cy="598395"/>
              </a:xfrm>
            </p:grpSpPr>
            <p:pic>
              <p:nvPicPr>
                <p:cNvPr id="59" name="Picture 58">
                  <a:extLst>
                    <a:ext uri="{FF2B5EF4-FFF2-40B4-BE49-F238E27FC236}">
                      <a16:creationId xmlns:a16="http://schemas.microsoft.com/office/drawing/2014/main" id="{41B3FF69-0E33-3038-5DC5-EE45AEFF2A88}"/>
                    </a:ext>
                  </a:extLst>
                </p:cNvPr>
                <p:cNvPicPr>
                  <a:picLocks noChangeAspect="1"/>
                </p:cNvPicPr>
                <p:nvPr/>
              </p:nvPicPr>
              <p:blipFill>
                <a:blip r:embed="rId5">
                  <a:duotone>
                    <a:srgbClr val="765FFF"/>
                    <a:srgbClr val="FFFFFF"/>
                  </a:duotone>
                </a:blip>
                <a:srcRect/>
                <a:stretch/>
              </p:blipFill>
              <p:spPr>
                <a:xfrm>
                  <a:off x="7128048" y="1868618"/>
                  <a:ext cx="525739" cy="215263"/>
                </a:xfrm>
                <a:prstGeom prst="rect">
                  <a:avLst/>
                </a:prstGeom>
                <a:effectLst>
                  <a:outerShdw blurRad="50800" dist="38100" dir="2700000" algn="tl" rotWithShape="0">
                    <a:prstClr val="black">
                      <a:alpha val="40000"/>
                    </a:prstClr>
                  </a:outerShdw>
                </a:effectLst>
              </p:spPr>
            </p:pic>
            <p:pic>
              <p:nvPicPr>
                <p:cNvPr id="60" name="Picture 59">
                  <a:extLst>
                    <a:ext uri="{FF2B5EF4-FFF2-40B4-BE49-F238E27FC236}">
                      <a16:creationId xmlns:a16="http://schemas.microsoft.com/office/drawing/2014/main" id="{C4BFFE4F-6715-6CE6-9155-EE08BA874ECE}"/>
                    </a:ext>
                  </a:extLst>
                </p:cNvPr>
                <p:cNvPicPr>
                  <a:picLocks noChangeAspect="1"/>
                </p:cNvPicPr>
                <p:nvPr/>
              </p:nvPicPr>
              <p:blipFill>
                <a:blip r:embed="rId6">
                  <a:duotone>
                    <a:srgbClr val="765FFF"/>
                    <a:srgbClr val="FFFFFF"/>
                  </a:duotone>
                </a:blip>
                <a:srcRect/>
                <a:stretch/>
              </p:blipFill>
              <p:spPr>
                <a:xfrm>
                  <a:off x="7245033" y="1942683"/>
                  <a:ext cx="520367" cy="295728"/>
                </a:xfrm>
                <a:prstGeom prst="rect">
                  <a:avLst/>
                </a:prstGeom>
                <a:effectLst>
                  <a:outerShdw blurRad="50800" dist="38100" dir="2700000" algn="tl" rotWithShape="0">
                    <a:prstClr val="black">
                      <a:alpha val="40000"/>
                    </a:prstClr>
                  </a:outerShdw>
                </a:effectLst>
              </p:spPr>
            </p:pic>
            <p:pic>
              <p:nvPicPr>
                <p:cNvPr id="61" name="Picture 60">
                  <a:extLst>
                    <a:ext uri="{FF2B5EF4-FFF2-40B4-BE49-F238E27FC236}">
                      <a16:creationId xmlns:a16="http://schemas.microsoft.com/office/drawing/2014/main" id="{C77B8806-F5B6-4EE3-8334-A53C4B9F4907}"/>
                    </a:ext>
                  </a:extLst>
                </p:cNvPr>
                <p:cNvPicPr>
                  <a:picLocks noChangeAspect="1"/>
                </p:cNvPicPr>
                <p:nvPr/>
              </p:nvPicPr>
              <p:blipFill>
                <a:blip r:embed="rId7">
                  <a:duotone>
                    <a:srgbClr val="765FFF"/>
                    <a:srgbClr val="FFFFFF"/>
                  </a:duotone>
                </a:blip>
                <a:srcRect/>
                <a:stretch/>
              </p:blipFill>
              <p:spPr>
                <a:xfrm>
                  <a:off x="7374973" y="2056986"/>
                  <a:ext cx="489088" cy="295728"/>
                </a:xfrm>
                <a:prstGeom prst="rect">
                  <a:avLst/>
                </a:prstGeom>
                <a:effectLst>
                  <a:outerShdw blurRad="50800" dist="38100" dir="2700000" algn="tl" rotWithShape="0">
                    <a:prstClr val="black">
                      <a:alpha val="40000"/>
                    </a:prstClr>
                  </a:outerShdw>
                </a:effectLst>
              </p:spPr>
            </p:pic>
            <p:pic>
              <p:nvPicPr>
                <p:cNvPr id="62" name="Picture 61">
                  <a:extLst>
                    <a:ext uri="{FF2B5EF4-FFF2-40B4-BE49-F238E27FC236}">
                      <a16:creationId xmlns:a16="http://schemas.microsoft.com/office/drawing/2014/main" id="{E4C4D1B4-36C4-DA6F-BDA6-F20A6BCABBB0}"/>
                    </a:ext>
                  </a:extLst>
                </p:cNvPr>
                <p:cNvPicPr>
                  <a:picLocks noChangeAspect="1"/>
                </p:cNvPicPr>
                <p:nvPr/>
              </p:nvPicPr>
              <p:blipFill>
                <a:blip r:embed="rId8">
                  <a:duotone>
                    <a:srgbClr val="765FFF"/>
                    <a:srgbClr val="FFFFFF"/>
                  </a:duotone>
                </a:blip>
                <a:srcRect/>
                <a:stretch/>
              </p:blipFill>
              <p:spPr>
                <a:xfrm>
                  <a:off x="7470948" y="2171285"/>
                  <a:ext cx="525738" cy="295728"/>
                </a:xfrm>
                <a:prstGeom prst="rect">
                  <a:avLst/>
                </a:prstGeom>
                <a:effectLst>
                  <a:outerShdw blurRad="50800" dist="38100" dir="2700000" algn="tl" rotWithShape="0">
                    <a:prstClr val="black">
                      <a:alpha val="40000"/>
                    </a:prstClr>
                  </a:outerShdw>
                </a:effectLst>
              </p:spPr>
            </p:pic>
          </p:grpSp>
          <p:pic>
            <p:nvPicPr>
              <p:cNvPr id="58" name="Picture 57">
                <a:extLst>
                  <a:ext uri="{FF2B5EF4-FFF2-40B4-BE49-F238E27FC236}">
                    <a16:creationId xmlns:a16="http://schemas.microsoft.com/office/drawing/2014/main" id="{4D2AFCE4-8792-0CCE-66F5-343B5232626E}"/>
                  </a:ext>
                </a:extLst>
              </p:cNvPr>
              <p:cNvPicPr>
                <a:picLocks noChangeAspect="1"/>
              </p:cNvPicPr>
              <p:nvPr/>
            </p:nvPicPr>
            <p:blipFill>
              <a:blip r:embed="rId9">
                <a:duotone>
                  <a:srgbClr val="765FFF"/>
                  <a:srgbClr val="FFFFFF"/>
                </a:duotone>
              </a:blip>
              <a:stretch>
                <a:fillRect/>
              </a:stretch>
            </p:blipFill>
            <p:spPr>
              <a:xfrm>
                <a:off x="4490642" y="2146379"/>
                <a:ext cx="1096209" cy="616618"/>
              </a:xfrm>
              <a:prstGeom prst="rect">
                <a:avLst/>
              </a:prstGeom>
              <a:effectLst>
                <a:outerShdw blurRad="50800" dist="38100" dir="2700000" algn="tl" rotWithShape="0">
                  <a:prstClr val="black">
                    <a:alpha val="40000"/>
                  </a:prstClr>
                </a:outerShdw>
              </a:effectLst>
            </p:spPr>
          </p:pic>
        </p:grpSp>
        <p:sp>
          <p:nvSpPr>
            <p:cNvPr id="4" name="Rectangle 3">
              <a:extLst>
                <a:ext uri="{FF2B5EF4-FFF2-40B4-BE49-F238E27FC236}">
                  <a16:creationId xmlns:a16="http://schemas.microsoft.com/office/drawing/2014/main" id="{90CBA14E-F5A9-3C40-017E-B37D7BDB8BB7}"/>
                </a:ext>
              </a:extLst>
            </p:cNvPr>
            <p:cNvSpPr/>
            <p:nvPr/>
          </p:nvSpPr>
          <p:spPr>
            <a:xfrm>
              <a:off x="6610190" y="2837329"/>
              <a:ext cx="59551" cy="147124"/>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5" name="Rectangle 4">
              <a:extLst>
                <a:ext uri="{FF2B5EF4-FFF2-40B4-BE49-F238E27FC236}">
                  <a16:creationId xmlns:a16="http://schemas.microsoft.com/office/drawing/2014/main" id="{E00E284A-9CCB-5588-BB3B-26A5A755EA6B}"/>
                </a:ext>
              </a:extLst>
            </p:cNvPr>
            <p:cNvSpPr/>
            <p:nvPr/>
          </p:nvSpPr>
          <p:spPr>
            <a:xfrm>
              <a:off x="9706474" y="3012235"/>
              <a:ext cx="31227" cy="9215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10" normalizeH="0" baseline="0" noProof="0" dirty="0">
                <a:ln>
                  <a:noFill/>
                </a:ln>
                <a:solidFill>
                  <a:srgbClr val="1D1D1D"/>
                </a:solidFill>
                <a:effectLst/>
                <a:uLnTx/>
                <a:uFillTx/>
                <a:latin typeface="Arial" pitchFamily="34" charset="0"/>
                <a:ea typeface="+mn-ea"/>
                <a:cs typeface="+mn-cs"/>
              </a:endParaRPr>
            </a:p>
          </p:txBody>
        </p:sp>
        <p:sp>
          <p:nvSpPr>
            <p:cNvPr id="6" name="Rectangle 5">
              <a:extLst>
                <a:ext uri="{FF2B5EF4-FFF2-40B4-BE49-F238E27FC236}">
                  <a16:creationId xmlns:a16="http://schemas.microsoft.com/office/drawing/2014/main" id="{672A6624-83FA-6120-2722-6B21FE6DF7BA}"/>
                </a:ext>
              </a:extLst>
            </p:cNvPr>
            <p:cNvSpPr/>
            <p:nvPr/>
          </p:nvSpPr>
          <p:spPr>
            <a:xfrm>
              <a:off x="9843712" y="3213164"/>
              <a:ext cx="31227" cy="92158"/>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sp>
          <p:nvSpPr>
            <p:cNvPr id="7" name="Rectangle 6">
              <a:extLst>
                <a:ext uri="{FF2B5EF4-FFF2-40B4-BE49-F238E27FC236}">
                  <a16:creationId xmlns:a16="http://schemas.microsoft.com/office/drawing/2014/main" id="{7961B4B5-EA8F-BCCB-28DD-25179CAD856D}"/>
                </a:ext>
              </a:extLst>
            </p:cNvPr>
            <p:cNvSpPr/>
            <p:nvPr/>
          </p:nvSpPr>
          <p:spPr>
            <a:xfrm>
              <a:off x="10111373" y="3431688"/>
              <a:ext cx="201624" cy="45719"/>
            </a:xfrm>
            <a:prstGeom prst="rect">
              <a:avLst/>
            </a:prstGeom>
            <a:solidFill>
              <a:srgbClr val="281A4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solidFill>
                    <a:srgbClr val="FFFFFF"/>
                  </a:solidFill>
                </a:defRPr>
              </a:pPr>
              <a:endParaRPr kumimoji="0" lang="en-US" sz="1800" b="0" i="0" u="none" strike="noStrike" kern="1200" cap="none" spc="-10" normalizeH="0" baseline="0" noProof="0" dirty="0">
                <a:ln>
                  <a:noFill/>
                </a:ln>
                <a:solidFill>
                  <a:srgbClr val="FFFFFF"/>
                </a:solidFill>
                <a:effectLst/>
                <a:uLnTx/>
                <a:uFillTx/>
                <a:latin typeface="Arial" pitchFamily="34" charset="0"/>
                <a:ea typeface="+mn-ea"/>
                <a:cs typeface="+mn-cs"/>
              </a:endParaRPr>
            </a:p>
          </p:txBody>
        </p:sp>
      </p:grpSp>
      <p:sp>
        <p:nvSpPr>
          <p:cNvPr id="8" name="TextBox 7">
            <a:extLst>
              <a:ext uri="{FF2B5EF4-FFF2-40B4-BE49-F238E27FC236}">
                <a16:creationId xmlns:a16="http://schemas.microsoft.com/office/drawing/2014/main" id="{0CB40A84-F524-DA8A-C346-5E71F17FBDE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71"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257D6D55-74E1-4531-843A-5B1D7A4064A1}" type="slidenum">
              <a:t>37</a:t>
            </a:fld>
            <a:endParaRPr lang="en-US"/>
          </a:p>
        </p:txBody>
      </p:sp>
    </p:spTree>
    <p:extLst>
      <p:ext uri="{BB962C8B-B14F-4D97-AF65-F5344CB8AC3E}">
        <p14:creationId xmlns:p14="http://schemas.microsoft.com/office/powerpoint/2010/main" val="37096294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64B8F-46EC-2F52-C6C2-CE4CCB54801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F7702B4-F4F2-4154-F7A3-872605B04456}"/>
              </a:ext>
            </a:extLst>
          </p:cNvPr>
          <p:cNvSpPr>
            <a:spLocks noGrp="1"/>
          </p:cNvSpPr>
          <p:nvPr>
            <p:ph type="title" sz="quarter"/>
          </p:nvPr>
        </p:nvSpPr>
        <p:spPr/>
        <p:txBody>
          <a:bodyPr/>
          <a:lstStyle/>
          <a:p>
            <a:pPr lvl="0" defTabSz="914332">
              <a:lnSpc>
                <a:spcPct val="100000"/>
              </a:lnSpc>
              <a:spcBef>
                <a:spcPts val="0"/>
              </a:spcBef>
              <a:defRPr b="1" spc="-25">
                <a:latin typeface="Segoe UI" pitchFamily="34" charset="0"/>
              </a:defRPr>
            </a:pPr>
            <a:endParaRPr kumimoji="0" lang="en-US" i="0" u="none" strike="noStrike" kern="1200" cap="none" spc="0" normalizeH="0" baseline="0" noProof="0" dirty="0">
              <a:ln>
                <a:noFill/>
              </a:ln>
              <a:solidFill>
                <a:srgbClr val="281A42"/>
              </a:solidFill>
              <a:effectLst/>
              <a:uLnTx/>
              <a:uFillTx/>
              <a:latin typeface="+mn-lt"/>
              <a:ea typeface="Lato"/>
              <a:cs typeface="Lato"/>
            </a:endParaRPr>
          </a:p>
        </p:txBody>
      </p:sp>
      <p:pic>
        <p:nvPicPr>
          <p:cNvPr id="8" name="Picture 7">
            <a:extLst>
              <a:ext uri="{FF2B5EF4-FFF2-40B4-BE49-F238E27FC236}">
                <a16:creationId xmlns:a16="http://schemas.microsoft.com/office/drawing/2014/main" id="{B2946525-73CA-A116-59FF-3F8DFBD7CBA3}"/>
              </a:ext>
            </a:extLst>
          </p:cNvPr>
          <p:cNvPicPr>
            <a:picLocks noChangeAspect="1"/>
          </p:cNvPicPr>
          <p:nvPr/>
        </p:nvPicPr>
        <p:blipFill>
          <a:blip r:embed="rId3"/>
          <a:stretch>
            <a:fillRect/>
          </a:stretch>
        </p:blipFill>
        <p:spPr>
          <a:xfrm>
            <a:off x="4732421" y="1789138"/>
            <a:ext cx="6642912" cy="3279723"/>
          </a:xfrm>
          <a:prstGeom prst="rect">
            <a:avLst/>
          </a:prstGeom>
        </p:spPr>
      </p:pic>
      <p:sp>
        <p:nvSpPr>
          <p:cNvPr id="20" name="TextBox 19">
            <a:extLst>
              <a:ext uri="{FF2B5EF4-FFF2-40B4-BE49-F238E27FC236}">
                <a16:creationId xmlns:a16="http://schemas.microsoft.com/office/drawing/2014/main" id="{7EADE58E-36BD-D9C7-9441-183777405A53}"/>
              </a:ext>
            </a:extLst>
          </p:cNvPr>
          <p:cNvSpPr>
            <a:spLocks noGrp="1"/>
          </p:cNvSpPr>
          <p:nvPr>
            <p:ph idx="1"/>
          </p:nvPr>
        </p:nvSpPr>
        <p:spPr>
          <a:xfrm>
            <a:off x="726539" y="2074782"/>
            <a:ext cx="3196921" cy="295465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80990" indent="-380990">
              <a:buBlip>
                <a:blip r:embed="rId4"/>
              </a:buBlip>
            </a:pPr>
            <a:r>
              <a:rPr lang="en-US" sz="1600" b="1" dirty="0">
                <a:cs typeface="Arial"/>
              </a:rPr>
              <a:t>Co-author Future Jobs To Be Done (JTBD) for each ExCo leader considering strategy and long-term strategic plan</a:t>
            </a:r>
            <a:endParaRPr lang="en-US" sz="2400" b="1" dirty="0">
              <a:cs typeface="Arial"/>
            </a:endParaRPr>
          </a:p>
          <a:p>
            <a:pPr marL="380990" indent="-380990">
              <a:buBlip>
                <a:blip r:embed="rId4"/>
              </a:buBlip>
            </a:pPr>
            <a:endParaRPr lang="en-US" sz="1600" b="1" dirty="0">
              <a:cs typeface="Arial"/>
            </a:endParaRPr>
          </a:p>
          <a:p>
            <a:pPr marL="380990" indent="-380990">
              <a:buBlip>
                <a:blip r:embed="rId4"/>
              </a:buBlip>
            </a:pPr>
            <a:r>
              <a:rPr lang="en-US" sz="1600" b="1" dirty="0">
                <a:cs typeface="Arial"/>
              </a:rPr>
              <a:t>Facilitate ExCo peer feedback loop to enhance JTBDs &amp; build alignment </a:t>
            </a:r>
            <a:endParaRPr lang="en-US" sz="2400" b="1" dirty="0">
              <a:cs typeface="Arial"/>
            </a:endParaRPr>
          </a:p>
          <a:p>
            <a:endParaRPr lang="en-US" sz="1600" b="1" dirty="0">
              <a:cs typeface="Arial"/>
            </a:endParaRPr>
          </a:p>
          <a:p>
            <a:pPr marL="380990" indent="-380990">
              <a:buBlip>
                <a:blip r:embed="rId4"/>
              </a:buBlip>
            </a:pPr>
            <a:r>
              <a:rPr lang="en-US" sz="1600" b="1" dirty="0">
                <a:cs typeface="Arial"/>
              </a:rPr>
              <a:t>Consider future pivots that may impact JTBD for each role </a:t>
            </a:r>
          </a:p>
          <a:p>
            <a:pPr marL="380990" indent="-380990">
              <a:buBlip>
                <a:blip r:embed="rId4"/>
              </a:buBlip>
            </a:pPr>
            <a:endParaRPr lang="en-US" sz="1600" b="1" dirty="0">
              <a:cs typeface="Arial"/>
            </a:endParaRPr>
          </a:p>
        </p:txBody>
      </p:sp>
      <p:sp>
        <p:nvSpPr>
          <p:cNvPr id="11" name="TextBox 10">
            <a:extLst>
              <a:ext uri="{FF2B5EF4-FFF2-40B4-BE49-F238E27FC236}">
                <a16:creationId xmlns:a16="http://schemas.microsoft.com/office/drawing/2014/main" id="{E0CB95F4-BDD2-B518-F50A-CD152A4B6954}"/>
              </a:ext>
            </a:extLst>
          </p:cNvPr>
          <p:cNvSpPr txBox="1"/>
          <p:nvPr/>
        </p:nvSpPr>
        <p:spPr>
          <a:xfrm>
            <a:off x="4743450" y="1419806"/>
            <a:ext cx="6565900" cy="369332"/>
          </a:xfrm>
          <a:prstGeom prst="rect">
            <a:avLst/>
          </a:prstGeom>
          <a:noFill/>
        </p:spPr>
        <p:txBody>
          <a:bodyPr wrap="square" lIns="91440" tIns="45720" rIns="91440" bIns="45720">
            <a:spAutoFit/>
          </a:bodyPr>
          <a:lstStyle/>
          <a:p>
            <a:pPr algn="ctr" defTabSz="914377">
              <a:defRPr/>
            </a:pPr>
            <a:r>
              <a:rPr lang="en-US" sz="1800" b="1" kern="0" dirty="0">
                <a:solidFill>
                  <a:srgbClr val="1D1D1D"/>
                </a:solidFill>
                <a:cs typeface="Arial" panose="020B0604020202020204" pitchFamily="34" charset="0"/>
              </a:rPr>
              <a:t>EVP Chief Financial Officer </a:t>
            </a:r>
          </a:p>
        </p:txBody>
      </p:sp>
      <p:sp>
        <p:nvSpPr>
          <p:cNvPr id="4" name="TextBox 3">
            <a:extLst>
              <a:ext uri="{FF2B5EF4-FFF2-40B4-BE49-F238E27FC236}">
                <a16:creationId xmlns:a16="http://schemas.microsoft.com/office/drawing/2014/main" id="{55C88B0C-642E-8C3C-44BC-5459276982F4}"/>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21" name="SubtitleSplit"/>
          <p:cNvSpPr>
            <a:spLocks noGrp="1"/>
          </p:cNvSpPr>
          <p:nvPr>
            <p:ph type="subTitle" idx="1"/>
          </p:nvPr>
        </p:nvSpPr>
        <p:spPr>
          <a:noFill/>
        </p:spPr>
        <p:txBody>
          <a:bodyPr/>
          <a:lstStyle/>
          <a:p>
            <a:r>
              <a:t>Define future jobs to be done JTBDs</a:t>
            </a:r>
            <a:endParaRPr lang="en-US" b="0" spc="-10">
              <a:latin typeface="Segoe UI" pitchFamily="34" charset="0"/>
            </a:endParaRPr>
          </a:p>
        </p:txBody>
      </p:sp>
      <p:sp>
        <p:nvSpPr>
          <p:cNvPr id="22"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0A5F4178-E231-4C84-BA68-BE1AE62B7E28}" type="slidenum">
              <a:t>38</a:t>
            </a:fld>
            <a:endParaRPr lang="en-US"/>
          </a:p>
        </p:txBody>
      </p:sp>
    </p:spTree>
    <p:extLst>
      <p:ext uri="{BB962C8B-B14F-4D97-AF65-F5344CB8AC3E}">
        <p14:creationId xmlns:p14="http://schemas.microsoft.com/office/powerpoint/2010/main" val="1676963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BD91D-74EC-FBD7-D997-F8BF2E6FFB3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6DB5B1B-E20F-982F-0C88-FC6293B68D28}"/>
              </a:ext>
            </a:extLst>
          </p:cNvPr>
          <p:cNvSpPr>
            <a:spLocks noGrp="1"/>
          </p:cNvSpPr>
          <p:nvPr>
            <p:ph type="title" sz="quarter"/>
          </p:nvPr>
        </p:nvSpPr>
        <p:spPr/>
        <p:txBody>
          <a:bodyPr/>
          <a:lstStyle/>
          <a:p>
            <a:pPr lvl="0" defTabSz="914332">
              <a:lnSpc>
                <a:spcPct val="100000"/>
              </a:lnSpc>
              <a:spcBef>
                <a:spcPts val="0"/>
              </a:spcBef>
              <a:defRPr b="1" spc="-25">
                <a:latin typeface="Segoe UI" pitchFamily="34" charset="0"/>
              </a:defRPr>
            </a:pPr>
            <a:endParaRPr kumimoji="0" lang="en-US" i="0" u="none" strike="noStrike" kern="1200" cap="none" spc="0" normalizeH="0" baseline="0" noProof="0" dirty="0">
              <a:ln>
                <a:noFill/>
              </a:ln>
              <a:solidFill>
                <a:srgbClr val="281A42"/>
              </a:solidFill>
              <a:effectLst/>
              <a:uLnTx/>
              <a:uFillTx/>
              <a:latin typeface="+mn-lt"/>
              <a:ea typeface="Lato"/>
              <a:cs typeface="Lato"/>
            </a:endParaRPr>
          </a:p>
        </p:txBody>
      </p:sp>
      <p:sp>
        <p:nvSpPr>
          <p:cNvPr id="19" name="Slide Number Placeholder 3">
            <a:extLst>
              <a:ext uri="{FF2B5EF4-FFF2-40B4-BE49-F238E27FC236}">
                <a16:creationId xmlns:a16="http://schemas.microsoft.com/office/drawing/2014/main" id="{C11F1E0B-3695-48AB-DC6D-88687194DD04}"/>
              </a:ext>
            </a:extLst>
          </p:cNvPr>
          <p:cNvSpPr txBox="1">
            <a:spLocks/>
          </p:cNvSpPr>
          <p:nvPr/>
        </p:nvSpPr>
        <p:spPr>
          <a:xfrm rot="16200000">
            <a:off x="182297" y="6082056"/>
            <a:ext cx="240000" cy="146304"/>
          </a:xfrm>
          <a:prstGeom prst="rect">
            <a:avLst/>
          </a:prstGeom>
        </p:spPr>
        <p:txBody>
          <a:bodyPr lIns="91440" tIns="45720" rIns="91440" bIns="45720"/>
          <a:lstStyle>
            <a:defPPr>
              <a:defRPr lang="en-US"/>
            </a:defPPr>
            <a:lvl1pPr marL="0" algn="l" defTabSz="914400" rtl="0" eaLnBrk="1" latinLnBrk="0" hangingPunct="1">
              <a:defRPr sz="1800" kern="1200">
                <a:solidFill>
                  <a:srgbClr val="1D1D1D"/>
                </a:solidFill>
                <a:latin typeface="+mn-lt"/>
                <a:ea typeface="+mn-ea"/>
                <a:cs typeface="+mn-cs"/>
              </a:defRPr>
            </a:lvl1pPr>
            <a:lvl2pPr marL="457200" algn="l" defTabSz="914400" rtl="0" eaLnBrk="1" latinLnBrk="0" hangingPunct="1">
              <a:defRPr sz="1800" kern="1200">
                <a:solidFill>
                  <a:srgbClr val="1D1D1D"/>
                </a:solidFill>
                <a:latin typeface="+mn-lt"/>
                <a:ea typeface="+mn-ea"/>
                <a:cs typeface="+mn-cs"/>
              </a:defRPr>
            </a:lvl2pPr>
            <a:lvl3pPr marL="914400" algn="l" defTabSz="914400" rtl="0" eaLnBrk="1" latinLnBrk="0" hangingPunct="1">
              <a:defRPr sz="1800" kern="1200">
                <a:solidFill>
                  <a:srgbClr val="1D1D1D"/>
                </a:solidFill>
                <a:latin typeface="+mn-lt"/>
                <a:ea typeface="+mn-ea"/>
                <a:cs typeface="+mn-cs"/>
              </a:defRPr>
            </a:lvl3pPr>
            <a:lvl4pPr marL="1371600" algn="l" defTabSz="914400" rtl="0" eaLnBrk="1" latinLnBrk="0" hangingPunct="1">
              <a:defRPr sz="1800" kern="1200">
                <a:solidFill>
                  <a:srgbClr val="1D1D1D"/>
                </a:solidFill>
                <a:latin typeface="+mn-lt"/>
                <a:ea typeface="+mn-ea"/>
                <a:cs typeface="+mn-cs"/>
              </a:defRPr>
            </a:lvl4pPr>
            <a:lvl5pPr marL="1828800" algn="l" defTabSz="914400" rtl="0" eaLnBrk="1" latinLnBrk="0" hangingPunct="1">
              <a:defRPr sz="1800" kern="1200">
                <a:solidFill>
                  <a:srgbClr val="1D1D1D"/>
                </a:solidFill>
                <a:latin typeface="+mn-lt"/>
                <a:ea typeface="+mn-ea"/>
                <a:cs typeface="+mn-cs"/>
              </a:defRPr>
            </a:lvl5pPr>
            <a:lvl6pPr marL="2286000" algn="l" defTabSz="914400" rtl="0" eaLnBrk="1" latinLnBrk="0" hangingPunct="1">
              <a:defRPr sz="1800" kern="1200">
                <a:solidFill>
                  <a:srgbClr val="1D1D1D"/>
                </a:solidFill>
                <a:latin typeface="+mn-lt"/>
                <a:ea typeface="+mn-ea"/>
                <a:cs typeface="+mn-cs"/>
              </a:defRPr>
            </a:lvl6pPr>
            <a:lvl7pPr marL="2743200" algn="l" defTabSz="914400" rtl="0" eaLnBrk="1" latinLnBrk="0" hangingPunct="1">
              <a:defRPr sz="1800" kern="1200">
                <a:solidFill>
                  <a:srgbClr val="1D1D1D"/>
                </a:solidFill>
                <a:latin typeface="+mn-lt"/>
                <a:ea typeface="+mn-ea"/>
                <a:cs typeface="+mn-cs"/>
              </a:defRPr>
            </a:lvl7pPr>
            <a:lvl8pPr marL="3200400" algn="l" defTabSz="914400" rtl="0" eaLnBrk="1" latinLnBrk="0" hangingPunct="1">
              <a:defRPr sz="1800" kern="1200">
                <a:solidFill>
                  <a:srgbClr val="1D1D1D"/>
                </a:solidFill>
                <a:latin typeface="+mn-lt"/>
                <a:ea typeface="+mn-ea"/>
                <a:cs typeface="+mn-cs"/>
              </a:defRPr>
            </a:lvl8pPr>
            <a:lvl9pPr marL="3657600" algn="l" defTabSz="914400" rtl="0" eaLnBrk="1" latinLnBrk="0" hangingPunct="1">
              <a:defRPr sz="1800" kern="1200">
                <a:solidFill>
                  <a:srgbClr val="1D1D1D"/>
                </a:solidFill>
                <a:latin typeface="+mn-lt"/>
                <a:ea typeface="+mn-ea"/>
                <a:cs typeface="+mn-cs"/>
              </a:defRPr>
            </a:lvl9pPr>
          </a:lstStyle>
          <a:p>
            <a:pPr defTabSz="914377">
              <a:defRPr/>
            </a:pPr>
            <a:fld id="{7402B711-A71A-452E-950A-8AB93037233C}" type="slidenum">
              <a:rPr lang="en-US" sz="800" b="1" smtClean="0">
                <a:solidFill>
                  <a:srgbClr val="281A42"/>
                </a:solidFill>
              </a:rPr>
              <a:pPr defTabSz="914377">
                <a:defRPr/>
              </a:pPr>
              <a:t>39</a:t>
            </a:fld>
            <a:endParaRPr lang="en-US" sz="800" b="1" dirty="0">
              <a:solidFill>
                <a:srgbClr val="281A42"/>
              </a:solidFill>
            </a:endParaRPr>
          </a:p>
        </p:txBody>
      </p:sp>
      <p:sp>
        <p:nvSpPr>
          <p:cNvPr id="23" name="Date Placeholder 1">
            <a:extLst>
              <a:ext uri="{FF2B5EF4-FFF2-40B4-BE49-F238E27FC236}">
                <a16:creationId xmlns:a16="http://schemas.microsoft.com/office/drawing/2014/main" id="{0DAB3ACA-8F62-2E99-5D23-7F5796603A0E}"/>
              </a:ext>
            </a:extLst>
          </p:cNvPr>
          <p:cNvSpPr txBox="1">
            <a:spLocks/>
          </p:cNvSpPr>
          <p:nvPr/>
        </p:nvSpPr>
        <p:spPr>
          <a:xfrm rot="-5400000">
            <a:off x="26499" y="5677321"/>
            <a:ext cx="576000" cy="144000"/>
          </a:xfrm>
          <a:prstGeom prst="rect">
            <a:avLst/>
          </a:prstGeom>
        </p:spPr>
        <p:txBody>
          <a:bodyPr vert="horz" lIns="0" tIns="0" rIns="0" bIns="0" rtlCol="0" anchor="t" anchorCtr="0">
            <a:noAutofit/>
          </a:bodyPr>
          <a:lstStyle>
            <a:defPPr>
              <a:defRPr lang="en-US"/>
            </a:defPPr>
            <a:lvl1pPr>
              <a:lnSpc>
                <a:spcPct val="100000"/>
              </a:lnSpc>
              <a:spcBef>
                <a:spcPts val="0"/>
              </a:spcBef>
              <a:defRPr sz="600" b="0" spc="-10">
                <a:latin typeface="Arial" pitchFamily="34" charset="0"/>
                <a:cs typeface="Arial" panose="020B0604020202020204" pitchFamily="34" charset="0"/>
              </a:defRPr>
            </a:lvl1pPr>
            <a:lvl2pPr marL="457200" algn="l" defTabSz="457200" rtl="0" eaLnBrk="1" latinLnBrk="0" hangingPunct="1">
              <a:defRPr sz="1800" kern="1200">
                <a:solidFill>
                  <a:srgbClr val="1D1D1D"/>
                </a:solidFill>
                <a:latin typeface="+mn-lt"/>
                <a:ea typeface="+mn-ea"/>
                <a:cs typeface="+mn-cs"/>
              </a:defRPr>
            </a:lvl2pPr>
            <a:lvl3pPr marL="914400" algn="l" defTabSz="457200" rtl="0" eaLnBrk="1" latinLnBrk="0" hangingPunct="1">
              <a:defRPr sz="1800" kern="1200">
                <a:solidFill>
                  <a:srgbClr val="1D1D1D"/>
                </a:solidFill>
                <a:latin typeface="+mn-lt"/>
                <a:ea typeface="+mn-ea"/>
                <a:cs typeface="+mn-cs"/>
              </a:defRPr>
            </a:lvl3pPr>
            <a:lvl4pPr marL="1371600" algn="l" defTabSz="457200" rtl="0" eaLnBrk="1" latinLnBrk="0" hangingPunct="1">
              <a:defRPr sz="1800" kern="1200">
                <a:solidFill>
                  <a:srgbClr val="1D1D1D"/>
                </a:solidFill>
                <a:latin typeface="+mn-lt"/>
                <a:ea typeface="+mn-ea"/>
                <a:cs typeface="+mn-cs"/>
              </a:defRPr>
            </a:lvl4pPr>
            <a:lvl5pPr marL="1828800" algn="l" defTabSz="457200" rtl="0" eaLnBrk="1" latinLnBrk="0" hangingPunct="1">
              <a:defRPr sz="1800" kern="1200">
                <a:solidFill>
                  <a:srgbClr val="1D1D1D"/>
                </a:solidFill>
                <a:latin typeface="+mn-lt"/>
                <a:ea typeface="+mn-ea"/>
                <a:cs typeface="+mn-cs"/>
              </a:defRPr>
            </a:lvl5pPr>
            <a:lvl6pPr marL="2286000" algn="l" defTabSz="457200" rtl="0" eaLnBrk="1" latinLnBrk="0" hangingPunct="1">
              <a:defRPr sz="1800" kern="1200">
                <a:solidFill>
                  <a:srgbClr val="1D1D1D"/>
                </a:solidFill>
                <a:latin typeface="+mn-lt"/>
                <a:ea typeface="+mn-ea"/>
                <a:cs typeface="+mn-cs"/>
              </a:defRPr>
            </a:lvl6pPr>
            <a:lvl7pPr marL="2743200" algn="l" defTabSz="457200" rtl="0" eaLnBrk="1" latinLnBrk="0" hangingPunct="1">
              <a:defRPr sz="1800" kern="1200">
                <a:solidFill>
                  <a:srgbClr val="1D1D1D"/>
                </a:solidFill>
                <a:latin typeface="+mn-lt"/>
                <a:ea typeface="+mn-ea"/>
                <a:cs typeface="+mn-cs"/>
              </a:defRPr>
            </a:lvl7pPr>
            <a:lvl8pPr marL="3200400" algn="l" defTabSz="457200" rtl="0" eaLnBrk="1" latinLnBrk="0" hangingPunct="1">
              <a:defRPr sz="1800" kern="1200">
                <a:solidFill>
                  <a:srgbClr val="1D1D1D"/>
                </a:solidFill>
                <a:latin typeface="+mn-lt"/>
                <a:ea typeface="+mn-ea"/>
                <a:cs typeface="+mn-cs"/>
              </a:defRPr>
            </a:lvl8pPr>
            <a:lvl9pPr marL="3657600" algn="l" defTabSz="457200" rtl="0" eaLnBrk="1" latinLnBrk="0" hangingPunct="1">
              <a:defRPr sz="1800" kern="1200">
                <a:solidFill>
                  <a:srgbClr val="1D1D1D"/>
                </a:solidFill>
                <a:latin typeface="+mn-lt"/>
                <a:ea typeface="+mn-ea"/>
                <a:cs typeface="+mn-cs"/>
              </a:defRPr>
            </a:lvl9pPr>
          </a:lstStyle>
          <a:p>
            <a:fld id="{66029881-6A0F-6B4F-87C5-6CF4FD0536DE}" type="datetime1">
              <a:rPr lang="en-US" sz="800">
                <a:solidFill>
                  <a:srgbClr val="281A42"/>
                </a:solidFill>
              </a:rPr>
              <a:pPr/>
              <a:t>3/30/26</a:t>
            </a:fld>
            <a:endParaRPr lang="en-US" sz="800" dirty="0">
              <a:solidFill>
                <a:srgbClr val="281A42"/>
              </a:solidFill>
            </a:endParaRPr>
          </a:p>
        </p:txBody>
      </p:sp>
      <p:sp>
        <p:nvSpPr>
          <p:cNvPr id="24" name="Footer Placeholder 2">
            <a:extLst>
              <a:ext uri="{FF2B5EF4-FFF2-40B4-BE49-F238E27FC236}">
                <a16:creationId xmlns:a16="http://schemas.microsoft.com/office/drawing/2014/main" id="{9FC6D374-E6EF-8D41-DC8C-D53AEC66E272}"/>
              </a:ext>
            </a:extLst>
          </p:cNvPr>
          <p:cNvSpPr txBox="1">
            <a:spLocks/>
          </p:cNvSpPr>
          <p:nvPr/>
        </p:nvSpPr>
        <p:spPr>
          <a:xfrm rot="-5400000">
            <a:off x="-513115" y="4568845"/>
            <a:ext cx="1655228" cy="144000"/>
          </a:xfrm>
          <a:prstGeom prst="rect">
            <a:avLst/>
          </a:prstGeom>
        </p:spPr>
        <p:txBody>
          <a:bodyPr vert="horz" lIns="0" tIns="0" rIns="0" bIns="0" rtlCol="0" anchor="t" anchorCtr="0">
            <a:noAutofit/>
          </a:bodyPr>
          <a:lstStyle>
            <a:defPPr>
              <a:defRPr lang="en-US"/>
            </a:defPPr>
            <a:lvl1pPr>
              <a:lnSpc>
                <a:spcPct val="100000"/>
              </a:lnSpc>
              <a:spcBef>
                <a:spcPts val="0"/>
              </a:spcBef>
              <a:defRPr sz="600" b="0" spc="-10">
                <a:latin typeface="Arial" pitchFamily="34" charset="0"/>
                <a:cs typeface="Arial" panose="020B0604020202020204" pitchFamily="34" charset="0"/>
              </a:defRPr>
            </a:lvl1pPr>
            <a:lvl2pPr marL="457200" algn="l" defTabSz="457200" rtl="0" eaLnBrk="1" latinLnBrk="0" hangingPunct="1">
              <a:defRPr sz="1800" kern="1200">
                <a:solidFill>
                  <a:srgbClr val="1D1D1D"/>
                </a:solidFill>
                <a:latin typeface="+mn-lt"/>
                <a:ea typeface="+mn-ea"/>
                <a:cs typeface="+mn-cs"/>
              </a:defRPr>
            </a:lvl2pPr>
            <a:lvl3pPr marL="914400" algn="l" defTabSz="457200" rtl="0" eaLnBrk="1" latinLnBrk="0" hangingPunct="1">
              <a:defRPr sz="1800" kern="1200">
                <a:solidFill>
                  <a:srgbClr val="1D1D1D"/>
                </a:solidFill>
                <a:latin typeface="+mn-lt"/>
                <a:ea typeface="+mn-ea"/>
                <a:cs typeface="+mn-cs"/>
              </a:defRPr>
            </a:lvl3pPr>
            <a:lvl4pPr marL="1371600" algn="l" defTabSz="457200" rtl="0" eaLnBrk="1" latinLnBrk="0" hangingPunct="1">
              <a:defRPr sz="1800" kern="1200">
                <a:solidFill>
                  <a:srgbClr val="1D1D1D"/>
                </a:solidFill>
                <a:latin typeface="+mn-lt"/>
                <a:ea typeface="+mn-ea"/>
                <a:cs typeface="+mn-cs"/>
              </a:defRPr>
            </a:lvl4pPr>
            <a:lvl5pPr marL="1828800" algn="l" defTabSz="457200" rtl="0" eaLnBrk="1" latinLnBrk="0" hangingPunct="1">
              <a:defRPr sz="1800" kern="1200">
                <a:solidFill>
                  <a:srgbClr val="1D1D1D"/>
                </a:solidFill>
                <a:latin typeface="+mn-lt"/>
                <a:ea typeface="+mn-ea"/>
                <a:cs typeface="+mn-cs"/>
              </a:defRPr>
            </a:lvl5pPr>
            <a:lvl6pPr marL="2286000" algn="l" defTabSz="457200" rtl="0" eaLnBrk="1" latinLnBrk="0" hangingPunct="1">
              <a:defRPr sz="1800" kern="1200">
                <a:solidFill>
                  <a:srgbClr val="1D1D1D"/>
                </a:solidFill>
                <a:latin typeface="+mn-lt"/>
                <a:ea typeface="+mn-ea"/>
                <a:cs typeface="+mn-cs"/>
              </a:defRPr>
            </a:lvl6pPr>
            <a:lvl7pPr marL="2743200" algn="l" defTabSz="457200" rtl="0" eaLnBrk="1" latinLnBrk="0" hangingPunct="1">
              <a:defRPr sz="1800" kern="1200">
                <a:solidFill>
                  <a:srgbClr val="1D1D1D"/>
                </a:solidFill>
                <a:latin typeface="+mn-lt"/>
                <a:ea typeface="+mn-ea"/>
                <a:cs typeface="+mn-cs"/>
              </a:defRPr>
            </a:lvl7pPr>
            <a:lvl8pPr marL="3200400" algn="l" defTabSz="457200" rtl="0" eaLnBrk="1" latinLnBrk="0" hangingPunct="1">
              <a:defRPr sz="1800" kern="1200">
                <a:solidFill>
                  <a:srgbClr val="1D1D1D"/>
                </a:solidFill>
                <a:latin typeface="+mn-lt"/>
                <a:ea typeface="+mn-ea"/>
                <a:cs typeface="+mn-cs"/>
              </a:defRPr>
            </a:lvl8pPr>
            <a:lvl9pPr marL="3657600" algn="l" defTabSz="457200" rtl="0" eaLnBrk="1" latinLnBrk="0" hangingPunct="1">
              <a:defRPr sz="1800" kern="1200">
                <a:solidFill>
                  <a:srgbClr val="1D1D1D"/>
                </a:solidFill>
                <a:latin typeface="+mn-lt"/>
                <a:ea typeface="+mn-ea"/>
                <a:cs typeface="+mn-cs"/>
              </a:defRPr>
            </a:lvl9pPr>
          </a:lstStyle>
          <a:p>
            <a:r>
              <a:rPr lang="en-US" sz="800" dirty="0">
                <a:solidFill>
                  <a:srgbClr val="281A42"/>
                </a:solidFill>
              </a:rPr>
              <a:t>Confidential</a:t>
            </a:r>
          </a:p>
        </p:txBody>
      </p:sp>
      <p:sp>
        <p:nvSpPr>
          <p:cNvPr id="79" name="Rectangle: Rounded Corners 78">
            <a:extLst>
              <a:ext uri="{FF2B5EF4-FFF2-40B4-BE49-F238E27FC236}">
                <a16:creationId xmlns:a16="http://schemas.microsoft.com/office/drawing/2014/main" id="{85FC6D41-9710-266E-61F5-FEC5C790F8A1}"/>
              </a:ext>
            </a:extLst>
          </p:cNvPr>
          <p:cNvSpPr/>
          <p:nvPr/>
        </p:nvSpPr>
        <p:spPr>
          <a:xfrm>
            <a:off x="705087" y="1103898"/>
            <a:ext cx="5338064" cy="5314951"/>
          </a:xfrm>
          <a:prstGeom prst="roundRect">
            <a:avLst>
              <a:gd name="adj" fmla="val 5174"/>
            </a:avLst>
          </a:prstGeom>
          <a:solidFill>
            <a:srgbClr val="C8BFFF"/>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b="1" spc="-25">
                <a:latin typeface="Segoe UI" pitchFamily="34" charset="0"/>
              </a:defRPr>
            </a:pPr>
            <a:endParaRPr lang="en-US" sz="1600" b="1" kern="0" spc="-25" dirty="0">
              <a:solidFill>
                <a:srgbClr val="1D1D1D"/>
              </a:solidFill>
              <a:latin typeface="Segoe UI" pitchFamily="34" charset="0"/>
              <a:cs typeface="Arial" panose="020B0604020202020204" pitchFamily="34" charset="0"/>
            </a:endParaRPr>
          </a:p>
        </p:txBody>
      </p:sp>
      <p:grpSp>
        <p:nvGrpSpPr>
          <p:cNvPr id="80" name="Group 79">
            <a:extLst>
              <a:ext uri="{FF2B5EF4-FFF2-40B4-BE49-F238E27FC236}">
                <a16:creationId xmlns:a16="http://schemas.microsoft.com/office/drawing/2014/main" id="{2ACA8A3C-359D-4EE8-2AB8-17D034936D18}"/>
              </a:ext>
            </a:extLst>
          </p:cNvPr>
          <p:cNvGrpSpPr/>
          <p:nvPr/>
        </p:nvGrpSpPr>
        <p:grpSpPr>
          <a:xfrm>
            <a:off x="1318399" y="6181246"/>
            <a:ext cx="660524" cy="130841"/>
            <a:chOff x="6357938" y="5548236"/>
            <a:chExt cx="1544228" cy="305892"/>
          </a:xfrm>
        </p:grpSpPr>
        <p:sp>
          <p:nvSpPr>
            <p:cNvPr id="81" name="Rectangle: Rounded Corners 72">
              <a:extLst>
                <a:ext uri="{FF2B5EF4-FFF2-40B4-BE49-F238E27FC236}">
                  <a16:creationId xmlns:a16="http://schemas.microsoft.com/office/drawing/2014/main" id="{26B6C178-D39C-C293-4F4C-F184675C7BEC}"/>
                </a:ext>
              </a:extLst>
            </p:cNvPr>
            <p:cNvSpPr/>
            <p:nvPr/>
          </p:nvSpPr>
          <p:spPr>
            <a:xfrm>
              <a:off x="6357938" y="5548236"/>
              <a:ext cx="333301" cy="305892"/>
            </a:xfrm>
            <a:prstGeom prst="roundRect">
              <a:avLst/>
            </a:prstGeom>
            <a:solidFill>
              <a:srgbClr val="00C27A"/>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solidFill>
                    <a:srgbClr val="FFFFFF"/>
                  </a:solidFill>
                </a:defRPr>
              </a:pPr>
              <a:endParaRPr lang="en-US" sz="1200" kern="0" spc="-10" dirty="0">
                <a:solidFill>
                  <a:srgbClr val="FFFFFF"/>
                </a:solidFill>
                <a:latin typeface="Arial" pitchFamily="34" charset="0"/>
                <a:cs typeface="Arial" panose="020B0604020202020204" pitchFamily="34" charset="0"/>
              </a:endParaRPr>
            </a:p>
          </p:txBody>
        </p:sp>
        <p:sp>
          <p:nvSpPr>
            <p:cNvPr id="82" name="TextBox 81">
              <a:extLst>
                <a:ext uri="{FF2B5EF4-FFF2-40B4-BE49-F238E27FC236}">
                  <a16:creationId xmlns:a16="http://schemas.microsoft.com/office/drawing/2014/main" id="{792E662D-158F-4A60-DBE9-78CD891357BD}"/>
                </a:ext>
              </a:extLst>
            </p:cNvPr>
            <p:cNvSpPr txBox="1"/>
            <p:nvPr/>
          </p:nvSpPr>
          <p:spPr>
            <a:xfrm>
              <a:off x="6800850" y="5551389"/>
              <a:ext cx="1101316" cy="301396"/>
            </a:xfrm>
            <a:prstGeom prst="rect">
              <a:avLst/>
            </a:prstGeom>
            <a:ln w="6350">
              <a:noFill/>
              <a:miter lim="800000"/>
            </a:ln>
          </p:spPr>
          <p:txBody>
            <a:bodyPr vert="horz" wrap="none" lIns="0" tIns="0" rIns="0" bIns="0" rtlCol="0" anchor="ctr">
              <a:noAutofit/>
            </a:bodyPr>
            <a:lstStyle/>
            <a:p>
              <a:pPr defTabSz="914377">
                <a:spcBef>
                  <a:spcPts val="300"/>
                </a:spcBef>
                <a:spcAft>
                  <a:spcPts val="300"/>
                </a:spcAft>
                <a:defRPr>
                  <a:solidFill>
                    <a:srgbClr val="FFFFFF"/>
                  </a:solidFill>
                </a:defRPr>
              </a:pPr>
              <a:r>
                <a:rPr lang="en-US" sz="800" kern="0" dirty="0">
                  <a:solidFill>
                    <a:srgbClr val="FFFFFF"/>
                  </a:solidFill>
                  <a:cs typeface="Arial" panose="020B0604020202020204" pitchFamily="34" charset="0"/>
                </a:rPr>
                <a:t>Ready Now</a:t>
              </a:r>
            </a:p>
          </p:txBody>
        </p:sp>
      </p:grpSp>
      <p:grpSp>
        <p:nvGrpSpPr>
          <p:cNvPr id="83" name="Group 82">
            <a:extLst>
              <a:ext uri="{FF2B5EF4-FFF2-40B4-BE49-F238E27FC236}">
                <a16:creationId xmlns:a16="http://schemas.microsoft.com/office/drawing/2014/main" id="{EE3CCCCC-2EEF-3756-AFCB-C9964A0699D7}"/>
              </a:ext>
            </a:extLst>
          </p:cNvPr>
          <p:cNvGrpSpPr/>
          <p:nvPr/>
        </p:nvGrpSpPr>
        <p:grpSpPr>
          <a:xfrm>
            <a:off x="2640197" y="6179904"/>
            <a:ext cx="660524" cy="130841"/>
            <a:chOff x="6357938" y="5548236"/>
            <a:chExt cx="1544228" cy="305892"/>
          </a:xfrm>
        </p:grpSpPr>
        <p:sp>
          <p:nvSpPr>
            <p:cNvPr id="84" name="Rectangle: Rounded Corners 76">
              <a:extLst>
                <a:ext uri="{FF2B5EF4-FFF2-40B4-BE49-F238E27FC236}">
                  <a16:creationId xmlns:a16="http://schemas.microsoft.com/office/drawing/2014/main" id="{DB8B28AA-BE4C-A2CE-5EED-A1B852CD53F4}"/>
                </a:ext>
              </a:extLst>
            </p:cNvPr>
            <p:cNvSpPr/>
            <p:nvPr/>
          </p:nvSpPr>
          <p:spPr>
            <a:xfrm>
              <a:off x="6357938" y="5548236"/>
              <a:ext cx="333301" cy="305892"/>
            </a:xfrm>
            <a:prstGeom prst="roundRect">
              <a:avLst/>
            </a:prstGeom>
            <a:solidFill>
              <a:srgbClr val="FFB547"/>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200" kern="0" spc="-10" dirty="0">
                <a:solidFill>
                  <a:srgbClr val="1D1D1D"/>
                </a:solidFill>
                <a:latin typeface="Arial" pitchFamily="34" charset="0"/>
                <a:cs typeface="Arial" panose="020B0604020202020204" pitchFamily="34" charset="0"/>
              </a:endParaRPr>
            </a:p>
          </p:txBody>
        </p:sp>
        <p:sp>
          <p:nvSpPr>
            <p:cNvPr id="85" name="TextBox 84">
              <a:extLst>
                <a:ext uri="{FF2B5EF4-FFF2-40B4-BE49-F238E27FC236}">
                  <a16:creationId xmlns:a16="http://schemas.microsoft.com/office/drawing/2014/main" id="{726BD4F5-5267-2DF4-31FF-83FF123F9C66}"/>
                </a:ext>
              </a:extLst>
            </p:cNvPr>
            <p:cNvSpPr txBox="1"/>
            <p:nvPr/>
          </p:nvSpPr>
          <p:spPr>
            <a:xfrm>
              <a:off x="6800850" y="5551389"/>
              <a:ext cx="1101316" cy="301396"/>
            </a:xfrm>
            <a:prstGeom prst="rect">
              <a:avLst/>
            </a:prstGeom>
            <a:ln w="6350">
              <a:noFill/>
              <a:miter lim="800000"/>
            </a:ln>
          </p:spPr>
          <p:txBody>
            <a:bodyPr vert="horz" wrap="none" lIns="0" tIns="0" rIns="0" bIns="0" rtlCol="0" anchor="ctr">
              <a:noAutofit/>
            </a:bodyPr>
            <a:lstStyle/>
            <a:p>
              <a:pPr defTabSz="914377">
                <a:spcBef>
                  <a:spcPts val="300"/>
                </a:spcBef>
                <a:spcAft>
                  <a:spcPts val="300"/>
                </a:spcAft>
                <a:defRPr>
                  <a:solidFill>
                    <a:srgbClr val="1D1D1D"/>
                  </a:solidFill>
                </a:defRPr>
              </a:pPr>
              <a:r>
                <a:rPr lang="en-US" sz="800" kern="0" dirty="0">
                  <a:solidFill>
                    <a:srgbClr val="1D1D1D"/>
                  </a:solidFill>
                  <a:cs typeface="Arial" panose="020B0604020202020204" pitchFamily="34" charset="0"/>
                </a:rPr>
                <a:t>Ready in 1-2 Years</a:t>
              </a:r>
            </a:p>
          </p:txBody>
        </p:sp>
      </p:grpSp>
      <p:grpSp>
        <p:nvGrpSpPr>
          <p:cNvPr id="86" name="Group 85">
            <a:extLst>
              <a:ext uri="{FF2B5EF4-FFF2-40B4-BE49-F238E27FC236}">
                <a16:creationId xmlns:a16="http://schemas.microsoft.com/office/drawing/2014/main" id="{E2CD9FC7-6C09-EA50-9EBE-061013BBE099}"/>
              </a:ext>
            </a:extLst>
          </p:cNvPr>
          <p:cNvGrpSpPr/>
          <p:nvPr/>
        </p:nvGrpSpPr>
        <p:grpSpPr>
          <a:xfrm>
            <a:off x="4319073" y="6179904"/>
            <a:ext cx="660524" cy="130841"/>
            <a:chOff x="6357938" y="5548236"/>
            <a:chExt cx="1544228" cy="305892"/>
          </a:xfrm>
        </p:grpSpPr>
        <p:sp>
          <p:nvSpPr>
            <p:cNvPr id="87" name="Rectangle: Rounded Corners 79">
              <a:extLst>
                <a:ext uri="{FF2B5EF4-FFF2-40B4-BE49-F238E27FC236}">
                  <a16:creationId xmlns:a16="http://schemas.microsoft.com/office/drawing/2014/main" id="{6314C329-0629-D01C-3602-A4625921627C}"/>
                </a:ext>
              </a:extLst>
            </p:cNvPr>
            <p:cNvSpPr/>
            <p:nvPr/>
          </p:nvSpPr>
          <p:spPr>
            <a:xfrm>
              <a:off x="6357938" y="5548236"/>
              <a:ext cx="333301" cy="305892"/>
            </a:xfrm>
            <a:prstGeom prst="roundRect">
              <a:avLst/>
            </a:prstGeom>
            <a:solidFill>
              <a:srgbClr val="281A42"/>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solidFill>
                    <a:srgbClr val="FFFFFF"/>
                  </a:solidFill>
                </a:defRPr>
              </a:pPr>
              <a:endParaRPr lang="en-US" sz="1200" kern="0" spc="-10" dirty="0">
                <a:solidFill>
                  <a:srgbClr val="FFFFFF"/>
                </a:solidFill>
                <a:latin typeface="Arial" pitchFamily="34" charset="0"/>
                <a:cs typeface="Arial" panose="020B0604020202020204" pitchFamily="34" charset="0"/>
              </a:endParaRPr>
            </a:p>
          </p:txBody>
        </p:sp>
        <p:sp>
          <p:nvSpPr>
            <p:cNvPr id="88" name="TextBox 87">
              <a:extLst>
                <a:ext uri="{FF2B5EF4-FFF2-40B4-BE49-F238E27FC236}">
                  <a16:creationId xmlns:a16="http://schemas.microsoft.com/office/drawing/2014/main" id="{9F4530F0-9213-BBE6-A3A7-21D0C490E3BB}"/>
                </a:ext>
              </a:extLst>
            </p:cNvPr>
            <p:cNvSpPr txBox="1"/>
            <p:nvPr/>
          </p:nvSpPr>
          <p:spPr>
            <a:xfrm>
              <a:off x="6800850" y="5551389"/>
              <a:ext cx="1101316" cy="301396"/>
            </a:xfrm>
            <a:prstGeom prst="rect">
              <a:avLst/>
            </a:prstGeom>
            <a:ln w="6350">
              <a:noFill/>
              <a:miter lim="800000"/>
            </a:ln>
          </p:spPr>
          <p:txBody>
            <a:bodyPr vert="horz" wrap="none" lIns="0" tIns="0" rIns="0" bIns="0" rtlCol="0" anchor="ctr">
              <a:noAutofit/>
            </a:bodyPr>
            <a:lstStyle/>
            <a:p>
              <a:pPr defTabSz="914377">
                <a:spcBef>
                  <a:spcPts val="300"/>
                </a:spcBef>
                <a:spcAft>
                  <a:spcPts val="300"/>
                </a:spcAft>
                <a:defRPr>
                  <a:solidFill>
                    <a:srgbClr val="FFFFFF"/>
                  </a:solidFill>
                </a:defRPr>
              </a:pPr>
              <a:r>
                <a:rPr lang="en-US" sz="800" kern="0" dirty="0">
                  <a:solidFill>
                    <a:srgbClr val="FFFFFF"/>
                  </a:solidFill>
                  <a:cs typeface="Arial" panose="020B0604020202020204" pitchFamily="34" charset="0"/>
                </a:rPr>
                <a:t>Ready in 3-5 Years</a:t>
              </a:r>
            </a:p>
          </p:txBody>
        </p:sp>
      </p:grpSp>
      <p:grpSp>
        <p:nvGrpSpPr>
          <p:cNvPr id="89" name="Group 88">
            <a:extLst>
              <a:ext uri="{FF2B5EF4-FFF2-40B4-BE49-F238E27FC236}">
                <a16:creationId xmlns:a16="http://schemas.microsoft.com/office/drawing/2014/main" id="{49313E4F-64BD-4360-748B-0C729F9F6797}"/>
              </a:ext>
            </a:extLst>
          </p:cNvPr>
          <p:cNvGrpSpPr/>
          <p:nvPr/>
        </p:nvGrpSpPr>
        <p:grpSpPr>
          <a:xfrm>
            <a:off x="835672" y="1449060"/>
            <a:ext cx="4929800" cy="4627384"/>
            <a:chOff x="548230" y="936864"/>
            <a:chExt cx="5422781" cy="5090122"/>
          </a:xfrm>
        </p:grpSpPr>
        <p:sp>
          <p:nvSpPr>
            <p:cNvPr id="90" name="Rectangle: Rounded Corners 29">
              <a:extLst>
                <a:ext uri="{FF2B5EF4-FFF2-40B4-BE49-F238E27FC236}">
                  <a16:creationId xmlns:a16="http://schemas.microsoft.com/office/drawing/2014/main" id="{D44D6647-B591-63EE-484F-137F958DFA02}"/>
                </a:ext>
              </a:extLst>
            </p:cNvPr>
            <p:cNvSpPr/>
            <p:nvPr/>
          </p:nvSpPr>
          <p:spPr>
            <a:xfrm>
              <a:off x="4180312" y="936864"/>
              <a:ext cx="1790699" cy="5090122"/>
            </a:xfrm>
            <a:prstGeom prst="roundRect">
              <a:avLst/>
            </a:prstGeom>
            <a:solidFill>
              <a:srgbClr val="FFFFFF">
                <a:lumMod val="95000"/>
              </a:srgbClr>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b="1" spc="-25">
                  <a:latin typeface="Segoe UI" pitchFamily="34" charset="0"/>
                </a:defRPr>
              </a:pPr>
              <a:endParaRPr lang="en-US" sz="1400" b="1" kern="0" spc="-25" dirty="0">
                <a:solidFill>
                  <a:srgbClr val="1D1D1D"/>
                </a:solidFill>
                <a:latin typeface="Segoe UI" pitchFamily="34" charset="0"/>
                <a:cs typeface="Arial" panose="020B0604020202020204" pitchFamily="34" charset="0"/>
              </a:endParaRPr>
            </a:p>
          </p:txBody>
        </p:sp>
        <p:sp>
          <p:nvSpPr>
            <p:cNvPr id="91" name="TextBox 90">
              <a:extLst>
                <a:ext uri="{FF2B5EF4-FFF2-40B4-BE49-F238E27FC236}">
                  <a16:creationId xmlns:a16="http://schemas.microsoft.com/office/drawing/2014/main" id="{43D8E77B-694F-0768-20A9-7C683A949087}"/>
                </a:ext>
              </a:extLst>
            </p:cNvPr>
            <p:cNvSpPr txBox="1"/>
            <p:nvPr/>
          </p:nvSpPr>
          <p:spPr>
            <a:xfrm>
              <a:off x="548230" y="1384346"/>
              <a:ext cx="3555563" cy="375948"/>
            </a:xfrm>
            <a:prstGeom prst="rect">
              <a:avLst/>
            </a:prstGeom>
          </p:spPr>
          <p:txBody>
            <a:bodyPr vert="horz" wrap="square" lIns="0" tIns="0" rIns="0" bIns="0" rtlCol="0" anchor="ctr" anchorCtr="0">
              <a:noAutofit/>
            </a:bodyPr>
            <a:lstStyle/>
            <a:p>
              <a:pPr algn="ctr" defTabSz="914377">
                <a:defRPr>
                  <a:solidFill>
                    <a:srgbClr val="1D1D1D"/>
                  </a:solidFill>
                </a:defRPr>
              </a:pPr>
              <a:r>
                <a:rPr lang="en-US" sz="1600" b="1" kern="0" dirty="0">
                  <a:solidFill>
                    <a:srgbClr val="1D1D1D"/>
                  </a:solidFill>
                  <a:cs typeface="Arial" panose="020B0604020202020204" pitchFamily="34" charset="0"/>
                </a:rPr>
                <a:t>EVP Chief Financial Officer </a:t>
              </a:r>
            </a:p>
          </p:txBody>
        </p:sp>
        <p:cxnSp>
          <p:nvCxnSpPr>
            <p:cNvPr id="92" name="Straight Connector 91">
              <a:extLst>
                <a:ext uri="{FF2B5EF4-FFF2-40B4-BE49-F238E27FC236}">
                  <a16:creationId xmlns:a16="http://schemas.microsoft.com/office/drawing/2014/main" id="{A71AB630-2403-B574-F98C-5ACC1FF24425}"/>
                </a:ext>
              </a:extLst>
            </p:cNvPr>
            <p:cNvCxnSpPr>
              <a:cxnSpLocks/>
            </p:cNvCxnSpPr>
            <p:nvPr/>
          </p:nvCxnSpPr>
          <p:spPr>
            <a:xfrm>
              <a:off x="575226" y="5471848"/>
              <a:ext cx="5394960" cy="0"/>
            </a:xfrm>
            <a:prstGeom prst="line">
              <a:avLst/>
            </a:prstGeom>
            <a:noFill/>
            <a:ln w="6350" cap="flat" cmpd="sng" algn="ctr">
              <a:solidFill>
                <a:srgbClr val="FFFFFF">
                  <a:lumMod val="85000"/>
                </a:srgbClr>
              </a:solidFill>
              <a:prstDash val="solid"/>
              <a:miter lim="800000"/>
              <a:tailEnd type="none"/>
            </a:ln>
            <a:effectLst/>
          </p:spPr>
        </p:cxnSp>
        <p:sp>
          <p:nvSpPr>
            <p:cNvPr id="93" name="TextBox 92">
              <a:extLst>
                <a:ext uri="{FF2B5EF4-FFF2-40B4-BE49-F238E27FC236}">
                  <a16:creationId xmlns:a16="http://schemas.microsoft.com/office/drawing/2014/main" id="{D0B53F27-BDBD-7146-F357-2584801EB127}"/>
                </a:ext>
              </a:extLst>
            </p:cNvPr>
            <p:cNvSpPr txBox="1"/>
            <p:nvPr/>
          </p:nvSpPr>
          <p:spPr>
            <a:xfrm>
              <a:off x="1635533" y="2195175"/>
              <a:ext cx="2450971" cy="40626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cs typeface="Arial" panose="020B0604020202020204" pitchFamily="34" charset="0"/>
                </a:rPr>
                <a:t>Maximize Value Creation in partnership with CEO &amp; ELT </a:t>
              </a:r>
              <a:endParaRPr lang="en-US" sz="900" b="1" kern="0" dirty="0">
                <a:solidFill>
                  <a:srgbClr val="1D1D1D"/>
                </a:solidFill>
                <a:ea typeface="Lato" panose="020F0502020204030203" pitchFamily="34" charset="0"/>
                <a:cs typeface="Arial" panose="020B0604020202020204" pitchFamily="34" charset="0"/>
              </a:endParaRPr>
            </a:p>
          </p:txBody>
        </p:sp>
        <p:sp>
          <p:nvSpPr>
            <p:cNvPr id="94" name="TextBox 93">
              <a:extLst>
                <a:ext uri="{FF2B5EF4-FFF2-40B4-BE49-F238E27FC236}">
                  <a16:creationId xmlns:a16="http://schemas.microsoft.com/office/drawing/2014/main" id="{AD5656DA-CFAC-5434-ABDE-2837DE3F9451}"/>
                </a:ext>
              </a:extLst>
            </p:cNvPr>
            <p:cNvSpPr txBox="1"/>
            <p:nvPr/>
          </p:nvSpPr>
          <p:spPr>
            <a:xfrm>
              <a:off x="1635533" y="2755588"/>
              <a:ext cx="2450971" cy="40626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100" dirty="0">
                  <a:solidFill>
                    <a:srgbClr val="1D1D1D"/>
                  </a:solidFill>
                  <a:ea typeface="Lato" panose="020F0502020204030203" pitchFamily="34" charset="0"/>
                  <a:cs typeface="Arial" panose="020B0604020202020204" pitchFamily="34" charset="0"/>
                </a:rPr>
                <a:t>Translate strategy into effective capital deployment decisions </a:t>
              </a:r>
            </a:p>
          </p:txBody>
        </p:sp>
        <p:sp>
          <p:nvSpPr>
            <p:cNvPr id="95" name="TextBox 94">
              <a:extLst>
                <a:ext uri="{FF2B5EF4-FFF2-40B4-BE49-F238E27FC236}">
                  <a16:creationId xmlns:a16="http://schemas.microsoft.com/office/drawing/2014/main" id="{AE3C2A5E-E881-CBCF-8677-8D0AB9C9FF0A}"/>
                </a:ext>
              </a:extLst>
            </p:cNvPr>
            <p:cNvSpPr txBox="1"/>
            <p:nvPr/>
          </p:nvSpPr>
          <p:spPr>
            <a:xfrm>
              <a:off x="1635533" y="3324970"/>
              <a:ext cx="2450971" cy="40626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cs typeface="Arial" panose="020B0604020202020204" pitchFamily="34" charset="0"/>
                </a:rPr>
                <a:t>Lead and deliver enterprise productivity goal &gt;$xxB annually</a:t>
              </a:r>
              <a:endParaRPr lang="en-US" sz="900" b="1" kern="100" dirty="0">
                <a:solidFill>
                  <a:srgbClr val="1D1D1D"/>
                </a:solidFill>
                <a:ea typeface="Lato" panose="020F0502020204030203" pitchFamily="34" charset="0"/>
                <a:cs typeface="Arial" panose="020B0604020202020204" pitchFamily="34" charset="0"/>
              </a:endParaRPr>
            </a:p>
          </p:txBody>
        </p:sp>
        <p:sp>
          <p:nvSpPr>
            <p:cNvPr id="96" name="TextBox 95">
              <a:extLst>
                <a:ext uri="{FF2B5EF4-FFF2-40B4-BE49-F238E27FC236}">
                  <a16:creationId xmlns:a16="http://schemas.microsoft.com/office/drawing/2014/main" id="{7B5C5D5D-9C2C-8EDB-BCF6-122C347AF7D2}"/>
                </a:ext>
              </a:extLst>
            </p:cNvPr>
            <p:cNvSpPr txBox="1"/>
            <p:nvPr/>
          </p:nvSpPr>
          <p:spPr>
            <a:xfrm>
              <a:off x="990408" y="2271350"/>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25%</a:t>
              </a:r>
            </a:p>
          </p:txBody>
        </p:sp>
        <p:sp>
          <p:nvSpPr>
            <p:cNvPr id="97" name="TextBox 96">
              <a:extLst>
                <a:ext uri="{FF2B5EF4-FFF2-40B4-BE49-F238E27FC236}">
                  <a16:creationId xmlns:a16="http://schemas.microsoft.com/office/drawing/2014/main" id="{381DD7DD-766A-6941-4859-0FFAB680F06B}"/>
                </a:ext>
              </a:extLst>
            </p:cNvPr>
            <p:cNvSpPr txBox="1"/>
            <p:nvPr/>
          </p:nvSpPr>
          <p:spPr>
            <a:xfrm>
              <a:off x="990408" y="2831767"/>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25%</a:t>
              </a:r>
            </a:p>
          </p:txBody>
        </p:sp>
        <p:sp>
          <p:nvSpPr>
            <p:cNvPr id="98" name="TextBox 97">
              <a:extLst>
                <a:ext uri="{FF2B5EF4-FFF2-40B4-BE49-F238E27FC236}">
                  <a16:creationId xmlns:a16="http://schemas.microsoft.com/office/drawing/2014/main" id="{A5F61CAA-0A1A-EACA-AAD5-9857D462CAB9}"/>
                </a:ext>
              </a:extLst>
            </p:cNvPr>
            <p:cNvSpPr txBox="1"/>
            <p:nvPr/>
          </p:nvSpPr>
          <p:spPr>
            <a:xfrm>
              <a:off x="990408" y="3401142"/>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15%</a:t>
              </a:r>
            </a:p>
          </p:txBody>
        </p:sp>
        <p:sp>
          <p:nvSpPr>
            <p:cNvPr id="99" name="TextBox 98">
              <a:extLst>
                <a:ext uri="{FF2B5EF4-FFF2-40B4-BE49-F238E27FC236}">
                  <a16:creationId xmlns:a16="http://schemas.microsoft.com/office/drawing/2014/main" id="{5B830D85-970D-8132-AF33-ED04D2009D10}"/>
                </a:ext>
              </a:extLst>
            </p:cNvPr>
            <p:cNvSpPr txBox="1"/>
            <p:nvPr/>
          </p:nvSpPr>
          <p:spPr>
            <a:xfrm>
              <a:off x="661380" y="2258584"/>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1</a:t>
              </a:r>
            </a:p>
          </p:txBody>
        </p:sp>
        <p:sp>
          <p:nvSpPr>
            <p:cNvPr id="100" name="TextBox 99">
              <a:extLst>
                <a:ext uri="{FF2B5EF4-FFF2-40B4-BE49-F238E27FC236}">
                  <a16:creationId xmlns:a16="http://schemas.microsoft.com/office/drawing/2014/main" id="{DD1B1304-EA02-1539-3796-A3A008F3953A}"/>
                </a:ext>
              </a:extLst>
            </p:cNvPr>
            <p:cNvSpPr txBox="1"/>
            <p:nvPr/>
          </p:nvSpPr>
          <p:spPr>
            <a:xfrm>
              <a:off x="661380" y="2818999"/>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2</a:t>
              </a:r>
            </a:p>
          </p:txBody>
        </p:sp>
        <p:sp>
          <p:nvSpPr>
            <p:cNvPr id="101" name="TextBox 100">
              <a:extLst>
                <a:ext uri="{FF2B5EF4-FFF2-40B4-BE49-F238E27FC236}">
                  <a16:creationId xmlns:a16="http://schemas.microsoft.com/office/drawing/2014/main" id="{C8A6F9FD-5F44-9FC5-2B1B-CE7ADE1149EE}"/>
                </a:ext>
              </a:extLst>
            </p:cNvPr>
            <p:cNvSpPr txBox="1"/>
            <p:nvPr/>
          </p:nvSpPr>
          <p:spPr>
            <a:xfrm>
              <a:off x="661380" y="3388375"/>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3</a:t>
              </a:r>
            </a:p>
          </p:txBody>
        </p:sp>
        <p:sp>
          <p:nvSpPr>
            <p:cNvPr id="102" name="TextBox 101">
              <a:extLst>
                <a:ext uri="{FF2B5EF4-FFF2-40B4-BE49-F238E27FC236}">
                  <a16:creationId xmlns:a16="http://schemas.microsoft.com/office/drawing/2014/main" id="{2E7E226C-E5D8-5CF7-AC07-49BA760EC60B}"/>
                </a:ext>
              </a:extLst>
            </p:cNvPr>
            <p:cNvSpPr txBox="1"/>
            <p:nvPr/>
          </p:nvSpPr>
          <p:spPr>
            <a:xfrm>
              <a:off x="623279" y="5055157"/>
              <a:ext cx="605357"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SP1</a:t>
              </a:r>
            </a:p>
          </p:txBody>
        </p:sp>
        <p:sp>
          <p:nvSpPr>
            <p:cNvPr id="103" name="TextBox 102">
              <a:extLst>
                <a:ext uri="{FF2B5EF4-FFF2-40B4-BE49-F238E27FC236}">
                  <a16:creationId xmlns:a16="http://schemas.microsoft.com/office/drawing/2014/main" id="{04554009-FFDC-DC37-19A8-6FFDD8113B8D}"/>
                </a:ext>
              </a:extLst>
            </p:cNvPr>
            <p:cNvSpPr txBox="1"/>
            <p:nvPr/>
          </p:nvSpPr>
          <p:spPr>
            <a:xfrm>
              <a:off x="623279" y="5624534"/>
              <a:ext cx="605357"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SP2</a:t>
              </a:r>
            </a:p>
          </p:txBody>
        </p:sp>
        <p:sp>
          <p:nvSpPr>
            <p:cNvPr id="104" name="TextBox 103">
              <a:extLst>
                <a:ext uri="{FF2B5EF4-FFF2-40B4-BE49-F238E27FC236}">
                  <a16:creationId xmlns:a16="http://schemas.microsoft.com/office/drawing/2014/main" id="{2964C571-CE12-DFDD-328E-8B3ECD08BD65}"/>
                </a:ext>
              </a:extLst>
            </p:cNvPr>
            <p:cNvSpPr txBox="1"/>
            <p:nvPr/>
          </p:nvSpPr>
          <p:spPr>
            <a:xfrm>
              <a:off x="1102657" y="5065973"/>
              <a:ext cx="3010468" cy="338555"/>
            </a:xfrm>
            <a:prstGeom prst="rect">
              <a:avLst/>
            </a:prstGeom>
            <a:noFill/>
            <a:ln w="6350">
              <a:noFill/>
              <a:miter lim="800000"/>
            </a:ln>
          </p:spPr>
          <p:txBody>
            <a:bodyPr wrap="square" lIns="91440" tIns="45720" rIns="91440" bIns="45720">
              <a:spAutoFit/>
            </a:bodyPr>
            <a:lstStyle/>
            <a:p>
              <a:pPr defTabSz="2926007">
                <a:defRPr>
                  <a:solidFill>
                    <a:srgbClr val="1D1D1D"/>
                  </a:solidFill>
                </a:defRPr>
              </a:pPr>
              <a:r>
                <a:rPr lang="en-US" sz="700" kern="0" dirty="0">
                  <a:solidFill>
                    <a:srgbClr val="1D1D1D"/>
                  </a:solidFill>
                  <a:ea typeface="Lato" panose="020F0502020204030203" pitchFamily="34" charset="0"/>
                  <a:cs typeface="Arial" panose="020B0604020202020204" pitchFamily="34" charset="0"/>
                </a:rPr>
                <a:t>Exceptional track-record of bridging an organization’s strategic intent with high-impact capital deployment execution.</a:t>
              </a:r>
            </a:p>
          </p:txBody>
        </p:sp>
        <p:sp>
          <p:nvSpPr>
            <p:cNvPr id="105" name="Rectangle 104">
              <a:extLst>
                <a:ext uri="{FF2B5EF4-FFF2-40B4-BE49-F238E27FC236}">
                  <a16:creationId xmlns:a16="http://schemas.microsoft.com/office/drawing/2014/main" id="{EBD31A32-4F05-B50B-5EFE-DB9957168C61}"/>
                </a:ext>
              </a:extLst>
            </p:cNvPr>
            <p:cNvSpPr/>
            <p:nvPr/>
          </p:nvSpPr>
          <p:spPr>
            <a:xfrm>
              <a:off x="4330907" y="2370497"/>
              <a:ext cx="1419277" cy="55623"/>
            </a:xfrm>
            <a:prstGeom prst="rect">
              <a:avLst/>
            </a:prstGeom>
            <a:gradFill flip="none" rotWithShape="1">
              <a:gsLst>
                <a:gs pos="100000">
                  <a:srgbClr val="00C27A"/>
                </a:gs>
                <a:gs pos="52000">
                  <a:srgbClr val="FFB547"/>
                </a:gs>
                <a:gs pos="0">
                  <a:srgbClr val="281A4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106" name="Rectangle 105">
              <a:extLst>
                <a:ext uri="{FF2B5EF4-FFF2-40B4-BE49-F238E27FC236}">
                  <a16:creationId xmlns:a16="http://schemas.microsoft.com/office/drawing/2014/main" id="{C777282D-EC45-1EE2-E89F-966473B671A2}"/>
                </a:ext>
              </a:extLst>
            </p:cNvPr>
            <p:cNvSpPr/>
            <p:nvPr/>
          </p:nvSpPr>
          <p:spPr>
            <a:xfrm>
              <a:off x="4330907" y="2930911"/>
              <a:ext cx="1419277" cy="55623"/>
            </a:xfrm>
            <a:prstGeom prst="rect">
              <a:avLst/>
            </a:prstGeom>
            <a:gradFill flip="none" rotWithShape="1">
              <a:gsLst>
                <a:gs pos="100000">
                  <a:srgbClr val="00C27A"/>
                </a:gs>
                <a:gs pos="52000">
                  <a:srgbClr val="FFB547"/>
                </a:gs>
                <a:gs pos="0">
                  <a:srgbClr val="281A4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107" name="Rectangle 106">
              <a:extLst>
                <a:ext uri="{FF2B5EF4-FFF2-40B4-BE49-F238E27FC236}">
                  <a16:creationId xmlns:a16="http://schemas.microsoft.com/office/drawing/2014/main" id="{2CFDBEDD-3BAE-D656-583B-C29544CAC60C}"/>
                </a:ext>
              </a:extLst>
            </p:cNvPr>
            <p:cNvSpPr/>
            <p:nvPr/>
          </p:nvSpPr>
          <p:spPr>
            <a:xfrm>
              <a:off x="4330907" y="3500289"/>
              <a:ext cx="1419277" cy="55623"/>
            </a:xfrm>
            <a:prstGeom prst="rect">
              <a:avLst/>
            </a:prstGeom>
            <a:gradFill flip="none" rotWithShape="1">
              <a:gsLst>
                <a:gs pos="100000">
                  <a:srgbClr val="00C27A"/>
                </a:gs>
                <a:gs pos="52000">
                  <a:srgbClr val="FFB547"/>
                </a:gs>
                <a:gs pos="0">
                  <a:srgbClr val="281A4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108" name="Rectangle 107">
              <a:extLst>
                <a:ext uri="{FF2B5EF4-FFF2-40B4-BE49-F238E27FC236}">
                  <a16:creationId xmlns:a16="http://schemas.microsoft.com/office/drawing/2014/main" id="{BD1C1FF7-48C7-BF06-9B41-3D3150D7E1C4}"/>
                </a:ext>
              </a:extLst>
            </p:cNvPr>
            <p:cNvSpPr/>
            <p:nvPr/>
          </p:nvSpPr>
          <p:spPr>
            <a:xfrm>
              <a:off x="4330907" y="5159907"/>
              <a:ext cx="1419277" cy="55623"/>
            </a:xfrm>
            <a:prstGeom prst="rect">
              <a:avLst/>
            </a:prstGeom>
            <a:gradFill flip="none" rotWithShape="1">
              <a:gsLst>
                <a:gs pos="100000">
                  <a:srgbClr val="00C27A"/>
                </a:gs>
                <a:gs pos="52000">
                  <a:srgbClr val="FFB547"/>
                </a:gs>
                <a:gs pos="0">
                  <a:srgbClr val="281A4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109" name="Rectangle 108">
              <a:extLst>
                <a:ext uri="{FF2B5EF4-FFF2-40B4-BE49-F238E27FC236}">
                  <a16:creationId xmlns:a16="http://schemas.microsoft.com/office/drawing/2014/main" id="{314C5F5E-4949-1B3F-2659-CE9FD1488721}"/>
                </a:ext>
              </a:extLst>
            </p:cNvPr>
            <p:cNvSpPr/>
            <p:nvPr/>
          </p:nvSpPr>
          <p:spPr>
            <a:xfrm>
              <a:off x="4330907" y="5744046"/>
              <a:ext cx="1419277" cy="55623"/>
            </a:xfrm>
            <a:prstGeom prst="rect">
              <a:avLst/>
            </a:prstGeom>
            <a:gradFill flip="none" rotWithShape="1">
              <a:gsLst>
                <a:gs pos="100000">
                  <a:srgbClr val="00C27A"/>
                </a:gs>
                <a:gs pos="52000">
                  <a:srgbClr val="FFB547"/>
                </a:gs>
                <a:gs pos="0">
                  <a:srgbClr val="281A4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110" name="TextBox 109">
              <a:extLst>
                <a:ext uri="{FF2B5EF4-FFF2-40B4-BE49-F238E27FC236}">
                  <a16:creationId xmlns:a16="http://schemas.microsoft.com/office/drawing/2014/main" id="{9140844D-84E6-55CB-9EFB-63C33869AC32}"/>
                </a:ext>
              </a:extLst>
            </p:cNvPr>
            <p:cNvSpPr txBox="1"/>
            <p:nvPr/>
          </p:nvSpPr>
          <p:spPr>
            <a:xfrm>
              <a:off x="4580202" y="1429063"/>
              <a:ext cx="914400" cy="301396"/>
            </a:xfrm>
            <a:prstGeom prst="rect">
              <a:avLst/>
            </a:prstGeom>
            <a:ln w="6350">
              <a:noFill/>
              <a:miter lim="800000"/>
            </a:ln>
          </p:spPr>
          <p:txBody>
            <a:bodyPr vert="horz" wrap="none" lIns="0" tIns="0" rIns="0" bIns="0" rtlCol="0">
              <a:noAutofit/>
            </a:bodyPr>
            <a:lstStyle/>
            <a:p>
              <a:pPr algn="ctr" defTabSz="914377">
                <a:spcBef>
                  <a:spcPts val="300"/>
                </a:spcBef>
                <a:spcAft>
                  <a:spcPts val="300"/>
                </a:spcAft>
                <a:defRPr>
                  <a:solidFill>
                    <a:srgbClr val="1D1D1D"/>
                  </a:solidFill>
                </a:defRPr>
              </a:pPr>
              <a:r>
                <a:rPr lang="en-US" sz="1000" i="1" kern="0" dirty="0">
                  <a:solidFill>
                    <a:srgbClr val="1D1D1D"/>
                  </a:solidFill>
                  <a:cs typeface="Arial" panose="020B0604020202020204" pitchFamily="34" charset="0"/>
                </a:rPr>
                <a:t>Readiness</a:t>
              </a:r>
            </a:p>
          </p:txBody>
        </p:sp>
        <p:sp>
          <p:nvSpPr>
            <p:cNvPr id="111" name="Oval 110">
              <a:extLst>
                <a:ext uri="{FF2B5EF4-FFF2-40B4-BE49-F238E27FC236}">
                  <a16:creationId xmlns:a16="http://schemas.microsoft.com/office/drawing/2014/main" id="{AEC15870-153C-B3E3-02E9-E57C75F5071F}"/>
                </a:ext>
              </a:extLst>
            </p:cNvPr>
            <p:cNvSpPr/>
            <p:nvPr/>
          </p:nvSpPr>
          <p:spPr>
            <a:xfrm>
              <a:off x="4982393" y="2341332"/>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112" name="Oval 111">
              <a:extLst>
                <a:ext uri="{FF2B5EF4-FFF2-40B4-BE49-F238E27FC236}">
                  <a16:creationId xmlns:a16="http://schemas.microsoft.com/office/drawing/2014/main" id="{35765BA7-2B06-3462-68B1-8F23EA428770}"/>
                </a:ext>
              </a:extLst>
            </p:cNvPr>
            <p:cNvSpPr/>
            <p:nvPr/>
          </p:nvSpPr>
          <p:spPr>
            <a:xfrm>
              <a:off x="4444211" y="2894075"/>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113" name="Oval 112">
              <a:extLst>
                <a:ext uri="{FF2B5EF4-FFF2-40B4-BE49-F238E27FC236}">
                  <a16:creationId xmlns:a16="http://schemas.microsoft.com/office/drawing/2014/main" id="{C3528371-C2B8-FA4C-4AA5-E615182DE315}"/>
                </a:ext>
              </a:extLst>
            </p:cNvPr>
            <p:cNvSpPr/>
            <p:nvPr/>
          </p:nvSpPr>
          <p:spPr>
            <a:xfrm>
              <a:off x="5510944" y="3463453"/>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114" name="TextBox 113">
              <a:extLst>
                <a:ext uri="{FF2B5EF4-FFF2-40B4-BE49-F238E27FC236}">
                  <a16:creationId xmlns:a16="http://schemas.microsoft.com/office/drawing/2014/main" id="{792E73BF-0864-32B3-3FBE-C09796AE480A}"/>
                </a:ext>
              </a:extLst>
            </p:cNvPr>
            <p:cNvSpPr txBox="1"/>
            <p:nvPr/>
          </p:nvSpPr>
          <p:spPr>
            <a:xfrm>
              <a:off x="1635533" y="3979487"/>
              <a:ext cx="2450971"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cs typeface="Arial" panose="020B0604020202020204" pitchFamily="34" charset="0"/>
                </a:rPr>
                <a:t>Proactive Financial Risk Management</a:t>
              </a:r>
              <a:endParaRPr lang="en-US" sz="900" b="1" kern="100" dirty="0">
                <a:solidFill>
                  <a:srgbClr val="1D1D1D"/>
                </a:solidFill>
                <a:ea typeface="Lato" panose="020F0502020204030203" pitchFamily="34" charset="0"/>
                <a:cs typeface="Arial" panose="020B0604020202020204" pitchFamily="34" charset="0"/>
              </a:endParaRPr>
            </a:p>
          </p:txBody>
        </p:sp>
        <p:sp>
          <p:nvSpPr>
            <p:cNvPr id="115" name="TextBox 114">
              <a:extLst>
                <a:ext uri="{FF2B5EF4-FFF2-40B4-BE49-F238E27FC236}">
                  <a16:creationId xmlns:a16="http://schemas.microsoft.com/office/drawing/2014/main" id="{8CE50FE0-474F-B867-A073-539717D3D505}"/>
                </a:ext>
              </a:extLst>
            </p:cNvPr>
            <p:cNvSpPr txBox="1"/>
            <p:nvPr/>
          </p:nvSpPr>
          <p:spPr>
            <a:xfrm>
              <a:off x="990408" y="3979487"/>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15%</a:t>
              </a:r>
            </a:p>
          </p:txBody>
        </p:sp>
        <p:sp>
          <p:nvSpPr>
            <p:cNvPr id="116" name="TextBox 115">
              <a:extLst>
                <a:ext uri="{FF2B5EF4-FFF2-40B4-BE49-F238E27FC236}">
                  <a16:creationId xmlns:a16="http://schemas.microsoft.com/office/drawing/2014/main" id="{B89A7639-6E35-63D9-A795-B89957E470B1}"/>
                </a:ext>
              </a:extLst>
            </p:cNvPr>
            <p:cNvSpPr txBox="1"/>
            <p:nvPr/>
          </p:nvSpPr>
          <p:spPr>
            <a:xfrm>
              <a:off x="661380" y="3966720"/>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4</a:t>
              </a:r>
            </a:p>
          </p:txBody>
        </p:sp>
        <p:sp>
          <p:nvSpPr>
            <p:cNvPr id="117" name="Rectangle 116">
              <a:extLst>
                <a:ext uri="{FF2B5EF4-FFF2-40B4-BE49-F238E27FC236}">
                  <a16:creationId xmlns:a16="http://schemas.microsoft.com/office/drawing/2014/main" id="{EBFA50DE-3EA0-09A9-49E3-9C80EFD15B7C}"/>
                </a:ext>
              </a:extLst>
            </p:cNvPr>
            <p:cNvSpPr/>
            <p:nvPr/>
          </p:nvSpPr>
          <p:spPr>
            <a:xfrm>
              <a:off x="4330907" y="4078633"/>
              <a:ext cx="1419277" cy="55623"/>
            </a:xfrm>
            <a:prstGeom prst="rect">
              <a:avLst/>
            </a:prstGeom>
            <a:gradFill flip="none" rotWithShape="1">
              <a:gsLst>
                <a:gs pos="100000">
                  <a:srgbClr val="00C27A"/>
                </a:gs>
                <a:gs pos="52000">
                  <a:srgbClr val="FFB547"/>
                </a:gs>
                <a:gs pos="0">
                  <a:srgbClr val="281A4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118" name="Oval 117">
              <a:extLst>
                <a:ext uri="{FF2B5EF4-FFF2-40B4-BE49-F238E27FC236}">
                  <a16:creationId xmlns:a16="http://schemas.microsoft.com/office/drawing/2014/main" id="{119726C7-9DC7-339A-A8F5-8C6B2CAE106A}"/>
                </a:ext>
              </a:extLst>
            </p:cNvPr>
            <p:cNvSpPr/>
            <p:nvPr/>
          </p:nvSpPr>
          <p:spPr>
            <a:xfrm>
              <a:off x="4982393" y="4037786"/>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119" name="Oval 118">
              <a:extLst>
                <a:ext uri="{FF2B5EF4-FFF2-40B4-BE49-F238E27FC236}">
                  <a16:creationId xmlns:a16="http://schemas.microsoft.com/office/drawing/2014/main" id="{90FA9E92-9EAD-496C-423B-3AE323EF2A54}"/>
                </a:ext>
              </a:extLst>
            </p:cNvPr>
            <p:cNvSpPr/>
            <p:nvPr/>
          </p:nvSpPr>
          <p:spPr>
            <a:xfrm>
              <a:off x="4444211" y="5125925"/>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120" name="Oval 119">
              <a:extLst>
                <a:ext uri="{FF2B5EF4-FFF2-40B4-BE49-F238E27FC236}">
                  <a16:creationId xmlns:a16="http://schemas.microsoft.com/office/drawing/2014/main" id="{77CEBA8F-633A-1A30-213B-F5E2AB008463}"/>
                </a:ext>
              </a:extLst>
            </p:cNvPr>
            <p:cNvSpPr/>
            <p:nvPr/>
          </p:nvSpPr>
          <p:spPr>
            <a:xfrm>
              <a:off x="4982393" y="5709207"/>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sp>
          <p:nvSpPr>
            <p:cNvPr id="121" name="Rectangle: Rounded Corners 115">
              <a:extLst>
                <a:ext uri="{FF2B5EF4-FFF2-40B4-BE49-F238E27FC236}">
                  <a16:creationId xmlns:a16="http://schemas.microsoft.com/office/drawing/2014/main" id="{5E4324B7-A533-3615-2E62-FFA42B75CEB7}"/>
                </a:ext>
              </a:extLst>
            </p:cNvPr>
            <p:cNvSpPr/>
            <p:nvPr/>
          </p:nvSpPr>
          <p:spPr>
            <a:xfrm>
              <a:off x="4746889" y="1760294"/>
              <a:ext cx="581025" cy="305892"/>
            </a:xfrm>
            <a:prstGeom prst="roundRect">
              <a:avLst/>
            </a:prstGeom>
            <a:solidFill>
              <a:srgbClr val="FFFFFF">
                <a:lumMod val="75000"/>
              </a:srgbClr>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cxnSp>
          <p:nvCxnSpPr>
            <p:cNvPr id="122" name="Straight Connector 121">
              <a:extLst>
                <a:ext uri="{FF2B5EF4-FFF2-40B4-BE49-F238E27FC236}">
                  <a16:creationId xmlns:a16="http://schemas.microsoft.com/office/drawing/2014/main" id="{903F8BE9-85F7-AA18-B3F2-E7EDBF7790F1}"/>
                </a:ext>
              </a:extLst>
            </p:cNvPr>
            <p:cNvCxnSpPr>
              <a:cxnSpLocks/>
            </p:cNvCxnSpPr>
            <p:nvPr/>
          </p:nvCxnSpPr>
          <p:spPr>
            <a:xfrm>
              <a:off x="575226" y="2160840"/>
              <a:ext cx="5394960" cy="0"/>
            </a:xfrm>
            <a:prstGeom prst="line">
              <a:avLst/>
            </a:prstGeom>
            <a:noFill/>
            <a:ln w="9525" cap="flat" cmpd="sng" algn="ctr">
              <a:solidFill>
                <a:srgbClr val="281A42"/>
              </a:solidFill>
              <a:prstDash val="solid"/>
              <a:miter lim="800000"/>
              <a:tailEnd type="none"/>
            </a:ln>
            <a:effectLst/>
          </p:spPr>
        </p:cxnSp>
        <p:cxnSp>
          <p:nvCxnSpPr>
            <p:cNvPr id="123" name="Straight Connector 122">
              <a:extLst>
                <a:ext uri="{FF2B5EF4-FFF2-40B4-BE49-F238E27FC236}">
                  <a16:creationId xmlns:a16="http://schemas.microsoft.com/office/drawing/2014/main" id="{68A13FD0-ECF8-C5D0-4C5B-B1914E66EE9B}"/>
                </a:ext>
              </a:extLst>
            </p:cNvPr>
            <p:cNvCxnSpPr>
              <a:cxnSpLocks/>
            </p:cNvCxnSpPr>
            <p:nvPr/>
          </p:nvCxnSpPr>
          <p:spPr>
            <a:xfrm>
              <a:off x="575226" y="4975700"/>
              <a:ext cx="5394960" cy="0"/>
            </a:xfrm>
            <a:prstGeom prst="line">
              <a:avLst/>
            </a:prstGeom>
            <a:noFill/>
            <a:ln w="9525" cap="flat" cmpd="sng" algn="ctr">
              <a:solidFill>
                <a:srgbClr val="281A42"/>
              </a:solidFill>
              <a:prstDash val="solid"/>
              <a:miter lim="800000"/>
              <a:tailEnd type="none"/>
            </a:ln>
            <a:effectLst/>
          </p:spPr>
        </p:cxnSp>
        <p:cxnSp>
          <p:nvCxnSpPr>
            <p:cNvPr id="124" name="Straight Connector 123">
              <a:extLst>
                <a:ext uri="{FF2B5EF4-FFF2-40B4-BE49-F238E27FC236}">
                  <a16:creationId xmlns:a16="http://schemas.microsoft.com/office/drawing/2014/main" id="{E534FEC4-906F-9CFA-FF34-AC8C0AFA0B97}"/>
                </a:ext>
              </a:extLst>
            </p:cNvPr>
            <p:cNvCxnSpPr>
              <a:cxnSpLocks/>
            </p:cNvCxnSpPr>
            <p:nvPr/>
          </p:nvCxnSpPr>
          <p:spPr>
            <a:xfrm>
              <a:off x="575226" y="6026986"/>
              <a:ext cx="5394960" cy="0"/>
            </a:xfrm>
            <a:prstGeom prst="line">
              <a:avLst/>
            </a:prstGeom>
            <a:noFill/>
            <a:ln w="9525" cap="flat" cmpd="sng" algn="ctr">
              <a:solidFill>
                <a:srgbClr val="281A42"/>
              </a:solidFill>
              <a:prstDash val="solid"/>
              <a:miter lim="800000"/>
              <a:tailEnd type="none"/>
            </a:ln>
            <a:effectLst/>
          </p:spPr>
        </p:cxnSp>
        <p:sp>
          <p:nvSpPr>
            <p:cNvPr id="125" name="TextBox 124">
              <a:extLst>
                <a:ext uri="{FF2B5EF4-FFF2-40B4-BE49-F238E27FC236}">
                  <a16:creationId xmlns:a16="http://schemas.microsoft.com/office/drawing/2014/main" id="{C7D7BF1E-4792-2CF6-572B-E4FE7B27D855}"/>
                </a:ext>
              </a:extLst>
            </p:cNvPr>
            <p:cNvSpPr txBox="1"/>
            <p:nvPr/>
          </p:nvSpPr>
          <p:spPr>
            <a:xfrm>
              <a:off x="4322140" y="1026410"/>
              <a:ext cx="1472650" cy="301396"/>
            </a:xfrm>
            <a:prstGeom prst="rect">
              <a:avLst/>
            </a:prstGeom>
            <a:ln w="6350">
              <a:noFill/>
              <a:miter lim="800000"/>
            </a:ln>
          </p:spPr>
          <p:txBody>
            <a:bodyPr vert="horz" wrap="none" lIns="0" tIns="0" rIns="0" bIns="0" rtlCol="0" anchor="ctr">
              <a:noAutofit/>
            </a:bodyPr>
            <a:lstStyle/>
            <a:p>
              <a:pPr algn="ctr" defTabSz="914377">
                <a:spcBef>
                  <a:spcPts val="300"/>
                </a:spcBef>
                <a:spcAft>
                  <a:spcPts val="300"/>
                </a:spcAft>
                <a:defRPr b="1" spc="-25">
                  <a:solidFill>
                    <a:srgbClr val="1D1D1D"/>
                  </a:solidFill>
                  <a:latin typeface="Segoe UI" pitchFamily="34" charset="0"/>
                </a:defRPr>
              </a:pPr>
              <a:r>
                <a:rPr lang="en-US" sz="1067" b="1" i="1" kern="0" spc="-25" dirty="0">
                  <a:solidFill>
                    <a:srgbClr val="1D1D1D"/>
                  </a:solidFill>
                  <a:cs typeface="Arial"/>
                </a:rPr>
                <a:t>Candidate</a:t>
              </a:r>
              <a:endParaRPr lang="en-US" sz="2400" b="1" kern="0" spc="-25" dirty="0">
                <a:solidFill>
                  <a:srgbClr val="1D1D1D"/>
                </a:solidFill>
                <a:latin typeface="Segoe UI" pitchFamily="34" charset="0"/>
              </a:endParaRPr>
            </a:p>
          </p:txBody>
        </p:sp>
        <p:cxnSp>
          <p:nvCxnSpPr>
            <p:cNvPr id="126" name="Straight Connector 125">
              <a:extLst>
                <a:ext uri="{FF2B5EF4-FFF2-40B4-BE49-F238E27FC236}">
                  <a16:creationId xmlns:a16="http://schemas.microsoft.com/office/drawing/2014/main" id="{7C694548-EA85-A4E4-4381-014DD6F17191}"/>
                </a:ext>
              </a:extLst>
            </p:cNvPr>
            <p:cNvCxnSpPr>
              <a:cxnSpLocks/>
            </p:cNvCxnSpPr>
            <p:nvPr/>
          </p:nvCxnSpPr>
          <p:spPr>
            <a:xfrm>
              <a:off x="575226" y="4336839"/>
              <a:ext cx="5394960" cy="0"/>
            </a:xfrm>
            <a:prstGeom prst="line">
              <a:avLst/>
            </a:prstGeom>
            <a:noFill/>
            <a:ln w="6350" cap="flat" cmpd="sng" algn="ctr">
              <a:solidFill>
                <a:srgbClr val="FFFFFF">
                  <a:lumMod val="85000"/>
                </a:srgbClr>
              </a:solidFill>
              <a:prstDash val="solid"/>
              <a:miter lim="800000"/>
              <a:tailEnd type="none"/>
            </a:ln>
            <a:effectLst/>
          </p:spPr>
        </p:cxnSp>
        <p:sp>
          <p:nvSpPr>
            <p:cNvPr id="127" name="TextBox 126">
              <a:extLst>
                <a:ext uri="{FF2B5EF4-FFF2-40B4-BE49-F238E27FC236}">
                  <a16:creationId xmlns:a16="http://schemas.microsoft.com/office/drawing/2014/main" id="{5F2F8AE2-351B-54A5-6B55-EAF72EFF5CA3}"/>
                </a:ext>
              </a:extLst>
            </p:cNvPr>
            <p:cNvSpPr txBox="1"/>
            <p:nvPr/>
          </p:nvSpPr>
          <p:spPr>
            <a:xfrm>
              <a:off x="1616420" y="4459125"/>
              <a:ext cx="2450971" cy="40626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cs typeface="Arial" panose="020B0604020202020204" pitchFamily="34" charset="0"/>
                </a:rPr>
                <a:t>Drive Finance Talent &amp; Culture Transformation</a:t>
              </a:r>
              <a:endParaRPr lang="en-US" sz="900" b="1" kern="0" dirty="0">
                <a:solidFill>
                  <a:srgbClr val="1D1D1D"/>
                </a:solidFill>
                <a:ea typeface="Lato" panose="020F0502020204030203" pitchFamily="34" charset="0"/>
                <a:cs typeface="Arial" panose="020B0604020202020204" pitchFamily="34" charset="0"/>
              </a:endParaRPr>
            </a:p>
          </p:txBody>
        </p:sp>
        <p:sp>
          <p:nvSpPr>
            <p:cNvPr id="128" name="TextBox 127">
              <a:extLst>
                <a:ext uri="{FF2B5EF4-FFF2-40B4-BE49-F238E27FC236}">
                  <a16:creationId xmlns:a16="http://schemas.microsoft.com/office/drawing/2014/main" id="{20DF4857-648F-BFE5-0EB7-7DDEF1FB3069}"/>
                </a:ext>
              </a:extLst>
            </p:cNvPr>
            <p:cNvSpPr txBox="1"/>
            <p:nvPr/>
          </p:nvSpPr>
          <p:spPr>
            <a:xfrm>
              <a:off x="985489" y="4535302"/>
              <a:ext cx="605357" cy="253915"/>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900" b="1" kern="0" dirty="0">
                  <a:solidFill>
                    <a:srgbClr val="1D1D1D"/>
                  </a:solidFill>
                  <a:ea typeface="Lato" panose="020F0502020204030203" pitchFamily="34" charset="0"/>
                  <a:cs typeface="Arial" panose="020B0604020202020204" pitchFamily="34" charset="0"/>
                </a:rPr>
                <a:t>20%</a:t>
              </a:r>
            </a:p>
          </p:txBody>
        </p:sp>
        <p:sp>
          <p:nvSpPr>
            <p:cNvPr id="129" name="TextBox 128">
              <a:extLst>
                <a:ext uri="{FF2B5EF4-FFF2-40B4-BE49-F238E27FC236}">
                  <a16:creationId xmlns:a16="http://schemas.microsoft.com/office/drawing/2014/main" id="{91B610DD-3135-9BBA-39BE-1984C669F4E0}"/>
                </a:ext>
              </a:extLst>
            </p:cNvPr>
            <p:cNvSpPr txBox="1"/>
            <p:nvPr/>
          </p:nvSpPr>
          <p:spPr>
            <a:xfrm>
              <a:off x="687731" y="4522532"/>
              <a:ext cx="289260" cy="279448"/>
            </a:xfrm>
            <a:prstGeom prst="rect">
              <a:avLst/>
            </a:prstGeom>
            <a:noFill/>
            <a:ln w="6350">
              <a:noFill/>
              <a:miter lim="800000"/>
            </a:ln>
          </p:spPr>
          <p:txBody>
            <a:bodyPr wrap="square" lIns="91440" tIns="45720" rIns="91440" bIns="45720" anchor="ctr">
              <a:spAutoFit/>
            </a:bodyPr>
            <a:lstStyle/>
            <a:p>
              <a:pPr defTabSz="2926007">
                <a:defRPr>
                  <a:solidFill>
                    <a:srgbClr val="1D1D1D"/>
                  </a:solidFill>
                </a:defRPr>
              </a:pPr>
              <a:r>
                <a:rPr lang="en-US" sz="1051" b="1" kern="0" dirty="0">
                  <a:solidFill>
                    <a:srgbClr val="1D1D1D"/>
                  </a:solidFill>
                  <a:ea typeface="Lato" panose="020F0502020204030203" pitchFamily="34" charset="0"/>
                  <a:cs typeface="Arial" panose="020B0604020202020204" pitchFamily="34" charset="0"/>
                </a:rPr>
                <a:t>5</a:t>
              </a:r>
            </a:p>
          </p:txBody>
        </p:sp>
        <p:sp>
          <p:nvSpPr>
            <p:cNvPr id="130" name="Rectangle 129">
              <a:extLst>
                <a:ext uri="{FF2B5EF4-FFF2-40B4-BE49-F238E27FC236}">
                  <a16:creationId xmlns:a16="http://schemas.microsoft.com/office/drawing/2014/main" id="{48FE52D7-AD2E-EC2D-7D13-147E54918B6B}"/>
                </a:ext>
              </a:extLst>
            </p:cNvPr>
            <p:cNvSpPr/>
            <p:nvPr/>
          </p:nvSpPr>
          <p:spPr>
            <a:xfrm>
              <a:off x="4325988" y="4634446"/>
              <a:ext cx="1419277" cy="55623"/>
            </a:xfrm>
            <a:prstGeom prst="rect">
              <a:avLst/>
            </a:prstGeom>
            <a:gradFill flip="none" rotWithShape="1">
              <a:gsLst>
                <a:gs pos="100000">
                  <a:srgbClr val="00C27A"/>
                </a:gs>
                <a:gs pos="52000">
                  <a:srgbClr val="FFB547"/>
                </a:gs>
                <a:gs pos="0">
                  <a:srgbClr val="281A42"/>
                </a:gs>
              </a:gsLst>
              <a:lin ang="0" scaled="1"/>
              <a:tileRect/>
            </a:gradFill>
            <a:ln w="10795" cap="flat" cmpd="sng" algn="ctr">
              <a:noFill/>
              <a:prstDash val="solid"/>
            </a:ln>
            <a:effectLst/>
          </p:spPr>
          <p:txBody>
            <a:bodyPr lIns="91440" tIns="45720" rIns="91440" bIns="45720" rtlCol="0" anchor="ctr"/>
            <a:lstStyle/>
            <a:p>
              <a:pPr algn="ctr" defTabSz="914377">
                <a:defRPr>
                  <a:solidFill>
                    <a:srgbClr val="FFFFFF"/>
                  </a:solidFill>
                </a:defRPr>
              </a:pPr>
              <a:endParaRPr lang="en-US" sz="1600" kern="0" spc="-10" dirty="0">
                <a:solidFill>
                  <a:prstClr val="white"/>
                </a:solidFill>
                <a:latin typeface="Arial" pitchFamily="34" charset="0"/>
                <a:cs typeface="Arial" panose="020B0604020202020204" pitchFamily="34" charset="0"/>
              </a:endParaRPr>
            </a:p>
          </p:txBody>
        </p:sp>
        <p:sp>
          <p:nvSpPr>
            <p:cNvPr id="131" name="Oval 130">
              <a:extLst>
                <a:ext uri="{FF2B5EF4-FFF2-40B4-BE49-F238E27FC236}">
                  <a16:creationId xmlns:a16="http://schemas.microsoft.com/office/drawing/2014/main" id="{96161D5B-77B8-4957-62A4-6784D1C357E9}"/>
                </a:ext>
              </a:extLst>
            </p:cNvPr>
            <p:cNvSpPr/>
            <p:nvPr/>
          </p:nvSpPr>
          <p:spPr>
            <a:xfrm>
              <a:off x="5494602" y="4590529"/>
              <a:ext cx="141942" cy="129294"/>
            </a:xfrm>
            <a:prstGeom prst="ellipse">
              <a:avLst/>
            </a:prstGeom>
            <a:solidFill>
              <a:srgbClr val="FFFFFF">
                <a:lumMod val="95000"/>
              </a:srgbClr>
            </a:solidFill>
            <a:ln w="6350" cap="sq" cmpd="sng" algn="ctr">
              <a:solidFill>
                <a:srgbClr val="3B3B3B"/>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400" kern="0" spc="-10" dirty="0">
                <a:solidFill>
                  <a:srgbClr val="1D1D1D"/>
                </a:solidFill>
                <a:latin typeface="Arial" pitchFamily="34" charset="0"/>
                <a:cs typeface="Arial" panose="020B0604020202020204" pitchFamily="34" charset="0"/>
              </a:endParaRPr>
            </a:p>
          </p:txBody>
        </p:sp>
        <p:cxnSp>
          <p:nvCxnSpPr>
            <p:cNvPr id="132" name="Straight Connector 131">
              <a:extLst>
                <a:ext uri="{FF2B5EF4-FFF2-40B4-BE49-F238E27FC236}">
                  <a16:creationId xmlns:a16="http://schemas.microsoft.com/office/drawing/2014/main" id="{D006B08C-B9A9-8BEF-FACC-EBDA68395E0E}"/>
                </a:ext>
              </a:extLst>
            </p:cNvPr>
            <p:cNvCxnSpPr>
              <a:cxnSpLocks/>
            </p:cNvCxnSpPr>
            <p:nvPr/>
          </p:nvCxnSpPr>
          <p:spPr>
            <a:xfrm>
              <a:off x="575226" y="3810814"/>
              <a:ext cx="5394960" cy="0"/>
            </a:xfrm>
            <a:prstGeom prst="line">
              <a:avLst/>
            </a:prstGeom>
            <a:noFill/>
            <a:ln w="6350" cap="flat" cmpd="sng" algn="ctr">
              <a:solidFill>
                <a:srgbClr val="FFFFFF">
                  <a:lumMod val="85000"/>
                </a:srgbClr>
              </a:solidFill>
              <a:prstDash val="solid"/>
              <a:miter lim="800000"/>
              <a:tailEnd type="none"/>
            </a:ln>
            <a:effectLst/>
          </p:spPr>
        </p:cxnSp>
        <p:cxnSp>
          <p:nvCxnSpPr>
            <p:cNvPr id="133" name="Straight Connector 132">
              <a:extLst>
                <a:ext uri="{FF2B5EF4-FFF2-40B4-BE49-F238E27FC236}">
                  <a16:creationId xmlns:a16="http://schemas.microsoft.com/office/drawing/2014/main" id="{F204CAEC-627A-00F0-0735-A7DEBBA8002C}"/>
                </a:ext>
              </a:extLst>
            </p:cNvPr>
            <p:cNvCxnSpPr>
              <a:cxnSpLocks/>
            </p:cNvCxnSpPr>
            <p:nvPr/>
          </p:nvCxnSpPr>
          <p:spPr>
            <a:xfrm>
              <a:off x="575226" y="3237014"/>
              <a:ext cx="5394960" cy="0"/>
            </a:xfrm>
            <a:prstGeom prst="line">
              <a:avLst/>
            </a:prstGeom>
            <a:noFill/>
            <a:ln w="6350" cap="flat" cmpd="sng" algn="ctr">
              <a:solidFill>
                <a:srgbClr val="FFFFFF">
                  <a:lumMod val="85000"/>
                </a:srgbClr>
              </a:solidFill>
              <a:prstDash val="solid"/>
              <a:miter lim="800000"/>
              <a:tailEnd type="none"/>
            </a:ln>
            <a:effectLst/>
          </p:spPr>
        </p:cxnSp>
        <p:cxnSp>
          <p:nvCxnSpPr>
            <p:cNvPr id="134" name="Straight Connector 133">
              <a:extLst>
                <a:ext uri="{FF2B5EF4-FFF2-40B4-BE49-F238E27FC236}">
                  <a16:creationId xmlns:a16="http://schemas.microsoft.com/office/drawing/2014/main" id="{6676ED96-02A4-C412-A767-153C25698F4B}"/>
                </a:ext>
              </a:extLst>
            </p:cNvPr>
            <p:cNvCxnSpPr>
              <a:cxnSpLocks/>
            </p:cNvCxnSpPr>
            <p:nvPr/>
          </p:nvCxnSpPr>
          <p:spPr>
            <a:xfrm>
              <a:off x="575226" y="2663214"/>
              <a:ext cx="5394960" cy="0"/>
            </a:xfrm>
            <a:prstGeom prst="line">
              <a:avLst/>
            </a:prstGeom>
            <a:noFill/>
            <a:ln w="6350" cap="flat" cmpd="sng" algn="ctr">
              <a:solidFill>
                <a:srgbClr val="FFFFFF">
                  <a:lumMod val="85000"/>
                </a:srgbClr>
              </a:solidFill>
              <a:prstDash val="solid"/>
              <a:miter lim="800000"/>
              <a:tailEnd type="none"/>
            </a:ln>
            <a:effectLst/>
          </p:spPr>
        </p:cxnSp>
        <p:sp>
          <p:nvSpPr>
            <p:cNvPr id="135" name="TextBox 134">
              <a:extLst>
                <a:ext uri="{FF2B5EF4-FFF2-40B4-BE49-F238E27FC236}">
                  <a16:creationId xmlns:a16="http://schemas.microsoft.com/office/drawing/2014/main" id="{B75A3319-C1E4-4C51-ED43-8163611ACAB7}"/>
                </a:ext>
              </a:extLst>
            </p:cNvPr>
            <p:cNvSpPr txBox="1"/>
            <p:nvPr/>
          </p:nvSpPr>
          <p:spPr>
            <a:xfrm>
              <a:off x="1102657" y="5567148"/>
              <a:ext cx="2867838" cy="338555"/>
            </a:xfrm>
            <a:prstGeom prst="rect">
              <a:avLst/>
            </a:prstGeom>
            <a:noFill/>
            <a:ln w="6350">
              <a:noFill/>
              <a:miter lim="800000"/>
            </a:ln>
          </p:spPr>
          <p:txBody>
            <a:bodyPr wrap="square" lIns="91440" tIns="45720" rIns="91440" bIns="45720">
              <a:spAutoFit/>
            </a:bodyPr>
            <a:lstStyle/>
            <a:p>
              <a:pPr defTabSz="2926007">
                <a:defRPr>
                  <a:solidFill>
                    <a:srgbClr val="1D1D1D"/>
                  </a:solidFill>
                </a:defRPr>
              </a:pPr>
              <a:r>
                <a:rPr lang="en-US" sz="700" kern="0" dirty="0">
                  <a:solidFill>
                    <a:srgbClr val="1D1D1D"/>
                  </a:solidFill>
                  <a:ea typeface="Lato" panose="020F0502020204030203" pitchFamily="34" charset="0"/>
                  <a:cs typeface="Arial" panose="020B0604020202020204" pitchFamily="34" charset="0"/>
                </a:rPr>
                <a:t>Proven organization builder with the ability to design, scale, and futureproof the finance function</a:t>
              </a:r>
            </a:p>
          </p:txBody>
        </p:sp>
      </p:grpSp>
      <p:sp>
        <p:nvSpPr>
          <p:cNvPr id="136" name="Rectangle: Rounded Corners 135">
            <a:extLst>
              <a:ext uri="{FF2B5EF4-FFF2-40B4-BE49-F238E27FC236}">
                <a16:creationId xmlns:a16="http://schemas.microsoft.com/office/drawing/2014/main" id="{E0E03F60-FC45-8938-DD08-165DA1F0C179}"/>
              </a:ext>
            </a:extLst>
          </p:cNvPr>
          <p:cNvSpPr/>
          <p:nvPr/>
        </p:nvSpPr>
        <p:spPr>
          <a:xfrm>
            <a:off x="1783505" y="959702"/>
            <a:ext cx="3226767" cy="321897"/>
          </a:xfrm>
          <a:prstGeom prst="roundRect">
            <a:avLst/>
          </a:prstGeom>
          <a:solidFill>
            <a:srgbClr val="281A42"/>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b="1" spc="-25">
                <a:solidFill>
                  <a:srgbClr val="FFFFFF"/>
                </a:solidFill>
                <a:latin typeface="Segoe UI" pitchFamily="34" charset="0"/>
              </a:defRPr>
            </a:pPr>
            <a:r>
              <a:rPr lang="en-US" sz="1600" b="1" kern="0" spc="-25" dirty="0">
                <a:solidFill>
                  <a:srgbClr val="FFFFFF"/>
                </a:solidFill>
                <a:latin typeface="Segoe UI" pitchFamily="34" charset="0"/>
                <a:cs typeface="Arial"/>
              </a:rPr>
              <a:t>Initial Assessment by ExCo</a:t>
            </a:r>
          </a:p>
        </p:txBody>
      </p:sp>
      <p:sp>
        <p:nvSpPr>
          <p:cNvPr id="137" name="Plus Sign 136">
            <a:extLst>
              <a:ext uri="{FF2B5EF4-FFF2-40B4-BE49-F238E27FC236}">
                <a16:creationId xmlns:a16="http://schemas.microsoft.com/office/drawing/2014/main" id="{ADCA9FFD-3B5C-8D3E-7726-CA965DA9BE08}"/>
              </a:ext>
            </a:extLst>
          </p:cNvPr>
          <p:cNvSpPr/>
          <p:nvPr/>
        </p:nvSpPr>
        <p:spPr>
          <a:xfrm>
            <a:off x="6223001" y="3331773"/>
            <a:ext cx="637412" cy="615671"/>
          </a:xfrm>
          <a:prstGeom prst="mathPlus">
            <a:avLst/>
          </a:prstGeom>
          <a:solidFill>
            <a:srgbClr val="281A42"/>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solidFill>
                  <a:srgbClr val="FFFFFF"/>
                </a:solidFill>
              </a:defRPr>
            </a:pPr>
            <a:endParaRPr lang="en-US" sz="1600" kern="0" spc="-10" dirty="0">
              <a:solidFill>
                <a:srgbClr val="FFFFFF"/>
              </a:solidFill>
              <a:latin typeface="Arial" pitchFamily="34" charset="0"/>
              <a:cs typeface="Arial" panose="020B0604020202020204" pitchFamily="34" charset="0"/>
            </a:endParaRPr>
          </a:p>
        </p:txBody>
      </p:sp>
      <p:sp>
        <p:nvSpPr>
          <p:cNvPr id="138" name="Oval 137">
            <a:extLst>
              <a:ext uri="{FF2B5EF4-FFF2-40B4-BE49-F238E27FC236}">
                <a16:creationId xmlns:a16="http://schemas.microsoft.com/office/drawing/2014/main" id="{BD9A22C4-E192-53D4-1866-9FE6648FFCC6}"/>
              </a:ext>
            </a:extLst>
          </p:cNvPr>
          <p:cNvSpPr/>
          <p:nvPr/>
        </p:nvSpPr>
        <p:spPr>
          <a:xfrm>
            <a:off x="7171509" y="4767912"/>
            <a:ext cx="1188720" cy="1188720"/>
          </a:xfrm>
          <a:prstGeom prst="ellipse">
            <a:avLst/>
          </a:prstGeom>
          <a:solidFill>
            <a:srgbClr val="FFFFFF">
              <a:lumMod val="95000"/>
            </a:srgbClr>
          </a:solidFill>
          <a:ln w="6350" cap="sq" cmpd="sng" algn="ctr">
            <a:solidFill>
              <a:srgbClr val="281A4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600" kern="0" spc="-10" dirty="0">
              <a:solidFill>
                <a:srgbClr val="1D1D1D"/>
              </a:solidFill>
              <a:latin typeface="Arial" pitchFamily="34" charset="0"/>
              <a:cs typeface="Arial" panose="020B0604020202020204" pitchFamily="34" charset="0"/>
            </a:endParaRPr>
          </a:p>
        </p:txBody>
      </p:sp>
      <p:sp>
        <p:nvSpPr>
          <p:cNvPr id="139" name="Oval 138">
            <a:extLst>
              <a:ext uri="{FF2B5EF4-FFF2-40B4-BE49-F238E27FC236}">
                <a16:creationId xmlns:a16="http://schemas.microsoft.com/office/drawing/2014/main" id="{BB268113-7279-DB69-C1AE-EF8FA516BD80}"/>
              </a:ext>
            </a:extLst>
          </p:cNvPr>
          <p:cNvSpPr/>
          <p:nvPr/>
        </p:nvSpPr>
        <p:spPr>
          <a:xfrm>
            <a:off x="7171509" y="3187585"/>
            <a:ext cx="1188720" cy="1188720"/>
          </a:xfrm>
          <a:prstGeom prst="ellipse">
            <a:avLst/>
          </a:prstGeom>
          <a:solidFill>
            <a:srgbClr val="FFFFFF">
              <a:lumMod val="95000"/>
            </a:srgbClr>
          </a:solidFill>
          <a:ln w="6350" cap="sq" cmpd="sng" algn="ctr">
            <a:solidFill>
              <a:srgbClr val="281A4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600" kern="0" spc="-10" dirty="0">
              <a:solidFill>
                <a:srgbClr val="1D1D1D"/>
              </a:solidFill>
              <a:latin typeface="Arial" pitchFamily="34" charset="0"/>
              <a:cs typeface="Arial" panose="020B0604020202020204" pitchFamily="34" charset="0"/>
            </a:endParaRPr>
          </a:p>
        </p:txBody>
      </p:sp>
      <p:sp>
        <p:nvSpPr>
          <p:cNvPr id="140" name="TextBox 139">
            <a:extLst>
              <a:ext uri="{FF2B5EF4-FFF2-40B4-BE49-F238E27FC236}">
                <a16:creationId xmlns:a16="http://schemas.microsoft.com/office/drawing/2014/main" id="{3C4DD605-C37D-CE8C-D46A-24F7C7605708}"/>
              </a:ext>
            </a:extLst>
          </p:cNvPr>
          <p:cNvSpPr txBox="1"/>
          <p:nvPr/>
        </p:nvSpPr>
        <p:spPr>
          <a:xfrm>
            <a:off x="8494863" y="5224588"/>
            <a:ext cx="3163189" cy="323851"/>
          </a:xfrm>
          <a:prstGeom prst="rect">
            <a:avLst/>
          </a:prstGeom>
          <a:ln w="6350">
            <a:noFill/>
            <a:miter lim="800000"/>
          </a:ln>
        </p:spPr>
        <p:txBody>
          <a:bodyPr vert="horz" wrap="none" lIns="0" tIns="0" rIns="0" bIns="0" rtlCol="0" anchor="ctr">
            <a:noAutofit/>
          </a:bodyPr>
          <a:lstStyle/>
          <a:p>
            <a:pPr defTabSz="914377">
              <a:spcBef>
                <a:spcPts val="300"/>
              </a:spcBef>
              <a:spcAft>
                <a:spcPts val="300"/>
              </a:spcAft>
            </a:pPr>
            <a:r>
              <a:rPr lang="en-US" sz="1600" b="1" dirty="0">
                <a:solidFill>
                  <a:srgbClr val="3B3B3B"/>
                </a:solidFill>
                <a:cs typeface="Arial" panose="020B0604020202020204" pitchFamily="34" charset="0"/>
              </a:rPr>
              <a:t>Prior performance feedback</a:t>
            </a:r>
          </a:p>
        </p:txBody>
      </p:sp>
      <p:sp>
        <p:nvSpPr>
          <p:cNvPr id="141" name="TextBox 140">
            <a:extLst>
              <a:ext uri="{FF2B5EF4-FFF2-40B4-BE49-F238E27FC236}">
                <a16:creationId xmlns:a16="http://schemas.microsoft.com/office/drawing/2014/main" id="{FBA9D5F0-CEB0-EDE3-DA44-D0C8671D75D4}"/>
              </a:ext>
            </a:extLst>
          </p:cNvPr>
          <p:cNvSpPr txBox="1"/>
          <p:nvPr/>
        </p:nvSpPr>
        <p:spPr>
          <a:xfrm>
            <a:off x="8494863" y="3660048"/>
            <a:ext cx="3163189" cy="323851"/>
          </a:xfrm>
          <a:prstGeom prst="rect">
            <a:avLst/>
          </a:prstGeom>
          <a:ln w="6350">
            <a:noFill/>
            <a:miter lim="800000"/>
          </a:ln>
        </p:spPr>
        <p:txBody>
          <a:bodyPr vert="horz" wrap="none" lIns="0" tIns="0" rIns="0" bIns="0" rtlCol="0" anchor="ctr">
            <a:noAutofit/>
          </a:bodyPr>
          <a:lstStyle/>
          <a:p>
            <a:pPr defTabSz="914377">
              <a:spcBef>
                <a:spcPts val="300"/>
              </a:spcBef>
              <a:spcAft>
                <a:spcPts val="300"/>
              </a:spcAft>
            </a:pPr>
            <a:r>
              <a:rPr lang="en-US" sz="1600" b="1" dirty="0">
                <a:solidFill>
                  <a:srgbClr val="3B3B3B"/>
                </a:solidFill>
                <a:cs typeface="Arial" panose="020B0604020202020204" pitchFamily="34" charset="0"/>
              </a:rPr>
              <a:t>Hogan Personality Inventory &amp; </a:t>
            </a:r>
            <a:br>
              <a:rPr lang="en-US" sz="1600" b="1" dirty="0">
                <a:solidFill>
                  <a:srgbClr val="3B3B3B"/>
                </a:solidFill>
                <a:cs typeface="Arial" panose="020B0604020202020204" pitchFamily="34" charset="0"/>
              </a:rPr>
            </a:br>
            <a:r>
              <a:rPr lang="en-US" sz="1600" b="1" dirty="0">
                <a:solidFill>
                  <a:srgbClr val="3B3B3B"/>
                </a:solidFill>
                <a:cs typeface="Arial" panose="020B0604020202020204" pitchFamily="34" charset="0"/>
              </a:rPr>
              <a:t>Active Learning / Active Leading </a:t>
            </a:r>
            <a:br>
              <a:rPr lang="en-US" sz="1600" b="1" dirty="0">
                <a:solidFill>
                  <a:srgbClr val="3B3B3B"/>
                </a:solidFill>
                <a:cs typeface="Arial" panose="020B0604020202020204" pitchFamily="34" charset="0"/>
              </a:rPr>
            </a:br>
            <a:r>
              <a:rPr lang="en-US" sz="1600" b="1" dirty="0">
                <a:solidFill>
                  <a:srgbClr val="3B3B3B"/>
                </a:solidFill>
                <a:cs typeface="Arial" panose="020B0604020202020204" pitchFamily="34" charset="0"/>
              </a:rPr>
              <a:t>assessment</a:t>
            </a:r>
          </a:p>
        </p:txBody>
      </p:sp>
      <p:pic>
        <p:nvPicPr>
          <p:cNvPr id="142" name="Picture 141">
            <a:extLst>
              <a:ext uri="{FF2B5EF4-FFF2-40B4-BE49-F238E27FC236}">
                <a16:creationId xmlns:a16="http://schemas.microsoft.com/office/drawing/2014/main" id="{22BFC991-D331-5C2E-1A35-76FFF1EE9292}"/>
              </a:ext>
            </a:extLst>
          </p:cNvPr>
          <p:cNvPicPr>
            <a:picLocks noChangeAspect="1"/>
          </p:cNvPicPr>
          <p:nvPr/>
        </p:nvPicPr>
        <p:blipFill>
          <a:blip r:embed="rId3">
            <a:duotone>
              <a:srgbClr val="765FFF"/>
              <a:srgbClr val="FFFFFF"/>
            </a:duotone>
          </a:blip>
          <a:stretch>
            <a:fillRect/>
          </a:stretch>
        </p:blipFill>
        <p:spPr>
          <a:xfrm>
            <a:off x="7308914" y="4905315"/>
            <a:ext cx="913911" cy="913911"/>
          </a:xfrm>
          <a:prstGeom prst="rect">
            <a:avLst/>
          </a:prstGeom>
        </p:spPr>
      </p:pic>
      <p:sp>
        <p:nvSpPr>
          <p:cNvPr id="144" name="Oval 143">
            <a:extLst>
              <a:ext uri="{FF2B5EF4-FFF2-40B4-BE49-F238E27FC236}">
                <a16:creationId xmlns:a16="http://schemas.microsoft.com/office/drawing/2014/main" id="{2205C879-5517-ED77-688D-91265796C0F3}"/>
              </a:ext>
            </a:extLst>
          </p:cNvPr>
          <p:cNvSpPr/>
          <p:nvPr/>
        </p:nvSpPr>
        <p:spPr>
          <a:xfrm>
            <a:off x="7171509" y="1617248"/>
            <a:ext cx="1188720" cy="1188720"/>
          </a:xfrm>
          <a:prstGeom prst="ellipse">
            <a:avLst/>
          </a:prstGeom>
          <a:solidFill>
            <a:srgbClr val="FFFFFF">
              <a:lumMod val="95000"/>
            </a:srgbClr>
          </a:solidFill>
          <a:ln w="6350" cap="sq" cmpd="sng" algn="ctr">
            <a:solidFill>
              <a:srgbClr val="281A42"/>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a:pPr>
            <a:endParaRPr lang="en-US" sz="1600" kern="0" spc="-10" dirty="0">
              <a:solidFill>
                <a:srgbClr val="1D1D1D"/>
              </a:solidFill>
              <a:latin typeface="Arial" pitchFamily="34" charset="0"/>
              <a:cs typeface="Arial" panose="020B0604020202020204" pitchFamily="34" charset="0"/>
            </a:endParaRPr>
          </a:p>
        </p:txBody>
      </p:sp>
      <p:sp>
        <p:nvSpPr>
          <p:cNvPr id="145" name="TextBox 144">
            <a:extLst>
              <a:ext uri="{FF2B5EF4-FFF2-40B4-BE49-F238E27FC236}">
                <a16:creationId xmlns:a16="http://schemas.microsoft.com/office/drawing/2014/main" id="{CE0D1738-DC69-BAF8-2ECD-C10B84023D75}"/>
              </a:ext>
            </a:extLst>
          </p:cNvPr>
          <p:cNvSpPr txBox="1"/>
          <p:nvPr/>
        </p:nvSpPr>
        <p:spPr>
          <a:xfrm>
            <a:off x="8494863" y="1909283"/>
            <a:ext cx="3163189" cy="631096"/>
          </a:xfrm>
          <a:prstGeom prst="rect">
            <a:avLst/>
          </a:prstGeom>
          <a:ln w="6350">
            <a:noFill/>
            <a:miter lim="800000"/>
          </a:ln>
        </p:spPr>
        <p:txBody>
          <a:bodyPr vert="horz" wrap="none" lIns="0" tIns="0" rIns="0" bIns="0" rtlCol="0" anchor="ctr">
            <a:noAutofit/>
          </a:bodyPr>
          <a:lstStyle/>
          <a:p>
            <a:pPr defTabSz="914377">
              <a:spcBef>
                <a:spcPts val="300"/>
              </a:spcBef>
              <a:spcAft>
                <a:spcPts val="300"/>
              </a:spcAft>
            </a:pPr>
            <a:r>
              <a:rPr lang="en-US" sz="1600" b="1" dirty="0">
                <a:solidFill>
                  <a:srgbClr val="3B3B3B"/>
                </a:solidFill>
                <a:cs typeface="Arial" panose="020B0604020202020204" pitchFamily="34" charset="0"/>
              </a:rPr>
              <a:t>Structured interview by external </a:t>
            </a:r>
            <a:br>
              <a:rPr lang="en-US" sz="1600" b="1" dirty="0">
                <a:solidFill>
                  <a:srgbClr val="3B3B3B"/>
                </a:solidFill>
                <a:cs typeface="Arial" panose="020B0604020202020204" pitchFamily="34" charset="0"/>
              </a:rPr>
            </a:br>
            <a:r>
              <a:rPr lang="en-US" sz="1600" b="1" dirty="0">
                <a:solidFill>
                  <a:srgbClr val="3B3B3B"/>
                </a:solidFill>
                <a:cs typeface="Arial" panose="020B0604020202020204" pitchFamily="34" charset="0"/>
              </a:rPr>
              <a:t>partner</a:t>
            </a:r>
          </a:p>
        </p:txBody>
      </p:sp>
      <p:pic>
        <p:nvPicPr>
          <p:cNvPr id="146" name="Picture 145">
            <a:extLst>
              <a:ext uri="{FF2B5EF4-FFF2-40B4-BE49-F238E27FC236}">
                <a16:creationId xmlns:a16="http://schemas.microsoft.com/office/drawing/2014/main" id="{C6F49CDB-9102-E563-0EF5-F8BB070B4FAD}"/>
              </a:ext>
            </a:extLst>
          </p:cNvPr>
          <p:cNvPicPr>
            <a:picLocks noChangeAspect="1"/>
          </p:cNvPicPr>
          <p:nvPr/>
        </p:nvPicPr>
        <p:blipFill>
          <a:blip r:embed="rId4">
            <a:duotone>
              <a:srgbClr val="765FFF"/>
              <a:srgbClr val="FFFFFF"/>
            </a:duotone>
          </a:blip>
          <a:stretch>
            <a:fillRect/>
          </a:stretch>
        </p:blipFill>
        <p:spPr>
          <a:xfrm>
            <a:off x="7246612" y="1722875"/>
            <a:ext cx="1038515" cy="1038515"/>
          </a:xfrm>
          <a:prstGeom prst="rect">
            <a:avLst/>
          </a:prstGeom>
        </p:spPr>
      </p:pic>
      <p:sp>
        <p:nvSpPr>
          <p:cNvPr id="147" name="Rectangle: Rounded Corners 146">
            <a:extLst>
              <a:ext uri="{FF2B5EF4-FFF2-40B4-BE49-F238E27FC236}">
                <a16:creationId xmlns:a16="http://schemas.microsoft.com/office/drawing/2014/main" id="{D17B4472-80A3-5516-397E-A219870DED72}"/>
              </a:ext>
            </a:extLst>
          </p:cNvPr>
          <p:cNvSpPr/>
          <p:nvPr/>
        </p:nvSpPr>
        <p:spPr>
          <a:xfrm>
            <a:off x="8233289" y="959702"/>
            <a:ext cx="3226767" cy="321897"/>
          </a:xfrm>
          <a:prstGeom prst="roundRect">
            <a:avLst/>
          </a:prstGeom>
          <a:solidFill>
            <a:srgbClr val="281A42"/>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14377">
              <a:spcBef>
                <a:spcPts val="300"/>
              </a:spcBef>
              <a:spcAft>
                <a:spcPts val="300"/>
              </a:spcAft>
              <a:defRPr b="1" spc="-25">
                <a:solidFill>
                  <a:srgbClr val="FFFFFF"/>
                </a:solidFill>
                <a:latin typeface="Segoe UI" pitchFamily="34" charset="0"/>
              </a:defRPr>
            </a:pPr>
            <a:r>
              <a:rPr lang="en-US" sz="1600" b="1" kern="0" spc="-25" dirty="0">
                <a:solidFill>
                  <a:srgbClr val="FFFFFF"/>
                </a:solidFill>
                <a:latin typeface="Segoe UI" pitchFamily="34" charset="0"/>
                <a:cs typeface="Arial"/>
              </a:rPr>
              <a:t>Validated Assessment</a:t>
            </a:r>
            <a:endParaRPr lang="en-US" sz="2400" b="1" kern="0" spc="-25" dirty="0">
              <a:solidFill>
                <a:srgbClr val="FFFFFF"/>
              </a:solidFill>
              <a:latin typeface="Segoe UI" pitchFamily="34" charset="0"/>
            </a:endParaRPr>
          </a:p>
        </p:txBody>
      </p:sp>
      <p:pic>
        <p:nvPicPr>
          <p:cNvPr id="148" name="Picture 147">
            <a:extLst>
              <a:ext uri="{FF2B5EF4-FFF2-40B4-BE49-F238E27FC236}">
                <a16:creationId xmlns:a16="http://schemas.microsoft.com/office/drawing/2014/main" id="{608FDD88-CD34-A3B6-315B-D08F5956EC14}"/>
              </a:ext>
            </a:extLst>
          </p:cNvPr>
          <p:cNvPicPr>
            <a:picLocks noChangeAspect="1"/>
          </p:cNvPicPr>
          <p:nvPr/>
        </p:nvPicPr>
        <p:blipFill>
          <a:blip r:embed="rId5">
            <a:duotone>
              <a:srgbClr val="765FFF"/>
              <a:srgbClr val="FFFFFF"/>
            </a:duotone>
          </a:blip>
          <a:stretch>
            <a:fillRect/>
          </a:stretch>
        </p:blipFill>
        <p:spPr>
          <a:xfrm>
            <a:off x="7105527" y="3109647"/>
            <a:ext cx="1343999" cy="1343999"/>
          </a:xfrm>
          <a:prstGeom prst="rect">
            <a:avLst/>
          </a:prstGeom>
        </p:spPr>
      </p:pic>
      <p:sp>
        <p:nvSpPr>
          <p:cNvPr id="4" name="TextBox 3">
            <a:extLst>
              <a:ext uri="{FF2B5EF4-FFF2-40B4-BE49-F238E27FC236}">
                <a16:creationId xmlns:a16="http://schemas.microsoft.com/office/drawing/2014/main" id="{F899BE08-C71D-5ECC-0492-BF8EB9AF9A59}"/>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149" name="SubtitleSplit"/>
          <p:cNvSpPr>
            <a:spLocks noGrp="1"/>
          </p:cNvSpPr>
          <p:nvPr>
            <p:ph type="subTitle" idx="1"/>
          </p:nvPr>
        </p:nvSpPr>
        <p:spPr>
          <a:noFill/>
        </p:spPr>
        <p:txBody>
          <a:bodyPr/>
          <a:lstStyle/>
          <a:p>
            <a:r>
              <a:t>Future JTBDs</a:t>
            </a:r>
            <a:endParaRPr lang="en-US" b="0" spc="-10">
              <a:latin typeface="Segoe UI" pitchFamily="34" charset="0"/>
            </a:endParaRPr>
          </a:p>
        </p:txBody>
      </p:sp>
      <p:sp>
        <p:nvSpPr>
          <p:cNvPr id="150"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DE184AC5-E1B8-4355-B13B-A77BAB0E7B75}" type="slidenum">
              <a:t>39</a:t>
            </a:fld>
            <a:endParaRPr lang="en-US"/>
          </a:p>
        </p:txBody>
      </p:sp>
    </p:spTree>
    <p:extLst>
      <p:ext uri="{BB962C8B-B14F-4D97-AF65-F5344CB8AC3E}">
        <p14:creationId xmlns:p14="http://schemas.microsoft.com/office/powerpoint/2010/main" val="3139221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760AB-9E00-EC0D-7DCC-7844B1BE2C7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43C1725-BF37-FA64-1F7E-C3DCB759317C}"/>
              </a:ext>
            </a:extLst>
          </p:cNvPr>
          <p:cNvSpPr>
            <a:spLocks noGrp="1"/>
          </p:cNvSpPr>
          <p:nvPr>
            <p:ph type="title" sz="quarter"/>
          </p:nvPr>
        </p:nvSpPr>
        <p:spPr/>
        <p:txBody>
          <a:bodyPr/>
          <a:lstStyle/>
          <a:p>
            <a:pPr defTabSz="914332">
              <a:lnSpc>
                <a:spcPct val="100000"/>
              </a:lnSpc>
              <a:spcBef>
                <a:spcPts val="0"/>
              </a:spcBef>
              <a:buNone/>
            </a:pPr>
            <a:r>
              <a:rPr lang="en-GB" spc="0" dirty="0">
                <a:latin typeface="+mn-lt"/>
                <a:ea typeface="Lato"/>
                <a:cs typeface="Lato"/>
              </a:rPr>
              <a:t>Activate Meaningful Development Plans and Manage Talent Risks</a:t>
            </a:r>
            <a:endParaRPr lang="en-US" spc="0" dirty="0">
              <a:latin typeface="+mn-lt"/>
              <a:ea typeface="Lato"/>
              <a:cs typeface="Lato"/>
            </a:endParaRPr>
          </a:p>
        </p:txBody>
      </p:sp>
      <p:sp>
        <p:nvSpPr>
          <p:cNvPr id="13" name="Rectangle: Rounded Corners 12">
            <a:extLst>
              <a:ext uri="{FF2B5EF4-FFF2-40B4-BE49-F238E27FC236}">
                <a16:creationId xmlns:a16="http://schemas.microsoft.com/office/drawing/2014/main" id="{E226FDD5-50E2-DCD7-17B2-E7FF55C96A4E}"/>
              </a:ext>
            </a:extLst>
          </p:cNvPr>
          <p:cNvSpPr/>
          <p:nvPr/>
        </p:nvSpPr>
        <p:spPr>
          <a:xfrm>
            <a:off x="1057432" y="1577368"/>
            <a:ext cx="4556301" cy="774701"/>
          </a:xfrm>
          <a:prstGeom prst="roundRect">
            <a:avLst/>
          </a:prstGeom>
          <a:solidFill>
            <a:srgbClr val="FFFFFF">
              <a:lumMod val="95000"/>
            </a:srgbClr>
          </a:solidFill>
          <a:ln w="9525" cap="sq" cmpd="sng" algn="ctr">
            <a:solidFill>
              <a:srgbClr val="281A42"/>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spcBef>
                <a:spcPts val="400"/>
              </a:spcBef>
              <a:spcAft>
                <a:spcPts val="400"/>
              </a:spcAft>
              <a:defRPr/>
            </a:pPr>
            <a:r>
              <a:rPr lang="en-US" sz="1600" b="1" kern="0" spc="-10" dirty="0">
                <a:solidFill>
                  <a:srgbClr val="3B3B3B"/>
                </a:solidFill>
                <a:latin typeface="Segoe UI" pitchFamily="34" charset="0"/>
                <a:cs typeface="Arial"/>
              </a:rPr>
              <a:t>Detailed assessment</a:t>
            </a:r>
            <a:br>
              <a:rPr lang="en-US" sz="1600" b="1" kern="0" spc="-10" dirty="0">
                <a:solidFill>
                  <a:srgbClr val="3B3B3B"/>
                </a:solidFill>
                <a:latin typeface="Segoe UI" pitchFamily="34" charset="0"/>
                <a:cs typeface="Arial"/>
              </a:rPr>
            </a:br>
            <a:r>
              <a:rPr lang="en-US" sz="1600" b="1" kern="0" spc="-10" dirty="0">
                <a:solidFill>
                  <a:srgbClr val="3B3B3B"/>
                </a:solidFill>
                <a:latin typeface="Segoe UI" pitchFamily="34" charset="0"/>
                <a:cs typeface="Arial"/>
              </a:rPr>
              <a:t>of candidate readiness</a:t>
            </a:r>
          </a:p>
        </p:txBody>
      </p:sp>
      <p:sp>
        <p:nvSpPr>
          <p:cNvPr id="14" name="Rectangle: Rounded Corners 13">
            <a:extLst>
              <a:ext uri="{FF2B5EF4-FFF2-40B4-BE49-F238E27FC236}">
                <a16:creationId xmlns:a16="http://schemas.microsoft.com/office/drawing/2014/main" id="{9F6DFCF8-4CD0-BC3D-6B6E-FDBF235C0840}"/>
              </a:ext>
            </a:extLst>
          </p:cNvPr>
          <p:cNvSpPr/>
          <p:nvPr/>
        </p:nvSpPr>
        <p:spPr>
          <a:xfrm>
            <a:off x="6767126" y="1577368"/>
            <a:ext cx="4556301" cy="774699"/>
          </a:xfrm>
          <a:prstGeom prst="roundRect">
            <a:avLst/>
          </a:prstGeom>
          <a:solidFill>
            <a:srgbClr val="FFFFFF">
              <a:lumMod val="95000"/>
            </a:srgbClr>
          </a:solidFill>
          <a:ln w="9525" cap="sq" cmpd="sng" algn="ctr">
            <a:solidFill>
              <a:srgbClr val="281A42"/>
            </a:solid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spcBef>
                <a:spcPts val="400"/>
              </a:spcBef>
              <a:spcAft>
                <a:spcPts val="400"/>
              </a:spcAft>
              <a:defRPr/>
            </a:pPr>
            <a:r>
              <a:rPr lang="en-US" sz="1600" b="1" kern="0" spc="-10" dirty="0">
                <a:solidFill>
                  <a:srgbClr val="3B3B3B"/>
                </a:solidFill>
                <a:latin typeface="Segoe UI" pitchFamily="34" charset="0"/>
                <a:cs typeface="Arial"/>
              </a:rPr>
              <a:t>Development plans for candidates anchored in Jobs to be Done readiness</a:t>
            </a:r>
          </a:p>
        </p:txBody>
      </p:sp>
      <p:sp>
        <p:nvSpPr>
          <p:cNvPr id="15" name="Trapezoid 14">
            <a:extLst>
              <a:ext uri="{FF2B5EF4-FFF2-40B4-BE49-F238E27FC236}">
                <a16:creationId xmlns:a16="http://schemas.microsoft.com/office/drawing/2014/main" id="{87E3C59D-FDFC-59D5-1614-C2CA6E56C010}"/>
              </a:ext>
            </a:extLst>
          </p:cNvPr>
          <p:cNvSpPr/>
          <p:nvPr/>
        </p:nvSpPr>
        <p:spPr>
          <a:xfrm rot="5280000">
            <a:off x="5985788" y="3235200"/>
            <a:ext cx="529005" cy="244805"/>
          </a:xfrm>
          <a:prstGeom prst="trapezoid">
            <a:avLst>
              <a:gd name="adj" fmla="val 429621"/>
            </a:avLst>
          </a:prstGeom>
          <a:solidFill>
            <a:srgbClr val="3B3B3B">
              <a:lumMod val="20000"/>
              <a:lumOff val="80000"/>
            </a:srgbClr>
          </a:solidFill>
          <a:ln w="12700" cap="flat" cmpd="sng" algn="ctr">
            <a:noFill/>
            <a:prstDash val="solid"/>
            <a:miter lim="800000"/>
          </a:ln>
          <a:effectLst/>
        </p:spPr>
        <p:txBody>
          <a:bodyPr lIns="91440" tIns="45720" rIns="91440" bIns="45720" rtlCol="0" anchor="ctr"/>
          <a:lstStyle/>
          <a:p>
            <a:pPr algn="ctr" defTabSz="914377">
              <a:defRPr>
                <a:solidFill>
                  <a:srgbClr val="FFFFFF"/>
                </a:solidFill>
              </a:defRPr>
            </a:pPr>
            <a:endParaRPr lang="en-US" kern="0" dirty="0">
              <a:solidFill>
                <a:srgbClr val="FFFFFF"/>
              </a:solidFill>
              <a:ea typeface="Roboto" panose="02000000000000000000" pitchFamily="2" charset="0"/>
              <a:cs typeface="Arial" panose="020B0604020202020204" pitchFamily="34" charset="0"/>
            </a:endParaRPr>
          </a:p>
        </p:txBody>
      </p:sp>
      <p:grpSp>
        <p:nvGrpSpPr>
          <p:cNvPr id="16" name="Group 15">
            <a:extLst>
              <a:ext uri="{FF2B5EF4-FFF2-40B4-BE49-F238E27FC236}">
                <a16:creationId xmlns:a16="http://schemas.microsoft.com/office/drawing/2014/main" id="{56C371F6-622F-ECE0-4E13-FD8BDF32DB07}"/>
              </a:ext>
            </a:extLst>
          </p:cNvPr>
          <p:cNvGrpSpPr/>
          <p:nvPr/>
        </p:nvGrpSpPr>
        <p:grpSpPr>
          <a:xfrm>
            <a:off x="876173" y="2436181"/>
            <a:ext cx="4842673" cy="2747751"/>
            <a:chOff x="672369" y="2007135"/>
            <a:chExt cx="3632005" cy="2060813"/>
          </a:xfrm>
        </p:grpSpPr>
        <p:pic>
          <p:nvPicPr>
            <p:cNvPr id="17" name="Picture 16">
              <a:extLst>
                <a:ext uri="{FF2B5EF4-FFF2-40B4-BE49-F238E27FC236}">
                  <a16:creationId xmlns:a16="http://schemas.microsoft.com/office/drawing/2014/main" id="{11BBEC87-E27B-7318-30F0-2F6D962BA8F3}"/>
                </a:ext>
              </a:extLst>
            </p:cNvPr>
            <p:cNvPicPr>
              <a:picLocks noChangeAspect="1"/>
            </p:cNvPicPr>
            <p:nvPr/>
          </p:nvPicPr>
          <p:blipFill>
            <a:blip r:embed="rId3">
              <a:duotone>
                <a:srgbClr val="765FFF"/>
                <a:srgbClr val="FFFFFF"/>
              </a:duotone>
            </a:blip>
            <a:srcRect/>
            <a:stretch/>
          </p:blipFill>
          <p:spPr>
            <a:xfrm>
              <a:off x="672369" y="2007135"/>
              <a:ext cx="3632005" cy="2060813"/>
            </a:xfrm>
            <a:prstGeom prst="rect">
              <a:avLst/>
            </a:prstGeom>
            <a:effectLst>
              <a:outerShdw blurRad="50800" dist="38100" dir="2700000" algn="tl" rotWithShape="0">
                <a:prstClr val="black">
                  <a:alpha val="40000"/>
                </a:prstClr>
              </a:outerShdw>
            </a:effectLst>
          </p:spPr>
        </p:pic>
        <p:sp>
          <p:nvSpPr>
            <p:cNvPr id="18" name="Rectangle 17">
              <a:extLst>
                <a:ext uri="{FF2B5EF4-FFF2-40B4-BE49-F238E27FC236}">
                  <a16:creationId xmlns:a16="http://schemas.microsoft.com/office/drawing/2014/main" id="{AE535FB1-4D46-3B53-60EB-94F4618A7055}"/>
                </a:ext>
              </a:extLst>
            </p:cNvPr>
            <p:cNvSpPr/>
            <p:nvPr/>
          </p:nvSpPr>
          <p:spPr>
            <a:xfrm>
              <a:off x="1687551" y="3858322"/>
              <a:ext cx="1791629" cy="189803"/>
            </a:xfrm>
            <a:prstGeom prst="rect">
              <a:avLst/>
            </a:prstGeom>
            <a:solidFill>
              <a:srgbClr val="FFFFFF"/>
            </a:solidFill>
            <a:ln w="6350" cap="sq"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spcBef>
                  <a:spcPts val="400"/>
                </a:spcBef>
                <a:spcAft>
                  <a:spcPts val="400"/>
                </a:spcAft>
                <a:defRPr/>
              </a:pPr>
              <a:endParaRPr lang="en-US" sz="2133" kern="0" spc="-10" dirty="0">
                <a:solidFill>
                  <a:srgbClr val="1D1D1D"/>
                </a:solidFill>
                <a:latin typeface="Arial" pitchFamily="34" charset="0"/>
              </a:endParaRPr>
            </a:p>
          </p:txBody>
        </p:sp>
      </p:grpSp>
      <p:grpSp>
        <p:nvGrpSpPr>
          <p:cNvPr id="20" name="Group 19">
            <a:extLst>
              <a:ext uri="{FF2B5EF4-FFF2-40B4-BE49-F238E27FC236}">
                <a16:creationId xmlns:a16="http://schemas.microsoft.com/office/drawing/2014/main" id="{17558880-2F5F-9F7F-CA2C-877F1E0694F9}"/>
              </a:ext>
            </a:extLst>
          </p:cNvPr>
          <p:cNvGrpSpPr/>
          <p:nvPr/>
        </p:nvGrpSpPr>
        <p:grpSpPr>
          <a:xfrm>
            <a:off x="6781736" y="2436179"/>
            <a:ext cx="4541691" cy="2747751"/>
            <a:chOff x="5101542" y="2007134"/>
            <a:chExt cx="3406268" cy="2060813"/>
          </a:xfrm>
        </p:grpSpPr>
        <p:pic>
          <p:nvPicPr>
            <p:cNvPr id="21" name="Picture 20">
              <a:extLst>
                <a:ext uri="{FF2B5EF4-FFF2-40B4-BE49-F238E27FC236}">
                  <a16:creationId xmlns:a16="http://schemas.microsoft.com/office/drawing/2014/main" id="{0931515A-0CAE-4009-B9A9-BBFDAED1F8F0}"/>
                </a:ext>
              </a:extLst>
            </p:cNvPr>
            <p:cNvPicPr>
              <a:picLocks noChangeAspect="1"/>
            </p:cNvPicPr>
            <p:nvPr/>
          </p:nvPicPr>
          <p:blipFill>
            <a:blip r:embed="rId4">
              <a:duotone>
                <a:srgbClr val="765FFF"/>
                <a:srgbClr val="FFFFFF"/>
              </a:duotone>
            </a:blip>
            <a:stretch>
              <a:fillRect/>
            </a:stretch>
          </p:blipFill>
          <p:spPr>
            <a:xfrm>
              <a:off x="5101542" y="2007134"/>
              <a:ext cx="3406268" cy="2060813"/>
            </a:xfrm>
            <a:prstGeom prst="rect">
              <a:avLst/>
            </a:prstGeom>
            <a:effectLst>
              <a:outerShdw blurRad="50800" dist="38100" dir="2700000" algn="tl" rotWithShape="0">
                <a:prstClr val="black">
                  <a:alpha val="40000"/>
                </a:prstClr>
              </a:outerShdw>
            </a:effectLst>
          </p:spPr>
        </p:pic>
        <p:sp>
          <p:nvSpPr>
            <p:cNvPr id="25" name="Rectangle 24">
              <a:extLst>
                <a:ext uri="{FF2B5EF4-FFF2-40B4-BE49-F238E27FC236}">
                  <a16:creationId xmlns:a16="http://schemas.microsoft.com/office/drawing/2014/main" id="{1256A1E8-FA7D-73DB-A491-7E42EB376CF0}"/>
                </a:ext>
              </a:extLst>
            </p:cNvPr>
            <p:cNvSpPr/>
            <p:nvPr/>
          </p:nvSpPr>
          <p:spPr>
            <a:xfrm>
              <a:off x="5973336" y="3859791"/>
              <a:ext cx="1791629" cy="189803"/>
            </a:xfrm>
            <a:prstGeom prst="rect">
              <a:avLst/>
            </a:prstGeom>
            <a:solidFill>
              <a:srgbClr val="FFFFFF"/>
            </a:solidFill>
            <a:ln w="6350" cap="sq" cmpd="sng" algn="ctr">
              <a:noFill/>
              <a:prstDash val="solid"/>
              <a:miter lim="800000"/>
            </a:ln>
            <a:effectLst/>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defTabSz="1219170">
                <a:spcBef>
                  <a:spcPts val="400"/>
                </a:spcBef>
                <a:spcAft>
                  <a:spcPts val="400"/>
                </a:spcAft>
                <a:defRPr/>
              </a:pPr>
              <a:endParaRPr lang="en-US" sz="2133" kern="0" spc="-10" dirty="0">
                <a:solidFill>
                  <a:srgbClr val="1D1D1D"/>
                </a:solidFill>
                <a:latin typeface="Arial" pitchFamily="34" charset="0"/>
              </a:endParaRPr>
            </a:p>
          </p:txBody>
        </p:sp>
      </p:grpSp>
      <p:sp>
        <p:nvSpPr>
          <p:cNvPr id="4" name="TextBox 3">
            <a:extLst>
              <a:ext uri="{FF2B5EF4-FFF2-40B4-BE49-F238E27FC236}">
                <a16:creationId xmlns:a16="http://schemas.microsoft.com/office/drawing/2014/main" id="{5C0E96D8-C553-3C4B-65BF-F3969F880393}"/>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27"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B46A62CC-4866-4679-8DEF-6F31D5CFF117}" type="slidenum">
              <a:t>40</a:t>
            </a:fld>
            <a:endParaRPr lang="en-US"/>
          </a:p>
        </p:txBody>
      </p:sp>
    </p:spTree>
    <p:extLst>
      <p:ext uri="{BB962C8B-B14F-4D97-AF65-F5344CB8AC3E}">
        <p14:creationId xmlns:p14="http://schemas.microsoft.com/office/powerpoint/2010/main" val="4158830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863E0-1DAF-DE54-379A-3704F9778B6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3ECCF5E-337C-BDFB-4DD3-2FD88C05FA59}"/>
              </a:ext>
            </a:extLst>
          </p:cNvPr>
          <p:cNvSpPr>
            <a:spLocks noGrp="1"/>
          </p:cNvSpPr>
          <p:nvPr>
            <p:ph type="title" sz="quarter"/>
          </p:nvPr>
        </p:nvSpPr>
        <p:spPr/>
        <p:txBody>
          <a:bodyPr/>
          <a:lstStyle/>
          <a:p>
            <a:pPr defTabSz="914332">
              <a:lnSpc>
                <a:spcPct val="100000"/>
              </a:lnSpc>
              <a:spcBef>
                <a:spcPts val="0"/>
              </a:spcBef>
              <a:buNone/>
            </a:pPr>
            <a:r>
              <a:rPr lang="en-GB" spc="0" dirty="0">
                <a:latin typeface="+mn-lt"/>
                <a:ea typeface="Lato"/>
                <a:cs typeface="Lato"/>
              </a:rPr>
              <a:t>Mobilization Plan to Cultivate Succession Pipeline</a:t>
            </a:r>
            <a:endParaRPr lang="en-US" spc="0" dirty="0">
              <a:latin typeface="+mn-lt"/>
              <a:ea typeface="Lato"/>
              <a:cs typeface="Lato"/>
            </a:endParaRPr>
          </a:p>
        </p:txBody>
      </p:sp>
      <p:grpSp>
        <p:nvGrpSpPr>
          <p:cNvPr id="4" name="Group 3">
            <a:extLst>
              <a:ext uri="{FF2B5EF4-FFF2-40B4-BE49-F238E27FC236}">
                <a16:creationId xmlns:a16="http://schemas.microsoft.com/office/drawing/2014/main" id="{3B90A2F5-A546-D76B-0B1E-CEC94362C54E}"/>
              </a:ext>
            </a:extLst>
          </p:cNvPr>
          <p:cNvGrpSpPr/>
          <p:nvPr/>
        </p:nvGrpSpPr>
        <p:grpSpPr>
          <a:xfrm>
            <a:off x="987749" y="1276051"/>
            <a:ext cx="10408980" cy="4569523"/>
            <a:chOff x="740811" y="957038"/>
            <a:chExt cx="7806735" cy="3427142"/>
          </a:xfrm>
        </p:grpSpPr>
        <p:grpSp>
          <p:nvGrpSpPr>
            <p:cNvPr id="5" name="Group 4">
              <a:extLst>
                <a:ext uri="{FF2B5EF4-FFF2-40B4-BE49-F238E27FC236}">
                  <a16:creationId xmlns:a16="http://schemas.microsoft.com/office/drawing/2014/main" id="{FB09991E-144D-AE4A-10E9-06FCBFF2E6E0}"/>
                </a:ext>
              </a:extLst>
            </p:cNvPr>
            <p:cNvGrpSpPr/>
            <p:nvPr/>
          </p:nvGrpSpPr>
          <p:grpSpPr>
            <a:xfrm>
              <a:off x="740811" y="957038"/>
              <a:ext cx="7806735" cy="3427142"/>
              <a:chOff x="729436" y="957038"/>
              <a:chExt cx="7806735" cy="3427142"/>
            </a:xfrm>
          </p:grpSpPr>
          <p:grpSp>
            <p:nvGrpSpPr>
              <p:cNvPr id="10" name="Group 9">
                <a:extLst>
                  <a:ext uri="{FF2B5EF4-FFF2-40B4-BE49-F238E27FC236}">
                    <a16:creationId xmlns:a16="http://schemas.microsoft.com/office/drawing/2014/main" id="{43EB492D-76BE-BFAD-F95A-9D0FCF30FD9B}"/>
                  </a:ext>
                </a:extLst>
              </p:cNvPr>
              <p:cNvGrpSpPr/>
              <p:nvPr/>
            </p:nvGrpSpPr>
            <p:grpSpPr>
              <a:xfrm>
                <a:off x="729436" y="957038"/>
                <a:ext cx="1849323" cy="3427142"/>
                <a:chOff x="692265" y="1100254"/>
                <a:chExt cx="1849323" cy="3427142"/>
              </a:xfrm>
            </p:grpSpPr>
            <p:sp>
              <p:nvSpPr>
                <p:cNvPr id="59" name="Rectangle: Rounded Corners 58">
                  <a:extLst>
                    <a:ext uri="{FF2B5EF4-FFF2-40B4-BE49-F238E27FC236}">
                      <a16:creationId xmlns:a16="http://schemas.microsoft.com/office/drawing/2014/main" id="{9B3E2000-C9BE-62D0-1717-978F10F6DFAA}"/>
                    </a:ext>
                  </a:extLst>
                </p:cNvPr>
                <p:cNvSpPr/>
                <p:nvPr/>
              </p:nvSpPr>
              <p:spPr>
                <a:xfrm>
                  <a:off x="692267" y="1100254"/>
                  <a:ext cx="1849321" cy="3427142"/>
                </a:xfrm>
                <a:prstGeom prst="roundRect">
                  <a:avLst>
                    <a:gd name="adj" fmla="val 8068"/>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60" name="TextBox 59">
                  <a:extLst>
                    <a:ext uri="{FF2B5EF4-FFF2-40B4-BE49-F238E27FC236}">
                      <a16:creationId xmlns:a16="http://schemas.microsoft.com/office/drawing/2014/main" id="{D1FC6645-2B9B-A2BF-E946-58AF8E8752CA}"/>
                    </a:ext>
                  </a:extLst>
                </p:cNvPr>
                <p:cNvSpPr txBox="1"/>
                <p:nvPr/>
              </p:nvSpPr>
              <p:spPr>
                <a:xfrm>
                  <a:off x="692267" y="2847463"/>
                  <a:ext cx="1849321" cy="938479"/>
                </a:xfrm>
                <a:prstGeom prst="rect">
                  <a:avLst/>
                </a:prstGeom>
                <a:noFill/>
              </p:spPr>
              <p:txBody>
                <a:bodyPr wrap="square" lIns="121920" tIns="60960" rIns="121920" bIns="60960" anchor="ctr">
                  <a:spAutoFit/>
                </a:bodyPr>
                <a:lstStyle/>
                <a:p>
                  <a:pPr marL="228594" indent="-228594">
                    <a:spcAft>
                      <a:spcPts val="800"/>
                    </a:spcAft>
                    <a:buFont typeface="Arial" panose="020B0604020202020204" pitchFamily="34" charset="0"/>
                    <a:buChar char="•"/>
                  </a:pPr>
                  <a:r>
                    <a:rPr lang="en-US" sz="1333" spc="-10" dirty="0">
                      <a:solidFill>
                        <a:srgbClr val="1D1D1D"/>
                      </a:solidFill>
                      <a:latin typeface="Arial" pitchFamily="34" charset="0"/>
                      <a:cs typeface="Arial"/>
                    </a:rPr>
                    <a:t>Validating</a:t>
                  </a:r>
                  <a:r>
                    <a:rPr lang="en-US" sz="1333" b="1" spc="-10" dirty="0">
                      <a:solidFill>
                        <a:srgbClr val="1D1D1D"/>
                      </a:solidFill>
                      <a:latin typeface="Segoe UI" pitchFamily="34" charset="0"/>
                      <a:cs typeface="Arial"/>
                    </a:rPr>
                    <a:t> succession readiness</a:t>
                  </a:r>
                </a:p>
                <a:p>
                  <a:pPr marL="228594" indent="-228594">
                    <a:spcAft>
                      <a:spcPts val="800"/>
                    </a:spcAft>
                    <a:buFont typeface="Arial" panose="020B0604020202020204" pitchFamily="34" charset="0"/>
                    <a:buChar char="•"/>
                  </a:pPr>
                  <a:r>
                    <a:rPr lang="en-US" sz="1333" spc="-10" dirty="0">
                      <a:solidFill>
                        <a:srgbClr val="1D1D1D"/>
                      </a:solidFill>
                      <a:latin typeface="Arial" pitchFamily="34" charset="0"/>
                      <a:cs typeface="Arial"/>
                    </a:rPr>
                    <a:t>Co-creating meaningful </a:t>
                  </a:r>
                  <a:r>
                    <a:rPr lang="en-US" sz="1333" b="1" spc="-10" dirty="0">
                      <a:solidFill>
                        <a:srgbClr val="1D1D1D"/>
                      </a:solidFill>
                      <a:latin typeface="Segoe UI" pitchFamily="34" charset="0"/>
                      <a:cs typeface="Arial"/>
                    </a:rPr>
                    <a:t>development and mentorship</a:t>
                  </a:r>
                  <a:r>
                    <a:rPr lang="en-US" sz="1333" spc="-10" dirty="0">
                      <a:solidFill>
                        <a:srgbClr val="1D1D1D"/>
                      </a:solidFill>
                      <a:latin typeface="Arial" pitchFamily="34" charset="0"/>
                      <a:cs typeface="Arial"/>
                    </a:rPr>
                    <a:t> </a:t>
                  </a:r>
                  <a:endParaRPr lang="en-US" sz="1333" spc="-10" dirty="0">
                    <a:solidFill>
                      <a:srgbClr val="1D1D1D"/>
                    </a:solidFill>
                    <a:latin typeface="Arial" pitchFamily="34" charset="0"/>
                    <a:cs typeface="Arial" panose="020B0604020202020204" pitchFamily="34" charset="0"/>
                  </a:endParaRPr>
                </a:p>
              </p:txBody>
            </p:sp>
            <p:sp>
              <p:nvSpPr>
                <p:cNvPr id="61" name="TextBox 60">
                  <a:extLst>
                    <a:ext uri="{FF2B5EF4-FFF2-40B4-BE49-F238E27FC236}">
                      <a16:creationId xmlns:a16="http://schemas.microsoft.com/office/drawing/2014/main" id="{F84B17F9-74A5-50B4-9F78-B5491A353360}"/>
                    </a:ext>
                  </a:extLst>
                </p:cNvPr>
                <p:cNvSpPr txBox="1"/>
                <p:nvPr/>
              </p:nvSpPr>
              <p:spPr>
                <a:xfrm>
                  <a:off x="692265" y="2164090"/>
                  <a:ext cx="1849321" cy="438581"/>
                </a:xfrm>
                <a:prstGeom prst="rect">
                  <a:avLst/>
                </a:prstGeom>
                <a:noFill/>
              </p:spPr>
              <p:txBody>
                <a:bodyPr wrap="square" lIns="91440" tIns="45720" rIns="91440" bIns="45720">
                  <a:spAutoFit/>
                </a:bodyPr>
                <a:lstStyle/>
                <a:p>
                  <a:pPr algn="ctr">
                    <a:spcAft>
                      <a:spcPts val="800"/>
                    </a:spcAft>
                  </a:pPr>
                  <a:r>
                    <a:rPr lang="en-US" sz="1600" b="1" spc="-10" dirty="0">
                      <a:solidFill>
                        <a:srgbClr val="1D1D1D"/>
                      </a:solidFill>
                      <a:latin typeface="Segoe UI" pitchFamily="34" charset="0"/>
                      <a:cs typeface="Arial"/>
                    </a:rPr>
                    <a:t>ExCo ownership of development</a:t>
                  </a:r>
                </a:p>
              </p:txBody>
            </p:sp>
            <p:sp>
              <p:nvSpPr>
                <p:cNvPr id="62" name="Oval 61">
                  <a:extLst>
                    <a:ext uri="{FF2B5EF4-FFF2-40B4-BE49-F238E27FC236}">
                      <a16:creationId xmlns:a16="http://schemas.microsoft.com/office/drawing/2014/main" id="{3154614C-8102-8A4B-8F33-C46DB42D05E3}"/>
                    </a:ext>
                  </a:extLst>
                </p:cNvPr>
                <p:cNvSpPr/>
                <p:nvPr/>
              </p:nvSpPr>
              <p:spPr>
                <a:xfrm>
                  <a:off x="1271239" y="1338145"/>
                  <a:ext cx="691375" cy="690711"/>
                </a:xfrm>
                <a:prstGeom prst="ellipse">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grpSp>
          <p:grpSp>
            <p:nvGrpSpPr>
              <p:cNvPr id="22" name="Group 21">
                <a:extLst>
                  <a:ext uri="{FF2B5EF4-FFF2-40B4-BE49-F238E27FC236}">
                    <a16:creationId xmlns:a16="http://schemas.microsoft.com/office/drawing/2014/main" id="{F7E514D2-1CE5-D53B-6EBF-4DB9D78E1CE9}"/>
                  </a:ext>
                </a:extLst>
              </p:cNvPr>
              <p:cNvGrpSpPr/>
              <p:nvPr/>
            </p:nvGrpSpPr>
            <p:grpSpPr>
              <a:xfrm>
                <a:off x="2715240" y="957038"/>
                <a:ext cx="1849323" cy="3427142"/>
                <a:chOff x="692265" y="1100254"/>
                <a:chExt cx="1849323" cy="3427142"/>
              </a:xfrm>
            </p:grpSpPr>
            <p:sp>
              <p:nvSpPr>
                <p:cNvPr id="55" name="Rectangle: Rounded Corners 54">
                  <a:extLst>
                    <a:ext uri="{FF2B5EF4-FFF2-40B4-BE49-F238E27FC236}">
                      <a16:creationId xmlns:a16="http://schemas.microsoft.com/office/drawing/2014/main" id="{4DD19599-E63B-E501-1F18-CDE6C44EDD89}"/>
                    </a:ext>
                  </a:extLst>
                </p:cNvPr>
                <p:cNvSpPr/>
                <p:nvPr/>
              </p:nvSpPr>
              <p:spPr>
                <a:xfrm>
                  <a:off x="692267" y="1100254"/>
                  <a:ext cx="1849321" cy="3427142"/>
                </a:xfrm>
                <a:prstGeom prst="roundRect">
                  <a:avLst>
                    <a:gd name="adj" fmla="val 8068"/>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56" name="TextBox 55">
                  <a:extLst>
                    <a:ext uri="{FF2B5EF4-FFF2-40B4-BE49-F238E27FC236}">
                      <a16:creationId xmlns:a16="http://schemas.microsoft.com/office/drawing/2014/main" id="{B2ADDBE9-F3B9-7FA7-5807-873F126B98A4}"/>
                    </a:ext>
                  </a:extLst>
                </p:cNvPr>
                <p:cNvSpPr txBox="1"/>
                <p:nvPr/>
              </p:nvSpPr>
              <p:spPr>
                <a:xfrm>
                  <a:off x="692267" y="2924432"/>
                  <a:ext cx="1849321" cy="1092318"/>
                </a:xfrm>
                <a:prstGeom prst="rect">
                  <a:avLst/>
                </a:prstGeom>
                <a:noFill/>
              </p:spPr>
              <p:txBody>
                <a:bodyPr wrap="square" lIns="121920" tIns="60960" rIns="121920" bIns="60960" anchor="ctr">
                  <a:spAutoFit/>
                </a:bodyPr>
                <a:lstStyle/>
                <a:p>
                  <a:pPr marL="228594" indent="-228594">
                    <a:spcAft>
                      <a:spcPts val="800"/>
                    </a:spcAft>
                    <a:buFont typeface="Arial" panose="020B0604020202020204" pitchFamily="34" charset="0"/>
                    <a:buChar char="•"/>
                  </a:pPr>
                  <a:r>
                    <a:rPr lang="en-US" sz="1333" spc="-10" dirty="0">
                      <a:solidFill>
                        <a:srgbClr val="1D1D1D"/>
                      </a:solidFill>
                      <a:latin typeface="Arial" pitchFamily="34" charset="0"/>
                      <a:cs typeface="Arial" panose="020B0604020202020204" pitchFamily="34" charset="0"/>
                    </a:rPr>
                    <a:t>Strategically opening and creating </a:t>
                  </a:r>
                  <a:r>
                    <a:rPr lang="en-US" sz="1333" b="1" spc="-10" dirty="0">
                      <a:solidFill>
                        <a:srgbClr val="1D1D1D"/>
                      </a:solidFill>
                      <a:latin typeface="Segoe UI" pitchFamily="34" charset="0"/>
                      <a:cs typeface="Arial" panose="020B0604020202020204" pitchFamily="34" charset="0"/>
                    </a:rPr>
                    <a:t>new roles</a:t>
                  </a:r>
                  <a:r>
                    <a:rPr lang="en-US" sz="1333" spc="-10" dirty="0">
                      <a:solidFill>
                        <a:srgbClr val="1D1D1D"/>
                      </a:solidFill>
                      <a:latin typeface="Arial" pitchFamily="34" charset="0"/>
                      <a:cs typeface="Arial" panose="020B0604020202020204" pitchFamily="34" charset="0"/>
                    </a:rPr>
                    <a:t> as a platform for development </a:t>
                  </a:r>
                </a:p>
                <a:p>
                  <a:pPr marL="228594" indent="-228594">
                    <a:spcAft>
                      <a:spcPts val="800"/>
                    </a:spcAft>
                    <a:buFont typeface="Arial" panose="020B0604020202020204" pitchFamily="34" charset="0"/>
                    <a:buChar char="•"/>
                  </a:pPr>
                  <a:r>
                    <a:rPr lang="en-US" sz="1333" spc="-10" dirty="0">
                      <a:solidFill>
                        <a:srgbClr val="1D1D1D"/>
                      </a:solidFill>
                      <a:latin typeface="Arial" pitchFamily="34" charset="0"/>
                      <a:cs typeface="Arial" panose="020B0604020202020204" pitchFamily="34" charset="0"/>
                    </a:rPr>
                    <a:t>New Enterprise Forum to </a:t>
                  </a:r>
                  <a:r>
                    <a:rPr lang="en-US" sz="1333" b="1" spc="-10" dirty="0">
                      <a:solidFill>
                        <a:srgbClr val="1D1D1D"/>
                      </a:solidFill>
                      <a:latin typeface="Segoe UI" pitchFamily="34" charset="0"/>
                      <a:cs typeface="Arial" panose="020B0604020202020204" pitchFamily="34" charset="0"/>
                    </a:rPr>
                    <a:t>accelerate development </a:t>
                  </a:r>
                  <a:r>
                    <a:rPr lang="en-US" sz="1333" spc="-10" dirty="0">
                      <a:solidFill>
                        <a:srgbClr val="1D1D1D"/>
                      </a:solidFill>
                      <a:latin typeface="Arial" pitchFamily="34" charset="0"/>
                      <a:cs typeface="Arial" panose="020B0604020202020204" pitchFamily="34" charset="0"/>
                    </a:rPr>
                    <a:t>of next gen leaders</a:t>
                  </a:r>
                </a:p>
              </p:txBody>
            </p:sp>
            <p:sp>
              <p:nvSpPr>
                <p:cNvPr id="57" name="TextBox 56">
                  <a:extLst>
                    <a:ext uri="{FF2B5EF4-FFF2-40B4-BE49-F238E27FC236}">
                      <a16:creationId xmlns:a16="http://schemas.microsoft.com/office/drawing/2014/main" id="{D6D6B492-083D-C22C-FC81-B8E06F2985B8}"/>
                    </a:ext>
                  </a:extLst>
                </p:cNvPr>
                <p:cNvSpPr txBox="1"/>
                <p:nvPr/>
              </p:nvSpPr>
              <p:spPr>
                <a:xfrm>
                  <a:off x="692265" y="2164090"/>
                  <a:ext cx="1849321" cy="438581"/>
                </a:xfrm>
                <a:prstGeom prst="rect">
                  <a:avLst/>
                </a:prstGeom>
                <a:noFill/>
              </p:spPr>
              <p:txBody>
                <a:bodyPr wrap="square" lIns="0" rIns="0">
                  <a:spAutoFit/>
                </a:bodyPr>
                <a:lstStyle/>
                <a:p>
                  <a:pPr algn="ctr">
                    <a:spcAft>
                      <a:spcPts val="800"/>
                    </a:spcAft>
                  </a:pPr>
                  <a:r>
                    <a:rPr lang="en-US" sz="1600" b="1" spc="-10" dirty="0">
                      <a:solidFill>
                        <a:srgbClr val="1D1D1D"/>
                      </a:solidFill>
                      <a:latin typeface="Segoe UI" pitchFamily="34" charset="0"/>
                      <a:cs typeface="Arial" panose="020B0604020202020204" pitchFamily="34" charset="0"/>
                    </a:rPr>
                    <a:t>New roles to accelerate development</a:t>
                  </a:r>
                  <a:endParaRPr lang="en-US" sz="1600" b="1" spc="-10" dirty="0">
                    <a:solidFill>
                      <a:srgbClr val="1D1D1D"/>
                    </a:solidFill>
                    <a:latin typeface="Segoe UI" pitchFamily="34" charset="0"/>
                    <a:cs typeface="Arial"/>
                  </a:endParaRPr>
                </a:p>
              </p:txBody>
            </p:sp>
            <p:sp>
              <p:nvSpPr>
                <p:cNvPr id="58" name="Oval 57">
                  <a:extLst>
                    <a:ext uri="{FF2B5EF4-FFF2-40B4-BE49-F238E27FC236}">
                      <a16:creationId xmlns:a16="http://schemas.microsoft.com/office/drawing/2014/main" id="{56CE2809-A260-3F51-8F29-5E9D26E4F3CE}"/>
                    </a:ext>
                  </a:extLst>
                </p:cNvPr>
                <p:cNvSpPr/>
                <p:nvPr/>
              </p:nvSpPr>
              <p:spPr>
                <a:xfrm>
                  <a:off x="1271239" y="1338145"/>
                  <a:ext cx="691375" cy="690711"/>
                </a:xfrm>
                <a:prstGeom prst="ellipse">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grpSp>
          <p:grpSp>
            <p:nvGrpSpPr>
              <p:cNvPr id="11" name="Group 10">
                <a:extLst>
                  <a:ext uri="{FF2B5EF4-FFF2-40B4-BE49-F238E27FC236}">
                    <a16:creationId xmlns:a16="http://schemas.microsoft.com/office/drawing/2014/main" id="{A58FD3A1-E2B8-6292-67B2-F9D189142D33}"/>
                  </a:ext>
                </a:extLst>
              </p:cNvPr>
              <p:cNvGrpSpPr/>
              <p:nvPr/>
            </p:nvGrpSpPr>
            <p:grpSpPr>
              <a:xfrm>
                <a:off x="4701044" y="957038"/>
                <a:ext cx="1849323" cy="3427142"/>
                <a:chOff x="692265" y="1100254"/>
                <a:chExt cx="1849323" cy="3427142"/>
              </a:xfrm>
            </p:grpSpPr>
            <p:sp>
              <p:nvSpPr>
                <p:cNvPr id="51" name="Rectangle: Rounded Corners 50">
                  <a:extLst>
                    <a:ext uri="{FF2B5EF4-FFF2-40B4-BE49-F238E27FC236}">
                      <a16:creationId xmlns:a16="http://schemas.microsoft.com/office/drawing/2014/main" id="{519F61D2-2CBB-42D0-1FB6-1C8C8E682385}"/>
                    </a:ext>
                  </a:extLst>
                </p:cNvPr>
                <p:cNvSpPr/>
                <p:nvPr/>
              </p:nvSpPr>
              <p:spPr>
                <a:xfrm>
                  <a:off x="692267" y="1100254"/>
                  <a:ext cx="1849321" cy="3427142"/>
                </a:xfrm>
                <a:prstGeom prst="roundRect">
                  <a:avLst>
                    <a:gd name="adj" fmla="val 8068"/>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52" name="TextBox 51">
                  <a:extLst>
                    <a:ext uri="{FF2B5EF4-FFF2-40B4-BE49-F238E27FC236}">
                      <a16:creationId xmlns:a16="http://schemas.microsoft.com/office/drawing/2014/main" id="{88D1BCCD-E1DF-9F3C-484E-59821952FBE1}"/>
                    </a:ext>
                  </a:extLst>
                </p:cNvPr>
                <p:cNvSpPr txBox="1"/>
                <p:nvPr/>
              </p:nvSpPr>
              <p:spPr>
                <a:xfrm>
                  <a:off x="692267" y="2847488"/>
                  <a:ext cx="1849321" cy="1092318"/>
                </a:xfrm>
                <a:prstGeom prst="rect">
                  <a:avLst/>
                </a:prstGeom>
                <a:noFill/>
              </p:spPr>
              <p:txBody>
                <a:bodyPr wrap="square" lIns="121920" tIns="60960" rIns="121920" bIns="60960" anchor="ctr">
                  <a:spAutoFit/>
                </a:bodyPr>
                <a:lstStyle/>
                <a:p>
                  <a:pPr marL="228594" indent="-228594">
                    <a:spcAft>
                      <a:spcPts val="800"/>
                    </a:spcAft>
                    <a:buFont typeface="Arial" panose="020B0604020202020204" pitchFamily="34" charset="0"/>
                    <a:buChar char="•"/>
                  </a:pPr>
                  <a:r>
                    <a:rPr lang="en-US" sz="1333" spc="-10" dirty="0">
                      <a:solidFill>
                        <a:srgbClr val="1D1D1D"/>
                      </a:solidFill>
                      <a:latin typeface="Arial" pitchFamily="34" charset="0"/>
                      <a:cs typeface="Arial"/>
                    </a:rPr>
                    <a:t>Actively managing </a:t>
                  </a:r>
                  <a:r>
                    <a:rPr lang="en-US" sz="1333" b="1" spc="-10" dirty="0">
                      <a:solidFill>
                        <a:srgbClr val="1D1D1D"/>
                      </a:solidFill>
                      <a:latin typeface="Segoe UI" pitchFamily="34" charset="0"/>
                      <a:cs typeface="Arial"/>
                    </a:rPr>
                    <a:t>retention risk on critical roles and talent </a:t>
                  </a:r>
                </a:p>
                <a:p>
                  <a:pPr marL="228594" indent="-228594">
                    <a:spcAft>
                      <a:spcPts val="800"/>
                    </a:spcAft>
                    <a:buFont typeface="Arial" panose="020B0604020202020204" pitchFamily="34" charset="0"/>
                    <a:buChar char="•"/>
                  </a:pPr>
                  <a:r>
                    <a:rPr lang="en-US" sz="1333" spc="-10" dirty="0">
                      <a:solidFill>
                        <a:srgbClr val="1D1D1D"/>
                      </a:solidFill>
                      <a:latin typeface="Arial" pitchFamily="34" charset="0"/>
                      <a:cs typeface="Arial"/>
                    </a:rPr>
                    <a:t>Proactively building </a:t>
                  </a:r>
                  <a:r>
                    <a:rPr lang="en-US" sz="1333" b="1" spc="-10" dirty="0">
                      <a:solidFill>
                        <a:srgbClr val="1D1D1D"/>
                      </a:solidFill>
                      <a:latin typeface="Segoe UI" pitchFamily="34" charset="0"/>
                      <a:cs typeface="Arial"/>
                    </a:rPr>
                    <a:t>external succession pipeline</a:t>
                  </a:r>
                </a:p>
              </p:txBody>
            </p:sp>
            <p:sp>
              <p:nvSpPr>
                <p:cNvPr id="53" name="TextBox 52">
                  <a:extLst>
                    <a:ext uri="{FF2B5EF4-FFF2-40B4-BE49-F238E27FC236}">
                      <a16:creationId xmlns:a16="http://schemas.microsoft.com/office/drawing/2014/main" id="{4D3772D3-7B75-B5D5-D0FF-D42C2C82BB63}"/>
                    </a:ext>
                  </a:extLst>
                </p:cNvPr>
                <p:cNvSpPr txBox="1"/>
                <p:nvPr/>
              </p:nvSpPr>
              <p:spPr>
                <a:xfrm>
                  <a:off x="692265" y="2164090"/>
                  <a:ext cx="1849321" cy="276999"/>
                </a:xfrm>
                <a:prstGeom prst="rect">
                  <a:avLst/>
                </a:prstGeom>
                <a:noFill/>
              </p:spPr>
              <p:txBody>
                <a:bodyPr wrap="square" lIns="121920" tIns="60960" rIns="121920" bIns="60960" anchor="t">
                  <a:spAutoFit/>
                </a:bodyPr>
                <a:lstStyle/>
                <a:p>
                  <a:pPr algn="ctr">
                    <a:spcAft>
                      <a:spcPts val="800"/>
                    </a:spcAft>
                  </a:pPr>
                  <a:r>
                    <a:rPr lang="en-US" sz="1600" b="1" spc="-10" dirty="0">
                      <a:solidFill>
                        <a:srgbClr val="1D1D1D"/>
                      </a:solidFill>
                      <a:latin typeface="Segoe UI" pitchFamily="34" charset="0"/>
                      <a:cs typeface="Arial"/>
                    </a:rPr>
                    <a:t>Talent risk mitigation</a:t>
                  </a:r>
                </a:p>
              </p:txBody>
            </p:sp>
            <p:sp>
              <p:nvSpPr>
                <p:cNvPr id="54" name="Oval 53">
                  <a:extLst>
                    <a:ext uri="{FF2B5EF4-FFF2-40B4-BE49-F238E27FC236}">
                      <a16:creationId xmlns:a16="http://schemas.microsoft.com/office/drawing/2014/main" id="{C164952C-36B8-677D-6FFE-EB9771CBC71A}"/>
                    </a:ext>
                  </a:extLst>
                </p:cNvPr>
                <p:cNvSpPr/>
                <p:nvPr/>
              </p:nvSpPr>
              <p:spPr>
                <a:xfrm>
                  <a:off x="1271239" y="1338145"/>
                  <a:ext cx="691375" cy="690711"/>
                </a:xfrm>
                <a:prstGeom prst="ellipse">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grpSp>
          <p:grpSp>
            <p:nvGrpSpPr>
              <p:cNvPr id="46" name="Group 45">
                <a:extLst>
                  <a:ext uri="{FF2B5EF4-FFF2-40B4-BE49-F238E27FC236}">
                    <a16:creationId xmlns:a16="http://schemas.microsoft.com/office/drawing/2014/main" id="{14BB8F22-A26B-7980-7576-F6CB8E1562E7}"/>
                  </a:ext>
                </a:extLst>
              </p:cNvPr>
              <p:cNvGrpSpPr/>
              <p:nvPr/>
            </p:nvGrpSpPr>
            <p:grpSpPr>
              <a:xfrm>
                <a:off x="6686848" y="957038"/>
                <a:ext cx="1849323" cy="3427142"/>
                <a:chOff x="692265" y="1100254"/>
                <a:chExt cx="1849323" cy="3427142"/>
              </a:xfrm>
            </p:grpSpPr>
            <p:sp>
              <p:nvSpPr>
                <p:cNvPr id="47" name="Rectangle: Rounded Corners 46">
                  <a:extLst>
                    <a:ext uri="{FF2B5EF4-FFF2-40B4-BE49-F238E27FC236}">
                      <a16:creationId xmlns:a16="http://schemas.microsoft.com/office/drawing/2014/main" id="{CA046D35-306E-18B0-6D47-6CEDF8E8DD81}"/>
                    </a:ext>
                  </a:extLst>
                </p:cNvPr>
                <p:cNvSpPr/>
                <p:nvPr/>
              </p:nvSpPr>
              <p:spPr>
                <a:xfrm>
                  <a:off x="692267" y="1100254"/>
                  <a:ext cx="1849321" cy="3427142"/>
                </a:xfrm>
                <a:prstGeom prst="roundRect">
                  <a:avLst>
                    <a:gd name="adj" fmla="val 8068"/>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sp>
              <p:nvSpPr>
                <p:cNvPr id="48" name="TextBox 47">
                  <a:extLst>
                    <a:ext uri="{FF2B5EF4-FFF2-40B4-BE49-F238E27FC236}">
                      <a16:creationId xmlns:a16="http://schemas.microsoft.com/office/drawing/2014/main" id="{0E99D590-F085-BC10-C8BC-886210D9A4DC}"/>
                    </a:ext>
                  </a:extLst>
                </p:cNvPr>
                <p:cNvSpPr txBox="1"/>
                <p:nvPr/>
              </p:nvSpPr>
              <p:spPr>
                <a:xfrm>
                  <a:off x="692267" y="2770567"/>
                  <a:ext cx="1849321" cy="1246159"/>
                </a:xfrm>
                <a:prstGeom prst="rect">
                  <a:avLst/>
                </a:prstGeom>
                <a:noFill/>
              </p:spPr>
              <p:txBody>
                <a:bodyPr wrap="square" lIns="121920" tIns="60960" rIns="121920" bIns="60960" anchor="ctr">
                  <a:spAutoFit/>
                </a:bodyPr>
                <a:lstStyle/>
                <a:p>
                  <a:pPr marL="228594" indent="-228594">
                    <a:spcAft>
                      <a:spcPts val="800"/>
                    </a:spcAft>
                    <a:buFont typeface="Arial" panose="020B0604020202020204" pitchFamily="34" charset="0"/>
                    <a:buChar char="•"/>
                  </a:pPr>
                  <a:r>
                    <a:rPr lang="en-US" sz="1333" spc="-10" dirty="0">
                      <a:solidFill>
                        <a:srgbClr val="1D1D1D"/>
                      </a:solidFill>
                      <a:latin typeface="Arial" pitchFamily="34" charset="0"/>
                      <a:cs typeface="Arial"/>
                    </a:rPr>
                    <a:t>Elevating focus on </a:t>
                  </a:r>
                  <a:r>
                    <a:rPr lang="en-US" sz="1333" b="1" spc="-10" dirty="0">
                      <a:solidFill>
                        <a:srgbClr val="1D1D1D"/>
                      </a:solidFill>
                      <a:latin typeface="Segoe UI" pitchFamily="34" charset="0"/>
                      <a:cs typeface="Arial"/>
                    </a:rPr>
                    <a:t>VP and below talent pipeline</a:t>
                  </a:r>
                </a:p>
                <a:p>
                  <a:pPr marL="228594" indent="-228594">
                    <a:spcAft>
                      <a:spcPts val="800"/>
                    </a:spcAft>
                    <a:buFont typeface="Arial" panose="020B0604020202020204" pitchFamily="34" charset="0"/>
                    <a:buChar char="•"/>
                  </a:pPr>
                  <a:r>
                    <a:rPr lang="en-US" sz="1333" spc="-10" dirty="0">
                      <a:solidFill>
                        <a:srgbClr val="1D1D1D"/>
                      </a:solidFill>
                      <a:latin typeface="Arial" pitchFamily="34" charset="0"/>
                      <a:cs typeface="Arial"/>
                    </a:rPr>
                    <a:t>Activating </a:t>
                  </a:r>
                  <a:r>
                    <a:rPr lang="en-US" sz="1333" b="1" spc="-10" dirty="0">
                      <a:solidFill>
                        <a:srgbClr val="1D1D1D"/>
                      </a:solidFill>
                      <a:latin typeface="Segoe UI" pitchFamily="34" charset="0"/>
                      <a:cs typeface="Arial"/>
                    </a:rPr>
                    <a:t>culture of continuous development </a:t>
                  </a:r>
                  <a:r>
                    <a:rPr lang="en-US" sz="1333" spc="-10" dirty="0">
                      <a:solidFill>
                        <a:srgbClr val="1D1D1D"/>
                      </a:solidFill>
                      <a:latin typeface="Arial" pitchFamily="34" charset="0"/>
                      <a:cs typeface="Arial"/>
                    </a:rPr>
                    <a:t>and intentional talent rotation</a:t>
                  </a:r>
                  <a:endParaRPr lang="en-US" sz="1333" b="1" spc="-10" dirty="0">
                    <a:solidFill>
                      <a:srgbClr val="1D1D1D"/>
                    </a:solidFill>
                    <a:latin typeface="Segoe UI" pitchFamily="34" charset="0"/>
                    <a:cs typeface="Arial"/>
                  </a:endParaRPr>
                </a:p>
              </p:txBody>
            </p:sp>
            <p:sp>
              <p:nvSpPr>
                <p:cNvPr id="49" name="TextBox 48">
                  <a:extLst>
                    <a:ext uri="{FF2B5EF4-FFF2-40B4-BE49-F238E27FC236}">
                      <a16:creationId xmlns:a16="http://schemas.microsoft.com/office/drawing/2014/main" id="{B7958737-BCF9-C990-44E8-DDCBFA7AC7D1}"/>
                    </a:ext>
                  </a:extLst>
                </p:cNvPr>
                <p:cNvSpPr txBox="1"/>
                <p:nvPr/>
              </p:nvSpPr>
              <p:spPr>
                <a:xfrm>
                  <a:off x="692265" y="2164090"/>
                  <a:ext cx="1849321" cy="438581"/>
                </a:xfrm>
                <a:prstGeom prst="rect">
                  <a:avLst/>
                </a:prstGeom>
                <a:noFill/>
              </p:spPr>
              <p:txBody>
                <a:bodyPr wrap="square" lIns="91440" tIns="45720" rIns="91440" bIns="45720">
                  <a:spAutoFit/>
                </a:bodyPr>
                <a:lstStyle/>
                <a:p>
                  <a:pPr algn="ctr">
                    <a:spcAft>
                      <a:spcPts val="800"/>
                    </a:spcAft>
                  </a:pPr>
                  <a:r>
                    <a:rPr lang="en-US" sz="1600" b="1" spc="-10" dirty="0">
                      <a:solidFill>
                        <a:srgbClr val="1D1D1D"/>
                      </a:solidFill>
                      <a:latin typeface="Segoe UI" pitchFamily="34" charset="0"/>
                      <a:cs typeface="Arial"/>
                    </a:rPr>
                    <a:t>Cultivate next generation</a:t>
                  </a:r>
                </a:p>
              </p:txBody>
            </p:sp>
            <p:sp>
              <p:nvSpPr>
                <p:cNvPr id="50" name="Oval 49">
                  <a:extLst>
                    <a:ext uri="{FF2B5EF4-FFF2-40B4-BE49-F238E27FC236}">
                      <a16:creationId xmlns:a16="http://schemas.microsoft.com/office/drawing/2014/main" id="{1D6733A1-6C92-8151-4A3C-591B9C0BCFBA}"/>
                    </a:ext>
                  </a:extLst>
                </p:cNvPr>
                <p:cNvSpPr/>
                <p:nvPr/>
              </p:nvSpPr>
              <p:spPr>
                <a:xfrm>
                  <a:off x="1271239" y="1338145"/>
                  <a:ext cx="691375" cy="690711"/>
                </a:xfrm>
                <a:prstGeom prst="ellipse">
                  <a:avLst/>
                </a:prstGeom>
                <a:solidFill>
                  <a:srgbClr val="F2F2F2"/>
                </a:solidFill>
                <a:ln>
                  <a:solidFill>
                    <a:srgbClr val="765FFF"/>
                  </a:solidFill>
                </a:ln>
              </p:spPr>
              <p:txBody>
                <a:bodyPr vert="horz" lIns="73152" tIns="73152" rIns="60960" bIns="48768" rtlCol="0" anchor="ctr" anchorCtr="0">
                  <a:noAutofit/>
                </a:bodyPr>
                <a:lstStyle/>
                <a:p>
                  <a:pPr algn="ctr" defTabSz="231642">
                    <a:spcAft>
                      <a:spcPts val="800"/>
                    </a:spcAft>
                    <a:tabLst>
                      <a:tab pos="231642" algn="l"/>
                      <a:tab pos="463284" algn="l"/>
                      <a:tab pos="694927" algn="l"/>
                      <a:tab pos="926569" algn="l"/>
                    </a:tabLst>
                  </a:pPr>
                  <a:endParaRPr lang="en-US" sz="1867" b="1" spc="-25" dirty="0">
                    <a:solidFill>
                      <a:srgbClr val="281A42"/>
                    </a:solidFill>
                    <a:cs typeface="Arial" panose="020B0604020202020204" pitchFamily="34" charset="0"/>
                  </a:endParaRPr>
                </a:p>
              </p:txBody>
            </p:sp>
          </p:grpSp>
        </p:grpSp>
        <p:pic>
          <p:nvPicPr>
            <p:cNvPr id="6" name="Picture 5">
              <a:extLst>
                <a:ext uri="{FF2B5EF4-FFF2-40B4-BE49-F238E27FC236}">
                  <a16:creationId xmlns:a16="http://schemas.microsoft.com/office/drawing/2014/main" id="{70194F45-BEDF-CC1C-71A3-021C2D24032A}"/>
                </a:ext>
              </a:extLst>
            </p:cNvPr>
            <p:cNvPicPr>
              <a:picLocks noChangeAspect="1"/>
            </p:cNvPicPr>
            <p:nvPr/>
          </p:nvPicPr>
          <p:blipFill>
            <a:blip r:embed="rId3">
              <a:duotone>
                <a:srgbClr val="765FFF"/>
                <a:srgbClr val="FFFFFF"/>
              </a:duotone>
            </a:blip>
            <a:stretch>
              <a:fillRect/>
            </a:stretch>
          </p:blipFill>
          <p:spPr>
            <a:xfrm>
              <a:off x="1422417" y="1267888"/>
              <a:ext cx="536705" cy="536705"/>
            </a:xfrm>
            <a:prstGeom prst="rect">
              <a:avLst/>
            </a:prstGeom>
          </p:spPr>
        </p:pic>
        <p:pic>
          <p:nvPicPr>
            <p:cNvPr id="7" name="Picture 6">
              <a:extLst>
                <a:ext uri="{FF2B5EF4-FFF2-40B4-BE49-F238E27FC236}">
                  <a16:creationId xmlns:a16="http://schemas.microsoft.com/office/drawing/2014/main" id="{B1D1A335-0617-9B6C-6C8C-3F95A76B604C}"/>
                </a:ext>
              </a:extLst>
            </p:cNvPr>
            <p:cNvPicPr>
              <a:picLocks noChangeAspect="1"/>
            </p:cNvPicPr>
            <p:nvPr/>
          </p:nvPicPr>
          <p:blipFill>
            <a:blip r:embed="rId4">
              <a:duotone>
                <a:srgbClr val="765FFF"/>
                <a:srgbClr val="FFFFFF"/>
              </a:duotone>
            </a:blip>
            <a:stretch>
              <a:fillRect/>
            </a:stretch>
          </p:blipFill>
          <p:spPr>
            <a:xfrm>
              <a:off x="3411491" y="1302298"/>
              <a:ext cx="467887" cy="467887"/>
            </a:xfrm>
            <a:prstGeom prst="rect">
              <a:avLst/>
            </a:prstGeom>
          </p:spPr>
        </p:pic>
        <p:pic>
          <p:nvPicPr>
            <p:cNvPr id="8" name="Picture 7">
              <a:extLst>
                <a:ext uri="{FF2B5EF4-FFF2-40B4-BE49-F238E27FC236}">
                  <a16:creationId xmlns:a16="http://schemas.microsoft.com/office/drawing/2014/main" id="{3591E9DF-D901-ECC9-0611-EE9B2805A3B8}"/>
                </a:ext>
              </a:extLst>
            </p:cNvPr>
            <p:cNvPicPr>
              <a:picLocks noChangeAspect="1"/>
            </p:cNvPicPr>
            <p:nvPr/>
          </p:nvPicPr>
          <p:blipFill>
            <a:blip r:embed="rId5">
              <a:duotone>
                <a:srgbClr val="765FFF"/>
                <a:srgbClr val="FFFFFF"/>
              </a:duotone>
            </a:blip>
            <a:stretch>
              <a:fillRect/>
            </a:stretch>
          </p:blipFill>
          <p:spPr>
            <a:xfrm>
              <a:off x="5326935" y="1241289"/>
              <a:ext cx="620288" cy="620288"/>
            </a:xfrm>
            <a:prstGeom prst="rect">
              <a:avLst/>
            </a:prstGeom>
          </p:spPr>
        </p:pic>
        <p:pic>
          <p:nvPicPr>
            <p:cNvPr id="9" name="Picture 8">
              <a:extLst>
                <a:ext uri="{FF2B5EF4-FFF2-40B4-BE49-F238E27FC236}">
                  <a16:creationId xmlns:a16="http://schemas.microsoft.com/office/drawing/2014/main" id="{28860C84-CBF7-2D1C-85AE-07DD33D2356B}"/>
                </a:ext>
              </a:extLst>
            </p:cNvPr>
            <p:cNvPicPr>
              <a:picLocks noChangeAspect="1"/>
            </p:cNvPicPr>
            <p:nvPr/>
          </p:nvPicPr>
          <p:blipFill>
            <a:blip r:embed="rId6">
              <a:duotone>
                <a:srgbClr val="765FFF"/>
                <a:srgbClr val="FFFFFF"/>
              </a:duotone>
            </a:blip>
            <a:stretch>
              <a:fillRect/>
            </a:stretch>
          </p:blipFill>
          <p:spPr>
            <a:xfrm>
              <a:off x="7376642" y="1247974"/>
              <a:ext cx="508570" cy="508570"/>
            </a:xfrm>
            <a:prstGeom prst="rect">
              <a:avLst/>
            </a:prstGeom>
          </p:spPr>
        </p:pic>
      </p:grpSp>
      <p:sp>
        <p:nvSpPr>
          <p:cNvPr id="12" name="TextBox 11">
            <a:extLst>
              <a:ext uri="{FF2B5EF4-FFF2-40B4-BE49-F238E27FC236}">
                <a16:creationId xmlns:a16="http://schemas.microsoft.com/office/drawing/2014/main" id="{B75E9307-0BE6-0C29-5A54-0FD44820E5DF}"/>
              </a:ext>
            </a:extLst>
          </p:cNvPr>
          <p:cNvSpPr txBox="1"/>
          <p:nvPr/>
        </p:nvSpPr>
        <p:spPr>
          <a:xfrm>
            <a:off x="8126730" y="-25607"/>
            <a:ext cx="4065271" cy="307777"/>
          </a:xfrm>
          <a:prstGeom prst="rect">
            <a:avLst/>
          </a:prstGeom>
          <a:noFill/>
        </p:spPr>
        <p:txBody>
          <a:bodyPr wrap="square" lIns="91440" tIns="45720" rIns="91440" bIns="45720" rtlCol="0">
            <a:spAutoFit/>
          </a:bodyPr>
          <a:lstStyle/>
          <a:p>
            <a:pPr algn="r"/>
            <a:r>
              <a:rPr lang="en-US" sz="1400" b="1" spc="-25" dirty="0">
                <a:solidFill>
                  <a:srgbClr val="281A42"/>
                </a:solidFill>
                <a:latin typeface="Segoe UI" pitchFamily="34" charset="0"/>
              </a:rPr>
              <a:t>Confidential – Not to Be Shared</a:t>
            </a:r>
          </a:p>
        </p:txBody>
      </p:sp>
      <p:sp>
        <p:nvSpPr>
          <p:cNvPr id="63" name="SlideNumber"/>
          <p:cNvSpPr>
            <a:spLocks noGrp="1"/>
          </p:cNvSpPr>
          <p:nvPr>
            <p:ph type="sldNum" idx="14"/>
          </p:nvPr>
        </p:nvSpPr>
        <p:spPr>
          <a:xfrm>
            <a:off x="5867400" y="6564276"/>
            <a:ext cx="457200" cy="128016"/>
          </a:xfrm>
        </p:spPr>
        <p:txBody>
          <a:bodyPr vert="horz" wrap="square" anchor="ctr"/>
          <a:lstStyle>
            <a:lvl1pPr algn="l">
              <a:defRPr lang="en-US" sz="1000" spc="-10">
                <a:solidFill>
                  <a:srgbClr val="767676"/>
                </a:solidFill>
                <a:latin typeface="Arial" pitchFamily="34" charset="0"/>
              </a:defRPr>
            </a:lvl1pPr>
          </a:lstStyle>
          <a:p>
            <a:fld id="{159C9D5E-39B5-4930-8161-6186EA14AC80}" type="slidenum">
              <a:t>41</a:t>
            </a:fld>
            <a:endParaRPr lang="en-US"/>
          </a:p>
        </p:txBody>
      </p:sp>
    </p:spTree>
    <p:extLst>
      <p:ext uri="{BB962C8B-B14F-4D97-AF65-F5344CB8AC3E}">
        <p14:creationId xmlns:p14="http://schemas.microsoft.com/office/powerpoint/2010/main" val="16679206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249ACFAA-59E5-73D3-2FDA-23E14657A77C}"/>
              </a:ext>
            </a:extLst>
          </p:cNvPr>
          <p:cNvCxnSpPr/>
          <p:nvPr/>
        </p:nvCxnSpPr>
        <p:spPr>
          <a:xfrm>
            <a:off x="751905" y="3562350"/>
            <a:ext cx="3436088"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398AFD7-5FB0-21AB-88CA-F74DB484030B}"/>
              </a:ext>
            </a:extLst>
          </p:cNvPr>
          <p:cNvCxnSpPr>
            <a:cxnSpLocks/>
          </p:cNvCxnSpPr>
          <p:nvPr/>
        </p:nvCxnSpPr>
        <p:spPr>
          <a:xfrm>
            <a:off x="751905" y="4648200"/>
            <a:ext cx="3183601" cy="0"/>
          </a:xfrm>
          <a:prstGeom prst="line">
            <a:avLst/>
          </a:prstGeom>
          <a:ln>
            <a:solidFill>
              <a:srgbClr val="1D1D1D"/>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1257267B-6E95-C017-0569-52CD816820E6}"/>
              </a:ext>
            </a:extLst>
          </p:cNvPr>
          <p:cNvSpPr>
            <a:spLocks noGrp="1"/>
          </p:cNvSpPr>
          <p:nvPr>
            <p:ph type="title"/>
          </p:nvPr>
        </p:nvSpPr>
        <p:spPr>
          <a:noFill/>
        </p:spPr>
        <p:txBody>
          <a:bodyPr anchor="ctr"/>
          <a:lstStyle/>
          <a:p>
            <a:pPr>
              <a:buNone/>
            </a:pPr>
            <a:endParaRPr lang="en-GB" dirty="0"/>
          </a:p>
        </p:txBody>
      </p:sp>
      <p:sp>
        <p:nvSpPr>
          <p:cNvPr id="12" name="SubtitleSplit"/>
          <p:cNvSpPr>
            <a:spLocks noGrp="1"/>
          </p:cNvSpPr>
          <p:nvPr>
            <p:ph type="subTitle" idx="1"/>
          </p:nvPr>
        </p:nvSpPr>
        <p:spPr>
          <a:noFill/>
        </p:spPr>
        <p:txBody>
          <a:bodyPr/>
          <a:lstStyle/>
          <a:p>
            <a:pPr>
              <a:buNone/>
            </a:pPr>
            <a:r>
              <a:rPr lang="en-US" dirty="0"/>
              <a:t>Thank you </a:t>
            </a:r>
            <a:br>
              <a:rPr lang="en-US" dirty="0"/>
            </a:br>
            <a:r>
              <a:rPr lang="en-US" dirty="0"/>
              <a:t>may 2025</a:t>
            </a:r>
            <a:endParaRPr lang="en-US"/>
          </a:p>
        </p:txBody>
      </p:sp>
      <p:sp>
        <p:nvSpPr>
          <p:cNvPr id="13" name="SlideNumber"/>
          <p:cNvSpPr>
            <a:spLocks noGrp="1"/>
          </p:cNvSpPr>
          <p:nvPr>
            <p:ph type="sldNum" idx="14"/>
          </p:nvPr>
        </p:nvSpPr>
        <p:spPr>
          <a:xfrm>
            <a:off x="5867400" y="6564276"/>
            <a:ext cx="457200" cy="128016"/>
          </a:xfrm>
        </p:spPr>
        <p:txBody>
          <a:bodyPr vert="horz" wrap="square" anchor="ctr"/>
          <a:lstStyle>
            <a:lvl1pPr algn="l">
              <a:defRPr lang="en-US" sz="1000">
                <a:solidFill>
                  <a:srgbClr val="767676"/>
                </a:solidFill>
                <a:latin typeface="Arial" pitchFamily="34" charset="0"/>
              </a:defRPr>
            </a:lvl1pPr>
          </a:lstStyle>
          <a:p>
            <a:fld id="{92D0982A-61AB-41B0-8F63-3A0186B4D0B8}" type="slidenum">
              <a:t>42</a:t>
            </a:fld>
            <a:endParaRPr lang="en-US"/>
          </a:p>
        </p:txBody>
      </p:sp>
    </p:spTree>
    <p:extLst>
      <p:ext uri="{BB962C8B-B14F-4D97-AF65-F5344CB8AC3E}">
        <p14:creationId xmlns:p14="http://schemas.microsoft.com/office/powerpoint/2010/main" val="370044880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FQ_Theme">
  <a:themeElements>
    <a:clrScheme name="FQ_Colors">
      <a:dk1>
        <a:srgbClr val="1D1D1D"/>
      </a:dk1>
      <a:lt1>
        <a:srgbClr val="FFFFFF"/>
      </a:lt1>
      <a:dk2>
        <a:srgbClr val="281A42"/>
      </a:dk2>
      <a:lt2>
        <a:srgbClr val="F2F2F2"/>
      </a:lt2>
      <a:accent1>
        <a:srgbClr val="765FFF"/>
      </a:accent1>
      <a:accent2>
        <a:srgbClr val="281A42"/>
      </a:accent2>
      <a:accent3>
        <a:srgbClr val="00C27A"/>
      </a:accent3>
      <a:accent4>
        <a:srgbClr val="60BDBC"/>
      </a:accent4>
      <a:accent5>
        <a:srgbClr val="FFB547"/>
      </a:accent5>
      <a:accent6>
        <a:srgbClr val="FF2E88"/>
      </a:accent6>
      <a:hlink>
        <a:srgbClr val="765FFF"/>
      </a:hlink>
      <a:folHlink>
        <a:srgbClr val="917FFF"/>
      </a:folHlink>
    </a:clrScheme>
    <a:fontScheme name="Office Theme">
      <a:majorFont>
        <a:latin typeface="Segoe UI" pitchFamily="34" charset="0"/>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itchFamily="34" charset="0"/>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1D1D1D">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ulcrumQ Default Template" id="{8DA0E5EF-F260-734E-8758-5A5D32FE6210}" vid="{6D9E437C-8548-9346-908E-F626CF510D9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977117CE46874F819AA605A149CE74" ma:contentTypeVersion="12" ma:contentTypeDescription="Create a new document." ma:contentTypeScope="" ma:versionID="45f26dd0c9bf70f15440abd71d92b840">
  <xsd:schema xmlns:xsd="http://www.w3.org/2001/XMLSchema" xmlns:xs="http://www.w3.org/2001/XMLSchema" xmlns:p="http://schemas.microsoft.com/office/2006/metadata/properties" xmlns:ns2="2fcd16aa-ef5a-4633-986d-4ec0408bbcca" xmlns:ns3="c8aa3896-a966-4ba9-825f-32a687ea5083" targetNamespace="http://schemas.microsoft.com/office/2006/metadata/properties" ma:root="true" ma:fieldsID="1c4613e8b1f8df8ee1bae259cb52ed8e" ns2:_="" ns3:_="">
    <xsd:import namespace="2fcd16aa-ef5a-4633-986d-4ec0408bbcca"/>
    <xsd:import namespace="c8aa3896-a966-4ba9-825f-32a687ea508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cd16aa-ef5a-4633-986d-4ec0408bb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e777b1b-314e-4559-8ee3-bc85f5a6b9bc"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8aa3896-a966-4ba9-825f-32a687ea508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4646341-70d0-4c7c-b8e3-f5b55222820a}" ma:internalName="TaxCatchAll" ma:showField="CatchAllData" ma:web="c8aa3896-a966-4ba9-825f-32a687ea508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c8aa3896-a966-4ba9-825f-32a687ea5083" xsi:nil="true"/>
    <lcf76f155ced4ddcb4097134ff3c332f xmlns="2fcd16aa-ef5a-4633-986d-4ec0408bbcc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27A600-14D5-4F31-84D9-89CBCECFB2C0}">
  <ds:schemaRefs>
    <ds:schemaRef ds:uri="2fcd16aa-ef5a-4633-986d-4ec0408bbcca"/>
    <ds:schemaRef ds:uri="c8aa3896-a966-4ba9-825f-32a687ea508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F24D93D-416B-47E3-A45B-793DA2F16CBF}">
  <ds:schemaRefs>
    <ds:schemaRef ds:uri="http://purl.org/dc/dcmitype/"/>
    <ds:schemaRef ds:uri="http://schemas.microsoft.com/office/2006/documentManagement/types"/>
    <ds:schemaRef ds:uri="http://purl.org/dc/terms/"/>
    <ds:schemaRef ds:uri="2fcd16aa-ef5a-4633-986d-4ec0408bbcca"/>
    <ds:schemaRef ds:uri="http://www.w3.org/XML/1998/namespace"/>
    <ds:schemaRef ds:uri="c8aa3896-a966-4ba9-825f-32a687ea5083"/>
    <ds:schemaRef ds:uri="http://schemas.openxmlformats.org/package/2006/metadata/core-properties"/>
    <ds:schemaRef ds:uri="http://schemas.microsoft.com/office/2006/metadata/properties"/>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08EA190F-0918-4EB4-96A1-1C1C20B015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6221</TotalTime>
  <Words>5594</Words>
  <Application>Microsoft Macintosh PowerPoint</Application>
  <PresentationFormat>Widescreen</PresentationFormat>
  <Paragraphs>1074</Paragraphs>
  <Slides>42</Slides>
  <Notes>30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2" baseType="lpstr">
      <vt:lpstr>Aptos</vt:lpstr>
      <vt:lpstr>Arial</vt:lpstr>
      <vt:lpstr>Arial,Sans-Serif</vt:lpstr>
      <vt:lpstr>Calibri</vt:lpstr>
      <vt:lpstr>Lato</vt:lpstr>
      <vt:lpstr>Lato Black</vt:lpstr>
      <vt:lpstr>Roboto</vt:lpstr>
      <vt:lpstr>Segoe UI</vt:lpstr>
      <vt:lpstr>FQ_Theme</vt:lpstr>
      <vt:lpstr>think-cell Slide</vt:lpstr>
      <vt:lpstr>Talent to Value Showcase</vt:lpstr>
      <vt:lpstr>Our Clients</vt:lpstr>
      <vt:lpstr>Ceo-led Transformation</vt:lpstr>
      <vt:lpstr>Talent to Value</vt:lpstr>
      <vt:lpstr>PowerPoint Presentation</vt:lpstr>
      <vt:lpstr>Talent to Value</vt:lpstr>
      <vt:lpstr>Strengthen Operating Model</vt:lpstr>
      <vt:lpstr>PowerPoint Presentation</vt:lpstr>
      <vt:lpstr>PowerPoint Presentation</vt:lpstr>
      <vt:lpstr>PowerPoint Presentation</vt:lpstr>
      <vt:lpstr>CXO Enablement</vt:lpstr>
      <vt:lpstr>4 Pillars Essential for CXO Success</vt:lpstr>
      <vt:lpstr>PowerPoint Presentation</vt:lpstr>
      <vt:lpstr>CXO Value Ambition</vt:lpstr>
      <vt:lpstr>CXO Value Forecast</vt:lpstr>
      <vt:lpstr>CXO Value Forecast </vt:lpstr>
      <vt:lpstr>PowerPoint Presentation</vt:lpstr>
      <vt:lpstr>The 4 Pillars Essential for CXO Success</vt:lpstr>
      <vt:lpstr>CXO Enabling Success Plan</vt:lpstr>
      <vt:lpstr>Capability beyond Training</vt:lpstr>
      <vt:lpstr>PowerPoint Presentation</vt:lpstr>
      <vt:lpstr>The TALENT2VALUE Academy</vt:lpstr>
      <vt:lpstr>Rapid TALENT2VALUE @ Bu / Market / Func</vt:lpstr>
      <vt:lpstr>Rapid TALENT2VALUE</vt:lpstr>
      <vt:lpstr>Strategic Pivots  Value Hotspots  Work Headlines</vt:lpstr>
      <vt:lpstr>Critical Roles and Risks @ Value Hotspots</vt:lpstr>
      <vt:lpstr>Value Ranked List of Critical Roles</vt:lpstr>
      <vt:lpstr>Human Capital Balance Sheet</vt:lpstr>
      <vt:lpstr>HR Strategy to Value</vt:lpstr>
      <vt:lpstr>PowerPoint Presentation</vt:lpstr>
      <vt:lpstr>PowerPoint Presentation</vt:lpstr>
      <vt:lpstr>PowerPoint Presentation</vt:lpstr>
      <vt:lpstr>PowerPoint Presentation</vt:lpstr>
      <vt:lpstr>PowerPoint Presentation</vt:lpstr>
      <vt:lpstr>PowerPoint Presentation</vt:lpstr>
      <vt:lpstr>Succession Planning</vt:lpstr>
      <vt:lpstr>Succession Planning  Succession Readiness</vt:lpstr>
      <vt:lpstr>PowerPoint Presentation</vt:lpstr>
      <vt:lpstr>PowerPoint Presentation</vt:lpstr>
      <vt:lpstr>Activate Meaningful Development Plans and Manage Talent Risks</vt:lpstr>
      <vt:lpstr>Mobilization Plan to Cultivate Succession Pipeline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Mitul Brahmbhatt</dc:creator>
  <cp:lastModifiedBy>Zoe Ervolino</cp:lastModifiedBy>
  <cp:revision>7</cp:revision>
  <dcterms:created xsi:type="dcterms:W3CDTF">2025-02-21T14:23:01Z</dcterms:created>
  <dcterms:modified xsi:type="dcterms:W3CDTF">2026-03-30T19:08:03Z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0x0101000F977117CE46874F819AA605A149CE74</vt:lpwstr>
  </property>
  <property fmtid="{D5CDD505-2E9C-101B-9397-08002B2CF9AE}" pid="3" name="MediaServiceImageTags">
    <vt:lpwstr/>
  </property>
</Properties>
</file>