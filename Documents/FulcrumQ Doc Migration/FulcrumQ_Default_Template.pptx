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4" r:id="rId1"/>
  </p:sldMasterIdLst>
  <p:notesMasterIdLst>
    <p:notesMasterId r:id="rId20"/>
  </p:notesMasterIdLst>
  <p:sldIdLst>
    <p:sldId id="293" r:id="rId2"/>
    <p:sldId id="301" r:id="rId3"/>
    <p:sldId id="295" r:id="rId4"/>
    <p:sldId id="311" r:id="rId5"/>
    <p:sldId id="336" r:id="rId6"/>
    <p:sldId id="313" r:id="rId7"/>
    <p:sldId id="291" r:id="rId8"/>
    <p:sldId id="292" r:id="rId9"/>
    <p:sldId id="333" r:id="rId10"/>
    <p:sldId id="332" r:id="rId11"/>
    <p:sldId id="307" r:id="rId12"/>
    <p:sldId id="318" r:id="rId13"/>
    <p:sldId id="314" r:id="rId14"/>
    <p:sldId id="316" r:id="rId15"/>
    <p:sldId id="315" r:id="rId16"/>
    <p:sldId id="310" r:id="rId17"/>
    <p:sldId id="308" r:id="rId18"/>
    <p:sldId id="30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899601-9E78-4158-9C99-E099276EF44A}">
          <p14:sldIdLst>
            <p14:sldId id="293"/>
            <p14:sldId id="301"/>
            <p14:sldId id="295"/>
            <p14:sldId id="311"/>
            <p14:sldId id="336"/>
            <p14:sldId id="313"/>
          </p14:sldIdLst>
        </p14:section>
        <p14:section name="Colors + Icons" id="{0A738A99-18FE-B34D-9527-4E6F8518B0F5}">
          <p14:sldIdLst>
            <p14:sldId id="291"/>
            <p14:sldId id="292"/>
          </p14:sldIdLst>
        </p14:section>
        <p14:section name="Slide Templates" id="{F831A4C2-926F-4F97-AE41-DD24DD22C60C}">
          <p14:sldIdLst>
            <p14:sldId id="333"/>
            <p14:sldId id="332"/>
            <p14:sldId id="307"/>
            <p14:sldId id="318"/>
            <p14:sldId id="314"/>
            <p14:sldId id="316"/>
            <p14:sldId id="315"/>
            <p14:sldId id="310"/>
            <p14:sldId id="308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3B"/>
    <a:srgbClr val="FF0000"/>
    <a:srgbClr val="60BDBC"/>
    <a:srgbClr val="F2F2F2"/>
    <a:srgbClr val="FF2D88"/>
    <a:srgbClr val="FFB546"/>
    <a:srgbClr val="02C27A"/>
    <a:srgbClr val="281A42"/>
    <a:srgbClr val="B3BCCB"/>
    <a:srgbClr val="EC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9B17E4-9012-954F-9A32-D4FD7B2751A4}" v="614" dt="2026-03-27T17:23:29.672"/>
    <p1510:client id="{BBBF77DC-EF84-0844-9446-E2105468F6B6}" v="637" dt="2026-03-27T16:33:35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1"/>
    <p:restoredTop sz="94616"/>
  </p:normalViewPr>
  <p:slideViewPr>
    <p:cSldViewPr snapToGrid="0">
      <p:cViewPr varScale="1">
        <p:scale>
          <a:sx n="118" d="100"/>
          <a:sy n="118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5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957E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AD9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C8BF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0DB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161-CD48-8B0A-60C8C5DF8E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9CCF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6161-CD48-8B0A-60C8C5DF8EFF}"/>
              </c:ext>
            </c:extLst>
          </c:dPt>
          <c:dPt>
            <c:idx val="1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6161-CD48-8B0A-60C8C5DF8EFF}"/>
              </c:ext>
            </c:extLst>
          </c:dPt>
          <c:dPt>
            <c:idx val="2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6161-CD48-8B0A-60C8C5DF8EFF}"/>
              </c:ext>
            </c:extLst>
          </c:dPt>
          <c:dPt>
            <c:idx val="3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6161-CD48-8B0A-60C8C5DF8EFF}"/>
              </c:ext>
            </c:extLst>
          </c:dPt>
          <c:dPt>
            <c:idx val="4"/>
            <c:invertIfNegative val="0"/>
            <c:bubble3D val="0"/>
            <c:spPr>
              <a:solidFill>
                <a:srgbClr val="EEEDF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6161-CD48-8B0A-60C8C5DF8EFF}"/>
              </c:ext>
            </c:extLst>
          </c:dPt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6161-CD48-8B0A-60C8C5DF8E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660523328"/>
        <c:axId val="1660525248"/>
      </c:barChart>
      <c:catAx>
        <c:axId val="1660523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525248"/>
        <c:crosses val="autoZero"/>
        <c:auto val="1"/>
        <c:lblAlgn val="ctr"/>
        <c:lblOffset val="100"/>
        <c:noMultiLvlLbl val="0"/>
      </c:catAx>
      <c:valAx>
        <c:axId val="16605252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52332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c6bba0d-cb9a-4f2a-9cc7-3743e78a6b8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30" b="1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1750" cap="rnd">
              <a:solidFill>
                <a:schemeClr val="accent1">
                  <a:shade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2C-AC44-B5BD-44AE2302D7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2C-AC44-B5BD-44AE2302D7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31750" cap="rnd">
              <a:solidFill>
                <a:schemeClr val="accent1">
                  <a:tint val="6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92C-AC44-B5BD-44AE2302D7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4942384"/>
        <c:axId val="1465054576"/>
      </c:lineChart>
      <c:catAx>
        <c:axId val="1464942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accent3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5054576"/>
        <c:crosses val="autoZero"/>
        <c:auto val="1"/>
        <c:lblAlgn val="ctr"/>
        <c:lblOffset val="100"/>
        <c:noMultiLvlLbl val="0"/>
      </c:catAx>
      <c:valAx>
        <c:axId val="1465054576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accent3"/>
              </a:solidFill>
              <a:prstDash val="solid"/>
              <a:miter lim="800000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95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64942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195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a7a7fd9-42e5-4f19-aa44-ca5f1a08e105}"/>
      </c:ext>
    </c:extLst>
  </c:chart>
  <c:spPr>
    <a:noFill/>
    <a:ln>
      <a:noFill/>
    </a:ln>
    <a:effectLst/>
  </c:spPr>
  <c:txPr>
    <a:bodyPr/>
    <a:lstStyle/>
    <a:p>
      <a:pPr>
        <a:defRPr lang="en-US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31">
  <cs:axisTitle>
    <cs:lnRef idx="0"/>
    <cs:fillRef idx="0"/>
    <cs:effectRef idx="0"/>
    <cs:fontRef idx="minor">
      <a:schemeClr val="tx2"/>
    </cs:fontRef>
    <cs:defRPr sz="1195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2"/>
    </cs:fontRef>
    <cs:defRPr sz="1195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5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3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5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5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D7683-F8AE-4B4F-92C3-46C974743DE7}" type="datetimeFigureOut">
              <a:rPr lang="en-US" smtClean="0"/>
              <a:t>3/27/26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70762-98B9-D84F-A800-0B12BB5D7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D4400-FB39-434D-A368-40283A5088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04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37BA394B-6FC7-BA29-9C9F-C3C5996A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CE3C99-2183-B3DE-3AAA-1A32D4AE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E3D04D9-FFC9-D3AA-13F8-C5614D78CB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1AED1153-695A-6B98-C47D-7ABC0B711F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1A7B4B7-2101-FCE7-D719-3D909068D2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010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03ECDC62-748E-F1B0-07F3-0B62BB658E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B4E0F1-7D88-9142-CE87-C8B858F36A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52" t="14597" r="4536" b="15507"/>
          <a:stretch>
            <a:fillRect/>
          </a:stretch>
        </p:blipFill>
        <p:spPr>
          <a:xfrm>
            <a:off x="435748" y="6113928"/>
            <a:ext cx="2159000" cy="454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F3E59F-8EB2-1215-8D63-04505CE26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65100" y="6191590"/>
            <a:ext cx="2437894" cy="364855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826690B-C7DF-D391-1831-1C87D9DCD5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37173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Photo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B6FC9E-8B11-5EE3-6E11-7061DFCA5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  <a:prstGeom prst="rect">
            <a:avLst/>
          </a:prstGeom>
        </p:spPr>
        <p:txBody>
          <a:bodyPr/>
          <a:lstStyle>
            <a:lvl1pPr>
              <a:defRPr sz="6000" b="1">
                <a:solidFill>
                  <a:schemeClr val="tx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AC7920E-1162-2D3C-5D4A-368EDE93E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CAEBF6F5-2984-E005-E78A-9FBAEF51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883554E-186B-D3A7-5712-0CB495E527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2000" y="6126480"/>
            <a:ext cx="2194560" cy="445223"/>
          </a:xfrm>
          <a:prstGeom prst="rect">
            <a:avLst/>
          </a:prstGeom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DDEF805-4139-818A-775A-9FE45C2467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99733"/>
            <a:ext cx="11338560" cy="365760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7479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EA15675-8D93-AAAB-1CE7-1CC9B1E12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A9E0-DC8A-A493-5950-929C39A48C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2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AAAE700-338E-3D3C-13CC-2B72D122613F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7" name="Picture 6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8BC29EFF-AD40-7A30-0252-1003A1EED3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8" name="Picture 7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319C388-6E14-ACE1-7D72-E7A13C620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871F42-716A-CFFF-5061-88738F8A0C2D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8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B6032B-B87F-A83D-7D7F-2F852CE6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184CFC-9FB0-2FE4-90D5-6D58E6832D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F6BA9A-4A6E-2750-5A58-9D290E2DE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1C2F86-B0B8-0A3E-5886-1D0825E8D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C01EAF-6797-3F0F-E633-9F8C9325ED55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9769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Light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6F0300B-935C-8414-45CA-9141463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4E9799-634E-7736-76B4-6220A70329AF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684A767D-3F86-D687-87F0-42E5F8F82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49A6899-080A-CB11-E001-0849EFA03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D83557B-4935-7DE8-D7B5-DD3A59F0D9D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DB32DC9-CD14-7184-963C-A86EEEA326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1" name="Slide Number Placeholder 501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7DA59B58-B945-4B36-BC6B-9C26C933A008}" type="slidenum">
              <a:rPr lang="en-US" smtClean="0"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13ABF44-7159-0310-8642-D658032AE35C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6" name="Picture 5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DA256E40-4839-A002-DAE4-E92AC3621E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7" name="Picture 6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D9790FCA-7576-E215-2F6F-5D710A40D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89C57F-9FD2-3D9E-C745-F36B0B48A6C5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5ECEB5A-4764-A4C8-4433-9BF1B483A9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2">
                    <a:lumMod val="25000"/>
                  </a:schemeClr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2">
                    <a:lumMod val="25000"/>
                  </a:schemeClr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2">
                    <a:lumMod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355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Dark_Sub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D88E1E-075F-16F9-E92B-5A17AA50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CC322-E05B-5FA0-F1FB-CE44C7DC4A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FDE916-4E68-47BE-7CCA-CE1BDDE69408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4" name="Slide Number Placeholder 504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907D951D-1967-483E-BB83-DA2FAF8BD3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7E6407-B729-531A-E63B-931D38FA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42559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4657EC2-CEDF-D7F5-6742-63F0C8E33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0000" y="674041"/>
            <a:ext cx="11338560" cy="343702"/>
          </a:xfrm>
          <a:prstGeom prst="rect">
            <a:avLst/>
          </a:prstGeom>
        </p:spPr>
        <p:txBody>
          <a:bodyPr/>
          <a:lstStyle>
            <a:lvl1pPr>
              <a:buNone/>
              <a:defRPr sz="2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B9B128-F973-EEF6-EF03-D91D80373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6599BF-0C95-F285-041D-E211D0EBCB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996EC1-CD86-C9E1-9600-D7F536EFF6C9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D23D4C1-2DE7-DC65-7870-6D889D30ABB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20000" y="1493167"/>
            <a:ext cx="11338560" cy="4673952"/>
          </a:xfrm>
          <a:prstGeom prst="rect">
            <a:avLst/>
          </a:prstGeom>
        </p:spPr>
        <p:txBody>
          <a:bodyPr tIns="108000" anchor="t"/>
          <a:lstStyle>
            <a:lvl1pPr marL="2857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2000">
                <a:solidFill>
                  <a:schemeClr val="bg1"/>
                </a:solidFill>
                <a:latin typeface="+mn-lt"/>
              </a:defRPr>
            </a:lvl1pPr>
            <a:lvl2pPr marL="7429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800">
                <a:solidFill>
                  <a:schemeClr val="bg1"/>
                </a:solidFill>
                <a:latin typeface="+mn-lt"/>
              </a:defRPr>
            </a:lvl2pPr>
            <a:lvl3pPr marL="12001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3pPr>
            <a:lvl4pPr marL="16573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4pPr>
            <a:lvl5pPr marL="2114550" indent="-285750" algn="l">
              <a:lnSpc>
                <a:spcPts val="2020"/>
              </a:lnSpc>
              <a:buSzPct val="100000"/>
              <a:buFontTx/>
              <a:buBlip>
                <a:blip r:embed="rId4"/>
              </a:buBlip>
              <a:defRPr sz="16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9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35D7D86-FBBE-7F7A-B7FF-0D7DFE0BAD46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1" name="Picture 10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5BAEB00A-12B2-8C80-05C3-953E8EF87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2" name="Picture 11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A5EE5FB5-040C-44E2-4B16-D6D63863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87B2ED7-8640-ADBE-297E-5F8489AA98B5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0" name="Slide Number Placeholder 500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1875A764-3B06-454E-8ABA-2F6ED0EB58E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39D7E-847E-7ECB-B5B3-78921924B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1D1D1D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B225BBB-4B98-5FF7-84C1-7A330B9237C5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11399B78-A26E-C5D3-5977-F72D21DCEF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6" name="Picture 5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FD13B7C0-9011-B8D4-9EEE-6C853DFAF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EAC99F-5662-C339-9764-481B7B922392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2099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855D8E-7C99-F04C-568A-F3D00C3F9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C47C13-ABA9-A848-6895-50FBF0B2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F3394-203F-9BB3-143F-1A80C14393A6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3" name="Slide Number Placeholder 503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07E56B2-1050-4901-A86F-E2774496114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F95571-82E2-85D7-3B9C-56BA8B5AD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C436-961B-D816-84DF-1F889D57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000C47-8281-C02D-16F9-EA7DC2C581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F91332-0918-0B47-73BF-CF5E1F4FE808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0947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77A6FE-7F15-37F5-2BCD-425A1BEB9F62}"/>
              </a:ext>
            </a:extLst>
          </p:cNvPr>
          <p:cNvGrpSpPr/>
          <p:nvPr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10" name="Picture 9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2A7DCDAA-3778-05BB-466E-B7777E2F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11" name="Picture 10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BA1AC551-0CBB-D6A0-1DDE-10B661503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953271-E885-522F-49C6-F0F1BBE5AEE8}"/>
                </a:ext>
              </a:extLst>
            </p:cNvPr>
            <p:cNvSpPr txBox="1"/>
            <p:nvPr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  <p:sp>
        <p:nvSpPr>
          <p:cNvPr id="502" name="Slide Number Placeholder 502"/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263862CC-204F-4E50-8BF7-6EEE79EB8F36}" type="slidenum">
              <a:rPr lang="en-US" smtClean="0"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016BD5-A56B-5BA3-F690-D9AFCC34CA02}"/>
              </a:ext>
            </a:extLst>
          </p:cNvPr>
          <p:cNvGrpSpPr/>
          <p:nvPr userDrawn="1"/>
        </p:nvGrpSpPr>
        <p:grpSpPr>
          <a:xfrm>
            <a:off x="335847" y="6525414"/>
            <a:ext cx="11424153" cy="274320"/>
            <a:chOff x="335847" y="6525414"/>
            <a:chExt cx="11424153" cy="274320"/>
          </a:xfrm>
        </p:grpSpPr>
        <p:pic>
          <p:nvPicPr>
            <p:cNvPr id="4" name="Picture 3" descr="A black screen with a purple border&#10;&#10;AI-generated content may be incorrect.">
              <a:extLst>
                <a:ext uri="{FF2B5EF4-FFF2-40B4-BE49-F238E27FC236}">
                  <a16:creationId xmlns:a16="http://schemas.microsoft.com/office/drawing/2014/main" id="{F57B6DD7-1C29-5CD5-E825-1A6752941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68291" y="6525414"/>
              <a:ext cx="1891709" cy="274320"/>
            </a:xfrm>
            <a:prstGeom prst="rect">
              <a:avLst/>
            </a:prstGeom>
          </p:spPr>
        </p:pic>
        <p:pic>
          <p:nvPicPr>
            <p:cNvPr id="5" name="Picture 4" descr="A black and grey logo&#10;&#10;AI-generated content may be incorrect.">
              <a:extLst>
                <a:ext uri="{FF2B5EF4-FFF2-40B4-BE49-F238E27FC236}">
                  <a16:creationId xmlns:a16="http://schemas.microsoft.com/office/drawing/2014/main" id="{EB161965-9496-DC09-2773-B4928F83CC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35847" y="6525414"/>
              <a:ext cx="1344658" cy="27432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0ABE36-5BB2-574A-E750-F948BA8DAE9A}"/>
                </a:ext>
              </a:extLst>
            </p:cNvPr>
            <p:cNvSpPr txBox="1"/>
            <p:nvPr userDrawn="1"/>
          </p:nvSpPr>
          <p:spPr>
            <a:xfrm>
              <a:off x="1832436" y="6554852"/>
              <a:ext cx="1508746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B3BBC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© 2026 | All Rights Reserved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26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D01AD69-9691-1E32-5B19-EADB159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889208-DB86-485A-C5EF-41C729FD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960D57-6649-C85B-C203-A5A47F87752B}"/>
              </a:ext>
            </a:extLst>
          </p:cNvPr>
          <p:cNvSpPr txBox="1"/>
          <p:nvPr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  <p:sp>
        <p:nvSpPr>
          <p:cNvPr id="505" name="Slide Number Placeholder 505"/>
          <p:cNvSpPr>
            <a:spLocks noGrp="1"/>
          </p:cNvSpPr>
          <p:nvPr>
            <p:ph type="sldNum" sz="quarter" idx="4"/>
          </p:nvPr>
        </p:nvSpPr>
        <p:spPr>
          <a:xfrm>
            <a:off x="0" y="6543980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B3BBCA"/>
                </a:solidFill>
                <a:latin typeface="Arial" panose="020B0604020202020204" pitchFamily="34" charset="0"/>
              </a:defRPr>
            </a:lvl1pPr>
          </a:lstStyle>
          <a:p>
            <a:pPr algn="ctr"/>
            <a:fld id="{5B5F607B-51C9-463C-B8AC-22C4474A29A3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67700-E7B8-00A1-CA00-780B430A31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885198" y="6514542"/>
            <a:ext cx="1857894" cy="27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FD0E7-4FF1-D7DE-B8CF-6D3ADD3BC2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8835" y="6515152"/>
            <a:ext cx="1338681" cy="27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BC7B2-6B3B-DB21-E219-33C1F3A48CF1}"/>
              </a:ext>
            </a:extLst>
          </p:cNvPr>
          <p:cNvSpPr txBox="1"/>
          <p:nvPr userDrawn="1"/>
        </p:nvSpPr>
        <p:spPr>
          <a:xfrm>
            <a:off x="1832436" y="6543980"/>
            <a:ext cx="15087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>
                <a:solidFill>
                  <a:srgbClr val="B3BBC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 |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3999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09B0A9-4F98-C3F4-4E57-41FF83F30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4CFA25-03B5-0177-8AC1-33D467FC7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15AE0B4-EBC9-F172-55AF-5CEADF6B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E6E9556-28FF-C72E-9775-EC041E8A50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83F48-B9B5-250C-EC88-908B62BD3AFC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C4D28D-5628-0FAB-BB37-9B5095BB19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C43E4-6A73-99D5-F9A3-E7D3D97EBF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A58DCA-200A-6AF9-E5F0-31C116120388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504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Cryst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  <a:prstGeom prst="rect">
            <a:avLst/>
          </a:prstGeom>
        </p:spPr>
        <p:txBody>
          <a:bodyPr/>
          <a:lstStyle>
            <a:lvl1pPr>
              <a:defRPr sz="6600" b="1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4915D0C-CB06-62F7-E67D-7F5B928F5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  <a:prstGeom prst="rect">
            <a:avLst/>
          </a:prstGeom>
        </p:spPr>
        <p:txBody>
          <a:bodyPr/>
          <a:lstStyle>
            <a:lvl1pPr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798847-E310-8470-FC39-FCD772C71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4F02A1-F26A-CCE0-8A13-B5F534431235}"/>
              </a:ext>
            </a:extLst>
          </p:cNvPr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92799-6CFD-FC58-A1FC-8FAACB71FB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000" y="6209865"/>
            <a:ext cx="1847486" cy="363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AF492-0819-EC08-ED38-56959E5585DD}"/>
              </a:ext>
            </a:extLst>
          </p:cNvPr>
          <p:cNvSpPr/>
          <p:nvPr userDrawn="1"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20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Dark">
    <p:bg>
      <p:bgPr>
        <a:solidFill>
          <a:srgbClr val="281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AD75B8-1961-0901-7197-778645E6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0B02FF-8604-586E-FCEA-F263078773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9837DF-36CB-F9C7-2AF7-86255EDA03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210430" y="6209865"/>
            <a:ext cx="2347233" cy="36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200A60-B051-BEDC-E25C-CAC8A419D6D2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45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ing_PivotPurple">
    <p:bg>
      <p:bgPr>
        <a:solidFill>
          <a:srgbClr val="755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E71750F-A212-2A66-6A12-40A9211C57D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  <a:prstGeom prst="rect">
            <a:avLst/>
          </a:prstGeom>
        </p:spPr>
        <p:txBody>
          <a:bodyPr/>
          <a:lstStyle>
            <a:lvl1pPr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D1CFE30-8773-227E-903F-B1430892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DCE326-F1D6-8FF0-0CFD-1F01F428AF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376" t="11516" r="4153" b="11516"/>
          <a:stretch>
            <a:fillRect/>
          </a:stretch>
        </p:blipFill>
        <p:spPr>
          <a:xfrm>
            <a:off x="417346" y="6188145"/>
            <a:ext cx="1869333" cy="429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30B84A-CD15-A69D-7C0D-0A25B01CE3A9}"/>
              </a:ext>
            </a:extLst>
          </p:cNvPr>
          <p:cNvSpPr txBox="1"/>
          <p:nvPr userDrawn="1"/>
        </p:nvSpPr>
        <p:spPr>
          <a:xfrm>
            <a:off x="432000" y="2044808"/>
            <a:ext cx="113385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bg1"/>
                </a:solidFill>
              </a:rPr>
              <a:t>Thank you</a:t>
            </a:r>
            <a:endParaRPr lang="en-US" sz="6600" b="1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02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7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b="1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6020202030204" pitchFamily="34" charset="0"/>
        <a:buChar char="•"/>
        <a:defRPr lang="en-US" sz="1200" b="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602020203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000" b="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9" Type="http://schemas.openxmlformats.org/officeDocument/2006/relationships/image" Target="../media/image52.png"/><Relationship Id="rId21" Type="http://schemas.openxmlformats.org/officeDocument/2006/relationships/image" Target="../media/image34.png"/><Relationship Id="rId34" Type="http://schemas.openxmlformats.org/officeDocument/2006/relationships/image" Target="../media/image47.png"/><Relationship Id="rId42" Type="http://schemas.openxmlformats.org/officeDocument/2006/relationships/image" Target="../media/image55.png"/><Relationship Id="rId47" Type="http://schemas.openxmlformats.org/officeDocument/2006/relationships/image" Target="../media/image60.png"/><Relationship Id="rId50" Type="http://schemas.openxmlformats.org/officeDocument/2006/relationships/image" Target="../media/image63.png"/><Relationship Id="rId55" Type="http://schemas.openxmlformats.org/officeDocument/2006/relationships/image" Target="../media/image68.sv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9" Type="http://schemas.openxmlformats.org/officeDocument/2006/relationships/image" Target="../media/image42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37" Type="http://schemas.openxmlformats.org/officeDocument/2006/relationships/image" Target="../media/image50.png"/><Relationship Id="rId40" Type="http://schemas.openxmlformats.org/officeDocument/2006/relationships/image" Target="../media/image53.png"/><Relationship Id="rId45" Type="http://schemas.openxmlformats.org/officeDocument/2006/relationships/image" Target="../media/image58.png"/><Relationship Id="rId53" Type="http://schemas.openxmlformats.org/officeDocument/2006/relationships/image" Target="../media/image66.sv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4.png"/><Relationship Id="rId44" Type="http://schemas.openxmlformats.org/officeDocument/2006/relationships/image" Target="../media/image57.png"/><Relationship Id="rId52" Type="http://schemas.openxmlformats.org/officeDocument/2006/relationships/image" Target="../media/image65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png"/><Relationship Id="rId30" Type="http://schemas.openxmlformats.org/officeDocument/2006/relationships/image" Target="../media/image43.png"/><Relationship Id="rId35" Type="http://schemas.openxmlformats.org/officeDocument/2006/relationships/image" Target="../media/image48.png"/><Relationship Id="rId43" Type="http://schemas.openxmlformats.org/officeDocument/2006/relationships/image" Target="../media/image56.png"/><Relationship Id="rId48" Type="http://schemas.openxmlformats.org/officeDocument/2006/relationships/image" Target="../media/image61.png"/><Relationship Id="rId56" Type="http://schemas.openxmlformats.org/officeDocument/2006/relationships/image" Target="../media/image69.svg"/><Relationship Id="rId8" Type="http://schemas.openxmlformats.org/officeDocument/2006/relationships/image" Target="../media/image21.png"/><Relationship Id="rId51" Type="http://schemas.openxmlformats.org/officeDocument/2006/relationships/image" Target="../media/image64.png"/><Relationship Id="rId3" Type="http://schemas.openxmlformats.org/officeDocument/2006/relationships/image" Target="../media/image16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46.png"/><Relationship Id="rId38" Type="http://schemas.openxmlformats.org/officeDocument/2006/relationships/image" Target="../media/image51.png"/><Relationship Id="rId46" Type="http://schemas.openxmlformats.org/officeDocument/2006/relationships/image" Target="../media/image59.png"/><Relationship Id="rId20" Type="http://schemas.openxmlformats.org/officeDocument/2006/relationships/image" Target="../media/image33.png"/><Relationship Id="rId41" Type="http://schemas.openxmlformats.org/officeDocument/2006/relationships/image" Target="../media/image54.png"/><Relationship Id="rId54" Type="http://schemas.openxmlformats.org/officeDocument/2006/relationships/image" Target="../media/image67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1.png"/><Relationship Id="rId36" Type="http://schemas.openxmlformats.org/officeDocument/2006/relationships/image" Target="../media/image49.png"/><Relationship Id="rId49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sv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3.svg"/><Relationship Id="rId4" Type="http://schemas.openxmlformats.org/officeDocument/2006/relationships/image" Target="../media/image72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6DFFB-CB27-4BC3-5F07-B1412FE2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38560" cy="968175"/>
          </a:xfrm>
        </p:spPr>
        <p:txBody>
          <a:bodyPr/>
          <a:lstStyle/>
          <a:p>
            <a:r>
              <a:rPr lang="en-US" err="1"/>
              <a:t>FulcrumQ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A8899-821E-B683-4FC1-3D1E8B5D50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1417108"/>
            <a:ext cx="11338560" cy="665692"/>
          </a:xfrm>
        </p:spPr>
        <p:txBody>
          <a:bodyPr/>
          <a:lstStyle/>
          <a:p>
            <a:r>
              <a:rPr lang="en-US"/>
              <a:t>PowerPoint Master &amp; Usage Examples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CA03B4-FBAB-7B3B-240E-18E8F4A026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52999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3A1F0C-989A-6FDD-6861-92D6B713F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5085B-9E9C-54DB-5242-0A1BA918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8B73FA-7CBF-B6E4-55BC-666E81591045}"/>
              </a:ext>
            </a:extLst>
          </p:cNvPr>
          <p:cNvGraphicFramePr>
            <a:graphicFrameLocks noGrp="1"/>
          </p:cNvGraphicFramePr>
          <p:nvPr/>
        </p:nvGraphicFramePr>
        <p:xfrm>
          <a:off x="1104710" y="1981200"/>
          <a:ext cx="5664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7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</a:p>
                  </a:txBody>
                  <a:tcPr anchor="b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03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99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52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2000" b="0" kern="120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Your Text Goes Here</a:t>
                      </a:r>
                    </a:p>
                  </a:txBody>
                  <a:tcPr marL="137160" marR="137160" marT="137160" marB="13716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0">
                          <a:solidFill>
                            <a:srgbClr val="1D1D1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</a:t>
                      </a:r>
                    </a:p>
                  </a:txBody>
                  <a:tcPr anchor="b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084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073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AD342-7F7B-0823-9634-0551A346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Welcome!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0EE74-95ED-917D-45C5-B7589851907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We are so excited to share what we have been working on!</a:t>
            </a:r>
          </a:p>
          <a:p>
            <a:endParaRPr lang="en-US" dirty="0"/>
          </a:p>
          <a:p>
            <a:r>
              <a:rPr lang="en-US" dirty="0"/>
              <a:t>Included in this deck you will find: 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The approved master theme</a:t>
            </a:r>
          </a:p>
          <a:p>
            <a:pPr lvl="1"/>
            <a:r>
              <a:rPr lang="en-US" dirty="0"/>
              <a:t>Implementation SOP</a:t>
            </a:r>
          </a:p>
          <a:p>
            <a:pPr lvl="1"/>
            <a:r>
              <a:rPr lang="en-US" dirty="0"/>
              <a:t>Color palette</a:t>
            </a:r>
          </a:p>
          <a:p>
            <a:pPr lvl="1"/>
            <a:r>
              <a:rPr lang="en-US" dirty="0"/>
              <a:t>Typography rules</a:t>
            </a:r>
          </a:p>
          <a:p>
            <a:pPr lvl="1"/>
            <a:r>
              <a:rPr lang="en-US" dirty="0"/>
              <a:t>Icon library </a:t>
            </a:r>
          </a:p>
          <a:p>
            <a:pPr lvl="1"/>
            <a:r>
              <a:rPr lang="en-US" dirty="0"/>
              <a:t>Usage examples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AFB95-F4EF-7452-FDD4-FF0F833DDC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05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E0D7DC-1E51-F72C-54C8-8EE7AE9D9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B76F8-6059-5F76-C379-4213F98E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Data/Chart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005126C-8C78-DC0D-D4D3-306B977BFA9B}"/>
              </a:ext>
            </a:extLst>
          </p:cNvPr>
          <p:cNvGraphicFramePr/>
          <p:nvPr/>
        </p:nvGraphicFramePr>
        <p:xfrm>
          <a:off x="5738286" y="2590840"/>
          <a:ext cx="4625078" cy="3229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DDC6AEAA-2167-FD64-0EB8-C719549A829D}"/>
              </a:ext>
            </a:extLst>
          </p:cNvPr>
          <p:cNvSpPr/>
          <p:nvPr/>
        </p:nvSpPr>
        <p:spPr>
          <a:xfrm>
            <a:off x="5872708" y="2184562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32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35%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6E40AAA-095D-EB91-0897-635C3A9B257F}"/>
              </a:ext>
            </a:extLst>
          </p:cNvPr>
          <p:cNvSpPr/>
          <p:nvPr/>
        </p:nvSpPr>
        <p:spPr>
          <a:xfrm>
            <a:off x="6862231" y="2902019"/>
            <a:ext cx="48683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14435CB-59D4-A502-75F9-19B5063B7C90}"/>
              </a:ext>
            </a:extLst>
          </p:cNvPr>
          <p:cNvSpPr/>
          <p:nvPr/>
        </p:nvSpPr>
        <p:spPr>
          <a:xfrm>
            <a:off x="7730049" y="3378207"/>
            <a:ext cx="493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20%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0E34A47-EFEC-7AFC-9ECD-F9E0A4A818C8}"/>
              </a:ext>
            </a:extLst>
          </p:cNvPr>
          <p:cNvSpPr/>
          <p:nvPr/>
        </p:nvSpPr>
        <p:spPr>
          <a:xfrm>
            <a:off x="8604238" y="3708364"/>
            <a:ext cx="4550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18A645-60AD-037E-63B1-777F0EAF6756}"/>
              </a:ext>
            </a:extLst>
          </p:cNvPr>
          <p:cNvSpPr/>
          <p:nvPr/>
        </p:nvSpPr>
        <p:spPr>
          <a:xfrm>
            <a:off x="9493234" y="4491429"/>
            <a:ext cx="36618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5%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E7B4BCB-177C-B2AC-1F61-05783DA6A7DD}"/>
              </a:ext>
            </a:extLst>
          </p:cNvPr>
          <p:cNvSpPr/>
          <p:nvPr/>
        </p:nvSpPr>
        <p:spPr>
          <a:xfrm>
            <a:off x="5872709" y="2476624"/>
            <a:ext cx="47413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01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1612612-C4B5-7AB2-25C1-0B7F7F275B35}"/>
              </a:ext>
            </a:extLst>
          </p:cNvPr>
          <p:cNvSpPr/>
          <p:nvPr/>
        </p:nvSpPr>
        <p:spPr>
          <a:xfrm>
            <a:off x="6862231" y="3194081"/>
            <a:ext cx="67733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02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0C11822-B5D5-3683-B543-0A4FE7B38908}"/>
              </a:ext>
            </a:extLst>
          </p:cNvPr>
          <p:cNvSpPr/>
          <p:nvPr/>
        </p:nvSpPr>
        <p:spPr>
          <a:xfrm>
            <a:off x="7730048" y="3670269"/>
            <a:ext cx="556681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03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2EA0EF2-BF13-BE44-E5A1-6794776A8212}"/>
              </a:ext>
            </a:extLst>
          </p:cNvPr>
          <p:cNvSpPr/>
          <p:nvPr/>
        </p:nvSpPr>
        <p:spPr>
          <a:xfrm>
            <a:off x="8604238" y="4000426"/>
            <a:ext cx="620180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04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7E876FB-3367-F4DE-FEE2-EFA4658D546F}"/>
              </a:ext>
            </a:extLst>
          </p:cNvPr>
          <p:cNvSpPr/>
          <p:nvPr/>
        </p:nvSpPr>
        <p:spPr>
          <a:xfrm>
            <a:off x="9493234" y="4783490"/>
            <a:ext cx="513453" cy="2201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Text 05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A0F012A5-8F5B-F7DD-0DE1-E514A02AA1A7}"/>
              </a:ext>
            </a:extLst>
          </p:cNvPr>
          <p:cNvSpPr/>
          <p:nvPr/>
        </p:nvSpPr>
        <p:spPr>
          <a:xfrm>
            <a:off x="870004" y="2587195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Across industries like fintech, healthcare, logistics, and education.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7016D913-12B6-B1EB-5F04-04F714525C11}"/>
              </a:ext>
            </a:extLst>
          </p:cNvPr>
          <p:cNvSpPr/>
          <p:nvPr/>
        </p:nvSpPr>
        <p:spPr>
          <a:xfrm>
            <a:off x="870004" y="1977674"/>
            <a:ext cx="12509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120+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3F3FF609-36E3-B0D3-5761-AF40EF9D939F}"/>
              </a:ext>
            </a:extLst>
          </p:cNvPr>
          <p:cNvSpPr/>
          <p:nvPr/>
        </p:nvSpPr>
        <p:spPr>
          <a:xfrm>
            <a:off x="2491377" y="2037007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Projects Delivered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C20E4983-76E3-B7CA-68AD-372058CAF268}"/>
              </a:ext>
            </a:extLst>
          </p:cNvPr>
          <p:cNvSpPr/>
          <p:nvPr/>
        </p:nvSpPr>
        <p:spPr>
          <a:xfrm>
            <a:off x="870004" y="4082426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Through the platforms and systems we’ve built.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15F466A6-BC7D-4248-8C74-4729D2EB1CA4}"/>
              </a:ext>
            </a:extLst>
          </p:cNvPr>
          <p:cNvSpPr/>
          <p:nvPr/>
        </p:nvSpPr>
        <p:spPr>
          <a:xfrm>
            <a:off x="862530" y="3472905"/>
            <a:ext cx="108584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1M+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EBCA1482-19D4-A64C-F44C-4CA88DE8131B}"/>
              </a:ext>
            </a:extLst>
          </p:cNvPr>
          <p:cNvSpPr/>
          <p:nvPr/>
        </p:nvSpPr>
        <p:spPr>
          <a:xfrm>
            <a:off x="2491377" y="3532238"/>
            <a:ext cx="1121827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End Users Impacted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556054E-BC89-FB5C-4B9C-4305EF613AD4}"/>
              </a:ext>
            </a:extLst>
          </p:cNvPr>
          <p:cNvSpPr/>
          <p:nvPr/>
        </p:nvSpPr>
        <p:spPr>
          <a:xfrm>
            <a:off x="870004" y="5577657"/>
            <a:ext cx="2743200" cy="3978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just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2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Regular" panose="020B0802030000000004" pitchFamily="34" charset="-122"/>
                <a:cs typeface="Arial" panose="020B0604020202020204" pitchFamily="34" charset="0"/>
              </a:rPr>
              <a:t>Demonstrating long-term trust and satisfaction.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D781CC01-5191-7847-91D9-2A0060B39567}"/>
              </a:ext>
            </a:extLst>
          </p:cNvPr>
          <p:cNvSpPr/>
          <p:nvPr/>
        </p:nvSpPr>
        <p:spPr>
          <a:xfrm>
            <a:off x="870004" y="4968136"/>
            <a:ext cx="1104894" cy="698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85%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B9626CB3-36CD-37F2-ECB4-054D820FDC79}"/>
              </a:ext>
            </a:extLst>
          </p:cNvPr>
          <p:cNvSpPr/>
          <p:nvPr/>
        </p:nvSpPr>
        <p:spPr>
          <a:xfrm>
            <a:off x="2126492" y="5027469"/>
            <a:ext cx="1486712" cy="55026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Client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-16" normalizeH="0" baseline="0" noProof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Retention Rate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8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31285-3740-D4B5-E898-C02FC54A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B259-51F7-980D-7B37-C59E2EF8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2974822"/>
            <a:ext cx="11338560" cy="908357"/>
          </a:xfrm>
        </p:spPr>
        <p:txBody>
          <a:bodyPr/>
          <a:lstStyle/>
          <a:p>
            <a:r>
              <a:rPr lang="en-US" dirty="0"/>
              <a:t>Divider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A7EDA-E651-2A0E-C941-C6A079841F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665692"/>
          </a:xfrm>
        </p:spPr>
        <p:txBody>
          <a:bodyPr/>
          <a:lstStyle/>
          <a:p>
            <a:r>
              <a:rPr lang="en-US" dirty="0"/>
              <a:t>As an example</a:t>
            </a:r>
          </a:p>
        </p:txBody>
      </p:sp>
    </p:spTree>
    <p:extLst>
      <p:ext uri="{BB962C8B-B14F-4D97-AF65-F5344CB8AC3E}">
        <p14:creationId xmlns:p14="http://schemas.microsoft.com/office/powerpoint/2010/main" val="6080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96ECF-95DC-0F86-B27D-91D5569CF7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2000" y="3936973"/>
            <a:ext cx="11338560" cy="493776"/>
          </a:xfrm>
        </p:spPr>
        <p:txBody>
          <a:bodyPr/>
          <a:lstStyle/>
          <a:p>
            <a:r>
              <a:rPr lang="en-US"/>
              <a:t>For adhering to our new brand guidelines!</a:t>
            </a:r>
          </a:p>
        </p:txBody>
      </p:sp>
    </p:spTree>
    <p:extLst>
      <p:ext uri="{BB962C8B-B14F-4D97-AF65-F5344CB8AC3E}">
        <p14:creationId xmlns:p14="http://schemas.microsoft.com/office/powerpoint/2010/main" val="2802824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0D2237-53F2-1BF8-C222-023A69C91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26F60-B1B2-7E03-33FD-1A76E544A17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Color Palette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EE9805-F2BF-A0E7-8638-BC7FB2B2A3E5}"/>
              </a:ext>
            </a:extLst>
          </p:cNvPr>
          <p:cNvGrpSpPr/>
          <p:nvPr/>
        </p:nvGrpSpPr>
        <p:grpSpPr>
          <a:xfrm>
            <a:off x="526639" y="1289401"/>
            <a:ext cx="11342551" cy="1161288"/>
            <a:chOff x="526639" y="1289401"/>
            <a:chExt cx="11342551" cy="11612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B68164-F2E9-8FBA-DA51-375A54DA6B39}"/>
                </a:ext>
              </a:extLst>
            </p:cNvPr>
            <p:cNvGrpSpPr/>
            <p:nvPr/>
          </p:nvGrpSpPr>
          <p:grpSpPr>
            <a:xfrm>
              <a:off x="526639" y="1289401"/>
              <a:ext cx="9054753" cy="1161288"/>
              <a:chOff x="526640" y="3730752"/>
              <a:chExt cx="9054753" cy="1161288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398753-A85B-CCC4-BC62-7D2D79C939F7}"/>
                  </a:ext>
                </a:extLst>
              </p:cNvPr>
              <p:cNvSpPr txBox="1"/>
              <p:nvPr/>
            </p:nvSpPr>
            <p:spPr>
              <a:xfrm>
                <a:off x="526640" y="3730752"/>
                <a:ext cx="821059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GUIDING GREY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19" name="Rounded Rectangle 18">
                <a:extLst>
                  <a:ext uri="{FF2B5EF4-FFF2-40B4-BE49-F238E27FC236}">
                    <a16:creationId xmlns:a16="http://schemas.microsoft.com/office/drawing/2014/main" id="{AC7BEBCE-E3F7-CDFD-C61E-C05737D5A65D}"/>
                  </a:ext>
                </a:extLst>
              </p:cNvPr>
              <p:cNvSpPr/>
              <p:nvPr/>
            </p:nvSpPr>
            <p:spPr>
              <a:xfrm>
                <a:off x="526640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1D1D1D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424A99B-C6A5-2C7E-7A43-ED82D75FDE97}"/>
                  </a:ext>
                </a:extLst>
              </p:cNvPr>
              <p:cNvSpPr txBox="1"/>
              <p:nvPr/>
            </p:nvSpPr>
            <p:spPr>
              <a:xfrm>
                <a:off x="618080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Guiding Grey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567B37E-0418-A41E-AC2C-F63E392749C2}"/>
                  </a:ext>
                </a:extLst>
              </p:cNvPr>
              <p:cNvSpPr txBox="1"/>
              <p:nvPr/>
            </p:nvSpPr>
            <p:spPr>
              <a:xfrm>
                <a:off x="526640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#1D1D1D</a:t>
                </a:r>
              </a:p>
            </p:txBody>
          </p:sp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D7FD0555-D9A3-90CB-D910-09437459FBF2}"/>
                  </a:ext>
                </a:extLst>
              </p:cNvPr>
              <p:cNvSpPr/>
              <p:nvPr/>
            </p:nvSpPr>
            <p:spPr>
              <a:xfrm>
                <a:off x="2822332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3B3B3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4970743-0D13-0226-5738-9643AE16DA47}"/>
                  </a:ext>
                </a:extLst>
              </p:cNvPr>
              <p:cNvSpPr txBox="1"/>
              <p:nvPr/>
            </p:nvSpPr>
            <p:spPr>
              <a:xfrm>
                <a:off x="2913772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1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128DC61-65E3-5E62-53B8-4F5A53BB27C8}"/>
                  </a:ext>
                </a:extLst>
              </p:cNvPr>
              <p:cNvSpPr txBox="1"/>
              <p:nvPr/>
            </p:nvSpPr>
            <p:spPr>
              <a:xfrm>
                <a:off x="2822332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#3B3B3B</a:t>
                </a:r>
              </a:p>
            </p:txBody>
          </p:sp>
          <p:sp>
            <p:nvSpPr>
              <p:cNvPr id="25" name="Rounded Rectangle 24">
                <a:extLst>
                  <a:ext uri="{FF2B5EF4-FFF2-40B4-BE49-F238E27FC236}">
                    <a16:creationId xmlns:a16="http://schemas.microsoft.com/office/drawing/2014/main" id="{6565DD4E-5BFC-5C83-8F4E-B141989DF70B}"/>
                  </a:ext>
                </a:extLst>
              </p:cNvPr>
              <p:cNvSpPr/>
              <p:nvPr/>
            </p:nvSpPr>
            <p:spPr>
              <a:xfrm>
                <a:off x="5118025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58585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F453EAB-426A-61F1-7B92-6C89EC98531E}"/>
                  </a:ext>
                </a:extLst>
              </p:cNvPr>
              <p:cNvSpPr txBox="1"/>
              <p:nvPr/>
            </p:nvSpPr>
            <p:spPr>
              <a:xfrm>
                <a:off x="5209465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2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4E3F503-6B84-D25C-E60C-AD2C301866F1}"/>
                  </a:ext>
                </a:extLst>
              </p:cNvPr>
              <p:cNvSpPr txBox="1"/>
              <p:nvPr/>
            </p:nvSpPr>
            <p:spPr>
              <a:xfrm>
                <a:off x="5118025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#585858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B1FEF734-21AC-ACDB-3D28-D37EE1C09C2A}"/>
                  </a:ext>
                </a:extLst>
              </p:cNvPr>
              <p:cNvSpPr/>
              <p:nvPr/>
            </p:nvSpPr>
            <p:spPr>
              <a:xfrm>
                <a:off x="7413717" y="3950208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767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E2095DA-EBA1-CAF9-6D1E-84039F2CF236}"/>
                  </a:ext>
                </a:extLst>
              </p:cNvPr>
              <p:cNvSpPr txBox="1"/>
              <p:nvPr/>
            </p:nvSpPr>
            <p:spPr>
              <a:xfrm>
                <a:off x="7505157" y="4434840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Grey 3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CD7BA4B-3291-6FFD-6381-60CDCC89AA43}"/>
                  </a:ext>
                </a:extLst>
              </p:cNvPr>
              <p:cNvSpPr txBox="1"/>
              <p:nvPr/>
            </p:nvSpPr>
            <p:spPr>
              <a:xfrm>
                <a:off x="7413717" y="4709160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#767676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638DCA-6126-5B46-0527-8D25E5ABD0B3}"/>
                </a:ext>
              </a:extLst>
            </p:cNvPr>
            <p:cNvGrpSpPr/>
            <p:nvPr/>
          </p:nvGrpSpPr>
          <p:grpSpPr>
            <a:xfrm>
              <a:off x="9701514" y="1508857"/>
              <a:ext cx="2167676" cy="941832"/>
              <a:chOff x="526639" y="1253839"/>
              <a:chExt cx="2167676" cy="941832"/>
            </a:xfrm>
          </p:grpSpPr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E2249584-CA0E-9277-9670-EC5585183829}"/>
                  </a:ext>
                </a:extLst>
              </p:cNvPr>
              <p:cNvSpPr/>
              <p:nvPr/>
            </p:nvSpPr>
            <p:spPr>
              <a:xfrm>
                <a:off x="526639" y="1253839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9525">
                <a:solidFill>
                  <a:srgbClr val="C8B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A905D7A-06D2-8CB9-2BB7-16D6D971B82A}"/>
                  </a:ext>
                </a:extLst>
              </p:cNvPr>
              <p:cNvSpPr txBox="1"/>
              <p:nvPr/>
            </p:nvSpPr>
            <p:spPr>
              <a:xfrm>
                <a:off x="618079" y="1738471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White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A2361B-43E1-0528-59D6-06EF254E6A10}"/>
                  </a:ext>
                </a:extLst>
              </p:cNvPr>
              <p:cNvSpPr txBox="1"/>
              <p:nvPr/>
            </p:nvSpPr>
            <p:spPr>
              <a:xfrm>
                <a:off x="526639" y="2012791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#FFFFFF</a:t>
                </a:r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9186659-41A4-21B2-C148-6E8F5B6FD2F5}"/>
              </a:ext>
            </a:extLst>
          </p:cNvPr>
          <p:cNvGrpSpPr/>
          <p:nvPr/>
        </p:nvGrpSpPr>
        <p:grpSpPr>
          <a:xfrm>
            <a:off x="526639" y="3651163"/>
            <a:ext cx="11350447" cy="1183450"/>
            <a:chOff x="526639" y="3651163"/>
            <a:chExt cx="11350447" cy="1183450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751C4F7-6BC0-B751-1166-34382D4CA2F7}"/>
                </a:ext>
              </a:extLst>
            </p:cNvPr>
            <p:cNvGrpSpPr/>
            <p:nvPr/>
          </p:nvGrpSpPr>
          <p:grpSpPr>
            <a:xfrm>
              <a:off x="526639" y="3651163"/>
              <a:ext cx="9054753" cy="1183450"/>
              <a:chOff x="526639" y="4798378"/>
              <a:chExt cx="9054753" cy="1183450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252D01-8E5D-62D7-ED1A-AD550638620F}"/>
                  </a:ext>
                </a:extLst>
              </p:cNvPr>
              <p:cNvSpPr txBox="1"/>
              <p:nvPr/>
            </p:nvSpPr>
            <p:spPr>
              <a:xfrm>
                <a:off x="526639" y="4798378"/>
                <a:ext cx="798617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PIVOT PURPLE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9D24317-297C-8A6D-50BD-DE5432E7ED67}"/>
                  </a:ext>
                </a:extLst>
              </p:cNvPr>
              <p:cNvSpPr/>
              <p:nvPr/>
            </p:nvSpPr>
            <p:spPr>
              <a:xfrm>
                <a:off x="526639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765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8EDA59-2ACB-A6C1-B37C-397B8A89B244}"/>
                  </a:ext>
                </a:extLst>
              </p:cNvPr>
              <p:cNvSpPr txBox="1"/>
              <p:nvPr/>
            </p:nvSpPr>
            <p:spPr>
              <a:xfrm>
                <a:off x="618079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Pivot Purple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E8DA1AC-1A9A-3460-10B3-86BA2F5DAF7A}"/>
                  </a:ext>
                </a:extLst>
              </p:cNvPr>
              <p:cNvSpPr txBox="1"/>
              <p:nvPr/>
            </p:nvSpPr>
            <p:spPr>
              <a:xfrm>
                <a:off x="526639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#765FFF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74620B6B-4637-4D1A-AF68-46D41A8EF7AA}"/>
                  </a:ext>
                </a:extLst>
              </p:cNvPr>
              <p:cNvSpPr/>
              <p:nvPr/>
            </p:nvSpPr>
            <p:spPr>
              <a:xfrm>
                <a:off x="2822331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917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62384A0-21A6-9350-A720-0E6563F32506}"/>
                  </a:ext>
                </a:extLst>
              </p:cNvPr>
              <p:cNvSpPr txBox="1"/>
              <p:nvPr/>
            </p:nvSpPr>
            <p:spPr>
              <a:xfrm>
                <a:off x="2913771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89C62F-908C-EF29-4807-BB04B78DA2FB}"/>
                  </a:ext>
                </a:extLst>
              </p:cNvPr>
              <p:cNvSpPr txBox="1"/>
              <p:nvPr/>
            </p:nvSpPr>
            <p:spPr>
              <a:xfrm>
                <a:off x="2822331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#917FFF</a:t>
                </a:r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308AEA36-2FB8-42DA-407C-D294B3CD5F9C}"/>
                  </a:ext>
                </a:extLst>
              </p:cNvPr>
              <p:cNvSpPr/>
              <p:nvPr/>
            </p:nvSpPr>
            <p:spPr>
              <a:xfrm>
                <a:off x="5118024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AD9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3EA376-72BD-DC87-943C-48E0D98B4D73}"/>
                  </a:ext>
                </a:extLst>
              </p:cNvPr>
              <p:cNvSpPr txBox="1"/>
              <p:nvPr/>
            </p:nvSpPr>
            <p:spPr>
              <a:xfrm>
                <a:off x="5209464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2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D100CD-34A0-DD67-A928-955D85FDC3E6}"/>
                  </a:ext>
                </a:extLst>
              </p:cNvPr>
              <p:cNvSpPr txBox="1"/>
              <p:nvPr/>
            </p:nvSpPr>
            <p:spPr>
              <a:xfrm>
                <a:off x="5118024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#AD9FFF</a:t>
                </a:r>
              </a:p>
            </p:txBody>
          </p:sp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31ECC6E2-7A92-F0C5-C8D6-934C81B801DE}"/>
                  </a:ext>
                </a:extLst>
              </p:cNvPr>
              <p:cNvSpPr/>
              <p:nvPr/>
            </p:nvSpPr>
            <p:spPr>
              <a:xfrm>
                <a:off x="7413716" y="5039996"/>
                <a:ext cx="2167676" cy="731520"/>
              </a:xfrm>
              <a:prstGeom prst="roundRect">
                <a:avLst>
                  <a:gd name="adj" fmla="val 12000"/>
                </a:avLst>
              </a:prstGeom>
              <a:solidFill>
                <a:srgbClr val="C8BF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6EBB43B-BAEF-71CF-B7B9-1481968B6093}"/>
                  </a:ext>
                </a:extLst>
              </p:cNvPr>
              <p:cNvSpPr txBox="1"/>
              <p:nvPr/>
            </p:nvSpPr>
            <p:spPr>
              <a:xfrm>
                <a:off x="7505156" y="5524628"/>
                <a:ext cx="2039660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50" b="1" i="0" u="none" strike="noStrike" kern="1200" cap="none" spc="0" normalizeH="0" baseline="0" noProof="0">
                    <a:ln>
                      <a:noFill/>
                    </a:ln>
                    <a:solidFill>
                      <a:srgbClr val="1D1D1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Tint 3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9198B4-B2B9-622A-D304-67C45F98175D}"/>
                  </a:ext>
                </a:extLst>
              </p:cNvPr>
              <p:cNvSpPr txBox="1"/>
              <p:nvPr/>
            </p:nvSpPr>
            <p:spPr>
              <a:xfrm>
                <a:off x="7413716" y="5798948"/>
                <a:ext cx="2167676" cy="18288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700" b="0" i="0" u="none" strike="noStrike" kern="1200" cap="none" spc="0" normalizeH="0" baseline="0" noProof="0">
                    <a:ln>
                      <a:noFill/>
                    </a:ln>
                    <a:solidFill>
                      <a:srgbClr val="585858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#C8BFFF</a:t>
                </a:r>
              </a:p>
            </p:txBody>
          </p:sp>
        </p:grp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85A3DADF-B479-CB26-3F39-3C67A8685B7B}"/>
                </a:ext>
              </a:extLst>
            </p:cNvPr>
            <p:cNvSpPr/>
            <p:nvPr/>
          </p:nvSpPr>
          <p:spPr>
            <a:xfrm>
              <a:off x="9709410" y="3892781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E9E4FF"/>
            </a:solidFill>
            <a:ln w="9525">
              <a:solidFill>
                <a:srgbClr val="C8B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CCD1A53-F935-2619-7CD9-FB1F031B00A7}"/>
                </a:ext>
              </a:extLst>
            </p:cNvPr>
            <p:cNvSpPr txBox="1"/>
            <p:nvPr/>
          </p:nvSpPr>
          <p:spPr>
            <a:xfrm>
              <a:off x="9800850" y="4377413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Light Lavender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BC8EA94-1E34-F318-7BE4-84745519AD43}"/>
                </a:ext>
              </a:extLst>
            </p:cNvPr>
            <p:cNvSpPr txBox="1"/>
            <p:nvPr/>
          </p:nvSpPr>
          <p:spPr>
            <a:xfrm>
              <a:off x="9709410" y="4651733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#E9E4FF</a:t>
              </a:r>
            </a:p>
          </p:txBody>
        </p:sp>
      </p:grp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30A37571-E243-D88B-DAEE-C4346E9DF0E7}"/>
              </a:ext>
            </a:extLst>
          </p:cNvPr>
          <p:cNvSpPr/>
          <p:nvPr/>
        </p:nvSpPr>
        <p:spPr>
          <a:xfrm>
            <a:off x="7794702" y="87704"/>
            <a:ext cx="4082384" cy="1201697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Global Usage Split</a:t>
            </a:r>
            <a:b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</a:b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White + Greys (base)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 75-80%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Pivot Purple  15-20%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Secondary Accents  3-5% MAX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281A42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  <a:sym typeface="Wingdings" pitchFamily="2" charset="2"/>
              </a:rPr>
              <a:t>Please note RAG color values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281A42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832CC8-1613-2B78-2AC6-8C07DAB320FE}"/>
              </a:ext>
            </a:extLst>
          </p:cNvPr>
          <p:cNvGrpSpPr/>
          <p:nvPr/>
        </p:nvGrpSpPr>
        <p:grpSpPr>
          <a:xfrm>
            <a:off x="526639" y="4860374"/>
            <a:ext cx="11350447" cy="1171101"/>
            <a:chOff x="526639" y="4860374"/>
            <a:chExt cx="11350447" cy="117110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54B0B8-D4AA-91F7-EC59-ED55CCD96C03}"/>
                </a:ext>
              </a:extLst>
            </p:cNvPr>
            <p:cNvSpPr txBox="1"/>
            <p:nvPr/>
          </p:nvSpPr>
          <p:spPr>
            <a:xfrm>
              <a:off x="526639" y="4860374"/>
              <a:ext cx="11350447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ACCENTS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40D83C5C-3EED-F9BA-DEC2-A3EB3CAAD646}"/>
                </a:ext>
              </a:extLst>
            </p:cNvPr>
            <p:cNvSpPr/>
            <p:nvPr/>
          </p:nvSpPr>
          <p:spPr>
            <a:xfrm>
              <a:off x="526639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3567ADA-44B3-80D0-CE2A-A78172AF58BD}"/>
                </a:ext>
              </a:extLst>
            </p:cNvPr>
            <p:cNvSpPr txBox="1"/>
            <p:nvPr/>
          </p:nvSpPr>
          <p:spPr>
            <a:xfrm>
              <a:off x="618079" y="5564462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Anchor Green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9085BD5-BB1E-7508-62AB-69EC783B5C09}"/>
                </a:ext>
              </a:extLst>
            </p:cNvPr>
            <p:cNvSpPr txBox="1"/>
            <p:nvPr/>
          </p:nvSpPr>
          <p:spPr>
            <a:xfrm>
              <a:off x="526639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#00C27A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B5E8E23F-714E-BBD5-DB45-537718BC68AE}"/>
                </a:ext>
              </a:extLst>
            </p:cNvPr>
            <p:cNvSpPr/>
            <p:nvPr/>
          </p:nvSpPr>
          <p:spPr>
            <a:xfrm>
              <a:off x="2822331" y="5079830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FB9D7E9-E8F7-FDE1-3218-F271AE02B4E6}"/>
                </a:ext>
              </a:extLst>
            </p:cNvPr>
            <p:cNvSpPr txBox="1"/>
            <p:nvPr/>
          </p:nvSpPr>
          <p:spPr>
            <a:xfrm>
              <a:off x="2913771" y="5564462"/>
              <a:ext cx="1047082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Momentum 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Amber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AB0C618-FC88-2C4A-1BA2-61D514781546}"/>
                </a:ext>
              </a:extLst>
            </p:cNvPr>
            <p:cNvSpPr txBox="1"/>
            <p:nvPr/>
          </p:nvSpPr>
          <p:spPr>
            <a:xfrm>
              <a:off x="2822331" y="5838782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#FFB547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48E15E26-EDAC-A683-EB99-602C507516EB}"/>
                </a:ext>
              </a:extLst>
            </p:cNvPr>
            <p:cNvSpPr/>
            <p:nvPr/>
          </p:nvSpPr>
          <p:spPr>
            <a:xfrm>
              <a:off x="7413718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60BDB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AA7AF3E-0510-7BA1-C084-58A4955F6CEC}"/>
                </a:ext>
              </a:extLst>
            </p:cNvPr>
            <p:cNvSpPr txBox="1"/>
            <p:nvPr/>
          </p:nvSpPr>
          <p:spPr>
            <a:xfrm>
              <a:off x="7505158" y="5574275"/>
              <a:ext cx="678391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Talent 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Teal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26AF32C-2084-FE34-86DF-5228B9840CB4}"/>
                </a:ext>
              </a:extLst>
            </p:cNvPr>
            <p:cNvSpPr txBox="1"/>
            <p:nvPr/>
          </p:nvSpPr>
          <p:spPr>
            <a:xfrm>
              <a:off x="7413718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#60BDBC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BB7B9B45-B347-FCD2-CBB6-4DF248C04253}"/>
                </a:ext>
              </a:extLst>
            </p:cNvPr>
            <p:cNvSpPr/>
            <p:nvPr/>
          </p:nvSpPr>
          <p:spPr>
            <a:xfrm>
              <a:off x="9709410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7BE438-9D8A-24A5-5FDC-2D39A0AAD0CE}"/>
                </a:ext>
              </a:extLst>
            </p:cNvPr>
            <p:cNvSpPr txBox="1"/>
            <p:nvPr/>
          </p:nvSpPr>
          <p:spPr>
            <a:xfrm>
              <a:off x="9800850" y="5574275"/>
              <a:ext cx="203966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Signal Magenta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B423E6A-C2BE-7519-2B6C-EF6981B6DC38}"/>
                </a:ext>
              </a:extLst>
            </p:cNvPr>
            <p:cNvSpPr txBox="1"/>
            <p:nvPr/>
          </p:nvSpPr>
          <p:spPr>
            <a:xfrm>
              <a:off x="9709410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#FF2E88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133D5A0-372C-FD6C-3DFE-BE7D844FCE90}"/>
                </a:ext>
              </a:extLst>
            </p:cNvPr>
            <p:cNvSpPr/>
            <p:nvPr/>
          </p:nvSpPr>
          <p:spPr>
            <a:xfrm>
              <a:off x="5118024" y="5089643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F69D78F-9DD9-02B4-2867-83FFF42F353F}"/>
                </a:ext>
              </a:extLst>
            </p:cNvPr>
            <p:cNvSpPr txBox="1"/>
            <p:nvPr/>
          </p:nvSpPr>
          <p:spPr>
            <a:xfrm>
              <a:off x="5209464" y="5574275"/>
              <a:ext cx="853119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Resistance Red</a:t>
              </a:r>
              <a:endParaRPr kumimoji="0" sz="75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CD9533A-CDD2-1C12-EA86-C6648DA8C12E}"/>
                </a:ext>
              </a:extLst>
            </p:cNvPr>
            <p:cNvSpPr txBox="1"/>
            <p:nvPr/>
          </p:nvSpPr>
          <p:spPr>
            <a:xfrm>
              <a:off x="5118024" y="5848595"/>
              <a:ext cx="2167676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#60BDBC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2AC014-5730-C61D-360A-815AAE749F68}"/>
              </a:ext>
            </a:extLst>
          </p:cNvPr>
          <p:cNvGrpSpPr/>
          <p:nvPr/>
        </p:nvGrpSpPr>
        <p:grpSpPr>
          <a:xfrm>
            <a:off x="526639" y="2476451"/>
            <a:ext cx="11350447" cy="1163174"/>
            <a:chOff x="526639" y="2476451"/>
            <a:chExt cx="11350447" cy="1163174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61F74662-D6E3-6527-A6D7-1C24251E28BE}"/>
                </a:ext>
              </a:extLst>
            </p:cNvPr>
            <p:cNvGrpSpPr/>
            <p:nvPr/>
          </p:nvGrpSpPr>
          <p:grpSpPr>
            <a:xfrm>
              <a:off x="526639" y="2476451"/>
              <a:ext cx="9054755" cy="1148950"/>
              <a:chOff x="526639" y="3530556"/>
              <a:chExt cx="9054755" cy="1148950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AD81A9A8-51BB-395C-557B-FDAF96ADADA6}"/>
                  </a:ext>
                </a:extLst>
              </p:cNvPr>
              <p:cNvGrpSpPr/>
              <p:nvPr/>
            </p:nvGrpSpPr>
            <p:grpSpPr>
              <a:xfrm>
                <a:off x="526639" y="3737674"/>
                <a:ext cx="9054755" cy="941832"/>
                <a:chOff x="526639" y="3737674"/>
                <a:chExt cx="9054755" cy="941832"/>
              </a:xfrm>
            </p:grpSpPr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52A95E11-5580-D774-B108-AE7D4E66F9BF}"/>
                    </a:ext>
                  </a:extLst>
                </p:cNvPr>
                <p:cNvSpPr/>
                <p:nvPr/>
              </p:nvSpPr>
              <p:spPr>
                <a:xfrm>
                  <a:off x="526639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281A42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CD37DE33-C1FA-A813-DFC9-04880AC6BA6D}"/>
                    </a:ext>
                  </a:extLst>
                </p:cNvPr>
                <p:cNvSpPr txBox="1"/>
                <p:nvPr/>
              </p:nvSpPr>
              <p:spPr>
                <a:xfrm>
                  <a:off x="618079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Vector Dark Purple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3648888-9910-661C-0C5B-815C50C76D4C}"/>
                    </a:ext>
                  </a:extLst>
                </p:cNvPr>
                <p:cNvSpPr txBox="1"/>
                <p:nvPr/>
              </p:nvSpPr>
              <p:spPr>
                <a:xfrm>
                  <a:off x="526639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#281A42</a:t>
                  </a:r>
                </a:p>
              </p:txBody>
            </p:sp>
            <p:sp>
              <p:nvSpPr>
                <p:cNvPr id="34" name="Rounded Rectangle 33">
                  <a:extLst>
                    <a:ext uri="{FF2B5EF4-FFF2-40B4-BE49-F238E27FC236}">
                      <a16:creationId xmlns:a16="http://schemas.microsoft.com/office/drawing/2014/main" id="{B911F5A5-2FED-8341-AA28-A0E585B45307}"/>
                    </a:ext>
                  </a:extLst>
                </p:cNvPr>
                <p:cNvSpPr/>
                <p:nvPr/>
              </p:nvSpPr>
              <p:spPr>
                <a:xfrm>
                  <a:off x="2822331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7A828D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E2F6E75-ECEC-0D59-F01C-43095FB5C049}"/>
                    </a:ext>
                  </a:extLst>
                </p:cNvPr>
                <p:cNvSpPr txBox="1"/>
                <p:nvPr/>
              </p:nvSpPr>
              <p:spPr>
                <a:xfrm>
                  <a:off x="2913771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Grey Mid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E3C4CD8-22E1-EEDA-20D7-77F1C36FF746}"/>
                    </a:ext>
                  </a:extLst>
                </p:cNvPr>
                <p:cNvSpPr txBox="1"/>
                <p:nvPr/>
              </p:nvSpPr>
              <p:spPr>
                <a:xfrm>
                  <a:off x="2822331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#7A828D</a:t>
                  </a:r>
                </a:p>
              </p:txBody>
            </p:sp>
            <p:sp>
              <p:nvSpPr>
                <p:cNvPr id="37" name="Rounded Rectangle 36">
                  <a:extLst>
                    <a:ext uri="{FF2B5EF4-FFF2-40B4-BE49-F238E27FC236}">
                      <a16:creationId xmlns:a16="http://schemas.microsoft.com/office/drawing/2014/main" id="{FD07CFF2-A2F9-1CA6-9366-FBCB19627DBF}"/>
                    </a:ext>
                  </a:extLst>
                </p:cNvPr>
                <p:cNvSpPr/>
                <p:nvPr/>
              </p:nvSpPr>
              <p:spPr>
                <a:xfrm>
                  <a:off x="5118026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B2BBCA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24E55A5-9D03-C74D-121D-542B09F5B25C}"/>
                    </a:ext>
                  </a:extLst>
                </p:cNvPr>
                <p:cNvSpPr txBox="1"/>
                <p:nvPr/>
              </p:nvSpPr>
              <p:spPr>
                <a:xfrm>
                  <a:off x="5209466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Light Grey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54F6040-9CEA-A424-C18A-518F121E995F}"/>
                    </a:ext>
                  </a:extLst>
                </p:cNvPr>
                <p:cNvSpPr txBox="1"/>
                <p:nvPr/>
              </p:nvSpPr>
              <p:spPr>
                <a:xfrm>
                  <a:off x="5118026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#B2BBCA</a:t>
                  </a:r>
                </a:p>
              </p:txBody>
            </p:sp>
            <p:sp>
              <p:nvSpPr>
                <p:cNvPr id="40" name="Rounded Rectangle 39">
                  <a:extLst>
                    <a:ext uri="{FF2B5EF4-FFF2-40B4-BE49-F238E27FC236}">
                      <a16:creationId xmlns:a16="http://schemas.microsoft.com/office/drawing/2014/main" id="{5E4AF1EA-9BB3-92BE-13A2-A090519F395C}"/>
                    </a:ext>
                  </a:extLst>
                </p:cNvPr>
                <p:cNvSpPr/>
                <p:nvPr/>
              </p:nvSpPr>
              <p:spPr>
                <a:xfrm>
                  <a:off x="7413718" y="3737674"/>
                  <a:ext cx="2167676" cy="731520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D0D7D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8B7C257-2D98-CA86-FFAE-546756A6E410}"/>
                    </a:ext>
                  </a:extLst>
                </p:cNvPr>
                <p:cNvSpPr txBox="1"/>
                <p:nvPr/>
              </p:nvSpPr>
              <p:spPr>
                <a:xfrm>
                  <a:off x="7505158" y="4222306"/>
                  <a:ext cx="2039660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5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1D1D1D"/>
                      </a:solidFill>
                      <a:effectLst/>
                      <a:uLnTx/>
                      <a:uFillTx/>
                      <a:latin typeface="Segoe UI"/>
                      <a:ea typeface="+mn-ea"/>
                      <a:cs typeface="+mn-cs"/>
                    </a:rPr>
                    <a:t>Soft Grey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EAEE9FA7-79C7-28B6-0B60-A09B22D82ED4}"/>
                    </a:ext>
                  </a:extLst>
                </p:cNvPr>
                <p:cNvSpPr txBox="1"/>
                <p:nvPr/>
              </p:nvSpPr>
              <p:spPr>
                <a:xfrm>
                  <a:off x="7413718" y="4496626"/>
                  <a:ext cx="2167676" cy="182880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sz="7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585858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#D0D7DF</a:t>
                  </a: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97CFF3D-BC90-15F1-DC82-658CB75C7E5E}"/>
                  </a:ext>
                </a:extLst>
              </p:cNvPr>
              <p:cNvSpPr txBox="1"/>
              <p:nvPr/>
            </p:nvSpPr>
            <p:spPr>
              <a:xfrm>
                <a:off x="526639" y="3530556"/>
                <a:ext cx="588623" cy="20005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1" i="0" u="none" strike="noStrike" kern="1200" cap="none" spc="0" normalizeH="0" baseline="0" noProof="0">
                    <a:ln>
                      <a:noFill/>
                    </a:ln>
                    <a:solidFill>
                      <a:srgbClr val="7A828D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NEUTRAL</a:t>
                </a:r>
                <a:endParaRPr kumimoji="0" sz="700" b="1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endParaRPr>
              </a:p>
            </p:txBody>
          </p:sp>
        </p:grp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A835405E-D7C9-8DF9-1DB3-2CBACCDCB80C}"/>
                </a:ext>
              </a:extLst>
            </p:cNvPr>
            <p:cNvSpPr/>
            <p:nvPr/>
          </p:nvSpPr>
          <p:spPr>
            <a:xfrm>
              <a:off x="9709410" y="2680618"/>
              <a:ext cx="2167676" cy="731520"/>
            </a:xfrm>
            <a:prstGeom prst="roundRect">
              <a:avLst>
                <a:gd name="adj" fmla="val 12000"/>
              </a:avLst>
            </a:prstGeom>
            <a:solidFill>
              <a:srgbClr val="F2F2F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E5E6F44-B421-5467-B1B6-D8C542603A24}"/>
                </a:ext>
              </a:extLst>
            </p:cNvPr>
            <p:cNvSpPr txBox="1"/>
            <p:nvPr/>
          </p:nvSpPr>
          <p:spPr>
            <a:xfrm>
              <a:off x="9800850" y="3165250"/>
              <a:ext cx="782587" cy="20774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Lightest</a:t>
              </a:r>
              <a:r>
                <a:rPr kumimoji="0" sz="75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 Grey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EB5F45F-705D-9983-F18B-DBF68F980895}"/>
                </a:ext>
              </a:extLst>
            </p:cNvPr>
            <p:cNvSpPr txBox="1"/>
            <p:nvPr/>
          </p:nvSpPr>
          <p:spPr>
            <a:xfrm>
              <a:off x="10506950" y="3439570"/>
              <a:ext cx="572594" cy="2000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#</a:t>
              </a: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585858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F2F2F2</a:t>
              </a:r>
              <a:endParaRPr kumimoji="0" sz="7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7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F2C549-D80C-5298-B387-0CC3223A4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DF1D5-C570-2214-5B07-F2505A1A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432000"/>
            <a:ext cx="11338560" cy="546568"/>
          </a:xfrm>
          <a:prstGeom prst="rect">
            <a:avLst/>
          </a:prstGeom>
        </p:spPr>
        <p:txBody>
          <a:bodyPr/>
          <a:lstStyle/>
          <a:p>
            <a:r>
              <a:rPr lang="en-US"/>
              <a:t>Icon Library</a:t>
            </a:r>
          </a:p>
        </p:txBody>
      </p:sp>
      <p:pic>
        <p:nvPicPr>
          <p:cNvPr id="110" name="Picture 109" descr="tmpwmegdt9o.png">
            <a:extLst>
              <a:ext uri="{FF2B5EF4-FFF2-40B4-BE49-F238E27FC236}">
                <a16:creationId xmlns:a16="http://schemas.microsoft.com/office/drawing/2014/main" id="{53506FBF-2206-DC15-3F7E-0F93E9CF7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77" y="1864758"/>
            <a:ext cx="621792" cy="621792"/>
          </a:xfrm>
          <a:prstGeom prst="rect">
            <a:avLst/>
          </a:prstGeom>
        </p:spPr>
      </p:pic>
      <p:pic>
        <p:nvPicPr>
          <p:cNvPr id="111" name="Picture 110" descr="tmpscby2l4g.png">
            <a:extLst>
              <a:ext uri="{FF2B5EF4-FFF2-40B4-BE49-F238E27FC236}">
                <a16:creationId xmlns:a16="http://schemas.microsoft.com/office/drawing/2014/main" id="{50A2B4E0-AE26-D671-C90F-E36D34C7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97" y="1864758"/>
            <a:ext cx="621792" cy="621792"/>
          </a:xfrm>
          <a:prstGeom prst="rect">
            <a:avLst/>
          </a:prstGeom>
        </p:spPr>
      </p:pic>
      <p:pic>
        <p:nvPicPr>
          <p:cNvPr id="112" name="Picture 111" descr="tmp6i34a4ee.png">
            <a:extLst>
              <a:ext uri="{FF2B5EF4-FFF2-40B4-BE49-F238E27FC236}">
                <a16:creationId xmlns:a16="http://schemas.microsoft.com/office/drawing/2014/main" id="{75901C41-BF80-B263-943A-5035FD045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317" y="1864758"/>
            <a:ext cx="621792" cy="621792"/>
          </a:xfrm>
          <a:prstGeom prst="rect">
            <a:avLst/>
          </a:prstGeom>
        </p:spPr>
      </p:pic>
      <p:pic>
        <p:nvPicPr>
          <p:cNvPr id="113" name="Picture 112" descr="tmpph3g3296.png">
            <a:extLst>
              <a:ext uri="{FF2B5EF4-FFF2-40B4-BE49-F238E27FC236}">
                <a16:creationId xmlns:a16="http://schemas.microsoft.com/office/drawing/2014/main" id="{72546203-FD9B-7F36-62BE-D3E6C11F1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837" y="1864758"/>
            <a:ext cx="621792" cy="621792"/>
          </a:xfrm>
          <a:prstGeom prst="rect">
            <a:avLst/>
          </a:prstGeom>
        </p:spPr>
      </p:pic>
      <p:pic>
        <p:nvPicPr>
          <p:cNvPr id="114" name="Picture 113" descr="tmpm85328jg.png">
            <a:extLst>
              <a:ext uri="{FF2B5EF4-FFF2-40B4-BE49-F238E27FC236}">
                <a16:creationId xmlns:a16="http://schemas.microsoft.com/office/drawing/2014/main" id="{7D733FAA-A402-6990-8BA7-B244FDC02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8357" y="1864758"/>
            <a:ext cx="621792" cy="621792"/>
          </a:xfrm>
          <a:prstGeom prst="rect">
            <a:avLst/>
          </a:prstGeom>
        </p:spPr>
      </p:pic>
      <p:pic>
        <p:nvPicPr>
          <p:cNvPr id="115" name="Picture 114" descr="tmp9rfc1_ou.png">
            <a:extLst>
              <a:ext uri="{FF2B5EF4-FFF2-40B4-BE49-F238E27FC236}">
                <a16:creationId xmlns:a16="http://schemas.microsoft.com/office/drawing/2014/main" id="{DB810334-B4DC-1F8F-B598-B4B3DAD8A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9877" y="1864758"/>
            <a:ext cx="621792" cy="621792"/>
          </a:xfrm>
          <a:prstGeom prst="rect">
            <a:avLst/>
          </a:prstGeom>
        </p:spPr>
      </p:pic>
      <p:pic>
        <p:nvPicPr>
          <p:cNvPr id="116" name="Picture 115" descr="tmppycpzru4.png">
            <a:extLst>
              <a:ext uri="{FF2B5EF4-FFF2-40B4-BE49-F238E27FC236}">
                <a16:creationId xmlns:a16="http://schemas.microsoft.com/office/drawing/2014/main" id="{542FBB74-740D-E5C4-5C61-7345A8F7BE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1397" y="1864758"/>
            <a:ext cx="621792" cy="621792"/>
          </a:xfrm>
          <a:prstGeom prst="rect">
            <a:avLst/>
          </a:prstGeom>
        </p:spPr>
      </p:pic>
      <p:pic>
        <p:nvPicPr>
          <p:cNvPr id="117" name="Picture 116" descr="tmpq20jq3tz.png">
            <a:extLst>
              <a:ext uri="{FF2B5EF4-FFF2-40B4-BE49-F238E27FC236}">
                <a16:creationId xmlns:a16="http://schemas.microsoft.com/office/drawing/2014/main" id="{F2F11EE4-81B9-C90F-33A3-0F7AE1B8B4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2917" y="1864758"/>
            <a:ext cx="621792" cy="621792"/>
          </a:xfrm>
          <a:prstGeom prst="rect">
            <a:avLst/>
          </a:prstGeom>
        </p:spPr>
      </p:pic>
      <p:pic>
        <p:nvPicPr>
          <p:cNvPr id="118" name="Picture 117" descr="tmpdh5kmuxr.png">
            <a:extLst>
              <a:ext uri="{FF2B5EF4-FFF2-40B4-BE49-F238E27FC236}">
                <a16:creationId xmlns:a16="http://schemas.microsoft.com/office/drawing/2014/main" id="{3125E928-A825-47DF-D5AF-72E5F72BB7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4437" y="1864758"/>
            <a:ext cx="621792" cy="621792"/>
          </a:xfrm>
          <a:prstGeom prst="rect">
            <a:avLst/>
          </a:prstGeom>
        </p:spPr>
      </p:pic>
      <p:pic>
        <p:nvPicPr>
          <p:cNvPr id="119" name="Picture 118" descr="tmp9lg0vi7a.png">
            <a:extLst>
              <a:ext uri="{FF2B5EF4-FFF2-40B4-BE49-F238E27FC236}">
                <a16:creationId xmlns:a16="http://schemas.microsoft.com/office/drawing/2014/main" id="{44FD11A3-3C5E-87B3-31A7-C5A61D0160A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75957" y="1864758"/>
            <a:ext cx="621792" cy="621792"/>
          </a:xfrm>
          <a:prstGeom prst="rect">
            <a:avLst/>
          </a:prstGeom>
        </p:spPr>
      </p:pic>
      <p:pic>
        <p:nvPicPr>
          <p:cNvPr id="120" name="Picture 119" descr="tmp8o1sw7qu.png">
            <a:extLst>
              <a:ext uri="{FF2B5EF4-FFF2-40B4-BE49-F238E27FC236}">
                <a16:creationId xmlns:a16="http://schemas.microsoft.com/office/drawing/2014/main" id="{4337B5E0-49D2-DAED-35A4-97E74E85975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7477" y="1864758"/>
            <a:ext cx="621792" cy="621792"/>
          </a:xfrm>
          <a:prstGeom prst="rect">
            <a:avLst/>
          </a:prstGeom>
        </p:spPr>
      </p:pic>
      <p:pic>
        <p:nvPicPr>
          <p:cNvPr id="121" name="Picture 120" descr="tmp_5ut15tg.png">
            <a:extLst>
              <a:ext uri="{FF2B5EF4-FFF2-40B4-BE49-F238E27FC236}">
                <a16:creationId xmlns:a16="http://schemas.microsoft.com/office/drawing/2014/main" id="{9491B709-B44F-4BD1-A152-05055E6291B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38997" y="1864758"/>
            <a:ext cx="621792" cy="621792"/>
          </a:xfrm>
          <a:prstGeom prst="rect">
            <a:avLst/>
          </a:prstGeom>
        </p:spPr>
      </p:pic>
      <p:pic>
        <p:nvPicPr>
          <p:cNvPr id="122" name="Picture 121" descr="tmpzskfvg_o.png">
            <a:extLst>
              <a:ext uri="{FF2B5EF4-FFF2-40B4-BE49-F238E27FC236}">
                <a16:creationId xmlns:a16="http://schemas.microsoft.com/office/drawing/2014/main" id="{7C44700E-2612-2501-8638-F4C944A591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0517" y="1864758"/>
            <a:ext cx="621792" cy="621792"/>
          </a:xfrm>
          <a:prstGeom prst="rect">
            <a:avLst/>
          </a:prstGeom>
        </p:spPr>
      </p:pic>
      <p:pic>
        <p:nvPicPr>
          <p:cNvPr id="123" name="Picture 122" descr="tmpj9qz0bwi.png">
            <a:extLst>
              <a:ext uri="{FF2B5EF4-FFF2-40B4-BE49-F238E27FC236}">
                <a16:creationId xmlns:a16="http://schemas.microsoft.com/office/drawing/2014/main" id="{9A385846-61D7-D9AC-AFE6-7CAF9D3966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02037" y="1864758"/>
            <a:ext cx="621792" cy="621792"/>
          </a:xfrm>
          <a:prstGeom prst="rect">
            <a:avLst/>
          </a:prstGeom>
        </p:spPr>
      </p:pic>
      <p:pic>
        <p:nvPicPr>
          <p:cNvPr id="124" name="Picture 123" descr="tmpx1hhit2g.png">
            <a:extLst>
              <a:ext uri="{FF2B5EF4-FFF2-40B4-BE49-F238E27FC236}">
                <a16:creationId xmlns:a16="http://schemas.microsoft.com/office/drawing/2014/main" id="{3FFEF8EB-866A-1054-37B9-9A924B91004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33557" y="1864758"/>
            <a:ext cx="621792" cy="621792"/>
          </a:xfrm>
          <a:prstGeom prst="rect">
            <a:avLst/>
          </a:prstGeom>
        </p:spPr>
      </p:pic>
      <p:pic>
        <p:nvPicPr>
          <p:cNvPr id="125" name="Picture 124" descr="tmpkd6vztou.png">
            <a:extLst>
              <a:ext uri="{FF2B5EF4-FFF2-40B4-BE49-F238E27FC236}">
                <a16:creationId xmlns:a16="http://schemas.microsoft.com/office/drawing/2014/main" id="{9D24D675-57EB-A9C7-4FA5-34D7075DBDD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277" y="2596278"/>
            <a:ext cx="621792" cy="621792"/>
          </a:xfrm>
          <a:prstGeom prst="rect">
            <a:avLst/>
          </a:prstGeom>
        </p:spPr>
      </p:pic>
      <p:pic>
        <p:nvPicPr>
          <p:cNvPr id="126" name="Picture 125" descr="tmpyvy65_s4.png">
            <a:extLst>
              <a:ext uri="{FF2B5EF4-FFF2-40B4-BE49-F238E27FC236}">
                <a16:creationId xmlns:a16="http://schemas.microsoft.com/office/drawing/2014/main" id="{5E28314E-0530-AC16-FD87-D3A0F3BCC9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23797" y="2596278"/>
            <a:ext cx="621792" cy="621792"/>
          </a:xfrm>
          <a:prstGeom prst="rect">
            <a:avLst/>
          </a:prstGeom>
        </p:spPr>
      </p:pic>
      <p:pic>
        <p:nvPicPr>
          <p:cNvPr id="127" name="Picture 126" descr="tmpyyqa1nnh.png">
            <a:extLst>
              <a:ext uri="{FF2B5EF4-FFF2-40B4-BE49-F238E27FC236}">
                <a16:creationId xmlns:a16="http://schemas.microsoft.com/office/drawing/2014/main" id="{4FB768A3-8739-43EC-4486-500150C1CC5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55317" y="2596278"/>
            <a:ext cx="621792" cy="621792"/>
          </a:xfrm>
          <a:prstGeom prst="rect">
            <a:avLst/>
          </a:prstGeom>
        </p:spPr>
      </p:pic>
      <p:pic>
        <p:nvPicPr>
          <p:cNvPr id="128" name="Picture 127" descr="tmp4d0rb9_3.png">
            <a:extLst>
              <a:ext uri="{FF2B5EF4-FFF2-40B4-BE49-F238E27FC236}">
                <a16:creationId xmlns:a16="http://schemas.microsoft.com/office/drawing/2014/main" id="{5DB4614A-9A66-96C5-F777-5D6CB24ECB7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86837" y="2596278"/>
            <a:ext cx="621792" cy="621792"/>
          </a:xfrm>
          <a:prstGeom prst="rect">
            <a:avLst/>
          </a:prstGeom>
        </p:spPr>
      </p:pic>
      <p:pic>
        <p:nvPicPr>
          <p:cNvPr id="129" name="Picture 128" descr="tmpky1yiry4.png">
            <a:extLst>
              <a:ext uri="{FF2B5EF4-FFF2-40B4-BE49-F238E27FC236}">
                <a16:creationId xmlns:a16="http://schemas.microsoft.com/office/drawing/2014/main" id="{0B21B426-F2A2-0F7D-E2B3-E44E47880BB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18357" y="2596278"/>
            <a:ext cx="621792" cy="621792"/>
          </a:xfrm>
          <a:prstGeom prst="rect">
            <a:avLst/>
          </a:prstGeom>
        </p:spPr>
      </p:pic>
      <p:pic>
        <p:nvPicPr>
          <p:cNvPr id="130" name="Picture 129" descr="tmphzd2gr52.png">
            <a:extLst>
              <a:ext uri="{FF2B5EF4-FFF2-40B4-BE49-F238E27FC236}">
                <a16:creationId xmlns:a16="http://schemas.microsoft.com/office/drawing/2014/main" id="{6F695EF6-61CD-ADCD-0BD6-9071C51836B4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249877" y="2596278"/>
            <a:ext cx="621792" cy="621792"/>
          </a:xfrm>
          <a:prstGeom prst="rect">
            <a:avLst/>
          </a:prstGeom>
        </p:spPr>
      </p:pic>
      <p:pic>
        <p:nvPicPr>
          <p:cNvPr id="131" name="Picture 130" descr="tmpbvv0gl0d.png">
            <a:extLst>
              <a:ext uri="{FF2B5EF4-FFF2-40B4-BE49-F238E27FC236}">
                <a16:creationId xmlns:a16="http://schemas.microsoft.com/office/drawing/2014/main" id="{0D865BF9-79BB-9B90-86BB-A3C26DC9277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981397" y="2596278"/>
            <a:ext cx="621792" cy="621792"/>
          </a:xfrm>
          <a:prstGeom prst="rect">
            <a:avLst/>
          </a:prstGeom>
        </p:spPr>
      </p:pic>
      <p:pic>
        <p:nvPicPr>
          <p:cNvPr id="132" name="Picture 131" descr="tmpchddbyd3.png">
            <a:extLst>
              <a:ext uri="{FF2B5EF4-FFF2-40B4-BE49-F238E27FC236}">
                <a16:creationId xmlns:a16="http://schemas.microsoft.com/office/drawing/2014/main" id="{3ED796E6-CEB0-E137-3A54-4BB327201D8C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2917" y="2596278"/>
            <a:ext cx="621792" cy="621792"/>
          </a:xfrm>
          <a:prstGeom prst="rect">
            <a:avLst/>
          </a:prstGeom>
        </p:spPr>
      </p:pic>
      <p:pic>
        <p:nvPicPr>
          <p:cNvPr id="133" name="Picture 132" descr="tmpwuwub87p.png">
            <a:extLst>
              <a:ext uri="{FF2B5EF4-FFF2-40B4-BE49-F238E27FC236}">
                <a16:creationId xmlns:a16="http://schemas.microsoft.com/office/drawing/2014/main" id="{D68E6B5C-FE3F-7EB9-06CC-CD023F005393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44437" y="2596278"/>
            <a:ext cx="621792" cy="621792"/>
          </a:xfrm>
          <a:prstGeom prst="rect">
            <a:avLst/>
          </a:prstGeom>
        </p:spPr>
      </p:pic>
      <p:pic>
        <p:nvPicPr>
          <p:cNvPr id="134" name="Picture 133" descr="tmpukl9h4c0.png">
            <a:extLst>
              <a:ext uri="{FF2B5EF4-FFF2-40B4-BE49-F238E27FC236}">
                <a16:creationId xmlns:a16="http://schemas.microsoft.com/office/drawing/2014/main" id="{03759CC1-5515-454A-FB3C-5D94A4E1039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75957" y="2596278"/>
            <a:ext cx="621792" cy="621792"/>
          </a:xfrm>
          <a:prstGeom prst="rect">
            <a:avLst/>
          </a:prstGeom>
        </p:spPr>
      </p:pic>
      <p:pic>
        <p:nvPicPr>
          <p:cNvPr id="135" name="Picture 134" descr="tmpkekm7gv7.png">
            <a:extLst>
              <a:ext uri="{FF2B5EF4-FFF2-40B4-BE49-F238E27FC236}">
                <a16:creationId xmlns:a16="http://schemas.microsoft.com/office/drawing/2014/main" id="{08C8F7D4-9F81-B754-5FFA-AD9242871CD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2277" y="3349004"/>
            <a:ext cx="621792" cy="621792"/>
          </a:xfrm>
          <a:prstGeom prst="rect">
            <a:avLst/>
          </a:prstGeom>
        </p:spPr>
      </p:pic>
      <p:pic>
        <p:nvPicPr>
          <p:cNvPr id="136" name="Picture 135" descr="tmpde2mbgvi.png">
            <a:extLst>
              <a:ext uri="{FF2B5EF4-FFF2-40B4-BE49-F238E27FC236}">
                <a16:creationId xmlns:a16="http://schemas.microsoft.com/office/drawing/2014/main" id="{77BD7FDC-9A8B-D6A4-B9FB-1A71AC9F3E1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23797" y="3349004"/>
            <a:ext cx="621792" cy="621792"/>
          </a:xfrm>
          <a:prstGeom prst="rect">
            <a:avLst/>
          </a:prstGeom>
        </p:spPr>
      </p:pic>
      <p:pic>
        <p:nvPicPr>
          <p:cNvPr id="137" name="Picture 136" descr="tmpfltfloi6.png">
            <a:extLst>
              <a:ext uri="{FF2B5EF4-FFF2-40B4-BE49-F238E27FC236}">
                <a16:creationId xmlns:a16="http://schemas.microsoft.com/office/drawing/2014/main" id="{6CF6F7E8-DE18-A1D4-7B7F-A9BD15C4B1D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55317" y="3349004"/>
            <a:ext cx="621792" cy="621792"/>
          </a:xfrm>
          <a:prstGeom prst="rect">
            <a:avLst/>
          </a:prstGeom>
        </p:spPr>
      </p:pic>
      <p:pic>
        <p:nvPicPr>
          <p:cNvPr id="138" name="Picture 137" descr="tmpl25v_lyg.png">
            <a:extLst>
              <a:ext uri="{FF2B5EF4-FFF2-40B4-BE49-F238E27FC236}">
                <a16:creationId xmlns:a16="http://schemas.microsoft.com/office/drawing/2014/main" id="{BCB1C430-7EE6-5478-ACFF-2DDCA33C90C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786837" y="3349004"/>
            <a:ext cx="621792" cy="621792"/>
          </a:xfrm>
          <a:prstGeom prst="rect">
            <a:avLst/>
          </a:prstGeom>
        </p:spPr>
      </p:pic>
      <p:pic>
        <p:nvPicPr>
          <p:cNvPr id="139" name="Picture 138" descr="tmp7_j64152.png">
            <a:extLst>
              <a:ext uri="{FF2B5EF4-FFF2-40B4-BE49-F238E27FC236}">
                <a16:creationId xmlns:a16="http://schemas.microsoft.com/office/drawing/2014/main" id="{7FC4D9B6-FF85-9819-58F4-05CB28ED354D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18357" y="3349004"/>
            <a:ext cx="621792" cy="621792"/>
          </a:xfrm>
          <a:prstGeom prst="rect">
            <a:avLst/>
          </a:prstGeom>
        </p:spPr>
      </p:pic>
      <p:pic>
        <p:nvPicPr>
          <p:cNvPr id="140" name="Picture 139" descr="tmpjdze2qv0.png">
            <a:extLst>
              <a:ext uri="{FF2B5EF4-FFF2-40B4-BE49-F238E27FC236}">
                <a16:creationId xmlns:a16="http://schemas.microsoft.com/office/drawing/2014/main" id="{7EA900E3-C32D-34F7-2A94-59B362B2ACE6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49877" y="3349004"/>
            <a:ext cx="621792" cy="621792"/>
          </a:xfrm>
          <a:prstGeom prst="rect">
            <a:avLst/>
          </a:prstGeom>
        </p:spPr>
      </p:pic>
      <p:pic>
        <p:nvPicPr>
          <p:cNvPr id="141" name="Picture 140" descr="tmp2rxi66xe.png">
            <a:extLst>
              <a:ext uri="{FF2B5EF4-FFF2-40B4-BE49-F238E27FC236}">
                <a16:creationId xmlns:a16="http://schemas.microsoft.com/office/drawing/2014/main" id="{6EEE558C-5A78-DDD1-3D63-E28643A5AA4F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981397" y="3349004"/>
            <a:ext cx="621792" cy="621792"/>
          </a:xfrm>
          <a:prstGeom prst="rect">
            <a:avLst/>
          </a:prstGeom>
        </p:spPr>
      </p:pic>
      <p:pic>
        <p:nvPicPr>
          <p:cNvPr id="142" name="Picture 141" descr="tmpqs42z2yu.png">
            <a:extLst>
              <a:ext uri="{FF2B5EF4-FFF2-40B4-BE49-F238E27FC236}">
                <a16:creationId xmlns:a16="http://schemas.microsoft.com/office/drawing/2014/main" id="{D154BC7D-F51B-150D-4C2F-9755BE8EE02F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712917" y="3349004"/>
            <a:ext cx="621792" cy="621792"/>
          </a:xfrm>
          <a:prstGeom prst="rect">
            <a:avLst/>
          </a:prstGeom>
        </p:spPr>
      </p:pic>
      <p:pic>
        <p:nvPicPr>
          <p:cNvPr id="143" name="Picture 142" descr="tmpbnnzun07.png">
            <a:extLst>
              <a:ext uri="{FF2B5EF4-FFF2-40B4-BE49-F238E27FC236}">
                <a16:creationId xmlns:a16="http://schemas.microsoft.com/office/drawing/2014/main" id="{35FEEEB9-08EC-79D2-04D1-12CB31D81B4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44437" y="3349004"/>
            <a:ext cx="621792" cy="621792"/>
          </a:xfrm>
          <a:prstGeom prst="rect">
            <a:avLst/>
          </a:prstGeom>
        </p:spPr>
      </p:pic>
      <p:pic>
        <p:nvPicPr>
          <p:cNvPr id="144" name="Picture 143" descr="tmpiimxfi6l.png">
            <a:extLst>
              <a:ext uri="{FF2B5EF4-FFF2-40B4-BE49-F238E27FC236}">
                <a16:creationId xmlns:a16="http://schemas.microsoft.com/office/drawing/2014/main" id="{BCF0527B-CE55-C28B-FC97-73FE932C21DF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175957" y="3349004"/>
            <a:ext cx="621792" cy="621792"/>
          </a:xfrm>
          <a:prstGeom prst="rect">
            <a:avLst/>
          </a:prstGeom>
        </p:spPr>
      </p:pic>
      <p:pic>
        <p:nvPicPr>
          <p:cNvPr id="145" name="Picture 144" descr="tmpkvz7pu_g.png">
            <a:extLst>
              <a:ext uri="{FF2B5EF4-FFF2-40B4-BE49-F238E27FC236}">
                <a16:creationId xmlns:a16="http://schemas.microsoft.com/office/drawing/2014/main" id="{EDE82405-B7C5-0A9A-3E14-97ABF7A63A47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907477" y="2596278"/>
            <a:ext cx="621792" cy="621792"/>
          </a:xfrm>
          <a:prstGeom prst="rect">
            <a:avLst/>
          </a:prstGeom>
        </p:spPr>
      </p:pic>
      <p:pic>
        <p:nvPicPr>
          <p:cNvPr id="146" name="Picture 145" descr="tmpes283e48.png">
            <a:extLst>
              <a:ext uri="{FF2B5EF4-FFF2-40B4-BE49-F238E27FC236}">
                <a16:creationId xmlns:a16="http://schemas.microsoft.com/office/drawing/2014/main" id="{A49E2208-550A-B7A6-7739-37D3128B8830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638997" y="2596278"/>
            <a:ext cx="621792" cy="621792"/>
          </a:xfrm>
          <a:prstGeom prst="rect">
            <a:avLst/>
          </a:prstGeom>
        </p:spPr>
      </p:pic>
      <p:pic>
        <p:nvPicPr>
          <p:cNvPr id="147" name="Picture 146" descr="tmpml3u8z9p.png">
            <a:extLst>
              <a:ext uri="{FF2B5EF4-FFF2-40B4-BE49-F238E27FC236}">
                <a16:creationId xmlns:a16="http://schemas.microsoft.com/office/drawing/2014/main" id="{73312783-E747-309F-BC53-C438DB3EFDB8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370517" y="2596278"/>
            <a:ext cx="621792" cy="621792"/>
          </a:xfrm>
          <a:prstGeom prst="rect">
            <a:avLst/>
          </a:prstGeom>
        </p:spPr>
      </p:pic>
      <p:pic>
        <p:nvPicPr>
          <p:cNvPr id="148" name="Picture 147" descr="tmppfp0a6da.png">
            <a:extLst>
              <a:ext uri="{FF2B5EF4-FFF2-40B4-BE49-F238E27FC236}">
                <a16:creationId xmlns:a16="http://schemas.microsoft.com/office/drawing/2014/main" id="{A8304D2D-B541-3865-A3A1-7FA9B502A656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102037" y="2596278"/>
            <a:ext cx="621792" cy="621792"/>
          </a:xfrm>
          <a:prstGeom prst="rect">
            <a:avLst/>
          </a:prstGeom>
        </p:spPr>
      </p:pic>
      <p:pic>
        <p:nvPicPr>
          <p:cNvPr id="149" name="Picture 148" descr="tmp56xhj5pi.png">
            <a:extLst>
              <a:ext uri="{FF2B5EF4-FFF2-40B4-BE49-F238E27FC236}">
                <a16:creationId xmlns:a16="http://schemas.microsoft.com/office/drawing/2014/main" id="{36102108-8862-7F9B-F986-12AD47A890D8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833557" y="2596278"/>
            <a:ext cx="621792" cy="621792"/>
          </a:xfrm>
          <a:prstGeom prst="rect">
            <a:avLst/>
          </a:prstGeom>
        </p:spPr>
      </p:pic>
      <p:pic>
        <p:nvPicPr>
          <p:cNvPr id="150" name="Picture 149" descr="tmp552c5432.png">
            <a:extLst>
              <a:ext uri="{FF2B5EF4-FFF2-40B4-BE49-F238E27FC236}">
                <a16:creationId xmlns:a16="http://schemas.microsoft.com/office/drawing/2014/main" id="{8251CE55-1FF6-8232-5A5B-B9FEAD7A3183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92277" y="4080524"/>
            <a:ext cx="621792" cy="621792"/>
          </a:xfrm>
          <a:prstGeom prst="rect">
            <a:avLst/>
          </a:prstGeom>
        </p:spPr>
      </p:pic>
      <p:pic>
        <p:nvPicPr>
          <p:cNvPr id="151" name="Picture 150" descr="tmpqgpmq5gx.png">
            <a:extLst>
              <a:ext uri="{FF2B5EF4-FFF2-40B4-BE49-F238E27FC236}">
                <a16:creationId xmlns:a16="http://schemas.microsoft.com/office/drawing/2014/main" id="{FBE18D50-638D-5083-F7C7-D93A4B76E9D5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323797" y="4080524"/>
            <a:ext cx="621792" cy="621792"/>
          </a:xfrm>
          <a:prstGeom prst="rect">
            <a:avLst/>
          </a:prstGeom>
        </p:spPr>
      </p:pic>
      <p:pic>
        <p:nvPicPr>
          <p:cNvPr id="152" name="Picture 151" descr="tmp6u4x3idw.png">
            <a:extLst>
              <a:ext uri="{FF2B5EF4-FFF2-40B4-BE49-F238E27FC236}">
                <a16:creationId xmlns:a16="http://schemas.microsoft.com/office/drawing/2014/main" id="{96E31DCE-4C09-79E0-FDEC-F4DB891A98F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055317" y="4080524"/>
            <a:ext cx="621792" cy="621792"/>
          </a:xfrm>
          <a:prstGeom prst="rect">
            <a:avLst/>
          </a:prstGeom>
        </p:spPr>
      </p:pic>
      <p:pic>
        <p:nvPicPr>
          <p:cNvPr id="153" name="Picture 152" descr="tmpt7zoqcwo.png">
            <a:extLst>
              <a:ext uri="{FF2B5EF4-FFF2-40B4-BE49-F238E27FC236}">
                <a16:creationId xmlns:a16="http://schemas.microsoft.com/office/drawing/2014/main" id="{C9671E87-B8E6-4306-54E0-F3FCA63BD158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2786837" y="4080524"/>
            <a:ext cx="621792" cy="621792"/>
          </a:xfrm>
          <a:prstGeom prst="rect">
            <a:avLst/>
          </a:prstGeom>
        </p:spPr>
      </p:pic>
      <p:pic>
        <p:nvPicPr>
          <p:cNvPr id="154" name="Picture 153" descr="tmpxz48t6cm.png">
            <a:extLst>
              <a:ext uri="{FF2B5EF4-FFF2-40B4-BE49-F238E27FC236}">
                <a16:creationId xmlns:a16="http://schemas.microsoft.com/office/drawing/2014/main" id="{0C2A9C36-7C17-47B3-2FE6-8FEC000DB32F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518357" y="4080524"/>
            <a:ext cx="621792" cy="621792"/>
          </a:xfrm>
          <a:prstGeom prst="rect">
            <a:avLst/>
          </a:prstGeom>
        </p:spPr>
      </p:pic>
      <p:pic>
        <p:nvPicPr>
          <p:cNvPr id="155" name="Picture 154" descr="tmp4s9_at1d.png">
            <a:extLst>
              <a:ext uri="{FF2B5EF4-FFF2-40B4-BE49-F238E27FC236}">
                <a16:creationId xmlns:a16="http://schemas.microsoft.com/office/drawing/2014/main" id="{C8C156E7-C6A5-5A16-547C-C0986CA06D27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249877" y="4080524"/>
            <a:ext cx="621792" cy="621792"/>
          </a:xfrm>
          <a:prstGeom prst="rect">
            <a:avLst/>
          </a:prstGeom>
        </p:spPr>
      </p:pic>
      <p:pic>
        <p:nvPicPr>
          <p:cNvPr id="156" name="Picture 155" descr="tmp7gggnopv.png">
            <a:extLst>
              <a:ext uri="{FF2B5EF4-FFF2-40B4-BE49-F238E27FC236}">
                <a16:creationId xmlns:a16="http://schemas.microsoft.com/office/drawing/2014/main" id="{B88CA593-62AD-2AC2-02A1-5855D2815EF6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907477" y="3349004"/>
            <a:ext cx="621792" cy="621792"/>
          </a:xfrm>
          <a:prstGeom prst="rect">
            <a:avLst/>
          </a:prstGeom>
        </p:spPr>
      </p:pic>
      <p:pic>
        <p:nvPicPr>
          <p:cNvPr id="157" name="Picture 156" descr="tmpx7xq2kpe.png">
            <a:extLst>
              <a:ext uri="{FF2B5EF4-FFF2-40B4-BE49-F238E27FC236}">
                <a16:creationId xmlns:a16="http://schemas.microsoft.com/office/drawing/2014/main" id="{8CEED4F6-CFD6-BA74-F7C9-3F8751A1AD8E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638997" y="3349004"/>
            <a:ext cx="621792" cy="621792"/>
          </a:xfrm>
          <a:prstGeom prst="rect">
            <a:avLst/>
          </a:prstGeom>
        </p:spPr>
      </p:pic>
      <p:pic>
        <p:nvPicPr>
          <p:cNvPr id="158" name="Picture 157" descr="tmpqns6rvg0.png">
            <a:extLst>
              <a:ext uri="{FF2B5EF4-FFF2-40B4-BE49-F238E27FC236}">
                <a16:creationId xmlns:a16="http://schemas.microsoft.com/office/drawing/2014/main" id="{9139EC23-C3D8-6A49-8F71-C8F69FC21F0D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370517" y="3349004"/>
            <a:ext cx="621792" cy="621792"/>
          </a:xfrm>
          <a:prstGeom prst="rect">
            <a:avLst/>
          </a:prstGeom>
        </p:spPr>
      </p:pic>
      <p:pic>
        <p:nvPicPr>
          <p:cNvPr id="159" name="Picture 158" descr="tmpo945sa0h.png">
            <a:extLst>
              <a:ext uri="{FF2B5EF4-FFF2-40B4-BE49-F238E27FC236}">
                <a16:creationId xmlns:a16="http://schemas.microsoft.com/office/drawing/2014/main" id="{7155CE31-CF37-4CC5-CFC3-AF0F98464E12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102037" y="3349004"/>
            <a:ext cx="621792" cy="621792"/>
          </a:xfrm>
          <a:prstGeom prst="rect">
            <a:avLst/>
          </a:prstGeom>
        </p:spPr>
      </p:pic>
      <p:pic>
        <p:nvPicPr>
          <p:cNvPr id="160" name="Picture 159" descr="tmpi6vl12j9.png">
            <a:extLst>
              <a:ext uri="{FF2B5EF4-FFF2-40B4-BE49-F238E27FC236}">
                <a16:creationId xmlns:a16="http://schemas.microsoft.com/office/drawing/2014/main" id="{D8381B4A-3B3D-648F-F47B-69DE0127554E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833557" y="3349004"/>
            <a:ext cx="621792" cy="621792"/>
          </a:xfrm>
          <a:prstGeom prst="rect">
            <a:avLst/>
          </a:prstGeom>
        </p:spPr>
      </p:pic>
      <p:pic>
        <p:nvPicPr>
          <p:cNvPr id="8" name="Picture Placeholder 14">
            <a:extLst>
              <a:ext uri="{FF2B5EF4-FFF2-40B4-BE49-F238E27FC236}">
                <a16:creationId xmlns:a16="http://schemas.microsoft.com/office/drawing/2014/main" id="{F3930E8A-F435-0226-306D-2BEE34E79E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5112293" y="4211420"/>
            <a:ext cx="360000" cy="360000"/>
          </a:xfrm>
          <a:prstGeom prst="rect">
            <a:avLst/>
          </a:prstGeom>
        </p:spPr>
      </p:pic>
      <p:pic>
        <p:nvPicPr>
          <p:cNvPr id="9" name="Picture Placeholder 16">
            <a:extLst>
              <a:ext uri="{FF2B5EF4-FFF2-40B4-BE49-F238E27FC236}">
                <a16:creationId xmlns:a16="http://schemas.microsoft.com/office/drawing/2014/main" id="{B1D3693F-88B3-B803-2058-2F008EAEA0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5843813" y="4211420"/>
            <a:ext cx="360000" cy="360000"/>
          </a:xfrm>
          <a:prstGeom prst="rect">
            <a:avLst/>
          </a:prstGeom>
        </p:spPr>
      </p:pic>
      <p:pic>
        <p:nvPicPr>
          <p:cNvPr id="10" name="Picture Placeholder 18">
            <a:extLst>
              <a:ext uri="{FF2B5EF4-FFF2-40B4-BE49-F238E27FC236}">
                <a16:creationId xmlns:a16="http://schemas.microsoft.com/office/drawing/2014/main" id="{AA2A3134-85F8-D66D-DF1B-EA2F70586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>
          <a:xfrm>
            <a:off x="6575333" y="4211420"/>
            <a:ext cx="360000" cy="360000"/>
          </a:xfrm>
          <a:prstGeom prst="rect">
            <a:avLst/>
          </a:prstGeom>
        </p:spPr>
      </p:pic>
      <p:pic>
        <p:nvPicPr>
          <p:cNvPr id="11" name="Picture Placeholder 20">
            <a:extLst>
              <a:ext uri="{FF2B5EF4-FFF2-40B4-BE49-F238E27FC236}">
                <a16:creationId xmlns:a16="http://schemas.microsoft.com/office/drawing/2014/main" id="{5FD59EF2-6684-6EA3-9C0B-5B94F776C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 t="220" b="220"/>
          <a:stretch>
            <a:fillRect/>
          </a:stretch>
        </p:blipFill>
        <p:spPr>
          <a:xfrm>
            <a:off x="7306853" y="421142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4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DE4B85-F594-FC25-CEAF-0A99DC243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76A29-966D-D33E-0B76-B2817EB6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</a:t>
            </a:r>
            <a:r>
              <a:rPr lang="en-US">
                <a:solidFill>
                  <a:schemeClr val="accent1"/>
                </a:solidFill>
              </a:rPr>
              <a:t>Value</a:t>
            </a:r>
            <a:r>
              <a:rPr lang="en-US"/>
              <a:t> Agenda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678283-EAAD-F335-AB15-C34BD849A449}"/>
              </a:ext>
            </a:extLst>
          </p:cNvPr>
          <p:cNvGrpSpPr/>
          <p:nvPr/>
        </p:nvGrpSpPr>
        <p:grpSpPr>
          <a:xfrm>
            <a:off x="284729" y="1229817"/>
            <a:ext cx="11525563" cy="4871947"/>
            <a:chOff x="238220" y="887169"/>
            <a:chExt cx="8255364" cy="348960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9AF3EE7-422B-A9E7-750C-83371ADD9AAC}"/>
                </a:ext>
              </a:extLst>
            </p:cNvPr>
            <p:cNvCxnSpPr>
              <a:stCxn id="23" idx="3"/>
              <a:endCxn id="9" idx="1"/>
            </p:cNvCxnSpPr>
            <p:nvPr/>
          </p:nvCxnSpPr>
          <p:spPr>
            <a:xfrm>
              <a:off x="864596" y="2764252"/>
              <a:ext cx="5327416" cy="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8073F0C-DCDC-88D3-98E6-F39BD4A7A739}"/>
                </a:ext>
              </a:extLst>
            </p:cNvPr>
            <p:cNvCxnSpPr>
              <a:stCxn id="22" idx="3"/>
              <a:endCxn id="21" idx="1"/>
            </p:cNvCxnSpPr>
            <p:nvPr/>
          </p:nvCxnSpPr>
          <p:spPr>
            <a:xfrm>
              <a:off x="850757" y="1676863"/>
              <a:ext cx="5341256" cy="12588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54">
              <a:extLst>
                <a:ext uri="{FF2B5EF4-FFF2-40B4-BE49-F238E27FC236}">
                  <a16:creationId xmlns:a16="http://schemas.microsoft.com/office/drawing/2014/main" id="{47E7D44E-5D8C-E44D-3FED-26C66021E556}"/>
                </a:ext>
              </a:extLst>
            </p:cNvPr>
            <p:cNvSpPr/>
            <p:nvPr/>
          </p:nvSpPr>
          <p:spPr>
            <a:xfrm>
              <a:off x="10104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GTM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improve customer connectivity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10%</a:t>
              </a:r>
            </a:p>
          </p:txBody>
        </p:sp>
        <p:sp>
          <p:nvSpPr>
            <p:cNvPr id="8" name="Rectangle: Rounded Corners 55">
              <a:extLst>
                <a:ext uri="{FF2B5EF4-FFF2-40B4-BE49-F238E27FC236}">
                  <a16:creationId xmlns:a16="http://schemas.microsoft.com/office/drawing/2014/main" id="{2C8714CD-42AC-0EC4-BD19-41E81242B2F8}"/>
                </a:ext>
              </a:extLst>
            </p:cNvPr>
            <p:cNvSpPr/>
            <p:nvPr/>
          </p:nvSpPr>
          <p:spPr>
            <a:xfrm>
              <a:off x="36012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EXPAND CUSTOMER BASE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products, propositions, pipeline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20%</a:t>
              </a:r>
            </a:p>
          </p:txBody>
        </p:sp>
        <p:sp>
          <p:nvSpPr>
            <p:cNvPr id="9" name="Rectangle: Rounded Corners 56">
              <a:extLst>
                <a:ext uri="{FF2B5EF4-FFF2-40B4-BE49-F238E27FC236}">
                  <a16:creationId xmlns:a16="http://schemas.microsoft.com/office/drawing/2014/main" id="{8311FA70-63E6-CBF9-29DD-4BBDDF17943A}"/>
                </a:ext>
              </a:extLst>
            </p:cNvPr>
            <p:cNvSpPr/>
            <p:nvPr/>
          </p:nvSpPr>
          <p:spPr>
            <a:xfrm>
              <a:off x="6192012" y="2344801"/>
              <a:ext cx="2301571" cy="838902"/>
            </a:xfrm>
            <a:prstGeom prst="roundRect">
              <a:avLst/>
            </a:prstGeom>
            <a:solidFill>
              <a:srgbClr val="281A4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EVOLVE SERVICE MODEL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EFFFF"/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modular services model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C9C0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10" name="Rectangle: Rounded Corners 57">
              <a:extLst>
                <a:ext uri="{FF2B5EF4-FFF2-40B4-BE49-F238E27FC236}">
                  <a16:creationId xmlns:a16="http://schemas.microsoft.com/office/drawing/2014/main" id="{D3F5ACC8-F5FD-0539-EE74-C886C6AFD76E}"/>
                </a:ext>
              </a:extLst>
            </p:cNvPr>
            <p:cNvSpPr/>
            <p:nvPr/>
          </p:nvSpPr>
          <p:spPr>
            <a:xfrm>
              <a:off x="1542909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HUMAN CAPITAL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talent, culture, operating model</a:t>
              </a:r>
            </a:p>
          </p:txBody>
        </p:sp>
        <p:sp>
          <p:nvSpPr>
            <p:cNvPr id="11" name="Rectangle: Rounded Corners 58">
              <a:extLst>
                <a:ext uri="{FF2B5EF4-FFF2-40B4-BE49-F238E27FC236}">
                  <a16:creationId xmlns:a16="http://schemas.microsoft.com/office/drawing/2014/main" id="{FE8DA422-4219-8F58-3858-D31F92CD5014}"/>
                </a:ext>
              </a:extLst>
            </p:cNvPr>
            <p:cNvSpPr/>
            <p:nvPr/>
          </p:nvSpPr>
          <p:spPr>
            <a:xfrm>
              <a:off x="3777044" y="3933365"/>
              <a:ext cx="1949905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DIGITALIZATION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automation, tech &amp; data, analytics </a:t>
              </a:r>
            </a:p>
          </p:txBody>
        </p:sp>
        <p:sp>
          <p:nvSpPr>
            <p:cNvPr id="12" name="Rectangle: Rounded Corners 59">
              <a:extLst>
                <a:ext uri="{FF2B5EF4-FFF2-40B4-BE49-F238E27FC236}">
                  <a16:creationId xmlns:a16="http://schemas.microsoft.com/office/drawing/2014/main" id="{D58B7F73-24DA-3516-0329-AFBED0B64F88}"/>
                </a:ext>
              </a:extLst>
            </p:cNvPr>
            <p:cNvSpPr/>
            <p:nvPr/>
          </p:nvSpPr>
          <p:spPr>
            <a:xfrm>
              <a:off x="6192011" y="3933365"/>
              <a:ext cx="1769074" cy="44341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-10" normalizeH="0" baseline="0" noProof="0">
                  <a:ln>
                    <a:noFill/>
                  </a:ln>
                  <a:solidFill>
                    <a:srgbClr val="1D1D1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PARTNERSHIPS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augment capabilities</a:t>
              </a:r>
            </a:p>
          </p:txBody>
        </p:sp>
        <p:sp>
          <p:nvSpPr>
            <p:cNvPr id="13" name="Rectangle: Rounded Corners 60">
              <a:extLst>
                <a:ext uri="{FF2B5EF4-FFF2-40B4-BE49-F238E27FC236}">
                  <a16:creationId xmlns:a16="http://schemas.microsoft.com/office/drawing/2014/main" id="{B5AA401D-483D-84EE-071A-DEA34CD21B01}"/>
                </a:ext>
              </a:extLst>
            </p:cNvPr>
            <p:cNvSpPr/>
            <p:nvPr/>
          </p:nvSpPr>
          <p:spPr>
            <a:xfrm>
              <a:off x="10104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Protect &amp; Scale Current Value</a:t>
              </a:r>
            </a:p>
          </p:txBody>
        </p:sp>
        <p:sp>
          <p:nvSpPr>
            <p:cNvPr id="14" name="Rectangle: Rounded Corners 61">
              <a:extLst>
                <a:ext uri="{FF2B5EF4-FFF2-40B4-BE49-F238E27FC236}">
                  <a16:creationId xmlns:a16="http://schemas.microsoft.com/office/drawing/2014/main" id="{1CBF2BC7-82ED-69ED-234B-E11718E5AB2F}"/>
                </a:ext>
              </a:extLst>
            </p:cNvPr>
            <p:cNvSpPr/>
            <p:nvPr/>
          </p:nvSpPr>
          <p:spPr>
            <a:xfrm>
              <a:off x="3601212" y="887169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Grow New Value</a:t>
              </a:r>
            </a:p>
          </p:txBody>
        </p:sp>
        <p:sp>
          <p:nvSpPr>
            <p:cNvPr id="15" name="Rectangle: Rounded Corners 62">
              <a:extLst>
                <a:ext uri="{FF2B5EF4-FFF2-40B4-BE49-F238E27FC236}">
                  <a16:creationId xmlns:a16="http://schemas.microsoft.com/office/drawing/2014/main" id="{BFC5AF23-E647-297C-F442-375ECE26EA7D}"/>
                </a:ext>
              </a:extLst>
            </p:cNvPr>
            <p:cNvSpPr/>
            <p:nvPr/>
          </p:nvSpPr>
          <p:spPr>
            <a:xfrm>
              <a:off x="6192011" y="888964"/>
              <a:ext cx="2301571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Optimize Cost to Serve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F714DE4-F130-BDE8-AF7B-F89EC61CBD81}"/>
                </a:ext>
              </a:extLst>
            </p:cNvPr>
            <p:cNvCxnSpPr>
              <a:stCxn id="13" idx="2"/>
              <a:endCxn id="7" idx="0"/>
            </p:cNvCxnSpPr>
            <p:nvPr/>
          </p:nvCxnSpPr>
          <p:spPr>
            <a:xfrm>
              <a:off x="2161198" y="1199224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201BD7-F747-9729-9216-31AD430F16D0}"/>
                </a:ext>
              </a:extLst>
            </p:cNvPr>
            <p:cNvCxnSpPr/>
            <p:nvPr/>
          </p:nvCxnSpPr>
          <p:spPr>
            <a:xfrm>
              <a:off x="4751997" y="1199223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0B05F3-06D1-13F7-086D-70EBC852080E}"/>
                </a:ext>
              </a:extLst>
            </p:cNvPr>
            <p:cNvCxnSpPr/>
            <p:nvPr/>
          </p:nvCxnSpPr>
          <p:spPr>
            <a:xfrm>
              <a:off x="7342796" y="1199222"/>
              <a:ext cx="0" cy="1145577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: Rounded Corners 1">
              <a:extLst>
                <a:ext uri="{FF2B5EF4-FFF2-40B4-BE49-F238E27FC236}">
                  <a16:creationId xmlns:a16="http://schemas.microsoft.com/office/drawing/2014/main" id="{55D71F26-A0AB-FAF3-5087-C486275D6B9E}"/>
                </a:ext>
              </a:extLst>
            </p:cNvPr>
            <p:cNvSpPr/>
            <p:nvPr/>
          </p:nvSpPr>
          <p:spPr>
            <a:xfrm>
              <a:off x="1010413" y="1270002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TOP 7 CUSTOMERS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service excellence at the right cost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0" name="Rectangle: Rounded Corners 52">
              <a:extLst>
                <a:ext uri="{FF2B5EF4-FFF2-40B4-BE49-F238E27FC236}">
                  <a16:creationId xmlns:a16="http://schemas.microsoft.com/office/drawing/2014/main" id="{A366B1EE-2323-1589-8332-DE1C7FCFCF3D}"/>
                </a:ext>
              </a:extLst>
            </p:cNvPr>
            <p:cNvSpPr/>
            <p:nvPr/>
          </p:nvSpPr>
          <p:spPr>
            <a:xfrm>
              <a:off x="3601212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PRICING EXCELLENCE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accretive portfolio pricing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15%</a:t>
              </a:r>
            </a:p>
          </p:txBody>
        </p:sp>
        <p:sp>
          <p:nvSpPr>
            <p:cNvPr id="21" name="Rectangle: Rounded Corners 53">
              <a:extLst>
                <a:ext uri="{FF2B5EF4-FFF2-40B4-BE49-F238E27FC236}">
                  <a16:creationId xmlns:a16="http://schemas.microsoft.com/office/drawing/2014/main" id="{9E85939B-FCB2-73C1-5C24-69772B870CC6}"/>
                </a:ext>
              </a:extLst>
            </p:cNvPr>
            <p:cNvSpPr/>
            <p:nvPr/>
          </p:nvSpPr>
          <p:spPr>
            <a:xfrm>
              <a:off x="6192013" y="1270000"/>
              <a:ext cx="2301571" cy="83890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PRODUCTIVITY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Arial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reduce operating cost base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-10" normalizeH="0" baseline="0" noProof="0">
                  <a:ln>
                    <a:noFill/>
                  </a:ln>
                  <a:solidFill>
                    <a:srgbClr val="75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25%</a:t>
              </a:r>
            </a:p>
          </p:txBody>
        </p:sp>
        <p:sp>
          <p:nvSpPr>
            <p:cNvPr id="22" name="Rectangle: Rounded Corners 67">
              <a:extLst>
                <a:ext uri="{FF2B5EF4-FFF2-40B4-BE49-F238E27FC236}">
                  <a16:creationId xmlns:a16="http://schemas.microsoft.com/office/drawing/2014/main" id="{D3411CB8-7ED1-BE3F-F4CA-8550BB83A68E}"/>
                </a:ext>
              </a:extLst>
            </p:cNvPr>
            <p:cNvSpPr/>
            <p:nvPr/>
          </p:nvSpPr>
          <p:spPr>
            <a:xfrm>
              <a:off x="238220" y="1520835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Now</a:t>
              </a:r>
            </a:p>
          </p:txBody>
        </p:sp>
        <p:sp>
          <p:nvSpPr>
            <p:cNvPr id="23" name="Rectangle: Rounded Corners 68">
              <a:extLst>
                <a:ext uri="{FF2B5EF4-FFF2-40B4-BE49-F238E27FC236}">
                  <a16:creationId xmlns:a16="http://schemas.microsoft.com/office/drawing/2014/main" id="{62705517-A8A1-931D-7070-C60A73BB2F46}"/>
                </a:ext>
              </a:extLst>
            </p:cNvPr>
            <p:cNvSpPr/>
            <p:nvPr/>
          </p:nvSpPr>
          <p:spPr>
            <a:xfrm>
              <a:off x="252059" y="2608224"/>
              <a:ext cx="612537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F2F2F2">
                      <a:lumMod val="50000"/>
                    </a:srgbClr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Next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BFA0CC2-6C53-4583-379F-7F156D1372B8}"/>
                </a:ext>
              </a:extLst>
            </p:cNvPr>
            <p:cNvCxnSpPr/>
            <p:nvPr/>
          </p:nvCxnSpPr>
          <p:spPr>
            <a:xfrm>
              <a:off x="1542909" y="3570516"/>
              <a:ext cx="6294805" cy="0"/>
            </a:xfrm>
            <a:prstGeom prst="line">
              <a:avLst/>
            </a:prstGeom>
            <a:ln>
              <a:solidFill>
                <a:schemeClr val="accent3"/>
              </a:solidFill>
              <a:headEnd w="med" len="sm"/>
              <a:tailEnd type="non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75">
              <a:extLst>
                <a:ext uri="{FF2B5EF4-FFF2-40B4-BE49-F238E27FC236}">
                  <a16:creationId xmlns:a16="http://schemas.microsoft.com/office/drawing/2014/main" id="{23151420-D6CD-FB6A-FF3E-1424E533DA1B}"/>
                </a:ext>
              </a:extLst>
            </p:cNvPr>
            <p:cNvSpPr/>
            <p:nvPr/>
          </p:nvSpPr>
          <p:spPr>
            <a:xfrm>
              <a:off x="4222207" y="3404374"/>
              <a:ext cx="1059578" cy="312055"/>
            </a:xfrm>
            <a:prstGeom prst="round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-1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 pitchFamily="34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Enablers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250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88497-18A7-560B-8C8E-B7003A80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69C7F-0ACE-3177-1E4C-D6F4157B2B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BFD3D6-9F5D-D484-2C51-F1EAE6128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C2D6AA6-C44A-DA54-EF3D-4CBD79931FBF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59B58-B945-4B36-BC6B-9C26C933A0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22083E1B-848E-F301-86D1-FF8B1C1B9497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E307391-8862-6ED9-F238-CCA17B72FD5D}"/>
              </a:ext>
            </a:extLst>
          </p:cNvPr>
          <p:cNvGraphicFramePr>
            <a:graphicFrameLocks noGrp="1"/>
          </p:cNvGraphicFramePr>
          <p:nvPr/>
        </p:nvGraphicFramePr>
        <p:xfrm>
          <a:off x="512064" y="1079190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1A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N-4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765FFF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765FFF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C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352E18FF-B480-F90B-F938-11118179E4C3}"/>
              </a:ext>
            </a:extLst>
          </p:cNvPr>
          <p:cNvGrpSpPr/>
          <p:nvPr/>
        </p:nvGrpSpPr>
        <p:grpSpPr>
          <a:xfrm>
            <a:off x="512064" y="5874367"/>
            <a:ext cx="5468112" cy="219456"/>
            <a:chOff x="512064" y="6229606"/>
            <a:chExt cx="5468112" cy="2194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CE3B5F9-23E0-0F33-CB5C-6D94821B600F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4C295E2-BA9A-0836-CFD6-77CAC49CD6F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Named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FF26CBE-AE1B-773D-17A7-641825D5AAD7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90F15E-E95B-D1FE-DEDD-0103CCA18928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Role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F9D5A5-8FFA-BE44-A6AD-E6F56A17070A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CDECEE-A52C-0F78-E38A-9AD66F257DF5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Role Family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A41FD5D-59E2-74BA-2FB0-C02F3AE06AD3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57DD785-8551-E6FC-F185-934EDA0602E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Vacant</a:t>
              </a:r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B66E62A7-C9B8-02DD-56A5-303FEC8C6F88}"/>
              </a:ext>
            </a:extLst>
          </p:cNvPr>
          <p:cNvSpPr/>
          <p:nvPr/>
        </p:nvSpPr>
        <p:spPr>
          <a:xfrm>
            <a:off x="7878762" y="1023809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58C36C-A713-FB13-65F5-9ABC3D92CA0E}"/>
              </a:ext>
            </a:extLst>
          </p:cNvPr>
          <p:cNvSpPr txBox="1"/>
          <p:nvPr/>
        </p:nvSpPr>
        <p:spPr>
          <a:xfrm>
            <a:off x="8116506" y="1027874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715B05-F60C-4C2F-5197-B5694BBB4E30}"/>
              </a:ext>
            </a:extLst>
          </p:cNvPr>
          <p:cNvSpPr txBox="1"/>
          <p:nvPr/>
        </p:nvSpPr>
        <p:spPr>
          <a:xfrm>
            <a:off x="8116506" y="1749909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critical roles
across 5 functions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5220E9-75CB-35D2-E89D-26BD4E2B8D51}"/>
              </a:ext>
            </a:extLst>
          </p:cNvPr>
          <p:cNvSpPr/>
          <p:nvPr/>
        </p:nvSpPr>
        <p:spPr>
          <a:xfrm>
            <a:off x="8116506" y="22416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7EA3E1-2411-1364-5AF9-EA08FD0BE159}"/>
              </a:ext>
            </a:extLst>
          </p:cNvPr>
          <p:cNvSpPr txBox="1"/>
          <p:nvPr/>
        </p:nvSpPr>
        <p:spPr>
          <a:xfrm>
            <a:off x="8116506" y="2625705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8E38EC-3B87-FE27-1B0C-9BC61294C46E}"/>
              </a:ext>
            </a:extLst>
          </p:cNvPr>
          <p:cNvSpPr txBox="1"/>
          <p:nvPr/>
        </p:nvSpPr>
        <p:spPr>
          <a:xfrm>
            <a:off x="8591994" y="2625705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56%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EC7D15-1823-A405-C653-2632B21571FF}"/>
              </a:ext>
            </a:extLst>
          </p:cNvPr>
          <p:cNvSpPr txBox="1"/>
          <p:nvPr/>
        </p:nvSpPr>
        <p:spPr>
          <a:xfrm>
            <a:off x="8116506" y="2936601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09B3DC-93B8-F201-E3DE-2A11F8968BD7}"/>
              </a:ext>
            </a:extLst>
          </p:cNvPr>
          <p:cNvSpPr txBox="1"/>
          <p:nvPr/>
        </p:nvSpPr>
        <p:spPr>
          <a:xfrm>
            <a:off x="8591994" y="2936601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D55C49A-E8DF-4039-23BD-8AAB1B9C40F3}"/>
              </a:ext>
            </a:extLst>
          </p:cNvPr>
          <p:cNvSpPr txBox="1"/>
          <p:nvPr/>
        </p:nvSpPr>
        <p:spPr>
          <a:xfrm>
            <a:off x="8116506" y="3247497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803FC0-B573-C4C1-2AAB-7892360AEC7A}"/>
              </a:ext>
            </a:extLst>
          </p:cNvPr>
          <p:cNvSpPr txBox="1"/>
          <p:nvPr/>
        </p:nvSpPr>
        <p:spPr>
          <a:xfrm>
            <a:off x="8591994" y="3247497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E3CC7B1-3768-CD42-46E4-12BCF932101F}"/>
              </a:ext>
            </a:extLst>
          </p:cNvPr>
          <p:cNvSpPr/>
          <p:nvPr/>
        </p:nvSpPr>
        <p:spPr>
          <a:xfrm>
            <a:off x="8116506" y="3613257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DFE744-0168-E7E7-5A5D-345DB535E2A4}"/>
              </a:ext>
            </a:extLst>
          </p:cNvPr>
          <p:cNvSpPr txBox="1"/>
          <p:nvPr/>
        </p:nvSpPr>
        <p:spPr>
          <a:xfrm>
            <a:off x="8116506" y="3997305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44%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E356DDF-7218-1EC7-FA1F-22B8A2420DEF}"/>
              </a:ext>
            </a:extLst>
          </p:cNvPr>
          <p:cNvSpPr txBox="1"/>
          <p:nvPr/>
        </p:nvSpPr>
        <p:spPr>
          <a:xfrm>
            <a:off x="8628570" y="4015593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773E8A-1E38-E4DA-FB59-E41FED0C06F3}"/>
              </a:ext>
            </a:extLst>
          </p:cNvPr>
          <p:cNvSpPr txBox="1"/>
          <p:nvPr/>
        </p:nvSpPr>
        <p:spPr>
          <a:xfrm>
            <a:off x="8116506" y="4344777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36A4FC-18E3-3E16-4702-2FD8C1DA0B4D}"/>
              </a:ext>
            </a:extLst>
          </p:cNvPr>
          <p:cNvSpPr txBox="1"/>
          <p:nvPr/>
        </p:nvSpPr>
        <p:spPr>
          <a:xfrm>
            <a:off x="8628570" y="4363065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Product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66AEC8-EC22-434B-F323-7D512C7E4958}"/>
              </a:ext>
            </a:extLst>
          </p:cNvPr>
          <p:cNvSpPr txBox="1"/>
          <p:nvPr/>
        </p:nvSpPr>
        <p:spPr>
          <a:xfrm>
            <a:off x="8116506" y="4692249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5AC3DB-C63B-628C-0C76-7B7C71B2CBDC}"/>
              </a:ext>
            </a:extLst>
          </p:cNvPr>
          <p:cNvSpPr txBox="1"/>
          <p:nvPr/>
        </p:nvSpPr>
        <p:spPr>
          <a:xfrm>
            <a:off x="8628570" y="4710537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Bus. Dev.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8BC6FE-7B01-32D1-C8EF-71ED61AC9057}"/>
              </a:ext>
            </a:extLst>
          </p:cNvPr>
          <p:cNvSpPr txBox="1"/>
          <p:nvPr/>
        </p:nvSpPr>
        <p:spPr>
          <a:xfrm>
            <a:off x="8116506" y="5039721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FDC3EB-D541-F3BB-DFAC-686F15481532}"/>
              </a:ext>
            </a:extLst>
          </p:cNvPr>
          <p:cNvSpPr txBox="1"/>
          <p:nvPr/>
        </p:nvSpPr>
        <p:spPr>
          <a:xfrm>
            <a:off x="8628570" y="5058009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 / HR / Strat.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E61481-9E87-22E9-9672-4AE0C567B780}"/>
              </a:ext>
            </a:extLst>
          </p:cNvPr>
          <p:cNvSpPr txBox="1"/>
          <p:nvPr/>
        </p:nvSpPr>
        <p:spPr>
          <a:xfrm>
            <a:off x="8116506" y="23696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18BCF-6161-15C5-D1E6-D60E9E41043A}"/>
              </a:ext>
            </a:extLst>
          </p:cNvPr>
          <p:cNvSpPr txBox="1"/>
          <p:nvPr/>
        </p:nvSpPr>
        <p:spPr>
          <a:xfrm>
            <a:off x="8116506" y="3741273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unction</a:t>
            </a:r>
          </a:p>
        </p:txBody>
      </p:sp>
    </p:spTree>
    <p:extLst>
      <p:ext uri="{BB962C8B-B14F-4D97-AF65-F5344CB8AC3E}">
        <p14:creationId xmlns:p14="http://schemas.microsoft.com/office/powerpoint/2010/main" val="2396014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71D6-9656-3B76-9983-14AD8296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A116B-9EA8-4CDF-2AB5-7CECA489E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2A552-BC0A-F292-A453-A569BFA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sp>
        <p:nvSpPr>
          <p:cNvPr id="45" name="Content Placeholder 3">
            <a:extLst>
              <a:ext uri="{FF2B5EF4-FFF2-40B4-BE49-F238E27FC236}">
                <a16:creationId xmlns:a16="http://schemas.microsoft.com/office/drawing/2014/main" id="{D38F4D6F-77CF-ED85-EC20-994B0B475885}"/>
              </a:ext>
            </a:extLst>
          </p:cNvPr>
          <p:cNvSpPr txBox="1">
            <a:spLocks/>
          </p:cNvSpPr>
          <p:nvPr/>
        </p:nvSpPr>
        <p:spPr>
          <a:xfrm>
            <a:off x="1109823" y="193083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perspiciatis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unde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omnis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natus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error sit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voluptatem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usantium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remque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sunt in culpa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officia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deserunt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mollitia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animi, id est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laborum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dolorum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</a:t>
            </a:r>
          </a:p>
        </p:txBody>
      </p:sp>
      <p:pic>
        <p:nvPicPr>
          <p:cNvPr id="46" name="Picture Placeholder 14">
            <a:extLst>
              <a:ext uri="{FF2B5EF4-FFF2-40B4-BE49-F238E27FC236}">
                <a16:creationId xmlns:a16="http://schemas.microsoft.com/office/drawing/2014/main" id="{CF77C2FA-74B6-1691-CBFE-2FDF67ABB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547911" y="2020835"/>
            <a:ext cx="360000" cy="360000"/>
          </a:xfrm>
          <a:prstGeom prst="rect">
            <a:avLst/>
          </a:prstGeom>
        </p:spPr>
      </p:pic>
      <p:sp>
        <p:nvSpPr>
          <p:cNvPr id="47" name="Content Placeholder 5">
            <a:extLst>
              <a:ext uri="{FF2B5EF4-FFF2-40B4-BE49-F238E27FC236}">
                <a16:creationId xmlns:a16="http://schemas.microsoft.com/office/drawing/2014/main" id="{211AF28D-7457-17CD-B3E8-648ACBA212AE}"/>
              </a:ext>
            </a:extLst>
          </p:cNvPr>
          <p:cNvSpPr txBox="1">
            <a:spLocks/>
          </p:cNvSpPr>
          <p:nvPr/>
        </p:nvSpPr>
        <p:spPr>
          <a:xfrm>
            <a:off x="1109823" y="2749612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48" name="Picture Placeholder 16">
            <a:extLst>
              <a:ext uri="{FF2B5EF4-FFF2-40B4-BE49-F238E27FC236}">
                <a16:creationId xmlns:a16="http://schemas.microsoft.com/office/drawing/2014/main" id="{003F909E-00AA-CDE1-F685-C025356299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7911" y="2839612"/>
            <a:ext cx="360000" cy="360000"/>
          </a:xfrm>
          <a:prstGeom prst="rect">
            <a:avLst/>
          </a:prstGeom>
        </p:spPr>
      </p:pic>
      <p:sp>
        <p:nvSpPr>
          <p:cNvPr id="49" name="Content Placeholder 7">
            <a:extLst>
              <a:ext uri="{FF2B5EF4-FFF2-40B4-BE49-F238E27FC236}">
                <a16:creationId xmlns:a16="http://schemas.microsoft.com/office/drawing/2014/main" id="{CBA98DF6-B59F-67C7-0852-CA76919652B4}"/>
              </a:ext>
            </a:extLst>
          </p:cNvPr>
          <p:cNvSpPr txBox="1">
            <a:spLocks/>
          </p:cNvSpPr>
          <p:nvPr/>
        </p:nvSpPr>
        <p:spPr>
          <a:xfrm>
            <a:off x="1109823" y="3568389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ut perspiciatis unde omnis iste natus error sit voluptatem usantium remque similique sunt in culpa qui officia deserunt mollitia animi, id est laborum et dolorum. </a:t>
            </a:r>
          </a:p>
        </p:txBody>
      </p:sp>
      <p:pic>
        <p:nvPicPr>
          <p:cNvPr id="50" name="Picture Placeholder 18">
            <a:extLst>
              <a:ext uri="{FF2B5EF4-FFF2-40B4-BE49-F238E27FC236}">
                <a16:creationId xmlns:a16="http://schemas.microsoft.com/office/drawing/2014/main" id="{F17B48A4-607D-2FB3-3756-0A5257E53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547911" y="3658389"/>
            <a:ext cx="360000" cy="360000"/>
          </a:xfrm>
          <a:prstGeom prst="rect">
            <a:avLst/>
          </a:prstGeom>
        </p:spPr>
      </p:pic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35E5AD76-28D8-4C79-C24E-14F758F55901}"/>
              </a:ext>
            </a:extLst>
          </p:cNvPr>
          <p:cNvSpPr txBox="1">
            <a:spLocks/>
          </p:cNvSpPr>
          <p:nvPr/>
        </p:nvSpPr>
        <p:spPr>
          <a:xfrm>
            <a:off x="1109823" y="4387165"/>
            <a:ext cx="10648737" cy="540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6020202030204" pitchFamily="34" charset="0"/>
              <a:buChar char="•"/>
              <a:defRPr lang="en-US" sz="1200" b="0" kern="1200"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602020203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2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6020202030204" pitchFamily="34" charset="0"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Sed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perspiciatis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unde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omnis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iste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natus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error sit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voluptatem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usantium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remque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sunt in culpa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officia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deserunt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mollitia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animi, id est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laborum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dolorum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t>. </a:t>
            </a:r>
          </a:p>
        </p:txBody>
      </p:sp>
      <p:pic>
        <p:nvPicPr>
          <p:cNvPr id="52" name="Picture Placeholder 20">
            <a:extLst>
              <a:ext uri="{FF2B5EF4-FFF2-40B4-BE49-F238E27FC236}">
                <a16:creationId xmlns:a16="http://schemas.microsoft.com/office/drawing/2014/main" id="{1DDAD8FF-A977-CF08-0E7D-A19692133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20" b="220"/>
          <a:stretch>
            <a:fillRect/>
          </a:stretch>
        </p:blipFill>
        <p:spPr>
          <a:xfrm>
            <a:off x="547911" y="447716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0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6A43F-4038-C78C-5DA0-74338CBA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A40C7-4D71-2506-0AA4-68DFB88E87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Roles that determine whether the strategy succeeds or fails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86123-56F3-A7AE-B89B-BD8B18722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A59B58-B945-4B36-BC6B-9C26C933A00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35D522A-1993-7133-A3E4-1D7D615132F3}"/>
              </a:ext>
            </a:extLst>
          </p:cNvPr>
          <p:cNvSpPr txBox="1">
            <a:spLocks/>
          </p:cNvSpPr>
          <p:nvPr/>
        </p:nvSpPr>
        <p:spPr>
          <a:xfrm>
            <a:off x="0" y="6554852"/>
            <a:ext cx="12192000" cy="215444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rgbClr val="B3BBCA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086D47-C638-D81D-1B8C-7C7B7903D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667954"/>
              </p:ext>
            </p:extLst>
          </p:nvPr>
        </p:nvGraphicFramePr>
        <p:xfrm>
          <a:off x="512064" y="1089877"/>
          <a:ext cx="7154353" cy="46902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7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4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8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Role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Level</a:t>
                      </a:r>
                      <a:endParaRPr sz="1200" b="1" i="0">
                        <a:solidFill>
                          <a:srgbClr val="FFFFFF"/>
                        </a:solidFill>
                        <a:latin typeface="Segoe UI"/>
                      </a:endParaRPr>
                    </a:p>
                  </a:txBody>
                  <a:tcPr anchor="ctr">
                    <a:lnB w="12700" cap="flat" cmpd="sng" algn="ctr">
                      <a:noFill/>
                      <a:prstDash val="solid"/>
                      <a:miter lim="8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SVP Patient Services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Operations Excellence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Delivery Director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3B3B"/>
                          </a:solidFill>
                        </a:rPr>
                        <a:t>N-3</a:t>
                      </a:r>
                      <a:endParaRPr sz="1000" b="1" i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Finance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Finance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Sales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Sr Director NBD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HR Business Partner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65FFF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765FFF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VP Data &amp; Insights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Workforce Planning Manager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HR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N-3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Director Market Analytics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N-3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C27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00C27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Account Executive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Sales &amp; Bus. Dev.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N-3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Operations Managers (×7)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N-4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FB547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FFB547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D1D"/>
                          </a:solidFill>
                        </a:rPr>
                        <a:t>IT Project Managers (×3)</a:t>
                      </a:r>
                      <a:endParaRPr sz="1000" b="0" i="0">
                        <a:solidFill>
                          <a:srgbClr val="1D1D1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B3B3B"/>
                          </a:solidFill>
                        </a:rPr>
                        <a:t>N-3</a:t>
                      </a:r>
                      <a:endParaRPr sz="1000" b="1" i="0" dirty="0">
                        <a:solidFill>
                          <a:srgbClr val="3B3B3B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SVP Strategy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Strategy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Partnerships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Operations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71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B2BBCA"/>
                          </a:solidFill>
                        </a:rPr>
                        <a:t>●</a:t>
                      </a:r>
                      <a:endParaRPr sz="12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B2BBCA"/>
                          </a:solidFill>
                        </a:rPr>
                        <a:t>VP Product &amp; Innovation</a:t>
                      </a:r>
                      <a:endParaRPr sz="1000" b="0" i="0">
                        <a:solidFill>
                          <a:srgbClr val="B2BBCA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7A828D"/>
                          </a:solidFill>
                        </a:rPr>
                        <a:t>Data &amp; Product</a:t>
                      </a:r>
                      <a:endParaRPr sz="1000" b="0" i="0">
                        <a:solidFill>
                          <a:srgbClr val="7A828D"/>
                        </a:solidFill>
                        <a:latin typeface="Arial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B2BBCA"/>
                          </a:solidFill>
                        </a:rPr>
                        <a:t>N-2</a:t>
                      </a:r>
                      <a:endParaRPr sz="1000" b="1" i="0" dirty="0">
                        <a:solidFill>
                          <a:srgbClr val="B2BBCA"/>
                        </a:solidFill>
                        <a:latin typeface="Segoe UI"/>
                      </a:endParaRPr>
                    </a:p>
                  </a:txBody>
                  <a:tcPr>
                    <a:lnL>
                      <a:noFill/>
                    </a:lnL>
                    <a:lnR w="12700" cap="flat" cmpd="sng" algn="ctr">
                      <a:noFill/>
                      <a:prstDash val="solid"/>
                      <a:miter lim="800000"/>
                    </a:lnR>
                    <a:lnT w="12700" cap="flat" cmpd="sng" algn="ctr">
                      <a:noFill/>
                      <a:prstDash val="solid"/>
                      <a:miter lim="800000"/>
                    </a:lnT>
                    <a:lnB w="12700" cap="flat" cmpd="sng" algn="ctr">
                      <a:solidFill>
                        <a:srgbClr val="D1D8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BEC1D0A-E750-A73F-F876-2DD5FD6BB0C8}"/>
              </a:ext>
            </a:extLst>
          </p:cNvPr>
          <p:cNvGrpSpPr/>
          <p:nvPr/>
        </p:nvGrpSpPr>
        <p:grpSpPr>
          <a:xfrm>
            <a:off x="512064" y="5885054"/>
            <a:ext cx="5468112" cy="219456"/>
            <a:chOff x="512064" y="6229606"/>
            <a:chExt cx="5468112" cy="21945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519FB8D-7DC5-BED2-E312-EBA82E7796A0}"/>
                </a:ext>
              </a:extLst>
            </p:cNvPr>
            <p:cNvSpPr/>
            <p:nvPr/>
          </p:nvSpPr>
          <p:spPr>
            <a:xfrm>
              <a:off x="512064" y="6284470"/>
              <a:ext cx="91440" cy="91440"/>
            </a:xfrm>
            <a:prstGeom prst="ellipse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C5FDD8-D6ED-EA0C-D302-34450E425398}"/>
                </a:ext>
              </a:extLst>
            </p:cNvPr>
            <p:cNvSpPr txBox="1"/>
            <p:nvPr/>
          </p:nvSpPr>
          <p:spPr>
            <a:xfrm>
              <a:off x="6766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Named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473E7C7-9D24-D791-7CB6-A48D01C8771B}"/>
                </a:ext>
              </a:extLst>
            </p:cNvPr>
            <p:cNvSpPr/>
            <p:nvPr/>
          </p:nvSpPr>
          <p:spPr>
            <a:xfrm>
              <a:off x="1883664" y="6284470"/>
              <a:ext cx="91440" cy="91440"/>
            </a:xfrm>
            <a:prstGeom prst="ellipse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248789-F41A-7AE1-C633-345453E4F79D}"/>
                </a:ext>
              </a:extLst>
            </p:cNvPr>
            <p:cNvSpPr txBox="1"/>
            <p:nvPr/>
          </p:nvSpPr>
          <p:spPr>
            <a:xfrm>
              <a:off x="20482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New Role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8785491-925D-6201-EDB6-B9FE43555F7E}"/>
                </a:ext>
              </a:extLst>
            </p:cNvPr>
            <p:cNvSpPr/>
            <p:nvPr/>
          </p:nvSpPr>
          <p:spPr>
            <a:xfrm>
              <a:off x="3255264" y="6284470"/>
              <a:ext cx="91440" cy="91440"/>
            </a:xfrm>
            <a:prstGeom prst="ellipse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F2D92A9-810F-2EA1-CBC3-27DEF4A25CBB}"/>
                </a:ext>
              </a:extLst>
            </p:cNvPr>
            <p:cNvSpPr txBox="1"/>
            <p:nvPr/>
          </p:nvSpPr>
          <p:spPr>
            <a:xfrm>
              <a:off x="34198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Role Family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E9A1663-2E47-A102-42B4-FA2516328B2E}"/>
                </a:ext>
              </a:extLst>
            </p:cNvPr>
            <p:cNvSpPr/>
            <p:nvPr/>
          </p:nvSpPr>
          <p:spPr>
            <a:xfrm>
              <a:off x="4626864" y="6284470"/>
              <a:ext cx="91440" cy="91440"/>
            </a:xfrm>
            <a:prstGeom prst="ellipse">
              <a:avLst/>
            </a:prstGeom>
            <a:solidFill>
              <a:srgbClr val="B2BBC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C95B98-7C47-1D10-AA30-885A4072BEB8}"/>
                </a:ext>
              </a:extLst>
            </p:cNvPr>
            <p:cNvSpPr txBox="1"/>
            <p:nvPr/>
          </p:nvSpPr>
          <p:spPr>
            <a:xfrm>
              <a:off x="4791456" y="6229606"/>
              <a:ext cx="1188720" cy="2194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8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Vacant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222BC41-AEC4-2415-6EAE-FAD14856DB6A}"/>
              </a:ext>
            </a:extLst>
          </p:cNvPr>
          <p:cNvSpPr/>
          <p:nvPr/>
        </p:nvSpPr>
        <p:spPr>
          <a:xfrm>
            <a:off x="7878762" y="1034496"/>
            <a:ext cx="12700" cy="49377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5969A8-0B67-179F-FA58-793C4683CD7D}"/>
              </a:ext>
            </a:extLst>
          </p:cNvPr>
          <p:cNvSpPr txBox="1"/>
          <p:nvPr/>
        </p:nvSpPr>
        <p:spPr>
          <a:xfrm>
            <a:off x="8116506" y="1038561"/>
            <a:ext cx="35631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8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21249-9A12-4B2E-B0A6-7339EAAC9DB9}"/>
              </a:ext>
            </a:extLst>
          </p:cNvPr>
          <p:cNvSpPr txBox="1"/>
          <p:nvPr/>
        </p:nvSpPr>
        <p:spPr>
          <a:xfrm>
            <a:off x="8116506" y="1760596"/>
            <a:ext cx="3563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85858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critical roles
across 5 functions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B05D5-874B-DC2F-8C1A-4F8584A815A4}"/>
              </a:ext>
            </a:extLst>
          </p:cNvPr>
          <p:cNvSpPr/>
          <p:nvPr/>
        </p:nvSpPr>
        <p:spPr>
          <a:xfrm>
            <a:off x="8116506" y="22523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7894DB-2AEA-6684-A150-DA976DEF3730}"/>
              </a:ext>
            </a:extLst>
          </p:cNvPr>
          <p:cNvSpPr txBox="1"/>
          <p:nvPr/>
        </p:nvSpPr>
        <p:spPr>
          <a:xfrm>
            <a:off x="8116506" y="23803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L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2E74C-E2B0-42D1-2A65-FDA4CE9AAD84}"/>
              </a:ext>
            </a:extLst>
          </p:cNvPr>
          <p:cNvSpPr txBox="1"/>
          <p:nvPr/>
        </p:nvSpPr>
        <p:spPr>
          <a:xfrm>
            <a:off x="8116506" y="2636392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E5B90B-5CDE-1B8F-08C8-EB57AECB739C}"/>
              </a:ext>
            </a:extLst>
          </p:cNvPr>
          <p:cNvSpPr txBox="1"/>
          <p:nvPr/>
        </p:nvSpPr>
        <p:spPr>
          <a:xfrm>
            <a:off x="8591994" y="2636392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56%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725270-8865-C3EA-4AB8-5C359DF1E0C1}"/>
              </a:ext>
            </a:extLst>
          </p:cNvPr>
          <p:cNvSpPr txBox="1"/>
          <p:nvPr/>
        </p:nvSpPr>
        <p:spPr>
          <a:xfrm>
            <a:off x="8116506" y="2947288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BB6D48-BA98-2042-77FF-7E8EC03D52B4}"/>
              </a:ext>
            </a:extLst>
          </p:cNvPr>
          <p:cNvSpPr txBox="1"/>
          <p:nvPr/>
        </p:nvSpPr>
        <p:spPr>
          <a:xfrm>
            <a:off x="8591994" y="2947288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5F1AF0-B0DE-45E2-08E4-220257AAD81B}"/>
              </a:ext>
            </a:extLst>
          </p:cNvPr>
          <p:cNvSpPr txBox="1"/>
          <p:nvPr/>
        </p:nvSpPr>
        <p:spPr>
          <a:xfrm>
            <a:off x="8116506" y="3258184"/>
            <a:ext cx="438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N-4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32ADCD-05C9-B8BC-71FB-A7B5BCE01997}"/>
              </a:ext>
            </a:extLst>
          </p:cNvPr>
          <p:cNvSpPr txBox="1"/>
          <p:nvPr/>
        </p:nvSpPr>
        <p:spPr>
          <a:xfrm>
            <a:off x="8591994" y="3258184"/>
            <a:ext cx="30510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7C03AE-0DE0-EFFD-2EBE-7AE802F33563}"/>
              </a:ext>
            </a:extLst>
          </p:cNvPr>
          <p:cNvSpPr/>
          <p:nvPr/>
        </p:nvSpPr>
        <p:spPr>
          <a:xfrm>
            <a:off x="8116506" y="3623944"/>
            <a:ext cx="3563124" cy="1270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D39048-01B2-DE01-2AE5-F6C0EC4D206B}"/>
              </a:ext>
            </a:extLst>
          </p:cNvPr>
          <p:cNvSpPr txBox="1"/>
          <p:nvPr/>
        </p:nvSpPr>
        <p:spPr>
          <a:xfrm>
            <a:off x="8116506" y="3751960"/>
            <a:ext cx="35631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By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</a:t>
            </a: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917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unction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DBB225-1B58-CF05-5CAC-B46D8CC58F19}"/>
              </a:ext>
            </a:extLst>
          </p:cNvPr>
          <p:cNvSpPr txBox="1"/>
          <p:nvPr/>
        </p:nvSpPr>
        <p:spPr>
          <a:xfrm>
            <a:off x="8116506" y="4007992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44%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57411F-23AC-B802-E337-5055181AAF66}"/>
              </a:ext>
            </a:extLst>
          </p:cNvPr>
          <p:cNvSpPr txBox="1"/>
          <p:nvPr/>
        </p:nvSpPr>
        <p:spPr>
          <a:xfrm>
            <a:off x="8628570" y="4026280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Operations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7A3473-D963-331C-C4AA-E2AC2DC805FC}"/>
              </a:ext>
            </a:extLst>
          </p:cNvPr>
          <p:cNvSpPr txBox="1"/>
          <p:nvPr/>
        </p:nvSpPr>
        <p:spPr>
          <a:xfrm>
            <a:off x="8116506" y="4355464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25%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29F988-7EEC-AEEE-9E60-BAD34A94DA6F}"/>
              </a:ext>
            </a:extLst>
          </p:cNvPr>
          <p:cNvSpPr txBox="1"/>
          <p:nvPr/>
        </p:nvSpPr>
        <p:spPr>
          <a:xfrm>
            <a:off x="8628570" y="4373752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&amp; Product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1E8B3E-5045-ACF1-2358-93C532BA4228}"/>
              </a:ext>
            </a:extLst>
          </p:cNvPr>
          <p:cNvSpPr txBox="1"/>
          <p:nvPr/>
        </p:nvSpPr>
        <p:spPr>
          <a:xfrm>
            <a:off x="8116506" y="4702936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19%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75C0B-81EB-9EF7-79E7-29B534084251}"/>
              </a:ext>
            </a:extLst>
          </p:cNvPr>
          <p:cNvSpPr txBox="1"/>
          <p:nvPr/>
        </p:nvSpPr>
        <p:spPr>
          <a:xfrm>
            <a:off x="8628570" y="4721224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Sales &amp; Bus. Dev.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8CF41B-4999-5418-B62C-18295CCA1C76}"/>
              </a:ext>
            </a:extLst>
          </p:cNvPr>
          <p:cNvSpPr txBox="1"/>
          <p:nvPr/>
        </p:nvSpPr>
        <p:spPr>
          <a:xfrm>
            <a:off x="8116506" y="5050408"/>
            <a:ext cx="5486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12%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811097-BE3B-6A91-B869-30BBA5D887B8}"/>
              </a:ext>
            </a:extLst>
          </p:cNvPr>
          <p:cNvSpPr txBox="1"/>
          <p:nvPr/>
        </p:nvSpPr>
        <p:spPr>
          <a:xfrm>
            <a:off x="8628570" y="5068696"/>
            <a:ext cx="3014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7A828D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Finance / HR / Strat.</a:t>
            </a:r>
          </a:p>
        </p:txBody>
      </p:sp>
    </p:spTree>
    <p:extLst>
      <p:ext uri="{BB962C8B-B14F-4D97-AF65-F5344CB8AC3E}">
        <p14:creationId xmlns:p14="http://schemas.microsoft.com/office/powerpoint/2010/main" val="303867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AEA402-921B-DA31-5698-1B411B1E1F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7E56B2-1050-4901-A86F-E2774496114A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41EB8-D144-ED17-6CFC-D230A0445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Our Clients Say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7C54-E70A-B9DB-95D0-DF421E625725}"/>
              </a:ext>
            </a:extLst>
          </p:cNvPr>
          <p:cNvSpPr txBox="1">
            <a:spLocks noChangeAspect="1"/>
          </p:cNvSpPr>
          <p:nvPr/>
        </p:nvSpPr>
        <p:spPr>
          <a:xfrm>
            <a:off x="457200" y="1273386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2004E-2A0E-9107-ADFE-94B0E5997174}"/>
              </a:ext>
            </a:extLst>
          </p:cNvPr>
          <p:cNvSpPr txBox="1"/>
          <p:nvPr/>
        </p:nvSpPr>
        <p:spPr>
          <a:xfrm>
            <a:off x="1234440" y="2324146"/>
            <a:ext cx="9601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FulcrumQ</a:t>
            </a:r>
            <a:r>
              <a:rPr kumimoji="0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didn't just deliver a deck </a:t>
            </a:r>
            <a:r>
              <a:rPr kumimoji="0" lang="en-US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—</a:t>
            </a:r>
            <a:r>
              <a:rPr kumimoji="0" sz="24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they rewired how our leadership team thinks about growth. The clarity they brought to a problem we'd been stuck on for two years was remarkable.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FC9E73-F9BF-2745-DD36-1F0F622DEE56}"/>
              </a:ext>
            </a:extLst>
          </p:cNvPr>
          <p:cNvSpPr/>
          <p:nvPr/>
        </p:nvSpPr>
        <p:spPr>
          <a:xfrm>
            <a:off x="548640" y="4160520"/>
            <a:ext cx="1097280" cy="19050"/>
          </a:xfrm>
          <a:prstGeom prst="rect">
            <a:avLst/>
          </a:prstGeom>
          <a:solidFill>
            <a:srgbClr val="76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DC97A-A441-5C41-05F2-D9F16A9D722F}"/>
              </a:ext>
            </a:extLst>
          </p:cNvPr>
          <p:cNvSpPr txBox="1"/>
          <p:nvPr/>
        </p:nvSpPr>
        <p:spPr>
          <a:xfrm>
            <a:off x="548640" y="4315968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E8E3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Sarah Chen, Chief Operating Officer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BE464-E583-0D14-E8E8-76744F3B412E}"/>
              </a:ext>
            </a:extLst>
          </p:cNvPr>
          <p:cNvSpPr txBox="1"/>
          <p:nvPr/>
        </p:nvSpPr>
        <p:spPr>
          <a:xfrm>
            <a:off x="548640" y="4626864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Global Consumer Goods Co. · Fortune 500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C63F92-FA6F-D5EC-9B0F-44DAC05D74F2}"/>
              </a:ext>
            </a:extLst>
          </p:cNvPr>
          <p:cNvSpPr txBox="1">
            <a:spLocks noChangeAspect="1"/>
          </p:cNvSpPr>
          <p:nvPr/>
        </p:nvSpPr>
        <p:spPr>
          <a:xfrm>
            <a:off x="10029914" y="3467946"/>
            <a:ext cx="1097280" cy="11777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0" b="1" i="0" u="none" strike="noStrike" kern="1200" cap="none" spc="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986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F27CA1-A22D-D859-037B-FD8CF7E86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776AF1-DEE7-0188-37C4-D23239E2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By the numbers</a:t>
            </a:r>
            <a:br>
              <a:rPr lang="en-US"/>
            </a:br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13D66E3-43C9-90E9-2D25-541FF965736F}"/>
              </a:ext>
            </a:extLst>
          </p:cNvPr>
          <p:cNvGrpSpPr/>
          <p:nvPr/>
        </p:nvGrpSpPr>
        <p:grpSpPr>
          <a:xfrm>
            <a:off x="512064" y="1989820"/>
            <a:ext cx="11167566" cy="2662916"/>
            <a:chOff x="512064" y="1371600"/>
            <a:chExt cx="11167566" cy="266291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F95A3A7-B1DC-4C47-8B6B-D38BD494FDB2}"/>
                </a:ext>
              </a:extLst>
            </p:cNvPr>
            <p:cNvSpPr/>
            <p:nvPr/>
          </p:nvSpPr>
          <p:spPr>
            <a:xfrm>
              <a:off x="512064" y="1371600"/>
              <a:ext cx="2577007" cy="31750"/>
            </a:xfrm>
            <a:prstGeom prst="rect">
              <a:avLst/>
            </a:prstGeom>
            <a:solidFill>
              <a:srgbClr val="765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A13C77-B62C-DF9E-8183-AC97A6311DA9}"/>
                </a:ext>
              </a:extLst>
            </p:cNvPr>
            <p:cNvSpPr txBox="1"/>
            <p:nvPr/>
          </p:nvSpPr>
          <p:spPr>
            <a:xfrm>
              <a:off x="512064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$2.4B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01ECF29-CFA0-23FE-1D43-439FBB486CA8}"/>
                </a:ext>
              </a:extLst>
            </p:cNvPr>
            <p:cNvSpPr txBox="1"/>
            <p:nvPr/>
          </p:nvSpPr>
          <p:spPr>
            <a:xfrm>
              <a:off x="512064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Value unlocked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87001B-2777-3FFF-AF37-B230C78F6816}"/>
                </a:ext>
              </a:extLst>
            </p:cNvPr>
            <p:cNvSpPr/>
            <p:nvPr/>
          </p:nvSpPr>
          <p:spPr>
            <a:xfrm>
              <a:off x="512064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3181A4-D8A6-B947-6CB1-A1126858381A}"/>
                </a:ext>
              </a:extLst>
            </p:cNvPr>
            <p:cNvSpPr txBox="1"/>
            <p:nvPr/>
          </p:nvSpPr>
          <p:spPr>
            <a:xfrm>
              <a:off x="512064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Across 40+ operating model
transformations in 3 years.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803D57-C995-A4F8-5513-07B879FB46AA}"/>
                </a:ext>
              </a:extLst>
            </p:cNvPr>
            <p:cNvSpPr/>
            <p:nvPr/>
          </p:nvSpPr>
          <p:spPr>
            <a:xfrm>
              <a:off x="3345103" y="1371600"/>
              <a:ext cx="2577007" cy="31750"/>
            </a:xfrm>
            <a:prstGeom prst="rect">
              <a:avLst/>
            </a:prstGeom>
            <a:solidFill>
              <a:srgbClr val="00C27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D84C0B-73F4-9114-3832-FD4A41F3AC10}"/>
                </a:ext>
              </a:extLst>
            </p:cNvPr>
            <p:cNvSpPr txBox="1"/>
            <p:nvPr/>
          </p:nvSpPr>
          <p:spPr>
            <a:xfrm>
              <a:off x="334510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00C27A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94%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535DDB8-1B0D-E506-010D-1A4B87E00AF2}"/>
                </a:ext>
              </a:extLst>
            </p:cNvPr>
            <p:cNvSpPr txBox="1"/>
            <p:nvPr/>
          </p:nvSpPr>
          <p:spPr>
            <a:xfrm>
              <a:off x="334510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Client return rate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42F99C0-15F8-6AA7-E8BE-0F0C012A8D89}"/>
                </a:ext>
              </a:extLst>
            </p:cNvPr>
            <p:cNvSpPr/>
            <p:nvPr/>
          </p:nvSpPr>
          <p:spPr>
            <a:xfrm>
              <a:off x="334510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7954795-87AD-64DF-3F01-64EA2A81DA57}"/>
                </a:ext>
              </a:extLst>
            </p:cNvPr>
            <p:cNvSpPr txBox="1"/>
            <p:nvPr/>
          </p:nvSpPr>
          <p:spPr>
            <a:xfrm>
              <a:off x="334510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Of clients engage FulcrumQ
again within 18 months.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288B253-F51B-1D81-5611-40A009F02C60}"/>
                </a:ext>
              </a:extLst>
            </p:cNvPr>
            <p:cNvSpPr/>
            <p:nvPr/>
          </p:nvSpPr>
          <p:spPr>
            <a:xfrm>
              <a:off x="6178143" y="1371600"/>
              <a:ext cx="2577007" cy="31750"/>
            </a:xfrm>
            <a:prstGeom prst="rect">
              <a:avLst/>
            </a:prstGeom>
            <a:solidFill>
              <a:srgbClr val="FFB5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FA6FFA-524A-2CA9-0710-87B80F275CBD}"/>
                </a:ext>
              </a:extLst>
            </p:cNvPr>
            <p:cNvSpPr txBox="1"/>
            <p:nvPr/>
          </p:nvSpPr>
          <p:spPr>
            <a:xfrm>
              <a:off x="617814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FFB547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12 wks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A3E205-6BD6-0BF1-0178-A4DD091678E3}"/>
                </a:ext>
              </a:extLst>
            </p:cNvPr>
            <p:cNvSpPr txBox="1"/>
            <p:nvPr/>
          </p:nvSpPr>
          <p:spPr>
            <a:xfrm>
              <a:off x="617814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Time to value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899F3B-D903-6F23-D77E-1F462FC94849}"/>
                </a:ext>
              </a:extLst>
            </p:cNvPr>
            <p:cNvSpPr/>
            <p:nvPr/>
          </p:nvSpPr>
          <p:spPr>
            <a:xfrm>
              <a:off x="617814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34D1A8F-A87E-0EDA-DCE1-275FE7E66F09}"/>
                </a:ext>
              </a:extLst>
            </p:cNvPr>
            <p:cNvSpPr txBox="1"/>
            <p:nvPr/>
          </p:nvSpPr>
          <p:spPr>
            <a:xfrm>
              <a:off x="617814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From kickoff to board-ready
recommendation, consistently.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1153EA-1C9B-FFA0-A87D-CA60FA9F046D}"/>
                </a:ext>
              </a:extLst>
            </p:cNvPr>
            <p:cNvSpPr/>
            <p:nvPr/>
          </p:nvSpPr>
          <p:spPr>
            <a:xfrm>
              <a:off x="9011183" y="1371600"/>
              <a:ext cx="2577007" cy="31750"/>
            </a:xfrm>
            <a:prstGeom prst="rect">
              <a:avLst/>
            </a:prstGeom>
            <a:solidFill>
              <a:srgbClr val="FF2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3E658D-4A00-E09B-E68C-709F119133B8}"/>
                </a:ext>
              </a:extLst>
            </p:cNvPr>
            <p:cNvSpPr txBox="1"/>
            <p:nvPr/>
          </p:nvSpPr>
          <p:spPr>
            <a:xfrm>
              <a:off x="9011183" y="1572768"/>
              <a:ext cx="2668447" cy="12801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5600" b="1" i="0" u="none" strike="noStrike" kern="1200" cap="none" spc="0" normalizeH="0" baseline="0" noProof="0">
                  <a:ln>
                    <a:noFill/>
                  </a:ln>
                  <a:solidFill>
                    <a:srgbClr val="FF2E88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6.2×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4400351-9450-B821-0F49-776FDC9361DF}"/>
                </a:ext>
              </a:extLst>
            </p:cNvPr>
            <p:cNvSpPr txBox="1"/>
            <p:nvPr/>
          </p:nvSpPr>
          <p:spPr>
            <a:xfrm>
              <a:off x="9011183" y="2871216"/>
              <a:ext cx="26684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Average ROI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5B98F20-D5EF-3EF1-CB96-8D253A8F23F3}"/>
                </a:ext>
              </a:extLst>
            </p:cNvPr>
            <p:cNvSpPr/>
            <p:nvPr/>
          </p:nvSpPr>
          <p:spPr>
            <a:xfrm>
              <a:off x="9011183" y="3346704"/>
              <a:ext cx="548640" cy="12700"/>
            </a:xfrm>
            <a:prstGeom prst="rect">
              <a:avLst/>
            </a:prstGeom>
            <a:solidFill>
              <a:srgbClr val="D0D7D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D6BA7EE-7BCD-34A9-FFD5-338D507F231B}"/>
                </a:ext>
              </a:extLst>
            </p:cNvPr>
            <p:cNvSpPr txBox="1"/>
            <p:nvPr/>
          </p:nvSpPr>
          <p:spPr>
            <a:xfrm>
              <a:off x="9011183" y="3511296"/>
              <a:ext cx="2577007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Measured 12 months post-
engagement across accounts.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078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B7A59-7A08-C562-422A-5F05D0E711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98B45-BED0-0098-F32D-B0B4B68D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 &amp; Next Steps</a:t>
            </a:r>
            <a:br>
              <a:rPr lang="en-US"/>
            </a:br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4D8CFFA-BAAC-7E66-00C0-2233CC89F265}"/>
              </a:ext>
            </a:extLst>
          </p:cNvPr>
          <p:cNvGrpSpPr/>
          <p:nvPr/>
        </p:nvGrpSpPr>
        <p:grpSpPr>
          <a:xfrm>
            <a:off x="512064" y="1276771"/>
            <a:ext cx="4858865" cy="3841137"/>
            <a:chOff x="512064" y="1005840"/>
            <a:chExt cx="4858865" cy="384113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4F4BD87-BA36-64DD-93A8-1E54179699DF}"/>
                </a:ext>
              </a:extLst>
            </p:cNvPr>
            <p:cNvSpPr txBox="1"/>
            <p:nvPr/>
          </p:nvSpPr>
          <p:spPr>
            <a:xfrm>
              <a:off x="512064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917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OUR RECOMMENDATIONS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0C7F490-BBD0-AFCB-F71B-0118DB9ED70F}"/>
                </a:ext>
              </a:extLst>
            </p:cNvPr>
            <p:cNvSpPr txBox="1"/>
            <p:nvPr/>
          </p:nvSpPr>
          <p:spPr>
            <a:xfrm>
              <a:off x="613662" y="1750187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14E2A-31E7-86EB-7FDC-9A53895D45D5}"/>
                </a:ext>
              </a:extLst>
            </p:cNvPr>
            <p:cNvSpPr txBox="1"/>
            <p:nvPr/>
          </p:nvSpPr>
          <p:spPr>
            <a:xfrm>
              <a:off x="1060704" y="1719409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Restructure the commercial org around customer segments, not product lines.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405378-7206-00DA-214E-7F253A3E02D2}"/>
                </a:ext>
              </a:extLst>
            </p:cNvPr>
            <p:cNvSpPr/>
            <p:nvPr/>
          </p:nvSpPr>
          <p:spPr>
            <a:xfrm>
              <a:off x="512064" y="261518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49EB3D-88A1-AD1D-B949-9F1EBE5877D8}"/>
                </a:ext>
              </a:extLst>
            </p:cNvPr>
            <p:cNvSpPr txBox="1"/>
            <p:nvPr/>
          </p:nvSpPr>
          <p:spPr>
            <a:xfrm>
              <a:off x="613662" y="3094693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329025-3615-082E-3580-C1084D56C06E}"/>
                </a:ext>
              </a:extLst>
            </p:cNvPr>
            <p:cNvSpPr txBox="1"/>
            <p:nvPr/>
          </p:nvSpPr>
          <p:spPr>
            <a:xfrm>
              <a:off x="1060704" y="3063915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Establish a cross-functional Growth Council with a monthly operating cadence.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D5AE8F-2B6C-3A7C-5648-66DFFC5E5A7F}"/>
                </a:ext>
              </a:extLst>
            </p:cNvPr>
            <p:cNvSpPr/>
            <p:nvPr/>
          </p:nvSpPr>
          <p:spPr>
            <a:xfrm>
              <a:off x="512064" y="4078224"/>
              <a:ext cx="4822289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AF0776E-0AF8-3286-CB0D-D9EBE2690682}"/>
                </a:ext>
              </a:extLst>
            </p:cNvPr>
            <p:cNvSpPr txBox="1"/>
            <p:nvPr/>
          </p:nvSpPr>
          <p:spPr>
            <a:xfrm>
              <a:off x="613662" y="4354535"/>
              <a:ext cx="54864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2400" b="1" i="0" u="none" strike="noStrike" kern="1200" cap="none" spc="0" normalizeH="0" baseline="0" noProof="0">
                  <a:ln>
                    <a:noFill/>
                  </a:ln>
                  <a:solidFill>
                    <a:srgbClr val="AD9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5F6FB9-F923-5125-A290-AFD65DB36E2A}"/>
                </a:ext>
              </a:extLst>
            </p:cNvPr>
            <p:cNvSpPr txBox="1"/>
            <p:nvPr/>
          </p:nvSpPr>
          <p:spPr>
            <a:xfrm>
              <a:off x="1060704" y="4323757"/>
              <a:ext cx="431022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Invest in a unified data layer connecting sales, ops, and finance.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A387E-A481-AC1D-FA12-5BDE25022A66}"/>
              </a:ext>
            </a:extLst>
          </p:cNvPr>
          <p:cNvSpPr/>
          <p:nvPr/>
        </p:nvSpPr>
        <p:spPr>
          <a:xfrm>
            <a:off x="5645249" y="1276771"/>
            <a:ext cx="19050" cy="5394960"/>
          </a:xfrm>
          <a:prstGeom prst="rect">
            <a:avLst/>
          </a:prstGeom>
          <a:solidFill>
            <a:srgbClr val="E9E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773A6C7-9CBA-398E-5E94-2020DCE5AA9E}"/>
              </a:ext>
            </a:extLst>
          </p:cNvPr>
          <p:cNvGrpSpPr/>
          <p:nvPr/>
        </p:nvGrpSpPr>
        <p:grpSpPr>
          <a:xfrm>
            <a:off x="5882993" y="1276771"/>
            <a:ext cx="5796637" cy="4879777"/>
            <a:chOff x="5882993" y="1005840"/>
            <a:chExt cx="5796637" cy="48797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273A147-D68F-AD2B-C707-651F13423678}"/>
                </a:ext>
              </a:extLst>
            </p:cNvPr>
            <p:cNvSpPr txBox="1"/>
            <p:nvPr/>
          </p:nvSpPr>
          <p:spPr>
            <a:xfrm>
              <a:off x="5882993" y="1005840"/>
              <a:ext cx="3657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srgbClr val="917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NEXT STEPS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5449297-94BB-31C9-08A0-54212C10894B}"/>
                </a:ext>
              </a:extLst>
            </p:cNvPr>
            <p:cNvSpPr txBox="1"/>
            <p:nvPr/>
          </p:nvSpPr>
          <p:spPr>
            <a:xfrm>
              <a:off x="5882993" y="1389888"/>
              <a:ext cx="34779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Action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DE36C5-8CAB-CAE2-BE12-1493A4B13EBA}"/>
                </a:ext>
              </a:extLst>
            </p:cNvPr>
            <p:cNvSpPr txBox="1"/>
            <p:nvPr/>
          </p:nvSpPr>
          <p:spPr>
            <a:xfrm>
              <a:off x="9360975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Owner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C25646-E0B2-C18F-188A-436281C5CF54}"/>
                </a:ext>
              </a:extLst>
            </p:cNvPr>
            <p:cNvSpPr txBox="1"/>
            <p:nvPr/>
          </p:nvSpPr>
          <p:spPr>
            <a:xfrm>
              <a:off x="10520303" y="1389888"/>
              <a:ext cx="115932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600" b="1" i="0" u="none" strike="noStrike" kern="1200" cap="none" spc="0" normalizeH="0" baseline="0" noProof="0">
                  <a:ln>
                    <a:noFill/>
                  </a:ln>
                  <a:solidFill>
                    <a:srgbClr val="281A42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By When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E8316A-5978-67DD-5894-D32B8C388381}"/>
                </a:ext>
              </a:extLst>
            </p:cNvPr>
            <p:cNvSpPr/>
            <p:nvPr/>
          </p:nvSpPr>
          <p:spPr>
            <a:xfrm>
              <a:off x="5882993" y="1700784"/>
              <a:ext cx="5796637" cy="12700"/>
            </a:xfrm>
            <a:prstGeom prst="rect">
              <a:avLst/>
            </a:prstGeom>
            <a:solidFill>
              <a:srgbClr val="E9E4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320B947-7AF6-C607-C773-B5B292328AEC}"/>
                </a:ext>
              </a:extLst>
            </p:cNvPr>
            <p:cNvSpPr txBox="1"/>
            <p:nvPr/>
          </p:nvSpPr>
          <p:spPr>
            <a:xfrm>
              <a:off x="5882993" y="1792224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Kick off commercial org redesign workstream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A74850-417D-5507-AAF6-702FEE5036DC}"/>
                </a:ext>
              </a:extLst>
            </p:cNvPr>
            <p:cNvSpPr txBox="1"/>
            <p:nvPr/>
          </p:nvSpPr>
          <p:spPr>
            <a:xfrm>
              <a:off x="9360975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COO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AB59EB-3C80-8FC6-B612-5A57BEAF1528}"/>
                </a:ext>
              </a:extLst>
            </p:cNvPr>
            <p:cNvSpPr txBox="1"/>
            <p:nvPr/>
          </p:nvSpPr>
          <p:spPr>
            <a:xfrm>
              <a:off x="10520303" y="1792224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</a:t>
              </a: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 2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5F79AA-5262-146C-1851-8D6368521D79}"/>
                </a:ext>
              </a:extLst>
            </p:cNvPr>
            <p:cNvSpPr/>
            <p:nvPr/>
          </p:nvSpPr>
          <p:spPr>
            <a:xfrm>
              <a:off x="5882993" y="2834639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64A02C0-FFC8-6688-4592-58A455A25A4A}"/>
                </a:ext>
              </a:extLst>
            </p:cNvPr>
            <p:cNvSpPr txBox="1"/>
            <p:nvPr/>
          </p:nvSpPr>
          <p:spPr>
            <a:xfrm>
              <a:off x="5882993" y="3054096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Stand up Growth Council charter + membership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EF8B32-1830-6943-0A73-3227CE629F7D}"/>
                </a:ext>
              </a:extLst>
            </p:cNvPr>
            <p:cNvSpPr txBox="1"/>
            <p:nvPr/>
          </p:nvSpPr>
          <p:spPr>
            <a:xfrm>
              <a:off x="9360975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CEO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F49D54F-8E26-A1D8-0550-050E4B00162E}"/>
                </a:ext>
              </a:extLst>
            </p:cNvPr>
            <p:cNvSpPr txBox="1"/>
            <p:nvPr/>
          </p:nvSpPr>
          <p:spPr>
            <a:xfrm>
              <a:off x="10520303" y="3054096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2824899-5EE1-2CAA-3BAF-E9EE54BAE066}"/>
                </a:ext>
              </a:extLst>
            </p:cNvPr>
            <p:cNvSpPr/>
            <p:nvPr/>
          </p:nvSpPr>
          <p:spPr>
            <a:xfrm>
              <a:off x="5882993" y="4096511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D9B4B9-BD1B-1D97-E884-92004F3EFB92}"/>
                </a:ext>
              </a:extLst>
            </p:cNvPr>
            <p:cNvSpPr txBox="1"/>
            <p:nvPr/>
          </p:nvSpPr>
          <p:spPr>
            <a:xfrm>
              <a:off x="5882993" y="4315968"/>
              <a:ext cx="338654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Scope data layer requirements and vendor list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E8C25DA-3CF0-B39C-CEBF-0950DE480C87}"/>
                </a:ext>
              </a:extLst>
            </p:cNvPr>
            <p:cNvSpPr txBox="1"/>
            <p:nvPr/>
          </p:nvSpPr>
          <p:spPr>
            <a:xfrm>
              <a:off x="9360975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CTO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14E5BC-9D51-DDC2-56E3-54FC9177C25B}"/>
                </a:ext>
              </a:extLst>
            </p:cNvPr>
            <p:cNvSpPr txBox="1"/>
            <p:nvPr/>
          </p:nvSpPr>
          <p:spPr>
            <a:xfrm>
              <a:off x="10520303" y="4315968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4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7BD9CC-2E76-B879-CC37-34A4B0121993}"/>
                </a:ext>
              </a:extLst>
            </p:cNvPr>
            <p:cNvSpPr/>
            <p:nvPr/>
          </p:nvSpPr>
          <p:spPr>
            <a:xfrm>
              <a:off x="5882993" y="5358383"/>
              <a:ext cx="5796637" cy="12700"/>
            </a:xfrm>
            <a:prstGeom prst="rect">
              <a:avLst/>
            </a:prstGeom>
            <a:solidFill>
              <a:srgbClr val="F0EF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B4F9AED-F872-711A-F474-D34E52909A89}"/>
                </a:ext>
              </a:extLst>
            </p:cNvPr>
            <p:cNvSpPr txBox="1"/>
            <p:nvPr/>
          </p:nvSpPr>
          <p:spPr>
            <a:xfrm>
              <a:off x="5882993" y="5577840"/>
              <a:ext cx="338654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1D1D1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Present final business case to board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C15E8B-3E69-6613-2BCA-4C13034353FA}"/>
                </a:ext>
              </a:extLst>
            </p:cNvPr>
            <p:cNvSpPr txBox="1"/>
            <p:nvPr/>
          </p:nvSpPr>
          <p:spPr>
            <a:xfrm>
              <a:off x="9360975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765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MD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A16BC74-9F74-45FB-8664-E3900A0A9150}"/>
                </a:ext>
              </a:extLst>
            </p:cNvPr>
            <p:cNvSpPr txBox="1"/>
            <p:nvPr/>
          </p:nvSpPr>
          <p:spPr>
            <a:xfrm>
              <a:off x="10520303" y="5577840"/>
              <a:ext cx="115932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0" i="0" u="none" strike="noStrike" kern="1200" cap="none" spc="0" normalizeH="0" baseline="0" noProof="0">
                  <a:ln>
                    <a:noFill/>
                  </a:ln>
                  <a:solidFill>
                    <a:srgbClr val="7A828D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Wk 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457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23B722-A25E-4171-34D1-47870F7ED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554852"/>
            <a:ext cx="12192000" cy="215444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B82A6-D7C0-9125-2AF2-8371114C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000" y="228600"/>
            <a:ext cx="11338560" cy="546568"/>
          </a:xfrm>
        </p:spPr>
        <p:txBody>
          <a:bodyPr/>
          <a:lstStyle/>
          <a:p>
            <a:r>
              <a:rPr lang="en-US" dirty="0"/>
              <a:t>Data/Chart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95720F3-2DCF-EC23-252C-3BFB83F3ACC1}"/>
              </a:ext>
            </a:extLst>
          </p:cNvPr>
          <p:cNvSpPr/>
          <p:nvPr/>
        </p:nvSpPr>
        <p:spPr>
          <a:xfrm>
            <a:off x="432000" y="2313339"/>
            <a:ext cx="4196367" cy="2231321"/>
          </a:xfrm>
          <a:prstGeom prst="rect">
            <a:avLst/>
          </a:prstGeom>
          <a:noFill/>
        </p:spPr>
        <p:txBody>
          <a:bodyPr wrap="square" lIns="182880" tIns="91440" rIns="182880" bIns="9144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eos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accusamus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iusto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odio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dignissimos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ducimus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qui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blanditiis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praesentium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voluptatum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deleniti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corrupti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quos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dolores</a:t>
            </a:r>
            <a:b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et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molestias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excepturi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sint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occaecati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cupiditate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non provident, </a:t>
            </a:r>
            <a:r>
              <a:rPr kumimoji="0" lang="en-IN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similique</a:t>
            </a:r>
            <a:r>
              <a:rPr kumimoji="0" lang="en-IN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sunt in culpa.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0BEB0A4-1964-B833-CE0C-518A16CEF0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56389"/>
              </p:ext>
            </p:extLst>
          </p:nvPr>
        </p:nvGraphicFramePr>
        <p:xfrm>
          <a:off x="5914372" y="1684751"/>
          <a:ext cx="5734284" cy="3488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16861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66D5DA-B944-7341-E532-9AD833199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1F2D1-0444-71AC-18DD-4E3573D6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Meeting Breakdown</a:t>
            </a:r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277B133C-9EA9-12FA-DF52-E3DED172F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1" y="5797241"/>
            <a:ext cx="2571737" cy="50793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7F6F1025-A0B7-970A-88EA-8E8E9ECA6EDA}"/>
              </a:ext>
            </a:extLst>
          </p:cNvPr>
          <p:cNvSpPr/>
          <p:nvPr/>
        </p:nvSpPr>
        <p:spPr>
          <a:xfrm>
            <a:off x="432000" y="5016293"/>
            <a:ext cx="2622537" cy="736504"/>
          </a:xfrm>
          <a:prstGeom prst="rect">
            <a:avLst/>
          </a:prstGeom>
          <a:noFill/>
        </p:spPr>
        <p:txBody>
          <a:bodyPr wrap="square" lIns="0" tIns="0" rIns="0" bIns="9144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33D808-6FBE-3FBA-7E79-D579800636E4}"/>
              </a:ext>
            </a:extLst>
          </p:cNvPr>
          <p:cNvSpPr/>
          <p:nvPr/>
        </p:nvSpPr>
        <p:spPr>
          <a:xfrm>
            <a:off x="422729" y="4605218"/>
            <a:ext cx="330199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(01)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B406090-5150-AFAC-6FF5-F8AEAE69A780}"/>
              </a:ext>
            </a:extLst>
          </p:cNvPr>
          <p:cNvSpPr/>
          <p:nvPr/>
        </p:nvSpPr>
        <p:spPr>
          <a:xfrm>
            <a:off x="774899" y="4571851"/>
            <a:ext cx="22902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01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D478851F-80B2-6919-D5C8-555CB74C5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470" y="4838516"/>
            <a:ext cx="2571737" cy="50793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57343D69-A3D8-A021-50C7-78A8EAE65E6C}"/>
              </a:ext>
            </a:extLst>
          </p:cNvPr>
          <p:cNvSpPr/>
          <p:nvPr/>
        </p:nvSpPr>
        <p:spPr>
          <a:xfrm>
            <a:off x="3243470" y="3873442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ABF3AD3-6665-D2EB-5759-6E0CC8110E25}"/>
              </a:ext>
            </a:extLst>
          </p:cNvPr>
          <p:cNvSpPr/>
          <p:nvPr/>
        </p:nvSpPr>
        <p:spPr>
          <a:xfrm>
            <a:off x="3234198" y="3462366"/>
            <a:ext cx="34924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(02)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55FA8D-E003-A003-1B75-F27CE20DCFB0}"/>
              </a:ext>
            </a:extLst>
          </p:cNvPr>
          <p:cNvSpPr/>
          <p:nvPr/>
        </p:nvSpPr>
        <p:spPr>
          <a:xfrm>
            <a:off x="3605418" y="3429000"/>
            <a:ext cx="22521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02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2" name="Image 4" descr=" ">
            <a:extLst>
              <a:ext uri="{FF2B5EF4-FFF2-40B4-BE49-F238E27FC236}">
                <a16:creationId xmlns:a16="http://schemas.microsoft.com/office/drawing/2014/main" id="{0AD31844-6767-E5C5-297A-13E7FBE3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78898" y="3613125"/>
            <a:ext cx="2571737" cy="50793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25B5A8E-C7FB-0033-A19A-3082E70C23F2}"/>
              </a:ext>
            </a:extLst>
          </p:cNvPr>
          <p:cNvSpPr/>
          <p:nvPr/>
        </p:nvSpPr>
        <p:spPr>
          <a:xfrm>
            <a:off x="6078898" y="2648051"/>
            <a:ext cx="2622537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0B9A7EA-C803-99C6-BF31-7CA3F14C88C1}"/>
              </a:ext>
            </a:extLst>
          </p:cNvPr>
          <p:cNvSpPr/>
          <p:nvPr/>
        </p:nvSpPr>
        <p:spPr>
          <a:xfrm>
            <a:off x="6069627" y="2236976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(03)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BAD44582-6500-48DA-5AE5-DD1EE42331B8}"/>
              </a:ext>
            </a:extLst>
          </p:cNvPr>
          <p:cNvSpPr/>
          <p:nvPr/>
        </p:nvSpPr>
        <p:spPr>
          <a:xfrm>
            <a:off x="6447196" y="2203609"/>
            <a:ext cx="2264822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03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16" name="Image 6" descr=" ">
            <a:extLst>
              <a:ext uri="{FF2B5EF4-FFF2-40B4-BE49-F238E27FC236}">
                <a16:creationId xmlns:a16="http://schemas.microsoft.com/office/drawing/2014/main" id="{3D6E9E48-24DA-3B52-D17D-C6E68B998C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91603" y="2432179"/>
            <a:ext cx="2571737" cy="50793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BF85A681-E388-2FA6-D038-07FFFCDA3746}"/>
              </a:ext>
            </a:extLst>
          </p:cNvPr>
          <p:cNvSpPr/>
          <p:nvPr/>
        </p:nvSpPr>
        <p:spPr>
          <a:xfrm>
            <a:off x="9091604" y="1467105"/>
            <a:ext cx="2654286" cy="9650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Lorem ipsum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sit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amet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consectetur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adipiscing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elit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do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eiusmod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tempor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incididunt</a:t>
            </a: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IN" sz="1400" b="0" i="0" u="none" strike="noStrike" kern="1200" cap="none" spc="0" normalizeH="0" baseline="0" noProof="0" err="1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CC190AD4-CC49-70F3-5782-7ADEEC16BE5E}"/>
              </a:ext>
            </a:extLst>
          </p:cNvPr>
          <p:cNvSpPr/>
          <p:nvPr/>
        </p:nvSpPr>
        <p:spPr>
          <a:xfrm>
            <a:off x="9082332" y="1056030"/>
            <a:ext cx="355598" cy="2349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-24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rial" panose="020B0604020202020204" pitchFamily="34" charset="0"/>
                <a:ea typeface="Inter Medium" panose="020B0802030000000004" pitchFamily="34" charset="-122"/>
                <a:cs typeface="Arial" panose="020B0604020202020204" pitchFamily="34" charset="0"/>
              </a:rPr>
              <a:t>(04)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67E587C-97A8-592A-EAF3-57B7443BBAC6}"/>
              </a:ext>
            </a:extLst>
          </p:cNvPr>
          <p:cNvSpPr/>
          <p:nvPr/>
        </p:nvSpPr>
        <p:spPr>
          <a:xfrm>
            <a:off x="9459901" y="1022663"/>
            <a:ext cx="2302921" cy="3089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-16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Segoe UI" panose="020B0502040204020203" pitchFamily="34" charset="0"/>
                <a:ea typeface="Inter Medium" panose="020B0802030000000004" pitchFamily="34" charset="-122"/>
                <a:cs typeface="Segoe UI" panose="020B0502040204020203" pitchFamily="34" charset="0"/>
              </a:rPr>
              <a:t>Title Text 04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1D1D1D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28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745DC-9100-D824-B055-A6D5620A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E2EBFC-3FDB-0987-F419-50126A2B5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75A764-3B06-454E-8ABA-2F6ED0EB58E9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B3BBC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B3BBC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37907-7143-2E80-58ED-139FA056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Insights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1657285-7587-1551-E3C4-80FCF06C08DD}"/>
              </a:ext>
            </a:extLst>
          </p:cNvPr>
          <p:cNvGrpSpPr/>
          <p:nvPr/>
        </p:nvGrpSpPr>
        <p:grpSpPr>
          <a:xfrm>
            <a:off x="432000" y="2267712"/>
            <a:ext cx="3238126" cy="2974129"/>
            <a:chOff x="432000" y="2077768"/>
            <a:chExt cx="3238126" cy="2974129"/>
          </a:xfrm>
        </p:grpSpPr>
        <p:sp>
          <p:nvSpPr>
            <p:cNvPr id="13" name="Text 0">
              <a:extLst>
                <a:ext uri="{FF2B5EF4-FFF2-40B4-BE49-F238E27FC236}">
                  <a16:creationId xmlns:a16="http://schemas.microsoft.com/office/drawing/2014/main" id="{F8991534-CE61-45CE-0414-314A1E4FE99B}"/>
                </a:ext>
              </a:extLst>
            </p:cNvPr>
            <p:cNvSpPr/>
            <p:nvPr/>
          </p:nvSpPr>
          <p:spPr>
            <a:xfrm>
              <a:off x="432001" y="2829342"/>
              <a:ext cx="3238125" cy="2222555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omnis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</p:txBody>
        </p:sp>
        <p:sp>
          <p:nvSpPr>
            <p:cNvPr id="14" name="Text 0">
              <a:extLst>
                <a:ext uri="{FF2B5EF4-FFF2-40B4-BE49-F238E27FC236}">
                  <a16:creationId xmlns:a16="http://schemas.microsoft.com/office/drawing/2014/main" id="{6CF10047-2497-583D-127A-D439147980B1}"/>
                </a:ext>
              </a:extLst>
            </p:cNvPr>
            <p:cNvSpPr/>
            <p:nvPr/>
          </p:nvSpPr>
          <p:spPr>
            <a:xfrm>
              <a:off x="432000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2C9AE1-0B92-FAE5-482E-FF22B38C4CDD}"/>
              </a:ext>
            </a:extLst>
          </p:cNvPr>
          <p:cNvGrpSpPr/>
          <p:nvPr/>
        </p:nvGrpSpPr>
        <p:grpSpPr>
          <a:xfrm>
            <a:off x="4476938" y="2267712"/>
            <a:ext cx="3238126" cy="2974129"/>
            <a:chOff x="4476938" y="2077768"/>
            <a:chExt cx="3238126" cy="2974129"/>
          </a:xfrm>
        </p:grpSpPr>
        <p:sp>
          <p:nvSpPr>
            <p:cNvPr id="15" name="Text 0">
              <a:extLst>
                <a:ext uri="{FF2B5EF4-FFF2-40B4-BE49-F238E27FC236}">
                  <a16:creationId xmlns:a16="http://schemas.microsoft.com/office/drawing/2014/main" id="{B3EEBD76-1778-F63E-C5F9-7E1FC6E4A3D5}"/>
                </a:ext>
              </a:extLst>
            </p:cNvPr>
            <p:cNvSpPr/>
            <p:nvPr/>
          </p:nvSpPr>
          <p:spPr>
            <a:xfrm>
              <a:off x="4476939" y="2829343"/>
              <a:ext cx="3238125" cy="2222554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omnis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Text 0">
              <a:extLst>
                <a:ext uri="{FF2B5EF4-FFF2-40B4-BE49-F238E27FC236}">
                  <a16:creationId xmlns:a16="http://schemas.microsoft.com/office/drawing/2014/main" id="{97184D44-7331-9CC0-401F-BB70837CFAB6}"/>
                </a:ext>
              </a:extLst>
            </p:cNvPr>
            <p:cNvSpPr/>
            <p:nvPr/>
          </p:nvSpPr>
          <p:spPr>
            <a:xfrm>
              <a:off x="4476938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EE85C55-97A7-CBA8-D194-82336DF7DE4A}"/>
              </a:ext>
            </a:extLst>
          </p:cNvPr>
          <p:cNvGrpSpPr/>
          <p:nvPr/>
        </p:nvGrpSpPr>
        <p:grpSpPr>
          <a:xfrm>
            <a:off x="8521876" y="2267714"/>
            <a:ext cx="3238126" cy="2974127"/>
            <a:chOff x="8521876" y="2077768"/>
            <a:chExt cx="3238126" cy="2974127"/>
          </a:xfrm>
        </p:grpSpPr>
        <p:sp>
          <p:nvSpPr>
            <p:cNvPr id="17" name="Text 0">
              <a:extLst>
                <a:ext uri="{FF2B5EF4-FFF2-40B4-BE49-F238E27FC236}">
                  <a16:creationId xmlns:a16="http://schemas.microsoft.com/office/drawing/2014/main" id="{04EBDFA2-3384-0FA2-ACA3-D13344ACA780}"/>
                </a:ext>
              </a:extLst>
            </p:cNvPr>
            <p:cNvSpPr/>
            <p:nvPr/>
          </p:nvSpPr>
          <p:spPr>
            <a:xfrm>
              <a:off x="8521877" y="2829342"/>
              <a:ext cx="3238125" cy="2222553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vero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iusto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odio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dignissimos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ducimus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qui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blanditiis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praesentium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deleniti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70000"/>
                <a:buFontTx/>
                <a:buBlip>
                  <a:blip r:embed="rId2"/>
                </a:buBlip>
                <a:tabLst/>
                <a:defRPr/>
              </a:pP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Sed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ut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perspiciatis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unde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omnis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iste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natus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error sit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voluptatem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accusantium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doloremquentium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,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totam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rem </a:t>
              </a:r>
              <a:r>
                <a:rPr kumimoji="0" lang="en-IN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aperiam</a:t>
              </a:r>
              <a:r>
                <a:rPr kumimoji="0" lang="en-IN" sz="1400" b="0" i="0" u="none" strike="noStrike" kern="1200" cap="none" spc="0" normalizeH="0" baseline="0" noProof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.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Text 0">
              <a:extLst>
                <a:ext uri="{FF2B5EF4-FFF2-40B4-BE49-F238E27FC236}">
                  <a16:creationId xmlns:a16="http://schemas.microsoft.com/office/drawing/2014/main" id="{7FEF822D-2258-1A09-3824-D9D68E5174A7}"/>
                </a:ext>
              </a:extLst>
            </p:cNvPr>
            <p:cNvSpPr/>
            <p:nvPr/>
          </p:nvSpPr>
          <p:spPr>
            <a:xfrm>
              <a:off x="8521876" y="2077768"/>
              <a:ext cx="3238125" cy="723822"/>
            </a:xfrm>
            <a:prstGeom prst="rect">
              <a:avLst/>
            </a:prstGeom>
            <a:noFill/>
          </p:spPr>
          <p:txBody>
            <a:bodyPr wrap="square" lIns="91440" tIns="91440" rIns="91440" bIns="9144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Baesentium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</a:t>
              </a:r>
              <a:r>
                <a:rPr kumimoji="0" lang="en-IN" sz="2000" b="1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Uptatum</a:t>
              </a:r>
              <a:r>
                <a:rPr kumimoji="0" lang="en-I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 Delen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D1D1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4" name="Text 0">
            <a:extLst>
              <a:ext uri="{FF2B5EF4-FFF2-40B4-BE49-F238E27FC236}">
                <a16:creationId xmlns:a16="http://schemas.microsoft.com/office/drawing/2014/main" id="{7E444712-643D-A678-F08E-FED74FD56CEF}"/>
              </a:ext>
            </a:extLst>
          </p:cNvPr>
          <p:cNvSpPr/>
          <p:nvPr/>
        </p:nvSpPr>
        <p:spPr>
          <a:xfrm>
            <a:off x="420000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01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B2C0521-7BF6-838D-9BCF-E5D68214AD66}"/>
              </a:ext>
            </a:extLst>
          </p:cNvPr>
          <p:cNvSpPr/>
          <p:nvPr/>
        </p:nvSpPr>
        <p:spPr>
          <a:xfrm>
            <a:off x="4464938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02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00BD82A-1BC1-375C-1EE9-EB3B0128AC74}"/>
              </a:ext>
            </a:extLst>
          </p:cNvPr>
          <p:cNvSpPr/>
          <p:nvPr/>
        </p:nvSpPr>
        <p:spPr>
          <a:xfrm>
            <a:off x="8509877" y="1740685"/>
            <a:ext cx="3238125" cy="277258"/>
          </a:xfrm>
          <a:prstGeom prst="rect">
            <a:avLst/>
          </a:prstGeom>
          <a:noFill/>
        </p:spPr>
        <p:txBody>
          <a:bodyPr wrap="square" lIns="9144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-150" normalizeH="0" baseline="0" noProof="0">
                <a:ln>
                  <a:noFill/>
                </a:ln>
                <a:solidFill>
                  <a:srgbClr val="765FFF"/>
                </a:solidFill>
                <a:effectLst/>
                <a:uLnTx/>
                <a:uFillTx/>
                <a:latin typeface="Aileron Bold" panose="00000A00000000000000" pitchFamily="2" charset="77"/>
                <a:ea typeface="+mn-ea"/>
                <a:cs typeface="+mn-cs"/>
              </a:rPr>
              <a:t>03</a:t>
            </a:r>
            <a:endParaRPr kumimoji="0" lang="en-US" sz="1800" b="0" i="0" u="none" strike="noStrike" kern="1200" cap="none" spc="-150" normalizeH="0" baseline="0" noProof="0">
              <a:ln>
                <a:noFill/>
              </a:ln>
              <a:solidFill>
                <a:srgbClr val="765FFF"/>
              </a:solidFill>
              <a:effectLst/>
              <a:uLnTx/>
              <a:uFillTx/>
              <a:latin typeface="Aileron Bold" panose="00000A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319684"/>
      </p:ext>
    </p:extLst>
  </p:cSld>
  <p:clrMapOvr>
    <a:masterClrMapping/>
  </p:clrMapOvr>
</p:sld>
</file>

<file path=ppt/theme/theme1.xml><?xml version="1.0" encoding="utf-8"?>
<a:theme xmlns:a="http://schemas.openxmlformats.org/drawingml/2006/main" name="FQ_Theme">
  <a:themeElements>
    <a:clrScheme name="FQ_Colors">
      <a:dk1>
        <a:srgbClr val="1D1D1D"/>
      </a:dk1>
      <a:lt1>
        <a:srgbClr val="FEFFFF"/>
      </a:lt1>
      <a:dk2>
        <a:srgbClr val="281A42"/>
      </a:dk2>
      <a:lt2>
        <a:srgbClr val="F2F2F2"/>
      </a:lt2>
      <a:accent1>
        <a:srgbClr val="765FFE"/>
      </a:accent1>
      <a:accent2>
        <a:srgbClr val="AD9FFF"/>
      </a:accent2>
      <a:accent3>
        <a:srgbClr val="E8E3FF"/>
      </a:accent3>
      <a:accent4>
        <a:srgbClr val="02C079"/>
      </a:accent4>
      <a:accent5>
        <a:srgbClr val="FFB447"/>
      </a:accent5>
      <a:accent6>
        <a:srgbClr val="FF2D87"/>
      </a:accent6>
      <a:hlink>
        <a:srgbClr val="60BDBC"/>
      </a:hlink>
      <a:folHlink>
        <a:srgbClr val="757575"/>
      </a:folHlink>
    </a:clrScheme>
    <a:fontScheme name="Office Theme">
      <a:majorFont>
        <a:latin typeface="Segoe UI" pitchFamily="34" charset="0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34" charset="0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Q_Theme" id="{D85766C4-788A-D240-9FED-64B6AEC1C3FC}" vid="{C559863A-A311-A74F-9685-52998E57B6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1302</Words>
  <Application>Microsoft Macintosh PowerPoint</Application>
  <PresentationFormat>Widescreen</PresentationFormat>
  <Paragraphs>412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Aileron Bold</vt:lpstr>
      <vt:lpstr>Aptos</vt:lpstr>
      <vt:lpstr>Arial</vt:lpstr>
      <vt:lpstr>Segoe UI</vt:lpstr>
      <vt:lpstr>FQ_Theme</vt:lpstr>
      <vt:lpstr>FulcrumQ</vt:lpstr>
      <vt:lpstr>Agenda</vt:lpstr>
      <vt:lpstr>Welcome!</vt:lpstr>
      <vt:lpstr>Data/Chart</vt:lpstr>
      <vt:lpstr>Divider</vt:lpstr>
      <vt:lpstr>PowerPoint Presentation</vt:lpstr>
      <vt:lpstr>Color Palette</vt:lpstr>
      <vt:lpstr>Icon Library</vt:lpstr>
      <vt:lpstr>The Value Agenda</vt:lpstr>
      <vt:lpstr>Critical Roles</vt:lpstr>
      <vt:lpstr>Key Insights</vt:lpstr>
      <vt:lpstr>Critical Roles</vt:lpstr>
      <vt:lpstr>What Our Clients Say</vt:lpstr>
      <vt:lpstr>By the numbers </vt:lpstr>
      <vt:lpstr>Recommendations &amp; Next Steps </vt:lpstr>
      <vt:lpstr>Data/Chart</vt:lpstr>
      <vt:lpstr>Meeting Breakdown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Zoe Ervolino</dc:creator>
  <cp:lastModifiedBy>Zoe Ervolino</cp:lastModifiedBy>
  <cp:revision>6</cp:revision>
  <dcterms:created xsi:type="dcterms:W3CDTF">2026-03-11T20:57:20Z</dcterms:created>
  <dcterms:modified xsi:type="dcterms:W3CDTF">2026-03-27T17:59:20Z</dcterms:modified>
</cp:coreProperties>
</file>