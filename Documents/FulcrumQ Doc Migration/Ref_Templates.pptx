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F_1D9B2223.xml" ContentType="application/vnd.ms-powerpoint.comments+xml"/>
  <Override PartName="/ppt/notesSlides/notesSlide2.xml" ContentType="application/vnd.openxmlformats-officedocument.presentationml.notesSlide+xml"/>
  <Override PartName="/ppt/comments/modernComment_107_A0C1CD6F.xml" ContentType="application/vnd.ms-powerpoint.comments+xml"/>
  <Override PartName="/ppt/notesSlides/notesSlide3.xml" ContentType="application/vnd.openxmlformats-officedocument.presentationml.notesSlide+xml"/>
  <Override PartName="/ppt/comments/modernComment_122_B235B4C6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sldIdLst>
    <p:sldId id="271" r:id="rId2"/>
    <p:sldId id="263" r:id="rId3"/>
    <p:sldId id="290" r:id="rId4"/>
    <p:sldId id="282" r:id="rId5"/>
    <p:sldId id="279" r:id="rId6"/>
    <p:sldId id="2147483632" r:id="rId7"/>
    <p:sldId id="2147482840" r:id="rId8"/>
    <p:sldId id="286" r:id="rId9"/>
    <p:sldId id="2147483635" r:id="rId10"/>
    <p:sldId id="2147483636" r:id="rId11"/>
    <p:sldId id="2147483638" r:id="rId12"/>
    <p:sldId id="2147483639" r:id="rId13"/>
    <p:sldId id="21474834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43E05-1E47-4B24-CEC5-07CE1EB55D0E}" name="Dhaval Bhagat" initials="DB" userId="S::dhaval@ceoworks.com::487f3ff1-ee6a-4cda-9ede-0b39cd77126d" providerId="AD"/>
  <p188:author id="{78A03B09-F465-7A3C-9FB7-65502FD24C99}" name="Ming Yang" initials="MY" userId="S::ming@ceoworks.com::49d28a4d-faa4-44df-a76a-3b93b695eb6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82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0"/>
    <p:restoredTop sz="94751"/>
  </p:normalViewPr>
  <p:slideViewPr>
    <p:cSldViewPr snapToGrid="0">
      <p:cViewPr varScale="1">
        <p:scale>
          <a:sx n="88" d="100"/>
          <a:sy n="88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F_1D9B22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7964B7-D4FC-5640-A67A-093D48130586}" authorId="{78A03B09-F465-7A3C-9FB7-65502FD24C99}" status="resolved" created="2025-10-21T21:17:28.230">
    <pc:sldMkLst xmlns:pc="http://schemas.microsoft.com/office/powerpoint/2013/main/command">
      <pc:docMk/>
      <pc:sldMk cId="4032577449" sldId="278"/>
    </pc:sldMkLst>
    <p188:replyLst>
      <p188:reply id="{F1DA5EB9-DD1E-2D4D-B110-254EC1AF11AA}" authorId="{78A03B09-F465-7A3C-9FB7-65502FD24C99}" created="2025-10-22T14:49:57.613">
        <p188:txBody>
          <a:bodyPr/>
          <a:lstStyle/>
          <a:p>
            <a:r>
              <a:rPr lang="en-US"/>
              <a:t>Phase names:
/DEFINE
/ASSESS
/MOBILIZE</a:t>
            </a:r>
          </a:p>
        </p188:txBody>
      </p188:reply>
      <p188:reply id="{43C5541A-00BF-2943-8B1B-5F939915CD1C}" authorId="{78A03B09-F465-7A3C-9FB7-65502FD24C99}" created="2025-10-22T14:52:44.985">
        <p188:txBody>
          <a:bodyPr/>
          <a:lstStyle/>
          <a:p>
            <a:r>
              <a:rPr lang="en-US"/>
              <a:t>Need to add some output samples at the bottom. </a:t>
            </a:r>
          </a:p>
        </p188:txBody>
      </p188:reply>
    </p188:replyLst>
    <p188:txBody>
      <a:bodyPr/>
      <a:lstStyle/>
      <a:p>
        <a:r>
          <a:rPr lang="en-US"/>
          <a:t>Phase 1: JTBD, Risk, Superpower
Phase 2: Evidence Mosaic, Readiness summary, Pipeline health snapshot
Phase 3: Developmeny Plan and Mobilization Plan</a:t>
        </a:r>
      </a:p>
    </p188:txBody>
  </p188:cm>
  <p188:cm id="{94EE35CB-E466-6949-A845-4F220511B116}" authorId="{BB243E05-1E47-4B24-CEC5-07CE1EB55D0E}" status="resolved" created="2025-11-10T19:25:31.08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2577449" sldId="278"/>
      <ac:spMk id="11" creationId="{4A7F25F0-5964-718E-5C45-8662B3CE4792}"/>
      <ac:txMk cp="37" len="15">
        <ac:context len="65" hash="4145857387"/>
      </ac:txMk>
    </ac:txMkLst>
    <p188:txBody>
      <a:bodyPr/>
      <a:lstStyle/>
      <a:p>
        <a:r>
          <a:rPr lang="en-US"/>
          <a:t>Role?</a:t>
        </a:r>
      </a:p>
    </p188:txBody>
  </p188:cm>
  <p188:cm id="{9E5E8C70-EDAA-8841-8A75-0F014D6ECA1C}" authorId="{BB243E05-1E47-4B24-CEC5-07CE1EB55D0E}" status="resolved" created="2025-11-10T19:26:06.9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2577449" sldId="278"/>
      <ac:spMk id="25" creationId="{A7FC9EB8-7537-6618-E3FC-05C14443DE85}"/>
      <ac:txMk cp="21" len="15">
        <ac:context len="82" hash="2864659793"/>
      </ac:txMk>
    </ac:txMkLst>
    <p188:txBody>
      <a:bodyPr/>
      <a:lstStyle/>
      <a:p>
        <a:r>
          <a:rPr lang="en-US"/>
          <a:t>Multi-point evidence mosaic on each succession candidate</a:t>
        </a:r>
      </a:p>
    </p188:txBody>
  </p188:cm>
  <p188:cm id="{5451EEBE-A54C-9C47-93A0-B70FD000572C}" authorId="{BB243E05-1E47-4B24-CEC5-07CE1EB55D0E}" status="resolved" created="2025-11-10T19:26:39.9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2577449" sldId="278"/>
      <ac:spMk id="31" creationId="{E629D5C7-566F-2D17-1B5C-16A5499C2B8A}"/>
      <ac:txMk cp="9" len="36">
        <ac:context len="46" hash="806339301"/>
      </ac:txMk>
    </ac:txMkLst>
    <p188:txBody>
      <a:bodyPr/>
      <a:lstStyle/>
      <a:p>
        <a:r>
          <a:rPr lang="en-US"/>
          <a:t>What is the difference between the two in this context?</a:t>
        </a:r>
      </a:p>
    </p188:txBody>
  </p188:cm>
</p188:cmLst>
</file>

<file path=ppt/comments/modernComment_107_A0C1CD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EAA5E2-1DEF-A847-A9CF-ABB3E1D0269F}" authorId="{78A03B09-F465-7A3C-9FB7-65502FD24C99}" status="resolved" created="2025-11-04T15:26:38.649">
    <pc:sldMkLst xmlns:pc="http://schemas.microsoft.com/office/powerpoint/2013/main/command">
      <pc:docMk/>
      <pc:sldMk cId="406872856" sldId="275"/>
    </pc:sldMkLst>
    <p188:txBody>
      <a:bodyPr/>
      <a:lstStyle/>
      <a:p>
        <a:r>
          <a:rPr lang="en-US"/>
          <a:t>Use the digital role as &lt;what good looks like&gt; throughout</a:t>
        </a:r>
      </a:p>
    </p188:txBody>
  </p188:cm>
  <p188:cm id="{C6BE172D-4DC8-A94F-B85E-97F83862A217}" authorId="{78A03B09-F465-7A3C-9FB7-65502FD24C99}" status="resolved" created="2026-01-06T14:22:01.877">
    <pc:sldMkLst xmlns:pc="http://schemas.microsoft.com/office/powerpoint/2013/main/command">
      <pc:docMk/>
      <pc:sldMk cId="105343824" sldId="302"/>
    </pc:sldMkLst>
    <p188:replyLst>
      <p188:reply id="{299F5E29-05A7-3547-B83F-0622941FCA89}" authorId="{78A03B09-F465-7A3C-9FB7-65502FD24C99}" created="2026-01-09T14:26:45.670">
        <p188:txBody>
          <a:bodyPr/>
          <a:lstStyle/>
          <a:p>
            <a:r>
              <a:rPr lang="en-US"/>
              <a:t>New format, final outcome with animation</a:t>
            </a:r>
          </a:p>
        </p188:txBody>
      </p188:reply>
    </p188:replyLst>
    <p188:txBody>
      <a:bodyPr/>
      <a:lstStyle/>
      <a:p>
        <a:r>
          <a:rPr lang="en-US"/>
          <a:t>Line spacing, text color</a:t>
        </a:r>
      </a:p>
    </p188:txBody>
  </p188:cm>
  <p188:cm id="{714B349A-EF09-F447-8F3C-84B57E9AB1AD}" authorId="{78A03B09-F465-7A3C-9FB7-65502FD24C99}" status="resolved" created="2026-01-12T15:13:15.078">
    <pc:sldMkLst xmlns:pc="http://schemas.microsoft.com/office/powerpoint/2013/main/command">
      <pc:docMk/>
      <pc:sldMk cId="2197320587" sldId="262"/>
    </pc:sldMkLst>
    <p188:replyLst>
      <p188:reply id="{A6F7C640-FC50-8D4C-BD8D-39EDAE3F4AC1}" authorId="{78A03B09-F465-7A3C-9FB7-65502FD24C99}" created="2026-01-13T19:53:53.224">
        <p188:txBody>
          <a:bodyPr/>
          <a:lstStyle/>
          <a:p>
            <a:r>
              <a:rPr lang="en-US"/>
              <a:t>Done, please review</a:t>
            </a:r>
          </a:p>
        </p188:txBody>
      </p188:reply>
    </p188:replyLst>
    <p188:txBody>
      <a:bodyPr/>
      <a:lstStyle/>
      <a:p>
        <a:r>
          <a:rPr lang="en-US"/>
          <a:t>Need to update for Frontier case</a:t>
        </a:r>
      </a:p>
    </p188:txBody>
  </p188:cm>
</p188:cmLst>
</file>

<file path=ppt/comments/modernComment_122_B235B4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BF1057-E110-0C49-BC65-3FCF0C023DDB}" authorId="{78A03B09-F465-7A3C-9FB7-65502FD24C99}" status="resolved" created="2026-01-09T14:30:11.662">
    <pc:sldMkLst xmlns:pc="http://schemas.microsoft.com/office/powerpoint/2013/main/command">
      <pc:docMk/>
      <pc:sldMk cId="2989864134" sldId="290"/>
    </pc:sldMkLst>
    <p188:txBody>
      <a:bodyPr/>
      <a:lstStyle/>
      <a:p>
        <a:r>
          <a:rPr lang="en-US"/>
          <a:t>Alex may have a simpler version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72D4F-94D5-424A-ADBE-278DDF9419D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27823-0DF1-E84D-B7AA-AB4553344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1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E8AD-11B2-3B77-5D1C-8B3E4C6B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A9043-2EB5-D8D4-7E40-6C9A22CF5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BB01B-0735-CE21-6D54-67FE5C866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Swap icons w/16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DE605-8F2B-E392-864A-D692DFD05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92994E-CF76-014E-B371-45E99DB7A4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13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92994E-CF76-014E-B371-45E99DB7A4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970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Animate one column @ a time (on click)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92994E-CF76-014E-B371-45E99DB7A4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174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95FC2-07C7-5083-B806-51352BC4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F2B4C-D93F-4527-49BC-3CD385C0E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7EA2A-F416-0D4C-6FF2-C01838DF7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B6120-491C-4BA3-62A7-0972D9DA5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1579D4-D0D5-3149-B554-64C068640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196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B1AD-9A06-9070-7D8B-B737EB66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E2AFC-7500-646A-EAD6-990B83EB3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853E6-9099-B8FB-6B45-9B2F14A33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09604-7E0A-0E4E-DF6B-EC8526DAF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1579D4-D0D5-3149-B554-64C068640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74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85D4A-BBA4-4318-A8F6-2819599B2F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88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/>
          </a:p>
        </p:txBody>
      </p:sp>
      <p:sp>
        <p:nvSpPr>
          <p:cNvPr id="222" name="Google Shape;22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8972-A32F-B4C3-4BF8-61BE0F033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D68A3-19FF-7DE8-D002-A4359D3B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64B0A-9E3F-2769-67F9-DA954FBEF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6AD93-4A31-5F77-CBDF-C3673A03A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4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4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779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1C6C-F75B-7B75-C6B9-101A563B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539F8-EBD8-6572-261C-98E786DCD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B2BFD-5E34-6856-4C45-0EC3FEDC9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962E0-3613-0F8A-9A98-6B091B920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4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4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892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F8FD-9EF3-738B-C70F-B13DBCB9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6FCFC-513E-ADF3-3406-1C8FE71E8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FFF8D-851E-3690-6C07-6BDF1C32E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539B7-C422-AB99-3E0C-F3C8A04B4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4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4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554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5FD6-142C-DCAD-0C9F-EB811789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89FF9-EEED-75B3-914D-F2F5E27FD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FF8E7-A25E-8745-D42B-9D5B2E36C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BA4EC-62BC-388B-D1DE-6316495E0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4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4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11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80C22-1100-B700-3051-FA0C508E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79FB1-423C-7D28-57C5-2BAFD32F4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9E363-6869-1CDB-072F-8337B9C38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7DD28-B5DD-78A2-4945-4CDFEEABC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4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4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02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71C0-146F-6F51-CE82-44EB1BF9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80507-F5FE-F7E0-DAE6-7FB2E90C1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FCFF9-7893-B37C-EDFD-3CA35EBE0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5A4C4-F4B6-95A9-C59E-908BE196A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854985-E8E0-419E-9F72-6254153D3EE8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8615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6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162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398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660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151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451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5909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930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757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79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8/10/relationships/comments" Target="../comments/modernComment_10F_1D9B2223.xml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A0C1CD6F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B235B4C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DF59-8A9F-18A3-02A5-077778BF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EC118A-9756-1707-24A8-48D6B3DAE5C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Succession to Value™ </a:t>
            </a:r>
            <a:r>
              <a:rPr lang="en-US" b="1" spc="-25" dirty="0">
                <a:ea typeface="Helvetica Neue" panose="02000503000000020004" pitchFamily="2" charset="0"/>
                <a:cs typeface="Helvetica Neue" panose="02000503000000020004" pitchFamily="2" charset="0"/>
              </a:rPr>
              <a:t>methodology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E92B4-0607-746C-DAA2-497A45FD804A}"/>
              </a:ext>
            </a:extLst>
          </p:cNvPr>
          <p:cNvSpPr txBox="1"/>
          <p:nvPr/>
        </p:nvSpPr>
        <p:spPr>
          <a:xfrm>
            <a:off x="1295935" y="4872860"/>
            <a:ext cx="2236467" cy="1224132"/>
          </a:xfrm>
          <a:prstGeom prst="rect">
            <a:avLst/>
          </a:prstGeom>
          <a:noFill/>
        </p:spPr>
        <p:txBody>
          <a:bodyPr wrap="square" lIns="91440" tIns="0" rIns="91440" bIns="45720" anchor="t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Outputs: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Future Jobs to be Done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 Assessment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/>
                <a:cs typeface="Lato"/>
              </a:rPr>
              <a:t>Superpowers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1814B-1A31-9C30-783E-5688A44147D8}"/>
              </a:ext>
            </a:extLst>
          </p:cNvPr>
          <p:cNvSpPr txBox="1"/>
          <p:nvPr/>
        </p:nvSpPr>
        <p:spPr>
          <a:xfrm>
            <a:off x="1327065" y="1530777"/>
            <a:ext cx="2189619" cy="6883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-10" normalizeH="0" baseline="0" noProof="0" dirty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/DEFINE</a:t>
            </a:r>
            <a:endParaRPr kumimoji="0" lang="en-US" sz="1800" b="1" i="0" u="none" strike="noStrike" kern="1200" cap="none" spc="-10" normalizeH="0" baseline="0" noProof="0" dirty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35112C-06AD-6791-23C0-86A9067DDBC3}"/>
              </a:ext>
            </a:extLst>
          </p:cNvPr>
          <p:cNvGrpSpPr/>
          <p:nvPr/>
        </p:nvGrpSpPr>
        <p:grpSpPr>
          <a:xfrm>
            <a:off x="1621288" y="2979243"/>
            <a:ext cx="1591098" cy="1591098"/>
            <a:chOff x="3506617" y="2730959"/>
            <a:chExt cx="1591098" cy="1591098"/>
          </a:xfrm>
        </p:grpSpPr>
        <p:sp>
          <p:nvSpPr>
            <p:cNvPr id="19" name="Rectangle: Rounded Corners 39">
              <a:extLst>
                <a:ext uri="{FF2B5EF4-FFF2-40B4-BE49-F238E27FC236}">
                  <a16:creationId xmlns:a16="http://schemas.microsoft.com/office/drawing/2014/main" id="{76C4EC2B-7355-2465-DAD0-8D2EFD879A87}"/>
                </a:ext>
              </a:extLst>
            </p:cNvPr>
            <p:cNvSpPr/>
            <p:nvPr/>
          </p:nvSpPr>
          <p:spPr>
            <a:xfrm>
              <a:off x="3506617" y="2730959"/>
              <a:ext cx="1591098" cy="1591098"/>
            </a:xfrm>
            <a:prstGeom prst="roundRect">
              <a:avLst>
                <a:gd name="adj" fmla="val 18019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54">
              <a:extLst>
                <a:ext uri="{FF2B5EF4-FFF2-40B4-BE49-F238E27FC236}">
                  <a16:creationId xmlns:a16="http://schemas.microsoft.com/office/drawing/2014/main" id="{47385733-FC95-576C-5487-AF28FB17583F}"/>
                </a:ext>
              </a:extLst>
            </p:cNvPr>
            <p:cNvSpPr/>
            <p:nvPr/>
          </p:nvSpPr>
          <p:spPr>
            <a:xfrm>
              <a:off x="3567979" y="2792321"/>
              <a:ext cx="1463040" cy="146304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Freeform 56" descr="Clipboard Partially Checked with solid fill">
              <a:extLst>
                <a:ext uri="{FF2B5EF4-FFF2-40B4-BE49-F238E27FC236}">
                  <a16:creationId xmlns:a16="http://schemas.microsoft.com/office/drawing/2014/main" id="{2A5ADADC-30F1-8195-F45D-BEF1B8BF7496}"/>
                </a:ext>
              </a:extLst>
            </p:cNvPr>
            <p:cNvSpPr/>
            <p:nvPr/>
          </p:nvSpPr>
          <p:spPr>
            <a:xfrm>
              <a:off x="3833252" y="3028257"/>
              <a:ext cx="932492" cy="959932"/>
            </a:xfrm>
            <a:custGeom>
              <a:avLst/>
              <a:gdLst/>
              <a:ahLst/>
              <a:cxnLst/>
              <a:rect l="l" t="t" r="r" b="b"/>
              <a:pathLst>
                <a:path w="829152" h="904941">
                  <a:moveTo>
                    <a:pt x="0" y="0"/>
                  </a:moveTo>
                  <a:lnTo>
                    <a:pt x="829152" y="0"/>
                  </a:lnTo>
                  <a:lnTo>
                    <a:pt x="829152" y="904941"/>
                  </a:lnTo>
                  <a:lnTo>
                    <a:pt x="0" y="90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705643C-C315-5090-6E16-E9997072E9FC}"/>
              </a:ext>
            </a:extLst>
          </p:cNvPr>
          <p:cNvSpPr txBox="1"/>
          <p:nvPr/>
        </p:nvSpPr>
        <p:spPr>
          <a:xfrm>
            <a:off x="1111580" y="2280481"/>
            <a:ext cx="2559209" cy="613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 in the future for the role to succeed?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14D447-07B2-4D97-AEC2-5276E6F332D8}"/>
              </a:ext>
            </a:extLst>
          </p:cNvPr>
          <p:cNvGrpSpPr/>
          <p:nvPr/>
        </p:nvGrpSpPr>
        <p:grpSpPr>
          <a:xfrm>
            <a:off x="4651629" y="1549435"/>
            <a:ext cx="2815130" cy="4547557"/>
            <a:chOff x="4651629" y="1549435"/>
            <a:chExt cx="2815130" cy="454755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EBAC90-F531-C4C2-0A4A-CBE02F454DAD}"/>
                </a:ext>
              </a:extLst>
            </p:cNvPr>
            <p:cNvSpPr txBox="1"/>
            <p:nvPr/>
          </p:nvSpPr>
          <p:spPr>
            <a:xfrm>
              <a:off x="4851197" y="4872859"/>
              <a:ext cx="2497872" cy="1224133"/>
            </a:xfrm>
            <a:prstGeom prst="rect">
              <a:avLst/>
            </a:prstGeom>
            <a:noFill/>
          </p:spPr>
          <p:txBody>
            <a:bodyPr wrap="square" lIns="91440" tIns="0" rIns="91440" bIns="45720" anchor="t">
              <a:no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Outputs: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Multi-point Evidence Mosaic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  <a:t>Readiness Summary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  <a:t>Pipeline Health Snapshot</a:t>
              </a: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</a:b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</a:br>
              <a:endPara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itchFamily="34" charset="0"/>
                <a:ea typeface="Lato"/>
                <a:cs typeface="Lato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4E4D8A-A1E7-3438-C92F-5A2D9B6FCD4F}"/>
                </a:ext>
              </a:extLst>
            </p:cNvPr>
            <p:cNvSpPr txBox="1"/>
            <p:nvPr/>
          </p:nvSpPr>
          <p:spPr>
            <a:xfrm>
              <a:off x="5010086" y="1549435"/>
              <a:ext cx="2189619" cy="64788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/ASSESS</a:t>
              </a:r>
              <a:endPara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50000"/>
                    <a:lumOff val="50000"/>
                  </a:srgb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4C9204F-81C6-9295-2DF7-FF21785CD011}"/>
                </a:ext>
              </a:extLst>
            </p:cNvPr>
            <p:cNvGrpSpPr/>
            <p:nvPr/>
          </p:nvGrpSpPr>
          <p:grpSpPr>
            <a:xfrm>
              <a:off x="5303120" y="3009260"/>
              <a:ext cx="1591098" cy="1591098"/>
              <a:chOff x="6428492" y="2760976"/>
              <a:chExt cx="1591098" cy="1591098"/>
            </a:xfrm>
          </p:grpSpPr>
          <p:sp>
            <p:nvSpPr>
              <p:cNvPr id="44" name="Rectangle: Rounded Corners 39">
                <a:extLst>
                  <a:ext uri="{FF2B5EF4-FFF2-40B4-BE49-F238E27FC236}">
                    <a16:creationId xmlns:a16="http://schemas.microsoft.com/office/drawing/2014/main" id="{7435A549-08E3-B4DB-84C9-1964667E03F0}"/>
                  </a:ext>
                </a:extLst>
              </p:cNvPr>
              <p:cNvSpPr/>
              <p:nvPr/>
            </p:nvSpPr>
            <p:spPr>
              <a:xfrm>
                <a:off x="6428492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7" name="Rectangle: Rounded Corners 54">
                <a:extLst>
                  <a:ext uri="{FF2B5EF4-FFF2-40B4-BE49-F238E27FC236}">
                    <a16:creationId xmlns:a16="http://schemas.microsoft.com/office/drawing/2014/main" id="{13DFF86D-483D-5D6B-91F0-A0D74A2B0D36}"/>
                  </a:ext>
                </a:extLst>
              </p:cNvPr>
              <p:cNvSpPr/>
              <p:nvPr/>
            </p:nvSpPr>
            <p:spPr>
              <a:xfrm>
                <a:off x="6489852" y="2812424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43" name="Graphic 42" descr="Target Audience with solid fill">
              <a:extLst>
                <a:ext uri="{FF2B5EF4-FFF2-40B4-BE49-F238E27FC236}">
                  <a16:creationId xmlns:a16="http://schemas.microsoft.com/office/drawing/2014/main" id="{62B2E4E5-FCFE-41FF-1DE7-451C069F1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5650418" y="335570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3405911-73EF-1777-828E-2BE5A23885EA}"/>
                </a:ext>
              </a:extLst>
            </p:cNvPr>
            <p:cNvSpPr txBox="1"/>
            <p:nvPr/>
          </p:nvSpPr>
          <p:spPr>
            <a:xfrm>
              <a:off x="4651629" y="2289376"/>
              <a:ext cx="2815130" cy="61344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Are successors ready for the job? </a:t>
              </a: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  <a:t>How ready are they?</a:t>
              </a: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</a:br>
              <a:endPara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itchFamily="34" charset="0"/>
                <a:ea typeface="Lato"/>
                <a:cs typeface="Lato"/>
              </a:endParaRPr>
            </a:p>
            <a:p>
              <a:pPr marL="0" marR="0" lvl="0" indent="0" algn="ctr" defTabSz="914377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itchFamily="34" charset="0"/>
                <a:ea typeface="Lato"/>
                <a:cs typeface="Lato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0EB28C9-C091-E605-C454-4704512930E3}"/>
              </a:ext>
            </a:extLst>
          </p:cNvPr>
          <p:cNvGrpSpPr/>
          <p:nvPr/>
        </p:nvGrpSpPr>
        <p:grpSpPr>
          <a:xfrm>
            <a:off x="8383805" y="1543164"/>
            <a:ext cx="2559209" cy="4553827"/>
            <a:chOff x="8383805" y="1543164"/>
            <a:chExt cx="2559209" cy="455382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D5FF77D-5D05-9272-7B02-71AA67B31E9E}"/>
                </a:ext>
              </a:extLst>
            </p:cNvPr>
            <p:cNvSpPr txBox="1"/>
            <p:nvPr/>
          </p:nvSpPr>
          <p:spPr>
            <a:xfrm>
              <a:off x="8545175" y="4872858"/>
              <a:ext cx="2236467" cy="1224133"/>
            </a:xfrm>
            <a:prstGeom prst="rect">
              <a:avLst/>
            </a:prstGeom>
            <a:noFill/>
          </p:spPr>
          <p:txBody>
            <a:bodyPr wrap="square" lIns="91440" tIns="0" rIns="91440" bIns="45720" anchor="t">
              <a:no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Outputs: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Development Plan</a:t>
              </a: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Lato"/>
                  <a:cs typeface="Lato"/>
                </a:rPr>
              </a:br>
              <a:endPara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itchFamily="34" charset="0"/>
                <a:ea typeface="Lato"/>
                <a:cs typeface="Lato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A091B0-84F2-76DC-5106-610B804D8BDE}"/>
                </a:ext>
              </a:extLst>
            </p:cNvPr>
            <p:cNvSpPr txBox="1"/>
            <p:nvPr/>
          </p:nvSpPr>
          <p:spPr>
            <a:xfrm>
              <a:off x="8572377" y="1543164"/>
              <a:ext cx="2189619" cy="68834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/MOBILIZE</a:t>
              </a:r>
              <a:endPara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50000"/>
                    <a:lumOff val="50000"/>
                  </a:srgb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1DCE536-BDD0-DE9A-BC64-5E3D3DC3F651}"/>
                </a:ext>
              </a:extLst>
            </p:cNvPr>
            <p:cNvGrpSpPr/>
            <p:nvPr/>
          </p:nvGrpSpPr>
          <p:grpSpPr>
            <a:xfrm>
              <a:off x="8874309" y="3009260"/>
              <a:ext cx="1591098" cy="1591098"/>
              <a:chOff x="9350370" y="2760976"/>
              <a:chExt cx="1591098" cy="1591098"/>
            </a:xfrm>
          </p:grpSpPr>
          <p:sp>
            <p:nvSpPr>
              <p:cNvPr id="37" name="Rectangle: Rounded Corners 39">
                <a:extLst>
                  <a:ext uri="{FF2B5EF4-FFF2-40B4-BE49-F238E27FC236}">
                    <a16:creationId xmlns:a16="http://schemas.microsoft.com/office/drawing/2014/main" id="{78000A28-E958-6C0E-4A0C-9CC4021E4E95}"/>
                  </a:ext>
                </a:extLst>
              </p:cNvPr>
              <p:cNvSpPr/>
              <p:nvPr/>
            </p:nvSpPr>
            <p:spPr>
              <a:xfrm>
                <a:off x="9350370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38" name="Rectangle: Rounded Corners 54">
                <a:extLst>
                  <a:ext uri="{FF2B5EF4-FFF2-40B4-BE49-F238E27FC236}">
                    <a16:creationId xmlns:a16="http://schemas.microsoft.com/office/drawing/2014/main" id="{D5BC80AB-8637-359F-5185-669AB2357066}"/>
                  </a:ext>
                </a:extLst>
              </p:cNvPr>
              <p:cNvSpPr/>
              <p:nvPr/>
            </p:nvSpPr>
            <p:spPr>
              <a:xfrm>
                <a:off x="9407949" y="2825005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34" name="Picture 51" descr="Map with pin with solid fill">
              <a:extLst>
                <a:ext uri="{FF2B5EF4-FFF2-40B4-BE49-F238E27FC236}">
                  <a16:creationId xmlns:a16="http://schemas.microsoft.com/office/drawing/2014/main" id="{3AAE3724-20F2-A3A3-A410-2957E57BB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9187187" y="3285483"/>
              <a:ext cx="960000" cy="96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0C6E724-67DC-BFB8-F18F-5EF0D37ADA88}"/>
                </a:ext>
              </a:extLst>
            </p:cNvPr>
            <p:cNvSpPr txBox="1"/>
            <p:nvPr/>
          </p:nvSpPr>
          <p:spPr>
            <a:xfrm>
              <a:off x="8383805" y="2272888"/>
              <a:ext cx="2559209" cy="6422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How do we prepare and support the successor?</a:t>
              </a:r>
            </a:p>
          </p:txBody>
        </p:sp>
      </p:grpSp>
      <p:sp>
        <p:nvSpPr>
          <p:cNvPr id="5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FA4B1-4C3C-4A08-B4E0-C63E93F3C2E1}" type="slidenum"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-10" normalizeH="0" baseline="0" noProof="0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72DC5D-B1FC-8ECD-7289-DD959D392BDB}"/>
              </a:ext>
            </a:extLst>
          </p:cNvPr>
          <p:cNvGrpSpPr/>
          <p:nvPr/>
        </p:nvGrpSpPr>
        <p:grpSpPr>
          <a:xfrm>
            <a:off x="10403235" y="201614"/>
            <a:ext cx="410690" cy="410700"/>
            <a:chOff x="3506617" y="2730959"/>
            <a:chExt cx="1591098" cy="1591098"/>
          </a:xfrm>
        </p:grpSpPr>
        <p:sp>
          <p:nvSpPr>
            <p:cNvPr id="12" name="Rectangle: Rounded Corners 39">
              <a:extLst>
                <a:ext uri="{FF2B5EF4-FFF2-40B4-BE49-F238E27FC236}">
                  <a16:creationId xmlns:a16="http://schemas.microsoft.com/office/drawing/2014/main" id="{DDBB74AE-D40A-8619-D964-084B94D3B52D}"/>
                </a:ext>
              </a:extLst>
            </p:cNvPr>
            <p:cNvSpPr/>
            <p:nvPr/>
          </p:nvSpPr>
          <p:spPr>
            <a:xfrm>
              <a:off x="3506617" y="2730959"/>
              <a:ext cx="1591098" cy="1591098"/>
            </a:xfrm>
            <a:prstGeom prst="roundRect">
              <a:avLst>
                <a:gd name="adj" fmla="val 18019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54">
              <a:extLst>
                <a:ext uri="{FF2B5EF4-FFF2-40B4-BE49-F238E27FC236}">
                  <a16:creationId xmlns:a16="http://schemas.microsoft.com/office/drawing/2014/main" id="{60855E81-D7CA-3156-E5DB-D96E389C60A5}"/>
                </a:ext>
              </a:extLst>
            </p:cNvPr>
            <p:cNvSpPr/>
            <p:nvPr/>
          </p:nvSpPr>
          <p:spPr>
            <a:xfrm>
              <a:off x="3567979" y="2792321"/>
              <a:ext cx="1463040" cy="146304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Freeform 56" descr="Clipboard Partially Checked with solid fill">
              <a:extLst>
                <a:ext uri="{FF2B5EF4-FFF2-40B4-BE49-F238E27FC236}">
                  <a16:creationId xmlns:a16="http://schemas.microsoft.com/office/drawing/2014/main" id="{5EE1EA59-6E02-616B-3F01-C44339D5ADCB}"/>
                </a:ext>
              </a:extLst>
            </p:cNvPr>
            <p:cNvSpPr/>
            <p:nvPr/>
          </p:nvSpPr>
          <p:spPr>
            <a:xfrm>
              <a:off x="3833252" y="3028257"/>
              <a:ext cx="932492" cy="959932"/>
            </a:xfrm>
            <a:custGeom>
              <a:avLst/>
              <a:gdLst/>
              <a:ahLst/>
              <a:cxnLst/>
              <a:rect l="l" t="t" r="r" b="b"/>
              <a:pathLst>
                <a:path w="829152" h="904941">
                  <a:moveTo>
                    <a:pt x="0" y="0"/>
                  </a:moveTo>
                  <a:lnTo>
                    <a:pt x="829152" y="0"/>
                  </a:lnTo>
                  <a:lnTo>
                    <a:pt x="829152" y="904941"/>
                  </a:lnTo>
                  <a:lnTo>
                    <a:pt x="0" y="90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5E373D-9425-31E9-74A5-D934502343A5}"/>
              </a:ext>
            </a:extLst>
          </p:cNvPr>
          <p:cNvGrpSpPr/>
          <p:nvPr/>
        </p:nvGrpSpPr>
        <p:grpSpPr>
          <a:xfrm>
            <a:off x="11557682" y="191038"/>
            <a:ext cx="410690" cy="410700"/>
            <a:chOff x="8874309" y="3009260"/>
            <a:chExt cx="1591098" cy="159109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387FBCF-BBD4-B80E-13CD-8F4FA0B50DC0}"/>
                </a:ext>
              </a:extLst>
            </p:cNvPr>
            <p:cNvGrpSpPr/>
            <p:nvPr/>
          </p:nvGrpSpPr>
          <p:grpSpPr>
            <a:xfrm>
              <a:off x="8874309" y="3009260"/>
              <a:ext cx="1591098" cy="1591098"/>
              <a:chOff x="9350370" y="2760976"/>
              <a:chExt cx="1591098" cy="1591098"/>
            </a:xfrm>
          </p:grpSpPr>
          <p:sp>
            <p:nvSpPr>
              <p:cNvPr id="48" name="Rectangle: Rounded Corners 39">
                <a:extLst>
                  <a:ext uri="{FF2B5EF4-FFF2-40B4-BE49-F238E27FC236}">
                    <a16:creationId xmlns:a16="http://schemas.microsoft.com/office/drawing/2014/main" id="{D74A075E-26D8-4892-73E9-4E2E7B9A4D92}"/>
                  </a:ext>
                </a:extLst>
              </p:cNvPr>
              <p:cNvSpPr/>
              <p:nvPr/>
            </p:nvSpPr>
            <p:spPr>
              <a:xfrm>
                <a:off x="9350370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9" name="Rectangle: Rounded Corners 54">
                <a:extLst>
                  <a:ext uri="{FF2B5EF4-FFF2-40B4-BE49-F238E27FC236}">
                    <a16:creationId xmlns:a16="http://schemas.microsoft.com/office/drawing/2014/main" id="{5541BD2B-F2B2-5B24-754F-FDF2C3D70526}"/>
                  </a:ext>
                </a:extLst>
              </p:cNvPr>
              <p:cNvSpPr/>
              <p:nvPr/>
            </p:nvSpPr>
            <p:spPr>
              <a:xfrm>
                <a:off x="9411732" y="2818808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46" name="Picture 51" descr="Map with pin with solid fill">
              <a:extLst>
                <a:ext uri="{FF2B5EF4-FFF2-40B4-BE49-F238E27FC236}">
                  <a16:creationId xmlns:a16="http://schemas.microsoft.com/office/drawing/2014/main" id="{70E3AA38-5500-06CB-42EA-DB2E883FD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9187187" y="3285483"/>
              <a:ext cx="960000" cy="96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AA4875-5C39-2532-CD74-7C2CBAACE575}"/>
              </a:ext>
            </a:extLst>
          </p:cNvPr>
          <p:cNvGrpSpPr/>
          <p:nvPr/>
        </p:nvGrpSpPr>
        <p:grpSpPr>
          <a:xfrm>
            <a:off x="10997361" y="200955"/>
            <a:ext cx="410690" cy="410700"/>
            <a:chOff x="5303120" y="3009260"/>
            <a:chExt cx="1591098" cy="159109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2257ED7-9F77-712B-CFEE-CB1B5182F6DF}"/>
                </a:ext>
              </a:extLst>
            </p:cNvPr>
            <p:cNvGrpSpPr/>
            <p:nvPr/>
          </p:nvGrpSpPr>
          <p:grpSpPr>
            <a:xfrm>
              <a:off x="5303120" y="3009260"/>
              <a:ext cx="1591098" cy="1591098"/>
              <a:chOff x="6428492" y="2760976"/>
              <a:chExt cx="1591098" cy="1591098"/>
            </a:xfrm>
          </p:grpSpPr>
          <p:sp>
            <p:nvSpPr>
              <p:cNvPr id="57" name="Rectangle: Rounded Corners 39">
                <a:extLst>
                  <a:ext uri="{FF2B5EF4-FFF2-40B4-BE49-F238E27FC236}">
                    <a16:creationId xmlns:a16="http://schemas.microsoft.com/office/drawing/2014/main" id="{9CD20F1F-349C-2358-CA3F-332973DCACD5}"/>
                  </a:ext>
                </a:extLst>
              </p:cNvPr>
              <p:cNvSpPr/>
              <p:nvPr/>
            </p:nvSpPr>
            <p:spPr>
              <a:xfrm>
                <a:off x="6428492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Rectangle: Rounded Corners 54">
                <a:extLst>
                  <a:ext uri="{FF2B5EF4-FFF2-40B4-BE49-F238E27FC236}">
                    <a16:creationId xmlns:a16="http://schemas.microsoft.com/office/drawing/2014/main" id="{278A0AC6-B993-85A6-C342-6E49711D55AD}"/>
                  </a:ext>
                </a:extLst>
              </p:cNvPr>
              <p:cNvSpPr/>
              <p:nvPr/>
            </p:nvSpPr>
            <p:spPr>
              <a:xfrm>
                <a:off x="6489854" y="2818808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56" name="Graphic 27" descr="Target Audience with solid fill">
              <a:extLst>
                <a:ext uri="{FF2B5EF4-FFF2-40B4-BE49-F238E27FC236}">
                  <a16:creationId xmlns:a16="http://schemas.microsoft.com/office/drawing/2014/main" id="{AF9811AF-A8B1-FF4C-4F5E-B1AEA078D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5650418" y="335570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69D4C31-F5FE-9853-4F47-428C221C3DE1}"/>
              </a:ext>
            </a:extLst>
          </p:cNvPr>
          <p:cNvSpPr txBox="1"/>
          <p:nvPr/>
        </p:nvSpPr>
        <p:spPr>
          <a:xfrm>
            <a:off x="11369971" y="624164"/>
            <a:ext cx="818969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E2F9FB-1B31-8FCA-2B88-03FBA15A63A7}"/>
              </a:ext>
            </a:extLst>
          </p:cNvPr>
          <p:cNvSpPr txBox="1"/>
          <p:nvPr/>
        </p:nvSpPr>
        <p:spPr>
          <a:xfrm>
            <a:off x="10333132" y="624164"/>
            <a:ext cx="592168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/DEFINE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CD6FC4-E220-7201-4906-905F42B3B1F4}"/>
              </a:ext>
            </a:extLst>
          </p:cNvPr>
          <p:cNvSpPr txBox="1"/>
          <p:nvPr/>
        </p:nvSpPr>
        <p:spPr>
          <a:xfrm>
            <a:off x="10912924" y="624164"/>
            <a:ext cx="592168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/ASSESS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042896F-BC69-2AE5-D3A5-2F89650BD3D8}"/>
              </a:ext>
            </a:extLst>
          </p:cNvPr>
          <p:cNvSpPr/>
          <p:nvPr/>
        </p:nvSpPr>
        <p:spPr>
          <a:xfrm>
            <a:off x="10938893" y="85885"/>
            <a:ext cx="1125761" cy="693824"/>
          </a:xfrm>
          <a:prstGeom prst="rect">
            <a:avLst/>
          </a:prstGeom>
          <a:solidFill>
            <a:schemeClr val="bg1">
              <a:alpha val="849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670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DA39-8452-7864-392B-90E577E9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170F47-CC55-5BA4-F792-E47B6CD5DE8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Lato"/>
                <a:cs typeface="Lato"/>
              </a:rPr>
              <a:t>Example</a:t>
            </a:r>
            <a:r>
              <a:rPr lang="en-US" b="1" spc="-25">
                <a:latin typeface="Segoe UI" pitchFamily="34" charset="0"/>
                <a:ea typeface="Lato"/>
                <a:cs typeface="Lato"/>
              </a:rPr>
              <a:t> – what does good look like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17CF2E-DF96-5970-D0F8-CAF1A653D605}"/>
              </a:ext>
            </a:extLst>
          </p:cNvPr>
          <p:cNvSpPr txBox="1"/>
          <p:nvPr/>
        </p:nvSpPr>
        <p:spPr>
          <a:xfrm>
            <a:off x="563253" y="927322"/>
            <a:ext cx="67818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Role: Head of Digital Solutions &amp; Data</a:t>
            </a:r>
          </a:p>
        </p:txBody>
      </p:sp>
      <p:graphicFrame>
        <p:nvGraphicFramePr>
          <p:cNvPr id="48" name="Google Shape;302;p6">
            <a:extLst>
              <a:ext uri="{FF2B5EF4-FFF2-40B4-BE49-F238E27FC236}">
                <a16:creationId xmlns:a16="http://schemas.microsoft.com/office/drawing/2014/main" id="{F6B79428-EACB-BC1E-0458-A5C348003CD9}"/>
              </a:ext>
            </a:extLst>
          </p:cNvPr>
          <p:cNvGraphicFramePr/>
          <p:nvPr/>
        </p:nvGraphicFramePr>
        <p:xfrm>
          <a:off x="726539" y="1241976"/>
          <a:ext cx="10917274" cy="507875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7185">
                  <a:extLst>
                    <a:ext uri="{9D8B030D-6E8A-4147-A177-3AD203B41FA5}">
                      <a16:colId xmlns:a16="http://schemas.microsoft.com/office/drawing/2014/main" val="3624379767"/>
                    </a:ext>
                  </a:extLst>
                </a:gridCol>
              </a:tblGrid>
              <a:tr h="38394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0C2F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accent1"/>
                          </a:solidFill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#</a:t>
                      </a:r>
                      <a:endParaRPr sz="1050" b="1" dirty="0">
                        <a:solidFill>
                          <a:schemeClr val="accent1"/>
                        </a:solidFill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3400" marR="23400" marT="72000" marB="7200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0C2F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accent1"/>
                          </a:solidFill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Wt</a:t>
                      </a:r>
                      <a:r>
                        <a:rPr lang="en-US" sz="1600" b="1" u="none" strike="noStrike" cap="none" dirty="0">
                          <a:solidFill>
                            <a:schemeClr val="accent1"/>
                          </a:solidFill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%</a:t>
                      </a:r>
                      <a:endParaRPr lang="en-US" sz="1050" b="1" dirty="0">
                        <a:solidFill>
                          <a:schemeClr val="accent1"/>
                        </a:solidFill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3400" marR="23400" marT="72000" marB="7200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0C2F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accent1"/>
                          </a:solidFill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Outcome</a:t>
                      </a:r>
                      <a:endParaRPr lang="en-US" sz="1050" b="1" dirty="0">
                        <a:solidFill>
                          <a:schemeClr val="accent1"/>
                        </a:solidFill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3400" marR="23400" marT="72000" marB="7200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0C2F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1600" b="1" u="none" strike="noStrike" kern="1200" cap="none" dirty="0">
                          <a:solidFill>
                            <a:schemeClr val="accent1"/>
                          </a:solidFill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Priority Work</a:t>
                      </a:r>
                    </a:p>
                  </a:txBody>
                  <a:tcPr marL="23400" marR="23400" marT="72000" marB="7200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75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30%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D1D1D"/>
                          </a:solidFill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Continuous Improvement of Infrastructure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D"/>
                        </a:solidFill>
                        <a:effectLst/>
                        <a:uLnTx/>
                        <a:uFillTx/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/>
                        <a:t>What: </a:t>
                      </a:r>
                      <a:r>
                        <a:rPr lang="en-US" sz="1100" b="0" dirty="0"/>
                        <a:t>Strengthen digital/data infrastructure so </a:t>
                      </a:r>
                      <a:r>
                        <a:rPr lang="en-US" sz="1100" b="0" dirty="0" err="1"/>
                        <a:t>SuperApps</a:t>
                      </a:r>
                      <a:r>
                        <a:rPr lang="en-US" sz="1100" b="0" dirty="0"/>
                        <a:t>, payments, and vertical platforms run reliably across five markets.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How: </a:t>
                      </a:r>
                      <a:r>
                        <a:rPr lang="en-US" sz="1100" b="0" dirty="0"/>
                        <a:t>Modernize Tier‑1 stacks; deploy SRE/AIOps, SIEM/SOAR, and standardized incident/change playbooks; enforce data residency, payments, and privacy controls; automate capacity and release validation.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 much: </a:t>
                      </a:r>
                      <a:r>
                        <a:rPr lang="en-US" sz="1100" b="0" dirty="0"/>
                        <a:t>Full compliance on audited systems; reduce unplanned downtime by 50%.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By when: </a:t>
                      </a:r>
                      <a:r>
                        <a:rPr lang="en-US" sz="1100" b="0" dirty="0"/>
                        <a:t>31 Dec 2027.</a:t>
                      </a:r>
                    </a:p>
                  </a:txBody>
                  <a:tcPr marT="91440" marB="9144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818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35%</a:t>
                      </a:r>
                    </a:p>
                  </a:txBody>
                  <a:tcPr marL="25977" marR="25977" marT="14288" marB="14288" anchor="ctr">
                    <a:lnL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Digital Transformation of Core Processes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/>
                        <a:t>What: </a:t>
                      </a:r>
                      <a:r>
                        <a:rPr lang="en-US" sz="1100" b="0" dirty="0"/>
                        <a:t>Reengineer core workflows (onboarding, payments, merchant/agent networks, clinical flows) to remove manual handoffs and speed delivery.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How: </a:t>
                      </a:r>
                      <a:r>
                        <a:rPr lang="en-US" sz="1100" b="0" dirty="0"/>
                        <a:t>Implement API-first, event-driven integrations, RPA for repeatable tasks, standardized data contracts, and automated reconciliation and observability.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 much: </a:t>
                      </a:r>
                      <a:r>
                        <a:rPr lang="en-US" sz="1100" b="0" dirty="0"/>
                        <a:t>$100M+ efficiency gains; digitize ≥70% of critical workflows.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By when: </a:t>
                      </a:r>
                      <a:r>
                        <a:rPr lang="en-US" sz="1100" b="0" dirty="0"/>
                        <a:t>31 Dec 2028.</a:t>
                      </a:r>
                    </a:p>
                  </a:txBody>
                  <a:tcPr marT="91440" marB="91440" anchor="ctr">
                    <a:lnL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063259"/>
                  </a:ext>
                </a:extLst>
              </a:tr>
              <a:tr h="888078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15%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Digital Innovation for New Products, Services, and Revenue Streams</a:t>
                      </a:r>
                    </a:p>
                  </a:txBody>
                  <a:tcPr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/>
                        <a:t>What: </a:t>
                      </a:r>
                      <a:r>
                        <a:rPr lang="en-US" sz="1100" b="0" dirty="0"/>
                        <a:t>Productize AI1440 and data capabilities into revenue-generating products across fintech, entertainment, healthcare, and education.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How: </a:t>
                      </a:r>
                      <a:r>
                        <a:rPr lang="en-US" sz="1100" b="0" dirty="0"/>
                        <a:t>Co-design with vertical and country teams, build compliant </a:t>
                      </a:r>
                      <a:r>
                        <a:rPr lang="en-US" sz="1100" b="0" dirty="0" err="1"/>
                        <a:t>MLOps</a:t>
                      </a:r>
                      <a:r>
                        <a:rPr lang="en-US" sz="1100" b="0" dirty="0"/>
                        <a:t> and data pipelines, localize LLMs, and scale pilots through product management and measurable monetization metrics.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 much: </a:t>
                      </a:r>
                      <a:r>
                        <a:rPr lang="en-US" sz="1100" b="0" dirty="0"/>
                        <a:t>Enable $50M+ new revenue; launch ≥10 products.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By when: </a:t>
                      </a:r>
                      <a:r>
                        <a:rPr lang="en-US" sz="1100" b="0" dirty="0"/>
                        <a:t>Revenue by 31 Dec 2028; launches by 31 Dec 2029.</a:t>
                      </a:r>
                    </a:p>
                  </a:txBody>
                  <a:tcPr marT="91440" marB="9144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86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20%</a:t>
                      </a:r>
                    </a:p>
                  </a:txBody>
                  <a:tcPr marL="25977" marR="25977" marT="14288" marB="14288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Major Platform &amp; Technology Upgrade</a:t>
                      </a:r>
                    </a:p>
                  </a:txBody>
                  <a:tcPr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100" b="1" dirty="0"/>
                        <a:t>What: </a:t>
                      </a:r>
                      <a:r>
                        <a:rPr lang="en-US" sz="1100" b="0" dirty="0"/>
                        <a:t>Deliver major platform upgrades (</a:t>
                      </a:r>
                      <a:r>
                        <a:rPr lang="en-US" sz="1100" b="0" dirty="0" err="1"/>
                        <a:t>SuperApp</a:t>
                      </a:r>
                      <a:r>
                        <a:rPr lang="en-US" sz="1100" b="0" dirty="0"/>
                        <a:t> core, payments hub, identity, health stores) without disrupting customers or compliance.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How: </a:t>
                      </a:r>
                      <a:r>
                        <a:rPr lang="en-US" sz="1100" b="0" dirty="0"/>
                        <a:t>Use phased migrations, canary releases, validation testing, and disciplined change governance balancing central standards and local needs.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How much: </a:t>
                      </a:r>
                      <a:r>
                        <a:rPr lang="en-US" sz="1100" b="0" dirty="0"/>
                        <a:t>Complete 3 major upgrades with ≥95% on-time/on-budget delivery and &lt;5% transition disruption.</a:t>
                      </a:r>
                      <a:br>
                        <a:rPr lang="en-US" sz="1100" b="0" dirty="0"/>
                      </a:br>
                      <a:r>
                        <a:rPr lang="en-US" sz="1100" b="1" dirty="0"/>
                        <a:t>By when: </a:t>
                      </a:r>
                      <a:r>
                        <a:rPr lang="en-US" sz="1100" b="0" dirty="0"/>
                        <a:t>31 Dec 2028.</a:t>
                      </a:r>
                    </a:p>
                  </a:txBody>
                  <a:tcPr marT="91440" marB="9144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1ED365D-2769-55A2-1DEA-4128D0BA5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009532"/>
              </p:ext>
            </p:extLst>
          </p:nvPr>
        </p:nvGraphicFramePr>
        <p:xfrm>
          <a:off x="3781256" y="1624817"/>
          <a:ext cx="7857185" cy="47414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57185">
                  <a:extLst>
                    <a:ext uri="{9D8B030D-6E8A-4147-A177-3AD203B41FA5}">
                      <a16:colId xmlns:a16="http://schemas.microsoft.com/office/drawing/2014/main" val="2441990487"/>
                    </a:ext>
                  </a:extLst>
                </a:gridCol>
              </a:tblGrid>
              <a:tr h="1127963"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Ensure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SuperApps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payments, and vertical platforms run reliably across five markets by strengthening digital and data infrastructure. </a:t>
                      </a:r>
                    </a:p>
                    <a:p>
                      <a:pPr marL="171450" indent="-1714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Modernize Tier‑1 stacks and deploy SRE/AIOps, SIEM/SOAR, and standardized incident/change playbooks while enforcing data residency, payments, and privacy controls and automating capacity and release validation. Achieve full compliance on audited systems and reduce unplanned downtime by 50% by 31 Dec 2027.</a:t>
                      </a:r>
                      <a:endParaRPr lang="en-US" sz="1200" dirty="0"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91440" marB="9144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545765"/>
                  </a:ext>
                </a:extLst>
              </a:tr>
              <a:tr h="1194555"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Reengineer core workflows—onboarding, payments, merchant/agent networks, and clinical flows—to remove manual handoffs and accelerate delivery. Implement API-first, event-driven integrations, RPA for repeatable tasks, standardized data contracts, and automated reconciliation and observability to drive change. Deliver $100M+ in efficiency gains and digitize ≥70% of critical workflows by 31 Dec 2028.</a:t>
                      </a:r>
                      <a:endParaRPr lang="en-US" sz="1200" dirty="0"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236152"/>
                  </a:ext>
                </a:extLst>
              </a:tr>
              <a:tr h="1194555"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Productize AI1440 and data capabilities into revenue-generating products across fintech, entertainment, healthcare, and education by co-designing with vertical and country teams, building compliant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MLOps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and data pipelines, localizing LLMs, and scaling pilots through product management and monetization metrics. Enable $50M+ of new revenue and launch ≥10 products, with revenue by 31 Dec 2028 and launches by 31 Dec 2029.</a:t>
                      </a:r>
                      <a:endParaRPr lang="en-US" sz="1200" dirty="0">
                        <a:latin typeface="Arial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91440" marB="9144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65736"/>
                  </a:ext>
                </a:extLst>
              </a:tr>
              <a:tr h="1178838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Deliver major platform upgrades (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SuperApp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core, payments hub, identity, health stores) without disrupting customers or compliance by using phased migrations, canary releases, validation testing, and disciplined change governance that balances central standards with local needs. Complete 3 major upgrades with ≥95% on-time/on-budget delivery and &lt;5% transition disruption by 31 Dec 2028.</a:t>
                      </a:r>
                    </a:p>
                  </a:txBody>
                  <a:tcPr marT="91440" marB="91440" anchor="ctr">
                    <a:lnL w="9525" cap="flat" cmpd="sng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3636"/>
                  </a:ext>
                </a:extLst>
              </a:tr>
            </a:tbl>
          </a:graphicData>
        </a:graphic>
      </p:graphicFrame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FA4B1-4C3C-4A08-B4E0-C63E93F3C2E1}" type="slidenum"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-10" normalizeH="0" baseline="0" noProof="0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DFB8CA-3A1E-7224-F8C5-E7E37F77821A}"/>
              </a:ext>
            </a:extLst>
          </p:cNvPr>
          <p:cNvGrpSpPr/>
          <p:nvPr/>
        </p:nvGrpSpPr>
        <p:grpSpPr>
          <a:xfrm>
            <a:off x="10403235" y="201614"/>
            <a:ext cx="410690" cy="410700"/>
            <a:chOff x="3506617" y="2730959"/>
            <a:chExt cx="1591098" cy="1591098"/>
          </a:xfrm>
        </p:grpSpPr>
        <p:sp>
          <p:nvSpPr>
            <p:cNvPr id="5" name="Rectangle: Rounded Corners 39">
              <a:extLst>
                <a:ext uri="{FF2B5EF4-FFF2-40B4-BE49-F238E27FC236}">
                  <a16:creationId xmlns:a16="http://schemas.microsoft.com/office/drawing/2014/main" id="{09A553BC-26B7-0BA2-A9F9-663D948813E8}"/>
                </a:ext>
              </a:extLst>
            </p:cNvPr>
            <p:cNvSpPr/>
            <p:nvPr/>
          </p:nvSpPr>
          <p:spPr>
            <a:xfrm>
              <a:off x="3506617" y="2730959"/>
              <a:ext cx="1591098" cy="1591098"/>
            </a:xfrm>
            <a:prstGeom prst="roundRect">
              <a:avLst>
                <a:gd name="adj" fmla="val 18019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54">
              <a:extLst>
                <a:ext uri="{FF2B5EF4-FFF2-40B4-BE49-F238E27FC236}">
                  <a16:creationId xmlns:a16="http://schemas.microsoft.com/office/drawing/2014/main" id="{9B6153E9-656E-9DA5-34C8-BD5A464D1AA4}"/>
                </a:ext>
              </a:extLst>
            </p:cNvPr>
            <p:cNvSpPr/>
            <p:nvPr/>
          </p:nvSpPr>
          <p:spPr>
            <a:xfrm>
              <a:off x="3567979" y="2792321"/>
              <a:ext cx="1463040" cy="146304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Freeform 56" descr="Clipboard Partially Checked with solid fill">
              <a:extLst>
                <a:ext uri="{FF2B5EF4-FFF2-40B4-BE49-F238E27FC236}">
                  <a16:creationId xmlns:a16="http://schemas.microsoft.com/office/drawing/2014/main" id="{E8E005AB-986C-ABC4-AFEA-7A6E907F50AC}"/>
                </a:ext>
              </a:extLst>
            </p:cNvPr>
            <p:cNvSpPr/>
            <p:nvPr/>
          </p:nvSpPr>
          <p:spPr>
            <a:xfrm>
              <a:off x="3833252" y="3028257"/>
              <a:ext cx="932492" cy="959932"/>
            </a:xfrm>
            <a:custGeom>
              <a:avLst/>
              <a:gdLst/>
              <a:ahLst/>
              <a:cxnLst/>
              <a:rect l="l" t="t" r="r" b="b"/>
              <a:pathLst>
                <a:path w="829152" h="904941">
                  <a:moveTo>
                    <a:pt x="0" y="0"/>
                  </a:moveTo>
                  <a:lnTo>
                    <a:pt x="829152" y="0"/>
                  </a:lnTo>
                  <a:lnTo>
                    <a:pt x="829152" y="904941"/>
                  </a:lnTo>
                  <a:lnTo>
                    <a:pt x="0" y="90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6753EE-3C21-4DA0-18C1-B40205F08878}"/>
              </a:ext>
            </a:extLst>
          </p:cNvPr>
          <p:cNvGrpSpPr/>
          <p:nvPr/>
        </p:nvGrpSpPr>
        <p:grpSpPr>
          <a:xfrm>
            <a:off x="11557682" y="191038"/>
            <a:ext cx="410690" cy="410700"/>
            <a:chOff x="8874309" y="3009260"/>
            <a:chExt cx="1591098" cy="159109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06EA61F-41C4-7CDA-E087-71062A4BD4D1}"/>
                </a:ext>
              </a:extLst>
            </p:cNvPr>
            <p:cNvGrpSpPr/>
            <p:nvPr/>
          </p:nvGrpSpPr>
          <p:grpSpPr>
            <a:xfrm>
              <a:off x="8874309" y="3009260"/>
              <a:ext cx="1591098" cy="1591098"/>
              <a:chOff x="9350370" y="2760976"/>
              <a:chExt cx="1591098" cy="1591098"/>
            </a:xfrm>
          </p:grpSpPr>
          <p:sp>
            <p:nvSpPr>
              <p:cNvPr id="28" name="Rectangle: Rounded Corners 39">
                <a:extLst>
                  <a:ext uri="{FF2B5EF4-FFF2-40B4-BE49-F238E27FC236}">
                    <a16:creationId xmlns:a16="http://schemas.microsoft.com/office/drawing/2014/main" id="{9B09EAF2-E778-86FD-483A-752CB535A9D4}"/>
                  </a:ext>
                </a:extLst>
              </p:cNvPr>
              <p:cNvSpPr/>
              <p:nvPr/>
            </p:nvSpPr>
            <p:spPr>
              <a:xfrm>
                <a:off x="9350370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9" name="Rectangle: Rounded Corners 54">
                <a:extLst>
                  <a:ext uri="{FF2B5EF4-FFF2-40B4-BE49-F238E27FC236}">
                    <a16:creationId xmlns:a16="http://schemas.microsoft.com/office/drawing/2014/main" id="{A66CE1D5-C42B-A1E1-794F-0CD11448F819}"/>
                  </a:ext>
                </a:extLst>
              </p:cNvPr>
              <p:cNvSpPr/>
              <p:nvPr/>
            </p:nvSpPr>
            <p:spPr>
              <a:xfrm>
                <a:off x="9411732" y="2818808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27" name="Picture 51" descr="Map with pin with solid fill">
              <a:extLst>
                <a:ext uri="{FF2B5EF4-FFF2-40B4-BE49-F238E27FC236}">
                  <a16:creationId xmlns:a16="http://schemas.microsoft.com/office/drawing/2014/main" id="{B53BCD3C-67DF-F036-CBED-F3D8240A1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9187187" y="3285483"/>
              <a:ext cx="960000" cy="96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EF2FAEC-8262-CB45-26E6-CFB11E568D48}"/>
              </a:ext>
            </a:extLst>
          </p:cNvPr>
          <p:cNvGrpSpPr/>
          <p:nvPr/>
        </p:nvGrpSpPr>
        <p:grpSpPr>
          <a:xfrm>
            <a:off x="10997361" y="200955"/>
            <a:ext cx="410690" cy="410700"/>
            <a:chOff x="5303120" y="3009260"/>
            <a:chExt cx="1591098" cy="159109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8E627A2-581C-B1AA-A526-EF5A699E649B}"/>
                </a:ext>
              </a:extLst>
            </p:cNvPr>
            <p:cNvGrpSpPr/>
            <p:nvPr/>
          </p:nvGrpSpPr>
          <p:grpSpPr>
            <a:xfrm>
              <a:off x="5303120" y="3009260"/>
              <a:ext cx="1591098" cy="1591098"/>
              <a:chOff x="6428492" y="2760976"/>
              <a:chExt cx="1591098" cy="1591098"/>
            </a:xfrm>
          </p:grpSpPr>
          <p:sp>
            <p:nvSpPr>
              <p:cNvPr id="33" name="Rectangle: Rounded Corners 39">
                <a:extLst>
                  <a:ext uri="{FF2B5EF4-FFF2-40B4-BE49-F238E27FC236}">
                    <a16:creationId xmlns:a16="http://schemas.microsoft.com/office/drawing/2014/main" id="{3B4AE6EC-0A74-F947-B14E-C79CDBD5A357}"/>
                  </a:ext>
                </a:extLst>
              </p:cNvPr>
              <p:cNvSpPr/>
              <p:nvPr/>
            </p:nvSpPr>
            <p:spPr>
              <a:xfrm>
                <a:off x="6428492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34" name="Rectangle: Rounded Corners 54">
                <a:extLst>
                  <a:ext uri="{FF2B5EF4-FFF2-40B4-BE49-F238E27FC236}">
                    <a16:creationId xmlns:a16="http://schemas.microsoft.com/office/drawing/2014/main" id="{6ED80131-03BC-F96A-7239-512E00723920}"/>
                  </a:ext>
                </a:extLst>
              </p:cNvPr>
              <p:cNvSpPr/>
              <p:nvPr/>
            </p:nvSpPr>
            <p:spPr>
              <a:xfrm>
                <a:off x="6489854" y="2818808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32" name="Graphic 27" descr="Target Audience with solid fill">
              <a:extLst>
                <a:ext uri="{FF2B5EF4-FFF2-40B4-BE49-F238E27FC236}">
                  <a16:creationId xmlns:a16="http://schemas.microsoft.com/office/drawing/2014/main" id="{827FBC9C-04AA-BDC1-F9A9-A79509F8F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5650418" y="335570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DC7785E-F0D8-C8D8-2829-07A45C36492C}"/>
              </a:ext>
            </a:extLst>
          </p:cNvPr>
          <p:cNvSpPr txBox="1"/>
          <p:nvPr/>
        </p:nvSpPr>
        <p:spPr>
          <a:xfrm>
            <a:off x="11369971" y="624164"/>
            <a:ext cx="818969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BE78A8-6176-28A2-907E-961B3F6A6787}"/>
              </a:ext>
            </a:extLst>
          </p:cNvPr>
          <p:cNvSpPr txBox="1"/>
          <p:nvPr/>
        </p:nvSpPr>
        <p:spPr>
          <a:xfrm>
            <a:off x="10333132" y="624164"/>
            <a:ext cx="592168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/DEFINE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EEF2FD-9F5D-D219-7230-821294D66B22}"/>
              </a:ext>
            </a:extLst>
          </p:cNvPr>
          <p:cNvSpPr txBox="1"/>
          <p:nvPr/>
        </p:nvSpPr>
        <p:spPr>
          <a:xfrm>
            <a:off x="10912924" y="624164"/>
            <a:ext cx="592168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/ASSESS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4107C0-F429-6F98-E667-5EF353184C45}"/>
              </a:ext>
            </a:extLst>
          </p:cNvPr>
          <p:cNvSpPr/>
          <p:nvPr/>
        </p:nvSpPr>
        <p:spPr>
          <a:xfrm>
            <a:off x="10938893" y="85885"/>
            <a:ext cx="1125761" cy="693824"/>
          </a:xfrm>
          <a:prstGeom prst="rect">
            <a:avLst/>
          </a:prstGeom>
          <a:solidFill>
            <a:schemeClr val="bg1">
              <a:alpha val="849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05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FAF7D-17E0-3C10-5A32-007A829D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8A6612-67A6-9AFC-8B10-82A75B8F316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EF7920-8146-428C-A9CC-BA6C6CAA9CF9}"/>
              </a:ext>
            </a:extLst>
          </p:cNvPr>
          <p:cNvGrpSpPr/>
          <p:nvPr/>
        </p:nvGrpSpPr>
        <p:grpSpPr>
          <a:xfrm>
            <a:off x="563253" y="1128713"/>
            <a:ext cx="3615119" cy="5200405"/>
            <a:chOff x="563253" y="1128713"/>
            <a:chExt cx="3615119" cy="520040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FB6107C-9546-1D44-5DA8-F3A7A3C3A39F}"/>
                </a:ext>
              </a:extLst>
            </p:cNvPr>
            <p:cNvGrpSpPr/>
            <p:nvPr/>
          </p:nvGrpSpPr>
          <p:grpSpPr>
            <a:xfrm>
              <a:off x="563253" y="2146819"/>
              <a:ext cx="3615119" cy="4182299"/>
              <a:chOff x="299262" y="1677880"/>
              <a:chExt cx="2826932" cy="30939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D5B8AEB-5D95-89CD-90B1-189B4A9E30A6}"/>
                  </a:ext>
                </a:extLst>
              </p:cNvPr>
              <p:cNvSpPr/>
              <p:nvPr/>
            </p:nvSpPr>
            <p:spPr>
              <a:xfrm>
                <a:off x="299262" y="1677880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D10D0F8-A96D-EB54-8B2B-40D0F6FB06BB}"/>
                  </a:ext>
                </a:extLst>
              </p:cNvPr>
              <p:cNvSpPr txBox="1"/>
              <p:nvPr/>
            </p:nvSpPr>
            <p:spPr>
              <a:xfrm>
                <a:off x="299262" y="1677880"/>
                <a:ext cx="2656743" cy="4098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Is there alignment across stakeholders on the JTBDs?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E4DB30D-34B3-144F-3F81-193F4ACE66D3}"/>
                  </a:ext>
                </a:extLst>
              </p:cNvPr>
              <p:cNvSpPr/>
              <p:nvPr/>
            </p:nvSpPr>
            <p:spPr>
              <a:xfrm>
                <a:off x="299262" y="2482013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18F5E01-DA86-9C79-49CC-252838AA05F1}"/>
                  </a:ext>
                </a:extLst>
              </p:cNvPr>
              <p:cNvSpPr txBox="1"/>
              <p:nvPr/>
            </p:nvSpPr>
            <p:spPr>
              <a:xfrm>
                <a:off x="299262" y="2482013"/>
                <a:ext cx="2826932" cy="4098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Is this an exceptionally complex task to deliver?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61119F7-3892-76EE-005E-868B4DC70D3E}"/>
                  </a:ext>
                </a:extLst>
              </p:cNvPr>
              <p:cNvSpPr/>
              <p:nvPr/>
            </p:nvSpPr>
            <p:spPr>
              <a:xfrm>
                <a:off x="299262" y="3286147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7A678AE-0CE6-7853-7673-FA583685E04C}"/>
                  </a:ext>
                </a:extLst>
              </p:cNvPr>
              <p:cNvSpPr txBox="1"/>
              <p:nvPr/>
            </p:nvSpPr>
            <p:spPr>
              <a:xfrm>
                <a:off x="299262" y="3286147"/>
                <a:ext cx="2826932" cy="4098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Is the work new to the role, team, or organization?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763921C-4F9E-154B-069E-42EA238BF3EA}"/>
                  </a:ext>
                </a:extLst>
              </p:cNvPr>
              <p:cNvSpPr/>
              <p:nvPr/>
            </p:nvSpPr>
            <p:spPr>
              <a:xfrm>
                <a:off x="299262" y="4090282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DEBA25-DB3B-AF2C-C313-916003712EDF}"/>
                  </a:ext>
                </a:extLst>
              </p:cNvPr>
              <p:cNvSpPr txBox="1"/>
              <p:nvPr/>
            </p:nvSpPr>
            <p:spPr>
              <a:xfrm>
                <a:off x="299262" y="4090283"/>
                <a:ext cx="2826932" cy="56920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 Intensity: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Is there significant external competitive pressure that impacts delivery?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42EF970-CF1A-0D02-7F61-DB97575DC2FF}"/>
                </a:ext>
              </a:extLst>
            </p:cNvPr>
            <p:cNvSpPr/>
            <p:nvPr/>
          </p:nvSpPr>
          <p:spPr>
            <a:xfrm>
              <a:off x="574899" y="1128713"/>
              <a:ext cx="3508042" cy="577272"/>
            </a:xfrm>
            <a:prstGeom prst="rect">
              <a:avLst/>
            </a:prstGeom>
            <a:solidFill>
              <a:srgbClr val="281942"/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D"/>
                </a:buClr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626DF52-8CB9-BD9A-269E-BF5430D23512}"/>
                </a:ext>
              </a:extLst>
            </p:cNvPr>
            <p:cNvSpPr txBox="1"/>
            <p:nvPr/>
          </p:nvSpPr>
          <p:spPr>
            <a:xfrm>
              <a:off x="586931" y="1206323"/>
              <a:ext cx="3484363" cy="307777"/>
            </a:xfrm>
            <a:prstGeom prst="rect">
              <a:avLst/>
            </a:prstGeom>
            <a:solidFill>
              <a:srgbClr val="28194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-1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  <a:endPara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1C5AEBA-867C-BCE5-C747-72B6DA3711F4}"/>
                </a:ext>
              </a:extLst>
            </p:cNvPr>
            <p:cNvCxnSpPr>
              <a:cxnSpLocks/>
            </p:cNvCxnSpPr>
            <p:nvPr/>
          </p:nvCxnSpPr>
          <p:spPr>
            <a:xfrm>
              <a:off x="1778305" y="1610343"/>
              <a:ext cx="110123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C37A0DB-B865-F434-1847-E37B42836380}"/>
                </a:ext>
              </a:extLst>
            </p:cNvPr>
            <p:cNvCxnSpPr>
              <a:cxnSpLocks/>
            </p:cNvCxnSpPr>
            <p:nvPr/>
          </p:nvCxnSpPr>
          <p:spPr>
            <a:xfrm>
              <a:off x="732191" y="1888360"/>
              <a:ext cx="3170167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1C8BEE2-1DB4-68E2-43F3-AF28B210CDDD}"/>
              </a:ext>
            </a:extLst>
          </p:cNvPr>
          <p:cNvGrpSpPr/>
          <p:nvPr/>
        </p:nvGrpSpPr>
        <p:grpSpPr>
          <a:xfrm>
            <a:off x="4269200" y="1132556"/>
            <a:ext cx="3615118" cy="5196562"/>
            <a:chOff x="4269200" y="1132556"/>
            <a:chExt cx="3615118" cy="519656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20D7485-CD99-A94C-A96F-E08D3AEAA1A1}"/>
                </a:ext>
              </a:extLst>
            </p:cNvPr>
            <p:cNvGrpSpPr/>
            <p:nvPr/>
          </p:nvGrpSpPr>
          <p:grpSpPr>
            <a:xfrm>
              <a:off x="4269200" y="2146819"/>
              <a:ext cx="3615118" cy="4182299"/>
              <a:chOff x="3197219" y="1677880"/>
              <a:chExt cx="2826931" cy="30939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7F4D745-3B5B-6BA0-39B2-93E389CBE335}"/>
                  </a:ext>
                </a:extLst>
              </p:cNvPr>
              <p:cNvSpPr/>
              <p:nvPr/>
            </p:nvSpPr>
            <p:spPr>
              <a:xfrm>
                <a:off x="3197219" y="1677880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A4C8359-6252-A83C-A510-9D1F086A89D7}"/>
                  </a:ext>
                </a:extLst>
              </p:cNvPr>
              <p:cNvSpPr txBox="1"/>
              <p:nvPr/>
            </p:nvSpPr>
            <p:spPr>
              <a:xfrm>
                <a:off x="3197219" y="1677880"/>
                <a:ext cx="2826931" cy="4098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Does the role have appropriate decision rights to deliver the JTBDs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? 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77C37BE-4F67-5F7C-5948-D40562155CB8}"/>
                  </a:ext>
                </a:extLst>
              </p:cNvPr>
              <p:cNvSpPr/>
              <p:nvPr/>
            </p:nvSpPr>
            <p:spPr>
              <a:xfrm>
                <a:off x="3197219" y="2482013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BE604C6-D4F4-FCE6-066D-4902EF1E3313}"/>
                  </a:ext>
                </a:extLst>
              </p:cNvPr>
              <p:cNvSpPr txBox="1"/>
              <p:nvPr/>
            </p:nvSpPr>
            <p:spPr>
              <a:xfrm>
                <a:off x="3197219" y="2482013"/>
                <a:ext cx="2826931" cy="4098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Are there adequate resources / team capabilities to deliver the JTBDs?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C9ED459-BAB2-D716-8EEB-BF1B2F358B9E}"/>
                  </a:ext>
                </a:extLst>
              </p:cNvPr>
              <p:cNvSpPr/>
              <p:nvPr/>
            </p:nvSpPr>
            <p:spPr>
              <a:xfrm>
                <a:off x="3197219" y="3286147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48A087C-F231-81C8-3427-0F8F441D23C0}"/>
                  </a:ext>
                </a:extLst>
              </p:cNvPr>
              <p:cNvSpPr txBox="1"/>
              <p:nvPr/>
            </p:nvSpPr>
            <p:spPr>
              <a:xfrm>
                <a:off x="3197219" y="3286147"/>
                <a:ext cx="2826931" cy="56920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Does the role face any internal or external resistance to deliver the JTBDs?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D4F88F0-6E0B-44D1-016C-B0A178B63BA0}"/>
                  </a:ext>
                </a:extLst>
              </p:cNvPr>
              <p:cNvSpPr/>
              <p:nvPr/>
            </p:nvSpPr>
            <p:spPr>
              <a:xfrm>
                <a:off x="3197219" y="4090282"/>
                <a:ext cx="2743200" cy="681498"/>
              </a:xfrm>
              <a:prstGeom prst="rect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D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FE6A82-911F-CDB3-B738-70D7D1AF70D9}"/>
                  </a:ext>
                </a:extLst>
              </p:cNvPr>
              <p:cNvSpPr txBox="1"/>
              <p:nvPr/>
            </p:nvSpPr>
            <p:spPr>
              <a:xfrm>
                <a:off x="3197219" y="4090283"/>
                <a:ext cx="2826931" cy="56920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Incentives: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Are the incentives appropriately aligned to the scope of the work expected to deliver? </a:t>
                </a:r>
                <a:endPara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srgbClr val="1D1D1D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99751F6-E299-F3A1-ACF1-63DC158CAD91}"/>
                </a:ext>
              </a:extLst>
            </p:cNvPr>
            <p:cNvSpPr/>
            <p:nvPr/>
          </p:nvSpPr>
          <p:spPr>
            <a:xfrm>
              <a:off x="4270251" y="1132556"/>
              <a:ext cx="3508042" cy="577272"/>
            </a:xfrm>
            <a:prstGeom prst="rect">
              <a:avLst/>
            </a:prstGeom>
            <a:solidFill>
              <a:srgbClr val="281942"/>
            </a:solidFill>
            <a:ln w="9525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D"/>
                </a:buClr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1193647-9AC1-5055-D144-D91B42B03271}"/>
                </a:ext>
              </a:extLst>
            </p:cNvPr>
            <p:cNvSpPr txBox="1"/>
            <p:nvPr/>
          </p:nvSpPr>
          <p:spPr>
            <a:xfrm>
              <a:off x="4407206" y="1210166"/>
              <a:ext cx="3339105" cy="307777"/>
            </a:xfrm>
            <a:prstGeom prst="rect">
              <a:avLst/>
            </a:prstGeom>
            <a:solidFill>
              <a:srgbClr val="28194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  <a:endParaRPr kumimoji="0" lang="en-US" sz="1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97FEB34-A4B3-CA04-5368-99EB0F97D0C7}"/>
                </a:ext>
              </a:extLst>
            </p:cNvPr>
            <p:cNvCxnSpPr>
              <a:cxnSpLocks/>
            </p:cNvCxnSpPr>
            <p:nvPr/>
          </p:nvCxnSpPr>
          <p:spPr>
            <a:xfrm>
              <a:off x="5473657" y="1610343"/>
              <a:ext cx="110123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8348328-48BB-8E2A-5E0A-5F29860CE6C4}"/>
                </a:ext>
              </a:extLst>
            </p:cNvPr>
            <p:cNvCxnSpPr>
              <a:cxnSpLocks/>
            </p:cNvCxnSpPr>
            <p:nvPr/>
          </p:nvCxnSpPr>
          <p:spPr>
            <a:xfrm>
              <a:off x="4438138" y="1888360"/>
              <a:ext cx="3170167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CE96C3-CD79-5B35-7B85-9A76E4156512}"/>
              </a:ext>
            </a:extLst>
          </p:cNvPr>
          <p:cNvGrpSpPr/>
          <p:nvPr/>
        </p:nvGrpSpPr>
        <p:grpSpPr>
          <a:xfrm>
            <a:off x="7970587" y="2146819"/>
            <a:ext cx="3509092" cy="4182299"/>
            <a:chOff x="6091610" y="1677880"/>
            <a:chExt cx="2744021" cy="30939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B652A13-867C-4CD7-8265-20AC9E548EE1}"/>
                </a:ext>
              </a:extLst>
            </p:cNvPr>
            <p:cNvSpPr/>
            <p:nvPr/>
          </p:nvSpPr>
          <p:spPr>
            <a:xfrm>
              <a:off x="6091610" y="1677880"/>
              <a:ext cx="2743200" cy="6814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D"/>
                </a:buClr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21AAC5E-CF03-7FC3-197C-BE692868F748}"/>
                </a:ext>
              </a:extLst>
            </p:cNvPr>
            <p:cNvSpPr txBox="1"/>
            <p:nvPr/>
          </p:nvSpPr>
          <p:spPr>
            <a:xfrm>
              <a:off x="6091610" y="1677880"/>
              <a:ext cx="2529344" cy="5692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Match: </a:t>
              </a:r>
              <a:r>
                <a: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Is there a strong match of skills and experiences to do the JTBDs?  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5CBFFDD-375B-0478-0ED3-B53846B9BED5}"/>
                </a:ext>
              </a:extLst>
            </p:cNvPr>
            <p:cNvSpPr/>
            <p:nvPr/>
          </p:nvSpPr>
          <p:spPr>
            <a:xfrm>
              <a:off x="6091610" y="2482013"/>
              <a:ext cx="2743200" cy="6814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D"/>
                </a:buClr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24277BF-FA61-6140-BDF8-12EB73D3D362}"/>
                </a:ext>
              </a:extLst>
            </p:cNvPr>
            <p:cNvSpPr txBox="1"/>
            <p:nvPr/>
          </p:nvSpPr>
          <p:spPr>
            <a:xfrm>
              <a:off x="6091610" y="2482013"/>
              <a:ext cx="2529344" cy="5692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 Match: </a:t>
              </a:r>
              <a:r>
                <a: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How well matched is the talent to the 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identified superpowers?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E871E64-8812-659B-03E7-ECB0241040CE}"/>
                </a:ext>
              </a:extLst>
            </p:cNvPr>
            <p:cNvSpPr/>
            <p:nvPr/>
          </p:nvSpPr>
          <p:spPr>
            <a:xfrm>
              <a:off x="6091610" y="4090282"/>
              <a:ext cx="2743200" cy="6814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D"/>
                </a:buClr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D0B1F49-5F80-9CBB-919C-5006F59492C1}"/>
                </a:ext>
              </a:extLst>
            </p:cNvPr>
            <p:cNvSpPr txBox="1"/>
            <p:nvPr/>
          </p:nvSpPr>
          <p:spPr>
            <a:xfrm>
              <a:off x="6091610" y="4090283"/>
              <a:ext cx="2638525" cy="5692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Two-Way Fit: </a:t>
              </a:r>
              <a:r>
                <a: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Is there alignment between the individual and org culture, operating environment?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A497818-BC6E-5947-7E8C-D08C835DBC32}"/>
                </a:ext>
              </a:extLst>
            </p:cNvPr>
            <p:cNvSpPr/>
            <p:nvPr/>
          </p:nvSpPr>
          <p:spPr>
            <a:xfrm>
              <a:off x="6091610" y="3286147"/>
              <a:ext cx="2743200" cy="6814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D"/>
                </a:buClr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36E592C-E4E5-C409-D112-12192D04845E}"/>
                </a:ext>
              </a:extLst>
            </p:cNvPr>
            <p:cNvSpPr txBox="1"/>
            <p:nvPr/>
          </p:nvSpPr>
          <p:spPr>
            <a:xfrm>
              <a:off x="6091610" y="3286147"/>
              <a:ext cx="2744021" cy="5692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Record: </a:t>
              </a:r>
              <a:r>
                <a: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Does the person have a consistent track record of persisting and finding a way to win? 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A7E82502-F0B5-95F1-9EB6-91C25CC9AAD5}"/>
              </a:ext>
            </a:extLst>
          </p:cNvPr>
          <p:cNvSpPr/>
          <p:nvPr/>
        </p:nvSpPr>
        <p:spPr>
          <a:xfrm>
            <a:off x="7971637" y="1132556"/>
            <a:ext cx="3508042" cy="577272"/>
          </a:xfrm>
          <a:prstGeom prst="rect">
            <a:avLst/>
          </a:prstGeom>
          <a:solidFill>
            <a:srgbClr val="281942"/>
          </a:solidFill>
          <a:ln w="9525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0FF126C-2060-FCB1-2080-7DE49934857E}"/>
              </a:ext>
            </a:extLst>
          </p:cNvPr>
          <p:cNvSpPr txBox="1"/>
          <p:nvPr/>
        </p:nvSpPr>
        <p:spPr>
          <a:xfrm>
            <a:off x="8105497" y="1210166"/>
            <a:ext cx="3340449" cy="307777"/>
          </a:xfrm>
          <a:prstGeom prst="rect">
            <a:avLst/>
          </a:prstGeom>
          <a:solidFill>
            <a:srgbClr val="281942"/>
          </a:solidFill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endParaRPr kumimoji="0" lang="en-US" sz="1400" b="0" i="0" u="none" strike="noStrike" kern="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71E7B26-BA8E-3647-8F86-3048138735B5}"/>
              </a:ext>
            </a:extLst>
          </p:cNvPr>
          <p:cNvCxnSpPr>
            <a:cxnSpLocks/>
          </p:cNvCxnSpPr>
          <p:nvPr/>
        </p:nvCxnSpPr>
        <p:spPr>
          <a:xfrm>
            <a:off x="9175043" y="1610343"/>
            <a:ext cx="110123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283C829-56CA-41CE-5583-2435852785AC}"/>
              </a:ext>
            </a:extLst>
          </p:cNvPr>
          <p:cNvCxnSpPr>
            <a:cxnSpLocks/>
          </p:cNvCxnSpPr>
          <p:nvPr/>
        </p:nvCxnSpPr>
        <p:spPr>
          <a:xfrm>
            <a:off x="8139525" y="1888360"/>
            <a:ext cx="317016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A354E8-A842-DB6B-ED9A-4829AD1C6CAA}"/>
              </a:ext>
            </a:extLst>
          </p:cNvPr>
          <p:cNvGrpSpPr/>
          <p:nvPr/>
        </p:nvGrpSpPr>
        <p:grpSpPr>
          <a:xfrm>
            <a:off x="10403235" y="201614"/>
            <a:ext cx="410690" cy="410700"/>
            <a:chOff x="3506617" y="2730959"/>
            <a:chExt cx="1591098" cy="1591098"/>
          </a:xfrm>
        </p:grpSpPr>
        <p:sp>
          <p:nvSpPr>
            <p:cNvPr id="16" name="Rectangle: Rounded Corners 39">
              <a:extLst>
                <a:ext uri="{FF2B5EF4-FFF2-40B4-BE49-F238E27FC236}">
                  <a16:creationId xmlns:a16="http://schemas.microsoft.com/office/drawing/2014/main" id="{3AB64EB1-95CF-372B-72C4-FB0680371965}"/>
                </a:ext>
              </a:extLst>
            </p:cNvPr>
            <p:cNvSpPr/>
            <p:nvPr/>
          </p:nvSpPr>
          <p:spPr>
            <a:xfrm>
              <a:off x="3506617" y="2730959"/>
              <a:ext cx="1591098" cy="1591098"/>
            </a:xfrm>
            <a:prstGeom prst="roundRect">
              <a:avLst>
                <a:gd name="adj" fmla="val 18019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54">
              <a:extLst>
                <a:ext uri="{FF2B5EF4-FFF2-40B4-BE49-F238E27FC236}">
                  <a16:creationId xmlns:a16="http://schemas.microsoft.com/office/drawing/2014/main" id="{6130514F-C48D-EAD4-4317-DFCFAA2BACC8}"/>
                </a:ext>
              </a:extLst>
            </p:cNvPr>
            <p:cNvSpPr/>
            <p:nvPr/>
          </p:nvSpPr>
          <p:spPr>
            <a:xfrm>
              <a:off x="3567979" y="2792321"/>
              <a:ext cx="1463040" cy="146304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1D1D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Freeform 56" descr="Clipboard Partially Checked with solid fill">
              <a:extLst>
                <a:ext uri="{FF2B5EF4-FFF2-40B4-BE49-F238E27FC236}">
                  <a16:creationId xmlns:a16="http://schemas.microsoft.com/office/drawing/2014/main" id="{154F875A-BA6C-64AE-AB34-5BE7035D86C6}"/>
                </a:ext>
              </a:extLst>
            </p:cNvPr>
            <p:cNvSpPr/>
            <p:nvPr/>
          </p:nvSpPr>
          <p:spPr>
            <a:xfrm>
              <a:off x="3833252" y="3028257"/>
              <a:ext cx="932492" cy="959932"/>
            </a:xfrm>
            <a:custGeom>
              <a:avLst/>
              <a:gdLst/>
              <a:ahLst/>
              <a:cxnLst/>
              <a:rect l="l" t="t" r="r" b="b"/>
              <a:pathLst>
                <a:path w="829152" h="904941">
                  <a:moveTo>
                    <a:pt x="0" y="0"/>
                  </a:moveTo>
                  <a:lnTo>
                    <a:pt x="829152" y="0"/>
                  </a:lnTo>
                  <a:lnTo>
                    <a:pt x="829152" y="904941"/>
                  </a:lnTo>
                  <a:lnTo>
                    <a:pt x="0" y="904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D5521A1-966A-6E80-42C8-271D5EA5EBF1}"/>
              </a:ext>
            </a:extLst>
          </p:cNvPr>
          <p:cNvGrpSpPr/>
          <p:nvPr/>
        </p:nvGrpSpPr>
        <p:grpSpPr>
          <a:xfrm>
            <a:off x="11557682" y="191038"/>
            <a:ext cx="410690" cy="410700"/>
            <a:chOff x="8874309" y="3009260"/>
            <a:chExt cx="1591098" cy="159109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A54DAA4-DD5E-9A7D-E967-A3018C93B0A6}"/>
                </a:ext>
              </a:extLst>
            </p:cNvPr>
            <p:cNvGrpSpPr/>
            <p:nvPr/>
          </p:nvGrpSpPr>
          <p:grpSpPr>
            <a:xfrm>
              <a:off x="8874309" y="3009260"/>
              <a:ext cx="1591098" cy="1591098"/>
              <a:chOff x="9350370" y="2760976"/>
              <a:chExt cx="1591098" cy="1591098"/>
            </a:xfrm>
          </p:grpSpPr>
          <p:sp>
            <p:nvSpPr>
              <p:cNvPr id="24" name="Rectangle: Rounded Corners 39">
                <a:extLst>
                  <a:ext uri="{FF2B5EF4-FFF2-40B4-BE49-F238E27FC236}">
                    <a16:creationId xmlns:a16="http://schemas.microsoft.com/office/drawing/2014/main" id="{B34790CE-CABE-2F70-014E-84A07BC3F67C}"/>
                  </a:ext>
                </a:extLst>
              </p:cNvPr>
              <p:cNvSpPr/>
              <p:nvPr/>
            </p:nvSpPr>
            <p:spPr>
              <a:xfrm>
                <a:off x="9350370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5" name="Rectangle: Rounded Corners 54">
                <a:extLst>
                  <a:ext uri="{FF2B5EF4-FFF2-40B4-BE49-F238E27FC236}">
                    <a16:creationId xmlns:a16="http://schemas.microsoft.com/office/drawing/2014/main" id="{B1C6F091-9297-8CEB-E8D9-071B20604089}"/>
                  </a:ext>
                </a:extLst>
              </p:cNvPr>
              <p:cNvSpPr/>
              <p:nvPr/>
            </p:nvSpPr>
            <p:spPr>
              <a:xfrm>
                <a:off x="9411732" y="2818808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23" name="Picture 51" descr="Map with pin with solid fill">
              <a:extLst>
                <a:ext uri="{FF2B5EF4-FFF2-40B4-BE49-F238E27FC236}">
                  <a16:creationId xmlns:a16="http://schemas.microsoft.com/office/drawing/2014/main" id="{26F38CBD-589A-B904-D1B6-B7A1B44DF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9187187" y="3285483"/>
              <a:ext cx="960000" cy="96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7DEBA0-F546-C2B0-6FC3-C03C5D5D98B7}"/>
              </a:ext>
            </a:extLst>
          </p:cNvPr>
          <p:cNvGrpSpPr/>
          <p:nvPr/>
        </p:nvGrpSpPr>
        <p:grpSpPr>
          <a:xfrm>
            <a:off x="10997361" y="200955"/>
            <a:ext cx="410690" cy="410700"/>
            <a:chOff x="5303120" y="3009260"/>
            <a:chExt cx="1591098" cy="159109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93FEDE2-5954-1AC0-B241-7CDA346051BF}"/>
                </a:ext>
              </a:extLst>
            </p:cNvPr>
            <p:cNvGrpSpPr/>
            <p:nvPr/>
          </p:nvGrpSpPr>
          <p:grpSpPr>
            <a:xfrm>
              <a:off x="5303120" y="3009260"/>
              <a:ext cx="1591098" cy="1591098"/>
              <a:chOff x="6428492" y="2760976"/>
              <a:chExt cx="1591098" cy="1591098"/>
            </a:xfrm>
          </p:grpSpPr>
          <p:sp>
            <p:nvSpPr>
              <p:cNvPr id="29" name="Rectangle: Rounded Corners 39">
                <a:extLst>
                  <a:ext uri="{FF2B5EF4-FFF2-40B4-BE49-F238E27FC236}">
                    <a16:creationId xmlns:a16="http://schemas.microsoft.com/office/drawing/2014/main" id="{4AE380B8-AF55-2169-89EC-465B4BAEEE49}"/>
                  </a:ext>
                </a:extLst>
              </p:cNvPr>
              <p:cNvSpPr/>
              <p:nvPr/>
            </p:nvSpPr>
            <p:spPr>
              <a:xfrm>
                <a:off x="6428492" y="2760976"/>
                <a:ext cx="1591098" cy="1591098"/>
              </a:xfrm>
              <a:prstGeom prst="roundRect">
                <a:avLst>
                  <a:gd name="adj" fmla="val 180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30" name="Rectangle: Rounded Corners 54">
                <a:extLst>
                  <a:ext uri="{FF2B5EF4-FFF2-40B4-BE49-F238E27FC236}">
                    <a16:creationId xmlns:a16="http://schemas.microsoft.com/office/drawing/2014/main" id="{F33E2480-0C7E-C3A4-55B1-4B99D2F36121}"/>
                  </a:ext>
                </a:extLst>
              </p:cNvPr>
              <p:cNvSpPr/>
              <p:nvPr/>
            </p:nvSpPr>
            <p:spPr>
              <a:xfrm>
                <a:off x="6489854" y="2818808"/>
                <a:ext cx="1463040" cy="14630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D1D1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0" normalizeH="0" baseline="0" noProof="0">
                  <a:ln>
                    <a:noFill/>
                  </a:ln>
                  <a:solidFill>
                    <a:srgbClr val="D0D7D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28" name="Graphic 27" descr="Target Audience with solid fill">
              <a:extLst>
                <a:ext uri="{FF2B5EF4-FFF2-40B4-BE49-F238E27FC236}">
                  <a16:creationId xmlns:a16="http://schemas.microsoft.com/office/drawing/2014/main" id="{0F5F9CD5-0CD3-7E8D-C321-7C16CBB4D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5650418" y="335570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7970EBA-BF33-1732-7F7C-A0E4AB3AD2B5}"/>
              </a:ext>
            </a:extLst>
          </p:cNvPr>
          <p:cNvSpPr txBox="1"/>
          <p:nvPr/>
        </p:nvSpPr>
        <p:spPr>
          <a:xfrm>
            <a:off x="11369971" y="624164"/>
            <a:ext cx="818969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65CD79-3444-51DC-06C1-23983395A1D0}"/>
              </a:ext>
            </a:extLst>
          </p:cNvPr>
          <p:cNvSpPr txBox="1"/>
          <p:nvPr/>
        </p:nvSpPr>
        <p:spPr>
          <a:xfrm>
            <a:off x="10333132" y="624164"/>
            <a:ext cx="592168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/DEFINE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A8BB59-E214-AAD5-6D10-261BFC93F56C}"/>
              </a:ext>
            </a:extLst>
          </p:cNvPr>
          <p:cNvSpPr txBox="1"/>
          <p:nvPr/>
        </p:nvSpPr>
        <p:spPr>
          <a:xfrm>
            <a:off x="10912924" y="624164"/>
            <a:ext cx="592168" cy="2249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/ASSESS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FF3A6E-4995-48D5-16DC-08532D761BFA}"/>
              </a:ext>
            </a:extLst>
          </p:cNvPr>
          <p:cNvSpPr/>
          <p:nvPr/>
        </p:nvSpPr>
        <p:spPr>
          <a:xfrm>
            <a:off x="10938893" y="85885"/>
            <a:ext cx="1125761" cy="693824"/>
          </a:xfrm>
          <a:prstGeom prst="rect">
            <a:avLst/>
          </a:prstGeom>
          <a:solidFill>
            <a:schemeClr val="bg1">
              <a:alpha val="849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0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FA4B1-4C3C-4A08-B4E0-C63E93F3C2E1}" type="slidenum"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-10" normalizeH="0" baseline="0" noProof="0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86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7F7C-6A7D-7C53-079A-669AF09B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ent-Up Arrow 57">
            <a:extLst>
              <a:ext uri="{FF2B5EF4-FFF2-40B4-BE49-F238E27FC236}">
                <a16:creationId xmlns:a16="http://schemas.microsoft.com/office/drawing/2014/main" id="{7E4197BB-E3C2-78B3-10BE-01F38C89F192}"/>
              </a:ext>
            </a:extLst>
          </p:cNvPr>
          <p:cNvSpPr/>
          <p:nvPr/>
        </p:nvSpPr>
        <p:spPr>
          <a:xfrm rot="10800000">
            <a:off x="6174402" y="1578320"/>
            <a:ext cx="1018805" cy="996696"/>
          </a:xfrm>
          <a:prstGeom prst="bentUpArrow">
            <a:avLst>
              <a:gd name="adj1" fmla="val 6112"/>
              <a:gd name="adj2" fmla="val 16006"/>
              <a:gd name="adj3" fmla="val 25000"/>
            </a:avLst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54864" tIns="54864" rIns="45720" bIns="36576" rtlCol="0" anchor="ctr" anchorCtr="0">
            <a:noAutofit/>
          </a:bodyPr>
          <a:lstStyle/>
          <a:p>
            <a:pPr indent="0" algn="r" defTabSz="17373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</a:pPr>
            <a:endParaRPr lang="en-US" sz="1400" spc="-10" err="1">
              <a:solidFill>
                <a:srgbClr val="281A42"/>
              </a:solidFill>
              <a:latin typeface="Arial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D6240-05A3-0AF1-60BD-B6C8870EF8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6083" y="385234"/>
            <a:ext cx="11000316" cy="581495"/>
          </a:xfrm>
        </p:spPr>
        <p:txBody>
          <a:bodyPr/>
          <a:lstStyle/>
          <a:p>
            <a:pPr lvl="0" defTabSz="914332">
              <a:defRPr b="1" spc="-25">
                <a:latin typeface="Segoe UI" pitchFamily="34" charset="0"/>
              </a:defRPr>
            </a:pPr>
            <a:r>
              <a:rPr lang="en-US" sz="2800" b="1" spc="-25">
                <a:latin typeface="Segoe UI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Executive Development Pathways: The Three Buckets</a:t>
            </a:r>
            <a:endParaRPr kumimoji="0" lang="en-US" sz="2000" b="1" i="0" u="none" strike="noStrike" kern="1200" cap="none" spc="-25" normalizeH="0" baseline="0" noProof="0">
              <a:ln>
                <a:noFill/>
              </a:ln>
              <a:effectLst/>
              <a:uLnTx/>
              <a:uFillTx/>
              <a:latin typeface="Segoe UI" pitchFamily="34" charset="0"/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BF18CE-B193-6006-D744-9D3D83703A1A}"/>
              </a:ext>
            </a:extLst>
          </p:cNvPr>
          <p:cNvGrpSpPr/>
          <p:nvPr/>
        </p:nvGrpSpPr>
        <p:grpSpPr>
          <a:xfrm>
            <a:off x="4485744" y="2328821"/>
            <a:ext cx="3569680" cy="3960817"/>
            <a:chOff x="4485744" y="1768227"/>
            <a:chExt cx="3569680" cy="396081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894A84-37B7-A6C2-87F0-09F7CB9DA218}"/>
                </a:ext>
              </a:extLst>
            </p:cNvPr>
            <p:cNvSpPr txBox="1"/>
            <p:nvPr/>
          </p:nvSpPr>
          <p:spPr>
            <a:xfrm>
              <a:off x="4485744" y="1768227"/>
              <a:ext cx="65346" cy="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: Rounded Corners 5">
              <a:extLst>
                <a:ext uri="{FF2B5EF4-FFF2-40B4-BE49-F238E27FC236}">
                  <a16:creationId xmlns:a16="http://schemas.microsoft.com/office/drawing/2014/main" id="{B96B0D8F-4762-B5E8-28B3-0B5F7F591926}"/>
                </a:ext>
              </a:extLst>
            </p:cNvPr>
            <p:cNvSpPr/>
            <p:nvPr/>
          </p:nvSpPr>
          <p:spPr>
            <a:xfrm>
              <a:off x="4575822" y="2073772"/>
              <a:ext cx="3479602" cy="3655272"/>
            </a:xfrm>
            <a:prstGeom prst="roundRect">
              <a:avLst>
                <a:gd name="adj" fmla="val 4418"/>
              </a:avLst>
            </a:prstGeom>
            <a:solidFill>
              <a:srgbClr val="F2F2F2"/>
            </a:solidFill>
            <a:ln>
              <a:solidFill>
                <a:srgbClr val="281A42"/>
              </a:solidFill>
            </a:ln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marL="0" marR="0" lvl="0" indent="0" algn="ctr" defTabSz="1737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  <a:defRPr/>
              </a:pPr>
              <a:endParaRPr kumimoji="0" lang="en-US" sz="1400" b="0" i="0" u="none" strike="noStrike" kern="0" cap="none" spc="-1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Shape 31">
              <a:extLst>
                <a:ext uri="{FF2B5EF4-FFF2-40B4-BE49-F238E27FC236}">
                  <a16:creationId xmlns:a16="http://schemas.microsoft.com/office/drawing/2014/main" id="{11E8E550-2F6E-D119-A251-7EB7E3DE60B3}"/>
                </a:ext>
              </a:extLst>
            </p:cNvPr>
            <p:cNvSpPr/>
            <p:nvPr/>
          </p:nvSpPr>
          <p:spPr>
            <a:xfrm>
              <a:off x="6153895" y="2337432"/>
              <a:ext cx="497680" cy="500529"/>
            </a:xfrm>
            <a:prstGeom prst="roundRect">
              <a:avLst>
                <a:gd name="adj" fmla="val 223321"/>
              </a:avLst>
            </a:prstGeom>
            <a:solidFill>
              <a:srgbClr val="765FFF"/>
            </a:solidFill>
            <a:ln/>
          </p:spPr>
          <p:txBody>
            <a:bodyPr lIns="91440" tIns="45720" rIns="91440" bIns="45720"/>
            <a:lstStyle/>
            <a:p>
              <a:endParaRPr lang="en-US" b="1" spc="-10">
                <a:solidFill>
                  <a:srgbClr val="FFFFFF"/>
                </a:solidFill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32">
              <a:extLst>
                <a:ext uri="{FF2B5EF4-FFF2-40B4-BE49-F238E27FC236}">
                  <a16:creationId xmlns:a16="http://schemas.microsoft.com/office/drawing/2014/main" id="{10368DD3-7FA6-1BB1-4D91-DB5742DE3CB3}"/>
                </a:ext>
              </a:extLst>
            </p:cNvPr>
            <p:cNvSpPr/>
            <p:nvPr/>
          </p:nvSpPr>
          <p:spPr>
            <a:xfrm>
              <a:off x="6256289" y="2502442"/>
              <a:ext cx="219542" cy="2501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8"/>
                </a:lnSpc>
              </a:pPr>
              <a:endParaRPr lang="en-US" sz="1200" b="1" spc="-10"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33">
              <a:extLst>
                <a:ext uri="{FF2B5EF4-FFF2-40B4-BE49-F238E27FC236}">
                  <a16:creationId xmlns:a16="http://schemas.microsoft.com/office/drawing/2014/main" id="{4EFAC412-0BAC-A1FE-63CE-9C742BC6BC95}"/>
                </a:ext>
              </a:extLst>
            </p:cNvPr>
            <p:cNvSpPr/>
            <p:nvPr/>
          </p:nvSpPr>
          <p:spPr>
            <a:xfrm>
              <a:off x="4711126" y="3070467"/>
              <a:ext cx="3208994" cy="355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2. Stretch Assignments in Current Role</a:t>
              </a:r>
            </a:p>
          </p:txBody>
        </p:sp>
        <p:sp>
          <p:nvSpPr>
            <p:cNvPr id="29" name="Text 34">
              <a:extLst>
                <a:ext uri="{FF2B5EF4-FFF2-40B4-BE49-F238E27FC236}">
                  <a16:creationId xmlns:a16="http://schemas.microsoft.com/office/drawing/2014/main" id="{C5140B59-58DD-8E2D-F845-08031D7D186C}"/>
                </a:ext>
              </a:extLst>
            </p:cNvPr>
            <p:cNvSpPr/>
            <p:nvPr/>
          </p:nvSpPr>
          <p:spPr>
            <a:xfrm>
              <a:off x="4715806" y="3860834"/>
              <a:ext cx="3208994" cy="1711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Candidate can build required capabilities or gain broader exposure through cross-functional projects, special initiatives, or enterprise task forces while staying in their present position</a:t>
              </a:r>
            </a:p>
            <a:p>
              <a:br>
                <a:rPr lang="en-US" sz="20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</a:br>
              <a:endParaRPr lang="en-US" sz="2000" spc="-10">
                <a:solidFill>
                  <a:srgbClr val="1D1D1D"/>
                </a:solidFill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Graphic 29" descr="Bullseye with solid fill">
              <a:extLst>
                <a:ext uri="{FF2B5EF4-FFF2-40B4-BE49-F238E27FC236}">
                  <a16:creationId xmlns:a16="http://schemas.microsoft.com/office/drawing/2014/main" id="{574326D9-B1F7-CB3F-FA3F-DD24D904A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170439" y="2350933"/>
              <a:ext cx="472170" cy="463184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9904E2-0AD1-A7B4-7578-977C45DE43BA}"/>
              </a:ext>
            </a:extLst>
          </p:cNvPr>
          <p:cNvGrpSpPr/>
          <p:nvPr/>
        </p:nvGrpSpPr>
        <p:grpSpPr>
          <a:xfrm>
            <a:off x="8186048" y="2328821"/>
            <a:ext cx="3574360" cy="3977489"/>
            <a:chOff x="4485744" y="1768227"/>
            <a:chExt cx="3574360" cy="397748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7B877D2-5A2A-86B6-055B-37840F9C9A81}"/>
                </a:ext>
              </a:extLst>
            </p:cNvPr>
            <p:cNvSpPr txBox="1"/>
            <p:nvPr/>
          </p:nvSpPr>
          <p:spPr>
            <a:xfrm>
              <a:off x="4485744" y="1768227"/>
              <a:ext cx="65346" cy="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: Rounded Corners 5">
              <a:extLst>
                <a:ext uri="{FF2B5EF4-FFF2-40B4-BE49-F238E27FC236}">
                  <a16:creationId xmlns:a16="http://schemas.microsoft.com/office/drawing/2014/main" id="{152C8596-BFCA-BA88-08C9-0899A5FCA1B3}"/>
                </a:ext>
              </a:extLst>
            </p:cNvPr>
            <p:cNvSpPr/>
            <p:nvPr/>
          </p:nvSpPr>
          <p:spPr>
            <a:xfrm>
              <a:off x="4580502" y="2090444"/>
              <a:ext cx="3479602" cy="3655272"/>
            </a:xfrm>
            <a:prstGeom prst="roundRect">
              <a:avLst>
                <a:gd name="adj" fmla="val 4418"/>
              </a:avLst>
            </a:prstGeom>
            <a:solidFill>
              <a:srgbClr val="F2F2F2"/>
            </a:solidFill>
            <a:ln>
              <a:solidFill>
                <a:srgbClr val="281A42"/>
              </a:solidFill>
            </a:ln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marL="0" marR="0" lvl="0" indent="0" algn="ctr" defTabSz="1737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  <a:defRPr/>
              </a:pPr>
              <a:endParaRPr kumimoji="0" lang="en-US" sz="1400" b="0" i="0" u="none" strike="noStrike" kern="0" cap="none" spc="-1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Shape 31">
              <a:extLst>
                <a:ext uri="{FF2B5EF4-FFF2-40B4-BE49-F238E27FC236}">
                  <a16:creationId xmlns:a16="http://schemas.microsoft.com/office/drawing/2014/main" id="{3A85F019-C523-6D77-B15A-CEB36F1757C9}"/>
                </a:ext>
              </a:extLst>
            </p:cNvPr>
            <p:cNvSpPr/>
            <p:nvPr/>
          </p:nvSpPr>
          <p:spPr>
            <a:xfrm>
              <a:off x="6153895" y="2337432"/>
              <a:ext cx="497680" cy="500529"/>
            </a:xfrm>
            <a:prstGeom prst="roundRect">
              <a:avLst>
                <a:gd name="adj" fmla="val 223321"/>
              </a:avLst>
            </a:prstGeom>
            <a:solidFill>
              <a:srgbClr val="765FFF"/>
            </a:solidFill>
            <a:ln/>
          </p:spPr>
          <p:txBody>
            <a:bodyPr lIns="91440" tIns="45720" rIns="91440" bIns="45720"/>
            <a:lstStyle/>
            <a:p>
              <a:endParaRPr lang="en-US" b="1" spc="-10">
                <a:solidFill>
                  <a:srgbClr val="FFFFFF"/>
                </a:solidFill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 32">
              <a:extLst>
                <a:ext uri="{FF2B5EF4-FFF2-40B4-BE49-F238E27FC236}">
                  <a16:creationId xmlns:a16="http://schemas.microsoft.com/office/drawing/2014/main" id="{BFDBDB34-0911-7A4E-D4B6-5B3A44D33179}"/>
                </a:ext>
              </a:extLst>
            </p:cNvPr>
            <p:cNvSpPr/>
            <p:nvPr/>
          </p:nvSpPr>
          <p:spPr>
            <a:xfrm>
              <a:off x="6256289" y="2502442"/>
              <a:ext cx="219542" cy="2501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8"/>
                </a:lnSpc>
              </a:pPr>
              <a:endParaRPr lang="en-US" sz="1200" b="1" spc="-10"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81C33724-9C6D-B742-5931-8766A6E0E42E}"/>
                </a:ext>
              </a:extLst>
            </p:cNvPr>
            <p:cNvSpPr/>
            <p:nvPr/>
          </p:nvSpPr>
          <p:spPr>
            <a:xfrm>
              <a:off x="4715806" y="3070467"/>
              <a:ext cx="3208994" cy="355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buNone/>
              </a:pPr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Behavioral &amp; Capability Development</a:t>
              </a:r>
              <a:endParaRPr lang="en-US" spc="-10">
                <a:solidFill>
                  <a:srgbClr val="1D1D1D"/>
                </a:solidFill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C494A584-862C-9F77-0371-48A995240212}"/>
                </a:ext>
              </a:extLst>
            </p:cNvPr>
            <p:cNvSpPr/>
            <p:nvPr/>
          </p:nvSpPr>
          <p:spPr>
            <a:xfrm>
              <a:off x="4715806" y="3860834"/>
              <a:ext cx="3208994" cy="1711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Candidate’s growth areas are best addressed through personalized coaching, feedback, and tailored leadership approaches—achievable within current or future roles</a:t>
              </a:r>
            </a:p>
            <a:p>
              <a:b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</a:br>
              <a:br>
                <a:rPr lang="en-US" sz="20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</a:br>
              <a:endParaRPr lang="en-US" sz="2000" spc="-10">
                <a:solidFill>
                  <a:srgbClr val="1D1D1D"/>
                </a:solidFill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40" descr="Mental Health with solid fill">
              <a:extLst>
                <a:ext uri="{FF2B5EF4-FFF2-40B4-BE49-F238E27FC236}">
                  <a16:creationId xmlns:a16="http://schemas.microsoft.com/office/drawing/2014/main" id="{B1618F1A-D20E-48E7-C0A5-3E8C15231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6183897" y="2350933"/>
              <a:ext cx="463184" cy="46318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43962D6-F369-4C9C-2FC7-0493E03604EC}"/>
              </a:ext>
            </a:extLst>
          </p:cNvPr>
          <p:cNvGrpSpPr/>
          <p:nvPr/>
        </p:nvGrpSpPr>
        <p:grpSpPr>
          <a:xfrm>
            <a:off x="783060" y="2328821"/>
            <a:ext cx="3569680" cy="3960817"/>
            <a:chOff x="4485744" y="1768227"/>
            <a:chExt cx="3569680" cy="39608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70EFCE6-3A23-27C4-D071-474294EFF503}"/>
                </a:ext>
              </a:extLst>
            </p:cNvPr>
            <p:cNvSpPr txBox="1"/>
            <p:nvPr/>
          </p:nvSpPr>
          <p:spPr>
            <a:xfrm>
              <a:off x="4485744" y="1768227"/>
              <a:ext cx="65346" cy="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: Rounded Corners 5">
              <a:extLst>
                <a:ext uri="{FF2B5EF4-FFF2-40B4-BE49-F238E27FC236}">
                  <a16:creationId xmlns:a16="http://schemas.microsoft.com/office/drawing/2014/main" id="{EA9B0535-AAD5-20CE-86FE-F6B949B26597}"/>
                </a:ext>
              </a:extLst>
            </p:cNvPr>
            <p:cNvSpPr/>
            <p:nvPr/>
          </p:nvSpPr>
          <p:spPr>
            <a:xfrm>
              <a:off x="4575822" y="2073772"/>
              <a:ext cx="3479602" cy="3655272"/>
            </a:xfrm>
            <a:prstGeom prst="roundRect">
              <a:avLst>
                <a:gd name="adj" fmla="val 4418"/>
              </a:avLst>
            </a:prstGeom>
            <a:solidFill>
              <a:srgbClr val="F2F2F2"/>
            </a:solidFill>
            <a:ln>
              <a:solidFill>
                <a:srgbClr val="281A42"/>
              </a:solidFill>
            </a:ln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marL="0" marR="0" lvl="0" indent="0" algn="ctr" defTabSz="1737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  <a:defRPr/>
              </a:pPr>
              <a:endParaRPr kumimoji="0" lang="en-US" sz="1400" b="0" i="0" u="none" strike="noStrike" kern="0" cap="none" spc="-1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Shape 31">
              <a:extLst>
                <a:ext uri="{FF2B5EF4-FFF2-40B4-BE49-F238E27FC236}">
                  <a16:creationId xmlns:a16="http://schemas.microsoft.com/office/drawing/2014/main" id="{F9600A3D-20E2-9D3E-1A2E-4D41ADB29A92}"/>
                </a:ext>
              </a:extLst>
            </p:cNvPr>
            <p:cNvSpPr/>
            <p:nvPr/>
          </p:nvSpPr>
          <p:spPr>
            <a:xfrm>
              <a:off x="6153895" y="2337432"/>
              <a:ext cx="497680" cy="500529"/>
            </a:xfrm>
            <a:prstGeom prst="roundRect">
              <a:avLst>
                <a:gd name="adj" fmla="val 223321"/>
              </a:avLst>
            </a:prstGeom>
            <a:solidFill>
              <a:srgbClr val="765FFF"/>
            </a:solidFill>
            <a:ln/>
          </p:spPr>
          <p:txBody>
            <a:bodyPr lIns="91440" tIns="45720" rIns="91440" bIns="45720"/>
            <a:lstStyle/>
            <a:p>
              <a:endParaRPr lang="en-US" b="1" spc="-10">
                <a:solidFill>
                  <a:srgbClr val="FFFFFF"/>
                </a:solidFill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32">
              <a:extLst>
                <a:ext uri="{FF2B5EF4-FFF2-40B4-BE49-F238E27FC236}">
                  <a16:creationId xmlns:a16="http://schemas.microsoft.com/office/drawing/2014/main" id="{FE25F634-CB9C-5079-82F3-CDA9A9013C72}"/>
                </a:ext>
              </a:extLst>
            </p:cNvPr>
            <p:cNvSpPr/>
            <p:nvPr/>
          </p:nvSpPr>
          <p:spPr>
            <a:xfrm>
              <a:off x="6256289" y="2502442"/>
              <a:ext cx="219542" cy="2501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8"/>
                </a:lnSpc>
              </a:pPr>
              <a:endParaRPr lang="en-US" sz="1200" b="1" spc="-10"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33">
              <a:extLst>
                <a:ext uri="{FF2B5EF4-FFF2-40B4-BE49-F238E27FC236}">
                  <a16:creationId xmlns:a16="http://schemas.microsoft.com/office/drawing/2014/main" id="{CDE61978-6ECC-8479-D18E-0AE0D98EC6BE}"/>
                </a:ext>
              </a:extLst>
            </p:cNvPr>
            <p:cNvSpPr/>
            <p:nvPr/>
          </p:nvSpPr>
          <p:spPr>
            <a:xfrm>
              <a:off x="4715806" y="3070467"/>
              <a:ext cx="3208994" cy="355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b="1" spc="-10">
                  <a:solidFill>
                    <a:srgbClr val="1D1D1D"/>
                  </a:solidFill>
                  <a:latin typeface="Segoe UI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1. Role Change for Critical Growth</a:t>
              </a:r>
            </a:p>
          </p:txBody>
        </p:sp>
        <p:sp>
          <p:nvSpPr>
            <p:cNvPr id="48" name="Text 34">
              <a:extLst>
                <a:ext uri="{FF2B5EF4-FFF2-40B4-BE49-F238E27FC236}">
                  <a16:creationId xmlns:a16="http://schemas.microsoft.com/office/drawing/2014/main" id="{CAE2D1AC-4DA7-630A-BD8D-3FF17A94378E}"/>
                </a:ext>
              </a:extLst>
            </p:cNvPr>
            <p:cNvSpPr/>
            <p:nvPr/>
          </p:nvSpPr>
          <p:spPr>
            <a:xfrm>
              <a:off x="4715806" y="3860834"/>
              <a:ext cx="3208994" cy="1711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Candidate is ready for—or needs—a fundamentally different role to develop critical skills (e.g., new international, functional, or staff/influence experiences)</a:t>
              </a:r>
              <a:br>
                <a:rPr lang="en-US" sz="2000" spc="-10">
                  <a:solidFill>
                    <a:srgbClr val="1D1D1D"/>
                  </a:solidFill>
                  <a:latin typeface="Arial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</a:br>
              <a:endParaRPr lang="en-US" sz="2000" spc="-10">
                <a:solidFill>
                  <a:srgbClr val="1D1D1D"/>
                </a:solidFill>
                <a:latin typeface="Arial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9" name="Graphic 48" descr="Door Open with solid fill">
              <a:extLst>
                <a:ext uri="{FF2B5EF4-FFF2-40B4-BE49-F238E27FC236}">
                  <a16:creationId xmlns:a16="http://schemas.microsoft.com/office/drawing/2014/main" id="{216132F4-FF9A-245F-DDF7-2BA9553E6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6204217" y="2381413"/>
              <a:ext cx="401701" cy="401701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08A4CD-37B9-E8A4-E926-306208678194}"/>
              </a:ext>
            </a:extLst>
          </p:cNvPr>
          <p:cNvGrpSpPr/>
          <p:nvPr/>
        </p:nvGrpSpPr>
        <p:grpSpPr>
          <a:xfrm>
            <a:off x="5209000" y="1065734"/>
            <a:ext cx="2319138" cy="995422"/>
            <a:chOff x="4978133" y="1118238"/>
            <a:chExt cx="2319138" cy="995422"/>
          </a:xfrm>
        </p:grpSpPr>
        <p:sp>
          <p:nvSpPr>
            <p:cNvPr id="50" name="Rectangle: Rounded Corners 5">
              <a:extLst>
                <a:ext uri="{FF2B5EF4-FFF2-40B4-BE49-F238E27FC236}">
                  <a16:creationId xmlns:a16="http://schemas.microsoft.com/office/drawing/2014/main" id="{FEED575A-C452-FBF6-DD39-21256472DE4D}"/>
                </a:ext>
              </a:extLst>
            </p:cNvPr>
            <p:cNvSpPr/>
            <p:nvPr/>
          </p:nvSpPr>
          <p:spPr>
            <a:xfrm>
              <a:off x="4978133" y="1118238"/>
              <a:ext cx="2319138" cy="995422"/>
            </a:xfrm>
            <a:prstGeom prst="roundRect">
              <a:avLst>
                <a:gd name="adj" fmla="val 4418"/>
              </a:avLst>
            </a:prstGeom>
            <a:solidFill>
              <a:srgbClr val="F2F2F2"/>
            </a:solidFill>
            <a:ln>
              <a:solidFill>
                <a:srgbClr val="1D1D1D"/>
              </a:solidFill>
            </a:ln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marL="0" marR="0" lvl="0" indent="0" algn="ctr" defTabSz="1737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  <a:defRPr b="1" spc="-25">
                  <a:latin typeface="Segoe UI" pitchFamily="34" charset="0"/>
                </a:defRPr>
              </a:pPr>
              <a:endParaRPr kumimoji="0" lang="en-US" sz="1400" b="1" i="0" u="none" strike="noStrike" kern="0" cap="none" spc="-25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Picture 2" descr="User with solid fill">
              <a:extLst>
                <a:ext uri="{FF2B5EF4-FFF2-40B4-BE49-F238E27FC236}">
                  <a16:creationId xmlns:a16="http://schemas.microsoft.com/office/drawing/2014/main" id="{18502D4A-D1F9-43CB-C2B4-0F69A7000E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 l="2083" r="2083"/>
            <a:stretch/>
          </p:blipFill>
          <p:spPr bwMode="auto">
            <a:xfrm>
              <a:off x="5096226" y="1247992"/>
              <a:ext cx="730833" cy="744358"/>
            </a:xfrm>
            <a:prstGeom prst="ellipse">
              <a:avLst/>
            </a:prstGeom>
            <a:ln w="3175" cap="rnd">
              <a:solidFill>
                <a:srgbClr val="3B3B3B"/>
              </a:solidFill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B3B3B"/>
              </a:contourClr>
            </a:sp3d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C95D901-7B7A-FA10-6E2D-3CF60990E0B0}"/>
                </a:ext>
              </a:extLst>
            </p:cNvPr>
            <p:cNvSpPr txBox="1"/>
            <p:nvPr/>
          </p:nvSpPr>
          <p:spPr>
            <a:xfrm>
              <a:off x="5780110" y="1472033"/>
              <a:ext cx="1216419" cy="30408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lang="en-US" sz="1400" b="1" spc="-10">
                  <a:solidFill>
                    <a:srgbClr val="1D1D1D"/>
                  </a:solidFill>
                  <a:latin typeface="Segoe UI" pitchFamily="34" charset="0"/>
                  <a:ea typeface="Lato Medium" panose="020F0502020204030203" pitchFamily="34" charset="0"/>
                  <a:cs typeface="Arial" panose="020B0604020202020204" pitchFamily="34" charset="0"/>
                </a:rPr>
                <a:t>Candidate</a:t>
              </a:r>
              <a:endParaRPr kumimoji="0" lang="en-US" sz="14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Lato Medium" panose="020F0502020204030203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3" name="Bent-Up Arrow 52">
            <a:extLst>
              <a:ext uri="{FF2B5EF4-FFF2-40B4-BE49-F238E27FC236}">
                <a16:creationId xmlns:a16="http://schemas.microsoft.com/office/drawing/2014/main" id="{C1B2CCFF-532C-EDCD-232D-A2FAFB8E8243}"/>
              </a:ext>
            </a:extLst>
          </p:cNvPr>
          <p:cNvSpPr/>
          <p:nvPr/>
        </p:nvSpPr>
        <p:spPr>
          <a:xfrm rot="10800000">
            <a:off x="2501533" y="1551020"/>
            <a:ext cx="2707464" cy="996696"/>
          </a:xfrm>
          <a:prstGeom prst="bentUpArrow">
            <a:avLst>
              <a:gd name="adj1" fmla="val 6112"/>
              <a:gd name="adj2" fmla="val 16006"/>
              <a:gd name="adj3" fmla="val 25000"/>
            </a:avLst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54864" tIns="54864" rIns="45720" bIns="36576" rtlCol="0" anchor="ctr" anchorCtr="0">
            <a:noAutofit/>
          </a:bodyPr>
          <a:lstStyle/>
          <a:p>
            <a:pPr indent="0" algn="r" defTabSz="17373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</a:pPr>
            <a:endParaRPr lang="en-US" sz="1400" spc="-10" err="1">
              <a:solidFill>
                <a:srgbClr val="281A42"/>
              </a:solidFill>
              <a:latin typeface="Arial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55" name="Bent-Up Arrow 54">
            <a:extLst>
              <a:ext uri="{FF2B5EF4-FFF2-40B4-BE49-F238E27FC236}">
                <a16:creationId xmlns:a16="http://schemas.microsoft.com/office/drawing/2014/main" id="{D846A9E0-7353-C265-2BD0-D14C8DCFD7BE}"/>
              </a:ext>
            </a:extLst>
          </p:cNvPr>
          <p:cNvSpPr/>
          <p:nvPr/>
        </p:nvSpPr>
        <p:spPr>
          <a:xfrm rot="10800000" flipH="1">
            <a:off x="7528138" y="1547578"/>
            <a:ext cx="2707464" cy="996696"/>
          </a:xfrm>
          <a:prstGeom prst="bentUpArrow">
            <a:avLst>
              <a:gd name="adj1" fmla="val 6112"/>
              <a:gd name="adj2" fmla="val 16006"/>
              <a:gd name="adj3" fmla="val 25000"/>
            </a:avLst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54864" tIns="54864" rIns="45720" bIns="36576" rtlCol="0" anchor="ctr" anchorCtr="0">
            <a:noAutofit/>
          </a:bodyPr>
          <a:lstStyle/>
          <a:p>
            <a:pPr indent="0" algn="r" defTabSz="17373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</a:pPr>
            <a:endParaRPr lang="en-US" sz="1400" spc="-10" err="1">
              <a:solidFill>
                <a:srgbClr val="281A42"/>
              </a:solidFill>
              <a:latin typeface="Arial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2F691847-65AE-42D9-8C91-460FE97A2302}" type="slidenum">
              <a:r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2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3C81-3C8B-282C-88B1-37D9F764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BE3F-5650-B849-8F40-ECEE908566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6083" y="385234"/>
            <a:ext cx="11000316" cy="581495"/>
          </a:xfrm>
        </p:spPr>
        <p:txBody>
          <a:bodyPr/>
          <a:lstStyle/>
          <a:p>
            <a:pPr lvl="0" defTabSz="914332">
              <a:defRPr b="1" spc="-25">
                <a:latin typeface="Segoe UI" pitchFamily="34" charset="0"/>
              </a:defRPr>
            </a:pPr>
            <a:r>
              <a:rPr lang="en-US" sz="2800" b="1" spc="-25">
                <a:latin typeface="Segoe UI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Development Action “menu”</a:t>
            </a:r>
            <a:endParaRPr kumimoji="0" lang="en-US" sz="2000" b="1" i="0" u="none" strike="noStrike" kern="1200" cap="none" spc="-25" normalizeH="0" baseline="0" noProof="0">
              <a:ln>
                <a:noFill/>
              </a:ln>
              <a:effectLst/>
              <a:uLnTx/>
              <a:uFillTx/>
              <a:latin typeface="Segoe UI" pitchFamily="34" charset="0"/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4F56DB-8FD9-2F1F-561D-61FF42E9A796}"/>
              </a:ext>
            </a:extLst>
          </p:cNvPr>
          <p:cNvGraphicFramePr>
            <a:graphicFrameLocks noGrp="1"/>
          </p:cNvGraphicFramePr>
          <p:nvPr/>
        </p:nvGraphicFramePr>
        <p:xfrm>
          <a:off x="836082" y="1193717"/>
          <a:ext cx="10774895" cy="484689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62044">
                  <a:extLst>
                    <a:ext uri="{9D8B030D-6E8A-4147-A177-3AD203B41FA5}">
                      <a16:colId xmlns:a16="http://schemas.microsoft.com/office/drawing/2014/main" val="3645076922"/>
                    </a:ext>
                  </a:extLst>
                </a:gridCol>
                <a:gridCol w="7012851">
                  <a:extLst>
                    <a:ext uri="{9D8B030D-6E8A-4147-A177-3AD203B41FA5}">
                      <a16:colId xmlns:a16="http://schemas.microsoft.com/office/drawing/2014/main" val="832495013"/>
                    </a:ext>
                  </a:extLst>
                </a:gridCol>
              </a:tblGrid>
              <a:tr h="422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Lato Medium" panose="020F0502020204030203" pitchFamily="34" charset="0"/>
                        </a:rPr>
                        <a:t>Pathway</a:t>
                      </a:r>
                      <a:endParaRPr lang="en-US" sz="2400">
                        <a:latin typeface="Arial" pitchFamily="34" charset="0"/>
                        <a:ea typeface="Lato Medium" panose="020F0502020204030203" pitchFamily="34" charset="0"/>
                        <a:cs typeface="Lato Medium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Lato Medium" panose="020F0502020204030203" pitchFamily="34" charset="0"/>
                        </a:rPr>
                        <a:t>Potential Actions to Consider</a:t>
                      </a:r>
                      <a:endParaRPr lang="en-US" sz="2400">
                        <a:latin typeface="Arial" pitchFamily="34" charset="0"/>
                        <a:ea typeface="Lato Medium" panose="020F0502020204030203" pitchFamily="34" charset="0"/>
                        <a:cs typeface="Lato Medium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529380"/>
                  </a:ext>
                </a:extLst>
              </a:tr>
              <a:tr h="949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Role Change for Critical Growth</a:t>
                      </a:r>
                      <a:endParaRPr lang="en-US" sz="2000">
                        <a:solidFill>
                          <a:srgbClr val="00C27A"/>
                        </a:solidFill>
                        <a:latin typeface="Arial" pitchFamily="34" charset="0"/>
                        <a:ea typeface="Lato Medium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New assignment (international, new business, transformation, enterprise, or staff role)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Rotational program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343603"/>
                  </a:ext>
                </a:extLst>
              </a:tr>
              <a:tr h="949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Stretch Assignments in Current Role</a:t>
                      </a:r>
                      <a:endParaRPr lang="en-US" sz="2000">
                        <a:solidFill>
                          <a:srgbClr val="00C27A"/>
                        </a:solidFill>
                        <a:latin typeface="Arial" pitchFamily="34" charset="0"/>
                        <a:ea typeface="Lato Medium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Lead/participate cross-functional/enterprise task force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Project sponsorship of critical internal/external facing initiative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Peer swap on one area/scope of responsibility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Board/LT meeting participation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211504"/>
                  </a:ext>
                </a:extLst>
              </a:tr>
              <a:tr h="949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Behavioral &amp; Capability Development</a:t>
                      </a:r>
                      <a:endParaRPr lang="en-US" sz="2000">
                        <a:solidFill>
                          <a:srgbClr val="00C27A"/>
                        </a:solidFill>
                        <a:latin typeface="Arial" pitchFamily="34" charset="0"/>
                        <a:ea typeface="Lato Medium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Executive coaching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360 feedback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Outside-function mentor for skill-building or org navigation 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External mentor with specific and relevant expertise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Reverse/peer mentoring for specific capabilities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Structured Peer Learning Networks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800">
                          <a:solidFill>
                            <a:srgbClr val="00C27A"/>
                          </a:solidFill>
                          <a:latin typeface="Arial" pitchFamily="34" charset="0"/>
                          <a:ea typeface="Lato Medium" panose="020F0502020204030203" pitchFamily="34" charset="0"/>
                          <a:cs typeface="Arial" panose="020B0604020202020204" pitchFamily="34" charset="0"/>
                        </a:rPr>
                        <a:t>Outside Board membership/shadow boards/Young Advisory Councils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308830"/>
                  </a:ext>
                </a:extLst>
              </a:tr>
            </a:tbl>
          </a:graphicData>
        </a:graphic>
      </p:graphicFrame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52A0534-FA45-4D11-B18E-9C7882DE05B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9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306A343-804C-973F-A272-4B6243599B8B}"/>
              </a:ext>
            </a:extLst>
          </p:cNvPr>
          <p:cNvSpPr/>
          <p:nvPr/>
        </p:nvSpPr>
        <p:spPr>
          <a:xfrm>
            <a:off x="3361706" y="5163408"/>
            <a:ext cx="7999116" cy="622885"/>
          </a:xfrm>
          <a:prstGeom prst="rect">
            <a:avLst/>
          </a:prstGeom>
          <a:solidFill>
            <a:srgbClr val="F2F2F2"/>
          </a:solidFill>
        </p:spPr>
        <p:txBody>
          <a:bodyPr vert="horz" lIns="54864" tIns="54864" rIns="45720" bIns="36576" rtlCol="0" anchor="ctr" anchorCtr="0">
            <a:noAutofit/>
          </a:bodyPr>
          <a:lstStyle/>
          <a:p>
            <a:pPr indent="0" algn="ctr" defTabSz="17373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</a:pPr>
            <a:endParaRPr lang="en-US" sz="1600" err="1">
              <a:solidFill>
                <a:srgbClr val="281A42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6A6696-AD86-3A97-05DB-DC569C752624}"/>
              </a:ext>
            </a:extLst>
          </p:cNvPr>
          <p:cNvSpPr/>
          <p:nvPr/>
        </p:nvSpPr>
        <p:spPr>
          <a:xfrm>
            <a:off x="3328162" y="3507979"/>
            <a:ext cx="8032660" cy="273824"/>
          </a:xfrm>
          <a:prstGeom prst="rect">
            <a:avLst/>
          </a:prstGeom>
          <a:solidFill>
            <a:srgbClr val="F2F2F2"/>
          </a:solidFill>
        </p:spPr>
        <p:txBody>
          <a:bodyPr vert="horz" lIns="54864" tIns="54864" rIns="45720" bIns="36576" rtlCol="0" anchor="ctr" anchorCtr="0">
            <a:noAutofit/>
          </a:bodyPr>
          <a:lstStyle/>
          <a:p>
            <a:pPr indent="0" algn="ctr" defTabSz="17373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</a:pPr>
            <a:endParaRPr lang="en-US" sz="1600" err="1">
              <a:solidFill>
                <a:srgbClr val="281A4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4DCE93-91B9-A540-1ED5-3461630D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From JTBDs to Success Enabling Plans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DD1DB41A-229A-D6C0-1A1F-4E32B5BFCFC4}"/>
              </a:ext>
            </a:extLst>
          </p:cNvPr>
          <p:cNvSpPr/>
          <p:nvPr/>
        </p:nvSpPr>
        <p:spPr>
          <a:xfrm>
            <a:off x="850334" y="1271637"/>
            <a:ext cx="2125996" cy="611957"/>
          </a:xfrm>
          <a:custGeom>
            <a:avLst/>
            <a:gdLst>
              <a:gd name="connsiteX0" fmla="*/ 0 w 2507723"/>
              <a:gd name="connsiteY0" fmla="*/ 71959 h 719594"/>
              <a:gd name="connsiteX1" fmla="*/ 71959 w 2507723"/>
              <a:gd name="connsiteY1" fmla="*/ 0 h 719594"/>
              <a:gd name="connsiteX2" fmla="*/ 2435764 w 2507723"/>
              <a:gd name="connsiteY2" fmla="*/ 0 h 719594"/>
              <a:gd name="connsiteX3" fmla="*/ 2507723 w 2507723"/>
              <a:gd name="connsiteY3" fmla="*/ 71959 h 719594"/>
              <a:gd name="connsiteX4" fmla="*/ 2507723 w 2507723"/>
              <a:gd name="connsiteY4" fmla="*/ 647635 h 719594"/>
              <a:gd name="connsiteX5" fmla="*/ 2435764 w 2507723"/>
              <a:gd name="connsiteY5" fmla="*/ 719594 h 719594"/>
              <a:gd name="connsiteX6" fmla="*/ 71959 w 2507723"/>
              <a:gd name="connsiteY6" fmla="*/ 719594 h 719594"/>
              <a:gd name="connsiteX7" fmla="*/ 0 w 2507723"/>
              <a:gd name="connsiteY7" fmla="*/ 647635 h 719594"/>
              <a:gd name="connsiteX8" fmla="*/ 0 w 2507723"/>
              <a:gd name="connsiteY8" fmla="*/ 71959 h 71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723" h="719594">
                <a:moveTo>
                  <a:pt x="0" y="71959"/>
                </a:moveTo>
                <a:cubicBezTo>
                  <a:pt x="0" y="32217"/>
                  <a:pt x="32217" y="0"/>
                  <a:pt x="71959" y="0"/>
                </a:cubicBezTo>
                <a:lnTo>
                  <a:pt x="2435764" y="0"/>
                </a:lnTo>
                <a:cubicBezTo>
                  <a:pt x="2475506" y="0"/>
                  <a:pt x="2507723" y="32217"/>
                  <a:pt x="2507723" y="71959"/>
                </a:cubicBezTo>
                <a:lnTo>
                  <a:pt x="2507723" y="647635"/>
                </a:lnTo>
                <a:cubicBezTo>
                  <a:pt x="2507723" y="687377"/>
                  <a:pt x="2475506" y="719594"/>
                  <a:pt x="2435764" y="719594"/>
                </a:cubicBezTo>
                <a:lnTo>
                  <a:pt x="71959" y="719594"/>
                </a:lnTo>
                <a:cubicBezTo>
                  <a:pt x="32217" y="719594"/>
                  <a:pt x="0" y="687377"/>
                  <a:pt x="0" y="647635"/>
                </a:cubicBezTo>
                <a:lnTo>
                  <a:pt x="0" y="7195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606" tIns="70606" rIns="70606" bIns="7060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spc="-25">
                <a:latin typeface="Segoe UI" pitchFamily="34" charset="0"/>
              </a:rPr>
              <a:t>Define JTBDs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B8D8CF3-143D-E652-66CD-67AD6F499A71}"/>
              </a:ext>
            </a:extLst>
          </p:cNvPr>
          <p:cNvSpPr/>
          <p:nvPr/>
        </p:nvSpPr>
        <p:spPr>
          <a:xfrm>
            <a:off x="850334" y="2244737"/>
            <a:ext cx="2125996" cy="840944"/>
          </a:xfrm>
          <a:custGeom>
            <a:avLst/>
            <a:gdLst>
              <a:gd name="connsiteX0" fmla="*/ 0 w 2507723"/>
              <a:gd name="connsiteY0" fmla="*/ 71959 h 719594"/>
              <a:gd name="connsiteX1" fmla="*/ 71959 w 2507723"/>
              <a:gd name="connsiteY1" fmla="*/ 0 h 719594"/>
              <a:gd name="connsiteX2" fmla="*/ 2435764 w 2507723"/>
              <a:gd name="connsiteY2" fmla="*/ 0 h 719594"/>
              <a:gd name="connsiteX3" fmla="*/ 2507723 w 2507723"/>
              <a:gd name="connsiteY3" fmla="*/ 71959 h 719594"/>
              <a:gd name="connsiteX4" fmla="*/ 2507723 w 2507723"/>
              <a:gd name="connsiteY4" fmla="*/ 647635 h 719594"/>
              <a:gd name="connsiteX5" fmla="*/ 2435764 w 2507723"/>
              <a:gd name="connsiteY5" fmla="*/ 719594 h 719594"/>
              <a:gd name="connsiteX6" fmla="*/ 71959 w 2507723"/>
              <a:gd name="connsiteY6" fmla="*/ 719594 h 719594"/>
              <a:gd name="connsiteX7" fmla="*/ 0 w 2507723"/>
              <a:gd name="connsiteY7" fmla="*/ 647635 h 719594"/>
              <a:gd name="connsiteX8" fmla="*/ 0 w 2507723"/>
              <a:gd name="connsiteY8" fmla="*/ 71959 h 71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723" h="719594">
                <a:moveTo>
                  <a:pt x="0" y="71959"/>
                </a:moveTo>
                <a:cubicBezTo>
                  <a:pt x="0" y="32217"/>
                  <a:pt x="32217" y="0"/>
                  <a:pt x="71959" y="0"/>
                </a:cubicBezTo>
                <a:lnTo>
                  <a:pt x="2435764" y="0"/>
                </a:lnTo>
                <a:cubicBezTo>
                  <a:pt x="2475506" y="0"/>
                  <a:pt x="2507723" y="32217"/>
                  <a:pt x="2507723" y="71959"/>
                </a:cubicBezTo>
                <a:lnTo>
                  <a:pt x="2507723" y="647635"/>
                </a:lnTo>
                <a:cubicBezTo>
                  <a:pt x="2507723" y="687377"/>
                  <a:pt x="2475506" y="719594"/>
                  <a:pt x="2435764" y="719594"/>
                </a:cubicBezTo>
                <a:lnTo>
                  <a:pt x="71959" y="719594"/>
                </a:lnTo>
                <a:cubicBezTo>
                  <a:pt x="32217" y="719594"/>
                  <a:pt x="0" y="687377"/>
                  <a:pt x="0" y="647635"/>
                </a:cubicBezTo>
                <a:lnTo>
                  <a:pt x="0" y="7195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606" tIns="70606" rIns="70606" bIns="7060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/>
              <a:t>Assess Execution Risks in Work and Role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0DA6F555-5714-9E22-13D7-4D88CB1E94FB}"/>
              </a:ext>
            </a:extLst>
          </p:cNvPr>
          <p:cNvSpPr/>
          <p:nvPr/>
        </p:nvSpPr>
        <p:spPr>
          <a:xfrm>
            <a:off x="850334" y="3429041"/>
            <a:ext cx="2125996" cy="431700"/>
          </a:xfrm>
          <a:custGeom>
            <a:avLst/>
            <a:gdLst>
              <a:gd name="connsiteX0" fmla="*/ 0 w 2507723"/>
              <a:gd name="connsiteY0" fmla="*/ 71959 h 719594"/>
              <a:gd name="connsiteX1" fmla="*/ 71959 w 2507723"/>
              <a:gd name="connsiteY1" fmla="*/ 0 h 719594"/>
              <a:gd name="connsiteX2" fmla="*/ 2435764 w 2507723"/>
              <a:gd name="connsiteY2" fmla="*/ 0 h 719594"/>
              <a:gd name="connsiteX3" fmla="*/ 2507723 w 2507723"/>
              <a:gd name="connsiteY3" fmla="*/ 71959 h 719594"/>
              <a:gd name="connsiteX4" fmla="*/ 2507723 w 2507723"/>
              <a:gd name="connsiteY4" fmla="*/ 647635 h 719594"/>
              <a:gd name="connsiteX5" fmla="*/ 2435764 w 2507723"/>
              <a:gd name="connsiteY5" fmla="*/ 719594 h 719594"/>
              <a:gd name="connsiteX6" fmla="*/ 71959 w 2507723"/>
              <a:gd name="connsiteY6" fmla="*/ 719594 h 719594"/>
              <a:gd name="connsiteX7" fmla="*/ 0 w 2507723"/>
              <a:gd name="connsiteY7" fmla="*/ 647635 h 719594"/>
              <a:gd name="connsiteX8" fmla="*/ 0 w 2507723"/>
              <a:gd name="connsiteY8" fmla="*/ 71959 h 71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723" h="719594">
                <a:moveTo>
                  <a:pt x="0" y="71959"/>
                </a:moveTo>
                <a:cubicBezTo>
                  <a:pt x="0" y="32217"/>
                  <a:pt x="32217" y="0"/>
                  <a:pt x="71959" y="0"/>
                </a:cubicBezTo>
                <a:lnTo>
                  <a:pt x="2435764" y="0"/>
                </a:lnTo>
                <a:cubicBezTo>
                  <a:pt x="2475506" y="0"/>
                  <a:pt x="2507723" y="32217"/>
                  <a:pt x="2507723" y="71959"/>
                </a:cubicBezTo>
                <a:lnTo>
                  <a:pt x="2507723" y="647635"/>
                </a:lnTo>
                <a:cubicBezTo>
                  <a:pt x="2507723" y="687377"/>
                  <a:pt x="2475506" y="719594"/>
                  <a:pt x="2435764" y="719594"/>
                </a:cubicBezTo>
                <a:lnTo>
                  <a:pt x="71959" y="719594"/>
                </a:lnTo>
                <a:cubicBezTo>
                  <a:pt x="32217" y="719594"/>
                  <a:pt x="0" y="687377"/>
                  <a:pt x="0" y="647635"/>
                </a:cubicBezTo>
                <a:lnTo>
                  <a:pt x="0" y="7195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606" tIns="70606" rIns="70606" bIns="7060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/>
              <a:t>Define Superpowers 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5C76AC55-53F0-541D-F47F-387089C553C8}"/>
              </a:ext>
            </a:extLst>
          </p:cNvPr>
          <p:cNvSpPr/>
          <p:nvPr/>
        </p:nvSpPr>
        <p:spPr>
          <a:xfrm>
            <a:off x="850334" y="5080030"/>
            <a:ext cx="2125996" cy="789640"/>
          </a:xfrm>
          <a:custGeom>
            <a:avLst/>
            <a:gdLst>
              <a:gd name="connsiteX0" fmla="*/ 0 w 2507723"/>
              <a:gd name="connsiteY0" fmla="*/ 71959 h 719594"/>
              <a:gd name="connsiteX1" fmla="*/ 71959 w 2507723"/>
              <a:gd name="connsiteY1" fmla="*/ 0 h 719594"/>
              <a:gd name="connsiteX2" fmla="*/ 2435764 w 2507723"/>
              <a:gd name="connsiteY2" fmla="*/ 0 h 719594"/>
              <a:gd name="connsiteX3" fmla="*/ 2507723 w 2507723"/>
              <a:gd name="connsiteY3" fmla="*/ 71959 h 719594"/>
              <a:gd name="connsiteX4" fmla="*/ 2507723 w 2507723"/>
              <a:gd name="connsiteY4" fmla="*/ 647635 h 719594"/>
              <a:gd name="connsiteX5" fmla="*/ 2435764 w 2507723"/>
              <a:gd name="connsiteY5" fmla="*/ 719594 h 719594"/>
              <a:gd name="connsiteX6" fmla="*/ 71959 w 2507723"/>
              <a:gd name="connsiteY6" fmla="*/ 719594 h 719594"/>
              <a:gd name="connsiteX7" fmla="*/ 0 w 2507723"/>
              <a:gd name="connsiteY7" fmla="*/ 647635 h 719594"/>
              <a:gd name="connsiteX8" fmla="*/ 0 w 2507723"/>
              <a:gd name="connsiteY8" fmla="*/ 71959 h 71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723" h="719594">
                <a:moveTo>
                  <a:pt x="0" y="71959"/>
                </a:moveTo>
                <a:cubicBezTo>
                  <a:pt x="0" y="32217"/>
                  <a:pt x="32217" y="0"/>
                  <a:pt x="71959" y="0"/>
                </a:cubicBezTo>
                <a:lnTo>
                  <a:pt x="2435764" y="0"/>
                </a:lnTo>
                <a:cubicBezTo>
                  <a:pt x="2475506" y="0"/>
                  <a:pt x="2507723" y="32217"/>
                  <a:pt x="2507723" y="71959"/>
                </a:cubicBezTo>
                <a:lnTo>
                  <a:pt x="2507723" y="647635"/>
                </a:lnTo>
                <a:cubicBezTo>
                  <a:pt x="2507723" y="687377"/>
                  <a:pt x="2475506" y="719594"/>
                  <a:pt x="2435764" y="719594"/>
                </a:cubicBezTo>
                <a:lnTo>
                  <a:pt x="71959" y="719594"/>
                </a:lnTo>
                <a:cubicBezTo>
                  <a:pt x="32217" y="719594"/>
                  <a:pt x="0" y="687377"/>
                  <a:pt x="0" y="647635"/>
                </a:cubicBezTo>
                <a:lnTo>
                  <a:pt x="0" y="7195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606" tIns="70606" rIns="70606" bIns="7060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/>
              <a:t>Identify the 2-3 Execution Risks that are the biggest drags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B4A5DAD-745D-D801-B4AC-05C327E70DAD}"/>
              </a:ext>
            </a:extLst>
          </p:cNvPr>
          <p:cNvSpPr/>
          <p:nvPr/>
        </p:nvSpPr>
        <p:spPr>
          <a:xfrm>
            <a:off x="850334" y="6203955"/>
            <a:ext cx="2125996" cy="500827"/>
          </a:xfrm>
          <a:custGeom>
            <a:avLst/>
            <a:gdLst>
              <a:gd name="connsiteX0" fmla="*/ 0 w 2507723"/>
              <a:gd name="connsiteY0" fmla="*/ 71959 h 719594"/>
              <a:gd name="connsiteX1" fmla="*/ 71959 w 2507723"/>
              <a:gd name="connsiteY1" fmla="*/ 0 h 719594"/>
              <a:gd name="connsiteX2" fmla="*/ 2435764 w 2507723"/>
              <a:gd name="connsiteY2" fmla="*/ 0 h 719594"/>
              <a:gd name="connsiteX3" fmla="*/ 2507723 w 2507723"/>
              <a:gd name="connsiteY3" fmla="*/ 71959 h 719594"/>
              <a:gd name="connsiteX4" fmla="*/ 2507723 w 2507723"/>
              <a:gd name="connsiteY4" fmla="*/ 647635 h 719594"/>
              <a:gd name="connsiteX5" fmla="*/ 2435764 w 2507723"/>
              <a:gd name="connsiteY5" fmla="*/ 719594 h 719594"/>
              <a:gd name="connsiteX6" fmla="*/ 71959 w 2507723"/>
              <a:gd name="connsiteY6" fmla="*/ 719594 h 719594"/>
              <a:gd name="connsiteX7" fmla="*/ 0 w 2507723"/>
              <a:gd name="connsiteY7" fmla="*/ 647635 h 719594"/>
              <a:gd name="connsiteX8" fmla="*/ 0 w 2507723"/>
              <a:gd name="connsiteY8" fmla="*/ 71959 h 71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723" h="719594">
                <a:moveTo>
                  <a:pt x="0" y="71959"/>
                </a:moveTo>
                <a:cubicBezTo>
                  <a:pt x="0" y="32217"/>
                  <a:pt x="32217" y="0"/>
                  <a:pt x="71959" y="0"/>
                </a:cubicBezTo>
                <a:lnTo>
                  <a:pt x="2435764" y="0"/>
                </a:lnTo>
                <a:cubicBezTo>
                  <a:pt x="2475506" y="0"/>
                  <a:pt x="2507723" y="32217"/>
                  <a:pt x="2507723" y="71959"/>
                </a:cubicBezTo>
                <a:lnTo>
                  <a:pt x="2507723" y="647635"/>
                </a:lnTo>
                <a:cubicBezTo>
                  <a:pt x="2507723" y="687377"/>
                  <a:pt x="2475506" y="719594"/>
                  <a:pt x="2435764" y="719594"/>
                </a:cubicBezTo>
                <a:lnTo>
                  <a:pt x="71959" y="719594"/>
                </a:lnTo>
                <a:cubicBezTo>
                  <a:pt x="32217" y="719594"/>
                  <a:pt x="0" y="687377"/>
                  <a:pt x="0" y="647635"/>
                </a:cubicBezTo>
                <a:lnTo>
                  <a:pt x="0" y="7195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606" tIns="70606" rIns="70606" bIns="7060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/>
              <a:t>Build targeted Success </a:t>
            </a:r>
            <a:r>
              <a:rPr lang="en-US" sz="1400"/>
              <a:t>E</a:t>
            </a:r>
            <a:r>
              <a:rPr lang="en-US" sz="1400" kern="1200"/>
              <a:t>nabling </a:t>
            </a:r>
            <a:r>
              <a:rPr lang="en-US" sz="1400"/>
              <a:t>P</a:t>
            </a:r>
            <a:r>
              <a:rPr lang="en-US" sz="1400" kern="1200"/>
              <a:t>lan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1E71C4-C43A-FDE1-A359-459F1C60485D}"/>
              </a:ext>
            </a:extLst>
          </p:cNvPr>
          <p:cNvGrpSpPr/>
          <p:nvPr/>
        </p:nvGrpSpPr>
        <p:grpSpPr>
          <a:xfrm>
            <a:off x="3297964" y="1143561"/>
            <a:ext cx="2584877" cy="868109"/>
            <a:chOff x="3643981" y="1526986"/>
            <a:chExt cx="2451524" cy="8862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D9F4CE-236A-EFBE-8A74-A1F404A8FFA9}"/>
                </a:ext>
              </a:extLst>
            </p:cNvPr>
            <p:cNvSpPr/>
            <p:nvPr/>
          </p:nvSpPr>
          <p:spPr>
            <a:xfrm>
              <a:off x="3643981" y="1543016"/>
              <a:ext cx="2451524" cy="870225"/>
            </a:xfrm>
            <a:prstGeom prst="rect">
              <a:avLst/>
            </a:prstGeom>
            <a:solidFill>
              <a:srgbClr val="F2F2F2"/>
            </a:solidFill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indent="0" algn="ctr" defTabSz="173736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</a:pPr>
              <a:endParaRPr lang="en-US" sz="1600" err="1">
                <a:solidFill>
                  <a:srgbClr val="281A4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EC9229-6B76-CEBD-60ED-68351C2D0F01}"/>
                </a:ext>
              </a:extLst>
            </p:cNvPr>
            <p:cNvSpPr txBox="1"/>
            <p:nvPr/>
          </p:nvSpPr>
          <p:spPr>
            <a:xfrm>
              <a:off x="3644474" y="1526986"/>
              <a:ext cx="2429637" cy="848367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Outcomes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What are the 3-5 objectives which the work must accomplish to deliver value?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34702B-21B1-0367-C2F2-828BF0541586}"/>
              </a:ext>
            </a:extLst>
          </p:cNvPr>
          <p:cNvGrpSpPr/>
          <p:nvPr/>
        </p:nvGrpSpPr>
        <p:grpSpPr>
          <a:xfrm>
            <a:off x="5990515" y="1151412"/>
            <a:ext cx="2649220" cy="852407"/>
            <a:chOff x="5990538" y="1522760"/>
            <a:chExt cx="2512548" cy="8702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C87636-0C7B-9F96-D10D-4CE7065CE2DB}"/>
                </a:ext>
              </a:extLst>
            </p:cNvPr>
            <p:cNvSpPr/>
            <p:nvPr/>
          </p:nvSpPr>
          <p:spPr>
            <a:xfrm>
              <a:off x="5990538" y="1522760"/>
              <a:ext cx="2512548" cy="870225"/>
            </a:xfrm>
            <a:prstGeom prst="rect">
              <a:avLst/>
            </a:prstGeom>
            <a:solidFill>
              <a:srgbClr val="F2F2F2"/>
            </a:solidFill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indent="0" algn="ctr" defTabSz="173736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</a:pPr>
              <a:endParaRPr lang="en-US" sz="1600" err="1">
                <a:solidFill>
                  <a:srgbClr val="281A4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45B7FA-C041-48A9-5EAA-BBFEA07E4919}"/>
                </a:ext>
              </a:extLst>
            </p:cNvPr>
            <p:cNvSpPr txBox="1"/>
            <p:nvPr/>
          </p:nvSpPr>
          <p:spPr>
            <a:xfrm>
              <a:off x="6002898" y="1526986"/>
              <a:ext cx="2499550" cy="65984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Pivotal Work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How will the role accomplish the outcomes?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BCAB1A-00C6-0332-CF38-151C0AFBB3C7}"/>
              </a:ext>
            </a:extLst>
          </p:cNvPr>
          <p:cNvGrpSpPr/>
          <p:nvPr/>
        </p:nvGrpSpPr>
        <p:grpSpPr>
          <a:xfrm>
            <a:off x="8765480" y="1151412"/>
            <a:ext cx="2561801" cy="852407"/>
            <a:chOff x="8431871" y="1522759"/>
            <a:chExt cx="2429639" cy="87022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29BF63-8BBA-0FA7-8077-F2CB9CF092A0}"/>
                </a:ext>
              </a:extLst>
            </p:cNvPr>
            <p:cNvSpPr/>
            <p:nvPr/>
          </p:nvSpPr>
          <p:spPr>
            <a:xfrm>
              <a:off x="8431872" y="1522759"/>
              <a:ext cx="2429638" cy="870225"/>
            </a:xfrm>
            <a:prstGeom prst="rect">
              <a:avLst/>
            </a:prstGeom>
            <a:solidFill>
              <a:srgbClr val="F2F2F2"/>
            </a:solidFill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indent="0" algn="ctr" defTabSz="173736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</a:pPr>
              <a:endParaRPr lang="en-US" sz="1600" err="1">
                <a:solidFill>
                  <a:srgbClr val="281A4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23F68E-3029-3CEF-AFA7-7EEDD5215D68}"/>
                </a:ext>
              </a:extLst>
            </p:cNvPr>
            <p:cNvSpPr txBox="1"/>
            <p:nvPr/>
          </p:nvSpPr>
          <p:spPr>
            <a:xfrm>
              <a:off x="8431871" y="1526983"/>
              <a:ext cx="2429637" cy="65984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Measures &amp; Timing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How much?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By when?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3D993-662D-2C9F-A0EF-023A81C2DF9C}"/>
              </a:ext>
            </a:extLst>
          </p:cNvPr>
          <p:cNvSpPr/>
          <p:nvPr/>
        </p:nvSpPr>
        <p:spPr>
          <a:xfrm>
            <a:off x="3328162" y="2214529"/>
            <a:ext cx="3963592" cy="90136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Which JTBD would be the toughest to execute and deliver?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Is there a significant alignment gap or lack of clarity among stakeholders?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41138C-1C72-2C65-836A-92B83ACC3E2E}"/>
              </a:ext>
            </a:extLst>
          </p:cNvPr>
          <p:cNvSpPr/>
          <p:nvPr/>
        </p:nvSpPr>
        <p:spPr>
          <a:xfrm>
            <a:off x="7363686" y="2214529"/>
            <a:ext cx="3963591" cy="90136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Does the role have “enough” decision rights to deliver the Jobs to Be Done?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Which JTBD will be impacted due to a lack of resources or its teams/org capability?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37D6C1-D9AC-CC1C-4DD4-80D0CC122FE7}"/>
              </a:ext>
            </a:extLst>
          </p:cNvPr>
          <p:cNvSpPr/>
          <p:nvPr/>
        </p:nvSpPr>
        <p:spPr>
          <a:xfrm>
            <a:off x="3361706" y="4218870"/>
            <a:ext cx="7965571" cy="5558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What is the readiness of the talent to deliver the JTBDs?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What is the willingness/motivation of the talent to deliver this work?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7F81D-D3E9-90CF-C1AB-AE89AAC87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8161" y="3506392"/>
            <a:ext cx="7691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tabLst/>
              <a:defRPr/>
            </a:pPr>
            <a:r>
              <a:rPr kumimoji="0" lang="en-US" sz="120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What are the things that the talent needs to be exceptional at to overcome the work and role risks?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6D176-A246-739D-1C25-5834E92217B3}"/>
              </a:ext>
            </a:extLst>
          </p:cNvPr>
          <p:cNvSpPr txBox="1"/>
          <p:nvPr/>
        </p:nvSpPr>
        <p:spPr>
          <a:xfrm>
            <a:off x="3328161" y="5151685"/>
            <a:ext cx="723433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200" b="1">
                <a:solidFill>
                  <a:srgbClr val="1D1D1D"/>
                </a:solidFill>
                <a:cs typeface="Arial" panose="020B0604020202020204" pitchFamily="34" charset="0"/>
              </a:rPr>
              <a:t>What are we solving for?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D1D1D"/>
                </a:solidFill>
                <a:cs typeface="Arial" panose="020B0604020202020204" pitchFamily="34" charset="0"/>
              </a:rPr>
              <a:t>Which of the identified execution risks can be mitigated?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D1D1D"/>
                </a:solidFill>
                <a:cs typeface="Arial" panose="020B0604020202020204" pitchFamily="34" charset="0"/>
              </a:rPr>
              <a:t>What should be prioritized?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B0D42D-2C8E-2A4A-870C-76D162561D2A}"/>
              </a:ext>
            </a:extLst>
          </p:cNvPr>
          <p:cNvGrpSpPr/>
          <p:nvPr/>
        </p:nvGrpSpPr>
        <p:grpSpPr>
          <a:xfrm>
            <a:off x="3328161" y="6198319"/>
            <a:ext cx="7999116" cy="512099"/>
            <a:chOff x="3643979" y="5849121"/>
            <a:chExt cx="5205099" cy="51209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8D83C10-F4A1-5458-F083-DDAC53084FF6}"/>
                </a:ext>
              </a:extLst>
            </p:cNvPr>
            <p:cNvSpPr/>
            <p:nvPr/>
          </p:nvSpPr>
          <p:spPr>
            <a:xfrm>
              <a:off x="3643979" y="5849121"/>
              <a:ext cx="5205099" cy="512099"/>
            </a:xfrm>
            <a:prstGeom prst="rect">
              <a:avLst/>
            </a:prstGeom>
            <a:solidFill>
              <a:srgbClr val="F2F2F2"/>
            </a:solidFill>
          </p:spPr>
          <p:txBody>
            <a:bodyPr vert="horz" lIns="54864" tIns="54864" rIns="45720" bIns="36576" rtlCol="0" anchor="ctr" anchorCtr="0">
              <a:noAutofit/>
            </a:bodyPr>
            <a:lstStyle/>
            <a:p>
              <a:pPr indent="0" algn="ctr" defTabSz="173736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tabLst>
                  <a:tab pos="173736" algn="l"/>
                  <a:tab pos="347472" algn="l"/>
                  <a:tab pos="521208" algn="l"/>
                  <a:tab pos="694944" algn="l"/>
                </a:tabLst>
              </a:pPr>
              <a:endParaRPr lang="en-US" sz="1600" err="1">
                <a:solidFill>
                  <a:srgbClr val="281A4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F6D3BD-813B-13C7-89AA-E4BC6BA4143C}"/>
                </a:ext>
              </a:extLst>
            </p:cNvPr>
            <p:cNvSpPr txBox="1"/>
            <p:nvPr/>
          </p:nvSpPr>
          <p:spPr>
            <a:xfrm>
              <a:off x="3643979" y="5886829"/>
              <a:ext cx="4424982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1D1D1D"/>
                  </a:solidFill>
                  <a:ea typeface="Lato" panose="020F0502020204030203" pitchFamily="34" charset="0"/>
                  <a:cs typeface="Arial" panose="020B0604020202020204" pitchFamily="34" charset="0"/>
                </a:rPr>
                <a:t>Talent, Org, and Role Centric, ensuring inclusion of actions outside the incumbent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1D1D1D"/>
                  </a:solidFill>
                  <a:ea typeface="Lato" panose="020F0502020204030203" pitchFamily="34" charset="0"/>
                  <a:cs typeface="Arial" panose="020B0604020202020204" pitchFamily="34" charset="0"/>
                </a:rPr>
                <a:t>Get alignment and commitment on the plans</a:t>
              </a:r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744C9FD7-C29D-5DA9-B0C1-A5404CC750B2}"/>
              </a:ext>
            </a:extLst>
          </p:cNvPr>
          <p:cNvSpPr/>
          <p:nvPr/>
        </p:nvSpPr>
        <p:spPr>
          <a:xfrm>
            <a:off x="864722" y="4240730"/>
            <a:ext cx="2126741" cy="512099"/>
          </a:xfrm>
          <a:custGeom>
            <a:avLst/>
            <a:gdLst>
              <a:gd name="connsiteX0" fmla="*/ 0 w 2507723"/>
              <a:gd name="connsiteY0" fmla="*/ 71959 h 719594"/>
              <a:gd name="connsiteX1" fmla="*/ 71959 w 2507723"/>
              <a:gd name="connsiteY1" fmla="*/ 0 h 719594"/>
              <a:gd name="connsiteX2" fmla="*/ 2435764 w 2507723"/>
              <a:gd name="connsiteY2" fmla="*/ 0 h 719594"/>
              <a:gd name="connsiteX3" fmla="*/ 2507723 w 2507723"/>
              <a:gd name="connsiteY3" fmla="*/ 71959 h 719594"/>
              <a:gd name="connsiteX4" fmla="*/ 2507723 w 2507723"/>
              <a:gd name="connsiteY4" fmla="*/ 647635 h 719594"/>
              <a:gd name="connsiteX5" fmla="*/ 2435764 w 2507723"/>
              <a:gd name="connsiteY5" fmla="*/ 719594 h 719594"/>
              <a:gd name="connsiteX6" fmla="*/ 71959 w 2507723"/>
              <a:gd name="connsiteY6" fmla="*/ 719594 h 719594"/>
              <a:gd name="connsiteX7" fmla="*/ 0 w 2507723"/>
              <a:gd name="connsiteY7" fmla="*/ 647635 h 719594"/>
              <a:gd name="connsiteX8" fmla="*/ 0 w 2507723"/>
              <a:gd name="connsiteY8" fmla="*/ 71959 h 71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723" h="719594">
                <a:moveTo>
                  <a:pt x="0" y="71959"/>
                </a:moveTo>
                <a:cubicBezTo>
                  <a:pt x="0" y="32217"/>
                  <a:pt x="32217" y="0"/>
                  <a:pt x="71959" y="0"/>
                </a:cubicBezTo>
                <a:lnTo>
                  <a:pt x="2435764" y="0"/>
                </a:lnTo>
                <a:cubicBezTo>
                  <a:pt x="2475506" y="0"/>
                  <a:pt x="2507723" y="32217"/>
                  <a:pt x="2507723" y="71959"/>
                </a:cubicBezTo>
                <a:lnTo>
                  <a:pt x="2507723" y="647635"/>
                </a:lnTo>
                <a:cubicBezTo>
                  <a:pt x="2507723" y="687377"/>
                  <a:pt x="2475506" y="719594"/>
                  <a:pt x="2435764" y="719594"/>
                </a:cubicBezTo>
                <a:lnTo>
                  <a:pt x="71959" y="719594"/>
                </a:lnTo>
                <a:cubicBezTo>
                  <a:pt x="32217" y="719594"/>
                  <a:pt x="0" y="687377"/>
                  <a:pt x="0" y="647635"/>
                </a:cubicBezTo>
                <a:lnTo>
                  <a:pt x="0" y="7195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0606" tIns="70606" rIns="70606" bIns="7060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/>
              <a:t>Assess Talent Readiness and Role Talent Match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BA9C03D-5388-072E-88A1-D28A727C77D6}"/>
              </a:ext>
            </a:extLst>
          </p:cNvPr>
          <p:cNvSpPr/>
          <p:nvPr/>
        </p:nvSpPr>
        <p:spPr>
          <a:xfrm>
            <a:off x="1821892" y="1980570"/>
            <a:ext cx="182880" cy="182880"/>
          </a:xfrm>
          <a:custGeom>
            <a:avLst/>
            <a:gdLst>
              <a:gd name="connsiteX0" fmla="*/ 0 w 269848"/>
              <a:gd name="connsiteY0" fmla="*/ 64763 h 323817"/>
              <a:gd name="connsiteX1" fmla="*/ 134924 w 269848"/>
              <a:gd name="connsiteY1" fmla="*/ 64763 h 323817"/>
              <a:gd name="connsiteX2" fmla="*/ 134924 w 269848"/>
              <a:gd name="connsiteY2" fmla="*/ 0 h 323817"/>
              <a:gd name="connsiteX3" fmla="*/ 269848 w 269848"/>
              <a:gd name="connsiteY3" fmla="*/ 161909 h 323817"/>
              <a:gd name="connsiteX4" fmla="*/ 134924 w 269848"/>
              <a:gd name="connsiteY4" fmla="*/ 323817 h 323817"/>
              <a:gd name="connsiteX5" fmla="*/ 134924 w 269848"/>
              <a:gd name="connsiteY5" fmla="*/ 259054 h 323817"/>
              <a:gd name="connsiteX6" fmla="*/ 0 w 269848"/>
              <a:gd name="connsiteY6" fmla="*/ 259054 h 323817"/>
              <a:gd name="connsiteX7" fmla="*/ 0 w 269848"/>
              <a:gd name="connsiteY7" fmla="*/ 64763 h 32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48" h="323817">
                <a:moveTo>
                  <a:pt x="215878" y="1"/>
                </a:moveTo>
                <a:lnTo>
                  <a:pt x="215878" y="161909"/>
                </a:lnTo>
                <a:lnTo>
                  <a:pt x="269848" y="161909"/>
                </a:lnTo>
                <a:lnTo>
                  <a:pt x="134924" y="323816"/>
                </a:lnTo>
                <a:lnTo>
                  <a:pt x="0" y="161909"/>
                </a:lnTo>
                <a:lnTo>
                  <a:pt x="53970" y="161909"/>
                </a:lnTo>
                <a:lnTo>
                  <a:pt x="53970" y="1"/>
                </a:lnTo>
                <a:lnTo>
                  <a:pt x="215878" y="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764" tIns="0" rIns="64763" bIns="80955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100" kern="12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E3FBEB39-C9FC-10E4-C1DD-D10FAAA6735D}"/>
              </a:ext>
            </a:extLst>
          </p:cNvPr>
          <p:cNvSpPr/>
          <p:nvPr/>
        </p:nvSpPr>
        <p:spPr>
          <a:xfrm>
            <a:off x="1821892" y="3159866"/>
            <a:ext cx="182880" cy="182880"/>
          </a:xfrm>
          <a:custGeom>
            <a:avLst/>
            <a:gdLst>
              <a:gd name="connsiteX0" fmla="*/ 0 w 269848"/>
              <a:gd name="connsiteY0" fmla="*/ 64763 h 323817"/>
              <a:gd name="connsiteX1" fmla="*/ 134924 w 269848"/>
              <a:gd name="connsiteY1" fmla="*/ 64763 h 323817"/>
              <a:gd name="connsiteX2" fmla="*/ 134924 w 269848"/>
              <a:gd name="connsiteY2" fmla="*/ 0 h 323817"/>
              <a:gd name="connsiteX3" fmla="*/ 269848 w 269848"/>
              <a:gd name="connsiteY3" fmla="*/ 161909 h 323817"/>
              <a:gd name="connsiteX4" fmla="*/ 134924 w 269848"/>
              <a:gd name="connsiteY4" fmla="*/ 323817 h 323817"/>
              <a:gd name="connsiteX5" fmla="*/ 134924 w 269848"/>
              <a:gd name="connsiteY5" fmla="*/ 259054 h 323817"/>
              <a:gd name="connsiteX6" fmla="*/ 0 w 269848"/>
              <a:gd name="connsiteY6" fmla="*/ 259054 h 323817"/>
              <a:gd name="connsiteX7" fmla="*/ 0 w 269848"/>
              <a:gd name="connsiteY7" fmla="*/ 64763 h 32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48" h="323817">
                <a:moveTo>
                  <a:pt x="215878" y="1"/>
                </a:moveTo>
                <a:lnTo>
                  <a:pt x="215878" y="161909"/>
                </a:lnTo>
                <a:lnTo>
                  <a:pt x="269848" y="161909"/>
                </a:lnTo>
                <a:lnTo>
                  <a:pt x="134924" y="323816"/>
                </a:lnTo>
                <a:lnTo>
                  <a:pt x="0" y="161909"/>
                </a:lnTo>
                <a:lnTo>
                  <a:pt x="53970" y="161909"/>
                </a:lnTo>
                <a:lnTo>
                  <a:pt x="53970" y="1"/>
                </a:lnTo>
                <a:lnTo>
                  <a:pt x="215878" y="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764" tIns="0" rIns="64763" bIns="80955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100" kern="12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65239F9E-A63B-866D-656E-7D4AD84813F9}"/>
              </a:ext>
            </a:extLst>
          </p:cNvPr>
          <p:cNvSpPr/>
          <p:nvPr/>
        </p:nvSpPr>
        <p:spPr>
          <a:xfrm>
            <a:off x="1821892" y="3981700"/>
            <a:ext cx="182880" cy="182880"/>
          </a:xfrm>
          <a:custGeom>
            <a:avLst/>
            <a:gdLst>
              <a:gd name="connsiteX0" fmla="*/ 0 w 269848"/>
              <a:gd name="connsiteY0" fmla="*/ 64763 h 323817"/>
              <a:gd name="connsiteX1" fmla="*/ 134924 w 269848"/>
              <a:gd name="connsiteY1" fmla="*/ 64763 h 323817"/>
              <a:gd name="connsiteX2" fmla="*/ 134924 w 269848"/>
              <a:gd name="connsiteY2" fmla="*/ 0 h 323817"/>
              <a:gd name="connsiteX3" fmla="*/ 269848 w 269848"/>
              <a:gd name="connsiteY3" fmla="*/ 161909 h 323817"/>
              <a:gd name="connsiteX4" fmla="*/ 134924 w 269848"/>
              <a:gd name="connsiteY4" fmla="*/ 323817 h 323817"/>
              <a:gd name="connsiteX5" fmla="*/ 134924 w 269848"/>
              <a:gd name="connsiteY5" fmla="*/ 259054 h 323817"/>
              <a:gd name="connsiteX6" fmla="*/ 0 w 269848"/>
              <a:gd name="connsiteY6" fmla="*/ 259054 h 323817"/>
              <a:gd name="connsiteX7" fmla="*/ 0 w 269848"/>
              <a:gd name="connsiteY7" fmla="*/ 64763 h 32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48" h="323817">
                <a:moveTo>
                  <a:pt x="215878" y="1"/>
                </a:moveTo>
                <a:lnTo>
                  <a:pt x="215878" y="161909"/>
                </a:lnTo>
                <a:lnTo>
                  <a:pt x="269848" y="161909"/>
                </a:lnTo>
                <a:lnTo>
                  <a:pt x="134924" y="323816"/>
                </a:lnTo>
                <a:lnTo>
                  <a:pt x="0" y="161909"/>
                </a:lnTo>
                <a:lnTo>
                  <a:pt x="53970" y="161909"/>
                </a:lnTo>
                <a:lnTo>
                  <a:pt x="53970" y="1"/>
                </a:lnTo>
                <a:lnTo>
                  <a:pt x="215878" y="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764" tIns="0" rIns="64763" bIns="80955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100" kern="12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D37E69DC-CCA4-F2B1-FCB7-04BEC887D270}"/>
              </a:ext>
            </a:extLst>
          </p:cNvPr>
          <p:cNvSpPr/>
          <p:nvPr/>
        </p:nvSpPr>
        <p:spPr>
          <a:xfrm>
            <a:off x="1821892" y="4839601"/>
            <a:ext cx="182880" cy="182880"/>
          </a:xfrm>
          <a:custGeom>
            <a:avLst/>
            <a:gdLst>
              <a:gd name="connsiteX0" fmla="*/ 0 w 269848"/>
              <a:gd name="connsiteY0" fmla="*/ 64763 h 323817"/>
              <a:gd name="connsiteX1" fmla="*/ 134924 w 269848"/>
              <a:gd name="connsiteY1" fmla="*/ 64763 h 323817"/>
              <a:gd name="connsiteX2" fmla="*/ 134924 w 269848"/>
              <a:gd name="connsiteY2" fmla="*/ 0 h 323817"/>
              <a:gd name="connsiteX3" fmla="*/ 269848 w 269848"/>
              <a:gd name="connsiteY3" fmla="*/ 161909 h 323817"/>
              <a:gd name="connsiteX4" fmla="*/ 134924 w 269848"/>
              <a:gd name="connsiteY4" fmla="*/ 323817 h 323817"/>
              <a:gd name="connsiteX5" fmla="*/ 134924 w 269848"/>
              <a:gd name="connsiteY5" fmla="*/ 259054 h 323817"/>
              <a:gd name="connsiteX6" fmla="*/ 0 w 269848"/>
              <a:gd name="connsiteY6" fmla="*/ 259054 h 323817"/>
              <a:gd name="connsiteX7" fmla="*/ 0 w 269848"/>
              <a:gd name="connsiteY7" fmla="*/ 64763 h 32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48" h="323817">
                <a:moveTo>
                  <a:pt x="215878" y="1"/>
                </a:moveTo>
                <a:lnTo>
                  <a:pt x="215878" y="161909"/>
                </a:lnTo>
                <a:lnTo>
                  <a:pt x="269848" y="161909"/>
                </a:lnTo>
                <a:lnTo>
                  <a:pt x="134924" y="323816"/>
                </a:lnTo>
                <a:lnTo>
                  <a:pt x="0" y="161909"/>
                </a:lnTo>
                <a:lnTo>
                  <a:pt x="53970" y="161909"/>
                </a:lnTo>
                <a:lnTo>
                  <a:pt x="53970" y="1"/>
                </a:lnTo>
                <a:lnTo>
                  <a:pt x="215878" y="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764" tIns="0" rIns="64763" bIns="80955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100" kern="12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7ABFF506-4710-CA27-7EE0-F4BD1386B0AC}"/>
              </a:ext>
            </a:extLst>
          </p:cNvPr>
          <p:cNvSpPr/>
          <p:nvPr/>
        </p:nvSpPr>
        <p:spPr>
          <a:xfrm>
            <a:off x="1821892" y="5951744"/>
            <a:ext cx="182880" cy="182880"/>
          </a:xfrm>
          <a:custGeom>
            <a:avLst/>
            <a:gdLst>
              <a:gd name="connsiteX0" fmla="*/ 0 w 269848"/>
              <a:gd name="connsiteY0" fmla="*/ 64763 h 323817"/>
              <a:gd name="connsiteX1" fmla="*/ 134924 w 269848"/>
              <a:gd name="connsiteY1" fmla="*/ 64763 h 323817"/>
              <a:gd name="connsiteX2" fmla="*/ 134924 w 269848"/>
              <a:gd name="connsiteY2" fmla="*/ 0 h 323817"/>
              <a:gd name="connsiteX3" fmla="*/ 269848 w 269848"/>
              <a:gd name="connsiteY3" fmla="*/ 161909 h 323817"/>
              <a:gd name="connsiteX4" fmla="*/ 134924 w 269848"/>
              <a:gd name="connsiteY4" fmla="*/ 323817 h 323817"/>
              <a:gd name="connsiteX5" fmla="*/ 134924 w 269848"/>
              <a:gd name="connsiteY5" fmla="*/ 259054 h 323817"/>
              <a:gd name="connsiteX6" fmla="*/ 0 w 269848"/>
              <a:gd name="connsiteY6" fmla="*/ 259054 h 323817"/>
              <a:gd name="connsiteX7" fmla="*/ 0 w 269848"/>
              <a:gd name="connsiteY7" fmla="*/ 64763 h 32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48" h="323817">
                <a:moveTo>
                  <a:pt x="215878" y="1"/>
                </a:moveTo>
                <a:lnTo>
                  <a:pt x="215878" y="161909"/>
                </a:lnTo>
                <a:lnTo>
                  <a:pt x="269848" y="161909"/>
                </a:lnTo>
                <a:lnTo>
                  <a:pt x="134924" y="323816"/>
                </a:lnTo>
                <a:lnTo>
                  <a:pt x="0" y="161909"/>
                </a:lnTo>
                <a:lnTo>
                  <a:pt x="53970" y="161909"/>
                </a:lnTo>
                <a:lnTo>
                  <a:pt x="53970" y="1"/>
                </a:lnTo>
                <a:lnTo>
                  <a:pt x="215878" y="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764" tIns="0" rIns="64763" bIns="80955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100" kern="1200"/>
          </a:p>
        </p:txBody>
      </p:sp>
      <p:sp>
        <p:nvSpPr>
          <p:cNvPr id="4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D099A34-EA94-4621-8CD7-042BA24FC522}" type="slidenum">
              <a:r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0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Object 244" hidden="1">
            <a:extLst>
              <a:ext uri="{FF2B5EF4-FFF2-40B4-BE49-F238E27FC236}">
                <a16:creationId xmlns:a16="http://schemas.microsoft.com/office/drawing/2014/main" id="{4F5E7E7C-1852-7348-141D-9B4F135224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0" imgH="310" progId="TCLayout.ActiveDocument.1">
                  <p:embed/>
                </p:oleObj>
              </mc:Choice>
              <mc:Fallback>
                <p:oleObj name="think-cell Slide" r:id="rId4" imgW="300" imgH="310" progId="TCLayout.ActiveDocument.1">
                  <p:embed/>
                  <p:pic>
                    <p:nvPicPr>
                      <p:cNvPr id="245" name="Object 244" hidden="1">
                        <a:extLst>
                          <a:ext uri="{FF2B5EF4-FFF2-40B4-BE49-F238E27FC236}">
                            <a16:creationId xmlns:a16="http://schemas.microsoft.com/office/drawing/2014/main" id="{4F5E7E7C-1852-7348-141D-9B4F135224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>
                        <a:duotone>
                          <a:srgbClr val="765FFF"/>
                          <a:srgbClr val="FFFFFF"/>
                        </a:duotone>
                      </a:blip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Google Shape;96;p3">
            <a:extLst>
              <a:ext uri="{FF2B5EF4-FFF2-40B4-BE49-F238E27FC236}">
                <a16:creationId xmlns:a16="http://schemas.microsoft.com/office/drawing/2014/main" id="{7C962025-2950-EF04-E6A5-ED8A536F5B46}"/>
              </a:ext>
            </a:extLst>
          </p:cNvPr>
          <p:cNvSpPr/>
          <p:nvPr/>
        </p:nvSpPr>
        <p:spPr>
          <a:xfrm>
            <a:off x="429419" y="5628710"/>
            <a:ext cx="5622636" cy="814190"/>
          </a:xfrm>
          <a:prstGeom prst="roundRect">
            <a:avLst>
              <a:gd name="adj" fmla="val 78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algn="ctr" defTabSz="457200">
              <a:buClr>
                <a:srgbClr val="FFFFFF"/>
              </a:buClr>
              <a:buSzPts val="4800"/>
            </a:pPr>
            <a:endParaRPr sz="2400" kern="0" spc="-10">
              <a:solidFill>
                <a:srgbClr val="1D1D1D"/>
              </a:solidFill>
              <a:latin typeface="Arial" pitchFamily="34" charset="0"/>
              <a:ea typeface="Lato"/>
              <a:cs typeface="Lato"/>
              <a:sym typeface="Lato"/>
            </a:endParaRPr>
          </a:p>
        </p:txBody>
      </p:sp>
      <p:sp>
        <p:nvSpPr>
          <p:cNvPr id="8" name="Google Shape;61;p3">
            <a:extLst>
              <a:ext uri="{FF2B5EF4-FFF2-40B4-BE49-F238E27FC236}">
                <a16:creationId xmlns:a16="http://schemas.microsoft.com/office/drawing/2014/main" id="{BD0D5E00-336F-2DA4-8750-9ABBD0E38835}"/>
              </a:ext>
            </a:extLst>
          </p:cNvPr>
          <p:cNvSpPr txBox="1"/>
          <p:nvPr/>
        </p:nvSpPr>
        <p:spPr>
          <a:xfrm>
            <a:off x="441607" y="1075477"/>
            <a:ext cx="7256503" cy="32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22850" rIns="22850" bIns="22850" anchor="b" anchorCtr="0">
            <a:spAutoFit/>
          </a:bodyPr>
          <a:lstStyle/>
          <a:p>
            <a:pPr defTabSz="457200">
              <a:buClr>
                <a:srgbClr val="765FFF"/>
              </a:buClr>
              <a:buSzPts val="2400"/>
            </a:pPr>
            <a:r>
              <a:rPr lang="en-US" b="1" kern="0" spc="-25" dirty="0">
                <a:solidFill>
                  <a:srgbClr val="765FFF"/>
                </a:solidFill>
                <a:latin typeface="Segoe UI" pitchFamily="34" charset="0"/>
                <a:ea typeface="Lato"/>
                <a:cs typeface="Lato"/>
                <a:sym typeface="Lato"/>
              </a:rPr>
              <a:t>Jobs to Be Done</a:t>
            </a:r>
            <a:endParaRPr b="1" kern="0" spc="-25" dirty="0">
              <a:solidFill>
                <a:srgbClr val="1D1D1D"/>
              </a:solidFill>
              <a:latin typeface="Segoe UI" pitchFamily="34" charset="0"/>
              <a:cs typeface="Arial"/>
              <a:sym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2E7690-D6CC-4CA5-8DEE-11A4E1FF24E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i="0" u="none" strike="noStrike" cap="none" spc="-25" dirty="0">
                <a:solidFill>
                  <a:srgbClr val="1D1D1D"/>
                </a:solidFill>
                <a:latin typeface="Segoe UI" pitchFamily="34" charset="0"/>
                <a:ea typeface="Lato"/>
                <a:cs typeface="Lato"/>
                <a:sym typeface="Lato"/>
              </a:rPr>
              <a:t>VP Sales, Category A US</a:t>
            </a:r>
            <a:endParaRPr lang="en-US" b="1" spc="-25" dirty="0">
              <a:solidFill>
                <a:srgbClr val="765FFF"/>
              </a:solidFill>
              <a:latin typeface="Segoe UI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F63757-3770-70B6-233B-240478D719F7}"/>
              </a:ext>
            </a:extLst>
          </p:cNvPr>
          <p:cNvGrpSpPr/>
          <p:nvPr/>
        </p:nvGrpSpPr>
        <p:grpSpPr>
          <a:xfrm>
            <a:off x="429738" y="1437432"/>
            <a:ext cx="11331726" cy="679222"/>
            <a:chOff x="859476" y="3523045"/>
            <a:chExt cx="22663452" cy="1584000"/>
          </a:xfrm>
        </p:grpSpPr>
        <p:sp>
          <p:nvSpPr>
            <p:cNvPr id="234" name="Google Shape;68;p3">
              <a:extLst>
                <a:ext uri="{FF2B5EF4-FFF2-40B4-BE49-F238E27FC236}">
                  <a16:creationId xmlns:a16="http://schemas.microsoft.com/office/drawing/2014/main" id="{9BBD9D7A-6958-3A4D-3BE2-53D00D3BEF2C}"/>
                </a:ext>
              </a:extLst>
            </p:cNvPr>
            <p:cNvSpPr/>
            <p:nvPr/>
          </p:nvSpPr>
          <p:spPr>
            <a:xfrm>
              <a:off x="859476" y="3523045"/>
              <a:ext cx="22663452" cy="1584000"/>
            </a:xfrm>
            <a:prstGeom prst="roundRect">
              <a:avLst>
                <a:gd name="adj" fmla="val 76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algn="ctr" defTabSz="457200">
                <a:buClr>
                  <a:srgbClr val="FFFFFF"/>
                </a:buClr>
                <a:buSzPts val="4800"/>
              </a:pPr>
              <a:endParaRPr sz="2400" kern="0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238" name="Google Shape;70;p3">
              <a:extLst>
                <a:ext uri="{FF2B5EF4-FFF2-40B4-BE49-F238E27FC236}">
                  <a16:creationId xmlns:a16="http://schemas.microsoft.com/office/drawing/2014/main" id="{E84ED1CE-1A4D-0354-678E-782536DA44BF}"/>
                </a:ext>
              </a:extLst>
            </p:cNvPr>
            <p:cNvSpPr txBox="1"/>
            <p:nvPr/>
          </p:nvSpPr>
          <p:spPr>
            <a:xfrm>
              <a:off x="1599658" y="4144318"/>
              <a:ext cx="1756898" cy="807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00C27A"/>
                </a:buClr>
                <a:buSzPts val="4500"/>
              </a:pPr>
              <a:r>
                <a:rPr lang="en-US" sz="2250" kern="0" spc="-10" dirty="0">
                  <a:solidFill>
                    <a:srgbClr val="1D1D1D"/>
                  </a:solidFill>
                  <a:latin typeface="Arial" pitchFamily="34" charset="0"/>
                  <a:ea typeface="Lato"/>
                  <a:cs typeface="Lato"/>
                  <a:sym typeface="Lato"/>
                </a:rPr>
                <a:t>30%</a:t>
              </a:r>
            </a:p>
          </p:txBody>
        </p:sp>
        <p:sp>
          <p:nvSpPr>
            <p:cNvPr id="239" name="Google Shape;71;p3">
              <a:extLst>
                <a:ext uri="{FF2B5EF4-FFF2-40B4-BE49-F238E27FC236}">
                  <a16:creationId xmlns:a16="http://schemas.microsoft.com/office/drawing/2014/main" id="{C18D68E1-98B2-2A75-66F4-81461EAAEDAD}"/>
                </a:ext>
              </a:extLst>
            </p:cNvPr>
            <p:cNvSpPr txBox="1"/>
            <p:nvPr/>
          </p:nvSpPr>
          <p:spPr>
            <a:xfrm>
              <a:off x="1599660" y="3850439"/>
              <a:ext cx="1174268" cy="287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3B3B3B"/>
                </a:buClr>
                <a:buSzPts val="1600"/>
              </a:pPr>
              <a:r>
                <a:rPr lang="en-US" sz="800" b="1" kern="0" spc="-10">
                  <a:solidFill>
                    <a:srgbClr val="1D1D1D"/>
                  </a:solidFill>
                  <a:latin typeface="Segoe UI" pitchFamily="34" charset="0"/>
                  <a:ea typeface="Lato"/>
                  <a:cs typeface="Lato"/>
                  <a:sym typeface="Lato"/>
                </a:rPr>
                <a:t>JTBD 1</a:t>
              </a:r>
              <a:endParaRPr lang="en-US" sz="8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6EBEDD9-3906-7DF7-D125-030482F7E474}"/>
                </a:ext>
              </a:extLst>
            </p:cNvPr>
            <p:cNvCxnSpPr>
              <a:cxnSpLocks/>
            </p:cNvCxnSpPr>
            <p:nvPr/>
          </p:nvCxnSpPr>
          <p:spPr>
            <a:xfrm>
              <a:off x="3529032" y="3616805"/>
              <a:ext cx="0" cy="1396481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BF2AF252-3215-BFED-C5A6-D5FD2D56B670}"/>
                </a:ext>
              </a:extLst>
            </p:cNvPr>
            <p:cNvSpPr txBox="1"/>
            <p:nvPr/>
          </p:nvSpPr>
          <p:spPr>
            <a:xfrm>
              <a:off x="3876696" y="3616804"/>
              <a:ext cx="19320864" cy="96897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b="1" kern="0" spc="-10" dirty="0">
                  <a:solidFill>
                    <a:srgbClr val="1D1D1D"/>
                  </a:solidFill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Expand into new verticals to move from a restaurant brand to an “everywhere” brand</a:t>
              </a:r>
            </a:p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kern="0" spc="-10" dirty="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Outcome: From 75% restaurant business today to 50/50 split in 3 years, and 25% QSR / 75% FSR/NC in 10 years 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 dirty="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Expand from a QSR only focus to build capabilities in FSR and Non-Commercial business (e.g. Aramark, Sodexo, Hospitals, Universities, Military)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E829BF-A790-7E61-F04A-CCDA3BA51DD5}"/>
              </a:ext>
            </a:extLst>
          </p:cNvPr>
          <p:cNvGrpSpPr/>
          <p:nvPr/>
        </p:nvGrpSpPr>
        <p:grpSpPr>
          <a:xfrm>
            <a:off x="429738" y="2184842"/>
            <a:ext cx="11331726" cy="679222"/>
            <a:chOff x="859476" y="5269907"/>
            <a:chExt cx="22663452" cy="1584000"/>
          </a:xfrm>
        </p:grpSpPr>
        <p:sp>
          <p:nvSpPr>
            <p:cNvPr id="228" name="Google Shape;68;p3">
              <a:extLst>
                <a:ext uri="{FF2B5EF4-FFF2-40B4-BE49-F238E27FC236}">
                  <a16:creationId xmlns:a16="http://schemas.microsoft.com/office/drawing/2014/main" id="{F6716232-D121-E32D-9C71-FA800B8CB486}"/>
                </a:ext>
              </a:extLst>
            </p:cNvPr>
            <p:cNvSpPr/>
            <p:nvPr/>
          </p:nvSpPr>
          <p:spPr>
            <a:xfrm>
              <a:off x="859476" y="5269907"/>
              <a:ext cx="22663452" cy="1584000"/>
            </a:xfrm>
            <a:prstGeom prst="roundRect">
              <a:avLst>
                <a:gd name="adj" fmla="val 76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algn="ctr" defTabSz="457200">
                <a:buClr>
                  <a:srgbClr val="FFFFFF"/>
                </a:buClr>
                <a:buSzPts val="4800"/>
              </a:pPr>
              <a:endParaRPr sz="2400" kern="0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70;p3">
              <a:extLst>
                <a:ext uri="{FF2B5EF4-FFF2-40B4-BE49-F238E27FC236}">
                  <a16:creationId xmlns:a16="http://schemas.microsoft.com/office/drawing/2014/main" id="{6ACE02A7-B095-DACC-3993-52794304AE96}"/>
                </a:ext>
              </a:extLst>
            </p:cNvPr>
            <p:cNvSpPr txBox="1"/>
            <p:nvPr/>
          </p:nvSpPr>
          <p:spPr>
            <a:xfrm>
              <a:off x="1599658" y="5891180"/>
              <a:ext cx="1756898" cy="807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00C27A"/>
                </a:buClr>
                <a:buSzPts val="4500"/>
              </a:pPr>
              <a:r>
                <a:rPr lang="en-US" sz="2250" kern="0" spc="-10">
                  <a:solidFill>
                    <a:srgbClr val="1D1D1D"/>
                  </a:solidFill>
                  <a:latin typeface="Arial" pitchFamily="34" charset="0"/>
                  <a:ea typeface="Lato"/>
                  <a:cs typeface="Lato"/>
                  <a:sym typeface="Lato"/>
                </a:rPr>
                <a:t>15%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sp>
          <p:nvSpPr>
            <p:cNvPr id="233" name="Google Shape;71;p3">
              <a:extLst>
                <a:ext uri="{FF2B5EF4-FFF2-40B4-BE49-F238E27FC236}">
                  <a16:creationId xmlns:a16="http://schemas.microsoft.com/office/drawing/2014/main" id="{41D62135-8FE2-6CE9-86EC-3B4E58CC069C}"/>
                </a:ext>
              </a:extLst>
            </p:cNvPr>
            <p:cNvSpPr txBox="1"/>
            <p:nvPr/>
          </p:nvSpPr>
          <p:spPr>
            <a:xfrm>
              <a:off x="1599660" y="5597301"/>
              <a:ext cx="1174268" cy="287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3B3B3B"/>
                </a:buClr>
                <a:buSzPts val="1600"/>
              </a:pPr>
              <a:r>
                <a:rPr lang="en-US" sz="800" b="1" kern="0" spc="-10">
                  <a:solidFill>
                    <a:srgbClr val="1D1D1D"/>
                  </a:solidFill>
                  <a:latin typeface="Segoe UI" pitchFamily="34" charset="0"/>
                  <a:ea typeface="Lato"/>
                  <a:cs typeface="Lato"/>
                  <a:sym typeface="Lato"/>
                </a:rPr>
                <a:t>JTBD 2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ECB7C301-5C7E-B1C1-953D-C8618BB21988}"/>
                </a:ext>
              </a:extLst>
            </p:cNvPr>
            <p:cNvCxnSpPr>
              <a:cxnSpLocks/>
            </p:cNvCxnSpPr>
            <p:nvPr/>
          </p:nvCxnSpPr>
          <p:spPr>
            <a:xfrm>
              <a:off x="3529032" y="5363667"/>
              <a:ext cx="0" cy="1396481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F31AC01-536F-6085-792E-23413D14A8A2}"/>
                </a:ext>
              </a:extLst>
            </p:cNvPr>
            <p:cNvSpPr txBox="1"/>
            <p:nvPr/>
          </p:nvSpPr>
          <p:spPr>
            <a:xfrm>
              <a:off x="3876696" y="5363666"/>
              <a:ext cx="19320864" cy="129196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b="1" kern="0" spc="-10">
                  <a:solidFill>
                    <a:srgbClr val="1D1D1D"/>
                  </a:solidFill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Innovation: launch, implement and execute across the market</a:t>
              </a:r>
            </a:p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Outcome: Increase innovation as a % of total sales from 0.5% today to 5% in 3 years by ensuring that the Category A team 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Rebuilds the muscle for innovation execution and strategic alignment with customers 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Expand points of distribution in time to launch innovation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1C6A99E-B4E5-8CEF-BBB0-D049B08F546B}"/>
              </a:ext>
            </a:extLst>
          </p:cNvPr>
          <p:cNvGrpSpPr/>
          <p:nvPr/>
        </p:nvGrpSpPr>
        <p:grpSpPr>
          <a:xfrm>
            <a:off x="429738" y="2932254"/>
            <a:ext cx="11331726" cy="703634"/>
            <a:chOff x="859476" y="7016769"/>
            <a:chExt cx="22663452" cy="1640930"/>
          </a:xfrm>
        </p:grpSpPr>
        <p:sp>
          <p:nvSpPr>
            <p:cNvPr id="29" name="Google Shape;68;p3">
              <a:extLst>
                <a:ext uri="{FF2B5EF4-FFF2-40B4-BE49-F238E27FC236}">
                  <a16:creationId xmlns:a16="http://schemas.microsoft.com/office/drawing/2014/main" id="{903794C7-458C-8A57-0C7E-2B4E449EF0CF}"/>
                </a:ext>
              </a:extLst>
            </p:cNvPr>
            <p:cNvSpPr/>
            <p:nvPr/>
          </p:nvSpPr>
          <p:spPr>
            <a:xfrm>
              <a:off x="859476" y="7016769"/>
              <a:ext cx="22663452" cy="1584000"/>
            </a:xfrm>
            <a:prstGeom prst="roundRect">
              <a:avLst>
                <a:gd name="adj" fmla="val 76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algn="ctr" defTabSz="457200">
                <a:buClr>
                  <a:srgbClr val="FFFFFF"/>
                </a:buClr>
                <a:buSzPts val="4800"/>
              </a:pPr>
              <a:endParaRPr sz="2400" kern="0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226" name="Google Shape;70;p3">
              <a:extLst>
                <a:ext uri="{FF2B5EF4-FFF2-40B4-BE49-F238E27FC236}">
                  <a16:creationId xmlns:a16="http://schemas.microsoft.com/office/drawing/2014/main" id="{19775F48-031D-F3D5-2156-D048E5E693AC}"/>
                </a:ext>
              </a:extLst>
            </p:cNvPr>
            <p:cNvSpPr txBox="1"/>
            <p:nvPr/>
          </p:nvSpPr>
          <p:spPr>
            <a:xfrm>
              <a:off x="1599658" y="7561823"/>
              <a:ext cx="1756898" cy="807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00C27A"/>
                </a:buClr>
                <a:buSzPts val="4500"/>
              </a:pPr>
              <a:r>
                <a:rPr lang="en-US" sz="2250" kern="0" spc="-10">
                  <a:solidFill>
                    <a:srgbClr val="1D1D1D"/>
                  </a:solidFill>
                  <a:latin typeface="Arial" pitchFamily="34" charset="0"/>
                  <a:ea typeface="Lato"/>
                  <a:cs typeface="Lato"/>
                  <a:sym typeface="Lato"/>
                </a:rPr>
                <a:t>20%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sp>
          <p:nvSpPr>
            <p:cNvPr id="227" name="Google Shape;71;p3">
              <a:extLst>
                <a:ext uri="{FF2B5EF4-FFF2-40B4-BE49-F238E27FC236}">
                  <a16:creationId xmlns:a16="http://schemas.microsoft.com/office/drawing/2014/main" id="{8CE37BCC-FA53-87CE-026C-9478498DEB76}"/>
                </a:ext>
              </a:extLst>
            </p:cNvPr>
            <p:cNvSpPr txBox="1"/>
            <p:nvPr/>
          </p:nvSpPr>
          <p:spPr>
            <a:xfrm>
              <a:off x="1599660" y="7294657"/>
              <a:ext cx="1174268" cy="287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3B3B3B"/>
                </a:buClr>
                <a:buSzPts val="1600"/>
              </a:pPr>
              <a:r>
                <a:rPr lang="en-US" sz="800" b="1" kern="0" spc="-10">
                  <a:solidFill>
                    <a:srgbClr val="1D1D1D"/>
                  </a:solidFill>
                  <a:latin typeface="Segoe UI" pitchFamily="34" charset="0"/>
                  <a:ea typeface="Lato"/>
                  <a:cs typeface="Lato"/>
                  <a:sym typeface="Lato"/>
                </a:rPr>
                <a:t>JTBD 3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7B5D589-E0BD-A2B3-DCAE-929206786F13}"/>
                </a:ext>
              </a:extLst>
            </p:cNvPr>
            <p:cNvCxnSpPr>
              <a:cxnSpLocks/>
            </p:cNvCxnSpPr>
            <p:nvPr/>
          </p:nvCxnSpPr>
          <p:spPr>
            <a:xfrm>
              <a:off x="3529032" y="7116272"/>
              <a:ext cx="0" cy="1269528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1B091A0-48E0-7E68-6873-3FD9673FB522}"/>
                </a:ext>
              </a:extLst>
            </p:cNvPr>
            <p:cNvSpPr txBox="1"/>
            <p:nvPr/>
          </p:nvSpPr>
          <p:spPr>
            <a:xfrm>
              <a:off x="3876696" y="7042741"/>
              <a:ext cx="19320864" cy="161495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b="1" kern="0" spc="-10">
                  <a:solidFill>
                    <a:srgbClr val="1D1D1D"/>
                  </a:solidFill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Win the Street</a:t>
              </a:r>
            </a:p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Outcome: Regain lost share in independents (2 points)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Create strong street share plans with national distributors (strong JBPs with large, multi-national customers, </a:t>
              </a:r>
              <a:r>
                <a:rPr lang="en-US" sz="900" kern="0" spc="-10" err="1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e.g</a:t>
              </a: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, Sysco)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Work on PPA with revenue management and marketing teams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Build relationships with brokers (135); ensure execution of plan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065D47-CEAF-B6AA-F977-2A107CD79541}"/>
              </a:ext>
            </a:extLst>
          </p:cNvPr>
          <p:cNvGrpSpPr/>
          <p:nvPr/>
        </p:nvGrpSpPr>
        <p:grpSpPr>
          <a:xfrm>
            <a:off x="429738" y="3679662"/>
            <a:ext cx="11331726" cy="679222"/>
            <a:chOff x="859476" y="8763633"/>
            <a:chExt cx="22663452" cy="1584000"/>
          </a:xfrm>
        </p:grpSpPr>
        <p:sp>
          <p:nvSpPr>
            <p:cNvPr id="23" name="Google Shape;68;p3">
              <a:extLst>
                <a:ext uri="{FF2B5EF4-FFF2-40B4-BE49-F238E27FC236}">
                  <a16:creationId xmlns:a16="http://schemas.microsoft.com/office/drawing/2014/main" id="{79F1EF3A-CD33-4C14-00E7-A0E80FD88ED6}"/>
                </a:ext>
              </a:extLst>
            </p:cNvPr>
            <p:cNvSpPr/>
            <p:nvPr/>
          </p:nvSpPr>
          <p:spPr>
            <a:xfrm>
              <a:off x="859476" y="8763633"/>
              <a:ext cx="22663452" cy="1584000"/>
            </a:xfrm>
            <a:prstGeom prst="roundRect">
              <a:avLst>
                <a:gd name="adj" fmla="val 76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algn="ctr" defTabSz="457200">
                <a:buClr>
                  <a:srgbClr val="FFFFFF"/>
                </a:buClr>
                <a:buSzPts val="4800"/>
              </a:pPr>
              <a:endParaRPr sz="2400" kern="0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27" name="Google Shape;70;p3">
              <a:extLst>
                <a:ext uri="{FF2B5EF4-FFF2-40B4-BE49-F238E27FC236}">
                  <a16:creationId xmlns:a16="http://schemas.microsoft.com/office/drawing/2014/main" id="{D6994422-DE82-25DB-1147-C9DCC825A171}"/>
                </a:ext>
              </a:extLst>
            </p:cNvPr>
            <p:cNvSpPr txBox="1"/>
            <p:nvPr/>
          </p:nvSpPr>
          <p:spPr>
            <a:xfrm>
              <a:off x="1599658" y="9366420"/>
              <a:ext cx="1756898" cy="807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00C27A"/>
                </a:buClr>
                <a:buSzPts val="4500"/>
              </a:pPr>
              <a:r>
                <a:rPr lang="en-US" sz="2250" kern="0" spc="-10">
                  <a:solidFill>
                    <a:srgbClr val="1D1D1D"/>
                  </a:solidFill>
                  <a:latin typeface="Arial" pitchFamily="34" charset="0"/>
                  <a:ea typeface="Lato"/>
                  <a:cs typeface="Lato"/>
                  <a:sym typeface="Lato"/>
                </a:rPr>
                <a:t>15%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sp>
          <p:nvSpPr>
            <p:cNvPr id="28" name="Google Shape;71;p3">
              <a:extLst>
                <a:ext uri="{FF2B5EF4-FFF2-40B4-BE49-F238E27FC236}">
                  <a16:creationId xmlns:a16="http://schemas.microsoft.com/office/drawing/2014/main" id="{FD460597-01FD-F129-1750-946E9C8AE992}"/>
                </a:ext>
              </a:extLst>
            </p:cNvPr>
            <p:cNvSpPr txBox="1"/>
            <p:nvPr/>
          </p:nvSpPr>
          <p:spPr>
            <a:xfrm>
              <a:off x="1599660" y="9084376"/>
              <a:ext cx="1174268" cy="287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3B3B3B"/>
                </a:buClr>
                <a:buSzPts val="1600"/>
              </a:pPr>
              <a:r>
                <a:rPr lang="en-US" sz="800" b="1" kern="0" spc="-10">
                  <a:solidFill>
                    <a:srgbClr val="1D1D1D"/>
                  </a:solidFill>
                  <a:latin typeface="Segoe UI" pitchFamily="34" charset="0"/>
                  <a:ea typeface="Lato"/>
                  <a:cs typeface="Lato"/>
                  <a:sym typeface="Lato"/>
                </a:rPr>
                <a:t>JTBD 4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63441B6-8A64-1BEF-145C-D47FACAADB51}"/>
                </a:ext>
              </a:extLst>
            </p:cNvPr>
            <p:cNvCxnSpPr>
              <a:cxnSpLocks/>
            </p:cNvCxnSpPr>
            <p:nvPr/>
          </p:nvCxnSpPr>
          <p:spPr>
            <a:xfrm>
              <a:off x="3529032" y="8920869"/>
              <a:ext cx="0" cy="1269528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5273CE-5182-6036-A3C7-5A7B457B742C}"/>
                </a:ext>
              </a:extLst>
            </p:cNvPr>
            <p:cNvSpPr txBox="1"/>
            <p:nvPr/>
          </p:nvSpPr>
          <p:spPr>
            <a:xfrm>
              <a:off x="3876696" y="8920869"/>
              <a:ext cx="19320864" cy="129196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b="1" kern="0" spc="-10">
                  <a:solidFill>
                    <a:srgbClr val="1D1D1D"/>
                  </a:solidFill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Scale with North American customers globally</a:t>
              </a:r>
            </a:p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Outcome: Double our business across 6 global customers from $500M to to $1 billion globally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Lead the customer relationships in NA and build JBP’s for customer expansion globally </a:t>
              </a:r>
            </a:p>
            <a:p>
              <a:pPr marL="90000" indent="-90000" defTabSz="1463040">
                <a:buClr>
                  <a:srgbClr val="1D1D1D"/>
                </a:buClr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Ensure internal alignment with markets outside the US  to serve the customers seamlessly</a:t>
              </a:r>
            </a:p>
          </p:txBody>
        </p:sp>
      </p:grpSp>
      <p:sp>
        <p:nvSpPr>
          <p:cNvPr id="14" name="Google Shape;61;p3">
            <a:extLst>
              <a:ext uri="{FF2B5EF4-FFF2-40B4-BE49-F238E27FC236}">
                <a16:creationId xmlns:a16="http://schemas.microsoft.com/office/drawing/2014/main" id="{AF016048-7D5D-F2AC-0BBA-1DC4FF761B17}"/>
              </a:ext>
            </a:extLst>
          </p:cNvPr>
          <p:cNvSpPr txBox="1"/>
          <p:nvPr/>
        </p:nvSpPr>
        <p:spPr>
          <a:xfrm>
            <a:off x="429419" y="5359026"/>
            <a:ext cx="7083027" cy="2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22850" rIns="22850" bIns="22850" anchor="b" anchorCtr="0">
            <a:spAutoFit/>
          </a:bodyPr>
          <a:lstStyle/>
          <a:p>
            <a:pPr defTabSz="457200">
              <a:buClr>
                <a:srgbClr val="765FFF"/>
              </a:buClr>
              <a:buSzPts val="2400"/>
            </a:pPr>
            <a:r>
              <a:rPr lang="en-US" sz="1200" b="1" kern="0" spc="-10">
                <a:solidFill>
                  <a:srgbClr val="765FFF"/>
                </a:solidFill>
                <a:latin typeface="Segoe UI" pitchFamily="34" charset="0"/>
                <a:ea typeface="Lato"/>
                <a:cs typeface="Lato"/>
                <a:sym typeface="Lato"/>
              </a:rPr>
              <a:t>Superpowers</a:t>
            </a:r>
            <a:endParaRPr sz="700" kern="0" spc="-10">
              <a:solidFill>
                <a:srgbClr val="1D1D1D"/>
              </a:solidFill>
              <a:latin typeface="Arial" pitchFamily="34" charset="0"/>
              <a:cs typeface="Arial"/>
              <a:sym typeface="Arial"/>
            </a:endParaRPr>
          </a:p>
        </p:txBody>
      </p:sp>
      <p:sp>
        <p:nvSpPr>
          <p:cNvPr id="21" name="Google Shape;97;p3">
            <a:extLst>
              <a:ext uri="{FF2B5EF4-FFF2-40B4-BE49-F238E27FC236}">
                <a16:creationId xmlns:a16="http://schemas.microsoft.com/office/drawing/2014/main" id="{12C56F33-E638-C2FA-B631-F7EDBFC3E271}"/>
              </a:ext>
            </a:extLst>
          </p:cNvPr>
          <p:cNvSpPr txBox="1"/>
          <p:nvPr/>
        </p:nvSpPr>
        <p:spPr>
          <a:xfrm>
            <a:off x="605351" y="5897306"/>
            <a:ext cx="52728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457200">
              <a:buClr>
                <a:srgbClr val="3B3B3B"/>
              </a:buClr>
              <a:buSzPts val="1600"/>
            </a:pPr>
            <a:r>
              <a:rPr lang="en-US" b="1" kern="0" spc="-10" dirty="0">
                <a:solidFill>
                  <a:srgbClr val="1D1D1D">
                    <a:lumMod val="75000"/>
                    <a:lumOff val="25000"/>
                  </a:srgbClr>
                </a:solidFill>
                <a:latin typeface="Segoe UI" pitchFamily="34" charset="0"/>
                <a:ea typeface="Lato"/>
                <a:cs typeface="Lato"/>
                <a:sym typeface="Lato"/>
              </a:rPr>
              <a:t>SP1</a:t>
            </a:r>
            <a:endParaRPr b="1" kern="0" spc="-10" dirty="0">
              <a:solidFill>
                <a:srgbClr val="1D1D1D">
                  <a:lumMod val="75000"/>
                  <a:lumOff val="25000"/>
                </a:srgbClr>
              </a:solidFill>
              <a:latin typeface="Segoe UI" pitchFamily="34" charset="0"/>
              <a:ea typeface="Lato"/>
              <a:cs typeface="Lato"/>
              <a:sym typeface="Arial"/>
            </a:endParaRPr>
          </a:p>
        </p:txBody>
      </p:sp>
      <p:sp>
        <p:nvSpPr>
          <p:cNvPr id="22" name="Google Shape;98;p3">
            <a:extLst>
              <a:ext uri="{FF2B5EF4-FFF2-40B4-BE49-F238E27FC236}">
                <a16:creationId xmlns:a16="http://schemas.microsoft.com/office/drawing/2014/main" id="{7DC2F9A3-4A0A-B1F5-B6A0-D58AA29C1AF8}"/>
              </a:ext>
            </a:extLst>
          </p:cNvPr>
          <p:cNvSpPr/>
          <p:nvPr/>
        </p:nvSpPr>
        <p:spPr>
          <a:xfrm>
            <a:off x="1132640" y="5881917"/>
            <a:ext cx="4743484" cy="461665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1463040">
              <a:defRPr/>
            </a:pPr>
            <a:r>
              <a:rPr lang="en-US" sz="1000" kern="0" spc="-10" dirty="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rPr>
              <a:t>Proven ability to deliver a food service business in a multi stakeholder, matrixed environment where you must drive collaboration at pace without positional authority.</a:t>
            </a:r>
          </a:p>
        </p:txBody>
      </p:sp>
      <p:sp>
        <p:nvSpPr>
          <p:cNvPr id="18" name="Google Shape;96;p3">
            <a:extLst>
              <a:ext uri="{FF2B5EF4-FFF2-40B4-BE49-F238E27FC236}">
                <a16:creationId xmlns:a16="http://schemas.microsoft.com/office/drawing/2014/main" id="{DC2C64A0-C41C-3751-1930-9BD92D5D226A}"/>
              </a:ext>
            </a:extLst>
          </p:cNvPr>
          <p:cNvSpPr/>
          <p:nvPr/>
        </p:nvSpPr>
        <p:spPr>
          <a:xfrm>
            <a:off x="6242133" y="5628710"/>
            <a:ext cx="5519655" cy="814190"/>
          </a:xfrm>
          <a:prstGeom prst="roundRect">
            <a:avLst>
              <a:gd name="adj" fmla="val 78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algn="ctr" defTabSz="457200">
              <a:buClr>
                <a:srgbClr val="FFFFFF"/>
              </a:buClr>
              <a:buSzPts val="4800"/>
            </a:pPr>
            <a:endParaRPr sz="2400" kern="0" spc="-10">
              <a:solidFill>
                <a:srgbClr val="1D1D1D"/>
              </a:solidFill>
              <a:latin typeface="Arial" pitchFamily="34" charset="0"/>
              <a:ea typeface="Lato"/>
              <a:cs typeface="Lato"/>
              <a:sym typeface="Lato"/>
            </a:endParaRP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EBF9636-B74E-98B8-B032-057A56A1F997}"/>
              </a:ext>
            </a:extLst>
          </p:cNvPr>
          <p:cNvGrpSpPr/>
          <p:nvPr/>
        </p:nvGrpSpPr>
        <p:grpSpPr>
          <a:xfrm>
            <a:off x="6383929" y="5881917"/>
            <a:ext cx="5236063" cy="307777"/>
            <a:chOff x="12656162" y="11763834"/>
            <a:chExt cx="10472126" cy="615554"/>
          </a:xfrm>
        </p:grpSpPr>
        <p:sp>
          <p:nvSpPr>
            <p:cNvPr id="19" name="Google Shape;98;p3">
              <a:extLst>
                <a:ext uri="{FF2B5EF4-FFF2-40B4-BE49-F238E27FC236}">
                  <a16:creationId xmlns:a16="http://schemas.microsoft.com/office/drawing/2014/main" id="{2FB6DADE-6895-F9EC-C9D5-CEBB3EBAC881}"/>
                </a:ext>
              </a:extLst>
            </p:cNvPr>
            <p:cNvSpPr/>
            <p:nvPr/>
          </p:nvSpPr>
          <p:spPr>
            <a:xfrm>
              <a:off x="13641636" y="11763834"/>
              <a:ext cx="9486652" cy="615554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1463040">
                <a:defRPr/>
              </a:pPr>
              <a:r>
                <a:rPr lang="en-US" sz="1000" kern="0" spc="-10">
                  <a:solidFill>
                    <a:srgbClr val="1D1D1D"/>
                  </a:solidFill>
                  <a:latin typeface="Arial" pitchFamily="34" charset="0"/>
                  <a:cs typeface="Arial"/>
                  <a:sym typeface="Arial"/>
                </a:rPr>
                <a:t>Exceptional track record of building  organizational capability to future proof a business</a:t>
              </a:r>
            </a:p>
          </p:txBody>
        </p:sp>
        <p:sp>
          <p:nvSpPr>
            <p:cNvPr id="17" name="Google Shape;97;p3">
              <a:extLst>
                <a:ext uri="{FF2B5EF4-FFF2-40B4-BE49-F238E27FC236}">
                  <a16:creationId xmlns:a16="http://schemas.microsoft.com/office/drawing/2014/main" id="{E4F48A66-6A96-0583-5B9C-98E36D28337F}"/>
                </a:ext>
              </a:extLst>
            </p:cNvPr>
            <p:cNvSpPr txBox="1"/>
            <p:nvPr/>
          </p:nvSpPr>
          <p:spPr>
            <a:xfrm>
              <a:off x="12656162" y="11794612"/>
              <a:ext cx="1054578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3B3B3B"/>
                </a:buClr>
                <a:buSzPts val="1600"/>
              </a:pPr>
              <a:r>
                <a:rPr lang="en-US" b="1" kern="0" spc="-10" dirty="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Lato"/>
                  <a:cs typeface="Lato"/>
                  <a:sym typeface="Lato"/>
                </a:rPr>
                <a:t>SP2</a:t>
              </a:r>
              <a:endParaRPr b="1" kern="0" spc="-10" dirty="0">
                <a:solidFill>
                  <a:srgbClr val="1D1D1D">
                    <a:lumMod val="75000"/>
                    <a:lumOff val="25000"/>
                  </a:srgbClr>
                </a:solidFill>
                <a:latin typeface="Segoe UI" pitchFamily="34" charset="0"/>
                <a:ea typeface="Lato"/>
                <a:cs typeface="Lato"/>
                <a:sym typeface="Arial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3A5E2C-7692-9C75-D38D-FFA821575F5D}"/>
              </a:ext>
            </a:extLst>
          </p:cNvPr>
          <p:cNvGrpSpPr/>
          <p:nvPr/>
        </p:nvGrpSpPr>
        <p:grpSpPr>
          <a:xfrm>
            <a:off x="429738" y="4439400"/>
            <a:ext cx="11331726" cy="679222"/>
            <a:chOff x="859476" y="8763633"/>
            <a:chExt cx="22663452" cy="1584000"/>
          </a:xfrm>
        </p:grpSpPr>
        <p:sp>
          <p:nvSpPr>
            <p:cNvPr id="12" name="Google Shape;68;p3">
              <a:extLst>
                <a:ext uri="{FF2B5EF4-FFF2-40B4-BE49-F238E27FC236}">
                  <a16:creationId xmlns:a16="http://schemas.microsoft.com/office/drawing/2014/main" id="{4B8E1350-F012-2E97-3294-07F9EE4756F5}"/>
                </a:ext>
              </a:extLst>
            </p:cNvPr>
            <p:cNvSpPr/>
            <p:nvPr/>
          </p:nvSpPr>
          <p:spPr>
            <a:xfrm>
              <a:off x="859476" y="8763633"/>
              <a:ext cx="22663452" cy="1584000"/>
            </a:xfrm>
            <a:prstGeom prst="roundRect">
              <a:avLst>
                <a:gd name="adj" fmla="val 76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algn="ctr" defTabSz="457200">
                <a:buClr>
                  <a:srgbClr val="FFFFFF"/>
                </a:buClr>
                <a:buSzPts val="4800"/>
              </a:pPr>
              <a:endParaRPr sz="2400" kern="0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70;p3">
              <a:extLst>
                <a:ext uri="{FF2B5EF4-FFF2-40B4-BE49-F238E27FC236}">
                  <a16:creationId xmlns:a16="http://schemas.microsoft.com/office/drawing/2014/main" id="{8735AC8F-B187-BC56-E54E-5A5B12F93868}"/>
                </a:ext>
              </a:extLst>
            </p:cNvPr>
            <p:cNvSpPr txBox="1"/>
            <p:nvPr/>
          </p:nvSpPr>
          <p:spPr>
            <a:xfrm>
              <a:off x="1599658" y="9366420"/>
              <a:ext cx="1756898" cy="807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00C27A"/>
                </a:buClr>
                <a:buSzPts val="4500"/>
              </a:pPr>
              <a:r>
                <a:rPr lang="en-US" sz="2250" kern="0" spc="-10">
                  <a:solidFill>
                    <a:srgbClr val="1D1D1D"/>
                  </a:solidFill>
                  <a:latin typeface="Arial" pitchFamily="34" charset="0"/>
                  <a:ea typeface="Lato"/>
                  <a:cs typeface="Lato"/>
                  <a:sym typeface="Lato"/>
                </a:rPr>
                <a:t>20%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sp>
          <p:nvSpPr>
            <p:cNvPr id="16" name="Google Shape;71;p3">
              <a:extLst>
                <a:ext uri="{FF2B5EF4-FFF2-40B4-BE49-F238E27FC236}">
                  <a16:creationId xmlns:a16="http://schemas.microsoft.com/office/drawing/2014/main" id="{E394947C-047C-5FEE-CBDC-5B880AAC6270}"/>
                </a:ext>
              </a:extLst>
            </p:cNvPr>
            <p:cNvSpPr txBox="1"/>
            <p:nvPr/>
          </p:nvSpPr>
          <p:spPr>
            <a:xfrm>
              <a:off x="1599660" y="9084376"/>
              <a:ext cx="1174268" cy="287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defTabSz="457200">
                <a:buClr>
                  <a:srgbClr val="3B3B3B"/>
                </a:buClr>
                <a:buSzPts val="1600"/>
              </a:pPr>
              <a:r>
                <a:rPr lang="en-US" sz="800" b="1" kern="0" spc="-10">
                  <a:solidFill>
                    <a:srgbClr val="1D1D1D"/>
                  </a:solidFill>
                  <a:latin typeface="Segoe UI" pitchFamily="34" charset="0"/>
                  <a:ea typeface="Lato"/>
                  <a:cs typeface="Lato"/>
                  <a:sym typeface="Lato"/>
                </a:rPr>
                <a:t>JTBD 4</a:t>
              </a:r>
              <a:endParaRPr sz="700" kern="0" spc="-10">
                <a:solidFill>
                  <a:srgbClr val="1D1D1D"/>
                </a:solidFill>
                <a:latin typeface="Arial" pitchFamily="34" charset="0"/>
                <a:cs typeface="Arial"/>
                <a:sym typeface="Arial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F6B06D-60F8-E476-222A-163A3370E50F}"/>
                </a:ext>
              </a:extLst>
            </p:cNvPr>
            <p:cNvCxnSpPr>
              <a:cxnSpLocks/>
            </p:cNvCxnSpPr>
            <p:nvPr/>
          </p:nvCxnSpPr>
          <p:spPr>
            <a:xfrm>
              <a:off x="3529032" y="8920869"/>
              <a:ext cx="0" cy="1269528"/>
            </a:xfrm>
            <a:prstGeom prst="line">
              <a:avLst/>
            </a:prstGeom>
            <a:ln>
              <a:solidFill>
                <a:srgbClr val="281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80E6680-B3C3-C93A-7F34-AA483255C628}"/>
                </a:ext>
              </a:extLst>
            </p:cNvPr>
            <p:cNvSpPr txBox="1"/>
            <p:nvPr/>
          </p:nvSpPr>
          <p:spPr>
            <a:xfrm>
              <a:off x="3876696" y="8920869"/>
              <a:ext cx="19320864" cy="129196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defTabSz="1463040">
                <a:defRPr>
                  <a:solidFill>
                    <a:srgbClr val="1D1D1D"/>
                  </a:solidFill>
                </a:defRPr>
              </a:pPr>
              <a:r>
                <a:rPr lang="en-US" sz="900" b="1" kern="0" spc="-10">
                  <a:solidFill>
                    <a:srgbClr val="1D1D1D"/>
                  </a:solidFill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Build fit-for-purpose talent and capabilities for Category A in the sales teams to deliver high growth plans</a:t>
              </a:r>
            </a:p>
            <a:p>
              <a:pPr marL="90000" indent="-90000" defTabSz="1463040"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More feet on the street to deliver incremental $1.2 billion NSV</a:t>
              </a:r>
            </a:p>
            <a:p>
              <a:pPr marL="90000" indent="-90000" defTabSz="1463040"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With new capabilities to launch and execute innovations as well as serve growth in FSR’s and non-commercial businesses </a:t>
              </a:r>
            </a:p>
            <a:p>
              <a:pPr marL="90000" indent="-90000" defTabSz="1463040">
                <a:buFont typeface="Arial" panose="020B0604020202020204" pitchFamily="34" charset="0"/>
                <a:buChar char="•"/>
                <a:defRPr>
                  <a:solidFill>
                    <a:srgbClr val="1D1D1D"/>
                  </a:solidFill>
                </a:defRPr>
              </a:pPr>
              <a:r>
                <a:rPr lang="en-US" sz="900" kern="0" spc="-10">
                  <a:solidFill>
                    <a:srgbClr val="1D1D1D"/>
                  </a:solidFill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Deliver capability for growth in both internal teams and in broker organizations</a:t>
              </a:r>
            </a:p>
          </p:txBody>
        </p:sp>
      </p:grpSp>
      <p:sp>
        <p:nvSpPr>
          <p:cNvPr id="25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74A7153C-14C2-42F3-B4C3-F4ADB55D0C2B}" type="slidenum"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F438B-2823-5F71-67EF-2E7CD423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Number"/>
          <p:cNvSpPr>
            <a:spLocks noGrp="1"/>
          </p:cNvSpPr>
          <p:nvPr>
            <p:ph type="sldNum" sz="quarter" idx="10"/>
          </p:nvPr>
        </p:nvSpPr>
        <p:spPr/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A5EB9C55-3037-4627-A967-4540F6E88F42}" type="slidenum">
              <a:rPr lang="en-US"/>
              <a:pPr/>
              <a:t>8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EBBAF1-173B-B204-2177-13666AB6E10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Evolving Succession Planning through Talent to Value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1D6896F-1EEC-09BA-AAD9-C6582BB90B3E}"/>
              </a:ext>
            </a:extLst>
          </p:cNvPr>
          <p:cNvGrpSpPr/>
          <p:nvPr/>
        </p:nvGrpSpPr>
        <p:grpSpPr>
          <a:xfrm>
            <a:off x="917458" y="4148001"/>
            <a:ext cx="10296015" cy="923645"/>
            <a:chOff x="1509796" y="3383841"/>
            <a:chExt cx="7139147" cy="692734"/>
          </a:xfrm>
        </p:grpSpPr>
        <p:sp>
          <p:nvSpPr>
            <p:cNvPr id="64" name="Rounded Rectangle 48">
              <a:extLst>
                <a:ext uri="{FF2B5EF4-FFF2-40B4-BE49-F238E27FC236}">
                  <a16:creationId xmlns:a16="http://schemas.microsoft.com/office/drawing/2014/main" id="{8E40605A-A651-00EE-E4CE-942348F235B1}"/>
                </a:ext>
              </a:extLst>
            </p:cNvPr>
            <p:cNvSpPr/>
            <p:nvPr/>
          </p:nvSpPr>
          <p:spPr>
            <a:xfrm>
              <a:off x="1509796" y="3383841"/>
              <a:ext cx="1724652" cy="692734"/>
            </a:xfrm>
            <a:prstGeom prst="roundRect">
              <a:avLst/>
            </a:prstGeom>
            <a:solidFill>
              <a:srgbClr val="D0D7D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333" b="0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Anchored in </a:t>
              </a:r>
            </a:p>
            <a:p>
              <a:pPr marL="0" marR="0" lvl="0" indent="0" algn="ct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Jobs to be Done</a:t>
              </a:r>
            </a:p>
          </p:txBody>
        </p:sp>
        <p:sp>
          <p:nvSpPr>
            <p:cNvPr id="65" name="Rounded Rectangle 49">
              <a:extLst>
                <a:ext uri="{FF2B5EF4-FFF2-40B4-BE49-F238E27FC236}">
                  <a16:creationId xmlns:a16="http://schemas.microsoft.com/office/drawing/2014/main" id="{F8976126-FE53-70FB-A004-B3680F1CDBAC}"/>
                </a:ext>
              </a:extLst>
            </p:cNvPr>
            <p:cNvSpPr/>
            <p:nvPr/>
          </p:nvSpPr>
          <p:spPr>
            <a:xfrm>
              <a:off x="3343860" y="3383841"/>
              <a:ext cx="1701407" cy="692734"/>
            </a:xfrm>
            <a:prstGeom prst="roundRect">
              <a:avLst/>
            </a:prstGeom>
            <a:solidFill>
              <a:srgbClr val="D0D7D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Externally Validated </a:t>
              </a:r>
              <a:r>
                <a:rPr kumimoji="0" lang="en-US" sz="1333" b="0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Assessment</a:t>
              </a:r>
            </a:p>
          </p:txBody>
        </p:sp>
        <p:sp>
          <p:nvSpPr>
            <p:cNvPr id="66" name="Rounded Rectangle 50">
              <a:extLst>
                <a:ext uri="{FF2B5EF4-FFF2-40B4-BE49-F238E27FC236}">
                  <a16:creationId xmlns:a16="http://schemas.microsoft.com/office/drawing/2014/main" id="{A89FC85C-DB86-80A2-5DFB-1833820F8068}"/>
                </a:ext>
              </a:extLst>
            </p:cNvPr>
            <p:cNvSpPr/>
            <p:nvPr/>
          </p:nvSpPr>
          <p:spPr>
            <a:xfrm>
              <a:off x="5154680" y="3383841"/>
              <a:ext cx="1701407" cy="692734"/>
            </a:xfrm>
            <a:prstGeom prst="roundRect">
              <a:avLst/>
            </a:prstGeom>
            <a:solidFill>
              <a:srgbClr val="D0D7D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333" b="0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Succession</a:t>
              </a:r>
              <a: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b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Mobilization Plans</a:t>
              </a:r>
            </a:p>
          </p:txBody>
        </p:sp>
        <p:sp>
          <p:nvSpPr>
            <p:cNvPr id="67" name="Rounded Rectangle 51">
              <a:extLst>
                <a:ext uri="{FF2B5EF4-FFF2-40B4-BE49-F238E27FC236}">
                  <a16:creationId xmlns:a16="http://schemas.microsoft.com/office/drawing/2014/main" id="{077444E0-F943-9B36-6BD9-063F0221D32A}"/>
                </a:ext>
              </a:extLst>
            </p:cNvPr>
            <p:cNvSpPr/>
            <p:nvPr/>
          </p:nvSpPr>
          <p:spPr>
            <a:xfrm>
              <a:off x="6962053" y="3383841"/>
              <a:ext cx="1686890" cy="692734"/>
            </a:xfrm>
            <a:prstGeom prst="roundRect">
              <a:avLst/>
            </a:prstGeom>
            <a:solidFill>
              <a:srgbClr val="D0D7D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12191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Continuous </a:t>
              </a:r>
              <a:br>
                <a:rPr kumimoji="0" lang="en-US" sz="1333" b="1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kumimoji="0" lang="en-US" sz="1333" b="0" i="0" u="none" strike="noStrike" kern="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Succession Readiness</a:t>
              </a:r>
              <a:endParaRPr kumimoji="0" lang="en-US" sz="1333" b="0" i="0" u="none" strike="noStrike" kern="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69" name="Left Bracket 68">
            <a:extLst>
              <a:ext uri="{FF2B5EF4-FFF2-40B4-BE49-F238E27FC236}">
                <a16:creationId xmlns:a16="http://schemas.microsoft.com/office/drawing/2014/main" id="{0B6F7FFB-F883-FE20-AB45-9A810E17BF5F}"/>
              </a:ext>
            </a:extLst>
          </p:cNvPr>
          <p:cNvSpPr/>
          <p:nvPr/>
        </p:nvSpPr>
        <p:spPr>
          <a:xfrm rot="16200000">
            <a:off x="5959409" y="81959"/>
            <a:ext cx="199528" cy="10283428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latin typeface="Segoe UI" pitchFamily="34" charset="0"/>
              </a:defRPr>
            </a:pPr>
            <a:endParaRPr kumimoji="0" lang="en-US" sz="1800" b="1" i="0" u="none" strike="noStrike" kern="1200" cap="none" spc="-25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5F028CF-B736-39C9-C7FB-892FF9DF7395}"/>
              </a:ext>
            </a:extLst>
          </p:cNvPr>
          <p:cNvSpPr/>
          <p:nvPr/>
        </p:nvSpPr>
        <p:spPr>
          <a:xfrm>
            <a:off x="4701766" y="5205388"/>
            <a:ext cx="2788468" cy="19952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Points of Departure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6277177-F301-CBA2-82F4-6A105353942C}"/>
              </a:ext>
            </a:extLst>
          </p:cNvPr>
          <p:cNvGrpSpPr/>
          <p:nvPr/>
        </p:nvGrpSpPr>
        <p:grpSpPr>
          <a:xfrm>
            <a:off x="930045" y="1619340"/>
            <a:ext cx="10682753" cy="2380468"/>
            <a:chOff x="930045" y="1619340"/>
            <a:chExt cx="10682753" cy="238046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61E176D-F2BD-AA4F-304D-21CB89CC2D70}"/>
                </a:ext>
              </a:extLst>
            </p:cNvPr>
            <p:cNvGrpSpPr/>
            <p:nvPr/>
          </p:nvGrpSpPr>
          <p:grpSpPr>
            <a:xfrm>
              <a:off x="930045" y="1619340"/>
              <a:ext cx="10682753" cy="2380468"/>
              <a:chOff x="626400" y="1424486"/>
              <a:chExt cx="7283696" cy="1475497"/>
            </a:xfrm>
          </p:grpSpPr>
          <p:sp>
            <p:nvSpPr>
              <p:cNvPr id="47" name="Arrow: Pentagon 46">
                <a:extLst>
                  <a:ext uri="{FF2B5EF4-FFF2-40B4-BE49-F238E27FC236}">
                    <a16:creationId xmlns:a16="http://schemas.microsoft.com/office/drawing/2014/main" id="{A323880D-CD2A-B993-EB2F-D7ECF869B002}"/>
                  </a:ext>
                </a:extLst>
              </p:cNvPr>
              <p:cNvSpPr/>
              <p:nvPr/>
            </p:nvSpPr>
            <p:spPr>
              <a:xfrm>
                <a:off x="633268" y="1424487"/>
                <a:ext cx="1945282" cy="537035"/>
              </a:xfrm>
              <a:prstGeom prst="homePlate">
                <a:avLst/>
              </a:prstGeom>
              <a:solidFill>
                <a:srgbClr val="765FFF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>
                    <a:solidFill>
                      <a:srgbClr val="FFFFFF"/>
                    </a:solidFill>
                  </a:defRPr>
                </a:pPr>
                <a: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  <a:t>/List</a:t>
                </a:r>
                <a:b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anose="020B0604020202020204" pitchFamily="34" charset="0"/>
                  </a:rPr>
                  <a:t>Critical</a:t>
                </a:r>
                <a: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anose="020B0604020202020204" pitchFamily="34" charset="0"/>
                  </a:rPr>
                  <a:t>Roles for Succession</a:t>
                </a:r>
              </a:p>
            </p:txBody>
          </p:sp>
          <p:sp>
            <p:nvSpPr>
              <p:cNvPr id="48" name="Arrow: Chevron 47">
                <a:extLst>
                  <a:ext uri="{FF2B5EF4-FFF2-40B4-BE49-F238E27FC236}">
                    <a16:creationId xmlns:a16="http://schemas.microsoft.com/office/drawing/2014/main" id="{682CD22F-B9F8-CB43-BD37-41540DA66909}"/>
                  </a:ext>
                </a:extLst>
              </p:cNvPr>
              <p:cNvSpPr/>
              <p:nvPr/>
            </p:nvSpPr>
            <p:spPr>
              <a:xfrm>
                <a:off x="2408161" y="1424487"/>
                <a:ext cx="1945282" cy="537035"/>
              </a:xfrm>
              <a:prstGeom prst="chevron">
                <a:avLst/>
              </a:prstGeom>
              <a:solidFill>
                <a:srgbClr val="765FFF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>
                    <a:solidFill>
                      <a:srgbClr val="FFFFFF"/>
                    </a:solidFill>
                  </a:defRPr>
                </a:pPr>
                <a: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  <a:t>/Click  </a:t>
                </a:r>
                <a:b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anose="020B0604020202020204" pitchFamily="34" charset="0"/>
                  </a:rPr>
                  <a:t>Succession Readiness</a:t>
                </a:r>
              </a:p>
            </p:txBody>
          </p:sp>
          <p:sp>
            <p:nvSpPr>
              <p:cNvPr id="49" name="Arrow: Chevron 48">
                <a:extLst>
                  <a:ext uri="{FF2B5EF4-FFF2-40B4-BE49-F238E27FC236}">
                    <a16:creationId xmlns:a16="http://schemas.microsoft.com/office/drawing/2014/main" id="{37EDB3FD-653A-5BD0-BF84-492D3EA08F34}"/>
                  </a:ext>
                </a:extLst>
              </p:cNvPr>
              <p:cNvSpPr/>
              <p:nvPr/>
            </p:nvSpPr>
            <p:spPr>
              <a:xfrm>
                <a:off x="4189923" y="1424486"/>
                <a:ext cx="1945282" cy="537035"/>
              </a:xfrm>
              <a:prstGeom prst="chevron">
                <a:avLst/>
              </a:prstGeom>
              <a:solidFill>
                <a:srgbClr val="765FFF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>
                    <a:solidFill>
                      <a:srgbClr val="FFFFFF"/>
                    </a:solidFill>
                  </a:defRPr>
                </a:pPr>
                <a:r>
                  <a:rPr kumimoji="0" lang="en-US" sz="14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  <a:t>Enabling</a:t>
                </a:r>
                <a:br>
                  <a:rPr kumimoji="0" lang="en-US" sz="14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400" b="0" i="0" u="none" strike="noStrike" kern="0" cap="none" spc="-1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anose="020B0604020202020204" pitchFamily="34" charset="0"/>
                  </a:rPr>
                  <a:t>Succession Readines</a:t>
                </a:r>
                <a:r>
                  <a:rPr kumimoji="0" lang="en-US" sz="14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  <a:t>s</a:t>
                </a:r>
                <a:endParaRPr kumimoji="0" lang="en-US" sz="1400" b="0" i="0" u="none" strike="noStrike" kern="0" cap="none" spc="-1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9D6DADE-FEEE-93FD-AA5E-4201ADBC0476}"/>
                  </a:ext>
                </a:extLst>
              </p:cNvPr>
              <p:cNvSpPr/>
              <p:nvPr/>
            </p:nvSpPr>
            <p:spPr>
              <a:xfrm>
                <a:off x="2408161" y="1961522"/>
                <a:ext cx="1673015" cy="93417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/>
                </a:pPr>
                <a:endPara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3F1C5A9-B8AC-2886-1DBE-921DE9B6DDC5}"/>
                  </a:ext>
                </a:extLst>
              </p:cNvPr>
              <p:cNvSpPr/>
              <p:nvPr/>
            </p:nvSpPr>
            <p:spPr>
              <a:xfrm>
                <a:off x="4189923" y="1961522"/>
                <a:ext cx="1673015" cy="93417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/>
                </a:pPr>
                <a:endPara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Arrow: Chevron 51">
                <a:extLst>
                  <a:ext uri="{FF2B5EF4-FFF2-40B4-BE49-F238E27FC236}">
                    <a16:creationId xmlns:a16="http://schemas.microsoft.com/office/drawing/2014/main" id="{00ED9339-E5D2-B61E-FFB0-045C25BA9FE9}"/>
                  </a:ext>
                </a:extLst>
              </p:cNvPr>
              <p:cNvSpPr/>
              <p:nvPr/>
            </p:nvSpPr>
            <p:spPr>
              <a:xfrm>
                <a:off x="5964814" y="1424486"/>
                <a:ext cx="1945282" cy="537035"/>
              </a:xfrm>
              <a:prstGeom prst="chevron">
                <a:avLst/>
              </a:prstGeom>
              <a:solidFill>
                <a:srgbClr val="765FFF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>
                    <a:solidFill>
                      <a:srgbClr val="FFFFFF"/>
                    </a:solidFill>
                  </a:defRPr>
                </a:pPr>
                <a: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  <a:t>/Clicking </a:t>
                </a:r>
                <a:br>
                  <a:rPr kumimoji="0" lang="en-US" sz="1400" b="1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400" b="0" i="0" u="none" strike="noStrike" kern="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anose="020B0604020202020204" pitchFamily="34" charset="0"/>
                  </a:rPr>
                  <a:t>Succession Readiness</a:t>
                </a:r>
                <a:endParaRPr kumimoji="0" lang="en-US" sz="1400" b="1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C37F9C6-3DC4-4A0F-FCDE-5CBA5F769321}"/>
                  </a:ext>
                </a:extLst>
              </p:cNvPr>
              <p:cNvSpPr/>
              <p:nvPr/>
            </p:nvSpPr>
            <p:spPr>
              <a:xfrm>
                <a:off x="5964814" y="1961521"/>
                <a:ext cx="1673015" cy="93417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/>
                </a:pPr>
                <a:endPara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2405602-C77C-FCD2-A90B-2468D85ACAEC}"/>
                  </a:ext>
                </a:extLst>
              </p:cNvPr>
              <p:cNvSpPr/>
              <p:nvPr/>
            </p:nvSpPr>
            <p:spPr>
              <a:xfrm>
                <a:off x="626400" y="1965809"/>
                <a:ext cx="1673015" cy="93417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vert="horz" lIns="54864" tIns="54864" rIns="45720" bIns="36576" rtlCol="0" anchor="ctr" anchorCtr="0">
                <a:noAutofit/>
              </a:bodyPr>
              <a:lstStyle/>
              <a:p>
                <a:pPr marL="0" marR="0" lvl="0" indent="0" algn="ctr" defTabSz="17372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173728" algn="l"/>
                    <a:tab pos="347454" algn="l"/>
                    <a:tab pos="521182" algn="l"/>
                    <a:tab pos="694909" algn="l"/>
                  </a:tabLst>
                  <a:defRPr/>
                </a:pPr>
                <a:endParaRPr kumimoji="0" lang="en-US" sz="1400" b="0" i="0" u="none" strike="noStrike" kern="0" cap="none" spc="-1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5CD7ADE7-9758-CF67-8EB1-9F785F95A6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16751" y="2159182"/>
                <a:ext cx="1512420" cy="55778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8AAC8DD1-F27B-EC52-60C6-3F8B0FCD06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632644" y="2148486"/>
                <a:ext cx="1165365" cy="60783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280D803-29E2-3308-C75A-A28A4EEF0BD1}"/>
                  </a:ext>
                </a:extLst>
              </p:cNvPr>
              <p:cNvGrpSpPr/>
              <p:nvPr/>
            </p:nvGrpSpPr>
            <p:grpSpPr>
              <a:xfrm>
                <a:off x="6322782" y="2063426"/>
                <a:ext cx="955500" cy="658234"/>
                <a:chOff x="7128048" y="1868618"/>
                <a:chExt cx="868638" cy="598395"/>
              </a:xfrm>
            </p:grpSpPr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41B3FF69-0E33-3038-5DC5-EE45AEFF2A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rgbClr val="765FFF"/>
                    <a:srgbClr val="FFFFFF"/>
                  </a:duotone>
                </a:blip>
                <a:srcRect/>
                <a:stretch/>
              </p:blipFill>
              <p:spPr>
                <a:xfrm>
                  <a:off x="7128048" y="1868618"/>
                  <a:ext cx="525739" cy="21526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C4BFFE4F-6715-6CE6-9155-EE08BA874E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srgbClr val="765FFF"/>
                    <a:srgbClr val="FFFFFF"/>
                  </a:duotone>
                </a:blip>
                <a:srcRect/>
                <a:stretch/>
              </p:blipFill>
              <p:spPr>
                <a:xfrm>
                  <a:off x="7245033" y="1942683"/>
                  <a:ext cx="520367" cy="295728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C77B8806-F5B6-4EE3-8334-A53C4B9F49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srgbClr val="765FFF"/>
                    <a:srgbClr val="FFFFFF"/>
                  </a:duotone>
                </a:blip>
                <a:srcRect/>
                <a:stretch/>
              </p:blipFill>
              <p:spPr>
                <a:xfrm>
                  <a:off x="7374973" y="2056986"/>
                  <a:ext cx="489088" cy="295728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62" name="Picture 61">
                  <a:extLst>
                    <a:ext uri="{FF2B5EF4-FFF2-40B4-BE49-F238E27FC236}">
                      <a16:creationId xmlns:a16="http://schemas.microsoft.com/office/drawing/2014/main" id="{E4C4D1B4-36C4-DA6F-BDA6-F20A6BCABB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duotone>
                    <a:srgbClr val="765FFF"/>
                    <a:srgbClr val="FFFFFF"/>
                  </a:duotone>
                </a:blip>
                <a:srcRect/>
                <a:stretch/>
              </p:blipFill>
              <p:spPr>
                <a:xfrm>
                  <a:off x="7470948" y="2171285"/>
                  <a:ext cx="525738" cy="295728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4D2AFCE4-8792-0CCE-66F5-343B52326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490642" y="2146379"/>
                <a:ext cx="1096209" cy="61661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CBA14E-F5A9-3C40-017E-B37D7BDB8BB7}"/>
                </a:ext>
              </a:extLst>
            </p:cNvPr>
            <p:cNvSpPr/>
            <p:nvPr/>
          </p:nvSpPr>
          <p:spPr>
            <a:xfrm>
              <a:off x="6610190" y="2837329"/>
              <a:ext cx="59551" cy="14712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0E284A-9CCB-5588-BB3B-26A5A755EA6B}"/>
                </a:ext>
              </a:extLst>
            </p:cNvPr>
            <p:cNvSpPr/>
            <p:nvPr/>
          </p:nvSpPr>
          <p:spPr>
            <a:xfrm>
              <a:off x="9706474" y="3012235"/>
              <a:ext cx="31227" cy="9215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2A6624-83FA-6120-2722-6B21FE6DF7BA}"/>
                </a:ext>
              </a:extLst>
            </p:cNvPr>
            <p:cNvSpPr/>
            <p:nvPr/>
          </p:nvSpPr>
          <p:spPr>
            <a:xfrm>
              <a:off x="9843712" y="3213164"/>
              <a:ext cx="31227" cy="9215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61B4B5-EA8F-BCCB-28DD-25179CAD856D}"/>
                </a:ext>
              </a:extLst>
            </p:cNvPr>
            <p:cNvSpPr/>
            <p:nvPr/>
          </p:nvSpPr>
          <p:spPr>
            <a:xfrm>
              <a:off x="10111373" y="3431688"/>
              <a:ext cx="201624" cy="45719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147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7552-0C12-3BB5-94C1-038BAD56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Number"/>
          <p:cNvSpPr>
            <a:spLocks noGrp="1"/>
          </p:cNvSpPr>
          <p:nvPr>
            <p:ph type="sldNum" sz="quarter" idx="10"/>
          </p:nvPr>
        </p:nvSpPr>
        <p:spPr/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8052C602-FD3A-411C-BC5C-68FD3362D0B5}" type="slidenum">
              <a:rPr lang="en-US"/>
              <a:pPr/>
              <a:t>9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5B92DE-E4A5-5FBF-EBC9-7CD47E01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noProof="0" dirty="0"/>
              <a:t>Strategic Pivots </a:t>
            </a:r>
            <a:r>
              <a:rPr lang="en-GB" noProof="0" dirty="0">
                <a:sym typeface="Wingdings" panose="05000000000000000000" pitchFamily="2" charset="2"/>
              </a:rPr>
              <a:t> Value Hotspots  Work Headlines</a:t>
            </a:r>
            <a:endParaRPr lang="en-US" noProof="0" dirty="0"/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B7893474-CD5B-9E17-0AFB-D6B7FFE4C26B}"/>
              </a:ext>
            </a:extLst>
          </p:cNvPr>
          <p:cNvSpPr/>
          <p:nvPr/>
        </p:nvSpPr>
        <p:spPr>
          <a:xfrm>
            <a:off x="787903" y="1004544"/>
            <a:ext cx="10654797" cy="1164850"/>
          </a:xfrm>
          <a:prstGeom prst="roundRect">
            <a:avLst>
              <a:gd name="adj" fmla="val 4915"/>
            </a:avLst>
          </a:prstGeom>
          <a:solidFill>
            <a:srgbClr val="F2F2F2">
              <a:alpha val="31000"/>
            </a:srgbClr>
          </a:solidFill>
          <a:ln w="635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latin typeface="Segoe UI" pitchFamily="34" charset="0"/>
              </a:defRPr>
            </a:pPr>
            <a:endParaRPr kumimoji="0" lang="en-US" sz="1800" b="1" i="0" u="none" strike="noStrike" kern="0" cap="none" spc="-25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graphicFrame>
        <p:nvGraphicFramePr>
          <p:cNvPr id="13" name="Table 41">
            <a:extLst>
              <a:ext uri="{FF2B5EF4-FFF2-40B4-BE49-F238E27FC236}">
                <a16:creationId xmlns:a16="http://schemas.microsoft.com/office/drawing/2014/main" id="{551D0540-3E86-4B01-80B7-86FC80070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725808"/>
              </p:ext>
            </p:extLst>
          </p:nvPr>
        </p:nvGraphicFramePr>
        <p:xfrm>
          <a:off x="784714" y="977140"/>
          <a:ext cx="10654798" cy="1132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15413">
                  <a:extLst>
                    <a:ext uri="{9D8B030D-6E8A-4147-A177-3AD203B41FA5}">
                      <a16:colId xmlns:a16="http://schemas.microsoft.com/office/drawing/2014/main" val="4119152402"/>
                    </a:ext>
                  </a:extLst>
                </a:gridCol>
                <a:gridCol w="1013128">
                  <a:extLst>
                    <a:ext uri="{9D8B030D-6E8A-4147-A177-3AD203B41FA5}">
                      <a16:colId xmlns:a16="http://schemas.microsoft.com/office/drawing/2014/main" val="2048534200"/>
                    </a:ext>
                  </a:extLst>
                </a:gridCol>
                <a:gridCol w="6226257">
                  <a:extLst>
                    <a:ext uri="{9D8B030D-6E8A-4147-A177-3AD203B41FA5}">
                      <a16:colId xmlns:a16="http://schemas.microsoft.com/office/drawing/2014/main" val="2057372679"/>
                    </a:ext>
                  </a:extLst>
                </a:gridCol>
              </a:tblGrid>
              <a:tr h="404936">
                <a:tc>
                  <a:txBody>
                    <a:bodyPr/>
                    <a:lstStyle/>
                    <a:p>
                      <a:pPr marL="0" indent="0" algn="r" hangingPunct="0">
                        <a:buFont typeface="Arial" panose="020B0604020202020204" pitchFamily="34" charset="0"/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Branded generics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0">
                        <a:buFont typeface="Arial" panose="020B0604020202020204" pitchFamily="34" charset="0"/>
                        <a:buNone/>
                      </a:pPr>
                      <a:endParaRPr lang="en-US" sz="1400" dirty="0">
                        <a:latin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6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Product Innovation in chosen therapeutic areas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20662"/>
                  </a:ext>
                </a:extLst>
              </a:tr>
              <a:tr h="408059">
                <a:tc>
                  <a:txBody>
                    <a:bodyPr/>
                    <a:lstStyle/>
                    <a:p>
                      <a:pPr marL="0" indent="0" algn="r" hangingPunc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latin typeface="Arial" pitchFamily="34" charset="0"/>
                        </a:rPr>
                        <a:t>Emerging markets (unstable currencies)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0">
                        <a:buFont typeface="Arial" panose="020B0604020202020204" pitchFamily="34" charset="0"/>
                        <a:buNone/>
                      </a:pPr>
                      <a:endParaRPr lang="en-US" sz="1400" u="none" dirty="0">
                        <a:latin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Diversified global strategy with focus on US, W Europe &amp; APAC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3442"/>
                  </a:ext>
                </a:extLst>
              </a:tr>
              <a:tr h="31950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Arial" pitchFamily="34" charset="0"/>
                        </a:rPr>
                        <a:t>Incremental organic growth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0">
                        <a:buFont typeface="Arial" panose="020B0604020202020204" pitchFamily="34" charset="0"/>
                        <a:buNone/>
                      </a:pPr>
                      <a:endParaRPr lang="en-US" sz="1400" u="none" dirty="0">
                        <a:latin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dirty="0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Arial"/>
                        </a:rPr>
                        <a:t>Balanced organic and inorganic growth (M&amp;A, partnerships, in-licensing)</a:t>
                      </a:r>
                      <a:endParaRPr lang="en-GB" sz="1400" b="0" kern="1200" dirty="0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281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669488"/>
                  </a:ext>
                </a:extLst>
              </a:tr>
            </a:tbl>
          </a:graphicData>
        </a:graphic>
      </p:graphicFrame>
      <p:sp>
        <p:nvSpPr>
          <p:cNvPr id="14" name="Triangle 73">
            <a:extLst>
              <a:ext uri="{FF2B5EF4-FFF2-40B4-BE49-F238E27FC236}">
                <a16:creationId xmlns:a16="http://schemas.microsoft.com/office/drawing/2014/main" id="{2CA6B0EE-E966-F45D-F746-74CE4E34AB61}"/>
              </a:ext>
            </a:extLst>
          </p:cNvPr>
          <p:cNvSpPr/>
          <p:nvPr/>
        </p:nvSpPr>
        <p:spPr>
          <a:xfrm rot="5400000">
            <a:off x="4773310" y="1535689"/>
            <a:ext cx="205670" cy="102618"/>
          </a:xfrm>
          <a:custGeom>
            <a:avLst/>
            <a:gdLst>
              <a:gd name="connsiteX0" fmla="*/ 0 w 500130"/>
              <a:gd name="connsiteY0" fmla="*/ 304534 h 304534"/>
              <a:gd name="connsiteX1" fmla="*/ 250065 w 500130"/>
              <a:gd name="connsiteY1" fmla="*/ 0 h 304534"/>
              <a:gd name="connsiteX2" fmla="*/ 500130 w 500130"/>
              <a:gd name="connsiteY2" fmla="*/ 304534 h 304534"/>
              <a:gd name="connsiteX3" fmla="*/ 0 w 500130"/>
              <a:gd name="connsiteY3" fmla="*/ 304534 h 304534"/>
              <a:gd name="connsiteX0" fmla="*/ 0 w 500130"/>
              <a:gd name="connsiteY0" fmla="*/ 304534 h 395974"/>
              <a:gd name="connsiteX1" fmla="*/ 250065 w 500130"/>
              <a:gd name="connsiteY1" fmla="*/ 0 h 395974"/>
              <a:gd name="connsiteX2" fmla="*/ 500130 w 500130"/>
              <a:gd name="connsiteY2" fmla="*/ 304534 h 395974"/>
              <a:gd name="connsiteX3" fmla="*/ 91440 w 500130"/>
              <a:gd name="connsiteY3" fmla="*/ 395974 h 395974"/>
              <a:gd name="connsiteX0" fmla="*/ 0 w 500130"/>
              <a:gd name="connsiteY0" fmla="*/ 304534 h 304534"/>
              <a:gd name="connsiteX1" fmla="*/ 250065 w 500130"/>
              <a:gd name="connsiteY1" fmla="*/ 0 h 304534"/>
              <a:gd name="connsiteX2" fmla="*/ 500130 w 500130"/>
              <a:gd name="connsiteY2" fmla="*/ 304534 h 30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130" h="304534">
                <a:moveTo>
                  <a:pt x="0" y="304534"/>
                </a:moveTo>
                <a:lnTo>
                  <a:pt x="250065" y="0"/>
                </a:lnTo>
                <a:lnTo>
                  <a:pt x="500130" y="304534"/>
                </a:lnTo>
              </a:path>
            </a:pathLst>
          </a:custGeom>
          <a:noFill/>
          <a:ln w="127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6" name="Triangle 73">
            <a:extLst>
              <a:ext uri="{FF2B5EF4-FFF2-40B4-BE49-F238E27FC236}">
                <a16:creationId xmlns:a16="http://schemas.microsoft.com/office/drawing/2014/main" id="{D78E4E3D-4856-7A60-2A2E-599F705BDEFB}"/>
              </a:ext>
            </a:extLst>
          </p:cNvPr>
          <p:cNvSpPr/>
          <p:nvPr/>
        </p:nvSpPr>
        <p:spPr>
          <a:xfrm rot="5400000">
            <a:off x="4773007" y="1131773"/>
            <a:ext cx="205670" cy="102618"/>
          </a:xfrm>
          <a:custGeom>
            <a:avLst/>
            <a:gdLst>
              <a:gd name="connsiteX0" fmla="*/ 0 w 500130"/>
              <a:gd name="connsiteY0" fmla="*/ 304534 h 304534"/>
              <a:gd name="connsiteX1" fmla="*/ 250065 w 500130"/>
              <a:gd name="connsiteY1" fmla="*/ 0 h 304534"/>
              <a:gd name="connsiteX2" fmla="*/ 500130 w 500130"/>
              <a:gd name="connsiteY2" fmla="*/ 304534 h 304534"/>
              <a:gd name="connsiteX3" fmla="*/ 0 w 500130"/>
              <a:gd name="connsiteY3" fmla="*/ 304534 h 304534"/>
              <a:gd name="connsiteX0" fmla="*/ 0 w 500130"/>
              <a:gd name="connsiteY0" fmla="*/ 304534 h 395974"/>
              <a:gd name="connsiteX1" fmla="*/ 250065 w 500130"/>
              <a:gd name="connsiteY1" fmla="*/ 0 h 395974"/>
              <a:gd name="connsiteX2" fmla="*/ 500130 w 500130"/>
              <a:gd name="connsiteY2" fmla="*/ 304534 h 395974"/>
              <a:gd name="connsiteX3" fmla="*/ 91440 w 500130"/>
              <a:gd name="connsiteY3" fmla="*/ 395974 h 395974"/>
              <a:gd name="connsiteX0" fmla="*/ 0 w 500130"/>
              <a:gd name="connsiteY0" fmla="*/ 304534 h 304534"/>
              <a:gd name="connsiteX1" fmla="*/ 250065 w 500130"/>
              <a:gd name="connsiteY1" fmla="*/ 0 h 304534"/>
              <a:gd name="connsiteX2" fmla="*/ 500130 w 500130"/>
              <a:gd name="connsiteY2" fmla="*/ 304534 h 30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130" h="304534">
                <a:moveTo>
                  <a:pt x="0" y="304534"/>
                </a:moveTo>
                <a:lnTo>
                  <a:pt x="250065" y="0"/>
                </a:lnTo>
                <a:lnTo>
                  <a:pt x="500130" y="304534"/>
                </a:lnTo>
              </a:path>
            </a:pathLst>
          </a:custGeom>
          <a:noFill/>
          <a:ln w="127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latin typeface="Segoe UI" pitchFamily="34" charset="0"/>
              </a:defRPr>
            </a:pPr>
            <a:endParaRPr kumimoji="0" lang="en-US" sz="1800" b="1" i="0" u="none" strike="noStrike" kern="0" cap="none" spc="-2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26" name="Triangle 73">
            <a:extLst>
              <a:ext uri="{FF2B5EF4-FFF2-40B4-BE49-F238E27FC236}">
                <a16:creationId xmlns:a16="http://schemas.microsoft.com/office/drawing/2014/main" id="{0CC8E2C1-CBFA-9058-4730-C0C79CD6EFB9}"/>
              </a:ext>
            </a:extLst>
          </p:cNvPr>
          <p:cNvSpPr/>
          <p:nvPr/>
        </p:nvSpPr>
        <p:spPr>
          <a:xfrm rot="5400000">
            <a:off x="4773007" y="1936874"/>
            <a:ext cx="205670" cy="102618"/>
          </a:xfrm>
          <a:custGeom>
            <a:avLst/>
            <a:gdLst>
              <a:gd name="connsiteX0" fmla="*/ 0 w 500130"/>
              <a:gd name="connsiteY0" fmla="*/ 304534 h 304534"/>
              <a:gd name="connsiteX1" fmla="*/ 250065 w 500130"/>
              <a:gd name="connsiteY1" fmla="*/ 0 h 304534"/>
              <a:gd name="connsiteX2" fmla="*/ 500130 w 500130"/>
              <a:gd name="connsiteY2" fmla="*/ 304534 h 304534"/>
              <a:gd name="connsiteX3" fmla="*/ 0 w 500130"/>
              <a:gd name="connsiteY3" fmla="*/ 304534 h 304534"/>
              <a:gd name="connsiteX0" fmla="*/ 0 w 500130"/>
              <a:gd name="connsiteY0" fmla="*/ 304534 h 395974"/>
              <a:gd name="connsiteX1" fmla="*/ 250065 w 500130"/>
              <a:gd name="connsiteY1" fmla="*/ 0 h 395974"/>
              <a:gd name="connsiteX2" fmla="*/ 500130 w 500130"/>
              <a:gd name="connsiteY2" fmla="*/ 304534 h 395974"/>
              <a:gd name="connsiteX3" fmla="*/ 91440 w 500130"/>
              <a:gd name="connsiteY3" fmla="*/ 395974 h 395974"/>
              <a:gd name="connsiteX0" fmla="*/ 0 w 500130"/>
              <a:gd name="connsiteY0" fmla="*/ 304534 h 304534"/>
              <a:gd name="connsiteX1" fmla="*/ 250065 w 500130"/>
              <a:gd name="connsiteY1" fmla="*/ 0 h 304534"/>
              <a:gd name="connsiteX2" fmla="*/ 500130 w 500130"/>
              <a:gd name="connsiteY2" fmla="*/ 304534 h 30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130" h="304534">
                <a:moveTo>
                  <a:pt x="0" y="304534"/>
                </a:moveTo>
                <a:lnTo>
                  <a:pt x="250065" y="0"/>
                </a:lnTo>
                <a:lnTo>
                  <a:pt x="500130" y="304534"/>
                </a:lnTo>
              </a:path>
            </a:pathLst>
          </a:custGeom>
          <a:noFill/>
          <a:ln w="12700"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5" name="Rectangle: Rounded Corners 45">
            <a:extLst>
              <a:ext uri="{FF2B5EF4-FFF2-40B4-BE49-F238E27FC236}">
                <a16:creationId xmlns:a16="http://schemas.microsoft.com/office/drawing/2014/main" id="{7A608A33-C36C-7DDC-D4F2-D32849BD05CA}"/>
              </a:ext>
            </a:extLst>
          </p:cNvPr>
          <p:cNvSpPr/>
          <p:nvPr/>
        </p:nvSpPr>
        <p:spPr>
          <a:xfrm>
            <a:off x="3024525" y="6094583"/>
            <a:ext cx="1980000" cy="360000"/>
          </a:xfrm>
          <a:prstGeom prst="roundRect">
            <a:avLst/>
          </a:prstGeom>
          <a:solidFill>
            <a:srgbClr val="60BD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spc="-10" dirty="0">
                <a:solidFill>
                  <a:srgbClr val="1D1D1D"/>
                </a:solidFill>
                <a:latin typeface="Arial" pitchFamily="34" charset="0"/>
              </a:rPr>
              <a:t>TALENT MANAGEMENT &amp;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spc="-10" dirty="0">
                <a:solidFill>
                  <a:srgbClr val="1D1D1D"/>
                </a:solidFill>
                <a:latin typeface="Arial" pitchFamily="34" charset="0"/>
              </a:rPr>
              <a:t>ORG SIMPLIFICATION</a:t>
            </a:r>
          </a:p>
        </p:txBody>
      </p:sp>
      <p:sp>
        <p:nvSpPr>
          <p:cNvPr id="17" name="Rectangle: Rounded Corners 47">
            <a:extLst>
              <a:ext uri="{FF2B5EF4-FFF2-40B4-BE49-F238E27FC236}">
                <a16:creationId xmlns:a16="http://schemas.microsoft.com/office/drawing/2014/main" id="{0FDEA495-9444-CD61-AD3D-B174BD7E0C40}"/>
              </a:ext>
            </a:extLst>
          </p:cNvPr>
          <p:cNvSpPr/>
          <p:nvPr/>
        </p:nvSpPr>
        <p:spPr>
          <a:xfrm>
            <a:off x="7497769" y="6094583"/>
            <a:ext cx="1980000" cy="360000"/>
          </a:xfrm>
          <a:prstGeom prst="roundRect">
            <a:avLst/>
          </a:prstGeom>
          <a:solidFill>
            <a:srgbClr val="60BD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</a:rPr>
              <a:t>ESG, QUALIT</a:t>
            </a:r>
            <a:r>
              <a:rPr lang="en-US" sz="1000" spc="-10" dirty="0">
                <a:solidFill>
                  <a:srgbClr val="1D1D1D"/>
                </a:solidFill>
                <a:latin typeface="Arial" pitchFamily="34" charset="0"/>
              </a:rPr>
              <a:t>Y </a:t>
            </a:r>
            <a:r>
              <a:rPr kumimoji="0" lang="en-US" sz="100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</a:rPr>
              <a:t>&amp; SUSTAINABILITY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FDBD60-37AE-DD6E-F03E-56BB09C9A04E}"/>
              </a:ext>
            </a:extLst>
          </p:cNvPr>
          <p:cNvCxnSpPr>
            <a:cxnSpLocks/>
          </p:cNvCxnSpPr>
          <p:nvPr/>
        </p:nvCxnSpPr>
        <p:spPr>
          <a:xfrm>
            <a:off x="787903" y="5745514"/>
            <a:ext cx="10926490" cy="0"/>
          </a:xfrm>
          <a:prstGeom prst="straightConnector1">
            <a:avLst/>
          </a:prstGeom>
          <a:ln>
            <a:solidFill>
              <a:srgbClr val="1D1D1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53">
            <a:extLst>
              <a:ext uri="{FF2B5EF4-FFF2-40B4-BE49-F238E27FC236}">
                <a16:creationId xmlns:a16="http://schemas.microsoft.com/office/drawing/2014/main" id="{A16600A5-6D61-21EC-6C46-D748B767356B}"/>
              </a:ext>
            </a:extLst>
          </p:cNvPr>
          <p:cNvSpPr/>
          <p:nvPr/>
        </p:nvSpPr>
        <p:spPr>
          <a:xfrm>
            <a:off x="5261147" y="6094583"/>
            <a:ext cx="1980000" cy="360000"/>
          </a:xfrm>
          <a:prstGeom prst="roundRect">
            <a:avLst/>
          </a:prstGeom>
          <a:solidFill>
            <a:srgbClr val="60BD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</a:rPr>
              <a:t>RISK MANAGEMENT AND CYBERSECURITY</a:t>
            </a:r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50756243-E9CB-313C-6F4C-F487B3C2D4FF}"/>
              </a:ext>
            </a:extLst>
          </p:cNvPr>
          <p:cNvSpPr/>
          <p:nvPr/>
        </p:nvSpPr>
        <p:spPr>
          <a:xfrm>
            <a:off x="5011251" y="5633459"/>
            <a:ext cx="2479794" cy="359997"/>
          </a:xfrm>
          <a:prstGeom prst="roundRect">
            <a:avLst/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200" kern="0" spc="-10" dirty="0">
                <a:solidFill>
                  <a:srgbClr val="F2F2F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ENABLERS </a:t>
            </a:r>
            <a:r>
              <a:rPr lang="en-US" sz="2000" kern="0" spc="-10" dirty="0">
                <a:solidFill>
                  <a:srgbClr val="F2F2F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10%</a:t>
            </a:r>
            <a:endParaRPr lang="en-US" sz="1200" kern="0" spc="-10" dirty="0">
              <a:solidFill>
                <a:srgbClr val="F2F2F2"/>
              </a:solidFill>
              <a:latin typeface="Arial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32CBC22C-E9A6-872F-8777-055B7A09C8BF}"/>
              </a:ext>
            </a:extLst>
          </p:cNvPr>
          <p:cNvSpPr/>
          <p:nvPr/>
        </p:nvSpPr>
        <p:spPr>
          <a:xfrm>
            <a:off x="784714" y="3451892"/>
            <a:ext cx="1954475" cy="1955041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Implement new Operating Model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Standardize and harmonize HR, Finance, IT, Procurement processes and create centralized Business Shared Services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Tax optimization by revising funds flow and profitability improvement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Embed robust change management to drive leadership alignment &amp; manage resistance</a:t>
            </a:r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85687187-B097-2A72-CD7A-02B4915A0835}"/>
              </a:ext>
            </a:extLst>
          </p:cNvPr>
          <p:cNvSpPr/>
          <p:nvPr/>
        </p:nvSpPr>
        <p:spPr>
          <a:xfrm>
            <a:off x="7311543" y="3421071"/>
            <a:ext cx="1980000" cy="1900932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targeted entry for US,  West Europe, APAC).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Pursue large-scale M&amp;A (global pharma/innovator assets)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Focused inorganic growth for entry into high-growth/margin therapeutic areas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Acquisition of late-stage pipeline opportunities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Strengthen product development to accelerate commercialization 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advanced integration capabilities for post-merger synergy realization</a:t>
            </a:r>
          </a:p>
        </p:txBody>
      </p:sp>
      <p:sp>
        <p:nvSpPr>
          <p:cNvPr id="27" name="Rounded Rectangle 21">
            <a:extLst>
              <a:ext uri="{FF2B5EF4-FFF2-40B4-BE49-F238E27FC236}">
                <a16:creationId xmlns:a16="http://schemas.microsoft.com/office/drawing/2014/main" id="{0257DF2C-F92E-43F9-D6FD-835C0B1503F2}"/>
              </a:ext>
            </a:extLst>
          </p:cNvPr>
          <p:cNvSpPr/>
          <p:nvPr/>
        </p:nvSpPr>
        <p:spPr>
          <a:xfrm>
            <a:off x="9470391" y="3451893"/>
            <a:ext cx="2055302" cy="1829647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Implement Core Digital Platforms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Embed digital, AI, automation across commercial, manufacturing, support functions for actionable, real-time data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Drive interoperability of digital systems &amp; alignment of data standards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Optimize digital investments for unified, cloud-based systems that support enterprise-wide data, automation, and process visibility</a:t>
            </a:r>
          </a:p>
        </p:txBody>
      </p:sp>
      <p:sp>
        <p:nvSpPr>
          <p:cNvPr id="28" name="Rounded Rectangle 22">
            <a:extLst>
              <a:ext uri="{FF2B5EF4-FFF2-40B4-BE49-F238E27FC236}">
                <a16:creationId xmlns:a16="http://schemas.microsoft.com/office/drawing/2014/main" id="{A8EEB326-E83C-BFA8-343D-FC5FEE79D713}"/>
              </a:ext>
            </a:extLst>
          </p:cNvPr>
          <p:cNvSpPr/>
          <p:nvPr/>
        </p:nvSpPr>
        <p:spPr>
          <a:xfrm>
            <a:off x="5105999" y="3451893"/>
            <a:ext cx="1980000" cy="1829647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Lifecycle mgmt. of existing products (reformulations, expansions, erosion defence)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Prune commoditized SKUs 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Cross-selling brands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New Product Launches (oncology cardio-metabolic) - </a:t>
            </a:r>
            <a:r>
              <a:rPr lang="en-US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untapped growth in underperforming markets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US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Build regulatory, supply chain, commercial, market access capabilities 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Aggressive in-licensing and partnerships for innovation</a:t>
            </a:r>
          </a:p>
        </p:txBody>
      </p:sp>
      <p:sp>
        <p:nvSpPr>
          <p:cNvPr id="29" name="Rounded Rectangle 23">
            <a:extLst>
              <a:ext uri="{FF2B5EF4-FFF2-40B4-BE49-F238E27FC236}">
                <a16:creationId xmlns:a16="http://schemas.microsoft.com/office/drawing/2014/main" id="{E0833C59-DFB1-142E-38AA-44F74B2E7DBD}"/>
              </a:ext>
            </a:extLst>
          </p:cNvPr>
          <p:cNvSpPr/>
          <p:nvPr/>
        </p:nvSpPr>
        <p:spPr>
          <a:xfrm>
            <a:off x="2869377" y="3451631"/>
            <a:ext cx="2057774" cy="1829647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Modernize &amp; automate (machinery, robotics, process controls) facilities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Integrate sites &amp; optimize operations (production scheduling, capacity planning, workflow management)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Enhance Supply Chain Resilience - procurement, logistics, inventory, &amp; risk management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Align manufacturing priorities with strategic product launches</a:t>
            </a:r>
          </a:p>
          <a:p>
            <a:pPr marL="108000" indent="-108000"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rgbClr val="281A4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Turkey business transformation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i="0" u="none" strike="noStrike" kern="0" cap="none" spc="-10" normalizeH="0" baseline="0" noProof="0" dirty="0">
              <a:ln>
                <a:noFill/>
              </a:ln>
              <a:solidFill>
                <a:srgbClr val="1D1D1D">
                  <a:lumMod val="65000"/>
                  <a:lumOff val="35000"/>
                </a:srgbClr>
              </a:solidFill>
              <a:effectLst/>
              <a:uLnTx/>
              <a:uFillTx/>
              <a:latin typeface="Arial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Round Same-side Corner of Rectangle 14">
            <a:extLst>
              <a:ext uri="{FF2B5EF4-FFF2-40B4-BE49-F238E27FC236}">
                <a16:creationId xmlns:a16="http://schemas.microsoft.com/office/drawing/2014/main" id="{FCC90496-579E-CEEC-139C-0491DB5761B6}"/>
              </a:ext>
            </a:extLst>
          </p:cNvPr>
          <p:cNvSpPr/>
          <p:nvPr/>
        </p:nvSpPr>
        <p:spPr>
          <a:xfrm>
            <a:off x="2979089" y="2397915"/>
            <a:ext cx="1926328" cy="894170"/>
          </a:xfrm>
          <a:prstGeom prst="round2SameRect">
            <a:avLst>
              <a:gd name="adj1" fmla="val 6394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MANUFACTURING OPTIMIZATION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spc="-10" dirty="0">
                <a:solidFill>
                  <a:srgbClr val="F2F2F2"/>
                </a:solidFill>
                <a:latin typeface="Arial" pitchFamily="34" charset="0"/>
              </a:rPr>
              <a:t>15%</a:t>
            </a:r>
          </a:p>
        </p:txBody>
      </p:sp>
      <p:sp>
        <p:nvSpPr>
          <p:cNvPr id="31" name="Round Same-side Corner of Rectangle 15">
            <a:extLst>
              <a:ext uri="{FF2B5EF4-FFF2-40B4-BE49-F238E27FC236}">
                <a16:creationId xmlns:a16="http://schemas.microsoft.com/office/drawing/2014/main" id="{2CA1AC58-DEFF-B9FE-ABB3-3AB3D7CFCB51}"/>
              </a:ext>
            </a:extLst>
          </p:cNvPr>
          <p:cNvSpPr/>
          <p:nvPr/>
        </p:nvSpPr>
        <p:spPr>
          <a:xfrm>
            <a:off x="5145316" y="2397915"/>
            <a:ext cx="1926328" cy="894170"/>
          </a:xfrm>
          <a:prstGeom prst="round2SameRect">
            <a:avLst>
              <a:gd name="adj1" fmla="val 6396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lang="en-US" sz="1200" i="0" u="none" strike="noStrike" kern="0" cap="none" spc="-1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 rtl="0">
              <a:defRPr>
                <a:solidFill>
                  <a:srgbClr val="FFFFFF"/>
                </a:solidFill>
              </a:defRPr>
            </a:pPr>
            <a:r>
              <a:rPr lang="en-US" sz="2000" spc="-10" dirty="0">
                <a:solidFill>
                  <a:srgbClr val="F2F2F2"/>
                </a:solidFill>
                <a:latin typeface="Arial" pitchFamily="34" charset="0"/>
              </a:rPr>
              <a:t>20%</a:t>
            </a:r>
          </a:p>
        </p:txBody>
      </p:sp>
      <p:sp>
        <p:nvSpPr>
          <p:cNvPr id="32" name="Round Same-side Corner of Rectangle 16">
            <a:extLst>
              <a:ext uri="{FF2B5EF4-FFF2-40B4-BE49-F238E27FC236}">
                <a16:creationId xmlns:a16="http://schemas.microsoft.com/office/drawing/2014/main" id="{D72E6145-DB0A-5485-BDA0-022E9CF53DB9}"/>
              </a:ext>
            </a:extLst>
          </p:cNvPr>
          <p:cNvSpPr/>
          <p:nvPr/>
        </p:nvSpPr>
        <p:spPr>
          <a:xfrm>
            <a:off x="7311543" y="2396712"/>
            <a:ext cx="1926328" cy="902736"/>
          </a:xfrm>
          <a:prstGeom prst="round2SameRect">
            <a:avLst>
              <a:gd name="adj1" fmla="val 8450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INORGANIC EXPANSION</a:t>
            </a:r>
          </a:p>
          <a:p>
            <a:pPr algn="l" rtl="0">
              <a:defRPr>
                <a:solidFill>
                  <a:srgbClr val="FFFFFF"/>
                </a:solidFill>
              </a:defRPr>
            </a:pPr>
            <a:r>
              <a:rPr lang="en-US" sz="2000" spc="-10" dirty="0">
                <a:solidFill>
                  <a:srgbClr val="F2F2F2"/>
                </a:solidFill>
                <a:latin typeface="Arial" pitchFamily="34" charset="0"/>
              </a:rPr>
              <a:t>25%</a:t>
            </a:r>
          </a:p>
        </p:txBody>
      </p:sp>
      <p:sp>
        <p:nvSpPr>
          <p:cNvPr id="33" name="Round Same-side Corner of Rectangle 17">
            <a:extLst>
              <a:ext uri="{FF2B5EF4-FFF2-40B4-BE49-F238E27FC236}">
                <a16:creationId xmlns:a16="http://schemas.microsoft.com/office/drawing/2014/main" id="{E67F100A-4D32-E664-FB45-B4E97D655C33}"/>
              </a:ext>
            </a:extLst>
          </p:cNvPr>
          <p:cNvSpPr/>
          <p:nvPr/>
        </p:nvSpPr>
        <p:spPr>
          <a:xfrm>
            <a:off x="9477769" y="2397915"/>
            <a:ext cx="1926328" cy="894170"/>
          </a:xfrm>
          <a:prstGeom prst="round2SameRect">
            <a:avLst>
              <a:gd name="adj1" fmla="val 6395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DIGITAL ADOPTION  </a:t>
            </a:r>
            <a:endParaRPr lang="en-US" sz="1200" spc="-10" dirty="0">
              <a:solidFill>
                <a:srgbClr val="F2F2F2"/>
              </a:solidFill>
              <a:latin typeface="Arial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lang="en-US" sz="1200" spc="-10" dirty="0">
              <a:solidFill>
                <a:srgbClr val="F2F2F2"/>
              </a:solidFill>
              <a:latin typeface="Arial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lang="en-US" sz="2000" spc="-10" dirty="0">
                <a:solidFill>
                  <a:srgbClr val="F2F2F2"/>
                </a:solidFill>
                <a:latin typeface="Arial" pitchFamily="34" charset="0"/>
              </a:rPr>
              <a:t>10%</a:t>
            </a:r>
          </a:p>
        </p:txBody>
      </p:sp>
      <p:sp>
        <p:nvSpPr>
          <p:cNvPr id="34" name="Round Same-side Corner of Rectangle 14">
            <a:extLst>
              <a:ext uri="{FF2B5EF4-FFF2-40B4-BE49-F238E27FC236}">
                <a16:creationId xmlns:a16="http://schemas.microsoft.com/office/drawing/2014/main" id="{9C94C576-7670-7BC8-3E29-5A507AF2C112}"/>
              </a:ext>
            </a:extLst>
          </p:cNvPr>
          <p:cNvSpPr/>
          <p:nvPr/>
        </p:nvSpPr>
        <p:spPr>
          <a:xfrm>
            <a:off x="812862" y="2385012"/>
            <a:ext cx="1926328" cy="894170"/>
          </a:xfrm>
          <a:prstGeom prst="round2SameRect">
            <a:avLst>
              <a:gd name="adj1" fmla="val 6394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lang="en-US" sz="1200" spc="-10" dirty="0">
                <a:solidFill>
                  <a:srgbClr val="F2F2F2"/>
                </a:solidFill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DRIVE GROUP EFFICIENCY </a:t>
            </a:r>
            <a:endParaRPr kumimoji="0" lang="en-US" sz="1200" i="0" u="none" strike="noStrike" kern="0" cap="none" spc="-1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 rtl="0">
              <a:defRPr>
                <a:solidFill>
                  <a:srgbClr val="FFFFFF"/>
                </a:solidFill>
              </a:defRPr>
            </a:pPr>
            <a:r>
              <a:rPr lang="en-US" sz="2000" spc="-10" dirty="0">
                <a:solidFill>
                  <a:srgbClr val="F2F2F2"/>
                </a:solidFill>
                <a:latin typeface="Arial" pitchFamily="34" charset="0"/>
              </a:rPr>
              <a:t>20%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DF4895-8AD5-8CF6-1F68-03C1A8A13A3F}"/>
              </a:ext>
            </a:extLst>
          </p:cNvPr>
          <p:cNvSpPr/>
          <p:nvPr/>
        </p:nvSpPr>
        <p:spPr>
          <a:xfrm rot="16200000">
            <a:off x="-192792" y="1343846"/>
            <a:ext cx="1164851" cy="48624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spc="-25" dirty="0">
                <a:solidFill>
                  <a:srgbClr val="1D1D1D"/>
                </a:solidFill>
                <a:latin typeface="Segoe UI" pitchFamily="34" charset="0"/>
              </a:rPr>
              <a:t>Strategic Pivots</a:t>
            </a:r>
            <a:endParaRPr lang="LID4096" sz="1200" b="1" spc="-25">
              <a:solidFill>
                <a:srgbClr val="1D1D1D"/>
              </a:solidFill>
              <a:latin typeface="Segoe UI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A06992-A43E-1D09-3EC5-5196B6FA4217}"/>
              </a:ext>
            </a:extLst>
          </p:cNvPr>
          <p:cNvSpPr/>
          <p:nvPr/>
        </p:nvSpPr>
        <p:spPr>
          <a:xfrm rot="16200000">
            <a:off x="-206496" y="2664646"/>
            <a:ext cx="1192258" cy="48624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spc="-10" dirty="0">
                <a:solidFill>
                  <a:srgbClr val="1D1D1D"/>
                </a:solidFill>
                <a:latin typeface="Arial" pitchFamily="34" charset="0"/>
              </a:rPr>
              <a:t>VALUE HOTSPOTS</a:t>
            </a:r>
            <a:endParaRPr lang="LID4096" sz="1200" spc="-10">
              <a:solidFill>
                <a:srgbClr val="1D1D1D"/>
              </a:solidFill>
              <a:latin typeface="Arial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A0A310-60C8-9077-E74E-A22E8CFD3FD4}"/>
              </a:ext>
            </a:extLst>
          </p:cNvPr>
          <p:cNvSpPr/>
          <p:nvPr/>
        </p:nvSpPr>
        <p:spPr>
          <a:xfrm rot="16200000">
            <a:off x="-601468" y="4373066"/>
            <a:ext cx="1982201" cy="48624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spc="-10" dirty="0">
                <a:solidFill>
                  <a:srgbClr val="1D1D1D"/>
                </a:solidFill>
                <a:latin typeface="Arial" pitchFamily="34" charset="0"/>
              </a:rPr>
              <a:t>WORK HEADLINES </a:t>
            </a:r>
            <a:endParaRPr lang="LID4096" sz="1200" spc="-10">
              <a:solidFill>
                <a:srgbClr val="1D1D1D"/>
              </a:solidFill>
              <a:latin typeface="Arial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6CDFB7-375A-8F8E-AC7C-FC2DE1CCE08F}"/>
              </a:ext>
            </a:extLst>
          </p:cNvPr>
          <p:cNvGrpSpPr/>
          <p:nvPr/>
        </p:nvGrpSpPr>
        <p:grpSpPr>
          <a:xfrm>
            <a:off x="10520433" y="46729"/>
            <a:ext cx="1665362" cy="313377"/>
            <a:chOff x="10012530" y="308795"/>
            <a:chExt cx="1665362" cy="3133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60CC5D-5CF4-EE24-AFAA-2ED126FB97BD}"/>
                </a:ext>
              </a:extLst>
            </p:cNvPr>
            <p:cNvSpPr txBox="1"/>
            <p:nvPr/>
          </p:nvSpPr>
          <p:spPr>
            <a:xfrm>
              <a:off x="10242884" y="308795"/>
              <a:ext cx="1435008" cy="25391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GB" sz="1050" b="1" spc="-25" dirty="0">
                  <a:solidFill>
                    <a:srgbClr val="765FFF"/>
                  </a:solidFill>
                  <a:latin typeface="Segoe UI" pitchFamily="34" charset="0"/>
                  <a:cs typeface="Helvetica Neue" panose="020B0604020202020204" charset="0"/>
                </a:rPr>
                <a:t>Illustrative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A00BD8-F73F-EDEF-9061-6B03FDFA52D6}"/>
                </a:ext>
              </a:extLst>
            </p:cNvPr>
            <p:cNvCxnSpPr>
              <a:cxnSpLocks/>
            </p:cNvCxnSpPr>
            <p:nvPr/>
          </p:nvCxnSpPr>
          <p:spPr>
            <a:xfrm>
              <a:off x="10012530" y="507437"/>
              <a:ext cx="1665362" cy="974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A2BF0C-D4BA-C762-D7B7-A59F460666DA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707" y="335474"/>
              <a:ext cx="230354" cy="286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207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8344-5CAA-6071-22C2-B4DD3B1F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Number"/>
          <p:cNvSpPr>
            <a:spLocks noGrp="1"/>
          </p:cNvSpPr>
          <p:nvPr>
            <p:ph type="sldNum" sz="quarter" idx="10"/>
          </p:nvPr>
        </p:nvSpPr>
        <p:spPr/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B7EF0B40-E00A-42D2-8444-E2BFC0C567D9}" type="slidenum">
              <a:rPr lang="en-US"/>
              <a:pPr/>
              <a:t>10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35D48A-CA9E-2FDB-8E53-ADF0C8DF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noProof="0" dirty="0"/>
              <a:t>Critical Roles @ Value Hotspots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036759-BFD0-C0CF-B712-9A838540FDA9}"/>
              </a:ext>
            </a:extLst>
          </p:cNvPr>
          <p:cNvSpPr/>
          <p:nvPr/>
        </p:nvSpPr>
        <p:spPr>
          <a:xfrm>
            <a:off x="600672" y="1771754"/>
            <a:ext cx="1677751" cy="494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spc="-10" dirty="0">
                <a:solidFill>
                  <a:srgbClr val="1D1D1D"/>
                </a:solidFill>
                <a:latin typeface="Arial" pitchFamily="34" charset="0"/>
              </a:rPr>
              <a:t>$680M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287499-88E4-A3FD-2B44-512FB82CC3E0}"/>
              </a:ext>
            </a:extLst>
          </p:cNvPr>
          <p:cNvSpPr/>
          <p:nvPr/>
        </p:nvSpPr>
        <p:spPr>
          <a:xfrm>
            <a:off x="2503622" y="1771754"/>
            <a:ext cx="1677750" cy="494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spc="-10" dirty="0">
                <a:solidFill>
                  <a:srgbClr val="1D1D1D"/>
                </a:solidFill>
                <a:latin typeface="Arial" pitchFamily="34" charset="0"/>
              </a:rPr>
              <a:t>$510M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62870-44FE-11C0-E3E8-E0B86CE70346}"/>
              </a:ext>
            </a:extLst>
          </p:cNvPr>
          <p:cNvSpPr/>
          <p:nvPr/>
        </p:nvSpPr>
        <p:spPr>
          <a:xfrm>
            <a:off x="4398822" y="1771754"/>
            <a:ext cx="1677749" cy="494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spc="-10" dirty="0">
                <a:solidFill>
                  <a:srgbClr val="1D1D1D"/>
                </a:solidFill>
                <a:latin typeface="Arial" pitchFamily="34" charset="0"/>
              </a:rPr>
              <a:t>$680M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B4CF8F-8BB7-DC84-EA90-2A2C353E9CA6}"/>
              </a:ext>
            </a:extLst>
          </p:cNvPr>
          <p:cNvSpPr/>
          <p:nvPr/>
        </p:nvSpPr>
        <p:spPr>
          <a:xfrm>
            <a:off x="6294015" y="1769700"/>
            <a:ext cx="1677749" cy="494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spc="-10" dirty="0">
                <a:solidFill>
                  <a:srgbClr val="1D1D1D"/>
                </a:solidFill>
                <a:latin typeface="Arial" pitchFamily="34" charset="0"/>
              </a:rPr>
              <a:t>$850M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0E6D27-0359-615C-C9FD-372441B7F490}"/>
              </a:ext>
            </a:extLst>
          </p:cNvPr>
          <p:cNvSpPr/>
          <p:nvPr/>
        </p:nvSpPr>
        <p:spPr>
          <a:xfrm>
            <a:off x="8189199" y="1764428"/>
            <a:ext cx="1669898" cy="494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spc="-10" dirty="0">
                <a:solidFill>
                  <a:srgbClr val="1D1D1D"/>
                </a:solidFill>
                <a:latin typeface="Arial" pitchFamily="34" charset="0"/>
              </a:rPr>
              <a:t>$340M</a:t>
            </a:r>
          </a:p>
        </p:txBody>
      </p:sp>
      <p:sp>
        <p:nvSpPr>
          <p:cNvPr id="8" name="Round Same-side Corner of Rectangle 13">
            <a:extLst>
              <a:ext uri="{FF2B5EF4-FFF2-40B4-BE49-F238E27FC236}">
                <a16:creationId xmlns:a16="http://schemas.microsoft.com/office/drawing/2014/main" id="{28AAEEEF-9B8E-B598-F669-7339A886B7D9}"/>
              </a:ext>
            </a:extLst>
          </p:cNvPr>
          <p:cNvSpPr/>
          <p:nvPr/>
        </p:nvSpPr>
        <p:spPr>
          <a:xfrm>
            <a:off x="608421" y="1062232"/>
            <a:ext cx="1728000" cy="784324"/>
          </a:xfrm>
          <a:prstGeom prst="round2SameRect">
            <a:avLst>
              <a:gd name="adj1" fmla="val 9477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Drive Group Efficiency</a:t>
            </a:r>
            <a:endParaRPr lang="en-US" sz="1200" b="1" kern="0" spc="-25" dirty="0">
              <a:solidFill>
                <a:srgbClr val="F2F2F2"/>
              </a:solidFill>
              <a:latin typeface="Segoe UI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 rt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2000" b="1" i="0" u="none" strike="noStrike" kern="0" cap="none" spc="-25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20%</a:t>
            </a:r>
          </a:p>
        </p:txBody>
      </p:sp>
      <p:sp>
        <p:nvSpPr>
          <p:cNvPr id="9" name="Round Same-side Corner of Rectangle 14">
            <a:extLst>
              <a:ext uri="{FF2B5EF4-FFF2-40B4-BE49-F238E27FC236}">
                <a16:creationId xmlns:a16="http://schemas.microsoft.com/office/drawing/2014/main" id="{0B77082E-603D-7CAD-E1F7-F97A05519DA8}"/>
              </a:ext>
            </a:extLst>
          </p:cNvPr>
          <p:cNvSpPr/>
          <p:nvPr/>
        </p:nvSpPr>
        <p:spPr>
          <a:xfrm>
            <a:off x="2492965" y="1062232"/>
            <a:ext cx="1728000" cy="776883"/>
          </a:xfrm>
          <a:prstGeom prst="round2SameRect">
            <a:avLst>
              <a:gd name="adj1" fmla="val 6394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1200" b="1" kern="0" spc="-25" dirty="0">
                <a:solidFill>
                  <a:srgbClr val="F2F2F2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Manufacturing Optimization </a:t>
            </a:r>
            <a:r>
              <a:rPr lang="en-US" sz="2000" b="1" spc="-25" dirty="0">
                <a:solidFill>
                  <a:srgbClr val="F2F2F2"/>
                </a:solidFill>
                <a:latin typeface="Segoe UI" pitchFamily="34" charset="0"/>
              </a:rPr>
              <a:t>15%</a:t>
            </a:r>
          </a:p>
        </p:txBody>
      </p:sp>
      <p:sp>
        <p:nvSpPr>
          <p:cNvPr id="10" name="Round Same-side Corner of Rectangle 15">
            <a:extLst>
              <a:ext uri="{FF2B5EF4-FFF2-40B4-BE49-F238E27FC236}">
                <a16:creationId xmlns:a16="http://schemas.microsoft.com/office/drawing/2014/main" id="{FA0DFB68-D346-A7CF-89C5-5913D8C7F029}"/>
              </a:ext>
            </a:extLst>
          </p:cNvPr>
          <p:cNvSpPr/>
          <p:nvPr/>
        </p:nvSpPr>
        <p:spPr>
          <a:xfrm>
            <a:off x="4377509" y="1062232"/>
            <a:ext cx="1728000" cy="776883"/>
          </a:xfrm>
          <a:prstGeom prst="round2SameRect">
            <a:avLst>
              <a:gd name="adj1" fmla="val 6396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1200" b="1" kern="0" spc="-25" dirty="0">
                <a:solidFill>
                  <a:srgbClr val="F2F2F2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Portfolio</a:t>
            </a:r>
          </a:p>
          <a:p>
            <a:pPr algn="l" rt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2000" b="1" spc="-25" dirty="0">
                <a:solidFill>
                  <a:srgbClr val="F2F2F2"/>
                </a:solidFill>
                <a:latin typeface="Segoe UI" pitchFamily="34" charset="0"/>
              </a:rPr>
              <a:t>20%</a:t>
            </a:r>
          </a:p>
        </p:txBody>
      </p:sp>
      <p:sp>
        <p:nvSpPr>
          <p:cNvPr id="22" name="Round Same-side Corner of Rectangle 16">
            <a:extLst>
              <a:ext uri="{FF2B5EF4-FFF2-40B4-BE49-F238E27FC236}">
                <a16:creationId xmlns:a16="http://schemas.microsoft.com/office/drawing/2014/main" id="{705913A4-6E8A-1995-1D2C-1018E9F5EA31}"/>
              </a:ext>
            </a:extLst>
          </p:cNvPr>
          <p:cNvSpPr/>
          <p:nvPr/>
        </p:nvSpPr>
        <p:spPr>
          <a:xfrm>
            <a:off x="6262053" y="1063754"/>
            <a:ext cx="1728000" cy="784324"/>
          </a:xfrm>
          <a:prstGeom prst="round2SameRect">
            <a:avLst>
              <a:gd name="adj1" fmla="val 8450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1200" b="1" i="0" u="none" strike="noStrike" kern="0" cap="none" spc="-25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Inorganic Expansion</a:t>
            </a:r>
          </a:p>
          <a:p>
            <a:pPr algn="l" rt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2000" b="1" spc="-25" dirty="0">
                <a:solidFill>
                  <a:srgbClr val="F2F2F2"/>
                </a:solidFill>
                <a:latin typeface="Segoe UI" pitchFamily="34" charset="0"/>
              </a:rPr>
              <a:t>25%</a:t>
            </a:r>
          </a:p>
        </p:txBody>
      </p:sp>
      <p:sp>
        <p:nvSpPr>
          <p:cNvPr id="35" name="Round Same-side Corner of Rectangle 17">
            <a:extLst>
              <a:ext uri="{FF2B5EF4-FFF2-40B4-BE49-F238E27FC236}">
                <a16:creationId xmlns:a16="http://schemas.microsoft.com/office/drawing/2014/main" id="{85F95A18-F800-2537-F418-4DD45DE9845E}"/>
              </a:ext>
            </a:extLst>
          </p:cNvPr>
          <p:cNvSpPr/>
          <p:nvPr/>
        </p:nvSpPr>
        <p:spPr>
          <a:xfrm>
            <a:off x="8146597" y="1063754"/>
            <a:ext cx="1728000" cy="776883"/>
          </a:xfrm>
          <a:prstGeom prst="round2SameRect">
            <a:avLst>
              <a:gd name="adj1" fmla="val 6395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1200" b="1" i="0" u="none" strike="noStrike" kern="0" cap="none" spc="-25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Digital</a:t>
            </a:r>
            <a:endParaRPr lang="en-US" sz="1200" b="1" spc="-25" dirty="0">
              <a:solidFill>
                <a:srgbClr val="F2F2F2"/>
              </a:solidFill>
              <a:latin typeface="Segoe UI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Adoption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2000" b="1" spc="-25" dirty="0">
                <a:solidFill>
                  <a:srgbClr val="F2F2F2"/>
                </a:solidFill>
                <a:latin typeface="Segoe UI" pitchFamily="34" charset="0"/>
              </a:rPr>
              <a:t>10%</a:t>
            </a:r>
          </a:p>
        </p:txBody>
      </p:sp>
      <p:sp>
        <p:nvSpPr>
          <p:cNvPr id="36" name="Round Same-side Corner of Rectangle 18">
            <a:extLst>
              <a:ext uri="{FF2B5EF4-FFF2-40B4-BE49-F238E27FC236}">
                <a16:creationId xmlns:a16="http://schemas.microsoft.com/office/drawing/2014/main" id="{081664A5-E274-440E-F532-43C21C123B68}"/>
              </a:ext>
            </a:extLst>
          </p:cNvPr>
          <p:cNvSpPr/>
          <p:nvPr/>
        </p:nvSpPr>
        <p:spPr>
          <a:xfrm>
            <a:off x="10031141" y="1063753"/>
            <a:ext cx="1728000" cy="776883"/>
          </a:xfrm>
          <a:prstGeom prst="round2SameRect">
            <a:avLst>
              <a:gd name="adj1" fmla="val 6395"/>
              <a:gd name="adj2" fmla="val 0"/>
            </a:avLst>
          </a:prstGeom>
          <a:solidFill>
            <a:srgbClr val="281A4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1200" b="1" i="0" u="none" strike="noStrike" kern="0" cap="none" spc="-25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Enablers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endParaRPr kumimoji="0" lang="en-US" sz="1200" b="1" i="0" u="none" strike="noStrike" kern="0" cap="none" spc="-25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Segoe UI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 rtl="0"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US" sz="2000" b="1" spc="-25" dirty="0">
                <a:solidFill>
                  <a:srgbClr val="F2F2F2"/>
                </a:solidFill>
                <a:latin typeface="Segoe UI" pitchFamily="34" charset="0"/>
              </a:rPr>
              <a:t>10%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00F540-3415-22FB-2E43-4B835F964C36}"/>
              </a:ext>
            </a:extLst>
          </p:cNvPr>
          <p:cNvSpPr/>
          <p:nvPr/>
        </p:nvSpPr>
        <p:spPr>
          <a:xfrm>
            <a:off x="10081967" y="1764428"/>
            <a:ext cx="1669898" cy="494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spc="-10" dirty="0">
                <a:solidFill>
                  <a:srgbClr val="FFFFFF"/>
                </a:solidFill>
                <a:latin typeface="Arial" pitchFamily="34" charset="0"/>
              </a:rPr>
              <a:t>$340M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F193EC-FB4D-252A-CDAE-91A3B5E5D22E}"/>
              </a:ext>
            </a:extLst>
          </p:cNvPr>
          <p:cNvSpPr txBox="1"/>
          <p:nvPr/>
        </p:nvSpPr>
        <p:spPr>
          <a:xfrm>
            <a:off x="619134" y="2233017"/>
            <a:ext cx="11140625" cy="323493"/>
          </a:xfrm>
          <a:prstGeom prst="roundRect">
            <a:avLst/>
          </a:prstGeom>
          <a:solidFill>
            <a:srgbClr val="60BDBC"/>
          </a:solidFill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u="none" strike="noStrike" kern="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</a:rPr>
              <a:t>CRITICAL ROLES @ EACH </a:t>
            </a:r>
            <a:r>
              <a:rPr lang="en-US" sz="1300" spc="-10" dirty="0">
                <a:solidFill>
                  <a:srgbClr val="1D1D1D"/>
                </a:solidFill>
                <a:latin typeface="Arial" pitchFamily="34" charset="0"/>
              </a:rPr>
              <a:t>HOTSPOT</a:t>
            </a:r>
            <a:endParaRPr kumimoji="0" lang="en-GB" sz="1300" u="none" strike="noStrike" kern="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9337D03-7DF2-1BBD-34DE-90BFDA4A1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6906"/>
              </p:ext>
            </p:extLst>
          </p:nvPr>
        </p:nvGraphicFramePr>
        <p:xfrm>
          <a:off x="608421" y="2641904"/>
          <a:ext cx="1670002" cy="2926109"/>
        </p:xfrm>
        <a:graphic>
          <a:graphicData uri="http://schemas.openxmlformats.org/drawingml/2006/table">
            <a:tbl>
              <a:tblPr/>
              <a:tblGrid>
                <a:gridCol w="1670002">
                  <a:extLst>
                    <a:ext uri="{9D8B030D-6E8A-4147-A177-3AD203B41FA5}">
                      <a16:colId xmlns:a16="http://schemas.microsoft.com/office/drawing/2014/main" val="1769993756"/>
                    </a:ext>
                  </a:extLst>
                </a:gridCol>
              </a:tblGrid>
              <a:tr h="2926109">
                <a:tc>
                  <a:txBody>
                    <a:bodyPr/>
                    <a:lstStyle/>
                    <a:p>
                      <a:pPr marL="228600" marR="0" lvl="0" indent="-141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Transformation </a:t>
                      </a:r>
                    </a:p>
                    <a:p>
                      <a:pPr marL="228600" marR="0" lvl="0" indent="-141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Tax </a:t>
                      </a:r>
                    </a:p>
                    <a:p>
                      <a:pPr marL="228600" marR="0" lvl="0" indent="-141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</a:t>
                      </a: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Treasury </a:t>
                      </a:r>
                    </a:p>
                    <a:p>
                      <a:pPr marL="228600" marR="0" lvl="0" indent="-141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Corporate Communications</a:t>
                      </a:r>
                    </a:p>
                    <a:p>
                      <a:pPr marL="228600" indent="-141288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Change Management</a:t>
                      </a:r>
                    </a:p>
                    <a:p>
                      <a:pPr marL="228600" indent="-141288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Processes (Shared Services) </a:t>
                      </a: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56057"/>
                  </a:ext>
                </a:extLst>
              </a:tr>
            </a:tbl>
          </a:graphicData>
        </a:graphic>
      </p:graphicFrame>
      <p:grpSp>
        <p:nvGrpSpPr>
          <p:cNvPr id="56" name="Group 55">
            <a:extLst>
              <a:ext uri="{FF2B5EF4-FFF2-40B4-BE49-F238E27FC236}">
                <a16:creationId xmlns:a16="http://schemas.microsoft.com/office/drawing/2014/main" id="{B03E3309-6383-1190-108B-3FE6434E9AF8}"/>
              </a:ext>
            </a:extLst>
          </p:cNvPr>
          <p:cNvGrpSpPr/>
          <p:nvPr/>
        </p:nvGrpSpPr>
        <p:grpSpPr>
          <a:xfrm>
            <a:off x="5863405" y="5794246"/>
            <a:ext cx="797296" cy="180000"/>
            <a:chOff x="5456868" y="6365966"/>
            <a:chExt cx="797296" cy="18000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BDDDA37-A172-1349-6EBB-CE712DC4A505}"/>
                </a:ext>
              </a:extLst>
            </p:cNvPr>
            <p:cNvSpPr txBox="1">
              <a:spLocks/>
            </p:cNvSpPr>
            <p:nvPr/>
          </p:nvSpPr>
          <p:spPr>
            <a:xfrm>
              <a:off x="5690868" y="6394409"/>
              <a:ext cx="563296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>
                  <a:solidFill>
                    <a:srgbClr val="1D1D1D"/>
                  </a:solidFill>
                </a:defRPr>
              </a:pPr>
              <a:r>
                <a:rPr kumimoji="0" lang="en-US" sz="800" u="none" strike="noStrike" kern="1200" cap="none" spc="-10" normalizeH="0" baseline="0" noProof="0" dirty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</a:rPr>
                <a:t>New Role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034AC10-0A54-964D-6192-F5F48845314A}"/>
                </a:ext>
              </a:extLst>
            </p:cNvPr>
            <p:cNvSpPr txBox="1">
              <a:spLocks/>
            </p:cNvSpPr>
            <p:nvPr/>
          </p:nvSpPr>
          <p:spPr>
            <a:xfrm>
              <a:off x="5456868" y="6365966"/>
              <a:ext cx="160295" cy="180000"/>
            </a:xfrm>
            <a:prstGeom prst="rect">
              <a:avLst/>
            </a:prstGeom>
            <a:solidFill>
              <a:srgbClr val="60BDBC">
                <a:alpha val="50000"/>
              </a:srgbClr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72000" tIns="72000" rIns="72000" bIns="72000" rtlCol="0" anchor="t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800" u="none" strike="noStrike" kern="120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 pitchFamily="34" charset="0"/>
              </a:endParaRP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FEDEE7-2889-8731-7096-08247A9FB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86149"/>
              </p:ext>
            </p:extLst>
          </p:nvPr>
        </p:nvGraphicFramePr>
        <p:xfrm>
          <a:off x="2500721" y="2641904"/>
          <a:ext cx="1670002" cy="2926109"/>
        </p:xfrm>
        <a:graphic>
          <a:graphicData uri="http://schemas.openxmlformats.org/drawingml/2006/table">
            <a:tbl>
              <a:tblPr/>
              <a:tblGrid>
                <a:gridCol w="1670002">
                  <a:extLst>
                    <a:ext uri="{9D8B030D-6E8A-4147-A177-3AD203B41FA5}">
                      <a16:colId xmlns:a16="http://schemas.microsoft.com/office/drawing/2014/main" val="1769993756"/>
                    </a:ext>
                  </a:extLst>
                </a:gridCol>
              </a:tblGrid>
              <a:tr h="2926109">
                <a:tc>
                  <a:txBody>
                    <a:bodyPr/>
                    <a:lstStyle/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Corporate Supply Chain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Cluster Manufacturing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Sr Dir Digital Mfg </a:t>
                      </a:r>
                    </a:p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</a:t>
                      </a: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Finance Mfg </a:t>
                      </a:r>
                    </a:p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Mfg Turkey </a:t>
                      </a:r>
                    </a:p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Mfg</a:t>
                      </a: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5605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A8F1335-72AF-307C-AE1B-7D2DF59FA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786746"/>
              </p:ext>
            </p:extLst>
          </p:nvPr>
        </p:nvGraphicFramePr>
        <p:xfrm>
          <a:off x="4380321" y="2641904"/>
          <a:ext cx="1670002" cy="2933396"/>
        </p:xfrm>
        <a:graphic>
          <a:graphicData uri="http://schemas.openxmlformats.org/drawingml/2006/table">
            <a:tbl>
              <a:tblPr/>
              <a:tblGrid>
                <a:gridCol w="1670002">
                  <a:extLst>
                    <a:ext uri="{9D8B030D-6E8A-4147-A177-3AD203B41FA5}">
                      <a16:colId xmlns:a16="http://schemas.microsoft.com/office/drawing/2014/main" val="1769993756"/>
                    </a:ext>
                  </a:extLst>
                </a:gridCol>
              </a:tblGrid>
              <a:tr h="2933396">
                <a:tc>
                  <a:txBody>
                    <a:bodyPr/>
                    <a:lstStyle/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Generics Portfolio Strategy, BD and Launches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Corporate Development 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Regulatory, Medical &amp; Pharmacovigilance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Generics (5 regions)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Alliance Management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New Launches</a:t>
                      </a: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560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6373FE8-490F-F5AE-F459-766179B77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03653"/>
              </p:ext>
            </p:extLst>
          </p:nvPr>
        </p:nvGraphicFramePr>
        <p:xfrm>
          <a:off x="6272621" y="2641904"/>
          <a:ext cx="1670002" cy="2926109"/>
        </p:xfrm>
        <a:graphic>
          <a:graphicData uri="http://schemas.openxmlformats.org/drawingml/2006/table">
            <a:tbl>
              <a:tblPr/>
              <a:tblGrid>
                <a:gridCol w="1670002">
                  <a:extLst>
                    <a:ext uri="{9D8B030D-6E8A-4147-A177-3AD203B41FA5}">
                      <a16:colId xmlns:a16="http://schemas.microsoft.com/office/drawing/2014/main" val="1769993756"/>
                    </a:ext>
                  </a:extLst>
                </a:gridCol>
              </a:tblGrid>
              <a:tr h="2926109">
                <a:tc>
                  <a:txBody>
                    <a:bodyPr/>
                    <a:lstStyle/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Corporate Development 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DD &amp; Operations</a:t>
                      </a:r>
                    </a:p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Corporate Legal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M&amp;A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Post Merger Integration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Insights</a:t>
                      </a:r>
                    </a:p>
                    <a:p>
                      <a:pPr marL="228600" indent="-139700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New Markets</a:t>
                      </a:r>
                    </a:p>
                    <a:p>
                      <a:pPr marL="228600" marR="0" lvl="0" indent="-141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endParaRPr lang="en-GB" sz="1000" kern="1200" dirty="0">
                        <a:solidFill>
                          <a:srgbClr val="00C27A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5605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6774EB-B374-C859-598D-D99943377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308189"/>
              </p:ext>
            </p:extLst>
          </p:nvPr>
        </p:nvGraphicFramePr>
        <p:xfrm>
          <a:off x="8164921" y="2641904"/>
          <a:ext cx="1670002" cy="2926109"/>
        </p:xfrm>
        <a:graphic>
          <a:graphicData uri="http://schemas.openxmlformats.org/drawingml/2006/table">
            <a:tbl>
              <a:tblPr/>
              <a:tblGrid>
                <a:gridCol w="1670002">
                  <a:extLst>
                    <a:ext uri="{9D8B030D-6E8A-4147-A177-3AD203B41FA5}">
                      <a16:colId xmlns:a16="http://schemas.microsoft.com/office/drawing/2014/main" val="1769993756"/>
                    </a:ext>
                  </a:extLst>
                </a:gridCol>
              </a:tblGrid>
              <a:tr h="2926109">
                <a:tc>
                  <a:txBody>
                    <a:bodyPr/>
                    <a:lstStyle/>
                    <a:p>
                      <a:pPr marL="228600" indent="-136525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Digital &amp; Innovation </a:t>
                      </a:r>
                    </a:p>
                    <a:p>
                      <a:pPr marL="228600" marR="0" lvl="0" indent="-1365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Sr Dir Digital Mfg </a:t>
                      </a:r>
                    </a:p>
                    <a:p>
                      <a:pPr marL="228600" indent="-136525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Digital Generics</a:t>
                      </a:r>
                    </a:p>
                    <a:p>
                      <a:pPr marL="228600" marR="0" lvl="0" indent="-1365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IT </a:t>
                      </a:r>
                    </a:p>
                    <a:p>
                      <a:pPr marL="228600" indent="-136525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Platform Integration Lead / Enterprise Architect </a:t>
                      </a:r>
                    </a:p>
                    <a:p>
                      <a:pPr marL="228600" indent="-136525" algn="l" rtl="0"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Digital CoE</a:t>
                      </a:r>
                    </a:p>
                    <a:p>
                      <a:pPr marL="228600" marR="0" lvl="0" indent="-1365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Digital Adoption</a:t>
                      </a: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endParaRPr lang="en-GB" sz="1000" kern="1200" dirty="0">
                        <a:solidFill>
                          <a:srgbClr val="00C27A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5605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50659A-985A-99CB-0A5D-503A53C1B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133863"/>
              </p:ext>
            </p:extLst>
          </p:nvPr>
        </p:nvGraphicFramePr>
        <p:xfrm>
          <a:off x="10044521" y="2641904"/>
          <a:ext cx="1670002" cy="2926109"/>
        </p:xfrm>
        <a:graphic>
          <a:graphicData uri="http://schemas.openxmlformats.org/drawingml/2006/table">
            <a:tbl>
              <a:tblPr/>
              <a:tblGrid>
                <a:gridCol w="1670002">
                  <a:extLst>
                    <a:ext uri="{9D8B030D-6E8A-4147-A177-3AD203B41FA5}">
                      <a16:colId xmlns:a16="http://schemas.microsoft.com/office/drawing/2014/main" val="1769993756"/>
                    </a:ext>
                  </a:extLst>
                </a:gridCol>
              </a:tblGrid>
              <a:tr h="2926109">
                <a:tc>
                  <a:txBody>
                    <a:bodyPr/>
                    <a:lstStyle/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Cybersecurity</a:t>
                      </a:r>
                    </a:p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Corporate Quality</a:t>
                      </a:r>
                    </a:p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Integrity &amp; Compliance </a:t>
                      </a:r>
                    </a:p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HR Due Diligence &amp; OD</a:t>
                      </a:r>
                    </a:p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Risk </a:t>
                      </a:r>
                    </a:p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Environmental Sustainability </a:t>
                      </a:r>
                    </a:p>
                    <a:p>
                      <a:pPr marL="265113" indent="-173038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r>
                        <a:rPr lang="en-GB" alt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HR CoEs</a:t>
                      </a:r>
                    </a:p>
                    <a:p>
                      <a:pPr marL="342900" indent="-342900">
                        <a:buClr>
                          <a:schemeClr val="tx2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endParaRPr lang="en-GB" sz="1000" dirty="0">
                        <a:solidFill>
                          <a:srgbClr val="FF2E88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marL="228600" marR="0" lvl="0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200" b="1">
                          <a:solidFill>
                            <a:srgbClr val="FFFFFF"/>
                          </a:solidFill>
                          <a:latin typeface="Arial" pitchFamily="34" charset="0"/>
                        </a:defRPr>
                      </a:pPr>
                      <a:endParaRPr lang="en-GB" sz="1000" kern="1200" dirty="0">
                        <a:solidFill>
                          <a:srgbClr val="00C27A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56057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A43448F7-DAB4-4B54-F588-7A52107A325D}"/>
              </a:ext>
            </a:extLst>
          </p:cNvPr>
          <p:cNvGrpSpPr/>
          <p:nvPr/>
        </p:nvGrpSpPr>
        <p:grpSpPr>
          <a:xfrm>
            <a:off x="10520433" y="46729"/>
            <a:ext cx="1665362" cy="313377"/>
            <a:chOff x="10012530" y="308795"/>
            <a:chExt cx="1665362" cy="3133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48AA70-14F0-5DD7-E3BD-1187B9CA7C6C}"/>
                </a:ext>
              </a:extLst>
            </p:cNvPr>
            <p:cNvSpPr txBox="1"/>
            <p:nvPr/>
          </p:nvSpPr>
          <p:spPr>
            <a:xfrm>
              <a:off x="10242884" y="308795"/>
              <a:ext cx="1435008" cy="25391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GB" sz="1050" b="1" spc="-25" dirty="0">
                  <a:solidFill>
                    <a:srgbClr val="765FFF"/>
                  </a:solidFill>
                  <a:latin typeface="Segoe UI" pitchFamily="34" charset="0"/>
                  <a:cs typeface="Helvetica Neue" panose="020B0604020202020204" charset="0"/>
                </a:rPr>
                <a:t>Illustrative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5AEAFA-5F02-AF78-9477-4A0A2AB21E07}"/>
                </a:ext>
              </a:extLst>
            </p:cNvPr>
            <p:cNvCxnSpPr>
              <a:cxnSpLocks/>
            </p:cNvCxnSpPr>
            <p:nvPr/>
          </p:nvCxnSpPr>
          <p:spPr>
            <a:xfrm>
              <a:off x="10012530" y="507437"/>
              <a:ext cx="1665362" cy="974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50FB602-D5E5-9842-D4C9-766337493744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707" y="335474"/>
              <a:ext cx="230354" cy="286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306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58A46-F904-DCCB-5E56-8FEF105F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7FD60C-C91A-A104-3AC0-22124363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Human </a:t>
            </a:r>
            <a:r>
              <a:rPr lang="en-GB" noProof="0" dirty="0"/>
              <a:t>Capital Balance Sheet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D41CB-2778-40B2-295D-73B64B9024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57188" indent="-92075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dirty="0"/>
              <a:t>Role &amp; Talent risks</a:t>
            </a:r>
          </a:p>
          <a:p>
            <a:r>
              <a:rPr lang="en-US" altLang="en-US" dirty="0"/>
              <a:t>Currently role risk is moderate for roles assessed - 7 were rated red / amber with 13 / 30 roles not assessed. </a:t>
            </a:r>
          </a:p>
          <a:p>
            <a:r>
              <a:rPr lang="en-US" altLang="en-US" dirty="0"/>
              <a:t>Overall, strong talent for roles assessed, with moderate risks in ability to scale and succession</a:t>
            </a:r>
          </a:p>
          <a:p>
            <a:r>
              <a:rPr lang="en-US" altLang="en-US" dirty="0"/>
              <a:t>Succession planning is weak with roles rated “amber” due to lack of ready-now clear successor, especially in functional &amp; regional roles. </a:t>
            </a:r>
          </a:p>
          <a:p>
            <a:r>
              <a:rPr lang="en-US" altLang="en-US" dirty="0"/>
              <a:t>New Roles </a:t>
            </a:r>
          </a:p>
          <a:p>
            <a:r>
              <a:rPr lang="en-US" altLang="en-US" dirty="0"/>
              <a:t>There are 6 new roles and 6 vacant positions out of the Top 30.</a:t>
            </a:r>
          </a:p>
          <a:p>
            <a:r>
              <a:rPr lang="en-US" altLang="en-US" dirty="0"/>
              <a:t>Most new roles are in change and post-merger integration. </a:t>
            </a:r>
          </a:p>
          <a:p>
            <a:r>
              <a:rPr lang="en-US" altLang="en-US" dirty="0"/>
              <a:t>There is misalignment and resistance in the newly defined roles at market / country level in supply chain.</a:t>
            </a:r>
          </a:p>
          <a:p>
            <a:r>
              <a:rPr lang="en-US" dirty="0">
                <a:sym typeface="Helvetica Neue"/>
              </a:rPr>
              <a:t>Capabilities for Growth </a:t>
            </a:r>
          </a:p>
          <a:p>
            <a:r>
              <a:rPr lang="en-US" dirty="0"/>
              <a:t>Need for regulatory, supply chain, commercial and market access capabilities to support new launches and market entries </a:t>
            </a:r>
            <a:endParaRPr lang="en-US" altLang="en-US" dirty="0"/>
          </a:p>
          <a:p>
            <a:r>
              <a:rPr lang="en-US" altLang="en-US" dirty="0"/>
              <a:t>Current Digital/IT capabilities need ongoing development given criticality for building shared services and automating manufacturing.</a:t>
            </a:r>
          </a:p>
          <a:p>
            <a:r>
              <a:rPr lang="en-US" altLang="en-US" dirty="0"/>
              <a:t>Need to strengthen capabilities in organization change and post merger integration 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D2BEC69C-567D-472E-89BC-2DF85A2FB4DA}" type="slidenum">
              <a:rPr lang="en-US"/>
              <a:pPr/>
              <a:t>11</a:t>
            </a:fld>
            <a:endParaRPr lang="en-US"/>
          </a:p>
        </p:txBody>
      </p:sp>
      <p:sp>
        <p:nvSpPr>
          <p:cNvPr id="10" name="Rectangle: Rounded Corners 17">
            <a:extLst>
              <a:ext uri="{FF2B5EF4-FFF2-40B4-BE49-F238E27FC236}">
                <a16:creationId xmlns:a16="http://schemas.microsoft.com/office/drawing/2014/main" id="{F6E79C78-B24E-F91D-707F-8DAAFF88BCA2}"/>
              </a:ext>
            </a:extLst>
          </p:cNvPr>
          <p:cNvSpPr/>
          <p:nvPr/>
        </p:nvSpPr>
        <p:spPr>
          <a:xfrm>
            <a:off x="7848600" y="1047608"/>
            <a:ext cx="4150669" cy="5229065"/>
          </a:xfrm>
          <a:prstGeom prst="roundRect">
            <a:avLst>
              <a:gd name="adj" fmla="val 3632"/>
            </a:avLst>
          </a:prstGeom>
          <a:solidFill>
            <a:srgbClr val="FFFFFF"/>
          </a:solidFill>
          <a:ln w="12700" cap="flat" cmpd="sng" algn="ctr">
            <a:solidFill>
              <a:srgbClr val="F2F2F2"/>
            </a:solidFill>
            <a:prstDash val="solid"/>
            <a:miter lim="800000"/>
          </a:ln>
          <a:effectLst/>
        </p:spPr>
        <p:txBody>
          <a:bodyPr lIns="91440" tIns="45720" rIns="91440" bIns="45720"/>
          <a:lstStyle>
            <a:lvl1pPr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100" b="1" spc="-25" dirty="0">
              <a:solidFill>
                <a:srgbClr val="281A42"/>
              </a:solidFill>
              <a:latin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51FB6-7E81-AC4E-128E-0391061C9A3A}"/>
              </a:ext>
            </a:extLst>
          </p:cNvPr>
          <p:cNvSpPr txBox="1"/>
          <p:nvPr/>
        </p:nvSpPr>
        <p:spPr>
          <a:xfrm>
            <a:off x="7347932" y="493611"/>
            <a:ext cx="4659313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eaLnBrk="1" hangingPunct="1">
              <a:spcBef>
                <a:spcPts val="600"/>
              </a:spcBef>
            </a:pPr>
            <a:r>
              <a:rPr lang="en-US" altLang="en-US" sz="1400" b="1" spc="-25" dirty="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Human Capital Insights</a:t>
            </a:r>
          </a:p>
          <a:p>
            <a:pPr algn="ctr" eaLnBrk="1" hangingPunct="1">
              <a:spcBef>
                <a:spcPts val="600"/>
              </a:spcBef>
            </a:pPr>
            <a:r>
              <a:rPr lang="en-US" altLang="en-US" sz="1100" b="1" i="1" spc="-25" dirty="0">
                <a:solidFill>
                  <a:srgbClr val="281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N-1 Roles Not Included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540031-AFD1-B35E-B7A4-2033607E14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971902" y="6219668"/>
            <a:ext cx="2722880" cy="629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069D8D-6F35-22EB-86AC-F9A642119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74" y="821570"/>
            <a:ext cx="6811726" cy="539848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BC1B55A-9520-ED1A-FCD4-F43143054050}"/>
              </a:ext>
            </a:extLst>
          </p:cNvPr>
          <p:cNvGrpSpPr/>
          <p:nvPr/>
        </p:nvGrpSpPr>
        <p:grpSpPr>
          <a:xfrm>
            <a:off x="10520433" y="46729"/>
            <a:ext cx="1665362" cy="313377"/>
            <a:chOff x="10012530" y="308795"/>
            <a:chExt cx="1665362" cy="3133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0B7911-2756-27B6-160B-2D8D41842C9D}"/>
                </a:ext>
              </a:extLst>
            </p:cNvPr>
            <p:cNvSpPr txBox="1"/>
            <p:nvPr/>
          </p:nvSpPr>
          <p:spPr>
            <a:xfrm>
              <a:off x="10242884" y="308795"/>
              <a:ext cx="1435008" cy="25391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GB" sz="1050" b="1" spc="-25" dirty="0">
                  <a:solidFill>
                    <a:srgbClr val="765FFF"/>
                  </a:solidFill>
                  <a:latin typeface="Segoe UI" pitchFamily="34" charset="0"/>
                  <a:cs typeface="Helvetica Neue" panose="020B0604020202020204" charset="0"/>
                </a:rPr>
                <a:t>Illustrative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F868EB-61FE-695F-17C1-A0B1410782A2}"/>
                </a:ext>
              </a:extLst>
            </p:cNvPr>
            <p:cNvCxnSpPr>
              <a:cxnSpLocks/>
            </p:cNvCxnSpPr>
            <p:nvPr/>
          </p:nvCxnSpPr>
          <p:spPr>
            <a:xfrm>
              <a:off x="10012530" y="507437"/>
              <a:ext cx="1665362" cy="974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5445CA-530C-1C47-CE25-7379C6C6B19C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707" y="335474"/>
              <a:ext cx="230354" cy="286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5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3D5A-6C77-7026-5196-5A99C02E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Number"/>
          <p:cNvSpPr>
            <a:spLocks noGrp="1"/>
          </p:cNvSpPr>
          <p:nvPr>
            <p:ph type="sldNum" sz="quarter" idx="10"/>
          </p:nvPr>
        </p:nvSpPr>
        <p:spPr/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60D688E1-0564-41B8-912D-DBAE2D39F742}" type="slidenum">
              <a:rPr lang="en-US"/>
              <a:pPr/>
              <a:t>12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F22629-8E50-E67C-A91E-58A664AB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Mobilization Plan</a:t>
            </a:r>
            <a:endParaRPr lang="en-GB" noProof="0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1A7B8D58-3C94-ECD5-41BE-B4DE1BE3CB52}"/>
              </a:ext>
            </a:extLst>
          </p:cNvPr>
          <p:cNvSpPr/>
          <p:nvPr/>
        </p:nvSpPr>
        <p:spPr>
          <a:xfrm>
            <a:off x="713678" y="3459780"/>
            <a:ext cx="1851722" cy="1191137"/>
          </a:xfrm>
          <a:prstGeom prst="roundRect">
            <a:avLst>
              <a:gd name="adj" fmla="val 5228"/>
            </a:avLst>
          </a:prstGeom>
          <a:solidFill>
            <a:srgbClr val="7A82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>
            <a:lvl1pPr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IN" altLang="en-US" spc="-10" dirty="0">
                <a:solidFill>
                  <a:srgbClr val="1D1D1D"/>
                </a:solidFill>
                <a:latin typeface="Arial" pitchFamily="34" charset="0"/>
              </a:rPr>
              <a:t>Is the Top Leadership </a:t>
            </a:r>
          </a:p>
          <a:p>
            <a:pPr algn="ctr"/>
            <a:r>
              <a:rPr lang="en-IN" altLang="en-US" spc="-10" dirty="0">
                <a:solidFill>
                  <a:srgbClr val="1D1D1D"/>
                </a:solidFill>
                <a:latin typeface="Arial" pitchFamily="34" charset="0"/>
              </a:rPr>
              <a:t>team ready?</a:t>
            </a:r>
            <a:endParaRPr lang="en-US" altLang="en-US" spc="-10" dirty="0">
              <a:solidFill>
                <a:srgbClr val="1D1D1D"/>
              </a:solidFill>
              <a:latin typeface="Arial" pitchFamily="34" charset="0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EFD1CBB-767A-8A27-7E8F-FF1A0CE08CAE}"/>
              </a:ext>
            </a:extLst>
          </p:cNvPr>
          <p:cNvSpPr/>
          <p:nvPr/>
        </p:nvSpPr>
        <p:spPr>
          <a:xfrm>
            <a:off x="713678" y="788608"/>
            <a:ext cx="1851722" cy="2520485"/>
          </a:xfrm>
          <a:prstGeom prst="roundRect">
            <a:avLst>
              <a:gd name="adj" fmla="val 5228"/>
            </a:avLst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IN" sz="1400" b="1" spc="-25" dirty="0">
                <a:solidFill>
                  <a:srgbClr val="F2F2F2"/>
                </a:solidFill>
                <a:latin typeface="Segoe UI" pitchFamily="34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Are the Big Bets?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IN" sz="1400" b="1" spc="-25" dirty="0">
                <a:solidFill>
                  <a:srgbClr val="F2F2F2"/>
                </a:solidFill>
                <a:latin typeface="Segoe UI" pitchFamily="34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Are the Stakeholders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lang="en-IN" sz="1400" b="1" spc="-25" dirty="0">
                <a:solidFill>
                  <a:srgbClr val="F2F2F2"/>
                </a:solidFill>
                <a:latin typeface="Segoe UI" pitchFamily="34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Aligned?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235B42A-BAB1-029F-6741-6BDC3B3D6FDD}"/>
              </a:ext>
            </a:extLst>
          </p:cNvPr>
          <p:cNvSpPr/>
          <p:nvPr/>
        </p:nvSpPr>
        <p:spPr>
          <a:xfrm>
            <a:off x="713678" y="4773250"/>
            <a:ext cx="1851722" cy="1256040"/>
          </a:xfrm>
          <a:prstGeom prst="roundRect">
            <a:avLst>
              <a:gd name="adj" fmla="val 5228"/>
            </a:avLst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r>
              <a:rPr lang="en-IN" sz="1400" spc="-10" dirty="0">
                <a:solidFill>
                  <a:srgbClr val="FFFFFF"/>
                </a:solidFill>
                <a:latin typeface="Arial" pitchFamily="34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Do we have enough talent where it matters?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DC06F5BD-CF80-BB3A-9858-497079169E54}"/>
              </a:ext>
            </a:extLst>
          </p:cNvPr>
          <p:cNvSpPr/>
          <p:nvPr/>
        </p:nvSpPr>
        <p:spPr bwMode="auto">
          <a:xfrm>
            <a:off x="2886061" y="828711"/>
            <a:ext cx="8810639" cy="2469749"/>
          </a:xfrm>
          <a:prstGeom prst="roundRect">
            <a:avLst>
              <a:gd name="adj" fmla="val 4250"/>
            </a:avLst>
          </a:prstGeom>
          <a:solidFill>
            <a:srgbClr val="F2F2F2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t"/>
          <a:lstStyle>
            <a:lvl1pPr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 spc="-25">
                <a:solidFill>
                  <a:srgbClr val="1D1D1D"/>
                </a:solidFill>
                <a:latin typeface="Segoe UI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endParaRPr lang="en-IN" altLang="en-US" b="1" spc="-25" dirty="0">
              <a:solidFill>
                <a:srgbClr val="765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IN" altLang="en-US" b="1" spc="-25" dirty="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Operating Model &amp; Governance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 Clear Decision Rights and Ways of Working at Key Interfaces (global Supply Chain, Portfolio Strategy, Bd &amp; Launches).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Once the New Structure Is Stable (6–12 Months), Launch Zero Based Budgeting (zbb) to Reduce Duplication and Streamline Costs.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 Medium-term Op. Model Roadmap to Consolidate Manufacturing &amp; Regions with Future Roles Such as Head of Alliance Management, Head of New Launches, </a:t>
            </a:r>
            <a:r>
              <a:rPr lang="en-GB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New Markets, Head of Digital CoE, Head of Digital Adoption</a:t>
            </a:r>
            <a:endParaRPr lang="en-US" altLang="en-US" sz="1050" b="1" spc="-25" dirty="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IN" altLang="en-US" sz="1050" b="1" spc="-25" dirty="0">
              <a:solidFill>
                <a:srgbClr val="1D1D1D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endParaRPr lang="en-US" altLang="en-US" b="1" spc="-25" dirty="0">
              <a:solidFill>
                <a:srgbClr val="765FFF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en-US" b="1" spc="-25" dirty="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 Digital Mandate &amp; Accelerate Change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 next Evolution of Digital Strategy &amp; Roadmap (beyond IT Foundations) and Get Board Endorsement.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 Which Digital Roles Should Sit Centrally in CoE Vs. Which Roles Should Sit in the Businesses to Drive Adoption.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Change: </a:t>
            </a:r>
            <a:r>
              <a:rPr lang="en-US" altLang="en-US" sz="1050" b="1" spc="-25" dirty="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Link the Change Agenda to Strategic Pivots (manufacturing, Shared Services, Digital).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6C035E46-D9CA-B7AF-E3A0-4F61C75DEA4A}"/>
              </a:ext>
            </a:extLst>
          </p:cNvPr>
          <p:cNvSpPr/>
          <p:nvPr/>
        </p:nvSpPr>
        <p:spPr bwMode="auto">
          <a:xfrm>
            <a:off x="2926686" y="3523789"/>
            <a:ext cx="8810639" cy="1127128"/>
          </a:xfrm>
          <a:prstGeom prst="roundRect">
            <a:avLst>
              <a:gd name="adj" fmla="val 4250"/>
            </a:avLst>
          </a:prstGeom>
          <a:solidFill>
            <a:srgbClr val="F2F2F2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t"/>
          <a:lstStyle>
            <a:lvl1pPr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0"/>
            <a:endParaRPr lang="en-US" altLang="en-US" spc="-10" dirty="0">
              <a:solidFill>
                <a:srgbClr val="765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en-US" spc="-10" dirty="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Enable N-1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success enabling plans for N-1 roles </a:t>
            </a:r>
            <a:r>
              <a:rPr lang="en-US" sz="1050" kern="0" spc="-10" dirty="0">
                <a:latin typeface="Arial" pitchFamily="34" charset="0"/>
              </a:rPr>
              <a:t>(align on future jobs to be done, identify risks &amp; define actions to mitigate execution risks)</a:t>
            </a:r>
            <a:endParaRPr lang="en-US" sz="1050" spc="-10" dirty="0">
              <a:solidFill>
                <a:srgbClr val="00C27A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sz="105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Establish a quarterly session for the top team to rapidly resolve organization pain points &amp; risks.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en-US" sz="105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en-US" sz="105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55C92723-50AC-9ABB-31A7-2D746D060CF5}"/>
              </a:ext>
            </a:extLst>
          </p:cNvPr>
          <p:cNvSpPr/>
          <p:nvPr/>
        </p:nvSpPr>
        <p:spPr bwMode="auto">
          <a:xfrm>
            <a:off x="2926686" y="4773249"/>
            <a:ext cx="8810639" cy="1256040"/>
          </a:xfrm>
          <a:prstGeom prst="roundRect">
            <a:avLst>
              <a:gd name="adj" fmla="val 4250"/>
            </a:avLst>
          </a:prstGeom>
          <a:solidFill>
            <a:srgbClr val="F2F2F2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>
            <a:lvl1pPr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spc="-10">
                <a:solidFill>
                  <a:srgbClr val="1D1D1D"/>
                </a:solidFill>
                <a:latin typeface="Arial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endParaRPr lang="en-IN" altLang="en-US" spc="-10" dirty="0">
              <a:solidFill>
                <a:srgbClr val="765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IN" altLang="en-US" spc="-10" dirty="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Prioritize hiring new &amp; vacant critical roles</a:t>
            </a:r>
            <a:endParaRPr lang="en-IN" sz="1600" spc="-10" dirty="0">
              <a:latin typeface="Arial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sz="105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Phased Talent Acquisition: Finalize recruitment priorities for next 12 months, with an initial focus on Head Of Strategic Insights, VP Digital and Head of Change Management. , </a:t>
            </a:r>
            <a:endParaRPr lang="en-US" altLang="en-US" sz="1050" spc="-10" dirty="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5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Onboarding for New Roles: Build clear onboarding plans for each new role with 4–5 Jobs To Be Done.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sz="105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Succession Planning: Create a dedicated process for the 10 critical roles rated red/amber for succession planning</a:t>
            </a:r>
            <a:endParaRPr lang="en-IN" altLang="en-US" sz="1050" spc="-10" dirty="0">
              <a:latin typeface="Arial" pitchFamily="34" charset="0"/>
            </a:endParaRPr>
          </a:p>
          <a:p>
            <a:endParaRPr lang="en-IN" altLang="en-US" spc="-10" dirty="0">
              <a:solidFill>
                <a:srgbClr val="765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33554B-B776-F4BA-D0CC-FD9DC7466BE1}"/>
              </a:ext>
            </a:extLst>
          </p:cNvPr>
          <p:cNvSpPr/>
          <p:nvPr/>
        </p:nvSpPr>
        <p:spPr>
          <a:xfrm>
            <a:off x="2676113" y="793316"/>
            <a:ext cx="375163" cy="334963"/>
          </a:xfrm>
          <a:prstGeom prst="ellipse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spc="-25" dirty="0">
                <a:solidFill>
                  <a:srgbClr val="FFFFFF"/>
                </a:solidFill>
                <a:latin typeface="Segoe UI" pitchFamily="34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ABC841-0BEA-6A06-9D32-1FB80D7C3A43}"/>
              </a:ext>
            </a:extLst>
          </p:cNvPr>
          <p:cNvSpPr/>
          <p:nvPr/>
        </p:nvSpPr>
        <p:spPr>
          <a:xfrm>
            <a:off x="2676113" y="2037500"/>
            <a:ext cx="375163" cy="334963"/>
          </a:xfrm>
          <a:prstGeom prst="ellipse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A5BF3F5-4A17-7970-C0E1-B80DD2441280}"/>
              </a:ext>
            </a:extLst>
          </p:cNvPr>
          <p:cNvSpPr/>
          <p:nvPr/>
        </p:nvSpPr>
        <p:spPr>
          <a:xfrm>
            <a:off x="2676113" y="3391011"/>
            <a:ext cx="375163" cy="334963"/>
          </a:xfrm>
          <a:prstGeom prst="ellipse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C74C99-7697-6C64-648E-A0A1477667C4}"/>
              </a:ext>
            </a:extLst>
          </p:cNvPr>
          <p:cNvSpPr/>
          <p:nvPr/>
        </p:nvSpPr>
        <p:spPr>
          <a:xfrm>
            <a:off x="2664225" y="4844686"/>
            <a:ext cx="321896" cy="334963"/>
          </a:xfrm>
          <a:prstGeom prst="ellipse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4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FB5A79-4AD5-9E3D-97AD-53AC09E1BB15}"/>
              </a:ext>
            </a:extLst>
          </p:cNvPr>
          <p:cNvGrpSpPr/>
          <p:nvPr/>
        </p:nvGrpSpPr>
        <p:grpSpPr>
          <a:xfrm>
            <a:off x="10520433" y="46729"/>
            <a:ext cx="1665362" cy="313377"/>
            <a:chOff x="10012530" y="308795"/>
            <a:chExt cx="1665362" cy="3133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F316AF-BAAE-C8B2-7BD0-C84AA53B28CC}"/>
                </a:ext>
              </a:extLst>
            </p:cNvPr>
            <p:cNvSpPr txBox="1"/>
            <p:nvPr/>
          </p:nvSpPr>
          <p:spPr>
            <a:xfrm>
              <a:off x="10242884" y="308795"/>
              <a:ext cx="1435008" cy="25391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GB" sz="1050" b="1" spc="-25" dirty="0">
                  <a:solidFill>
                    <a:srgbClr val="765FFF"/>
                  </a:solidFill>
                  <a:latin typeface="Segoe UI" pitchFamily="34" charset="0"/>
                  <a:cs typeface="Helvetica Neue" panose="020B0604020202020204" charset="0"/>
                </a:rPr>
                <a:t>Illustrative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E1C5C0-F9C4-261C-E210-5E021D1AFBC6}"/>
                </a:ext>
              </a:extLst>
            </p:cNvPr>
            <p:cNvCxnSpPr>
              <a:cxnSpLocks/>
            </p:cNvCxnSpPr>
            <p:nvPr/>
          </p:nvCxnSpPr>
          <p:spPr>
            <a:xfrm>
              <a:off x="10012530" y="507437"/>
              <a:ext cx="1665362" cy="974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E03221-43E1-E0BE-F0CF-3D774C27F754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707" y="335474"/>
              <a:ext cx="230354" cy="286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034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A17E-53F8-8FDF-7D39-39731541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09C7899-F321-7CFD-C9BF-C4D88AB5F9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09C7899-F321-7CFD-C9BF-C4D88AB5F9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>
                        <a:duotone>
                          <a:srgbClr val="765FFF"/>
                          <a:srgbClr val="FFFFFF"/>
                        </a:duotone>
                      </a:blip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SlideNumber"/>
          <p:cNvSpPr>
            <a:spLocks noGrp="1"/>
          </p:cNvSpPr>
          <p:nvPr>
            <p:ph type="sldNum" sz="quarter" idx="10"/>
          </p:nvPr>
        </p:nvSpPr>
        <p:spPr/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317FF3FE-BA7B-4FAE-BD60-4140C79FE27B}" type="slidenum">
              <a:rPr lang="en-US"/>
              <a:pPr/>
              <a:t>13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2D1C3F-F2D9-4DCA-A0AE-DFCA680F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en-US" noProof="0" dirty="0">
                <a:sym typeface="Helvetica Neue Light" panose="02000403000000020004" pitchFamily="2" charset="0"/>
              </a:rPr>
              <a:t>Insights: Five Common </a:t>
            </a:r>
            <a:r>
              <a:rPr lang="en-US" altLang="en-US" noProof="0" dirty="0">
                <a:solidFill>
                  <a:schemeClr val="accent1"/>
                </a:solidFill>
                <a:sym typeface="Helvetica Neue Light" panose="02000403000000020004" pitchFamily="2" charset="0"/>
              </a:rPr>
              <a:t>Value Hotspots</a:t>
            </a:r>
            <a:r>
              <a:rPr lang="en-US" altLang="en-US" noProof="0" dirty="0">
                <a:sym typeface="Helvetica Neue Light" panose="02000403000000020004" pitchFamily="2" charset="0"/>
              </a:rPr>
              <a:t> </a:t>
            </a:r>
            <a:r>
              <a:rPr lang="en-US" altLang="en-US" dirty="0">
                <a:sym typeface="Helvetica Neue Light" panose="02000403000000020004" pitchFamily="2" charset="0"/>
              </a:rPr>
              <a:t>across 10+ </a:t>
            </a:r>
            <a:r>
              <a:rPr lang="en-US" altLang="en-US" dirty="0" err="1">
                <a:sym typeface="Helvetica Neue Light" panose="02000403000000020004" pitchFamily="2" charset="0"/>
              </a:rPr>
              <a:t>PortCos</a:t>
            </a:r>
            <a:r>
              <a:rPr lang="en-US" altLang="en-US" dirty="0">
                <a:sym typeface="Helvetica Neue Light" panose="02000403000000020004" pitchFamily="2" charset="0"/>
              </a:rPr>
              <a:t> </a:t>
            </a:r>
            <a:endParaRPr lang="en-US" altLang="en-US" noProof="0" dirty="0">
              <a:sym typeface="Helvetica Neue Light" panose="02000403000000020004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72B4E0-EB27-82D2-B887-BFC3C03AF21E}"/>
              </a:ext>
            </a:extLst>
          </p:cNvPr>
          <p:cNvSpPr/>
          <p:nvPr/>
        </p:nvSpPr>
        <p:spPr>
          <a:xfrm>
            <a:off x="726540" y="2807193"/>
            <a:ext cx="2080984" cy="2490264"/>
          </a:xfrm>
          <a:prstGeom prst="roundRect">
            <a:avLst>
              <a:gd name="adj" fmla="val 727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Zero‑Based Budgeting </a:t>
            </a: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Standardize processes </a:t>
            </a: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Optimize supply‑chain/logistics</a:t>
            </a:r>
          </a:p>
          <a:p>
            <a:pPr marL="285750" indent="-285750"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Optimize SG&amp;A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69BA6FE-B2C8-5EE9-3098-F15126C1B709}"/>
              </a:ext>
            </a:extLst>
          </p:cNvPr>
          <p:cNvSpPr/>
          <p:nvPr/>
        </p:nvSpPr>
        <p:spPr>
          <a:xfrm>
            <a:off x="2940475" y="2807193"/>
            <a:ext cx="2080984" cy="2490264"/>
          </a:xfrm>
          <a:prstGeom prst="roundRect">
            <a:avLst>
              <a:gd name="adj" fmla="val 55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fontAlgn="base">
              <a:spcBef>
                <a:spcPct val="0"/>
              </a:spcBef>
              <a:spcAft>
                <a:spcPts val="600"/>
              </a:spcAft>
              <a:buSzPct val="70000"/>
              <a:defRPr/>
            </a:pPr>
            <a:endParaRPr lang="en-GB" alt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GB" alt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Targeted Regional &amp; Global Expansion</a:t>
            </a:r>
            <a:endParaRPr lang="en-GB" alt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Lato" panose="020F0502020204030203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alt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Lato" panose="020F0502020204030203" pitchFamily="34" charset="0"/>
              </a:rPr>
              <a:t>Higher‑margin product portfolio</a:t>
            </a:r>
            <a:endParaRPr lang="en-GB" alt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Lato" panose="020F0502020204030203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alt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Lato" panose="020F0502020204030203" pitchFamily="34" charset="0"/>
              </a:rPr>
              <a:t>Build commercial teams’  </a:t>
            </a:r>
            <a:br>
              <a:rPr lang="en-US" alt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Lato" panose="020F0502020204030203" pitchFamily="34" charset="0"/>
              </a:rPr>
            </a:br>
            <a:r>
              <a:rPr lang="en-US" alt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Lato" panose="020F0502020204030203" pitchFamily="34" charset="0"/>
              </a:rPr>
              <a:t>capabilities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24AFB4D-7F4B-1924-DEC9-704C585A1A41}"/>
              </a:ext>
            </a:extLst>
          </p:cNvPr>
          <p:cNvSpPr/>
          <p:nvPr/>
        </p:nvSpPr>
        <p:spPr>
          <a:xfrm>
            <a:off x="5154411" y="2807193"/>
            <a:ext cx="2080984" cy="2490264"/>
          </a:xfrm>
          <a:prstGeom prst="roundRect">
            <a:avLst>
              <a:gd name="adj" fmla="val 6216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Integrated ERP/cloud platforms </a:t>
            </a: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ClrTx/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AI/analytics </a:t>
            </a: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ClrTx/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Automate repetitive operations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ClrTx/>
              <a:buSzPct val="70000"/>
              <a:defRPr/>
            </a:pP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9683E15-B8F1-F611-2A04-F8C6A916FE73}"/>
              </a:ext>
            </a:extLst>
          </p:cNvPr>
          <p:cNvSpPr/>
          <p:nvPr/>
        </p:nvSpPr>
        <p:spPr>
          <a:xfrm>
            <a:off x="7368346" y="2807193"/>
            <a:ext cx="2080984" cy="2490264"/>
          </a:xfrm>
          <a:prstGeom prst="roundRect">
            <a:avLst>
              <a:gd name="adj" fmla="val 6216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fontAlgn="base">
              <a:spcBef>
                <a:spcPct val="0"/>
              </a:spcBef>
              <a:spcAft>
                <a:spcPts val="600"/>
              </a:spcAft>
              <a:buSzPct val="70000"/>
              <a:defRPr/>
            </a:pP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Repeatable M&amp;A playbook</a:t>
            </a: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JVs/bolt‑</a:t>
            </a:r>
            <a:r>
              <a:rPr lang="en-US" sz="1200" dirty="0" err="1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</a:t>
            </a: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target regions</a:t>
            </a: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acquisitions quickl</a:t>
            </a: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Lato" panose="020F0502020204030203" pitchFamily="34" charset="0"/>
              </a:rPr>
              <a:t>y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SzPct val="70000"/>
              <a:defRPr/>
            </a:pP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E2320F-C3EF-A11B-263B-AEE3C1ED6177}"/>
              </a:ext>
            </a:extLst>
          </p:cNvPr>
          <p:cNvSpPr/>
          <p:nvPr/>
        </p:nvSpPr>
        <p:spPr>
          <a:xfrm>
            <a:off x="9582282" y="2807193"/>
            <a:ext cx="2080984" cy="2490264"/>
          </a:xfrm>
          <a:prstGeom prst="roundRect">
            <a:avLst>
              <a:gd name="adj" fmla="val 6216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br>
              <a:rPr lang="en-US" sz="900" dirty="0">
                <a:solidFill>
                  <a:srgbClr val="1D1D1D"/>
                </a:solidFill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</a:rPr>
            </a:b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Succession plans</a:t>
            </a: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Talent Acquisition for N-1 roles</a:t>
            </a: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SzPct val="70000"/>
              <a:buBlip>
                <a:blip r:embed="rId6"/>
              </a:buBlip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incentives and retention levers</a:t>
            </a:r>
          </a:p>
          <a:p>
            <a:pPr marL="285750" marR="0" indent="-28575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70000"/>
              <a:buBlip>
                <a:blip r:embed="rId6"/>
              </a:buBlip>
              <a:tabLst/>
              <a:defRPr/>
            </a:pPr>
            <a:r>
              <a:rPr lang="en-US" sz="1200" dirty="0">
                <a:solidFill>
                  <a:srgbClr val="F2F2F2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Operating Model </a:t>
            </a:r>
          </a:p>
          <a:p>
            <a:pPr marR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70000"/>
              <a:tabLst/>
              <a:defRPr/>
            </a:pPr>
            <a:endParaRPr lang="en-US" sz="1200" dirty="0">
              <a:solidFill>
                <a:srgbClr val="F2F2F2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17DE68F-51A5-72B0-62E7-B9C6570A4EE5}"/>
              </a:ext>
            </a:extLst>
          </p:cNvPr>
          <p:cNvSpPr/>
          <p:nvPr/>
        </p:nvSpPr>
        <p:spPr>
          <a:xfrm>
            <a:off x="726539" y="2091601"/>
            <a:ext cx="2079843" cy="900113"/>
          </a:xfrm>
          <a:prstGeom prst="roundRect">
            <a:avLst>
              <a:gd name="adj" fmla="val 12240"/>
            </a:avLst>
          </a:prstGeom>
          <a:solidFill>
            <a:srgbClr val="7B828C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Operational excellence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&amp; cost discipline</a:t>
            </a: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La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15%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AAA379A-6A47-7370-E7B0-A07AACC09D3D}"/>
              </a:ext>
            </a:extLst>
          </p:cNvPr>
          <p:cNvSpPr/>
          <p:nvPr/>
        </p:nvSpPr>
        <p:spPr>
          <a:xfrm>
            <a:off x="2946171" y="2091601"/>
            <a:ext cx="2079843" cy="900113"/>
          </a:xfrm>
          <a:prstGeom prst="roundRect">
            <a:avLst>
              <a:gd name="adj" fmla="val 12240"/>
            </a:avLst>
          </a:prstGeom>
          <a:solidFill>
            <a:srgbClr val="7B828C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Grow organically &amp; product premiumization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spc="-10" dirty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50</a:t>
            </a: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BE1E8F6-51DF-F4F7-BAA3-5CF368CEB78E}"/>
              </a:ext>
            </a:extLst>
          </p:cNvPr>
          <p:cNvSpPr/>
          <p:nvPr/>
        </p:nvSpPr>
        <p:spPr>
          <a:xfrm>
            <a:off x="5143680" y="2091601"/>
            <a:ext cx="2079843" cy="900113"/>
          </a:xfrm>
          <a:prstGeom prst="roundRect">
            <a:avLst>
              <a:gd name="adj" fmla="val 12240"/>
            </a:avLst>
          </a:prstGeom>
          <a:solidFill>
            <a:srgbClr val="7B828C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Digital, data &amp; automation</a:t>
            </a:r>
            <a:b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</a:b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10%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50F0EDE-92AB-CE23-D284-7A062E593CE4}"/>
              </a:ext>
            </a:extLst>
          </p:cNvPr>
          <p:cNvSpPr/>
          <p:nvPr/>
        </p:nvSpPr>
        <p:spPr>
          <a:xfrm>
            <a:off x="7370686" y="2091601"/>
            <a:ext cx="2079843" cy="900113"/>
          </a:xfrm>
          <a:prstGeom prst="roundRect">
            <a:avLst>
              <a:gd name="adj" fmla="val 12240"/>
            </a:avLst>
          </a:prstGeom>
          <a:solidFill>
            <a:srgbClr val="7B828C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Programmatic M&amp;A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&amp; partnerships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  <a:tabLst/>
              <a:defRPr/>
            </a:pPr>
            <a:r>
              <a:rPr lang="en-US" sz="2800" b="1" spc="-10" dirty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1</a:t>
            </a: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5%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0C33B8E-05F8-0435-9467-255CCFC80D88}"/>
              </a:ext>
            </a:extLst>
          </p:cNvPr>
          <p:cNvSpPr/>
          <p:nvPr/>
        </p:nvSpPr>
        <p:spPr>
          <a:xfrm>
            <a:off x="9582945" y="2091601"/>
            <a:ext cx="2079843" cy="900113"/>
          </a:xfrm>
          <a:prstGeom prst="roundRect">
            <a:avLst>
              <a:gd name="adj" fmla="val 12240"/>
            </a:avLst>
          </a:prstGeom>
          <a:solidFill>
            <a:srgbClr val="7B828C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  <a:t>People</a:t>
            </a:r>
            <a:b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</a:br>
            <a:b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  <a:sym typeface="Lato"/>
              </a:rPr>
            </a:b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Lato"/>
              </a:rPr>
              <a:t>10%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Helvetica Neue Roman" panose="02000503000000020004" pitchFamily="2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CB341-FBC5-197E-C63B-73C415B9692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rcRect r="48376"/>
          <a:stretch/>
        </p:blipFill>
        <p:spPr>
          <a:xfrm>
            <a:off x="721985" y="784723"/>
            <a:ext cx="861982" cy="1669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2527C-BEE4-FE69-8150-9D1D090FBFFF}"/>
              </a:ext>
            </a:extLst>
          </p:cNvPr>
          <p:cNvSpPr txBox="1"/>
          <p:nvPr/>
        </p:nvSpPr>
        <p:spPr>
          <a:xfrm>
            <a:off x="2297312" y="1448412"/>
            <a:ext cx="746822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kern="0" dirty="0">
                <a:solidFill>
                  <a:srgbClr val="7A828D"/>
                </a:solidFill>
                <a:latin typeface="Arial" panose="020B0604020202020204" pitchFamily="34" charset="0"/>
                <a:ea typeface="Helvetica Neue Roman" panose="02000503000000020004" pitchFamily="2" charset="0"/>
                <a:cs typeface="Arial" panose="020B0604020202020204" pitchFamily="34" charset="0"/>
              </a:rPr>
              <a:t>ALIGNMENT OF LEADERSHIP TEAMS VARY ON VALUE HOTSPOTS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A39D4-85B6-229C-DA30-2946C15D731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rcRect l="53887" r="6795"/>
          <a:stretch/>
        </p:blipFill>
        <p:spPr>
          <a:xfrm>
            <a:off x="11025050" y="784723"/>
            <a:ext cx="656505" cy="166974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6C596EB-A305-29A6-7B8E-56459B0744A4}"/>
              </a:ext>
            </a:extLst>
          </p:cNvPr>
          <p:cNvCxnSpPr>
            <a:cxnSpLocks/>
          </p:cNvCxnSpPr>
          <p:nvPr/>
        </p:nvCxnSpPr>
        <p:spPr>
          <a:xfrm flipH="1">
            <a:off x="1333948" y="1606533"/>
            <a:ext cx="1092516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5E2D1B-3E14-7E1F-3911-7668BE2AB1A0}"/>
              </a:ext>
            </a:extLst>
          </p:cNvPr>
          <p:cNvCxnSpPr>
            <a:cxnSpLocks/>
          </p:cNvCxnSpPr>
          <p:nvPr/>
        </p:nvCxnSpPr>
        <p:spPr>
          <a:xfrm flipH="1">
            <a:off x="9671824" y="1606533"/>
            <a:ext cx="146340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4ADD36-81BA-2401-B0C9-772FAE71C275}"/>
              </a:ext>
            </a:extLst>
          </p:cNvPr>
          <p:cNvSpPr/>
          <p:nvPr/>
        </p:nvSpPr>
        <p:spPr>
          <a:xfrm>
            <a:off x="2426464" y="5570894"/>
            <a:ext cx="7245360" cy="3693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marR="0" lvl="0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0" dirty="0">
                <a:solidFill>
                  <a:schemeClr val="bg1"/>
                </a:solidFill>
                <a:effectLst/>
                <a:latin typeface="Helvetica Neue Roman" panose="02000503000000020004" pitchFamily="2" charset="0"/>
                <a:ea typeface="Helvetica Neue Roman" panose="02000503000000020004" pitchFamily="2" charset="0"/>
                <a:cs typeface="Helvetica Neue Roman" panose="02000503000000020004" pitchFamily="2" charset="0"/>
              </a:rPr>
              <a:t>Alignment exercise between Portfolio Manager, CEO and </a:t>
            </a:r>
            <a:r>
              <a:rPr lang="en-US" sz="1600" kern="0" dirty="0">
                <a:solidFill>
                  <a:schemeClr val="bg1"/>
                </a:solidFill>
                <a:latin typeface="Helvetica Neue Roman" panose="02000503000000020004" pitchFamily="2" charset="0"/>
                <a:ea typeface="Helvetica Neue Roman" panose="02000503000000020004" pitchFamily="2" charset="0"/>
                <a:cs typeface="Helvetica Neue Roman" panose="02000503000000020004" pitchFamily="2" charset="0"/>
              </a:rPr>
              <a:t>N-1 needed</a:t>
            </a:r>
            <a:endParaRPr lang="en-US" sz="1600" kern="100" dirty="0">
              <a:solidFill>
                <a:schemeClr val="bg1"/>
              </a:solidFill>
              <a:effectLst/>
              <a:latin typeface="Helvetica Neue Roman" panose="02000503000000020004" pitchFamily="2" charset="0"/>
              <a:ea typeface="Helvetica Neue Roman" panose="02000503000000020004" pitchFamily="2" charset="0"/>
              <a:cs typeface="Helvetica Neue Roman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0161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00C27A"/>
      </a:accent5>
      <a:accent6>
        <a:srgbClr val="E9E4FE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3019</Words>
  <Application>Microsoft Macintosh PowerPoint</Application>
  <PresentationFormat>Widescreen</PresentationFormat>
  <Paragraphs>400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Calibri</vt:lpstr>
      <vt:lpstr>Helvetica Neue</vt:lpstr>
      <vt:lpstr>Helvetica Neue Light</vt:lpstr>
      <vt:lpstr>Helvetica Neue Roman</vt:lpstr>
      <vt:lpstr>Lato</vt:lpstr>
      <vt:lpstr>Segoe UI</vt:lpstr>
      <vt:lpstr>Wingdings</vt:lpstr>
      <vt:lpstr>Office Theme</vt:lpstr>
      <vt:lpstr>think-cell Slide</vt:lpstr>
      <vt:lpstr>Succession to Value™ methodology</vt:lpstr>
      <vt:lpstr>Example – what does good look like</vt:lpstr>
      <vt:lpstr>Execution risks</vt:lpstr>
      <vt:lpstr>Executive Development Pathways: The Three Buckets</vt:lpstr>
      <vt:lpstr>Development Action “menu”</vt:lpstr>
      <vt:lpstr>From JTBDs to Success Enabling Plans</vt:lpstr>
      <vt:lpstr>VP Sales, Category A US</vt:lpstr>
      <vt:lpstr>Evolving Succession Planning through Talent to Value</vt:lpstr>
      <vt:lpstr>Strategic Pivots  Value Hotspots  Work Headlines</vt:lpstr>
      <vt:lpstr>Critical Roles @ Value Hotspots</vt:lpstr>
      <vt:lpstr>Human Capital Balance Sheet</vt:lpstr>
      <vt:lpstr>Mobilization Plan</vt:lpstr>
      <vt:lpstr>Insights: Five Common Value Hotspots across 10+ PortCos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4</cp:revision>
  <dcterms:created xsi:type="dcterms:W3CDTF">2026-03-27T19:59:50Z</dcterms:created>
  <dcterms:modified xsi:type="dcterms:W3CDTF">2026-03-27T21:06:47Z</dcterms:modified>
</cp:coreProperties>
</file>